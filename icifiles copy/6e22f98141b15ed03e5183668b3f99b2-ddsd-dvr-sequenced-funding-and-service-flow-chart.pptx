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20" r:id="rId2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8F743-F6F7-4D6D-AB6D-FF8C3558AFF1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66410-9439-4710-960B-63B88D47A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2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479675" y="862013"/>
            <a:ext cx="4135438" cy="2327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C270E-D5CD-4622-8424-D007D653CC8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76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97C6-F7F0-C40D-91F2-5807DB642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14882-7E90-7567-0687-351A3DB25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D0570-3305-3526-1DEF-42CF6546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1910D-F104-1BF0-3CB9-7E2C58EE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4D9A3-D380-7AEE-0230-561201A1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8DC3-7903-0AD1-BA6B-269D8B76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4100-B51D-83CB-F8C1-557B1C656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09CC7-55D4-EA62-ADF8-F205AFF27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920D5-4E4A-F4D3-9753-DA7BA291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2600D-674A-71FB-DC0C-775C9EBC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6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89D41-4941-7E15-434C-CF842E77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EBAE2-16E7-D15B-906B-71C637E59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237EF-7361-0879-ED95-F489E774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22F73-90CE-44BB-4B03-3666AA67E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63E9F-CF41-E5C0-A58B-F9E60FC4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2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C007-F3A0-4691-4D75-23602344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BCFC5-5BCA-74B6-8444-89BDE1B24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8B22B-4549-8226-0F15-2E7734C7C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89427-632E-ED42-2ED0-2B5212EBB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9C97A-8129-F150-C8D7-9E2D4F0F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DABA9-DD90-D371-1C55-4138B6F4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5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E74B-A24A-8FB9-5F64-80C6E8707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48013-3582-F873-A79D-C1C4D88FA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E06F2-BC99-B2B2-151A-BB6526D5D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F3F55-26F9-A508-0303-1CF15DA17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62943-065E-328A-9828-0B31FBD5A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D05A1-22A2-D5C0-A396-DD809D1B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69862-40C8-2512-4DBD-7DDEA1AF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6C886-CCBE-802E-BE7B-D6554BA70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17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2450-15A5-774D-E4DD-105F91272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2155C3-D83B-7B05-9A58-EEF891C5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47EDF-D287-0248-911E-09DF978B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BA997-824C-736A-551A-EE23C73C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32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C8A46-6D51-BC28-35D0-958320D11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A2B7D-AD74-D605-B0B6-072FF4E3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9BBE4-957C-927F-664B-7E3AA9BD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DE503-1F3C-183B-8796-FDF744F3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74ABC-A90C-D167-780E-5C86E97E7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5ABF0-2698-BB0B-B93C-0FD8ED1C6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F2AD7-E586-D2AE-2592-96CFD0BF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65EC4-42EE-BF7F-EA3D-52191E42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E622F5-8D30-680B-1CB3-134B72C0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1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16090-380B-70D9-A012-70E22C19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CF08F2-9A5A-675E-5D91-6C58F7C11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5544A-DCB6-B4C6-0581-A6F3A767B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087FD-535F-C312-427C-E24E2487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58CCE-C6D0-DD3F-6948-CD1C5BAB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DD7CD-E32C-121E-A11C-EAE7F607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4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8A22-F78A-B183-F16E-F0DE5692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24E37-6C4F-BE3A-3292-11EFE5D5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566C3-7731-8AED-EDFE-6F8ECB90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023DD-98F8-A527-8BE9-080ACBF3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0A1E6-0A83-9B64-B1C0-B0D33B9C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1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1566E-E18F-1635-8240-DD7558EF5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08288-B83C-810B-7B21-9397993E6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1D71C-1D37-38D6-7F7E-BC26D33B8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8C7EC-0163-6815-D964-260E3067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CA687-E125-6697-02AB-D8316A5C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9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6EEC20-2126-E94D-E9B1-F1DF58F2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FAAEA-F076-EE16-6C39-06C687A3E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E9852-7C98-3B3E-6785-A1AA8F31D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2F016-51FC-4725-A96B-4A28FA0DE0F6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6B9E7-CDC5-AB6A-BF99-C530132F7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A60D3-5497-3ABD-6096-D5A006F2B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40F29-4216-4AD3-AF34-FD30A8B71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 title="Relationship diagram"/>
          <p:cNvGrpSpPr/>
          <p:nvPr/>
        </p:nvGrpSpPr>
        <p:grpSpPr>
          <a:xfrm>
            <a:off x="367485" y="1211054"/>
            <a:ext cx="10452782" cy="4892279"/>
            <a:chOff x="357162" y="981103"/>
            <a:chExt cx="10652263" cy="4642168"/>
          </a:xfrm>
          <a:effectLst/>
        </p:grpSpPr>
        <p:cxnSp>
          <p:nvCxnSpPr>
            <p:cNvPr id="115" name="Straight Arrow Connector 114"/>
            <p:cNvCxnSpPr/>
            <p:nvPr/>
          </p:nvCxnSpPr>
          <p:spPr>
            <a:xfrm>
              <a:off x="3266866" y="3116636"/>
              <a:ext cx="370317" cy="1"/>
            </a:xfrm>
            <a:prstGeom prst="straightConnector1">
              <a:avLst/>
            </a:prstGeom>
            <a:ln>
              <a:headEnd type="none" w="lg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ounded Rectangle 10"/>
            <p:cNvSpPr/>
            <p:nvPr/>
          </p:nvSpPr>
          <p:spPr>
            <a:xfrm>
              <a:off x="1669852" y="1717292"/>
              <a:ext cx="1153926" cy="87644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3. Referral to DVR Employment services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240930" y="3123294"/>
              <a:ext cx="1021648" cy="1885732"/>
            </a:xfrm>
            <a:prstGeom prst="roundRect">
              <a:avLst>
                <a:gd name="adj" fmla="val 11052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10. VR employment for at least 90 days </a:t>
              </a:r>
              <a:r>
                <a:rPr lang="en-US" sz="1100">
                  <a:solidFill>
                    <a:schemeClr val="tx1"/>
                  </a:solidFill>
                </a:rPr>
                <a:t>of employment  </a:t>
              </a:r>
              <a:r>
                <a:rPr lang="en-US" sz="1100" dirty="0">
                  <a:solidFill>
                    <a:schemeClr val="tx1"/>
                  </a:solidFill>
                </a:rPr>
                <a:t>Then transition to DDSD funding.  VR file to remain open.  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6166292" y="2691751"/>
              <a:ext cx="1763043" cy="2931520"/>
            </a:xfrm>
            <a:prstGeom prst="roundRect">
              <a:avLst>
                <a:gd name="adj" fmla="val 1551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7. Job Placement. </a:t>
              </a:r>
              <a:r>
                <a:rPr lang="en-US" sz="1100" dirty="0">
                  <a:solidFill>
                    <a:prstClr val="black"/>
                  </a:solidFill>
                </a:rPr>
                <a:t>Job Coaching provided for 90 days. I</a:t>
              </a:r>
              <a:r>
                <a:rPr lang="en-US" sz="1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n order for placement fee to be paid &amp; Job </a:t>
              </a:r>
              <a:r>
                <a:rPr lang="en-US" sz="1100" dirty="0">
                  <a:solidFill>
                    <a:schemeClr val="tx1"/>
                  </a:solidFill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Coaching</a:t>
              </a:r>
              <a:r>
                <a:rPr lang="en-US" sz="1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 to be  authorized IPE Employment Goal </a:t>
              </a:r>
              <a:r>
                <a:rPr lang="en-US" sz="1100" b="1" i="1" u="sng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must</a:t>
              </a:r>
              <a:r>
                <a:rPr lang="en-US" sz="1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 match Placement Employment Goal. If it does not contact VRC immediately. </a:t>
              </a:r>
            </a:p>
            <a:p>
              <a:r>
                <a:rPr lang="en-US" sz="1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Failure to match IPE Employment Goal &amp; Placement Employment Goal </a:t>
              </a:r>
            </a:p>
            <a:p>
              <a:r>
                <a:rPr lang="en-US" sz="1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will result in </a:t>
              </a:r>
            </a:p>
            <a:p>
              <a:r>
                <a:rPr lang="en-US" sz="1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non-payment.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898914" y="981103"/>
              <a:ext cx="6135551" cy="27169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2. DDSD CM/Consultant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57162" y="1306965"/>
              <a:ext cx="1095956" cy="104296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1. Make an Informed Choice about Employment/PCA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177375" y="2864652"/>
              <a:ext cx="1271785" cy="161363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5.  Employment Discussion &amp; IPE Developed to include Guidance and Counseling and JD and Job Placement and Job Coaching.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V="1">
              <a:off x="1836897" y="1447317"/>
              <a:ext cx="6663963" cy="16500"/>
            </a:xfrm>
            <a:prstGeom prst="straightConnector1">
              <a:avLst/>
            </a:prstGeom>
            <a:ln>
              <a:headEnd type="none" w="lg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1054961" y="3000414"/>
              <a:ext cx="1850289" cy="192857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4. DVR conducts Initial interview &amp; presumptive eligibility process. The VRC will conduct a comprehensive assessment. (Which may include Discovery)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4746967" y="2914084"/>
              <a:ext cx="1254570" cy="140362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6. JD service hour focus on IPE employment goal and may include customized employment. 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930315" y="1742272"/>
              <a:ext cx="1079110" cy="104296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11. DDSD long-term Job Maintenance supports start/restart</a:t>
              </a:r>
            </a:p>
          </p:txBody>
        </p:sp>
      </p:grp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07065" y="499820"/>
            <a:ext cx="7814940" cy="431754"/>
          </a:xfrm>
          <a:effectLst/>
        </p:spPr>
        <p:txBody>
          <a:bodyPr>
            <a:noAutofit/>
          </a:bodyPr>
          <a:lstStyle/>
          <a:p>
            <a:pPr algn="ctr"/>
            <a:r>
              <a:rPr lang="en-US" sz="1600" b="1" dirty="0"/>
              <a:t>DDSD and DVR Scaffold Funding and Services -The Model</a:t>
            </a:r>
          </a:p>
        </p:txBody>
      </p:sp>
      <p:cxnSp>
        <p:nvCxnSpPr>
          <p:cNvPr id="60" name="Straight Arrow Connector 59"/>
          <p:cNvCxnSpPr>
            <a:cxnSpLocks/>
          </p:cNvCxnSpPr>
          <p:nvPr/>
        </p:nvCxnSpPr>
        <p:spPr>
          <a:xfrm>
            <a:off x="2795184" y="3498062"/>
            <a:ext cx="254811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4306271" y="3498062"/>
            <a:ext cx="282807" cy="1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821270" y="3498062"/>
            <a:ext cx="285251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7917989" y="1893703"/>
            <a:ext cx="1461641" cy="1004188"/>
          </a:xfrm>
          <a:prstGeom prst="roundRect">
            <a:avLst>
              <a:gd name="adj" fmla="val 1551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</a:rPr>
              <a:t>9. Waiver works with VRC to ensure transition to DDSD long-term job supports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1672" y="5476013"/>
            <a:ext cx="30845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CM-DD Waiver Case Manager</a:t>
            </a:r>
          </a:p>
          <a:p>
            <a:r>
              <a:rPr lang="en-US" sz="1000" b="1" dirty="0"/>
              <a:t>Consultant – Mi Via Consultant</a:t>
            </a:r>
          </a:p>
          <a:p>
            <a:r>
              <a:rPr lang="en-US" sz="1000" b="1" dirty="0"/>
              <a:t>DDSD- Developmental Disabilities Supports Division</a:t>
            </a:r>
          </a:p>
          <a:p>
            <a:r>
              <a:rPr lang="en-US" sz="1000" b="1" dirty="0"/>
              <a:t>DVR-Division of Vocational Rehabilitation</a:t>
            </a:r>
          </a:p>
          <a:p>
            <a:r>
              <a:rPr lang="en-US" sz="1000" b="1" dirty="0"/>
              <a:t>JD- Job Development</a:t>
            </a:r>
          </a:p>
          <a:p>
            <a:r>
              <a:rPr lang="en-US" sz="1000" b="1" dirty="0"/>
              <a:t>IPE- Individualized Plan for Employment</a:t>
            </a:r>
          </a:p>
          <a:p>
            <a:r>
              <a:rPr lang="en-US" sz="1000" b="1" dirty="0"/>
              <a:t>PCA-Person-Centered Assessment</a:t>
            </a:r>
          </a:p>
          <a:p>
            <a:r>
              <a:rPr lang="en-US" sz="1000" b="1" dirty="0"/>
              <a:t>VRC- Vocational Rehabilitation Counselor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29798" y="1899050"/>
            <a:ext cx="1978801" cy="8257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</a:rPr>
              <a:t>8. Conduct SFOC process and add long-term job supports to service plan and budget at Job Placement </a:t>
            </a: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6671310" y="2742851"/>
            <a:ext cx="0" cy="1821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cxnSpLocks/>
          </p:cNvCxnSpPr>
          <p:nvPr/>
        </p:nvCxnSpPr>
        <p:spPr>
          <a:xfrm>
            <a:off x="1371733" y="2225358"/>
            <a:ext cx="206900" cy="1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cxnSpLocks/>
          </p:cNvCxnSpPr>
          <p:nvPr/>
        </p:nvCxnSpPr>
        <p:spPr>
          <a:xfrm>
            <a:off x="2072277" y="2759374"/>
            <a:ext cx="0" cy="331296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</p:cNvCxnSpPr>
          <p:nvPr/>
        </p:nvCxnSpPr>
        <p:spPr>
          <a:xfrm>
            <a:off x="7776027" y="3945435"/>
            <a:ext cx="283923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ounded Rectangle 75">
            <a:extLst>
              <a:ext uri="{FF2B5EF4-FFF2-40B4-BE49-F238E27FC236}">
                <a16:creationId xmlns:a16="http://schemas.microsoft.com/office/drawing/2014/main" id="{7845FB75-C76A-4885-B8B4-E440D62C056C}"/>
              </a:ext>
            </a:extLst>
          </p:cNvPr>
          <p:cNvSpPr/>
          <p:nvPr/>
        </p:nvSpPr>
        <p:spPr>
          <a:xfrm>
            <a:off x="9445180" y="3657994"/>
            <a:ext cx="1688486" cy="2099399"/>
          </a:xfrm>
          <a:prstGeom prst="roundRect">
            <a:avLst>
              <a:gd name="adj" fmla="val 187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1"/>
                </a:solidFill>
              </a:rPr>
              <a:t>12.VR Successful case closure after employment with long-term funding has been in place for 90 days, VR follow-along was provided and a successful transition from DVR services to long-term funding has occurred. 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921D354-9BA9-4C10-8FD6-97C1E447B8DA}"/>
              </a:ext>
            </a:extLst>
          </p:cNvPr>
          <p:cNvCxnSpPr>
            <a:cxnSpLocks/>
          </p:cNvCxnSpPr>
          <p:nvPr/>
        </p:nvCxnSpPr>
        <p:spPr>
          <a:xfrm flipH="1">
            <a:off x="8473535" y="2966786"/>
            <a:ext cx="9105" cy="2962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ED5C35-C501-4242-A16D-5F9ECB57C6AD}"/>
              </a:ext>
            </a:extLst>
          </p:cNvPr>
          <p:cNvCxnSpPr>
            <a:cxnSpLocks/>
          </p:cNvCxnSpPr>
          <p:nvPr/>
        </p:nvCxnSpPr>
        <p:spPr>
          <a:xfrm>
            <a:off x="10247398" y="3236195"/>
            <a:ext cx="0" cy="2254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7E9F97-393E-402E-B436-C496D7D6B627}"/>
              </a:ext>
            </a:extLst>
          </p:cNvPr>
          <p:cNvCxnSpPr>
            <a:cxnSpLocks/>
          </p:cNvCxnSpPr>
          <p:nvPr/>
        </p:nvCxnSpPr>
        <p:spPr>
          <a:xfrm>
            <a:off x="8951832" y="3924284"/>
            <a:ext cx="427798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A5B3F9E-B410-42F5-9171-12C3870FFD7E}"/>
              </a:ext>
            </a:extLst>
          </p:cNvPr>
          <p:cNvCxnSpPr>
            <a:cxnSpLocks/>
          </p:cNvCxnSpPr>
          <p:nvPr/>
        </p:nvCxnSpPr>
        <p:spPr>
          <a:xfrm>
            <a:off x="9393913" y="2395797"/>
            <a:ext cx="283923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91FA9C6-05A8-4D6F-9419-8B14F79942C7}"/>
              </a:ext>
            </a:extLst>
          </p:cNvPr>
          <p:cNvCxnSpPr>
            <a:cxnSpLocks/>
          </p:cNvCxnSpPr>
          <p:nvPr/>
        </p:nvCxnSpPr>
        <p:spPr>
          <a:xfrm>
            <a:off x="10768045" y="2395797"/>
            <a:ext cx="283923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357332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aa6bf4-d436-426f-bfa4-04b7a70e60ff}" enabled="0" method="" siteId="{04aa6bf4-d436-426f-bfa4-04b7a70e60f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288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DDSD and DVR Scaffold Funding and Services -The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DDSD and DVR Scaffold Funding and Services -The Model</dc:title>
  <dc:creator>Fuller, Christine M., DVR</dc:creator>
  <cp:lastModifiedBy>Monica Elsbrock</cp:lastModifiedBy>
  <cp:revision>3</cp:revision>
  <dcterms:created xsi:type="dcterms:W3CDTF">2024-04-01T16:16:48Z</dcterms:created>
  <dcterms:modified xsi:type="dcterms:W3CDTF">2024-04-09T16:34:56Z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6BDFD1C8-4EFE-4896-B38C-258BE041DFEF</vt:lpwstr>
  </property>
  <property fmtid="{D5CDD505-2E9C-101B-9397-08002B2CF9AE}" pid="3" name="ArticulatePath">
    <vt:lpwstr>scaffold dvr-ddsd (002)</vt:lpwstr>
  </property>
</Properties>
</file>