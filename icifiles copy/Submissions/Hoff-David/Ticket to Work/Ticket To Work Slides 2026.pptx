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9" r:id="rId1"/>
  </p:sldMasterIdLst>
  <p:notesMasterIdLst>
    <p:notesMasterId r:id="rId15"/>
  </p:notesMasterIdLst>
  <p:handoutMasterIdLst>
    <p:handoutMasterId r:id="rId16"/>
  </p:handoutMasterIdLst>
  <p:sldIdLst>
    <p:sldId id="259" r:id="rId2"/>
    <p:sldId id="261" r:id="rId3"/>
    <p:sldId id="269" r:id="rId4"/>
    <p:sldId id="265" r:id="rId5"/>
    <p:sldId id="290" r:id="rId6"/>
    <p:sldId id="287" r:id="rId7"/>
    <p:sldId id="284" r:id="rId8"/>
    <p:sldId id="288" r:id="rId9"/>
    <p:sldId id="270" r:id="rId10"/>
    <p:sldId id="272" r:id="rId11"/>
    <p:sldId id="277" r:id="rId12"/>
    <p:sldId id="293" r:id="rId13"/>
    <p:sldId id="294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CC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0"/>
    <p:restoredTop sz="94722"/>
  </p:normalViewPr>
  <p:slideViewPr>
    <p:cSldViewPr>
      <p:cViewPr varScale="1">
        <p:scale>
          <a:sx n="115" d="100"/>
          <a:sy n="115" d="100"/>
        </p:scale>
        <p:origin x="58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6" d="100"/>
          <a:sy n="136" d="100"/>
        </p:scale>
        <p:origin x="-351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theme" Target="../theme/theme3.xml"/><Relationship Id="rId4" Type="http://schemas.openxmlformats.org/officeDocument/2006/relationships/image" Target="../media/image2.png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/>
          <p:cNvSpPr>
            <a:spLocks noChangeArrowheads="1"/>
          </p:cNvSpPr>
          <p:nvPr/>
        </p:nvSpPr>
        <p:spPr bwMode="auto">
          <a:xfrm>
            <a:off x="3200400" y="8588375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endParaRPr lang="en-US" sz="1400"/>
          </a:p>
        </p:txBody>
      </p:sp>
      <p:sp>
        <p:nvSpPr>
          <p:cNvPr id="3075" name="Rectangle 7"/>
          <p:cNvSpPr>
            <a:spLocks noChangeArrowheads="1"/>
          </p:cNvSpPr>
          <p:nvPr/>
        </p:nvSpPr>
        <p:spPr bwMode="auto">
          <a:xfrm>
            <a:off x="4800600" y="152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33430410-9E3A-0544-AD99-4B3FB11B0542}" type="slidenum">
              <a:rPr lang="en-US" sz="1400"/>
              <a:pPr algn="r"/>
              <a:t>‹#›</a:t>
            </a:fld>
            <a:endParaRPr lang="en-US" sz="1400"/>
          </a:p>
        </p:txBody>
      </p:sp>
      <p:sp>
        <p:nvSpPr>
          <p:cNvPr id="3076" name="Rectangle 8"/>
          <p:cNvSpPr>
            <a:spLocks noChangeArrowheads="1"/>
          </p:cNvSpPr>
          <p:nvPr/>
        </p:nvSpPr>
        <p:spPr bwMode="auto">
          <a:xfrm>
            <a:off x="152400" y="8305800"/>
            <a:ext cx="6400800" cy="685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Rectangle 9"/>
          <p:cNvSpPr>
            <a:spLocks noChangeArrowheads="1"/>
          </p:cNvSpPr>
          <p:nvPr/>
        </p:nvSpPr>
        <p:spPr bwMode="auto">
          <a:xfrm>
            <a:off x="152400" y="8305800"/>
            <a:ext cx="6400800" cy="128588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3078" name="Picture 11" descr="iciPPT_BI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8458200"/>
            <a:ext cx="30480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9" name="Group 14"/>
          <p:cNvGrpSpPr>
            <a:grpSpLocks/>
          </p:cNvGrpSpPr>
          <p:nvPr/>
        </p:nvGrpSpPr>
        <p:grpSpPr bwMode="auto">
          <a:xfrm>
            <a:off x="5638800" y="8486775"/>
            <a:ext cx="762000" cy="438150"/>
            <a:chOff x="5103" y="5266"/>
            <a:chExt cx="586" cy="336"/>
          </a:xfrm>
        </p:grpSpPr>
        <p:pic>
          <p:nvPicPr>
            <p:cNvPr id="3080" name="Picture 10" descr="umb_whit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3" y="5266"/>
              <a:ext cx="273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Picture 12" descr="CHB_reverse_BI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4" y="5266"/>
              <a:ext cx="26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08144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cs typeface="Geneva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cs typeface="Geneva" charset="0"/>
              </a:defRPr>
            </a:lvl1pPr>
          </a:lstStyle>
          <a:p>
            <a:pPr>
              <a:defRPr/>
            </a:pPr>
            <a:fld id="{57361DE1-404D-8D46-827F-B168D3ED8E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701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Geneva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Geneva" charset="0"/>
        <a:cs typeface="Geneva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0" y="5943600"/>
            <a:ext cx="9144000" cy="152400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0" y="0"/>
            <a:ext cx="9144000" cy="3048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6" name="Picture 10" descr="umb_whit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 descr="CHB_reverse_BI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172200"/>
            <a:ext cx="4206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4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</a:ex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98745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944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343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3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268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35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143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117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7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370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033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13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solidFill>
            <a:srgbClr val="00669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1030" name="Picture 8" descr="umb_white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813" y="6172200"/>
            <a:ext cx="433387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1" name="Picture 9" descr="CHB_reverse_BIG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6172200"/>
            <a:ext cx="420688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Rectangle 11"/>
          <p:cNvSpPr>
            <a:spLocks noChangeArrowheads="1"/>
          </p:cNvSpPr>
          <p:nvPr userDrawn="1"/>
        </p:nvSpPr>
        <p:spPr bwMode="auto">
          <a:xfrm>
            <a:off x="0" y="6629400"/>
            <a:ext cx="9144000" cy="228600"/>
          </a:xfrm>
          <a:prstGeom prst="rect">
            <a:avLst/>
          </a:prstGeom>
          <a:solidFill>
            <a:srgbClr val="0066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4" name="Rectangle 14"/>
          <p:cNvSpPr>
            <a:spLocks noChangeArrowheads="1"/>
          </p:cNvSpPr>
          <p:nvPr userDrawn="1"/>
        </p:nvSpPr>
        <p:spPr bwMode="auto">
          <a:xfrm>
            <a:off x="0" y="5943600"/>
            <a:ext cx="9144000" cy="152400"/>
          </a:xfrm>
          <a:prstGeom prst="rect">
            <a:avLst/>
          </a:prstGeom>
          <a:solidFill>
            <a:srgbClr val="00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 i="1">
          <a:solidFill>
            <a:schemeClr val="bg1"/>
          </a:solidFill>
          <a:latin typeface="Times New Roman" charset="0"/>
          <a:ea typeface="Osaka" charset="0"/>
          <a:cs typeface="Osaka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381000" y="1981200"/>
            <a:ext cx="5791200" cy="1754327"/>
          </a:xfrm>
          <a:prstGeom prst="rect">
            <a:avLst/>
          </a:prstGeom>
          <a:solidFill>
            <a:srgbClr val="006699"/>
          </a:solidFill>
          <a:ln>
            <a:noFill/>
          </a:ln>
          <a:scene3d>
            <a:camera prst="orthographicFront"/>
            <a:lightRig rig="threePt" dir="t"/>
          </a:scene3d>
          <a:sp3d>
            <a:bevelT w="139700" h="139700" prst="divot"/>
          </a:sp3d>
          <a:extLs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3600" b="1" i="1" dirty="0">
                <a:solidFill>
                  <a:schemeClr val="bg1"/>
                </a:solidFill>
                <a:latin typeface="+mn-lt"/>
              </a:rPr>
              <a:t>Leveraging Ticket to Work as a Revenue Source</a:t>
            </a:r>
            <a:endParaRPr lang="en-US" dirty="0">
              <a:latin typeface="+mn-lt"/>
            </a:endParaRPr>
          </a:p>
        </p:txBody>
      </p:sp>
      <p:pic>
        <p:nvPicPr>
          <p:cNvPr id="6" name="Picture 1028" descr="ticket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3101" y="304800"/>
            <a:ext cx="3352799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52400" y="3962400"/>
            <a:ext cx="7696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342900" indent="-342900">
              <a:buFont typeface="Arial"/>
              <a:buChar char="•"/>
            </a:pPr>
            <a:r>
              <a:rPr lang="en-US" b="1" dirty="0"/>
              <a:t>David Hoff</a:t>
            </a:r>
            <a:br>
              <a:rPr lang="en-US" b="1" dirty="0"/>
            </a:br>
            <a:r>
              <a:rPr lang="en-US" dirty="0"/>
              <a:t>Institute for Community Inclusion, UMass Boston</a:t>
            </a:r>
          </a:p>
        </p:txBody>
      </p:sp>
      <p:pic>
        <p:nvPicPr>
          <p:cNvPr id="3" name="Picture 2" descr="dollar_symbol_alt_800_wht_1731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057400"/>
            <a:ext cx="1414463" cy="25146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4191000" cy="1295400"/>
          </a:xfr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b="0" i="0" cap="small" dirty="0">
                <a:latin typeface="Arial"/>
              </a:rPr>
              <a:t>Ticket to Work</a:t>
            </a:r>
            <a:r>
              <a:rPr lang="en-US" cap="small" dirty="0">
                <a:latin typeface="Arial"/>
              </a:rPr>
              <a:t>:</a:t>
            </a:r>
            <a:br>
              <a:rPr lang="en-US" cap="small" dirty="0">
                <a:latin typeface="Arial"/>
              </a:rPr>
            </a:br>
            <a:r>
              <a:rPr lang="en-US" cap="small" dirty="0">
                <a:latin typeface="Arial"/>
              </a:rPr>
              <a:t>What Is It?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8305800" cy="3352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/>
              <a:t>For every individual ages 18-64 on:</a:t>
            </a:r>
          </a:p>
          <a:p>
            <a:pPr lvl="1" eaLnBrk="1" hangingPunct="1">
              <a:lnSpc>
                <a:spcPct val="90000"/>
              </a:lnSpc>
              <a:buFont typeface="Wingdings" charset="2"/>
              <a:buChar char="Ø"/>
              <a:defRPr/>
            </a:pPr>
            <a:r>
              <a:rPr lang="en-US" b="1" dirty="0"/>
              <a:t>SSDI</a:t>
            </a:r>
            <a:r>
              <a:rPr lang="en-US" dirty="0"/>
              <a:t> - Social Security Disability Insurance</a:t>
            </a:r>
          </a:p>
          <a:p>
            <a:pPr lvl="1" eaLnBrk="1" hangingPunct="1">
              <a:lnSpc>
                <a:spcPct val="90000"/>
              </a:lnSpc>
              <a:buFont typeface="Wingdings" charset="2"/>
              <a:buChar char="Ø"/>
              <a:defRPr/>
            </a:pPr>
            <a:r>
              <a:rPr lang="en-US" b="1" dirty="0"/>
              <a:t>SSI</a:t>
            </a:r>
            <a:r>
              <a:rPr lang="en-US" dirty="0"/>
              <a:t> - Supplementary Security Income</a:t>
            </a:r>
            <a:br>
              <a:rPr lang="en-US" dirty="0"/>
            </a:br>
            <a:r>
              <a:rPr lang="en-US" dirty="0"/>
              <a:t>-</a:t>
            </a:r>
            <a:r>
              <a:rPr lang="en-US" i="1" dirty="0"/>
              <a:t>10 million individuals nationally</a:t>
            </a:r>
          </a:p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dirty="0"/>
              <a:t>Mechanism to receive assistance to find employment</a:t>
            </a:r>
          </a:p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u="sng" dirty="0"/>
              <a:t>Goal</a:t>
            </a:r>
            <a:r>
              <a:rPr lang="en-US" dirty="0"/>
              <a:t>: reduce and eliminate</a:t>
            </a:r>
            <a:br>
              <a:rPr lang="en-US" dirty="0"/>
            </a:br>
            <a:r>
              <a:rPr lang="en-US" dirty="0"/>
              <a:t>reliance on </a:t>
            </a:r>
            <a:r>
              <a:rPr lang="en-US" b="1" dirty="0"/>
              <a:t>cash</a:t>
            </a:r>
            <a:r>
              <a:rPr lang="en-US" dirty="0"/>
              <a:t> benefits</a:t>
            </a:r>
          </a:p>
        </p:txBody>
      </p:sp>
      <p:pic>
        <p:nvPicPr>
          <p:cNvPr id="921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5105400"/>
            <a:ext cx="1752600" cy="613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7772400" cy="10668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eaLnBrk="1" hangingPunct="1">
              <a:defRPr/>
            </a:pPr>
            <a:r>
              <a:rPr lang="en-US" sz="3200" cap="small" dirty="0">
                <a:latin typeface="+mn-lt"/>
              </a:rPr>
              <a:t>How Do Individuals Participate</a:t>
            </a:r>
            <a:br>
              <a:rPr lang="en-US" sz="3200" cap="small" dirty="0">
                <a:latin typeface="+mn-lt"/>
              </a:rPr>
            </a:br>
            <a:r>
              <a:rPr lang="en-US" sz="3200" cap="small" dirty="0">
                <a:latin typeface="+mn-lt"/>
              </a:rPr>
              <a:t>in Ticket?</a:t>
            </a:r>
          </a:p>
        </p:txBody>
      </p:sp>
      <p:sp>
        <p:nvSpPr>
          <p:cNvPr id="122883" name="Rectangle 1027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3814763" cy="3048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sz="2400" dirty="0"/>
              <a:t>	</a:t>
            </a:r>
            <a:r>
              <a:rPr lang="en-US" sz="2400" b="1" dirty="0"/>
              <a:t>Paper Ticket is mailed when SSDI or SSI benefits are approved</a:t>
            </a:r>
            <a:endParaRPr lang="en-US" sz="24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Paper Ticket is not needed to participate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Program is strictly voluntary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/>
              <a:t>Beneficiary decides whether to use the Ticket and when and where to assign it.</a:t>
            </a:r>
          </a:p>
        </p:txBody>
      </p:sp>
      <p:pic>
        <p:nvPicPr>
          <p:cNvPr id="122884" name="Picture 1028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2057400"/>
            <a:ext cx="3814763" cy="2252663"/>
          </a:xfrm>
          <a:ln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808080">
                      <a:alpha val="74998"/>
                    </a:srgbClr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0" y="533400"/>
            <a:ext cx="5410200" cy="541020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Individual assigns Ticket to approved vendor</a:t>
            </a:r>
            <a:br>
              <a:rPr lang="en-US" sz="2800" dirty="0"/>
            </a:br>
            <a:r>
              <a:rPr lang="en-US" sz="2800" dirty="0"/>
              <a:t>(Employment Network) based on </a:t>
            </a:r>
            <a:r>
              <a:rPr lang="en-US" sz="2800" u="sng" dirty="0"/>
              <a:t>mutual agreement</a:t>
            </a:r>
          </a:p>
          <a:p>
            <a:pPr eaLnBrk="1" hangingPunct="1">
              <a:spcBef>
                <a:spcPts val="1368"/>
              </a:spcBef>
              <a:defRPr/>
            </a:pPr>
            <a:r>
              <a:rPr lang="en-US" sz="2800" dirty="0"/>
              <a:t>Signing of Individual Work Plan results in Ticket assignment</a:t>
            </a:r>
          </a:p>
          <a:p>
            <a:pPr eaLnBrk="1" hangingPunct="1">
              <a:spcBef>
                <a:spcPts val="1368"/>
              </a:spcBef>
              <a:defRPr/>
            </a:pPr>
            <a:r>
              <a:rPr lang="en-US" sz="2800" dirty="0"/>
              <a:t>When individual becomes employed at specific earning levels, Employment</a:t>
            </a:r>
            <a:br>
              <a:rPr lang="en-US" sz="2800" dirty="0"/>
            </a:br>
            <a:r>
              <a:rPr lang="en-US" sz="2800" dirty="0"/>
              <a:t>Network generates payments</a:t>
            </a:r>
            <a:endParaRPr lang="en-US" dirty="0"/>
          </a:p>
        </p:txBody>
      </p:sp>
      <p:pic>
        <p:nvPicPr>
          <p:cNvPr id="1126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14800"/>
            <a:ext cx="1447800" cy="1465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entagon 1"/>
          <p:cNvSpPr/>
          <p:nvPr/>
        </p:nvSpPr>
        <p:spPr bwMode="auto">
          <a:xfrm>
            <a:off x="152400" y="457200"/>
            <a:ext cx="2895600" cy="2057400"/>
          </a:xfrm>
          <a:prstGeom prst="homePlate">
            <a:avLst/>
          </a:prstGeom>
          <a:solidFill>
            <a:srgbClr val="0000FF"/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small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Ticket to Work:</a:t>
            </a:r>
            <a:br>
              <a:rPr kumimoji="0" lang="en-US" sz="3200" b="0" i="0" u="none" strike="noStrike" cap="small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</a:br>
            <a:r>
              <a:rPr kumimoji="0" lang="en-US" sz="3200" b="1" i="1" u="none" strike="noStrike" cap="small" normalizeH="0" baseline="0" dirty="0">
                <a:ln>
                  <a:noFill/>
                </a:ln>
                <a:solidFill>
                  <a:schemeClr val="accent3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How </a:t>
            </a:r>
            <a:r>
              <a:rPr lang="en-US" sz="3200" b="1" i="1" cap="small" dirty="0">
                <a:solidFill>
                  <a:schemeClr val="accent3"/>
                </a:solidFill>
                <a:cs typeface="Geneva" charset="0"/>
              </a:rPr>
              <a:t>It Works</a:t>
            </a:r>
            <a:endParaRPr kumimoji="0" lang="en-US" sz="3200" b="1" i="1" u="none" strike="noStrike" cap="small" normalizeH="0" baseline="0" dirty="0">
              <a:ln>
                <a:noFill/>
              </a:ln>
              <a:solidFill>
                <a:schemeClr val="accent3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77B112-D5BB-D48D-7C01-24C3B8834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841" y="304800"/>
            <a:ext cx="7158318" cy="55314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108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191000" y="609600"/>
            <a:ext cx="4267200" cy="5486400"/>
          </a:xfrm>
        </p:spPr>
        <p:txBody>
          <a:bodyPr/>
          <a:lstStyle/>
          <a:p>
            <a:pPr>
              <a:spcBef>
                <a:spcPts val="2568"/>
              </a:spcBef>
            </a:pPr>
            <a:r>
              <a:rPr lang="en-US" dirty="0"/>
              <a:t>Ticket is all about gross wages earned</a:t>
            </a:r>
          </a:p>
          <a:p>
            <a:pPr>
              <a:spcBef>
                <a:spcPts val="2568"/>
              </a:spcBef>
            </a:pPr>
            <a:r>
              <a:rPr lang="en-US" dirty="0"/>
              <a:t>Wages can be from any source including multiple jobs</a:t>
            </a:r>
          </a:p>
          <a:p>
            <a:pPr>
              <a:spcBef>
                <a:spcPts val="2568"/>
              </a:spcBef>
            </a:pPr>
            <a:r>
              <a:rPr lang="en-US" dirty="0"/>
              <a:t>Employment at required wage levels does not need to be continuous</a:t>
            </a:r>
          </a:p>
        </p:txBody>
      </p:sp>
      <p:sp>
        <p:nvSpPr>
          <p:cNvPr id="6" name="Pentagon 5"/>
          <p:cNvSpPr/>
          <p:nvPr/>
        </p:nvSpPr>
        <p:spPr bwMode="auto">
          <a:xfrm>
            <a:off x="457200" y="609600"/>
            <a:ext cx="2819400" cy="1371600"/>
          </a:xfrm>
          <a:prstGeom prst="homePlat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600" b="1" i="0" u="none" strike="noStrike" cap="small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Wage Issues</a:t>
            </a:r>
          </a:p>
        </p:txBody>
      </p:sp>
      <p:pic>
        <p:nvPicPr>
          <p:cNvPr id="2" name="Picture 1" descr="envelope_open_with_money_800_wht_1436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438400"/>
            <a:ext cx="3309257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10880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6600" y="685800"/>
            <a:ext cx="5715000" cy="4953000"/>
          </a:xfrm>
        </p:spPr>
        <p:txBody>
          <a:bodyPr/>
          <a:lstStyle/>
          <a:p>
            <a:pPr eaLnBrk="1" hangingPunct="1">
              <a:spcBef>
                <a:spcPts val="1872"/>
              </a:spcBef>
              <a:defRPr/>
            </a:pPr>
            <a:r>
              <a:rPr lang="en-US" sz="2800" dirty="0"/>
              <a:t>Ticket income is unrestricted</a:t>
            </a:r>
          </a:p>
          <a:p>
            <a:pPr eaLnBrk="1" hangingPunct="1">
              <a:spcBef>
                <a:spcPts val="1872"/>
              </a:spcBef>
              <a:defRPr/>
            </a:pPr>
            <a:r>
              <a:rPr lang="en-US" sz="2800" dirty="0"/>
              <a:t>Ticket income can generally be combined with other resources</a:t>
            </a:r>
          </a:p>
          <a:p>
            <a:pPr eaLnBrk="1" hangingPunct="1">
              <a:spcBef>
                <a:spcPts val="1872"/>
              </a:spcBef>
              <a:defRPr/>
            </a:pPr>
            <a:r>
              <a:rPr lang="en-US" sz="2800" dirty="0"/>
              <a:t>Monitoring and administrative requirements: </a:t>
            </a:r>
            <a:r>
              <a:rPr lang="en-US" sz="2800" u="sng" dirty="0"/>
              <a:t>relatively</a:t>
            </a:r>
            <a:r>
              <a:rPr lang="en-US" sz="2800" dirty="0"/>
              <a:t> minimal</a:t>
            </a:r>
          </a:p>
          <a:p>
            <a:pPr eaLnBrk="1" hangingPunct="1">
              <a:spcBef>
                <a:spcPts val="1872"/>
              </a:spcBef>
              <a:defRPr/>
            </a:pPr>
            <a:r>
              <a:rPr lang="en-US" sz="2800" dirty="0"/>
              <a:t>Linkage with benefits counseling is key</a:t>
            </a:r>
          </a:p>
          <a:p>
            <a:pPr lvl="1" eaLnBrk="1" hangingPunct="1">
              <a:spcBef>
                <a:spcPts val="1872"/>
              </a:spcBef>
              <a:buFont typeface="Wingdings" charset="2"/>
              <a:buChar char="Ø"/>
              <a:defRPr/>
            </a:pPr>
            <a:r>
              <a:rPr lang="en-US" i="1" dirty="0"/>
              <a:t>Work Incentive Planning &amp; Assistance (WIPA), others</a:t>
            </a:r>
            <a:endParaRPr lang="en-US" dirty="0"/>
          </a:p>
          <a:p>
            <a:pPr eaLnBrk="1" hangingPunct="1">
              <a:spcBef>
                <a:spcPts val="1872"/>
              </a:spcBef>
              <a:defRPr/>
            </a:pPr>
            <a:endParaRPr lang="en-US" sz="2800" dirty="0"/>
          </a:p>
        </p:txBody>
      </p:sp>
      <p:pic>
        <p:nvPicPr>
          <p:cNvPr id="4" name="Picture 3" descr="keys_with_custom_tag_19735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57200"/>
            <a:ext cx="2692095" cy="334006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0" y="685800"/>
            <a:ext cx="5181600" cy="5410200"/>
          </a:xfrm>
        </p:spPr>
        <p:txBody>
          <a:bodyPr/>
          <a:lstStyle/>
          <a:p>
            <a:pPr>
              <a:spcBef>
                <a:spcPts val="1176"/>
              </a:spcBef>
            </a:pPr>
            <a:r>
              <a:rPr lang="en-US" sz="2400" dirty="0"/>
              <a:t>Individual cannot have Ticket assigned both to public Vocational Rehabilitation and another EN at same time</a:t>
            </a:r>
          </a:p>
          <a:p>
            <a:pPr>
              <a:spcBef>
                <a:spcPts val="1176"/>
              </a:spcBef>
            </a:pPr>
            <a:r>
              <a:rPr lang="en-US" sz="2400" dirty="0"/>
              <a:t>VR agencies can be paid by Social Security via Ticket or cost reimbursement</a:t>
            </a:r>
          </a:p>
          <a:p>
            <a:pPr>
              <a:spcBef>
                <a:spcPts val="1176"/>
              </a:spcBef>
            </a:pPr>
            <a:r>
              <a:rPr lang="en-US" sz="2400" dirty="0"/>
              <a:t>If individual is successfully placed by VR, their Ticket can be reassigned to an EN, who can receive all payments except Phase  1 ($7,616)</a:t>
            </a:r>
          </a:p>
        </p:txBody>
      </p:sp>
      <p:pic>
        <p:nvPicPr>
          <p:cNvPr id="4" name="Picture 1028" descr="ticket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2285999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0" y="685800"/>
            <a:ext cx="182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00FF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13716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&amp;</a:t>
            </a:r>
          </a:p>
        </p:txBody>
      </p:sp>
      <p:cxnSp>
        <p:nvCxnSpPr>
          <p:cNvPr id="9" name="Straight Connector 8"/>
          <p:cNvCxnSpPr/>
          <p:nvPr/>
        </p:nvCxnSpPr>
        <p:spPr bwMode="auto">
          <a:xfrm>
            <a:off x="457200" y="533400"/>
            <a:ext cx="0" cy="2743200"/>
          </a:xfrm>
          <a:prstGeom prst="line">
            <a:avLst/>
          </a:prstGeom>
          <a:solidFill>
            <a:schemeClr val="accent1"/>
          </a:solidFill>
          <a:ln w="57150" cap="flat" cmpd="thinThick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1" name="Straight Connector 10"/>
          <p:cNvCxnSpPr/>
          <p:nvPr/>
        </p:nvCxnSpPr>
        <p:spPr bwMode="auto">
          <a:xfrm>
            <a:off x="457200" y="3276600"/>
            <a:ext cx="2667000" cy="0"/>
          </a:xfrm>
          <a:prstGeom prst="line">
            <a:avLst/>
          </a:prstGeom>
          <a:solidFill>
            <a:schemeClr val="accent1"/>
          </a:solidFill>
          <a:ln w="57150" cap="flat" cmpd="thinThick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3" name="Straight Connector 12"/>
          <p:cNvCxnSpPr/>
          <p:nvPr/>
        </p:nvCxnSpPr>
        <p:spPr bwMode="auto">
          <a:xfrm>
            <a:off x="457200" y="533400"/>
            <a:ext cx="2667000" cy="0"/>
          </a:xfrm>
          <a:prstGeom prst="line">
            <a:avLst/>
          </a:prstGeom>
          <a:solidFill>
            <a:schemeClr val="accent1"/>
          </a:solidFill>
          <a:ln w="57150" cap="flat" cmpd="thinThick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15" name="Straight Connector 14"/>
          <p:cNvCxnSpPr/>
          <p:nvPr/>
        </p:nvCxnSpPr>
        <p:spPr bwMode="auto">
          <a:xfrm>
            <a:off x="3124200" y="533400"/>
            <a:ext cx="0" cy="2743200"/>
          </a:xfrm>
          <a:prstGeom prst="line">
            <a:avLst/>
          </a:prstGeom>
          <a:solidFill>
            <a:schemeClr val="accent1"/>
          </a:solidFill>
          <a:ln w="57150" cap="flat" cmpd="thinThick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3415A0A-805B-D297-270C-950CF5490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753100"/>
            <a:ext cx="2209800" cy="169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0820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429000" y="457200"/>
            <a:ext cx="57912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dirty="0"/>
              <a:t>Identify Ticket holders</a:t>
            </a:r>
          </a:p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dirty="0"/>
              <a:t>Engage Ticket holders to assign their Tickets</a:t>
            </a:r>
          </a:p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dirty="0"/>
              <a:t>Service delivery per employment plan</a:t>
            </a:r>
          </a:p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dirty="0"/>
              <a:t>Placement and wage generation</a:t>
            </a:r>
          </a:p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dirty="0"/>
              <a:t>Wage verification</a:t>
            </a:r>
          </a:p>
          <a:p>
            <a:pPr eaLnBrk="1" hangingPunct="1">
              <a:lnSpc>
                <a:spcPct val="90000"/>
              </a:lnSpc>
              <a:spcBef>
                <a:spcPts val="1368"/>
              </a:spcBef>
              <a:defRPr/>
            </a:pPr>
            <a:r>
              <a:rPr lang="en-US" dirty="0"/>
              <a:t>Follow-up for job retention</a:t>
            </a:r>
          </a:p>
        </p:txBody>
      </p:sp>
      <p:sp>
        <p:nvSpPr>
          <p:cNvPr id="4" name="Pentagon 3"/>
          <p:cNvSpPr/>
          <p:nvPr/>
        </p:nvSpPr>
        <p:spPr bwMode="auto">
          <a:xfrm>
            <a:off x="152400" y="381000"/>
            <a:ext cx="2895600" cy="1371600"/>
          </a:xfrm>
          <a:prstGeom prst="homePlate">
            <a:avLst/>
          </a:prstGeom>
          <a:ln>
            <a:headEnd type="none" w="med" len="med"/>
            <a:tailEnd type="none" w="med" len="med"/>
          </a:ln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small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Service Structure</a:t>
            </a:r>
          </a:p>
        </p:txBody>
      </p:sp>
      <p:pic>
        <p:nvPicPr>
          <p:cNvPr id="6" name="Picture 1028" descr="ticket_log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57400"/>
            <a:ext cx="2590799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3657600" cy="1752600"/>
          </a:xfrm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eaLnBrk="1" hangingPunct="1">
              <a:defRPr/>
            </a:pPr>
            <a:r>
              <a:rPr lang="en-US" sz="2800" cap="small" dirty="0">
                <a:latin typeface="+mn-lt"/>
              </a:rPr>
              <a:t>Ticket Assignment</a:t>
            </a:r>
            <a:br>
              <a:rPr lang="en-US" sz="2800" cap="small" dirty="0">
                <a:latin typeface="+mn-lt"/>
              </a:rPr>
            </a:br>
            <a:r>
              <a:rPr lang="en-US" sz="2800" cap="small" dirty="0">
                <a:latin typeface="+mn-lt"/>
              </a:rPr>
              <a:t>&amp; Development of Individual Work Plan</a:t>
            </a:r>
          </a:p>
        </p:txBody>
      </p:sp>
      <p:sp>
        <p:nvSpPr>
          <p:cNvPr id="12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67200" y="0"/>
            <a:ext cx="3581400" cy="4648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en-US" sz="2800" dirty="0"/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defRPr/>
            </a:pPr>
            <a:r>
              <a:rPr lang="en-US" sz="2800" dirty="0"/>
              <a:t>Ticket assignment occurs when</a:t>
            </a:r>
            <a:br>
              <a:rPr lang="en-US" sz="2800" dirty="0"/>
            </a:br>
            <a:r>
              <a:rPr lang="en-US" sz="2800" dirty="0"/>
              <a:t>Individual Work Plan is signed</a:t>
            </a:r>
            <a:br>
              <a:rPr lang="en-US" sz="2800" dirty="0"/>
            </a:br>
            <a:endParaRPr lang="en-US" sz="2800" dirty="0"/>
          </a:p>
          <a:p>
            <a:pPr eaLnBrk="1" hangingPunct="1">
              <a:lnSpc>
                <a:spcPct val="90000"/>
              </a:lnSpc>
              <a:spcBef>
                <a:spcPct val="75000"/>
              </a:spcBef>
              <a:defRPr/>
            </a:pPr>
            <a:r>
              <a:rPr lang="en-US" sz="2800" dirty="0"/>
              <a:t>EN lets </a:t>
            </a:r>
            <a:r>
              <a:rPr lang="en-US" sz="2800" dirty="0" err="1"/>
              <a:t>Cognosante</a:t>
            </a:r>
            <a:r>
              <a:rPr lang="en-US" sz="2800" dirty="0"/>
              <a:t> (program manager) know that Ticket to Work has been assigned via online portal</a:t>
            </a:r>
          </a:p>
        </p:txBody>
      </p:sp>
      <p:pic>
        <p:nvPicPr>
          <p:cNvPr id="19459" name="Picture 7" descr="pen_and_paper_legal_document_with_pen_signing_the_paper_0515-0909-2116-0233_SMU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1676400"/>
            <a:ext cx="762000" cy="652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 descr="Forms-SSA-1370-WEB-101817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69564"/>
            <a:ext cx="2721264" cy="3521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3276600" cy="1828800"/>
          </a:xfrm>
          <a:effectLst>
            <a:glow rad="1016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r>
              <a:rPr lang="en-US" cap="small" dirty="0"/>
              <a:t>Post-Placement Follow Up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38600" y="762000"/>
            <a:ext cx="4876800" cy="49530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/>
              <a:t>Job retention is key to ongoing Ticket revenue stream</a:t>
            </a:r>
            <a:br>
              <a:rPr lang="en-US" sz="4000" dirty="0"/>
            </a:br>
            <a:endParaRPr lang="en-US" sz="4000" dirty="0"/>
          </a:p>
          <a:p>
            <a:pPr eaLnBrk="1" hangingPunct="1">
              <a:defRPr/>
            </a:pPr>
            <a:r>
              <a:rPr lang="en-US" sz="4000" dirty="0"/>
              <a:t>Quarterly follow-up required</a:t>
            </a:r>
          </a:p>
        </p:txBody>
      </p:sp>
      <p:pic>
        <p:nvPicPr>
          <p:cNvPr id="2" name="Picture 1" descr="following_the_boss_800_wht_14369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971800"/>
            <a:ext cx="3341511" cy="28194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0" y="533400"/>
            <a:ext cx="5257800" cy="5715000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Have in-house point person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Give ongoing attention to program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Integrate within existing services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Target and engage individuals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Link up with benefits counseling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Build program over time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/>
          </a:p>
        </p:txBody>
      </p:sp>
      <p:sp>
        <p:nvSpPr>
          <p:cNvPr id="4" name="Pentagon 3"/>
          <p:cNvSpPr/>
          <p:nvPr/>
        </p:nvSpPr>
        <p:spPr bwMode="auto">
          <a:xfrm>
            <a:off x="457200" y="685800"/>
            <a:ext cx="2438400" cy="1371600"/>
          </a:xfrm>
          <a:prstGeom prst="homePlate">
            <a:avLst/>
          </a:prstGeom>
          <a:ln>
            <a:headEnd type="none" w="med" len="med"/>
            <a:tailEnd type="none" w="med" len="med"/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40000" dist="20000" dir="5400000" rotWithShape="0">
              <a:srgbClr val="000000">
                <a:alpha val="38000"/>
              </a:srgbClr>
            </a:outerShdw>
          </a:effectLst>
          <a:scene3d>
            <a:camera prst="orthographicFront"/>
            <a:lightRig rig="threePt" dir="t"/>
          </a:scene3d>
          <a:sp3d>
            <a:bevelT w="139700" h="139700" prst="divot"/>
          </a:sp3d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small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 Lessons</a:t>
            </a:r>
            <a:r>
              <a:rPr kumimoji="0" lang="en-US" sz="2800" b="1" i="0" u="none" strike="noStrike" cap="small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   </a:t>
            </a:r>
            <a:br>
              <a:rPr kumimoji="0" lang="en-US" sz="2800" b="1" i="0" u="none" strike="noStrike" cap="small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</a:br>
            <a:r>
              <a:rPr kumimoji="0" lang="en-US" sz="2800" b="1" i="0" u="none" strike="noStrike" cap="small" normalizeH="0" dirty="0">
                <a:ln>
                  <a:noFill/>
                </a:ln>
                <a:solidFill>
                  <a:srgbClr val="000000"/>
                </a:solidFill>
                <a:effectLst/>
                <a:latin typeface="Arial" charset="0"/>
                <a:ea typeface="ＭＳ Ｐゴシック" charset="0"/>
                <a:cs typeface="Geneva" charset="0"/>
              </a:rPr>
              <a:t> Learned </a:t>
            </a:r>
            <a:endParaRPr kumimoji="0" lang="en-US" sz="2800" b="1" i="0" u="none" strike="noStrike" cap="small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Geneva" charset="0"/>
            </a:endParaRPr>
          </a:p>
        </p:txBody>
      </p:sp>
      <p:pic>
        <p:nvPicPr>
          <p:cNvPr id="5" name="Picture 4" descr="man_pointer_book_800_wht_1752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362200"/>
            <a:ext cx="26289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12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solidFill>
            <a:srgbClr val="006699"/>
          </a:solidFill>
          <a:scene3d>
            <a:camera prst="orthographicFront"/>
            <a:lightRig rig="threePt" dir="t"/>
          </a:scene3d>
          <a:sp3d>
            <a:bevelT w="139700" h="139700" prst="divot"/>
          </a:sp3d>
        </p:spPr>
        <p:txBody>
          <a:bodyPr/>
          <a:lstStyle/>
          <a:p>
            <a:pPr eaLnBrk="1" hangingPunct="1">
              <a:defRPr/>
            </a:pPr>
            <a:r>
              <a:rPr lang="en-US" cap="small" dirty="0">
                <a:solidFill>
                  <a:srgbClr val="FFFFFF"/>
                </a:solidFill>
                <a:latin typeface="Arial"/>
              </a:rPr>
              <a:t>Questions, Comments,</a:t>
            </a:r>
            <a:br>
              <a:rPr lang="en-US" cap="small" dirty="0">
                <a:solidFill>
                  <a:srgbClr val="FFFFFF"/>
                </a:solidFill>
                <a:latin typeface="Arial"/>
              </a:rPr>
            </a:br>
            <a:r>
              <a:rPr lang="en-US" cap="small" dirty="0">
                <a:solidFill>
                  <a:srgbClr val="FFFFFF"/>
                </a:solidFill>
                <a:latin typeface="Arial"/>
              </a:rPr>
              <a:t>Discussion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624138"/>
            <a:ext cx="3048000" cy="217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 descr="1194984513646717809chat_icon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590800"/>
            <a:ext cx="26670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010400" y="6324600"/>
            <a:ext cx="19050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9409278C-3FA7-7845-A8F1-E8479B58F9A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91272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 New Roman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Geneva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HD:Applications:Microsoft Office 2004:Templates:Presentations:Designs:Blank Presentation</Template>
  <TotalTime>1423</TotalTime>
  <Words>402</Words>
  <Application>Microsoft Macintosh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Geneva</vt:lpstr>
      <vt:lpstr>Times New Roman</vt:lpstr>
      <vt:lpstr>Wingdings</vt:lpstr>
      <vt:lpstr>Blank Presentation</vt:lpstr>
      <vt:lpstr>PowerPoint Presentation</vt:lpstr>
      <vt:lpstr>Ticket to Work: What Is It?</vt:lpstr>
      <vt:lpstr>How Do Individuals Participate in Ticket?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Ticket Assignment &amp; Development of Individual Work Plan</vt:lpstr>
      <vt:lpstr>Post-Placement Follow Up</vt:lpstr>
      <vt:lpstr>PowerPoint Presentation</vt:lpstr>
      <vt:lpstr>Questions, Comments, Discussion</vt:lpstr>
    </vt:vector>
  </TitlesOfParts>
  <Company>UMass Boston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ICI</dc:creator>
  <cp:lastModifiedBy>David Hoff</cp:lastModifiedBy>
  <cp:revision>60</cp:revision>
  <dcterms:created xsi:type="dcterms:W3CDTF">2006-09-27T14:52:23Z</dcterms:created>
  <dcterms:modified xsi:type="dcterms:W3CDTF">2026-04-03T14:38:46Z</dcterms:modified>
</cp:coreProperties>
</file>