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 id="2147483894" r:id="rId2"/>
    <p:sldMasterId id="2147483906" r:id="rId3"/>
    <p:sldMasterId id="2147483919" r:id="rId4"/>
  </p:sldMasterIdLst>
  <p:notesMasterIdLst>
    <p:notesMasterId r:id="rId64"/>
  </p:notesMasterIdLst>
  <p:handoutMasterIdLst>
    <p:handoutMasterId r:id="rId65"/>
  </p:handoutMasterIdLst>
  <p:sldIdLst>
    <p:sldId id="281" r:id="rId5"/>
    <p:sldId id="1062" r:id="rId6"/>
    <p:sldId id="485" r:id="rId7"/>
    <p:sldId id="506" r:id="rId8"/>
    <p:sldId id="507" r:id="rId9"/>
    <p:sldId id="1100" r:id="rId10"/>
    <p:sldId id="1077" r:id="rId11"/>
    <p:sldId id="1078" r:id="rId12"/>
    <p:sldId id="1098" r:id="rId13"/>
    <p:sldId id="477" r:id="rId14"/>
    <p:sldId id="340" r:id="rId15"/>
    <p:sldId id="1093" r:id="rId16"/>
    <p:sldId id="304" r:id="rId17"/>
    <p:sldId id="1102" r:id="rId18"/>
    <p:sldId id="356" r:id="rId19"/>
    <p:sldId id="347" r:id="rId20"/>
    <p:sldId id="1063" r:id="rId21"/>
    <p:sldId id="1065" r:id="rId22"/>
    <p:sldId id="1066" r:id="rId23"/>
    <p:sldId id="1067" r:id="rId24"/>
    <p:sldId id="1089" r:id="rId25"/>
    <p:sldId id="1090" r:id="rId26"/>
    <p:sldId id="1068" r:id="rId27"/>
    <p:sldId id="1073" r:id="rId28"/>
    <p:sldId id="1069" r:id="rId29"/>
    <p:sldId id="1099" r:id="rId30"/>
    <p:sldId id="1104" r:id="rId31"/>
    <p:sldId id="1072" r:id="rId32"/>
    <p:sldId id="1085" r:id="rId33"/>
    <p:sldId id="1091" r:id="rId34"/>
    <p:sldId id="1105" r:id="rId35"/>
    <p:sldId id="1071" r:id="rId36"/>
    <p:sldId id="375" r:id="rId37"/>
    <p:sldId id="268" r:id="rId38"/>
    <p:sldId id="298" r:id="rId39"/>
    <p:sldId id="1092" r:id="rId40"/>
    <p:sldId id="1084" r:id="rId41"/>
    <p:sldId id="1086" r:id="rId42"/>
    <p:sldId id="1074" r:id="rId43"/>
    <p:sldId id="1083" r:id="rId44"/>
    <p:sldId id="1097" r:id="rId45"/>
    <p:sldId id="1060" r:id="rId46"/>
    <p:sldId id="508" r:id="rId47"/>
    <p:sldId id="1101" r:id="rId48"/>
    <p:sldId id="1087" r:id="rId49"/>
    <p:sldId id="1088" r:id="rId50"/>
    <p:sldId id="1080" r:id="rId51"/>
    <p:sldId id="1079" r:id="rId52"/>
    <p:sldId id="1081" r:id="rId53"/>
    <p:sldId id="1076" r:id="rId54"/>
    <p:sldId id="1096" r:id="rId55"/>
    <p:sldId id="1095" r:id="rId56"/>
    <p:sldId id="256" r:id="rId57"/>
    <p:sldId id="267" r:id="rId58"/>
    <p:sldId id="266" r:id="rId59"/>
    <p:sldId id="474" r:id="rId60"/>
    <p:sldId id="1075" r:id="rId61"/>
    <p:sldId id="360" r:id="rId62"/>
    <p:sldId id="1103" r:id="rId63"/>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Book Antiqua" panose="0204060205030503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Book Antiqua" panose="0204060205030503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A4200"/>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0811"/>
    <p:restoredTop sz="94778"/>
  </p:normalViewPr>
  <p:slideViewPr>
    <p:cSldViewPr>
      <p:cViewPr varScale="1">
        <p:scale>
          <a:sx n="115" d="100"/>
          <a:sy n="115" d="100"/>
        </p:scale>
        <p:origin x="1488" y="19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57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diagrams/_rels/data1.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A1C448-5D33-4CF0-97BE-B663CB2F67F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1A4A7BBD-EB6D-4D05-846A-2A50C5F0B303}">
      <dgm:prSet/>
      <dgm:spPr/>
      <dgm:t>
        <a:bodyPr/>
        <a:lstStyle/>
        <a:p>
          <a:r>
            <a:rPr lang="en-US" dirty="0"/>
            <a:t>Explain why inquiry is being made, how information will be used, and that it is confidential.</a:t>
          </a:r>
        </a:p>
      </dgm:t>
    </dgm:pt>
    <dgm:pt modelId="{F2BBB858-962C-46F6-8504-E9549B3CCF01}" type="parTrans" cxnId="{145A746F-4EF2-4150-8B03-8A5E924F5E63}">
      <dgm:prSet/>
      <dgm:spPr/>
      <dgm:t>
        <a:bodyPr/>
        <a:lstStyle/>
        <a:p>
          <a:endParaRPr lang="en-US"/>
        </a:p>
      </dgm:t>
    </dgm:pt>
    <dgm:pt modelId="{33ADBC4A-0C70-4FED-B985-5A915C886735}" type="sibTrans" cxnId="{145A746F-4EF2-4150-8B03-8A5E924F5E63}">
      <dgm:prSet/>
      <dgm:spPr/>
      <dgm:t>
        <a:bodyPr/>
        <a:lstStyle/>
        <a:p>
          <a:endParaRPr lang="en-US"/>
        </a:p>
      </dgm:t>
    </dgm:pt>
    <dgm:pt modelId="{8A5B72E2-64B7-4F9B-8F2D-A24D8A40917F}">
      <dgm:prSet/>
      <dgm:spPr/>
      <dgm:t>
        <a:bodyPr/>
        <a:lstStyle/>
        <a:p>
          <a:r>
            <a:rPr lang="en-US" dirty="0"/>
            <a:t>Be clear that information is voluntary.</a:t>
          </a:r>
        </a:p>
      </dgm:t>
    </dgm:pt>
    <dgm:pt modelId="{5AABC4E9-1D9F-44D4-9A75-2C7C79DD647A}" type="parTrans" cxnId="{71C45574-E77D-4659-8652-9227FBE35468}">
      <dgm:prSet/>
      <dgm:spPr/>
      <dgm:t>
        <a:bodyPr/>
        <a:lstStyle/>
        <a:p>
          <a:endParaRPr lang="en-US"/>
        </a:p>
      </dgm:t>
    </dgm:pt>
    <dgm:pt modelId="{E0325C55-9CDC-4E80-A0F0-B1A38CFE990F}" type="sibTrans" cxnId="{71C45574-E77D-4659-8652-9227FBE35468}">
      <dgm:prSet/>
      <dgm:spPr/>
      <dgm:t>
        <a:bodyPr/>
        <a:lstStyle/>
        <a:p>
          <a:endParaRPr lang="en-US"/>
        </a:p>
      </dgm:t>
    </dgm:pt>
    <dgm:pt modelId="{9D19BD00-B28B-4E95-AB6C-1801FF4034C7}">
      <dgm:prSet/>
      <dgm:spPr/>
      <dgm:t>
        <a:bodyPr/>
        <a:lstStyle/>
        <a:p>
          <a:r>
            <a:rPr lang="en-US" dirty="0"/>
            <a:t>Maintain confidentiality.</a:t>
          </a:r>
        </a:p>
      </dgm:t>
    </dgm:pt>
    <dgm:pt modelId="{AEB82716-7879-47FD-BDFA-E866FC927115}" type="parTrans" cxnId="{C6F1C61E-4C3D-46FE-B838-A6E529D1D8F5}">
      <dgm:prSet/>
      <dgm:spPr/>
      <dgm:t>
        <a:bodyPr/>
        <a:lstStyle/>
        <a:p>
          <a:endParaRPr lang="en-US"/>
        </a:p>
      </dgm:t>
    </dgm:pt>
    <dgm:pt modelId="{EB335726-0315-4ACC-8CB1-0781DCD92CED}" type="sibTrans" cxnId="{C6F1C61E-4C3D-46FE-B838-A6E529D1D8F5}">
      <dgm:prSet/>
      <dgm:spPr/>
      <dgm:t>
        <a:bodyPr/>
        <a:lstStyle/>
        <a:p>
          <a:endParaRPr lang="en-US"/>
        </a:p>
      </dgm:t>
    </dgm:pt>
    <dgm:pt modelId="{8647A8AD-8FCB-426B-9DFF-08497F77DDBC}">
      <dgm:prSet/>
      <dgm:spPr/>
      <dgm:t>
        <a:bodyPr/>
        <a:lstStyle/>
        <a:p>
          <a:r>
            <a:rPr lang="en-US" dirty="0"/>
            <a:t>Be consistent regarding inquiries in terms of who is asked and how inquiries are made.</a:t>
          </a:r>
        </a:p>
      </dgm:t>
    </dgm:pt>
    <dgm:pt modelId="{1A7130F5-3557-4CA6-8FEC-72A2AC16BB4B}" type="parTrans" cxnId="{E75AF2CB-75C4-43A2-B770-AFEB1BE80C88}">
      <dgm:prSet/>
      <dgm:spPr/>
      <dgm:t>
        <a:bodyPr/>
        <a:lstStyle/>
        <a:p>
          <a:endParaRPr lang="en-US"/>
        </a:p>
      </dgm:t>
    </dgm:pt>
    <dgm:pt modelId="{E9EB1962-87AC-4B9D-A769-AED4C0710AF8}" type="sibTrans" cxnId="{E75AF2CB-75C4-43A2-B770-AFEB1BE80C88}">
      <dgm:prSet/>
      <dgm:spPr/>
      <dgm:t>
        <a:bodyPr/>
        <a:lstStyle/>
        <a:p>
          <a:endParaRPr lang="en-US"/>
        </a:p>
      </dgm:t>
    </dgm:pt>
    <dgm:pt modelId="{1049D9AE-2C5D-4793-A32C-F8493B64A8D6}" type="pres">
      <dgm:prSet presAssocID="{1BA1C448-5D33-4CF0-97BE-B663CB2F67F2}" presName="root" presStyleCnt="0">
        <dgm:presLayoutVars>
          <dgm:dir/>
          <dgm:resizeHandles val="exact"/>
        </dgm:presLayoutVars>
      </dgm:prSet>
      <dgm:spPr/>
    </dgm:pt>
    <dgm:pt modelId="{59AD94AD-9533-4A5B-AAE3-DBDEDFB122AF}" type="pres">
      <dgm:prSet presAssocID="{1A4A7BBD-EB6D-4D05-846A-2A50C5F0B303}" presName="compNode" presStyleCnt="0"/>
      <dgm:spPr/>
    </dgm:pt>
    <dgm:pt modelId="{D0B42C11-5FE6-430F-95CF-502404E5D0D5}" type="pres">
      <dgm:prSet presAssocID="{1A4A7BBD-EB6D-4D05-846A-2A50C5F0B303}" presName="bgRect" presStyleLbl="bgShp" presStyleIdx="0" presStyleCnt="4"/>
      <dgm:spPr/>
    </dgm:pt>
    <dgm:pt modelId="{7CC5B99C-AEF6-4655-82C4-7645643BB369}" type="pres">
      <dgm:prSet presAssocID="{1A4A7BBD-EB6D-4D05-846A-2A50C5F0B30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p"/>
        </a:ext>
      </dgm:extLst>
    </dgm:pt>
    <dgm:pt modelId="{5DBC2CDE-FAAB-474A-863C-0B384B60CB3F}" type="pres">
      <dgm:prSet presAssocID="{1A4A7BBD-EB6D-4D05-846A-2A50C5F0B303}" presName="spaceRect" presStyleCnt="0"/>
      <dgm:spPr/>
    </dgm:pt>
    <dgm:pt modelId="{C2A6A48A-42BB-47DC-A821-D97BE68005DE}" type="pres">
      <dgm:prSet presAssocID="{1A4A7BBD-EB6D-4D05-846A-2A50C5F0B303}" presName="parTx" presStyleLbl="revTx" presStyleIdx="0" presStyleCnt="4">
        <dgm:presLayoutVars>
          <dgm:chMax val="0"/>
          <dgm:chPref val="0"/>
        </dgm:presLayoutVars>
      </dgm:prSet>
      <dgm:spPr/>
    </dgm:pt>
    <dgm:pt modelId="{19768190-4615-480B-895D-82C5A78557D0}" type="pres">
      <dgm:prSet presAssocID="{33ADBC4A-0C70-4FED-B985-5A915C886735}" presName="sibTrans" presStyleCnt="0"/>
      <dgm:spPr/>
    </dgm:pt>
    <dgm:pt modelId="{1B298804-1C25-4AE2-B46B-0349F643A27A}" type="pres">
      <dgm:prSet presAssocID="{8A5B72E2-64B7-4F9B-8F2D-A24D8A40917F}" presName="compNode" presStyleCnt="0"/>
      <dgm:spPr/>
    </dgm:pt>
    <dgm:pt modelId="{B83CD3D5-9B23-47A2-9FA0-206DDA943F9C}" type="pres">
      <dgm:prSet presAssocID="{8A5B72E2-64B7-4F9B-8F2D-A24D8A40917F}" presName="bgRect" presStyleLbl="bgShp" presStyleIdx="1" presStyleCnt="4"/>
      <dgm:spPr/>
    </dgm:pt>
    <dgm:pt modelId="{E01A6F70-BDE3-4A3D-A626-E35FB10ED23F}" type="pres">
      <dgm:prSet presAssocID="{8A5B72E2-64B7-4F9B-8F2D-A24D8A40917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AD07F0D-576C-40E1-931A-04FD293B042D}" type="pres">
      <dgm:prSet presAssocID="{8A5B72E2-64B7-4F9B-8F2D-A24D8A40917F}" presName="spaceRect" presStyleCnt="0"/>
      <dgm:spPr/>
    </dgm:pt>
    <dgm:pt modelId="{8A57571F-037B-414E-A689-A694A1B66808}" type="pres">
      <dgm:prSet presAssocID="{8A5B72E2-64B7-4F9B-8F2D-A24D8A40917F}" presName="parTx" presStyleLbl="revTx" presStyleIdx="1" presStyleCnt="4">
        <dgm:presLayoutVars>
          <dgm:chMax val="0"/>
          <dgm:chPref val="0"/>
        </dgm:presLayoutVars>
      </dgm:prSet>
      <dgm:spPr/>
    </dgm:pt>
    <dgm:pt modelId="{79BDC9D0-A442-4133-963C-FF13EBFF2CD3}" type="pres">
      <dgm:prSet presAssocID="{E0325C55-9CDC-4E80-A0F0-B1A38CFE990F}" presName="sibTrans" presStyleCnt="0"/>
      <dgm:spPr/>
    </dgm:pt>
    <dgm:pt modelId="{1AAE7A18-666F-4769-A2FE-4A8F72D4AF89}" type="pres">
      <dgm:prSet presAssocID="{9D19BD00-B28B-4E95-AB6C-1801FF4034C7}" presName="compNode" presStyleCnt="0"/>
      <dgm:spPr/>
    </dgm:pt>
    <dgm:pt modelId="{7ACAD793-2118-49B0-8215-DE9FC6EC08D9}" type="pres">
      <dgm:prSet presAssocID="{9D19BD00-B28B-4E95-AB6C-1801FF4034C7}" presName="bgRect" presStyleLbl="bgShp" presStyleIdx="2" presStyleCnt="4"/>
      <dgm:spPr/>
    </dgm:pt>
    <dgm:pt modelId="{36CCBFE0-EBF7-449F-BA1B-9E4DC2EBD48C}" type="pres">
      <dgm:prSet presAssocID="{9D19BD00-B28B-4E95-AB6C-1801FF4034C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DEA5AFF1-743E-4641-9078-656E0BB2114C}" type="pres">
      <dgm:prSet presAssocID="{9D19BD00-B28B-4E95-AB6C-1801FF4034C7}" presName="spaceRect" presStyleCnt="0"/>
      <dgm:spPr/>
    </dgm:pt>
    <dgm:pt modelId="{5567AA32-76D2-4861-8D28-903AD9188C18}" type="pres">
      <dgm:prSet presAssocID="{9D19BD00-B28B-4E95-AB6C-1801FF4034C7}" presName="parTx" presStyleLbl="revTx" presStyleIdx="2" presStyleCnt="4">
        <dgm:presLayoutVars>
          <dgm:chMax val="0"/>
          <dgm:chPref val="0"/>
        </dgm:presLayoutVars>
      </dgm:prSet>
      <dgm:spPr/>
    </dgm:pt>
    <dgm:pt modelId="{E6CD4444-60B3-434C-BFE0-9003018682B9}" type="pres">
      <dgm:prSet presAssocID="{EB335726-0315-4ACC-8CB1-0781DCD92CED}" presName="sibTrans" presStyleCnt="0"/>
      <dgm:spPr/>
    </dgm:pt>
    <dgm:pt modelId="{A89E9BBC-7CF6-4107-BA4C-98DB3E921D89}" type="pres">
      <dgm:prSet presAssocID="{8647A8AD-8FCB-426B-9DFF-08497F77DDBC}" presName="compNode" presStyleCnt="0"/>
      <dgm:spPr/>
    </dgm:pt>
    <dgm:pt modelId="{04FD31C5-12B4-4161-BA45-087B9054F773}" type="pres">
      <dgm:prSet presAssocID="{8647A8AD-8FCB-426B-9DFF-08497F77DDBC}" presName="bgRect" presStyleLbl="bgShp" presStyleIdx="3" presStyleCnt="4"/>
      <dgm:spPr/>
    </dgm:pt>
    <dgm:pt modelId="{0DB092E3-6260-43A9-93A4-73529B7E9E01}" type="pres">
      <dgm:prSet presAssocID="{8647A8AD-8FCB-426B-9DFF-08497F77DDB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s"/>
        </a:ext>
      </dgm:extLst>
    </dgm:pt>
    <dgm:pt modelId="{B3FE3CFB-0C8C-4183-9457-0949E5CD4228}" type="pres">
      <dgm:prSet presAssocID="{8647A8AD-8FCB-426B-9DFF-08497F77DDBC}" presName="spaceRect" presStyleCnt="0"/>
      <dgm:spPr/>
    </dgm:pt>
    <dgm:pt modelId="{C9D2B1E1-D32F-4B4A-B93B-750F5A2B7481}" type="pres">
      <dgm:prSet presAssocID="{8647A8AD-8FCB-426B-9DFF-08497F77DDBC}" presName="parTx" presStyleLbl="revTx" presStyleIdx="3" presStyleCnt="4">
        <dgm:presLayoutVars>
          <dgm:chMax val="0"/>
          <dgm:chPref val="0"/>
        </dgm:presLayoutVars>
      </dgm:prSet>
      <dgm:spPr/>
    </dgm:pt>
  </dgm:ptLst>
  <dgm:cxnLst>
    <dgm:cxn modelId="{C6F1C61E-4C3D-46FE-B838-A6E529D1D8F5}" srcId="{1BA1C448-5D33-4CF0-97BE-B663CB2F67F2}" destId="{9D19BD00-B28B-4E95-AB6C-1801FF4034C7}" srcOrd="2" destOrd="0" parTransId="{AEB82716-7879-47FD-BDFA-E866FC927115}" sibTransId="{EB335726-0315-4ACC-8CB1-0781DCD92CED}"/>
    <dgm:cxn modelId="{40010661-DD18-4B08-A0BF-710CC9A13D00}" type="presOf" srcId="{1A4A7BBD-EB6D-4D05-846A-2A50C5F0B303}" destId="{C2A6A48A-42BB-47DC-A821-D97BE68005DE}" srcOrd="0" destOrd="0" presId="urn:microsoft.com/office/officeart/2018/2/layout/IconVerticalSolidList"/>
    <dgm:cxn modelId="{145A746F-4EF2-4150-8B03-8A5E924F5E63}" srcId="{1BA1C448-5D33-4CF0-97BE-B663CB2F67F2}" destId="{1A4A7BBD-EB6D-4D05-846A-2A50C5F0B303}" srcOrd="0" destOrd="0" parTransId="{F2BBB858-962C-46F6-8504-E9549B3CCF01}" sibTransId="{33ADBC4A-0C70-4FED-B985-5A915C886735}"/>
    <dgm:cxn modelId="{71C45574-E77D-4659-8652-9227FBE35468}" srcId="{1BA1C448-5D33-4CF0-97BE-B663CB2F67F2}" destId="{8A5B72E2-64B7-4F9B-8F2D-A24D8A40917F}" srcOrd="1" destOrd="0" parTransId="{5AABC4E9-1D9F-44D4-9A75-2C7C79DD647A}" sibTransId="{E0325C55-9CDC-4E80-A0F0-B1A38CFE990F}"/>
    <dgm:cxn modelId="{53DD10AE-1EC0-45B7-B21D-046FD5BD16E7}" type="presOf" srcId="{8647A8AD-8FCB-426B-9DFF-08497F77DDBC}" destId="{C9D2B1E1-D32F-4B4A-B93B-750F5A2B7481}" srcOrd="0" destOrd="0" presId="urn:microsoft.com/office/officeart/2018/2/layout/IconVerticalSolidList"/>
    <dgm:cxn modelId="{3A552AC6-9482-4998-839A-A1F664A3FB1D}" type="presOf" srcId="{8A5B72E2-64B7-4F9B-8F2D-A24D8A40917F}" destId="{8A57571F-037B-414E-A689-A694A1B66808}" srcOrd="0" destOrd="0" presId="urn:microsoft.com/office/officeart/2018/2/layout/IconVerticalSolidList"/>
    <dgm:cxn modelId="{E75AF2CB-75C4-43A2-B770-AFEB1BE80C88}" srcId="{1BA1C448-5D33-4CF0-97BE-B663CB2F67F2}" destId="{8647A8AD-8FCB-426B-9DFF-08497F77DDBC}" srcOrd="3" destOrd="0" parTransId="{1A7130F5-3557-4CA6-8FEC-72A2AC16BB4B}" sibTransId="{E9EB1962-87AC-4B9D-A769-AED4C0710AF8}"/>
    <dgm:cxn modelId="{37AC08E0-F68C-4A53-B2FD-1F90194C21FB}" type="presOf" srcId="{9D19BD00-B28B-4E95-AB6C-1801FF4034C7}" destId="{5567AA32-76D2-4861-8D28-903AD9188C18}" srcOrd="0" destOrd="0" presId="urn:microsoft.com/office/officeart/2018/2/layout/IconVerticalSolidList"/>
    <dgm:cxn modelId="{63FB27FA-874F-4745-B00D-9C84CBA8810A}" type="presOf" srcId="{1BA1C448-5D33-4CF0-97BE-B663CB2F67F2}" destId="{1049D9AE-2C5D-4793-A32C-F8493B64A8D6}" srcOrd="0" destOrd="0" presId="urn:microsoft.com/office/officeart/2018/2/layout/IconVerticalSolidList"/>
    <dgm:cxn modelId="{1F6992A0-3A9F-49A0-975E-824E8B9A8B27}" type="presParOf" srcId="{1049D9AE-2C5D-4793-A32C-F8493B64A8D6}" destId="{59AD94AD-9533-4A5B-AAE3-DBDEDFB122AF}" srcOrd="0" destOrd="0" presId="urn:microsoft.com/office/officeart/2018/2/layout/IconVerticalSolidList"/>
    <dgm:cxn modelId="{449F8626-5CCE-4B93-A4CA-30717A2C9291}" type="presParOf" srcId="{59AD94AD-9533-4A5B-AAE3-DBDEDFB122AF}" destId="{D0B42C11-5FE6-430F-95CF-502404E5D0D5}" srcOrd="0" destOrd="0" presId="urn:microsoft.com/office/officeart/2018/2/layout/IconVerticalSolidList"/>
    <dgm:cxn modelId="{4F821866-DF88-47A2-961B-D2A1EC674F2C}" type="presParOf" srcId="{59AD94AD-9533-4A5B-AAE3-DBDEDFB122AF}" destId="{7CC5B99C-AEF6-4655-82C4-7645643BB369}" srcOrd="1" destOrd="0" presId="urn:microsoft.com/office/officeart/2018/2/layout/IconVerticalSolidList"/>
    <dgm:cxn modelId="{B694A6E3-7D9A-4BD6-94AE-49B6902A0424}" type="presParOf" srcId="{59AD94AD-9533-4A5B-AAE3-DBDEDFB122AF}" destId="{5DBC2CDE-FAAB-474A-863C-0B384B60CB3F}" srcOrd="2" destOrd="0" presId="urn:microsoft.com/office/officeart/2018/2/layout/IconVerticalSolidList"/>
    <dgm:cxn modelId="{BE64F50F-83E4-4262-BF78-3396DEF57FF1}" type="presParOf" srcId="{59AD94AD-9533-4A5B-AAE3-DBDEDFB122AF}" destId="{C2A6A48A-42BB-47DC-A821-D97BE68005DE}" srcOrd="3" destOrd="0" presId="urn:microsoft.com/office/officeart/2018/2/layout/IconVerticalSolidList"/>
    <dgm:cxn modelId="{5DE20090-9FC6-4730-BBE2-AA60F8B7026E}" type="presParOf" srcId="{1049D9AE-2C5D-4793-A32C-F8493B64A8D6}" destId="{19768190-4615-480B-895D-82C5A78557D0}" srcOrd="1" destOrd="0" presId="urn:microsoft.com/office/officeart/2018/2/layout/IconVerticalSolidList"/>
    <dgm:cxn modelId="{6E113C5F-1220-4B3F-A584-D6BFB8EA0ED8}" type="presParOf" srcId="{1049D9AE-2C5D-4793-A32C-F8493B64A8D6}" destId="{1B298804-1C25-4AE2-B46B-0349F643A27A}" srcOrd="2" destOrd="0" presId="urn:microsoft.com/office/officeart/2018/2/layout/IconVerticalSolidList"/>
    <dgm:cxn modelId="{9EBEE479-BB15-4594-BD09-3D649CFC613A}" type="presParOf" srcId="{1B298804-1C25-4AE2-B46B-0349F643A27A}" destId="{B83CD3D5-9B23-47A2-9FA0-206DDA943F9C}" srcOrd="0" destOrd="0" presId="urn:microsoft.com/office/officeart/2018/2/layout/IconVerticalSolidList"/>
    <dgm:cxn modelId="{4BCEDC27-4E4F-4C9B-81DA-88B4586F9D58}" type="presParOf" srcId="{1B298804-1C25-4AE2-B46B-0349F643A27A}" destId="{E01A6F70-BDE3-4A3D-A626-E35FB10ED23F}" srcOrd="1" destOrd="0" presId="urn:microsoft.com/office/officeart/2018/2/layout/IconVerticalSolidList"/>
    <dgm:cxn modelId="{28F69939-FED7-450A-B516-6C2A0BDE9AD6}" type="presParOf" srcId="{1B298804-1C25-4AE2-B46B-0349F643A27A}" destId="{BAD07F0D-576C-40E1-931A-04FD293B042D}" srcOrd="2" destOrd="0" presId="urn:microsoft.com/office/officeart/2018/2/layout/IconVerticalSolidList"/>
    <dgm:cxn modelId="{5F0EA95A-4A1D-48C9-A97E-F7FAE4BBF6CC}" type="presParOf" srcId="{1B298804-1C25-4AE2-B46B-0349F643A27A}" destId="{8A57571F-037B-414E-A689-A694A1B66808}" srcOrd="3" destOrd="0" presId="urn:microsoft.com/office/officeart/2018/2/layout/IconVerticalSolidList"/>
    <dgm:cxn modelId="{1E743B8D-0DBF-4DA4-9F95-F4FA3DF027FC}" type="presParOf" srcId="{1049D9AE-2C5D-4793-A32C-F8493B64A8D6}" destId="{79BDC9D0-A442-4133-963C-FF13EBFF2CD3}" srcOrd="3" destOrd="0" presId="urn:microsoft.com/office/officeart/2018/2/layout/IconVerticalSolidList"/>
    <dgm:cxn modelId="{B51AF0FC-B80A-46EC-9641-551A223760CB}" type="presParOf" srcId="{1049D9AE-2C5D-4793-A32C-F8493B64A8D6}" destId="{1AAE7A18-666F-4769-A2FE-4A8F72D4AF89}" srcOrd="4" destOrd="0" presId="urn:microsoft.com/office/officeart/2018/2/layout/IconVerticalSolidList"/>
    <dgm:cxn modelId="{9198F4EA-BAFA-4183-9A58-3F45F1DC3AE8}" type="presParOf" srcId="{1AAE7A18-666F-4769-A2FE-4A8F72D4AF89}" destId="{7ACAD793-2118-49B0-8215-DE9FC6EC08D9}" srcOrd="0" destOrd="0" presId="urn:microsoft.com/office/officeart/2018/2/layout/IconVerticalSolidList"/>
    <dgm:cxn modelId="{A12226D2-1426-4CA2-9AC1-5A3D4CCD293C}" type="presParOf" srcId="{1AAE7A18-666F-4769-A2FE-4A8F72D4AF89}" destId="{36CCBFE0-EBF7-449F-BA1B-9E4DC2EBD48C}" srcOrd="1" destOrd="0" presId="urn:microsoft.com/office/officeart/2018/2/layout/IconVerticalSolidList"/>
    <dgm:cxn modelId="{FC0FAA9B-4BDB-4A5E-A4E6-4139E3213A58}" type="presParOf" srcId="{1AAE7A18-666F-4769-A2FE-4A8F72D4AF89}" destId="{DEA5AFF1-743E-4641-9078-656E0BB2114C}" srcOrd="2" destOrd="0" presId="urn:microsoft.com/office/officeart/2018/2/layout/IconVerticalSolidList"/>
    <dgm:cxn modelId="{65DF6FAF-695B-48BC-BAE4-7F3CE1459A41}" type="presParOf" srcId="{1AAE7A18-666F-4769-A2FE-4A8F72D4AF89}" destId="{5567AA32-76D2-4861-8D28-903AD9188C18}" srcOrd="3" destOrd="0" presId="urn:microsoft.com/office/officeart/2018/2/layout/IconVerticalSolidList"/>
    <dgm:cxn modelId="{9D5A154D-4438-4EEC-96E3-DA60F5E8DA4C}" type="presParOf" srcId="{1049D9AE-2C5D-4793-A32C-F8493B64A8D6}" destId="{E6CD4444-60B3-434C-BFE0-9003018682B9}" srcOrd="5" destOrd="0" presId="urn:microsoft.com/office/officeart/2018/2/layout/IconVerticalSolidList"/>
    <dgm:cxn modelId="{BA0208F1-5F84-4617-A4A2-460DECA5FEB8}" type="presParOf" srcId="{1049D9AE-2C5D-4793-A32C-F8493B64A8D6}" destId="{A89E9BBC-7CF6-4107-BA4C-98DB3E921D89}" srcOrd="6" destOrd="0" presId="urn:microsoft.com/office/officeart/2018/2/layout/IconVerticalSolidList"/>
    <dgm:cxn modelId="{20F3B502-297B-401F-8FE6-0C5B8D035E88}" type="presParOf" srcId="{A89E9BBC-7CF6-4107-BA4C-98DB3E921D89}" destId="{04FD31C5-12B4-4161-BA45-087B9054F773}" srcOrd="0" destOrd="0" presId="urn:microsoft.com/office/officeart/2018/2/layout/IconVerticalSolidList"/>
    <dgm:cxn modelId="{4105F981-86FA-4420-A853-EF470FD7E52B}" type="presParOf" srcId="{A89E9BBC-7CF6-4107-BA4C-98DB3E921D89}" destId="{0DB092E3-6260-43A9-93A4-73529B7E9E01}" srcOrd="1" destOrd="0" presId="urn:microsoft.com/office/officeart/2018/2/layout/IconVerticalSolidList"/>
    <dgm:cxn modelId="{4BC1C704-73FC-4A90-8A8A-FD0E6963CAFF}" type="presParOf" srcId="{A89E9BBC-7CF6-4107-BA4C-98DB3E921D89}" destId="{B3FE3CFB-0C8C-4183-9457-0949E5CD4228}" srcOrd="2" destOrd="0" presId="urn:microsoft.com/office/officeart/2018/2/layout/IconVerticalSolidList"/>
    <dgm:cxn modelId="{4C649891-F197-4288-959B-BCB9E6B7A02C}" type="presParOf" srcId="{A89E9BBC-7CF6-4107-BA4C-98DB3E921D89}" destId="{C9D2B1E1-D32F-4B4A-B93B-750F5A2B748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C92938-BB5C-457C-911E-6B46D11DA200}" type="doc">
      <dgm:prSet loTypeId="urn:microsoft.com/office/officeart/2005/8/layout/default" loCatId="list" qsTypeId="urn:microsoft.com/office/officeart/2005/8/quickstyle/simple5" qsCatId="simple" csTypeId="urn:microsoft.com/office/officeart/2005/8/colors/accent2_2" csCatId="accent2" phldr="1"/>
      <dgm:spPr/>
      <dgm:t>
        <a:bodyPr/>
        <a:lstStyle/>
        <a:p>
          <a:endParaRPr lang="en-US"/>
        </a:p>
      </dgm:t>
    </dgm:pt>
    <dgm:pt modelId="{AB9739D4-9F37-482B-A7DB-7BF59CB37AB4}">
      <dgm:prSet/>
      <dgm:spPr>
        <a:solidFill>
          <a:srgbClr val="FFFF00"/>
        </a:solidFill>
      </dgm:spPr>
      <dgm:t>
        <a:bodyPr/>
        <a:lstStyle/>
        <a:p>
          <a:r>
            <a:rPr lang="en-US" dirty="0">
              <a:solidFill>
                <a:schemeClr val="tx1"/>
              </a:solidFill>
            </a:rPr>
            <a:t>Providing materials in an alternate format</a:t>
          </a:r>
        </a:p>
      </dgm:t>
    </dgm:pt>
    <dgm:pt modelId="{E7978EA0-C6B1-4411-9887-DB5B9446B23A}" type="parTrans" cxnId="{B7AF4454-4216-4369-8EF4-47F82BF4BBBE}">
      <dgm:prSet/>
      <dgm:spPr/>
      <dgm:t>
        <a:bodyPr/>
        <a:lstStyle/>
        <a:p>
          <a:endParaRPr lang="en-US"/>
        </a:p>
      </dgm:t>
    </dgm:pt>
    <dgm:pt modelId="{8A6E89AB-57BB-4B9B-97C2-9D5CB87BA724}" type="sibTrans" cxnId="{B7AF4454-4216-4369-8EF4-47F82BF4BBBE}">
      <dgm:prSet/>
      <dgm:spPr/>
      <dgm:t>
        <a:bodyPr/>
        <a:lstStyle/>
        <a:p>
          <a:endParaRPr lang="en-US"/>
        </a:p>
      </dgm:t>
    </dgm:pt>
    <dgm:pt modelId="{D28C0539-806D-4463-ABCA-13463935006F}">
      <dgm:prSet/>
      <dgm:spPr/>
      <dgm:t>
        <a:bodyPr/>
        <a:lstStyle/>
        <a:p>
          <a:r>
            <a:rPr lang="en-US" dirty="0"/>
            <a:t>Verbally collecting information instead of collecting it in writing</a:t>
          </a:r>
        </a:p>
      </dgm:t>
    </dgm:pt>
    <dgm:pt modelId="{85F85F6A-DE7C-4724-8EF3-BC6BEC719787}" type="parTrans" cxnId="{CB1AFEE0-E7CA-4C71-980D-6687F21547C6}">
      <dgm:prSet/>
      <dgm:spPr/>
      <dgm:t>
        <a:bodyPr/>
        <a:lstStyle/>
        <a:p>
          <a:endParaRPr lang="en-US"/>
        </a:p>
      </dgm:t>
    </dgm:pt>
    <dgm:pt modelId="{B69F080E-5D03-4643-A86D-7F81D9C75C02}" type="sibTrans" cxnId="{CB1AFEE0-E7CA-4C71-980D-6687F21547C6}">
      <dgm:prSet/>
      <dgm:spPr/>
      <dgm:t>
        <a:bodyPr/>
        <a:lstStyle/>
        <a:p>
          <a:endParaRPr lang="en-US"/>
        </a:p>
      </dgm:t>
    </dgm:pt>
    <dgm:pt modelId="{2C30A8DA-AFFB-4E63-82C1-539DC9020FB6}">
      <dgm:prSet/>
      <dgm:spPr>
        <a:solidFill>
          <a:srgbClr val="FF9300"/>
        </a:solidFill>
      </dgm:spPr>
      <dgm:t>
        <a:bodyPr/>
        <a:lstStyle/>
        <a:p>
          <a:r>
            <a:rPr lang="en-US" dirty="0">
              <a:solidFill>
                <a:schemeClr val="tx1"/>
              </a:solidFill>
            </a:rPr>
            <a:t>Providing a service or holding a meeting in an accessible space</a:t>
          </a:r>
        </a:p>
      </dgm:t>
    </dgm:pt>
    <dgm:pt modelId="{1F3A043F-F9A1-473B-AA46-DE38A91A2B1E}" type="parTrans" cxnId="{85CBBEAB-0F10-4D5F-8838-D5255730240E}">
      <dgm:prSet/>
      <dgm:spPr/>
      <dgm:t>
        <a:bodyPr/>
        <a:lstStyle/>
        <a:p>
          <a:endParaRPr lang="en-US"/>
        </a:p>
      </dgm:t>
    </dgm:pt>
    <dgm:pt modelId="{B0933F2C-2057-4072-8A46-FD9443832203}" type="sibTrans" cxnId="{85CBBEAB-0F10-4D5F-8838-D5255730240E}">
      <dgm:prSet/>
      <dgm:spPr/>
      <dgm:t>
        <a:bodyPr/>
        <a:lstStyle/>
        <a:p>
          <a:endParaRPr lang="en-US"/>
        </a:p>
      </dgm:t>
    </dgm:pt>
    <dgm:pt modelId="{D4D6C808-1C53-4039-8534-DEFE63E66BAE}">
      <dgm:prSet/>
      <dgm:spPr>
        <a:solidFill>
          <a:srgbClr val="002060"/>
        </a:solidFill>
      </dgm:spPr>
      <dgm:t>
        <a:bodyPr/>
        <a:lstStyle/>
        <a:p>
          <a:r>
            <a:rPr lang="en-US" dirty="0"/>
            <a:t>Holding a 1:1 meeting over the phone/online rather than in-person</a:t>
          </a:r>
        </a:p>
      </dgm:t>
    </dgm:pt>
    <dgm:pt modelId="{E1AF06D0-5B59-48E8-A331-668280636256}" type="parTrans" cxnId="{73A81CD6-C8AF-42FA-8623-A06671DB432F}">
      <dgm:prSet/>
      <dgm:spPr/>
      <dgm:t>
        <a:bodyPr/>
        <a:lstStyle/>
        <a:p>
          <a:endParaRPr lang="en-US"/>
        </a:p>
      </dgm:t>
    </dgm:pt>
    <dgm:pt modelId="{F64C65B2-419C-456E-9DCB-2E3FD1DB62BE}" type="sibTrans" cxnId="{73A81CD6-C8AF-42FA-8623-A06671DB432F}">
      <dgm:prSet/>
      <dgm:spPr/>
      <dgm:t>
        <a:bodyPr/>
        <a:lstStyle/>
        <a:p>
          <a:endParaRPr lang="en-US"/>
        </a:p>
      </dgm:t>
    </dgm:pt>
    <dgm:pt modelId="{07A74546-5ED0-4B1C-9EF8-E315EF4E5189}">
      <dgm:prSet/>
      <dgm:spPr>
        <a:solidFill>
          <a:schemeClr val="tx2">
            <a:lumMod val="75000"/>
          </a:schemeClr>
        </a:solidFill>
      </dgm:spPr>
      <dgm:t>
        <a:bodyPr/>
        <a:lstStyle/>
        <a:p>
          <a:r>
            <a:rPr lang="en-US" dirty="0"/>
            <a:t>Meeting with an individual 1:1 rather than a large group</a:t>
          </a:r>
        </a:p>
      </dgm:t>
    </dgm:pt>
    <dgm:pt modelId="{A4B806F8-2E84-4FB6-A27C-A425DD4FE07F}" type="parTrans" cxnId="{F1FC5137-08CD-4C5C-BDDA-3A7064779B53}">
      <dgm:prSet/>
      <dgm:spPr/>
      <dgm:t>
        <a:bodyPr/>
        <a:lstStyle/>
        <a:p>
          <a:endParaRPr lang="en-US"/>
        </a:p>
      </dgm:t>
    </dgm:pt>
    <dgm:pt modelId="{8E0DD481-87CA-487D-A544-A62DB1372243}" type="sibTrans" cxnId="{F1FC5137-08CD-4C5C-BDDA-3A7064779B53}">
      <dgm:prSet/>
      <dgm:spPr/>
      <dgm:t>
        <a:bodyPr/>
        <a:lstStyle/>
        <a:p>
          <a:endParaRPr lang="en-US"/>
        </a:p>
      </dgm:t>
    </dgm:pt>
    <dgm:pt modelId="{FC085BEC-C5BC-44A9-BD9B-1189C42CC96A}">
      <dgm:prSet/>
      <dgm:spPr>
        <a:solidFill>
          <a:schemeClr val="bg1">
            <a:lumMod val="75000"/>
          </a:schemeClr>
        </a:solidFill>
      </dgm:spPr>
      <dgm:t>
        <a:bodyPr/>
        <a:lstStyle/>
        <a:p>
          <a:r>
            <a:rPr lang="en-US" dirty="0">
              <a:solidFill>
                <a:schemeClr val="tx1"/>
              </a:solidFill>
            </a:rPr>
            <a:t>Providing staff to assist an individual at an event</a:t>
          </a:r>
        </a:p>
      </dgm:t>
    </dgm:pt>
    <dgm:pt modelId="{03F5DC8A-5EBF-4767-BF68-7C994CE922A5}" type="parTrans" cxnId="{C7957E09-B0DA-4B55-BB33-5BDC95FB0902}">
      <dgm:prSet/>
      <dgm:spPr/>
      <dgm:t>
        <a:bodyPr/>
        <a:lstStyle/>
        <a:p>
          <a:endParaRPr lang="en-US"/>
        </a:p>
      </dgm:t>
    </dgm:pt>
    <dgm:pt modelId="{FA775B6D-8699-42A0-B512-6647AB01BB04}" type="sibTrans" cxnId="{C7957E09-B0DA-4B55-BB33-5BDC95FB0902}">
      <dgm:prSet/>
      <dgm:spPr/>
      <dgm:t>
        <a:bodyPr/>
        <a:lstStyle/>
        <a:p>
          <a:endParaRPr lang="en-US"/>
        </a:p>
      </dgm:t>
    </dgm:pt>
    <dgm:pt modelId="{3DA53DC1-A18C-48E5-B396-2EAD396D8815}">
      <dgm:prSet/>
      <dgm:spPr>
        <a:solidFill>
          <a:srgbClr val="EA4200"/>
        </a:solidFill>
      </dgm:spPr>
      <dgm:t>
        <a:bodyPr/>
        <a:lstStyle/>
        <a:p>
          <a:r>
            <a:rPr lang="en-US" dirty="0"/>
            <a:t>Allowing attending of meetings online rather than</a:t>
          </a:r>
          <a:br>
            <a:rPr lang="en-US" dirty="0"/>
          </a:br>
          <a:r>
            <a:rPr lang="en-US" dirty="0"/>
            <a:t>in-person</a:t>
          </a:r>
        </a:p>
      </dgm:t>
    </dgm:pt>
    <dgm:pt modelId="{57EA1887-479E-4A2A-A07E-486637145BFA}" type="parTrans" cxnId="{A69B465A-BEED-46FC-AC32-DB608316C104}">
      <dgm:prSet/>
      <dgm:spPr/>
      <dgm:t>
        <a:bodyPr/>
        <a:lstStyle/>
        <a:p>
          <a:endParaRPr lang="en-US"/>
        </a:p>
      </dgm:t>
    </dgm:pt>
    <dgm:pt modelId="{E488254F-01E0-4DA5-BE50-F36C2EDAB205}" type="sibTrans" cxnId="{A69B465A-BEED-46FC-AC32-DB608316C104}">
      <dgm:prSet/>
      <dgm:spPr/>
      <dgm:t>
        <a:bodyPr/>
        <a:lstStyle/>
        <a:p>
          <a:endParaRPr lang="en-US"/>
        </a:p>
      </dgm:t>
    </dgm:pt>
    <dgm:pt modelId="{26699301-B5D2-4B1C-9CF9-BEFA289873FE}">
      <dgm:prSet/>
      <dgm:spPr>
        <a:solidFill>
          <a:schemeClr val="bg2">
            <a:lumMod val="50000"/>
          </a:schemeClr>
        </a:solidFill>
      </dgm:spPr>
      <dgm:t>
        <a:bodyPr/>
        <a:lstStyle/>
        <a:p>
          <a:r>
            <a:rPr lang="en-US" dirty="0">
              <a:solidFill>
                <a:schemeClr val="tx1"/>
              </a:solidFill>
            </a:rPr>
            <a:t>Provision of sign language interpreters</a:t>
          </a:r>
        </a:p>
      </dgm:t>
    </dgm:pt>
    <dgm:pt modelId="{63AD78E1-67EA-426C-8195-CBFFEAE25E5D}" type="parTrans" cxnId="{44D0D4B5-C839-4CA3-B6EB-4DA1B51601E7}">
      <dgm:prSet/>
      <dgm:spPr/>
      <dgm:t>
        <a:bodyPr/>
        <a:lstStyle/>
        <a:p>
          <a:endParaRPr lang="en-US"/>
        </a:p>
      </dgm:t>
    </dgm:pt>
    <dgm:pt modelId="{569D92A3-CE22-411B-B62C-062ADBCA7ADC}" type="sibTrans" cxnId="{44D0D4B5-C839-4CA3-B6EB-4DA1B51601E7}">
      <dgm:prSet/>
      <dgm:spPr/>
      <dgm:t>
        <a:bodyPr/>
        <a:lstStyle/>
        <a:p>
          <a:endParaRPr lang="en-US"/>
        </a:p>
      </dgm:t>
    </dgm:pt>
    <dgm:pt modelId="{BFAC3557-3641-4D4D-8765-898FF23D4B9F}" type="pres">
      <dgm:prSet presAssocID="{01C92938-BB5C-457C-911E-6B46D11DA200}" presName="diagram" presStyleCnt="0">
        <dgm:presLayoutVars>
          <dgm:dir/>
          <dgm:resizeHandles val="exact"/>
        </dgm:presLayoutVars>
      </dgm:prSet>
      <dgm:spPr/>
    </dgm:pt>
    <dgm:pt modelId="{090B4759-D968-F64A-AB15-A9445BBB79DE}" type="pres">
      <dgm:prSet presAssocID="{AB9739D4-9F37-482B-A7DB-7BF59CB37AB4}" presName="node" presStyleLbl="node1" presStyleIdx="0" presStyleCnt="8">
        <dgm:presLayoutVars>
          <dgm:bulletEnabled val="1"/>
        </dgm:presLayoutVars>
      </dgm:prSet>
      <dgm:spPr/>
    </dgm:pt>
    <dgm:pt modelId="{0D015E68-E793-9646-8206-842A208B04DF}" type="pres">
      <dgm:prSet presAssocID="{8A6E89AB-57BB-4B9B-97C2-9D5CB87BA724}" presName="sibTrans" presStyleCnt="0"/>
      <dgm:spPr/>
    </dgm:pt>
    <dgm:pt modelId="{2EB3DEBD-FD3D-9B4D-8DFE-338DACBDCC51}" type="pres">
      <dgm:prSet presAssocID="{D28C0539-806D-4463-ABCA-13463935006F}" presName="node" presStyleLbl="node1" presStyleIdx="1" presStyleCnt="8">
        <dgm:presLayoutVars>
          <dgm:bulletEnabled val="1"/>
        </dgm:presLayoutVars>
      </dgm:prSet>
      <dgm:spPr/>
    </dgm:pt>
    <dgm:pt modelId="{7255BF2F-492A-EF4A-8BC9-DB06BC41B031}" type="pres">
      <dgm:prSet presAssocID="{B69F080E-5D03-4643-A86D-7F81D9C75C02}" presName="sibTrans" presStyleCnt="0"/>
      <dgm:spPr/>
    </dgm:pt>
    <dgm:pt modelId="{3D0A40DE-E7ED-DE46-A62F-67D96EEBCE54}" type="pres">
      <dgm:prSet presAssocID="{2C30A8DA-AFFB-4E63-82C1-539DC9020FB6}" presName="node" presStyleLbl="node1" presStyleIdx="2" presStyleCnt="8">
        <dgm:presLayoutVars>
          <dgm:bulletEnabled val="1"/>
        </dgm:presLayoutVars>
      </dgm:prSet>
      <dgm:spPr/>
    </dgm:pt>
    <dgm:pt modelId="{AA259C12-D58E-6543-BA90-9661F7810DEC}" type="pres">
      <dgm:prSet presAssocID="{B0933F2C-2057-4072-8A46-FD9443832203}" presName="sibTrans" presStyleCnt="0"/>
      <dgm:spPr/>
    </dgm:pt>
    <dgm:pt modelId="{8384B6B1-AD3F-1347-A905-3103E21513DC}" type="pres">
      <dgm:prSet presAssocID="{D4D6C808-1C53-4039-8534-DEFE63E66BAE}" presName="node" presStyleLbl="node1" presStyleIdx="3" presStyleCnt="8">
        <dgm:presLayoutVars>
          <dgm:bulletEnabled val="1"/>
        </dgm:presLayoutVars>
      </dgm:prSet>
      <dgm:spPr/>
    </dgm:pt>
    <dgm:pt modelId="{BA5E38D5-6826-3F49-A437-2DEABD469C40}" type="pres">
      <dgm:prSet presAssocID="{F64C65B2-419C-456E-9DCB-2E3FD1DB62BE}" presName="sibTrans" presStyleCnt="0"/>
      <dgm:spPr/>
    </dgm:pt>
    <dgm:pt modelId="{8ACA45BB-0E44-9048-8AE6-DEDD0E3F2DB7}" type="pres">
      <dgm:prSet presAssocID="{07A74546-5ED0-4B1C-9EF8-E315EF4E5189}" presName="node" presStyleLbl="node1" presStyleIdx="4" presStyleCnt="8">
        <dgm:presLayoutVars>
          <dgm:bulletEnabled val="1"/>
        </dgm:presLayoutVars>
      </dgm:prSet>
      <dgm:spPr/>
    </dgm:pt>
    <dgm:pt modelId="{CD62738D-4E57-4043-9579-28ACA5C27567}" type="pres">
      <dgm:prSet presAssocID="{8E0DD481-87CA-487D-A544-A62DB1372243}" presName="sibTrans" presStyleCnt="0"/>
      <dgm:spPr/>
    </dgm:pt>
    <dgm:pt modelId="{BE4A1ADC-0CE7-CC43-9168-2CE874F2F9C7}" type="pres">
      <dgm:prSet presAssocID="{FC085BEC-C5BC-44A9-BD9B-1189C42CC96A}" presName="node" presStyleLbl="node1" presStyleIdx="5" presStyleCnt="8">
        <dgm:presLayoutVars>
          <dgm:bulletEnabled val="1"/>
        </dgm:presLayoutVars>
      </dgm:prSet>
      <dgm:spPr/>
    </dgm:pt>
    <dgm:pt modelId="{33E4FC4F-CE2F-C249-AF8F-5F8CF685BDE4}" type="pres">
      <dgm:prSet presAssocID="{FA775B6D-8699-42A0-B512-6647AB01BB04}" presName="sibTrans" presStyleCnt="0"/>
      <dgm:spPr/>
    </dgm:pt>
    <dgm:pt modelId="{10CEE5CD-2390-3A42-B51E-330985CE8DBA}" type="pres">
      <dgm:prSet presAssocID="{3DA53DC1-A18C-48E5-B396-2EAD396D8815}" presName="node" presStyleLbl="node1" presStyleIdx="6" presStyleCnt="8">
        <dgm:presLayoutVars>
          <dgm:bulletEnabled val="1"/>
        </dgm:presLayoutVars>
      </dgm:prSet>
      <dgm:spPr/>
    </dgm:pt>
    <dgm:pt modelId="{CC48183E-543A-BC45-AC36-FF27C4838085}" type="pres">
      <dgm:prSet presAssocID="{E488254F-01E0-4DA5-BE50-F36C2EDAB205}" presName="sibTrans" presStyleCnt="0"/>
      <dgm:spPr/>
    </dgm:pt>
    <dgm:pt modelId="{0EB341F0-1B4A-2848-AE52-C6C89D59E553}" type="pres">
      <dgm:prSet presAssocID="{26699301-B5D2-4B1C-9CF9-BEFA289873FE}" presName="node" presStyleLbl="node1" presStyleIdx="7" presStyleCnt="8">
        <dgm:presLayoutVars>
          <dgm:bulletEnabled val="1"/>
        </dgm:presLayoutVars>
      </dgm:prSet>
      <dgm:spPr/>
    </dgm:pt>
  </dgm:ptLst>
  <dgm:cxnLst>
    <dgm:cxn modelId="{C7957E09-B0DA-4B55-BB33-5BDC95FB0902}" srcId="{01C92938-BB5C-457C-911E-6B46D11DA200}" destId="{FC085BEC-C5BC-44A9-BD9B-1189C42CC96A}" srcOrd="5" destOrd="0" parTransId="{03F5DC8A-5EBF-4767-BF68-7C994CE922A5}" sibTransId="{FA775B6D-8699-42A0-B512-6647AB01BB04}"/>
    <dgm:cxn modelId="{E5D4F80F-4C8E-7B44-882D-6EBC594281AF}" type="presOf" srcId="{07A74546-5ED0-4B1C-9EF8-E315EF4E5189}" destId="{8ACA45BB-0E44-9048-8AE6-DEDD0E3F2DB7}" srcOrd="0" destOrd="0" presId="urn:microsoft.com/office/officeart/2005/8/layout/default"/>
    <dgm:cxn modelId="{9701A217-EA78-1C4A-B8B5-8A97A4DE9222}" type="presOf" srcId="{D28C0539-806D-4463-ABCA-13463935006F}" destId="{2EB3DEBD-FD3D-9B4D-8DFE-338DACBDCC51}" srcOrd="0" destOrd="0" presId="urn:microsoft.com/office/officeart/2005/8/layout/default"/>
    <dgm:cxn modelId="{F1FC5137-08CD-4C5C-BDDA-3A7064779B53}" srcId="{01C92938-BB5C-457C-911E-6B46D11DA200}" destId="{07A74546-5ED0-4B1C-9EF8-E315EF4E5189}" srcOrd="4" destOrd="0" parTransId="{A4B806F8-2E84-4FB6-A27C-A425DD4FE07F}" sibTransId="{8E0DD481-87CA-487D-A544-A62DB1372243}"/>
    <dgm:cxn modelId="{6DBF004F-35D7-C74A-89E8-675F25B3EBF6}" type="presOf" srcId="{3DA53DC1-A18C-48E5-B396-2EAD396D8815}" destId="{10CEE5CD-2390-3A42-B51E-330985CE8DBA}" srcOrd="0" destOrd="0" presId="urn:microsoft.com/office/officeart/2005/8/layout/default"/>
    <dgm:cxn modelId="{B7AF4454-4216-4369-8EF4-47F82BF4BBBE}" srcId="{01C92938-BB5C-457C-911E-6B46D11DA200}" destId="{AB9739D4-9F37-482B-A7DB-7BF59CB37AB4}" srcOrd="0" destOrd="0" parTransId="{E7978EA0-C6B1-4411-9887-DB5B9446B23A}" sibTransId="{8A6E89AB-57BB-4B9B-97C2-9D5CB87BA724}"/>
    <dgm:cxn modelId="{A69B465A-BEED-46FC-AC32-DB608316C104}" srcId="{01C92938-BB5C-457C-911E-6B46D11DA200}" destId="{3DA53DC1-A18C-48E5-B396-2EAD396D8815}" srcOrd="6" destOrd="0" parTransId="{57EA1887-479E-4A2A-A07E-486637145BFA}" sibTransId="{E488254F-01E0-4DA5-BE50-F36C2EDAB205}"/>
    <dgm:cxn modelId="{09C6836F-4238-204A-904A-3E0851C637BA}" type="presOf" srcId="{01C92938-BB5C-457C-911E-6B46D11DA200}" destId="{BFAC3557-3641-4D4D-8765-898FF23D4B9F}" srcOrd="0" destOrd="0" presId="urn:microsoft.com/office/officeart/2005/8/layout/default"/>
    <dgm:cxn modelId="{88113583-459C-0C40-A6FB-D59784104FC4}" type="presOf" srcId="{FC085BEC-C5BC-44A9-BD9B-1189C42CC96A}" destId="{BE4A1ADC-0CE7-CC43-9168-2CE874F2F9C7}" srcOrd="0" destOrd="0" presId="urn:microsoft.com/office/officeart/2005/8/layout/default"/>
    <dgm:cxn modelId="{4F421497-B258-114D-B4B9-38B7BABAABBE}" type="presOf" srcId="{AB9739D4-9F37-482B-A7DB-7BF59CB37AB4}" destId="{090B4759-D968-F64A-AB15-A9445BBB79DE}" srcOrd="0" destOrd="0" presId="urn:microsoft.com/office/officeart/2005/8/layout/default"/>
    <dgm:cxn modelId="{85CBBEAB-0F10-4D5F-8838-D5255730240E}" srcId="{01C92938-BB5C-457C-911E-6B46D11DA200}" destId="{2C30A8DA-AFFB-4E63-82C1-539DC9020FB6}" srcOrd="2" destOrd="0" parTransId="{1F3A043F-F9A1-473B-AA46-DE38A91A2B1E}" sibTransId="{B0933F2C-2057-4072-8A46-FD9443832203}"/>
    <dgm:cxn modelId="{6B23D7AC-BE9C-9E45-A827-391322F9AE1E}" type="presOf" srcId="{D4D6C808-1C53-4039-8534-DEFE63E66BAE}" destId="{8384B6B1-AD3F-1347-A905-3103E21513DC}" srcOrd="0" destOrd="0" presId="urn:microsoft.com/office/officeart/2005/8/layout/default"/>
    <dgm:cxn modelId="{44D0D4B5-C839-4CA3-B6EB-4DA1B51601E7}" srcId="{01C92938-BB5C-457C-911E-6B46D11DA200}" destId="{26699301-B5D2-4B1C-9CF9-BEFA289873FE}" srcOrd="7" destOrd="0" parTransId="{63AD78E1-67EA-426C-8195-CBFFEAE25E5D}" sibTransId="{569D92A3-CE22-411B-B62C-062ADBCA7ADC}"/>
    <dgm:cxn modelId="{F24722CA-554E-8944-859F-0AA2BF61E858}" type="presOf" srcId="{2C30A8DA-AFFB-4E63-82C1-539DC9020FB6}" destId="{3D0A40DE-E7ED-DE46-A62F-67D96EEBCE54}" srcOrd="0" destOrd="0" presId="urn:microsoft.com/office/officeart/2005/8/layout/default"/>
    <dgm:cxn modelId="{73A81CD6-C8AF-42FA-8623-A06671DB432F}" srcId="{01C92938-BB5C-457C-911E-6B46D11DA200}" destId="{D4D6C808-1C53-4039-8534-DEFE63E66BAE}" srcOrd="3" destOrd="0" parTransId="{E1AF06D0-5B59-48E8-A331-668280636256}" sibTransId="{F64C65B2-419C-456E-9DCB-2E3FD1DB62BE}"/>
    <dgm:cxn modelId="{CB1AFEE0-E7CA-4C71-980D-6687F21547C6}" srcId="{01C92938-BB5C-457C-911E-6B46D11DA200}" destId="{D28C0539-806D-4463-ABCA-13463935006F}" srcOrd="1" destOrd="0" parTransId="{85F85F6A-DE7C-4724-8EF3-BC6BEC719787}" sibTransId="{B69F080E-5D03-4643-A86D-7F81D9C75C02}"/>
    <dgm:cxn modelId="{4A223BE5-823A-5946-988E-27A5322B9672}" type="presOf" srcId="{26699301-B5D2-4B1C-9CF9-BEFA289873FE}" destId="{0EB341F0-1B4A-2848-AE52-C6C89D59E553}" srcOrd="0" destOrd="0" presId="urn:microsoft.com/office/officeart/2005/8/layout/default"/>
    <dgm:cxn modelId="{962A3B8D-9FE6-174F-9C50-47493DD1569D}" type="presParOf" srcId="{BFAC3557-3641-4D4D-8765-898FF23D4B9F}" destId="{090B4759-D968-F64A-AB15-A9445BBB79DE}" srcOrd="0" destOrd="0" presId="urn:microsoft.com/office/officeart/2005/8/layout/default"/>
    <dgm:cxn modelId="{28D86B56-01B0-4747-9763-2E10D9F40ECB}" type="presParOf" srcId="{BFAC3557-3641-4D4D-8765-898FF23D4B9F}" destId="{0D015E68-E793-9646-8206-842A208B04DF}" srcOrd="1" destOrd="0" presId="urn:microsoft.com/office/officeart/2005/8/layout/default"/>
    <dgm:cxn modelId="{FB246341-84BB-8F42-AA0F-74C6C475310A}" type="presParOf" srcId="{BFAC3557-3641-4D4D-8765-898FF23D4B9F}" destId="{2EB3DEBD-FD3D-9B4D-8DFE-338DACBDCC51}" srcOrd="2" destOrd="0" presId="urn:microsoft.com/office/officeart/2005/8/layout/default"/>
    <dgm:cxn modelId="{884B042B-5531-0149-9D01-9A3B5C1F1657}" type="presParOf" srcId="{BFAC3557-3641-4D4D-8765-898FF23D4B9F}" destId="{7255BF2F-492A-EF4A-8BC9-DB06BC41B031}" srcOrd="3" destOrd="0" presId="urn:microsoft.com/office/officeart/2005/8/layout/default"/>
    <dgm:cxn modelId="{6EFC9059-D82F-8647-9CD4-360DD4E170CF}" type="presParOf" srcId="{BFAC3557-3641-4D4D-8765-898FF23D4B9F}" destId="{3D0A40DE-E7ED-DE46-A62F-67D96EEBCE54}" srcOrd="4" destOrd="0" presId="urn:microsoft.com/office/officeart/2005/8/layout/default"/>
    <dgm:cxn modelId="{9CE54150-5C91-4047-AD32-7055D40D7E57}" type="presParOf" srcId="{BFAC3557-3641-4D4D-8765-898FF23D4B9F}" destId="{AA259C12-D58E-6543-BA90-9661F7810DEC}" srcOrd="5" destOrd="0" presId="urn:microsoft.com/office/officeart/2005/8/layout/default"/>
    <dgm:cxn modelId="{19EBFCEC-1D27-7E44-A071-C329816003B9}" type="presParOf" srcId="{BFAC3557-3641-4D4D-8765-898FF23D4B9F}" destId="{8384B6B1-AD3F-1347-A905-3103E21513DC}" srcOrd="6" destOrd="0" presId="urn:microsoft.com/office/officeart/2005/8/layout/default"/>
    <dgm:cxn modelId="{27C80FAB-66ED-7C43-9C44-62593B340BBE}" type="presParOf" srcId="{BFAC3557-3641-4D4D-8765-898FF23D4B9F}" destId="{BA5E38D5-6826-3F49-A437-2DEABD469C40}" srcOrd="7" destOrd="0" presId="urn:microsoft.com/office/officeart/2005/8/layout/default"/>
    <dgm:cxn modelId="{BA59A24B-DAA8-584A-ABFA-478A7FF1540D}" type="presParOf" srcId="{BFAC3557-3641-4D4D-8765-898FF23D4B9F}" destId="{8ACA45BB-0E44-9048-8AE6-DEDD0E3F2DB7}" srcOrd="8" destOrd="0" presId="urn:microsoft.com/office/officeart/2005/8/layout/default"/>
    <dgm:cxn modelId="{12002383-D28B-0848-B57C-4991F69399F3}" type="presParOf" srcId="{BFAC3557-3641-4D4D-8765-898FF23D4B9F}" destId="{CD62738D-4E57-4043-9579-28ACA5C27567}" srcOrd="9" destOrd="0" presId="urn:microsoft.com/office/officeart/2005/8/layout/default"/>
    <dgm:cxn modelId="{E0BF32D8-E9D4-FF45-8E6F-D3DA3479B2E5}" type="presParOf" srcId="{BFAC3557-3641-4D4D-8765-898FF23D4B9F}" destId="{BE4A1ADC-0CE7-CC43-9168-2CE874F2F9C7}" srcOrd="10" destOrd="0" presId="urn:microsoft.com/office/officeart/2005/8/layout/default"/>
    <dgm:cxn modelId="{7951C9AA-92FD-7F48-A29C-114C42B46AF9}" type="presParOf" srcId="{BFAC3557-3641-4D4D-8765-898FF23D4B9F}" destId="{33E4FC4F-CE2F-C249-AF8F-5F8CF685BDE4}" srcOrd="11" destOrd="0" presId="urn:microsoft.com/office/officeart/2005/8/layout/default"/>
    <dgm:cxn modelId="{C11AC165-ACBD-2F46-83DF-200B6807F269}" type="presParOf" srcId="{BFAC3557-3641-4D4D-8765-898FF23D4B9F}" destId="{10CEE5CD-2390-3A42-B51E-330985CE8DBA}" srcOrd="12" destOrd="0" presId="urn:microsoft.com/office/officeart/2005/8/layout/default"/>
    <dgm:cxn modelId="{7D90873B-D15B-714B-A991-A78AB2CF53C3}" type="presParOf" srcId="{BFAC3557-3641-4D4D-8765-898FF23D4B9F}" destId="{CC48183E-543A-BC45-AC36-FF27C4838085}" srcOrd="13" destOrd="0" presId="urn:microsoft.com/office/officeart/2005/8/layout/default"/>
    <dgm:cxn modelId="{3BB58A6D-D061-9943-BC6E-B86607607422}" type="presParOf" srcId="{BFAC3557-3641-4D4D-8765-898FF23D4B9F}" destId="{0EB341F0-1B4A-2848-AE52-C6C89D59E553}" srcOrd="14" destOrd="0" presId="urn:microsoft.com/office/officeart/2005/8/layout/default"/>
  </dgm:cxnLst>
  <dgm:bg>
    <a:noFill/>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B42C11-5FE6-430F-95CF-502404E5D0D5}">
      <dsp:nvSpPr>
        <dsp:cNvPr id="0" name=""/>
        <dsp:cNvSpPr/>
      </dsp:nvSpPr>
      <dsp:spPr>
        <a:xfrm>
          <a:off x="0" y="2024"/>
          <a:ext cx="10972800" cy="102584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C5B99C-AEF6-4655-82C4-7645643BB369}">
      <dsp:nvSpPr>
        <dsp:cNvPr id="0" name=""/>
        <dsp:cNvSpPr/>
      </dsp:nvSpPr>
      <dsp:spPr>
        <a:xfrm>
          <a:off x="310317" y="232838"/>
          <a:ext cx="564213" cy="5642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642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A6A48A-42BB-47DC-A821-D97BE68005DE}">
      <dsp:nvSpPr>
        <dsp:cNvPr id="0" name=""/>
        <dsp:cNvSpPr/>
      </dsp:nvSpPr>
      <dsp:spPr>
        <a:xfrm>
          <a:off x="1184848" y="2024"/>
          <a:ext cx="9787951" cy="1025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568" tIns="108568" rIns="108568" bIns="108568" numCol="1" spcCol="1270" anchor="ctr" anchorCtr="0">
          <a:noAutofit/>
        </a:bodyPr>
        <a:lstStyle/>
        <a:p>
          <a:pPr marL="0" lvl="0" indent="0" algn="l" defTabSz="977900">
            <a:lnSpc>
              <a:spcPct val="90000"/>
            </a:lnSpc>
            <a:spcBef>
              <a:spcPct val="0"/>
            </a:spcBef>
            <a:spcAft>
              <a:spcPct val="35000"/>
            </a:spcAft>
            <a:buNone/>
          </a:pPr>
          <a:r>
            <a:rPr lang="en-US" sz="2200" kern="1200" dirty="0"/>
            <a:t>Explain why inquiry is being made, how information will be used, and that it is confidential.</a:t>
          </a:r>
        </a:p>
      </dsp:txBody>
      <dsp:txXfrm>
        <a:off x="1184848" y="2024"/>
        <a:ext cx="9787951" cy="1025842"/>
      </dsp:txXfrm>
    </dsp:sp>
    <dsp:sp modelId="{B83CD3D5-9B23-47A2-9FA0-206DDA943F9C}">
      <dsp:nvSpPr>
        <dsp:cNvPr id="0" name=""/>
        <dsp:cNvSpPr/>
      </dsp:nvSpPr>
      <dsp:spPr>
        <a:xfrm>
          <a:off x="0" y="1284327"/>
          <a:ext cx="10972800" cy="102584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1A6F70-BDE3-4A3D-A626-E35FB10ED23F}">
      <dsp:nvSpPr>
        <dsp:cNvPr id="0" name=""/>
        <dsp:cNvSpPr/>
      </dsp:nvSpPr>
      <dsp:spPr>
        <a:xfrm>
          <a:off x="310317" y="1515141"/>
          <a:ext cx="564213" cy="5642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642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A57571F-037B-414E-A689-A694A1B66808}">
      <dsp:nvSpPr>
        <dsp:cNvPr id="0" name=""/>
        <dsp:cNvSpPr/>
      </dsp:nvSpPr>
      <dsp:spPr>
        <a:xfrm>
          <a:off x="1184848" y="1284327"/>
          <a:ext cx="9787951" cy="1025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568" tIns="108568" rIns="108568" bIns="108568" numCol="1" spcCol="1270" anchor="ctr" anchorCtr="0">
          <a:noAutofit/>
        </a:bodyPr>
        <a:lstStyle/>
        <a:p>
          <a:pPr marL="0" lvl="0" indent="0" algn="l" defTabSz="977900">
            <a:lnSpc>
              <a:spcPct val="90000"/>
            </a:lnSpc>
            <a:spcBef>
              <a:spcPct val="0"/>
            </a:spcBef>
            <a:spcAft>
              <a:spcPct val="35000"/>
            </a:spcAft>
            <a:buNone/>
          </a:pPr>
          <a:r>
            <a:rPr lang="en-US" sz="2200" kern="1200" dirty="0"/>
            <a:t>Be clear that information is voluntary.</a:t>
          </a:r>
        </a:p>
      </dsp:txBody>
      <dsp:txXfrm>
        <a:off x="1184848" y="1284327"/>
        <a:ext cx="9787951" cy="1025842"/>
      </dsp:txXfrm>
    </dsp:sp>
    <dsp:sp modelId="{7ACAD793-2118-49B0-8215-DE9FC6EC08D9}">
      <dsp:nvSpPr>
        <dsp:cNvPr id="0" name=""/>
        <dsp:cNvSpPr/>
      </dsp:nvSpPr>
      <dsp:spPr>
        <a:xfrm>
          <a:off x="0" y="2566630"/>
          <a:ext cx="10972800" cy="102584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CCBFE0-EBF7-449F-BA1B-9E4DC2EBD48C}">
      <dsp:nvSpPr>
        <dsp:cNvPr id="0" name=""/>
        <dsp:cNvSpPr/>
      </dsp:nvSpPr>
      <dsp:spPr>
        <a:xfrm>
          <a:off x="310317" y="2797444"/>
          <a:ext cx="564213" cy="5642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642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67AA32-76D2-4861-8D28-903AD9188C18}">
      <dsp:nvSpPr>
        <dsp:cNvPr id="0" name=""/>
        <dsp:cNvSpPr/>
      </dsp:nvSpPr>
      <dsp:spPr>
        <a:xfrm>
          <a:off x="1184848" y="2566630"/>
          <a:ext cx="9787951" cy="1025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568" tIns="108568" rIns="108568" bIns="108568" numCol="1" spcCol="1270" anchor="ctr" anchorCtr="0">
          <a:noAutofit/>
        </a:bodyPr>
        <a:lstStyle/>
        <a:p>
          <a:pPr marL="0" lvl="0" indent="0" algn="l" defTabSz="977900">
            <a:lnSpc>
              <a:spcPct val="90000"/>
            </a:lnSpc>
            <a:spcBef>
              <a:spcPct val="0"/>
            </a:spcBef>
            <a:spcAft>
              <a:spcPct val="35000"/>
            </a:spcAft>
            <a:buNone/>
          </a:pPr>
          <a:r>
            <a:rPr lang="en-US" sz="2200" kern="1200" dirty="0"/>
            <a:t>Maintain confidentiality.</a:t>
          </a:r>
        </a:p>
      </dsp:txBody>
      <dsp:txXfrm>
        <a:off x="1184848" y="2566630"/>
        <a:ext cx="9787951" cy="1025842"/>
      </dsp:txXfrm>
    </dsp:sp>
    <dsp:sp modelId="{04FD31C5-12B4-4161-BA45-087B9054F773}">
      <dsp:nvSpPr>
        <dsp:cNvPr id="0" name=""/>
        <dsp:cNvSpPr/>
      </dsp:nvSpPr>
      <dsp:spPr>
        <a:xfrm>
          <a:off x="0" y="3848933"/>
          <a:ext cx="10972800" cy="102584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B092E3-6260-43A9-93A4-73529B7E9E01}">
      <dsp:nvSpPr>
        <dsp:cNvPr id="0" name=""/>
        <dsp:cNvSpPr/>
      </dsp:nvSpPr>
      <dsp:spPr>
        <a:xfrm>
          <a:off x="310317" y="4079748"/>
          <a:ext cx="564213" cy="5642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642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D2B1E1-D32F-4B4A-B93B-750F5A2B7481}">
      <dsp:nvSpPr>
        <dsp:cNvPr id="0" name=""/>
        <dsp:cNvSpPr/>
      </dsp:nvSpPr>
      <dsp:spPr>
        <a:xfrm>
          <a:off x="1184848" y="3848933"/>
          <a:ext cx="9787951" cy="1025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568" tIns="108568" rIns="108568" bIns="108568" numCol="1" spcCol="1270" anchor="ctr" anchorCtr="0">
          <a:noAutofit/>
        </a:bodyPr>
        <a:lstStyle/>
        <a:p>
          <a:pPr marL="0" lvl="0" indent="0" algn="l" defTabSz="977900">
            <a:lnSpc>
              <a:spcPct val="90000"/>
            </a:lnSpc>
            <a:spcBef>
              <a:spcPct val="0"/>
            </a:spcBef>
            <a:spcAft>
              <a:spcPct val="35000"/>
            </a:spcAft>
            <a:buNone/>
          </a:pPr>
          <a:r>
            <a:rPr lang="en-US" sz="2200" kern="1200" dirty="0"/>
            <a:t>Be consistent regarding inquiries in terms of who is asked and how inquiries are made.</a:t>
          </a:r>
        </a:p>
      </dsp:txBody>
      <dsp:txXfrm>
        <a:off x="1184848" y="3848933"/>
        <a:ext cx="9787951" cy="10258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B4759-D968-F64A-AB15-A9445BBB79DE}">
      <dsp:nvSpPr>
        <dsp:cNvPr id="0" name=""/>
        <dsp:cNvSpPr/>
      </dsp:nvSpPr>
      <dsp:spPr>
        <a:xfrm>
          <a:off x="3214" y="780692"/>
          <a:ext cx="2550318" cy="1530191"/>
        </a:xfrm>
        <a:prstGeom prst="rect">
          <a:avLst/>
        </a:prstGeom>
        <a:solidFill>
          <a:srgbClr val="FFFF00"/>
        </a:soli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1"/>
              </a:solidFill>
            </a:rPr>
            <a:t>Providing materials in an alternate format</a:t>
          </a:r>
        </a:p>
      </dsp:txBody>
      <dsp:txXfrm>
        <a:off x="3214" y="780692"/>
        <a:ext cx="2550318" cy="1530191"/>
      </dsp:txXfrm>
    </dsp:sp>
    <dsp:sp modelId="{2EB3DEBD-FD3D-9B4D-8DFE-338DACBDCC51}">
      <dsp:nvSpPr>
        <dsp:cNvPr id="0" name=""/>
        <dsp:cNvSpPr/>
      </dsp:nvSpPr>
      <dsp:spPr>
        <a:xfrm>
          <a:off x="2808565" y="780692"/>
          <a:ext cx="2550318" cy="1530191"/>
        </a:xfrm>
        <a:prstGeom prst="rect">
          <a:avLst/>
        </a:prstGeom>
        <a:gradFill rotWithShape="0">
          <a:gsLst>
            <a:gs pos="0">
              <a:schemeClr val="accent2">
                <a:hueOff val="0"/>
                <a:satOff val="0"/>
                <a:lumOff val="0"/>
                <a:alphaOff val="0"/>
                <a:shade val="70000"/>
                <a:satMod val="150000"/>
              </a:schemeClr>
            </a:gs>
            <a:gs pos="34000">
              <a:schemeClr val="accent2">
                <a:hueOff val="0"/>
                <a:satOff val="0"/>
                <a:lumOff val="0"/>
                <a:alphaOff val="0"/>
                <a:shade val="70000"/>
                <a:satMod val="140000"/>
              </a:schemeClr>
            </a:gs>
            <a:gs pos="70000">
              <a:schemeClr val="accent2">
                <a:hueOff val="0"/>
                <a:satOff val="0"/>
                <a:lumOff val="0"/>
                <a:alphaOff val="0"/>
                <a:tint val="100000"/>
                <a:shade val="90000"/>
                <a:satMod val="140000"/>
              </a:schemeClr>
            </a:gs>
            <a:gs pos="100000">
              <a:schemeClr val="accent2">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Verbally collecting information instead of collecting it in writing</a:t>
          </a:r>
        </a:p>
      </dsp:txBody>
      <dsp:txXfrm>
        <a:off x="2808565" y="780692"/>
        <a:ext cx="2550318" cy="1530191"/>
      </dsp:txXfrm>
    </dsp:sp>
    <dsp:sp modelId="{3D0A40DE-E7ED-DE46-A62F-67D96EEBCE54}">
      <dsp:nvSpPr>
        <dsp:cNvPr id="0" name=""/>
        <dsp:cNvSpPr/>
      </dsp:nvSpPr>
      <dsp:spPr>
        <a:xfrm>
          <a:off x="5613915" y="780692"/>
          <a:ext cx="2550318" cy="1530191"/>
        </a:xfrm>
        <a:prstGeom prst="rect">
          <a:avLst/>
        </a:prstGeom>
        <a:solidFill>
          <a:srgbClr val="FF9300"/>
        </a:soli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1"/>
              </a:solidFill>
            </a:rPr>
            <a:t>Providing a service or holding a meeting in an accessible space</a:t>
          </a:r>
        </a:p>
      </dsp:txBody>
      <dsp:txXfrm>
        <a:off x="5613915" y="780692"/>
        <a:ext cx="2550318" cy="1530191"/>
      </dsp:txXfrm>
    </dsp:sp>
    <dsp:sp modelId="{8384B6B1-AD3F-1347-A905-3103E21513DC}">
      <dsp:nvSpPr>
        <dsp:cNvPr id="0" name=""/>
        <dsp:cNvSpPr/>
      </dsp:nvSpPr>
      <dsp:spPr>
        <a:xfrm>
          <a:off x="8419266" y="780692"/>
          <a:ext cx="2550318" cy="1530191"/>
        </a:xfrm>
        <a:prstGeom prst="rect">
          <a:avLst/>
        </a:prstGeom>
        <a:solidFill>
          <a:srgbClr val="002060"/>
        </a:soli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Holding a 1:1 meeting over the phone/online rather than in-person</a:t>
          </a:r>
        </a:p>
      </dsp:txBody>
      <dsp:txXfrm>
        <a:off x="8419266" y="780692"/>
        <a:ext cx="2550318" cy="1530191"/>
      </dsp:txXfrm>
    </dsp:sp>
    <dsp:sp modelId="{8ACA45BB-0E44-9048-8AE6-DEDD0E3F2DB7}">
      <dsp:nvSpPr>
        <dsp:cNvPr id="0" name=""/>
        <dsp:cNvSpPr/>
      </dsp:nvSpPr>
      <dsp:spPr>
        <a:xfrm>
          <a:off x="3214" y="2565915"/>
          <a:ext cx="2550318" cy="1530191"/>
        </a:xfrm>
        <a:prstGeom prst="rect">
          <a:avLst/>
        </a:prstGeom>
        <a:solidFill>
          <a:schemeClr val="tx2">
            <a:lumMod val="75000"/>
          </a:schemeClr>
        </a:soli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Meeting with an individual 1:1 rather than a large group</a:t>
          </a:r>
        </a:p>
      </dsp:txBody>
      <dsp:txXfrm>
        <a:off x="3214" y="2565915"/>
        <a:ext cx="2550318" cy="1530191"/>
      </dsp:txXfrm>
    </dsp:sp>
    <dsp:sp modelId="{BE4A1ADC-0CE7-CC43-9168-2CE874F2F9C7}">
      <dsp:nvSpPr>
        <dsp:cNvPr id="0" name=""/>
        <dsp:cNvSpPr/>
      </dsp:nvSpPr>
      <dsp:spPr>
        <a:xfrm>
          <a:off x="2808565" y="2565915"/>
          <a:ext cx="2550318" cy="1530191"/>
        </a:xfrm>
        <a:prstGeom prst="rect">
          <a:avLst/>
        </a:prstGeom>
        <a:solidFill>
          <a:schemeClr val="bg1">
            <a:lumMod val="75000"/>
          </a:schemeClr>
        </a:soli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1"/>
              </a:solidFill>
            </a:rPr>
            <a:t>Providing staff to assist an individual at an event</a:t>
          </a:r>
        </a:p>
      </dsp:txBody>
      <dsp:txXfrm>
        <a:off x="2808565" y="2565915"/>
        <a:ext cx="2550318" cy="1530191"/>
      </dsp:txXfrm>
    </dsp:sp>
    <dsp:sp modelId="{10CEE5CD-2390-3A42-B51E-330985CE8DBA}">
      <dsp:nvSpPr>
        <dsp:cNvPr id="0" name=""/>
        <dsp:cNvSpPr/>
      </dsp:nvSpPr>
      <dsp:spPr>
        <a:xfrm>
          <a:off x="5613915" y="2565915"/>
          <a:ext cx="2550318" cy="1530191"/>
        </a:xfrm>
        <a:prstGeom prst="rect">
          <a:avLst/>
        </a:prstGeom>
        <a:solidFill>
          <a:srgbClr val="EA4200"/>
        </a:soli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Allowing attending of meetings online rather than</a:t>
          </a:r>
          <a:br>
            <a:rPr lang="en-US" sz="2100" kern="1200" dirty="0"/>
          </a:br>
          <a:r>
            <a:rPr lang="en-US" sz="2100" kern="1200" dirty="0"/>
            <a:t>in-person</a:t>
          </a:r>
        </a:p>
      </dsp:txBody>
      <dsp:txXfrm>
        <a:off x="5613915" y="2565915"/>
        <a:ext cx="2550318" cy="1530191"/>
      </dsp:txXfrm>
    </dsp:sp>
    <dsp:sp modelId="{0EB341F0-1B4A-2848-AE52-C6C89D59E553}">
      <dsp:nvSpPr>
        <dsp:cNvPr id="0" name=""/>
        <dsp:cNvSpPr/>
      </dsp:nvSpPr>
      <dsp:spPr>
        <a:xfrm>
          <a:off x="8419266" y="2565915"/>
          <a:ext cx="2550318" cy="1530191"/>
        </a:xfrm>
        <a:prstGeom prst="rect">
          <a:avLst/>
        </a:prstGeom>
        <a:solidFill>
          <a:schemeClr val="bg2">
            <a:lumMod val="50000"/>
          </a:schemeClr>
        </a:soli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1"/>
              </a:solidFill>
            </a:rPr>
            <a:t>Provision of sign language interpreters</a:t>
          </a:r>
        </a:p>
      </dsp:txBody>
      <dsp:txXfrm>
        <a:off x="8419266" y="2565915"/>
        <a:ext cx="2550318" cy="153019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ext Box 2">
            <a:extLst>
              <a:ext uri="{FF2B5EF4-FFF2-40B4-BE49-F238E27FC236}">
                <a16:creationId xmlns:a16="http://schemas.microsoft.com/office/drawing/2014/main" id="{8D4C6040-3216-AB4A-B101-59D428F3A4BD}"/>
              </a:ext>
            </a:extLst>
          </p:cNvPr>
          <p:cNvSpPr txBox="1">
            <a:spLocks noChangeArrowheads="1"/>
          </p:cNvSpPr>
          <p:nvPr/>
        </p:nvSpPr>
        <p:spPr bwMode="auto">
          <a:xfrm>
            <a:off x="762000" y="228600"/>
            <a:ext cx="5105400" cy="403225"/>
          </a:xfrm>
          <a:prstGeom prst="rect">
            <a:avLst/>
          </a:prstGeom>
          <a:noFill/>
          <a:ln w="6350">
            <a:solidFill>
              <a:schemeClr val="tx1"/>
            </a:solidFill>
            <a:miter lim="800000"/>
            <a:headEnd/>
            <a:tailEnd/>
          </a:ln>
          <a:effectLst/>
        </p:spPr>
        <p:txBody>
          <a:bodyPr>
            <a:spAutoFit/>
          </a:bodyPr>
          <a:lstStyle>
            <a:lvl1pPr>
              <a:defRPr sz="2400">
                <a:solidFill>
                  <a:schemeClr val="tx1"/>
                </a:solidFill>
                <a:latin typeface="Book Antiqua" charset="0"/>
                <a:ea typeface="ＭＳ Ｐゴシック" charset="0"/>
                <a:cs typeface="ＭＳ Ｐゴシック" charset="0"/>
              </a:defRPr>
            </a:lvl1pPr>
            <a:lvl2pPr marL="37931725" indent="-37474525">
              <a:defRPr sz="2400">
                <a:solidFill>
                  <a:schemeClr val="tx1"/>
                </a:solidFill>
                <a:latin typeface="Book Antiqua" charset="0"/>
                <a:ea typeface="ＭＳ Ｐゴシック" charset="0"/>
              </a:defRPr>
            </a:lvl2pPr>
            <a:lvl3pPr>
              <a:defRPr sz="2400">
                <a:solidFill>
                  <a:schemeClr val="tx1"/>
                </a:solidFill>
                <a:latin typeface="Book Antiqua" charset="0"/>
                <a:ea typeface="ＭＳ Ｐゴシック" charset="0"/>
              </a:defRPr>
            </a:lvl3pPr>
            <a:lvl4pPr>
              <a:defRPr sz="2400">
                <a:solidFill>
                  <a:schemeClr val="tx1"/>
                </a:solidFill>
                <a:latin typeface="Book Antiqua" charset="0"/>
                <a:ea typeface="ＭＳ Ｐゴシック" charset="0"/>
              </a:defRPr>
            </a:lvl4pPr>
            <a:lvl5pPr>
              <a:defRPr sz="2400">
                <a:solidFill>
                  <a:schemeClr val="tx1"/>
                </a:solidFill>
                <a:latin typeface="Book Antiqua" charset="0"/>
                <a:ea typeface="ＭＳ Ｐゴシック" charset="0"/>
              </a:defRPr>
            </a:lvl5pPr>
            <a:lvl6pPr marL="457200" eaLnBrk="0" fontAlgn="base" hangingPunct="0">
              <a:spcBef>
                <a:spcPct val="0"/>
              </a:spcBef>
              <a:spcAft>
                <a:spcPct val="0"/>
              </a:spcAft>
              <a:defRPr sz="2400">
                <a:solidFill>
                  <a:schemeClr val="tx1"/>
                </a:solidFill>
                <a:latin typeface="Book Antiqua" charset="0"/>
                <a:ea typeface="ＭＳ Ｐゴシック" charset="0"/>
              </a:defRPr>
            </a:lvl6pPr>
            <a:lvl7pPr marL="914400" eaLnBrk="0" fontAlgn="base" hangingPunct="0">
              <a:spcBef>
                <a:spcPct val="0"/>
              </a:spcBef>
              <a:spcAft>
                <a:spcPct val="0"/>
              </a:spcAft>
              <a:defRPr sz="2400">
                <a:solidFill>
                  <a:schemeClr val="tx1"/>
                </a:solidFill>
                <a:latin typeface="Book Antiqua" charset="0"/>
                <a:ea typeface="ＭＳ Ｐゴシック" charset="0"/>
              </a:defRPr>
            </a:lvl7pPr>
            <a:lvl8pPr marL="1371600" eaLnBrk="0" fontAlgn="base" hangingPunct="0">
              <a:spcBef>
                <a:spcPct val="0"/>
              </a:spcBef>
              <a:spcAft>
                <a:spcPct val="0"/>
              </a:spcAft>
              <a:defRPr sz="2400">
                <a:solidFill>
                  <a:schemeClr val="tx1"/>
                </a:solidFill>
                <a:latin typeface="Book Antiqua" charset="0"/>
                <a:ea typeface="ＭＳ Ｐゴシック" charset="0"/>
              </a:defRPr>
            </a:lvl8pPr>
            <a:lvl9pPr marL="1828800" eaLnBrk="0" fontAlgn="base" hangingPunct="0">
              <a:spcBef>
                <a:spcPct val="0"/>
              </a:spcBef>
              <a:spcAft>
                <a:spcPct val="0"/>
              </a:spcAft>
              <a:defRPr sz="2400">
                <a:solidFill>
                  <a:schemeClr val="tx1"/>
                </a:solidFill>
                <a:latin typeface="Book Antiqua" charset="0"/>
                <a:ea typeface="ＭＳ Ｐゴシック" charset="0"/>
              </a:defRPr>
            </a:lvl9pPr>
          </a:lstStyle>
          <a:p>
            <a:pPr algn="ctr">
              <a:spcBef>
                <a:spcPct val="50000"/>
              </a:spcBef>
              <a:defRPr/>
            </a:pPr>
            <a:r>
              <a:rPr lang="en-US" sz="1000" b="1"/>
              <a:t>Disability Rights and Law</a:t>
            </a:r>
            <a:r>
              <a:rPr lang="en-US" sz="1000"/>
              <a:t> - David Hoff, Institute for Community Inclusion</a:t>
            </a:r>
            <a:br>
              <a:rPr lang="en-US" sz="1000"/>
            </a:br>
            <a:r>
              <a:rPr lang="en-US" sz="1000"/>
              <a:t>www.communityinclusion.org; 617-287-4308; david.hoff@umb.edu</a:t>
            </a:r>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7D60287-83B3-4549-BE7C-EF7AEEAC336C}"/>
              </a:ext>
            </a:extLst>
          </p:cNvPr>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5" name="Rectangle 3">
            <a:extLst>
              <a:ext uri="{FF2B5EF4-FFF2-40B4-BE49-F238E27FC236}">
                <a16:creationId xmlns:a16="http://schemas.microsoft.com/office/drawing/2014/main" id="{E0BFD21E-EC7C-C345-9FDB-509701D0B054}"/>
              </a:ext>
            </a:extLst>
          </p:cNvPr>
          <p:cNvSpPr>
            <a:spLocks noGrp="1" noRot="1" noChangeAspect="1" noChangeArrowheads="1" noTextEdit="1"/>
          </p:cNvSpPr>
          <p:nvPr>
            <p:ph type="sldImg" idx="2"/>
          </p:nvPr>
        </p:nvSpPr>
        <p:spPr bwMode="auto">
          <a:xfrm>
            <a:off x="381000" y="685800"/>
            <a:ext cx="6096000" cy="34290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Book Antiqua" pitchFamily="-107"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Book Antiqua" pitchFamily="-107" charset="0"/>
        <a:ea typeface="ＭＳ Ｐゴシック" pitchFamily="-107" charset="-128"/>
        <a:cs typeface="ＭＳ Ｐゴシック" charset="0"/>
      </a:defRPr>
    </a:lvl2pPr>
    <a:lvl3pPr marL="914400" algn="l" rtl="0" eaLnBrk="0" fontAlgn="base" hangingPunct="0">
      <a:spcBef>
        <a:spcPct val="30000"/>
      </a:spcBef>
      <a:spcAft>
        <a:spcPct val="0"/>
      </a:spcAft>
      <a:defRPr sz="1200" kern="1200">
        <a:solidFill>
          <a:schemeClr val="tx1"/>
        </a:solidFill>
        <a:latin typeface="Book Antiqua" pitchFamily="-107" charset="0"/>
        <a:ea typeface="ＭＳ Ｐゴシック" pitchFamily="-107" charset="-128"/>
        <a:cs typeface="ＭＳ Ｐゴシック" charset="0"/>
      </a:defRPr>
    </a:lvl3pPr>
    <a:lvl4pPr marL="1371600" algn="l" rtl="0" eaLnBrk="0" fontAlgn="base" hangingPunct="0">
      <a:spcBef>
        <a:spcPct val="30000"/>
      </a:spcBef>
      <a:spcAft>
        <a:spcPct val="0"/>
      </a:spcAft>
      <a:defRPr sz="1200" kern="1200">
        <a:solidFill>
          <a:schemeClr val="tx1"/>
        </a:solidFill>
        <a:latin typeface="Book Antiqua" pitchFamily="-107" charset="0"/>
        <a:ea typeface="ＭＳ Ｐゴシック" pitchFamily="-107" charset="-128"/>
        <a:cs typeface="ＭＳ Ｐゴシック" charset="0"/>
      </a:defRPr>
    </a:lvl4pPr>
    <a:lvl5pPr marL="1828800" algn="l" rtl="0" eaLnBrk="0" fontAlgn="base" hangingPunct="0">
      <a:spcBef>
        <a:spcPct val="30000"/>
      </a:spcBef>
      <a:spcAft>
        <a:spcPct val="0"/>
      </a:spcAft>
      <a:defRPr sz="1200" kern="1200">
        <a:solidFill>
          <a:schemeClr val="tx1"/>
        </a:solidFill>
        <a:latin typeface="Book Antiqua" pitchFamily="-107" charset="0"/>
        <a:ea typeface="ＭＳ Ｐゴシック" pitchFamily="-107" charset="-128"/>
        <a:cs typeface="ＭＳ Ｐゴシック"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25202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3349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D09EDF9D-51FE-72C8-5117-08F66E95731B}"/>
              </a:ext>
            </a:extLst>
          </p:cNvPr>
          <p:cNvSpPr>
            <a:spLocks noGrp="1" noRot="1" noChangeAspect="1" noChangeArrowheads="1"/>
          </p:cNvSpPr>
          <p:nvPr>
            <p:ph type="sldImg"/>
          </p:nvPr>
        </p:nvSpPr>
        <p:spPr>
          <a:solidFill>
            <a:srgbClr val="FFFFFF"/>
          </a:solidFill>
          <a:ln/>
        </p:spPr>
      </p:sp>
      <p:sp>
        <p:nvSpPr>
          <p:cNvPr id="25602" name="Rectangle 3">
            <a:extLst>
              <a:ext uri="{FF2B5EF4-FFF2-40B4-BE49-F238E27FC236}">
                <a16:creationId xmlns:a16="http://schemas.microsoft.com/office/drawing/2014/main" id="{2DE5B63F-C43A-257F-26AA-268A765EC42E}"/>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Book Antiqua" panose="02040602050305030304" pitchFamily="18"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2951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03078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36623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EED5A21F-56B5-6D4F-B7B0-375D02B59EC2}"/>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Osaka" panose="020B0600000000000000" pitchFamily="34" charset="-128"/>
              </a:defRPr>
            </a:lvl1pPr>
            <a:lvl2pPr marL="742950" indent="-285750">
              <a:defRPr sz="2400">
                <a:solidFill>
                  <a:schemeClr val="tx1"/>
                </a:solidFill>
                <a:latin typeface="Arial" panose="020B0604020202020204" pitchFamily="34" charset="0"/>
                <a:ea typeface="Osaka" panose="020B0600000000000000" pitchFamily="34" charset="-128"/>
              </a:defRPr>
            </a:lvl2pPr>
            <a:lvl3pPr marL="1143000" indent="-228600">
              <a:defRPr sz="2400">
                <a:solidFill>
                  <a:schemeClr val="tx1"/>
                </a:solidFill>
                <a:latin typeface="Arial" panose="020B0604020202020204" pitchFamily="34" charset="0"/>
                <a:ea typeface="Osaka" panose="020B0600000000000000" pitchFamily="34" charset="-128"/>
              </a:defRPr>
            </a:lvl3pPr>
            <a:lvl4pPr marL="1600200" indent="-228600">
              <a:defRPr sz="2400">
                <a:solidFill>
                  <a:schemeClr val="tx1"/>
                </a:solidFill>
                <a:latin typeface="Arial" panose="020B0604020202020204" pitchFamily="34" charset="0"/>
                <a:ea typeface="Osaka" panose="020B0600000000000000" pitchFamily="34" charset="-128"/>
              </a:defRPr>
            </a:lvl4pPr>
            <a:lvl5pPr marL="2057400" indent="-228600">
              <a:defRPr sz="2400">
                <a:solidFill>
                  <a:schemeClr val="tx1"/>
                </a:solidFill>
                <a:latin typeface="Arial" panose="020B0604020202020204" pitchFamily="34" charset="0"/>
                <a:ea typeface="Osaka" panose="020B0600000000000000"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Osaka" panose="020B0600000000000000"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Osaka" panose="020B0600000000000000"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Osaka" panose="020B0600000000000000"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Osaka" panose="020B0600000000000000" pitchFamily="34" charset="-128"/>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C230B71A-DA67-FE46-8195-233E0086B74E}"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Osaka" panose="020B0600000000000000" pitchFamily="34"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Osaka" panose="020B0600000000000000" pitchFamily="34" charset="-128"/>
              <a:cs typeface="+mn-cs"/>
            </a:endParaRPr>
          </a:p>
        </p:txBody>
      </p:sp>
      <p:sp>
        <p:nvSpPr>
          <p:cNvPr id="6146" name="Rectangle 2">
            <a:extLst>
              <a:ext uri="{FF2B5EF4-FFF2-40B4-BE49-F238E27FC236}">
                <a16:creationId xmlns:a16="http://schemas.microsoft.com/office/drawing/2014/main" id="{64A4CEE6-4FCB-7149-9954-2A85805E7293}"/>
              </a:ext>
            </a:extLst>
          </p:cNvPr>
          <p:cNvSpPr>
            <a:spLocks noGrp="1" noRot="1" noChangeAspect="1" noChangeArrowheads="1" noTextEdit="1"/>
          </p:cNvSpPr>
          <p:nvPr>
            <p:ph type="sldImg"/>
          </p:nvPr>
        </p:nvSpPr>
        <p:spPr>
          <a:solidFill>
            <a:srgbClr val="FFFFFF"/>
          </a:solidFill>
          <a:ln/>
        </p:spPr>
      </p:sp>
      <p:sp>
        <p:nvSpPr>
          <p:cNvPr id="6147" name="Rectangle 3">
            <a:extLst>
              <a:ext uri="{FF2B5EF4-FFF2-40B4-BE49-F238E27FC236}">
                <a16:creationId xmlns:a16="http://schemas.microsoft.com/office/drawing/2014/main" id="{23E47FE7-C13B-4348-840A-C3A7273588A2}"/>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p>
        </p:txBody>
      </p:sp>
    </p:spTree>
    <p:extLst>
      <p:ext uri="{BB962C8B-B14F-4D97-AF65-F5344CB8AC3E}">
        <p14:creationId xmlns:p14="http://schemas.microsoft.com/office/powerpoint/2010/main" val="1557435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2DCDD5A-FEC8-E74B-8A94-9F0DB1AE95A3}"/>
              </a:ext>
            </a:extLst>
          </p:cNvPr>
          <p:cNvCxnSpPr/>
          <p:nvPr/>
        </p:nvCxnSpPr>
        <p:spPr>
          <a:xfrm>
            <a:off x="914400" y="3398839"/>
            <a:ext cx="104648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D168660E-8ECE-7144-86DF-87B48A0B87CB}"/>
              </a:ext>
            </a:extLst>
          </p:cNvPr>
          <p:cNvSpPr>
            <a:spLocks noGrp="1"/>
          </p:cNvSpPr>
          <p:nvPr>
            <p:ph type="dt" sz="half" idx="10"/>
          </p:nvPr>
        </p:nvSpPr>
        <p:spPr/>
        <p:txBody>
          <a:bodyPr/>
          <a:lstStyle>
            <a:lvl1pPr>
              <a:defRPr/>
            </a:lvl1pPr>
          </a:lstStyle>
          <a:p>
            <a:pPr>
              <a:defRPr/>
            </a:pPr>
            <a:fld id="{41C9C607-912F-464E-BE06-CD42DB026F74}" type="datetime1">
              <a:rPr lang="en-US" smtClean="0"/>
              <a:t>12/19/25</a:t>
            </a:fld>
            <a:endParaRPr lang="en-US"/>
          </a:p>
        </p:txBody>
      </p:sp>
      <p:sp>
        <p:nvSpPr>
          <p:cNvPr id="6" name="Footer Placeholder 4">
            <a:extLst>
              <a:ext uri="{FF2B5EF4-FFF2-40B4-BE49-F238E27FC236}">
                <a16:creationId xmlns:a16="http://schemas.microsoft.com/office/drawing/2014/main" id="{CD8DD584-F5C3-CE41-9506-9FD04107450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D4B42F7-CD5A-8C47-BD96-0545CF829AA5}"/>
              </a:ext>
            </a:extLst>
          </p:cNvPr>
          <p:cNvSpPr>
            <a:spLocks noGrp="1"/>
          </p:cNvSpPr>
          <p:nvPr>
            <p:ph type="sldNum" sz="quarter" idx="12"/>
          </p:nvPr>
        </p:nvSpPr>
        <p:spPr/>
        <p:txBody>
          <a:bodyPr/>
          <a:lstStyle>
            <a:lvl1pPr>
              <a:defRPr smtClean="0"/>
            </a:lvl1pPr>
          </a:lstStyle>
          <a:p>
            <a:pPr>
              <a:defRPr/>
            </a:pPr>
            <a:fld id="{2F5E16D9-FAD3-8343-A574-279BC8894A58}" type="slidenum">
              <a:rPr lang="en-US" altLang="en-US"/>
              <a:pPr>
                <a:defRPr/>
              </a:pPr>
              <a:t>‹#›</a:t>
            </a:fld>
            <a:endParaRPr lang="en-US" altLang="en-US"/>
          </a:p>
        </p:txBody>
      </p:sp>
    </p:spTree>
    <p:extLst>
      <p:ext uri="{BB962C8B-B14F-4D97-AF65-F5344CB8AC3E}">
        <p14:creationId xmlns:p14="http://schemas.microsoft.com/office/powerpoint/2010/main" val="1945096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CBE16-87FB-024F-8667-128DD81B0772}"/>
              </a:ext>
            </a:extLst>
          </p:cNvPr>
          <p:cNvSpPr>
            <a:spLocks noGrp="1"/>
          </p:cNvSpPr>
          <p:nvPr>
            <p:ph type="dt" sz="half" idx="10"/>
          </p:nvPr>
        </p:nvSpPr>
        <p:spPr/>
        <p:txBody>
          <a:bodyPr/>
          <a:lstStyle>
            <a:lvl1pPr>
              <a:defRPr/>
            </a:lvl1pPr>
          </a:lstStyle>
          <a:p>
            <a:pPr>
              <a:defRPr/>
            </a:pPr>
            <a:fld id="{2AE04001-7B38-E64E-B282-41353C69F921}" type="datetime1">
              <a:rPr lang="en-US" smtClean="0"/>
              <a:t>12/19/25</a:t>
            </a:fld>
            <a:endParaRPr lang="en-US" dirty="0"/>
          </a:p>
        </p:txBody>
      </p:sp>
      <p:sp>
        <p:nvSpPr>
          <p:cNvPr id="5" name="Footer Placeholder 4">
            <a:extLst>
              <a:ext uri="{FF2B5EF4-FFF2-40B4-BE49-F238E27FC236}">
                <a16:creationId xmlns:a16="http://schemas.microsoft.com/office/drawing/2014/main" id="{7429776A-9A07-4243-88CB-BFF348A2F0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3C29894-D723-9B4B-9E60-BE354F05F1BE}"/>
              </a:ext>
            </a:extLst>
          </p:cNvPr>
          <p:cNvSpPr>
            <a:spLocks noGrp="1"/>
          </p:cNvSpPr>
          <p:nvPr>
            <p:ph type="sldNum" sz="quarter" idx="12"/>
          </p:nvPr>
        </p:nvSpPr>
        <p:spPr/>
        <p:txBody>
          <a:bodyPr/>
          <a:lstStyle>
            <a:lvl1pPr>
              <a:defRPr/>
            </a:lvl1pPr>
          </a:lstStyle>
          <a:p>
            <a:pPr>
              <a:defRPr/>
            </a:pPr>
            <a:fld id="{6DFFECAE-5558-FC4F-A5D5-814DD6134961}" type="slidenum">
              <a:rPr lang="en-US" altLang="en-US"/>
              <a:pPr>
                <a:defRPr/>
              </a:pPr>
              <a:t>‹#›</a:t>
            </a:fld>
            <a:endParaRPr lang="en-US" altLang="en-US"/>
          </a:p>
        </p:txBody>
      </p:sp>
    </p:spTree>
    <p:extLst>
      <p:ext uri="{BB962C8B-B14F-4D97-AF65-F5344CB8AC3E}">
        <p14:creationId xmlns:p14="http://schemas.microsoft.com/office/powerpoint/2010/main" val="4034751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CACA102-DDA1-DC44-A6FC-7A58C154E3F8}"/>
              </a:ext>
            </a:extLst>
          </p:cNvPr>
          <p:cNvCxnSpPr/>
          <p:nvPr/>
        </p:nvCxnSpPr>
        <p:spPr>
          <a:xfrm>
            <a:off x="975784" y="4598989"/>
            <a:ext cx="104648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963084" y="2362201"/>
            <a:ext cx="10363200" cy="2200275"/>
          </a:xfrm>
        </p:spPr>
        <p:txBody>
          <a:bodyPr anchor="b"/>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B8BD3862-5F17-CF44-8DB4-162A339F9702}"/>
              </a:ext>
            </a:extLst>
          </p:cNvPr>
          <p:cNvSpPr>
            <a:spLocks noGrp="1"/>
          </p:cNvSpPr>
          <p:nvPr>
            <p:ph type="dt" sz="half" idx="10"/>
          </p:nvPr>
        </p:nvSpPr>
        <p:spPr/>
        <p:txBody>
          <a:bodyPr/>
          <a:lstStyle>
            <a:lvl1pPr>
              <a:defRPr/>
            </a:lvl1pPr>
          </a:lstStyle>
          <a:p>
            <a:pPr>
              <a:defRPr/>
            </a:pPr>
            <a:fld id="{1583EC88-B7A6-CF4C-BFEC-6BA804CDEA5D}" type="datetime1">
              <a:rPr lang="en-US" smtClean="0"/>
              <a:t>12/19/25</a:t>
            </a:fld>
            <a:endParaRPr lang="en-US"/>
          </a:p>
        </p:txBody>
      </p:sp>
      <p:sp>
        <p:nvSpPr>
          <p:cNvPr id="6" name="Footer Placeholder 4">
            <a:extLst>
              <a:ext uri="{FF2B5EF4-FFF2-40B4-BE49-F238E27FC236}">
                <a16:creationId xmlns:a16="http://schemas.microsoft.com/office/drawing/2014/main" id="{1B6C0AE4-23CD-D648-B943-B406F109697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208E2B5-8975-774E-9099-896EDBE4B666}"/>
              </a:ext>
            </a:extLst>
          </p:cNvPr>
          <p:cNvSpPr>
            <a:spLocks noGrp="1"/>
          </p:cNvSpPr>
          <p:nvPr>
            <p:ph type="sldNum" sz="quarter" idx="12"/>
          </p:nvPr>
        </p:nvSpPr>
        <p:spPr/>
        <p:txBody>
          <a:bodyPr/>
          <a:lstStyle>
            <a:lvl1pPr>
              <a:defRPr smtClean="0"/>
            </a:lvl1pPr>
          </a:lstStyle>
          <a:p>
            <a:pPr>
              <a:defRPr/>
            </a:pPr>
            <a:fld id="{1851FCD7-60BF-0443-9D82-274D5A41A98A}" type="slidenum">
              <a:rPr lang="en-US" altLang="en-US"/>
              <a:pPr>
                <a:defRPr/>
              </a:pPr>
              <a:t>‹#›</a:t>
            </a:fld>
            <a:endParaRPr lang="en-US" altLang="en-US"/>
          </a:p>
        </p:txBody>
      </p:sp>
    </p:spTree>
    <p:extLst>
      <p:ext uri="{BB962C8B-B14F-4D97-AF65-F5344CB8AC3E}">
        <p14:creationId xmlns:p14="http://schemas.microsoft.com/office/powerpoint/2010/main" val="322466439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ECDF3B8C-B363-B74C-83EE-8A31D6CCB1B2}"/>
              </a:ext>
            </a:extLst>
          </p:cNvPr>
          <p:cNvSpPr>
            <a:spLocks noGrp="1"/>
          </p:cNvSpPr>
          <p:nvPr>
            <p:ph type="dt" sz="half" idx="10"/>
          </p:nvPr>
        </p:nvSpPr>
        <p:spPr/>
        <p:txBody>
          <a:bodyPr/>
          <a:lstStyle>
            <a:lvl1pPr>
              <a:defRPr/>
            </a:lvl1pPr>
          </a:lstStyle>
          <a:p>
            <a:pPr>
              <a:defRPr/>
            </a:pPr>
            <a:fld id="{126D3A63-F13A-B940-BB9A-F4567B806A9D}" type="datetime1">
              <a:rPr lang="en-US" smtClean="0"/>
              <a:t>12/19/25</a:t>
            </a:fld>
            <a:endParaRPr lang="en-US" dirty="0"/>
          </a:p>
        </p:txBody>
      </p:sp>
      <p:sp>
        <p:nvSpPr>
          <p:cNvPr id="6" name="Footer Placeholder 4">
            <a:extLst>
              <a:ext uri="{FF2B5EF4-FFF2-40B4-BE49-F238E27FC236}">
                <a16:creationId xmlns:a16="http://schemas.microsoft.com/office/drawing/2014/main" id="{219E2DE4-AC38-B645-8E19-91AFFA1788A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6131C8C-84EA-1248-82D0-0B3F51EB4DF2}"/>
              </a:ext>
            </a:extLst>
          </p:cNvPr>
          <p:cNvSpPr>
            <a:spLocks noGrp="1"/>
          </p:cNvSpPr>
          <p:nvPr>
            <p:ph type="sldNum" sz="quarter" idx="12"/>
          </p:nvPr>
        </p:nvSpPr>
        <p:spPr/>
        <p:txBody>
          <a:bodyPr/>
          <a:lstStyle>
            <a:lvl1pPr>
              <a:defRPr/>
            </a:lvl1pPr>
          </a:lstStyle>
          <a:p>
            <a:pPr>
              <a:defRPr/>
            </a:pPr>
            <a:fld id="{2D4FB8D5-209A-354C-A23E-7F23A4B35F42}" type="slidenum">
              <a:rPr lang="en-US" altLang="en-US"/>
              <a:pPr>
                <a:defRPr/>
              </a:pPr>
              <a:t>‹#›</a:t>
            </a:fld>
            <a:endParaRPr lang="en-US" altLang="en-US"/>
          </a:p>
        </p:txBody>
      </p:sp>
    </p:spTree>
    <p:extLst>
      <p:ext uri="{BB962C8B-B14F-4D97-AF65-F5344CB8AC3E}">
        <p14:creationId xmlns:p14="http://schemas.microsoft.com/office/powerpoint/2010/main" val="2547480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85B07ED-3669-4B42-81D8-66BBEF2F7F18}"/>
              </a:ext>
            </a:extLst>
          </p:cNvPr>
          <p:cNvCxnSpPr/>
          <p:nvPr/>
        </p:nvCxnSpPr>
        <p:spPr>
          <a:xfrm rot="5400000">
            <a:off x="3742796" y="4045480"/>
            <a:ext cx="4708525"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a:extLst>
              <a:ext uri="{FF2B5EF4-FFF2-40B4-BE49-F238E27FC236}">
                <a16:creationId xmlns:a16="http://schemas.microsoft.com/office/drawing/2014/main" id="{99919383-94F9-4647-8290-08165BC82D6A}"/>
              </a:ext>
            </a:extLst>
          </p:cNvPr>
          <p:cNvSpPr>
            <a:spLocks noGrp="1"/>
          </p:cNvSpPr>
          <p:nvPr>
            <p:ph type="dt" sz="half" idx="10"/>
          </p:nvPr>
        </p:nvSpPr>
        <p:spPr/>
        <p:txBody>
          <a:bodyPr/>
          <a:lstStyle>
            <a:lvl1pPr>
              <a:defRPr/>
            </a:lvl1pPr>
          </a:lstStyle>
          <a:p>
            <a:pPr>
              <a:defRPr/>
            </a:pPr>
            <a:fld id="{AD29A189-5332-4E4E-8856-E24624EDA665}" type="datetime1">
              <a:rPr lang="en-US" smtClean="0"/>
              <a:t>12/19/25</a:t>
            </a:fld>
            <a:endParaRPr lang="en-US"/>
          </a:p>
        </p:txBody>
      </p:sp>
      <p:sp>
        <p:nvSpPr>
          <p:cNvPr id="9" name="Footer Placeholder 7">
            <a:extLst>
              <a:ext uri="{FF2B5EF4-FFF2-40B4-BE49-F238E27FC236}">
                <a16:creationId xmlns:a16="http://schemas.microsoft.com/office/drawing/2014/main" id="{37189A5C-A5B9-8A4B-8617-C5D6E37E07D5}"/>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8">
            <a:extLst>
              <a:ext uri="{FF2B5EF4-FFF2-40B4-BE49-F238E27FC236}">
                <a16:creationId xmlns:a16="http://schemas.microsoft.com/office/drawing/2014/main" id="{63D8AA3B-37B7-5444-869E-D674D263FCBD}"/>
              </a:ext>
            </a:extLst>
          </p:cNvPr>
          <p:cNvSpPr>
            <a:spLocks noGrp="1"/>
          </p:cNvSpPr>
          <p:nvPr>
            <p:ph type="sldNum" sz="quarter" idx="12"/>
          </p:nvPr>
        </p:nvSpPr>
        <p:spPr/>
        <p:txBody>
          <a:bodyPr/>
          <a:lstStyle>
            <a:lvl1pPr>
              <a:defRPr smtClean="0"/>
            </a:lvl1pPr>
          </a:lstStyle>
          <a:p>
            <a:pPr>
              <a:defRPr/>
            </a:pPr>
            <a:fld id="{36CE7853-A0A6-444C-840C-D63A1B510177}" type="slidenum">
              <a:rPr lang="en-US" altLang="en-US"/>
              <a:pPr>
                <a:defRPr/>
              </a:pPr>
              <a:t>‹#›</a:t>
            </a:fld>
            <a:endParaRPr lang="en-US" altLang="en-US"/>
          </a:p>
        </p:txBody>
      </p:sp>
    </p:spTree>
    <p:extLst>
      <p:ext uri="{BB962C8B-B14F-4D97-AF65-F5344CB8AC3E}">
        <p14:creationId xmlns:p14="http://schemas.microsoft.com/office/powerpoint/2010/main" val="3975674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7BD6B3B7-2557-2A4F-B7FC-0E7459536A6B}"/>
              </a:ext>
            </a:extLst>
          </p:cNvPr>
          <p:cNvSpPr>
            <a:spLocks noGrp="1"/>
          </p:cNvSpPr>
          <p:nvPr>
            <p:ph type="dt" sz="half" idx="10"/>
          </p:nvPr>
        </p:nvSpPr>
        <p:spPr/>
        <p:txBody>
          <a:bodyPr/>
          <a:lstStyle>
            <a:lvl1pPr>
              <a:defRPr/>
            </a:lvl1pPr>
          </a:lstStyle>
          <a:p>
            <a:pPr>
              <a:defRPr/>
            </a:pPr>
            <a:fld id="{52E40DAC-38E4-104C-9280-2F06D3CB7C6A}" type="datetime1">
              <a:rPr lang="en-US" smtClean="0"/>
              <a:t>12/19/25</a:t>
            </a:fld>
            <a:endParaRPr lang="en-US" dirty="0"/>
          </a:p>
        </p:txBody>
      </p:sp>
      <p:sp>
        <p:nvSpPr>
          <p:cNvPr id="4" name="Footer Placeholder 4">
            <a:extLst>
              <a:ext uri="{FF2B5EF4-FFF2-40B4-BE49-F238E27FC236}">
                <a16:creationId xmlns:a16="http://schemas.microsoft.com/office/drawing/2014/main" id="{FC6BEE12-FEEF-0D43-900C-D971C6170F0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58CFEF7-C9E1-284D-B996-4F8A06FAE6C2}"/>
              </a:ext>
            </a:extLst>
          </p:cNvPr>
          <p:cNvSpPr>
            <a:spLocks noGrp="1"/>
          </p:cNvSpPr>
          <p:nvPr>
            <p:ph type="sldNum" sz="quarter" idx="12"/>
          </p:nvPr>
        </p:nvSpPr>
        <p:spPr/>
        <p:txBody>
          <a:bodyPr/>
          <a:lstStyle>
            <a:lvl1pPr>
              <a:defRPr/>
            </a:lvl1pPr>
          </a:lstStyle>
          <a:p>
            <a:pPr>
              <a:defRPr/>
            </a:pPr>
            <a:fld id="{C52079FF-467D-6D41-A1F4-C32363388CCE}" type="slidenum">
              <a:rPr lang="en-US" altLang="en-US"/>
              <a:pPr>
                <a:defRPr/>
              </a:pPr>
              <a:t>‹#›</a:t>
            </a:fld>
            <a:endParaRPr lang="en-US" altLang="en-US"/>
          </a:p>
        </p:txBody>
      </p:sp>
    </p:spTree>
    <p:extLst>
      <p:ext uri="{BB962C8B-B14F-4D97-AF65-F5344CB8AC3E}">
        <p14:creationId xmlns:p14="http://schemas.microsoft.com/office/powerpoint/2010/main" val="1281629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9494C39-4D5D-E149-84F3-07A849102757}"/>
              </a:ext>
            </a:extLst>
          </p:cNvPr>
          <p:cNvSpPr>
            <a:spLocks noGrp="1"/>
          </p:cNvSpPr>
          <p:nvPr>
            <p:ph type="dt" sz="half" idx="10"/>
          </p:nvPr>
        </p:nvSpPr>
        <p:spPr/>
        <p:txBody>
          <a:bodyPr/>
          <a:lstStyle>
            <a:lvl1pPr>
              <a:defRPr/>
            </a:lvl1pPr>
          </a:lstStyle>
          <a:p>
            <a:pPr>
              <a:defRPr/>
            </a:pPr>
            <a:fld id="{E3C59D31-0D85-4941-9EC4-1D5B48357916}" type="datetime1">
              <a:rPr lang="en-US" smtClean="0"/>
              <a:t>12/19/25</a:t>
            </a:fld>
            <a:endParaRPr lang="en-US" dirty="0"/>
          </a:p>
        </p:txBody>
      </p:sp>
      <p:sp>
        <p:nvSpPr>
          <p:cNvPr id="3" name="Footer Placeholder 4">
            <a:extLst>
              <a:ext uri="{FF2B5EF4-FFF2-40B4-BE49-F238E27FC236}">
                <a16:creationId xmlns:a16="http://schemas.microsoft.com/office/drawing/2014/main" id="{D8EDD62F-3058-6740-89FE-D6A8ADE4345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686ED7D-0E8A-604C-9FD7-1EB6A03F816F}"/>
              </a:ext>
            </a:extLst>
          </p:cNvPr>
          <p:cNvSpPr>
            <a:spLocks noGrp="1"/>
          </p:cNvSpPr>
          <p:nvPr>
            <p:ph type="sldNum" sz="quarter" idx="12"/>
          </p:nvPr>
        </p:nvSpPr>
        <p:spPr/>
        <p:txBody>
          <a:bodyPr/>
          <a:lstStyle>
            <a:lvl1pPr>
              <a:defRPr/>
            </a:lvl1pPr>
          </a:lstStyle>
          <a:p>
            <a:pPr>
              <a:defRPr/>
            </a:pPr>
            <a:fld id="{94330214-C1B0-274F-B99E-7FB2C7279437}" type="slidenum">
              <a:rPr lang="en-US" altLang="en-US"/>
              <a:pPr>
                <a:defRPr/>
              </a:pPr>
              <a:t>‹#›</a:t>
            </a:fld>
            <a:endParaRPr lang="en-US" altLang="en-US"/>
          </a:p>
        </p:txBody>
      </p:sp>
    </p:spTree>
    <p:extLst>
      <p:ext uri="{BB962C8B-B14F-4D97-AF65-F5344CB8AC3E}">
        <p14:creationId xmlns:p14="http://schemas.microsoft.com/office/powerpoint/2010/main" val="264395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B7D8BF-4077-8544-897A-A202D01978F9}"/>
              </a:ext>
            </a:extLst>
          </p:cNvPr>
          <p:cNvCxnSpPr/>
          <p:nvPr/>
        </p:nvCxnSpPr>
        <p:spPr>
          <a:xfrm rot="5400000">
            <a:off x="911754" y="3580343"/>
            <a:ext cx="5578475"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C6A2EF62-737B-3E4C-908A-80A99C943F13}"/>
              </a:ext>
            </a:extLst>
          </p:cNvPr>
          <p:cNvSpPr>
            <a:spLocks noGrp="1"/>
          </p:cNvSpPr>
          <p:nvPr>
            <p:ph type="dt" sz="half" idx="10"/>
          </p:nvPr>
        </p:nvSpPr>
        <p:spPr/>
        <p:txBody>
          <a:bodyPr/>
          <a:lstStyle>
            <a:lvl1pPr>
              <a:defRPr/>
            </a:lvl1pPr>
          </a:lstStyle>
          <a:p>
            <a:pPr>
              <a:defRPr/>
            </a:pPr>
            <a:fld id="{64A9E7CA-14CC-6344-BE3A-BFBED7E12149}" type="datetime1">
              <a:rPr lang="en-US" smtClean="0"/>
              <a:t>12/19/25</a:t>
            </a:fld>
            <a:endParaRPr lang="en-US"/>
          </a:p>
        </p:txBody>
      </p:sp>
      <p:sp>
        <p:nvSpPr>
          <p:cNvPr id="7" name="Footer Placeholder 5">
            <a:extLst>
              <a:ext uri="{FF2B5EF4-FFF2-40B4-BE49-F238E27FC236}">
                <a16:creationId xmlns:a16="http://schemas.microsoft.com/office/drawing/2014/main" id="{5A7436DC-F284-5949-B7BA-4AA37FD4AAFA}"/>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E930B4BC-7EED-8342-A1BD-4A17C5F12A30}"/>
              </a:ext>
            </a:extLst>
          </p:cNvPr>
          <p:cNvSpPr>
            <a:spLocks noGrp="1"/>
          </p:cNvSpPr>
          <p:nvPr>
            <p:ph type="sldNum" sz="quarter" idx="12"/>
          </p:nvPr>
        </p:nvSpPr>
        <p:spPr/>
        <p:txBody>
          <a:bodyPr/>
          <a:lstStyle>
            <a:lvl1pPr>
              <a:defRPr smtClean="0"/>
            </a:lvl1pPr>
          </a:lstStyle>
          <a:p>
            <a:pPr>
              <a:defRPr/>
            </a:pPr>
            <a:fld id="{E7CFDA24-9594-0E41-8AF7-A187F9F52738}" type="slidenum">
              <a:rPr lang="en-US" altLang="en-US"/>
              <a:pPr>
                <a:defRPr/>
              </a:pPr>
              <a:t>‹#›</a:t>
            </a:fld>
            <a:endParaRPr lang="en-US" altLang="en-US"/>
          </a:p>
        </p:txBody>
      </p:sp>
    </p:spTree>
    <p:extLst>
      <p:ext uri="{BB962C8B-B14F-4D97-AF65-F5344CB8AC3E}">
        <p14:creationId xmlns:p14="http://schemas.microsoft.com/office/powerpoint/2010/main" val="1240070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endParaRPr lang="en-US" noProof="0"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50BB1C6-097F-3C42-A33F-1F1B6C36E4C6}"/>
              </a:ext>
            </a:extLst>
          </p:cNvPr>
          <p:cNvSpPr>
            <a:spLocks noGrp="1"/>
          </p:cNvSpPr>
          <p:nvPr>
            <p:ph type="dt" sz="half" idx="10"/>
          </p:nvPr>
        </p:nvSpPr>
        <p:spPr/>
        <p:txBody>
          <a:bodyPr/>
          <a:lstStyle>
            <a:lvl1pPr>
              <a:defRPr/>
            </a:lvl1pPr>
          </a:lstStyle>
          <a:p>
            <a:pPr>
              <a:defRPr/>
            </a:pPr>
            <a:fld id="{C5D9EB23-5187-5F47-8062-EFF84EA632A4}" type="datetime1">
              <a:rPr lang="en-US" smtClean="0"/>
              <a:t>12/19/25</a:t>
            </a:fld>
            <a:endParaRPr lang="en-US" dirty="0"/>
          </a:p>
        </p:txBody>
      </p:sp>
      <p:sp>
        <p:nvSpPr>
          <p:cNvPr id="6" name="Footer Placeholder 4">
            <a:extLst>
              <a:ext uri="{FF2B5EF4-FFF2-40B4-BE49-F238E27FC236}">
                <a16:creationId xmlns:a16="http://schemas.microsoft.com/office/drawing/2014/main" id="{44FBA4F0-4D0A-A64B-84AE-1C0E9C7AB7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3898FA1-B2FD-DE47-BEB8-CE463510C590}"/>
              </a:ext>
            </a:extLst>
          </p:cNvPr>
          <p:cNvSpPr>
            <a:spLocks noGrp="1"/>
          </p:cNvSpPr>
          <p:nvPr>
            <p:ph type="sldNum" sz="quarter" idx="12"/>
          </p:nvPr>
        </p:nvSpPr>
        <p:spPr/>
        <p:txBody>
          <a:bodyPr/>
          <a:lstStyle>
            <a:lvl1pPr>
              <a:defRPr/>
            </a:lvl1pPr>
          </a:lstStyle>
          <a:p>
            <a:pPr>
              <a:defRPr/>
            </a:pPr>
            <a:fld id="{C30FCAA1-8A8A-6A49-B2E5-05A39EBF64B7}" type="slidenum">
              <a:rPr lang="en-US" altLang="en-US"/>
              <a:pPr>
                <a:defRPr/>
              </a:pPr>
              <a:t>‹#›</a:t>
            </a:fld>
            <a:endParaRPr lang="en-US" altLang="en-US"/>
          </a:p>
        </p:txBody>
      </p:sp>
    </p:spTree>
    <p:extLst>
      <p:ext uri="{BB962C8B-B14F-4D97-AF65-F5344CB8AC3E}">
        <p14:creationId xmlns:p14="http://schemas.microsoft.com/office/powerpoint/2010/main" val="1424469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44687A-9899-7845-8A17-8B85C5EAE656}"/>
              </a:ext>
            </a:extLst>
          </p:cNvPr>
          <p:cNvSpPr>
            <a:spLocks noGrp="1"/>
          </p:cNvSpPr>
          <p:nvPr>
            <p:ph type="dt" sz="half" idx="10"/>
          </p:nvPr>
        </p:nvSpPr>
        <p:spPr/>
        <p:txBody>
          <a:bodyPr/>
          <a:lstStyle>
            <a:lvl1pPr>
              <a:defRPr/>
            </a:lvl1pPr>
          </a:lstStyle>
          <a:p>
            <a:pPr>
              <a:defRPr/>
            </a:pPr>
            <a:fld id="{069C8E68-B503-3848-BED1-23CBE9EA406C}" type="datetime1">
              <a:rPr lang="en-US" smtClean="0"/>
              <a:t>12/19/25</a:t>
            </a:fld>
            <a:endParaRPr lang="en-US" dirty="0"/>
          </a:p>
        </p:txBody>
      </p:sp>
      <p:sp>
        <p:nvSpPr>
          <p:cNvPr id="5" name="Footer Placeholder 4">
            <a:extLst>
              <a:ext uri="{FF2B5EF4-FFF2-40B4-BE49-F238E27FC236}">
                <a16:creationId xmlns:a16="http://schemas.microsoft.com/office/drawing/2014/main" id="{C2335466-830B-4242-B0FD-C478780035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954C0B0-9465-0B4F-A47F-5BAA7BEE0775}"/>
              </a:ext>
            </a:extLst>
          </p:cNvPr>
          <p:cNvSpPr>
            <a:spLocks noGrp="1"/>
          </p:cNvSpPr>
          <p:nvPr>
            <p:ph type="sldNum" sz="quarter" idx="12"/>
          </p:nvPr>
        </p:nvSpPr>
        <p:spPr/>
        <p:txBody>
          <a:bodyPr/>
          <a:lstStyle>
            <a:lvl1pPr>
              <a:defRPr/>
            </a:lvl1pPr>
          </a:lstStyle>
          <a:p>
            <a:pPr>
              <a:defRPr/>
            </a:pPr>
            <a:fld id="{DF6F8F63-C206-6F46-8B8A-B5AD3BBB21AD}" type="slidenum">
              <a:rPr lang="en-US" altLang="en-US"/>
              <a:pPr>
                <a:defRPr/>
              </a:pPr>
              <a:t>‹#›</a:t>
            </a:fld>
            <a:endParaRPr lang="en-US" altLang="en-US"/>
          </a:p>
        </p:txBody>
      </p:sp>
    </p:spTree>
    <p:extLst>
      <p:ext uri="{BB962C8B-B14F-4D97-AF65-F5344CB8AC3E}">
        <p14:creationId xmlns:p14="http://schemas.microsoft.com/office/powerpoint/2010/main" val="3013802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B76C9E6-01D3-814C-A399-2C11C31B8B77}"/>
              </a:ext>
            </a:extLst>
          </p:cNvPr>
          <p:cNvSpPr>
            <a:spLocks noGrp="1"/>
          </p:cNvSpPr>
          <p:nvPr>
            <p:ph type="dt" sz="half" idx="10"/>
          </p:nvPr>
        </p:nvSpPr>
        <p:spPr/>
        <p:txBody>
          <a:bodyPr/>
          <a:lstStyle>
            <a:lvl1pPr>
              <a:defRPr/>
            </a:lvl1pPr>
          </a:lstStyle>
          <a:p>
            <a:pPr>
              <a:defRPr/>
            </a:pPr>
            <a:fld id="{72AFB22A-6EDF-4B47-B73C-37498E2A2930}" type="datetime1">
              <a:rPr lang="en-US" smtClean="0"/>
              <a:t>12/19/25</a:t>
            </a:fld>
            <a:endParaRPr lang="en-US" dirty="0"/>
          </a:p>
        </p:txBody>
      </p:sp>
      <p:sp>
        <p:nvSpPr>
          <p:cNvPr id="5" name="Footer Placeholder 4">
            <a:extLst>
              <a:ext uri="{FF2B5EF4-FFF2-40B4-BE49-F238E27FC236}">
                <a16:creationId xmlns:a16="http://schemas.microsoft.com/office/drawing/2014/main" id="{B93DE167-D490-5646-BA44-469DBA7652D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78A4AC-74A9-3945-A7C0-679F87F0B5F7}"/>
              </a:ext>
            </a:extLst>
          </p:cNvPr>
          <p:cNvSpPr>
            <a:spLocks noGrp="1"/>
          </p:cNvSpPr>
          <p:nvPr>
            <p:ph type="sldNum" sz="quarter" idx="12"/>
          </p:nvPr>
        </p:nvSpPr>
        <p:spPr/>
        <p:txBody>
          <a:bodyPr/>
          <a:lstStyle>
            <a:lvl1pPr>
              <a:defRPr/>
            </a:lvl1pPr>
          </a:lstStyle>
          <a:p>
            <a:pPr>
              <a:defRPr/>
            </a:pPr>
            <a:fld id="{AE04F972-602B-F04A-BF83-2471432BF8EA}" type="slidenum">
              <a:rPr lang="en-US" altLang="en-US"/>
              <a:pPr>
                <a:defRPr/>
              </a:pPr>
              <a:t>‹#›</a:t>
            </a:fld>
            <a:endParaRPr lang="en-US" altLang="en-US"/>
          </a:p>
        </p:txBody>
      </p:sp>
    </p:spTree>
    <p:extLst>
      <p:ext uri="{BB962C8B-B14F-4D97-AF65-F5344CB8AC3E}">
        <p14:creationId xmlns:p14="http://schemas.microsoft.com/office/powerpoint/2010/main" val="1346825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3D8641-F826-C242-84BE-BDAD15ABC142}" type="datetime1">
              <a:rPr lang="en-US" smtClean="0"/>
              <a:t>12/19/25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3012423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D79DD5-CA3E-C649-8798-672D6630AE10}" type="datetime1">
              <a:rPr lang="en-US" smtClean="0"/>
              <a:t>12/19/25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3821039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DEBDD1-021F-B545-8AFD-AC53AFAF9F31}" type="datetime1">
              <a:rPr lang="en-US" smtClean="0"/>
              <a:t>12/19/25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9029689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BB2AFB-6A9E-B241-BD0A-4F56773FBEAB}" type="datetime1">
              <a:rPr lang="en-US" smtClean="0"/>
              <a:t>12/19/25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4487611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BEDC9C-E8AE-6748-A4EA-7B1EF9F39F52}" type="datetime1">
              <a:rPr lang="en-US" smtClean="0"/>
              <a:t>12/19/25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2628595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C9277E-ED3C-C14A-8C5E-26B21D8803C1}" type="datetime1">
              <a:rPr lang="en-US" smtClean="0"/>
              <a:t>12/19/25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24159900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0A76C4-CFCF-DD4E-99C8-CF9E6D538C72}" type="datetime1">
              <a:rPr lang="en-US" smtClean="0"/>
              <a:t>12/19/25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29236495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1E56C3D-4BA9-A84E-9C33-7DFAB11E58F2}" type="datetime1">
              <a:rPr lang="en-US" smtClean="0"/>
              <a:t>12/19/25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26756787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870ACE6-6E36-9449-ABCA-BDC4C4F83FA4}" type="datetime1">
              <a:rPr lang="en-US" smtClean="0"/>
              <a:t>12/19/25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28492587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978237-43E5-054D-B9BF-D53E41163664}" type="datetime1">
              <a:rPr lang="en-US" smtClean="0"/>
              <a:t>12/19/25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22551947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269A29-F2C1-7F41-AA46-4EC38C4BE96E}" type="datetime1">
              <a:rPr lang="en-US" smtClean="0"/>
              <a:t>12/19/25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471AC-7F5C-CF4F-A0B6-967C6D6622C3}" type="slidenum">
              <a:rPr lang="en-US" smtClean="0"/>
              <a:t>‹#›</a:t>
            </a:fld>
            <a:endParaRPr lang="en-US"/>
          </a:p>
        </p:txBody>
      </p:sp>
    </p:spTree>
    <p:extLst>
      <p:ext uri="{BB962C8B-B14F-4D97-AF65-F5344CB8AC3E}">
        <p14:creationId xmlns:p14="http://schemas.microsoft.com/office/powerpoint/2010/main" val="42460889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E99D2569-A88F-0E4E-97DE-8C5EFF4F96D7}" type="datetime1">
              <a:rPr lang="en-US" smtClean="0"/>
              <a:t>12/19/25</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3DF57DA1-2AD2-FF41-B7A2-1B4F1AD3CC59}" type="slidenum">
              <a:rPr lang="en-US" smtClean="0"/>
              <a:pPr>
                <a:defRPr/>
              </a:pPr>
              <a:t>‹#›</a:t>
            </a:fld>
            <a:endParaRPr lang="en-US" dirty="0"/>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1578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215F8EE1-712B-F14E-8DD6-E9F2F64B02B7}" type="datetime1">
              <a:rPr lang="en-US" smtClean="0"/>
              <a:t>12/19/25</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DE0518C9-3CC7-7448-AD05-3CB269384775}" type="slidenum">
              <a:rPr lang="en-US" smtClean="0"/>
              <a:pPr>
                <a:defRPr/>
              </a:pPr>
              <a:t>‹#›</a:t>
            </a:fld>
            <a:endParaRPr lang="en-US" dirty="0"/>
          </a:p>
        </p:txBody>
      </p:sp>
    </p:spTree>
    <p:extLst>
      <p:ext uri="{BB962C8B-B14F-4D97-AF65-F5344CB8AC3E}">
        <p14:creationId xmlns:p14="http://schemas.microsoft.com/office/powerpoint/2010/main" val="6224055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09E44EFB-32C8-ED4F-8207-069D453FCAC1}" type="datetime1">
              <a:rPr lang="en-US" smtClean="0"/>
              <a:t>12/19/25</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DCA51CDF-7A81-424C-8057-ADAC32C3137F}" type="slidenum">
              <a:rPr lang="en-US" smtClean="0"/>
              <a:pPr>
                <a:defRPr/>
              </a:pPr>
              <a:t>‹#›</a:t>
            </a:fld>
            <a:endParaRPr lang="en-US" dirty="0"/>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4799016"/>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5D07997B-823A-0F42-93C0-0203FC6614CF}" type="datetime1">
              <a:rPr lang="en-US" smtClean="0"/>
              <a:t>12/19/25</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7914F4CA-897D-214A-8D71-10AFFED61C52}" type="slidenum">
              <a:rPr lang="en-US" smtClean="0"/>
              <a:pPr>
                <a:defRPr/>
              </a:pPr>
              <a:t>‹#›</a:t>
            </a:fld>
            <a:endParaRPr lang="en-US" dirty="0"/>
          </a:p>
        </p:txBody>
      </p:sp>
    </p:spTree>
    <p:extLst>
      <p:ext uri="{BB962C8B-B14F-4D97-AF65-F5344CB8AC3E}">
        <p14:creationId xmlns:p14="http://schemas.microsoft.com/office/powerpoint/2010/main" val="408467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D0F3BFB9-3C71-8547-B583-4931C7C62931}" type="datetime1">
              <a:rPr lang="en-US" smtClean="0"/>
              <a:t>12/19/25</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E495D0EA-5D5D-1948-9829-DE54142719A3}" type="slidenum">
              <a:rPr lang="en-US" smtClean="0"/>
              <a:pPr>
                <a:defRPr/>
              </a:pPr>
              <a:t>‹#›</a:t>
            </a:fld>
            <a:endParaRPr lang="en-US" dirty="0"/>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38398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36435D3B-10F0-7E42-A296-5AB82A4D51E5}" type="datetime1">
              <a:rPr lang="en-US" smtClean="0"/>
              <a:t>12/19/25</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EF8BE299-D423-6340-A0CA-3205E805061E}" type="slidenum">
              <a:rPr lang="en-US" smtClean="0"/>
              <a:pPr>
                <a:defRPr/>
              </a:pPr>
              <a:t>‹#›</a:t>
            </a:fld>
            <a:endParaRPr lang="en-US" dirty="0"/>
          </a:p>
        </p:txBody>
      </p:sp>
    </p:spTree>
    <p:extLst>
      <p:ext uri="{BB962C8B-B14F-4D97-AF65-F5344CB8AC3E}">
        <p14:creationId xmlns:p14="http://schemas.microsoft.com/office/powerpoint/2010/main" val="18709224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E3224BE-86EA-294C-B935-CA41D9CFDFB4}" type="datetime1">
              <a:rPr lang="en-US" smtClean="0"/>
              <a:t>12/19/25</a:t>
            </a:fld>
            <a:endParaRPr lang="en-US" dirty="0">
              <a:solidFill>
                <a:schemeClr val="bg2">
                  <a:shade val="50000"/>
                </a:schemeClr>
              </a:solidFill>
            </a:endParaRPr>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76D09E21-E3A5-A34B-9A90-0AE5B5561539}" type="slidenum">
              <a:rPr lang="en-US" smtClean="0"/>
              <a:pPr>
                <a:defRPr/>
              </a:pPr>
              <a:t>‹#›</a:t>
            </a:fld>
            <a:endParaRPr lang="en-US" dirty="0">
              <a:solidFill>
                <a:schemeClr val="bg2">
                  <a:shade val="50000"/>
                </a:schemeClr>
              </a:solidFill>
            </a:endParaRPr>
          </a:p>
        </p:txBody>
      </p:sp>
    </p:spTree>
    <p:extLst>
      <p:ext uri="{BB962C8B-B14F-4D97-AF65-F5344CB8AC3E}">
        <p14:creationId xmlns:p14="http://schemas.microsoft.com/office/powerpoint/2010/main" val="22068327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83EEAE1-BB48-3C48-81F7-D718DD4628BB}" type="datetime1">
              <a:rPr lang="en-US" smtClean="0"/>
              <a:t>12/19/25</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D9CFF0E2-C4D3-6049-ABA5-9FE4BC468A4B}" type="slidenum">
              <a:rPr lang="en-US" smtClean="0"/>
              <a:pPr>
                <a:defRPr/>
              </a:pPr>
              <a:t>‹#›</a:t>
            </a:fld>
            <a:endParaRPr lang="en-US" dirty="0"/>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9433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DF10948-D1CD-F046-BBC1-36E596C1DAC4}" type="datetime1">
              <a:rPr lang="en-US" smtClean="0"/>
              <a:t>12/19/25</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805BEA33-7D7F-DD40-B8BE-D194AD0272E9}" type="slidenum">
              <a:rPr lang="en-US" smtClean="0"/>
              <a:pPr>
                <a:defRPr/>
              </a:pPr>
              <a:t>‹#›</a:t>
            </a:fld>
            <a:endParaRPr lang="en-US" dirty="0"/>
          </a:p>
        </p:txBody>
      </p:sp>
    </p:spTree>
    <p:extLst>
      <p:ext uri="{BB962C8B-B14F-4D97-AF65-F5344CB8AC3E}">
        <p14:creationId xmlns:p14="http://schemas.microsoft.com/office/powerpoint/2010/main" val="30939148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9D57A378-867E-4D4F-B464-05E804B75F54}" type="datetime1">
              <a:rPr lang="en-US" smtClean="0"/>
              <a:t>12/19/25</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31952A26-B463-2948-AE0D-BDBE007892A0}" type="slidenum">
              <a:rPr lang="en-US" smtClean="0"/>
              <a:pPr>
                <a:defRPr/>
              </a:pPr>
              <a:t>‹#›</a:t>
            </a:fld>
            <a:endParaRPr lang="en-US" dirty="0"/>
          </a:p>
        </p:txBody>
      </p:sp>
    </p:spTree>
    <p:extLst>
      <p:ext uri="{BB962C8B-B14F-4D97-AF65-F5344CB8AC3E}">
        <p14:creationId xmlns:p14="http://schemas.microsoft.com/office/powerpoint/2010/main" val="24139350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1544B2C-BF5B-2246-A3F6-414423BD8CCA}" type="datetime1">
              <a:rPr lang="en-US" smtClean="0"/>
              <a:t>12/19/25</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DB926D39-B112-8545-A064-A5EB9DE8A934}" type="slidenum">
              <a:rPr lang="en-US" smtClean="0"/>
              <a:pPr>
                <a:defRPr/>
              </a:pPr>
              <a:t>‹#›</a:t>
            </a:fld>
            <a:endParaRPr lang="en-US" dirty="0"/>
          </a:p>
        </p:txBody>
      </p:sp>
    </p:spTree>
    <p:extLst>
      <p:ext uri="{BB962C8B-B14F-4D97-AF65-F5344CB8AC3E}">
        <p14:creationId xmlns:p14="http://schemas.microsoft.com/office/powerpoint/2010/main" val="33915228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9" name="Rectangle 8"/>
          <p:cNvSpPr/>
          <p:nvPr userDrawn="1"/>
        </p:nvSpPr>
        <p:spPr>
          <a:xfrm>
            <a:off x="1352552" y="0"/>
            <a:ext cx="10839449"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2400" dirty="0"/>
          </a:p>
        </p:txBody>
      </p:sp>
      <p:sp>
        <p:nvSpPr>
          <p:cNvPr id="10" name="Rectangle 9"/>
          <p:cNvSpPr/>
          <p:nvPr/>
        </p:nvSpPr>
        <p:spPr bwMode="invGray">
          <a:xfrm>
            <a:off x="1352551" y="0"/>
            <a:ext cx="97367"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2400" dirty="0"/>
          </a:p>
        </p:txBody>
      </p:sp>
      <p:sp>
        <p:nvSpPr>
          <p:cNvPr id="11" name="Picture Placeholder 7"/>
          <p:cNvSpPr>
            <a:spLocks noGrp="1"/>
          </p:cNvSpPr>
          <p:nvPr>
            <p:ph type="pic" sz="quarter" idx="15"/>
          </p:nvPr>
        </p:nvSpPr>
        <p:spPr>
          <a:xfrm>
            <a:off x="1450849" y="948268"/>
            <a:ext cx="1145596" cy="812798"/>
          </a:xfrm>
        </p:spPr>
        <p:txBody>
          <a:bodyPr>
            <a:normAutofit/>
          </a:bodyPr>
          <a:lstStyle>
            <a:lvl1pPr marL="82296" indent="0">
              <a:buNone/>
              <a:defRPr sz="1600"/>
            </a:lvl1pPr>
          </a:lstStyle>
          <a:p>
            <a:pPr lvl="0"/>
            <a:endParaRPr lang="en-US" noProof="0" dirty="0"/>
          </a:p>
        </p:txBody>
      </p:sp>
      <p:sp>
        <p:nvSpPr>
          <p:cNvPr id="18" name="Title 17"/>
          <p:cNvSpPr>
            <a:spLocks noGrp="1"/>
          </p:cNvSpPr>
          <p:nvPr>
            <p:ph type="title"/>
          </p:nvPr>
        </p:nvSpPr>
        <p:spPr>
          <a:xfrm>
            <a:off x="3318932" y="140231"/>
            <a:ext cx="8272047" cy="672571"/>
          </a:xfrm>
        </p:spPr>
        <p:txBody>
          <a:bodyPr vert="horz"/>
          <a:lstStyle>
            <a:lvl1pPr algn="ctr">
              <a:defRPr sz="3200"/>
            </a:lvl1pPr>
          </a:lstStyle>
          <a:p>
            <a:r>
              <a:rPr lang="en-US" dirty="0"/>
              <a:t>Click to edit Master title style</a:t>
            </a:r>
          </a:p>
        </p:txBody>
      </p:sp>
      <p:sp>
        <p:nvSpPr>
          <p:cNvPr id="19" name="Picture Placeholder 7"/>
          <p:cNvSpPr>
            <a:spLocks noGrp="1"/>
          </p:cNvSpPr>
          <p:nvPr>
            <p:ph type="pic" sz="quarter" idx="16"/>
          </p:nvPr>
        </p:nvSpPr>
        <p:spPr>
          <a:xfrm>
            <a:off x="1450849" y="1930399"/>
            <a:ext cx="1145596" cy="812798"/>
          </a:xfrm>
        </p:spPr>
        <p:txBody>
          <a:bodyPr>
            <a:normAutofit/>
          </a:bodyPr>
          <a:lstStyle>
            <a:lvl1pPr marL="82296" indent="0">
              <a:buNone/>
              <a:defRPr sz="1600"/>
            </a:lvl1pPr>
          </a:lstStyle>
          <a:p>
            <a:pPr lvl="0"/>
            <a:endParaRPr lang="en-US" noProof="0" dirty="0"/>
          </a:p>
        </p:txBody>
      </p:sp>
      <p:sp>
        <p:nvSpPr>
          <p:cNvPr id="20" name="Picture Placeholder 7"/>
          <p:cNvSpPr>
            <a:spLocks noGrp="1"/>
          </p:cNvSpPr>
          <p:nvPr>
            <p:ph type="pic" sz="quarter" idx="17"/>
          </p:nvPr>
        </p:nvSpPr>
        <p:spPr>
          <a:xfrm>
            <a:off x="1443623" y="2946401"/>
            <a:ext cx="1145596" cy="812798"/>
          </a:xfrm>
        </p:spPr>
        <p:txBody>
          <a:bodyPr>
            <a:normAutofit/>
          </a:bodyPr>
          <a:lstStyle>
            <a:lvl1pPr marL="82296" indent="0">
              <a:buNone/>
              <a:defRPr sz="1600"/>
            </a:lvl1pPr>
          </a:lstStyle>
          <a:p>
            <a:pPr lvl="0"/>
            <a:endParaRPr lang="en-US" noProof="0" dirty="0"/>
          </a:p>
        </p:txBody>
      </p:sp>
      <p:sp>
        <p:nvSpPr>
          <p:cNvPr id="21" name="Picture Placeholder 7"/>
          <p:cNvSpPr>
            <a:spLocks noGrp="1"/>
          </p:cNvSpPr>
          <p:nvPr>
            <p:ph type="pic" sz="quarter" idx="18"/>
          </p:nvPr>
        </p:nvSpPr>
        <p:spPr>
          <a:xfrm>
            <a:off x="1450849" y="3945468"/>
            <a:ext cx="1145596" cy="812798"/>
          </a:xfrm>
        </p:spPr>
        <p:txBody>
          <a:bodyPr>
            <a:normAutofit/>
          </a:bodyPr>
          <a:lstStyle>
            <a:lvl1pPr marL="82296" indent="0">
              <a:buNone/>
              <a:defRPr sz="1600"/>
            </a:lvl1pPr>
          </a:lstStyle>
          <a:p>
            <a:pPr lvl="0"/>
            <a:endParaRPr lang="en-US" noProof="0" dirty="0"/>
          </a:p>
        </p:txBody>
      </p:sp>
      <p:sp>
        <p:nvSpPr>
          <p:cNvPr id="22" name="Picture Placeholder 7"/>
          <p:cNvSpPr>
            <a:spLocks noGrp="1"/>
          </p:cNvSpPr>
          <p:nvPr>
            <p:ph type="pic" sz="quarter" idx="19"/>
          </p:nvPr>
        </p:nvSpPr>
        <p:spPr>
          <a:xfrm>
            <a:off x="1443623" y="4910668"/>
            <a:ext cx="1145596" cy="812798"/>
          </a:xfrm>
        </p:spPr>
        <p:txBody>
          <a:bodyPr>
            <a:normAutofit/>
          </a:bodyPr>
          <a:lstStyle>
            <a:lvl1pPr marL="82296" indent="0">
              <a:buNone/>
              <a:defRPr sz="1600"/>
            </a:lvl1pPr>
          </a:lstStyle>
          <a:p>
            <a:pPr lvl="0"/>
            <a:endParaRPr lang="en-US" noProof="0" dirty="0"/>
          </a:p>
        </p:txBody>
      </p:sp>
      <p:sp>
        <p:nvSpPr>
          <p:cNvPr id="23" name="Picture Placeholder 7"/>
          <p:cNvSpPr>
            <a:spLocks noGrp="1"/>
          </p:cNvSpPr>
          <p:nvPr>
            <p:ph type="pic" sz="quarter" idx="20"/>
          </p:nvPr>
        </p:nvSpPr>
        <p:spPr>
          <a:xfrm>
            <a:off x="1450849" y="5899151"/>
            <a:ext cx="1145596" cy="812798"/>
          </a:xfrm>
        </p:spPr>
        <p:txBody>
          <a:bodyPr>
            <a:normAutofit/>
          </a:bodyPr>
          <a:lstStyle>
            <a:lvl1pPr marL="82296" indent="0">
              <a:buNone/>
              <a:defRPr sz="1600"/>
            </a:lvl1pPr>
          </a:lstStyle>
          <a:p>
            <a:pPr lvl="0"/>
            <a:endParaRPr lang="en-US" noProof="0" dirty="0"/>
          </a:p>
        </p:txBody>
      </p:sp>
    </p:spTree>
    <p:extLst>
      <p:ext uri="{BB962C8B-B14F-4D97-AF65-F5344CB8AC3E}">
        <p14:creationId xmlns:p14="http://schemas.microsoft.com/office/powerpoint/2010/main" val="12191439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4A5EABF-CD78-1246-9EA5-277A8116AB8E}" type="datetime1">
              <a:rPr lang="en-US" smtClean="0"/>
              <a:t>12/19/25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935586331"/>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sz="240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005C793-267A-6E41-9F69-D6EF95EDD26C}" type="datetime1">
              <a:rPr lang="en-US" smtClean="0"/>
              <a:t>12/19/25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194394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DEACA66B-3EB4-CF41-9B4D-1F3D63B56E31}" type="datetime1">
              <a:rPr lang="en-US" smtClean="0"/>
              <a:t>12/19/25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268748347"/>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7E314-2CCE-5241-B99B-917A2741FD99}" type="datetime1">
              <a:rPr lang="en-US" smtClean="0"/>
              <a:t>12/19/25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15702512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0BEC3B-A614-2840-A122-537DB1BA03E3}" type="datetime1">
              <a:rPr lang="en-US" smtClean="0"/>
              <a:t>12/19/25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2212954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B080BB-088C-B144-9B18-BA77B5A16AFD}" type="datetime1">
              <a:rPr lang="en-US" smtClean="0"/>
              <a:t>12/19/25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30003846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60DA43-2A36-6847-9E02-B1038F7643C8}" type="datetime1">
              <a:rPr lang="en-US" smtClean="0"/>
              <a:t>12/19/25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730468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1AA516F-A1A8-E249-8C4F-EAECF2E98406}" type="datetime1">
              <a:rPr lang="en-US" smtClean="0"/>
              <a:t>12/19/25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151644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8390D76-D0A6-2442-82E7-6E3B66CBE1DB}" type="datetime1">
              <a:rPr lang="en-US" smtClean="0"/>
              <a:t>12/19/25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710907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12B847-1BDD-3F43-A3FC-557C83BACA89}" type="datetime1">
              <a:rPr lang="en-US" smtClean="0"/>
              <a:t>12/19/25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316448918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BCA197-E6FC-444B-934F-A7AA1C146E21}" type="datetime1">
              <a:rPr lang="en-US" smtClean="0"/>
              <a:t>12/19/25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3926807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BF95BF-52DD-7040-BBE0-65305A53ED8F}"/>
              </a:ext>
            </a:extLst>
          </p:cNvPr>
          <p:cNvSpPr/>
          <p:nvPr/>
        </p:nvSpPr>
        <p:spPr>
          <a:xfrm>
            <a:off x="0" y="220663"/>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2" name="Title Placeholder 1">
            <a:extLst>
              <a:ext uri="{FF2B5EF4-FFF2-40B4-BE49-F238E27FC236}">
                <a16:creationId xmlns:a16="http://schemas.microsoft.com/office/drawing/2014/main" id="{154CC057-C9FB-8249-BE44-B93F2594C766}"/>
              </a:ext>
            </a:extLst>
          </p:cNvPr>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8" name="Text Placeholder 2">
            <a:extLst>
              <a:ext uri="{FF2B5EF4-FFF2-40B4-BE49-F238E27FC236}">
                <a16:creationId xmlns:a16="http://schemas.microsoft.com/office/drawing/2014/main" id="{9E46DAB4-0618-EC44-969F-CBC328E9929F}"/>
              </a:ext>
            </a:extLst>
          </p:cNvPr>
          <p:cNvSpPr>
            <a:spLocks noGrp="1"/>
          </p:cNvSpPr>
          <p:nvPr>
            <p:ph type="body" idx="1"/>
          </p:nvPr>
        </p:nvSpPr>
        <p:spPr bwMode="auto">
          <a:xfrm>
            <a:off x="609600" y="1600200"/>
            <a:ext cx="10972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a:extLst>
              <a:ext uri="{FF2B5EF4-FFF2-40B4-BE49-F238E27FC236}">
                <a16:creationId xmlns:a16="http://schemas.microsoft.com/office/drawing/2014/main" id="{4B54919F-5409-6E45-B80E-25314159942D}"/>
              </a:ext>
            </a:extLst>
          </p:cNvPr>
          <p:cNvSpPr/>
          <p:nvPr/>
        </p:nvSpPr>
        <p:spPr>
          <a:xfrm>
            <a:off x="0" y="1"/>
            <a:ext cx="12192000"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4" name="Date Placeholder 3">
            <a:extLst>
              <a:ext uri="{FF2B5EF4-FFF2-40B4-BE49-F238E27FC236}">
                <a16:creationId xmlns:a16="http://schemas.microsoft.com/office/drawing/2014/main" id="{3541D3B3-9536-7B41-8EAB-F406F1CD9012}"/>
              </a:ext>
            </a:extLst>
          </p:cNvPr>
          <p:cNvSpPr>
            <a:spLocks noGrp="1"/>
          </p:cNvSpPr>
          <p:nvPr>
            <p:ph type="dt" sz="half" idx="2"/>
          </p:nvPr>
        </p:nvSpPr>
        <p:spPr>
          <a:xfrm>
            <a:off x="609600" y="19051"/>
            <a:ext cx="3860800" cy="328613"/>
          </a:xfrm>
          <a:prstGeom prst="rect">
            <a:avLst/>
          </a:prstGeom>
        </p:spPr>
        <p:txBody>
          <a:bodyPr vert="horz" lIns="91440" tIns="45720" rIns="91440" bIns="45720" rtlCol="0" anchor="ctr"/>
          <a:lstStyle>
            <a:lvl1pPr algn="l">
              <a:defRPr sz="1200">
                <a:solidFill>
                  <a:srgbClr val="FFFFFF"/>
                </a:solidFill>
                <a:latin typeface="Book Antiqua" charset="0"/>
                <a:ea typeface="ＭＳ Ｐゴシック" charset="0"/>
                <a:cs typeface="ＭＳ Ｐゴシック" charset="0"/>
              </a:defRPr>
            </a:lvl1pPr>
          </a:lstStyle>
          <a:p>
            <a:pPr>
              <a:defRPr/>
            </a:pPr>
            <a:fld id="{094B7A2A-CB4D-894C-BC5F-BFF9C0AA0124}" type="datetime1">
              <a:rPr lang="en-US" smtClean="0"/>
              <a:t>12/19/25</a:t>
            </a:fld>
            <a:endParaRPr lang="en-US" dirty="0"/>
          </a:p>
        </p:txBody>
      </p:sp>
      <p:sp>
        <p:nvSpPr>
          <p:cNvPr id="5" name="Footer Placeholder 4">
            <a:extLst>
              <a:ext uri="{FF2B5EF4-FFF2-40B4-BE49-F238E27FC236}">
                <a16:creationId xmlns:a16="http://schemas.microsoft.com/office/drawing/2014/main" id="{96BE581D-B9A6-D64C-ABC9-74DDA3CD25AC}"/>
              </a:ext>
            </a:extLst>
          </p:cNvPr>
          <p:cNvSpPr>
            <a:spLocks noGrp="1"/>
          </p:cNvSpPr>
          <p:nvPr>
            <p:ph type="ftr" sz="quarter" idx="3"/>
          </p:nvPr>
        </p:nvSpPr>
        <p:spPr>
          <a:xfrm>
            <a:off x="4572000" y="19051"/>
            <a:ext cx="5486400" cy="328613"/>
          </a:xfrm>
          <a:prstGeom prst="rect">
            <a:avLst/>
          </a:prstGeom>
        </p:spPr>
        <p:txBody>
          <a:bodyPr vert="horz" lIns="91440" tIns="45720" rIns="91440" bIns="45720" rtlCol="0" anchor="ctr"/>
          <a:lstStyle>
            <a:lvl1pPr algn="r">
              <a:defRPr sz="1200">
                <a:solidFill>
                  <a:srgbClr val="FFFFFF"/>
                </a:solidFill>
                <a:latin typeface="Book Antiqua"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E2DD885B-B15E-0B46-9712-27FA12704D23}"/>
              </a:ext>
            </a:extLst>
          </p:cNvPr>
          <p:cNvSpPr>
            <a:spLocks noGrp="1"/>
          </p:cNvSpPr>
          <p:nvPr>
            <p:ph type="sldNum" sz="quarter" idx="4"/>
          </p:nvPr>
        </p:nvSpPr>
        <p:spPr>
          <a:xfrm>
            <a:off x="10160000" y="19051"/>
            <a:ext cx="1422400" cy="328613"/>
          </a:xfrm>
          <a:prstGeom prst="rect">
            <a:avLst/>
          </a:prstGeom>
        </p:spPr>
        <p:txBody>
          <a:bodyPr vert="horz" wrap="square" lIns="91440" tIns="45720" rIns="91440" bIns="45720" numCol="1" anchor="ctr" anchorCtr="0" compatLnSpc="1">
            <a:prstTxWarp prst="textNoShape">
              <a:avLst/>
            </a:prstTxWarp>
          </a:bodyPr>
          <a:lstStyle>
            <a:lvl1pPr>
              <a:defRPr sz="1400" b="1" smtClean="0">
                <a:solidFill>
                  <a:srgbClr val="FFFFFF"/>
                </a:solidFill>
              </a:defRPr>
            </a:lvl1pPr>
          </a:lstStyle>
          <a:p>
            <a:pPr>
              <a:defRPr/>
            </a:pPr>
            <a:fld id="{75740777-AA5D-AC4C-B229-82B7C56FA24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65" r:id="rId1"/>
    <p:sldLayoutId id="2147483858" r:id="rId2"/>
    <p:sldLayoutId id="2147483866" r:id="rId3"/>
    <p:sldLayoutId id="2147483859" r:id="rId4"/>
    <p:sldLayoutId id="2147483867" r:id="rId5"/>
    <p:sldLayoutId id="2147483860" r:id="rId6"/>
    <p:sldLayoutId id="2147483861" r:id="rId7"/>
    <p:sldLayoutId id="2147483868" r:id="rId8"/>
    <p:sldLayoutId id="2147483862" r:id="rId9"/>
    <p:sldLayoutId id="2147483863" r:id="rId10"/>
    <p:sldLayoutId id="2147483864" r:id="rId11"/>
  </p:sldLayoutIdLst>
  <p:hf hdr="0" ftr="0" dt="0"/>
  <p:txStyles>
    <p:titleStyle>
      <a:lvl1pPr algn="l" rtl="0" eaLnBrk="0" fontAlgn="base" hangingPunct="0">
        <a:spcBef>
          <a:spcPct val="0"/>
        </a:spcBef>
        <a:spcAft>
          <a:spcPct val="0"/>
        </a:spcAft>
        <a:defRPr sz="4000" kern="1200" spc="-1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Arial" charset="0"/>
          <a:ea typeface="ＭＳ Ｐゴシック" charset="0"/>
          <a:cs typeface="ＭＳ Ｐゴシック" charset="0"/>
        </a:defRPr>
      </a:lvl6pPr>
      <a:lvl7pPr marL="914400" algn="l" rtl="0" fontAlgn="base">
        <a:spcBef>
          <a:spcPct val="0"/>
        </a:spcBef>
        <a:spcAft>
          <a:spcPct val="0"/>
        </a:spcAft>
        <a:defRPr sz="4000">
          <a:solidFill>
            <a:schemeClr val="tx2"/>
          </a:solidFill>
          <a:latin typeface="Arial" charset="0"/>
          <a:ea typeface="ＭＳ Ｐゴシック" charset="0"/>
          <a:cs typeface="ＭＳ Ｐゴシック" charset="0"/>
        </a:defRPr>
      </a:lvl7pPr>
      <a:lvl8pPr marL="1371600" algn="l" rtl="0" fontAlgn="base">
        <a:spcBef>
          <a:spcPct val="0"/>
        </a:spcBef>
        <a:spcAft>
          <a:spcPct val="0"/>
        </a:spcAft>
        <a:defRPr sz="4000">
          <a:solidFill>
            <a:schemeClr val="tx2"/>
          </a:solidFill>
          <a:latin typeface="Arial" charset="0"/>
          <a:ea typeface="ＭＳ Ｐゴシック" charset="0"/>
          <a:cs typeface="ＭＳ Ｐゴシック" charset="0"/>
        </a:defRPr>
      </a:lvl8pPr>
      <a:lvl9pPr marL="1828800" algn="l" rtl="0" fontAlgn="base">
        <a:spcBef>
          <a:spcPct val="0"/>
        </a:spcBef>
        <a:spcAft>
          <a:spcPct val="0"/>
        </a:spcAft>
        <a:defRPr sz="4000">
          <a:solidFill>
            <a:schemeClr val="tx2"/>
          </a:solidFill>
          <a:latin typeface="Arial" charset="0"/>
          <a:ea typeface="ＭＳ Ｐゴシック" charset="0"/>
          <a:cs typeface="ＭＳ Ｐゴシック" charset="0"/>
        </a:defRPr>
      </a:lvl9pPr>
    </p:titleStyle>
    <p:bodyStyle>
      <a:lvl1pPr marL="182563" indent="-182563" algn="l" rtl="0" eaLnBrk="0" fontAlgn="base" hangingPunct="0">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ＭＳ Ｐゴシック" charset="0"/>
          <a:cs typeface="ＭＳ Ｐゴシック" charset="0"/>
        </a:defRPr>
      </a:lvl1pPr>
      <a:lvl2pPr marL="457200" indent="-182563" algn="l" rtl="0" eaLnBrk="0" fontAlgn="base" hangingPunct="0">
        <a:spcBef>
          <a:spcPct val="20000"/>
        </a:spcBef>
        <a:spcAft>
          <a:spcPct val="0"/>
        </a:spcAft>
        <a:buClr>
          <a:schemeClr val="accent1"/>
        </a:buClr>
        <a:buSzPct val="85000"/>
        <a:buFont typeface="Wingdings" pitchFamily="2" charset="2"/>
        <a:buChar char="Ø"/>
        <a:defRPr sz="2000" kern="1200">
          <a:solidFill>
            <a:schemeClr val="tx1"/>
          </a:solidFill>
          <a:latin typeface="+mn-lt"/>
          <a:ea typeface="ＭＳ Ｐゴシック" charset="0"/>
          <a:cs typeface="+mn-cs"/>
        </a:defRPr>
      </a:lvl2pPr>
      <a:lvl3pPr marL="730250" indent="-182563"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ＭＳ Ｐゴシック" charset="0"/>
          <a:cs typeface="+mn-cs"/>
        </a:defRPr>
      </a:lvl3pPr>
      <a:lvl4pPr marL="1004888" indent="-182563" algn="l" rtl="0" eaLnBrk="0" fontAlgn="base" hangingPunct="0">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ＭＳ Ｐゴシック" charset="0"/>
          <a:cs typeface="+mn-cs"/>
        </a:defRPr>
      </a:lvl4pPr>
      <a:lvl5pPr marL="1187450" indent="-136525" algn="l" rtl="0" eaLnBrk="0" fontAlgn="base" hangingPunct="0">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ＭＳ Ｐゴシック" charset="0"/>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BE585EF-E5A8-2045-878C-AE02C74B24DF}" type="datetime1">
              <a:rPr lang="en-US" smtClean="0"/>
              <a:t>12/19/25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36471AC-7F5C-CF4F-A0B6-967C6D6622C3}" type="slidenum">
              <a:rPr lang="en-US" smtClean="0"/>
              <a:t>‹#›</a:t>
            </a:fld>
            <a:endParaRPr lang="en-US"/>
          </a:p>
        </p:txBody>
      </p:sp>
    </p:spTree>
    <p:extLst>
      <p:ext uri="{BB962C8B-B14F-4D97-AF65-F5344CB8AC3E}">
        <p14:creationId xmlns:p14="http://schemas.microsoft.com/office/powerpoint/2010/main" val="1093539802"/>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pPr>
              <a:defRPr/>
            </a:pPr>
            <a:fld id="{9EE48E29-7558-984E-B389-7F043A0CB0B6}" type="datetime1">
              <a:rPr lang="en-US" smtClean="0"/>
              <a:t>12/19/25</a:t>
            </a:fld>
            <a:endParaRPr lang="en-US" dirty="0">
              <a:solidFill>
                <a:schemeClr val="bg2">
                  <a:shade val="50000"/>
                </a:schemeClr>
              </a:solidFill>
            </a:endParaRPr>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pPr>
              <a:defRPr/>
            </a:pPr>
            <a:endParaRPr lang="en-US" dirty="0"/>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pPr>
              <a:defRPr/>
            </a:pPr>
            <a:fld id="{76D09E21-E3A5-A34B-9A90-0AE5B5561539}" type="slidenum">
              <a:rPr lang="en-US" smtClean="0"/>
              <a:pPr>
                <a:defRPr/>
              </a:pPr>
              <a:t>‹#›</a:t>
            </a:fld>
            <a:endParaRPr lang="en-US" dirty="0">
              <a:solidFill>
                <a:schemeClr val="bg2">
                  <a:shade val="50000"/>
                </a:schemeClr>
              </a:solidFill>
            </a:endParaRPr>
          </a:p>
        </p:txBody>
      </p:sp>
    </p:spTree>
    <p:extLst>
      <p:ext uri="{BB962C8B-B14F-4D97-AF65-F5344CB8AC3E}">
        <p14:creationId xmlns:p14="http://schemas.microsoft.com/office/powerpoint/2010/main" val="4278545150"/>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B16AE782-E801-E448-B580-C305F665286F}" type="datetime1">
              <a:rPr lang="en-US" smtClean="0"/>
              <a:t>12/19/25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58752030"/>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Lst>
  <p:hf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openclipart.org/detail/191963/handicapped-accessible-sing"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creativecommons.org/licenses/by/3.0/" TargetMode="External"/><Relationship Id="rId4" Type="http://schemas.openxmlformats.org/officeDocument/2006/relationships/hyperlink" Target="https://www.choosehelp.com/topics/alcoholism/am-i-an-alcoholic"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jpeg"/><Relationship Id="rId7" Type="http://schemas.openxmlformats.org/officeDocument/2006/relationships/image" Target="../media/image26.png"/><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 Id="rId5" Type="http://schemas.openxmlformats.org/officeDocument/2006/relationships/image" Target="../media/image53.jpeg"/><Relationship Id="rId4" Type="http://schemas.openxmlformats.org/officeDocument/2006/relationships/image" Target="../media/image52.jpeg"/></Relationships>
</file>

<file path=ppt/slides/_rels/slide3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hyperlink" Target="https://creativecommons.org/licenses/by/3.0/" TargetMode="External"/><Relationship Id="rId5" Type="http://schemas.openxmlformats.org/officeDocument/2006/relationships/hyperlink" Target="https://ecampusontario.pressbooks.pub/incd2020exhibit/chapter/oer-design/" TargetMode="External"/><Relationship Id="rId4" Type="http://schemas.openxmlformats.org/officeDocument/2006/relationships/image" Target="../media/image56.jpg"/></Relationships>
</file>

<file path=ppt/slides/_rels/slide37.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2.jpeg"/><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2.xml"/><Relationship Id="rId4" Type="http://schemas.openxmlformats.org/officeDocument/2006/relationships/image" Target="../media/image71.jpeg"/></Relationships>
</file>

<file path=ppt/slides/_rels/slide48.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2.xml"/><Relationship Id="rId4" Type="http://schemas.openxmlformats.org/officeDocument/2006/relationships/image" Target="../media/image84.jpeg"/></Relationships>
</file>

<file path=ppt/slides/_rels/slide58.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EE3BF6E-8403-994A-A732-A43CB0A3C60F}"/>
              </a:ext>
            </a:extLst>
          </p:cNvPr>
          <p:cNvSpPr>
            <a:spLocks noGrp="1" noChangeArrowheads="1"/>
          </p:cNvSpPr>
          <p:nvPr>
            <p:ph type="ctrTitle"/>
          </p:nvPr>
        </p:nvSpPr>
        <p:spPr>
          <a:xfrm>
            <a:off x="2057400" y="5562600"/>
            <a:ext cx="7772400" cy="1143000"/>
          </a:xfrm>
        </p:spPr>
        <p:txBody>
          <a:bodyPr/>
          <a:lstStyle/>
          <a:p>
            <a:pPr eaLnBrk="1" fontAlgn="auto" hangingPunct="1">
              <a:spcAft>
                <a:spcPts val="0"/>
              </a:spcAft>
              <a:defRPr/>
            </a:pPr>
            <a:br>
              <a:rPr lang="en-US" sz="2800" cap="none" dirty="0">
                <a:ea typeface="+mj-ea"/>
                <a:cs typeface="+mj-cs"/>
              </a:rPr>
            </a:br>
            <a:r>
              <a:rPr lang="en-US" sz="2800" b="1" cap="none" dirty="0">
                <a:solidFill>
                  <a:schemeClr val="tx1"/>
                </a:solidFill>
                <a:ea typeface="+mj-ea"/>
                <a:cs typeface="+mj-cs"/>
              </a:rPr>
              <a:t>David Hoff</a:t>
            </a:r>
            <a:br>
              <a:rPr lang="en-US" sz="2800" b="1" cap="none" dirty="0">
                <a:solidFill>
                  <a:schemeClr val="tx1"/>
                </a:solidFill>
                <a:ea typeface="+mj-ea"/>
                <a:cs typeface="+mj-cs"/>
              </a:rPr>
            </a:br>
            <a:r>
              <a:rPr lang="en-US" sz="2400" cap="none" dirty="0">
                <a:solidFill>
                  <a:schemeClr val="tx1"/>
                </a:solidFill>
                <a:ea typeface="+mj-ea"/>
                <a:cs typeface="+mj-cs"/>
              </a:rPr>
              <a:t>Program Director</a:t>
            </a:r>
            <a:br>
              <a:rPr lang="en-US" sz="2400" cap="none" dirty="0">
                <a:solidFill>
                  <a:schemeClr val="tx1"/>
                </a:solidFill>
                <a:ea typeface="+mj-ea"/>
                <a:cs typeface="+mj-cs"/>
              </a:rPr>
            </a:br>
            <a:r>
              <a:rPr lang="en-US" sz="2400" cap="none" dirty="0">
                <a:solidFill>
                  <a:schemeClr val="tx1"/>
                </a:solidFill>
                <a:ea typeface="+mj-ea"/>
                <a:cs typeface="+mj-cs"/>
              </a:rPr>
              <a:t>Institute for Community Inclusion</a:t>
            </a:r>
            <a:br>
              <a:rPr lang="en-US" sz="2400" cap="none" dirty="0">
                <a:solidFill>
                  <a:schemeClr val="tx1"/>
                </a:solidFill>
                <a:ea typeface="+mj-ea"/>
                <a:cs typeface="+mj-cs"/>
              </a:rPr>
            </a:br>
            <a:r>
              <a:rPr lang="en-US" sz="2400" cap="none" dirty="0">
                <a:solidFill>
                  <a:schemeClr val="tx1"/>
                </a:solidFill>
                <a:ea typeface="+mj-ea"/>
                <a:cs typeface="+mj-cs"/>
              </a:rPr>
              <a:t>University of Massachusetts, Boston</a:t>
            </a:r>
            <a:br>
              <a:rPr lang="en-US" sz="2400" cap="none" dirty="0">
                <a:solidFill>
                  <a:schemeClr val="tx1"/>
                </a:solidFill>
                <a:ea typeface="+mj-ea"/>
                <a:cs typeface="+mj-cs"/>
              </a:rPr>
            </a:br>
            <a:r>
              <a:rPr lang="en-US" sz="2400" cap="none" dirty="0" err="1">
                <a:solidFill>
                  <a:schemeClr val="tx1"/>
                </a:solidFill>
                <a:ea typeface="+mj-ea"/>
                <a:cs typeface="+mj-cs"/>
              </a:rPr>
              <a:t>www.communityinclusion.org</a:t>
            </a:r>
            <a:br>
              <a:rPr lang="en-US" sz="2400" cap="none" dirty="0">
                <a:solidFill>
                  <a:schemeClr val="tx1"/>
                </a:solidFill>
                <a:ea typeface="+mj-ea"/>
                <a:cs typeface="+mj-cs"/>
              </a:rPr>
            </a:br>
            <a:br>
              <a:rPr lang="en-US" sz="2800" cap="none" dirty="0">
                <a:solidFill>
                  <a:schemeClr val="tx1"/>
                </a:solidFill>
                <a:ea typeface="+mj-ea"/>
                <a:cs typeface="+mj-cs"/>
              </a:rPr>
            </a:br>
            <a:r>
              <a:rPr lang="en-US" sz="2400" cap="none" dirty="0">
                <a:ea typeface="+mj-ea"/>
                <a:cs typeface="+mj-cs"/>
              </a:rPr>
              <a:t>Voice:</a:t>
            </a:r>
            <a:r>
              <a:rPr lang="en-US" sz="2400" cap="none" dirty="0">
                <a:solidFill>
                  <a:schemeClr val="tx1"/>
                </a:solidFill>
                <a:ea typeface="+mj-ea"/>
                <a:cs typeface="+mj-cs"/>
              </a:rPr>
              <a:t> 	617-287-4308</a:t>
            </a:r>
            <a:br>
              <a:rPr lang="en-US" sz="2400" cap="none" dirty="0">
                <a:solidFill>
                  <a:schemeClr val="tx1"/>
                </a:solidFill>
                <a:ea typeface="+mj-ea"/>
                <a:cs typeface="+mj-cs"/>
              </a:rPr>
            </a:br>
            <a:br>
              <a:rPr lang="en-US" sz="1200" cap="none" dirty="0">
                <a:solidFill>
                  <a:schemeClr val="tx1"/>
                </a:solidFill>
                <a:ea typeface="+mj-ea"/>
                <a:cs typeface="+mj-cs"/>
              </a:rPr>
            </a:br>
            <a:r>
              <a:rPr lang="en-US" sz="2400" cap="none" dirty="0">
                <a:ea typeface="+mj-ea"/>
                <a:cs typeface="+mj-cs"/>
              </a:rPr>
              <a:t>E-mail:</a:t>
            </a:r>
            <a:r>
              <a:rPr lang="en-US" sz="2400" cap="none" dirty="0">
                <a:solidFill>
                  <a:schemeClr val="tx1"/>
                </a:solidFill>
                <a:ea typeface="+mj-ea"/>
                <a:cs typeface="+mj-cs"/>
              </a:rPr>
              <a:t> </a:t>
            </a:r>
            <a:r>
              <a:rPr lang="en-US" sz="2400" cap="none" dirty="0" err="1">
                <a:solidFill>
                  <a:schemeClr val="tx1"/>
                </a:solidFill>
                <a:ea typeface="+mj-ea"/>
                <a:cs typeface="+mj-cs"/>
              </a:rPr>
              <a:t>david.hoff@umb.edu</a:t>
            </a:r>
            <a:r>
              <a:rPr lang="en-US" sz="2400" cap="none" dirty="0">
                <a:solidFill>
                  <a:schemeClr val="tx1"/>
                </a:solidFill>
                <a:ea typeface="+mj-ea"/>
                <a:cs typeface="+mj-cs"/>
              </a:rPr>
              <a:t>	</a:t>
            </a:r>
            <a:endParaRPr lang="en-US" cap="none" dirty="0">
              <a:ea typeface="+mj-ea"/>
              <a:cs typeface="+mj-cs"/>
            </a:endParaRPr>
          </a:p>
        </p:txBody>
      </p:sp>
      <p:sp>
        <p:nvSpPr>
          <p:cNvPr id="15363" name="Slide Number Placeholder 1">
            <a:extLst>
              <a:ext uri="{FF2B5EF4-FFF2-40B4-BE49-F238E27FC236}">
                <a16:creationId xmlns:a16="http://schemas.microsoft.com/office/drawing/2014/main" id="{29AF6206-E8DA-FA4D-BAFF-B82E1BBE55D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D13CD3AA-43CE-6C47-8EC8-265ED149D4D2}" type="slidenum">
              <a:rPr lang="en-US" altLang="en-US" sz="1400">
                <a:solidFill>
                  <a:srgbClr val="FFFFFF"/>
                </a:solidFill>
              </a:rPr>
              <a:pPr/>
              <a:t>1</a:t>
            </a:fld>
            <a:endParaRPr lang="en-US" altLang="en-US" sz="1400">
              <a:solidFill>
                <a:srgbClr val="FFFFFF"/>
              </a:solidFill>
            </a:endParaRPr>
          </a:p>
        </p:txBody>
      </p:sp>
      <p:pic>
        <p:nvPicPr>
          <p:cNvPr id="15364" name="Picture 2">
            <a:extLst>
              <a:ext uri="{FF2B5EF4-FFF2-40B4-BE49-F238E27FC236}">
                <a16:creationId xmlns:a16="http://schemas.microsoft.com/office/drawing/2014/main" id="{128EB381-3A76-7345-A88A-AD849C71D53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483350" y="5562600"/>
            <a:ext cx="372745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82504803-4F11-9D49-7A00-F3668018D72B}"/>
              </a:ext>
            </a:extLst>
          </p:cNvPr>
          <p:cNvSpPr/>
          <p:nvPr/>
        </p:nvSpPr>
        <p:spPr>
          <a:xfrm>
            <a:off x="76200" y="914400"/>
            <a:ext cx="12222604" cy="1938992"/>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Municipal Government:</a:t>
            </a:r>
            <a:br>
              <a:rPr lang="en-US" sz="4000" b="0" cap="none" spc="0" dirty="0">
                <a:ln w="0"/>
                <a:solidFill>
                  <a:schemeClr val="tx1"/>
                </a:solidFill>
                <a:effectLst>
                  <a:outerShdw blurRad="38100" dist="19050" dir="2700000" algn="tl" rotWithShape="0">
                    <a:schemeClr val="dk1">
                      <a:alpha val="40000"/>
                    </a:schemeClr>
                  </a:outerShdw>
                </a:effectLst>
              </a:rPr>
            </a:br>
            <a:r>
              <a:rPr lang="en-US" sz="4000" b="0" cap="none" spc="0" dirty="0">
                <a:ln w="0"/>
                <a:solidFill>
                  <a:schemeClr val="tx1"/>
                </a:solidFill>
                <a:effectLst>
                  <a:outerShdw blurRad="38100" dist="19050" dir="2700000" algn="tl" rotWithShape="0">
                    <a:schemeClr val="dk1">
                      <a:alpha val="40000"/>
                    </a:schemeClr>
                  </a:outerShdw>
                </a:effectLst>
              </a:rPr>
              <a:t>Overview of Accessibility, ADA, and Program/Service Access</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8FFE2F-4434-C80D-4088-2A5E7262FC78}"/>
              </a:ext>
            </a:extLst>
          </p:cNvPr>
          <p:cNvSpPr>
            <a:spLocks noGrp="1"/>
          </p:cNvSpPr>
          <p:nvPr>
            <p:ph type="sldNum" sz="quarter" idx="12"/>
          </p:nvPr>
        </p:nvSpPr>
        <p:spPr/>
        <p:txBody>
          <a:bodyPr/>
          <a:lstStyle/>
          <a:p>
            <a:pPr>
              <a:defRPr/>
            </a:pPr>
            <a:fld id="{6DFFECAE-5558-FC4F-A5D5-814DD6134961}" type="slidenum">
              <a:rPr lang="en-US" altLang="en-US" smtClean="0"/>
              <a:pPr>
                <a:defRPr/>
              </a:pPr>
              <a:t>2</a:t>
            </a:fld>
            <a:endParaRPr lang="en-US" altLang="en-US"/>
          </a:p>
        </p:txBody>
      </p:sp>
      <p:pic>
        <p:nvPicPr>
          <p:cNvPr id="6" name="Picture 5">
            <a:extLst>
              <a:ext uri="{FF2B5EF4-FFF2-40B4-BE49-F238E27FC236}">
                <a16:creationId xmlns:a16="http://schemas.microsoft.com/office/drawing/2014/main" id="{EF55FB19-8EB9-C399-97DF-28103CFEB28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384300" y="762000"/>
            <a:ext cx="9423400" cy="6195886"/>
          </a:xfrm>
          <a:prstGeom prst="rect">
            <a:avLst/>
          </a:prstGeom>
        </p:spPr>
      </p:pic>
      <p:sp>
        <p:nvSpPr>
          <p:cNvPr id="7" name="Title 1">
            <a:extLst>
              <a:ext uri="{FF2B5EF4-FFF2-40B4-BE49-F238E27FC236}">
                <a16:creationId xmlns:a16="http://schemas.microsoft.com/office/drawing/2014/main" id="{A0555F36-88AC-DECA-EFF5-367CBCEDD9B8}"/>
              </a:ext>
            </a:extLst>
          </p:cNvPr>
          <p:cNvSpPr txBox="1">
            <a:spLocks/>
          </p:cNvSpPr>
          <p:nvPr/>
        </p:nvSpPr>
        <p:spPr>
          <a:xfrm>
            <a:off x="381000" y="892215"/>
            <a:ext cx="10972800" cy="990600"/>
          </a:xfrm>
          <a:prstGeom prst="rect">
            <a:avLst/>
          </a:prstGeom>
        </p:spPr>
        <p:txBody>
          <a:bodyPr/>
          <a:lstStyle>
            <a:lvl1pPr algn="l" rtl="0" eaLnBrk="0" fontAlgn="base" hangingPunct="0">
              <a:spcBef>
                <a:spcPct val="0"/>
              </a:spcBef>
              <a:spcAft>
                <a:spcPct val="0"/>
              </a:spcAft>
              <a:defRPr sz="4000" kern="1200" spc="-1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Arial" charset="0"/>
                <a:ea typeface="ＭＳ Ｐゴシック" charset="0"/>
                <a:cs typeface="ＭＳ Ｐゴシック" charset="0"/>
              </a:defRPr>
            </a:lvl6pPr>
            <a:lvl7pPr marL="914400" algn="l" rtl="0" fontAlgn="base">
              <a:spcBef>
                <a:spcPct val="0"/>
              </a:spcBef>
              <a:spcAft>
                <a:spcPct val="0"/>
              </a:spcAft>
              <a:defRPr sz="4000">
                <a:solidFill>
                  <a:schemeClr val="tx2"/>
                </a:solidFill>
                <a:latin typeface="Arial" charset="0"/>
                <a:ea typeface="ＭＳ Ｐゴシック" charset="0"/>
                <a:cs typeface="ＭＳ Ｐゴシック" charset="0"/>
              </a:defRPr>
            </a:lvl7pPr>
            <a:lvl8pPr marL="1371600" algn="l" rtl="0" fontAlgn="base">
              <a:spcBef>
                <a:spcPct val="0"/>
              </a:spcBef>
              <a:spcAft>
                <a:spcPct val="0"/>
              </a:spcAft>
              <a:defRPr sz="4000">
                <a:solidFill>
                  <a:schemeClr val="tx2"/>
                </a:solidFill>
                <a:latin typeface="Arial" charset="0"/>
                <a:ea typeface="ＭＳ Ｐゴシック" charset="0"/>
                <a:cs typeface="ＭＳ Ｐゴシック" charset="0"/>
              </a:defRPr>
            </a:lvl8pPr>
            <a:lvl9pPr marL="1828800" algn="l" rtl="0" fontAlgn="base">
              <a:spcBef>
                <a:spcPct val="0"/>
              </a:spcBef>
              <a:spcAft>
                <a:spcPct val="0"/>
              </a:spcAft>
              <a:defRPr sz="4000">
                <a:solidFill>
                  <a:schemeClr val="tx2"/>
                </a:solidFill>
                <a:latin typeface="Arial" charset="0"/>
                <a:ea typeface="ＭＳ Ｐゴシック" charset="0"/>
                <a:cs typeface="ＭＳ Ｐゴシック" charset="0"/>
              </a:defRPr>
            </a:lvl9pPr>
          </a:lstStyle>
          <a:p>
            <a:pPr algn="ctr"/>
            <a:r>
              <a:rPr lang="en-US" dirty="0">
                <a:solidFill>
                  <a:schemeClr val="bg1"/>
                </a:solidFill>
                <a:latin typeface="Chalkboard" panose="03050602040202020205" pitchFamily="66" charset="77"/>
              </a:rPr>
              <a:t>Agenda</a:t>
            </a:r>
          </a:p>
        </p:txBody>
      </p:sp>
      <p:sp>
        <p:nvSpPr>
          <p:cNvPr id="8" name="Content Placeholder 2">
            <a:extLst>
              <a:ext uri="{FF2B5EF4-FFF2-40B4-BE49-F238E27FC236}">
                <a16:creationId xmlns:a16="http://schemas.microsoft.com/office/drawing/2014/main" id="{920469B4-A04A-AAF5-0F12-49AC197F0B75}"/>
              </a:ext>
            </a:extLst>
          </p:cNvPr>
          <p:cNvSpPr txBox="1">
            <a:spLocks/>
          </p:cNvSpPr>
          <p:nvPr/>
        </p:nvSpPr>
        <p:spPr>
          <a:xfrm>
            <a:off x="1968500" y="1801851"/>
            <a:ext cx="8255000" cy="4876800"/>
          </a:xfrm>
          <a:prstGeom prst="rect">
            <a:avLst/>
          </a:prstGeom>
        </p:spPr>
        <p:txBody>
          <a:bodyPr/>
          <a:lstStyle>
            <a:lvl1pPr marL="182563" indent="-182563" algn="l" rtl="0" eaLnBrk="0" fontAlgn="base" hangingPunct="0">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ＭＳ Ｐゴシック" charset="0"/>
                <a:cs typeface="ＭＳ Ｐゴシック" charset="0"/>
              </a:defRPr>
            </a:lvl1pPr>
            <a:lvl2pPr marL="457200" indent="-182563" algn="l" rtl="0" eaLnBrk="0" fontAlgn="base" hangingPunct="0">
              <a:spcBef>
                <a:spcPct val="20000"/>
              </a:spcBef>
              <a:spcAft>
                <a:spcPct val="0"/>
              </a:spcAft>
              <a:buClr>
                <a:schemeClr val="accent1"/>
              </a:buClr>
              <a:buSzPct val="85000"/>
              <a:buFont typeface="Wingdings" pitchFamily="2" charset="2"/>
              <a:buChar char="Ø"/>
              <a:defRPr sz="2000" kern="1200">
                <a:solidFill>
                  <a:schemeClr val="tx1"/>
                </a:solidFill>
                <a:latin typeface="+mn-lt"/>
                <a:ea typeface="ＭＳ Ｐゴシック" charset="0"/>
                <a:cs typeface="+mn-cs"/>
              </a:defRPr>
            </a:lvl2pPr>
            <a:lvl3pPr marL="730250" indent="-182563"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ＭＳ Ｐゴシック" charset="0"/>
                <a:cs typeface="+mn-cs"/>
              </a:defRPr>
            </a:lvl3pPr>
            <a:lvl4pPr marL="1004888" indent="-182563" algn="l" rtl="0" eaLnBrk="0" fontAlgn="base" hangingPunct="0">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ＭＳ Ｐゴシック" charset="0"/>
                <a:cs typeface="+mn-cs"/>
              </a:defRPr>
            </a:lvl4pPr>
            <a:lvl5pPr marL="1187450" indent="-136525" algn="l" rtl="0" eaLnBrk="0" fontAlgn="base" hangingPunct="0">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ＭＳ Ｐゴシック" charset="0"/>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457200" indent="-457200">
              <a:buFont typeface="+mj-lt"/>
              <a:buAutoNum type="arabicPeriod"/>
            </a:pPr>
            <a:r>
              <a:rPr lang="en-US" dirty="0">
                <a:solidFill>
                  <a:srgbClr val="FFFF00"/>
                </a:solidFill>
                <a:latin typeface="Chalkboard" panose="03050602040202020205" pitchFamily="66" charset="77"/>
              </a:rPr>
              <a:t>Basics of disability and impact on municipal services</a:t>
            </a:r>
          </a:p>
          <a:p>
            <a:pPr marL="457200" indent="-457200">
              <a:buFont typeface="+mj-lt"/>
              <a:buAutoNum type="arabicPeriod"/>
            </a:pPr>
            <a:r>
              <a:rPr lang="en-US" dirty="0">
                <a:solidFill>
                  <a:srgbClr val="FFFF00"/>
                </a:solidFill>
                <a:latin typeface="Chalkboard" panose="03050602040202020205" pitchFamily="66" charset="77"/>
              </a:rPr>
              <a:t>Legal Requirements - ADA Title II etc.</a:t>
            </a:r>
          </a:p>
          <a:p>
            <a:pPr marL="457200" indent="-457200">
              <a:buFont typeface="+mj-lt"/>
              <a:buAutoNum type="arabicPeriod"/>
            </a:pPr>
            <a:r>
              <a:rPr lang="en-US" dirty="0">
                <a:solidFill>
                  <a:srgbClr val="FFFF00"/>
                </a:solidFill>
                <a:latin typeface="Chalkboard" panose="03050602040202020205" pitchFamily="66" charset="77"/>
              </a:rPr>
              <a:t>Effective handling of accommodation/modification requests</a:t>
            </a:r>
          </a:p>
          <a:p>
            <a:pPr marL="457200" indent="-457200">
              <a:buFont typeface="+mj-lt"/>
              <a:buAutoNum type="arabicPeriod"/>
            </a:pPr>
            <a:r>
              <a:rPr lang="en-US" dirty="0">
                <a:solidFill>
                  <a:srgbClr val="FFFF00"/>
                </a:solidFill>
                <a:latin typeface="Chalkboard" panose="03050602040202020205" pitchFamily="66" charset="77"/>
              </a:rPr>
              <a:t>Beyond compliance: Best practices in creating a welcoming environment for people with disabilities</a:t>
            </a:r>
          </a:p>
          <a:p>
            <a:pPr marL="457200" indent="-457200">
              <a:buFont typeface="+mj-lt"/>
              <a:buAutoNum type="arabicPeriod"/>
            </a:pPr>
            <a:r>
              <a:rPr lang="en-US" dirty="0">
                <a:solidFill>
                  <a:srgbClr val="FFFF00"/>
                </a:solidFill>
                <a:latin typeface="Chalkboard" panose="03050602040202020205" pitchFamily="66" charset="77"/>
              </a:rPr>
              <a:t>Disability etiquette and language</a:t>
            </a:r>
          </a:p>
          <a:p>
            <a:pPr marL="457200" indent="-457200">
              <a:buFont typeface="+mj-lt"/>
              <a:buAutoNum type="arabicPeriod"/>
            </a:pPr>
            <a:endParaRPr lang="en-US" dirty="0">
              <a:solidFill>
                <a:srgbClr val="FFFF00"/>
              </a:solidFill>
              <a:latin typeface="Chalkboard" panose="03050602040202020205" pitchFamily="66" charset="77"/>
            </a:endParaRPr>
          </a:p>
        </p:txBody>
      </p:sp>
    </p:spTree>
    <p:extLst>
      <p:ext uri="{BB962C8B-B14F-4D97-AF65-F5344CB8AC3E}">
        <p14:creationId xmlns:p14="http://schemas.microsoft.com/office/powerpoint/2010/main" val="377198963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B01739-6544-6548-A4EB-F7369C8E8331}"/>
              </a:ext>
            </a:extLst>
          </p:cNvPr>
          <p:cNvSpPr>
            <a:spLocks noGrp="1"/>
          </p:cNvSpPr>
          <p:nvPr>
            <p:ph idx="1"/>
          </p:nvPr>
        </p:nvSpPr>
        <p:spPr>
          <a:xfrm>
            <a:off x="5380630" y="1317364"/>
            <a:ext cx="5545544" cy="5334000"/>
          </a:xfrm>
        </p:spPr>
        <p:txBody>
          <a:bodyPr/>
          <a:lstStyle/>
          <a:p>
            <a:r>
              <a:rPr lang="en-US" sz="3600" dirty="0"/>
              <a:t>When we say the term “disability”, what types of conditions come to mind?</a:t>
            </a:r>
          </a:p>
        </p:txBody>
      </p:sp>
      <p:sp>
        <p:nvSpPr>
          <p:cNvPr id="4" name="Slide Number Placeholder 3">
            <a:extLst>
              <a:ext uri="{FF2B5EF4-FFF2-40B4-BE49-F238E27FC236}">
                <a16:creationId xmlns:a16="http://schemas.microsoft.com/office/drawing/2014/main" id="{AE697AA3-6B5F-424B-9CA5-BD8CF1AEE620}"/>
              </a:ext>
            </a:extLst>
          </p:cNvPr>
          <p:cNvSpPr>
            <a:spLocks noGrp="1"/>
          </p:cNvSpPr>
          <p:nvPr>
            <p:ph type="sldNum" sz="quarter" idx="12"/>
          </p:nvPr>
        </p:nvSpPr>
        <p:spPr/>
        <p:txBody>
          <a:bodyPr/>
          <a:lstStyle/>
          <a:p>
            <a:pPr>
              <a:defRPr/>
            </a:pPr>
            <a:fld id="{6DFFECAE-5558-FC4F-A5D5-814DD6134961}" type="slidenum">
              <a:rPr lang="en-US" altLang="en-US" smtClean="0"/>
              <a:pPr>
                <a:defRPr/>
              </a:pPr>
              <a:t>3</a:t>
            </a:fld>
            <a:endParaRPr lang="en-US" altLang="en-US"/>
          </a:p>
        </p:txBody>
      </p:sp>
      <p:sp>
        <p:nvSpPr>
          <p:cNvPr id="5" name="Pentagon 4">
            <a:extLst>
              <a:ext uri="{FF2B5EF4-FFF2-40B4-BE49-F238E27FC236}">
                <a16:creationId xmlns:a16="http://schemas.microsoft.com/office/drawing/2014/main" id="{41FABDAA-9DC3-9D4F-B1BA-9CD0DD4BF6FC}"/>
              </a:ext>
              <a:ext uri="{C183D7F6-B498-43B3-948B-1728B52AA6E4}">
                <adec:decorative xmlns:adec="http://schemas.microsoft.com/office/drawing/2017/decorative" val="1"/>
              </a:ext>
            </a:extLst>
          </p:cNvPr>
          <p:cNvSpPr/>
          <p:nvPr/>
        </p:nvSpPr>
        <p:spPr>
          <a:xfrm>
            <a:off x="1260383" y="1355464"/>
            <a:ext cx="3048000" cy="1295400"/>
          </a:xfrm>
          <a:prstGeom prst="homePlate">
            <a:avLst/>
          </a:prstGeom>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cap="small" dirty="0"/>
              <a:t>Discussion</a:t>
            </a:r>
          </a:p>
        </p:txBody>
      </p:sp>
      <p:pic>
        <p:nvPicPr>
          <p:cNvPr id="6" name="Picture 5">
            <a:extLst>
              <a:ext uri="{FF2B5EF4-FFF2-40B4-BE49-F238E27FC236}">
                <a16:creationId xmlns:a16="http://schemas.microsoft.com/office/drawing/2014/main" id="{2DE22877-2BFF-D067-6111-7879641118C1}"/>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2510" y="3048000"/>
            <a:ext cx="4505290" cy="3603364"/>
          </a:xfrm>
          <a:prstGeom prst="rect">
            <a:avLst/>
          </a:prstGeom>
        </p:spPr>
      </p:pic>
    </p:spTree>
    <p:extLst>
      <p:ext uri="{BB962C8B-B14F-4D97-AF65-F5344CB8AC3E}">
        <p14:creationId xmlns:p14="http://schemas.microsoft.com/office/powerpoint/2010/main" val="169262889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A8EB13-26E3-2F4B-8E05-E5186695C3C8}"/>
              </a:ext>
            </a:extLst>
          </p:cNvPr>
          <p:cNvSpPr>
            <a:spLocks noGrp="1"/>
          </p:cNvSpPr>
          <p:nvPr>
            <p:ph idx="1"/>
          </p:nvPr>
        </p:nvSpPr>
        <p:spPr>
          <a:xfrm>
            <a:off x="4876800" y="609600"/>
            <a:ext cx="5867400" cy="6000750"/>
          </a:xfrm>
        </p:spPr>
        <p:txBody>
          <a:bodyPr/>
          <a:lstStyle/>
          <a:p>
            <a:pPr lvl="0"/>
            <a:r>
              <a:rPr lang="en-US" dirty="0"/>
              <a:t>paralysis</a:t>
            </a:r>
          </a:p>
          <a:p>
            <a:pPr lvl="0"/>
            <a:r>
              <a:rPr lang="en-US" dirty="0"/>
              <a:t>blindness or visual impairment</a:t>
            </a:r>
          </a:p>
          <a:p>
            <a:pPr lvl="0"/>
            <a:r>
              <a:rPr lang="en-US" dirty="0"/>
              <a:t>deafness or hard of hearing</a:t>
            </a:r>
          </a:p>
          <a:p>
            <a:pPr lvl="0"/>
            <a:r>
              <a:rPr lang="en-US" dirty="0"/>
              <a:t>intellectual disabilities</a:t>
            </a:r>
          </a:p>
          <a:p>
            <a:pPr lvl="0"/>
            <a:r>
              <a:rPr lang="en-US" dirty="0"/>
              <a:t>learning disabilities</a:t>
            </a:r>
          </a:p>
          <a:p>
            <a:pPr lvl="0"/>
            <a:r>
              <a:rPr lang="en-US" dirty="0"/>
              <a:t>psychiatric disabilities and mental health conditions</a:t>
            </a:r>
          </a:p>
          <a:p>
            <a:pPr lvl="0"/>
            <a:r>
              <a:rPr lang="en-US" dirty="0"/>
              <a:t>chemical sensitivity</a:t>
            </a:r>
          </a:p>
          <a:p>
            <a:pPr lvl="0"/>
            <a:r>
              <a:rPr lang="en-US" dirty="0"/>
              <a:t>epilepsy</a:t>
            </a:r>
          </a:p>
          <a:p>
            <a:pPr lvl="0"/>
            <a:r>
              <a:rPr lang="en-US" dirty="0"/>
              <a:t>head injuries</a:t>
            </a:r>
          </a:p>
          <a:p>
            <a:pPr lvl="0"/>
            <a:r>
              <a:rPr lang="en-US" dirty="0"/>
              <a:t>cerebral palsy</a:t>
            </a:r>
          </a:p>
          <a:p>
            <a:pPr lvl="0"/>
            <a:r>
              <a:rPr lang="en-US" dirty="0"/>
              <a:t>chronic health or physical issue</a:t>
            </a:r>
          </a:p>
          <a:p>
            <a:pPr lvl="0"/>
            <a:r>
              <a:rPr lang="en-US" dirty="0"/>
              <a:t>autism</a:t>
            </a:r>
          </a:p>
          <a:p>
            <a:pPr lvl="0"/>
            <a:r>
              <a:rPr lang="en-US" dirty="0"/>
              <a:t>HIV/AIDS </a:t>
            </a:r>
          </a:p>
        </p:txBody>
      </p:sp>
      <p:sp>
        <p:nvSpPr>
          <p:cNvPr id="4" name="Slide Number Placeholder 3">
            <a:extLst>
              <a:ext uri="{FF2B5EF4-FFF2-40B4-BE49-F238E27FC236}">
                <a16:creationId xmlns:a16="http://schemas.microsoft.com/office/drawing/2014/main" id="{2A42F865-866E-B64F-B10E-BD7D10324B25}"/>
              </a:ext>
            </a:extLst>
          </p:cNvPr>
          <p:cNvSpPr>
            <a:spLocks noGrp="1"/>
          </p:cNvSpPr>
          <p:nvPr>
            <p:ph type="sldNum" sz="quarter" idx="12"/>
          </p:nvPr>
        </p:nvSpPr>
        <p:spPr/>
        <p:txBody>
          <a:bodyPr/>
          <a:lstStyle/>
          <a:p>
            <a:pPr>
              <a:defRPr/>
            </a:pPr>
            <a:fld id="{6DFFECAE-5558-FC4F-A5D5-814DD6134961}" type="slidenum">
              <a:rPr lang="en-US" altLang="en-US" smtClean="0"/>
              <a:pPr>
                <a:defRPr/>
              </a:pPr>
              <a:t>4</a:t>
            </a:fld>
            <a:endParaRPr lang="en-US" altLang="en-US"/>
          </a:p>
        </p:txBody>
      </p:sp>
      <p:sp>
        <p:nvSpPr>
          <p:cNvPr id="5" name="Pentagon 4">
            <a:extLst>
              <a:ext uri="{FF2B5EF4-FFF2-40B4-BE49-F238E27FC236}">
                <a16:creationId xmlns:a16="http://schemas.microsoft.com/office/drawing/2014/main" id="{7DECAC97-69F2-4A4C-A029-601DC3EDBE4D}"/>
              </a:ext>
              <a:ext uri="{C183D7F6-B498-43B3-948B-1728B52AA6E4}">
                <adec:decorative xmlns:adec="http://schemas.microsoft.com/office/drawing/2017/decorative" val="1"/>
              </a:ext>
            </a:extLst>
          </p:cNvPr>
          <p:cNvSpPr/>
          <p:nvPr/>
        </p:nvSpPr>
        <p:spPr>
          <a:xfrm>
            <a:off x="914400" y="609600"/>
            <a:ext cx="2971800" cy="1447800"/>
          </a:xfrm>
          <a:prstGeom prst="homePlate">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sz="2800" b="1" cap="small" dirty="0"/>
              <a:t>Examples of Disabilities</a:t>
            </a:r>
          </a:p>
        </p:txBody>
      </p:sp>
      <p:pic>
        <p:nvPicPr>
          <p:cNvPr id="6" name="Picture 5">
            <a:extLst>
              <a:ext uri="{FF2B5EF4-FFF2-40B4-BE49-F238E27FC236}">
                <a16:creationId xmlns:a16="http://schemas.microsoft.com/office/drawing/2014/main" id="{5E213A7B-5A76-7AE1-7992-ABF85C28B54D}"/>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685800" y="3013075"/>
            <a:ext cx="2978150" cy="2978150"/>
          </a:xfrm>
          <a:prstGeom prst="rect">
            <a:avLst/>
          </a:prstGeom>
        </p:spPr>
      </p:pic>
    </p:spTree>
    <p:extLst>
      <p:ext uri="{BB962C8B-B14F-4D97-AF65-F5344CB8AC3E}">
        <p14:creationId xmlns:p14="http://schemas.microsoft.com/office/powerpoint/2010/main" val="390156493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AC3181-B753-FD4D-89C1-227B2E2D9F08}"/>
              </a:ext>
            </a:extLst>
          </p:cNvPr>
          <p:cNvSpPr>
            <a:spLocks noGrp="1"/>
          </p:cNvSpPr>
          <p:nvPr>
            <p:ph idx="1"/>
          </p:nvPr>
        </p:nvSpPr>
        <p:spPr>
          <a:xfrm>
            <a:off x="351436" y="1981200"/>
            <a:ext cx="7284109" cy="4114800"/>
          </a:xfrm>
        </p:spPr>
        <p:style>
          <a:lnRef idx="0">
            <a:schemeClr val="accent6"/>
          </a:lnRef>
          <a:fillRef idx="3">
            <a:schemeClr val="accent6"/>
          </a:fillRef>
          <a:effectRef idx="3">
            <a:schemeClr val="accent6"/>
          </a:effectRef>
          <a:fontRef idx="minor">
            <a:schemeClr val="lt1"/>
          </a:fontRef>
        </p:style>
        <p:txBody>
          <a:bodyPr/>
          <a:lstStyle/>
          <a:p>
            <a:pPr>
              <a:spcBef>
                <a:spcPts val="1776"/>
              </a:spcBef>
            </a:pPr>
            <a:r>
              <a:rPr lang="en-US" sz="2800" b="1" dirty="0"/>
              <a:t>12%</a:t>
            </a:r>
            <a:r>
              <a:rPr lang="en-US" sz="2800" dirty="0"/>
              <a:t> of people in Massachusetts identify as having a disability, per US census.</a:t>
            </a:r>
          </a:p>
          <a:p>
            <a:pPr>
              <a:spcBef>
                <a:spcPts val="1776"/>
              </a:spcBef>
            </a:pPr>
            <a:r>
              <a:rPr lang="en-US" sz="2800" dirty="0"/>
              <a:t>Self-awareness and self-perception of disability varies.</a:t>
            </a:r>
          </a:p>
          <a:p>
            <a:pPr>
              <a:spcBef>
                <a:spcPts val="1776"/>
              </a:spcBef>
            </a:pPr>
            <a:r>
              <a:rPr lang="en-US" sz="2800" dirty="0"/>
              <a:t>Many disabilities are non-apparent or “hidden”.</a:t>
            </a:r>
          </a:p>
          <a:p>
            <a:pPr>
              <a:spcBef>
                <a:spcPts val="1776"/>
              </a:spcBef>
            </a:pPr>
            <a:r>
              <a:rPr lang="en-US" sz="2800" dirty="0"/>
              <a:t>Impact of disability on person’s life varies.</a:t>
            </a:r>
          </a:p>
          <a:p>
            <a:endParaRPr lang="en-US" dirty="0"/>
          </a:p>
        </p:txBody>
      </p:sp>
      <p:sp>
        <p:nvSpPr>
          <p:cNvPr id="4" name="Slide Number Placeholder 3">
            <a:extLst>
              <a:ext uri="{FF2B5EF4-FFF2-40B4-BE49-F238E27FC236}">
                <a16:creationId xmlns:a16="http://schemas.microsoft.com/office/drawing/2014/main" id="{A10D9065-5AB3-F848-8CFA-69771A093A69}"/>
              </a:ext>
            </a:extLst>
          </p:cNvPr>
          <p:cNvSpPr>
            <a:spLocks noGrp="1"/>
          </p:cNvSpPr>
          <p:nvPr>
            <p:ph type="sldNum" sz="quarter" idx="12"/>
          </p:nvPr>
        </p:nvSpPr>
        <p:spPr/>
        <p:txBody>
          <a:bodyPr/>
          <a:lstStyle/>
          <a:p>
            <a:pPr>
              <a:defRPr/>
            </a:pPr>
            <a:fld id="{6DFFECAE-5558-FC4F-A5D5-814DD6134961}" type="slidenum">
              <a:rPr lang="en-US" altLang="en-US" smtClean="0"/>
              <a:pPr>
                <a:defRPr/>
              </a:pPr>
              <a:t>5</a:t>
            </a:fld>
            <a:endParaRPr lang="en-US" altLang="en-US"/>
          </a:p>
        </p:txBody>
      </p:sp>
      <p:pic>
        <p:nvPicPr>
          <p:cNvPr id="6" name="Picture 5">
            <a:extLst>
              <a:ext uri="{FF2B5EF4-FFF2-40B4-BE49-F238E27FC236}">
                <a16:creationId xmlns:a16="http://schemas.microsoft.com/office/drawing/2014/main" id="{62FB6E3C-4DD0-2F42-943F-5220F3DD41E3}"/>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198510" y="235831"/>
            <a:ext cx="3383890" cy="3962400"/>
          </a:xfrm>
          <a:prstGeom prst="rect">
            <a:avLst/>
          </a:prstGeom>
        </p:spPr>
      </p:pic>
    </p:spTree>
    <p:extLst>
      <p:ext uri="{BB962C8B-B14F-4D97-AF65-F5344CB8AC3E}">
        <p14:creationId xmlns:p14="http://schemas.microsoft.com/office/powerpoint/2010/main" val="328801017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B8C46-17FE-5F08-44D3-489A2BA4116F}"/>
              </a:ext>
            </a:extLst>
          </p:cNvPr>
          <p:cNvSpPr>
            <a:spLocks noGrp="1"/>
          </p:cNvSpPr>
          <p:nvPr>
            <p:ph type="title"/>
          </p:nvPr>
        </p:nvSpPr>
        <p:spPr>
          <a:xfrm>
            <a:off x="609600" y="1295400"/>
            <a:ext cx="4876800" cy="3476312"/>
          </a:xfrm>
        </p:spPr>
        <p:txBody>
          <a:bodyPr>
            <a:normAutofit/>
          </a:bodyPr>
          <a:lstStyle/>
          <a:p>
            <a:pPr algn="ctr"/>
            <a:r>
              <a:rPr lang="en-US" b="1" dirty="0"/>
              <a:t>What have been your experiences in providing municipal services to people with disabilities?</a:t>
            </a:r>
          </a:p>
        </p:txBody>
      </p:sp>
      <p:sp>
        <p:nvSpPr>
          <p:cNvPr id="4" name="Slide Number Placeholder 3">
            <a:extLst>
              <a:ext uri="{FF2B5EF4-FFF2-40B4-BE49-F238E27FC236}">
                <a16:creationId xmlns:a16="http://schemas.microsoft.com/office/drawing/2014/main" id="{11C655B9-0E1B-A4A0-94D4-153290406B9A}"/>
              </a:ext>
            </a:extLst>
          </p:cNvPr>
          <p:cNvSpPr>
            <a:spLocks noGrp="1"/>
          </p:cNvSpPr>
          <p:nvPr>
            <p:ph type="sldNum" sz="quarter" idx="12"/>
          </p:nvPr>
        </p:nvSpPr>
        <p:spPr/>
        <p:txBody>
          <a:bodyPr/>
          <a:lstStyle/>
          <a:p>
            <a:pPr>
              <a:defRPr/>
            </a:pPr>
            <a:fld id="{6DFFECAE-5558-FC4F-A5D5-814DD6134961}" type="slidenum">
              <a:rPr lang="en-US" altLang="en-US" smtClean="0"/>
              <a:pPr>
                <a:defRPr/>
              </a:pPr>
              <a:t>6</a:t>
            </a:fld>
            <a:endParaRPr lang="en-US" altLang="en-US"/>
          </a:p>
        </p:txBody>
      </p:sp>
      <p:pic>
        <p:nvPicPr>
          <p:cNvPr id="6" name="Picture 5">
            <a:extLst>
              <a:ext uri="{FF2B5EF4-FFF2-40B4-BE49-F238E27FC236}">
                <a16:creationId xmlns:a16="http://schemas.microsoft.com/office/drawing/2014/main" id="{680F0974-B51D-037A-7CD8-4DB44411641F}"/>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110207" y="1295400"/>
            <a:ext cx="5217102" cy="3476312"/>
          </a:xfrm>
          <a:prstGeom prst="rect">
            <a:avLst/>
          </a:prstGeom>
        </p:spPr>
      </p:pic>
    </p:spTree>
    <p:extLst>
      <p:ext uri="{BB962C8B-B14F-4D97-AF65-F5344CB8AC3E}">
        <p14:creationId xmlns:p14="http://schemas.microsoft.com/office/powerpoint/2010/main" val="294082688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44702-F3D6-303A-F5BB-66EA5CC905B5}"/>
              </a:ext>
            </a:extLst>
          </p:cNvPr>
          <p:cNvSpPr>
            <a:spLocks noGrp="1"/>
          </p:cNvSpPr>
          <p:nvPr>
            <p:ph type="title"/>
          </p:nvPr>
        </p:nvSpPr>
        <p:spPr>
          <a:xfrm>
            <a:off x="609600" y="533400"/>
            <a:ext cx="10972800" cy="1219200"/>
          </a:xfrm>
          <a:scene3d>
            <a:camera prst="orthographicFront"/>
            <a:lightRig rig="threePt" dir="t"/>
          </a:scene3d>
          <a:sp3d>
            <a:bevelT prst="angle"/>
          </a:sp3d>
        </p:spPr>
        <p:style>
          <a:lnRef idx="3">
            <a:schemeClr val="lt1"/>
          </a:lnRef>
          <a:fillRef idx="1">
            <a:schemeClr val="accent6"/>
          </a:fillRef>
          <a:effectRef idx="1">
            <a:schemeClr val="accent6"/>
          </a:effectRef>
          <a:fontRef idx="minor">
            <a:schemeClr val="lt1"/>
          </a:fontRef>
        </p:style>
        <p:txBody>
          <a:bodyPr>
            <a:normAutofit fontScale="90000"/>
          </a:bodyPr>
          <a:lstStyle/>
          <a:p>
            <a:r>
              <a:rPr lang="en-US" b="1" cap="small" dirty="0"/>
              <a:t>Meeting the Needs of Residents with Disabilities:</a:t>
            </a:r>
            <a:br>
              <a:rPr lang="en-US" b="1" cap="small" dirty="0"/>
            </a:br>
            <a:r>
              <a:rPr lang="en-US" b="1" i="1" cap="small" dirty="0"/>
              <a:t>Core Principles</a:t>
            </a:r>
          </a:p>
        </p:txBody>
      </p:sp>
      <p:sp>
        <p:nvSpPr>
          <p:cNvPr id="3" name="Content Placeholder 2">
            <a:extLst>
              <a:ext uri="{FF2B5EF4-FFF2-40B4-BE49-F238E27FC236}">
                <a16:creationId xmlns:a16="http://schemas.microsoft.com/office/drawing/2014/main" id="{C008BF7F-F939-C174-D8C0-8CC30C4AE104}"/>
              </a:ext>
            </a:extLst>
          </p:cNvPr>
          <p:cNvSpPr>
            <a:spLocks noGrp="1"/>
          </p:cNvSpPr>
          <p:nvPr>
            <p:ph idx="1"/>
          </p:nvPr>
        </p:nvSpPr>
        <p:spPr>
          <a:xfrm>
            <a:off x="609600" y="2209800"/>
            <a:ext cx="6705600" cy="3962400"/>
          </a:xfrm>
        </p:spPr>
        <p:txBody>
          <a:bodyPr/>
          <a:lstStyle/>
          <a:p>
            <a:pPr marL="457200" indent="-457200">
              <a:spcBef>
                <a:spcPts val="1176"/>
              </a:spcBef>
              <a:buFont typeface="+mj-lt"/>
              <a:buAutoNum type="arabicPeriod"/>
            </a:pPr>
            <a:r>
              <a:rPr lang="en-US" sz="3200" dirty="0"/>
              <a:t>Comply with legal requirements.</a:t>
            </a:r>
          </a:p>
          <a:p>
            <a:pPr marL="457200" indent="-457200">
              <a:spcBef>
                <a:spcPts val="1776"/>
              </a:spcBef>
              <a:buFont typeface="+mj-lt"/>
              <a:buAutoNum type="arabicPeriod"/>
            </a:pPr>
            <a:r>
              <a:rPr lang="en-US" sz="3200" dirty="0"/>
              <a:t>Ensure residents with disabilities have access to same </a:t>
            </a:r>
            <a:r>
              <a:rPr lang="en-US" sz="3200" u="sng" dirty="0"/>
              <a:t>services</a:t>
            </a:r>
            <a:r>
              <a:rPr lang="en-US" sz="3200" dirty="0"/>
              <a:t> as all other residents.</a:t>
            </a:r>
          </a:p>
          <a:p>
            <a:pPr marL="457200" indent="-457200">
              <a:spcBef>
                <a:spcPts val="1776"/>
              </a:spcBef>
              <a:buFont typeface="+mj-lt"/>
              <a:buAutoNum type="arabicPeriod"/>
            </a:pPr>
            <a:r>
              <a:rPr lang="en-US" sz="3200" dirty="0"/>
              <a:t>Promote universal access.</a:t>
            </a:r>
          </a:p>
          <a:p>
            <a:pPr marL="457200" indent="-457200">
              <a:spcBef>
                <a:spcPts val="1776"/>
              </a:spcBef>
              <a:buFont typeface="+mj-lt"/>
              <a:buAutoNum type="arabicPeriod"/>
            </a:pPr>
            <a:r>
              <a:rPr lang="en-US" sz="3200" dirty="0"/>
              <a:t>Create a truly welcoming environment for all.</a:t>
            </a:r>
          </a:p>
        </p:txBody>
      </p:sp>
      <p:sp>
        <p:nvSpPr>
          <p:cNvPr id="4" name="Slide Number Placeholder 3">
            <a:extLst>
              <a:ext uri="{FF2B5EF4-FFF2-40B4-BE49-F238E27FC236}">
                <a16:creationId xmlns:a16="http://schemas.microsoft.com/office/drawing/2014/main" id="{94B1AF06-4999-8962-76F9-8D984CB8AD02}"/>
              </a:ext>
            </a:extLst>
          </p:cNvPr>
          <p:cNvSpPr>
            <a:spLocks noGrp="1"/>
          </p:cNvSpPr>
          <p:nvPr>
            <p:ph type="sldNum" sz="quarter" idx="12"/>
          </p:nvPr>
        </p:nvSpPr>
        <p:spPr/>
        <p:txBody>
          <a:bodyPr/>
          <a:lstStyle/>
          <a:p>
            <a:pPr>
              <a:defRPr/>
            </a:pPr>
            <a:fld id="{6DFFECAE-5558-FC4F-A5D5-814DD6134961}" type="slidenum">
              <a:rPr lang="en-US" altLang="en-US" smtClean="0"/>
              <a:pPr>
                <a:defRPr/>
              </a:pPr>
              <a:t>7</a:t>
            </a:fld>
            <a:endParaRPr lang="en-US" altLang="en-US"/>
          </a:p>
        </p:txBody>
      </p:sp>
      <p:pic>
        <p:nvPicPr>
          <p:cNvPr id="7" name="Picture 6">
            <a:extLst>
              <a:ext uri="{FF2B5EF4-FFF2-40B4-BE49-F238E27FC236}">
                <a16:creationId xmlns:a16="http://schemas.microsoft.com/office/drawing/2014/main" id="{93FF8E0D-1366-BEB8-0162-687A97188B97}"/>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081008" y="3183820"/>
            <a:ext cx="2501392" cy="3206913"/>
          </a:xfrm>
          <a:prstGeom prst="rect">
            <a:avLst/>
          </a:prstGeom>
        </p:spPr>
      </p:pic>
    </p:spTree>
    <p:extLst>
      <p:ext uri="{BB962C8B-B14F-4D97-AF65-F5344CB8AC3E}">
        <p14:creationId xmlns:p14="http://schemas.microsoft.com/office/powerpoint/2010/main" val="330576420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7C191E-BA48-1A60-8F8C-B527AD2715C2}"/>
              </a:ext>
            </a:extLst>
          </p:cNvPr>
          <p:cNvSpPr>
            <a:spLocks noGrp="1"/>
          </p:cNvSpPr>
          <p:nvPr>
            <p:ph type="title"/>
          </p:nvPr>
        </p:nvSpPr>
        <p:spPr>
          <a:xfrm>
            <a:off x="457200" y="1905000"/>
            <a:ext cx="10972800" cy="2514600"/>
          </a:xfrm>
          <a:scene3d>
            <a:camera prst="orthographicFront">
              <a:rot lat="0" lon="0" rev="0"/>
            </a:camera>
            <a:lightRig rig="balanced" dir="t">
              <a:rot lat="0" lon="0" rev="5100000"/>
            </a:lightRig>
          </a:scene3d>
          <a:sp3d contourW="6350">
            <a:bevelT w="29210" h="12700" prst="angle"/>
            <a:contourClr>
              <a:schemeClr val="accent6">
                <a:shade val="30000"/>
                <a:satMod val="130000"/>
              </a:schemeClr>
            </a:contourClr>
          </a:sp3d>
        </p:spPr>
        <p:style>
          <a:lnRef idx="0">
            <a:schemeClr val="accent6"/>
          </a:lnRef>
          <a:fillRef idx="3">
            <a:schemeClr val="accent6"/>
          </a:fillRef>
          <a:effectRef idx="3">
            <a:schemeClr val="accent6"/>
          </a:effectRef>
          <a:fontRef idx="minor">
            <a:schemeClr val="lt1"/>
          </a:fontRef>
        </p:style>
        <p:txBody>
          <a:bodyPr>
            <a:normAutofit fontScale="90000"/>
          </a:bodyPr>
          <a:lstStyle/>
          <a:p>
            <a:pPr algn="ctr"/>
            <a:r>
              <a:rPr lang="en-US" dirty="0"/>
              <a:t>Access to </a:t>
            </a:r>
            <a:r>
              <a:rPr lang="en-US" b="1" dirty="0"/>
              <a:t>same</a:t>
            </a:r>
            <a:r>
              <a:rPr lang="en-US" dirty="0"/>
              <a:t> services, programs, and services</a:t>
            </a:r>
            <a:br>
              <a:rPr lang="en-US" dirty="0"/>
            </a:br>
            <a:r>
              <a:rPr lang="en-US" dirty="0"/>
              <a:t>does not necessarily mean </a:t>
            </a:r>
            <a:br>
              <a:rPr lang="en-US" dirty="0"/>
            </a:br>
            <a:r>
              <a:rPr lang="en-US" dirty="0"/>
              <a:t>accessing them in </a:t>
            </a:r>
            <a:br>
              <a:rPr lang="en-US" dirty="0"/>
            </a:br>
            <a:r>
              <a:rPr lang="en-US" dirty="0"/>
              <a:t>the </a:t>
            </a:r>
            <a:r>
              <a:rPr lang="en-US" b="1" dirty="0"/>
              <a:t>same way</a:t>
            </a:r>
            <a:r>
              <a:rPr lang="en-US" dirty="0"/>
              <a:t>.</a:t>
            </a:r>
          </a:p>
        </p:txBody>
      </p:sp>
      <p:sp>
        <p:nvSpPr>
          <p:cNvPr id="4" name="Slide Number Placeholder 3">
            <a:extLst>
              <a:ext uri="{FF2B5EF4-FFF2-40B4-BE49-F238E27FC236}">
                <a16:creationId xmlns:a16="http://schemas.microsoft.com/office/drawing/2014/main" id="{22BD1196-5590-E320-D7CD-85F4CF3EC183}"/>
              </a:ext>
            </a:extLst>
          </p:cNvPr>
          <p:cNvSpPr>
            <a:spLocks noGrp="1"/>
          </p:cNvSpPr>
          <p:nvPr>
            <p:ph type="sldNum" sz="quarter" idx="12"/>
          </p:nvPr>
        </p:nvSpPr>
        <p:spPr/>
        <p:txBody>
          <a:bodyPr/>
          <a:lstStyle/>
          <a:p>
            <a:pPr>
              <a:defRPr/>
            </a:pPr>
            <a:fld id="{6DFFECAE-5558-FC4F-A5D5-814DD6134961}" type="slidenum">
              <a:rPr lang="en-US" altLang="en-US" smtClean="0"/>
              <a:pPr>
                <a:defRPr/>
              </a:pPr>
              <a:t>8</a:t>
            </a:fld>
            <a:endParaRPr lang="en-US" altLang="en-US"/>
          </a:p>
        </p:txBody>
      </p:sp>
    </p:spTree>
    <p:extLst>
      <p:ext uri="{BB962C8B-B14F-4D97-AF65-F5344CB8AC3E}">
        <p14:creationId xmlns:p14="http://schemas.microsoft.com/office/powerpoint/2010/main" val="356790873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82FCB-752D-498D-B0C3-A4EF512C67CE}"/>
              </a:ext>
            </a:extLst>
          </p:cNvPr>
          <p:cNvSpPr>
            <a:spLocks noGrp="1"/>
          </p:cNvSpPr>
          <p:nvPr>
            <p:ph type="title"/>
          </p:nvPr>
        </p:nvSpPr>
        <p:spPr>
          <a:xfrm>
            <a:off x="381000" y="533400"/>
            <a:ext cx="4648200" cy="990600"/>
          </a:xfrm>
          <a:scene3d>
            <a:camera prst="orthographicFront"/>
            <a:lightRig rig="threePt" dir="t"/>
          </a:scene3d>
          <a:sp3d>
            <a:bevelT prst="angle"/>
          </a:sp3d>
        </p:spPr>
        <p:style>
          <a:lnRef idx="1">
            <a:schemeClr val="accent2"/>
          </a:lnRef>
          <a:fillRef idx="3">
            <a:schemeClr val="accent2"/>
          </a:fillRef>
          <a:effectRef idx="2">
            <a:schemeClr val="accent2"/>
          </a:effectRef>
          <a:fontRef idx="minor">
            <a:schemeClr val="lt1"/>
          </a:fontRef>
        </p:style>
        <p:txBody>
          <a:bodyPr/>
          <a:lstStyle/>
          <a:p>
            <a:pPr algn="ctr"/>
            <a:r>
              <a:rPr lang="en-US" dirty="0"/>
              <a:t>Legal Requirements</a:t>
            </a:r>
          </a:p>
        </p:txBody>
      </p:sp>
      <p:sp>
        <p:nvSpPr>
          <p:cNvPr id="4" name="Slide Number Placeholder 3">
            <a:extLst>
              <a:ext uri="{FF2B5EF4-FFF2-40B4-BE49-F238E27FC236}">
                <a16:creationId xmlns:a16="http://schemas.microsoft.com/office/drawing/2014/main" id="{049CFC08-45C7-CA91-D3C9-9E894F608C8C}"/>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9</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a:extLst>
              <a:ext uri="{FF2B5EF4-FFF2-40B4-BE49-F238E27FC236}">
                <a16:creationId xmlns:a16="http://schemas.microsoft.com/office/drawing/2014/main" id="{6FD28C40-6D33-1CC2-CB62-418DFEAB88B7}"/>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29000" y="2057400"/>
            <a:ext cx="6400800" cy="4267200"/>
          </a:xfrm>
          <a:prstGeom prst="rect">
            <a:avLst/>
          </a:prstGeom>
        </p:spPr>
      </p:pic>
    </p:spTree>
    <p:extLst>
      <p:ext uri="{BB962C8B-B14F-4D97-AF65-F5344CB8AC3E}">
        <p14:creationId xmlns:p14="http://schemas.microsoft.com/office/powerpoint/2010/main" val="286207092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4206B6-85CA-2341-88FE-E28BC2472B87}"/>
              </a:ext>
            </a:extLst>
          </p:cNvPr>
          <p:cNvSpPr>
            <a:spLocks noGrp="1"/>
          </p:cNvSpPr>
          <p:nvPr>
            <p:ph type="sldNum" sz="quarter" idx="12"/>
          </p:nvPr>
        </p:nvSpPr>
        <p:spPr/>
        <p:txBody>
          <a:bodyPr/>
          <a:lstStyle/>
          <a:p>
            <a:pPr>
              <a:defRPr/>
            </a:pPr>
            <a:fld id="{6DFFECAE-5558-FC4F-A5D5-814DD6134961}" type="slidenum">
              <a:rPr lang="en-US" altLang="en-US" smtClean="0"/>
              <a:pPr>
                <a:defRPr/>
              </a:pPr>
              <a:t>10</a:t>
            </a:fld>
            <a:endParaRPr lang="en-US" altLang="en-US"/>
          </a:p>
        </p:txBody>
      </p:sp>
      <p:pic>
        <p:nvPicPr>
          <p:cNvPr id="15" name="Picture 14">
            <a:extLst>
              <a:ext uri="{FF2B5EF4-FFF2-40B4-BE49-F238E27FC236}">
                <a16:creationId xmlns:a16="http://schemas.microsoft.com/office/drawing/2014/main" id="{F53F83AC-148F-1F4E-8858-034FA623F7D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524000" y="914400"/>
            <a:ext cx="9144000" cy="3145536"/>
          </a:xfrm>
          <a:prstGeom prst="rect">
            <a:avLst/>
          </a:prstGeom>
        </p:spPr>
      </p:pic>
      <p:sp>
        <p:nvSpPr>
          <p:cNvPr id="16" name="TextBox 15">
            <a:extLst>
              <a:ext uri="{FF2B5EF4-FFF2-40B4-BE49-F238E27FC236}">
                <a16:creationId xmlns:a16="http://schemas.microsoft.com/office/drawing/2014/main" id="{1C742541-6899-9643-B0A6-7B7C8E2A091D}"/>
              </a:ext>
            </a:extLst>
          </p:cNvPr>
          <p:cNvSpPr txBox="1"/>
          <p:nvPr/>
        </p:nvSpPr>
        <p:spPr>
          <a:xfrm>
            <a:off x="4267200" y="3275106"/>
            <a:ext cx="4165599" cy="1569660"/>
          </a:xfrm>
          <a:prstGeom prst="rect">
            <a:avLst/>
          </a:prstGeom>
          <a:ln>
            <a:headEnd type="none" w="med" len="med"/>
            <a:tailEnd type="none" w="med" len="med"/>
          </a:ln>
          <a:scene3d>
            <a:camera prst="orthographicFront"/>
            <a:lightRig rig="threePt" dir="t"/>
          </a:scene3d>
          <a:sp3d>
            <a:bevelT prst="angle"/>
          </a:sp3d>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3200" b="1" i="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Basis For All</a:t>
            </a:r>
            <a:br>
              <a:rPr lang="en-US" sz="3200" b="1" i="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br>
            <a:r>
              <a:rPr lang="en-US" sz="3200" b="1" i="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Disability</a:t>
            </a:r>
            <a:br>
              <a:rPr lang="en-US" sz="3200" b="1" i="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br>
            <a:r>
              <a:rPr lang="en-US" sz="3200" b="1" i="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Laws and Policies</a:t>
            </a:r>
          </a:p>
        </p:txBody>
      </p:sp>
    </p:spTree>
    <p:extLst>
      <p:ext uri="{BB962C8B-B14F-4D97-AF65-F5344CB8AC3E}">
        <p14:creationId xmlns:p14="http://schemas.microsoft.com/office/powerpoint/2010/main" val="235671547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8D42CF21-3FAA-604B-9F6C-9780F55BD00A}"/>
              </a:ext>
            </a:extLst>
          </p:cNvPr>
          <p:cNvSpPr>
            <a:spLocks noGrp="1"/>
          </p:cNvSpPr>
          <p:nvPr>
            <p:ph idx="1"/>
          </p:nvPr>
        </p:nvSpPr>
        <p:spPr>
          <a:xfrm>
            <a:off x="5832022" y="838200"/>
            <a:ext cx="4835979" cy="5543550"/>
          </a:xfrm>
        </p:spPr>
        <p:txBody>
          <a:bodyPr/>
          <a:lstStyle/>
          <a:p>
            <a:pPr eaLnBrk="1" hangingPunct="1">
              <a:lnSpc>
                <a:spcPct val="115000"/>
              </a:lnSpc>
              <a:spcBef>
                <a:spcPct val="50000"/>
              </a:spcBef>
            </a:pPr>
            <a:r>
              <a:rPr lang="en-US" altLang="en-US" sz="2800" dirty="0">
                <a:ea typeface="ＭＳ Ｐゴシック" panose="020B0600070205080204" pitchFamily="34" charset="-128"/>
              </a:rPr>
              <a:t>A physical or mental condition that substantially limits one or more </a:t>
            </a:r>
            <a:r>
              <a:rPr lang="en-US" altLang="en-US" sz="2800" b="1" i="1" dirty="0">
                <a:ea typeface="ＭＳ Ｐゴシック" panose="020B0600070205080204" pitchFamily="34" charset="-128"/>
              </a:rPr>
              <a:t>major life activities</a:t>
            </a:r>
          </a:p>
          <a:p>
            <a:pPr eaLnBrk="1" hangingPunct="1">
              <a:lnSpc>
                <a:spcPct val="115000"/>
              </a:lnSpc>
              <a:spcBef>
                <a:spcPct val="50000"/>
              </a:spcBef>
            </a:pPr>
            <a:r>
              <a:rPr lang="en-US" altLang="en-US" sz="2800" dirty="0">
                <a:ea typeface="ＭＳ Ｐゴシック" panose="020B0600070205080204" pitchFamily="34" charset="-128"/>
              </a:rPr>
              <a:t>Being regarded as having a disability, even when no limitations exist</a:t>
            </a:r>
            <a:endParaRPr lang="en-US" altLang="en-US" dirty="0">
              <a:ea typeface="ＭＳ Ｐゴシック" panose="020B0600070205080204" pitchFamily="34" charset="-128"/>
            </a:endParaRPr>
          </a:p>
        </p:txBody>
      </p:sp>
      <p:sp>
        <p:nvSpPr>
          <p:cNvPr id="33795" name="Slide Number Placeholder 1">
            <a:extLst>
              <a:ext uri="{FF2B5EF4-FFF2-40B4-BE49-F238E27FC236}">
                <a16:creationId xmlns:a16="http://schemas.microsoft.com/office/drawing/2014/main" id="{5E4D52A0-A54A-D941-9468-6A770ECA551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DFD85E07-134C-3446-B703-EC38792F86BB}" type="slidenum">
              <a:rPr lang="en-US" altLang="en-US" sz="1400">
                <a:solidFill>
                  <a:srgbClr val="FFFFFF"/>
                </a:solidFill>
              </a:rPr>
              <a:pPr/>
              <a:t>11</a:t>
            </a:fld>
            <a:endParaRPr lang="en-US" altLang="en-US" sz="1400">
              <a:solidFill>
                <a:srgbClr val="FFFFFF"/>
              </a:solidFill>
            </a:endParaRPr>
          </a:p>
        </p:txBody>
      </p:sp>
      <p:sp>
        <p:nvSpPr>
          <p:cNvPr id="2" name="TextBox 1">
            <a:extLst>
              <a:ext uri="{FF2B5EF4-FFF2-40B4-BE49-F238E27FC236}">
                <a16:creationId xmlns:a16="http://schemas.microsoft.com/office/drawing/2014/main" id="{DD79707A-6851-434C-9A60-5AB5F7342677}"/>
              </a:ext>
            </a:extLst>
          </p:cNvPr>
          <p:cNvSpPr txBox="1"/>
          <p:nvPr/>
        </p:nvSpPr>
        <p:spPr>
          <a:xfrm>
            <a:off x="609600" y="762000"/>
            <a:ext cx="4419600" cy="1754326"/>
          </a:xfrm>
          <a:prstGeom prst="rect">
            <a:avLst/>
          </a:prstGeom>
          <a:scene3d>
            <a:camera prst="orthographicFront">
              <a:rot lat="0" lon="0" rev="0"/>
            </a:camera>
            <a:lightRig rig="balanced" dir="t">
              <a:rot lat="0" lon="0" rev="5100000"/>
            </a:lightRig>
          </a:scene3d>
          <a:sp3d contourW="6350">
            <a:bevelT w="29210" h="12700" prst="angle"/>
            <a:contourClr>
              <a:schemeClr val="accent6">
                <a:shade val="30000"/>
                <a:satMod val="130000"/>
              </a:schemeClr>
            </a:contourClr>
          </a:sp3d>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sz="3600" b="1" u="sng" dirty="0"/>
              <a:t>Disability</a:t>
            </a:r>
            <a:br>
              <a:rPr lang="en-US" sz="3600" b="1" u="sng" dirty="0"/>
            </a:br>
            <a:r>
              <a:rPr lang="en-US" sz="3600" i="1" dirty="0"/>
              <a:t>as defined by the ADA</a:t>
            </a:r>
          </a:p>
        </p:txBody>
      </p:sp>
      <p:pic>
        <p:nvPicPr>
          <p:cNvPr id="3" name="Picture 2" descr="Americans with Disabilities Act">
            <a:extLst>
              <a:ext uri="{FF2B5EF4-FFF2-40B4-BE49-F238E27FC236}">
                <a16:creationId xmlns:a16="http://schemas.microsoft.com/office/drawing/2014/main" id="{FB6B04DB-AB23-1F0D-8FE6-D7CB916E8FD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523999" y="3245210"/>
            <a:ext cx="2967413" cy="2850790"/>
          </a:xfrm>
          <a:prstGeom prst="rect">
            <a:avLst/>
          </a:prstGeom>
          <a:scene3d>
            <a:camera prst="orthographicFront"/>
            <a:lightRig rig="threePt" dir="t"/>
          </a:scene3d>
          <a:sp3d>
            <a:bevelT w="139700" prst="cross"/>
          </a:sp3d>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107EA-5FA7-CDA9-DB6F-7F171AEFA578}"/>
              </a:ext>
            </a:extLst>
          </p:cNvPr>
          <p:cNvSpPr>
            <a:spLocks noGrp="1"/>
          </p:cNvSpPr>
          <p:nvPr>
            <p:ph type="title"/>
          </p:nvPr>
        </p:nvSpPr>
        <p:spPr>
          <a:xfrm>
            <a:off x="381392" y="771757"/>
            <a:ext cx="10972800" cy="990600"/>
          </a:xfrm>
        </p:spPr>
        <p:txBody>
          <a:bodyPr>
            <a:normAutofit fontScale="90000"/>
          </a:bodyPr>
          <a:lstStyle/>
          <a:p>
            <a:r>
              <a:rPr lang="en-US" b="1" cap="small" dirty="0"/>
              <a:t>Is substance abuse a disability under the Americans with Disabilities Act?</a:t>
            </a:r>
          </a:p>
        </p:txBody>
      </p:sp>
      <p:sp>
        <p:nvSpPr>
          <p:cNvPr id="3" name="Content Placeholder 2">
            <a:extLst>
              <a:ext uri="{FF2B5EF4-FFF2-40B4-BE49-F238E27FC236}">
                <a16:creationId xmlns:a16="http://schemas.microsoft.com/office/drawing/2014/main" id="{F8604759-89D5-B2C4-FC76-F6826CDBBF18}"/>
              </a:ext>
            </a:extLst>
          </p:cNvPr>
          <p:cNvSpPr>
            <a:spLocks noGrp="1"/>
          </p:cNvSpPr>
          <p:nvPr>
            <p:ph idx="1"/>
          </p:nvPr>
        </p:nvSpPr>
        <p:spPr>
          <a:xfrm>
            <a:off x="533400" y="2213664"/>
            <a:ext cx="8001000" cy="4572000"/>
          </a:xfrm>
        </p:spPr>
        <p:txBody>
          <a:bodyPr/>
          <a:lstStyle/>
          <a:p>
            <a:r>
              <a:rPr lang="en-US" dirty="0"/>
              <a:t>Someone who is actively using illegal drugs is </a:t>
            </a:r>
            <a:r>
              <a:rPr lang="en-US" b="1" dirty="0"/>
              <a:t>not</a:t>
            </a:r>
            <a:r>
              <a:rPr lang="en-US" dirty="0"/>
              <a:t> considered to have a disability.</a:t>
            </a:r>
          </a:p>
          <a:p>
            <a:pPr>
              <a:spcBef>
                <a:spcPts val="1176"/>
              </a:spcBef>
            </a:pPr>
            <a:r>
              <a:rPr lang="en-US" dirty="0"/>
              <a:t>A person who is an alcoholic who is not in recovery </a:t>
            </a:r>
            <a:r>
              <a:rPr lang="en-US" b="1" dirty="0"/>
              <a:t>may</a:t>
            </a:r>
            <a:r>
              <a:rPr lang="en-US" dirty="0"/>
              <a:t> be considered disabled.</a:t>
            </a:r>
          </a:p>
          <a:p>
            <a:pPr>
              <a:spcBef>
                <a:spcPts val="1176"/>
              </a:spcBef>
            </a:pPr>
            <a:r>
              <a:rPr lang="en-US" dirty="0"/>
              <a:t>A person who is in recovery from substance abuse </a:t>
            </a:r>
            <a:r>
              <a:rPr lang="en-US" b="1" dirty="0"/>
              <a:t>may</a:t>
            </a:r>
            <a:r>
              <a:rPr lang="en-US" dirty="0"/>
              <a:t> be considered disabled.</a:t>
            </a:r>
          </a:p>
          <a:p>
            <a:pPr>
              <a:spcBef>
                <a:spcPts val="1176"/>
              </a:spcBef>
            </a:pPr>
            <a:r>
              <a:rPr lang="en-US" dirty="0"/>
              <a:t>Disability </a:t>
            </a:r>
            <a:r>
              <a:rPr lang="en-US" b="1" dirty="0"/>
              <a:t>cannot be used as an excuse </a:t>
            </a:r>
            <a:r>
              <a:rPr lang="en-US" dirty="0"/>
              <a:t>for being under the influence of drugs or alcohol, when it is prohibited, or causes a person to engage in misconduct.</a:t>
            </a:r>
          </a:p>
        </p:txBody>
      </p:sp>
      <p:sp>
        <p:nvSpPr>
          <p:cNvPr id="4" name="Slide Number Placeholder 3">
            <a:extLst>
              <a:ext uri="{FF2B5EF4-FFF2-40B4-BE49-F238E27FC236}">
                <a16:creationId xmlns:a16="http://schemas.microsoft.com/office/drawing/2014/main" id="{712BCA6F-EC5E-BDCD-6B7F-D4A52D5B1751}"/>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12</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a:extLst>
              <a:ext uri="{FF2B5EF4-FFF2-40B4-BE49-F238E27FC236}">
                <a16:creationId xmlns:a16="http://schemas.microsoft.com/office/drawing/2014/main" id="{A0543FE0-033F-F464-49C5-4028210C280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rcRect/>
          <a:stretch/>
        </p:blipFill>
        <p:spPr>
          <a:xfrm>
            <a:off x="9255557" y="4384033"/>
            <a:ext cx="1888693" cy="2057400"/>
          </a:xfrm>
          <a:prstGeom prst="rect">
            <a:avLst/>
          </a:prstGeom>
        </p:spPr>
      </p:pic>
      <p:sp>
        <p:nvSpPr>
          <p:cNvPr id="7" name="TextBox 6">
            <a:extLst>
              <a:ext uri="{FF2B5EF4-FFF2-40B4-BE49-F238E27FC236}">
                <a16:creationId xmlns:a16="http://schemas.microsoft.com/office/drawing/2014/main" id="{49F7B8BA-BE68-F7C6-E582-917B709A5214}"/>
              </a:ext>
            </a:extLst>
          </p:cNvPr>
          <p:cNvSpPr txBox="1"/>
          <p:nvPr/>
        </p:nvSpPr>
        <p:spPr>
          <a:xfrm>
            <a:off x="8763000" y="6589069"/>
            <a:ext cx="4762500" cy="2308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292934"/>
                </a:solidFill>
                <a:effectLst/>
                <a:uLnTx/>
                <a:uFillTx/>
                <a:latin typeface="Book Antiqua" panose="02040602050305030304" pitchFamily="18" charset="0"/>
                <a:ea typeface="ＭＳ Ｐゴシック" panose="020B0600070205080204" pitchFamily="34" charset="-128"/>
                <a:cs typeface="+mn-cs"/>
                <a:hlinkClick r:id="rId4" tooltip="https://www.choosehelp.com/topics/alcoholism/am-i-an-alcoholic"/>
              </a:rPr>
              <a:t>This Photo</a:t>
            </a:r>
            <a:r>
              <a:rPr kumimoji="0" lang="en-US" sz="900" b="0" i="0" u="none" strike="noStrike" kern="1200" cap="none" spc="0" normalizeH="0" baseline="0" noProof="0" dirty="0">
                <a:ln>
                  <a:noFill/>
                </a:ln>
                <a:solidFill>
                  <a:srgbClr val="292934"/>
                </a:solidFill>
                <a:effectLst/>
                <a:uLnTx/>
                <a:uFillTx/>
                <a:latin typeface="Book Antiqua" panose="02040602050305030304" pitchFamily="18" charset="0"/>
                <a:ea typeface="ＭＳ Ｐゴシック" panose="020B0600070205080204" pitchFamily="34" charset="-128"/>
                <a:cs typeface="+mn-cs"/>
              </a:rPr>
              <a:t> by Unknown Author is licensed under </a:t>
            </a:r>
            <a:r>
              <a:rPr kumimoji="0" lang="en-US" sz="900" b="0" i="0" u="none" strike="noStrike" kern="1200" cap="none" spc="0" normalizeH="0" baseline="0" noProof="0" dirty="0">
                <a:ln>
                  <a:noFill/>
                </a:ln>
                <a:solidFill>
                  <a:srgbClr val="292934"/>
                </a:solidFill>
                <a:effectLst/>
                <a:uLnTx/>
                <a:uFillTx/>
                <a:latin typeface="Book Antiqua" panose="02040602050305030304" pitchFamily="18" charset="0"/>
                <a:ea typeface="ＭＳ Ｐゴシック" panose="020B0600070205080204" pitchFamily="34" charset="-128"/>
                <a:cs typeface="+mn-cs"/>
                <a:hlinkClick r:id="rId5" tooltip="https://creativecommons.org/licenses/by/3.0/"/>
              </a:rPr>
              <a:t>CC BY</a:t>
            </a:r>
            <a:endParaRPr kumimoji="0" lang="en-US" sz="900" b="0" i="0" u="none" strike="noStrike" kern="1200" cap="none" spc="0" normalizeH="0" baseline="0" noProof="0" dirty="0">
              <a:ln>
                <a:noFill/>
              </a:ln>
              <a:solidFill>
                <a:srgbClr val="292934"/>
              </a:solidFill>
              <a:effectLst/>
              <a:uLnTx/>
              <a:uFillTx/>
              <a:latin typeface="Book Antiqua" panose="02040602050305030304" pitchFamily="18" charset="0"/>
              <a:ea typeface="ＭＳ Ｐゴシック" panose="020B0600070205080204" pitchFamily="34" charset="-128"/>
              <a:cs typeface="+mn-cs"/>
            </a:endParaRPr>
          </a:p>
        </p:txBody>
      </p:sp>
      <p:pic>
        <p:nvPicPr>
          <p:cNvPr id="9" name="Picture 8">
            <a:extLst>
              <a:ext uri="{FF2B5EF4-FFF2-40B4-BE49-F238E27FC236}">
                <a16:creationId xmlns:a16="http://schemas.microsoft.com/office/drawing/2014/main" id="{3A6B8621-B502-CB67-89DB-FB06C33B5702}"/>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056903" y="2381403"/>
            <a:ext cx="2286000" cy="1285875"/>
          </a:xfrm>
          <a:prstGeom prst="rect">
            <a:avLst/>
          </a:prstGeom>
        </p:spPr>
      </p:pic>
    </p:spTree>
    <p:extLst>
      <p:ext uri="{BB962C8B-B14F-4D97-AF65-F5344CB8AC3E}">
        <p14:creationId xmlns:p14="http://schemas.microsoft.com/office/powerpoint/2010/main" val="113172277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07CB9C7-9E6F-B62B-1ABD-EE3B07B78AAE}"/>
              </a:ext>
            </a:extLst>
          </p:cNvPr>
          <p:cNvSpPr>
            <a:spLocks noGrp="1" noChangeArrowheads="1"/>
          </p:cNvSpPr>
          <p:nvPr>
            <p:ph type="title"/>
          </p:nvPr>
        </p:nvSpPr>
        <p:spPr>
          <a:xfrm>
            <a:off x="1658911" y="528403"/>
            <a:ext cx="8686800" cy="990600"/>
          </a:xfrm>
        </p:spPr>
        <p:style>
          <a:lnRef idx="0">
            <a:schemeClr val="accent2"/>
          </a:lnRef>
          <a:fillRef idx="3">
            <a:schemeClr val="accent2"/>
          </a:fillRef>
          <a:effectRef idx="3">
            <a:schemeClr val="accent2"/>
          </a:effectRef>
          <a:fontRef idx="minor">
            <a:schemeClr val="lt1"/>
          </a:fontRef>
        </p:style>
        <p:txBody>
          <a:bodyPr/>
          <a:lstStyle/>
          <a:p>
            <a:pPr algn="ctr">
              <a:defRPr/>
            </a:pPr>
            <a:r>
              <a:rPr lang="en-US" sz="3200" dirty="0"/>
              <a:t>Americans with Disabilities Act (ADA) </a:t>
            </a:r>
          </a:p>
        </p:txBody>
      </p:sp>
      <p:sp>
        <p:nvSpPr>
          <p:cNvPr id="24578" name="Rectangle 3">
            <a:extLst>
              <a:ext uri="{FF2B5EF4-FFF2-40B4-BE49-F238E27FC236}">
                <a16:creationId xmlns:a16="http://schemas.microsoft.com/office/drawing/2014/main" id="{E03E2151-0B1D-75AE-95D6-DF70060945C9}"/>
              </a:ext>
            </a:extLst>
          </p:cNvPr>
          <p:cNvSpPr>
            <a:spLocks noGrp="1" noChangeArrowheads="1"/>
          </p:cNvSpPr>
          <p:nvPr>
            <p:ph type="body" idx="1"/>
          </p:nvPr>
        </p:nvSpPr>
        <p:spPr>
          <a:xfrm>
            <a:off x="1295400" y="2209800"/>
            <a:ext cx="8610600" cy="3962400"/>
          </a:xfrm>
          <a:noFill/>
        </p:spPr>
        <p:txBody>
          <a:bodyPr/>
          <a:lstStyle/>
          <a:p>
            <a:pPr>
              <a:lnSpc>
                <a:spcPct val="75000"/>
              </a:lnSpc>
              <a:buFont typeface="Monotype Sorts" pitchFamily="2" charset="2"/>
              <a:buNone/>
            </a:pPr>
            <a:r>
              <a:rPr lang="en-US" altLang="en-US" sz="2800" dirty="0">
                <a:latin typeface="Calibri" panose="020F0502020204030204" pitchFamily="34" charset="0"/>
                <a:ea typeface="ＭＳ Ｐゴシック" panose="020B0600070205080204" pitchFamily="34" charset="-128"/>
                <a:cs typeface="Calibri" panose="020F0502020204030204" pitchFamily="34" charset="0"/>
              </a:rPr>
              <a:t>Title I: </a:t>
            </a:r>
            <a:r>
              <a:rPr lang="en-US" altLang="en-US" sz="2800" b="1" dirty="0">
                <a:latin typeface="Calibri" panose="020F0502020204030204" pitchFamily="34" charset="0"/>
                <a:ea typeface="ＭＳ Ｐゴシック" panose="020B0600070205080204" pitchFamily="34" charset="-128"/>
                <a:cs typeface="Calibri" panose="020F0502020204030204" pitchFamily="34" charset="0"/>
              </a:rPr>
              <a:t>EMPLOYMENT</a:t>
            </a:r>
          </a:p>
          <a:p>
            <a:pPr>
              <a:lnSpc>
                <a:spcPct val="75000"/>
              </a:lnSpc>
              <a:buFont typeface="Monotype Sorts" pitchFamily="2" charset="2"/>
              <a:buNone/>
            </a:pPr>
            <a:endParaRPr lang="en-US" altLang="en-US" sz="2800" dirty="0">
              <a:latin typeface="Calibri" panose="020F0502020204030204" pitchFamily="34" charset="0"/>
              <a:ea typeface="ＭＳ Ｐゴシック" panose="020B0600070205080204" pitchFamily="34" charset="-128"/>
              <a:cs typeface="Calibri" panose="020F0502020204030204" pitchFamily="34" charset="0"/>
            </a:endParaRPr>
          </a:p>
          <a:p>
            <a:pPr>
              <a:lnSpc>
                <a:spcPct val="75000"/>
              </a:lnSpc>
              <a:buFont typeface="Monotype Sorts" pitchFamily="2" charset="2"/>
              <a:buNone/>
            </a:pPr>
            <a:r>
              <a:rPr lang="en-US" altLang="en-US" sz="2800" dirty="0">
                <a:latin typeface="Calibri" panose="020F0502020204030204" pitchFamily="34" charset="0"/>
                <a:ea typeface="ＭＳ Ｐゴシック" panose="020B0600070205080204" pitchFamily="34" charset="-128"/>
                <a:cs typeface="Calibri" panose="020F0502020204030204" pitchFamily="34" charset="0"/>
              </a:rPr>
              <a:t>Title II: </a:t>
            </a:r>
            <a:r>
              <a:rPr lang="en-US" altLang="en-US" sz="2800" b="1" dirty="0">
                <a:latin typeface="Calibri" panose="020F0502020204030204" pitchFamily="34" charset="0"/>
                <a:ea typeface="ＭＳ Ｐゴシック" panose="020B0600070205080204" pitchFamily="34" charset="-128"/>
                <a:cs typeface="Calibri" panose="020F0502020204030204" pitchFamily="34" charset="0"/>
              </a:rPr>
              <a:t>PUBLIC SERVICES</a:t>
            </a:r>
          </a:p>
          <a:p>
            <a:pPr>
              <a:lnSpc>
                <a:spcPct val="75000"/>
              </a:lnSpc>
              <a:buFont typeface="Monotype Sorts" pitchFamily="2" charset="2"/>
              <a:buNone/>
            </a:pPr>
            <a:endParaRPr lang="en-US" altLang="en-US" sz="2800" dirty="0">
              <a:latin typeface="Calibri" panose="020F0502020204030204" pitchFamily="34" charset="0"/>
              <a:ea typeface="ＭＳ Ｐゴシック" panose="020B0600070205080204" pitchFamily="34" charset="-128"/>
              <a:cs typeface="Calibri" panose="020F0502020204030204" pitchFamily="34" charset="0"/>
            </a:endParaRPr>
          </a:p>
          <a:p>
            <a:pPr>
              <a:lnSpc>
                <a:spcPct val="75000"/>
              </a:lnSpc>
              <a:buFont typeface="Monotype Sorts" pitchFamily="2" charset="2"/>
              <a:buNone/>
            </a:pPr>
            <a:r>
              <a:rPr lang="en-US" altLang="en-US" sz="2800" dirty="0">
                <a:latin typeface="Calibri" panose="020F0502020204030204" pitchFamily="34" charset="0"/>
                <a:ea typeface="ＭＳ Ｐゴシック" panose="020B0600070205080204" pitchFamily="34" charset="-128"/>
                <a:cs typeface="Calibri" panose="020F0502020204030204" pitchFamily="34" charset="0"/>
              </a:rPr>
              <a:t>Title III: </a:t>
            </a:r>
            <a:r>
              <a:rPr lang="en-US" altLang="en-US" sz="2800" b="1" dirty="0">
                <a:latin typeface="Calibri" panose="020F0502020204030204" pitchFamily="34" charset="0"/>
                <a:ea typeface="ＭＳ Ｐゴシック" panose="020B0600070205080204" pitchFamily="34" charset="-128"/>
                <a:cs typeface="Calibri" panose="020F0502020204030204" pitchFamily="34" charset="0"/>
              </a:rPr>
              <a:t>PUBLIC ACCOMMODATION (private businesses)</a:t>
            </a:r>
          </a:p>
          <a:p>
            <a:pPr>
              <a:lnSpc>
                <a:spcPct val="75000"/>
              </a:lnSpc>
              <a:buFont typeface="Monotype Sorts" pitchFamily="2" charset="2"/>
              <a:buNone/>
            </a:pPr>
            <a:endParaRPr lang="en-US" altLang="en-US" sz="2800" dirty="0">
              <a:latin typeface="Calibri" panose="020F0502020204030204" pitchFamily="34" charset="0"/>
              <a:ea typeface="ＭＳ Ｐゴシック" panose="020B0600070205080204" pitchFamily="34" charset="-128"/>
              <a:cs typeface="Calibri" panose="020F0502020204030204" pitchFamily="34" charset="0"/>
            </a:endParaRPr>
          </a:p>
          <a:p>
            <a:pPr>
              <a:lnSpc>
                <a:spcPct val="75000"/>
              </a:lnSpc>
              <a:buFont typeface="Monotype Sorts" pitchFamily="2" charset="2"/>
              <a:buNone/>
            </a:pPr>
            <a:r>
              <a:rPr lang="en-US" altLang="en-US" sz="2800" dirty="0">
                <a:latin typeface="Calibri" panose="020F0502020204030204" pitchFamily="34" charset="0"/>
                <a:ea typeface="ＭＳ Ｐゴシック" panose="020B0600070205080204" pitchFamily="34" charset="-128"/>
                <a:cs typeface="Calibri" panose="020F0502020204030204" pitchFamily="34" charset="0"/>
              </a:rPr>
              <a:t>Title IV: </a:t>
            </a:r>
            <a:r>
              <a:rPr lang="en-US" altLang="en-US" sz="2800" b="1" dirty="0">
                <a:latin typeface="Calibri" panose="020F0502020204030204" pitchFamily="34" charset="0"/>
                <a:ea typeface="ＭＳ Ｐゴシック" panose="020B0600070205080204" pitchFamily="34" charset="-128"/>
                <a:cs typeface="Calibri" panose="020F0502020204030204" pitchFamily="34" charset="0"/>
              </a:rPr>
              <a:t>TELECOMMUNICATIONS</a:t>
            </a:r>
          </a:p>
          <a:p>
            <a:pPr>
              <a:lnSpc>
                <a:spcPct val="75000"/>
              </a:lnSpc>
              <a:buFont typeface="Monotype Sorts" pitchFamily="2" charset="2"/>
              <a:buNone/>
            </a:pPr>
            <a:endParaRPr lang="en-US" altLang="en-US" sz="2800" dirty="0">
              <a:latin typeface="Calibri" panose="020F0502020204030204" pitchFamily="34" charset="0"/>
              <a:ea typeface="ＭＳ Ｐゴシック" panose="020B0600070205080204" pitchFamily="34" charset="-128"/>
              <a:cs typeface="Calibri" panose="020F0502020204030204" pitchFamily="34" charset="0"/>
            </a:endParaRPr>
          </a:p>
          <a:p>
            <a:pPr>
              <a:lnSpc>
                <a:spcPct val="75000"/>
              </a:lnSpc>
              <a:buFont typeface="Monotype Sorts" pitchFamily="2" charset="2"/>
              <a:buNone/>
            </a:pPr>
            <a:r>
              <a:rPr lang="en-US" altLang="en-US" sz="2800" dirty="0">
                <a:latin typeface="Calibri" panose="020F0502020204030204" pitchFamily="34" charset="0"/>
                <a:ea typeface="ＭＳ Ｐゴシック" panose="020B0600070205080204" pitchFamily="34" charset="-128"/>
                <a:cs typeface="Calibri" panose="020F0502020204030204" pitchFamily="34" charset="0"/>
              </a:rPr>
              <a:t>Title V: </a:t>
            </a:r>
            <a:r>
              <a:rPr lang="en-US" altLang="en-US" sz="2800" b="1" dirty="0">
                <a:latin typeface="Calibri" panose="020F0502020204030204" pitchFamily="34" charset="0"/>
                <a:ea typeface="ＭＳ Ｐゴシック" panose="020B0600070205080204" pitchFamily="34" charset="-128"/>
                <a:cs typeface="Calibri" panose="020F0502020204030204" pitchFamily="34" charset="0"/>
              </a:rPr>
              <a:t>MISCELLANEOUS PROVISIONS</a:t>
            </a:r>
          </a:p>
        </p:txBody>
      </p:sp>
      <p:pic>
        <p:nvPicPr>
          <p:cNvPr id="24579" name="Picture 4">
            <a:extLst>
              <a:ext uri="{FF2B5EF4-FFF2-40B4-BE49-F238E27FC236}">
                <a16:creationId xmlns:a16="http://schemas.microsoft.com/office/drawing/2014/main" id="{8D0AEA8B-5AF8-1C00-1F8E-527B136C28E9}"/>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458200" y="1625600"/>
            <a:ext cx="1905000"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5D77D2E5-E8E1-D915-5528-37BC3B9760D2}"/>
              </a:ext>
            </a:extLst>
          </p:cNvPr>
          <p:cNvSpPr>
            <a:spLocks noGrp="1"/>
          </p:cNvSpPr>
          <p:nvPr>
            <p:ph type="sldNum" sz="quarter" idx="12"/>
          </p:nvPr>
        </p:nvSpPr>
        <p:spPr/>
        <p:txBody>
          <a:bodyPr/>
          <a:lstStyle/>
          <a:p>
            <a:pPr>
              <a:defRPr/>
            </a:pPr>
            <a:fld id="{6DFFECAE-5558-FC4F-A5D5-814DD6134961}" type="slidenum">
              <a:rPr lang="en-US" altLang="en-US" smtClean="0"/>
              <a:pPr>
                <a:defRPr/>
              </a:pPr>
              <a:t>13</a:t>
            </a:fld>
            <a:endParaRPr lang="en-US" altLang="en-US"/>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42A016B-A51B-61BD-0927-FA7CB7A8B539}"/>
              </a:ext>
            </a:extLst>
          </p:cNvPr>
          <p:cNvSpPr>
            <a:spLocks noGrp="1"/>
          </p:cNvSpPr>
          <p:nvPr>
            <p:ph type="title"/>
          </p:nvPr>
        </p:nvSpPr>
        <p:spPr>
          <a:xfrm>
            <a:off x="609600" y="1066800"/>
            <a:ext cx="2895600" cy="1905000"/>
          </a:xfrm>
          <a:scene3d>
            <a:camera prst="orthographicFront"/>
            <a:lightRig rig="threePt" dir="t"/>
          </a:scene3d>
          <a:sp3d>
            <a:bevelT prst="angle"/>
          </a:sp3d>
        </p:spPr>
        <p:style>
          <a:lnRef idx="1">
            <a:schemeClr val="accent4"/>
          </a:lnRef>
          <a:fillRef idx="3">
            <a:schemeClr val="accent4"/>
          </a:fillRef>
          <a:effectRef idx="2">
            <a:schemeClr val="accent4"/>
          </a:effectRef>
          <a:fontRef idx="minor">
            <a:schemeClr val="lt1"/>
          </a:fontRef>
        </p:style>
        <p:txBody>
          <a:bodyPr>
            <a:normAutofit fontScale="90000"/>
          </a:bodyPr>
          <a:lstStyle/>
          <a:p>
            <a:pPr algn="ctr"/>
            <a:r>
              <a:rPr lang="en-US" dirty="0"/>
              <a:t>ADA Title II: Public Services</a:t>
            </a:r>
          </a:p>
        </p:txBody>
      </p:sp>
      <p:sp>
        <p:nvSpPr>
          <p:cNvPr id="4" name="Slide Number Placeholder 3">
            <a:extLst>
              <a:ext uri="{FF2B5EF4-FFF2-40B4-BE49-F238E27FC236}">
                <a16:creationId xmlns:a16="http://schemas.microsoft.com/office/drawing/2014/main" id="{333A3D30-10FC-2478-9FC5-C39BAD81DBFE}"/>
              </a:ext>
            </a:extLst>
          </p:cNvPr>
          <p:cNvSpPr>
            <a:spLocks noGrp="1"/>
          </p:cNvSpPr>
          <p:nvPr>
            <p:ph type="sldNum" sz="quarter" idx="12"/>
          </p:nvPr>
        </p:nvSpPr>
        <p:spPr/>
        <p:txBody>
          <a:bodyPr/>
          <a:lstStyle/>
          <a:p>
            <a:pPr>
              <a:defRPr/>
            </a:pPr>
            <a:fld id="{6DFFECAE-5558-FC4F-A5D5-814DD6134961}" type="slidenum">
              <a:rPr lang="en-US" altLang="en-US" smtClean="0"/>
              <a:pPr>
                <a:defRPr/>
              </a:pPr>
              <a:t>14</a:t>
            </a:fld>
            <a:endParaRPr lang="en-US" altLang="en-US"/>
          </a:p>
        </p:txBody>
      </p:sp>
      <p:pic>
        <p:nvPicPr>
          <p:cNvPr id="7" name="Picture 6">
            <a:extLst>
              <a:ext uri="{FF2B5EF4-FFF2-40B4-BE49-F238E27FC236}">
                <a16:creationId xmlns:a16="http://schemas.microsoft.com/office/drawing/2014/main" id="{FEF91B9A-96D4-7619-24BB-0A7F2D77A04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956300" y="2362200"/>
            <a:ext cx="4914900" cy="3276600"/>
          </a:xfrm>
          <a:prstGeom prst="rect">
            <a:avLst/>
          </a:prstGeom>
        </p:spPr>
      </p:pic>
      <p:pic>
        <p:nvPicPr>
          <p:cNvPr id="9" name="Picture 8">
            <a:extLst>
              <a:ext uri="{FF2B5EF4-FFF2-40B4-BE49-F238E27FC236}">
                <a16:creationId xmlns:a16="http://schemas.microsoft.com/office/drawing/2014/main" id="{9258A253-B508-52DC-5E74-A853633B853C}"/>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1270" y="4336344"/>
            <a:ext cx="3116454" cy="1905000"/>
          </a:xfrm>
          <a:prstGeom prst="rect">
            <a:avLst/>
          </a:prstGeom>
        </p:spPr>
      </p:pic>
    </p:spTree>
    <p:extLst>
      <p:ext uri="{BB962C8B-B14F-4D97-AF65-F5344CB8AC3E}">
        <p14:creationId xmlns:p14="http://schemas.microsoft.com/office/powerpoint/2010/main" val="1654503414"/>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AB7214A-4F0E-8740-99D0-5895F15A5986}"/>
              </a:ext>
            </a:extLst>
          </p:cNvPr>
          <p:cNvSpPr>
            <a:spLocks noGrp="1" noChangeArrowheads="1"/>
          </p:cNvSpPr>
          <p:nvPr>
            <p:ph type="title"/>
          </p:nvPr>
        </p:nvSpPr>
        <p:spPr>
          <a:xfrm>
            <a:off x="3498019" y="653484"/>
            <a:ext cx="4557713" cy="1143000"/>
          </a:xfrm>
        </p:spPr>
        <p:txBody>
          <a:bodyPr/>
          <a:lstStyle/>
          <a:p>
            <a:pPr algn="ctr" eaLnBrk="1" fontAlgn="auto" hangingPunct="1">
              <a:spcAft>
                <a:spcPts val="0"/>
              </a:spcAft>
              <a:defRPr/>
            </a:pPr>
            <a:r>
              <a:rPr lang="en-US" sz="3200" b="1" dirty="0">
                <a:latin typeface="+mn-lt"/>
                <a:ea typeface="+mj-ea"/>
                <a:cs typeface="+mj-cs"/>
              </a:rPr>
              <a:t>ADA: TITLE II</a:t>
            </a:r>
            <a:br>
              <a:rPr lang="en-US" sz="3200" b="1" dirty="0">
                <a:latin typeface="+mn-lt"/>
                <a:ea typeface="+mj-ea"/>
                <a:cs typeface="+mj-cs"/>
              </a:rPr>
            </a:br>
            <a:r>
              <a:rPr lang="en-US" sz="3200" dirty="0">
                <a:latin typeface="+mn-lt"/>
                <a:ea typeface="+mj-ea"/>
                <a:cs typeface="+mj-cs"/>
              </a:rPr>
              <a:t>PUBLIC SERVICES</a:t>
            </a:r>
          </a:p>
        </p:txBody>
      </p:sp>
      <p:sp>
        <p:nvSpPr>
          <p:cNvPr id="43010" name="Rectangle 3">
            <a:extLst>
              <a:ext uri="{FF2B5EF4-FFF2-40B4-BE49-F238E27FC236}">
                <a16:creationId xmlns:a16="http://schemas.microsoft.com/office/drawing/2014/main" id="{02391825-EEC7-904C-BB66-9E5E3B45B88C}"/>
              </a:ext>
            </a:extLst>
          </p:cNvPr>
          <p:cNvSpPr>
            <a:spLocks noGrp="1"/>
          </p:cNvSpPr>
          <p:nvPr>
            <p:ph idx="1"/>
          </p:nvPr>
        </p:nvSpPr>
        <p:spPr>
          <a:xfrm>
            <a:off x="685800" y="2300235"/>
            <a:ext cx="9944100" cy="4724400"/>
          </a:xfrm>
        </p:spPr>
        <p:txBody>
          <a:bodyPr/>
          <a:lstStyle/>
          <a:p>
            <a:pPr marL="457200" indent="-457200" eaLnBrk="1" hangingPunct="1">
              <a:spcBef>
                <a:spcPct val="55000"/>
              </a:spcBef>
              <a:buFont typeface="+mj-lt"/>
              <a:buAutoNum type="arabicPeriod"/>
            </a:pPr>
            <a:r>
              <a:rPr lang="en-US" altLang="en-US" b="1" dirty="0">
                <a:latin typeface="Arial Narrow" panose="020B0604020202020204" pitchFamily="34" charset="0"/>
                <a:ea typeface="ＭＳ Ｐゴシック" panose="020B0600070205080204" pitchFamily="34" charset="-128"/>
              </a:rPr>
              <a:t>Discrimination by state and local government services prohibited.</a:t>
            </a:r>
          </a:p>
          <a:p>
            <a:pPr marL="457200" indent="-457200" eaLnBrk="1" hangingPunct="1">
              <a:spcBef>
                <a:spcPct val="55000"/>
              </a:spcBef>
              <a:buFont typeface="+mj-lt"/>
              <a:buAutoNum type="arabicPeriod"/>
            </a:pPr>
            <a:r>
              <a:rPr lang="en-US" altLang="en-US" dirty="0">
                <a:latin typeface="Arial Narrow" panose="020B0604020202020204" pitchFamily="34" charset="0"/>
                <a:ea typeface="ＭＳ Ｐゴシック" panose="020B0600070205080204" pitchFamily="34" charset="-128"/>
              </a:rPr>
              <a:t>Services, programs, activities when viewed in their </a:t>
            </a:r>
            <a:r>
              <a:rPr lang="en-US" altLang="en-US" b="1" dirty="0">
                <a:latin typeface="Arial Narrow" panose="020B0604020202020204" pitchFamily="34" charset="0"/>
                <a:ea typeface="ＭＳ Ｐゴシック" panose="020B0600070205080204" pitchFamily="34" charset="-128"/>
              </a:rPr>
              <a:t>entirety</a:t>
            </a:r>
            <a:r>
              <a:rPr lang="en-US" altLang="en-US" dirty="0">
                <a:latin typeface="Arial Narrow" panose="020B0604020202020204" pitchFamily="34" charset="0"/>
                <a:ea typeface="ＭＳ Ｐゴシック" panose="020B0600070205080204" pitchFamily="34" charset="-128"/>
              </a:rPr>
              <a:t>:</a:t>
            </a:r>
            <a:br>
              <a:rPr lang="en-US" altLang="en-US" dirty="0">
                <a:latin typeface="Arial Narrow" panose="020B0604020202020204" pitchFamily="34" charset="0"/>
                <a:ea typeface="ＭＳ Ｐゴシック" panose="020B0600070205080204" pitchFamily="34" charset="-128"/>
              </a:rPr>
            </a:br>
            <a:r>
              <a:rPr lang="en-US" altLang="en-US" dirty="0">
                <a:latin typeface="Arial Narrow" panose="020B0604020202020204" pitchFamily="34" charset="0"/>
                <a:ea typeface="ＭＳ Ｐゴシック" panose="020B0600070205080204" pitchFamily="34" charset="-128"/>
              </a:rPr>
              <a:t>readily accessible and usable by individuals with disabilities.</a:t>
            </a:r>
          </a:p>
          <a:p>
            <a:pPr marL="457200" indent="-457200" eaLnBrk="1" hangingPunct="1">
              <a:spcBef>
                <a:spcPct val="55000"/>
              </a:spcBef>
              <a:buFont typeface="+mj-lt"/>
              <a:buAutoNum type="arabicPeriod"/>
            </a:pPr>
            <a:r>
              <a:rPr lang="en-US" altLang="en-US" dirty="0">
                <a:latin typeface="Arial Narrow" panose="020B0604020202020204" pitchFamily="34" charset="0"/>
                <a:ea typeface="ＭＳ Ｐゴシック" panose="020B0600070205080204" pitchFamily="34" charset="-128"/>
              </a:rPr>
              <a:t>Do not need to remove physical barriers, </a:t>
            </a:r>
            <a:r>
              <a:rPr lang="en-US" altLang="en-US" b="1" dirty="0">
                <a:latin typeface="Arial Narrow" panose="020B0604020202020204" pitchFamily="34" charset="0"/>
                <a:ea typeface="ＭＳ Ｐゴシック" panose="020B0600070205080204" pitchFamily="34" charset="-128"/>
              </a:rPr>
              <a:t>as long as programs are accessible to individuals </a:t>
            </a:r>
            <a:r>
              <a:rPr lang="en-US" altLang="en-US" dirty="0">
                <a:latin typeface="Arial Narrow" panose="020B0604020202020204" pitchFamily="34" charset="0"/>
                <a:ea typeface="ＭＳ Ｐゴシック" panose="020B0600070205080204" pitchFamily="34" charset="-128"/>
              </a:rPr>
              <a:t>who are unable to use an inaccessible existing facility. </a:t>
            </a:r>
          </a:p>
          <a:p>
            <a:pPr marL="457200" indent="-457200" eaLnBrk="1" hangingPunct="1">
              <a:spcBef>
                <a:spcPct val="55000"/>
              </a:spcBef>
              <a:buFont typeface="+mj-lt"/>
              <a:buAutoNum type="arabicPeriod"/>
            </a:pPr>
            <a:r>
              <a:rPr lang="en-US" altLang="en-US" b="1" dirty="0">
                <a:latin typeface="Arial Narrow" panose="020B0604020202020204" pitchFamily="34" charset="0"/>
                <a:ea typeface="ＭＳ Ｐゴシック" panose="020B0600070205080204" pitchFamily="34" charset="-128"/>
              </a:rPr>
              <a:t>Must provide programs and services in integrated setting</a:t>
            </a:r>
            <a:r>
              <a:rPr lang="en-US" altLang="en-US" dirty="0">
                <a:latin typeface="Arial Narrow" panose="020B0604020202020204" pitchFamily="34" charset="0"/>
                <a:ea typeface="ＭＳ Ｐゴシック" panose="020B0600070205080204" pitchFamily="34" charset="-128"/>
              </a:rPr>
              <a:t>, unless separate setting is necessary to ensure equal opportunity.</a:t>
            </a:r>
          </a:p>
          <a:p>
            <a:pPr marL="457200" indent="-457200" eaLnBrk="1" hangingPunct="1">
              <a:spcBef>
                <a:spcPct val="55000"/>
              </a:spcBef>
              <a:buFont typeface="+mj-lt"/>
              <a:buAutoNum type="arabicPeriod"/>
            </a:pPr>
            <a:r>
              <a:rPr lang="en-US" altLang="en-US" b="1" dirty="0">
                <a:latin typeface="Arial Narrow" panose="020B0604020202020204" pitchFamily="34" charset="0"/>
                <a:ea typeface="ＭＳ Ｐゴシック" panose="020B0600070205080204" pitchFamily="34" charset="-128"/>
              </a:rPr>
              <a:t>No unnecessary eligibility standards or rules </a:t>
            </a:r>
            <a:r>
              <a:rPr lang="en-US" altLang="en-US" dirty="0">
                <a:latin typeface="Arial Narrow" panose="020B0604020202020204" pitchFamily="34" charset="0"/>
                <a:ea typeface="ＭＳ Ｐゴシック" panose="020B0600070205080204" pitchFamily="34" charset="-128"/>
              </a:rPr>
              <a:t>that deny individuals with disabilities equal opportunity to enjoy services.</a:t>
            </a:r>
          </a:p>
        </p:txBody>
      </p:sp>
      <p:pic>
        <p:nvPicPr>
          <p:cNvPr id="43011" name="Picture 4">
            <a:extLst>
              <a:ext uri="{FF2B5EF4-FFF2-40B4-BE49-F238E27FC236}">
                <a16:creationId xmlns:a16="http://schemas.microsoft.com/office/drawing/2014/main" id="{B5DCF82E-37B8-D64F-9ACE-607D5C80854F}"/>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05053"/>
            <a:ext cx="1314450"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Slide Number Placeholder 1">
            <a:extLst>
              <a:ext uri="{FF2B5EF4-FFF2-40B4-BE49-F238E27FC236}">
                <a16:creationId xmlns:a16="http://schemas.microsoft.com/office/drawing/2014/main" id="{2CD1674A-C4AA-8542-9B60-38E30353A8A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2E04B407-F9E6-9A44-820D-8FC73DAA0B61}" type="slidenum">
              <a:rPr lang="en-US" altLang="en-US" sz="1400">
                <a:solidFill>
                  <a:srgbClr val="FFFFFF"/>
                </a:solidFill>
              </a:rPr>
              <a:pPr/>
              <a:t>15</a:t>
            </a:fld>
            <a:endParaRPr lang="en-US" altLang="en-US" sz="1400">
              <a:solidFill>
                <a:srgbClr val="FFFFFF"/>
              </a:solidFill>
            </a:endParaRPr>
          </a:p>
        </p:txBody>
      </p:sp>
      <p:pic>
        <p:nvPicPr>
          <p:cNvPr id="5" name="Picture 4">
            <a:extLst>
              <a:ext uri="{FF2B5EF4-FFF2-40B4-BE49-F238E27FC236}">
                <a16:creationId xmlns:a16="http://schemas.microsoft.com/office/drawing/2014/main" id="{9DEFBAB5-4E05-7F48-B753-5C0E2B1349D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46331" y="604018"/>
            <a:ext cx="2176537" cy="1439863"/>
          </a:xfrm>
          <a:prstGeom prst="rect">
            <a:avLst/>
          </a:prstGeom>
        </p:spPr>
      </p:pic>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BD4877E8-8944-754F-BEC4-5BE64ED8FEB1}"/>
              </a:ext>
            </a:extLst>
          </p:cNvPr>
          <p:cNvSpPr>
            <a:spLocks noGrp="1" noChangeArrowheads="1"/>
          </p:cNvSpPr>
          <p:nvPr>
            <p:ph type="title"/>
          </p:nvPr>
        </p:nvSpPr>
        <p:spPr>
          <a:xfrm>
            <a:off x="2057400" y="722792"/>
            <a:ext cx="5091113" cy="1143000"/>
          </a:xfrm>
        </p:spPr>
        <p:txBody>
          <a:bodyPr/>
          <a:lstStyle/>
          <a:p>
            <a:pPr algn="ctr" eaLnBrk="1" fontAlgn="auto" hangingPunct="1">
              <a:spcAft>
                <a:spcPts val="0"/>
              </a:spcAft>
              <a:defRPr/>
            </a:pPr>
            <a:r>
              <a:rPr lang="en-US" sz="3200" b="1" dirty="0">
                <a:latin typeface="+mn-lt"/>
                <a:ea typeface="+mj-ea"/>
                <a:cs typeface="+mj-cs"/>
              </a:rPr>
              <a:t>ADA: TITLE II</a:t>
            </a:r>
            <a:br>
              <a:rPr lang="en-US" sz="3200" b="1" dirty="0">
                <a:latin typeface="+mn-lt"/>
                <a:ea typeface="+mj-ea"/>
                <a:cs typeface="+mj-cs"/>
              </a:rPr>
            </a:br>
            <a:r>
              <a:rPr lang="en-US" sz="3200" dirty="0">
                <a:latin typeface="+mn-lt"/>
                <a:ea typeface="+mj-ea"/>
                <a:cs typeface="+mj-cs"/>
              </a:rPr>
              <a:t>PUBLIC SERVICES</a:t>
            </a:r>
          </a:p>
        </p:txBody>
      </p:sp>
      <p:sp>
        <p:nvSpPr>
          <p:cNvPr id="55298" name="Rectangle 3">
            <a:extLst>
              <a:ext uri="{FF2B5EF4-FFF2-40B4-BE49-F238E27FC236}">
                <a16:creationId xmlns:a16="http://schemas.microsoft.com/office/drawing/2014/main" id="{469760B5-FB4F-6C48-8A8F-48D471AD794E}"/>
              </a:ext>
            </a:extLst>
          </p:cNvPr>
          <p:cNvSpPr>
            <a:spLocks noGrp="1" noChangeArrowheads="1"/>
          </p:cNvSpPr>
          <p:nvPr>
            <p:ph idx="1"/>
          </p:nvPr>
        </p:nvSpPr>
        <p:spPr>
          <a:xfrm>
            <a:off x="457200" y="2024743"/>
            <a:ext cx="9022556" cy="4724400"/>
          </a:xfrm>
        </p:spPr>
        <p:txBody>
          <a:bodyPr rtlCol="0">
            <a:normAutofit/>
          </a:bodyPr>
          <a:lstStyle/>
          <a:p>
            <a:pPr marL="457200" indent="-457200" eaLnBrk="1" fontAlgn="auto" hangingPunct="1">
              <a:spcBef>
                <a:spcPts val="1176"/>
              </a:spcBef>
              <a:spcAft>
                <a:spcPts val="0"/>
              </a:spcAft>
              <a:buFont typeface="+mj-lt"/>
              <a:buAutoNum type="arabicPeriod" startAt="6"/>
              <a:defRPr/>
            </a:pPr>
            <a:r>
              <a:rPr lang="en-US" b="1" dirty="0">
                <a:latin typeface="Arial Narrow" charset="0"/>
                <a:ea typeface="+mn-ea"/>
                <a:cs typeface="Arial Narrow" charset="0"/>
              </a:rPr>
              <a:t>Reasonable modifications in policies, practices, and procedures </a:t>
            </a:r>
            <a:r>
              <a:rPr lang="en-US" dirty="0">
                <a:latin typeface="Arial Narrow" charset="0"/>
                <a:ea typeface="+mn-ea"/>
                <a:cs typeface="Arial Narrow" charset="0"/>
              </a:rPr>
              <a:t>are required unless undue burden or fundamental alteration in program, service or activity, would result.</a:t>
            </a:r>
          </a:p>
          <a:p>
            <a:pPr marL="457200" indent="-457200" eaLnBrk="1" fontAlgn="auto" hangingPunct="1">
              <a:spcBef>
                <a:spcPts val="1176"/>
              </a:spcBef>
              <a:spcAft>
                <a:spcPts val="0"/>
              </a:spcAft>
              <a:buFont typeface="+mj-lt"/>
              <a:buAutoNum type="arabicPeriod" startAt="6"/>
              <a:defRPr/>
            </a:pPr>
            <a:r>
              <a:rPr lang="en-US" dirty="0">
                <a:latin typeface="Arial Narrow" charset="0"/>
                <a:ea typeface="+mn-ea"/>
                <a:cs typeface="Arial Narrow" charset="0"/>
              </a:rPr>
              <a:t>Must furnish </a:t>
            </a:r>
            <a:r>
              <a:rPr lang="en-US" b="1" dirty="0">
                <a:latin typeface="Arial Narrow" charset="0"/>
                <a:ea typeface="+mn-ea"/>
                <a:cs typeface="Arial Narrow" charset="0"/>
              </a:rPr>
              <a:t>auxiliary aids and services </a:t>
            </a:r>
            <a:r>
              <a:rPr lang="en-US" dirty="0">
                <a:latin typeface="Arial Narrow" charset="0"/>
                <a:ea typeface="+mn-ea"/>
                <a:cs typeface="Arial Narrow" charset="0"/>
              </a:rPr>
              <a:t>to ensure </a:t>
            </a:r>
            <a:r>
              <a:rPr lang="en-US" b="1" dirty="0">
                <a:latin typeface="Arial Narrow" charset="0"/>
                <a:ea typeface="+mn-ea"/>
                <a:cs typeface="Arial Narrow" charset="0"/>
              </a:rPr>
              <a:t>equally effective communication</a:t>
            </a:r>
            <a:r>
              <a:rPr lang="en-US" dirty="0">
                <a:latin typeface="Arial Narrow" charset="0"/>
                <a:ea typeface="+mn-ea"/>
                <a:cs typeface="Arial Narrow" charset="0"/>
              </a:rPr>
              <a:t>, unless undue burden or fundamental alteration.</a:t>
            </a:r>
          </a:p>
          <a:p>
            <a:pPr marL="457200" indent="-457200" eaLnBrk="1" fontAlgn="auto" hangingPunct="1">
              <a:spcBef>
                <a:spcPts val="1176"/>
              </a:spcBef>
              <a:spcAft>
                <a:spcPts val="0"/>
              </a:spcAft>
              <a:buFont typeface="+mj-lt"/>
              <a:buAutoNum type="arabicPeriod" startAt="6"/>
              <a:defRPr/>
            </a:pPr>
            <a:r>
              <a:rPr lang="en-US" b="1" dirty="0">
                <a:latin typeface="Arial Narrow" charset="0"/>
                <a:ea typeface="+mn-ea"/>
                <a:cs typeface="Arial Narrow" charset="0"/>
              </a:rPr>
              <a:t>No special charges.</a:t>
            </a:r>
          </a:p>
          <a:p>
            <a:pPr marL="457200" indent="-457200" eaLnBrk="1" fontAlgn="auto" hangingPunct="1">
              <a:spcBef>
                <a:spcPts val="1176"/>
              </a:spcBef>
              <a:spcAft>
                <a:spcPts val="0"/>
              </a:spcAft>
              <a:buFont typeface="+mj-lt"/>
              <a:buAutoNum type="arabicPeriod" startAt="6"/>
              <a:defRPr/>
            </a:pPr>
            <a:r>
              <a:rPr lang="en-US" b="1" dirty="0">
                <a:latin typeface="Arial Narrow" charset="0"/>
                <a:ea typeface="+mn-ea"/>
                <a:cs typeface="Arial Narrow" charset="0"/>
              </a:rPr>
              <a:t>Public transportation systems must be accessible to</a:t>
            </a:r>
            <a:br>
              <a:rPr lang="en-US" b="1" dirty="0">
                <a:latin typeface="Arial Narrow" charset="0"/>
                <a:ea typeface="+mn-ea"/>
                <a:cs typeface="Arial Narrow" charset="0"/>
              </a:rPr>
            </a:br>
            <a:r>
              <a:rPr lang="en-US" b="1" dirty="0">
                <a:latin typeface="Arial Narrow" charset="0"/>
                <a:ea typeface="+mn-ea"/>
                <a:cs typeface="Arial Narrow" charset="0"/>
              </a:rPr>
              <a:t>people with disabilities. </a:t>
            </a:r>
            <a:r>
              <a:rPr lang="en-US" dirty="0">
                <a:latin typeface="Arial Narrow" charset="0"/>
                <a:ea typeface="+mn-ea"/>
                <a:cs typeface="Arial Narrow" charset="0"/>
              </a:rPr>
              <a:t>Transit authorities must provide supplementary </a:t>
            </a:r>
            <a:r>
              <a:rPr lang="en-US" b="1" i="1" dirty="0">
                <a:latin typeface="Arial Narrow" charset="0"/>
                <a:ea typeface="+mn-ea"/>
                <a:cs typeface="Arial Narrow" charset="0"/>
              </a:rPr>
              <a:t>paratransit</a:t>
            </a:r>
            <a:r>
              <a:rPr lang="en-US" dirty="0">
                <a:latin typeface="Arial Narrow" charset="0"/>
                <a:ea typeface="+mn-ea"/>
                <a:cs typeface="Arial Narrow" charset="0"/>
              </a:rPr>
              <a:t> services or other special</a:t>
            </a:r>
            <a:br>
              <a:rPr lang="en-US" dirty="0">
                <a:latin typeface="Arial Narrow" charset="0"/>
                <a:ea typeface="+mn-ea"/>
                <a:cs typeface="Arial Narrow" charset="0"/>
              </a:rPr>
            </a:br>
            <a:r>
              <a:rPr lang="en-US" dirty="0">
                <a:latin typeface="Arial Narrow" charset="0"/>
                <a:ea typeface="+mn-ea"/>
                <a:cs typeface="Arial Narrow" charset="0"/>
              </a:rPr>
              <a:t>transportation services for individuals with disabilities</a:t>
            </a:r>
            <a:br>
              <a:rPr lang="en-US" dirty="0">
                <a:latin typeface="Arial Narrow" charset="0"/>
                <a:ea typeface="+mn-ea"/>
                <a:cs typeface="Arial Narrow" charset="0"/>
              </a:rPr>
            </a:br>
            <a:r>
              <a:rPr lang="en-US" dirty="0">
                <a:latin typeface="Arial Narrow" charset="0"/>
                <a:ea typeface="+mn-ea"/>
                <a:cs typeface="Arial Narrow" charset="0"/>
              </a:rPr>
              <a:t>who cannot use fixed-route bus services.</a:t>
            </a:r>
          </a:p>
        </p:txBody>
      </p:sp>
      <p:pic>
        <p:nvPicPr>
          <p:cNvPr id="44035" name="Picture 4">
            <a:extLst>
              <a:ext uri="{FF2B5EF4-FFF2-40B4-BE49-F238E27FC236}">
                <a16:creationId xmlns:a16="http://schemas.microsoft.com/office/drawing/2014/main" id="{4FC23EC6-3702-494C-A7E9-2828B3DF88C7}"/>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3867" y="544085"/>
            <a:ext cx="1740480" cy="1500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Slide Number Placeholder 1">
            <a:extLst>
              <a:ext uri="{FF2B5EF4-FFF2-40B4-BE49-F238E27FC236}">
                <a16:creationId xmlns:a16="http://schemas.microsoft.com/office/drawing/2014/main" id="{234AEC4F-4AB7-1648-AFA9-7174E882FD0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11D00378-9DC3-F84D-A806-739D4BDE7380}" type="slidenum">
              <a:rPr lang="en-US" altLang="en-US" sz="1400">
                <a:solidFill>
                  <a:srgbClr val="FFFFFF"/>
                </a:solidFill>
              </a:rPr>
              <a:pPr/>
              <a:t>16</a:t>
            </a:fld>
            <a:endParaRPr lang="en-US" altLang="en-US" sz="1400">
              <a:solidFill>
                <a:srgbClr val="FFFFFF"/>
              </a:solidFill>
            </a:endParaRPr>
          </a:p>
        </p:txBody>
      </p:sp>
      <p:pic>
        <p:nvPicPr>
          <p:cNvPr id="3" name="Picture 2">
            <a:extLst>
              <a:ext uri="{FF2B5EF4-FFF2-40B4-BE49-F238E27FC236}">
                <a16:creationId xmlns:a16="http://schemas.microsoft.com/office/drawing/2014/main" id="{8013F8B6-3EA8-E340-9308-76D5EC1D4C2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829800" y="4779736"/>
            <a:ext cx="1673678" cy="1673678"/>
          </a:xfrm>
          <a:prstGeom prst="rect">
            <a:avLst/>
          </a:prstGeom>
        </p:spPr>
      </p:pic>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50562-A48E-3585-6712-4D172F8356F9}"/>
              </a:ext>
            </a:extLst>
          </p:cNvPr>
          <p:cNvSpPr>
            <a:spLocks noGrp="1"/>
          </p:cNvSpPr>
          <p:nvPr>
            <p:ph type="title"/>
          </p:nvPr>
        </p:nvSpPr>
        <p:spPr/>
        <p:txBody>
          <a:bodyPr/>
          <a:lstStyle/>
          <a:p>
            <a:r>
              <a:rPr lang="en-US" b="1" cap="small" dirty="0"/>
              <a:t>What does ADA Title II apply to?</a:t>
            </a:r>
          </a:p>
        </p:txBody>
      </p:sp>
      <p:sp>
        <p:nvSpPr>
          <p:cNvPr id="3" name="Content Placeholder 2">
            <a:extLst>
              <a:ext uri="{FF2B5EF4-FFF2-40B4-BE49-F238E27FC236}">
                <a16:creationId xmlns:a16="http://schemas.microsoft.com/office/drawing/2014/main" id="{E1495338-67A8-9DAF-552B-4253DCFE8435}"/>
              </a:ext>
            </a:extLst>
          </p:cNvPr>
          <p:cNvSpPr>
            <a:spLocks noGrp="1"/>
          </p:cNvSpPr>
          <p:nvPr>
            <p:ph idx="1"/>
          </p:nvPr>
        </p:nvSpPr>
        <p:spPr>
          <a:xfrm>
            <a:off x="603603" y="1492956"/>
            <a:ext cx="10972800" cy="4876800"/>
          </a:xfrm>
        </p:spPr>
        <p:txBody>
          <a:bodyPr/>
          <a:lstStyle/>
          <a:p>
            <a:r>
              <a:rPr lang="en-US" dirty="0"/>
              <a:t>All municipal buildings, programs, and services</a:t>
            </a:r>
          </a:p>
          <a:p>
            <a:pPr lvl="1"/>
            <a:r>
              <a:rPr lang="en-US" dirty="0"/>
              <a:t>City government operations</a:t>
            </a:r>
          </a:p>
          <a:p>
            <a:pPr lvl="1"/>
            <a:r>
              <a:rPr lang="en-US" dirty="0"/>
              <a:t>Schools</a:t>
            </a:r>
          </a:p>
          <a:p>
            <a:pPr lvl="1"/>
            <a:r>
              <a:rPr lang="en-US" dirty="0"/>
              <a:t>Libraries</a:t>
            </a:r>
          </a:p>
          <a:p>
            <a:pPr lvl="1"/>
            <a:r>
              <a:rPr lang="en-US" dirty="0"/>
              <a:t>Recreation facilities</a:t>
            </a:r>
          </a:p>
          <a:p>
            <a:pPr lvl="1"/>
            <a:r>
              <a:rPr lang="en-US" dirty="0"/>
              <a:t>Parks</a:t>
            </a:r>
          </a:p>
          <a:p>
            <a:pPr lvl="1"/>
            <a:r>
              <a:rPr lang="en-US" dirty="0"/>
              <a:t>City owned/operated facilities</a:t>
            </a:r>
          </a:p>
          <a:p>
            <a:pPr lvl="1"/>
            <a:r>
              <a:rPr lang="en-US" dirty="0"/>
              <a:t>Public safety</a:t>
            </a:r>
          </a:p>
        </p:txBody>
      </p:sp>
      <p:sp>
        <p:nvSpPr>
          <p:cNvPr id="4" name="Slide Number Placeholder 3">
            <a:extLst>
              <a:ext uri="{FF2B5EF4-FFF2-40B4-BE49-F238E27FC236}">
                <a16:creationId xmlns:a16="http://schemas.microsoft.com/office/drawing/2014/main" id="{B2DA34B2-B2A1-E9A8-4BAB-66A4054CCB4C}"/>
              </a:ext>
            </a:extLst>
          </p:cNvPr>
          <p:cNvSpPr>
            <a:spLocks noGrp="1"/>
          </p:cNvSpPr>
          <p:nvPr>
            <p:ph type="sldNum" sz="quarter" idx="12"/>
          </p:nvPr>
        </p:nvSpPr>
        <p:spPr/>
        <p:txBody>
          <a:bodyPr/>
          <a:lstStyle/>
          <a:p>
            <a:pPr>
              <a:defRPr/>
            </a:pPr>
            <a:fld id="{6DFFECAE-5558-FC4F-A5D5-814DD6134961}" type="slidenum">
              <a:rPr lang="en-US" altLang="en-US" smtClean="0"/>
              <a:pPr>
                <a:defRPr/>
              </a:pPr>
              <a:t>17</a:t>
            </a:fld>
            <a:endParaRPr lang="en-US" altLang="en-US"/>
          </a:p>
        </p:txBody>
      </p:sp>
      <p:pic>
        <p:nvPicPr>
          <p:cNvPr id="6" name="Picture 5">
            <a:extLst>
              <a:ext uri="{FF2B5EF4-FFF2-40B4-BE49-F238E27FC236}">
                <a16:creationId xmlns:a16="http://schemas.microsoft.com/office/drawing/2014/main" id="{20811F9C-277F-9B56-60C2-9FCE95BB16F3}"/>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49108" y="5165637"/>
            <a:ext cx="2228850" cy="1485900"/>
          </a:xfrm>
          <a:prstGeom prst="rect">
            <a:avLst/>
          </a:prstGeom>
        </p:spPr>
      </p:pic>
      <p:pic>
        <p:nvPicPr>
          <p:cNvPr id="8" name="Picture 7">
            <a:extLst>
              <a:ext uri="{FF2B5EF4-FFF2-40B4-BE49-F238E27FC236}">
                <a16:creationId xmlns:a16="http://schemas.microsoft.com/office/drawing/2014/main" id="{9C49DBB5-581B-E230-AE53-C30900AB8C9E}"/>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87241" y="704587"/>
            <a:ext cx="2381250" cy="1587500"/>
          </a:xfrm>
          <a:prstGeom prst="rect">
            <a:avLst/>
          </a:prstGeom>
        </p:spPr>
      </p:pic>
      <p:pic>
        <p:nvPicPr>
          <p:cNvPr id="10" name="Picture 9">
            <a:extLst>
              <a:ext uri="{FF2B5EF4-FFF2-40B4-BE49-F238E27FC236}">
                <a16:creationId xmlns:a16="http://schemas.microsoft.com/office/drawing/2014/main" id="{86EF47E6-59FD-1814-A41D-AF3A1FB99E84}"/>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95153" y="4948591"/>
            <a:ext cx="2381250" cy="1587500"/>
          </a:xfrm>
          <a:prstGeom prst="rect">
            <a:avLst/>
          </a:prstGeom>
        </p:spPr>
      </p:pic>
      <p:pic>
        <p:nvPicPr>
          <p:cNvPr id="16" name="Picture 15">
            <a:extLst>
              <a:ext uri="{FF2B5EF4-FFF2-40B4-BE49-F238E27FC236}">
                <a16:creationId xmlns:a16="http://schemas.microsoft.com/office/drawing/2014/main" id="{2DCD6061-F88F-111A-451A-65B1C530B4CD}"/>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549915" y="2260600"/>
            <a:ext cx="2336800" cy="2336800"/>
          </a:xfrm>
          <a:prstGeom prst="rect">
            <a:avLst/>
          </a:prstGeom>
        </p:spPr>
      </p:pic>
      <p:pic>
        <p:nvPicPr>
          <p:cNvPr id="18" name="Picture 17">
            <a:extLst>
              <a:ext uri="{FF2B5EF4-FFF2-40B4-BE49-F238E27FC236}">
                <a16:creationId xmlns:a16="http://schemas.microsoft.com/office/drawing/2014/main" id="{57102FE4-0FA1-3F49-354C-95D25F3606FB}"/>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575979" y="4573941"/>
            <a:ext cx="2743796" cy="2336800"/>
          </a:xfrm>
          <a:prstGeom prst="rect">
            <a:avLst/>
          </a:prstGeom>
        </p:spPr>
      </p:pic>
      <p:pic>
        <p:nvPicPr>
          <p:cNvPr id="7" name="Picture 6" descr="A cartoon firefighter garment&#10;&#10;AI-generated content may be incorrect.">
            <a:extLst>
              <a:ext uri="{FF2B5EF4-FFF2-40B4-BE49-F238E27FC236}">
                <a16:creationId xmlns:a16="http://schemas.microsoft.com/office/drawing/2014/main" id="{24E43603-363C-EEB1-776C-EC8FDF80199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453655" y="2637191"/>
            <a:ext cx="841248" cy="2336800"/>
          </a:xfrm>
          <a:prstGeom prst="rect">
            <a:avLst/>
          </a:prstGeom>
        </p:spPr>
      </p:pic>
      <p:pic>
        <p:nvPicPr>
          <p:cNvPr id="11" name="Picture 10" descr="A police car with lights on top&#10;&#10;AI-generated content may be incorrect.">
            <a:extLst>
              <a:ext uri="{FF2B5EF4-FFF2-40B4-BE49-F238E27FC236}">
                <a16:creationId xmlns:a16="http://schemas.microsoft.com/office/drawing/2014/main" id="{456BAB7C-4DF6-5B1A-AB36-C9730CE84809}"/>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478524" y="2725607"/>
            <a:ext cx="2438400" cy="1828800"/>
          </a:xfrm>
          <a:prstGeom prst="rect">
            <a:avLst/>
          </a:prstGeom>
        </p:spPr>
      </p:pic>
    </p:spTree>
    <p:extLst>
      <p:ext uri="{BB962C8B-B14F-4D97-AF65-F5344CB8AC3E}">
        <p14:creationId xmlns:p14="http://schemas.microsoft.com/office/powerpoint/2010/main" val="243824991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4F529-5F9D-1E19-8505-ECE30E7C3CFB}"/>
              </a:ext>
            </a:extLst>
          </p:cNvPr>
          <p:cNvSpPr>
            <a:spLocks noGrp="1"/>
          </p:cNvSpPr>
          <p:nvPr>
            <p:ph type="title"/>
          </p:nvPr>
        </p:nvSpPr>
        <p:spPr>
          <a:xfrm>
            <a:off x="381000" y="533400"/>
            <a:ext cx="4800600" cy="990600"/>
          </a:xfrm>
          <a:scene3d>
            <a:camera prst="orthographicFront"/>
            <a:lightRig rig="threePt" dir="t"/>
          </a:scene3d>
          <a:sp3d>
            <a:bevelT prst="angle"/>
          </a:sp3d>
        </p:spPr>
        <p:style>
          <a:lnRef idx="1">
            <a:schemeClr val="accent3"/>
          </a:lnRef>
          <a:fillRef idx="3">
            <a:schemeClr val="accent3"/>
          </a:fillRef>
          <a:effectRef idx="2">
            <a:schemeClr val="accent3"/>
          </a:effectRef>
          <a:fontRef idx="minor">
            <a:schemeClr val="lt1"/>
          </a:fontRef>
        </p:style>
        <p:txBody>
          <a:bodyPr anchor="ctr">
            <a:normAutofit fontScale="90000"/>
          </a:bodyPr>
          <a:lstStyle/>
          <a:p>
            <a:r>
              <a:rPr lang="en-US" cap="small" dirty="0"/>
              <a:t>Contracted Services</a:t>
            </a:r>
          </a:p>
        </p:txBody>
      </p:sp>
      <p:pic>
        <p:nvPicPr>
          <p:cNvPr id="6" name="Picture 5">
            <a:extLst>
              <a:ext uri="{FF2B5EF4-FFF2-40B4-BE49-F238E27FC236}">
                <a16:creationId xmlns:a16="http://schemas.microsoft.com/office/drawing/2014/main" id="{20C7A48F-4A57-2C64-A609-8BC3720B9753}"/>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r="141" b="1"/>
          <a:stretch/>
        </p:blipFill>
        <p:spPr>
          <a:xfrm>
            <a:off x="706026" y="2203196"/>
            <a:ext cx="4985926" cy="4368800"/>
          </a:xfrm>
          <a:prstGeom prst="rect">
            <a:avLst/>
          </a:prstGeom>
          <a:noFill/>
        </p:spPr>
      </p:pic>
      <p:sp>
        <p:nvSpPr>
          <p:cNvPr id="3" name="Content Placeholder 2">
            <a:extLst>
              <a:ext uri="{FF2B5EF4-FFF2-40B4-BE49-F238E27FC236}">
                <a16:creationId xmlns:a16="http://schemas.microsoft.com/office/drawing/2014/main" id="{8D6136E4-FB12-B7A6-54FB-18FE94A3F72B}"/>
              </a:ext>
            </a:extLst>
          </p:cNvPr>
          <p:cNvSpPr>
            <a:spLocks noGrp="1"/>
          </p:cNvSpPr>
          <p:nvPr>
            <p:ph sz="half" idx="2"/>
          </p:nvPr>
        </p:nvSpPr>
        <p:spPr>
          <a:xfrm>
            <a:off x="6159500" y="2362200"/>
            <a:ext cx="5384800" cy="4718304"/>
          </a:xfrm>
        </p:spPr>
        <p:txBody>
          <a:bodyPr wrap="square" anchor="t">
            <a:normAutofit/>
          </a:bodyPr>
          <a:lstStyle/>
          <a:p>
            <a:r>
              <a:rPr lang="en-US" dirty="0"/>
              <a:t>If the municipality is contracting for services with a private entity, ADA Title II applies to those contracted services</a:t>
            </a:r>
          </a:p>
        </p:txBody>
      </p:sp>
      <p:sp>
        <p:nvSpPr>
          <p:cNvPr id="4" name="Slide Number Placeholder 3">
            <a:extLst>
              <a:ext uri="{FF2B5EF4-FFF2-40B4-BE49-F238E27FC236}">
                <a16:creationId xmlns:a16="http://schemas.microsoft.com/office/drawing/2014/main" id="{EFD770CD-9A22-B0B8-1BED-732E8EF039A8}"/>
              </a:ext>
            </a:extLst>
          </p:cNvPr>
          <p:cNvSpPr>
            <a:spLocks noGrp="1"/>
          </p:cNvSpPr>
          <p:nvPr>
            <p:ph type="sldNum" sz="quarter" idx="12"/>
          </p:nvPr>
        </p:nvSpPr>
        <p:spPr>
          <a:xfrm>
            <a:off x="10160000" y="19051"/>
            <a:ext cx="1422400" cy="328613"/>
          </a:xfrm>
        </p:spPr>
        <p:txBody>
          <a:bodyPr wrap="square" anchor="ctr">
            <a:normAutofit/>
          </a:bodyPr>
          <a:lstStyle/>
          <a:p>
            <a:pPr>
              <a:spcAft>
                <a:spcPts val="600"/>
              </a:spcAft>
              <a:defRPr/>
            </a:pPr>
            <a:fld id="{6DFFECAE-5558-FC4F-A5D5-814DD6134961}" type="slidenum">
              <a:rPr lang="en-US" altLang="en-US" smtClean="0"/>
              <a:pPr>
                <a:spcAft>
                  <a:spcPts val="600"/>
                </a:spcAft>
                <a:defRPr/>
              </a:pPr>
              <a:t>18</a:t>
            </a:fld>
            <a:endParaRPr lang="en-US" altLang="en-US"/>
          </a:p>
        </p:txBody>
      </p:sp>
    </p:spTree>
    <p:extLst>
      <p:ext uri="{BB962C8B-B14F-4D97-AF65-F5344CB8AC3E}">
        <p14:creationId xmlns:p14="http://schemas.microsoft.com/office/powerpoint/2010/main" val="63165565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084A93-0119-AC07-D164-D63B06ABCE12}"/>
              </a:ext>
            </a:extLst>
          </p:cNvPr>
          <p:cNvSpPr>
            <a:spLocks noGrp="1"/>
          </p:cNvSpPr>
          <p:nvPr>
            <p:ph type="title"/>
          </p:nvPr>
        </p:nvSpPr>
        <p:spPr>
          <a:xfrm>
            <a:off x="609600" y="533400"/>
            <a:ext cx="10972800" cy="990600"/>
          </a:xfrm>
        </p:spPr>
        <p:txBody>
          <a:bodyPr anchor="ctr">
            <a:normAutofit/>
          </a:bodyPr>
          <a:lstStyle/>
          <a:p>
            <a:r>
              <a:rPr lang="en-US" b="1" cap="small" dirty="0"/>
              <a:t>Separate Services</a:t>
            </a:r>
          </a:p>
        </p:txBody>
      </p:sp>
      <p:sp>
        <p:nvSpPr>
          <p:cNvPr id="7" name="Content Placeholder 6">
            <a:extLst>
              <a:ext uri="{FF2B5EF4-FFF2-40B4-BE49-F238E27FC236}">
                <a16:creationId xmlns:a16="http://schemas.microsoft.com/office/drawing/2014/main" id="{9CFC08F0-1FBE-B5C9-1B89-841B9725959F}"/>
              </a:ext>
            </a:extLst>
          </p:cNvPr>
          <p:cNvSpPr>
            <a:spLocks noGrp="1"/>
          </p:cNvSpPr>
          <p:nvPr>
            <p:ph sz="half" idx="1"/>
          </p:nvPr>
        </p:nvSpPr>
        <p:spPr>
          <a:xfrm>
            <a:off x="609600" y="1673352"/>
            <a:ext cx="6400800" cy="4956048"/>
          </a:xfrm>
        </p:spPr>
        <p:txBody>
          <a:bodyPr wrap="square" anchor="t">
            <a:normAutofit/>
          </a:bodyPr>
          <a:lstStyle/>
          <a:p>
            <a:pPr>
              <a:lnSpc>
                <a:spcPct val="90000"/>
              </a:lnSpc>
            </a:pPr>
            <a:r>
              <a:rPr lang="en-US" dirty="0"/>
              <a:t>Services specifically for people with disabilities are permitted</a:t>
            </a:r>
          </a:p>
          <a:p>
            <a:pPr lvl="1">
              <a:lnSpc>
                <a:spcPct val="90000"/>
              </a:lnSpc>
            </a:pPr>
            <a:r>
              <a:rPr lang="en-US" sz="2800" i="1" dirty="0"/>
              <a:t>Example: recreation program for people with disabilities</a:t>
            </a:r>
            <a:br>
              <a:rPr lang="en-US" sz="2800" i="1" dirty="0"/>
            </a:br>
            <a:endParaRPr lang="en-US" sz="2800" i="1" dirty="0"/>
          </a:p>
          <a:p>
            <a:pPr>
              <a:lnSpc>
                <a:spcPct val="90000"/>
              </a:lnSpc>
            </a:pPr>
            <a:r>
              <a:rPr lang="en-US" dirty="0"/>
              <a:t>If a similar program for people with disabilities and one for the general public are both offered, people with disabilities can choose which program to participate in, if they meet the eligibility requirements</a:t>
            </a:r>
          </a:p>
        </p:txBody>
      </p:sp>
      <p:pic>
        <p:nvPicPr>
          <p:cNvPr id="8" name="Picture 7">
            <a:extLst>
              <a:ext uri="{FF2B5EF4-FFF2-40B4-BE49-F238E27FC236}">
                <a16:creationId xmlns:a16="http://schemas.microsoft.com/office/drawing/2014/main" id="{4030F5CF-B6AD-6B7A-CBBC-00DE33241C07}"/>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162800" y="1582711"/>
            <a:ext cx="4250792" cy="3724656"/>
          </a:xfrm>
          <a:prstGeom prst="rect">
            <a:avLst/>
          </a:prstGeom>
          <a:noFill/>
        </p:spPr>
      </p:pic>
      <p:sp>
        <p:nvSpPr>
          <p:cNvPr id="5" name="Slide Number Placeholder 4">
            <a:extLst>
              <a:ext uri="{FF2B5EF4-FFF2-40B4-BE49-F238E27FC236}">
                <a16:creationId xmlns:a16="http://schemas.microsoft.com/office/drawing/2014/main" id="{30C54838-D13C-31BA-78E6-CB839BD7D9DA}"/>
              </a:ext>
            </a:extLst>
          </p:cNvPr>
          <p:cNvSpPr>
            <a:spLocks noGrp="1"/>
          </p:cNvSpPr>
          <p:nvPr>
            <p:ph type="sldNum" sz="quarter" idx="12"/>
          </p:nvPr>
        </p:nvSpPr>
        <p:spPr>
          <a:xfrm>
            <a:off x="10160000" y="19051"/>
            <a:ext cx="1422400" cy="328613"/>
          </a:xfrm>
        </p:spPr>
        <p:txBody>
          <a:bodyPr wrap="square" anchor="ctr">
            <a:normAutofit/>
          </a:bodyPr>
          <a:lstStyle/>
          <a:p>
            <a:pPr>
              <a:spcAft>
                <a:spcPts val="600"/>
              </a:spcAft>
              <a:defRPr/>
            </a:pPr>
            <a:fld id="{2D4FB8D5-209A-354C-A23E-7F23A4B35F42}" type="slidenum">
              <a:rPr lang="en-US" altLang="en-US" smtClean="0"/>
              <a:pPr>
                <a:spcAft>
                  <a:spcPts val="600"/>
                </a:spcAft>
                <a:defRPr/>
              </a:pPr>
              <a:t>19</a:t>
            </a:fld>
            <a:endParaRPr lang="en-US" altLang="en-US"/>
          </a:p>
        </p:txBody>
      </p:sp>
    </p:spTree>
    <p:extLst>
      <p:ext uri="{BB962C8B-B14F-4D97-AF65-F5344CB8AC3E}">
        <p14:creationId xmlns:p14="http://schemas.microsoft.com/office/powerpoint/2010/main" val="130137510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B31C7-75D8-1760-76F9-F849F055C3DF}"/>
              </a:ext>
            </a:extLst>
          </p:cNvPr>
          <p:cNvSpPr>
            <a:spLocks noGrp="1"/>
          </p:cNvSpPr>
          <p:nvPr>
            <p:ph type="title"/>
          </p:nvPr>
        </p:nvSpPr>
        <p:spPr>
          <a:xfrm>
            <a:off x="609600" y="533400"/>
            <a:ext cx="10972800" cy="990600"/>
          </a:xfrm>
        </p:spPr>
        <p:txBody>
          <a:bodyPr anchor="ctr">
            <a:normAutofit/>
          </a:bodyPr>
          <a:lstStyle/>
          <a:p>
            <a:r>
              <a:rPr lang="en-US" b="1" cap="small" dirty="0"/>
              <a:t>Asking About Disability</a:t>
            </a:r>
          </a:p>
        </p:txBody>
      </p:sp>
      <p:pic>
        <p:nvPicPr>
          <p:cNvPr id="8" name="Picture 7">
            <a:extLst>
              <a:ext uri="{FF2B5EF4-FFF2-40B4-BE49-F238E27FC236}">
                <a16:creationId xmlns:a16="http://schemas.microsoft.com/office/drawing/2014/main" id="{8FD94ECF-4D8C-C476-1D65-A4323D171CE9}"/>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2848" y="1673352"/>
            <a:ext cx="4718304" cy="4718304"/>
          </a:xfrm>
          <a:prstGeom prst="rect">
            <a:avLst/>
          </a:prstGeom>
          <a:noFill/>
        </p:spPr>
      </p:pic>
      <p:sp>
        <p:nvSpPr>
          <p:cNvPr id="3" name="Content Placeholder 2">
            <a:extLst>
              <a:ext uri="{FF2B5EF4-FFF2-40B4-BE49-F238E27FC236}">
                <a16:creationId xmlns:a16="http://schemas.microsoft.com/office/drawing/2014/main" id="{82642905-8526-9978-356A-B0B2A8E3E23A}"/>
              </a:ext>
            </a:extLst>
          </p:cNvPr>
          <p:cNvSpPr>
            <a:spLocks noGrp="1"/>
          </p:cNvSpPr>
          <p:nvPr>
            <p:ph sz="half" idx="2"/>
          </p:nvPr>
        </p:nvSpPr>
        <p:spPr>
          <a:xfrm>
            <a:off x="6197600" y="1673352"/>
            <a:ext cx="5384800" cy="4718304"/>
          </a:xfrm>
        </p:spPr>
        <p:txBody>
          <a:bodyPr wrap="square" anchor="t">
            <a:normAutofit/>
          </a:bodyPr>
          <a:lstStyle/>
          <a:p>
            <a:r>
              <a:rPr lang="en-US" b="1" dirty="0"/>
              <a:t>Title I – Employment: </a:t>
            </a:r>
            <a:r>
              <a:rPr lang="en-US" dirty="0"/>
              <a:t>Disability inquiries only permitted if “job-related and consistent with business necessity”</a:t>
            </a:r>
            <a:br>
              <a:rPr lang="en-US" dirty="0"/>
            </a:br>
            <a:endParaRPr lang="en-US" dirty="0"/>
          </a:p>
          <a:p>
            <a:r>
              <a:rPr lang="en-US" b="1" dirty="0"/>
              <a:t>Title II -  Public Services:</a:t>
            </a:r>
            <a:br>
              <a:rPr lang="en-US" b="1" dirty="0"/>
            </a:br>
            <a:r>
              <a:rPr lang="en-US" dirty="0"/>
              <a:t>Only necessary inquiries are permitted</a:t>
            </a:r>
          </a:p>
        </p:txBody>
      </p:sp>
      <p:sp>
        <p:nvSpPr>
          <p:cNvPr id="4" name="Slide Number Placeholder 3">
            <a:extLst>
              <a:ext uri="{FF2B5EF4-FFF2-40B4-BE49-F238E27FC236}">
                <a16:creationId xmlns:a16="http://schemas.microsoft.com/office/drawing/2014/main" id="{0D0A1C60-6190-523F-0CC0-8C8465DB250F}"/>
              </a:ext>
            </a:extLst>
          </p:cNvPr>
          <p:cNvSpPr>
            <a:spLocks noGrp="1"/>
          </p:cNvSpPr>
          <p:nvPr>
            <p:ph type="sldNum" sz="quarter" idx="12"/>
          </p:nvPr>
        </p:nvSpPr>
        <p:spPr>
          <a:xfrm>
            <a:off x="10160000" y="19051"/>
            <a:ext cx="1422400" cy="328613"/>
          </a:xfrm>
        </p:spPr>
        <p:txBody>
          <a:bodyPr wrap="square" anchor="ctr">
            <a:normAutofit/>
          </a:bodyPr>
          <a:lstStyle/>
          <a:p>
            <a:pPr>
              <a:spcAft>
                <a:spcPts val="600"/>
              </a:spcAft>
              <a:defRPr/>
            </a:pPr>
            <a:fld id="{6DFFECAE-5558-FC4F-A5D5-814DD6134961}" type="slidenum">
              <a:rPr lang="en-US" altLang="en-US" smtClean="0"/>
              <a:pPr>
                <a:spcAft>
                  <a:spcPts val="600"/>
                </a:spcAft>
                <a:defRPr/>
              </a:pPr>
              <a:t>20</a:t>
            </a:fld>
            <a:endParaRPr lang="en-US" altLang="en-US"/>
          </a:p>
        </p:txBody>
      </p:sp>
    </p:spTree>
    <p:extLst>
      <p:ext uri="{BB962C8B-B14F-4D97-AF65-F5344CB8AC3E}">
        <p14:creationId xmlns:p14="http://schemas.microsoft.com/office/powerpoint/2010/main" val="959109748"/>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8247FB5-64FD-4E8E-AA99-30B380B26B74}"/>
              </a:ext>
            </a:extLst>
          </p:cNvPr>
          <p:cNvSpPr>
            <a:spLocks noGrp="1"/>
          </p:cNvSpPr>
          <p:nvPr>
            <p:ph type="title"/>
          </p:nvPr>
        </p:nvSpPr>
        <p:spPr/>
        <p:txBody>
          <a:bodyPr/>
          <a:lstStyle/>
          <a:p>
            <a:r>
              <a:rPr lang="en-US" b="1" cap="small" dirty="0"/>
              <a:t>More About Disability Inquiries Under Title II</a:t>
            </a:r>
          </a:p>
        </p:txBody>
      </p:sp>
      <p:sp>
        <p:nvSpPr>
          <p:cNvPr id="7" name="Content Placeholder 6">
            <a:extLst>
              <a:ext uri="{FF2B5EF4-FFF2-40B4-BE49-F238E27FC236}">
                <a16:creationId xmlns:a16="http://schemas.microsoft.com/office/drawing/2014/main" id="{F591ED59-CFB8-294A-5978-844BCFAAFE90}"/>
              </a:ext>
            </a:extLst>
          </p:cNvPr>
          <p:cNvSpPr>
            <a:spLocks noGrp="1"/>
          </p:cNvSpPr>
          <p:nvPr>
            <p:ph idx="1"/>
          </p:nvPr>
        </p:nvSpPr>
        <p:spPr>
          <a:xfrm>
            <a:off x="266701" y="1709736"/>
            <a:ext cx="7543800" cy="3953053"/>
          </a:xfrm>
        </p:spPr>
        <p:txBody>
          <a:bodyPr/>
          <a:lstStyle/>
          <a:p>
            <a:r>
              <a:rPr lang="en-US" dirty="0"/>
              <a:t>Municipality should not make unnecessary inquiries.</a:t>
            </a:r>
          </a:p>
          <a:p>
            <a:pPr>
              <a:spcBef>
                <a:spcPts val="1776"/>
              </a:spcBef>
            </a:pPr>
            <a:r>
              <a:rPr lang="en-US" dirty="0"/>
              <a:t>Municipality determines what a necessary inquiry is.</a:t>
            </a:r>
          </a:p>
          <a:p>
            <a:pPr>
              <a:spcBef>
                <a:spcPts val="1776"/>
              </a:spcBef>
            </a:pPr>
            <a:r>
              <a:rPr lang="en-US" dirty="0"/>
              <a:t>Examples of why disability inquiries may be necessary in providing municipal services:</a:t>
            </a:r>
          </a:p>
          <a:p>
            <a:pPr lvl="1"/>
            <a:r>
              <a:rPr lang="en-US" i="1" dirty="0"/>
              <a:t>To provide modifications/accommodations and assistance</a:t>
            </a:r>
          </a:p>
          <a:p>
            <a:pPr lvl="1"/>
            <a:r>
              <a:rPr lang="en-US" i="1" dirty="0"/>
              <a:t>Determining qualification for programs specifically for people with disabilities</a:t>
            </a:r>
          </a:p>
          <a:p>
            <a:pPr lvl="1"/>
            <a:r>
              <a:rPr lang="en-US" i="1" dirty="0"/>
              <a:t>Demographic information</a:t>
            </a:r>
          </a:p>
          <a:p>
            <a:pPr>
              <a:spcBef>
                <a:spcPts val="1776"/>
              </a:spcBef>
            </a:pPr>
            <a:r>
              <a:rPr lang="en-US" dirty="0"/>
              <a:t>Inquiries that have the effect of discriminating are not permitted.</a:t>
            </a:r>
          </a:p>
        </p:txBody>
      </p:sp>
      <p:sp>
        <p:nvSpPr>
          <p:cNvPr id="5" name="Slide Number Placeholder 4">
            <a:extLst>
              <a:ext uri="{FF2B5EF4-FFF2-40B4-BE49-F238E27FC236}">
                <a16:creationId xmlns:a16="http://schemas.microsoft.com/office/drawing/2014/main" id="{C262E445-41A7-AC3D-3CFB-23448FA11BAD}"/>
              </a:ext>
            </a:extLst>
          </p:cNvPr>
          <p:cNvSpPr>
            <a:spLocks noGrp="1"/>
          </p:cNvSpPr>
          <p:nvPr>
            <p:ph type="sldNum" sz="quarter" idx="12"/>
          </p:nvPr>
        </p:nvSpPr>
        <p:spPr/>
        <p:txBody>
          <a:bodyPr/>
          <a:lstStyle/>
          <a:p>
            <a:pPr>
              <a:defRPr/>
            </a:pPr>
            <a:fld id="{2D4FB8D5-209A-354C-A23E-7F23A4B35F42}" type="slidenum">
              <a:rPr lang="en-US" altLang="en-US" smtClean="0"/>
              <a:pPr>
                <a:defRPr/>
              </a:pPr>
              <a:t>21</a:t>
            </a:fld>
            <a:endParaRPr lang="en-US" altLang="en-US"/>
          </a:p>
        </p:txBody>
      </p:sp>
      <p:pic>
        <p:nvPicPr>
          <p:cNvPr id="3" name="Picture 2">
            <a:extLst>
              <a:ext uri="{FF2B5EF4-FFF2-40B4-BE49-F238E27FC236}">
                <a16:creationId xmlns:a16="http://schemas.microsoft.com/office/drawing/2014/main" id="{21ECA2EB-0938-82F1-736D-AF29A880AB6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02069" y="1600200"/>
            <a:ext cx="2169446" cy="1447800"/>
          </a:xfrm>
          <a:prstGeom prst="rect">
            <a:avLst/>
          </a:prstGeom>
        </p:spPr>
      </p:pic>
      <p:pic>
        <p:nvPicPr>
          <p:cNvPr id="8" name="Picture 7">
            <a:extLst>
              <a:ext uri="{FF2B5EF4-FFF2-40B4-BE49-F238E27FC236}">
                <a16:creationId xmlns:a16="http://schemas.microsoft.com/office/drawing/2014/main" id="{EEDE03FC-48FA-7CEF-5224-ED985EFE66F8}"/>
              </a:ext>
              <a:ext uri="{C183D7F6-B498-43B3-948B-1728B52AA6E4}">
                <adec:decorative xmlns:adec="http://schemas.microsoft.com/office/drawing/2017/decorative" val="1"/>
              </a:ext>
            </a:extLst>
          </p:cNvPr>
          <p:cNvPicPr>
            <a:picLocks noChangeAspect="1"/>
          </p:cNvPicPr>
          <p:nvPr/>
        </p:nvPicPr>
        <p:blipFill>
          <a:blip r:embed="rId3"/>
          <a:srcRect t="19025" b="4444"/>
          <a:stretch/>
        </p:blipFill>
        <p:spPr>
          <a:xfrm>
            <a:off x="8153400" y="3372774"/>
            <a:ext cx="3429000" cy="3396058"/>
          </a:xfrm>
          <a:prstGeom prst="rect">
            <a:avLst/>
          </a:prstGeom>
          <a:ln>
            <a:solidFill>
              <a:schemeClr val="tx1"/>
            </a:solidFill>
          </a:ln>
        </p:spPr>
      </p:pic>
    </p:spTree>
    <p:extLst>
      <p:ext uri="{BB962C8B-B14F-4D97-AF65-F5344CB8AC3E}">
        <p14:creationId xmlns:p14="http://schemas.microsoft.com/office/powerpoint/2010/main" val="389036903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5C0FA-F861-8AA5-6AE0-4CD8DFF77DAA}"/>
              </a:ext>
            </a:extLst>
          </p:cNvPr>
          <p:cNvSpPr>
            <a:spLocks noGrp="1"/>
          </p:cNvSpPr>
          <p:nvPr>
            <p:ph type="title"/>
          </p:nvPr>
        </p:nvSpPr>
        <p:spPr>
          <a:xfrm>
            <a:off x="609600" y="533400"/>
            <a:ext cx="10972800" cy="990600"/>
          </a:xfrm>
        </p:spPr>
        <p:txBody>
          <a:bodyPr anchor="ctr">
            <a:normAutofit/>
          </a:bodyPr>
          <a:lstStyle/>
          <a:p>
            <a:r>
              <a:rPr lang="en-US" b="1" cap="small" dirty="0"/>
              <a:t>Guidelines for disability inquiries</a:t>
            </a:r>
          </a:p>
        </p:txBody>
      </p:sp>
      <p:sp>
        <p:nvSpPr>
          <p:cNvPr id="4" name="Slide Number Placeholder 3">
            <a:extLst>
              <a:ext uri="{FF2B5EF4-FFF2-40B4-BE49-F238E27FC236}">
                <a16:creationId xmlns:a16="http://schemas.microsoft.com/office/drawing/2014/main" id="{A4418119-009C-B1A0-39CB-F14DA2724D47}"/>
              </a:ext>
            </a:extLst>
          </p:cNvPr>
          <p:cNvSpPr>
            <a:spLocks noGrp="1"/>
          </p:cNvSpPr>
          <p:nvPr>
            <p:ph type="sldNum" sz="quarter" idx="12"/>
          </p:nvPr>
        </p:nvSpPr>
        <p:spPr>
          <a:xfrm>
            <a:off x="10160000" y="19051"/>
            <a:ext cx="1422400" cy="328613"/>
          </a:xfrm>
        </p:spPr>
        <p:txBody>
          <a:bodyPr wrap="square" anchor="ctr">
            <a:normAutofit/>
          </a:bodyPr>
          <a:lstStyle/>
          <a:p>
            <a:pPr>
              <a:spcAft>
                <a:spcPts val="600"/>
              </a:spcAft>
              <a:defRPr/>
            </a:pPr>
            <a:fld id="{6DFFECAE-5558-FC4F-A5D5-814DD6134961}" type="slidenum">
              <a:rPr lang="en-US" altLang="en-US" smtClean="0"/>
              <a:pPr>
                <a:spcAft>
                  <a:spcPts val="600"/>
                </a:spcAft>
                <a:defRPr/>
              </a:pPr>
              <a:t>22</a:t>
            </a:fld>
            <a:endParaRPr lang="en-US" altLang="en-US"/>
          </a:p>
        </p:txBody>
      </p:sp>
      <p:graphicFrame>
        <p:nvGraphicFramePr>
          <p:cNvPr id="6" name="Content Placeholder 2">
            <a:extLst>
              <a:ext uri="{FF2B5EF4-FFF2-40B4-BE49-F238E27FC236}">
                <a16:creationId xmlns:a16="http://schemas.microsoft.com/office/drawing/2014/main" id="{27178AFD-A0B1-F6CE-B814-92A782243AE3}"/>
              </a:ext>
            </a:extLst>
          </p:cNvPr>
          <p:cNvGraphicFramePr>
            <a:graphicFrameLocks noGrp="1"/>
          </p:cNvGraphicFramePr>
          <p:nvPr>
            <p:ph idx="1"/>
            <p:extLst>
              <p:ext uri="{D42A27DB-BD31-4B8C-83A1-F6EECF244321}">
                <p14:modId xmlns:p14="http://schemas.microsoft.com/office/powerpoint/2010/main" val="3324762035"/>
              </p:ext>
            </p:extLst>
          </p:nvPr>
        </p:nvGraphicFramePr>
        <p:xfrm>
          <a:off x="609600" y="1600200"/>
          <a:ext cx="109728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529908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0632-6A67-36BC-3F8A-11C2FC758145}"/>
              </a:ext>
            </a:extLst>
          </p:cNvPr>
          <p:cNvSpPr>
            <a:spLocks noGrp="1"/>
          </p:cNvSpPr>
          <p:nvPr>
            <p:ph type="title"/>
          </p:nvPr>
        </p:nvSpPr>
        <p:spPr/>
        <p:txBody>
          <a:bodyPr/>
          <a:lstStyle/>
          <a:p>
            <a:r>
              <a:rPr lang="en-US" b="1" cap="small" dirty="0"/>
              <a:t>Emergency Preparedness</a:t>
            </a:r>
          </a:p>
        </p:txBody>
      </p:sp>
      <p:sp>
        <p:nvSpPr>
          <p:cNvPr id="3" name="Content Placeholder 2">
            <a:extLst>
              <a:ext uri="{FF2B5EF4-FFF2-40B4-BE49-F238E27FC236}">
                <a16:creationId xmlns:a16="http://schemas.microsoft.com/office/drawing/2014/main" id="{0BC74B3F-ED2F-512A-9C86-42CD5F64D899}"/>
              </a:ext>
            </a:extLst>
          </p:cNvPr>
          <p:cNvSpPr>
            <a:spLocks noGrp="1"/>
          </p:cNvSpPr>
          <p:nvPr>
            <p:ph idx="1"/>
          </p:nvPr>
        </p:nvSpPr>
        <p:spPr/>
        <p:txBody>
          <a:bodyPr/>
          <a:lstStyle/>
          <a:p>
            <a:r>
              <a:rPr lang="en-US" sz="2800" b="1" dirty="0"/>
              <a:t>Incorporate the needs of people with disabilities within emergency preparedness</a:t>
            </a:r>
          </a:p>
          <a:p>
            <a:pPr lvl="1"/>
            <a:r>
              <a:rPr lang="en-US" sz="2800" dirty="0"/>
              <a:t>Notifications</a:t>
            </a:r>
          </a:p>
          <a:p>
            <a:pPr lvl="1"/>
            <a:r>
              <a:rPr lang="en-US" sz="2800" dirty="0"/>
              <a:t>Access to information</a:t>
            </a:r>
          </a:p>
          <a:p>
            <a:pPr lvl="1"/>
            <a:r>
              <a:rPr lang="en-US" sz="2800" dirty="0"/>
              <a:t>Evacuation procedures</a:t>
            </a:r>
          </a:p>
          <a:p>
            <a:pPr lvl="1"/>
            <a:r>
              <a:rPr lang="en-US" sz="2800" dirty="0"/>
              <a:t>Emergency transportation</a:t>
            </a:r>
          </a:p>
          <a:p>
            <a:pPr lvl="1"/>
            <a:r>
              <a:rPr lang="en-US" sz="2800" dirty="0"/>
              <a:t>Accessible emergency shelters</a:t>
            </a:r>
          </a:p>
          <a:p>
            <a:pPr lvl="1"/>
            <a:r>
              <a:rPr lang="en-US" sz="2800" dirty="0"/>
              <a:t>Back-up power, refrigeration</a:t>
            </a:r>
          </a:p>
          <a:p>
            <a:pPr lvl="1"/>
            <a:r>
              <a:rPr lang="en-US" sz="2800" dirty="0"/>
              <a:t>Recovery</a:t>
            </a:r>
          </a:p>
        </p:txBody>
      </p:sp>
      <p:sp>
        <p:nvSpPr>
          <p:cNvPr id="4" name="Slide Number Placeholder 3">
            <a:extLst>
              <a:ext uri="{FF2B5EF4-FFF2-40B4-BE49-F238E27FC236}">
                <a16:creationId xmlns:a16="http://schemas.microsoft.com/office/drawing/2014/main" id="{BE433F5A-012C-7F22-E916-1B38F85BA29B}"/>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23</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a:extLst>
              <a:ext uri="{FF2B5EF4-FFF2-40B4-BE49-F238E27FC236}">
                <a16:creationId xmlns:a16="http://schemas.microsoft.com/office/drawing/2014/main" id="{83C9E9AF-C3F9-27EA-0801-2951F78139BC}"/>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620000" y="2971800"/>
            <a:ext cx="3629591" cy="3137730"/>
          </a:xfrm>
          <a:prstGeom prst="rect">
            <a:avLst/>
          </a:prstGeom>
        </p:spPr>
      </p:pic>
    </p:spTree>
    <p:extLst>
      <p:ext uri="{BB962C8B-B14F-4D97-AF65-F5344CB8AC3E}">
        <p14:creationId xmlns:p14="http://schemas.microsoft.com/office/powerpoint/2010/main" val="212255964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EEC2-F07E-A261-6DD8-4754B8EF047F}"/>
              </a:ext>
            </a:extLst>
          </p:cNvPr>
          <p:cNvSpPr>
            <a:spLocks noGrp="1"/>
          </p:cNvSpPr>
          <p:nvPr>
            <p:ph type="title"/>
          </p:nvPr>
        </p:nvSpPr>
        <p:spPr>
          <a:xfrm>
            <a:off x="2822" y="347664"/>
            <a:ext cx="10972800" cy="990600"/>
          </a:xfrm>
        </p:spPr>
        <p:txBody>
          <a:bodyPr/>
          <a:lstStyle/>
          <a:p>
            <a:r>
              <a:rPr lang="en-US" b="1" cap="small" dirty="0"/>
              <a:t>Website and app accessibility</a:t>
            </a:r>
          </a:p>
        </p:txBody>
      </p:sp>
      <p:sp>
        <p:nvSpPr>
          <p:cNvPr id="3" name="Content Placeholder 2">
            <a:extLst>
              <a:ext uri="{FF2B5EF4-FFF2-40B4-BE49-F238E27FC236}">
                <a16:creationId xmlns:a16="http://schemas.microsoft.com/office/drawing/2014/main" id="{E708AF51-57EA-A2D3-6C31-0F8A7C0EB11F}"/>
              </a:ext>
            </a:extLst>
          </p:cNvPr>
          <p:cNvSpPr>
            <a:spLocks noGrp="1"/>
          </p:cNvSpPr>
          <p:nvPr>
            <p:ph idx="1"/>
          </p:nvPr>
        </p:nvSpPr>
        <p:spPr>
          <a:xfrm>
            <a:off x="152400" y="1219200"/>
            <a:ext cx="10972800" cy="4876800"/>
          </a:xfrm>
        </p:spPr>
        <p:txBody>
          <a:bodyPr/>
          <a:lstStyle/>
          <a:p>
            <a:r>
              <a:rPr lang="en-US" dirty="0"/>
              <a:t>Municipal websites and apps must be accessible to people with disabilities.</a:t>
            </a:r>
          </a:p>
          <a:p>
            <a:pPr>
              <a:spcBef>
                <a:spcPts val="1776"/>
              </a:spcBef>
            </a:pPr>
            <a:r>
              <a:rPr lang="en-US" dirty="0"/>
              <a:t>Per April 2024 federal rule, all municipal websites and apps must comply with </a:t>
            </a:r>
            <a:r>
              <a:rPr lang="en-US" b="1" i="0" u="none" strike="noStrike" dirty="0">
                <a:effectLst/>
                <a:latin typeface="Merriweather Web"/>
              </a:rPr>
              <a:t>Web Content Accessibility Guidelines (WCAG) Version 2.1, Level AA.</a:t>
            </a:r>
          </a:p>
          <a:p>
            <a:pPr>
              <a:spcBef>
                <a:spcPts val="1776"/>
              </a:spcBef>
            </a:pPr>
            <a:r>
              <a:rPr lang="en-US" dirty="0"/>
              <a:t>Compliance dates:</a:t>
            </a:r>
          </a:p>
          <a:p>
            <a:pPr lvl="1"/>
            <a:r>
              <a:rPr lang="en-US" dirty="0">
                <a:latin typeface="+mj-lt"/>
              </a:rPr>
              <a:t>Population up to 49,999 – April 26, 2027</a:t>
            </a:r>
          </a:p>
          <a:p>
            <a:pPr lvl="1"/>
            <a:r>
              <a:rPr lang="en-US" dirty="0">
                <a:latin typeface="+mj-lt"/>
              </a:rPr>
              <a:t>Population 50,000 or more – April 26, 2026</a:t>
            </a:r>
          </a:p>
        </p:txBody>
      </p:sp>
      <p:sp>
        <p:nvSpPr>
          <p:cNvPr id="4" name="Slide Number Placeholder 3">
            <a:extLst>
              <a:ext uri="{FF2B5EF4-FFF2-40B4-BE49-F238E27FC236}">
                <a16:creationId xmlns:a16="http://schemas.microsoft.com/office/drawing/2014/main" id="{EF536C66-3491-C6DE-517E-1D3F9558BE08}"/>
              </a:ext>
            </a:extLst>
          </p:cNvPr>
          <p:cNvSpPr>
            <a:spLocks noGrp="1"/>
          </p:cNvSpPr>
          <p:nvPr>
            <p:ph type="sldNum" sz="quarter" idx="12"/>
          </p:nvPr>
        </p:nvSpPr>
        <p:spPr/>
        <p:txBody>
          <a:bodyPr/>
          <a:lstStyle/>
          <a:p>
            <a:pPr>
              <a:defRPr/>
            </a:pPr>
            <a:fld id="{6DFFECAE-5558-FC4F-A5D5-814DD6134961}" type="slidenum">
              <a:rPr lang="en-US" altLang="en-US" smtClean="0"/>
              <a:pPr>
                <a:defRPr/>
              </a:pPr>
              <a:t>24</a:t>
            </a:fld>
            <a:endParaRPr lang="en-US" altLang="en-US"/>
          </a:p>
        </p:txBody>
      </p:sp>
      <p:pic>
        <p:nvPicPr>
          <p:cNvPr id="6" name="Picture 5">
            <a:extLst>
              <a:ext uri="{FF2B5EF4-FFF2-40B4-BE49-F238E27FC236}">
                <a16:creationId xmlns:a16="http://schemas.microsoft.com/office/drawing/2014/main" id="{DA86305A-96C4-B6E9-2157-8C3B864CA82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867400" y="3768653"/>
            <a:ext cx="3456155" cy="2677303"/>
          </a:xfrm>
          <a:prstGeom prst="rect">
            <a:avLst/>
          </a:prstGeom>
        </p:spPr>
      </p:pic>
      <p:pic>
        <p:nvPicPr>
          <p:cNvPr id="10" name="Picture 9">
            <a:extLst>
              <a:ext uri="{FF2B5EF4-FFF2-40B4-BE49-F238E27FC236}">
                <a16:creationId xmlns:a16="http://schemas.microsoft.com/office/drawing/2014/main" id="{9E812A2C-76BF-34C4-D899-539C3685D2BA}"/>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114844" y="3169356"/>
            <a:ext cx="1605534" cy="3276600"/>
          </a:xfrm>
          <a:prstGeom prst="rect">
            <a:avLst/>
          </a:prstGeom>
        </p:spPr>
      </p:pic>
    </p:spTree>
    <p:extLst>
      <p:ext uri="{BB962C8B-B14F-4D97-AF65-F5344CB8AC3E}">
        <p14:creationId xmlns:p14="http://schemas.microsoft.com/office/powerpoint/2010/main" val="4038948129"/>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C0069-EA02-6688-5A9A-7D6239CDB205}"/>
              </a:ext>
            </a:extLst>
          </p:cNvPr>
          <p:cNvSpPr>
            <a:spLocks noGrp="1"/>
          </p:cNvSpPr>
          <p:nvPr>
            <p:ph type="title"/>
          </p:nvPr>
        </p:nvSpPr>
        <p:spPr>
          <a:xfrm>
            <a:off x="152400" y="347664"/>
            <a:ext cx="10972800" cy="990600"/>
          </a:xfrm>
        </p:spPr>
        <p:txBody>
          <a:bodyPr/>
          <a:lstStyle/>
          <a:p>
            <a:r>
              <a:rPr lang="en-US" b="1" cap="small" dirty="0">
                <a:solidFill>
                  <a:srgbClr val="C00000"/>
                </a:solidFill>
              </a:rPr>
              <a:t>Title II Administrative Requirements</a:t>
            </a:r>
          </a:p>
        </p:txBody>
      </p:sp>
      <p:sp>
        <p:nvSpPr>
          <p:cNvPr id="3" name="Content Placeholder 2">
            <a:extLst>
              <a:ext uri="{FF2B5EF4-FFF2-40B4-BE49-F238E27FC236}">
                <a16:creationId xmlns:a16="http://schemas.microsoft.com/office/drawing/2014/main" id="{58709909-11E0-646D-3217-D09BA8D5D03E}"/>
              </a:ext>
            </a:extLst>
          </p:cNvPr>
          <p:cNvSpPr>
            <a:spLocks noGrp="1"/>
          </p:cNvSpPr>
          <p:nvPr>
            <p:ph idx="1"/>
          </p:nvPr>
        </p:nvSpPr>
        <p:spPr>
          <a:xfrm>
            <a:off x="381000" y="1143000"/>
            <a:ext cx="10972800" cy="2819400"/>
          </a:xfrm>
        </p:spPr>
        <p:txBody>
          <a:bodyPr/>
          <a:lstStyle/>
          <a:p>
            <a:pPr marL="742950" indent="-742950">
              <a:buFont typeface="+mj-lt"/>
              <a:buAutoNum type="arabicPeriod"/>
            </a:pPr>
            <a:r>
              <a:rPr lang="en-US" sz="3600" dirty="0"/>
              <a:t>Self-Evaluation</a:t>
            </a:r>
          </a:p>
          <a:p>
            <a:pPr marL="742950" indent="-742950">
              <a:buFont typeface="+mj-lt"/>
              <a:buAutoNum type="arabicPeriod"/>
            </a:pPr>
            <a:r>
              <a:rPr lang="en-US" sz="3600" dirty="0"/>
              <a:t>ADA Notice </a:t>
            </a:r>
          </a:p>
          <a:p>
            <a:pPr marL="742950" indent="-742950">
              <a:buFont typeface="+mj-lt"/>
              <a:buAutoNum type="arabicPeriod"/>
            </a:pPr>
            <a:r>
              <a:rPr lang="en-US" sz="3600" dirty="0"/>
              <a:t>Information on accessible services, activities, and facilities</a:t>
            </a:r>
            <a:br>
              <a:rPr lang="en-US" sz="3600" dirty="0"/>
            </a:br>
            <a:endParaRPr lang="en-US" sz="3600" dirty="0"/>
          </a:p>
          <a:p>
            <a:pPr marL="0" indent="0">
              <a:buNone/>
            </a:pPr>
            <a:endParaRPr lang="en-US" sz="3600" dirty="0"/>
          </a:p>
        </p:txBody>
      </p:sp>
      <p:sp>
        <p:nvSpPr>
          <p:cNvPr id="4" name="Slide Number Placeholder 3">
            <a:extLst>
              <a:ext uri="{FF2B5EF4-FFF2-40B4-BE49-F238E27FC236}">
                <a16:creationId xmlns:a16="http://schemas.microsoft.com/office/drawing/2014/main" id="{413604E2-F4D4-492C-A8B1-14B1039B3770}"/>
              </a:ext>
            </a:extLst>
          </p:cNvPr>
          <p:cNvSpPr>
            <a:spLocks noGrp="1"/>
          </p:cNvSpPr>
          <p:nvPr>
            <p:ph type="sldNum" sz="quarter" idx="12"/>
          </p:nvPr>
        </p:nvSpPr>
        <p:spPr/>
        <p:txBody>
          <a:bodyPr/>
          <a:lstStyle/>
          <a:p>
            <a:pPr>
              <a:defRPr/>
            </a:pPr>
            <a:fld id="{6DFFECAE-5558-FC4F-A5D5-814DD6134961}" type="slidenum">
              <a:rPr lang="en-US" altLang="en-US" smtClean="0"/>
              <a:pPr>
                <a:defRPr/>
              </a:pPr>
              <a:t>25</a:t>
            </a:fld>
            <a:endParaRPr lang="en-US" altLang="en-US"/>
          </a:p>
        </p:txBody>
      </p:sp>
      <p:sp>
        <p:nvSpPr>
          <p:cNvPr id="5" name="Pentagon 4">
            <a:extLst>
              <a:ext uri="{FF2B5EF4-FFF2-40B4-BE49-F238E27FC236}">
                <a16:creationId xmlns:a16="http://schemas.microsoft.com/office/drawing/2014/main" id="{07FF6C70-26B0-6310-9844-1A04614B81B4}"/>
              </a:ext>
            </a:extLst>
          </p:cNvPr>
          <p:cNvSpPr/>
          <p:nvPr/>
        </p:nvSpPr>
        <p:spPr>
          <a:xfrm>
            <a:off x="366889" y="4495800"/>
            <a:ext cx="2667000" cy="1371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Municipalities with 50 or More Employees</a:t>
            </a:r>
          </a:p>
        </p:txBody>
      </p:sp>
      <p:sp>
        <p:nvSpPr>
          <p:cNvPr id="6" name="Content Placeholder 2">
            <a:extLst>
              <a:ext uri="{FF2B5EF4-FFF2-40B4-BE49-F238E27FC236}">
                <a16:creationId xmlns:a16="http://schemas.microsoft.com/office/drawing/2014/main" id="{28CA4D54-A92B-F24C-AF14-896D0289575C}"/>
              </a:ext>
            </a:extLst>
          </p:cNvPr>
          <p:cNvSpPr txBox="1">
            <a:spLocks/>
          </p:cNvSpPr>
          <p:nvPr/>
        </p:nvSpPr>
        <p:spPr bwMode="auto">
          <a:xfrm>
            <a:off x="3581400" y="4267200"/>
            <a:ext cx="70866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ＭＳ Ｐゴシック" charset="0"/>
                <a:cs typeface="ＭＳ Ｐゴシック" charset="0"/>
              </a:defRPr>
            </a:lvl1pPr>
            <a:lvl2pPr marL="457200" indent="-182563" algn="l" rtl="0" eaLnBrk="0" fontAlgn="base" hangingPunct="0">
              <a:spcBef>
                <a:spcPct val="20000"/>
              </a:spcBef>
              <a:spcAft>
                <a:spcPct val="0"/>
              </a:spcAft>
              <a:buClr>
                <a:schemeClr val="accent1"/>
              </a:buClr>
              <a:buSzPct val="85000"/>
              <a:buFont typeface="Wingdings" pitchFamily="2" charset="2"/>
              <a:buChar char="Ø"/>
              <a:defRPr sz="2000" kern="1200">
                <a:solidFill>
                  <a:schemeClr val="tx1"/>
                </a:solidFill>
                <a:latin typeface="+mn-lt"/>
                <a:ea typeface="ＭＳ Ｐゴシック" charset="0"/>
                <a:cs typeface="+mn-cs"/>
              </a:defRPr>
            </a:lvl2pPr>
            <a:lvl3pPr marL="730250" indent="-182563"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ＭＳ Ｐゴシック" charset="0"/>
                <a:cs typeface="+mn-cs"/>
              </a:defRPr>
            </a:lvl3pPr>
            <a:lvl4pPr marL="1004888" indent="-182563" algn="l" rtl="0" eaLnBrk="0" fontAlgn="base" hangingPunct="0">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ＭＳ Ｐゴシック" charset="0"/>
                <a:cs typeface="+mn-cs"/>
              </a:defRPr>
            </a:lvl4pPr>
            <a:lvl5pPr marL="1187450" indent="-136525" algn="l" rtl="0" eaLnBrk="0" fontAlgn="base" hangingPunct="0">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ＭＳ Ｐゴシック" charset="0"/>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514350" indent="-514350">
              <a:buFont typeface="+mj-lt"/>
              <a:buAutoNum type="alphaUcPeriod"/>
            </a:pPr>
            <a:r>
              <a:rPr lang="en-US" sz="3200" dirty="0"/>
              <a:t>Appoint an ADA Coordinator</a:t>
            </a:r>
          </a:p>
          <a:p>
            <a:pPr marL="514350" indent="-514350">
              <a:buFont typeface="+mj-lt"/>
              <a:buAutoNum type="alphaUcPeriod"/>
            </a:pPr>
            <a:r>
              <a:rPr lang="en-US" sz="3200" dirty="0"/>
              <a:t>Establish a grievance procedure</a:t>
            </a:r>
          </a:p>
          <a:p>
            <a:pPr marL="514350" indent="-514350">
              <a:buFont typeface="+mj-lt"/>
              <a:buAutoNum type="alphaUcPeriod"/>
            </a:pPr>
            <a:r>
              <a:rPr lang="en-US" sz="3200" dirty="0"/>
              <a:t>Develop a transition plan</a:t>
            </a:r>
          </a:p>
        </p:txBody>
      </p:sp>
    </p:spTree>
    <p:extLst>
      <p:ext uri="{BB962C8B-B14F-4D97-AF65-F5344CB8AC3E}">
        <p14:creationId xmlns:p14="http://schemas.microsoft.com/office/powerpoint/2010/main" val="1148197273"/>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142CE-7217-CE93-038E-0E4C1C107D32}"/>
              </a:ext>
            </a:extLst>
          </p:cNvPr>
          <p:cNvSpPr>
            <a:spLocks noGrp="1"/>
          </p:cNvSpPr>
          <p:nvPr>
            <p:ph type="title"/>
          </p:nvPr>
        </p:nvSpPr>
        <p:spPr>
          <a:xfrm>
            <a:off x="228600" y="533400"/>
            <a:ext cx="6589888" cy="2895600"/>
          </a:xfrm>
          <a:effectLst>
            <a:glow rad="139700">
              <a:schemeClr val="accent5">
                <a:satMod val="175000"/>
                <a:alpha val="40000"/>
              </a:schemeClr>
            </a:glow>
          </a:effectLst>
          <a:scene3d>
            <a:camera prst="orthographicFront"/>
            <a:lightRig rig="threePt" dir="t"/>
          </a:scene3d>
          <a:sp3d>
            <a:bevelT prst="angle"/>
          </a:sp3d>
        </p:spPr>
        <p:style>
          <a:lnRef idx="3">
            <a:schemeClr val="lt1"/>
          </a:lnRef>
          <a:fillRef idx="1">
            <a:schemeClr val="accent4"/>
          </a:fillRef>
          <a:effectRef idx="1">
            <a:schemeClr val="accent4"/>
          </a:effectRef>
          <a:fontRef idx="minor">
            <a:schemeClr val="lt1"/>
          </a:fontRef>
        </p:style>
        <p:txBody>
          <a:bodyPr>
            <a:normAutofit/>
          </a:bodyPr>
          <a:lstStyle/>
          <a:p>
            <a:pPr algn="ctr"/>
            <a:r>
              <a:rPr lang="en-US" dirty="0"/>
              <a:t>Reasonable </a:t>
            </a:r>
            <a:br>
              <a:rPr lang="en-US" dirty="0"/>
            </a:br>
            <a:r>
              <a:rPr lang="en-US" dirty="0"/>
              <a:t>Modification/Accommodation </a:t>
            </a:r>
            <a:br>
              <a:rPr lang="en-US" dirty="0"/>
            </a:br>
            <a:r>
              <a:rPr lang="en-US" dirty="0"/>
              <a:t>Requests</a:t>
            </a:r>
          </a:p>
        </p:txBody>
      </p:sp>
      <p:sp>
        <p:nvSpPr>
          <p:cNvPr id="4" name="Slide Number Placeholder 3">
            <a:extLst>
              <a:ext uri="{FF2B5EF4-FFF2-40B4-BE49-F238E27FC236}">
                <a16:creationId xmlns:a16="http://schemas.microsoft.com/office/drawing/2014/main" id="{38F2739C-D7A7-1F0E-C237-2F66E0EBA188}"/>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26</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5" name="Picture 4">
            <a:extLst>
              <a:ext uri="{FF2B5EF4-FFF2-40B4-BE49-F238E27FC236}">
                <a16:creationId xmlns:a16="http://schemas.microsoft.com/office/drawing/2014/main" id="{14951078-9261-108A-515E-3F610D99BAB3}"/>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15200" y="3657600"/>
            <a:ext cx="4267200" cy="2844800"/>
          </a:xfrm>
          <a:prstGeom prst="rect">
            <a:avLst/>
          </a:prstGeom>
        </p:spPr>
      </p:pic>
    </p:spTree>
    <p:extLst>
      <p:ext uri="{BB962C8B-B14F-4D97-AF65-F5344CB8AC3E}">
        <p14:creationId xmlns:p14="http://schemas.microsoft.com/office/powerpoint/2010/main" val="3966616694"/>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CFF83-E41E-1661-34B8-0428EBED35C1}"/>
              </a:ext>
            </a:extLst>
          </p:cNvPr>
          <p:cNvSpPr>
            <a:spLocks noGrp="1"/>
          </p:cNvSpPr>
          <p:nvPr>
            <p:ph type="title"/>
          </p:nvPr>
        </p:nvSpPr>
        <p:spPr>
          <a:xfrm>
            <a:off x="595489" y="685800"/>
            <a:ext cx="10972800" cy="990600"/>
          </a:xfrm>
          <a:effectLst>
            <a:glow rad="139700">
              <a:schemeClr val="accent2">
                <a:satMod val="175000"/>
                <a:alpha val="40000"/>
              </a:schemeClr>
            </a:glow>
          </a:effectLst>
          <a:scene3d>
            <a:camera prst="orthographicFront"/>
            <a:lightRig rig="threePt" dir="t"/>
          </a:scene3d>
          <a:sp3d>
            <a:bevelT prst="angle"/>
          </a:sp3d>
        </p:spPr>
        <p:style>
          <a:lnRef idx="1">
            <a:schemeClr val="accent2"/>
          </a:lnRef>
          <a:fillRef idx="2">
            <a:schemeClr val="accent2"/>
          </a:fillRef>
          <a:effectRef idx="1">
            <a:schemeClr val="accent2"/>
          </a:effectRef>
          <a:fontRef idx="minor">
            <a:schemeClr val="dk1"/>
          </a:fontRef>
        </p:style>
        <p:txBody>
          <a:bodyPr anchor="ctr">
            <a:normAutofit fontScale="90000"/>
          </a:bodyPr>
          <a:lstStyle/>
          <a:p>
            <a:pPr algn="ctr">
              <a:lnSpc>
                <a:spcPct val="90000"/>
              </a:lnSpc>
            </a:pPr>
            <a:r>
              <a:rPr lang="en-US" sz="3400" cap="small" dirty="0"/>
              <a:t>Examples of Reasonable Accommodations/Modifications</a:t>
            </a:r>
          </a:p>
        </p:txBody>
      </p:sp>
      <p:sp>
        <p:nvSpPr>
          <p:cNvPr id="4" name="Slide Number Placeholder 3">
            <a:extLst>
              <a:ext uri="{FF2B5EF4-FFF2-40B4-BE49-F238E27FC236}">
                <a16:creationId xmlns:a16="http://schemas.microsoft.com/office/drawing/2014/main" id="{1F228D3B-A3D9-DB7A-2B5F-9C8BF3B88906}"/>
              </a:ext>
            </a:extLst>
          </p:cNvPr>
          <p:cNvSpPr>
            <a:spLocks noGrp="1"/>
          </p:cNvSpPr>
          <p:nvPr>
            <p:ph type="sldNum" sz="quarter" idx="12"/>
          </p:nvPr>
        </p:nvSpPr>
        <p:spPr>
          <a:xfrm>
            <a:off x="10160000" y="19051"/>
            <a:ext cx="1422400" cy="328613"/>
          </a:xfrm>
        </p:spPr>
        <p:txBody>
          <a:bodyPr wrap="square" anchor="ctr">
            <a:normAutofit/>
          </a:bodyPr>
          <a:lstStyle/>
          <a:p>
            <a:pPr>
              <a:spcAft>
                <a:spcPts val="600"/>
              </a:spcAft>
              <a:defRPr/>
            </a:pPr>
            <a:fld id="{6DFFECAE-5558-FC4F-A5D5-814DD6134961}" type="slidenum">
              <a:rPr lang="en-US" altLang="en-US" smtClean="0"/>
              <a:pPr>
                <a:spcAft>
                  <a:spcPts val="600"/>
                </a:spcAft>
                <a:defRPr/>
              </a:pPr>
              <a:t>27</a:t>
            </a:fld>
            <a:endParaRPr lang="en-US" altLang="en-US"/>
          </a:p>
        </p:txBody>
      </p:sp>
      <p:graphicFrame>
        <p:nvGraphicFramePr>
          <p:cNvPr id="6" name="Content Placeholder 2">
            <a:extLst>
              <a:ext uri="{FF2B5EF4-FFF2-40B4-BE49-F238E27FC236}">
                <a16:creationId xmlns:a16="http://schemas.microsoft.com/office/drawing/2014/main" id="{4DBE9D61-CC1C-4753-2FCF-B02CEB6583DE}"/>
              </a:ext>
            </a:extLst>
          </p:cNvPr>
          <p:cNvGraphicFramePr>
            <a:graphicFrameLocks noGrp="1"/>
          </p:cNvGraphicFramePr>
          <p:nvPr>
            <p:ph idx="1"/>
            <p:extLst>
              <p:ext uri="{D42A27DB-BD31-4B8C-83A1-F6EECF244321}">
                <p14:modId xmlns:p14="http://schemas.microsoft.com/office/powerpoint/2010/main" val="811154002"/>
              </p:ext>
            </p:extLst>
          </p:nvPr>
        </p:nvGraphicFramePr>
        <p:xfrm>
          <a:off x="609600" y="1600200"/>
          <a:ext cx="109728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7732001"/>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422AA-05BD-6BE1-D75D-5DCA742E555D}"/>
              </a:ext>
            </a:extLst>
          </p:cNvPr>
          <p:cNvSpPr>
            <a:spLocks noGrp="1"/>
          </p:cNvSpPr>
          <p:nvPr>
            <p:ph type="title"/>
          </p:nvPr>
        </p:nvSpPr>
        <p:spPr>
          <a:xfrm>
            <a:off x="46462" y="347664"/>
            <a:ext cx="12145537" cy="990600"/>
          </a:xfrm>
        </p:spPr>
        <p:txBody>
          <a:bodyPr>
            <a:normAutofit/>
          </a:bodyPr>
          <a:lstStyle/>
          <a:p>
            <a:r>
              <a:rPr lang="en-US" sz="2800" b="1" cap="small" dirty="0"/>
              <a:t>Best practices: </a:t>
            </a:r>
            <a:br>
              <a:rPr lang="en-US" sz="2800" cap="small" dirty="0"/>
            </a:br>
            <a:r>
              <a:rPr lang="en-US" sz="2800" i="1" cap="small" dirty="0"/>
              <a:t>Requests for Modificat</a:t>
            </a:r>
            <a:r>
              <a:rPr lang="en-US" sz="2800" cap="small" dirty="0"/>
              <a:t>ions/</a:t>
            </a:r>
            <a:r>
              <a:rPr lang="en-US" sz="2800" i="1" cap="small" dirty="0"/>
              <a:t>Accommodations</a:t>
            </a:r>
          </a:p>
        </p:txBody>
      </p:sp>
      <p:sp>
        <p:nvSpPr>
          <p:cNvPr id="3" name="Content Placeholder 2">
            <a:extLst>
              <a:ext uri="{FF2B5EF4-FFF2-40B4-BE49-F238E27FC236}">
                <a16:creationId xmlns:a16="http://schemas.microsoft.com/office/drawing/2014/main" id="{C2CD9613-B583-1038-F94A-27C349DED66A}"/>
              </a:ext>
            </a:extLst>
          </p:cNvPr>
          <p:cNvSpPr>
            <a:spLocks noGrp="1"/>
          </p:cNvSpPr>
          <p:nvPr>
            <p:ph idx="1"/>
          </p:nvPr>
        </p:nvSpPr>
        <p:spPr>
          <a:xfrm>
            <a:off x="46463" y="1338264"/>
            <a:ext cx="12099074" cy="5129213"/>
          </a:xfrm>
        </p:spPr>
        <p:txBody>
          <a:bodyPr/>
          <a:lstStyle/>
          <a:p>
            <a:pPr marL="457200" indent="-457200">
              <a:buClr>
                <a:schemeClr val="tx1"/>
              </a:buClr>
              <a:buFont typeface="+mj-lt"/>
              <a:buAutoNum type="arabicPeriod"/>
            </a:pPr>
            <a:r>
              <a:rPr lang="en-US" dirty="0"/>
              <a:t>Prominent and clear notice of availability of accommodations/modifications and how to request them. </a:t>
            </a:r>
          </a:p>
          <a:p>
            <a:pPr lvl="1"/>
            <a:r>
              <a:rPr lang="en-US" sz="1800" i="1" dirty="0"/>
              <a:t>All public spaces - </a:t>
            </a:r>
            <a:r>
              <a:rPr lang="en-US" sz="1800" dirty="0"/>
              <a:t>Service desks, meeting rooms, etc.</a:t>
            </a:r>
          </a:p>
          <a:p>
            <a:pPr lvl="1"/>
            <a:r>
              <a:rPr lang="en-US" sz="1800" i="1" dirty="0"/>
              <a:t>Meeting notices/agendas</a:t>
            </a:r>
          </a:p>
          <a:p>
            <a:pPr lvl="1"/>
            <a:r>
              <a:rPr lang="en-US" sz="1800" i="1" dirty="0"/>
              <a:t>Event registrations</a:t>
            </a:r>
          </a:p>
          <a:p>
            <a:pPr lvl="1"/>
            <a:r>
              <a:rPr lang="en-US" sz="1800" i="1" dirty="0"/>
              <a:t>Website</a:t>
            </a:r>
          </a:p>
          <a:p>
            <a:pPr lvl="1"/>
            <a:r>
              <a:rPr lang="en-US" sz="1800" i="1" dirty="0"/>
              <a:t>Event materials</a:t>
            </a:r>
          </a:p>
          <a:p>
            <a:pPr lvl="1"/>
            <a:r>
              <a:rPr lang="en-US" sz="1800" i="1" dirty="0"/>
              <a:t>Social media</a:t>
            </a:r>
          </a:p>
          <a:p>
            <a:pPr marL="274637" lvl="1" indent="-457200">
              <a:spcBef>
                <a:spcPts val="1176"/>
              </a:spcBef>
              <a:buClr>
                <a:schemeClr val="tx1"/>
              </a:buClr>
              <a:buFont typeface="+mj-lt"/>
              <a:buAutoNum type="arabicPeriod" startAt="2"/>
            </a:pPr>
            <a:r>
              <a:rPr lang="en-US" sz="2400" dirty="0"/>
              <a:t>Clear policies and procedures on how requests should be handled.</a:t>
            </a:r>
          </a:p>
          <a:p>
            <a:pPr marL="822325" lvl="3" indent="-457200">
              <a:spcBef>
                <a:spcPts val="0"/>
              </a:spcBef>
              <a:buClr>
                <a:schemeClr val="tx1"/>
              </a:buClr>
            </a:pPr>
            <a:r>
              <a:rPr lang="en-US" sz="1800" i="1" dirty="0"/>
              <a:t>Individualized evaluation process.</a:t>
            </a:r>
          </a:p>
          <a:p>
            <a:pPr marL="822325" lvl="3" indent="-457200">
              <a:spcBef>
                <a:spcPts val="0"/>
              </a:spcBef>
              <a:buClr>
                <a:schemeClr val="tx1"/>
              </a:buClr>
            </a:pPr>
            <a:r>
              <a:rPr lang="en-US" sz="1800" i="1" dirty="0"/>
              <a:t>Decision not to provide must be made at Department Head level or higher.</a:t>
            </a:r>
          </a:p>
          <a:p>
            <a:pPr marL="822325" lvl="3" indent="-457200">
              <a:spcBef>
                <a:spcPts val="0"/>
              </a:spcBef>
              <a:buClr>
                <a:schemeClr val="tx1"/>
              </a:buClr>
            </a:pPr>
            <a:r>
              <a:rPr lang="en-US" sz="1800" i="1" dirty="0"/>
              <a:t>Full array of resources available must be considered.</a:t>
            </a:r>
          </a:p>
          <a:p>
            <a:pPr marL="822325" lvl="3" indent="-457200">
              <a:spcBef>
                <a:spcPts val="0"/>
              </a:spcBef>
              <a:buClr>
                <a:schemeClr val="tx1"/>
              </a:buClr>
            </a:pPr>
            <a:r>
              <a:rPr lang="en-US" sz="1800" i="1" dirty="0"/>
              <a:t>If undue burden, alternatives provided.</a:t>
            </a:r>
          </a:p>
          <a:p>
            <a:pPr marL="274637" lvl="1" indent="-457200">
              <a:spcBef>
                <a:spcPts val="1176"/>
              </a:spcBef>
              <a:buClr>
                <a:schemeClr val="tx1"/>
              </a:buClr>
              <a:buFont typeface="+mj-lt"/>
              <a:buAutoNum type="arabicPeriod" startAt="2"/>
            </a:pPr>
            <a:r>
              <a:rPr lang="en-US" sz="2400" dirty="0"/>
              <a:t>Clear deadlines on making requests.</a:t>
            </a:r>
          </a:p>
          <a:p>
            <a:pPr marL="274637" lvl="1" indent="-457200">
              <a:spcBef>
                <a:spcPts val="1176"/>
              </a:spcBef>
              <a:buClr>
                <a:schemeClr val="tx1"/>
              </a:buClr>
              <a:buFont typeface="+mj-lt"/>
              <a:buAutoNum type="arabicPeriod" startAt="2"/>
            </a:pPr>
            <a:r>
              <a:rPr lang="en-US" sz="2400" dirty="0"/>
              <a:t>Staff trained on how to solicit and respond to requests.</a:t>
            </a:r>
          </a:p>
        </p:txBody>
      </p:sp>
      <p:sp>
        <p:nvSpPr>
          <p:cNvPr id="4" name="Slide Number Placeholder 3">
            <a:extLst>
              <a:ext uri="{FF2B5EF4-FFF2-40B4-BE49-F238E27FC236}">
                <a16:creationId xmlns:a16="http://schemas.microsoft.com/office/drawing/2014/main" id="{864F7534-02CA-48C9-A229-BF0FC142EDB5}"/>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28</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descr="Americans with Disabilities Act &#10;The (Name of Public Entity) does not discriminate on the basis of disability in its programs, services, activities and employment practices. If you need auxiliary aids and services for effective communication (such as a sign language interpreter, an assistive listening device or print material in digital format) or reasonable modification to programs, services or activities contact the ADA Coordinator as soon as possible, preferably XX days before the activity or event. A grievance procedure is available to resolve complaints. Upon request, this notice is available in alternative formats such as large print or Braille. (ADA Coordinator name and contact information)">
            <a:extLst>
              <a:ext uri="{FF2B5EF4-FFF2-40B4-BE49-F238E27FC236}">
                <a16:creationId xmlns:a16="http://schemas.microsoft.com/office/drawing/2014/main" id="{2FECBE15-BA2A-2DB1-7C93-4A154A07347B}"/>
              </a:ext>
            </a:extLst>
          </p:cNvPr>
          <p:cNvPicPr>
            <a:picLocks noChangeAspect="1"/>
          </p:cNvPicPr>
          <p:nvPr/>
        </p:nvPicPr>
        <p:blipFill>
          <a:blip r:embed="rId2"/>
          <a:srcRect l="3987" t="61953" r="5425" b="7778"/>
          <a:stretch/>
        </p:blipFill>
        <p:spPr>
          <a:xfrm>
            <a:off x="6553200" y="1905000"/>
            <a:ext cx="5306600" cy="2294677"/>
          </a:xfrm>
          <a:prstGeom prst="rect">
            <a:avLst/>
          </a:prstGeom>
        </p:spPr>
      </p:pic>
    </p:spTree>
    <p:extLst>
      <p:ext uri="{BB962C8B-B14F-4D97-AF65-F5344CB8AC3E}">
        <p14:creationId xmlns:p14="http://schemas.microsoft.com/office/powerpoint/2010/main" val="4237954420"/>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3FE7-9ECB-9171-18E3-55251C01963B}"/>
              </a:ext>
            </a:extLst>
          </p:cNvPr>
          <p:cNvSpPr>
            <a:spLocks noGrp="1"/>
          </p:cNvSpPr>
          <p:nvPr>
            <p:ph type="title"/>
          </p:nvPr>
        </p:nvSpPr>
        <p:spPr>
          <a:xfrm>
            <a:off x="14111" y="228600"/>
            <a:ext cx="10972800" cy="990600"/>
          </a:xfrm>
        </p:spPr>
        <p:txBody>
          <a:bodyPr>
            <a:normAutofit fontScale="90000"/>
          </a:bodyPr>
          <a:lstStyle/>
          <a:p>
            <a:r>
              <a:rPr lang="en-US" b="1" cap="small" dirty="0"/>
              <a:t>Handling Modification/Accommodation Requests</a:t>
            </a:r>
          </a:p>
        </p:txBody>
      </p:sp>
      <p:sp>
        <p:nvSpPr>
          <p:cNvPr id="3" name="Content Placeholder 2">
            <a:extLst>
              <a:ext uri="{FF2B5EF4-FFF2-40B4-BE49-F238E27FC236}">
                <a16:creationId xmlns:a16="http://schemas.microsoft.com/office/drawing/2014/main" id="{C4C1C2D1-482C-6C1A-6E46-CF625836508E}"/>
              </a:ext>
            </a:extLst>
          </p:cNvPr>
          <p:cNvSpPr>
            <a:spLocks noGrp="1"/>
          </p:cNvSpPr>
          <p:nvPr>
            <p:ph idx="1"/>
          </p:nvPr>
        </p:nvSpPr>
        <p:spPr>
          <a:xfrm>
            <a:off x="266700" y="1219200"/>
            <a:ext cx="11658600" cy="4876800"/>
          </a:xfrm>
        </p:spPr>
        <p:txBody>
          <a:bodyPr/>
          <a:lstStyle/>
          <a:p>
            <a:pPr marL="457200" indent="-457200">
              <a:buFont typeface="+mj-lt"/>
              <a:buAutoNum type="arabicPeriod"/>
            </a:pPr>
            <a:r>
              <a:rPr lang="en-US" dirty="0"/>
              <a:t>Explain to individual the process for making request and review.</a:t>
            </a:r>
          </a:p>
          <a:p>
            <a:pPr marL="457200" indent="-457200">
              <a:spcBef>
                <a:spcPts val="1176"/>
              </a:spcBef>
              <a:buFont typeface="+mj-lt"/>
              <a:buAutoNum type="arabicPeriod"/>
            </a:pPr>
            <a:r>
              <a:rPr lang="en-US" dirty="0"/>
              <a:t>Engage in dialogue with individual as needed:</a:t>
            </a:r>
          </a:p>
          <a:p>
            <a:pPr lvl="2"/>
            <a:r>
              <a:rPr lang="en-US" sz="2000" i="1" dirty="0"/>
              <a:t>What is the purpose of the modification/accommodation? What will it allow the individual to accomplish? What is their goal?</a:t>
            </a:r>
          </a:p>
          <a:p>
            <a:pPr lvl="2"/>
            <a:r>
              <a:rPr lang="en-US" sz="2000" i="1" dirty="0"/>
              <a:t>What are potential options for modification/accommodations?</a:t>
            </a:r>
          </a:p>
          <a:p>
            <a:pPr lvl="2"/>
            <a:r>
              <a:rPr lang="en-US" sz="2000" i="1" dirty="0"/>
              <a:t>What have they found works best for them in similar situations?</a:t>
            </a:r>
          </a:p>
          <a:p>
            <a:pPr marL="457200" indent="-457200">
              <a:spcBef>
                <a:spcPts val="1176"/>
              </a:spcBef>
              <a:buFont typeface="+mj-lt"/>
              <a:buAutoNum type="arabicPeriod"/>
            </a:pPr>
            <a:r>
              <a:rPr lang="en-US" dirty="0"/>
              <a:t>Remember: there may be multiple methods for meeting a need.</a:t>
            </a:r>
          </a:p>
          <a:p>
            <a:pPr lvl="2"/>
            <a:r>
              <a:rPr lang="en-US" sz="2000" i="1" u="sng" dirty="0"/>
              <a:t>Example</a:t>
            </a:r>
            <a:r>
              <a:rPr lang="en-US" sz="2000" i="1" dirty="0"/>
              <a:t>: Person may request ASL, when captioning or texting can meet need for equally effective communication.</a:t>
            </a:r>
          </a:p>
          <a:p>
            <a:pPr marL="457200" indent="-457200">
              <a:spcBef>
                <a:spcPts val="1176"/>
              </a:spcBef>
              <a:buFont typeface="+mj-lt"/>
              <a:buAutoNum type="arabicPeriod"/>
            </a:pPr>
            <a:r>
              <a:rPr lang="en-US" dirty="0"/>
              <a:t>Provide response verbally and in writing.</a:t>
            </a:r>
          </a:p>
          <a:p>
            <a:pPr marL="457200" indent="-457200">
              <a:spcBef>
                <a:spcPts val="1176"/>
              </a:spcBef>
              <a:buFont typeface="+mj-lt"/>
              <a:buAutoNum type="arabicPeriod"/>
            </a:pPr>
            <a:r>
              <a:rPr lang="en-US" dirty="0"/>
              <a:t>Communicate and work with individual on details of modification/accommodation.</a:t>
            </a:r>
          </a:p>
          <a:p>
            <a:pPr marL="457200" indent="-457200">
              <a:spcBef>
                <a:spcPts val="1176"/>
              </a:spcBef>
              <a:buFont typeface="+mj-lt"/>
              <a:buAutoNum type="arabicPeriod"/>
            </a:pPr>
            <a:r>
              <a:rPr lang="en-US" dirty="0"/>
              <a:t>Reach out to experts as needed.</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18621C4F-1900-CB97-1114-725C50FC69B8}"/>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29</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88266329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8EB83-1195-F48F-B9F9-D27CB3A03D04}"/>
              </a:ext>
            </a:extLst>
          </p:cNvPr>
          <p:cNvSpPr>
            <a:spLocks noGrp="1"/>
          </p:cNvSpPr>
          <p:nvPr>
            <p:ph type="title"/>
          </p:nvPr>
        </p:nvSpPr>
        <p:spPr>
          <a:xfrm>
            <a:off x="169759" y="544286"/>
            <a:ext cx="10972800" cy="990600"/>
          </a:xfrm>
        </p:spPr>
        <p:txBody>
          <a:bodyPr/>
          <a:lstStyle/>
          <a:p>
            <a:r>
              <a:rPr lang="en-US" b="1" cap="small" dirty="0"/>
              <a:t>Documentation of Disability</a:t>
            </a:r>
          </a:p>
        </p:txBody>
      </p:sp>
      <p:sp>
        <p:nvSpPr>
          <p:cNvPr id="3" name="Content Placeholder 2">
            <a:extLst>
              <a:ext uri="{FF2B5EF4-FFF2-40B4-BE49-F238E27FC236}">
                <a16:creationId xmlns:a16="http://schemas.microsoft.com/office/drawing/2014/main" id="{665D4104-FC0B-ACDD-875A-C87D6CD71A2C}"/>
              </a:ext>
            </a:extLst>
          </p:cNvPr>
          <p:cNvSpPr>
            <a:spLocks noGrp="1"/>
          </p:cNvSpPr>
          <p:nvPr>
            <p:ph idx="1"/>
          </p:nvPr>
        </p:nvSpPr>
        <p:spPr>
          <a:xfrm>
            <a:off x="169758" y="1665514"/>
            <a:ext cx="6307241" cy="4648200"/>
          </a:xfrm>
        </p:spPr>
        <p:txBody>
          <a:bodyPr/>
          <a:lstStyle/>
          <a:p>
            <a:pPr marL="457200" indent="-457200">
              <a:buClr>
                <a:schemeClr val="tx1"/>
              </a:buClr>
              <a:buFont typeface="+mj-lt"/>
              <a:buAutoNum type="arabicPeriod"/>
            </a:pPr>
            <a:r>
              <a:rPr lang="en-US" dirty="0"/>
              <a:t>Documentation of disability is </a:t>
            </a:r>
            <a:r>
              <a:rPr lang="en-US" b="1" dirty="0"/>
              <a:t>not </a:t>
            </a:r>
            <a:r>
              <a:rPr lang="en-US" dirty="0"/>
              <a:t>required.</a:t>
            </a:r>
          </a:p>
          <a:p>
            <a:pPr marL="457200" indent="-457200">
              <a:spcBef>
                <a:spcPts val="1200"/>
              </a:spcBef>
              <a:buClr>
                <a:schemeClr val="tx1"/>
              </a:buClr>
              <a:buFont typeface="+mj-lt"/>
              <a:buAutoNum type="arabicPeriod"/>
            </a:pPr>
            <a:r>
              <a:rPr lang="en-US" dirty="0"/>
              <a:t>Should only be requested if absolutely necessary.</a:t>
            </a:r>
          </a:p>
          <a:p>
            <a:pPr marL="457200" indent="-457200">
              <a:spcBef>
                <a:spcPts val="1200"/>
              </a:spcBef>
              <a:buClr>
                <a:schemeClr val="tx1"/>
              </a:buClr>
              <a:buFont typeface="+mj-lt"/>
              <a:buAutoNum type="arabicPeriod"/>
            </a:pPr>
            <a:r>
              <a:rPr lang="en-US" dirty="0"/>
              <a:t>If disability is not obvious, municipality </a:t>
            </a:r>
            <a:r>
              <a:rPr lang="en-US" b="1" dirty="0"/>
              <a:t>may</a:t>
            </a:r>
            <a:r>
              <a:rPr lang="en-US" dirty="0"/>
              <a:t> ask individual for documentation from a health care provider, that specifies:</a:t>
            </a:r>
          </a:p>
          <a:p>
            <a:pPr lvl="1"/>
            <a:r>
              <a:rPr lang="en-US" sz="2400" i="1" dirty="0"/>
              <a:t>The person has a disability</a:t>
            </a:r>
          </a:p>
          <a:p>
            <a:pPr lvl="1"/>
            <a:r>
              <a:rPr lang="en-US" sz="2400" i="1" dirty="0"/>
              <a:t>The limitations caused by the disability</a:t>
            </a:r>
          </a:p>
          <a:p>
            <a:pPr lvl="1"/>
            <a:r>
              <a:rPr lang="en-US" sz="2400" i="1" dirty="0"/>
              <a:t>How the requested accommodation addresses those limitations</a:t>
            </a:r>
          </a:p>
        </p:txBody>
      </p:sp>
      <p:pic>
        <p:nvPicPr>
          <p:cNvPr id="7" name="Picture 6">
            <a:extLst>
              <a:ext uri="{FF2B5EF4-FFF2-40B4-BE49-F238E27FC236}">
                <a16:creationId xmlns:a16="http://schemas.microsoft.com/office/drawing/2014/main" id="{082B3DDD-F711-5EBD-145D-B01FA14CD173}"/>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086600" y="1709736"/>
            <a:ext cx="4055959" cy="3799253"/>
          </a:xfrm>
          <a:prstGeom prst="rect">
            <a:avLst/>
          </a:prstGeom>
        </p:spPr>
      </p:pic>
      <p:sp>
        <p:nvSpPr>
          <p:cNvPr id="4" name="Slide Number Placeholder 3">
            <a:extLst>
              <a:ext uri="{FF2B5EF4-FFF2-40B4-BE49-F238E27FC236}">
                <a16:creationId xmlns:a16="http://schemas.microsoft.com/office/drawing/2014/main" id="{CE15B850-A00E-C72E-31D6-EC761BBDF73B}"/>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30</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368233064"/>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5ABF-3BD3-438C-98F5-4FBE097C9C02}"/>
              </a:ext>
            </a:extLst>
          </p:cNvPr>
          <p:cNvSpPr>
            <a:spLocks noGrp="1"/>
          </p:cNvSpPr>
          <p:nvPr>
            <p:ph type="title"/>
          </p:nvPr>
        </p:nvSpPr>
        <p:spPr>
          <a:xfrm>
            <a:off x="914400" y="2171700"/>
            <a:ext cx="10972800" cy="990600"/>
          </a:xfrm>
        </p:spPr>
        <p:txBody>
          <a:bodyPr anchor="ctr">
            <a:normAutofit/>
          </a:bodyPr>
          <a:lstStyle/>
          <a:p>
            <a:pPr algn="ctr"/>
            <a:r>
              <a:rPr lang="en-US" dirty="0"/>
              <a:t>Disability Accessibility Scenarios</a:t>
            </a:r>
          </a:p>
        </p:txBody>
      </p:sp>
      <p:sp>
        <p:nvSpPr>
          <p:cNvPr id="4" name="Slide Number Placeholder 3">
            <a:extLst>
              <a:ext uri="{FF2B5EF4-FFF2-40B4-BE49-F238E27FC236}">
                <a16:creationId xmlns:a16="http://schemas.microsoft.com/office/drawing/2014/main" id="{B3E00D93-51B1-64FE-D0C3-8FB1AB377AFB}"/>
              </a:ext>
            </a:extLst>
          </p:cNvPr>
          <p:cNvSpPr>
            <a:spLocks noGrp="1"/>
          </p:cNvSpPr>
          <p:nvPr>
            <p:ph type="sldNum" sz="quarter" idx="12"/>
          </p:nvPr>
        </p:nvSpPr>
        <p:spPr>
          <a:xfrm>
            <a:off x="10160000" y="19051"/>
            <a:ext cx="1422400" cy="328613"/>
          </a:xfrm>
        </p:spPr>
        <p:txBody>
          <a:bodyPr wrap="square" anchor="ctr">
            <a:normAutofit/>
          </a:bodyPr>
          <a:lstStyle/>
          <a:p>
            <a:pPr>
              <a:spcAft>
                <a:spcPts val="600"/>
              </a:spcAft>
              <a:defRPr/>
            </a:pPr>
            <a:fld id="{6DFFECAE-5558-FC4F-A5D5-814DD6134961}" type="slidenum">
              <a:rPr lang="en-US" altLang="en-US" smtClean="0"/>
              <a:pPr>
                <a:spcAft>
                  <a:spcPts val="600"/>
                </a:spcAft>
                <a:defRPr/>
              </a:pPr>
              <a:t>31</a:t>
            </a:fld>
            <a:endParaRPr lang="en-US" altLang="en-US"/>
          </a:p>
        </p:txBody>
      </p:sp>
      <p:pic>
        <p:nvPicPr>
          <p:cNvPr id="8" name="Picture 7" descr="A group of people holding hands&#10;&#10;AI-generated content may be incorrect.">
            <a:extLst>
              <a:ext uri="{FF2B5EF4-FFF2-40B4-BE49-F238E27FC236}">
                <a16:creationId xmlns:a16="http://schemas.microsoft.com/office/drawing/2014/main" id="{E7FA299A-F4EE-2555-9E58-5336AFBF62B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52400" y="3419404"/>
            <a:ext cx="11887200" cy="2255520"/>
          </a:xfrm>
          <a:prstGeom prst="rect">
            <a:avLst/>
          </a:prstGeom>
        </p:spPr>
      </p:pic>
    </p:spTree>
    <p:extLst>
      <p:ext uri="{BB962C8B-B14F-4D97-AF65-F5344CB8AC3E}">
        <p14:creationId xmlns:p14="http://schemas.microsoft.com/office/powerpoint/2010/main" val="2874259306"/>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9EEE0E-1317-B6A7-CE76-F199683B20EA}"/>
              </a:ext>
            </a:extLst>
          </p:cNvPr>
          <p:cNvSpPr>
            <a:spLocks noGrp="1"/>
          </p:cNvSpPr>
          <p:nvPr>
            <p:ph type="title"/>
          </p:nvPr>
        </p:nvSpPr>
        <p:spPr>
          <a:xfrm>
            <a:off x="963084" y="2362201"/>
            <a:ext cx="10363200" cy="2200275"/>
          </a:xfrm>
        </p:spPr>
        <p:txBody>
          <a:bodyPr anchor="b">
            <a:normAutofit/>
          </a:bodyPr>
          <a:lstStyle/>
          <a:p>
            <a:r>
              <a:rPr lang="en-US" dirty="0"/>
              <a:t>Best Practices</a:t>
            </a:r>
          </a:p>
        </p:txBody>
      </p:sp>
      <p:sp>
        <p:nvSpPr>
          <p:cNvPr id="4" name="Slide Number Placeholder 3">
            <a:extLst>
              <a:ext uri="{FF2B5EF4-FFF2-40B4-BE49-F238E27FC236}">
                <a16:creationId xmlns:a16="http://schemas.microsoft.com/office/drawing/2014/main" id="{4C31C964-650B-6DD1-4A6C-4726006A2732}"/>
              </a:ext>
            </a:extLst>
          </p:cNvPr>
          <p:cNvSpPr>
            <a:spLocks noGrp="1"/>
          </p:cNvSpPr>
          <p:nvPr>
            <p:ph type="sldNum" sz="quarter" idx="12"/>
          </p:nvPr>
        </p:nvSpPr>
        <p:spPr>
          <a:xfrm>
            <a:off x="10160000" y="19051"/>
            <a:ext cx="1422400" cy="328613"/>
          </a:xfrm>
        </p:spPr>
        <p:txBody>
          <a:bodyPr wrap="square" anchor="ctr">
            <a:normAutofit/>
          </a:bodyPr>
          <a:lstStyle/>
          <a:p>
            <a:pPr>
              <a:spcAft>
                <a:spcPts val="600"/>
              </a:spcAft>
              <a:defRPr/>
            </a:pPr>
            <a:fld id="{6DFFECAE-5558-FC4F-A5D5-814DD6134961}" type="slidenum">
              <a:rPr lang="en-US" altLang="en-US" smtClean="0"/>
              <a:pPr>
                <a:spcAft>
                  <a:spcPts val="600"/>
                </a:spcAft>
                <a:defRPr/>
              </a:pPr>
              <a:t>32</a:t>
            </a:fld>
            <a:endParaRPr lang="en-US" altLang="en-US"/>
          </a:p>
        </p:txBody>
      </p:sp>
    </p:spTree>
    <p:extLst>
      <p:ext uri="{BB962C8B-B14F-4D97-AF65-F5344CB8AC3E}">
        <p14:creationId xmlns:p14="http://schemas.microsoft.com/office/powerpoint/2010/main" val="299885116"/>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F2CCD-2EA5-E34F-80C5-1B9DE4359CE1}"/>
              </a:ext>
            </a:extLst>
          </p:cNvPr>
          <p:cNvSpPr>
            <a:spLocks noGrp="1"/>
          </p:cNvSpPr>
          <p:nvPr>
            <p:ph type="title"/>
          </p:nvPr>
        </p:nvSpPr>
        <p:spPr>
          <a:xfrm>
            <a:off x="2209800" y="1295400"/>
            <a:ext cx="8229600" cy="2438400"/>
          </a:xfrm>
          <a:effectLst>
            <a:glow rad="101600">
              <a:schemeClr val="accent3">
                <a:satMod val="175000"/>
                <a:alpha val="40000"/>
              </a:schemeClr>
            </a:glow>
            <a:outerShdw blurRad="38100" dist="25400" dir="2700000" algn="br" rotWithShape="0">
              <a:srgbClr val="000000">
                <a:alpha val="60000"/>
              </a:srgbClr>
            </a:outerShdw>
          </a:effectLst>
          <a:sp3d contourW="6350">
            <a:bevelT w="29210" h="12700" prst="divot"/>
            <a:contourClr>
              <a:schemeClr val="accent6">
                <a:shade val="30000"/>
                <a:satMod val="130000"/>
              </a:schemeClr>
            </a:contourClr>
          </a:sp3d>
        </p:spPr>
        <p:style>
          <a:lnRef idx="0">
            <a:schemeClr val="accent6"/>
          </a:lnRef>
          <a:fillRef idx="3">
            <a:schemeClr val="accent6"/>
          </a:fillRef>
          <a:effectRef idx="3">
            <a:schemeClr val="accent6"/>
          </a:effectRef>
          <a:fontRef idx="minor">
            <a:schemeClr val="lt1"/>
          </a:fontRef>
        </p:style>
        <p:txBody>
          <a:bodyPr wrap="square" numCol="1" anchorCtr="0" compatLnSpc="1">
            <a:prstTxWarp prst="textNoShape">
              <a:avLst/>
            </a:prstTxWarp>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pPr algn="ctr">
              <a:defRPr/>
            </a:pPr>
            <a:r>
              <a:rPr lang="en-US" altLang="en-US" sz="3600">
                <a:solidFill>
                  <a:srgbClr val="FFFFFF"/>
                </a:solidFill>
                <a:latin typeface="Arial" panose="020B0604020202020204" pitchFamily="34" charset="0"/>
              </a:rPr>
              <a:t>“My disability exists</a:t>
            </a:r>
            <a:br>
              <a:rPr lang="en-US" altLang="en-US" sz="3600">
                <a:solidFill>
                  <a:srgbClr val="FFFFFF"/>
                </a:solidFill>
                <a:latin typeface="Arial" panose="020B0604020202020204" pitchFamily="34" charset="0"/>
              </a:rPr>
            </a:br>
            <a:r>
              <a:rPr lang="en-US" altLang="en-US" sz="3600">
                <a:solidFill>
                  <a:srgbClr val="FFFFFF"/>
                </a:solidFill>
                <a:latin typeface="Arial" panose="020B0604020202020204" pitchFamily="34" charset="0"/>
              </a:rPr>
              <a:t>not because I use a wheelchair,</a:t>
            </a:r>
            <a:br>
              <a:rPr lang="en-US" altLang="en-US" sz="3600">
                <a:solidFill>
                  <a:srgbClr val="FFFFFF"/>
                </a:solidFill>
                <a:latin typeface="Arial" panose="020B0604020202020204" pitchFamily="34" charset="0"/>
              </a:rPr>
            </a:br>
            <a:r>
              <a:rPr lang="en-US" altLang="en-US" sz="3600">
                <a:solidFill>
                  <a:srgbClr val="FFFFFF"/>
                </a:solidFill>
                <a:latin typeface="Arial" panose="020B0604020202020204" pitchFamily="34" charset="0"/>
              </a:rPr>
              <a:t>but because the broader environment </a:t>
            </a:r>
            <a:br>
              <a:rPr lang="en-US" altLang="en-US" sz="3600">
                <a:solidFill>
                  <a:srgbClr val="FFFFFF"/>
                </a:solidFill>
                <a:latin typeface="Arial" panose="020B0604020202020204" pitchFamily="34" charset="0"/>
              </a:rPr>
            </a:br>
            <a:r>
              <a:rPr lang="en-US" altLang="en-US" sz="3600">
                <a:solidFill>
                  <a:srgbClr val="FFFFFF"/>
                </a:solidFill>
                <a:latin typeface="Arial" panose="020B0604020202020204" pitchFamily="34" charset="0"/>
              </a:rPr>
              <a:t>isn't accessible.”</a:t>
            </a:r>
          </a:p>
        </p:txBody>
      </p:sp>
      <p:sp>
        <p:nvSpPr>
          <p:cNvPr id="22532" name="Content Placeholder 2">
            <a:extLst>
              <a:ext uri="{FF2B5EF4-FFF2-40B4-BE49-F238E27FC236}">
                <a16:creationId xmlns:a16="http://schemas.microsoft.com/office/drawing/2014/main" id="{436F8E08-67BF-E94E-B100-6D17C513A9BE}"/>
              </a:ext>
            </a:extLst>
          </p:cNvPr>
          <p:cNvSpPr>
            <a:spLocks noGrp="1"/>
          </p:cNvSpPr>
          <p:nvPr>
            <p:ph idx="1"/>
          </p:nvPr>
        </p:nvSpPr>
        <p:spPr>
          <a:xfrm>
            <a:off x="7543800" y="5562600"/>
            <a:ext cx="2362200" cy="685800"/>
          </a:xfrm>
        </p:spPr>
        <p:txBody>
          <a:bodyPr/>
          <a:lstStyle/>
          <a:p>
            <a:r>
              <a:rPr lang="en-US" altLang="en-US">
                <a:ea typeface="ＭＳ Ｐゴシック" panose="020B0600070205080204" pitchFamily="34" charset="-128"/>
              </a:rPr>
              <a:t>Stella Young</a:t>
            </a:r>
          </a:p>
        </p:txBody>
      </p:sp>
      <p:sp>
        <p:nvSpPr>
          <p:cNvPr id="22533" name="Slide Number Placeholder 3">
            <a:extLst>
              <a:ext uri="{FF2B5EF4-FFF2-40B4-BE49-F238E27FC236}">
                <a16:creationId xmlns:a16="http://schemas.microsoft.com/office/drawing/2014/main" id="{4801C224-953E-0545-9A19-F3A1FC72521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2F3E9A9B-42A4-0D4D-9DEF-B5B96A231DF3}" type="slidenum">
              <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33</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22534" name="Picture 5">
            <a:extLst>
              <a:ext uri="{FF2B5EF4-FFF2-40B4-BE49-F238E27FC236}">
                <a16:creationId xmlns:a16="http://schemas.microsoft.com/office/drawing/2014/main" id="{58373726-B67D-3647-92CD-E98F223EAD4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3429000" y="4343400"/>
            <a:ext cx="37973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7988747"/>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3"/>
          <p:cNvSpPr>
            <a:spLocks noGrp="1" noChangeArrowheads="1"/>
          </p:cNvSpPr>
          <p:nvPr>
            <p:ph type="body" idx="1"/>
          </p:nvPr>
        </p:nvSpPr>
        <p:spPr>
          <a:xfrm>
            <a:off x="4876800" y="2286000"/>
            <a:ext cx="4724400" cy="4724400"/>
          </a:xfrm>
        </p:spPr>
        <p:txBody>
          <a:bodyPr/>
          <a:lstStyle/>
          <a:p>
            <a:pPr>
              <a:spcBef>
                <a:spcPct val="50000"/>
              </a:spcBef>
              <a:defRPr/>
            </a:pPr>
            <a:r>
              <a:rPr kumimoji="1" lang="en-US" sz="3600" dirty="0">
                <a:latin typeface="Arial" charset="0"/>
                <a:ea typeface="Osaka" charset="0"/>
                <a:cs typeface="Arial" charset="0"/>
              </a:rPr>
              <a:t>Create environments that are usable by as many people as possible regardless of their age, size, ability, or disability</a:t>
            </a:r>
            <a:br>
              <a:rPr kumimoji="1" lang="en-US" sz="3600" dirty="0">
                <a:latin typeface="Arial" charset="0"/>
                <a:ea typeface="Osaka" charset="0"/>
                <a:cs typeface="Arial" charset="0"/>
              </a:rPr>
            </a:br>
            <a:endParaRPr kumimoji="1" lang="en-US" sz="3600" dirty="0">
              <a:latin typeface="Arial" charset="0"/>
              <a:ea typeface="Osaka" charset="0"/>
              <a:cs typeface="Arial" charset="0"/>
            </a:endParaRPr>
          </a:p>
        </p:txBody>
      </p:sp>
      <p:sp>
        <p:nvSpPr>
          <p:cNvPr id="75778" name="Title 1"/>
          <p:cNvSpPr>
            <a:spLocks noGrp="1"/>
          </p:cNvSpPr>
          <p:nvPr>
            <p:ph type="title"/>
          </p:nvPr>
        </p:nvSpPr>
        <p:spPr>
          <a:xfrm>
            <a:off x="2743200" y="533400"/>
            <a:ext cx="6324600" cy="914400"/>
          </a:xfrm>
        </p:spPr>
        <p:style>
          <a:lnRef idx="1">
            <a:schemeClr val="dk1"/>
          </a:lnRef>
          <a:fillRef idx="2">
            <a:schemeClr val="dk1"/>
          </a:fillRef>
          <a:effectRef idx="1">
            <a:schemeClr val="dk1"/>
          </a:effectRef>
          <a:fontRef idx="minor">
            <a:schemeClr val="dk1"/>
          </a:fontRef>
        </p:style>
        <p:txBody>
          <a:bodyPr/>
          <a:lstStyle/>
          <a:p>
            <a:pPr algn="ctr">
              <a:defRPr/>
            </a:pPr>
            <a:r>
              <a:rPr kumimoji="1" lang="en-US" b="1" cap="small" dirty="0">
                <a:latin typeface="Arial" charset="0"/>
                <a:ea typeface="Osaka" charset="0"/>
                <a:cs typeface="Arial" charset="0"/>
              </a:rPr>
              <a:t>Universal Design</a:t>
            </a:r>
            <a:endParaRPr lang="en-US" b="1" cap="small" dirty="0">
              <a:latin typeface="Arial" charset="0"/>
              <a:ea typeface="Osaka" charset="0"/>
              <a:cs typeface="Arial" charset="0"/>
            </a:endParaRPr>
          </a:p>
        </p:txBody>
      </p:sp>
      <p:sp>
        <p:nvSpPr>
          <p:cNvPr id="75779" name="Slide Number Placeholder 1"/>
          <p:cNvSpPr>
            <a:spLocks noGrp="1"/>
          </p:cNvSpPr>
          <p:nvPr>
            <p:ph type="sldNum" sz="quarter" idx="12"/>
          </p:nvPr>
        </p:nvSpPr>
        <p:spPr>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fld id="{778B8234-8570-8F4F-8CA8-8916879D3F65}" type="slidenum">
              <a:rPr lang="en-US" sz="1400">
                <a:ea typeface="Osaka" charset="0"/>
                <a:cs typeface="Osaka" charset="0"/>
              </a:rPr>
              <a:pPr>
                <a:defRPr/>
              </a:pPr>
              <a:t>34</a:t>
            </a:fld>
            <a:endParaRPr lang="en-US" sz="1400">
              <a:ea typeface="Osaka" charset="0"/>
              <a:cs typeface="Osaka" charset="0"/>
            </a:endParaRPr>
          </a:p>
        </p:txBody>
      </p:sp>
      <p:pic>
        <p:nvPicPr>
          <p:cNvPr id="17412" name="Picture 1" descr="Goal"/>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1600200" y="1676400"/>
            <a:ext cx="3246438" cy="5410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oor knob"/>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2133600" y="381000"/>
            <a:ext cx="2705100" cy="2705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 name="Picture 4" descr="Door leve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324600" y="685800"/>
            <a:ext cx="3219450" cy="182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6" descr="Push button door operne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429000" y="3733801"/>
            <a:ext cx="2584450" cy="2187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7" descr="Door open motion detected by hand"/>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239000" y="3733801"/>
            <a:ext cx="2133600" cy="2092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99000CAD-4EEA-0746-813A-A0F582F18A3D}" type="slidenum">
              <a:rPr lang="en-US" smtClean="0"/>
              <a:pPr>
                <a:defRPr/>
              </a:pPr>
              <a:t>35</a:t>
            </a:fld>
            <a:endParaRPr lang="en-US"/>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CAC5-1341-08E7-2952-CA860F01A506}"/>
              </a:ext>
            </a:extLst>
          </p:cNvPr>
          <p:cNvSpPr>
            <a:spLocks noGrp="1"/>
          </p:cNvSpPr>
          <p:nvPr>
            <p:ph type="title"/>
          </p:nvPr>
        </p:nvSpPr>
        <p:spPr/>
        <p:txBody>
          <a:bodyPr/>
          <a:lstStyle/>
          <a:p>
            <a:r>
              <a:rPr lang="en-US" b="1" cap="small" dirty="0"/>
              <a:t>Accessibility benefits everyone…</a:t>
            </a:r>
          </a:p>
        </p:txBody>
      </p:sp>
      <p:sp>
        <p:nvSpPr>
          <p:cNvPr id="4" name="Slide Number Placeholder 3">
            <a:extLst>
              <a:ext uri="{FF2B5EF4-FFF2-40B4-BE49-F238E27FC236}">
                <a16:creationId xmlns:a16="http://schemas.microsoft.com/office/drawing/2014/main" id="{23290D85-E8C1-0188-28A3-3A640F27B81A}"/>
              </a:ext>
            </a:extLst>
          </p:cNvPr>
          <p:cNvSpPr>
            <a:spLocks noGrp="1"/>
          </p:cNvSpPr>
          <p:nvPr>
            <p:ph type="sldNum" sz="quarter" idx="12"/>
          </p:nvPr>
        </p:nvSpPr>
        <p:spPr/>
        <p:txBody>
          <a:bodyPr/>
          <a:lstStyle/>
          <a:p>
            <a:pPr>
              <a:defRPr/>
            </a:pPr>
            <a:fld id="{6DFFECAE-5558-FC4F-A5D5-814DD6134961}" type="slidenum">
              <a:rPr lang="en-US" altLang="en-US" smtClean="0"/>
              <a:pPr>
                <a:defRPr/>
              </a:pPr>
              <a:t>36</a:t>
            </a:fld>
            <a:endParaRPr lang="en-US" altLang="en-US"/>
          </a:p>
        </p:txBody>
      </p:sp>
      <p:pic>
        <p:nvPicPr>
          <p:cNvPr id="10" name="Content Placeholder 9" descr="Push button door opener">
            <a:extLst>
              <a:ext uri="{FF2B5EF4-FFF2-40B4-BE49-F238E27FC236}">
                <a16:creationId xmlns:a16="http://schemas.microsoft.com/office/drawing/2014/main" id="{AA328780-E305-E5F5-52C6-FDC78D8B65F5}"/>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rot="5400000">
            <a:off x="393523" y="3023367"/>
            <a:ext cx="3557411" cy="2668058"/>
          </a:xfrm>
        </p:spPr>
      </p:pic>
      <p:pic>
        <p:nvPicPr>
          <p:cNvPr id="14" name="Picture 13" descr="Building with steps and ramp">
            <a:extLst>
              <a:ext uri="{FF2B5EF4-FFF2-40B4-BE49-F238E27FC236}">
                <a16:creationId xmlns:a16="http://schemas.microsoft.com/office/drawing/2014/main" id="{9A094DED-DCA8-2108-9491-CC86FDD217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5400000">
            <a:off x="4296303" y="3102388"/>
            <a:ext cx="3467100" cy="2600325"/>
          </a:xfrm>
          <a:prstGeom prst="rect">
            <a:avLst/>
          </a:prstGeom>
        </p:spPr>
      </p:pic>
      <p:pic>
        <p:nvPicPr>
          <p:cNvPr id="16" name="Picture 15" descr="Sidewalk with curb cut">
            <a:extLst>
              <a:ext uri="{FF2B5EF4-FFF2-40B4-BE49-F238E27FC236}">
                <a16:creationId xmlns:a16="http://schemas.microsoft.com/office/drawing/2014/main" id="{1DDAA424-6CFB-4516-28D2-F9FC466B7875}"/>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8255000" y="3429000"/>
            <a:ext cx="3327400" cy="2209800"/>
          </a:xfrm>
          <a:prstGeom prst="rect">
            <a:avLst/>
          </a:prstGeom>
        </p:spPr>
      </p:pic>
      <p:sp>
        <p:nvSpPr>
          <p:cNvPr id="17" name="TextBox 16">
            <a:extLst>
              <a:ext uri="{FF2B5EF4-FFF2-40B4-BE49-F238E27FC236}">
                <a16:creationId xmlns:a16="http://schemas.microsoft.com/office/drawing/2014/main" id="{1902A8CB-81E5-4A99-AA98-F65A893C879A}"/>
              </a:ext>
            </a:extLst>
          </p:cNvPr>
          <p:cNvSpPr txBox="1"/>
          <p:nvPr/>
        </p:nvSpPr>
        <p:spPr>
          <a:xfrm>
            <a:off x="8382000" y="5638800"/>
            <a:ext cx="3327400" cy="230832"/>
          </a:xfrm>
          <a:prstGeom prst="rect">
            <a:avLst/>
          </a:prstGeom>
          <a:noFill/>
        </p:spPr>
        <p:txBody>
          <a:bodyPr wrap="square" rtlCol="0">
            <a:spAutoFit/>
          </a:bodyPr>
          <a:lstStyle/>
          <a:p>
            <a:r>
              <a:rPr lang="en-US" sz="900" dirty="0">
                <a:hlinkClick r:id="rId5" tooltip="https://ecampusontario.pressbooks.pub/incd2020exhibit/chapter/oer-design/"/>
              </a:rPr>
              <a:t>This Photo</a:t>
            </a:r>
            <a:r>
              <a:rPr lang="en-US" sz="900" dirty="0"/>
              <a:t> by Unknown Author is licensed under </a:t>
            </a:r>
            <a:r>
              <a:rPr lang="en-US" sz="900" dirty="0">
                <a:hlinkClick r:id="rId6" tooltip="https://creativecommons.org/licenses/by/3.0/"/>
              </a:rPr>
              <a:t>CC BY</a:t>
            </a:r>
            <a:endParaRPr lang="en-US" sz="900" dirty="0"/>
          </a:p>
        </p:txBody>
      </p:sp>
    </p:spTree>
    <p:extLst>
      <p:ext uri="{BB962C8B-B14F-4D97-AF65-F5344CB8AC3E}">
        <p14:creationId xmlns:p14="http://schemas.microsoft.com/office/powerpoint/2010/main" val="1033720701"/>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AD8D9-2CEC-FE49-989C-AC8B00BD168B}"/>
              </a:ext>
            </a:extLst>
          </p:cNvPr>
          <p:cNvSpPr>
            <a:spLocks noGrp="1"/>
          </p:cNvSpPr>
          <p:nvPr>
            <p:ph type="title"/>
          </p:nvPr>
        </p:nvSpPr>
        <p:spPr>
          <a:xfrm>
            <a:off x="90302" y="560614"/>
            <a:ext cx="10972800" cy="990600"/>
          </a:xfrm>
        </p:spPr>
        <p:txBody>
          <a:bodyPr/>
          <a:lstStyle/>
          <a:p>
            <a:r>
              <a:rPr lang="en-US" b="1" cap="small" dirty="0"/>
              <a:t>Basics of universal communication</a:t>
            </a:r>
          </a:p>
        </p:txBody>
      </p:sp>
      <p:sp>
        <p:nvSpPr>
          <p:cNvPr id="3" name="Content Placeholder 2">
            <a:extLst>
              <a:ext uri="{FF2B5EF4-FFF2-40B4-BE49-F238E27FC236}">
                <a16:creationId xmlns:a16="http://schemas.microsoft.com/office/drawing/2014/main" id="{77E635E9-CF66-416C-9A6F-3BCDC6D15102}"/>
              </a:ext>
            </a:extLst>
          </p:cNvPr>
          <p:cNvSpPr>
            <a:spLocks noGrp="1"/>
          </p:cNvSpPr>
          <p:nvPr>
            <p:ph idx="1"/>
          </p:nvPr>
        </p:nvSpPr>
        <p:spPr>
          <a:xfrm>
            <a:off x="457200" y="1714500"/>
            <a:ext cx="7924800" cy="5105400"/>
          </a:xfrm>
        </p:spPr>
        <p:txBody>
          <a:bodyPr/>
          <a:lstStyle/>
          <a:p>
            <a:r>
              <a:rPr lang="en-US" sz="2000" dirty="0"/>
              <a:t>Multiple methods for making information available:</a:t>
            </a:r>
            <a:br>
              <a:rPr lang="en-US" sz="2000" dirty="0"/>
            </a:br>
            <a:r>
              <a:rPr lang="en-US" sz="2000" dirty="0"/>
              <a:t>verbally, in writing, pictures, graphics, video</a:t>
            </a:r>
          </a:p>
          <a:p>
            <a:pPr lvl="1"/>
            <a:r>
              <a:rPr lang="en-US" i="1" dirty="0"/>
              <a:t>Simple and clear words</a:t>
            </a:r>
          </a:p>
          <a:p>
            <a:pPr lvl="1"/>
            <a:r>
              <a:rPr lang="en-US" i="1" dirty="0"/>
              <a:t>Avoid use of jargon and </a:t>
            </a:r>
            <a:r>
              <a:rPr lang="en-US" i="1" dirty="0" err="1"/>
              <a:t>acronymns</a:t>
            </a:r>
            <a:endParaRPr lang="en-US" i="1" dirty="0"/>
          </a:p>
          <a:p>
            <a:pPr lvl="1"/>
            <a:r>
              <a:rPr lang="en-US" i="1" dirty="0"/>
              <a:t>Captioning: videos, online meetings</a:t>
            </a:r>
          </a:p>
          <a:p>
            <a:pPr>
              <a:spcBef>
                <a:spcPts val="1776"/>
              </a:spcBef>
            </a:pPr>
            <a:r>
              <a:rPr lang="en-US" sz="2000" dirty="0"/>
              <a:t>Allow for multiple ways of gathering information:</a:t>
            </a:r>
            <a:br>
              <a:rPr lang="en-US" sz="2000" dirty="0"/>
            </a:br>
            <a:r>
              <a:rPr lang="en-US" sz="2000" i="1" dirty="0"/>
              <a:t>online, in-person, electronically, use of paper.</a:t>
            </a:r>
          </a:p>
          <a:p>
            <a:pPr>
              <a:spcBef>
                <a:spcPts val="1776"/>
              </a:spcBef>
            </a:pPr>
            <a:r>
              <a:rPr lang="en-US" sz="2000" dirty="0"/>
              <a:t>Allow for multiple ways of expressing information:</a:t>
            </a:r>
            <a:br>
              <a:rPr lang="en-US" sz="2000" dirty="0"/>
            </a:br>
            <a:r>
              <a:rPr lang="en-US" sz="2000" i="1" dirty="0"/>
              <a:t>verbally, in writing, electronically.</a:t>
            </a:r>
          </a:p>
          <a:p>
            <a:pPr>
              <a:spcBef>
                <a:spcPts val="1776"/>
              </a:spcBef>
            </a:pPr>
            <a:r>
              <a:rPr lang="en-US" sz="2000" dirty="0"/>
              <a:t>Use microphones in public meetings.</a:t>
            </a:r>
          </a:p>
          <a:p>
            <a:pPr>
              <a:spcBef>
                <a:spcPts val="1776"/>
              </a:spcBef>
            </a:pPr>
            <a:r>
              <a:rPr lang="en-US" sz="2000" dirty="0"/>
              <a:t>Sign language interpreters, CART (Communication Access Realtime Translation) for large public events.</a:t>
            </a:r>
          </a:p>
        </p:txBody>
      </p:sp>
      <p:sp>
        <p:nvSpPr>
          <p:cNvPr id="4" name="Slide Number Placeholder 3">
            <a:extLst>
              <a:ext uri="{FF2B5EF4-FFF2-40B4-BE49-F238E27FC236}">
                <a16:creationId xmlns:a16="http://schemas.microsoft.com/office/drawing/2014/main" id="{8EE4BE4C-7366-7031-224C-A1141B146319}"/>
              </a:ext>
            </a:extLst>
          </p:cNvPr>
          <p:cNvSpPr>
            <a:spLocks noGrp="1"/>
          </p:cNvSpPr>
          <p:nvPr>
            <p:ph type="sldNum" sz="quarter" idx="12"/>
          </p:nvPr>
        </p:nvSpPr>
        <p:spPr/>
        <p:txBody>
          <a:bodyPr/>
          <a:lstStyle/>
          <a:p>
            <a:pPr>
              <a:defRPr/>
            </a:pPr>
            <a:fld id="{6DFFECAE-5558-FC4F-A5D5-814DD6134961}" type="slidenum">
              <a:rPr lang="en-US" altLang="en-US" smtClean="0"/>
              <a:pPr>
                <a:defRPr/>
              </a:pPr>
              <a:t>37</a:t>
            </a:fld>
            <a:endParaRPr lang="en-US" altLang="en-US"/>
          </a:p>
        </p:txBody>
      </p:sp>
      <p:pic>
        <p:nvPicPr>
          <p:cNvPr id="8" name="Picture 7">
            <a:extLst>
              <a:ext uri="{FF2B5EF4-FFF2-40B4-BE49-F238E27FC236}">
                <a16:creationId xmlns:a16="http://schemas.microsoft.com/office/drawing/2014/main" id="{1724C9CD-3857-618C-2357-DFD4FCE031B6}"/>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408717" y="1764164"/>
            <a:ext cx="4387577" cy="2740836"/>
          </a:xfrm>
          <a:prstGeom prst="rect">
            <a:avLst/>
          </a:prstGeom>
        </p:spPr>
      </p:pic>
    </p:spTree>
    <p:extLst>
      <p:ext uri="{BB962C8B-B14F-4D97-AF65-F5344CB8AC3E}">
        <p14:creationId xmlns:p14="http://schemas.microsoft.com/office/powerpoint/2010/main" val="140681272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CAED4-3B4E-338F-5E92-ECE5D9CB315A}"/>
              </a:ext>
            </a:extLst>
          </p:cNvPr>
          <p:cNvSpPr>
            <a:spLocks noGrp="1"/>
          </p:cNvSpPr>
          <p:nvPr>
            <p:ph type="title"/>
          </p:nvPr>
        </p:nvSpPr>
        <p:spPr/>
        <p:txBody>
          <a:bodyPr/>
          <a:lstStyle/>
          <a:p>
            <a:r>
              <a:rPr lang="en-US" b="1" cap="small" dirty="0"/>
              <a:t>Public Events</a:t>
            </a:r>
          </a:p>
        </p:txBody>
      </p:sp>
      <p:sp>
        <p:nvSpPr>
          <p:cNvPr id="3" name="Content Placeholder 2">
            <a:extLst>
              <a:ext uri="{FF2B5EF4-FFF2-40B4-BE49-F238E27FC236}">
                <a16:creationId xmlns:a16="http://schemas.microsoft.com/office/drawing/2014/main" id="{33984CAB-CE6B-135C-7554-D8BF74600732}"/>
              </a:ext>
            </a:extLst>
          </p:cNvPr>
          <p:cNvSpPr>
            <a:spLocks noGrp="1"/>
          </p:cNvSpPr>
          <p:nvPr>
            <p:ph idx="1"/>
          </p:nvPr>
        </p:nvSpPr>
        <p:spPr>
          <a:xfrm>
            <a:off x="609600" y="1600200"/>
            <a:ext cx="7543800" cy="4724400"/>
          </a:xfrm>
        </p:spPr>
        <p:txBody>
          <a:bodyPr/>
          <a:lstStyle/>
          <a:p>
            <a:r>
              <a:rPr lang="en-US" dirty="0"/>
              <a:t>Method for requesting accommodations/modifications clearly advertised.</a:t>
            </a:r>
          </a:p>
          <a:p>
            <a:pPr>
              <a:spcBef>
                <a:spcPts val="1776"/>
              </a:spcBef>
            </a:pPr>
            <a:r>
              <a:rPr lang="en-US" dirty="0"/>
              <a:t>Have point person for accessibility, and review venue and/or online platform prior to event.</a:t>
            </a:r>
          </a:p>
          <a:p>
            <a:pPr>
              <a:spcBef>
                <a:spcPts val="1776"/>
              </a:spcBef>
            </a:pPr>
            <a:r>
              <a:rPr lang="en-US" dirty="0"/>
              <a:t>At beginning of event:</a:t>
            </a:r>
          </a:p>
          <a:p>
            <a:pPr lvl="1"/>
            <a:r>
              <a:rPr lang="en-US" dirty="0"/>
              <a:t>Announce commitment to having an event that is fully accessible.</a:t>
            </a:r>
          </a:p>
          <a:p>
            <a:pPr lvl="1"/>
            <a:r>
              <a:rPr lang="en-US" dirty="0"/>
              <a:t>Review any accessible features of event and contact person for any accessibility needs during event.</a:t>
            </a:r>
          </a:p>
          <a:p>
            <a:pPr lvl="1"/>
            <a:r>
              <a:rPr lang="en-US" dirty="0"/>
              <a:t>Review emergency evacuation procedures.</a:t>
            </a:r>
          </a:p>
        </p:txBody>
      </p:sp>
      <p:sp>
        <p:nvSpPr>
          <p:cNvPr id="4" name="Slide Number Placeholder 3">
            <a:extLst>
              <a:ext uri="{FF2B5EF4-FFF2-40B4-BE49-F238E27FC236}">
                <a16:creationId xmlns:a16="http://schemas.microsoft.com/office/drawing/2014/main" id="{EFF71330-0B02-59FE-1317-ED4646DD007B}"/>
              </a:ext>
            </a:extLst>
          </p:cNvPr>
          <p:cNvSpPr>
            <a:spLocks noGrp="1"/>
          </p:cNvSpPr>
          <p:nvPr>
            <p:ph type="sldNum" sz="quarter" idx="12"/>
          </p:nvPr>
        </p:nvSpPr>
        <p:spPr/>
        <p:txBody>
          <a:bodyPr/>
          <a:lstStyle/>
          <a:p>
            <a:pPr>
              <a:defRPr/>
            </a:pPr>
            <a:fld id="{6DFFECAE-5558-FC4F-A5D5-814DD6134961}" type="slidenum">
              <a:rPr lang="en-US" altLang="en-US" smtClean="0"/>
              <a:pPr>
                <a:defRPr/>
              </a:pPr>
              <a:t>38</a:t>
            </a:fld>
            <a:endParaRPr lang="en-US" altLang="en-US"/>
          </a:p>
        </p:txBody>
      </p:sp>
      <p:pic>
        <p:nvPicPr>
          <p:cNvPr id="8" name="Picture 7">
            <a:extLst>
              <a:ext uri="{FF2B5EF4-FFF2-40B4-BE49-F238E27FC236}">
                <a16:creationId xmlns:a16="http://schemas.microsoft.com/office/drawing/2014/main" id="{E640715F-6D0B-B97F-1F3C-159645378707}"/>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763000" y="1154936"/>
            <a:ext cx="3080234" cy="2050922"/>
          </a:xfrm>
          <a:prstGeom prst="rect">
            <a:avLst/>
          </a:prstGeom>
        </p:spPr>
      </p:pic>
      <p:pic>
        <p:nvPicPr>
          <p:cNvPr id="10" name="Picture 9">
            <a:extLst>
              <a:ext uri="{FF2B5EF4-FFF2-40B4-BE49-F238E27FC236}">
                <a16:creationId xmlns:a16="http://schemas.microsoft.com/office/drawing/2014/main" id="{7204C3E1-5DDB-92DF-F99D-8B3EE1A76BF5}"/>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153400" y="3946071"/>
            <a:ext cx="3299233" cy="1849522"/>
          </a:xfrm>
          <a:prstGeom prst="rect">
            <a:avLst/>
          </a:prstGeom>
        </p:spPr>
      </p:pic>
    </p:spTree>
    <p:extLst>
      <p:ext uri="{BB962C8B-B14F-4D97-AF65-F5344CB8AC3E}">
        <p14:creationId xmlns:p14="http://schemas.microsoft.com/office/powerpoint/2010/main" val="4147378010"/>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16DCF-B3CC-7F4A-1E6D-97FC312E6FEB}"/>
              </a:ext>
            </a:extLst>
          </p:cNvPr>
          <p:cNvSpPr>
            <a:spLocks noGrp="1"/>
          </p:cNvSpPr>
          <p:nvPr>
            <p:ph type="title"/>
          </p:nvPr>
        </p:nvSpPr>
        <p:spPr>
          <a:xfrm>
            <a:off x="609600" y="533400"/>
            <a:ext cx="5029200" cy="990600"/>
          </a:xfrm>
        </p:spPr>
        <p:txBody>
          <a:bodyPr/>
          <a:lstStyle/>
          <a:p>
            <a:r>
              <a:rPr lang="en-US" b="1" cap="small" dirty="0"/>
              <a:t>Assistive Devices</a:t>
            </a:r>
          </a:p>
        </p:txBody>
      </p:sp>
      <p:sp>
        <p:nvSpPr>
          <p:cNvPr id="3" name="Content Placeholder 2">
            <a:extLst>
              <a:ext uri="{FF2B5EF4-FFF2-40B4-BE49-F238E27FC236}">
                <a16:creationId xmlns:a16="http://schemas.microsoft.com/office/drawing/2014/main" id="{5D38793A-0CBD-6B51-2399-B5D758882CEA}"/>
              </a:ext>
            </a:extLst>
          </p:cNvPr>
          <p:cNvSpPr>
            <a:spLocks noGrp="1"/>
          </p:cNvSpPr>
          <p:nvPr>
            <p:ph idx="1"/>
          </p:nvPr>
        </p:nvSpPr>
        <p:spPr>
          <a:xfrm>
            <a:off x="609600" y="1638300"/>
            <a:ext cx="10972800" cy="4876800"/>
          </a:xfrm>
        </p:spPr>
        <p:txBody>
          <a:bodyPr/>
          <a:lstStyle/>
          <a:p>
            <a:r>
              <a:rPr lang="en-US" dirty="0"/>
              <a:t>List of assistive devices prominently available. </a:t>
            </a:r>
          </a:p>
          <a:p>
            <a:pPr>
              <a:spcBef>
                <a:spcPts val="1776"/>
              </a:spcBef>
            </a:pPr>
            <a:r>
              <a:rPr lang="en-US" dirty="0"/>
              <a:t>Assistive devices in good repair and easy to access.</a:t>
            </a:r>
          </a:p>
          <a:p>
            <a:pPr>
              <a:spcBef>
                <a:spcPts val="1776"/>
              </a:spcBef>
            </a:pPr>
            <a:r>
              <a:rPr lang="en-US" dirty="0"/>
              <a:t>Staff trained on use of devices.</a:t>
            </a:r>
          </a:p>
          <a:p>
            <a:pPr>
              <a:spcBef>
                <a:spcPts val="1776"/>
              </a:spcBef>
            </a:pPr>
            <a:r>
              <a:rPr lang="en-US" dirty="0"/>
              <a:t>Examples:</a:t>
            </a:r>
          </a:p>
          <a:p>
            <a:pPr lvl="1">
              <a:spcBef>
                <a:spcPts val="1080"/>
              </a:spcBef>
            </a:pPr>
            <a:r>
              <a:rPr lang="en-US" i="1" dirty="0"/>
              <a:t>Hearing loop – assistive listening device </a:t>
            </a:r>
          </a:p>
          <a:p>
            <a:pPr lvl="1">
              <a:spcBef>
                <a:spcPts val="1080"/>
              </a:spcBef>
            </a:pPr>
            <a:r>
              <a:rPr lang="en-US" i="1" dirty="0"/>
              <a:t>Magnifying device</a:t>
            </a:r>
          </a:p>
          <a:p>
            <a:pPr lvl="1">
              <a:spcBef>
                <a:spcPts val="1080"/>
              </a:spcBef>
            </a:pPr>
            <a:r>
              <a:rPr lang="en-US" i="1" dirty="0"/>
              <a:t>Large print materials</a:t>
            </a:r>
          </a:p>
          <a:p>
            <a:pPr lvl="1">
              <a:spcBef>
                <a:spcPts val="1080"/>
              </a:spcBef>
            </a:pPr>
            <a:r>
              <a:rPr lang="en-US" i="1" dirty="0"/>
              <a:t>Braille materials</a:t>
            </a:r>
          </a:p>
          <a:p>
            <a:pPr lvl="1">
              <a:spcBef>
                <a:spcPts val="1080"/>
              </a:spcBef>
            </a:pPr>
            <a:r>
              <a:rPr lang="en-US" i="1" dirty="0"/>
              <a:t>Computers available for public use: screen reading technology,</a:t>
            </a:r>
            <a:br>
              <a:rPr lang="en-US" i="1" dirty="0"/>
            </a:br>
            <a:r>
              <a:rPr lang="en-US" i="1" dirty="0"/>
              <a:t>voice recognition, screen enlargement, specialized computer mouse</a:t>
            </a:r>
          </a:p>
          <a:p>
            <a:endParaRPr lang="en-US" dirty="0"/>
          </a:p>
          <a:p>
            <a:endParaRPr lang="en-US" dirty="0"/>
          </a:p>
        </p:txBody>
      </p:sp>
      <p:sp>
        <p:nvSpPr>
          <p:cNvPr id="4" name="Slide Number Placeholder 3">
            <a:extLst>
              <a:ext uri="{FF2B5EF4-FFF2-40B4-BE49-F238E27FC236}">
                <a16:creationId xmlns:a16="http://schemas.microsoft.com/office/drawing/2014/main" id="{517091B3-4228-02BF-DAD0-4FD7D112A2A6}"/>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39</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a:extLst>
              <a:ext uri="{FF2B5EF4-FFF2-40B4-BE49-F238E27FC236}">
                <a16:creationId xmlns:a16="http://schemas.microsoft.com/office/drawing/2014/main" id="{16462C5D-EB15-269B-29A4-D453C921A4E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248400" y="3581400"/>
            <a:ext cx="1171083" cy="990600"/>
          </a:xfrm>
          <a:prstGeom prst="rect">
            <a:avLst/>
          </a:prstGeom>
        </p:spPr>
      </p:pic>
      <p:pic>
        <p:nvPicPr>
          <p:cNvPr id="7" name="Picture 6">
            <a:extLst>
              <a:ext uri="{FF2B5EF4-FFF2-40B4-BE49-F238E27FC236}">
                <a16:creationId xmlns:a16="http://schemas.microsoft.com/office/drawing/2014/main" id="{22D8BB11-AC2A-C328-A855-F255E39A3BE8}"/>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296400" y="5368571"/>
            <a:ext cx="1295400" cy="1295400"/>
          </a:xfrm>
          <a:prstGeom prst="rect">
            <a:avLst/>
          </a:prstGeom>
        </p:spPr>
      </p:pic>
      <p:pic>
        <p:nvPicPr>
          <p:cNvPr id="9" name="Picture 8">
            <a:extLst>
              <a:ext uri="{FF2B5EF4-FFF2-40B4-BE49-F238E27FC236}">
                <a16:creationId xmlns:a16="http://schemas.microsoft.com/office/drawing/2014/main" id="{193FB328-2B05-44C4-030A-D123A55BD4EF}"/>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657600" y="4343400"/>
            <a:ext cx="724829" cy="521368"/>
          </a:xfrm>
          <a:prstGeom prst="rect">
            <a:avLst/>
          </a:prstGeom>
        </p:spPr>
      </p:pic>
    </p:spTree>
    <p:extLst>
      <p:ext uri="{BB962C8B-B14F-4D97-AF65-F5344CB8AC3E}">
        <p14:creationId xmlns:p14="http://schemas.microsoft.com/office/powerpoint/2010/main" val="1261090639"/>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08D12-EFE1-E54F-62C4-CECA52CA68D5}"/>
              </a:ext>
            </a:extLst>
          </p:cNvPr>
          <p:cNvSpPr>
            <a:spLocks noGrp="1"/>
          </p:cNvSpPr>
          <p:nvPr>
            <p:ph type="title"/>
          </p:nvPr>
        </p:nvSpPr>
        <p:spPr>
          <a:xfrm>
            <a:off x="631371" y="990600"/>
            <a:ext cx="10972800" cy="1714500"/>
          </a:xfrm>
        </p:spPr>
        <p:style>
          <a:lnRef idx="2">
            <a:schemeClr val="accent6">
              <a:shade val="15000"/>
            </a:schemeClr>
          </a:lnRef>
          <a:fillRef idx="1">
            <a:schemeClr val="accent6"/>
          </a:fillRef>
          <a:effectRef idx="0">
            <a:schemeClr val="accent6"/>
          </a:effectRef>
          <a:fontRef idx="minor">
            <a:schemeClr val="lt1"/>
          </a:fontRef>
        </p:style>
        <p:txBody>
          <a:bodyPr>
            <a:normAutofit/>
          </a:bodyPr>
          <a:lstStyle/>
          <a:p>
            <a:pPr algn="ctr"/>
            <a:r>
              <a:rPr lang="en-US" sz="3200" b="1" dirty="0"/>
              <a:t>Discussion: </a:t>
            </a:r>
            <a:br>
              <a:rPr lang="en-US" sz="3200" b="1" dirty="0"/>
            </a:br>
            <a:br>
              <a:rPr lang="en-US" sz="3200" b="1" dirty="0"/>
            </a:br>
            <a:r>
              <a:rPr lang="en-US" sz="3200" b="1" i="1" dirty="0"/>
              <a:t>Applying Universal Design in Municipal Services</a:t>
            </a:r>
            <a:endParaRPr lang="en-US" sz="3200" i="1" dirty="0"/>
          </a:p>
        </p:txBody>
      </p:sp>
      <p:sp>
        <p:nvSpPr>
          <p:cNvPr id="4" name="Slide Number Placeholder 3">
            <a:extLst>
              <a:ext uri="{FF2B5EF4-FFF2-40B4-BE49-F238E27FC236}">
                <a16:creationId xmlns:a16="http://schemas.microsoft.com/office/drawing/2014/main" id="{EFC1D6C7-4D1A-2372-CF66-AD73D6529693}"/>
              </a:ext>
            </a:extLst>
          </p:cNvPr>
          <p:cNvSpPr>
            <a:spLocks noGrp="1"/>
          </p:cNvSpPr>
          <p:nvPr>
            <p:ph type="sldNum" sz="quarter" idx="12"/>
          </p:nvPr>
        </p:nvSpPr>
        <p:spPr/>
        <p:txBody>
          <a:bodyPr/>
          <a:lstStyle/>
          <a:p>
            <a:pPr>
              <a:defRPr/>
            </a:pPr>
            <a:fld id="{6DFFECAE-5558-FC4F-A5D5-814DD6134961}" type="slidenum">
              <a:rPr lang="en-US" altLang="en-US" smtClean="0"/>
              <a:pPr>
                <a:defRPr/>
              </a:pPr>
              <a:t>40</a:t>
            </a:fld>
            <a:endParaRPr lang="en-US" altLang="en-US"/>
          </a:p>
        </p:txBody>
      </p:sp>
      <p:pic>
        <p:nvPicPr>
          <p:cNvPr id="5" name="Picture 4">
            <a:extLst>
              <a:ext uri="{FF2B5EF4-FFF2-40B4-BE49-F238E27FC236}">
                <a16:creationId xmlns:a16="http://schemas.microsoft.com/office/drawing/2014/main" id="{32435204-E31F-AE02-7432-3ED54F40AAD2}"/>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86200" y="3124200"/>
            <a:ext cx="3962400" cy="3169157"/>
          </a:xfrm>
          <a:prstGeom prst="rect">
            <a:avLst/>
          </a:prstGeom>
        </p:spPr>
      </p:pic>
    </p:spTree>
    <p:extLst>
      <p:ext uri="{BB962C8B-B14F-4D97-AF65-F5344CB8AC3E}">
        <p14:creationId xmlns:p14="http://schemas.microsoft.com/office/powerpoint/2010/main" val="1190418406"/>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6C533-D55D-B16F-668C-D9B5DB78C334}"/>
              </a:ext>
            </a:extLst>
          </p:cNvPr>
          <p:cNvSpPr>
            <a:spLocks noGrp="1"/>
          </p:cNvSpPr>
          <p:nvPr>
            <p:ph type="title"/>
          </p:nvPr>
        </p:nvSpPr>
        <p:spPr>
          <a:xfrm>
            <a:off x="1807028" y="1219200"/>
            <a:ext cx="8577943" cy="990600"/>
          </a:xfrm>
          <a:solidFill>
            <a:srgbClr val="EA4200"/>
          </a:solidFill>
          <a:ln>
            <a:solidFill>
              <a:schemeClr val="bg1">
                <a:lumMod val="75000"/>
              </a:schemeClr>
            </a:solidFill>
          </a:ln>
        </p:spPr>
        <p:style>
          <a:lnRef idx="1">
            <a:schemeClr val="accent5"/>
          </a:lnRef>
          <a:fillRef idx="3">
            <a:schemeClr val="accent5"/>
          </a:fillRef>
          <a:effectRef idx="2">
            <a:schemeClr val="accent5"/>
          </a:effectRef>
          <a:fontRef idx="minor">
            <a:schemeClr val="lt1"/>
          </a:fontRef>
        </p:style>
        <p:txBody>
          <a:bodyPr>
            <a:normAutofit/>
          </a:bodyPr>
          <a:lstStyle/>
          <a:p>
            <a:pPr algn="ctr"/>
            <a:r>
              <a:rPr lang="en-US" dirty="0"/>
              <a:t>Disability Etiquette and Guidelines</a:t>
            </a:r>
          </a:p>
        </p:txBody>
      </p:sp>
      <p:sp>
        <p:nvSpPr>
          <p:cNvPr id="4" name="Slide Number Placeholder 3">
            <a:extLst>
              <a:ext uri="{FF2B5EF4-FFF2-40B4-BE49-F238E27FC236}">
                <a16:creationId xmlns:a16="http://schemas.microsoft.com/office/drawing/2014/main" id="{B3B0119B-7787-434E-F72D-3BA73D8B507C}"/>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41</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a:extLst>
              <a:ext uri="{FF2B5EF4-FFF2-40B4-BE49-F238E27FC236}">
                <a16:creationId xmlns:a16="http://schemas.microsoft.com/office/drawing/2014/main" id="{371913DE-C133-4DA4-4ADC-C9D26E9D8590}"/>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81400" y="2895600"/>
            <a:ext cx="5486400" cy="3657600"/>
          </a:xfrm>
          <a:prstGeom prst="rect">
            <a:avLst/>
          </a:prstGeom>
        </p:spPr>
      </p:pic>
    </p:spTree>
    <p:extLst>
      <p:ext uri="{BB962C8B-B14F-4D97-AF65-F5344CB8AC3E}">
        <p14:creationId xmlns:p14="http://schemas.microsoft.com/office/powerpoint/2010/main" val="1189566684"/>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4331" y="659888"/>
            <a:ext cx="7816652" cy="4130773"/>
          </a:xfrm>
          <a:scene3d>
            <a:camera prst="orthographicFront">
              <a:rot lat="0" lon="0" rev="0"/>
            </a:camera>
            <a:lightRig rig="balanced" dir="t">
              <a:rot lat="0" lon="0" rev="5100000"/>
            </a:lightRig>
          </a:scene3d>
          <a:sp3d contourW="6350">
            <a:bevelT w="29210" h="12700" prst="angle"/>
            <a:contourClr>
              <a:schemeClr val="accent5">
                <a:shade val="30000"/>
                <a:satMod val="130000"/>
              </a:schemeClr>
            </a:contourClr>
          </a:sp3d>
        </p:spPr>
        <p:style>
          <a:lnRef idx="0">
            <a:schemeClr val="accent5"/>
          </a:lnRef>
          <a:fillRef idx="3">
            <a:schemeClr val="accent5"/>
          </a:fillRef>
          <a:effectRef idx="3">
            <a:schemeClr val="accent5"/>
          </a:effectRef>
          <a:fontRef idx="minor">
            <a:schemeClr val="lt1"/>
          </a:fontRef>
        </p:style>
        <p:txBody>
          <a:bodyPr>
            <a:noAutofit/>
          </a:bodyPr>
          <a:lstStyle/>
          <a:p>
            <a:pPr algn="ctr"/>
            <a:r>
              <a:rPr lang="en-US" sz="3600" dirty="0">
                <a:solidFill>
                  <a:schemeClr val="bg1"/>
                </a:solidFill>
                <a:latin typeface="+mj-lt"/>
                <a:ea typeface="Calibri" panose="020F0502020204030204" pitchFamily="34" charset="0"/>
                <a:cs typeface="Times New Roman" panose="02020603050405020304" pitchFamily="18" charset="0"/>
              </a:rPr>
              <a:t>“</a:t>
            </a:r>
            <a:r>
              <a:rPr lang="en-US" sz="3600" dirty="0">
                <a:solidFill>
                  <a:schemeClr val="bg1"/>
                </a:solidFill>
                <a:latin typeface="+mj-lt"/>
              </a:rPr>
              <a:t>Disability only becomes a tragedy when society fails to provide the things we need to lead our lives —</a:t>
            </a:r>
            <a:br>
              <a:rPr lang="en-US" sz="3600" dirty="0">
                <a:solidFill>
                  <a:schemeClr val="bg1"/>
                </a:solidFill>
                <a:latin typeface="+mj-lt"/>
              </a:rPr>
            </a:br>
            <a:r>
              <a:rPr lang="en-US" sz="3600" dirty="0">
                <a:solidFill>
                  <a:schemeClr val="bg1"/>
                </a:solidFill>
                <a:latin typeface="+mj-lt"/>
              </a:rPr>
              <a:t>job opportunities or barrier-free buildings, for example.</a:t>
            </a:r>
            <a:br>
              <a:rPr lang="en-US" sz="3600" dirty="0">
                <a:solidFill>
                  <a:schemeClr val="bg1"/>
                </a:solidFill>
                <a:latin typeface="+mj-lt"/>
              </a:rPr>
            </a:br>
            <a:r>
              <a:rPr lang="en-US" sz="3600" dirty="0">
                <a:solidFill>
                  <a:schemeClr val="bg1"/>
                </a:solidFill>
                <a:latin typeface="+mj-lt"/>
              </a:rPr>
              <a:t>It is not a tragedy to me that I'm living in a wheelchair."</a:t>
            </a:r>
            <a:r>
              <a:rPr lang="en-US" sz="3600" dirty="0">
                <a:solidFill>
                  <a:schemeClr val="bg1"/>
                </a:solidFill>
                <a:latin typeface="+mj-lt"/>
                <a:ea typeface="Calibri" panose="020F0502020204030204" pitchFamily="34" charset="0"/>
                <a:cs typeface="Times New Roman" panose="02020603050405020304" pitchFamily="18" charset="0"/>
              </a:rPr>
              <a:t>  </a:t>
            </a:r>
            <a:endParaRPr lang="en-US" sz="3600" b="1" dirty="0">
              <a:solidFill>
                <a:schemeClr val="bg1"/>
              </a:solidFill>
              <a:latin typeface="+mj-lt"/>
            </a:endParaRPr>
          </a:p>
        </p:txBody>
      </p:sp>
      <p:sp>
        <p:nvSpPr>
          <p:cNvPr id="7" name="TextBox 6">
            <a:extLst>
              <a:ext uri="{FF2B5EF4-FFF2-40B4-BE49-F238E27FC236}">
                <a16:creationId xmlns:a16="http://schemas.microsoft.com/office/drawing/2014/main" id="{4C015E66-76FD-1F44-89CE-0F70B94153FA}"/>
              </a:ext>
            </a:extLst>
          </p:cNvPr>
          <p:cNvSpPr txBox="1"/>
          <p:nvPr/>
        </p:nvSpPr>
        <p:spPr>
          <a:xfrm>
            <a:off x="7706141" y="5524036"/>
            <a:ext cx="2276060" cy="461665"/>
          </a:xfrm>
          <a:prstGeom prst="rect">
            <a:avLst/>
          </a:prstGeom>
          <a:noFill/>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92934"/>
                </a:solidFill>
                <a:effectLst/>
                <a:uLnTx/>
                <a:uFillTx/>
                <a:latin typeface="Gill Sans MT" charset="0"/>
                <a:ea typeface="ＭＳ Ｐゴシック" charset="0"/>
                <a:cs typeface="+mn-cs"/>
              </a:rPr>
              <a:t>Judy </a:t>
            </a:r>
            <a:r>
              <a:rPr kumimoji="0" lang="en-US" sz="2400" b="0" i="0" u="none" strike="noStrike" kern="1200" cap="none" spc="0" normalizeH="0" baseline="0" noProof="0" dirty="0" err="1">
                <a:ln>
                  <a:noFill/>
                </a:ln>
                <a:solidFill>
                  <a:srgbClr val="292934"/>
                </a:solidFill>
                <a:effectLst/>
                <a:uLnTx/>
                <a:uFillTx/>
                <a:latin typeface="Gill Sans MT" charset="0"/>
                <a:ea typeface="ＭＳ Ｐゴシック" charset="0"/>
                <a:cs typeface="+mn-cs"/>
              </a:rPr>
              <a:t>Heumann</a:t>
            </a:r>
            <a:endParaRPr kumimoji="0" lang="en-US" sz="2400" b="0" i="1" u="none" strike="noStrike" kern="1200" cap="none" spc="0" normalizeH="0" baseline="0" noProof="0" dirty="0">
              <a:ln>
                <a:noFill/>
              </a:ln>
              <a:solidFill>
                <a:srgbClr val="292934"/>
              </a:solidFill>
              <a:effectLst/>
              <a:uLnTx/>
              <a:uFillTx/>
              <a:latin typeface="Gill Sans MT" charset="0"/>
              <a:ea typeface="ＭＳ Ｐゴシック" charset="0"/>
              <a:cs typeface="+mn-cs"/>
            </a:endParaRPr>
          </a:p>
        </p:txBody>
      </p:sp>
      <p:pic>
        <p:nvPicPr>
          <p:cNvPr id="4" name="Picture 3">
            <a:extLst>
              <a:ext uri="{FF2B5EF4-FFF2-40B4-BE49-F238E27FC236}">
                <a16:creationId xmlns:a16="http://schemas.microsoft.com/office/drawing/2014/main" id="{29671290-6ED9-1035-D940-32F4A7F3E909}"/>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425994" y="5078895"/>
            <a:ext cx="1693326" cy="1527313"/>
          </a:xfrm>
          <a:prstGeom prst="rect">
            <a:avLst/>
          </a:prstGeom>
        </p:spPr>
      </p:pic>
      <p:sp>
        <p:nvSpPr>
          <p:cNvPr id="3" name="Slide Number Placeholder 2">
            <a:extLst>
              <a:ext uri="{FF2B5EF4-FFF2-40B4-BE49-F238E27FC236}">
                <a16:creationId xmlns:a16="http://schemas.microsoft.com/office/drawing/2014/main" id="{3322AF8A-B1E5-8FE3-0E9C-4098764FD18D}"/>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DE0518C9-3CC7-7448-AD05-3CB269384775}" type="slidenum">
              <a:rPr kumimoji="0" 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42</a:t>
            </a:fld>
            <a:endParaRPr kumimoji="0" lang="en-US" sz="1400" b="1" i="0" u="none" strike="noStrike" kern="1200" cap="none" spc="0" normalizeH="0" baseline="0" noProof="0" dirty="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92756405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3B927-4BCE-A34D-B975-B05EA972F215}"/>
              </a:ext>
            </a:extLst>
          </p:cNvPr>
          <p:cNvSpPr>
            <a:spLocks noGrp="1"/>
          </p:cNvSpPr>
          <p:nvPr>
            <p:ph type="title"/>
          </p:nvPr>
        </p:nvSpPr>
        <p:spPr>
          <a:xfrm>
            <a:off x="1135192" y="19051"/>
            <a:ext cx="4627084" cy="1143000"/>
          </a:xfrm>
        </p:spPr>
        <p:style>
          <a:lnRef idx="0">
            <a:schemeClr val="accent6"/>
          </a:lnRef>
          <a:fillRef idx="3">
            <a:schemeClr val="accent6"/>
          </a:fillRef>
          <a:effectRef idx="3">
            <a:schemeClr val="accent6"/>
          </a:effectRef>
          <a:fontRef idx="minor">
            <a:schemeClr val="lt1"/>
          </a:fontRef>
        </p:style>
        <p:txBody>
          <a:bodyPr/>
          <a:lstStyle/>
          <a:p>
            <a:pPr algn="ctr"/>
            <a:r>
              <a:rPr lang="en-US" cap="small" dirty="0"/>
              <a:t>Basic Etiquette </a:t>
            </a:r>
          </a:p>
        </p:txBody>
      </p:sp>
      <p:sp>
        <p:nvSpPr>
          <p:cNvPr id="3" name="Content Placeholder 2">
            <a:extLst>
              <a:ext uri="{FF2B5EF4-FFF2-40B4-BE49-F238E27FC236}">
                <a16:creationId xmlns:a16="http://schemas.microsoft.com/office/drawing/2014/main" id="{1775A267-3532-A34A-AF68-6A6977D3CF0A}"/>
              </a:ext>
            </a:extLst>
          </p:cNvPr>
          <p:cNvSpPr>
            <a:spLocks noGrp="1"/>
          </p:cNvSpPr>
          <p:nvPr>
            <p:ph idx="1"/>
          </p:nvPr>
        </p:nvSpPr>
        <p:spPr>
          <a:xfrm>
            <a:off x="2413000" y="1371600"/>
            <a:ext cx="8458200" cy="4648200"/>
          </a:xfrm>
        </p:spPr>
        <p:txBody>
          <a:bodyPr/>
          <a:lstStyle/>
          <a:p>
            <a:r>
              <a:rPr lang="en-US" dirty="0"/>
              <a:t>Avoid stereotypes</a:t>
            </a:r>
          </a:p>
          <a:p>
            <a:r>
              <a:rPr lang="en-US" dirty="0"/>
              <a:t>Don’t presume someone does or does not have a disability</a:t>
            </a:r>
          </a:p>
          <a:p>
            <a:r>
              <a:rPr lang="en-US" dirty="0"/>
              <a:t>Don’t presume what someone needs or doesn’t need</a:t>
            </a:r>
          </a:p>
          <a:p>
            <a:r>
              <a:rPr lang="en-US" dirty="0"/>
              <a:t>Assume capability</a:t>
            </a:r>
          </a:p>
          <a:p>
            <a:r>
              <a:rPr lang="en-US" dirty="0"/>
              <a:t>Ask before helping</a:t>
            </a:r>
          </a:p>
          <a:p>
            <a:r>
              <a:rPr lang="en-US" dirty="0"/>
              <a:t>Don’t hesitate to ask</a:t>
            </a:r>
            <a:endParaRPr lang="en-US" i="1" dirty="0"/>
          </a:p>
          <a:p>
            <a:pPr lvl="1"/>
            <a:r>
              <a:rPr lang="en-US" i="1" dirty="0"/>
              <a:t>“Is there any type of assistance that would be helpful?”</a:t>
            </a:r>
          </a:p>
          <a:p>
            <a:pPr lvl="1"/>
            <a:r>
              <a:rPr lang="en-US" i="1" dirty="0"/>
              <a:t>Let me know if you need anything.</a:t>
            </a:r>
          </a:p>
          <a:p>
            <a:pPr>
              <a:spcBef>
                <a:spcPts val="1176"/>
              </a:spcBef>
            </a:pPr>
            <a:r>
              <a:rPr lang="en-US" dirty="0"/>
              <a:t>Respect and connect with the person as an individual</a:t>
            </a:r>
          </a:p>
          <a:p>
            <a:pPr>
              <a:spcBef>
                <a:spcPts val="1176"/>
              </a:spcBef>
            </a:pPr>
            <a:r>
              <a:rPr lang="en-US" dirty="0"/>
              <a:t>Respect people’s privacy</a:t>
            </a:r>
          </a:p>
          <a:p>
            <a:pPr>
              <a:spcBef>
                <a:spcPts val="1176"/>
              </a:spcBef>
            </a:pPr>
            <a:r>
              <a:rPr lang="en-US" dirty="0"/>
              <a:t>Don’t be patronizing</a:t>
            </a:r>
          </a:p>
          <a:p>
            <a:pPr>
              <a:spcBef>
                <a:spcPts val="1176"/>
              </a:spcBef>
            </a:pPr>
            <a:r>
              <a:rPr lang="en-US" dirty="0"/>
              <a:t>Treat adults like adults</a:t>
            </a:r>
          </a:p>
        </p:txBody>
      </p:sp>
      <p:sp>
        <p:nvSpPr>
          <p:cNvPr id="4" name="Slide Number Placeholder 3">
            <a:extLst>
              <a:ext uri="{FF2B5EF4-FFF2-40B4-BE49-F238E27FC236}">
                <a16:creationId xmlns:a16="http://schemas.microsoft.com/office/drawing/2014/main" id="{2C1C148D-690D-8D43-BD49-E5CB18A37BC3}"/>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43</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8" name="Picture 7">
            <a:extLst>
              <a:ext uri="{FF2B5EF4-FFF2-40B4-BE49-F238E27FC236}">
                <a16:creationId xmlns:a16="http://schemas.microsoft.com/office/drawing/2014/main" id="{0869577B-163B-A548-8596-30459A4FED35}"/>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9051"/>
            <a:ext cx="1135192" cy="1633021"/>
          </a:xfrm>
          <a:prstGeom prst="rect">
            <a:avLst/>
          </a:prstGeom>
        </p:spPr>
      </p:pic>
      <p:sp>
        <p:nvSpPr>
          <p:cNvPr id="5" name="TextBox 4">
            <a:extLst>
              <a:ext uri="{FF2B5EF4-FFF2-40B4-BE49-F238E27FC236}">
                <a16:creationId xmlns:a16="http://schemas.microsoft.com/office/drawing/2014/main" id="{40D8EE07-30E8-05B8-295A-11C8E0DE33BD}"/>
              </a:ext>
            </a:extLst>
          </p:cNvPr>
          <p:cNvSpPr txBox="1"/>
          <p:nvPr/>
        </p:nvSpPr>
        <p:spPr>
          <a:xfrm>
            <a:off x="0" y="1652072"/>
            <a:ext cx="1135192" cy="58477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292934"/>
                </a:solidFill>
                <a:effectLst/>
                <a:uLnTx/>
                <a:uFillTx/>
                <a:latin typeface="Book Antiqua" panose="02040602050305030304" pitchFamily="18" charset="0"/>
                <a:ea typeface="ＭＳ Ｐゴシック" panose="020B0600070205080204" pitchFamily="34" charset="-128"/>
                <a:cs typeface="+mn-cs"/>
              </a:rPr>
              <a:t>Miss Manners</a:t>
            </a:r>
          </a:p>
        </p:txBody>
      </p:sp>
    </p:spTree>
    <p:extLst>
      <p:ext uri="{BB962C8B-B14F-4D97-AF65-F5344CB8AC3E}">
        <p14:creationId xmlns:p14="http://schemas.microsoft.com/office/powerpoint/2010/main" val="679568066"/>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3098C-A2A3-3E42-FAB8-0C23E8308ED4}"/>
              </a:ext>
            </a:extLst>
          </p:cNvPr>
          <p:cNvSpPr>
            <a:spLocks noGrp="1"/>
          </p:cNvSpPr>
          <p:nvPr>
            <p:ph type="title"/>
          </p:nvPr>
        </p:nvSpPr>
        <p:spPr>
          <a:xfrm>
            <a:off x="990600" y="2286000"/>
            <a:ext cx="9448800" cy="990600"/>
          </a:xfrm>
          <a:scene3d>
            <a:camera prst="orthographicFront">
              <a:rot lat="0" lon="0" rev="0"/>
            </a:camera>
            <a:lightRig rig="balanced" dir="t">
              <a:rot lat="0" lon="0" rev="5100000"/>
            </a:lightRig>
          </a:scene3d>
          <a:sp3d contourW="6350">
            <a:bevelT w="29210" h="12700" prst="angle"/>
            <a:contourClr>
              <a:schemeClr val="accent6">
                <a:shade val="30000"/>
                <a:satMod val="130000"/>
              </a:schemeClr>
            </a:contourClr>
          </a:sp3d>
        </p:spPr>
        <p:style>
          <a:lnRef idx="0">
            <a:schemeClr val="accent6"/>
          </a:lnRef>
          <a:fillRef idx="3">
            <a:schemeClr val="accent6"/>
          </a:fillRef>
          <a:effectRef idx="3">
            <a:schemeClr val="accent6"/>
          </a:effectRef>
          <a:fontRef idx="minor">
            <a:schemeClr val="lt1"/>
          </a:fontRef>
        </p:style>
        <p:txBody>
          <a:bodyPr/>
          <a:lstStyle/>
          <a:p>
            <a:pPr algn="ctr"/>
            <a:r>
              <a:rPr lang="en-US" dirty="0"/>
              <a:t>Overview of Different Disabilities</a:t>
            </a:r>
          </a:p>
        </p:txBody>
      </p:sp>
      <p:sp>
        <p:nvSpPr>
          <p:cNvPr id="4" name="Slide Number Placeholder 3">
            <a:extLst>
              <a:ext uri="{FF2B5EF4-FFF2-40B4-BE49-F238E27FC236}">
                <a16:creationId xmlns:a16="http://schemas.microsoft.com/office/drawing/2014/main" id="{CB5C18B5-6DFA-0748-E801-D37085191EBB}"/>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44</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213874983"/>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BEDC3-6485-C5F0-6153-C77906485317}"/>
              </a:ext>
            </a:extLst>
          </p:cNvPr>
          <p:cNvSpPr>
            <a:spLocks noGrp="1"/>
          </p:cNvSpPr>
          <p:nvPr>
            <p:ph type="title"/>
          </p:nvPr>
        </p:nvSpPr>
        <p:spPr>
          <a:xfrm>
            <a:off x="7734300" y="1143000"/>
            <a:ext cx="3022600" cy="990600"/>
          </a:xfrm>
        </p:spPr>
        <p:txBody>
          <a:bodyPr>
            <a:noAutofit/>
          </a:bodyPr>
          <a:lstStyle/>
          <a:p>
            <a:r>
              <a:rPr lang="en-US" sz="6600" dirty="0"/>
              <a:t>Issues</a:t>
            </a:r>
          </a:p>
        </p:txBody>
      </p:sp>
      <p:sp>
        <p:nvSpPr>
          <p:cNvPr id="3" name="Content Placeholder 2">
            <a:extLst>
              <a:ext uri="{FF2B5EF4-FFF2-40B4-BE49-F238E27FC236}">
                <a16:creationId xmlns:a16="http://schemas.microsoft.com/office/drawing/2014/main" id="{9CF21AC7-827D-1CE5-37F4-9DDF198DBD1D}"/>
              </a:ext>
            </a:extLst>
          </p:cNvPr>
          <p:cNvSpPr>
            <a:spLocks noGrp="1"/>
          </p:cNvSpPr>
          <p:nvPr>
            <p:ph idx="1"/>
          </p:nvPr>
        </p:nvSpPr>
        <p:spPr>
          <a:xfrm>
            <a:off x="152400" y="2235506"/>
            <a:ext cx="11734800" cy="4876800"/>
          </a:xfrm>
        </p:spPr>
        <p:txBody>
          <a:bodyPr/>
          <a:lstStyle/>
          <a:p>
            <a:pPr>
              <a:spcBef>
                <a:spcPts val="1080"/>
              </a:spcBef>
            </a:pPr>
            <a:r>
              <a:rPr lang="en-US" sz="2000" dirty="0"/>
              <a:t>Be patient, encouraging and non-judgmental. </a:t>
            </a:r>
          </a:p>
          <a:p>
            <a:pPr>
              <a:spcBef>
                <a:spcPts val="1080"/>
              </a:spcBef>
            </a:pPr>
            <a:r>
              <a:rPr lang="en-US" sz="2000" dirty="0"/>
              <a:t>Repeat information as necessary. </a:t>
            </a:r>
          </a:p>
          <a:p>
            <a:pPr>
              <a:spcBef>
                <a:spcPts val="1080"/>
              </a:spcBef>
            </a:pPr>
            <a:r>
              <a:rPr lang="en-US" sz="2000" dirty="0"/>
              <a:t>Do not rush the person. </a:t>
            </a:r>
          </a:p>
          <a:p>
            <a:pPr>
              <a:spcBef>
                <a:spcPts val="1080"/>
              </a:spcBef>
            </a:pPr>
            <a:r>
              <a:rPr lang="en-US" sz="2000" dirty="0"/>
              <a:t>Maintain a calm tone.</a:t>
            </a:r>
          </a:p>
          <a:p>
            <a:pPr>
              <a:spcBef>
                <a:spcPts val="1080"/>
              </a:spcBef>
            </a:pPr>
            <a:r>
              <a:rPr lang="en-US" sz="2000" dirty="0"/>
              <a:t>Do not assume that someone with mental health issues can’t make decisions for themselves.</a:t>
            </a:r>
          </a:p>
          <a:p>
            <a:pPr>
              <a:spcBef>
                <a:spcPts val="1080"/>
              </a:spcBef>
            </a:pPr>
            <a:r>
              <a:rPr lang="en-US" sz="2000" dirty="0"/>
              <a:t>Do not be confrontational. </a:t>
            </a:r>
          </a:p>
          <a:p>
            <a:pPr>
              <a:spcBef>
                <a:spcPts val="1080"/>
              </a:spcBef>
            </a:pPr>
            <a:r>
              <a:rPr lang="en-US" sz="2000" dirty="0"/>
              <a:t>If the area is noisy and chaotic, particularly if they are getting confused or agitated, ask if they would like go to a quieter area.</a:t>
            </a:r>
          </a:p>
          <a:p>
            <a:pPr>
              <a:spcBef>
                <a:spcPts val="1080"/>
              </a:spcBef>
            </a:pPr>
            <a:r>
              <a:rPr lang="en-US" sz="2000" dirty="0"/>
              <a:t>If the person is going on at length, repeating themselves, or going off on tangents, gently cut off the conversation and redirect.</a:t>
            </a:r>
          </a:p>
          <a:p>
            <a:pPr>
              <a:spcBef>
                <a:spcPts val="1080"/>
              </a:spcBef>
            </a:pPr>
            <a:r>
              <a:rPr lang="en-US" sz="2000" dirty="0"/>
              <a:t>If the person is in crisis, ask how you can help. </a:t>
            </a:r>
          </a:p>
          <a:p>
            <a:endParaRPr lang="en-US" sz="2000" dirty="0"/>
          </a:p>
        </p:txBody>
      </p:sp>
      <p:sp>
        <p:nvSpPr>
          <p:cNvPr id="4" name="Slide Number Placeholder 3">
            <a:extLst>
              <a:ext uri="{FF2B5EF4-FFF2-40B4-BE49-F238E27FC236}">
                <a16:creationId xmlns:a16="http://schemas.microsoft.com/office/drawing/2014/main" id="{20D975E0-071B-E52A-EE44-090CA3DC2696}"/>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45</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descr="Mental Health">
            <a:extLst>
              <a:ext uri="{FF2B5EF4-FFF2-40B4-BE49-F238E27FC236}">
                <a16:creationId xmlns:a16="http://schemas.microsoft.com/office/drawing/2014/main" id="{9827D13F-3E6B-61CB-B4EE-AF083AD1AC6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353446"/>
            <a:ext cx="7772400" cy="1939964"/>
          </a:xfrm>
          <a:prstGeom prst="rect">
            <a:avLst/>
          </a:prstGeom>
        </p:spPr>
      </p:pic>
    </p:spTree>
    <p:extLst>
      <p:ext uri="{BB962C8B-B14F-4D97-AF65-F5344CB8AC3E}">
        <p14:creationId xmlns:p14="http://schemas.microsoft.com/office/powerpoint/2010/main" val="1116756043"/>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00C9-A215-51B4-0237-6A2D610B98E5}"/>
              </a:ext>
            </a:extLst>
          </p:cNvPr>
          <p:cNvSpPr>
            <a:spLocks noGrp="1"/>
          </p:cNvSpPr>
          <p:nvPr>
            <p:ph type="title"/>
          </p:nvPr>
        </p:nvSpPr>
        <p:spPr>
          <a:xfrm>
            <a:off x="0" y="326232"/>
            <a:ext cx="10972800" cy="990600"/>
          </a:xfrm>
        </p:spPr>
        <p:txBody>
          <a:bodyPr/>
          <a:lstStyle/>
          <a:p>
            <a:r>
              <a:rPr lang="en-US" b="1" cap="small" dirty="0"/>
              <a:t>People who are neurodiverse</a:t>
            </a:r>
          </a:p>
        </p:txBody>
      </p:sp>
      <p:sp>
        <p:nvSpPr>
          <p:cNvPr id="3" name="Content Placeholder 2">
            <a:extLst>
              <a:ext uri="{FF2B5EF4-FFF2-40B4-BE49-F238E27FC236}">
                <a16:creationId xmlns:a16="http://schemas.microsoft.com/office/drawing/2014/main" id="{A0510525-732E-0595-5343-CEC8E77CFC99}"/>
              </a:ext>
            </a:extLst>
          </p:cNvPr>
          <p:cNvSpPr>
            <a:spLocks noGrp="1"/>
          </p:cNvSpPr>
          <p:nvPr>
            <p:ph idx="1"/>
          </p:nvPr>
        </p:nvSpPr>
        <p:spPr>
          <a:xfrm>
            <a:off x="212271" y="1295400"/>
            <a:ext cx="6493330" cy="4724400"/>
          </a:xfrm>
        </p:spPr>
        <p:txBody>
          <a:bodyPr/>
          <a:lstStyle/>
          <a:p>
            <a:pPr>
              <a:spcBef>
                <a:spcPts val="1080"/>
              </a:spcBef>
            </a:pPr>
            <a:r>
              <a:rPr lang="en-US" sz="2000" dirty="0"/>
              <a:t>Be direct, literal, and concrete with language.</a:t>
            </a:r>
          </a:p>
          <a:p>
            <a:pPr>
              <a:spcBef>
                <a:spcPts val="1080"/>
              </a:spcBef>
            </a:pPr>
            <a:r>
              <a:rPr lang="en-US" sz="2000" dirty="0"/>
              <a:t>Explain situations clearly. </a:t>
            </a:r>
          </a:p>
          <a:p>
            <a:pPr>
              <a:spcBef>
                <a:spcPts val="1080"/>
              </a:spcBef>
            </a:pPr>
            <a:r>
              <a:rPr lang="en-US" sz="2000" dirty="0"/>
              <a:t>Give an overview of what to expect, and length of time it will take. </a:t>
            </a:r>
          </a:p>
          <a:p>
            <a:pPr>
              <a:spcBef>
                <a:spcPts val="1080"/>
              </a:spcBef>
            </a:pPr>
            <a:r>
              <a:rPr lang="en-US" sz="2000" dirty="0"/>
              <a:t>Listen and don’t interrupt. Be comfortable with pauses as the person processes.</a:t>
            </a:r>
          </a:p>
          <a:p>
            <a:pPr>
              <a:spcBef>
                <a:spcPts val="1080"/>
              </a:spcBef>
            </a:pPr>
            <a:r>
              <a:rPr lang="en-US" sz="2000" dirty="0"/>
              <a:t>Try to provide advance notice on changes.</a:t>
            </a:r>
          </a:p>
          <a:p>
            <a:pPr>
              <a:spcBef>
                <a:spcPts val="1080"/>
              </a:spcBef>
            </a:pPr>
            <a:r>
              <a:rPr lang="en-US" sz="2000" dirty="0"/>
              <a:t>Listen to the person’s words. Avoid interpreting their tone or body language.</a:t>
            </a:r>
          </a:p>
          <a:p>
            <a:pPr>
              <a:spcBef>
                <a:spcPts val="1080"/>
              </a:spcBef>
            </a:pPr>
            <a:r>
              <a:rPr lang="en-US" sz="2000" dirty="0"/>
              <a:t>Give person time to process information. </a:t>
            </a:r>
          </a:p>
          <a:p>
            <a:pPr>
              <a:spcBef>
                <a:spcPts val="1080"/>
              </a:spcBef>
            </a:pPr>
            <a:r>
              <a:rPr lang="en-US" sz="2000" dirty="0"/>
              <a:t>If the area is noisy and chaotic, ask if they would prefer a quieter space.</a:t>
            </a:r>
          </a:p>
          <a:p>
            <a:pPr>
              <a:spcBef>
                <a:spcPts val="1080"/>
              </a:spcBef>
            </a:pPr>
            <a:r>
              <a:rPr lang="en-US" sz="2000" dirty="0"/>
              <a:t>Offer multiple methods of communication: verbal and writing. </a:t>
            </a:r>
          </a:p>
          <a:p>
            <a:endParaRPr lang="en-US" sz="2000" dirty="0"/>
          </a:p>
        </p:txBody>
      </p:sp>
      <p:sp>
        <p:nvSpPr>
          <p:cNvPr id="4" name="Slide Number Placeholder 3">
            <a:extLst>
              <a:ext uri="{FF2B5EF4-FFF2-40B4-BE49-F238E27FC236}">
                <a16:creationId xmlns:a16="http://schemas.microsoft.com/office/drawing/2014/main" id="{591F168D-0FFF-280F-295D-B3C085567BA5}"/>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46</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descr="Neurodiversity: Tic Disorders, Developmental Language Disorder, Dyscalculia, Dyslexia, Attention Deficit Hayperactivity Disorder, Autism Spectrum Disorder, Intellectual Disability, Developmental Coordination Disroder">
            <a:extLst>
              <a:ext uri="{FF2B5EF4-FFF2-40B4-BE49-F238E27FC236}">
                <a16:creationId xmlns:a16="http://schemas.microsoft.com/office/drawing/2014/main" id="{C6A5C529-E358-67D8-E27A-F49E7329BAD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6858000" y="1295400"/>
            <a:ext cx="5334000" cy="5257800"/>
          </a:xfrm>
          <a:prstGeom prst="rect">
            <a:avLst/>
          </a:prstGeom>
        </p:spPr>
      </p:pic>
    </p:spTree>
    <p:extLst>
      <p:ext uri="{BB962C8B-B14F-4D97-AF65-F5344CB8AC3E}">
        <p14:creationId xmlns:p14="http://schemas.microsoft.com/office/powerpoint/2010/main" val="3309934020"/>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3CED0-EDFD-39AF-A11B-8BC356F7AA14}"/>
              </a:ext>
            </a:extLst>
          </p:cNvPr>
          <p:cNvSpPr>
            <a:spLocks noGrp="1"/>
          </p:cNvSpPr>
          <p:nvPr>
            <p:ph type="title"/>
          </p:nvPr>
        </p:nvSpPr>
        <p:spPr/>
        <p:txBody>
          <a:bodyPr/>
          <a:lstStyle/>
          <a:p>
            <a:r>
              <a:rPr lang="en-US" b="1" cap="small" dirty="0"/>
              <a:t>Blind or Visually Impaired</a:t>
            </a:r>
          </a:p>
        </p:txBody>
      </p:sp>
      <p:sp>
        <p:nvSpPr>
          <p:cNvPr id="4" name="Content Placeholder 3">
            <a:extLst>
              <a:ext uri="{FF2B5EF4-FFF2-40B4-BE49-F238E27FC236}">
                <a16:creationId xmlns:a16="http://schemas.microsoft.com/office/drawing/2014/main" id="{E0A5FFB1-C1EF-9FDC-B849-1D8177246D52}"/>
              </a:ext>
            </a:extLst>
          </p:cNvPr>
          <p:cNvSpPr>
            <a:spLocks noGrp="1"/>
          </p:cNvSpPr>
          <p:nvPr>
            <p:ph idx="1"/>
          </p:nvPr>
        </p:nvSpPr>
        <p:spPr>
          <a:xfrm>
            <a:off x="609600" y="1600200"/>
            <a:ext cx="8153400" cy="4800600"/>
          </a:xfrm>
        </p:spPr>
        <p:txBody>
          <a:bodyPr/>
          <a:lstStyle/>
          <a:p>
            <a:r>
              <a:rPr lang="en-US" dirty="0"/>
              <a:t>Identify yourself when entering a conversation and when you leave.</a:t>
            </a:r>
          </a:p>
          <a:p>
            <a:r>
              <a:rPr lang="en-US" dirty="0"/>
              <a:t>If guiding them, </a:t>
            </a:r>
            <a:r>
              <a:rPr lang="en-US" u="sng" dirty="0"/>
              <a:t>offer</a:t>
            </a:r>
            <a:r>
              <a:rPr lang="en-US" dirty="0"/>
              <a:t> your arm or shoulder.</a:t>
            </a:r>
          </a:p>
          <a:p>
            <a:r>
              <a:rPr lang="en-US" dirty="0"/>
              <a:t>Describe the setting, materials, and obstacles in a person’s path.</a:t>
            </a:r>
          </a:p>
          <a:p>
            <a:r>
              <a:rPr lang="en-US" dirty="0"/>
              <a:t>Ask the individual what is the best format for them to receive information.</a:t>
            </a:r>
          </a:p>
        </p:txBody>
      </p:sp>
      <p:sp>
        <p:nvSpPr>
          <p:cNvPr id="3" name="Slide Number Placeholder 2">
            <a:extLst>
              <a:ext uri="{FF2B5EF4-FFF2-40B4-BE49-F238E27FC236}">
                <a16:creationId xmlns:a16="http://schemas.microsoft.com/office/drawing/2014/main" id="{201CECD4-AA20-C9F4-5777-3B44719E6FA2}"/>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C52079FF-467D-6D41-A1F4-C32363388CCE}"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47</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8" name="Picture 7">
            <a:extLst>
              <a:ext uri="{FF2B5EF4-FFF2-40B4-BE49-F238E27FC236}">
                <a16:creationId xmlns:a16="http://schemas.microsoft.com/office/drawing/2014/main" id="{7B365BC5-E36A-F228-8B77-0E9F83CA2190}"/>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9296399" y="4083002"/>
            <a:ext cx="2149475" cy="2165397"/>
          </a:xfrm>
          <a:prstGeom prst="rect">
            <a:avLst/>
          </a:prstGeom>
        </p:spPr>
      </p:pic>
      <p:pic>
        <p:nvPicPr>
          <p:cNvPr id="10" name="Picture 9">
            <a:extLst>
              <a:ext uri="{FF2B5EF4-FFF2-40B4-BE49-F238E27FC236}">
                <a16:creationId xmlns:a16="http://schemas.microsoft.com/office/drawing/2014/main" id="{6CE12435-2AB5-A32B-F52F-8697637F4C4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172488" y="992982"/>
            <a:ext cx="2273387" cy="2207418"/>
          </a:xfrm>
          <a:prstGeom prst="rect">
            <a:avLst/>
          </a:prstGeom>
        </p:spPr>
      </p:pic>
      <p:pic>
        <p:nvPicPr>
          <p:cNvPr id="12" name="Picture 11">
            <a:extLst>
              <a:ext uri="{FF2B5EF4-FFF2-40B4-BE49-F238E27FC236}">
                <a16:creationId xmlns:a16="http://schemas.microsoft.com/office/drawing/2014/main" id="{15BD190D-3E73-7DEC-806C-4D1469A031C6}"/>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76800" y="4648200"/>
            <a:ext cx="2743200" cy="1828800"/>
          </a:xfrm>
          <a:prstGeom prst="rect">
            <a:avLst/>
          </a:prstGeom>
        </p:spPr>
      </p:pic>
    </p:spTree>
    <p:extLst>
      <p:ext uri="{BB962C8B-B14F-4D97-AF65-F5344CB8AC3E}">
        <p14:creationId xmlns:p14="http://schemas.microsoft.com/office/powerpoint/2010/main" val="272789577"/>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D8EB99-5634-9198-8755-1E5E3AF2DC45}"/>
              </a:ext>
            </a:extLst>
          </p:cNvPr>
          <p:cNvSpPr>
            <a:spLocks noGrp="1"/>
          </p:cNvSpPr>
          <p:nvPr>
            <p:ph type="title"/>
          </p:nvPr>
        </p:nvSpPr>
        <p:spPr/>
        <p:txBody>
          <a:bodyPr/>
          <a:lstStyle/>
          <a:p>
            <a:r>
              <a:rPr lang="en-US" b="1" cap="small" dirty="0"/>
              <a:t>Deaf and Hard of Hearing</a:t>
            </a:r>
          </a:p>
        </p:txBody>
      </p:sp>
      <p:sp>
        <p:nvSpPr>
          <p:cNvPr id="7" name="Content Placeholder 6">
            <a:extLst>
              <a:ext uri="{FF2B5EF4-FFF2-40B4-BE49-F238E27FC236}">
                <a16:creationId xmlns:a16="http://schemas.microsoft.com/office/drawing/2014/main" id="{FF6D51F3-73F9-6366-F873-E801ECD45AE0}"/>
              </a:ext>
            </a:extLst>
          </p:cNvPr>
          <p:cNvSpPr>
            <a:spLocks noGrp="1"/>
          </p:cNvSpPr>
          <p:nvPr>
            <p:ph idx="1"/>
          </p:nvPr>
        </p:nvSpPr>
        <p:spPr>
          <a:xfrm>
            <a:off x="528235" y="1828800"/>
            <a:ext cx="6477000" cy="4876800"/>
          </a:xfrm>
        </p:spPr>
        <p:txBody>
          <a:bodyPr/>
          <a:lstStyle/>
          <a:p>
            <a:pPr>
              <a:spcBef>
                <a:spcPts val="1800"/>
              </a:spcBef>
            </a:pPr>
            <a:r>
              <a:rPr lang="en-US" dirty="0"/>
              <a:t>Get the person’s attention before speaking.</a:t>
            </a:r>
          </a:p>
          <a:p>
            <a:pPr>
              <a:spcBef>
                <a:spcPts val="1800"/>
              </a:spcBef>
            </a:pPr>
            <a:r>
              <a:rPr lang="en-US" dirty="0"/>
              <a:t>Speak in normal tones.</a:t>
            </a:r>
          </a:p>
          <a:p>
            <a:pPr>
              <a:spcBef>
                <a:spcPts val="1800"/>
              </a:spcBef>
            </a:pPr>
            <a:r>
              <a:rPr lang="en-US" dirty="0"/>
              <a:t>If someone is using an interpreter:</a:t>
            </a:r>
          </a:p>
          <a:p>
            <a:pPr lvl="1">
              <a:spcBef>
                <a:spcPts val="1176"/>
              </a:spcBef>
            </a:pPr>
            <a:r>
              <a:rPr lang="en-US" sz="2400" dirty="0"/>
              <a:t>Look at and speak directly to the person who is deaf or hard of hearing, and have the conversation with them.</a:t>
            </a:r>
          </a:p>
          <a:p>
            <a:pPr lvl="1"/>
            <a:r>
              <a:rPr lang="en-US" sz="2400" i="1" dirty="0"/>
              <a:t>Don’t say to the interpreter, “Tell them…”</a:t>
            </a:r>
          </a:p>
          <a:p>
            <a:endParaRPr lang="en-US" dirty="0"/>
          </a:p>
        </p:txBody>
      </p:sp>
      <p:sp>
        <p:nvSpPr>
          <p:cNvPr id="4" name="Slide Number Placeholder 3">
            <a:extLst>
              <a:ext uri="{FF2B5EF4-FFF2-40B4-BE49-F238E27FC236}">
                <a16:creationId xmlns:a16="http://schemas.microsoft.com/office/drawing/2014/main" id="{A9D54986-2205-1AF7-2F07-DA8C88C05C97}"/>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48</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3" name="Picture 2">
            <a:extLst>
              <a:ext uri="{FF2B5EF4-FFF2-40B4-BE49-F238E27FC236}">
                <a16:creationId xmlns:a16="http://schemas.microsoft.com/office/drawing/2014/main" id="{A01F34EA-BD81-C3A3-5439-44772776D16A}"/>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05235" y="4571507"/>
            <a:ext cx="2629389" cy="1753093"/>
          </a:xfrm>
          <a:prstGeom prst="rect">
            <a:avLst/>
          </a:prstGeom>
        </p:spPr>
      </p:pic>
      <p:pic>
        <p:nvPicPr>
          <p:cNvPr id="10" name="Picture 9">
            <a:extLst>
              <a:ext uri="{FF2B5EF4-FFF2-40B4-BE49-F238E27FC236}">
                <a16:creationId xmlns:a16="http://schemas.microsoft.com/office/drawing/2014/main" id="{BEDFFCE7-FC93-7ACE-BB4A-90F1C21C7F90}"/>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51309" y="1682522"/>
            <a:ext cx="2531091" cy="1676400"/>
          </a:xfrm>
          <a:prstGeom prst="rect">
            <a:avLst/>
          </a:prstGeom>
        </p:spPr>
      </p:pic>
    </p:spTree>
    <p:extLst>
      <p:ext uri="{BB962C8B-B14F-4D97-AF65-F5344CB8AC3E}">
        <p14:creationId xmlns:p14="http://schemas.microsoft.com/office/powerpoint/2010/main" val="729565417"/>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6D2CF-33E3-8803-B079-2CBE15E64BC1}"/>
              </a:ext>
            </a:extLst>
          </p:cNvPr>
          <p:cNvSpPr>
            <a:spLocks noGrp="1"/>
          </p:cNvSpPr>
          <p:nvPr>
            <p:ph type="title"/>
          </p:nvPr>
        </p:nvSpPr>
        <p:spPr>
          <a:xfrm>
            <a:off x="1219200" y="347664"/>
            <a:ext cx="10972800" cy="990600"/>
          </a:xfrm>
        </p:spPr>
        <p:txBody>
          <a:bodyPr/>
          <a:lstStyle/>
          <a:p>
            <a:r>
              <a:rPr lang="en-US" b="1" cap="small" dirty="0"/>
              <a:t>Speech and Communication Disabilities</a:t>
            </a:r>
          </a:p>
        </p:txBody>
      </p:sp>
      <p:sp>
        <p:nvSpPr>
          <p:cNvPr id="3" name="Content Placeholder 2">
            <a:extLst>
              <a:ext uri="{FF2B5EF4-FFF2-40B4-BE49-F238E27FC236}">
                <a16:creationId xmlns:a16="http://schemas.microsoft.com/office/drawing/2014/main" id="{434900C7-B1B2-64B7-DE0D-40F1DA1C3A63}"/>
              </a:ext>
            </a:extLst>
          </p:cNvPr>
          <p:cNvSpPr>
            <a:spLocks noGrp="1"/>
          </p:cNvSpPr>
          <p:nvPr>
            <p:ph idx="1"/>
          </p:nvPr>
        </p:nvSpPr>
        <p:spPr>
          <a:xfrm>
            <a:off x="457200" y="2828123"/>
            <a:ext cx="10972800" cy="4010826"/>
          </a:xfrm>
        </p:spPr>
        <p:txBody>
          <a:bodyPr/>
          <a:lstStyle/>
          <a:p>
            <a:r>
              <a:rPr lang="en-US" dirty="0"/>
              <a:t>Don’t guess what the person said. </a:t>
            </a:r>
          </a:p>
          <a:p>
            <a:pPr>
              <a:spcBef>
                <a:spcPts val="1176"/>
              </a:spcBef>
            </a:pPr>
            <a:r>
              <a:rPr lang="en-US" dirty="0"/>
              <a:t>If you’re not sure, repeat back what you think they were saying.</a:t>
            </a:r>
          </a:p>
          <a:p>
            <a:pPr>
              <a:spcBef>
                <a:spcPts val="1176"/>
              </a:spcBef>
            </a:pPr>
            <a:r>
              <a:rPr lang="en-US" dirty="0"/>
              <a:t>Don’t hesitate to ask the person to repeat themselves.</a:t>
            </a:r>
          </a:p>
          <a:p>
            <a:pPr>
              <a:spcBef>
                <a:spcPts val="1176"/>
              </a:spcBef>
            </a:pPr>
            <a:r>
              <a:rPr lang="en-US" dirty="0"/>
              <a:t>Don’t try to finish people’s sentences or speak for them.</a:t>
            </a:r>
          </a:p>
          <a:p>
            <a:pPr>
              <a:spcBef>
                <a:spcPts val="1176"/>
              </a:spcBef>
            </a:pPr>
            <a:r>
              <a:rPr lang="en-US" dirty="0"/>
              <a:t>If the person is using a communication device, be patient while the person composes their conversation and response.</a:t>
            </a:r>
          </a:p>
          <a:p>
            <a:pPr>
              <a:spcBef>
                <a:spcPts val="1176"/>
              </a:spcBef>
            </a:pPr>
            <a:r>
              <a:rPr lang="en-US" dirty="0"/>
              <a:t>If you’re having trouble understanding the person, ask if they can write down or type what they are saying.</a:t>
            </a:r>
          </a:p>
          <a:p>
            <a:pPr marL="0" indent="0">
              <a:buNone/>
            </a:pPr>
            <a:endParaRPr lang="en-US" dirty="0"/>
          </a:p>
        </p:txBody>
      </p:sp>
      <p:sp>
        <p:nvSpPr>
          <p:cNvPr id="4" name="Slide Number Placeholder 3">
            <a:extLst>
              <a:ext uri="{FF2B5EF4-FFF2-40B4-BE49-F238E27FC236}">
                <a16:creationId xmlns:a16="http://schemas.microsoft.com/office/drawing/2014/main" id="{0A4B97F4-6505-6B0E-899C-3555DD629F73}"/>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49</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a:extLst>
              <a:ext uri="{FF2B5EF4-FFF2-40B4-BE49-F238E27FC236}">
                <a16:creationId xmlns:a16="http://schemas.microsoft.com/office/drawing/2014/main" id="{1F5AFFD1-031F-29F0-4F84-18937BF326E6}"/>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47800" y="1076653"/>
            <a:ext cx="7772400" cy="1751470"/>
          </a:xfrm>
          <a:prstGeom prst="rect">
            <a:avLst/>
          </a:prstGeom>
        </p:spPr>
      </p:pic>
    </p:spTree>
    <p:extLst>
      <p:ext uri="{BB962C8B-B14F-4D97-AF65-F5344CB8AC3E}">
        <p14:creationId xmlns:p14="http://schemas.microsoft.com/office/powerpoint/2010/main" val="1182748871"/>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4E1DC-43AB-D32E-2353-17DBFB5399C2}"/>
              </a:ext>
            </a:extLst>
          </p:cNvPr>
          <p:cNvSpPr>
            <a:spLocks noGrp="1"/>
          </p:cNvSpPr>
          <p:nvPr>
            <p:ph type="title"/>
          </p:nvPr>
        </p:nvSpPr>
        <p:spPr/>
        <p:txBody>
          <a:bodyPr/>
          <a:lstStyle/>
          <a:p>
            <a:r>
              <a:rPr lang="en-US" b="1" cap="small" dirty="0"/>
              <a:t>Additional General Etiquette Tips </a:t>
            </a:r>
          </a:p>
        </p:txBody>
      </p:sp>
      <p:sp>
        <p:nvSpPr>
          <p:cNvPr id="3" name="Content Placeholder 2">
            <a:extLst>
              <a:ext uri="{FF2B5EF4-FFF2-40B4-BE49-F238E27FC236}">
                <a16:creationId xmlns:a16="http://schemas.microsoft.com/office/drawing/2014/main" id="{2CB25836-4C70-C4DA-DC8F-CD627F985468}"/>
              </a:ext>
            </a:extLst>
          </p:cNvPr>
          <p:cNvSpPr>
            <a:spLocks noGrp="1"/>
          </p:cNvSpPr>
          <p:nvPr>
            <p:ph idx="1"/>
          </p:nvPr>
        </p:nvSpPr>
        <p:spPr>
          <a:xfrm>
            <a:off x="609600" y="1600200"/>
            <a:ext cx="6553200" cy="4572000"/>
          </a:xfrm>
        </p:spPr>
        <p:txBody>
          <a:bodyPr/>
          <a:lstStyle/>
          <a:p>
            <a:pPr>
              <a:spcBef>
                <a:spcPts val="1776"/>
              </a:spcBef>
            </a:pPr>
            <a:r>
              <a:rPr lang="en-US" dirty="0"/>
              <a:t>Don’t touch a person’s assistive or mobility device.</a:t>
            </a:r>
          </a:p>
          <a:p>
            <a:pPr>
              <a:spcBef>
                <a:spcPts val="1776"/>
              </a:spcBef>
            </a:pPr>
            <a:r>
              <a:rPr lang="en-US" dirty="0"/>
              <a:t>If a person has an aid or someone assisting them, speak directly to the person with a disability.</a:t>
            </a:r>
          </a:p>
          <a:p>
            <a:pPr>
              <a:spcBef>
                <a:spcPts val="1776"/>
              </a:spcBef>
            </a:pPr>
            <a:r>
              <a:rPr lang="en-US" dirty="0"/>
              <a:t>When talking to someone, try to get to their level, and hold conversation in a location where you can engage comfortably, and reduces distance between the two of you.</a:t>
            </a:r>
          </a:p>
          <a:p>
            <a:pPr>
              <a:spcBef>
                <a:spcPts val="1776"/>
              </a:spcBef>
            </a:pPr>
            <a:r>
              <a:rPr lang="en-US" dirty="0"/>
              <a:t>Service animals are working. Do not pet or play with them. </a:t>
            </a:r>
          </a:p>
          <a:p>
            <a:endParaRPr lang="en-US" dirty="0"/>
          </a:p>
        </p:txBody>
      </p:sp>
      <p:sp>
        <p:nvSpPr>
          <p:cNvPr id="4" name="Slide Number Placeholder 3">
            <a:extLst>
              <a:ext uri="{FF2B5EF4-FFF2-40B4-BE49-F238E27FC236}">
                <a16:creationId xmlns:a16="http://schemas.microsoft.com/office/drawing/2014/main" id="{1F317AFC-B857-7FA4-D077-E1368B164157}"/>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50</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a:extLst>
              <a:ext uri="{FF2B5EF4-FFF2-40B4-BE49-F238E27FC236}">
                <a16:creationId xmlns:a16="http://schemas.microsoft.com/office/drawing/2014/main" id="{18A8FB74-1A46-E25D-88D7-CB709478E565}"/>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43800" y="3701143"/>
            <a:ext cx="2895600" cy="2895600"/>
          </a:xfrm>
          <a:prstGeom prst="rect">
            <a:avLst/>
          </a:prstGeom>
        </p:spPr>
      </p:pic>
      <p:pic>
        <p:nvPicPr>
          <p:cNvPr id="8" name="Picture 7">
            <a:extLst>
              <a:ext uri="{FF2B5EF4-FFF2-40B4-BE49-F238E27FC236}">
                <a16:creationId xmlns:a16="http://schemas.microsoft.com/office/drawing/2014/main" id="{E6B366AA-4D64-4113-3028-34D7F7F391AD}"/>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8041758" y="1600200"/>
            <a:ext cx="3540642" cy="2057400"/>
          </a:xfrm>
          <a:prstGeom prst="rect">
            <a:avLst/>
          </a:prstGeom>
        </p:spPr>
      </p:pic>
    </p:spTree>
    <p:extLst>
      <p:ext uri="{BB962C8B-B14F-4D97-AF65-F5344CB8AC3E}">
        <p14:creationId xmlns:p14="http://schemas.microsoft.com/office/powerpoint/2010/main" val="112021443"/>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FAD987-6630-54A1-117A-2D7007E4D0E4}"/>
              </a:ext>
            </a:extLst>
          </p:cNvPr>
          <p:cNvSpPr>
            <a:spLocks noGrp="1"/>
          </p:cNvSpPr>
          <p:nvPr>
            <p:ph type="title"/>
          </p:nvPr>
        </p:nvSpPr>
        <p:spPr>
          <a:xfrm>
            <a:off x="2286000" y="1371600"/>
            <a:ext cx="8071757" cy="990600"/>
          </a:xfrm>
        </p:spPr>
        <p:style>
          <a:lnRef idx="2">
            <a:schemeClr val="accent2">
              <a:shade val="15000"/>
            </a:schemeClr>
          </a:lnRef>
          <a:fillRef idx="1">
            <a:schemeClr val="accent2"/>
          </a:fillRef>
          <a:effectRef idx="0">
            <a:schemeClr val="accent2"/>
          </a:effectRef>
          <a:fontRef idx="minor">
            <a:schemeClr val="lt1"/>
          </a:fontRef>
        </p:style>
        <p:txBody>
          <a:bodyPr/>
          <a:lstStyle/>
          <a:p>
            <a:pPr algn="ctr"/>
            <a:r>
              <a:rPr lang="en-US" b="1" cap="small" dirty="0"/>
              <a:t>Language Considerations</a:t>
            </a:r>
          </a:p>
        </p:txBody>
      </p:sp>
      <p:sp>
        <p:nvSpPr>
          <p:cNvPr id="4" name="Slide Number Placeholder 3">
            <a:extLst>
              <a:ext uri="{FF2B5EF4-FFF2-40B4-BE49-F238E27FC236}">
                <a16:creationId xmlns:a16="http://schemas.microsoft.com/office/drawing/2014/main" id="{D58DB8A6-A3E9-A74A-7B7B-D9F6D72CFF0B}"/>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51</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7" name="Picture 6">
            <a:extLst>
              <a:ext uri="{FF2B5EF4-FFF2-40B4-BE49-F238E27FC236}">
                <a16:creationId xmlns:a16="http://schemas.microsoft.com/office/drawing/2014/main" id="{1BD1CEA2-5E73-BAD8-D62F-90109D883DC9}"/>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07278" y="3048000"/>
            <a:ext cx="5029200" cy="3352800"/>
          </a:xfrm>
          <a:prstGeom prst="rect">
            <a:avLst/>
          </a:prstGeom>
        </p:spPr>
      </p:pic>
    </p:spTree>
    <p:extLst>
      <p:ext uri="{BB962C8B-B14F-4D97-AF65-F5344CB8AC3E}">
        <p14:creationId xmlns:p14="http://schemas.microsoft.com/office/powerpoint/2010/main" val="2019596415"/>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7CEA1-AE9F-1C1F-ACA1-A27B97CAA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6A554-8318-1F9A-6E53-41823BD163FE}"/>
              </a:ext>
            </a:extLst>
          </p:cNvPr>
          <p:cNvSpPr>
            <a:spLocks noGrp="1"/>
          </p:cNvSpPr>
          <p:nvPr>
            <p:ph type="title"/>
          </p:nvPr>
        </p:nvSpPr>
        <p:spPr/>
        <p:txBody>
          <a:bodyPr/>
          <a:lstStyle/>
          <a:p>
            <a:pPr algn="ctr"/>
            <a:r>
              <a:rPr lang="en-US" cap="small" dirty="0"/>
              <a:t>Language Guide</a:t>
            </a:r>
          </a:p>
        </p:txBody>
      </p:sp>
      <p:graphicFrame>
        <p:nvGraphicFramePr>
          <p:cNvPr id="5" name="Content Placeholder 4">
            <a:extLst>
              <a:ext uri="{FF2B5EF4-FFF2-40B4-BE49-F238E27FC236}">
                <a16:creationId xmlns:a16="http://schemas.microsoft.com/office/drawing/2014/main" id="{34531033-7F44-9FF2-2DA3-4A13CCD49C57}"/>
              </a:ext>
            </a:extLst>
          </p:cNvPr>
          <p:cNvGraphicFramePr>
            <a:graphicFrameLocks noGrp="1"/>
          </p:cNvGraphicFramePr>
          <p:nvPr>
            <p:ph idx="1"/>
          </p:nvPr>
        </p:nvGraphicFramePr>
        <p:xfrm>
          <a:off x="609600" y="1600200"/>
          <a:ext cx="11201400" cy="5105403"/>
        </p:xfrm>
        <a:graphic>
          <a:graphicData uri="http://schemas.openxmlformats.org/drawingml/2006/table">
            <a:tbl>
              <a:tblPr firstRow="1" bandRow="1">
                <a:tableStyleId>{93296810-A885-4BE3-A3E7-6D5BEEA58F35}</a:tableStyleId>
              </a:tblPr>
              <a:tblGrid>
                <a:gridCol w="4745038">
                  <a:extLst>
                    <a:ext uri="{9D8B030D-6E8A-4147-A177-3AD203B41FA5}">
                      <a16:colId xmlns:a16="http://schemas.microsoft.com/office/drawing/2014/main" val="487841085"/>
                    </a:ext>
                  </a:extLst>
                </a:gridCol>
                <a:gridCol w="6456362">
                  <a:extLst>
                    <a:ext uri="{9D8B030D-6E8A-4147-A177-3AD203B41FA5}">
                      <a16:colId xmlns:a16="http://schemas.microsoft.com/office/drawing/2014/main" val="2506969273"/>
                    </a:ext>
                  </a:extLst>
                </a:gridCol>
              </a:tblGrid>
              <a:tr h="567267">
                <a:tc>
                  <a:txBody>
                    <a:bodyPr/>
                    <a:lstStyle/>
                    <a:p>
                      <a:pPr algn="ctr"/>
                      <a:r>
                        <a:rPr lang="en-US" dirty="0"/>
                        <a:t>Inappropriate Term</a:t>
                      </a:r>
                    </a:p>
                  </a:txBody>
                  <a:tcPr anchor="ct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en-US" dirty="0"/>
                        <a:t>Appropriate Term</a:t>
                      </a:r>
                    </a:p>
                  </a:txBody>
                  <a:tcPr anchor="ctr">
                    <a:lnL w="38100" cap="flat" cmpd="sng" algn="ctr">
                      <a:solidFill>
                        <a:schemeClr val="tx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4527770"/>
                  </a:ext>
                </a:extLst>
              </a:tr>
              <a:tr h="567267">
                <a:tc>
                  <a:txBody>
                    <a:bodyPr/>
                    <a:lstStyle/>
                    <a:p>
                      <a:r>
                        <a:rPr lang="en-US" sz="2000" dirty="0"/>
                        <a:t>Handicap</a:t>
                      </a:r>
                    </a:p>
                  </a:txBody>
                  <a:tcPr anchor="ctr">
                    <a:lnL w="12700" cmpd="sng">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solidFill>
                      <a:schemeClr val="bg1">
                        <a:lumMod val="65000"/>
                      </a:schemeClr>
                    </a:solidFill>
                  </a:tcPr>
                </a:tc>
                <a:tc>
                  <a:txBody>
                    <a:bodyPr/>
                    <a:lstStyle/>
                    <a:p>
                      <a:r>
                        <a:rPr lang="en-US" sz="2000" dirty="0"/>
                        <a:t>Disabled, Person with a Disability</a:t>
                      </a:r>
                    </a:p>
                  </a:txBody>
                  <a:tcPr anchor="ctr">
                    <a:lnL w="38100" cap="flat" cmpd="sng" algn="ctr">
                      <a:solidFill>
                        <a:schemeClr val="tx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12700" cmpd="sng">
                      <a:noFill/>
                    </a:lnB>
                  </a:tcPr>
                </a:tc>
                <a:extLst>
                  <a:ext uri="{0D108BD9-81ED-4DB2-BD59-A6C34878D82A}">
                    <a16:rowId xmlns:a16="http://schemas.microsoft.com/office/drawing/2014/main" val="2821500989"/>
                  </a:ext>
                </a:extLst>
              </a:tr>
              <a:tr h="567267">
                <a:tc>
                  <a:txBody>
                    <a:bodyPr/>
                    <a:lstStyle/>
                    <a:p>
                      <a:r>
                        <a:rPr lang="en-US" sz="2000" dirty="0"/>
                        <a:t>Retarded</a:t>
                      </a:r>
                    </a:p>
                  </a:txBody>
                  <a:tcPr anchor="ctr">
                    <a:lnL w="12700" cmpd="sng">
                      <a:noFill/>
                    </a:lnL>
                    <a:lnR w="38100" cap="flat" cmpd="sng" algn="ctr">
                      <a:solidFill>
                        <a:schemeClr val="tx1"/>
                      </a:solidFill>
                      <a:prstDash val="solid"/>
                      <a:round/>
                      <a:headEnd type="none" w="med" len="med"/>
                      <a:tailEnd type="none" w="med" len="med"/>
                    </a:lnR>
                    <a:lnT w="12700" cmpd="sng">
                      <a:noFill/>
                    </a:lnT>
                    <a:lnB w="12700" cmpd="sng">
                      <a:noFill/>
                    </a:lnB>
                    <a:solidFill>
                      <a:schemeClr val="bg1">
                        <a:lumMod val="85000"/>
                      </a:schemeClr>
                    </a:solidFill>
                  </a:tcPr>
                </a:tc>
                <a:tc>
                  <a:txBody>
                    <a:bodyPr/>
                    <a:lstStyle/>
                    <a:p>
                      <a:r>
                        <a:rPr lang="en-US" sz="2000" dirty="0"/>
                        <a:t>Intellectual Disability, Cognitive Disability, </a:t>
                      </a:r>
                    </a:p>
                  </a:txBody>
                  <a:tcPr anchor="ctr">
                    <a:lnL w="38100" cap="flat" cmpd="sng" algn="ctr">
                      <a:solidFill>
                        <a:schemeClr val="tx1"/>
                      </a:solidFill>
                      <a:prstDash val="solid"/>
                      <a:round/>
                      <a:headEnd type="none" w="med" len="med"/>
                      <a:tailEnd type="none" w="med" len="med"/>
                    </a:lnL>
                    <a:lnR w="12700" cmpd="sng">
                      <a:noFill/>
                    </a:lnR>
                    <a:lnT w="12700" cmpd="sng">
                      <a:noFill/>
                    </a:lnT>
                    <a:lnB w="12700" cmpd="sng">
                      <a:noFill/>
                    </a:lnB>
                  </a:tcPr>
                </a:tc>
                <a:extLst>
                  <a:ext uri="{0D108BD9-81ED-4DB2-BD59-A6C34878D82A}">
                    <a16:rowId xmlns:a16="http://schemas.microsoft.com/office/drawing/2014/main" val="72996404"/>
                  </a:ext>
                </a:extLst>
              </a:tr>
              <a:tr h="567267">
                <a:tc>
                  <a:txBody>
                    <a:bodyPr/>
                    <a:lstStyle/>
                    <a:p>
                      <a:r>
                        <a:rPr lang="en-US" sz="2000" dirty="0"/>
                        <a:t>Wheelchair bound</a:t>
                      </a:r>
                    </a:p>
                  </a:txBody>
                  <a:tcPr anchor="ctr">
                    <a:lnL w="12700" cmpd="sng">
                      <a:noFill/>
                    </a:lnL>
                    <a:lnR w="38100" cap="flat" cmpd="sng" algn="ctr">
                      <a:solidFill>
                        <a:schemeClr val="tx1"/>
                      </a:solidFill>
                      <a:prstDash val="solid"/>
                      <a:round/>
                      <a:headEnd type="none" w="med" len="med"/>
                      <a:tailEnd type="none" w="med" len="med"/>
                    </a:lnR>
                    <a:lnT w="12700" cmpd="sng">
                      <a:noFill/>
                    </a:lnT>
                    <a:lnB w="12700" cmpd="sng">
                      <a:noFill/>
                    </a:lnB>
                    <a:solidFill>
                      <a:schemeClr val="bg1">
                        <a:lumMod val="65000"/>
                      </a:schemeClr>
                    </a:solidFill>
                  </a:tcPr>
                </a:tc>
                <a:tc>
                  <a:txBody>
                    <a:bodyPr/>
                    <a:lstStyle/>
                    <a:p>
                      <a:r>
                        <a:rPr lang="en-US" sz="2000" dirty="0"/>
                        <a:t>Uses a wheelchair, Wheelchair user</a:t>
                      </a:r>
                    </a:p>
                  </a:txBody>
                  <a:tcPr anchor="ctr">
                    <a:lnL w="38100" cap="flat" cmpd="sng" algn="ctr">
                      <a:solidFill>
                        <a:schemeClr val="tx1"/>
                      </a:solidFill>
                      <a:prstDash val="solid"/>
                      <a:round/>
                      <a:headEnd type="none" w="med" len="med"/>
                      <a:tailEnd type="none" w="med" len="med"/>
                    </a:lnL>
                    <a:lnR w="12700" cmpd="sng">
                      <a:noFill/>
                    </a:lnR>
                    <a:lnT w="12700" cmpd="sng">
                      <a:noFill/>
                    </a:lnT>
                    <a:lnB w="12700" cmpd="sng">
                      <a:noFill/>
                    </a:lnB>
                  </a:tcPr>
                </a:tc>
                <a:extLst>
                  <a:ext uri="{0D108BD9-81ED-4DB2-BD59-A6C34878D82A}">
                    <a16:rowId xmlns:a16="http://schemas.microsoft.com/office/drawing/2014/main" val="4201490716"/>
                  </a:ext>
                </a:extLst>
              </a:tr>
              <a:tr h="567267">
                <a:tc>
                  <a:txBody>
                    <a:bodyPr/>
                    <a:lstStyle/>
                    <a:p>
                      <a:r>
                        <a:rPr lang="en-US" sz="2000" dirty="0"/>
                        <a:t>Suffers from…</a:t>
                      </a:r>
                    </a:p>
                  </a:txBody>
                  <a:tcPr anchor="ctr">
                    <a:lnL w="12700" cmpd="sng">
                      <a:noFill/>
                    </a:lnL>
                    <a:lnR w="38100" cap="flat" cmpd="sng" algn="ctr">
                      <a:solidFill>
                        <a:schemeClr val="tx1"/>
                      </a:solidFill>
                      <a:prstDash val="solid"/>
                      <a:round/>
                      <a:headEnd type="none" w="med" len="med"/>
                      <a:tailEnd type="none" w="med" len="med"/>
                    </a:lnR>
                    <a:lnT w="12700" cmpd="sng">
                      <a:noFill/>
                    </a:lnT>
                    <a:lnB w="12700" cmpd="sng">
                      <a:noFill/>
                    </a:lnB>
                    <a:solidFill>
                      <a:schemeClr val="bg1">
                        <a:lumMod val="85000"/>
                      </a:schemeClr>
                    </a:solidFill>
                  </a:tcPr>
                </a:tc>
                <a:tc>
                  <a:txBody>
                    <a:bodyPr/>
                    <a:lstStyle/>
                    <a:p>
                      <a:r>
                        <a:rPr lang="en-US" sz="2000" dirty="0"/>
                        <a:t>Has…</a:t>
                      </a:r>
                    </a:p>
                  </a:txBody>
                  <a:tcPr anchor="ctr">
                    <a:lnL w="38100" cap="flat" cmpd="sng" algn="ctr">
                      <a:solidFill>
                        <a:schemeClr val="tx1"/>
                      </a:solidFill>
                      <a:prstDash val="solid"/>
                      <a:round/>
                      <a:headEnd type="none" w="med" len="med"/>
                      <a:tailEnd type="none" w="med" len="med"/>
                    </a:lnL>
                    <a:lnR w="12700" cmpd="sng">
                      <a:noFill/>
                    </a:lnR>
                    <a:lnT w="12700" cmpd="sng">
                      <a:noFill/>
                    </a:lnT>
                    <a:lnB w="12700" cmpd="sng">
                      <a:noFill/>
                    </a:lnB>
                  </a:tcPr>
                </a:tc>
                <a:extLst>
                  <a:ext uri="{0D108BD9-81ED-4DB2-BD59-A6C34878D82A}">
                    <a16:rowId xmlns:a16="http://schemas.microsoft.com/office/drawing/2014/main" val="4137964539"/>
                  </a:ext>
                </a:extLst>
              </a:tr>
              <a:tr h="567267">
                <a:tc>
                  <a:txBody>
                    <a:bodyPr/>
                    <a:lstStyle/>
                    <a:p>
                      <a:r>
                        <a:rPr lang="en-US" sz="2000" dirty="0"/>
                        <a:t>Brain damaged</a:t>
                      </a:r>
                    </a:p>
                  </a:txBody>
                  <a:tcPr anchor="ctr">
                    <a:lnL w="12700" cmpd="sng">
                      <a:noFill/>
                    </a:lnL>
                    <a:lnR w="38100" cap="flat" cmpd="sng" algn="ctr">
                      <a:solidFill>
                        <a:schemeClr val="tx1"/>
                      </a:solidFill>
                      <a:prstDash val="solid"/>
                      <a:round/>
                      <a:headEnd type="none" w="med" len="med"/>
                      <a:tailEnd type="none" w="med" len="med"/>
                    </a:lnR>
                    <a:lnT w="12700" cmpd="sng">
                      <a:noFill/>
                    </a:lnT>
                    <a:lnB w="12700" cmpd="sng">
                      <a:noFill/>
                    </a:lnB>
                    <a:solidFill>
                      <a:schemeClr val="bg1">
                        <a:lumMod val="65000"/>
                      </a:schemeClr>
                    </a:solidFill>
                  </a:tcPr>
                </a:tc>
                <a:tc>
                  <a:txBody>
                    <a:bodyPr/>
                    <a:lstStyle/>
                    <a:p>
                      <a:r>
                        <a:rPr lang="en-US" sz="2000" dirty="0"/>
                        <a:t>Head injury</a:t>
                      </a:r>
                    </a:p>
                  </a:txBody>
                  <a:tcPr anchor="ctr">
                    <a:lnL w="38100" cap="flat" cmpd="sng" algn="ctr">
                      <a:solidFill>
                        <a:schemeClr val="tx1"/>
                      </a:solidFill>
                      <a:prstDash val="solid"/>
                      <a:round/>
                      <a:headEnd type="none" w="med" len="med"/>
                      <a:tailEnd type="none" w="med" len="med"/>
                    </a:lnL>
                    <a:lnR w="12700" cmpd="sng">
                      <a:noFill/>
                    </a:lnR>
                    <a:lnT w="12700" cmpd="sng">
                      <a:noFill/>
                    </a:lnT>
                    <a:lnB w="12700" cmpd="sng">
                      <a:noFill/>
                    </a:lnB>
                  </a:tcPr>
                </a:tc>
                <a:extLst>
                  <a:ext uri="{0D108BD9-81ED-4DB2-BD59-A6C34878D82A}">
                    <a16:rowId xmlns:a16="http://schemas.microsoft.com/office/drawing/2014/main" val="2553633948"/>
                  </a:ext>
                </a:extLst>
              </a:tr>
              <a:tr h="567267">
                <a:tc>
                  <a:txBody>
                    <a:bodyPr/>
                    <a:lstStyle/>
                    <a:p>
                      <a:r>
                        <a:rPr lang="en-US" sz="2000" dirty="0"/>
                        <a:t>Crazy, psycho</a:t>
                      </a:r>
                    </a:p>
                  </a:txBody>
                  <a:tcPr anchor="ctr">
                    <a:lnL w="12700" cmpd="sng">
                      <a:noFill/>
                    </a:lnL>
                    <a:lnR w="38100" cap="flat" cmpd="sng" algn="ctr">
                      <a:solidFill>
                        <a:schemeClr val="tx1"/>
                      </a:solidFill>
                      <a:prstDash val="solid"/>
                      <a:round/>
                      <a:headEnd type="none" w="med" len="med"/>
                      <a:tailEnd type="none" w="med" len="med"/>
                    </a:lnR>
                    <a:lnT w="12700" cmpd="sng">
                      <a:noFill/>
                    </a:lnT>
                    <a:lnB w="12700" cmpd="sng">
                      <a:noFill/>
                    </a:lnB>
                    <a:solidFill>
                      <a:schemeClr val="bg1">
                        <a:lumMod val="85000"/>
                      </a:schemeClr>
                    </a:solidFill>
                  </a:tcPr>
                </a:tc>
                <a:tc>
                  <a:txBody>
                    <a:bodyPr/>
                    <a:lstStyle/>
                    <a:p>
                      <a:r>
                        <a:rPr lang="en-US" sz="2000" dirty="0"/>
                        <a:t>Person with mental health issues, mental illness</a:t>
                      </a:r>
                    </a:p>
                  </a:txBody>
                  <a:tcPr anchor="ctr">
                    <a:lnL w="38100" cap="flat" cmpd="sng" algn="ctr">
                      <a:solidFill>
                        <a:schemeClr val="tx1"/>
                      </a:solidFill>
                      <a:prstDash val="solid"/>
                      <a:round/>
                      <a:headEnd type="none" w="med" len="med"/>
                      <a:tailEnd type="none" w="med" len="med"/>
                    </a:lnL>
                    <a:lnR w="12700" cmpd="sng">
                      <a:noFill/>
                    </a:lnR>
                    <a:lnT w="12700" cmpd="sng">
                      <a:noFill/>
                    </a:lnT>
                    <a:lnB w="12700" cmpd="sng">
                      <a:noFill/>
                    </a:lnB>
                  </a:tcPr>
                </a:tc>
                <a:extLst>
                  <a:ext uri="{0D108BD9-81ED-4DB2-BD59-A6C34878D82A}">
                    <a16:rowId xmlns:a16="http://schemas.microsoft.com/office/drawing/2014/main" val="1500344220"/>
                  </a:ext>
                </a:extLst>
              </a:tr>
              <a:tr h="567267">
                <a:tc>
                  <a:txBody>
                    <a:bodyPr/>
                    <a:lstStyle/>
                    <a:p>
                      <a:r>
                        <a:rPr lang="en-US" sz="2000" dirty="0"/>
                        <a:t>Deaf-Mute, Deaf &amp; Dumb</a:t>
                      </a:r>
                    </a:p>
                  </a:txBody>
                  <a:tcPr anchor="ctr">
                    <a:lnL w="12700" cmpd="sng">
                      <a:noFill/>
                    </a:lnL>
                    <a:lnR w="38100" cap="flat" cmpd="sng" algn="ctr">
                      <a:solidFill>
                        <a:schemeClr val="tx1"/>
                      </a:solidFill>
                      <a:prstDash val="solid"/>
                      <a:round/>
                      <a:headEnd type="none" w="med" len="med"/>
                      <a:tailEnd type="none" w="med" len="med"/>
                    </a:lnR>
                    <a:lnT w="12700" cmpd="sng">
                      <a:noFill/>
                    </a:lnT>
                    <a:lnB w="12700" cmpd="sng">
                      <a:noFill/>
                    </a:lnB>
                    <a:solidFill>
                      <a:schemeClr val="bg1">
                        <a:lumMod val="65000"/>
                      </a:schemeClr>
                    </a:solidFill>
                  </a:tcPr>
                </a:tc>
                <a:tc>
                  <a:txBody>
                    <a:bodyPr/>
                    <a:lstStyle/>
                    <a:p>
                      <a:r>
                        <a:rPr lang="en-US" sz="2000" dirty="0"/>
                        <a:t>Deaf, Hard of Hearing</a:t>
                      </a:r>
                    </a:p>
                  </a:txBody>
                  <a:tcPr anchor="ctr">
                    <a:lnL w="38100" cap="flat" cmpd="sng" algn="ctr">
                      <a:solidFill>
                        <a:schemeClr val="tx1"/>
                      </a:solidFill>
                      <a:prstDash val="solid"/>
                      <a:round/>
                      <a:headEnd type="none" w="med" len="med"/>
                      <a:tailEnd type="none" w="med" len="med"/>
                    </a:lnL>
                    <a:lnR w="12700" cmpd="sng">
                      <a:noFill/>
                    </a:lnR>
                    <a:lnT w="12700" cmpd="sng">
                      <a:noFill/>
                    </a:lnT>
                    <a:lnB w="12700" cmpd="sng">
                      <a:noFill/>
                    </a:lnB>
                  </a:tcPr>
                </a:tc>
                <a:extLst>
                  <a:ext uri="{0D108BD9-81ED-4DB2-BD59-A6C34878D82A}">
                    <a16:rowId xmlns:a16="http://schemas.microsoft.com/office/drawing/2014/main" val="1027744532"/>
                  </a:ext>
                </a:extLst>
              </a:tr>
              <a:tr h="567267">
                <a:tc>
                  <a:txBody>
                    <a:bodyPr/>
                    <a:lstStyle/>
                    <a:p>
                      <a:r>
                        <a:rPr lang="en-US" sz="2000" dirty="0"/>
                        <a:t>Cripple</a:t>
                      </a:r>
                    </a:p>
                  </a:txBody>
                  <a:tcPr anchor="ctr">
                    <a:lnL w="12700" cmpd="sng">
                      <a:noFill/>
                    </a:lnL>
                    <a:lnR w="38100" cap="flat" cmpd="sng" algn="ctr">
                      <a:solidFill>
                        <a:schemeClr val="tx1"/>
                      </a:solidFill>
                      <a:prstDash val="solid"/>
                      <a:round/>
                      <a:headEnd type="none" w="med" len="med"/>
                      <a:tailEnd type="none" w="med" len="med"/>
                    </a:lnR>
                    <a:lnT w="12700" cmpd="sng">
                      <a:noFill/>
                    </a:lnT>
                    <a:lnB w="12700" cmpd="sng">
                      <a:noFill/>
                    </a:lnB>
                    <a:solidFill>
                      <a:schemeClr val="bg1">
                        <a:lumMod val="85000"/>
                      </a:schemeClr>
                    </a:solidFill>
                  </a:tcPr>
                </a:tc>
                <a:tc>
                  <a:txBody>
                    <a:bodyPr/>
                    <a:lstStyle/>
                    <a:p>
                      <a:r>
                        <a:rPr lang="en-US" sz="2000" dirty="0"/>
                        <a:t>Physical disability</a:t>
                      </a:r>
                    </a:p>
                  </a:txBody>
                  <a:tcPr anchor="ctr">
                    <a:lnL w="38100" cap="flat" cmpd="sng" algn="ctr">
                      <a:solidFill>
                        <a:schemeClr val="tx1"/>
                      </a:solidFill>
                      <a:prstDash val="solid"/>
                      <a:round/>
                      <a:headEnd type="none" w="med" len="med"/>
                      <a:tailEnd type="none" w="med" len="med"/>
                    </a:lnL>
                    <a:lnR w="12700" cmpd="sng">
                      <a:noFill/>
                    </a:lnR>
                    <a:lnT w="12700" cmpd="sng">
                      <a:noFill/>
                    </a:lnT>
                    <a:lnB w="12700" cmpd="sng">
                      <a:noFill/>
                    </a:lnB>
                  </a:tcPr>
                </a:tc>
                <a:extLst>
                  <a:ext uri="{0D108BD9-81ED-4DB2-BD59-A6C34878D82A}">
                    <a16:rowId xmlns:a16="http://schemas.microsoft.com/office/drawing/2014/main" val="737309961"/>
                  </a:ext>
                </a:extLst>
              </a:tr>
            </a:tbl>
          </a:graphicData>
        </a:graphic>
      </p:graphicFrame>
      <p:sp>
        <p:nvSpPr>
          <p:cNvPr id="4" name="Slide Number Placeholder 3">
            <a:extLst>
              <a:ext uri="{FF2B5EF4-FFF2-40B4-BE49-F238E27FC236}">
                <a16:creationId xmlns:a16="http://schemas.microsoft.com/office/drawing/2014/main" id="{E7378E62-865F-EF35-D78C-342F75766CD7}"/>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52</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397070314"/>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8BE77-3391-7043-999C-DCD50BB3243A}"/>
              </a:ext>
            </a:extLst>
          </p:cNvPr>
          <p:cNvSpPr>
            <a:spLocks noGrp="1"/>
          </p:cNvSpPr>
          <p:nvPr>
            <p:ph type="ctrTitle"/>
          </p:nvPr>
        </p:nvSpPr>
        <p:spPr>
          <a:xfrm>
            <a:off x="2362200" y="1752600"/>
            <a:ext cx="6270922" cy="1573670"/>
          </a:xfrm>
        </p:spPr>
        <p:txBody>
          <a:bodyPr/>
          <a:lstStyle/>
          <a:p>
            <a:pPr algn="ctr">
              <a:lnSpc>
                <a:spcPct val="100000"/>
              </a:lnSpc>
            </a:pPr>
            <a:r>
              <a:rPr lang="en-US" sz="4500" b="1" i="1" dirty="0"/>
              <a:t>Language:</a:t>
            </a:r>
            <a:br>
              <a:rPr lang="en-US" sz="4500" dirty="0"/>
            </a:br>
            <a:r>
              <a:rPr lang="en-US" sz="4500" dirty="0"/>
              <a:t>People First</a:t>
            </a:r>
            <a:br>
              <a:rPr lang="en-US" sz="4500" dirty="0"/>
            </a:br>
            <a:r>
              <a:rPr lang="en-US" sz="4500" cap="none" dirty="0"/>
              <a:t>vs.</a:t>
            </a:r>
            <a:br>
              <a:rPr lang="en-US" sz="4500" dirty="0"/>
            </a:br>
            <a:r>
              <a:rPr lang="en-US" sz="4500" dirty="0"/>
              <a:t>Identity First</a:t>
            </a:r>
          </a:p>
        </p:txBody>
      </p:sp>
      <p:pic>
        <p:nvPicPr>
          <p:cNvPr id="7" name="Picture 6">
            <a:extLst>
              <a:ext uri="{FF2B5EF4-FFF2-40B4-BE49-F238E27FC236}">
                <a16:creationId xmlns:a16="http://schemas.microsoft.com/office/drawing/2014/main" id="{1B8A06A3-7027-2A4C-BA9E-1E6B2853AE6D}"/>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254931" y="1219201"/>
            <a:ext cx="1778138" cy="1896681"/>
          </a:xfrm>
          <a:prstGeom prst="rect">
            <a:avLst/>
          </a:prstGeom>
        </p:spPr>
      </p:pic>
      <p:sp>
        <p:nvSpPr>
          <p:cNvPr id="8" name="Slide Number Placeholder 7">
            <a:extLst>
              <a:ext uri="{FF2B5EF4-FFF2-40B4-BE49-F238E27FC236}">
                <a16:creationId xmlns:a16="http://schemas.microsoft.com/office/drawing/2014/main" id="{BA19F35D-0043-3C42-BAC3-F505E227132E}"/>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9E57DC2-970A-4B3E-BB1C-7A09969E49DF}" type="slidenum">
              <a:rPr kumimoji="0" 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53</a:t>
            </a:fld>
            <a:endParaRPr kumimoji="0" lang="en-US" sz="1400" b="1" i="0" u="none" strike="noStrike" kern="1200" cap="none" spc="0" normalizeH="0" baseline="0" noProof="0" dirty="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4" name="Picture 3">
            <a:extLst>
              <a:ext uri="{FF2B5EF4-FFF2-40B4-BE49-F238E27FC236}">
                <a16:creationId xmlns:a16="http://schemas.microsoft.com/office/drawing/2014/main" id="{FD801EFC-9D76-3540-969B-FDE068CDAA61}"/>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68861" y="4038600"/>
            <a:ext cx="3657600" cy="2057400"/>
          </a:xfrm>
          <a:prstGeom prst="rect">
            <a:avLst/>
          </a:prstGeom>
        </p:spPr>
      </p:pic>
    </p:spTree>
    <p:extLst>
      <p:ext uri="{BB962C8B-B14F-4D97-AF65-F5344CB8AC3E}">
        <p14:creationId xmlns:p14="http://schemas.microsoft.com/office/powerpoint/2010/main" val="3947665615"/>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F48CB-AC8A-0A4E-9D77-648C54667EBA}"/>
              </a:ext>
            </a:extLst>
          </p:cNvPr>
          <p:cNvSpPr>
            <a:spLocks noGrp="1"/>
          </p:cNvSpPr>
          <p:nvPr>
            <p:ph type="title"/>
          </p:nvPr>
        </p:nvSpPr>
        <p:spPr>
          <a:xfrm>
            <a:off x="740979" y="173421"/>
            <a:ext cx="11319641" cy="3886200"/>
          </a:xfrm>
        </p:spPr>
        <p:style>
          <a:lnRef idx="2">
            <a:schemeClr val="accent4">
              <a:shade val="50000"/>
            </a:schemeClr>
          </a:lnRef>
          <a:fillRef idx="1">
            <a:schemeClr val="accent4"/>
          </a:fillRef>
          <a:effectRef idx="0">
            <a:schemeClr val="accent4"/>
          </a:effectRef>
          <a:fontRef idx="minor">
            <a:schemeClr val="lt1"/>
          </a:fontRef>
        </p:style>
        <p:txBody>
          <a:bodyPr anchor="ctr" anchorCtr="0">
            <a:normAutofit/>
          </a:bodyPr>
          <a:lstStyle/>
          <a:p>
            <a:pPr algn="ctr">
              <a:lnSpc>
                <a:spcPts val="4720"/>
              </a:lnSpc>
            </a:pPr>
            <a:r>
              <a:rPr lang="en-US" sz="3600" b="1" i="1" dirty="0"/>
              <a:t>“I have a number of physical disabilities,</a:t>
            </a:r>
            <a:br>
              <a:rPr lang="en-US" sz="3600" b="1" i="1" dirty="0"/>
            </a:br>
            <a:r>
              <a:rPr lang="en-US" sz="3600" b="1" i="1" dirty="0"/>
              <a:t>and I have no preference.</a:t>
            </a:r>
            <a:br>
              <a:rPr lang="en-US" sz="3600" b="1" i="1" dirty="0"/>
            </a:br>
            <a:r>
              <a:rPr lang="en-US" sz="3600" b="1" i="1" dirty="0"/>
              <a:t>What matters to me is that the surrounding conversation indicates that whoever I’m talking with sees me as a person and respects me</a:t>
            </a:r>
            <a:br>
              <a:rPr lang="en-US" sz="3600" b="1" i="1" dirty="0"/>
            </a:br>
            <a:r>
              <a:rPr lang="en-US" sz="3600" b="1" i="1" dirty="0"/>
              <a:t>fully as such.”</a:t>
            </a:r>
            <a:endParaRPr lang="en-US" sz="3600" i="1" dirty="0"/>
          </a:p>
        </p:txBody>
      </p:sp>
      <p:sp>
        <p:nvSpPr>
          <p:cNvPr id="3" name="Content Placeholder 2">
            <a:extLst>
              <a:ext uri="{FF2B5EF4-FFF2-40B4-BE49-F238E27FC236}">
                <a16:creationId xmlns:a16="http://schemas.microsoft.com/office/drawing/2014/main" id="{ED04A4CE-3706-9441-AB37-5F350ADE1A25}"/>
              </a:ext>
            </a:extLst>
          </p:cNvPr>
          <p:cNvSpPr>
            <a:spLocks noGrp="1"/>
          </p:cNvSpPr>
          <p:nvPr>
            <p:ph idx="1"/>
          </p:nvPr>
        </p:nvSpPr>
        <p:spPr>
          <a:xfrm>
            <a:off x="8671035" y="5462752"/>
            <a:ext cx="2932386" cy="709448"/>
          </a:xfrm>
        </p:spPr>
        <p:txBody>
          <a:bodyPr>
            <a:noAutofit/>
          </a:bodyPr>
          <a:lstStyle/>
          <a:p>
            <a:r>
              <a:rPr lang="en-US" sz="2800" dirty="0"/>
              <a:t>Irina Greenman</a:t>
            </a:r>
          </a:p>
        </p:txBody>
      </p:sp>
      <p:pic>
        <p:nvPicPr>
          <p:cNvPr id="5" name="Picture 4">
            <a:extLst>
              <a:ext uri="{FF2B5EF4-FFF2-40B4-BE49-F238E27FC236}">
                <a16:creationId xmlns:a16="http://schemas.microsoft.com/office/drawing/2014/main" id="{231B93AD-34E1-B545-B4EE-0BDE9552B99F}"/>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763407" y="4288220"/>
            <a:ext cx="1797269" cy="2396359"/>
          </a:xfrm>
          <a:prstGeom prst="rect">
            <a:avLst/>
          </a:prstGeom>
        </p:spPr>
      </p:pic>
      <p:sp>
        <p:nvSpPr>
          <p:cNvPr id="6" name="Slide Number Placeholder 5">
            <a:extLst>
              <a:ext uri="{FF2B5EF4-FFF2-40B4-BE49-F238E27FC236}">
                <a16:creationId xmlns:a16="http://schemas.microsoft.com/office/drawing/2014/main" id="{AA306DC9-6C57-B647-B75F-3DE1F439EED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ＭＳ Ｐゴシック" panose="020B0600070205080204" pitchFamily="34"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ＭＳ Ｐゴシック" panose="020B0600070205080204" pitchFamily="34" charset="-128"/>
              <a:cs typeface="+mn-cs"/>
            </a:endParaRPr>
          </a:p>
        </p:txBody>
      </p:sp>
    </p:spTree>
    <p:extLst>
      <p:ext uri="{BB962C8B-B14F-4D97-AF65-F5344CB8AC3E}">
        <p14:creationId xmlns:p14="http://schemas.microsoft.com/office/powerpoint/2010/main" val="2391539370"/>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1DE9-F76D-7545-8A2F-D5E341249D94}"/>
              </a:ext>
            </a:extLst>
          </p:cNvPr>
          <p:cNvSpPr>
            <a:spLocks noGrp="1"/>
          </p:cNvSpPr>
          <p:nvPr>
            <p:ph type="title"/>
          </p:nvPr>
        </p:nvSpPr>
        <p:spPr/>
        <p:txBody>
          <a:bodyPr/>
          <a:lstStyle/>
          <a:p>
            <a:pPr algn="ctr"/>
            <a:r>
              <a:rPr lang="en-US" b="1" i="1" dirty="0"/>
              <a:t>The Best Term to Use to Describe Someone With a Disability?</a:t>
            </a:r>
          </a:p>
        </p:txBody>
      </p:sp>
      <p:sp>
        <p:nvSpPr>
          <p:cNvPr id="4" name="Title 1">
            <a:extLst>
              <a:ext uri="{FF2B5EF4-FFF2-40B4-BE49-F238E27FC236}">
                <a16:creationId xmlns:a16="http://schemas.microsoft.com/office/drawing/2014/main" id="{B1C78A51-DCF5-044C-99C0-CFA1467A6B4A}"/>
              </a:ext>
            </a:extLst>
          </p:cNvPr>
          <p:cNvSpPr txBox="1">
            <a:spLocks/>
          </p:cNvSpPr>
          <p:nvPr/>
        </p:nvSpPr>
        <p:spPr>
          <a:xfrm>
            <a:off x="2632841" y="3644461"/>
            <a:ext cx="7346732" cy="1485900"/>
          </a:xfrm>
          <a:prstGeom prst="rect">
            <a:avLst/>
          </a:prstGeom>
        </p:spPr>
        <p:txBody>
          <a:bodyPr vert="horz" lIns="91440" tIns="45720" rIns="91440" bIns="45720" rtlCol="0" anchor="t">
            <a:no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marL="0" marR="0" lvl="0" indent="0" algn="ctr" defTabSz="914400" rtl="0" eaLnBrk="1" fontAlgn="auto" latinLnBrk="0" hangingPunct="1">
              <a:lnSpc>
                <a:spcPct val="89000"/>
              </a:lnSpc>
              <a:spcBef>
                <a:spcPct val="0"/>
              </a:spcBef>
              <a:spcAft>
                <a:spcPts val="0"/>
              </a:spcAft>
              <a:buClrTx/>
              <a:buSzTx/>
              <a:buFontTx/>
              <a:buNone/>
              <a:tabLst/>
              <a:defRPr/>
            </a:pPr>
            <a:r>
              <a:rPr kumimoji="0" lang="en-US" sz="9600" b="1" i="0" u="none" strike="noStrike" kern="1200" cap="none" spc="0" normalizeH="0" baseline="0" noProof="0" dirty="0">
                <a:ln w="0"/>
                <a:gradFill>
                  <a:gsLst>
                    <a:gs pos="0">
                      <a:srgbClr val="77A2BB">
                        <a:lumMod val="50000"/>
                      </a:srgbClr>
                    </a:gs>
                    <a:gs pos="50000">
                      <a:srgbClr val="77A2BB"/>
                    </a:gs>
                    <a:gs pos="100000">
                      <a:srgbClr val="77A2BB">
                        <a:lumMod val="60000"/>
                        <a:lumOff val="40000"/>
                      </a:srgbClr>
                    </a:gs>
                  </a:gsLst>
                  <a:lin ang="5400000"/>
                </a:gradFill>
                <a:effectLst>
                  <a:reflection blurRad="6350" stA="53000" endA="300" endPos="35500" dir="5400000" sy="-90000" algn="bl" rotWithShape="0"/>
                </a:effectLst>
                <a:uLnTx/>
                <a:uFillTx/>
                <a:latin typeface="Franklin Gothic Book" panose="020B0503020102020204"/>
                <a:ea typeface="+mj-ea"/>
                <a:cs typeface="+mj-cs"/>
              </a:rPr>
              <a:t>Their Name</a:t>
            </a:r>
          </a:p>
        </p:txBody>
      </p:sp>
      <p:sp>
        <p:nvSpPr>
          <p:cNvPr id="5" name="Slide Number Placeholder 4">
            <a:extLst>
              <a:ext uri="{FF2B5EF4-FFF2-40B4-BE49-F238E27FC236}">
                <a16:creationId xmlns:a16="http://schemas.microsoft.com/office/drawing/2014/main" id="{A12B1465-5F0E-1C45-B1F4-9FD2586CD5A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ＭＳ Ｐゴシック" panose="020B0600070205080204" pitchFamily="34"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ＭＳ Ｐゴシック" panose="020B0600070205080204" pitchFamily="34" charset="-128"/>
              <a:cs typeface="+mn-cs"/>
            </a:endParaRPr>
          </a:p>
        </p:txBody>
      </p:sp>
    </p:spTree>
    <p:extLst>
      <p:ext uri="{BB962C8B-B14F-4D97-AF65-F5344CB8AC3E}">
        <p14:creationId xmlns:p14="http://schemas.microsoft.com/office/powerpoint/2010/main" val="381750273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90FA5A-750E-3B4C-A8BA-88123D3BAF3F}"/>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56</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pic>
        <p:nvPicPr>
          <p:cNvPr id="6" name="Picture 5">
            <a:extLst>
              <a:ext uri="{FF2B5EF4-FFF2-40B4-BE49-F238E27FC236}">
                <a16:creationId xmlns:a16="http://schemas.microsoft.com/office/drawing/2014/main" id="{0316A2D4-58F0-7F41-A87D-370ED5C8F7C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167634" y="0"/>
            <a:ext cx="5856732" cy="6858000"/>
          </a:xfrm>
          <a:prstGeom prst="rect">
            <a:avLst/>
          </a:prstGeom>
        </p:spPr>
      </p:pic>
    </p:spTree>
    <p:extLst>
      <p:ext uri="{BB962C8B-B14F-4D97-AF65-F5344CB8AC3E}">
        <p14:creationId xmlns:p14="http://schemas.microsoft.com/office/powerpoint/2010/main" val="1990408376"/>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4B84C-61DD-5BFD-96BA-C0DDCE88491D}"/>
              </a:ext>
            </a:extLst>
          </p:cNvPr>
          <p:cNvSpPr>
            <a:spLocks noGrp="1"/>
          </p:cNvSpPr>
          <p:nvPr>
            <p:ph type="title"/>
          </p:nvPr>
        </p:nvSpPr>
        <p:spPr>
          <a:xfrm>
            <a:off x="152400" y="445296"/>
            <a:ext cx="12801600" cy="990600"/>
          </a:xfrm>
        </p:spPr>
        <p:txBody>
          <a:bodyPr>
            <a:normAutofit fontScale="90000"/>
          </a:bodyPr>
          <a:lstStyle/>
          <a:p>
            <a:r>
              <a:rPr lang="en-US" b="1" cap="small" dirty="0"/>
              <a:t>Creating a culture of welcoming people with disabilities</a:t>
            </a:r>
          </a:p>
        </p:txBody>
      </p:sp>
      <p:sp>
        <p:nvSpPr>
          <p:cNvPr id="4" name="Slide Number Placeholder 3">
            <a:extLst>
              <a:ext uri="{FF2B5EF4-FFF2-40B4-BE49-F238E27FC236}">
                <a16:creationId xmlns:a16="http://schemas.microsoft.com/office/drawing/2014/main" id="{515329B0-68D8-DB2A-8F4C-54E82958280F}"/>
              </a:ext>
            </a:extLst>
          </p:cNvPr>
          <p:cNvSpPr>
            <a:spLocks noGrp="1"/>
          </p:cNvSpPr>
          <p:nvPr>
            <p:ph type="sldNum" sz="quarter" idx="12"/>
          </p:nvPr>
        </p:nvSpPr>
        <p:spPr/>
        <p:txBody>
          <a:bodyPr/>
          <a:lstStyle/>
          <a:p>
            <a:pPr>
              <a:defRPr/>
            </a:pPr>
            <a:fld id="{6DFFECAE-5558-FC4F-A5D5-814DD6134961}" type="slidenum">
              <a:rPr lang="en-US" altLang="en-US" smtClean="0"/>
              <a:pPr>
                <a:defRPr/>
              </a:pPr>
              <a:t>57</a:t>
            </a:fld>
            <a:endParaRPr lang="en-US" altLang="en-US"/>
          </a:p>
        </p:txBody>
      </p:sp>
      <p:sp>
        <p:nvSpPr>
          <p:cNvPr id="5" name="Content Placeholder 2">
            <a:extLst>
              <a:ext uri="{FF2B5EF4-FFF2-40B4-BE49-F238E27FC236}">
                <a16:creationId xmlns:a16="http://schemas.microsoft.com/office/drawing/2014/main" id="{C875FA07-9057-9B49-13F1-8EE2118ECE42}"/>
              </a:ext>
            </a:extLst>
          </p:cNvPr>
          <p:cNvSpPr>
            <a:spLocks noGrp="1"/>
          </p:cNvSpPr>
          <p:nvPr>
            <p:ph idx="1"/>
          </p:nvPr>
        </p:nvSpPr>
        <p:spPr>
          <a:xfrm>
            <a:off x="457200" y="1473996"/>
            <a:ext cx="8349343" cy="5148264"/>
          </a:xfrm>
        </p:spPr>
        <p:txBody>
          <a:bodyPr/>
          <a:lstStyle/>
          <a:p>
            <a:pPr marL="457200" indent="-457200">
              <a:spcBef>
                <a:spcPts val="1128"/>
              </a:spcBef>
              <a:buFont typeface="+mj-lt"/>
              <a:buAutoNum type="arabicPeriod"/>
              <a:defRPr/>
            </a:pPr>
            <a:r>
              <a:rPr lang="en-US" b="1" dirty="0"/>
              <a:t>Anticipate </a:t>
            </a:r>
            <a:r>
              <a:rPr lang="en-US" dirty="0"/>
              <a:t>needs.</a:t>
            </a:r>
          </a:p>
          <a:p>
            <a:pPr marL="457200" indent="-457200">
              <a:spcBef>
                <a:spcPts val="1128"/>
              </a:spcBef>
              <a:buFont typeface="+mj-lt"/>
              <a:buAutoNum type="arabicPeriod"/>
              <a:defRPr/>
            </a:pPr>
            <a:r>
              <a:rPr lang="en-US" b="1" dirty="0"/>
              <a:t>Everyone asked </a:t>
            </a:r>
            <a:r>
              <a:rPr lang="en-US" dirty="0"/>
              <a:t>about support and accommodation needs.</a:t>
            </a:r>
          </a:p>
          <a:p>
            <a:pPr marL="457200" indent="-457200">
              <a:spcBef>
                <a:spcPts val="1128"/>
              </a:spcBef>
              <a:buFont typeface="+mj-lt"/>
              <a:buAutoNum type="arabicPeriod"/>
              <a:defRPr/>
            </a:pPr>
            <a:r>
              <a:rPr lang="en-US" dirty="0"/>
              <a:t>Disability-specific information to everyone.</a:t>
            </a:r>
          </a:p>
          <a:p>
            <a:pPr marL="457200" indent="-457200">
              <a:spcBef>
                <a:spcPts val="1128"/>
              </a:spcBef>
              <a:buFont typeface="+mj-lt"/>
              <a:buAutoNum type="arabicPeriod"/>
              <a:defRPr/>
            </a:pPr>
            <a:r>
              <a:rPr lang="en-US" dirty="0"/>
              <a:t>Maintain and respect </a:t>
            </a:r>
            <a:r>
              <a:rPr lang="en-US" b="1" dirty="0"/>
              <a:t>confidentiality.</a:t>
            </a:r>
          </a:p>
          <a:p>
            <a:pPr marL="457200" indent="-457200">
              <a:spcBef>
                <a:spcPts val="1128"/>
              </a:spcBef>
              <a:buFont typeface="+mj-lt"/>
              <a:buAutoNum type="arabicPeriod"/>
              <a:defRPr/>
            </a:pPr>
            <a:r>
              <a:rPr lang="en-US" dirty="0"/>
              <a:t>Address both </a:t>
            </a:r>
            <a:r>
              <a:rPr lang="en-US" b="1" dirty="0"/>
              <a:t>in-person and online </a:t>
            </a:r>
            <a:r>
              <a:rPr lang="en-US" dirty="0"/>
              <a:t>interactions.</a:t>
            </a:r>
          </a:p>
          <a:p>
            <a:pPr marL="457200" indent="-457200">
              <a:spcBef>
                <a:spcPts val="1128"/>
              </a:spcBef>
              <a:buFont typeface="+mj-lt"/>
              <a:buAutoNum type="arabicPeriod"/>
              <a:defRPr/>
            </a:pPr>
            <a:r>
              <a:rPr lang="en-US" b="1" dirty="0"/>
              <a:t>Integrate consideration of disability issues </a:t>
            </a:r>
            <a:r>
              <a:rPr lang="en-US" dirty="0"/>
              <a:t>into overall discussions of policy, planning, and activities.</a:t>
            </a:r>
          </a:p>
          <a:p>
            <a:pPr marL="457200" indent="-457200">
              <a:spcBef>
                <a:spcPts val="1128"/>
              </a:spcBef>
              <a:buFont typeface="+mj-lt"/>
              <a:buAutoNum type="arabicPeriod"/>
              <a:defRPr/>
            </a:pPr>
            <a:r>
              <a:rPr lang="en-US" b="1" dirty="0"/>
              <a:t>Engage disability community </a:t>
            </a:r>
            <a:r>
              <a:rPr lang="en-US" dirty="0"/>
              <a:t>in process of evaluation and enhancing accessibility.</a:t>
            </a:r>
          </a:p>
          <a:p>
            <a:pPr marL="457200" indent="-457200">
              <a:spcBef>
                <a:spcPts val="1128"/>
              </a:spcBef>
              <a:buFont typeface="+mj-lt"/>
              <a:buAutoNum type="arabicPeriod"/>
              <a:defRPr/>
            </a:pPr>
            <a:r>
              <a:rPr lang="en-US" dirty="0"/>
              <a:t>Process </a:t>
            </a:r>
            <a:r>
              <a:rPr lang="en-US" b="1" dirty="0"/>
              <a:t>never ends.</a:t>
            </a:r>
          </a:p>
        </p:txBody>
      </p:sp>
      <p:pic>
        <p:nvPicPr>
          <p:cNvPr id="6" name="Picture 5">
            <a:extLst>
              <a:ext uri="{FF2B5EF4-FFF2-40B4-BE49-F238E27FC236}">
                <a16:creationId xmlns:a16="http://schemas.microsoft.com/office/drawing/2014/main" id="{375E385F-6A3C-3AE5-FEA8-4DCE02FF8E97}"/>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8429066" y="1370921"/>
            <a:ext cx="3305734" cy="1905000"/>
          </a:xfrm>
          <a:prstGeom prst="rect">
            <a:avLst/>
          </a:prstGeom>
        </p:spPr>
      </p:pic>
      <p:pic>
        <p:nvPicPr>
          <p:cNvPr id="8" name="Picture 7">
            <a:extLst>
              <a:ext uri="{FF2B5EF4-FFF2-40B4-BE49-F238E27FC236}">
                <a16:creationId xmlns:a16="http://schemas.microsoft.com/office/drawing/2014/main" id="{EF204D8F-A095-B06B-9BFF-8E495481D13A}"/>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8763000" y="4624501"/>
            <a:ext cx="1828800" cy="2233499"/>
          </a:xfrm>
          <a:prstGeom prst="rect">
            <a:avLst/>
          </a:prstGeom>
        </p:spPr>
      </p:pic>
      <p:pic>
        <p:nvPicPr>
          <p:cNvPr id="10" name="Picture 9">
            <a:extLst>
              <a:ext uri="{FF2B5EF4-FFF2-40B4-BE49-F238E27FC236}">
                <a16:creationId xmlns:a16="http://schemas.microsoft.com/office/drawing/2014/main" id="{AF8D41C1-0AEE-292B-AEF3-05C02F292F76}"/>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l="-5"/>
          <a:stretch/>
        </p:blipFill>
        <p:spPr>
          <a:xfrm>
            <a:off x="10210800" y="3199721"/>
            <a:ext cx="1676400" cy="1600879"/>
          </a:xfrm>
          <a:prstGeom prst="rect">
            <a:avLst/>
          </a:prstGeom>
        </p:spPr>
      </p:pic>
    </p:spTree>
    <p:extLst>
      <p:ext uri="{BB962C8B-B14F-4D97-AF65-F5344CB8AC3E}">
        <p14:creationId xmlns:p14="http://schemas.microsoft.com/office/powerpoint/2010/main" val="2431766468"/>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972E40D6-0FC8-9B4C-B996-73620D3D2990}"/>
              </a:ext>
            </a:extLst>
          </p:cNvPr>
          <p:cNvSpPr>
            <a:spLocks noGrp="1" noChangeArrowheads="1"/>
          </p:cNvSpPr>
          <p:nvPr>
            <p:ph type="subTitle" idx="1"/>
          </p:nvPr>
        </p:nvSpPr>
        <p:spPr>
          <a:xfrm>
            <a:off x="1715777" y="248880"/>
            <a:ext cx="5772150" cy="6172200"/>
          </a:xfrm>
          <a:solidFill>
            <a:srgbClr val="0070C0"/>
          </a:solidFill>
          <a:scene3d>
            <a:camera prst="orthographicFront"/>
            <a:lightRig rig="threePt" dir="t"/>
          </a:scene3d>
          <a:sp3d>
            <a:bevelT prst="angle"/>
          </a:sp3d>
        </p:spPr>
        <p:txBody>
          <a:bodyPr vert="horz" lIns="67865" tIns="33338" rIns="67865" bIns="33338" rtlCol="0" anchor="ctr" anchorCtr="0">
            <a:noAutofit/>
          </a:bodyPr>
          <a:lstStyle/>
          <a:p>
            <a:pPr>
              <a:lnSpc>
                <a:spcPct val="100000"/>
              </a:lnSpc>
              <a:spcBef>
                <a:spcPts val="0"/>
              </a:spcBef>
            </a:pPr>
            <a:r>
              <a:rPr lang="en-US" sz="3600" dirty="0">
                <a:solidFill>
                  <a:schemeClr val="bg1"/>
                </a:solidFill>
              </a:rPr>
              <a:t>“The things we've been advocating are not just for a marginal group of people; they're for the</a:t>
            </a:r>
            <a:br>
              <a:rPr lang="en-US" sz="3600" dirty="0">
                <a:solidFill>
                  <a:schemeClr val="bg1"/>
                </a:solidFill>
              </a:rPr>
            </a:br>
            <a:r>
              <a:rPr lang="en-US" sz="3600" dirty="0">
                <a:solidFill>
                  <a:schemeClr val="bg1"/>
                </a:solidFill>
              </a:rPr>
              <a:t>society as a whole.</a:t>
            </a:r>
            <a:br>
              <a:rPr lang="en-US" sz="3600" dirty="0">
                <a:solidFill>
                  <a:schemeClr val="bg1"/>
                </a:solidFill>
              </a:rPr>
            </a:br>
            <a:r>
              <a:rPr lang="en-US" sz="3600" dirty="0">
                <a:solidFill>
                  <a:schemeClr val="bg1"/>
                </a:solidFill>
              </a:rPr>
              <a:t>Disability affects all of us.</a:t>
            </a:r>
            <a:br>
              <a:rPr lang="en-US" sz="3600" dirty="0">
                <a:solidFill>
                  <a:schemeClr val="bg1"/>
                </a:solidFill>
              </a:rPr>
            </a:br>
            <a:r>
              <a:rPr lang="en-US" sz="3600" dirty="0">
                <a:solidFill>
                  <a:schemeClr val="bg1"/>
                </a:solidFill>
              </a:rPr>
              <a:t>It's time that we normalize and accept it rather than perceive it to be at the margins of our society."</a:t>
            </a:r>
          </a:p>
        </p:txBody>
      </p:sp>
      <p:sp>
        <p:nvSpPr>
          <p:cNvPr id="4" name="TextBox 3">
            <a:extLst>
              <a:ext uri="{FF2B5EF4-FFF2-40B4-BE49-F238E27FC236}">
                <a16:creationId xmlns:a16="http://schemas.microsoft.com/office/drawing/2014/main" id="{76E39856-2251-114F-97EF-EDBF93E14C54}"/>
              </a:ext>
            </a:extLst>
          </p:cNvPr>
          <p:cNvSpPr txBox="1"/>
          <p:nvPr/>
        </p:nvSpPr>
        <p:spPr>
          <a:xfrm>
            <a:off x="8686800" y="5897860"/>
            <a:ext cx="2343150" cy="523220"/>
          </a:xfrm>
          <a:prstGeom prst="rect">
            <a:avLst/>
          </a:prstGeom>
          <a:noFill/>
        </p:spPr>
        <p:txBody>
          <a:bodyPr wrap="square" rtlCol="0">
            <a:spAutoFit/>
          </a:bodyPr>
          <a:lstStyle/>
          <a:p>
            <a:pPr defTabSz="342900" eaLnBrk="1" fontAlgn="auto" hangingPunct="1">
              <a:spcBef>
                <a:spcPts val="0"/>
              </a:spcBef>
              <a:spcAft>
                <a:spcPts val="0"/>
              </a:spcAft>
            </a:pPr>
            <a:r>
              <a:rPr lang="en-US" altLang="en-US" sz="1800" i="1" dirty="0">
                <a:solidFill>
                  <a:prstClr val="black"/>
                </a:solidFill>
                <a:latin typeface="Calibri" panose="020F0502020204030204"/>
                <a:ea typeface="Osaka" panose="020B0600000000000000" pitchFamily="34" charset="-128"/>
              </a:rPr>
              <a:t>- </a:t>
            </a:r>
            <a:r>
              <a:rPr lang="en-US" altLang="en-US" sz="2800" dirty="0">
                <a:solidFill>
                  <a:prstClr val="black"/>
                </a:solidFill>
                <a:latin typeface="Calibri" panose="020F0502020204030204"/>
                <a:ea typeface="Osaka" panose="020B0600000000000000" pitchFamily="34" charset="-128"/>
              </a:rPr>
              <a:t>Marca Bristo</a:t>
            </a:r>
            <a:endParaRPr lang="en-US" altLang="en-US" sz="2800" i="1" dirty="0">
              <a:solidFill>
                <a:prstClr val="black"/>
              </a:solidFill>
              <a:latin typeface="Calibri" panose="020F0502020204030204"/>
              <a:ea typeface="Osaka" panose="020B0600000000000000" pitchFamily="34" charset="-128"/>
            </a:endParaRPr>
          </a:p>
        </p:txBody>
      </p:sp>
      <p:pic>
        <p:nvPicPr>
          <p:cNvPr id="2" name="Picture 1">
            <a:extLst>
              <a:ext uri="{FF2B5EF4-FFF2-40B4-BE49-F238E27FC236}">
                <a16:creationId xmlns:a16="http://schemas.microsoft.com/office/drawing/2014/main" id="{6B0314D5-5EC7-5B74-241B-BFBD6850AA1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24800" y="3429000"/>
            <a:ext cx="3514725" cy="2354865"/>
          </a:xfrm>
          <a:prstGeom prst="rect">
            <a:avLst/>
          </a:prstGeom>
        </p:spPr>
      </p:pic>
      <p:sp>
        <p:nvSpPr>
          <p:cNvPr id="3" name="Slide Number Placeholder 2">
            <a:extLst>
              <a:ext uri="{FF2B5EF4-FFF2-40B4-BE49-F238E27FC236}">
                <a16:creationId xmlns:a16="http://schemas.microsoft.com/office/drawing/2014/main" id="{22419ED1-16DF-1A9C-9B80-F603E051FB63}"/>
              </a:ext>
            </a:extLst>
          </p:cNvPr>
          <p:cNvSpPr>
            <a:spLocks noGrp="1"/>
          </p:cNvSpPr>
          <p:nvPr>
            <p:ph type="sldNum" sz="quarter" idx="12"/>
          </p:nvPr>
        </p:nvSpPr>
        <p:spPr/>
        <p:txBody>
          <a:bodyPr/>
          <a:lstStyle/>
          <a:p>
            <a:fld id="{336471AC-7F5C-CF4F-A0B6-967C6D6622C3}" type="slidenum">
              <a:rPr lang="en-US" smtClean="0"/>
              <a:t>58</a:t>
            </a:fld>
            <a:endParaRPr lang="en-US"/>
          </a:p>
        </p:txBody>
      </p:sp>
    </p:spTree>
    <p:extLst>
      <p:ext uri="{BB962C8B-B14F-4D97-AF65-F5344CB8AC3E}">
        <p14:creationId xmlns:p14="http://schemas.microsoft.com/office/powerpoint/2010/main" val="2382795129"/>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Shape 30">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00979B61-600E-9577-C81C-1EE38CE3B4CD}"/>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1727" y="983891"/>
            <a:ext cx="3194500" cy="3993126"/>
          </a:xfrm>
          <a:prstGeom prst="rect">
            <a:avLst/>
          </a:prstGeom>
        </p:spPr>
      </p:pic>
      <p:sp>
        <p:nvSpPr>
          <p:cNvPr id="33" name="Freeform: Shape 32">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descr="ICI - Employment, Education, Community Life, Health Care.">
            <a:extLst>
              <a:ext uri="{FF2B5EF4-FFF2-40B4-BE49-F238E27FC236}">
                <a16:creationId xmlns:a16="http://schemas.microsoft.com/office/drawing/2014/main" id="{4EA04307-0027-47D0-3E85-E2683FEEF5B4}"/>
              </a:ext>
            </a:extLst>
          </p:cNvPr>
          <p:cNvPicPr>
            <a:picLocks noChangeAspect="1"/>
          </p:cNvPicPr>
          <p:nvPr/>
        </p:nvPicPr>
        <p:blipFill>
          <a:blip r:embed="rId3"/>
          <a:stretch>
            <a:fillRect/>
          </a:stretch>
        </p:blipFill>
        <p:spPr>
          <a:xfrm>
            <a:off x="6934200" y="1874579"/>
            <a:ext cx="3345234" cy="3190361"/>
          </a:xfrm>
          <a:prstGeom prst="rect">
            <a:avLst/>
          </a:prstGeom>
        </p:spPr>
      </p:pic>
      <p:sp>
        <p:nvSpPr>
          <p:cNvPr id="2" name="Title 1">
            <a:extLst>
              <a:ext uri="{FF2B5EF4-FFF2-40B4-BE49-F238E27FC236}">
                <a16:creationId xmlns:a16="http://schemas.microsoft.com/office/drawing/2014/main" id="{E11A6992-DD4D-499E-31C7-61731CFDEA9F}"/>
              </a:ext>
            </a:extLst>
          </p:cNvPr>
          <p:cNvSpPr>
            <a:spLocks noGrp="1"/>
          </p:cNvSpPr>
          <p:nvPr>
            <p:ph type="title"/>
          </p:nvPr>
        </p:nvSpPr>
        <p:spPr>
          <a:xfrm>
            <a:off x="457200" y="-1600200"/>
            <a:ext cx="10515600" cy="1325563"/>
          </a:xfrm>
        </p:spPr>
        <p:txBody>
          <a:bodyPr/>
          <a:lstStyle/>
          <a:p>
            <a:r>
              <a:rPr lang="en-US" dirty="0"/>
              <a:t>Thank you</a:t>
            </a:r>
          </a:p>
        </p:txBody>
      </p:sp>
      <p:sp>
        <p:nvSpPr>
          <p:cNvPr id="8" name="Slide Number Placeholder 7">
            <a:extLst>
              <a:ext uri="{FF2B5EF4-FFF2-40B4-BE49-F238E27FC236}">
                <a16:creationId xmlns:a16="http://schemas.microsoft.com/office/drawing/2014/main" id="{BD2174AD-9B66-F5E7-2FC7-5BE0C1BB54DF}"/>
              </a:ext>
            </a:extLst>
          </p:cNvPr>
          <p:cNvSpPr>
            <a:spLocks noGrp="1"/>
          </p:cNvSpPr>
          <p:nvPr>
            <p:ph type="sldNum" sz="quarter" idx="12"/>
          </p:nvPr>
        </p:nvSpPr>
        <p:spPr/>
        <p:txBody>
          <a:bodyPr/>
          <a:lstStyle/>
          <a:p>
            <a:fld id="{336471AC-7F5C-CF4F-A0B6-967C6D6622C3}" type="slidenum">
              <a:rPr lang="en-US" smtClean="0"/>
              <a:t>59</a:t>
            </a:fld>
            <a:endParaRPr lang="en-US"/>
          </a:p>
        </p:txBody>
      </p:sp>
    </p:spTree>
    <p:extLst>
      <p:ext uri="{BB962C8B-B14F-4D97-AF65-F5344CB8AC3E}">
        <p14:creationId xmlns:p14="http://schemas.microsoft.com/office/powerpoint/2010/main" val="2654527642"/>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3.xml><?xml version="1.0" encoding="utf-8"?>
<a:theme xmlns:a="http://schemas.openxmlformats.org/drawingml/2006/main" name="1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4.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Clarity.thmx</Template>
  <TotalTime>9404</TotalTime>
  <Pages>18</Pages>
  <Words>2643</Words>
  <Application>Microsoft Macintosh PowerPoint</Application>
  <PresentationFormat>Widescreen</PresentationFormat>
  <Paragraphs>358</Paragraphs>
  <Slides>59</Slides>
  <Notes>7</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59</vt:i4>
      </vt:variant>
    </vt:vector>
  </HeadingPairs>
  <TitlesOfParts>
    <vt:vector size="76" baseType="lpstr">
      <vt:lpstr>ＭＳ Ｐゴシック</vt:lpstr>
      <vt:lpstr>Osaka</vt:lpstr>
      <vt:lpstr>Arial</vt:lpstr>
      <vt:lpstr>Arial Narrow</vt:lpstr>
      <vt:lpstr>Book Antiqua</vt:lpstr>
      <vt:lpstr>Calibri</vt:lpstr>
      <vt:lpstr>Calibri Light</vt:lpstr>
      <vt:lpstr>Chalkboard</vt:lpstr>
      <vt:lpstr>Franklin Gothic Book</vt:lpstr>
      <vt:lpstr>Gill Sans MT</vt:lpstr>
      <vt:lpstr>Merriweather Web</vt:lpstr>
      <vt:lpstr>Monotype Sorts</vt:lpstr>
      <vt:lpstr>Wingdings</vt:lpstr>
      <vt:lpstr>Clarity</vt:lpstr>
      <vt:lpstr>Office Theme</vt:lpstr>
      <vt:lpstr>1_Clarity</vt:lpstr>
      <vt:lpstr>Crop</vt:lpstr>
      <vt:lpstr> David Hoff Program Director Institute for Community Inclusion University of Massachusetts, Boston www.communityinclusion.org  Voice:  617-287-4308  E-mail: david.hoff@umb.edu </vt:lpstr>
      <vt:lpstr>PowerPoint Presentation</vt:lpstr>
      <vt:lpstr>PowerPoint Presentation</vt:lpstr>
      <vt:lpstr>PowerPoint Presentation</vt:lpstr>
      <vt:lpstr>PowerPoint Presentation</vt:lpstr>
      <vt:lpstr>What have been your experiences in providing municipal services to people with disabilities?</vt:lpstr>
      <vt:lpstr>Meeting the Needs of Residents with Disabilities: Core Principles</vt:lpstr>
      <vt:lpstr>Access to same services, programs, and services does not necessarily mean  accessing them in  the same way.</vt:lpstr>
      <vt:lpstr>Legal Requirements</vt:lpstr>
      <vt:lpstr>PowerPoint Presentation</vt:lpstr>
      <vt:lpstr>PowerPoint Presentation</vt:lpstr>
      <vt:lpstr>Is substance abuse a disability under the Americans with Disabilities Act?</vt:lpstr>
      <vt:lpstr>Americans with Disabilities Act (ADA) </vt:lpstr>
      <vt:lpstr>ADA Title II: Public Services</vt:lpstr>
      <vt:lpstr>ADA: TITLE II PUBLIC SERVICES</vt:lpstr>
      <vt:lpstr>ADA: TITLE II PUBLIC SERVICES</vt:lpstr>
      <vt:lpstr>What does ADA Title II apply to?</vt:lpstr>
      <vt:lpstr>Contracted Services</vt:lpstr>
      <vt:lpstr>Separate Services</vt:lpstr>
      <vt:lpstr>Asking About Disability</vt:lpstr>
      <vt:lpstr>More About Disability Inquiries Under Title II</vt:lpstr>
      <vt:lpstr>Guidelines for disability inquiries</vt:lpstr>
      <vt:lpstr>Emergency Preparedness</vt:lpstr>
      <vt:lpstr>Website and app accessibility</vt:lpstr>
      <vt:lpstr>Title II Administrative Requirements</vt:lpstr>
      <vt:lpstr>Reasonable  Modification/Accommodation  Requests</vt:lpstr>
      <vt:lpstr>Examples of Reasonable Accommodations/Modifications</vt:lpstr>
      <vt:lpstr>Best practices:  Requests for Modifications/Accommodations</vt:lpstr>
      <vt:lpstr>Handling Modification/Accommodation Requests</vt:lpstr>
      <vt:lpstr>Documentation of Disability</vt:lpstr>
      <vt:lpstr>Disability Accessibility Scenarios</vt:lpstr>
      <vt:lpstr>Best Practices</vt:lpstr>
      <vt:lpstr>“My disability exists not because I use a wheelchair, but because the broader environment  isn't accessible.”</vt:lpstr>
      <vt:lpstr>Universal Design</vt:lpstr>
      <vt:lpstr>PowerPoint Presentation</vt:lpstr>
      <vt:lpstr>Accessibility benefits everyone…</vt:lpstr>
      <vt:lpstr>Basics of universal communication</vt:lpstr>
      <vt:lpstr>Public Events</vt:lpstr>
      <vt:lpstr>Assistive Devices</vt:lpstr>
      <vt:lpstr>Discussion:   Applying Universal Design in Municipal Services</vt:lpstr>
      <vt:lpstr>Disability Etiquette and Guidelines</vt:lpstr>
      <vt:lpstr>“Disability only becomes a tragedy when society fails to provide the things we need to lead our lives — job opportunities or barrier-free buildings, for example. It is not a tragedy to me that I'm living in a wheelchair."  </vt:lpstr>
      <vt:lpstr>Basic Etiquette </vt:lpstr>
      <vt:lpstr>Overview of Different Disabilities</vt:lpstr>
      <vt:lpstr>Issues</vt:lpstr>
      <vt:lpstr>People who are neurodiverse</vt:lpstr>
      <vt:lpstr>Blind or Visually Impaired</vt:lpstr>
      <vt:lpstr>Deaf and Hard of Hearing</vt:lpstr>
      <vt:lpstr>Speech and Communication Disabilities</vt:lpstr>
      <vt:lpstr>Additional General Etiquette Tips </vt:lpstr>
      <vt:lpstr>Language Considerations</vt:lpstr>
      <vt:lpstr>Language Guide</vt:lpstr>
      <vt:lpstr>Language: People First vs. Identity First</vt:lpstr>
      <vt:lpstr>“I have a number of physical disabilities, and I have no preference. What matters to me is that the surrounding conversation indicates that whoever I’m talking with sees me as a person and respects me fully as such.”</vt:lpstr>
      <vt:lpstr>The Best Term to Use to Describe Someone With a Disability?</vt:lpstr>
      <vt:lpstr>PowerPoint Presentation</vt:lpstr>
      <vt:lpstr>Creating a culture of welcoming people with disabilities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AMERICAN’S WITH DISBAILITIES ACT (ADA)</dc:title>
  <dc:subject/>
  <dc:creator>Microsoft Select</dc:creator>
  <cp:keywords/>
  <dc:description/>
  <cp:lastModifiedBy>David Hoff</cp:lastModifiedBy>
  <cp:revision>268</cp:revision>
  <cp:lastPrinted>2019-03-21T02:22:29Z</cp:lastPrinted>
  <dcterms:created xsi:type="dcterms:W3CDTF">2009-01-30T12:45:21Z</dcterms:created>
  <dcterms:modified xsi:type="dcterms:W3CDTF">2025-12-19T13:42:54Z</dcterms:modified>
</cp:coreProperties>
</file>