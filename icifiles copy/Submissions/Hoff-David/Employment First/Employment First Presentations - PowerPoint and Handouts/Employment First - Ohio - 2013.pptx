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jpeg" ContentType="image/jpeg"/>
  <Default Extension="jpg" ContentType="image/jpeg"/>
  <Default Extension="emf" ContentType="image/x-emf"/>
  <Default Extension="rels" ContentType="application/vnd.openxmlformats-package.relationships+xml"/>
  <Default Extension="vml" ContentType="application/vnd.openxmlformats-officedocument.vmlDrawing"/>
  <Default Extension="gif" ContentType="image/gif"/>
  <Default Extension="xls" ContentType="application/vnd.ms-excel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embeddings/oleObject1.bin" ContentType="application/vnd.openxmlformats-officedocument.oleObject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09" r:id="rId1"/>
    <p:sldMasterId id="2147484248" r:id="rId2"/>
    <p:sldMasterId id="2147485491" r:id="rId3"/>
  </p:sldMasterIdLst>
  <p:notesMasterIdLst>
    <p:notesMasterId r:id="rId78"/>
  </p:notesMasterIdLst>
  <p:handoutMasterIdLst>
    <p:handoutMasterId r:id="rId79"/>
  </p:handoutMasterIdLst>
  <p:sldIdLst>
    <p:sldId id="540" r:id="rId4"/>
    <p:sldId id="550" r:id="rId5"/>
    <p:sldId id="624" r:id="rId6"/>
    <p:sldId id="625" r:id="rId7"/>
    <p:sldId id="628" r:id="rId8"/>
    <p:sldId id="629" r:id="rId9"/>
    <p:sldId id="630" r:id="rId10"/>
    <p:sldId id="631" r:id="rId11"/>
    <p:sldId id="632" r:id="rId12"/>
    <p:sldId id="633" r:id="rId13"/>
    <p:sldId id="634" r:id="rId14"/>
    <p:sldId id="635" r:id="rId15"/>
    <p:sldId id="690" r:id="rId16"/>
    <p:sldId id="737" r:id="rId17"/>
    <p:sldId id="738" r:id="rId18"/>
    <p:sldId id="733" r:id="rId19"/>
    <p:sldId id="725" r:id="rId20"/>
    <p:sldId id="691" r:id="rId21"/>
    <p:sldId id="693" r:id="rId22"/>
    <p:sldId id="684" r:id="rId23"/>
    <p:sldId id="685" r:id="rId24"/>
    <p:sldId id="688" r:id="rId25"/>
    <p:sldId id="728" r:id="rId26"/>
    <p:sldId id="699" r:id="rId27"/>
    <p:sldId id="703" r:id="rId28"/>
    <p:sldId id="719" r:id="rId29"/>
    <p:sldId id="704" r:id="rId30"/>
    <p:sldId id="701" r:id="rId31"/>
    <p:sldId id="705" r:id="rId32"/>
    <p:sldId id="695" r:id="rId33"/>
    <p:sldId id="731" r:id="rId34"/>
    <p:sldId id="706" r:id="rId35"/>
    <p:sldId id="707" r:id="rId36"/>
    <p:sldId id="714" r:id="rId37"/>
    <p:sldId id="720" r:id="rId38"/>
    <p:sldId id="721" r:id="rId39"/>
    <p:sldId id="722" r:id="rId40"/>
    <p:sldId id="723" r:id="rId41"/>
    <p:sldId id="708" r:id="rId42"/>
    <p:sldId id="709" r:id="rId43"/>
    <p:sldId id="678" r:id="rId44"/>
    <p:sldId id="711" r:id="rId45"/>
    <p:sldId id="726" r:id="rId46"/>
    <p:sldId id="712" r:id="rId47"/>
    <p:sldId id="732" r:id="rId48"/>
    <p:sldId id="713" r:id="rId49"/>
    <p:sldId id="642" r:id="rId50"/>
    <p:sldId id="724" r:id="rId51"/>
    <p:sldId id="636" r:id="rId52"/>
    <p:sldId id="597" r:id="rId53"/>
    <p:sldId id="520" r:id="rId54"/>
    <p:sldId id="280" r:id="rId55"/>
    <p:sldId id="549" r:id="rId56"/>
    <p:sldId id="551" r:id="rId57"/>
    <p:sldId id="734" r:id="rId58"/>
    <p:sldId id="735" r:id="rId59"/>
    <p:sldId id="528" r:id="rId60"/>
    <p:sldId id="620" r:id="rId61"/>
    <p:sldId id="529" r:id="rId62"/>
    <p:sldId id="739" r:id="rId63"/>
    <p:sldId id="740" r:id="rId64"/>
    <p:sldId id="741" r:id="rId65"/>
    <p:sldId id="578" r:id="rId66"/>
    <p:sldId id="576" r:id="rId67"/>
    <p:sldId id="577" r:id="rId68"/>
    <p:sldId id="717" r:id="rId69"/>
    <p:sldId id="718" r:id="rId70"/>
    <p:sldId id="663" r:id="rId71"/>
    <p:sldId id="675" r:id="rId72"/>
    <p:sldId id="575" r:id="rId73"/>
    <p:sldId id="727" r:id="rId74"/>
    <p:sldId id="622" r:id="rId75"/>
    <p:sldId id="669" r:id="rId76"/>
    <p:sldId id="594" r:id="rId7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CB56"/>
    <a:srgbClr val="FF0000"/>
    <a:srgbClr val="F90000"/>
    <a:srgbClr val="D27315"/>
    <a:srgbClr val="3A8289"/>
    <a:srgbClr val="1534AA"/>
    <a:srgbClr val="EA0000"/>
    <a:srgbClr val="E60E51"/>
    <a:srgbClr val="E94D0C"/>
    <a:srgbClr val="FFE5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8915" autoAdjust="0"/>
  </p:normalViewPr>
  <p:slideViewPr>
    <p:cSldViewPr>
      <p:cViewPr>
        <p:scale>
          <a:sx n="75" d="100"/>
          <a:sy n="75" d="100"/>
        </p:scale>
        <p:origin x="-1584" y="-9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2408"/>
    </p:cViewPr>
  </p:sorterViewPr>
  <p:notesViewPr>
    <p:cSldViewPr>
      <p:cViewPr varScale="1">
        <p:scale>
          <a:sx n="60" d="100"/>
          <a:sy n="60" d="100"/>
        </p:scale>
        <p:origin x="-2760" y="-12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80" Type="http://schemas.openxmlformats.org/officeDocument/2006/relationships/printerSettings" Target="printerSettings/printerSettings1.bin"/><Relationship Id="rId81" Type="http://schemas.openxmlformats.org/officeDocument/2006/relationships/presProps" Target="presProps.xml"/><Relationship Id="rId82" Type="http://schemas.openxmlformats.org/officeDocument/2006/relationships/viewProps" Target="viewProps.xml"/><Relationship Id="rId83" Type="http://schemas.openxmlformats.org/officeDocument/2006/relationships/theme" Target="theme/theme1.xml"/><Relationship Id="rId84" Type="http://schemas.openxmlformats.org/officeDocument/2006/relationships/tableStyles" Target="tableStyles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notesMaster" Target="notesMasters/notesMaster1.xml"/><Relationship Id="rId79" Type="http://schemas.openxmlformats.org/officeDocument/2006/relationships/handoutMaster" Target="handoutMasters/handoutMaster1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5B7B07D-2AF7-A348-881F-680ABFD08B5B}" type="doc">
      <dgm:prSet loTypeId="urn:microsoft.com/office/officeart/2005/8/layout/equation1" loCatId="" qsTypeId="urn:microsoft.com/office/officeart/2005/8/quickstyle/simple4" qsCatId="simple" csTypeId="urn:microsoft.com/office/officeart/2005/8/colors/accent1_2" csCatId="accent1" phldr="1"/>
      <dgm:spPr/>
    </dgm:pt>
    <dgm:pt modelId="{EF2F5B3F-601E-A549-9172-2CD5521A80F0}">
      <dgm:prSet phldrT="[Text]"/>
      <dgm:spPr>
        <a:solidFill>
          <a:srgbClr val="800040"/>
        </a:solidFill>
        <a:effectLst>
          <a:glow rad="228600">
            <a:schemeClr val="accent2">
              <a:satMod val="175000"/>
              <a:alpha val="40000"/>
            </a:schemeClr>
          </a:glow>
        </a:effectLst>
      </dgm:spPr>
      <dgm:t>
        <a:bodyPr/>
        <a:lstStyle/>
        <a:p>
          <a:r>
            <a:rPr lang="en-US" dirty="0" smtClean="0">
              <a:latin typeface="Times New Roman"/>
              <a:cs typeface="Times New Roman"/>
            </a:rPr>
            <a:t>People looking for work</a:t>
          </a:r>
          <a:endParaRPr lang="en-US" dirty="0">
            <a:latin typeface="Times New Roman"/>
            <a:cs typeface="Times New Roman"/>
          </a:endParaRPr>
        </a:p>
      </dgm:t>
    </dgm:pt>
    <dgm:pt modelId="{478F682D-206B-2446-A402-81D83F4891A0}" type="parTrans" cxnId="{308C0CE4-A116-EC49-8B22-8449D536620B}">
      <dgm:prSet/>
      <dgm:spPr/>
      <dgm:t>
        <a:bodyPr/>
        <a:lstStyle/>
        <a:p>
          <a:endParaRPr lang="en-US"/>
        </a:p>
      </dgm:t>
    </dgm:pt>
    <dgm:pt modelId="{5EB49407-15F0-2543-8972-D443AE8ED180}" type="sibTrans" cxnId="{308C0CE4-A116-EC49-8B22-8449D536620B}">
      <dgm:prSet/>
      <dgm:spPr>
        <a:solidFill>
          <a:schemeClr val="tx1"/>
        </a:solidFill>
      </dgm:spPr>
      <dgm:t>
        <a:bodyPr/>
        <a:lstStyle/>
        <a:p>
          <a:endParaRPr lang="en-US"/>
        </a:p>
      </dgm:t>
    </dgm:pt>
    <dgm:pt modelId="{AAAACA23-4A98-6C41-BF02-8A2E3D43FF6B}">
      <dgm:prSet phldrT="[Text]" custT="1"/>
      <dgm:spPr>
        <a:solidFill>
          <a:srgbClr val="800040"/>
        </a:solidFill>
        <a:effectLst>
          <a:glow rad="228600">
            <a:schemeClr val="accent2">
              <a:satMod val="175000"/>
              <a:alpha val="40000"/>
            </a:schemeClr>
          </a:glow>
        </a:effectLst>
      </dgm:spPr>
      <dgm:t>
        <a:bodyPr/>
        <a:lstStyle/>
        <a:p>
          <a:r>
            <a:rPr lang="en-US" sz="2200" dirty="0" smtClean="0">
              <a:solidFill>
                <a:schemeClr val="accent3"/>
              </a:solidFill>
              <a:latin typeface="Arial Narrow"/>
              <a:cs typeface="Arial Narrow"/>
            </a:rPr>
            <a:t>Employers willing to hire</a:t>
          </a:r>
          <a:endParaRPr lang="en-US" sz="2200" dirty="0">
            <a:solidFill>
              <a:schemeClr val="accent3"/>
            </a:solidFill>
            <a:latin typeface="Arial Narrow"/>
            <a:cs typeface="Arial Narrow"/>
          </a:endParaRPr>
        </a:p>
      </dgm:t>
    </dgm:pt>
    <dgm:pt modelId="{AD5E4961-4249-FF40-9A31-ABEFB576745B}" type="parTrans" cxnId="{67C49AFF-4788-C446-8B4D-C528C77BA038}">
      <dgm:prSet/>
      <dgm:spPr/>
      <dgm:t>
        <a:bodyPr/>
        <a:lstStyle/>
        <a:p>
          <a:endParaRPr lang="en-US"/>
        </a:p>
      </dgm:t>
    </dgm:pt>
    <dgm:pt modelId="{BF680FA1-BDC2-D24D-B4BC-CC24FE387185}" type="sibTrans" cxnId="{67C49AFF-4788-C446-8B4D-C528C77BA038}">
      <dgm:prSet/>
      <dgm:spPr>
        <a:solidFill>
          <a:schemeClr val="tx1"/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F83C2A84-E4D5-E240-8397-2F6E1A48D2AA}">
      <dgm:prSet phldrT="[Text]" custT="1"/>
      <dgm:spPr>
        <a:solidFill>
          <a:srgbClr val="E94D0C"/>
        </a:solidFill>
        <a:scene3d>
          <a:camera prst="orthographicFront"/>
          <a:lightRig rig="threePt" dir="t"/>
        </a:scene3d>
        <a:sp3d>
          <a:bevelT w="139700" h="139700" prst="divot"/>
        </a:sp3d>
      </dgm:spPr>
      <dgm:t>
        <a:bodyPr/>
        <a:lstStyle/>
        <a:p>
          <a:r>
            <a:rPr lang="en-US" sz="2800" dirty="0" smtClean="0">
              <a:latin typeface="Comic Sans MS"/>
              <a:cs typeface="Comic Sans MS"/>
            </a:rPr>
            <a:t>JOB!</a:t>
          </a:r>
          <a:endParaRPr lang="en-US" sz="2800" dirty="0">
            <a:latin typeface="Comic Sans MS"/>
            <a:cs typeface="Comic Sans MS"/>
          </a:endParaRPr>
        </a:p>
      </dgm:t>
    </dgm:pt>
    <dgm:pt modelId="{6B2328FB-BE36-DD45-A8CA-CDC399BD10A2}" type="parTrans" cxnId="{AE0BBE91-256D-4F41-9BBF-A27192516100}">
      <dgm:prSet/>
      <dgm:spPr/>
      <dgm:t>
        <a:bodyPr/>
        <a:lstStyle/>
        <a:p>
          <a:endParaRPr lang="en-US"/>
        </a:p>
      </dgm:t>
    </dgm:pt>
    <dgm:pt modelId="{006A7FFF-0381-C549-BFF9-8F417C62709C}" type="sibTrans" cxnId="{AE0BBE91-256D-4F41-9BBF-A27192516100}">
      <dgm:prSet/>
      <dgm:spPr/>
      <dgm:t>
        <a:bodyPr/>
        <a:lstStyle/>
        <a:p>
          <a:endParaRPr lang="en-US"/>
        </a:p>
      </dgm:t>
    </dgm:pt>
    <dgm:pt modelId="{71E4C9A5-DAD8-D64B-AF0A-1089FBF5192E}" type="pres">
      <dgm:prSet presAssocID="{F5B7B07D-2AF7-A348-881F-680ABFD08B5B}" presName="linearFlow" presStyleCnt="0">
        <dgm:presLayoutVars>
          <dgm:dir/>
          <dgm:resizeHandles val="exact"/>
        </dgm:presLayoutVars>
      </dgm:prSet>
      <dgm:spPr/>
    </dgm:pt>
    <dgm:pt modelId="{31DB2067-2536-DC44-A585-E302370F1EF5}" type="pres">
      <dgm:prSet presAssocID="{EF2F5B3F-601E-A549-9172-2CD5521A80F0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03C5F3E-6DBF-844C-880F-ACACF87BB0E2}" type="pres">
      <dgm:prSet presAssocID="{5EB49407-15F0-2543-8972-D443AE8ED180}" presName="spacerL" presStyleCnt="0"/>
      <dgm:spPr/>
    </dgm:pt>
    <dgm:pt modelId="{7E9605C1-F0AD-0C46-9BC9-5A00342DF874}" type="pres">
      <dgm:prSet presAssocID="{5EB49407-15F0-2543-8972-D443AE8ED180}" presName="sibTrans" presStyleLbl="sibTrans2D1" presStyleIdx="0" presStyleCnt="2"/>
      <dgm:spPr/>
      <dgm:t>
        <a:bodyPr/>
        <a:lstStyle/>
        <a:p>
          <a:endParaRPr lang="en-US"/>
        </a:p>
      </dgm:t>
    </dgm:pt>
    <dgm:pt modelId="{9B72AC57-66C6-C140-AA4E-21228C94747D}" type="pres">
      <dgm:prSet presAssocID="{5EB49407-15F0-2543-8972-D443AE8ED180}" presName="spacerR" presStyleCnt="0"/>
      <dgm:spPr/>
    </dgm:pt>
    <dgm:pt modelId="{E003ACFF-188A-D846-B32C-67EC28538E81}" type="pres">
      <dgm:prSet presAssocID="{AAAACA23-4A98-6C41-BF02-8A2E3D43FF6B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1602248-A168-DD43-847E-DC96D1B7327F}" type="pres">
      <dgm:prSet presAssocID="{BF680FA1-BDC2-D24D-B4BC-CC24FE387185}" presName="spacerL" presStyleCnt="0"/>
      <dgm:spPr/>
    </dgm:pt>
    <dgm:pt modelId="{9C0ED7D4-E3C4-AF4A-AB68-35C176E600B5}" type="pres">
      <dgm:prSet presAssocID="{BF680FA1-BDC2-D24D-B4BC-CC24FE387185}" presName="sibTrans" presStyleLbl="sibTrans2D1" presStyleIdx="1" presStyleCnt="2"/>
      <dgm:spPr/>
      <dgm:t>
        <a:bodyPr/>
        <a:lstStyle/>
        <a:p>
          <a:endParaRPr lang="en-US"/>
        </a:p>
      </dgm:t>
    </dgm:pt>
    <dgm:pt modelId="{647E59C1-D07A-9A40-B962-326065D2525A}" type="pres">
      <dgm:prSet presAssocID="{BF680FA1-BDC2-D24D-B4BC-CC24FE387185}" presName="spacerR" presStyleCnt="0"/>
      <dgm:spPr/>
    </dgm:pt>
    <dgm:pt modelId="{16423CF3-9D23-294E-A4DB-378A3A8F265D}" type="pres">
      <dgm:prSet presAssocID="{F83C2A84-E4D5-E240-8397-2F6E1A48D2AA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AB2F9C0-4582-3943-9565-22BFB1A38F23}" type="presOf" srcId="{EF2F5B3F-601E-A549-9172-2CD5521A80F0}" destId="{31DB2067-2536-DC44-A585-E302370F1EF5}" srcOrd="0" destOrd="0" presId="urn:microsoft.com/office/officeart/2005/8/layout/equation1"/>
    <dgm:cxn modelId="{C7CDE757-DDED-B944-A4BF-46FEDC9088C5}" type="presOf" srcId="{BF680FA1-BDC2-D24D-B4BC-CC24FE387185}" destId="{9C0ED7D4-E3C4-AF4A-AB68-35C176E600B5}" srcOrd="0" destOrd="0" presId="urn:microsoft.com/office/officeart/2005/8/layout/equation1"/>
    <dgm:cxn modelId="{67C49AFF-4788-C446-8B4D-C528C77BA038}" srcId="{F5B7B07D-2AF7-A348-881F-680ABFD08B5B}" destId="{AAAACA23-4A98-6C41-BF02-8A2E3D43FF6B}" srcOrd="1" destOrd="0" parTransId="{AD5E4961-4249-FF40-9A31-ABEFB576745B}" sibTransId="{BF680FA1-BDC2-D24D-B4BC-CC24FE387185}"/>
    <dgm:cxn modelId="{4260CD62-D062-2A45-B8A5-028E1E4BE19D}" type="presOf" srcId="{F83C2A84-E4D5-E240-8397-2F6E1A48D2AA}" destId="{16423CF3-9D23-294E-A4DB-378A3A8F265D}" srcOrd="0" destOrd="0" presId="urn:microsoft.com/office/officeart/2005/8/layout/equation1"/>
    <dgm:cxn modelId="{E11ADB68-A5B0-C841-8A23-A0C61EFFB23E}" type="presOf" srcId="{AAAACA23-4A98-6C41-BF02-8A2E3D43FF6B}" destId="{E003ACFF-188A-D846-B32C-67EC28538E81}" srcOrd="0" destOrd="0" presId="urn:microsoft.com/office/officeart/2005/8/layout/equation1"/>
    <dgm:cxn modelId="{308C0CE4-A116-EC49-8B22-8449D536620B}" srcId="{F5B7B07D-2AF7-A348-881F-680ABFD08B5B}" destId="{EF2F5B3F-601E-A549-9172-2CD5521A80F0}" srcOrd="0" destOrd="0" parTransId="{478F682D-206B-2446-A402-81D83F4891A0}" sibTransId="{5EB49407-15F0-2543-8972-D443AE8ED180}"/>
    <dgm:cxn modelId="{74B8D515-21FF-3848-B3B1-CB81ADD6C3F1}" type="presOf" srcId="{F5B7B07D-2AF7-A348-881F-680ABFD08B5B}" destId="{71E4C9A5-DAD8-D64B-AF0A-1089FBF5192E}" srcOrd="0" destOrd="0" presId="urn:microsoft.com/office/officeart/2005/8/layout/equation1"/>
    <dgm:cxn modelId="{AE0BBE91-256D-4F41-9BBF-A27192516100}" srcId="{F5B7B07D-2AF7-A348-881F-680ABFD08B5B}" destId="{F83C2A84-E4D5-E240-8397-2F6E1A48D2AA}" srcOrd="2" destOrd="0" parTransId="{6B2328FB-BE36-DD45-A8CA-CDC399BD10A2}" sibTransId="{006A7FFF-0381-C549-BFF9-8F417C62709C}"/>
    <dgm:cxn modelId="{8C62FD7D-2BE1-F84A-B54C-CFFE185933BD}" type="presOf" srcId="{5EB49407-15F0-2543-8972-D443AE8ED180}" destId="{7E9605C1-F0AD-0C46-9BC9-5A00342DF874}" srcOrd="0" destOrd="0" presId="urn:microsoft.com/office/officeart/2005/8/layout/equation1"/>
    <dgm:cxn modelId="{7429B819-60C3-084A-B60D-4543E4D6D137}" type="presParOf" srcId="{71E4C9A5-DAD8-D64B-AF0A-1089FBF5192E}" destId="{31DB2067-2536-DC44-A585-E302370F1EF5}" srcOrd="0" destOrd="0" presId="urn:microsoft.com/office/officeart/2005/8/layout/equation1"/>
    <dgm:cxn modelId="{89FDD152-F06E-384A-83FB-AC1E9BA567FA}" type="presParOf" srcId="{71E4C9A5-DAD8-D64B-AF0A-1089FBF5192E}" destId="{B03C5F3E-6DBF-844C-880F-ACACF87BB0E2}" srcOrd="1" destOrd="0" presId="urn:microsoft.com/office/officeart/2005/8/layout/equation1"/>
    <dgm:cxn modelId="{91F1880C-6DD3-BD44-BB6C-9D0ECB457150}" type="presParOf" srcId="{71E4C9A5-DAD8-D64B-AF0A-1089FBF5192E}" destId="{7E9605C1-F0AD-0C46-9BC9-5A00342DF874}" srcOrd="2" destOrd="0" presId="urn:microsoft.com/office/officeart/2005/8/layout/equation1"/>
    <dgm:cxn modelId="{B7EBC9C6-0E7C-2544-8157-FDF4C0C5022F}" type="presParOf" srcId="{71E4C9A5-DAD8-D64B-AF0A-1089FBF5192E}" destId="{9B72AC57-66C6-C140-AA4E-21228C94747D}" srcOrd="3" destOrd="0" presId="urn:microsoft.com/office/officeart/2005/8/layout/equation1"/>
    <dgm:cxn modelId="{68D75F7A-2F69-D84F-A1C6-0618A37BDD08}" type="presParOf" srcId="{71E4C9A5-DAD8-D64B-AF0A-1089FBF5192E}" destId="{E003ACFF-188A-D846-B32C-67EC28538E81}" srcOrd="4" destOrd="0" presId="urn:microsoft.com/office/officeart/2005/8/layout/equation1"/>
    <dgm:cxn modelId="{6F52D916-994F-4C4E-8F8A-7CA2A3D43885}" type="presParOf" srcId="{71E4C9A5-DAD8-D64B-AF0A-1089FBF5192E}" destId="{11602248-A168-DD43-847E-DC96D1B7327F}" srcOrd="5" destOrd="0" presId="urn:microsoft.com/office/officeart/2005/8/layout/equation1"/>
    <dgm:cxn modelId="{79B3E532-1F12-FA4C-9806-234FCF1F62EE}" type="presParOf" srcId="{71E4C9A5-DAD8-D64B-AF0A-1089FBF5192E}" destId="{9C0ED7D4-E3C4-AF4A-AB68-35C176E600B5}" srcOrd="6" destOrd="0" presId="urn:microsoft.com/office/officeart/2005/8/layout/equation1"/>
    <dgm:cxn modelId="{0BDA2A8B-135D-314C-B218-2CEEC4E63641}" type="presParOf" srcId="{71E4C9A5-DAD8-D64B-AF0A-1089FBF5192E}" destId="{647E59C1-D07A-9A40-B962-326065D2525A}" srcOrd="7" destOrd="0" presId="urn:microsoft.com/office/officeart/2005/8/layout/equation1"/>
    <dgm:cxn modelId="{2CCC6411-DC7D-334B-AD46-B530B7B2E6BE}" type="presParOf" srcId="{71E4C9A5-DAD8-D64B-AF0A-1089FBF5192E}" destId="{16423CF3-9D23-294E-A4DB-378A3A8F265D}" srcOrd="8" destOrd="0" presId="urn:microsoft.com/office/officeart/2005/8/layout/equati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DB2067-2536-DC44-A585-E302370F1EF5}">
      <dsp:nvSpPr>
        <dsp:cNvPr id="0" name=""/>
        <dsp:cNvSpPr/>
      </dsp:nvSpPr>
      <dsp:spPr>
        <a:xfrm>
          <a:off x="1307" y="1191164"/>
          <a:ext cx="1732470" cy="1732470"/>
        </a:xfrm>
        <a:prstGeom prst="ellipse">
          <a:avLst/>
        </a:prstGeom>
        <a:solidFill>
          <a:srgbClr val="800040"/>
        </a:solidFill>
        <a:ln>
          <a:noFill/>
        </a:ln>
        <a:effectLst>
          <a:glow rad="228600">
            <a:schemeClr val="accent2">
              <a:satMod val="175000"/>
              <a:alpha val="40000"/>
            </a:schemeClr>
          </a:glo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>
              <a:latin typeface="Times New Roman"/>
              <a:cs typeface="Times New Roman"/>
            </a:rPr>
            <a:t>People looking for work</a:t>
          </a:r>
          <a:endParaRPr lang="en-US" sz="2600" kern="1200" dirty="0">
            <a:latin typeface="Times New Roman"/>
            <a:cs typeface="Times New Roman"/>
          </a:endParaRPr>
        </a:p>
      </dsp:txBody>
      <dsp:txXfrm>
        <a:off x="255021" y="1444878"/>
        <a:ext cx="1225042" cy="1225042"/>
      </dsp:txXfrm>
    </dsp:sp>
    <dsp:sp modelId="{7E9605C1-F0AD-0C46-9BC9-5A00342DF874}">
      <dsp:nvSpPr>
        <dsp:cNvPr id="0" name=""/>
        <dsp:cNvSpPr/>
      </dsp:nvSpPr>
      <dsp:spPr>
        <a:xfrm>
          <a:off x="1874454" y="1554983"/>
          <a:ext cx="1004833" cy="1004833"/>
        </a:xfrm>
        <a:prstGeom prst="mathPlus">
          <a:avLst/>
        </a:prstGeom>
        <a:solidFill>
          <a:schemeClr val="tx1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/>
        </a:p>
      </dsp:txBody>
      <dsp:txXfrm>
        <a:off x="2007645" y="1939231"/>
        <a:ext cx="738451" cy="236337"/>
      </dsp:txXfrm>
    </dsp:sp>
    <dsp:sp modelId="{E003ACFF-188A-D846-B32C-67EC28538E81}">
      <dsp:nvSpPr>
        <dsp:cNvPr id="0" name=""/>
        <dsp:cNvSpPr/>
      </dsp:nvSpPr>
      <dsp:spPr>
        <a:xfrm>
          <a:off x="3019964" y="1191164"/>
          <a:ext cx="1732470" cy="1732470"/>
        </a:xfrm>
        <a:prstGeom prst="ellipse">
          <a:avLst/>
        </a:prstGeom>
        <a:solidFill>
          <a:srgbClr val="800040"/>
        </a:solidFill>
        <a:ln>
          <a:noFill/>
        </a:ln>
        <a:effectLst>
          <a:glow rad="228600">
            <a:schemeClr val="accent2">
              <a:satMod val="175000"/>
              <a:alpha val="40000"/>
            </a:schemeClr>
          </a:glo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>
              <a:solidFill>
                <a:schemeClr val="accent3"/>
              </a:solidFill>
              <a:latin typeface="Arial Narrow"/>
              <a:cs typeface="Arial Narrow"/>
            </a:rPr>
            <a:t>Employers willing to hire</a:t>
          </a:r>
          <a:endParaRPr lang="en-US" sz="2200" kern="1200" dirty="0">
            <a:solidFill>
              <a:schemeClr val="accent3"/>
            </a:solidFill>
            <a:latin typeface="Arial Narrow"/>
            <a:cs typeface="Arial Narrow"/>
          </a:endParaRPr>
        </a:p>
      </dsp:txBody>
      <dsp:txXfrm>
        <a:off x="3273678" y="1444878"/>
        <a:ext cx="1225042" cy="1225042"/>
      </dsp:txXfrm>
    </dsp:sp>
    <dsp:sp modelId="{9C0ED7D4-E3C4-AF4A-AB68-35C176E600B5}">
      <dsp:nvSpPr>
        <dsp:cNvPr id="0" name=""/>
        <dsp:cNvSpPr/>
      </dsp:nvSpPr>
      <dsp:spPr>
        <a:xfrm>
          <a:off x="4893112" y="1554983"/>
          <a:ext cx="1004833" cy="1004833"/>
        </a:xfrm>
        <a:prstGeom prst="mathEqual">
          <a:avLst/>
        </a:prstGeom>
        <a:solidFill>
          <a:schemeClr val="tx1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100" kern="1200">
            <a:solidFill>
              <a:schemeClr val="tx1"/>
            </a:solidFill>
          </a:endParaRPr>
        </a:p>
      </dsp:txBody>
      <dsp:txXfrm>
        <a:off x="5026303" y="1761979"/>
        <a:ext cx="738451" cy="590841"/>
      </dsp:txXfrm>
    </dsp:sp>
    <dsp:sp modelId="{16423CF3-9D23-294E-A4DB-378A3A8F265D}">
      <dsp:nvSpPr>
        <dsp:cNvPr id="0" name=""/>
        <dsp:cNvSpPr/>
      </dsp:nvSpPr>
      <dsp:spPr>
        <a:xfrm>
          <a:off x="6038621" y="1191164"/>
          <a:ext cx="1732470" cy="1732470"/>
        </a:xfrm>
        <a:prstGeom prst="ellipse">
          <a:avLst/>
        </a:prstGeom>
        <a:solidFill>
          <a:srgbClr val="E94D0C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 w="139700" h="139700" prst="divo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>
              <a:latin typeface="Comic Sans MS"/>
              <a:cs typeface="Comic Sans MS"/>
            </a:rPr>
            <a:t>JOB!</a:t>
          </a:r>
          <a:endParaRPr lang="en-US" sz="2800" kern="1200" dirty="0">
            <a:latin typeface="Comic Sans MS"/>
            <a:cs typeface="Comic Sans MS"/>
          </a:endParaRPr>
        </a:p>
      </dsp:txBody>
      <dsp:txXfrm>
        <a:off x="6292335" y="1444878"/>
        <a:ext cx="1225042" cy="12250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equation1">
  <dgm:title val=""/>
  <dgm:desc val=""/>
  <dgm:catLst>
    <dgm:cat type="relationship" pri="17000"/>
    <dgm:cat type="process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choose name="Name0">
      <dgm:if name="Name1" func="var" arg="dir" op="equ" val="norm">
        <dgm:alg type="lin">
          <dgm:param type="fallback" val="2D"/>
        </dgm:alg>
      </dgm:if>
      <dgm:else name="Name2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fact="0.58"/>
      <dgm:constr type="primFontSz" for="ch" ptType="node" op="equ" val="65"/>
      <dgm:constr type="primFontSz" for="ch" ptType="sibTrans" op="equ" val="55"/>
      <dgm:constr type="primFontSz" for="ch" ptType="sibTrans" refType="primFontSz" refFor="ch" refPtType="node" op="lte" fact="0.8"/>
      <dgm:constr type="w" for="ch" forName="spacerL" refType="w" refFor="ch" refPtType="sibTrans" fact="0.14"/>
      <dgm:constr type="w" for="ch" forName="spacerR" refType="w" refFor="ch" refPtType="sibTrans" fact="0.14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pacerL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ibTrans">
          <dgm:alg type="tx"/>
          <dgm:choose name="Name3">
            <dgm:if name="Name4" axis="followSib" ptType="sibTrans" func="cnt" op="equ" val="0">
              <dgm:shape xmlns:r="http://schemas.openxmlformats.org/officeDocument/2006/relationships" type="mathEqual" r:blip="">
                <dgm:adjLst/>
              </dgm:shape>
            </dgm:if>
            <dgm:else name="Name5">
              <dgm:shape xmlns:r="http://schemas.openxmlformats.org/officeDocument/2006/relationships" type="mathPlus" r:blip="">
                <dgm:adjLst/>
              </dgm:shape>
            </dgm:else>
          </dgm:choose>
          <dgm:presOf axis="self"/>
          <dgm:constrLst>
            <dgm:constr type="h" refType="w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  <dgm:layoutNode name="spacerR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6"/>
          <p:cNvSpPr>
            <a:spLocks noChangeArrowheads="1"/>
          </p:cNvSpPr>
          <p:nvPr/>
        </p:nvSpPr>
        <p:spPr bwMode="auto">
          <a:xfrm>
            <a:off x="3200400" y="8588375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1400"/>
          </a:p>
        </p:txBody>
      </p:sp>
      <p:sp>
        <p:nvSpPr>
          <p:cNvPr id="25603" name="Rectangle 7"/>
          <p:cNvSpPr>
            <a:spLocks noChangeArrowheads="1"/>
          </p:cNvSpPr>
          <p:nvPr/>
        </p:nvSpPr>
        <p:spPr bwMode="auto">
          <a:xfrm>
            <a:off x="4800600" y="152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fld id="{96293B16-5310-A242-8B9E-7E479C16C966}" type="slidenum">
              <a:rPr lang="en-US" sz="1400"/>
              <a:pPr algn="r"/>
              <a:t>‹#›</a:t>
            </a:fld>
            <a:endParaRPr lang="en-US" sz="1400"/>
          </a:p>
        </p:txBody>
      </p:sp>
      <p:sp>
        <p:nvSpPr>
          <p:cNvPr id="25604" name="Rectangle 8"/>
          <p:cNvSpPr>
            <a:spLocks noChangeArrowheads="1"/>
          </p:cNvSpPr>
          <p:nvPr/>
        </p:nvSpPr>
        <p:spPr bwMode="auto">
          <a:xfrm>
            <a:off x="152400" y="8305800"/>
            <a:ext cx="6400800" cy="685800"/>
          </a:xfrm>
          <a:prstGeom prst="rect">
            <a:avLst/>
          </a:prstGeom>
          <a:solidFill>
            <a:srgbClr val="00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9"/>
          <p:cNvSpPr>
            <a:spLocks noChangeArrowheads="1"/>
          </p:cNvSpPr>
          <p:nvPr/>
        </p:nvSpPr>
        <p:spPr bwMode="auto">
          <a:xfrm>
            <a:off x="152400" y="8305800"/>
            <a:ext cx="6400800" cy="128588"/>
          </a:xfrm>
          <a:prstGeom prst="rect">
            <a:avLst/>
          </a:prstGeom>
          <a:solidFill>
            <a:srgbClr val="0099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25606" name="Picture 11" descr="iciPPT_BI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8458200"/>
            <a:ext cx="30480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7" name="Picture 10" descr="umb_whit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8486775"/>
            <a:ext cx="3556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353987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Geneva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Geneva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Geneva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Geneva" charset="0"/>
              </a:defRPr>
            </a:lvl1pPr>
          </a:lstStyle>
          <a:p>
            <a:pPr>
              <a:defRPr/>
            </a:pPr>
            <a:fld id="{779DEED0-D9C0-E449-AC9F-D335B7268DE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508019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Geneva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Geneva" charset="0"/>
        <a:cs typeface="Geneva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Geneva" charset="0"/>
        <a:cs typeface="Geneva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Geneva" charset="0"/>
        <a:cs typeface="Geneva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Geneva" charset="0"/>
        <a:cs typeface="Geneva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fld id="{81AB0745-1A2D-F24C-B28F-8F52445FAF2A}" type="slidenum">
              <a:rPr lang="en-US" sz="1200"/>
              <a:pPr/>
              <a:t>1</a:t>
            </a:fld>
            <a:endParaRPr lang="en-US" sz="1200"/>
          </a:p>
        </p:txBody>
      </p:sp>
      <p:sp>
        <p:nvSpPr>
          <p:cNvPr id="1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z="10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9679D2E-31FA-BF4D-AFBA-5FD4C122E73C}" type="slidenum">
              <a:rPr lang="en-US"/>
              <a:pPr/>
              <a:t>13</a:t>
            </a:fld>
            <a:endParaRPr lang="en-US"/>
          </a:p>
        </p:txBody>
      </p:sp>
      <p:sp>
        <p:nvSpPr>
          <p:cNvPr id="244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44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fld id="{ED4774E1-7E6E-0149-B956-76F59C1A884E}" type="slidenum">
              <a:rPr lang="en-US" sz="1200">
                <a:cs typeface="Geneva" charset="0"/>
              </a:rPr>
              <a:pPr/>
              <a:t>33</a:t>
            </a:fld>
            <a:endParaRPr lang="en-US" sz="1200">
              <a:cs typeface="Geneva" charset="0"/>
            </a:endParaRPr>
          </a:p>
        </p:txBody>
      </p:sp>
      <p:sp>
        <p:nvSpPr>
          <p:cNvPr id="368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solidFill>
            <a:srgbClr val="FFFFFF"/>
          </a:solidFill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488" tIns="44450" rIns="90488" bIns="44450"/>
          <a:lstStyle/>
          <a:p>
            <a:r>
              <a:rPr lang="en-US" dirty="0">
                <a:latin typeface="Calibri" charset="0"/>
              </a:rPr>
              <a:t>Job development is not filling out applications and internet job searches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fld id="{FB0AEE61-148C-8843-930B-DDF1FDC30015}" type="slidenum">
              <a:rPr lang="en-US" sz="1200">
                <a:cs typeface="Geneva" charset="0"/>
              </a:rPr>
              <a:pPr/>
              <a:t>38</a:t>
            </a:fld>
            <a:endParaRPr lang="en-US" sz="1200">
              <a:cs typeface="Geneva" charset="0"/>
            </a:endParaRPr>
          </a:p>
        </p:txBody>
      </p:sp>
      <p:sp>
        <p:nvSpPr>
          <p:cNvPr id="403458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03427" name="Rectangle 102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" name="Rectangle 3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33122" name="Rectangle 3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SLOW</a:t>
            </a:r>
          </a:p>
          <a:p>
            <a:r>
              <a:rPr lang="en-US">
                <a:latin typeface="Calibri" charset="0"/>
              </a:rPr>
              <a:t>Example of TA with providers</a:t>
            </a:r>
          </a:p>
          <a:p>
            <a:r>
              <a:rPr lang="en-US">
                <a:latin typeface="Calibri" charset="0"/>
              </a:rPr>
              <a:t>We’re so glad someone is willing to do job development – but we need to care how they do it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512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fld id="{BD0AC870-6539-6446-91F0-21C1F06896A0}" type="slidenum">
              <a:rPr lang="en-US" sz="1200"/>
              <a:pPr/>
              <a:t>50</a:t>
            </a:fld>
            <a:endParaRPr lang="en-US" sz="1200"/>
          </a:p>
        </p:txBody>
      </p:sp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solidFill>
            <a:srgbClr val="FFFFFF"/>
          </a:solidFill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488" tIns="44450" rIns="90488" bIns="44450"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55298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  <p:sp>
        <p:nvSpPr>
          <p:cNvPr id="5529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fld id="{47CE62D8-3B4B-3147-B36C-704E962A5B0A}" type="slidenum">
              <a:rPr lang="en-US" sz="1200">
                <a:cs typeface="Geneva" charset="0"/>
              </a:rPr>
              <a:pPr/>
              <a:t>51</a:t>
            </a:fld>
            <a:endParaRPr lang="en-US" sz="1200">
              <a:cs typeface="Geneva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solidFill>
                  <a:srgbClr val="FF0000"/>
                </a:solidFill>
              </a:rPr>
              <a:t>SLOW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</a:rPr>
              <a:t>- Big picture – clear vision is important a la Employment First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</a:rPr>
              <a:t>- Any well run organization does a lot of things well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577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>
              <a:latin typeface="Trebuchet MS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fld id="{6A16A434-A325-F24C-9EDA-F3820132337C}" type="slidenum">
              <a:rPr lang="en-US" sz="1200">
                <a:cs typeface="Geneva" charset="0"/>
              </a:rPr>
              <a:pPr/>
              <a:t>63</a:t>
            </a:fld>
            <a:endParaRPr lang="en-US" sz="1200">
              <a:cs typeface="Geneva" charset="0"/>
            </a:endParaRPr>
          </a:p>
        </p:txBody>
      </p:sp>
      <p:sp>
        <p:nvSpPr>
          <p:cNvPr id="244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fld id="{57C869D2-1166-D648-BEA4-560F0F25DAB2}" type="slidenum">
              <a:rPr lang="en-US" sz="1200">
                <a:cs typeface="Geneva" charset="0"/>
              </a:rPr>
              <a:pPr/>
              <a:t>68</a:t>
            </a:fld>
            <a:endParaRPr lang="en-US" sz="1200">
              <a:cs typeface="Geneva" charset="0"/>
            </a:endParaRPr>
          </a:p>
        </p:txBody>
      </p:sp>
      <p:sp>
        <p:nvSpPr>
          <p:cNvPr id="368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solidFill>
            <a:srgbClr val="FFFFFF"/>
          </a:solidFill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262B603-859B-DF4B-9EFA-8F6C74407351}" type="slidenum">
              <a:rPr lang="en-US"/>
              <a:pPr/>
              <a:t>71</a:t>
            </a:fld>
            <a:endParaRPr lang="en-US"/>
          </a:p>
        </p:txBody>
      </p:sp>
      <p:sp>
        <p:nvSpPr>
          <p:cNvPr id="376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3768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fld id="{1F09A3C3-5CCE-D64A-BE28-1A0BCE937401}" type="slidenum">
              <a:rPr lang="en-US" sz="1200">
                <a:cs typeface="Geneva" charset="0"/>
              </a:rPr>
              <a:pPr/>
              <a:t>72</a:t>
            </a:fld>
            <a:endParaRPr lang="en-US" sz="1200">
              <a:cs typeface="Geneva" charset="0"/>
            </a:endParaRPr>
          </a:p>
        </p:txBody>
      </p:sp>
      <p:sp>
        <p:nvSpPr>
          <p:cNvPr id="114690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algn="r"/>
            <a:fld id="{45DB2F97-A022-3648-9776-E54FF387F78C}" type="slidenum">
              <a:rPr lang="en-US" sz="1200">
                <a:cs typeface="Geneva" charset="0"/>
              </a:rPr>
              <a:pPr algn="r"/>
              <a:t>72</a:t>
            </a:fld>
            <a:endParaRPr lang="en-US" sz="1200">
              <a:cs typeface="Geneva" charset="0"/>
            </a:endParaRPr>
          </a:p>
        </p:txBody>
      </p:sp>
      <p:sp>
        <p:nvSpPr>
          <p:cNvPr id="266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20834" name="Rectangle 3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 userDrawn="1"/>
        </p:nvSpPr>
        <p:spPr bwMode="auto">
          <a:xfrm>
            <a:off x="0" y="5867400"/>
            <a:ext cx="9144000" cy="990600"/>
          </a:xfrm>
          <a:prstGeom prst="rect">
            <a:avLst/>
          </a:prstGeom>
          <a:solidFill>
            <a:srgbClr val="00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Rectangle 8"/>
          <p:cNvSpPr>
            <a:spLocks noChangeArrowheads="1"/>
          </p:cNvSpPr>
          <p:nvPr userDrawn="1"/>
        </p:nvSpPr>
        <p:spPr bwMode="auto">
          <a:xfrm>
            <a:off x="0" y="5867400"/>
            <a:ext cx="9144000" cy="152400"/>
          </a:xfrm>
          <a:prstGeom prst="rect">
            <a:avLst/>
          </a:prstGeom>
          <a:solidFill>
            <a:srgbClr val="0099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Rectangle 9"/>
          <p:cNvSpPr>
            <a:spLocks noChangeArrowheads="1"/>
          </p:cNvSpPr>
          <p:nvPr userDrawn="1"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7" name="Picture 10" descr="umb_white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4813" y="6172200"/>
            <a:ext cx="433387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1" descr="iciPPT_BI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042025"/>
            <a:ext cx="48006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64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+mn-ea"/>
                <a:cs typeface="+mn-cs"/>
              </a:defRPr>
            </a:lvl1pPr>
          </a:lstStyle>
          <a:p>
            <a:pPr>
              <a:defRPr/>
            </a:pPr>
            <a:fld id="{3264C454-4DA9-8847-89E8-E62503C620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125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499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076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99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714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040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855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000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532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086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8687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 userDrawn="1"/>
        </p:nvSpPr>
        <p:spPr bwMode="auto">
          <a:xfrm>
            <a:off x="0" y="5867400"/>
            <a:ext cx="9144000" cy="990600"/>
          </a:xfrm>
          <a:prstGeom prst="rect">
            <a:avLst/>
          </a:prstGeom>
          <a:solidFill>
            <a:srgbClr val="00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8"/>
          <p:cNvSpPr>
            <a:spLocks noChangeArrowheads="1"/>
          </p:cNvSpPr>
          <p:nvPr userDrawn="1"/>
        </p:nvSpPr>
        <p:spPr bwMode="auto">
          <a:xfrm>
            <a:off x="0" y="5867400"/>
            <a:ext cx="9144000" cy="152400"/>
          </a:xfrm>
          <a:prstGeom prst="rect">
            <a:avLst/>
          </a:prstGeom>
          <a:solidFill>
            <a:srgbClr val="0099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9"/>
          <p:cNvSpPr>
            <a:spLocks noChangeArrowheads="1"/>
          </p:cNvSpPr>
          <p:nvPr userDrawn="1"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pic>
        <p:nvPicPr>
          <p:cNvPr id="7" name="Picture 10" descr="umb_white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4813" y="6172200"/>
            <a:ext cx="433387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1" descr="iciPPT_BI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042025"/>
            <a:ext cx="48006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64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000000"/>
                </a:solidFill>
                <a:ea typeface="Osaka"/>
                <a:cs typeface="Osaka"/>
              </a:defRPr>
            </a:lvl1pPr>
          </a:lstStyle>
          <a:p>
            <a:pPr>
              <a:defRPr/>
            </a:pPr>
            <a:fld id="{1E9FDA14-9FEB-6F4F-8CA9-F1BA997BC3A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7049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0903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4783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9231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221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7727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0712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66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1600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1647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5981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8513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3FE4C-D648-AE4E-8DDA-4F8BEF60D624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5/28/13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C85BA-6280-BB4F-B658-3326575093F5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7303104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3FE4C-D648-AE4E-8DDA-4F8BEF60D624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5/28/13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C85BA-6280-BB4F-B658-3326575093F5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677876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3FE4C-D648-AE4E-8DDA-4F8BEF60D624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5/28/13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C85BA-6280-BB4F-B658-3326575093F5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005311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3FE4C-D648-AE4E-8DDA-4F8BEF60D624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5/28/13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C85BA-6280-BB4F-B658-3326575093F5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4573444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3FE4C-D648-AE4E-8DDA-4F8BEF60D624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5/28/13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C85BA-6280-BB4F-B658-3326575093F5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1488518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3FE4C-D648-AE4E-8DDA-4F8BEF60D624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5/28/13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C85BA-6280-BB4F-B658-3326575093F5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8244054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3FE4C-D648-AE4E-8DDA-4F8BEF60D624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5/28/13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C85BA-6280-BB4F-B658-3326575093F5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172721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3FE4C-D648-AE4E-8DDA-4F8BEF60D624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5/28/13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C85BA-6280-BB4F-B658-3326575093F5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1095162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3FE4C-D648-AE4E-8DDA-4F8BEF60D624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5/28/13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C85BA-6280-BB4F-B658-3326575093F5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304514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3FE4C-D648-AE4E-8DDA-4F8BEF60D624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5/28/13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C85BA-6280-BB4F-B658-3326575093F5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5692780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3FE4C-D648-AE4E-8DDA-4F8BEF60D624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5/28/13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C85BA-6280-BB4F-B658-3326575093F5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65799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theme" Target="../theme/theme2.xml"/><Relationship Id="rId14" Type="http://schemas.openxmlformats.org/officeDocument/2006/relationships/image" Target="../media/image1.png"/><Relationship Id="rId15" Type="http://schemas.openxmlformats.org/officeDocument/2006/relationships/image" Target="../media/image3.png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34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solidFill>
            <a:srgbClr val="006699"/>
          </a:solidFill>
          <a:ln w="19050" cmpd="sng">
            <a:solidFill>
              <a:srgbClr val="000000"/>
            </a:solidFill>
            <a:miter lim="800000"/>
            <a:headEnd/>
            <a:tailEnd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54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54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pic>
        <p:nvPicPr>
          <p:cNvPr id="1030" name="Picture 7" descr="ici3015_for_PPT2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6172200"/>
            <a:ext cx="3621088" cy="39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9" descr="CHB_reverse_BIG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00" y="6172200"/>
            <a:ext cx="42068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3" name="Rectangle 10"/>
          <p:cNvSpPr>
            <a:spLocks noChangeArrowheads="1"/>
          </p:cNvSpPr>
          <p:nvPr userDrawn="1"/>
        </p:nvSpPr>
        <p:spPr bwMode="auto">
          <a:xfrm>
            <a:off x="0" y="0"/>
            <a:ext cx="9144000" cy="228600"/>
          </a:xfrm>
          <a:prstGeom prst="rect">
            <a:avLst/>
          </a:prstGeom>
          <a:solidFill>
            <a:srgbClr val="00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" name="Rectangle 11"/>
          <p:cNvSpPr>
            <a:spLocks noChangeArrowheads="1"/>
          </p:cNvSpPr>
          <p:nvPr userDrawn="1"/>
        </p:nvSpPr>
        <p:spPr bwMode="auto">
          <a:xfrm>
            <a:off x="0" y="6629400"/>
            <a:ext cx="9144000" cy="228600"/>
          </a:xfrm>
          <a:prstGeom prst="rect">
            <a:avLst/>
          </a:prstGeom>
          <a:solidFill>
            <a:srgbClr val="00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476" r:id="rId1"/>
    <p:sldLayoutId id="2147485456" r:id="rId2"/>
    <p:sldLayoutId id="2147485457" r:id="rId3"/>
    <p:sldLayoutId id="2147485458" r:id="rId4"/>
    <p:sldLayoutId id="2147485459" r:id="rId5"/>
    <p:sldLayoutId id="2147485460" r:id="rId6"/>
    <p:sldLayoutId id="2147485461" r:id="rId7"/>
    <p:sldLayoutId id="2147485462" r:id="rId8"/>
    <p:sldLayoutId id="2147485463" r:id="rId9"/>
    <p:sldLayoutId id="2147485464" r:id="rId10"/>
    <p:sldLayoutId id="214748546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 i="1"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Cambria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 i="1">
          <a:solidFill>
            <a:schemeClr val="bg1"/>
          </a:solidFill>
          <a:latin typeface="Cambria" charset="0"/>
          <a:ea typeface="Osaka" charset="0"/>
          <a:cs typeface="Osaka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 i="1">
          <a:solidFill>
            <a:schemeClr val="bg1"/>
          </a:solidFill>
          <a:latin typeface="Cambria" charset="0"/>
          <a:ea typeface="Osaka" charset="0"/>
          <a:cs typeface="Osaka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 i="1">
          <a:solidFill>
            <a:schemeClr val="bg1"/>
          </a:solidFill>
          <a:latin typeface="Cambria" charset="0"/>
          <a:ea typeface="Osaka" charset="0"/>
          <a:cs typeface="Osaka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 i="1">
          <a:solidFill>
            <a:schemeClr val="bg1"/>
          </a:solidFill>
          <a:latin typeface="Cambria" charset="0"/>
          <a:ea typeface="Osaka" charset="0"/>
          <a:cs typeface="Osaka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charset="0"/>
          <a:cs typeface="Osaka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charset="0"/>
          <a:cs typeface="Osaka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charset="0"/>
          <a:cs typeface="Osaka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charset="0"/>
          <a:cs typeface="Osaka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sz="3200">
          <a:solidFill>
            <a:schemeClr val="tx1"/>
          </a:solidFill>
          <a:latin typeface="Calibri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0"/>
        <a:buChar char="Ø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solidFill>
            <a:srgbClr val="006699"/>
          </a:solidFill>
          <a:ln w="19050" cmpd="sng">
            <a:solidFill>
              <a:srgbClr val="000000"/>
            </a:solidFill>
            <a:miter lim="800000"/>
            <a:headEnd/>
            <a:tailEnd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54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000000"/>
                </a:solidFill>
                <a:ea typeface="Osaka"/>
                <a:cs typeface="Osak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54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000000"/>
                </a:solidFill>
                <a:ea typeface="Osaka"/>
                <a:cs typeface="Osaka"/>
              </a:defRPr>
            </a:lvl1pPr>
          </a:lstStyle>
          <a:p>
            <a:pPr>
              <a:defRPr/>
            </a:pPr>
            <a:endParaRPr lang="en-US"/>
          </a:p>
        </p:txBody>
      </p:sp>
      <p:pic>
        <p:nvPicPr>
          <p:cNvPr id="13318" name="Picture 7" descr="ici3015_for_PPT2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6172200"/>
            <a:ext cx="3621088" cy="39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9" name="Picture 8" descr="umb_white"/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4813" y="6172200"/>
            <a:ext cx="433387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0" name="Picture 9" descr="CHB_reverse_BIG"/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00" y="6172200"/>
            <a:ext cx="42068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21" name="Rectangle 10"/>
          <p:cNvSpPr>
            <a:spLocks noChangeArrowheads="1"/>
          </p:cNvSpPr>
          <p:nvPr userDrawn="1"/>
        </p:nvSpPr>
        <p:spPr bwMode="auto">
          <a:xfrm>
            <a:off x="0" y="0"/>
            <a:ext cx="9144000" cy="228600"/>
          </a:xfrm>
          <a:prstGeom prst="rect">
            <a:avLst/>
          </a:prstGeom>
          <a:solidFill>
            <a:srgbClr val="00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3322" name="Rectangle 11"/>
          <p:cNvSpPr>
            <a:spLocks noChangeArrowheads="1"/>
          </p:cNvSpPr>
          <p:nvPr userDrawn="1"/>
        </p:nvSpPr>
        <p:spPr bwMode="auto">
          <a:xfrm>
            <a:off x="0" y="6629400"/>
            <a:ext cx="9144000" cy="228600"/>
          </a:xfrm>
          <a:prstGeom prst="rect">
            <a:avLst/>
          </a:prstGeom>
          <a:solidFill>
            <a:srgbClr val="00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477" r:id="rId1"/>
    <p:sldLayoutId id="2147485466" r:id="rId2"/>
    <p:sldLayoutId id="2147485467" r:id="rId3"/>
    <p:sldLayoutId id="2147485468" r:id="rId4"/>
    <p:sldLayoutId id="2147485469" r:id="rId5"/>
    <p:sldLayoutId id="2147485470" r:id="rId6"/>
    <p:sldLayoutId id="2147485471" r:id="rId7"/>
    <p:sldLayoutId id="2147485472" r:id="rId8"/>
    <p:sldLayoutId id="2147485473" r:id="rId9"/>
    <p:sldLayoutId id="2147485474" r:id="rId10"/>
    <p:sldLayoutId id="2147485475" r:id="rId11"/>
    <p:sldLayoutId id="2147485478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 i="1"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Cambria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 i="1">
          <a:solidFill>
            <a:schemeClr val="bg1"/>
          </a:solidFill>
          <a:latin typeface="Cambria" charset="0"/>
          <a:ea typeface="Osaka" charset="0"/>
          <a:cs typeface="Osaka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 i="1">
          <a:solidFill>
            <a:schemeClr val="bg1"/>
          </a:solidFill>
          <a:latin typeface="Cambria" charset="0"/>
          <a:ea typeface="Osaka" charset="0"/>
          <a:cs typeface="Osaka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 i="1">
          <a:solidFill>
            <a:schemeClr val="bg1"/>
          </a:solidFill>
          <a:latin typeface="Cambria" charset="0"/>
          <a:ea typeface="Osaka" charset="0"/>
          <a:cs typeface="Osaka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 i="1">
          <a:solidFill>
            <a:schemeClr val="bg1"/>
          </a:solidFill>
          <a:latin typeface="Cambria" charset="0"/>
          <a:ea typeface="Osaka" charset="0"/>
          <a:cs typeface="Osaka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charset="0"/>
          <a:cs typeface="Osaka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charset="0"/>
          <a:cs typeface="Osaka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charset="0"/>
          <a:cs typeface="Osaka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charset="0"/>
          <a:cs typeface="Osaka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sz="3200">
          <a:solidFill>
            <a:schemeClr val="tx1"/>
          </a:solidFill>
          <a:latin typeface="Calibri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0"/>
        <a:buChar char="Ø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fld id="{89D3FE4C-D648-AE4E-8DDA-4F8BEF60D624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defTabSz="457200" eaLnBrk="1" fontAlgn="auto" hangingPunct="1">
                <a:spcBef>
                  <a:spcPts val="0"/>
                </a:spcBef>
                <a:spcAft>
                  <a:spcPts val="0"/>
                </a:spcAft>
              </a:pPr>
              <a:t>5/28/13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fld id="{23DC85BA-6280-BB4F-B658-3326575093F5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defTabSz="4572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5331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492" r:id="rId1"/>
    <p:sldLayoutId id="2147485493" r:id="rId2"/>
    <p:sldLayoutId id="2147485494" r:id="rId3"/>
    <p:sldLayoutId id="2147485495" r:id="rId4"/>
    <p:sldLayoutId id="2147485496" r:id="rId5"/>
    <p:sldLayoutId id="2147485497" r:id="rId6"/>
    <p:sldLayoutId id="2147485498" r:id="rId7"/>
    <p:sldLayoutId id="2147485499" r:id="rId8"/>
    <p:sldLayoutId id="2147485500" r:id="rId9"/>
    <p:sldLayoutId id="2147485501" r:id="rId10"/>
    <p:sldLayoutId id="2147485502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6.jpeg"/><Relationship Id="rId7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4" Type="http://schemas.openxmlformats.org/officeDocument/2006/relationships/image" Target="../media/image9.w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emf"/><Relationship Id="rId3" Type="http://schemas.openxmlformats.org/officeDocument/2006/relationships/image" Target="../media/image17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eg"/><Relationship Id="rId3" Type="http://schemas.openxmlformats.org/officeDocument/2006/relationships/image" Target="../media/image21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2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jp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W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gi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W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W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9.png"/><Relationship Id="rId3" Type="http://schemas.openxmlformats.org/officeDocument/2006/relationships/image" Target="../media/image30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jp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W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jpe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jp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ohiolmi.com" TargetMode="External"/><Relationship Id="rId3" Type="http://schemas.openxmlformats.org/officeDocument/2006/relationships/image" Target="../media/image35.W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jpg"/><Relationship Id="rId3" Type="http://schemas.openxmlformats.org/officeDocument/2006/relationships/image" Target="../media/image37.JP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4" Type="http://schemas.openxmlformats.org/officeDocument/2006/relationships/image" Target="../media/image41.W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jpeg"/><Relationship Id="rId3" Type="http://schemas.openxmlformats.org/officeDocument/2006/relationships/image" Target="../media/image43.jpe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4.jpe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5.wmf"/><Relationship Id="rId3" Type="http://schemas.openxmlformats.org/officeDocument/2006/relationships/image" Target="../media/image46.w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JP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8.jpe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9.jpe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4" Type="http://schemas.openxmlformats.org/officeDocument/2006/relationships/oleObject" Target="../embeddings/Microsoft_Excel_97_-_2004_Worksheet1.xls"/><Relationship Id="rId5" Type="http://schemas.openxmlformats.org/officeDocument/2006/relationships/image" Target="../media/image51.png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52.jpe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4" Type="http://schemas.openxmlformats.org/officeDocument/2006/relationships/image" Target="../media/image55.WMF"/><Relationship Id="rId5" Type="http://schemas.openxmlformats.org/officeDocument/2006/relationships/image" Target="../media/image56.W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WMF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7.WMF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8.jpe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9.jpe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emf"/><Relationship Id="rId4" Type="http://schemas.openxmlformats.org/officeDocument/2006/relationships/image" Target="../media/image61.emf"/><Relationship Id="rId5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3.jp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4.emf"/><Relationship Id="rId3" Type="http://schemas.openxmlformats.org/officeDocument/2006/relationships/image" Target="../media/image65.emf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eg"/><Relationship Id="rId4" Type="http://schemas.openxmlformats.org/officeDocument/2006/relationships/image" Target="../media/image70.jpe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8.jpe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1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2.jpe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4.jpe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5.png"/><Relationship Id="rId3" Type="http://schemas.openxmlformats.org/officeDocument/2006/relationships/image" Target="../media/image76.jpe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7.emf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8.jpe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eg"/><Relationship Id="rId4" Type="http://schemas.openxmlformats.org/officeDocument/2006/relationships/image" Target="../media/image81.wmf"/><Relationship Id="rId5" Type="http://schemas.openxmlformats.org/officeDocument/2006/relationships/image" Target="../media/image82.png"/><Relationship Id="rId6" Type="http://schemas.openxmlformats.org/officeDocument/2006/relationships/image" Target="../media/image83.jpeg"/><Relationship Id="rId7" Type="http://schemas.openxmlformats.org/officeDocument/2006/relationships/image" Target="../media/image84.jpeg"/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79.JP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5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86.jp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7.jp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8.gif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hyperlink" Target="http://images.google.com/imgres?imgurl=http://www.christiansarkar.com/peterdrucker.jpg&amp;imgrefurl=http://www.christiansarkar.com/2005/11/managing_ignorance_the_passing.htm&amp;h=511&amp;w=612&amp;sz=28&amp;hl=en&amp;start=5&amp;um=1&amp;tbnid=1kGqUDo4KjhtEM:&amp;tbnh=114&amp;tbnw=136&amp;prev=/images?q=peter+drucker&amp;svnum=10&amp;um=1&amp;hl=en&amp;sa=G" TargetMode="External"/><Relationship Id="rId4" Type="http://schemas.openxmlformats.org/officeDocument/2006/relationships/image" Target="../media/image89.jpe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9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MC900027406-1.WM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609600"/>
            <a:ext cx="1483178" cy="1905000"/>
          </a:xfrm>
          <a:prstGeom prst="rect">
            <a:avLst/>
          </a:prstGeom>
        </p:spPr>
      </p:pic>
      <p:sp>
        <p:nvSpPr>
          <p:cNvPr id="73732" name="Text Box 4"/>
          <p:cNvSpPr txBox="1">
            <a:spLocks noChangeArrowheads="1"/>
          </p:cNvSpPr>
          <p:nvPr/>
        </p:nvSpPr>
        <p:spPr bwMode="auto">
          <a:xfrm>
            <a:off x="228600" y="2667000"/>
            <a:ext cx="7924800" cy="2370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b="1" dirty="0">
                <a:latin typeface="Verdana" charset="0"/>
                <a:cs typeface="Geneva" charset="0"/>
              </a:rPr>
              <a:t>David Hoff</a:t>
            </a:r>
            <a:br>
              <a:rPr lang="en-US" sz="2800" b="1" dirty="0">
                <a:latin typeface="Verdana" charset="0"/>
                <a:cs typeface="Geneva" charset="0"/>
              </a:rPr>
            </a:br>
            <a:r>
              <a:rPr lang="en-US" i="1" dirty="0">
                <a:latin typeface="Verdana" charset="0"/>
                <a:cs typeface="Geneva" charset="0"/>
              </a:rPr>
              <a:t>Institute for Community Inclusion</a:t>
            </a:r>
            <a:br>
              <a:rPr lang="en-US" i="1" dirty="0">
                <a:latin typeface="Verdana" charset="0"/>
                <a:cs typeface="Geneva" charset="0"/>
              </a:rPr>
            </a:br>
            <a:r>
              <a:rPr lang="en-US" i="1" dirty="0">
                <a:latin typeface="Verdana" charset="0"/>
                <a:cs typeface="Geneva" charset="0"/>
              </a:rPr>
              <a:t>University of Massachusetts, Boston</a:t>
            </a:r>
          </a:p>
          <a:p>
            <a:pPr algn="ctr">
              <a:spcAft>
                <a:spcPts val="2400"/>
              </a:spcAft>
              <a:defRPr/>
            </a:pPr>
            <a:r>
              <a:rPr lang="en-US" dirty="0">
                <a:latin typeface="Verdana" charset="0"/>
                <a:cs typeface="Geneva" charset="0"/>
              </a:rPr>
              <a:t/>
            </a:r>
            <a:br>
              <a:rPr lang="en-US" dirty="0">
                <a:latin typeface="Verdana" charset="0"/>
                <a:cs typeface="Geneva" charset="0"/>
              </a:rPr>
            </a:br>
            <a:r>
              <a:rPr lang="en-US" dirty="0">
                <a:latin typeface="Verdana" charset="0"/>
                <a:cs typeface="Geneva" charset="0"/>
              </a:rPr>
              <a:t>National Board President</a:t>
            </a:r>
            <a:br>
              <a:rPr lang="en-US" dirty="0">
                <a:latin typeface="Verdana" charset="0"/>
                <a:cs typeface="Geneva" charset="0"/>
              </a:rPr>
            </a:br>
            <a:r>
              <a:rPr lang="en-US" i="1" dirty="0">
                <a:latin typeface="Verdana" charset="0"/>
                <a:cs typeface="Geneva" charset="0"/>
              </a:rPr>
              <a:t>APSE</a:t>
            </a:r>
          </a:p>
        </p:txBody>
      </p:sp>
      <p:sp>
        <p:nvSpPr>
          <p:cNvPr id="27650" name="Rectangle 23"/>
          <p:cNvSpPr>
            <a:spLocks noChangeArrowheads="1"/>
          </p:cNvSpPr>
          <p:nvPr/>
        </p:nvSpPr>
        <p:spPr bwMode="auto">
          <a:xfrm>
            <a:off x="0" y="5867400"/>
            <a:ext cx="9144000" cy="990600"/>
          </a:xfrm>
          <a:prstGeom prst="rect">
            <a:avLst/>
          </a:prstGeom>
          <a:solidFill>
            <a:srgbClr val="00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1" name="Rectangle 24"/>
          <p:cNvSpPr>
            <a:spLocks noChangeArrowheads="1"/>
          </p:cNvSpPr>
          <p:nvPr/>
        </p:nvSpPr>
        <p:spPr bwMode="auto">
          <a:xfrm>
            <a:off x="0" y="5867400"/>
            <a:ext cx="9144000" cy="152400"/>
          </a:xfrm>
          <a:prstGeom prst="rect">
            <a:avLst/>
          </a:prstGeom>
          <a:solidFill>
            <a:srgbClr val="0099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2" name="Rectangle 25"/>
          <p:cNvSpPr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27653" name="Picture 26" descr="umb_whit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4813" y="6172200"/>
            <a:ext cx="433387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4" name="Picture 27" descr="iciPPT_BI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042025"/>
            <a:ext cx="48006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7" name="TextBox 1"/>
          <p:cNvSpPr txBox="1">
            <a:spLocks noChangeArrowheads="1"/>
          </p:cNvSpPr>
          <p:nvPr/>
        </p:nvSpPr>
        <p:spPr bwMode="auto">
          <a:xfrm>
            <a:off x="5638800" y="609600"/>
            <a:ext cx="2895600" cy="1569660"/>
          </a:xfrm>
          <a:prstGeom prst="rect">
            <a:avLst/>
          </a:prstGeom>
          <a:solidFill>
            <a:srgbClr val="006699"/>
          </a:solidFill>
          <a:ln w="38100" cmpd="sng">
            <a:solidFill>
              <a:srgbClr val="000000"/>
            </a:solidFill>
            <a:miter lim="800000"/>
            <a:headEnd/>
            <a:tailEnd/>
          </a:ln>
          <a:effectLst>
            <a:glow rad="101600">
              <a:schemeClr val="accent4">
                <a:satMod val="175000"/>
                <a:alpha val="40000"/>
              </a:schemeClr>
            </a:glow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3200" b="1" dirty="0" smtClean="0">
                <a:solidFill>
                  <a:schemeClr val="bg1"/>
                </a:solidFill>
              </a:rPr>
              <a:t>What’s It Really Going to Take?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27658" name="Picture 8" descr="New APSE logo.jp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4191000"/>
            <a:ext cx="1470025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9" name="Picture 2" descr="header_EF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5257800"/>
            <a:ext cx="8509000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57200" y="1066800"/>
            <a:ext cx="4495800" cy="646331"/>
          </a:xfrm>
          <a:prstGeom prst="rect">
            <a:avLst/>
          </a:prstGeom>
          <a:solidFill>
            <a:srgbClr val="E60E51"/>
          </a:solidFill>
          <a:ln w="38100" cmpd="dbl">
            <a:solidFill>
              <a:schemeClr val="tx1"/>
            </a:solidFill>
          </a:ln>
          <a:scene3d>
            <a:camera prst="isometricOffAxis1Right"/>
            <a:lightRig rig="threePt" dir="t"/>
          </a:scene3d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3600" b="1" dirty="0">
                <a:solidFill>
                  <a:schemeClr val="bg1"/>
                </a:solidFill>
              </a:rPr>
              <a:t>Employment First</a:t>
            </a:r>
          </a:p>
        </p:txBody>
      </p:sp>
    </p:spTree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90600"/>
            <a:ext cx="7772400" cy="1143000"/>
          </a:xfrm>
          <a:scene3d>
            <a:camera prst="isometricOffAxis1Right"/>
            <a:lightRig rig="threePt" dir="t"/>
          </a:scene3d>
          <a:sp3d>
            <a:bevelT w="139700" h="139700" prst="divot"/>
          </a:sp3d>
        </p:spPr>
        <p:txBody>
          <a:bodyPr/>
          <a:lstStyle/>
          <a:p>
            <a:pPr>
              <a:defRPr/>
            </a:pPr>
            <a:r>
              <a:rPr lang="en-US" dirty="0" smtClean="0"/>
              <a:t>Contact Information</a:t>
            </a:r>
            <a:endParaRPr lang="en-US" dirty="0"/>
          </a:p>
        </p:txBody>
      </p:sp>
      <p:sp>
        <p:nvSpPr>
          <p:cNvPr id="29698" name="TextBox 4"/>
          <p:cNvSpPr txBox="1">
            <a:spLocks noChangeArrowheads="1"/>
          </p:cNvSpPr>
          <p:nvPr/>
        </p:nvSpPr>
        <p:spPr bwMode="auto">
          <a:xfrm>
            <a:off x="1447800" y="2514600"/>
            <a:ext cx="6324600" cy="317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algn="ctr"/>
            <a:r>
              <a:rPr lang="en-US" sz="3200" b="1">
                <a:latin typeface="Comic Sans MS" charset="0"/>
                <a:cs typeface="Comic Sans MS" charset="0"/>
              </a:rPr>
              <a:t>David Hoff</a:t>
            </a:r>
          </a:p>
          <a:p>
            <a:pPr algn="ctr"/>
            <a:endParaRPr lang="en-US">
              <a:cs typeface="Arial" charset="0"/>
            </a:endParaRPr>
          </a:p>
          <a:p>
            <a:pPr algn="ctr"/>
            <a:r>
              <a:rPr lang="en-US">
                <a:cs typeface="Arial" charset="0"/>
              </a:rPr>
              <a:t>617-287-4308</a:t>
            </a:r>
          </a:p>
          <a:p>
            <a:pPr algn="ctr"/>
            <a:r>
              <a:rPr lang="en-US">
                <a:cs typeface="Arial" charset="0"/>
              </a:rPr>
              <a:t>david.hoff@umb.edu</a:t>
            </a:r>
          </a:p>
          <a:p>
            <a:pPr algn="ctr"/>
            <a:r>
              <a:rPr lang="en-US" b="1">
                <a:latin typeface="Century Gothic" charset="0"/>
                <a:cs typeface="Century Gothic" charset="0"/>
              </a:rPr>
              <a:t>www.communityinclusion.org</a:t>
            </a:r>
          </a:p>
          <a:p>
            <a:pPr algn="ctr"/>
            <a:endParaRPr lang="en-US">
              <a:latin typeface="Century Gothic" charset="0"/>
              <a:cs typeface="Century Gothic" charset="0"/>
            </a:endParaRPr>
          </a:p>
          <a:p>
            <a:pPr algn="ctr"/>
            <a:r>
              <a:rPr lang="en-US">
                <a:latin typeface="Century Gothic" charset="0"/>
                <a:cs typeface="Century Gothic" charset="0"/>
              </a:rPr>
              <a:t>david@apse.org</a:t>
            </a:r>
          </a:p>
          <a:p>
            <a:pPr algn="ctr"/>
            <a:r>
              <a:rPr lang="en-US" b="1">
                <a:latin typeface="Century Gothic" charset="0"/>
                <a:cs typeface="Century Gothic" charset="0"/>
              </a:rPr>
              <a:t>www.apse.org</a:t>
            </a:r>
          </a:p>
        </p:txBody>
      </p:sp>
      <p:pic>
        <p:nvPicPr>
          <p:cNvPr id="29699" name="Picture 8" descr="New APSE logo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5334000"/>
            <a:ext cx="1844675" cy="112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0" name="Picture 2" descr="MC900433861-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581400"/>
            <a:ext cx="1143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1" name="Picture 4" descr="MC900019332-1.WM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1981200"/>
            <a:ext cx="1716088" cy="144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609600"/>
            <a:ext cx="4800600" cy="3276600"/>
          </a:xfrm>
          <a:scene3d>
            <a:camera prst="orthographicFront"/>
            <a:lightRig rig="threePt" dir="t"/>
          </a:scene3d>
          <a:sp3d>
            <a:bevelT w="139700" h="139700" prst="divot"/>
          </a:sp3d>
        </p:spPr>
        <p:txBody>
          <a:bodyPr/>
          <a:lstStyle/>
          <a:p>
            <a:pPr>
              <a:defRPr/>
            </a:pPr>
            <a:r>
              <a:rPr lang="en-US" sz="5400" dirty="0" smtClean="0"/>
              <a:t>It’s A Time of Enormous Opportunity</a:t>
            </a:r>
            <a:endParaRPr lang="en-US" sz="5400" dirty="0"/>
          </a:p>
        </p:txBody>
      </p:sp>
      <p:pic>
        <p:nvPicPr>
          <p:cNvPr id="30724" name="Picture 2" descr="Unknown.jpe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7638" y="3124200"/>
            <a:ext cx="3746500" cy="288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28600" y="2133600"/>
            <a:ext cx="3886200" cy="286226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marL="342900" indent="-342900">
              <a:buFont typeface="Arial"/>
              <a:buChar char="•"/>
              <a:defRPr/>
            </a:pPr>
            <a:r>
              <a:rPr lang="en-US" sz="2800" b="1" dirty="0"/>
              <a:t>Employment First Movement now in 35+ States</a:t>
            </a:r>
            <a:r>
              <a:rPr lang="en-US" b="1" dirty="0"/>
              <a:t/>
            </a:r>
            <a:br>
              <a:rPr lang="en-US" b="1" dirty="0"/>
            </a:br>
            <a:endParaRPr lang="en-US" b="1" dirty="0"/>
          </a:p>
          <a:p>
            <a:pPr marL="342900" indent="-342900">
              <a:buFont typeface="Arial"/>
              <a:buChar char="•"/>
              <a:defRPr/>
            </a:pPr>
            <a:r>
              <a:rPr lang="en-US" dirty="0"/>
              <a:t>24 States with an</a:t>
            </a:r>
            <a:br>
              <a:rPr lang="en-US" dirty="0"/>
            </a:br>
            <a:r>
              <a:rPr lang="en-US" dirty="0"/>
              <a:t>Official Policy</a:t>
            </a:r>
            <a:br>
              <a:rPr lang="en-US" dirty="0"/>
            </a:b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153400" cy="1219200"/>
          </a:xfrm>
          <a:scene3d>
            <a:camera prst="orthographicFront"/>
            <a:lightRig rig="threePt" dir="t"/>
          </a:scene3d>
          <a:sp3d>
            <a:bevelT w="139700" h="139700" prst="divot"/>
          </a:sp3d>
        </p:spPr>
        <p:txBody>
          <a:bodyPr/>
          <a:lstStyle/>
          <a:p>
            <a:pPr>
              <a:defRPr/>
            </a:pPr>
            <a:r>
              <a:rPr lang="en-US" sz="2400" i="0" dirty="0" smtClean="0"/>
              <a:t>Employment First </a:t>
            </a:r>
            <a:r>
              <a:rPr lang="en-US" sz="2400" b="0" i="0" dirty="0" smtClean="0"/>
              <a:t>– the concept that employment should be the first and primary service option for people with disabilities - </a:t>
            </a:r>
            <a:r>
              <a:rPr lang="en-US" sz="2400" i="0" dirty="0" smtClean="0"/>
              <a:t>continues to grow.</a:t>
            </a:r>
            <a:endParaRPr lang="en-US" sz="2400" i="0" dirty="0"/>
          </a:p>
        </p:txBody>
      </p:sp>
      <p:pic>
        <p:nvPicPr>
          <p:cNvPr id="31749" name="Picture 1" descr="Ohio Executive Order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49" t="2739" r="7051" b="15530"/>
          <a:stretch>
            <a:fillRect/>
          </a:stretch>
        </p:blipFill>
        <p:spPr bwMode="auto">
          <a:xfrm>
            <a:off x="4724400" y="1752600"/>
            <a:ext cx="3898900" cy="47132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17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17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3200400" cy="3048000"/>
          </a:xfrm>
          <a:scene3d>
            <a:camera prst="orthographicFront"/>
            <a:lightRig rig="threePt" dir="t"/>
          </a:scene3d>
          <a:sp3d>
            <a:bevelT w="139700" h="139700" prst="divot"/>
          </a:sp3d>
        </p:spPr>
        <p:txBody>
          <a:bodyPr/>
          <a:lstStyle/>
          <a:p>
            <a:pPr>
              <a:defRPr/>
            </a:pPr>
            <a:r>
              <a:rPr lang="en-US" dirty="0" smtClean="0"/>
              <a:t>National Governor’s Association Initiative</a:t>
            </a:r>
            <a:endParaRPr lang="en-US" dirty="0"/>
          </a:p>
        </p:txBody>
      </p:sp>
      <p:pic>
        <p:nvPicPr>
          <p:cNvPr id="7" name="Content Placeholder 6" descr="Document2.pdf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311" r="-88" b="-1463"/>
          <a:stretch/>
        </p:blipFill>
        <p:spPr>
          <a:xfrm>
            <a:off x="4724400" y="457200"/>
            <a:ext cx="4035425" cy="5813425"/>
          </a:xfrm>
        </p:spPr>
      </p:pic>
    </p:spTree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609600"/>
            <a:ext cx="3886200" cy="2514600"/>
          </a:xfrm>
          <a:scene3d>
            <a:camera prst="orthographicFront"/>
            <a:lightRig rig="threePt" dir="t"/>
          </a:scene3d>
          <a:sp3d>
            <a:bevelT w="139700" h="139700" prst="divot"/>
          </a:sp3d>
        </p:spPr>
        <p:txBody>
          <a:bodyPr/>
          <a:lstStyle/>
          <a:p>
            <a:pPr>
              <a:defRPr/>
            </a:pPr>
            <a:r>
              <a:rPr lang="en-US" dirty="0" smtClean="0"/>
              <a:t>Senate HELP Committee Report</a:t>
            </a:r>
            <a:endParaRPr lang="en-US" dirty="0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304800" y="3429000"/>
            <a:ext cx="3657600" cy="2678113"/>
          </a:xfrm>
          <a:prstGeom prst="rect">
            <a:avLst/>
          </a:prstGeom>
          <a:noFill/>
          <a:ln w="38100">
            <a:solidFill>
              <a:srgbClr val="00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buFont typeface="Arial" charset="0"/>
              <a:buChar char="•"/>
            </a:pPr>
            <a:r>
              <a:rPr lang="en-US" sz="2800" dirty="0">
                <a:cs typeface="Arial" charset="0"/>
              </a:rPr>
              <a:t>Increase employment of people with disabilities by</a:t>
            </a:r>
            <a:br>
              <a:rPr lang="en-US" sz="2800" dirty="0">
                <a:cs typeface="Arial" charset="0"/>
              </a:rPr>
            </a:br>
            <a:r>
              <a:rPr lang="en-US" sz="2800" dirty="0">
                <a:cs typeface="Arial" charset="0"/>
              </a:rPr>
              <a:t>over 1 million by 2015</a:t>
            </a:r>
          </a:p>
        </p:txBody>
      </p:sp>
      <p:pic>
        <p:nvPicPr>
          <p:cNvPr id="3" name="Picture 2" descr="HELP Committee Report July 2012 (dragged)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533400"/>
            <a:ext cx="4489450" cy="58086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609600"/>
            <a:ext cx="3886200" cy="1143000"/>
          </a:xfrm>
          <a:scene3d>
            <a:camera prst="orthographicFront"/>
            <a:lightRig rig="threePt" dir="t"/>
          </a:scene3d>
          <a:sp3d>
            <a:bevelT w="139700" h="139700" prst="divot"/>
          </a:sp3d>
        </p:spPr>
        <p:txBody>
          <a:bodyPr/>
          <a:lstStyle/>
          <a:p>
            <a:pPr>
              <a:defRPr/>
            </a:pPr>
            <a:r>
              <a:rPr lang="en-US" dirty="0" smtClean="0"/>
              <a:t>CMS Bulletin</a:t>
            </a:r>
            <a:endParaRPr lang="en-US" dirty="0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304800" y="2057400"/>
            <a:ext cx="3810000" cy="3539431"/>
          </a:xfrm>
          <a:prstGeom prst="rect">
            <a:avLst/>
          </a:prstGeom>
          <a:noFill/>
          <a:ln w="38100">
            <a:solidFill>
              <a:srgbClr val="00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buFont typeface="Arial" charset="0"/>
              <a:buChar char="•"/>
            </a:pPr>
            <a:r>
              <a:rPr lang="en-US" sz="2800" dirty="0">
                <a:cs typeface="Arial" charset="0"/>
              </a:rPr>
              <a:t>Highlights and provides guidance for implementation of CMS’s goal to promote integrated employment options through </a:t>
            </a:r>
            <a:r>
              <a:rPr lang="en-US" sz="2800" dirty="0" smtClean="0">
                <a:cs typeface="Arial" charset="0"/>
              </a:rPr>
              <a:t>Medicaid </a:t>
            </a:r>
            <a:r>
              <a:rPr lang="en-US" sz="2800" dirty="0">
                <a:cs typeface="Arial" charset="0"/>
              </a:rPr>
              <a:t>waiver program </a:t>
            </a:r>
          </a:p>
        </p:txBody>
      </p:sp>
      <p:pic>
        <p:nvPicPr>
          <p:cNvPr id="8" name="Picture 7" descr="CMS Employment Informational Bulletin 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457200"/>
            <a:ext cx="4419600" cy="60896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609600"/>
            <a:ext cx="3886200" cy="1143000"/>
          </a:xfrm>
          <a:scene3d>
            <a:camera prst="orthographicFront"/>
            <a:lightRig rig="threePt" dir="t"/>
          </a:scene3d>
          <a:sp3d>
            <a:bevelT w="139700" h="139700" prst="divot"/>
          </a:sp3d>
        </p:spPr>
        <p:txBody>
          <a:bodyPr/>
          <a:lstStyle/>
          <a:p>
            <a:pPr>
              <a:defRPr/>
            </a:pPr>
            <a:r>
              <a:rPr lang="en-US" dirty="0" smtClean="0"/>
              <a:t>Federal Hiring</a:t>
            </a:r>
            <a:endParaRPr lang="en-US" dirty="0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52400" y="2057400"/>
            <a:ext cx="3810000" cy="3970338"/>
          </a:xfrm>
          <a:prstGeom prst="rect">
            <a:avLst/>
          </a:prstGeom>
          <a:noFill/>
          <a:ln w="38100">
            <a:solidFill>
              <a:srgbClr val="00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buFont typeface="Arial" charset="0"/>
              <a:buChar char="•"/>
            </a:pPr>
            <a:r>
              <a:rPr lang="en-US" sz="2800" dirty="0">
                <a:cs typeface="Arial" charset="0"/>
              </a:rPr>
              <a:t>Increased efforts by federal government to hire people with disabilities under “Schedule A”</a:t>
            </a:r>
            <a:r>
              <a:rPr lang="en-US" sz="2800" dirty="0" smtClean="0">
                <a:cs typeface="Arial" charset="0"/>
              </a:rPr>
              <a:t>.</a:t>
            </a:r>
          </a:p>
          <a:p>
            <a:pPr>
              <a:buFont typeface="Arial" charset="0"/>
              <a:buChar char="•"/>
            </a:pPr>
            <a:r>
              <a:rPr lang="en-US" sz="2800" dirty="0" smtClean="0">
                <a:cs typeface="Arial" charset="0"/>
              </a:rPr>
              <a:t>February </a:t>
            </a:r>
            <a:r>
              <a:rPr lang="en-US" sz="2800" dirty="0">
                <a:cs typeface="Arial" charset="0"/>
              </a:rPr>
              <a:t>2013 rules </a:t>
            </a:r>
            <a:r>
              <a:rPr lang="en-US" sz="2800" dirty="0" smtClean="0">
                <a:cs typeface="Arial" charset="0"/>
              </a:rPr>
              <a:t>eliminated </a:t>
            </a:r>
            <a:r>
              <a:rPr lang="en-US" sz="2800" dirty="0">
                <a:cs typeface="Arial" charset="0"/>
              </a:rPr>
              <a:t>need for certification of “job readiness”.</a:t>
            </a:r>
          </a:p>
        </p:txBody>
      </p:sp>
      <p:pic>
        <p:nvPicPr>
          <p:cNvPr id="35845" name="Picture 2" descr="OPM Issues Final Rule to Simplify Schedule A Hiring Authority for Persons With Disabilities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7" t="17651" r="1982" b="7214"/>
          <a:stretch>
            <a:fillRect/>
          </a:stretch>
        </p:blipFill>
        <p:spPr bwMode="auto">
          <a:xfrm>
            <a:off x="4114800" y="838200"/>
            <a:ext cx="4870450" cy="4927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81000"/>
            <a:ext cx="2895600" cy="3429000"/>
          </a:xfrm>
        </p:spPr>
        <p:txBody>
          <a:bodyPr/>
          <a:lstStyle/>
          <a:p>
            <a:pPr>
              <a:defRPr/>
            </a:pPr>
            <a:r>
              <a:rPr lang="en-US" sz="3600" dirty="0" smtClean="0"/>
              <a:t>Expanded Health Care Options under the Affordable Care Act</a:t>
            </a:r>
            <a:endParaRPr lang="en-US" sz="3600" dirty="0"/>
          </a:p>
        </p:txBody>
      </p:sp>
      <p:pic>
        <p:nvPicPr>
          <p:cNvPr id="47108" name="Picture 2" descr="Analysis of ACA for Employment of PWD (dragged)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895600"/>
            <a:ext cx="2743200" cy="35496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109" name="Picture 4" descr="PatientProtectionAct (1)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914400"/>
            <a:ext cx="2690813" cy="344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7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7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7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7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7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609600"/>
            <a:ext cx="3886200" cy="2514600"/>
          </a:xfrm>
          <a:scene3d>
            <a:camera prst="orthographicFront"/>
            <a:lightRig rig="threePt" dir="t"/>
          </a:scene3d>
          <a:sp3d>
            <a:bevelT w="139700" h="139700" prst="divot"/>
          </a:sp3d>
        </p:spPr>
        <p:txBody>
          <a:bodyPr/>
          <a:lstStyle/>
          <a:p>
            <a:pPr>
              <a:defRPr/>
            </a:pPr>
            <a:r>
              <a:rPr lang="en-US" dirty="0" smtClean="0"/>
              <a:t>National Council on Disability Report</a:t>
            </a:r>
            <a:endParaRPr lang="en-US" dirty="0"/>
          </a:p>
        </p:txBody>
      </p:sp>
      <p:pic>
        <p:nvPicPr>
          <p:cNvPr id="5" name="Picture 4" descr="FINAL_Subminimum Wage Report with Transmittal Letter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533400"/>
            <a:ext cx="4495800" cy="5816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304800" y="3429000"/>
            <a:ext cx="3657600" cy="2246313"/>
          </a:xfrm>
          <a:prstGeom prst="rect">
            <a:avLst/>
          </a:prstGeom>
          <a:noFill/>
          <a:ln w="38100">
            <a:solidFill>
              <a:srgbClr val="00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buFont typeface="Arial" charset="0"/>
              <a:buChar char="•"/>
            </a:pPr>
            <a:r>
              <a:rPr lang="en-US" sz="2000">
                <a:cs typeface="Arial" charset="0"/>
              </a:rPr>
              <a:t>Federal Agency calling for phase out sub-minimum wage as part of overall systems change</a:t>
            </a:r>
            <a:br>
              <a:rPr lang="en-US" sz="2000">
                <a:cs typeface="Arial" charset="0"/>
              </a:rPr>
            </a:br>
            <a:endParaRPr lang="en-US" sz="2000">
              <a:cs typeface="Arial" charset="0"/>
            </a:endParaRPr>
          </a:p>
          <a:p>
            <a:pPr>
              <a:buFont typeface="Arial" charset="0"/>
              <a:buChar char="•"/>
            </a:pPr>
            <a:r>
              <a:rPr lang="en-US" sz="2000">
                <a:cs typeface="Arial" charset="0"/>
              </a:rPr>
              <a:t>Make fundamental changes in transition</a:t>
            </a:r>
          </a:p>
        </p:txBody>
      </p:sp>
    </p:spTree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3048000" cy="1905000"/>
          </a:xfrm>
          <a:scene3d>
            <a:camera prst="orthographicFront"/>
            <a:lightRig rig="threePt" dir="t"/>
          </a:scene3d>
          <a:sp3d>
            <a:bevelT w="139700" h="139700" prst="divot"/>
          </a:sp3d>
        </p:spPr>
        <p:txBody>
          <a:bodyPr/>
          <a:lstStyle/>
          <a:p>
            <a:pPr>
              <a:defRPr/>
            </a:pPr>
            <a:r>
              <a:rPr lang="en-US" dirty="0" smtClean="0"/>
              <a:t>Oregon Lawsuit</a:t>
            </a:r>
            <a:endParaRPr lang="en-US" dirty="0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52400" y="2895600"/>
            <a:ext cx="3657600" cy="3108325"/>
          </a:xfrm>
          <a:prstGeom prst="rect">
            <a:avLst/>
          </a:prstGeom>
          <a:noFill/>
          <a:ln w="38100">
            <a:solidFill>
              <a:srgbClr val="00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buFont typeface="Arial" charset="0"/>
              <a:buChar char="•"/>
            </a:pPr>
            <a:r>
              <a:rPr lang="en-US" sz="2800">
                <a:cs typeface="Arial" charset="0"/>
              </a:rPr>
              <a:t>Claims placement in sheltered workshop is violation of ADA</a:t>
            </a:r>
          </a:p>
          <a:p>
            <a:pPr>
              <a:buFont typeface="Arial" charset="0"/>
              <a:buChar char="•"/>
            </a:pPr>
            <a:r>
              <a:rPr lang="en-US" sz="2800">
                <a:cs typeface="Arial" charset="0"/>
              </a:rPr>
              <a:t>US Dept. of Justice is now a plaintiff in this suit</a:t>
            </a:r>
          </a:p>
        </p:txBody>
      </p:sp>
      <p:pic>
        <p:nvPicPr>
          <p:cNvPr id="4" name="Picture 3" descr="Preview of “Lawsuit challenges sheltered workshops for Oregon's disabled | Reuters”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355600"/>
            <a:ext cx="4583113" cy="6149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52400" y="2819400"/>
            <a:ext cx="4081463" cy="3108325"/>
          </a:xfrm>
          <a:prstGeom prst="rect">
            <a:avLst/>
          </a:prstGeom>
          <a:noFill/>
          <a:ln w="38100">
            <a:solidFill>
              <a:srgbClr val="00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buFont typeface="Arial" charset="0"/>
              <a:buChar char="•"/>
            </a:pPr>
            <a:r>
              <a:rPr lang="en-US" sz="2800">
                <a:cs typeface="Arial" charset="0"/>
              </a:rPr>
              <a:t>Requirements for expanding community employment increasingly part of settlement agreements with states</a:t>
            </a:r>
          </a:p>
        </p:txBody>
      </p:sp>
      <p:pic>
        <p:nvPicPr>
          <p:cNvPr id="3" name="Picture 2" descr="DOJ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81000"/>
            <a:ext cx="4418013" cy="60198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939" name="Picture 4" descr="seal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1000"/>
            <a:ext cx="37719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Text Box 2"/>
          <p:cNvSpPr txBox="1">
            <a:spLocks noChangeArrowheads="1"/>
          </p:cNvSpPr>
          <p:nvPr/>
        </p:nvSpPr>
        <p:spPr bwMode="auto">
          <a:xfrm>
            <a:off x="2971800" y="5181600"/>
            <a:ext cx="426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/>
              <a:t> </a:t>
            </a:r>
            <a:r>
              <a:rPr lang="en-US" sz="2800"/>
              <a:t>Winston Churchill</a:t>
            </a:r>
          </a:p>
        </p:txBody>
      </p:sp>
      <p:sp>
        <p:nvSpPr>
          <p:cNvPr id="243715" name="Rectangle 3"/>
          <p:cNvSpPr>
            <a:spLocks noChangeArrowheads="1"/>
          </p:cNvSpPr>
          <p:nvPr/>
        </p:nvSpPr>
        <p:spPr bwMode="auto">
          <a:xfrm>
            <a:off x="304800" y="533400"/>
            <a:ext cx="8382000" cy="3613297"/>
          </a:xfrm>
          <a:prstGeom prst="rect">
            <a:avLst/>
          </a:prstGeom>
          <a:solidFill>
            <a:srgbClr val="006699"/>
          </a:solidFill>
          <a:ln w="57150" cmpd="thinThick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ja-JP" altLang="en-US" sz="4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“</a:t>
            </a:r>
            <a:r>
              <a:rPr lang="en-US" altLang="ja-JP" sz="4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 pessimist sees the difficulty in every opportunity.</a:t>
            </a:r>
            <a:br>
              <a:rPr lang="en-US" altLang="ja-JP" sz="4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altLang="ja-JP" sz="4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An optimist sees the opportunity in every difficulty.”</a:t>
            </a:r>
          </a:p>
        </p:txBody>
      </p:sp>
      <p:pic>
        <p:nvPicPr>
          <p:cNvPr id="243720" name="Picture 8" descr="Churchill Phot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4267200"/>
            <a:ext cx="1783328" cy="1909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6634960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609600"/>
            <a:ext cx="7772400" cy="1828800"/>
          </a:xfrm>
        </p:spPr>
        <p:txBody>
          <a:bodyPr/>
          <a:lstStyle/>
          <a:p>
            <a:r>
              <a:rPr lang="en-US" dirty="0" smtClean="0"/>
              <a:t>Employment First:</a:t>
            </a:r>
            <a:br>
              <a:rPr lang="en-US" dirty="0" smtClean="0"/>
            </a:br>
            <a:r>
              <a:rPr lang="en-US" dirty="0" smtClean="0"/>
              <a:t>What It Is and What It Isn’t</a:t>
            </a:r>
            <a:endParaRPr lang="en-US" dirty="0"/>
          </a:p>
        </p:txBody>
      </p:sp>
      <p:pic>
        <p:nvPicPr>
          <p:cNvPr id="3" name="Picture 2" descr="IMG_019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2819400"/>
            <a:ext cx="3124200" cy="285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4241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Notched Right Arrow 6"/>
          <p:cNvSpPr>
            <a:spLocks noChangeArrowheads="1"/>
          </p:cNvSpPr>
          <p:nvPr/>
        </p:nvSpPr>
        <p:spPr bwMode="auto">
          <a:xfrm>
            <a:off x="228600" y="304800"/>
            <a:ext cx="3200400" cy="1752600"/>
          </a:xfrm>
          <a:prstGeom prst="notchedRightArrow">
            <a:avLst>
              <a:gd name="adj1" fmla="val 50000"/>
              <a:gd name="adj2" fmla="val 49998"/>
            </a:avLst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rgbClr val="000000"/>
                </a:solidFill>
                <a:latin typeface="Times" charset="0"/>
                <a:ea typeface="+mn-ea"/>
                <a:cs typeface="Times" charset="0"/>
              </a:rPr>
              <a:t>Employment First </a:t>
            </a:r>
            <a:r>
              <a:rPr lang="en-US" sz="2600" b="1" dirty="0">
                <a:solidFill>
                  <a:srgbClr val="000000"/>
                </a:solidFill>
                <a:latin typeface="Times" charset="0"/>
                <a:ea typeface="+mn-ea"/>
                <a:cs typeface="Times" charset="0"/>
              </a:rPr>
              <a:t>IS NOT</a:t>
            </a:r>
          </a:p>
        </p:txBody>
      </p:sp>
      <p:sp>
        <p:nvSpPr>
          <p:cNvPr id="12" name="Notched Right Arrow 11"/>
          <p:cNvSpPr/>
          <p:nvPr/>
        </p:nvSpPr>
        <p:spPr bwMode="auto">
          <a:xfrm>
            <a:off x="152400" y="2590800"/>
            <a:ext cx="3200400" cy="1828800"/>
          </a:xfrm>
          <a:prstGeom prst="notchedRightArrow">
            <a:avLst/>
          </a:prstGeom>
          <a:solidFill>
            <a:srgbClr val="31A34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/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>
                <a:solidFill>
                  <a:schemeClr val="bg1"/>
                </a:solidFill>
                <a:latin typeface="Calibri"/>
                <a:ea typeface="+mn-ea"/>
                <a:cs typeface="Geneva" charset="0"/>
              </a:rPr>
              <a:t>Employment First </a:t>
            </a:r>
            <a:r>
              <a:rPr lang="en-US" sz="2800" b="1" dirty="0">
                <a:solidFill>
                  <a:schemeClr val="bg1"/>
                </a:solidFill>
                <a:latin typeface="Calibri"/>
                <a:ea typeface="+mn-ea"/>
                <a:cs typeface="Geneva" charset="0"/>
              </a:rPr>
              <a:t>IS</a:t>
            </a: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0" y="2286000"/>
            <a:ext cx="9144000" cy="0"/>
          </a:xfrm>
          <a:prstGeom prst="line">
            <a:avLst/>
          </a:prstGeom>
          <a:solidFill>
            <a:schemeClr val="accent1"/>
          </a:solidFill>
          <a:ln w="120650" cap="flat" cmpd="tri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52228" name="TextBox 8"/>
          <p:cNvSpPr txBox="1">
            <a:spLocks noChangeArrowheads="1"/>
          </p:cNvSpPr>
          <p:nvPr/>
        </p:nvSpPr>
        <p:spPr bwMode="auto">
          <a:xfrm>
            <a:off x="3657600" y="2438400"/>
            <a:ext cx="5486400" cy="4256087"/>
          </a:xfrm>
          <a:prstGeom prst="rect">
            <a:avLst/>
          </a:prstGeom>
          <a:solidFill>
            <a:srgbClr val="3AC252"/>
          </a:solidFill>
          <a:ln>
            <a:noFill/>
          </a:ln>
          <a:extLst/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Font typeface="Wingdings" charset="0"/>
              <a:buChar char="Ø"/>
            </a:pPr>
            <a:r>
              <a:rPr lang="en-US" sz="2800" dirty="0">
                <a:solidFill>
                  <a:prstClr val="black"/>
                </a:solidFill>
              </a:rPr>
              <a:t>A clear public policy of employment as the </a:t>
            </a:r>
            <a:r>
              <a:rPr lang="en-US" sz="2800" b="1" dirty="0">
                <a:solidFill>
                  <a:prstClr val="black"/>
                </a:solidFill>
              </a:rPr>
              <a:t>first and preferred option </a:t>
            </a:r>
            <a:r>
              <a:rPr lang="en-US" sz="2800" dirty="0">
                <a:solidFill>
                  <a:prstClr val="black"/>
                </a:solidFill>
              </a:rPr>
              <a:t>for individuals receiving publicly funded </a:t>
            </a:r>
            <a:r>
              <a:rPr lang="en-US" sz="2800" dirty="0" smtClean="0">
                <a:solidFill>
                  <a:prstClr val="black"/>
                </a:solidFill>
              </a:rPr>
              <a:t>services.</a:t>
            </a:r>
            <a:endParaRPr lang="en-US" sz="2800" dirty="0">
              <a:solidFill>
                <a:prstClr val="black"/>
              </a:solidFill>
            </a:endParaRPr>
          </a:p>
          <a:p>
            <a:pPr defTabSz="457200" eaLnBrk="1" fontAlgn="auto" hangingPunct="1">
              <a:spcBef>
                <a:spcPts val="1200"/>
              </a:spcBef>
              <a:spcAft>
                <a:spcPts val="0"/>
              </a:spcAft>
              <a:buClr>
                <a:prstClr val="white"/>
              </a:buClr>
              <a:buFont typeface="Wingdings" charset="0"/>
              <a:buChar char="Ø"/>
            </a:pPr>
            <a:r>
              <a:rPr lang="en-US" sz="2800" dirty="0">
                <a:solidFill>
                  <a:prstClr val="black"/>
                </a:solidFill>
              </a:rPr>
              <a:t>Policies, practices, and resource allocation that prioritize employment in the general </a:t>
            </a:r>
            <a:r>
              <a:rPr lang="en-US" sz="2800" dirty="0" smtClean="0">
                <a:solidFill>
                  <a:prstClr val="black"/>
                </a:solidFill>
              </a:rPr>
              <a:t>workforce.</a:t>
            </a:r>
            <a:endParaRPr lang="en-US" sz="2800" dirty="0">
              <a:solidFill>
                <a:prstClr val="black"/>
              </a:solidFill>
            </a:endParaRPr>
          </a:p>
        </p:txBody>
      </p:sp>
      <p:sp>
        <p:nvSpPr>
          <p:cNvPr id="52229" name="TextBox 9"/>
          <p:cNvSpPr txBox="1">
            <a:spLocks noChangeArrowheads="1"/>
          </p:cNvSpPr>
          <p:nvPr/>
        </p:nvSpPr>
        <p:spPr bwMode="auto">
          <a:xfrm>
            <a:off x="3657600" y="520700"/>
            <a:ext cx="5486400" cy="1385888"/>
          </a:xfrm>
          <a:prstGeom prst="rect">
            <a:avLst/>
          </a:prstGeom>
          <a:solidFill>
            <a:srgbClr val="F90000"/>
          </a:solidFill>
          <a:ln>
            <a:noFill/>
          </a:ln>
          <a:extLst/>
        </p:spPr>
        <p:txBody>
          <a:bodyPr anchor="ctr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defTabSz="457200" eaLnBrk="1" fontAlgn="auto" hangingPunct="1">
              <a:spcBef>
                <a:spcPts val="1200"/>
              </a:spcBef>
              <a:spcAft>
                <a:spcPts val="0"/>
              </a:spcAft>
              <a:buClr>
                <a:srgbClr val="FFFF00"/>
              </a:buClr>
              <a:buFont typeface="Arial" charset="0"/>
              <a:buChar char="•"/>
            </a:pPr>
            <a:r>
              <a:rPr lang="en-US" sz="2800" dirty="0">
                <a:solidFill>
                  <a:prstClr val="black"/>
                </a:solidFill>
                <a:latin typeface="Times New Roman" charset="0"/>
                <a:cs typeface="Times New Roman" charset="0"/>
              </a:rPr>
              <a:t>A type of service </a:t>
            </a:r>
            <a:r>
              <a:rPr lang="en-US" sz="2800" dirty="0" smtClean="0">
                <a:solidFill>
                  <a:prstClr val="black"/>
                </a:solidFill>
                <a:latin typeface="Times New Roman" charset="0"/>
                <a:cs typeface="Times New Roman" charset="0"/>
              </a:rPr>
              <a:t>strategy.</a:t>
            </a:r>
            <a:endParaRPr lang="en-US" sz="2800" dirty="0">
              <a:solidFill>
                <a:prstClr val="black"/>
              </a:solidFill>
              <a:latin typeface="Times New Roman" charset="0"/>
              <a:cs typeface="Times New Roman" charset="0"/>
            </a:endParaRPr>
          </a:p>
          <a:p>
            <a:pPr defTabSz="457200" eaLnBrk="1" fontAlgn="auto" hangingPunct="1">
              <a:spcBef>
                <a:spcPts val="1200"/>
              </a:spcBef>
              <a:spcAft>
                <a:spcPts val="0"/>
              </a:spcAft>
              <a:buClr>
                <a:srgbClr val="FFFF00"/>
              </a:buClr>
              <a:buFont typeface="Arial" charset="0"/>
              <a:buChar char="•"/>
            </a:pPr>
            <a:r>
              <a:rPr lang="en-US" sz="2800" dirty="0">
                <a:solidFill>
                  <a:prstClr val="black"/>
                </a:solidFill>
                <a:latin typeface="Times New Roman" charset="0"/>
                <a:cs typeface="Times New Roman" charset="0"/>
              </a:rPr>
              <a:t>Just promotion of best </a:t>
            </a:r>
            <a:r>
              <a:rPr lang="en-US" sz="2800" dirty="0" smtClean="0">
                <a:solidFill>
                  <a:prstClr val="black"/>
                </a:solidFill>
                <a:latin typeface="Times New Roman" charset="0"/>
                <a:cs typeface="Times New Roman" charset="0"/>
              </a:rPr>
              <a:t>practices.</a:t>
            </a:r>
            <a:endParaRPr lang="en-US" sz="2800" dirty="0">
              <a:solidFill>
                <a:prstClr val="black"/>
              </a:solidFill>
              <a:latin typeface="Times New Roman" charset="0"/>
              <a:cs typeface="Times New Roman" charset="0"/>
            </a:endParaRPr>
          </a:p>
          <a:p>
            <a:pPr defTabSz="457200" eaLnBrk="1" fontAlgn="auto" hangingPunct="1"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Font typeface="Arial" charset="0"/>
              <a:buChar char="•"/>
            </a:pPr>
            <a:r>
              <a:rPr lang="en-US" sz="800" dirty="0">
                <a:solidFill>
                  <a:prstClr val="black"/>
                </a:solidFill>
                <a:latin typeface="Times New Roman" charset="0"/>
                <a:cs typeface="Times New Roman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84450824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222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3352800" cy="3124200"/>
          </a:xfrm>
          <a:scene3d>
            <a:camera prst="orthographicFront"/>
            <a:lightRig rig="threePt" dir="t"/>
          </a:scene3d>
          <a:sp3d>
            <a:bevelT w="139700" h="139700" prst="divot"/>
          </a:sp3d>
        </p:spPr>
        <p:txBody>
          <a:bodyPr/>
          <a:lstStyle/>
          <a:p>
            <a:r>
              <a:rPr lang="en-US" dirty="0" smtClean="0"/>
              <a:t>Successful Employment Under Employment First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4733" y="457200"/>
            <a:ext cx="5105400" cy="4419600"/>
          </a:xfrm>
        </p:spPr>
        <p:txBody>
          <a:bodyPr/>
          <a:lstStyle/>
          <a:p>
            <a:pPr>
              <a:spcBef>
                <a:spcPts val="2472"/>
              </a:spcBef>
            </a:pPr>
            <a:r>
              <a:rPr lang="en-US" sz="2800" dirty="0" smtClean="0"/>
              <a:t>Employer paid</a:t>
            </a:r>
          </a:p>
          <a:p>
            <a:pPr>
              <a:spcBef>
                <a:spcPts val="2472"/>
              </a:spcBef>
            </a:pPr>
            <a:r>
              <a:rPr lang="en-US" sz="2800" dirty="0"/>
              <a:t>F</a:t>
            </a:r>
            <a:r>
              <a:rPr lang="en-US" sz="2800" dirty="0" smtClean="0"/>
              <a:t>ully integrated within the general workforce working side-by-side with co-workers without disabilities</a:t>
            </a:r>
          </a:p>
          <a:p>
            <a:pPr>
              <a:spcBef>
                <a:spcPts val="2472"/>
              </a:spcBef>
            </a:pPr>
            <a:r>
              <a:rPr lang="en-US" sz="2800" dirty="0" smtClean="0"/>
              <a:t>Minimum wage or higher with a goal of a living wage</a:t>
            </a:r>
          </a:p>
          <a:p>
            <a:pPr>
              <a:spcBef>
                <a:spcPts val="2472"/>
              </a:spcBef>
            </a:pPr>
            <a:r>
              <a:rPr lang="en-US" sz="2800" dirty="0" smtClean="0"/>
              <a:t>Employment based on an individual’s talent, skills, interests, preferences</a:t>
            </a:r>
            <a:endParaRPr lang="en-US" sz="2800" dirty="0"/>
          </a:p>
        </p:txBody>
      </p:sp>
      <p:pic>
        <p:nvPicPr>
          <p:cNvPr id="4" name="Picture 8" descr="New APSE logo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038600"/>
            <a:ext cx="2244788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815111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867" y="381000"/>
            <a:ext cx="6019800" cy="4800600"/>
          </a:xfrm>
          <a:scene3d>
            <a:camera prst="orthographicFront"/>
            <a:lightRig rig="threePt" dir="t"/>
          </a:scene3d>
          <a:sp3d>
            <a:bevelT w="139700" h="139700" prst="divot"/>
          </a:sp3d>
        </p:spPr>
        <p:txBody>
          <a:bodyPr/>
          <a:lstStyle/>
          <a:p>
            <a:pPr>
              <a:defRPr/>
            </a:pPr>
            <a:r>
              <a:rPr lang="en-US" sz="4800" i="0" dirty="0"/>
              <a:t>“Any darn fool can make something </a:t>
            </a:r>
            <a:r>
              <a:rPr lang="en-US" sz="4800" i="0" dirty="0" smtClean="0"/>
              <a:t>complicated;</a:t>
            </a:r>
            <a:br>
              <a:rPr lang="en-US" sz="4800" i="0" dirty="0" smtClean="0"/>
            </a:br>
            <a:r>
              <a:rPr lang="en-US" sz="4800" i="0" dirty="0" smtClean="0"/>
              <a:t>it takes </a:t>
            </a:r>
            <a:r>
              <a:rPr lang="en-US" sz="4800" i="0" dirty="0"/>
              <a:t>genius to </a:t>
            </a:r>
            <a:r>
              <a:rPr lang="en-US" sz="4800" i="0" dirty="0" smtClean="0"/>
              <a:t>achieve simplicity.</a:t>
            </a:r>
            <a:r>
              <a:rPr lang="en-US" sz="4800" i="0" dirty="0"/>
              <a:t>” </a:t>
            </a:r>
            <a:endParaRPr lang="en-US" sz="4800" i="0" dirty="0">
              <a:latin typeface="Comic Sans M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8400" y="5257800"/>
            <a:ext cx="4724400" cy="9144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- Woody Guthrie</a:t>
            </a:r>
            <a:endParaRPr lang="en-US" dirty="0"/>
          </a:p>
        </p:txBody>
      </p:sp>
      <p:pic>
        <p:nvPicPr>
          <p:cNvPr id="27653" name="Picture 3" descr="woody.jpe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1828800"/>
            <a:ext cx="3054350" cy="241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0406315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533400"/>
            <a:ext cx="5715000" cy="838200"/>
          </a:xfrm>
          <a:scene3d>
            <a:camera prst="orthographicFront"/>
            <a:lightRig rig="threePt" dir="t"/>
          </a:scene3d>
          <a:sp3d>
            <a:bevelT w="139700" h="139700" prst="divot"/>
          </a:sp3d>
        </p:spPr>
        <p:txBody>
          <a:bodyPr/>
          <a:lstStyle/>
          <a:p>
            <a:r>
              <a:rPr lang="en-US" sz="3200" dirty="0" smtClean="0"/>
              <a:t>The Magic Formula</a:t>
            </a:r>
            <a:endParaRPr lang="en-US" sz="32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9490919"/>
              </p:ext>
            </p:extLst>
          </p:nvPr>
        </p:nvGraphicFramePr>
        <p:xfrm>
          <a:off x="685800" y="762000"/>
          <a:ext cx="7772400" cy="411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Left-Right Arrow 4"/>
          <p:cNvSpPr/>
          <p:nvPr/>
        </p:nvSpPr>
        <p:spPr bwMode="auto">
          <a:xfrm>
            <a:off x="838200" y="4648200"/>
            <a:ext cx="7391400" cy="1143000"/>
          </a:xfrm>
          <a:prstGeom prst="leftRightArrow">
            <a:avLst/>
          </a:prstGeom>
          <a:solidFill>
            <a:srgbClr val="0000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Arial" charset="0"/>
                <a:ea typeface="ＭＳ Ｐゴシック" charset="0"/>
                <a:cs typeface="Geneva" charset="0"/>
              </a:rPr>
              <a:t>Service System</a:t>
            </a:r>
            <a:r>
              <a:rPr kumimoji="0" lang="en-US" sz="2800" b="0" i="0" u="none" strike="noStrike" cap="none" normalizeH="0" dirty="0" smtClean="0">
                <a:ln>
                  <a:noFill/>
                </a:ln>
                <a:solidFill>
                  <a:srgbClr val="FFFF00"/>
                </a:solidFill>
                <a:effectLst/>
                <a:latin typeface="Arial" charset="0"/>
                <a:ea typeface="ＭＳ Ｐゴシック" charset="0"/>
                <a:cs typeface="Geneva" charset="0"/>
              </a:rPr>
              <a:t> Supports </a:t>
            </a:r>
            <a:r>
              <a:rPr kumimoji="0" lang="en-US" sz="2800" b="0" i="1" u="none" strike="noStrike" cap="none" normalizeH="0" dirty="0" smtClean="0">
                <a:ln>
                  <a:noFill/>
                </a:ln>
                <a:solidFill>
                  <a:srgbClr val="FFFF00"/>
                </a:solidFill>
                <a:effectLst/>
                <a:latin typeface="Arial" charset="0"/>
                <a:ea typeface="ＭＳ Ｐゴシック" charset="0"/>
                <a:cs typeface="Geneva" charset="0"/>
              </a:rPr>
              <a:t>as Necessary</a:t>
            </a:r>
            <a:endParaRPr kumimoji="0" lang="en-US" sz="2800" b="0" i="1" u="none" strike="noStrike" cap="none" normalizeH="0" baseline="0" dirty="0">
              <a:ln>
                <a:noFill/>
              </a:ln>
              <a:solidFill>
                <a:srgbClr val="FFFF00"/>
              </a:solidFill>
              <a:effectLst/>
              <a:latin typeface="Arial" charset="0"/>
              <a:ea typeface="ＭＳ Ｐゴシック" charset="0"/>
              <a:cs typeface="Genev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3636874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3124200" cy="2362200"/>
          </a:xfrm>
        </p:spPr>
        <p:txBody>
          <a:bodyPr/>
          <a:lstStyle/>
          <a:p>
            <a:r>
              <a:rPr lang="en-US" dirty="0" smtClean="0"/>
              <a:t>What Employers are Saying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304800"/>
            <a:ext cx="5181600" cy="5943600"/>
          </a:xfrm>
        </p:spPr>
        <p:txBody>
          <a:bodyPr/>
          <a:lstStyle/>
          <a:p>
            <a:pPr>
              <a:spcBef>
                <a:spcPts val="1824"/>
              </a:spcBef>
            </a:pPr>
            <a:r>
              <a:rPr lang="en-US" sz="2800" dirty="0" smtClean="0"/>
              <a:t>They value hiring employees with disabilities – but they have trouble finding </a:t>
            </a:r>
            <a:r>
              <a:rPr lang="en-US" sz="2800" b="1" dirty="0" smtClean="0"/>
              <a:t>qualified </a:t>
            </a:r>
            <a:r>
              <a:rPr lang="en-US" sz="2800" dirty="0" smtClean="0"/>
              <a:t>candidates with disabilities</a:t>
            </a:r>
          </a:p>
          <a:p>
            <a:pPr>
              <a:spcBef>
                <a:spcPts val="1824"/>
              </a:spcBef>
            </a:pPr>
            <a:r>
              <a:rPr lang="en-US" sz="2800" dirty="0" smtClean="0"/>
              <a:t>Many don’t know where to recruit people with disabilities</a:t>
            </a:r>
          </a:p>
          <a:p>
            <a:pPr>
              <a:spcBef>
                <a:spcPts val="1824"/>
              </a:spcBef>
            </a:pPr>
            <a:r>
              <a:rPr lang="en-US" sz="2800" dirty="0" smtClean="0"/>
              <a:t>Many </a:t>
            </a:r>
            <a:r>
              <a:rPr lang="en-US" sz="2800" b="1" dirty="0" smtClean="0"/>
              <a:t>don’t value </a:t>
            </a:r>
            <a:r>
              <a:rPr lang="en-US" sz="2800" dirty="0" smtClean="0"/>
              <a:t>or are </a:t>
            </a:r>
            <a:r>
              <a:rPr lang="en-US" sz="2800" b="1" dirty="0" smtClean="0"/>
              <a:t>even aware</a:t>
            </a:r>
            <a:r>
              <a:rPr lang="en-US" sz="2800" dirty="0" smtClean="0"/>
              <a:t> of service providers </a:t>
            </a:r>
          </a:p>
          <a:p>
            <a:pPr>
              <a:spcBef>
                <a:spcPts val="1824"/>
              </a:spcBef>
            </a:pPr>
            <a:r>
              <a:rPr lang="en-US" sz="2800" dirty="0" smtClean="0"/>
              <a:t>Those that have worked with service providers have “mixed” feelings about the experience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Picture 3" descr="MC900053612.WM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3352800"/>
            <a:ext cx="2128157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230483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04800"/>
            <a:ext cx="3581400" cy="2286000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Business View of Service </a:t>
            </a:r>
            <a:r>
              <a:rPr lang="en-US" sz="2800" dirty="0" smtClean="0"/>
              <a:t>Providers</a:t>
            </a:r>
            <a:br>
              <a:rPr lang="en-US" sz="2800" dirty="0" smtClean="0"/>
            </a:br>
            <a:r>
              <a:rPr lang="en-US" sz="1600" dirty="0" smtClean="0"/>
              <a:t>  </a:t>
            </a:r>
            <a:br>
              <a:rPr lang="en-US" sz="1600" dirty="0" smtClean="0"/>
            </a:br>
            <a:r>
              <a:rPr lang="en-US" sz="2000" b="0" i="0" dirty="0" smtClean="0"/>
              <a:t>Kessler Foundation/National Organization on Disability Survey  - 2010</a:t>
            </a:r>
            <a:endParaRPr lang="en-US" sz="2000" b="0" i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228600"/>
            <a:ext cx="5029200" cy="2590800"/>
          </a:xfrm>
        </p:spPr>
        <p:txBody>
          <a:bodyPr/>
          <a:lstStyle/>
          <a:p>
            <a:pPr marL="0" indent="0">
              <a:spcBef>
                <a:spcPts val="1872"/>
              </a:spcBef>
              <a:buNone/>
              <a:defRPr/>
            </a:pPr>
            <a:r>
              <a:rPr lang="en-US" sz="2600" b="1" dirty="0" smtClean="0"/>
              <a:t>QUESTION: </a:t>
            </a:r>
            <a:r>
              <a:rPr lang="en-US" sz="2600" dirty="0" smtClean="0"/>
              <a:t>If you have used a service provider, how effective have they been in recruiting, hiring, and retaining people with disabilities?</a:t>
            </a:r>
          </a:p>
          <a:p>
            <a:pPr marL="0" indent="0">
              <a:spcBef>
                <a:spcPts val="1872"/>
              </a:spcBef>
              <a:buNone/>
              <a:defRPr/>
            </a:pPr>
            <a:r>
              <a:rPr lang="en-US" sz="2800" b="1" dirty="0" smtClean="0"/>
              <a:t>Response Choices: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62400" y="2667000"/>
            <a:ext cx="3733800" cy="6155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91440" bIns="91440" rtlCol="0">
            <a:spAutoFit/>
          </a:bodyPr>
          <a:lstStyle/>
          <a:p>
            <a:r>
              <a:rPr lang="en-US" sz="2800" b="1" dirty="0" smtClean="0">
                <a:latin typeface="Optima"/>
              </a:rPr>
              <a:t>1. Extremely Effective</a:t>
            </a:r>
            <a:endParaRPr lang="en-US" sz="2800" b="1" dirty="0">
              <a:latin typeface="Optim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96200" y="2667000"/>
            <a:ext cx="990600" cy="615553"/>
          </a:xfrm>
          <a:prstGeom prst="rect">
            <a:avLst/>
          </a:prstGeom>
          <a:solidFill>
            <a:srgbClr val="EA0000"/>
          </a:solidFill>
          <a:ln w="38100" cmpd="dbl">
            <a:solidFill>
              <a:schemeClr val="tx1"/>
            </a:solidFill>
          </a:ln>
        </p:spPr>
        <p:txBody>
          <a:bodyPr wrap="square" tIns="91440" bIns="91440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  </a:t>
            </a:r>
            <a:r>
              <a:rPr lang="en-US" sz="2800" dirty="0" smtClean="0">
                <a:solidFill>
                  <a:schemeClr val="bg1"/>
                </a:solidFill>
              </a:rPr>
              <a:t>4%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696200" y="3886200"/>
            <a:ext cx="990600" cy="615553"/>
          </a:xfrm>
          <a:prstGeom prst="rect">
            <a:avLst/>
          </a:prstGeom>
          <a:solidFill>
            <a:srgbClr val="008000"/>
          </a:solidFill>
          <a:ln w="38100" cmpd="dbl">
            <a:solidFill>
              <a:schemeClr val="tx1"/>
            </a:solidFill>
          </a:ln>
        </p:spPr>
        <p:txBody>
          <a:bodyPr wrap="square" tIns="91440" bIns="91440" rtlCol="0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</a:rPr>
              <a:t>16%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696200" y="3276600"/>
            <a:ext cx="990600" cy="615553"/>
          </a:xfrm>
          <a:prstGeom prst="rect">
            <a:avLst/>
          </a:prstGeom>
          <a:solidFill>
            <a:srgbClr val="660066"/>
          </a:solidFill>
          <a:ln w="38100" cmpd="dbl">
            <a:solidFill>
              <a:schemeClr val="tx1"/>
            </a:solidFill>
          </a:ln>
        </p:spPr>
        <p:txBody>
          <a:bodyPr wrap="square" tIns="91440" bIns="91440" rtlCol="0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</a:rPr>
              <a:t>14%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696200" y="4495800"/>
            <a:ext cx="990600" cy="615553"/>
          </a:xfrm>
          <a:prstGeom prst="rect">
            <a:avLst/>
          </a:prstGeom>
          <a:solidFill>
            <a:srgbClr val="000090"/>
          </a:solidFill>
          <a:ln w="38100" cmpd="dbl">
            <a:solidFill>
              <a:schemeClr val="tx1"/>
            </a:solidFill>
          </a:ln>
        </p:spPr>
        <p:txBody>
          <a:bodyPr wrap="square" tIns="91440" bIns="91440" rtlCol="0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</a:rPr>
              <a:t>51%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696200" y="5105400"/>
            <a:ext cx="990600" cy="615553"/>
          </a:xfrm>
          <a:prstGeom prst="rect">
            <a:avLst/>
          </a:prstGeom>
          <a:solidFill>
            <a:srgbClr val="FF6600"/>
          </a:solidFill>
          <a:ln w="38100" cmpd="dbl">
            <a:solidFill>
              <a:schemeClr val="tx1"/>
            </a:solidFill>
          </a:ln>
        </p:spPr>
        <p:txBody>
          <a:bodyPr wrap="square" tIns="91440" bIns="91440" rtlCol="0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</a:rPr>
              <a:t>11%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96200" y="5715000"/>
            <a:ext cx="990600" cy="615553"/>
          </a:xfrm>
          <a:prstGeom prst="rect">
            <a:avLst/>
          </a:prstGeom>
          <a:solidFill>
            <a:schemeClr val="tx1"/>
          </a:solidFill>
          <a:ln w="38100" cmpd="dbl">
            <a:solidFill>
              <a:schemeClr val="tx1"/>
            </a:solidFill>
          </a:ln>
        </p:spPr>
        <p:txBody>
          <a:bodyPr wrap="square" tIns="91440" bIns="91440" rtlCol="0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</a:rPr>
              <a:t>  4%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962400" y="3276600"/>
            <a:ext cx="3733800" cy="6155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91440" bIns="91440" rtlCol="0">
            <a:spAutoFit/>
          </a:bodyPr>
          <a:lstStyle/>
          <a:p>
            <a:r>
              <a:rPr lang="en-US" sz="2800" b="1" dirty="0" smtClean="0">
                <a:latin typeface="Optima"/>
                <a:cs typeface="Optima"/>
              </a:rPr>
              <a:t>2. Very Effective</a:t>
            </a:r>
            <a:endParaRPr lang="en-US" sz="2800" b="1" dirty="0">
              <a:latin typeface="Optima"/>
              <a:cs typeface="Optim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962400" y="3886200"/>
            <a:ext cx="3733800" cy="6155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91440" bIns="91440" rtlCol="0">
            <a:spAutoFit/>
          </a:bodyPr>
          <a:lstStyle/>
          <a:p>
            <a:r>
              <a:rPr lang="en-US" sz="2800" b="1" dirty="0" smtClean="0">
                <a:latin typeface="Optima"/>
                <a:cs typeface="Optima"/>
              </a:rPr>
              <a:t>3. Effective</a:t>
            </a:r>
            <a:endParaRPr lang="en-US" sz="2800" b="1" dirty="0">
              <a:latin typeface="Optima"/>
              <a:cs typeface="Optim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962400" y="4495800"/>
            <a:ext cx="3733800" cy="6155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91440" bIns="91440" rtlCol="0">
            <a:spAutoFit/>
          </a:bodyPr>
          <a:lstStyle/>
          <a:p>
            <a:r>
              <a:rPr lang="en-US" sz="2800" b="1" dirty="0" smtClean="0">
                <a:latin typeface="Optima"/>
                <a:cs typeface="Optima"/>
              </a:rPr>
              <a:t>4. Somewhat Effective</a:t>
            </a:r>
            <a:endParaRPr lang="en-US" sz="2800" b="1" dirty="0">
              <a:latin typeface="Optima"/>
              <a:cs typeface="Optim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962400" y="5105400"/>
            <a:ext cx="3733800" cy="6155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91440" bIns="91440" rtlCol="0">
            <a:spAutoFit/>
          </a:bodyPr>
          <a:lstStyle/>
          <a:p>
            <a:r>
              <a:rPr lang="en-US" sz="2800" b="1" dirty="0" smtClean="0">
                <a:latin typeface="Optima"/>
                <a:cs typeface="Optima"/>
              </a:rPr>
              <a:t>5. Not Effective</a:t>
            </a:r>
            <a:endParaRPr lang="en-US" sz="2800" b="1" dirty="0">
              <a:latin typeface="Optima"/>
              <a:cs typeface="Optim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962400" y="5715000"/>
            <a:ext cx="3733800" cy="6155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91440" bIns="91440" rtlCol="0">
            <a:spAutoFit/>
          </a:bodyPr>
          <a:lstStyle/>
          <a:p>
            <a:r>
              <a:rPr lang="en-US" sz="2800" b="1" dirty="0" smtClean="0">
                <a:latin typeface="Optima"/>
                <a:cs typeface="Optima"/>
              </a:rPr>
              <a:t>6. Unsure</a:t>
            </a:r>
            <a:endParaRPr lang="en-US" sz="2800" b="1" dirty="0">
              <a:latin typeface="Optima"/>
              <a:cs typeface="Optima"/>
            </a:endParaRPr>
          </a:p>
        </p:txBody>
      </p:sp>
      <p:pic>
        <p:nvPicPr>
          <p:cNvPr id="4" name="Picture 3" descr="survey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3105150"/>
            <a:ext cx="2870200" cy="215265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685800"/>
            <a:ext cx="2819400" cy="2057400"/>
          </a:xfrm>
          <a:effectLst>
            <a:glow rad="101600">
              <a:schemeClr val="accent4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39700" h="139700" prst="divot"/>
          </a:sp3d>
        </p:spPr>
        <p:txBody>
          <a:bodyPr/>
          <a:lstStyle/>
          <a:p>
            <a:pPr>
              <a:defRPr/>
            </a:pPr>
            <a:r>
              <a:rPr lang="en-US" dirty="0" smtClean="0"/>
              <a:t>Quality of Job Candidates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3800" y="533400"/>
            <a:ext cx="5181600" cy="5257800"/>
          </a:xfrm>
        </p:spPr>
        <p:txBody>
          <a:bodyPr/>
          <a:lstStyle/>
          <a:p>
            <a:pPr>
              <a:defRPr/>
            </a:pPr>
            <a:r>
              <a:rPr lang="en-US" sz="4000" b="1" dirty="0" smtClean="0"/>
              <a:t>13% </a:t>
            </a:r>
            <a:r>
              <a:rPr lang="en-US" sz="4000" dirty="0" smtClean="0"/>
              <a:t>of employers felt that service providers did not provide qualified candidates</a:t>
            </a:r>
          </a:p>
          <a:p>
            <a:pPr>
              <a:spcBef>
                <a:spcPts val="2160"/>
              </a:spcBef>
              <a:defRPr/>
            </a:pPr>
            <a:r>
              <a:rPr lang="en-US" sz="4000" b="1" dirty="0" smtClean="0"/>
              <a:t>1 out of 5 </a:t>
            </a:r>
            <a:r>
              <a:rPr lang="en-US" sz="4000" dirty="0" smtClean="0"/>
              <a:t>human resource managers surveyed felt this was an issue</a:t>
            </a:r>
            <a:endParaRPr lang="en-US" sz="4000" dirty="0"/>
          </a:p>
        </p:txBody>
      </p:sp>
      <p:sp>
        <p:nvSpPr>
          <p:cNvPr id="4" name="TextBox 3"/>
          <p:cNvSpPr txBox="1"/>
          <p:nvPr/>
        </p:nvSpPr>
        <p:spPr>
          <a:xfrm>
            <a:off x="4876800" y="6248400"/>
            <a:ext cx="4267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Source: Kessler Foundation/NOD Disability Survey - 2010</a:t>
            </a:r>
            <a:endParaRPr lang="en-US" sz="1200" dirty="0"/>
          </a:p>
        </p:txBody>
      </p:sp>
      <p:pic>
        <p:nvPicPr>
          <p:cNvPr id="5" name="Picture 4" descr="MC900056128-1.WM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3124200"/>
            <a:ext cx="2362200" cy="23622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3800" y="533400"/>
            <a:ext cx="5105400" cy="4648200"/>
          </a:xfrm>
        </p:spPr>
        <p:txBody>
          <a:bodyPr/>
          <a:lstStyle/>
          <a:p>
            <a:pPr>
              <a:spcBef>
                <a:spcPts val="1968"/>
              </a:spcBef>
              <a:defRPr/>
            </a:pPr>
            <a:r>
              <a:rPr lang="en-US" dirty="0"/>
              <a:t>F</a:t>
            </a:r>
            <a:r>
              <a:rPr lang="en-US" dirty="0" smtClean="0"/>
              <a:t>inding </a:t>
            </a:r>
            <a:r>
              <a:rPr lang="en-US" dirty="0"/>
              <a:t>qualified </a:t>
            </a:r>
            <a:r>
              <a:rPr lang="en-US" dirty="0" smtClean="0"/>
              <a:t>candidates</a:t>
            </a:r>
          </a:p>
          <a:p>
            <a:pPr>
              <a:spcBef>
                <a:spcPts val="1968"/>
              </a:spcBef>
              <a:defRPr/>
            </a:pPr>
            <a:r>
              <a:rPr lang="en-US" dirty="0" smtClean="0"/>
              <a:t>Expertise and assistance on job accommodations and assistive technology</a:t>
            </a:r>
          </a:p>
          <a:p>
            <a:pPr>
              <a:spcBef>
                <a:spcPts val="1968"/>
              </a:spcBef>
              <a:defRPr/>
            </a:pPr>
            <a:r>
              <a:rPr lang="en-US" dirty="0" smtClean="0"/>
              <a:t>Post-placement support, including job coaching</a:t>
            </a:r>
          </a:p>
          <a:p>
            <a:pPr>
              <a:spcBef>
                <a:spcPts val="1968"/>
              </a:spcBef>
              <a:defRPr/>
            </a:pPr>
            <a:r>
              <a:rPr lang="en-US" dirty="0" smtClean="0"/>
              <a:t>Matching job descriptions with skills of candidates</a:t>
            </a:r>
            <a:endParaRPr lang="en-US" dirty="0"/>
          </a:p>
        </p:txBody>
      </p:sp>
      <p:sp>
        <p:nvSpPr>
          <p:cNvPr id="4" name="Pentagon 3"/>
          <p:cNvSpPr/>
          <p:nvPr/>
        </p:nvSpPr>
        <p:spPr bwMode="auto">
          <a:xfrm>
            <a:off x="304800" y="457200"/>
            <a:ext cx="3276600" cy="2743200"/>
          </a:xfrm>
          <a:prstGeom prst="homePlate">
            <a:avLst/>
          </a:prstGeom>
          <a:ln>
            <a:headEnd type="none" w="med" len="med"/>
            <a:tailEnd type="none" w="med" len="med"/>
          </a:ln>
          <a:effectLst>
            <a:glow rad="101600">
              <a:schemeClr val="accent2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  <a:ex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ＭＳ Ｐゴシック" charset="0"/>
                <a:cs typeface="Geneva" charset="0"/>
              </a:rPr>
              <a:t>What Employers Say They Want Help With</a:t>
            </a:r>
            <a:endParaRPr kumimoji="0" lang="en-US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ＭＳ Ｐゴシック" charset="0"/>
              <a:cs typeface="Geneva" charset="0"/>
            </a:endParaRPr>
          </a:p>
        </p:txBody>
      </p:sp>
      <p:pic>
        <p:nvPicPr>
          <p:cNvPr id="2" name="Picture 1" descr="MC900438091.WM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3806190"/>
            <a:ext cx="2467708" cy="160401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1" name="Picture 3" descr="book-0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1000"/>
            <a:ext cx="5537200" cy="553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2" name="TextBox 4"/>
          <p:cNvSpPr txBox="1">
            <a:spLocks noChangeArrowheads="1"/>
          </p:cNvSpPr>
          <p:nvPr/>
        </p:nvSpPr>
        <p:spPr bwMode="auto">
          <a:xfrm>
            <a:off x="838200" y="1600200"/>
            <a:ext cx="3124200" cy="199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sz="2800" dirty="0" smtClean="0">
                <a:solidFill>
                  <a:srgbClr val="FFD01B"/>
                </a:solidFill>
                <a:latin typeface="Engravers MT" charset="0"/>
              </a:rPr>
              <a:t>A Job Development Story</a:t>
            </a:r>
            <a:endParaRPr lang="en-US" sz="2800" dirty="0">
              <a:solidFill>
                <a:srgbClr val="FFD01B"/>
              </a:solidFill>
              <a:latin typeface="Engravers MT" charset="0"/>
            </a:endParaRPr>
          </a:p>
        </p:txBody>
      </p:sp>
      <p:pic>
        <p:nvPicPr>
          <p:cNvPr id="4" name="Picture 3" descr="Hoff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1219200"/>
            <a:ext cx="2286000" cy="3606085"/>
          </a:xfrm>
          <a:prstGeom prst="rect">
            <a:avLst/>
          </a:prstGeom>
          <a:noFill/>
          <a:ln w="57150" cmpd="thickThin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562600" y="5181600"/>
            <a:ext cx="266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latin typeface="Comic Sans MS"/>
                <a:cs typeface="Comic Sans MS"/>
              </a:rPr>
              <a:t>The Employer</a:t>
            </a:r>
            <a:endParaRPr lang="en-US" sz="2800" b="1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011528059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685800"/>
          </a:xfrm>
        </p:spPr>
        <p:txBody>
          <a:bodyPr/>
          <a:lstStyle/>
          <a:p>
            <a:r>
              <a:rPr lang="en-US" sz="3200" dirty="0" smtClean="0"/>
              <a:t>Top 10 Biggest Job Development Mistakes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686800" cy="4800600"/>
          </a:xfrm>
        </p:spPr>
        <p:txBody>
          <a:bodyPr/>
          <a:lstStyle/>
          <a:p>
            <a:pPr marL="0" indent="0">
              <a:spcBef>
                <a:spcPts val="1272"/>
              </a:spcBef>
              <a:buNone/>
            </a:pPr>
            <a:r>
              <a:rPr lang="en-US" sz="2800" b="1" dirty="0" smtClean="0"/>
              <a:t>10. </a:t>
            </a:r>
            <a:r>
              <a:rPr lang="en-US" sz="2800" dirty="0" smtClean="0"/>
              <a:t>Focusing </a:t>
            </a:r>
            <a:r>
              <a:rPr lang="en-US" sz="2800" dirty="0"/>
              <a:t>on a very narrow portion of the job market</a:t>
            </a:r>
            <a:r>
              <a:rPr lang="en-US" sz="2800" dirty="0" smtClean="0"/>
              <a:t>,</a:t>
            </a:r>
            <a:br>
              <a:rPr lang="en-US" sz="2800" dirty="0" smtClean="0"/>
            </a:br>
            <a:r>
              <a:rPr lang="en-US" sz="2800" dirty="0" smtClean="0"/>
              <a:t>       particularly </a:t>
            </a:r>
            <a:r>
              <a:rPr lang="en-US" sz="2800" dirty="0"/>
              <a:t>“disability-friendly” </a:t>
            </a:r>
            <a:r>
              <a:rPr lang="en-US" sz="2800" dirty="0" smtClean="0"/>
              <a:t>jobs.</a:t>
            </a:r>
            <a:endParaRPr lang="en-US" sz="2800" dirty="0"/>
          </a:p>
          <a:p>
            <a:pPr marL="0" indent="0">
              <a:spcBef>
                <a:spcPts val="1272"/>
              </a:spcBef>
              <a:buNone/>
            </a:pPr>
            <a:r>
              <a:rPr lang="en-US" sz="2800" b="1" dirty="0" smtClean="0"/>
              <a:t>  9.  </a:t>
            </a:r>
            <a:r>
              <a:rPr lang="en-US" sz="2800" dirty="0" smtClean="0"/>
              <a:t>Marketing </a:t>
            </a:r>
            <a:r>
              <a:rPr lang="en-US" sz="2800" dirty="0"/>
              <a:t>“</a:t>
            </a:r>
            <a:r>
              <a:rPr lang="en-US" sz="2800" b="1" i="1" dirty="0"/>
              <a:t>disability</a:t>
            </a:r>
            <a:r>
              <a:rPr lang="en-US" sz="2800" dirty="0"/>
              <a:t>” or “</a:t>
            </a:r>
            <a:r>
              <a:rPr lang="en-US" sz="2800" b="1" i="1" dirty="0"/>
              <a:t>the program</a:t>
            </a:r>
            <a:r>
              <a:rPr lang="en-US" sz="2800" dirty="0" smtClean="0"/>
              <a:t>”</a:t>
            </a:r>
            <a:br>
              <a:rPr lang="en-US" sz="2800" dirty="0" smtClean="0"/>
            </a:br>
            <a:r>
              <a:rPr lang="en-US" sz="2800" dirty="0" smtClean="0"/>
              <a:t>       not  individuals.</a:t>
            </a:r>
            <a:endParaRPr lang="en-US" sz="2800" dirty="0"/>
          </a:p>
          <a:p>
            <a:pPr marL="0" indent="0">
              <a:spcBef>
                <a:spcPts val="1272"/>
              </a:spcBef>
              <a:buNone/>
            </a:pPr>
            <a:r>
              <a:rPr lang="en-US" sz="2800" dirty="0" smtClean="0"/>
              <a:t> </a:t>
            </a:r>
            <a:r>
              <a:rPr lang="en-US" sz="2800" b="1" dirty="0" smtClean="0"/>
              <a:t> 8. </a:t>
            </a:r>
            <a:r>
              <a:rPr lang="en-US" sz="2800" dirty="0" smtClean="0"/>
              <a:t>Not </a:t>
            </a:r>
            <a:r>
              <a:rPr lang="en-US" sz="2800" dirty="0"/>
              <a:t>knowing the job seeker – </a:t>
            </a:r>
            <a:r>
              <a:rPr lang="en-US" sz="2800" b="1" i="1" dirty="0"/>
              <a:t>and job seekers </a:t>
            </a:r>
            <a:r>
              <a:rPr lang="en-US" sz="2800" b="1" i="1" dirty="0" smtClean="0"/>
              <a:t>not</a:t>
            </a:r>
            <a:br>
              <a:rPr lang="en-US" sz="2800" b="1" i="1" dirty="0" smtClean="0"/>
            </a:br>
            <a:r>
              <a:rPr lang="en-US" sz="2800" b="1" i="1" dirty="0" smtClean="0"/>
              <a:t>       knowing themselves</a:t>
            </a:r>
            <a:r>
              <a:rPr lang="en-US" sz="2800" b="1" dirty="0" smtClean="0"/>
              <a:t>.</a:t>
            </a:r>
            <a:endParaRPr lang="en-US" sz="2800" b="1" dirty="0"/>
          </a:p>
          <a:p>
            <a:pPr marL="0" indent="0">
              <a:spcBef>
                <a:spcPts val="1272"/>
              </a:spcBef>
              <a:buNone/>
            </a:pPr>
            <a:r>
              <a:rPr lang="en-US" sz="2800" dirty="0" smtClean="0"/>
              <a:t> </a:t>
            </a:r>
            <a:r>
              <a:rPr lang="en-US" sz="2800" b="1" dirty="0" smtClean="0"/>
              <a:t> 7. </a:t>
            </a:r>
            <a:r>
              <a:rPr lang="en-US" sz="2800" dirty="0" smtClean="0"/>
              <a:t>Job </a:t>
            </a:r>
            <a:r>
              <a:rPr lang="en-US" sz="2800" dirty="0"/>
              <a:t>development that has </a:t>
            </a:r>
            <a:r>
              <a:rPr lang="en-US" sz="2800" b="1" i="1" dirty="0"/>
              <a:t>no relation </a:t>
            </a:r>
            <a:r>
              <a:rPr lang="en-US" sz="2800" b="1" i="1" dirty="0" smtClean="0"/>
              <a:t>to</a:t>
            </a:r>
            <a:br>
              <a:rPr lang="en-US" sz="2800" b="1" i="1" dirty="0" smtClean="0"/>
            </a:br>
            <a:r>
              <a:rPr lang="en-US" sz="2800" b="1" i="1" dirty="0" smtClean="0"/>
              <a:t>      planning process</a:t>
            </a:r>
            <a:r>
              <a:rPr lang="en-US" sz="2800" dirty="0" smtClean="0"/>
              <a:t>.</a:t>
            </a:r>
            <a:endParaRPr lang="en-US" sz="2800" dirty="0"/>
          </a:p>
          <a:p>
            <a:pPr marL="0" indent="0">
              <a:spcBef>
                <a:spcPts val="1272"/>
              </a:spcBef>
              <a:buNone/>
            </a:pPr>
            <a:r>
              <a:rPr lang="en-US" sz="2800" dirty="0" smtClean="0"/>
              <a:t>  </a:t>
            </a:r>
            <a:r>
              <a:rPr lang="en-US" sz="2800" b="1" dirty="0" smtClean="0"/>
              <a:t>6. </a:t>
            </a:r>
            <a:r>
              <a:rPr lang="en-US" sz="2800" dirty="0" smtClean="0"/>
              <a:t>Not </a:t>
            </a:r>
            <a:r>
              <a:rPr lang="en-US" sz="2800" dirty="0"/>
              <a:t>using a </a:t>
            </a:r>
            <a:r>
              <a:rPr lang="en-US" sz="2800" b="1" i="1" dirty="0"/>
              <a:t>strength-based </a:t>
            </a:r>
            <a:r>
              <a:rPr lang="en-US" sz="2800" dirty="0" smtClean="0"/>
              <a:t>approach.</a:t>
            </a:r>
            <a:endParaRPr lang="en-US" sz="2800" dirty="0"/>
          </a:p>
        </p:txBody>
      </p:sp>
      <p:pic>
        <p:nvPicPr>
          <p:cNvPr id="7" name="Picture 6" descr="Top-10-Home-Business-Mistakes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017"/>
          <a:stretch/>
        </p:blipFill>
        <p:spPr>
          <a:xfrm>
            <a:off x="7287959" y="5029200"/>
            <a:ext cx="1822174" cy="1507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995142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229600" cy="762000"/>
          </a:xfrm>
        </p:spPr>
        <p:txBody>
          <a:bodyPr/>
          <a:lstStyle/>
          <a:p>
            <a:r>
              <a:rPr lang="en-US" dirty="0" smtClean="0"/>
              <a:t>Top 10 Job Development Mistakes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610600" cy="4572000"/>
          </a:xfrm>
        </p:spPr>
        <p:txBody>
          <a:bodyPr/>
          <a:lstStyle/>
          <a:p>
            <a:pPr marL="0" indent="0">
              <a:spcBef>
                <a:spcPts val="1872"/>
              </a:spcBef>
              <a:buNone/>
            </a:pPr>
            <a:r>
              <a:rPr lang="en-US" sz="2800" b="1" dirty="0" smtClean="0"/>
              <a:t>5.  </a:t>
            </a:r>
            <a:r>
              <a:rPr lang="en-US" sz="2800" dirty="0" smtClean="0"/>
              <a:t>Not understanding and responding to</a:t>
            </a:r>
            <a:br>
              <a:rPr lang="en-US" sz="2800" dirty="0" smtClean="0"/>
            </a:br>
            <a:r>
              <a:rPr lang="en-US" sz="2800" dirty="0" smtClean="0"/>
              <a:t>      </a:t>
            </a:r>
            <a:r>
              <a:rPr lang="en-US" sz="2800" b="1" i="1" dirty="0" smtClean="0"/>
              <a:t>employer’s needs</a:t>
            </a:r>
            <a:r>
              <a:rPr lang="en-US" sz="2800" dirty="0" smtClean="0"/>
              <a:t>.</a:t>
            </a:r>
            <a:endParaRPr lang="en-US" sz="2800" dirty="0"/>
          </a:p>
          <a:p>
            <a:pPr marL="0" indent="0">
              <a:spcBef>
                <a:spcPts val="1872"/>
              </a:spcBef>
              <a:buNone/>
            </a:pPr>
            <a:r>
              <a:rPr lang="en-US" sz="2800" b="1" dirty="0"/>
              <a:t>4. </a:t>
            </a:r>
            <a:r>
              <a:rPr lang="en-US" sz="2800" b="1" dirty="0" smtClean="0"/>
              <a:t> </a:t>
            </a:r>
            <a:r>
              <a:rPr lang="en-US" sz="2800" dirty="0" smtClean="0"/>
              <a:t>Not </a:t>
            </a:r>
            <a:r>
              <a:rPr lang="en-US" sz="2800" dirty="0"/>
              <a:t>using </a:t>
            </a:r>
            <a:r>
              <a:rPr lang="en-US" sz="2800" dirty="0" smtClean="0"/>
              <a:t>personal &amp; professional </a:t>
            </a:r>
            <a:r>
              <a:rPr lang="en-US" sz="2800" b="1" i="1" dirty="0" smtClean="0"/>
              <a:t>networks</a:t>
            </a:r>
            <a:r>
              <a:rPr lang="en-US" sz="2800" dirty="0" smtClean="0"/>
              <a:t>.</a:t>
            </a:r>
            <a:endParaRPr lang="en-US" sz="2800" dirty="0"/>
          </a:p>
          <a:p>
            <a:pPr marL="0" indent="0">
              <a:spcBef>
                <a:spcPts val="1872"/>
              </a:spcBef>
              <a:buNone/>
            </a:pPr>
            <a:r>
              <a:rPr lang="en-US" sz="2800" b="1" dirty="0"/>
              <a:t>3. </a:t>
            </a:r>
            <a:r>
              <a:rPr lang="en-US" sz="2800" b="1" dirty="0" smtClean="0"/>
              <a:t> </a:t>
            </a:r>
            <a:r>
              <a:rPr lang="en-US" sz="2800" dirty="0" smtClean="0"/>
              <a:t>Reliance </a:t>
            </a:r>
            <a:r>
              <a:rPr lang="en-US" sz="2800" dirty="0"/>
              <a:t>on </a:t>
            </a:r>
            <a:r>
              <a:rPr lang="en-US" sz="2800" b="1" i="1" dirty="0"/>
              <a:t>employer-demand </a:t>
            </a:r>
            <a:r>
              <a:rPr lang="en-US" sz="2800" dirty="0" smtClean="0"/>
              <a:t>techniques.</a:t>
            </a:r>
            <a:endParaRPr lang="en-US" sz="2800" dirty="0"/>
          </a:p>
          <a:p>
            <a:pPr marL="0" indent="0">
              <a:spcBef>
                <a:spcPts val="1872"/>
              </a:spcBef>
              <a:buNone/>
            </a:pPr>
            <a:r>
              <a:rPr lang="en-US" sz="2800" b="1" dirty="0"/>
              <a:t>2. </a:t>
            </a:r>
            <a:r>
              <a:rPr lang="en-US" sz="2800" b="1" dirty="0" smtClean="0"/>
              <a:t> </a:t>
            </a:r>
            <a:r>
              <a:rPr lang="en-US" sz="2800" dirty="0" smtClean="0"/>
              <a:t>Lack </a:t>
            </a:r>
            <a:r>
              <a:rPr lang="en-US" sz="2800" dirty="0"/>
              <a:t>of knowledge &amp;</a:t>
            </a:r>
            <a:r>
              <a:rPr lang="en-US" sz="2800" dirty="0" smtClean="0"/>
              <a:t> </a:t>
            </a:r>
            <a:r>
              <a:rPr lang="en-US" sz="2800" dirty="0"/>
              <a:t>creativity regarding how </a:t>
            </a:r>
            <a:r>
              <a:rPr lang="en-US" sz="2800" dirty="0" smtClean="0"/>
              <a:t>to</a:t>
            </a:r>
            <a:br>
              <a:rPr lang="en-US" sz="2800" dirty="0" smtClean="0"/>
            </a:br>
            <a:r>
              <a:rPr lang="en-US" sz="2800" dirty="0" smtClean="0"/>
              <a:t>     </a:t>
            </a:r>
            <a:r>
              <a:rPr lang="en-US" sz="2800" b="1" i="1" dirty="0" smtClean="0"/>
              <a:t>enhance match</a:t>
            </a:r>
            <a:r>
              <a:rPr lang="en-US" sz="2800" dirty="0" smtClean="0"/>
              <a:t> between job seeker and employer.</a:t>
            </a:r>
          </a:p>
          <a:p>
            <a:pPr marL="0" indent="0">
              <a:spcBef>
                <a:spcPts val="1872"/>
              </a:spcBef>
              <a:buNone/>
            </a:pPr>
            <a:r>
              <a:rPr lang="en-US" sz="2800" b="1" dirty="0" smtClean="0"/>
              <a:t>1.  </a:t>
            </a:r>
            <a:r>
              <a:rPr lang="en-US" sz="2800" dirty="0" smtClean="0"/>
              <a:t>“</a:t>
            </a:r>
            <a:r>
              <a:rPr lang="en-US" sz="2800" b="1" i="1" dirty="0" smtClean="0"/>
              <a:t>Leaving it to the professionals</a:t>
            </a:r>
            <a:r>
              <a:rPr lang="en-US" sz="2800" dirty="0" smtClean="0"/>
              <a:t>” - lack of involvement</a:t>
            </a:r>
            <a:br>
              <a:rPr lang="en-US" sz="2800" dirty="0" smtClean="0"/>
            </a:br>
            <a:r>
              <a:rPr lang="en-US" sz="2800" dirty="0" smtClean="0"/>
              <a:t>      by job seeker in job search.</a:t>
            </a:r>
          </a:p>
          <a:p>
            <a:endParaRPr lang="en-US" dirty="0"/>
          </a:p>
        </p:txBody>
      </p:sp>
      <p:pic>
        <p:nvPicPr>
          <p:cNvPr id="4" name="Picture 3" descr="MC900078714.WM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0" y="1371600"/>
            <a:ext cx="1132056" cy="212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988917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7924800" cy="3962400"/>
          </a:xfrm>
          <a:effectLst>
            <a:glow rad="63500">
              <a:schemeClr val="accent1">
                <a:satMod val="175000"/>
                <a:alpha val="40000"/>
              </a:schemeClr>
            </a:glow>
            <a:innerShdw blurRad="63500" dist="50800" dir="135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/>
          <a:lstStyle/>
          <a:p>
            <a:pPr>
              <a:defRPr/>
            </a:pPr>
            <a:r>
              <a:rPr lang="en-US" dirty="0" smtClean="0"/>
              <a:t>Why is it that everything we know about a good job search for people without disabilities,</a:t>
            </a:r>
            <a:br>
              <a:rPr lang="en-US" dirty="0" smtClean="0"/>
            </a:br>
            <a:r>
              <a:rPr lang="en-US" dirty="0" smtClean="0"/>
              <a:t>we too often forget</a:t>
            </a:r>
            <a:br>
              <a:rPr lang="en-US" dirty="0" smtClean="0"/>
            </a:br>
            <a:r>
              <a:rPr lang="en-US" dirty="0" smtClean="0"/>
              <a:t>when it comes to a job seeker with a disability?</a:t>
            </a:r>
            <a:endParaRPr lang="en-US" dirty="0"/>
          </a:p>
        </p:txBody>
      </p:sp>
      <p:pic>
        <p:nvPicPr>
          <p:cNvPr id="122884" name="Picture 4" descr="joblisting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4267200"/>
            <a:ext cx="1828800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17251604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2743200" cy="1676400"/>
          </a:xfrm>
          <a:scene3d>
            <a:camera prst="orthographicFront"/>
            <a:lightRig rig="threePt" dir="t"/>
          </a:scene3d>
          <a:sp3d>
            <a:bevelT w="139700" h="139700" prst="divot"/>
          </a:sp3d>
        </p:spPr>
        <p:txBody>
          <a:bodyPr/>
          <a:lstStyle/>
          <a:p>
            <a:r>
              <a:rPr lang="en-US" dirty="0" smtClean="0"/>
              <a:t>Do you know?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0" y="685800"/>
            <a:ext cx="5334000" cy="5334000"/>
          </a:xfrm>
        </p:spPr>
        <p:txBody>
          <a:bodyPr/>
          <a:lstStyle/>
          <a:p>
            <a:r>
              <a:rPr lang="en-US" dirty="0" smtClean="0"/>
              <a:t>Who are the biggest employers in your area?</a:t>
            </a:r>
          </a:p>
          <a:p>
            <a:pPr>
              <a:spcBef>
                <a:spcPts val="1968"/>
              </a:spcBef>
            </a:pPr>
            <a:r>
              <a:rPr lang="en-US" dirty="0" smtClean="0"/>
              <a:t>What employers do the most hiring?</a:t>
            </a:r>
          </a:p>
          <a:p>
            <a:pPr>
              <a:spcBef>
                <a:spcPts val="1968"/>
              </a:spcBef>
            </a:pPr>
            <a:r>
              <a:rPr lang="en-US" dirty="0" smtClean="0"/>
              <a:t>Where are the largest number of job openings?</a:t>
            </a:r>
          </a:p>
          <a:p>
            <a:pPr>
              <a:spcBef>
                <a:spcPts val="1968"/>
              </a:spcBef>
            </a:pPr>
            <a:r>
              <a:rPr lang="en-US" dirty="0" smtClean="0"/>
              <a:t>What skills and occupations are in the highest demand?</a:t>
            </a:r>
            <a:endParaRPr lang="en-US" dirty="0"/>
          </a:p>
        </p:txBody>
      </p:sp>
      <p:pic>
        <p:nvPicPr>
          <p:cNvPr id="4" name="Picture 3" descr="Do you Know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514600"/>
            <a:ext cx="3120052" cy="3111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30546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33400"/>
            <a:ext cx="3048000" cy="1752600"/>
          </a:xfrm>
          <a:scene3d>
            <a:camera prst="isometricOffAxis1Right"/>
            <a:lightRig rig="threePt" dir="t"/>
          </a:scene3d>
          <a:sp3d>
            <a:bevelT w="139700" h="139700" prst="divot"/>
          </a:sp3d>
        </p:spPr>
        <p:txBody>
          <a:bodyPr/>
          <a:lstStyle/>
          <a:p>
            <a:r>
              <a:rPr lang="en-US" sz="3600" dirty="0" smtClean="0"/>
              <a:t>Expanding the Labor Market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0" y="381000"/>
            <a:ext cx="5181600" cy="5715000"/>
          </a:xfrm>
        </p:spPr>
        <p:txBody>
          <a:bodyPr/>
          <a:lstStyle/>
          <a:p>
            <a:r>
              <a:rPr lang="en-US" sz="2600" dirty="0" smtClean="0">
                <a:latin typeface="+mn-lt"/>
              </a:rPr>
              <a:t>Use LMI to understand the </a:t>
            </a:r>
            <a:r>
              <a:rPr lang="en-US" sz="2600" dirty="0">
                <a:latin typeface="+mn-lt"/>
              </a:rPr>
              <a:t>Labor Market - </a:t>
            </a:r>
            <a:r>
              <a:rPr lang="en-US" sz="2600" dirty="0">
                <a:latin typeface="+mn-lt"/>
                <a:hlinkClick r:id="rId2"/>
              </a:rPr>
              <a:t>http://</a:t>
            </a:r>
            <a:r>
              <a:rPr lang="en-US" sz="2600" dirty="0" smtClean="0">
                <a:latin typeface="+mn-lt"/>
                <a:hlinkClick r:id="rId2"/>
              </a:rPr>
              <a:t>ohiolmi.com</a:t>
            </a:r>
            <a:r>
              <a:rPr lang="en-US" sz="2600" dirty="0" smtClean="0">
                <a:latin typeface="+mn-lt"/>
              </a:rPr>
              <a:t> </a:t>
            </a:r>
          </a:p>
          <a:p>
            <a:pPr>
              <a:spcBef>
                <a:spcPts val="1224"/>
              </a:spcBef>
            </a:pPr>
            <a:r>
              <a:rPr lang="en-US" sz="2600" dirty="0" smtClean="0">
                <a:latin typeface="+mn-lt"/>
              </a:rPr>
              <a:t>Consider </a:t>
            </a:r>
            <a:r>
              <a:rPr lang="en-US" sz="2600" dirty="0">
                <a:latin typeface="+mn-lt"/>
              </a:rPr>
              <a:t>the full labor </a:t>
            </a:r>
            <a:r>
              <a:rPr lang="en-US" sz="2600" dirty="0" smtClean="0">
                <a:latin typeface="+mn-lt"/>
              </a:rPr>
              <a:t>market when planning and conducting a job search</a:t>
            </a:r>
          </a:p>
          <a:p>
            <a:pPr>
              <a:spcBef>
                <a:spcPts val="1224"/>
              </a:spcBef>
            </a:pPr>
            <a:r>
              <a:rPr lang="en-US" sz="2600" dirty="0" smtClean="0">
                <a:latin typeface="+mn-lt"/>
              </a:rPr>
              <a:t>Don’t forget about public employment:</a:t>
            </a:r>
          </a:p>
          <a:p>
            <a:pPr lvl="1"/>
            <a:r>
              <a:rPr lang="en-US" sz="2400" i="1" dirty="0" smtClean="0"/>
              <a:t>Federal hiring initiatives (Schedule A)</a:t>
            </a:r>
          </a:p>
          <a:p>
            <a:pPr lvl="1"/>
            <a:r>
              <a:rPr lang="en-US" sz="2400" i="1" dirty="0" smtClean="0"/>
              <a:t>State and local government</a:t>
            </a:r>
          </a:p>
          <a:p>
            <a:pPr>
              <a:spcBef>
                <a:spcPts val="1224"/>
              </a:spcBef>
            </a:pPr>
            <a:r>
              <a:rPr lang="en-US" sz="2600" dirty="0" smtClean="0">
                <a:latin typeface="+mn-lt"/>
              </a:rPr>
              <a:t>Don’t forget about Federal Contractors</a:t>
            </a:r>
          </a:p>
          <a:p>
            <a:endParaRPr lang="en-US" dirty="0"/>
          </a:p>
        </p:txBody>
      </p:sp>
      <p:pic>
        <p:nvPicPr>
          <p:cNvPr id="4" name="Picture 3" descr="MC900297279.WM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200399"/>
            <a:ext cx="2133600" cy="20305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25880" y="3962400"/>
            <a:ext cx="1188720" cy="369332"/>
          </a:xfrm>
          <a:prstGeom prst="rect">
            <a:avLst/>
          </a:prstGeom>
          <a:solidFill>
            <a:srgbClr val="D27315"/>
          </a:solidFill>
          <a:ln w="12700" cmpd="sng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i="1" dirty="0" smtClean="0">
                <a:solidFill>
                  <a:schemeClr val="accent3"/>
                </a:solidFill>
                <a:latin typeface="Arial Narrow"/>
              </a:rPr>
              <a:t>Labor</a:t>
            </a:r>
            <a:endParaRPr lang="en-US" sz="1800" i="1" dirty="0">
              <a:solidFill>
                <a:schemeClr val="accent3"/>
              </a:solidFill>
              <a:latin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751482656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6" dur="30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8" dur="3000" fill="hold"/>
                                        <p:tgtEl>
                                          <p:spTgt spid="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8305800" cy="3733800"/>
          </a:xfrm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/>
          <a:lstStyle/>
          <a:p>
            <a:r>
              <a:rPr lang="en-US" sz="3600" i="0" dirty="0" smtClean="0">
                <a:latin typeface="Comic Sans MS"/>
                <a:cs typeface="Comic Sans MS"/>
              </a:rPr>
              <a:t>Labor Market Information shouldn’t drive the</a:t>
            </a:r>
            <a:br>
              <a:rPr lang="en-US" sz="3600" i="0" dirty="0" smtClean="0">
                <a:latin typeface="Comic Sans MS"/>
                <a:cs typeface="Comic Sans MS"/>
              </a:rPr>
            </a:br>
            <a:r>
              <a:rPr lang="en-US" sz="3600" i="0" dirty="0" smtClean="0">
                <a:latin typeface="Comic Sans MS"/>
                <a:cs typeface="Comic Sans MS"/>
              </a:rPr>
              <a:t>employment process</a:t>
            </a:r>
            <a:r>
              <a:rPr lang="en-US" sz="3600" dirty="0" smtClean="0">
                <a:latin typeface="Comic Sans MS"/>
                <a:cs typeface="Comic Sans MS"/>
              </a:rPr>
              <a:t>.</a:t>
            </a:r>
            <a:br>
              <a:rPr lang="en-US" sz="3600" dirty="0" smtClean="0">
                <a:latin typeface="Comic Sans MS"/>
                <a:cs typeface="Comic Sans MS"/>
              </a:rPr>
            </a:br>
            <a:r>
              <a:rPr lang="en-US" sz="3600" dirty="0" smtClean="0">
                <a:latin typeface="Comic Sans MS"/>
                <a:cs typeface="Comic Sans MS"/>
              </a:rPr>
              <a:t/>
            </a:r>
            <a:br>
              <a:rPr lang="en-US" sz="3600" dirty="0" smtClean="0">
                <a:latin typeface="Comic Sans MS"/>
                <a:cs typeface="Comic Sans MS"/>
              </a:rPr>
            </a:br>
            <a:r>
              <a:rPr lang="en-US" sz="3600" i="0" dirty="0" smtClean="0">
                <a:solidFill>
                  <a:srgbClr val="FFFF00"/>
                </a:solidFill>
                <a:latin typeface="+mn-lt"/>
                <a:cs typeface="Comic Sans MS"/>
              </a:rPr>
              <a:t>But it should be</a:t>
            </a:r>
            <a:br>
              <a:rPr lang="en-US" sz="3600" i="0" dirty="0" smtClean="0">
                <a:solidFill>
                  <a:srgbClr val="FFFF00"/>
                </a:solidFill>
                <a:latin typeface="+mn-lt"/>
                <a:cs typeface="Comic Sans MS"/>
              </a:rPr>
            </a:br>
            <a:r>
              <a:rPr lang="en-US" sz="3600" i="0" dirty="0" smtClean="0">
                <a:solidFill>
                  <a:srgbClr val="FFFF00"/>
                </a:solidFill>
                <a:latin typeface="+mn-lt"/>
                <a:cs typeface="Comic Sans MS"/>
              </a:rPr>
              <a:t>part of the process.</a:t>
            </a:r>
            <a:endParaRPr lang="en-US" sz="3600" i="0" dirty="0">
              <a:solidFill>
                <a:srgbClr val="FFFF00"/>
              </a:solidFill>
              <a:latin typeface="+mn-lt"/>
              <a:cs typeface="Comic Sans MS"/>
            </a:endParaRPr>
          </a:p>
        </p:txBody>
      </p:sp>
      <p:pic>
        <p:nvPicPr>
          <p:cNvPr id="3" name="Picture 2" descr="sad_reality_labor_market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4343400"/>
            <a:ext cx="2413000" cy="1591072"/>
          </a:xfrm>
          <a:prstGeom prst="rect">
            <a:avLst/>
          </a:prstGeom>
        </p:spPr>
      </p:pic>
      <p:pic>
        <p:nvPicPr>
          <p:cNvPr id="4" name="Picture 3" descr="MP900422772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4343400"/>
            <a:ext cx="1905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813474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0" y="762000"/>
            <a:ext cx="4876800" cy="4267200"/>
          </a:xfrm>
          <a:effectLst>
            <a:glow rad="635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/>
          <a:lstStyle/>
          <a:p>
            <a:r>
              <a:rPr lang="en-US" sz="3600" i="0" dirty="0" smtClean="0"/>
              <a:t>Employers with previous experience with workers with disabilities have favorable perceptions and are</a:t>
            </a:r>
            <a:br>
              <a:rPr lang="en-US" sz="3600" i="0" dirty="0" smtClean="0"/>
            </a:br>
            <a:r>
              <a:rPr lang="en-US" sz="3600" i="0" dirty="0" smtClean="0"/>
              <a:t>more likely to hire.</a:t>
            </a:r>
            <a:endParaRPr lang="en-US" sz="3600" i="0" dirty="0"/>
          </a:p>
        </p:txBody>
      </p:sp>
      <p:pic>
        <p:nvPicPr>
          <p:cNvPr id="3" name="Picture 2" descr="MP900423036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838200"/>
            <a:ext cx="274320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181600" y="5867400"/>
            <a:ext cx="37627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Unger, D. – Virginia Commonwealth University, 2002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26466154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33" y="609600"/>
            <a:ext cx="3928533" cy="762000"/>
          </a:xfrm>
          <a:solidFill>
            <a:srgbClr val="008000"/>
          </a:solidFill>
          <a:scene3d>
            <a:camera prst="isometricOffAxis1Right"/>
            <a:lightRig rig="threePt" dir="t"/>
          </a:scene3d>
          <a:sp3d>
            <a:bevelT w="139700" h="139700" prst="divot"/>
          </a:sp3d>
        </p:spPr>
        <p:txBody>
          <a:bodyPr/>
          <a:lstStyle/>
          <a:p>
            <a:pPr>
              <a:spcBef>
                <a:spcPts val="1200"/>
              </a:spcBef>
              <a:defRPr/>
            </a:pPr>
            <a:r>
              <a:rPr lang="en-US" sz="3600" dirty="0" smtClean="0">
                <a:solidFill>
                  <a:srgbClr val="FFFF00"/>
                </a:solidFill>
              </a:rPr>
              <a:t>More Networking</a:t>
            </a:r>
            <a:endParaRPr lang="en-US" sz="3600" dirty="0">
              <a:solidFill>
                <a:srgbClr val="FFFF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38600" y="381000"/>
            <a:ext cx="4876800" cy="5943600"/>
          </a:xfrm>
        </p:spPr>
        <p:txBody>
          <a:bodyPr/>
          <a:lstStyle/>
          <a:p>
            <a:pPr>
              <a:spcBef>
                <a:spcPts val="1368"/>
              </a:spcBef>
              <a:defRPr/>
            </a:pPr>
            <a:r>
              <a:rPr lang="en-US" dirty="0" smtClean="0"/>
              <a:t>Utilize current employers as a springboard</a:t>
            </a:r>
          </a:p>
          <a:p>
            <a:pPr>
              <a:spcBef>
                <a:spcPts val="1368"/>
              </a:spcBef>
              <a:defRPr/>
            </a:pPr>
            <a:r>
              <a:rPr lang="en-US" dirty="0" smtClean="0"/>
              <a:t>Find employers with personal connection to disability</a:t>
            </a:r>
          </a:p>
          <a:p>
            <a:pPr>
              <a:spcBef>
                <a:spcPts val="1368"/>
              </a:spcBef>
              <a:defRPr/>
            </a:pPr>
            <a:r>
              <a:rPr lang="en-US" dirty="0" smtClean="0"/>
              <a:t>Build social capital through community involvement</a:t>
            </a:r>
          </a:p>
          <a:p>
            <a:pPr>
              <a:spcBef>
                <a:spcPts val="1368"/>
              </a:spcBef>
              <a:defRPr/>
            </a:pPr>
            <a:r>
              <a:rPr lang="en-US" dirty="0" smtClean="0"/>
              <a:t>It’s everyone’s job</a:t>
            </a:r>
          </a:p>
        </p:txBody>
      </p:sp>
      <p:pic>
        <p:nvPicPr>
          <p:cNvPr id="50181" name="Picture 3" descr="personal-network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600200"/>
            <a:ext cx="2289687" cy="153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 bwMode="auto">
          <a:xfrm>
            <a:off x="152400" y="3962400"/>
            <a:ext cx="3657600" cy="685800"/>
          </a:xfrm>
          <a:prstGeom prst="rect">
            <a:avLst/>
          </a:prstGeom>
          <a:solidFill>
            <a:srgbClr val="FF0000"/>
          </a:solidFill>
          <a:ln w="19050" cmpd="sng">
            <a:solidFill>
              <a:srgbClr val="000000"/>
            </a:solidFill>
            <a:miter lim="800000"/>
            <a:headEnd/>
            <a:tailEnd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  <a:scene3d>
            <a:camera prst="isometricOffAxis1Right"/>
            <a:lightRig rig="threePt" dir="t"/>
          </a:scene3d>
          <a:sp3d>
            <a:bevelT w="139700" h="139700" prst="divot"/>
          </a:sp3d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 i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mbria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 i="1">
                <a:solidFill>
                  <a:schemeClr val="bg1"/>
                </a:solidFill>
                <a:latin typeface="Cambria" charset="0"/>
                <a:ea typeface="Osaka" charset="0"/>
                <a:cs typeface="Osaka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 i="1">
                <a:solidFill>
                  <a:schemeClr val="bg1"/>
                </a:solidFill>
                <a:latin typeface="Cambria" charset="0"/>
                <a:ea typeface="Osaka" charset="0"/>
                <a:cs typeface="Osaka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 i="1">
                <a:solidFill>
                  <a:schemeClr val="bg1"/>
                </a:solidFill>
                <a:latin typeface="Cambria" charset="0"/>
                <a:ea typeface="Osaka" charset="0"/>
                <a:cs typeface="Osaka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 i="1">
                <a:solidFill>
                  <a:schemeClr val="bg1"/>
                </a:solidFill>
                <a:latin typeface="Cambria" charset="0"/>
                <a:ea typeface="Osaka" charset="0"/>
                <a:cs typeface="Osaka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Osaka" charset="0"/>
                <a:cs typeface="Osaka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Osaka" charset="0"/>
                <a:cs typeface="Osaka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Osaka" charset="0"/>
                <a:cs typeface="Osaka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Osaka" charset="0"/>
                <a:cs typeface="Osaka" charset="0"/>
              </a:defRPr>
            </a:lvl9pPr>
          </a:lstStyle>
          <a:p>
            <a:pPr>
              <a:spcBef>
                <a:spcPts val="1200"/>
              </a:spcBef>
              <a:defRPr/>
            </a:pPr>
            <a:r>
              <a:rPr lang="en-US" sz="3200" i="0" dirty="0" smtClean="0">
                <a:latin typeface="Futura Condensed Medium"/>
              </a:rPr>
              <a:t>Less Cold Calling </a:t>
            </a:r>
            <a:r>
              <a:rPr lang="en-US" sz="3200" dirty="0" smtClean="0">
                <a:latin typeface="Futura Condensed Medium"/>
              </a:rPr>
              <a:t/>
            </a:r>
            <a:br>
              <a:rPr lang="en-US" sz="3200" dirty="0" smtClean="0">
                <a:latin typeface="Futura Condensed Medium"/>
              </a:rPr>
            </a:br>
            <a:r>
              <a:rPr lang="en-US" sz="1600" dirty="0" smtClean="0">
                <a:latin typeface="Futura Condensed Medium"/>
              </a:rPr>
              <a:t>      </a:t>
            </a:r>
            <a:endParaRPr lang="en-US" dirty="0">
              <a:solidFill>
                <a:srgbClr val="FFFF00"/>
              </a:solidFill>
              <a:latin typeface="Futura Condensed Medium"/>
            </a:endParaRPr>
          </a:p>
        </p:txBody>
      </p:sp>
      <p:pic>
        <p:nvPicPr>
          <p:cNvPr id="6" name="Picture 5" descr="MP900438800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4876800"/>
            <a:ext cx="1271016" cy="1007676"/>
          </a:xfrm>
          <a:prstGeom prst="rect">
            <a:avLst/>
          </a:prstGeom>
        </p:spPr>
      </p:pic>
      <p:pic>
        <p:nvPicPr>
          <p:cNvPr id="7" name="Picture 6" descr="MC900078762.WM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4876800"/>
            <a:ext cx="876300" cy="1012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237361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685800"/>
            <a:ext cx="4724400" cy="1524000"/>
          </a:xfrm>
          <a:scene3d>
            <a:camera prst="isometricOffAxis1Right"/>
            <a:lightRig rig="threePt" dir="t"/>
          </a:scene3d>
          <a:sp3d>
            <a:bevelT w="139700" h="139700" prst="divot"/>
          </a:sp3d>
        </p:spPr>
        <p:txBody>
          <a:bodyPr/>
          <a:lstStyle/>
          <a:p>
            <a:pPr>
              <a:defRPr/>
            </a:pPr>
            <a:r>
              <a:rPr lang="en-US" dirty="0" smtClean="0"/>
              <a:t>What Job Development Is Not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463" y="3048000"/>
            <a:ext cx="6307137" cy="2819400"/>
          </a:xfrm>
        </p:spPr>
        <p:txBody>
          <a:bodyPr/>
          <a:lstStyle/>
          <a:p>
            <a:pPr>
              <a:defRPr/>
            </a:pPr>
            <a:r>
              <a:rPr lang="en-US" b="1" dirty="0" smtClean="0"/>
              <a:t>Filling out job applications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pPr>
              <a:defRPr/>
            </a:pPr>
            <a:r>
              <a:rPr lang="en-US" b="1" dirty="0" smtClean="0"/>
              <a:t>Searching for jobs on the internet</a:t>
            </a:r>
            <a:endParaRPr lang="en-US" b="1" dirty="0"/>
          </a:p>
        </p:txBody>
      </p:sp>
      <p:pic>
        <p:nvPicPr>
          <p:cNvPr id="136197" name="Picture 3" descr="application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2743200"/>
            <a:ext cx="1905000" cy="1268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6198" name="Picture 4" descr="online-job-search-300x225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4648200"/>
            <a:ext cx="2057400" cy="15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7869490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362200" y="4572000"/>
            <a:ext cx="4572000" cy="6096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6699"/>
                </a:solidFill>
              </a14:hiddenFill>
            </a:ext>
          </a:extLst>
        </p:spPr>
        <p:txBody>
          <a:bodyPr lIns="90488" tIns="44450" rIns="90488" bIns="44450" anchor="b"/>
          <a:lstStyle/>
          <a:p>
            <a:pPr marL="457200" indent="-457200">
              <a:buClr>
                <a:srgbClr val="0099CC"/>
              </a:buClr>
              <a:buFontTx/>
              <a:buChar char="•"/>
              <a:defRPr/>
            </a:pPr>
            <a:r>
              <a:rPr lang="en-US" sz="2800" b="0" dirty="0">
                <a:solidFill>
                  <a:schemeClr val="tx1"/>
                </a:solidFill>
                <a:latin typeface="Arial" charset="0"/>
                <a:ea typeface="Osaka" charset="0"/>
                <a:cs typeface="Osaka" charset="0"/>
              </a:rPr>
              <a:t>John Wooden</a:t>
            </a:r>
            <a:endParaRPr lang="en-US" sz="2800" b="0" dirty="0">
              <a:solidFill>
                <a:srgbClr val="99FFCC"/>
              </a:solidFill>
              <a:latin typeface="Arial" charset="0"/>
              <a:ea typeface="Osaka" charset="0"/>
              <a:cs typeface="Osaka" charset="0"/>
            </a:endParaRPr>
          </a:p>
        </p:txBody>
      </p:sp>
      <p:sp>
        <p:nvSpPr>
          <p:cNvPr id="143565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685800"/>
            <a:ext cx="7620000" cy="4114800"/>
          </a:xfrm>
        </p:spPr>
        <p:txBody>
          <a:bodyPr lIns="90488" tIns="44450" rIns="90488" bIns="44450"/>
          <a:lstStyle/>
          <a:p>
            <a:pPr marL="285750" indent="-285750" algn="ctr">
              <a:buFont typeface="Times" charset="0"/>
              <a:buNone/>
              <a:defRPr/>
            </a:pPr>
            <a:r>
              <a:rPr lang="en-US" sz="6000" b="1" i="1" dirty="0">
                <a:solidFill>
                  <a:srgbClr val="006699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entury Gothic" charset="0"/>
              </a:rPr>
              <a:t>"</a:t>
            </a:r>
            <a:r>
              <a:rPr lang="en-US" sz="6000" b="1" dirty="0">
                <a:solidFill>
                  <a:srgbClr val="006699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entury Gothic" charset="0"/>
              </a:rPr>
              <a:t>Never mistake activity for achievement.</a:t>
            </a:r>
            <a:r>
              <a:rPr lang="en-US" sz="6000" b="1" i="1" dirty="0">
                <a:solidFill>
                  <a:srgbClr val="006699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entury Gothic" charset="0"/>
              </a:rPr>
              <a:t>"</a:t>
            </a:r>
            <a:r>
              <a:rPr lang="en-US" sz="5400" b="1" i="1" dirty="0">
                <a:solidFill>
                  <a:srgbClr val="006699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entury Gothic" charset="0"/>
              </a:rPr>
              <a:t> </a:t>
            </a:r>
            <a:r>
              <a:rPr lang="en-US" sz="5400" b="1" i="1" dirty="0">
                <a:solidFill>
                  <a:srgbClr val="006699"/>
                </a:solidFill>
                <a:latin typeface="Century Gothic" charset="0"/>
              </a:rPr>
              <a:t/>
            </a:r>
            <a:br>
              <a:rPr lang="en-US" sz="5400" b="1" i="1" dirty="0">
                <a:solidFill>
                  <a:srgbClr val="006699"/>
                </a:solidFill>
                <a:latin typeface="Century Gothic" charset="0"/>
              </a:rPr>
            </a:br>
            <a:r>
              <a:rPr lang="en-US" sz="4800" i="1" dirty="0"/>
              <a:t> </a:t>
            </a:r>
          </a:p>
        </p:txBody>
      </p:sp>
      <p:pic>
        <p:nvPicPr>
          <p:cNvPr id="134149" name="Picture 4" descr="ucla-coach-john-woode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3810000"/>
            <a:ext cx="1550988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96050087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838200"/>
            <a:ext cx="7239000" cy="4800600"/>
          </a:xfrm>
        </p:spPr>
        <p:txBody>
          <a:bodyPr/>
          <a:lstStyle/>
          <a:p>
            <a:pPr>
              <a:defRPr/>
            </a:pPr>
            <a:r>
              <a:rPr lang="ja-JP" altLang="en-US" sz="4800" dirty="0">
                <a:latin typeface="Helvetica" charset="0"/>
                <a:ea typeface="ＭＳ Ｐゴシック" charset="0"/>
                <a:cs typeface="ＭＳ Ｐゴシック" charset="0"/>
              </a:rPr>
              <a:t>“</a:t>
            </a:r>
            <a:r>
              <a:rPr lang="en-US" sz="4800" dirty="0">
                <a:latin typeface="Helvetica" charset="0"/>
                <a:ea typeface="ＭＳ Ｐゴシック" charset="0"/>
                <a:cs typeface="ＭＳ Ｐゴシック" charset="0"/>
              </a:rPr>
              <a:t>You can teach a turkey to climb a tree,</a:t>
            </a:r>
            <a:br>
              <a:rPr lang="en-US" sz="4800" dirty="0">
                <a:latin typeface="Helvetica" charset="0"/>
                <a:ea typeface="ＭＳ Ｐゴシック" charset="0"/>
                <a:cs typeface="ＭＳ Ｐゴシック" charset="0"/>
              </a:rPr>
            </a:br>
            <a:r>
              <a:rPr lang="en-US" sz="4800" dirty="0">
                <a:latin typeface="Helvetica" charset="0"/>
                <a:ea typeface="ＭＳ Ｐゴシック" charset="0"/>
                <a:cs typeface="ＭＳ Ｐゴシック" charset="0"/>
              </a:rPr>
              <a:t/>
            </a:r>
            <a:br>
              <a:rPr lang="en-US" sz="4800" dirty="0">
                <a:latin typeface="Helvetica" charset="0"/>
                <a:ea typeface="ＭＳ Ｐゴシック" charset="0"/>
                <a:cs typeface="ＭＳ Ｐゴシック" charset="0"/>
              </a:rPr>
            </a:br>
            <a:r>
              <a:rPr lang="en-US" sz="4800" dirty="0">
                <a:latin typeface="Helvetica" charset="0"/>
                <a:ea typeface="ＭＳ Ｐゴシック" charset="0"/>
                <a:cs typeface="ＭＳ Ｐゴシック" charset="0"/>
              </a:rPr>
              <a:t>but it</a:t>
            </a:r>
            <a:r>
              <a:rPr lang="ja-JP" altLang="en-US" sz="4800" dirty="0">
                <a:latin typeface="Helvetica" charset="0"/>
                <a:ea typeface="ＭＳ Ｐゴシック" charset="0"/>
                <a:cs typeface="ＭＳ Ｐゴシック" charset="0"/>
              </a:rPr>
              <a:t>’</a:t>
            </a:r>
            <a:r>
              <a:rPr lang="en-US" sz="4800" dirty="0">
                <a:latin typeface="Helvetica" charset="0"/>
                <a:ea typeface="ＭＳ Ｐゴシック" charset="0"/>
                <a:cs typeface="ＭＳ Ｐゴシック" charset="0"/>
              </a:rPr>
              <a:t>s easier to hire a squirrel.</a:t>
            </a:r>
            <a:r>
              <a:rPr lang="ja-JP" altLang="en-US" sz="4800" dirty="0">
                <a:latin typeface="Helvetica" charset="0"/>
                <a:ea typeface="ＭＳ Ｐゴシック" charset="0"/>
                <a:cs typeface="ＭＳ Ｐゴシック" charset="0"/>
              </a:rPr>
              <a:t>”</a:t>
            </a:r>
            <a:endParaRPr lang="en-US" sz="1200" b="0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62468" name="Text Box 4"/>
          <p:cNvSpPr txBox="1">
            <a:spLocks noChangeArrowheads="1"/>
          </p:cNvSpPr>
          <p:nvPr/>
        </p:nvSpPr>
        <p:spPr bwMode="auto">
          <a:xfrm>
            <a:off x="3886200" y="6172200"/>
            <a:ext cx="3657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sz="1400" dirty="0" smtClean="0"/>
              <a:t>Spencer</a:t>
            </a:r>
            <a:r>
              <a:rPr lang="en-US" sz="1400" dirty="0"/>
              <a:t>, </a:t>
            </a:r>
            <a:r>
              <a:rPr lang="en-US" sz="1400" dirty="0" err="1" smtClean="0"/>
              <a:t>McCleelan</a:t>
            </a:r>
            <a:r>
              <a:rPr lang="en-US" sz="1400" dirty="0" smtClean="0"/>
              <a:t>, </a:t>
            </a:r>
            <a:r>
              <a:rPr lang="en-US" sz="1400" dirty="0"/>
              <a:t>Spencer  - </a:t>
            </a:r>
            <a:r>
              <a:rPr lang="en-US" sz="1400" i="1" dirty="0"/>
              <a:t>Competency Assessment Methods</a:t>
            </a:r>
            <a:endParaRPr lang="en-US" sz="1400" dirty="0"/>
          </a:p>
        </p:txBody>
      </p:sp>
      <p:pic>
        <p:nvPicPr>
          <p:cNvPr id="62469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4648200"/>
            <a:ext cx="1276350" cy="125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70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" y="152400"/>
            <a:ext cx="1423988" cy="142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62696071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6933" y="762000"/>
            <a:ext cx="6400800" cy="1981200"/>
          </a:xfrm>
          <a:effectLst>
            <a:glow rad="635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isometricOffAxis1Right"/>
            <a:lightRig rig="threePt" dir="t"/>
          </a:scene3d>
          <a:sp3d>
            <a:bevelT w="139700" h="139700" prst="divot"/>
          </a:sp3d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Avoid the employment readiness myth</a:t>
            </a:r>
            <a:endParaRPr lang="en-US" dirty="0" smtClean="0">
              <a:solidFill>
                <a:srgbClr val="FFFF00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idx="1"/>
          </p:nvPr>
        </p:nvSpPr>
        <p:spPr>
          <a:xfrm>
            <a:off x="304800" y="3581400"/>
            <a:ext cx="5257800" cy="2362200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b="1" dirty="0" smtClean="0"/>
              <a:t>Employers are expecting perfect employees</a:t>
            </a:r>
          </a:p>
        </p:txBody>
      </p:sp>
      <p:pic>
        <p:nvPicPr>
          <p:cNvPr id="7" name="Picture 6" descr="APSE NAtional Conferencre 179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36" t="4446" r="11618" b="56542"/>
          <a:stretch/>
        </p:blipFill>
        <p:spPr>
          <a:xfrm>
            <a:off x="6172200" y="2667000"/>
            <a:ext cx="2641601" cy="3024442"/>
          </a:xfrm>
          <a:prstGeom prst="rect">
            <a:avLst/>
          </a:prstGeom>
          <a:ln w="57150" cmpd="thickThin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71488386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dirty="0" smtClean="0"/>
              <a:t>Have you ever worked with anyone who…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371600" y="1219200"/>
            <a:ext cx="6781800" cy="4495800"/>
          </a:xfrm>
        </p:spPr>
        <p:txBody>
          <a:bodyPr/>
          <a:lstStyle/>
          <a:p>
            <a:pPr eaLnBrk="1" hangingPunct="1">
              <a:spcBef>
                <a:spcPts val="1272"/>
              </a:spcBef>
              <a:defRPr/>
            </a:pPr>
            <a:r>
              <a:rPr lang="en-US" sz="3000" dirty="0" smtClean="0"/>
              <a:t>Couldn’t get along with others?</a:t>
            </a:r>
          </a:p>
          <a:p>
            <a:pPr eaLnBrk="1" hangingPunct="1">
              <a:spcBef>
                <a:spcPts val="1272"/>
              </a:spcBef>
              <a:defRPr/>
            </a:pPr>
            <a:r>
              <a:rPr lang="en-US" sz="3000" dirty="0" smtClean="0"/>
              <a:t>Acted inappropriately?</a:t>
            </a:r>
          </a:p>
          <a:p>
            <a:pPr eaLnBrk="1" hangingPunct="1">
              <a:spcBef>
                <a:spcPts val="1272"/>
              </a:spcBef>
              <a:defRPr/>
            </a:pPr>
            <a:r>
              <a:rPr lang="en-US" sz="3000" dirty="0" smtClean="0"/>
              <a:t>Had behavioral outbursts?</a:t>
            </a:r>
          </a:p>
          <a:p>
            <a:pPr eaLnBrk="1" hangingPunct="1">
              <a:spcBef>
                <a:spcPts val="1272"/>
              </a:spcBef>
              <a:defRPr/>
            </a:pPr>
            <a:r>
              <a:rPr lang="en-US" sz="3000" dirty="0" smtClean="0"/>
              <a:t>Was chronically late?</a:t>
            </a:r>
          </a:p>
          <a:p>
            <a:pPr eaLnBrk="1" hangingPunct="1">
              <a:spcBef>
                <a:spcPts val="1272"/>
              </a:spcBef>
              <a:defRPr/>
            </a:pPr>
            <a:r>
              <a:rPr lang="en-US" sz="3000" dirty="0" smtClean="0"/>
              <a:t>Complained about everything?</a:t>
            </a:r>
          </a:p>
          <a:p>
            <a:pPr eaLnBrk="1" hangingPunct="1">
              <a:spcBef>
                <a:spcPts val="1272"/>
              </a:spcBef>
              <a:defRPr/>
            </a:pPr>
            <a:r>
              <a:rPr lang="en-US" sz="3000" dirty="0" smtClean="0"/>
              <a:t>Didn’t communicate well?</a:t>
            </a:r>
          </a:p>
          <a:p>
            <a:pPr eaLnBrk="1" hangingPunct="1">
              <a:spcBef>
                <a:spcPts val="1272"/>
              </a:spcBef>
              <a:defRPr/>
            </a:pPr>
            <a:r>
              <a:rPr lang="en-US" sz="3000" dirty="0" smtClean="0"/>
              <a:t>Didn't work very fast?</a:t>
            </a:r>
          </a:p>
          <a:p>
            <a:pPr eaLnBrk="1" hangingPunct="1">
              <a:spcBef>
                <a:spcPts val="1272"/>
              </a:spcBef>
              <a:defRPr/>
            </a:pPr>
            <a:r>
              <a:rPr lang="en-US" sz="3000" dirty="0" smtClean="0"/>
              <a:t>Got distracted easily?</a:t>
            </a:r>
          </a:p>
        </p:txBody>
      </p:sp>
    </p:spTree>
    <p:extLst>
      <p:ext uri="{BB962C8B-B14F-4D97-AF65-F5344CB8AC3E}">
        <p14:creationId xmlns:p14="http://schemas.microsoft.com/office/powerpoint/2010/main" val="357724823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685800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 dirty="0" smtClean="0"/>
              <a:t>Have you ever worked with anyone who…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66800" y="1143000"/>
            <a:ext cx="7772400" cy="46482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/>
              <a:t>Didn’t take directions well…or at all?</a:t>
            </a:r>
          </a:p>
          <a:p>
            <a:pPr eaLnBrk="1" hangingPunct="1">
              <a:defRPr/>
            </a:pPr>
            <a:r>
              <a:rPr lang="en-US" sz="2800" dirty="0" smtClean="0"/>
              <a:t>Acted impulsively without thinking?</a:t>
            </a:r>
          </a:p>
          <a:p>
            <a:pPr eaLnBrk="1" hangingPunct="1">
              <a:defRPr/>
            </a:pPr>
            <a:r>
              <a:rPr lang="en-US" sz="2800" dirty="0" smtClean="0"/>
              <a:t>Had a messy office?</a:t>
            </a:r>
          </a:p>
          <a:p>
            <a:pPr eaLnBrk="1" hangingPunct="1">
              <a:defRPr/>
            </a:pPr>
            <a:r>
              <a:rPr lang="en-US" sz="2800" dirty="0" smtClean="0"/>
              <a:t>Wasn’t organized?</a:t>
            </a:r>
          </a:p>
          <a:p>
            <a:pPr eaLnBrk="1" hangingPunct="1">
              <a:defRPr/>
            </a:pPr>
            <a:r>
              <a:rPr lang="en-US" sz="2800" dirty="0" smtClean="0"/>
              <a:t>Wasn’t always professional?</a:t>
            </a:r>
          </a:p>
          <a:p>
            <a:pPr eaLnBrk="1" hangingPunct="1">
              <a:defRPr/>
            </a:pPr>
            <a:r>
              <a:rPr lang="en-US" sz="2800" dirty="0" smtClean="0"/>
              <a:t>Was rude?</a:t>
            </a:r>
          </a:p>
          <a:p>
            <a:pPr eaLnBrk="1" hangingPunct="1">
              <a:defRPr/>
            </a:pPr>
            <a:r>
              <a:rPr lang="en-US" sz="2800" dirty="0" smtClean="0"/>
              <a:t>Couldn’t take criticism?</a:t>
            </a:r>
          </a:p>
          <a:p>
            <a:pPr eaLnBrk="1" hangingPunct="1">
              <a:defRPr/>
            </a:pPr>
            <a:r>
              <a:rPr lang="en-US" sz="2800" dirty="0" smtClean="0"/>
              <a:t>Was lazy?</a:t>
            </a:r>
          </a:p>
          <a:p>
            <a:pPr eaLnBrk="1" hangingPunct="1">
              <a:defRPr/>
            </a:pPr>
            <a:r>
              <a:rPr lang="en-US" sz="2800" dirty="0" smtClean="0"/>
              <a:t>Wasn’t very good at their job – but managed</a:t>
            </a:r>
            <a:br>
              <a:rPr lang="en-US" sz="2800" dirty="0" smtClean="0"/>
            </a:br>
            <a:r>
              <a:rPr lang="en-US" sz="2800" dirty="0" smtClean="0"/>
              <a:t>to still keep it?</a:t>
            </a:r>
          </a:p>
        </p:txBody>
      </p:sp>
    </p:spTree>
    <p:extLst>
      <p:ext uri="{BB962C8B-B14F-4D97-AF65-F5344CB8AC3E}">
        <p14:creationId xmlns:p14="http://schemas.microsoft.com/office/powerpoint/2010/main" val="2771863560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228600" y="838200"/>
            <a:ext cx="8229600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285750" indent="-285750" algn="ctr" eaLnBrk="1" hangingPunct="1">
              <a:lnSpc>
                <a:spcPct val="105000"/>
              </a:lnSpc>
              <a:spcBef>
                <a:spcPct val="20000"/>
              </a:spcBef>
              <a:buClr>
                <a:srgbClr val="006699"/>
              </a:buClr>
              <a:buFont typeface="Times" charset="0"/>
              <a:buNone/>
              <a:defRPr/>
            </a:pPr>
            <a:r>
              <a:rPr lang="ja-JP" altLang="en-US" sz="5400" b="1" dirty="0">
                <a:solidFill>
                  <a:srgbClr val="006699"/>
                </a:solidFill>
                <a:latin typeface="Century Gothic" charset="0"/>
                <a:ea typeface="Osaka" charset="0"/>
                <a:cs typeface="Osaka" charset="0"/>
              </a:rPr>
              <a:t>“</a:t>
            </a:r>
            <a:r>
              <a:rPr lang="en-US" altLang="ja-JP" sz="5400" b="1" dirty="0">
                <a:solidFill>
                  <a:srgbClr val="006699"/>
                </a:solidFill>
                <a:latin typeface="Century Gothic" charset="0"/>
                <a:ea typeface="Osaka" charset="0"/>
                <a:cs typeface="Osaka" charset="0"/>
              </a:rPr>
              <a:t>8</a:t>
            </a:r>
            <a:r>
              <a:rPr lang="en-US" sz="5400" b="1" dirty="0">
                <a:solidFill>
                  <a:srgbClr val="006699"/>
                </a:solidFill>
                <a:latin typeface="Century Gothic" charset="0"/>
                <a:ea typeface="Osaka" charset="0"/>
                <a:cs typeface="Osaka" charset="0"/>
              </a:rPr>
              <a:t>0% of success is</a:t>
            </a:r>
            <a:br>
              <a:rPr lang="en-US" sz="5400" b="1" dirty="0">
                <a:solidFill>
                  <a:srgbClr val="006699"/>
                </a:solidFill>
                <a:latin typeface="Century Gothic" charset="0"/>
                <a:ea typeface="Osaka" charset="0"/>
                <a:cs typeface="Osaka" charset="0"/>
              </a:rPr>
            </a:br>
            <a:r>
              <a:rPr lang="en-US" sz="5400" b="1" dirty="0">
                <a:solidFill>
                  <a:srgbClr val="006699"/>
                </a:solidFill>
                <a:latin typeface="Century Gothic" charset="0"/>
                <a:ea typeface="Osaka" charset="0"/>
                <a:cs typeface="Osaka" charset="0"/>
              </a:rPr>
              <a:t>showing up."</a:t>
            </a:r>
            <a:r>
              <a:rPr lang="en-US" sz="5400" dirty="0">
                <a:effectLst>
                  <a:outerShdw blurRad="38100" dist="38100" dir="2700000" algn="tl">
                    <a:srgbClr val="DDDDDD"/>
                  </a:outerShdw>
                </a:effectLst>
                <a:latin typeface="Verdana" charset="0"/>
                <a:ea typeface="Osaka" charset="0"/>
                <a:cs typeface="Osaka" charset="0"/>
              </a:rPr>
              <a:t/>
            </a:r>
            <a:br>
              <a:rPr lang="en-US" sz="5400" dirty="0">
                <a:effectLst>
                  <a:outerShdw blurRad="38100" dist="38100" dir="2700000" algn="tl">
                    <a:srgbClr val="DDDDDD"/>
                  </a:outerShdw>
                </a:effectLst>
                <a:latin typeface="Verdana" charset="0"/>
                <a:ea typeface="Osaka" charset="0"/>
                <a:cs typeface="Osaka" charset="0"/>
              </a:rPr>
            </a:br>
            <a:r>
              <a:rPr lang="en-US" sz="4000" dirty="0">
                <a:effectLst>
                  <a:outerShdw blurRad="38100" dist="38100" dir="2700000" algn="tl">
                    <a:srgbClr val="DDDDDD"/>
                  </a:outerShdw>
                </a:effectLst>
                <a:latin typeface="Verdana" charset="0"/>
                <a:ea typeface="Osaka" charset="0"/>
                <a:cs typeface="Osaka" charset="0"/>
              </a:rPr>
              <a:t/>
            </a:r>
            <a:br>
              <a:rPr lang="en-US" sz="4000" dirty="0">
                <a:effectLst>
                  <a:outerShdw blurRad="38100" dist="38100" dir="2700000" algn="tl">
                    <a:srgbClr val="DDDDDD"/>
                  </a:outerShdw>
                </a:effectLst>
                <a:latin typeface="Verdana" charset="0"/>
                <a:ea typeface="Osaka" charset="0"/>
                <a:cs typeface="Osaka" charset="0"/>
              </a:rPr>
            </a:br>
            <a:r>
              <a:rPr lang="en-US" sz="4000" dirty="0">
                <a:effectLst>
                  <a:outerShdw blurRad="38100" dist="38100" dir="2700000" algn="tl">
                    <a:srgbClr val="DDDDDD"/>
                  </a:outerShdw>
                </a:effectLst>
                <a:latin typeface="Verdana" charset="0"/>
                <a:ea typeface="Osaka" charset="0"/>
                <a:cs typeface="Osaka" charset="0"/>
              </a:rPr>
              <a:t>  </a:t>
            </a:r>
            <a:r>
              <a:rPr lang="en-US" sz="4000" b="1" i="1" dirty="0">
                <a:effectLst>
                  <a:outerShdw blurRad="38100" dist="38100" dir="2700000" algn="tl">
                    <a:srgbClr val="DDDDDD"/>
                  </a:outerShdw>
                </a:effectLst>
                <a:latin typeface="Verdana" charset="0"/>
                <a:ea typeface="Osaka" charset="0"/>
                <a:cs typeface="Osaka" charset="0"/>
              </a:rPr>
              <a:t>- </a:t>
            </a:r>
            <a:r>
              <a:rPr lang="en-US" sz="3600" b="1" i="1" dirty="0">
                <a:effectLst>
                  <a:outerShdw blurRad="38100" dist="38100" dir="2700000" algn="tl">
                    <a:srgbClr val="DDDDDD"/>
                  </a:outerShdw>
                </a:effectLst>
                <a:latin typeface="Century Gothic" charset="0"/>
                <a:ea typeface="Osaka" charset="0"/>
                <a:cs typeface="Osaka" charset="0"/>
              </a:rPr>
              <a:t>Woody Allen</a:t>
            </a:r>
            <a:endParaRPr lang="en-US" sz="3600" i="1" dirty="0">
              <a:effectLst>
                <a:outerShdw blurRad="38100" dist="38100" dir="2700000" algn="tl">
                  <a:srgbClr val="DDDDDD"/>
                </a:outerShdw>
              </a:effectLst>
              <a:latin typeface="Century Gothic" charset="0"/>
              <a:ea typeface="Osaka" charset="0"/>
              <a:cs typeface="Osaka" charset="0"/>
            </a:endParaRPr>
          </a:p>
        </p:txBody>
      </p:sp>
      <p:pic>
        <p:nvPicPr>
          <p:cNvPr id="102402" name="Picture 3" descr="Woody-Allen_320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4191000"/>
            <a:ext cx="23368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48219934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otched Right Arrow 5"/>
          <p:cNvSpPr/>
          <p:nvPr/>
        </p:nvSpPr>
        <p:spPr bwMode="auto">
          <a:xfrm>
            <a:off x="-76200" y="304800"/>
            <a:ext cx="3048000" cy="1854200"/>
          </a:xfrm>
          <a:prstGeom prst="notchedRightArrow">
            <a:avLst/>
          </a:prstGeom>
          <a:solidFill>
            <a:srgbClr val="1534A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isometricOffAxis2Left"/>
            <a:lightRig rig="threePt" dir="t"/>
          </a:scene3d>
          <a:sp3d>
            <a:bevelT w="101600" prst="riblet"/>
          </a:sp3d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 Narrow"/>
                <a:ea typeface="ＭＳ Ｐゴシック" charset="0"/>
                <a:cs typeface="Arial Narrow"/>
              </a:rPr>
              <a:t>Employer Needs</a:t>
            </a: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 Narrow"/>
              <a:ea typeface="ＭＳ Ｐゴシック" charset="0"/>
              <a:cs typeface="Arial Narrow"/>
            </a:endParaRPr>
          </a:p>
        </p:txBody>
      </p:sp>
      <p:sp>
        <p:nvSpPr>
          <p:cNvPr id="7" name="Left Arrow 6"/>
          <p:cNvSpPr/>
          <p:nvPr/>
        </p:nvSpPr>
        <p:spPr bwMode="auto">
          <a:xfrm>
            <a:off x="6324600" y="4191000"/>
            <a:ext cx="2819400" cy="2286000"/>
          </a:xfrm>
          <a:prstGeom prst="leftArrow">
            <a:avLst/>
          </a:prstGeom>
          <a:solidFill>
            <a:srgbClr val="80004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isometricOffAxis2Left"/>
            <a:lightRig rig="threePt" dir="t"/>
          </a:scene3d>
          <a:sp3d>
            <a:bevelT w="101600" prst="riblet"/>
          </a:sp3d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dirty="0" smtClean="0">
                <a:solidFill>
                  <a:schemeClr val="accent3"/>
                </a:solidFill>
                <a:latin typeface="Arial Narrow"/>
                <a:cs typeface="Arial Narrow"/>
              </a:rPr>
              <a:t>Job seeker skills &amp; abilities</a:t>
            </a: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 Narrow"/>
              <a:cs typeface="Arial Narrow"/>
            </a:endParaRPr>
          </a:p>
        </p:txBody>
      </p:sp>
      <p:sp>
        <p:nvSpPr>
          <p:cNvPr id="9" name="Rounded Rectangle 8"/>
          <p:cNvSpPr/>
          <p:nvPr/>
        </p:nvSpPr>
        <p:spPr bwMode="auto">
          <a:xfrm>
            <a:off x="2971800" y="1143000"/>
            <a:ext cx="3352800" cy="4495800"/>
          </a:xfrm>
          <a:prstGeom prst="roundRect">
            <a:avLst/>
          </a:prstGeom>
          <a:solidFill>
            <a:srgbClr val="FFE53E"/>
          </a:solidFill>
          <a:ln w="57150" cap="flat" cmpd="thickThin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omic Sans MS"/>
                <a:cs typeface="Geneva" charset="0"/>
              </a:rPr>
              <a:t>Skill</a:t>
            </a:r>
            <a:r>
              <a:rPr lang="en-US" sz="3200" dirty="0">
                <a:solidFill>
                  <a:srgbClr val="800000"/>
                </a:solidFill>
                <a:latin typeface="Comic Sans MS"/>
                <a:cs typeface="Geneva" charset="0"/>
              </a:rPr>
              <a:t/>
            </a:r>
            <a:br>
              <a:rPr lang="en-US" sz="3200" dirty="0">
                <a:solidFill>
                  <a:srgbClr val="800000"/>
                </a:solidFill>
                <a:latin typeface="Comic Sans MS"/>
                <a:cs typeface="Geneva" charset="0"/>
              </a:rPr>
            </a:br>
            <a:r>
              <a:rPr kumimoji="0" lang="en-US" sz="3200" b="0" i="0" u="none" strike="noStrike" cap="none" normalizeH="0" dirty="0" smtClean="0">
                <a:ln>
                  <a:noFill/>
                </a:ln>
                <a:solidFill>
                  <a:srgbClr val="800000"/>
                </a:solidFill>
                <a:effectLst/>
                <a:latin typeface="Comic Sans MS"/>
                <a:cs typeface="Geneva" charset="0"/>
              </a:rPr>
              <a:t>and Qualification Gap</a:t>
            </a:r>
            <a:endParaRPr kumimoji="0" lang="en-US" sz="3200" b="0" i="0" u="none" strike="noStrike" cap="none" normalizeH="0" baseline="0" dirty="0">
              <a:ln>
                <a:noFill/>
              </a:ln>
              <a:solidFill>
                <a:srgbClr val="800000"/>
              </a:solidFill>
              <a:effectLst/>
              <a:latin typeface="Comic Sans MS"/>
              <a:cs typeface="Geneva" charset="0"/>
            </a:endParaRPr>
          </a:p>
        </p:txBody>
      </p:sp>
      <p:sp>
        <p:nvSpPr>
          <p:cNvPr id="10" name="Rounded Rectangle 9"/>
          <p:cNvSpPr/>
          <p:nvPr/>
        </p:nvSpPr>
        <p:spPr bwMode="auto">
          <a:xfrm>
            <a:off x="2971800" y="1143000"/>
            <a:ext cx="3352800" cy="4572000"/>
          </a:xfrm>
          <a:prstGeom prst="roundRect">
            <a:avLst/>
          </a:prstGeom>
          <a:solidFill>
            <a:srgbClr val="FFE53E"/>
          </a:solidFill>
          <a:ln w="57150" cap="flat" cmpd="thickThin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kumimoji="0" lang="en-US" sz="3200" b="0" i="0" u="none" strike="noStrike" cap="none" normalizeH="0" baseline="0" dirty="0">
              <a:ln>
                <a:noFill/>
              </a:ln>
              <a:solidFill>
                <a:srgbClr val="800000"/>
              </a:solidFill>
              <a:effectLst/>
              <a:latin typeface="Comic Sans MS"/>
              <a:cs typeface="Geneva" charset="0"/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048000" y="1371600"/>
            <a:ext cx="3505200" cy="4191000"/>
          </a:xfrm>
        </p:spPr>
        <p:txBody>
          <a:bodyPr/>
          <a:lstStyle/>
          <a:p>
            <a:pPr>
              <a:buClr>
                <a:srgbClr val="008000"/>
              </a:buClr>
              <a:defRPr/>
            </a:pPr>
            <a:r>
              <a:rPr lang="en-US" sz="2000" dirty="0" smtClean="0">
                <a:solidFill>
                  <a:srgbClr val="800000"/>
                </a:solidFill>
              </a:rPr>
              <a:t>Good job matching</a:t>
            </a:r>
          </a:p>
          <a:p>
            <a:pPr>
              <a:buClr>
                <a:srgbClr val="008000"/>
              </a:buClr>
              <a:defRPr/>
            </a:pPr>
            <a:r>
              <a:rPr lang="en-US" sz="2000" dirty="0" smtClean="0">
                <a:solidFill>
                  <a:srgbClr val="800000"/>
                </a:solidFill>
              </a:rPr>
              <a:t>Accommodations</a:t>
            </a:r>
          </a:p>
          <a:p>
            <a:pPr>
              <a:buClr>
                <a:srgbClr val="008000"/>
              </a:buClr>
              <a:defRPr/>
            </a:pPr>
            <a:r>
              <a:rPr lang="en-US" sz="2000" dirty="0" smtClean="0">
                <a:solidFill>
                  <a:srgbClr val="800000"/>
                </a:solidFill>
              </a:rPr>
              <a:t>Assistive technology</a:t>
            </a:r>
          </a:p>
          <a:p>
            <a:pPr>
              <a:buClr>
                <a:srgbClr val="008000"/>
              </a:buClr>
              <a:defRPr/>
            </a:pPr>
            <a:r>
              <a:rPr lang="en-US" sz="2000" b="1" dirty="0" smtClean="0">
                <a:solidFill>
                  <a:srgbClr val="800000"/>
                </a:solidFill>
              </a:rPr>
              <a:t>Quality</a:t>
            </a:r>
            <a:r>
              <a:rPr lang="en-US" sz="2000" dirty="0" smtClean="0">
                <a:solidFill>
                  <a:srgbClr val="800000"/>
                </a:solidFill>
              </a:rPr>
              <a:t> job coaching</a:t>
            </a:r>
          </a:p>
          <a:p>
            <a:pPr>
              <a:buClr>
                <a:srgbClr val="008000"/>
              </a:buClr>
              <a:defRPr/>
            </a:pPr>
            <a:r>
              <a:rPr lang="en-US" sz="2000" dirty="0" smtClean="0">
                <a:solidFill>
                  <a:srgbClr val="800000"/>
                </a:solidFill>
              </a:rPr>
              <a:t>Short-term job tryouts/internships</a:t>
            </a:r>
          </a:p>
          <a:p>
            <a:pPr>
              <a:buClr>
                <a:srgbClr val="008000"/>
              </a:buClr>
              <a:defRPr/>
            </a:pPr>
            <a:r>
              <a:rPr lang="en-US" sz="2000" dirty="0">
                <a:solidFill>
                  <a:srgbClr val="800000"/>
                </a:solidFill>
              </a:rPr>
              <a:t>Increasing job skills of job seeker through </a:t>
            </a:r>
            <a:r>
              <a:rPr lang="en-US" sz="2000" dirty="0" smtClean="0">
                <a:solidFill>
                  <a:srgbClr val="800000"/>
                </a:solidFill>
              </a:rPr>
              <a:t>education</a:t>
            </a:r>
          </a:p>
          <a:p>
            <a:pPr>
              <a:buClr>
                <a:srgbClr val="008000"/>
              </a:buClr>
              <a:defRPr/>
            </a:pPr>
            <a:r>
              <a:rPr lang="en-US" sz="2000" dirty="0" smtClean="0">
                <a:solidFill>
                  <a:srgbClr val="800000"/>
                </a:solidFill>
              </a:rPr>
              <a:t>Job </a:t>
            </a:r>
            <a:r>
              <a:rPr lang="en-US" sz="2000" dirty="0">
                <a:solidFill>
                  <a:srgbClr val="800000"/>
                </a:solidFill>
              </a:rPr>
              <a:t>creation</a:t>
            </a:r>
          </a:p>
          <a:p>
            <a:pPr>
              <a:buClr>
                <a:srgbClr val="008000"/>
              </a:buClr>
              <a:defRPr/>
            </a:pPr>
            <a:r>
              <a:rPr lang="en-US" sz="2000" dirty="0">
                <a:solidFill>
                  <a:srgbClr val="800000"/>
                </a:solidFill>
              </a:rPr>
              <a:t>Job carving</a:t>
            </a:r>
          </a:p>
          <a:p>
            <a:pPr>
              <a:buClr>
                <a:srgbClr val="008000"/>
              </a:buClr>
              <a:defRPr/>
            </a:pPr>
            <a:r>
              <a:rPr lang="en-US" sz="2000" dirty="0" smtClean="0">
                <a:solidFill>
                  <a:srgbClr val="800000"/>
                </a:solidFill>
              </a:rPr>
              <a:t>Business </a:t>
            </a:r>
            <a:r>
              <a:rPr lang="en-US" sz="2000" dirty="0">
                <a:solidFill>
                  <a:srgbClr val="800000"/>
                </a:solidFill>
              </a:rPr>
              <a:t>within a </a:t>
            </a:r>
            <a:r>
              <a:rPr lang="en-US" sz="2000" dirty="0" smtClean="0">
                <a:solidFill>
                  <a:srgbClr val="800000"/>
                </a:solidFill>
              </a:rPr>
              <a:t>business</a:t>
            </a:r>
          </a:p>
          <a:p>
            <a:pPr>
              <a:buClr>
                <a:srgbClr val="008000"/>
              </a:buClr>
              <a:defRPr/>
            </a:pPr>
            <a:r>
              <a:rPr lang="en-US" sz="2000" dirty="0" smtClean="0">
                <a:solidFill>
                  <a:srgbClr val="800000"/>
                </a:solidFill>
              </a:rPr>
              <a:t>Others</a:t>
            </a:r>
            <a:endParaRPr lang="en-US" sz="2000" dirty="0">
              <a:solidFill>
                <a:srgbClr val="800000"/>
              </a:solidFill>
            </a:endParaRPr>
          </a:p>
          <a:p>
            <a:pPr>
              <a:defRPr/>
            </a:pPr>
            <a:endParaRPr lang="en-US" sz="2000" dirty="0" smtClean="0"/>
          </a:p>
        </p:txBody>
      </p:sp>
      <p:sp>
        <p:nvSpPr>
          <p:cNvPr id="11" name="TextBox 10"/>
          <p:cNvSpPr txBox="1"/>
          <p:nvPr/>
        </p:nvSpPr>
        <p:spPr>
          <a:xfrm>
            <a:off x="3124200" y="457200"/>
            <a:ext cx="2895600" cy="461665"/>
          </a:xfrm>
          <a:prstGeom prst="rect">
            <a:avLst/>
          </a:prstGeom>
          <a:solidFill>
            <a:srgbClr val="800000"/>
          </a:solidFill>
          <a:effectLst>
            <a:glow rad="139700">
              <a:srgbClr val="800000">
                <a:alpha val="40000"/>
              </a:srgb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accent3"/>
                </a:solidFill>
                <a:latin typeface="Copperplate Gothic Bold"/>
                <a:cs typeface="Copperplate Gothic Bold"/>
              </a:rPr>
              <a:t>Filling the Gap</a:t>
            </a:r>
            <a:endParaRPr lang="en-US" dirty="0">
              <a:solidFill>
                <a:schemeClr val="accent3"/>
              </a:solidFill>
              <a:latin typeface="Copperplate Gothic Bold"/>
              <a:cs typeface="Copperplate Gothic Bold"/>
            </a:endParaRPr>
          </a:p>
        </p:txBody>
      </p:sp>
      <p:sp>
        <p:nvSpPr>
          <p:cNvPr id="13" name="Notched Right Arrow 12"/>
          <p:cNvSpPr/>
          <p:nvPr/>
        </p:nvSpPr>
        <p:spPr bwMode="auto">
          <a:xfrm>
            <a:off x="76200" y="2057400"/>
            <a:ext cx="2667000" cy="1625600"/>
          </a:xfrm>
          <a:prstGeom prst="notchedRightArrow">
            <a:avLst/>
          </a:prstGeom>
          <a:solidFill>
            <a:srgbClr val="1534A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 w="101600" prst="riblet"/>
          </a:sp3d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6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 Narrow"/>
                <a:ea typeface="ＭＳ Ｐゴシック" charset="0"/>
                <a:cs typeface="Arial Narrow"/>
              </a:rPr>
              <a:t>Employer Needs</a:t>
            </a:r>
            <a:endParaRPr kumimoji="0" lang="en-US" sz="2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 Narrow"/>
              <a:ea typeface="ＭＳ Ｐゴシック" charset="0"/>
              <a:cs typeface="Arial Narrow"/>
            </a:endParaRPr>
          </a:p>
        </p:txBody>
      </p:sp>
      <p:sp>
        <p:nvSpPr>
          <p:cNvPr id="14" name="Left Arrow 13"/>
          <p:cNvSpPr/>
          <p:nvPr/>
        </p:nvSpPr>
        <p:spPr bwMode="auto">
          <a:xfrm>
            <a:off x="6477000" y="1981200"/>
            <a:ext cx="2514600" cy="2057400"/>
          </a:xfrm>
          <a:prstGeom prst="leftArrow">
            <a:avLst/>
          </a:prstGeom>
          <a:solidFill>
            <a:srgbClr val="80004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 w="101600" prst="riblet"/>
          </a:sp3d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600" dirty="0" smtClean="0">
                <a:solidFill>
                  <a:schemeClr val="accent3"/>
                </a:solidFill>
                <a:latin typeface="Arial Narrow"/>
                <a:cs typeface="Arial Narrow"/>
              </a:rPr>
              <a:t>Job seeker skills &amp; abilities</a:t>
            </a:r>
            <a:endParaRPr kumimoji="0" lang="en-US" sz="2600" b="0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 Narrow"/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828903345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53413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9" presetID="9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4.44444E-6 L 3.33333E-6 0.04259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130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11111E-6 L 3.33333E-6 -0.1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0.04259 L 3.33333E-6 0.09815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778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0.1 L 3.33333E-6 -0.16667 " pathEditMode="fixed" rAng="0" ptsTypes="AA">
                                      <p:cBhvr>
                                        <p:cTn id="4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0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833 0.09815 L 0.00833 0.15185 " pathEditMode="fixed" rAng="0" ptsTypes="AA">
                                      <p:cBhvr>
                                        <p:cTn id="53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685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0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0.16667 L -0.00416 -0.23334 " pathEditMode="relative" rAng="0" ptsTypes="AA">
                                      <p:cBhvr>
                                        <p:cTn id="5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8" y="-3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0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834 0.15185 L 0.00834 0.24259 " pathEditMode="fixed" rAng="0" ptsTypes="AA">
                                      <p:cBhvr>
                                        <p:cTn id="6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537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16 -0.23334 L -0.00416 -0.28889 " pathEditMode="fixed" rAng="0" ptsTypes="AA">
                                      <p:cBhvr>
                                        <p:cTn id="6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6" grpId="2" animBg="1"/>
      <p:bldP spid="6" grpId="3" animBg="1"/>
      <p:bldP spid="6" grpId="4" animBg="1"/>
      <p:bldP spid="7" grpId="0" animBg="1"/>
      <p:bldP spid="7" grpId="2" animBg="1"/>
      <p:bldP spid="7" grpId="3" animBg="1"/>
      <p:bldP spid="7" grpId="4" animBg="1"/>
      <p:bldP spid="7" grpId="5" animBg="1"/>
      <p:bldP spid="10" grpId="4" animBg="1"/>
      <p:bldP spid="11" grpId="0" animBg="1"/>
      <p:bldP spid="13" grpId="0" animBg="1"/>
      <p:bldP spid="1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Text Box 2"/>
          <p:cNvSpPr txBox="1">
            <a:spLocks noChangeArrowheads="1"/>
          </p:cNvSpPr>
          <p:nvPr/>
        </p:nvSpPr>
        <p:spPr bwMode="auto">
          <a:xfrm>
            <a:off x="3810000" y="5029200"/>
            <a:ext cx="4267200" cy="763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dirty="0"/>
              <a:t> </a:t>
            </a:r>
            <a:r>
              <a:rPr lang="en-US" sz="2800" dirty="0"/>
              <a:t>Ken Miller</a:t>
            </a:r>
            <a:br>
              <a:rPr lang="en-US" sz="2800" dirty="0"/>
            </a:br>
            <a:r>
              <a:rPr lang="en-US" sz="1600" dirty="0" err="1">
                <a:solidFill>
                  <a:srgbClr val="0000FF"/>
                </a:solidFill>
              </a:rPr>
              <a:t>www.wedontmakewidegets.com</a:t>
            </a:r>
            <a:endParaRPr lang="en-US" sz="2800" dirty="0"/>
          </a:p>
        </p:txBody>
      </p:sp>
      <p:sp>
        <p:nvSpPr>
          <p:cNvPr id="115715" name="Rectangle 3"/>
          <p:cNvSpPr>
            <a:spLocks noChangeArrowheads="1"/>
          </p:cNvSpPr>
          <p:nvPr/>
        </p:nvSpPr>
        <p:spPr bwMode="auto">
          <a:xfrm>
            <a:off x="457200" y="762000"/>
            <a:ext cx="8534400" cy="3076575"/>
          </a:xfrm>
          <a:prstGeom prst="rect">
            <a:avLst/>
          </a:prstGeom>
          <a:solidFill>
            <a:srgbClr val="006699"/>
          </a:solidFill>
          <a:ln w="57150" cmpd="thinThick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ja-JP" altLang="en-U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“</a:t>
            </a:r>
            <a:r>
              <a:rPr lang="en-U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The length of a minute is relative, depending on</a:t>
            </a:r>
            <a:br>
              <a:rPr lang="en-U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which side of the bathroom door</a:t>
            </a:r>
            <a:br>
              <a:rPr lang="en-U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you are on.</a:t>
            </a:r>
            <a:r>
              <a:rPr lang="ja-JP" altLang="en-U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”</a:t>
            </a:r>
            <a:endParaRPr lang="en-US" sz="4400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2" name="Picture 4" descr="wdmw_home_phot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4114800"/>
            <a:ext cx="1666875" cy="192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97141362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5867400" cy="12954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Cambria" charset="0"/>
                <a:ea typeface="Osaka" charset="0"/>
                <a:cs typeface="Osaka" charset="0"/>
              </a:rPr>
              <a:t>Job Development Time</a:t>
            </a:r>
            <a:br>
              <a:rPr lang="en-US" dirty="0">
                <a:latin typeface="Cambria" charset="0"/>
                <a:ea typeface="Osaka" charset="0"/>
                <a:cs typeface="Osaka" charset="0"/>
              </a:rPr>
            </a:br>
            <a:r>
              <a:rPr lang="en-US" dirty="0">
                <a:latin typeface="Cambria" charset="0"/>
                <a:ea typeface="Osaka" charset="0"/>
                <a:cs typeface="Osaka" charset="0"/>
              </a:rPr>
              <a:t>is Precious</a:t>
            </a:r>
          </a:p>
        </p:txBody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752600"/>
            <a:ext cx="8382000" cy="4191000"/>
          </a:xfrm>
        </p:spPr>
        <p:txBody>
          <a:bodyPr/>
          <a:lstStyle/>
          <a:p>
            <a:pPr marL="609600" indent="-609600">
              <a:buClr>
                <a:srgbClr val="0099CC"/>
              </a:buClr>
              <a:buFont typeface="Times" charset="0"/>
              <a:buAutoNum type="arabicPeriod"/>
              <a:defRPr/>
            </a:pPr>
            <a:r>
              <a:rPr lang="en-US" dirty="0"/>
              <a:t>E</a:t>
            </a:r>
            <a:r>
              <a:rPr lang="en-US" dirty="0" smtClean="0"/>
              <a:t>nough time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 smtClean="0"/>
              <a:t> </a:t>
            </a:r>
            <a:endParaRPr lang="en-US" sz="2400" dirty="0"/>
          </a:p>
          <a:p>
            <a:pPr marL="609600" indent="-609600">
              <a:buClr>
                <a:srgbClr val="0099CC"/>
              </a:buClr>
              <a:buFont typeface="Times" charset="0"/>
              <a:buAutoNum type="arabicPeriod"/>
              <a:defRPr/>
            </a:pPr>
            <a:r>
              <a:rPr lang="en-US" dirty="0" smtClean="0"/>
              <a:t>Using that time efficiently and effectively</a:t>
            </a:r>
            <a:endParaRPr lang="en-US" dirty="0"/>
          </a:p>
        </p:txBody>
      </p:sp>
      <p:sp>
        <p:nvSpPr>
          <p:cNvPr id="48131" name="TextBox 1"/>
          <p:cNvSpPr txBox="1">
            <a:spLocks noChangeArrowheads="1"/>
          </p:cNvSpPr>
          <p:nvPr/>
        </p:nvSpPr>
        <p:spPr bwMode="auto">
          <a:xfrm>
            <a:off x="457200" y="3733800"/>
            <a:ext cx="8305800" cy="2185213"/>
          </a:xfrm>
          <a:prstGeom prst="rect">
            <a:avLst/>
          </a:prstGeom>
          <a:solidFill>
            <a:srgbClr val="000090"/>
          </a:solidFill>
          <a:ln>
            <a:noFill/>
          </a:ln>
          <a:effectLst>
            <a:glow rad="101600">
              <a:schemeClr val="accent2">
                <a:satMod val="175000"/>
                <a:alpha val="40000"/>
              </a:schemeClr>
            </a:glow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39700" h="139700" prst="divot"/>
          </a:sp3d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Bef>
                <a:spcPts val="1800"/>
              </a:spcBef>
              <a:defRPr/>
            </a:pPr>
            <a:r>
              <a:rPr lang="en-US" sz="2800" b="1" i="1" dirty="0" smtClean="0">
                <a:solidFill>
                  <a:schemeClr val="bg1"/>
                </a:solidFill>
              </a:rPr>
              <a:t>CRITICAL NEED</a:t>
            </a:r>
            <a:r>
              <a:rPr lang="en-US" sz="2800" b="1" dirty="0" smtClean="0">
                <a:solidFill>
                  <a:schemeClr val="bg1"/>
                </a:solidFill>
              </a:rPr>
              <a:t/>
            </a:r>
            <a:br>
              <a:rPr lang="en-US" sz="2800" b="1" dirty="0" smtClean="0">
                <a:solidFill>
                  <a:schemeClr val="bg1"/>
                </a:solidFill>
              </a:rPr>
            </a:br>
            <a:r>
              <a:rPr lang="en-US" sz="1200" b="1" dirty="0" smtClean="0">
                <a:solidFill>
                  <a:schemeClr val="bg1"/>
                </a:solidFill>
              </a:rPr>
              <a:t> </a:t>
            </a:r>
            <a:r>
              <a:rPr lang="en-US" sz="2800" b="1" dirty="0" smtClean="0">
                <a:solidFill>
                  <a:schemeClr val="bg1"/>
                </a:solidFill>
              </a:rPr>
              <a:t/>
            </a:r>
            <a:br>
              <a:rPr lang="en-US" sz="2800" b="1" dirty="0" smtClean="0">
                <a:solidFill>
                  <a:schemeClr val="bg1"/>
                </a:solidFill>
              </a:rPr>
            </a:br>
            <a:r>
              <a:rPr lang="en-US" sz="2800" dirty="0" smtClean="0">
                <a:solidFill>
                  <a:schemeClr val="bg1"/>
                </a:solidFill>
              </a:rPr>
              <a:t>Better understanding of what job development practices are….and are not effective in terms of</a:t>
            </a:r>
            <a:br>
              <a:rPr lang="en-US" sz="2800" dirty="0" smtClean="0">
                <a:solidFill>
                  <a:schemeClr val="bg1"/>
                </a:solidFill>
              </a:rPr>
            </a:br>
            <a:r>
              <a:rPr lang="en-US" sz="2800" b="1" i="1" dirty="0" smtClean="0">
                <a:solidFill>
                  <a:schemeClr val="bg1"/>
                </a:solidFill>
              </a:rPr>
              <a:t>quantity</a:t>
            </a:r>
            <a:r>
              <a:rPr lang="en-US" sz="2800" dirty="0" smtClean="0">
                <a:solidFill>
                  <a:schemeClr val="bg1"/>
                </a:solidFill>
              </a:rPr>
              <a:t> and </a:t>
            </a:r>
            <a:r>
              <a:rPr lang="en-US" sz="2800" b="1" i="1" dirty="0" smtClean="0">
                <a:solidFill>
                  <a:schemeClr val="bg1"/>
                </a:solidFill>
              </a:rPr>
              <a:t>quality</a:t>
            </a:r>
            <a:r>
              <a:rPr lang="en-US" sz="2800" dirty="0" smtClean="0">
                <a:solidFill>
                  <a:schemeClr val="bg1"/>
                </a:solidFill>
              </a:rPr>
              <a:t> of outcomes</a:t>
            </a:r>
            <a:br>
              <a:rPr lang="en-US" sz="2800" dirty="0" smtClean="0">
                <a:solidFill>
                  <a:schemeClr val="bg1"/>
                </a:solidFill>
              </a:rPr>
            </a:br>
            <a:r>
              <a:rPr lang="en-US" sz="1200" dirty="0" smtClean="0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50184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533400"/>
            <a:ext cx="1331913" cy="209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501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81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81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8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63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1463253"/>
              </p:ext>
            </p:extLst>
          </p:nvPr>
        </p:nvGraphicFramePr>
        <p:xfrm>
          <a:off x="609600" y="1600200"/>
          <a:ext cx="7367410" cy="50169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" name="Chart" r:id="rId4" imgW="6552658" imgH="4461903" progId="Excel.Chart.8">
                  <p:embed/>
                </p:oleObj>
              </mc:Choice>
              <mc:Fallback>
                <p:oleObj name="Chart" r:id="rId4" imgW="6552658" imgH="4461903" progId="Excel.Char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600200"/>
                        <a:ext cx="7367410" cy="50169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34" name="Rectangle 3"/>
          <p:cNvSpPr>
            <a:spLocks noChangeArrowheads="1"/>
          </p:cNvSpPr>
          <p:nvPr/>
        </p:nvSpPr>
        <p:spPr bwMode="auto">
          <a:xfrm>
            <a:off x="152400" y="304800"/>
            <a:ext cx="8839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r>
              <a:rPr lang="en-US" sz="3200" b="1" dirty="0" smtClean="0">
                <a:solidFill>
                  <a:srgbClr val="000090"/>
                </a:solidFill>
              </a:rPr>
              <a:t>Example of Use of Direct Service Staff Time</a:t>
            </a:r>
          </a:p>
          <a:p>
            <a:pPr algn="ctr" eaLnBrk="1" hangingPunct="1"/>
            <a:r>
              <a:rPr lang="en-US" sz="3200" b="1" dirty="0" smtClean="0">
                <a:solidFill>
                  <a:srgbClr val="000090"/>
                </a:solidFill>
              </a:rPr>
              <a:t>By Service Provider</a:t>
            </a:r>
            <a:endParaRPr lang="en-US" sz="3200" b="1" dirty="0">
              <a:solidFill>
                <a:srgbClr val="00009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4806008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19400" y="4724400"/>
            <a:ext cx="4343400" cy="129540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/>
          <a:p>
            <a:pPr>
              <a:lnSpc>
                <a:spcPct val="90000"/>
              </a:lnSpc>
              <a:buFont typeface="Times" charset="0"/>
              <a:buNone/>
              <a:defRPr/>
            </a:pPr>
            <a:endParaRPr lang="en-US" sz="3600" dirty="0"/>
          </a:p>
          <a:p>
            <a:pPr>
              <a:lnSpc>
                <a:spcPct val="90000"/>
              </a:lnSpc>
              <a:buFont typeface="Times" charset="0"/>
              <a:buNone/>
              <a:defRPr/>
            </a:pPr>
            <a:r>
              <a:rPr lang="en-US" sz="3600" dirty="0"/>
              <a:t>- Gerry Provencal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8305800" cy="3810000"/>
          </a:xfrm>
        </p:spPr>
        <p:txBody>
          <a:bodyPr/>
          <a:lstStyle/>
          <a:p>
            <a:pPr>
              <a:defRPr/>
            </a:pPr>
            <a:r>
              <a:rPr lang="ja-JP" altLang="en-US" sz="3600" i="0" dirty="0" smtClean="0">
                <a:latin typeface="+mj-lt"/>
              </a:rPr>
              <a:t>“</a:t>
            </a:r>
            <a:r>
              <a:rPr lang="en-US" sz="3600" i="0" dirty="0" smtClean="0">
                <a:latin typeface="+mj-lt"/>
              </a:rPr>
              <a:t>We</a:t>
            </a:r>
            <a:r>
              <a:rPr lang="ja-JP" altLang="en-US" sz="3600" i="0" dirty="0" smtClean="0">
                <a:latin typeface="+mj-lt"/>
              </a:rPr>
              <a:t>’</a:t>
            </a:r>
            <a:r>
              <a:rPr lang="en-US" sz="3600" i="0" dirty="0" smtClean="0">
                <a:latin typeface="+mj-lt"/>
              </a:rPr>
              <a:t>re Far Too Patient With The Passage Of Time For People With Disabilities. . . </a:t>
            </a:r>
            <a:br>
              <a:rPr lang="en-US" sz="3600" i="0" dirty="0" smtClean="0">
                <a:latin typeface="+mj-lt"/>
              </a:rPr>
            </a:br>
            <a:r>
              <a:rPr lang="en-US" sz="3600" i="0" dirty="0" smtClean="0">
                <a:latin typeface="+mj-lt"/>
              </a:rPr>
              <a:t>Time Is As Precious For A Person With A Disability</a:t>
            </a:r>
            <a:br>
              <a:rPr lang="en-US" sz="3600" i="0" dirty="0" smtClean="0">
                <a:latin typeface="+mj-lt"/>
              </a:rPr>
            </a:br>
            <a:r>
              <a:rPr lang="en-US" sz="3600" i="0" dirty="0" smtClean="0">
                <a:latin typeface="+mj-lt"/>
              </a:rPr>
              <a:t>As It Is For All Of Us.</a:t>
            </a:r>
            <a:r>
              <a:rPr lang="ja-JP" altLang="en-US" sz="3600" i="0" dirty="0" smtClean="0">
                <a:latin typeface="+mj-lt"/>
              </a:rPr>
              <a:t>”</a:t>
            </a:r>
            <a:r>
              <a:rPr lang="en-US" sz="3600" i="0" dirty="0" smtClean="0">
                <a:latin typeface="+mj-lt"/>
              </a:rPr>
              <a:t> </a:t>
            </a:r>
            <a:r>
              <a:rPr lang="en-US" sz="3600" b="0" dirty="0" smtClean="0"/>
              <a:t/>
            </a:r>
            <a:br>
              <a:rPr lang="en-US" sz="3600" b="0" dirty="0" smtClean="0"/>
            </a:br>
            <a:endParaRPr lang="en-US" sz="3600" dirty="0"/>
          </a:p>
        </p:txBody>
      </p:sp>
      <p:pic>
        <p:nvPicPr>
          <p:cNvPr id="28677" name="Picture 2" descr="executive_director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4343400"/>
            <a:ext cx="1336675" cy="184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44741535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8639623"/>
              </p:ext>
            </p:extLst>
          </p:nvPr>
        </p:nvGraphicFramePr>
        <p:xfrm>
          <a:off x="381000" y="1295400"/>
          <a:ext cx="8458200" cy="3825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2324100"/>
                <a:gridCol w="2114550"/>
                <a:gridCol w="2114550"/>
              </a:tblGrid>
              <a:tr h="533400">
                <a:tc gridSpan="4"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accent2"/>
                          </a:solidFill>
                        </a:rPr>
                        <a:t>EMPLOYMENT</a:t>
                      </a:r>
                      <a:r>
                        <a:rPr lang="en-US" sz="2400" b="1" baseline="0" dirty="0" smtClean="0">
                          <a:solidFill>
                            <a:schemeClr val="accent2"/>
                          </a:solidFill>
                        </a:rPr>
                        <a:t> STRATEGIES &amp; TECHNIQUES</a:t>
                      </a:r>
                      <a:endParaRPr lang="en-US" sz="2400" b="1" dirty="0" smtClean="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2797576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</a:pPr>
                      <a:r>
                        <a:rPr lang="en-US" b="1" dirty="0" smtClean="0">
                          <a:solidFill>
                            <a:schemeClr val="accent3"/>
                          </a:solidFill>
                        </a:rPr>
                        <a:t>Full scale discovery</a:t>
                      </a:r>
                    </a:p>
                    <a:p>
                      <a:pPr>
                        <a:spcBef>
                          <a:spcPts val="1200"/>
                        </a:spcBef>
                      </a:pPr>
                      <a:r>
                        <a:rPr lang="en-US" b="1" dirty="0" smtClean="0">
                          <a:solidFill>
                            <a:schemeClr val="accent3"/>
                          </a:solidFill>
                        </a:rPr>
                        <a:t>Job creation</a:t>
                      </a:r>
                    </a:p>
                    <a:p>
                      <a:pPr>
                        <a:spcBef>
                          <a:spcPts val="1200"/>
                        </a:spcBef>
                      </a:pPr>
                      <a:r>
                        <a:rPr lang="en-US" b="1" dirty="0" smtClean="0">
                          <a:solidFill>
                            <a:schemeClr val="accent3"/>
                          </a:solidFill>
                        </a:rPr>
                        <a:t>Job carving</a:t>
                      </a:r>
                    </a:p>
                    <a:p>
                      <a:pPr>
                        <a:spcBef>
                          <a:spcPts val="1200"/>
                        </a:spcBef>
                      </a:pPr>
                      <a:r>
                        <a:rPr lang="en-US" b="1" dirty="0" smtClean="0">
                          <a:solidFill>
                            <a:schemeClr val="accent3"/>
                          </a:solidFill>
                        </a:rPr>
                        <a:t>Customized</a:t>
                      </a:r>
                      <a:r>
                        <a:rPr lang="en-US" b="1" baseline="0" dirty="0" smtClean="0">
                          <a:solidFill>
                            <a:schemeClr val="accent3"/>
                          </a:solidFill>
                        </a:rPr>
                        <a:t> strategies</a:t>
                      </a:r>
                    </a:p>
                    <a:p>
                      <a:pPr>
                        <a:spcBef>
                          <a:spcPts val="1200"/>
                        </a:spcBef>
                      </a:pPr>
                      <a:r>
                        <a:rPr lang="en-US" b="1" baseline="0" dirty="0" smtClean="0">
                          <a:solidFill>
                            <a:schemeClr val="accent3"/>
                          </a:solidFill>
                        </a:rPr>
                        <a:t>Short-term job trials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</a:pPr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Comprehensive person-centered planning</a:t>
                      </a:r>
                      <a:endParaRPr lang="en-US" sz="1200" b="1" dirty="0" smtClean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spcBef>
                          <a:spcPts val="1200"/>
                        </a:spcBef>
                      </a:pPr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Professional job development</a:t>
                      </a:r>
                    </a:p>
                    <a:p>
                      <a:pPr>
                        <a:spcBef>
                          <a:spcPts val="1200"/>
                        </a:spcBef>
                      </a:pPr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Job coaching</a:t>
                      </a:r>
                    </a:p>
                    <a:p>
                      <a:pPr>
                        <a:spcBef>
                          <a:spcPts val="1200"/>
                        </a:spcBef>
                      </a:pPr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More complex</a:t>
                      </a:r>
                      <a:r>
                        <a:rPr lang="en-US" b="1" baseline="0" dirty="0" smtClean="0">
                          <a:solidFill>
                            <a:schemeClr val="tx1"/>
                          </a:solidFill>
                        </a:rPr>
                        <a:t> accommodations</a:t>
                      </a:r>
                    </a:p>
                    <a:p>
                      <a:pPr>
                        <a:spcBef>
                          <a:spcPts val="1200"/>
                        </a:spcBef>
                      </a:pPr>
                      <a:r>
                        <a:rPr lang="en-US" b="1" baseline="0" dirty="0" smtClean="0">
                          <a:solidFill>
                            <a:schemeClr val="tx1"/>
                          </a:solidFill>
                        </a:rPr>
                        <a:t>Job skill training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</a:pPr>
                      <a:r>
                        <a:rPr lang="en-US" b="1" baseline="0" dirty="0" smtClean="0">
                          <a:solidFill>
                            <a:schemeClr val="bg1"/>
                          </a:solidFill>
                        </a:rPr>
                        <a:t>Assistance with job search plan</a:t>
                      </a:r>
                    </a:p>
                    <a:p>
                      <a:pPr>
                        <a:spcBef>
                          <a:spcPts val="1200"/>
                        </a:spcBef>
                      </a:pPr>
                      <a:r>
                        <a:rPr lang="en-US" b="1" baseline="0" dirty="0" smtClean="0">
                          <a:solidFill>
                            <a:schemeClr val="bg1"/>
                          </a:solidFill>
                        </a:rPr>
                        <a:t>Job search guidance &amp; counseling</a:t>
                      </a:r>
                    </a:p>
                    <a:p>
                      <a:pPr>
                        <a:spcBef>
                          <a:spcPts val="1200"/>
                        </a:spcBef>
                      </a:pPr>
                      <a:r>
                        <a:rPr lang="en-US" b="1" baseline="0" dirty="0" smtClean="0">
                          <a:solidFill>
                            <a:schemeClr val="bg1"/>
                          </a:solidFill>
                        </a:rPr>
                        <a:t>Guidance on disability issues/disclosure</a:t>
                      </a:r>
                    </a:p>
                    <a:p>
                      <a:pPr>
                        <a:spcBef>
                          <a:spcPts val="1200"/>
                        </a:spcBef>
                      </a:pPr>
                      <a:r>
                        <a:rPr lang="en-US" b="1" baseline="0" dirty="0" smtClean="0">
                          <a:solidFill>
                            <a:schemeClr val="bg1"/>
                          </a:solidFill>
                        </a:rPr>
                        <a:t>Simple accommodations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Standard job search</a:t>
                      </a:r>
                      <a:r>
                        <a:rPr lang="en-US" b="1" baseline="0" dirty="0" smtClean="0">
                          <a:solidFill>
                            <a:schemeClr val="tx1"/>
                          </a:solidFill>
                        </a:rPr>
                        <a:t> practices</a:t>
                      </a:r>
                      <a:endParaRPr lang="en-US" b="1" dirty="0" smtClean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spcBef>
                          <a:spcPts val="1200"/>
                        </a:spcBef>
                      </a:pPr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Resume assistance</a:t>
                      </a:r>
                    </a:p>
                    <a:p>
                      <a:pPr>
                        <a:spcBef>
                          <a:spcPts val="1200"/>
                        </a:spcBef>
                      </a:pPr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Help with job leads</a:t>
                      </a:r>
                    </a:p>
                    <a:p>
                      <a:pPr>
                        <a:spcBef>
                          <a:spcPts val="1200"/>
                        </a:spcBef>
                      </a:pPr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Brush up</a:t>
                      </a:r>
                      <a:r>
                        <a:rPr lang="en-US" b="1" baseline="0" dirty="0" smtClean="0">
                          <a:solidFill>
                            <a:schemeClr val="tx1"/>
                          </a:solidFill>
                        </a:rPr>
                        <a:t> interview skills</a:t>
                      </a:r>
                      <a:endParaRPr lang="en-US" b="1" dirty="0"/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Left Arrow 5"/>
          <p:cNvSpPr/>
          <p:nvPr/>
        </p:nvSpPr>
        <p:spPr bwMode="auto">
          <a:xfrm>
            <a:off x="609600" y="5334000"/>
            <a:ext cx="3124200" cy="762000"/>
          </a:xfrm>
          <a:prstGeom prst="leftArrow">
            <a:avLst/>
          </a:prstGeom>
          <a:solidFill>
            <a:srgbClr val="EA0000"/>
          </a:solidFill>
          <a:ln>
            <a:headEnd type="none" w="med" len="med"/>
            <a:tailEnd type="none" w="med" len="med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  <a:ex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Book Antiqua"/>
                <a:ea typeface="ＭＳ Ｐゴシック" charset="0"/>
                <a:cs typeface="Geneva" charset="0"/>
              </a:rPr>
              <a:t>More time &amp; resources</a:t>
            </a:r>
            <a:endParaRPr kumimoji="0" lang="en-US" sz="18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Book Antiqua"/>
              <a:ea typeface="ＭＳ Ｐゴシック" charset="0"/>
              <a:cs typeface="Geneva" charset="0"/>
            </a:endParaRPr>
          </a:p>
        </p:txBody>
      </p:sp>
      <p:sp>
        <p:nvSpPr>
          <p:cNvPr id="7" name="Right Arrow 6"/>
          <p:cNvSpPr/>
          <p:nvPr/>
        </p:nvSpPr>
        <p:spPr bwMode="auto">
          <a:xfrm>
            <a:off x="5715000" y="5334000"/>
            <a:ext cx="2971800" cy="838200"/>
          </a:xfrm>
          <a:prstGeom prst="rightArrow">
            <a:avLst/>
          </a:prstGeom>
          <a:solidFill>
            <a:srgbClr val="EA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Book Antiqua"/>
                <a:ea typeface="ＭＳ Ｐゴシック" charset="0"/>
                <a:cs typeface="Geneva" charset="0"/>
              </a:rPr>
              <a:t>Less time &amp; resources</a:t>
            </a:r>
            <a:endParaRPr kumimoji="0" lang="en-US" sz="18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Book Antiqua"/>
              <a:ea typeface="ＭＳ Ｐゴシック" charset="0"/>
              <a:cs typeface="Geneva" charset="0"/>
            </a:endParaRPr>
          </a:p>
        </p:txBody>
      </p:sp>
      <p:sp>
        <p:nvSpPr>
          <p:cNvPr id="12" name="Left Arrow 11"/>
          <p:cNvSpPr/>
          <p:nvPr/>
        </p:nvSpPr>
        <p:spPr bwMode="auto">
          <a:xfrm>
            <a:off x="533400" y="304800"/>
            <a:ext cx="3733800" cy="762000"/>
          </a:xfrm>
          <a:prstGeom prst="leftArrow">
            <a:avLst/>
          </a:prstGeom>
          <a:ln>
            <a:headEnd type="none" w="med" len="med"/>
            <a:tailEnd type="none" w="med" len="med"/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  <a:ex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1" u="none" strike="noStrike" cap="none" normalizeH="0" baseline="0" dirty="0" smtClean="0">
                <a:ln>
                  <a:noFill/>
                </a:ln>
                <a:solidFill>
                  <a:schemeClr val="accent3"/>
                </a:solidFill>
                <a:effectLst/>
                <a:latin typeface="Chalkboard"/>
                <a:ea typeface="ＭＳ Ｐゴシック" charset="0"/>
                <a:cs typeface="Geneva" charset="0"/>
              </a:rPr>
              <a:t>More intensive intervention</a:t>
            </a:r>
            <a:endParaRPr kumimoji="0" lang="en-US" sz="1800" b="0" i="1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Chalkboard"/>
              <a:ea typeface="ＭＳ Ｐゴシック" charset="0"/>
              <a:cs typeface="Geneva" charset="0"/>
            </a:endParaRPr>
          </a:p>
        </p:txBody>
      </p:sp>
      <p:sp>
        <p:nvSpPr>
          <p:cNvPr id="13" name="Right Arrow 12"/>
          <p:cNvSpPr/>
          <p:nvPr/>
        </p:nvSpPr>
        <p:spPr bwMode="auto">
          <a:xfrm>
            <a:off x="5105400" y="304800"/>
            <a:ext cx="3581400" cy="762000"/>
          </a:xfrm>
          <a:prstGeom prst="rightArrow">
            <a:avLst/>
          </a:prstGeom>
          <a:ln>
            <a:headEnd type="none" w="med" len="med"/>
            <a:tailEnd type="none" w="med" len="med"/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  <a:ex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1" u="none" strike="noStrike" cap="none" normalizeH="0" baseline="0" dirty="0" smtClean="0">
                <a:ln>
                  <a:noFill/>
                </a:ln>
                <a:solidFill>
                  <a:schemeClr val="accent3"/>
                </a:solidFill>
                <a:effectLst/>
                <a:latin typeface="Chalkboard"/>
                <a:ea typeface="ＭＳ Ｐゴシック" charset="0"/>
                <a:cs typeface="Geneva" charset="0"/>
              </a:rPr>
              <a:t>Less intensive</a:t>
            </a:r>
            <a:r>
              <a:rPr kumimoji="0" lang="en-US" sz="1800" b="0" i="1" u="none" strike="noStrike" cap="none" normalizeH="0" dirty="0" smtClean="0">
                <a:ln>
                  <a:noFill/>
                </a:ln>
                <a:solidFill>
                  <a:schemeClr val="accent3"/>
                </a:solidFill>
                <a:effectLst/>
                <a:latin typeface="Chalkboard"/>
                <a:ea typeface="ＭＳ Ｐゴシック" charset="0"/>
                <a:cs typeface="Geneva" charset="0"/>
              </a:rPr>
              <a:t> intervention</a:t>
            </a:r>
            <a:endParaRPr kumimoji="0" lang="en-US" sz="1800" b="0" i="1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Chalkboard"/>
              <a:ea typeface="ＭＳ Ｐゴシック" charset="0"/>
              <a:cs typeface="Genev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725711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6" name="Curved Connector 145"/>
          <p:cNvCxnSpPr>
            <a:stCxn id="25" idx="2"/>
          </p:cNvCxnSpPr>
          <p:nvPr/>
        </p:nvCxnSpPr>
        <p:spPr bwMode="auto">
          <a:xfrm rot="5400000">
            <a:off x="7200900" y="2171700"/>
            <a:ext cx="762000" cy="685800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76200" cap="flat" cmpd="tri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65" name="Curved Connector 164"/>
          <p:cNvCxnSpPr/>
          <p:nvPr/>
        </p:nvCxnSpPr>
        <p:spPr bwMode="auto">
          <a:xfrm rot="16200000" flipH="1">
            <a:off x="7010400" y="3124200"/>
            <a:ext cx="990600" cy="533400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76200" cap="flat" cmpd="tri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53" name="Curved Connector 152"/>
          <p:cNvCxnSpPr/>
          <p:nvPr/>
        </p:nvCxnSpPr>
        <p:spPr bwMode="auto">
          <a:xfrm rot="5400000">
            <a:off x="7162800" y="3810000"/>
            <a:ext cx="1600200" cy="1447800"/>
          </a:xfrm>
          <a:prstGeom prst="curvedConnector3">
            <a:avLst>
              <a:gd name="adj1" fmla="val 56349"/>
            </a:avLst>
          </a:prstGeom>
          <a:solidFill>
            <a:schemeClr val="accent1"/>
          </a:solidFill>
          <a:ln w="76200" cap="flat" cmpd="tri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9" name="Straight Connector 78"/>
          <p:cNvCxnSpPr>
            <a:cxnSpLocks/>
          </p:cNvCxnSpPr>
          <p:nvPr/>
        </p:nvCxnSpPr>
        <p:spPr bwMode="auto">
          <a:xfrm>
            <a:off x="8610600" y="3429000"/>
            <a:ext cx="152400" cy="2286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55" name="Straight Connector 54"/>
          <p:cNvCxnSpPr>
            <a:stCxn id="28" idx="6"/>
            <a:endCxn id="19" idx="1"/>
          </p:cNvCxnSpPr>
          <p:nvPr/>
        </p:nvCxnSpPr>
        <p:spPr bwMode="auto">
          <a:xfrm>
            <a:off x="5638800" y="5219700"/>
            <a:ext cx="533400" cy="0"/>
          </a:xfrm>
          <a:prstGeom prst="line">
            <a:avLst/>
          </a:prstGeom>
          <a:solidFill>
            <a:schemeClr val="accent1"/>
          </a:solidFill>
          <a:ln w="76200" cap="flat" cmpd="tri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53" name="Straight Connector 52"/>
          <p:cNvCxnSpPr>
            <a:stCxn id="29" idx="3"/>
            <a:endCxn id="28" idx="2"/>
          </p:cNvCxnSpPr>
          <p:nvPr/>
        </p:nvCxnSpPr>
        <p:spPr bwMode="auto">
          <a:xfrm>
            <a:off x="3733800" y="5219700"/>
            <a:ext cx="685800" cy="0"/>
          </a:xfrm>
          <a:prstGeom prst="line">
            <a:avLst/>
          </a:prstGeom>
          <a:solidFill>
            <a:schemeClr val="accent1"/>
          </a:solidFill>
          <a:ln w="76200" cap="flat" cmpd="tri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59" name="Curved Connector 58"/>
          <p:cNvCxnSpPr/>
          <p:nvPr/>
        </p:nvCxnSpPr>
        <p:spPr bwMode="auto">
          <a:xfrm rot="10800000">
            <a:off x="1219200" y="4495800"/>
            <a:ext cx="1295400" cy="647700"/>
          </a:xfrm>
          <a:prstGeom prst="curvedConnector3">
            <a:avLst>
              <a:gd name="adj1" fmla="val 10784"/>
            </a:avLst>
          </a:prstGeom>
          <a:solidFill>
            <a:schemeClr val="accent1"/>
          </a:solidFill>
          <a:ln w="76200" cap="flat" cmpd="tri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8" name="Curved Connector 37"/>
          <p:cNvCxnSpPr>
            <a:stCxn id="25" idx="1"/>
          </p:cNvCxnSpPr>
          <p:nvPr/>
        </p:nvCxnSpPr>
        <p:spPr bwMode="auto">
          <a:xfrm rot="10800000" flipV="1">
            <a:off x="6781800" y="1752600"/>
            <a:ext cx="609600" cy="381000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76200" cap="flat" cmpd="tri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4" name="Straight Connector 13"/>
          <p:cNvCxnSpPr>
            <a:stCxn id="15" idx="0"/>
            <a:endCxn id="26" idx="1"/>
          </p:cNvCxnSpPr>
          <p:nvPr/>
        </p:nvCxnSpPr>
        <p:spPr bwMode="auto">
          <a:xfrm flipH="1" flipV="1">
            <a:off x="5410200" y="1371600"/>
            <a:ext cx="762000" cy="685800"/>
          </a:xfrm>
          <a:prstGeom prst="line">
            <a:avLst/>
          </a:prstGeom>
          <a:solidFill>
            <a:schemeClr val="accent1"/>
          </a:solidFill>
          <a:ln w="76200" cap="flat" cmpd="tri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0" name="Straight Connector 29"/>
          <p:cNvCxnSpPr>
            <a:stCxn id="27" idx="0"/>
            <a:endCxn id="18" idx="2"/>
          </p:cNvCxnSpPr>
          <p:nvPr/>
        </p:nvCxnSpPr>
        <p:spPr bwMode="auto">
          <a:xfrm flipH="1" flipV="1">
            <a:off x="3848100" y="2362200"/>
            <a:ext cx="1104900" cy="609600"/>
          </a:xfrm>
          <a:prstGeom prst="line">
            <a:avLst/>
          </a:prstGeom>
          <a:solidFill>
            <a:schemeClr val="accent1"/>
          </a:solidFill>
          <a:ln w="76200" cap="flat" cmpd="tri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2" name="Straight Connector 31"/>
          <p:cNvCxnSpPr>
            <a:stCxn id="18" idx="2"/>
            <a:endCxn id="16" idx="0"/>
          </p:cNvCxnSpPr>
          <p:nvPr/>
        </p:nvCxnSpPr>
        <p:spPr bwMode="auto">
          <a:xfrm flipH="1">
            <a:off x="2971800" y="2362200"/>
            <a:ext cx="876300" cy="457200"/>
          </a:xfrm>
          <a:prstGeom prst="line">
            <a:avLst/>
          </a:prstGeom>
          <a:solidFill>
            <a:schemeClr val="accent1"/>
          </a:solidFill>
          <a:ln w="76200" cap="flat" cmpd="tri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4" name="Straight Connector 33"/>
          <p:cNvCxnSpPr>
            <a:stCxn id="16" idx="0"/>
            <a:endCxn id="24" idx="5"/>
          </p:cNvCxnSpPr>
          <p:nvPr/>
        </p:nvCxnSpPr>
        <p:spPr bwMode="auto">
          <a:xfrm flipH="1" flipV="1">
            <a:off x="2031252" y="2403008"/>
            <a:ext cx="940548" cy="416392"/>
          </a:xfrm>
          <a:prstGeom prst="line">
            <a:avLst/>
          </a:prstGeom>
          <a:solidFill>
            <a:schemeClr val="accent1"/>
          </a:solidFill>
          <a:ln w="76200" cap="flat" cmpd="tri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6" name="Curved Connector 35"/>
          <p:cNvCxnSpPr/>
          <p:nvPr/>
        </p:nvCxnSpPr>
        <p:spPr bwMode="auto">
          <a:xfrm rot="16200000" flipH="1">
            <a:off x="683928" y="3278473"/>
            <a:ext cx="1695450" cy="167705"/>
          </a:xfrm>
          <a:prstGeom prst="curvedConnector4">
            <a:avLst>
              <a:gd name="adj1" fmla="val 33708"/>
              <a:gd name="adj2" fmla="val 499806"/>
            </a:avLst>
          </a:prstGeom>
          <a:solidFill>
            <a:schemeClr val="accent1"/>
          </a:solidFill>
          <a:ln w="76200" cap="flat" cmpd="tri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4419600" cy="990600"/>
          </a:xfrm>
        </p:spPr>
        <p:txBody>
          <a:bodyPr/>
          <a:lstStyle/>
          <a:p>
            <a:r>
              <a:rPr lang="en-US" sz="2600" dirty="0" smtClean="0">
                <a:latin typeface="Arial Narrow"/>
                <a:cs typeface="Arial Narrow"/>
              </a:rPr>
              <a:t>What will be the best route to employment success?</a:t>
            </a:r>
            <a:endParaRPr lang="en-US" sz="2600" dirty="0">
              <a:latin typeface="Arial Narrow"/>
              <a:cs typeface="Arial Narrow"/>
            </a:endParaRPr>
          </a:p>
        </p:txBody>
      </p:sp>
      <p:sp>
        <p:nvSpPr>
          <p:cNvPr id="15" name="Rounded Rectangle 14"/>
          <p:cNvSpPr/>
          <p:nvPr/>
        </p:nvSpPr>
        <p:spPr bwMode="auto">
          <a:xfrm>
            <a:off x="5562600" y="2057400"/>
            <a:ext cx="1219200" cy="685800"/>
          </a:xfrm>
          <a:prstGeom prst="roundRect">
            <a:avLst/>
          </a:prstGeom>
          <a:ln>
            <a:headEnd type="none" w="med" len="med"/>
            <a:tailEnd type="none" w="med" len="med"/>
          </a:ln>
          <a:ex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b="1" dirty="0" smtClean="0">
                <a:solidFill>
                  <a:srgbClr val="000000"/>
                </a:solidFill>
                <a:latin typeface="Helvetica Neue"/>
                <a:cs typeface="Geneva" charset="0"/>
              </a:rPr>
              <a:t>Community Exploration</a:t>
            </a:r>
            <a:endParaRPr kumimoji="0" lang="en-US" sz="14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Helvetica Neue"/>
              <a:ea typeface="ＭＳ Ｐゴシック" charset="0"/>
              <a:cs typeface="Geneva" charset="0"/>
            </a:endParaRPr>
          </a:p>
        </p:txBody>
      </p:sp>
      <p:sp>
        <p:nvSpPr>
          <p:cNvPr id="16" name="Rounded Rectangle 15"/>
          <p:cNvSpPr/>
          <p:nvPr/>
        </p:nvSpPr>
        <p:spPr bwMode="auto">
          <a:xfrm>
            <a:off x="2438400" y="2819400"/>
            <a:ext cx="1066800" cy="533400"/>
          </a:xfrm>
          <a:prstGeom prst="round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Marker Felt Thin"/>
                <a:cs typeface="Geneva" charset="0"/>
              </a:rPr>
              <a:t>PASS</a:t>
            </a: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Marker Felt Thin"/>
              <a:cs typeface="Geneva" charset="0"/>
            </a:endParaRPr>
          </a:p>
        </p:txBody>
      </p:sp>
      <p:sp>
        <p:nvSpPr>
          <p:cNvPr id="18" name="Rounded Rectangle 17"/>
          <p:cNvSpPr/>
          <p:nvPr/>
        </p:nvSpPr>
        <p:spPr bwMode="auto">
          <a:xfrm>
            <a:off x="3200400" y="1676400"/>
            <a:ext cx="1295400" cy="685800"/>
          </a:xfrm>
          <a:prstGeom prst="roundRect">
            <a:avLst/>
          </a:prstGeom>
          <a:solidFill>
            <a:srgbClr val="E94D0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ＭＳ Ｐゴシック" charset="0"/>
                <a:cs typeface="Geneva" charset="0"/>
              </a:rPr>
              <a:t>Job</a:t>
            </a:r>
            <a:r>
              <a: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ＭＳ Ｐゴシック" charset="0"/>
                <a:cs typeface="Geneva" charset="0"/>
              </a:rPr>
              <a:t> Development</a:t>
            </a: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ＭＳ Ｐゴシック" charset="0"/>
              <a:cs typeface="Geneva" charset="0"/>
            </a:endParaRPr>
          </a:p>
        </p:txBody>
      </p:sp>
      <p:sp>
        <p:nvSpPr>
          <p:cNvPr id="19" name="Rounded Rectangle 18"/>
          <p:cNvSpPr/>
          <p:nvPr/>
        </p:nvSpPr>
        <p:spPr bwMode="auto">
          <a:xfrm>
            <a:off x="6172200" y="4876800"/>
            <a:ext cx="1143000" cy="685800"/>
          </a:xfrm>
          <a:prstGeom prst="roundRect">
            <a:avLst/>
          </a:prstGeom>
          <a:solidFill>
            <a:srgbClr val="3A828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accent3"/>
                </a:solidFill>
                <a:effectLst/>
                <a:latin typeface="Arial" charset="0"/>
                <a:ea typeface="ＭＳ Ｐゴシック" charset="0"/>
                <a:cs typeface="Geneva" charset="0"/>
              </a:rPr>
              <a:t>Plan Job Search</a:t>
            </a: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" charset="0"/>
              <a:ea typeface="ＭＳ Ｐゴシック" charset="0"/>
              <a:cs typeface="Geneva" charset="0"/>
            </a:endParaRPr>
          </a:p>
        </p:txBody>
      </p:sp>
      <p:sp>
        <p:nvSpPr>
          <p:cNvPr id="24" name="Oval 23"/>
          <p:cNvSpPr/>
          <p:nvPr/>
        </p:nvSpPr>
        <p:spPr bwMode="auto">
          <a:xfrm>
            <a:off x="990600" y="1752600"/>
            <a:ext cx="1219200" cy="762000"/>
          </a:xfrm>
          <a:prstGeom prst="ellipse">
            <a:avLst/>
          </a:prstGeom>
          <a:solidFill>
            <a:srgbClr val="80004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Arial" charset="0"/>
                <a:ea typeface="ＭＳ Ｐゴシック" charset="0"/>
                <a:cs typeface="Geneva" charset="0"/>
              </a:rPr>
              <a:t>Job Creation</a:t>
            </a: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FFFF00"/>
              </a:solidFill>
              <a:effectLst/>
              <a:latin typeface="Arial" charset="0"/>
              <a:ea typeface="ＭＳ Ｐゴシック" charset="0"/>
              <a:cs typeface="Geneva" charset="0"/>
            </a:endParaRPr>
          </a:p>
        </p:txBody>
      </p:sp>
      <p:sp>
        <p:nvSpPr>
          <p:cNvPr id="25" name="Rectangle 24"/>
          <p:cNvSpPr/>
          <p:nvPr/>
        </p:nvSpPr>
        <p:spPr bwMode="auto">
          <a:xfrm>
            <a:off x="7391400" y="1371600"/>
            <a:ext cx="1066800" cy="762000"/>
          </a:xfrm>
          <a:prstGeom prst="rect">
            <a:avLst/>
          </a:prstGeom>
          <a:solidFill>
            <a:srgbClr val="0000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ＭＳ Ｐゴシック" charset="0"/>
                <a:cs typeface="Geneva" charset="0"/>
              </a:rPr>
              <a:t>Person-Centered Planning</a:t>
            </a: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ＭＳ Ｐゴシック" charset="0"/>
              <a:cs typeface="Geneva" charset="0"/>
            </a:endParaRPr>
          </a:p>
        </p:txBody>
      </p:sp>
      <p:sp>
        <p:nvSpPr>
          <p:cNvPr id="26" name="Round Diagonal Corner Rectangle 25"/>
          <p:cNvSpPr/>
          <p:nvPr/>
        </p:nvSpPr>
        <p:spPr bwMode="auto">
          <a:xfrm>
            <a:off x="4800600" y="762000"/>
            <a:ext cx="1219200" cy="609600"/>
          </a:xfrm>
          <a:prstGeom prst="round2Diag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tima"/>
                <a:ea typeface="ＭＳ Ｐゴシック" charset="0"/>
                <a:cs typeface="Geneva" charset="0"/>
              </a:rPr>
              <a:t>Situational Assessment</a:t>
            </a:r>
            <a:endParaRPr kumimoji="0" lang="en-US" sz="14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Optima"/>
              <a:ea typeface="ＭＳ Ｐゴシック" charset="0"/>
              <a:cs typeface="Geneva" charset="0"/>
            </a:endParaRPr>
          </a:p>
        </p:txBody>
      </p:sp>
      <p:sp>
        <p:nvSpPr>
          <p:cNvPr id="27" name="Oval 26"/>
          <p:cNvSpPr/>
          <p:nvPr/>
        </p:nvSpPr>
        <p:spPr bwMode="auto">
          <a:xfrm>
            <a:off x="4343400" y="2971800"/>
            <a:ext cx="1219200" cy="762000"/>
          </a:xfrm>
          <a:prstGeom prst="ellipse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Times New Roman"/>
                <a:cs typeface="Geneva" charset="0"/>
              </a:rPr>
              <a:t>Benefit</a:t>
            </a:r>
            <a:r>
              <a:rPr lang="en-US" sz="1400" b="1" dirty="0" smtClean="0">
                <a:solidFill>
                  <a:srgbClr val="FFFF00"/>
                </a:solidFill>
                <a:latin typeface="Times New Roman"/>
                <a:cs typeface="Geneva" charset="0"/>
              </a:rPr>
              <a:t>s Planning</a:t>
            </a:r>
            <a:endParaRPr kumimoji="0" lang="en-US" sz="1400" b="1" i="0" u="none" strike="noStrike" cap="none" normalizeH="0" baseline="0" dirty="0">
              <a:ln>
                <a:noFill/>
              </a:ln>
              <a:solidFill>
                <a:srgbClr val="FFFF00"/>
              </a:solidFill>
              <a:effectLst/>
              <a:latin typeface="Times New Roman"/>
              <a:cs typeface="Geneva" charset="0"/>
            </a:endParaRPr>
          </a:p>
        </p:txBody>
      </p:sp>
      <p:sp>
        <p:nvSpPr>
          <p:cNvPr id="28" name="Oval 27"/>
          <p:cNvSpPr/>
          <p:nvPr/>
        </p:nvSpPr>
        <p:spPr bwMode="auto">
          <a:xfrm>
            <a:off x="4419600" y="4800600"/>
            <a:ext cx="1219200" cy="838200"/>
          </a:xfrm>
          <a:prstGeom prst="ellipse">
            <a:avLst/>
          </a:prstGeom>
          <a:solidFill>
            <a:srgbClr val="FFE53E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tima"/>
                <a:ea typeface="ＭＳ Ｐゴシック" charset="0"/>
                <a:cs typeface="Geneva" charset="0"/>
              </a:rPr>
              <a:t>Develop Resume</a:t>
            </a:r>
            <a:endParaRPr kumimoji="0" lang="en-US" sz="14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Optima"/>
              <a:ea typeface="ＭＳ Ｐゴシック" charset="0"/>
              <a:cs typeface="Geneva" charset="0"/>
            </a:endParaRPr>
          </a:p>
        </p:txBody>
      </p:sp>
      <p:sp>
        <p:nvSpPr>
          <p:cNvPr id="29" name="Rounded Rectangle 28"/>
          <p:cNvSpPr/>
          <p:nvPr/>
        </p:nvSpPr>
        <p:spPr bwMode="auto">
          <a:xfrm>
            <a:off x="2514600" y="4876800"/>
            <a:ext cx="1219200" cy="685800"/>
          </a:xfrm>
          <a:prstGeom prst="roundRect">
            <a:avLst/>
          </a:prstGeom>
          <a:solidFill>
            <a:srgbClr val="80004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dirty="0" smtClean="0">
                <a:solidFill>
                  <a:schemeClr val="accent3"/>
                </a:solidFill>
                <a:latin typeface="Copperplate"/>
                <a:cs typeface="Geneva" charset="0"/>
              </a:rPr>
              <a:t>Pursue Job Leads</a:t>
            </a: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Copperplate"/>
              <a:cs typeface="Geneva" charset="0"/>
            </a:endParaRPr>
          </a:p>
        </p:txBody>
      </p:sp>
      <p:pic>
        <p:nvPicPr>
          <p:cNvPr id="3" name="Picture 2" descr="MC900030019.WM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3657600"/>
            <a:ext cx="1539305" cy="11049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auto">
          <a:xfrm>
            <a:off x="228600" y="2971800"/>
            <a:ext cx="1219200" cy="533400"/>
          </a:xfrm>
          <a:prstGeom prst="rect">
            <a:avLst/>
          </a:prstGeom>
          <a:solidFill>
            <a:srgbClr val="FF0000"/>
          </a:solidFill>
          <a:ln>
            <a:headEnd type="none" w="med" len="med"/>
            <a:tailEnd type="none" w="med" len="med"/>
          </a:ln>
          <a:effectLst>
            <a:glow rad="101600">
              <a:srgbClr val="FF0000">
                <a:alpha val="40000"/>
              </a:srgbClr>
            </a:glow>
          </a:effectLst>
          <a:scene3d>
            <a:camera prst="orthographicFront"/>
            <a:lightRig rig="threePt" dir="t"/>
          </a:scene3d>
          <a:sp3d>
            <a:bevelT w="114300" prst="hardEdge"/>
          </a:sp3d>
          <a:ex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FFE53E"/>
                </a:solidFill>
                <a:effectLst/>
                <a:latin typeface="Futura Condensed Medium"/>
                <a:ea typeface="ＭＳ Ｐゴシック" charset="0"/>
                <a:cs typeface="Geneva" charset="0"/>
              </a:rPr>
              <a:t>Employment Success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rgbClr val="FFE53E"/>
              </a:solidFill>
              <a:effectLst/>
              <a:latin typeface="Futura Condensed Medium"/>
              <a:ea typeface="ＭＳ Ｐゴシック" charset="0"/>
              <a:cs typeface="Geneva" charset="0"/>
            </a:endParaRPr>
          </a:p>
        </p:txBody>
      </p:sp>
      <p:cxnSp>
        <p:nvCxnSpPr>
          <p:cNvPr id="11" name="Straight Connector 10"/>
          <p:cNvCxnSpPr>
            <a:stCxn id="9" idx="2"/>
          </p:cNvCxnSpPr>
          <p:nvPr/>
        </p:nvCxnSpPr>
        <p:spPr bwMode="auto">
          <a:xfrm>
            <a:off x="838200" y="3505200"/>
            <a:ext cx="0" cy="2286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pic>
        <p:nvPicPr>
          <p:cNvPr id="67" name="Picture 66" descr="images.jpe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93" t="48333" b="11666"/>
          <a:stretch/>
        </p:blipFill>
        <p:spPr>
          <a:xfrm>
            <a:off x="7696200" y="3581400"/>
            <a:ext cx="1447800" cy="30480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7848600" y="3090446"/>
            <a:ext cx="990600" cy="338554"/>
          </a:xfrm>
          <a:prstGeom prst="rect">
            <a:avLst/>
          </a:prstGeom>
          <a:solidFill>
            <a:srgbClr val="00800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chemeClr val="bg1"/>
                </a:solidFill>
                <a:latin typeface="Arial Narrow"/>
                <a:cs typeface="Arial Narrow"/>
              </a:rPr>
              <a:t>Find a Job</a:t>
            </a:r>
            <a:endParaRPr lang="en-US" sz="1600" dirty="0">
              <a:solidFill>
                <a:schemeClr val="bg1"/>
              </a:solidFill>
              <a:latin typeface="Arial Narrow"/>
              <a:cs typeface="Arial Narrow"/>
            </a:endParaRPr>
          </a:p>
        </p:txBody>
      </p:sp>
      <p:cxnSp>
        <p:nvCxnSpPr>
          <p:cNvPr id="77" name="Straight Connector 76"/>
          <p:cNvCxnSpPr/>
          <p:nvPr/>
        </p:nvCxnSpPr>
        <p:spPr bwMode="auto">
          <a:xfrm flipH="1">
            <a:off x="8077200" y="3429000"/>
            <a:ext cx="76200" cy="1524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pic>
        <p:nvPicPr>
          <p:cNvPr id="8" name="Picture 7" descr="MC900358031.WM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3581400"/>
            <a:ext cx="685800" cy="685800"/>
          </a:xfrm>
          <a:prstGeom prst="rect">
            <a:avLst/>
          </a:prstGeom>
        </p:spPr>
      </p:pic>
      <p:sp>
        <p:nvSpPr>
          <p:cNvPr id="133" name="Freeform 132"/>
          <p:cNvSpPr/>
          <p:nvPr/>
        </p:nvSpPr>
        <p:spPr>
          <a:xfrm>
            <a:off x="7721600" y="2159000"/>
            <a:ext cx="112087" cy="1676400"/>
          </a:xfrm>
          <a:custGeom>
            <a:avLst/>
            <a:gdLst>
              <a:gd name="connsiteX0" fmla="*/ 0 w 112087"/>
              <a:gd name="connsiteY0" fmla="*/ 1676400 h 1676400"/>
              <a:gd name="connsiteX1" fmla="*/ 38100 w 112087"/>
              <a:gd name="connsiteY1" fmla="*/ 0 h 167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2087" h="1676400">
                <a:moveTo>
                  <a:pt x="0" y="1676400"/>
                </a:moveTo>
                <a:cubicBezTo>
                  <a:pt x="89958" y="1219200"/>
                  <a:pt x="179917" y="762000"/>
                  <a:pt x="38100" y="0"/>
                </a:cubicBezTo>
              </a:path>
            </a:pathLst>
          </a:custGeom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Geneva" charset="0"/>
            </a:endParaRPr>
          </a:p>
        </p:txBody>
      </p:sp>
      <p:sp>
        <p:nvSpPr>
          <p:cNvPr id="134" name="Freeform 133"/>
          <p:cNvSpPr/>
          <p:nvPr/>
        </p:nvSpPr>
        <p:spPr>
          <a:xfrm>
            <a:off x="7150100" y="1981200"/>
            <a:ext cx="1282700" cy="1892300"/>
          </a:xfrm>
          <a:custGeom>
            <a:avLst/>
            <a:gdLst>
              <a:gd name="connsiteX0" fmla="*/ 558800 w 1282700"/>
              <a:gd name="connsiteY0" fmla="*/ 1892300 h 1892300"/>
              <a:gd name="connsiteX1" fmla="*/ 558800 w 1282700"/>
              <a:gd name="connsiteY1" fmla="*/ 1892300 h 1892300"/>
              <a:gd name="connsiteX2" fmla="*/ 469900 w 1282700"/>
              <a:gd name="connsiteY2" fmla="*/ 1828800 h 1892300"/>
              <a:gd name="connsiteX3" fmla="*/ 419100 w 1282700"/>
              <a:gd name="connsiteY3" fmla="*/ 1816100 h 1892300"/>
              <a:gd name="connsiteX4" fmla="*/ 381000 w 1282700"/>
              <a:gd name="connsiteY4" fmla="*/ 1778000 h 1892300"/>
              <a:gd name="connsiteX5" fmla="*/ 342900 w 1282700"/>
              <a:gd name="connsiteY5" fmla="*/ 1752600 h 1892300"/>
              <a:gd name="connsiteX6" fmla="*/ 317500 w 1282700"/>
              <a:gd name="connsiteY6" fmla="*/ 1714500 h 1892300"/>
              <a:gd name="connsiteX7" fmla="*/ 266700 w 1282700"/>
              <a:gd name="connsiteY7" fmla="*/ 1625600 h 1892300"/>
              <a:gd name="connsiteX8" fmla="*/ 228600 w 1282700"/>
              <a:gd name="connsiteY8" fmla="*/ 1574800 h 1892300"/>
              <a:gd name="connsiteX9" fmla="*/ 190500 w 1282700"/>
              <a:gd name="connsiteY9" fmla="*/ 1536700 h 1892300"/>
              <a:gd name="connsiteX10" fmla="*/ 165100 w 1282700"/>
              <a:gd name="connsiteY10" fmla="*/ 1485900 h 1892300"/>
              <a:gd name="connsiteX11" fmla="*/ 50800 w 1282700"/>
              <a:gd name="connsiteY11" fmla="*/ 1397000 h 1892300"/>
              <a:gd name="connsiteX12" fmla="*/ 0 w 1282700"/>
              <a:gd name="connsiteY12" fmla="*/ 1346200 h 1892300"/>
              <a:gd name="connsiteX13" fmla="*/ 114300 w 1282700"/>
              <a:gd name="connsiteY13" fmla="*/ 1460500 h 1892300"/>
              <a:gd name="connsiteX14" fmla="*/ 203200 w 1282700"/>
              <a:gd name="connsiteY14" fmla="*/ 1320800 h 1892300"/>
              <a:gd name="connsiteX15" fmla="*/ 241300 w 1282700"/>
              <a:gd name="connsiteY15" fmla="*/ 1231900 h 1892300"/>
              <a:gd name="connsiteX16" fmla="*/ 279400 w 1282700"/>
              <a:gd name="connsiteY16" fmla="*/ 1168400 h 1892300"/>
              <a:gd name="connsiteX17" fmla="*/ 304800 w 1282700"/>
              <a:gd name="connsiteY17" fmla="*/ 1079500 h 1892300"/>
              <a:gd name="connsiteX18" fmla="*/ 342900 w 1282700"/>
              <a:gd name="connsiteY18" fmla="*/ 990600 h 1892300"/>
              <a:gd name="connsiteX19" fmla="*/ 368300 w 1282700"/>
              <a:gd name="connsiteY19" fmla="*/ 812800 h 1892300"/>
              <a:gd name="connsiteX20" fmla="*/ 393700 w 1282700"/>
              <a:gd name="connsiteY20" fmla="*/ 711200 h 1892300"/>
              <a:gd name="connsiteX21" fmla="*/ 419100 w 1282700"/>
              <a:gd name="connsiteY21" fmla="*/ 647700 h 1892300"/>
              <a:gd name="connsiteX22" fmla="*/ 444500 w 1282700"/>
              <a:gd name="connsiteY22" fmla="*/ 558800 h 1892300"/>
              <a:gd name="connsiteX23" fmla="*/ 457200 w 1282700"/>
              <a:gd name="connsiteY23" fmla="*/ 520700 h 1892300"/>
              <a:gd name="connsiteX24" fmla="*/ 635000 w 1282700"/>
              <a:gd name="connsiteY24" fmla="*/ 317500 h 1892300"/>
              <a:gd name="connsiteX25" fmla="*/ 736600 w 1282700"/>
              <a:gd name="connsiteY25" fmla="*/ 241300 h 1892300"/>
              <a:gd name="connsiteX26" fmla="*/ 838200 w 1282700"/>
              <a:gd name="connsiteY26" fmla="*/ 177800 h 1892300"/>
              <a:gd name="connsiteX27" fmla="*/ 1066800 w 1282700"/>
              <a:gd name="connsiteY27" fmla="*/ 76200 h 1892300"/>
              <a:gd name="connsiteX28" fmla="*/ 1155700 w 1282700"/>
              <a:gd name="connsiteY28" fmla="*/ 38100 h 1892300"/>
              <a:gd name="connsiteX29" fmla="*/ 1282700 w 1282700"/>
              <a:gd name="connsiteY29" fmla="*/ 0 h 1892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282700" h="1892300">
                <a:moveTo>
                  <a:pt x="558800" y="1892300"/>
                </a:moveTo>
                <a:lnTo>
                  <a:pt x="558800" y="1892300"/>
                </a:lnTo>
                <a:cubicBezTo>
                  <a:pt x="529167" y="1871133"/>
                  <a:pt x="501870" y="1846238"/>
                  <a:pt x="469900" y="1828800"/>
                </a:cubicBezTo>
                <a:cubicBezTo>
                  <a:pt x="454577" y="1820442"/>
                  <a:pt x="434255" y="1824760"/>
                  <a:pt x="419100" y="1816100"/>
                </a:cubicBezTo>
                <a:cubicBezTo>
                  <a:pt x="403506" y="1807189"/>
                  <a:pt x="394798" y="1789498"/>
                  <a:pt x="381000" y="1778000"/>
                </a:cubicBezTo>
                <a:cubicBezTo>
                  <a:pt x="369274" y="1768229"/>
                  <a:pt x="355600" y="1761067"/>
                  <a:pt x="342900" y="1752600"/>
                </a:cubicBezTo>
                <a:cubicBezTo>
                  <a:pt x="334433" y="1739900"/>
                  <a:pt x="325073" y="1727752"/>
                  <a:pt x="317500" y="1714500"/>
                </a:cubicBezTo>
                <a:cubicBezTo>
                  <a:pt x="274978" y="1640087"/>
                  <a:pt x="310902" y="1687483"/>
                  <a:pt x="266700" y="1625600"/>
                </a:cubicBezTo>
                <a:cubicBezTo>
                  <a:pt x="254397" y="1608376"/>
                  <a:pt x="242375" y="1590871"/>
                  <a:pt x="228600" y="1574800"/>
                </a:cubicBezTo>
                <a:cubicBezTo>
                  <a:pt x="216911" y="1561163"/>
                  <a:pt x="200939" y="1551315"/>
                  <a:pt x="190500" y="1536700"/>
                </a:cubicBezTo>
                <a:cubicBezTo>
                  <a:pt x="179496" y="1521294"/>
                  <a:pt x="178487" y="1499287"/>
                  <a:pt x="165100" y="1485900"/>
                </a:cubicBezTo>
                <a:cubicBezTo>
                  <a:pt x="130970" y="1451770"/>
                  <a:pt x="84930" y="1431130"/>
                  <a:pt x="50800" y="1397000"/>
                </a:cubicBezTo>
                <a:lnTo>
                  <a:pt x="0" y="1346200"/>
                </a:lnTo>
                <a:lnTo>
                  <a:pt x="114300" y="1460500"/>
                </a:lnTo>
                <a:cubicBezTo>
                  <a:pt x="143933" y="1413933"/>
                  <a:pt x="176394" y="1369050"/>
                  <a:pt x="203200" y="1320800"/>
                </a:cubicBezTo>
                <a:cubicBezTo>
                  <a:pt x="218857" y="1292617"/>
                  <a:pt x="226882" y="1260736"/>
                  <a:pt x="241300" y="1231900"/>
                </a:cubicBezTo>
                <a:cubicBezTo>
                  <a:pt x="252339" y="1209822"/>
                  <a:pt x="266700" y="1189567"/>
                  <a:pt x="279400" y="1168400"/>
                </a:cubicBezTo>
                <a:cubicBezTo>
                  <a:pt x="287867" y="1138767"/>
                  <a:pt x="294434" y="1108524"/>
                  <a:pt x="304800" y="1079500"/>
                </a:cubicBezTo>
                <a:cubicBezTo>
                  <a:pt x="315644" y="1049138"/>
                  <a:pt x="333419" y="1021414"/>
                  <a:pt x="342900" y="990600"/>
                </a:cubicBezTo>
                <a:cubicBezTo>
                  <a:pt x="351252" y="963457"/>
                  <a:pt x="365606" y="830308"/>
                  <a:pt x="368300" y="812800"/>
                </a:cubicBezTo>
                <a:cubicBezTo>
                  <a:pt x="374891" y="769960"/>
                  <a:pt x="379591" y="748824"/>
                  <a:pt x="393700" y="711200"/>
                </a:cubicBezTo>
                <a:cubicBezTo>
                  <a:pt x="401705" y="689854"/>
                  <a:pt x="411891" y="669327"/>
                  <a:pt x="419100" y="647700"/>
                </a:cubicBezTo>
                <a:cubicBezTo>
                  <a:pt x="428846" y="618462"/>
                  <a:pt x="435644" y="588319"/>
                  <a:pt x="444500" y="558800"/>
                </a:cubicBezTo>
                <a:cubicBezTo>
                  <a:pt x="448347" y="545978"/>
                  <a:pt x="449419" y="531593"/>
                  <a:pt x="457200" y="520700"/>
                </a:cubicBezTo>
                <a:cubicBezTo>
                  <a:pt x="488475" y="476915"/>
                  <a:pt x="579693" y="364298"/>
                  <a:pt x="635000" y="317500"/>
                </a:cubicBezTo>
                <a:cubicBezTo>
                  <a:pt x="667317" y="290155"/>
                  <a:pt x="701716" y="265283"/>
                  <a:pt x="736600" y="241300"/>
                </a:cubicBezTo>
                <a:cubicBezTo>
                  <a:pt x="769510" y="218674"/>
                  <a:pt x="802479" y="195660"/>
                  <a:pt x="838200" y="177800"/>
                </a:cubicBezTo>
                <a:cubicBezTo>
                  <a:pt x="912784" y="140508"/>
                  <a:pt x="990475" y="109783"/>
                  <a:pt x="1066800" y="76200"/>
                </a:cubicBezTo>
                <a:cubicBezTo>
                  <a:pt x="1096310" y="63216"/>
                  <a:pt x="1124423" y="45919"/>
                  <a:pt x="1155700" y="38100"/>
                </a:cubicBezTo>
                <a:cubicBezTo>
                  <a:pt x="1266483" y="10404"/>
                  <a:pt x="1226076" y="28312"/>
                  <a:pt x="1282700" y="0"/>
                </a:cubicBezTo>
              </a:path>
            </a:pathLst>
          </a:custGeom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Geneva" charset="0"/>
            </a:endParaRPr>
          </a:p>
        </p:txBody>
      </p:sp>
      <p:sp>
        <p:nvSpPr>
          <p:cNvPr id="135" name="Freeform 134"/>
          <p:cNvSpPr/>
          <p:nvPr/>
        </p:nvSpPr>
        <p:spPr>
          <a:xfrm>
            <a:off x="6172200" y="2895600"/>
            <a:ext cx="1397000" cy="1548894"/>
          </a:xfrm>
          <a:custGeom>
            <a:avLst/>
            <a:gdLst>
              <a:gd name="connsiteX0" fmla="*/ 1397000 w 1397000"/>
              <a:gd name="connsiteY0" fmla="*/ 982359 h 1548894"/>
              <a:gd name="connsiteX1" fmla="*/ 965200 w 1397000"/>
              <a:gd name="connsiteY1" fmla="*/ 906159 h 1548894"/>
              <a:gd name="connsiteX2" fmla="*/ 1092200 w 1397000"/>
              <a:gd name="connsiteY2" fmla="*/ 1401459 h 1548894"/>
              <a:gd name="connsiteX3" fmla="*/ 1016000 w 1397000"/>
              <a:gd name="connsiteY3" fmla="*/ 1452259 h 1548894"/>
              <a:gd name="connsiteX4" fmla="*/ 431800 w 1397000"/>
              <a:gd name="connsiteY4" fmla="*/ 194959 h 1548894"/>
              <a:gd name="connsiteX5" fmla="*/ 0 w 1397000"/>
              <a:gd name="connsiteY5" fmla="*/ 4459 h 1548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7000" h="1548894">
                <a:moveTo>
                  <a:pt x="1397000" y="982359"/>
                </a:moveTo>
                <a:cubicBezTo>
                  <a:pt x="1206500" y="909334"/>
                  <a:pt x="1016000" y="836309"/>
                  <a:pt x="965200" y="906159"/>
                </a:cubicBezTo>
                <a:cubicBezTo>
                  <a:pt x="914400" y="976009"/>
                  <a:pt x="1083733" y="1310442"/>
                  <a:pt x="1092200" y="1401459"/>
                </a:cubicBezTo>
                <a:cubicBezTo>
                  <a:pt x="1100667" y="1492476"/>
                  <a:pt x="1126067" y="1653342"/>
                  <a:pt x="1016000" y="1452259"/>
                </a:cubicBezTo>
                <a:cubicBezTo>
                  <a:pt x="905933" y="1251176"/>
                  <a:pt x="601133" y="436259"/>
                  <a:pt x="431800" y="194959"/>
                </a:cubicBezTo>
                <a:cubicBezTo>
                  <a:pt x="262467" y="-46341"/>
                  <a:pt x="0" y="4459"/>
                  <a:pt x="0" y="4459"/>
                </a:cubicBezTo>
              </a:path>
            </a:pathLst>
          </a:custGeom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Geneva" charset="0"/>
            </a:endParaRPr>
          </a:p>
        </p:txBody>
      </p:sp>
      <p:pic>
        <p:nvPicPr>
          <p:cNvPr id="7" name="Picture 6" descr="MC900413498.WM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3505200"/>
            <a:ext cx="694823" cy="622299"/>
          </a:xfrm>
          <a:prstGeom prst="rect">
            <a:avLst/>
          </a:prstGeom>
        </p:spPr>
      </p:pic>
      <p:cxnSp>
        <p:nvCxnSpPr>
          <p:cNvPr id="162" name="Curved Connector 161"/>
          <p:cNvCxnSpPr>
            <a:stCxn id="26" idx="1"/>
            <a:endCxn id="27" idx="0"/>
          </p:cNvCxnSpPr>
          <p:nvPr/>
        </p:nvCxnSpPr>
        <p:spPr bwMode="auto">
          <a:xfrm rot="5400000">
            <a:off x="4381500" y="1943100"/>
            <a:ext cx="1600200" cy="457200"/>
          </a:xfrm>
          <a:prstGeom prst="curvedConnector3">
            <a:avLst/>
          </a:prstGeom>
          <a:solidFill>
            <a:schemeClr val="accent1"/>
          </a:solidFill>
          <a:ln w="76200" cap="flat" cmpd="tri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863043772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1.48148E-6 C -0.00035 -0.00787 0.00122 -0.0375 -0.00191 -0.04722 C -0.00503 -0.05694 -0.01302 -0.0537 -0.01858 -0.05833 C -0.02413 -0.06296 -0.0309 -0.06597 -0.03524 -0.075 C -0.03958 -0.08403 -0.04392 -0.10139 -0.04496 -0.11204 C -0.04601 -0.12268 -0.04167 -0.12986 -0.04114 -0.13935 C -0.04062 -0.14884 -0.04427 -0.16042 -0.04149 -0.16898 C -0.03889 -0.17754 -0.03542 -0.1831 -0.025 -0.1912 C -0.01476 -0.1993 0.01181 -0.19329 0.02031 -0.2169 C 0.02882 -0.24074 0.02483 -0.30903 0.02604 -0.3331 " pathEditMode="relative" rAng="0" ptsTypes="aaaaaaaaaa">
                                      <p:cBhvr>
                                        <p:cTn id="6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68" y="-1666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34 -0.00255 C -0.00122 0.0081 -0.01511 0.04583 -0.02691 0.06157 C -0.03872 0.07731 -0.05486 0.0868 -0.06667 0.09259 C -0.07848 0.09838 -0.08611 0.08842 -0.09775 0.09699 C -0.10938 0.10579 -0.11823 0.13426 -0.13681 0.14467 C -0.15521 0.15486 -0.19375 0.15509 -0.20816 0.15833 " pathEditMode="relative" rAng="0" ptsTypes="aaaaaa">
                                      <p:cBhvr>
                                        <p:cTn id="8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625" y="80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0"/>
                            </p:stCondLst>
                            <p:childTnLst>
                              <p:par>
                                <p:cTn id="10" presetID="0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014 -0.33426 C 0.0132 -0.33264 -0.01163 -0.32893 -0.02135 -0.325 C -0.03108 -0.32106 -0.03299 -0.31412 -0.03802 -0.31018 C -0.04305 -0.30625 -0.04549 -0.30903 -0.05191 -0.30092 C -0.05833 -0.29282 -0.06042 -0.27222 -0.07691 -0.26203 C -0.0934 -0.25185 -0.13524 -0.24444 -0.15069 -0.23981 " pathEditMode="relative" rAng="0" ptsTypes="aaaaaa">
                                      <p:cBhvr>
                                        <p:cTn id="1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542" y="4722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0816 0.15834 L -0.3875 0.16111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976" y="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000"/>
                            </p:stCondLst>
                            <p:childTnLst>
                              <p:par>
                                <p:cTn id="15" presetID="0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3875 0.16111 L -0.59584 0.16111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17" y="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507 -0.23981 L -0.24566 -0.4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57" y="-80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1000"/>
                            </p:stCondLst>
                            <p:childTnLst>
                              <p:par>
                                <p:cTn id="20" presetID="0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59584 0.16111 C -0.60938 0.16528 -0.66129 0.18819 -0.67622 0.18634 C -0.69132 0.18449 -0.68073 0.15972 -0.68611 0.15023 C -0.6915 0.14074 -0.69966 0.13403 -0.70834 0.12847 C -0.71702 0.12291 -0.72795 0.11967 -0.73802 0.11736 C -0.74792 0.11551 -0.74532 0.12014 -0.76771 0.11597 C -0.78993 0.1118 -0.84931 0.09815 -0.87084 0.09352 " pathEditMode="relative" rAng="0" ptsTypes="aaaaaaa">
                                      <p:cBhvr>
                                        <p:cTn id="21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750" y="-2037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4566 -0.4 C -0.24774 -0.37731 -0.25243 -0.29907 -0.25781 -0.26435 C -0.26337 -0.22963 -0.27292 -0.2169 -0.27934 -0.19166 C -0.28576 -0.16643 -0.29305 -0.12893 -0.29635 -0.11227 " pathEditMode="relative" rAng="0" ptsTypes="aaaa">
                                      <p:cBhvr>
                                        <p:cTn id="2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35" y="1437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0"/>
                            </p:stCondLst>
                            <p:childTnLst>
                              <p:par>
                                <p:cTn id="25" presetID="0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29635 -0.1125 L -0.42135 -0.28981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50" y="-88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8000"/>
                            </p:stCondLst>
                            <p:childTnLst>
                              <p:par>
                                <p:cTn id="28" presetID="0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41771 -0.29074 L -0.51302 -0.11203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74" y="893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1000"/>
                            </p:stCondLst>
                            <p:childTnLst>
                              <p:par>
                                <p:cTn id="31" presetID="0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51302 -0.11204 L -0.66302 -0.2787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500" y="-8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4000"/>
                            </p:stCondLst>
                            <p:childTnLst>
                              <p:par>
                                <p:cTn id="34" presetID="0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66302 -0.2787 C -0.66319 -0.26018 -0.67778 -0.19977 -0.66441 -0.16759 C -0.65104 -0.13542 -0.58316 -0.12153 -0.58246 -0.08611 C -0.58177 -0.05069 -0.6441 0.01736 -0.66024 0.04468 " pathEditMode="relative" rAng="0" ptsTypes="aaaa">
                                      <p:cBhvr>
                                        <p:cTn id="35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16" y="161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457200"/>
            <a:ext cx="5562600" cy="685800"/>
          </a:xfr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Using Resources Well</a:t>
            </a:r>
            <a:endParaRPr lang="en-US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04800" y="1371600"/>
            <a:ext cx="4343400" cy="2677656"/>
          </a:xfrm>
          <a:prstGeom prst="rect">
            <a:avLst/>
          </a:prstGeom>
          <a:ln w="76200" cmpd="tri">
            <a:solidFill>
              <a:schemeClr val="bg1"/>
            </a:solidFill>
          </a:ln>
          <a:effectLst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latin typeface="Optima"/>
              </a:rPr>
              <a:t>Figure out which level and types of intervention will be most </a:t>
            </a:r>
            <a:r>
              <a:rPr lang="en-US" sz="2800" b="1" dirty="0" smtClean="0">
                <a:latin typeface="Optima"/>
              </a:rPr>
              <a:t>efficient </a:t>
            </a:r>
            <a:r>
              <a:rPr lang="en-US" sz="2800" dirty="0" smtClean="0">
                <a:latin typeface="Optima"/>
              </a:rPr>
              <a:t>and </a:t>
            </a:r>
            <a:r>
              <a:rPr lang="en-US" sz="2800" b="1" dirty="0" smtClean="0">
                <a:latin typeface="Optima"/>
              </a:rPr>
              <a:t>effective</a:t>
            </a:r>
            <a:r>
              <a:rPr lang="en-US" sz="2800" dirty="0" smtClean="0">
                <a:latin typeface="Optima"/>
              </a:rPr>
              <a:t> in achieving successful employment outcome.</a:t>
            </a:r>
            <a:endParaRPr lang="en-US" sz="2800" dirty="0">
              <a:latin typeface="Optim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953000" y="3581400"/>
            <a:ext cx="3962400" cy="2308324"/>
          </a:xfrm>
          <a:prstGeom prst="rect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Factors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Work experience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Job skills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Clarity about employment </a:t>
            </a:r>
            <a:r>
              <a:rPr lang="en-US" dirty="0" smtClean="0"/>
              <a:t>goals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Level of disability</a:t>
            </a:r>
          </a:p>
        </p:txBody>
      </p:sp>
      <p:pic>
        <p:nvPicPr>
          <p:cNvPr id="3" name="Picture 2" descr="MC900326744.WM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00" y="1295400"/>
            <a:ext cx="1305983" cy="1725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261340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506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2667000"/>
            <a:ext cx="7239000" cy="3124200"/>
          </a:xfrm>
          <a:effectLst>
            <a:glow rad="101600">
              <a:schemeClr val="accent2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algn="ctr" eaLnBrk="1" hangingPunct="1">
              <a:buFont typeface="Wingdings" charset="0"/>
              <a:buNone/>
              <a:defRPr/>
            </a:pPr>
            <a:r>
              <a:rPr lang="en-US" sz="2800" b="1" i="1" dirty="0" smtClean="0">
                <a:latin typeface="Arial" charset="0"/>
                <a:ea typeface="ＭＳ Ｐゴシック" charset="0"/>
                <a:cs typeface="ＭＳ Ｐゴシック" charset="0"/>
              </a:rPr>
              <a:t>Remember:</a:t>
            </a:r>
            <a:br>
              <a:rPr lang="en-US" sz="2800" b="1" i="1" dirty="0" smtClean="0">
                <a:latin typeface="Arial" charset="0"/>
                <a:ea typeface="ＭＳ Ｐゴシック" charset="0"/>
                <a:cs typeface="ＭＳ Ｐゴシック" charset="0"/>
              </a:rPr>
            </a:br>
            <a:r>
              <a:rPr lang="en-US" sz="2800" i="1" dirty="0" smtClean="0">
                <a:latin typeface="Arial" charset="0"/>
                <a:ea typeface="ＭＳ Ｐゴシック" charset="0"/>
                <a:cs typeface="ＭＳ Ｐゴシック" charset="0"/>
              </a:rPr>
              <a:t>Deviating from typical employment processes </a:t>
            </a:r>
            <a:r>
              <a:rPr lang="en-US" sz="2800" i="1" dirty="0">
                <a:latin typeface="Arial" charset="0"/>
                <a:ea typeface="ＭＳ Ｐゴシック" charset="0"/>
                <a:cs typeface="ＭＳ Ｐゴシック" charset="0"/>
              </a:rPr>
              <a:t>has consequences</a:t>
            </a:r>
            <a:r>
              <a:rPr lang="en-US" sz="2800" i="1" dirty="0" smtClean="0">
                <a:latin typeface="Arial" charset="0"/>
                <a:ea typeface="ＭＳ Ｐゴシック" charset="0"/>
                <a:cs typeface="ＭＳ Ｐゴシック" charset="0"/>
              </a:rPr>
              <a:t>,</a:t>
            </a:r>
            <a:br>
              <a:rPr lang="en-US" sz="2800" i="1" dirty="0" smtClean="0">
                <a:latin typeface="Arial" charset="0"/>
                <a:ea typeface="ＭＳ Ｐゴシック" charset="0"/>
                <a:cs typeface="ＭＳ Ｐゴシック" charset="0"/>
              </a:rPr>
            </a:br>
            <a:r>
              <a:rPr lang="en-US" sz="2800" i="1" dirty="0" smtClean="0">
                <a:latin typeface="Arial" charset="0"/>
                <a:ea typeface="ＭＳ Ｐゴシック" charset="0"/>
                <a:cs typeface="ＭＳ Ｐゴシック" charset="0"/>
              </a:rPr>
              <a:t/>
            </a:r>
            <a:br>
              <a:rPr lang="en-US" sz="2800" i="1" dirty="0" smtClean="0">
                <a:latin typeface="Arial" charset="0"/>
                <a:ea typeface="ＭＳ Ｐゴシック" charset="0"/>
                <a:cs typeface="ＭＳ Ｐゴシック" charset="0"/>
              </a:rPr>
            </a:br>
            <a:r>
              <a:rPr lang="en-US" sz="2800" i="1" dirty="0" smtClean="0">
                <a:latin typeface="Arial" charset="0"/>
                <a:ea typeface="ＭＳ Ｐゴシック" charset="0"/>
                <a:cs typeface="ＭＳ Ｐゴシック" charset="0"/>
              </a:rPr>
              <a:t>so </a:t>
            </a:r>
            <a:r>
              <a:rPr lang="en-US" sz="2800" i="1" dirty="0">
                <a:latin typeface="Arial" charset="0"/>
                <a:ea typeface="ＭＳ Ｐゴシック" charset="0"/>
                <a:cs typeface="ＭＳ Ｐゴシック" charset="0"/>
              </a:rPr>
              <a:t>we should be </a:t>
            </a:r>
            <a:r>
              <a:rPr lang="en-US" sz="2800" i="1" dirty="0" smtClean="0">
                <a:latin typeface="Arial" charset="0"/>
                <a:ea typeface="ＭＳ Ｐゴシック" charset="0"/>
                <a:cs typeface="ＭＳ Ｐゴシック" charset="0"/>
              </a:rPr>
              <a:t>careful and cautious</a:t>
            </a:r>
            <a:br>
              <a:rPr lang="en-US" sz="2800" i="1" dirty="0" smtClean="0">
                <a:latin typeface="Arial" charset="0"/>
                <a:ea typeface="ＭＳ Ｐゴシック" charset="0"/>
                <a:cs typeface="ＭＳ Ｐゴシック" charset="0"/>
              </a:rPr>
            </a:br>
            <a:r>
              <a:rPr lang="en-US" sz="2800" i="1" dirty="0" smtClean="0">
                <a:latin typeface="Arial" charset="0"/>
                <a:ea typeface="ＭＳ Ｐゴシック" charset="0"/>
                <a:cs typeface="ＭＳ Ｐゴシック" charset="0"/>
              </a:rPr>
              <a:t>in </a:t>
            </a:r>
            <a:r>
              <a:rPr lang="en-US" sz="2800" i="1" dirty="0">
                <a:latin typeface="Arial" charset="0"/>
                <a:ea typeface="ＭＳ Ｐゴシック" charset="0"/>
                <a:cs typeface="ＭＳ Ｐゴシック" charset="0"/>
              </a:rPr>
              <a:t>doing so.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400" y="457200"/>
            <a:ext cx="8839200" cy="181588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 algn="ctr">
              <a:spcBef>
                <a:spcPts val="1872"/>
              </a:spcBef>
              <a:buNone/>
            </a:pPr>
            <a:r>
              <a:rPr lang="en-US" sz="2800" dirty="0"/>
              <a:t>Increased levels of intervention </a:t>
            </a:r>
            <a:r>
              <a:rPr lang="en-US" sz="2800" dirty="0" smtClean="0"/>
              <a:t>take</a:t>
            </a:r>
            <a:br>
              <a:rPr lang="en-US" sz="2800" dirty="0" smtClean="0"/>
            </a:br>
            <a:r>
              <a:rPr lang="en-US" sz="2800" b="1" i="1" dirty="0" smtClean="0"/>
              <a:t>more </a:t>
            </a:r>
            <a:r>
              <a:rPr lang="en-US" sz="2800" b="1" i="1" dirty="0"/>
              <a:t>time</a:t>
            </a:r>
            <a:r>
              <a:rPr lang="en-US" sz="2800" dirty="0"/>
              <a:t>, </a:t>
            </a:r>
            <a:r>
              <a:rPr lang="en-US" sz="2800" b="1" i="1" dirty="0"/>
              <a:t>more resources</a:t>
            </a:r>
            <a:r>
              <a:rPr lang="en-US" sz="2800" dirty="0" smtClean="0"/>
              <a:t>,</a:t>
            </a:r>
            <a:br>
              <a:rPr lang="en-US" sz="2800" dirty="0" smtClean="0"/>
            </a:br>
            <a:r>
              <a:rPr lang="en-US" sz="2800" dirty="0" smtClean="0"/>
              <a:t>and </a:t>
            </a:r>
            <a:r>
              <a:rPr lang="en-US" sz="2800" u="sng" dirty="0"/>
              <a:t>can</a:t>
            </a:r>
            <a:r>
              <a:rPr lang="en-US" sz="2800" dirty="0"/>
              <a:t> negatively impact integration and inclusion of individual on the job – </a:t>
            </a:r>
            <a:r>
              <a:rPr lang="en-US" sz="2800" b="1" i="1" dirty="0"/>
              <a:t>but may </a:t>
            </a:r>
            <a:r>
              <a:rPr lang="en-US" sz="2800" b="1" i="1" dirty="0" smtClean="0"/>
              <a:t>be </a:t>
            </a:r>
            <a:r>
              <a:rPr lang="en-US" sz="2800" b="1" i="1" dirty="0"/>
              <a:t>necessary</a:t>
            </a:r>
            <a:r>
              <a:rPr lang="en-US" sz="2800" dirty="0"/>
              <a:t>.</a:t>
            </a:r>
          </a:p>
        </p:txBody>
      </p:sp>
    </p:spTree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685800" y="609600"/>
            <a:ext cx="7467600" cy="4502515"/>
          </a:xfrm>
          <a:prstGeom prst="rect">
            <a:avLst/>
          </a:prstGeom>
          <a:ln/>
          <a:ex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lIns="90487" tIns="44450" rIns="90487" bIns="4445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4000" b="1" dirty="0">
                <a:effectLst>
                  <a:outerShdw blurRad="38100" dist="38100" dir="2700000" algn="tl">
                    <a:srgbClr val="DDDDDD"/>
                  </a:outerShdw>
                </a:effectLst>
                <a:latin typeface="Arial" charset="0"/>
              </a:rPr>
              <a:t>PROFESSIONAL SUPPORTS</a:t>
            </a:r>
            <a:r>
              <a:rPr lang="en-US" sz="4400" b="1" dirty="0">
                <a:effectLst>
                  <a:outerShdw blurRad="38100" dist="38100" dir="2700000" algn="tl">
                    <a:srgbClr val="DDDDDD"/>
                  </a:outerShdw>
                </a:effectLst>
                <a:latin typeface="Arial" charset="0"/>
              </a:rPr>
              <a:t>:</a:t>
            </a:r>
          </a:p>
          <a:p>
            <a:pPr algn="ctr">
              <a:lnSpc>
                <a:spcPct val="125000"/>
              </a:lnSpc>
            </a:pPr>
            <a:endParaRPr lang="en-US" b="1" dirty="0"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</a:endParaRPr>
          </a:p>
          <a:p>
            <a:pPr algn="ctr">
              <a:lnSpc>
                <a:spcPct val="125000"/>
              </a:lnSpc>
            </a:pPr>
            <a:r>
              <a:rPr lang="ja-JP" altLang="en-US" sz="4800" b="1" dirty="0">
                <a:solidFill>
                  <a:srgbClr val="000090"/>
                </a:solidFill>
                <a:latin typeface="Arial"/>
              </a:rPr>
              <a:t>“</a:t>
            </a:r>
            <a:r>
              <a:rPr lang="en-US" sz="4800" b="1" dirty="0">
                <a:solidFill>
                  <a:srgbClr val="000090"/>
                </a:solidFill>
                <a:latin typeface="Arial" charset="0"/>
              </a:rPr>
              <a:t>WE ARE THE </a:t>
            </a:r>
          </a:p>
          <a:p>
            <a:pPr algn="ctr">
              <a:lnSpc>
                <a:spcPct val="125000"/>
              </a:lnSpc>
            </a:pPr>
            <a:r>
              <a:rPr lang="en-US" sz="4800" b="1" i="1" dirty="0">
                <a:solidFill>
                  <a:srgbClr val="000090"/>
                </a:solidFill>
                <a:latin typeface="Arial" charset="0"/>
              </a:rPr>
              <a:t> LEAST BEST</a:t>
            </a:r>
          </a:p>
          <a:p>
            <a:pPr algn="ctr">
              <a:lnSpc>
                <a:spcPct val="125000"/>
              </a:lnSpc>
            </a:pPr>
            <a:r>
              <a:rPr lang="en-US" sz="4800" b="1" dirty="0">
                <a:solidFill>
                  <a:srgbClr val="000090"/>
                </a:solidFill>
                <a:latin typeface="Arial" charset="0"/>
              </a:rPr>
              <a:t> ANSWER.</a:t>
            </a:r>
            <a:r>
              <a:rPr lang="ja-JP" altLang="en-US" sz="4800" b="1" dirty="0">
                <a:solidFill>
                  <a:srgbClr val="000090"/>
                </a:solidFill>
                <a:latin typeface="Arial"/>
              </a:rPr>
              <a:t>”</a:t>
            </a:r>
            <a:endParaRPr lang="en-US" sz="4000" b="1" dirty="0">
              <a:solidFill>
                <a:srgbClr val="000090"/>
              </a:solidFill>
              <a:latin typeface="Arial" charset="0"/>
            </a:endParaRPr>
          </a:p>
          <a:p>
            <a:pPr algn="ctr">
              <a:lnSpc>
                <a:spcPct val="125000"/>
              </a:lnSpc>
            </a:pPr>
            <a:r>
              <a:rPr lang="en-US" sz="1800" b="1" i="1" dirty="0">
                <a:solidFill>
                  <a:srgbClr val="8901F3"/>
                </a:solidFill>
                <a:latin typeface="Arial" charset="0"/>
              </a:rPr>
              <a:t>	</a:t>
            </a:r>
            <a:endParaRPr lang="en-US" sz="3200" b="1" i="1" dirty="0">
              <a:latin typeface="Arial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724400" y="5715000"/>
            <a:ext cx="426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smtClean="0"/>
              <a:t>- </a:t>
            </a:r>
            <a:r>
              <a:rPr lang="en-US" b="1" i="1" dirty="0"/>
              <a:t>Jacqueline </a:t>
            </a:r>
            <a:r>
              <a:rPr lang="en-US" b="1" i="1" dirty="0" err="1"/>
              <a:t>Rotteveel</a:t>
            </a:r>
            <a:endParaRPr lang="en-US" b="1" i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962002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1143000"/>
          </a:xfrm>
          <a:scene3d>
            <a:camera prst="orthographicFront"/>
            <a:lightRig rig="threePt" dir="t"/>
          </a:scene3d>
          <a:sp3d>
            <a:bevelT w="139700" h="139700" prst="divot"/>
          </a:sp3d>
        </p:spPr>
        <p:txBody>
          <a:bodyPr/>
          <a:lstStyle/>
          <a:p>
            <a:pPr>
              <a:defRPr/>
            </a:pPr>
            <a:r>
              <a:rPr lang="en-US" sz="3600" dirty="0">
                <a:latin typeface="Georgia" charset="0"/>
              </a:rPr>
              <a:t>Why Employment First is Important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sz="quarter" idx="1"/>
          </p:nvPr>
        </p:nvSpPr>
        <p:spPr>
          <a:xfrm>
            <a:off x="762000" y="5257800"/>
            <a:ext cx="7239000" cy="1066800"/>
          </a:xfrm>
        </p:spPr>
        <p:txBody>
          <a:bodyPr/>
          <a:lstStyle/>
          <a:p>
            <a:pPr marL="0" indent="0" algn="ctr">
              <a:buFont typeface="Wingdings" charset="0"/>
              <a:buNone/>
              <a:defRPr/>
            </a:pPr>
            <a:r>
              <a:rPr lang="en-US" sz="2800" b="1" dirty="0">
                <a:latin typeface="Georgia" charset="0"/>
              </a:rPr>
              <a:t>Sets a clear direction from a</a:t>
            </a:r>
            <a:br>
              <a:rPr lang="en-US" sz="2800" b="1" dirty="0">
                <a:latin typeface="Georgia" charset="0"/>
              </a:rPr>
            </a:br>
            <a:r>
              <a:rPr lang="en-US" sz="2800" b="1" dirty="0">
                <a:latin typeface="Georgia" charset="0"/>
              </a:rPr>
              <a:t>policy and practice perspective</a:t>
            </a:r>
          </a:p>
          <a:p>
            <a:pPr marL="0" indent="0" algn="ctr">
              <a:buFont typeface="Wingdings" charset="0"/>
              <a:buNone/>
              <a:defRPr/>
            </a:pPr>
            <a:endParaRPr lang="en-US" dirty="0">
              <a:latin typeface="Georgia" charset="0"/>
            </a:endParaRPr>
          </a:p>
        </p:txBody>
      </p:sp>
      <p:pic>
        <p:nvPicPr>
          <p:cNvPr id="53253" name="Picture 5" descr="tallshi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625600"/>
            <a:ext cx="5562600" cy="355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133600" y="2895600"/>
            <a:ext cx="1905000" cy="830997"/>
          </a:xfrm>
          <a:prstGeom prst="rect">
            <a:avLst/>
          </a:prstGeom>
          <a:solidFill>
            <a:srgbClr val="FF0000"/>
          </a:solidFill>
          <a:scene3d>
            <a:camera prst="isometricOffAxis1Right"/>
            <a:lightRig rig="threePt" dir="t"/>
          </a:scene3d>
        </p:spPr>
        <p:txBody>
          <a:bodyPr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rgbClr val="FFFF00"/>
                </a:solidFill>
              </a:rPr>
              <a:t>Employment First</a:t>
            </a:r>
          </a:p>
        </p:txBody>
      </p:sp>
    </p:spTree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19200" y="4876800"/>
            <a:ext cx="7772400" cy="1143000"/>
          </a:xfrm>
          <a:noFill/>
          <a:ln>
            <a:noFill/>
          </a:ln>
        </p:spPr>
        <p:txBody>
          <a:bodyPr lIns="90488" tIns="44450" rIns="90488" bIns="44450"/>
          <a:lstStyle/>
          <a:p>
            <a:pPr algn="r" eaLnBrk="1" hangingPunct="1">
              <a:defRPr/>
            </a:pPr>
            <a:r>
              <a:rPr lang="en-US" sz="2800" b="0" i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charset="0"/>
              </a:rPr>
              <a:t>- George Santayana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495800" y="533400"/>
            <a:ext cx="4343400" cy="4191000"/>
          </a:xfrm>
          <a:solidFill>
            <a:srgbClr val="006699"/>
          </a:solidFill>
          <a:ln>
            <a:noFill/>
          </a:ln>
          <a:scene3d>
            <a:camera prst="orthographicFront"/>
            <a:lightRig rig="threePt" dir="t"/>
          </a:scene3d>
          <a:sp3d>
            <a:bevelT w="139700" h="139700" prst="divot"/>
          </a:sp3d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90488" tIns="44450" rIns="90488" bIns="44450"/>
          <a:lstStyle/>
          <a:p>
            <a:pPr marL="285750" indent="-285750" algn="ctr" eaLnBrk="1" hangingPunct="1">
              <a:lnSpc>
                <a:spcPct val="95000"/>
              </a:lnSpc>
              <a:buFontTx/>
              <a:buNone/>
              <a:defRPr/>
            </a:pPr>
            <a:r>
              <a:rPr lang="ja-JP" altLang="en-US" sz="4000" b="1" dirty="0" smtClean="0">
                <a:solidFill>
                  <a:schemeClr val="bg1"/>
                </a:solidFill>
                <a:latin typeface="Arial" charset="0"/>
              </a:rPr>
              <a:t>“</a:t>
            </a:r>
            <a:r>
              <a:rPr lang="en-US" altLang="ja-JP" sz="4000" b="1" dirty="0" smtClean="0">
                <a:solidFill>
                  <a:schemeClr val="bg1"/>
                </a:solidFill>
                <a:latin typeface="Arial" charset="0"/>
              </a:rPr>
              <a:t> Before the enormity of the Sphinx, they would stand and talk of the desert heart. ”</a:t>
            </a:r>
          </a:p>
          <a:p>
            <a:pPr marL="285750" indent="-285750" algn="ctr" eaLnBrk="1" hangingPunct="1">
              <a:lnSpc>
                <a:spcPct val="95000"/>
              </a:lnSpc>
              <a:buFontTx/>
              <a:buNone/>
              <a:defRPr/>
            </a:pPr>
            <a:r>
              <a:rPr lang="en-US" sz="4000" dirty="0" smtClean="0">
                <a:solidFill>
                  <a:schemeClr val="bg1"/>
                </a:solidFill>
                <a:latin typeface="Arial" charset="0"/>
              </a:rPr>
              <a:t/>
            </a:r>
            <a:br>
              <a:rPr lang="en-US" sz="4000" dirty="0" smtClean="0">
                <a:solidFill>
                  <a:schemeClr val="bg1"/>
                </a:solidFill>
                <a:latin typeface="Arial" charset="0"/>
              </a:rPr>
            </a:br>
            <a:r>
              <a:rPr lang="en-US" sz="3600" dirty="0" smtClean="0">
                <a:latin typeface="Arial" charset="0"/>
              </a:rPr>
              <a:t/>
            </a:r>
            <a:br>
              <a:rPr lang="en-US" sz="3600" dirty="0" smtClean="0">
                <a:latin typeface="Arial" charset="0"/>
              </a:rPr>
            </a:br>
            <a:r>
              <a:rPr lang="en-US" sz="3600" dirty="0" smtClean="0">
                <a:solidFill>
                  <a:schemeClr val="tx2"/>
                </a:solidFill>
                <a:latin typeface="Arial" charset="0"/>
              </a:rPr>
              <a:t/>
            </a:r>
            <a:br>
              <a:rPr lang="en-US" sz="3600" dirty="0" smtClean="0">
                <a:solidFill>
                  <a:schemeClr val="tx2"/>
                </a:solidFill>
                <a:latin typeface="Arial" charset="0"/>
              </a:rPr>
            </a:br>
            <a:endParaRPr lang="en-US" sz="3600" dirty="0" smtClean="0">
              <a:solidFill>
                <a:schemeClr val="tx2"/>
              </a:solidFill>
              <a:latin typeface="Arial" charset="0"/>
            </a:endParaRPr>
          </a:p>
        </p:txBody>
      </p:sp>
      <p:pic>
        <p:nvPicPr>
          <p:cNvPr id="56327" name="Picture 2" descr="s_sphnxd-2001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762000"/>
            <a:ext cx="3497263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52400" y="457200"/>
            <a:ext cx="4419600" cy="5132602"/>
          </a:xfrm>
          <a:prstGeom prst="rect">
            <a:avLst/>
          </a:prstGeom>
          <a:solidFill>
            <a:srgbClr val="000090"/>
          </a:solidFill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defRPr/>
            </a:pPr>
            <a:r>
              <a:rPr lang="en-US" sz="2800" dirty="0" smtClean="0">
                <a:solidFill>
                  <a:schemeClr val="bg1"/>
                </a:solidFill>
                <a:latin typeface="Times New Roman"/>
                <a:cs typeface="Times New Roman"/>
              </a:rPr>
              <a:t>Employment First will </a:t>
            </a:r>
            <a:r>
              <a:rPr lang="en-US" sz="2800" dirty="0">
                <a:solidFill>
                  <a:schemeClr val="bg1"/>
                </a:solidFill>
                <a:latin typeface="Times New Roman"/>
                <a:cs typeface="Times New Roman"/>
              </a:rPr>
              <a:t>only be successful if the vision of Employment First is integrated within the wide range </a:t>
            </a:r>
            <a:r>
              <a:rPr lang="en-US" sz="2800" dirty="0" smtClean="0">
                <a:solidFill>
                  <a:schemeClr val="bg1"/>
                </a:solidFill>
                <a:latin typeface="Times New Roman"/>
                <a:cs typeface="Times New Roman"/>
              </a:rPr>
              <a:t>of</a:t>
            </a:r>
            <a:br>
              <a:rPr lang="en-US" sz="2800" dirty="0" smtClean="0">
                <a:solidFill>
                  <a:schemeClr val="bg1"/>
                </a:solidFill>
                <a:latin typeface="Times New Roman"/>
                <a:cs typeface="Times New Roman"/>
              </a:rPr>
            </a:br>
            <a:r>
              <a:rPr lang="en-US" sz="2800" b="1" dirty="0" smtClean="0">
                <a:solidFill>
                  <a:schemeClr val="bg1"/>
                </a:solidFill>
                <a:latin typeface="Times New Roman"/>
                <a:cs typeface="Times New Roman"/>
              </a:rPr>
              <a:t>POLICIES, PROCEDURES, &amp; PROCESSES</a:t>
            </a:r>
            <a:br>
              <a:rPr lang="en-US" sz="2800" b="1" dirty="0" smtClean="0">
                <a:solidFill>
                  <a:schemeClr val="bg1"/>
                </a:solidFill>
                <a:latin typeface="Times New Roman"/>
                <a:cs typeface="Times New Roman"/>
              </a:rPr>
            </a:br>
            <a:r>
              <a:rPr lang="en-US" sz="2800" dirty="0" smtClean="0">
                <a:solidFill>
                  <a:schemeClr val="bg1"/>
                </a:solidFill>
                <a:latin typeface="Times New Roman"/>
                <a:cs typeface="Times New Roman"/>
              </a:rPr>
              <a:t>that </a:t>
            </a:r>
            <a:r>
              <a:rPr lang="en-US" sz="2800" dirty="0">
                <a:solidFill>
                  <a:schemeClr val="bg1"/>
                </a:solidFill>
                <a:latin typeface="Times New Roman"/>
                <a:cs typeface="Times New Roman"/>
              </a:rPr>
              <a:t>impact employment of people with disabilities</a:t>
            </a:r>
            <a:r>
              <a:rPr lang="en-US" sz="2800" dirty="0" smtClean="0">
                <a:solidFill>
                  <a:schemeClr val="bg1"/>
                </a:solidFill>
                <a:latin typeface="Times New Roman"/>
                <a:cs typeface="Times New Roman"/>
              </a:rPr>
              <a:t>.</a:t>
            </a:r>
            <a:endParaRPr lang="en-US" sz="2800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257800" y="762000"/>
            <a:ext cx="3657600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3200">
                <a:solidFill>
                  <a:schemeClr val="tx1"/>
                </a:solidFill>
                <a:latin typeface="Calibri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charset="0"/>
              <a:buChar char="Ø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defRPr/>
            </a:pPr>
            <a:endParaRPr lang="en-US" dirty="0" smtClean="0">
              <a:latin typeface="Arial" charset="0"/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en-US" sz="2800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876800" y="609600"/>
            <a:ext cx="40386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3200">
                <a:solidFill>
                  <a:schemeClr val="tx1"/>
                </a:solidFill>
                <a:latin typeface="Calibri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charset="0"/>
              <a:buChar char="Ø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2976"/>
              </a:spcBef>
              <a:buClr>
                <a:srgbClr val="000090"/>
              </a:buClr>
              <a:buFont typeface="Wingdings" charset="2"/>
              <a:buChar char="Ø"/>
              <a:defRPr/>
            </a:pPr>
            <a:r>
              <a:rPr lang="en-US" sz="2400" b="1" dirty="0" smtClean="0">
                <a:latin typeface="Arial" charset="0"/>
                <a:ea typeface="ＭＳ Ｐゴシック" charset="0"/>
                <a:cs typeface="ＭＳ Ｐゴシック" charset="0"/>
              </a:rPr>
              <a:t>Human resources: </a:t>
            </a:r>
            <a:r>
              <a:rPr lang="en-US" sz="2400" dirty="0" smtClean="0">
                <a:latin typeface="Arial" charset="0"/>
                <a:ea typeface="ＭＳ Ｐゴシック" charset="0"/>
                <a:cs typeface="ＭＳ Ｐゴシック" charset="0"/>
              </a:rPr>
              <a:t>staff training, development, competency requirements</a:t>
            </a:r>
          </a:p>
          <a:p>
            <a:pPr eaLnBrk="1" hangingPunct="1">
              <a:lnSpc>
                <a:spcPct val="90000"/>
              </a:lnSpc>
              <a:spcBef>
                <a:spcPts val="2976"/>
              </a:spcBef>
              <a:buClr>
                <a:srgbClr val="000090"/>
              </a:buClr>
              <a:buFont typeface="Wingdings" charset="2"/>
              <a:buChar char="Ø"/>
              <a:defRPr/>
            </a:pPr>
            <a:r>
              <a:rPr lang="en-US" sz="2400" b="1" dirty="0" smtClean="0">
                <a:latin typeface="Arial" charset="0"/>
                <a:ea typeface="ＭＳ Ｐゴシック" charset="0"/>
                <a:cs typeface="ＭＳ Ｐゴシック" charset="0"/>
              </a:rPr>
              <a:t>Funding &amp; service contracting</a:t>
            </a:r>
          </a:p>
          <a:p>
            <a:pPr eaLnBrk="1" hangingPunct="1">
              <a:lnSpc>
                <a:spcPct val="90000"/>
              </a:lnSpc>
              <a:spcBef>
                <a:spcPts val="2976"/>
              </a:spcBef>
              <a:buClr>
                <a:srgbClr val="000090"/>
              </a:buClr>
              <a:buFont typeface="Wingdings" charset="2"/>
              <a:buChar char="Ø"/>
              <a:defRPr/>
            </a:pPr>
            <a:r>
              <a:rPr lang="en-US" sz="2400" b="1" dirty="0" smtClean="0">
                <a:latin typeface="Arial" charset="0"/>
                <a:ea typeface="ＭＳ Ｐゴシック" charset="0"/>
                <a:cs typeface="ＭＳ Ｐゴシック" charset="0"/>
              </a:rPr>
              <a:t>Service system infrastructure</a:t>
            </a:r>
            <a:r>
              <a:rPr lang="en-US" sz="2400" dirty="0" smtClean="0">
                <a:latin typeface="Arial" charset="0"/>
                <a:ea typeface="ＭＳ Ｐゴシック" charset="0"/>
                <a:cs typeface="ＭＳ Ｐゴシック" charset="0"/>
              </a:rPr>
              <a:t>, including support services</a:t>
            </a:r>
          </a:p>
          <a:p>
            <a:pPr eaLnBrk="1" hangingPunct="1">
              <a:lnSpc>
                <a:spcPct val="90000"/>
              </a:lnSpc>
              <a:spcBef>
                <a:spcPts val="2976"/>
              </a:spcBef>
              <a:buClr>
                <a:srgbClr val="000090"/>
              </a:buClr>
              <a:buFont typeface="Wingdings" charset="2"/>
              <a:buChar char="Ø"/>
              <a:defRPr/>
            </a:pPr>
            <a:r>
              <a:rPr lang="en-US" sz="2400" b="1" dirty="0" smtClean="0">
                <a:latin typeface="Arial" charset="0"/>
                <a:ea typeface="ＭＳ Ｐゴシック" charset="0"/>
                <a:cs typeface="ＭＳ Ｐゴシック" charset="0"/>
              </a:rPr>
              <a:t>Transition</a:t>
            </a:r>
            <a:endParaRPr lang="en-US" sz="2400" b="1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90000"/>
              </a:lnSpc>
              <a:spcBef>
                <a:spcPts val="2976"/>
              </a:spcBef>
              <a:buClr>
                <a:srgbClr val="000090"/>
              </a:buClr>
              <a:buFont typeface="Wingdings" charset="2"/>
              <a:buChar char="Ø"/>
              <a:defRPr/>
            </a:pPr>
            <a:r>
              <a:rPr lang="en-US" sz="2400" b="1" dirty="0" smtClean="0">
                <a:latin typeface="Arial" charset="0"/>
                <a:ea typeface="ＭＳ Ｐゴシック" charset="0"/>
                <a:cs typeface="ＭＳ Ｐゴシック" charset="0"/>
              </a:rPr>
              <a:t>Data: </a:t>
            </a:r>
            <a:r>
              <a:rPr lang="en-US" sz="2400" dirty="0" smtClean="0">
                <a:latin typeface="Arial" charset="0"/>
                <a:ea typeface="ＭＳ Ｐゴシック" charset="0"/>
                <a:cs typeface="ＭＳ Ｐゴシック" charset="0"/>
              </a:rPr>
              <a:t>collection &amp; use</a:t>
            </a:r>
          </a:p>
          <a:p>
            <a:pPr eaLnBrk="1" hangingPunct="1">
              <a:lnSpc>
                <a:spcPct val="90000"/>
              </a:lnSpc>
              <a:spcBef>
                <a:spcPts val="2976"/>
              </a:spcBef>
              <a:buClr>
                <a:srgbClr val="000090"/>
              </a:buClr>
              <a:buFont typeface="Wingdings" charset="2"/>
              <a:buChar char="Ø"/>
              <a:defRPr/>
            </a:pPr>
            <a:r>
              <a:rPr lang="en-US" sz="2400" b="1" dirty="0" smtClean="0">
                <a:latin typeface="Arial" charset="0"/>
                <a:ea typeface="ＭＳ Ｐゴシック" charset="0"/>
                <a:cs typeface="ＭＳ Ｐゴシック" charset="0"/>
              </a:rPr>
              <a:t>Others</a:t>
            </a:r>
          </a:p>
        </p:txBody>
      </p:sp>
    </p:spTree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81000"/>
            <a:ext cx="7772400" cy="1219200"/>
          </a:xfrm>
        </p:spPr>
        <p:txBody>
          <a:bodyPr/>
          <a:lstStyle/>
          <a:p>
            <a:pPr algn="l">
              <a:defRPr/>
            </a:pPr>
            <a:r>
              <a:rPr lang="en-US" i="0" dirty="0">
                <a:latin typeface="Cambria" charset="0"/>
                <a:ea typeface="ＭＳ Ｐゴシック" charset="0"/>
                <a:cs typeface="ＭＳ Ｐゴシック" charset="0"/>
              </a:rPr>
              <a:t>SELN:</a:t>
            </a:r>
            <a:r>
              <a:rPr lang="en-US" dirty="0">
                <a:latin typeface="Cambria" charset="0"/>
                <a:ea typeface="ＭＳ Ｐゴシック" charset="0"/>
                <a:cs typeface="ＭＳ Ｐゴシック" charset="0"/>
              </a:rPr>
              <a:t/>
            </a:r>
            <a:br>
              <a:rPr lang="en-US" dirty="0">
                <a:latin typeface="Cambria" charset="0"/>
                <a:ea typeface="ＭＳ Ｐゴシック" charset="0"/>
                <a:cs typeface="ＭＳ Ｐゴシック" charset="0"/>
              </a:rPr>
            </a:br>
            <a:r>
              <a:rPr lang="en-US" dirty="0">
                <a:latin typeface="Cambria" charset="0"/>
                <a:ea typeface="ＭＳ Ｐゴシック" charset="0"/>
                <a:cs typeface="ＭＳ Ｐゴシック" charset="0"/>
              </a:rPr>
              <a:t>What We’ve Learned</a:t>
            </a:r>
          </a:p>
        </p:txBody>
      </p:sp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413933"/>
            <a:ext cx="8458200" cy="54102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endParaRPr lang="en-US" sz="2800" dirty="0">
              <a:latin typeface="Trebuchet MS" charset="0"/>
              <a:ea typeface="ＭＳ Ｐゴシック" charset="0"/>
              <a:cs typeface="ＭＳ Ｐゴシック" charset="0"/>
            </a:endParaRPr>
          </a:p>
          <a:p>
            <a:pPr>
              <a:spcBef>
                <a:spcPct val="50000"/>
              </a:spcBef>
              <a:defRPr/>
            </a:pPr>
            <a:r>
              <a:rPr lang="en-US" sz="2800" dirty="0" smtClean="0">
                <a:latin typeface="Trebuchet MS" charset="0"/>
                <a:ea typeface="ＭＳ Ｐゴシック" charset="0"/>
                <a:cs typeface="ＭＳ Ｐゴシック" charset="0"/>
              </a:rPr>
              <a:t>Systems </a:t>
            </a:r>
            <a:r>
              <a:rPr lang="en-US" sz="2800" dirty="0">
                <a:latin typeface="Trebuchet MS" charset="0"/>
                <a:ea typeface="ＭＳ Ｐゴシック" charset="0"/>
                <a:cs typeface="ＭＳ Ｐゴシック" charset="0"/>
              </a:rPr>
              <a:t>change requires both:</a:t>
            </a:r>
          </a:p>
          <a:p>
            <a:pPr lvl="1">
              <a:buFont typeface="Wingdings" charset="2"/>
              <a:buChar char="Ø"/>
              <a:defRPr/>
            </a:pPr>
            <a:r>
              <a:rPr lang="en-US" i="1" dirty="0">
                <a:latin typeface="Trebuchet MS" charset="0"/>
                <a:ea typeface="ＭＳ Ｐゴシック" charset="0"/>
              </a:rPr>
              <a:t>big picture perspective and leadership</a:t>
            </a:r>
          </a:p>
          <a:p>
            <a:pPr lvl="1">
              <a:buFont typeface="Wingdings" charset="2"/>
              <a:buChar char="Ø"/>
              <a:defRPr/>
            </a:pPr>
            <a:r>
              <a:rPr lang="en-US" i="1" dirty="0">
                <a:latin typeface="Trebuchet MS" charset="0"/>
                <a:ea typeface="ＭＳ Ｐゴシック" charset="0"/>
              </a:rPr>
              <a:t>willingness to get into </a:t>
            </a:r>
            <a:r>
              <a:rPr lang="ja-JP" altLang="en-US" i="1" dirty="0" smtClean="0">
                <a:latin typeface="Trebuchet MS" charset="0"/>
                <a:ea typeface="ＭＳ Ｐゴシック" charset="0"/>
              </a:rPr>
              <a:t>“</a:t>
            </a:r>
            <a:r>
              <a:rPr lang="en-US" i="1" dirty="0" err="1" smtClean="0">
                <a:latin typeface="Trebuchet MS" charset="0"/>
                <a:ea typeface="ＭＳ Ｐゴシック" charset="0"/>
              </a:rPr>
              <a:t>nitty</a:t>
            </a:r>
            <a:r>
              <a:rPr lang="en-US" i="1" dirty="0" smtClean="0">
                <a:latin typeface="Trebuchet MS" charset="0"/>
                <a:ea typeface="ＭＳ Ｐゴシック" charset="0"/>
              </a:rPr>
              <a:t> gritty</a:t>
            </a:r>
            <a:r>
              <a:rPr lang="ja-JP" altLang="en-US" i="1" dirty="0" smtClean="0">
                <a:latin typeface="Trebuchet MS" charset="0"/>
                <a:ea typeface="ＭＳ Ｐゴシック" charset="0"/>
              </a:rPr>
              <a:t>”</a:t>
            </a:r>
            <a:r>
              <a:rPr lang="en-US" i="1" dirty="0" smtClean="0">
                <a:latin typeface="Trebuchet MS" charset="0"/>
                <a:ea typeface="ＭＳ Ｐゴシック" charset="0"/>
              </a:rPr>
              <a:t> policy and practice details</a:t>
            </a:r>
          </a:p>
          <a:p>
            <a:pPr>
              <a:spcBef>
                <a:spcPts val="2280"/>
              </a:spcBef>
              <a:defRPr/>
            </a:pPr>
            <a:r>
              <a:rPr lang="en-US" sz="2800" dirty="0">
                <a:latin typeface="Trebuchet MS" charset="0"/>
                <a:ea typeface="ＭＳ Ｐゴシック" charset="0"/>
                <a:cs typeface="ＭＳ Ｐゴシック" charset="0"/>
              </a:rPr>
              <a:t>It’s not one thing, it’s a lot of things</a:t>
            </a:r>
          </a:p>
          <a:p>
            <a:pPr>
              <a:spcBef>
                <a:spcPts val="2280"/>
              </a:spcBef>
              <a:defRPr/>
            </a:pPr>
            <a:r>
              <a:rPr lang="en-US" sz="2800" dirty="0" smtClean="0">
                <a:latin typeface="Trebuchet MS" charset="0"/>
                <a:ea typeface="ＭＳ Ｐゴシック" charset="0"/>
                <a:cs typeface="ＭＳ Ｐゴシック" charset="0"/>
              </a:rPr>
              <a:t>Slow and steady wins the race</a:t>
            </a:r>
          </a:p>
          <a:p>
            <a:pPr>
              <a:spcBef>
                <a:spcPct val="50000"/>
              </a:spcBef>
              <a:defRPr/>
            </a:pPr>
            <a:endParaRPr lang="en-US" sz="2800" dirty="0">
              <a:latin typeface="Trebuchet MS" charset="0"/>
              <a:ea typeface="ＭＳ Ｐゴシック" charset="0"/>
              <a:cs typeface="ＭＳ Ｐゴシック" charset="0"/>
            </a:endParaRPr>
          </a:p>
        </p:txBody>
      </p:sp>
      <p:pic>
        <p:nvPicPr>
          <p:cNvPr id="32773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4724400"/>
            <a:ext cx="1447800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662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609600"/>
            <a:ext cx="1757363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663" name="Picture 4" descr="seln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0488" y="5791200"/>
            <a:ext cx="128587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32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583 0.00695 L -0.0875 0.00695 " pathEditMode="relative" rAng="0" ptsTypes="AA">
                                      <p:cBhvr>
                                        <p:cTn id="23" dur="5000" fill="hold"/>
                                        <p:tgtEl>
                                          <p:spTgt spid="32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66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81000"/>
            <a:ext cx="3581400" cy="3962400"/>
          </a:xfrm>
          <a:scene3d>
            <a:camera prst="orthographicFront"/>
            <a:lightRig rig="threePt" dir="t"/>
          </a:scene3d>
          <a:sp3d>
            <a:bevelT w="139700" h="139700" prst="divot"/>
          </a:sp3d>
        </p:spPr>
        <p:txBody>
          <a:bodyPr/>
          <a:lstStyle/>
          <a:p>
            <a:pPr>
              <a:defRPr/>
            </a:pPr>
            <a:r>
              <a:rPr lang="en-US" sz="3200" i="0" dirty="0" smtClean="0"/>
              <a:t>Turning Employment First Into Reality: 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Polices &amp; Practices that Presume Employability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0" y="533400"/>
            <a:ext cx="5105400" cy="5638800"/>
          </a:xfrm>
        </p:spPr>
        <p:txBody>
          <a:bodyPr/>
          <a:lstStyle/>
          <a:p>
            <a:pPr>
              <a:spcBef>
                <a:spcPts val="1200"/>
              </a:spcBef>
              <a:defRPr/>
            </a:pPr>
            <a:r>
              <a:rPr lang="en-US" sz="2200" dirty="0" smtClean="0">
                <a:latin typeface="+mn-lt"/>
              </a:rPr>
              <a:t>Eliminate criteria and professional judgments regarding work “readiness” and earning right to a job</a:t>
            </a:r>
          </a:p>
          <a:p>
            <a:pPr>
              <a:spcBef>
                <a:spcPts val="1200"/>
              </a:spcBef>
              <a:defRPr/>
            </a:pPr>
            <a:r>
              <a:rPr lang="en-US" sz="2200" dirty="0">
                <a:latin typeface="+mn-lt"/>
              </a:rPr>
              <a:t>Consideration of employment mandated part of any type of individual planning for persons of working </a:t>
            </a:r>
            <a:r>
              <a:rPr lang="en-US" sz="2200" dirty="0" smtClean="0">
                <a:latin typeface="+mn-lt"/>
              </a:rPr>
              <a:t>age (ISP, IEP, etc.)</a:t>
            </a:r>
          </a:p>
          <a:p>
            <a:pPr>
              <a:spcBef>
                <a:spcPts val="1200"/>
              </a:spcBef>
              <a:defRPr/>
            </a:pPr>
            <a:r>
              <a:rPr lang="en-US" sz="2200" dirty="0" smtClean="0">
                <a:latin typeface="+mn-lt"/>
              </a:rPr>
              <a:t>Documentation for non-consideration of employment is required</a:t>
            </a:r>
          </a:p>
          <a:p>
            <a:pPr>
              <a:spcBef>
                <a:spcPts val="1200"/>
              </a:spcBef>
              <a:defRPr/>
            </a:pPr>
            <a:r>
              <a:rPr lang="en-US" sz="2200" dirty="0" smtClean="0">
                <a:latin typeface="+mn-lt"/>
              </a:rPr>
              <a:t>Decision to not consider employment is re-visited on regular basis</a:t>
            </a:r>
          </a:p>
          <a:p>
            <a:pPr marL="342900" lvl="1" indent="-342900">
              <a:spcBef>
                <a:spcPts val="1200"/>
              </a:spcBef>
              <a:buClr>
                <a:schemeClr val="accent1"/>
              </a:buClr>
              <a:buFontTx/>
              <a:buChar char="•"/>
              <a:defRPr/>
            </a:pPr>
            <a:r>
              <a:rPr lang="en-US" sz="2200" dirty="0"/>
              <a:t>Follows tenants of person-centered planning </a:t>
            </a:r>
            <a:r>
              <a:rPr lang="en-US" sz="2200" dirty="0" smtClean="0"/>
              <a:t>–</a:t>
            </a:r>
            <a:r>
              <a:rPr lang="en-US" sz="2200" i="1" dirty="0" smtClean="0"/>
              <a:t>“</a:t>
            </a:r>
            <a:r>
              <a:rPr lang="en-US" sz="2200" i="1" dirty="0"/>
              <a:t>nothing about me without me”</a:t>
            </a:r>
          </a:p>
          <a:p>
            <a:pPr>
              <a:spcBef>
                <a:spcPts val="0"/>
              </a:spcBef>
              <a:defRPr/>
            </a:pPr>
            <a:endParaRPr lang="en-US" sz="2400" dirty="0" smtClean="0">
              <a:latin typeface="+mn-lt"/>
            </a:endParaRPr>
          </a:p>
        </p:txBody>
      </p:sp>
      <p:pic>
        <p:nvPicPr>
          <p:cNvPr id="4" name="Picture 3" descr="employment_first_emp_now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4648200"/>
            <a:ext cx="1854200" cy="1405848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Ohio Employment First Form.pdf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8" t="-361" r="-2228" b="5850"/>
          <a:stretch/>
        </p:blipFill>
        <p:spPr>
          <a:xfrm>
            <a:off x="214313" y="914400"/>
            <a:ext cx="4237037" cy="5181600"/>
          </a:xfrm>
          <a:ln>
            <a:solidFill>
              <a:schemeClr val="tx1"/>
            </a:solidFill>
          </a:ln>
        </p:spPr>
      </p:pic>
      <p:pic>
        <p:nvPicPr>
          <p:cNvPr id="5" name="Picture 4" descr="Ohio Employment First Form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65" t="99" r="5286" b="7913"/>
          <a:stretch>
            <a:fillRect/>
          </a:stretch>
        </p:blipFill>
        <p:spPr bwMode="auto">
          <a:xfrm>
            <a:off x="4648200" y="914400"/>
            <a:ext cx="4198938" cy="5105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304800"/>
            <a:ext cx="6172200" cy="457200"/>
          </a:xfr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r>
              <a:rPr lang="en-US" sz="2800" i="0" dirty="0" smtClean="0">
                <a:latin typeface="Cambria" charset="0"/>
                <a:ea typeface="ＭＳ Ｐゴシック" charset="0"/>
                <a:cs typeface="ＭＳ Ｐゴシック" charset="0"/>
              </a:rPr>
              <a:t>Ohio Employment First Form</a:t>
            </a:r>
            <a:endParaRPr lang="en-US" sz="2800" dirty="0">
              <a:latin typeface="Cambria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3124200" cy="2286000"/>
          </a:xfrm>
        </p:spPr>
        <p:txBody>
          <a:bodyPr/>
          <a:lstStyle/>
          <a:p>
            <a:pPr>
              <a:defRPr/>
            </a:pPr>
            <a:r>
              <a:rPr lang="en-US" sz="3200" dirty="0" smtClean="0"/>
              <a:t>Employment First &amp; Transition </a:t>
            </a:r>
            <a:r>
              <a:rPr lang="en-US" sz="3200" i="0" u="sng" dirty="0" smtClean="0"/>
              <a:t>Policies</a:t>
            </a:r>
            <a:endParaRPr lang="en-US" sz="3200" i="0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533400"/>
            <a:ext cx="5334000" cy="5715000"/>
          </a:xfrm>
        </p:spPr>
        <p:txBody>
          <a:bodyPr/>
          <a:lstStyle/>
          <a:p>
            <a:pPr>
              <a:defRPr/>
            </a:pPr>
            <a:r>
              <a:rPr lang="en-US" sz="2600" dirty="0" smtClean="0"/>
              <a:t>Prohibit use of facility-based services during transition</a:t>
            </a:r>
          </a:p>
          <a:p>
            <a:pPr>
              <a:defRPr/>
            </a:pPr>
            <a:r>
              <a:rPr lang="en-US" sz="2600" dirty="0" smtClean="0"/>
              <a:t>Allow facility-based services as outcome as exception requiring high administrative approval</a:t>
            </a:r>
          </a:p>
          <a:p>
            <a:pPr>
              <a:defRPr/>
            </a:pPr>
            <a:r>
              <a:rPr lang="en-US" sz="2600" dirty="0" smtClean="0"/>
              <a:t>Employment addressed as a core element of IEP starting no later than age 14</a:t>
            </a:r>
          </a:p>
          <a:p>
            <a:pPr>
              <a:defRPr/>
            </a:pPr>
            <a:r>
              <a:rPr lang="en-US" sz="2600" dirty="0" smtClean="0"/>
              <a:t>Require high level of documentation if decision is made not to pursue employment</a:t>
            </a:r>
          </a:p>
          <a:p>
            <a:pPr>
              <a:defRPr/>
            </a:pPr>
            <a:r>
              <a:rPr lang="en-US" sz="2600" dirty="0" smtClean="0"/>
              <a:t>Effective outcome measurement and monitoring </a:t>
            </a:r>
          </a:p>
          <a:p>
            <a:pPr>
              <a:defRPr/>
            </a:pPr>
            <a:endParaRPr lang="en-US" sz="2600" dirty="0" smtClean="0"/>
          </a:p>
          <a:p>
            <a:pPr>
              <a:defRPr/>
            </a:pPr>
            <a:endParaRPr lang="en-US" sz="2800" dirty="0"/>
          </a:p>
        </p:txBody>
      </p:sp>
      <p:pic>
        <p:nvPicPr>
          <p:cNvPr id="82949" name="Picture 4" descr="school_to_work_logo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648200"/>
            <a:ext cx="24384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950" name="Picture 3" descr="policy.gi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819400"/>
            <a:ext cx="1473200" cy="169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3787877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3505200" cy="2133600"/>
          </a:xfrm>
        </p:spPr>
        <p:txBody>
          <a:bodyPr/>
          <a:lstStyle/>
          <a:p>
            <a:pPr>
              <a:defRPr/>
            </a:pPr>
            <a:r>
              <a:rPr lang="en-US" sz="3200" dirty="0" smtClean="0"/>
              <a:t>Employment First &amp; Transition </a:t>
            </a:r>
            <a:r>
              <a:rPr lang="en-US" sz="3200" i="0" u="sng" dirty="0" smtClean="0"/>
              <a:t>Practices</a:t>
            </a:r>
            <a:endParaRPr lang="en-US" sz="3200" i="0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800" y="381000"/>
            <a:ext cx="4800600" cy="4648200"/>
          </a:xfrm>
        </p:spPr>
        <p:txBody>
          <a:bodyPr/>
          <a:lstStyle/>
          <a:p>
            <a:pPr>
              <a:defRPr/>
            </a:pPr>
            <a:r>
              <a:rPr lang="en-US" sz="2600" dirty="0" smtClean="0"/>
              <a:t>Presume that all students can succeed in employment</a:t>
            </a:r>
          </a:p>
          <a:p>
            <a:pPr>
              <a:defRPr/>
            </a:pPr>
            <a:r>
              <a:rPr lang="en-US" sz="2600" dirty="0" smtClean="0"/>
              <a:t>Support typical student work experiences</a:t>
            </a:r>
          </a:p>
          <a:p>
            <a:pPr lvl="1">
              <a:defRPr/>
            </a:pPr>
            <a:r>
              <a:rPr lang="en-US" sz="2200" i="1" dirty="0" smtClean="0"/>
              <a:t>Jobs after school and weekends; summer jobs</a:t>
            </a:r>
          </a:p>
          <a:p>
            <a:pPr lvl="1">
              <a:defRPr/>
            </a:pPr>
            <a:r>
              <a:rPr lang="en-US" sz="2200" i="1" dirty="0" smtClean="0"/>
              <a:t>No more job “programs”</a:t>
            </a:r>
          </a:p>
          <a:p>
            <a:pPr>
              <a:defRPr/>
            </a:pPr>
            <a:r>
              <a:rPr lang="en-US" sz="2600" dirty="0" smtClean="0"/>
              <a:t>Integrate students into school-to-career opportunities available to all students</a:t>
            </a:r>
          </a:p>
          <a:p>
            <a:pPr lvl="1">
              <a:defRPr/>
            </a:pPr>
            <a:r>
              <a:rPr lang="en-US" sz="2200" i="1" dirty="0" smtClean="0"/>
              <a:t>Internships, job shadowing, etc.</a:t>
            </a:r>
          </a:p>
          <a:p>
            <a:pPr>
              <a:defRPr/>
            </a:pPr>
            <a:r>
              <a:rPr lang="en-US" sz="2600" dirty="0" smtClean="0"/>
              <a:t>Link with vocational education programs</a:t>
            </a:r>
          </a:p>
          <a:p>
            <a:pPr>
              <a:defRPr/>
            </a:pPr>
            <a:endParaRPr lang="en-US" sz="2600" dirty="0" smtClean="0"/>
          </a:p>
          <a:p>
            <a:pPr>
              <a:defRPr/>
            </a:pPr>
            <a:endParaRPr lang="en-US" sz="2800" dirty="0"/>
          </a:p>
        </p:txBody>
      </p:sp>
      <p:pic>
        <p:nvPicPr>
          <p:cNvPr id="83973" name="Picture 7" descr="iStock_000012804135XSmall_teen_store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819400"/>
            <a:ext cx="1422400" cy="157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3974" name="Picture 8" descr="teenager-working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4572000"/>
            <a:ext cx="1695450" cy="162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3975" name="Picture 10" descr="article-new-ehow-images-a07-po-vc-job-hunting-tips-teenagers-800x800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667000"/>
            <a:ext cx="1917700" cy="178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7927105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5943600" cy="1143000"/>
          </a:xfrm>
          <a:scene3d>
            <a:camera prst="orthographicFront"/>
            <a:lightRig rig="threePt" dir="t"/>
          </a:scene3d>
          <a:sp3d>
            <a:bevelT w="139700" h="139700" prst="divot"/>
          </a:sp3d>
        </p:spPr>
        <p:txBody>
          <a:bodyPr/>
          <a:lstStyle/>
          <a:p>
            <a:pPr algn="l">
              <a:defRPr/>
            </a:pPr>
            <a:r>
              <a:rPr lang="en-US" sz="2800" dirty="0" smtClean="0"/>
              <a:t>Employment First:</a:t>
            </a:r>
            <a:br>
              <a:rPr lang="en-US" sz="2800" dirty="0" smtClean="0"/>
            </a:br>
            <a:r>
              <a:rPr lang="en-US" sz="2800" i="0" dirty="0" smtClean="0"/>
              <a:t>Contracting &amp; Program Monitoring</a:t>
            </a:r>
            <a:endParaRPr lang="en-US" sz="2800" i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28800"/>
            <a:ext cx="8791576" cy="4572000"/>
          </a:xfrm>
        </p:spPr>
        <p:txBody>
          <a:bodyPr/>
          <a:lstStyle/>
          <a:p>
            <a:pPr>
              <a:defRPr/>
            </a:pPr>
            <a:r>
              <a:rPr lang="en-US" sz="2600" dirty="0" smtClean="0"/>
              <a:t>Service provider contracts awarded to organizations that embrace Employment First principles.</a:t>
            </a:r>
          </a:p>
          <a:p>
            <a:pPr>
              <a:defRPr/>
            </a:pPr>
            <a:r>
              <a:rPr lang="en-US" sz="2600" dirty="0"/>
              <a:t>R</a:t>
            </a:r>
            <a:r>
              <a:rPr lang="en-US" sz="2600" dirty="0" smtClean="0"/>
              <a:t>educed reliance on contractors that reinforce traditional service approaches.</a:t>
            </a:r>
          </a:p>
          <a:p>
            <a:pPr>
              <a:defRPr/>
            </a:pPr>
            <a:r>
              <a:rPr lang="en-US" sz="2600" dirty="0" smtClean="0"/>
              <a:t>Service contracts </a:t>
            </a:r>
            <a:r>
              <a:rPr lang="en-US" sz="2600" b="1" dirty="0" smtClean="0"/>
              <a:t>clearly specify </a:t>
            </a:r>
            <a:r>
              <a:rPr lang="en-US" sz="2600" dirty="0" smtClean="0"/>
              <a:t>expectations regarding service provision and outcomes in line with Employment First principles.</a:t>
            </a:r>
          </a:p>
          <a:p>
            <a:pPr>
              <a:defRPr/>
            </a:pPr>
            <a:r>
              <a:rPr lang="en-US" sz="2600" dirty="0"/>
              <a:t>S</a:t>
            </a:r>
            <a:r>
              <a:rPr lang="en-US" sz="2600" dirty="0" smtClean="0"/>
              <a:t>tandards for employment in the community integrated within program monitoring and quality assurance processes.</a:t>
            </a:r>
          </a:p>
        </p:txBody>
      </p:sp>
      <p:pic>
        <p:nvPicPr>
          <p:cNvPr id="77829" name="Picture 3" descr="contract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400800" y="304800"/>
            <a:ext cx="2519363" cy="1319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90600" y="4648200"/>
            <a:ext cx="6172200" cy="914400"/>
          </a:xfrm>
        </p:spPr>
        <p:txBody>
          <a:bodyPr/>
          <a:lstStyle/>
          <a:p>
            <a:pPr algn="r">
              <a:buFontTx/>
              <a:buChar char="-"/>
              <a:defRPr/>
            </a:pPr>
            <a:r>
              <a:rPr lang="en-US" dirty="0"/>
              <a:t>H.L. Mencken</a:t>
            </a:r>
          </a:p>
        </p:txBody>
      </p:sp>
      <p:sp>
        <p:nvSpPr>
          <p:cNvPr id="14337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304800" y="838200"/>
            <a:ext cx="8153400" cy="2743200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lang="ja-JP" altLang="en-US" sz="4400" dirty="0" smtClean="0"/>
              <a:t>“</a:t>
            </a:r>
            <a:r>
              <a:rPr lang="en-US" sz="4400" dirty="0" smtClean="0"/>
              <a:t>When somebody say it’s not about the money,</a:t>
            </a:r>
            <a:br>
              <a:rPr lang="en-US" sz="4400" dirty="0" smtClean="0"/>
            </a:br>
            <a:r>
              <a:rPr lang="en-US" sz="4400" dirty="0" smtClean="0"/>
              <a:t>it’s about the money.</a:t>
            </a:r>
            <a:r>
              <a:rPr lang="ja-JP" altLang="en-US" sz="4400" dirty="0"/>
              <a:t>”</a:t>
            </a:r>
            <a:endParaRPr lang="en-US" sz="4800" dirty="0"/>
          </a:p>
        </p:txBody>
      </p:sp>
      <p:pic>
        <p:nvPicPr>
          <p:cNvPr id="78853" name="Picture 14" descr="h-l-mencken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4038600"/>
            <a:ext cx="1223963" cy="163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8153400" cy="1905000"/>
          </a:xfrm>
        </p:spPr>
        <p:txBody>
          <a:bodyPr/>
          <a:lstStyle/>
          <a:p>
            <a:pPr algn="l">
              <a:defRPr/>
            </a:pPr>
            <a:r>
              <a:rPr lang="en-US" sz="3600" i="0" dirty="0" smtClean="0"/>
              <a:t>- Pay for what you want.</a:t>
            </a:r>
            <a:br>
              <a:rPr lang="en-US" sz="3600" i="0" dirty="0" smtClean="0"/>
            </a:br>
            <a:r>
              <a:rPr lang="en-US" sz="3600" i="0" dirty="0" smtClean="0"/>
              <a:t>- Don’t pay for what you</a:t>
            </a:r>
            <a:br>
              <a:rPr lang="en-US" sz="3600" i="0" dirty="0" smtClean="0"/>
            </a:br>
            <a:r>
              <a:rPr lang="en-US" sz="3600" i="0" dirty="0" smtClean="0"/>
              <a:t>  don’t want.</a:t>
            </a:r>
            <a:endParaRPr lang="en-US" sz="3600" i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514600"/>
            <a:ext cx="9110663" cy="35052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Determine current breakdown of funding: </a:t>
            </a:r>
            <a:r>
              <a:rPr lang="en-US" i="1" dirty="0" smtClean="0"/>
              <a:t>community employment, facility, non-employment</a:t>
            </a:r>
          </a:p>
          <a:p>
            <a:pPr>
              <a:defRPr/>
            </a:pPr>
            <a:r>
              <a:rPr lang="en-US" dirty="0" smtClean="0"/>
              <a:t>Develop rate structures that provide </a:t>
            </a:r>
            <a:r>
              <a:rPr lang="en-US" dirty="0"/>
              <a:t>incentives for employment</a:t>
            </a:r>
          </a:p>
          <a:p>
            <a:pPr>
              <a:defRPr/>
            </a:pPr>
            <a:r>
              <a:rPr lang="en-US" dirty="0" smtClean="0"/>
              <a:t>Develop funding </a:t>
            </a:r>
            <a:r>
              <a:rPr lang="en-US" dirty="0"/>
              <a:t>policies </a:t>
            </a:r>
            <a:r>
              <a:rPr lang="en-US" dirty="0" smtClean="0"/>
              <a:t>that support </a:t>
            </a:r>
            <a:r>
              <a:rPr lang="en-US" dirty="0"/>
              <a:t>shifting of resources to community </a:t>
            </a:r>
            <a:r>
              <a:rPr lang="en-US" dirty="0" smtClean="0"/>
              <a:t>employment</a:t>
            </a:r>
            <a:endParaRPr lang="en-US" dirty="0"/>
          </a:p>
          <a:p>
            <a:pPr>
              <a:defRPr/>
            </a:pPr>
            <a:endParaRPr lang="en-US" dirty="0"/>
          </a:p>
        </p:txBody>
      </p:sp>
      <p:pic>
        <p:nvPicPr>
          <p:cNvPr id="80901" name="Picture 3" descr="paymen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6400" y="152400"/>
            <a:ext cx="2387600" cy="238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/>
          <p:cNvSpPr>
            <a:spLocks noChangeArrowheads="1"/>
          </p:cNvSpPr>
          <p:nvPr/>
        </p:nvSpPr>
        <p:spPr bwMode="auto">
          <a:xfrm>
            <a:off x="838200" y="533400"/>
            <a:ext cx="7467600" cy="3886200"/>
          </a:xfrm>
          <a:prstGeom prst="rect">
            <a:avLst/>
          </a:prstGeom>
          <a:solidFill>
            <a:srgbClr val="006699"/>
          </a:solidFill>
          <a:ln>
            <a:noFill/>
          </a:ln>
          <a:scene3d>
            <a:camera prst="orthographicFront"/>
            <a:lightRig rig="threePt" dir="t"/>
          </a:scene3d>
          <a:sp3d>
            <a:bevelT w="139700" h="139700" prst="divot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5000"/>
              </a:lnSpc>
            </a:pPr>
            <a:r>
              <a:rPr lang="ja-JP" altLang="en-US" sz="5400" b="1" dirty="0">
                <a:solidFill>
                  <a:schemeClr val="bg1"/>
                </a:solidFill>
                <a:latin typeface="Century Gothic" charset="0"/>
              </a:rPr>
              <a:t>“</a:t>
            </a:r>
            <a:r>
              <a:rPr lang="en-US" altLang="ja-JP" sz="5400" b="1" dirty="0">
                <a:solidFill>
                  <a:schemeClr val="bg1"/>
                </a:solidFill>
                <a:latin typeface="Century Gothic" charset="0"/>
              </a:rPr>
              <a:t>If you can</a:t>
            </a:r>
            <a:r>
              <a:rPr lang="ja-JP" altLang="en-US" sz="5400" b="1" dirty="0">
                <a:solidFill>
                  <a:schemeClr val="bg1"/>
                </a:solidFill>
                <a:latin typeface="Century Gothic" charset="0"/>
              </a:rPr>
              <a:t>’</a:t>
            </a:r>
            <a:r>
              <a:rPr lang="en-US" altLang="ja-JP" sz="5400" b="1" dirty="0">
                <a:solidFill>
                  <a:schemeClr val="bg1"/>
                </a:solidFill>
                <a:latin typeface="Century Gothic" charset="0"/>
              </a:rPr>
              <a:t>t</a:t>
            </a:r>
            <a:br>
              <a:rPr lang="en-US" altLang="ja-JP" sz="5400" b="1" dirty="0">
                <a:solidFill>
                  <a:schemeClr val="bg1"/>
                </a:solidFill>
                <a:latin typeface="Century Gothic" charset="0"/>
              </a:rPr>
            </a:br>
            <a:r>
              <a:rPr lang="en-US" altLang="ja-JP" sz="5400" b="1" dirty="0">
                <a:solidFill>
                  <a:schemeClr val="bg1"/>
                </a:solidFill>
                <a:latin typeface="Century Gothic" charset="0"/>
              </a:rPr>
              <a:t>measure it,</a:t>
            </a:r>
            <a:br>
              <a:rPr lang="en-US" altLang="ja-JP" sz="5400" b="1" dirty="0">
                <a:solidFill>
                  <a:schemeClr val="bg1"/>
                </a:solidFill>
                <a:latin typeface="Century Gothic" charset="0"/>
              </a:rPr>
            </a:br>
            <a:r>
              <a:rPr lang="en-US" altLang="ja-JP" sz="5400" b="1" dirty="0">
                <a:solidFill>
                  <a:schemeClr val="bg1"/>
                </a:solidFill>
                <a:latin typeface="Century Gothic" charset="0"/>
              </a:rPr>
              <a:t>I</a:t>
            </a:r>
            <a:r>
              <a:rPr lang="ja-JP" altLang="en-US" sz="5400" b="1" dirty="0">
                <a:solidFill>
                  <a:schemeClr val="bg1"/>
                </a:solidFill>
                <a:latin typeface="Century Gothic" charset="0"/>
              </a:rPr>
              <a:t>’</a:t>
            </a:r>
            <a:r>
              <a:rPr lang="en-US" altLang="ja-JP" sz="5400" b="1" dirty="0">
                <a:solidFill>
                  <a:schemeClr val="bg1"/>
                </a:solidFill>
                <a:latin typeface="Century Gothic" charset="0"/>
              </a:rPr>
              <a:t>m not interested.</a:t>
            </a:r>
            <a:r>
              <a:rPr lang="ja-JP" altLang="en-US" sz="5400" b="1" dirty="0">
                <a:solidFill>
                  <a:schemeClr val="bg1"/>
                </a:solidFill>
                <a:latin typeface="Century Gothic" charset="0"/>
              </a:rPr>
              <a:t>”</a:t>
            </a:r>
            <a:endParaRPr lang="en-US" altLang="ja-JP" sz="4800" b="1" dirty="0">
              <a:latin typeface="Century Gothic" charset="0"/>
            </a:endParaRPr>
          </a:p>
          <a:p>
            <a:pPr algn="ctr"/>
            <a:r>
              <a:rPr lang="en-US" sz="4400" b="1" i="1" dirty="0">
                <a:solidFill>
                  <a:schemeClr val="tx2"/>
                </a:solidFill>
                <a:latin typeface="Century Gothic" charset="0"/>
              </a:rPr>
              <a:t>             </a:t>
            </a:r>
          </a:p>
        </p:txBody>
      </p:sp>
      <p:pic>
        <p:nvPicPr>
          <p:cNvPr id="74754" name="Picture 3" descr="Laurence_Pet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4206875"/>
            <a:ext cx="1797050" cy="160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755" name="TextBox 1"/>
          <p:cNvSpPr txBox="1">
            <a:spLocks noChangeArrowheads="1"/>
          </p:cNvSpPr>
          <p:nvPr/>
        </p:nvSpPr>
        <p:spPr bwMode="auto">
          <a:xfrm>
            <a:off x="3505200" y="4953000"/>
            <a:ext cx="4267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buClr>
                <a:srgbClr val="0099CC"/>
              </a:buClr>
              <a:buFont typeface="Arial" charset="0"/>
              <a:buChar char="•"/>
            </a:pPr>
            <a:r>
              <a:rPr lang="en-US" sz="2800" i="1"/>
              <a:t>Laurence J. Peter</a:t>
            </a:r>
          </a:p>
        </p:txBody>
      </p:sp>
    </p:spTree>
    <p:extLst>
      <p:ext uri="{BB962C8B-B14F-4D97-AF65-F5344CB8AC3E}">
        <p14:creationId xmlns:p14="http://schemas.microsoft.com/office/powerpoint/2010/main" val="274097236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81000"/>
            <a:ext cx="3429000" cy="20574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Making System Accountable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3800" y="762000"/>
            <a:ext cx="3810000" cy="38100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Data system in place that tracks outcomes: providers, system, across systems</a:t>
            </a:r>
            <a:br>
              <a:rPr lang="en-US" dirty="0" smtClean="0"/>
            </a:br>
            <a:r>
              <a:rPr lang="en-US" sz="1800" dirty="0" smtClean="0"/>
              <a:t> </a:t>
            </a:r>
          </a:p>
          <a:p>
            <a:pPr>
              <a:defRPr/>
            </a:pPr>
            <a:r>
              <a:rPr lang="en-US" dirty="0" smtClean="0"/>
              <a:t>Publicly available employment</a:t>
            </a:r>
            <a:br>
              <a:rPr lang="en-US" dirty="0" smtClean="0"/>
            </a:br>
            <a:r>
              <a:rPr lang="en-US" dirty="0" smtClean="0"/>
              <a:t>“report card”</a:t>
            </a:r>
          </a:p>
          <a:p>
            <a:pPr lvl="1">
              <a:defRPr/>
            </a:pPr>
            <a:r>
              <a:rPr lang="en-US" dirty="0" smtClean="0"/>
              <a:t>System and individual provider</a:t>
            </a:r>
            <a:endParaRPr lang="en-US" dirty="0"/>
          </a:p>
        </p:txBody>
      </p:sp>
      <p:pic>
        <p:nvPicPr>
          <p:cNvPr id="76805" name="Picture 3" descr="report_card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3429000"/>
            <a:ext cx="1430338" cy="183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806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990600"/>
            <a:ext cx="1206500" cy="169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10179253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1143000"/>
          </a:xfrm>
          <a:scene3d>
            <a:camera prst="orthographicFront"/>
            <a:lightRig rig="threePt" dir="t"/>
          </a:scene3d>
          <a:sp3d>
            <a:bevelT w="139700" h="139700" prst="divot"/>
          </a:sp3d>
        </p:spPr>
        <p:txBody>
          <a:bodyPr/>
          <a:lstStyle/>
          <a:p>
            <a:pPr eaLnBrk="1" hangingPunct="1">
              <a:defRPr/>
            </a:pP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A Challenge to</a:t>
            </a:r>
            <a:br>
              <a:rPr lang="en-US" dirty="0">
                <a:latin typeface="Arial" charset="0"/>
                <a:ea typeface="ＭＳ Ｐゴシック" charset="0"/>
                <a:cs typeface="ＭＳ Ｐゴシック" charset="0"/>
              </a:rPr>
            </a:b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Our Field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2743200"/>
            <a:ext cx="8915400" cy="3505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800" dirty="0" smtClean="0">
                <a:latin typeface="Arial" charset="0"/>
                <a:ea typeface="ＭＳ Ｐゴシック" charset="0"/>
                <a:cs typeface="ＭＳ Ｐゴシック" charset="0"/>
              </a:rPr>
              <a:t>We need to be much more </a:t>
            </a:r>
            <a:r>
              <a:rPr lang="en-US" sz="2800" b="1" dirty="0" smtClean="0">
                <a:latin typeface="Arial" charset="0"/>
                <a:ea typeface="ＭＳ Ｐゴシック" charset="0"/>
                <a:cs typeface="ＭＳ Ｐゴシック" charset="0"/>
              </a:rPr>
              <a:t>data driven </a:t>
            </a:r>
            <a:r>
              <a:rPr lang="en-US" sz="2800" dirty="0" smtClean="0">
                <a:latin typeface="Arial" charset="0"/>
                <a:ea typeface="ＭＳ Ｐゴシック" charset="0"/>
                <a:cs typeface="ＭＳ Ｐゴシック" charset="0"/>
              </a:rPr>
              <a:t>in our </a:t>
            </a:r>
            <a:r>
              <a:rPr lang="en-US" sz="2800" b="1" dirty="0" smtClean="0">
                <a:latin typeface="Arial" charset="0"/>
                <a:ea typeface="ＭＳ Ｐゴシック" charset="0"/>
                <a:cs typeface="ＭＳ Ｐゴシック" charset="0"/>
              </a:rPr>
              <a:t>decision-making </a:t>
            </a:r>
            <a:r>
              <a:rPr lang="en-US" sz="2800" dirty="0" smtClean="0">
                <a:latin typeface="Arial" charset="0"/>
                <a:ea typeface="ＭＳ Ｐゴシック" charset="0"/>
                <a:cs typeface="ＭＳ Ｐゴシック" charset="0"/>
              </a:rPr>
              <a:t>in terms of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dirty="0" smtClean="0">
                <a:latin typeface="Arial" charset="0"/>
                <a:ea typeface="ＭＳ Ｐゴシック" charset="0"/>
                <a:cs typeface="ＭＳ Ｐゴシック" charset="0"/>
              </a:rPr>
              <a:t>services to individuals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dirty="0">
                <a:latin typeface="Arial" charset="0"/>
                <a:ea typeface="ＭＳ Ｐゴシック" charset="0"/>
                <a:cs typeface="ＭＳ Ｐゴシック" charset="0"/>
              </a:rPr>
              <a:t>s</a:t>
            </a:r>
            <a:r>
              <a:rPr lang="en-US" sz="2400" dirty="0" smtClean="0">
                <a:latin typeface="Arial" charset="0"/>
                <a:ea typeface="ＭＳ Ｐゴシック" charset="0"/>
                <a:cs typeface="ＭＳ Ｐゴシック" charset="0"/>
              </a:rPr>
              <a:t>ervice provider operations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dirty="0">
                <a:latin typeface="Arial" charset="0"/>
                <a:ea typeface="ＭＳ Ｐゴシック" charset="0"/>
                <a:cs typeface="ＭＳ Ｐゴシック" charset="0"/>
              </a:rPr>
              <a:t>s</a:t>
            </a:r>
            <a:r>
              <a:rPr lang="en-US" sz="2400" dirty="0" smtClean="0">
                <a:latin typeface="Arial" charset="0"/>
                <a:ea typeface="ＭＳ Ｐゴシック" charset="0"/>
                <a:cs typeface="ＭＳ Ｐゴシック" charset="0"/>
              </a:rPr>
              <a:t>ystem operations</a:t>
            </a:r>
            <a:endParaRPr lang="en-US" sz="24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800" dirty="0">
                <a:latin typeface="Arial" charset="0"/>
                <a:ea typeface="ＭＳ Ｐゴシック" charset="0"/>
                <a:cs typeface="ＭＳ Ｐゴシック" charset="0"/>
              </a:rPr>
              <a:t>We as a field need </a:t>
            </a:r>
            <a:r>
              <a:rPr lang="en-US" sz="2800" dirty="0" smtClean="0">
                <a:latin typeface="Arial" charset="0"/>
                <a:ea typeface="ＭＳ Ｐゴシック" charset="0"/>
                <a:cs typeface="ＭＳ Ｐゴシック" charset="0"/>
              </a:rPr>
              <a:t>a </a:t>
            </a:r>
            <a:r>
              <a:rPr lang="en-US" sz="2800" dirty="0">
                <a:latin typeface="Arial" charset="0"/>
                <a:ea typeface="ＭＳ Ｐゴシック" charset="0"/>
                <a:cs typeface="ＭＳ Ｐゴシック" charset="0"/>
              </a:rPr>
              <a:t>stronger basis of research regarding </a:t>
            </a:r>
            <a:r>
              <a:rPr lang="en-US" sz="2800" b="1" dirty="0" smtClean="0">
                <a:latin typeface="Arial" charset="0"/>
                <a:ea typeface="ＭＳ Ｐゴシック" charset="0"/>
                <a:cs typeface="ＭＳ Ｐゴシック" charset="0"/>
              </a:rPr>
              <a:t>effective practices </a:t>
            </a:r>
            <a:r>
              <a:rPr lang="en-US" sz="2800" dirty="0" smtClean="0">
                <a:latin typeface="Arial" charset="0"/>
                <a:ea typeface="ＭＳ Ｐゴシック" charset="0"/>
                <a:cs typeface="ＭＳ Ｐゴシック" charset="0"/>
              </a:rPr>
              <a:t>and </a:t>
            </a:r>
            <a:r>
              <a:rPr lang="en-US" sz="2800" b="1" dirty="0" smtClean="0">
                <a:latin typeface="Arial" charset="0"/>
                <a:ea typeface="ＭＳ Ｐゴシック" charset="0"/>
                <a:cs typeface="ＭＳ Ｐゴシック" charset="0"/>
              </a:rPr>
              <a:t>benchmarks</a:t>
            </a:r>
            <a:r>
              <a:rPr lang="en-US" sz="2800" dirty="0" smtClean="0">
                <a:latin typeface="Arial" charset="0"/>
                <a:ea typeface="ＭＳ Ｐゴシック" charset="0"/>
                <a:cs typeface="ＭＳ Ｐゴシック" charset="0"/>
              </a:rPr>
              <a:t>.</a:t>
            </a:r>
            <a:endParaRPr lang="en-US" sz="28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en-US" sz="2800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68613" name="Text Box 4"/>
          <p:cNvSpPr txBox="1">
            <a:spLocks noChangeArrowheads="1"/>
          </p:cNvSpPr>
          <p:nvPr/>
        </p:nvSpPr>
        <p:spPr bwMode="auto">
          <a:xfrm>
            <a:off x="533400" y="1905000"/>
            <a:ext cx="8001000" cy="553998"/>
          </a:xfrm>
          <a:prstGeom prst="rect">
            <a:avLst/>
          </a:prstGeom>
          <a:solidFill>
            <a:srgbClr val="FF0000"/>
          </a:solidFill>
          <a:ln w="31750" cmpd="thinThick">
            <a:solidFill>
              <a:schemeClr val="tx1"/>
            </a:solidFill>
            <a:miter lim="800000"/>
            <a:headEnd/>
            <a:tailEnd/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3000" i="1" dirty="0" smtClean="0">
                <a:solidFill>
                  <a:schemeClr val="bg1"/>
                </a:solidFill>
              </a:rPr>
              <a:t>Anecdotes and gut </a:t>
            </a:r>
            <a:r>
              <a:rPr lang="en-US" sz="3000" i="1" dirty="0">
                <a:solidFill>
                  <a:schemeClr val="bg1"/>
                </a:solidFill>
              </a:rPr>
              <a:t>instincts are not </a:t>
            </a:r>
            <a:r>
              <a:rPr lang="en-US" sz="3000" i="1" dirty="0" smtClean="0">
                <a:solidFill>
                  <a:schemeClr val="bg1"/>
                </a:solidFill>
              </a:rPr>
              <a:t>enough</a:t>
            </a:r>
            <a:endParaRPr lang="en-US" sz="3000" i="1" dirty="0"/>
          </a:p>
        </p:txBody>
      </p:sp>
      <p:pic>
        <p:nvPicPr>
          <p:cNvPr id="6861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381000"/>
            <a:ext cx="2070100" cy="1287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51534288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Text Box 2"/>
          <p:cNvSpPr txBox="1">
            <a:spLocks noChangeArrowheads="1"/>
          </p:cNvSpPr>
          <p:nvPr/>
        </p:nvSpPr>
        <p:spPr bwMode="auto">
          <a:xfrm>
            <a:off x="4724400" y="5181600"/>
            <a:ext cx="426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/>
              <a:t> </a:t>
            </a:r>
            <a:r>
              <a:rPr lang="en-US" sz="2800"/>
              <a:t>Peter Drucker</a:t>
            </a:r>
          </a:p>
        </p:txBody>
      </p:sp>
      <p:sp>
        <p:nvSpPr>
          <p:cNvPr id="243715" name="Rectangle 3"/>
          <p:cNvSpPr>
            <a:spLocks noChangeArrowheads="1"/>
          </p:cNvSpPr>
          <p:nvPr/>
        </p:nvSpPr>
        <p:spPr bwMode="auto">
          <a:xfrm>
            <a:off x="381000" y="533400"/>
            <a:ext cx="8229600" cy="4024313"/>
          </a:xfrm>
          <a:prstGeom prst="rect">
            <a:avLst/>
          </a:prstGeom>
          <a:solidFill>
            <a:srgbClr val="006699"/>
          </a:solidFill>
          <a:ln w="57150" cmpd="thinThick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ja-JP" altLang="en-US" sz="48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“</a:t>
            </a:r>
            <a:r>
              <a:rPr lang="en-US" sz="6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Culture</a:t>
            </a:r>
            <a:br>
              <a:rPr lang="en-US" sz="6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6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eats strategy</a:t>
            </a:r>
            <a:br>
              <a:rPr lang="en-US" sz="6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6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for breakfast.</a:t>
            </a:r>
            <a:r>
              <a:rPr lang="ja-JP" altLang="en-US" sz="6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”</a:t>
            </a:r>
            <a:endParaRPr lang="en-US" sz="480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>
              <a:lnSpc>
                <a:spcPct val="120000"/>
              </a:lnSpc>
              <a:defRPr/>
            </a:pPr>
            <a:endParaRPr lang="en-US" sz="320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89091" name="Picture 6" descr="druck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275" y="4267200"/>
            <a:ext cx="1568450" cy="175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8534400" cy="25146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To make Employment </a:t>
            </a:r>
            <a:r>
              <a:rPr lang="en-US" dirty="0"/>
              <a:t>F</a:t>
            </a:r>
            <a:r>
              <a:rPr lang="en-US" dirty="0" smtClean="0"/>
              <a:t>irst a reality requires a fundamental cultural change among: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2971800"/>
            <a:ext cx="8077200" cy="34290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Policymakers</a:t>
            </a:r>
          </a:p>
          <a:p>
            <a:pPr>
              <a:defRPr/>
            </a:pPr>
            <a:r>
              <a:rPr lang="en-US" dirty="0" smtClean="0"/>
              <a:t>Service systems &amp; funding </a:t>
            </a:r>
            <a:r>
              <a:rPr lang="en-US" dirty="0"/>
              <a:t>a</a:t>
            </a:r>
            <a:r>
              <a:rPr lang="en-US" dirty="0" smtClean="0"/>
              <a:t>gencies</a:t>
            </a:r>
          </a:p>
          <a:p>
            <a:pPr>
              <a:defRPr/>
            </a:pPr>
            <a:r>
              <a:rPr lang="en-US" dirty="0" smtClean="0"/>
              <a:t>Service providers &amp; staff</a:t>
            </a:r>
          </a:p>
          <a:p>
            <a:pPr>
              <a:defRPr/>
            </a:pPr>
            <a:r>
              <a:rPr lang="en-US" dirty="0" smtClean="0"/>
              <a:t>Employers and businesses</a:t>
            </a:r>
          </a:p>
          <a:p>
            <a:pPr>
              <a:defRPr/>
            </a:pPr>
            <a:r>
              <a:rPr lang="en-US" dirty="0" smtClean="0"/>
              <a:t>People with disabilities and families</a:t>
            </a:r>
          </a:p>
        </p:txBody>
      </p:sp>
    </p:spTree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 descr="MP900400459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79" b="10279"/>
          <a:stretch>
            <a:fillRect/>
          </a:stretch>
        </p:blipFill>
        <p:spPr>
          <a:xfrm>
            <a:off x="228600" y="3962400"/>
            <a:ext cx="3598863" cy="1905000"/>
          </a:xfrm>
        </p:spPr>
      </p:pic>
      <p:grpSp>
        <p:nvGrpSpPr>
          <p:cNvPr id="3" name="Group 2"/>
          <p:cNvGrpSpPr/>
          <p:nvPr/>
        </p:nvGrpSpPr>
        <p:grpSpPr>
          <a:xfrm>
            <a:off x="2590800" y="304800"/>
            <a:ext cx="2362200" cy="1889125"/>
            <a:chOff x="2590800" y="304800"/>
            <a:chExt cx="2362200" cy="1889125"/>
          </a:xfrm>
        </p:grpSpPr>
        <p:pic>
          <p:nvPicPr>
            <p:cNvPr id="91139" name="Picture 16" descr="Speech ballon pointing left.jpe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857" t="8505" r="11749" b="20776"/>
            <a:stretch>
              <a:fillRect/>
            </a:stretch>
          </p:blipFill>
          <p:spPr bwMode="auto">
            <a:xfrm>
              <a:off x="2590800" y="304800"/>
              <a:ext cx="2316163" cy="1889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1142" name="TextBox 11"/>
            <p:cNvSpPr txBox="1">
              <a:spLocks noChangeArrowheads="1"/>
            </p:cNvSpPr>
            <p:nvPr/>
          </p:nvSpPr>
          <p:spPr bwMode="auto">
            <a:xfrm>
              <a:off x="2667000" y="762000"/>
              <a:ext cx="2286000" cy="708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algn="ctr"/>
              <a:r>
                <a:rPr lang="en-US" sz="2000" dirty="0"/>
                <a:t>You’re better off</a:t>
              </a:r>
              <a:br>
                <a:rPr lang="en-US" sz="2000" dirty="0"/>
              </a:br>
              <a:r>
                <a:rPr lang="en-US" sz="2000" dirty="0"/>
                <a:t>not working. 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2362200" y="2362200"/>
            <a:ext cx="1892300" cy="1524000"/>
            <a:chOff x="2362200" y="2362200"/>
            <a:chExt cx="1892300" cy="1524000"/>
          </a:xfrm>
        </p:grpSpPr>
        <p:pic>
          <p:nvPicPr>
            <p:cNvPr id="91138" name="Picture 15" descr="Word Balloon left.WMF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62200" y="2362200"/>
              <a:ext cx="1892300" cy="152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1143" name="TextBox 12"/>
            <p:cNvSpPr txBox="1">
              <a:spLocks noChangeArrowheads="1"/>
            </p:cNvSpPr>
            <p:nvPr/>
          </p:nvSpPr>
          <p:spPr bwMode="auto">
            <a:xfrm>
              <a:off x="2514600" y="2514600"/>
              <a:ext cx="1676400" cy="708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algn="ctr"/>
              <a:r>
                <a:rPr lang="en-US" sz="2000" dirty="0">
                  <a:latin typeface="Palatino" charset="0"/>
                  <a:cs typeface="Palatino" charset="0"/>
                </a:rPr>
                <a:t>There are</a:t>
              </a:r>
              <a:br>
                <a:rPr lang="en-US" sz="2000" dirty="0">
                  <a:latin typeface="Palatino" charset="0"/>
                  <a:cs typeface="Palatino" charset="0"/>
                </a:rPr>
              </a:br>
              <a:r>
                <a:rPr lang="en-US" sz="2000" dirty="0">
                  <a:latin typeface="Palatino" charset="0"/>
                  <a:cs typeface="Palatino" charset="0"/>
                </a:rPr>
                <a:t>no jobs.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4191000" y="2057400"/>
            <a:ext cx="2286000" cy="1851025"/>
            <a:chOff x="4191000" y="2057400"/>
            <a:chExt cx="2286000" cy="1851025"/>
          </a:xfrm>
        </p:grpSpPr>
        <p:pic>
          <p:nvPicPr>
            <p:cNvPr id="91137" name="Picture 17" descr="Speech balloon pointing left 2.pn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91000" y="2057400"/>
              <a:ext cx="2286000" cy="1851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1144" name="TextBox 13"/>
            <p:cNvSpPr txBox="1">
              <a:spLocks noChangeArrowheads="1"/>
            </p:cNvSpPr>
            <p:nvPr/>
          </p:nvSpPr>
          <p:spPr bwMode="auto">
            <a:xfrm>
              <a:off x="4495800" y="2514600"/>
              <a:ext cx="1905000" cy="769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algn="ctr"/>
              <a:r>
                <a:rPr lang="en-US" sz="2000" dirty="0">
                  <a:latin typeface="Comic Sans MS" charset="0"/>
                  <a:cs typeface="Comic Sans MS" charset="0"/>
                </a:rPr>
                <a:t>You’re not job ready</a:t>
              </a:r>
              <a:r>
                <a:rPr lang="en-US" dirty="0">
                  <a:latin typeface="Comic Sans MS" charset="0"/>
                  <a:cs typeface="Comic Sans MS" charset="0"/>
                </a:rPr>
                <a:t>.</a:t>
              </a: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0" y="1524000"/>
            <a:ext cx="2355850" cy="1981200"/>
            <a:chOff x="0" y="1524000"/>
            <a:chExt cx="2355850" cy="1981200"/>
          </a:xfrm>
        </p:grpSpPr>
        <p:pic>
          <p:nvPicPr>
            <p:cNvPr id="91140" name="Picture 18" descr="Speech balloon pointing right.jpeg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524000"/>
              <a:ext cx="2355850" cy="1981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1145" name="TextBox 14"/>
            <p:cNvSpPr txBox="1">
              <a:spLocks noChangeArrowheads="1"/>
            </p:cNvSpPr>
            <p:nvPr/>
          </p:nvSpPr>
          <p:spPr bwMode="auto">
            <a:xfrm>
              <a:off x="304800" y="1828800"/>
              <a:ext cx="1905000" cy="101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algn="ctr"/>
              <a:r>
                <a:rPr lang="en-US" sz="2000" dirty="0">
                  <a:latin typeface="Big Caslon" charset="0"/>
                  <a:cs typeface="Big Caslon" charset="0"/>
                </a:rPr>
                <a:t>Social Security told me I can’t work.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3962400" y="3581400"/>
            <a:ext cx="2362200" cy="1851025"/>
            <a:chOff x="3962400" y="3581400"/>
            <a:chExt cx="2362200" cy="1851025"/>
          </a:xfrm>
        </p:grpSpPr>
        <p:pic>
          <p:nvPicPr>
            <p:cNvPr id="91146" name="Picture 21" descr="Speech balloon pointing left 2.pn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62400" y="3581400"/>
              <a:ext cx="2286000" cy="1851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1147" name="TextBox 10"/>
            <p:cNvSpPr txBox="1">
              <a:spLocks noChangeArrowheads="1"/>
            </p:cNvSpPr>
            <p:nvPr/>
          </p:nvSpPr>
          <p:spPr bwMode="auto">
            <a:xfrm>
              <a:off x="3962400" y="3810000"/>
              <a:ext cx="2362200" cy="101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algn="ctr"/>
              <a:r>
                <a:rPr lang="en-US" sz="2000" dirty="0">
                  <a:latin typeface="Cambria" charset="0"/>
                  <a:cs typeface="Cambria" charset="0"/>
                </a:rPr>
                <a:t>You’ll</a:t>
              </a:r>
              <a:br>
                <a:rPr lang="en-US" sz="2000" dirty="0">
                  <a:latin typeface="Cambria" charset="0"/>
                  <a:cs typeface="Cambria" charset="0"/>
                </a:rPr>
              </a:br>
              <a:r>
                <a:rPr lang="en-US" sz="2000" dirty="0">
                  <a:latin typeface="Cambria" charset="0"/>
                  <a:cs typeface="Cambria" charset="0"/>
                </a:rPr>
                <a:t>lose your health care!</a:t>
              </a:r>
            </a:p>
          </p:txBody>
        </p:sp>
      </p:grpSp>
      <p:pic>
        <p:nvPicPr>
          <p:cNvPr id="32780" name="Picture 23" descr="MP900446474-1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4343400"/>
            <a:ext cx="10160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6" name="Straight Connector 25"/>
          <p:cNvCxnSpPr/>
          <p:nvPr/>
        </p:nvCxnSpPr>
        <p:spPr bwMode="auto">
          <a:xfrm>
            <a:off x="6477000" y="304800"/>
            <a:ext cx="0" cy="640080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32782" name="TextBox 26"/>
          <p:cNvSpPr txBox="1">
            <a:spLocks noChangeArrowheads="1"/>
          </p:cNvSpPr>
          <p:nvPr/>
        </p:nvSpPr>
        <p:spPr bwMode="auto">
          <a:xfrm>
            <a:off x="6629400" y="2514600"/>
            <a:ext cx="22860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algn="ctr"/>
            <a:r>
              <a:rPr lang="en-US"/>
              <a:t>“I think you should go to work.”</a:t>
            </a:r>
          </a:p>
        </p:txBody>
      </p:sp>
    </p:spTree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0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82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458200" cy="838200"/>
          </a:xfrm>
          <a:effectLst>
            <a:glow rad="101600">
              <a:schemeClr val="accent2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39700" h="139700" prst="divot"/>
          </a:sp3d>
        </p:spPr>
        <p:txBody>
          <a:bodyPr/>
          <a:lstStyle/>
          <a:p>
            <a:r>
              <a:rPr lang="en-US" sz="3200" dirty="0" smtClean="0"/>
              <a:t>Examples of What A Real Culture Shift Means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24000"/>
            <a:ext cx="8458200" cy="4495800"/>
          </a:xfrm>
        </p:spPr>
        <p:txBody>
          <a:bodyPr/>
          <a:lstStyle/>
          <a:p>
            <a:pPr>
              <a:spcBef>
                <a:spcPts val="1176"/>
              </a:spcBef>
            </a:pPr>
            <a:r>
              <a:rPr lang="en-US" sz="2400" dirty="0" smtClean="0"/>
              <a:t>All people with disabilities are viewed as capable of being successfully employed and earning a competitive wage.</a:t>
            </a:r>
          </a:p>
          <a:p>
            <a:pPr>
              <a:spcBef>
                <a:spcPts val="1176"/>
              </a:spcBef>
            </a:pPr>
            <a:r>
              <a:rPr lang="en-US" sz="2400" dirty="0" smtClean="0"/>
              <a:t>No more asking </a:t>
            </a:r>
            <a:r>
              <a:rPr lang="en-US" sz="2400" b="1" i="1" dirty="0" smtClean="0"/>
              <a:t>“Do you want to work?” </a:t>
            </a:r>
            <a:r>
              <a:rPr lang="en-US" sz="2400" dirty="0" smtClean="0"/>
              <a:t>but instead </a:t>
            </a:r>
            <a:r>
              <a:rPr lang="en-US" sz="2400" b="1" i="1" dirty="0" smtClean="0"/>
              <a:t>“Where do you want to work?”.</a:t>
            </a:r>
          </a:p>
          <a:p>
            <a:pPr>
              <a:spcBef>
                <a:spcPts val="1176"/>
              </a:spcBef>
            </a:pPr>
            <a:r>
              <a:rPr lang="en-US" sz="2400" dirty="0" smtClean="0"/>
              <a:t>Choosing not to work is no longer considered okay.</a:t>
            </a:r>
          </a:p>
          <a:p>
            <a:pPr>
              <a:spcBef>
                <a:spcPts val="1176"/>
              </a:spcBef>
            </a:pPr>
            <a:r>
              <a:rPr lang="en-US" sz="2400" dirty="0" smtClean="0"/>
              <a:t>No more </a:t>
            </a:r>
            <a:r>
              <a:rPr lang="en-US" sz="2400" b="1" i="1" dirty="0" smtClean="0"/>
              <a:t>“preserve benefits at all costs” </a:t>
            </a:r>
            <a:r>
              <a:rPr lang="en-US" sz="2400" dirty="0" smtClean="0"/>
              <a:t>mentality.</a:t>
            </a:r>
          </a:p>
          <a:p>
            <a:pPr>
              <a:spcBef>
                <a:spcPts val="1176"/>
              </a:spcBef>
            </a:pPr>
            <a:r>
              <a:rPr lang="en-US" sz="2400" b="1" dirty="0" smtClean="0"/>
              <a:t>Services</a:t>
            </a:r>
            <a:r>
              <a:rPr lang="en-US" sz="2400" dirty="0" smtClean="0"/>
              <a:t>: not “caretaking”, but investment in people, empowering them and facilitating full community inclusion.</a:t>
            </a:r>
          </a:p>
          <a:p>
            <a:pPr>
              <a:spcBef>
                <a:spcPts val="1176"/>
              </a:spcBef>
            </a:pPr>
            <a:r>
              <a:rPr lang="en-US" sz="2400" dirty="0" smtClean="0"/>
              <a:t>People with disabilities </a:t>
            </a:r>
            <a:r>
              <a:rPr lang="en-US" sz="2400" b="1" dirty="0" smtClean="0"/>
              <a:t>working is the norm</a:t>
            </a:r>
            <a:r>
              <a:rPr lang="en-US" sz="2400" dirty="0" smtClean="0"/>
              <a:t>, not the exception. 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019388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33400"/>
            <a:ext cx="2667000" cy="2514600"/>
          </a:xfrm>
        </p:spPr>
        <p:txBody>
          <a:bodyPr/>
          <a:lstStyle/>
          <a:p>
            <a:r>
              <a:rPr lang="en-US" dirty="0" smtClean="0"/>
              <a:t>How a Culture Shift Happens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1400" y="304800"/>
            <a:ext cx="5257800" cy="5638800"/>
          </a:xfrm>
        </p:spPr>
        <p:txBody>
          <a:bodyPr/>
          <a:lstStyle/>
          <a:p>
            <a:r>
              <a:rPr lang="en-US" b="1" dirty="0" smtClean="0"/>
              <a:t>IT STARTS WITH US</a:t>
            </a:r>
          </a:p>
          <a:p>
            <a:r>
              <a:rPr lang="en-US" b="1" dirty="0" smtClean="0"/>
              <a:t>Peer-to-peer: </a:t>
            </a:r>
            <a:r>
              <a:rPr lang="en-US" dirty="0" smtClean="0"/>
              <a:t>individual to individual, family to family, business to business</a:t>
            </a:r>
          </a:p>
          <a:p>
            <a:r>
              <a:rPr lang="en-US" dirty="0" smtClean="0"/>
              <a:t>One individual, one family, one employer, one policymaker, one politician, one community member at a time</a:t>
            </a:r>
          </a:p>
          <a:p>
            <a:r>
              <a:rPr lang="en-US" b="1" dirty="0" smtClean="0"/>
              <a:t>Remember: </a:t>
            </a:r>
            <a:r>
              <a:rPr lang="en-US" dirty="0" smtClean="0"/>
              <a:t>Actions speak louder than words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629474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6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4191000"/>
            <a:ext cx="4572000" cy="1295400"/>
          </a:xfrm>
          <a:noFill/>
          <a:ln>
            <a:noFill/>
          </a:ln>
        </p:spPr>
        <p:txBody>
          <a:bodyPr lIns="90488" tIns="44450" rIns="90488" bIns="44450" anchor="b"/>
          <a:lstStyle/>
          <a:p>
            <a:pPr>
              <a:defRPr/>
            </a:pPr>
            <a:r>
              <a:rPr lang="en-US" sz="3200" dirty="0">
                <a:solidFill>
                  <a:schemeClr val="tx1"/>
                </a:solidFill>
                <a:latin typeface="Arial" charset="0"/>
              </a:rPr>
              <a:t>- Henry Ford</a:t>
            </a:r>
            <a:endParaRPr lang="en-US" sz="4800" dirty="0">
              <a:solidFill>
                <a:srgbClr val="99FFCC"/>
              </a:solidFill>
              <a:latin typeface="Arial" charset="0"/>
            </a:endParaRPr>
          </a:p>
        </p:txBody>
      </p:sp>
      <p:sp>
        <p:nvSpPr>
          <p:cNvPr id="143565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457200"/>
            <a:ext cx="8534400" cy="4267200"/>
          </a:xfrm>
        </p:spPr>
        <p:txBody>
          <a:bodyPr lIns="90488" tIns="44450" rIns="90488" bIns="44450"/>
          <a:lstStyle/>
          <a:p>
            <a:pPr marL="285750" indent="-285750" algn="ctr">
              <a:buFont typeface="Times" charset="0"/>
              <a:buNone/>
              <a:defRPr/>
            </a:pPr>
            <a:r>
              <a:rPr lang="ja-JP" altLang="en-US" sz="5400" b="1" dirty="0">
                <a:solidFill>
                  <a:srgbClr val="006699"/>
                </a:solidFill>
                <a:latin typeface="Arial" charset="0"/>
              </a:rPr>
              <a:t>“</a:t>
            </a:r>
            <a:r>
              <a:rPr lang="en-US" sz="5400" b="1" dirty="0">
                <a:solidFill>
                  <a:srgbClr val="006699"/>
                </a:solidFill>
                <a:latin typeface="Arial" charset="0"/>
              </a:rPr>
              <a:t>If I had asked people what they wanted</a:t>
            </a:r>
            <a:r>
              <a:rPr lang="en-US" sz="5400" b="1" dirty="0" smtClean="0">
                <a:solidFill>
                  <a:srgbClr val="006699"/>
                </a:solidFill>
                <a:latin typeface="Arial" charset="0"/>
              </a:rPr>
              <a:t>,</a:t>
            </a:r>
            <a:br>
              <a:rPr lang="en-US" sz="5400" b="1" dirty="0" smtClean="0">
                <a:solidFill>
                  <a:srgbClr val="006699"/>
                </a:solidFill>
                <a:latin typeface="Arial" charset="0"/>
              </a:rPr>
            </a:br>
            <a:r>
              <a:rPr lang="en-US" sz="5400" b="1" dirty="0" smtClean="0">
                <a:solidFill>
                  <a:srgbClr val="006699"/>
                </a:solidFill>
                <a:latin typeface="Arial" charset="0"/>
              </a:rPr>
              <a:t>they </a:t>
            </a:r>
            <a:r>
              <a:rPr lang="en-US" sz="5400" b="1" dirty="0">
                <a:solidFill>
                  <a:srgbClr val="006699"/>
                </a:solidFill>
                <a:latin typeface="Arial" charset="0"/>
              </a:rPr>
              <a:t>would have said</a:t>
            </a:r>
            <a:br>
              <a:rPr lang="en-US" sz="5400" b="1" dirty="0">
                <a:solidFill>
                  <a:srgbClr val="006699"/>
                </a:solidFill>
                <a:latin typeface="Arial" charset="0"/>
              </a:rPr>
            </a:br>
            <a:r>
              <a:rPr lang="en-US" sz="5400" b="1" dirty="0">
                <a:solidFill>
                  <a:srgbClr val="006699"/>
                </a:solidFill>
                <a:latin typeface="Arial" charset="0"/>
              </a:rPr>
              <a:t>a faster horse.</a:t>
            </a:r>
            <a:r>
              <a:rPr lang="ja-JP" altLang="en-US" sz="5400" b="1" dirty="0">
                <a:solidFill>
                  <a:srgbClr val="006699"/>
                </a:solidFill>
                <a:latin typeface="Arial" charset="0"/>
              </a:rPr>
              <a:t>”</a:t>
            </a:r>
            <a:endParaRPr lang="en-US" sz="5400" b="1" dirty="0">
              <a:solidFill>
                <a:srgbClr val="006699"/>
              </a:solidFill>
              <a:latin typeface="Arial" charset="0"/>
            </a:endParaRPr>
          </a:p>
        </p:txBody>
      </p:sp>
      <p:pic>
        <p:nvPicPr>
          <p:cNvPr id="106501" name="Picture 6" descr="henry-for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4114800"/>
            <a:ext cx="2030413" cy="203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609600"/>
            <a:ext cx="7924800" cy="2743200"/>
          </a:xfrm>
          <a:scene3d>
            <a:camera prst="orthographicFront"/>
            <a:lightRig rig="threePt" dir="t"/>
          </a:scene3d>
          <a:sp3d>
            <a:bevelT w="139700" h="139700" prst="divot"/>
          </a:sp3d>
        </p:spPr>
        <p:txBody>
          <a:bodyPr/>
          <a:lstStyle/>
          <a:p>
            <a:pPr>
              <a:defRPr/>
            </a:pPr>
            <a:r>
              <a:rPr lang="en-US" i="0" dirty="0">
                <a:latin typeface="+mn-lt"/>
              </a:rPr>
              <a:t>The answer is out there</a:t>
            </a:r>
            <a:r>
              <a:rPr lang="en-US" i="0" dirty="0" smtClean="0">
                <a:latin typeface="+mn-lt"/>
              </a:rPr>
              <a:t>,</a:t>
            </a:r>
            <a:br>
              <a:rPr lang="en-US" i="0" dirty="0" smtClean="0">
                <a:latin typeface="+mn-lt"/>
              </a:rPr>
            </a:br>
            <a:r>
              <a:rPr lang="en-US" i="0" dirty="0" smtClean="0">
                <a:latin typeface="+mn-lt"/>
              </a:rPr>
              <a:t>and </a:t>
            </a:r>
            <a:r>
              <a:rPr lang="en-US" i="0" dirty="0">
                <a:latin typeface="+mn-lt"/>
              </a:rPr>
              <a:t>it's looking for you</a:t>
            </a:r>
            <a:r>
              <a:rPr lang="en-US" i="0" dirty="0" smtClean="0">
                <a:latin typeface="+mn-lt"/>
              </a:rPr>
              <a:t>,</a:t>
            </a:r>
            <a:br>
              <a:rPr lang="en-US" i="0" dirty="0" smtClean="0">
                <a:latin typeface="+mn-lt"/>
              </a:rPr>
            </a:br>
            <a:r>
              <a:rPr lang="en-US" i="0" dirty="0" smtClean="0">
                <a:latin typeface="+mn-lt"/>
              </a:rPr>
              <a:t>and </a:t>
            </a:r>
            <a:r>
              <a:rPr lang="en-US" i="0" dirty="0">
                <a:latin typeface="+mn-lt"/>
              </a:rPr>
              <a:t>it will find </a:t>
            </a:r>
            <a:r>
              <a:rPr lang="en-US" i="0" dirty="0" smtClean="0">
                <a:latin typeface="+mn-lt"/>
              </a:rPr>
              <a:t>you</a:t>
            </a:r>
            <a:br>
              <a:rPr lang="en-US" i="0" dirty="0" smtClean="0">
                <a:latin typeface="+mn-lt"/>
              </a:rPr>
            </a:br>
            <a:r>
              <a:rPr lang="en-US" i="0" dirty="0" smtClean="0">
                <a:latin typeface="+mn-lt"/>
              </a:rPr>
              <a:t>if </a:t>
            </a:r>
            <a:r>
              <a:rPr lang="en-US" i="0" dirty="0">
                <a:latin typeface="+mn-lt"/>
              </a:rPr>
              <a:t>you want it to. </a:t>
            </a:r>
          </a:p>
        </p:txBody>
      </p:sp>
      <p:pic>
        <p:nvPicPr>
          <p:cNvPr id="5" name="Content Placeholder 4" descr="MV5BMjEzNjg1NTg2NV5BMl5BanBnXkFtZTYwNjY3MzQ5._V1._SY317_CR6,0,214,317_.jpg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09" b="21246"/>
          <a:stretch/>
        </p:blipFill>
        <p:spPr>
          <a:xfrm>
            <a:off x="6324600" y="3733800"/>
            <a:ext cx="2141538" cy="2243138"/>
          </a:xfrm>
        </p:spPr>
      </p:pic>
    </p:spTree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457200"/>
            <a:ext cx="8610600" cy="3733800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sz="4400" dirty="0" smtClean="0">
                <a:latin typeface="+mn-lt"/>
              </a:rPr>
              <a:t>“</a:t>
            </a:r>
            <a:r>
              <a:rPr lang="en-US" sz="4400" dirty="0">
                <a:latin typeface="+mn-lt"/>
              </a:rPr>
              <a:t>Those who say it can't be done should get out of the way of those who are doing it.</a:t>
            </a:r>
            <a:r>
              <a:rPr lang="en-US" sz="4400" dirty="0" smtClean="0">
                <a:latin typeface="+mn-lt"/>
              </a:rPr>
              <a:t>”</a:t>
            </a:r>
            <a:endParaRPr lang="en-US" sz="4400" dirty="0">
              <a:latin typeface="+mn-lt"/>
            </a:endParaRPr>
          </a:p>
        </p:txBody>
      </p:sp>
    </p:spTree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626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609600"/>
            <a:ext cx="7239000" cy="3657600"/>
          </a:xfrm>
          <a:solidFill>
            <a:srgbClr val="000090"/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lIns="90488" tIns="44450" rIns="90488" bIns="44450"/>
          <a:lstStyle/>
          <a:p>
            <a:pPr marL="285750" indent="-285750" algn="ctr">
              <a:lnSpc>
                <a:spcPct val="105000"/>
              </a:lnSpc>
              <a:buFont typeface="Times" charset="0"/>
              <a:buNone/>
            </a:pPr>
            <a:r>
              <a:rPr lang="ja-JP" altLang="en-US" sz="4000" dirty="0">
                <a:solidFill>
                  <a:schemeClr val="accent3"/>
                </a:solidFill>
                <a:latin typeface="Century Gothic" charset="0"/>
              </a:rPr>
              <a:t>“</a:t>
            </a:r>
            <a:r>
              <a:rPr lang="en-US" sz="4000" dirty="0">
                <a:solidFill>
                  <a:schemeClr val="accent3"/>
                </a:solidFill>
                <a:latin typeface="Century Gothic" charset="0"/>
              </a:rPr>
              <a:t>It is nearly impossible to make your own future,</a:t>
            </a:r>
            <a:br>
              <a:rPr lang="en-US" sz="4000" dirty="0">
                <a:solidFill>
                  <a:schemeClr val="accent3"/>
                </a:solidFill>
                <a:latin typeface="Century Gothic" charset="0"/>
              </a:rPr>
            </a:br>
            <a:r>
              <a:rPr lang="en-US" sz="4000" dirty="0">
                <a:solidFill>
                  <a:schemeClr val="accent3"/>
                </a:solidFill>
                <a:latin typeface="Century Gothic" charset="0"/>
              </a:rPr>
              <a:t>when you are not part of the economic fabric</a:t>
            </a:r>
            <a:br>
              <a:rPr lang="en-US" sz="4000" dirty="0">
                <a:solidFill>
                  <a:schemeClr val="accent3"/>
                </a:solidFill>
                <a:latin typeface="Century Gothic" charset="0"/>
              </a:rPr>
            </a:br>
            <a:r>
              <a:rPr lang="en-US" sz="4000" dirty="0">
                <a:solidFill>
                  <a:schemeClr val="accent3"/>
                </a:solidFill>
                <a:latin typeface="Century Gothic" charset="0"/>
              </a:rPr>
              <a:t>of the culture you live in.</a:t>
            </a:r>
            <a:r>
              <a:rPr lang="ja-JP" altLang="en-US" sz="4000" dirty="0">
                <a:solidFill>
                  <a:schemeClr val="accent3"/>
                </a:solidFill>
                <a:latin typeface="Century Gothic" charset="0"/>
              </a:rPr>
              <a:t>”</a:t>
            </a:r>
            <a:endParaRPr lang="en-US" sz="4000" dirty="0">
              <a:solidFill>
                <a:schemeClr val="accent3"/>
              </a:solidFill>
              <a:latin typeface="Century Gothic" charset="0"/>
            </a:endParaRPr>
          </a:p>
          <a:p>
            <a:pPr marL="285750" indent="-285750" algn="ctr">
              <a:lnSpc>
                <a:spcPct val="80000"/>
              </a:lnSpc>
              <a:buFont typeface="Times" charset="0"/>
              <a:buNone/>
            </a:pPr>
            <a:endParaRPr lang="en-US" sz="3600" dirty="0">
              <a:effectLst>
                <a:outerShdw blurRad="38100" dist="38100" dir="2700000" algn="tl">
                  <a:srgbClr val="DDDDDD"/>
                </a:outerShdw>
              </a:effectLst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886200" y="4953000"/>
            <a:ext cx="3429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-</a:t>
            </a:r>
            <a:r>
              <a:rPr lang="en-US" dirty="0" smtClean="0"/>
              <a:t> </a:t>
            </a:r>
            <a:r>
              <a:rPr lang="en-US" i="1" dirty="0" smtClean="0"/>
              <a:t>Patricia </a:t>
            </a:r>
            <a:r>
              <a:rPr lang="en-US" i="1" dirty="0" err="1" smtClean="0"/>
              <a:t>Deegan</a:t>
            </a:r>
            <a:endParaRPr lang="en-US" i="1" dirty="0"/>
          </a:p>
        </p:txBody>
      </p:sp>
      <p:pic>
        <p:nvPicPr>
          <p:cNvPr id="3" name="Picture 2" descr="pat_deegan_smile-200x200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00" y="4495800"/>
            <a:ext cx="1778000" cy="177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658024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685800"/>
            <a:ext cx="7924800" cy="5029200"/>
          </a:xfrm>
          <a:solidFill>
            <a:srgbClr val="003366"/>
          </a:solidFill>
        </p:spPr>
        <p:txBody>
          <a:bodyPr/>
          <a:lstStyle/>
          <a:p>
            <a:pPr>
              <a:lnSpc>
                <a:spcPct val="130000"/>
              </a:lnSpc>
              <a:defRPr/>
            </a:pPr>
            <a:r>
              <a:rPr lang="ja-JP" altLang="en-US" b="0" dirty="0">
                <a:latin typeface="Geneva" charset="0"/>
              </a:rPr>
              <a:t>“</a:t>
            </a:r>
            <a:r>
              <a:rPr lang="en-US" b="0" dirty="0">
                <a:latin typeface="Geneva" charset="0"/>
              </a:rPr>
              <a:t> A ship in harbor is safe ---</a:t>
            </a:r>
            <a:br>
              <a:rPr lang="en-US" b="0" dirty="0">
                <a:latin typeface="Geneva" charset="0"/>
              </a:rPr>
            </a:br>
            <a:r>
              <a:rPr lang="en-US" b="0" dirty="0">
                <a:latin typeface="Geneva" charset="0"/>
              </a:rPr>
              <a:t>but that is not</a:t>
            </a:r>
            <a:br>
              <a:rPr lang="en-US" b="0" dirty="0">
                <a:latin typeface="Geneva" charset="0"/>
              </a:rPr>
            </a:br>
            <a:r>
              <a:rPr lang="en-US" b="0" dirty="0">
                <a:latin typeface="Geneva" charset="0"/>
              </a:rPr>
              <a:t>what ships are built for. </a:t>
            </a:r>
            <a:r>
              <a:rPr lang="ja-JP" altLang="en-US" b="0" dirty="0">
                <a:latin typeface="Geneva" charset="0"/>
              </a:rPr>
              <a:t>”</a:t>
            </a:r>
            <a:endParaRPr lang="en-US" dirty="0"/>
          </a:p>
        </p:txBody>
      </p:sp>
      <p:sp>
        <p:nvSpPr>
          <p:cNvPr id="2652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124200" y="4800600"/>
            <a:ext cx="3276600" cy="609600"/>
          </a:xfrm>
        </p:spPr>
        <p:txBody>
          <a:bodyPr/>
          <a:lstStyle/>
          <a:p>
            <a:pPr>
              <a:defRPr/>
            </a:pPr>
            <a:r>
              <a:rPr lang="en-US" i="1">
                <a:solidFill>
                  <a:srgbClr val="FFFF00"/>
                </a:solidFill>
                <a:latin typeface="Times New Roman" charset="0"/>
              </a:rPr>
              <a:t>John A. Shedd</a:t>
            </a:r>
          </a:p>
        </p:txBody>
      </p:sp>
      <p:pic>
        <p:nvPicPr>
          <p:cNvPr id="11366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4343400"/>
            <a:ext cx="1246188" cy="127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33400" y="990600"/>
            <a:ext cx="7924800" cy="2590800"/>
          </a:xfrm>
        </p:spPr>
        <p:txBody>
          <a:bodyPr/>
          <a:lstStyle/>
          <a:p>
            <a:pPr>
              <a:lnSpc>
                <a:spcPct val="120000"/>
              </a:lnSpc>
              <a:defRPr/>
            </a:pPr>
            <a:r>
              <a:rPr lang="ja-JP" altLang="en-US" sz="4400" dirty="0" smtClean="0">
                <a:latin typeface="Tahoma"/>
              </a:rPr>
              <a:t>“</a:t>
            </a:r>
            <a:r>
              <a:rPr lang="en-US" altLang="ja-JP" sz="4400" dirty="0" smtClean="0">
                <a:latin typeface="Tahoma"/>
              </a:rPr>
              <a:t> </a:t>
            </a:r>
            <a:r>
              <a:rPr lang="en-US" sz="4400" dirty="0" smtClean="0"/>
              <a:t>The </a:t>
            </a:r>
            <a:r>
              <a:rPr lang="en-US" sz="4400" dirty="0"/>
              <a:t>bottom line of</a:t>
            </a:r>
            <a:br>
              <a:rPr lang="en-US" sz="4400" dirty="0"/>
            </a:br>
            <a:r>
              <a:rPr lang="en-US" sz="4400" dirty="0"/>
              <a:t>the social sector is</a:t>
            </a:r>
            <a:br>
              <a:rPr lang="en-US" sz="4400" dirty="0"/>
            </a:br>
            <a:r>
              <a:rPr lang="en-US" sz="4400" dirty="0"/>
              <a:t>changed lives</a:t>
            </a:r>
            <a:r>
              <a:rPr lang="ja-JP" altLang="en-US" sz="4400" dirty="0">
                <a:latin typeface="Tahoma"/>
              </a:rPr>
              <a:t>”</a:t>
            </a:r>
            <a:r>
              <a:rPr lang="en-US" sz="4400" dirty="0"/>
              <a:t>. 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09800" y="4191000"/>
            <a:ext cx="6400800" cy="1752600"/>
          </a:xfrm>
        </p:spPr>
        <p:txBody>
          <a:bodyPr/>
          <a:lstStyle/>
          <a:p>
            <a:pPr algn="r">
              <a:defRPr/>
            </a:pPr>
            <a:r>
              <a:rPr lang="en-US" i="1"/>
              <a:t>- Peter Drucker</a:t>
            </a:r>
          </a:p>
        </p:txBody>
      </p:sp>
      <p:pic>
        <p:nvPicPr>
          <p:cNvPr id="119813" name="Picture 4" descr="peterdrucker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3962400"/>
            <a:ext cx="1981200" cy="166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217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066800"/>
            <a:ext cx="5486400" cy="484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1" name="Text Box 7"/>
          <p:cNvSpPr txBox="1">
            <a:spLocks noChangeArrowheads="1"/>
          </p:cNvSpPr>
          <p:nvPr/>
        </p:nvSpPr>
        <p:spPr bwMode="auto">
          <a:xfrm>
            <a:off x="3886200" y="2514600"/>
            <a:ext cx="25304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algn="ctr"/>
            <a:r>
              <a:rPr lang="en-US" sz="3600" b="1">
                <a:latin typeface="Chalkboard Bold" charset="0"/>
              </a:rPr>
              <a:t>Thanks!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48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/>
    </p:bldLst>
  </p:timing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Osaka"/>
        <a:cs typeface="Osaka"/>
      </a:majorFont>
      <a:minorFont>
        <a:latin typeface="Arial"/>
        <a:ea typeface="Osaka"/>
        <a:cs typeface="Osak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  <a:cs typeface="Genev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  <a:cs typeface="Geneva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Osaka"/>
        <a:cs typeface="Osaka"/>
      </a:majorFont>
      <a:minorFont>
        <a:latin typeface="Arial"/>
        <a:ea typeface="Osaka"/>
        <a:cs typeface="Osak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  <a:cs typeface="Genev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  <a:cs typeface="Geneva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Austin.thmx</Template>
  <TotalTime>6625</TotalTime>
  <Words>2055</Words>
  <Application>Microsoft Macintosh PowerPoint</Application>
  <PresentationFormat>On-screen Show (4:3)</PresentationFormat>
  <Paragraphs>352</Paragraphs>
  <Slides>74</Slides>
  <Notes>16</Notes>
  <HiddenSlides>0</HiddenSlides>
  <MMClips>0</MMClips>
  <ScaleCrop>false</ScaleCrop>
  <HeadingPairs>
    <vt:vector size="6" baseType="variant"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78" baseType="lpstr">
      <vt:lpstr>Blank Presentation</vt:lpstr>
      <vt:lpstr>1_Blank Presentation</vt:lpstr>
      <vt:lpstr>1_Office Theme</vt:lpstr>
      <vt:lpstr>Chart</vt:lpstr>
      <vt:lpstr>PowerPoint Presentation</vt:lpstr>
      <vt:lpstr>Contact Information</vt:lpstr>
      <vt:lpstr>It’s A Time of Enormous Opportunity</vt:lpstr>
      <vt:lpstr>Employment First – the concept that employment should be the first and primary service option for people with disabilities - continues to grow.</vt:lpstr>
      <vt:lpstr>National Governor’s Association Initiative</vt:lpstr>
      <vt:lpstr>Senate HELP Committee Report</vt:lpstr>
      <vt:lpstr>CMS Bulletin</vt:lpstr>
      <vt:lpstr>Federal Hiring</vt:lpstr>
      <vt:lpstr>Expanded Health Care Options under the Affordable Care Act</vt:lpstr>
      <vt:lpstr>National Council on Disability Report</vt:lpstr>
      <vt:lpstr>Oregon Lawsuit</vt:lpstr>
      <vt:lpstr>PowerPoint Presentation</vt:lpstr>
      <vt:lpstr>PowerPoint Presentation</vt:lpstr>
      <vt:lpstr>Employment First: What It Is and What It Isn’t</vt:lpstr>
      <vt:lpstr>PowerPoint Presentation</vt:lpstr>
      <vt:lpstr>Successful Employment Under Employment First</vt:lpstr>
      <vt:lpstr>“Any darn fool can make something complicated; it takes genius to achieve simplicity.” </vt:lpstr>
      <vt:lpstr>The Magic Formula</vt:lpstr>
      <vt:lpstr>What Employers are Saying</vt:lpstr>
      <vt:lpstr>Business View of Service Providers    Kessler Foundation/National Organization on Disability Survey  - 2010</vt:lpstr>
      <vt:lpstr>Quality of Job Candidates</vt:lpstr>
      <vt:lpstr>PowerPoint Presentation</vt:lpstr>
      <vt:lpstr>PowerPoint Presentation</vt:lpstr>
      <vt:lpstr>Top 10 Biggest Job Development Mistakes</vt:lpstr>
      <vt:lpstr>Top 10 Job Development Mistakes</vt:lpstr>
      <vt:lpstr>Why is it that everything we know about a good job search for people without disabilities, we too often forget when it comes to a job seeker with a disability?</vt:lpstr>
      <vt:lpstr>Do you know?</vt:lpstr>
      <vt:lpstr>Expanding the Labor Market</vt:lpstr>
      <vt:lpstr>Labor Market Information shouldn’t drive the employment process.  But it should be part of the process.</vt:lpstr>
      <vt:lpstr>Employers with previous experience with workers with disabilities have favorable perceptions and are more likely to hire.</vt:lpstr>
      <vt:lpstr>More Networking</vt:lpstr>
      <vt:lpstr>What Job Development Is Not</vt:lpstr>
      <vt:lpstr>John Wooden</vt:lpstr>
      <vt:lpstr>“You can teach a turkey to climb a tree,  but it’s easier to hire a squirrel.”</vt:lpstr>
      <vt:lpstr>Avoid the employment readiness myth</vt:lpstr>
      <vt:lpstr>Have you ever worked with anyone who…</vt:lpstr>
      <vt:lpstr>Have you ever worked with anyone who…</vt:lpstr>
      <vt:lpstr>PowerPoint Presentation</vt:lpstr>
      <vt:lpstr>PowerPoint Presentation</vt:lpstr>
      <vt:lpstr>PowerPoint Presentation</vt:lpstr>
      <vt:lpstr>Job Development Time is Precious</vt:lpstr>
      <vt:lpstr>PowerPoint Presentation</vt:lpstr>
      <vt:lpstr>“We’re Far Too Patient With The Passage Of Time For People With Disabilities. . .  Time Is As Precious For A Person With A Disability As It Is For All Of Us.”  </vt:lpstr>
      <vt:lpstr>PowerPoint Presentation</vt:lpstr>
      <vt:lpstr>What will be the best route to employment success?</vt:lpstr>
      <vt:lpstr>Using Resources Well</vt:lpstr>
      <vt:lpstr>PowerPoint Presentation</vt:lpstr>
      <vt:lpstr>PowerPoint Presentation</vt:lpstr>
      <vt:lpstr>Why Employment First is Important</vt:lpstr>
      <vt:lpstr>- George Santayana</vt:lpstr>
      <vt:lpstr>PowerPoint Presentation</vt:lpstr>
      <vt:lpstr>SELN: What We’ve Learned</vt:lpstr>
      <vt:lpstr>Turning Employment First Into Reality:   Polices &amp; Practices that Presume Employability</vt:lpstr>
      <vt:lpstr>Ohio Employment First Form</vt:lpstr>
      <vt:lpstr>Employment First &amp; Transition Policies</vt:lpstr>
      <vt:lpstr>Employment First &amp; Transition Practices</vt:lpstr>
      <vt:lpstr>Employment First: Contracting &amp; Program Monitoring</vt:lpstr>
      <vt:lpstr>“When somebody say it’s not about the money, it’s about the money.”</vt:lpstr>
      <vt:lpstr>- Pay for what you want. - Don’t pay for what you   don’t want.</vt:lpstr>
      <vt:lpstr>PowerPoint Presentation</vt:lpstr>
      <vt:lpstr>Making System Accountable</vt:lpstr>
      <vt:lpstr>A Challenge to Our Field</vt:lpstr>
      <vt:lpstr>PowerPoint Presentation</vt:lpstr>
      <vt:lpstr>To make Employment First a reality requires a fundamental cultural change among:</vt:lpstr>
      <vt:lpstr>PowerPoint Presentation</vt:lpstr>
      <vt:lpstr>Examples of What A Real Culture Shift Means</vt:lpstr>
      <vt:lpstr>How a Culture Shift Happens</vt:lpstr>
      <vt:lpstr>- Henry Ford</vt:lpstr>
      <vt:lpstr>The answer is out there, and it's looking for you, and it will find you if you want it to. </vt:lpstr>
      <vt:lpstr>“Those who say it can't be done should get out of the way of those who are doing it.”</vt:lpstr>
      <vt:lpstr>PowerPoint Presentation</vt:lpstr>
      <vt:lpstr>“ A ship in harbor is safe --- but that is not what ships are built for. ”</vt:lpstr>
      <vt:lpstr>“ The bottom line of the social sector is changed lives”. </vt:lpstr>
      <vt:lpstr>PowerPoint Presentation</vt:lpstr>
    </vt:vector>
  </TitlesOfParts>
  <Company>UMass Boston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ICI</dc:creator>
  <cp:lastModifiedBy>David  Hoff</cp:lastModifiedBy>
  <cp:revision>648</cp:revision>
  <cp:lastPrinted>2012-04-30T01:00:45Z</cp:lastPrinted>
  <dcterms:created xsi:type="dcterms:W3CDTF">2006-09-27T14:52:23Z</dcterms:created>
  <dcterms:modified xsi:type="dcterms:W3CDTF">2013-05-28T14:39:37Z</dcterms:modified>
</cp:coreProperties>
</file>