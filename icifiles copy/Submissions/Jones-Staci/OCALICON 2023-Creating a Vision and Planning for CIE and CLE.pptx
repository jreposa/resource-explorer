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99" r:id="rId4"/>
    <p:sldMasterId id="2147483744" r:id="rId5"/>
    <p:sldMasterId id="2147483732" r:id="rId6"/>
    <p:sldMasterId id="2147483648" r:id="rId7"/>
  </p:sldMasterIdLst>
  <p:notesMasterIdLst>
    <p:notesMasterId r:id="rId30"/>
  </p:notesMasterIdLst>
  <p:handoutMasterIdLst>
    <p:handoutMasterId r:id="rId31"/>
  </p:handoutMasterIdLst>
  <p:sldIdLst>
    <p:sldId id="388" r:id="rId8"/>
    <p:sldId id="389" r:id="rId9"/>
    <p:sldId id="1328" r:id="rId10"/>
    <p:sldId id="367" r:id="rId11"/>
    <p:sldId id="390" r:id="rId12"/>
    <p:sldId id="1326" r:id="rId13"/>
    <p:sldId id="394" r:id="rId14"/>
    <p:sldId id="392" r:id="rId15"/>
    <p:sldId id="1315" r:id="rId16"/>
    <p:sldId id="1314" r:id="rId17"/>
    <p:sldId id="1316" r:id="rId18"/>
    <p:sldId id="1317" r:id="rId19"/>
    <p:sldId id="1318" r:id="rId20"/>
    <p:sldId id="1319" r:id="rId21"/>
    <p:sldId id="1320" r:id="rId22"/>
    <p:sldId id="1321" r:id="rId23"/>
    <p:sldId id="1322" r:id="rId24"/>
    <p:sldId id="1323" r:id="rId25"/>
    <p:sldId id="1324" r:id="rId26"/>
    <p:sldId id="1325" r:id="rId27"/>
    <p:sldId id="1327" r:id="rId28"/>
    <p:sldId id="1300" r:id="rId2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9732"/>
    <a:srgbClr val="146A89"/>
    <a:srgbClr val="377998"/>
    <a:srgbClr val="006699"/>
    <a:srgbClr val="0077AF"/>
    <a:srgbClr val="F16726"/>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4C5A32-759F-474E-9CE8-DAD95F52B439}" v="119" dt="2023-11-15T12:47:44.216"/>
    <p1510:client id="{BDAE95FB-26AF-422A-91DC-0F8188460058}" v="1" dt="2023-11-15T18:52:45.5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1269" autoAdjust="0"/>
  </p:normalViewPr>
  <p:slideViewPr>
    <p:cSldViewPr snapToGrid="0">
      <p:cViewPr varScale="1">
        <p:scale>
          <a:sx n="37" d="100"/>
          <a:sy n="37" d="100"/>
        </p:scale>
        <p:origin x="2048" y="4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ci Jones" userId="8493031c-935c-4567-bcd9-185995e08a61" providerId="ADAL" clId="{BDAE95FB-26AF-422A-91DC-0F8188460058}"/>
    <pc:docChg chg="custSel modSld">
      <pc:chgData name="Staci Jones" userId="8493031c-935c-4567-bcd9-185995e08a61" providerId="ADAL" clId="{BDAE95FB-26AF-422A-91DC-0F8188460058}" dt="2023-11-15T19:10:38.105" v="1615" actId="20577"/>
      <pc:docMkLst>
        <pc:docMk/>
      </pc:docMkLst>
      <pc:sldChg chg="modSp modNotesTx">
        <pc:chgData name="Staci Jones" userId="8493031c-935c-4567-bcd9-185995e08a61" providerId="ADAL" clId="{BDAE95FB-26AF-422A-91DC-0F8188460058}" dt="2023-11-15T18:53:51.329" v="1005" actId="20577"/>
        <pc:sldMkLst>
          <pc:docMk/>
          <pc:sldMk cId="3717612081" sldId="367"/>
        </pc:sldMkLst>
        <pc:picChg chg="mod">
          <ac:chgData name="Staci Jones" userId="8493031c-935c-4567-bcd9-185995e08a61" providerId="ADAL" clId="{BDAE95FB-26AF-422A-91DC-0F8188460058}" dt="2023-11-15T18:52:45.547" v="855" actId="1076"/>
          <ac:picMkLst>
            <pc:docMk/>
            <pc:sldMk cId="3717612081" sldId="367"/>
            <ac:picMk id="1026" creationId="{2DAFB103-E694-4A31-3E75-52356939C593}"/>
          </ac:picMkLst>
        </pc:picChg>
      </pc:sldChg>
      <pc:sldChg chg="modNotesTx">
        <pc:chgData name="Staci Jones" userId="8493031c-935c-4567-bcd9-185995e08a61" providerId="ADAL" clId="{BDAE95FB-26AF-422A-91DC-0F8188460058}" dt="2023-11-15T17:43:46.366" v="845" actId="6549"/>
        <pc:sldMkLst>
          <pc:docMk/>
          <pc:sldMk cId="2679728923" sldId="388"/>
        </pc:sldMkLst>
      </pc:sldChg>
      <pc:sldChg chg="modNotesTx">
        <pc:chgData name="Staci Jones" userId="8493031c-935c-4567-bcd9-185995e08a61" providerId="ADAL" clId="{BDAE95FB-26AF-422A-91DC-0F8188460058}" dt="2023-11-15T19:10:38.105" v="1615" actId="20577"/>
        <pc:sldMkLst>
          <pc:docMk/>
          <pc:sldMk cId="3445912348" sldId="389"/>
        </pc:sldMkLst>
      </pc:sldChg>
      <pc:sldChg chg="modNotesTx">
        <pc:chgData name="Staci Jones" userId="8493031c-935c-4567-bcd9-185995e08a61" providerId="ADAL" clId="{BDAE95FB-26AF-422A-91DC-0F8188460058}" dt="2023-11-15T18:56:48.173" v="1164" actId="313"/>
        <pc:sldMkLst>
          <pc:docMk/>
          <pc:sldMk cId="385805554" sldId="390"/>
        </pc:sldMkLst>
      </pc:sldChg>
      <pc:sldChg chg="modNotesTx">
        <pc:chgData name="Staci Jones" userId="8493031c-935c-4567-bcd9-185995e08a61" providerId="ADAL" clId="{BDAE95FB-26AF-422A-91DC-0F8188460058}" dt="2023-11-15T19:03:03.662" v="1403" actId="20577"/>
        <pc:sldMkLst>
          <pc:docMk/>
          <pc:sldMk cId="3833611793" sldId="394"/>
        </pc:sldMkLst>
      </pc:sldChg>
      <pc:sldChg chg="modNotesTx">
        <pc:chgData name="Staci Jones" userId="8493031c-935c-4567-bcd9-185995e08a61" providerId="ADAL" clId="{BDAE95FB-26AF-422A-91DC-0F8188460058}" dt="2023-11-15T17:42:29.430" v="606" actId="20577"/>
        <pc:sldMkLst>
          <pc:docMk/>
          <pc:sldMk cId="976214676" sldId="1300"/>
        </pc:sldMkLst>
      </pc:sldChg>
      <pc:sldChg chg="modNotesTx">
        <pc:chgData name="Staci Jones" userId="8493031c-935c-4567-bcd9-185995e08a61" providerId="ADAL" clId="{BDAE95FB-26AF-422A-91DC-0F8188460058}" dt="2023-11-15T19:00:49.473" v="1382" actId="20577"/>
        <pc:sldMkLst>
          <pc:docMk/>
          <pc:sldMk cId="4030066485" sldId="1326"/>
        </pc:sldMkLst>
      </pc:sldChg>
      <pc:sldChg chg="modNotesTx">
        <pc:chgData name="Staci Jones" userId="8493031c-935c-4567-bcd9-185995e08a61" providerId="ADAL" clId="{BDAE95FB-26AF-422A-91DC-0F8188460058}" dt="2023-11-15T17:42:59.243" v="735" actId="20577"/>
        <pc:sldMkLst>
          <pc:docMk/>
          <pc:sldMk cId="3982247776" sldId="132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CBE102-CCA2-41C3-9B36-9F6C8A9659F0}" type="doc">
      <dgm:prSet loTypeId="urn:microsoft.com/office/officeart/2016/7/layout/BasicLinearProcessNumbered" loCatId="process" qsTypeId="urn:microsoft.com/office/officeart/2005/8/quickstyle/simple2" qsCatId="simple" csTypeId="urn:microsoft.com/office/officeart/2005/8/colors/colorful4" csCatId="colorful" phldr="1"/>
      <dgm:spPr/>
      <dgm:t>
        <a:bodyPr/>
        <a:lstStyle/>
        <a:p>
          <a:endParaRPr lang="en-US"/>
        </a:p>
      </dgm:t>
    </dgm:pt>
    <dgm:pt modelId="{61CF3C9D-9727-4B9E-A6DB-22D3034E45CE}">
      <dgm:prSet/>
      <dgm:spPr/>
      <dgm:t>
        <a:bodyPr/>
        <a:lstStyle/>
        <a:p>
          <a:r>
            <a:rPr lang="en-US"/>
            <a:t>Individualize supports for each person</a:t>
          </a:r>
        </a:p>
      </dgm:t>
    </dgm:pt>
    <dgm:pt modelId="{70012E43-5409-4090-BFBC-1A4B7A008E31}" type="parTrans" cxnId="{B7C8F5EA-BBF7-45EC-8529-0FF95655EA72}">
      <dgm:prSet/>
      <dgm:spPr/>
      <dgm:t>
        <a:bodyPr/>
        <a:lstStyle/>
        <a:p>
          <a:endParaRPr lang="en-US"/>
        </a:p>
      </dgm:t>
    </dgm:pt>
    <dgm:pt modelId="{A2CC2C54-A6E0-49C1-B039-C019C5BE762C}" type="sibTrans" cxnId="{B7C8F5EA-BBF7-45EC-8529-0FF95655EA72}">
      <dgm:prSet phldrT="1" phldr="0"/>
      <dgm:spPr/>
      <dgm:t>
        <a:bodyPr/>
        <a:lstStyle/>
        <a:p>
          <a:r>
            <a:rPr lang="en-US"/>
            <a:t>1</a:t>
          </a:r>
        </a:p>
      </dgm:t>
    </dgm:pt>
    <dgm:pt modelId="{5647E94E-9161-4B26-AE62-CE10322E367E}">
      <dgm:prSet/>
      <dgm:spPr/>
      <dgm:t>
        <a:bodyPr/>
        <a:lstStyle/>
        <a:p>
          <a:r>
            <a:rPr lang="en-US"/>
            <a:t>Promote community membership and contribution</a:t>
          </a:r>
        </a:p>
      </dgm:t>
    </dgm:pt>
    <dgm:pt modelId="{A1D0B72B-093C-440E-B626-85FE65862325}" type="parTrans" cxnId="{6EE43384-83C5-4EA1-A385-1AB8F241C89F}">
      <dgm:prSet/>
      <dgm:spPr/>
      <dgm:t>
        <a:bodyPr/>
        <a:lstStyle/>
        <a:p>
          <a:endParaRPr lang="en-US"/>
        </a:p>
      </dgm:t>
    </dgm:pt>
    <dgm:pt modelId="{01744731-FCAA-403C-8E56-7B775C2AEC61}" type="sibTrans" cxnId="{6EE43384-83C5-4EA1-A385-1AB8F241C89F}">
      <dgm:prSet phldrT="2" phldr="0"/>
      <dgm:spPr/>
      <dgm:t>
        <a:bodyPr/>
        <a:lstStyle/>
        <a:p>
          <a:r>
            <a:rPr lang="en-US"/>
            <a:t>2</a:t>
          </a:r>
        </a:p>
      </dgm:t>
    </dgm:pt>
    <dgm:pt modelId="{120BE00A-47FA-41F9-A12E-F4D95D92FBFC}">
      <dgm:prSet/>
      <dgm:spPr/>
      <dgm:t>
        <a:bodyPr/>
        <a:lstStyle/>
        <a:p>
          <a:r>
            <a:rPr lang="en-US"/>
            <a:t>Facilitate relationships and skill building to reduce reliance on paid supports </a:t>
          </a:r>
        </a:p>
      </dgm:t>
    </dgm:pt>
    <dgm:pt modelId="{2F8BB10F-8CD3-4620-AD26-3C40094CE13F}" type="parTrans" cxnId="{87496C96-E3B5-41A1-9007-62CC4935D74C}">
      <dgm:prSet/>
      <dgm:spPr/>
      <dgm:t>
        <a:bodyPr/>
        <a:lstStyle/>
        <a:p>
          <a:endParaRPr lang="en-US"/>
        </a:p>
      </dgm:t>
    </dgm:pt>
    <dgm:pt modelId="{22DA0AC8-248F-41FB-8514-10832727A0F3}" type="sibTrans" cxnId="{87496C96-E3B5-41A1-9007-62CC4935D74C}">
      <dgm:prSet phldrT="3" phldr="0"/>
      <dgm:spPr/>
      <dgm:t>
        <a:bodyPr/>
        <a:lstStyle/>
        <a:p>
          <a:r>
            <a:rPr lang="en-US"/>
            <a:t>3</a:t>
          </a:r>
        </a:p>
      </dgm:t>
    </dgm:pt>
    <dgm:pt modelId="{A7054740-AD8D-41D8-BBA0-1686BF6B7775}">
      <dgm:prSet/>
      <dgm:spPr/>
      <dgm:t>
        <a:bodyPr/>
        <a:lstStyle/>
        <a:p>
          <a:r>
            <a:rPr lang="en-US"/>
            <a:t>Ensure that supports are outcome oriented and regularly monitored</a:t>
          </a:r>
        </a:p>
      </dgm:t>
    </dgm:pt>
    <dgm:pt modelId="{32C605F1-C2C1-4DEE-A3E3-42432BD7E431}" type="parTrans" cxnId="{BE852DD9-DB83-4966-9CBC-8C48D1456257}">
      <dgm:prSet/>
      <dgm:spPr/>
      <dgm:t>
        <a:bodyPr/>
        <a:lstStyle/>
        <a:p>
          <a:endParaRPr lang="en-US"/>
        </a:p>
      </dgm:t>
    </dgm:pt>
    <dgm:pt modelId="{8E4C50D8-1E05-4114-923E-B1D5192528CC}" type="sibTrans" cxnId="{BE852DD9-DB83-4966-9CBC-8C48D1456257}">
      <dgm:prSet phldrT="4" phldr="0"/>
      <dgm:spPr/>
      <dgm:t>
        <a:bodyPr/>
        <a:lstStyle/>
        <a:p>
          <a:r>
            <a:rPr lang="en-US"/>
            <a:t>4</a:t>
          </a:r>
        </a:p>
      </dgm:t>
    </dgm:pt>
    <dgm:pt modelId="{3406C408-16ED-1341-B29B-C8C678E4208C}" type="pres">
      <dgm:prSet presAssocID="{24CBE102-CCA2-41C3-9B36-9F6C8A9659F0}" presName="Name0" presStyleCnt="0">
        <dgm:presLayoutVars>
          <dgm:animLvl val="lvl"/>
          <dgm:resizeHandles val="exact"/>
        </dgm:presLayoutVars>
      </dgm:prSet>
      <dgm:spPr/>
    </dgm:pt>
    <dgm:pt modelId="{6AF090A4-0B2A-7F42-AD3C-0D51BC0C1D57}" type="pres">
      <dgm:prSet presAssocID="{61CF3C9D-9727-4B9E-A6DB-22D3034E45CE}" presName="compositeNode" presStyleCnt="0">
        <dgm:presLayoutVars>
          <dgm:bulletEnabled val="1"/>
        </dgm:presLayoutVars>
      </dgm:prSet>
      <dgm:spPr/>
    </dgm:pt>
    <dgm:pt modelId="{D157F718-6153-5E41-B1E4-06060CD1B703}" type="pres">
      <dgm:prSet presAssocID="{61CF3C9D-9727-4B9E-A6DB-22D3034E45CE}" presName="bgRect" presStyleLbl="bgAccFollowNode1" presStyleIdx="0" presStyleCnt="4"/>
      <dgm:spPr/>
    </dgm:pt>
    <dgm:pt modelId="{A1245510-5FD1-F94C-8E6E-815C975FA0DA}" type="pres">
      <dgm:prSet presAssocID="{A2CC2C54-A6E0-49C1-B039-C019C5BE762C}" presName="sibTransNodeCircle" presStyleLbl="alignNode1" presStyleIdx="0" presStyleCnt="8">
        <dgm:presLayoutVars>
          <dgm:chMax val="0"/>
          <dgm:bulletEnabled/>
        </dgm:presLayoutVars>
      </dgm:prSet>
      <dgm:spPr/>
    </dgm:pt>
    <dgm:pt modelId="{3F329A52-AC5A-2342-ACC8-98B06AAC2786}" type="pres">
      <dgm:prSet presAssocID="{61CF3C9D-9727-4B9E-A6DB-22D3034E45CE}" presName="bottomLine" presStyleLbl="alignNode1" presStyleIdx="1" presStyleCnt="8">
        <dgm:presLayoutVars/>
      </dgm:prSet>
      <dgm:spPr/>
    </dgm:pt>
    <dgm:pt modelId="{D513E6AB-9F4E-2440-8883-F141E8446CC6}" type="pres">
      <dgm:prSet presAssocID="{61CF3C9D-9727-4B9E-A6DB-22D3034E45CE}" presName="nodeText" presStyleLbl="bgAccFollowNode1" presStyleIdx="0" presStyleCnt="4">
        <dgm:presLayoutVars>
          <dgm:bulletEnabled val="1"/>
        </dgm:presLayoutVars>
      </dgm:prSet>
      <dgm:spPr/>
    </dgm:pt>
    <dgm:pt modelId="{8C31D0C1-77AC-0E49-BE7D-7173E731BB04}" type="pres">
      <dgm:prSet presAssocID="{A2CC2C54-A6E0-49C1-B039-C019C5BE762C}" presName="sibTrans" presStyleCnt="0"/>
      <dgm:spPr/>
    </dgm:pt>
    <dgm:pt modelId="{23BA4FB2-8751-F040-9F91-84D8B45832B9}" type="pres">
      <dgm:prSet presAssocID="{5647E94E-9161-4B26-AE62-CE10322E367E}" presName="compositeNode" presStyleCnt="0">
        <dgm:presLayoutVars>
          <dgm:bulletEnabled val="1"/>
        </dgm:presLayoutVars>
      </dgm:prSet>
      <dgm:spPr/>
    </dgm:pt>
    <dgm:pt modelId="{2A69A3D2-8F11-6747-A7C2-E0732D593D69}" type="pres">
      <dgm:prSet presAssocID="{5647E94E-9161-4B26-AE62-CE10322E367E}" presName="bgRect" presStyleLbl="bgAccFollowNode1" presStyleIdx="1" presStyleCnt="4"/>
      <dgm:spPr/>
    </dgm:pt>
    <dgm:pt modelId="{846A2124-2423-1F49-84CC-6FE14CBF82B4}" type="pres">
      <dgm:prSet presAssocID="{01744731-FCAA-403C-8E56-7B775C2AEC61}" presName="sibTransNodeCircle" presStyleLbl="alignNode1" presStyleIdx="2" presStyleCnt="8">
        <dgm:presLayoutVars>
          <dgm:chMax val="0"/>
          <dgm:bulletEnabled/>
        </dgm:presLayoutVars>
      </dgm:prSet>
      <dgm:spPr/>
    </dgm:pt>
    <dgm:pt modelId="{31F48C72-CC2C-C84D-9A1F-78DFD61E8DA2}" type="pres">
      <dgm:prSet presAssocID="{5647E94E-9161-4B26-AE62-CE10322E367E}" presName="bottomLine" presStyleLbl="alignNode1" presStyleIdx="3" presStyleCnt="8">
        <dgm:presLayoutVars/>
      </dgm:prSet>
      <dgm:spPr/>
    </dgm:pt>
    <dgm:pt modelId="{24C1DDFD-EA2E-C64F-A8D8-6630CC7C408D}" type="pres">
      <dgm:prSet presAssocID="{5647E94E-9161-4B26-AE62-CE10322E367E}" presName="nodeText" presStyleLbl="bgAccFollowNode1" presStyleIdx="1" presStyleCnt="4">
        <dgm:presLayoutVars>
          <dgm:bulletEnabled val="1"/>
        </dgm:presLayoutVars>
      </dgm:prSet>
      <dgm:spPr/>
    </dgm:pt>
    <dgm:pt modelId="{2A9EF797-00FD-684D-8B80-CBE347495A8A}" type="pres">
      <dgm:prSet presAssocID="{01744731-FCAA-403C-8E56-7B775C2AEC61}" presName="sibTrans" presStyleCnt="0"/>
      <dgm:spPr/>
    </dgm:pt>
    <dgm:pt modelId="{8719BDA5-F907-AE41-8FAF-BB90F26EF495}" type="pres">
      <dgm:prSet presAssocID="{120BE00A-47FA-41F9-A12E-F4D95D92FBFC}" presName="compositeNode" presStyleCnt="0">
        <dgm:presLayoutVars>
          <dgm:bulletEnabled val="1"/>
        </dgm:presLayoutVars>
      </dgm:prSet>
      <dgm:spPr/>
    </dgm:pt>
    <dgm:pt modelId="{CDDA384E-7EF1-7349-BFF6-F5FAB8373182}" type="pres">
      <dgm:prSet presAssocID="{120BE00A-47FA-41F9-A12E-F4D95D92FBFC}" presName="bgRect" presStyleLbl="bgAccFollowNode1" presStyleIdx="2" presStyleCnt="4"/>
      <dgm:spPr/>
    </dgm:pt>
    <dgm:pt modelId="{6502CC73-EAC4-2047-9FAC-BC3FCDBA2EF3}" type="pres">
      <dgm:prSet presAssocID="{22DA0AC8-248F-41FB-8514-10832727A0F3}" presName="sibTransNodeCircle" presStyleLbl="alignNode1" presStyleIdx="4" presStyleCnt="8">
        <dgm:presLayoutVars>
          <dgm:chMax val="0"/>
          <dgm:bulletEnabled/>
        </dgm:presLayoutVars>
      </dgm:prSet>
      <dgm:spPr/>
    </dgm:pt>
    <dgm:pt modelId="{5EAD3DF5-B3E7-E642-A5F5-310C8E5CC79B}" type="pres">
      <dgm:prSet presAssocID="{120BE00A-47FA-41F9-A12E-F4D95D92FBFC}" presName="bottomLine" presStyleLbl="alignNode1" presStyleIdx="5" presStyleCnt="8">
        <dgm:presLayoutVars/>
      </dgm:prSet>
      <dgm:spPr/>
    </dgm:pt>
    <dgm:pt modelId="{28C6CDE2-54AB-AB41-B814-377288DE757E}" type="pres">
      <dgm:prSet presAssocID="{120BE00A-47FA-41F9-A12E-F4D95D92FBFC}" presName="nodeText" presStyleLbl="bgAccFollowNode1" presStyleIdx="2" presStyleCnt="4">
        <dgm:presLayoutVars>
          <dgm:bulletEnabled val="1"/>
        </dgm:presLayoutVars>
      </dgm:prSet>
      <dgm:spPr/>
    </dgm:pt>
    <dgm:pt modelId="{BFBC2DB2-8135-784A-99F5-0900397E56BE}" type="pres">
      <dgm:prSet presAssocID="{22DA0AC8-248F-41FB-8514-10832727A0F3}" presName="sibTrans" presStyleCnt="0"/>
      <dgm:spPr/>
    </dgm:pt>
    <dgm:pt modelId="{77C77A8F-FF88-C848-B134-21D0D8B38DDD}" type="pres">
      <dgm:prSet presAssocID="{A7054740-AD8D-41D8-BBA0-1686BF6B7775}" presName="compositeNode" presStyleCnt="0">
        <dgm:presLayoutVars>
          <dgm:bulletEnabled val="1"/>
        </dgm:presLayoutVars>
      </dgm:prSet>
      <dgm:spPr/>
    </dgm:pt>
    <dgm:pt modelId="{BF97BB74-36A4-DA42-95C3-2E6E10798353}" type="pres">
      <dgm:prSet presAssocID="{A7054740-AD8D-41D8-BBA0-1686BF6B7775}" presName="bgRect" presStyleLbl="bgAccFollowNode1" presStyleIdx="3" presStyleCnt="4"/>
      <dgm:spPr/>
    </dgm:pt>
    <dgm:pt modelId="{195FA487-A376-E44F-9697-E2A2FA4D6A1C}" type="pres">
      <dgm:prSet presAssocID="{8E4C50D8-1E05-4114-923E-B1D5192528CC}" presName="sibTransNodeCircle" presStyleLbl="alignNode1" presStyleIdx="6" presStyleCnt="8">
        <dgm:presLayoutVars>
          <dgm:chMax val="0"/>
          <dgm:bulletEnabled/>
        </dgm:presLayoutVars>
      </dgm:prSet>
      <dgm:spPr/>
    </dgm:pt>
    <dgm:pt modelId="{50FB6A22-3EC1-B44E-B4B2-CFAA6E3B27FB}" type="pres">
      <dgm:prSet presAssocID="{A7054740-AD8D-41D8-BBA0-1686BF6B7775}" presName="bottomLine" presStyleLbl="alignNode1" presStyleIdx="7" presStyleCnt="8">
        <dgm:presLayoutVars/>
      </dgm:prSet>
      <dgm:spPr/>
    </dgm:pt>
    <dgm:pt modelId="{CB763566-0F2F-B348-AF02-66DE4A6190A6}" type="pres">
      <dgm:prSet presAssocID="{A7054740-AD8D-41D8-BBA0-1686BF6B7775}" presName="nodeText" presStyleLbl="bgAccFollowNode1" presStyleIdx="3" presStyleCnt="4">
        <dgm:presLayoutVars>
          <dgm:bulletEnabled val="1"/>
        </dgm:presLayoutVars>
      </dgm:prSet>
      <dgm:spPr/>
    </dgm:pt>
  </dgm:ptLst>
  <dgm:cxnLst>
    <dgm:cxn modelId="{5BA5C616-C332-CA40-BE40-29EE1616A210}" type="presOf" srcId="{22DA0AC8-248F-41FB-8514-10832727A0F3}" destId="{6502CC73-EAC4-2047-9FAC-BC3FCDBA2EF3}" srcOrd="0" destOrd="0" presId="urn:microsoft.com/office/officeart/2016/7/layout/BasicLinearProcessNumbered"/>
    <dgm:cxn modelId="{4C9A521E-07AC-F343-A3A1-7F25BDA7008C}" type="presOf" srcId="{5647E94E-9161-4B26-AE62-CE10322E367E}" destId="{2A69A3D2-8F11-6747-A7C2-E0732D593D69}" srcOrd="0" destOrd="0" presId="urn:microsoft.com/office/officeart/2016/7/layout/BasicLinearProcessNumbered"/>
    <dgm:cxn modelId="{6CF6692D-BC5A-1F44-9B06-336F6842352E}" type="presOf" srcId="{120BE00A-47FA-41F9-A12E-F4D95D92FBFC}" destId="{CDDA384E-7EF1-7349-BFF6-F5FAB8373182}" srcOrd="0" destOrd="0" presId="urn:microsoft.com/office/officeart/2016/7/layout/BasicLinearProcessNumbered"/>
    <dgm:cxn modelId="{49D56744-6B37-0B49-BE50-238FB278D830}" type="presOf" srcId="{61CF3C9D-9727-4B9E-A6DB-22D3034E45CE}" destId="{D157F718-6153-5E41-B1E4-06060CD1B703}" srcOrd="0" destOrd="0" presId="urn:microsoft.com/office/officeart/2016/7/layout/BasicLinearProcessNumbered"/>
    <dgm:cxn modelId="{2D275244-AC09-0147-A546-0158A84B84CE}" type="presOf" srcId="{61CF3C9D-9727-4B9E-A6DB-22D3034E45CE}" destId="{D513E6AB-9F4E-2440-8883-F141E8446CC6}" srcOrd="1" destOrd="0" presId="urn:microsoft.com/office/officeart/2016/7/layout/BasicLinearProcessNumbered"/>
    <dgm:cxn modelId="{0178F147-47E6-DC4D-A2B1-119D58935E8C}" type="presOf" srcId="{120BE00A-47FA-41F9-A12E-F4D95D92FBFC}" destId="{28C6CDE2-54AB-AB41-B814-377288DE757E}" srcOrd="1" destOrd="0" presId="urn:microsoft.com/office/officeart/2016/7/layout/BasicLinearProcessNumbered"/>
    <dgm:cxn modelId="{D92CE76B-B01C-FF42-8B0C-25C3C0A7D5AE}" type="presOf" srcId="{8E4C50D8-1E05-4114-923E-B1D5192528CC}" destId="{195FA487-A376-E44F-9697-E2A2FA4D6A1C}" srcOrd="0" destOrd="0" presId="urn:microsoft.com/office/officeart/2016/7/layout/BasicLinearProcessNumbered"/>
    <dgm:cxn modelId="{B6D8656C-ECBB-D24A-8FB8-09360BD43E6F}" type="presOf" srcId="{5647E94E-9161-4B26-AE62-CE10322E367E}" destId="{24C1DDFD-EA2E-C64F-A8D8-6630CC7C408D}" srcOrd="1" destOrd="0" presId="urn:microsoft.com/office/officeart/2016/7/layout/BasicLinearProcessNumbered"/>
    <dgm:cxn modelId="{6EE43384-83C5-4EA1-A385-1AB8F241C89F}" srcId="{24CBE102-CCA2-41C3-9B36-9F6C8A9659F0}" destId="{5647E94E-9161-4B26-AE62-CE10322E367E}" srcOrd="1" destOrd="0" parTransId="{A1D0B72B-093C-440E-B626-85FE65862325}" sibTransId="{01744731-FCAA-403C-8E56-7B775C2AEC61}"/>
    <dgm:cxn modelId="{8E99728E-B954-4A40-8C0F-726B45D0E300}" type="presOf" srcId="{A2CC2C54-A6E0-49C1-B039-C019C5BE762C}" destId="{A1245510-5FD1-F94C-8E6E-815C975FA0DA}" srcOrd="0" destOrd="0" presId="urn:microsoft.com/office/officeart/2016/7/layout/BasicLinearProcessNumbered"/>
    <dgm:cxn modelId="{87496C96-E3B5-41A1-9007-62CC4935D74C}" srcId="{24CBE102-CCA2-41C3-9B36-9F6C8A9659F0}" destId="{120BE00A-47FA-41F9-A12E-F4D95D92FBFC}" srcOrd="2" destOrd="0" parTransId="{2F8BB10F-8CD3-4620-AD26-3C40094CE13F}" sibTransId="{22DA0AC8-248F-41FB-8514-10832727A0F3}"/>
    <dgm:cxn modelId="{9D1A3CAF-CA92-C34B-98DD-137640D15D0F}" type="presOf" srcId="{A7054740-AD8D-41D8-BBA0-1686BF6B7775}" destId="{CB763566-0F2F-B348-AF02-66DE4A6190A6}" srcOrd="1" destOrd="0" presId="urn:microsoft.com/office/officeart/2016/7/layout/BasicLinearProcessNumbered"/>
    <dgm:cxn modelId="{0B2978BD-6B6D-4945-B541-5D188F653C2B}" type="presOf" srcId="{A7054740-AD8D-41D8-BBA0-1686BF6B7775}" destId="{BF97BB74-36A4-DA42-95C3-2E6E10798353}" srcOrd="0" destOrd="0" presId="urn:microsoft.com/office/officeart/2016/7/layout/BasicLinearProcessNumbered"/>
    <dgm:cxn modelId="{BE852DD9-DB83-4966-9CBC-8C48D1456257}" srcId="{24CBE102-CCA2-41C3-9B36-9F6C8A9659F0}" destId="{A7054740-AD8D-41D8-BBA0-1686BF6B7775}" srcOrd="3" destOrd="0" parTransId="{32C605F1-C2C1-4DEE-A3E3-42432BD7E431}" sibTransId="{8E4C50D8-1E05-4114-923E-B1D5192528CC}"/>
    <dgm:cxn modelId="{D461D5E2-A564-2F47-B205-D0C404CF01C5}" type="presOf" srcId="{24CBE102-CCA2-41C3-9B36-9F6C8A9659F0}" destId="{3406C408-16ED-1341-B29B-C8C678E4208C}" srcOrd="0" destOrd="0" presId="urn:microsoft.com/office/officeart/2016/7/layout/BasicLinearProcessNumbered"/>
    <dgm:cxn modelId="{B7C8F5EA-BBF7-45EC-8529-0FF95655EA72}" srcId="{24CBE102-CCA2-41C3-9B36-9F6C8A9659F0}" destId="{61CF3C9D-9727-4B9E-A6DB-22D3034E45CE}" srcOrd="0" destOrd="0" parTransId="{70012E43-5409-4090-BFBC-1A4B7A008E31}" sibTransId="{A2CC2C54-A6E0-49C1-B039-C019C5BE762C}"/>
    <dgm:cxn modelId="{D63D88F5-3257-324F-9AC5-941215ABA90F}" type="presOf" srcId="{01744731-FCAA-403C-8E56-7B775C2AEC61}" destId="{846A2124-2423-1F49-84CC-6FE14CBF82B4}" srcOrd="0" destOrd="0" presId="urn:microsoft.com/office/officeart/2016/7/layout/BasicLinearProcessNumbered"/>
    <dgm:cxn modelId="{10A13D19-0DC8-CF47-AE58-AF1DE940F358}" type="presParOf" srcId="{3406C408-16ED-1341-B29B-C8C678E4208C}" destId="{6AF090A4-0B2A-7F42-AD3C-0D51BC0C1D57}" srcOrd="0" destOrd="0" presId="urn:microsoft.com/office/officeart/2016/7/layout/BasicLinearProcessNumbered"/>
    <dgm:cxn modelId="{E8B82413-C0E2-0048-B379-AE888FA9207D}" type="presParOf" srcId="{6AF090A4-0B2A-7F42-AD3C-0D51BC0C1D57}" destId="{D157F718-6153-5E41-B1E4-06060CD1B703}" srcOrd="0" destOrd="0" presId="urn:microsoft.com/office/officeart/2016/7/layout/BasicLinearProcessNumbered"/>
    <dgm:cxn modelId="{22E78B8B-A8FE-814A-B721-124F5F4324FB}" type="presParOf" srcId="{6AF090A4-0B2A-7F42-AD3C-0D51BC0C1D57}" destId="{A1245510-5FD1-F94C-8E6E-815C975FA0DA}" srcOrd="1" destOrd="0" presId="urn:microsoft.com/office/officeart/2016/7/layout/BasicLinearProcessNumbered"/>
    <dgm:cxn modelId="{B7336827-34AC-944F-B0E9-51392970721D}" type="presParOf" srcId="{6AF090A4-0B2A-7F42-AD3C-0D51BC0C1D57}" destId="{3F329A52-AC5A-2342-ACC8-98B06AAC2786}" srcOrd="2" destOrd="0" presId="urn:microsoft.com/office/officeart/2016/7/layout/BasicLinearProcessNumbered"/>
    <dgm:cxn modelId="{E0957814-B79E-0B42-B730-7DA431F2A827}" type="presParOf" srcId="{6AF090A4-0B2A-7F42-AD3C-0D51BC0C1D57}" destId="{D513E6AB-9F4E-2440-8883-F141E8446CC6}" srcOrd="3" destOrd="0" presId="urn:microsoft.com/office/officeart/2016/7/layout/BasicLinearProcessNumbered"/>
    <dgm:cxn modelId="{B3EE7CF6-540E-DC47-9E73-C8F31C10500B}" type="presParOf" srcId="{3406C408-16ED-1341-B29B-C8C678E4208C}" destId="{8C31D0C1-77AC-0E49-BE7D-7173E731BB04}" srcOrd="1" destOrd="0" presId="urn:microsoft.com/office/officeart/2016/7/layout/BasicLinearProcessNumbered"/>
    <dgm:cxn modelId="{C46D6016-6795-0D47-A4AC-426C1C7B8F6A}" type="presParOf" srcId="{3406C408-16ED-1341-B29B-C8C678E4208C}" destId="{23BA4FB2-8751-F040-9F91-84D8B45832B9}" srcOrd="2" destOrd="0" presId="urn:microsoft.com/office/officeart/2016/7/layout/BasicLinearProcessNumbered"/>
    <dgm:cxn modelId="{01F954F7-1E88-3E46-ACA1-B7F084EBD960}" type="presParOf" srcId="{23BA4FB2-8751-F040-9F91-84D8B45832B9}" destId="{2A69A3D2-8F11-6747-A7C2-E0732D593D69}" srcOrd="0" destOrd="0" presId="urn:microsoft.com/office/officeart/2016/7/layout/BasicLinearProcessNumbered"/>
    <dgm:cxn modelId="{6C43FDF1-ADC6-2A45-985C-D66C13246237}" type="presParOf" srcId="{23BA4FB2-8751-F040-9F91-84D8B45832B9}" destId="{846A2124-2423-1F49-84CC-6FE14CBF82B4}" srcOrd="1" destOrd="0" presId="urn:microsoft.com/office/officeart/2016/7/layout/BasicLinearProcessNumbered"/>
    <dgm:cxn modelId="{6B9E48E8-4FF1-4D43-9BAD-F1A4A9D2AD30}" type="presParOf" srcId="{23BA4FB2-8751-F040-9F91-84D8B45832B9}" destId="{31F48C72-CC2C-C84D-9A1F-78DFD61E8DA2}" srcOrd="2" destOrd="0" presId="urn:microsoft.com/office/officeart/2016/7/layout/BasicLinearProcessNumbered"/>
    <dgm:cxn modelId="{4B7E9917-1674-CF4B-8B17-A5FB583E13A7}" type="presParOf" srcId="{23BA4FB2-8751-F040-9F91-84D8B45832B9}" destId="{24C1DDFD-EA2E-C64F-A8D8-6630CC7C408D}" srcOrd="3" destOrd="0" presId="urn:microsoft.com/office/officeart/2016/7/layout/BasicLinearProcessNumbered"/>
    <dgm:cxn modelId="{CDC5CE67-3274-DE46-904B-F7A4E2D5ADD9}" type="presParOf" srcId="{3406C408-16ED-1341-B29B-C8C678E4208C}" destId="{2A9EF797-00FD-684D-8B80-CBE347495A8A}" srcOrd="3" destOrd="0" presId="urn:microsoft.com/office/officeart/2016/7/layout/BasicLinearProcessNumbered"/>
    <dgm:cxn modelId="{18D077EB-1822-0C4E-A3E3-839A8317DB7C}" type="presParOf" srcId="{3406C408-16ED-1341-B29B-C8C678E4208C}" destId="{8719BDA5-F907-AE41-8FAF-BB90F26EF495}" srcOrd="4" destOrd="0" presId="urn:microsoft.com/office/officeart/2016/7/layout/BasicLinearProcessNumbered"/>
    <dgm:cxn modelId="{FE54D978-BD0D-8E45-9D33-2F8799C22370}" type="presParOf" srcId="{8719BDA5-F907-AE41-8FAF-BB90F26EF495}" destId="{CDDA384E-7EF1-7349-BFF6-F5FAB8373182}" srcOrd="0" destOrd="0" presId="urn:microsoft.com/office/officeart/2016/7/layout/BasicLinearProcessNumbered"/>
    <dgm:cxn modelId="{25F951DA-78BD-D049-B6A4-FA39F861D965}" type="presParOf" srcId="{8719BDA5-F907-AE41-8FAF-BB90F26EF495}" destId="{6502CC73-EAC4-2047-9FAC-BC3FCDBA2EF3}" srcOrd="1" destOrd="0" presId="urn:microsoft.com/office/officeart/2016/7/layout/BasicLinearProcessNumbered"/>
    <dgm:cxn modelId="{878CCAFB-9CCB-5D4F-98B6-290D2E2B0004}" type="presParOf" srcId="{8719BDA5-F907-AE41-8FAF-BB90F26EF495}" destId="{5EAD3DF5-B3E7-E642-A5F5-310C8E5CC79B}" srcOrd="2" destOrd="0" presId="urn:microsoft.com/office/officeart/2016/7/layout/BasicLinearProcessNumbered"/>
    <dgm:cxn modelId="{FA6BF0AC-C7EB-6A4B-A078-76948373E7DF}" type="presParOf" srcId="{8719BDA5-F907-AE41-8FAF-BB90F26EF495}" destId="{28C6CDE2-54AB-AB41-B814-377288DE757E}" srcOrd="3" destOrd="0" presId="urn:microsoft.com/office/officeart/2016/7/layout/BasicLinearProcessNumbered"/>
    <dgm:cxn modelId="{3AA9C487-1EC4-7F40-9971-599B60BDFB7D}" type="presParOf" srcId="{3406C408-16ED-1341-B29B-C8C678E4208C}" destId="{BFBC2DB2-8135-784A-99F5-0900397E56BE}" srcOrd="5" destOrd="0" presId="urn:microsoft.com/office/officeart/2016/7/layout/BasicLinearProcessNumbered"/>
    <dgm:cxn modelId="{1DB779AA-18DD-8240-B5EA-195D8CDDB2E5}" type="presParOf" srcId="{3406C408-16ED-1341-B29B-C8C678E4208C}" destId="{77C77A8F-FF88-C848-B134-21D0D8B38DDD}" srcOrd="6" destOrd="0" presId="urn:microsoft.com/office/officeart/2016/7/layout/BasicLinearProcessNumbered"/>
    <dgm:cxn modelId="{0523CCD4-EF89-1449-ABE4-1BDCEF684A52}" type="presParOf" srcId="{77C77A8F-FF88-C848-B134-21D0D8B38DDD}" destId="{BF97BB74-36A4-DA42-95C3-2E6E10798353}" srcOrd="0" destOrd="0" presId="urn:microsoft.com/office/officeart/2016/7/layout/BasicLinearProcessNumbered"/>
    <dgm:cxn modelId="{1E656784-4546-BD47-A740-61CFF46C921C}" type="presParOf" srcId="{77C77A8F-FF88-C848-B134-21D0D8B38DDD}" destId="{195FA487-A376-E44F-9697-E2A2FA4D6A1C}" srcOrd="1" destOrd="0" presId="urn:microsoft.com/office/officeart/2016/7/layout/BasicLinearProcessNumbered"/>
    <dgm:cxn modelId="{CE69515B-AAD3-864A-815E-8E60CFF75F08}" type="presParOf" srcId="{77C77A8F-FF88-C848-B134-21D0D8B38DDD}" destId="{50FB6A22-3EC1-B44E-B4B2-CFAA6E3B27FB}" srcOrd="2" destOrd="0" presId="urn:microsoft.com/office/officeart/2016/7/layout/BasicLinearProcessNumbered"/>
    <dgm:cxn modelId="{B422D675-4769-D448-BB5D-5334B9527023}" type="presParOf" srcId="{77C77A8F-FF88-C848-B134-21D0D8B38DDD}" destId="{CB763566-0F2F-B348-AF02-66DE4A6190A6}"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7F718-6153-5E41-B1E4-06060CD1B703}">
      <dsp:nvSpPr>
        <dsp:cNvPr id="0" name=""/>
        <dsp:cNvSpPr/>
      </dsp:nvSpPr>
      <dsp:spPr>
        <a:xfrm>
          <a:off x="2260" y="313952"/>
          <a:ext cx="1793154" cy="2510415"/>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801" tIns="330200" rIns="139801" bIns="330200" numCol="1" spcCol="1270" anchor="t" anchorCtr="0">
          <a:noAutofit/>
        </a:bodyPr>
        <a:lstStyle/>
        <a:p>
          <a:pPr marL="0" lvl="0" indent="0" algn="l" defTabSz="533400">
            <a:lnSpc>
              <a:spcPct val="90000"/>
            </a:lnSpc>
            <a:spcBef>
              <a:spcPct val="0"/>
            </a:spcBef>
            <a:spcAft>
              <a:spcPct val="35000"/>
            </a:spcAft>
            <a:buNone/>
          </a:pPr>
          <a:r>
            <a:rPr lang="en-US" sz="1200" kern="1200"/>
            <a:t>Individualize supports for each person</a:t>
          </a:r>
        </a:p>
      </dsp:txBody>
      <dsp:txXfrm>
        <a:off x="2260" y="1267910"/>
        <a:ext cx="1793154" cy="1506249"/>
      </dsp:txXfrm>
    </dsp:sp>
    <dsp:sp modelId="{A1245510-5FD1-F94C-8E6E-815C975FA0DA}">
      <dsp:nvSpPr>
        <dsp:cNvPr id="0" name=""/>
        <dsp:cNvSpPr/>
      </dsp:nvSpPr>
      <dsp:spPr>
        <a:xfrm>
          <a:off x="522274" y="564993"/>
          <a:ext cx="753124" cy="753124"/>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58717" tIns="12700" rIns="58717" bIns="12700" numCol="1" spcCol="1270" anchor="ctr" anchorCtr="0">
          <a:noAutofit/>
        </a:bodyPr>
        <a:lstStyle/>
        <a:p>
          <a:pPr marL="0" lvl="0" indent="0" algn="ctr" defTabSz="1600200">
            <a:lnSpc>
              <a:spcPct val="90000"/>
            </a:lnSpc>
            <a:spcBef>
              <a:spcPct val="0"/>
            </a:spcBef>
            <a:spcAft>
              <a:spcPct val="35000"/>
            </a:spcAft>
            <a:buNone/>
          </a:pPr>
          <a:r>
            <a:rPr lang="en-US" sz="3600" kern="1200"/>
            <a:t>1</a:t>
          </a:r>
        </a:p>
      </dsp:txBody>
      <dsp:txXfrm>
        <a:off x="632566" y="675285"/>
        <a:ext cx="532540" cy="532540"/>
      </dsp:txXfrm>
    </dsp:sp>
    <dsp:sp modelId="{3F329A52-AC5A-2342-ACC8-98B06AAC2786}">
      <dsp:nvSpPr>
        <dsp:cNvPr id="0" name=""/>
        <dsp:cNvSpPr/>
      </dsp:nvSpPr>
      <dsp:spPr>
        <a:xfrm>
          <a:off x="2260" y="2824295"/>
          <a:ext cx="1793154" cy="72"/>
        </a:xfrm>
        <a:prstGeom prst="rect">
          <a:avLst/>
        </a:prstGeom>
        <a:solidFill>
          <a:schemeClr val="accent4">
            <a:hueOff val="1591853"/>
            <a:satOff val="5661"/>
            <a:lumOff val="12801"/>
            <a:alphaOff val="0"/>
          </a:schemeClr>
        </a:solidFill>
        <a:ln w="12700" cap="flat" cmpd="sng" algn="ctr">
          <a:solidFill>
            <a:schemeClr val="accent4">
              <a:hueOff val="1591853"/>
              <a:satOff val="5661"/>
              <a:lumOff val="12801"/>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A69A3D2-8F11-6747-A7C2-E0732D593D69}">
      <dsp:nvSpPr>
        <dsp:cNvPr id="0" name=""/>
        <dsp:cNvSpPr/>
      </dsp:nvSpPr>
      <dsp:spPr>
        <a:xfrm>
          <a:off x="1974729" y="313952"/>
          <a:ext cx="1793154" cy="2510415"/>
        </a:xfrm>
        <a:prstGeom prst="rect">
          <a:avLst/>
        </a:prstGeom>
        <a:solidFill>
          <a:schemeClr val="accent4">
            <a:tint val="40000"/>
            <a:alpha val="90000"/>
            <a:hueOff val="3718306"/>
            <a:satOff val="12686"/>
            <a:lumOff val="5426"/>
            <a:alphaOff val="0"/>
          </a:schemeClr>
        </a:solidFill>
        <a:ln w="12700" cap="flat" cmpd="sng" algn="ctr">
          <a:solidFill>
            <a:schemeClr val="accent4">
              <a:tint val="40000"/>
              <a:alpha val="90000"/>
              <a:hueOff val="3718306"/>
              <a:satOff val="12686"/>
              <a:lumOff val="542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801" tIns="330200" rIns="139801" bIns="330200" numCol="1" spcCol="1270" anchor="t" anchorCtr="0">
          <a:noAutofit/>
        </a:bodyPr>
        <a:lstStyle/>
        <a:p>
          <a:pPr marL="0" lvl="0" indent="0" algn="l" defTabSz="533400">
            <a:lnSpc>
              <a:spcPct val="90000"/>
            </a:lnSpc>
            <a:spcBef>
              <a:spcPct val="0"/>
            </a:spcBef>
            <a:spcAft>
              <a:spcPct val="35000"/>
            </a:spcAft>
            <a:buNone/>
          </a:pPr>
          <a:r>
            <a:rPr lang="en-US" sz="1200" kern="1200"/>
            <a:t>Promote community membership and contribution</a:t>
          </a:r>
        </a:p>
      </dsp:txBody>
      <dsp:txXfrm>
        <a:off x="1974729" y="1267910"/>
        <a:ext cx="1793154" cy="1506249"/>
      </dsp:txXfrm>
    </dsp:sp>
    <dsp:sp modelId="{846A2124-2423-1F49-84CC-6FE14CBF82B4}">
      <dsp:nvSpPr>
        <dsp:cNvPr id="0" name=""/>
        <dsp:cNvSpPr/>
      </dsp:nvSpPr>
      <dsp:spPr>
        <a:xfrm>
          <a:off x="2494744" y="564993"/>
          <a:ext cx="753124" cy="753124"/>
        </a:xfrm>
        <a:prstGeom prst="ellipse">
          <a:avLst/>
        </a:prstGeom>
        <a:solidFill>
          <a:schemeClr val="accent4">
            <a:hueOff val="3183707"/>
            <a:satOff val="11321"/>
            <a:lumOff val="25602"/>
            <a:alphaOff val="0"/>
          </a:schemeClr>
        </a:solidFill>
        <a:ln w="12700" cap="flat" cmpd="sng" algn="ctr">
          <a:solidFill>
            <a:schemeClr val="accent4">
              <a:hueOff val="3183707"/>
              <a:satOff val="11321"/>
              <a:lumOff val="25602"/>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58717" tIns="12700" rIns="58717" bIns="12700" numCol="1" spcCol="1270" anchor="ctr" anchorCtr="0">
          <a:noAutofit/>
        </a:bodyPr>
        <a:lstStyle/>
        <a:p>
          <a:pPr marL="0" lvl="0" indent="0" algn="ctr" defTabSz="1600200">
            <a:lnSpc>
              <a:spcPct val="90000"/>
            </a:lnSpc>
            <a:spcBef>
              <a:spcPct val="0"/>
            </a:spcBef>
            <a:spcAft>
              <a:spcPct val="35000"/>
            </a:spcAft>
            <a:buNone/>
          </a:pPr>
          <a:r>
            <a:rPr lang="en-US" sz="3600" kern="1200"/>
            <a:t>2</a:t>
          </a:r>
        </a:p>
      </dsp:txBody>
      <dsp:txXfrm>
        <a:off x="2605036" y="675285"/>
        <a:ext cx="532540" cy="532540"/>
      </dsp:txXfrm>
    </dsp:sp>
    <dsp:sp modelId="{31F48C72-CC2C-C84D-9A1F-78DFD61E8DA2}">
      <dsp:nvSpPr>
        <dsp:cNvPr id="0" name=""/>
        <dsp:cNvSpPr/>
      </dsp:nvSpPr>
      <dsp:spPr>
        <a:xfrm>
          <a:off x="1974729" y="2824295"/>
          <a:ext cx="1793154" cy="72"/>
        </a:xfrm>
        <a:prstGeom prst="rect">
          <a:avLst/>
        </a:prstGeom>
        <a:solidFill>
          <a:schemeClr val="accent4">
            <a:hueOff val="4775560"/>
            <a:satOff val="16982"/>
            <a:lumOff val="38403"/>
            <a:alphaOff val="0"/>
          </a:schemeClr>
        </a:solidFill>
        <a:ln w="12700" cap="flat" cmpd="sng" algn="ctr">
          <a:solidFill>
            <a:schemeClr val="accent4">
              <a:hueOff val="4775560"/>
              <a:satOff val="16982"/>
              <a:lumOff val="3840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DDA384E-7EF1-7349-BFF6-F5FAB8373182}">
      <dsp:nvSpPr>
        <dsp:cNvPr id="0" name=""/>
        <dsp:cNvSpPr/>
      </dsp:nvSpPr>
      <dsp:spPr>
        <a:xfrm>
          <a:off x="3947199" y="313952"/>
          <a:ext cx="1793154" cy="2510415"/>
        </a:xfrm>
        <a:prstGeom prst="rect">
          <a:avLst/>
        </a:prstGeom>
        <a:solidFill>
          <a:schemeClr val="accent4">
            <a:tint val="40000"/>
            <a:alpha val="90000"/>
            <a:hueOff val="7436612"/>
            <a:satOff val="25373"/>
            <a:lumOff val="10851"/>
            <a:alphaOff val="0"/>
          </a:schemeClr>
        </a:solidFill>
        <a:ln w="12700" cap="flat" cmpd="sng" algn="ctr">
          <a:solidFill>
            <a:schemeClr val="accent4">
              <a:tint val="40000"/>
              <a:alpha val="90000"/>
              <a:hueOff val="7436612"/>
              <a:satOff val="25373"/>
              <a:lumOff val="108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801" tIns="330200" rIns="139801" bIns="330200" numCol="1" spcCol="1270" anchor="t" anchorCtr="0">
          <a:noAutofit/>
        </a:bodyPr>
        <a:lstStyle/>
        <a:p>
          <a:pPr marL="0" lvl="0" indent="0" algn="l" defTabSz="533400">
            <a:lnSpc>
              <a:spcPct val="90000"/>
            </a:lnSpc>
            <a:spcBef>
              <a:spcPct val="0"/>
            </a:spcBef>
            <a:spcAft>
              <a:spcPct val="35000"/>
            </a:spcAft>
            <a:buNone/>
          </a:pPr>
          <a:r>
            <a:rPr lang="en-US" sz="1200" kern="1200"/>
            <a:t>Facilitate relationships and skill building to reduce reliance on paid supports </a:t>
          </a:r>
        </a:p>
      </dsp:txBody>
      <dsp:txXfrm>
        <a:off x="3947199" y="1267910"/>
        <a:ext cx="1793154" cy="1506249"/>
      </dsp:txXfrm>
    </dsp:sp>
    <dsp:sp modelId="{6502CC73-EAC4-2047-9FAC-BC3FCDBA2EF3}">
      <dsp:nvSpPr>
        <dsp:cNvPr id="0" name=""/>
        <dsp:cNvSpPr/>
      </dsp:nvSpPr>
      <dsp:spPr>
        <a:xfrm>
          <a:off x="4467213" y="564993"/>
          <a:ext cx="753124" cy="753124"/>
        </a:xfrm>
        <a:prstGeom prst="ellipse">
          <a:avLst/>
        </a:prstGeom>
        <a:solidFill>
          <a:schemeClr val="accent4">
            <a:hueOff val="6367414"/>
            <a:satOff val="22642"/>
            <a:lumOff val="51205"/>
            <a:alphaOff val="0"/>
          </a:schemeClr>
        </a:solidFill>
        <a:ln w="12700" cap="flat" cmpd="sng" algn="ctr">
          <a:solidFill>
            <a:schemeClr val="accent4">
              <a:hueOff val="6367414"/>
              <a:satOff val="22642"/>
              <a:lumOff val="5120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58717" tIns="12700" rIns="58717" bIns="12700" numCol="1" spcCol="1270" anchor="ctr" anchorCtr="0">
          <a:noAutofit/>
        </a:bodyPr>
        <a:lstStyle/>
        <a:p>
          <a:pPr marL="0" lvl="0" indent="0" algn="ctr" defTabSz="1600200">
            <a:lnSpc>
              <a:spcPct val="90000"/>
            </a:lnSpc>
            <a:spcBef>
              <a:spcPct val="0"/>
            </a:spcBef>
            <a:spcAft>
              <a:spcPct val="35000"/>
            </a:spcAft>
            <a:buNone/>
          </a:pPr>
          <a:r>
            <a:rPr lang="en-US" sz="3600" kern="1200"/>
            <a:t>3</a:t>
          </a:r>
        </a:p>
      </dsp:txBody>
      <dsp:txXfrm>
        <a:off x="4577505" y="675285"/>
        <a:ext cx="532540" cy="532540"/>
      </dsp:txXfrm>
    </dsp:sp>
    <dsp:sp modelId="{5EAD3DF5-B3E7-E642-A5F5-310C8E5CC79B}">
      <dsp:nvSpPr>
        <dsp:cNvPr id="0" name=""/>
        <dsp:cNvSpPr/>
      </dsp:nvSpPr>
      <dsp:spPr>
        <a:xfrm>
          <a:off x="3947199" y="2824295"/>
          <a:ext cx="1793154" cy="72"/>
        </a:xfrm>
        <a:prstGeom prst="rect">
          <a:avLst/>
        </a:prstGeom>
        <a:solidFill>
          <a:schemeClr val="accent4">
            <a:hueOff val="7959267"/>
            <a:satOff val="28303"/>
            <a:lumOff val="64006"/>
            <a:alphaOff val="0"/>
          </a:schemeClr>
        </a:solidFill>
        <a:ln w="12700" cap="flat" cmpd="sng" algn="ctr">
          <a:solidFill>
            <a:schemeClr val="accent4">
              <a:hueOff val="7959267"/>
              <a:satOff val="28303"/>
              <a:lumOff val="64006"/>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F97BB74-36A4-DA42-95C3-2E6E10798353}">
      <dsp:nvSpPr>
        <dsp:cNvPr id="0" name=""/>
        <dsp:cNvSpPr/>
      </dsp:nvSpPr>
      <dsp:spPr>
        <a:xfrm>
          <a:off x="5919668" y="313952"/>
          <a:ext cx="1793154" cy="2510415"/>
        </a:xfrm>
        <a:prstGeom prst="rect">
          <a:avLst/>
        </a:prstGeom>
        <a:solidFill>
          <a:schemeClr val="accent4">
            <a:tint val="40000"/>
            <a:alpha val="90000"/>
            <a:hueOff val="11154917"/>
            <a:satOff val="38059"/>
            <a:lumOff val="16277"/>
            <a:alphaOff val="0"/>
          </a:schemeClr>
        </a:solidFill>
        <a:ln w="12700" cap="flat" cmpd="sng" algn="ctr">
          <a:solidFill>
            <a:schemeClr val="accent4">
              <a:tint val="40000"/>
              <a:alpha val="90000"/>
              <a:hueOff val="11154917"/>
              <a:satOff val="38059"/>
              <a:lumOff val="162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801" tIns="330200" rIns="139801" bIns="330200" numCol="1" spcCol="1270" anchor="t" anchorCtr="0">
          <a:noAutofit/>
        </a:bodyPr>
        <a:lstStyle/>
        <a:p>
          <a:pPr marL="0" lvl="0" indent="0" algn="l" defTabSz="533400">
            <a:lnSpc>
              <a:spcPct val="90000"/>
            </a:lnSpc>
            <a:spcBef>
              <a:spcPct val="0"/>
            </a:spcBef>
            <a:spcAft>
              <a:spcPct val="35000"/>
            </a:spcAft>
            <a:buNone/>
          </a:pPr>
          <a:r>
            <a:rPr lang="en-US" sz="1200" kern="1200"/>
            <a:t>Ensure that supports are outcome oriented and regularly monitored</a:t>
          </a:r>
        </a:p>
      </dsp:txBody>
      <dsp:txXfrm>
        <a:off x="5919668" y="1267910"/>
        <a:ext cx="1793154" cy="1506249"/>
      </dsp:txXfrm>
    </dsp:sp>
    <dsp:sp modelId="{195FA487-A376-E44F-9697-E2A2FA4D6A1C}">
      <dsp:nvSpPr>
        <dsp:cNvPr id="0" name=""/>
        <dsp:cNvSpPr/>
      </dsp:nvSpPr>
      <dsp:spPr>
        <a:xfrm>
          <a:off x="6439683" y="564993"/>
          <a:ext cx="753124" cy="753124"/>
        </a:xfrm>
        <a:prstGeom prst="ellipse">
          <a:avLst/>
        </a:prstGeom>
        <a:solidFill>
          <a:schemeClr val="accent4">
            <a:hueOff val="9551121"/>
            <a:satOff val="33963"/>
            <a:lumOff val="76807"/>
            <a:alphaOff val="0"/>
          </a:schemeClr>
        </a:solidFill>
        <a:ln w="12700" cap="flat" cmpd="sng" algn="ctr">
          <a:solidFill>
            <a:schemeClr val="accent4">
              <a:hueOff val="9551121"/>
              <a:satOff val="33963"/>
              <a:lumOff val="7680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58717" tIns="12700" rIns="58717" bIns="12700" numCol="1" spcCol="1270" anchor="ctr" anchorCtr="0">
          <a:noAutofit/>
        </a:bodyPr>
        <a:lstStyle/>
        <a:p>
          <a:pPr marL="0" lvl="0" indent="0" algn="ctr" defTabSz="1600200">
            <a:lnSpc>
              <a:spcPct val="90000"/>
            </a:lnSpc>
            <a:spcBef>
              <a:spcPct val="0"/>
            </a:spcBef>
            <a:spcAft>
              <a:spcPct val="35000"/>
            </a:spcAft>
            <a:buNone/>
          </a:pPr>
          <a:r>
            <a:rPr lang="en-US" sz="3600" kern="1200"/>
            <a:t>4</a:t>
          </a:r>
        </a:p>
      </dsp:txBody>
      <dsp:txXfrm>
        <a:off x="6549975" y="675285"/>
        <a:ext cx="532540" cy="532540"/>
      </dsp:txXfrm>
    </dsp:sp>
    <dsp:sp modelId="{50FB6A22-3EC1-B44E-B4B2-CFAA6E3B27FB}">
      <dsp:nvSpPr>
        <dsp:cNvPr id="0" name=""/>
        <dsp:cNvSpPr/>
      </dsp:nvSpPr>
      <dsp:spPr>
        <a:xfrm>
          <a:off x="5919668" y="2824295"/>
          <a:ext cx="1793154" cy="72"/>
        </a:xfrm>
        <a:prstGeom prst="rect">
          <a:avLst/>
        </a:prstGeom>
        <a:solidFill>
          <a:schemeClr val="accent4">
            <a:hueOff val="11142974"/>
            <a:satOff val="39624"/>
            <a:lumOff val="89608"/>
            <a:alphaOff val="0"/>
          </a:schemeClr>
        </a:solidFill>
        <a:ln w="12700" cap="flat" cmpd="sng" algn="ctr">
          <a:solidFill>
            <a:schemeClr val="accent4">
              <a:hueOff val="11142974"/>
              <a:satOff val="39624"/>
              <a:lumOff val="8960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heme" Target="../theme/theme6.xml"/><Relationship Id="rId4" Type="http://schemas.openxmlformats.org/officeDocument/2006/relationships/image" Target="../media/image6.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2D49F3F-9924-B744-9871-F7152E7D54FF}"/>
              </a:ext>
            </a:extLst>
          </p:cNvPr>
          <p:cNvSpPr>
            <a:spLocks noChangeArrowheads="1"/>
          </p:cNvSpPr>
          <p:nvPr/>
        </p:nvSpPr>
        <p:spPr bwMode="auto">
          <a:xfrm>
            <a:off x="3200400" y="8588375"/>
            <a:ext cx="28956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ctr">
              <a:defRPr/>
            </a:pPr>
            <a:endParaRPr lang="en-US" altLang="en-US" sz="1400"/>
          </a:p>
        </p:txBody>
      </p:sp>
      <p:sp>
        <p:nvSpPr>
          <p:cNvPr id="6147" name="Rectangle 7">
            <a:extLst>
              <a:ext uri="{FF2B5EF4-FFF2-40B4-BE49-F238E27FC236}">
                <a16:creationId xmlns:a16="http://schemas.microsoft.com/office/drawing/2014/main" id="{1030BE6A-464B-E34C-AB76-A01819BE9C23}"/>
              </a:ext>
            </a:extLst>
          </p:cNvPr>
          <p:cNvSpPr>
            <a:spLocks noChangeArrowheads="1"/>
          </p:cNvSpPr>
          <p:nvPr/>
        </p:nvSpPr>
        <p:spPr bwMode="auto">
          <a:xfrm>
            <a:off x="4800600" y="152400"/>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r">
              <a:defRPr/>
            </a:pPr>
            <a:fld id="{8D4E4D53-0970-F546-A9C7-D6A61D694C5D}" type="slidenum">
              <a:rPr lang="en-US" altLang="en-US" sz="1400" smtClean="0"/>
              <a:pPr algn="r">
                <a:defRPr/>
              </a:pPr>
              <a:t>‹#›</a:t>
            </a:fld>
            <a:endParaRPr lang="en-US" altLang="en-US" sz="1400"/>
          </a:p>
        </p:txBody>
      </p:sp>
      <p:sp>
        <p:nvSpPr>
          <p:cNvPr id="6148" name="Rectangle 8">
            <a:extLst>
              <a:ext uri="{FF2B5EF4-FFF2-40B4-BE49-F238E27FC236}">
                <a16:creationId xmlns:a16="http://schemas.microsoft.com/office/drawing/2014/main" id="{F1404091-10E7-F740-B935-7D4A70EB1FB3}"/>
              </a:ext>
            </a:extLst>
          </p:cNvPr>
          <p:cNvSpPr>
            <a:spLocks noChangeArrowheads="1"/>
          </p:cNvSpPr>
          <p:nvPr/>
        </p:nvSpPr>
        <p:spPr bwMode="auto">
          <a:xfrm>
            <a:off x="152400" y="8305800"/>
            <a:ext cx="6400800" cy="685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sp>
        <p:nvSpPr>
          <p:cNvPr id="6149" name="Rectangle 9">
            <a:extLst>
              <a:ext uri="{FF2B5EF4-FFF2-40B4-BE49-F238E27FC236}">
                <a16:creationId xmlns:a16="http://schemas.microsoft.com/office/drawing/2014/main" id="{6B8173CC-10BB-BD49-8A54-CAB49455DE75}"/>
              </a:ext>
            </a:extLst>
          </p:cNvPr>
          <p:cNvSpPr>
            <a:spLocks noChangeArrowheads="1"/>
          </p:cNvSpPr>
          <p:nvPr/>
        </p:nvSpPr>
        <p:spPr bwMode="auto">
          <a:xfrm>
            <a:off x="152400" y="8305800"/>
            <a:ext cx="6400800" cy="128588"/>
          </a:xfrm>
          <a:prstGeom prst="rect">
            <a:avLst/>
          </a:prstGeom>
          <a:solidFill>
            <a:srgbClr val="0099CC"/>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pic>
        <p:nvPicPr>
          <p:cNvPr id="14342" name="Picture 11" descr="iciPPT_BIG">
            <a:extLst>
              <a:ext uri="{FF2B5EF4-FFF2-40B4-BE49-F238E27FC236}">
                <a16:creationId xmlns:a16="http://schemas.microsoft.com/office/drawing/2014/main" id="{E1BCF9E8-2C2F-7B43-B622-5DBC417ED4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458200"/>
            <a:ext cx="3048000" cy="488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4343" name="Group 14">
            <a:extLst>
              <a:ext uri="{FF2B5EF4-FFF2-40B4-BE49-F238E27FC236}">
                <a16:creationId xmlns:a16="http://schemas.microsoft.com/office/drawing/2014/main" id="{374E0F2B-D057-1A4D-A72F-67572FFA44A4}"/>
              </a:ext>
            </a:extLst>
          </p:cNvPr>
          <p:cNvGrpSpPr>
            <a:grpSpLocks/>
          </p:cNvGrpSpPr>
          <p:nvPr/>
        </p:nvGrpSpPr>
        <p:grpSpPr bwMode="auto">
          <a:xfrm>
            <a:off x="5638800" y="8486775"/>
            <a:ext cx="762000" cy="438150"/>
            <a:chOff x="5103" y="5266"/>
            <a:chExt cx="586" cy="336"/>
          </a:xfrm>
        </p:grpSpPr>
        <p:pic>
          <p:nvPicPr>
            <p:cNvPr id="14344" name="Picture 10" descr="umb_white">
              <a:extLst>
                <a:ext uri="{FF2B5EF4-FFF2-40B4-BE49-F238E27FC236}">
                  <a16:creationId xmlns:a16="http://schemas.microsoft.com/office/drawing/2014/main" id="{BEF3E9E6-CF8F-0D4A-A297-1F4055C77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 y="5266"/>
              <a:ext cx="273"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5" name="Picture 12" descr="CHB_reverse_BIG">
              <a:extLst>
                <a:ext uri="{FF2B5EF4-FFF2-40B4-BE49-F238E27FC236}">
                  <a16:creationId xmlns:a16="http://schemas.microsoft.com/office/drawing/2014/main" id="{54F73BC5-B41D-094E-A18A-8F04676241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4" y="5266"/>
              <a:ext cx="265"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val="39200880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9B3A64B-BD29-B64A-A470-7398DC6053A5}"/>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5" name="Rectangle 3">
            <a:extLst>
              <a:ext uri="{FF2B5EF4-FFF2-40B4-BE49-F238E27FC236}">
                <a16:creationId xmlns:a16="http://schemas.microsoft.com/office/drawing/2014/main" id="{CEB1B764-1E3D-F94C-AFE8-93CA8696BBC6}"/>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13316" name="Rectangle 4">
            <a:extLst>
              <a:ext uri="{FF2B5EF4-FFF2-40B4-BE49-F238E27FC236}">
                <a16:creationId xmlns:a16="http://schemas.microsoft.com/office/drawing/2014/main" id="{BAF8533A-3C1A-B542-944B-EAD4B68E1EB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3077" name="Rectangle 5">
            <a:extLst>
              <a:ext uri="{FF2B5EF4-FFF2-40B4-BE49-F238E27FC236}">
                <a16:creationId xmlns:a16="http://schemas.microsoft.com/office/drawing/2014/main" id="{626E4560-BA05-2040-A535-1FA0A95D97D1}"/>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a:extLst>
              <a:ext uri="{FF2B5EF4-FFF2-40B4-BE49-F238E27FC236}">
                <a16:creationId xmlns:a16="http://schemas.microsoft.com/office/drawing/2014/main" id="{C758BAA2-FE2D-464F-9111-FEF4CCCC94AD}"/>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9" name="Rectangle 7">
            <a:extLst>
              <a:ext uri="{FF2B5EF4-FFF2-40B4-BE49-F238E27FC236}">
                <a16:creationId xmlns:a16="http://schemas.microsoft.com/office/drawing/2014/main" id="{3D9E1561-AF14-5440-BAC2-6453D18CFFE2}"/>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pPr>
              <a:defRPr/>
            </a:pPr>
            <a:fld id="{1E6EAF8F-0920-7444-BF36-95ABB4CBBBE1}" type="slidenum">
              <a:rPr lang="en-US" altLang="en-US"/>
              <a:pPr>
                <a:defRPr/>
              </a:pPr>
              <a:t>‹#›</a:t>
            </a:fld>
            <a:endParaRPr lang="en-US" altLang="en-US"/>
          </a:p>
        </p:txBody>
      </p:sp>
    </p:spTree>
    <p:extLst>
      <p:ext uri="{BB962C8B-B14F-4D97-AF65-F5344CB8AC3E}">
        <p14:creationId xmlns:p14="http://schemas.microsoft.com/office/powerpoint/2010/main" val="166791328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cs typeface="Calibri"/>
              </a:rPr>
              <a:t>Hi everyone, we are going to kick of this session, entitled: creating a vision and planning for employment and community life engagement. My name is Staci jones, I am a  technical assistance and policy associate from the institute on community inclusion at the university of Massachusetts at Boston.  I'm joined by 3 other colleagues today, each of whom will be introducing themselves as we move through our material today, and note that contact information and key hyperlinks are included in the presenter handout in the conference platform. </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1</a:t>
            </a:fld>
            <a:endParaRPr lang="en-US" altLang="en-US"/>
          </a:p>
        </p:txBody>
      </p:sp>
    </p:spTree>
    <p:extLst>
      <p:ext uri="{BB962C8B-B14F-4D97-AF65-F5344CB8AC3E}">
        <p14:creationId xmlns:p14="http://schemas.microsoft.com/office/powerpoint/2010/main" val="887373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cs typeface="Arial"/>
              </a:rPr>
              <a:t>I, along with the other colleagues joining me for today's presentation,  are part of what is called the state employment leadership network or the SELN. For those that are not familiar, the SELN is a membership organization made of state intellectual and developmental disabilities agencies across the country. The SELN was launched back in 2006 and is a joint project between ICI Umass Boston as well as the National Association of State Directors of Developmental Disabilities Services (or NASDDDS), There are currently 26 SELN states, and I am sharing on my screen a map of the united states and the current SELN member states are highlighted in green. The SELN provides a way for states to connect and collaborate regarding employment related issues (at state and federal levels) for individuals with developmental disabilities. Today we are joined by staff from the state of Utah who will be sharing some of their perspectives and tool and you will meet them </a:t>
            </a:r>
            <a:r>
              <a:rPr lang="en-US">
                <a:latin typeface="Arial"/>
                <a:cs typeface="Arial"/>
              </a:rPr>
              <a:t>a little later on.  </a:t>
            </a:r>
            <a:r>
              <a:rPr lang="en-US" dirty="0">
                <a:latin typeface="Arial"/>
                <a:cs typeface="Arial"/>
              </a:rPr>
              <a:t>If you'd like to read more about the SELN and what's happening in our member states you can go to www.SELNhub.org </a:t>
            </a:r>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a:t>
            </a:fld>
            <a:endParaRPr lang="en-US" altLang="en-US"/>
          </a:p>
        </p:txBody>
      </p:sp>
    </p:spTree>
    <p:extLst>
      <p:ext uri="{BB962C8B-B14F-4D97-AF65-F5344CB8AC3E}">
        <p14:creationId xmlns:p14="http://schemas.microsoft.com/office/powerpoint/2010/main" val="3498341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cs typeface="Calibri"/>
              </a:rPr>
              <a:t>But, before we move through our presentation we want to take a quick poll to see who has joined today. When the poll pops onto your screen just pick the role that most closely describes you. And if your role isn't represented, feel free to click other. Options in the poll include:  person with a disability, family member, state agency, service provider, case manager, education /transition or other.  And as we get started here, please feel free to post an introduction in the chat of where you are from and what your roll is. </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3</a:t>
            </a:fld>
            <a:endParaRPr lang="en-US" altLang="en-US"/>
          </a:p>
        </p:txBody>
      </p:sp>
    </p:spTree>
    <p:extLst>
      <p:ext uri="{BB962C8B-B14F-4D97-AF65-F5344CB8AC3E}">
        <p14:creationId xmlns:p14="http://schemas.microsoft.com/office/powerpoint/2010/main" val="1094547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cs typeface="Arial"/>
              </a:rPr>
              <a:t>Now to set the stage, I want to quickly share a few data points that provide some context to the resources my colleagues will be sharing related to supporting pathways to employment.  On my screen I am sharing a graph that highlights data from the ICI national survey of state intellectual and developmental disabilities agencies starting all the way back in 1989 all the way through 2021. This data shows clearly in this green section that the largest and fastest growing category of people receiving funded employment and/or day services is in this nonwork category. And while we can see that integrated employment has continued to grow over the years and that facility based work has continued to decrease, far and away what we're seeing is this immense growth in the category of non-work day services.  Just a quick note that you can find out more about the national data survey and all kinds of other employment related data at statedata.info </a:t>
            </a:r>
            <a:endParaRPr lang="en-US" dirty="0">
              <a:cs typeface="Arial"/>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a:t>
            </a:fld>
            <a:endParaRPr lang="en-US" altLang="en-US"/>
          </a:p>
        </p:txBody>
      </p:sp>
    </p:spTree>
    <p:extLst>
      <p:ext uri="{BB962C8B-B14F-4D97-AF65-F5344CB8AC3E}">
        <p14:creationId xmlns:p14="http://schemas.microsoft.com/office/powerpoint/2010/main" val="508157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cs typeface="Calibri"/>
              </a:rPr>
              <a:t>Keeping that last data in mind I now want to share the most recent national core indicator data from 2021 (and you can find this data at nationalcoreindicators.org), this data shows that out of individuals with disabilities surveyed, 86% reported not having a job. Out of that 86%, 51% of people reported WANTING a job. And perhaps the most critical piece of data here is that only 37% report having an employment goal in their current person centered service plans.  So we can see from this data the discrepancy between what people report wanting in their lives vs what might end up in their service plan. </a:t>
            </a:r>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5</a:t>
            </a:fld>
            <a:endParaRPr lang="en-US" altLang="en-US"/>
          </a:p>
        </p:txBody>
      </p:sp>
    </p:spTree>
    <p:extLst>
      <p:ext uri="{BB962C8B-B14F-4D97-AF65-F5344CB8AC3E}">
        <p14:creationId xmlns:p14="http://schemas.microsoft.com/office/powerpoint/2010/main" val="2896030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20000"/>
              </a:spcBef>
            </a:pPr>
            <a:r>
              <a:rPr lang="en-US" dirty="0">
                <a:latin typeface="Arial"/>
                <a:cs typeface="Arial"/>
              </a:rPr>
              <a:t>Both of those pieces of data highlight the importance of shining a light on what is happening in that nonwork category of services. ICI </a:t>
            </a:r>
            <a:r>
              <a:rPr lang="en-US" dirty="0" err="1">
                <a:latin typeface="Arial"/>
                <a:cs typeface="Arial"/>
              </a:rPr>
              <a:t>umass</a:t>
            </a:r>
            <a:r>
              <a:rPr lang="en-US" dirty="0">
                <a:latin typeface="Arial"/>
                <a:cs typeface="Arial"/>
              </a:rPr>
              <a:t> </a:t>
            </a:r>
            <a:r>
              <a:rPr lang="en-US" dirty="0" err="1">
                <a:latin typeface="Arial"/>
                <a:cs typeface="Arial"/>
              </a:rPr>
              <a:t>boston</a:t>
            </a:r>
            <a:r>
              <a:rPr lang="en-US" dirty="0">
                <a:latin typeface="Arial"/>
                <a:cs typeface="Arial"/>
              </a:rPr>
              <a:t> has research and resources related to the importance of supporting community life engagement. And Community Life Engagement essentially includes all the ways that people with disabilities access typical community settings and services when they are not working, including things like volunteerism, post secondary or continuing education, accessing community facilities such as a local library, gym, or recreation center; participation in retirement or senior activities; and anything else people with and without disabilities do in their off-work time. Community life engagement  may also support some level of career exploration for those that are not yet working or people that are between jobs. Just like for all of us, community life engagement can could supplement employment hours for people working part- time, or serve as a retirement option for older adults.  Here on the screen are what are known as the 4 guideposts of community life engagement. These guideposts emerged from research at ICI </a:t>
            </a:r>
            <a:r>
              <a:rPr lang="en-US" dirty="0" err="1">
                <a:latin typeface="Arial"/>
                <a:cs typeface="Arial"/>
              </a:rPr>
              <a:t>Umass</a:t>
            </a:r>
            <a:r>
              <a:rPr lang="en-US" dirty="0">
                <a:latin typeface="Arial"/>
                <a:cs typeface="Arial"/>
              </a:rPr>
              <a:t> and basically establish a set of quality indicators for states and provider organizations to consider when building out their services that may support Community Life Engagement. The guideposts include individualizing supports for each person, promotion of community membership and contribution, the building of relationships and skills in order to reduce reliance on paid supports and ensuring supports are outcome orientated and regularly monitored. </a:t>
            </a:r>
          </a:p>
          <a:p>
            <a:pPr marL="257175" indent="-171450">
              <a:spcBef>
                <a:spcPct val="20000"/>
              </a:spcBef>
              <a:buFont typeface="Arial,Sans-Serif"/>
              <a:buChar char="•"/>
            </a:pPr>
            <a:endParaRPr lang="en-US" dirty="0">
              <a:latin typeface="Arial"/>
              <a:cs typeface="Arial"/>
            </a:endParaRPr>
          </a:p>
          <a:p>
            <a:endParaRPr lang="en-US" dirty="0">
              <a:latin typeface="Calibri"/>
              <a:cs typeface="Calibri"/>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6</a:t>
            </a:fld>
            <a:endParaRPr lang="en-US" altLang="en-US"/>
          </a:p>
        </p:txBody>
      </p:sp>
    </p:spTree>
    <p:extLst>
      <p:ext uri="{BB962C8B-B14F-4D97-AF65-F5344CB8AC3E}">
        <p14:creationId xmlns:p14="http://schemas.microsoft.com/office/powerpoint/2010/main" val="3831087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cs typeface="Arial"/>
              </a:rPr>
              <a:t>And finally, I  want to highlight one last thing, which is a joint brief that was drafted by the office of special education and </a:t>
            </a:r>
            <a:r>
              <a:rPr lang="en-US" dirty="0" err="1">
                <a:latin typeface="Arial"/>
                <a:cs typeface="Arial"/>
              </a:rPr>
              <a:t>rehabiitative</a:t>
            </a:r>
            <a:r>
              <a:rPr lang="en-US" dirty="0">
                <a:latin typeface="Arial"/>
                <a:cs typeface="Arial"/>
              </a:rPr>
              <a:t> services, the office of disability employment policy, the administration for community living and the substance abuse and mental health services administration...and there is a link to this brief in our presenter handout if you'd like to read it. But what I want to point out is that this brief, acknowledges that people with disabilities continue to be unemployed, under employed and employed at low wages and that meaningful community engagement may lead to better employment outcomes. And there is one quote in particular I want to draw your attention to:   "Maximizing all opportunities for community engagement through collaborative and coordinated service planning and delivery, that support personal interests and goals, keeps individuals on the path to competitive integrated employment." This is important to keep in mind while also considering the data I just shared about the growth of non-work services.  I'm now going to pass things off to my colleague Amy </a:t>
            </a:r>
            <a:r>
              <a:rPr lang="en-US" dirty="0" err="1">
                <a:latin typeface="Arial"/>
                <a:cs typeface="Arial"/>
              </a:rPr>
              <a:t>Huppi</a:t>
            </a:r>
            <a:r>
              <a:rPr lang="en-US" dirty="0">
                <a:latin typeface="Arial"/>
                <a:cs typeface="Arial"/>
              </a:rPr>
              <a:t> to talk about the important role of case managers in supporting a pathway to employment and community life. </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7</a:t>
            </a:fld>
            <a:endParaRPr lang="en-US" altLang="en-US"/>
          </a:p>
        </p:txBody>
      </p:sp>
    </p:spTree>
    <p:extLst>
      <p:ext uri="{BB962C8B-B14F-4D97-AF65-F5344CB8AC3E}">
        <p14:creationId xmlns:p14="http://schemas.microsoft.com/office/powerpoint/2010/main" val="332567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Amy- Case Management and eLearning </a:t>
            </a:r>
          </a:p>
          <a:p>
            <a:endParaRPr lang="en-US">
              <a:cs typeface="Arial"/>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8</a:t>
            </a:fld>
            <a:endParaRPr lang="en-US" altLang="en-US"/>
          </a:p>
        </p:txBody>
      </p:sp>
    </p:spTree>
    <p:extLst>
      <p:ext uri="{BB962C8B-B14F-4D97-AF65-F5344CB8AC3E}">
        <p14:creationId xmlns:p14="http://schemas.microsoft.com/office/powerpoint/2010/main" val="1124405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Arial"/>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9</a:t>
            </a:fld>
            <a:endParaRPr lang="en-US" altLang="en-US"/>
          </a:p>
        </p:txBody>
      </p:sp>
    </p:spTree>
    <p:extLst>
      <p:ext uri="{BB962C8B-B14F-4D97-AF65-F5344CB8AC3E}">
        <p14:creationId xmlns:p14="http://schemas.microsoft.com/office/powerpoint/2010/main" val="4266404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pPr>
            <a:endParaRPr lang="en-US">
              <a:latin typeface="Arial"/>
              <a:cs typeface="Arial"/>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10</a:t>
            </a:fld>
            <a:endParaRPr lang="en-US" altLang="en-US"/>
          </a:p>
        </p:txBody>
      </p:sp>
    </p:spTree>
    <p:extLst>
      <p:ext uri="{BB962C8B-B14F-4D97-AF65-F5344CB8AC3E}">
        <p14:creationId xmlns:p14="http://schemas.microsoft.com/office/powerpoint/2010/main" val="3910639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48c0ec6322_0_1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48c0ec6322_0_18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1" name="Google Shape;81;g248c0ec6322_0_180: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9596f01b16_1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9596f01b16_1_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The information on this slide is taken directly from the employment pathway tool section describing the design. That section describes in full how the tool is organized, starting with these statements and graphic. The intention there was not to lose sight of the purpose of providing the opportunity for employment by ensuring every working age person, from age 14-65, has exposure to the options available to them for competitive and integrated employment, the current information connected to potential options, and some hands-on experiences to make a decision about working. We also included some reminders for case managers and others leading the conversation about what should be accomplished as a result of the conversation. Informed choice is at the core of this tool. We use this informed choice graphic in a lot of our resources to emphasize the importance of  and what makes up an informed choice. </a:t>
            </a:r>
            <a:endParaRPr/>
          </a:p>
          <a:p>
            <a:pPr marL="0" lvl="0" indent="0" algn="l" rtl="0">
              <a:spcBef>
                <a:spcPts val="360"/>
              </a:spcBef>
              <a:spcAft>
                <a:spcPts val="0"/>
              </a:spcAft>
              <a:buNone/>
            </a:pPr>
            <a:r>
              <a:rPr lang="en-US"/>
              <a:t>AND/OR</a:t>
            </a:r>
            <a:endParaRPr/>
          </a:p>
          <a:p>
            <a:pPr marL="0" lvl="0" indent="0" algn="l" rtl="0">
              <a:spcBef>
                <a:spcPts val="360"/>
              </a:spcBef>
              <a:spcAft>
                <a:spcPts val="0"/>
              </a:spcAft>
              <a:buNone/>
            </a:pPr>
            <a:r>
              <a:rPr lang="en-US"/>
              <a:t>The Pathway Tool was published for Utah’s Disability Services system to make sure informed choice was individual, person-centered, and current, and that the resources available were being used effectively to educate and provide exposure to what competitive integrated employment could look like, one person at a time. We want to do more than just to check the box for informed choice. We provide weekly technical assistance on how the tool can help the full support team to have person-centered conversations, be flexible when a person does not communicate verbally, and how to connect a conversation with a hands-on experience, reminding providers that the conversation alone - or just providing information - is not full informed choice.   </a:t>
            </a:r>
            <a:endParaRPr/>
          </a:p>
          <a:p>
            <a:pPr marL="0" lvl="0" indent="0" algn="l" rtl="0">
              <a:spcBef>
                <a:spcPts val="360"/>
              </a:spcBef>
              <a:spcAft>
                <a:spcPts val="0"/>
              </a:spcAft>
              <a:buNone/>
            </a:pPr>
            <a:endParaRPr/>
          </a:p>
          <a:p>
            <a:pPr marL="0" lvl="0" indent="0" algn="l" rtl="0">
              <a:spcBef>
                <a:spcPts val="360"/>
              </a:spcBef>
              <a:spcAft>
                <a:spcPts val="0"/>
              </a:spcAft>
              <a:buNone/>
            </a:pPr>
            <a:endParaRPr/>
          </a:p>
        </p:txBody>
      </p:sp>
      <p:sp>
        <p:nvSpPr>
          <p:cNvPr id="90" name="Google Shape;90;g29596f01b16_1_22: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9596f01b16_1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9596f01b16_1_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The DSPD Employment Pathway Tool is meant to provide a facilitator with a guided conversation to support a person to reach informed choice for employment. In Utah, each case manager or support coordinator is required to hold an informed choice conversation for employment at least annually. We heard from different sources that this annual conversation about employment, was typically one question, do you want to work? We recognized that one question was not enough for a person to really understand their potential for employment and that a tool was needed to make that conversation much more robust. As we prepared for what a Utah specific resource for those conversations could look like, we leaned on the resources listed here. Similar guided conversation tools and resources are available in other states, we leaned heavily on content from Pennsylvania, South Dakota, Oregon and others. We also reference the State Employment Leadership Network or SELN’s Guidance for Conversations document. Utah has been an SELN member for 3 years; they provided technical assistance and support as we worked through each phase of this project. We also reference Charting the Life Course's person-centered planning tools and approach. We are in the process in Utah of embedding Charting the Life Course (CtLC) practices into all our person-centered planning. The DSPD Employment Pathway Tool represents just one document or resource being implemented to help a person to be included and integrated in their community through work and other interests. Last, we reviewed some of the previously developed internal resources to ensure alignment between existing documents and the Employment Pathway Tool.  </a:t>
            </a:r>
            <a:endParaRPr/>
          </a:p>
          <a:p>
            <a:pPr marL="0" lvl="0" indent="0" algn="l" rtl="0">
              <a:spcBef>
                <a:spcPts val="360"/>
              </a:spcBef>
              <a:spcAft>
                <a:spcPts val="0"/>
              </a:spcAft>
              <a:buNone/>
            </a:pPr>
            <a:endParaRPr/>
          </a:p>
        </p:txBody>
      </p:sp>
      <p:sp>
        <p:nvSpPr>
          <p:cNvPr id="98" name="Google Shape;98;g29596f01b16_1_9: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9596f01b16_1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9596f01b16_1_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SLIDE 4: Our team spent about 6 months brainstorming and created several different drafts of the tool to make sure it included all the right information and not a smidge more. This was challenging to say the least. We had a lot of great help from our many partners who we engaged with throughout this process. They reviewed and gave feedback on the tool as part of a workgroup we developed to enhance our person-centered support plans. We also had many direct discussions with Vocational Rehabilitation to make sure all references to their services were both accurate and helpful. </a:t>
            </a:r>
            <a:endParaRPr/>
          </a:p>
          <a:p>
            <a:pPr marL="0" lvl="0" indent="0" algn="l" rtl="0">
              <a:spcBef>
                <a:spcPts val="360"/>
              </a:spcBef>
              <a:spcAft>
                <a:spcPts val="0"/>
              </a:spcAft>
              <a:buNone/>
            </a:pPr>
            <a:endParaRPr/>
          </a:p>
          <a:p>
            <a:pPr marL="0" lvl="0" indent="0" algn="l" rtl="0">
              <a:spcBef>
                <a:spcPts val="360"/>
              </a:spcBef>
              <a:spcAft>
                <a:spcPts val="0"/>
              </a:spcAft>
              <a:buNone/>
            </a:pPr>
            <a:r>
              <a:rPr lang="en-US"/>
              <a:t>Next we wanted to provide you with a breakdown of how Utah went about testing the DSPD Employment Pathway Tool.  We started by asking for volunteers from our contracted case managers to help us. We started the pilot with about 10 people. This was during the pandemic, so by the end we had about 5 consistently testing the tool with willing participants on their caseloads. Some DSPD state staff also completed a guided conversation to test the tool. Each case manager was asked to find 1 or 2 people to complete the tool with each month. After using the tool, they completed a feedback form and attended a short debrief. We treated each round or month as a phase, only focusing our feedback on one section at a time. We started by having the group identify if they thought the tool was user friendly and easy to follow. The next phase was to identify if the questions under each pathway they chose were useful or helpful. The final phase was to determine what suggested next steps were most useful or helpful. Between each phase we made edits and adjustments to the tool. All of this feedback was gathered from the pdf version we offered in the link. After we had gathered that feedback and made edits, some talented DSPD developers helped us create an electronic version, which a few support coordinators also tested. We want to say thank you publicly to all the people who helped us on this project, the next slides are just a few comments sent in on the tool. </a:t>
            </a:r>
            <a:endParaRPr/>
          </a:p>
          <a:p>
            <a:pPr marL="0" lvl="0" indent="0" algn="l" rtl="0">
              <a:spcBef>
                <a:spcPts val="360"/>
              </a:spcBef>
              <a:spcAft>
                <a:spcPts val="0"/>
              </a:spcAft>
              <a:buNone/>
            </a:pPr>
            <a:endParaRPr/>
          </a:p>
          <a:p>
            <a:pPr marL="0" lvl="0" indent="0" algn="l" rtl="0">
              <a:spcBef>
                <a:spcPts val="360"/>
              </a:spcBef>
              <a:spcAft>
                <a:spcPts val="0"/>
              </a:spcAft>
              <a:buNone/>
            </a:pPr>
            <a:r>
              <a:rPr lang="en-US"/>
              <a:t>COMMENTS and FEEDBACK</a:t>
            </a:r>
            <a:endParaRPr/>
          </a:p>
          <a:p>
            <a:pPr marL="0" lvl="0" indent="0" algn="l" rtl="0">
              <a:spcBef>
                <a:spcPts val="360"/>
              </a:spcBef>
              <a:spcAft>
                <a:spcPts val="0"/>
              </a:spcAft>
              <a:buNone/>
            </a:pPr>
            <a:r>
              <a:rPr lang="en-US"/>
              <a:t>“The questions were centered around helping our client to make the best informed decision regarding his employment desires. He has been kind of all over the board on what he wants, and the questions help us to get a clearer picture of what would be a good fit for him at this point in his life.”</a:t>
            </a:r>
            <a:endParaRPr/>
          </a:p>
          <a:p>
            <a:pPr marL="0" lvl="0" indent="0" algn="l" rtl="0">
              <a:spcBef>
                <a:spcPts val="360"/>
              </a:spcBef>
              <a:spcAft>
                <a:spcPts val="0"/>
              </a:spcAft>
              <a:buNone/>
            </a:pPr>
            <a:r>
              <a:rPr lang="en-US"/>
              <a:t>“I was very impressed by this tool, and the way that it opened up our client to being able to lead the meeting into a place where he was able to let us know what he likes, and what he dislikes in an employment pathway.”</a:t>
            </a:r>
            <a:endParaRPr/>
          </a:p>
          <a:p>
            <a:pPr marL="0" lvl="0" indent="0" algn="l" rtl="0">
              <a:spcBef>
                <a:spcPts val="360"/>
              </a:spcBef>
              <a:spcAft>
                <a:spcPts val="0"/>
              </a:spcAft>
              <a:buNone/>
            </a:pPr>
            <a:r>
              <a:rPr lang="en-US"/>
              <a:t>“The individual really enjoyed the attention and being able to talk about his desires and possibilities including studying for his permit.”</a:t>
            </a:r>
            <a:endParaRPr/>
          </a:p>
          <a:p>
            <a:pPr marL="0" lvl="0" indent="0" algn="l" rtl="0">
              <a:spcBef>
                <a:spcPts val="360"/>
              </a:spcBef>
              <a:spcAft>
                <a:spcPts val="0"/>
              </a:spcAft>
              <a:buNone/>
            </a:pPr>
            <a:r>
              <a:rPr lang="en-US"/>
              <a:t>“Yes, it is a common sense approach to employment.”</a:t>
            </a:r>
            <a:endParaRPr/>
          </a:p>
          <a:p>
            <a:pPr marL="0" lvl="0" indent="0" algn="l" rtl="0">
              <a:spcBef>
                <a:spcPts val="360"/>
              </a:spcBef>
              <a:spcAft>
                <a:spcPts val="0"/>
              </a:spcAft>
              <a:buNone/>
            </a:pPr>
            <a:r>
              <a:rPr lang="en-US"/>
              <a:t>This is a sample of some of the comments we received. In general the feedback was to add or repeat some frequently used questions in all the pathways, that the tool was easier the more familiar it became, and that the tool should be more responsive to some unique situations and circumstances. We will cover that last one at the end. </a:t>
            </a:r>
            <a:endParaRPr/>
          </a:p>
          <a:p>
            <a:pPr marL="0" lvl="0" indent="0" algn="l" rtl="0">
              <a:spcBef>
                <a:spcPts val="360"/>
              </a:spcBef>
              <a:spcAft>
                <a:spcPts val="0"/>
              </a:spcAft>
              <a:buNone/>
            </a:pPr>
            <a:r>
              <a:rPr lang="en-US"/>
              <a:t>Generally though the feedback is encouraging: “the questions help us to get a clearer picture of what would be a good fit for him at this point in his life”... the person was  “able to lead the meeting into a place where he was able to let us know what he likes, and what he dislikes..” And that “it is a common sense approach to employment.”</a:t>
            </a:r>
            <a:endParaRPr/>
          </a:p>
          <a:p>
            <a:pPr marL="0" lvl="0" indent="0" algn="l" rtl="0">
              <a:spcBef>
                <a:spcPts val="360"/>
              </a:spcBef>
              <a:spcAft>
                <a:spcPts val="0"/>
              </a:spcAft>
              <a:buNone/>
            </a:pPr>
            <a:endParaRPr/>
          </a:p>
        </p:txBody>
      </p:sp>
      <p:sp>
        <p:nvSpPr>
          <p:cNvPr id="105" name="Google Shape;105;g29596f01b16_1_15: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48c0ec6322_0_3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48c0ec6322_0_34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3" name="Google Shape;113;g248c0ec6322_0_349: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48c0ec6322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9" name="Google Shape;119;g248c0ec6322_0_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Lisa and Bryn</a:t>
            </a:r>
            <a:endParaRPr/>
          </a:p>
          <a:p>
            <a:pPr marL="0" lvl="0" indent="0" algn="l" rtl="0">
              <a:spcBef>
                <a:spcPts val="360"/>
              </a:spcBef>
              <a:spcAft>
                <a:spcPts val="0"/>
              </a:spcAft>
              <a:buNone/>
            </a:pPr>
            <a:r>
              <a:rPr lang="en-US"/>
              <a:t>Tools used in Utah to support pathways to employment </a:t>
            </a:r>
            <a:endParaRPr/>
          </a:p>
        </p:txBody>
      </p:sp>
      <p:sp>
        <p:nvSpPr>
          <p:cNvPr id="120" name="Google Shape;120;g248c0ec6322_0_1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9596f01b16_1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9596f01b16_1_3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There are some hard copies of the tools we will show you today. You can look at those if you have one …..or follow the links in the previous slide……….. Due to the size of the groups in this presentation we can’t break into an activity so this has shifted into a thought exercise…..</a:t>
            </a:r>
            <a:endParaRPr/>
          </a:p>
          <a:p>
            <a:pPr marL="0" lvl="0" indent="0" algn="l" rtl="0">
              <a:spcBef>
                <a:spcPts val="360"/>
              </a:spcBef>
              <a:spcAft>
                <a:spcPts val="0"/>
              </a:spcAft>
              <a:buNone/>
            </a:pPr>
            <a:r>
              <a:rPr lang="en-US"/>
              <a:t>For this exercise, refer to the Pathway Tool Response Page……… and  Pathway A and Pathway D………. Next think about who you might want to complete the tool for……  So you might complete this exercise for yourself………with you as the subject……… maybe a family member……… or someone you know on your caseload, or another person….. but think of a person, and on the screen you will see a couple prepared pathway tool questions to answer. </a:t>
            </a:r>
            <a:endParaRPr/>
          </a:p>
          <a:p>
            <a:pPr marL="0" lvl="0" indent="0" algn="l" rtl="0">
              <a:spcBef>
                <a:spcPts val="360"/>
              </a:spcBef>
              <a:spcAft>
                <a:spcPts val="0"/>
              </a:spcAft>
              <a:buNone/>
            </a:pPr>
            <a:r>
              <a:rPr lang="en-US"/>
              <a:t>We don’t know where all of you are in your career at this point……. so we are the limiting choice in this exercise between 2 options…. Pathway A….. which as a reminder is a person who wants a job, but currently is unemployed…….. or Pathway D a person who is satisfied with their job and wants to continue in their career…. Knowing the options might give you a better idea of who to choose as the subject for this exercise …..  Choose the pathway and answer the corresponding questions on the screen in your notes…….  in the response page……. on your device…….. or just in your mind. We purposefully chose both of these Pathways options for this presentation…..Pathway A to show how we have that conversation when someone is interested in work, how we connect them with resources and to meaningful experiences that lead toward an eventual job…. and Pathway D because we were pretty certain, if you choose yourself as the subject of this activity……it was safer to assume all of you are satisfied with your current jobs… since you might be sitting next to your coworkers… or a supervisor right now! The next example we will give will also cover a path for a person who is stating they are not interested in work right now. </a:t>
            </a:r>
            <a:endParaRPr/>
          </a:p>
          <a:p>
            <a:pPr marL="0" lvl="0" indent="0" algn="l" rtl="0">
              <a:spcBef>
                <a:spcPts val="360"/>
              </a:spcBef>
              <a:spcAft>
                <a:spcPts val="0"/>
              </a:spcAft>
              <a:buNone/>
            </a:pPr>
            <a:endParaRPr/>
          </a:p>
        </p:txBody>
      </p:sp>
      <p:sp>
        <p:nvSpPr>
          <p:cNvPr id="128" name="Google Shape;128;g29596f01b16_1_31: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48c0ec6322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48c0ec6322_1_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Section 3 of the Employment Pathway Tool - Develop a plan.</a:t>
            </a:r>
            <a:endParaRPr/>
          </a:p>
          <a:p>
            <a:pPr marL="0" lvl="0" indent="0" algn="l" rtl="0">
              <a:spcBef>
                <a:spcPts val="360"/>
              </a:spcBef>
              <a:spcAft>
                <a:spcPts val="0"/>
              </a:spcAft>
              <a:buNone/>
            </a:pPr>
            <a:r>
              <a:rPr lang="en-US"/>
              <a:t>This is the place to develop the Services and Supports in the Individual’s Person-Centered Support Plan for the identified Pathway.</a:t>
            </a:r>
            <a:endParaRPr/>
          </a:p>
          <a:p>
            <a:pPr marL="0" lvl="0" indent="0" algn="l" rtl="0">
              <a:spcBef>
                <a:spcPts val="360"/>
              </a:spcBef>
              <a:spcAft>
                <a:spcPts val="0"/>
              </a:spcAft>
              <a:buNone/>
            </a:pPr>
            <a:r>
              <a:rPr lang="en-US"/>
              <a:t>Documentation in this section should identify employment goals and activities to meet the “experience” element of informed choice for employment, especially for Pathways A and B. Multiple activities should occur at various times within a plan year. Case managers should use this section to track places visited and the person’s response to each place. They should outline the places, activities, and experiences the person wants to have in the upcoming year. This serves as a running record of what has or has not interested the person, and provides evidence of informed choice around employment.</a:t>
            </a:r>
            <a:endParaRPr/>
          </a:p>
          <a:p>
            <a:pPr marL="0" lvl="0" indent="0" algn="l" rtl="0">
              <a:spcBef>
                <a:spcPts val="360"/>
              </a:spcBef>
              <a:spcAft>
                <a:spcPts val="0"/>
              </a:spcAft>
              <a:buNone/>
            </a:pPr>
            <a:endParaRPr/>
          </a:p>
          <a:p>
            <a:pPr marL="0" lvl="0" indent="0" algn="l" rtl="0">
              <a:spcBef>
                <a:spcPts val="360"/>
              </a:spcBef>
              <a:spcAft>
                <a:spcPts val="0"/>
              </a:spcAft>
              <a:buNone/>
            </a:pPr>
            <a:r>
              <a:rPr lang="en-US"/>
              <a:t>When the persons’ vocational interests change, informed choice activities should change to align with the new interest. If no interests are identified at that time, different experiences should be identified and planned for the future. </a:t>
            </a:r>
            <a:endParaRPr/>
          </a:p>
          <a:p>
            <a:pPr marL="0" lvl="0" indent="0" algn="l" rtl="0">
              <a:spcBef>
                <a:spcPts val="360"/>
              </a:spcBef>
              <a:spcAft>
                <a:spcPts val="0"/>
              </a:spcAft>
              <a:buNone/>
            </a:pPr>
            <a:endParaRPr/>
          </a:p>
          <a:p>
            <a:pPr marL="0" lvl="0" indent="0" algn="l" rtl="0">
              <a:spcBef>
                <a:spcPts val="360"/>
              </a:spcBef>
              <a:spcAft>
                <a:spcPts val="0"/>
              </a:spcAft>
              <a:buNone/>
            </a:pPr>
            <a:r>
              <a:rPr lang="en-US"/>
              <a:t>Documentation should also outline a plan for how Vocational Rehabilitation and DSPD services will be utilized, through person-centered planning (PCP) to support the person to reach individual employment goals.</a:t>
            </a:r>
            <a:endParaRPr/>
          </a:p>
          <a:p>
            <a:pPr marL="0" lvl="0" indent="0" algn="l" rtl="0">
              <a:spcBef>
                <a:spcPts val="360"/>
              </a:spcBef>
              <a:spcAft>
                <a:spcPts val="0"/>
              </a:spcAft>
              <a:buNone/>
            </a:pPr>
            <a:endParaRPr/>
          </a:p>
          <a:p>
            <a:pPr marL="0" lvl="0" indent="0" algn="l" rtl="0">
              <a:spcBef>
                <a:spcPts val="360"/>
              </a:spcBef>
              <a:spcAft>
                <a:spcPts val="0"/>
              </a:spcAft>
              <a:buNone/>
            </a:pPr>
            <a:r>
              <a:rPr lang="en-US"/>
              <a:t>An important element is to look at the alternatives for what a person wants to do for a meaningful life if they don’t want to work.</a:t>
            </a:r>
            <a:endParaRPr/>
          </a:p>
        </p:txBody>
      </p:sp>
      <p:sp>
        <p:nvSpPr>
          <p:cNvPr id="136" name="Google Shape;136;g248c0ec6322_1_13: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9596f01b16_1_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9596f01b16_1_3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There are some hard copies of the tools we will show you today. You can look at those if you have one …..or follow the links in the previous slide……….. Due to the size of the groups in this presentation we can’t break into an activity so this has shifted into a thought exercise…..</a:t>
            </a:r>
            <a:endParaRPr/>
          </a:p>
          <a:p>
            <a:pPr marL="0" lvl="0" indent="0" algn="l" rtl="0">
              <a:spcBef>
                <a:spcPts val="360"/>
              </a:spcBef>
              <a:spcAft>
                <a:spcPts val="0"/>
              </a:spcAft>
              <a:buNone/>
            </a:pPr>
            <a:endParaRPr/>
          </a:p>
          <a:p>
            <a:pPr marL="0" lvl="0" indent="0" algn="l" rtl="0">
              <a:spcBef>
                <a:spcPts val="360"/>
              </a:spcBef>
              <a:spcAft>
                <a:spcPts val="0"/>
              </a:spcAft>
              <a:buNone/>
            </a:pPr>
            <a:r>
              <a:rPr lang="en-US"/>
              <a:t>For this exercise, refer to the Pathway Tool Response Page……… and  Pathway A and Pathway D………. Next think about who you might want to complete the tool for……  So you might complete this exercise for yourself………with you as the subject……… maybe a family member……… or someone you know on your caseload, or another person….. but think of a person, and on the screen you will see a couple prepared pathway tool questions to answer. </a:t>
            </a:r>
            <a:endParaRPr/>
          </a:p>
          <a:p>
            <a:pPr marL="0" lvl="0" indent="0" algn="l" rtl="0">
              <a:spcBef>
                <a:spcPts val="360"/>
              </a:spcBef>
              <a:spcAft>
                <a:spcPts val="0"/>
              </a:spcAft>
              <a:buNone/>
            </a:pPr>
            <a:endParaRPr/>
          </a:p>
          <a:p>
            <a:pPr marL="0" lvl="0" indent="0" algn="l" rtl="0">
              <a:spcBef>
                <a:spcPts val="360"/>
              </a:spcBef>
              <a:spcAft>
                <a:spcPts val="0"/>
              </a:spcAft>
              <a:buNone/>
            </a:pPr>
            <a:r>
              <a:rPr lang="en-US"/>
              <a:t>We don’t know where all of you are in your career at this point……. so we are the limiting choice in this exercise between 2 options…. Pathway A….. which as a reminder is a person who wants a job, but currently is unemployed…….. or Pathway D a person who is satisfied with their job and wants to continue in their career…. Knowing the options might give you a better idea of who to choose as the subject for this exercise …..  Choose the pathway and answer the corresponding questions on the screen in your notes…….  in the response page……. on your device…….. or just in your mind. We purposefully chose both of these Pathways options for this presentation…..Pathway A to show how we have that conversation when someone is interested in work, how we connect them with resources and to meaningful experiences that lead toward an eventual job…. and Pathway D because we were pretty certain, if you choose yourself as the subject of this activity……it was safer to assume all of you are satisfied with your current jobs… since you might be sitting next to your coworkers… or a supervisor right now! The next example we will give will also cover a path for a person who is stating they are not interested in work right now. </a:t>
            </a:r>
            <a:endParaRPr/>
          </a:p>
          <a:p>
            <a:pPr marL="0" lvl="0" indent="0" algn="l" rtl="0">
              <a:spcBef>
                <a:spcPts val="360"/>
              </a:spcBef>
              <a:spcAft>
                <a:spcPts val="0"/>
              </a:spcAft>
              <a:buNone/>
            </a:pPr>
            <a:endParaRPr/>
          </a:p>
        </p:txBody>
      </p:sp>
      <p:sp>
        <p:nvSpPr>
          <p:cNvPr id="143" name="Google Shape;143;g29596f01b16_1_38: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48c0ec6322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0" name="Google Shape;150;g248c0ec6322_0_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Lisa and Bryn</a:t>
            </a:r>
            <a:endParaRPr/>
          </a:p>
          <a:p>
            <a:pPr marL="0" lvl="0" indent="0" algn="l" rtl="0">
              <a:spcBef>
                <a:spcPts val="360"/>
              </a:spcBef>
              <a:spcAft>
                <a:spcPts val="0"/>
              </a:spcAft>
              <a:buNone/>
            </a:pPr>
            <a:r>
              <a:rPr lang="en-US"/>
              <a:t>Tools used in Utah to support pathways to employment </a:t>
            </a:r>
            <a:endParaRPr/>
          </a:p>
          <a:p>
            <a:pPr marL="0" lvl="0" indent="0" algn="l" rtl="0">
              <a:spcBef>
                <a:spcPts val="360"/>
              </a:spcBef>
              <a:spcAft>
                <a:spcPts val="0"/>
              </a:spcAft>
              <a:buNone/>
            </a:pPr>
            <a:r>
              <a:rPr lang="en-US"/>
              <a:t>Not in contract yet but we still encourage usage</a:t>
            </a:r>
            <a:endParaRPr/>
          </a:p>
          <a:p>
            <a:pPr marL="0" lvl="0" indent="0" algn="l" rtl="0">
              <a:spcBef>
                <a:spcPts val="360"/>
              </a:spcBef>
              <a:spcAft>
                <a:spcPts val="0"/>
              </a:spcAft>
              <a:buNone/>
            </a:pPr>
            <a:r>
              <a:rPr lang="en-US"/>
              <a:t>NCI data - Would like a paid job in the community 54%</a:t>
            </a:r>
            <a:endParaRPr/>
          </a:p>
          <a:p>
            <a:pPr marL="0" lvl="0" indent="0" algn="l" rtl="0">
              <a:spcBef>
                <a:spcPts val="360"/>
              </a:spcBef>
              <a:spcAft>
                <a:spcPts val="0"/>
              </a:spcAft>
              <a:buClr>
                <a:schemeClr val="dk1"/>
              </a:buClr>
              <a:buFont typeface="Arial"/>
              <a:buNone/>
            </a:pPr>
            <a:r>
              <a:rPr lang="en-US"/>
              <a:t>EPT 26.45% of those with a Tool</a:t>
            </a:r>
            <a:endParaRPr/>
          </a:p>
        </p:txBody>
      </p:sp>
      <p:sp>
        <p:nvSpPr>
          <p:cNvPr id="151" name="Google Shape;151;g248c0ec6322_0_6: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cs typeface="Arial"/>
              </a:rPr>
              <a:t>Thank you Bryn and Lisa for highlighting the tools and strategies you all are using in Utah to support pathways to employment. We are going to pause to answer any questions you all may have. </a:t>
            </a:r>
            <a:endParaRPr lang="en-US" dirty="0">
              <a:cs typeface="Arial"/>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21</a:t>
            </a:fld>
            <a:endParaRPr lang="en-US" altLang="en-US"/>
          </a:p>
        </p:txBody>
      </p:sp>
    </p:spTree>
    <p:extLst>
      <p:ext uri="{BB962C8B-B14F-4D97-AF65-F5344CB8AC3E}">
        <p14:creationId xmlns:p14="http://schemas.microsoft.com/office/powerpoint/2010/main" val="3300057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cs typeface="Calibri"/>
              </a:rPr>
              <a:t>Before we end, we want to be sure and share our contact information. These email addresses, along with links to the resources that were highlighted in this presentation can be found in our presenter handout in the conference platform. We thank you all for participating in this session. We hope that we’ve provided additional considerations for how to support pathways to employment beyond only focusing on the delivery of employment services, but also focusing on what’s happening in non-work services and how case managers are trained and supported in this area. Thank you to the state of Utah for sharing the tools and resources they have developed to this initiative. </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22</a:t>
            </a:fld>
            <a:endParaRPr lang="en-US" altLang="en-US"/>
          </a:p>
        </p:txBody>
      </p:sp>
    </p:spTree>
    <p:extLst>
      <p:ext uri="{BB962C8B-B14F-4D97-AF65-F5344CB8AC3E}">
        <p14:creationId xmlns:p14="http://schemas.microsoft.com/office/powerpoint/2010/main" val="3062275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8560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15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18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977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82CBC-B073-2C90-E0D8-7C6B313C3FF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A56BAD1-38CB-3BB2-E515-B673384DB9D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D4423C6-31AB-C089-2BFB-83D6A732C08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B5C4679-7FC7-5385-60D8-BC13C892967D}"/>
              </a:ext>
            </a:extLst>
          </p:cNvPr>
          <p:cNvSpPr>
            <a:spLocks noGrp="1"/>
          </p:cNvSpPr>
          <p:nvPr>
            <p:ph type="dt" sz="half" idx="10"/>
          </p:nvPr>
        </p:nvSpPr>
        <p:spPr/>
        <p:txBody>
          <a:bodyPr/>
          <a:lstStyle/>
          <a:p>
            <a:fld id="{EFB6610D-779D-4980-91EC-0B4530CA3262}" type="datetime1">
              <a:rPr lang="en-US" smtClean="0"/>
              <a:t>11/15/2023</a:t>
            </a:fld>
            <a:endParaRPr lang="en-US"/>
          </a:p>
        </p:txBody>
      </p:sp>
      <p:sp>
        <p:nvSpPr>
          <p:cNvPr id="6" name="Footer Placeholder 5">
            <a:extLst>
              <a:ext uri="{FF2B5EF4-FFF2-40B4-BE49-F238E27FC236}">
                <a16:creationId xmlns:a16="http://schemas.microsoft.com/office/drawing/2014/main" id="{1CB8C5D9-B81F-4798-DDA4-BDD21A46DC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502C00-1664-8917-6103-AB5692C8912A}"/>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364222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309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4867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753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4277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4"/>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7"/>
          <p:cNvSpPr txBox="1">
            <a:spLocks noGrp="1"/>
          </p:cNvSpPr>
          <p:nvPr>
            <p:ph type="title"/>
          </p:nvPr>
        </p:nvSpPr>
        <p:spPr>
          <a:xfrm>
            <a:off x="685800" y="4572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17"/>
          <p:cNvSpPr txBox="1">
            <a:spLocks noGrp="1"/>
          </p:cNvSpPr>
          <p:nvPr>
            <p:ph type="body" idx="1"/>
          </p:nvPr>
        </p:nvSpPr>
        <p:spPr>
          <a:xfrm>
            <a:off x="685800" y="1752600"/>
            <a:ext cx="7772400" cy="3810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9"/>
        <p:cNvGrpSpPr/>
        <p:nvPr/>
      </p:nvGrpSpPr>
      <p:grpSpPr>
        <a:xfrm>
          <a:off x="0" y="0"/>
          <a:ext cx="0" cy="0"/>
          <a:chOff x="0" y="0"/>
          <a:chExt cx="0" cy="0"/>
        </a:xfrm>
      </p:grpSpPr>
      <p:sp>
        <p:nvSpPr>
          <p:cNvPr id="20" name="Google Shape;20;p1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2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18"/>
          <p:cNvSpPr>
            <a:spLocks noGrp="1"/>
          </p:cNvSpPr>
          <p:nvPr>
            <p:ph type="pic" idx="2"/>
          </p:nvPr>
        </p:nvSpPr>
        <p:spPr>
          <a:xfrm>
            <a:off x="3887391" y="987426"/>
            <a:ext cx="4629150" cy="4873625"/>
          </a:xfrm>
          <a:prstGeom prst="rect">
            <a:avLst/>
          </a:prstGeom>
          <a:noFill/>
          <a:ln>
            <a:noFill/>
          </a:ln>
        </p:spPr>
      </p:sp>
      <p:sp>
        <p:nvSpPr>
          <p:cNvPr id="22" name="Google Shape;22;p18"/>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spcBef>
                <a:spcPts val="240"/>
              </a:spcBef>
              <a:spcAft>
                <a:spcPts val="0"/>
              </a:spcAft>
              <a:buClr>
                <a:schemeClr val="dk1"/>
              </a:buClr>
              <a:buSzPts val="1200"/>
              <a:buFont typeface="Open Sans"/>
              <a:buNone/>
              <a:defRPr sz="1200"/>
            </a:lvl1pPr>
            <a:lvl2pPr marL="914400" lvl="1" indent="-228600" algn="l">
              <a:spcBef>
                <a:spcPts val="210"/>
              </a:spcBef>
              <a:spcAft>
                <a:spcPts val="0"/>
              </a:spcAft>
              <a:buClr>
                <a:schemeClr val="dk1"/>
              </a:buClr>
              <a:buSzPts val="1050"/>
              <a:buFont typeface="Open Sans"/>
              <a:buNone/>
              <a:defRPr sz="1050"/>
            </a:lvl2pPr>
            <a:lvl3pPr marL="1371600" lvl="2" indent="-228600" algn="l">
              <a:spcBef>
                <a:spcPts val="180"/>
              </a:spcBef>
              <a:spcAft>
                <a:spcPts val="0"/>
              </a:spcAft>
              <a:buClr>
                <a:schemeClr val="dk1"/>
              </a:buClr>
              <a:buSzPts val="900"/>
              <a:buFont typeface="Open Sans"/>
              <a:buNone/>
              <a:defRPr sz="900"/>
            </a:lvl3pPr>
            <a:lvl4pPr marL="1828800" lvl="3" indent="-228600" algn="l">
              <a:spcBef>
                <a:spcPts val="150"/>
              </a:spcBef>
              <a:spcAft>
                <a:spcPts val="0"/>
              </a:spcAft>
              <a:buClr>
                <a:schemeClr val="dk1"/>
              </a:buClr>
              <a:buSzPts val="750"/>
              <a:buFont typeface="Open Sans"/>
              <a:buNone/>
              <a:defRPr sz="750"/>
            </a:lvl4pPr>
            <a:lvl5pPr marL="2286000" lvl="4" indent="-228600" algn="l">
              <a:spcBef>
                <a:spcPts val="150"/>
              </a:spcBef>
              <a:spcAft>
                <a:spcPts val="0"/>
              </a:spcAft>
              <a:buClr>
                <a:schemeClr val="dk1"/>
              </a:buClr>
              <a:buSzPts val="750"/>
              <a:buFont typeface="Open Sans"/>
              <a:buNone/>
              <a:defRPr sz="750"/>
            </a:lvl5pPr>
            <a:lvl6pPr marL="2743200" lvl="5" indent="-228600" algn="l">
              <a:lnSpc>
                <a:spcPct val="90000"/>
              </a:lnSpc>
              <a:spcBef>
                <a:spcPts val="500"/>
              </a:spcBef>
              <a:spcAft>
                <a:spcPts val="0"/>
              </a:spcAft>
              <a:buClr>
                <a:schemeClr val="dk1"/>
              </a:buClr>
              <a:buSzPts val="750"/>
              <a:buNone/>
              <a:defRPr sz="750"/>
            </a:lvl6pPr>
            <a:lvl7pPr marL="3200400" lvl="6" indent="-228600" algn="l">
              <a:lnSpc>
                <a:spcPct val="90000"/>
              </a:lnSpc>
              <a:spcBef>
                <a:spcPts val="500"/>
              </a:spcBef>
              <a:spcAft>
                <a:spcPts val="0"/>
              </a:spcAft>
              <a:buClr>
                <a:schemeClr val="dk1"/>
              </a:buClr>
              <a:buSzPts val="750"/>
              <a:buNone/>
              <a:defRPr sz="750"/>
            </a:lvl7pPr>
            <a:lvl8pPr marL="3657600" lvl="7" indent="-228600" algn="l">
              <a:lnSpc>
                <a:spcPct val="90000"/>
              </a:lnSpc>
              <a:spcBef>
                <a:spcPts val="500"/>
              </a:spcBef>
              <a:spcAft>
                <a:spcPts val="0"/>
              </a:spcAft>
              <a:buClr>
                <a:schemeClr val="dk1"/>
              </a:buClr>
              <a:buSzPts val="750"/>
              <a:buNone/>
              <a:defRPr sz="750"/>
            </a:lvl8pPr>
            <a:lvl9pPr marL="4114800" lvl="8" indent="-228600" algn="l">
              <a:lnSpc>
                <a:spcPct val="90000"/>
              </a:lnSpc>
              <a:spcBef>
                <a:spcPts val="500"/>
              </a:spcBef>
              <a:spcAft>
                <a:spcPts val="0"/>
              </a:spcAft>
              <a:buClr>
                <a:schemeClr val="dk1"/>
              </a:buClr>
              <a:buSzPts val="750"/>
              <a:buNone/>
              <a:defRPr sz="750"/>
            </a:lvl9pPr>
          </a:lstStyle>
          <a:p>
            <a:endParaRPr/>
          </a:p>
        </p:txBody>
      </p:sp>
      <p:sp>
        <p:nvSpPr>
          <p:cNvPr id="23" name="Google Shape;23;p18"/>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24" name="Google Shape;24;p18"/>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25" name="Google Shape;25;p1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2400">
                <a:solidFill>
                  <a:schemeClr val="dk1"/>
                </a:solidFill>
                <a:latin typeface="Arial"/>
                <a:ea typeface="Arial"/>
                <a:cs typeface="Arial"/>
                <a:sym typeface="Arial"/>
              </a:defRPr>
            </a:lvl1pPr>
            <a:lvl2pPr marL="0" marR="0" lvl="1" indent="0" algn="l" rtl="0">
              <a:spcBef>
                <a:spcPts val="0"/>
              </a:spcBef>
              <a:spcAft>
                <a:spcPts val="0"/>
              </a:spcAft>
              <a:buNone/>
              <a:defRPr sz="2400">
                <a:solidFill>
                  <a:schemeClr val="dk1"/>
                </a:solidFill>
                <a:latin typeface="Arial"/>
                <a:ea typeface="Arial"/>
                <a:cs typeface="Arial"/>
                <a:sym typeface="Arial"/>
              </a:defRPr>
            </a:lvl2pPr>
            <a:lvl3pPr marL="0" marR="0" lvl="2" indent="0" algn="l" rtl="0">
              <a:spcBef>
                <a:spcPts val="0"/>
              </a:spcBef>
              <a:spcAft>
                <a:spcPts val="0"/>
              </a:spcAft>
              <a:buNone/>
              <a:defRPr sz="2400">
                <a:solidFill>
                  <a:schemeClr val="dk1"/>
                </a:solidFill>
                <a:latin typeface="Arial"/>
                <a:ea typeface="Arial"/>
                <a:cs typeface="Arial"/>
                <a:sym typeface="Arial"/>
              </a:defRPr>
            </a:lvl3pPr>
            <a:lvl4pPr marL="0" marR="0" lvl="3" indent="0" algn="l" rtl="0">
              <a:spcBef>
                <a:spcPts val="0"/>
              </a:spcBef>
              <a:spcAft>
                <a:spcPts val="0"/>
              </a:spcAft>
              <a:buNone/>
              <a:defRPr sz="2400">
                <a:solidFill>
                  <a:schemeClr val="dk1"/>
                </a:solidFill>
                <a:latin typeface="Arial"/>
                <a:ea typeface="Arial"/>
                <a:cs typeface="Arial"/>
                <a:sym typeface="Arial"/>
              </a:defRPr>
            </a:lvl4pPr>
            <a:lvl5pPr marL="0" marR="0" lvl="4" indent="0" algn="l" rtl="0">
              <a:spcBef>
                <a:spcPts val="0"/>
              </a:spcBef>
              <a:spcAft>
                <a:spcPts val="0"/>
              </a:spcAft>
              <a:buNone/>
              <a:defRPr sz="2400">
                <a:solidFill>
                  <a:schemeClr val="dk1"/>
                </a:solidFill>
                <a:latin typeface="Arial"/>
                <a:ea typeface="Arial"/>
                <a:cs typeface="Arial"/>
                <a:sym typeface="Arial"/>
              </a:defRPr>
            </a:lvl5pPr>
            <a:lvl6pPr marL="0" marR="0" lvl="5" indent="0" algn="l" rtl="0">
              <a:spcBef>
                <a:spcPts val="0"/>
              </a:spcBef>
              <a:spcAft>
                <a:spcPts val="0"/>
              </a:spcAft>
              <a:buNone/>
              <a:defRPr sz="2400">
                <a:solidFill>
                  <a:schemeClr val="dk1"/>
                </a:solidFill>
                <a:latin typeface="Arial"/>
                <a:ea typeface="Arial"/>
                <a:cs typeface="Arial"/>
                <a:sym typeface="Arial"/>
              </a:defRPr>
            </a:lvl6pPr>
            <a:lvl7pPr marL="0" marR="0" lvl="6" indent="0" algn="l" rtl="0">
              <a:spcBef>
                <a:spcPts val="0"/>
              </a:spcBef>
              <a:spcAft>
                <a:spcPts val="0"/>
              </a:spcAft>
              <a:buNone/>
              <a:defRPr sz="2400">
                <a:solidFill>
                  <a:schemeClr val="dk1"/>
                </a:solidFill>
                <a:latin typeface="Arial"/>
                <a:ea typeface="Arial"/>
                <a:cs typeface="Arial"/>
                <a:sym typeface="Arial"/>
              </a:defRPr>
            </a:lvl7pPr>
            <a:lvl8pPr marL="0" marR="0" lvl="7" indent="0" algn="l" rtl="0">
              <a:spcBef>
                <a:spcPts val="0"/>
              </a:spcBef>
              <a:spcAft>
                <a:spcPts val="0"/>
              </a:spcAft>
              <a:buNone/>
              <a:defRPr sz="2400">
                <a:solidFill>
                  <a:schemeClr val="dk1"/>
                </a:solidFill>
                <a:latin typeface="Arial"/>
                <a:ea typeface="Arial"/>
                <a:cs typeface="Arial"/>
                <a:sym typeface="Arial"/>
              </a:defRPr>
            </a:lvl8pPr>
            <a:lvl9pPr marL="0" marR="0" lvl="8" indent="0" algn="l" rtl="0">
              <a:spcBef>
                <a:spcPts val="0"/>
              </a:spcBef>
              <a:spcAft>
                <a:spcPts val="0"/>
              </a:spcAft>
              <a:buNone/>
              <a:defRPr sz="24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19"/>
          <p:cNvSpPr txBox="1">
            <a:spLocks noGrp="1"/>
          </p:cNvSpPr>
          <p:nvPr>
            <p:ph type="title"/>
          </p:nvPr>
        </p:nvSpPr>
        <p:spPr>
          <a:xfrm>
            <a:off x="685800" y="4572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 name="Google Shape;28;p19"/>
          <p:cNvSpPr txBox="1">
            <a:spLocks noGrp="1"/>
          </p:cNvSpPr>
          <p:nvPr>
            <p:ph type="body" idx="1"/>
          </p:nvPr>
        </p:nvSpPr>
        <p:spPr>
          <a:xfrm>
            <a:off x="685800" y="1752600"/>
            <a:ext cx="3810000" cy="3810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9"/>
          <p:cNvSpPr txBox="1">
            <a:spLocks noGrp="1"/>
          </p:cNvSpPr>
          <p:nvPr>
            <p:ph type="body" idx="2"/>
          </p:nvPr>
        </p:nvSpPr>
        <p:spPr>
          <a:xfrm>
            <a:off x="4648200" y="1752600"/>
            <a:ext cx="3810000" cy="3810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3.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4.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pic>
        <p:nvPicPr>
          <p:cNvPr id="10" name="Picture 9">
            <a:extLst>
              <a:ext uri="{FF2B5EF4-FFF2-40B4-BE49-F238E27FC236}">
                <a16:creationId xmlns:a16="http://schemas.microsoft.com/office/drawing/2014/main" id="{2DF63E06-0276-7867-6A87-96248E3B07BB}"/>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6096000"/>
            <a:ext cx="9144001" cy="762000"/>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 id="2147483730" r:id="rId2"/>
    <p:sldLayoutId id="2147483731" r:id="rId3"/>
    <p:sldLayoutId id="2147483748" r:id="rId4"/>
    <p:sldLayoutId id="2147483749" r:id="rId5"/>
  </p:sldLayoutIdLst>
  <p:hf hdr="0" ftr="0" dt="0"/>
  <p:txStyles>
    <p:title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pic>
        <p:nvPicPr>
          <p:cNvPr id="2" name="Picture 1" descr="SELN_PPT_footer_slide_F-04.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6090416"/>
            <a:ext cx="9144000" cy="767584"/>
          </a:xfrm>
          <a:prstGeom prst="rect">
            <a:avLst/>
          </a:prstGeom>
        </p:spPr>
      </p:pic>
      <p:sp>
        <p:nvSpPr>
          <p:cNvPr id="8" name="TextBox 7"/>
          <p:cNvSpPr txBox="1"/>
          <p:nvPr userDrawn="1"/>
        </p:nvSpPr>
        <p:spPr>
          <a:xfrm>
            <a:off x="8458200" y="5715000"/>
            <a:ext cx="609600" cy="307777"/>
          </a:xfrm>
          <a:prstGeom prst="rect">
            <a:avLst/>
          </a:prstGeom>
          <a:noFill/>
        </p:spPr>
        <p:txBody>
          <a:bodyPr wrap="square" rtlCol="0">
            <a:spAutoFit/>
          </a:bodyPr>
          <a:lstStyle/>
          <a:p>
            <a:pPr algn="r"/>
            <a:fld id="{3986CB54-323A-8140-9ABB-1584EB0507A3}" type="slidenum">
              <a:rPr lang="en-US" sz="1400" b="1" i="0" smtClean="0">
                <a:latin typeface="Myriad Pro"/>
                <a:cs typeface="Myriad Pro"/>
              </a:rPr>
              <a:t>‹#›</a:t>
            </a:fld>
            <a:endParaRPr lang="en-US" sz="1400" b="1" i="0">
              <a:latin typeface="Myriad Pro"/>
              <a:cs typeface="Myriad Pro"/>
            </a:endParaRPr>
          </a:p>
        </p:txBody>
      </p:sp>
    </p:spTree>
    <p:extLst>
      <p:ext uri="{BB962C8B-B14F-4D97-AF65-F5344CB8AC3E}">
        <p14:creationId xmlns:p14="http://schemas.microsoft.com/office/powerpoint/2010/main" val="309847644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Lst>
  <p:hf hdr="0" ftr="0" dt="0"/>
  <p:txStyles>
    <p:title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396272"/>
      </p:ext>
    </p:extLst>
  </p:cSld>
  <p:clrMap bg1="lt1" tx1="dk1" bg2="lt2" tx2="dk2" accent1="accent1" accent2="accent2" accent3="accent3" accent4="accent4" accent5="accent5" accent6="accent6" hlink="hlink" folHlink="folHlink"/>
  <p:sldLayoutIdLst>
    <p:sldLayoutId id="2147483743"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85800" y="457200"/>
            <a:ext cx="77724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000" b="1" i="0" u="none" strike="noStrike" cap="none">
                <a:solidFill>
                  <a:schemeClr val="dk2"/>
                </a:solidFill>
                <a:latin typeface="Open Sans"/>
                <a:ea typeface="Open Sans"/>
                <a:cs typeface="Open Sans"/>
                <a:sym typeface="Open Sans"/>
              </a:defRPr>
            </a:lvl1pPr>
            <a:lvl2pPr marR="0" lvl="1" algn="ctr" rtl="0">
              <a:spcBef>
                <a:spcPts val="0"/>
              </a:spcBef>
              <a:spcAft>
                <a:spcPts val="0"/>
              </a:spcAft>
              <a:buSzPts val="1400"/>
              <a:buNone/>
              <a:defRPr sz="3200" b="1" i="0" u="none" strike="noStrike" cap="none">
                <a:solidFill>
                  <a:schemeClr val="dk2"/>
                </a:solidFill>
                <a:latin typeface="Verdana"/>
                <a:ea typeface="Verdana"/>
                <a:cs typeface="Verdana"/>
                <a:sym typeface="Verdana"/>
              </a:defRPr>
            </a:lvl2pPr>
            <a:lvl3pPr marR="0" lvl="2" algn="ctr" rtl="0">
              <a:spcBef>
                <a:spcPts val="0"/>
              </a:spcBef>
              <a:spcAft>
                <a:spcPts val="0"/>
              </a:spcAft>
              <a:buSzPts val="1400"/>
              <a:buNone/>
              <a:defRPr sz="3200" b="1" i="0" u="none" strike="noStrike" cap="none">
                <a:solidFill>
                  <a:schemeClr val="dk2"/>
                </a:solidFill>
                <a:latin typeface="Verdana"/>
                <a:ea typeface="Verdana"/>
                <a:cs typeface="Verdana"/>
                <a:sym typeface="Verdana"/>
              </a:defRPr>
            </a:lvl3pPr>
            <a:lvl4pPr marR="0" lvl="3" algn="ctr" rtl="0">
              <a:spcBef>
                <a:spcPts val="0"/>
              </a:spcBef>
              <a:spcAft>
                <a:spcPts val="0"/>
              </a:spcAft>
              <a:buSzPts val="1400"/>
              <a:buNone/>
              <a:defRPr sz="3200" b="1" i="0" u="none" strike="noStrike" cap="none">
                <a:solidFill>
                  <a:schemeClr val="dk2"/>
                </a:solidFill>
                <a:latin typeface="Verdana"/>
                <a:ea typeface="Verdana"/>
                <a:cs typeface="Verdana"/>
                <a:sym typeface="Verdana"/>
              </a:defRPr>
            </a:lvl4pPr>
            <a:lvl5pPr marR="0" lvl="4" algn="ctr" rtl="0">
              <a:spcBef>
                <a:spcPts val="0"/>
              </a:spcBef>
              <a:spcAft>
                <a:spcPts val="0"/>
              </a:spcAft>
              <a:buSzPts val="1400"/>
              <a:buNone/>
              <a:defRPr sz="3200" b="1" i="0" u="none" strike="noStrike" cap="none">
                <a:solidFill>
                  <a:schemeClr val="dk2"/>
                </a:solidFill>
                <a:latin typeface="Verdana"/>
                <a:ea typeface="Verdana"/>
                <a:cs typeface="Verdana"/>
                <a:sym typeface="Verdana"/>
              </a:defRPr>
            </a:lvl5pPr>
            <a:lvl6pPr marR="0" lvl="5" algn="ctr" rtl="0">
              <a:spcBef>
                <a:spcPts val="0"/>
              </a:spcBef>
              <a:spcAft>
                <a:spcPts val="0"/>
              </a:spcAft>
              <a:buSzPts val="1400"/>
              <a:buNone/>
              <a:defRPr sz="3200" b="1" i="0" u="none" strike="noStrike" cap="none">
                <a:solidFill>
                  <a:schemeClr val="dk2"/>
                </a:solidFill>
                <a:latin typeface="Verdana"/>
                <a:ea typeface="Verdana"/>
                <a:cs typeface="Verdana"/>
                <a:sym typeface="Verdana"/>
              </a:defRPr>
            </a:lvl6pPr>
            <a:lvl7pPr marR="0" lvl="6" algn="ctr" rtl="0">
              <a:spcBef>
                <a:spcPts val="0"/>
              </a:spcBef>
              <a:spcAft>
                <a:spcPts val="0"/>
              </a:spcAft>
              <a:buSzPts val="1400"/>
              <a:buNone/>
              <a:defRPr sz="3200" b="1" i="0" u="none" strike="noStrike" cap="none">
                <a:solidFill>
                  <a:schemeClr val="dk2"/>
                </a:solidFill>
                <a:latin typeface="Verdana"/>
                <a:ea typeface="Verdana"/>
                <a:cs typeface="Verdana"/>
                <a:sym typeface="Verdana"/>
              </a:defRPr>
            </a:lvl7pPr>
            <a:lvl8pPr marR="0" lvl="7" algn="ctr" rtl="0">
              <a:spcBef>
                <a:spcPts val="0"/>
              </a:spcBef>
              <a:spcAft>
                <a:spcPts val="0"/>
              </a:spcAft>
              <a:buSzPts val="1400"/>
              <a:buNone/>
              <a:defRPr sz="3200" b="1" i="0" u="none" strike="noStrike" cap="none">
                <a:solidFill>
                  <a:schemeClr val="dk2"/>
                </a:solidFill>
                <a:latin typeface="Verdana"/>
                <a:ea typeface="Verdana"/>
                <a:cs typeface="Verdana"/>
                <a:sym typeface="Verdana"/>
              </a:defRPr>
            </a:lvl8pPr>
            <a:lvl9pPr marR="0" lvl="8" algn="ctr" rtl="0">
              <a:spcBef>
                <a:spcPts val="0"/>
              </a:spcBef>
              <a:spcAft>
                <a:spcPts val="0"/>
              </a:spcAft>
              <a:buSzPts val="1400"/>
              <a:buNone/>
              <a:defRPr sz="3200" b="1" i="0" u="none" strike="noStrike" cap="none">
                <a:solidFill>
                  <a:schemeClr val="dk2"/>
                </a:solidFill>
                <a:latin typeface="Verdana"/>
                <a:ea typeface="Verdana"/>
                <a:cs typeface="Verdana"/>
                <a:sym typeface="Verdana"/>
              </a:defRPr>
            </a:lvl9pPr>
          </a:lstStyle>
          <a:p>
            <a:endParaRPr/>
          </a:p>
        </p:txBody>
      </p:sp>
      <p:sp>
        <p:nvSpPr>
          <p:cNvPr id="11" name="Google Shape;11;p14"/>
          <p:cNvSpPr txBox="1">
            <a:spLocks noGrp="1"/>
          </p:cNvSpPr>
          <p:nvPr>
            <p:ph type="body" idx="1"/>
          </p:nvPr>
        </p:nvSpPr>
        <p:spPr>
          <a:xfrm>
            <a:off x="685800" y="1752600"/>
            <a:ext cx="7772400" cy="38100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Open Sans"/>
              <a:buChar char="•"/>
              <a:defRPr sz="3200" b="1" i="0" u="none" strike="noStrike" cap="none">
                <a:solidFill>
                  <a:schemeClr val="dk1"/>
                </a:solidFill>
                <a:latin typeface="Open Sans"/>
                <a:ea typeface="Open Sans"/>
                <a:cs typeface="Open Sans"/>
                <a:sym typeface="Open Sans"/>
              </a:defRPr>
            </a:lvl1pPr>
            <a:lvl2pPr marL="914400" marR="0" lvl="1" indent="-406400" algn="l" rtl="0">
              <a:spcBef>
                <a:spcPts val="560"/>
              </a:spcBef>
              <a:spcAft>
                <a:spcPts val="0"/>
              </a:spcAft>
              <a:buClr>
                <a:schemeClr val="dk1"/>
              </a:buClr>
              <a:buSzPts val="2800"/>
              <a:buFont typeface="Open Sans"/>
              <a:buChar char="–"/>
              <a:defRPr sz="2800" b="1" i="0" u="none" strike="noStrike" cap="none">
                <a:solidFill>
                  <a:schemeClr val="dk1"/>
                </a:solidFill>
                <a:latin typeface="Open Sans"/>
                <a:ea typeface="Open Sans"/>
                <a:cs typeface="Open Sans"/>
                <a:sym typeface="Open Sans"/>
              </a:defRPr>
            </a:lvl2pPr>
            <a:lvl3pPr marL="1371600" marR="0" lvl="2" indent="-381000" algn="l" rtl="0">
              <a:spcBef>
                <a:spcPts val="480"/>
              </a:spcBef>
              <a:spcAft>
                <a:spcPts val="0"/>
              </a:spcAft>
              <a:buClr>
                <a:schemeClr val="dk1"/>
              </a:buClr>
              <a:buSzPts val="2400"/>
              <a:buFont typeface="Open Sans"/>
              <a:buChar char="•"/>
              <a:defRPr sz="2400" b="1" i="0" u="none" strike="noStrike" cap="none">
                <a:solidFill>
                  <a:schemeClr val="dk1"/>
                </a:solidFill>
                <a:latin typeface="Open Sans"/>
                <a:ea typeface="Open Sans"/>
                <a:cs typeface="Open Sans"/>
                <a:sym typeface="Open Sans"/>
              </a:defRPr>
            </a:lvl3pPr>
            <a:lvl4pPr marL="1828800" marR="0" lvl="3" indent="-355600" algn="l" rtl="0">
              <a:spcBef>
                <a:spcPts val="400"/>
              </a:spcBef>
              <a:spcAft>
                <a:spcPts val="0"/>
              </a:spcAft>
              <a:buClr>
                <a:schemeClr val="dk1"/>
              </a:buClr>
              <a:buSzPts val="2000"/>
              <a:buFont typeface="Open Sans"/>
              <a:buChar char="–"/>
              <a:defRPr sz="2000" b="1" i="0" u="none" strike="noStrike" cap="none">
                <a:solidFill>
                  <a:schemeClr val="dk1"/>
                </a:solidFill>
                <a:latin typeface="Open Sans"/>
                <a:ea typeface="Open Sans"/>
                <a:cs typeface="Open Sans"/>
                <a:sym typeface="Open Sans"/>
              </a:defRPr>
            </a:lvl4pPr>
            <a:lvl5pPr marL="2286000" marR="0" lvl="4" indent="-355600" algn="l" rtl="0">
              <a:spcBef>
                <a:spcPts val="400"/>
              </a:spcBef>
              <a:spcAft>
                <a:spcPts val="0"/>
              </a:spcAft>
              <a:buClr>
                <a:schemeClr val="dk1"/>
              </a:buClr>
              <a:buSzPts val="2000"/>
              <a:buFont typeface="Open Sans"/>
              <a:buChar char="»"/>
              <a:defRPr sz="2000" b="1"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9pPr>
          </a:lstStyle>
          <a:p>
            <a:endParaRPr/>
          </a:p>
        </p:txBody>
      </p:sp>
      <p:sp>
        <p:nvSpPr>
          <p:cNvPr id="12" name="Google Shape;12;p14"/>
          <p:cNvSpPr/>
          <p:nvPr/>
        </p:nvSpPr>
        <p:spPr>
          <a:xfrm>
            <a:off x="0" y="0"/>
            <a:ext cx="9144000" cy="304800"/>
          </a:xfrm>
          <a:prstGeom prst="rect">
            <a:avLst/>
          </a:prstGeom>
          <a:solidFill>
            <a:srgbClr val="00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pic>
        <p:nvPicPr>
          <p:cNvPr id="13" name="Google Shape;13;p14"/>
          <p:cNvPicPr preferRelativeResize="0"/>
          <p:nvPr/>
        </p:nvPicPr>
        <p:blipFill rotWithShape="1">
          <a:blip r:embed="rId7">
            <a:alphaModFix/>
          </a:blip>
          <a:srcRect/>
          <a:stretch/>
        </p:blipFill>
        <p:spPr>
          <a:xfrm>
            <a:off x="0" y="6096000"/>
            <a:ext cx="9144001" cy="762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www.statedata.info"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www.nationalcoreindicators.org/"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rsa.ed.gov/sites/default/files/subregulatory/A%20Framework%20for%20Community%20Engagement_0.pdf"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hyperlink" Target="https://dspd.utah.gov/wp-content/uploads/2021/07/DSPD-Employment-Pathway-Tool.pdf"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22.xml.rels><?xml version="1.0" encoding="UTF-8" standalone="yes"?>
<Relationships xmlns="http://schemas.openxmlformats.org/package/2006/relationships"><Relationship Id="rId3" Type="http://schemas.openxmlformats.org/officeDocument/2006/relationships/hyperlink" Target="mailto:Amy.Huppi@umb.edu"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mailto:Staci.Jones@umb.edu" TargetMode="External"/><Relationship Id="rId5" Type="http://schemas.openxmlformats.org/officeDocument/2006/relationships/hyperlink" Target="mailto:Lwade@utah.gov" TargetMode="External"/><Relationship Id="rId4" Type="http://schemas.openxmlformats.org/officeDocument/2006/relationships/hyperlink" Target="mailto:BrynPeterson@utah.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CF13E-2702-D47C-5C4D-4487DD43552D}"/>
              </a:ext>
            </a:extLst>
          </p:cNvPr>
          <p:cNvSpPr txBox="1"/>
          <p:nvPr/>
        </p:nvSpPr>
        <p:spPr>
          <a:xfrm>
            <a:off x="152400" y="506073"/>
            <a:ext cx="8839200" cy="5262979"/>
          </a:xfrm>
          <a:prstGeom prst="rect">
            <a:avLst/>
          </a:prstGeom>
          <a:noFill/>
        </p:spPr>
        <p:txBody>
          <a:bodyPr wrap="square" rtlCol="0">
            <a:spAutoFit/>
          </a:bodyPr>
          <a:lstStyle/>
          <a:p>
            <a:r>
              <a:rPr lang="en-US" sz="4000"/>
              <a:t>Creating a Vision and Planning for Employment and Community Life Engagement </a:t>
            </a:r>
          </a:p>
          <a:p>
            <a:endParaRPr lang="en-US"/>
          </a:p>
          <a:p>
            <a:endParaRPr lang="en-US" b="1"/>
          </a:p>
          <a:p>
            <a:r>
              <a:rPr lang="en-US" b="1"/>
              <a:t>OALICONLINE 2023</a:t>
            </a:r>
          </a:p>
          <a:p>
            <a:endParaRPr lang="en-US" b="1"/>
          </a:p>
          <a:p>
            <a:endParaRPr lang="en-US" b="1"/>
          </a:p>
          <a:p>
            <a:endParaRPr lang="en-US"/>
          </a:p>
          <a:p>
            <a:r>
              <a:rPr lang="en-US" sz="1800"/>
              <a:t>Staci Jones- ICI University of Massachusetts Boston</a:t>
            </a:r>
          </a:p>
          <a:p>
            <a:r>
              <a:rPr lang="en-US" sz="1800"/>
              <a:t>Lisa Wade- Utah Department of Health and Human Services</a:t>
            </a:r>
          </a:p>
          <a:p>
            <a:r>
              <a:rPr lang="en-US" sz="1800"/>
              <a:t>Bryn Peterson- Utah Department of Health and Human Services</a:t>
            </a:r>
          </a:p>
          <a:p>
            <a:r>
              <a:rPr lang="en-US" sz="1800"/>
              <a:t>Amy </a:t>
            </a:r>
            <a:r>
              <a:rPr lang="en-US" sz="1800" err="1"/>
              <a:t>Huppi</a:t>
            </a:r>
            <a:r>
              <a:rPr lang="en-US" sz="1800"/>
              <a:t>- ICI University of Massachusetts Boston </a:t>
            </a:r>
          </a:p>
        </p:txBody>
      </p:sp>
    </p:spTree>
    <p:extLst>
      <p:ext uri="{BB962C8B-B14F-4D97-AF65-F5344CB8AC3E}">
        <p14:creationId xmlns:p14="http://schemas.microsoft.com/office/powerpoint/2010/main" val="2679728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D8758C-4143-0AD5-8BF6-85ABE4C5EA0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457200"/>
            <a:ext cx="5638800" cy="5472464"/>
          </a:xfrm>
          <a:prstGeom prst="rect">
            <a:avLst/>
          </a:prstGeom>
        </p:spPr>
      </p:pic>
      <p:pic>
        <p:nvPicPr>
          <p:cNvPr id="2" name="Picture 1" descr="A map of the United States titled: SELN Member States 2023-24. Highlighted in green are SELN's current 26 member states. ">
            <a:extLst>
              <a:ext uri="{FF2B5EF4-FFF2-40B4-BE49-F238E27FC236}">
                <a16:creationId xmlns:a16="http://schemas.microsoft.com/office/drawing/2014/main" id="{433A588A-0606-D436-7080-85821FD9BB39}"/>
              </a:ext>
            </a:extLst>
          </p:cNvPr>
          <p:cNvPicPr>
            <a:picLocks noChangeAspect="1"/>
          </p:cNvPicPr>
          <p:nvPr/>
        </p:nvPicPr>
        <p:blipFill>
          <a:blip r:embed="rId4"/>
          <a:stretch>
            <a:fillRect/>
          </a:stretch>
        </p:blipFill>
        <p:spPr>
          <a:xfrm>
            <a:off x="5867400" y="1676400"/>
            <a:ext cx="3177506" cy="2438400"/>
          </a:xfrm>
          <a:prstGeom prst="rect">
            <a:avLst/>
          </a:prstGeom>
        </p:spPr>
      </p:pic>
    </p:spTree>
    <p:extLst>
      <p:ext uri="{BB962C8B-B14F-4D97-AF65-F5344CB8AC3E}">
        <p14:creationId xmlns:p14="http://schemas.microsoft.com/office/powerpoint/2010/main" val="3445912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B77E55-F662-C023-03F5-4563135DD465}"/>
              </a:ext>
            </a:extLst>
          </p:cNvPr>
          <p:cNvSpPr>
            <a:spLocks noGrp="1"/>
          </p:cNvSpPr>
          <p:nvPr>
            <p:ph idx="1"/>
          </p:nvPr>
        </p:nvSpPr>
        <p:spPr>
          <a:xfrm>
            <a:off x="623777" y="414669"/>
            <a:ext cx="7772400" cy="3810000"/>
          </a:xfrm>
        </p:spPr>
        <p:txBody>
          <a:bodyPr/>
          <a:lstStyle/>
          <a:p>
            <a:pPr marL="0" indent="0">
              <a:buNone/>
            </a:pPr>
            <a:r>
              <a:rPr lang="en-US"/>
              <a:t>Quick Poll: Who is here today?</a:t>
            </a:r>
          </a:p>
          <a:p>
            <a:pPr marL="0" indent="0">
              <a:buNone/>
            </a:pPr>
            <a:endParaRPr lang="en-US"/>
          </a:p>
          <a:p>
            <a:pPr>
              <a:buFont typeface="Arial"/>
              <a:buChar char="•"/>
            </a:pPr>
            <a:r>
              <a:rPr lang="en-US" b="0"/>
              <a:t>Person with a disability</a:t>
            </a:r>
          </a:p>
          <a:p>
            <a:pPr>
              <a:buFont typeface="Arial"/>
              <a:buChar char="•"/>
            </a:pPr>
            <a:r>
              <a:rPr lang="en-US" b="0"/>
              <a:t>Family</a:t>
            </a:r>
          </a:p>
          <a:p>
            <a:pPr>
              <a:buFont typeface="Arial"/>
              <a:buChar char="•"/>
            </a:pPr>
            <a:r>
              <a:rPr lang="en-US" b="0"/>
              <a:t>State agency</a:t>
            </a:r>
          </a:p>
          <a:p>
            <a:pPr>
              <a:buFont typeface="Arial"/>
              <a:buChar char="•"/>
            </a:pPr>
            <a:r>
              <a:rPr lang="en-US" b="0"/>
              <a:t>Service provider</a:t>
            </a:r>
          </a:p>
          <a:p>
            <a:pPr>
              <a:buFont typeface="Arial"/>
              <a:buChar char="•"/>
            </a:pPr>
            <a:r>
              <a:rPr lang="en-US" b="0"/>
              <a:t>Case manager</a:t>
            </a:r>
          </a:p>
          <a:p>
            <a:pPr>
              <a:buFont typeface="Arial"/>
              <a:buChar char="•"/>
            </a:pPr>
            <a:r>
              <a:rPr lang="en-US" b="0"/>
              <a:t>Education/transition</a:t>
            </a:r>
          </a:p>
          <a:p>
            <a:pPr>
              <a:buFont typeface="Arial"/>
              <a:buChar char="•"/>
            </a:pPr>
            <a:r>
              <a:rPr lang="en-US" b="0"/>
              <a:t>Other</a:t>
            </a:r>
          </a:p>
        </p:txBody>
      </p:sp>
    </p:spTree>
    <p:extLst>
      <p:ext uri="{BB962C8B-B14F-4D97-AF65-F5344CB8AC3E}">
        <p14:creationId xmlns:p14="http://schemas.microsoft.com/office/powerpoint/2010/main" val="3982247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381000"/>
            <a:ext cx="7772400" cy="1143000"/>
          </a:xfrm>
        </p:spPr>
        <p:txBody>
          <a:bodyPr/>
          <a:lstStyle/>
          <a:p>
            <a:pPr algn="l"/>
            <a:r>
              <a:rPr lang="en-US" sz="3200" i="0" u="none" strike="noStrike">
                <a:solidFill>
                  <a:srgbClr val="000000"/>
                </a:solidFill>
                <a:effectLst/>
                <a:latin typeface="Calibri Light" panose="020F0302020204030204" pitchFamily="34" charset="0"/>
              </a:rPr>
              <a:t>Number in Employment and Day services 1989 through 2021</a:t>
            </a:r>
            <a:endParaRPr lang="en-US" sz="3200"/>
          </a:p>
        </p:txBody>
      </p:sp>
      <p:pic>
        <p:nvPicPr>
          <p:cNvPr id="1026" name="Picture 2" descr="A graph highlighting numbers of people with disabilities receiving funded employment and day services from 1989 through 2021. The graph shows three categories of services: non-work, facility-based work and integrated employment.  integrated employment has had a small increased slope, facility-based work has had a slow decreased slope and the nonwork category has consistently  grown and is show to be the fastest growing and largetst categy of services. ">
            <a:extLst>
              <a:ext uri="{FF2B5EF4-FFF2-40B4-BE49-F238E27FC236}">
                <a16:creationId xmlns:a16="http://schemas.microsoft.com/office/drawing/2014/main" id="{2DAFB103-E694-4A31-3E75-52356939C59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4800" y="1595012"/>
            <a:ext cx="6042830" cy="4536354"/>
          </a:xfrm>
          <a:prstGeom prst="rect">
            <a:avLst/>
          </a:prstGeom>
          <a:noFill/>
          <a:extLst>
            <a:ext uri="{909E8E84-426E-40DD-AFC4-6F175D3DCCD1}">
              <a14:hiddenFill xmlns:a14="http://schemas.microsoft.com/office/drawing/2010/main">
                <a:solidFill>
                  <a:srgbClr val="FFFFFF"/>
                </a:solidFill>
              </a14:hiddenFill>
            </a:ext>
          </a:extLst>
        </p:spPr>
      </p:pic>
      <p:sp>
        <p:nvSpPr>
          <p:cNvPr id="2" name="Arrow: Left 1">
            <a:extLst>
              <a:ext uri="{FF2B5EF4-FFF2-40B4-BE49-F238E27FC236}">
                <a16:creationId xmlns:a16="http://schemas.microsoft.com/office/drawing/2014/main" id="{73C08CFB-8107-3D31-FEAD-A2F0DEF8BB30}"/>
              </a:ext>
              <a:ext uri="{C183D7F6-B498-43B3-948B-1728B52AA6E4}">
                <adec:decorative xmlns:adec="http://schemas.microsoft.com/office/drawing/2017/decorative" val="1"/>
              </a:ext>
            </a:extLst>
          </p:cNvPr>
          <p:cNvSpPr/>
          <p:nvPr/>
        </p:nvSpPr>
        <p:spPr>
          <a:xfrm>
            <a:off x="6096000" y="2819400"/>
            <a:ext cx="2567203" cy="1752599"/>
          </a:xfrm>
          <a:prstGeom prst="leftArrow">
            <a:avLst/>
          </a:prstGeom>
          <a:solidFill>
            <a:srgbClr val="0077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ea typeface="Calibri"/>
                <a:cs typeface="Calibri"/>
              </a:rPr>
              <a:t>Most people are here!</a:t>
            </a:r>
          </a:p>
          <a:p>
            <a:pPr algn="ctr"/>
            <a:r>
              <a:rPr lang="en-US" sz="1200" dirty="0">
                <a:cs typeface="Calibri"/>
              </a:rPr>
              <a:t>So, what are we doing?</a:t>
            </a:r>
          </a:p>
        </p:txBody>
      </p:sp>
      <p:sp>
        <p:nvSpPr>
          <p:cNvPr id="3" name="TextBox 2">
            <a:extLst>
              <a:ext uri="{FF2B5EF4-FFF2-40B4-BE49-F238E27FC236}">
                <a16:creationId xmlns:a16="http://schemas.microsoft.com/office/drawing/2014/main" id="{33BB3977-3C6A-343F-FC7D-C4A45B7F9C4D}"/>
              </a:ext>
            </a:extLst>
          </p:cNvPr>
          <p:cNvSpPr txBox="1"/>
          <p:nvPr/>
        </p:nvSpPr>
        <p:spPr>
          <a:xfrm>
            <a:off x="597309" y="5669701"/>
            <a:ext cx="300551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hlinkClick r:id="rId4"/>
              </a:rPr>
              <a:t>www.statedata.info</a:t>
            </a:r>
            <a:r>
              <a:rPr lang="en-US" dirty="0">
                <a:latin typeface="Arial"/>
                <a:cs typeface="Arial"/>
              </a:rPr>
              <a:t> </a:t>
            </a:r>
            <a:endParaRPr lang="en-US"/>
          </a:p>
        </p:txBody>
      </p:sp>
    </p:spTree>
    <p:extLst>
      <p:ext uri="{BB962C8B-B14F-4D97-AF65-F5344CB8AC3E}">
        <p14:creationId xmlns:p14="http://schemas.microsoft.com/office/powerpoint/2010/main" val="3717612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A6B59C0-7FEB-8944-A32C-E0135BBB043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68" y="1385239"/>
            <a:ext cx="4114800" cy="4733925"/>
          </a:xfrm>
          <a:prstGeom prst="rect">
            <a:avLst/>
          </a:prstGeom>
          <a:noFill/>
          <a:extLst>
            <a:ext uri="{909E8E84-426E-40DD-AFC4-6F175D3DCCD1}">
              <a14:hiddenFill xmlns:a14="http://schemas.microsoft.com/office/drawing/2010/main">
                <a:solidFill>
                  <a:srgbClr val="FFFFFF"/>
                </a:solidFill>
              </a14:hiddenFill>
            </a:ext>
          </a:extLst>
        </p:spPr>
      </p:pic>
      <p:sp>
        <p:nvSpPr>
          <p:cNvPr id="2" name="Arrow: Left 1" descr="an orange area says 86% of people do not have a job">
            <a:extLst>
              <a:ext uri="{FF2B5EF4-FFF2-40B4-BE49-F238E27FC236}">
                <a16:creationId xmlns:a16="http://schemas.microsoft.com/office/drawing/2014/main" id="{7CF2804E-027F-4F6A-F01C-5982F43BA919}"/>
              </a:ext>
            </a:extLst>
          </p:cNvPr>
          <p:cNvSpPr/>
          <p:nvPr/>
        </p:nvSpPr>
        <p:spPr>
          <a:xfrm>
            <a:off x="4686886" y="1260952"/>
            <a:ext cx="4076114" cy="1491176"/>
          </a:xfrm>
          <a:prstGeom prst="leftArrow">
            <a:avLst/>
          </a:prstGeom>
          <a:solidFill>
            <a:srgbClr val="F16726"/>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a:t>86% Don’t have a job</a:t>
            </a:r>
          </a:p>
        </p:txBody>
      </p:sp>
      <p:sp>
        <p:nvSpPr>
          <p:cNvPr id="3" name="Arrow: Left 2" descr="A blue arrow says 51% want a job">
            <a:extLst>
              <a:ext uri="{FF2B5EF4-FFF2-40B4-BE49-F238E27FC236}">
                <a16:creationId xmlns:a16="http://schemas.microsoft.com/office/drawing/2014/main" id="{0B8B2567-1D17-E56A-9175-A84DD6C62691}"/>
              </a:ext>
            </a:extLst>
          </p:cNvPr>
          <p:cNvSpPr/>
          <p:nvPr/>
        </p:nvSpPr>
        <p:spPr>
          <a:xfrm>
            <a:off x="3962400" y="2961549"/>
            <a:ext cx="4800600" cy="1405310"/>
          </a:xfrm>
          <a:prstGeom prst="leftArrow">
            <a:avLst/>
          </a:prstGeom>
          <a:solidFill>
            <a:srgbClr val="0077AF"/>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a:t>51% Want a job</a:t>
            </a:r>
          </a:p>
        </p:txBody>
      </p:sp>
      <p:sp>
        <p:nvSpPr>
          <p:cNvPr id="4" name="Arrow: Left 3" descr="A green arrow says 37% have a goal in their plan ">
            <a:extLst>
              <a:ext uri="{FF2B5EF4-FFF2-40B4-BE49-F238E27FC236}">
                <a16:creationId xmlns:a16="http://schemas.microsoft.com/office/drawing/2014/main" id="{CD8DFEF4-00FD-8E9B-B500-05EE924A91CD}"/>
              </a:ext>
            </a:extLst>
          </p:cNvPr>
          <p:cNvSpPr/>
          <p:nvPr/>
        </p:nvSpPr>
        <p:spPr>
          <a:xfrm>
            <a:off x="3190125" y="4386702"/>
            <a:ext cx="5638800" cy="1434777"/>
          </a:xfrm>
          <a:prstGeom prst="leftArrow">
            <a:avLst/>
          </a:prstGeom>
          <a:solidFill>
            <a:srgbClr val="5D9732"/>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a:solidFill>
                  <a:schemeClr val="tx1"/>
                </a:solidFill>
              </a:rPr>
              <a:t>37% Have a goal in their plan</a:t>
            </a:r>
          </a:p>
        </p:txBody>
      </p:sp>
      <p:sp>
        <p:nvSpPr>
          <p:cNvPr id="5" name="TextBox 1">
            <a:extLst>
              <a:ext uri="{FF2B5EF4-FFF2-40B4-BE49-F238E27FC236}">
                <a16:creationId xmlns:a16="http://schemas.microsoft.com/office/drawing/2014/main" id="{FAB1491A-7594-AD66-EDEF-03BF81296437}"/>
              </a:ext>
            </a:extLst>
          </p:cNvPr>
          <p:cNvSpPr txBox="1"/>
          <p:nvPr/>
        </p:nvSpPr>
        <p:spPr>
          <a:xfrm>
            <a:off x="3831809" y="5722247"/>
            <a:ext cx="6325072"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hlinkClick r:id="rId4"/>
              </a:rPr>
              <a:t>https://www.nationalcoreindicators.org/</a:t>
            </a:r>
            <a:r>
              <a:rPr lang="en-US" sz="1600"/>
              <a:t>2020-2021</a:t>
            </a:r>
          </a:p>
        </p:txBody>
      </p:sp>
      <p:sp>
        <p:nvSpPr>
          <p:cNvPr id="6" name="Title 1">
            <a:extLst>
              <a:ext uri="{FF2B5EF4-FFF2-40B4-BE49-F238E27FC236}">
                <a16:creationId xmlns:a16="http://schemas.microsoft.com/office/drawing/2014/main" id="{0457C328-CEF3-6876-2BD0-B77397750B9F}"/>
              </a:ext>
            </a:extLst>
          </p:cNvPr>
          <p:cNvSpPr>
            <a:spLocks noGrp="1"/>
          </p:cNvSpPr>
          <p:nvPr/>
        </p:nvSpPr>
        <p:spPr>
          <a:xfrm>
            <a:off x="0" y="309574"/>
            <a:ext cx="10039454" cy="8079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cs typeface="Calibri Light"/>
              </a:rPr>
              <a:t>What does the Data say?</a:t>
            </a:r>
            <a:r>
              <a:rPr lang="en-US">
                <a:cs typeface="Calibri Light"/>
              </a:rPr>
              <a:t> </a:t>
            </a:r>
            <a:endParaRPr lang="en-US"/>
          </a:p>
        </p:txBody>
      </p:sp>
    </p:spTree>
    <p:extLst>
      <p:ext uri="{BB962C8B-B14F-4D97-AF65-F5344CB8AC3E}">
        <p14:creationId xmlns:p14="http://schemas.microsoft.com/office/powerpoint/2010/main" val="385805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descr="A box with the number 1 titled: Individualize supports for each person&#10;&#10;A box with the number 2 titled: Promote community membership and contribution&#10;&#10;A box with the number 3 titled: facilitate relationships and skill building to reduce reliance on paid supports&#10;&#10;A box with the number 4 titled: Ensure supports are outcome oriented and regularly monitored. ">
            <a:extLst>
              <a:ext uri="{FF2B5EF4-FFF2-40B4-BE49-F238E27FC236}">
                <a16:creationId xmlns:a16="http://schemas.microsoft.com/office/drawing/2014/main" id="{AC59D6F7-E69D-59E2-0FAF-D0CC07FFECD2}"/>
              </a:ext>
            </a:extLst>
          </p:cNvPr>
          <p:cNvGraphicFramePr>
            <a:graphicFrameLocks noGrp="1"/>
          </p:cNvGraphicFramePr>
          <p:nvPr>
            <p:extLst>
              <p:ext uri="{D42A27DB-BD31-4B8C-83A1-F6EECF244321}">
                <p14:modId xmlns:p14="http://schemas.microsoft.com/office/powerpoint/2010/main" val="2538601115"/>
              </p:ext>
            </p:extLst>
          </p:nvPr>
        </p:nvGraphicFramePr>
        <p:xfrm>
          <a:off x="719472" y="485477"/>
          <a:ext cx="7715083" cy="3138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9" name="TextBox 68" descr="Community Life Engagement Guideposts">
            <a:extLst>
              <a:ext uri="{FF2B5EF4-FFF2-40B4-BE49-F238E27FC236}">
                <a16:creationId xmlns:a16="http://schemas.microsoft.com/office/drawing/2014/main" id="{EEBE9B6F-5696-E830-D471-63CCF2D3F490}"/>
              </a:ext>
            </a:extLst>
          </p:cNvPr>
          <p:cNvSpPr txBox="1"/>
          <p:nvPr/>
        </p:nvSpPr>
        <p:spPr>
          <a:xfrm>
            <a:off x="495078" y="3630033"/>
            <a:ext cx="849626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latin typeface="Arial"/>
                <a:cs typeface="Arial"/>
              </a:rPr>
              <a:t>Community Life Engagement </a:t>
            </a:r>
            <a:endParaRPr lang="en-US" sz="3600" dirty="0">
              <a:cs typeface="Arial"/>
            </a:endParaRPr>
          </a:p>
          <a:p>
            <a:pPr algn="ctr"/>
            <a:r>
              <a:rPr lang="en-US" sz="3600" dirty="0">
                <a:latin typeface="Arial"/>
                <a:cs typeface="Arial"/>
              </a:rPr>
              <a:t>Guideposts </a:t>
            </a:r>
            <a:endParaRPr lang="en-US" sz="3600" dirty="0">
              <a:cs typeface="Arial"/>
            </a:endParaRPr>
          </a:p>
        </p:txBody>
      </p:sp>
      <p:pic>
        <p:nvPicPr>
          <p:cNvPr id="70" name="Picture 69">
            <a:extLst>
              <a:ext uri="{FF2B5EF4-FFF2-40B4-BE49-F238E27FC236}">
                <a16:creationId xmlns:a16="http://schemas.microsoft.com/office/drawing/2014/main" id="{1A8CEF36-C212-82F5-9B92-ADCE1C247DC2}"/>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2518611" y="5153392"/>
            <a:ext cx="4006515" cy="762269"/>
          </a:xfrm>
          <a:prstGeom prst="rect">
            <a:avLst/>
          </a:prstGeom>
        </p:spPr>
      </p:pic>
    </p:spTree>
    <p:extLst>
      <p:ext uri="{BB962C8B-B14F-4D97-AF65-F5344CB8AC3E}">
        <p14:creationId xmlns:p14="http://schemas.microsoft.com/office/powerpoint/2010/main" val="4030066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 shot of a joint brief entitled: A Framework for Community Engagement to Competitive Integrated Employment&quot;. ">
            <a:extLst>
              <a:ext uri="{FF2B5EF4-FFF2-40B4-BE49-F238E27FC236}">
                <a16:creationId xmlns:a16="http://schemas.microsoft.com/office/drawing/2014/main" id="{45ADE33B-6E99-3C44-EFCC-B2D8B0FD6E12}"/>
              </a:ext>
            </a:extLst>
          </p:cNvPr>
          <p:cNvPicPr>
            <a:picLocks noChangeAspect="1"/>
          </p:cNvPicPr>
          <p:nvPr/>
        </p:nvPicPr>
        <p:blipFill>
          <a:blip r:embed="rId3"/>
          <a:stretch>
            <a:fillRect/>
          </a:stretch>
        </p:blipFill>
        <p:spPr>
          <a:xfrm>
            <a:off x="1981200" y="304800"/>
            <a:ext cx="5029200" cy="5841280"/>
          </a:xfrm>
          <a:prstGeom prst="rect">
            <a:avLst/>
          </a:prstGeom>
        </p:spPr>
      </p:pic>
      <p:sp>
        <p:nvSpPr>
          <p:cNvPr id="8" name="TextBox 7">
            <a:extLst>
              <a:ext uri="{FF2B5EF4-FFF2-40B4-BE49-F238E27FC236}">
                <a16:creationId xmlns:a16="http://schemas.microsoft.com/office/drawing/2014/main" id="{BE81196B-F801-07C6-E720-9FB7A5BAE585}"/>
              </a:ext>
            </a:extLst>
          </p:cNvPr>
          <p:cNvSpPr txBox="1"/>
          <p:nvPr/>
        </p:nvSpPr>
        <p:spPr>
          <a:xfrm>
            <a:off x="7391400" y="4648200"/>
            <a:ext cx="1524000" cy="1277273"/>
          </a:xfrm>
          <a:prstGeom prst="rect">
            <a:avLst/>
          </a:prstGeom>
          <a:noFill/>
        </p:spPr>
        <p:txBody>
          <a:bodyPr wrap="square">
            <a:spAutoFit/>
          </a:bodyPr>
          <a:lstStyle/>
          <a:p>
            <a:r>
              <a:rPr lang="en-US" sz="1100">
                <a:hlinkClick r:id="rId4"/>
              </a:rPr>
              <a:t>A Framework for Community Engagement – A Pathway to Competitive Integrated Employment</a:t>
            </a:r>
            <a:endParaRPr lang="en-US" sz="1100"/>
          </a:p>
        </p:txBody>
      </p:sp>
    </p:spTree>
    <p:extLst>
      <p:ext uri="{BB962C8B-B14F-4D97-AF65-F5344CB8AC3E}">
        <p14:creationId xmlns:p14="http://schemas.microsoft.com/office/powerpoint/2010/main" val="3833611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4EB18-AA9B-8AD9-4EA4-C3395590D8A7}"/>
              </a:ext>
            </a:extLst>
          </p:cNvPr>
          <p:cNvSpPr>
            <a:spLocks noGrp="1"/>
          </p:cNvSpPr>
          <p:nvPr>
            <p:ph type="title"/>
          </p:nvPr>
        </p:nvSpPr>
        <p:spPr>
          <a:ln>
            <a:noFill/>
          </a:ln>
        </p:spPr>
        <p:txBody>
          <a:bodyPr/>
          <a:lstStyle/>
          <a:p>
            <a:r>
              <a:rPr lang="en-US"/>
              <a:t>Role of Case Managers in Employment</a:t>
            </a:r>
          </a:p>
        </p:txBody>
      </p:sp>
      <p:sp>
        <p:nvSpPr>
          <p:cNvPr id="3" name="Content Placeholder 2">
            <a:extLst>
              <a:ext uri="{FF2B5EF4-FFF2-40B4-BE49-F238E27FC236}">
                <a16:creationId xmlns:a16="http://schemas.microsoft.com/office/drawing/2014/main" id="{73073313-A32D-FF49-D05D-EF8E49F5BCF6}"/>
              </a:ext>
            </a:extLst>
          </p:cNvPr>
          <p:cNvSpPr>
            <a:spLocks noGrp="1"/>
          </p:cNvSpPr>
          <p:nvPr>
            <p:ph sz="half" idx="1"/>
          </p:nvPr>
        </p:nvSpPr>
        <p:spPr>
          <a:xfrm>
            <a:off x="2415419" y="2054980"/>
            <a:ext cx="6325808" cy="3737429"/>
          </a:xfrm>
          <a:ln w="28575">
            <a:noFill/>
          </a:ln>
        </p:spPr>
        <p:txBody>
          <a:bodyPr/>
          <a:lstStyle/>
          <a:p>
            <a:pPr>
              <a:spcBef>
                <a:spcPts val="1400"/>
              </a:spcBef>
              <a:spcAft>
                <a:spcPts val="1000"/>
              </a:spcAft>
            </a:pPr>
            <a:r>
              <a:rPr lang="en-US">
                <a:cs typeface="Arial"/>
              </a:rPr>
              <a:t>Support development of a vision for employment </a:t>
            </a:r>
            <a:r>
              <a:rPr lang="en-US" sz="3200">
                <a:cs typeface="Arial"/>
              </a:rPr>
              <a:t>and a plan to get there</a:t>
            </a:r>
            <a:endParaRPr lang="en-US" sz="3200"/>
          </a:p>
          <a:p>
            <a:pPr>
              <a:spcBef>
                <a:spcPts val="1400"/>
              </a:spcBef>
              <a:spcAft>
                <a:spcPts val="1000"/>
              </a:spcAft>
            </a:pPr>
            <a:r>
              <a:rPr lang="en-US">
                <a:cs typeface="Arial"/>
              </a:rPr>
              <a:t>Link to supports and services</a:t>
            </a:r>
            <a:endParaRPr lang="en-US" b="0">
              <a:cs typeface="Arial"/>
            </a:endParaRPr>
          </a:p>
          <a:p>
            <a:pPr>
              <a:spcBef>
                <a:spcPts val="1400"/>
              </a:spcBef>
              <a:spcAft>
                <a:spcPts val="1000"/>
              </a:spcAft>
            </a:pPr>
            <a:r>
              <a:rPr lang="en-US">
                <a:cs typeface="Arial"/>
              </a:rPr>
              <a:t>Ensure team collaboration and communication</a:t>
            </a:r>
            <a:endParaRPr lang="en-US" b="0">
              <a:cs typeface="Arial"/>
            </a:endParaRPr>
          </a:p>
          <a:p>
            <a:endParaRPr lang="en-US"/>
          </a:p>
        </p:txBody>
      </p:sp>
      <p:pic>
        <p:nvPicPr>
          <p:cNvPr id="5" name="Content Placeholder 4" descr="Cycle with people with solid fill">
            <a:extLst>
              <a:ext uri="{FF2B5EF4-FFF2-40B4-BE49-F238E27FC236}">
                <a16:creationId xmlns:a16="http://schemas.microsoft.com/office/drawing/2014/main" id="{6643DD77-27A9-4E00-D9F1-AFEF02D36083}"/>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689428" y="4657876"/>
            <a:ext cx="1132114" cy="1138162"/>
          </a:xfrm>
        </p:spPr>
      </p:pic>
      <p:pic>
        <p:nvPicPr>
          <p:cNvPr id="6" name="Graphic 5" descr="Eye with solid fill">
            <a:extLst>
              <a:ext uri="{FF2B5EF4-FFF2-40B4-BE49-F238E27FC236}">
                <a16:creationId xmlns:a16="http://schemas.microsoft.com/office/drawing/2014/main" id="{B9FF30B7-9CE3-DE02-9EA3-3A9DB70E12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5800" y="2052562"/>
            <a:ext cx="914400" cy="914400"/>
          </a:xfrm>
          <a:prstGeom prst="rect">
            <a:avLst/>
          </a:prstGeom>
        </p:spPr>
      </p:pic>
      <p:pic>
        <p:nvPicPr>
          <p:cNvPr id="7" name="Graphic 6" descr="Rope Knot with solid fill">
            <a:extLst>
              <a:ext uri="{FF2B5EF4-FFF2-40B4-BE49-F238E27FC236}">
                <a16:creationId xmlns:a16="http://schemas.microsoft.com/office/drawing/2014/main" id="{020446A4-B36E-DA25-13A6-02A8AD6FE3A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5800" y="3431419"/>
            <a:ext cx="914400" cy="914400"/>
          </a:xfrm>
          <a:prstGeom prst="rect">
            <a:avLst/>
          </a:prstGeom>
        </p:spPr>
      </p:pic>
    </p:spTree>
    <p:extLst>
      <p:ext uri="{BB962C8B-B14F-4D97-AF65-F5344CB8AC3E}">
        <p14:creationId xmlns:p14="http://schemas.microsoft.com/office/powerpoint/2010/main" val="306498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32CFB-F3BC-2094-7A23-DFE94C8035FD}"/>
              </a:ext>
            </a:extLst>
          </p:cNvPr>
          <p:cNvSpPr>
            <a:spLocks noGrp="1"/>
          </p:cNvSpPr>
          <p:nvPr>
            <p:ph type="title"/>
          </p:nvPr>
        </p:nvSpPr>
        <p:spPr>
          <a:xfrm>
            <a:off x="95865" y="4358148"/>
            <a:ext cx="3760839" cy="1143000"/>
          </a:xfrm>
        </p:spPr>
        <p:txBody>
          <a:bodyPr/>
          <a:lstStyle/>
          <a:p>
            <a:r>
              <a:rPr lang="en-US"/>
              <a:t>Pathways to Employment</a:t>
            </a:r>
          </a:p>
        </p:txBody>
      </p:sp>
      <p:sp>
        <p:nvSpPr>
          <p:cNvPr id="4" name="Content Placeholder 3">
            <a:extLst>
              <a:ext uri="{FF2B5EF4-FFF2-40B4-BE49-F238E27FC236}">
                <a16:creationId xmlns:a16="http://schemas.microsoft.com/office/drawing/2014/main" id="{7AD1CA62-9A7A-2B0C-40AC-72B3FEB4F51A}"/>
              </a:ext>
            </a:extLst>
          </p:cNvPr>
          <p:cNvSpPr>
            <a:spLocks noGrp="1"/>
          </p:cNvSpPr>
          <p:nvPr>
            <p:ph sz="half" idx="2"/>
          </p:nvPr>
        </p:nvSpPr>
        <p:spPr>
          <a:xfrm>
            <a:off x="3682182" y="3682533"/>
            <a:ext cx="5240593" cy="2143434"/>
          </a:xfrm>
        </p:spPr>
        <p:txBody>
          <a:bodyPr/>
          <a:lstStyle/>
          <a:p>
            <a:pPr>
              <a:spcBef>
                <a:spcPts val="1400"/>
              </a:spcBef>
              <a:spcAft>
                <a:spcPts val="1000"/>
              </a:spcAft>
            </a:pPr>
            <a:r>
              <a:rPr lang="en-US" sz="2800"/>
              <a:t>Not interested in work</a:t>
            </a:r>
            <a:endParaRPr lang="en-US"/>
          </a:p>
          <a:p>
            <a:pPr>
              <a:spcBef>
                <a:spcPts val="1400"/>
              </a:spcBef>
              <a:spcAft>
                <a:spcPts val="1000"/>
              </a:spcAft>
            </a:pPr>
            <a:r>
              <a:rPr lang="en-US" sz="2800"/>
              <a:t>Interested in work</a:t>
            </a:r>
          </a:p>
          <a:p>
            <a:pPr>
              <a:spcBef>
                <a:spcPts val="1400"/>
              </a:spcBef>
              <a:spcAft>
                <a:spcPts val="1000"/>
              </a:spcAft>
            </a:pPr>
            <a:r>
              <a:rPr lang="en-US" sz="2800"/>
              <a:t>Working and focused on career growth</a:t>
            </a:r>
          </a:p>
        </p:txBody>
      </p:sp>
      <p:pic>
        <p:nvPicPr>
          <p:cNvPr id="8" name="Content Placeholder 7" descr="Hedge maze">
            <a:extLst>
              <a:ext uri="{FF2B5EF4-FFF2-40B4-BE49-F238E27FC236}">
                <a16:creationId xmlns:a16="http://schemas.microsoft.com/office/drawing/2014/main" id="{C4A8E62A-85C9-954F-3B96-28B44F483F1C}"/>
              </a:ext>
            </a:extLst>
          </p:cNvPr>
          <p:cNvPicPr>
            <a:picLocks noGrp="1" noChangeAspect="1"/>
          </p:cNvPicPr>
          <p:nvPr>
            <p:ph sz="half" idx="1"/>
          </p:nvPr>
        </p:nvPicPr>
        <p:blipFill rotWithShape="1">
          <a:blip r:embed="rId3"/>
          <a:srcRect t="14437" b="14437"/>
          <a:stretch/>
        </p:blipFill>
        <p:spPr>
          <a:xfrm>
            <a:off x="1359584" y="561112"/>
            <a:ext cx="6310097" cy="2986985"/>
          </a:xfrm>
        </p:spPr>
      </p:pic>
    </p:spTree>
    <p:extLst>
      <p:ext uri="{BB962C8B-B14F-4D97-AF65-F5344CB8AC3E}">
        <p14:creationId xmlns:p14="http://schemas.microsoft.com/office/powerpoint/2010/main" val="961355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6513-FCB8-985E-DF01-E6EA81B23170}"/>
              </a:ext>
            </a:extLst>
          </p:cNvPr>
          <p:cNvSpPr>
            <a:spLocks noGrp="1"/>
          </p:cNvSpPr>
          <p:nvPr>
            <p:ph type="title"/>
          </p:nvPr>
        </p:nvSpPr>
        <p:spPr>
          <a:xfrm>
            <a:off x="371324" y="499533"/>
            <a:ext cx="3611639" cy="2376714"/>
          </a:xfrm>
        </p:spPr>
        <p:txBody>
          <a:bodyPr/>
          <a:lstStyle/>
          <a:p>
            <a:r>
              <a:rPr lang="en-US"/>
              <a:t>Support for Case Managers</a:t>
            </a:r>
          </a:p>
        </p:txBody>
      </p:sp>
      <p:pic>
        <p:nvPicPr>
          <p:cNvPr id="42" name="Content Placeholder 41" descr="A close-up of a sign&#10;&#10;Description automatically generated">
            <a:extLst>
              <a:ext uri="{FF2B5EF4-FFF2-40B4-BE49-F238E27FC236}">
                <a16:creationId xmlns:a16="http://schemas.microsoft.com/office/drawing/2014/main" id="{B00520A9-E56A-F9DB-7ACE-CE5E991C05B6}"/>
              </a:ext>
            </a:extLst>
          </p:cNvPr>
          <p:cNvPicPr>
            <a:picLocks noGrp="1" noChangeAspect="1"/>
          </p:cNvPicPr>
          <p:nvPr>
            <p:ph sz="half" idx="1"/>
          </p:nvPr>
        </p:nvPicPr>
        <p:blipFill>
          <a:blip r:embed="rId3"/>
          <a:stretch>
            <a:fillRect/>
          </a:stretch>
        </p:blipFill>
        <p:spPr>
          <a:xfrm>
            <a:off x="503687" y="3105342"/>
            <a:ext cx="3810000" cy="1099038"/>
          </a:xfrm>
        </p:spPr>
      </p:pic>
      <p:pic>
        <p:nvPicPr>
          <p:cNvPr id="44" name="Content Placeholder 43" descr="A white sign with blue green and orange text&#10;&#10;Description automatically generated">
            <a:extLst>
              <a:ext uri="{FF2B5EF4-FFF2-40B4-BE49-F238E27FC236}">
                <a16:creationId xmlns:a16="http://schemas.microsoft.com/office/drawing/2014/main" id="{72A02B13-4CB5-3117-3193-08ACFA786236}"/>
              </a:ext>
            </a:extLst>
          </p:cNvPr>
          <p:cNvPicPr>
            <a:picLocks noGrp="1" noChangeAspect="1"/>
          </p:cNvPicPr>
          <p:nvPr>
            <p:ph sz="half" idx="2"/>
          </p:nvPr>
        </p:nvPicPr>
        <p:blipFill>
          <a:blip r:embed="rId4"/>
          <a:stretch>
            <a:fillRect/>
          </a:stretch>
        </p:blipFill>
        <p:spPr>
          <a:xfrm>
            <a:off x="4509820" y="584200"/>
            <a:ext cx="4135140" cy="5348513"/>
          </a:xfrm>
        </p:spPr>
      </p:pic>
      <p:sp>
        <p:nvSpPr>
          <p:cNvPr id="3" name="TextBox 2">
            <a:extLst>
              <a:ext uri="{FF2B5EF4-FFF2-40B4-BE49-F238E27FC236}">
                <a16:creationId xmlns:a16="http://schemas.microsoft.com/office/drawing/2014/main" id="{BD6952C9-C7C2-F05B-A6A0-E7BA7CE02AE2}"/>
              </a:ext>
            </a:extLst>
          </p:cNvPr>
          <p:cNvSpPr txBox="1"/>
          <p:nvPr/>
        </p:nvSpPr>
        <p:spPr>
          <a:xfrm>
            <a:off x="498607" y="4198476"/>
            <a:ext cx="3809137" cy="11059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solidFill>
                  <a:srgbClr val="5D9732"/>
                </a:solidFill>
                <a:latin typeface="Myriad Pro"/>
                <a:cs typeface="Arial"/>
              </a:rPr>
              <a:t>Supporting a Vision for Employment</a:t>
            </a:r>
            <a:endParaRPr lang="en-US" sz="3200">
              <a:solidFill>
                <a:srgbClr val="5D9732"/>
              </a:solidFill>
              <a:latin typeface="Myriad Pro"/>
            </a:endParaRPr>
          </a:p>
        </p:txBody>
      </p:sp>
    </p:spTree>
    <p:extLst>
      <p:ext uri="{BB962C8B-B14F-4D97-AF65-F5344CB8AC3E}">
        <p14:creationId xmlns:p14="http://schemas.microsoft.com/office/powerpoint/2010/main" val="309742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g248c0ec6322_0_180"/>
          <p:cNvSpPr txBox="1">
            <a:spLocks noGrp="1"/>
          </p:cNvSpPr>
          <p:nvPr>
            <p:ph type="title"/>
          </p:nvPr>
        </p:nvSpPr>
        <p:spPr>
          <a:xfrm>
            <a:off x="685800" y="457200"/>
            <a:ext cx="77724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rgbClr val="006699"/>
                </a:solidFill>
              </a:rPr>
              <a:t>Employment First Priority</a:t>
            </a:r>
            <a:endParaRPr>
              <a:solidFill>
                <a:srgbClr val="006699"/>
              </a:solidFill>
            </a:endParaRPr>
          </a:p>
        </p:txBody>
      </p:sp>
      <p:sp>
        <p:nvSpPr>
          <p:cNvPr id="84" name="Google Shape;84;g248c0ec6322_0_180"/>
          <p:cNvSpPr txBox="1">
            <a:spLocks noGrp="1"/>
          </p:cNvSpPr>
          <p:nvPr>
            <p:ph type="body" idx="1"/>
          </p:nvPr>
        </p:nvSpPr>
        <p:spPr>
          <a:xfrm>
            <a:off x="3384975" y="1752600"/>
            <a:ext cx="5073300" cy="4205400"/>
          </a:xfrm>
          <a:prstGeom prst="rect">
            <a:avLst/>
          </a:prstGeom>
        </p:spPr>
        <p:txBody>
          <a:bodyPr spcFirstLastPara="1" wrap="square" lIns="91425" tIns="45700" rIns="91425" bIns="45700" anchor="t" anchorCtr="0">
            <a:noAutofit/>
          </a:bodyPr>
          <a:lstStyle/>
          <a:p>
            <a:pPr marL="0" indent="0" algn="ctr">
              <a:buNone/>
            </a:pPr>
            <a:r>
              <a:rPr lang="en-US" sz="2700" i="1">
                <a:solidFill>
                  <a:srgbClr val="5D9732"/>
                </a:solidFill>
              </a:rPr>
              <a:t>“When providing services to a person with a disability, give priority to providing services that assist the person in obtaining and retaining meaningful and gainful Employment”</a:t>
            </a:r>
            <a:endParaRPr sz="2700" i="1">
              <a:solidFill>
                <a:srgbClr val="5D9732"/>
              </a:solidFill>
            </a:endParaRPr>
          </a:p>
          <a:p>
            <a:pPr marL="0" indent="0" algn="ctr">
              <a:buNone/>
            </a:pPr>
            <a:endParaRPr sz="2700" i="1">
              <a:solidFill>
                <a:srgbClr val="5D9732"/>
              </a:solidFill>
            </a:endParaRPr>
          </a:p>
          <a:p>
            <a:pPr marL="0" lvl="0" indent="0" algn="ctr" rtl="0">
              <a:spcBef>
                <a:spcPts val="360"/>
              </a:spcBef>
              <a:spcAft>
                <a:spcPts val="0"/>
              </a:spcAft>
              <a:buNone/>
            </a:pPr>
            <a:r>
              <a:rPr lang="en-US" sz="1100" i="1">
                <a:solidFill>
                  <a:srgbClr val="5D9732"/>
                </a:solidFill>
              </a:rPr>
              <a:t>62A-5-103.3: Employment first emphasis on the provision of services.”</a:t>
            </a:r>
            <a:endParaRPr sz="1100" i="1">
              <a:solidFill>
                <a:srgbClr val="5D9732"/>
              </a:solidFill>
            </a:endParaRPr>
          </a:p>
        </p:txBody>
      </p:sp>
      <p:sp>
        <p:nvSpPr>
          <p:cNvPr id="85" name="Google Shape;85;g248c0ec6322_0_180"/>
          <p:cNvSpPr/>
          <p:nvPr/>
        </p:nvSpPr>
        <p:spPr>
          <a:xfrm>
            <a:off x="410909" y="1600191"/>
            <a:ext cx="2571600" cy="3747300"/>
          </a:xfrm>
          <a:prstGeom prst="rect">
            <a:avLst/>
          </a:prstGeom>
          <a:noFill/>
          <a:ln>
            <a:noFill/>
          </a:ln>
        </p:spPr>
        <p:txBody>
          <a:bodyPr spcFirstLastPara="1" wrap="square" lIns="91425" tIns="45700" rIns="91425" bIns="45700" anchor="ctr" anchorCtr="0">
            <a:noAutofit/>
          </a:bodyPr>
          <a:lstStyle/>
          <a:p>
            <a:pPr marL="488632" marR="0" lvl="0" indent="-207962" algn="l" rtl="0">
              <a:spcBef>
                <a:spcPts val="1000"/>
              </a:spcBef>
              <a:spcAft>
                <a:spcPts val="0"/>
              </a:spcAft>
              <a:buClr>
                <a:srgbClr val="006699"/>
              </a:buClr>
              <a:buSzPts val="1700"/>
              <a:buFont typeface="Open Sans"/>
              <a:buChar char="•"/>
            </a:pPr>
            <a:r>
              <a:rPr lang="en-US" sz="1700">
                <a:solidFill>
                  <a:srgbClr val="006699"/>
                </a:solidFill>
                <a:latin typeface="Open Sans"/>
                <a:ea typeface="Open Sans"/>
                <a:cs typeface="Open Sans"/>
                <a:sym typeface="Open Sans"/>
              </a:rPr>
              <a:t>Department of Workforce Services </a:t>
            </a:r>
            <a:endParaRPr sz="1300">
              <a:solidFill>
                <a:srgbClr val="006699"/>
              </a:solidFill>
              <a:latin typeface="Open Sans"/>
              <a:ea typeface="Open Sans"/>
              <a:cs typeface="Open Sans"/>
              <a:sym typeface="Open Sans"/>
            </a:endParaRPr>
          </a:p>
          <a:p>
            <a:pPr marL="488632" marR="0" lvl="0" indent="-207962" algn="l" rtl="0">
              <a:spcBef>
                <a:spcPts val="1000"/>
              </a:spcBef>
              <a:spcAft>
                <a:spcPts val="0"/>
              </a:spcAft>
              <a:buClr>
                <a:srgbClr val="006699"/>
              </a:buClr>
              <a:buSzPts val="1700"/>
              <a:buFont typeface="Open Sans"/>
              <a:buChar char="•"/>
            </a:pPr>
            <a:r>
              <a:rPr lang="en-US" sz="1700">
                <a:solidFill>
                  <a:srgbClr val="006699"/>
                </a:solidFill>
                <a:latin typeface="Open Sans"/>
                <a:ea typeface="Open Sans"/>
                <a:cs typeface="Open Sans"/>
                <a:sym typeface="Open Sans"/>
              </a:rPr>
              <a:t>Utah State Office of Rehabilitation </a:t>
            </a:r>
            <a:endParaRPr sz="1300">
              <a:solidFill>
                <a:srgbClr val="006699"/>
              </a:solidFill>
              <a:latin typeface="Open Sans"/>
              <a:ea typeface="Open Sans"/>
              <a:cs typeface="Open Sans"/>
              <a:sym typeface="Open Sans"/>
            </a:endParaRPr>
          </a:p>
          <a:p>
            <a:pPr marL="488632" marR="0" lvl="0" indent="-207962" algn="l" rtl="0">
              <a:spcBef>
                <a:spcPts val="2250"/>
              </a:spcBef>
              <a:spcAft>
                <a:spcPts val="0"/>
              </a:spcAft>
              <a:buClr>
                <a:srgbClr val="006699"/>
              </a:buClr>
              <a:buSzPts val="1700"/>
              <a:buFont typeface="Open Sans"/>
              <a:buChar char="•"/>
            </a:pPr>
            <a:r>
              <a:rPr lang="en-US" sz="1700">
                <a:solidFill>
                  <a:srgbClr val="006699"/>
                </a:solidFill>
                <a:latin typeface="Open Sans"/>
                <a:ea typeface="Open Sans"/>
                <a:cs typeface="Open Sans"/>
                <a:sym typeface="Open Sans"/>
              </a:rPr>
              <a:t>Division of Services for People with Disabilities</a:t>
            </a:r>
            <a:endParaRPr sz="1300">
              <a:solidFill>
                <a:srgbClr val="006699"/>
              </a:solidFill>
              <a:latin typeface="Open Sans"/>
              <a:ea typeface="Open Sans"/>
              <a:cs typeface="Open Sans"/>
              <a:sym typeface="Open Sans"/>
            </a:endParaRPr>
          </a:p>
          <a:p>
            <a:pPr marL="488632" marR="0" lvl="0" indent="-207962" algn="l" rtl="0">
              <a:spcBef>
                <a:spcPts val="2250"/>
              </a:spcBef>
              <a:spcAft>
                <a:spcPts val="0"/>
              </a:spcAft>
              <a:buClr>
                <a:srgbClr val="006699"/>
              </a:buClr>
              <a:buSzPts val="1700"/>
              <a:buFont typeface="Open Sans"/>
              <a:buChar char="•"/>
            </a:pPr>
            <a:r>
              <a:rPr lang="en-US" sz="1700">
                <a:solidFill>
                  <a:srgbClr val="006699"/>
                </a:solidFill>
                <a:latin typeface="Open Sans"/>
                <a:ea typeface="Open Sans"/>
                <a:cs typeface="Open Sans"/>
                <a:sym typeface="Open Sans"/>
              </a:rPr>
              <a:t>Office of Substance Use and Mental Health</a:t>
            </a:r>
            <a:endParaRPr sz="1300">
              <a:solidFill>
                <a:srgbClr val="006699"/>
              </a:solidFill>
              <a:latin typeface="Open Sans"/>
              <a:ea typeface="Open Sans"/>
              <a:cs typeface="Open Sans"/>
              <a:sym typeface="Open Sans"/>
            </a:endParaRPr>
          </a:p>
        </p:txBody>
      </p:sp>
      <p:pic>
        <p:nvPicPr>
          <p:cNvPr id="86" name="Google Shape;86;g248c0ec6322_0_180"/>
          <p:cNvPicPr preferRelativeResize="0"/>
          <p:nvPr/>
        </p:nvPicPr>
        <p:blipFill>
          <a:blip r:embed="rId3">
            <a:alphaModFix/>
          </a:blip>
          <a:stretch>
            <a:fillRect/>
          </a:stretch>
        </p:blipFill>
        <p:spPr>
          <a:xfrm>
            <a:off x="6085275" y="5510575"/>
            <a:ext cx="2877599" cy="574675"/>
          </a:xfrm>
          <a:prstGeom prst="rect">
            <a:avLst/>
          </a:prstGeom>
          <a:noFill/>
          <a:ln>
            <a:noFill/>
          </a:ln>
        </p:spPr>
      </p:pic>
    </p:spTree>
    <p:extLst>
      <p:ext uri="{BB962C8B-B14F-4D97-AF65-F5344CB8AC3E}">
        <p14:creationId xmlns:p14="http://schemas.microsoft.com/office/powerpoint/2010/main" val="2779232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29596f01b16_1_22"/>
          <p:cNvSpPr txBox="1">
            <a:spLocks noGrp="1"/>
          </p:cNvSpPr>
          <p:nvPr>
            <p:ph type="title"/>
          </p:nvPr>
        </p:nvSpPr>
        <p:spPr>
          <a:xfrm>
            <a:off x="685800" y="457200"/>
            <a:ext cx="77724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Informed choice</a:t>
            </a:r>
            <a:endParaRPr/>
          </a:p>
        </p:txBody>
      </p:sp>
      <p:sp>
        <p:nvSpPr>
          <p:cNvPr id="93" name="Google Shape;93;g29596f01b16_1_22"/>
          <p:cNvSpPr txBox="1">
            <a:spLocks noGrp="1"/>
          </p:cNvSpPr>
          <p:nvPr>
            <p:ph type="body" idx="1"/>
          </p:nvPr>
        </p:nvSpPr>
        <p:spPr>
          <a:xfrm>
            <a:off x="374075" y="1496300"/>
            <a:ext cx="4121700" cy="4379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600">
                <a:solidFill>
                  <a:srgbClr val="23A595"/>
                </a:solidFill>
              </a:rPr>
              <a:t>Guided conversations</a:t>
            </a:r>
            <a:r>
              <a:rPr lang="en-US" sz="1600"/>
              <a:t> should: </a:t>
            </a:r>
            <a:endParaRPr sz="1600"/>
          </a:p>
          <a:p>
            <a:pPr marL="457200" lvl="0" indent="-330200" algn="l" rtl="0">
              <a:spcBef>
                <a:spcPts val="1000"/>
              </a:spcBef>
              <a:spcAft>
                <a:spcPts val="0"/>
              </a:spcAft>
              <a:buSzPts val="1600"/>
              <a:buFont typeface="Open Sans"/>
              <a:buChar char="●"/>
            </a:pPr>
            <a:r>
              <a:rPr lang="en-US" sz="1600" b="0"/>
              <a:t>Gain perspective from the person’s point of view.</a:t>
            </a:r>
            <a:endParaRPr sz="1600" b="0"/>
          </a:p>
          <a:p>
            <a:pPr marL="457200" lvl="0" indent="-330200" algn="l" rtl="0">
              <a:spcBef>
                <a:spcPts val="1000"/>
              </a:spcBef>
              <a:spcAft>
                <a:spcPts val="0"/>
              </a:spcAft>
              <a:buSzPts val="1600"/>
              <a:buFont typeface="Open Sans"/>
              <a:buChar char="●"/>
            </a:pPr>
            <a:r>
              <a:rPr lang="en-US" sz="1600" b="0"/>
              <a:t>Broaden the person’s understanding of options, information, and experiences to develop informed choice. </a:t>
            </a:r>
            <a:endParaRPr sz="1600" b="0"/>
          </a:p>
          <a:p>
            <a:pPr marL="457200" lvl="0" indent="-330200" algn="l" rtl="0">
              <a:spcBef>
                <a:spcPts val="1000"/>
              </a:spcBef>
              <a:spcAft>
                <a:spcPts val="0"/>
              </a:spcAft>
              <a:buSzPts val="1600"/>
              <a:buFont typeface="Open Sans"/>
              <a:buChar char="●"/>
            </a:pPr>
            <a:r>
              <a:rPr lang="en-US" sz="1600" b="0"/>
              <a:t>Help the person develop professional abilities and build social connections through their experiences.</a:t>
            </a:r>
            <a:endParaRPr sz="1600" b="0"/>
          </a:p>
          <a:p>
            <a:pPr marL="457200" lvl="0" indent="-330200" algn="l" rtl="0">
              <a:spcBef>
                <a:spcPts val="1000"/>
              </a:spcBef>
              <a:spcAft>
                <a:spcPts val="1000"/>
              </a:spcAft>
              <a:buSzPts val="1600"/>
              <a:buFont typeface="Open Sans"/>
              <a:buChar char="●"/>
            </a:pPr>
            <a:r>
              <a:rPr lang="en-US" sz="1600" b="0"/>
              <a:t>Be sensitive to the unique needs of the person and communicate in a way that the person understands. </a:t>
            </a:r>
            <a:endParaRPr sz="1600"/>
          </a:p>
        </p:txBody>
      </p:sp>
      <p:pic>
        <p:nvPicPr>
          <p:cNvPr id="94" name="Google Shape;94;g29596f01b16_1_22"/>
          <p:cNvPicPr preferRelativeResize="0"/>
          <p:nvPr/>
        </p:nvPicPr>
        <p:blipFill>
          <a:blip r:embed="rId3">
            <a:alphaModFix/>
          </a:blip>
          <a:stretch>
            <a:fillRect/>
          </a:stretch>
        </p:blipFill>
        <p:spPr>
          <a:xfrm>
            <a:off x="4571988" y="2338375"/>
            <a:ext cx="4410075" cy="2181225"/>
          </a:xfrm>
          <a:prstGeom prst="rect">
            <a:avLst/>
          </a:prstGeom>
          <a:noFill/>
          <a:ln>
            <a:noFill/>
          </a:ln>
        </p:spPr>
      </p:pic>
    </p:spTree>
    <p:extLst>
      <p:ext uri="{BB962C8B-B14F-4D97-AF65-F5344CB8AC3E}">
        <p14:creationId xmlns:p14="http://schemas.microsoft.com/office/powerpoint/2010/main" val="1789419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29596f01b16_1_9"/>
          <p:cNvSpPr txBox="1">
            <a:spLocks noGrp="1"/>
          </p:cNvSpPr>
          <p:nvPr>
            <p:ph type="title"/>
          </p:nvPr>
        </p:nvSpPr>
        <p:spPr>
          <a:xfrm>
            <a:off x="685800" y="457200"/>
            <a:ext cx="77724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r>
              <a:rPr lang="en-US" i="1"/>
              <a:t>Employment Pathway Tool </a:t>
            </a:r>
            <a:r>
              <a:rPr lang="en-US"/>
              <a:t>Research</a:t>
            </a:r>
            <a:endParaRPr/>
          </a:p>
        </p:txBody>
      </p:sp>
      <p:sp>
        <p:nvSpPr>
          <p:cNvPr id="101" name="Google Shape;101;g29596f01b16_1_9"/>
          <p:cNvSpPr txBox="1">
            <a:spLocks noGrp="1"/>
          </p:cNvSpPr>
          <p:nvPr>
            <p:ph type="body" idx="1"/>
          </p:nvPr>
        </p:nvSpPr>
        <p:spPr>
          <a:xfrm>
            <a:off x="685800" y="1752600"/>
            <a:ext cx="7772400" cy="38100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Clr>
                <a:schemeClr val="dk1"/>
              </a:buClr>
              <a:buSzPts val="1100"/>
              <a:buFont typeface="Arial"/>
              <a:buNone/>
            </a:pPr>
            <a:r>
              <a:rPr lang="en-US" sz="2400" b="0">
                <a:solidFill>
                  <a:srgbClr val="3F3F3F"/>
                </a:solidFill>
              </a:rPr>
              <a:t>References:</a:t>
            </a:r>
            <a:endParaRPr sz="2400" b="0">
              <a:solidFill>
                <a:srgbClr val="3F3F3F"/>
              </a:solidFill>
            </a:endParaRPr>
          </a:p>
          <a:p>
            <a:pPr marL="914400" lvl="0" indent="-381000" algn="l" rtl="0">
              <a:spcBef>
                <a:spcPts val="1000"/>
              </a:spcBef>
              <a:spcAft>
                <a:spcPts val="0"/>
              </a:spcAft>
              <a:buClr>
                <a:srgbClr val="3F3F3F"/>
              </a:buClr>
              <a:buSzPts val="2400"/>
              <a:buFont typeface="Open Sans"/>
              <a:buChar char="•"/>
            </a:pPr>
            <a:r>
              <a:rPr lang="en-US" sz="2400" b="0">
                <a:solidFill>
                  <a:srgbClr val="3F3F3F"/>
                </a:solidFill>
              </a:rPr>
              <a:t>Reviewed similar resources from other states for (PA, SD, OR, etc)</a:t>
            </a:r>
            <a:endParaRPr sz="2400" b="0">
              <a:solidFill>
                <a:srgbClr val="3F3F3F"/>
              </a:solidFill>
            </a:endParaRPr>
          </a:p>
          <a:p>
            <a:pPr marL="914400" lvl="0" indent="-381000" algn="l" rtl="0">
              <a:spcBef>
                <a:spcPts val="1000"/>
              </a:spcBef>
              <a:spcAft>
                <a:spcPts val="0"/>
              </a:spcAft>
              <a:buClr>
                <a:srgbClr val="3F3F3F"/>
              </a:buClr>
              <a:buSzPts val="2400"/>
              <a:buFont typeface="Open Sans"/>
              <a:buChar char="•"/>
            </a:pPr>
            <a:r>
              <a:rPr lang="en-US" sz="2400" b="0" i="1">
                <a:solidFill>
                  <a:srgbClr val="3F3F3F"/>
                </a:solidFill>
              </a:rPr>
              <a:t>SELN Guidance for Conversations</a:t>
            </a:r>
            <a:endParaRPr sz="2400" b="0" i="1">
              <a:solidFill>
                <a:srgbClr val="3F3F3F"/>
              </a:solidFill>
            </a:endParaRPr>
          </a:p>
          <a:p>
            <a:pPr marL="914400" lvl="0" indent="-381000" algn="l" rtl="0">
              <a:spcBef>
                <a:spcPts val="1000"/>
              </a:spcBef>
              <a:spcAft>
                <a:spcPts val="0"/>
              </a:spcAft>
              <a:buClr>
                <a:srgbClr val="3F3F3F"/>
              </a:buClr>
              <a:buSzPts val="2400"/>
              <a:buFont typeface="Open Sans"/>
              <a:buChar char="•"/>
            </a:pPr>
            <a:r>
              <a:rPr lang="en-US" sz="2400" b="0" i="1">
                <a:solidFill>
                  <a:srgbClr val="3F3F3F"/>
                </a:solidFill>
              </a:rPr>
              <a:t>Charting the Life Course (CtLC)</a:t>
            </a:r>
            <a:endParaRPr sz="2400" b="0" i="1">
              <a:solidFill>
                <a:srgbClr val="3F3F3F"/>
              </a:solidFill>
            </a:endParaRPr>
          </a:p>
          <a:p>
            <a:pPr marL="914400" lvl="0" indent="-381000" algn="l" rtl="0">
              <a:spcBef>
                <a:spcPts val="1000"/>
              </a:spcBef>
              <a:spcAft>
                <a:spcPts val="0"/>
              </a:spcAft>
              <a:buClr>
                <a:srgbClr val="3F3F3F"/>
              </a:buClr>
              <a:buSzPts val="2400"/>
              <a:buFont typeface="Open Sans"/>
              <a:buChar char="•"/>
            </a:pPr>
            <a:r>
              <a:rPr lang="en-US" sz="2400" b="0">
                <a:solidFill>
                  <a:srgbClr val="3F3F3F"/>
                </a:solidFill>
              </a:rPr>
              <a:t>Existing DSPD person-centered planning guidance and tools </a:t>
            </a:r>
            <a:endParaRPr sz="2400" b="0">
              <a:solidFill>
                <a:srgbClr val="3F3F3F"/>
              </a:solidFill>
            </a:endParaRPr>
          </a:p>
          <a:p>
            <a:pPr marL="0" lvl="0" indent="0" algn="l" rtl="0">
              <a:spcBef>
                <a:spcPts val="360"/>
              </a:spcBef>
              <a:spcAft>
                <a:spcPts val="0"/>
              </a:spcAft>
              <a:buNone/>
            </a:pPr>
            <a:endParaRPr/>
          </a:p>
        </p:txBody>
      </p:sp>
    </p:spTree>
    <p:extLst>
      <p:ext uri="{BB962C8B-B14F-4D97-AF65-F5344CB8AC3E}">
        <p14:creationId xmlns:p14="http://schemas.microsoft.com/office/powerpoint/2010/main" val="2737865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29596f01b16_1_15"/>
          <p:cNvSpPr txBox="1">
            <a:spLocks noGrp="1"/>
          </p:cNvSpPr>
          <p:nvPr>
            <p:ph type="title"/>
          </p:nvPr>
        </p:nvSpPr>
        <p:spPr>
          <a:xfrm>
            <a:off x="685800" y="457200"/>
            <a:ext cx="77724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Preparation and Pilot</a:t>
            </a:r>
            <a:endParaRPr/>
          </a:p>
        </p:txBody>
      </p:sp>
      <p:sp>
        <p:nvSpPr>
          <p:cNvPr id="108" name="Google Shape;108;g29596f01b16_1_15"/>
          <p:cNvSpPr txBox="1">
            <a:spLocks noGrp="1"/>
          </p:cNvSpPr>
          <p:nvPr>
            <p:ph type="body" idx="1"/>
          </p:nvPr>
        </p:nvSpPr>
        <p:spPr>
          <a:xfrm>
            <a:off x="685800" y="1474900"/>
            <a:ext cx="3810000" cy="3810000"/>
          </a:xfrm>
          <a:prstGeom prst="rect">
            <a:avLst/>
          </a:prstGeom>
        </p:spPr>
        <p:txBody>
          <a:bodyPr spcFirstLastPara="1" wrap="square" lIns="91425" tIns="45700" rIns="91425" bIns="45700" anchor="t" anchorCtr="0">
            <a:noAutofit/>
          </a:bodyPr>
          <a:lstStyle/>
          <a:p>
            <a:pPr marL="457200" lvl="0" indent="-349250" algn="l" rtl="0">
              <a:spcBef>
                <a:spcPts val="480"/>
              </a:spcBef>
              <a:spcAft>
                <a:spcPts val="0"/>
              </a:spcAft>
              <a:buClr>
                <a:srgbClr val="3F3F3F"/>
              </a:buClr>
              <a:buSzPts val="1900"/>
              <a:buFont typeface="Open Sans"/>
              <a:buChar char="•"/>
            </a:pPr>
            <a:r>
              <a:rPr lang="en-US" sz="1900" b="0">
                <a:solidFill>
                  <a:srgbClr val="3F3F3F"/>
                </a:solidFill>
              </a:rPr>
              <a:t>About 6 months of brainstorming and drafting</a:t>
            </a:r>
            <a:endParaRPr sz="1900" b="0">
              <a:solidFill>
                <a:srgbClr val="3F3F3F"/>
              </a:solidFill>
            </a:endParaRPr>
          </a:p>
          <a:p>
            <a:pPr marL="457200" lvl="0" indent="-349250" algn="l" rtl="0">
              <a:spcBef>
                <a:spcPts val="1000"/>
              </a:spcBef>
              <a:spcAft>
                <a:spcPts val="0"/>
              </a:spcAft>
              <a:buClr>
                <a:srgbClr val="3F3F3F"/>
              </a:buClr>
              <a:buSzPts val="1900"/>
              <a:buFont typeface="Open Sans"/>
              <a:buChar char="•"/>
            </a:pPr>
            <a:r>
              <a:rPr lang="en-US" sz="1900" b="0">
                <a:solidFill>
                  <a:srgbClr val="3F3F3F"/>
                </a:solidFill>
              </a:rPr>
              <a:t>Engagement and feedback with stakeholders throughout</a:t>
            </a:r>
            <a:endParaRPr sz="1900" b="0">
              <a:solidFill>
                <a:srgbClr val="3F3F3F"/>
              </a:solidFill>
            </a:endParaRPr>
          </a:p>
          <a:p>
            <a:pPr marL="914400" lvl="1" indent="-349250" algn="l" rtl="0">
              <a:spcBef>
                <a:spcPts val="1000"/>
              </a:spcBef>
              <a:spcAft>
                <a:spcPts val="0"/>
              </a:spcAft>
              <a:buClr>
                <a:srgbClr val="3F3F3F"/>
              </a:buClr>
              <a:buSzPts val="1900"/>
              <a:buFont typeface="Open Sans"/>
              <a:buChar char="–"/>
            </a:pPr>
            <a:r>
              <a:rPr lang="en-US" sz="1900" b="0">
                <a:solidFill>
                  <a:srgbClr val="3F3F3F"/>
                </a:solidFill>
              </a:rPr>
              <a:t>People and families in services</a:t>
            </a:r>
            <a:endParaRPr sz="1900" b="0">
              <a:solidFill>
                <a:srgbClr val="3F3F3F"/>
              </a:solidFill>
            </a:endParaRPr>
          </a:p>
          <a:p>
            <a:pPr marL="914400" lvl="1" indent="-349250" algn="l" rtl="0">
              <a:spcBef>
                <a:spcPts val="1000"/>
              </a:spcBef>
              <a:spcAft>
                <a:spcPts val="0"/>
              </a:spcAft>
              <a:buClr>
                <a:srgbClr val="3F3F3F"/>
              </a:buClr>
              <a:buSzPts val="1900"/>
              <a:buFont typeface="Open Sans"/>
              <a:buChar char="–"/>
            </a:pPr>
            <a:r>
              <a:rPr lang="en-US" sz="1900" b="0">
                <a:solidFill>
                  <a:srgbClr val="3F3F3F"/>
                </a:solidFill>
              </a:rPr>
              <a:t>Providers and Support Coordinators</a:t>
            </a:r>
            <a:endParaRPr sz="1900" b="0">
              <a:solidFill>
                <a:srgbClr val="3F3F3F"/>
              </a:solidFill>
            </a:endParaRPr>
          </a:p>
          <a:p>
            <a:pPr marL="914400" lvl="1" indent="-349250" algn="l" rtl="0">
              <a:spcBef>
                <a:spcPts val="1000"/>
              </a:spcBef>
              <a:spcAft>
                <a:spcPts val="0"/>
              </a:spcAft>
              <a:buClr>
                <a:srgbClr val="3F3F3F"/>
              </a:buClr>
              <a:buSzPts val="1900"/>
              <a:buFont typeface="Open Sans"/>
              <a:buChar char="–"/>
            </a:pPr>
            <a:r>
              <a:rPr lang="en-US" sz="1900" b="0">
                <a:solidFill>
                  <a:srgbClr val="3F3F3F"/>
                </a:solidFill>
              </a:rPr>
              <a:t>Disability Law Center </a:t>
            </a:r>
            <a:endParaRPr sz="1900" b="0">
              <a:solidFill>
                <a:srgbClr val="3F3F3F"/>
              </a:solidFill>
            </a:endParaRPr>
          </a:p>
          <a:p>
            <a:pPr marL="914400" lvl="1" indent="-349250" algn="l" rtl="0">
              <a:spcBef>
                <a:spcPts val="1000"/>
              </a:spcBef>
              <a:spcAft>
                <a:spcPts val="0"/>
              </a:spcAft>
              <a:buClr>
                <a:srgbClr val="3F3F3F"/>
              </a:buClr>
              <a:buSzPts val="1900"/>
              <a:buFont typeface="Open Sans"/>
              <a:buChar char="–"/>
            </a:pPr>
            <a:r>
              <a:rPr lang="en-US" sz="1900" b="0">
                <a:solidFill>
                  <a:srgbClr val="3F3F3F"/>
                </a:solidFill>
              </a:rPr>
              <a:t>Utah Parent Center</a:t>
            </a:r>
            <a:endParaRPr sz="1900" b="0">
              <a:solidFill>
                <a:srgbClr val="3F3F3F"/>
              </a:solidFill>
            </a:endParaRPr>
          </a:p>
        </p:txBody>
      </p:sp>
      <p:sp>
        <p:nvSpPr>
          <p:cNvPr id="109" name="Google Shape;109;g29596f01b16_1_15"/>
          <p:cNvSpPr txBox="1">
            <a:spLocks noGrp="1"/>
          </p:cNvSpPr>
          <p:nvPr>
            <p:ph type="body" idx="2"/>
          </p:nvPr>
        </p:nvSpPr>
        <p:spPr>
          <a:xfrm>
            <a:off x="4648200" y="1524000"/>
            <a:ext cx="3810000" cy="3810000"/>
          </a:xfrm>
          <a:prstGeom prst="rect">
            <a:avLst/>
          </a:prstGeom>
        </p:spPr>
        <p:txBody>
          <a:bodyPr spcFirstLastPara="1" wrap="square" lIns="91425" tIns="45700" rIns="91425" bIns="45700" anchor="t" anchorCtr="0">
            <a:noAutofit/>
          </a:bodyPr>
          <a:lstStyle/>
          <a:p>
            <a:pPr marL="914400" lvl="1" indent="-349250" algn="l" rtl="0">
              <a:spcBef>
                <a:spcPts val="1000"/>
              </a:spcBef>
              <a:spcAft>
                <a:spcPts val="0"/>
              </a:spcAft>
              <a:buClr>
                <a:srgbClr val="3F3F3F"/>
              </a:buClr>
              <a:buSzPts val="1900"/>
              <a:buFont typeface="Open Sans"/>
              <a:buChar char="–"/>
            </a:pPr>
            <a:r>
              <a:rPr lang="en-US" sz="1900" b="0">
                <a:solidFill>
                  <a:srgbClr val="3F3F3F"/>
                </a:solidFill>
              </a:rPr>
              <a:t>Utah State University  Center for Employment and Inclusion</a:t>
            </a:r>
            <a:endParaRPr sz="1900" b="0">
              <a:solidFill>
                <a:srgbClr val="3F3F3F"/>
              </a:solidFill>
            </a:endParaRPr>
          </a:p>
          <a:p>
            <a:pPr marL="914400" lvl="1" indent="-349250" algn="l" rtl="0">
              <a:spcBef>
                <a:spcPts val="1000"/>
              </a:spcBef>
              <a:spcAft>
                <a:spcPts val="0"/>
              </a:spcAft>
              <a:buClr>
                <a:srgbClr val="3F3F3F"/>
              </a:buClr>
              <a:buSzPts val="1900"/>
              <a:buFont typeface="Open Sans"/>
              <a:buChar char="–"/>
            </a:pPr>
            <a:r>
              <a:rPr lang="en-US" sz="1900" b="0">
                <a:solidFill>
                  <a:srgbClr val="3F3F3F"/>
                </a:solidFill>
              </a:rPr>
              <a:t>Utah State Office of Rehabilitation</a:t>
            </a:r>
            <a:endParaRPr sz="1900" b="0">
              <a:solidFill>
                <a:srgbClr val="3F3F3F"/>
              </a:solidFill>
            </a:endParaRPr>
          </a:p>
          <a:p>
            <a:pPr marL="457200" lvl="0" indent="-349250" algn="l" rtl="0">
              <a:spcBef>
                <a:spcPts val="1000"/>
              </a:spcBef>
              <a:spcAft>
                <a:spcPts val="0"/>
              </a:spcAft>
              <a:buClr>
                <a:srgbClr val="3F3F3F"/>
              </a:buClr>
              <a:buSzPts val="1900"/>
              <a:buFont typeface="Open Sans"/>
              <a:buChar char="•"/>
            </a:pPr>
            <a:r>
              <a:rPr lang="en-US" sz="1900" b="0">
                <a:solidFill>
                  <a:srgbClr val="3F3F3F"/>
                </a:solidFill>
              </a:rPr>
              <a:t>3 phase pilot project</a:t>
            </a:r>
            <a:endParaRPr sz="1900" b="0">
              <a:solidFill>
                <a:srgbClr val="3F3F3F"/>
              </a:solidFill>
            </a:endParaRPr>
          </a:p>
          <a:p>
            <a:pPr marL="914400" lvl="1" indent="-349250" algn="l" rtl="0">
              <a:spcBef>
                <a:spcPts val="1000"/>
              </a:spcBef>
              <a:spcAft>
                <a:spcPts val="0"/>
              </a:spcAft>
              <a:buClr>
                <a:srgbClr val="3F3F3F"/>
              </a:buClr>
              <a:buSzPts val="1900"/>
              <a:buFont typeface="Open Sans"/>
              <a:buChar char="–"/>
            </a:pPr>
            <a:r>
              <a:rPr lang="en-US" sz="1900" b="0">
                <a:solidFill>
                  <a:srgbClr val="3F3F3F"/>
                </a:solidFill>
              </a:rPr>
              <a:t>10 people in HCBS services</a:t>
            </a:r>
            <a:endParaRPr sz="1900" b="0">
              <a:solidFill>
                <a:srgbClr val="3F3F3F"/>
              </a:solidFill>
            </a:endParaRPr>
          </a:p>
          <a:p>
            <a:pPr marL="914400" lvl="1" indent="-349250" algn="l" rtl="0">
              <a:spcBef>
                <a:spcPts val="1000"/>
              </a:spcBef>
              <a:spcAft>
                <a:spcPts val="0"/>
              </a:spcAft>
              <a:buClr>
                <a:srgbClr val="3F3F3F"/>
              </a:buClr>
              <a:buSzPts val="1900"/>
              <a:buFont typeface="Open Sans"/>
              <a:buChar char="–"/>
            </a:pPr>
            <a:r>
              <a:rPr lang="en-US" sz="1900" b="0">
                <a:solidFill>
                  <a:srgbClr val="3F3F3F"/>
                </a:solidFill>
              </a:rPr>
              <a:t>1-2 cases per month</a:t>
            </a:r>
            <a:endParaRPr sz="1900" b="0">
              <a:solidFill>
                <a:srgbClr val="3F3F3F"/>
              </a:solidFill>
            </a:endParaRPr>
          </a:p>
          <a:p>
            <a:pPr marL="914400" lvl="1" indent="-349250" algn="l" rtl="0">
              <a:spcBef>
                <a:spcPts val="1000"/>
              </a:spcBef>
              <a:spcAft>
                <a:spcPts val="0"/>
              </a:spcAft>
              <a:buClr>
                <a:srgbClr val="3F3F3F"/>
              </a:buClr>
              <a:buSzPts val="1900"/>
              <a:buFont typeface="Open Sans"/>
              <a:buChar char="–"/>
            </a:pPr>
            <a:r>
              <a:rPr lang="en-US" sz="1900" b="0">
                <a:solidFill>
                  <a:srgbClr val="3F3F3F"/>
                </a:solidFill>
              </a:rPr>
              <a:t>3-month pilot</a:t>
            </a:r>
            <a:endParaRPr sz="1900" b="0">
              <a:solidFill>
                <a:srgbClr val="3F3F3F"/>
              </a:solidFill>
            </a:endParaRPr>
          </a:p>
          <a:p>
            <a:pPr marL="0" lvl="0" indent="0" algn="l" rtl="0">
              <a:spcBef>
                <a:spcPts val="360"/>
              </a:spcBef>
              <a:spcAft>
                <a:spcPts val="0"/>
              </a:spcAft>
              <a:buNone/>
            </a:pPr>
            <a:endParaRPr sz="1900"/>
          </a:p>
        </p:txBody>
      </p:sp>
    </p:spTree>
    <p:extLst>
      <p:ext uri="{BB962C8B-B14F-4D97-AF65-F5344CB8AC3E}">
        <p14:creationId xmlns:p14="http://schemas.microsoft.com/office/powerpoint/2010/main" val="1304625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248c0ec6322_0_349"/>
          <p:cNvSpPr txBox="1">
            <a:spLocks noGrp="1"/>
          </p:cNvSpPr>
          <p:nvPr>
            <p:ph type="title"/>
          </p:nvPr>
        </p:nvSpPr>
        <p:spPr>
          <a:xfrm>
            <a:off x="685800" y="457200"/>
            <a:ext cx="77724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100"/>
              <a:buFont typeface="Arial"/>
              <a:buNone/>
            </a:pPr>
            <a:r>
              <a:rPr lang="en-US" sz="3600" b="0">
                <a:solidFill>
                  <a:schemeClr val="dk1"/>
                </a:solidFill>
              </a:rPr>
              <a:t>Overview of the DSPD Employment Pathway Tool</a:t>
            </a:r>
            <a:endParaRPr/>
          </a:p>
        </p:txBody>
      </p:sp>
      <p:sp>
        <p:nvSpPr>
          <p:cNvPr id="116" name="Google Shape;116;g248c0ec6322_0_349"/>
          <p:cNvSpPr txBox="1">
            <a:spLocks noGrp="1"/>
          </p:cNvSpPr>
          <p:nvPr>
            <p:ph type="body" idx="1"/>
          </p:nvPr>
        </p:nvSpPr>
        <p:spPr>
          <a:xfrm>
            <a:off x="303275" y="1752600"/>
            <a:ext cx="8154900" cy="3990000"/>
          </a:xfrm>
          <a:prstGeom prst="rect">
            <a:avLst/>
          </a:prstGeom>
        </p:spPr>
        <p:txBody>
          <a:bodyPr spcFirstLastPara="1" wrap="square" lIns="91425" tIns="45700" rIns="91425" bIns="45700" anchor="t" anchorCtr="0">
            <a:noAutofit/>
          </a:bodyPr>
          <a:lstStyle/>
          <a:p>
            <a:pPr marL="457200" lvl="0" indent="0" algn="l" rtl="0">
              <a:spcBef>
                <a:spcPts val="0"/>
              </a:spcBef>
              <a:spcAft>
                <a:spcPts val="0"/>
              </a:spcAft>
              <a:buNone/>
            </a:pPr>
            <a:endParaRPr sz="2400" b="0">
              <a:solidFill>
                <a:srgbClr val="3F3F3F"/>
              </a:solidFill>
            </a:endParaRPr>
          </a:p>
          <a:p>
            <a:pPr marL="457200" lvl="0" indent="-381000" algn="l" rtl="0">
              <a:spcBef>
                <a:spcPts val="0"/>
              </a:spcBef>
              <a:spcAft>
                <a:spcPts val="0"/>
              </a:spcAft>
              <a:buClr>
                <a:srgbClr val="3F3F3F"/>
              </a:buClr>
              <a:buSzPts val="2400"/>
              <a:buFont typeface="Open Sans"/>
              <a:buChar char="•"/>
            </a:pPr>
            <a:r>
              <a:rPr lang="en-US" sz="2400" b="0">
                <a:solidFill>
                  <a:srgbClr val="3F3F3F"/>
                </a:solidFill>
              </a:rPr>
              <a:t>Value of employment</a:t>
            </a:r>
            <a:endParaRPr sz="2400" b="0">
              <a:solidFill>
                <a:srgbClr val="3F3F3F"/>
              </a:solidFill>
            </a:endParaRPr>
          </a:p>
          <a:p>
            <a:pPr marL="457200" lvl="0" indent="-381000" algn="l" rtl="0">
              <a:spcBef>
                <a:spcPts val="1000"/>
              </a:spcBef>
              <a:spcAft>
                <a:spcPts val="0"/>
              </a:spcAft>
              <a:buClr>
                <a:srgbClr val="3F3F3F"/>
              </a:buClr>
              <a:buSzPts val="2400"/>
              <a:buFont typeface="Open Sans"/>
              <a:buChar char="•"/>
            </a:pPr>
            <a:r>
              <a:rPr lang="en-US" sz="2400" b="0">
                <a:solidFill>
                  <a:srgbClr val="3F3F3F"/>
                </a:solidFill>
              </a:rPr>
              <a:t>Purpose of DSPD Employment Pathway Tool </a:t>
            </a:r>
            <a:endParaRPr sz="2400" b="0">
              <a:solidFill>
                <a:srgbClr val="3F3F3F"/>
              </a:solidFill>
            </a:endParaRPr>
          </a:p>
          <a:p>
            <a:pPr marL="457200" lvl="0" indent="-381000" algn="l" rtl="0">
              <a:spcBef>
                <a:spcPts val="1000"/>
              </a:spcBef>
              <a:spcAft>
                <a:spcPts val="0"/>
              </a:spcAft>
              <a:buClr>
                <a:srgbClr val="3F3F3F"/>
              </a:buClr>
              <a:buSzPts val="2400"/>
              <a:buFont typeface="Open Sans"/>
              <a:buChar char="•"/>
            </a:pPr>
            <a:r>
              <a:rPr lang="en-US" sz="2400" b="0">
                <a:solidFill>
                  <a:srgbClr val="3F3F3F"/>
                </a:solidFill>
              </a:rPr>
              <a:t>Section 1: Identifying the employment pathway</a:t>
            </a:r>
            <a:endParaRPr sz="2400" b="0">
              <a:solidFill>
                <a:srgbClr val="3F3F3F"/>
              </a:solidFill>
            </a:endParaRPr>
          </a:p>
          <a:p>
            <a:pPr marL="914400" lvl="1" indent="-381000" algn="l" rtl="0">
              <a:spcBef>
                <a:spcPts val="1000"/>
              </a:spcBef>
              <a:spcAft>
                <a:spcPts val="0"/>
              </a:spcAft>
              <a:buClr>
                <a:srgbClr val="3F3F3F"/>
              </a:buClr>
              <a:buSzPts val="2400"/>
              <a:buFont typeface="Open Sans"/>
              <a:buChar char="–"/>
            </a:pPr>
            <a:r>
              <a:rPr lang="en-US" sz="2400" b="0">
                <a:solidFill>
                  <a:srgbClr val="3F3F3F"/>
                </a:solidFill>
              </a:rPr>
              <a:t>Appendix A</a:t>
            </a:r>
            <a:endParaRPr sz="2400" b="0">
              <a:solidFill>
                <a:srgbClr val="3F3F3F"/>
              </a:solidFill>
            </a:endParaRPr>
          </a:p>
          <a:p>
            <a:pPr marL="457200" lvl="0" indent="-381000" algn="l" rtl="0">
              <a:spcBef>
                <a:spcPts val="1000"/>
              </a:spcBef>
              <a:spcAft>
                <a:spcPts val="0"/>
              </a:spcAft>
              <a:buClr>
                <a:srgbClr val="3F3F3F"/>
              </a:buClr>
              <a:buSzPts val="2400"/>
              <a:buFont typeface="Open Sans"/>
              <a:buChar char="•"/>
            </a:pPr>
            <a:r>
              <a:rPr lang="en-US" sz="2400" b="0">
                <a:solidFill>
                  <a:srgbClr val="3F3F3F"/>
                </a:solidFill>
              </a:rPr>
              <a:t>Section 2: Exploring Pathway A, B, C, or D</a:t>
            </a:r>
            <a:endParaRPr sz="2400" b="0">
              <a:solidFill>
                <a:srgbClr val="3F3F3F"/>
              </a:solidFill>
            </a:endParaRPr>
          </a:p>
          <a:p>
            <a:pPr marL="457200" lvl="0" indent="-381000" algn="l" rtl="0">
              <a:spcBef>
                <a:spcPts val="1000"/>
              </a:spcBef>
              <a:spcAft>
                <a:spcPts val="0"/>
              </a:spcAft>
              <a:buClr>
                <a:srgbClr val="3F3F3F"/>
              </a:buClr>
              <a:buSzPts val="2400"/>
              <a:buFont typeface="Open Sans"/>
              <a:buChar char="•"/>
            </a:pPr>
            <a:r>
              <a:rPr lang="en-US" sz="2400" b="0">
                <a:solidFill>
                  <a:srgbClr val="3F3F3F"/>
                </a:solidFill>
              </a:rPr>
              <a:t>Section 3: Develop the services and supports</a:t>
            </a:r>
            <a:endParaRPr sz="2400" b="0">
              <a:solidFill>
                <a:srgbClr val="3F3F3F"/>
              </a:solidFill>
            </a:endParaRPr>
          </a:p>
          <a:p>
            <a:pPr marL="0" lvl="0" indent="0" algn="l" rtl="0">
              <a:spcBef>
                <a:spcPts val="1000"/>
              </a:spcBef>
              <a:spcAft>
                <a:spcPts val="0"/>
              </a:spcAft>
              <a:buClr>
                <a:schemeClr val="dk1"/>
              </a:buClr>
              <a:buSzPts val="1100"/>
              <a:buFont typeface="Arial"/>
              <a:buNone/>
            </a:pPr>
            <a:r>
              <a:rPr lang="en-US" sz="1800" b="0" u="sng">
                <a:solidFill>
                  <a:srgbClr val="3A5374"/>
                </a:solidFill>
                <a:hlinkClick r:id="rId3">
                  <a:extLst>
                    <a:ext uri="{A12FA001-AC4F-418D-AE19-62706E023703}">
                      <ahyp:hlinkClr xmlns:ahyp="http://schemas.microsoft.com/office/drawing/2018/hyperlinkcolor" val="tx"/>
                    </a:ext>
                  </a:extLst>
                </a:hlinkClick>
              </a:rPr>
              <a:t>DSPD Employment Pathway Tool </a:t>
            </a:r>
            <a:endParaRPr sz="1800" b="0">
              <a:solidFill>
                <a:srgbClr val="3A5374"/>
              </a:solidFill>
            </a:endParaRPr>
          </a:p>
          <a:p>
            <a:pPr marL="0" lvl="0" indent="0" algn="l" rtl="0">
              <a:spcBef>
                <a:spcPts val="1000"/>
              </a:spcBef>
              <a:spcAft>
                <a:spcPts val="0"/>
              </a:spcAft>
              <a:buNone/>
            </a:pPr>
            <a:endParaRPr/>
          </a:p>
        </p:txBody>
      </p:sp>
    </p:spTree>
    <p:extLst>
      <p:ext uri="{BB962C8B-B14F-4D97-AF65-F5344CB8AC3E}">
        <p14:creationId xmlns:p14="http://schemas.microsoft.com/office/powerpoint/2010/main" val="1848888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248c0ec6322_0_12"/>
          <p:cNvSpPr txBox="1">
            <a:spLocks noGrp="1"/>
          </p:cNvSpPr>
          <p:nvPr>
            <p:ph type="title"/>
          </p:nvPr>
        </p:nvSpPr>
        <p:spPr>
          <a:xfrm>
            <a:off x="685800" y="4572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Identify the pathway</a:t>
            </a:r>
            <a:endParaRPr/>
          </a:p>
        </p:txBody>
      </p:sp>
      <p:sp>
        <p:nvSpPr>
          <p:cNvPr id="123" name="Google Shape;123;g248c0ec6322_0_12"/>
          <p:cNvSpPr txBox="1">
            <a:spLocks noGrp="1"/>
          </p:cNvSpPr>
          <p:nvPr>
            <p:ph type="body" idx="1"/>
          </p:nvPr>
        </p:nvSpPr>
        <p:spPr>
          <a:xfrm>
            <a:off x="685800" y="1752600"/>
            <a:ext cx="7772400" cy="381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Open Sans"/>
              <a:buNone/>
            </a:pPr>
            <a:r>
              <a:rPr lang="en-US" sz="3000" b="0">
                <a:solidFill>
                  <a:srgbClr val="000000"/>
                </a:solidFill>
              </a:rPr>
              <a:t>Employment pathways</a:t>
            </a:r>
            <a:endParaRPr sz="3000" b="0">
              <a:solidFill>
                <a:srgbClr val="000000"/>
              </a:solidFill>
            </a:endParaRPr>
          </a:p>
          <a:p>
            <a:pPr marL="457200" lvl="0" indent="-381000" algn="l" rtl="0">
              <a:spcBef>
                <a:spcPts val="0"/>
              </a:spcBef>
              <a:spcAft>
                <a:spcPts val="0"/>
              </a:spcAft>
              <a:buClr>
                <a:srgbClr val="000000"/>
              </a:buClr>
              <a:buSzPts val="2400"/>
              <a:buAutoNum type="alphaUcPeriod"/>
            </a:pPr>
            <a:r>
              <a:rPr lang="en-US" sz="2400" b="0">
                <a:solidFill>
                  <a:srgbClr val="000000"/>
                </a:solidFill>
              </a:rPr>
              <a:t>The person is unemployed and expresses interest in work.</a:t>
            </a:r>
            <a:endParaRPr sz="2400" b="0">
              <a:solidFill>
                <a:srgbClr val="000000"/>
              </a:solidFill>
            </a:endParaRPr>
          </a:p>
          <a:p>
            <a:pPr marL="457200" lvl="0" indent="-381000" algn="l" rtl="0">
              <a:spcBef>
                <a:spcPts val="1000"/>
              </a:spcBef>
              <a:spcAft>
                <a:spcPts val="0"/>
              </a:spcAft>
              <a:buClr>
                <a:srgbClr val="000000"/>
              </a:buClr>
              <a:buSzPts val="2400"/>
              <a:buAutoNum type="alphaUcPeriod"/>
            </a:pPr>
            <a:r>
              <a:rPr lang="en-US" sz="2400" b="0">
                <a:solidFill>
                  <a:srgbClr val="000000"/>
                </a:solidFill>
              </a:rPr>
              <a:t>The person is unemployed and expresses they do not want to work right now.</a:t>
            </a:r>
            <a:endParaRPr sz="2400" b="0">
              <a:solidFill>
                <a:srgbClr val="000000"/>
              </a:solidFill>
            </a:endParaRPr>
          </a:p>
          <a:p>
            <a:pPr marL="457200" lvl="0" indent="-381000" algn="l" rtl="0">
              <a:spcBef>
                <a:spcPts val="1000"/>
              </a:spcBef>
              <a:spcAft>
                <a:spcPts val="0"/>
              </a:spcAft>
              <a:buClr>
                <a:srgbClr val="000000"/>
              </a:buClr>
              <a:buSzPts val="2400"/>
              <a:buAutoNum type="alphaUcPeriod"/>
            </a:pPr>
            <a:r>
              <a:rPr lang="en-US" sz="2400" b="0">
                <a:solidFill>
                  <a:srgbClr val="000000"/>
                </a:solidFill>
              </a:rPr>
              <a:t>The person is working, but desires a change.</a:t>
            </a:r>
            <a:endParaRPr sz="2400" b="0">
              <a:solidFill>
                <a:srgbClr val="000000"/>
              </a:solidFill>
            </a:endParaRPr>
          </a:p>
          <a:p>
            <a:pPr marL="457200" lvl="0" indent="-381000" algn="l" rtl="0">
              <a:spcBef>
                <a:spcPts val="1000"/>
              </a:spcBef>
              <a:spcAft>
                <a:spcPts val="0"/>
              </a:spcAft>
              <a:buClr>
                <a:srgbClr val="000000"/>
              </a:buClr>
              <a:buSzPts val="2400"/>
              <a:buAutoNum type="alphaUcPeriod"/>
            </a:pPr>
            <a:r>
              <a:rPr lang="en-US" sz="2400" b="0">
                <a:solidFill>
                  <a:srgbClr val="000000"/>
                </a:solidFill>
              </a:rPr>
              <a:t>The person would like to maintain their position and continue to grow in their career.</a:t>
            </a:r>
            <a:endParaRPr sz="2400" b="0">
              <a:solidFill>
                <a:srgbClr val="000000"/>
              </a:solidFill>
            </a:endParaRPr>
          </a:p>
          <a:p>
            <a:pPr marL="342900" lvl="0" indent="-139700" algn="l" rtl="0">
              <a:spcBef>
                <a:spcPts val="0"/>
              </a:spcBef>
              <a:spcAft>
                <a:spcPts val="0"/>
              </a:spcAft>
              <a:buClr>
                <a:schemeClr val="dk1"/>
              </a:buClr>
              <a:buSzPts val="3200"/>
              <a:buFont typeface="Open Sans"/>
              <a:buNone/>
            </a:pPr>
            <a:endParaRPr sz="2400" b="0">
              <a:solidFill>
                <a:srgbClr val="000000"/>
              </a:solidFill>
            </a:endParaRPr>
          </a:p>
        </p:txBody>
      </p:sp>
      <p:sp>
        <p:nvSpPr>
          <p:cNvPr id="124" name="Google Shape;124;g248c0ec6322_0_12"/>
          <p:cNvSpPr txBox="1"/>
          <p:nvPr/>
        </p:nvSpPr>
        <p:spPr>
          <a:xfrm>
            <a:off x="2440725" y="215145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7953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29596f01b16_1_31"/>
          <p:cNvSpPr txBox="1">
            <a:spLocks noGrp="1"/>
          </p:cNvSpPr>
          <p:nvPr>
            <p:ph type="title"/>
          </p:nvPr>
        </p:nvSpPr>
        <p:spPr>
          <a:xfrm>
            <a:off x="685800" y="457200"/>
            <a:ext cx="77724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Employment conversation exercise</a:t>
            </a:r>
            <a:endParaRPr/>
          </a:p>
        </p:txBody>
      </p:sp>
      <p:sp>
        <p:nvSpPr>
          <p:cNvPr id="131" name="Google Shape;131;g29596f01b16_1_31"/>
          <p:cNvSpPr txBox="1">
            <a:spLocks noGrp="1"/>
          </p:cNvSpPr>
          <p:nvPr>
            <p:ph type="body" idx="1"/>
          </p:nvPr>
        </p:nvSpPr>
        <p:spPr>
          <a:xfrm>
            <a:off x="685800" y="1752600"/>
            <a:ext cx="3810000" cy="38100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100" b="0">
                <a:solidFill>
                  <a:srgbClr val="3F3F3F"/>
                </a:solidFill>
              </a:rPr>
              <a:t>Pathway A suggestions:</a:t>
            </a:r>
            <a:endParaRPr sz="2100" b="0">
              <a:solidFill>
                <a:srgbClr val="3F3F3F"/>
              </a:solidFill>
            </a:endParaRPr>
          </a:p>
          <a:p>
            <a:pPr marL="0" lvl="0" indent="0" algn="l" rtl="0">
              <a:lnSpc>
                <a:spcPct val="115000"/>
              </a:lnSpc>
              <a:spcBef>
                <a:spcPts val="1000"/>
              </a:spcBef>
              <a:spcAft>
                <a:spcPts val="0"/>
              </a:spcAft>
              <a:buClr>
                <a:schemeClr val="dk1"/>
              </a:buClr>
              <a:buSzPts val="1100"/>
              <a:buFont typeface="Arial"/>
              <a:buNone/>
            </a:pPr>
            <a:r>
              <a:rPr lang="en-US" sz="2100" b="0">
                <a:solidFill>
                  <a:srgbClr val="3F3F3F"/>
                </a:solidFill>
              </a:rPr>
              <a:t>Q: How will things change when you start working?</a:t>
            </a:r>
            <a:endParaRPr sz="2100" b="0">
              <a:solidFill>
                <a:srgbClr val="3F3F3F"/>
              </a:solidFill>
            </a:endParaRPr>
          </a:p>
          <a:p>
            <a:pPr marL="0" lvl="0" indent="0" algn="l" rtl="0">
              <a:lnSpc>
                <a:spcPct val="115000"/>
              </a:lnSpc>
              <a:spcBef>
                <a:spcPts val="1000"/>
              </a:spcBef>
              <a:spcAft>
                <a:spcPts val="0"/>
              </a:spcAft>
              <a:buClr>
                <a:schemeClr val="dk1"/>
              </a:buClr>
              <a:buSzPts val="1100"/>
              <a:buFont typeface="Arial"/>
              <a:buNone/>
            </a:pPr>
            <a:r>
              <a:rPr lang="en-US" sz="2100" b="0">
                <a:solidFill>
                  <a:srgbClr val="3F3F3F"/>
                </a:solidFill>
              </a:rPr>
              <a:t>Q: What opportunities have you had for work experience?</a:t>
            </a:r>
            <a:endParaRPr sz="2100" b="0">
              <a:solidFill>
                <a:srgbClr val="3F3F3F"/>
              </a:solidFill>
            </a:endParaRPr>
          </a:p>
          <a:p>
            <a:pPr marL="0" lvl="0" indent="0" algn="l" rtl="0">
              <a:lnSpc>
                <a:spcPct val="115000"/>
              </a:lnSpc>
              <a:spcBef>
                <a:spcPts val="1000"/>
              </a:spcBef>
              <a:spcAft>
                <a:spcPts val="0"/>
              </a:spcAft>
              <a:buClr>
                <a:schemeClr val="dk1"/>
              </a:buClr>
              <a:buSzPts val="1100"/>
              <a:buFont typeface="Arial"/>
              <a:buNone/>
            </a:pPr>
            <a:r>
              <a:rPr lang="en-US" sz="2100" b="0">
                <a:solidFill>
                  <a:srgbClr val="3F3F3F"/>
                </a:solidFill>
              </a:rPr>
              <a:t>Q: What type of job do you see yourself doing?</a:t>
            </a:r>
            <a:endParaRPr sz="2100" b="0">
              <a:solidFill>
                <a:srgbClr val="3F3F3F"/>
              </a:solidFill>
            </a:endParaRPr>
          </a:p>
          <a:p>
            <a:pPr marL="0" lvl="0" indent="0" algn="l" rtl="0">
              <a:spcBef>
                <a:spcPts val="1000"/>
              </a:spcBef>
              <a:spcAft>
                <a:spcPts val="0"/>
              </a:spcAft>
              <a:buNone/>
            </a:pPr>
            <a:endParaRPr sz="2100"/>
          </a:p>
        </p:txBody>
      </p:sp>
      <p:sp>
        <p:nvSpPr>
          <p:cNvPr id="132" name="Google Shape;132;g29596f01b16_1_31"/>
          <p:cNvSpPr txBox="1">
            <a:spLocks noGrp="1"/>
          </p:cNvSpPr>
          <p:nvPr>
            <p:ph type="body" idx="2"/>
          </p:nvPr>
        </p:nvSpPr>
        <p:spPr>
          <a:xfrm>
            <a:off x="4648200" y="1752600"/>
            <a:ext cx="3810000" cy="38100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100" b="0">
                <a:solidFill>
                  <a:srgbClr val="3F3F3F"/>
                </a:solidFill>
              </a:rPr>
              <a:t>Pathway D suggestions:</a:t>
            </a:r>
            <a:endParaRPr sz="2100" b="0">
              <a:solidFill>
                <a:srgbClr val="3F3F3F"/>
              </a:solidFill>
            </a:endParaRPr>
          </a:p>
          <a:p>
            <a:pPr marL="0" lvl="0" indent="0" algn="l" rtl="0">
              <a:lnSpc>
                <a:spcPct val="115000"/>
              </a:lnSpc>
              <a:spcBef>
                <a:spcPts val="1000"/>
              </a:spcBef>
              <a:spcAft>
                <a:spcPts val="0"/>
              </a:spcAft>
              <a:buClr>
                <a:schemeClr val="dk1"/>
              </a:buClr>
              <a:buSzPts val="1100"/>
              <a:buFont typeface="Arial"/>
              <a:buNone/>
            </a:pPr>
            <a:r>
              <a:rPr lang="en-US" sz="2100" b="0">
                <a:solidFill>
                  <a:srgbClr val="3F3F3F"/>
                </a:solidFill>
              </a:rPr>
              <a:t>Q: Tell me about the things you are good at?</a:t>
            </a:r>
            <a:endParaRPr sz="2100" b="0">
              <a:solidFill>
                <a:srgbClr val="3F3F3F"/>
              </a:solidFill>
            </a:endParaRPr>
          </a:p>
          <a:p>
            <a:pPr marL="0" lvl="0" indent="0" algn="l" rtl="0">
              <a:lnSpc>
                <a:spcPct val="115000"/>
              </a:lnSpc>
              <a:spcBef>
                <a:spcPts val="1000"/>
              </a:spcBef>
              <a:spcAft>
                <a:spcPts val="0"/>
              </a:spcAft>
              <a:buClr>
                <a:schemeClr val="dk1"/>
              </a:buClr>
              <a:buSzPts val="1100"/>
              <a:buFont typeface="Arial"/>
              <a:buNone/>
            </a:pPr>
            <a:r>
              <a:rPr lang="en-US" sz="2100" b="0">
                <a:solidFill>
                  <a:srgbClr val="3F3F3F"/>
                </a:solidFill>
              </a:rPr>
              <a:t>Q: What is the best part of your job?</a:t>
            </a:r>
            <a:endParaRPr sz="2100" b="0">
              <a:solidFill>
                <a:srgbClr val="3F3F3F"/>
              </a:solidFill>
            </a:endParaRPr>
          </a:p>
          <a:p>
            <a:pPr marL="0" lvl="0" indent="0" algn="l" rtl="0">
              <a:lnSpc>
                <a:spcPct val="115000"/>
              </a:lnSpc>
              <a:spcBef>
                <a:spcPts val="1000"/>
              </a:spcBef>
              <a:spcAft>
                <a:spcPts val="1000"/>
              </a:spcAft>
              <a:buClr>
                <a:schemeClr val="dk1"/>
              </a:buClr>
              <a:buSzPts val="1100"/>
              <a:buFont typeface="Arial"/>
              <a:buNone/>
            </a:pPr>
            <a:r>
              <a:rPr lang="en-US" sz="2100" b="0">
                <a:solidFill>
                  <a:srgbClr val="3F3F3F"/>
                </a:solidFill>
              </a:rPr>
              <a:t>Q: Are there new tasks or responsibilities you would like to try?</a:t>
            </a:r>
            <a:endParaRPr sz="2100"/>
          </a:p>
        </p:txBody>
      </p:sp>
    </p:spTree>
    <p:extLst>
      <p:ext uri="{BB962C8B-B14F-4D97-AF65-F5344CB8AC3E}">
        <p14:creationId xmlns:p14="http://schemas.microsoft.com/office/powerpoint/2010/main" val="421819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248c0ec6322_1_13"/>
          <p:cNvSpPr txBox="1">
            <a:spLocks noGrp="1"/>
          </p:cNvSpPr>
          <p:nvPr>
            <p:ph type="title"/>
          </p:nvPr>
        </p:nvSpPr>
        <p:spPr>
          <a:xfrm>
            <a:off x="685800" y="553800"/>
            <a:ext cx="77724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Pathway Tool application</a:t>
            </a:r>
            <a:endParaRPr/>
          </a:p>
        </p:txBody>
      </p:sp>
      <p:sp>
        <p:nvSpPr>
          <p:cNvPr id="139" name="Google Shape;139;g248c0ec6322_1_13"/>
          <p:cNvSpPr txBox="1">
            <a:spLocks noGrp="1"/>
          </p:cNvSpPr>
          <p:nvPr>
            <p:ph type="body" idx="1"/>
          </p:nvPr>
        </p:nvSpPr>
        <p:spPr>
          <a:xfrm>
            <a:off x="782375" y="1524000"/>
            <a:ext cx="7772400" cy="38100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sz="2400"/>
              <a:t>Develop a Plan</a:t>
            </a:r>
            <a:endParaRPr sz="2400"/>
          </a:p>
          <a:p>
            <a:pPr marL="457200" lvl="0" indent="-381000" algn="l" rtl="0">
              <a:spcBef>
                <a:spcPts val="1000"/>
              </a:spcBef>
              <a:spcAft>
                <a:spcPts val="0"/>
              </a:spcAft>
              <a:buSzPts val="2400"/>
              <a:buChar char="•"/>
            </a:pPr>
            <a:r>
              <a:rPr lang="en-US" sz="2400" b="0"/>
              <a:t>Pathways A and B</a:t>
            </a:r>
            <a:endParaRPr sz="2400" b="0"/>
          </a:p>
          <a:p>
            <a:pPr marL="914400" lvl="1" indent="-381000" algn="l" rtl="0">
              <a:spcBef>
                <a:spcPts val="0"/>
              </a:spcBef>
              <a:spcAft>
                <a:spcPts val="0"/>
              </a:spcAft>
              <a:buSzPts val="2400"/>
              <a:buChar char="–"/>
            </a:pPr>
            <a:r>
              <a:rPr lang="en-US" sz="2400" b="0"/>
              <a:t>What informed choice activities for employment have you completed over the past year? </a:t>
            </a:r>
            <a:endParaRPr sz="2400" b="0"/>
          </a:p>
          <a:p>
            <a:pPr marL="914400" lvl="1" indent="-381000" algn="l" rtl="0">
              <a:spcBef>
                <a:spcPts val="0"/>
              </a:spcBef>
              <a:spcAft>
                <a:spcPts val="0"/>
              </a:spcAft>
              <a:buSzPts val="2400"/>
              <a:buChar char="–"/>
            </a:pPr>
            <a:r>
              <a:rPr lang="en-US" sz="2400" b="0"/>
              <a:t>What is your plan for new informed choice activities this year? </a:t>
            </a:r>
            <a:endParaRPr sz="2400" b="0"/>
          </a:p>
          <a:p>
            <a:pPr marL="457200" lvl="0" indent="-381000" algn="l" rtl="0">
              <a:spcBef>
                <a:spcPts val="0"/>
              </a:spcBef>
              <a:spcAft>
                <a:spcPts val="0"/>
              </a:spcAft>
              <a:buSzPts val="2400"/>
              <a:buChar char="•"/>
            </a:pPr>
            <a:r>
              <a:rPr lang="en-US" sz="2400" b="0"/>
              <a:t>Person centered planning next steps</a:t>
            </a:r>
            <a:endParaRPr sz="2400" b="0"/>
          </a:p>
          <a:p>
            <a:pPr marL="457200" lvl="0" indent="-381000" algn="l" rtl="0">
              <a:spcBef>
                <a:spcPts val="0"/>
              </a:spcBef>
              <a:spcAft>
                <a:spcPts val="0"/>
              </a:spcAft>
              <a:buSzPts val="2400"/>
              <a:buChar char="•"/>
            </a:pPr>
            <a:r>
              <a:rPr lang="en-US" sz="2400" b="0"/>
              <a:t>Vocational Rehabilitation next steps</a:t>
            </a:r>
            <a:endParaRPr sz="2400" b="0"/>
          </a:p>
          <a:p>
            <a:pPr marL="0" lvl="0" indent="0" algn="l" rtl="0">
              <a:spcBef>
                <a:spcPts val="1000"/>
              </a:spcBef>
              <a:spcAft>
                <a:spcPts val="0"/>
              </a:spcAft>
              <a:buNone/>
            </a:pPr>
            <a:r>
              <a:rPr lang="en-US" sz="2400" b="0"/>
              <a:t>If not work, then what makes a meaningful life?</a:t>
            </a:r>
            <a:endParaRPr sz="2400" b="0"/>
          </a:p>
        </p:txBody>
      </p:sp>
    </p:spTree>
    <p:extLst>
      <p:ext uri="{BB962C8B-B14F-4D97-AF65-F5344CB8AC3E}">
        <p14:creationId xmlns:p14="http://schemas.microsoft.com/office/powerpoint/2010/main" val="3957359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29596f01b16_1_38"/>
          <p:cNvSpPr txBox="1">
            <a:spLocks noGrp="1"/>
          </p:cNvSpPr>
          <p:nvPr>
            <p:ph type="title"/>
          </p:nvPr>
        </p:nvSpPr>
        <p:spPr>
          <a:xfrm>
            <a:off x="685800" y="457200"/>
            <a:ext cx="77724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“Develop a plan” exercise</a:t>
            </a:r>
            <a:endParaRPr/>
          </a:p>
        </p:txBody>
      </p:sp>
      <p:sp>
        <p:nvSpPr>
          <p:cNvPr id="146" name="Google Shape;146;g29596f01b16_1_38"/>
          <p:cNvSpPr txBox="1">
            <a:spLocks noGrp="1"/>
          </p:cNvSpPr>
          <p:nvPr>
            <p:ph type="body" idx="1"/>
          </p:nvPr>
        </p:nvSpPr>
        <p:spPr>
          <a:xfrm>
            <a:off x="685800" y="1752600"/>
            <a:ext cx="3810000" cy="38100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2100" b="0">
                <a:solidFill>
                  <a:srgbClr val="3F3F3F"/>
                </a:solidFill>
              </a:rPr>
              <a:t>Pathway A suggestions:</a:t>
            </a:r>
            <a:endParaRPr sz="2100" b="0">
              <a:solidFill>
                <a:srgbClr val="3F3F3F"/>
              </a:solidFill>
            </a:endParaRPr>
          </a:p>
          <a:p>
            <a:pPr marL="457200" lvl="0" indent="-361950" algn="l" rtl="0">
              <a:lnSpc>
                <a:spcPct val="115000"/>
              </a:lnSpc>
              <a:spcBef>
                <a:spcPts val="1000"/>
              </a:spcBef>
              <a:spcAft>
                <a:spcPts val="0"/>
              </a:spcAft>
              <a:buClr>
                <a:srgbClr val="3F3F3F"/>
              </a:buClr>
              <a:buSzPts val="2100"/>
              <a:buChar char="•"/>
            </a:pPr>
            <a:r>
              <a:rPr lang="en-US" sz="2100" b="0">
                <a:solidFill>
                  <a:srgbClr val="3F3F3F"/>
                </a:solidFill>
              </a:rPr>
              <a:t>Use person-centered planning tools to inform job goals and activities.</a:t>
            </a:r>
            <a:endParaRPr sz="2100" b="0">
              <a:solidFill>
                <a:srgbClr val="3F3F3F"/>
              </a:solidFill>
            </a:endParaRPr>
          </a:p>
          <a:p>
            <a:pPr marL="457200" lvl="0" indent="-361950" algn="l" rtl="0">
              <a:lnSpc>
                <a:spcPct val="115000"/>
              </a:lnSpc>
              <a:spcBef>
                <a:spcPts val="0"/>
              </a:spcBef>
              <a:spcAft>
                <a:spcPts val="0"/>
              </a:spcAft>
              <a:buClr>
                <a:srgbClr val="3F3F3F"/>
              </a:buClr>
              <a:buSzPts val="2100"/>
              <a:buChar char="•"/>
            </a:pPr>
            <a:r>
              <a:rPr lang="en-US" sz="2100" b="0">
                <a:solidFill>
                  <a:srgbClr val="3F3F3F"/>
                </a:solidFill>
              </a:rPr>
              <a:t>Build skills that easily translate to a worksite.</a:t>
            </a:r>
            <a:endParaRPr sz="2100" b="0">
              <a:solidFill>
                <a:srgbClr val="3F3F3F"/>
              </a:solidFill>
            </a:endParaRPr>
          </a:p>
          <a:p>
            <a:pPr marL="457200" lvl="0" indent="-361950" algn="l" rtl="0">
              <a:lnSpc>
                <a:spcPct val="115000"/>
              </a:lnSpc>
              <a:spcBef>
                <a:spcPts val="0"/>
              </a:spcBef>
              <a:spcAft>
                <a:spcPts val="0"/>
              </a:spcAft>
              <a:buClr>
                <a:srgbClr val="3F3F3F"/>
              </a:buClr>
              <a:buSzPts val="2100"/>
              <a:buChar char="•"/>
            </a:pPr>
            <a:r>
              <a:rPr lang="en-US" sz="2100" b="0">
                <a:solidFill>
                  <a:srgbClr val="3F3F3F"/>
                </a:solidFill>
              </a:rPr>
              <a:t>Network with family and others to seek out job shadowing opportunities.</a:t>
            </a:r>
            <a:endParaRPr sz="2100" b="0">
              <a:solidFill>
                <a:srgbClr val="3F3F3F"/>
              </a:solidFill>
            </a:endParaRPr>
          </a:p>
          <a:p>
            <a:pPr marL="0" lvl="0" indent="0" algn="l" rtl="0">
              <a:lnSpc>
                <a:spcPct val="115000"/>
              </a:lnSpc>
              <a:spcBef>
                <a:spcPts val="1000"/>
              </a:spcBef>
              <a:spcAft>
                <a:spcPts val="0"/>
              </a:spcAft>
              <a:buNone/>
            </a:pPr>
            <a:endParaRPr sz="2100" b="0">
              <a:solidFill>
                <a:srgbClr val="3F3F3F"/>
              </a:solidFill>
            </a:endParaRPr>
          </a:p>
          <a:p>
            <a:pPr marL="0" lvl="0" indent="0" algn="l" rtl="0">
              <a:spcBef>
                <a:spcPts val="1000"/>
              </a:spcBef>
              <a:spcAft>
                <a:spcPts val="0"/>
              </a:spcAft>
              <a:buNone/>
            </a:pPr>
            <a:endParaRPr sz="2100"/>
          </a:p>
        </p:txBody>
      </p:sp>
      <p:sp>
        <p:nvSpPr>
          <p:cNvPr id="147" name="Google Shape;147;g29596f01b16_1_38"/>
          <p:cNvSpPr txBox="1">
            <a:spLocks noGrp="1"/>
          </p:cNvSpPr>
          <p:nvPr>
            <p:ph type="body" idx="2"/>
          </p:nvPr>
        </p:nvSpPr>
        <p:spPr>
          <a:xfrm>
            <a:off x="4648200" y="1752600"/>
            <a:ext cx="3810000" cy="38100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2100" b="0">
                <a:solidFill>
                  <a:srgbClr val="3F3F3F"/>
                </a:solidFill>
              </a:rPr>
              <a:t>Pathway D suggestions:</a:t>
            </a:r>
            <a:endParaRPr sz="2100" b="0">
              <a:solidFill>
                <a:srgbClr val="3F3F3F"/>
              </a:solidFill>
            </a:endParaRPr>
          </a:p>
          <a:p>
            <a:pPr marL="457200" lvl="0" indent="-361950" algn="l" rtl="0">
              <a:lnSpc>
                <a:spcPct val="115000"/>
              </a:lnSpc>
              <a:spcBef>
                <a:spcPts val="1000"/>
              </a:spcBef>
              <a:spcAft>
                <a:spcPts val="0"/>
              </a:spcAft>
              <a:buClr>
                <a:srgbClr val="3F3F3F"/>
              </a:buClr>
              <a:buSzPts val="2100"/>
              <a:buChar char="•"/>
            </a:pPr>
            <a:r>
              <a:rPr lang="en-US" sz="2100" b="0">
                <a:solidFill>
                  <a:srgbClr val="3F3F3F"/>
                </a:solidFill>
              </a:rPr>
              <a:t>Update work-based goals and review all existing supports.</a:t>
            </a:r>
            <a:endParaRPr sz="2100" b="0">
              <a:solidFill>
                <a:srgbClr val="3F3F3F"/>
              </a:solidFill>
            </a:endParaRPr>
          </a:p>
          <a:p>
            <a:pPr marL="457200" lvl="0" indent="-361950" algn="l" rtl="0">
              <a:lnSpc>
                <a:spcPct val="115000"/>
              </a:lnSpc>
              <a:spcBef>
                <a:spcPts val="0"/>
              </a:spcBef>
              <a:spcAft>
                <a:spcPts val="0"/>
              </a:spcAft>
              <a:buClr>
                <a:srgbClr val="3F3F3F"/>
              </a:buClr>
              <a:buSzPts val="2100"/>
              <a:buChar char="•"/>
            </a:pPr>
            <a:r>
              <a:rPr lang="en-US" sz="2100" b="0">
                <a:solidFill>
                  <a:srgbClr val="3F3F3F"/>
                </a:solidFill>
              </a:rPr>
              <a:t>Discuss opportunities to increase wages or hours.</a:t>
            </a:r>
            <a:endParaRPr sz="2100" b="0">
              <a:solidFill>
                <a:srgbClr val="3F3F3F"/>
              </a:solidFill>
            </a:endParaRPr>
          </a:p>
          <a:p>
            <a:pPr marL="457200" lvl="0" indent="-361950" algn="l" rtl="0">
              <a:lnSpc>
                <a:spcPct val="115000"/>
              </a:lnSpc>
              <a:spcBef>
                <a:spcPts val="0"/>
              </a:spcBef>
              <a:spcAft>
                <a:spcPts val="0"/>
              </a:spcAft>
              <a:buClr>
                <a:srgbClr val="3F3F3F"/>
              </a:buClr>
              <a:buSzPts val="2100"/>
              <a:buChar char="•"/>
            </a:pPr>
            <a:r>
              <a:rPr lang="en-US" sz="2100" b="0">
                <a:solidFill>
                  <a:srgbClr val="3F3F3F"/>
                </a:solidFill>
              </a:rPr>
              <a:t>Meet with a benefits specialist.</a:t>
            </a:r>
            <a:endParaRPr sz="2100" b="0">
              <a:solidFill>
                <a:srgbClr val="3F3F3F"/>
              </a:solidFill>
            </a:endParaRPr>
          </a:p>
          <a:p>
            <a:pPr marL="457200" lvl="0" indent="-361950" algn="l" rtl="0">
              <a:lnSpc>
                <a:spcPct val="115000"/>
              </a:lnSpc>
              <a:spcBef>
                <a:spcPts val="0"/>
              </a:spcBef>
              <a:spcAft>
                <a:spcPts val="0"/>
              </a:spcAft>
              <a:buClr>
                <a:srgbClr val="3F3F3F"/>
              </a:buClr>
              <a:buSzPts val="2100"/>
              <a:buChar char="•"/>
            </a:pPr>
            <a:r>
              <a:rPr lang="en-US" sz="2100" b="0">
                <a:solidFill>
                  <a:srgbClr val="3F3F3F"/>
                </a:solidFill>
              </a:rPr>
              <a:t>Be evaluated for assistive technology.</a:t>
            </a:r>
            <a:endParaRPr sz="2100" b="0">
              <a:solidFill>
                <a:srgbClr val="3F3F3F"/>
              </a:solidFill>
            </a:endParaRPr>
          </a:p>
        </p:txBody>
      </p:sp>
    </p:spTree>
    <p:extLst>
      <p:ext uri="{BB962C8B-B14F-4D97-AF65-F5344CB8AC3E}">
        <p14:creationId xmlns:p14="http://schemas.microsoft.com/office/powerpoint/2010/main" val="333486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48c0ec6322_0_6"/>
          <p:cNvSpPr txBox="1">
            <a:spLocks noGrp="1"/>
          </p:cNvSpPr>
          <p:nvPr>
            <p:ph type="title"/>
          </p:nvPr>
        </p:nvSpPr>
        <p:spPr>
          <a:xfrm>
            <a:off x="629841" y="457200"/>
            <a:ext cx="2949300" cy="160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Employment Pathway Tool </a:t>
            </a:r>
            <a:endParaRPr/>
          </a:p>
        </p:txBody>
      </p:sp>
      <p:sp>
        <p:nvSpPr>
          <p:cNvPr id="154" name="Google Shape;154;g248c0ec6322_0_6"/>
          <p:cNvSpPr txBox="1">
            <a:spLocks noGrp="1"/>
          </p:cNvSpPr>
          <p:nvPr>
            <p:ph type="body" idx="1"/>
          </p:nvPr>
        </p:nvSpPr>
        <p:spPr>
          <a:xfrm>
            <a:off x="629841" y="2133600"/>
            <a:ext cx="2949300" cy="3811500"/>
          </a:xfrm>
          <a:prstGeom prst="rect">
            <a:avLst/>
          </a:prstGeom>
          <a:noFill/>
          <a:ln>
            <a:noFill/>
          </a:ln>
        </p:spPr>
        <p:txBody>
          <a:bodyPr spcFirstLastPara="1" wrap="square" lIns="91425" tIns="45700" rIns="91425" bIns="45700" anchor="t" anchorCtr="0">
            <a:noAutofit/>
          </a:bodyPr>
          <a:lstStyle/>
          <a:p>
            <a:pPr marL="342900" lvl="0" indent="-139700" algn="ctr" rtl="0">
              <a:spcBef>
                <a:spcPts val="0"/>
              </a:spcBef>
              <a:spcAft>
                <a:spcPts val="0"/>
              </a:spcAft>
              <a:buClr>
                <a:schemeClr val="dk1"/>
              </a:buClr>
              <a:buSzPts val="3200"/>
              <a:buFont typeface="Open Sans"/>
              <a:buNone/>
            </a:pPr>
            <a:r>
              <a:rPr lang="en-US" sz="1800" b="0"/>
              <a:t>Working age adults (in services)</a:t>
            </a:r>
            <a:endParaRPr sz="1800" b="0"/>
          </a:p>
          <a:p>
            <a:pPr marL="342900" lvl="0" indent="-139700" algn="ctr" rtl="0">
              <a:spcBef>
                <a:spcPts val="0"/>
              </a:spcBef>
              <a:spcAft>
                <a:spcPts val="0"/>
              </a:spcAft>
              <a:buClr>
                <a:schemeClr val="dk1"/>
              </a:buClr>
              <a:buSzPts val="3200"/>
              <a:buFont typeface="Open Sans"/>
              <a:buNone/>
            </a:pPr>
            <a:r>
              <a:rPr lang="en-US" sz="1800" b="0"/>
              <a:t>6,580</a:t>
            </a:r>
            <a:endParaRPr sz="1800" b="0"/>
          </a:p>
          <a:p>
            <a:pPr marL="342900" lvl="0" indent="-139700" algn="l" rtl="0">
              <a:spcBef>
                <a:spcPts val="0"/>
              </a:spcBef>
              <a:spcAft>
                <a:spcPts val="0"/>
              </a:spcAft>
              <a:buClr>
                <a:schemeClr val="dk1"/>
              </a:buClr>
              <a:buSzPts val="3200"/>
              <a:buFont typeface="Open Sans"/>
              <a:buNone/>
            </a:pPr>
            <a:endParaRPr sz="1800" b="0"/>
          </a:p>
          <a:p>
            <a:pPr marL="342900" lvl="0" indent="-139700" algn="ctr" rtl="0">
              <a:spcBef>
                <a:spcPts val="0"/>
              </a:spcBef>
              <a:spcAft>
                <a:spcPts val="0"/>
              </a:spcAft>
              <a:buClr>
                <a:schemeClr val="dk1"/>
              </a:buClr>
              <a:buSzPts val="3200"/>
              <a:buFont typeface="Open Sans"/>
              <a:buNone/>
            </a:pPr>
            <a:r>
              <a:rPr lang="en-US" sz="1800" b="0"/>
              <a:t>Active Employment Pathway Tool</a:t>
            </a:r>
            <a:endParaRPr sz="1800" b="0"/>
          </a:p>
          <a:p>
            <a:pPr marL="342900" lvl="0" indent="-139700" algn="ctr" rtl="0">
              <a:spcBef>
                <a:spcPts val="0"/>
              </a:spcBef>
              <a:spcAft>
                <a:spcPts val="0"/>
              </a:spcAft>
              <a:buClr>
                <a:schemeClr val="dk1"/>
              </a:buClr>
              <a:buSzPts val="3200"/>
              <a:buFont typeface="Open Sans"/>
              <a:buNone/>
            </a:pPr>
            <a:r>
              <a:rPr lang="en-US" sz="1800" b="0"/>
              <a:t>2,598</a:t>
            </a:r>
            <a:endParaRPr sz="1800" b="0"/>
          </a:p>
          <a:p>
            <a:pPr marL="342900" lvl="0" indent="-139700" algn="l" rtl="0">
              <a:spcBef>
                <a:spcPts val="0"/>
              </a:spcBef>
              <a:spcAft>
                <a:spcPts val="0"/>
              </a:spcAft>
              <a:buClr>
                <a:schemeClr val="dk1"/>
              </a:buClr>
              <a:buSzPts val="3200"/>
              <a:buFont typeface="Open Sans"/>
              <a:buNone/>
            </a:pPr>
            <a:endParaRPr sz="1800" b="0"/>
          </a:p>
          <a:p>
            <a:pPr marL="342900" lvl="0" indent="-139700" algn="ctr" rtl="0">
              <a:spcBef>
                <a:spcPts val="0"/>
              </a:spcBef>
              <a:spcAft>
                <a:spcPts val="0"/>
              </a:spcAft>
              <a:buClr>
                <a:schemeClr val="dk1"/>
              </a:buClr>
              <a:buSzPts val="3200"/>
              <a:buFont typeface="Open Sans"/>
              <a:buNone/>
            </a:pPr>
            <a:r>
              <a:rPr lang="en-US" sz="1800" b="0"/>
              <a:t>Percent with Tool</a:t>
            </a:r>
            <a:endParaRPr sz="1800" b="0"/>
          </a:p>
          <a:p>
            <a:pPr marL="342900" lvl="0" indent="-139700" algn="ctr" rtl="0">
              <a:spcBef>
                <a:spcPts val="0"/>
              </a:spcBef>
              <a:spcAft>
                <a:spcPts val="0"/>
              </a:spcAft>
              <a:buClr>
                <a:schemeClr val="dk1"/>
              </a:buClr>
              <a:buSzPts val="3200"/>
              <a:buFont typeface="Open Sans"/>
              <a:buNone/>
            </a:pPr>
            <a:r>
              <a:rPr lang="en-US" sz="1800" b="0"/>
              <a:t>39%</a:t>
            </a:r>
            <a:endParaRPr sz="1800" b="0"/>
          </a:p>
          <a:p>
            <a:pPr marL="342900" lvl="0" indent="-139700" algn="l" rtl="0">
              <a:spcBef>
                <a:spcPts val="0"/>
              </a:spcBef>
              <a:spcAft>
                <a:spcPts val="0"/>
              </a:spcAft>
              <a:buClr>
                <a:schemeClr val="dk1"/>
              </a:buClr>
              <a:buSzPts val="3200"/>
              <a:buFont typeface="Open Sans"/>
              <a:buNone/>
            </a:pPr>
            <a:endParaRPr b="0"/>
          </a:p>
          <a:p>
            <a:pPr marL="342900" lvl="0" indent="-139700" algn="l" rtl="0">
              <a:spcBef>
                <a:spcPts val="0"/>
              </a:spcBef>
              <a:spcAft>
                <a:spcPts val="0"/>
              </a:spcAft>
              <a:buClr>
                <a:schemeClr val="dk1"/>
              </a:buClr>
              <a:buSzPts val="3200"/>
              <a:buFont typeface="Open Sans"/>
              <a:buNone/>
            </a:pPr>
            <a:endParaRPr b="0"/>
          </a:p>
        </p:txBody>
      </p:sp>
      <p:pic>
        <p:nvPicPr>
          <p:cNvPr id="7" name="Picture 6" descr="A graph with numbers and a bar&#10;&#10;Description automatically generated">
            <a:extLst>
              <a:ext uri="{FF2B5EF4-FFF2-40B4-BE49-F238E27FC236}">
                <a16:creationId xmlns:a16="http://schemas.microsoft.com/office/drawing/2014/main" id="{5BB42A5E-9865-D356-76F5-A3F5CBFF1880}"/>
              </a:ext>
            </a:extLst>
          </p:cNvPr>
          <p:cNvPicPr>
            <a:picLocks noChangeAspect="1"/>
          </p:cNvPicPr>
          <p:nvPr/>
        </p:nvPicPr>
        <p:blipFill>
          <a:blip r:embed="rId3"/>
          <a:stretch>
            <a:fillRect/>
          </a:stretch>
        </p:blipFill>
        <p:spPr>
          <a:xfrm>
            <a:off x="4376030" y="756805"/>
            <a:ext cx="3942166" cy="4946072"/>
          </a:xfrm>
          <a:prstGeom prst="rect">
            <a:avLst/>
          </a:prstGeom>
        </p:spPr>
      </p:pic>
    </p:spTree>
    <p:extLst>
      <p:ext uri="{BB962C8B-B14F-4D97-AF65-F5344CB8AC3E}">
        <p14:creationId xmlns:p14="http://schemas.microsoft.com/office/powerpoint/2010/main" val="908996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686119-368A-6154-B4A4-308758CE3F66}"/>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eaLnBrk="1" hangingPunct="1">
              <a:lnSpc>
                <a:spcPct val="90000"/>
              </a:lnSpc>
            </a:pPr>
            <a:r>
              <a:rPr lang="en-US" sz="3500" kern="1200">
                <a:latin typeface="+mj-lt"/>
                <a:ea typeface="+mj-ea"/>
                <a:cs typeface="+mj-cs"/>
              </a:rPr>
              <a:t>Questions?</a:t>
            </a:r>
          </a:p>
        </p:txBody>
      </p:sp>
      <p:pic>
        <p:nvPicPr>
          <p:cNvPr id="7" name="Graphic 6" descr="Question mark">
            <a:extLst>
              <a:ext uri="{FF2B5EF4-FFF2-40B4-BE49-F238E27FC236}">
                <a16:creationId xmlns:a16="http://schemas.microsoft.com/office/drawing/2014/main" id="{F8E9500F-C120-5515-8E6C-6CFCC0D70B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96997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4A752-10D7-2D25-E8BE-E9C219260A3D}"/>
              </a:ext>
            </a:extLst>
          </p:cNvPr>
          <p:cNvSpPr>
            <a:spLocks noGrp="1"/>
          </p:cNvSpPr>
          <p:nvPr>
            <p:ph type="title"/>
          </p:nvPr>
        </p:nvSpPr>
        <p:spPr/>
        <p:txBody>
          <a:bodyPr/>
          <a:lstStyle/>
          <a:p>
            <a:r>
              <a:rPr lang="en-US"/>
              <a:t>Contact Information </a:t>
            </a:r>
          </a:p>
        </p:txBody>
      </p:sp>
      <p:sp>
        <p:nvSpPr>
          <p:cNvPr id="3" name="Content Placeholder 2">
            <a:extLst>
              <a:ext uri="{FF2B5EF4-FFF2-40B4-BE49-F238E27FC236}">
                <a16:creationId xmlns:a16="http://schemas.microsoft.com/office/drawing/2014/main" id="{3F02491A-BEB3-9D3F-874E-E16397D0F24C}"/>
              </a:ext>
            </a:extLst>
          </p:cNvPr>
          <p:cNvSpPr>
            <a:spLocks noGrp="1"/>
          </p:cNvSpPr>
          <p:nvPr>
            <p:ph idx="1"/>
          </p:nvPr>
        </p:nvSpPr>
        <p:spPr>
          <a:xfrm>
            <a:off x="286215" y="2209800"/>
            <a:ext cx="8153400" cy="3886200"/>
          </a:xfrm>
        </p:spPr>
        <p:txBody>
          <a:bodyPr/>
          <a:lstStyle/>
          <a:p>
            <a:pPr marL="0" indent="0">
              <a:buNone/>
            </a:pPr>
            <a:r>
              <a:rPr lang="en-US"/>
              <a:t>Amy </a:t>
            </a:r>
            <a:r>
              <a:rPr lang="en-US" err="1"/>
              <a:t>Huppi</a:t>
            </a:r>
            <a:r>
              <a:rPr lang="en-US"/>
              <a:t> </a:t>
            </a:r>
            <a:r>
              <a:rPr lang="en-US" b="0">
                <a:hlinkClick r:id="rId3"/>
              </a:rPr>
              <a:t>Amy.Huppi@umb.edu</a:t>
            </a:r>
            <a:endParaRPr lang="en-US" b="0"/>
          </a:p>
          <a:p>
            <a:pPr marL="0" indent="0">
              <a:buNone/>
            </a:pPr>
            <a:r>
              <a:rPr lang="en-US"/>
              <a:t>Bryn Peterson </a:t>
            </a:r>
            <a:r>
              <a:rPr lang="en-US" b="0">
                <a:hlinkClick r:id="rId4"/>
              </a:rPr>
              <a:t>BrynPeterson@utah.gov</a:t>
            </a:r>
            <a:r>
              <a:rPr lang="en-US" b="0"/>
              <a:t> </a:t>
            </a:r>
          </a:p>
          <a:p>
            <a:pPr marL="0" indent="0">
              <a:buNone/>
            </a:pPr>
            <a:r>
              <a:rPr lang="en-US"/>
              <a:t>Lisa Wade </a:t>
            </a:r>
            <a:r>
              <a:rPr lang="en-US" b="0">
                <a:hlinkClick r:id="rId5"/>
              </a:rPr>
              <a:t>Lwade@utah.gov</a:t>
            </a:r>
            <a:r>
              <a:rPr lang="en-US" b="0"/>
              <a:t> </a:t>
            </a:r>
          </a:p>
          <a:p>
            <a:pPr marL="0" indent="0">
              <a:buNone/>
            </a:pPr>
            <a:r>
              <a:rPr lang="en-US"/>
              <a:t>Staci Jones </a:t>
            </a:r>
            <a:r>
              <a:rPr lang="en-US" b="0">
                <a:hlinkClick r:id="rId6"/>
              </a:rPr>
              <a:t>Staci.Jones@umb.edu</a:t>
            </a:r>
            <a:r>
              <a:rPr lang="en-US" b="0"/>
              <a:t> </a:t>
            </a:r>
            <a:endParaRPr lang="en-US"/>
          </a:p>
        </p:txBody>
      </p:sp>
    </p:spTree>
    <p:extLst>
      <p:ext uri="{BB962C8B-B14F-4D97-AF65-F5344CB8AC3E}">
        <p14:creationId xmlns:p14="http://schemas.microsoft.com/office/powerpoint/2010/main" val="976214676"/>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3B9F132910E144B1DE303CD51D56E4" ma:contentTypeVersion="19" ma:contentTypeDescription="Create a new document." ma:contentTypeScope="" ma:versionID="7e2155d81550a60cf54e7e76e1ad8d66">
  <xsd:schema xmlns:xsd="http://www.w3.org/2001/XMLSchema" xmlns:xs="http://www.w3.org/2001/XMLSchema" xmlns:p="http://schemas.microsoft.com/office/2006/metadata/properties" xmlns:ns1="http://schemas.microsoft.com/sharepoint/v3" xmlns:ns2="8a1f2421-06b9-49f1-9e9a-ede2121a2250" xmlns:ns3="ce22da41-79ca-4fda-8677-605c1a961d4d" targetNamespace="http://schemas.microsoft.com/office/2006/metadata/properties" ma:root="true" ma:fieldsID="056bab149abc664ce3a6ab293508f8f3" ns1:_="" ns2:_="" ns3:_="">
    <xsd:import namespace="http://schemas.microsoft.com/sharepoint/v3"/>
    <xsd:import namespace="8a1f2421-06b9-49f1-9e9a-ede2121a2250"/>
    <xsd:import namespace="ce22da41-79ca-4fda-8677-605c1a961d4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Location"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1f2421-06b9-49f1-9e9a-ede2121a22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22da41-79ca-4fda-8677-605c1a961d4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7b10811-3113-4951-b308-af9383911cb2}" ma:internalName="TaxCatchAll" ma:showField="CatchAllData" ma:web="ce22da41-79ca-4fda-8677-605c1a961d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a1f2421-06b9-49f1-9e9a-ede2121a2250">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ce22da41-79ca-4fda-8677-605c1a961d4d" xsi:nil="true"/>
  </documentManagement>
</p:properties>
</file>

<file path=customXml/itemProps1.xml><?xml version="1.0" encoding="utf-8"?>
<ds:datastoreItem xmlns:ds="http://schemas.openxmlformats.org/officeDocument/2006/customXml" ds:itemID="{84C37893-B2E1-48FC-968D-010B00CEDE87}">
  <ds:schemaRefs>
    <ds:schemaRef ds:uri="8a1f2421-06b9-49f1-9e9a-ede2121a2250"/>
    <ds:schemaRef ds:uri="ce22da41-79ca-4fda-8677-605c1a961d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D8F8FFA-8C93-458B-BC57-AD2DC00F2396}">
  <ds:schemaRefs>
    <ds:schemaRef ds:uri="http://schemas.microsoft.com/sharepoint/v3/contenttype/forms"/>
  </ds:schemaRefs>
</ds:datastoreItem>
</file>

<file path=customXml/itemProps3.xml><?xml version="1.0" encoding="utf-8"?>
<ds:datastoreItem xmlns:ds="http://schemas.openxmlformats.org/officeDocument/2006/customXml" ds:itemID="{C097BEC7-C59F-4425-BC91-4BE8B6810B1F}">
  <ds:schemaRefs>
    <ds:schemaRef ds:uri="8a1f2421-06b9-49f1-9e9a-ede2121a2250"/>
    <ds:schemaRef ds:uri="ce22da41-79ca-4fda-8677-605c1a961d4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2004:Templates:Presentations:Designs:Blank Presentation</Template>
  <TotalTime>90</TotalTime>
  <Words>4491</Words>
  <Application>Microsoft Office PowerPoint</Application>
  <PresentationFormat>On-screen Show (4:3)</PresentationFormat>
  <Paragraphs>207</Paragraphs>
  <Slides>22</Slides>
  <Notes>22</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22</vt:i4>
      </vt:variant>
    </vt:vector>
  </HeadingPairs>
  <TitlesOfParts>
    <vt:vector size="33" baseType="lpstr">
      <vt:lpstr>Arial</vt:lpstr>
      <vt:lpstr>Arial,Sans-Serif</vt:lpstr>
      <vt:lpstr>Calibri</vt:lpstr>
      <vt:lpstr>Calibri Light</vt:lpstr>
      <vt:lpstr>Myriad Pro</vt:lpstr>
      <vt:lpstr>Open Sans</vt:lpstr>
      <vt:lpstr>Verdana</vt:lpstr>
      <vt:lpstr>Blank Presentation</vt:lpstr>
      <vt:lpstr>1_Blank Presentation</vt:lpstr>
      <vt:lpstr>Custom Design</vt:lpstr>
      <vt:lpstr>Blank Presentation</vt:lpstr>
      <vt:lpstr>PowerPoint Presentation</vt:lpstr>
      <vt:lpstr>PowerPoint Presentation</vt:lpstr>
      <vt:lpstr>PowerPoint Presentation</vt:lpstr>
      <vt:lpstr>Number in Employment and Day services 1989 through 2021</vt:lpstr>
      <vt:lpstr>PowerPoint Presentation</vt:lpstr>
      <vt:lpstr>PowerPoint Presentation</vt:lpstr>
      <vt:lpstr>PowerPoint Presentation</vt:lpstr>
      <vt:lpstr>Role of Case Managers in Employment</vt:lpstr>
      <vt:lpstr>Pathways to Employment</vt:lpstr>
      <vt:lpstr>Support for Case Managers</vt:lpstr>
      <vt:lpstr>Employment First Priority</vt:lpstr>
      <vt:lpstr>Informed choice</vt:lpstr>
      <vt:lpstr> Employment Pathway Tool Research</vt:lpstr>
      <vt:lpstr>Preparation and Pilot</vt:lpstr>
      <vt:lpstr>Overview of the DSPD Employment Pathway Tool</vt:lpstr>
      <vt:lpstr>Identify the pathway</vt:lpstr>
      <vt:lpstr>Employment conversation exercise</vt:lpstr>
      <vt:lpstr>Pathway Tool application</vt:lpstr>
      <vt:lpstr>“Develop a plan” exercise</vt:lpstr>
      <vt:lpstr>Employment Pathway Tool </vt:lpstr>
      <vt:lpstr>Questions?</vt:lpstr>
      <vt:lpstr>Contact Information </vt:lpstr>
    </vt:vector>
  </TitlesOfParts>
  <Company>UMass Boston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ICI</dc:creator>
  <cp:lastModifiedBy>Staci Jones</cp:lastModifiedBy>
  <cp:revision>481</cp:revision>
  <dcterms:created xsi:type="dcterms:W3CDTF">2006-09-27T14:52:23Z</dcterms:created>
  <dcterms:modified xsi:type="dcterms:W3CDTF">2023-11-15T19:10:40Z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0x010100A53B9F132910E144B1DE303CD51D56E4</vt:lpwstr>
  </property>
  <property fmtid="{D5CDD505-2E9C-101B-9397-08002B2CF9AE}" pid="3" name="MediaServiceImageTags">
    <vt:lpwstr/>
  </property>
</Properties>
</file>