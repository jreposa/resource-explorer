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4"/>
  </p:notesMasterIdLst>
  <p:sldIdLst>
    <p:sldId id="256" r:id="rId5"/>
    <p:sldId id="899" r:id="rId6"/>
    <p:sldId id="883" r:id="rId7"/>
    <p:sldId id="875" r:id="rId8"/>
    <p:sldId id="1320" r:id="rId9"/>
    <p:sldId id="305" r:id="rId10"/>
    <p:sldId id="310" r:id="rId11"/>
    <p:sldId id="1312" r:id="rId12"/>
    <p:sldId id="1313" r:id="rId13"/>
    <p:sldId id="316" r:id="rId14"/>
    <p:sldId id="1318" r:id="rId15"/>
    <p:sldId id="1316" r:id="rId16"/>
    <p:sldId id="318" r:id="rId17"/>
    <p:sldId id="322" r:id="rId18"/>
    <p:sldId id="1311" r:id="rId19"/>
    <p:sldId id="1319" r:id="rId20"/>
    <p:sldId id="257" r:id="rId21"/>
    <p:sldId id="264" r:id="rId22"/>
    <p:sldId id="88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8DB296-7C7E-1E12-318A-15E1F6169068}" name="Bryn Peterson" initials="BP" userId="S::bryn.peterson@umb.edu::fd16c8ef-faa2-4aae-bb46-064735fd85d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73C9DA-D8EE-F6AA-E9EE-ED438749D036}" v="16" dt="2025-01-08T15:04:03.060"/>
    <p1510:client id="{737BFC0A-488E-9FFC-6C31-DECE819FB6C6}" v="14" dt="2025-01-08T15:02:08.881"/>
    <p1510:client id="{B2AAAD37-DC8D-7226-AD0A-4FD02C919FD7}" v="12" dt="2025-01-10T14:11:44.590"/>
    <p1510:client id="{E19F0162-ED75-A052-8ECB-2C94B8D9AEF3}" v="534" dt="2025-01-08T19:44:55.293"/>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72" y="12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F1D3B5-8C05-4D93-B7CF-5004E7501CFA}" type="datetimeFigureOut">
              <a:rPr lang="en-US" smtClean="0"/>
              <a:t>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AF368-D438-4A4D-BF43-DAFD8D9047E6}" type="slidenum">
              <a:rPr lang="en-US" smtClean="0"/>
              <a:t>‹#›</a:t>
            </a:fld>
            <a:endParaRPr lang="en-US"/>
          </a:p>
        </p:txBody>
      </p:sp>
    </p:spTree>
    <p:extLst>
      <p:ext uri="{BB962C8B-B14F-4D97-AF65-F5344CB8AC3E}">
        <p14:creationId xmlns:p14="http://schemas.microsoft.com/office/powerpoint/2010/main" val="3314735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p:txBody>
      </p:sp>
      <p:sp>
        <p:nvSpPr>
          <p:cNvPr id="4" name="Slide Number Placeholder 3"/>
          <p:cNvSpPr>
            <a:spLocks noGrp="1"/>
          </p:cNvSpPr>
          <p:nvPr>
            <p:ph type="sldNum" sz="quarter" idx="5"/>
          </p:nvPr>
        </p:nvSpPr>
        <p:spPr/>
        <p:txBody>
          <a:bodyPr/>
          <a:lstStyle/>
          <a:p>
            <a:fld id="{BCAAF368-D438-4A4D-BF43-DAFD8D9047E6}" type="slidenum">
              <a:rPr lang="en-US" smtClean="0"/>
              <a:t>1</a:t>
            </a:fld>
            <a:endParaRPr lang="en-US"/>
          </a:p>
        </p:txBody>
      </p:sp>
    </p:spTree>
    <p:extLst>
      <p:ext uri="{BB962C8B-B14F-4D97-AF65-F5344CB8AC3E}">
        <p14:creationId xmlns:p14="http://schemas.microsoft.com/office/powerpoint/2010/main" val="2251366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atin typeface="Calibri"/>
                <a:cs typeface="Calibri"/>
              </a:rPr>
              <a:t>Staci</a:t>
            </a:r>
          </a:p>
          <a:p>
            <a:r>
              <a:rPr lang="en-US">
                <a:latin typeface="Calibri"/>
                <a:ea typeface="Calibri"/>
                <a:cs typeface="Calibri"/>
              </a:rPr>
              <a:t>I have 2 pieces of data that I believe point to why having a more integrated approach is critical. </a:t>
            </a:r>
            <a:endParaRPr lang="en-US">
              <a:latin typeface="Calibri"/>
              <a:cs typeface="Calibri"/>
            </a:endParaRPr>
          </a:p>
          <a:p>
            <a:r>
              <a:rPr lang="en-US">
                <a:latin typeface="Calibri"/>
                <a:cs typeface="Calibri"/>
              </a:rPr>
              <a:t>We know by looking at national data that most people that receive funded day or employment services are in the nonwork category.....ant to share the most recent national core indicator data from 2021 (and you can find this data at nationalcoreindicators.org), this data shows that out of individuals with disabilities surveyed, 86% reported not having a job. Out of that 86%, 51% of people reported WANTING a job. And perhaps the most critical piece of data here is that only 37% report having an employment goal in their current person centered service plans.  So we can see from this data the discrepancy between what people report wanting in their lives vs what might end up in their service plan. </a:t>
            </a:r>
            <a:endParaRPr lang="en-US">
              <a:cs typeface="Calibri"/>
            </a:endParaRP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a:pPr>
                <a:defRPr/>
              </a:pPr>
              <a:t>3</a:t>
            </a:fld>
            <a:endParaRPr lang="en-US" altLang="en-US"/>
          </a:p>
        </p:txBody>
      </p:sp>
    </p:spTree>
    <p:extLst>
      <p:ext uri="{BB962C8B-B14F-4D97-AF65-F5344CB8AC3E}">
        <p14:creationId xmlns:p14="http://schemas.microsoft.com/office/powerpoint/2010/main" val="3103270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cs typeface="Calibri"/>
            </a:endParaRP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BCAAF368-D438-4A4D-BF43-DAFD8D9047E6}" type="slidenum">
              <a:rPr lang="en-US" smtClean="0"/>
              <a:t>4</a:t>
            </a:fld>
            <a:endParaRPr lang="en-US"/>
          </a:p>
        </p:txBody>
      </p:sp>
    </p:spTree>
    <p:extLst>
      <p:ext uri="{BB962C8B-B14F-4D97-AF65-F5344CB8AC3E}">
        <p14:creationId xmlns:p14="http://schemas.microsoft.com/office/powerpoint/2010/main" val="4261196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Don </a:t>
            </a:r>
          </a:p>
        </p:txBody>
      </p:sp>
      <p:sp>
        <p:nvSpPr>
          <p:cNvPr id="4" name="Slide Number Placeholder 3"/>
          <p:cNvSpPr>
            <a:spLocks noGrp="1"/>
          </p:cNvSpPr>
          <p:nvPr>
            <p:ph type="sldNum" sz="quarter" idx="5"/>
          </p:nvPr>
        </p:nvSpPr>
        <p:spPr/>
        <p:txBody>
          <a:bodyPr/>
          <a:lstStyle/>
          <a:p>
            <a:fld id="{BCAAF368-D438-4A4D-BF43-DAFD8D9047E6}" type="slidenum">
              <a:rPr lang="en-US" smtClean="0"/>
              <a:t>5</a:t>
            </a:fld>
            <a:endParaRPr lang="en-US"/>
          </a:p>
        </p:txBody>
      </p:sp>
    </p:spTree>
    <p:extLst>
      <p:ext uri="{BB962C8B-B14F-4D97-AF65-F5344CB8AC3E}">
        <p14:creationId xmlns:p14="http://schemas.microsoft.com/office/powerpoint/2010/main" val="3136736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Staci </a:t>
            </a:r>
          </a:p>
        </p:txBody>
      </p:sp>
      <p:sp>
        <p:nvSpPr>
          <p:cNvPr id="4" name="Slide Number Placeholder 3"/>
          <p:cNvSpPr>
            <a:spLocks noGrp="1"/>
          </p:cNvSpPr>
          <p:nvPr>
            <p:ph type="sldNum" sz="quarter" idx="5"/>
          </p:nvPr>
        </p:nvSpPr>
        <p:spPr/>
        <p:txBody>
          <a:bodyPr/>
          <a:lstStyle/>
          <a:p>
            <a:fld id="{AA66B766-5C45-4899-B719-22BA409C4ED8}" type="slidenum">
              <a:rPr lang="en-US" smtClean="0"/>
              <a:t>6</a:t>
            </a:fld>
            <a:endParaRPr lang="en-US"/>
          </a:p>
        </p:txBody>
      </p:sp>
    </p:spTree>
    <p:extLst>
      <p:ext uri="{BB962C8B-B14F-4D97-AF65-F5344CB8AC3E}">
        <p14:creationId xmlns:p14="http://schemas.microsoft.com/office/powerpoint/2010/main" val="1377319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Staci </a:t>
            </a:r>
          </a:p>
        </p:txBody>
      </p:sp>
      <p:sp>
        <p:nvSpPr>
          <p:cNvPr id="4" name="Slide Number Placeholder 3"/>
          <p:cNvSpPr>
            <a:spLocks noGrp="1"/>
          </p:cNvSpPr>
          <p:nvPr>
            <p:ph type="sldNum" sz="quarter" idx="5"/>
          </p:nvPr>
        </p:nvSpPr>
        <p:spPr/>
        <p:txBody>
          <a:bodyPr/>
          <a:lstStyle/>
          <a:p>
            <a:fld id="{AA66B766-5C45-4899-B719-22BA409C4ED8}" type="slidenum">
              <a:rPr lang="en-US" smtClean="0"/>
              <a:t>7</a:t>
            </a:fld>
            <a:endParaRPr lang="en-US"/>
          </a:p>
        </p:txBody>
      </p:sp>
    </p:spTree>
    <p:extLst>
      <p:ext uri="{BB962C8B-B14F-4D97-AF65-F5344CB8AC3E}">
        <p14:creationId xmlns:p14="http://schemas.microsoft.com/office/powerpoint/2010/main" val="3111628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Staci </a:t>
            </a:r>
          </a:p>
          <a:p>
            <a:endParaRPr lang="en-US">
              <a:latin typeface="Calibri"/>
              <a:ea typeface="Calibri"/>
              <a:cs typeface="Calibri"/>
            </a:endParaRPr>
          </a:p>
          <a:p>
            <a:r>
              <a:rPr lang="en-US">
                <a:latin typeface="Calibri"/>
                <a:ea typeface="Calibri"/>
                <a:cs typeface="Calibri"/>
              </a:rPr>
              <a:t>We will do a deeper dive on a few of these later in this presentation </a:t>
            </a:r>
          </a:p>
        </p:txBody>
      </p:sp>
      <p:sp>
        <p:nvSpPr>
          <p:cNvPr id="4" name="Slide Number Placeholder 3"/>
          <p:cNvSpPr>
            <a:spLocks noGrp="1"/>
          </p:cNvSpPr>
          <p:nvPr>
            <p:ph type="sldNum" sz="quarter" idx="5"/>
          </p:nvPr>
        </p:nvSpPr>
        <p:spPr/>
        <p:txBody>
          <a:bodyPr/>
          <a:lstStyle/>
          <a:p>
            <a:fld id="{AA66B766-5C45-4899-B719-22BA409C4ED8}" type="slidenum">
              <a:rPr lang="en-US" smtClean="0"/>
              <a:t>8</a:t>
            </a:fld>
            <a:endParaRPr lang="en-US"/>
          </a:p>
        </p:txBody>
      </p:sp>
    </p:spTree>
    <p:extLst>
      <p:ext uri="{BB962C8B-B14F-4D97-AF65-F5344CB8AC3E}">
        <p14:creationId xmlns:p14="http://schemas.microsoft.com/office/powerpoint/2010/main" val="33419702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Staci </a:t>
            </a:r>
          </a:p>
        </p:txBody>
      </p:sp>
      <p:sp>
        <p:nvSpPr>
          <p:cNvPr id="4" name="Slide Number Placeholder 3"/>
          <p:cNvSpPr>
            <a:spLocks noGrp="1"/>
          </p:cNvSpPr>
          <p:nvPr>
            <p:ph type="sldNum" sz="quarter" idx="5"/>
          </p:nvPr>
        </p:nvSpPr>
        <p:spPr/>
        <p:txBody>
          <a:bodyPr/>
          <a:lstStyle/>
          <a:p>
            <a:fld id="{AA66B766-5C45-4899-B719-22BA409C4ED8}" type="slidenum">
              <a:rPr lang="en-US" smtClean="0"/>
              <a:t>9</a:t>
            </a:fld>
            <a:endParaRPr lang="en-US"/>
          </a:p>
        </p:txBody>
      </p:sp>
    </p:spTree>
    <p:extLst>
      <p:ext uri="{BB962C8B-B14F-4D97-AF65-F5344CB8AC3E}">
        <p14:creationId xmlns:p14="http://schemas.microsoft.com/office/powerpoint/2010/main" val="3716517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Staci </a:t>
            </a:r>
          </a:p>
          <a:p>
            <a:endParaRPr lang="en-US">
              <a:latin typeface="Calibri"/>
              <a:ea typeface="Calibri"/>
              <a:cs typeface="Calibri"/>
            </a:endParaRPr>
          </a:p>
          <a:p>
            <a:r>
              <a:rPr lang="en-US">
                <a:latin typeface="Calibri"/>
                <a:ea typeface="Calibri"/>
                <a:cs typeface="Calibri"/>
              </a:rPr>
              <a:t>This isn't a form you are filling out, this is a fundamental shift in how we see people, how we talk about people and how we support people. </a:t>
            </a:r>
          </a:p>
        </p:txBody>
      </p:sp>
      <p:sp>
        <p:nvSpPr>
          <p:cNvPr id="4" name="Slide Number Placeholder 3"/>
          <p:cNvSpPr>
            <a:spLocks noGrp="1"/>
          </p:cNvSpPr>
          <p:nvPr>
            <p:ph type="sldNum" sz="quarter" idx="5"/>
          </p:nvPr>
        </p:nvSpPr>
        <p:spPr/>
        <p:txBody>
          <a:bodyPr/>
          <a:lstStyle/>
          <a:p>
            <a:fld id="{AA66B766-5C45-4899-B719-22BA409C4ED8}" type="slidenum">
              <a:rPr lang="en-US" smtClean="0"/>
              <a:t>10</a:t>
            </a:fld>
            <a:endParaRPr lang="en-US"/>
          </a:p>
        </p:txBody>
      </p:sp>
    </p:spTree>
    <p:extLst>
      <p:ext uri="{BB962C8B-B14F-4D97-AF65-F5344CB8AC3E}">
        <p14:creationId xmlns:p14="http://schemas.microsoft.com/office/powerpoint/2010/main" val="14018981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6EB93DE-B61C-486E-B689-254C1C319709}" type="slidenum">
              <a:rPr lang="en-US" smtClean="0"/>
              <a:t>11</a:t>
            </a:fld>
            <a:endParaRPr lang="en-US"/>
          </a:p>
        </p:txBody>
      </p:sp>
    </p:spTree>
    <p:extLst>
      <p:ext uri="{BB962C8B-B14F-4D97-AF65-F5344CB8AC3E}">
        <p14:creationId xmlns:p14="http://schemas.microsoft.com/office/powerpoint/2010/main" val="3570651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Staci </a:t>
            </a:r>
          </a:p>
        </p:txBody>
      </p:sp>
      <p:sp>
        <p:nvSpPr>
          <p:cNvPr id="4" name="Slide Number Placeholder 3"/>
          <p:cNvSpPr>
            <a:spLocks noGrp="1"/>
          </p:cNvSpPr>
          <p:nvPr>
            <p:ph type="sldNum" sz="quarter" idx="5"/>
          </p:nvPr>
        </p:nvSpPr>
        <p:spPr/>
        <p:txBody>
          <a:bodyPr/>
          <a:lstStyle/>
          <a:p>
            <a:fld id="{AA66B766-5C45-4899-B719-22BA409C4ED8}" type="slidenum">
              <a:rPr lang="en-US" smtClean="0"/>
              <a:t>12</a:t>
            </a:fld>
            <a:endParaRPr lang="en-US"/>
          </a:p>
        </p:txBody>
      </p:sp>
    </p:spTree>
    <p:extLst>
      <p:ext uri="{BB962C8B-B14F-4D97-AF65-F5344CB8AC3E}">
        <p14:creationId xmlns:p14="http://schemas.microsoft.com/office/powerpoint/2010/main" val="37780393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Brian</a:t>
            </a:r>
          </a:p>
          <a:p>
            <a:endParaRPr lang="en-US">
              <a:latin typeface="Calibri"/>
              <a:ea typeface="Calibri"/>
              <a:cs typeface="Calibri"/>
            </a:endParaRPr>
          </a:p>
          <a:p>
            <a:pPr marL="171450" indent="-171450">
              <a:buFont typeface="Arial" panose="020B0604020202020204" pitchFamily="34" charset="0"/>
              <a:buChar char="•"/>
            </a:pPr>
            <a:r>
              <a:rPr lang="en-US">
                <a:latin typeface="Calibri"/>
                <a:ea typeface="Calibri"/>
                <a:cs typeface="Calibri"/>
              </a:rPr>
              <a:t>Let’s discuss organizational considerations for delivering Day Support Services in the community and supporting competitive integrated employment </a:t>
            </a:r>
          </a:p>
        </p:txBody>
      </p:sp>
      <p:sp>
        <p:nvSpPr>
          <p:cNvPr id="4" name="Slide Number Placeholder 3"/>
          <p:cNvSpPr>
            <a:spLocks noGrp="1"/>
          </p:cNvSpPr>
          <p:nvPr>
            <p:ph type="sldNum" sz="quarter" idx="5"/>
          </p:nvPr>
        </p:nvSpPr>
        <p:spPr/>
        <p:txBody>
          <a:bodyPr/>
          <a:lstStyle/>
          <a:p>
            <a:fld id="{AA66B766-5C45-4899-B719-22BA409C4ED8}" type="slidenum">
              <a:rPr lang="en-US" smtClean="0"/>
              <a:t>13</a:t>
            </a:fld>
            <a:endParaRPr lang="en-US"/>
          </a:p>
        </p:txBody>
      </p:sp>
    </p:spTree>
    <p:extLst>
      <p:ext uri="{BB962C8B-B14F-4D97-AF65-F5344CB8AC3E}">
        <p14:creationId xmlns:p14="http://schemas.microsoft.com/office/powerpoint/2010/main" val="36447088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AA66B766-5C45-4899-B719-22BA409C4ED8}" type="slidenum">
              <a:rPr lang="en-US" smtClean="0"/>
              <a:t>14</a:t>
            </a:fld>
            <a:endParaRPr lang="en-US"/>
          </a:p>
        </p:txBody>
      </p:sp>
    </p:spTree>
    <p:extLst>
      <p:ext uri="{BB962C8B-B14F-4D97-AF65-F5344CB8AC3E}">
        <p14:creationId xmlns:p14="http://schemas.microsoft.com/office/powerpoint/2010/main" val="3211284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Brian </a:t>
            </a:r>
          </a:p>
        </p:txBody>
      </p:sp>
      <p:sp>
        <p:nvSpPr>
          <p:cNvPr id="4" name="Slide Number Placeholder 3"/>
          <p:cNvSpPr>
            <a:spLocks noGrp="1"/>
          </p:cNvSpPr>
          <p:nvPr>
            <p:ph type="sldNum" sz="quarter" idx="5"/>
          </p:nvPr>
        </p:nvSpPr>
        <p:spPr/>
        <p:txBody>
          <a:bodyPr/>
          <a:lstStyle/>
          <a:p>
            <a:fld id="{AA66B766-5C45-4899-B719-22BA409C4ED8}" type="slidenum">
              <a:rPr lang="en-US" smtClean="0"/>
              <a:t>15</a:t>
            </a:fld>
            <a:endParaRPr lang="en-US"/>
          </a:p>
        </p:txBody>
      </p:sp>
    </p:spTree>
    <p:extLst>
      <p:ext uri="{BB962C8B-B14F-4D97-AF65-F5344CB8AC3E}">
        <p14:creationId xmlns:p14="http://schemas.microsoft.com/office/powerpoint/2010/main" val="1933771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a:t>In summary, there are 31 hours of planned weekly activities. There are 18 hours spent in the workplace, with 16.5 paid work hours in CIE (and 1.5 hours for lunch breaks). Of this total, only six hours of direct staff time were determined to be needed. Also, there are 12 hours of CLE scheduled each week (four hours at the YMCA, two hours for lunch with friends, two hours for library visits, two hours for league bowling, and two hours for church service and choir). Of this total, only five hours of CLE direct support time is planned. Finally, there is a one-hour medical appointment where paid residential support is scheduled to help.</a:t>
            </a:r>
          </a:p>
          <a:p>
            <a:pPr algn="just"/>
            <a:endParaRPr lang="en-US"/>
          </a:p>
          <a:p>
            <a:pPr algn="just"/>
            <a:r>
              <a:rPr lang="en-US"/>
              <a:t>Fifty-five percent of the total hours of support this individual receives in CIE and CLE is provided through natural means. This is a total of 17 hours, including ten hours a week in CIE and seven hours a week in CLE activities. The residential provider will provide one hour of paid staff support.</a:t>
            </a:r>
          </a:p>
          <a:p>
            <a:r>
              <a:rPr lang="en-US"/>
              <a:t>So, in this particular service construct, 31 hours are being spent by this individual in inclusive work and non-work community settings. Seventeen of these hours are supported naturally, one hour through a paid caregiver by the residential provider, and 11 hours of direct staff support will be delivered by the organization to support CIE and CLE outcomes on the schedule</a:t>
            </a:r>
          </a:p>
        </p:txBody>
      </p:sp>
      <p:sp>
        <p:nvSpPr>
          <p:cNvPr id="4" name="Slide Number Placeholder 3"/>
          <p:cNvSpPr>
            <a:spLocks noGrp="1"/>
          </p:cNvSpPr>
          <p:nvPr>
            <p:ph type="sldNum" sz="quarter" idx="5"/>
          </p:nvPr>
        </p:nvSpPr>
        <p:spPr/>
        <p:txBody>
          <a:bodyPr/>
          <a:lstStyle/>
          <a:p>
            <a:fld id="{BCAAF368-D438-4A4D-BF43-DAFD8D9047E6}" type="slidenum">
              <a:rPr lang="en-US" smtClean="0"/>
              <a:t>16</a:t>
            </a:fld>
            <a:endParaRPr lang="en-US"/>
          </a:p>
        </p:txBody>
      </p:sp>
    </p:spTree>
    <p:extLst>
      <p:ext uri="{BB962C8B-B14F-4D97-AF65-F5344CB8AC3E}">
        <p14:creationId xmlns:p14="http://schemas.microsoft.com/office/powerpoint/2010/main" val="36640405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cs typeface="Calibri"/>
            </a:endParaRPr>
          </a:p>
          <a:p>
            <a:endParaRPr lang="en-US">
              <a:latin typeface="Calibri"/>
              <a:cs typeface="Calibri"/>
            </a:endParaRPr>
          </a:p>
        </p:txBody>
      </p:sp>
      <p:sp>
        <p:nvSpPr>
          <p:cNvPr id="4" name="Slide Number Placeholder 3"/>
          <p:cNvSpPr>
            <a:spLocks noGrp="1"/>
          </p:cNvSpPr>
          <p:nvPr>
            <p:ph type="sldNum" sz="quarter" idx="5"/>
          </p:nvPr>
        </p:nvSpPr>
        <p:spPr/>
        <p:txBody>
          <a:bodyPr/>
          <a:lstStyle/>
          <a:p>
            <a:fld id="{BCAAF368-D438-4A4D-BF43-DAFD8D9047E6}" type="slidenum">
              <a:rPr lang="en-US" smtClean="0"/>
              <a:t>18</a:t>
            </a:fld>
            <a:endParaRPr lang="en-US"/>
          </a:p>
        </p:txBody>
      </p:sp>
    </p:spTree>
    <p:extLst>
      <p:ext uri="{BB962C8B-B14F-4D97-AF65-F5344CB8AC3E}">
        <p14:creationId xmlns:p14="http://schemas.microsoft.com/office/powerpoint/2010/main" val="4066921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0005F-4C3B-5905-B180-B70F0150CD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1E1D94-6237-A864-8213-10B3DB5BDB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C04F62-5184-3AC0-CA12-7B03CE2634CB}"/>
              </a:ext>
            </a:extLst>
          </p:cNvPr>
          <p:cNvSpPr>
            <a:spLocks noGrp="1"/>
          </p:cNvSpPr>
          <p:nvPr>
            <p:ph type="dt" sz="half" idx="10"/>
          </p:nvPr>
        </p:nvSpPr>
        <p:spPr/>
        <p:txBody>
          <a:bodyPr/>
          <a:lstStyle/>
          <a:p>
            <a:fld id="{7D75AB56-B571-4F46-9746-CDB97AD687CF}" type="datetimeFigureOut">
              <a:rPr lang="en-US" smtClean="0"/>
              <a:t>1/10/2025</a:t>
            </a:fld>
            <a:endParaRPr lang="en-US"/>
          </a:p>
        </p:txBody>
      </p:sp>
      <p:sp>
        <p:nvSpPr>
          <p:cNvPr id="5" name="Footer Placeholder 4">
            <a:extLst>
              <a:ext uri="{FF2B5EF4-FFF2-40B4-BE49-F238E27FC236}">
                <a16:creationId xmlns:a16="http://schemas.microsoft.com/office/drawing/2014/main" id="{F89F93F0-6689-D028-D042-9DA3606EE5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80FA83-9124-F011-8303-F7DDEBA9E3C0}"/>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2704263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05F73-8822-D212-9FAC-4E2E3EC2E0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5CFEC-CCA2-BDC3-AC74-A0C2786401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4C55BF-6F77-531D-7179-9927DE7D1A8F}"/>
              </a:ext>
            </a:extLst>
          </p:cNvPr>
          <p:cNvSpPr>
            <a:spLocks noGrp="1"/>
          </p:cNvSpPr>
          <p:nvPr>
            <p:ph type="dt" sz="half" idx="10"/>
          </p:nvPr>
        </p:nvSpPr>
        <p:spPr/>
        <p:txBody>
          <a:bodyPr/>
          <a:lstStyle/>
          <a:p>
            <a:fld id="{7D75AB56-B571-4F46-9746-CDB97AD687CF}" type="datetimeFigureOut">
              <a:rPr lang="en-US" smtClean="0"/>
              <a:t>1/10/2025</a:t>
            </a:fld>
            <a:endParaRPr lang="en-US"/>
          </a:p>
        </p:txBody>
      </p:sp>
      <p:sp>
        <p:nvSpPr>
          <p:cNvPr id="5" name="Footer Placeholder 4">
            <a:extLst>
              <a:ext uri="{FF2B5EF4-FFF2-40B4-BE49-F238E27FC236}">
                <a16:creationId xmlns:a16="http://schemas.microsoft.com/office/drawing/2014/main" id="{BF6EC19E-D165-3F10-F77B-51EE57BB79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C4C12D-F41E-0720-1C1C-4832915DD6AD}"/>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1856512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ADBBE-3057-62D9-5468-5C5FEC2986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1C8F6F-04DA-8E67-9DEE-9997AB1BF1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8AFD9E-407B-8142-5256-44C8BDD45B7B}"/>
              </a:ext>
            </a:extLst>
          </p:cNvPr>
          <p:cNvSpPr>
            <a:spLocks noGrp="1"/>
          </p:cNvSpPr>
          <p:nvPr>
            <p:ph type="dt" sz="half" idx="10"/>
          </p:nvPr>
        </p:nvSpPr>
        <p:spPr/>
        <p:txBody>
          <a:bodyPr/>
          <a:lstStyle/>
          <a:p>
            <a:fld id="{7D75AB56-B571-4F46-9746-CDB97AD687CF}" type="datetimeFigureOut">
              <a:rPr lang="en-US" smtClean="0"/>
              <a:t>1/10/2025</a:t>
            </a:fld>
            <a:endParaRPr lang="en-US"/>
          </a:p>
        </p:txBody>
      </p:sp>
      <p:sp>
        <p:nvSpPr>
          <p:cNvPr id="5" name="Footer Placeholder 4">
            <a:extLst>
              <a:ext uri="{FF2B5EF4-FFF2-40B4-BE49-F238E27FC236}">
                <a16:creationId xmlns:a16="http://schemas.microsoft.com/office/drawing/2014/main" id="{6D412533-CB11-B375-9013-BCCE48A93F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E7B17D-0282-F0F3-1A94-0F8BE77443FD}"/>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316649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4CADA-E43B-41A7-490A-89E2B5E8A0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7168FA-EE7E-C962-DF08-7FF6B39194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83C7A8-CBB3-8CC4-BC10-6A66178DB3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688825-C272-8015-8F32-69095B8DBA20}"/>
              </a:ext>
            </a:extLst>
          </p:cNvPr>
          <p:cNvSpPr>
            <a:spLocks noGrp="1"/>
          </p:cNvSpPr>
          <p:nvPr>
            <p:ph type="dt" sz="half" idx="10"/>
          </p:nvPr>
        </p:nvSpPr>
        <p:spPr/>
        <p:txBody>
          <a:bodyPr/>
          <a:lstStyle/>
          <a:p>
            <a:fld id="{7D75AB56-B571-4F46-9746-CDB97AD687CF}" type="datetimeFigureOut">
              <a:rPr lang="en-US" smtClean="0"/>
              <a:t>1/10/2025</a:t>
            </a:fld>
            <a:endParaRPr lang="en-US"/>
          </a:p>
        </p:txBody>
      </p:sp>
      <p:sp>
        <p:nvSpPr>
          <p:cNvPr id="6" name="Footer Placeholder 5">
            <a:extLst>
              <a:ext uri="{FF2B5EF4-FFF2-40B4-BE49-F238E27FC236}">
                <a16:creationId xmlns:a16="http://schemas.microsoft.com/office/drawing/2014/main" id="{C6D3023F-CC1A-EAD4-577E-6AD38934C7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CACC4A-7639-1B88-82CC-34E6DE1BB8F8}"/>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49248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B0328-42A0-9A25-A191-D83CDC58D4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CF60B9-0CEA-18F1-C7BB-87779CF450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467D07-9BEC-73C8-5052-A6CE9672CA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FDD203-64AC-4DE4-B03F-570ABF8601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15B25E-785E-5861-5099-37EF32BC74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9F4F89-D352-C143-47F5-4CD9DDC8C378}"/>
              </a:ext>
            </a:extLst>
          </p:cNvPr>
          <p:cNvSpPr>
            <a:spLocks noGrp="1"/>
          </p:cNvSpPr>
          <p:nvPr>
            <p:ph type="dt" sz="half" idx="10"/>
          </p:nvPr>
        </p:nvSpPr>
        <p:spPr/>
        <p:txBody>
          <a:bodyPr/>
          <a:lstStyle/>
          <a:p>
            <a:fld id="{7D75AB56-B571-4F46-9746-CDB97AD687CF}" type="datetimeFigureOut">
              <a:rPr lang="en-US" smtClean="0"/>
              <a:t>1/10/2025</a:t>
            </a:fld>
            <a:endParaRPr lang="en-US"/>
          </a:p>
        </p:txBody>
      </p:sp>
      <p:sp>
        <p:nvSpPr>
          <p:cNvPr id="8" name="Footer Placeholder 7">
            <a:extLst>
              <a:ext uri="{FF2B5EF4-FFF2-40B4-BE49-F238E27FC236}">
                <a16:creationId xmlns:a16="http://schemas.microsoft.com/office/drawing/2014/main" id="{78153005-28F0-D7DC-2D5D-84ADCFB3DD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BE854F-587F-8B22-B695-E2641C4299FC}"/>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1665264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AC325-8527-2A05-77DC-4EE6A49041D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AD8963-9430-E4ED-DCB3-23AB2B9EC351}"/>
              </a:ext>
            </a:extLst>
          </p:cNvPr>
          <p:cNvSpPr>
            <a:spLocks noGrp="1"/>
          </p:cNvSpPr>
          <p:nvPr>
            <p:ph type="dt" sz="half" idx="10"/>
          </p:nvPr>
        </p:nvSpPr>
        <p:spPr/>
        <p:txBody>
          <a:bodyPr/>
          <a:lstStyle/>
          <a:p>
            <a:fld id="{7D75AB56-B571-4F46-9746-CDB97AD687CF}" type="datetimeFigureOut">
              <a:rPr lang="en-US" smtClean="0"/>
              <a:t>1/10/2025</a:t>
            </a:fld>
            <a:endParaRPr lang="en-US"/>
          </a:p>
        </p:txBody>
      </p:sp>
      <p:sp>
        <p:nvSpPr>
          <p:cNvPr id="4" name="Footer Placeholder 3">
            <a:extLst>
              <a:ext uri="{FF2B5EF4-FFF2-40B4-BE49-F238E27FC236}">
                <a16:creationId xmlns:a16="http://schemas.microsoft.com/office/drawing/2014/main" id="{6F573088-8074-2FB1-CC06-60A5BA039E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D42922-27D5-4804-2D55-37C6D8CC6EBE}"/>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2518583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15B727-71F9-4DE0-06F5-5EAE801DC6CE}"/>
              </a:ext>
            </a:extLst>
          </p:cNvPr>
          <p:cNvSpPr>
            <a:spLocks noGrp="1"/>
          </p:cNvSpPr>
          <p:nvPr>
            <p:ph type="dt" sz="half" idx="10"/>
          </p:nvPr>
        </p:nvSpPr>
        <p:spPr/>
        <p:txBody>
          <a:bodyPr/>
          <a:lstStyle/>
          <a:p>
            <a:fld id="{7D75AB56-B571-4F46-9746-CDB97AD687CF}" type="datetimeFigureOut">
              <a:rPr lang="en-US" smtClean="0"/>
              <a:t>1/10/2025</a:t>
            </a:fld>
            <a:endParaRPr lang="en-US"/>
          </a:p>
        </p:txBody>
      </p:sp>
      <p:sp>
        <p:nvSpPr>
          <p:cNvPr id="3" name="Footer Placeholder 2">
            <a:extLst>
              <a:ext uri="{FF2B5EF4-FFF2-40B4-BE49-F238E27FC236}">
                <a16:creationId xmlns:a16="http://schemas.microsoft.com/office/drawing/2014/main" id="{1F489964-5E54-FF4A-3A31-D15D69534B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CAF50E-B11E-7644-66CC-9EAA2BFDAFC4}"/>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2348665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C629-514A-565C-5F55-B6949C1F01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5C2344-428F-BAD2-BEEA-FA1FD99F3E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412A9D-BE49-DAE8-7421-2439294592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9B524A-66CA-B2FA-2757-F5CE26C4415E}"/>
              </a:ext>
            </a:extLst>
          </p:cNvPr>
          <p:cNvSpPr>
            <a:spLocks noGrp="1"/>
          </p:cNvSpPr>
          <p:nvPr>
            <p:ph type="dt" sz="half" idx="10"/>
          </p:nvPr>
        </p:nvSpPr>
        <p:spPr/>
        <p:txBody>
          <a:bodyPr/>
          <a:lstStyle/>
          <a:p>
            <a:fld id="{7D75AB56-B571-4F46-9746-CDB97AD687CF}" type="datetimeFigureOut">
              <a:rPr lang="en-US" smtClean="0"/>
              <a:t>1/10/2025</a:t>
            </a:fld>
            <a:endParaRPr lang="en-US"/>
          </a:p>
        </p:txBody>
      </p:sp>
      <p:sp>
        <p:nvSpPr>
          <p:cNvPr id="6" name="Footer Placeholder 5">
            <a:extLst>
              <a:ext uri="{FF2B5EF4-FFF2-40B4-BE49-F238E27FC236}">
                <a16:creationId xmlns:a16="http://schemas.microsoft.com/office/drawing/2014/main" id="{EE50375B-CE2E-E89D-7177-312E515FAD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99FDB6-5EFA-DC56-1F98-B78E24927D57}"/>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160938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A215F-FD0B-4A54-9AEA-A929C66182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67BC57-267E-2E68-0F7E-82363F1219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FA9F97-36EA-0D25-A7C7-B3F72B542F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AE340C-AD46-6CD2-6D5C-753F70FB10F5}"/>
              </a:ext>
            </a:extLst>
          </p:cNvPr>
          <p:cNvSpPr>
            <a:spLocks noGrp="1"/>
          </p:cNvSpPr>
          <p:nvPr>
            <p:ph type="dt" sz="half" idx="10"/>
          </p:nvPr>
        </p:nvSpPr>
        <p:spPr/>
        <p:txBody>
          <a:bodyPr/>
          <a:lstStyle/>
          <a:p>
            <a:fld id="{7D75AB56-B571-4F46-9746-CDB97AD687CF}" type="datetimeFigureOut">
              <a:rPr lang="en-US" smtClean="0"/>
              <a:t>1/10/2025</a:t>
            </a:fld>
            <a:endParaRPr lang="en-US"/>
          </a:p>
        </p:txBody>
      </p:sp>
      <p:sp>
        <p:nvSpPr>
          <p:cNvPr id="6" name="Footer Placeholder 5">
            <a:extLst>
              <a:ext uri="{FF2B5EF4-FFF2-40B4-BE49-F238E27FC236}">
                <a16:creationId xmlns:a16="http://schemas.microsoft.com/office/drawing/2014/main" id="{46DBF56B-66F6-E01E-E05A-63708288F4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327FB1-945F-0A0C-9EEB-CF6730A71608}"/>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2137211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DD079-FEE5-F801-069F-8922807211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C7A0B7-C54D-2D0E-1602-576427A9C6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BFDE93-DDBC-2601-9C57-2FB66C680671}"/>
              </a:ext>
            </a:extLst>
          </p:cNvPr>
          <p:cNvSpPr>
            <a:spLocks noGrp="1"/>
          </p:cNvSpPr>
          <p:nvPr>
            <p:ph type="dt" sz="half" idx="10"/>
          </p:nvPr>
        </p:nvSpPr>
        <p:spPr/>
        <p:txBody>
          <a:bodyPr/>
          <a:lstStyle/>
          <a:p>
            <a:fld id="{7D75AB56-B571-4F46-9746-CDB97AD687CF}" type="datetimeFigureOut">
              <a:rPr lang="en-US" smtClean="0"/>
              <a:t>1/10/2025</a:t>
            </a:fld>
            <a:endParaRPr lang="en-US"/>
          </a:p>
        </p:txBody>
      </p:sp>
      <p:sp>
        <p:nvSpPr>
          <p:cNvPr id="5" name="Footer Placeholder 4">
            <a:extLst>
              <a:ext uri="{FF2B5EF4-FFF2-40B4-BE49-F238E27FC236}">
                <a16:creationId xmlns:a16="http://schemas.microsoft.com/office/drawing/2014/main" id="{519824E7-0526-46E8-024D-8F3EB26D08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D7F5F4-4B5B-B749-067F-B96CAD180581}"/>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3535636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5FFB0E-1195-E85F-C262-49700BF7A0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670C3C-81FC-00BE-BEDE-91CA72274F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080C34-7AAA-8A66-BB83-4EB45F551F7A}"/>
              </a:ext>
            </a:extLst>
          </p:cNvPr>
          <p:cNvSpPr>
            <a:spLocks noGrp="1"/>
          </p:cNvSpPr>
          <p:nvPr>
            <p:ph type="dt" sz="half" idx="10"/>
          </p:nvPr>
        </p:nvSpPr>
        <p:spPr/>
        <p:txBody>
          <a:bodyPr/>
          <a:lstStyle/>
          <a:p>
            <a:fld id="{7D75AB56-B571-4F46-9746-CDB97AD687CF}" type="datetimeFigureOut">
              <a:rPr lang="en-US" smtClean="0"/>
              <a:t>1/10/2025</a:t>
            </a:fld>
            <a:endParaRPr lang="en-US"/>
          </a:p>
        </p:txBody>
      </p:sp>
      <p:sp>
        <p:nvSpPr>
          <p:cNvPr id="5" name="Footer Placeholder 4">
            <a:extLst>
              <a:ext uri="{FF2B5EF4-FFF2-40B4-BE49-F238E27FC236}">
                <a16:creationId xmlns:a16="http://schemas.microsoft.com/office/drawing/2014/main" id="{65F5AE7B-8E8B-BB25-11F0-F65491DA85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8240EB-6296-5E1C-EEDA-F119CCF15946}"/>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14430906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73959" y="1923714"/>
            <a:ext cx="5416973" cy="2236047"/>
          </a:xfrm>
          <a:custGeom>
            <a:avLst/>
            <a:gdLst/>
            <a:ahLst/>
            <a:cxnLst/>
            <a:rect l="l" t="t" r="r" b="b"/>
            <a:pathLst>
              <a:path w="8125459" h="3354070">
                <a:moveTo>
                  <a:pt x="7643133" y="3353592"/>
                </a:moveTo>
                <a:lnTo>
                  <a:pt x="485774" y="3353592"/>
                </a:lnTo>
                <a:lnTo>
                  <a:pt x="437761" y="3351215"/>
                </a:lnTo>
                <a:lnTo>
                  <a:pt x="390562" y="3344172"/>
                </a:lnTo>
                <a:lnTo>
                  <a:pt x="344494" y="3332595"/>
                </a:lnTo>
                <a:lnTo>
                  <a:pt x="299876" y="3316616"/>
                </a:lnTo>
                <a:lnTo>
                  <a:pt x="257027" y="3296366"/>
                </a:lnTo>
                <a:lnTo>
                  <a:pt x="216266" y="3271977"/>
                </a:lnTo>
                <a:lnTo>
                  <a:pt x="177911" y="3243582"/>
                </a:lnTo>
                <a:lnTo>
                  <a:pt x="142280" y="3211311"/>
                </a:lnTo>
                <a:lnTo>
                  <a:pt x="110010" y="3175688"/>
                </a:lnTo>
                <a:lnTo>
                  <a:pt x="81615" y="3137339"/>
                </a:lnTo>
                <a:lnTo>
                  <a:pt x="57227" y="3096581"/>
                </a:lnTo>
                <a:lnTo>
                  <a:pt x="36977" y="3053733"/>
                </a:lnTo>
                <a:lnTo>
                  <a:pt x="20997" y="3009116"/>
                </a:lnTo>
                <a:lnTo>
                  <a:pt x="9420" y="2963047"/>
                </a:lnTo>
                <a:lnTo>
                  <a:pt x="2377" y="2915846"/>
                </a:lnTo>
                <a:lnTo>
                  <a:pt x="0" y="2867832"/>
                </a:lnTo>
                <a:lnTo>
                  <a:pt x="0" y="485759"/>
                </a:lnTo>
                <a:lnTo>
                  <a:pt x="2377" y="437755"/>
                </a:lnTo>
                <a:lnTo>
                  <a:pt x="9420" y="390561"/>
                </a:lnTo>
                <a:lnTo>
                  <a:pt x="20997" y="344497"/>
                </a:lnTo>
                <a:lnTo>
                  <a:pt x="36977" y="299881"/>
                </a:lnTo>
                <a:lnTo>
                  <a:pt x="57227" y="257032"/>
                </a:lnTo>
                <a:lnTo>
                  <a:pt x="81615" y="216270"/>
                </a:lnTo>
                <a:lnTo>
                  <a:pt x="110010" y="177913"/>
                </a:lnTo>
                <a:lnTo>
                  <a:pt x="142280" y="142280"/>
                </a:lnTo>
                <a:lnTo>
                  <a:pt x="177911" y="110010"/>
                </a:lnTo>
                <a:lnTo>
                  <a:pt x="216266" y="81615"/>
                </a:lnTo>
                <a:lnTo>
                  <a:pt x="257027" y="57227"/>
                </a:lnTo>
                <a:lnTo>
                  <a:pt x="299876" y="36977"/>
                </a:lnTo>
                <a:lnTo>
                  <a:pt x="344494" y="20997"/>
                </a:lnTo>
                <a:lnTo>
                  <a:pt x="390562" y="9420"/>
                </a:lnTo>
                <a:lnTo>
                  <a:pt x="437761" y="2377"/>
                </a:lnTo>
                <a:lnTo>
                  <a:pt x="485774" y="0"/>
                </a:lnTo>
                <a:lnTo>
                  <a:pt x="7643133" y="0"/>
                </a:lnTo>
                <a:lnTo>
                  <a:pt x="7691148" y="2377"/>
                </a:lnTo>
                <a:lnTo>
                  <a:pt x="7738349" y="9420"/>
                </a:lnTo>
                <a:lnTo>
                  <a:pt x="7784419" y="20997"/>
                </a:lnTo>
                <a:lnTo>
                  <a:pt x="7829039" y="36977"/>
                </a:lnTo>
                <a:lnTo>
                  <a:pt x="7871889" y="57227"/>
                </a:lnTo>
                <a:lnTo>
                  <a:pt x="7912653" y="81615"/>
                </a:lnTo>
                <a:lnTo>
                  <a:pt x="7951010" y="110010"/>
                </a:lnTo>
                <a:lnTo>
                  <a:pt x="7986643" y="142280"/>
                </a:lnTo>
                <a:lnTo>
                  <a:pt x="8018914" y="177913"/>
                </a:lnTo>
                <a:lnTo>
                  <a:pt x="8047309" y="216270"/>
                </a:lnTo>
                <a:lnTo>
                  <a:pt x="8071698" y="257032"/>
                </a:lnTo>
                <a:lnTo>
                  <a:pt x="8091948" y="299881"/>
                </a:lnTo>
                <a:lnTo>
                  <a:pt x="8107927" y="344497"/>
                </a:lnTo>
                <a:lnTo>
                  <a:pt x="8119504" y="390561"/>
                </a:lnTo>
                <a:lnTo>
                  <a:pt x="8125251" y="429071"/>
                </a:lnTo>
                <a:lnTo>
                  <a:pt x="8125251" y="2924531"/>
                </a:lnTo>
                <a:lnTo>
                  <a:pt x="8119504" y="2963047"/>
                </a:lnTo>
                <a:lnTo>
                  <a:pt x="8107927" y="3009116"/>
                </a:lnTo>
                <a:lnTo>
                  <a:pt x="8091948" y="3053733"/>
                </a:lnTo>
                <a:lnTo>
                  <a:pt x="8071698" y="3096581"/>
                </a:lnTo>
                <a:lnTo>
                  <a:pt x="8047309" y="3137339"/>
                </a:lnTo>
                <a:lnTo>
                  <a:pt x="8018914" y="3175688"/>
                </a:lnTo>
                <a:lnTo>
                  <a:pt x="7986643" y="3211311"/>
                </a:lnTo>
                <a:lnTo>
                  <a:pt x="7951010" y="3243582"/>
                </a:lnTo>
                <a:lnTo>
                  <a:pt x="7912653" y="3271977"/>
                </a:lnTo>
                <a:lnTo>
                  <a:pt x="7871889" y="3296366"/>
                </a:lnTo>
                <a:lnTo>
                  <a:pt x="7829039" y="3316616"/>
                </a:lnTo>
                <a:lnTo>
                  <a:pt x="7784419" y="3332595"/>
                </a:lnTo>
                <a:lnTo>
                  <a:pt x="7738349" y="3344172"/>
                </a:lnTo>
                <a:lnTo>
                  <a:pt x="7691148" y="3351215"/>
                </a:lnTo>
                <a:lnTo>
                  <a:pt x="7643133" y="3353592"/>
                </a:lnTo>
                <a:close/>
              </a:path>
            </a:pathLst>
          </a:custGeom>
          <a:solidFill>
            <a:srgbClr val="E97025"/>
          </a:solidFill>
        </p:spPr>
        <p:txBody>
          <a:bodyPr wrap="square" lIns="0" tIns="0" rIns="0" bIns="0" rtlCol="0"/>
          <a:lstStyle/>
          <a:p>
            <a:endParaRPr sz="1200"/>
          </a:p>
        </p:txBody>
      </p:sp>
      <p:sp>
        <p:nvSpPr>
          <p:cNvPr id="17" name="bg object 17"/>
          <p:cNvSpPr/>
          <p:nvPr/>
        </p:nvSpPr>
        <p:spPr>
          <a:xfrm>
            <a:off x="5666797" y="1923715"/>
            <a:ext cx="323850" cy="2229273"/>
          </a:xfrm>
          <a:custGeom>
            <a:avLst/>
            <a:gdLst/>
            <a:ahLst/>
            <a:cxnLst/>
            <a:rect l="l" t="t" r="r" b="b"/>
            <a:pathLst>
              <a:path w="485775" h="3343910">
                <a:moveTo>
                  <a:pt x="0" y="0"/>
                </a:moveTo>
                <a:lnTo>
                  <a:pt x="47980" y="2376"/>
                </a:lnTo>
                <a:lnTo>
                  <a:pt x="95153" y="9417"/>
                </a:lnTo>
                <a:lnTo>
                  <a:pt x="141196" y="20992"/>
                </a:lnTo>
                <a:lnTo>
                  <a:pt x="185790" y="36968"/>
                </a:lnTo>
                <a:lnTo>
                  <a:pt x="228617" y="57213"/>
                </a:lnTo>
                <a:lnTo>
                  <a:pt x="269357" y="81596"/>
                </a:lnTo>
                <a:lnTo>
                  <a:pt x="307692" y="109984"/>
                </a:lnTo>
                <a:lnTo>
                  <a:pt x="343304" y="142246"/>
                </a:lnTo>
                <a:lnTo>
                  <a:pt x="375560" y="177868"/>
                </a:lnTo>
                <a:lnTo>
                  <a:pt x="403942" y="216214"/>
                </a:lnTo>
                <a:lnTo>
                  <a:pt x="428319" y="256966"/>
                </a:lnTo>
                <a:lnTo>
                  <a:pt x="448559" y="299804"/>
                </a:lnTo>
                <a:lnTo>
                  <a:pt x="464531" y="344411"/>
                </a:lnTo>
                <a:lnTo>
                  <a:pt x="476103" y="390468"/>
                </a:lnTo>
                <a:lnTo>
                  <a:pt x="483143" y="437656"/>
                </a:lnTo>
                <a:lnTo>
                  <a:pt x="485518" y="485657"/>
                </a:lnTo>
                <a:lnTo>
                  <a:pt x="485518" y="2867144"/>
                </a:lnTo>
                <a:lnTo>
                  <a:pt x="483143" y="2915146"/>
                </a:lnTo>
                <a:lnTo>
                  <a:pt x="476103" y="2962335"/>
                </a:lnTo>
                <a:lnTo>
                  <a:pt x="464531" y="3008392"/>
                </a:lnTo>
                <a:lnTo>
                  <a:pt x="448559" y="3053000"/>
                </a:lnTo>
                <a:lnTo>
                  <a:pt x="428319" y="3095838"/>
                </a:lnTo>
                <a:lnTo>
                  <a:pt x="403942" y="3136590"/>
                </a:lnTo>
                <a:lnTo>
                  <a:pt x="375560" y="3174936"/>
                </a:lnTo>
                <a:lnTo>
                  <a:pt x="343304" y="3210558"/>
                </a:lnTo>
                <a:lnTo>
                  <a:pt x="307692" y="3242819"/>
                </a:lnTo>
                <a:lnTo>
                  <a:pt x="269357" y="3271207"/>
                </a:lnTo>
                <a:lnTo>
                  <a:pt x="228618" y="3295588"/>
                </a:lnTo>
              </a:path>
              <a:path w="485775" h="3343910">
                <a:moveTo>
                  <a:pt x="222903" y="3298290"/>
                </a:moveTo>
                <a:lnTo>
                  <a:pt x="185796" y="3315831"/>
                </a:lnTo>
              </a:path>
              <a:path w="485775" h="3343910">
                <a:moveTo>
                  <a:pt x="168977" y="3321857"/>
                </a:moveTo>
                <a:lnTo>
                  <a:pt x="141204" y="3331807"/>
                </a:lnTo>
              </a:path>
              <a:path w="485775" h="3343910">
                <a:moveTo>
                  <a:pt x="113126" y="3338866"/>
                </a:moveTo>
                <a:lnTo>
                  <a:pt x="95166" y="3343381"/>
                </a:lnTo>
              </a:path>
            </a:pathLst>
          </a:custGeom>
          <a:ln w="76172">
            <a:solidFill>
              <a:srgbClr val="000000"/>
            </a:solidFill>
          </a:ln>
        </p:spPr>
        <p:txBody>
          <a:bodyPr wrap="square" lIns="0" tIns="0" rIns="0" bIns="0" rtlCol="0"/>
          <a:lstStyle/>
          <a:p>
            <a:endParaRPr sz="1200"/>
          </a:p>
        </p:txBody>
      </p:sp>
      <p:sp>
        <p:nvSpPr>
          <p:cNvPr id="18" name="bg object 18"/>
          <p:cNvSpPr/>
          <p:nvPr/>
        </p:nvSpPr>
        <p:spPr>
          <a:xfrm>
            <a:off x="6143142" y="1923714"/>
            <a:ext cx="5426710" cy="2236047"/>
          </a:xfrm>
          <a:custGeom>
            <a:avLst/>
            <a:gdLst/>
            <a:ahLst/>
            <a:cxnLst/>
            <a:rect l="l" t="t" r="r" b="b"/>
            <a:pathLst>
              <a:path w="8140065" h="3354070">
                <a:moveTo>
                  <a:pt x="7657124" y="3353592"/>
                </a:moveTo>
                <a:lnTo>
                  <a:pt x="485790" y="3353592"/>
                </a:lnTo>
                <a:lnTo>
                  <a:pt x="437775" y="3351215"/>
                </a:lnTo>
                <a:lnTo>
                  <a:pt x="390574" y="3344172"/>
                </a:lnTo>
                <a:lnTo>
                  <a:pt x="344504" y="3332595"/>
                </a:lnTo>
                <a:lnTo>
                  <a:pt x="299884" y="3316616"/>
                </a:lnTo>
                <a:lnTo>
                  <a:pt x="257034" y="3296366"/>
                </a:lnTo>
                <a:lnTo>
                  <a:pt x="216270" y="3271977"/>
                </a:lnTo>
                <a:lnTo>
                  <a:pt x="177913" y="3243582"/>
                </a:lnTo>
                <a:lnTo>
                  <a:pt x="142280" y="3211311"/>
                </a:lnTo>
                <a:lnTo>
                  <a:pt x="110009" y="3175688"/>
                </a:lnTo>
                <a:lnTo>
                  <a:pt x="81614" y="3137339"/>
                </a:lnTo>
                <a:lnTo>
                  <a:pt x="57225" y="3096581"/>
                </a:lnTo>
                <a:lnTo>
                  <a:pt x="36975" y="3053733"/>
                </a:lnTo>
                <a:lnTo>
                  <a:pt x="20996" y="3009116"/>
                </a:lnTo>
                <a:lnTo>
                  <a:pt x="9419" y="2963047"/>
                </a:lnTo>
                <a:lnTo>
                  <a:pt x="2376" y="2915846"/>
                </a:lnTo>
                <a:lnTo>
                  <a:pt x="0" y="2867836"/>
                </a:lnTo>
                <a:lnTo>
                  <a:pt x="0" y="485756"/>
                </a:lnTo>
                <a:lnTo>
                  <a:pt x="2376" y="437755"/>
                </a:lnTo>
                <a:lnTo>
                  <a:pt x="9419" y="390561"/>
                </a:lnTo>
                <a:lnTo>
                  <a:pt x="20996" y="344497"/>
                </a:lnTo>
                <a:lnTo>
                  <a:pt x="36975" y="299881"/>
                </a:lnTo>
                <a:lnTo>
                  <a:pt x="57225" y="257032"/>
                </a:lnTo>
                <a:lnTo>
                  <a:pt x="81614" y="216270"/>
                </a:lnTo>
                <a:lnTo>
                  <a:pt x="110009" y="177913"/>
                </a:lnTo>
                <a:lnTo>
                  <a:pt x="142280" y="142280"/>
                </a:lnTo>
                <a:lnTo>
                  <a:pt x="177913" y="110010"/>
                </a:lnTo>
                <a:lnTo>
                  <a:pt x="216270" y="81615"/>
                </a:lnTo>
                <a:lnTo>
                  <a:pt x="257034" y="57227"/>
                </a:lnTo>
                <a:lnTo>
                  <a:pt x="299884" y="36977"/>
                </a:lnTo>
                <a:lnTo>
                  <a:pt x="344504" y="20997"/>
                </a:lnTo>
                <a:lnTo>
                  <a:pt x="390574" y="9420"/>
                </a:lnTo>
                <a:lnTo>
                  <a:pt x="437775" y="2377"/>
                </a:lnTo>
                <a:lnTo>
                  <a:pt x="485790" y="0"/>
                </a:lnTo>
                <a:lnTo>
                  <a:pt x="7657124" y="0"/>
                </a:lnTo>
                <a:lnTo>
                  <a:pt x="7705138" y="2377"/>
                </a:lnTo>
                <a:lnTo>
                  <a:pt x="7752339" y="9420"/>
                </a:lnTo>
                <a:lnTo>
                  <a:pt x="7798409" y="20997"/>
                </a:lnTo>
                <a:lnTo>
                  <a:pt x="7843029" y="36977"/>
                </a:lnTo>
                <a:lnTo>
                  <a:pt x="7885880" y="57227"/>
                </a:lnTo>
                <a:lnTo>
                  <a:pt x="7926643" y="81615"/>
                </a:lnTo>
                <a:lnTo>
                  <a:pt x="7965000" y="110010"/>
                </a:lnTo>
                <a:lnTo>
                  <a:pt x="8000633" y="142280"/>
                </a:lnTo>
                <a:lnTo>
                  <a:pt x="8032904" y="177913"/>
                </a:lnTo>
                <a:lnTo>
                  <a:pt x="8061299" y="216270"/>
                </a:lnTo>
                <a:lnTo>
                  <a:pt x="8085688" y="257032"/>
                </a:lnTo>
                <a:lnTo>
                  <a:pt x="8105938" y="299881"/>
                </a:lnTo>
                <a:lnTo>
                  <a:pt x="8121917" y="344497"/>
                </a:lnTo>
                <a:lnTo>
                  <a:pt x="8133494" y="390561"/>
                </a:lnTo>
                <a:lnTo>
                  <a:pt x="8140065" y="434589"/>
                </a:lnTo>
                <a:lnTo>
                  <a:pt x="8140065" y="2919013"/>
                </a:lnTo>
                <a:lnTo>
                  <a:pt x="8133494" y="2963047"/>
                </a:lnTo>
                <a:lnTo>
                  <a:pt x="8121917" y="3009116"/>
                </a:lnTo>
                <a:lnTo>
                  <a:pt x="8105938" y="3053733"/>
                </a:lnTo>
                <a:lnTo>
                  <a:pt x="8085688" y="3096581"/>
                </a:lnTo>
                <a:lnTo>
                  <a:pt x="8061299" y="3137339"/>
                </a:lnTo>
                <a:lnTo>
                  <a:pt x="8032904" y="3175688"/>
                </a:lnTo>
                <a:lnTo>
                  <a:pt x="8000633" y="3211311"/>
                </a:lnTo>
                <a:lnTo>
                  <a:pt x="7965000" y="3243582"/>
                </a:lnTo>
                <a:lnTo>
                  <a:pt x="7926643" y="3271977"/>
                </a:lnTo>
                <a:lnTo>
                  <a:pt x="7885880" y="3296366"/>
                </a:lnTo>
                <a:lnTo>
                  <a:pt x="7843029" y="3316616"/>
                </a:lnTo>
                <a:lnTo>
                  <a:pt x="7798409" y="3332595"/>
                </a:lnTo>
                <a:lnTo>
                  <a:pt x="7752339" y="3344172"/>
                </a:lnTo>
                <a:lnTo>
                  <a:pt x="7705138" y="3351215"/>
                </a:lnTo>
                <a:lnTo>
                  <a:pt x="7657124" y="3353592"/>
                </a:lnTo>
                <a:close/>
              </a:path>
            </a:pathLst>
          </a:custGeom>
          <a:solidFill>
            <a:srgbClr val="9D82B3"/>
          </a:solidFill>
        </p:spPr>
        <p:txBody>
          <a:bodyPr wrap="square" lIns="0" tIns="0" rIns="0" bIns="0" rtlCol="0"/>
          <a:lstStyle/>
          <a:p>
            <a:endParaRPr sz="1200"/>
          </a:p>
        </p:txBody>
      </p:sp>
      <p:sp>
        <p:nvSpPr>
          <p:cNvPr id="19" name="bg object 19"/>
          <p:cNvSpPr/>
          <p:nvPr/>
        </p:nvSpPr>
        <p:spPr>
          <a:xfrm>
            <a:off x="11248482" y="1923715"/>
            <a:ext cx="2963" cy="423"/>
          </a:xfrm>
          <a:custGeom>
            <a:avLst/>
            <a:gdLst/>
            <a:ahLst/>
            <a:cxnLst/>
            <a:rect l="l" t="t" r="r" b="b"/>
            <a:pathLst>
              <a:path w="4444" h="635">
                <a:moveTo>
                  <a:pt x="1974" y="-38091"/>
                </a:moveTo>
                <a:lnTo>
                  <a:pt x="1974" y="38287"/>
                </a:lnTo>
              </a:path>
            </a:pathLst>
          </a:custGeom>
          <a:ln w="80132">
            <a:solidFill>
              <a:srgbClr val="000000"/>
            </a:solidFill>
          </a:ln>
        </p:spPr>
        <p:txBody>
          <a:bodyPr wrap="square" lIns="0" tIns="0" rIns="0" bIns="0" rtlCol="0"/>
          <a:lstStyle/>
          <a:p>
            <a:endParaRPr sz="1200"/>
          </a:p>
        </p:txBody>
      </p:sp>
      <p:sp>
        <p:nvSpPr>
          <p:cNvPr id="20" name="bg object 20"/>
          <p:cNvSpPr/>
          <p:nvPr/>
        </p:nvSpPr>
        <p:spPr>
          <a:xfrm>
            <a:off x="6407226" y="1923714"/>
            <a:ext cx="5134610" cy="2140373"/>
          </a:xfrm>
          <a:custGeom>
            <a:avLst/>
            <a:gdLst/>
            <a:ahLst/>
            <a:cxnLst/>
            <a:rect l="l" t="t" r="r" b="b"/>
            <a:pathLst>
              <a:path w="7701915" h="3210560">
                <a:moveTo>
                  <a:pt x="7401056" y="20459"/>
                </a:moveTo>
                <a:lnTo>
                  <a:pt x="7447801" y="36968"/>
                </a:lnTo>
                <a:lnTo>
                  <a:pt x="7490654" y="57213"/>
                </a:lnTo>
                <a:lnTo>
                  <a:pt x="7531420" y="81596"/>
                </a:lnTo>
                <a:lnTo>
                  <a:pt x="7569780" y="109984"/>
                </a:lnTo>
                <a:lnTo>
                  <a:pt x="7605414" y="142246"/>
                </a:lnTo>
                <a:lnTo>
                  <a:pt x="7637687" y="177868"/>
                </a:lnTo>
                <a:lnTo>
                  <a:pt x="7666084" y="216214"/>
                </a:lnTo>
                <a:lnTo>
                  <a:pt x="7690475" y="256966"/>
                </a:lnTo>
                <a:lnTo>
                  <a:pt x="7701682" y="280672"/>
                </a:lnTo>
              </a:path>
              <a:path w="7701915" h="3210560">
                <a:moveTo>
                  <a:pt x="7644182" y="3166166"/>
                </a:moveTo>
                <a:lnTo>
                  <a:pt x="7637691" y="3174931"/>
                </a:lnTo>
              </a:path>
              <a:path w="7701915" h="3210560">
                <a:moveTo>
                  <a:pt x="7608425" y="3207235"/>
                </a:moveTo>
                <a:lnTo>
                  <a:pt x="7605422" y="3210550"/>
                </a:lnTo>
              </a:path>
              <a:path w="7701915" h="3210560">
                <a:moveTo>
                  <a:pt x="0" y="8598"/>
                </a:moveTo>
                <a:lnTo>
                  <a:pt x="41714" y="2376"/>
                </a:lnTo>
                <a:lnTo>
                  <a:pt x="89729" y="0"/>
                </a:lnTo>
              </a:path>
            </a:pathLst>
          </a:custGeom>
          <a:ln w="76196">
            <a:solidFill>
              <a:srgbClr val="000000"/>
            </a:solidFill>
          </a:ln>
        </p:spPr>
        <p:txBody>
          <a:bodyPr wrap="square" lIns="0" tIns="0" rIns="0" bIns="0" rtlCol="0"/>
          <a:lstStyle/>
          <a:p>
            <a:endParaRPr sz="1200"/>
          </a:p>
        </p:txBody>
      </p:sp>
      <p:sp>
        <p:nvSpPr>
          <p:cNvPr id="21" name="bg object 21"/>
          <p:cNvSpPr/>
          <p:nvPr/>
        </p:nvSpPr>
        <p:spPr>
          <a:xfrm>
            <a:off x="573959" y="4297274"/>
            <a:ext cx="5416973" cy="2158153"/>
          </a:xfrm>
          <a:custGeom>
            <a:avLst/>
            <a:gdLst/>
            <a:ahLst/>
            <a:cxnLst/>
            <a:rect l="l" t="t" r="r" b="b"/>
            <a:pathLst>
              <a:path w="8125459" h="3237229">
                <a:moveTo>
                  <a:pt x="7683040" y="3236768"/>
                </a:moveTo>
                <a:lnTo>
                  <a:pt x="445869" y="3236768"/>
                </a:lnTo>
                <a:lnTo>
                  <a:pt x="437761" y="3236366"/>
                </a:lnTo>
                <a:lnTo>
                  <a:pt x="390562" y="3229323"/>
                </a:lnTo>
                <a:lnTo>
                  <a:pt x="344494" y="3217746"/>
                </a:lnTo>
                <a:lnTo>
                  <a:pt x="299876" y="3201767"/>
                </a:lnTo>
                <a:lnTo>
                  <a:pt x="257027" y="3181517"/>
                </a:lnTo>
                <a:lnTo>
                  <a:pt x="216266" y="3157129"/>
                </a:lnTo>
                <a:lnTo>
                  <a:pt x="177911" y="3128733"/>
                </a:lnTo>
                <a:lnTo>
                  <a:pt x="142280" y="3096463"/>
                </a:lnTo>
                <a:lnTo>
                  <a:pt x="110010" y="3060830"/>
                </a:lnTo>
                <a:lnTo>
                  <a:pt x="81615" y="3022473"/>
                </a:lnTo>
                <a:lnTo>
                  <a:pt x="57227" y="2981711"/>
                </a:lnTo>
                <a:lnTo>
                  <a:pt x="36977" y="2938862"/>
                </a:lnTo>
                <a:lnTo>
                  <a:pt x="20997" y="2894246"/>
                </a:lnTo>
                <a:lnTo>
                  <a:pt x="9420" y="2848182"/>
                </a:lnTo>
                <a:lnTo>
                  <a:pt x="2377" y="2800988"/>
                </a:lnTo>
                <a:lnTo>
                  <a:pt x="0" y="2752983"/>
                </a:lnTo>
                <a:lnTo>
                  <a:pt x="0" y="485759"/>
                </a:lnTo>
                <a:lnTo>
                  <a:pt x="2377" y="437745"/>
                </a:lnTo>
                <a:lnTo>
                  <a:pt x="9420" y="390544"/>
                </a:lnTo>
                <a:lnTo>
                  <a:pt x="20997" y="344475"/>
                </a:lnTo>
                <a:lnTo>
                  <a:pt x="36977" y="299858"/>
                </a:lnTo>
                <a:lnTo>
                  <a:pt x="57227" y="257011"/>
                </a:lnTo>
                <a:lnTo>
                  <a:pt x="81615" y="216253"/>
                </a:lnTo>
                <a:lnTo>
                  <a:pt x="110010" y="177903"/>
                </a:lnTo>
                <a:lnTo>
                  <a:pt x="142280" y="142280"/>
                </a:lnTo>
                <a:lnTo>
                  <a:pt x="177911" y="110009"/>
                </a:lnTo>
                <a:lnTo>
                  <a:pt x="216266" y="81614"/>
                </a:lnTo>
                <a:lnTo>
                  <a:pt x="257027" y="57225"/>
                </a:lnTo>
                <a:lnTo>
                  <a:pt x="299876" y="36976"/>
                </a:lnTo>
                <a:lnTo>
                  <a:pt x="344494" y="20996"/>
                </a:lnTo>
                <a:lnTo>
                  <a:pt x="390562" y="9419"/>
                </a:lnTo>
                <a:lnTo>
                  <a:pt x="437761" y="2376"/>
                </a:lnTo>
                <a:lnTo>
                  <a:pt x="485774" y="0"/>
                </a:lnTo>
                <a:lnTo>
                  <a:pt x="7643133" y="0"/>
                </a:lnTo>
                <a:lnTo>
                  <a:pt x="7691148" y="2376"/>
                </a:lnTo>
                <a:lnTo>
                  <a:pt x="7738349" y="9419"/>
                </a:lnTo>
                <a:lnTo>
                  <a:pt x="7784419" y="20996"/>
                </a:lnTo>
                <a:lnTo>
                  <a:pt x="7829039" y="36976"/>
                </a:lnTo>
                <a:lnTo>
                  <a:pt x="7871889" y="57225"/>
                </a:lnTo>
                <a:lnTo>
                  <a:pt x="7912653" y="81614"/>
                </a:lnTo>
                <a:lnTo>
                  <a:pt x="7951010" y="110009"/>
                </a:lnTo>
                <a:lnTo>
                  <a:pt x="7986643" y="142280"/>
                </a:lnTo>
                <a:lnTo>
                  <a:pt x="8018914" y="177903"/>
                </a:lnTo>
                <a:lnTo>
                  <a:pt x="8047309" y="216253"/>
                </a:lnTo>
                <a:lnTo>
                  <a:pt x="8071698" y="257011"/>
                </a:lnTo>
                <a:lnTo>
                  <a:pt x="8091948" y="299858"/>
                </a:lnTo>
                <a:lnTo>
                  <a:pt x="8107927" y="344475"/>
                </a:lnTo>
                <a:lnTo>
                  <a:pt x="8119504" y="390544"/>
                </a:lnTo>
                <a:lnTo>
                  <a:pt x="8125251" y="429060"/>
                </a:lnTo>
                <a:lnTo>
                  <a:pt x="8125251" y="2809671"/>
                </a:lnTo>
                <a:lnTo>
                  <a:pt x="8119504" y="2848182"/>
                </a:lnTo>
                <a:lnTo>
                  <a:pt x="8107927" y="2894246"/>
                </a:lnTo>
                <a:lnTo>
                  <a:pt x="8091948" y="2938862"/>
                </a:lnTo>
                <a:lnTo>
                  <a:pt x="8071698" y="2981711"/>
                </a:lnTo>
                <a:lnTo>
                  <a:pt x="8047309" y="3022473"/>
                </a:lnTo>
                <a:lnTo>
                  <a:pt x="8018914" y="3060830"/>
                </a:lnTo>
                <a:lnTo>
                  <a:pt x="7986643" y="3096463"/>
                </a:lnTo>
                <a:lnTo>
                  <a:pt x="7951010" y="3128733"/>
                </a:lnTo>
                <a:lnTo>
                  <a:pt x="7912653" y="3157129"/>
                </a:lnTo>
                <a:lnTo>
                  <a:pt x="7871889" y="3181517"/>
                </a:lnTo>
                <a:lnTo>
                  <a:pt x="7829039" y="3201767"/>
                </a:lnTo>
                <a:lnTo>
                  <a:pt x="7784419" y="3217746"/>
                </a:lnTo>
                <a:lnTo>
                  <a:pt x="7738349" y="3229323"/>
                </a:lnTo>
                <a:lnTo>
                  <a:pt x="7691148" y="3236366"/>
                </a:lnTo>
                <a:lnTo>
                  <a:pt x="7683040" y="3236768"/>
                </a:lnTo>
                <a:close/>
              </a:path>
            </a:pathLst>
          </a:custGeom>
          <a:solidFill>
            <a:srgbClr val="E2B808"/>
          </a:solidFill>
        </p:spPr>
        <p:txBody>
          <a:bodyPr wrap="square" lIns="0" tIns="0" rIns="0" bIns="0" rtlCol="0"/>
          <a:lstStyle/>
          <a:p>
            <a:endParaRPr sz="1200"/>
          </a:p>
        </p:txBody>
      </p:sp>
      <p:sp>
        <p:nvSpPr>
          <p:cNvPr id="22" name="bg object 22"/>
          <p:cNvSpPr/>
          <p:nvPr/>
        </p:nvSpPr>
        <p:spPr>
          <a:xfrm>
            <a:off x="574024" y="4297274"/>
            <a:ext cx="5416550" cy="2085763"/>
          </a:xfrm>
          <a:custGeom>
            <a:avLst/>
            <a:gdLst/>
            <a:ahLst/>
            <a:cxnLst/>
            <a:rect l="l" t="t" r="r" b="b"/>
            <a:pathLst>
              <a:path w="8124825" h="3128645">
                <a:moveTo>
                  <a:pt x="485517" y="0"/>
                </a:moveTo>
                <a:lnTo>
                  <a:pt x="7639097" y="0"/>
                </a:lnTo>
                <a:lnTo>
                  <a:pt x="7687083" y="2376"/>
                </a:lnTo>
                <a:lnTo>
                  <a:pt x="7734257" y="9419"/>
                </a:lnTo>
                <a:lnTo>
                  <a:pt x="7780300" y="20996"/>
                </a:lnTo>
                <a:lnTo>
                  <a:pt x="7824894" y="36974"/>
                </a:lnTo>
                <a:lnTo>
                  <a:pt x="7867720" y="57223"/>
                </a:lnTo>
                <a:lnTo>
                  <a:pt x="7908460" y="81609"/>
                </a:lnTo>
                <a:lnTo>
                  <a:pt x="7946796" y="110002"/>
                </a:lnTo>
                <a:lnTo>
                  <a:pt x="7982408" y="142269"/>
                </a:lnTo>
                <a:lnTo>
                  <a:pt x="8014660" y="177897"/>
                </a:lnTo>
                <a:lnTo>
                  <a:pt x="8043040" y="216250"/>
                </a:lnTo>
                <a:lnTo>
                  <a:pt x="8067415" y="257008"/>
                </a:lnTo>
                <a:lnTo>
                  <a:pt x="8087655" y="299853"/>
                </a:lnTo>
                <a:lnTo>
                  <a:pt x="8103626" y="344467"/>
                </a:lnTo>
                <a:lnTo>
                  <a:pt x="8115197" y="390531"/>
                </a:lnTo>
                <a:lnTo>
                  <a:pt x="8122237" y="437727"/>
                </a:lnTo>
                <a:lnTo>
                  <a:pt x="8124612" y="485737"/>
                </a:lnTo>
                <a:lnTo>
                  <a:pt x="8124612" y="2752763"/>
                </a:lnTo>
                <a:lnTo>
                  <a:pt x="8122237" y="2800774"/>
                </a:lnTo>
                <a:lnTo>
                  <a:pt x="8115197" y="2847971"/>
                </a:lnTo>
                <a:lnTo>
                  <a:pt x="8103626" y="2894037"/>
                </a:lnTo>
                <a:lnTo>
                  <a:pt x="8087655" y="2938652"/>
                </a:lnTo>
                <a:lnTo>
                  <a:pt x="8067415" y="2981498"/>
                </a:lnTo>
                <a:lnTo>
                  <a:pt x="8043040" y="3022257"/>
                </a:lnTo>
                <a:lnTo>
                  <a:pt x="8014660" y="3060610"/>
                </a:lnTo>
                <a:lnTo>
                  <a:pt x="7982408" y="3096238"/>
                </a:lnTo>
                <a:lnTo>
                  <a:pt x="7946812" y="3128490"/>
                </a:lnTo>
              </a:path>
              <a:path w="8124825" h="3128645">
                <a:moveTo>
                  <a:pt x="0" y="2752740"/>
                </a:moveTo>
                <a:lnTo>
                  <a:pt x="0" y="485737"/>
                </a:lnTo>
                <a:lnTo>
                  <a:pt x="2375" y="437727"/>
                </a:lnTo>
                <a:lnTo>
                  <a:pt x="9415" y="390531"/>
                </a:lnTo>
                <a:lnTo>
                  <a:pt x="20986" y="344467"/>
                </a:lnTo>
                <a:lnTo>
                  <a:pt x="36957" y="299853"/>
                </a:lnTo>
                <a:lnTo>
                  <a:pt x="57197" y="257008"/>
                </a:lnTo>
                <a:lnTo>
                  <a:pt x="81572" y="216250"/>
                </a:lnTo>
                <a:lnTo>
                  <a:pt x="109952" y="177897"/>
                </a:lnTo>
                <a:lnTo>
                  <a:pt x="142205" y="142269"/>
                </a:lnTo>
                <a:lnTo>
                  <a:pt x="177817" y="110002"/>
                </a:lnTo>
                <a:lnTo>
                  <a:pt x="216152" y="81609"/>
                </a:lnTo>
                <a:lnTo>
                  <a:pt x="256892" y="57223"/>
                </a:lnTo>
                <a:lnTo>
                  <a:pt x="299718" y="36974"/>
                </a:lnTo>
                <a:lnTo>
                  <a:pt x="344312" y="20996"/>
                </a:lnTo>
                <a:lnTo>
                  <a:pt x="390355" y="9419"/>
                </a:lnTo>
                <a:lnTo>
                  <a:pt x="437530" y="2376"/>
                </a:lnTo>
                <a:lnTo>
                  <a:pt x="485517" y="0"/>
                </a:lnTo>
              </a:path>
            </a:pathLst>
          </a:custGeom>
          <a:ln w="76179">
            <a:solidFill>
              <a:srgbClr val="5C2A83"/>
            </a:solidFill>
          </a:ln>
        </p:spPr>
        <p:txBody>
          <a:bodyPr wrap="square" lIns="0" tIns="0" rIns="0" bIns="0" rtlCol="0"/>
          <a:lstStyle/>
          <a:p>
            <a:endParaRPr sz="1200"/>
          </a:p>
        </p:txBody>
      </p:sp>
      <p:sp>
        <p:nvSpPr>
          <p:cNvPr id="23" name="bg object 23"/>
          <p:cNvSpPr/>
          <p:nvPr/>
        </p:nvSpPr>
        <p:spPr>
          <a:xfrm>
            <a:off x="5082778" y="3172575"/>
            <a:ext cx="6498335" cy="3282543"/>
          </a:xfrm>
          <a:prstGeom prst="rect">
            <a:avLst/>
          </a:prstGeom>
          <a:blipFill>
            <a:blip r:embed="rId2" cstate="print"/>
            <a:stretch>
              <a:fillRect/>
            </a:stretch>
          </a:blipFill>
        </p:spPr>
        <p:txBody>
          <a:bodyPr wrap="square" lIns="0" tIns="0" rIns="0" bIns="0" rtlCol="0"/>
          <a:lstStyle/>
          <a:p>
            <a:endParaRPr sz="1200"/>
          </a:p>
        </p:txBody>
      </p:sp>
      <p:sp>
        <p:nvSpPr>
          <p:cNvPr id="2" name="Holder 2"/>
          <p:cNvSpPr>
            <a:spLocks noGrp="1"/>
          </p:cNvSpPr>
          <p:nvPr>
            <p:ph type="title"/>
          </p:nvPr>
        </p:nvSpPr>
        <p:spPr/>
        <p:txBody>
          <a:bodyPr lIns="0" tIns="0" rIns="0" bIns="0"/>
          <a:lstStyle>
            <a:lvl1pPr>
              <a:defRPr sz="4767" b="1" i="0">
                <a:solidFill>
                  <a:srgbClr val="00002B"/>
                </a:solidFill>
                <a:latin typeface="Arial"/>
                <a:cs typeface="Arial"/>
              </a:defRPr>
            </a:lvl1pPr>
          </a:lstStyle>
          <a:p>
            <a:endParaRPr/>
          </a:p>
        </p:txBody>
      </p:sp>
      <p:sp>
        <p:nvSpPr>
          <p:cNvPr id="3" name="Holder 3"/>
          <p:cNvSpPr>
            <a:spLocks noGrp="1"/>
          </p:cNvSpPr>
          <p:nvPr>
            <p:ph sz="half" idx="2"/>
          </p:nvPr>
        </p:nvSpPr>
        <p:spPr>
          <a:xfrm>
            <a:off x="609600" y="1577340"/>
            <a:ext cx="530352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960095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4949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E55A5E-E0F2-49C1-0F5E-9241650B8A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4EED8-C408-FB5B-D742-F3A39B4712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090CBF-94FB-8F0E-CB30-77AA8767D6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75AB56-B571-4F46-9746-CDB97AD687CF}" type="datetimeFigureOut">
              <a:rPr lang="en-US" smtClean="0"/>
              <a:t>1/10/2025</a:t>
            </a:fld>
            <a:endParaRPr lang="en-US"/>
          </a:p>
        </p:txBody>
      </p:sp>
      <p:sp>
        <p:nvSpPr>
          <p:cNvPr id="5" name="Footer Placeholder 4">
            <a:extLst>
              <a:ext uri="{FF2B5EF4-FFF2-40B4-BE49-F238E27FC236}">
                <a16:creationId xmlns:a16="http://schemas.microsoft.com/office/drawing/2014/main" id="{C5F958A4-E17B-AA6D-1253-D7C0B050E3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696AA77-FF16-7C9C-FEA4-068AD72513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F4F79A-5839-48F0-BC39-6276FE3C0CBE}" type="slidenum">
              <a:rPr lang="en-US" smtClean="0"/>
              <a:t>‹#›</a:t>
            </a:fld>
            <a:endParaRPr lang="en-US"/>
          </a:p>
        </p:txBody>
      </p:sp>
    </p:spTree>
    <p:extLst>
      <p:ext uri="{BB962C8B-B14F-4D97-AF65-F5344CB8AC3E}">
        <p14:creationId xmlns:p14="http://schemas.microsoft.com/office/powerpoint/2010/main" val="3010942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hyperlink" Target="https://www.nationalcoreindicators.or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www.LifeCourseTools.co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static.prod01.ue1.p.pcomm.net/umass/content/SELN-guidance-jan-2019.pdf"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www.CLEtoolkit.communityinclusion.org" TargetMode="Externa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122927-EC97-76DD-4DA7-ABC223FDF271}"/>
              </a:ext>
            </a:extLst>
          </p:cNvPr>
          <p:cNvSpPr txBox="1"/>
          <p:nvPr/>
        </p:nvSpPr>
        <p:spPr>
          <a:xfrm>
            <a:off x="1326046" y="2531850"/>
            <a:ext cx="9313101" cy="3227626"/>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28600">
              <a:lnSpc>
                <a:spcPct val="90000"/>
              </a:lnSpc>
              <a:spcAft>
                <a:spcPts val="600"/>
              </a:spcAft>
              <a:buFont typeface="Arial" panose="020B0604020202020204" pitchFamily="34" charset="0"/>
              <a:buChar char="•"/>
            </a:pPr>
            <a:endParaRPr lang="en-US" sz="3200">
              <a:solidFill>
                <a:schemeClr val="tx2"/>
              </a:solidFill>
            </a:endParaRPr>
          </a:p>
          <a:p>
            <a:pPr algn="ctr">
              <a:lnSpc>
                <a:spcPct val="90000"/>
              </a:lnSpc>
              <a:spcAft>
                <a:spcPts val="600"/>
              </a:spcAft>
            </a:pPr>
            <a:r>
              <a:rPr lang="en-US" sz="3200" b="1">
                <a:ea typeface="Calibri"/>
                <a:cs typeface="Calibri"/>
              </a:rPr>
              <a:t>2024-2025 Cohort Technical Assistance </a:t>
            </a:r>
          </a:p>
          <a:p>
            <a:pPr algn="ctr">
              <a:lnSpc>
                <a:spcPct val="90000"/>
              </a:lnSpc>
              <a:spcAft>
                <a:spcPts val="600"/>
              </a:spcAft>
            </a:pPr>
            <a:r>
              <a:rPr lang="en-US" sz="3200" b="1">
                <a:cs typeface="Calibri"/>
              </a:rPr>
              <a:t>Community of Practice</a:t>
            </a:r>
          </a:p>
          <a:p>
            <a:pPr algn="ctr">
              <a:lnSpc>
                <a:spcPct val="90000"/>
              </a:lnSpc>
              <a:spcAft>
                <a:spcPts val="600"/>
              </a:spcAft>
            </a:pPr>
            <a:r>
              <a:rPr lang="en-US" sz="3200" b="1" i="1"/>
              <a:t>Holistic Practices in Employment &amp; Day Services</a:t>
            </a:r>
          </a:p>
          <a:p>
            <a:pPr algn="ctr">
              <a:lnSpc>
                <a:spcPct val="90000"/>
              </a:lnSpc>
              <a:spcAft>
                <a:spcPts val="600"/>
              </a:spcAft>
            </a:pPr>
            <a:r>
              <a:rPr lang="en-US" sz="2400"/>
              <a:t>January 16, 2025</a:t>
            </a:r>
            <a:endParaRPr lang="en-US"/>
          </a:p>
          <a:p>
            <a:pPr algn="ctr">
              <a:lnSpc>
                <a:spcPct val="90000"/>
              </a:lnSpc>
              <a:spcAft>
                <a:spcPts val="600"/>
              </a:spcAft>
            </a:pPr>
            <a:r>
              <a:rPr lang="en-US" sz="2400"/>
              <a:t>10:00am-11:00am CT</a:t>
            </a:r>
          </a:p>
        </p:txBody>
      </p:sp>
      <p:pic>
        <p:nvPicPr>
          <p:cNvPr id="5" name="Picture 4" descr="Logo&#10;&#10;Description automatically generated with medium confidence">
            <a:extLst>
              <a:ext uri="{FF2B5EF4-FFF2-40B4-BE49-F238E27FC236}">
                <a16:creationId xmlns:a16="http://schemas.microsoft.com/office/drawing/2014/main" id="{2C766A1B-6DDE-3D65-0281-25959F0E951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361540" y="367228"/>
            <a:ext cx="5458487" cy="2703415"/>
          </a:xfrm>
          <a:prstGeom prst="rect">
            <a:avLst/>
          </a:prstGeom>
        </p:spPr>
      </p:pic>
    </p:spTree>
    <p:extLst>
      <p:ext uri="{BB962C8B-B14F-4D97-AF65-F5344CB8AC3E}">
        <p14:creationId xmlns:p14="http://schemas.microsoft.com/office/powerpoint/2010/main" val="139635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EBFEE6-F3F8-EE4C-D7F8-5404FBB5291C}"/>
              </a:ext>
            </a:extLst>
          </p:cNvPr>
          <p:cNvSpPr>
            <a:spLocks noGrp="1"/>
          </p:cNvSpPr>
          <p:nvPr>
            <p:ph type="title"/>
          </p:nvPr>
        </p:nvSpPr>
        <p:spPr>
          <a:xfrm>
            <a:off x="761800" y="762001"/>
            <a:ext cx="5334197" cy="1708242"/>
          </a:xfrm>
        </p:spPr>
        <p:txBody>
          <a:bodyPr anchor="ctr">
            <a:normAutofit/>
          </a:bodyPr>
          <a:lstStyle/>
          <a:p>
            <a:r>
              <a:rPr lang="en-US" sz="4000"/>
              <a:t>Agenda </a:t>
            </a:r>
          </a:p>
        </p:txBody>
      </p:sp>
      <p:sp>
        <p:nvSpPr>
          <p:cNvPr id="3" name="Content Placeholder 2">
            <a:extLst>
              <a:ext uri="{FF2B5EF4-FFF2-40B4-BE49-F238E27FC236}">
                <a16:creationId xmlns:a16="http://schemas.microsoft.com/office/drawing/2014/main" id="{07F03533-EA6A-9709-DB4C-FFB0D8081EE8}"/>
              </a:ext>
            </a:extLst>
          </p:cNvPr>
          <p:cNvSpPr>
            <a:spLocks noGrp="1"/>
          </p:cNvSpPr>
          <p:nvPr>
            <p:ph idx="1"/>
          </p:nvPr>
        </p:nvSpPr>
        <p:spPr>
          <a:xfrm>
            <a:off x="761800" y="2138090"/>
            <a:ext cx="5334197" cy="3769835"/>
          </a:xfrm>
        </p:spPr>
        <p:txBody>
          <a:bodyPr vert="horz" lIns="91440" tIns="45720" rIns="91440" bIns="45720" rtlCol="0" anchor="ctr">
            <a:normAutofit lnSpcReduction="10000"/>
          </a:bodyPr>
          <a:lstStyle/>
          <a:p>
            <a:endParaRPr lang="en-US" sz="2000"/>
          </a:p>
          <a:p>
            <a:r>
              <a:rPr lang="en-US" sz="2000" dirty="0"/>
              <a:t>Quick reminder: what the data says </a:t>
            </a:r>
          </a:p>
          <a:p>
            <a:r>
              <a:rPr lang="en-US" sz="2000" dirty="0"/>
              <a:t>10 essential elements &amp; CLE Guideposts</a:t>
            </a:r>
          </a:p>
          <a:p>
            <a:r>
              <a:rPr lang="en-US" sz="2000"/>
              <a:t>Siloed vs holistic approaches</a:t>
            </a:r>
            <a:endParaRPr lang="en-US"/>
          </a:p>
          <a:p>
            <a:r>
              <a:rPr lang="en-US" sz="2000" dirty="0"/>
              <a:t>Individual considerations</a:t>
            </a:r>
          </a:p>
          <a:p>
            <a:r>
              <a:rPr lang="en-US" sz="2000" dirty="0"/>
              <a:t>Organizational considerations</a:t>
            </a:r>
          </a:p>
          <a:p>
            <a:r>
              <a:rPr lang="en-US" sz="2000" dirty="0"/>
              <a:t>Foundational, 2nd &amp; 3rd Generation, Sustainability practices</a:t>
            </a:r>
          </a:p>
          <a:p>
            <a:r>
              <a:rPr lang="en-US" sz="2000" dirty="0"/>
              <a:t>Let's hear from you!</a:t>
            </a:r>
          </a:p>
          <a:p>
            <a:r>
              <a:rPr lang="en-US" sz="2000" dirty="0"/>
              <a:t>Wrap-up, announcements</a:t>
            </a:r>
          </a:p>
          <a:p>
            <a:pPr marL="0" indent="0">
              <a:buNone/>
            </a:pPr>
            <a:endParaRPr lang="en-US" sz="2000"/>
          </a:p>
          <a:p>
            <a:endParaRPr lang="en-US" sz="2000"/>
          </a:p>
        </p:txBody>
      </p:sp>
      <p:pic>
        <p:nvPicPr>
          <p:cNvPr id="5" name="Picture 4" descr="Drawings on colorful paper">
            <a:extLst>
              <a:ext uri="{FF2B5EF4-FFF2-40B4-BE49-F238E27FC236}">
                <a16:creationId xmlns:a16="http://schemas.microsoft.com/office/drawing/2014/main" id="{D850B774-D154-2167-D08F-F76E41344E98}"/>
              </a:ext>
            </a:extLst>
          </p:cNvPr>
          <p:cNvPicPr>
            <a:picLocks noChangeAspect="1"/>
          </p:cNvPicPr>
          <p:nvPr/>
        </p:nvPicPr>
        <p:blipFill>
          <a:blip r:embed="rId2"/>
          <a:srcRect l="11128" r="37112" b="-3"/>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383446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0A6B59C0-7FEB-8944-A32C-E0135BBB043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9132" y="1385240"/>
            <a:ext cx="4114800" cy="4733925"/>
          </a:xfrm>
          <a:prstGeom prst="rect">
            <a:avLst/>
          </a:prstGeom>
          <a:noFill/>
          <a:extLst>
            <a:ext uri="{909E8E84-426E-40DD-AFC4-6F175D3DCCD1}">
              <a14:hiddenFill xmlns:a14="http://schemas.microsoft.com/office/drawing/2010/main">
                <a:solidFill>
                  <a:srgbClr val="FFFFFF"/>
                </a:solidFill>
              </a14:hiddenFill>
            </a:ext>
          </a:extLst>
        </p:spPr>
      </p:pic>
      <p:sp>
        <p:nvSpPr>
          <p:cNvPr id="2" name="Arrow: Left 1" descr="an orange area says 86% of people do not have a job">
            <a:extLst>
              <a:ext uri="{FF2B5EF4-FFF2-40B4-BE49-F238E27FC236}">
                <a16:creationId xmlns:a16="http://schemas.microsoft.com/office/drawing/2014/main" id="{7CF2804E-027F-4F6A-F01C-5982F43BA919}"/>
              </a:ext>
            </a:extLst>
          </p:cNvPr>
          <p:cNvSpPr/>
          <p:nvPr/>
        </p:nvSpPr>
        <p:spPr>
          <a:xfrm>
            <a:off x="6210886" y="1260952"/>
            <a:ext cx="4076114" cy="1491176"/>
          </a:xfrm>
          <a:prstGeom prst="leftArrow">
            <a:avLst/>
          </a:prstGeom>
          <a:solidFill>
            <a:srgbClr val="F16726"/>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a:t>86% Don’t have a job</a:t>
            </a:r>
          </a:p>
        </p:txBody>
      </p:sp>
      <p:sp>
        <p:nvSpPr>
          <p:cNvPr id="3" name="Arrow: Left 2" descr="A blue arrow says 51% want a job">
            <a:extLst>
              <a:ext uri="{FF2B5EF4-FFF2-40B4-BE49-F238E27FC236}">
                <a16:creationId xmlns:a16="http://schemas.microsoft.com/office/drawing/2014/main" id="{0B8B2567-1D17-E56A-9175-A84DD6C62691}"/>
              </a:ext>
            </a:extLst>
          </p:cNvPr>
          <p:cNvSpPr/>
          <p:nvPr/>
        </p:nvSpPr>
        <p:spPr>
          <a:xfrm>
            <a:off x="5486400" y="2961549"/>
            <a:ext cx="4800600" cy="1405310"/>
          </a:xfrm>
          <a:prstGeom prst="leftArrow">
            <a:avLst/>
          </a:prstGeom>
          <a:solidFill>
            <a:srgbClr val="0077AF"/>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a:t>51% Want a job</a:t>
            </a:r>
          </a:p>
        </p:txBody>
      </p:sp>
      <p:sp>
        <p:nvSpPr>
          <p:cNvPr id="4" name="Arrow: Left 3" descr="A green arrow says 37% have a goal in their plan ">
            <a:extLst>
              <a:ext uri="{FF2B5EF4-FFF2-40B4-BE49-F238E27FC236}">
                <a16:creationId xmlns:a16="http://schemas.microsoft.com/office/drawing/2014/main" id="{CD8DFEF4-00FD-8E9B-B500-05EE924A91CD}"/>
              </a:ext>
            </a:extLst>
          </p:cNvPr>
          <p:cNvSpPr/>
          <p:nvPr/>
        </p:nvSpPr>
        <p:spPr>
          <a:xfrm>
            <a:off x="4714125" y="4386703"/>
            <a:ext cx="5638800" cy="1434777"/>
          </a:xfrm>
          <a:prstGeom prst="leftArrow">
            <a:avLst/>
          </a:prstGeom>
          <a:solidFill>
            <a:srgbClr val="5D9732"/>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a:solidFill>
                  <a:schemeClr val="tx1"/>
                </a:solidFill>
              </a:rPr>
              <a:t>37% Have a goal in their plan</a:t>
            </a:r>
          </a:p>
        </p:txBody>
      </p:sp>
      <p:sp>
        <p:nvSpPr>
          <p:cNvPr id="5" name="TextBox 1">
            <a:extLst>
              <a:ext uri="{FF2B5EF4-FFF2-40B4-BE49-F238E27FC236}">
                <a16:creationId xmlns:a16="http://schemas.microsoft.com/office/drawing/2014/main" id="{FAB1491A-7594-AD66-EDEF-03BF81296437}"/>
              </a:ext>
            </a:extLst>
          </p:cNvPr>
          <p:cNvSpPr txBox="1"/>
          <p:nvPr/>
        </p:nvSpPr>
        <p:spPr>
          <a:xfrm>
            <a:off x="5355809" y="5722247"/>
            <a:ext cx="6325072"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a:hlinkClick r:id="rId4"/>
              </a:rPr>
              <a:t>https://www.nationalcoreindicators.org/</a:t>
            </a:r>
            <a:r>
              <a:rPr lang="en-US" sz="1600"/>
              <a:t>2020-2021</a:t>
            </a:r>
          </a:p>
        </p:txBody>
      </p:sp>
      <p:sp>
        <p:nvSpPr>
          <p:cNvPr id="6" name="Title 1">
            <a:extLst>
              <a:ext uri="{FF2B5EF4-FFF2-40B4-BE49-F238E27FC236}">
                <a16:creationId xmlns:a16="http://schemas.microsoft.com/office/drawing/2014/main" id="{0457C328-CEF3-6876-2BD0-B77397750B9F}"/>
              </a:ext>
            </a:extLst>
          </p:cNvPr>
          <p:cNvSpPr>
            <a:spLocks noGrp="1"/>
          </p:cNvSpPr>
          <p:nvPr/>
        </p:nvSpPr>
        <p:spPr>
          <a:xfrm>
            <a:off x="1524000" y="309574"/>
            <a:ext cx="10039454" cy="8079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cs typeface="Calibri Light"/>
              </a:rPr>
              <a:t>What does the Data say?</a:t>
            </a:r>
            <a:r>
              <a:rPr lang="en-US">
                <a:cs typeface="Calibri Light"/>
              </a:rPr>
              <a:t> </a:t>
            </a:r>
            <a:endParaRPr lang="en-US"/>
          </a:p>
        </p:txBody>
      </p:sp>
      <p:pic>
        <p:nvPicPr>
          <p:cNvPr id="8" name="Picture 7" descr="Logo&#10;&#10;Description automatically generated with medium confidence">
            <a:extLst>
              <a:ext uri="{FF2B5EF4-FFF2-40B4-BE49-F238E27FC236}">
                <a16:creationId xmlns:a16="http://schemas.microsoft.com/office/drawing/2014/main" id="{EB797F19-5961-2EFA-3775-368E9C7E104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6172" y="5928914"/>
            <a:ext cx="1631399" cy="807980"/>
          </a:xfrm>
          <a:prstGeom prst="rect">
            <a:avLst/>
          </a:prstGeom>
        </p:spPr>
      </p:pic>
    </p:spTree>
    <p:extLst>
      <p:ext uri="{BB962C8B-B14F-4D97-AF65-F5344CB8AC3E}">
        <p14:creationId xmlns:p14="http://schemas.microsoft.com/office/powerpoint/2010/main" val="2449178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Shape 28">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Picture 8" descr="A poster with text and images&#10;&#10;Description automatically generated">
            <a:extLst>
              <a:ext uri="{FF2B5EF4-FFF2-40B4-BE49-F238E27FC236}">
                <a16:creationId xmlns:a16="http://schemas.microsoft.com/office/drawing/2014/main" id="{DB4F7371-326B-1890-E09E-6FB2105E770C}"/>
              </a:ext>
            </a:extLst>
          </p:cNvPr>
          <p:cNvPicPr>
            <a:picLocks noChangeAspect="1"/>
          </p:cNvPicPr>
          <p:nvPr/>
        </p:nvPicPr>
        <p:blipFill>
          <a:blip r:embed="rId3"/>
          <a:stretch>
            <a:fillRect/>
          </a:stretch>
        </p:blipFill>
        <p:spPr>
          <a:xfrm>
            <a:off x="641847" y="983891"/>
            <a:ext cx="3334259" cy="3993126"/>
          </a:xfrm>
          <a:prstGeom prst="rect">
            <a:avLst/>
          </a:prstGeom>
        </p:spPr>
      </p:pic>
      <p:sp>
        <p:nvSpPr>
          <p:cNvPr id="31" name="Freeform: Shape 30">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3" descr="A diagram of a company&#10;&#10;Description automatically generated">
            <a:extLst>
              <a:ext uri="{FF2B5EF4-FFF2-40B4-BE49-F238E27FC236}">
                <a16:creationId xmlns:a16="http://schemas.microsoft.com/office/drawing/2014/main" id="{81429D2A-FD80-5523-E18B-8AB5F5556F46}"/>
              </a:ext>
            </a:extLst>
          </p:cNvPr>
          <p:cNvPicPr>
            <a:picLocks noChangeAspect="1"/>
          </p:cNvPicPr>
          <p:nvPr/>
        </p:nvPicPr>
        <p:blipFill>
          <a:blip r:embed="rId4"/>
          <a:stretch>
            <a:fillRect/>
          </a:stretch>
        </p:blipFill>
        <p:spPr>
          <a:xfrm>
            <a:off x="6208205" y="1715030"/>
            <a:ext cx="4694807" cy="3967112"/>
          </a:xfrm>
          <a:prstGeom prst="rect">
            <a:avLst/>
          </a:prstGeom>
        </p:spPr>
      </p:pic>
      <p:pic>
        <p:nvPicPr>
          <p:cNvPr id="5" name="Picture 4" descr="Logo&#10;&#10;Description automatically generated with medium confidence">
            <a:extLst>
              <a:ext uri="{FF2B5EF4-FFF2-40B4-BE49-F238E27FC236}">
                <a16:creationId xmlns:a16="http://schemas.microsoft.com/office/drawing/2014/main" id="{5AF6A49C-89E6-8CD9-151C-7E18B96DC673}"/>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0662842" y="6149690"/>
            <a:ext cx="1174035" cy="532436"/>
          </a:xfrm>
          <a:prstGeom prst="rect">
            <a:avLst/>
          </a:prstGeom>
        </p:spPr>
      </p:pic>
      <p:sp>
        <p:nvSpPr>
          <p:cNvPr id="10" name="Arrow: Left 9">
            <a:extLst>
              <a:ext uri="{FF2B5EF4-FFF2-40B4-BE49-F238E27FC236}">
                <a16:creationId xmlns:a16="http://schemas.microsoft.com/office/drawing/2014/main" id="{990BC5F6-1BA6-5220-CDB9-3661298D0E62}"/>
              </a:ext>
            </a:extLst>
          </p:cNvPr>
          <p:cNvSpPr/>
          <p:nvPr/>
        </p:nvSpPr>
        <p:spPr>
          <a:xfrm>
            <a:off x="10253319" y="4418719"/>
            <a:ext cx="1596642" cy="197355"/>
          </a:xfrm>
          <a:prstGeom prst="lef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3596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74E544-8085-840F-776B-992B2215388C}"/>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533693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76ECE-3950-451E-A296-BD7A28E9E9D2}"/>
              </a:ext>
            </a:extLst>
          </p:cNvPr>
          <p:cNvSpPr>
            <a:spLocks noGrp="1"/>
          </p:cNvSpPr>
          <p:nvPr>
            <p:ph type="title"/>
          </p:nvPr>
        </p:nvSpPr>
        <p:spPr>
          <a:xfrm>
            <a:off x="134746" y="99707"/>
            <a:ext cx="6310396" cy="1616203"/>
          </a:xfrm>
        </p:spPr>
        <p:txBody>
          <a:bodyPr anchor="b">
            <a:normAutofit fontScale="90000"/>
          </a:bodyPr>
          <a:lstStyle/>
          <a:p>
            <a:r>
              <a:rPr lang="en-US" sz="3200" b="1"/>
              <a:t>Legacy Models:</a:t>
            </a:r>
            <a:br>
              <a:rPr lang="en-US" sz="3200" b="1"/>
            </a:br>
            <a:r>
              <a:rPr lang="en-US" sz="3200" b="1"/>
              <a:t>Siloing &amp; </a:t>
            </a:r>
            <a:br>
              <a:rPr lang="en-US" sz="3200" b="1"/>
            </a:br>
            <a:r>
              <a:rPr lang="en-US" sz="3200" b="1"/>
              <a:t>Potential Unintended Consequences</a:t>
            </a:r>
          </a:p>
        </p:txBody>
      </p:sp>
      <p:sp>
        <p:nvSpPr>
          <p:cNvPr id="3" name="Content Placeholder 2">
            <a:extLst>
              <a:ext uri="{FF2B5EF4-FFF2-40B4-BE49-F238E27FC236}">
                <a16:creationId xmlns:a16="http://schemas.microsoft.com/office/drawing/2014/main" id="{14B4B89A-EEA3-0F29-14CF-2D1FCBCA12E7}"/>
              </a:ext>
            </a:extLst>
          </p:cNvPr>
          <p:cNvSpPr>
            <a:spLocks noGrp="1"/>
          </p:cNvSpPr>
          <p:nvPr>
            <p:ph idx="1"/>
          </p:nvPr>
        </p:nvSpPr>
        <p:spPr>
          <a:xfrm>
            <a:off x="255060" y="1871739"/>
            <a:ext cx="5738896" cy="4209832"/>
          </a:xfrm>
        </p:spPr>
        <p:txBody>
          <a:bodyPr vert="horz" lIns="91440" tIns="45720" rIns="91440" bIns="45720" rtlCol="0" anchor="t">
            <a:noAutofit/>
          </a:bodyPr>
          <a:lstStyle/>
          <a:p>
            <a:r>
              <a:rPr lang="en-US" sz="2400"/>
              <a:t>Different values, vision, culture &amp; expectations </a:t>
            </a:r>
          </a:p>
          <a:p>
            <a:r>
              <a:rPr lang="en-US" sz="2400"/>
              <a:t>Lack of flexibility  </a:t>
            </a:r>
          </a:p>
          <a:p>
            <a:r>
              <a:rPr lang="en-US" sz="2400"/>
              <a:t>Different expectations </a:t>
            </a:r>
          </a:p>
          <a:p>
            <a:r>
              <a:rPr lang="en-US" sz="2400"/>
              <a:t>Communication gaps and/or confusion </a:t>
            </a:r>
          </a:p>
          <a:p>
            <a:r>
              <a:rPr lang="en-US" sz="2400"/>
              <a:t>Limited resources </a:t>
            </a:r>
          </a:p>
          <a:p>
            <a:r>
              <a:rPr lang="en-US" sz="2400"/>
              <a:t>Duplication of efforts</a:t>
            </a:r>
          </a:p>
          <a:p>
            <a:r>
              <a:rPr lang="en-US" sz="2400"/>
              <a:t>Program-centered vs. Person-centered</a:t>
            </a:r>
          </a:p>
          <a:p>
            <a:r>
              <a:rPr lang="en-US" sz="2400"/>
              <a:t>Lack of movement toward employment</a:t>
            </a:r>
          </a:p>
          <a:p>
            <a:r>
              <a:rPr lang="en-US" sz="2400" b="1" i="1"/>
              <a:t>Only looking at one part of a person or service</a:t>
            </a:r>
          </a:p>
          <a:p>
            <a:endParaRPr lang="en-US" sz="2400"/>
          </a:p>
          <a:p>
            <a:endParaRPr lang="en-US" sz="1700"/>
          </a:p>
        </p:txBody>
      </p:sp>
      <p:pic>
        <p:nvPicPr>
          <p:cNvPr id="5" name="Picture 4" descr="3D rendering of game pieces tied together with a rope">
            <a:extLst>
              <a:ext uri="{FF2B5EF4-FFF2-40B4-BE49-F238E27FC236}">
                <a16:creationId xmlns:a16="http://schemas.microsoft.com/office/drawing/2014/main" id="{7CBC3F31-A5FE-E0F5-5B14-9CC0B1B60A95}"/>
              </a:ext>
            </a:extLst>
          </p:cNvPr>
          <p:cNvPicPr>
            <a:picLocks noChangeAspect="1"/>
          </p:cNvPicPr>
          <p:nvPr/>
        </p:nvPicPr>
        <p:blipFill rotWithShape="1">
          <a:blip r:embed="rId3"/>
          <a:srcRect l="2084" r="31252" b="4"/>
          <a:stretch/>
        </p:blipFill>
        <p:spPr>
          <a:xfrm>
            <a:off x="6346657" y="10"/>
            <a:ext cx="5845342" cy="6857990"/>
          </a:xfrm>
          <a:prstGeom prst="rect">
            <a:avLst/>
          </a:prstGeom>
        </p:spPr>
      </p:pic>
      <p:pic>
        <p:nvPicPr>
          <p:cNvPr id="6" name="Picture 5" descr="Logo&#10;&#10;Description automatically generated with medium confidence">
            <a:extLst>
              <a:ext uri="{FF2B5EF4-FFF2-40B4-BE49-F238E27FC236}">
                <a16:creationId xmlns:a16="http://schemas.microsoft.com/office/drawing/2014/main" id="{FD186618-CBE8-4372-0BE1-5AA91E647FE3}"/>
              </a:ext>
            </a:extLst>
          </p:cNvPr>
          <p:cNvPicPr>
            <a:picLocks noChangeAspect="1"/>
          </p:cNvPicPr>
          <p:nvPr/>
        </p:nvPicPr>
        <p:blipFill>
          <a:blip r:embed="rId4"/>
          <a:stretch>
            <a:fillRect/>
          </a:stretch>
        </p:blipFill>
        <p:spPr>
          <a:xfrm>
            <a:off x="10556312" y="5996436"/>
            <a:ext cx="1253389" cy="620763"/>
          </a:xfrm>
          <a:prstGeom prst="rect">
            <a:avLst/>
          </a:prstGeom>
        </p:spPr>
      </p:pic>
    </p:spTree>
    <p:extLst>
      <p:ext uri="{BB962C8B-B14F-4D97-AF65-F5344CB8AC3E}">
        <p14:creationId xmlns:p14="http://schemas.microsoft.com/office/powerpoint/2010/main" val="1648066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48AB6-02FA-9114-428F-FC74DFEA3623}"/>
              </a:ext>
            </a:extLst>
          </p:cNvPr>
          <p:cNvSpPr>
            <a:spLocks noGrp="1"/>
          </p:cNvSpPr>
          <p:nvPr>
            <p:ph type="title"/>
          </p:nvPr>
        </p:nvSpPr>
        <p:spPr>
          <a:xfrm>
            <a:off x="479965" y="1018540"/>
            <a:ext cx="4113806" cy="2690949"/>
          </a:xfrm>
        </p:spPr>
        <p:txBody>
          <a:bodyPr anchor="t">
            <a:normAutofit/>
          </a:bodyPr>
          <a:lstStyle/>
          <a:p>
            <a:r>
              <a:rPr lang="en-US"/>
              <a:t>Characteristics of Updated Service Models</a:t>
            </a:r>
          </a:p>
        </p:txBody>
      </p:sp>
      <p:sp>
        <p:nvSpPr>
          <p:cNvPr id="3" name="Content Placeholder 2">
            <a:extLst>
              <a:ext uri="{FF2B5EF4-FFF2-40B4-BE49-F238E27FC236}">
                <a16:creationId xmlns:a16="http://schemas.microsoft.com/office/drawing/2014/main" id="{3263A416-E862-E756-AF34-6F7980E119E8}"/>
              </a:ext>
            </a:extLst>
          </p:cNvPr>
          <p:cNvSpPr>
            <a:spLocks noGrp="1"/>
          </p:cNvSpPr>
          <p:nvPr>
            <p:ph idx="1"/>
          </p:nvPr>
        </p:nvSpPr>
        <p:spPr>
          <a:xfrm>
            <a:off x="5382809" y="290086"/>
            <a:ext cx="6266287" cy="4719547"/>
          </a:xfrm>
        </p:spPr>
        <p:txBody>
          <a:bodyPr vert="horz" lIns="91440" tIns="45720" rIns="91440" bIns="45720" rtlCol="0" anchor="t">
            <a:noAutofit/>
          </a:bodyPr>
          <a:lstStyle/>
          <a:p>
            <a:pPr marL="0" indent="0">
              <a:buNone/>
            </a:pPr>
            <a:endParaRPr lang="en-US" sz="2400"/>
          </a:p>
          <a:p>
            <a:r>
              <a:rPr lang="en-US" sz="2400"/>
              <a:t>Individualized &amp; flexible</a:t>
            </a:r>
          </a:p>
          <a:p>
            <a:r>
              <a:rPr lang="en-US" sz="2400"/>
              <a:t>Integrated &amp; community-based</a:t>
            </a:r>
          </a:p>
          <a:p>
            <a:r>
              <a:rPr lang="en-US" sz="2400"/>
              <a:t>Blended services vs programs</a:t>
            </a:r>
          </a:p>
          <a:p>
            <a:r>
              <a:rPr lang="en-US" sz="2400"/>
              <a:t>Employment First philosophy and practices</a:t>
            </a:r>
          </a:p>
          <a:p>
            <a:r>
              <a:rPr lang="en-US" sz="2400"/>
              <a:t>Prioritize competitive, integrated employment (CIE)</a:t>
            </a:r>
          </a:p>
          <a:p>
            <a:r>
              <a:rPr lang="en-US" sz="2400"/>
              <a:t>Community life engagement </a:t>
            </a:r>
          </a:p>
          <a:p>
            <a:r>
              <a:rPr lang="en-US" sz="2400"/>
              <a:t>Outcome oriented</a:t>
            </a:r>
          </a:p>
          <a:p>
            <a:r>
              <a:rPr lang="en-US" sz="2400"/>
              <a:t>Active, individualized job development process</a:t>
            </a:r>
          </a:p>
          <a:p>
            <a:r>
              <a:rPr lang="en-US" sz="2400"/>
              <a:t>Wrap-around non-work supports </a:t>
            </a:r>
          </a:p>
          <a:p>
            <a:r>
              <a:rPr lang="en-US" sz="2400" b="1" i="1"/>
              <a:t>Holistic!</a:t>
            </a:r>
          </a:p>
        </p:txBody>
      </p:sp>
      <p:pic>
        <p:nvPicPr>
          <p:cNvPr id="5" name="Picture 4" descr="Logo&#10;&#10;Description automatically generated with medium confidence">
            <a:extLst>
              <a:ext uri="{FF2B5EF4-FFF2-40B4-BE49-F238E27FC236}">
                <a16:creationId xmlns:a16="http://schemas.microsoft.com/office/drawing/2014/main" id="{6195BABF-D334-63A6-0A59-CD16E73AE9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20649" y="5872985"/>
            <a:ext cx="1631399" cy="807980"/>
          </a:xfrm>
          <a:prstGeom prst="rect">
            <a:avLst/>
          </a:prstGeom>
        </p:spPr>
      </p:pic>
    </p:spTree>
    <p:extLst>
      <p:ext uri="{BB962C8B-B14F-4D97-AF65-F5344CB8AC3E}">
        <p14:creationId xmlns:p14="http://schemas.microsoft.com/office/powerpoint/2010/main" val="1184295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8C772-164F-6BEF-BFF8-10044591B1EA}"/>
              </a:ext>
            </a:extLst>
          </p:cNvPr>
          <p:cNvSpPr>
            <a:spLocks noGrp="1"/>
          </p:cNvSpPr>
          <p:nvPr>
            <p:ph type="title"/>
          </p:nvPr>
        </p:nvSpPr>
        <p:spPr>
          <a:xfrm>
            <a:off x="1043631" y="809898"/>
            <a:ext cx="9942716" cy="1554480"/>
          </a:xfrm>
        </p:spPr>
        <p:txBody>
          <a:bodyPr anchor="ctr">
            <a:normAutofit/>
          </a:bodyPr>
          <a:lstStyle/>
          <a:p>
            <a:r>
              <a:rPr lang="en-US" sz="4800"/>
              <a:t>Holistic Service Delivery </a:t>
            </a:r>
          </a:p>
        </p:txBody>
      </p:sp>
      <p:sp>
        <p:nvSpPr>
          <p:cNvPr id="3" name="Content Placeholder 2">
            <a:extLst>
              <a:ext uri="{FF2B5EF4-FFF2-40B4-BE49-F238E27FC236}">
                <a16:creationId xmlns:a16="http://schemas.microsoft.com/office/drawing/2014/main" id="{6F34A47B-DE9A-52D2-799A-7A9BE0D8C8A1}"/>
              </a:ext>
            </a:extLst>
          </p:cNvPr>
          <p:cNvSpPr>
            <a:spLocks noGrp="1"/>
          </p:cNvSpPr>
          <p:nvPr>
            <p:ph idx="1"/>
          </p:nvPr>
        </p:nvSpPr>
        <p:spPr>
          <a:xfrm>
            <a:off x="361470" y="3118375"/>
            <a:ext cx="11678230" cy="4088363"/>
          </a:xfrm>
        </p:spPr>
        <p:txBody>
          <a:bodyPr vert="horz" lIns="91440" tIns="45720" rIns="91440" bIns="45720" rtlCol="0" anchor="ctr">
            <a:normAutofit/>
          </a:bodyPr>
          <a:lstStyle/>
          <a:p>
            <a:r>
              <a:rPr lang="en-US" sz="2400"/>
              <a:t>Designed around the person and with the person &amp; their family</a:t>
            </a:r>
          </a:p>
          <a:p>
            <a:r>
              <a:rPr lang="en-US" sz="2400"/>
              <a:t>Teams &amp; support networks collaborate &amp; communicate (paid and unpaid) </a:t>
            </a:r>
          </a:p>
          <a:p>
            <a:r>
              <a:rPr lang="en-US" sz="2400"/>
              <a:t>Flexible, blended &amp; customized (only levels of service people need/want)</a:t>
            </a:r>
          </a:p>
          <a:p>
            <a:r>
              <a:rPr lang="en-US" sz="2400"/>
              <a:t>Schedules are integrated and make sense for the person</a:t>
            </a:r>
          </a:p>
          <a:p>
            <a:r>
              <a:rPr lang="en-US" sz="2400"/>
              <a:t>Continuous skill &amp; relationship building</a:t>
            </a:r>
          </a:p>
          <a:p>
            <a:r>
              <a:rPr lang="en-US" sz="2400"/>
              <a:t>Continual learning, documentation and adjustment </a:t>
            </a:r>
          </a:p>
          <a:p>
            <a:r>
              <a:rPr lang="en-US" sz="2400"/>
              <a:t>Work informs non-work &amp; non-work informs work </a:t>
            </a:r>
          </a:p>
          <a:p>
            <a:r>
              <a:rPr lang="en-US" sz="2400">
                <a:solidFill>
                  <a:srgbClr val="FF0000"/>
                </a:solidFill>
              </a:rPr>
              <a:t>Make employment </a:t>
            </a:r>
            <a:r>
              <a:rPr lang="en-US" sz="2400" b="1" i="1">
                <a:solidFill>
                  <a:srgbClr val="FF0000"/>
                </a:solidFill>
              </a:rPr>
              <a:t>everyone's</a:t>
            </a:r>
            <a:r>
              <a:rPr lang="en-US" sz="2400">
                <a:solidFill>
                  <a:srgbClr val="FF0000"/>
                </a:solidFill>
              </a:rPr>
              <a:t> business </a:t>
            </a:r>
          </a:p>
          <a:p>
            <a:endParaRPr lang="en-US" sz="2400"/>
          </a:p>
          <a:p>
            <a:endParaRPr lang="en-US" sz="2400"/>
          </a:p>
          <a:p>
            <a:endParaRPr lang="en-US" sz="2400"/>
          </a:p>
        </p:txBody>
      </p:sp>
      <p:pic>
        <p:nvPicPr>
          <p:cNvPr id="5" name="Picture 4" descr="Logo&#10;&#10;Description automatically generated with medium confidence">
            <a:extLst>
              <a:ext uri="{FF2B5EF4-FFF2-40B4-BE49-F238E27FC236}">
                <a16:creationId xmlns:a16="http://schemas.microsoft.com/office/drawing/2014/main" id="{EF2E3451-1A28-F914-9E3C-371D5E83C1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20649" y="5872985"/>
            <a:ext cx="1631399" cy="807980"/>
          </a:xfrm>
          <a:prstGeom prst="rect">
            <a:avLst/>
          </a:prstGeom>
        </p:spPr>
      </p:pic>
    </p:spTree>
    <p:extLst>
      <p:ext uri="{BB962C8B-B14F-4D97-AF65-F5344CB8AC3E}">
        <p14:creationId xmlns:p14="http://schemas.microsoft.com/office/powerpoint/2010/main" val="448239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D2457-6AB0-AFA7-8154-C0D8FB0BC218}"/>
              </a:ext>
            </a:extLst>
          </p:cNvPr>
          <p:cNvSpPr>
            <a:spLocks noGrp="1"/>
          </p:cNvSpPr>
          <p:nvPr>
            <p:ph type="title"/>
          </p:nvPr>
        </p:nvSpPr>
        <p:spPr>
          <a:xfrm>
            <a:off x="9035848" y="2011105"/>
            <a:ext cx="2469624" cy="2846070"/>
          </a:xfrm>
        </p:spPr>
        <p:txBody>
          <a:bodyPr vert="horz" lIns="91440" tIns="45720" rIns="91440" bIns="45720" rtlCol="0" anchor="ctr">
            <a:normAutofit fontScale="90000"/>
          </a:bodyPr>
          <a:lstStyle/>
          <a:p>
            <a:r>
              <a:rPr lang="en-US" sz="3700"/>
              <a:t>Services &amp; Supports </a:t>
            </a:r>
            <a:br>
              <a:rPr lang="en-US" sz="3700"/>
            </a:br>
            <a:r>
              <a:rPr lang="en-US" sz="3700"/>
              <a:t>Designed Holistically  </a:t>
            </a:r>
            <a:r>
              <a:rPr lang="en-US" sz="3700" b="1" i="1"/>
              <a:t>Around</a:t>
            </a:r>
            <a:r>
              <a:rPr lang="en-US" sz="3700"/>
              <a:t> </a:t>
            </a:r>
            <a:br>
              <a:rPr lang="en-US" sz="3700"/>
            </a:br>
            <a:r>
              <a:rPr lang="en-US" sz="3700"/>
              <a:t>and </a:t>
            </a:r>
            <a:br>
              <a:rPr lang="en-US" sz="3700"/>
            </a:br>
            <a:r>
              <a:rPr lang="en-US" sz="3700" b="1" i="1"/>
              <a:t>With</a:t>
            </a:r>
            <a:r>
              <a:rPr lang="en-US" sz="3700"/>
              <a:t> </a:t>
            </a:r>
            <a:br>
              <a:rPr lang="en-US" sz="3700"/>
            </a:br>
            <a:r>
              <a:rPr lang="en-US" sz="3700"/>
              <a:t>the Person</a:t>
            </a:r>
            <a:br>
              <a:rPr lang="en-US" sz="3700"/>
            </a:br>
            <a:r>
              <a:rPr lang="en-US" sz="3700"/>
              <a:t>&amp; Their Family</a:t>
            </a:r>
          </a:p>
        </p:txBody>
      </p:sp>
      <p:pic>
        <p:nvPicPr>
          <p:cNvPr id="4" name="Content Placeholder 3" descr="A circular diagram of a group of people&#10;&#10;Description automatically generated">
            <a:extLst>
              <a:ext uri="{FF2B5EF4-FFF2-40B4-BE49-F238E27FC236}">
                <a16:creationId xmlns:a16="http://schemas.microsoft.com/office/drawing/2014/main" id="{3BA627C1-2198-4E15-4703-4C60BD0F6EB1}"/>
              </a:ext>
            </a:extLst>
          </p:cNvPr>
          <p:cNvPicPr>
            <a:picLocks noGrp="1" noChangeAspect="1"/>
          </p:cNvPicPr>
          <p:nvPr>
            <p:ph idx="1"/>
          </p:nvPr>
        </p:nvPicPr>
        <p:blipFill rotWithShape="1">
          <a:blip r:embed="rId3"/>
          <a:srcRect l="15348" r="13488" b="1"/>
          <a:stretch/>
        </p:blipFill>
        <p:spPr>
          <a:xfrm>
            <a:off x="536057" y="176894"/>
            <a:ext cx="7608304" cy="5211906"/>
          </a:xfrm>
          <a:prstGeom prst="rect">
            <a:avLst/>
          </a:prstGeom>
        </p:spPr>
      </p:pic>
      <p:sp>
        <p:nvSpPr>
          <p:cNvPr id="3" name="TextBox 2">
            <a:extLst>
              <a:ext uri="{FF2B5EF4-FFF2-40B4-BE49-F238E27FC236}">
                <a16:creationId xmlns:a16="http://schemas.microsoft.com/office/drawing/2014/main" id="{40F98612-518B-5611-F9A9-9F249EAB9F5E}"/>
              </a:ext>
            </a:extLst>
          </p:cNvPr>
          <p:cNvSpPr txBox="1"/>
          <p:nvPr/>
        </p:nvSpPr>
        <p:spPr>
          <a:xfrm>
            <a:off x="2785672" y="5483901"/>
            <a:ext cx="3110458" cy="3818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hlinkClick r:id="rId4"/>
              </a:rPr>
              <a:t>www.LifeCourseTools.com</a:t>
            </a:r>
            <a:r>
              <a:rPr lang="en-US">
                <a:ea typeface="+mn-lt"/>
                <a:cs typeface="+mn-lt"/>
              </a:rPr>
              <a:t> </a:t>
            </a:r>
            <a:endParaRPr lang="en-US"/>
          </a:p>
        </p:txBody>
      </p:sp>
      <p:pic>
        <p:nvPicPr>
          <p:cNvPr id="6" name="Picture 5" descr="Logo&#10;&#10;Description automatically generated with medium confidence">
            <a:extLst>
              <a:ext uri="{FF2B5EF4-FFF2-40B4-BE49-F238E27FC236}">
                <a16:creationId xmlns:a16="http://schemas.microsoft.com/office/drawing/2014/main" id="{DFC08C60-2D77-5745-4C39-BE7C0685D41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20649" y="5872985"/>
            <a:ext cx="1631399" cy="807980"/>
          </a:xfrm>
          <a:prstGeom prst="rect">
            <a:avLst/>
          </a:prstGeom>
        </p:spPr>
      </p:pic>
    </p:spTree>
    <p:extLst>
      <p:ext uri="{BB962C8B-B14F-4D97-AF65-F5344CB8AC3E}">
        <p14:creationId xmlns:p14="http://schemas.microsoft.com/office/powerpoint/2010/main" val="3016179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8D7CE-7709-4C9F-6C22-ACD27D725146}"/>
              </a:ext>
            </a:extLst>
          </p:cNvPr>
          <p:cNvSpPr>
            <a:spLocks noGrp="1"/>
          </p:cNvSpPr>
          <p:nvPr>
            <p:ph type="title"/>
          </p:nvPr>
        </p:nvSpPr>
        <p:spPr>
          <a:xfrm>
            <a:off x="540994" y="738347"/>
            <a:ext cx="4171994" cy="5260540"/>
          </a:xfrm>
        </p:spPr>
        <p:txBody>
          <a:bodyPr vert="horz" lIns="91440" tIns="45720" rIns="91440" bIns="45720" rtlCol="0" anchor="b">
            <a:normAutofit/>
          </a:bodyPr>
          <a:lstStyle/>
          <a:p>
            <a:r>
              <a:rPr lang="en-US" sz="3300"/>
              <a:t>Bake </a:t>
            </a:r>
            <a:br>
              <a:rPr lang="en-US" sz="3300"/>
            </a:br>
            <a:r>
              <a:rPr lang="en-US" sz="3300"/>
              <a:t>Person-Centered </a:t>
            </a:r>
            <a:br>
              <a:rPr lang="en-US" sz="3300"/>
            </a:br>
            <a:r>
              <a:rPr lang="en-US" sz="3300"/>
              <a:t>Thinking </a:t>
            </a:r>
            <a:br>
              <a:rPr lang="en-US" sz="3300"/>
            </a:br>
            <a:r>
              <a:rPr lang="en-US" sz="3300"/>
              <a:t>&amp; Planning </a:t>
            </a:r>
            <a:br>
              <a:rPr lang="en-US" sz="3300"/>
            </a:br>
            <a:r>
              <a:rPr lang="en-US" sz="3300" b="1" i="1"/>
              <a:t>into</a:t>
            </a:r>
            <a:r>
              <a:rPr lang="en-US" sz="3300"/>
              <a:t> </a:t>
            </a:r>
            <a:br>
              <a:rPr lang="en-US" sz="3300"/>
            </a:br>
            <a:r>
              <a:rPr lang="en-US" sz="3300"/>
              <a:t>Service Delivery</a:t>
            </a:r>
            <a:br>
              <a:rPr lang="en-US" sz="3300"/>
            </a:br>
            <a:r>
              <a:rPr lang="en-US" sz="3300"/>
              <a:t>&amp; Culture </a:t>
            </a:r>
            <a:br>
              <a:rPr lang="en-US" sz="3300"/>
            </a:br>
            <a:br>
              <a:rPr lang="en-US" sz="3300"/>
            </a:br>
            <a:br>
              <a:rPr lang="en-US" sz="3300"/>
            </a:br>
            <a:r>
              <a:rPr lang="en-US" sz="2400" i="1"/>
              <a:t>Note: this isn't just filling out a form</a:t>
            </a:r>
          </a:p>
        </p:txBody>
      </p:sp>
      <p:pic>
        <p:nvPicPr>
          <p:cNvPr id="5" name="Picture 4" descr="Cookie cutter and dough cut-outs in the shape of stars and hearts">
            <a:extLst>
              <a:ext uri="{FF2B5EF4-FFF2-40B4-BE49-F238E27FC236}">
                <a16:creationId xmlns:a16="http://schemas.microsoft.com/office/drawing/2014/main" id="{F924D7F0-1294-0AF1-25BA-3801E950D7BE}"/>
              </a:ext>
            </a:extLst>
          </p:cNvPr>
          <p:cNvPicPr>
            <a:picLocks noChangeAspect="1"/>
          </p:cNvPicPr>
          <p:nvPr/>
        </p:nvPicPr>
        <p:blipFill rotWithShape="1">
          <a:blip r:embed="rId3"/>
          <a:srcRect r="25319" b="2"/>
          <a:stretch/>
        </p:blipFill>
        <p:spPr>
          <a:xfrm>
            <a:off x="5640572" y="557360"/>
            <a:ext cx="5608830" cy="5632704"/>
          </a:xfrm>
          <a:prstGeom prst="rect">
            <a:avLst/>
          </a:prstGeom>
        </p:spPr>
      </p:pic>
      <p:pic>
        <p:nvPicPr>
          <p:cNvPr id="4" name="Picture 3" descr="Logo&#10;&#10;Description automatically generated with medium confidence">
            <a:extLst>
              <a:ext uri="{FF2B5EF4-FFF2-40B4-BE49-F238E27FC236}">
                <a16:creationId xmlns:a16="http://schemas.microsoft.com/office/drawing/2014/main" id="{F61CB402-B1DC-3127-00DA-51D1093A67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9592" y="6002380"/>
            <a:ext cx="1185701" cy="649829"/>
          </a:xfrm>
          <a:prstGeom prst="rect">
            <a:avLst/>
          </a:prstGeom>
        </p:spPr>
      </p:pic>
    </p:spTree>
    <p:extLst>
      <p:ext uri="{BB962C8B-B14F-4D97-AF65-F5344CB8AC3E}">
        <p14:creationId xmlns:p14="http://schemas.microsoft.com/office/powerpoint/2010/main" val="2480090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98AFF38-502D-F782-5716-05E8C70E8E8E}"/>
              </a:ext>
            </a:extLst>
          </p:cNvPr>
          <p:cNvGraphicFramePr>
            <a:graphicFrameLocks noGrp="1"/>
          </p:cNvGraphicFramePr>
          <p:nvPr/>
        </p:nvGraphicFramePr>
        <p:xfrm>
          <a:off x="4556423" y="99550"/>
          <a:ext cx="7310680" cy="6758450"/>
        </p:xfrm>
        <a:graphic>
          <a:graphicData uri="http://schemas.openxmlformats.org/drawingml/2006/table">
            <a:tbl>
              <a:tblPr firstRow="1" firstCol="1" bandRow="1">
                <a:tableStyleId>{5C22544A-7EE6-4342-B048-85BDC9FD1C3A}</a:tableStyleId>
              </a:tblPr>
              <a:tblGrid>
                <a:gridCol w="2436372">
                  <a:extLst>
                    <a:ext uri="{9D8B030D-6E8A-4147-A177-3AD203B41FA5}">
                      <a16:colId xmlns:a16="http://schemas.microsoft.com/office/drawing/2014/main" val="1565836828"/>
                    </a:ext>
                  </a:extLst>
                </a:gridCol>
                <a:gridCol w="2437154">
                  <a:extLst>
                    <a:ext uri="{9D8B030D-6E8A-4147-A177-3AD203B41FA5}">
                      <a16:colId xmlns:a16="http://schemas.microsoft.com/office/drawing/2014/main" val="185761713"/>
                    </a:ext>
                  </a:extLst>
                </a:gridCol>
                <a:gridCol w="2437154">
                  <a:extLst>
                    <a:ext uri="{9D8B030D-6E8A-4147-A177-3AD203B41FA5}">
                      <a16:colId xmlns:a16="http://schemas.microsoft.com/office/drawing/2014/main" val="881489648"/>
                    </a:ext>
                  </a:extLst>
                </a:gridCol>
              </a:tblGrid>
              <a:tr h="246424">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tc>
                  <a:txBody>
                    <a:bodyPr/>
                    <a:lstStyle/>
                    <a:p>
                      <a:pPr marL="0" marR="0" algn="ctr">
                        <a:lnSpc>
                          <a:spcPct val="107000"/>
                        </a:lnSpc>
                        <a:spcBef>
                          <a:spcPts val="0"/>
                        </a:spcBef>
                        <a:spcAft>
                          <a:spcPts val="0"/>
                        </a:spcAft>
                      </a:pPr>
                      <a:r>
                        <a:rPr lang="en-US" sz="1400" kern="100">
                          <a:effectLst/>
                        </a:rPr>
                        <a:t>Point of Engagement</a:t>
                      </a:r>
                    </a:p>
                  </a:txBody>
                  <a:tcPr marL="68580" marR="68580" marT="0" marB="0">
                    <a:solidFill>
                      <a:schemeClr val="accent2">
                        <a:lumMod val="75000"/>
                      </a:schemeClr>
                    </a:solidFill>
                  </a:tcPr>
                </a:tc>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2080438060"/>
                  </a:ext>
                </a:extLst>
              </a:tr>
              <a:tr h="691362">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400" b="1" kern="100">
                          <a:effectLst/>
                        </a:rPr>
                        <a:t>Person-Centered Thinking, Discovery, Assessment and Planning</a:t>
                      </a:r>
                      <a:endParaRPr lang="en-US"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2015653"/>
                  </a:ext>
                </a:extLst>
              </a:tr>
              <a:tr h="393794">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400" b="1" kern="100">
                          <a:solidFill>
                            <a:schemeClr val="tx1"/>
                          </a:solidFill>
                          <a:effectLst/>
                        </a:rPr>
                        <a:t>Individual Service Plan</a:t>
                      </a:r>
                    </a:p>
                    <a:p>
                      <a:pPr marL="0" marR="0" algn="just">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4204148"/>
                  </a:ext>
                </a:extLst>
              </a:tr>
              <a:tr h="262774">
                <a:tc>
                  <a:txBody>
                    <a:bodyPr/>
                    <a:lstStyle/>
                    <a:p>
                      <a:pPr marL="0" marR="0" algn="ctr">
                        <a:lnSpc>
                          <a:spcPct val="107000"/>
                        </a:lnSpc>
                        <a:spcBef>
                          <a:spcPts val="0"/>
                        </a:spcBef>
                        <a:spcAft>
                          <a:spcPts val="0"/>
                        </a:spcAft>
                      </a:pPr>
                      <a:r>
                        <a:rPr lang="en-US" sz="1400" kern="100">
                          <a:effectLst/>
                        </a:rPr>
                        <a:t>Practices </a:t>
                      </a:r>
                      <a:r>
                        <a:rPr lang="en-US" sz="1400" kern="100">
                          <a:effectLst/>
                          <a:sym typeface="Wingdings" panose="05000000000000000000" pitchFamily="2" charset="2"/>
                        </a:rPr>
                        <a:t> CIE Outcomes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400" b="1" kern="100">
                          <a:effectLst/>
                        </a:rPr>
                        <a:t>Practices </a:t>
                      </a:r>
                      <a:r>
                        <a:rPr lang="en-US" sz="1400" b="1" kern="100">
                          <a:effectLst/>
                          <a:sym typeface="Wingdings" panose="05000000000000000000" pitchFamily="2" charset="2"/>
                        </a:rPr>
                        <a:t> CLE Outcomes</a:t>
                      </a:r>
                      <a:endParaRPr lang="en-US"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9072038"/>
                  </a:ext>
                </a:extLst>
              </a:tr>
              <a:tr h="262774">
                <a:tc>
                  <a:txBody>
                    <a:bodyPr/>
                    <a:lstStyle/>
                    <a:p>
                      <a:pPr marL="0" marR="0">
                        <a:lnSpc>
                          <a:spcPct val="107000"/>
                        </a:lnSpc>
                        <a:spcBef>
                          <a:spcPts val="0"/>
                        </a:spcBef>
                        <a:spcAft>
                          <a:spcPts val="0"/>
                        </a:spcAft>
                      </a:pPr>
                      <a:r>
                        <a:rPr lang="en-US" sz="1200" kern="100">
                          <a:effectLst/>
                        </a:rPr>
                        <a:t>CIE Exploration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CLE Exploration</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19058261"/>
                  </a:ext>
                </a:extLst>
              </a:tr>
              <a:tr h="262774">
                <a:tc>
                  <a:txBody>
                    <a:bodyPr/>
                    <a:lstStyle/>
                    <a:p>
                      <a:pPr marL="0" marR="0">
                        <a:lnSpc>
                          <a:spcPct val="107000"/>
                        </a:lnSpc>
                        <a:spcBef>
                          <a:spcPts val="0"/>
                        </a:spcBef>
                        <a:spcAft>
                          <a:spcPts val="0"/>
                        </a:spcAft>
                      </a:pPr>
                      <a:r>
                        <a:rPr lang="en-US" sz="1200" kern="100">
                          <a:effectLst/>
                        </a:rPr>
                        <a:t>CIE Themes and Goals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CLE Themes and Goals</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71870736"/>
                  </a:ext>
                </a:extLst>
              </a:tr>
              <a:tr h="262774">
                <a:tc>
                  <a:txBody>
                    <a:bodyPr/>
                    <a:lstStyle/>
                    <a:p>
                      <a:pPr marL="0" marR="0">
                        <a:lnSpc>
                          <a:spcPct val="107000"/>
                        </a:lnSpc>
                        <a:spcBef>
                          <a:spcPts val="0"/>
                        </a:spcBef>
                        <a:spcAft>
                          <a:spcPts val="0"/>
                        </a:spcAft>
                      </a:pPr>
                      <a:r>
                        <a:rPr lang="en-US" sz="1200" kern="100">
                          <a:effectLst/>
                        </a:rPr>
                        <a:t>CIE Plan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CLE Plan</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276583"/>
                  </a:ext>
                </a:extLst>
              </a:tr>
              <a:tr h="535533">
                <a:tc>
                  <a:txBody>
                    <a:bodyPr/>
                    <a:lstStyle/>
                    <a:p>
                      <a:pPr marL="0" marR="0">
                        <a:lnSpc>
                          <a:spcPct val="107000"/>
                        </a:lnSpc>
                        <a:spcBef>
                          <a:spcPts val="0"/>
                        </a:spcBef>
                        <a:spcAft>
                          <a:spcPts val="0"/>
                        </a:spcAft>
                      </a:pPr>
                      <a:r>
                        <a:rPr lang="en-US" sz="1200" kern="100">
                          <a:effectLst/>
                        </a:rPr>
                        <a:t>Employment Development:</a:t>
                      </a:r>
                    </a:p>
                    <a:p>
                      <a:pPr marL="0" marR="0">
                        <a:lnSpc>
                          <a:spcPct val="107000"/>
                        </a:lnSpc>
                        <a:spcBef>
                          <a:spcPts val="0"/>
                        </a:spcBef>
                        <a:spcAft>
                          <a:spcPts val="0"/>
                        </a:spcAft>
                      </a:pPr>
                      <a:r>
                        <a:rPr lang="en-US" sz="1200" kern="100">
                          <a:effectLst/>
                        </a:rPr>
                        <a:t>Conventional/Customized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Community Development:</a:t>
                      </a:r>
                    </a:p>
                    <a:p>
                      <a:pPr marL="0" marR="0">
                        <a:lnSpc>
                          <a:spcPct val="107000"/>
                        </a:lnSpc>
                        <a:spcBef>
                          <a:spcPts val="0"/>
                        </a:spcBef>
                        <a:spcAft>
                          <a:spcPts val="0"/>
                        </a:spcAft>
                      </a:pPr>
                      <a:r>
                        <a:rPr lang="en-US" sz="1200" b="1" kern="100">
                          <a:effectLst/>
                        </a:rPr>
                        <a:t>Conventional/Customized</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93638040"/>
                  </a:ext>
                </a:extLst>
              </a:tr>
              <a:tr h="535533">
                <a:tc>
                  <a:txBody>
                    <a:bodyPr/>
                    <a:lstStyle/>
                    <a:p>
                      <a:pPr marL="0" marR="0">
                        <a:lnSpc>
                          <a:spcPct val="107000"/>
                        </a:lnSpc>
                        <a:spcBef>
                          <a:spcPts val="0"/>
                        </a:spcBef>
                        <a:spcAft>
                          <a:spcPts val="0"/>
                        </a:spcAft>
                      </a:pPr>
                      <a:r>
                        <a:rPr lang="en-US" sz="1200" kern="100">
                          <a:effectLst/>
                        </a:rPr>
                        <a:t>Accommodations and Assistive Technologies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Accommodations and Assistive Technologies</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53074530"/>
                  </a:ext>
                </a:extLst>
              </a:tr>
              <a:tr h="262774">
                <a:tc>
                  <a:txBody>
                    <a:bodyPr/>
                    <a:lstStyle/>
                    <a:p>
                      <a:pPr marL="0" marR="0">
                        <a:lnSpc>
                          <a:spcPct val="107000"/>
                        </a:lnSpc>
                        <a:spcBef>
                          <a:spcPts val="0"/>
                        </a:spcBef>
                        <a:spcAft>
                          <a:spcPts val="0"/>
                        </a:spcAft>
                      </a:pPr>
                      <a:r>
                        <a:rPr lang="en-US" sz="1200" kern="100">
                          <a:effectLst/>
                        </a:rPr>
                        <a:t>Transportation Planning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Transportation Planning</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9897778"/>
                  </a:ext>
                </a:extLst>
              </a:tr>
              <a:tr h="535533">
                <a:tc>
                  <a:txBody>
                    <a:bodyPr/>
                    <a:lstStyle/>
                    <a:p>
                      <a:pPr marL="0" marR="0">
                        <a:lnSpc>
                          <a:spcPct val="107000"/>
                        </a:lnSpc>
                        <a:spcBef>
                          <a:spcPts val="0"/>
                        </a:spcBef>
                        <a:spcAft>
                          <a:spcPts val="0"/>
                        </a:spcAft>
                      </a:pPr>
                      <a:r>
                        <a:rPr lang="en-US" sz="1200" kern="100">
                          <a:effectLst/>
                        </a:rPr>
                        <a:t>Disability Benefits and Healthcare Planning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Wellness and Physical Fitness Planning</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7900443"/>
                  </a:ext>
                </a:extLst>
              </a:tr>
              <a:tr h="535533">
                <a:tc>
                  <a:txBody>
                    <a:bodyPr/>
                    <a:lstStyle/>
                    <a:p>
                      <a:pPr marL="0" marR="0">
                        <a:lnSpc>
                          <a:spcPct val="107000"/>
                        </a:lnSpc>
                        <a:spcBef>
                          <a:spcPts val="0"/>
                        </a:spcBef>
                        <a:spcAft>
                          <a:spcPts val="0"/>
                        </a:spcAft>
                      </a:pPr>
                      <a:r>
                        <a:rPr lang="en-US" sz="1200" kern="100">
                          <a:effectLst/>
                        </a:rPr>
                        <a:t>Job Skills Training and Job Coaching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Life Skills Training and Activities Coaching</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3773256"/>
                  </a:ext>
                </a:extLst>
              </a:tr>
              <a:tr h="262774">
                <a:tc>
                  <a:txBody>
                    <a:bodyPr/>
                    <a:lstStyle/>
                    <a:p>
                      <a:pPr marL="0" marR="0">
                        <a:lnSpc>
                          <a:spcPct val="107000"/>
                        </a:lnSpc>
                        <a:spcBef>
                          <a:spcPts val="0"/>
                        </a:spcBef>
                        <a:spcAft>
                          <a:spcPts val="0"/>
                        </a:spcAft>
                      </a:pPr>
                      <a:r>
                        <a:rPr lang="en-US" sz="1200" kern="100">
                          <a:effectLst/>
                        </a:rPr>
                        <a:t>Natural CIE Supports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Natural CLE Supports</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83570124"/>
                  </a:ext>
                </a:extLst>
              </a:tr>
              <a:tr h="262774">
                <a:tc>
                  <a:txBody>
                    <a:bodyPr/>
                    <a:lstStyle/>
                    <a:p>
                      <a:pPr marL="0" marR="0">
                        <a:lnSpc>
                          <a:spcPct val="107000"/>
                        </a:lnSpc>
                        <a:spcBef>
                          <a:spcPts val="0"/>
                        </a:spcBef>
                        <a:spcAft>
                          <a:spcPts val="0"/>
                        </a:spcAft>
                      </a:pPr>
                      <a:r>
                        <a:rPr lang="en-US" sz="1200" kern="100">
                          <a:effectLst/>
                        </a:rPr>
                        <a:t>Work Schedule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Non-Work Schedule</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16403225"/>
                  </a:ext>
                </a:extLst>
              </a:tr>
              <a:tr h="262774">
                <a:tc>
                  <a:txBody>
                    <a:bodyPr/>
                    <a:lstStyle/>
                    <a:p>
                      <a:pPr marL="0" marR="0">
                        <a:lnSpc>
                          <a:spcPct val="107000"/>
                        </a:lnSpc>
                        <a:spcBef>
                          <a:spcPts val="0"/>
                        </a:spcBef>
                        <a:spcAft>
                          <a:spcPts val="0"/>
                        </a:spcAft>
                      </a:pPr>
                      <a:r>
                        <a:rPr lang="en-US" sz="1200" kern="100">
                          <a:effectLst/>
                        </a:rPr>
                        <a:t>CIE Follow-Up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Community Inclusion Follow-Up</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2404715"/>
                  </a:ext>
                </a:extLst>
              </a:tr>
              <a:tr h="262774">
                <a:tc>
                  <a:txBody>
                    <a:bodyPr/>
                    <a:lstStyle/>
                    <a:p>
                      <a:pPr marL="0" marR="0">
                        <a:lnSpc>
                          <a:spcPct val="107000"/>
                        </a:lnSpc>
                        <a:spcBef>
                          <a:spcPts val="0"/>
                        </a:spcBef>
                        <a:spcAft>
                          <a:spcPts val="0"/>
                        </a:spcAft>
                      </a:pPr>
                      <a:r>
                        <a:rPr lang="en-US" sz="1200" kern="100">
                          <a:effectLst/>
                        </a:rPr>
                        <a:t>Supported Employment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Ongoing CLE Supports</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81838184"/>
                  </a:ext>
                </a:extLst>
              </a:tr>
              <a:tr h="262774">
                <a:tc>
                  <a:txBody>
                    <a:bodyPr/>
                    <a:lstStyle/>
                    <a:p>
                      <a:pPr marL="0" marR="0">
                        <a:lnSpc>
                          <a:spcPct val="107000"/>
                        </a:lnSpc>
                        <a:spcBef>
                          <a:spcPts val="0"/>
                        </a:spcBef>
                        <a:spcAft>
                          <a:spcPts val="0"/>
                        </a:spcAft>
                      </a:pPr>
                      <a:r>
                        <a:rPr lang="en-US" sz="1200" kern="100">
                          <a:effectLst/>
                        </a:rPr>
                        <a:t>Job Growth and Progression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Individual Growth and Expression</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46996064"/>
                  </a:ext>
                </a:extLst>
              </a:tr>
              <a:tr h="535533">
                <a:tc>
                  <a:txBody>
                    <a:bodyPr/>
                    <a:lstStyle/>
                    <a:p>
                      <a:pPr marL="0" marR="0">
                        <a:lnSpc>
                          <a:spcPct val="107000"/>
                        </a:lnSpc>
                        <a:spcBef>
                          <a:spcPts val="0"/>
                        </a:spcBef>
                        <a:spcAft>
                          <a:spcPts val="0"/>
                        </a:spcAft>
                      </a:pPr>
                      <a:r>
                        <a:rPr lang="en-US" sz="1200" kern="100">
                          <a:effectLst/>
                        </a:rPr>
                        <a:t>Referral and Coordination with CLE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Referral and Coordination with CIE</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1642346"/>
                  </a:ext>
                </a:extLst>
              </a:tr>
            </a:tbl>
          </a:graphicData>
        </a:graphic>
      </p:graphicFrame>
      <p:sp>
        <p:nvSpPr>
          <p:cNvPr id="6" name="Rectangle 2">
            <a:extLst>
              <a:ext uri="{FF2B5EF4-FFF2-40B4-BE49-F238E27FC236}">
                <a16:creationId xmlns:a16="http://schemas.microsoft.com/office/drawing/2014/main" id="{CACC9577-B511-8627-8A9D-7EA7A2A4F9F6}"/>
              </a:ext>
            </a:extLst>
          </p:cNvPr>
          <p:cNvSpPr>
            <a:spLocks noChangeArrowheads="1"/>
          </p:cNvSpPr>
          <p:nvPr/>
        </p:nvSpPr>
        <p:spPr bwMode="auto">
          <a:xfrm>
            <a:off x="4192500" y="236403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cxnSp>
        <p:nvCxnSpPr>
          <p:cNvPr id="8" name="Straight Arrow Connector 7">
            <a:extLst>
              <a:ext uri="{FF2B5EF4-FFF2-40B4-BE49-F238E27FC236}">
                <a16:creationId xmlns:a16="http://schemas.microsoft.com/office/drawing/2014/main" id="{1D35270A-9D62-431D-B8B2-D258BC1403AA}"/>
              </a:ext>
            </a:extLst>
          </p:cNvPr>
          <p:cNvCxnSpPr>
            <a:cxnSpLocks/>
          </p:cNvCxnSpPr>
          <p:nvPr/>
        </p:nvCxnSpPr>
        <p:spPr>
          <a:xfrm>
            <a:off x="8209503" y="1306285"/>
            <a:ext cx="1155561" cy="271306"/>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4D07F386-36AE-01F8-40D9-AFE939B5594E}"/>
              </a:ext>
            </a:extLst>
          </p:cNvPr>
          <p:cNvCxnSpPr>
            <a:cxnSpLocks/>
          </p:cNvCxnSpPr>
          <p:nvPr/>
        </p:nvCxnSpPr>
        <p:spPr>
          <a:xfrm flipH="1">
            <a:off x="7053943" y="1306285"/>
            <a:ext cx="1155560" cy="271306"/>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6" name="Speech Bubble: Rectangle with Corners Rounded 15">
            <a:extLst>
              <a:ext uri="{FF2B5EF4-FFF2-40B4-BE49-F238E27FC236}">
                <a16:creationId xmlns:a16="http://schemas.microsoft.com/office/drawing/2014/main" id="{7DCF783C-BB9B-4393-2D48-5DC5AFDC3422}"/>
              </a:ext>
            </a:extLst>
          </p:cNvPr>
          <p:cNvSpPr/>
          <p:nvPr/>
        </p:nvSpPr>
        <p:spPr>
          <a:xfrm>
            <a:off x="432581" y="1145669"/>
            <a:ext cx="3636336" cy="2893925"/>
          </a:xfrm>
          <a:prstGeom prst="wedgeRoundRectCallou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solidFill>
                  <a:schemeClr val="bg1"/>
                </a:solidFill>
              </a:rPr>
              <a:t>Person-Centered Practices that Support an Inclusive Working Life</a:t>
            </a:r>
          </a:p>
        </p:txBody>
      </p:sp>
      <p:sp>
        <p:nvSpPr>
          <p:cNvPr id="18" name="TextBox 17">
            <a:extLst>
              <a:ext uri="{FF2B5EF4-FFF2-40B4-BE49-F238E27FC236}">
                <a16:creationId xmlns:a16="http://schemas.microsoft.com/office/drawing/2014/main" id="{22AFA721-98F3-D622-3CB3-0D89BA620E68}"/>
              </a:ext>
            </a:extLst>
          </p:cNvPr>
          <p:cNvSpPr txBox="1"/>
          <p:nvPr/>
        </p:nvSpPr>
        <p:spPr>
          <a:xfrm>
            <a:off x="373801" y="5712331"/>
            <a:ext cx="3753896" cy="1077218"/>
          </a:xfrm>
          <a:prstGeom prst="rect">
            <a:avLst/>
          </a:prstGeom>
          <a:noFill/>
        </p:spPr>
        <p:txBody>
          <a:bodyPr wrap="square">
            <a:spAutoFit/>
          </a:bodyPr>
          <a:lstStyle/>
          <a:p>
            <a:r>
              <a:rPr lang="en-US" sz="1600" b="1"/>
              <a:t>Source: The Death of Rehabilitation, or Lighting New Pathways to an Inclusive Working Life, Cambridge Scholars Publishing, </a:t>
            </a:r>
          </a:p>
        </p:txBody>
      </p:sp>
      <p:sp>
        <p:nvSpPr>
          <p:cNvPr id="2" name="Arrow: Left-Right 1">
            <a:extLst>
              <a:ext uri="{FF2B5EF4-FFF2-40B4-BE49-F238E27FC236}">
                <a16:creationId xmlns:a16="http://schemas.microsoft.com/office/drawing/2014/main" id="{4FA20EE1-9324-1398-664A-05904FE49B9E}"/>
              </a:ext>
            </a:extLst>
          </p:cNvPr>
          <p:cNvSpPr/>
          <p:nvPr/>
        </p:nvSpPr>
        <p:spPr>
          <a:xfrm>
            <a:off x="7470530" y="6481187"/>
            <a:ext cx="1557495" cy="18087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0800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BBBC8-DFA0-1D3A-2BF3-7EE8E02C4F48}"/>
              </a:ext>
            </a:extLst>
          </p:cNvPr>
          <p:cNvSpPr>
            <a:spLocks noGrp="1"/>
          </p:cNvSpPr>
          <p:nvPr>
            <p:ph type="title"/>
          </p:nvPr>
        </p:nvSpPr>
        <p:spPr>
          <a:xfrm>
            <a:off x="158827" y="-2104"/>
            <a:ext cx="11736635" cy="1325563"/>
          </a:xfrm>
        </p:spPr>
        <p:txBody>
          <a:bodyPr/>
          <a:lstStyle/>
          <a:p>
            <a:r>
              <a:rPr lang="en-US"/>
              <a:t>Guidance for Conversations </a:t>
            </a:r>
          </a:p>
        </p:txBody>
      </p:sp>
      <p:sp>
        <p:nvSpPr>
          <p:cNvPr id="3" name="Content Placeholder 2">
            <a:extLst>
              <a:ext uri="{FF2B5EF4-FFF2-40B4-BE49-F238E27FC236}">
                <a16:creationId xmlns:a16="http://schemas.microsoft.com/office/drawing/2014/main" id="{DC6877B3-B0B8-D283-835B-05A12B25EB01}"/>
              </a:ext>
            </a:extLst>
          </p:cNvPr>
          <p:cNvSpPr>
            <a:spLocks noGrp="1"/>
          </p:cNvSpPr>
          <p:nvPr>
            <p:ph idx="1"/>
          </p:nvPr>
        </p:nvSpPr>
        <p:spPr>
          <a:xfrm>
            <a:off x="480152" y="1329866"/>
            <a:ext cx="10515600" cy="4351338"/>
          </a:xfrm>
        </p:spPr>
        <p:txBody>
          <a:bodyPr vert="horz" lIns="91440" tIns="45720" rIns="91440" bIns="45720" rtlCol="0" anchor="t">
            <a:normAutofit/>
          </a:bodyPr>
          <a:lstStyle/>
          <a:p>
            <a:r>
              <a:rPr lang="en-US"/>
              <a:t>Instead of "Do you want to work?"</a:t>
            </a:r>
          </a:p>
          <a:p>
            <a:endParaRPr lang="en-US"/>
          </a:p>
          <a:p>
            <a:r>
              <a:rPr lang="en-US"/>
              <a:t>Ask things like: </a:t>
            </a:r>
          </a:p>
          <a:p>
            <a:pPr lvl="1">
              <a:buFont typeface="Courier New" panose="020B0604020202020204" pitchFamily="34" charset="0"/>
              <a:buChar char="o"/>
            </a:pPr>
            <a:r>
              <a:rPr lang="en-US"/>
              <a:t>Imagine yourself working, what would you be doing?</a:t>
            </a:r>
          </a:p>
          <a:p>
            <a:pPr lvl="1">
              <a:buFont typeface="Courier New" panose="020B0604020202020204" pitchFamily="34" charset="0"/>
              <a:buChar char="o"/>
            </a:pPr>
            <a:r>
              <a:rPr lang="en-US"/>
              <a:t>Tell me what you like most about your day?</a:t>
            </a:r>
          </a:p>
          <a:p>
            <a:pPr lvl="1">
              <a:buFont typeface="Courier New" panose="020B0604020202020204" pitchFamily="34" charset="0"/>
              <a:buChar char="o"/>
            </a:pPr>
            <a:r>
              <a:rPr lang="en-US"/>
              <a:t>What would you do if you had more money? </a:t>
            </a:r>
          </a:p>
          <a:p>
            <a:pPr lvl="1">
              <a:buFont typeface="Courier New" panose="020B0604020202020204" pitchFamily="34" charset="0"/>
              <a:buChar char="o"/>
            </a:pPr>
            <a:r>
              <a:rPr lang="en-US"/>
              <a:t>What are you good at?</a:t>
            </a:r>
          </a:p>
          <a:p>
            <a:pPr lvl="1">
              <a:buFont typeface="Courier New" panose="020B0604020202020204" pitchFamily="34" charset="0"/>
              <a:buChar char="o"/>
            </a:pPr>
            <a:r>
              <a:rPr lang="en-US"/>
              <a:t>What are things you don't like to do?</a:t>
            </a:r>
          </a:p>
          <a:p>
            <a:pPr lvl="1">
              <a:buFont typeface="Courier New" panose="020B0604020202020204" pitchFamily="34" charset="0"/>
              <a:buChar char="o"/>
            </a:pPr>
            <a:endParaRPr lang="en-US"/>
          </a:p>
        </p:txBody>
      </p:sp>
      <p:sp>
        <p:nvSpPr>
          <p:cNvPr id="5" name="TextBox 4">
            <a:extLst>
              <a:ext uri="{FF2B5EF4-FFF2-40B4-BE49-F238E27FC236}">
                <a16:creationId xmlns:a16="http://schemas.microsoft.com/office/drawing/2014/main" id="{492622D9-04F1-587F-E600-B9F16A16DC26}"/>
              </a:ext>
            </a:extLst>
          </p:cNvPr>
          <p:cNvSpPr txBox="1"/>
          <p:nvPr/>
        </p:nvSpPr>
        <p:spPr>
          <a:xfrm>
            <a:off x="386861" y="5685693"/>
            <a:ext cx="89329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hlinkClick r:id="rId3"/>
              </a:rPr>
              <a:t>https://static.prod01.ue1.p.pcomm.net/umass/content/SELN-guidance-jan-2019.pdf</a:t>
            </a:r>
            <a:endParaRPr lang="en-US"/>
          </a:p>
        </p:txBody>
      </p:sp>
      <p:pic>
        <p:nvPicPr>
          <p:cNvPr id="6" name="Picture 5" descr="Logo&#10;&#10;Description automatically generated with medium confidence">
            <a:extLst>
              <a:ext uri="{FF2B5EF4-FFF2-40B4-BE49-F238E27FC236}">
                <a16:creationId xmlns:a16="http://schemas.microsoft.com/office/drawing/2014/main" id="{4F6C868F-DE9B-2266-D4CC-4BE968D42D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20649" y="5872985"/>
            <a:ext cx="1631399" cy="807980"/>
          </a:xfrm>
          <a:prstGeom prst="rect">
            <a:avLst/>
          </a:prstGeom>
        </p:spPr>
      </p:pic>
    </p:spTree>
    <p:extLst>
      <p:ext uri="{BB962C8B-B14F-4D97-AF65-F5344CB8AC3E}">
        <p14:creationId xmlns:p14="http://schemas.microsoft.com/office/powerpoint/2010/main" val="4192918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15" name="Picture 14" descr="A group of yellow figures and a red figure on the other side">
            <a:extLst>
              <a:ext uri="{FF2B5EF4-FFF2-40B4-BE49-F238E27FC236}">
                <a16:creationId xmlns:a16="http://schemas.microsoft.com/office/drawing/2014/main" id="{8FF74ACE-CEB5-2470-580D-90E4C859BA10}"/>
              </a:ext>
            </a:extLst>
          </p:cNvPr>
          <p:cNvPicPr>
            <a:picLocks noChangeAspect="1"/>
          </p:cNvPicPr>
          <p:nvPr/>
        </p:nvPicPr>
        <p:blipFill>
          <a:blip r:embed="rId3">
            <a:alphaModFix amt="60000"/>
          </a:blip>
          <a:srcRect t="15605" r="-2" b="-2"/>
          <a:stretch/>
        </p:blipFill>
        <p:spPr>
          <a:xfrm>
            <a:off x="-1" y="10"/>
            <a:ext cx="12192001" cy="6857990"/>
          </a:xfrm>
          <a:prstGeom prst="rect">
            <a:avLst/>
          </a:prstGeom>
        </p:spPr>
      </p:pic>
      <p:sp>
        <p:nvSpPr>
          <p:cNvPr id="2" name="Title 1">
            <a:extLst>
              <a:ext uri="{FF2B5EF4-FFF2-40B4-BE49-F238E27FC236}">
                <a16:creationId xmlns:a16="http://schemas.microsoft.com/office/drawing/2014/main" id="{B2B92255-723C-DC4C-DF80-5A0905FCE73C}"/>
              </a:ext>
            </a:extLst>
          </p:cNvPr>
          <p:cNvSpPr>
            <a:spLocks noGrp="1"/>
          </p:cNvSpPr>
          <p:nvPr>
            <p:ph type="ctrTitle"/>
          </p:nvPr>
        </p:nvSpPr>
        <p:spPr>
          <a:xfrm>
            <a:off x="838200" y="914402"/>
            <a:ext cx="10515600" cy="2985923"/>
          </a:xfrm>
        </p:spPr>
        <p:txBody>
          <a:bodyPr>
            <a:normAutofit/>
          </a:bodyPr>
          <a:lstStyle/>
          <a:p>
            <a:r>
              <a:rPr lang="en-US" sz="5200">
                <a:solidFill>
                  <a:srgbClr val="FFFFFF"/>
                </a:solidFill>
              </a:rPr>
              <a:t>Organizational Considerations </a:t>
            </a:r>
          </a:p>
        </p:txBody>
      </p:sp>
      <p:sp>
        <p:nvSpPr>
          <p:cNvPr id="3" name="Subtitle 2">
            <a:extLst>
              <a:ext uri="{FF2B5EF4-FFF2-40B4-BE49-F238E27FC236}">
                <a16:creationId xmlns:a16="http://schemas.microsoft.com/office/drawing/2014/main" id="{22F8B1E1-1161-07EE-BF10-BBE6B9472B3E}"/>
              </a:ext>
            </a:extLst>
          </p:cNvPr>
          <p:cNvSpPr>
            <a:spLocks noGrp="1"/>
          </p:cNvSpPr>
          <p:nvPr>
            <p:ph type="subTitle" idx="1"/>
          </p:nvPr>
        </p:nvSpPr>
        <p:spPr>
          <a:xfrm>
            <a:off x="838200" y="4072040"/>
            <a:ext cx="10515600" cy="1384310"/>
          </a:xfrm>
        </p:spPr>
        <p:txBody>
          <a:bodyPr vert="horz" lIns="91440" tIns="45720" rIns="91440" bIns="45720" rtlCol="0" anchor="t">
            <a:normAutofit/>
          </a:bodyPr>
          <a:lstStyle/>
          <a:p>
            <a:r>
              <a:rPr lang="en-US">
                <a:solidFill>
                  <a:srgbClr val="FFFFFF"/>
                </a:solidFill>
              </a:rPr>
              <a:t>Taking a Step Back</a:t>
            </a:r>
          </a:p>
        </p:txBody>
      </p:sp>
    </p:spTree>
    <p:extLst>
      <p:ext uri="{BB962C8B-B14F-4D97-AF65-F5344CB8AC3E}">
        <p14:creationId xmlns:p14="http://schemas.microsoft.com/office/powerpoint/2010/main" val="1728658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30357-4C90-A91A-CEDB-036B86D5648E}"/>
              </a:ext>
            </a:extLst>
          </p:cNvPr>
          <p:cNvSpPr>
            <a:spLocks noGrp="1"/>
          </p:cNvSpPr>
          <p:nvPr>
            <p:ph type="title"/>
          </p:nvPr>
        </p:nvSpPr>
        <p:spPr>
          <a:xfrm>
            <a:off x="6447619" y="144788"/>
            <a:ext cx="5589912" cy="1463260"/>
          </a:xfrm>
        </p:spPr>
        <p:txBody>
          <a:bodyPr vert="horz" lIns="91440" tIns="45720" rIns="91440" bIns="45720" rtlCol="0" anchor="ctr">
            <a:normAutofit fontScale="90000"/>
          </a:bodyPr>
          <a:lstStyle/>
          <a:p>
            <a:r>
              <a:rPr lang="en-US" sz="5200"/>
              <a:t>CLE: momentum toward employment</a:t>
            </a:r>
          </a:p>
        </p:txBody>
      </p:sp>
      <p:pic>
        <p:nvPicPr>
          <p:cNvPr id="5" name="Picture 4" descr="Solo journey">
            <a:extLst>
              <a:ext uri="{FF2B5EF4-FFF2-40B4-BE49-F238E27FC236}">
                <a16:creationId xmlns:a16="http://schemas.microsoft.com/office/drawing/2014/main" id="{BFB897C4-C569-D25D-2973-98BA53B528C0}"/>
              </a:ext>
            </a:extLst>
          </p:cNvPr>
          <p:cNvPicPr>
            <a:picLocks noChangeAspect="1"/>
          </p:cNvPicPr>
          <p:nvPr/>
        </p:nvPicPr>
        <p:blipFill rotWithShape="1">
          <a:blip r:embed="rId3"/>
          <a:srcRect l="15661" r="5726" b="4"/>
          <a:stretch/>
        </p:blipFill>
        <p:spPr>
          <a:xfrm>
            <a:off x="20" y="10"/>
            <a:ext cx="6233778" cy="6857990"/>
          </a:xfrm>
          <a:prstGeom prst="rect">
            <a:avLst/>
          </a:prstGeom>
        </p:spPr>
      </p:pic>
      <p:sp>
        <p:nvSpPr>
          <p:cNvPr id="4" name="TextBox 3">
            <a:extLst>
              <a:ext uri="{FF2B5EF4-FFF2-40B4-BE49-F238E27FC236}">
                <a16:creationId xmlns:a16="http://schemas.microsoft.com/office/drawing/2014/main" id="{EB706571-E786-D759-A894-CF86DBA3A396}"/>
              </a:ext>
            </a:extLst>
          </p:cNvPr>
          <p:cNvSpPr txBox="1"/>
          <p:nvPr/>
        </p:nvSpPr>
        <p:spPr>
          <a:xfrm>
            <a:off x="6591758" y="1854505"/>
            <a:ext cx="527891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Remember 'non-work mountain'</a:t>
            </a:r>
          </a:p>
          <a:p>
            <a:pPr marL="285750" indent="-285750">
              <a:buFont typeface="Arial"/>
              <a:buChar char="•"/>
            </a:pPr>
            <a:r>
              <a:rPr lang="en-US"/>
              <a:t>Employment oriented for working age</a:t>
            </a:r>
          </a:p>
          <a:p>
            <a:pPr marL="285750" indent="-285750">
              <a:buFont typeface="Arial"/>
              <a:buChar char="•"/>
            </a:pPr>
            <a:r>
              <a:rPr lang="en-US"/>
              <a:t>Raise expectations </a:t>
            </a:r>
          </a:p>
          <a:p>
            <a:pPr marL="285750" indent="-285750">
              <a:buFont typeface="Arial"/>
              <a:buChar char="•"/>
            </a:pPr>
            <a:r>
              <a:rPr lang="en-US"/>
              <a:t>CLE Guideposts:</a:t>
            </a:r>
          </a:p>
          <a:p>
            <a:pPr marL="742950" lvl="1" indent="-285750">
              <a:buFont typeface="Courier New"/>
              <a:buChar char="o"/>
            </a:pPr>
            <a:r>
              <a:rPr lang="en-US"/>
              <a:t>Individualized</a:t>
            </a:r>
          </a:p>
          <a:p>
            <a:pPr marL="742950" lvl="1" indent="-285750">
              <a:buFont typeface="Courier New"/>
              <a:buChar char="o"/>
            </a:pPr>
            <a:r>
              <a:rPr lang="en-US"/>
              <a:t>Promote community membership</a:t>
            </a:r>
          </a:p>
          <a:p>
            <a:pPr marL="742950" lvl="1" indent="-285750">
              <a:buFont typeface="Courier New"/>
              <a:buChar char="o"/>
            </a:pPr>
            <a:r>
              <a:rPr lang="en-US"/>
              <a:t>Increase skills and relationships</a:t>
            </a:r>
          </a:p>
          <a:p>
            <a:pPr marL="742950" lvl="1" indent="-285750">
              <a:buFont typeface="Courier New"/>
              <a:buChar char="o"/>
            </a:pPr>
            <a:r>
              <a:rPr lang="en-US"/>
              <a:t>Focus on individual goals </a:t>
            </a:r>
          </a:p>
        </p:txBody>
      </p:sp>
      <p:pic>
        <p:nvPicPr>
          <p:cNvPr id="6" name="Picture 5" descr="A black and red sign with blue text&#10;&#10;Description automatically generated">
            <a:extLst>
              <a:ext uri="{FF2B5EF4-FFF2-40B4-BE49-F238E27FC236}">
                <a16:creationId xmlns:a16="http://schemas.microsoft.com/office/drawing/2014/main" id="{C32D6C7D-6052-306C-7FF9-0DDC44801416}"/>
              </a:ext>
            </a:extLst>
          </p:cNvPr>
          <p:cNvPicPr>
            <a:picLocks noChangeAspect="1"/>
          </p:cNvPicPr>
          <p:nvPr/>
        </p:nvPicPr>
        <p:blipFill>
          <a:blip r:embed="rId4"/>
          <a:stretch>
            <a:fillRect/>
          </a:stretch>
        </p:blipFill>
        <p:spPr>
          <a:xfrm>
            <a:off x="7637787" y="4327620"/>
            <a:ext cx="3196040" cy="1498639"/>
          </a:xfrm>
          <a:prstGeom prst="rect">
            <a:avLst/>
          </a:prstGeom>
        </p:spPr>
      </p:pic>
      <p:sp>
        <p:nvSpPr>
          <p:cNvPr id="7" name="TextBox 6">
            <a:extLst>
              <a:ext uri="{FF2B5EF4-FFF2-40B4-BE49-F238E27FC236}">
                <a16:creationId xmlns:a16="http://schemas.microsoft.com/office/drawing/2014/main" id="{7E1D17A8-D5BD-A508-F218-D9F5F7AC7A57}"/>
              </a:ext>
            </a:extLst>
          </p:cNvPr>
          <p:cNvSpPr txBox="1"/>
          <p:nvPr/>
        </p:nvSpPr>
        <p:spPr>
          <a:xfrm>
            <a:off x="6244796" y="5776926"/>
            <a:ext cx="425067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5"/>
              </a:rPr>
              <a:t>www.CLEtoolkit.communityinclusion.org</a:t>
            </a:r>
            <a:r>
              <a:rPr lang="en-US"/>
              <a:t>   </a:t>
            </a:r>
          </a:p>
        </p:txBody>
      </p:sp>
      <p:pic>
        <p:nvPicPr>
          <p:cNvPr id="8" name="Picture 7" descr="Logo&#10;&#10;Description automatically generated with medium confidence">
            <a:extLst>
              <a:ext uri="{FF2B5EF4-FFF2-40B4-BE49-F238E27FC236}">
                <a16:creationId xmlns:a16="http://schemas.microsoft.com/office/drawing/2014/main" id="{0F43ACE6-A9EE-77C6-62B0-DD65A9EC43A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837592" y="5973627"/>
            <a:ext cx="1200079" cy="664207"/>
          </a:xfrm>
          <a:prstGeom prst="rect">
            <a:avLst/>
          </a:prstGeom>
        </p:spPr>
      </p:pic>
    </p:spTree>
    <p:extLst>
      <p:ext uri="{BB962C8B-B14F-4D97-AF65-F5344CB8AC3E}">
        <p14:creationId xmlns:p14="http://schemas.microsoft.com/office/powerpoint/2010/main" val="376982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D6DEF-A422-DD05-71D0-06628FAD5BA2}"/>
              </a:ext>
            </a:extLst>
          </p:cNvPr>
          <p:cNvSpPr>
            <a:spLocks noGrp="1"/>
          </p:cNvSpPr>
          <p:nvPr>
            <p:ph type="title"/>
          </p:nvPr>
        </p:nvSpPr>
        <p:spPr>
          <a:xfrm>
            <a:off x="840431" y="619398"/>
            <a:ext cx="9942716" cy="1554480"/>
          </a:xfrm>
        </p:spPr>
        <p:txBody>
          <a:bodyPr anchor="ctr">
            <a:normAutofit fontScale="90000"/>
          </a:bodyPr>
          <a:lstStyle/>
          <a:p>
            <a:r>
              <a:rPr lang="en-US" sz="4800"/>
              <a:t>Using Employment to Inform Non-work  </a:t>
            </a:r>
            <a:br>
              <a:rPr lang="en-US" sz="4800"/>
            </a:br>
            <a:r>
              <a:rPr lang="en-US" sz="4800"/>
              <a:t>(over &amp; over again)</a:t>
            </a:r>
          </a:p>
        </p:txBody>
      </p:sp>
      <p:sp>
        <p:nvSpPr>
          <p:cNvPr id="3" name="Content Placeholder 2">
            <a:extLst>
              <a:ext uri="{FF2B5EF4-FFF2-40B4-BE49-F238E27FC236}">
                <a16:creationId xmlns:a16="http://schemas.microsoft.com/office/drawing/2014/main" id="{511C9A03-15FF-6BF3-D68B-88A017019487}"/>
              </a:ext>
            </a:extLst>
          </p:cNvPr>
          <p:cNvSpPr>
            <a:spLocks noGrp="1"/>
          </p:cNvSpPr>
          <p:nvPr>
            <p:ph idx="1"/>
          </p:nvPr>
        </p:nvSpPr>
        <p:spPr>
          <a:xfrm>
            <a:off x="362748" y="3431572"/>
            <a:ext cx="11512599" cy="2482008"/>
          </a:xfrm>
        </p:spPr>
        <p:txBody>
          <a:bodyPr vert="horz" lIns="91440" tIns="45720" rIns="91440" bIns="45720" rtlCol="0" anchor="ctr">
            <a:noAutofit/>
          </a:bodyPr>
          <a:lstStyle/>
          <a:p>
            <a:r>
              <a:rPr lang="en-US" sz="2000">
                <a:latin typeface="Calibri"/>
                <a:ea typeface="Calibri"/>
                <a:cs typeface="Calibri"/>
              </a:rPr>
              <a:t>Active, person-centered job development process </a:t>
            </a:r>
          </a:p>
          <a:p>
            <a:r>
              <a:rPr lang="en-US" sz="2000">
                <a:latin typeface="Calibri"/>
                <a:ea typeface="Calibri"/>
                <a:cs typeface="Calibri"/>
              </a:rPr>
              <a:t>How are you using Discovery (or discovery) profiles to build individual community services? </a:t>
            </a:r>
          </a:p>
          <a:p>
            <a:pPr lvl="1">
              <a:buFont typeface="Courier New" panose="020B0604020202020204" pitchFamily="34" charset="0"/>
              <a:buChar char="o"/>
            </a:pPr>
            <a:r>
              <a:rPr lang="en-US" sz="2000">
                <a:latin typeface="Calibri"/>
                <a:ea typeface="Calibri"/>
                <a:cs typeface="Calibri"/>
              </a:rPr>
              <a:t>Skills, abilities, interests, themes</a:t>
            </a:r>
          </a:p>
          <a:p>
            <a:pPr lvl="1">
              <a:buFont typeface="Courier New" panose="020B0604020202020204" pitchFamily="34" charset="0"/>
              <a:buChar char="o"/>
            </a:pPr>
            <a:r>
              <a:rPr lang="en-US" sz="2000">
                <a:latin typeface="Calibri"/>
                <a:ea typeface="Calibri"/>
                <a:cs typeface="Calibri"/>
              </a:rPr>
              <a:t>Communication </a:t>
            </a:r>
          </a:p>
          <a:p>
            <a:pPr lvl="1">
              <a:buFont typeface="Courier New" panose="020B0604020202020204" pitchFamily="34" charset="0"/>
              <a:buChar char="o"/>
            </a:pPr>
            <a:r>
              <a:rPr lang="en-US" sz="2000">
                <a:latin typeface="Calibri"/>
                <a:ea typeface="Calibri"/>
                <a:cs typeface="Calibri"/>
              </a:rPr>
              <a:t>Technology </a:t>
            </a:r>
          </a:p>
          <a:p>
            <a:pPr lvl="1">
              <a:buFont typeface="Courier New" panose="020B0604020202020204" pitchFamily="34" charset="0"/>
              <a:buChar char="o"/>
            </a:pPr>
            <a:r>
              <a:rPr lang="en-US" sz="2000">
                <a:latin typeface="Calibri"/>
                <a:ea typeface="Calibri"/>
                <a:cs typeface="Calibri"/>
              </a:rPr>
              <a:t>Natural supports </a:t>
            </a:r>
          </a:p>
          <a:p>
            <a:pPr lvl="1">
              <a:buFont typeface="Courier New" panose="020B0604020202020204" pitchFamily="34" charset="0"/>
              <a:buChar char="o"/>
            </a:pPr>
            <a:r>
              <a:rPr lang="en-US" sz="2000">
                <a:latin typeface="Calibri"/>
                <a:ea typeface="Calibri"/>
                <a:cs typeface="Calibri"/>
              </a:rPr>
              <a:t>Help the person maintain and build relationships &amp; networks</a:t>
            </a:r>
          </a:p>
          <a:p>
            <a:pPr lvl="1">
              <a:buFont typeface="Courier New" panose="020B0604020202020204" pitchFamily="34" charset="0"/>
              <a:buChar char="o"/>
            </a:pPr>
            <a:r>
              <a:rPr lang="en-US" sz="2000">
                <a:latin typeface="Calibri"/>
                <a:ea typeface="Calibri"/>
                <a:cs typeface="Calibri"/>
              </a:rPr>
              <a:t>Ideal conditions for community life </a:t>
            </a:r>
          </a:p>
          <a:p>
            <a:r>
              <a:rPr lang="en-US" sz="2000">
                <a:latin typeface="Calibri"/>
                <a:ea typeface="Calibri"/>
                <a:cs typeface="Calibri"/>
              </a:rPr>
              <a:t>Wrap-around non-work for additional skill building </a:t>
            </a:r>
          </a:p>
          <a:p>
            <a:endParaRPr lang="en-US" sz="2000"/>
          </a:p>
        </p:txBody>
      </p:sp>
      <p:pic>
        <p:nvPicPr>
          <p:cNvPr id="5" name="Picture 4" descr="Logo&#10;&#10;Description automatically generated with medium confidence">
            <a:extLst>
              <a:ext uri="{FF2B5EF4-FFF2-40B4-BE49-F238E27FC236}">
                <a16:creationId xmlns:a16="http://schemas.microsoft.com/office/drawing/2014/main" id="{E2E1E318-E56D-FB4A-943F-977608A8F3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20649" y="5872985"/>
            <a:ext cx="1631399" cy="807980"/>
          </a:xfrm>
          <a:prstGeom prst="rect">
            <a:avLst/>
          </a:prstGeom>
        </p:spPr>
      </p:pic>
    </p:spTree>
    <p:extLst>
      <p:ext uri="{BB962C8B-B14F-4D97-AF65-F5344CB8AC3E}">
        <p14:creationId xmlns:p14="http://schemas.microsoft.com/office/powerpoint/2010/main" val="2664557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A screenshot of a computer&#10;&#10;Description automatically generated">
            <a:extLst>
              <a:ext uri="{FF2B5EF4-FFF2-40B4-BE49-F238E27FC236}">
                <a16:creationId xmlns:a16="http://schemas.microsoft.com/office/drawing/2014/main" id="{95FC70A7-4373-D883-41AB-1775DDB7D2F0}"/>
              </a:ext>
            </a:extLst>
          </p:cNvPr>
          <p:cNvPicPr>
            <a:picLocks noChangeAspect="1"/>
          </p:cNvPicPr>
          <p:nvPr/>
        </p:nvPicPr>
        <p:blipFill>
          <a:blip r:embed="rId3"/>
          <a:srcRect r="19770" b="5"/>
          <a:stretch/>
        </p:blipFill>
        <p:spPr>
          <a:xfrm>
            <a:off x="20" y="1282"/>
            <a:ext cx="12191980" cy="6856718"/>
          </a:xfrm>
          <a:prstGeom prst="rect">
            <a:avLst/>
          </a:prstGeom>
        </p:spPr>
      </p:pic>
    </p:spTree>
    <p:extLst>
      <p:ext uri="{BB962C8B-B14F-4D97-AF65-F5344CB8AC3E}">
        <p14:creationId xmlns:p14="http://schemas.microsoft.com/office/powerpoint/2010/main" val="1259768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1" descr="Building Brick Wall with solid fill">
            <a:extLst>
              <a:ext uri="{FF2B5EF4-FFF2-40B4-BE49-F238E27FC236}">
                <a16:creationId xmlns:a16="http://schemas.microsoft.com/office/drawing/2014/main" id="{313F45BF-A706-4EE5-81CD-0E36647A6AA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9299" y="584671"/>
            <a:ext cx="914400" cy="914400"/>
          </a:xfrm>
          <a:prstGeom prst="rect">
            <a:avLst/>
          </a:prstGeom>
        </p:spPr>
      </p:pic>
      <p:sp>
        <p:nvSpPr>
          <p:cNvPr id="3" name="TextBox 2">
            <a:extLst>
              <a:ext uri="{FF2B5EF4-FFF2-40B4-BE49-F238E27FC236}">
                <a16:creationId xmlns:a16="http://schemas.microsoft.com/office/drawing/2014/main" id="{8B0E2F29-5949-BB94-1685-7CE346FC4C93}"/>
              </a:ext>
            </a:extLst>
          </p:cNvPr>
          <p:cNvSpPr txBox="1"/>
          <p:nvPr/>
        </p:nvSpPr>
        <p:spPr>
          <a:xfrm>
            <a:off x="2022670" y="425494"/>
            <a:ext cx="98203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Foundational practices:</a:t>
            </a:r>
          </a:p>
          <a:p>
            <a:pPr marL="285750" indent="-285750">
              <a:buFont typeface="Arial"/>
              <a:buChar char="•"/>
            </a:pPr>
            <a:r>
              <a:rPr lang="en-US" sz="2400" dirty="0"/>
              <a:t>Person centered thinking &amp; planning principles, staff training </a:t>
            </a:r>
          </a:p>
          <a:p>
            <a:pPr marL="285750" indent="-285750">
              <a:buFont typeface="Arial"/>
              <a:buChar char="•"/>
            </a:pPr>
            <a:r>
              <a:rPr lang="en-US" sz="2400" dirty="0"/>
              <a:t>Sharing information across departments </a:t>
            </a:r>
          </a:p>
        </p:txBody>
      </p:sp>
      <p:pic>
        <p:nvPicPr>
          <p:cNvPr id="6" name="Graphic 5" descr="Infinity outline">
            <a:extLst>
              <a:ext uri="{FF2B5EF4-FFF2-40B4-BE49-F238E27FC236}">
                <a16:creationId xmlns:a16="http://schemas.microsoft.com/office/drawing/2014/main" id="{53CF55DA-22DC-9D0E-F215-2188A577C9A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0559" y="4582782"/>
            <a:ext cx="914400" cy="914400"/>
          </a:xfrm>
          <a:prstGeom prst="rect">
            <a:avLst/>
          </a:prstGeom>
        </p:spPr>
      </p:pic>
      <p:sp>
        <p:nvSpPr>
          <p:cNvPr id="7" name="TextBox 6">
            <a:extLst>
              <a:ext uri="{FF2B5EF4-FFF2-40B4-BE49-F238E27FC236}">
                <a16:creationId xmlns:a16="http://schemas.microsoft.com/office/drawing/2014/main" id="{BFEE4586-B518-6C67-F7C1-452FD28CA73F}"/>
              </a:ext>
            </a:extLst>
          </p:cNvPr>
          <p:cNvSpPr txBox="1"/>
          <p:nvPr/>
        </p:nvSpPr>
        <p:spPr>
          <a:xfrm>
            <a:off x="1996840" y="4580596"/>
            <a:ext cx="87106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Sustainability practices: </a:t>
            </a:r>
          </a:p>
          <a:p>
            <a:pPr marL="285750" indent="-285750">
              <a:buFont typeface="Arial"/>
              <a:buChar char="•"/>
            </a:pPr>
            <a:r>
              <a:rPr lang="en-US" sz="2400"/>
              <a:t>People have individualized and person-centered outcomes </a:t>
            </a:r>
          </a:p>
        </p:txBody>
      </p:sp>
      <p:pic>
        <p:nvPicPr>
          <p:cNvPr id="9" name="Graphic 8" descr="Full Brick Wall with solid fill">
            <a:extLst>
              <a:ext uri="{FF2B5EF4-FFF2-40B4-BE49-F238E27FC236}">
                <a16:creationId xmlns:a16="http://schemas.microsoft.com/office/drawing/2014/main" id="{EBD8570E-1DAC-04EF-996E-0355D0A7271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9300" y="2848999"/>
            <a:ext cx="914400" cy="914400"/>
          </a:xfrm>
          <a:prstGeom prst="rect">
            <a:avLst/>
          </a:prstGeom>
        </p:spPr>
      </p:pic>
      <p:sp>
        <p:nvSpPr>
          <p:cNvPr id="10" name="TextBox 9">
            <a:extLst>
              <a:ext uri="{FF2B5EF4-FFF2-40B4-BE49-F238E27FC236}">
                <a16:creationId xmlns:a16="http://schemas.microsoft.com/office/drawing/2014/main" id="{14A574FD-C106-F64F-459C-EA79584F776F}"/>
              </a:ext>
            </a:extLst>
          </p:cNvPr>
          <p:cNvSpPr txBox="1"/>
          <p:nvPr/>
        </p:nvSpPr>
        <p:spPr>
          <a:xfrm>
            <a:off x="2017970" y="2522983"/>
            <a:ext cx="940855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Second &amp; third-generation practices:</a:t>
            </a:r>
          </a:p>
          <a:p>
            <a:pPr marL="285750" indent="-285750">
              <a:buFont typeface="Arial"/>
              <a:buChar char="•"/>
            </a:pPr>
            <a:r>
              <a:rPr lang="en-US" sz="2400" dirty="0"/>
              <a:t>Use of universal practices (customized employment, discovery, community mapping, etc.)</a:t>
            </a:r>
          </a:p>
        </p:txBody>
      </p:sp>
      <p:pic>
        <p:nvPicPr>
          <p:cNvPr id="11" name="Picture 10" descr="A logo for a company&#10;&#10;Description automatically generated">
            <a:extLst>
              <a:ext uri="{FF2B5EF4-FFF2-40B4-BE49-F238E27FC236}">
                <a16:creationId xmlns:a16="http://schemas.microsoft.com/office/drawing/2014/main" id="{8DB204B8-809D-5D8E-D322-892974720747}"/>
              </a:ext>
            </a:extLst>
          </p:cNvPr>
          <p:cNvPicPr>
            <a:picLocks noChangeAspect="1"/>
          </p:cNvPicPr>
          <p:nvPr/>
        </p:nvPicPr>
        <p:blipFill>
          <a:blip r:embed="rId8"/>
          <a:stretch>
            <a:fillRect/>
          </a:stretch>
        </p:blipFill>
        <p:spPr>
          <a:xfrm>
            <a:off x="10502550" y="5946197"/>
            <a:ext cx="1172070" cy="586592"/>
          </a:xfrm>
          <a:prstGeom prst="rect">
            <a:avLst/>
          </a:prstGeom>
        </p:spPr>
      </p:pic>
    </p:spTree>
    <p:extLst>
      <p:ext uri="{BB962C8B-B14F-4D97-AF65-F5344CB8AC3E}">
        <p14:creationId xmlns:p14="http://schemas.microsoft.com/office/powerpoint/2010/main" val="3745791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8AE330-DAEF-E40A-2627-D35DA53FD23D}"/>
              </a:ext>
            </a:extLst>
          </p:cNvPr>
          <p:cNvSpPr>
            <a:spLocks noGrp="1"/>
          </p:cNvSpPr>
          <p:nvPr>
            <p:ph type="title"/>
          </p:nvPr>
        </p:nvSpPr>
        <p:spPr>
          <a:xfrm>
            <a:off x="1043631" y="809898"/>
            <a:ext cx="9942716" cy="1554480"/>
          </a:xfrm>
        </p:spPr>
        <p:txBody>
          <a:bodyPr anchor="ctr">
            <a:normAutofit/>
          </a:bodyPr>
          <a:lstStyle/>
          <a:p>
            <a:r>
              <a:rPr lang="en-US" sz="4800"/>
              <a:t>Let’s hear from you!</a:t>
            </a:r>
          </a:p>
        </p:txBody>
      </p:sp>
      <p:sp>
        <p:nvSpPr>
          <p:cNvPr id="3" name="Content Placeholder 2">
            <a:extLst>
              <a:ext uri="{FF2B5EF4-FFF2-40B4-BE49-F238E27FC236}">
                <a16:creationId xmlns:a16="http://schemas.microsoft.com/office/drawing/2014/main" id="{3FD5638F-59CE-E5DA-D789-1CE987492EC9}"/>
              </a:ext>
            </a:extLst>
          </p:cNvPr>
          <p:cNvSpPr>
            <a:spLocks noGrp="1"/>
          </p:cNvSpPr>
          <p:nvPr>
            <p:ph idx="1"/>
          </p:nvPr>
        </p:nvSpPr>
        <p:spPr>
          <a:xfrm>
            <a:off x="642462" y="2801862"/>
            <a:ext cx="9941319" cy="3124658"/>
          </a:xfrm>
        </p:spPr>
        <p:txBody>
          <a:bodyPr vert="horz" lIns="91440" tIns="45720" rIns="91440" bIns="45720" rtlCol="0" anchor="ctr">
            <a:normAutofit/>
          </a:bodyPr>
          <a:lstStyle/>
          <a:p>
            <a:pPr marL="0" indent="0" rtl="0" fontAlgn="base">
              <a:buNone/>
            </a:pPr>
            <a:endParaRPr lang="en-US" b="0" i="0">
              <a:effectLst/>
              <a:latin typeface="Aptos"/>
            </a:endParaRPr>
          </a:p>
          <a:p>
            <a:pPr marL="0" indent="0">
              <a:buNone/>
            </a:pPr>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Picture 4" descr="Logo&#10;&#10;Description automatically generated with medium confidence">
            <a:extLst>
              <a:ext uri="{FF2B5EF4-FFF2-40B4-BE49-F238E27FC236}">
                <a16:creationId xmlns:a16="http://schemas.microsoft.com/office/drawing/2014/main" id="{1DC466D5-F8EF-B668-EEDB-B2DB6B77D78C}"/>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190785" y="5672473"/>
            <a:ext cx="1576601" cy="863114"/>
          </a:xfrm>
          <a:prstGeom prst="rect">
            <a:avLst/>
          </a:prstGeom>
        </p:spPr>
      </p:pic>
      <p:sp>
        <p:nvSpPr>
          <p:cNvPr id="4" name="TextBox 3">
            <a:extLst>
              <a:ext uri="{FF2B5EF4-FFF2-40B4-BE49-F238E27FC236}">
                <a16:creationId xmlns:a16="http://schemas.microsoft.com/office/drawing/2014/main" id="{5318E572-3C1E-6C56-8E0F-76DD896CD1AD}"/>
              </a:ext>
            </a:extLst>
          </p:cNvPr>
          <p:cNvSpPr txBox="1"/>
          <p:nvPr/>
        </p:nvSpPr>
        <p:spPr>
          <a:xfrm>
            <a:off x="666707" y="2956699"/>
            <a:ext cx="10570684"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dirty="0"/>
              <a:t>What are you doing to break down 'siloes' between work and non-work service delivery? </a:t>
            </a:r>
          </a:p>
          <a:p>
            <a:pPr marL="285750" indent="-285750">
              <a:buFont typeface="Arial"/>
              <a:buChar char="•"/>
            </a:pPr>
            <a:endParaRPr lang="en-US" sz="2400" dirty="0"/>
          </a:p>
          <a:p>
            <a:endParaRPr lang="en-US" sz="2400" dirty="0"/>
          </a:p>
        </p:txBody>
      </p:sp>
    </p:spTree>
    <p:extLst>
      <p:ext uri="{BB962C8B-B14F-4D97-AF65-F5344CB8AC3E}">
        <p14:creationId xmlns:p14="http://schemas.microsoft.com/office/powerpoint/2010/main" val="2027817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4C56F-6FBF-A63B-30EB-52BF2C8A2725}"/>
              </a:ext>
            </a:extLst>
          </p:cNvPr>
          <p:cNvSpPr>
            <a:spLocks noGrp="1"/>
          </p:cNvSpPr>
          <p:nvPr>
            <p:ph type="title"/>
          </p:nvPr>
        </p:nvSpPr>
        <p:spPr/>
        <p:txBody>
          <a:bodyPr/>
          <a:lstStyle/>
          <a:p>
            <a:r>
              <a:rPr lang="en-US"/>
              <a:t>Wrap-up &amp; Announcements</a:t>
            </a:r>
          </a:p>
        </p:txBody>
      </p:sp>
      <p:sp>
        <p:nvSpPr>
          <p:cNvPr id="3" name="Content Placeholder 2">
            <a:extLst>
              <a:ext uri="{FF2B5EF4-FFF2-40B4-BE49-F238E27FC236}">
                <a16:creationId xmlns:a16="http://schemas.microsoft.com/office/drawing/2014/main" id="{4BB8D479-7F73-809E-CE48-A58A89B73D79}"/>
              </a:ext>
            </a:extLst>
          </p:cNvPr>
          <p:cNvSpPr>
            <a:spLocks noGrp="1"/>
          </p:cNvSpPr>
          <p:nvPr>
            <p:ph idx="1"/>
          </p:nvPr>
        </p:nvSpPr>
        <p:spPr/>
        <p:txBody>
          <a:bodyPr vert="horz" lIns="91440" tIns="45720" rIns="91440" bIns="45720" rtlCol="0" anchor="t">
            <a:normAutofit/>
          </a:bodyPr>
          <a:lstStyle/>
          <a:p>
            <a:r>
              <a:rPr lang="en-US"/>
              <a:t>Next CoP: February 20, 2025</a:t>
            </a:r>
          </a:p>
          <a:p>
            <a:endParaRPr lang="en-US"/>
          </a:p>
          <a:p>
            <a:r>
              <a:rPr lang="en-US"/>
              <a:t>Quarterly Training: February 13, 1-2:30 pm</a:t>
            </a:r>
          </a:p>
          <a:p>
            <a:pPr lvl="1">
              <a:buFont typeface="Courier New" panose="020B0604020202020204" pitchFamily="34" charset="0"/>
              <a:buChar char="o"/>
            </a:pPr>
            <a:r>
              <a:rPr lang="en-US"/>
              <a:t>Topic: assistive technology </a:t>
            </a:r>
          </a:p>
          <a:p>
            <a:endParaRPr lang="en-US"/>
          </a:p>
          <a:p>
            <a:endParaRPr lang="en-US"/>
          </a:p>
        </p:txBody>
      </p:sp>
      <p:pic>
        <p:nvPicPr>
          <p:cNvPr id="5" name="Picture 4" descr="Logo&#10;&#10;Description automatically generated with medium confidence">
            <a:extLst>
              <a:ext uri="{FF2B5EF4-FFF2-40B4-BE49-F238E27FC236}">
                <a16:creationId xmlns:a16="http://schemas.microsoft.com/office/drawing/2014/main" id="{814C0553-F80D-C801-92FC-7D293327593F}"/>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0190785" y="5672473"/>
            <a:ext cx="1576601" cy="863114"/>
          </a:xfrm>
          <a:prstGeom prst="rect">
            <a:avLst/>
          </a:prstGeom>
        </p:spPr>
      </p:pic>
    </p:spTree>
    <p:extLst>
      <p:ext uri="{BB962C8B-B14F-4D97-AF65-F5344CB8AC3E}">
        <p14:creationId xmlns:p14="http://schemas.microsoft.com/office/powerpoint/2010/main" val="2898679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3a59ec9-72ae-4468-8b69-a6fc079d6534">
      <Terms xmlns="http://schemas.microsoft.com/office/infopath/2007/PartnerControls"/>
    </lcf76f155ced4ddcb4097134ff3c332f>
    <TaxCatchAll xmlns="f6e3e907-bc34-45f2-9bd0-9583dc1f18f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2B4CAAFA20B174C9D092CEDE2B75F72" ma:contentTypeVersion="16" ma:contentTypeDescription="Create a new document." ma:contentTypeScope="" ma:versionID="9c21024722a0a094e79ded9afdd4c23b">
  <xsd:schema xmlns:xsd="http://www.w3.org/2001/XMLSchema" xmlns:xs="http://www.w3.org/2001/XMLSchema" xmlns:p="http://schemas.microsoft.com/office/2006/metadata/properties" xmlns:ns2="13a59ec9-72ae-4468-8b69-a6fc079d6534" xmlns:ns3="f6e3e907-bc34-45f2-9bd0-9583dc1f18f1" targetNamespace="http://schemas.microsoft.com/office/2006/metadata/properties" ma:root="true" ma:fieldsID="cd9212ea0ba4a26db79549c459913f93" ns2:_="" ns3:_="">
    <xsd:import namespace="13a59ec9-72ae-4468-8b69-a6fc079d6534"/>
    <xsd:import namespace="f6e3e907-bc34-45f2-9bd0-9583dc1f18f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a59ec9-72ae-4468-8b69-a6fc079d65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6e3e907-bc34-45f2-9bd0-9583dc1f18f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c067b02-87a6-49ea-b506-9b6aa8bcae63}" ma:internalName="TaxCatchAll" ma:showField="CatchAllData" ma:web="f6e3e907-bc34-45f2-9bd0-9583dc1f18f1">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E8881E4-613F-4E04-BFF1-08BEE42699F4}">
  <ds:schemaRefs>
    <ds:schemaRef ds:uri="13a59ec9-72ae-4468-8b69-a6fc079d6534"/>
    <ds:schemaRef ds:uri="f6e3e907-bc34-45f2-9bd0-9583dc1f18f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38E1108-DC95-489D-A4AD-D0DAF587E3E8}">
  <ds:schemaRefs>
    <ds:schemaRef ds:uri="http://schemas.microsoft.com/sharepoint/v3/contenttype/forms"/>
  </ds:schemaRefs>
</ds:datastoreItem>
</file>

<file path=customXml/itemProps3.xml><?xml version="1.0" encoding="utf-8"?>
<ds:datastoreItem xmlns:ds="http://schemas.openxmlformats.org/officeDocument/2006/customXml" ds:itemID="{F57A7FF0-A180-4154-A21D-B10A3A620E9F}">
  <ds:schemaRefs>
    <ds:schemaRef ds:uri="13a59ec9-72ae-4468-8b69-a6fc079d6534"/>
    <ds:schemaRef ds:uri="f6e3e907-bc34-45f2-9bd0-9583dc1f18f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1260</Words>
  <Application>Microsoft Office PowerPoint</Application>
  <PresentationFormat>Widescreen</PresentationFormat>
  <Paragraphs>198</Paragraphs>
  <Slides>19</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Aptos</vt:lpstr>
      <vt:lpstr>Aptos Display</vt:lpstr>
      <vt:lpstr>Arial</vt:lpstr>
      <vt:lpstr>Calibri</vt:lpstr>
      <vt:lpstr>Calibri Light</vt:lpstr>
      <vt:lpstr>Courier New</vt:lpstr>
      <vt:lpstr>Times New Roman</vt:lpstr>
      <vt:lpstr>Wingdings</vt:lpstr>
      <vt:lpstr>Office Theme</vt:lpstr>
      <vt:lpstr>PowerPoint Presentation</vt:lpstr>
      <vt:lpstr>Agenda </vt:lpstr>
      <vt:lpstr>PowerPoint Presentation</vt:lpstr>
      <vt:lpstr>PowerPoint Presentation</vt:lpstr>
      <vt:lpstr>PowerPoint Presentation</vt:lpstr>
      <vt:lpstr>Legacy Models: Siloing &amp;  Potential Unintended Consequences</vt:lpstr>
      <vt:lpstr>Characteristics of Updated Service Models</vt:lpstr>
      <vt:lpstr>Holistic Service Delivery </vt:lpstr>
      <vt:lpstr>Services &amp; Supports  Designed Holistically  Around  and  With  the Person &amp; Their Family</vt:lpstr>
      <vt:lpstr>Bake  Person-Centered  Thinking  &amp; Planning  into  Service Delivery &amp; Culture    Note: this isn't just filling out a form</vt:lpstr>
      <vt:lpstr>PowerPoint Presentation</vt:lpstr>
      <vt:lpstr>Guidance for Conversations </vt:lpstr>
      <vt:lpstr>Organizational Considerations </vt:lpstr>
      <vt:lpstr>CLE: momentum toward employment</vt:lpstr>
      <vt:lpstr>Using Employment to Inform Non-work   (over &amp; over again)</vt:lpstr>
      <vt:lpstr>PowerPoint Presentation</vt:lpstr>
      <vt:lpstr>PowerPoint Presentation</vt:lpstr>
      <vt:lpstr>Let’s hear from you!</vt:lpstr>
      <vt:lpstr>Wrap-up &amp; Announcements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Amy C Gessert</dc:creator>
  <cp:lastModifiedBy>Staci Jones</cp:lastModifiedBy>
  <cp:revision>35</cp:revision>
  <dcterms:created xsi:type="dcterms:W3CDTF">2024-09-10T17:21:18Z</dcterms:created>
  <dcterms:modified xsi:type="dcterms:W3CDTF">2025-01-10T14:15:03Z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0x01010022B4CAAFA20B174C9D092CEDE2B75F72</vt:lpwstr>
  </property>
  <property fmtid="{D5CDD505-2E9C-101B-9397-08002B2CF9AE}" pid="3" name="MediaServiceImageTags">
    <vt:lpwstr/>
  </property>
</Properties>
</file>