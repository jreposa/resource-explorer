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829" r:id="rId5"/>
  </p:sldMasterIdLst>
  <p:notesMasterIdLst>
    <p:notesMasterId r:id="rId41"/>
  </p:notesMasterIdLst>
  <p:sldIdLst>
    <p:sldId id="256" r:id="rId6"/>
    <p:sldId id="268" r:id="rId7"/>
    <p:sldId id="301" r:id="rId8"/>
    <p:sldId id="269" r:id="rId9"/>
    <p:sldId id="259" r:id="rId10"/>
    <p:sldId id="263" r:id="rId11"/>
    <p:sldId id="1321" r:id="rId12"/>
    <p:sldId id="1312" r:id="rId13"/>
    <p:sldId id="1311" r:id="rId14"/>
    <p:sldId id="1314" r:id="rId15"/>
    <p:sldId id="1339" r:id="rId16"/>
    <p:sldId id="1252" r:id="rId17"/>
    <p:sldId id="258" r:id="rId18"/>
    <p:sldId id="1322" r:id="rId19"/>
    <p:sldId id="1320" r:id="rId20"/>
    <p:sldId id="1317" r:id="rId21"/>
    <p:sldId id="1316" r:id="rId22"/>
    <p:sldId id="262" r:id="rId23"/>
    <p:sldId id="1323" r:id="rId24"/>
    <p:sldId id="1331" r:id="rId25"/>
    <p:sldId id="1324" r:id="rId26"/>
    <p:sldId id="862" r:id="rId27"/>
    <p:sldId id="863" r:id="rId28"/>
    <p:sldId id="872" r:id="rId29"/>
    <p:sldId id="1344" r:id="rId30"/>
    <p:sldId id="1341" r:id="rId31"/>
    <p:sldId id="870" r:id="rId32"/>
    <p:sldId id="1335" r:id="rId33"/>
    <p:sldId id="1336" r:id="rId34"/>
    <p:sldId id="1338" r:id="rId35"/>
    <p:sldId id="267" r:id="rId36"/>
    <p:sldId id="1342" r:id="rId37"/>
    <p:sldId id="1334" r:id="rId38"/>
    <p:sldId id="1343" r:id="rId39"/>
    <p:sldId id="134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85350-83B7-728A-8D0C-920B6C8AEE9A}" v="280" dt="2024-05-13T18:53:11.597"/>
    <p1510:client id="{3C31CAB0-21BB-6DAC-3E1F-16FA0426F713}" v="477" dt="2024-05-15T11:51:04.943"/>
    <p1510:client id="{5621EC96-7AB3-5927-1C59-CF0B77DE20AD}" v="21" dt="2024-05-13T17:28:58.624"/>
    <p1510:client id="{8F79FA61-3A36-5AA7-817D-7280E982ECD8}" v="236" dt="2024-05-15T12:05:45.026"/>
    <p1510:client id="{A0B49B44-415A-9B34-D3EE-79A3172B7A1F}" v="537" dt="2024-05-13T13:43:33.837"/>
    <p1510:client id="{BAC07F2E-EDBB-942E-FE00-C8615052B9F2}" v="29" dt="2024-05-13T12:10:45.099"/>
    <p1510:client id="{FF3D0EA6-B463-6A42-5446-A6EFC3BEF45A}" v="26" dt="2024-05-13T12:15:32.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5" d="100"/>
          <a:sy n="25" d="100"/>
        </p:scale>
        <p:origin x="130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0C93E5-1613-4C10-AD34-F67313B2DA71}" type="doc">
      <dgm:prSet loTypeId="urn:microsoft.com/office/officeart/2018/5/layout/CenteredIconLabelDescriptionList" loCatId="icon" qsTypeId="urn:microsoft.com/office/officeart/2005/8/quickstyle/simple1" qsCatId="simple" csTypeId="urn:microsoft.com/office/officeart/2018/5/colors/Iconchunking_neutralbg_accent6_2" csCatId="accent6" phldr="1"/>
      <dgm:spPr/>
      <dgm:t>
        <a:bodyPr/>
        <a:lstStyle/>
        <a:p>
          <a:endParaRPr lang="en-US"/>
        </a:p>
      </dgm:t>
    </dgm:pt>
    <dgm:pt modelId="{5A80E764-1F7C-4466-856A-EC755AE2BD02}">
      <dgm:prSet/>
      <dgm:spPr/>
      <dgm:t>
        <a:bodyPr/>
        <a:lstStyle/>
        <a:p>
          <a:pPr>
            <a:lnSpc>
              <a:spcPct val="100000"/>
            </a:lnSpc>
            <a:defRPr b="1"/>
          </a:pPr>
          <a:r>
            <a:rPr lang="en-US" b="1"/>
            <a:t>What service(s)? </a:t>
          </a:r>
          <a:endParaRPr lang="en-US"/>
        </a:p>
      </dgm:t>
    </dgm:pt>
    <dgm:pt modelId="{7838A6BA-66F1-4773-8A8B-6FB02DC63AF6}" type="parTrans" cxnId="{D317E11F-52EB-4D6E-A67A-516CC8512259}">
      <dgm:prSet/>
      <dgm:spPr/>
      <dgm:t>
        <a:bodyPr/>
        <a:lstStyle/>
        <a:p>
          <a:endParaRPr lang="en-US"/>
        </a:p>
      </dgm:t>
    </dgm:pt>
    <dgm:pt modelId="{B9A446D1-4FDF-4C7F-88CE-E22E47A959C8}" type="sibTrans" cxnId="{D317E11F-52EB-4D6E-A67A-516CC8512259}">
      <dgm:prSet/>
      <dgm:spPr/>
      <dgm:t>
        <a:bodyPr/>
        <a:lstStyle/>
        <a:p>
          <a:endParaRPr lang="en-US"/>
        </a:p>
      </dgm:t>
    </dgm:pt>
    <dgm:pt modelId="{AD8295F5-6128-4CF4-B319-EC8E71935388}">
      <dgm:prSet/>
      <dgm:spPr/>
      <dgm:t>
        <a:bodyPr/>
        <a:lstStyle/>
        <a:p>
          <a:pPr>
            <a:lnSpc>
              <a:spcPct val="100000"/>
            </a:lnSpc>
          </a:pPr>
          <a:r>
            <a:rPr lang="en-US"/>
            <a:t>Non-work (Day)</a:t>
          </a:r>
        </a:p>
      </dgm:t>
    </dgm:pt>
    <dgm:pt modelId="{EE3A9639-21D9-4417-9326-F93AD33F4454}" type="parTrans" cxnId="{81134FD1-AA3D-48A1-A141-6BF9C9235BD0}">
      <dgm:prSet/>
      <dgm:spPr/>
      <dgm:t>
        <a:bodyPr/>
        <a:lstStyle/>
        <a:p>
          <a:endParaRPr lang="en-US"/>
        </a:p>
      </dgm:t>
    </dgm:pt>
    <dgm:pt modelId="{8A87614B-546F-49AD-A801-528C2424B029}" type="sibTrans" cxnId="{81134FD1-AA3D-48A1-A141-6BF9C9235BD0}">
      <dgm:prSet/>
      <dgm:spPr/>
      <dgm:t>
        <a:bodyPr/>
        <a:lstStyle/>
        <a:p>
          <a:endParaRPr lang="en-US"/>
        </a:p>
      </dgm:t>
    </dgm:pt>
    <dgm:pt modelId="{DF89C3CA-6C46-457B-8486-4B08DE029B07}">
      <dgm:prSet/>
      <dgm:spPr/>
      <dgm:t>
        <a:bodyPr/>
        <a:lstStyle/>
        <a:p>
          <a:pPr>
            <a:lnSpc>
              <a:spcPct val="100000"/>
            </a:lnSpc>
          </a:pPr>
          <a:r>
            <a:rPr lang="en-US"/>
            <a:t>Pre-voc</a:t>
          </a:r>
        </a:p>
      </dgm:t>
    </dgm:pt>
    <dgm:pt modelId="{63D86B3F-7CC8-41B1-81DD-8F2879FB8A21}" type="parTrans" cxnId="{636036DD-4054-4DEB-9EB9-DAEA3CC5D955}">
      <dgm:prSet/>
      <dgm:spPr/>
      <dgm:t>
        <a:bodyPr/>
        <a:lstStyle/>
        <a:p>
          <a:endParaRPr lang="en-US"/>
        </a:p>
      </dgm:t>
    </dgm:pt>
    <dgm:pt modelId="{B22E5BC0-666A-45AB-9F3B-103B8D58DAD1}" type="sibTrans" cxnId="{636036DD-4054-4DEB-9EB9-DAEA3CC5D955}">
      <dgm:prSet/>
      <dgm:spPr/>
      <dgm:t>
        <a:bodyPr/>
        <a:lstStyle/>
        <a:p>
          <a:endParaRPr lang="en-US"/>
        </a:p>
      </dgm:t>
    </dgm:pt>
    <dgm:pt modelId="{032DF084-2E35-4E32-BE2D-7D9827FD1259}">
      <dgm:prSet/>
      <dgm:spPr/>
      <dgm:t>
        <a:bodyPr/>
        <a:lstStyle/>
        <a:p>
          <a:pPr>
            <a:lnSpc>
              <a:spcPct val="100000"/>
            </a:lnSpc>
          </a:pPr>
          <a:r>
            <a:rPr lang="en-US"/>
            <a:t>Employment</a:t>
          </a:r>
        </a:p>
      </dgm:t>
    </dgm:pt>
    <dgm:pt modelId="{6573A205-25CE-4E0F-9C40-3B64100C660C}" type="parTrans" cxnId="{69F6AB57-EC54-404D-8B56-6B2EDE285860}">
      <dgm:prSet/>
      <dgm:spPr/>
      <dgm:t>
        <a:bodyPr/>
        <a:lstStyle/>
        <a:p>
          <a:endParaRPr lang="en-US"/>
        </a:p>
      </dgm:t>
    </dgm:pt>
    <dgm:pt modelId="{ED1269F4-B853-4229-A495-8E64642A4365}" type="sibTrans" cxnId="{69F6AB57-EC54-404D-8B56-6B2EDE285860}">
      <dgm:prSet/>
      <dgm:spPr/>
      <dgm:t>
        <a:bodyPr/>
        <a:lstStyle/>
        <a:p>
          <a:endParaRPr lang="en-US"/>
        </a:p>
      </dgm:t>
    </dgm:pt>
    <dgm:pt modelId="{3E4FF641-B2F8-48A6-9FAD-443FBBE9464B}">
      <dgm:prSet/>
      <dgm:spPr/>
      <dgm:t>
        <a:bodyPr/>
        <a:lstStyle/>
        <a:p>
          <a:pPr>
            <a:lnSpc>
              <a:spcPct val="100000"/>
            </a:lnSpc>
          </a:pPr>
          <a:r>
            <a:rPr lang="en-US"/>
            <a:t>Other?</a:t>
          </a:r>
        </a:p>
      </dgm:t>
    </dgm:pt>
    <dgm:pt modelId="{EF99354A-520E-4B5E-9B21-DAB22AD97290}" type="parTrans" cxnId="{B6A59825-EC93-4155-9527-07D0836B6F07}">
      <dgm:prSet/>
      <dgm:spPr/>
      <dgm:t>
        <a:bodyPr/>
        <a:lstStyle/>
        <a:p>
          <a:endParaRPr lang="en-US"/>
        </a:p>
      </dgm:t>
    </dgm:pt>
    <dgm:pt modelId="{DB4BFD42-34D9-46AC-9E94-88530C53B0E4}" type="sibTrans" cxnId="{B6A59825-EC93-4155-9527-07D0836B6F07}">
      <dgm:prSet/>
      <dgm:spPr/>
      <dgm:t>
        <a:bodyPr/>
        <a:lstStyle/>
        <a:p>
          <a:endParaRPr lang="en-US"/>
        </a:p>
      </dgm:t>
    </dgm:pt>
    <dgm:pt modelId="{80897A18-BDC9-4207-AE71-F16193D612EA}">
      <dgm:prSet/>
      <dgm:spPr/>
      <dgm:t>
        <a:bodyPr/>
        <a:lstStyle/>
        <a:p>
          <a:pPr>
            <a:lnSpc>
              <a:spcPct val="100000"/>
            </a:lnSpc>
            <a:defRPr b="1"/>
          </a:pPr>
          <a:r>
            <a:rPr lang="en-US" b="1"/>
            <a:t>Role?</a:t>
          </a:r>
          <a:endParaRPr lang="en-US"/>
        </a:p>
      </dgm:t>
    </dgm:pt>
    <dgm:pt modelId="{7C8683F3-3A3E-45D3-A2B8-1EF9160445FB}" type="parTrans" cxnId="{446DCFD1-E3BF-4D5E-8F0E-D596DA224F27}">
      <dgm:prSet/>
      <dgm:spPr/>
      <dgm:t>
        <a:bodyPr/>
        <a:lstStyle/>
        <a:p>
          <a:endParaRPr lang="en-US"/>
        </a:p>
      </dgm:t>
    </dgm:pt>
    <dgm:pt modelId="{3E80BAFF-31AE-428B-8144-162724B0AC38}" type="sibTrans" cxnId="{446DCFD1-E3BF-4D5E-8F0E-D596DA224F27}">
      <dgm:prSet/>
      <dgm:spPr/>
      <dgm:t>
        <a:bodyPr/>
        <a:lstStyle/>
        <a:p>
          <a:endParaRPr lang="en-US"/>
        </a:p>
      </dgm:t>
    </dgm:pt>
    <dgm:pt modelId="{0341F741-B455-4874-9839-6B3E871622E2}">
      <dgm:prSet/>
      <dgm:spPr/>
      <dgm:t>
        <a:bodyPr/>
        <a:lstStyle/>
        <a:p>
          <a:pPr>
            <a:lnSpc>
              <a:spcPct val="100000"/>
            </a:lnSpc>
          </a:pPr>
          <a:r>
            <a:rPr lang="en-US"/>
            <a:t>Direct Support Professional</a:t>
          </a:r>
        </a:p>
      </dgm:t>
    </dgm:pt>
    <dgm:pt modelId="{DB0249CA-3E9D-4E8A-8585-44AD0A73D24A}" type="parTrans" cxnId="{78F2E044-9217-47A1-A8A5-4FCEC1FF5ADB}">
      <dgm:prSet/>
      <dgm:spPr/>
      <dgm:t>
        <a:bodyPr/>
        <a:lstStyle/>
        <a:p>
          <a:endParaRPr lang="en-US"/>
        </a:p>
      </dgm:t>
    </dgm:pt>
    <dgm:pt modelId="{A1E4612D-0E1D-418E-8026-CD122E5D0DB2}" type="sibTrans" cxnId="{78F2E044-9217-47A1-A8A5-4FCEC1FF5ADB}">
      <dgm:prSet/>
      <dgm:spPr/>
      <dgm:t>
        <a:bodyPr/>
        <a:lstStyle/>
        <a:p>
          <a:endParaRPr lang="en-US"/>
        </a:p>
      </dgm:t>
    </dgm:pt>
    <dgm:pt modelId="{02D2ACFE-CA18-4596-8278-869017091040}">
      <dgm:prSet/>
      <dgm:spPr/>
      <dgm:t>
        <a:bodyPr/>
        <a:lstStyle/>
        <a:p>
          <a:pPr>
            <a:lnSpc>
              <a:spcPct val="100000"/>
            </a:lnSpc>
          </a:pPr>
          <a:r>
            <a:rPr lang="en-US"/>
            <a:t>Designated Coordinator</a:t>
          </a:r>
        </a:p>
      </dgm:t>
    </dgm:pt>
    <dgm:pt modelId="{A7765988-C467-4F3B-9A34-78D49B95856C}" type="parTrans" cxnId="{651BF472-8B52-4F73-B1BD-985041C30183}">
      <dgm:prSet/>
      <dgm:spPr/>
      <dgm:t>
        <a:bodyPr/>
        <a:lstStyle/>
        <a:p>
          <a:endParaRPr lang="en-US"/>
        </a:p>
      </dgm:t>
    </dgm:pt>
    <dgm:pt modelId="{C5D3B44B-A89D-4A13-B7C5-363AA677A1C6}" type="sibTrans" cxnId="{651BF472-8B52-4F73-B1BD-985041C30183}">
      <dgm:prSet/>
      <dgm:spPr/>
      <dgm:t>
        <a:bodyPr/>
        <a:lstStyle/>
        <a:p>
          <a:endParaRPr lang="en-US"/>
        </a:p>
      </dgm:t>
    </dgm:pt>
    <dgm:pt modelId="{CF485F77-768D-4142-AEF7-D922EB5D568F}">
      <dgm:prSet/>
      <dgm:spPr/>
      <dgm:t>
        <a:bodyPr/>
        <a:lstStyle/>
        <a:p>
          <a:pPr>
            <a:lnSpc>
              <a:spcPct val="100000"/>
            </a:lnSpc>
          </a:pPr>
          <a:r>
            <a:rPr lang="en-US"/>
            <a:t>Middle Manager</a:t>
          </a:r>
        </a:p>
      </dgm:t>
    </dgm:pt>
    <dgm:pt modelId="{9EE53BED-52CE-4956-8137-0FD1C2CC085F}" type="parTrans" cxnId="{70CFBBF7-5A15-41ED-A713-929A341DAA4B}">
      <dgm:prSet/>
      <dgm:spPr/>
      <dgm:t>
        <a:bodyPr/>
        <a:lstStyle/>
        <a:p>
          <a:endParaRPr lang="en-US"/>
        </a:p>
      </dgm:t>
    </dgm:pt>
    <dgm:pt modelId="{DA9F0256-2FC8-4636-8F2C-16B83D6B5127}" type="sibTrans" cxnId="{70CFBBF7-5A15-41ED-A713-929A341DAA4B}">
      <dgm:prSet/>
      <dgm:spPr/>
      <dgm:t>
        <a:bodyPr/>
        <a:lstStyle/>
        <a:p>
          <a:endParaRPr lang="en-US"/>
        </a:p>
      </dgm:t>
    </dgm:pt>
    <dgm:pt modelId="{C768EC33-FAE4-4D4A-B8A8-73F1E24CD419}">
      <dgm:prSet/>
      <dgm:spPr/>
      <dgm:t>
        <a:bodyPr/>
        <a:lstStyle/>
        <a:p>
          <a:pPr>
            <a:lnSpc>
              <a:spcPct val="100000"/>
            </a:lnSpc>
          </a:pPr>
          <a:r>
            <a:rPr lang="en-US"/>
            <a:t>Director</a:t>
          </a:r>
        </a:p>
      </dgm:t>
    </dgm:pt>
    <dgm:pt modelId="{8376613D-C119-49EB-B081-10974ED49AB4}" type="parTrans" cxnId="{FDB73F7D-8047-4085-B1E1-D43F19C55D7A}">
      <dgm:prSet/>
      <dgm:spPr/>
      <dgm:t>
        <a:bodyPr/>
        <a:lstStyle/>
        <a:p>
          <a:endParaRPr lang="en-US"/>
        </a:p>
      </dgm:t>
    </dgm:pt>
    <dgm:pt modelId="{6047C787-D913-4817-968B-023D283C2CAD}" type="sibTrans" cxnId="{FDB73F7D-8047-4085-B1E1-D43F19C55D7A}">
      <dgm:prSet/>
      <dgm:spPr/>
      <dgm:t>
        <a:bodyPr/>
        <a:lstStyle/>
        <a:p>
          <a:endParaRPr lang="en-US"/>
        </a:p>
      </dgm:t>
    </dgm:pt>
    <dgm:pt modelId="{70253863-72FB-438B-8393-7DBE02FC4764}">
      <dgm:prSet/>
      <dgm:spPr/>
      <dgm:t>
        <a:bodyPr/>
        <a:lstStyle/>
        <a:p>
          <a:pPr>
            <a:lnSpc>
              <a:spcPct val="100000"/>
            </a:lnSpc>
          </a:pPr>
          <a:r>
            <a:rPr lang="en-US"/>
            <a:t>Senior Leader</a:t>
          </a:r>
        </a:p>
      </dgm:t>
    </dgm:pt>
    <dgm:pt modelId="{CE59CBC8-7D1D-443F-8B66-F7FCA4CFDB1E}" type="parTrans" cxnId="{D38CD5BD-225E-41FE-AF25-83C245C51E28}">
      <dgm:prSet/>
      <dgm:spPr/>
      <dgm:t>
        <a:bodyPr/>
        <a:lstStyle/>
        <a:p>
          <a:endParaRPr lang="en-US"/>
        </a:p>
      </dgm:t>
    </dgm:pt>
    <dgm:pt modelId="{474B39DC-6242-4DFA-949D-4F50F0E663B4}" type="sibTrans" cxnId="{D38CD5BD-225E-41FE-AF25-83C245C51E28}">
      <dgm:prSet/>
      <dgm:spPr/>
      <dgm:t>
        <a:bodyPr/>
        <a:lstStyle/>
        <a:p>
          <a:endParaRPr lang="en-US"/>
        </a:p>
      </dgm:t>
    </dgm:pt>
    <dgm:pt modelId="{841AB676-2866-441B-8799-F59D957370D5}">
      <dgm:prSet/>
      <dgm:spPr/>
      <dgm:t>
        <a:bodyPr/>
        <a:lstStyle/>
        <a:p>
          <a:pPr>
            <a:lnSpc>
              <a:spcPct val="100000"/>
            </a:lnSpc>
          </a:pPr>
          <a:r>
            <a:rPr lang="en-US"/>
            <a:t>Other? </a:t>
          </a:r>
        </a:p>
      </dgm:t>
    </dgm:pt>
    <dgm:pt modelId="{C87B2493-91AD-4743-98BD-6A9FA46F9756}" type="parTrans" cxnId="{475559BA-3518-4417-A83A-560C0BFEE519}">
      <dgm:prSet/>
      <dgm:spPr/>
      <dgm:t>
        <a:bodyPr/>
        <a:lstStyle/>
        <a:p>
          <a:endParaRPr lang="en-US"/>
        </a:p>
      </dgm:t>
    </dgm:pt>
    <dgm:pt modelId="{43AE45B2-0362-488E-B795-7436462E6324}" type="sibTrans" cxnId="{475559BA-3518-4417-A83A-560C0BFEE519}">
      <dgm:prSet/>
      <dgm:spPr/>
      <dgm:t>
        <a:bodyPr/>
        <a:lstStyle/>
        <a:p>
          <a:endParaRPr lang="en-US"/>
        </a:p>
      </dgm:t>
    </dgm:pt>
    <dgm:pt modelId="{7B97F637-B04E-4AC3-94A6-542328D835B7}" type="pres">
      <dgm:prSet presAssocID="{760C93E5-1613-4C10-AD34-F67313B2DA71}" presName="root" presStyleCnt="0">
        <dgm:presLayoutVars>
          <dgm:dir/>
          <dgm:resizeHandles val="exact"/>
        </dgm:presLayoutVars>
      </dgm:prSet>
      <dgm:spPr/>
    </dgm:pt>
    <dgm:pt modelId="{5B1CEF72-02B9-44EB-80E4-61B3672A0298}" type="pres">
      <dgm:prSet presAssocID="{5A80E764-1F7C-4466-856A-EC755AE2BD02}" presName="compNode" presStyleCnt="0"/>
      <dgm:spPr/>
    </dgm:pt>
    <dgm:pt modelId="{AB57C8EB-50A1-49C3-A203-797F9E1256D9}" type="pres">
      <dgm:prSet presAssocID="{5A80E764-1F7C-4466-856A-EC755AE2BD0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F9A63BCB-BEAE-4A42-B5CE-539D5328ABEB}" type="pres">
      <dgm:prSet presAssocID="{5A80E764-1F7C-4466-856A-EC755AE2BD02}" presName="iconSpace" presStyleCnt="0"/>
      <dgm:spPr/>
    </dgm:pt>
    <dgm:pt modelId="{75062018-A2E5-446C-8F2E-75B1457E0788}" type="pres">
      <dgm:prSet presAssocID="{5A80E764-1F7C-4466-856A-EC755AE2BD02}" presName="parTx" presStyleLbl="revTx" presStyleIdx="0" presStyleCnt="4">
        <dgm:presLayoutVars>
          <dgm:chMax val="0"/>
          <dgm:chPref val="0"/>
        </dgm:presLayoutVars>
      </dgm:prSet>
      <dgm:spPr/>
    </dgm:pt>
    <dgm:pt modelId="{FF4734BB-A88B-44EC-A4A8-21857F16E10B}" type="pres">
      <dgm:prSet presAssocID="{5A80E764-1F7C-4466-856A-EC755AE2BD02}" presName="txSpace" presStyleCnt="0"/>
      <dgm:spPr/>
    </dgm:pt>
    <dgm:pt modelId="{9FCBFC8E-557A-4054-BB56-780CC45524B5}" type="pres">
      <dgm:prSet presAssocID="{5A80E764-1F7C-4466-856A-EC755AE2BD02}" presName="desTx" presStyleLbl="revTx" presStyleIdx="1" presStyleCnt="4">
        <dgm:presLayoutVars/>
      </dgm:prSet>
      <dgm:spPr/>
    </dgm:pt>
    <dgm:pt modelId="{C51378BD-0139-4451-BD22-AD68AA72235B}" type="pres">
      <dgm:prSet presAssocID="{B9A446D1-4FDF-4C7F-88CE-E22E47A959C8}" presName="sibTrans" presStyleCnt="0"/>
      <dgm:spPr/>
    </dgm:pt>
    <dgm:pt modelId="{E1258580-5F90-4E43-9822-A93D2A4F481A}" type="pres">
      <dgm:prSet presAssocID="{80897A18-BDC9-4207-AE71-F16193D612EA}" presName="compNode" presStyleCnt="0"/>
      <dgm:spPr/>
    </dgm:pt>
    <dgm:pt modelId="{39DBEA0B-18B2-47DB-B7B7-5331B3F8063C}" type="pres">
      <dgm:prSet presAssocID="{80897A18-BDC9-4207-AE71-F16193D612E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60D80411-F3DD-4238-8019-2D4EA92C4C3A}" type="pres">
      <dgm:prSet presAssocID="{80897A18-BDC9-4207-AE71-F16193D612EA}" presName="iconSpace" presStyleCnt="0"/>
      <dgm:spPr/>
    </dgm:pt>
    <dgm:pt modelId="{6EF2B7F8-0E59-437D-8E20-597219969689}" type="pres">
      <dgm:prSet presAssocID="{80897A18-BDC9-4207-AE71-F16193D612EA}" presName="parTx" presStyleLbl="revTx" presStyleIdx="2" presStyleCnt="4">
        <dgm:presLayoutVars>
          <dgm:chMax val="0"/>
          <dgm:chPref val="0"/>
        </dgm:presLayoutVars>
      </dgm:prSet>
      <dgm:spPr/>
    </dgm:pt>
    <dgm:pt modelId="{6E9B74E8-2AB9-4047-A0A7-9D5056CFB8CF}" type="pres">
      <dgm:prSet presAssocID="{80897A18-BDC9-4207-AE71-F16193D612EA}" presName="txSpace" presStyleCnt="0"/>
      <dgm:spPr/>
    </dgm:pt>
    <dgm:pt modelId="{E9157EEC-3435-45C7-A222-833FE21D933E}" type="pres">
      <dgm:prSet presAssocID="{80897A18-BDC9-4207-AE71-F16193D612EA}" presName="desTx" presStyleLbl="revTx" presStyleIdx="3" presStyleCnt="4">
        <dgm:presLayoutVars/>
      </dgm:prSet>
      <dgm:spPr/>
    </dgm:pt>
  </dgm:ptLst>
  <dgm:cxnLst>
    <dgm:cxn modelId="{F45E780C-81FE-4856-BA1B-BCC7AB3EB892}" type="presOf" srcId="{02D2ACFE-CA18-4596-8278-869017091040}" destId="{E9157EEC-3435-45C7-A222-833FE21D933E}" srcOrd="0" destOrd="1" presId="urn:microsoft.com/office/officeart/2018/5/layout/CenteredIconLabelDescriptionList"/>
    <dgm:cxn modelId="{0097190E-8976-4221-8673-DC290F87B8E2}" type="presOf" srcId="{0341F741-B455-4874-9839-6B3E871622E2}" destId="{E9157EEC-3435-45C7-A222-833FE21D933E}" srcOrd="0" destOrd="0" presId="urn:microsoft.com/office/officeart/2018/5/layout/CenteredIconLabelDescriptionList"/>
    <dgm:cxn modelId="{D317E11F-52EB-4D6E-A67A-516CC8512259}" srcId="{760C93E5-1613-4C10-AD34-F67313B2DA71}" destId="{5A80E764-1F7C-4466-856A-EC755AE2BD02}" srcOrd="0" destOrd="0" parTransId="{7838A6BA-66F1-4773-8A8B-6FB02DC63AF6}" sibTransId="{B9A446D1-4FDF-4C7F-88CE-E22E47A959C8}"/>
    <dgm:cxn modelId="{B6A59825-EC93-4155-9527-07D0836B6F07}" srcId="{5A80E764-1F7C-4466-856A-EC755AE2BD02}" destId="{3E4FF641-B2F8-48A6-9FAD-443FBBE9464B}" srcOrd="3" destOrd="0" parTransId="{EF99354A-520E-4B5E-9B21-DAB22AD97290}" sibTransId="{DB4BFD42-34D9-46AC-9E94-88530C53B0E4}"/>
    <dgm:cxn modelId="{ADF92228-F399-46F9-9986-2E33145FFC67}" type="presOf" srcId="{DF89C3CA-6C46-457B-8486-4B08DE029B07}" destId="{9FCBFC8E-557A-4054-BB56-780CC45524B5}" srcOrd="0" destOrd="1" presId="urn:microsoft.com/office/officeart/2018/5/layout/CenteredIconLabelDescriptionList"/>
    <dgm:cxn modelId="{B59AFD31-C6F1-4044-8981-9C2809EB0CA7}" type="presOf" srcId="{760C93E5-1613-4C10-AD34-F67313B2DA71}" destId="{7B97F637-B04E-4AC3-94A6-542328D835B7}" srcOrd="0" destOrd="0" presId="urn:microsoft.com/office/officeart/2018/5/layout/CenteredIconLabelDescriptionList"/>
    <dgm:cxn modelId="{2E136140-36E2-46CA-9C4B-52FD108CA52C}" type="presOf" srcId="{CF485F77-768D-4142-AEF7-D922EB5D568F}" destId="{E9157EEC-3435-45C7-A222-833FE21D933E}" srcOrd="0" destOrd="2" presId="urn:microsoft.com/office/officeart/2018/5/layout/CenteredIconLabelDescriptionList"/>
    <dgm:cxn modelId="{C8AB4940-0644-44DB-B2FC-E215A8D80A61}" type="presOf" srcId="{032DF084-2E35-4E32-BE2D-7D9827FD1259}" destId="{9FCBFC8E-557A-4054-BB56-780CC45524B5}" srcOrd="0" destOrd="2" presId="urn:microsoft.com/office/officeart/2018/5/layout/CenteredIconLabelDescriptionList"/>
    <dgm:cxn modelId="{2169B95C-767C-423B-8444-C2F6D1ED742D}" type="presOf" srcId="{80897A18-BDC9-4207-AE71-F16193D612EA}" destId="{6EF2B7F8-0E59-437D-8E20-597219969689}" srcOrd="0" destOrd="0" presId="urn:microsoft.com/office/officeart/2018/5/layout/CenteredIconLabelDescriptionList"/>
    <dgm:cxn modelId="{78F2E044-9217-47A1-A8A5-4FCEC1FF5ADB}" srcId="{80897A18-BDC9-4207-AE71-F16193D612EA}" destId="{0341F741-B455-4874-9839-6B3E871622E2}" srcOrd="0" destOrd="0" parTransId="{DB0249CA-3E9D-4E8A-8585-44AD0A73D24A}" sibTransId="{A1E4612D-0E1D-418E-8026-CD122E5D0DB2}"/>
    <dgm:cxn modelId="{651BF472-8B52-4F73-B1BD-985041C30183}" srcId="{80897A18-BDC9-4207-AE71-F16193D612EA}" destId="{02D2ACFE-CA18-4596-8278-869017091040}" srcOrd="1" destOrd="0" parTransId="{A7765988-C467-4F3B-9A34-78D49B95856C}" sibTransId="{C5D3B44B-A89D-4A13-B7C5-363AA677A1C6}"/>
    <dgm:cxn modelId="{69F6AB57-EC54-404D-8B56-6B2EDE285860}" srcId="{5A80E764-1F7C-4466-856A-EC755AE2BD02}" destId="{032DF084-2E35-4E32-BE2D-7D9827FD1259}" srcOrd="2" destOrd="0" parTransId="{6573A205-25CE-4E0F-9C40-3B64100C660C}" sibTransId="{ED1269F4-B853-4229-A495-8E64642A4365}"/>
    <dgm:cxn modelId="{FDB73F7D-8047-4085-B1E1-D43F19C55D7A}" srcId="{80897A18-BDC9-4207-AE71-F16193D612EA}" destId="{C768EC33-FAE4-4D4A-B8A8-73F1E24CD419}" srcOrd="3" destOrd="0" parTransId="{8376613D-C119-49EB-B081-10974ED49AB4}" sibTransId="{6047C787-D913-4817-968B-023D283C2CAD}"/>
    <dgm:cxn modelId="{18EE2796-FE9F-48B8-B80E-DA2959B46F14}" type="presOf" srcId="{5A80E764-1F7C-4466-856A-EC755AE2BD02}" destId="{75062018-A2E5-446C-8F2E-75B1457E0788}" srcOrd="0" destOrd="0" presId="urn:microsoft.com/office/officeart/2018/5/layout/CenteredIconLabelDescriptionList"/>
    <dgm:cxn modelId="{FE8E90A6-A06D-482A-9043-5E06C0F55218}" type="presOf" srcId="{C768EC33-FAE4-4D4A-B8A8-73F1E24CD419}" destId="{E9157EEC-3435-45C7-A222-833FE21D933E}" srcOrd="0" destOrd="3" presId="urn:microsoft.com/office/officeart/2018/5/layout/CenteredIconLabelDescriptionList"/>
    <dgm:cxn modelId="{475559BA-3518-4417-A83A-560C0BFEE519}" srcId="{80897A18-BDC9-4207-AE71-F16193D612EA}" destId="{841AB676-2866-441B-8799-F59D957370D5}" srcOrd="5" destOrd="0" parTransId="{C87B2493-91AD-4743-98BD-6A9FA46F9756}" sibTransId="{43AE45B2-0362-488E-B795-7436462E6324}"/>
    <dgm:cxn modelId="{D38CD5BD-225E-41FE-AF25-83C245C51E28}" srcId="{80897A18-BDC9-4207-AE71-F16193D612EA}" destId="{70253863-72FB-438B-8393-7DBE02FC4764}" srcOrd="4" destOrd="0" parTransId="{CE59CBC8-7D1D-443F-8B66-F7FCA4CFDB1E}" sibTransId="{474B39DC-6242-4DFA-949D-4F50F0E663B4}"/>
    <dgm:cxn modelId="{8BC6D5CF-B876-4302-8E14-3A7C0C9D7F24}" type="presOf" srcId="{3E4FF641-B2F8-48A6-9FAD-443FBBE9464B}" destId="{9FCBFC8E-557A-4054-BB56-780CC45524B5}" srcOrd="0" destOrd="3" presId="urn:microsoft.com/office/officeart/2018/5/layout/CenteredIconLabelDescriptionList"/>
    <dgm:cxn modelId="{81134FD1-AA3D-48A1-A141-6BF9C9235BD0}" srcId="{5A80E764-1F7C-4466-856A-EC755AE2BD02}" destId="{AD8295F5-6128-4CF4-B319-EC8E71935388}" srcOrd="0" destOrd="0" parTransId="{EE3A9639-21D9-4417-9326-F93AD33F4454}" sibTransId="{8A87614B-546F-49AD-A801-528C2424B029}"/>
    <dgm:cxn modelId="{446DCFD1-E3BF-4D5E-8F0E-D596DA224F27}" srcId="{760C93E5-1613-4C10-AD34-F67313B2DA71}" destId="{80897A18-BDC9-4207-AE71-F16193D612EA}" srcOrd="1" destOrd="0" parTransId="{7C8683F3-3A3E-45D3-A2B8-1EF9160445FB}" sibTransId="{3E80BAFF-31AE-428B-8144-162724B0AC38}"/>
    <dgm:cxn modelId="{636036DD-4054-4DEB-9EB9-DAEA3CC5D955}" srcId="{5A80E764-1F7C-4466-856A-EC755AE2BD02}" destId="{DF89C3CA-6C46-457B-8486-4B08DE029B07}" srcOrd="1" destOrd="0" parTransId="{63D86B3F-7CC8-41B1-81DD-8F2879FB8A21}" sibTransId="{B22E5BC0-666A-45AB-9F3B-103B8D58DAD1}"/>
    <dgm:cxn modelId="{34605DE7-37FE-4D66-A71B-9FB875013921}" type="presOf" srcId="{70253863-72FB-438B-8393-7DBE02FC4764}" destId="{E9157EEC-3435-45C7-A222-833FE21D933E}" srcOrd="0" destOrd="4" presId="urn:microsoft.com/office/officeart/2018/5/layout/CenteredIconLabelDescriptionList"/>
    <dgm:cxn modelId="{049771EE-4CCC-443D-9FBD-9615652044B5}" type="presOf" srcId="{841AB676-2866-441B-8799-F59D957370D5}" destId="{E9157EEC-3435-45C7-A222-833FE21D933E}" srcOrd="0" destOrd="5" presId="urn:microsoft.com/office/officeart/2018/5/layout/CenteredIconLabelDescriptionList"/>
    <dgm:cxn modelId="{0AECE3EE-D33D-4DC3-9D0F-8245B8904994}" type="presOf" srcId="{AD8295F5-6128-4CF4-B319-EC8E71935388}" destId="{9FCBFC8E-557A-4054-BB56-780CC45524B5}" srcOrd="0" destOrd="0" presId="urn:microsoft.com/office/officeart/2018/5/layout/CenteredIconLabelDescriptionList"/>
    <dgm:cxn modelId="{70CFBBF7-5A15-41ED-A713-929A341DAA4B}" srcId="{80897A18-BDC9-4207-AE71-F16193D612EA}" destId="{CF485F77-768D-4142-AEF7-D922EB5D568F}" srcOrd="2" destOrd="0" parTransId="{9EE53BED-52CE-4956-8137-0FD1C2CC085F}" sibTransId="{DA9F0256-2FC8-4636-8F2C-16B83D6B5127}"/>
    <dgm:cxn modelId="{EEDE7E34-6774-43D8-AA64-063B96302EA8}" type="presParOf" srcId="{7B97F637-B04E-4AC3-94A6-542328D835B7}" destId="{5B1CEF72-02B9-44EB-80E4-61B3672A0298}" srcOrd="0" destOrd="0" presId="urn:microsoft.com/office/officeart/2018/5/layout/CenteredIconLabelDescriptionList"/>
    <dgm:cxn modelId="{D99171FF-F755-4823-88CB-F358F7C6331D}" type="presParOf" srcId="{5B1CEF72-02B9-44EB-80E4-61B3672A0298}" destId="{AB57C8EB-50A1-49C3-A203-797F9E1256D9}" srcOrd="0" destOrd="0" presId="urn:microsoft.com/office/officeart/2018/5/layout/CenteredIconLabelDescriptionList"/>
    <dgm:cxn modelId="{801EC242-D9F5-4EB8-BB95-35C716A27F1E}" type="presParOf" srcId="{5B1CEF72-02B9-44EB-80E4-61B3672A0298}" destId="{F9A63BCB-BEAE-4A42-B5CE-539D5328ABEB}" srcOrd="1" destOrd="0" presId="urn:microsoft.com/office/officeart/2018/5/layout/CenteredIconLabelDescriptionList"/>
    <dgm:cxn modelId="{4E72F8CD-756E-4E6D-96B7-DEC3EB422D3A}" type="presParOf" srcId="{5B1CEF72-02B9-44EB-80E4-61B3672A0298}" destId="{75062018-A2E5-446C-8F2E-75B1457E0788}" srcOrd="2" destOrd="0" presId="urn:microsoft.com/office/officeart/2018/5/layout/CenteredIconLabelDescriptionList"/>
    <dgm:cxn modelId="{F6C83488-CC05-4D21-BE70-2A59B0C10EF7}" type="presParOf" srcId="{5B1CEF72-02B9-44EB-80E4-61B3672A0298}" destId="{FF4734BB-A88B-44EC-A4A8-21857F16E10B}" srcOrd="3" destOrd="0" presId="urn:microsoft.com/office/officeart/2018/5/layout/CenteredIconLabelDescriptionList"/>
    <dgm:cxn modelId="{00A4D8D8-3144-45D1-8A60-E2E8CF5F8F8B}" type="presParOf" srcId="{5B1CEF72-02B9-44EB-80E4-61B3672A0298}" destId="{9FCBFC8E-557A-4054-BB56-780CC45524B5}" srcOrd="4" destOrd="0" presId="urn:microsoft.com/office/officeart/2018/5/layout/CenteredIconLabelDescriptionList"/>
    <dgm:cxn modelId="{B8677B64-57AC-425D-80D4-99B469BF32E7}" type="presParOf" srcId="{7B97F637-B04E-4AC3-94A6-542328D835B7}" destId="{C51378BD-0139-4451-BD22-AD68AA72235B}" srcOrd="1" destOrd="0" presId="urn:microsoft.com/office/officeart/2018/5/layout/CenteredIconLabelDescriptionList"/>
    <dgm:cxn modelId="{871081EF-6A4A-4BB2-9E3F-6C62001265B9}" type="presParOf" srcId="{7B97F637-B04E-4AC3-94A6-542328D835B7}" destId="{E1258580-5F90-4E43-9822-A93D2A4F481A}" srcOrd="2" destOrd="0" presId="urn:microsoft.com/office/officeart/2018/5/layout/CenteredIconLabelDescriptionList"/>
    <dgm:cxn modelId="{04113CCC-BB37-44D7-A3F8-71D3527CE27F}" type="presParOf" srcId="{E1258580-5F90-4E43-9822-A93D2A4F481A}" destId="{39DBEA0B-18B2-47DB-B7B7-5331B3F8063C}" srcOrd="0" destOrd="0" presId="urn:microsoft.com/office/officeart/2018/5/layout/CenteredIconLabelDescriptionList"/>
    <dgm:cxn modelId="{F429C891-B48F-45AF-BFD9-705205CDA8CF}" type="presParOf" srcId="{E1258580-5F90-4E43-9822-A93D2A4F481A}" destId="{60D80411-F3DD-4238-8019-2D4EA92C4C3A}" srcOrd="1" destOrd="0" presId="urn:microsoft.com/office/officeart/2018/5/layout/CenteredIconLabelDescriptionList"/>
    <dgm:cxn modelId="{CF558C60-99A2-493E-8325-710C9FBD56F2}" type="presParOf" srcId="{E1258580-5F90-4E43-9822-A93D2A4F481A}" destId="{6EF2B7F8-0E59-437D-8E20-597219969689}" srcOrd="2" destOrd="0" presId="urn:microsoft.com/office/officeart/2018/5/layout/CenteredIconLabelDescriptionList"/>
    <dgm:cxn modelId="{1F4A6CB0-9804-40AA-966F-EA154649C966}" type="presParOf" srcId="{E1258580-5F90-4E43-9822-A93D2A4F481A}" destId="{6E9B74E8-2AB9-4047-A0A7-9D5056CFB8CF}" srcOrd="3" destOrd="0" presId="urn:microsoft.com/office/officeart/2018/5/layout/CenteredIconLabelDescriptionList"/>
    <dgm:cxn modelId="{90B2914F-3B38-4F5A-8F65-3A564485C3A5}" type="presParOf" srcId="{E1258580-5F90-4E43-9822-A93D2A4F481A}" destId="{E9157EEC-3435-45C7-A222-833FE21D933E}"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4DB1C2-7F11-4C66-A3AC-D44093281FD2}" type="doc">
      <dgm:prSet loTypeId="urn:microsoft.com/office/officeart/2005/8/layout/arrow2" loCatId="process" qsTypeId="urn:microsoft.com/office/officeart/2005/8/quickstyle/simple1" qsCatId="simple" csTypeId="urn:microsoft.com/office/officeart/2005/8/colors/accent1_2" csCatId="accent1" phldr="1"/>
      <dgm:spPr/>
    </dgm:pt>
    <dgm:pt modelId="{F0ABA278-58C1-4471-924E-7ED1F6F2B096}">
      <dgm:prSet phldrT="[Text]" phldr="0"/>
      <dgm:spPr/>
      <dgm:t>
        <a:bodyPr/>
        <a:lstStyle/>
        <a:p>
          <a:r>
            <a:rPr lang="en-US">
              <a:latin typeface="Calibri Light" panose="020F0302020204030204"/>
            </a:rPr>
            <a:t>State policy and legislation</a:t>
          </a:r>
          <a:endParaRPr lang="en-US"/>
        </a:p>
      </dgm:t>
    </dgm:pt>
    <dgm:pt modelId="{1CEFFBE1-FD7B-4B25-925D-EB2C644CF700}" type="parTrans" cxnId="{EDA07ADB-3EC5-4038-A8E9-DBC51357853F}">
      <dgm:prSet/>
      <dgm:spPr/>
    </dgm:pt>
    <dgm:pt modelId="{6BA95330-4527-4CCD-A049-05DF45476A47}" type="sibTrans" cxnId="{EDA07ADB-3EC5-4038-A8E9-DBC51357853F}">
      <dgm:prSet/>
      <dgm:spPr/>
      <dgm:t>
        <a:bodyPr/>
        <a:lstStyle/>
        <a:p>
          <a:endParaRPr lang="en-US"/>
        </a:p>
      </dgm:t>
    </dgm:pt>
    <dgm:pt modelId="{1CE267CA-48DD-49EC-A1C5-EC14C616A518}">
      <dgm:prSet phldrT="[Text]" phldr="0"/>
      <dgm:spPr/>
      <dgm:t>
        <a:bodyPr/>
        <a:lstStyle/>
        <a:p>
          <a:pPr rtl="0"/>
          <a:r>
            <a:rPr lang="en-US">
              <a:latin typeface="Calibri Light" panose="020F0302020204030204"/>
            </a:rPr>
            <a:t>Best Practices</a:t>
          </a:r>
          <a:endParaRPr lang="en-US"/>
        </a:p>
      </dgm:t>
    </dgm:pt>
    <dgm:pt modelId="{E6042546-38A4-4B37-8B55-9236F806B96C}" type="parTrans" cxnId="{637B059F-74F7-42AD-BDCA-6A875ADD9627}">
      <dgm:prSet/>
      <dgm:spPr/>
    </dgm:pt>
    <dgm:pt modelId="{CD8D32D8-5609-4284-8001-8792DB385560}" type="sibTrans" cxnId="{637B059F-74F7-42AD-BDCA-6A875ADD9627}">
      <dgm:prSet/>
      <dgm:spPr/>
      <dgm:t>
        <a:bodyPr/>
        <a:lstStyle/>
        <a:p>
          <a:endParaRPr lang="en-US"/>
        </a:p>
      </dgm:t>
    </dgm:pt>
    <dgm:pt modelId="{6C1571A9-F162-46AE-9404-4887EDDD450A}">
      <dgm:prSet phldr="0"/>
      <dgm:spPr/>
      <dgm:t>
        <a:bodyPr/>
        <a:lstStyle/>
        <a:p>
          <a:r>
            <a:rPr lang="en-US">
              <a:latin typeface="Calibri Light" panose="020F0302020204030204"/>
            </a:rPr>
            <a:t>Federal policy and legislation</a:t>
          </a:r>
          <a:endParaRPr lang="en-US"/>
        </a:p>
      </dgm:t>
    </dgm:pt>
    <dgm:pt modelId="{299933B8-C7DE-44A4-AED4-F274388BAD78}" type="parTrans" cxnId="{6F430C27-F434-425C-8BB6-46A65168F19A}">
      <dgm:prSet/>
      <dgm:spPr/>
    </dgm:pt>
    <dgm:pt modelId="{95806222-8D6C-4C4E-8954-F86E71072B5F}" type="sibTrans" cxnId="{6F430C27-F434-425C-8BB6-46A65168F19A}">
      <dgm:prSet/>
      <dgm:spPr/>
      <dgm:t>
        <a:bodyPr/>
        <a:lstStyle/>
        <a:p>
          <a:endParaRPr lang="en-US"/>
        </a:p>
      </dgm:t>
    </dgm:pt>
    <dgm:pt modelId="{25EF89C6-E798-45AF-8DD7-4D6AA959EF5E}">
      <dgm:prSet phldr="0"/>
      <dgm:spPr/>
      <dgm:t>
        <a:bodyPr/>
        <a:lstStyle/>
        <a:p>
          <a:r>
            <a:rPr lang="en-US">
              <a:latin typeface="Calibri Light" panose="020F0302020204030204"/>
            </a:rPr>
            <a:t>Values</a:t>
          </a:r>
        </a:p>
      </dgm:t>
    </dgm:pt>
    <dgm:pt modelId="{42E287D1-8F08-4BF1-A6B6-A7694BF034E7}" type="parTrans" cxnId="{08FE1326-9392-4A44-95B0-28BCC54D1CD1}">
      <dgm:prSet/>
      <dgm:spPr/>
    </dgm:pt>
    <dgm:pt modelId="{FCD6F8B3-89C0-4E38-99A4-060FC572898D}" type="sibTrans" cxnId="{08FE1326-9392-4A44-95B0-28BCC54D1CD1}">
      <dgm:prSet/>
      <dgm:spPr/>
      <dgm:t>
        <a:bodyPr/>
        <a:lstStyle/>
        <a:p>
          <a:endParaRPr lang="en-US"/>
        </a:p>
      </dgm:t>
    </dgm:pt>
    <dgm:pt modelId="{B23B8E01-416D-484F-B082-C6227A68B9E2}">
      <dgm:prSet phldr="0"/>
      <dgm:spPr/>
      <dgm:t>
        <a:bodyPr/>
        <a:lstStyle/>
        <a:p>
          <a:pPr rtl="0"/>
          <a:r>
            <a:rPr lang="en-US">
              <a:latin typeface="Calibri Light" panose="020F0302020204030204"/>
            </a:rPr>
            <a:t>History</a:t>
          </a:r>
        </a:p>
      </dgm:t>
    </dgm:pt>
    <dgm:pt modelId="{A5FA77C8-C12D-4800-ABAE-9E4D32460502}" type="parTrans" cxnId="{9C65B148-A56B-4456-9D6F-AC8738D87D8C}">
      <dgm:prSet/>
      <dgm:spPr/>
    </dgm:pt>
    <dgm:pt modelId="{ABC79455-C9E9-4CF5-85AD-D42E0518BCEF}" type="sibTrans" cxnId="{9C65B148-A56B-4456-9D6F-AC8738D87D8C}">
      <dgm:prSet/>
      <dgm:spPr/>
    </dgm:pt>
    <dgm:pt modelId="{AD65F64D-3254-4887-A11C-9CA92A1AB051}" type="pres">
      <dgm:prSet presAssocID="{EA4DB1C2-7F11-4C66-A3AC-D44093281FD2}" presName="arrowDiagram" presStyleCnt="0">
        <dgm:presLayoutVars>
          <dgm:chMax val="5"/>
          <dgm:dir/>
          <dgm:resizeHandles val="exact"/>
        </dgm:presLayoutVars>
      </dgm:prSet>
      <dgm:spPr/>
    </dgm:pt>
    <dgm:pt modelId="{7AABE5F4-F886-44F9-ABBC-F3ECE5B733E9}" type="pres">
      <dgm:prSet presAssocID="{EA4DB1C2-7F11-4C66-A3AC-D44093281FD2}" presName="arrow" presStyleLbl="bgShp" presStyleIdx="0" presStyleCnt="1"/>
      <dgm:spPr/>
    </dgm:pt>
    <dgm:pt modelId="{513240AE-B310-4724-A85B-4C3F88B443AA}" type="pres">
      <dgm:prSet presAssocID="{EA4DB1C2-7F11-4C66-A3AC-D44093281FD2}" presName="arrowDiagram5" presStyleCnt="0"/>
      <dgm:spPr/>
    </dgm:pt>
    <dgm:pt modelId="{97FDB7D5-2F1E-4296-835C-CC1C784406B9}" type="pres">
      <dgm:prSet presAssocID="{B23B8E01-416D-484F-B082-C6227A68B9E2}" presName="bullet5a" presStyleLbl="node1" presStyleIdx="0" presStyleCnt="5"/>
      <dgm:spPr/>
    </dgm:pt>
    <dgm:pt modelId="{5BF857A0-90D1-4A4F-8FF5-16E606178F26}" type="pres">
      <dgm:prSet presAssocID="{B23B8E01-416D-484F-B082-C6227A68B9E2}" presName="textBox5a" presStyleLbl="revTx" presStyleIdx="0" presStyleCnt="5">
        <dgm:presLayoutVars>
          <dgm:bulletEnabled val="1"/>
        </dgm:presLayoutVars>
      </dgm:prSet>
      <dgm:spPr/>
    </dgm:pt>
    <dgm:pt modelId="{E436054C-F2CB-4925-A509-C057C98F18F8}" type="pres">
      <dgm:prSet presAssocID="{6C1571A9-F162-46AE-9404-4887EDDD450A}" presName="bullet5b" presStyleLbl="node1" presStyleIdx="1" presStyleCnt="5"/>
      <dgm:spPr/>
    </dgm:pt>
    <dgm:pt modelId="{90B93F16-26DC-4B02-93F3-B4DDEA854A2D}" type="pres">
      <dgm:prSet presAssocID="{6C1571A9-F162-46AE-9404-4887EDDD450A}" presName="textBox5b" presStyleLbl="revTx" presStyleIdx="1" presStyleCnt="5">
        <dgm:presLayoutVars>
          <dgm:bulletEnabled val="1"/>
        </dgm:presLayoutVars>
      </dgm:prSet>
      <dgm:spPr/>
    </dgm:pt>
    <dgm:pt modelId="{4FBF8622-A389-4E52-BE30-D1DF93D2E7AF}" type="pres">
      <dgm:prSet presAssocID="{F0ABA278-58C1-4471-924E-7ED1F6F2B096}" presName="bullet5c" presStyleLbl="node1" presStyleIdx="2" presStyleCnt="5"/>
      <dgm:spPr/>
    </dgm:pt>
    <dgm:pt modelId="{357893AC-1E0A-47FF-A9E2-52F5F65F0FCD}" type="pres">
      <dgm:prSet presAssocID="{F0ABA278-58C1-4471-924E-7ED1F6F2B096}" presName="textBox5c" presStyleLbl="revTx" presStyleIdx="2" presStyleCnt="5">
        <dgm:presLayoutVars>
          <dgm:bulletEnabled val="1"/>
        </dgm:presLayoutVars>
      </dgm:prSet>
      <dgm:spPr/>
    </dgm:pt>
    <dgm:pt modelId="{C5619AA7-2B92-4F4F-BFE9-B753D5C48A59}" type="pres">
      <dgm:prSet presAssocID="{1CE267CA-48DD-49EC-A1C5-EC14C616A518}" presName="bullet5d" presStyleLbl="node1" presStyleIdx="3" presStyleCnt="5"/>
      <dgm:spPr/>
    </dgm:pt>
    <dgm:pt modelId="{6C2E7C42-B598-478E-872A-33DFF2A8E79D}" type="pres">
      <dgm:prSet presAssocID="{1CE267CA-48DD-49EC-A1C5-EC14C616A518}" presName="textBox5d" presStyleLbl="revTx" presStyleIdx="3" presStyleCnt="5">
        <dgm:presLayoutVars>
          <dgm:bulletEnabled val="1"/>
        </dgm:presLayoutVars>
      </dgm:prSet>
      <dgm:spPr/>
    </dgm:pt>
    <dgm:pt modelId="{B3853BEE-6EB9-4BF5-8B3F-62913E8657B4}" type="pres">
      <dgm:prSet presAssocID="{25EF89C6-E798-45AF-8DD7-4D6AA959EF5E}" presName="bullet5e" presStyleLbl="node1" presStyleIdx="4" presStyleCnt="5"/>
      <dgm:spPr/>
    </dgm:pt>
    <dgm:pt modelId="{7EA8B72F-090E-434E-B919-46CA3E7DAC42}" type="pres">
      <dgm:prSet presAssocID="{25EF89C6-E798-45AF-8DD7-4D6AA959EF5E}" presName="textBox5e" presStyleLbl="revTx" presStyleIdx="4" presStyleCnt="5">
        <dgm:presLayoutVars>
          <dgm:bulletEnabled val="1"/>
        </dgm:presLayoutVars>
      </dgm:prSet>
      <dgm:spPr/>
    </dgm:pt>
  </dgm:ptLst>
  <dgm:cxnLst>
    <dgm:cxn modelId="{08FE1326-9392-4A44-95B0-28BCC54D1CD1}" srcId="{EA4DB1C2-7F11-4C66-A3AC-D44093281FD2}" destId="{25EF89C6-E798-45AF-8DD7-4D6AA959EF5E}" srcOrd="4" destOrd="0" parTransId="{42E287D1-8F08-4BF1-A6B6-A7694BF034E7}" sibTransId="{FCD6F8B3-89C0-4E38-99A4-060FC572898D}"/>
    <dgm:cxn modelId="{6F430C27-F434-425C-8BB6-46A65168F19A}" srcId="{EA4DB1C2-7F11-4C66-A3AC-D44093281FD2}" destId="{6C1571A9-F162-46AE-9404-4887EDDD450A}" srcOrd="1" destOrd="0" parTransId="{299933B8-C7DE-44A4-AED4-F274388BAD78}" sibTransId="{95806222-8D6C-4C4E-8954-F86E71072B5F}"/>
    <dgm:cxn modelId="{9C65B148-A56B-4456-9D6F-AC8738D87D8C}" srcId="{EA4DB1C2-7F11-4C66-A3AC-D44093281FD2}" destId="{B23B8E01-416D-484F-B082-C6227A68B9E2}" srcOrd="0" destOrd="0" parTransId="{A5FA77C8-C12D-4800-ABAE-9E4D32460502}" sibTransId="{ABC79455-C9E9-4CF5-85AD-D42E0518BCEF}"/>
    <dgm:cxn modelId="{F8870654-151C-43CE-80BA-E546C104587B}" type="presOf" srcId="{B23B8E01-416D-484F-B082-C6227A68B9E2}" destId="{5BF857A0-90D1-4A4F-8FF5-16E606178F26}" srcOrd="0" destOrd="0" presId="urn:microsoft.com/office/officeart/2005/8/layout/arrow2"/>
    <dgm:cxn modelId="{0A12DB75-7DE1-439A-AC95-B4FF0735A911}" type="presOf" srcId="{F0ABA278-58C1-4471-924E-7ED1F6F2B096}" destId="{357893AC-1E0A-47FF-A9E2-52F5F65F0FCD}" srcOrd="0" destOrd="0" presId="urn:microsoft.com/office/officeart/2005/8/layout/arrow2"/>
    <dgm:cxn modelId="{FF2C0859-8A99-4F0F-9008-56DA90B9ABC2}" type="presOf" srcId="{25EF89C6-E798-45AF-8DD7-4D6AA959EF5E}" destId="{7EA8B72F-090E-434E-B919-46CA3E7DAC42}" srcOrd="0" destOrd="0" presId="urn:microsoft.com/office/officeart/2005/8/layout/arrow2"/>
    <dgm:cxn modelId="{637B059F-74F7-42AD-BDCA-6A875ADD9627}" srcId="{EA4DB1C2-7F11-4C66-A3AC-D44093281FD2}" destId="{1CE267CA-48DD-49EC-A1C5-EC14C616A518}" srcOrd="3" destOrd="0" parTransId="{E6042546-38A4-4B37-8B55-9236F806B96C}" sibTransId="{CD8D32D8-5609-4284-8001-8792DB385560}"/>
    <dgm:cxn modelId="{A2E0A7A5-E8B6-4C54-87F5-D054A2F897FF}" type="presOf" srcId="{1CE267CA-48DD-49EC-A1C5-EC14C616A518}" destId="{6C2E7C42-B598-478E-872A-33DFF2A8E79D}" srcOrd="0" destOrd="0" presId="urn:microsoft.com/office/officeart/2005/8/layout/arrow2"/>
    <dgm:cxn modelId="{430D9FD3-2F4C-4CDE-9479-51CC37CE4F63}" type="presOf" srcId="{6C1571A9-F162-46AE-9404-4887EDDD450A}" destId="{90B93F16-26DC-4B02-93F3-B4DDEA854A2D}" srcOrd="0" destOrd="0" presId="urn:microsoft.com/office/officeart/2005/8/layout/arrow2"/>
    <dgm:cxn modelId="{EDA07ADB-3EC5-4038-A8E9-DBC51357853F}" srcId="{EA4DB1C2-7F11-4C66-A3AC-D44093281FD2}" destId="{F0ABA278-58C1-4471-924E-7ED1F6F2B096}" srcOrd="2" destOrd="0" parTransId="{1CEFFBE1-FD7B-4B25-925D-EB2C644CF700}" sibTransId="{6BA95330-4527-4CCD-A049-05DF45476A47}"/>
    <dgm:cxn modelId="{24A6DEF3-4911-4BBD-837E-4F6EC42A2C4F}" type="presOf" srcId="{EA4DB1C2-7F11-4C66-A3AC-D44093281FD2}" destId="{AD65F64D-3254-4887-A11C-9CA92A1AB051}" srcOrd="0" destOrd="0" presId="urn:microsoft.com/office/officeart/2005/8/layout/arrow2"/>
    <dgm:cxn modelId="{96125882-BB49-4D8B-B082-A1930CDFC40A}" type="presParOf" srcId="{AD65F64D-3254-4887-A11C-9CA92A1AB051}" destId="{7AABE5F4-F886-44F9-ABBC-F3ECE5B733E9}" srcOrd="0" destOrd="0" presId="urn:microsoft.com/office/officeart/2005/8/layout/arrow2"/>
    <dgm:cxn modelId="{FDA605C2-653E-4EA3-8333-EB19FEA93C82}" type="presParOf" srcId="{AD65F64D-3254-4887-A11C-9CA92A1AB051}" destId="{513240AE-B310-4724-A85B-4C3F88B443AA}" srcOrd="1" destOrd="0" presId="urn:microsoft.com/office/officeart/2005/8/layout/arrow2"/>
    <dgm:cxn modelId="{325E3D69-2E7F-42A2-9DE3-895C0DC4FF74}" type="presParOf" srcId="{513240AE-B310-4724-A85B-4C3F88B443AA}" destId="{97FDB7D5-2F1E-4296-835C-CC1C784406B9}" srcOrd="0" destOrd="0" presId="urn:microsoft.com/office/officeart/2005/8/layout/arrow2"/>
    <dgm:cxn modelId="{502897D9-B07E-4B31-9251-76B89709C11A}" type="presParOf" srcId="{513240AE-B310-4724-A85B-4C3F88B443AA}" destId="{5BF857A0-90D1-4A4F-8FF5-16E606178F26}" srcOrd="1" destOrd="0" presId="urn:microsoft.com/office/officeart/2005/8/layout/arrow2"/>
    <dgm:cxn modelId="{0D3A3C73-CC8B-4947-8F15-B8E342744995}" type="presParOf" srcId="{513240AE-B310-4724-A85B-4C3F88B443AA}" destId="{E436054C-F2CB-4925-A509-C057C98F18F8}" srcOrd="2" destOrd="0" presId="urn:microsoft.com/office/officeart/2005/8/layout/arrow2"/>
    <dgm:cxn modelId="{38A51B95-8B15-48D7-95D2-FFEAB0125D2A}" type="presParOf" srcId="{513240AE-B310-4724-A85B-4C3F88B443AA}" destId="{90B93F16-26DC-4B02-93F3-B4DDEA854A2D}" srcOrd="3" destOrd="0" presId="urn:microsoft.com/office/officeart/2005/8/layout/arrow2"/>
    <dgm:cxn modelId="{73ADF708-F57F-4AD6-8E03-F1538204992C}" type="presParOf" srcId="{513240AE-B310-4724-A85B-4C3F88B443AA}" destId="{4FBF8622-A389-4E52-BE30-D1DF93D2E7AF}" srcOrd="4" destOrd="0" presId="urn:microsoft.com/office/officeart/2005/8/layout/arrow2"/>
    <dgm:cxn modelId="{2583FE87-0C28-4D36-8005-A079A6937106}" type="presParOf" srcId="{513240AE-B310-4724-A85B-4C3F88B443AA}" destId="{357893AC-1E0A-47FF-A9E2-52F5F65F0FCD}" srcOrd="5" destOrd="0" presId="urn:microsoft.com/office/officeart/2005/8/layout/arrow2"/>
    <dgm:cxn modelId="{6189992D-A329-45DE-A1BF-19899881536B}" type="presParOf" srcId="{513240AE-B310-4724-A85B-4C3F88B443AA}" destId="{C5619AA7-2B92-4F4F-BFE9-B753D5C48A59}" srcOrd="6" destOrd="0" presId="urn:microsoft.com/office/officeart/2005/8/layout/arrow2"/>
    <dgm:cxn modelId="{12118BBD-8F3C-4CB6-9A23-B22F03D1C2BB}" type="presParOf" srcId="{513240AE-B310-4724-A85B-4C3F88B443AA}" destId="{6C2E7C42-B598-478E-872A-33DFF2A8E79D}" srcOrd="7" destOrd="0" presId="urn:microsoft.com/office/officeart/2005/8/layout/arrow2"/>
    <dgm:cxn modelId="{3E30FA17-C614-487D-8515-8BB3ADD545D1}" type="presParOf" srcId="{513240AE-B310-4724-A85B-4C3F88B443AA}" destId="{B3853BEE-6EB9-4BF5-8B3F-62913E8657B4}" srcOrd="8" destOrd="0" presId="urn:microsoft.com/office/officeart/2005/8/layout/arrow2"/>
    <dgm:cxn modelId="{910DB6E9-8EAE-4E38-B63D-0221367540E1}" type="presParOf" srcId="{513240AE-B310-4724-A85B-4C3F88B443AA}" destId="{7EA8B72F-090E-434E-B919-46CA3E7DAC42}"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7C8EB-50A1-49C3-A203-797F9E1256D9}">
      <dsp:nvSpPr>
        <dsp:cNvPr id="0" name=""/>
        <dsp:cNvSpPr/>
      </dsp:nvSpPr>
      <dsp:spPr>
        <a:xfrm>
          <a:off x="1967016" y="86395"/>
          <a:ext cx="1510523" cy="14505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062018-A2E5-446C-8F2E-75B1457E0788}">
      <dsp:nvSpPr>
        <dsp:cNvPr id="0" name=""/>
        <dsp:cNvSpPr/>
      </dsp:nvSpPr>
      <dsp:spPr>
        <a:xfrm>
          <a:off x="564387" y="1716613"/>
          <a:ext cx="4315781" cy="62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kern="1200"/>
            <a:t>What service(s)? </a:t>
          </a:r>
          <a:endParaRPr lang="en-US" sz="3600" kern="1200"/>
        </a:p>
      </dsp:txBody>
      <dsp:txXfrm>
        <a:off x="564387" y="1716613"/>
        <a:ext cx="4315781" cy="621660"/>
      </dsp:txXfrm>
    </dsp:sp>
    <dsp:sp modelId="{9FCBFC8E-557A-4054-BB56-780CC45524B5}">
      <dsp:nvSpPr>
        <dsp:cNvPr id="0" name=""/>
        <dsp:cNvSpPr/>
      </dsp:nvSpPr>
      <dsp:spPr>
        <a:xfrm>
          <a:off x="564387" y="2421845"/>
          <a:ext cx="4315781" cy="1843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Non-work (Day)</a:t>
          </a:r>
        </a:p>
        <a:p>
          <a:pPr marL="0" lvl="0" indent="0" algn="ctr" defTabSz="755650">
            <a:lnSpc>
              <a:spcPct val="100000"/>
            </a:lnSpc>
            <a:spcBef>
              <a:spcPct val="0"/>
            </a:spcBef>
            <a:spcAft>
              <a:spcPct val="35000"/>
            </a:spcAft>
            <a:buNone/>
          </a:pPr>
          <a:r>
            <a:rPr lang="en-US" sz="1700" kern="1200"/>
            <a:t>Pre-voc</a:t>
          </a:r>
        </a:p>
        <a:p>
          <a:pPr marL="0" lvl="0" indent="0" algn="ctr" defTabSz="755650">
            <a:lnSpc>
              <a:spcPct val="100000"/>
            </a:lnSpc>
            <a:spcBef>
              <a:spcPct val="0"/>
            </a:spcBef>
            <a:spcAft>
              <a:spcPct val="35000"/>
            </a:spcAft>
            <a:buNone/>
          </a:pPr>
          <a:r>
            <a:rPr lang="en-US" sz="1700" kern="1200"/>
            <a:t>Employment</a:t>
          </a:r>
        </a:p>
        <a:p>
          <a:pPr marL="0" lvl="0" indent="0" algn="ctr" defTabSz="755650">
            <a:lnSpc>
              <a:spcPct val="100000"/>
            </a:lnSpc>
            <a:spcBef>
              <a:spcPct val="0"/>
            </a:spcBef>
            <a:spcAft>
              <a:spcPct val="35000"/>
            </a:spcAft>
            <a:buNone/>
          </a:pPr>
          <a:r>
            <a:rPr lang="en-US" sz="1700" kern="1200"/>
            <a:t>Other?</a:t>
          </a:r>
        </a:p>
      </dsp:txBody>
      <dsp:txXfrm>
        <a:off x="564387" y="2421845"/>
        <a:ext cx="4315781" cy="1843097"/>
      </dsp:txXfrm>
    </dsp:sp>
    <dsp:sp modelId="{39DBEA0B-18B2-47DB-B7B7-5331B3F8063C}">
      <dsp:nvSpPr>
        <dsp:cNvPr id="0" name=""/>
        <dsp:cNvSpPr/>
      </dsp:nvSpPr>
      <dsp:spPr>
        <a:xfrm>
          <a:off x="7038059" y="86395"/>
          <a:ext cx="1510523" cy="14505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F2B7F8-0E59-437D-8E20-597219969689}">
      <dsp:nvSpPr>
        <dsp:cNvPr id="0" name=""/>
        <dsp:cNvSpPr/>
      </dsp:nvSpPr>
      <dsp:spPr>
        <a:xfrm>
          <a:off x="5635430" y="1716613"/>
          <a:ext cx="4315781" cy="62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kern="1200"/>
            <a:t>Role?</a:t>
          </a:r>
          <a:endParaRPr lang="en-US" sz="3600" kern="1200"/>
        </a:p>
      </dsp:txBody>
      <dsp:txXfrm>
        <a:off x="5635430" y="1716613"/>
        <a:ext cx="4315781" cy="621660"/>
      </dsp:txXfrm>
    </dsp:sp>
    <dsp:sp modelId="{E9157EEC-3435-45C7-A222-833FE21D933E}">
      <dsp:nvSpPr>
        <dsp:cNvPr id="0" name=""/>
        <dsp:cNvSpPr/>
      </dsp:nvSpPr>
      <dsp:spPr>
        <a:xfrm>
          <a:off x="5635430" y="2421845"/>
          <a:ext cx="4315781" cy="1843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Direct Support Professional</a:t>
          </a:r>
        </a:p>
        <a:p>
          <a:pPr marL="0" lvl="0" indent="0" algn="ctr" defTabSz="755650">
            <a:lnSpc>
              <a:spcPct val="100000"/>
            </a:lnSpc>
            <a:spcBef>
              <a:spcPct val="0"/>
            </a:spcBef>
            <a:spcAft>
              <a:spcPct val="35000"/>
            </a:spcAft>
            <a:buNone/>
          </a:pPr>
          <a:r>
            <a:rPr lang="en-US" sz="1700" kern="1200"/>
            <a:t>Designated Coordinator</a:t>
          </a:r>
        </a:p>
        <a:p>
          <a:pPr marL="0" lvl="0" indent="0" algn="ctr" defTabSz="755650">
            <a:lnSpc>
              <a:spcPct val="100000"/>
            </a:lnSpc>
            <a:spcBef>
              <a:spcPct val="0"/>
            </a:spcBef>
            <a:spcAft>
              <a:spcPct val="35000"/>
            </a:spcAft>
            <a:buNone/>
          </a:pPr>
          <a:r>
            <a:rPr lang="en-US" sz="1700" kern="1200"/>
            <a:t>Middle Manager</a:t>
          </a:r>
        </a:p>
        <a:p>
          <a:pPr marL="0" lvl="0" indent="0" algn="ctr" defTabSz="755650">
            <a:lnSpc>
              <a:spcPct val="100000"/>
            </a:lnSpc>
            <a:spcBef>
              <a:spcPct val="0"/>
            </a:spcBef>
            <a:spcAft>
              <a:spcPct val="35000"/>
            </a:spcAft>
            <a:buNone/>
          </a:pPr>
          <a:r>
            <a:rPr lang="en-US" sz="1700" kern="1200"/>
            <a:t>Director</a:t>
          </a:r>
        </a:p>
        <a:p>
          <a:pPr marL="0" lvl="0" indent="0" algn="ctr" defTabSz="755650">
            <a:lnSpc>
              <a:spcPct val="100000"/>
            </a:lnSpc>
            <a:spcBef>
              <a:spcPct val="0"/>
            </a:spcBef>
            <a:spcAft>
              <a:spcPct val="35000"/>
            </a:spcAft>
            <a:buNone/>
          </a:pPr>
          <a:r>
            <a:rPr lang="en-US" sz="1700" kern="1200"/>
            <a:t>Senior Leader</a:t>
          </a:r>
        </a:p>
        <a:p>
          <a:pPr marL="0" lvl="0" indent="0" algn="ctr" defTabSz="755650">
            <a:lnSpc>
              <a:spcPct val="100000"/>
            </a:lnSpc>
            <a:spcBef>
              <a:spcPct val="0"/>
            </a:spcBef>
            <a:spcAft>
              <a:spcPct val="35000"/>
            </a:spcAft>
            <a:buNone/>
          </a:pPr>
          <a:r>
            <a:rPr lang="en-US" sz="1700" kern="1200"/>
            <a:t>Other? </a:t>
          </a:r>
        </a:p>
      </dsp:txBody>
      <dsp:txXfrm>
        <a:off x="5635430" y="2421845"/>
        <a:ext cx="4315781" cy="18430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BE5F4-F886-44F9-ABBC-F3ECE5B733E9}">
      <dsp:nvSpPr>
        <dsp:cNvPr id="0" name=""/>
        <dsp:cNvSpPr/>
      </dsp:nvSpPr>
      <dsp:spPr>
        <a:xfrm>
          <a:off x="75506" y="0"/>
          <a:ext cx="6315596" cy="394724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DB7D5-2F1E-4296-835C-CC1C784406B9}">
      <dsp:nvSpPr>
        <dsp:cNvPr id="0" name=""/>
        <dsp:cNvSpPr/>
      </dsp:nvSpPr>
      <dsp:spPr>
        <a:xfrm>
          <a:off x="697592" y="2935173"/>
          <a:ext cx="145258" cy="1452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857A0-90D1-4A4F-8FF5-16E606178F26}">
      <dsp:nvSpPr>
        <dsp:cNvPr id="0" name=""/>
        <dsp:cNvSpPr/>
      </dsp:nvSpPr>
      <dsp:spPr>
        <a:xfrm>
          <a:off x="770222" y="3007802"/>
          <a:ext cx="827343" cy="939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970"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History</a:t>
          </a:r>
        </a:p>
      </dsp:txBody>
      <dsp:txXfrm>
        <a:off x="770222" y="3007802"/>
        <a:ext cx="827343" cy="939445"/>
      </dsp:txXfrm>
    </dsp:sp>
    <dsp:sp modelId="{E436054C-F2CB-4925-A509-C057C98F18F8}">
      <dsp:nvSpPr>
        <dsp:cNvPr id="0" name=""/>
        <dsp:cNvSpPr/>
      </dsp:nvSpPr>
      <dsp:spPr>
        <a:xfrm>
          <a:off x="1483884" y="2179670"/>
          <a:ext cx="227361" cy="2273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93F16-26DC-4B02-93F3-B4DDEA854A2D}">
      <dsp:nvSpPr>
        <dsp:cNvPr id="0" name=""/>
        <dsp:cNvSpPr/>
      </dsp:nvSpPr>
      <dsp:spPr>
        <a:xfrm>
          <a:off x="1597565" y="2293351"/>
          <a:ext cx="1048389" cy="165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Federal policy and legislation</a:t>
          </a:r>
          <a:endParaRPr lang="en-US" sz="1700" kern="1200"/>
        </a:p>
      </dsp:txBody>
      <dsp:txXfrm>
        <a:off x="1597565" y="2293351"/>
        <a:ext cx="1048389" cy="1653896"/>
      </dsp:txXfrm>
    </dsp:sp>
    <dsp:sp modelId="{4FBF8622-A389-4E52-BE30-D1DF93D2E7AF}">
      <dsp:nvSpPr>
        <dsp:cNvPr id="0" name=""/>
        <dsp:cNvSpPr/>
      </dsp:nvSpPr>
      <dsp:spPr>
        <a:xfrm>
          <a:off x="2494380" y="1577320"/>
          <a:ext cx="303148" cy="3031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893AC-1E0A-47FF-A9E2-52F5F65F0FCD}">
      <dsp:nvSpPr>
        <dsp:cNvPr id="0" name=""/>
        <dsp:cNvSpPr/>
      </dsp:nvSpPr>
      <dsp:spPr>
        <a:xfrm>
          <a:off x="2645954" y="1728894"/>
          <a:ext cx="1218910" cy="221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632"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State policy and legislation</a:t>
          </a:r>
          <a:endParaRPr lang="en-US" sz="1700" kern="1200"/>
        </a:p>
      </dsp:txBody>
      <dsp:txXfrm>
        <a:off x="2645954" y="1728894"/>
        <a:ext cx="1218910" cy="2218353"/>
      </dsp:txXfrm>
    </dsp:sp>
    <dsp:sp modelId="{C5619AA7-2B92-4F4F-BFE9-B753D5C48A59}">
      <dsp:nvSpPr>
        <dsp:cNvPr id="0" name=""/>
        <dsp:cNvSpPr/>
      </dsp:nvSpPr>
      <dsp:spPr>
        <a:xfrm>
          <a:off x="3669081" y="1106808"/>
          <a:ext cx="391567" cy="3915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E7C42-B598-478E-872A-33DFF2A8E79D}">
      <dsp:nvSpPr>
        <dsp:cNvPr id="0" name=""/>
        <dsp:cNvSpPr/>
      </dsp:nvSpPr>
      <dsp:spPr>
        <a:xfrm>
          <a:off x="3864864" y="1302591"/>
          <a:ext cx="1263119" cy="2644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483"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Best Practices</a:t>
          </a:r>
          <a:endParaRPr lang="en-US" sz="1700" kern="1200"/>
        </a:p>
      </dsp:txBody>
      <dsp:txXfrm>
        <a:off x="3864864" y="1302591"/>
        <a:ext cx="1263119" cy="2644656"/>
      </dsp:txXfrm>
    </dsp:sp>
    <dsp:sp modelId="{B3853BEE-6EB9-4BF5-8B3F-62913E8657B4}">
      <dsp:nvSpPr>
        <dsp:cNvPr id="0" name=""/>
        <dsp:cNvSpPr/>
      </dsp:nvSpPr>
      <dsp:spPr>
        <a:xfrm>
          <a:off x="4878517" y="792607"/>
          <a:ext cx="498932" cy="49893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A8B72F-090E-434E-B919-46CA3E7DAC42}">
      <dsp:nvSpPr>
        <dsp:cNvPr id="0" name=""/>
        <dsp:cNvSpPr/>
      </dsp:nvSpPr>
      <dsp:spPr>
        <a:xfrm>
          <a:off x="5127984" y="1042073"/>
          <a:ext cx="1263119" cy="290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3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Values</a:t>
          </a:r>
        </a:p>
      </dsp:txBody>
      <dsp:txXfrm>
        <a:off x="5127984" y="1042073"/>
        <a:ext cx="1263119" cy="2905174"/>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7312E-C6AB-4DAC-B40F-A6078802805C}" type="datetimeFigureOut">
              <a:t>5/16/2024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7066C1-43BA-431C-9283-94862EFA8E91}" type="slidenum">
              <a:t>‹#›</a:t>
            </a:fld>
            <a:endParaRPr lang="en-US"/>
          </a:p>
        </p:txBody>
      </p:sp>
    </p:spTree>
    <p:extLst>
      <p:ext uri="{BB962C8B-B14F-4D97-AF65-F5344CB8AC3E}">
        <p14:creationId xmlns:p14="http://schemas.microsoft.com/office/powerpoint/2010/main" val="782656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start, pass to Staci</a:t>
            </a:r>
          </a:p>
          <a:p>
            <a:endParaRPr lang="en-US">
              <a:ea typeface="Calibri"/>
              <a:cs typeface="Calibri"/>
            </a:endParaRPr>
          </a:p>
          <a:p>
            <a:r>
              <a:rPr lang="en-US">
                <a:ea typeface="Calibri"/>
                <a:cs typeface="Calibri"/>
              </a:rPr>
              <a:t>Brief welcome and introductions </a:t>
            </a:r>
          </a:p>
        </p:txBody>
      </p:sp>
      <p:sp>
        <p:nvSpPr>
          <p:cNvPr id="4" name="Slide Number Placeholder 3"/>
          <p:cNvSpPr>
            <a:spLocks noGrp="1"/>
          </p:cNvSpPr>
          <p:nvPr>
            <p:ph type="sldNum" sz="quarter" idx="5"/>
          </p:nvPr>
        </p:nvSpPr>
        <p:spPr/>
        <p:txBody>
          <a:bodyPr/>
          <a:lstStyle/>
          <a:p>
            <a:fld id="{297066C1-43BA-431C-9283-94862EFA8E91}" type="slidenum">
              <a:t>2</a:t>
            </a:fld>
            <a:endParaRPr lang="en-US"/>
          </a:p>
        </p:txBody>
      </p:sp>
    </p:spTree>
    <p:extLst>
      <p:ext uri="{BB962C8B-B14F-4D97-AF65-F5344CB8AC3E}">
        <p14:creationId xmlns:p14="http://schemas.microsoft.com/office/powerpoint/2010/main" val="1739655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Don</a:t>
            </a:r>
          </a:p>
          <a:p>
            <a:endParaRPr lang="en-US">
              <a:cs typeface="Calibri"/>
            </a:endParaRPr>
          </a:p>
          <a:p>
            <a:r>
              <a:rPr lang="en-US">
                <a:cs typeface="Calibri"/>
              </a:rPr>
              <a:t>Show of hands for what service(s) are represented (raise your hand for all that apply)</a:t>
            </a:r>
          </a:p>
          <a:p>
            <a:endParaRPr lang="en-US">
              <a:cs typeface="Calibri"/>
            </a:endParaRPr>
          </a:p>
          <a:p>
            <a:r>
              <a:rPr lang="en-US">
                <a:cs typeface="Calibri"/>
              </a:rPr>
              <a:t>Show of hands for what role(s) are represented </a:t>
            </a:r>
          </a:p>
          <a:p>
            <a:endParaRPr lang="en-US">
              <a:cs typeface="Calibri"/>
            </a:endParaRPr>
          </a:p>
        </p:txBody>
      </p:sp>
      <p:sp>
        <p:nvSpPr>
          <p:cNvPr id="4" name="Slide Number Placeholder 3"/>
          <p:cNvSpPr>
            <a:spLocks noGrp="1"/>
          </p:cNvSpPr>
          <p:nvPr>
            <p:ph type="sldNum" sz="quarter" idx="5"/>
          </p:nvPr>
        </p:nvSpPr>
        <p:spPr/>
        <p:txBody>
          <a:bodyPr/>
          <a:lstStyle/>
          <a:p>
            <a:fld id="{FA9F22E3-C921-4AFD-8EEB-693BB09FFB7E}" type="slidenum">
              <a:rPr lang="en-US"/>
              <a:t>3</a:t>
            </a:fld>
            <a:endParaRPr lang="en-US"/>
          </a:p>
        </p:txBody>
      </p:sp>
    </p:spTree>
    <p:extLst>
      <p:ext uri="{BB962C8B-B14F-4D97-AF65-F5344CB8AC3E}">
        <p14:creationId xmlns:p14="http://schemas.microsoft.com/office/powerpoint/2010/main" val="2775451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 </a:t>
            </a:r>
          </a:p>
        </p:txBody>
      </p:sp>
      <p:sp>
        <p:nvSpPr>
          <p:cNvPr id="4" name="Slide Number Placeholder 3"/>
          <p:cNvSpPr>
            <a:spLocks noGrp="1"/>
          </p:cNvSpPr>
          <p:nvPr>
            <p:ph type="sldNum" sz="quarter" idx="5"/>
          </p:nvPr>
        </p:nvSpPr>
        <p:spPr/>
        <p:txBody>
          <a:bodyPr/>
          <a:lstStyle/>
          <a:p>
            <a:fld id="{297066C1-43BA-431C-9283-94862EFA8E91}" type="slidenum">
              <a:rPr lang="en-US"/>
              <a:t>4</a:t>
            </a:fld>
            <a:endParaRPr lang="en-US"/>
          </a:p>
        </p:txBody>
      </p:sp>
    </p:spTree>
    <p:extLst>
      <p:ext uri="{BB962C8B-B14F-4D97-AF65-F5344CB8AC3E}">
        <p14:creationId xmlns:p14="http://schemas.microsoft.com/office/powerpoint/2010/main" val="3975454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Google Shape;104;g13aeb6740f1_0_7:notes">
            <a:extLst>
              <a:ext uri="{FF2B5EF4-FFF2-40B4-BE49-F238E27FC236}">
                <a16:creationId xmlns:a16="http://schemas.microsoft.com/office/drawing/2014/main" id="{E82AD385-2794-7889-042A-2625AA5D9742}"/>
              </a:ext>
            </a:extLst>
          </p:cNvPr>
          <p:cNvSpPr>
            <a:spLocks noGrp="1" noRot="1" noChangeAspect="1" noTextEdit="1"/>
          </p:cNvSpPr>
          <p:nvPr>
            <p:ph type="sldImg"/>
          </p:nvPr>
        </p:nvSpPr>
        <p:spPr>
          <a:xfrm>
            <a:off x="685800" y="1143000"/>
            <a:ext cx="5486400" cy="3086100"/>
          </a:xfrm>
          <a:ln cap="flat">
            <a:round/>
          </a:ln>
        </p:spPr>
      </p:sp>
      <p:sp>
        <p:nvSpPr>
          <p:cNvPr id="20483" name="Google Shape;105;g13aeb6740f1_0_7:notes">
            <a:extLst>
              <a:ext uri="{FF2B5EF4-FFF2-40B4-BE49-F238E27FC236}">
                <a16:creationId xmlns:a16="http://schemas.microsoft.com/office/drawing/2014/main" id="{DBEDC96A-044A-6C68-6BD7-2DA51702519C}"/>
              </a:ext>
            </a:extLst>
          </p:cNvPr>
          <p:cNvSpPr txBox="1">
            <a:spLocks noGrp="1" noChangeArrowheads="1"/>
          </p:cNvSpPr>
          <p:nvPr>
            <p:ph type="body" sz="quarter" idx="1"/>
          </p:nvPr>
        </p:nvSpPr>
        <p:spPr bwMode="auto">
          <a:xfrm>
            <a:off x="685800" y="4400550"/>
            <a:ext cx="5486400" cy="360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1" tIns="45701" rIns="91421" bIns="45701" numCol="1">
            <a:prstTxWarp prst="textNoShape">
              <a:avLst/>
            </a:prstTxWarp>
          </a:bodyPr>
          <a:lstStyle/>
          <a:p>
            <a:r>
              <a:rPr lang="en-US" altLang="en-US">
                <a:latin typeface="Calibri"/>
                <a:ea typeface="Calibri"/>
                <a:cs typeface="Calibri"/>
              </a:rPr>
              <a:t>Don </a:t>
            </a:r>
          </a:p>
          <a:p>
            <a:endParaRPr lang="en-US" altLang="en-US">
              <a:latin typeface="Calibri"/>
              <a:ea typeface="Calibri"/>
              <a:cs typeface="Calibri"/>
            </a:endParaRPr>
          </a:p>
          <a:p>
            <a:r>
              <a:rPr lang="en-US" altLang="en-US">
                <a:latin typeface="Calibri"/>
                <a:ea typeface="Calibri"/>
                <a:cs typeface="Calibri"/>
              </a:rPr>
              <a:t>What is the Minnesota Transformation Initiative (MTI)? </a:t>
            </a:r>
            <a:endParaRPr altLang="en-US">
              <a:latin typeface="Calibri" panose="020F0502020204030204" pitchFamily="34" charset="0"/>
              <a:ea typeface="Calibri"/>
              <a:cs typeface="Calibri"/>
            </a:endParaRPr>
          </a:p>
          <a:p>
            <a:pPr eaLnBrk="1" hangingPunct="1"/>
            <a:endParaRPr altLang="en-US">
              <a:latin typeface="Calibri" panose="020F0502020204030204" pitchFamily="34" charset="0"/>
            </a:endParaRPr>
          </a:p>
          <a:p>
            <a:pPr eaLnBrk="1" hangingPunct="1"/>
            <a:endParaRPr altLang="en-US">
              <a:latin typeface="Calibri" panose="020F0502020204030204" pitchFamily="34" charset="0"/>
            </a:endParaRPr>
          </a:p>
        </p:txBody>
      </p:sp>
      <p:sp>
        <p:nvSpPr>
          <p:cNvPr id="20484" name="Google Shape;106;g13aeb6740f1_0_7:notes">
            <a:extLst>
              <a:ext uri="{FF2B5EF4-FFF2-40B4-BE49-F238E27FC236}">
                <a16:creationId xmlns:a16="http://schemas.microsoft.com/office/drawing/2014/main" id="{89B9D50A-5D3D-2480-4407-5465A6F5E180}"/>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1" tIns="45701" rIns="91421" bIns="45701" anchor="b"/>
          <a:lstStyle>
            <a:lvl1pPr defTabSz="457200">
              <a:defRPr>
                <a:solidFill>
                  <a:schemeClr val="tx1"/>
                </a:solidFill>
                <a:latin typeface="Calibri" panose="020F0502020204030204" pitchFamily="34" charset="0"/>
              </a:defRPr>
            </a:lvl1pPr>
            <a:lvl2pPr marL="742950" indent="-285750" defTabSz="457200">
              <a:defRPr>
                <a:solidFill>
                  <a:schemeClr val="tx1"/>
                </a:solidFill>
                <a:latin typeface="Calibri" panose="020F0502020204030204" pitchFamily="34" charset="0"/>
              </a:defRPr>
            </a:lvl2pPr>
            <a:lvl3pPr marL="1143000" indent="-228600" defTabSz="457200">
              <a:defRPr>
                <a:solidFill>
                  <a:schemeClr val="tx1"/>
                </a:solidFill>
                <a:latin typeface="Calibri" panose="020F0502020204030204" pitchFamily="34" charset="0"/>
              </a:defRPr>
            </a:lvl3pPr>
            <a:lvl4pPr marL="1600200" indent="-228600" defTabSz="457200">
              <a:defRPr>
                <a:solidFill>
                  <a:schemeClr val="tx1"/>
                </a:solidFill>
                <a:latin typeface="Calibri" panose="020F0502020204030204" pitchFamily="34" charset="0"/>
              </a:defRPr>
            </a:lvl4pPr>
            <a:lvl5pPr marL="2057400" indent="-228600" defTabSz="4572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fld id="{7D4705B6-7EE8-424B-806E-E48843F956F1}" type="slidenum">
              <a:rPr lang="en-US" altLang="en-US" sz="1200">
                <a:solidFill>
                  <a:srgbClr val="000000"/>
                </a:solidFill>
              </a:rPr>
              <a:pPr algn="r" eaLnBrk="1" hangingPunct="1"/>
              <a:t>5</a:t>
            </a:fld>
            <a:endParaRPr lang="en-US"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t>6</a:t>
            </a:fld>
            <a:endParaRPr lang="en-US"/>
          </a:p>
        </p:txBody>
      </p:sp>
    </p:spTree>
    <p:extLst>
      <p:ext uri="{BB962C8B-B14F-4D97-AF65-F5344CB8AC3E}">
        <p14:creationId xmlns:p14="http://schemas.microsoft.com/office/powerpoint/2010/main" val="3261035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a typeface="Calibri"/>
                <a:cs typeface="Calibri"/>
              </a:rPr>
              <a:t>Staci </a:t>
            </a:r>
          </a:p>
        </p:txBody>
      </p:sp>
      <p:sp>
        <p:nvSpPr>
          <p:cNvPr id="4" name="Slide Number Placeholder 3"/>
          <p:cNvSpPr>
            <a:spLocks noGrp="1"/>
          </p:cNvSpPr>
          <p:nvPr>
            <p:ph type="sldNum" sz="quarter" idx="5"/>
          </p:nvPr>
        </p:nvSpPr>
        <p:spPr/>
        <p:txBody>
          <a:bodyPr/>
          <a:lstStyle/>
          <a:p>
            <a:fld id="{C81CCF30-75E7-4047-B971-189668F28995}" type="slidenum">
              <a:rPr lang="en-US" smtClean="0"/>
              <a:pPr/>
              <a:t>8</a:t>
            </a:fld>
            <a:endParaRPr lang="en-US"/>
          </a:p>
        </p:txBody>
      </p:sp>
    </p:spTree>
    <p:extLst>
      <p:ext uri="{BB962C8B-B14F-4D97-AF65-F5344CB8AC3E}">
        <p14:creationId xmlns:p14="http://schemas.microsoft.com/office/powerpoint/2010/main" val="2960205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a typeface="Calibri"/>
                <a:cs typeface="Calibri"/>
              </a:rPr>
              <a:t>Staci </a:t>
            </a:r>
          </a:p>
        </p:txBody>
      </p:sp>
      <p:sp>
        <p:nvSpPr>
          <p:cNvPr id="4" name="Slide Number Placeholder 3"/>
          <p:cNvSpPr>
            <a:spLocks noGrp="1"/>
          </p:cNvSpPr>
          <p:nvPr>
            <p:ph type="sldNum" sz="quarter" idx="5"/>
          </p:nvPr>
        </p:nvSpPr>
        <p:spPr/>
        <p:txBody>
          <a:bodyPr/>
          <a:lstStyle/>
          <a:p>
            <a:fld id="{C81CCF30-75E7-4047-B971-189668F28995}" type="slidenum">
              <a:rPr lang="en-US" smtClean="0"/>
              <a:pPr/>
              <a:t>9</a:t>
            </a:fld>
            <a:endParaRPr lang="en-US"/>
          </a:p>
        </p:txBody>
      </p:sp>
    </p:spTree>
    <p:extLst>
      <p:ext uri="{BB962C8B-B14F-4D97-AF65-F5344CB8AC3E}">
        <p14:creationId xmlns:p14="http://schemas.microsoft.com/office/powerpoint/2010/main" val="3291996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10</a:t>
            </a:fld>
            <a:endParaRPr lang="en-US"/>
          </a:p>
        </p:txBody>
      </p:sp>
    </p:spTree>
    <p:extLst>
      <p:ext uri="{BB962C8B-B14F-4D97-AF65-F5344CB8AC3E}">
        <p14:creationId xmlns:p14="http://schemas.microsoft.com/office/powerpoint/2010/main" val="3119858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11</a:t>
            </a:fld>
            <a:endParaRPr lang="en-US"/>
          </a:p>
        </p:txBody>
      </p:sp>
    </p:spTree>
    <p:extLst>
      <p:ext uri="{BB962C8B-B14F-4D97-AF65-F5344CB8AC3E}">
        <p14:creationId xmlns:p14="http://schemas.microsoft.com/office/powerpoint/2010/main" val="3687525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r>
              <a:rPr lang="en-US">
                <a:ea typeface="Calibri"/>
                <a:cs typeface="Calibri"/>
              </a:rPr>
              <a:t>Staci </a:t>
            </a:r>
          </a:p>
        </p:txBody>
      </p:sp>
      <p:sp>
        <p:nvSpPr>
          <p:cNvPr id="4" name="Slide Number Placeholder 3"/>
          <p:cNvSpPr>
            <a:spLocks noGrp="1"/>
          </p:cNvSpPr>
          <p:nvPr>
            <p:ph type="sldNum" sz="quarter" idx="10"/>
          </p:nvPr>
        </p:nvSpPr>
        <p:spPr/>
        <p:txBody>
          <a:bodyPr/>
          <a:lstStyle/>
          <a:p>
            <a:pPr defTabSz="471145" eaLnBrk="1" fontAlgn="auto" hangingPunct="1">
              <a:spcBef>
                <a:spcPts val="0"/>
              </a:spcBef>
              <a:spcAft>
                <a:spcPts val="0"/>
              </a:spcAft>
              <a:defRPr/>
            </a:pPr>
            <a:fld id="{C81CCF30-75E7-4047-B971-189668F28995}" type="slidenum">
              <a:rPr lang="en-US">
                <a:solidFill>
                  <a:prstClr val="black"/>
                </a:solidFill>
                <a:latin typeface="Calibri" panose="020F0502020204030204"/>
                <a:ea typeface="+mn-ea"/>
              </a:rPr>
              <a:pPr defTabSz="471145" eaLnBrk="1" fontAlgn="auto" hangingPunct="1">
                <a:spcBef>
                  <a:spcPts val="0"/>
                </a:spcBef>
                <a:spcAft>
                  <a:spcPts val="0"/>
                </a:spcAft>
                <a:defRPr/>
              </a:pPr>
              <a:t>12</a:t>
            </a:fld>
            <a:endParaRPr lang="en-US">
              <a:solidFill>
                <a:prstClr val="black"/>
              </a:solidFill>
              <a:latin typeface="Calibri" panose="020F0502020204030204"/>
              <a:ea typeface="+mn-ea"/>
            </a:endParaRPr>
          </a:p>
        </p:txBody>
      </p:sp>
    </p:spTree>
    <p:extLst>
      <p:ext uri="{BB962C8B-B14F-4D97-AF65-F5344CB8AC3E}">
        <p14:creationId xmlns:p14="http://schemas.microsoft.com/office/powerpoint/2010/main" val="4020519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3 minutes </a:t>
            </a:r>
          </a:p>
        </p:txBody>
      </p:sp>
      <p:sp>
        <p:nvSpPr>
          <p:cNvPr id="4" name="Slide Number Placeholder 3"/>
          <p:cNvSpPr>
            <a:spLocks noGrp="1"/>
          </p:cNvSpPr>
          <p:nvPr>
            <p:ph type="sldNum" sz="quarter" idx="5"/>
          </p:nvPr>
        </p:nvSpPr>
        <p:spPr/>
        <p:txBody>
          <a:bodyPr/>
          <a:lstStyle/>
          <a:p>
            <a:fld id="{297066C1-43BA-431C-9283-94862EFA8E91}" type="slidenum">
              <a:rPr lang="en-US"/>
              <a:t>13</a:t>
            </a:fld>
            <a:endParaRPr lang="en-US"/>
          </a:p>
        </p:txBody>
      </p:sp>
    </p:spTree>
    <p:extLst>
      <p:ext uri="{BB962C8B-B14F-4D97-AF65-F5344CB8AC3E}">
        <p14:creationId xmlns:p14="http://schemas.microsoft.com/office/powerpoint/2010/main" val="2949913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Staci</a:t>
            </a:r>
          </a:p>
          <a:p>
            <a:endParaRPr lang="en-US"/>
          </a:p>
          <a:p>
            <a:r>
              <a:rPr lang="en-US">
                <a:cs typeface="Calibri"/>
              </a:rPr>
              <a:t>But, as nice and neat as that previous visual is, it doesn't necessarily capture the reality you all may be experiencing which is that transformation can ultimately be pretty messy.  You may know where you want to go and maybe even how you want to get there, but it doesn't always look like a nice straight line.  It often looks more like the visual of the right.  And we believe it's critical to acknowledge this fact.  You all are dealing with many different internal and external forces like staffing turnover, accessing training and technical assistance for you and your staff, you are dealing with changes in the labor market and many of you are ultimately creating a brand new service delivery model....at the same time that you are providing services day in and day out. That is not a simple task...and we also know may not have accomplished all that you want to accomplish related to your transformation efforts.  You may be close to meeting your goals related to phase out of subminimum wage, but likely you're still working on other transformation goals and objectives because transformation takes time and we want to be thinking about what comes next for your transformation efforts as we near the end of this formalized project. You all have created new systems, new communication flows, new organizational structures, new expectations and there is fantastic momentum that comes with all of those things. We'd like to encourage you to not see this as the end, but instead to be thinking about how you will keeping the momentum of your transformation alive.   I'm going to pass things to Brian to outline some ways to keep this momentum moving., </a:t>
            </a:r>
          </a:p>
        </p:txBody>
      </p:sp>
      <p:sp>
        <p:nvSpPr>
          <p:cNvPr id="4" name="Slide Number Placeholder 3"/>
          <p:cNvSpPr>
            <a:spLocks noGrp="1"/>
          </p:cNvSpPr>
          <p:nvPr>
            <p:ph type="sldNum" sz="quarter" idx="5"/>
          </p:nvPr>
        </p:nvSpPr>
        <p:spPr/>
        <p:txBody>
          <a:bodyPr/>
          <a:lstStyle/>
          <a:p>
            <a:fld id="{FF7C0A9C-8EB1-2944-91B3-96D63BF1E2CF}" type="slidenum">
              <a:rPr lang="en-US" smtClean="0"/>
              <a:t>15</a:t>
            </a:fld>
            <a:endParaRPr lang="en-US"/>
          </a:p>
        </p:txBody>
      </p:sp>
    </p:spTree>
    <p:extLst>
      <p:ext uri="{BB962C8B-B14F-4D97-AF65-F5344CB8AC3E}">
        <p14:creationId xmlns:p14="http://schemas.microsoft.com/office/powerpoint/2010/main" val="2839616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Staci One foot in the old one foot in the new </a:t>
            </a:r>
          </a:p>
        </p:txBody>
      </p:sp>
      <p:sp>
        <p:nvSpPr>
          <p:cNvPr id="4" name="Slide Number Placeholder 3"/>
          <p:cNvSpPr>
            <a:spLocks noGrp="1"/>
          </p:cNvSpPr>
          <p:nvPr>
            <p:ph type="sldNum" sz="quarter" idx="5"/>
          </p:nvPr>
        </p:nvSpPr>
        <p:spPr/>
        <p:txBody>
          <a:bodyPr/>
          <a:lstStyle/>
          <a:p>
            <a:fld id="{297066C1-43BA-431C-9283-94862EFA8E91}" type="slidenum">
              <a:rPr lang="en-US"/>
              <a:t>16</a:t>
            </a:fld>
            <a:endParaRPr lang="en-US"/>
          </a:p>
        </p:txBody>
      </p:sp>
    </p:spTree>
    <p:extLst>
      <p:ext uri="{BB962C8B-B14F-4D97-AF65-F5344CB8AC3E}">
        <p14:creationId xmlns:p14="http://schemas.microsoft.com/office/powerpoint/2010/main" val="4138789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17</a:t>
            </a:fld>
            <a:endParaRPr lang="en-US"/>
          </a:p>
        </p:txBody>
      </p:sp>
    </p:spTree>
    <p:extLst>
      <p:ext uri="{BB962C8B-B14F-4D97-AF65-F5344CB8AC3E}">
        <p14:creationId xmlns:p14="http://schemas.microsoft.com/office/powerpoint/2010/main" val="2188710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18</a:t>
            </a:fld>
            <a:endParaRPr lang="en-US"/>
          </a:p>
        </p:txBody>
      </p:sp>
    </p:spTree>
    <p:extLst>
      <p:ext uri="{BB962C8B-B14F-4D97-AF65-F5344CB8AC3E}">
        <p14:creationId xmlns:p14="http://schemas.microsoft.com/office/powerpoint/2010/main" val="733678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20</a:t>
            </a:fld>
            <a:endParaRPr lang="en-US"/>
          </a:p>
        </p:txBody>
      </p:sp>
    </p:spTree>
    <p:extLst>
      <p:ext uri="{BB962C8B-B14F-4D97-AF65-F5344CB8AC3E}">
        <p14:creationId xmlns:p14="http://schemas.microsoft.com/office/powerpoint/2010/main" val="2914826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 </a:t>
            </a:r>
            <a:endParaRPr lang="en-US"/>
          </a:p>
          <a:p>
            <a:r>
              <a:rPr lang="en-US">
                <a:ea typeface="Calibri"/>
                <a:cs typeface="Calibri"/>
              </a:rPr>
              <a:t>Let's first define what we mean when we talk about using pilots. Essentially, in this context, a pilot is a small-scale, time-limited, controlled trial period of whatever new business process or model you are implementing...it's essentially your test phase. </a:t>
            </a:r>
            <a:endParaRPr lang="en-US"/>
          </a:p>
        </p:txBody>
      </p:sp>
      <p:sp>
        <p:nvSpPr>
          <p:cNvPr id="4" name="Slide Number Placeholder 3"/>
          <p:cNvSpPr>
            <a:spLocks noGrp="1"/>
          </p:cNvSpPr>
          <p:nvPr>
            <p:ph type="sldNum" sz="quarter" idx="5"/>
          </p:nvPr>
        </p:nvSpPr>
        <p:spPr/>
        <p:txBody>
          <a:bodyPr/>
          <a:lstStyle/>
          <a:p>
            <a:fld id="{FF7C0A9C-8EB1-2944-91B3-96D63BF1E2CF}" type="slidenum">
              <a:rPr lang="en-US" smtClean="0"/>
              <a:t>22</a:t>
            </a:fld>
            <a:endParaRPr lang="en-US"/>
          </a:p>
        </p:txBody>
      </p:sp>
    </p:spTree>
    <p:extLst>
      <p:ext uri="{BB962C8B-B14F-4D97-AF65-F5344CB8AC3E}">
        <p14:creationId xmlns:p14="http://schemas.microsoft.com/office/powerpoint/2010/main" val="26922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a:t>
            </a:r>
          </a:p>
          <a:p>
            <a:r>
              <a:rPr lang="en-US">
                <a:ea typeface="Calibri"/>
                <a:cs typeface="Calibri"/>
              </a:rPr>
              <a:t>The reasons that using pilots can be so important as you are potentially looking at a new way to provide non-work services,  is because they allow you to do real-world testing on whatever process you'd like to implement. It moves the theory into reality...and this means you'll be able to identify the real problems that may emerge with your process.  and just as important, it allows you time and space to identify solutions to those problems, before your process scales up to more people. It's much, much easier to manage, respond, change course, and refine what you're doing when you're just talking about a few people.  Another thing you'll want to keep in mind is that a pilot allows you to use the info you are learning to build more stakeholder buy-in. So, if there are stakeholders (like families or staff) that are having trouble imaging what community based day service that support community life engagement may look like, then having something to show people will help. And by 'show people' I don't mean that you will have a physical site to show, but you will have stories, you will have processes, procedures that you can share with people.  Pilots allow you to track and control your costs much more easily, which will be critical when you want to make some future projections.  And so it's important to think carefully before you start your pilot, what might you want to track so that you can make informed decisions 6 or 12 weeks down the road.  And finally, pilots really help you get it right before you scale up. And when we say 'get it right' we don't' mean every single thing has to be figured out or that mistakes will never happen, but more that you have time to tweak things before things gets too complicated to tweak more easily. Having said that, these types of services require flexibility, so always be willing to come back to the table to revisit issues as they emerge...and revisit them as a team. </a:t>
            </a:r>
            <a:endParaRPr lang="en-US"/>
          </a:p>
        </p:txBody>
      </p:sp>
      <p:sp>
        <p:nvSpPr>
          <p:cNvPr id="4" name="Slide Number Placeholder 3"/>
          <p:cNvSpPr>
            <a:spLocks noGrp="1"/>
          </p:cNvSpPr>
          <p:nvPr>
            <p:ph type="sldNum" sz="quarter" idx="5"/>
          </p:nvPr>
        </p:nvSpPr>
        <p:spPr/>
        <p:txBody>
          <a:bodyPr/>
          <a:lstStyle/>
          <a:p>
            <a:fld id="{FF7C0A9C-8EB1-2944-91B3-96D63BF1E2CF}" type="slidenum">
              <a:rPr lang="en-US" smtClean="0"/>
              <a:t>23</a:t>
            </a:fld>
            <a:endParaRPr lang="en-US"/>
          </a:p>
        </p:txBody>
      </p:sp>
    </p:spTree>
    <p:extLst>
      <p:ext uri="{BB962C8B-B14F-4D97-AF65-F5344CB8AC3E}">
        <p14:creationId xmlns:p14="http://schemas.microsoft.com/office/powerpoint/2010/main" val="681875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 </a:t>
            </a:r>
            <a:endParaRPr lang="en-US"/>
          </a:p>
        </p:txBody>
      </p:sp>
      <p:sp>
        <p:nvSpPr>
          <p:cNvPr id="4" name="Slide Number Placeholder 3"/>
          <p:cNvSpPr>
            <a:spLocks noGrp="1"/>
          </p:cNvSpPr>
          <p:nvPr>
            <p:ph type="sldNum" sz="quarter" idx="5"/>
          </p:nvPr>
        </p:nvSpPr>
        <p:spPr/>
        <p:txBody>
          <a:bodyPr/>
          <a:lstStyle/>
          <a:p>
            <a:fld id="{FF7C0A9C-8EB1-2944-91B3-96D63BF1E2CF}" type="slidenum">
              <a:rPr lang="en-US" smtClean="0"/>
              <a:t>24</a:t>
            </a:fld>
            <a:endParaRPr lang="en-US"/>
          </a:p>
        </p:txBody>
      </p:sp>
    </p:spTree>
    <p:extLst>
      <p:ext uri="{BB962C8B-B14F-4D97-AF65-F5344CB8AC3E}">
        <p14:creationId xmlns:p14="http://schemas.microsoft.com/office/powerpoint/2010/main" val="3546881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Staci </a:t>
            </a:r>
          </a:p>
        </p:txBody>
      </p:sp>
      <p:sp>
        <p:nvSpPr>
          <p:cNvPr id="4" name="Slide Number Placeholder 3"/>
          <p:cNvSpPr>
            <a:spLocks noGrp="1"/>
          </p:cNvSpPr>
          <p:nvPr>
            <p:ph type="sldNum" sz="quarter" idx="5"/>
          </p:nvPr>
        </p:nvSpPr>
        <p:spPr/>
        <p:txBody>
          <a:bodyPr/>
          <a:lstStyle/>
          <a:p>
            <a:fld id="{297066C1-43BA-431C-9283-94862EFA8E91}" type="slidenum">
              <a:rPr lang="en-US"/>
              <a:t>25</a:t>
            </a:fld>
            <a:endParaRPr lang="en-US"/>
          </a:p>
        </p:txBody>
      </p:sp>
    </p:spTree>
    <p:extLst>
      <p:ext uri="{BB962C8B-B14F-4D97-AF65-F5344CB8AC3E}">
        <p14:creationId xmlns:p14="http://schemas.microsoft.com/office/powerpoint/2010/main" val="288297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 </a:t>
            </a:r>
          </a:p>
        </p:txBody>
      </p:sp>
      <p:sp>
        <p:nvSpPr>
          <p:cNvPr id="4" name="Slide Number Placeholder 3"/>
          <p:cNvSpPr>
            <a:spLocks noGrp="1"/>
          </p:cNvSpPr>
          <p:nvPr>
            <p:ph type="sldNum" sz="quarter" idx="5"/>
          </p:nvPr>
        </p:nvSpPr>
        <p:spPr/>
        <p:txBody>
          <a:bodyPr/>
          <a:lstStyle/>
          <a:p>
            <a:fld id="{297066C1-43BA-431C-9283-94862EFA8E91}" type="slidenum">
              <a:rPr lang="en-US"/>
              <a:t>26</a:t>
            </a:fld>
            <a:endParaRPr lang="en-US"/>
          </a:p>
        </p:txBody>
      </p:sp>
    </p:spTree>
    <p:extLst>
      <p:ext uri="{BB962C8B-B14F-4D97-AF65-F5344CB8AC3E}">
        <p14:creationId xmlns:p14="http://schemas.microsoft.com/office/powerpoint/2010/main" val="859581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FF7C0A9C-8EB1-2944-91B3-96D63BF1E2CF}" type="slidenum">
              <a:rPr lang="en-US" smtClean="0"/>
              <a:t>27</a:t>
            </a:fld>
            <a:endParaRPr lang="en-US"/>
          </a:p>
        </p:txBody>
      </p:sp>
    </p:spTree>
    <p:extLst>
      <p:ext uri="{BB962C8B-B14F-4D97-AF65-F5344CB8AC3E}">
        <p14:creationId xmlns:p14="http://schemas.microsoft.com/office/powerpoint/2010/main" val="253612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28</a:t>
            </a:fld>
            <a:endParaRPr lang="en-US"/>
          </a:p>
        </p:txBody>
      </p:sp>
    </p:spTree>
    <p:extLst>
      <p:ext uri="{BB962C8B-B14F-4D97-AF65-F5344CB8AC3E}">
        <p14:creationId xmlns:p14="http://schemas.microsoft.com/office/powerpoint/2010/main" val="165866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Don </a:t>
            </a:r>
          </a:p>
        </p:txBody>
      </p:sp>
      <p:sp>
        <p:nvSpPr>
          <p:cNvPr id="4" name="Slide Number Placeholder 3"/>
          <p:cNvSpPr>
            <a:spLocks noGrp="1"/>
          </p:cNvSpPr>
          <p:nvPr>
            <p:ph type="sldNum" sz="quarter" idx="5"/>
          </p:nvPr>
        </p:nvSpPr>
        <p:spPr/>
        <p:txBody>
          <a:bodyPr/>
          <a:lstStyle/>
          <a:p>
            <a:fld id="{297066C1-43BA-431C-9283-94862EFA8E91}" type="slidenum">
              <a:rPr lang="en-US"/>
              <a:t>29</a:t>
            </a:fld>
            <a:endParaRPr lang="en-US"/>
          </a:p>
        </p:txBody>
      </p:sp>
    </p:spTree>
    <p:extLst>
      <p:ext uri="{BB962C8B-B14F-4D97-AF65-F5344CB8AC3E}">
        <p14:creationId xmlns:p14="http://schemas.microsoft.com/office/powerpoint/2010/main" val="3659125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Staci </a:t>
            </a:r>
          </a:p>
          <a:p>
            <a:endParaRPr lang="en-US">
              <a:cs typeface="Calibri"/>
            </a:endParaRPr>
          </a:p>
          <a:p>
            <a:r>
              <a:rPr lang="en-US">
                <a:cs typeface="Calibri"/>
              </a:rPr>
              <a:t>Session starts at 3pm and runs until 4:45</a:t>
            </a:r>
            <a:endParaRPr lang="en-US"/>
          </a:p>
          <a:p>
            <a:endParaRPr lang="en-US">
              <a:cs typeface="Calibri"/>
            </a:endParaRPr>
          </a:p>
          <a:p>
            <a:r>
              <a:rPr lang="en-US">
                <a:cs typeface="Calibri"/>
              </a:rPr>
              <a:t>Break at 4pm: 5 minutes? </a:t>
            </a:r>
          </a:p>
        </p:txBody>
      </p:sp>
      <p:sp>
        <p:nvSpPr>
          <p:cNvPr id="4" name="Slide Number Placeholder 3"/>
          <p:cNvSpPr>
            <a:spLocks noGrp="1"/>
          </p:cNvSpPr>
          <p:nvPr>
            <p:ph type="sldNum" sz="quarter" idx="5"/>
          </p:nvPr>
        </p:nvSpPr>
        <p:spPr/>
        <p:txBody>
          <a:bodyPr/>
          <a:lstStyle/>
          <a:p>
            <a:fld id="{297066C1-43BA-431C-9283-94862EFA8E91}" type="slidenum">
              <a:rPr lang="en-US"/>
              <a:t>30</a:t>
            </a:fld>
            <a:endParaRPr lang="en-US"/>
          </a:p>
        </p:txBody>
      </p:sp>
    </p:spTree>
    <p:extLst>
      <p:ext uri="{BB962C8B-B14F-4D97-AF65-F5344CB8AC3E}">
        <p14:creationId xmlns:p14="http://schemas.microsoft.com/office/powerpoint/2010/main" val="2305242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4pm-4:10pm? </a:t>
            </a:r>
          </a:p>
          <a:p>
            <a:endParaRPr lang="en-US">
              <a:cs typeface="Calibri"/>
            </a:endParaRPr>
          </a:p>
          <a:p>
            <a:r>
              <a:rPr lang="en-US">
                <a:cs typeface="Calibri"/>
              </a:rPr>
              <a:t>4:10-4:30 small group discussion</a:t>
            </a:r>
          </a:p>
          <a:p>
            <a:r>
              <a:rPr lang="en-US">
                <a:cs typeface="Calibri"/>
              </a:rPr>
              <a:t>4:30-4:45 report out and Q&amp; A? </a:t>
            </a:r>
          </a:p>
        </p:txBody>
      </p:sp>
      <p:sp>
        <p:nvSpPr>
          <p:cNvPr id="4" name="Slide Number Placeholder 3"/>
          <p:cNvSpPr>
            <a:spLocks noGrp="1"/>
          </p:cNvSpPr>
          <p:nvPr>
            <p:ph type="sldNum" sz="quarter" idx="5"/>
          </p:nvPr>
        </p:nvSpPr>
        <p:spPr/>
        <p:txBody>
          <a:bodyPr/>
          <a:lstStyle/>
          <a:p>
            <a:fld id="{297066C1-43BA-431C-9283-94862EFA8E91}" type="slidenum">
              <a:rPr lang="en-US"/>
              <a:t>32</a:t>
            </a:fld>
            <a:endParaRPr lang="en-US"/>
          </a:p>
        </p:txBody>
      </p:sp>
    </p:spTree>
    <p:extLst>
      <p:ext uri="{BB962C8B-B14F-4D97-AF65-F5344CB8AC3E}">
        <p14:creationId xmlns:p14="http://schemas.microsoft.com/office/powerpoint/2010/main" val="28579578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How might we split groups up for small-group discussion? </a:t>
            </a:r>
          </a:p>
        </p:txBody>
      </p:sp>
      <p:sp>
        <p:nvSpPr>
          <p:cNvPr id="4" name="Slide Number Placeholder 3"/>
          <p:cNvSpPr>
            <a:spLocks noGrp="1"/>
          </p:cNvSpPr>
          <p:nvPr>
            <p:ph type="sldNum" sz="quarter" idx="5"/>
          </p:nvPr>
        </p:nvSpPr>
        <p:spPr/>
        <p:txBody>
          <a:bodyPr/>
          <a:lstStyle/>
          <a:p>
            <a:fld id="{297066C1-43BA-431C-9283-94862EFA8E91}" type="slidenum">
              <a:rPr lang="en-US"/>
              <a:t>33</a:t>
            </a:fld>
            <a:endParaRPr lang="en-US"/>
          </a:p>
        </p:txBody>
      </p:sp>
    </p:spTree>
    <p:extLst>
      <p:ext uri="{BB962C8B-B14F-4D97-AF65-F5344CB8AC3E}">
        <p14:creationId xmlns:p14="http://schemas.microsoft.com/office/powerpoint/2010/main" val="3511255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F2810-D30C-E890-1C36-F6445BF4A2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EF8DCC-C8DF-026E-3E1E-5299BA5E86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1C0D4D-87DF-FE59-E21D-618E699F79A0}"/>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DDB16745-FD38-3892-16B7-7F55C24CB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56F62-D60A-E2F7-7F0D-6F4BE7CF1838}"/>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21193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AA45-2ED6-D1F4-FD30-FA2921771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C1BA99-B860-FEF9-46A9-537EC5477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DB00E-39EF-7FB2-3BDB-ACA60631CAD2}"/>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03D4E0AC-A9C8-9B79-E8D2-F9602B4869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A6CDC-E321-1741-9CF4-C59BD512B00B}"/>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1653764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615C3-9C4B-8BB5-889B-F3A9079F30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F37BA3-94A7-92D2-08E7-09CFA1ED0B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B89776-FEC4-9B1F-0C6F-1A5D59E66353}"/>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AFBADCD9-B367-DD85-4673-6DA061A571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5ED2A1-0733-BD20-6520-9BF344A096FB}"/>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2394709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AD9A6-FEC9-3D36-9A9E-67D0BBF68A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D5D15-8BB6-A241-A8C1-36FF7905E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14F263-9982-54C4-FE78-073CC3616D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CC2A5F-D7A4-71A0-5FEF-C9A029558F9F}"/>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6" name="Footer Placeholder 5">
            <a:extLst>
              <a:ext uri="{FF2B5EF4-FFF2-40B4-BE49-F238E27FC236}">
                <a16:creationId xmlns:a16="http://schemas.microsoft.com/office/drawing/2014/main" id="{08C8A881-A7CB-0F15-0FB6-86D697FF35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098007-77D8-2F1A-B236-1FFAFE50907C}"/>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184854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1E81A-C93C-AC8E-7179-00B5A05698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2D170F-6183-1815-D479-CDA6AB526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C96480-EEE4-F061-441D-5C9A977592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D31082-BACC-9070-DC4E-55B304452E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4E473A-55DD-A14C-709E-E448050232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F49EB2-CA05-77A6-FB8F-F2C9377AFEB9}"/>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8" name="Footer Placeholder 7">
            <a:extLst>
              <a:ext uri="{FF2B5EF4-FFF2-40B4-BE49-F238E27FC236}">
                <a16:creationId xmlns:a16="http://schemas.microsoft.com/office/drawing/2014/main" id="{252983C2-C587-E506-655D-42C2EF837E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65BF36-A141-A27D-9F83-C3104C0E7940}"/>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3164952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BD6DE-6423-2995-7FA7-BF4FD5F0C8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9E5DAD-D7BD-BD15-D797-A35A51503F2F}"/>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4" name="Footer Placeholder 3">
            <a:extLst>
              <a:ext uri="{FF2B5EF4-FFF2-40B4-BE49-F238E27FC236}">
                <a16:creationId xmlns:a16="http://schemas.microsoft.com/office/drawing/2014/main" id="{623462CB-DDD0-A72D-9A89-D0EE2A05DB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A2C04-EAA2-9601-D246-FAE5D775C53E}"/>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3122472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2E3B7A-F55F-9705-5E68-FA6EC092B7B8}"/>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3" name="Footer Placeholder 2">
            <a:extLst>
              <a:ext uri="{FF2B5EF4-FFF2-40B4-BE49-F238E27FC236}">
                <a16:creationId xmlns:a16="http://schemas.microsoft.com/office/drawing/2014/main" id="{DE1AB24B-8414-5315-4001-91B1D4A605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BFFB69-EAEE-D929-1FB4-B77C30EC2783}"/>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227843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CEE5-455F-8CF1-73A7-C130F5AAF8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448B09-7954-C63E-7751-31049D3B1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D095D0-8484-715A-E242-FB9B962D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E5F1B-9B2A-AD3E-8259-841F26B8317A}"/>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6" name="Footer Placeholder 5">
            <a:extLst>
              <a:ext uri="{FF2B5EF4-FFF2-40B4-BE49-F238E27FC236}">
                <a16:creationId xmlns:a16="http://schemas.microsoft.com/office/drawing/2014/main" id="{9556E962-35C4-9F60-AB74-620E7BFFD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578D6-F6BE-4D14-52B7-0AE3E49960B1}"/>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95667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4D90-EAB7-2325-4D04-913926E980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D905F4-65CD-50EB-F750-7980DE8DCB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DC9A89-7BE1-B2C5-F2ED-5BE968924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F9C36-8E69-AC4A-90C8-A87E9A055E8D}"/>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6" name="Footer Placeholder 5">
            <a:extLst>
              <a:ext uri="{FF2B5EF4-FFF2-40B4-BE49-F238E27FC236}">
                <a16:creationId xmlns:a16="http://schemas.microsoft.com/office/drawing/2014/main" id="{AD34130D-C671-C2FB-B050-E2D2A16983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845234-8FD4-A608-C95B-72C7ADBCFE2E}"/>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2265007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A9D82-3CD1-F8DC-6F91-93320B4B5B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473703-E710-19AB-9272-A0CCB9033F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6B0CF1-C3A8-F100-438D-2915A4E9673E}"/>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1C106301-DDA8-7164-BB2E-CAC374E3D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33D40-836C-0803-49FE-3BA9FFEDD1B6}"/>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407379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17742B-6F4F-3144-F901-EACA73ACC2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5679B2-9A9D-323A-7CC2-4337F730C0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59F8E-9762-5ECC-D6C1-163E167900AE}"/>
              </a:ext>
            </a:extLst>
          </p:cNvPr>
          <p:cNvSpPr>
            <a:spLocks noGrp="1"/>
          </p:cNvSpPr>
          <p:nvPr>
            <p:ph type="dt" sz="half" idx="10"/>
          </p:nvPr>
        </p:nvSpPr>
        <p:spPr/>
        <p:txBody>
          <a:body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DEAB6DD5-8EFE-BBC1-822C-267C5DB48F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D0A94-7167-EED7-4C64-DDFC6802D69D}"/>
              </a:ext>
            </a:extLst>
          </p:cNvPr>
          <p:cNvSpPr>
            <a:spLocks noGrp="1"/>
          </p:cNvSpPr>
          <p:nvPr>
            <p:ph type="sldNum" sz="quarter" idx="12"/>
          </p:nvPr>
        </p:nvSpPr>
        <p:spPr/>
        <p:txBody>
          <a:bodyPr/>
          <a:lstStyle/>
          <a:p>
            <a:fld id="{E51803E0-9D62-45E1-841C-C619F91FADE3}" type="slidenum">
              <a:rPr lang="en-US" smtClean="0"/>
              <a:t>‹#›</a:t>
            </a:fld>
            <a:endParaRPr lang="en-US"/>
          </a:p>
        </p:txBody>
      </p:sp>
    </p:spTree>
    <p:extLst>
      <p:ext uri="{BB962C8B-B14F-4D97-AF65-F5344CB8AC3E}">
        <p14:creationId xmlns:p14="http://schemas.microsoft.com/office/powerpoint/2010/main" val="2476757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8888-A42A-10AF-5398-635905D1C97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18961D-A2C2-DDCC-74CA-D3CAD36DFCD7}"/>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FEEDCD8-3F7F-AD97-D191-1928504ABE1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7AC8CA-05B6-FD4D-7610-F16A54E7D35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BA71C7-C877-E06E-610A-3769E267EF76}"/>
              </a:ext>
            </a:extLst>
          </p:cNvPr>
          <p:cNvSpPr>
            <a:spLocks noGrp="1"/>
          </p:cNvSpPr>
          <p:nvPr>
            <p:ph type="sldNum" sz="quarter" idx="12"/>
          </p:nvPr>
        </p:nvSpPr>
        <p:spPr/>
        <p:txBody>
          <a:bodyPr/>
          <a:lstStyle/>
          <a:p>
            <a:fld id="{308C5664-C89A-1D4F-962E-558376A4545B}" type="slidenum">
              <a:rPr lang="en-US" smtClean="0"/>
              <a:pPr/>
              <a:t>‹#›</a:t>
            </a:fld>
            <a:endParaRPr lang="en-US"/>
          </a:p>
        </p:txBody>
      </p:sp>
    </p:spTree>
    <p:extLst>
      <p:ext uri="{BB962C8B-B14F-4D97-AF65-F5344CB8AC3E}">
        <p14:creationId xmlns:p14="http://schemas.microsoft.com/office/powerpoint/2010/main" val="108204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34DD-10BC-38F4-8272-3FC35BBAEA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2240C-C9FB-E8F1-4C85-E8CC6F2F7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72E73-60D6-72D6-926C-1581E4C0B09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4B869F-0F0D-7F20-05CB-79A175F1C19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E101D62-5252-1997-206D-63B65D8802B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478108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DCAE-2C10-C764-A2FF-139DE9C015D4}"/>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F6B4767-9110-D4C7-F44E-7D8AC5705E1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0A545-DB71-9B62-665C-94A39AC3D9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1326A4A-A690-490D-4395-82F32062486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DB9D8B7-1823-A716-0E05-C1EF47662B8C}"/>
              </a:ext>
            </a:extLst>
          </p:cNvPr>
          <p:cNvSpPr>
            <a:spLocks noGrp="1"/>
          </p:cNvSpPr>
          <p:nvPr>
            <p:ph type="sldNum" sz="quarter" idx="12"/>
          </p:nvPr>
        </p:nvSpPr>
        <p:spPr/>
        <p:txBody>
          <a:bodyPr/>
          <a:lstStyle/>
          <a:p>
            <a:fld id="{6C260E92-1CB0-4649-B042-6EA86B54D02A}" type="slidenum">
              <a:rPr lang="en-US" smtClean="0"/>
              <a:pPr/>
              <a:t>‹#›</a:t>
            </a:fld>
            <a:endParaRPr lang="en-US"/>
          </a:p>
        </p:txBody>
      </p:sp>
    </p:spTree>
    <p:extLst>
      <p:ext uri="{BB962C8B-B14F-4D97-AF65-F5344CB8AC3E}">
        <p14:creationId xmlns:p14="http://schemas.microsoft.com/office/powerpoint/2010/main" val="2797058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40D7-55B2-FDCB-FBE7-62BFC4955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B2411-F0B0-AEB5-E46F-C0E5171564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D1A1A-FEDA-6627-9ACF-1E19C8B4A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ABAD8-90E2-9197-7FAB-69419D304BE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C5EBFC9-7633-C722-66B2-C4EE551260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44148E-5612-A6FC-859C-D7C1D857DD8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1644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A40E-25F7-862F-D5B8-4E71AB53B270}"/>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D0E1-F09A-9D26-56B9-9E2E6A84CF21}"/>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CCCDE3D-9D12-7568-B902-18B92C0DE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2A8000-3D3A-F58C-938D-A7BA82A4EDE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B15B-B9FA-FF88-E0CC-A19340F3613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4E6CD-D6C5-C300-3126-614AE2DA800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45815D4-C8BD-8909-54DC-FC15FAA59FB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E2E3438-7B52-815A-D9A8-A4C581E33B3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249769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046-E063-E4A4-10E5-B11A13B0F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68D09-6F80-C61D-F19C-66FF96B1D95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5B96ED8-0CA8-DC31-0996-C3A35471698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AFB8B04-1A4A-FEC1-9149-57DEBD6AD6D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498657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8AA6B-5E71-4F69-D470-54A7582D3D5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468A06A1-E037-6942-FBCA-305021387BA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E5DA8CD-F7B5-622A-ADDC-B9728985527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04886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DC6B-CB65-3A94-C287-7FC8C469A838}"/>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1EA2C9-E001-2557-15D5-3B08DF66D278}"/>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DB92C-730D-F75C-6A01-F5E7E044B83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AB2374F-7B41-5010-70A8-CBED33A1D24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1CE970A-0BD8-E22A-FC9A-C64E442DCE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EDB4EB-7833-B006-3807-CE22EF619CDC}"/>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34413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11C2-3544-33E8-8BF0-E1567E75B6BF}"/>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F8221DD-9CAE-F4AF-34C7-93DEDD415F8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EA3521D-6885-E11F-E8EF-D48B3A10C416}"/>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724328-5BE0-5C9C-7948-E814CD21B52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8DD2C42-3964-D4C1-19CD-6C1FDDD8914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ACE3B32-A011-00EA-CFDF-E24D17B69D00}"/>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8691157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F418-488C-E058-1858-48C243BE8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E500F-0146-CF9F-4DF4-4928610C5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9372B-DF23-50DB-5593-47453A6FF21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04C41AB-48D8-9785-39CC-44037C9DFC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84B8F29-83D6-6A5E-1D50-0775B0EABAFE}"/>
              </a:ext>
            </a:extLst>
          </p:cNvPr>
          <p:cNvSpPr>
            <a:spLocks noGrp="1"/>
          </p:cNvSpPr>
          <p:nvPr>
            <p:ph type="sldNum" sz="quarter" idx="12"/>
          </p:nvPr>
        </p:nvSpPr>
        <p:spPr/>
        <p:txBody>
          <a:bodyPr/>
          <a:lstStyle/>
          <a:p>
            <a:fld id="{5CA3EE8A-D467-1E43-9BF1-BA74D447CC7B}" type="slidenum">
              <a:rPr lang="en-US" smtClean="0"/>
              <a:pPr/>
              <a:t>‹#›</a:t>
            </a:fld>
            <a:endParaRPr lang="en-US"/>
          </a:p>
        </p:txBody>
      </p:sp>
    </p:spTree>
    <p:extLst>
      <p:ext uri="{BB962C8B-B14F-4D97-AF65-F5344CB8AC3E}">
        <p14:creationId xmlns:p14="http://schemas.microsoft.com/office/powerpoint/2010/main" val="1335623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AFF7F-E323-7090-3747-B260810139D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51B57-F253-ED6F-141E-2490BE35E4E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807A9-369A-BFCE-2B8D-B9744472BB4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B1481EB-7D30-5E58-17AB-F925619D07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4C2E476-7CF3-A498-6D73-2C6AF40AF33C}"/>
              </a:ext>
            </a:extLst>
          </p:cNvPr>
          <p:cNvSpPr>
            <a:spLocks noGrp="1"/>
          </p:cNvSpPr>
          <p:nvPr>
            <p:ph type="sldNum" sz="quarter" idx="12"/>
          </p:nvPr>
        </p:nvSpPr>
        <p:spPr/>
        <p:txBody>
          <a:bodyPr/>
          <a:lstStyle/>
          <a:p>
            <a:fld id="{8C454890-8C81-D642-A868-18D33ADD9ED7}" type="slidenum">
              <a:rPr lang="en-US" smtClean="0"/>
              <a:pPr/>
              <a:t>‹#›</a:t>
            </a:fld>
            <a:endParaRPr lang="en-US"/>
          </a:p>
        </p:txBody>
      </p:sp>
    </p:spTree>
    <p:extLst>
      <p:ext uri="{BB962C8B-B14F-4D97-AF65-F5344CB8AC3E}">
        <p14:creationId xmlns:p14="http://schemas.microsoft.com/office/powerpoint/2010/main" val="3775981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721A25-F94C-388F-AB7D-33D8B32917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4BEF9A-4012-16CC-04FE-431630246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267BE-CDD4-1F48-CFFD-CC54871185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A9C973-3E0D-4543-B909-A92390B3AFF7}" type="datetimeFigureOut">
              <a:rPr lang="en-US" smtClean="0"/>
              <a:t>5/16/2024</a:t>
            </a:fld>
            <a:endParaRPr lang="en-US"/>
          </a:p>
        </p:txBody>
      </p:sp>
      <p:sp>
        <p:nvSpPr>
          <p:cNvPr id="5" name="Footer Placeholder 4">
            <a:extLst>
              <a:ext uri="{FF2B5EF4-FFF2-40B4-BE49-F238E27FC236}">
                <a16:creationId xmlns:a16="http://schemas.microsoft.com/office/drawing/2014/main" id="{6279AE64-510E-1AEA-8616-EA1324C59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DDD1EC-D933-48EC-D690-F2E067462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1803E0-9D62-45E1-841C-C619F91FADE3}" type="slidenum">
              <a:rPr lang="en-US" smtClean="0"/>
              <a:t>‹#›</a:t>
            </a:fld>
            <a:endParaRPr lang="en-US"/>
          </a:p>
        </p:txBody>
      </p:sp>
    </p:spTree>
    <p:extLst>
      <p:ext uri="{BB962C8B-B14F-4D97-AF65-F5344CB8AC3E}">
        <p14:creationId xmlns:p14="http://schemas.microsoft.com/office/powerpoint/2010/main" val="2398256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9D20E-7A7F-54FD-AD17-38C4874E9D1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FD75F-7CB4-1010-FA5F-82A29DA45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BF7-BCE2-6349-3CF1-EE42512A101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40AFBE2-3D8D-5FF0-A4CE-66D4CACEC458}"/>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5B8627-7E0E-530C-FB87-7A70CDC3331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5FAA45-AC5B-014B-9F74-53D558B73BE0}" type="slidenum">
              <a:rPr lang="en-US" smtClean="0"/>
              <a:pPr/>
              <a:t>‹#›</a:t>
            </a:fld>
            <a:endParaRPr lang="en-US"/>
          </a:p>
        </p:txBody>
      </p:sp>
    </p:spTree>
    <p:extLst>
      <p:ext uri="{BB962C8B-B14F-4D97-AF65-F5344CB8AC3E}">
        <p14:creationId xmlns:p14="http://schemas.microsoft.com/office/powerpoint/2010/main" val="269477073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Strengthsatwork@gmail.com"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hyperlink" Target="mailto:Staci.Jones@umb.edu" TargetMode="Externa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hyperlink" Target="https://mti.ici.umn.ed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hyperlink" Target="http://www.thinkwork.org"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ideo" Target="https://www.youtube.com/embed/QbRx5L5IMqs?feature=oembed" TargetMode="External"/><Relationship Id="rId5" Type="http://schemas.openxmlformats.org/officeDocument/2006/relationships/image" Target="../media/image4.pn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commons.wikimedia.org/wiki/File:Boeing_737_300_plane.jp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hyperlink" Target="https://creativecommons.org/licenses/by/3.0/" TargetMode="External"/><Relationship Id="rId4" Type="http://schemas.openxmlformats.org/officeDocument/2006/relationships/hyperlink" Target="https://www.drdawnwright.com/procrastination/"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thinkwork.org" TargetMode="External"/><Relationship Id="rId2" Type="http://schemas.openxmlformats.org/officeDocument/2006/relationships/hyperlink" Target="https://mti.ici.umn.edu/" TargetMode="Externa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hyperlink" Target="http://www.cletoolkit.communityinclusion.or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B32CCBA-BF0E-0F0E-C0DF-7B4E226752DF}"/>
              </a:ext>
            </a:extLst>
          </p:cNvPr>
          <p:cNvSpPr>
            <a:spLocks noGrp="1"/>
          </p:cNvSpPr>
          <p:nvPr>
            <p:ph type="ctrTitle"/>
          </p:nvPr>
        </p:nvSpPr>
        <p:spPr>
          <a:xfrm>
            <a:off x="113068" y="805282"/>
            <a:ext cx="4640825" cy="2795160"/>
          </a:xfrm>
        </p:spPr>
        <p:txBody>
          <a:bodyPr>
            <a:normAutofit fontScale="90000"/>
          </a:bodyPr>
          <a:lstStyle/>
          <a:p>
            <a:r>
              <a:rPr lang="en-US" sz="4800" b="1"/>
              <a:t>Making the Leap from Planning to Implementation in Organizational Transformation </a:t>
            </a:r>
          </a:p>
        </p:txBody>
      </p:sp>
      <p:sp>
        <p:nvSpPr>
          <p:cNvPr id="3" name="Subtitle 2">
            <a:extLst>
              <a:ext uri="{FF2B5EF4-FFF2-40B4-BE49-F238E27FC236}">
                <a16:creationId xmlns:a16="http://schemas.microsoft.com/office/drawing/2014/main" id="{9AF4A01B-95C7-F889-F8D3-1E392969480A}"/>
              </a:ext>
            </a:extLst>
          </p:cNvPr>
          <p:cNvSpPr>
            <a:spLocks noGrp="1"/>
          </p:cNvSpPr>
          <p:nvPr>
            <p:ph type="subTitle" idx="1"/>
          </p:nvPr>
        </p:nvSpPr>
        <p:spPr>
          <a:xfrm>
            <a:off x="339210" y="4225378"/>
            <a:ext cx="4414683" cy="1136843"/>
          </a:xfrm>
        </p:spPr>
        <p:txBody>
          <a:bodyPr>
            <a:noAutofit/>
          </a:bodyPr>
          <a:lstStyle/>
          <a:p>
            <a:r>
              <a:rPr lang="en-US" sz="6000" b="1">
                <a:effectLst>
                  <a:outerShdw blurRad="38100" dist="38100" dir="2700000" algn="tl">
                    <a:srgbClr val="000000">
                      <a:alpha val="43137"/>
                    </a:srgbClr>
                  </a:outerShdw>
                </a:effectLst>
              </a:rPr>
              <a:t>You </a:t>
            </a:r>
            <a:r>
              <a:rPr lang="en-US" sz="6000" b="1"/>
              <a:t>go first.</a:t>
            </a:r>
            <a:endParaRPr lang="en-US" sz="6000"/>
          </a:p>
        </p:txBody>
      </p:sp>
      <p:pic>
        <p:nvPicPr>
          <p:cNvPr id="4" name="Picture 3" descr="Logo&#10;&#10;Description automatically generated with medium confidence">
            <a:extLst>
              <a:ext uri="{FF2B5EF4-FFF2-40B4-BE49-F238E27FC236}">
                <a16:creationId xmlns:a16="http://schemas.microsoft.com/office/drawing/2014/main" id="{CC96F5A6-07E9-FBA7-C41B-57F84718736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802086" y="336767"/>
            <a:ext cx="6120761" cy="3031417"/>
          </a:xfrm>
          <a:prstGeom prst="rect">
            <a:avLst/>
          </a:prstGeom>
        </p:spPr>
      </p:pic>
      <p:sp>
        <p:nvSpPr>
          <p:cNvPr id="6" name="TextBox 5">
            <a:extLst>
              <a:ext uri="{FF2B5EF4-FFF2-40B4-BE49-F238E27FC236}">
                <a16:creationId xmlns:a16="http://schemas.microsoft.com/office/drawing/2014/main" id="{71260946-AE79-0C87-BD0C-ADF9126D4719}"/>
              </a:ext>
            </a:extLst>
          </p:cNvPr>
          <p:cNvSpPr txBox="1"/>
          <p:nvPr/>
        </p:nvSpPr>
        <p:spPr>
          <a:xfrm>
            <a:off x="6489817" y="5433703"/>
            <a:ext cx="5014452" cy="584775"/>
          </a:xfrm>
          <a:prstGeom prst="rect">
            <a:avLst/>
          </a:prstGeom>
          <a:noFill/>
        </p:spPr>
        <p:txBody>
          <a:bodyPr wrap="square">
            <a:spAutoFit/>
          </a:bodyPr>
          <a:lstStyle/>
          <a:p>
            <a:pPr algn="ctr"/>
            <a:r>
              <a:rPr lang="en-US" sz="3200"/>
              <a:t>Don Lavin &amp; Staci Jones</a:t>
            </a:r>
          </a:p>
        </p:txBody>
      </p:sp>
      <p:sp>
        <p:nvSpPr>
          <p:cNvPr id="8" name="TextBox 7">
            <a:extLst>
              <a:ext uri="{FF2B5EF4-FFF2-40B4-BE49-F238E27FC236}">
                <a16:creationId xmlns:a16="http://schemas.microsoft.com/office/drawing/2014/main" id="{89951F8B-D2DB-EEE6-0829-DD9CF789BBFA}"/>
              </a:ext>
            </a:extLst>
          </p:cNvPr>
          <p:cNvSpPr txBox="1"/>
          <p:nvPr/>
        </p:nvSpPr>
        <p:spPr>
          <a:xfrm>
            <a:off x="5987845" y="3704951"/>
            <a:ext cx="5802086" cy="1200329"/>
          </a:xfrm>
          <a:prstGeom prst="rect">
            <a:avLst/>
          </a:prstGeom>
          <a:noFill/>
        </p:spPr>
        <p:txBody>
          <a:bodyPr wrap="square">
            <a:spAutoFit/>
          </a:bodyPr>
          <a:lstStyle/>
          <a:p>
            <a:pPr algn="ctr"/>
            <a:r>
              <a:rPr lang="en-US" sz="3600" b="1"/>
              <a:t>MOHR Annual Conference</a:t>
            </a:r>
          </a:p>
          <a:p>
            <a:pPr algn="ctr"/>
            <a:r>
              <a:rPr lang="en-US" sz="3600" b="1"/>
              <a:t>May 2024</a:t>
            </a:r>
          </a:p>
        </p:txBody>
      </p:sp>
    </p:spTree>
    <p:extLst>
      <p:ext uri="{BB962C8B-B14F-4D97-AF65-F5344CB8AC3E}">
        <p14:creationId xmlns:p14="http://schemas.microsoft.com/office/powerpoint/2010/main" val="3379204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A6A4-6889-B34E-EE24-C72E880608C6}"/>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Welcome &amp; Introductions</a:t>
            </a:r>
          </a:p>
        </p:txBody>
      </p:sp>
      <p:sp>
        <p:nvSpPr>
          <p:cNvPr id="3" name="Content Placeholder 2">
            <a:extLst>
              <a:ext uri="{FF2B5EF4-FFF2-40B4-BE49-F238E27FC236}">
                <a16:creationId xmlns:a16="http://schemas.microsoft.com/office/drawing/2014/main" id="{C5C5BEE4-E0D5-1874-F6FB-C8E97CD946FC}"/>
              </a:ext>
            </a:extLst>
          </p:cNvPr>
          <p:cNvSpPr>
            <a:spLocks/>
          </p:cNvSpPr>
          <p:nvPr/>
        </p:nvSpPr>
        <p:spPr>
          <a:xfrm>
            <a:off x="1695163" y="2715495"/>
            <a:ext cx="4249657" cy="3568722"/>
          </a:xfrm>
          <a:prstGeom prst="rect">
            <a:avLst/>
          </a:prstGeom>
        </p:spPr>
        <p:txBody>
          <a:bodyPr vert="horz" lIns="91440" tIns="45720" rIns="91440" bIns="45720" rtlCol="0" anchor="t">
            <a:normAutofit/>
          </a:bodyPr>
          <a:lstStyle/>
          <a:p>
            <a:pPr algn="ctr" defTabSz="749808">
              <a:spcAft>
                <a:spcPts val="600"/>
              </a:spcAft>
            </a:pPr>
            <a:endParaRPr lang="en-US" sz="1476" kern="1200">
              <a:solidFill>
                <a:schemeClr val="tx1"/>
              </a:solidFill>
              <a:latin typeface="+mn-lt"/>
              <a:ea typeface="+mn-ea"/>
              <a:cs typeface="+mn-cs"/>
            </a:endParaRPr>
          </a:p>
          <a:p>
            <a:pPr algn="ctr" defTabSz="749808">
              <a:spcAft>
                <a:spcPts val="600"/>
              </a:spcAft>
            </a:pPr>
            <a:endParaRPr lang="en-US" sz="1476" kern="1200">
              <a:solidFill>
                <a:schemeClr val="tx1"/>
              </a:solidFill>
              <a:latin typeface="+mn-lt"/>
              <a:ea typeface="+mn-ea"/>
              <a:cs typeface="+mn-cs"/>
            </a:endParaRPr>
          </a:p>
          <a:p>
            <a:pPr algn="ctr" defTabSz="749808">
              <a:spcAft>
                <a:spcPts val="600"/>
              </a:spcAft>
            </a:pPr>
            <a:endParaRPr lang="en-US" sz="1476" kern="1200">
              <a:solidFill>
                <a:schemeClr val="tx1"/>
              </a:solidFill>
              <a:latin typeface="+mn-lt"/>
              <a:ea typeface="+mn-ea"/>
              <a:cs typeface="+mn-cs"/>
            </a:endParaRPr>
          </a:p>
          <a:p>
            <a:pPr algn="ctr" defTabSz="749808">
              <a:spcAft>
                <a:spcPts val="600"/>
              </a:spcAft>
            </a:pPr>
            <a:r>
              <a:rPr lang="en-US" sz="2400" b="1" kern="1200">
                <a:latin typeface="+mn-lt"/>
                <a:ea typeface="+mn-ea"/>
                <a:cs typeface="+mn-cs"/>
              </a:rPr>
              <a:t>Don Lavin </a:t>
            </a:r>
            <a:endParaRPr lang="en-US" sz="2400" b="1" kern="1200">
              <a:latin typeface="+mn-lt"/>
            </a:endParaRPr>
          </a:p>
          <a:p>
            <a:pPr algn="ctr" defTabSz="749808">
              <a:spcAft>
                <a:spcPts val="600"/>
              </a:spcAft>
            </a:pPr>
            <a:r>
              <a:rPr lang="en-US" sz="2400" kern="1200">
                <a:latin typeface="+mn-lt"/>
                <a:ea typeface="+mn-ea"/>
                <a:cs typeface="+mn-cs"/>
              </a:rPr>
              <a:t>Principal,</a:t>
            </a:r>
            <a:r>
              <a:rPr lang="en-US" sz="2400"/>
              <a:t> </a:t>
            </a:r>
            <a:endParaRPr lang="en-US" sz="2400" kern="1200">
              <a:latin typeface="+mn-lt"/>
            </a:endParaRPr>
          </a:p>
          <a:p>
            <a:pPr algn="ctr" defTabSz="749808">
              <a:spcAft>
                <a:spcPts val="600"/>
              </a:spcAft>
            </a:pPr>
            <a:r>
              <a:rPr lang="en-US" sz="2400" kern="1200">
                <a:latin typeface="+mn-lt"/>
                <a:ea typeface="+mn-ea"/>
                <a:cs typeface="+mn-cs"/>
              </a:rPr>
              <a:t>Strengths at Work, LLC</a:t>
            </a:r>
            <a:endParaRPr lang="en-US" sz="2400" kern="1200">
              <a:latin typeface="+mn-lt"/>
            </a:endParaRPr>
          </a:p>
          <a:p>
            <a:pPr algn="ctr" defTabSz="749808">
              <a:spcAft>
                <a:spcPts val="600"/>
              </a:spcAft>
            </a:pPr>
            <a:r>
              <a:rPr lang="en-US" sz="2400" kern="1200">
                <a:latin typeface="+mn-lt"/>
                <a:ea typeface="+mn-ea"/>
                <a:cs typeface="+mn-cs"/>
                <a:hlinkClick r:id="rId3">
                  <a:extLst>
                    <a:ext uri="{A12FA001-AC4F-418D-AE19-62706E023703}">
                      <ahyp:hlinkClr xmlns:ahyp="http://schemas.microsoft.com/office/drawing/2018/hyperlinkcolor" val="tx"/>
                    </a:ext>
                  </a:extLst>
                </a:hlinkClick>
              </a:rPr>
              <a:t>Strengthsatwork@gmail.com</a:t>
            </a:r>
            <a:r>
              <a:rPr lang="en-US" sz="2400" kern="1200">
                <a:latin typeface="+mn-lt"/>
                <a:ea typeface="+mn-ea"/>
                <a:cs typeface="+mn-cs"/>
              </a:rPr>
              <a:t> </a:t>
            </a:r>
            <a:endParaRPr lang="en-US" sz="2400" kern="1200">
              <a:latin typeface="+mn-lt"/>
            </a:endParaRPr>
          </a:p>
          <a:p>
            <a:pPr marL="0" indent="0">
              <a:spcAft>
                <a:spcPts val="600"/>
              </a:spcAft>
              <a:buNone/>
            </a:pPr>
            <a:endParaRPr lang="en-US" sz="2400"/>
          </a:p>
        </p:txBody>
      </p:sp>
      <p:sp>
        <p:nvSpPr>
          <p:cNvPr id="4" name="Content Placeholder 3">
            <a:extLst>
              <a:ext uri="{FF2B5EF4-FFF2-40B4-BE49-F238E27FC236}">
                <a16:creationId xmlns:a16="http://schemas.microsoft.com/office/drawing/2014/main" id="{E73845FD-91D1-0082-BE87-C7929F626EB3}"/>
              </a:ext>
            </a:extLst>
          </p:cNvPr>
          <p:cNvSpPr>
            <a:spLocks/>
          </p:cNvSpPr>
          <p:nvPr/>
        </p:nvSpPr>
        <p:spPr>
          <a:xfrm>
            <a:off x="6429871" y="2311348"/>
            <a:ext cx="4249657" cy="3568722"/>
          </a:xfrm>
          <a:prstGeom prst="rect">
            <a:avLst/>
          </a:prstGeom>
        </p:spPr>
        <p:txBody>
          <a:bodyPr vert="horz" lIns="91440" tIns="45720" rIns="91440" bIns="45720" rtlCol="0" anchor="t">
            <a:normAutofit/>
          </a:bodyPr>
          <a:lstStyle/>
          <a:p>
            <a:pPr defTabSz="749808">
              <a:spcAft>
                <a:spcPts val="600"/>
              </a:spcAft>
            </a:pPr>
            <a:endParaRPr lang="en-US" sz="1476" kern="1200">
              <a:solidFill>
                <a:schemeClr val="tx1"/>
              </a:solidFill>
              <a:latin typeface="+mn-lt"/>
              <a:ea typeface="+mn-ea"/>
              <a:cs typeface="+mn-cs"/>
            </a:endParaRPr>
          </a:p>
          <a:p>
            <a:pPr defTabSz="749808">
              <a:spcAft>
                <a:spcPts val="600"/>
              </a:spcAft>
            </a:pPr>
            <a:endParaRPr lang="en-US" sz="1476" kern="1200">
              <a:solidFill>
                <a:schemeClr val="tx1"/>
              </a:solidFill>
              <a:latin typeface="+mn-lt"/>
              <a:ea typeface="+mn-ea"/>
              <a:cs typeface="+mn-cs"/>
            </a:endParaRPr>
          </a:p>
          <a:p>
            <a:pPr defTabSz="749808">
              <a:spcAft>
                <a:spcPts val="600"/>
              </a:spcAft>
            </a:pPr>
            <a:endParaRPr lang="en-US" sz="1476" kern="1200">
              <a:solidFill>
                <a:schemeClr val="tx1"/>
              </a:solidFill>
              <a:latin typeface="+mn-lt"/>
              <a:ea typeface="+mn-ea"/>
              <a:cs typeface="+mn-cs"/>
            </a:endParaRPr>
          </a:p>
          <a:p>
            <a:pPr defTabSz="749808">
              <a:spcAft>
                <a:spcPts val="600"/>
              </a:spcAft>
            </a:pPr>
            <a:endParaRPr lang="en-US" sz="1476" kern="1200">
              <a:solidFill>
                <a:schemeClr val="tx1"/>
              </a:solidFill>
              <a:latin typeface="+mn-lt"/>
              <a:ea typeface="+mn-ea"/>
              <a:cs typeface="+mn-cs"/>
            </a:endParaRPr>
          </a:p>
          <a:p>
            <a:pPr algn="ctr" defTabSz="749808">
              <a:spcAft>
                <a:spcPts val="600"/>
              </a:spcAft>
            </a:pPr>
            <a:r>
              <a:rPr lang="en-US" sz="2400" b="1" kern="1200">
                <a:latin typeface="+mn-lt"/>
                <a:ea typeface="+mn-ea"/>
                <a:cs typeface="+mn-cs"/>
              </a:rPr>
              <a:t>Staci Jones</a:t>
            </a:r>
            <a:endParaRPr lang="en-US" sz="2400" b="1" kern="1200">
              <a:latin typeface="+mn-lt"/>
            </a:endParaRPr>
          </a:p>
          <a:p>
            <a:pPr algn="ctr" defTabSz="749808">
              <a:spcAft>
                <a:spcPts val="600"/>
              </a:spcAft>
            </a:pPr>
            <a:r>
              <a:rPr lang="en-US" sz="2400" kern="1200">
                <a:latin typeface="+mn-lt"/>
                <a:ea typeface="+mn-ea"/>
                <a:cs typeface="+mn-cs"/>
              </a:rPr>
              <a:t>Senior Technical Assistance and Policy Associate</a:t>
            </a:r>
            <a:endParaRPr lang="en-US" sz="2400" kern="1200">
              <a:latin typeface="+mn-lt"/>
            </a:endParaRPr>
          </a:p>
          <a:p>
            <a:pPr algn="ctr" defTabSz="749808">
              <a:spcAft>
                <a:spcPts val="600"/>
              </a:spcAft>
            </a:pPr>
            <a:r>
              <a:rPr lang="en-US" sz="2400" kern="1200">
                <a:latin typeface="+mn-lt"/>
                <a:ea typeface="+mn-ea"/>
                <a:cs typeface="+mn-cs"/>
              </a:rPr>
              <a:t>ICI Umass, Boston</a:t>
            </a:r>
            <a:endParaRPr lang="en-US" sz="2400" kern="1200">
              <a:latin typeface="+mn-lt"/>
            </a:endParaRPr>
          </a:p>
          <a:p>
            <a:pPr algn="ctr" defTabSz="749808">
              <a:spcAft>
                <a:spcPts val="600"/>
              </a:spcAft>
            </a:pPr>
            <a:r>
              <a:rPr lang="en-US" sz="2400" kern="1200">
                <a:latin typeface="+mn-lt"/>
                <a:ea typeface="+mn-ea"/>
                <a:cs typeface="+mn-cs"/>
                <a:hlinkClick r:id="rId4">
                  <a:extLst>
                    <a:ext uri="{A12FA001-AC4F-418D-AE19-62706E023703}">
                      <ahyp:hlinkClr xmlns:ahyp="http://schemas.microsoft.com/office/drawing/2018/hyperlinkcolor" val="tx"/>
                    </a:ext>
                  </a:extLst>
                </a:hlinkClick>
              </a:rPr>
              <a:t>Staci.Jones@umb.edu</a:t>
            </a:r>
            <a:r>
              <a:rPr lang="en-US" sz="2400" kern="1200">
                <a:latin typeface="+mn-lt"/>
                <a:ea typeface="+mn-ea"/>
                <a:cs typeface="+mn-cs"/>
              </a:rPr>
              <a:t> </a:t>
            </a:r>
            <a:endParaRPr lang="en-US" sz="2400" kern="1200">
              <a:latin typeface="+mn-lt"/>
            </a:endParaRPr>
          </a:p>
          <a:p>
            <a:pPr marL="0" indent="0" algn="ctr">
              <a:spcAft>
                <a:spcPts val="600"/>
              </a:spcAft>
              <a:buNone/>
            </a:pPr>
            <a:endParaRPr lang="en-US" sz="2400"/>
          </a:p>
        </p:txBody>
      </p:sp>
      <p:pic>
        <p:nvPicPr>
          <p:cNvPr id="5" name="Picture 4" descr="A person wearing glasses and a necklace&#10;&#10;Description automatically generated">
            <a:extLst>
              <a:ext uri="{FF2B5EF4-FFF2-40B4-BE49-F238E27FC236}">
                <a16:creationId xmlns:a16="http://schemas.microsoft.com/office/drawing/2014/main" id="{48E726DB-3F2B-42D9-5DE4-D593952A239F}"/>
              </a:ext>
            </a:extLst>
          </p:cNvPr>
          <p:cNvPicPr>
            <a:picLocks noChangeAspect="1"/>
          </p:cNvPicPr>
          <p:nvPr/>
        </p:nvPicPr>
        <p:blipFill>
          <a:blip r:embed="rId5"/>
          <a:stretch>
            <a:fillRect/>
          </a:stretch>
        </p:blipFill>
        <p:spPr>
          <a:xfrm>
            <a:off x="7889024" y="1737101"/>
            <a:ext cx="1264507" cy="1682156"/>
          </a:xfrm>
          <a:prstGeom prst="rect">
            <a:avLst/>
          </a:prstGeom>
        </p:spPr>
      </p:pic>
      <p:pic>
        <p:nvPicPr>
          <p:cNvPr id="6" name="Picture 5" descr="A person in a suit holding a microphone&#10;&#10;Description automatically generated">
            <a:extLst>
              <a:ext uri="{FF2B5EF4-FFF2-40B4-BE49-F238E27FC236}">
                <a16:creationId xmlns:a16="http://schemas.microsoft.com/office/drawing/2014/main" id="{2F75E88F-08D4-7630-A0C7-E2B82403A415}"/>
              </a:ext>
            </a:extLst>
          </p:cNvPr>
          <p:cNvPicPr>
            <a:picLocks noChangeAspect="1"/>
          </p:cNvPicPr>
          <p:nvPr/>
        </p:nvPicPr>
        <p:blipFill>
          <a:blip r:embed="rId6"/>
          <a:stretch>
            <a:fillRect/>
          </a:stretch>
        </p:blipFill>
        <p:spPr>
          <a:xfrm>
            <a:off x="2931064" y="1918563"/>
            <a:ext cx="1701409" cy="1517239"/>
          </a:xfrm>
          <a:prstGeom prst="rect">
            <a:avLst/>
          </a:prstGeom>
        </p:spPr>
      </p:pic>
      <p:pic>
        <p:nvPicPr>
          <p:cNvPr id="7" name="Picture 6" descr="A black background with red text&#10;&#10;Description automatically generated">
            <a:extLst>
              <a:ext uri="{FF2B5EF4-FFF2-40B4-BE49-F238E27FC236}">
                <a16:creationId xmlns:a16="http://schemas.microsoft.com/office/drawing/2014/main" id="{86346455-E88F-A910-41E5-4CCA88E2048F}"/>
              </a:ext>
            </a:extLst>
          </p:cNvPr>
          <p:cNvPicPr>
            <a:picLocks noChangeAspect="1"/>
          </p:cNvPicPr>
          <p:nvPr/>
        </p:nvPicPr>
        <p:blipFill>
          <a:blip r:embed="rId7"/>
          <a:stretch>
            <a:fillRect/>
          </a:stretch>
        </p:blipFill>
        <p:spPr>
          <a:xfrm>
            <a:off x="10679864" y="5981533"/>
            <a:ext cx="1259640" cy="603250"/>
          </a:xfrm>
          <a:prstGeom prst="rect">
            <a:avLst/>
          </a:prstGeom>
        </p:spPr>
      </p:pic>
    </p:spTree>
    <p:extLst>
      <p:ext uri="{BB962C8B-B14F-4D97-AF65-F5344CB8AC3E}">
        <p14:creationId xmlns:p14="http://schemas.microsoft.com/office/powerpoint/2010/main" val="3921370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DDF0ADE-A7A8-4EDE-D63E-BC0763995143}"/>
              </a:ext>
            </a:extLst>
          </p:cNvPr>
          <p:cNvSpPr>
            <a:spLocks noGrp="1"/>
          </p:cNvSpPr>
          <p:nvPr>
            <p:ph type="title"/>
          </p:nvPr>
        </p:nvSpPr>
        <p:spPr>
          <a:xfrm>
            <a:off x="838200" y="556995"/>
            <a:ext cx="10515600" cy="1133693"/>
          </a:xfrm>
        </p:spPr>
        <p:txBody>
          <a:bodyPr vert="horz" lIns="91440" tIns="45720" rIns="91440" bIns="45720" rtlCol="0" anchor="ctr">
            <a:normAutofit/>
          </a:bodyPr>
          <a:lstStyle/>
          <a:p>
            <a:r>
              <a:rPr lang="en-US" sz="5200" kern="1200">
                <a:solidFill>
                  <a:schemeClr val="tx1"/>
                </a:solidFill>
                <a:latin typeface="+mj-lt"/>
                <a:ea typeface="+mj-ea"/>
                <a:cs typeface="+mj-cs"/>
              </a:rPr>
              <a:t>Who's with us today? </a:t>
            </a:r>
          </a:p>
        </p:txBody>
      </p:sp>
      <p:pic>
        <p:nvPicPr>
          <p:cNvPr id="4" name="Picture 3" descr="Logo&#10;&#10;Description automatically generated with medium confidence">
            <a:extLst>
              <a:ext uri="{FF2B5EF4-FFF2-40B4-BE49-F238E27FC236}">
                <a16:creationId xmlns:a16="http://schemas.microsoft.com/office/drawing/2014/main" id="{2D71C92C-9DF5-89E7-0453-7A620CAAC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1473" y="6063744"/>
            <a:ext cx="1327547" cy="657492"/>
          </a:xfrm>
          <a:prstGeom prst="rect">
            <a:avLst/>
          </a:prstGeom>
        </p:spPr>
      </p:pic>
      <p:graphicFrame>
        <p:nvGraphicFramePr>
          <p:cNvPr id="7" name="TextBox 1">
            <a:extLst>
              <a:ext uri="{FF2B5EF4-FFF2-40B4-BE49-F238E27FC236}">
                <a16:creationId xmlns:a16="http://schemas.microsoft.com/office/drawing/2014/main" id="{042C0841-146C-9412-5D54-AF85F6ABED49}"/>
              </a:ext>
            </a:extLst>
          </p:cNvPr>
          <p:cNvGraphicFramePr/>
          <p:nvPr>
            <p:extLst>
              <p:ext uri="{D42A27DB-BD31-4B8C-83A1-F6EECF244321}">
                <p14:modId xmlns:p14="http://schemas.microsoft.com/office/powerpoint/2010/main" val="12711246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3383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Pins in a map">
            <a:extLst>
              <a:ext uri="{FF2B5EF4-FFF2-40B4-BE49-F238E27FC236}">
                <a16:creationId xmlns:a16="http://schemas.microsoft.com/office/drawing/2014/main" id="{C5465C00-0B91-A069-4895-84136DBC8BD8}"/>
              </a:ext>
            </a:extLst>
          </p:cNvPr>
          <p:cNvPicPr>
            <a:picLocks noChangeAspect="1"/>
          </p:cNvPicPr>
          <p:nvPr/>
        </p:nvPicPr>
        <p:blipFill rotWithShape="1">
          <a:blip r:embed="rId3"/>
          <a:srcRect l="24469" r="22950" b="-4"/>
          <a:stretch/>
        </p:blipFill>
        <p:spPr>
          <a:xfrm>
            <a:off x="-1" y="-2"/>
            <a:ext cx="5410198" cy="6858002"/>
          </a:xfrm>
          <a:prstGeom prst="rect">
            <a:avLst/>
          </a:prstGeom>
        </p:spPr>
      </p:pic>
      <p:sp useBgFill="1">
        <p:nvSpPr>
          <p:cNvPr id="17" name="Rectangle 16">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3787BD-6626-8DFF-9B03-6BE8EBD8ED01}"/>
              </a:ext>
            </a:extLst>
          </p:cNvPr>
          <p:cNvSpPr>
            <a:spLocks noGrp="1"/>
          </p:cNvSpPr>
          <p:nvPr>
            <p:ph type="title"/>
          </p:nvPr>
        </p:nvSpPr>
        <p:spPr>
          <a:xfrm>
            <a:off x="6115317" y="405685"/>
            <a:ext cx="5464968" cy="1559301"/>
          </a:xfrm>
        </p:spPr>
        <p:txBody>
          <a:bodyPr>
            <a:normAutofit/>
          </a:bodyPr>
          <a:lstStyle/>
          <a:p>
            <a:r>
              <a:rPr lang="en-US" sz="4000"/>
              <a:t>Today's Objectives</a:t>
            </a:r>
          </a:p>
        </p:txBody>
      </p:sp>
      <p:sp>
        <p:nvSpPr>
          <p:cNvPr id="3" name="Content Placeholder 2">
            <a:extLst>
              <a:ext uri="{FF2B5EF4-FFF2-40B4-BE49-F238E27FC236}">
                <a16:creationId xmlns:a16="http://schemas.microsoft.com/office/drawing/2014/main" id="{0E3CC1C0-5FB9-00BC-5ED1-2C54A636E458}"/>
              </a:ext>
            </a:extLst>
          </p:cNvPr>
          <p:cNvSpPr>
            <a:spLocks noGrp="1"/>
          </p:cNvSpPr>
          <p:nvPr>
            <p:ph idx="1"/>
          </p:nvPr>
        </p:nvSpPr>
        <p:spPr>
          <a:xfrm>
            <a:off x="6094296" y="2555310"/>
            <a:ext cx="5702423" cy="3496878"/>
          </a:xfrm>
        </p:spPr>
        <p:txBody>
          <a:bodyPr vert="horz" lIns="91440" tIns="45720" rIns="91440" bIns="45720" rtlCol="0" anchor="ctr">
            <a:noAutofit/>
          </a:bodyPr>
          <a:lstStyle/>
          <a:p>
            <a:r>
              <a:rPr lang="en-US" sz="2400"/>
              <a:t>Brief "about MTI"</a:t>
            </a:r>
          </a:p>
          <a:p>
            <a:r>
              <a:rPr lang="en-US" sz="2400"/>
              <a:t>About organizational transformation </a:t>
            </a:r>
          </a:p>
          <a:p>
            <a:r>
              <a:rPr lang="en-US" sz="2400"/>
              <a:t>The gap(s) between planning and implementation </a:t>
            </a:r>
          </a:p>
          <a:p>
            <a:r>
              <a:rPr lang="en-US" sz="2400"/>
              <a:t>Breaking through inertia </a:t>
            </a:r>
          </a:p>
          <a:p>
            <a:r>
              <a:rPr lang="en-US" sz="2400"/>
              <a:t>Use of pilots to scale up</a:t>
            </a:r>
          </a:p>
          <a:p>
            <a:r>
              <a:rPr lang="en-US" sz="2400"/>
              <a:t>Group exercise </a:t>
            </a:r>
          </a:p>
          <a:p>
            <a:r>
              <a:rPr lang="en-US" sz="2400"/>
              <a:t>Opportunities for support and resources</a:t>
            </a:r>
          </a:p>
          <a:p>
            <a:r>
              <a:rPr lang="en-US" sz="2400"/>
              <a:t>Q&amp;A and Survey </a:t>
            </a:r>
          </a:p>
        </p:txBody>
      </p:sp>
      <p:pic>
        <p:nvPicPr>
          <p:cNvPr id="4" name="Picture 3">
            <a:extLst>
              <a:ext uri="{FF2B5EF4-FFF2-40B4-BE49-F238E27FC236}">
                <a16:creationId xmlns:a16="http://schemas.microsoft.com/office/drawing/2014/main" id="{0ACF054C-E25D-6741-5502-8C92846957DF}"/>
              </a:ext>
            </a:extLst>
          </p:cNvPr>
          <p:cNvPicPr>
            <a:picLocks noChangeAspect="1"/>
          </p:cNvPicPr>
          <p:nvPr/>
        </p:nvPicPr>
        <p:blipFill>
          <a:blip r:embed="rId4"/>
          <a:stretch>
            <a:fillRect/>
          </a:stretch>
        </p:blipFill>
        <p:spPr>
          <a:xfrm>
            <a:off x="10693233" y="6048375"/>
            <a:ext cx="1286377" cy="629987"/>
          </a:xfrm>
          <a:prstGeom prst="rect">
            <a:avLst/>
          </a:prstGeom>
        </p:spPr>
      </p:pic>
    </p:spTree>
    <p:extLst>
      <p:ext uri="{BB962C8B-B14F-4D97-AF65-F5344CB8AC3E}">
        <p14:creationId xmlns:p14="http://schemas.microsoft.com/office/powerpoint/2010/main" val="281689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16">
            <a:extLst>
              <a:ext uri="{FF2B5EF4-FFF2-40B4-BE49-F238E27FC236}">
                <a16:creationId xmlns:a16="http://schemas.microsoft.com/office/drawing/2014/main" id="{39BC075E-A184-E730-698B-20A86FBD919B}"/>
              </a:ext>
            </a:extLst>
          </p:cNvPr>
          <p:cNvSpPr>
            <a:spLocks noMove="1" noResize="1" noChangeArrowheads="1"/>
          </p:cNvSpPr>
          <p:nvPr/>
        </p:nvSpPr>
        <p:spPr bwMode="auto">
          <a:xfrm>
            <a:off x="234950" y="238125"/>
            <a:ext cx="11722100" cy="6381750"/>
          </a:xfrm>
          <a:prstGeom prst="rect">
            <a:avLst/>
          </a:prstGeom>
          <a:solidFill>
            <a:srgbClr val="E3DED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rgbClr val="000000"/>
              </a:solidFill>
            </a:endParaRPr>
          </a:p>
        </p:txBody>
      </p:sp>
      <p:sp>
        <p:nvSpPr>
          <p:cNvPr id="19459" name="Rectangle 118">
            <a:extLst>
              <a:ext uri="{FF2B5EF4-FFF2-40B4-BE49-F238E27FC236}">
                <a16:creationId xmlns:a16="http://schemas.microsoft.com/office/drawing/2014/main" id="{1B1EF7E0-64CD-C2C4-1616-868C56B5DCCE}"/>
              </a:ext>
            </a:extLst>
          </p:cNvPr>
          <p:cNvSpPr>
            <a:spLocks noMove="1" noResize="1" noChangeArrowheads="1"/>
          </p:cNvSpPr>
          <p:nvPr/>
        </p:nvSpPr>
        <p:spPr bwMode="auto">
          <a:xfrm>
            <a:off x="0" y="0"/>
            <a:ext cx="12192000" cy="6858000"/>
          </a:xfrm>
          <a:prstGeom prst="rect">
            <a:avLst/>
          </a:prstGeom>
          <a:solidFill>
            <a:srgbClr val="59595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defTabSz="457200">
              <a:defRPr>
                <a:solidFill>
                  <a:schemeClr val="tx1"/>
                </a:solidFill>
                <a:latin typeface="Calibri" panose="020F0502020204030204" pitchFamily="34" charset="0"/>
              </a:defRPr>
            </a:lvl1pPr>
            <a:lvl2pPr marL="742950" indent="-285750" defTabSz="457200">
              <a:defRPr>
                <a:solidFill>
                  <a:schemeClr val="tx1"/>
                </a:solidFill>
                <a:latin typeface="Calibri" panose="020F0502020204030204" pitchFamily="34" charset="0"/>
              </a:defRPr>
            </a:lvl2pPr>
            <a:lvl3pPr marL="1143000" indent="-228600" defTabSz="457200">
              <a:defRPr>
                <a:solidFill>
                  <a:schemeClr val="tx1"/>
                </a:solidFill>
                <a:latin typeface="Calibri" panose="020F0502020204030204" pitchFamily="34" charset="0"/>
              </a:defRPr>
            </a:lvl3pPr>
            <a:lvl4pPr marL="1600200" indent="-228600" defTabSz="457200">
              <a:defRPr>
                <a:solidFill>
                  <a:schemeClr val="tx1"/>
                </a:solidFill>
                <a:latin typeface="Calibri" panose="020F0502020204030204" pitchFamily="34" charset="0"/>
              </a:defRPr>
            </a:lvl4pPr>
            <a:lvl5pPr marL="2057400" indent="-228600" defTabSz="4572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solidFill>
                <a:srgbClr val="FFFFFF"/>
              </a:solidFill>
              <a:latin typeface="Century Gothic" panose="020B0502020202020204" pitchFamily="34" charset="0"/>
            </a:endParaRPr>
          </a:p>
        </p:txBody>
      </p:sp>
      <p:sp>
        <p:nvSpPr>
          <p:cNvPr id="19460" name="Rectangle 120">
            <a:extLst>
              <a:ext uri="{FF2B5EF4-FFF2-40B4-BE49-F238E27FC236}">
                <a16:creationId xmlns:a16="http://schemas.microsoft.com/office/drawing/2014/main" id="{B663AACD-382D-6661-4879-3A97FEE6BD9B}"/>
              </a:ext>
            </a:extLst>
          </p:cNvPr>
          <p:cNvSpPr>
            <a:spLocks noMove="1" noResize="1"/>
          </p:cNvSpPr>
          <p:nvPr/>
        </p:nvSpPr>
        <p:spPr bwMode="auto">
          <a:xfrm>
            <a:off x="476250" y="479425"/>
            <a:ext cx="11239500" cy="5899150"/>
          </a:xfrm>
          <a:prstGeom prst="rect">
            <a:avLst/>
          </a:prstGeom>
          <a:solidFill>
            <a:srgbClr val="FFFFFF"/>
          </a:solidFill>
          <a:ln w="12701">
            <a:solidFill>
              <a:srgbClr val="FFFFFF"/>
            </a:solidFill>
            <a:miter lim="800000"/>
            <a:headEnd/>
            <a:tailEnd/>
          </a:ln>
        </p:spPr>
        <p:txBody>
          <a:bodyPr anchor="ctr" anchorCtr="1"/>
          <a:lstStyle>
            <a:lvl1pPr defTabSz="457200">
              <a:defRPr>
                <a:solidFill>
                  <a:schemeClr val="tx1"/>
                </a:solidFill>
                <a:latin typeface="Calibri" panose="020F0502020204030204" pitchFamily="34" charset="0"/>
              </a:defRPr>
            </a:lvl1pPr>
            <a:lvl2pPr marL="742950" indent="-285750" defTabSz="457200">
              <a:defRPr>
                <a:solidFill>
                  <a:schemeClr val="tx1"/>
                </a:solidFill>
                <a:latin typeface="Calibri" panose="020F0502020204030204" pitchFamily="34" charset="0"/>
              </a:defRPr>
            </a:lvl2pPr>
            <a:lvl3pPr marL="1143000" indent="-228600" defTabSz="457200">
              <a:defRPr>
                <a:solidFill>
                  <a:schemeClr val="tx1"/>
                </a:solidFill>
                <a:latin typeface="Calibri" panose="020F0502020204030204" pitchFamily="34" charset="0"/>
              </a:defRPr>
            </a:lvl3pPr>
            <a:lvl4pPr marL="1600200" indent="-228600" defTabSz="457200">
              <a:defRPr>
                <a:solidFill>
                  <a:schemeClr val="tx1"/>
                </a:solidFill>
                <a:latin typeface="Calibri" panose="020F0502020204030204" pitchFamily="34" charset="0"/>
              </a:defRPr>
            </a:lvl4pPr>
            <a:lvl5pPr marL="2057400" indent="-228600" defTabSz="4572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solidFill>
                <a:srgbClr val="FFFFFF"/>
              </a:solidFill>
              <a:latin typeface="Century Gothic" panose="020B0502020202020204" pitchFamily="34" charset="0"/>
            </a:endParaRPr>
          </a:p>
        </p:txBody>
      </p:sp>
      <p:pic>
        <p:nvPicPr>
          <p:cNvPr id="19461" name="Google Shape;110;g13aeb6740f1_0_7">
            <a:extLst>
              <a:ext uri="{FF2B5EF4-FFF2-40B4-BE49-F238E27FC236}">
                <a16:creationId xmlns:a16="http://schemas.microsoft.com/office/drawing/2014/main" id="{5FB6FD8E-3402-98D2-5856-22BCE6AECA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5588" y="803275"/>
            <a:ext cx="2238375"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Google Shape;111;g13aeb6740f1_0_7" descr="A red background with white letters&#10;&#10;Description automatically generated with low confidence">
            <a:extLst>
              <a:ext uri="{FF2B5EF4-FFF2-40B4-BE49-F238E27FC236}">
                <a16:creationId xmlns:a16="http://schemas.microsoft.com/office/drawing/2014/main" id="{BD70ECB8-F3DA-16A8-CDB1-6F5A8C5BE6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33550" y="1182688"/>
            <a:ext cx="19526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Google Shape;112;g13aeb6740f1_0_7">
            <a:extLst>
              <a:ext uri="{FF2B5EF4-FFF2-40B4-BE49-F238E27FC236}">
                <a16:creationId xmlns:a16="http://schemas.microsoft.com/office/drawing/2014/main" id="{FAD353C7-174C-6B9D-170F-8882196B24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6125" y="4897438"/>
            <a:ext cx="417830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2" descr="Logo, company name&#10;&#10;Description automatically generated">
            <a:extLst>
              <a:ext uri="{FF2B5EF4-FFF2-40B4-BE49-F238E27FC236}">
                <a16:creationId xmlns:a16="http://schemas.microsoft.com/office/drawing/2014/main" id="{72612F1D-F1DE-E979-8D3A-20358DECCA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5825" y="1135063"/>
            <a:ext cx="1989138"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4" descr="A screenshot of a video game&#10;&#10;Description automatically generated with medium confidence">
            <a:extLst>
              <a:ext uri="{FF2B5EF4-FFF2-40B4-BE49-F238E27FC236}">
                <a16:creationId xmlns:a16="http://schemas.microsoft.com/office/drawing/2014/main" id="{C1991C4C-8161-C881-104D-5D642CF24C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8413" y="5035550"/>
            <a:ext cx="382746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6" name="Picture 6" descr="Logo&#10;&#10;Description automatically generated with medium confidence">
            <a:extLst>
              <a:ext uri="{FF2B5EF4-FFF2-40B4-BE49-F238E27FC236}">
                <a16:creationId xmlns:a16="http://schemas.microsoft.com/office/drawing/2014/main" id="{1E7571C1-12C3-9845-EE91-7A618665FA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4688" y="2973388"/>
            <a:ext cx="359092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4E87D7F-2F55-EA05-428C-54958B5B10F5}"/>
              </a:ext>
            </a:extLst>
          </p:cNvPr>
          <p:cNvSpPr txBox="1"/>
          <p:nvPr/>
        </p:nvSpPr>
        <p:spPr>
          <a:xfrm>
            <a:off x="2703830" y="5908675"/>
            <a:ext cx="7152640" cy="369332"/>
          </a:xfrm>
          <a:prstGeom prst="rect">
            <a:avLst/>
          </a:prstGeom>
          <a:noFill/>
        </p:spPr>
        <p:txBody>
          <a:bodyPr wrap="square" rtlCol="0">
            <a:spAutoFit/>
          </a:bodyPr>
          <a:lstStyle/>
          <a:p>
            <a:r>
              <a:rPr lang="fr-FR">
                <a:hlinkClick r:id="rId9"/>
              </a:rPr>
              <a:t>MN Transformation Initiative | MN Transformation Initiative (umn.edu)</a:t>
            </a:r>
            <a:endParaRPr lang="en-US"/>
          </a:p>
        </p:txBody>
      </p:sp>
    </p:spTree>
  </p:cSld>
  <p:clrMapOvr>
    <a:masterClrMapping/>
  </p:clrMapOvr>
  <p:transition spd="slow" advTm="54904"/>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ogo">
            <a:extLst>
              <a:ext uri="{FF2B5EF4-FFF2-40B4-BE49-F238E27FC236}">
                <a16:creationId xmlns:a16="http://schemas.microsoft.com/office/drawing/2014/main" id="{A75D0FB4-1907-92D6-988F-255A81946D0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43467" y="2117847"/>
            <a:ext cx="5294716" cy="2622304"/>
          </a:xfrm>
          <a:prstGeom prst="rect">
            <a:avLst/>
          </a:prstGeom>
        </p:spPr>
      </p:pic>
      <p:cxnSp>
        <p:nvCxnSpPr>
          <p:cNvPr id="23" name="Straight Connector 22">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3DB2485-523D-4DA8-3617-C959072D4FA0}"/>
              </a:ext>
            </a:extLst>
          </p:cNvPr>
          <p:cNvPicPr>
            <a:picLocks noChangeAspect="1"/>
          </p:cNvPicPr>
          <p:nvPr/>
        </p:nvPicPr>
        <p:blipFill>
          <a:blip r:embed="rId4"/>
          <a:stretch>
            <a:fillRect/>
          </a:stretch>
        </p:blipFill>
        <p:spPr>
          <a:xfrm>
            <a:off x="6253817" y="1430244"/>
            <a:ext cx="5294715" cy="3997511"/>
          </a:xfrm>
          <a:prstGeom prst="rect">
            <a:avLst/>
          </a:prstGeom>
        </p:spPr>
      </p:pic>
    </p:spTree>
    <p:extLst>
      <p:ext uri="{BB962C8B-B14F-4D97-AF65-F5344CB8AC3E}">
        <p14:creationId xmlns:p14="http://schemas.microsoft.com/office/powerpoint/2010/main" val="363914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A44E28-19D8-035F-CA9A-E13A7EBF423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About Transformation &amp; Innovation </a:t>
            </a:r>
          </a:p>
        </p:txBody>
      </p:sp>
      <p:sp>
        <p:nvSpPr>
          <p:cNvPr id="3" name="Content Placeholder 2">
            <a:extLst>
              <a:ext uri="{FF2B5EF4-FFF2-40B4-BE49-F238E27FC236}">
                <a16:creationId xmlns:a16="http://schemas.microsoft.com/office/drawing/2014/main" id="{F82F9A1C-3132-E63F-6843-8B23774F3F0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What, why, how...</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red text&#10;&#10;Description automatically generated">
            <a:extLst>
              <a:ext uri="{FF2B5EF4-FFF2-40B4-BE49-F238E27FC236}">
                <a16:creationId xmlns:a16="http://schemas.microsoft.com/office/drawing/2014/main" id="{82EA2B12-C189-AE8B-F465-5F9788F8D819}"/>
              </a:ext>
            </a:extLst>
          </p:cNvPr>
          <p:cNvPicPr>
            <a:picLocks noChangeAspect="1"/>
          </p:cNvPicPr>
          <p:nvPr/>
        </p:nvPicPr>
        <p:blipFill>
          <a:blip r:embed="rId2"/>
          <a:stretch>
            <a:fillRect/>
          </a:stretch>
        </p:blipFill>
        <p:spPr>
          <a:xfrm>
            <a:off x="10198601" y="5861217"/>
            <a:ext cx="1847850" cy="857250"/>
          </a:xfrm>
          <a:prstGeom prst="rect">
            <a:avLst/>
          </a:prstGeom>
        </p:spPr>
      </p:pic>
    </p:spTree>
    <p:extLst>
      <p:ext uri="{BB962C8B-B14F-4D97-AF65-F5344CB8AC3E}">
        <p14:creationId xmlns:p14="http://schemas.microsoft.com/office/powerpoint/2010/main" val="1849404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8" name="Oval 517">
            <a:extLst>
              <a:ext uri="{FF2B5EF4-FFF2-40B4-BE49-F238E27FC236}">
                <a16:creationId xmlns:a16="http://schemas.microsoft.com/office/drawing/2014/main" id="{7E28B2E9-58E2-AF67-E2C6-ACADC62BD3DB}"/>
              </a:ext>
            </a:extLst>
          </p:cNvPr>
          <p:cNvSpPr/>
          <p:nvPr/>
        </p:nvSpPr>
        <p:spPr>
          <a:xfrm>
            <a:off x="4282452" y="179866"/>
            <a:ext cx="3636816" cy="3244271"/>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cs typeface="Calibri"/>
              </a:rPr>
              <a:t>Organizational Transformation</a:t>
            </a:r>
            <a:r>
              <a:rPr lang="en-US" sz="2800" b="1">
                <a:cs typeface="Calibri"/>
              </a:rPr>
              <a:t> </a:t>
            </a:r>
          </a:p>
        </p:txBody>
      </p:sp>
      <p:sp>
        <p:nvSpPr>
          <p:cNvPr id="4" name="Slide Number Placeholder 3">
            <a:extLst>
              <a:ext uri="{FF2B5EF4-FFF2-40B4-BE49-F238E27FC236}">
                <a16:creationId xmlns:a16="http://schemas.microsoft.com/office/drawing/2014/main" id="{A088EBCE-E62C-F564-0495-572F30023DA5}"/>
              </a:ext>
            </a:extLst>
          </p:cNvPr>
          <p:cNvSpPr>
            <a:spLocks noGrp="1"/>
          </p:cNvSpPr>
          <p:nvPr>
            <p:ph type="sldNum" sz="quarter" idx="12"/>
          </p:nvPr>
        </p:nvSpPr>
        <p:spPr/>
        <p:txBody>
          <a:bodyPr/>
          <a:lstStyle/>
          <a:p>
            <a:fld id="{915FAA45-AC5B-014B-9F74-53D558B73BE0}" type="slidenum">
              <a:rPr lang="en-US" smtClean="0"/>
              <a:pPr/>
              <a:t>8</a:t>
            </a:fld>
            <a:endParaRPr lang="en-US"/>
          </a:p>
        </p:txBody>
      </p:sp>
      <p:sp>
        <p:nvSpPr>
          <p:cNvPr id="600" name="Rectangle 599">
            <a:extLst>
              <a:ext uri="{FF2B5EF4-FFF2-40B4-BE49-F238E27FC236}">
                <a16:creationId xmlns:a16="http://schemas.microsoft.com/office/drawing/2014/main" id="{FD8338AC-F717-5BAC-208A-C955DCBCC44F}"/>
              </a:ext>
            </a:extLst>
          </p:cNvPr>
          <p:cNvSpPr/>
          <p:nvPr/>
        </p:nvSpPr>
        <p:spPr>
          <a:xfrm>
            <a:off x="3052559" y="4704013"/>
            <a:ext cx="6174993" cy="18472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cs typeface="Calibri"/>
              </a:rPr>
              <a:t>Process of strategically aligning mission, vision, practices, processes and outcomes with changing practices &amp; external environment </a:t>
            </a:r>
          </a:p>
        </p:txBody>
      </p:sp>
      <p:sp>
        <p:nvSpPr>
          <p:cNvPr id="601" name="Arrow: Down 600">
            <a:extLst>
              <a:ext uri="{FF2B5EF4-FFF2-40B4-BE49-F238E27FC236}">
                <a16:creationId xmlns:a16="http://schemas.microsoft.com/office/drawing/2014/main" id="{A4EED436-105D-4580-9EE5-8DE434F99406}"/>
              </a:ext>
            </a:extLst>
          </p:cNvPr>
          <p:cNvSpPr/>
          <p:nvPr/>
        </p:nvSpPr>
        <p:spPr>
          <a:xfrm>
            <a:off x="5804630" y="3607043"/>
            <a:ext cx="565727" cy="926673"/>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8" name="Picture 17" descr="A black background with red text&#10;&#10;Description automatically generated">
            <a:extLst>
              <a:ext uri="{FF2B5EF4-FFF2-40B4-BE49-F238E27FC236}">
                <a16:creationId xmlns:a16="http://schemas.microsoft.com/office/drawing/2014/main" id="{4BB12143-23E3-9064-487C-02067062E390}"/>
              </a:ext>
            </a:extLst>
          </p:cNvPr>
          <p:cNvPicPr>
            <a:picLocks noChangeAspect="1"/>
          </p:cNvPicPr>
          <p:nvPr/>
        </p:nvPicPr>
        <p:blipFill>
          <a:blip r:embed="rId3"/>
          <a:stretch>
            <a:fillRect/>
          </a:stretch>
        </p:blipFill>
        <p:spPr>
          <a:xfrm>
            <a:off x="10198601" y="5861217"/>
            <a:ext cx="1847850" cy="857250"/>
          </a:xfrm>
          <a:prstGeom prst="rect">
            <a:avLst/>
          </a:prstGeom>
        </p:spPr>
      </p:pic>
    </p:spTree>
    <p:extLst>
      <p:ext uri="{BB962C8B-B14F-4D97-AF65-F5344CB8AC3E}">
        <p14:creationId xmlns:p14="http://schemas.microsoft.com/office/powerpoint/2010/main" val="3091732282"/>
      </p:ext>
    </p:extLst>
  </p:cSld>
  <p:clrMapOvr>
    <a:masterClrMapping/>
  </p:clrMapOvr>
  <mc:AlternateContent xmlns:mc="http://schemas.openxmlformats.org/markup-compatibility/2006" xmlns:p14="http://schemas.microsoft.com/office/powerpoint/2010/main">
    <mc:Choice Requires="p14">
      <p:transition spd="slow" p14:dur="2000" advTm="66542"/>
    </mc:Choice>
    <mc:Fallback xmlns="">
      <p:transition spd="slow" advTm="665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8" name="Oval 517">
            <a:extLst>
              <a:ext uri="{FF2B5EF4-FFF2-40B4-BE49-F238E27FC236}">
                <a16:creationId xmlns:a16="http://schemas.microsoft.com/office/drawing/2014/main" id="{7E28B2E9-58E2-AF67-E2C6-ACADC62BD3DB}"/>
              </a:ext>
            </a:extLst>
          </p:cNvPr>
          <p:cNvSpPr/>
          <p:nvPr/>
        </p:nvSpPr>
        <p:spPr>
          <a:xfrm>
            <a:off x="6956136" y="46182"/>
            <a:ext cx="3636816" cy="3244271"/>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cs typeface="Calibri"/>
              </a:rPr>
              <a:t>Organizational Transformation</a:t>
            </a:r>
            <a:r>
              <a:rPr lang="en-US" sz="2800" b="1">
                <a:cs typeface="Calibri"/>
              </a:rPr>
              <a:t> </a:t>
            </a:r>
          </a:p>
        </p:txBody>
      </p:sp>
      <p:graphicFrame>
        <p:nvGraphicFramePr>
          <p:cNvPr id="5" name="Diagram 5">
            <a:extLst>
              <a:ext uri="{FF2B5EF4-FFF2-40B4-BE49-F238E27FC236}">
                <a16:creationId xmlns:a16="http://schemas.microsoft.com/office/drawing/2014/main" id="{700DAC64-03D6-6A2F-165F-8ACC4E840BF7}"/>
              </a:ext>
            </a:extLst>
          </p:cNvPr>
          <p:cNvGraphicFramePr>
            <a:graphicFrameLocks noGrp="1"/>
          </p:cNvGraphicFramePr>
          <p:nvPr>
            <p:ph idx="1"/>
            <p:extLst>
              <p:ext uri="{D42A27DB-BD31-4B8C-83A1-F6EECF244321}">
                <p14:modId xmlns:p14="http://schemas.microsoft.com/office/powerpoint/2010/main" val="3482320732"/>
              </p:ext>
            </p:extLst>
          </p:nvPr>
        </p:nvGraphicFramePr>
        <p:xfrm>
          <a:off x="502865" y="1316410"/>
          <a:ext cx="6466610" cy="3947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088EBCE-E62C-F564-0495-572F30023DA5}"/>
              </a:ext>
            </a:extLst>
          </p:cNvPr>
          <p:cNvSpPr>
            <a:spLocks noGrp="1"/>
          </p:cNvSpPr>
          <p:nvPr>
            <p:ph type="sldNum" sz="quarter" idx="12"/>
          </p:nvPr>
        </p:nvSpPr>
        <p:spPr/>
        <p:txBody>
          <a:bodyPr/>
          <a:lstStyle/>
          <a:p>
            <a:fld id="{915FAA45-AC5B-014B-9F74-53D558B73BE0}" type="slidenum">
              <a:rPr lang="en-US" smtClean="0"/>
              <a:pPr/>
              <a:t>9</a:t>
            </a:fld>
            <a:endParaRPr lang="en-US"/>
          </a:p>
        </p:txBody>
      </p:sp>
      <p:sp>
        <p:nvSpPr>
          <p:cNvPr id="600" name="Rectangle 599">
            <a:extLst>
              <a:ext uri="{FF2B5EF4-FFF2-40B4-BE49-F238E27FC236}">
                <a16:creationId xmlns:a16="http://schemas.microsoft.com/office/drawing/2014/main" id="{FD8338AC-F717-5BAC-208A-C955DCBCC44F}"/>
              </a:ext>
            </a:extLst>
          </p:cNvPr>
          <p:cNvSpPr/>
          <p:nvPr/>
        </p:nvSpPr>
        <p:spPr>
          <a:xfrm>
            <a:off x="5819822" y="4704013"/>
            <a:ext cx="6174993" cy="18472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cs typeface="Calibri"/>
              </a:rPr>
              <a:t>Process of strategically aligning  mission, vision, processes and outcomes. </a:t>
            </a:r>
          </a:p>
        </p:txBody>
      </p:sp>
      <p:sp>
        <p:nvSpPr>
          <p:cNvPr id="601" name="Arrow: Down 600">
            <a:extLst>
              <a:ext uri="{FF2B5EF4-FFF2-40B4-BE49-F238E27FC236}">
                <a16:creationId xmlns:a16="http://schemas.microsoft.com/office/drawing/2014/main" id="{A4EED436-105D-4580-9EE5-8DE434F99406}"/>
              </a:ext>
            </a:extLst>
          </p:cNvPr>
          <p:cNvSpPr/>
          <p:nvPr/>
        </p:nvSpPr>
        <p:spPr>
          <a:xfrm>
            <a:off x="8491682" y="3433254"/>
            <a:ext cx="565727" cy="1073725"/>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26" name="TextBox 525">
            <a:extLst>
              <a:ext uri="{FF2B5EF4-FFF2-40B4-BE49-F238E27FC236}">
                <a16:creationId xmlns:a16="http://schemas.microsoft.com/office/drawing/2014/main" id="{D9F35E32-8F69-0E47-1A59-B56649B2E8DC}"/>
              </a:ext>
            </a:extLst>
          </p:cNvPr>
          <p:cNvSpPr txBox="1"/>
          <p:nvPr/>
        </p:nvSpPr>
        <p:spPr>
          <a:xfrm>
            <a:off x="377470" y="728441"/>
            <a:ext cx="47882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Calibri"/>
                <a:cs typeface="Calibri"/>
              </a:rPr>
              <a:t>Why transformation?</a:t>
            </a:r>
            <a:endParaRPr lang="en-US" sz="3200" b="1"/>
          </a:p>
        </p:txBody>
      </p:sp>
      <p:pic>
        <p:nvPicPr>
          <p:cNvPr id="528" name="Picture 527" descr="A black background with red text&#10;&#10;Description automatically generated">
            <a:extLst>
              <a:ext uri="{FF2B5EF4-FFF2-40B4-BE49-F238E27FC236}">
                <a16:creationId xmlns:a16="http://schemas.microsoft.com/office/drawing/2014/main" id="{91025094-E37B-7AA2-6F48-0C74B8365A01}"/>
              </a:ext>
            </a:extLst>
          </p:cNvPr>
          <p:cNvPicPr>
            <a:picLocks noChangeAspect="1"/>
          </p:cNvPicPr>
          <p:nvPr/>
        </p:nvPicPr>
        <p:blipFill>
          <a:blip r:embed="rId8"/>
          <a:stretch>
            <a:fillRect/>
          </a:stretch>
        </p:blipFill>
        <p:spPr>
          <a:xfrm>
            <a:off x="239128" y="5914691"/>
            <a:ext cx="1901324" cy="803776"/>
          </a:xfrm>
          <a:prstGeom prst="rect">
            <a:avLst/>
          </a:prstGeom>
        </p:spPr>
      </p:pic>
    </p:spTree>
    <p:extLst>
      <p:ext uri="{BB962C8B-B14F-4D97-AF65-F5344CB8AC3E}">
        <p14:creationId xmlns:p14="http://schemas.microsoft.com/office/powerpoint/2010/main" val="468109170"/>
      </p:ext>
    </p:extLst>
  </p:cSld>
  <p:clrMapOvr>
    <a:masterClrMapping/>
  </p:clrMapOvr>
  <mc:AlternateContent xmlns:mc="http://schemas.openxmlformats.org/markup-compatibility/2006" xmlns:p14="http://schemas.microsoft.com/office/powerpoint/2010/main">
    <mc:Choice Requires="p14">
      <p:transition spd="slow" p14:dur="2000" advTm="66542"/>
    </mc:Choice>
    <mc:Fallback xmlns="">
      <p:transition spd="slow" advTm="665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C009D3-F5FD-1017-81E2-909D64211A78}"/>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defTabSz="914400"/>
            <a:r>
              <a:rPr lang="en-US" sz="4800" kern="1200">
                <a:solidFill>
                  <a:srgbClr val="FFFFFF"/>
                </a:solidFill>
                <a:latin typeface="+mj-lt"/>
                <a:ea typeface="+mj-ea"/>
                <a:cs typeface="+mj-cs"/>
              </a:rPr>
              <a:t>What are we transforming </a:t>
            </a:r>
            <a:r>
              <a:rPr lang="en-US" sz="4800" b="1" i="1" u="sng" kern="1200">
                <a:solidFill>
                  <a:srgbClr val="FFFFFF"/>
                </a:solidFill>
                <a:latin typeface="+mj-lt"/>
                <a:ea typeface="+mj-ea"/>
                <a:cs typeface="+mj-cs"/>
              </a:rPr>
              <a:t>to</a:t>
            </a:r>
            <a:r>
              <a:rPr lang="en-US" sz="4800" kern="1200">
                <a:solidFill>
                  <a:srgbClr val="FFFFFF"/>
                </a:solidFill>
                <a:latin typeface="+mj-lt"/>
                <a:ea typeface="+mj-ea"/>
                <a:cs typeface="+mj-cs"/>
              </a:rPr>
              <a:t>? </a:t>
            </a:r>
          </a:p>
        </p:txBody>
      </p:sp>
      <p:sp>
        <p:nvSpPr>
          <p:cNvPr id="4" name="Slide Number Placeholder 3">
            <a:extLst>
              <a:ext uri="{FF2B5EF4-FFF2-40B4-BE49-F238E27FC236}">
                <a16:creationId xmlns:a16="http://schemas.microsoft.com/office/drawing/2014/main" id="{0EA4A421-6D77-53AF-F549-E8FC2FD454A3}"/>
              </a:ext>
            </a:extLst>
          </p:cNvPr>
          <p:cNvSpPr>
            <a:spLocks noGrp="1"/>
          </p:cNvSpPr>
          <p:nvPr>
            <p:ph type="sldNum" sz="quarter" idx="12"/>
          </p:nvPr>
        </p:nvSpPr>
        <p:spPr>
          <a:xfrm>
            <a:off x="10926317" y="6423025"/>
            <a:ext cx="771525"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10</a:t>
            </a:fld>
            <a:endParaRPr lang="en-US" sz="1200"/>
          </a:p>
        </p:txBody>
      </p:sp>
      <p:graphicFrame>
        <p:nvGraphicFramePr>
          <p:cNvPr id="7" name="Content Placeholder 6">
            <a:extLst>
              <a:ext uri="{FF2B5EF4-FFF2-40B4-BE49-F238E27FC236}">
                <a16:creationId xmlns:a16="http://schemas.microsoft.com/office/drawing/2014/main" id="{8CF9CE97-590D-5869-E4D8-618316174C16}"/>
              </a:ext>
            </a:extLst>
          </p:cNvPr>
          <p:cNvGraphicFramePr>
            <a:graphicFrameLocks noGrp="1"/>
          </p:cNvGraphicFramePr>
          <p:nvPr>
            <p:ph idx="1"/>
            <p:extLst>
              <p:ext uri="{D42A27DB-BD31-4B8C-83A1-F6EECF244321}">
                <p14:modId xmlns:p14="http://schemas.microsoft.com/office/powerpoint/2010/main" val="3926284412"/>
              </p:ext>
            </p:extLst>
          </p:nvPr>
        </p:nvGraphicFramePr>
        <p:xfrm>
          <a:off x="5153822" y="654433"/>
          <a:ext cx="6553545" cy="3853183"/>
        </p:xfrm>
        <a:graphic>
          <a:graphicData uri="http://schemas.openxmlformats.org/drawingml/2006/table">
            <a:tbl>
              <a:tblPr firstRow="1" bandRow="1">
                <a:solidFill>
                  <a:schemeClr val="accent1">
                    <a:lumMod val="20000"/>
                    <a:lumOff val="80000"/>
                  </a:schemeClr>
                </a:solidFill>
                <a:tableStyleId>{5940675A-B579-460E-94D1-54222C63F5DA}</a:tableStyleId>
              </a:tblPr>
              <a:tblGrid>
                <a:gridCol w="3268078">
                  <a:extLst>
                    <a:ext uri="{9D8B030D-6E8A-4147-A177-3AD203B41FA5}">
                      <a16:colId xmlns:a16="http://schemas.microsoft.com/office/drawing/2014/main" val="2480370788"/>
                    </a:ext>
                  </a:extLst>
                </a:gridCol>
                <a:gridCol w="3285467">
                  <a:extLst>
                    <a:ext uri="{9D8B030D-6E8A-4147-A177-3AD203B41FA5}">
                      <a16:colId xmlns:a16="http://schemas.microsoft.com/office/drawing/2014/main" val="1397125312"/>
                    </a:ext>
                  </a:extLst>
                </a:gridCol>
              </a:tblGrid>
              <a:tr h="941507">
                <a:tc>
                  <a:txBody>
                    <a:bodyPr/>
                    <a:lstStyle/>
                    <a:p>
                      <a:pPr algn="ctr"/>
                      <a:r>
                        <a:rPr lang="en-US" sz="1600" b="1" cap="all" spc="60">
                          <a:solidFill>
                            <a:schemeClr val="bg1"/>
                          </a:solidFill>
                        </a:rPr>
                        <a:t>Historic or Legacy Models</a:t>
                      </a:r>
                    </a:p>
                  </a:txBody>
                  <a:tcPr marL="150240" marR="150240" marT="150240" marB="150240">
                    <a:lnL w="12700" cmpd="sng">
                      <a:solidFill>
                        <a:schemeClr val="tx1"/>
                      </a:solidFill>
                    </a:lnL>
                    <a:lnR w="12700" cmpd="sng">
                      <a:solidFill>
                        <a:schemeClr val="tx1"/>
                      </a:solidFill>
                    </a:lnR>
                    <a:lnT w="12700" cmpd="sng">
                      <a:solidFill>
                        <a:schemeClr val="tx1"/>
                      </a:solidFill>
                    </a:lnT>
                    <a:lnB w="12700" cmpd="sng">
                      <a:solidFill>
                        <a:schemeClr val="tx1"/>
                      </a:solidFill>
                    </a:lnB>
                    <a:solidFill>
                      <a:schemeClr val="accent1"/>
                    </a:solidFill>
                  </a:tcPr>
                </a:tc>
                <a:tc>
                  <a:txBody>
                    <a:bodyPr/>
                    <a:lstStyle/>
                    <a:p>
                      <a:pPr algn="ctr"/>
                      <a:r>
                        <a:rPr lang="en-US" sz="1600" b="1" cap="all" spc="60">
                          <a:solidFill>
                            <a:schemeClr val="bg1"/>
                          </a:solidFill>
                        </a:rPr>
                        <a:t>Best Practices, Emerging Practices &amp; Innovative Practices </a:t>
                      </a:r>
                    </a:p>
                  </a:txBody>
                  <a:tcPr marL="150240" marR="150240" marT="150240" marB="150240">
                    <a:lnL w="12700" cmpd="sng">
                      <a:solidFill>
                        <a:schemeClr val="tx1"/>
                      </a:solidFill>
                    </a:lnL>
                    <a:lnR w="12700" cmpd="sng">
                      <a:solidFill>
                        <a:schemeClr val="tx1"/>
                      </a:solidFill>
                    </a:lnR>
                    <a:lnT w="12700" cmpd="sng">
                      <a:solidFill>
                        <a:schemeClr val="tx1"/>
                      </a:solidFill>
                    </a:lnT>
                    <a:lnB w="12700" cmpd="sng">
                      <a:solidFill>
                        <a:schemeClr val="tx1"/>
                      </a:solidFill>
                    </a:lnB>
                    <a:solidFill>
                      <a:schemeClr val="accent1"/>
                    </a:solidFill>
                  </a:tcPr>
                </a:tc>
                <a:extLst>
                  <a:ext uri="{0D108BD9-81ED-4DB2-BD59-A6C34878D82A}">
                    <a16:rowId xmlns:a16="http://schemas.microsoft.com/office/drawing/2014/main" val="3483309127"/>
                  </a:ext>
                </a:extLst>
              </a:tr>
              <a:tr h="457399">
                <a:tc>
                  <a:txBody>
                    <a:bodyPr/>
                    <a:lstStyle/>
                    <a:p>
                      <a:r>
                        <a:rPr lang="en-US" sz="1800" cap="none" spc="0">
                          <a:solidFill>
                            <a:schemeClr val="tx1"/>
                          </a:solidFill>
                        </a:rPr>
                        <a:t>Center-based, congregate</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lnT>
                    <a:lnB w="12700" cmpd="sng">
                      <a:solidFill>
                        <a:schemeClr val="tx1"/>
                      </a:solidFill>
                      <a:prstDash val="solid"/>
                    </a:lnB>
                    <a:noFill/>
                  </a:tcPr>
                </a:tc>
                <a:tc>
                  <a:txBody>
                    <a:bodyPr/>
                    <a:lstStyle/>
                    <a:p>
                      <a:r>
                        <a:rPr lang="en-US" sz="1800" cap="none" spc="0">
                          <a:solidFill>
                            <a:schemeClr val="tx1"/>
                          </a:solidFill>
                        </a:rPr>
                        <a:t>Integrated, community-based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lnT>
                    <a:lnB w="12700" cmpd="sng">
                      <a:solidFill>
                        <a:schemeClr val="tx1"/>
                      </a:solidFill>
                      <a:prstDash val="solid"/>
                    </a:lnB>
                    <a:noFill/>
                  </a:tcPr>
                </a:tc>
                <a:extLst>
                  <a:ext uri="{0D108BD9-81ED-4DB2-BD59-A6C34878D82A}">
                    <a16:rowId xmlns:a16="http://schemas.microsoft.com/office/drawing/2014/main" val="2421315592"/>
                  </a:ext>
                </a:extLst>
              </a:tr>
              <a:tr h="724493">
                <a:tc>
                  <a:txBody>
                    <a:bodyPr/>
                    <a:lstStyle/>
                    <a:p>
                      <a:r>
                        <a:rPr lang="en-US" sz="1800" cap="none" spc="0">
                          <a:solidFill>
                            <a:schemeClr val="tx1"/>
                          </a:solidFill>
                        </a:rPr>
                        <a:t>Subminimum wage, sheltered and/or group employment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AE3F3">
                        <a:alpha val="50196"/>
                      </a:srgbClr>
                    </a:solidFill>
                  </a:tcPr>
                </a:tc>
                <a:tc>
                  <a:txBody>
                    <a:bodyPr/>
                    <a:lstStyle/>
                    <a:p>
                      <a:r>
                        <a:rPr lang="en-US" sz="1800" cap="none" spc="0">
                          <a:solidFill>
                            <a:schemeClr val="tx1"/>
                          </a:solidFill>
                        </a:rPr>
                        <a:t>Competitive integrated employment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AE3F3">
                        <a:alpha val="50196"/>
                      </a:srgbClr>
                    </a:solidFill>
                  </a:tcPr>
                </a:tc>
                <a:extLst>
                  <a:ext uri="{0D108BD9-81ED-4DB2-BD59-A6C34878D82A}">
                    <a16:rowId xmlns:a16="http://schemas.microsoft.com/office/drawing/2014/main" val="3187531366"/>
                  </a:ext>
                </a:extLst>
              </a:tr>
              <a:tr h="724493">
                <a:tc>
                  <a:txBody>
                    <a:bodyPr/>
                    <a:lstStyle/>
                    <a:p>
                      <a:r>
                        <a:rPr lang="en-US" sz="1800" cap="none" spc="0">
                          <a:solidFill>
                            <a:schemeClr val="tx1"/>
                          </a:solidFill>
                        </a:rPr>
                        <a:t>Group day programming</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r>
                        <a:rPr lang="en-US" sz="1800" cap="none" spc="0">
                          <a:solidFill>
                            <a:schemeClr val="tx1"/>
                          </a:solidFill>
                        </a:rPr>
                        <a:t>Holistic, individualized, </a:t>
                      </a:r>
                      <a:endParaRPr lang="en-US"/>
                    </a:p>
                    <a:p>
                      <a:pPr lvl="0">
                        <a:buNone/>
                      </a:pPr>
                      <a:r>
                        <a:rPr lang="en-US" sz="1800" cap="none" spc="0">
                          <a:solidFill>
                            <a:schemeClr val="tx1"/>
                          </a:solidFill>
                        </a:rPr>
                        <a:t>community life engagement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885388236"/>
                  </a:ext>
                </a:extLst>
              </a:tr>
              <a:tr h="457399">
                <a:tc>
                  <a:txBody>
                    <a:bodyPr/>
                    <a:lstStyle/>
                    <a:p>
                      <a:r>
                        <a:rPr lang="en-US" sz="1800" cap="none" spc="0">
                          <a:solidFill>
                            <a:schemeClr val="tx1"/>
                          </a:solidFill>
                        </a:rPr>
                        <a:t>Attendance based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AE3F3">
                        <a:alpha val="50196"/>
                      </a:srgbClr>
                    </a:solidFill>
                  </a:tcPr>
                </a:tc>
                <a:tc>
                  <a:txBody>
                    <a:bodyPr/>
                    <a:lstStyle/>
                    <a:p>
                      <a:r>
                        <a:rPr lang="en-US" sz="1800" cap="none" spc="0">
                          <a:solidFill>
                            <a:schemeClr val="tx1"/>
                          </a:solidFill>
                        </a:rPr>
                        <a:t>Outcome based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AE3F3">
                        <a:alpha val="50196"/>
                      </a:srgbClr>
                    </a:solidFill>
                  </a:tcPr>
                </a:tc>
                <a:extLst>
                  <a:ext uri="{0D108BD9-81ED-4DB2-BD59-A6C34878D82A}">
                    <a16:rowId xmlns:a16="http://schemas.microsoft.com/office/drawing/2014/main" val="2082963686"/>
                  </a:ext>
                </a:extLst>
              </a:tr>
              <a:tr h="457399">
                <a:tc>
                  <a:txBody>
                    <a:bodyPr/>
                    <a:lstStyle/>
                    <a:p>
                      <a:r>
                        <a:rPr lang="en-US" sz="1800" cap="none" spc="0">
                          <a:solidFill>
                            <a:schemeClr val="tx1"/>
                          </a:solidFill>
                        </a:rPr>
                        <a:t>Provider-centric programs</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r>
                        <a:rPr lang="en-US" sz="1800" cap="none" spc="0">
                          <a:solidFill>
                            <a:schemeClr val="tx1"/>
                          </a:solidFill>
                        </a:rPr>
                        <a:t>Person-centered services </a:t>
                      </a:r>
                    </a:p>
                  </a:txBody>
                  <a:tcPr marL="100160" marR="100160" marT="50080" marB="10016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3843973970"/>
                  </a:ext>
                </a:extLst>
              </a:tr>
            </a:tbl>
          </a:graphicData>
        </a:graphic>
      </p:graphicFrame>
      <p:sp>
        <p:nvSpPr>
          <p:cNvPr id="8" name="Arrow: Up 7">
            <a:extLst>
              <a:ext uri="{FF2B5EF4-FFF2-40B4-BE49-F238E27FC236}">
                <a16:creationId xmlns:a16="http://schemas.microsoft.com/office/drawing/2014/main" id="{44C28E99-2E75-3008-F5DB-9D5FE1856B17}"/>
              </a:ext>
            </a:extLst>
          </p:cNvPr>
          <p:cNvSpPr/>
          <p:nvPr/>
        </p:nvSpPr>
        <p:spPr>
          <a:xfrm>
            <a:off x="8775289" y="4596581"/>
            <a:ext cx="2630128" cy="2003321"/>
          </a:xfrm>
          <a:prstGeom prs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Calibri"/>
                <a:cs typeface="Calibri"/>
              </a:rPr>
              <a:t>These require updated business models!</a:t>
            </a:r>
          </a:p>
        </p:txBody>
      </p:sp>
      <p:pic>
        <p:nvPicPr>
          <p:cNvPr id="5" name="Picture 4" descr="A black background with red text&#10;&#10;Description automatically generated">
            <a:extLst>
              <a:ext uri="{FF2B5EF4-FFF2-40B4-BE49-F238E27FC236}">
                <a16:creationId xmlns:a16="http://schemas.microsoft.com/office/drawing/2014/main" id="{E47E91DD-2233-57D9-4681-3A331ADC38AD}"/>
              </a:ext>
            </a:extLst>
          </p:cNvPr>
          <p:cNvPicPr>
            <a:picLocks noChangeAspect="1"/>
          </p:cNvPicPr>
          <p:nvPr/>
        </p:nvPicPr>
        <p:blipFill>
          <a:blip r:embed="rId3"/>
          <a:stretch>
            <a:fillRect/>
          </a:stretch>
        </p:blipFill>
        <p:spPr>
          <a:xfrm>
            <a:off x="10860667" y="6223479"/>
            <a:ext cx="1110834" cy="544955"/>
          </a:xfrm>
          <a:prstGeom prst="rect">
            <a:avLst/>
          </a:prstGeom>
        </p:spPr>
      </p:pic>
    </p:spTree>
    <p:extLst>
      <p:ext uri="{BB962C8B-B14F-4D97-AF65-F5344CB8AC3E}">
        <p14:creationId xmlns:p14="http://schemas.microsoft.com/office/powerpoint/2010/main" val="1703162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5D0D83-C197-EC3B-31CC-56C1D89CD11B}"/>
              </a:ext>
            </a:extLst>
          </p:cNvPr>
          <p:cNvSpPr>
            <a:spLocks noGrp="1"/>
          </p:cNvSpPr>
          <p:nvPr>
            <p:ph type="title"/>
          </p:nvPr>
        </p:nvSpPr>
        <p:spPr>
          <a:xfrm>
            <a:off x="761803" y="350196"/>
            <a:ext cx="4646904" cy="1624520"/>
          </a:xfrm>
        </p:spPr>
        <p:txBody>
          <a:bodyPr anchor="ctr">
            <a:normAutofit/>
          </a:bodyPr>
          <a:lstStyle/>
          <a:p>
            <a:r>
              <a:rPr lang="en-US" sz="4000"/>
              <a:t>Polls </a:t>
            </a:r>
          </a:p>
        </p:txBody>
      </p:sp>
      <p:sp>
        <p:nvSpPr>
          <p:cNvPr id="3" name="Content Placeholder 2">
            <a:extLst>
              <a:ext uri="{FF2B5EF4-FFF2-40B4-BE49-F238E27FC236}">
                <a16:creationId xmlns:a16="http://schemas.microsoft.com/office/drawing/2014/main" id="{CE059942-9649-42F4-48FF-6AC7B0D28876}"/>
              </a:ext>
            </a:extLst>
          </p:cNvPr>
          <p:cNvSpPr>
            <a:spLocks noGrp="1"/>
          </p:cNvSpPr>
          <p:nvPr>
            <p:ph idx="1"/>
          </p:nvPr>
        </p:nvSpPr>
        <p:spPr>
          <a:xfrm>
            <a:off x="404615" y="2624138"/>
            <a:ext cx="6294064" cy="3732211"/>
          </a:xfrm>
        </p:spPr>
        <p:txBody>
          <a:bodyPr vert="horz" lIns="91440" tIns="45720" rIns="91440" bIns="45720" rtlCol="0" anchor="t">
            <a:normAutofit/>
          </a:bodyPr>
          <a:lstStyle/>
          <a:p>
            <a:pPr marL="457200" indent="-457200">
              <a:buAutoNum type="arabicPeriod"/>
            </a:pPr>
            <a:r>
              <a:rPr lang="en-US"/>
              <a:t>Is your organization engaged in </a:t>
            </a:r>
            <a:r>
              <a:rPr lang="en-US" b="1" i="1"/>
              <a:t>active</a:t>
            </a:r>
            <a:r>
              <a:rPr lang="en-US"/>
              <a:t> transformation now? Y/N</a:t>
            </a:r>
          </a:p>
          <a:p>
            <a:pPr marL="0" indent="0">
              <a:buNone/>
            </a:pPr>
            <a:r>
              <a:rPr lang="en-US"/>
              <a:t>2.     How far along are you:</a:t>
            </a:r>
          </a:p>
          <a:p>
            <a:pPr lvl="1">
              <a:buFont typeface="Courier New"/>
              <a:buChar char="o"/>
            </a:pPr>
            <a:r>
              <a:rPr lang="en-US" sz="2800"/>
              <a:t>Early </a:t>
            </a:r>
          </a:p>
          <a:p>
            <a:pPr lvl="1">
              <a:buFont typeface="Courier New" panose="020B0604020202020204" pitchFamily="34" charset="0"/>
              <a:buChar char="o"/>
            </a:pPr>
            <a:r>
              <a:rPr lang="en-US" sz="2800"/>
              <a:t>Middle</a:t>
            </a:r>
          </a:p>
          <a:p>
            <a:pPr lvl="1">
              <a:buFont typeface="Courier New" panose="020B0604020202020204" pitchFamily="34" charset="0"/>
              <a:buChar char="o"/>
            </a:pPr>
            <a:r>
              <a:rPr lang="en-US" sz="2800"/>
              <a:t>Late</a:t>
            </a:r>
          </a:p>
          <a:p>
            <a:pPr lvl="1">
              <a:buFont typeface="Courier New" panose="020B0604020202020204" pitchFamily="34" charset="0"/>
              <a:buChar char="o"/>
            </a:pPr>
            <a:r>
              <a:rPr lang="en-US" sz="2800"/>
              <a:t>Not sure....</a:t>
            </a:r>
          </a:p>
          <a:p>
            <a:pPr marL="0" indent="0">
              <a:buNone/>
            </a:pPr>
            <a:endParaRPr lang="en-US" sz="2000" b="1"/>
          </a:p>
          <a:p>
            <a:pPr marL="0" indent="0">
              <a:buNone/>
            </a:pPr>
            <a:endParaRPr lang="en-US" sz="2000" b="1"/>
          </a:p>
        </p:txBody>
      </p:sp>
      <p:pic>
        <p:nvPicPr>
          <p:cNvPr id="5" name="Picture 4" descr="One in a crowd">
            <a:extLst>
              <a:ext uri="{FF2B5EF4-FFF2-40B4-BE49-F238E27FC236}">
                <a16:creationId xmlns:a16="http://schemas.microsoft.com/office/drawing/2014/main" id="{50714396-A736-DF74-59BA-0D216BCECD5E}"/>
              </a:ext>
            </a:extLst>
          </p:cNvPr>
          <p:cNvPicPr>
            <a:picLocks noChangeAspect="1"/>
          </p:cNvPicPr>
          <p:nvPr/>
        </p:nvPicPr>
        <p:blipFill rotWithShape="1">
          <a:blip r:embed="rId3"/>
          <a:srcRect l="20268" r="12993" b="3"/>
          <a:stretch/>
        </p:blipFill>
        <p:spPr>
          <a:xfrm>
            <a:off x="7482589" y="624591"/>
            <a:ext cx="4703745" cy="5296526"/>
          </a:xfrm>
          <a:prstGeom prst="rect">
            <a:avLst/>
          </a:prstGeom>
        </p:spPr>
      </p:pic>
      <p:pic>
        <p:nvPicPr>
          <p:cNvPr id="6" name="Picture 5" descr="A black background with red text&#10;&#10;Description automatically generated">
            <a:extLst>
              <a:ext uri="{FF2B5EF4-FFF2-40B4-BE49-F238E27FC236}">
                <a16:creationId xmlns:a16="http://schemas.microsoft.com/office/drawing/2014/main" id="{8B7295D6-6F4C-681B-C85F-298B4E36B61E}"/>
              </a:ext>
            </a:extLst>
          </p:cNvPr>
          <p:cNvPicPr>
            <a:picLocks noChangeAspect="1"/>
          </p:cNvPicPr>
          <p:nvPr/>
        </p:nvPicPr>
        <p:blipFill>
          <a:blip r:embed="rId4"/>
          <a:stretch>
            <a:fillRect/>
          </a:stretch>
        </p:blipFill>
        <p:spPr>
          <a:xfrm>
            <a:off x="10698273" y="6048594"/>
            <a:ext cx="1348178" cy="619906"/>
          </a:xfrm>
          <a:prstGeom prst="rect">
            <a:avLst/>
          </a:prstGeom>
        </p:spPr>
      </p:pic>
    </p:spTree>
    <p:extLst>
      <p:ext uri="{BB962C8B-B14F-4D97-AF65-F5344CB8AC3E}">
        <p14:creationId xmlns:p14="http://schemas.microsoft.com/office/powerpoint/2010/main" val="1986468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2896" y="418642"/>
            <a:ext cx="4785990" cy="1073539"/>
          </a:xfrm>
        </p:spPr>
        <p:txBody>
          <a:bodyPr>
            <a:noAutofit/>
          </a:bodyPr>
          <a:lstStyle/>
          <a:p>
            <a:pPr algn="ctr"/>
            <a:r>
              <a:rPr lang="en-US" sz="3600" b="1" i="1">
                <a:latin typeface="+mn-lt"/>
                <a:ea typeface="+mn-ea"/>
                <a:cs typeface="+mn-cs"/>
              </a:rPr>
              <a:t>10 Essential Elements</a:t>
            </a:r>
            <a:br>
              <a:rPr lang="en-US" sz="3600" b="1" i="1">
                <a:latin typeface="+mn-lt"/>
                <a:ea typeface="+mn-ea"/>
                <a:cs typeface="+mn-cs"/>
              </a:rPr>
            </a:br>
            <a:r>
              <a:rPr lang="en-US" sz="3600" b="1" i="1">
                <a:latin typeface="+mn-lt"/>
                <a:ea typeface="+mn-ea"/>
                <a:cs typeface="+mn-cs"/>
              </a:rPr>
              <a:t>of Provider Transformation</a:t>
            </a:r>
          </a:p>
        </p:txBody>
      </p:sp>
      <p:sp>
        <p:nvSpPr>
          <p:cNvPr id="5" name="Rectangle 4">
            <a:extLst>
              <a:ext uri="{FF2B5EF4-FFF2-40B4-BE49-F238E27FC236}">
                <a16:creationId xmlns:a16="http://schemas.microsoft.com/office/drawing/2014/main" id="{802614FB-2C09-7E48-A88E-4A6E941BF62B}"/>
              </a:ext>
            </a:extLst>
          </p:cNvPr>
          <p:cNvSpPr/>
          <p:nvPr/>
        </p:nvSpPr>
        <p:spPr>
          <a:xfrm>
            <a:off x="1884827" y="751251"/>
            <a:ext cx="3748527" cy="23338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2800" b="1" i="0" u="none" strike="noStrike" kern="1200" cap="none" spc="0" normalizeH="0" baseline="0" noProof="0">
                <a:ln>
                  <a:noFill/>
                </a:ln>
                <a:solidFill>
                  <a:srgbClr val="558ED5"/>
                </a:solidFill>
                <a:effectLst/>
                <a:uLnTx/>
                <a:uFillTx/>
                <a:latin typeface="Candara" panose="020E0502030303020204" pitchFamily="34" charset="0"/>
                <a:ea typeface="+mn-ea"/>
                <a:cs typeface="+mn-cs"/>
              </a:rPr>
              <a:t>Leadership, Focus &amp; Values</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Clear and consistent goals</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Agency culture supports inclusion</a:t>
            </a:r>
          </a:p>
        </p:txBody>
      </p:sp>
      <p:sp>
        <p:nvSpPr>
          <p:cNvPr id="7" name="Rectangle 6">
            <a:extLst>
              <a:ext uri="{FF2B5EF4-FFF2-40B4-BE49-F238E27FC236}">
                <a16:creationId xmlns:a16="http://schemas.microsoft.com/office/drawing/2014/main" id="{0C366866-44B9-3D41-B13D-3CBCE57088DC}"/>
              </a:ext>
            </a:extLst>
          </p:cNvPr>
          <p:cNvSpPr/>
          <p:nvPr/>
        </p:nvSpPr>
        <p:spPr>
          <a:xfrm>
            <a:off x="1884827" y="3772900"/>
            <a:ext cx="3748526" cy="28950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800" b="1" i="0" u="none" strike="noStrike" kern="1200" cap="none" spc="0" normalizeH="0" baseline="0" noProof="0">
                <a:ln>
                  <a:noFill/>
                </a:ln>
                <a:solidFill>
                  <a:srgbClr val="558ED5"/>
                </a:solidFill>
                <a:effectLst/>
                <a:uLnTx/>
                <a:uFillTx/>
                <a:latin typeface="Candara" panose="020E0502030303020204" pitchFamily="34" charset="0"/>
                <a:ea typeface="+mn-ea"/>
                <a:cs typeface="+mn-cs"/>
              </a:rPr>
              <a:t>Infrastructure, Operations &amp; Finance</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Reallocated, restructured resources</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Strong communication plan</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Ongoing staff development</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Performance measurement &amp; QA</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Diverse community partnerships</a:t>
            </a:r>
          </a:p>
        </p:txBody>
      </p:sp>
      <p:sp>
        <p:nvSpPr>
          <p:cNvPr id="8" name="Rectangle 7">
            <a:extLst>
              <a:ext uri="{FF2B5EF4-FFF2-40B4-BE49-F238E27FC236}">
                <a16:creationId xmlns:a16="http://schemas.microsoft.com/office/drawing/2014/main" id="{D29F3F1E-CA9B-4143-872E-BD513DE16557}"/>
              </a:ext>
            </a:extLst>
          </p:cNvPr>
          <p:cNvSpPr/>
          <p:nvPr/>
        </p:nvSpPr>
        <p:spPr>
          <a:xfrm>
            <a:off x="6691582" y="1889602"/>
            <a:ext cx="3639088" cy="34762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Aft>
                <a:spcPts val="600"/>
              </a:spcAft>
              <a:defRPr/>
            </a:pPr>
            <a:r>
              <a:rPr kumimoji="0" lang="en-US" sz="2800" b="1" i="0" u="none" strike="noStrike" kern="1200" cap="none" spc="0" normalizeH="0" baseline="0" noProof="0">
                <a:ln>
                  <a:noFill/>
                </a:ln>
                <a:solidFill>
                  <a:srgbClr val="558ED5"/>
                </a:solidFill>
                <a:effectLst/>
                <a:uLnTx/>
                <a:uFillTx/>
                <a:latin typeface="Candara"/>
              </a:rPr>
              <a:t>Employment </a:t>
            </a:r>
            <a:r>
              <a:rPr lang="en-US" sz="2800" b="1">
                <a:solidFill>
                  <a:srgbClr val="558ED5"/>
                </a:solidFill>
                <a:latin typeface="Candara"/>
              </a:rPr>
              <a:t> </a:t>
            </a:r>
            <a:r>
              <a:rPr kumimoji="0" lang="en-US" sz="2800" b="1" i="0" u="none" strike="noStrike" kern="1200" cap="none" spc="0" normalizeH="0" baseline="0" noProof="0">
                <a:ln>
                  <a:noFill/>
                </a:ln>
                <a:solidFill>
                  <a:srgbClr val="558ED5"/>
                </a:solidFill>
                <a:effectLst/>
                <a:uLnTx/>
                <a:uFillTx/>
                <a:latin typeface="Candara"/>
              </a:rPr>
              <a:t>&amp; Community Life Engagement</a:t>
            </a:r>
            <a:r>
              <a:rPr lang="en-US" sz="2800" b="1">
                <a:solidFill>
                  <a:srgbClr val="558ED5"/>
                </a:solidFill>
                <a:latin typeface="Candara"/>
              </a:rPr>
              <a:t> Practices</a:t>
            </a:r>
            <a:endParaRPr kumimoji="0" lang="en-US" sz="2800" b="1" i="0" u="none" strike="noStrike" kern="1200" cap="none" spc="0" normalizeH="0" baseline="0" noProof="0">
              <a:ln>
                <a:noFill/>
              </a:ln>
              <a:solidFill>
                <a:srgbClr val="558ED5"/>
              </a:solidFill>
              <a:effectLst/>
              <a:uLnTx/>
              <a:uFillTx/>
              <a:latin typeface="Candara" panose="020E0502030303020204" pitchFamily="34" charset="0"/>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rPr>
              <a:t>Customer focus &amp; engagement</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rPr>
              <a:t>A holistic approach</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rPr>
              <a:t>Active person-centered job development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F81BD">
                  <a:lumMod val="75000"/>
                </a:srgbClr>
              </a:solidFill>
              <a:effectLst/>
              <a:uLnTx/>
              <a:uFillTx/>
              <a:latin typeface="Candara" panose="020E0502030303020204" pitchFamily="34" charset="0"/>
              <a:ea typeface="+mn-ea"/>
              <a:cs typeface="+mn-cs"/>
            </a:endParaRPr>
          </a:p>
        </p:txBody>
      </p:sp>
      <p:cxnSp>
        <p:nvCxnSpPr>
          <p:cNvPr id="10" name="Straight Arrow Connector 9">
            <a:extLst>
              <a:ext uri="{FF2B5EF4-FFF2-40B4-BE49-F238E27FC236}">
                <a16:creationId xmlns:a16="http://schemas.microsoft.com/office/drawing/2014/main" id="{33DC9B72-15A3-3B4A-B337-E6788DC3E7C4}"/>
              </a:ext>
            </a:extLst>
          </p:cNvPr>
          <p:cNvCxnSpPr/>
          <p:nvPr/>
        </p:nvCxnSpPr>
        <p:spPr>
          <a:xfrm>
            <a:off x="5729607" y="1918177"/>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56ED5D5-48FC-3F47-87A6-C58DF7290724}"/>
              </a:ext>
            </a:extLst>
          </p:cNvPr>
          <p:cNvCxnSpPr>
            <a:cxnSpLocks/>
          </p:cNvCxnSpPr>
          <p:nvPr/>
        </p:nvCxnSpPr>
        <p:spPr>
          <a:xfrm flipH="1">
            <a:off x="5729607" y="4705045"/>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27821DC-DECB-B24B-95AA-B24A9321DF05}"/>
              </a:ext>
            </a:extLst>
          </p:cNvPr>
          <p:cNvCxnSpPr>
            <a:cxnSpLocks/>
          </p:cNvCxnSpPr>
          <p:nvPr/>
        </p:nvCxnSpPr>
        <p:spPr>
          <a:xfrm>
            <a:off x="3692258" y="3142565"/>
            <a:ext cx="0" cy="572870"/>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10B5C56-7F5A-5C45-9CFB-AB89930EABD9}"/>
              </a:ext>
            </a:extLst>
          </p:cNvPr>
          <p:cNvSpPr txBox="1"/>
          <p:nvPr/>
        </p:nvSpPr>
        <p:spPr>
          <a:xfrm>
            <a:off x="1979197" y="192830"/>
            <a:ext cx="4701818" cy="461665"/>
          </a:xfrm>
          <a:prstGeom prst="rect">
            <a:avLst/>
          </a:prstGeom>
          <a:noFill/>
        </p:spPr>
        <p:txBody>
          <a:bodyPr wrap="square" lIns="91440" tIns="45720" rIns="91440" bIns="45720" anchor="t">
            <a:spAutoFit/>
          </a:bodyPr>
          <a:lstStyle/>
          <a:p>
            <a:pPr defTabSz="457200">
              <a:defRPr/>
            </a:pPr>
            <a:r>
              <a:rPr lang="en-US" sz="2400">
                <a:latin typeface="Candara"/>
                <a:hlinkClick r:id="rId3"/>
              </a:rPr>
              <a:t>www.thinkwork.org </a:t>
            </a:r>
            <a:endParaRPr lang="en-US" sz="2400" b="0" i="0" u="none" strike="noStrike" kern="1200" cap="none" spc="0" normalizeH="0" baseline="0" noProof="0">
              <a:ln>
                <a:noFill/>
              </a:ln>
              <a:effectLst/>
              <a:uLnTx/>
              <a:uFillTx/>
              <a:latin typeface="Candara" panose="020E0502030303020204" pitchFamily="34" charset="0"/>
            </a:endParaRPr>
          </a:p>
        </p:txBody>
      </p:sp>
      <p:pic>
        <p:nvPicPr>
          <p:cNvPr id="6" name="Picture 5" descr="Text&#10;&#10;Description automatically generated">
            <a:extLst>
              <a:ext uri="{FF2B5EF4-FFF2-40B4-BE49-F238E27FC236}">
                <a16:creationId xmlns:a16="http://schemas.microsoft.com/office/drawing/2014/main" id="{11AC9089-731F-309D-7603-43DE7782E25C}"/>
              </a:ext>
            </a:extLst>
          </p:cNvPr>
          <p:cNvPicPr>
            <a:picLocks noChangeAspect="1"/>
          </p:cNvPicPr>
          <p:nvPr/>
        </p:nvPicPr>
        <p:blipFill>
          <a:blip r:embed="rId4"/>
          <a:stretch>
            <a:fillRect/>
          </a:stretch>
        </p:blipFill>
        <p:spPr>
          <a:xfrm>
            <a:off x="326229" y="6123026"/>
            <a:ext cx="1180273" cy="552451"/>
          </a:xfrm>
          <a:prstGeom prst="rect">
            <a:avLst/>
          </a:prstGeom>
        </p:spPr>
      </p:pic>
      <p:pic>
        <p:nvPicPr>
          <p:cNvPr id="3" name="Picture 2" descr="A blue and green logo&#10;&#10;Description automatically generated">
            <a:extLst>
              <a:ext uri="{FF2B5EF4-FFF2-40B4-BE49-F238E27FC236}">
                <a16:creationId xmlns:a16="http://schemas.microsoft.com/office/drawing/2014/main" id="{46BA2D52-1FA6-574F-F553-ACC4FE18E20F}"/>
              </a:ext>
            </a:extLst>
          </p:cNvPr>
          <p:cNvPicPr>
            <a:picLocks noChangeAspect="1"/>
          </p:cNvPicPr>
          <p:nvPr/>
        </p:nvPicPr>
        <p:blipFill>
          <a:blip r:embed="rId5"/>
          <a:stretch>
            <a:fillRect/>
          </a:stretch>
        </p:blipFill>
        <p:spPr>
          <a:xfrm>
            <a:off x="6685935" y="5679151"/>
            <a:ext cx="4928419" cy="858280"/>
          </a:xfrm>
          <a:prstGeom prst="rect">
            <a:avLst/>
          </a:prstGeom>
        </p:spPr>
      </p:pic>
    </p:spTree>
    <p:extLst>
      <p:ext uri="{BB962C8B-B14F-4D97-AF65-F5344CB8AC3E}">
        <p14:creationId xmlns:p14="http://schemas.microsoft.com/office/powerpoint/2010/main" val="1954261869"/>
      </p:ext>
    </p:extLst>
  </p:cSld>
  <p:clrMapOvr>
    <a:masterClrMapping/>
  </p:clrMapOvr>
  <p:transition spd="slow" advTm="123317">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Online Media 5" title="Change is Good You Go First">
            <a:hlinkClick r:id="" action="ppaction://media"/>
            <a:extLst>
              <a:ext uri="{FF2B5EF4-FFF2-40B4-BE49-F238E27FC236}">
                <a16:creationId xmlns:a16="http://schemas.microsoft.com/office/drawing/2014/main" id="{2101AE66-D2C9-609B-1837-5DBEDA851E6D}"/>
              </a:ext>
            </a:extLst>
          </p:cNvPr>
          <p:cNvPicPr>
            <a:picLocks noGrp="1" noRot="1" noChangeAspect="1"/>
          </p:cNvPicPr>
          <p:nvPr>
            <p:ph idx="4294967295"/>
            <a:videoFile r:link="rId1"/>
          </p:nvPr>
        </p:nvPicPr>
        <p:blipFill>
          <a:blip r:embed="rId4"/>
          <a:stretch>
            <a:fillRect/>
          </a:stretch>
        </p:blipFill>
        <p:spPr>
          <a:xfrm>
            <a:off x="1622527" y="904415"/>
            <a:ext cx="8947150" cy="5054600"/>
          </a:xfrm>
          <a:prstGeom prst="rect">
            <a:avLst/>
          </a:prstGeom>
        </p:spPr>
      </p:pic>
      <p:pic>
        <p:nvPicPr>
          <p:cNvPr id="3" name="Picture 2" descr="A black background with red text&#10;&#10;Description automatically generated">
            <a:extLst>
              <a:ext uri="{FF2B5EF4-FFF2-40B4-BE49-F238E27FC236}">
                <a16:creationId xmlns:a16="http://schemas.microsoft.com/office/drawing/2014/main" id="{D46D69F1-C97C-3512-DE74-AFBD62105563}"/>
              </a:ext>
            </a:extLst>
          </p:cNvPr>
          <p:cNvPicPr>
            <a:picLocks noChangeAspect="1"/>
          </p:cNvPicPr>
          <p:nvPr/>
        </p:nvPicPr>
        <p:blipFill>
          <a:blip r:embed="rId5"/>
          <a:stretch>
            <a:fillRect/>
          </a:stretch>
        </p:blipFill>
        <p:spPr>
          <a:xfrm>
            <a:off x="10560863" y="6111053"/>
            <a:ext cx="1348178" cy="619906"/>
          </a:xfrm>
          <a:prstGeom prst="rect">
            <a:avLst/>
          </a:prstGeom>
        </p:spPr>
      </p:pic>
    </p:spTree>
    <p:extLst>
      <p:ext uri="{BB962C8B-B14F-4D97-AF65-F5344CB8AC3E}">
        <p14:creationId xmlns:p14="http://schemas.microsoft.com/office/powerpoint/2010/main" val="251273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A44E28-19D8-035F-CA9A-E13A7EBF423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The Gap Between</a:t>
            </a:r>
          </a:p>
        </p:txBody>
      </p:sp>
      <p:sp>
        <p:nvSpPr>
          <p:cNvPr id="3" name="Content Placeholder 2">
            <a:extLst>
              <a:ext uri="{FF2B5EF4-FFF2-40B4-BE49-F238E27FC236}">
                <a16:creationId xmlns:a16="http://schemas.microsoft.com/office/drawing/2014/main" id="{F82F9A1C-3132-E63F-6843-8B23774F3F0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Planning &amp; Implementation </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red text&#10;&#10;Description automatically generated">
            <a:extLst>
              <a:ext uri="{FF2B5EF4-FFF2-40B4-BE49-F238E27FC236}">
                <a16:creationId xmlns:a16="http://schemas.microsoft.com/office/drawing/2014/main" id="{82EA2B12-C189-AE8B-F465-5F9788F8D819}"/>
              </a:ext>
            </a:extLst>
          </p:cNvPr>
          <p:cNvPicPr>
            <a:picLocks noChangeAspect="1"/>
          </p:cNvPicPr>
          <p:nvPr/>
        </p:nvPicPr>
        <p:blipFill>
          <a:blip r:embed="rId2"/>
          <a:stretch>
            <a:fillRect/>
          </a:stretch>
        </p:blipFill>
        <p:spPr>
          <a:xfrm>
            <a:off x="10198601" y="5861217"/>
            <a:ext cx="1847850" cy="857250"/>
          </a:xfrm>
          <a:prstGeom prst="rect">
            <a:avLst/>
          </a:prstGeom>
        </p:spPr>
      </p:pic>
    </p:spTree>
    <p:extLst>
      <p:ext uri="{BB962C8B-B14F-4D97-AF65-F5344CB8AC3E}">
        <p14:creationId xmlns:p14="http://schemas.microsoft.com/office/powerpoint/2010/main" val="394167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0CE725-4C92-C1A5-6A23-14BA476C2A13}"/>
              </a:ext>
            </a:extLst>
          </p:cNvPr>
          <p:cNvPicPr>
            <a:picLocks noChangeAspect="1"/>
          </p:cNvPicPr>
          <p:nvPr/>
        </p:nvPicPr>
        <p:blipFill>
          <a:blip r:embed="rId3"/>
          <a:stretch>
            <a:fillRect/>
          </a:stretch>
        </p:blipFill>
        <p:spPr>
          <a:xfrm>
            <a:off x="1222664" y="1712768"/>
            <a:ext cx="9525000" cy="4762500"/>
          </a:xfrm>
          <a:prstGeom prst="rect">
            <a:avLst/>
          </a:prstGeom>
        </p:spPr>
      </p:pic>
      <p:pic>
        <p:nvPicPr>
          <p:cNvPr id="5" name="Picture 4" descr="A blue text on a black background&#10;&#10;Description automatically generated">
            <a:extLst>
              <a:ext uri="{FF2B5EF4-FFF2-40B4-BE49-F238E27FC236}">
                <a16:creationId xmlns:a16="http://schemas.microsoft.com/office/drawing/2014/main" id="{498D288D-7D17-822E-A42D-1993C5DF3536}"/>
              </a:ext>
            </a:extLst>
          </p:cNvPr>
          <p:cNvPicPr>
            <a:picLocks noChangeAspect="1"/>
          </p:cNvPicPr>
          <p:nvPr/>
        </p:nvPicPr>
        <p:blipFill>
          <a:blip r:embed="rId4"/>
          <a:stretch>
            <a:fillRect/>
          </a:stretch>
        </p:blipFill>
        <p:spPr>
          <a:xfrm>
            <a:off x="-110836" y="-6564"/>
            <a:ext cx="12192000" cy="1550982"/>
          </a:xfrm>
          <a:prstGeom prst="rect">
            <a:avLst/>
          </a:prstGeom>
        </p:spPr>
      </p:pic>
      <p:pic>
        <p:nvPicPr>
          <p:cNvPr id="3" name="Picture 2" descr="A logo for a company&#10;&#10;Description automatically generated">
            <a:extLst>
              <a:ext uri="{FF2B5EF4-FFF2-40B4-BE49-F238E27FC236}">
                <a16:creationId xmlns:a16="http://schemas.microsoft.com/office/drawing/2014/main" id="{54FFCA6B-20EF-FBCD-1C53-A0C92BCA1102}"/>
              </a:ext>
            </a:extLst>
          </p:cNvPr>
          <p:cNvPicPr>
            <a:picLocks noChangeAspect="1"/>
          </p:cNvPicPr>
          <p:nvPr/>
        </p:nvPicPr>
        <p:blipFill>
          <a:blip r:embed="rId5"/>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935616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plane flying in the sky&#10;&#10;Description automatically generated">
            <a:extLst>
              <a:ext uri="{FF2B5EF4-FFF2-40B4-BE49-F238E27FC236}">
                <a16:creationId xmlns:a16="http://schemas.microsoft.com/office/drawing/2014/main" id="{881B688E-571E-787A-A877-525572F8A758}"/>
              </a:ext>
            </a:extLst>
          </p:cNvPr>
          <p:cNvPicPr>
            <a:picLocks noGrp="1" noChangeAspect="1"/>
          </p:cNvPicPr>
          <p:nvPr>
            <p:ph idx="1"/>
          </p:nvPr>
        </p:nvPicPr>
        <p:blipFill rotWithShape="1">
          <a:blip r:embed="rId3">
            <a:extLst>
              <a:ext uri="{837473B0-CC2E-450A-ABE3-18F120FF3D39}">
                <a1611:picAttrSrcUrl xmlns:a1611="http://schemas.microsoft.com/office/drawing/2016/11/main" r:id="rId4"/>
              </a:ext>
            </a:extLst>
          </a:blip>
          <a:srcRect t="9620" b="7047"/>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A54D5-8ABB-96F2-5977-0AC0A6C70B0A}"/>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Flying the Plane While Building it</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4488630-2870-74D8-F654-970CA5E0EB6E}"/>
              </a:ext>
            </a:extLst>
          </p:cNvPr>
          <p:cNvSpPr txBox="1"/>
          <p:nvPr/>
        </p:nvSpPr>
        <p:spPr>
          <a:xfrm>
            <a:off x="9739085" y="6657945"/>
            <a:ext cx="2452915"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a:extLst>
                    <a:ext uri="{A12FA001-AC4F-418D-AE19-62706E023703}">
                      <ahyp:hlinkClr xmlns:ahyp="http://schemas.microsoft.com/office/drawing/2018/hyperlinkcolor" val="tx"/>
                    </a:ext>
                  </a:extLst>
                </a:hlinkClick>
              </a:rPr>
              <a:t>CC BY-SA</a:t>
            </a:r>
            <a:r>
              <a:rPr lang="en-US" sz="700">
                <a:solidFill>
                  <a:srgbClr val="FFFFFF"/>
                </a:solidFill>
              </a:rPr>
              <a:t>.</a:t>
            </a:r>
          </a:p>
        </p:txBody>
      </p:sp>
    </p:spTree>
    <p:extLst>
      <p:ext uri="{BB962C8B-B14F-4D97-AF65-F5344CB8AC3E}">
        <p14:creationId xmlns:p14="http://schemas.microsoft.com/office/powerpoint/2010/main" val="4073590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olorful atom with a black background&#10;&#10;Description automatically generated">
            <a:extLst>
              <a:ext uri="{FF2B5EF4-FFF2-40B4-BE49-F238E27FC236}">
                <a16:creationId xmlns:a16="http://schemas.microsoft.com/office/drawing/2014/main" id="{5F8ADA4F-2D3E-B0B5-85DD-D7A141AAA5D7}"/>
              </a:ext>
            </a:extLst>
          </p:cNvPr>
          <p:cNvPicPr>
            <a:picLocks noChangeAspect="1"/>
          </p:cNvPicPr>
          <p:nvPr/>
        </p:nvPicPr>
        <p:blipFill>
          <a:blip r:embed="rId3"/>
          <a:stretch>
            <a:fillRect/>
          </a:stretch>
        </p:blipFill>
        <p:spPr>
          <a:xfrm>
            <a:off x="1485870" y="184027"/>
            <a:ext cx="9399553" cy="603050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logo for a company&#10;&#10;Description automatically generated">
            <a:extLst>
              <a:ext uri="{FF2B5EF4-FFF2-40B4-BE49-F238E27FC236}">
                <a16:creationId xmlns:a16="http://schemas.microsoft.com/office/drawing/2014/main" id="{50182597-2EDD-F2E9-C7BA-D681FBF20F5C}"/>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006863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Video 37" descr="Bonfire Near The Lake">
            <a:extLst>
              <a:ext uri="{FF2B5EF4-FFF2-40B4-BE49-F238E27FC236}">
                <a16:creationId xmlns:a16="http://schemas.microsoft.com/office/drawing/2014/main" id="{8057ABA9-08B0-1456-A2A9-FBBF35F8E7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t="284" r="1" b="1"/>
          <a:stretch/>
        </p:blipFill>
        <p:spPr>
          <a:xfrm>
            <a:off x="-3047" y="10"/>
            <a:ext cx="12191999" cy="6857990"/>
          </a:xfrm>
          <a:prstGeom prst="rect">
            <a:avLst/>
          </a:prstGeom>
        </p:spPr>
      </p:pic>
      <p:sp>
        <p:nvSpPr>
          <p:cNvPr id="44" name="Rectangle 4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38735F-861B-4396-064F-10653E267475}"/>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6600">
                <a:solidFill>
                  <a:srgbClr val="FFFF00"/>
                </a:solidFill>
              </a:rPr>
              <a:t>Ready, Fire…… Aim!</a:t>
            </a:r>
          </a:p>
        </p:txBody>
      </p:sp>
    </p:spTree>
    <p:extLst>
      <p:ext uri="{BB962C8B-B14F-4D97-AF65-F5344CB8AC3E}">
        <p14:creationId xmlns:p14="http://schemas.microsoft.com/office/powerpoint/2010/main" val="2304813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20"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8"/>
                                        </p:tgtEl>
                                      </p:cBhvr>
                                    </p:cmd>
                                  </p:childTnLst>
                                </p:cTn>
                              </p:par>
                            </p:childTnLst>
                          </p:cTn>
                        </p:par>
                      </p:childTnLst>
                    </p:cTn>
                  </p:par>
                </p:childTnLst>
              </p:cTn>
              <p:nextCondLst>
                <p:cond evt="onClick" delay="0">
                  <p:tgtEl>
                    <p:spTgt spid="38"/>
                  </p:tgtEl>
                </p:cond>
              </p:nextCondLst>
            </p:seq>
            <p:video>
              <p:cMediaNode mute="1">
                <p:cTn id="12" repeatCount="indefinite" fill="hold" display="0">
                  <p:stCondLst>
                    <p:cond delay="indefinite"/>
                  </p:stCondLst>
                </p:cTn>
                <p:tgtEl>
                  <p:spTgt spid="38"/>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A44E28-19D8-035F-CA9A-E13A7EBF423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Taking Actionable Steps</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red text&#10;&#10;Description automatically generated">
            <a:extLst>
              <a:ext uri="{FF2B5EF4-FFF2-40B4-BE49-F238E27FC236}">
                <a16:creationId xmlns:a16="http://schemas.microsoft.com/office/drawing/2014/main" id="{82EA2B12-C189-AE8B-F465-5F9788F8D819}"/>
              </a:ext>
            </a:extLst>
          </p:cNvPr>
          <p:cNvPicPr>
            <a:picLocks noChangeAspect="1"/>
          </p:cNvPicPr>
          <p:nvPr/>
        </p:nvPicPr>
        <p:blipFill>
          <a:blip r:embed="rId2"/>
          <a:stretch>
            <a:fillRect/>
          </a:stretch>
        </p:blipFill>
        <p:spPr>
          <a:xfrm>
            <a:off x="10198601" y="5861217"/>
            <a:ext cx="1847850" cy="857250"/>
          </a:xfrm>
          <a:prstGeom prst="rect">
            <a:avLst/>
          </a:prstGeom>
        </p:spPr>
      </p:pic>
    </p:spTree>
    <p:extLst>
      <p:ext uri="{BB962C8B-B14F-4D97-AF65-F5344CB8AC3E}">
        <p14:creationId xmlns:p14="http://schemas.microsoft.com/office/powerpoint/2010/main" val="2043777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4849-2B28-A89E-9C38-7F3CF7DBCA78}"/>
              </a:ext>
            </a:extLst>
          </p:cNvPr>
          <p:cNvSpPr>
            <a:spLocks noGrp="1"/>
          </p:cNvSpPr>
          <p:nvPr>
            <p:ph type="title"/>
          </p:nvPr>
        </p:nvSpPr>
        <p:spPr>
          <a:xfrm>
            <a:off x="915071" y="2336"/>
            <a:ext cx="5176477" cy="1609996"/>
          </a:xfrm>
        </p:spPr>
        <p:txBody>
          <a:bodyPr anchor="b">
            <a:normAutofit fontScale="90000"/>
          </a:bodyPr>
          <a:lstStyle/>
          <a:p>
            <a:pPr algn="ctr"/>
            <a:r>
              <a:rPr lang="en-US" sz="5400"/>
              <a:t>Take smaller, manageable steps</a:t>
            </a:r>
          </a:p>
        </p:txBody>
      </p:sp>
      <p:sp>
        <p:nvSpPr>
          <p:cNvPr id="9" name="Content Placeholder 8">
            <a:extLst>
              <a:ext uri="{FF2B5EF4-FFF2-40B4-BE49-F238E27FC236}">
                <a16:creationId xmlns:a16="http://schemas.microsoft.com/office/drawing/2014/main" id="{BA1AB360-42F0-07C6-D98D-AE8FDD230A37}"/>
              </a:ext>
            </a:extLst>
          </p:cNvPr>
          <p:cNvSpPr>
            <a:spLocks noGrp="1"/>
          </p:cNvSpPr>
          <p:nvPr>
            <p:ph idx="1"/>
          </p:nvPr>
        </p:nvSpPr>
        <p:spPr>
          <a:xfrm>
            <a:off x="34062" y="2146896"/>
            <a:ext cx="7813656" cy="4343489"/>
          </a:xfrm>
          <a:solidFill>
            <a:schemeClr val="bg1"/>
          </a:solidFill>
        </p:spPr>
        <p:txBody>
          <a:bodyPr anchor="t">
            <a:normAutofit/>
          </a:bodyPr>
          <a:lstStyle/>
          <a:p>
            <a:pPr marL="0" indent="0" algn="ctr">
              <a:buNone/>
            </a:pPr>
            <a:r>
              <a:rPr lang="en-US" b="1"/>
              <a:t>Launch &amp; Benefits of Pilot Projects</a:t>
            </a:r>
          </a:p>
          <a:p>
            <a:pPr marL="0" indent="0" algn="ctr">
              <a:buNone/>
            </a:pPr>
            <a:endParaRPr lang="en-US" b="1"/>
          </a:p>
          <a:p>
            <a:r>
              <a:rPr lang="en-US"/>
              <a:t>Building confidence &amp; learning in practices</a:t>
            </a:r>
          </a:p>
          <a:p>
            <a:r>
              <a:rPr lang="en-US"/>
              <a:t>Building confidence in securing &amp; rebalancing of revenues </a:t>
            </a:r>
          </a:p>
          <a:p>
            <a:r>
              <a:rPr lang="en-US"/>
              <a:t>Evaluating metrics &amp; outcomes</a:t>
            </a:r>
          </a:p>
          <a:p>
            <a:r>
              <a:rPr lang="en-US"/>
              <a:t>Transferring learning to wider organizational practices</a:t>
            </a:r>
          </a:p>
          <a:p>
            <a:r>
              <a:rPr lang="en-US"/>
              <a:t>Setting attainable &amp; measurable goals</a:t>
            </a:r>
          </a:p>
          <a:p>
            <a:endParaRPr lang="en-US"/>
          </a:p>
        </p:txBody>
      </p:sp>
      <p:pic>
        <p:nvPicPr>
          <p:cNvPr id="5" name="Content Placeholder 4">
            <a:extLst>
              <a:ext uri="{FF2B5EF4-FFF2-40B4-BE49-F238E27FC236}">
                <a16:creationId xmlns:a16="http://schemas.microsoft.com/office/drawing/2014/main" id="{12C1311F-D0F8-6358-E3D5-2B8135C7EA95}"/>
              </a:ext>
            </a:extLst>
          </p:cNvPr>
          <p:cNvPicPr>
            <a:picLocks noChangeAspect="1"/>
          </p:cNvPicPr>
          <p:nvPr/>
        </p:nvPicPr>
        <p:blipFill>
          <a:blip r:embed="rId3"/>
          <a:stretch>
            <a:fillRect/>
          </a:stretch>
        </p:blipFill>
        <p:spPr>
          <a:xfrm>
            <a:off x="8102653" y="1052674"/>
            <a:ext cx="3744576" cy="4540424"/>
          </a:xfrm>
          <a:prstGeom prst="rect">
            <a:avLst/>
          </a:prstGeom>
        </p:spPr>
      </p:pic>
    </p:spTree>
    <p:extLst>
      <p:ext uri="{BB962C8B-B14F-4D97-AF65-F5344CB8AC3E}">
        <p14:creationId xmlns:p14="http://schemas.microsoft.com/office/powerpoint/2010/main" val="29636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A44E28-19D8-035F-CA9A-E13A7EBF423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Using Pilots </a:t>
            </a:r>
          </a:p>
        </p:txBody>
      </p:sp>
      <p:sp>
        <p:nvSpPr>
          <p:cNvPr id="3" name="Content Placeholder 2">
            <a:extLst>
              <a:ext uri="{FF2B5EF4-FFF2-40B4-BE49-F238E27FC236}">
                <a16:creationId xmlns:a16="http://schemas.microsoft.com/office/drawing/2014/main" id="{F82F9A1C-3132-E63F-6843-8B23774F3F0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to Plan and Move </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red text&#10;&#10;Description automatically generated">
            <a:extLst>
              <a:ext uri="{FF2B5EF4-FFF2-40B4-BE49-F238E27FC236}">
                <a16:creationId xmlns:a16="http://schemas.microsoft.com/office/drawing/2014/main" id="{82EA2B12-C189-AE8B-F465-5F9788F8D819}"/>
              </a:ext>
            </a:extLst>
          </p:cNvPr>
          <p:cNvPicPr>
            <a:picLocks noChangeAspect="1"/>
          </p:cNvPicPr>
          <p:nvPr/>
        </p:nvPicPr>
        <p:blipFill>
          <a:blip r:embed="rId2"/>
          <a:stretch>
            <a:fillRect/>
          </a:stretch>
        </p:blipFill>
        <p:spPr>
          <a:xfrm>
            <a:off x="10198601" y="5861217"/>
            <a:ext cx="1847850" cy="857250"/>
          </a:xfrm>
          <a:prstGeom prst="rect">
            <a:avLst/>
          </a:prstGeom>
        </p:spPr>
      </p:pic>
    </p:spTree>
    <p:extLst>
      <p:ext uri="{BB962C8B-B14F-4D97-AF65-F5344CB8AC3E}">
        <p14:creationId xmlns:p14="http://schemas.microsoft.com/office/powerpoint/2010/main" val="2798793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E4BF-B5AD-31D2-9C79-99615956E391}"/>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400" b="1" kern="1200">
                <a:latin typeface="+mj-lt"/>
                <a:ea typeface="+mj-ea"/>
                <a:cs typeface="+mj-cs"/>
              </a:rPr>
              <a:t>The Power of the </a:t>
            </a:r>
            <a:r>
              <a:rPr lang="en-US" sz="3400" b="1"/>
              <a:t>Pilot </a:t>
            </a:r>
            <a:br>
              <a:rPr lang="en-US" sz="3400">
                <a:ea typeface="Calibri Light"/>
                <a:cs typeface="Calibri Light"/>
              </a:rPr>
            </a:br>
            <a:br>
              <a:rPr lang="en-US" sz="3400">
                <a:ea typeface="Calibri Light"/>
                <a:cs typeface="Calibri Light"/>
              </a:rPr>
            </a:br>
            <a:r>
              <a:rPr lang="en-US" sz="3400" b="1" i="1" u="sng">
                <a:ea typeface="Calibri Light" panose="020F0302020204030204"/>
                <a:cs typeface="Calibri Light" panose="020F0302020204030204"/>
              </a:rPr>
              <a:t>What</a:t>
            </a:r>
            <a:r>
              <a:rPr lang="en-US" sz="3400" b="1" i="1">
                <a:ea typeface="Calibri Light" panose="020F0302020204030204"/>
                <a:cs typeface="Calibri Light" panose="020F0302020204030204"/>
              </a:rPr>
              <a:t> is it? </a:t>
            </a:r>
            <a:endParaRPr lang="en-US" sz="3400" b="1" i="1" kern="1200">
              <a:ea typeface="Calibri Light" panose="020F0302020204030204"/>
              <a:cs typeface="Calibri Light" panose="020F0302020204030204"/>
            </a:endParaRPr>
          </a:p>
        </p:txBody>
      </p:sp>
      <p:sp>
        <p:nvSpPr>
          <p:cNvPr id="41" name="Content Placeholder 40">
            <a:extLst>
              <a:ext uri="{FF2B5EF4-FFF2-40B4-BE49-F238E27FC236}">
                <a16:creationId xmlns:a16="http://schemas.microsoft.com/office/drawing/2014/main" id="{6749E0F2-DD5A-BDDC-3C9E-6C2B0AEA5700}"/>
              </a:ext>
            </a:extLst>
          </p:cNvPr>
          <p:cNvSpPr>
            <a:spLocks noGrp="1"/>
          </p:cNvSpPr>
          <p:nvPr>
            <p:ph idx="1"/>
          </p:nvPr>
        </p:nvSpPr>
        <p:spPr>
          <a:xfrm>
            <a:off x="158227" y="3097017"/>
            <a:ext cx="4994382" cy="3320668"/>
          </a:xfrm>
        </p:spPr>
        <p:txBody>
          <a:bodyPr vert="horz" lIns="91440" tIns="45720" rIns="91440" bIns="45720" rtlCol="0" anchor="t">
            <a:normAutofit/>
          </a:bodyPr>
          <a:lstStyle/>
          <a:p>
            <a:pPr marL="457200" indent="-457200"/>
            <a:r>
              <a:rPr lang="en-US">
                <a:ea typeface="Calibri" panose="020F0502020204030204"/>
                <a:cs typeface="Calibri" panose="020F0502020204030204"/>
              </a:rPr>
              <a:t>Small-scale, </a:t>
            </a:r>
          </a:p>
          <a:p>
            <a:pPr marL="457200" indent="-457200"/>
            <a:r>
              <a:rPr lang="en-US">
                <a:ea typeface="Calibri" panose="020F0502020204030204"/>
                <a:cs typeface="Calibri" panose="020F0502020204030204"/>
              </a:rPr>
              <a:t>time limited,</a:t>
            </a:r>
          </a:p>
          <a:p>
            <a:pPr marL="457200" indent="-457200"/>
            <a:r>
              <a:rPr lang="en-US">
                <a:ea typeface="Calibri" panose="020F0502020204030204"/>
                <a:cs typeface="Calibri" panose="020F0502020204030204"/>
              </a:rPr>
              <a:t>controlled trial </a:t>
            </a:r>
          </a:p>
          <a:p>
            <a:pPr marL="457200" indent="-457200"/>
            <a:r>
              <a:rPr lang="en-US" b="1" i="1">
                <a:ea typeface="Calibri" panose="020F0502020204030204"/>
                <a:cs typeface="Calibri" panose="020F0502020204030204"/>
              </a:rPr>
              <a:t>Your test phase!</a:t>
            </a:r>
            <a:endParaRPr lang="en-US"/>
          </a:p>
          <a:p>
            <a:pPr marL="0" indent="0">
              <a:buNone/>
            </a:pPr>
            <a:endParaRPr lang="en-US">
              <a:ea typeface="Calibri" panose="020F0502020204030204"/>
              <a:cs typeface="Calibri" panose="020F0502020204030204"/>
            </a:endParaRPr>
          </a:p>
        </p:txBody>
      </p:sp>
      <p:pic>
        <p:nvPicPr>
          <p:cNvPr id="57" name="Picture 56" descr="Time compass on hand">
            <a:extLst>
              <a:ext uri="{FF2B5EF4-FFF2-40B4-BE49-F238E27FC236}">
                <a16:creationId xmlns:a16="http://schemas.microsoft.com/office/drawing/2014/main" id="{DF1113F1-3267-0A30-59F1-8658F27F01D2}"/>
              </a:ext>
            </a:extLst>
          </p:cNvPr>
          <p:cNvPicPr>
            <a:picLocks noChangeAspect="1"/>
          </p:cNvPicPr>
          <p:nvPr/>
        </p:nvPicPr>
        <p:blipFill rotWithShape="1">
          <a:blip r:embed="rId3"/>
          <a:srcRect l="10064" r="2323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4" name="Picture 3" descr="A logo for a company&#10;&#10;Description automatically generated">
            <a:extLst>
              <a:ext uri="{FF2B5EF4-FFF2-40B4-BE49-F238E27FC236}">
                <a16:creationId xmlns:a16="http://schemas.microsoft.com/office/drawing/2014/main" id="{3BE02B94-8FEC-1DF4-4A60-3912EC2C4A92}"/>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787504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E4BF-B5AD-31D2-9C79-99615956E391}"/>
              </a:ext>
            </a:extLst>
          </p:cNvPr>
          <p:cNvSpPr>
            <a:spLocks noGrp="1"/>
          </p:cNvSpPr>
          <p:nvPr>
            <p:ph type="title"/>
          </p:nvPr>
        </p:nvSpPr>
        <p:spPr>
          <a:xfrm>
            <a:off x="125744" y="171717"/>
            <a:ext cx="7114042" cy="985432"/>
          </a:xfrm>
        </p:spPr>
        <p:txBody>
          <a:bodyPr vert="horz" lIns="91440" tIns="45720" rIns="91440" bIns="45720" rtlCol="0" anchor="b">
            <a:normAutofit/>
          </a:bodyPr>
          <a:lstStyle/>
          <a:p>
            <a:br>
              <a:rPr lang="en-US" sz="3200">
                <a:ea typeface="Calibri Light"/>
                <a:cs typeface="Calibri Light"/>
              </a:rPr>
            </a:br>
            <a:r>
              <a:rPr lang="en-US" sz="3200" b="1" i="1" u="sng">
                <a:ea typeface="Calibri Light" panose="020F0302020204030204"/>
                <a:cs typeface="Calibri Light" panose="020F0302020204030204"/>
              </a:rPr>
              <a:t>Why</a:t>
            </a:r>
            <a:r>
              <a:rPr lang="en-US" sz="3200" b="1" i="1">
                <a:ea typeface="Calibri Light" panose="020F0302020204030204"/>
                <a:cs typeface="Calibri Light" panose="020F0302020204030204"/>
              </a:rPr>
              <a:t> are pilots important?  </a:t>
            </a:r>
            <a:endParaRPr lang="en-US" sz="3200" b="1" i="1" kern="1200">
              <a:ea typeface="Calibri Light" panose="020F0302020204030204"/>
              <a:cs typeface="Calibri Light" panose="020F0302020204030204"/>
            </a:endParaRPr>
          </a:p>
        </p:txBody>
      </p:sp>
      <p:sp>
        <p:nvSpPr>
          <p:cNvPr id="41" name="Content Placeholder 40">
            <a:extLst>
              <a:ext uri="{FF2B5EF4-FFF2-40B4-BE49-F238E27FC236}">
                <a16:creationId xmlns:a16="http://schemas.microsoft.com/office/drawing/2014/main" id="{6749E0F2-DD5A-BDDC-3C9E-6C2B0AEA5700}"/>
              </a:ext>
            </a:extLst>
          </p:cNvPr>
          <p:cNvSpPr>
            <a:spLocks noGrp="1"/>
          </p:cNvSpPr>
          <p:nvPr>
            <p:ph idx="1"/>
          </p:nvPr>
        </p:nvSpPr>
        <p:spPr>
          <a:xfrm>
            <a:off x="127870" y="1979388"/>
            <a:ext cx="8640131" cy="3824932"/>
          </a:xfrm>
        </p:spPr>
        <p:txBody>
          <a:bodyPr vert="horz" lIns="91440" tIns="45720" rIns="91440" bIns="45720" rtlCol="0" anchor="t">
            <a:noAutofit/>
          </a:bodyPr>
          <a:lstStyle/>
          <a:p>
            <a:pPr marL="457200" indent="-457200"/>
            <a:r>
              <a:rPr lang="en-US">
                <a:ea typeface="Calibri" panose="020F0502020204030204"/>
                <a:cs typeface="Calibri" panose="020F0502020204030204"/>
              </a:rPr>
              <a:t>Real-world testing</a:t>
            </a:r>
          </a:p>
          <a:p>
            <a:pPr marL="457200" indent="-457200"/>
            <a:r>
              <a:rPr lang="en-US">
                <a:ea typeface="Calibri" panose="020F0502020204030204"/>
                <a:cs typeface="Calibri" panose="020F0502020204030204"/>
              </a:rPr>
              <a:t>Identify problems and solutions</a:t>
            </a:r>
          </a:p>
          <a:p>
            <a:pPr marL="457200" indent="-457200"/>
            <a:r>
              <a:rPr lang="en-US">
                <a:ea typeface="Calibri" panose="020F0502020204030204"/>
                <a:cs typeface="Calibri" panose="020F0502020204030204"/>
              </a:rPr>
              <a:t>Allows refinement </a:t>
            </a:r>
          </a:p>
          <a:p>
            <a:pPr marL="457200" indent="-457200"/>
            <a:r>
              <a:rPr lang="en-US">
                <a:ea typeface="Calibri" panose="020F0502020204030204"/>
                <a:cs typeface="Calibri" panose="020F0502020204030204"/>
              </a:rPr>
              <a:t>Build buy-in</a:t>
            </a:r>
          </a:p>
          <a:p>
            <a:pPr marL="457200" indent="-457200"/>
            <a:r>
              <a:rPr lang="en-US">
                <a:ea typeface="Calibri" panose="020F0502020204030204"/>
                <a:cs typeface="Calibri" panose="020F0502020204030204"/>
              </a:rPr>
              <a:t>Share stories </a:t>
            </a:r>
          </a:p>
          <a:p>
            <a:pPr marL="457200" indent="-457200"/>
            <a:r>
              <a:rPr lang="en-US">
                <a:ea typeface="Calibri" panose="020F0502020204030204"/>
                <a:cs typeface="Calibri" panose="020F0502020204030204"/>
              </a:rPr>
              <a:t>Allows you to '</a:t>
            </a:r>
            <a:r>
              <a:rPr lang="en-US" b="1" i="1">
                <a:ea typeface="Calibri" panose="020F0502020204030204"/>
                <a:cs typeface="Calibri" panose="020F0502020204030204"/>
              </a:rPr>
              <a:t>get it right</a:t>
            </a:r>
            <a:r>
              <a:rPr lang="en-US">
                <a:ea typeface="Calibri" panose="020F0502020204030204"/>
                <a:cs typeface="Calibri" panose="020F0502020204030204"/>
              </a:rPr>
              <a:t>' </a:t>
            </a:r>
          </a:p>
          <a:p>
            <a:pPr marL="457200" lvl="1" indent="0">
              <a:buNone/>
            </a:pPr>
            <a:r>
              <a:rPr lang="en-US">
                <a:ea typeface="Calibri" panose="020F0502020204030204"/>
                <a:cs typeface="Calibri" panose="020F0502020204030204"/>
              </a:rPr>
              <a:t>                               …..but be willing to come back to the table </a:t>
            </a:r>
          </a:p>
        </p:txBody>
      </p:sp>
      <p:pic>
        <p:nvPicPr>
          <p:cNvPr id="3" name="Picture 2" descr="A person holding a wooden steering wheel&#10;&#10;Description automatically generated">
            <a:extLst>
              <a:ext uri="{FF2B5EF4-FFF2-40B4-BE49-F238E27FC236}">
                <a16:creationId xmlns:a16="http://schemas.microsoft.com/office/drawing/2014/main" id="{5DE033F0-D648-E657-1C85-2BBBDC534957}"/>
              </a:ext>
            </a:extLst>
          </p:cNvPr>
          <p:cNvPicPr>
            <a:picLocks noChangeAspect="1"/>
          </p:cNvPicPr>
          <p:nvPr/>
        </p:nvPicPr>
        <p:blipFill rotWithShape="1">
          <a:blip r:embed="rId3"/>
          <a:srcRect l="20575" r="12472" b="-1"/>
          <a:stretch/>
        </p:blipFill>
        <p:spPr>
          <a:xfrm>
            <a:off x="8087296" y="660342"/>
            <a:ext cx="4103181" cy="4054687"/>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5" name="Picture 4" descr="A logo for a company&#10;&#10;Description automatically generated">
            <a:extLst>
              <a:ext uri="{FF2B5EF4-FFF2-40B4-BE49-F238E27FC236}">
                <a16:creationId xmlns:a16="http://schemas.microsoft.com/office/drawing/2014/main" id="{620EAA31-1AB2-004E-6481-8BE68FCC0F61}"/>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85968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71E3-6876-DB92-7A5A-EF152661A0DD}"/>
              </a:ext>
            </a:extLst>
          </p:cNvPr>
          <p:cNvSpPr>
            <a:spLocks noGrp="1"/>
          </p:cNvSpPr>
          <p:nvPr>
            <p:ph type="title"/>
          </p:nvPr>
        </p:nvSpPr>
        <p:spPr>
          <a:xfrm>
            <a:off x="343419" y="-282099"/>
            <a:ext cx="11481515" cy="1325563"/>
          </a:xfrm>
        </p:spPr>
        <p:txBody>
          <a:bodyPr/>
          <a:lstStyle/>
          <a:p>
            <a:r>
              <a:rPr lang="en-US" sz="3200" b="1" i="1" u="sng">
                <a:cs typeface="Calibri Light"/>
              </a:rPr>
              <a:t>Who</a:t>
            </a:r>
            <a:r>
              <a:rPr lang="en-US" sz="3200" b="1">
                <a:cs typeface="Calibri Light"/>
              </a:rPr>
              <a:t> should be involved in your pilot?</a:t>
            </a:r>
            <a:r>
              <a:rPr lang="en-US" b="1">
                <a:cs typeface="Calibri Light"/>
              </a:rPr>
              <a:t>   </a:t>
            </a:r>
            <a:endParaRPr lang="en-US" b="1"/>
          </a:p>
        </p:txBody>
      </p:sp>
      <p:sp>
        <p:nvSpPr>
          <p:cNvPr id="3" name="Content Placeholder 2">
            <a:extLst>
              <a:ext uri="{FF2B5EF4-FFF2-40B4-BE49-F238E27FC236}">
                <a16:creationId xmlns:a16="http://schemas.microsoft.com/office/drawing/2014/main" id="{CE235F29-0C5B-0F04-5281-EB9F86F7266E}"/>
              </a:ext>
            </a:extLst>
          </p:cNvPr>
          <p:cNvSpPr>
            <a:spLocks noGrp="1"/>
          </p:cNvSpPr>
          <p:nvPr>
            <p:ph idx="1"/>
          </p:nvPr>
        </p:nvSpPr>
        <p:spPr>
          <a:xfrm>
            <a:off x="116744" y="922358"/>
            <a:ext cx="6045234" cy="5689866"/>
          </a:xfrm>
        </p:spPr>
        <p:txBody>
          <a:bodyPr vert="horz" lIns="91440" tIns="45720" rIns="91440" bIns="45720" rtlCol="0" anchor="t">
            <a:normAutofit fontScale="92500" lnSpcReduction="20000"/>
          </a:bodyPr>
          <a:lstStyle/>
          <a:p>
            <a:r>
              <a:rPr lang="en-US" b="1">
                <a:cs typeface="Calibri" panose="020F0502020204030204"/>
              </a:rPr>
              <a:t>Identify 3-6 people &amp; families:</a:t>
            </a:r>
          </a:p>
          <a:p>
            <a:pPr lvl="1"/>
            <a:r>
              <a:rPr lang="en-US">
                <a:cs typeface="Calibri" panose="020F0502020204030204"/>
              </a:rPr>
              <a:t>Outcomes that align now</a:t>
            </a:r>
            <a:endParaRPr lang="en-US">
              <a:ea typeface="Calibri"/>
              <a:cs typeface="Calibri" panose="020F0502020204030204"/>
            </a:endParaRPr>
          </a:p>
          <a:p>
            <a:pPr lvl="1"/>
            <a:r>
              <a:rPr lang="en-US">
                <a:cs typeface="Calibri" panose="020F0502020204030204"/>
              </a:rPr>
              <a:t>Supportive </a:t>
            </a:r>
          </a:p>
          <a:p>
            <a:pPr lvl="1"/>
            <a:r>
              <a:rPr lang="en-US">
                <a:cs typeface="Calibri" panose="020F0502020204030204"/>
              </a:rPr>
              <a:t>Similar interests &amp; geography</a:t>
            </a:r>
          </a:p>
          <a:p>
            <a:r>
              <a:rPr lang="en-US" b="1">
                <a:cs typeface="Calibri" panose="020F0502020204030204"/>
              </a:rPr>
              <a:t>Identify 1 or 2 DSP champions </a:t>
            </a:r>
          </a:p>
          <a:p>
            <a:r>
              <a:rPr lang="en-US" b="1">
                <a:cs typeface="Calibri" panose="020F0502020204030204"/>
              </a:rPr>
              <a:t>Identify who else: </a:t>
            </a:r>
            <a:endParaRPr lang="en-US" b="1">
              <a:ea typeface="Calibri"/>
              <a:cs typeface="Calibri" panose="020F0502020204030204"/>
            </a:endParaRPr>
          </a:p>
          <a:p>
            <a:pPr lvl="1"/>
            <a:r>
              <a:rPr lang="en-US">
                <a:cs typeface="Calibri" panose="020F0502020204030204"/>
              </a:rPr>
              <a:t>Executive Director</a:t>
            </a:r>
          </a:p>
          <a:p>
            <a:pPr lvl="1"/>
            <a:r>
              <a:rPr lang="en-US">
                <a:cs typeface="Calibri" panose="020F0502020204030204"/>
              </a:rPr>
              <a:t>Designated coordinator</a:t>
            </a:r>
            <a:endParaRPr lang="en-US"/>
          </a:p>
          <a:p>
            <a:pPr lvl="1"/>
            <a:r>
              <a:rPr lang="en-US">
                <a:cs typeface="Calibri" panose="020F0502020204030204"/>
              </a:rPr>
              <a:t>Staff supervisor/manager </a:t>
            </a:r>
            <a:endParaRPr lang="en-US">
              <a:ea typeface="Calibri"/>
              <a:cs typeface="Calibri" panose="020F0502020204030204"/>
            </a:endParaRPr>
          </a:p>
          <a:p>
            <a:pPr lvl="1"/>
            <a:r>
              <a:rPr lang="en-US">
                <a:cs typeface="Calibri" panose="020F0502020204030204"/>
              </a:rPr>
              <a:t>Director(s) of Day and Employment </a:t>
            </a:r>
          </a:p>
          <a:p>
            <a:pPr lvl="1"/>
            <a:r>
              <a:rPr lang="en-US">
                <a:cs typeface="Calibri" panose="020F0502020204030204"/>
              </a:rPr>
              <a:t>Admin staff </a:t>
            </a:r>
          </a:p>
          <a:p>
            <a:pPr lvl="1"/>
            <a:r>
              <a:rPr lang="en-US">
                <a:cs typeface="Calibri" panose="020F0502020204030204"/>
              </a:rPr>
              <a:t>Finance/operations </a:t>
            </a:r>
            <a:endParaRPr lang="en-US">
              <a:ea typeface="Calibri"/>
              <a:cs typeface="Calibri" panose="020F0502020204030204"/>
            </a:endParaRPr>
          </a:p>
          <a:p>
            <a:pPr lvl="1"/>
            <a:r>
              <a:rPr lang="en-US">
                <a:cs typeface="Calibri" panose="020F0502020204030204"/>
              </a:rPr>
              <a:t>Nursing </a:t>
            </a:r>
          </a:p>
          <a:p>
            <a:pPr lvl="1"/>
            <a:r>
              <a:rPr lang="en-US">
                <a:cs typeface="Calibri" panose="020F0502020204030204"/>
              </a:rPr>
              <a:t>Transportation </a:t>
            </a:r>
          </a:p>
          <a:p>
            <a:pPr lvl="1"/>
            <a:r>
              <a:rPr lang="en-US">
                <a:cs typeface="Calibri" panose="020F0502020204030204"/>
              </a:rPr>
              <a:t>Communications </a:t>
            </a:r>
          </a:p>
          <a:p>
            <a:pPr lvl="1"/>
            <a:r>
              <a:rPr lang="en-US">
                <a:cs typeface="Calibri" panose="020F0502020204030204"/>
              </a:rPr>
              <a:t>HR/Training</a:t>
            </a:r>
          </a:p>
          <a:p>
            <a:pPr lvl="1"/>
            <a:r>
              <a:rPr lang="en-US" b="1" i="1">
                <a:cs typeface="Calibri" panose="020F0502020204030204"/>
              </a:rPr>
              <a:t>Who else? </a:t>
            </a:r>
          </a:p>
          <a:p>
            <a:pPr lvl="1"/>
            <a:endParaRPr lang="en-US">
              <a:cs typeface="Calibri" panose="020F0502020204030204"/>
            </a:endParaRPr>
          </a:p>
          <a:p>
            <a:pPr marL="457200" lvl="1" indent="0">
              <a:buNone/>
            </a:pPr>
            <a:endParaRPr lang="en-US">
              <a:cs typeface="Calibri" panose="020F0502020204030204"/>
            </a:endParaRPr>
          </a:p>
          <a:p>
            <a:pPr marL="457200" lvl="1" indent="0">
              <a:buNone/>
            </a:pPr>
            <a:endParaRPr lang="en-US">
              <a:cs typeface="Calibri" panose="020F0502020204030204"/>
            </a:endParaRPr>
          </a:p>
        </p:txBody>
      </p:sp>
      <p:pic>
        <p:nvPicPr>
          <p:cNvPr id="7" name="Picture 6" descr="A logo for a company&#10;&#10;Description automatically generated">
            <a:extLst>
              <a:ext uri="{FF2B5EF4-FFF2-40B4-BE49-F238E27FC236}">
                <a16:creationId xmlns:a16="http://schemas.microsoft.com/office/drawing/2014/main" id="{B75520B6-9AC5-6D11-157C-214A7614EE29}"/>
              </a:ext>
            </a:extLst>
          </p:cNvPr>
          <p:cNvPicPr>
            <a:picLocks noChangeAspect="1"/>
          </p:cNvPicPr>
          <p:nvPr/>
        </p:nvPicPr>
        <p:blipFill>
          <a:blip r:embed="rId3"/>
          <a:stretch>
            <a:fillRect/>
          </a:stretch>
        </p:blipFill>
        <p:spPr>
          <a:xfrm>
            <a:off x="11117084" y="6231094"/>
            <a:ext cx="915608" cy="459615"/>
          </a:xfrm>
          <a:prstGeom prst="rect">
            <a:avLst/>
          </a:prstGeom>
        </p:spPr>
      </p:pic>
      <p:pic>
        <p:nvPicPr>
          <p:cNvPr id="6" name="Picture 5" descr="A cartoon of a group of people around a table&#10;&#10;Description automatically generated">
            <a:extLst>
              <a:ext uri="{FF2B5EF4-FFF2-40B4-BE49-F238E27FC236}">
                <a16:creationId xmlns:a16="http://schemas.microsoft.com/office/drawing/2014/main" id="{51BC00CF-57C3-B7ED-82CE-7A4FC4BFFD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81707" y="848263"/>
            <a:ext cx="2398825" cy="1841948"/>
          </a:xfrm>
          <a:prstGeom prst="rect">
            <a:avLst/>
          </a:prstGeom>
        </p:spPr>
      </p:pic>
      <p:sp>
        <p:nvSpPr>
          <p:cNvPr id="8" name="Arrow: Left 7">
            <a:extLst>
              <a:ext uri="{FF2B5EF4-FFF2-40B4-BE49-F238E27FC236}">
                <a16:creationId xmlns:a16="http://schemas.microsoft.com/office/drawing/2014/main" id="{9758BEAC-8313-D223-FA36-32FF3474E187}"/>
              </a:ext>
            </a:extLst>
          </p:cNvPr>
          <p:cNvSpPr/>
          <p:nvPr/>
        </p:nvSpPr>
        <p:spPr>
          <a:xfrm>
            <a:off x="6164986" y="3098069"/>
            <a:ext cx="5711003" cy="220917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ea typeface="Calibri"/>
                <a:cs typeface="Calibri"/>
              </a:rPr>
              <a:t>Create a Core Team </a:t>
            </a:r>
            <a:endParaRPr lang="en-US" sz="3200" b="1"/>
          </a:p>
        </p:txBody>
      </p:sp>
    </p:spTree>
    <p:extLst>
      <p:ext uri="{BB962C8B-B14F-4D97-AF65-F5344CB8AC3E}">
        <p14:creationId xmlns:p14="http://schemas.microsoft.com/office/powerpoint/2010/main" val="512009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B8DA8-CC4C-8D0E-40ED-33CEE225921C}"/>
              </a:ext>
            </a:extLst>
          </p:cNvPr>
          <p:cNvSpPr>
            <a:spLocks noGrp="1"/>
          </p:cNvSpPr>
          <p:nvPr>
            <p:ph type="title"/>
          </p:nvPr>
        </p:nvSpPr>
        <p:spPr>
          <a:xfrm>
            <a:off x="112070" y="214710"/>
            <a:ext cx="8013328" cy="693636"/>
          </a:xfrm>
        </p:spPr>
        <p:txBody>
          <a:bodyPr anchor="b">
            <a:normAutofit/>
          </a:bodyPr>
          <a:lstStyle/>
          <a:p>
            <a:r>
              <a:rPr lang="en-US" sz="4000" b="1" i="1" u="sng">
                <a:cs typeface="Calibri Light"/>
              </a:rPr>
              <a:t>How </a:t>
            </a:r>
            <a:r>
              <a:rPr lang="en-US" sz="4000" b="1">
                <a:cs typeface="Calibri Light"/>
              </a:rPr>
              <a:t>should your pilot be used? </a:t>
            </a:r>
          </a:p>
        </p:txBody>
      </p:sp>
      <p:sp>
        <p:nvSpPr>
          <p:cNvPr id="3" name="Content Placeholder 2">
            <a:extLst>
              <a:ext uri="{FF2B5EF4-FFF2-40B4-BE49-F238E27FC236}">
                <a16:creationId xmlns:a16="http://schemas.microsoft.com/office/drawing/2014/main" id="{33D93B98-6A93-4A72-4782-6A91D788741A}"/>
              </a:ext>
            </a:extLst>
          </p:cNvPr>
          <p:cNvSpPr>
            <a:spLocks noGrp="1"/>
          </p:cNvSpPr>
          <p:nvPr>
            <p:ph idx="1"/>
          </p:nvPr>
        </p:nvSpPr>
        <p:spPr>
          <a:xfrm>
            <a:off x="311939" y="1081337"/>
            <a:ext cx="9762181" cy="4684328"/>
          </a:xfrm>
        </p:spPr>
        <p:txBody>
          <a:bodyPr vert="horz" lIns="91440" tIns="45720" rIns="91440" bIns="45720" rtlCol="0" anchor="t">
            <a:noAutofit/>
          </a:bodyPr>
          <a:lstStyle/>
          <a:p>
            <a:r>
              <a:rPr lang="en-US" sz="2400"/>
              <a:t>Establish or refine processes </a:t>
            </a:r>
          </a:p>
          <a:p>
            <a:r>
              <a:rPr lang="en-US" sz="2400"/>
              <a:t>Identify tools needed </a:t>
            </a:r>
          </a:p>
          <a:p>
            <a:r>
              <a:rPr lang="en-US" sz="2400"/>
              <a:t>Establish new communication flows &amp; frequency:</a:t>
            </a:r>
          </a:p>
          <a:p>
            <a:pPr lvl="1">
              <a:buFont typeface="Courier New" panose="020B0604020202020204" pitchFamily="34" charset="0"/>
              <a:buChar char="o"/>
            </a:pPr>
            <a:r>
              <a:rPr lang="en-US"/>
              <a:t>What's happening</a:t>
            </a:r>
          </a:p>
          <a:p>
            <a:pPr lvl="1">
              <a:buFont typeface="Courier New" panose="020B0604020202020204" pitchFamily="34" charset="0"/>
              <a:buChar char="o"/>
            </a:pPr>
            <a:r>
              <a:rPr lang="en-US"/>
              <a:t>What's working/what's not</a:t>
            </a:r>
          </a:p>
          <a:p>
            <a:pPr lvl="1">
              <a:buFont typeface="Courier New" panose="020B0604020202020204" pitchFamily="34" charset="0"/>
              <a:buChar char="o"/>
            </a:pPr>
            <a:r>
              <a:rPr lang="en-US"/>
              <a:t>What's coming next </a:t>
            </a:r>
          </a:p>
          <a:p>
            <a:pPr lvl="1">
              <a:buFont typeface="Courier New" panose="020B0604020202020204" pitchFamily="34" charset="0"/>
              <a:buChar char="o"/>
            </a:pPr>
            <a:r>
              <a:rPr lang="en-US"/>
              <a:t>How do we handle speedbumps </a:t>
            </a:r>
          </a:p>
          <a:p>
            <a:r>
              <a:rPr lang="en-US" sz="2400"/>
              <a:t>Track costs &amp; revenue</a:t>
            </a:r>
          </a:p>
          <a:p>
            <a:r>
              <a:rPr lang="en-US" sz="2400"/>
              <a:t>Identify bridge funding to scale it up </a:t>
            </a:r>
          </a:p>
          <a:p>
            <a:r>
              <a:rPr lang="en-US" sz="2400"/>
              <a:t>Build your transformation plan </a:t>
            </a:r>
          </a:p>
          <a:p>
            <a:r>
              <a:rPr lang="en-US" sz="2400"/>
              <a:t>Partner with the state (and others!)</a:t>
            </a:r>
          </a:p>
          <a:p>
            <a:r>
              <a:rPr lang="en-US" sz="2400"/>
              <a:t>Build momentum </a:t>
            </a:r>
          </a:p>
          <a:p>
            <a:endParaRPr lang="en-US" sz="1300"/>
          </a:p>
        </p:txBody>
      </p:sp>
      <p:pic>
        <p:nvPicPr>
          <p:cNvPr id="6" name="Picture 5" descr="Image result for Refining Gold with Fire">
            <a:extLst>
              <a:ext uri="{FF2B5EF4-FFF2-40B4-BE49-F238E27FC236}">
                <a16:creationId xmlns:a16="http://schemas.microsoft.com/office/drawing/2014/main" id="{95FAEF95-6BA9-4BC6-6E8D-AC3D7AEA8CB9}"/>
              </a:ext>
            </a:extLst>
          </p:cNvPr>
          <p:cNvPicPr>
            <a:picLocks noChangeAspect="1"/>
          </p:cNvPicPr>
          <p:nvPr/>
        </p:nvPicPr>
        <p:blipFill rotWithShape="1">
          <a:blip r:embed="rId3"/>
          <a:srcRect r="4254" b="-1"/>
          <a:stretch/>
        </p:blipFill>
        <p:spPr>
          <a:xfrm>
            <a:off x="9933119" y="338563"/>
            <a:ext cx="2094988" cy="2045022"/>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13" name="Rectangle 1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for a company&#10;&#10;Description automatically generated">
            <a:extLst>
              <a:ext uri="{FF2B5EF4-FFF2-40B4-BE49-F238E27FC236}">
                <a16:creationId xmlns:a16="http://schemas.microsoft.com/office/drawing/2014/main" id="{4863EEC4-0EA5-4E01-5A5A-65F94BDC7B54}"/>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873751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C2F40-ADD6-6090-4AF9-A86CF06503EA}"/>
              </a:ext>
            </a:extLst>
          </p:cNvPr>
          <p:cNvSpPr>
            <a:spLocks noGrp="1"/>
          </p:cNvSpPr>
          <p:nvPr>
            <p:ph type="title"/>
          </p:nvPr>
        </p:nvSpPr>
        <p:spPr>
          <a:xfrm>
            <a:off x="282886" y="99937"/>
            <a:ext cx="6488402" cy="957447"/>
          </a:xfrm>
        </p:spPr>
        <p:txBody>
          <a:bodyPr anchor="ctr">
            <a:normAutofit/>
          </a:bodyPr>
          <a:lstStyle/>
          <a:p>
            <a:r>
              <a:rPr lang="en-US" sz="4000"/>
              <a:t>Your Core Team is </a:t>
            </a:r>
            <a:r>
              <a:rPr lang="en-US" sz="4000" b="1"/>
              <a:t>Modeling</a:t>
            </a:r>
            <a:r>
              <a:rPr lang="en-US" sz="4000"/>
              <a:t>!</a:t>
            </a:r>
          </a:p>
        </p:txBody>
      </p:sp>
      <p:sp>
        <p:nvSpPr>
          <p:cNvPr id="3" name="Content Placeholder 2">
            <a:extLst>
              <a:ext uri="{FF2B5EF4-FFF2-40B4-BE49-F238E27FC236}">
                <a16:creationId xmlns:a16="http://schemas.microsoft.com/office/drawing/2014/main" id="{2FD81724-395E-34EA-360B-9FDB27867FFB}"/>
              </a:ext>
            </a:extLst>
          </p:cNvPr>
          <p:cNvSpPr>
            <a:spLocks noGrp="1"/>
          </p:cNvSpPr>
          <p:nvPr>
            <p:ph idx="1"/>
          </p:nvPr>
        </p:nvSpPr>
        <p:spPr>
          <a:xfrm>
            <a:off x="418275" y="1280584"/>
            <a:ext cx="5971278" cy="4569310"/>
          </a:xfrm>
        </p:spPr>
        <p:txBody>
          <a:bodyPr vert="horz" lIns="91440" tIns="45720" rIns="91440" bIns="45720" rtlCol="0" anchor="ctr">
            <a:normAutofit fontScale="92500" lnSpcReduction="10000"/>
          </a:bodyPr>
          <a:lstStyle/>
          <a:p>
            <a:r>
              <a:rPr lang="en-US" sz="2400"/>
              <a:t>Values &amp; culture shift</a:t>
            </a:r>
          </a:p>
          <a:p>
            <a:r>
              <a:rPr lang="en-US" sz="2400"/>
              <a:t>Language</a:t>
            </a:r>
          </a:p>
          <a:p>
            <a:r>
              <a:rPr lang="en-US" sz="2400"/>
              <a:t>Communication </a:t>
            </a:r>
          </a:p>
          <a:p>
            <a:r>
              <a:rPr lang="en-US" sz="2400"/>
              <a:t>Problem solving </a:t>
            </a:r>
          </a:p>
          <a:p>
            <a:r>
              <a:rPr lang="en-US" sz="2400"/>
              <a:t>Metrics (what)</a:t>
            </a:r>
          </a:p>
          <a:p>
            <a:r>
              <a:rPr lang="en-US" sz="2400"/>
              <a:t>Data (results)</a:t>
            </a:r>
          </a:p>
          <a:p>
            <a:r>
              <a:rPr lang="en-US" sz="2400"/>
              <a:t>Story telling </a:t>
            </a:r>
          </a:p>
          <a:p>
            <a:r>
              <a:rPr lang="en-US" sz="2400"/>
              <a:t>Teamwork (everyone has a voice)</a:t>
            </a:r>
          </a:p>
          <a:p>
            <a:r>
              <a:rPr lang="en-US" sz="2400"/>
              <a:t>Process </a:t>
            </a:r>
          </a:p>
          <a:p>
            <a:r>
              <a:rPr lang="en-US" sz="2400"/>
              <a:t>Leadership &amp; management </a:t>
            </a:r>
          </a:p>
          <a:p>
            <a:r>
              <a:rPr lang="en-US" sz="2400"/>
              <a:t>What happens with thing go 'wrong'</a:t>
            </a:r>
          </a:p>
        </p:txBody>
      </p:sp>
      <p:pic>
        <p:nvPicPr>
          <p:cNvPr id="5" name="Picture 4" descr="People at the meeting desk">
            <a:extLst>
              <a:ext uri="{FF2B5EF4-FFF2-40B4-BE49-F238E27FC236}">
                <a16:creationId xmlns:a16="http://schemas.microsoft.com/office/drawing/2014/main" id="{CDD72A65-33F0-DFFA-0937-C34B5ABEE9B8}"/>
              </a:ext>
            </a:extLst>
          </p:cNvPr>
          <p:cNvPicPr>
            <a:picLocks noChangeAspect="1"/>
          </p:cNvPicPr>
          <p:nvPr/>
        </p:nvPicPr>
        <p:blipFill rotWithShape="1">
          <a:blip r:embed="rId3"/>
          <a:srcRect l="22650" r="33671" b="7"/>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pic>
        <p:nvPicPr>
          <p:cNvPr id="6" name="Picture 5" descr="A logo for a company&#10;&#10;Description automatically generated">
            <a:extLst>
              <a:ext uri="{FF2B5EF4-FFF2-40B4-BE49-F238E27FC236}">
                <a16:creationId xmlns:a16="http://schemas.microsoft.com/office/drawing/2014/main" id="{69CEFE56-BB2A-121C-F43E-B1D89A551846}"/>
              </a:ext>
            </a:extLst>
          </p:cNvPr>
          <p:cNvPicPr>
            <a:picLocks noChangeAspect="1"/>
          </p:cNvPicPr>
          <p:nvPr/>
        </p:nvPicPr>
        <p:blipFill>
          <a:blip r:embed="rId4"/>
          <a:stretch>
            <a:fillRect/>
          </a:stretch>
        </p:blipFill>
        <p:spPr>
          <a:xfrm>
            <a:off x="284961" y="6289709"/>
            <a:ext cx="915608" cy="459615"/>
          </a:xfrm>
          <a:prstGeom prst="rect">
            <a:avLst/>
          </a:prstGeom>
        </p:spPr>
      </p:pic>
    </p:spTree>
    <p:extLst>
      <p:ext uri="{BB962C8B-B14F-4D97-AF65-F5344CB8AC3E}">
        <p14:creationId xmlns:p14="http://schemas.microsoft.com/office/powerpoint/2010/main" val="2472940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48667-8B9A-F8F2-E191-E10C67B102AA}"/>
              </a:ext>
            </a:extLst>
          </p:cNvPr>
          <p:cNvSpPr>
            <a:spLocks noGrp="1"/>
          </p:cNvSpPr>
          <p:nvPr>
            <p:ph type="title"/>
          </p:nvPr>
        </p:nvSpPr>
        <p:spPr>
          <a:xfrm>
            <a:off x="6513788" y="365125"/>
            <a:ext cx="4840010" cy="851577"/>
          </a:xfrm>
        </p:spPr>
        <p:txBody>
          <a:bodyPr>
            <a:normAutofit/>
          </a:bodyPr>
          <a:lstStyle/>
          <a:p>
            <a:r>
              <a:rPr lang="en-US" b="1">
                <a:ea typeface="Calibri Light"/>
                <a:cs typeface="Calibri Light"/>
              </a:rPr>
              <a:t>Pilot = Opportunity</a:t>
            </a:r>
            <a:endParaRPr lang="en-US" b="1"/>
          </a:p>
        </p:txBody>
      </p:sp>
      <p:pic>
        <p:nvPicPr>
          <p:cNvPr id="5" name="Picture 4" descr="Large skydiving group mid-air">
            <a:extLst>
              <a:ext uri="{FF2B5EF4-FFF2-40B4-BE49-F238E27FC236}">
                <a16:creationId xmlns:a16="http://schemas.microsoft.com/office/drawing/2014/main" id="{0AF84BE8-879C-A0CD-6F48-D720E74CF188}"/>
              </a:ext>
            </a:extLst>
          </p:cNvPr>
          <p:cNvPicPr>
            <a:picLocks noChangeAspect="1"/>
          </p:cNvPicPr>
          <p:nvPr/>
        </p:nvPicPr>
        <p:blipFill rotWithShape="1">
          <a:blip r:embed="rId3"/>
          <a:srcRect l="20771" r="19919"/>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E9999C61-B174-D021-69D1-718544D4911D}"/>
              </a:ext>
            </a:extLst>
          </p:cNvPr>
          <p:cNvSpPr>
            <a:spLocks noGrp="1"/>
          </p:cNvSpPr>
          <p:nvPr>
            <p:ph idx="1"/>
          </p:nvPr>
        </p:nvSpPr>
        <p:spPr>
          <a:xfrm>
            <a:off x="6137341" y="1612373"/>
            <a:ext cx="5589094" cy="5083529"/>
          </a:xfrm>
        </p:spPr>
        <p:txBody>
          <a:bodyPr vert="horz" lIns="91440" tIns="45720" rIns="91440" bIns="45720" rtlCol="0" anchor="t">
            <a:noAutofit/>
          </a:bodyPr>
          <a:lstStyle/>
          <a:p>
            <a:pPr marL="457200" indent="-457200"/>
            <a:r>
              <a:rPr lang="en-US" sz="2400">
                <a:ea typeface="Calibri"/>
                <a:cs typeface="Calibri"/>
              </a:rPr>
              <a:t>Engage program participants in the process</a:t>
            </a:r>
            <a:endParaRPr lang="en-US" sz="2400"/>
          </a:p>
          <a:p>
            <a:pPr lvl="1"/>
            <a:r>
              <a:rPr lang="en-US">
                <a:ea typeface="Calibri"/>
                <a:cs typeface="Calibri"/>
              </a:rPr>
              <a:t>Foster shared ownership and accountability</a:t>
            </a:r>
          </a:p>
          <a:p>
            <a:pPr lvl="2"/>
            <a:r>
              <a:rPr lang="en-US" sz="2400">
                <a:ea typeface="Calibri"/>
                <a:cs typeface="Calibri"/>
              </a:rPr>
              <a:t>Shared planning</a:t>
            </a:r>
          </a:p>
          <a:p>
            <a:pPr lvl="2"/>
            <a:r>
              <a:rPr lang="en-US" sz="2400">
                <a:ea typeface="Calibri"/>
                <a:cs typeface="Calibri"/>
              </a:rPr>
              <a:t>Shared problem-solving</a:t>
            </a:r>
          </a:p>
          <a:p>
            <a:pPr lvl="1"/>
            <a:r>
              <a:rPr lang="en-US">
                <a:ea typeface="Calibri"/>
                <a:cs typeface="Calibri"/>
              </a:rPr>
              <a:t>Incorporate person-centered approach in "real time"</a:t>
            </a:r>
          </a:p>
          <a:p>
            <a:pPr lvl="2"/>
            <a:r>
              <a:rPr lang="en-US" sz="2400">
                <a:ea typeface="Calibri"/>
                <a:cs typeface="Calibri"/>
              </a:rPr>
              <a:t>Invite and include participant input, feedback, decision making</a:t>
            </a:r>
          </a:p>
          <a:p>
            <a:pPr lvl="2"/>
            <a:endParaRPr lang="en-US">
              <a:ea typeface="Calibri"/>
              <a:cs typeface="Calibri"/>
            </a:endParaRPr>
          </a:p>
        </p:txBody>
      </p:sp>
      <p:pic>
        <p:nvPicPr>
          <p:cNvPr id="6" name="Picture 5" descr="A logo for a company&#10;&#10;Description automatically generated">
            <a:extLst>
              <a:ext uri="{FF2B5EF4-FFF2-40B4-BE49-F238E27FC236}">
                <a16:creationId xmlns:a16="http://schemas.microsoft.com/office/drawing/2014/main" id="{D56BE268-3777-F6AB-C6E7-AC250ED95D25}"/>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2237623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645C7-B9A9-F960-1CD2-8D28DF8C0E46}"/>
              </a:ext>
            </a:extLst>
          </p:cNvPr>
          <p:cNvSpPr>
            <a:spLocks noGrp="1"/>
          </p:cNvSpPr>
          <p:nvPr>
            <p:ph type="title"/>
          </p:nvPr>
        </p:nvSpPr>
        <p:spPr>
          <a:xfrm>
            <a:off x="793662" y="386930"/>
            <a:ext cx="10066122" cy="1298448"/>
          </a:xfrm>
        </p:spPr>
        <p:txBody>
          <a:bodyPr anchor="b">
            <a:normAutofit/>
          </a:bodyPr>
          <a:lstStyle/>
          <a:p>
            <a:r>
              <a:rPr lang="en-US" sz="4800"/>
              <a:t>Keep a Sense of Urgency </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9C1A54E-6CF1-881C-23FE-D4A00C958C43}"/>
              </a:ext>
            </a:extLst>
          </p:cNvPr>
          <p:cNvSpPr>
            <a:spLocks noGrp="1"/>
          </p:cNvSpPr>
          <p:nvPr>
            <p:ph idx="1"/>
          </p:nvPr>
        </p:nvSpPr>
        <p:spPr>
          <a:xfrm>
            <a:off x="289396" y="2420215"/>
            <a:ext cx="7186691" cy="3673068"/>
          </a:xfrm>
        </p:spPr>
        <p:txBody>
          <a:bodyPr vert="horz" lIns="91440" tIns="45720" rIns="91440" bIns="45720" rtlCol="0" anchor="ctr">
            <a:normAutofit/>
          </a:bodyPr>
          <a:lstStyle/>
          <a:p>
            <a:r>
              <a:rPr lang="en-US" sz="3200"/>
              <a:t>Use the momentum to keep moving</a:t>
            </a:r>
          </a:p>
          <a:p>
            <a:r>
              <a:rPr lang="en-US" sz="3200"/>
              <a:t>Keep coming together</a:t>
            </a:r>
          </a:p>
          <a:p>
            <a:r>
              <a:rPr lang="en-US" sz="3200"/>
              <a:t>Keep problem solving</a:t>
            </a:r>
          </a:p>
          <a:p>
            <a:r>
              <a:rPr lang="en-US" sz="3200"/>
              <a:t>Admit mistakes</a:t>
            </a:r>
          </a:p>
          <a:p>
            <a:r>
              <a:rPr lang="en-US" sz="3200"/>
              <a:t>Remain transparent </a:t>
            </a:r>
          </a:p>
          <a:p>
            <a:endParaRPr lang="en-US" sz="2000"/>
          </a:p>
        </p:txBody>
      </p:sp>
      <p:pic>
        <p:nvPicPr>
          <p:cNvPr id="4" name="Picture 3" descr="A yellow sign with black text&#10;&#10;Description automatically generated">
            <a:extLst>
              <a:ext uri="{FF2B5EF4-FFF2-40B4-BE49-F238E27FC236}">
                <a16:creationId xmlns:a16="http://schemas.microsoft.com/office/drawing/2014/main" id="{F915E903-63C1-7988-F60A-E112F0464FA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651273" y="2786814"/>
            <a:ext cx="3306852" cy="2604862"/>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6172A59-E2B8-B8B5-74FE-5D3827D1F57D}"/>
              </a:ext>
            </a:extLst>
          </p:cNvPr>
          <p:cNvSpPr txBox="1"/>
          <p:nvPr/>
        </p:nvSpPr>
        <p:spPr>
          <a:xfrm>
            <a:off x="8639863" y="5998444"/>
            <a:ext cx="2318262"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a:extLst>
                    <a:ext uri="{A12FA001-AC4F-418D-AE19-62706E023703}">
                      <ahyp:hlinkClr xmlns:ahyp="http://schemas.microsoft.com/office/drawing/2018/hyperlinkcolor" val="tx"/>
                    </a:ext>
                  </a:extLst>
                </a:hlinkClick>
              </a:rPr>
              <a:t>CC BY</a:t>
            </a:r>
            <a:r>
              <a:rPr lang="en-US" sz="700">
                <a:solidFill>
                  <a:srgbClr val="FFFFFF"/>
                </a:solidFill>
              </a:rPr>
              <a:t>.</a:t>
            </a:r>
          </a:p>
        </p:txBody>
      </p:sp>
      <p:pic>
        <p:nvPicPr>
          <p:cNvPr id="7" name="Picture 6" descr="A logo for a company&#10;&#10;Description automatically generated">
            <a:extLst>
              <a:ext uri="{FF2B5EF4-FFF2-40B4-BE49-F238E27FC236}">
                <a16:creationId xmlns:a16="http://schemas.microsoft.com/office/drawing/2014/main" id="{6824E828-A838-1E25-7D58-329EB176C681}"/>
              </a:ext>
            </a:extLst>
          </p:cNvPr>
          <p:cNvPicPr>
            <a:picLocks noChangeAspect="1"/>
          </p:cNvPicPr>
          <p:nvPr/>
        </p:nvPicPr>
        <p:blipFill>
          <a:blip r:embed="rId6"/>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2459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8DA773-B3F2-F660-3046-4E88DDECE3F3}"/>
              </a:ext>
            </a:extLst>
          </p:cNvPr>
          <p:cNvSpPr>
            <a:spLocks noGrp="1"/>
          </p:cNvSpPr>
          <p:nvPr>
            <p:ph type="title"/>
          </p:nvPr>
        </p:nvSpPr>
        <p:spPr>
          <a:xfrm>
            <a:off x="793662" y="386930"/>
            <a:ext cx="10066122" cy="1298448"/>
          </a:xfrm>
        </p:spPr>
        <p:txBody>
          <a:bodyPr anchor="b">
            <a:normAutofit/>
          </a:bodyPr>
          <a:lstStyle/>
          <a:p>
            <a:r>
              <a:rPr lang="en-US" sz="4800"/>
              <a:t>Scale it Up! </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9AA4F7-FCB9-3C9E-67D5-A7F88DE6B55A}"/>
              </a:ext>
            </a:extLst>
          </p:cNvPr>
          <p:cNvSpPr>
            <a:spLocks noGrp="1"/>
          </p:cNvSpPr>
          <p:nvPr>
            <p:ph idx="1"/>
          </p:nvPr>
        </p:nvSpPr>
        <p:spPr>
          <a:xfrm>
            <a:off x="289397" y="2599509"/>
            <a:ext cx="7466838" cy="3639450"/>
          </a:xfrm>
        </p:spPr>
        <p:txBody>
          <a:bodyPr vert="horz" lIns="91440" tIns="45720" rIns="91440" bIns="45720" rtlCol="0" anchor="ctr">
            <a:normAutofit/>
          </a:bodyPr>
          <a:lstStyle/>
          <a:p>
            <a:r>
              <a:rPr lang="en-US" sz="3200"/>
              <a:t>What other activities may need to stop? </a:t>
            </a:r>
          </a:p>
          <a:p>
            <a:r>
              <a:rPr lang="en-US" sz="3200"/>
              <a:t>Budgets</a:t>
            </a:r>
          </a:p>
          <a:p>
            <a:r>
              <a:rPr lang="en-US" sz="3200"/>
              <a:t>Staffing</a:t>
            </a:r>
          </a:p>
          <a:p>
            <a:r>
              <a:rPr lang="en-US" sz="3200"/>
              <a:t>Training &amp; development</a:t>
            </a:r>
          </a:p>
          <a:p>
            <a:r>
              <a:rPr lang="en-US" sz="3200"/>
              <a:t>Processes </a:t>
            </a:r>
          </a:p>
          <a:p>
            <a:r>
              <a:rPr lang="en-US" sz="3200"/>
              <a:t>What happens if you don't scale up?</a:t>
            </a:r>
          </a:p>
        </p:txBody>
      </p:sp>
      <p:pic>
        <p:nvPicPr>
          <p:cNvPr id="4" name="Picture 3" descr="Image result for scale up operations">
            <a:extLst>
              <a:ext uri="{FF2B5EF4-FFF2-40B4-BE49-F238E27FC236}">
                <a16:creationId xmlns:a16="http://schemas.microsoft.com/office/drawing/2014/main" id="{F62FEA22-F37F-3A33-B214-185259E6105D}"/>
              </a:ext>
            </a:extLst>
          </p:cNvPr>
          <p:cNvPicPr>
            <a:picLocks noChangeAspect="1"/>
          </p:cNvPicPr>
          <p:nvPr/>
        </p:nvPicPr>
        <p:blipFill>
          <a:blip r:embed="rId3"/>
          <a:stretch>
            <a:fillRect/>
          </a:stretch>
        </p:blipFill>
        <p:spPr>
          <a:xfrm>
            <a:off x="7765932" y="2786814"/>
            <a:ext cx="3335270" cy="2728127"/>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ogo for a company&#10;&#10;Description automatically generated">
            <a:extLst>
              <a:ext uri="{FF2B5EF4-FFF2-40B4-BE49-F238E27FC236}">
                <a16:creationId xmlns:a16="http://schemas.microsoft.com/office/drawing/2014/main" id="{5A8FFB06-7B8A-C04E-9547-228CA051349A}"/>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912310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DE291-01AF-7E95-222B-4B10C67F6803}"/>
              </a:ext>
            </a:extLst>
          </p:cNvPr>
          <p:cNvSpPr>
            <a:spLocks noGrp="1"/>
          </p:cNvSpPr>
          <p:nvPr>
            <p:ph type="title"/>
          </p:nvPr>
        </p:nvSpPr>
        <p:spPr>
          <a:xfrm>
            <a:off x="793662" y="386930"/>
            <a:ext cx="10066122" cy="1298448"/>
          </a:xfrm>
        </p:spPr>
        <p:txBody>
          <a:bodyPr anchor="b">
            <a:normAutofit/>
          </a:bodyPr>
          <a:lstStyle/>
          <a:p>
            <a:r>
              <a:rPr lang="en-US" sz="4800"/>
              <a:t>Are we there yet? Managing Fatigue </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CF1516-CED6-EAF9-0944-511DECB4EAFD}"/>
              </a:ext>
            </a:extLst>
          </p:cNvPr>
          <p:cNvSpPr>
            <a:spLocks noGrp="1"/>
          </p:cNvSpPr>
          <p:nvPr>
            <p:ph idx="1"/>
          </p:nvPr>
        </p:nvSpPr>
        <p:spPr>
          <a:xfrm>
            <a:off x="345426" y="2600459"/>
            <a:ext cx="7191440" cy="3691111"/>
          </a:xfrm>
        </p:spPr>
        <p:txBody>
          <a:bodyPr vert="horz" lIns="91440" tIns="45720" rIns="91440" bIns="45720" rtlCol="0" anchor="ctr">
            <a:noAutofit/>
          </a:bodyPr>
          <a:lstStyle/>
          <a:p>
            <a:pPr marL="457200" indent="-457200"/>
            <a:r>
              <a:rPr lang="en-US"/>
              <a:t>Communicate clearly &amp; consistently</a:t>
            </a:r>
          </a:p>
          <a:p>
            <a:pPr marL="457200" indent="-457200"/>
            <a:r>
              <a:rPr lang="en-US"/>
              <a:t>Balance stretch goals with being realistic</a:t>
            </a:r>
          </a:p>
          <a:p>
            <a:pPr marL="457200" indent="-457200"/>
            <a:r>
              <a:rPr lang="en-US"/>
              <a:t>Prioritize pace and sequencing</a:t>
            </a:r>
          </a:p>
          <a:p>
            <a:pPr marL="457200" indent="-457200"/>
            <a:r>
              <a:rPr lang="en-US"/>
              <a:t>Offer support &amp; training</a:t>
            </a:r>
          </a:p>
          <a:p>
            <a:pPr marL="457200" indent="-457200"/>
            <a:r>
              <a:rPr lang="en-US"/>
              <a:t>Celebrate successes (small &amp; large)</a:t>
            </a:r>
          </a:p>
          <a:p>
            <a:pPr marL="457200" indent="-457200"/>
            <a:r>
              <a:rPr lang="en-US"/>
              <a:t>Promote work-life balance</a:t>
            </a:r>
          </a:p>
          <a:p>
            <a:pPr marL="457200" indent="-457200"/>
            <a:r>
              <a:rPr lang="en-US"/>
              <a:t>Lead by example </a:t>
            </a:r>
          </a:p>
          <a:p>
            <a:pPr marL="457200" indent="-457200"/>
            <a:endParaRPr lang="en-US" sz="2000" b="1" i="1"/>
          </a:p>
        </p:txBody>
      </p:sp>
      <p:pic>
        <p:nvPicPr>
          <p:cNvPr id="4" name="Picture 3" descr="A Laugh Every Day 93 Free Stock Photo - Public Domain Pictures">
            <a:extLst>
              <a:ext uri="{FF2B5EF4-FFF2-40B4-BE49-F238E27FC236}">
                <a16:creationId xmlns:a16="http://schemas.microsoft.com/office/drawing/2014/main" id="{987BD31C-CF9B-BE1A-0A78-88F53689DD04}"/>
              </a:ext>
            </a:extLst>
          </p:cNvPr>
          <p:cNvPicPr>
            <a:picLocks noChangeAspect="1"/>
          </p:cNvPicPr>
          <p:nvPr/>
        </p:nvPicPr>
        <p:blipFill rotWithShape="1">
          <a:blip r:embed="rId3"/>
          <a:srcRect t="8555" r="-1" b="19327"/>
          <a:stretch/>
        </p:blipFill>
        <p:spPr>
          <a:xfrm>
            <a:off x="7858558" y="2780881"/>
            <a:ext cx="3601082" cy="2512069"/>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ogo for a company&#10;&#10;Description automatically generated">
            <a:extLst>
              <a:ext uri="{FF2B5EF4-FFF2-40B4-BE49-F238E27FC236}">
                <a16:creationId xmlns:a16="http://schemas.microsoft.com/office/drawing/2014/main" id="{560A6C6E-A6AC-D221-500A-FC522B8F2BE6}"/>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640194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23CC52-B0A8-9744-39D0-BE3AD78C1BFB}"/>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b="1"/>
              <a:t>What is stopping you??</a:t>
            </a:r>
          </a:p>
        </p:txBody>
      </p:sp>
      <p:sp>
        <p:nvSpPr>
          <p:cNvPr id="104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BD3386AA-D5D5-0C6E-0E20-40B9ABB0CD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7830" y="2382109"/>
            <a:ext cx="5623799" cy="3922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FCE8877-4806-0FBD-98AA-F2B4DF834663}"/>
              </a:ext>
            </a:extLst>
          </p:cNvPr>
          <p:cNvPicPr>
            <a:picLocks noChangeAspect="1"/>
          </p:cNvPicPr>
          <p:nvPr/>
        </p:nvPicPr>
        <p:blipFill>
          <a:blip r:embed="rId3"/>
          <a:stretch>
            <a:fillRect/>
          </a:stretch>
        </p:blipFill>
        <p:spPr>
          <a:xfrm>
            <a:off x="6989289" y="3077857"/>
            <a:ext cx="4850440" cy="2413094"/>
          </a:xfrm>
          <a:prstGeom prst="rect">
            <a:avLst/>
          </a:prstGeom>
        </p:spPr>
      </p:pic>
      <p:pic>
        <p:nvPicPr>
          <p:cNvPr id="5" name="Picture 4" descr="A logo for a company&#10;&#10;Description automatically generated">
            <a:extLst>
              <a:ext uri="{FF2B5EF4-FFF2-40B4-BE49-F238E27FC236}">
                <a16:creationId xmlns:a16="http://schemas.microsoft.com/office/drawing/2014/main" id="{667E3062-D1E1-0E8C-3062-1FBAE9808BDF}"/>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2233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CC820B-D26A-88C7-8B07-B00264836767}"/>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 Stretch Break</a:t>
            </a:r>
          </a:p>
        </p:txBody>
      </p:sp>
      <p:sp>
        <p:nvSpPr>
          <p:cNvPr id="4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Wristwatch face">
            <a:extLst>
              <a:ext uri="{FF2B5EF4-FFF2-40B4-BE49-F238E27FC236}">
                <a16:creationId xmlns:a16="http://schemas.microsoft.com/office/drawing/2014/main" id="{0DEFFB61-3205-31BF-01CE-77F1A170503C}"/>
              </a:ext>
            </a:extLst>
          </p:cNvPr>
          <p:cNvPicPr>
            <a:picLocks noChangeAspect="1"/>
          </p:cNvPicPr>
          <p:nvPr/>
        </p:nvPicPr>
        <p:blipFill rotWithShape="1">
          <a:blip r:embed="rId3"/>
          <a:srcRect l="12780" r="20266"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46718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69CE5-8411-6B14-E971-8153E9C9F220}"/>
              </a:ext>
            </a:extLst>
          </p:cNvPr>
          <p:cNvSpPr>
            <a:spLocks noGrp="1"/>
          </p:cNvSpPr>
          <p:nvPr>
            <p:ph type="title"/>
          </p:nvPr>
        </p:nvSpPr>
        <p:spPr>
          <a:xfrm>
            <a:off x="838200" y="365125"/>
            <a:ext cx="10515600" cy="1325563"/>
          </a:xfrm>
        </p:spPr>
        <p:txBody>
          <a:bodyPr>
            <a:normAutofit/>
          </a:bodyPr>
          <a:lstStyle/>
          <a:p>
            <a:r>
              <a:rPr lang="en-US" sz="5400" b="1"/>
              <a:t>Making a Plan to Move Forward </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FD6947-4E68-FEBE-D55C-05C76B172FB5}"/>
              </a:ext>
            </a:extLst>
          </p:cNvPr>
          <p:cNvSpPr>
            <a:spLocks noGrp="1"/>
          </p:cNvSpPr>
          <p:nvPr>
            <p:ph idx="1"/>
          </p:nvPr>
        </p:nvSpPr>
        <p:spPr>
          <a:xfrm>
            <a:off x="498231" y="1929384"/>
            <a:ext cx="10855569" cy="4568483"/>
          </a:xfrm>
        </p:spPr>
        <p:txBody>
          <a:bodyPr vert="horz" lIns="91440" tIns="45720" rIns="91440" bIns="45720" rtlCol="0" anchor="t">
            <a:normAutofit/>
          </a:bodyPr>
          <a:lstStyle/>
          <a:p>
            <a:pPr lvl="1">
              <a:buFont typeface="Courier New" panose="020B0604020202020204" pitchFamily="34" charset="0"/>
              <a:buChar char="o"/>
            </a:pPr>
            <a:endParaRPr lang="en-US" sz="2200"/>
          </a:p>
          <a:p>
            <a:r>
              <a:rPr lang="en-US" sz="2200"/>
              <a:t>Identify at least one organizational goal related to your transformation</a:t>
            </a:r>
          </a:p>
          <a:p>
            <a:r>
              <a:rPr lang="en-US" sz="2200"/>
              <a:t>What barriers are currently stopping your organization in moving from planning to implementation?</a:t>
            </a:r>
          </a:p>
          <a:p>
            <a:r>
              <a:rPr lang="en-US" sz="2200"/>
              <a:t>Who is (or should be) part of your pilot core team? </a:t>
            </a:r>
          </a:p>
          <a:p>
            <a:r>
              <a:rPr lang="en-US" sz="2200"/>
              <a:t>How might you use a pilot? </a:t>
            </a:r>
          </a:p>
          <a:p>
            <a:r>
              <a:rPr lang="en-US" sz="2200"/>
              <a:t>Identify one (or more) challenge you need to address? </a:t>
            </a:r>
          </a:p>
          <a:p>
            <a:r>
              <a:rPr lang="en-US" sz="2200"/>
              <a:t>What tools, resources, training, might you need?</a:t>
            </a:r>
          </a:p>
          <a:p>
            <a:r>
              <a:rPr lang="en-US" sz="2200"/>
              <a:t>Something you heard today that you might take with you? </a:t>
            </a:r>
          </a:p>
          <a:p>
            <a:pPr marL="0" indent="0">
              <a:buNone/>
            </a:pPr>
            <a:endParaRPr lang="en-US" sz="2200"/>
          </a:p>
        </p:txBody>
      </p:sp>
      <p:pic>
        <p:nvPicPr>
          <p:cNvPr id="5" name="Picture 4" descr="A logo for a company&#10;&#10;Description automatically generated">
            <a:extLst>
              <a:ext uri="{FF2B5EF4-FFF2-40B4-BE49-F238E27FC236}">
                <a16:creationId xmlns:a16="http://schemas.microsoft.com/office/drawing/2014/main" id="{4340B7C7-A0F0-B47F-7DFB-6016186430D4}"/>
              </a:ext>
            </a:extLst>
          </p:cNvPr>
          <p:cNvPicPr>
            <a:picLocks noChangeAspect="1"/>
          </p:cNvPicPr>
          <p:nvPr/>
        </p:nvPicPr>
        <p:blipFill>
          <a:blip r:embed="rId3"/>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891973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 name="Group 11">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3" name="Rectangle 12">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817580E0-BF9A-534B-9BF3-0A01D9677B62}"/>
              </a:ext>
            </a:extLst>
          </p:cNvPr>
          <p:cNvSpPr>
            <a:spLocks noGrp="1"/>
          </p:cNvSpPr>
          <p:nvPr>
            <p:ph type="title"/>
          </p:nvPr>
        </p:nvSpPr>
        <p:spPr>
          <a:xfrm>
            <a:off x="593361" y="1688891"/>
            <a:ext cx="2460886" cy="3467725"/>
          </a:xfrm>
        </p:spPr>
        <p:txBody>
          <a:bodyPr anchor="t">
            <a:normAutofit/>
          </a:bodyPr>
          <a:lstStyle/>
          <a:p>
            <a:r>
              <a:rPr lang="en-US" sz="4000"/>
              <a:t>Resources </a:t>
            </a:r>
            <a:br>
              <a:rPr lang="en-US" sz="4000"/>
            </a:br>
            <a:r>
              <a:rPr lang="en-US" sz="4000"/>
              <a:t>&amp; </a:t>
            </a:r>
            <a:br>
              <a:rPr lang="en-US" sz="4000"/>
            </a:br>
            <a:r>
              <a:rPr lang="en-US" sz="4000"/>
              <a:t>Support </a:t>
            </a:r>
          </a:p>
        </p:txBody>
      </p:sp>
      <p:sp>
        <p:nvSpPr>
          <p:cNvPr id="3" name="Content Placeholder 2">
            <a:extLst>
              <a:ext uri="{FF2B5EF4-FFF2-40B4-BE49-F238E27FC236}">
                <a16:creationId xmlns:a16="http://schemas.microsoft.com/office/drawing/2014/main" id="{2B793EFE-2D85-4C4C-05C4-B55B05312552}"/>
              </a:ext>
            </a:extLst>
          </p:cNvPr>
          <p:cNvSpPr>
            <a:spLocks noGrp="1"/>
          </p:cNvSpPr>
          <p:nvPr>
            <p:ph idx="1"/>
          </p:nvPr>
        </p:nvSpPr>
        <p:spPr>
          <a:xfrm>
            <a:off x="2895604" y="1251678"/>
            <a:ext cx="8549385" cy="3630119"/>
          </a:xfrm>
        </p:spPr>
        <p:txBody>
          <a:bodyPr vert="horz" lIns="91440" tIns="45720" rIns="91440" bIns="45720" rtlCol="0" anchor="t">
            <a:noAutofit/>
          </a:bodyPr>
          <a:lstStyle/>
          <a:p>
            <a:pPr marL="0" indent="0">
              <a:buNone/>
            </a:pPr>
            <a:r>
              <a:rPr lang="en-US" sz="2000">
                <a:solidFill>
                  <a:schemeClr val="tx1">
                    <a:alpha val="55000"/>
                  </a:schemeClr>
                </a:solidFill>
              </a:rPr>
              <a:t>Minnesota Transformation Initiative </a:t>
            </a:r>
            <a:r>
              <a:rPr lang="en-US" sz="2000">
                <a:solidFill>
                  <a:schemeClr val="tx1">
                    <a:alpha val="55000"/>
                  </a:schemeClr>
                </a:solidFill>
                <a:ea typeface="+mn-lt"/>
                <a:cs typeface="+mn-lt"/>
                <a:hlinkClick r:id="rId2">
                  <a:extLst>
                    <a:ext uri="{A12FA001-AC4F-418D-AE19-62706E023703}">
                      <ahyp:hlinkClr xmlns:ahyp="http://schemas.microsoft.com/office/drawing/2018/hyperlinkcolor" val="tx"/>
                    </a:ext>
                  </a:extLst>
                </a:hlinkClick>
              </a:rPr>
              <a:t>https://mti.ici.umn.edu/</a:t>
            </a:r>
            <a:endParaRPr lang="en-US" sz="2000">
              <a:solidFill>
                <a:schemeClr val="tx1">
                  <a:alpha val="55000"/>
                </a:schemeClr>
              </a:solidFill>
            </a:endParaRPr>
          </a:p>
          <a:p>
            <a:pPr lvl="1">
              <a:buFont typeface="Courier New" panose="020B0604020202020204" pitchFamily="34" charset="0"/>
              <a:buChar char="o"/>
            </a:pPr>
            <a:r>
              <a:rPr lang="en-US" sz="2000">
                <a:solidFill>
                  <a:schemeClr val="tx1">
                    <a:alpha val="55000"/>
                  </a:schemeClr>
                </a:solidFill>
              </a:rPr>
              <a:t>Resources</a:t>
            </a:r>
          </a:p>
          <a:p>
            <a:pPr lvl="1">
              <a:buFont typeface="Courier New" panose="020B0604020202020204" pitchFamily="34" charset="0"/>
              <a:buChar char="o"/>
            </a:pPr>
            <a:r>
              <a:rPr lang="en-US" sz="2000">
                <a:solidFill>
                  <a:schemeClr val="tx1">
                    <a:alpha val="55000"/>
                  </a:schemeClr>
                </a:solidFill>
              </a:rPr>
              <a:t>Training</a:t>
            </a:r>
          </a:p>
          <a:p>
            <a:pPr lvl="1">
              <a:buFont typeface="Courier New" panose="020B0604020202020204" pitchFamily="34" charset="0"/>
              <a:buChar char="o"/>
            </a:pPr>
            <a:r>
              <a:rPr lang="en-US" sz="2000">
                <a:solidFill>
                  <a:schemeClr val="tx1">
                    <a:alpha val="55000"/>
                  </a:schemeClr>
                </a:solidFill>
              </a:rPr>
              <a:t>Success stories</a:t>
            </a:r>
          </a:p>
          <a:p>
            <a:pPr lvl="1">
              <a:buFont typeface="Courier New" panose="020B0604020202020204" pitchFamily="34" charset="0"/>
              <a:buChar char="o"/>
            </a:pPr>
            <a:r>
              <a:rPr lang="en-US" sz="2000">
                <a:solidFill>
                  <a:schemeClr val="tx1">
                    <a:alpha val="55000"/>
                  </a:schemeClr>
                </a:solidFill>
              </a:rPr>
              <a:t>MTI newsletter</a:t>
            </a:r>
          </a:p>
          <a:p>
            <a:pPr lvl="1">
              <a:buFont typeface="Courier New" panose="020B0604020202020204" pitchFamily="34" charset="0"/>
              <a:buChar char="o"/>
            </a:pPr>
            <a:r>
              <a:rPr lang="en-US" sz="2000">
                <a:solidFill>
                  <a:schemeClr val="tx1">
                    <a:alpha val="55000"/>
                  </a:schemeClr>
                </a:solidFill>
              </a:rPr>
              <a:t>Request assistance!</a:t>
            </a:r>
          </a:p>
          <a:p>
            <a:pPr marL="457200" lvl="1" indent="0">
              <a:buNone/>
            </a:pPr>
            <a:endParaRPr lang="en-US" sz="2000">
              <a:solidFill>
                <a:schemeClr val="tx1">
                  <a:alpha val="55000"/>
                </a:schemeClr>
              </a:solidFill>
            </a:endParaRPr>
          </a:p>
          <a:p>
            <a:pPr marL="0" indent="0">
              <a:buNone/>
            </a:pPr>
            <a:r>
              <a:rPr lang="en-US" sz="2000" err="1">
                <a:solidFill>
                  <a:schemeClr val="tx1">
                    <a:alpha val="55000"/>
                  </a:schemeClr>
                </a:solidFill>
              </a:rPr>
              <a:t>ThinkWork</a:t>
            </a:r>
            <a:r>
              <a:rPr lang="en-US" sz="2000">
                <a:solidFill>
                  <a:schemeClr val="tx1">
                    <a:alpha val="55000"/>
                  </a:schemeClr>
                </a:solidFill>
              </a:rPr>
              <a:t> </a:t>
            </a:r>
            <a:r>
              <a:rPr lang="en-US" sz="2000">
                <a:solidFill>
                  <a:schemeClr val="tx1">
                    <a:alpha val="55000"/>
                  </a:schemeClr>
                </a:solidFill>
                <a:hlinkClick r:id="rId3">
                  <a:extLst>
                    <a:ext uri="{A12FA001-AC4F-418D-AE19-62706E023703}">
                      <ahyp:hlinkClr xmlns:ahyp="http://schemas.microsoft.com/office/drawing/2018/hyperlinkcolor" val="tx"/>
                    </a:ext>
                  </a:extLst>
                </a:hlinkClick>
              </a:rPr>
              <a:t>www.thinkwork.org</a:t>
            </a:r>
            <a:r>
              <a:rPr lang="en-US" sz="2000">
                <a:solidFill>
                  <a:schemeClr val="tx1">
                    <a:alpha val="55000"/>
                  </a:schemeClr>
                </a:solidFill>
              </a:rPr>
              <a:t> </a:t>
            </a:r>
          </a:p>
          <a:p>
            <a:pPr lvl="1">
              <a:buFont typeface="Courier New" panose="020B0604020202020204" pitchFamily="34" charset="0"/>
              <a:buChar char="o"/>
            </a:pPr>
            <a:r>
              <a:rPr lang="en-US" sz="2000">
                <a:solidFill>
                  <a:schemeClr val="tx1">
                    <a:alpha val="55000"/>
                  </a:schemeClr>
                </a:solidFill>
              </a:rPr>
              <a:t>Agency change toolkit   </a:t>
            </a:r>
          </a:p>
          <a:p>
            <a:pPr marL="0" indent="0">
              <a:buNone/>
            </a:pPr>
            <a:r>
              <a:rPr lang="en-US" sz="2000">
                <a:solidFill>
                  <a:schemeClr val="tx1">
                    <a:alpha val="55000"/>
                  </a:schemeClr>
                </a:solidFill>
              </a:rPr>
              <a:t>Explore CLE </a:t>
            </a:r>
            <a:r>
              <a:rPr lang="en-US" sz="2000">
                <a:solidFill>
                  <a:schemeClr val="tx1">
                    <a:alpha val="55000"/>
                  </a:schemeClr>
                </a:solidFill>
                <a:hlinkClick r:id="rId4">
                  <a:extLst>
                    <a:ext uri="{A12FA001-AC4F-418D-AE19-62706E023703}">
                      <ahyp:hlinkClr xmlns:ahyp="http://schemas.microsoft.com/office/drawing/2018/hyperlinkcolor" val="tx"/>
                    </a:ext>
                  </a:extLst>
                </a:hlinkClick>
              </a:rPr>
              <a:t>www.cletoolkit.communityinclusion.org</a:t>
            </a:r>
            <a:r>
              <a:rPr lang="en-US" sz="2000">
                <a:solidFill>
                  <a:schemeClr val="tx1">
                    <a:alpha val="55000"/>
                  </a:schemeClr>
                </a:solidFill>
              </a:rPr>
              <a:t> </a:t>
            </a:r>
          </a:p>
          <a:p>
            <a:pPr lvl="1">
              <a:buFont typeface="Courier New" panose="020B0604020202020204" pitchFamily="34" charset="0"/>
              <a:buChar char="o"/>
            </a:pPr>
            <a:r>
              <a:rPr lang="en-US" sz="2000">
                <a:solidFill>
                  <a:schemeClr val="tx1">
                    <a:alpha val="55000"/>
                  </a:schemeClr>
                </a:solidFill>
              </a:rPr>
              <a:t>Toolkit</a:t>
            </a:r>
          </a:p>
          <a:p>
            <a:pPr lvl="1">
              <a:buFont typeface="Courier New" panose="020B0604020202020204" pitchFamily="34" charset="0"/>
              <a:buChar char="o"/>
            </a:pPr>
            <a:r>
              <a:rPr lang="en-US" sz="2000">
                <a:solidFill>
                  <a:schemeClr val="tx1">
                    <a:alpha val="55000"/>
                  </a:schemeClr>
                </a:solidFill>
              </a:rPr>
              <a:t>Newsletter</a:t>
            </a:r>
          </a:p>
          <a:p>
            <a:pPr lvl="1">
              <a:buFont typeface="Courier New" panose="020B0604020202020204" pitchFamily="34" charset="0"/>
              <a:buChar char="o"/>
            </a:pPr>
            <a:r>
              <a:rPr lang="en-US" sz="2000">
                <a:solidFill>
                  <a:schemeClr val="tx1">
                    <a:alpha val="55000"/>
                  </a:schemeClr>
                </a:solidFill>
              </a:rPr>
              <a:t>CLE course</a:t>
            </a:r>
          </a:p>
          <a:p>
            <a:endParaRPr lang="en-US" sz="2000">
              <a:solidFill>
                <a:srgbClr val="000000">
                  <a:alpha val="55000"/>
                </a:srgbClr>
              </a:solidFill>
            </a:endParaRPr>
          </a:p>
        </p:txBody>
      </p:sp>
      <p:pic>
        <p:nvPicPr>
          <p:cNvPr id="5" name="Picture 4" descr="A logo for a company&#10;&#10;Description automatically generated">
            <a:extLst>
              <a:ext uri="{FF2B5EF4-FFF2-40B4-BE49-F238E27FC236}">
                <a16:creationId xmlns:a16="http://schemas.microsoft.com/office/drawing/2014/main" id="{DE50D8C2-0FAC-A5A3-4B13-7E8F147D3BFF}"/>
              </a:ext>
            </a:extLst>
          </p:cNvPr>
          <p:cNvPicPr>
            <a:picLocks noChangeAspect="1"/>
          </p:cNvPicPr>
          <p:nvPr/>
        </p:nvPicPr>
        <p:blipFill>
          <a:blip r:embed="rId5"/>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641915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3" name="Group 12">
            <a:extLst>
              <a:ext uri="{FF2B5EF4-FFF2-40B4-BE49-F238E27FC236}">
                <a16:creationId xmlns:a16="http://schemas.microsoft.com/office/drawing/2014/main" id="{5DD5AFF2-B0BF-41FA-BA95-B06DB47DF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3429000"/>
            <a:ext cx="12191999" cy="3429000"/>
            <a:chOff x="7467600" y="0"/>
            <a:chExt cx="4724400" cy="6858000"/>
          </a:xfrm>
        </p:grpSpPr>
        <p:sp>
          <p:nvSpPr>
            <p:cNvPr id="14" name="Rectangle 13">
              <a:extLst>
                <a:ext uri="{FF2B5EF4-FFF2-40B4-BE49-F238E27FC236}">
                  <a16:creationId xmlns:a16="http://schemas.microsoft.com/office/drawing/2014/main" id="{346F474B-53B3-4567-B505-9E3D7251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0ECCC9F-C36C-4275-B251-A115347C1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Freeform: Shape 16">
            <a:extLst>
              <a:ext uri="{FF2B5EF4-FFF2-40B4-BE49-F238E27FC236}">
                <a16:creationId xmlns:a16="http://schemas.microsoft.com/office/drawing/2014/main" id="{3FE49A6B-0100-4397-88F8-FE2410D08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12192000" cy="3429000"/>
          </a:xfrm>
          <a:custGeom>
            <a:avLst/>
            <a:gdLst>
              <a:gd name="connsiteX0" fmla="*/ 369702 w 12192000"/>
              <a:gd name="connsiteY0" fmla="*/ 3283169 h 3429000"/>
              <a:gd name="connsiteX1" fmla="*/ 366575 w 12192000"/>
              <a:gd name="connsiteY1" fmla="*/ 3286556 h 3429000"/>
              <a:gd name="connsiteX2" fmla="*/ 371637 w 12192000"/>
              <a:gd name="connsiteY2" fmla="*/ 3284954 h 3429000"/>
              <a:gd name="connsiteX3" fmla="*/ 7392322 w 12192000"/>
              <a:gd name="connsiteY3" fmla="*/ 3229238 h 3429000"/>
              <a:gd name="connsiteX4" fmla="*/ 7611337 w 12192000"/>
              <a:gd name="connsiteY4" fmla="*/ 3303821 h 3429000"/>
              <a:gd name="connsiteX5" fmla="*/ 7955762 w 12192000"/>
              <a:gd name="connsiteY5" fmla="*/ 3413006 h 3429000"/>
              <a:gd name="connsiteX6" fmla="*/ 7512455 w 12192000"/>
              <a:gd name="connsiteY6" fmla="*/ 3245734 h 3429000"/>
              <a:gd name="connsiteX7" fmla="*/ 9928143 w 12192000"/>
              <a:gd name="connsiteY7" fmla="*/ 3086312 h 3429000"/>
              <a:gd name="connsiteX8" fmla="*/ 9753801 w 12192000"/>
              <a:gd name="connsiteY8" fmla="*/ 3096103 h 3429000"/>
              <a:gd name="connsiteX9" fmla="*/ 9578027 w 12192000"/>
              <a:gd name="connsiteY9" fmla="*/ 3103104 h 3429000"/>
              <a:gd name="connsiteX10" fmla="*/ 9424342 w 12192000"/>
              <a:gd name="connsiteY10" fmla="*/ 3099403 h 3429000"/>
              <a:gd name="connsiteX11" fmla="*/ 9001907 w 12192000"/>
              <a:gd name="connsiteY11" fmla="*/ 3131369 h 3429000"/>
              <a:gd name="connsiteX12" fmla="*/ 8922138 w 12192000"/>
              <a:gd name="connsiteY12" fmla="*/ 3162702 h 3429000"/>
              <a:gd name="connsiteX13" fmla="*/ 9087550 w 12192000"/>
              <a:gd name="connsiteY13" fmla="*/ 3170765 h 3429000"/>
              <a:gd name="connsiteX14" fmla="*/ 9512475 w 12192000"/>
              <a:gd name="connsiteY14" fmla="*/ 3134693 h 3429000"/>
              <a:gd name="connsiteX15" fmla="*/ 9928143 w 12192000"/>
              <a:gd name="connsiteY15" fmla="*/ 3086312 h 3429000"/>
              <a:gd name="connsiteX16" fmla="*/ 9351220 w 12192000"/>
              <a:gd name="connsiteY16" fmla="*/ 3030370 h 3429000"/>
              <a:gd name="connsiteX17" fmla="*/ 8999756 w 12192000"/>
              <a:gd name="connsiteY17" fmla="*/ 3100929 h 3429000"/>
              <a:gd name="connsiteX18" fmla="*/ 9425830 w 12192000"/>
              <a:gd name="connsiteY18" fmla="*/ 3069517 h 3429000"/>
              <a:gd name="connsiteX19" fmla="*/ 9578307 w 12192000"/>
              <a:gd name="connsiteY19" fmla="*/ 3073035 h 3429000"/>
              <a:gd name="connsiteX20" fmla="*/ 9752771 w 12192000"/>
              <a:gd name="connsiteY20" fmla="*/ 3066471 h 3429000"/>
              <a:gd name="connsiteX21" fmla="*/ 9852779 w 12192000"/>
              <a:gd name="connsiteY21" fmla="*/ 3060665 h 3429000"/>
              <a:gd name="connsiteX22" fmla="*/ 9694862 w 12192000"/>
              <a:gd name="connsiteY22" fmla="*/ 3044140 h 3429000"/>
              <a:gd name="connsiteX23" fmla="*/ 9351220 w 12192000"/>
              <a:gd name="connsiteY23" fmla="*/ 3030370 h 3429000"/>
              <a:gd name="connsiteX24" fmla="*/ 1019354 w 12192000"/>
              <a:gd name="connsiteY24" fmla="*/ 2886006 h 3429000"/>
              <a:gd name="connsiteX25" fmla="*/ 441046 w 12192000"/>
              <a:gd name="connsiteY25" fmla="*/ 3262153 h 3429000"/>
              <a:gd name="connsiteX26" fmla="*/ 1019354 w 12192000"/>
              <a:gd name="connsiteY26" fmla="*/ 2886006 h 3429000"/>
              <a:gd name="connsiteX27" fmla="*/ 991680 w 12192000"/>
              <a:gd name="connsiteY27" fmla="*/ 2869413 h 3429000"/>
              <a:gd name="connsiteX28" fmla="*/ 409060 w 12192000"/>
              <a:gd name="connsiteY28" fmla="*/ 3242470 h 3429000"/>
              <a:gd name="connsiteX29" fmla="*/ 991680 w 12192000"/>
              <a:gd name="connsiteY29" fmla="*/ 2869413 h 3429000"/>
              <a:gd name="connsiteX30" fmla="*/ 7254615 w 12192000"/>
              <a:gd name="connsiteY30" fmla="*/ 2482918 h 3429000"/>
              <a:gd name="connsiteX31" fmla="*/ 7312589 w 12192000"/>
              <a:gd name="connsiteY31" fmla="*/ 2553309 h 3429000"/>
              <a:gd name="connsiteX32" fmla="*/ 7580896 w 12192000"/>
              <a:gd name="connsiteY32" fmla="*/ 2973069 h 3429000"/>
              <a:gd name="connsiteX33" fmla="*/ 7990862 w 12192000"/>
              <a:gd name="connsiteY33" fmla="*/ 3378025 h 3429000"/>
              <a:gd name="connsiteX34" fmla="*/ 7871964 w 12192000"/>
              <a:gd name="connsiteY34" fmla="*/ 3220139 h 3429000"/>
              <a:gd name="connsiteX35" fmla="*/ 7859674 w 12192000"/>
              <a:gd name="connsiteY35" fmla="*/ 3207358 h 3429000"/>
              <a:gd name="connsiteX36" fmla="*/ 7545050 w 12192000"/>
              <a:gd name="connsiteY36" fmla="*/ 2831110 h 3429000"/>
              <a:gd name="connsiteX37" fmla="*/ 7254615 w 12192000"/>
              <a:gd name="connsiteY37" fmla="*/ 2482918 h 3429000"/>
              <a:gd name="connsiteX38" fmla="*/ 9078855 w 12192000"/>
              <a:gd name="connsiteY38" fmla="*/ 2455754 h 3429000"/>
              <a:gd name="connsiteX39" fmla="*/ 8825188 w 12192000"/>
              <a:gd name="connsiteY39" fmla="*/ 3067752 h 3429000"/>
              <a:gd name="connsiteX40" fmla="*/ 9078855 w 12192000"/>
              <a:gd name="connsiteY40" fmla="*/ 2455754 h 3429000"/>
              <a:gd name="connsiteX41" fmla="*/ 9113805 w 12192000"/>
              <a:gd name="connsiteY41" fmla="*/ 2454072 h 3429000"/>
              <a:gd name="connsiteX42" fmla="*/ 8855200 w 12192000"/>
              <a:gd name="connsiteY42" fmla="*/ 3065950 h 3429000"/>
              <a:gd name="connsiteX43" fmla="*/ 9113805 w 12192000"/>
              <a:gd name="connsiteY43" fmla="*/ 2454072 h 3429000"/>
              <a:gd name="connsiteX44" fmla="*/ 9123940 w 12192000"/>
              <a:gd name="connsiteY44" fmla="*/ 2396040 h 3429000"/>
              <a:gd name="connsiteX45" fmla="*/ 9120846 w 12192000"/>
              <a:gd name="connsiteY45" fmla="*/ 2400053 h 3429000"/>
              <a:gd name="connsiteX46" fmla="*/ 9123267 w 12192000"/>
              <a:gd name="connsiteY46" fmla="*/ 2400425 h 3429000"/>
              <a:gd name="connsiteX47" fmla="*/ 103333 w 12192000"/>
              <a:gd name="connsiteY47" fmla="*/ 2270602 h 3429000"/>
              <a:gd name="connsiteX48" fmla="*/ 233938 w 12192000"/>
              <a:gd name="connsiteY48" fmla="*/ 2380416 h 3429000"/>
              <a:gd name="connsiteX49" fmla="*/ 883580 w 12192000"/>
              <a:gd name="connsiteY49" fmla="*/ 2751710 h 3429000"/>
              <a:gd name="connsiteX50" fmla="*/ 487337 w 12192000"/>
              <a:gd name="connsiteY50" fmla="*/ 2521182 h 3429000"/>
              <a:gd name="connsiteX51" fmla="*/ 354051 w 12192000"/>
              <a:gd name="connsiteY51" fmla="*/ 2425912 h 3429000"/>
              <a:gd name="connsiteX52" fmla="*/ 195436 w 12192000"/>
              <a:gd name="connsiteY52" fmla="*/ 2326068 h 3429000"/>
              <a:gd name="connsiteX53" fmla="*/ 5539432 w 12192000"/>
              <a:gd name="connsiteY53" fmla="*/ 2213928 h 3429000"/>
              <a:gd name="connsiteX54" fmla="*/ 5555462 w 12192000"/>
              <a:gd name="connsiteY54" fmla="*/ 2265454 h 3429000"/>
              <a:gd name="connsiteX55" fmla="*/ 5828270 w 12192000"/>
              <a:gd name="connsiteY55" fmla="*/ 2891663 h 3429000"/>
              <a:gd name="connsiteX56" fmla="*/ 5947416 w 12192000"/>
              <a:gd name="connsiteY56" fmla="*/ 3145846 h 3429000"/>
              <a:gd name="connsiteX57" fmla="*/ 5539432 w 12192000"/>
              <a:gd name="connsiteY57" fmla="*/ 2213928 h 3429000"/>
              <a:gd name="connsiteX58" fmla="*/ 51253 w 12192000"/>
              <a:gd name="connsiteY58" fmla="*/ 2202825 h 3429000"/>
              <a:gd name="connsiteX59" fmla="*/ 211622 w 12192000"/>
              <a:gd name="connsiteY59" fmla="*/ 2299803 h 3429000"/>
              <a:gd name="connsiteX60" fmla="*/ 371652 w 12192000"/>
              <a:gd name="connsiteY60" fmla="*/ 2400062 h 3429000"/>
              <a:gd name="connsiteX61" fmla="*/ 505903 w 12192000"/>
              <a:gd name="connsiteY61" fmla="*/ 2496221 h 3429000"/>
              <a:gd name="connsiteX62" fmla="*/ 899240 w 12192000"/>
              <a:gd name="connsiteY62" fmla="*/ 2724068 h 3429000"/>
              <a:gd name="connsiteX63" fmla="*/ 988114 w 12192000"/>
              <a:gd name="connsiteY63" fmla="*/ 2745204 h 3429000"/>
              <a:gd name="connsiteX64" fmla="*/ 845971 w 12192000"/>
              <a:gd name="connsiteY64" fmla="*/ 2638177 h 3429000"/>
              <a:gd name="connsiteX65" fmla="*/ 448057 w 12192000"/>
              <a:gd name="connsiteY65" fmla="*/ 2412376 h 3429000"/>
              <a:gd name="connsiteX66" fmla="*/ 51253 w 12192000"/>
              <a:gd name="connsiteY66" fmla="*/ 2202825 h 3429000"/>
              <a:gd name="connsiteX67" fmla="*/ 2606687 w 12192000"/>
              <a:gd name="connsiteY67" fmla="*/ 2201718 h 3429000"/>
              <a:gd name="connsiteX68" fmla="*/ 2645658 w 12192000"/>
              <a:gd name="connsiteY68" fmla="*/ 3211259 h 3429000"/>
              <a:gd name="connsiteX69" fmla="*/ 2606687 w 12192000"/>
              <a:gd name="connsiteY69" fmla="*/ 2201718 h 3429000"/>
              <a:gd name="connsiteX70" fmla="*/ 10097724 w 12192000"/>
              <a:gd name="connsiteY70" fmla="*/ 2162852 h 3429000"/>
              <a:gd name="connsiteX71" fmla="*/ 9645248 w 12192000"/>
              <a:gd name="connsiteY71" fmla="*/ 2201119 h 3429000"/>
              <a:gd name="connsiteX72" fmla="*/ 9543858 w 12192000"/>
              <a:gd name="connsiteY72" fmla="*/ 2221510 h 3429000"/>
              <a:gd name="connsiteX73" fmla="*/ 9681648 w 12192000"/>
              <a:gd name="connsiteY73" fmla="*/ 2200828 h 3429000"/>
              <a:gd name="connsiteX74" fmla="*/ 10557846 w 12192000"/>
              <a:gd name="connsiteY74" fmla="*/ 2172337 h 3429000"/>
              <a:gd name="connsiteX75" fmla="*/ 10301704 w 12192000"/>
              <a:gd name="connsiteY75" fmla="*/ 2169847 h 3429000"/>
              <a:gd name="connsiteX76" fmla="*/ 10250553 w 12192000"/>
              <a:gd name="connsiteY76" fmla="*/ 2166539 h 3429000"/>
              <a:gd name="connsiteX77" fmla="*/ 10097724 w 12192000"/>
              <a:gd name="connsiteY77" fmla="*/ 2162852 h 3429000"/>
              <a:gd name="connsiteX78" fmla="*/ 3642057 w 12192000"/>
              <a:gd name="connsiteY78" fmla="*/ 2144487 h 3429000"/>
              <a:gd name="connsiteX79" fmla="*/ 3632981 w 12192000"/>
              <a:gd name="connsiteY79" fmla="*/ 2150437 h 3429000"/>
              <a:gd name="connsiteX80" fmla="*/ 3382436 w 12192000"/>
              <a:gd name="connsiteY80" fmla="*/ 2523726 h 3429000"/>
              <a:gd name="connsiteX81" fmla="*/ 3191929 w 12192000"/>
              <a:gd name="connsiteY81" fmla="*/ 3233669 h 3429000"/>
              <a:gd name="connsiteX82" fmla="*/ 3369898 w 12192000"/>
              <a:gd name="connsiteY82" fmla="*/ 2652771 h 3429000"/>
              <a:gd name="connsiteX83" fmla="*/ 3642057 w 12192000"/>
              <a:gd name="connsiteY83" fmla="*/ 2144487 h 3429000"/>
              <a:gd name="connsiteX84" fmla="*/ 7015907 w 12192000"/>
              <a:gd name="connsiteY84" fmla="*/ 2112548 h 3429000"/>
              <a:gd name="connsiteX85" fmla="*/ 7259646 w 12192000"/>
              <a:gd name="connsiteY85" fmla="*/ 2336985 h 3429000"/>
              <a:gd name="connsiteX86" fmla="*/ 7741483 w 12192000"/>
              <a:gd name="connsiteY86" fmla="*/ 2850980 h 3429000"/>
              <a:gd name="connsiteX87" fmla="*/ 8008941 w 12192000"/>
              <a:gd name="connsiteY87" fmla="*/ 3304560 h 3429000"/>
              <a:gd name="connsiteX88" fmla="*/ 7999234 w 12192000"/>
              <a:gd name="connsiteY88" fmla="*/ 3181993 h 3429000"/>
              <a:gd name="connsiteX89" fmla="*/ 7715154 w 12192000"/>
              <a:gd name="connsiteY89" fmla="*/ 2768148 h 3429000"/>
              <a:gd name="connsiteX90" fmla="*/ 7271900 w 12192000"/>
              <a:gd name="connsiteY90" fmla="*/ 2305551 h 3429000"/>
              <a:gd name="connsiteX91" fmla="*/ 7015907 w 12192000"/>
              <a:gd name="connsiteY91" fmla="*/ 2112548 h 3429000"/>
              <a:gd name="connsiteX92" fmla="*/ 2650666 w 12192000"/>
              <a:gd name="connsiteY92" fmla="*/ 2101686 h 3429000"/>
              <a:gd name="connsiteX93" fmla="*/ 2650249 w 12192000"/>
              <a:gd name="connsiteY93" fmla="*/ 2103101 h 3429000"/>
              <a:gd name="connsiteX94" fmla="*/ 2663808 w 12192000"/>
              <a:gd name="connsiteY94" fmla="*/ 3106215 h 3429000"/>
              <a:gd name="connsiteX95" fmla="*/ 2665418 w 12192000"/>
              <a:gd name="connsiteY95" fmla="*/ 2703756 h 3429000"/>
              <a:gd name="connsiteX96" fmla="*/ 2650666 w 12192000"/>
              <a:gd name="connsiteY96" fmla="*/ 2101686 h 3429000"/>
              <a:gd name="connsiteX97" fmla="*/ 10218664 w 12192000"/>
              <a:gd name="connsiteY97" fmla="*/ 2096300 h 3429000"/>
              <a:gd name="connsiteX98" fmla="*/ 10086154 w 12192000"/>
              <a:gd name="connsiteY98" fmla="*/ 2096937 h 3429000"/>
              <a:gd name="connsiteX99" fmla="*/ 9778614 w 12192000"/>
              <a:gd name="connsiteY99" fmla="*/ 2121189 h 3429000"/>
              <a:gd name="connsiteX100" fmla="*/ 9601703 w 12192000"/>
              <a:gd name="connsiteY100" fmla="*/ 2176852 h 3429000"/>
              <a:gd name="connsiteX101" fmla="*/ 9641684 w 12192000"/>
              <a:gd name="connsiteY101" fmla="*/ 2171203 h 3429000"/>
              <a:gd name="connsiteX102" fmla="*/ 10252799 w 12192000"/>
              <a:gd name="connsiteY102" fmla="*/ 2135971 h 3429000"/>
              <a:gd name="connsiteX103" fmla="*/ 10304297 w 12192000"/>
              <a:gd name="connsiteY103" fmla="*/ 2139822 h 3429000"/>
              <a:gd name="connsiteX104" fmla="*/ 10533945 w 12192000"/>
              <a:gd name="connsiteY104" fmla="*/ 2144703 h 3429000"/>
              <a:gd name="connsiteX105" fmla="*/ 10446061 w 12192000"/>
              <a:gd name="connsiteY105" fmla="*/ 2126562 h 3429000"/>
              <a:gd name="connsiteX106" fmla="*/ 10360877 w 12192000"/>
              <a:gd name="connsiteY106" fmla="*/ 2109004 h 3429000"/>
              <a:gd name="connsiteX107" fmla="*/ 10218664 w 12192000"/>
              <a:gd name="connsiteY107" fmla="*/ 2096300 h 3429000"/>
              <a:gd name="connsiteX108" fmla="*/ 6946849 w 12192000"/>
              <a:gd name="connsiteY108" fmla="*/ 2094271 h 3429000"/>
              <a:gd name="connsiteX109" fmla="*/ 6946972 w 12192000"/>
              <a:gd name="connsiteY109" fmla="*/ 2097491 h 3429000"/>
              <a:gd name="connsiteX110" fmla="*/ 7105827 w 12192000"/>
              <a:gd name="connsiteY110" fmla="*/ 2289700 h 3429000"/>
              <a:gd name="connsiteX111" fmla="*/ 7126431 w 12192000"/>
              <a:gd name="connsiteY111" fmla="*/ 2308872 h 3429000"/>
              <a:gd name="connsiteX112" fmla="*/ 7567269 w 12192000"/>
              <a:gd name="connsiteY112" fmla="*/ 2811461 h 3429000"/>
              <a:gd name="connsiteX113" fmla="*/ 7880270 w 12192000"/>
              <a:gd name="connsiteY113" fmla="*/ 3186176 h 3429000"/>
              <a:gd name="connsiteX114" fmla="*/ 7892560 w 12192000"/>
              <a:gd name="connsiteY114" fmla="*/ 3198949 h 3429000"/>
              <a:gd name="connsiteX115" fmla="*/ 7971643 w 12192000"/>
              <a:gd name="connsiteY115" fmla="*/ 3289236 h 3429000"/>
              <a:gd name="connsiteX116" fmla="*/ 7719359 w 12192000"/>
              <a:gd name="connsiteY116" fmla="*/ 2870011 h 3429000"/>
              <a:gd name="connsiteX117" fmla="*/ 7240170 w 12192000"/>
              <a:gd name="connsiteY117" fmla="*/ 2358985 h 3429000"/>
              <a:gd name="connsiteX118" fmla="*/ 6946849 w 12192000"/>
              <a:gd name="connsiteY118" fmla="*/ 2094271 h 3429000"/>
              <a:gd name="connsiteX119" fmla="*/ 2680277 w 12192000"/>
              <a:gd name="connsiteY119" fmla="*/ 2050204 h 3429000"/>
              <a:gd name="connsiteX120" fmla="*/ 2678972 w 12192000"/>
              <a:gd name="connsiteY120" fmla="*/ 2052582 h 3429000"/>
              <a:gd name="connsiteX121" fmla="*/ 2696666 w 12192000"/>
              <a:gd name="connsiteY121" fmla="*/ 2704836 h 3429000"/>
              <a:gd name="connsiteX122" fmla="*/ 2695769 w 12192000"/>
              <a:gd name="connsiteY122" fmla="*/ 2961955 h 3429000"/>
              <a:gd name="connsiteX123" fmla="*/ 2739893 w 12192000"/>
              <a:gd name="connsiteY123" fmla="*/ 2679357 h 3429000"/>
              <a:gd name="connsiteX124" fmla="*/ 2680277 w 12192000"/>
              <a:gd name="connsiteY124" fmla="*/ 2050204 h 3429000"/>
              <a:gd name="connsiteX125" fmla="*/ 1132195 w 12192000"/>
              <a:gd name="connsiteY125" fmla="*/ 2038980 h 3429000"/>
              <a:gd name="connsiteX126" fmla="*/ 1679056 w 12192000"/>
              <a:gd name="connsiteY126" fmla="*/ 2087907 h 3429000"/>
              <a:gd name="connsiteX127" fmla="*/ 2128648 w 12192000"/>
              <a:gd name="connsiteY127" fmla="*/ 2045249 h 3429000"/>
              <a:gd name="connsiteX128" fmla="*/ 1825619 w 12192000"/>
              <a:gd name="connsiteY128" fmla="*/ 2049447 h 3429000"/>
              <a:gd name="connsiteX129" fmla="*/ 1737798 w 12192000"/>
              <a:gd name="connsiteY129" fmla="*/ 2054353 h 3429000"/>
              <a:gd name="connsiteX130" fmla="*/ 1132195 w 12192000"/>
              <a:gd name="connsiteY130" fmla="*/ 2038980 h 3429000"/>
              <a:gd name="connsiteX131" fmla="*/ 10104407 w 12192000"/>
              <a:gd name="connsiteY131" fmla="*/ 2029317 h 3429000"/>
              <a:gd name="connsiteX132" fmla="*/ 9704375 w 12192000"/>
              <a:gd name="connsiteY132" fmla="*/ 2107349 h 3429000"/>
              <a:gd name="connsiteX133" fmla="*/ 9773804 w 12192000"/>
              <a:gd name="connsiteY133" fmla="*/ 2090543 h 3429000"/>
              <a:gd name="connsiteX134" fmla="*/ 10086605 w 12192000"/>
              <a:gd name="connsiteY134" fmla="*/ 2065992 h 3429000"/>
              <a:gd name="connsiteX135" fmla="*/ 10367276 w 12192000"/>
              <a:gd name="connsiteY135" fmla="*/ 2078848 h 3429000"/>
              <a:gd name="connsiteX136" fmla="*/ 10454262 w 12192000"/>
              <a:gd name="connsiteY136" fmla="*/ 2096798 h 3429000"/>
              <a:gd name="connsiteX137" fmla="*/ 10569223 w 12192000"/>
              <a:gd name="connsiteY137" fmla="*/ 2118311 h 3429000"/>
              <a:gd name="connsiteX138" fmla="*/ 10104407 w 12192000"/>
              <a:gd name="connsiteY138" fmla="*/ 2029317 h 3429000"/>
              <a:gd name="connsiteX139" fmla="*/ 6861797 w 12192000"/>
              <a:gd name="connsiteY139" fmla="*/ 1990899 h 3429000"/>
              <a:gd name="connsiteX140" fmla="*/ 6879594 w 12192000"/>
              <a:gd name="connsiteY140" fmla="*/ 1995547 h 3429000"/>
              <a:gd name="connsiteX141" fmla="*/ 7789028 w 12192000"/>
              <a:gd name="connsiteY141" fmla="*/ 2783316 h 3429000"/>
              <a:gd name="connsiteX142" fmla="*/ 8093600 w 12192000"/>
              <a:gd name="connsiteY142" fmla="*/ 3281671 h 3429000"/>
              <a:gd name="connsiteX143" fmla="*/ 8129425 w 12192000"/>
              <a:gd name="connsiteY143" fmla="*/ 3425298 h 3429000"/>
              <a:gd name="connsiteX144" fmla="*/ 8130898 w 12192000"/>
              <a:gd name="connsiteY144" fmla="*/ 3428998 h 3429000"/>
              <a:gd name="connsiteX145" fmla="*/ 7899365 w 12192000"/>
              <a:gd name="connsiteY145" fmla="*/ 3428998 h 3429000"/>
              <a:gd name="connsiteX146" fmla="*/ 7761176 w 12192000"/>
              <a:gd name="connsiteY146" fmla="*/ 3387656 h 3429000"/>
              <a:gd name="connsiteX147" fmla="*/ 7602080 w 12192000"/>
              <a:gd name="connsiteY147" fmla="*/ 3331867 h 3429000"/>
              <a:gd name="connsiteX148" fmla="*/ 7289862 w 12192000"/>
              <a:gd name="connsiteY148" fmla="*/ 3230827 h 3429000"/>
              <a:gd name="connsiteX149" fmla="*/ 7582411 w 12192000"/>
              <a:gd name="connsiteY149" fmla="*/ 3355122 h 3429000"/>
              <a:gd name="connsiteX150" fmla="*/ 7605759 w 12192000"/>
              <a:gd name="connsiteY150" fmla="*/ 3364465 h 3429000"/>
              <a:gd name="connsiteX151" fmla="*/ 7737910 w 12192000"/>
              <a:gd name="connsiteY151" fmla="*/ 3411638 h 3429000"/>
              <a:gd name="connsiteX152" fmla="*/ 7826532 w 12192000"/>
              <a:gd name="connsiteY152" fmla="*/ 3428999 h 3429000"/>
              <a:gd name="connsiteX153" fmla="*/ 7696096 w 12192000"/>
              <a:gd name="connsiteY153" fmla="*/ 3428999 h 3429000"/>
              <a:gd name="connsiteX154" fmla="*/ 7594081 w 12192000"/>
              <a:gd name="connsiteY154" fmla="*/ 3392149 h 3429000"/>
              <a:gd name="connsiteX155" fmla="*/ 7570734 w 12192000"/>
              <a:gd name="connsiteY155" fmla="*/ 3382799 h 3429000"/>
              <a:gd name="connsiteX156" fmla="*/ 7271814 w 12192000"/>
              <a:gd name="connsiteY156" fmla="*/ 3255601 h 3429000"/>
              <a:gd name="connsiteX157" fmla="*/ 7585232 w 12192000"/>
              <a:gd name="connsiteY157" fmla="*/ 3421060 h 3429000"/>
              <a:gd name="connsiteX158" fmla="*/ 7613775 w 12192000"/>
              <a:gd name="connsiteY158" fmla="*/ 3428998 h 3429000"/>
              <a:gd name="connsiteX159" fmla="*/ 7522197 w 12192000"/>
              <a:gd name="connsiteY159" fmla="*/ 3428998 h 3429000"/>
              <a:gd name="connsiteX160" fmla="*/ 7410696 w 12192000"/>
              <a:gd name="connsiteY160" fmla="*/ 3374861 h 3429000"/>
              <a:gd name="connsiteX161" fmla="*/ 7088673 w 12192000"/>
              <a:gd name="connsiteY161" fmla="*/ 3181396 h 3429000"/>
              <a:gd name="connsiteX162" fmla="*/ 7090188 w 12192000"/>
              <a:gd name="connsiteY162" fmla="*/ 3155365 h 3429000"/>
              <a:gd name="connsiteX163" fmla="*/ 7780046 w 12192000"/>
              <a:gd name="connsiteY163" fmla="*/ 3282283 h 3429000"/>
              <a:gd name="connsiteX164" fmla="*/ 7944957 w 12192000"/>
              <a:gd name="connsiteY164" fmla="*/ 3370347 h 3429000"/>
              <a:gd name="connsiteX165" fmla="*/ 7601828 w 12192000"/>
              <a:gd name="connsiteY165" fmla="*/ 3074934 h 3429000"/>
              <a:gd name="connsiteX166" fmla="*/ 7042773 w 12192000"/>
              <a:gd name="connsiteY166" fmla="*/ 2305011 h 3429000"/>
              <a:gd name="connsiteX167" fmla="*/ 6844835 w 12192000"/>
              <a:gd name="connsiteY167" fmla="*/ 1995988 h 3429000"/>
              <a:gd name="connsiteX168" fmla="*/ 6861797 w 12192000"/>
              <a:gd name="connsiteY168" fmla="*/ 1990899 h 3429000"/>
              <a:gd name="connsiteX169" fmla="*/ 1456157 w 12192000"/>
              <a:gd name="connsiteY169" fmla="*/ 1942404 h 3429000"/>
              <a:gd name="connsiteX170" fmla="*/ 1244432 w 12192000"/>
              <a:gd name="connsiteY170" fmla="*/ 1956601 h 3429000"/>
              <a:gd name="connsiteX171" fmla="*/ 973990 w 12192000"/>
              <a:gd name="connsiteY171" fmla="*/ 1995940 h 3429000"/>
              <a:gd name="connsiteX172" fmla="*/ 1103809 w 12192000"/>
              <a:gd name="connsiteY172" fmla="*/ 2004720 h 3429000"/>
              <a:gd name="connsiteX173" fmla="*/ 1123454 w 12192000"/>
              <a:gd name="connsiteY173" fmla="*/ 2006727 h 3429000"/>
              <a:gd name="connsiteX174" fmla="*/ 1737017 w 12192000"/>
              <a:gd name="connsiteY174" fmla="*/ 2023183 h 3429000"/>
              <a:gd name="connsiteX175" fmla="*/ 1824397 w 12192000"/>
              <a:gd name="connsiteY175" fmla="*/ 2018757 h 3429000"/>
              <a:gd name="connsiteX176" fmla="*/ 2070059 w 12192000"/>
              <a:gd name="connsiteY176" fmla="*/ 2012660 h 3429000"/>
              <a:gd name="connsiteX177" fmla="*/ 1456157 w 12192000"/>
              <a:gd name="connsiteY177" fmla="*/ 1942404 h 3429000"/>
              <a:gd name="connsiteX178" fmla="*/ 4988186 w 12192000"/>
              <a:gd name="connsiteY178" fmla="*/ 1787467 h 3429000"/>
              <a:gd name="connsiteX179" fmla="*/ 4777334 w 12192000"/>
              <a:gd name="connsiteY179" fmla="*/ 1977072 h 3429000"/>
              <a:gd name="connsiteX180" fmla="*/ 4718341 w 12192000"/>
              <a:gd name="connsiteY180" fmla="*/ 2039043 h 3429000"/>
              <a:gd name="connsiteX181" fmla="*/ 4604655 w 12192000"/>
              <a:gd name="connsiteY181" fmla="*/ 2154434 h 3429000"/>
              <a:gd name="connsiteX182" fmla="*/ 4565074 w 12192000"/>
              <a:gd name="connsiteY182" fmla="*/ 2189550 h 3429000"/>
              <a:gd name="connsiteX183" fmla="*/ 4988186 w 12192000"/>
              <a:gd name="connsiteY183" fmla="*/ 1787467 h 3429000"/>
              <a:gd name="connsiteX184" fmla="*/ 4978032 w 12192000"/>
              <a:gd name="connsiteY184" fmla="*/ 1754809 h 3429000"/>
              <a:gd name="connsiteX185" fmla="*/ 4463413 w 12192000"/>
              <a:gd name="connsiteY185" fmla="*/ 2186162 h 3429000"/>
              <a:gd name="connsiteX186" fmla="*/ 4358134 w 12192000"/>
              <a:gd name="connsiteY186" fmla="*/ 2313791 h 3429000"/>
              <a:gd name="connsiteX187" fmla="*/ 4376219 w 12192000"/>
              <a:gd name="connsiteY187" fmla="*/ 2300027 h 3429000"/>
              <a:gd name="connsiteX188" fmla="*/ 4582340 w 12192000"/>
              <a:gd name="connsiteY188" fmla="*/ 2132037 h 3429000"/>
              <a:gd name="connsiteX189" fmla="*/ 4694684 w 12192000"/>
              <a:gd name="connsiteY189" fmla="*/ 2018098 h 3429000"/>
              <a:gd name="connsiteX190" fmla="*/ 4754123 w 12192000"/>
              <a:gd name="connsiteY190" fmla="*/ 1955643 h 3429000"/>
              <a:gd name="connsiteX191" fmla="*/ 4978032 w 12192000"/>
              <a:gd name="connsiteY191" fmla="*/ 1754809 h 3429000"/>
              <a:gd name="connsiteX192" fmla="*/ 7427076 w 12192000"/>
              <a:gd name="connsiteY192" fmla="*/ 1713684 h 3429000"/>
              <a:gd name="connsiteX193" fmla="*/ 7485963 w 12192000"/>
              <a:gd name="connsiteY193" fmla="*/ 1745783 h 3429000"/>
              <a:gd name="connsiteX194" fmla="*/ 7719410 w 12192000"/>
              <a:gd name="connsiteY194" fmla="*/ 1928281 h 3429000"/>
              <a:gd name="connsiteX195" fmla="*/ 7907163 w 12192000"/>
              <a:gd name="connsiteY195" fmla="*/ 2117863 h 3429000"/>
              <a:gd name="connsiteX196" fmla="*/ 7956656 w 12192000"/>
              <a:gd name="connsiteY196" fmla="*/ 2186961 h 3429000"/>
              <a:gd name="connsiteX197" fmla="*/ 8023445 w 12192000"/>
              <a:gd name="connsiteY197" fmla="*/ 2276642 h 3429000"/>
              <a:gd name="connsiteX198" fmla="*/ 7754656 w 12192000"/>
              <a:gd name="connsiteY198" fmla="*/ 1912546 h 3429000"/>
              <a:gd name="connsiteX199" fmla="*/ 7427076 w 12192000"/>
              <a:gd name="connsiteY199" fmla="*/ 1713684 h 3429000"/>
              <a:gd name="connsiteX200" fmla="*/ 7312201 w 12192000"/>
              <a:gd name="connsiteY200" fmla="*/ 1699278 h 3429000"/>
              <a:gd name="connsiteX201" fmla="*/ 7343603 w 12192000"/>
              <a:gd name="connsiteY201" fmla="*/ 1720746 h 3429000"/>
              <a:gd name="connsiteX202" fmla="*/ 7791759 w 12192000"/>
              <a:gd name="connsiteY202" fmla="*/ 2086717 h 3429000"/>
              <a:gd name="connsiteX203" fmla="*/ 7825280 w 12192000"/>
              <a:gd name="connsiteY203" fmla="*/ 2122608 h 3429000"/>
              <a:gd name="connsiteX204" fmla="*/ 7982410 w 12192000"/>
              <a:gd name="connsiteY204" fmla="*/ 2273551 h 3429000"/>
              <a:gd name="connsiteX205" fmla="*/ 7932408 w 12192000"/>
              <a:gd name="connsiteY205" fmla="*/ 2203736 h 3429000"/>
              <a:gd name="connsiteX206" fmla="*/ 7883927 w 12192000"/>
              <a:gd name="connsiteY206" fmla="*/ 2136087 h 3429000"/>
              <a:gd name="connsiteX207" fmla="*/ 7699832 w 12192000"/>
              <a:gd name="connsiteY207" fmla="*/ 1950904 h 3429000"/>
              <a:gd name="connsiteX208" fmla="*/ 7470240 w 12192000"/>
              <a:gd name="connsiteY208" fmla="*/ 1771559 h 3429000"/>
              <a:gd name="connsiteX209" fmla="*/ 7312201 w 12192000"/>
              <a:gd name="connsiteY209" fmla="*/ 1699278 h 3429000"/>
              <a:gd name="connsiteX210" fmla="*/ 7244057 w 12192000"/>
              <a:gd name="connsiteY210" fmla="*/ 1695233 h 3429000"/>
              <a:gd name="connsiteX211" fmla="*/ 7353035 w 12192000"/>
              <a:gd name="connsiteY211" fmla="*/ 1768318 h 3429000"/>
              <a:gd name="connsiteX212" fmla="*/ 7981878 w 12192000"/>
              <a:gd name="connsiteY212" fmla="*/ 2309345 h 3429000"/>
              <a:gd name="connsiteX213" fmla="*/ 7804780 w 12192000"/>
              <a:gd name="connsiteY213" fmla="*/ 2143174 h 3429000"/>
              <a:gd name="connsiteX214" fmla="*/ 7771164 w 12192000"/>
              <a:gd name="connsiteY214" fmla="*/ 2107908 h 3429000"/>
              <a:gd name="connsiteX215" fmla="*/ 7327465 w 12192000"/>
              <a:gd name="connsiteY215" fmla="*/ 1745181 h 3429000"/>
              <a:gd name="connsiteX216" fmla="*/ 7244057 w 12192000"/>
              <a:gd name="connsiteY216" fmla="*/ 1695233 h 3429000"/>
              <a:gd name="connsiteX217" fmla="*/ 7133363 w 12192000"/>
              <a:gd name="connsiteY217" fmla="*/ 1621246 h 3429000"/>
              <a:gd name="connsiteX218" fmla="*/ 8128687 w 12192000"/>
              <a:gd name="connsiteY218" fmla="*/ 2361959 h 3429000"/>
              <a:gd name="connsiteX219" fmla="*/ 8497002 w 12192000"/>
              <a:gd name="connsiteY219" fmla="*/ 2775913 h 3429000"/>
              <a:gd name="connsiteX220" fmla="*/ 8514292 w 12192000"/>
              <a:gd name="connsiteY220" fmla="*/ 2586372 h 3429000"/>
              <a:gd name="connsiteX221" fmla="*/ 8491838 w 12192000"/>
              <a:gd name="connsiteY221" fmla="*/ 1907275 h 3429000"/>
              <a:gd name="connsiteX222" fmla="*/ 8605731 w 12192000"/>
              <a:gd name="connsiteY222" fmla="*/ 2171804 h 3429000"/>
              <a:gd name="connsiteX223" fmla="*/ 8594880 w 12192000"/>
              <a:gd name="connsiteY223" fmla="*/ 2610262 h 3429000"/>
              <a:gd name="connsiteX224" fmla="*/ 8494242 w 12192000"/>
              <a:gd name="connsiteY224" fmla="*/ 3363600 h 3429000"/>
              <a:gd name="connsiteX225" fmla="*/ 8794675 w 12192000"/>
              <a:gd name="connsiteY225" fmla="*/ 3161735 h 3429000"/>
              <a:gd name="connsiteX226" fmla="*/ 8800448 w 12192000"/>
              <a:gd name="connsiteY226" fmla="*/ 3152371 h 3429000"/>
              <a:gd name="connsiteX227" fmla="*/ 8788186 w 12192000"/>
              <a:gd name="connsiteY227" fmla="*/ 3143441 h 3429000"/>
              <a:gd name="connsiteX228" fmla="*/ 9137232 w 12192000"/>
              <a:gd name="connsiteY228" fmla="*/ 2236639 h 3429000"/>
              <a:gd name="connsiteX229" fmla="*/ 9216765 w 12192000"/>
              <a:gd name="connsiteY229" fmla="*/ 2267416 h 3429000"/>
              <a:gd name="connsiteX230" fmla="*/ 8969849 w 12192000"/>
              <a:gd name="connsiteY230" fmla="*/ 3037405 h 3429000"/>
              <a:gd name="connsiteX231" fmla="*/ 9706237 w 12192000"/>
              <a:gd name="connsiteY231" fmla="*/ 2990148 h 3429000"/>
              <a:gd name="connsiteX232" fmla="*/ 10110375 w 12192000"/>
              <a:gd name="connsiteY232" fmla="*/ 3134116 h 3429000"/>
              <a:gd name="connsiteX233" fmla="*/ 10096281 w 12192000"/>
              <a:gd name="connsiteY233" fmla="*/ 3149254 h 3429000"/>
              <a:gd name="connsiteX234" fmla="*/ 9067672 w 12192000"/>
              <a:gd name="connsiteY234" fmla="*/ 3219608 h 3429000"/>
              <a:gd name="connsiteX235" fmla="*/ 8859441 w 12192000"/>
              <a:gd name="connsiteY235" fmla="*/ 3212028 h 3429000"/>
              <a:gd name="connsiteX236" fmla="*/ 8857528 w 12192000"/>
              <a:gd name="connsiteY236" fmla="*/ 3212375 h 3429000"/>
              <a:gd name="connsiteX237" fmla="*/ 8848579 w 12192000"/>
              <a:gd name="connsiteY237" fmla="*/ 3214204 h 3429000"/>
              <a:gd name="connsiteX238" fmla="*/ 8576285 w 12192000"/>
              <a:gd name="connsiteY238" fmla="*/ 3395788 h 3429000"/>
              <a:gd name="connsiteX239" fmla="*/ 8519159 w 12192000"/>
              <a:gd name="connsiteY239" fmla="*/ 3428998 h 3429000"/>
              <a:gd name="connsiteX240" fmla="*/ 8393540 w 12192000"/>
              <a:gd name="connsiteY240" fmla="*/ 3428998 h 3429000"/>
              <a:gd name="connsiteX241" fmla="*/ 8417346 w 12192000"/>
              <a:gd name="connsiteY241" fmla="*/ 3316652 h 3429000"/>
              <a:gd name="connsiteX242" fmla="*/ 8485502 w 12192000"/>
              <a:gd name="connsiteY242" fmla="*/ 2879216 h 3429000"/>
              <a:gd name="connsiteX243" fmla="*/ 8480214 w 12192000"/>
              <a:gd name="connsiteY243" fmla="*/ 2873278 h 3429000"/>
              <a:gd name="connsiteX244" fmla="*/ 8112215 w 12192000"/>
              <a:gd name="connsiteY244" fmla="*/ 2408768 h 3429000"/>
              <a:gd name="connsiteX245" fmla="*/ 8095146 w 12192000"/>
              <a:gd name="connsiteY245" fmla="*/ 2402943 h 3429000"/>
              <a:gd name="connsiteX246" fmla="*/ 7131946 w 12192000"/>
              <a:gd name="connsiteY246" fmla="*/ 1646653 h 3429000"/>
              <a:gd name="connsiteX247" fmla="*/ 7133363 w 12192000"/>
              <a:gd name="connsiteY247" fmla="*/ 1621246 h 3429000"/>
              <a:gd name="connsiteX248" fmla="*/ 1903353 w 12192000"/>
              <a:gd name="connsiteY248" fmla="*/ 1615827 h 3429000"/>
              <a:gd name="connsiteX249" fmla="*/ 1936931 w 12192000"/>
              <a:gd name="connsiteY249" fmla="*/ 1664954 h 3429000"/>
              <a:gd name="connsiteX250" fmla="*/ 2195868 w 12192000"/>
              <a:gd name="connsiteY250" fmla="*/ 1967574 h 3429000"/>
              <a:gd name="connsiteX251" fmla="*/ 2088852 w 12192000"/>
              <a:gd name="connsiteY251" fmla="*/ 1737123 h 3429000"/>
              <a:gd name="connsiteX252" fmla="*/ 1958241 w 12192000"/>
              <a:gd name="connsiteY252" fmla="*/ 1638955 h 3429000"/>
              <a:gd name="connsiteX253" fmla="*/ 1903353 w 12192000"/>
              <a:gd name="connsiteY253" fmla="*/ 1615827 h 3429000"/>
              <a:gd name="connsiteX254" fmla="*/ 11544294 w 12192000"/>
              <a:gd name="connsiteY254" fmla="*/ 1515364 h 3429000"/>
              <a:gd name="connsiteX255" fmla="*/ 11755210 w 12192000"/>
              <a:gd name="connsiteY255" fmla="*/ 2159157 h 3429000"/>
              <a:gd name="connsiteX256" fmla="*/ 11544294 w 12192000"/>
              <a:gd name="connsiteY256" fmla="*/ 1515364 h 3429000"/>
              <a:gd name="connsiteX257" fmla="*/ 11571408 w 12192000"/>
              <a:gd name="connsiteY257" fmla="*/ 1489599 h 3429000"/>
              <a:gd name="connsiteX258" fmla="*/ 11778250 w 12192000"/>
              <a:gd name="connsiteY258" fmla="*/ 2136760 h 3429000"/>
              <a:gd name="connsiteX259" fmla="*/ 11571408 w 12192000"/>
              <a:gd name="connsiteY259" fmla="*/ 1489599 h 3429000"/>
              <a:gd name="connsiteX260" fmla="*/ 11540154 w 12192000"/>
              <a:gd name="connsiteY260" fmla="*/ 1438303 h 3429000"/>
              <a:gd name="connsiteX261" fmla="*/ 11540380 w 12192000"/>
              <a:gd name="connsiteY261" fmla="*/ 1443526 h 3429000"/>
              <a:gd name="connsiteX262" fmla="*/ 11542590 w 12192000"/>
              <a:gd name="connsiteY262" fmla="*/ 1442112 h 3429000"/>
              <a:gd name="connsiteX263" fmla="*/ 10567662 w 12192000"/>
              <a:gd name="connsiteY263" fmla="*/ 1437948 h 3429000"/>
              <a:gd name="connsiteX264" fmla="*/ 10431225 w 12192000"/>
              <a:gd name="connsiteY264" fmla="*/ 1448568 h 3429000"/>
              <a:gd name="connsiteX265" fmla="*/ 10277556 w 12192000"/>
              <a:gd name="connsiteY265" fmla="*/ 1460247 h 3429000"/>
              <a:gd name="connsiteX266" fmla="*/ 10155875 w 12192000"/>
              <a:gd name="connsiteY266" fmla="*/ 1453769 h 3429000"/>
              <a:gd name="connsiteX267" fmla="*/ 10072733 w 12192000"/>
              <a:gd name="connsiteY267" fmla="*/ 1447924 h 3429000"/>
              <a:gd name="connsiteX268" fmla="*/ 9882500 w 12192000"/>
              <a:gd name="connsiteY268" fmla="*/ 1452330 h 3429000"/>
              <a:gd name="connsiteX269" fmla="*/ 9685205 w 12192000"/>
              <a:gd name="connsiteY269" fmla="*/ 1456650 h 3429000"/>
              <a:gd name="connsiteX270" fmla="*/ 9666932 w 12192000"/>
              <a:gd name="connsiteY270" fmla="*/ 1456075 h 3429000"/>
              <a:gd name="connsiteX271" fmla="*/ 9608662 w 12192000"/>
              <a:gd name="connsiteY271" fmla="*/ 1455027 h 3429000"/>
              <a:gd name="connsiteX272" fmla="*/ 10026230 w 12192000"/>
              <a:gd name="connsiteY272" fmla="*/ 1509088 h 3429000"/>
              <a:gd name="connsiteX273" fmla="*/ 10567662 w 12192000"/>
              <a:gd name="connsiteY273" fmla="*/ 1437948 h 3429000"/>
              <a:gd name="connsiteX274" fmla="*/ 10221015 w 12192000"/>
              <a:gd name="connsiteY274" fmla="*/ 1354657 h 3429000"/>
              <a:gd name="connsiteX275" fmla="*/ 10107121 w 12192000"/>
              <a:gd name="connsiteY275" fmla="*/ 1356091 h 3429000"/>
              <a:gd name="connsiteX276" fmla="*/ 9660668 w 12192000"/>
              <a:gd name="connsiteY276" fmla="*/ 1425595 h 3429000"/>
              <a:gd name="connsiteX277" fmla="*/ 9669531 w 12192000"/>
              <a:gd name="connsiteY277" fmla="*/ 1426057 h 3429000"/>
              <a:gd name="connsiteX278" fmla="*/ 9687254 w 12192000"/>
              <a:gd name="connsiteY278" fmla="*/ 1426986 h 3429000"/>
              <a:gd name="connsiteX279" fmla="*/ 9881290 w 12192000"/>
              <a:gd name="connsiteY279" fmla="*/ 1422445 h 3429000"/>
              <a:gd name="connsiteX280" fmla="*/ 10074432 w 12192000"/>
              <a:gd name="connsiteY280" fmla="*/ 1417715 h 3429000"/>
              <a:gd name="connsiteX281" fmla="*/ 10159369 w 12192000"/>
              <a:gd name="connsiteY281" fmla="*/ 1423935 h 3429000"/>
              <a:gd name="connsiteX282" fmla="*/ 10278706 w 12192000"/>
              <a:gd name="connsiteY282" fmla="*/ 1430393 h 3429000"/>
              <a:gd name="connsiteX283" fmla="*/ 10429120 w 12192000"/>
              <a:gd name="connsiteY283" fmla="*/ 1418493 h 3429000"/>
              <a:gd name="connsiteX284" fmla="*/ 10538565 w 12192000"/>
              <a:gd name="connsiteY284" fmla="*/ 1408270 h 3429000"/>
              <a:gd name="connsiteX285" fmla="*/ 10221015 w 12192000"/>
              <a:gd name="connsiteY285" fmla="*/ 1354657 h 3429000"/>
              <a:gd name="connsiteX286" fmla="*/ 1979378 w 12192000"/>
              <a:gd name="connsiteY286" fmla="*/ 1340504 h 3429000"/>
              <a:gd name="connsiteX287" fmla="*/ 2882120 w 12192000"/>
              <a:gd name="connsiteY287" fmla="*/ 1635547 h 3429000"/>
              <a:gd name="connsiteX288" fmla="*/ 2793103 w 12192000"/>
              <a:gd name="connsiteY288" fmla="*/ 1610699 h 3429000"/>
              <a:gd name="connsiteX289" fmla="*/ 2770041 w 12192000"/>
              <a:gd name="connsiteY289" fmla="*/ 1604634 h 3429000"/>
              <a:gd name="connsiteX290" fmla="*/ 1979378 w 12192000"/>
              <a:gd name="connsiteY290" fmla="*/ 1340504 h 3429000"/>
              <a:gd name="connsiteX291" fmla="*/ 1927410 w 12192000"/>
              <a:gd name="connsiteY291" fmla="*/ 1287164 h 3429000"/>
              <a:gd name="connsiteX292" fmla="*/ 1959587 w 12192000"/>
              <a:gd name="connsiteY292" fmla="*/ 1299849 h 3429000"/>
              <a:gd name="connsiteX293" fmla="*/ 2777707 w 12192000"/>
              <a:gd name="connsiteY293" fmla="*/ 1574991 h 3429000"/>
              <a:gd name="connsiteX294" fmla="*/ 2800768 w 12192000"/>
              <a:gd name="connsiteY294" fmla="*/ 1581056 h 3429000"/>
              <a:gd name="connsiteX295" fmla="*/ 2879408 w 12192000"/>
              <a:gd name="connsiteY295" fmla="*/ 1602590 h 3429000"/>
              <a:gd name="connsiteX296" fmla="*/ 2862295 w 12192000"/>
              <a:gd name="connsiteY296" fmla="*/ 1593958 h 3429000"/>
              <a:gd name="connsiteX297" fmla="*/ 2813343 w 12192000"/>
              <a:gd name="connsiteY297" fmla="*/ 1569369 h 3429000"/>
              <a:gd name="connsiteX298" fmla="*/ 2646245 w 12192000"/>
              <a:gd name="connsiteY298" fmla="*/ 1501999 h 3429000"/>
              <a:gd name="connsiteX299" fmla="*/ 1999243 w 12192000"/>
              <a:gd name="connsiteY299" fmla="*/ 1301524 h 3429000"/>
              <a:gd name="connsiteX300" fmla="*/ 1979527 w 12192000"/>
              <a:gd name="connsiteY300" fmla="*/ 1297651 h 3429000"/>
              <a:gd name="connsiteX301" fmla="*/ 1997014 w 12192000"/>
              <a:gd name="connsiteY301" fmla="*/ 1269007 h 3429000"/>
              <a:gd name="connsiteX302" fmla="*/ 2005458 w 12192000"/>
              <a:gd name="connsiteY302" fmla="*/ 1270540 h 3429000"/>
              <a:gd name="connsiteX303" fmla="*/ 2657186 w 12192000"/>
              <a:gd name="connsiteY303" fmla="*/ 1472687 h 3429000"/>
              <a:gd name="connsiteX304" fmla="*/ 2826662 w 12192000"/>
              <a:gd name="connsiteY304" fmla="*/ 1541362 h 3429000"/>
              <a:gd name="connsiteX305" fmla="*/ 2876100 w 12192000"/>
              <a:gd name="connsiteY305" fmla="*/ 1566397 h 3429000"/>
              <a:gd name="connsiteX306" fmla="*/ 3042600 w 12192000"/>
              <a:gd name="connsiteY306" fmla="*/ 1630532 h 3429000"/>
              <a:gd name="connsiteX307" fmla="*/ 1997014 w 12192000"/>
              <a:gd name="connsiteY307" fmla="*/ 1269007 h 3429000"/>
              <a:gd name="connsiteX308" fmla="*/ 9857254 w 12192000"/>
              <a:gd name="connsiteY308" fmla="*/ 846904 h 3429000"/>
              <a:gd name="connsiteX309" fmla="*/ 8989866 w 12192000"/>
              <a:gd name="connsiteY309" fmla="*/ 1043742 h 3429000"/>
              <a:gd name="connsiteX310" fmla="*/ 8931614 w 12192000"/>
              <a:gd name="connsiteY310" fmla="*/ 1069508 h 3429000"/>
              <a:gd name="connsiteX311" fmla="*/ 8843711 w 12192000"/>
              <a:gd name="connsiteY311" fmla="*/ 1107334 h 3429000"/>
              <a:gd name="connsiteX312" fmla="*/ 8966093 w 12192000"/>
              <a:gd name="connsiteY312" fmla="*/ 1073509 h 3429000"/>
              <a:gd name="connsiteX313" fmla="*/ 9299227 w 12192000"/>
              <a:gd name="connsiteY313" fmla="*/ 1025994 h 3429000"/>
              <a:gd name="connsiteX314" fmla="*/ 9857254 w 12192000"/>
              <a:gd name="connsiteY314" fmla="*/ 846904 h 3429000"/>
              <a:gd name="connsiteX315" fmla="*/ 9615182 w 12192000"/>
              <a:gd name="connsiteY315" fmla="*/ 791499 h 3429000"/>
              <a:gd name="connsiteX316" fmla="*/ 9023688 w 12192000"/>
              <a:gd name="connsiteY316" fmla="*/ 996819 h 3429000"/>
              <a:gd name="connsiteX317" fmla="*/ 9814527 w 12192000"/>
              <a:gd name="connsiteY317" fmla="*/ 819048 h 3429000"/>
              <a:gd name="connsiteX318" fmla="*/ 9615182 w 12192000"/>
              <a:gd name="connsiteY318" fmla="*/ 791499 h 3429000"/>
              <a:gd name="connsiteX319" fmla="*/ 2305292 w 12192000"/>
              <a:gd name="connsiteY319" fmla="*/ 790492 h 3429000"/>
              <a:gd name="connsiteX320" fmla="*/ 3360922 w 12192000"/>
              <a:gd name="connsiteY320" fmla="*/ 1100373 h 3429000"/>
              <a:gd name="connsiteX321" fmla="*/ 3492420 w 12192000"/>
              <a:gd name="connsiteY321" fmla="*/ 1081145 h 3429000"/>
              <a:gd name="connsiteX322" fmla="*/ 3364086 w 12192000"/>
              <a:gd name="connsiteY322" fmla="*/ 1051340 h 3429000"/>
              <a:gd name="connsiteX323" fmla="*/ 3225818 w 12192000"/>
              <a:gd name="connsiteY323" fmla="*/ 982822 h 3429000"/>
              <a:gd name="connsiteX324" fmla="*/ 3129696 w 12192000"/>
              <a:gd name="connsiteY324" fmla="*/ 931704 h 3429000"/>
              <a:gd name="connsiteX325" fmla="*/ 2814545 w 12192000"/>
              <a:gd name="connsiteY325" fmla="*/ 853955 h 3429000"/>
              <a:gd name="connsiteX326" fmla="*/ 2305292 w 12192000"/>
              <a:gd name="connsiteY326" fmla="*/ 790492 h 3429000"/>
              <a:gd name="connsiteX327" fmla="*/ 2626982 w 12192000"/>
              <a:gd name="connsiteY327" fmla="*/ 777450 h 3429000"/>
              <a:gd name="connsiteX328" fmla="*/ 2490617 w 12192000"/>
              <a:gd name="connsiteY328" fmla="*/ 777951 h 3429000"/>
              <a:gd name="connsiteX329" fmla="*/ 2819869 w 12192000"/>
              <a:gd name="connsiteY329" fmla="*/ 823936 h 3429000"/>
              <a:gd name="connsiteX330" fmla="*/ 3143018 w 12192000"/>
              <a:gd name="connsiteY330" fmla="*/ 903698 h 3429000"/>
              <a:gd name="connsiteX331" fmla="*/ 3241520 w 12192000"/>
              <a:gd name="connsiteY331" fmla="*/ 956112 h 3429000"/>
              <a:gd name="connsiteX332" fmla="*/ 3374575 w 12192000"/>
              <a:gd name="connsiteY332" fmla="*/ 1022517 h 3429000"/>
              <a:gd name="connsiteX333" fmla="*/ 3505221 w 12192000"/>
              <a:gd name="connsiteY333" fmla="*/ 1051757 h 3429000"/>
              <a:gd name="connsiteX334" fmla="*/ 2626982 w 12192000"/>
              <a:gd name="connsiteY334" fmla="*/ 777450 h 3429000"/>
              <a:gd name="connsiteX335" fmla="*/ 9258094 w 12192000"/>
              <a:gd name="connsiteY335" fmla="*/ 529602 h 3429000"/>
              <a:gd name="connsiteX336" fmla="*/ 8526712 w 12192000"/>
              <a:gd name="connsiteY336" fmla="*/ 690804 h 3429000"/>
              <a:gd name="connsiteX337" fmla="*/ 9258094 w 12192000"/>
              <a:gd name="connsiteY337" fmla="*/ 529602 h 3429000"/>
              <a:gd name="connsiteX338" fmla="*/ 1310106 w 12192000"/>
              <a:gd name="connsiteY338" fmla="*/ 514217 h 3429000"/>
              <a:gd name="connsiteX339" fmla="*/ 854994 w 12192000"/>
              <a:gd name="connsiteY339" fmla="*/ 970136 h 3429000"/>
              <a:gd name="connsiteX340" fmla="*/ 742462 w 12192000"/>
              <a:gd name="connsiteY340" fmla="*/ 1165648 h 3429000"/>
              <a:gd name="connsiteX341" fmla="*/ 820602 w 12192000"/>
              <a:gd name="connsiteY341" fmla="*/ 1056915 h 3429000"/>
              <a:gd name="connsiteX342" fmla="*/ 878295 w 12192000"/>
              <a:gd name="connsiteY342" fmla="*/ 974594 h 3429000"/>
              <a:gd name="connsiteX343" fmla="*/ 1240607 w 12192000"/>
              <a:gd name="connsiteY343" fmla="*/ 581401 h 3429000"/>
              <a:gd name="connsiteX344" fmla="*/ 11225213 w 12192000"/>
              <a:gd name="connsiteY344" fmla="*/ 507722 h 3429000"/>
              <a:gd name="connsiteX345" fmla="*/ 11182914 w 12192000"/>
              <a:gd name="connsiteY345" fmla="*/ 767771 h 3429000"/>
              <a:gd name="connsiteX346" fmla="*/ 11099211 w 12192000"/>
              <a:gd name="connsiteY346" fmla="*/ 1184594 h 3429000"/>
              <a:gd name="connsiteX347" fmla="*/ 11064509 w 12192000"/>
              <a:gd name="connsiteY347" fmla="*/ 1278830 h 3429000"/>
              <a:gd name="connsiteX348" fmla="*/ 11049349 w 12192000"/>
              <a:gd name="connsiteY348" fmla="*/ 1318418 h 3429000"/>
              <a:gd name="connsiteX349" fmla="*/ 10978260 w 12192000"/>
              <a:gd name="connsiteY349" fmla="*/ 1537094 h 3429000"/>
              <a:gd name="connsiteX350" fmla="*/ 11225213 w 12192000"/>
              <a:gd name="connsiteY350" fmla="*/ 507722 h 3429000"/>
              <a:gd name="connsiteX351" fmla="*/ 9168987 w 12192000"/>
              <a:gd name="connsiteY351" fmla="*/ 490232 h 3429000"/>
              <a:gd name="connsiteX352" fmla="*/ 8603910 w 12192000"/>
              <a:gd name="connsiteY352" fmla="*/ 639895 h 3429000"/>
              <a:gd name="connsiteX353" fmla="*/ 9252382 w 12192000"/>
              <a:gd name="connsiteY353" fmla="*/ 498759 h 3429000"/>
              <a:gd name="connsiteX354" fmla="*/ 9168987 w 12192000"/>
              <a:gd name="connsiteY354" fmla="*/ 490232 h 3429000"/>
              <a:gd name="connsiteX355" fmla="*/ 11201005 w 12192000"/>
              <a:gd name="connsiteY355" fmla="*/ 471089 h 3429000"/>
              <a:gd name="connsiteX356" fmla="*/ 10968432 w 12192000"/>
              <a:gd name="connsiteY356" fmla="*/ 1456010 h 3429000"/>
              <a:gd name="connsiteX357" fmla="*/ 11019967 w 12192000"/>
              <a:gd name="connsiteY357" fmla="*/ 1306553 h 3429000"/>
              <a:gd name="connsiteX358" fmla="*/ 11035125 w 12192000"/>
              <a:gd name="connsiteY358" fmla="*/ 1266966 h 3429000"/>
              <a:gd name="connsiteX359" fmla="*/ 11069972 w 12192000"/>
              <a:gd name="connsiteY359" fmla="*/ 1174168 h 3429000"/>
              <a:gd name="connsiteX360" fmla="*/ 11152239 w 12192000"/>
              <a:gd name="connsiteY360" fmla="*/ 763628 h 3429000"/>
              <a:gd name="connsiteX361" fmla="*/ 11201005 w 12192000"/>
              <a:gd name="connsiteY361" fmla="*/ 471089 h 3429000"/>
              <a:gd name="connsiteX362" fmla="*/ 1423113 w 12192000"/>
              <a:gd name="connsiteY362" fmla="*/ 445565 h 3429000"/>
              <a:gd name="connsiteX363" fmla="*/ 1260565 w 12192000"/>
              <a:gd name="connsiteY363" fmla="*/ 602982 h 3429000"/>
              <a:gd name="connsiteX364" fmla="*/ 901900 w 12192000"/>
              <a:gd name="connsiteY364" fmla="*/ 992236 h 3429000"/>
              <a:gd name="connsiteX365" fmla="*/ 845044 w 12192000"/>
              <a:gd name="connsiteY365" fmla="*/ 1073436 h 3429000"/>
              <a:gd name="connsiteX366" fmla="*/ 685926 w 12192000"/>
              <a:gd name="connsiteY366" fmla="*/ 1274069 h 3429000"/>
              <a:gd name="connsiteX367" fmla="*/ 684248 w 12192000"/>
              <a:gd name="connsiteY367" fmla="*/ 1277721 h 3429000"/>
              <a:gd name="connsiteX368" fmla="*/ 1423113 w 12192000"/>
              <a:gd name="connsiteY368" fmla="*/ 445565 h 3429000"/>
              <a:gd name="connsiteX369" fmla="*/ 3316479 w 12192000"/>
              <a:gd name="connsiteY369" fmla="*/ 443136 h 3429000"/>
              <a:gd name="connsiteX370" fmla="*/ 3546806 w 12192000"/>
              <a:gd name="connsiteY370" fmla="*/ 927139 h 3429000"/>
              <a:gd name="connsiteX371" fmla="*/ 3364433 w 12192000"/>
              <a:gd name="connsiteY371" fmla="*/ 524121 h 3429000"/>
              <a:gd name="connsiteX372" fmla="*/ 10268559 w 12192000"/>
              <a:gd name="connsiteY372" fmla="*/ 442054 h 3429000"/>
              <a:gd name="connsiteX373" fmla="*/ 10494169 w 12192000"/>
              <a:gd name="connsiteY373" fmla="*/ 1091780 h 3429000"/>
              <a:gd name="connsiteX374" fmla="*/ 10356661 w 12192000"/>
              <a:gd name="connsiteY374" fmla="*/ 728302 h 3429000"/>
              <a:gd name="connsiteX375" fmla="*/ 10268559 w 12192000"/>
              <a:gd name="connsiteY375" fmla="*/ 442054 h 3429000"/>
              <a:gd name="connsiteX376" fmla="*/ 3291335 w 12192000"/>
              <a:gd name="connsiteY376" fmla="*/ 338420 h 3429000"/>
              <a:gd name="connsiteX377" fmla="*/ 3390805 w 12192000"/>
              <a:gd name="connsiteY377" fmla="*/ 508163 h 3429000"/>
              <a:gd name="connsiteX378" fmla="*/ 3579062 w 12192000"/>
              <a:gd name="connsiteY378" fmla="*/ 930040 h 3429000"/>
              <a:gd name="connsiteX379" fmla="*/ 3467355 w 12192000"/>
              <a:gd name="connsiteY379" fmla="*/ 559130 h 3429000"/>
              <a:gd name="connsiteX380" fmla="*/ 3310753 w 12192000"/>
              <a:gd name="connsiteY380" fmla="*/ 358140 h 3429000"/>
              <a:gd name="connsiteX381" fmla="*/ 3291335 w 12192000"/>
              <a:gd name="connsiteY381" fmla="*/ 338420 h 3429000"/>
              <a:gd name="connsiteX382" fmla="*/ 1635889 w 12192000"/>
              <a:gd name="connsiteY382" fmla="*/ 280494 h 3429000"/>
              <a:gd name="connsiteX383" fmla="*/ 1634800 w 12192000"/>
              <a:gd name="connsiteY383" fmla="*/ 302111 h 3429000"/>
              <a:gd name="connsiteX384" fmla="*/ 1635889 w 12192000"/>
              <a:gd name="connsiteY384" fmla="*/ 280494 h 3429000"/>
              <a:gd name="connsiteX385" fmla="*/ 10277529 w 12192000"/>
              <a:gd name="connsiteY385" fmla="*/ 272307 h 3429000"/>
              <a:gd name="connsiteX386" fmla="*/ 10276797 w 12192000"/>
              <a:gd name="connsiteY386" fmla="*/ 279672 h 3429000"/>
              <a:gd name="connsiteX387" fmla="*/ 10385906 w 12192000"/>
              <a:gd name="connsiteY387" fmla="*/ 718031 h 3429000"/>
              <a:gd name="connsiteX388" fmla="*/ 10536458 w 12192000"/>
              <a:gd name="connsiteY388" fmla="*/ 1115310 h 3429000"/>
              <a:gd name="connsiteX389" fmla="*/ 10436479 w 12192000"/>
              <a:gd name="connsiteY389" fmla="*/ 715570 h 3429000"/>
              <a:gd name="connsiteX390" fmla="*/ 10277529 w 12192000"/>
              <a:gd name="connsiteY390" fmla="*/ 272307 h 3429000"/>
              <a:gd name="connsiteX391" fmla="*/ 1510397 w 12192000"/>
              <a:gd name="connsiteY391" fmla="*/ 255705 h 3429000"/>
              <a:gd name="connsiteX392" fmla="*/ 1146550 w 12192000"/>
              <a:gd name="connsiteY392" fmla="*/ 373012 h 3429000"/>
              <a:gd name="connsiteX393" fmla="*/ 698834 w 12192000"/>
              <a:gd name="connsiteY393" fmla="*/ 523272 h 3429000"/>
              <a:gd name="connsiteX394" fmla="*/ 34256 w 12192000"/>
              <a:gd name="connsiteY394" fmla="*/ 918603 h 3429000"/>
              <a:gd name="connsiteX395" fmla="*/ 527241 w 12192000"/>
              <a:gd name="connsiteY395" fmla="*/ 636078 h 3429000"/>
              <a:gd name="connsiteX396" fmla="*/ 1510397 w 12192000"/>
              <a:gd name="connsiteY396" fmla="*/ 255705 h 3429000"/>
              <a:gd name="connsiteX397" fmla="*/ 1313114 w 12192000"/>
              <a:gd name="connsiteY397" fmla="*/ 226216 h 3429000"/>
              <a:gd name="connsiteX398" fmla="*/ 1109304 w 12192000"/>
              <a:gd name="connsiteY398" fmla="*/ 240030 h 3429000"/>
              <a:gd name="connsiteX399" fmla="*/ 8129 w 12192000"/>
              <a:gd name="connsiteY399" fmla="*/ 901519 h 3429000"/>
              <a:gd name="connsiteX400" fmla="*/ 687572 w 12192000"/>
              <a:gd name="connsiteY400" fmla="*/ 496629 h 3429000"/>
              <a:gd name="connsiteX401" fmla="*/ 1138365 w 12192000"/>
              <a:gd name="connsiteY401" fmla="*/ 345515 h 3429000"/>
              <a:gd name="connsiteX402" fmla="*/ 1505579 w 12192000"/>
              <a:gd name="connsiteY402" fmla="*/ 226526 h 3429000"/>
              <a:gd name="connsiteX403" fmla="*/ 1313114 w 12192000"/>
              <a:gd name="connsiteY403" fmla="*/ 226216 h 3429000"/>
              <a:gd name="connsiteX404" fmla="*/ 3655073 w 12192000"/>
              <a:gd name="connsiteY404" fmla="*/ 221884 h 3429000"/>
              <a:gd name="connsiteX405" fmla="*/ 3989938 w 12192000"/>
              <a:gd name="connsiteY405" fmla="*/ 562685 h 3429000"/>
              <a:gd name="connsiteX406" fmla="*/ 4393907 w 12192000"/>
              <a:gd name="connsiteY406" fmla="*/ 832258 h 3429000"/>
              <a:gd name="connsiteX407" fmla="*/ 4648051 w 12192000"/>
              <a:gd name="connsiteY407" fmla="*/ 945051 h 3429000"/>
              <a:gd name="connsiteX408" fmla="*/ 4383389 w 12192000"/>
              <a:gd name="connsiteY408" fmla="*/ 755369 h 3429000"/>
              <a:gd name="connsiteX409" fmla="*/ 4165508 w 12192000"/>
              <a:gd name="connsiteY409" fmla="*/ 606196 h 3429000"/>
              <a:gd name="connsiteX410" fmla="*/ 4068162 w 12192000"/>
              <a:gd name="connsiteY410" fmla="*/ 524394 h 3429000"/>
              <a:gd name="connsiteX411" fmla="*/ 3981416 w 12192000"/>
              <a:gd name="connsiteY411" fmla="*/ 451482 h 3429000"/>
              <a:gd name="connsiteX412" fmla="*/ 3800147 w 12192000"/>
              <a:gd name="connsiteY412" fmla="*/ 320872 h 3429000"/>
              <a:gd name="connsiteX413" fmla="*/ 3670252 w 12192000"/>
              <a:gd name="connsiteY413" fmla="*/ 193798 h 3429000"/>
              <a:gd name="connsiteX414" fmla="*/ 3817258 w 12192000"/>
              <a:gd name="connsiteY414" fmla="*/ 294577 h 3429000"/>
              <a:gd name="connsiteX415" fmla="*/ 4000461 w 12192000"/>
              <a:gd name="connsiteY415" fmla="*/ 426966 h 3429000"/>
              <a:gd name="connsiteX416" fmla="*/ 4088180 w 12192000"/>
              <a:gd name="connsiteY416" fmla="*/ 500774 h 3429000"/>
              <a:gd name="connsiteX417" fmla="*/ 4184555 w 12192000"/>
              <a:gd name="connsiteY417" fmla="*/ 581683 h 3429000"/>
              <a:gd name="connsiteX418" fmla="*/ 4399563 w 12192000"/>
              <a:gd name="connsiteY418" fmla="*/ 729106 h 3429000"/>
              <a:gd name="connsiteX419" fmla="*/ 4684469 w 12192000"/>
              <a:gd name="connsiteY419" fmla="*/ 935680 h 3429000"/>
              <a:gd name="connsiteX420" fmla="*/ 4690271 w 12192000"/>
              <a:gd name="connsiteY420" fmla="*/ 941034 h 3429000"/>
              <a:gd name="connsiteX421" fmla="*/ 4136093 w 12192000"/>
              <a:gd name="connsiteY421" fmla="*/ 429466 h 3429000"/>
              <a:gd name="connsiteX422" fmla="*/ 3670252 w 12192000"/>
              <a:gd name="connsiteY422" fmla="*/ 193798 h 3429000"/>
              <a:gd name="connsiteX423" fmla="*/ 9334796 w 12192000"/>
              <a:gd name="connsiteY423" fmla="*/ 27584 h 3429000"/>
              <a:gd name="connsiteX424" fmla="*/ 9651570 w 12192000"/>
              <a:gd name="connsiteY424" fmla="*/ 397505 h 3429000"/>
              <a:gd name="connsiteX425" fmla="*/ 9334796 w 12192000"/>
              <a:gd name="connsiteY425" fmla="*/ 27584 h 3429000"/>
              <a:gd name="connsiteX426" fmla="*/ 4440129 w 12192000"/>
              <a:gd name="connsiteY426" fmla="*/ 19571 h 3429000"/>
              <a:gd name="connsiteX427" fmla="*/ 4856525 w 12192000"/>
              <a:gd name="connsiteY427" fmla="*/ 486351 h 3429000"/>
              <a:gd name="connsiteX428" fmla="*/ 5059055 w 12192000"/>
              <a:gd name="connsiteY428" fmla="*/ 679918 h 3429000"/>
              <a:gd name="connsiteX429" fmla="*/ 5290070 w 12192000"/>
              <a:gd name="connsiteY429" fmla="*/ 834619 h 3429000"/>
              <a:gd name="connsiteX430" fmla="*/ 4834991 w 12192000"/>
              <a:gd name="connsiteY430" fmla="*/ 401985 h 3429000"/>
              <a:gd name="connsiteX431" fmla="*/ 4440129 w 12192000"/>
              <a:gd name="connsiteY431" fmla="*/ 19571 h 3429000"/>
              <a:gd name="connsiteX432" fmla="*/ 8613009 w 12192000"/>
              <a:gd name="connsiteY432" fmla="*/ 0 h 3429000"/>
              <a:gd name="connsiteX433" fmla="*/ 8720364 w 12192000"/>
              <a:gd name="connsiteY433" fmla="*/ 0 h 3429000"/>
              <a:gd name="connsiteX434" fmla="*/ 8781165 w 12192000"/>
              <a:gd name="connsiteY434" fmla="*/ 82863 h 3429000"/>
              <a:gd name="connsiteX435" fmla="*/ 8971448 w 12192000"/>
              <a:gd name="connsiteY435" fmla="*/ 246946 h 3429000"/>
              <a:gd name="connsiteX436" fmla="*/ 8820691 w 12192000"/>
              <a:gd name="connsiteY436" fmla="*/ 57482 h 3429000"/>
              <a:gd name="connsiteX437" fmla="*/ 8807612 w 12192000"/>
              <a:gd name="connsiteY437" fmla="*/ 38256 h 3429000"/>
              <a:gd name="connsiteX438" fmla="*/ 8780258 w 12192000"/>
              <a:gd name="connsiteY438" fmla="*/ 0 h 3429000"/>
              <a:gd name="connsiteX439" fmla="*/ 8818949 w 12192000"/>
              <a:gd name="connsiteY439" fmla="*/ 0 h 3429000"/>
              <a:gd name="connsiteX440" fmla="*/ 8833783 w 12192000"/>
              <a:gd name="connsiteY440" fmla="*/ 20753 h 3429000"/>
              <a:gd name="connsiteX441" fmla="*/ 8846863 w 12192000"/>
              <a:gd name="connsiteY441" fmla="*/ 39981 h 3429000"/>
              <a:gd name="connsiteX442" fmla="*/ 8960046 w 12192000"/>
              <a:gd name="connsiteY442" fmla="*/ 191389 h 3429000"/>
              <a:gd name="connsiteX443" fmla="*/ 8876789 w 12192000"/>
              <a:gd name="connsiteY443" fmla="*/ 0 h 3429000"/>
              <a:gd name="connsiteX444" fmla="*/ 8980100 w 12192000"/>
              <a:gd name="connsiteY444" fmla="*/ 0 h 3429000"/>
              <a:gd name="connsiteX445" fmla="*/ 9090618 w 12192000"/>
              <a:gd name="connsiteY445" fmla="*/ 287225 h 3429000"/>
              <a:gd name="connsiteX446" fmla="*/ 9762441 w 12192000"/>
              <a:gd name="connsiteY446" fmla="*/ 664587 h 3429000"/>
              <a:gd name="connsiteX447" fmla="*/ 9717826 w 12192000"/>
              <a:gd name="connsiteY447" fmla="*/ 487719 h 3429000"/>
              <a:gd name="connsiteX448" fmla="*/ 9713123 w 12192000"/>
              <a:gd name="connsiteY448" fmla="*/ 487663 h 3429000"/>
              <a:gd name="connsiteX449" fmla="*/ 9260878 w 12192000"/>
              <a:gd name="connsiteY449" fmla="*/ 87448 h 3429000"/>
              <a:gd name="connsiteX450" fmla="*/ 9221522 w 12192000"/>
              <a:gd name="connsiteY450" fmla="*/ 0 h 3429000"/>
              <a:gd name="connsiteX451" fmla="*/ 9425221 w 12192000"/>
              <a:gd name="connsiteY451" fmla="*/ 0 h 3429000"/>
              <a:gd name="connsiteX452" fmla="*/ 9453548 w 12192000"/>
              <a:gd name="connsiteY452" fmla="*/ 23392 h 3429000"/>
              <a:gd name="connsiteX453" fmla="*/ 9625671 w 12192000"/>
              <a:gd name="connsiteY453" fmla="*/ 210960 h 3429000"/>
              <a:gd name="connsiteX454" fmla="*/ 9632927 w 12192000"/>
              <a:gd name="connsiteY454" fmla="*/ 60128 h 3429000"/>
              <a:gd name="connsiteX455" fmla="*/ 9642174 w 12192000"/>
              <a:gd name="connsiteY455" fmla="*/ 0 h 3429000"/>
              <a:gd name="connsiteX456" fmla="*/ 9731615 w 12192000"/>
              <a:gd name="connsiteY456" fmla="*/ 0 h 3429000"/>
              <a:gd name="connsiteX457" fmla="*/ 9721255 w 12192000"/>
              <a:gd name="connsiteY457" fmla="*/ 74242 h 3429000"/>
              <a:gd name="connsiteX458" fmla="*/ 9736458 w 12192000"/>
              <a:gd name="connsiteY458" fmla="*/ 329413 h 3429000"/>
              <a:gd name="connsiteX459" fmla="*/ 9763499 w 12192000"/>
              <a:gd name="connsiteY459" fmla="*/ 99057 h 3429000"/>
              <a:gd name="connsiteX460" fmla="*/ 9777267 w 12192000"/>
              <a:gd name="connsiteY460" fmla="*/ 0 h 3429000"/>
              <a:gd name="connsiteX461" fmla="*/ 9808036 w 12192000"/>
              <a:gd name="connsiteY461" fmla="*/ 0 h 3429000"/>
              <a:gd name="connsiteX462" fmla="*/ 9793821 w 12192000"/>
              <a:gd name="connsiteY462" fmla="*/ 102652 h 3429000"/>
              <a:gd name="connsiteX463" fmla="*/ 9767436 w 12192000"/>
              <a:gd name="connsiteY463" fmla="*/ 321864 h 3429000"/>
              <a:gd name="connsiteX464" fmla="*/ 9814477 w 12192000"/>
              <a:gd name="connsiteY464" fmla="*/ 233531 h 3429000"/>
              <a:gd name="connsiteX465" fmla="*/ 9873012 w 12192000"/>
              <a:gd name="connsiteY465" fmla="*/ 38619 h 3429000"/>
              <a:gd name="connsiteX466" fmla="*/ 9875879 w 12192000"/>
              <a:gd name="connsiteY466" fmla="*/ 0 h 3429000"/>
              <a:gd name="connsiteX467" fmla="*/ 9965253 w 12192000"/>
              <a:gd name="connsiteY467" fmla="*/ 0 h 3429000"/>
              <a:gd name="connsiteX468" fmla="*/ 9930901 w 12192000"/>
              <a:gd name="connsiteY468" fmla="*/ 135026 h 3429000"/>
              <a:gd name="connsiteX469" fmla="*/ 9880832 w 12192000"/>
              <a:gd name="connsiteY469" fmla="*/ 271562 h 3429000"/>
              <a:gd name="connsiteX470" fmla="*/ 9896024 w 12192000"/>
              <a:gd name="connsiteY470" fmla="*/ 749295 h 3429000"/>
              <a:gd name="connsiteX471" fmla="*/ 10395379 w 12192000"/>
              <a:gd name="connsiteY471" fmla="*/ 1102843 h 3429000"/>
              <a:gd name="connsiteX472" fmla="*/ 10225980 w 12192000"/>
              <a:gd name="connsiteY472" fmla="*/ 132061 h 3429000"/>
              <a:gd name="connsiteX473" fmla="*/ 10314210 w 12192000"/>
              <a:gd name="connsiteY473" fmla="*/ 109353 h 3429000"/>
              <a:gd name="connsiteX474" fmla="*/ 10573663 w 12192000"/>
              <a:gd name="connsiteY474" fmla="*/ 842430 h 3429000"/>
              <a:gd name="connsiteX475" fmla="*/ 10583736 w 12192000"/>
              <a:gd name="connsiteY475" fmla="*/ 1259819 h 3429000"/>
              <a:gd name="connsiteX476" fmla="*/ 10880472 w 12192000"/>
              <a:gd name="connsiteY476" fmla="*/ 1537558 h 3429000"/>
              <a:gd name="connsiteX477" fmla="*/ 11231212 w 12192000"/>
              <a:gd name="connsiteY477" fmla="*/ 216474 h 3429000"/>
              <a:gd name="connsiteX478" fmla="*/ 11317765 w 12192000"/>
              <a:gd name="connsiteY478" fmla="*/ 209405 h 3429000"/>
              <a:gd name="connsiteX479" fmla="*/ 10982911 w 12192000"/>
              <a:gd name="connsiteY479" fmla="*/ 1622260 h 3429000"/>
              <a:gd name="connsiteX480" fmla="*/ 10968747 w 12192000"/>
              <a:gd name="connsiteY480" fmla="*/ 1630552 h 3429000"/>
              <a:gd name="connsiteX481" fmla="*/ 11258020 w 12192000"/>
              <a:gd name="connsiteY481" fmla="*/ 1972078 h 3429000"/>
              <a:gd name="connsiteX482" fmla="*/ 11688741 w 12192000"/>
              <a:gd name="connsiteY482" fmla="*/ 2616312 h 3429000"/>
              <a:gd name="connsiteX483" fmla="*/ 11794425 w 12192000"/>
              <a:gd name="connsiteY483" fmla="*/ 2252109 h 3429000"/>
              <a:gd name="connsiteX484" fmla="*/ 11792727 w 12192000"/>
              <a:gd name="connsiteY484" fmla="*/ 2240934 h 3429000"/>
              <a:gd name="connsiteX485" fmla="*/ 11776744 w 12192000"/>
              <a:gd name="connsiteY485" fmla="*/ 2242723 h 3429000"/>
              <a:gd name="connsiteX486" fmla="*/ 11442546 w 12192000"/>
              <a:gd name="connsiteY486" fmla="*/ 1307592 h 3429000"/>
              <a:gd name="connsiteX487" fmla="*/ 11527771 w 12192000"/>
              <a:gd name="connsiteY487" fmla="*/ 1275317 h 3429000"/>
              <a:gd name="connsiteX488" fmla="*/ 11851542 w 12192000"/>
              <a:gd name="connsiteY488" fmla="*/ 2034703 h 3429000"/>
              <a:gd name="connsiteX489" fmla="*/ 12122505 w 12192000"/>
              <a:gd name="connsiteY489" fmla="*/ 1727948 h 3429000"/>
              <a:gd name="connsiteX490" fmla="*/ 12192000 w 12192000"/>
              <a:gd name="connsiteY490" fmla="*/ 1669975 h 3429000"/>
              <a:gd name="connsiteX491" fmla="*/ 12192000 w 12192000"/>
              <a:gd name="connsiteY491" fmla="*/ 1731063 h 3429000"/>
              <a:gd name="connsiteX492" fmla="*/ 12155105 w 12192000"/>
              <a:gd name="connsiteY492" fmla="*/ 1762181 h 3429000"/>
              <a:gd name="connsiteX493" fmla="*/ 11918903 w 12192000"/>
              <a:gd name="connsiteY493" fmla="*/ 2062132 h 3429000"/>
              <a:gd name="connsiteX494" fmla="*/ 12067554 w 12192000"/>
              <a:gd name="connsiteY494" fmla="*/ 1888498 h 3429000"/>
              <a:gd name="connsiteX495" fmla="*/ 12192000 w 12192000"/>
              <a:gd name="connsiteY495" fmla="*/ 1782392 h 3429000"/>
              <a:gd name="connsiteX496" fmla="*/ 12192000 w 12192000"/>
              <a:gd name="connsiteY496" fmla="*/ 1822559 h 3429000"/>
              <a:gd name="connsiteX497" fmla="*/ 12087498 w 12192000"/>
              <a:gd name="connsiteY497" fmla="*/ 1911764 h 3429000"/>
              <a:gd name="connsiteX498" fmla="*/ 11941335 w 12192000"/>
              <a:gd name="connsiteY498" fmla="*/ 2083809 h 3429000"/>
              <a:gd name="connsiteX499" fmla="*/ 11898139 w 12192000"/>
              <a:gd name="connsiteY499" fmla="*/ 2163553 h 3429000"/>
              <a:gd name="connsiteX500" fmla="*/ 12037359 w 12192000"/>
              <a:gd name="connsiteY500" fmla="*/ 2053816 h 3429000"/>
              <a:gd name="connsiteX501" fmla="*/ 12192000 w 12192000"/>
              <a:gd name="connsiteY501" fmla="*/ 1901891 h 3429000"/>
              <a:gd name="connsiteX502" fmla="*/ 12192000 w 12192000"/>
              <a:gd name="connsiteY502" fmla="*/ 1973912 h 3429000"/>
              <a:gd name="connsiteX503" fmla="*/ 12054488 w 12192000"/>
              <a:gd name="connsiteY503" fmla="*/ 2104939 h 3429000"/>
              <a:gd name="connsiteX504" fmla="*/ 11880977 w 12192000"/>
              <a:gd name="connsiteY504" fmla="*/ 2245040 h 3429000"/>
              <a:gd name="connsiteX505" fmla="*/ 11879666 w 12192000"/>
              <a:gd name="connsiteY505" fmla="*/ 2246644 h 3429000"/>
              <a:gd name="connsiteX506" fmla="*/ 11873674 w 12192000"/>
              <a:gd name="connsiteY506" fmla="*/ 2254306 h 3429000"/>
              <a:gd name="connsiteX507" fmla="*/ 11738608 w 12192000"/>
              <a:gd name="connsiteY507" fmla="*/ 2689417 h 3429000"/>
              <a:gd name="connsiteX508" fmla="*/ 11732820 w 12192000"/>
              <a:gd name="connsiteY508" fmla="*/ 2696184 h 3429000"/>
              <a:gd name="connsiteX509" fmla="*/ 12058063 w 12192000"/>
              <a:gd name="connsiteY509" fmla="*/ 3376045 h 3429000"/>
              <a:gd name="connsiteX510" fmla="*/ 12077722 w 12192000"/>
              <a:gd name="connsiteY510" fmla="*/ 3428999 h 3429000"/>
              <a:gd name="connsiteX511" fmla="*/ 11980831 w 12192000"/>
              <a:gd name="connsiteY511" fmla="*/ 3428999 h 3429000"/>
              <a:gd name="connsiteX512" fmla="*/ 11842370 w 12192000"/>
              <a:gd name="connsiteY512" fmla="*/ 3103596 h 3429000"/>
              <a:gd name="connsiteX513" fmla="*/ 11807118 w 12192000"/>
              <a:gd name="connsiteY513" fmla="*/ 3032642 h 3429000"/>
              <a:gd name="connsiteX514" fmla="*/ 11352410 w 12192000"/>
              <a:gd name="connsiteY514" fmla="*/ 2253534 h 3429000"/>
              <a:gd name="connsiteX515" fmla="*/ 11344098 w 12192000"/>
              <a:gd name="connsiteY515" fmla="*/ 2252717 h 3429000"/>
              <a:gd name="connsiteX516" fmla="*/ 10730809 w 12192000"/>
              <a:gd name="connsiteY516" fmla="*/ 2156749 h 3429000"/>
              <a:gd name="connsiteX517" fmla="*/ 10713050 w 12192000"/>
              <a:gd name="connsiteY517" fmla="*/ 2164271 h 3429000"/>
              <a:gd name="connsiteX518" fmla="*/ 9420192 w 12192000"/>
              <a:gd name="connsiteY518" fmla="*/ 2263050 h 3429000"/>
              <a:gd name="connsiteX519" fmla="*/ 9404066 w 12192000"/>
              <a:gd name="connsiteY519" fmla="*/ 2242708 h 3429000"/>
              <a:gd name="connsiteX520" fmla="*/ 10712309 w 12192000"/>
              <a:gd name="connsiteY520" fmla="*/ 2109562 h 3429000"/>
              <a:gd name="connsiteX521" fmla="*/ 11291486 w 12192000"/>
              <a:gd name="connsiteY521" fmla="*/ 2166804 h 3429000"/>
              <a:gd name="connsiteX522" fmla="*/ 11176624 w 12192000"/>
              <a:gd name="connsiteY522" fmla="*/ 2010340 h 3429000"/>
              <a:gd name="connsiteX523" fmla="*/ 10665962 w 12192000"/>
              <a:gd name="connsiteY523" fmla="*/ 1445588 h 3429000"/>
              <a:gd name="connsiteX524" fmla="*/ 10647017 w 12192000"/>
              <a:gd name="connsiteY524" fmla="*/ 1450047 h 3429000"/>
              <a:gd name="connsiteX525" fmla="*/ 10107096 w 12192000"/>
              <a:gd name="connsiteY525" fmla="*/ 1560072 h 3429000"/>
              <a:gd name="connsiteX526" fmla="*/ 9439953 w 12192000"/>
              <a:gd name="connsiteY526" fmla="*/ 1480921 h 3429000"/>
              <a:gd name="connsiteX527" fmla="*/ 9470279 w 12192000"/>
              <a:gd name="connsiteY527" fmla="*/ 1443131 h 3429000"/>
              <a:gd name="connsiteX528" fmla="*/ 10565024 w 12192000"/>
              <a:gd name="connsiteY528" fmla="*/ 1352269 h 3429000"/>
              <a:gd name="connsiteX529" fmla="*/ 9922490 w 12192000"/>
              <a:gd name="connsiteY529" fmla="*/ 858833 h 3429000"/>
              <a:gd name="connsiteX530" fmla="*/ 9920481 w 12192000"/>
              <a:gd name="connsiteY530" fmla="*/ 859346 h 3429000"/>
              <a:gd name="connsiteX531" fmla="*/ 9916127 w 12192000"/>
              <a:gd name="connsiteY531" fmla="*/ 859836 h 3429000"/>
              <a:gd name="connsiteX532" fmla="*/ 9791125 w 12192000"/>
              <a:gd name="connsiteY532" fmla="*/ 938248 h 3429000"/>
              <a:gd name="connsiteX533" fmla="*/ 9528364 w 12192000"/>
              <a:gd name="connsiteY533" fmla="*/ 1022767 h 3429000"/>
              <a:gd name="connsiteX534" fmla="*/ 8629850 w 12192000"/>
              <a:gd name="connsiteY534" fmla="*/ 1184329 h 3429000"/>
              <a:gd name="connsiteX535" fmla="*/ 8600239 w 12192000"/>
              <a:gd name="connsiteY535" fmla="*/ 1167243 h 3429000"/>
              <a:gd name="connsiteX536" fmla="*/ 9761570 w 12192000"/>
              <a:gd name="connsiteY536" fmla="*/ 753283 h 3429000"/>
              <a:gd name="connsiteX537" fmla="*/ 9368237 w 12192000"/>
              <a:gd name="connsiteY537" fmla="*/ 520470 h 3429000"/>
              <a:gd name="connsiteX538" fmla="*/ 9354614 w 12192000"/>
              <a:gd name="connsiteY538" fmla="*/ 522288 h 3429000"/>
              <a:gd name="connsiteX539" fmla="*/ 8364351 w 12192000"/>
              <a:gd name="connsiteY539" fmla="*/ 730267 h 3429000"/>
              <a:gd name="connsiteX540" fmla="*/ 8386567 w 12192000"/>
              <a:gd name="connsiteY540" fmla="*/ 690760 h 3429000"/>
              <a:gd name="connsiteX541" fmla="*/ 9231713 w 12192000"/>
              <a:gd name="connsiteY541" fmla="*/ 444539 h 3429000"/>
              <a:gd name="connsiteX542" fmla="*/ 9023301 w 12192000"/>
              <a:gd name="connsiteY542" fmla="*/ 334109 h 3429000"/>
              <a:gd name="connsiteX543" fmla="*/ 9010556 w 12192000"/>
              <a:gd name="connsiteY543" fmla="*/ 329998 h 3429000"/>
              <a:gd name="connsiteX544" fmla="*/ 8687367 w 12192000"/>
              <a:gd name="connsiteY544" fmla="*/ 101276 h 3429000"/>
              <a:gd name="connsiteX545" fmla="*/ 4382818 w 12192000"/>
              <a:gd name="connsiteY545" fmla="*/ 0 h 3429000"/>
              <a:gd name="connsiteX546" fmla="*/ 4463614 w 12192000"/>
              <a:gd name="connsiteY546" fmla="*/ 0 h 3429000"/>
              <a:gd name="connsiteX547" fmla="*/ 4557150 w 12192000"/>
              <a:gd name="connsiteY547" fmla="*/ 81023 h 3429000"/>
              <a:gd name="connsiteX548" fmla="*/ 4856936 w 12192000"/>
              <a:gd name="connsiteY548" fmla="*/ 380146 h 3429000"/>
              <a:gd name="connsiteX549" fmla="*/ 5111996 w 12192000"/>
              <a:gd name="connsiteY549" fmla="*/ 636759 h 3429000"/>
              <a:gd name="connsiteX550" fmla="*/ 5388878 w 12192000"/>
              <a:gd name="connsiteY550" fmla="*/ 871185 h 3429000"/>
              <a:gd name="connsiteX551" fmla="*/ 5425556 w 12192000"/>
              <a:gd name="connsiteY551" fmla="*/ 879967 h 3429000"/>
              <a:gd name="connsiteX552" fmla="*/ 4943646 w 12192000"/>
              <a:gd name="connsiteY552" fmla="*/ 393916 h 3429000"/>
              <a:gd name="connsiteX553" fmla="*/ 4594837 w 12192000"/>
              <a:gd name="connsiteY553" fmla="*/ 103274 h 3429000"/>
              <a:gd name="connsiteX554" fmla="*/ 4518536 w 12192000"/>
              <a:gd name="connsiteY554" fmla="*/ 31511 h 3429000"/>
              <a:gd name="connsiteX555" fmla="*/ 4483543 w 12192000"/>
              <a:gd name="connsiteY555" fmla="*/ 0 h 3429000"/>
              <a:gd name="connsiteX556" fmla="*/ 4534233 w 12192000"/>
              <a:gd name="connsiteY556" fmla="*/ 0 h 3429000"/>
              <a:gd name="connsiteX557" fmla="*/ 4633631 w 12192000"/>
              <a:gd name="connsiteY557" fmla="*/ 74706 h 3429000"/>
              <a:gd name="connsiteX558" fmla="*/ 4949299 w 12192000"/>
              <a:gd name="connsiteY558" fmla="*/ 337336 h 3429000"/>
              <a:gd name="connsiteX559" fmla="*/ 5291452 w 12192000"/>
              <a:gd name="connsiteY559" fmla="*/ 647801 h 3429000"/>
              <a:gd name="connsiteX560" fmla="*/ 5434998 w 12192000"/>
              <a:gd name="connsiteY560" fmla="*/ 825100 h 3429000"/>
              <a:gd name="connsiteX561" fmla="*/ 5351015 w 12192000"/>
              <a:gd name="connsiteY561" fmla="*/ 331989 h 3429000"/>
              <a:gd name="connsiteX562" fmla="*/ 5344012 w 12192000"/>
              <a:gd name="connsiteY562" fmla="*/ 131333 h 3429000"/>
              <a:gd name="connsiteX563" fmla="*/ 5349920 w 12192000"/>
              <a:gd name="connsiteY563" fmla="*/ 0 h 3429000"/>
              <a:gd name="connsiteX564" fmla="*/ 5401317 w 12192000"/>
              <a:gd name="connsiteY564" fmla="*/ 0 h 3429000"/>
              <a:gd name="connsiteX565" fmla="*/ 5400859 w 12192000"/>
              <a:gd name="connsiteY565" fmla="*/ 83801 h 3429000"/>
              <a:gd name="connsiteX566" fmla="*/ 5401644 w 12192000"/>
              <a:gd name="connsiteY566" fmla="*/ 188847 h 3429000"/>
              <a:gd name="connsiteX567" fmla="*/ 5467256 w 12192000"/>
              <a:gd name="connsiteY567" fmla="*/ 746494 h 3429000"/>
              <a:gd name="connsiteX568" fmla="*/ 5448069 w 12192000"/>
              <a:gd name="connsiteY568" fmla="*/ 138554 h 3429000"/>
              <a:gd name="connsiteX569" fmla="*/ 5440458 w 12192000"/>
              <a:gd name="connsiteY569" fmla="*/ 0 h 3429000"/>
              <a:gd name="connsiteX570" fmla="*/ 5472521 w 12192000"/>
              <a:gd name="connsiteY570" fmla="*/ 0 h 3429000"/>
              <a:gd name="connsiteX571" fmla="*/ 5480135 w 12192000"/>
              <a:gd name="connsiteY571" fmla="*/ 136802 h 3429000"/>
              <a:gd name="connsiteX572" fmla="*/ 5499023 w 12192000"/>
              <a:gd name="connsiteY572" fmla="*/ 737310 h 3429000"/>
              <a:gd name="connsiteX573" fmla="*/ 5547022 w 12192000"/>
              <a:gd name="connsiteY573" fmla="*/ 178838 h 3429000"/>
              <a:gd name="connsiteX574" fmla="*/ 5522799 w 12192000"/>
              <a:gd name="connsiteY574" fmla="*/ 0 h 3429000"/>
              <a:gd name="connsiteX575" fmla="*/ 5573386 w 12192000"/>
              <a:gd name="connsiteY575" fmla="*/ 0 h 3429000"/>
              <a:gd name="connsiteX576" fmla="*/ 5587618 w 12192000"/>
              <a:gd name="connsiteY576" fmla="*/ 82353 h 3429000"/>
              <a:gd name="connsiteX577" fmla="*/ 5519779 w 12192000"/>
              <a:gd name="connsiteY577" fmla="*/ 930223 h 3429000"/>
              <a:gd name="connsiteX578" fmla="*/ 5520293 w 12192000"/>
              <a:gd name="connsiteY578" fmla="*/ 931602 h 3429000"/>
              <a:gd name="connsiteX579" fmla="*/ 5767221 w 12192000"/>
              <a:gd name="connsiteY579" fmla="*/ 1236564 h 3429000"/>
              <a:gd name="connsiteX580" fmla="*/ 6937169 w 12192000"/>
              <a:gd name="connsiteY580" fmla="*/ 1386941 h 3429000"/>
              <a:gd name="connsiteX581" fmla="*/ 6953922 w 12192000"/>
              <a:gd name="connsiteY581" fmla="*/ 1461068 h 3429000"/>
              <a:gd name="connsiteX582" fmla="*/ 6071359 w 12192000"/>
              <a:gd name="connsiteY582" fmla="*/ 1341770 h 3429000"/>
              <a:gd name="connsiteX583" fmla="*/ 6038839 w 12192000"/>
              <a:gd name="connsiteY583" fmla="*/ 1335474 h 3429000"/>
              <a:gd name="connsiteX584" fmla="*/ 6038706 w 12192000"/>
              <a:gd name="connsiteY584" fmla="*/ 1334847 h 3429000"/>
              <a:gd name="connsiteX585" fmla="*/ 6037784 w 12192000"/>
              <a:gd name="connsiteY585" fmla="*/ 1335270 h 3429000"/>
              <a:gd name="connsiteX586" fmla="*/ 6038839 w 12192000"/>
              <a:gd name="connsiteY586" fmla="*/ 1335474 h 3429000"/>
              <a:gd name="connsiteX587" fmla="*/ 6040338 w 12192000"/>
              <a:gd name="connsiteY587" fmla="*/ 1342418 h 3429000"/>
              <a:gd name="connsiteX588" fmla="*/ 6024488 w 12192000"/>
              <a:gd name="connsiteY588" fmla="*/ 1380903 h 3429000"/>
              <a:gd name="connsiteX589" fmla="*/ 5599771 w 12192000"/>
              <a:gd name="connsiteY589" fmla="*/ 2080652 h 3429000"/>
              <a:gd name="connsiteX590" fmla="*/ 5548843 w 12192000"/>
              <a:gd name="connsiteY590" fmla="*/ 2134845 h 3429000"/>
              <a:gd name="connsiteX591" fmla="*/ 5940952 w 12192000"/>
              <a:gd name="connsiteY591" fmla="*/ 2821028 h 3429000"/>
              <a:gd name="connsiteX592" fmla="*/ 6043441 w 12192000"/>
              <a:gd name="connsiteY592" fmla="*/ 3236847 h 3429000"/>
              <a:gd name="connsiteX593" fmla="*/ 6093432 w 12192000"/>
              <a:gd name="connsiteY593" fmla="*/ 3429000 h 3429000"/>
              <a:gd name="connsiteX594" fmla="*/ 6034344 w 12192000"/>
              <a:gd name="connsiteY594" fmla="*/ 3429000 h 3429000"/>
              <a:gd name="connsiteX595" fmla="*/ 6026679 w 12192000"/>
              <a:gd name="connsiteY595" fmla="*/ 3407959 h 3429000"/>
              <a:gd name="connsiteX596" fmla="*/ 5800441 w 12192000"/>
              <a:gd name="connsiteY596" fmla="*/ 2906286 h 3429000"/>
              <a:gd name="connsiteX597" fmla="*/ 5526562 w 12192000"/>
              <a:gd name="connsiteY597" fmla="*/ 2276388 h 3429000"/>
              <a:gd name="connsiteX598" fmla="*/ 5519640 w 12192000"/>
              <a:gd name="connsiteY598" fmla="*/ 2254774 h 3429000"/>
              <a:gd name="connsiteX599" fmla="*/ 5844559 w 12192000"/>
              <a:gd name="connsiteY599" fmla="*/ 3124349 h 3429000"/>
              <a:gd name="connsiteX600" fmla="*/ 5975994 w 12192000"/>
              <a:gd name="connsiteY600" fmla="*/ 3429000 h 3429000"/>
              <a:gd name="connsiteX601" fmla="*/ 5898547 w 12192000"/>
              <a:gd name="connsiteY601" fmla="*/ 3429000 h 3429000"/>
              <a:gd name="connsiteX602" fmla="*/ 5682041 w 12192000"/>
              <a:gd name="connsiteY602" fmla="*/ 2926860 h 3429000"/>
              <a:gd name="connsiteX603" fmla="*/ 5461758 w 12192000"/>
              <a:gd name="connsiteY603" fmla="*/ 2391220 h 3429000"/>
              <a:gd name="connsiteX604" fmla="*/ 5237282 w 12192000"/>
              <a:gd name="connsiteY604" fmla="*/ 3150086 h 3429000"/>
              <a:gd name="connsiteX605" fmla="*/ 5115009 w 12192000"/>
              <a:gd name="connsiteY605" fmla="*/ 3429000 h 3429000"/>
              <a:gd name="connsiteX606" fmla="*/ 5028074 w 12192000"/>
              <a:gd name="connsiteY606" fmla="*/ 3429000 h 3429000"/>
              <a:gd name="connsiteX607" fmla="*/ 5079508 w 12192000"/>
              <a:gd name="connsiteY607" fmla="*/ 3320074 h 3429000"/>
              <a:gd name="connsiteX608" fmla="*/ 5371846 w 12192000"/>
              <a:gd name="connsiteY608" fmla="*/ 2495413 h 3429000"/>
              <a:gd name="connsiteX609" fmla="*/ 5270512 w 12192000"/>
              <a:gd name="connsiteY609" fmla="*/ 2709975 h 3429000"/>
              <a:gd name="connsiteX610" fmla="*/ 5062409 w 12192000"/>
              <a:gd name="connsiteY610" fmla="*/ 3224544 h 3429000"/>
              <a:gd name="connsiteX611" fmla="*/ 5036628 w 12192000"/>
              <a:gd name="connsiteY611" fmla="*/ 3325247 h 3429000"/>
              <a:gd name="connsiteX612" fmla="*/ 5009112 w 12192000"/>
              <a:gd name="connsiteY612" fmla="*/ 3429000 h 3429000"/>
              <a:gd name="connsiteX613" fmla="*/ 4976679 w 12192000"/>
              <a:gd name="connsiteY613" fmla="*/ 3429000 h 3429000"/>
              <a:gd name="connsiteX614" fmla="*/ 5006537 w 12192000"/>
              <a:gd name="connsiteY614" fmla="*/ 3318068 h 3429000"/>
              <a:gd name="connsiteX615" fmla="*/ 5032723 w 12192000"/>
              <a:gd name="connsiteY615" fmla="*/ 3215957 h 3429000"/>
              <a:gd name="connsiteX616" fmla="*/ 5242949 w 12192000"/>
              <a:gd name="connsiteY616" fmla="*/ 2696175 h 3429000"/>
              <a:gd name="connsiteX617" fmla="*/ 5286321 w 12192000"/>
              <a:gd name="connsiteY617" fmla="*/ 2604555 h 3429000"/>
              <a:gd name="connsiteX618" fmla="*/ 5008210 w 12192000"/>
              <a:gd name="connsiteY618" fmla="*/ 3220194 h 3429000"/>
              <a:gd name="connsiteX619" fmla="*/ 4986321 w 12192000"/>
              <a:gd name="connsiteY619" fmla="*/ 3336687 h 3429000"/>
              <a:gd name="connsiteX620" fmla="*/ 4973474 w 12192000"/>
              <a:gd name="connsiteY620" fmla="*/ 3429000 h 3429000"/>
              <a:gd name="connsiteX621" fmla="*/ 4907178 w 12192000"/>
              <a:gd name="connsiteY621" fmla="*/ 3429000 h 3429000"/>
              <a:gd name="connsiteX622" fmla="*/ 4910810 w 12192000"/>
              <a:gd name="connsiteY622" fmla="*/ 3400660 h 3429000"/>
              <a:gd name="connsiteX623" fmla="*/ 4987461 w 12192000"/>
              <a:gd name="connsiteY623" fmla="*/ 3003994 h 3429000"/>
              <a:gd name="connsiteX624" fmla="*/ 5179262 w 12192000"/>
              <a:gd name="connsiteY624" fmla="*/ 2606044 h 3429000"/>
              <a:gd name="connsiteX625" fmla="*/ 4689678 w 12192000"/>
              <a:gd name="connsiteY625" fmla="*/ 3011241 h 3429000"/>
              <a:gd name="connsiteX626" fmla="*/ 4477543 w 12192000"/>
              <a:gd name="connsiteY626" fmla="*/ 3245836 h 3429000"/>
              <a:gd name="connsiteX627" fmla="*/ 4329957 w 12192000"/>
              <a:gd name="connsiteY627" fmla="*/ 3429000 h 3429000"/>
              <a:gd name="connsiteX628" fmla="*/ 4218595 w 12192000"/>
              <a:gd name="connsiteY628" fmla="*/ 3429000 h 3429000"/>
              <a:gd name="connsiteX629" fmla="*/ 4368888 w 12192000"/>
              <a:gd name="connsiteY629" fmla="*/ 3239412 h 3429000"/>
              <a:gd name="connsiteX630" fmla="*/ 4563091 w 12192000"/>
              <a:gd name="connsiteY630" fmla="*/ 3013508 h 3429000"/>
              <a:gd name="connsiteX631" fmla="*/ 5387324 w 12192000"/>
              <a:gd name="connsiteY631" fmla="*/ 2276830 h 3429000"/>
              <a:gd name="connsiteX632" fmla="*/ 5073620 w 12192000"/>
              <a:gd name="connsiteY632" fmla="*/ 2526437 h 3429000"/>
              <a:gd name="connsiteX633" fmla="*/ 4689789 w 12192000"/>
              <a:gd name="connsiteY633" fmla="*/ 2839382 h 3429000"/>
              <a:gd name="connsiteX634" fmla="*/ 4418722 w 12192000"/>
              <a:gd name="connsiteY634" fmla="*/ 3141886 h 3429000"/>
              <a:gd name="connsiteX635" fmla="*/ 4214944 w 12192000"/>
              <a:gd name="connsiteY635" fmla="*/ 3429000 h 3429000"/>
              <a:gd name="connsiteX636" fmla="*/ 4177898 w 12192000"/>
              <a:gd name="connsiteY636" fmla="*/ 3429000 h 3429000"/>
              <a:gd name="connsiteX637" fmla="*/ 4391597 w 12192000"/>
              <a:gd name="connsiteY637" fmla="*/ 3127370 h 3429000"/>
              <a:gd name="connsiteX638" fmla="*/ 4668889 w 12192000"/>
              <a:gd name="connsiteY638" fmla="*/ 2817399 h 3429000"/>
              <a:gd name="connsiteX639" fmla="*/ 5055427 w 12192000"/>
              <a:gd name="connsiteY639" fmla="*/ 2502476 h 3429000"/>
              <a:gd name="connsiteX640" fmla="*/ 5371814 w 12192000"/>
              <a:gd name="connsiteY640" fmla="*/ 2249975 h 3429000"/>
              <a:gd name="connsiteX641" fmla="*/ 4987918 w 12192000"/>
              <a:gd name="connsiteY641" fmla="*/ 2409701 h 3429000"/>
              <a:gd name="connsiteX642" fmla="*/ 4317146 w 12192000"/>
              <a:gd name="connsiteY642" fmla="*/ 3158716 h 3429000"/>
              <a:gd name="connsiteX643" fmla="*/ 4171627 w 12192000"/>
              <a:gd name="connsiteY643" fmla="*/ 3429000 h 3429000"/>
              <a:gd name="connsiteX644" fmla="*/ 4081585 w 12192000"/>
              <a:gd name="connsiteY644" fmla="*/ 3429000 h 3429000"/>
              <a:gd name="connsiteX645" fmla="*/ 4238603 w 12192000"/>
              <a:gd name="connsiteY645" fmla="*/ 3130341 h 3429000"/>
              <a:gd name="connsiteX646" fmla="*/ 4778333 w 12192000"/>
              <a:gd name="connsiteY646" fmla="*/ 2444626 h 3429000"/>
              <a:gd name="connsiteX647" fmla="*/ 5414185 w 12192000"/>
              <a:gd name="connsiteY647" fmla="*/ 2144882 h 3429000"/>
              <a:gd name="connsiteX648" fmla="*/ 5959648 w 12192000"/>
              <a:gd name="connsiteY648" fmla="*/ 1331797 h 3429000"/>
              <a:gd name="connsiteX649" fmla="*/ 5355019 w 12192000"/>
              <a:gd name="connsiteY649" fmla="*/ 1305672 h 3429000"/>
              <a:gd name="connsiteX650" fmla="*/ 5083565 w 12192000"/>
              <a:gd name="connsiteY650" fmla="*/ 1750121 h 3429000"/>
              <a:gd name="connsiteX651" fmla="*/ 4713577 w 12192000"/>
              <a:gd name="connsiteY651" fmla="*/ 2187803 h 3429000"/>
              <a:gd name="connsiteX652" fmla="*/ 3989559 w 12192000"/>
              <a:gd name="connsiteY652" fmla="*/ 2716945 h 3429000"/>
              <a:gd name="connsiteX653" fmla="*/ 3939824 w 12192000"/>
              <a:gd name="connsiteY653" fmla="*/ 2637900 h 3429000"/>
              <a:gd name="connsiteX654" fmla="*/ 4584537 w 12192000"/>
              <a:gd name="connsiteY654" fmla="*/ 1895826 h 3429000"/>
              <a:gd name="connsiteX655" fmla="*/ 5037105 w 12192000"/>
              <a:gd name="connsiteY655" fmla="*/ 1659765 h 3429000"/>
              <a:gd name="connsiteX656" fmla="*/ 5039930 w 12192000"/>
              <a:gd name="connsiteY656" fmla="*/ 1660585 h 3429000"/>
              <a:gd name="connsiteX657" fmla="*/ 5263764 w 12192000"/>
              <a:gd name="connsiteY657" fmla="*/ 1306525 h 3429000"/>
              <a:gd name="connsiteX658" fmla="*/ 4086300 w 12192000"/>
              <a:gd name="connsiteY658" fmla="*/ 1455599 h 3429000"/>
              <a:gd name="connsiteX659" fmla="*/ 4085485 w 12192000"/>
              <a:gd name="connsiteY659" fmla="*/ 1470070 h 3429000"/>
              <a:gd name="connsiteX660" fmla="*/ 3871915 w 12192000"/>
              <a:gd name="connsiteY660" fmla="*/ 1824645 h 3429000"/>
              <a:gd name="connsiteX661" fmla="*/ 3799374 w 12192000"/>
              <a:gd name="connsiteY661" fmla="*/ 2037127 h 3429000"/>
              <a:gd name="connsiteX662" fmla="*/ 3498850 w 12192000"/>
              <a:gd name="connsiteY662" fmla="*/ 3232888 h 3429000"/>
              <a:gd name="connsiteX663" fmla="*/ 3399216 w 12192000"/>
              <a:gd name="connsiteY663" fmla="*/ 3429000 h 3429000"/>
              <a:gd name="connsiteX664" fmla="*/ 3303688 w 12192000"/>
              <a:gd name="connsiteY664" fmla="*/ 3429000 h 3429000"/>
              <a:gd name="connsiteX665" fmla="*/ 3391774 w 12192000"/>
              <a:gd name="connsiteY665" fmla="*/ 3268181 h 3429000"/>
              <a:gd name="connsiteX666" fmla="*/ 3735540 w 12192000"/>
              <a:gd name="connsiteY666" fmla="*/ 2117923 h 3429000"/>
              <a:gd name="connsiteX667" fmla="*/ 3729438 w 12192000"/>
              <a:gd name="connsiteY667" fmla="*/ 2140058 h 3429000"/>
              <a:gd name="connsiteX668" fmla="*/ 3707782 w 12192000"/>
              <a:gd name="connsiteY668" fmla="*/ 2215908 h 3429000"/>
              <a:gd name="connsiteX669" fmla="*/ 3583827 w 12192000"/>
              <a:gd name="connsiteY669" fmla="*/ 2610215 h 3429000"/>
              <a:gd name="connsiteX670" fmla="*/ 3547861 w 12192000"/>
              <a:gd name="connsiteY670" fmla="*/ 2700609 h 3429000"/>
              <a:gd name="connsiteX671" fmla="*/ 3490905 w 12192000"/>
              <a:gd name="connsiteY671" fmla="*/ 2848660 h 3429000"/>
              <a:gd name="connsiteX672" fmla="*/ 3455859 w 12192000"/>
              <a:gd name="connsiteY672" fmla="*/ 2962301 h 3429000"/>
              <a:gd name="connsiteX673" fmla="*/ 3429112 w 12192000"/>
              <a:gd name="connsiteY673" fmla="*/ 3050469 h 3429000"/>
              <a:gd name="connsiteX674" fmla="*/ 3304862 w 12192000"/>
              <a:gd name="connsiteY674" fmla="*/ 3367476 h 3429000"/>
              <a:gd name="connsiteX675" fmla="*/ 3276071 w 12192000"/>
              <a:gd name="connsiteY675" fmla="*/ 3429000 h 3429000"/>
              <a:gd name="connsiteX676" fmla="*/ 3240805 w 12192000"/>
              <a:gd name="connsiteY676" fmla="*/ 3429000 h 3429000"/>
              <a:gd name="connsiteX677" fmla="*/ 3275917 w 12192000"/>
              <a:gd name="connsiteY677" fmla="*/ 3354192 h 3429000"/>
              <a:gd name="connsiteX678" fmla="*/ 3399358 w 12192000"/>
              <a:gd name="connsiteY678" fmla="*/ 3040011 h 3429000"/>
              <a:gd name="connsiteX679" fmla="*/ 3425650 w 12192000"/>
              <a:gd name="connsiteY679" fmla="*/ 2952333 h 3429000"/>
              <a:gd name="connsiteX680" fmla="*/ 3460661 w 12192000"/>
              <a:gd name="connsiteY680" fmla="*/ 2837763 h 3429000"/>
              <a:gd name="connsiteX681" fmla="*/ 3518021 w 12192000"/>
              <a:gd name="connsiteY681" fmla="*/ 2688298 h 3429000"/>
              <a:gd name="connsiteX682" fmla="*/ 3554035 w 12192000"/>
              <a:gd name="connsiteY682" fmla="*/ 2598832 h 3429000"/>
              <a:gd name="connsiteX683" fmla="*/ 3677174 w 12192000"/>
              <a:gd name="connsiteY683" fmla="*/ 2207351 h 3429000"/>
              <a:gd name="connsiteX684" fmla="*/ 3698819 w 12192000"/>
              <a:gd name="connsiteY684" fmla="*/ 2131503 h 3429000"/>
              <a:gd name="connsiteX685" fmla="*/ 3702094 w 12192000"/>
              <a:gd name="connsiteY685" fmla="*/ 2120194 h 3429000"/>
              <a:gd name="connsiteX686" fmla="*/ 3398355 w 12192000"/>
              <a:gd name="connsiteY686" fmla="*/ 2665603 h 3429000"/>
              <a:gd name="connsiteX687" fmla="*/ 3193941 w 12192000"/>
              <a:gd name="connsiteY687" fmla="*/ 3369775 h 3429000"/>
              <a:gd name="connsiteX688" fmla="*/ 3184140 w 12192000"/>
              <a:gd name="connsiteY688" fmla="*/ 3429000 h 3429000"/>
              <a:gd name="connsiteX689" fmla="*/ 3099978 w 12192000"/>
              <a:gd name="connsiteY689" fmla="*/ 3429000 h 3429000"/>
              <a:gd name="connsiteX690" fmla="*/ 3101556 w 12192000"/>
              <a:gd name="connsiteY690" fmla="*/ 3414337 h 3429000"/>
              <a:gd name="connsiteX691" fmla="*/ 3370162 w 12192000"/>
              <a:gd name="connsiteY691" fmla="*/ 2356550 h 3429000"/>
              <a:gd name="connsiteX692" fmla="*/ 3746477 w 12192000"/>
              <a:gd name="connsiteY692" fmla="*/ 1948889 h 3429000"/>
              <a:gd name="connsiteX693" fmla="*/ 3863399 w 12192000"/>
              <a:gd name="connsiteY693" fmla="*/ 1658257 h 3429000"/>
              <a:gd name="connsiteX694" fmla="*/ 3968712 w 12192000"/>
              <a:gd name="connsiteY694" fmla="*/ 1484989 h 3429000"/>
              <a:gd name="connsiteX695" fmla="*/ 2792390 w 12192000"/>
              <a:gd name="connsiteY695" fmla="*/ 1953974 h 3429000"/>
              <a:gd name="connsiteX696" fmla="*/ 2714982 w 12192000"/>
              <a:gd name="connsiteY696" fmla="*/ 1998051 h 3429000"/>
              <a:gd name="connsiteX697" fmla="*/ 2813361 w 12192000"/>
              <a:gd name="connsiteY697" fmla="*/ 2594912 h 3429000"/>
              <a:gd name="connsiteX698" fmla="*/ 2688430 w 12192000"/>
              <a:gd name="connsiteY698" fmla="*/ 3372564 h 3429000"/>
              <a:gd name="connsiteX699" fmla="*/ 2629626 w 12192000"/>
              <a:gd name="connsiteY699" fmla="*/ 3334394 h 3429000"/>
              <a:gd name="connsiteX700" fmla="*/ 2565328 w 12192000"/>
              <a:gd name="connsiteY700" fmla="*/ 2087399 h 3429000"/>
              <a:gd name="connsiteX701" fmla="*/ 1922999 w 12192000"/>
              <a:gd name="connsiteY701" fmla="*/ 2551343 h 3429000"/>
              <a:gd name="connsiteX702" fmla="*/ 1950261 w 12192000"/>
              <a:gd name="connsiteY702" fmla="*/ 2976858 h 3429000"/>
              <a:gd name="connsiteX703" fmla="*/ 2365554 w 12192000"/>
              <a:gd name="connsiteY703" fmla="*/ 3330107 h 3429000"/>
              <a:gd name="connsiteX704" fmla="*/ 2424142 w 12192000"/>
              <a:gd name="connsiteY704" fmla="*/ 3429000 h 3429000"/>
              <a:gd name="connsiteX705" fmla="*/ 2395994 w 12192000"/>
              <a:gd name="connsiteY705" fmla="*/ 3429000 h 3429000"/>
              <a:gd name="connsiteX706" fmla="*/ 2392863 w 12192000"/>
              <a:gd name="connsiteY706" fmla="*/ 3423964 h 3429000"/>
              <a:gd name="connsiteX707" fmla="*/ 2017589 w 12192000"/>
              <a:gd name="connsiteY707" fmla="*/ 3064982 h 3429000"/>
              <a:gd name="connsiteX708" fmla="*/ 2147336 w 12192000"/>
              <a:gd name="connsiteY708" fmla="*/ 3165052 h 3429000"/>
              <a:gd name="connsiteX709" fmla="*/ 2207047 w 12192000"/>
              <a:gd name="connsiteY709" fmla="*/ 3225540 h 3429000"/>
              <a:gd name="connsiteX710" fmla="*/ 2299106 w 12192000"/>
              <a:gd name="connsiteY710" fmla="*/ 3349931 h 3429000"/>
              <a:gd name="connsiteX711" fmla="*/ 2314430 w 12192000"/>
              <a:gd name="connsiteY711" fmla="*/ 3372144 h 3429000"/>
              <a:gd name="connsiteX712" fmla="*/ 2352406 w 12192000"/>
              <a:gd name="connsiteY712" fmla="*/ 3429000 h 3429000"/>
              <a:gd name="connsiteX713" fmla="*/ 2314492 w 12192000"/>
              <a:gd name="connsiteY713" fmla="*/ 3429000 h 3429000"/>
              <a:gd name="connsiteX714" fmla="*/ 2288095 w 12192000"/>
              <a:gd name="connsiteY714" fmla="*/ 3389030 h 3429000"/>
              <a:gd name="connsiteX715" fmla="*/ 2272768 w 12192000"/>
              <a:gd name="connsiteY715" fmla="*/ 3366822 h 3429000"/>
              <a:gd name="connsiteX716" fmla="*/ 2182715 w 12192000"/>
              <a:gd name="connsiteY716" fmla="*/ 3246071 h 3429000"/>
              <a:gd name="connsiteX717" fmla="*/ 2032061 w 12192000"/>
              <a:gd name="connsiteY717" fmla="*/ 3112380 h 3429000"/>
              <a:gd name="connsiteX718" fmla="*/ 2257220 w 12192000"/>
              <a:gd name="connsiteY718" fmla="*/ 3397257 h 3429000"/>
              <a:gd name="connsiteX719" fmla="*/ 2281324 w 12192000"/>
              <a:gd name="connsiteY719" fmla="*/ 3429000 h 3429000"/>
              <a:gd name="connsiteX720" fmla="*/ 2242860 w 12192000"/>
              <a:gd name="connsiteY720" fmla="*/ 3429000 h 3429000"/>
              <a:gd name="connsiteX721" fmla="*/ 2232818 w 12192000"/>
              <a:gd name="connsiteY721" fmla="*/ 3415926 h 3429000"/>
              <a:gd name="connsiteX722" fmla="*/ 1990172 w 12192000"/>
              <a:gd name="connsiteY722" fmla="*/ 3113121 h 3429000"/>
              <a:gd name="connsiteX723" fmla="*/ 2124090 w 12192000"/>
              <a:gd name="connsiteY723" fmla="*/ 3332017 h 3429000"/>
              <a:gd name="connsiteX724" fmla="*/ 2200380 w 12192000"/>
              <a:gd name="connsiteY724" fmla="*/ 3429000 h 3429000"/>
              <a:gd name="connsiteX725" fmla="*/ 2147507 w 12192000"/>
              <a:gd name="connsiteY725" fmla="*/ 3429000 h 3429000"/>
              <a:gd name="connsiteX726" fmla="*/ 2070668 w 12192000"/>
              <a:gd name="connsiteY726" fmla="*/ 3332520 h 3429000"/>
              <a:gd name="connsiteX727" fmla="*/ 1975142 w 12192000"/>
              <a:gd name="connsiteY727" fmla="*/ 3156570 h 3429000"/>
              <a:gd name="connsiteX728" fmla="*/ 2050035 w 12192000"/>
              <a:gd name="connsiteY728" fmla="*/ 3384345 h 3429000"/>
              <a:gd name="connsiteX729" fmla="*/ 2063025 w 12192000"/>
              <a:gd name="connsiteY729" fmla="*/ 3429000 h 3429000"/>
              <a:gd name="connsiteX730" fmla="*/ 2021675 w 12192000"/>
              <a:gd name="connsiteY730" fmla="*/ 3429000 h 3429000"/>
              <a:gd name="connsiteX731" fmla="*/ 2019308 w 12192000"/>
              <a:gd name="connsiteY731" fmla="*/ 3418118 h 3429000"/>
              <a:gd name="connsiteX732" fmla="*/ 1938835 w 12192000"/>
              <a:gd name="connsiteY732" fmla="*/ 3122160 h 3429000"/>
              <a:gd name="connsiteX733" fmla="*/ 1953230 w 12192000"/>
              <a:gd name="connsiteY733" fmla="*/ 3330699 h 3429000"/>
              <a:gd name="connsiteX734" fmla="*/ 1956763 w 12192000"/>
              <a:gd name="connsiteY734" fmla="*/ 3349191 h 3429000"/>
              <a:gd name="connsiteX735" fmla="*/ 1967925 w 12192000"/>
              <a:gd name="connsiteY735" fmla="*/ 3429000 h 3429000"/>
              <a:gd name="connsiteX736" fmla="*/ 1936622 w 12192000"/>
              <a:gd name="connsiteY736" fmla="*/ 3429000 h 3429000"/>
              <a:gd name="connsiteX737" fmla="*/ 1926261 w 12192000"/>
              <a:gd name="connsiteY737" fmla="*/ 3355064 h 3429000"/>
              <a:gd name="connsiteX738" fmla="*/ 1922724 w 12192000"/>
              <a:gd name="connsiteY738" fmla="*/ 3336577 h 3429000"/>
              <a:gd name="connsiteX739" fmla="*/ 1904650 w 12192000"/>
              <a:gd name="connsiteY739" fmla="*/ 3210616 h 3429000"/>
              <a:gd name="connsiteX740" fmla="*/ 1885273 w 12192000"/>
              <a:gd name="connsiteY740" fmla="*/ 3429000 h 3429000"/>
              <a:gd name="connsiteX741" fmla="*/ 1854363 w 12192000"/>
              <a:gd name="connsiteY741" fmla="*/ 3429000 h 3429000"/>
              <a:gd name="connsiteX742" fmla="*/ 1880391 w 12192000"/>
              <a:gd name="connsiteY742" fmla="*/ 3174796 h 3429000"/>
              <a:gd name="connsiteX743" fmla="*/ 1818273 w 12192000"/>
              <a:gd name="connsiteY743" fmla="*/ 3286729 h 3429000"/>
              <a:gd name="connsiteX744" fmla="*/ 1794691 w 12192000"/>
              <a:gd name="connsiteY744" fmla="*/ 3414239 h 3429000"/>
              <a:gd name="connsiteX745" fmla="*/ 1794914 w 12192000"/>
              <a:gd name="connsiteY745" fmla="*/ 3429000 h 3429000"/>
              <a:gd name="connsiteX746" fmla="*/ 1746128 w 12192000"/>
              <a:gd name="connsiteY746" fmla="*/ 3429000 h 3429000"/>
              <a:gd name="connsiteX747" fmla="*/ 1753934 w 12192000"/>
              <a:gd name="connsiteY747" fmla="*/ 3295796 h 3429000"/>
              <a:gd name="connsiteX748" fmla="*/ 1792053 w 12192000"/>
              <a:gd name="connsiteY748" fmla="*/ 3143396 h 3429000"/>
              <a:gd name="connsiteX749" fmla="*/ 1862248 w 12192000"/>
              <a:gd name="connsiteY749" fmla="*/ 2837397 h 3429000"/>
              <a:gd name="connsiteX750" fmla="*/ 1862250 w 12192000"/>
              <a:gd name="connsiteY750" fmla="*/ 2604531 h 3429000"/>
              <a:gd name="connsiteX751" fmla="*/ 1211999 w 12192000"/>
              <a:gd name="connsiteY751" fmla="*/ 3254610 h 3429000"/>
              <a:gd name="connsiteX752" fmla="*/ 1213266 w 12192000"/>
              <a:gd name="connsiteY752" fmla="*/ 3262947 h 3429000"/>
              <a:gd name="connsiteX753" fmla="*/ 1203370 w 12192000"/>
              <a:gd name="connsiteY753" fmla="*/ 3421676 h 3429000"/>
              <a:gd name="connsiteX754" fmla="*/ 1203671 w 12192000"/>
              <a:gd name="connsiteY754" fmla="*/ 3429000 h 3429000"/>
              <a:gd name="connsiteX755" fmla="*/ 1143180 w 12192000"/>
              <a:gd name="connsiteY755" fmla="*/ 3429000 h 3429000"/>
              <a:gd name="connsiteX756" fmla="*/ 1142176 w 12192000"/>
              <a:gd name="connsiteY756" fmla="*/ 3337045 h 3429000"/>
              <a:gd name="connsiteX757" fmla="*/ 1067484 w 12192000"/>
              <a:gd name="connsiteY757" fmla="*/ 3429000 h 3429000"/>
              <a:gd name="connsiteX758" fmla="*/ 953928 w 12192000"/>
              <a:gd name="connsiteY758" fmla="*/ 3429000 h 3429000"/>
              <a:gd name="connsiteX759" fmla="*/ 959715 w 12192000"/>
              <a:gd name="connsiteY759" fmla="*/ 3421185 h 3429000"/>
              <a:gd name="connsiteX760" fmla="*/ 1483788 w 12192000"/>
              <a:gd name="connsiteY760" fmla="*/ 2830174 h 3429000"/>
              <a:gd name="connsiteX761" fmla="*/ 1100671 w 12192000"/>
              <a:gd name="connsiteY761" fmla="*/ 2823137 h 3429000"/>
              <a:gd name="connsiteX762" fmla="*/ 1090144 w 12192000"/>
              <a:gd name="connsiteY762" fmla="*/ 2827748 h 3429000"/>
              <a:gd name="connsiteX763" fmla="*/ 1095872 w 12192000"/>
              <a:gd name="connsiteY763" fmla="*/ 2842892 h 3429000"/>
              <a:gd name="connsiteX764" fmla="*/ 262785 w 12192000"/>
              <a:gd name="connsiteY764" fmla="*/ 3416450 h 3429000"/>
              <a:gd name="connsiteX765" fmla="*/ 209968 w 12192000"/>
              <a:gd name="connsiteY765" fmla="*/ 3341713 h 3429000"/>
              <a:gd name="connsiteX766" fmla="*/ 873460 w 12192000"/>
              <a:gd name="connsiteY766" fmla="*/ 2824768 h 3429000"/>
              <a:gd name="connsiteX767" fmla="*/ 192686 w 12192000"/>
              <a:gd name="connsiteY767" fmla="*/ 2420257 h 3429000"/>
              <a:gd name="connsiteX768" fmla="*/ 4696 w 12192000"/>
              <a:gd name="connsiteY768" fmla="*/ 2268668 h 3429000"/>
              <a:gd name="connsiteX769" fmla="*/ 0 w 12192000"/>
              <a:gd name="connsiteY769" fmla="*/ 2260984 h 3429000"/>
              <a:gd name="connsiteX770" fmla="*/ 0 w 12192000"/>
              <a:gd name="connsiteY770" fmla="*/ 2084472 h 3429000"/>
              <a:gd name="connsiteX771" fmla="*/ 174101 w 12192000"/>
              <a:gd name="connsiteY771" fmla="*/ 2191277 h 3429000"/>
              <a:gd name="connsiteX772" fmla="*/ 891800 w 12192000"/>
              <a:gd name="connsiteY772" fmla="*/ 2607935 h 3429000"/>
              <a:gd name="connsiteX773" fmla="*/ 1072219 w 12192000"/>
              <a:gd name="connsiteY773" fmla="*/ 2740443 h 3429000"/>
              <a:gd name="connsiteX774" fmla="*/ 1074117 w 12192000"/>
              <a:gd name="connsiteY774" fmla="*/ 2741301 h 3429000"/>
              <a:gd name="connsiteX775" fmla="*/ 1083114 w 12192000"/>
              <a:gd name="connsiteY775" fmla="*/ 2745131 h 3429000"/>
              <a:gd name="connsiteX776" fmla="*/ 1543010 w 12192000"/>
              <a:gd name="connsiteY776" fmla="*/ 2762140 h 3429000"/>
              <a:gd name="connsiteX777" fmla="*/ 1551080 w 12192000"/>
              <a:gd name="connsiteY777" fmla="*/ 2766006 h 3429000"/>
              <a:gd name="connsiteX778" fmla="*/ 2345443 w 12192000"/>
              <a:gd name="connsiteY778" fmla="*/ 2120882 h 3429000"/>
              <a:gd name="connsiteX779" fmla="*/ 1721499 w 12192000"/>
              <a:gd name="connsiteY779" fmla="*/ 2170969 h 3429000"/>
              <a:gd name="connsiteX780" fmla="*/ 767716 w 12192000"/>
              <a:gd name="connsiteY780" fmla="*/ 2043768 h 3429000"/>
              <a:gd name="connsiteX781" fmla="*/ 722147 w 12192000"/>
              <a:gd name="connsiteY781" fmla="*/ 1964091 h 3429000"/>
              <a:gd name="connsiteX782" fmla="*/ 1485552 w 12192000"/>
              <a:gd name="connsiteY782" fmla="*/ 1884202 h 3429000"/>
              <a:gd name="connsiteX783" fmla="*/ 2143004 w 12192000"/>
              <a:gd name="connsiteY783" fmla="*/ 1973420 h 3429000"/>
              <a:gd name="connsiteX784" fmla="*/ 1933391 w 12192000"/>
              <a:gd name="connsiteY784" fmla="*/ 1727971 h 3429000"/>
              <a:gd name="connsiteX785" fmla="*/ 1827118 w 12192000"/>
              <a:gd name="connsiteY785" fmla="*/ 1539410 h 3429000"/>
              <a:gd name="connsiteX786" fmla="*/ 1837349 w 12192000"/>
              <a:gd name="connsiteY786" fmla="*/ 1527357 h 3429000"/>
              <a:gd name="connsiteX787" fmla="*/ 2162835 w 12192000"/>
              <a:gd name="connsiteY787" fmla="*/ 1758853 h 3429000"/>
              <a:gd name="connsiteX788" fmla="*/ 2257167 w 12192000"/>
              <a:gd name="connsiteY788" fmla="*/ 2033123 h 3429000"/>
              <a:gd name="connsiteX789" fmla="*/ 2261598 w 12192000"/>
              <a:gd name="connsiteY789" fmla="*/ 2038998 h 3429000"/>
              <a:gd name="connsiteX790" fmla="*/ 2437177 w 12192000"/>
              <a:gd name="connsiteY790" fmla="*/ 2050608 h 3429000"/>
              <a:gd name="connsiteX791" fmla="*/ 2445247 w 12192000"/>
              <a:gd name="connsiteY791" fmla="*/ 2054476 h 3429000"/>
              <a:gd name="connsiteX792" fmla="*/ 2743626 w 12192000"/>
              <a:gd name="connsiteY792" fmla="*/ 1875819 h 3429000"/>
              <a:gd name="connsiteX793" fmla="*/ 3048102 w 12192000"/>
              <a:gd name="connsiteY793" fmla="*/ 1721595 h 3429000"/>
              <a:gd name="connsiteX794" fmla="*/ 1799414 w 12192000"/>
              <a:gd name="connsiteY794" fmla="*/ 1265732 h 3429000"/>
              <a:gd name="connsiteX795" fmla="*/ 1771735 w 12192000"/>
              <a:gd name="connsiteY795" fmla="*/ 1190929 h 3429000"/>
              <a:gd name="connsiteX796" fmla="*/ 3104273 w 12192000"/>
              <a:gd name="connsiteY796" fmla="*/ 1647159 h 3429000"/>
              <a:gd name="connsiteX797" fmla="*/ 3113245 w 12192000"/>
              <a:gd name="connsiteY797" fmla="*/ 1661705 h 3429000"/>
              <a:gd name="connsiteX798" fmla="*/ 3126294 w 12192000"/>
              <a:gd name="connsiteY798" fmla="*/ 1685400 h 3429000"/>
              <a:gd name="connsiteX799" fmla="*/ 3937433 w 12192000"/>
              <a:gd name="connsiteY799" fmla="*/ 1401473 h 3429000"/>
              <a:gd name="connsiteX800" fmla="*/ 3590475 w 12192000"/>
              <a:gd name="connsiteY800" fmla="*/ 1168974 h 3429000"/>
              <a:gd name="connsiteX801" fmla="*/ 3100264 w 12192000"/>
              <a:gd name="connsiteY801" fmla="*/ 1150845 h 3429000"/>
              <a:gd name="connsiteX802" fmla="*/ 2183576 w 12192000"/>
              <a:gd name="connsiteY802" fmla="*/ 798150 h 3429000"/>
              <a:gd name="connsiteX803" fmla="*/ 2151029 w 12192000"/>
              <a:gd name="connsiteY803" fmla="*/ 717947 h 3429000"/>
              <a:gd name="connsiteX804" fmla="*/ 3563434 w 12192000"/>
              <a:gd name="connsiteY804" fmla="*/ 1040115 h 3429000"/>
              <a:gd name="connsiteX805" fmla="*/ 3177952 w 12192000"/>
              <a:gd name="connsiteY805" fmla="*/ 228386 h 3429000"/>
              <a:gd name="connsiteX806" fmla="*/ 3189263 w 12192000"/>
              <a:gd name="connsiteY806" fmla="*/ 196726 h 3429000"/>
              <a:gd name="connsiteX807" fmla="*/ 3560912 w 12192000"/>
              <a:gd name="connsiteY807" fmla="*/ 650863 h 3429000"/>
              <a:gd name="connsiteX808" fmla="*/ 3626636 w 12192000"/>
              <a:gd name="connsiteY808" fmla="*/ 1083230 h 3429000"/>
              <a:gd name="connsiteX809" fmla="*/ 3653088 w 12192000"/>
              <a:gd name="connsiteY809" fmla="*/ 1092417 h 3429000"/>
              <a:gd name="connsiteX810" fmla="*/ 3988128 w 12192000"/>
              <a:gd name="connsiteY810" fmla="*/ 1388267 h 3429000"/>
              <a:gd name="connsiteX811" fmla="*/ 4830582 w 12192000"/>
              <a:gd name="connsiteY811" fmla="*/ 1247000 h 3429000"/>
              <a:gd name="connsiteX812" fmla="*/ 4830100 w 12192000"/>
              <a:gd name="connsiteY812" fmla="*/ 1246554 h 3429000"/>
              <a:gd name="connsiteX813" fmla="*/ 4036318 w 12192000"/>
              <a:gd name="connsiteY813" fmla="*/ 718013 h 3429000"/>
              <a:gd name="connsiteX814" fmla="*/ 3432098 w 12192000"/>
              <a:gd name="connsiteY814" fmla="*/ 108312 h 3429000"/>
              <a:gd name="connsiteX815" fmla="*/ 3446761 w 12192000"/>
              <a:gd name="connsiteY815" fmla="*/ 32278 h 3429000"/>
              <a:gd name="connsiteX816" fmla="*/ 4419733 w 12192000"/>
              <a:gd name="connsiteY816" fmla="*/ 534555 h 3429000"/>
              <a:gd name="connsiteX817" fmla="*/ 4781371 w 12192000"/>
              <a:gd name="connsiteY817" fmla="*/ 1029604 h 3429000"/>
              <a:gd name="connsiteX818" fmla="*/ 4780440 w 12192000"/>
              <a:gd name="connsiteY818" fmla="*/ 1041290 h 3429000"/>
              <a:gd name="connsiteX819" fmla="*/ 4898954 w 12192000"/>
              <a:gd name="connsiteY819" fmla="*/ 1233092 h 3429000"/>
              <a:gd name="connsiteX820" fmla="*/ 4900699 w 12192000"/>
              <a:gd name="connsiteY820" fmla="*/ 1241867 h 3429000"/>
              <a:gd name="connsiteX821" fmla="*/ 5714511 w 12192000"/>
              <a:gd name="connsiteY821" fmla="*/ 1234483 h 3429000"/>
              <a:gd name="connsiteX822" fmla="*/ 5464793 w 12192000"/>
              <a:gd name="connsiteY822" fmla="*/ 964556 h 3429000"/>
              <a:gd name="connsiteX823" fmla="*/ 5461897 w 12192000"/>
              <a:gd name="connsiteY823" fmla="*/ 961879 h 3429000"/>
              <a:gd name="connsiteX824" fmla="*/ 4399417 w 12192000"/>
              <a:gd name="connsiteY824" fmla="*/ 23573 h 3429000"/>
              <a:gd name="connsiteX825" fmla="*/ 3090569 w 12192000"/>
              <a:gd name="connsiteY825" fmla="*/ 0 h 3429000"/>
              <a:gd name="connsiteX826" fmla="*/ 3218394 w 12192000"/>
              <a:gd name="connsiteY826" fmla="*/ 0 h 3429000"/>
              <a:gd name="connsiteX827" fmla="*/ 3241469 w 12192000"/>
              <a:gd name="connsiteY827" fmla="*/ 15651 h 3429000"/>
              <a:gd name="connsiteX828" fmla="*/ 3182620 w 12192000"/>
              <a:gd name="connsiteY828" fmla="*/ 54279 h 3429000"/>
              <a:gd name="connsiteX829" fmla="*/ 1890928 w 12192000"/>
              <a:gd name="connsiteY829" fmla="*/ 0 h 3429000"/>
              <a:gd name="connsiteX830" fmla="*/ 1994713 w 12192000"/>
              <a:gd name="connsiteY830" fmla="*/ 0 h 3429000"/>
              <a:gd name="connsiteX831" fmla="*/ 1931354 w 12192000"/>
              <a:gd name="connsiteY831" fmla="*/ 46950 h 3429000"/>
              <a:gd name="connsiteX832" fmla="*/ 1765923 w 12192000"/>
              <a:gd name="connsiteY832" fmla="*/ 152043 h 3429000"/>
              <a:gd name="connsiteX833" fmla="*/ 1702258 w 12192000"/>
              <a:gd name="connsiteY833" fmla="*/ 183286 h 3429000"/>
              <a:gd name="connsiteX834" fmla="*/ 1538370 w 12192000"/>
              <a:gd name="connsiteY834" fmla="*/ 382804 h 3429000"/>
              <a:gd name="connsiteX835" fmla="*/ 542867 w 12192000"/>
              <a:gd name="connsiteY835" fmla="*/ 1515092 h 3429000"/>
              <a:gd name="connsiteX836" fmla="*/ 515800 w 12192000"/>
              <a:gd name="connsiteY836" fmla="*/ 1433180 h 3429000"/>
              <a:gd name="connsiteX837" fmla="*/ 909145 w 12192000"/>
              <a:gd name="connsiteY837" fmla="*/ 770225 h 3429000"/>
              <a:gd name="connsiteX838" fmla="*/ 1214067 w 12192000"/>
              <a:gd name="connsiteY838" fmla="*/ 479561 h 3429000"/>
              <a:gd name="connsiteX839" fmla="*/ 640967 w 12192000"/>
              <a:gd name="connsiteY839" fmla="*/ 676601 h 3429000"/>
              <a:gd name="connsiteX840" fmla="*/ 112563 w 12192000"/>
              <a:gd name="connsiteY840" fmla="*/ 967952 h 3429000"/>
              <a:gd name="connsiteX841" fmla="*/ 0 w 12192000"/>
              <a:gd name="connsiteY841" fmla="*/ 1037006 h 3429000"/>
              <a:gd name="connsiteX842" fmla="*/ 0 w 12192000"/>
              <a:gd name="connsiteY842" fmla="*/ 804763 h 3429000"/>
              <a:gd name="connsiteX843" fmla="*/ 36881 w 12192000"/>
              <a:gd name="connsiteY843" fmla="*/ 771118 h 3429000"/>
              <a:gd name="connsiteX844" fmla="*/ 910534 w 12192000"/>
              <a:gd name="connsiteY844" fmla="*/ 200753 h 3429000"/>
              <a:gd name="connsiteX845" fmla="*/ 1578717 w 12192000"/>
              <a:gd name="connsiteY845" fmla="*/ 146982 h 3429000"/>
              <a:gd name="connsiteX846" fmla="*/ 1887945 w 12192000"/>
              <a:gd name="connsiteY846" fmla="*/ 2196 h 3429000"/>
              <a:gd name="connsiteX847" fmla="*/ 278539 w 12192000"/>
              <a:gd name="connsiteY847" fmla="*/ 0 h 3429000"/>
              <a:gd name="connsiteX848" fmla="*/ 773851 w 12192000"/>
              <a:gd name="connsiteY848" fmla="*/ 0 h 3429000"/>
              <a:gd name="connsiteX849" fmla="*/ 529937 w 12192000"/>
              <a:gd name="connsiteY849" fmla="*/ 74115 h 3429000"/>
              <a:gd name="connsiteX850" fmla="*/ 115099 w 12192000"/>
              <a:gd name="connsiteY850" fmla="*/ 178650 h 3429000"/>
              <a:gd name="connsiteX851" fmla="*/ 97284 w 12192000"/>
              <a:gd name="connsiteY851" fmla="*/ 91393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97284 w 12192000"/>
              <a:gd name="connsiteY863" fmla="*/ 91393 h 3429000"/>
              <a:gd name="connsiteX864" fmla="*/ 278539 w 12192000"/>
              <a:gd name="connsiteY864"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278539 w 12192000"/>
              <a:gd name="connsiteY863"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278539 w 12192000"/>
              <a:gd name="connsiteY862"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182620 w 12192000"/>
              <a:gd name="connsiteY836" fmla="*/ 54279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1890928 w 12192000"/>
              <a:gd name="connsiteY840" fmla="*/ 0 h 3429000"/>
              <a:gd name="connsiteX841" fmla="*/ 1994713 w 12192000"/>
              <a:gd name="connsiteY841" fmla="*/ 0 h 3429000"/>
              <a:gd name="connsiteX842" fmla="*/ 1931354 w 12192000"/>
              <a:gd name="connsiteY842" fmla="*/ 46950 h 3429000"/>
              <a:gd name="connsiteX843" fmla="*/ 1765923 w 12192000"/>
              <a:gd name="connsiteY843" fmla="*/ 152043 h 3429000"/>
              <a:gd name="connsiteX844" fmla="*/ 1702258 w 12192000"/>
              <a:gd name="connsiteY844" fmla="*/ 183286 h 3429000"/>
              <a:gd name="connsiteX845" fmla="*/ 1538370 w 12192000"/>
              <a:gd name="connsiteY845" fmla="*/ 382804 h 3429000"/>
              <a:gd name="connsiteX846" fmla="*/ 542867 w 12192000"/>
              <a:gd name="connsiteY846" fmla="*/ 1515092 h 3429000"/>
              <a:gd name="connsiteX847" fmla="*/ 515800 w 12192000"/>
              <a:gd name="connsiteY847" fmla="*/ 1433180 h 3429000"/>
              <a:gd name="connsiteX848" fmla="*/ 909145 w 12192000"/>
              <a:gd name="connsiteY848" fmla="*/ 770225 h 3429000"/>
              <a:gd name="connsiteX849" fmla="*/ 1214067 w 12192000"/>
              <a:gd name="connsiteY849" fmla="*/ 479561 h 3429000"/>
              <a:gd name="connsiteX850" fmla="*/ 640967 w 12192000"/>
              <a:gd name="connsiteY850" fmla="*/ 676601 h 3429000"/>
              <a:gd name="connsiteX851" fmla="*/ 112563 w 12192000"/>
              <a:gd name="connsiteY851" fmla="*/ 967952 h 3429000"/>
              <a:gd name="connsiteX852" fmla="*/ 0 w 12192000"/>
              <a:gd name="connsiteY852" fmla="*/ 1037006 h 3429000"/>
              <a:gd name="connsiteX853" fmla="*/ 0 w 12192000"/>
              <a:gd name="connsiteY853" fmla="*/ 804763 h 3429000"/>
              <a:gd name="connsiteX854" fmla="*/ 36881 w 12192000"/>
              <a:gd name="connsiteY854" fmla="*/ 771118 h 3429000"/>
              <a:gd name="connsiteX855" fmla="*/ 910534 w 12192000"/>
              <a:gd name="connsiteY855" fmla="*/ 200753 h 3429000"/>
              <a:gd name="connsiteX856" fmla="*/ 1578717 w 12192000"/>
              <a:gd name="connsiteY856" fmla="*/ 146982 h 3429000"/>
              <a:gd name="connsiteX857" fmla="*/ 1887945 w 12192000"/>
              <a:gd name="connsiteY857" fmla="*/ 2196 h 3429000"/>
              <a:gd name="connsiteX858" fmla="*/ 1890928 w 12192000"/>
              <a:gd name="connsiteY858"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241469 w 12192000"/>
              <a:gd name="connsiteY836" fmla="*/ 15651 h 3429000"/>
              <a:gd name="connsiteX837" fmla="*/ 3218394 w 12192000"/>
              <a:gd name="connsiteY837" fmla="*/ 0 h 3429000"/>
              <a:gd name="connsiteX838" fmla="*/ 3241469 w 12192000"/>
              <a:gd name="connsiteY838" fmla="*/ 15651 h 3429000"/>
              <a:gd name="connsiteX839" fmla="*/ 1890928 w 12192000"/>
              <a:gd name="connsiteY839" fmla="*/ 0 h 3429000"/>
              <a:gd name="connsiteX840" fmla="*/ 1994713 w 12192000"/>
              <a:gd name="connsiteY840" fmla="*/ 0 h 3429000"/>
              <a:gd name="connsiteX841" fmla="*/ 1931354 w 12192000"/>
              <a:gd name="connsiteY841" fmla="*/ 46950 h 3429000"/>
              <a:gd name="connsiteX842" fmla="*/ 1765923 w 12192000"/>
              <a:gd name="connsiteY842" fmla="*/ 152043 h 3429000"/>
              <a:gd name="connsiteX843" fmla="*/ 1702258 w 12192000"/>
              <a:gd name="connsiteY843" fmla="*/ 183286 h 3429000"/>
              <a:gd name="connsiteX844" fmla="*/ 1538370 w 12192000"/>
              <a:gd name="connsiteY844" fmla="*/ 382804 h 3429000"/>
              <a:gd name="connsiteX845" fmla="*/ 542867 w 12192000"/>
              <a:gd name="connsiteY845" fmla="*/ 1515092 h 3429000"/>
              <a:gd name="connsiteX846" fmla="*/ 515800 w 12192000"/>
              <a:gd name="connsiteY846" fmla="*/ 1433180 h 3429000"/>
              <a:gd name="connsiteX847" fmla="*/ 909145 w 12192000"/>
              <a:gd name="connsiteY847" fmla="*/ 770225 h 3429000"/>
              <a:gd name="connsiteX848" fmla="*/ 1214067 w 12192000"/>
              <a:gd name="connsiteY848" fmla="*/ 479561 h 3429000"/>
              <a:gd name="connsiteX849" fmla="*/ 640967 w 12192000"/>
              <a:gd name="connsiteY849" fmla="*/ 676601 h 3429000"/>
              <a:gd name="connsiteX850" fmla="*/ 112563 w 12192000"/>
              <a:gd name="connsiteY850" fmla="*/ 967952 h 3429000"/>
              <a:gd name="connsiteX851" fmla="*/ 0 w 12192000"/>
              <a:gd name="connsiteY851" fmla="*/ 1037006 h 3429000"/>
              <a:gd name="connsiteX852" fmla="*/ 0 w 12192000"/>
              <a:gd name="connsiteY852" fmla="*/ 804763 h 3429000"/>
              <a:gd name="connsiteX853" fmla="*/ 36881 w 12192000"/>
              <a:gd name="connsiteY853" fmla="*/ 771118 h 3429000"/>
              <a:gd name="connsiteX854" fmla="*/ 910534 w 12192000"/>
              <a:gd name="connsiteY854" fmla="*/ 200753 h 3429000"/>
              <a:gd name="connsiteX855" fmla="*/ 1578717 w 12192000"/>
              <a:gd name="connsiteY855" fmla="*/ 146982 h 3429000"/>
              <a:gd name="connsiteX856" fmla="*/ 1887945 w 12192000"/>
              <a:gd name="connsiteY856" fmla="*/ 2196 h 3429000"/>
              <a:gd name="connsiteX857" fmla="*/ 1890928 w 12192000"/>
              <a:gd name="connsiteY857"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1890928 w 12192000"/>
              <a:gd name="connsiteY836" fmla="*/ 0 h 3429000"/>
              <a:gd name="connsiteX837" fmla="*/ 1994713 w 12192000"/>
              <a:gd name="connsiteY837" fmla="*/ 0 h 3429000"/>
              <a:gd name="connsiteX838" fmla="*/ 1931354 w 12192000"/>
              <a:gd name="connsiteY838" fmla="*/ 46950 h 3429000"/>
              <a:gd name="connsiteX839" fmla="*/ 1765923 w 12192000"/>
              <a:gd name="connsiteY839" fmla="*/ 152043 h 3429000"/>
              <a:gd name="connsiteX840" fmla="*/ 1702258 w 12192000"/>
              <a:gd name="connsiteY840" fmla="*/ 183286 h 3429000"/>
              <a:gd name="connsiteX841" fmla="*/ 1538370 w 12192000"/>
              <a:gd name="connsiteY841" fmla="*/ 382804 h 3429000"/>
              <a:gd name="connsiteX842" fmla="*/ 542867 w 12192000"/>
              <a:gd name="connsiteY842" fmla="*/ 1515092 h 3429000"/>
              <a:gd name="connsiteX843" fmla="*/ 515800 w 12192000"/>
              <a:gd name="connsiteY843" fmla="*/ 1433180 h 3429000"/>
              <a:gd name="connsiteX844" fmla="*/ 909145 w 12192000"/>
              <a:gd name="connsiteY844" fmla="*/ 770225 h 3429000"/>
              <a:gd name="connsiteX845" fmla="*/ 1214067 w 12192000"/>
              <a:gd name="connsiteY845" fmla="*/ 479561 h 3429000"/>
              <a:gd name="connsiteX846" fmla="*/ 640967 w 12192000"/>
              <a:gd name="connsiteY846" fmla="*/ 676601 h 3429000"/>
              <a:gd name="connsiteX847" fmla="*/ 112563 w 12192000"/>
              <a:gd name="connsiteY847" fmla="*/ 967952 h 3429000"/>
              <a:gd name="connsiteX848" fmla="*/ 0 w 12192000"/>
              <a:gd name="connsiteY848" fmla="*/ 1037006 h 3429000"/>
              <a:gd name="connsiteX849" fmla="*/ 0 w 12192000"/>
              <a:gd name="connsiteY849" fmla="*/ 804763 h 3429000"/>
              <a:gd name="connsiteX850" fmla="*/ 36881 w 12192000"/>
              <a:gd name="connsiteY850" fmla="*/ 771118 h 3429000"/>
              <a:gd name="connsiteX851" fmla="*/ 910534 w 12192000"/>
              <a:gd name="connsiteY851" fmla="*/ 200753 h 3429000"/>
              <a:gd name="connsiteX852" fmla="*/ 1578717 w 12192000"/>
              <a:gd name="connsiteY852" fmla="*/ 146982 h 3429000"/>
              <a:gd name="connsiteX853" fmla="*/ 1887945 w 12192000"/>
              <a:gd name="connsiteY853" fmla="*/ 2196 h 3429000"/>
              <a:gd name="connsiteX854" fmla="*/ 1890928 w 12192000"/>
              <a:gd name="connsiteY854"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Lst>
            <a:rect l="l" t="t" r="r" b="b"/>
            <a:pathLst>
              <a:path w="12192000" h="3429000">
                <a:moveTo>
                  <a:pt x="369702" y="3283169"/>
                </a:moveTo>
                <a:lnTo>
                  <a:pt x="366575" y="3286556"/>
                </a:lnTo>
                <a:cubicBezTo>
                  <a:pt x="367954" y="3286031"/>
                  <a:pt x="369326" y="3285512"/>
                  <a:pt x="371637" y="3284954"/>
                </a:cubicBezTo>
                <a:lnTo>
                  <a:pt x="369702" y="3283169"/>
                </a:lnTo>
                <a:close/>
                <a:moveTo>
                  <a:pt x="7392322" y="3229238"/>
                </a:moveTo>
                <a:cubicBezTo>
                  <a:pt x="7466250" y="3252109"/>
                  <a:pt x="7539706" y="3278100"/>
                  <a:pt x="7611337" y="3303821"/>
                </a:cubicBezTo>
                <a:cubicBezTo>
                  <a:pt x="7723489" y="3344078"/>
                  <a:pt x="7838666" y="3384801"/>
                  <a:pt x="7955762" y="3413006"/>
                </a:cubicBezTo>
                <a:cubicBezTo>
                  <a:pt x="7825893" y="3334794"/>
                  <a:pt x="7655160" y="3276586"/>
                  <a:pt x="7512455" y="3245734"/>
                </a:cubicBezTo>
                <a:lnTo>
                  <a:pt x="7392322" y="3229238"/>
                </a:lnTo>
                <a:close/>
                <a:moveTo>
                  <a:pt x="9928143" y="3086312"/>
                </a:moveTo>
                <a:lnTo>
                  <a:pt x="9753801" y="3096103"/>
                </a:lnTo>
                <a:cubicBezTo>
                  <a:pt x="9696294" y="3099458"/>
                  <a:pt x="9636969" y="3102530"/>
                  <a:pt x="9578027" y="3103104"/>
                </a:cubicBezTo>
                <a:cubicBezTo>
                  <a:pt x="9526546" y="3103538"/>
                  <a:pt x="9474842" y="3101381"/>
                  <a:pt x="9424342" y="3099403"/>
                </a:cubicBezTo>
                <a:cubicBezTo>
                  <a:pt x="9283243" y="3094421"/>
                  <a:pt x="9137206" y="3089329"/>
                  <a:pt x="9001907" y="3131369"/>
                </a:cubicBezTo>
                <a:cubicBezTo>
                  <a:pt x="8974564" y="3139983"/>
                  <a:pt x="8948144" y="3150668"/>
                  <a:pt x="8922138" y="3162702"/>
                </a:cubicBezTo>
                <a:cubicBezTo>
                  <a:pt x="8976395" y="3168451"/>
                  <a:pt x="9031633" y="3171803"/>
                  <a:pt x="9087550" y="3170765"/>
                </a:cubicBezTo>
                <a:cubicBezTo>
                  <a:pt x="9228396" y="3169297"/>
                  <a:pt x="9371812" y="3147077"/>
                  <a:pt x="9512475" y="3134693"/>
                </a:cubicBezTo>
                <a:cubicBezTo>
                  <a:pt x="9626059" y="3125204"/>
                  <a:pt x="9898686" y="3108707"/>
                  <a:pt x="9928143" y="3086312"/>
                </a:cubicBezTo>
                <a:close/>
                <a:moveTo>
                  <a:pt x="9351220" y="3030370"/>
                </a:moveTo>
                <a:cubicBezTo>
                  <a:pt x="9225400" y="3034303"/>
                  <a:pt x="9098278" y="3052291"/>
                  <a:pt x="8999756" y="3100929"/>
                </a:cubicBezTo>
                <a:cubicBezTo>
                  <a:pt x="9138083" y="3059352"/>
                  <a:pt x="9284119" y="3064450"/>
                  <a:pt x="9425830" y="3069517"/>
                </a:cubicBezTo>
                <a:cubicBezTo>
                  <a:pt x="9476320" y="3071495"/>
                  <a:pt x="9528123" y="3073029"/>
                  <a:pt x="9578307" y="3073035"/>
                </a:cubicBezTo>
                <a:cubicBezTo>
                  <a:pt x="9636540" y="3072999"/>
                  <a:pt x="9695359" y="3069204"/>
                  <a:pt x="9752771" y="3066471"/>
                </a:cubicBezTo>
                <a:lnTo>
                  <a:pt x="9852779" y="3060665"/>
                </a:lnTo>
                <a:cubicBezTo>
                  <a:pt x="9815758" y="3055629"/>
                  <a:pt x="9764024" y="3049620"/>
                  <a:pt x="9694862" y="3044140"/>
                </a:cubicBezTo>
                <a:cubicBezTo>
                  <a:pt x="9601553" y="3036560"/>
                  <a:pt x="9477038" y="3026438"/>
                  <a:pt x="9351220" y="3030370"/>
                </a:cubicBezTo>
                <a:close/>
                <a:moveTo>
                  <a:pt x="1019354" y="2886006"/>
                </a:moveTo>
                <a:cubicBezTo>
                  <a:pt x="847231" y="3054030"/>
                  <a:pt x="636234" y="3170053"/>
                  <a:pt x="441046" y="3262153"/>
                </a:cubicBezTo>
                <a:cubicBezTo>
                  <a:pt x="668934" y="3184112"/>
                  <a:pt x="947819" y="3065377"/>
                  <a:pt x="1019354" y="2886006"/>
                </a:cubicBezTo>
                <a:close/>
                <a:moveTo>
                  <a:pt x="991680" y="2869413"/>
                </a:moveTo>
                <a:cubicBezTo>
                  <a:pt x="775775" y="2967465"/>
                  <a:pt x="575302" y="3078871"/>
                  <a:pt x="409060" y="3242470"/>
                </a:cubicBezTo>
                <a:cubicBezTo>
                  <a:pt x="603834" y="3151783"/>
                  <a:pt x="817655" y="3036584"/>
                  <a:pt x="991680" y="2869413"/>
                </a:cubicBezTo>
                <a:close/>
                <a:moveTo>
                  <a:pt x="7254615" y="2482918"/>
                </a:moveTo>
                <a:cubicBezTo>
                  <a:pt x="7274645" y="2505852"/>
                  <a:pt x="7294062" y="2528691"/>
                  <a:pt x="7312589" y="2553309"/>
                </a:cubicBezTo>
                <a:cubicBezTo>
                  <a:pt x="7413753" y="2685421"/>
                  <a:pt x="7483941" y="2837763"/>
                  <a:pt x="7580896" y="2973069"/>
                </a:cubicBezTo>
                <a:cubicBezTo>
                  <a:pt x="7695169" y="3132808"/>
                  <a:pt x="7849203" y="3247399"/>
                  <a:pt x="7990862" y="3378025"/>
                </a:cubicBezTo>
                <a:cubicBezTo>
                  <a:pt x="7962703" y="3319256"/>
                  <a:pt x="7917173" y="3268712"/>
                  <a:pt x="7871964" y="3220139"/>
                </a:cubicBezTo>
                <a:lnTo>
                  <a:pt x="7859674" y="3207358"/>
                </a:lnTo>
                <a:cubicBezTo>
                  <a:pt x="7748530" y="3087822"/>
                  <a:pt x="7645260" y="2957311"/>
                  <a:pt x="7545050" y="2831110"/>
                </a:cubicBezTo>
                <a:cubicBezTo>
                  <a:pt x="7452767" y="2713819"/>
                  <a:pt x="7357042" y="2594723"/>
                  <a:pt x="7254615" y="2482918"/>
                </a:cubicBezTo>
                <a:close/>
                <a:moveTo>
                  <a:pt x="9078855" y="2455754"/>
                </a:moveTo>
                <a:cubicBezTo>
                  <a:pt x="8942634" y="2641158"/>
                  <a:pt x="8787932" y="2886508"/>
                  <a:pt x="8825188" y="3067752"/>
                </a:cubicBezTo>
                <a:cubicBezTo>
                  <a:pt x="8871718" y="2841055"/>
                  <a:pt x="8975231" y="2634621"/>
                  <a:pt x="9078855" y="2455754"/>
                </a:cubicBezTo>
                <a:close/>
                <a:moveTo>
                  <a:pt x="9113805" y="2454072"/>
                </a:moveTo>
                <a:cubicBezTo>
                  <a:pt x="9009770" y="2631592"/>
                  <a:pt x="8903644" y="2838900"/>
                  <a:pt x="8855200" y="3065950"/>
                </a:cubicBezTo>
                <a:cubicBezTo>
                  <a:pt x="8971799" y="2871136"/>
                  <a:pt x="9069545" y="2674069"/>
                  <a:pt x="9113805" y="2454072"/>
                </a:cubicBezTo>
                <a:close/>
                <a:moveTo>
                  <a:pt x="9123940" y="2396040"/>
                </a:moveTo>
                <a:cubicBezTo>
                  <a:pt x="9123142" y="2397205"/>
                  <a:pt x="9122347" y="2398360"/>
                  <a:pt x="9120846" y="2400053"/>
                </a:cubicBezTo>
                <a:lnTo>
                  <a:pt x="9123267" y="2400425"/>
                </a:lnTo>
                <a:cubicBezTo>
                  <a:pt x="9123491" y="2398963"/>
                  <a:pt x="9123716" y="2397502"/>
                  <a:pt x="9123940" y="2396040"/>
                </a:cubicBezTo>
                <a:close/>
                <a:moveTo>
                  <a:pt x="103333" y="2270602"/>
                </a:moveTo>
                <a:cubicBezTo>
                  <a:pt x="133282" y="2297353"/>
                  <a:pt x="175725" y="2333843"/>
                  <a:pt x="233938" y="2380416"/>
                </a:cubicBezTo>
                <a:cubicBezTo>
                  <a:pt x="390802" y="2506412"/>
                  <a:pt x="652575" y="2716703"/>
                  <a:pt x="883580" y="2751710"/>
                </a:cubicBezTo>
                <a:cubicBezTo>
                  <a:pt x="736829" y="2704021"/>
                  <a:pt x="610173" y="2611280"/>
                  <a:pt x="487337" y="2521182"/>
                </a:cubicBezTo>
                <a:cubicBezTo>
                  <a:pt x="443670" y="2488932"/>
                  <a:pt x="398584" y="2456270"/>
                  <a:pt x="354051" y="2425912"/>
                </a:cubicBezTo>
                <a:cubicBezTo>
                  <a:pt x="302352" y="2390720"/>
                  <a:pt x="247963" y="2358429"/>
                  <a:pt x="195436" y="2326068"/>
                </a:cubicBezTo>
                <a:lnTo>
                  <a:pt x="103333" y="2270602"/>
                </a:lnTo>
                <a:close/>
                <a:moveTo>
                  <a:pt x="5539432" y="2213928"/>
                </a:moveTo>
                <a:cubicBezTo>
                  <a:pt x="5544304" y="2230969"/>
                  <a:pt x="5549664" y="2248449"/>
                  <a:pt x="5555462" y="2265454"/>
                </a:cubicBezTo>
                <a:cubicBezTo>
                  <a:pt x="5631122" y="2480386"/>
                  <a:pt x="5731219" y="2689228"/>
                  <a:pt x="5828270" y="2891663"/>
                </a:cubicBezTo>
                <a:cubicBezTo>
                  <a:pt x="5868407" y="2975290"/>
                  <a:pt x="5908582" y="3059842"/>
                  <a:pt x="5947416" y="3145846"/>
                </a:cubicBezTo>
                <a:cubicBezTo>
                  <a:pt x="5894674" y="2898329"/>
                  <a:pt x="5793018" y="2289484"/>
                  <a:pt x="5539432" y="2213928"/>
                </a:cubicBezTo>
                <a:close/>
                <a:moveTo>
                  <a:pt x="51253" y="2202825"/>
                </a:moveTo>
                <a:lnTo>
                  <a:pt x="211622" y="2299803"/>
                </a:lnTo>
                <a:cubicBezTo>
                  <a:pt x="264592" y="2331684"/>
                  <a:pt x="319013" y="2364908"/>
                  <a:pt x="371652" y="2400062"/>
                </a:cubicBezTo>
                <a:cubicBezTo>
                  <a:pt x="417589" y="2430824"/>
                  <a:pt x="462230" y="2463964"/>
                  <a:pt x="505903" y="2496221"/>
                </a:cubicBezTo>
                <a:cubicBezTo>
                  <a:pt x="628246" y="2585875"/>
                  <a:pt x="754907" y="2678611"/>
                  <a:pt x="899240" y="2724068"/>
                </a:cubicBezTo>
                <a:cubicBezTo>
                  <a:pt x="928476" y="2733153"/>
                  <a:pt x="958088" y="2739887"/>
                  <a:pt x="988114" y="2745204"/>
                </a:cubicBezTo>
                <a:cubicBezTo>
                  <a:pt x="943280" y="2707411"/>
                  <a:pt x="896194" y="2671100"/>
                  <a:pt x="845971" y="2638177"/>
                </a:cubicBezTo>
                <a:cubicBezTo>
                  <a:pt x="720131" y="2554257"/>
                  <a:pt x="580034" y="2486740"/>
                  <a:pt x="448057" y="2412376"/>
                </a:cubicBezTo>
                <a:cubicBezTo>
                  <a:pt x="341781" y="2351886"/>
                  <a:pt x="90319" y="2201263"/>
                  <a:pt x="51253" y="2202825"/>
                </a:cubicBezTo>
                <a:close/>
                <a:moveTo>
                  <a:pt x="2606687" y="2201718"/>
                </a:moveTo>
                <a:cubicBezTo>
                  <a:pt x="2484040" y="2523782"/>
                  <a:pt x="2550772" y="2876470"/>
                  <a:pt x="2645658" y="3211259"/>
                </a:cubicBezTo>
                <a:cubicBezTo>
                  <a:pt x="2605413" y="2891984"/>
                  <a:pt x="2566733" y="2541903"/>
                  <a:pt x="2606687" y="2201718"/>
                </a:cubicBezTo>
                <a:close/>
                <a:moveTo>
                  <a:pt x="10097724" y="2162852"/>
                </a:moveTo>
                <a:cubicBezTo>
                  <a:pt x="9944682" y="2164954"/>
                  <a:pt x="9791714" y="2182746"/>
                  <a:pt x="9645248" y="2201119"/>
                </a:cubicBezTo>
                <a:cubicBezTo>
                  <a:pt x="9610727" y="2205568"/>
                  <a:pt x="9577456" y="2210754"/>
                  <a:pt x="9543858" y="2221510"/>
                </a:cubicBezTo>
                <a:cubicBezTo>
                  <a:pt x="9550063" y="2233642"/>
                  <a:pt x="9629757" y="2204895"/>
                  <a:pt x="9681648" y="2200828"/>
                </a:cubicBezTo>
                <a:cubicBezTo>
                  <a:pt x="9969341" y="2180845"/>
                  <a:pt x="10272689" y="2226720"/>
                  <a:pt x="10557846" y="2172337"/>
                </a:cubicBezTo>
                <a:cubicBezTo>
                  <a:pt x="10473933" y="2182321"/>
                  <a:pt x="10386637" y="2176065"/>
                  <a:pt x="10301704" y="2169847"/>
                </a:cubicBezTo>
                <a:cubicBezTo>
                  <a:pt x="10284536" y="2168562"/>
                  <a:pt x="10267371" y="2167280"/>
                  <a:pt x="10250553" y="2166539"/>
                </a:cubicBezTo>
                <a:cubicBezTo>
                  <a:pt x="10199759" y="2163194"/>
                  <a:pt x="10148737" y="2162152"/>
                  <a:pt x="10097724" y="2162852"/>
                </a:cubicBezTo>
                <a:close/>
                <a:moveTo>
                  <a:pt x="3642057" y="2144487"/>
                </a:moveTo>
                <a:cubicBezTo>
                  <a:pt x="3639338" y="2146453"/>
                  <a:pt x="3635693" y="2148466"/>
                  <a:pt x="3632981" y="2150437"/>
                </a:cubicBezTo>
                <a:cubicBezTo>
                  <a:pt x="3509182" y="2245738"/>
                  <a:pt x="3441993" y="2382556"/>
                  <a:pt x="3382436" y="2523726"/>
                </a:cubicBezTo>
                <a:cubicBezTo>
                  <a:pt x="3286719" y="2750641"/>
                  <a:pt x="3231101" y="2990386"/>
                  <a:pt x="3191929" y="3233669"/>
                </a:cubicBezTo>
                <a:cubicBezTo>
                  <a:pt x="3237125" y="3036250"/>
                  <a:pt x="3296425" y="2842000"/>
                  <a:pt x="3369898" y="2652771"/>
                </a:cubicBezTo>
                <a:cubicBezTo>
                  <a:pt x="3454377" y="2436084"/>
                  <a:pt x="3540614" y="2274753"/>
                  <a:pt x="3642057" y="2144487"/>
                </a:cubicBezTo>
                <a:close/>
                <a:moveTo>
                  <a:pt x="7015907" y="2112548"/>
                </a:moveTo>
                <a:cubicBezTo>
                  <a:pt x="7100896" y="2184517"/>
                  <a:pt x="7181386" y="2261562"/>
                  <a:pt x="7259646" y="2336985"/>
                </a:cubicBezTo>
                <a:cubicBezTo>
                  <a:pt x="7425913" y="2497010"/>
                  <a:pt x="7598167" y="2662445"/>
                  <a:pt x="7741483" y="2850980"/>
                </a:cubicBezTo>
                <a:cubicBezTo>
                  <a:pt x="7847640" y="2990905"/>
                  <a:pt x="7937072" y="3142994"/>
                  <a:pt x="8008941" y="3304560"/>
                </a:cubicBezTo>
                <a:cubicBezTo>
                  <a:pt x="8009955" y="3265639"/>
                  <a:pt x="8010548" y="3225374"/>
                  <a:pt x="7999234" y="3181993"/>
                </a:cubicBezTo>
                <a:cubicBezTo>
                  <a:pt x="7958140" y="3025784"/>
                  <a:pt x="7815502" y="2885397"/>
                  <a:pt x="7715154" y="2768148"/>
                </a:cubicBezTo>
                <a:cubicBezTo>
                  <a:pt x="7576575" y="2605314"/>
                  <a:pt x="7431075" y="2447188"/>
                  <a:pt x="7271900" y="2305551"/>
                </a:cubicBezTo>
                <a:cubicBezTo>
                  <a:pt x="7230409" y="2269079"/>
                  <a:pt x="7098810" y="2161772"/>
                  <a:pt x="7015907" y="2112548"/>
                </a:cubicBezTo>
                <a:close/>
                <a:moveTo>
                  <a:pt x="2650666" y="2101686"/>
                </a:moveTo>
                <a:cubicBezTo>
                  <a:pt x="2650695" y="2102619"/>
                  <a:pt x="2650695" y="2102619"/>
                  <a:pt x="2650249" y="2103101"/>
                </a:cubicBezTo>
                <a:cubicBezTo>
                  <a:pt x="2594633" y="2435991"/>
                  <a:pt x="2624834" y="2783617"/>
                  <a:pt x="2663808" y="3106215"/>
                </a:cubicBezTo>
                <a:cubicBezTo>
                  <a:pt x="2664345" y="2972062"/>
                  <a:pt x="2664881" y="2837909"/>
                  <a:pt x="2665418" y="2703756"/>
                </a:cubicBezTo>
                <a:cubicBezTo>
                  <a:pt x="2666315" y="2516493"/>
                  <a:pt x="2661038" y="2314579"/>
                  <a:pt x="2650666" y="2101686"/>
                </a:cubicBezTo>
                <a:close/>
                <a:moveTo>
                  <a:pt x="10218664" y="2096300"/>
                </a:moveTo>
                <a:cubicBezTo>
                  <a:pt x="10171755" y="2095070"/>
                  <a:pt x="10126463" y="2096064"/>
                  <a:pt x="10086154" y="2096937"/>
                </a:cubicBezTo>
                <a:cubicBezTo>
                  <a:pt x="9975638" y="2099402"/>
                  <a:pt x="9876341" y="2102370"/>
                  <a:pt x="9778614" y="2121189"/>
                </a:cubicBezTo>
                <a:cubicBezTo>
                  <a:pt x="9714017" y="2133376"/>
                  <a:pt x="9654494" y="2152286"/>
                  <a:pt x="9601703" y="2176852"/>
                </a:cubicBezTo>
                <a:cubicBezTo>
                  <a:pt x="9614985" y="2174489"/>
                  <a:pt x="9628056" y="2173024"/>
                  <a:pt x="9641684" y="2171203"/>
                </a:cubicBezTo>
                <a:cubicBezTo>
                  <a:pt x="9838075" y="2146001"/>
                  <a:pt x="10046725" y="2122921"/>
                  <a:pt x="10252799" y="2135971"/>
                </a:cubicBezTo>
                <a:lnTo>
                  <a:pt x="10304297" y="2139822"/>
                </a:lnTo>
                <a:cubicBezTo>
                  <a:pt x="10380931" y="2145228"/>
                  <a:pt x="10459361" y="2151014"/>
                  <a:pt x="10533945" y="2144703"/>
                </a:cubicBezTo>
                <a:cubicBezTo>
                  <a:pt x="10504378" y="2139851"/>
                  <a:pt x="10475221" y="2133210"/>
                  <a:pt x="10446061" y="2126562"/>
                </a:cubicBezTo>
                <a:cubicBezTo>
                  <a:pt x="10417803" y="2120116"/>
                  <a:pt x="10389545" y="2113665"/>
                  <a:pt x="10360877" y="2109004"/>
                </a:cubicBezTo>
                <a:cubicBezTo>
                  <a:pt x="10314101" y="2100982"/>
                  <a:pt x="10265574" y="2097529"/>
                  <a:pt x="10218664" y="2096300"/>
                </a:cubicBezTo>
                <a:close/>
                <a:moveTo>
                  <a:pt x="6946849" y="2094271"/>
                </a:moveTo>
                <a:cubicBezTo>
                  <a:pt x="6946657" y="2095520"/>
                  <a:pt x="6946560" y="2096151"/>
                  <a:pt x="6946972" y="2097491"/>
                </a:cubicBezTo>
                <a:cubicBezTo>
                  <a:pt x="6980090" y="2172397"/>
                  <a:pt x="7043425" y="2232082"/>
                  <a:pt x="7105827" y="2289700"/>
                </a:cubicBezTo>
                <a:lnTo>
                  <a:pt x="7126431" y="2308872"/>
                </a:lnTo>
                <a:cubicBezTo>
                  <a:pt x="7289613" y="2460736"/>
                  <a:pt x="7430828" y="2638705"/>
                  <a:pt x="7567269" y="2811461"/>
                </a:cubicBezTo>
                <a:cubicBezTo>
                  <a:pt x="7666876" y="2937562"/>
                  <a:pt x="7769633" y="3067348"/>
                  <a:pt x="7880270" y="3186176"/>
                </a:cubicBezTo>
                <a:lnTo>
                  <a:pt x="7892560" y="3198949"/>
                </a:lnTo>
                <a:cubicBezTo>
                  <a:pt x="7919687" y="3228095"/>
                  <a:pt x="7947417" y="3257334"/>
                  <a:pt x="7971643" y="3289236"/>
                </a:cubicBezTo>
                <a:cubicBezTo>
                  <a:pt x="7902183" y="3140208"/>
                  <a:pt x="7817787" y="2999779"/>
                  <a:pt x="7719359" y="2870011"/>
                </a:cubicBezTo>
                <a:cubicBezTo>
                  <a:pt x="7577670" y="2683005"/>
                  <a:pt x="7405928" y="2518293"/>
                  <a:pt x="7240170" y="2358985"/>
                </a:cubicBezTo>
                <a:cubicBezTo>
                  <a:pt x="7146175" y="2268975"/>
                  <a:pt x="7050053" y="2176722"/>
                  <a:pt x="6946849" y="2094271"/>
                </a:cubicBezTo>
                <a:close/>
                <a:moveTo>
                  <a:pt x="2680277" y="2050204"/>
                </a:moveTo>
                <a:cubicBezTo>
                  <a:pt x="2679826" y="2050692"/>
                  <a:pt x="2679381" y="2051173"/>
                  <a:pt x="2678972" y="2052582"/>
                </a:cubicBezTo>
                <a:cubicBezTo>
                  <a:pt x="2691463" y="2283555"/>
                  <a:pt x="2697451" y="2503139"/>
                  <a:pt x="2696666" y="2704836"/>
                </a:cubicBezTo>
                <a:lnTo>
                  <a:pt x="2695769" y="2961955"/>
                </a:lnTo>
                <a:cubicBezTo>
                  <a:pt x="2712509" y="2868144"/>
                  <a:pt x="2727840" y="2773916"/>
                  <a:pt x="2739893" y="2679357"/>
                </a:cubicBezTo>
                <a:cubicBezTo>
                  <a:pt x="2767348" y="2457500"/>
                  <a:pt x="2737035" y="2258445"/>
                  <a:pt x="2680277" y="2050204"/>
                </a:cubicBezTo>
                <a:close/>
                <a:moveTo>
                  <a:pt x="1132195" y="2038980"/>
                </a:moveTo>
                <a:cubicBezTo>
                  <a:pt x="1313054" y="2066211"/>
                  <a:pt x="1494925" y="2083628"/>
                  <a:pt x="1679056" y="2087907"/>
                </a:cubicBezTo>
                <a:cubicBezTo>
                  <a:pt x="1838007" y="2091331"/>
                  <a:pt x="1983050" y="2061313"/>
                  <a:pt x="2128648" y="2045249"/>
                </a:cubicBezTo>
                <a:cubicBezTo>
                  <a:pt x="2028248" y="2038548"/>
                  <a:pt x="1925543" y="2044055"/>
                  <a:pt x="1825619" y="2049447"/>
                </a:cubicBezTo>
                <a:lnTo>
                  <a:pt x="1737798" y="2054353"/>
                </a:lnTo>
                <a:cubicBezTo>
                  <a:pt x="1536509" y="2063800"/>
                  <a:pt x="1332771" y="2058439"/>
                  <a:pt x="1132195" y="2038980"/>
                </a:cubicBezTo>
                <a:close/>
                <a:moveTo>
                  <a:pt x="10104407" y="2029317"/>
                </a:moveTo>
                <a:cubicBezTo>
                  <a:pt x="9978788" y="2027650"/>
                  <a:pt x="9828621" y="2050881"/>
                  <a:pt x="9704375" y="2107349"/>
                </a:cubicBezTo>
                <a:cubicBezTo>
                  <a:pt x="9726987" y="2101319"/>
                  <a:pt x="9749595" y="2095291"/>
                  <a:pt x="9773804" y="2090543"/>
                </a:cubicBezTo>
                <a:cubicBezTo>
                  <a:pt x="9873880" y="2071749"/>
                  <a:pt x="9974285" y="2068081"/>
                  <a:pt x="10086605" y="2065992"/>
                </a:cubicBezTo>
                <a:cubicBezTo>
                  <a:pt x="10168672" y="2064085"/>
                  <a:pt x="10271028" y="2062236"/>
                  <a:pt x="10367276" y="2078848"/>
                </a:cubicBezTo>
                <a:cubicBezTo>
                  <a:pt x="10396291" y="2084052"/>
                  <a:pt x="10425102" y="2090151"/>
                  <a:pt x="10454262" y="2096798"/>
                </a:cubicBezTo>
                <a:cubicBezTo>
                  <a:pt x="10493323" y="2105530"/>
                  <a:pt x="10531142" y="2113536"/>
                  <a:pt x="10569223" y="2118311"/>
                </a:cubicBezTo>
                <a:cubicBezTo>
                  <a:pt x="10422236" y="2061328"/>
                  <a:pt x="10260055" y="2031700"/>
                  <a:pt x="10104407" y="2029317"/>
                </a:cubicBezTo>
                <a:close/>
                <a:moveTo>
                  <a:pt x="6861797" y="1990899"/>
                </a:moveTo>
                <a:cubicBezTo>
                  <a:pt x="6869009" y="1991845"/>
                  <a:pt x="6876359" y="1994413"/>
                  <a:pt x="6879594" y="1995547"/>
                </a:cubicBezTo>
                <a:cubicBezTo>
                  <a:pt x="7239561" y="2108402"/>
                  <a:pt x="7549592" y="2502521"/>
                  <a:pt x="7789028" y="2783316"/>
                </a:cubicBezTo>
                <a:cubicBezTo>
                  <a:pt x="7920282" y="2937340"/>
                  <a:pt x="8046009" y="3078973"/>
                  <a:pt x="8093600" y="3281671"/>
                </a:cubicBezTo>
                <a:cubicBezTo>
                  <a:pt x="8106357" y="3335837"/>
                  <a:pt x="8115219" y="3381078"/>
                  <a:pt x="8129425" y="3425298"/>
                </a:cubicBezTo>
                <a:lnTo>
                  <a:pt x="8130898" y="3428998"/>
                </a:lnTo>
                <a:lnTo>
                  <a:pt x="7899365" y="3428998"/>
                </a:lnTo>
                <a:lnTo>
                  <a:pt x="7761176" y="3387656"/>
                </a:lnTo>
                <a:cubicBezTo>
                  <a:pt x="7707614" y="3369833"/>
                  <a:pt x="7654620" y="3350815"/>
                  <a:pt x="7602080" y="3331867"/>
                </a:cubicBezTo>
                <a:cubicBezTo>
                  <a:pt x="7499839" y="3295697"/>
                  <a:pt x="7395868" y="3258609"/>
                  <a:pt x="7289862" y="3230827"/>
                </a:cubicBezTo>
                <a:cubicBezTo>
                  <a:pt x="7386721" y="3273866"/>
                  <a:pt x="7479917" y="3312496"/>
                  <a:pt x="7582411" y="3355122"/>
                </a:cubicBezTo>
                <a:lnTo>
                  <a:pt x="7605759" y="3364465"/>
                </a:lnTo>
                <a:cubicBezTo>
                  <a:pt x="7652356" y="3383785"/>
                  <a:pt x="7694400" y="3400482"/>
                  <a:pt x="7737910" y="3411638"/>
                </a:cubicBezTo>
                <a:lnTo>
                  <a:pt x="7826532" y="3428999"/>
                </a:lnTo>
                <a:lnTo>
                  <a:pt x="7696096" y="3428999"/>
                </a:lnTo>
                <a:lnTo>
                  <a:pt x="7594081" y="3392149"/>
                </a:lnTo>
                <a:lnTo>
                  <a:pt x="7570734" y="3382799"/>
                </a:lnTo>
                <a:lnTo>
                  <a:pt x="7271814" y="3255601"/>
                </a:lnTo>
                <a:cubicBezTo>
                  <a:pt x="7315012" y="3311237"/>
                  <a:pt x="7445060" y="3376183"/>
                  <a:pt x="7585232" y="3421060"/>
                </a:cubicBezTo>
                <a:lnTo>
                  <a:pt x="7613775" y="3428998"/>
                </a:lnTo>
                <a:lnTo>
                  <a:pt x="7522197" y="3428998"/>
                </a:lnTo>
                <a:lnTo>
                  <a:pt x="7410696" y="3374861"/>
                </a:lnTo>
                <a:cubicBezTo>
                  <a:pt x="7272778" y="3302418"/>
                  <a:pt x="7152025" y="3224264"/>
                  <a:pt x="7088673" y="3181396"/>
                </a:cubicBezTo>
                <a:cubicBezTo>
                  <a:pt x="7075202" y="3172287"/>
                  <a:pt x="7065689" y="3153532"/>
                  <a:pt x="7090188" y="3155365"/>
                </a:cubicBezTo>
                <a:cubicBezTo>
                  <a:pt x="7322587" y="3174983"/>
                  <a:pt x="7561036" y="3195528"/>
                  <a:pt x="7780046" y="3282283"/>
                </a:cubicBezTo>
                <a:cubicBezTo>
                  <a:pt x="7810971" y="3294712"/>
                  <a:pt x="7991193" y="3408187"/>
                  <a:pt x="7944957" y="3370347"/>
                </a:cubicBezTo>
                <a:cubicBezTo>
                  <a:pt x="7830578" y="3275934"/>
                  <a:pt x="7705171" y="3188800"/>
                  <a:pt x="7601828" y="3074934"/>
                </a:cubicBezTo>
                <a:cubicBezTo>
                  <a:pt x="7389349" y="2840558"/>
                  <a:pt x="7257096" y="2543523"/>
                  <a:pt x="7042773" y="2305011"/>
                </a:cubicBezTo>
                <a:cubicBezTo>
                  <a:pt x="7007812" y="2266337"/>
                  <a:pt x="6799377" y="2086396"/>
                  <a:pt x="6844835" y="1995988"/>
                </a:cubicBezTo>
                <a:cubicBezTo>
                  <a:pt x="6847512" y="1990632"/>
                  <a:pt x="6854586" y="1989954"/>
                  <a:pt x="6861797" y="1990899"/>
                </a:cubicBezTo>
                <a:close/>
                <a:moveTo>
                  <a:pt x="1456157" y="1942404"/>
                </a:moveTo>
                <a:cubicBezTo>
                  <a:pt x="1385125" y="1944535"/>
                  <a:pt x="1314200" y="1949444"/>
                  <a:pt x="1244432" y="1956601"/>
                </a:cubicBezTo>
                <a:cubicBezTo>
                  <a:pt x="1151404" y="1966142"/>
                  <a:pt x="1060429" y="1979677"/>
                  <a:pt x="973990" y="1995940"/>
                </a:cubicBezTo>
                <a:cubicBezTo>
                  <a:pt x="1017323" y="1996535"/>
                  <a:pt x="1061253" y="2000367"/>
                  <a:pt x="1103809" y="2004720"/>
                </a:cubicBezTo>
                <a:lnTo>
                  <a:pt x="1123454" y="2006727"/>
                </a:lnTo>
                <a:cubicBezTo>
                  <a:pt x="1326373" y="2026563"/>
                  <a:pt x="1533386" y="2032253"/>
                  <a:pt x="1737017" y="2023183"/>
                </a:cubicBezTo>
                <a:lnTo>
                  <a:pt x="1824397" y="2018757"/>
                </a:lnTo>
                <a:cubicBezTo>
                  <a:pt x="1905266" y="2014590"/>
                  <a:pt x="1987993" y="2010352"/>
                  <a:pt x="2070059" y="2012660"/>
                </a:cubicBezTo>
                <a:cubicBezTo>
                  <a:pt x="1883310" y="1954634"/>
                  <a:pt x="1669251" y="1936013"/>
                  <a:pt x="1456157" y="1942404"/>
                </a:cubicBezTo>
                <a:close/>
                <a:moveTo>
                  <a:pt x="4988186" y="1787467"/>
                </a:moveTo>
                <a:cubicBezTo>
                  <a:pt x="4914642" y="1846764"/>
                  <a:pt x="4843105" y="1909703"/>
                  <a:pt x="4777334" y="1977072"/>
                </a:cubicBezTo>
                <a:cubicBezTo>
                  <a:pt x="4757662" y="1997414"/>
                  <a:pt x="4737537" y="2018249"/>
                  <a:pt x="4718341" y="2039043"/>
                </a:cubicBezTo>
                <a:cubicBezTo>
                  <a:pt x="4681696" y="2077771"/>
                  <a:pt x="4644162" y="2117455"/>
                  <a:pt x="4604655" y="2154434"/>
                </a:cubicBezTo>
                <a:cubicBezTo>
                  <a:pt x="4591636" y="2166592"/>
                  <a:pt x="4578581" y="2177832"/>
                  <a:pt x="4565074" y="2189550"/>
                </a:cubicBezTo>
                <a:cubicBezTo>
                  <a:pt x="4712605" y="2082121"/>
                  <a:pt x="4908425" y="1947611"/>
                  <a:pt x="4988186" y="1787467"/>
                </a:cubicBezTo>
                <a:close/>
                <a:moveTo>
                  <a:pt x="4978032" y="1754809"/>
                </a:moveTo>
                <a:cubicBezTo>
                  <a:pt x="4748175" y="1806846"/>
                  <a:pt x="4611576" y="2001393"/>
                  <a:pt x="4463413" y="2186162"/>
                </a:cubicBezTo>
                <a:cubicBezTo>
                  <a:pt x="4428815" y="2229459"/>
                  <a:pt x="4393697" y="2271384"/>
                  <a:pt x="4358134" y="2313791"/>
                </a:cubicBezTo>
                <a:lnTo>
                  <a:pt x="4376219" y="2300027"/>
                </a:lnTo>
                <a:cubicBezTo>
                  <a:pt x="4445817" y="2246939"/>
                  <a:pt x="4517680" y="2192374"/>
                  <a:pt x="4582340" y="2132037"/>
                </a:cubicBezTo>
                <a:cubicBezTo>
                  <a:pt x="4621394" y="2095545"/>
                  <a:pt x="4658482" y="2056345"/>
                  <a:pt x="4694684" y="2018098"/>
                </a:cubicBezTo>
                <a:cubicBezTo>
                  <a:pt x="4714806" y="1997264"/>
                  <a:pt x="4733997" y="1976475"/>
                  <a:pt x="4754123" y="1955643"/>
                </a:cubicBezTo>
                <a:cubicBezTo>
                  <a:pt x="4823909" y="1883925"/>
                  <a:pt x="4899949" y="1817074"/>
                  <a:pt x="4978032" y="1754809"/>
                </a:cubicBezTo>
                <a:close/>
                <a:moveTo>
                  <a:pt x="7427076" y="1713684"/>
                </a:moveTo>
                <a:cubicBezTo>
                  <a:pt x="7446602" y="1723725"/>
                  <a:pt x="7466122" y="1733767"/>
                  <a:pt x="7485963" y="1745783"/>
                </a:cubicBezTo>
                <a:cubicBezTo>
                  <a:pt x="7567460" y="1796071"/>
                  <a:pt x="7639772" y="1857770"/>
                  <a:pt x="7719410" y="1928281"/>
                </a:cubicBezTo>
                <a:cubicBezTo>
                  <a:pt x="7777835" y="1979518"/>
                  <a:pt x="7850375" y="2043816"/>
                  <a:pt x="7907163" y="2117863"/>
                </a:cubicBezTo>
                <a:cubicBezTo>
                  <a:pt x="7924160" y="2140331"/>
                  <a:pt x="7940457" y="2163330"/>
                  <a:pt x="7956656" y="2186961"/>
                </a:cubicBezTo>
                <a:cubicBezTo>
                  <a:pt x="7978464" y="2218485"/>
                  <a:pt x="7999857" y="2248676"/>
                  <a:pt x="8023445" y="2276642"/>
                </a:cubicBezTo>
                <a:cubicBezTo>
                  <a:pt x="7956400" y="2140150"/>
                  <a:pt x="7861731" y="2014166"/>
                  <a:pt x="7754656" y="1912546"/>
                </a:cubicBezTo>
                <a:cubicBezTo>
                  <a:pt x="7668081" y="1830722"/>
                  <a:pt x="7548884" y="1751582"/>
                  <a:pt x="7427076" y="1713684"/>
                </a:cubicBezTo>
                <a:close/>
                <a:moveTo>
                  <a:pt x="7312201" y="1699278"/>
                </a:moveTo>
                <a:cubicBezTo>
                  <a:pt x="7322935" y="1706049"/>
                  <a:pt x="7332964" y="1713350"/>
                  <a:pt x="7343603" y="1720746"/>
                </a:cubicBezTo>
                <a:cubicBezTo>
                  <a:pt x="7496266" y="1828079"/>
                  <a:pt x="7656157" y="1944847"/>
                  <a:pt x="7791759" y="2086717"/>
                </a:cubicBezTo>
                <a:lnTo>
                  <a:pt x="7825280" y="2122608"/>
                </a:lnTo>
                <a:cubicBezTo>
                  <a:pt x="7875363" y="2175773"/>
                  <a:pt x="7926463" y="2230374"/>
                  <a:pt x="7982410" y="2273551"/>
                </a:cubicBezTo>
                <a:cubicBezTo>
                  <a:pt x="7964809" y="2250989"/>
                  <a:pt x="7948608" y="2227366"/>
                  <a:pt x="7932408" y="2203736"/>
                </a:cubicBezTo>
                <a:cubicBezTo>
                  <a:pt x="7916712" y="2180836"/>
                  <a:pt x="7901020" y="2157930"/>
                  <a:pt x="7883927" y="2136087"/>
                </a:cubicBezTo>
                <a:cubicBezTo>
                  <a:pt x="7828664" y="2064188"/>
                  <a:pt x="7757146" y="2001331"/>
                  <a:pt x="7699832" y="1950904"/>
                </a:cubicBezTo>
                <a:cubicBezTo>
                  <a:pt x="7621217" y="1881828"/>
                  <a:pt x="7550116" y="1820322"/>
                  <a:pt x="7470240" y="1771559"/>
                </a:cubicBezTo>
                <a:cubicBezTo>
                  <a:pt x="7417598" y="1739141"/>
                  <a:pt x="7364314" y="1714956"/>
                  <a:pt x="7312201" y="1699278"/>
                </a:cubicBezTo>
                <a:close/>
                <a:moveTo>
                  <a:pt x="7244057" y="1695233"/>
                </a:moveTo>
                <a:cubicBezTo>
                  <a:pt x="7240832" y="1708197"/>
                  <a:pt x="7314310" y="1738040"/>
                  <a:pt x="7353035" y="1768318"/>
                </a:cubicBezTo>
                <a:cubicBezTo>
                  <a:pt x="7566127" y="1938091"/>
                  <a:pt x="7749139" y="2166671"/>
                  <a:pt x="7981878" y="2309345"/>
                </a:cubicBezTo>
                <a:cubicBezTo>
                  <a:pt x="7917138" y="2262903"/>
                  <a:pt x="7860147" y="2202267"/>
                  <a:pt x="7804780" y="2143174"/>
                </a:cubicBezTo>
                <a:cubicBezTo>
                  <a:pt x="7793606" y="2131210"/>
                  <a:pt x="7782433" y="2119247"/>
                  <a:pt x="7771164" y="2107908"/>
                </a:cubicBezTo>
                <a:cubicBezTo>
                  <a:pt x="7637791" y="1967658"/>
                  <a:pt x="7478920" y="1852329"/>
                  <a:pt x="7327465" y="1745181"/>
                </a:cubicBezTo>
                <a:cubicBezTo>
                  <a:pt x="7300620" y="1726330"/>
                  <a:pt x="7274186" y="1708825"/>
                  <a:pt x="7244057" y="1695233"/>
                </a:cubicBezTo>
                <a:close/>
                <a:moveTo>
                  <a:pt x="7133363" y="1621246"/>
                </a:moveTo>
                <a:cubicBezTo>
                  <a:pt x="7577149" y="1692491"/>
                  <a:pt x="7947715" y="1926125"/>
                  <a:pt x="8128687" y="2361959"/>
                </a:cubicBezTo>
                <a:cubicBezTo>
                  <a:pt x="8276565" y="2476246"/>
                  <a:pt x="8400253" y="2615012"/>
                  <a:pt x="8497002" y="2775913"/>
                </a:cubicBezTo>
                <a:cubicBezTo>
                  <a:pt x="8503575" y="2712856"/>
                  <a:pt x="8502497" y="2730666"/>
                  <a:pt x="8514292" y="2586372"/>
                </a:cubicBezTo>
                <a:cubicBezTo>
                  <a:pt x="8536052" y="2320157"/>
                  <a:pt x="8547760" y="2104819"/>
                  <a:pt x="8491838" y="1907275"/>
                </a:cubicBezTo>
                <a:cubicBezTo>
                  <a:pt x="8507078" y="1838180"/>
                  <a:pt x="8575461" y="1922481"/>
                  <a:pt x="8605731" y="2171804"/>
                </a:cubicBezTo>
                <a:cubicBezTo>
                  <a:pt x="8608350" y="2316349"/>
                  <a:pt x="8605836" y="2462029"/>
                  <a:pt x="8594880" y="2610262"/>
                </a:cubicBezTo>
                <a:cubicBezTo>
                  <a:pt x="8575957" y="2862971"/>
                  <a:pt x="8542313" y="3114716"/>
                  <a:pt x="8494242" y="3363600"/>
                </a:cubicBezTo>
                <a:cubicBezTo>
                  <a:pt x="8597730" y="3298745"/>
                  <a:pt x="8691862" y="3210036"/>
                  <a:pt x="8794675" y="3161735"/>
                </a:cubicBezTo>
                <a:cubicBezTo>
                  <a:pt x="8796362" y="3158786"/>
                  <a:pt x="8798755" y="3155312"/>
                  <a:pt x="8800448" y="3152371"/>
                </a:cubicBezTo>
                <a:cubicBezTo>
                  <a:pt x="8795284" y="3149656"/>
                  <a:pt x="8790221" y="3146317"/>
                  <a:pt x="8788186" y="3143441"/>
                </a:cubicBezTo>
                <a:cubicBezTo>
                  <a:pt x="8594646" y="2882498"/>
                  <a:pt x="8993712" y="2429248"/>
                  <a:pt x="9137232" y="2236639"/>
                </a:cubicBezTo>
                <a:cubicBezTo>
                  <a:pt x="9150495" y="2218816"/>
                  <a:pt x="9217510" y="2246384"/>
                  <a:pt x="9216765" y="2267416"/>
                </a:cubicBezTo>
                <a:cubicBezTo>
                  <a:pt x="9208076" y="2554368"/>
                  <a:pt x="9105464" y="2799377"/>
                  <a:pt x="8969849" y="3037405"/>
                </a:cubicBezTo>
                <a:cubicBezTo>
                  <a:pt x="9192790" y="2953070"/>
                  <a:pt x="9514633" y="2995367"/>
                  <a:pt x="9706237" y="2990148"/>
                </a:cubicBezTo>
                <a:cubicBezTo>
                  <a:pt x="9875985" y="2986062"/>
                  <a:pt x="9998989" y="2995957"/>
                  <a:pt x="10110375" y="3134116"/>
                </a:cubicBezTo>
                <a:cubicBezTo>
                  <a:pt x="10119737" y="3145800"/>
                  <a:pt x="10104347" y="3149204"/>
                  <a:pt x="10096281" y="3149254"/>
                </a:cubicBezTo>
                <a:cubicBezTo>
                  <a:pt x="9752742" y="3155519"/>
                  <a:pt x="9411210" y="3213343"/>
                  <a:pt x="9067672" y="3219608"/>
                </a:cubicBezTo>
                <a:cubicBezTo>
                  <a:pt x="9008636" y="3220807"/>
                  <a:pt x="8918484" y="3198657"/>
                  <a:pt x="8859441" y="3212028"/>
                </a:cubicBezTo>
                <a:cubicBezTo>
                  <a:pt x="8858839" y="3211935"/>
                  <a:pt x="8858138" y="3212468"/>
                  <a:pt x="8857528" y="3212375"/>
                </a:cubicBezTo>
                <a:cubicBezTo>
                  <a:pt x="8854312" y="3213158"/>
                  <a:pt x="8851192" y="3213319"/>
                  <a:pt x="8848579" y="3214204"/>
                </a:cubicBezTo>
                <a:cubicBezTo>
                  <a:pt x="8763018" y="3241925"/>
                  <a:pt x="8669480" y="3330768"/>
                  <a:pt x="8576285" y="3395788"/>
                </a:cubicBezTo>
                <a:lnTo>
                  <a:pt x="8519159" y="3428998"/>
                </a:lnTo>
                <a:lnTo>
                  <a:pt x="8393540" y="3428998"/>
                </a:lnTo>
                <a:lnTo>
                  <a:pt x="8417346" y="3316652"/>
                </a:lnTo>
                <a:cubicBezTo>
                  <a:pt x="8445294" y="3171749"/>
                  <a:pt x="8467982" y="3025800"/>
                  <a:pt x="8485502" y="2879216"/>
                </a:cubicBezTo>
                <a:cubicBezTo>
                  <a:pt x="8483369" y="2876964"/>
                  <a:pt x="8481139" y="2875343"/>
                  <a:pt x="8480214" y="2873278"/>
                </a:cubicBezTo>
                <a:cubicBezTo>
                  <a:pt x="8389148" y="2691471"/>
                  <a:pt x="8265637" y="2535433"/>
                  <a:pt x="8112215" y="2408768"/>
                </a:cubicBezTo>
                <a:cubicBezTo>
                  <a:pt x="8107469" y="2407403"/>
                  <a:pt x="8101510" y="2405843"/>
                  <a:pt x="8095146" y="2402943"/>
                </a:cubicBezTo>
                <a:cubicBezTo>
                  <a:pt x="7720999" y="2241157"/>
                  <a:pt x="7460805" y="1881579"/>
                  <a:pt x="7131946" y="1646653"/>
                </a:cubicBezTo>
                <a:cubicBezTo>
                  <a:pt x="7120196" y="1638444"/>
                  <a:pt x="7107334" y="1617255"/>
                  <a:pt x="7133363" y="1621246"/>
                </a:cubicBezTo>
                <a:close/>
                <a:moveTo>
                  <a:pt x="1903353" y="1615827"/>
                </a:moveTo>
                <a:cubicBezTo>
                  <a:pt x="1900901" y="1620058"/>
                  <a:pt x="1913196" y="1636331"/>
                  <a:pt x="1936931" y="1664954"/>
                </a:cubicBezTo>
                <a:cubicBezTo>
                  <a:pt x="2021149" y="1767773"/>
                  <a:pt x="2108079" y="1868623"/>
                  <a:pt x="2195868" y="1967574"/>
                </a:cubicBezTo>
                <a:cubicBezTo>
                  <a:pt x="2196092" y="1880013"/>
                  <a:pt x="2155695" y="1801515"/>
                  <a:pt x="2088852" y="1737123"/>
                </a:cubicBezTo>
                <a:cubicBezTo>
                  <a:pt x="2054441" y="1703572"/>
                  <a:pt x="2001584" y="1662839"/>
                  <a:pt x="1958241" y="1638955"/>
                </a:cubicBezTo>
                <a:cubicBezTo>
                  <a:pt x="1922998" y="1619408"/>
                  <a:pt x="1905803" y="1611595"/>
                  <a:pt x="1903353" y="1615827"/>
                </a:cubicBezTo>
                <a:close/>
                <a:moveTo>
                  <a:pt x="11544294" y="1515364"/>
                </a:moveTo>
                <a:cubicBezTo>
                  <a:pt x="11560186" y="1751994"/>
                  <a:pt x="11601886" y="2047223"/>
                  <a:pt x="11755210" y="2159157"/>
                </a:cubicBezTo>
                <a:cubicBezTo>
                  <a:pt x="11638730" y="1953912"/>
                  <a:pt x="11582097" y="1724179"/>
                  <a:pt x="11544294" y="1515364"/>
                </a:cubicBezTo>
                <a:close/>
                <a:moveTo>
                  <a:pt x="11571408" y="1489599"/>
                </a:moveTo>
                <a:cubicBezTo>
                  <a:pt x="11607963" y="1697676"/>
                  <a:pt x="11663078" y="1929905"/>
                  <a:pt x="11778250" y="2136760"/>
                </a:cubicBezTo>
                <a:cubicBezTo>
                  <a:pt x="11740096" y="1906710"/>
                  <a:pt x="11685166" y="1688152"/>
                  <a:pt x="11571408" y="1489599"/>
                </a:cubicBezTo>
                <a:close/>
                <a:moveTo>
                  <a:pt x="11540154" y="1438303"/>
                </a:moveTo>
                <a:cubicBezTo>
                  <a:pt x="11540302" y="1439748"/>
                  <a:pt x="11540443" y="1441186"/>
                  <a:pt x="11540380" y="1443526"/>
                </a:cubicBezTo>
                <a:lnTo>
                  <a:pt x="11542590" y="1442112"/>
                </a:lnTo>
                <a:lnTo>
                  <a:pt x="11540154" y="1438303"/>
                </a:lnTo>
                <a:close/>
                <a:moveTo>
                  <a:pt x="10567662" y="1437948"/>
                </a:moveTo>
                <a:cubicBezTo>
                  <a:pt x="10522198" y="1438672"/>
                  <a:pt x="10476263" y="1443522"/>
                  <a:pt x="10431225" y="1448568"/>
                </a:cubicBezTo>
                <a:cubicBezTo>
                  <a:pt x="10381279" y="1454457"/>
                  <a:pt x="10328981" y="1460314"/>
                  <a:pt x="10277556" y="1460247"/>
                </a:cubicBezTo>
                <a:cubicBezTo>
                  <a:pt x="10236449" y="1460475"/>
                  <a:pt x="10195262" y="1456932"/>
                  <a:pt x="10155875" y="1453769"/>
                </a:cubicBezTo>
                <a:cubicBezTo>
                  <a:pt x="10128043" y="1451639"/>
                  <a:pt x="10100420" y="1448611"/>
                  <a:pt x="10072733" y="1447924"/>
                </a:cubicBezTo>
                <a:cubicBezTo>
                  <a:pt x="10009605" y="1445377"/>
                  <a:pt x="9945053" y="1449112"/>
                  <a:pt x="9882500" y="1452330"/>
                </a:cubicBezTo>
                <a:cubicBezTo>
                  <a:pt x="9817947" y="1456065"/>
                  <a:pt x="9751031" y="1459772"/>
                  <a:pt x="9685205" y="1456650"/>
                </a:cubicBezTo>
                <a:lnTo>
                  <a:pt x="9666932" y="1456075"/>
                </a:lnTo>
                <a:cubicBezTo>
                  <a:pt x="9647413" y="1454768"/>
                  <a:pt x="9627689" y="1454349"/>
                  <a:pt x="9608662" y="1455027"/>
                </a:cubicBezTo>
                <a:cubicBezTo>
                  <a:pt x="9746940" y="1477717"/>
                  <a:pt x="9886187" y="1498258"/>
                  <a:pt x="10026230" y="1509088"/>
                </a:cubicBezTo>
                <a:cubicBezTo>
                  <a:pt x="10217917" y="1525217"/>
                  <a:pt x="10389161" y="1492336"/>
                  <a:pt x="10567662" y="1437948"/>
                </a:cubicBezTo>
                <a:close/>
                <a:moveTo>
                  <a:pt x="10221015" y="1354657"/>
                </a:moveTo>
                <a:cubicBezTo>
                  <a:pt x="10183412" y="1353731"/>
                  <a:pt x="10145345" y="1354278"/>
                  <a:pt x="10107121" y="1356091"/>
                </a:cubicBezTo>
                <a:cubicBezTo>
                  <a:pt x="9954224" y="1363347"/>
                  <a:pt x="9798826" y="1390883"/>
                  <a:pt x="9660668" y="1425595"/>
                </a:cubicBezTo>
                <a:cubicBezTo>
                  <a:pt x="9663924" y="1425814"/>
                  <a:pt x="9666276" y="1425838"/>
                  <a:pt x="9669531" y="1426057"/>
                </a:cubicBezTo>
                <a:lnTo>
                  <a:pt x="9687254" y="1426986"/>
                </a:lnTo>
                <a:cubicBezTo>
                  <a:pt x="9751279" y="1429722"/>
                  <a:pt x="9817637" y="1426370"/>
                  <a:pt x="9881290" y="1422445"/>
                </a:cubicBezTo>
                <a:cubicBezTo>
                  <a:pt x="9944395" y="1418874"/>
                  <a:pt x="10009857" y="1415334"/>
                  <a:pt x="10074432" y="1417715"/>
                </a:cubicBezTo>
                <a:cubicBezTo>
                  <a:pt x="10102466" y="1418944"/>
                  <a:pt x="10131190" y="1421269"/>
                  <a:pt x="10159369" y="1423935"/>
                </a:cubicBezTo>
                <a:cubicBezTo>
                  <a:pt x="10198208" y="1427456"/>
                  <a:pt x="10239045" y="1430459"/>
                  <a:pt x="10278706" y="1430393"/>
                </a:cubicBezTo>
                <a:cubicBezTo>
                  <a:pt x="10328324" y="1430079"/>
                  <a:pt x="10379724" y="1424023"/>
                  <a:pt x="10429120" y="1418493"/>
                </a:cubicBezTo>
                <a:cubicBezTo>
                  <a:pt x="10465435" y="1414425"/>
                  <a:pt x="10501756" y="1410354"/>
                  <a:pt x="10538565" y="1408270"/>
                </a:cubicBezTo>
                <a:cubicBezTo>
                  <a:pt x="10442450" y="1373463"/>
                  <a:pt x="10333824" y="1357435"/>
                  <a:pt x="10221015" y="1354657"/>
                </a:cubicBezTo>
                <a:close/>
                <a:moveTo>
                  <a:pt x="1979378" y="1340504"/>
                </a:moveTo>
                <a:cubicBezTo>
                  <a:pt x="2251008" y="1517802"/>
                  <a:pt x="2557265" y="1617794"/>
                  <a:pt x="2882120" y="1635547"/>
                </a:cubicBezTo>
                <a:cubicBezTo>
                  <a:pt x="2852884" y="1626476"/>
                  <a:pt x="2822307" y="1618842"/>
                  <a:pt x="2793103" y="1610699"/>
                </a:cubicBezTo>
                <a:lnTo>
                  <a:pt x="2770041" y="1604634"/>
                </a:lnTo>
                <a:cubicBezTo>
                  <a:pt x="2500352" y="1533917"/>
                  <a:pt x="2236095" y="1435963"/>
                  <a:pt x="1979378" y="1340504"/>
                </a:cubicBezTo>
                <a:close/>
                <a:moveTo>
                  <a:pt x="1927410" y="1287164"/>
                </a:moveTo>
                <a:cubicBezTo>
                  <a:pt x="1938311" y="1291848"/>
                  <a:pt x="1949172" y="1295604"/>
                  <a:pt x="1959587" y="1299849"/>
                </a:cubicBezTo>
                <a:cubicBezTo>
                  <a:pt x="2224818" y="1398692"/>
                  <a:pt x="2499050" y="1501367"/>
                  <a:pt x="2777707" y="1574991"/>
                </a:cubicBezTo>
                <a:lnTo>
                  <a:pt x="2800768" y="1581056"/>
                </a:lnTo>
                <a:lnTo>
                  <a:pt x="2879408" y="1602590"/>
                </a:lnTo>
                <a:cubicBezTo>
                  <a:pt x="2873718" y="1600024"/>
                  <a:pt x="2868475" y="1596973"/>
                  <a:pt x="2862295" y="1593958"/>
                </a:cubicBezTo>
                <a:cubicBezTo>
                  <a:pt x="2846112" y="1585292"/>
                  <a:pt x="2829972" y="1577555"/>
                  <a:pt x="2813343" y="1569369"/>
                </a:cubicBezTo>
                <a:cubicBezTo>
                  <a:pt x="2759214" y="1543589"/>
                  <a:pt x="2702010" y="1522123"/>
                  <a:pt x="2646245" y="1501999"/>
                </a:cubicBezTo>
                <a:cubicBezTo>
                  <a:pt x="2437298" y="1424662"/>
                  <a:pt x="2221285" y="1345272"/>
                  <a:pt x="1999243" y="1301524"/>
                </a:cubicBezTo>
                <a:lnTo>
                  <a:pt x="1979527" y="1297651"/>
                </a:lnTo>
                <a:lnTo>
                  <a:pt x="1927410" y="1287164"/>
                </a:lnTo>
                <a:close/>
                <a:moveTo>
                  <a:pt x="1997014" y="1269007"/>
                </a:moveTo>
                <a:lnTo>
                  <a:pt x="2005458" y="1270540"/>
                </a:lnTo>
                <a:cubicBezTo>
                  <a:pt x="2229844" y="1314659"/>
                  <a:pt x="2447268" y="1394456"/>
                  <a:pt x="2657186" y="1472687"/>
                </a:cubicBezTo>
                <a:cubicBezTo>
                  <a:pt x="2713431" y="1493259"/>
                  <a:pt x="2771565" y="1514688"/>
                  <a:pt x="2826662" y="1541362"/>
                </a:cubicBezTo>
                <a:cubicBezTo>
                  <a:pt x="2843286" y="1549544"/>
                  <a:pt x="2859914" y="1557729"/>
                  <a:pt x="2876100" y="1566397"/>
                </a:cubicBezTo>
                <a:cubicBezTo>
                  <a:pt x="2929811" y="1593592"/>
                  <a:pt x="2984941" y="1621189"/>
                  <a:pt x="3042600" y="1630532"/>
                </a:cubicBezTo>
                <a:cubicBezTo>
                  <a:pt x="2779645" y="1343909"/>
                  <a:pt x="2376891" y="1276645"/>
                  <a:pt x="1997014" y="1269007"/>
                </a:cubicBezTo>
                <a:close/>
                <a:moveTo>
                  <a:pt x="9857254" y="846904"/>
                </a:moveTo>
                <a:cubicBezTo>
                  <a:pt x="9525980" y="871770"/>
                  <a:pt x="9241479" y="935703"/>
                  <a:pt x="8989866" y="1043742"/>
                </a:cubicBezTo>
                <a:lnTo>
                  <a:pt x="8931614" y="1069508"/>
                </a:lnTo>
                <a:cubicBezTo>
                  <a:pt x="8902659" y="1082659"/>
                  <a:pt x="8873359" y="1095268"/>
                  <a:pt x="8843711" y="1107334"/>
                </a:cubicBezTo>
                <a:cubicBezTo>
                  <a:pt x="8889894" y="1093124"/>
                  <a:pt x="8937874" y="1079296"/>
                  <a:pt x="8966093" y="1073509"/>
                </a:cubicBezTo>
                <a:cubicBezTo>
                  <a:pt x="9076195" y="1052142"/>
                  <a:pt x="9187512" y="1039967"/>
                  <a:pt x="9299227" y="1025994"/>
                </a:cubicBezTo>
                <a:cubicBezTo>
                  <a:pt x="9502333" y="1000326"/>
                  <a:pt x="9654280" y="888586"/>
                  <a:pt x="9857254" y="846904"/>
                </a:cubicBezTo>
                <a:close/>
                <a:moveTo>
                  <a:pt x="9615182" y="791499"/>
                </a:moveTo>
                <a:cubicBezTo>
                  <a:pt x="9415185" y="799027"/>
                  <a:pt x="9214426" y="900700"/>
                  <a:pt x="9023688" y="996819"/>
                </a:cubicBezTo>
                <a:cubicBezTo>
                  <a:pt x="9256457" y="903127"/>
                  <a:pt x="9516545" y="844854"/>
                  <a:pt x="9814527" y="819048"/>
                </a:cubicBezTo>
                <a:cubicBezTo>
                  <a:pt x="9748431" y="796943"/>
                  <a:pt x="9681848" y="788991"/>
                  <a:pt x="9615182" y="791499"/>
                </a:cubicBezTo>
                <a:close/>
                <a:moveTo>
                  <a:pt x="2305292" y="790492"/>
                </a:moveTo>
                <a:cubicBezTo>
                  <a:pt x="2631112" y="948847"/>
                  <a:pt x="3011879" y="1106878"/>
                  <a:pt x="3360922" y="1100373"/>
                </a:cubicBezTo>
                <a:cubicBezTo>
                  <a:pt x="3408391" y="1099405"/>
                  <a:pt x="3451278" y="1088839"/>
                  <a:pt x="3492420" y="1081145"/>
                </a:cubicBezTo>
                <a:cubicBezTo>
                  <a:pt x="3448862" y="1074966"/>
                  <a:pt x="3405674" y="1066449"/>
                  <a:pt x="3364086" y="1051340"/>
                </a:cubicBezTo>
                <a:cubicBezTo>
                  <a:pt x="3314946" y="1033747"/>
                  <a:pt x="3269673" y="1008082"/>
                  <a:pt x="3225818" y="982822"/>
                </a:cubicBezTo>
                <a:cubicBezTo>
                  <a:pt x="3194830" y="964966"/>
                  <a:pt x="3162431" y="946699"/>
                  <a:pt x="3129696" y="931704"/>
                </a:cubicBezTo>
                <a:cubicBezTo>
                  <a:pt x="3030558" y="886774"/>
                  <a:pt x="2920899" y="869731"/>
                  <a:pt x="2814545" y="853955"/>
                </a:cubicBezTo>
                <a:cubicBezTo>
                  <a:pt x="2648192" y="828474"/>
                  <a:pt x="2475773" y="802762"/>
                  <a:pt x="2305292" y="790492"/>
                </a:cubicBezTo>
                <a:close/>
                <a:moveTo>
                  <a:pt x="2626982" y="777450"/>
                </a:moveTo>
                <a:cubicBezTo>
                  <a:pt x="2581807" y="776467"/>
                  <a:pt x="2536327" y="776706"/>
                  <a:pt x="2490617" y="777951"/>
                </a:cubicBezTo>
                <a:cubicBezTo>
                  <a:pt x="2601507" y="790748"/>
                  <a:pt x="2711611" y="807309"/>
                  <a:pt x="2819869" y="823936"/>
                </a:cubicBezTo>
                <a:cubicBezTo>
                  <a:pt x="2928115" y="840564"/>
                  <a:pt x="3040565" y="857495"/>
                  <a:pt x="3143018" y="903698"/>
                </a:cubicBezTo>
                <a:cubicBezTo>
                  <a:pt x="3177162" y="919099"/>
                  <a:pt x="3210046" y="937808"/>
                  <a:pt x="3241520" y="956112"/>
                </a:cubicBezTo>
                <a:cubicBezTo>
                  <a:pt x="3284409" y="980477"/>
                  <a:pt x="3328265" y="1005739"/>
                  <a:pt x="3374575" y="1022517"/>
                </a:cubicBezTo>
                <a:cubicBezTo>
                  <a:pt x="3416609" y="1037134"/>
                  <a:pt x="3460730" y="1045620"/>
                  <a:pt x="3505221" y="1051757"/>
                </a:cubicBezTo>
                <a:cubicBezTo>
                  <a:pt x="3244537" y="851088"/>
                  <a:pt x="2943211" y="784332"/>
                  <a:pt x="2626982" y="777450"/>
                </a:cubicBezTo>
                <a:close/>
                <a:moveTo>
                  <a:pt x="9258094" y="529602"/>
                </a:moveTo>
                <a:cubicBezTo>
                  <a:pt x="9013678" y="577086"/>
                  <a:pt x="8768731" y="631051"/>
                  <a:pt x="8526712" y="690804"/>
                </a:cubicBezTo>
                <a:cubicBezTo>
                  <a:pt x="8781748" y="694003"/>
                  <a:pt x="9026494" y="640940"/>
                  <a:pt x="9258094" y="529602"/>
                </a:cubicBezTo>
                <a:close/>
                <a:moveTo>
                  <a:pt x="1310106" y="514217"/>
                </a:moveTo>
                <a:cubicBezTo>
                  <a:pt x="1129544" y="634332"/>
                  <a:pt x="976804" y="783308"/>
                  <a:pt x="854994" y="970136"/>
                </a:cubicBezTo>
                <a:cubicBezTo>
                  <a:pt x="813550" y="1033067"/>
                  <a:pt x="777442" y="1099637"/>
                  <a:pt x="742462" y="1165648"/>
                </a:cubicBezTo>
                <a:cubicBezTo>
                  <a:pt x="769633" y="1130245"/>
                  <a:pt x="795392" y="1093436"/>
                  <a:pt x="820602" y="1056915"/>
                </a:cubicBezTo>
                <a:cubicBezTo>
                  <a:pt x="839644" y="1029097"/>
                  <a:pt x="858127" y="1001568"/>
                  <a:pt x="878295" y="974594"/>
                </a:cubicBezTo>
                <a:cubicBezTo>
                  <a:pt x="984168" y="830170"/>
                  <a:pt x="1114491" y="703679"/>
                  <a:pt x="1240607" y="581401"/>
                </a:cubicBezTo>
                <a:lnTo>
                  <a:pt x="1310106" y="514217"/>
                </a:lnTo>
                <a:close/>
                <a:moveTo>
                  <a:pt x="11225213" y="507722"/>
                </a:moveTo>
                <a:cubicBezTo>
                  <a:pt x="11207028" y="593695"/>
                  <a:pt x="11194593" y="681355"/>
                  <a:pt x="11182914" y="767771"/>
                </a:cubicBezTo>
                <a:cubicBezTo>
                  <a:pt x="11164076" y="906276"/>
                  <a:pt x="11145116" y="1049465"/>
                  <a:pt x="11099211" y="1184594"/>
                </a:cubicBezTo>
                <a:cubicBezTo>
                  <a:pt x="11088245" y="1216134"/>
                  <a:pt x="11076378" y="1247477"/>
                  <a:pt x="11064509" y="1278830"/>
                </a:cubicBezTo>
                <a:lnTo>
                  <a:pt x="11049349" y="1318418"/>
                </a:lnTo>
                <a:cubicBezTo>
                  <a:pt x="11022123" y="1390250"/>
                  <a:pt x="10998838" y="1463390"/>
                  <a:pt x="10978260" y="1537094"/>
                </a:cubicBezTo>
                <a:cubicBezTo>
                  <a:pt x="11216457" y="1249857"/>
                  <a:pt x="11222923" y="871706"/>
                  <a:pt x="11225213" y="507722"/>
                </a:cubicBezTo>
                <a:close/>
                <a:moveTo>
                  <a:pt x="9168987" y="490232"/>
                </a:moveTo>
                <a:cubicBezTo>
                  <a:pt x="8975366" y="483045"/>
                  <a:pt x="8788341" y="560836"/>
                  <a:pt x="8603910" y="639895"/>
                </a:cubicBezTo>
                <a:cubicBezTo>
                  <a:pt x="8818554" y="588452"/>
                  <a:pt x="9035976" y="541366"/>
                  <a:pt x="9252382" y="498759"/>
                </a:cubicBezTo>
                <a:cubicBezTo>
                  <a:pt x="9224441" y="494020"/>
                  <a:pt x="9196646" y="491259"/>
                  <a:pt x="9168987" y="490232"/>
                </a:cubicBezTo>
                <a:close/>
                <a:moveTo>
                  <a:pt x="11201005" y="471089"/>
                </a:moveTo>
                <a:cubicBezTo>
                  <a:pt x="11064705" y="787426"/>
                  <a:pt x="10958405" y="1112932"/>
                  <a:pt x="10968432" y="1456010"/>
                </a:cubicBezTo>
                <a:cubicBezTo>
                  <a:pt x="10984596" y="1405817"/>
                  <a:pt x="11001105" y="1356171"/>
                  <a:pt x="11019967" y="1306553"/>
                </a:cubicBezTo>
                <a:lnTo>
                  <a:pt x="11035125" y="1266966"/>
                </a:lnTo>
                <a:cubicBezTo>
                  <a:pt x="11047342" y="1236154"/>
                  <a:pt x="11059004" y="1205706"/>
                  <a:pt x="11069972" y="1174168"/>
                </a:cubicBezTo>
                <a:cubicBezTo>
                  <a:pt x="11114708" y="1042083"/>
                  <a:pt x="11133811" y="900343"/>
                  <a:pt x="11152239" y="763628"/>
                </a:cubicBezTo>
                <a:cubicBezTo>
                  <a:pt x="11165272" y="667160"/>
                  <a:pt x="11178361" y="568344"/>
                  <a:pt x="11201005" y="471089"/>
                </a:cubicBezTo>
                <a:close/>
                <a:moveTo>
                  <a:pt x="1423113" y="445565"/>
                </a:moveTo>
                <a:lnTo>
                  <a:pt x="1260565" y="602982"/>
                </a:lnTo>
                <a:cubicBezTo>
                  <a:pt x="1135292" y="724135"/>
                  <a:pt x="1006090" y="850065"/>
                  <a:pt x="901900" y="992236"/>
                </a:cubicBezTo>
                <a:cubicBezTo>
                  <a:pt x="882292" y="1018928"/>
                  <a:pt x="863806" y="1046465"/>
                  <a:pt x="845044" y="1073436"/>
                </a:cubicBezTo>
                <a:cubicBezTo>
                  <a:pt x="797719" y="1142828"/>
                  <a:pt x="747866" y="1214196"/>
                  <a:pt x="685926" y="1274069"/>
                </a:cubicBezTo>
                <a:cubicBezTo>
                  <a:pt x="685087" y="1275192"/>
                  <a:pt x="684806" y="1276038"/>
                  <a:pt x="684248" y="1277721"/>
                </a:cubicBezTo>
                <a:cubicBezTo>
                  <a:pt x="955830" y="1021343"/>
                  <a:pt x="1215323" y="756291"/>
                  <a:pt x="1423113" y="445565"/>
                </a:cubicBezTo>
                <a:close/>
                <a:moveTo>
                  <a:pt x="3316479" y="443136"/>
                </a:moveTo>
                <a:lnTo>
                  <a:pt x="3546806" y="927139"/>
                </a:lnTo>
                <a:cubicBezTo>
                  <a:pt x="3510992" y="788388"/>
                  <a:pt x="3440535" y="657075"/>
                  <a:pt x="3364433" y="524121"/>
                </a:cubicBezTo>
                <a:lnTo>
                  <a:pt x="3316479" y="443136"/>
                </a:lnTo>
                <a:close/>
                <a:moveTo>
                  <a:pt x="10268559" y="442054"/>
                </a:moveTo>
                <a:cubicBezTo>
                  <a:pt x="10277021" y="671939"/>
                  <a:pt x="10375577" y="877148"/>
                  <a:pt x="10494169" y="1091780"/>
                </a:cubicBezTo>
                <a:cubicBezTo>
                  <a:pt x="10447177" y="970850"/>
                  <a:pt x="10400743" y="849562"/>
                  <a:pt x="10356661" y="728302"/>
                </a:cubicBezTo>
                <a:cubicBezTo>
                  <a:pt x="10321871" y="632517"/>
                  <a:pt x="10289232" y="537669"/>
                  <a:pt x="10268559" y="442054"/>
                </a:cubicBezTo>
                <a:close/>
                <a:moveTo>
                  <a:pt x="3291335" y="338420"/>
                </a:moveTo>
                <a:cubicBezTo>
                  <a:pt x="3324815" y="395296"/>
                  <a:pt x="3358740" y="451691"/>
                  <a:pt x="3390805" y="508163"/>
                </a:cubicBezTo>
                <a:cubicBezTo>
                  <a:pt x="3469925" y="646583"/>
                  <a:pt x="3543427" y="784298"/>
                  <a:pt x="3579062" y="930040"/>
                </a:cubicBezTo>
                <a:cubicBezTo>
                  <a:pt x="3585500" y="799842"/>
                  <a:pt x="3547302" y="683076"/>
                  <a:pt x="3467355" y="559130"/>
                </a:cubicBezTo>
                <a:cubicBezTo>
                  <a:pt x="3420192" y="486029"/>
                  <a:pt x="3371016" y="420934"/>
                  <a:pt x="3310753" y="358140"/>
                </a:cubicBezTo>
                <a:cubicBezTo>
                  <a:pt x="3303466" y="350509"/>
                  <a:pt x="3297626" y="344227"/>
                  <a:pt x="3291335" y="338420"/>
                </a:cubicBezTo>
                <a:close/>
                <a:moveTo>
                  <a:pt x="1635889" y="280494"/>
                </a:moveTo>
                <a:lnTo>
                  <a:pt x="1634800" y="302111"/>
                </a:lnTo>
                <a:cubicBezTo>
                  <a:pt x="1634800" y="302111"/>
                  <a:pt x="1635342" y="287795"/>
                  <a:pt x="1635889" y="280494"/>
                </a:cubicBezTo>
                <a:close/>
                <a:moveTo>
                  <a:pt x="10277529" y="272307"/>
                </a:moveTo>
                <a:cubicBezTo>
                  <a:pt x="10277467" y="274640"/>
                  <a:pt x="10276853" y="277334"/>
                  <a:pt x="10276797" y="279672"/>
                </a:cubicBezTo>
                <a:cubicBezTo>
                  <a:pt x="10284209" y="425149"/>
                  <a:pt x="10331835" y="570199"/>
                  <a:pt x="10385906" y="718031"/>
                </a:cubicBezTo>
                <a:cubicBezTo>
                  <a:pt x="10434036" y="850493"/>
                  <a:pt x="10484873" y="983529"/>
                  <a:pt x="10536458" y="1115310"/>
                </a:cubicBezTo>
                <a:cubicBezTo>
                  <a:pt x="10537315" y="979107"/>
                  <a:pt x="10476552" y="837858"/>
                  <a:pt x="10436479" y="715570"/>
                </a:cubicBezTo>
                <a:cubicBezTo>
                  <a:pt x="10386976" y="566354"/>
                  <a:pt x="10333255" y="419072"/>
                  <a:pt x="10277529" y="272307"/>
                </a:cubicBezTo>
                <a:close/>
                <a:moveTo>
                  <a:pt x="1510397" y="255705"/>
                </a:moveTo>
                <a:cubicBezTo>
                  <a:pt x="1390337" y="300510"/>
                  <a:pt x="1267181" y="337747"/>
                  <a:pt x="1146550" y="373012"/>
                </a:cubicBezTo>
                <a:cubicBezTo>
                  <a:pt x="997862" y="416736"/>
                  <a:pt x="843568" y="461871"/>
                  <a:pt x="698834" y="523272"/>
                </a:cubicBezTo>
                <a:cubicBezTo>
                  <a:pt x="460140" y="624106"/>
                  <a:pt x="242842" y="767577"/>
                  <a:pt x="34256" y="918603"/>
                </a:cubicBezTo>
                <a:cubicBezTo>
                  <a:pt x="196048" y="819849"/>
                  <a:pt x="358125" y="721653"/>
                  <a:pt x="527241" y="636078"/>
                </a:cubicBezTo>
                <a:cubicBezTo>
                  <a:pt x="838255" y="479281"/>
                  <a:pt x="1212318" y="434093"/>
                  <a:pt x="1510397" y="255705"/>
                </a:cubicBezTo>
                <a:close/>
                <a:moveTo>
                  <a:pt x="1313114" y="226216"/>
                </a:moveTo>
                <a:cubicBezTo>
                  <a:pt x="1247578" y="225578"/>
                  <a:pt x="1180153" y="227293"/>
                  <a:pt x="1109304" y="240030"/>
                </a:cubicBezTo>
                <a:cubicBezTo>
                  <a:pt x="689821" y="315031"/>
                  <a:pt x="334655" y="603530"/>
                  <a:pt x="8129" y="901519"/>
                </a:cubicBezTo>
                <a:cubicBezTo>
                  <a:pt x="220923" y="747682"/>
                  <a:pt x="442983" y="599720"/>
                  <a:pt x="687572" y="496629"/>
                </a:cubicBezTo>
                <a:cubicBezTo>
                  <a:pt x="833705" y="435223"/>
                  <a:pt x="989118" y="389520"/>
                  <a:pt x="1138365" y="345515"/>
                </a:cubicBezTo>
                <a:cubicBezTo>
                  <a:pt x="1260121" y="309686"/>
                  <a:pt x="1384681" y="272451"/>
                  <a:pt x="1505579" y="226526"/>
                </a:cubicBezTo>
                <a:cubicBezTo>
                  <a:pt x="1442294" y="229846"/>
                  <a:pt x="1378650" y="226854"/>
                  <a:pt x="1313114" y="226216"/>
                </a:cubicBezTo>
                <a:close/>
                <a:moveTo>
                  <a:pt x="3655073" y="221884"/>
                </a:moveTo>
                <a:cubicBezTo>
                  <a:pt x="3768399" y="336347"/>
                  <a:pt x="3873410" y="455450"/>
                  <a:pt x="3989938" y="562685"/>
                </a:cubicBezTo>
                <a:cubicBezTo>
                  <a:pt x="4106468" y="669916"/>
                  <a:pt x="4234512" y="765281"/>
                  <a:pt x="4393907" y="832258"/>
                </a:cubicBezTo>
                <a:cubicBezTo>
                  <a:pt x="4484865" y="870540"/>
                  <a:pt x="4571866" y="903385"/>
                  <a:pt x="4648051" y="945051"/>
                </a:cubicBezTo>
                <a:cubicBezTo>
                  <a:pt x="4566919" y="872848"/>
                  <a:pt x="4474187" y="813216"/>
                  <a:pt x="4383389" y="755369"/>
                </a:cubicBezTo>
                <a:cubicBezTo>
                  <a:pt x="4310251" y="708460"/>
                  <a:pt x="4234739" y="660250"/>
                  <a:pt x="4165508" y="606196"/>
                </a:cubicBezTo>
                <a:cubicBezTo>
                  <a:pt x="4131846" y="579598"/>
                  <a:pt x="4099524" y="551549"/>
                  <a:pt x="4068162" y="524394"/>
                </a:cubicBezTo>
                <a:cubicBezTo>
                  <a:pt x="4039704" y="499919"/>
                  <a:pt x="4010763" y="474992"/>
                  <a:pt x="3981416" y="451482"/>
                </a:cubicBezTo>
                <a:cubicBezTo>
                  <a:pt x="3923199" y="404909"/>
                  <a:pt x="3860482" y="362236"/>
                  <a:pt x="3800147" y="320872"/>
                </a:cubicBezTo>
                <a:lnTo>
                  <a:pt x="3655073" y="221884"/>
                </a:lnTo>
                <a:close/>
                <a:moveTo>
                  <a:pt x="3670252" y="193798"/>
                </a:moveTo>
                <a:lnTo>
                  <a:pt x="3817258" y="294577"/>
                </a:lnTo>
                <a:cubicBezTo>
                  <a:pt x="3878082" y="336387"/>
                  <a:pt x="3941278" y="379498"/>
                  <a:pt x="4000461" y="426966"/>
                </a:cubicBezTo>
                <a:cubicBezTo>
                  <a:pt x="4030299" y="450926"/>
                  <a:pt x="4059233" y="475849"/>
                  <a:pt x="4088180" y="500774"/>
                </a:cubicBezTo>
                <a:cubicBezTo>
                  <a:pt x="4119532" y="527928"/>
                  <a:pt x="4151864" y="555979"/>
                  <a:pt x="4184555" y="581683"/>
                </a:cubicBezTo>
                <a:cubicBezTo>
                  <a:pt x="4252374" y="635322"/>
                  <a:pt x="4327401" y="683085"/>
                  <a:pt x="4399563" y="729106"/>
                </a:cubicBezTo>
                <a:cubicBezTo>
                  <a:pt x="4497546" y="791788"/>
                  <a:pt x="4597907" y="855772"/>
                  <a:pt x="4684469" y="935680"/>
                </a:cubicBezTo>
                <a:lnTo>
                  <a:pt x="4690271" y="941034"/>
                </a:lnTo>
                <a:cubicBezTo>
                  <a:pt x="4617960" y="705006"/>
                  <a:pt x="4326618" y="547128"/>
                  <a:pt x="4136093" y="429466"/>
                </a:cubicBezTo>
                <a:cubicBezTo>
                  <a:pt x="3985171" y="335831"/>
                  <a:pt x="3831168" y="258155"/>
                  <a:pt x="3670252" y="193798"/>
                </a:cubicBezTo>
                <a:close/>
                <a:moveTo>
                  <a:pt x="9334796" y="27584"/>
                </a:moveTo>
                <a:cubicBezTo>
                  <a:pt x="9406875" y="179228"/>
                  <a:pt x="9503788" y="329542"/>
                  <a:pt x="9651570" y="397505"/>
                </a:cubicBezTo>
                <a:cubicBezTo>
                  <a:pt x="9559808" y="257686"/>
                  <a:pt x="9456900" y="135734"/>
                  <a:pt x="9334796" y="27584"/>
                </a:cubicBezTo>
                <a:close/>
                <a:moveTo>
                  <a:pt x="4440129" y="19571"/>
                </a:moveTo>
                <a:cubicBezTo>
                  <a:pt x="4500684" y="171308"/>
                  <a:pt x="4765312" y="394987"/>
                  <a:pt x="4856525" y="486351"/>
                </a:cubicBezTo>
                <a:cubicBezTo>
                  <a:pt x="4921046" y="550838"/>
                  <a:pt x="4987678" y="618617"/>
                  <a:pt x="5059055" y="679918"/>
                </a:cubicBezTo>
                <a:cubicBezTo>
                  <a:pt x="5130436" y="741218"/>
                  <a:pt x="5206561" y="796043"/>
                  <a:pt x="5290070" y="834619"/>
                </a:cubicBezTo>
                <a:cubicBezTo>
                  <a:pt x="5126032" y="703785"/>
                  <a:pt x="4978794" y="550858"/>
                  <a:pt x="4834991" y="401985"/>
                </a:cubicBezTo>
                <a:cubicBezTo>
                  <a:pt x="4709629" y="271933"/>
                  <a:pt x="4579958" y="138796"/>
                  <a:pt x="4440129" y="19571"/>
                </a:cubicBezTo>
                <a:close/>
                <a:moveTo>
                  <a:pt x="8613009" y="0"/>
                </a:moveTo>
                <a:lnTo>
                  <a:pt x="8720364" y="0"/>
                </a:lnTo>
                <a:lnTo>
                  <a:pt x="8781165" y="82863"/>
                </a:lnTo>
                <a:cubicBezTo>
                  <a:pt x="8835159" y="149786"/>
                  <a:pt x="8896472" y="209441"/>
                  <a:pt x="8971448" y="246946"/>
                </a:cubicBezTo>
                <a:cubicBezTo>
                  <a:pt x="8910775" y="192244"/>
                  <a:pt x="8864937" y="124231"/>
                  <a:pt x="8820691" y="57482"/>
                </a:cubicBezTo>
                <a:lnTo>
                  <a:pt x="8807612" y="38256"/>
                </a:lnTo>
                <a:lnTo>
                  <a:pt x="8780258" y="0"/>
                </a:lnTo>
                <a:lnTo>
                  <a:pt x="8818949" y="0"/>
                </a:lnTo>
                <a:lnTo>
                  <a:pt x="8833783" y="20753"/>
                </a:lnTo>
                <a:lnTo>
                  <a:pt x="8846863" y="39981"/>
                </a:lnTo>
                <a:cubicBezTo>
                  <a:pt x="8881714" y="92040"/>
                  <a:pt x="8917610" y="145725"/>
                  <a:pt x="8960046" y="191389"/>
                </a:cubicBezTo>
                <a:lnTo>
                  <a:pt x="8876789" y="0"/>
                </a:lnTo>
                <a:lnTo>
                  <a:pt x="8980100" y="0"/>
                </a:lnTo>
                <a:lnTo>
                  <a:pt x="9090618" y="287225"/>
                </a:lnTo>
                <a:cubicBezTo>
                  <a:pt x="9321070" y="406548"/>
                  <a:pt x="9546131" y="530850"/>
                  <a:pt x="9762441" y="664587"/>
                </a:cubicBezTo>
                <a:cubicBezTo>
                  <a:pt x="9739891" y="606197"/>
                  <a:pt x="9720655" y="545696"/>
                  <a:pt x="9717826" y="487719"/>
                </a:cubicBezTo>
                <a:cubicBezTo>
                  <a:pt x="9716379" y="487883"/>
                  <a:pt x="9714371" y="488401"/>
                  <a:pt x="9713123" y="487663"/>
                </a:cubicBezTo>
                <a:cubicBezTo>
                  <a:pt x="9492837" y="457254"/>
                  <a:pt x="9357418" y="278154"/>
                  <a:pt x="9260878" y="87448"/>
                </a:cubicBezTo>
                <a:lnTo>
                  <a:pt x="9221522" y="0"/>
                </a:lnTo>
                <a:lnTo>
                  <a:pt x="9425221" y="0"/>
                </a:lnTo>
                <a:lnTo>
                  <a:pt x="9453548" y="23392"/>
                </a:lnTo>
                <a:cubicBezTo>
                  <a:pt x="9515298" y="81904"/>
                  <a:pt x="9572467" y="144207"/>
                  <a:pt x="9625671" y="210960"/>
                </a:cubicBezTo>
                <a:cubicBezTo>
                  <a:pt x="9624081" y="161011"/>
                  <a:pt x="9627113" y="110980"/>
                  <a:pt x="9632927" y="60128"/>
                </a:cubicBezTo>
                <a:lnTo>
                  <a:pt x="9642174" y="0"/>
                </a:lnTo>
                <a:lnTo>
                  <a:pt x="9731615" y="0"/>
                </a:lnTo>
                <a:lnTo>
                  <a:pt x="9721255" y="74242"/>
                </a:lnTo>
                <a:cubicBezTo>
                  <a:pt x="9713264" y="158966"/>
                  <a:pt x="9714814" y="243239"/>
                  <a:pt x="9736458" y="329413"/>
                </a:cubicBezTo>
                <a:cubicBezTo>
                  <a:pt x="9741385" y="251922"/>
                  <a:pt x="9752472" y="174320"/>
                  <a:pt x="9763499" y="99057"/>
                </a:cubicBezTo>
                <a:lnTo>
                  <a:pt x="9777267" y="0"/>
                </a:lnTo>
                <a:lnTo>
                  <a:pt x="9808036" y="0"/>
                </a:lnTo>
                <a:lnTo>
                  <a:pt x="9793821" y="102652"/>
                </a:lnTo>
                <a:cubicBezTo>
                  <a:pt x="9783066" y="174683"/>
                  <a:pt x="9772446" y="248150"/>
                  <a:pt x="9767436" y="321864"/>
                </a:cubicBezTo>
                <a:cubicBezTo>
                  <a:pt x="9782786" y="295954"/>
                  <a:pt x="9799440" y="268443"/>
                  <a:pt x="9814477" y="233531"/>
                </a:cubicBezTo>
                <a:cubicBezTo>
                  <a:pt x="9842546" y="169402"/>
                  <a:pt x="9861429" y="104298"/>
                  <a:pt x="9873012" y="38619"/>
                </a:cubicBezTo>
                <a:lnTo>
                  <a:pt x="9875879" y="0"/>
                </a:lnTo>
                <a:lnTo>
                  <a:pt x="9965253" y="0"/>
                </a:lnTo>
                <a:lnTo>
                  <a:pt x="9930901" y="135026"/>
                </a:lnTo>
                <a:cubicBezTo>
                  <a:pt x="9915560" y="179805"/>
                  <a:pt x="9897837" y="223903"/>
                  <a:pt x="9880832" y="271562"/>
                </a:cubicBezTo>
                <a:cubicBezTo>
                  <a:pt x="9817639" y="451472"/>
                  <a:pt x="9825316" y="573022"/>
                  <a:pt x="9896024" y="749295"/>
                </a:cubicBezTo>
                <a:cubicBezTo>
                  <a:pt x="10068034" y="860020"/>
                  <a:pt x="10235704" y="977341"/>
                  <a:pt x="10395379" y="1102843"/>
                </a:cubicBezTo>
                <a:cubicBezTo>
                  <a:pt x="10227815" y="794610"/>
                  <a:pt x="10104867" y="497696"/>
                  <a:pt x="10225980" y="132061"/>
                </a:cubicBezTo>
                <a:cubicBezTo>
                  <a:pt x="10233239" y="110559"/>
                  <a:pt x="10303382" y="80255"/>
                  <a:pt x="10314210" y="109353"/>
                </a:cubicBezTo>
                <a:cubicBezTo>
                  <a:pt x="10408734" y="350872"/>
                  <a:pt x="10497596" y="594472"/>
                  <a:pt x="10573663" y="842430"/>
                </a:cubicBezTo>
                <a:cubicBezTo>
                  <a:pt x="10618238" y="986363"/>
                  <a:pt x="10653304" y="1120296"/>
                  <a:pt x="10583736" y="1259819"/>
                </a:cubicBezTo>
                <a:cubicBezTo>
                  <a:pt x="10685909" y="1347757"/>
                  <a:pt x="10784700" y="1440157"/>
                  <a:pt x="10880472" y="1537558"/>
                </a:cubicBezTo>
                <a:cubicBezTo>
                  <a:pt x="10849056" y="1070967"/>
                  <a:pt x="11034230" y="637538"/>
                  <a:pt x="11231212" y="216474"/>
                </a:cubicBezTo>
                <a:cubicBezTo>
                  <a:pt x="11242138" y="193394"/>
                  <a:pt x="11319709" y="169841"/>
                  <a:pt x="11317765" y="209405"/>
                </a:cubicBezTo>
                <a:cubicBezTo>
                  <a:pt x="11295958" y="696233"/>
                  <a:pt x="11372236" y="1247562"/>
                  <a:pt x="10982911" y="1622260"/>
                </a:cubicBezTo>
                <a:cubicBezTo>
                  <a:pt x="10979389" y="1625277"/>
                  <a:pt x="10974419" y="1628456"/>
                  <a:pt x="10968747" y="1630552"/>
                </a:cubicBezTo>
                <a:cubicBezTo>
                  <a:pt x="11069120" y="1738803"/>
                  <a:pt x="11166116" y="1851511"/>
                  <a:pt x="11258020" y="1972078"/>
                </a:cubicBezTo>
                <a:cubicBezTo>
                  <a:pt x="11414501" y="2177795"/>
                  <a:pt x="11558425" y="2393089"/>
                  <a:pt x="11688741" y="2616312"/>
                </a:cubicBezTo>
                <a:cubicBezTo>
                  <a:pt x="11728326" y="2494422"/>
                  <a:pt x="11744133" y="2360920"/>
                  <a:pt x="11794425" y="2252109"/>
                </a:cubicBezTo>
                <a:cubicBezTo>
                  <a:pt x="11793785" y="2248682"/>
                  <a:pt x="11793359" y="2244360"/>
                  <a:pt x="11792727" y="2240934"/>
                </a:cubicBezTo>
                <a:cubicBezTo>
                  <a:pt x="11786706" y="2242483"/>
                  <a:pt x="11780344" y="2243486"/>
                  <a:pt x="11776744" y="2242723"/>
                </a:cubicBezTo>
                <a:cubicBezTo>
                  <a:pt x="11442886" y="2179574"/>
                  <a:pt x="11457436" y="1554823"/>
                  <a:pt x="11442546" y="1307592"/>
                </a:cubicBezTo>
                <a:cubicBezTo>
                  <a:pt x="11441155" y="1284728"/>
                  <a:pt x="11514076" y="1258776"/>
                  <a:pt x="11527771" y="1275317"/>
                </a:cubicBezTo>
                <a:cubicBezTo>
                  <a:pt x="11715804" y="1499943"/>
                  <a:pt x="11799388" y="1758422"/>
                  <a:pt x="11851542" y="2034703"/>
                </a:cubicBezTo>
                <a:cubicBezTo>
                  <a:pt x="11913004" y="1924500"/>
                  <a:pt x="12015977" y="1821086"/>
                  <a:pt x="12122505" y="1727948"/>
                </a:cubicBezTo>
                <a:lnTo>
                  <a:pt x="12192000" y="1669975"/>
                </a:lnTo>
                <a:lnTo>
                  <a:pt x="12192000" y="1731063"/>
                </a:lnTo>
                <a:lnTo>
                  <a:pt x="12155105" y="1762181"/>
                </a:lnTo>
                <a:cubicBezTo>
                  <a:pt x="12056052" y="1853318"/>
                  <a:pt x="11965498" y="1956071"/>
                  <a:pt x="11918903" y="2062132"/>
                </a:cubicBezTo>
                <a:cubicBezTo>
                  <a:pt x="11960691" y="1997848"/>
                  <a:pt x="12011970" y="1941101"/>
                  <a:pt x="12067554" y="1888498"/>
                </a:cubicBezTo>
                <a:lnTo>
                  <a:pt x="12192000" y="1782392"/>
                </a:lnTo>
                <a:lnTo>
                  <a:pt x="12192000" y="1822559"/>
                </a:lnTo>
                <a:lnTo>
                  <a:pt x="12087498" y="1911764"/>
                </a:lnTo>
                <a:cubicBezTo>
                  <a:pt x="12032329" y="1964102"/>
                  <a:pt x="11981742" y="2020408"/>
                  <a:pt x="11941335" y="2083809"/>
                </a:cubicBezTo>
                <a:cubicBezTo>
                  <a:pt x="11925082" y="2109523"/>
                  <a:pt x="11910985" y="2136169"/>
                  <a:pt x="11898139" y="2163553"/>
                </a:cubicBezTo>
                <a:cubicBezTo>
                  <a:pt x="11945914" y="2129922"/>
                  <a:pt x="11992854" y="2093778"/>
                  <a:pt x="12037359" y="2053816"/>
                </a:cubicBezTo>
                <a:lnTo>
                  <a:pt x="12192000" y="1901891"/>
                </a:lnTo>
                <a:lnTo>
                  <a:pt x="12192000" y="1973912"/>
                </a:lnTo>
                <a:lnTo>
                  <a:pt x="12054488" y="2104939"/>
                </a:lnTo>
                <a:cubicBezTo>
                  <a:pt x="12007570" y="2147210"/>
                  <a:pt x="11919625" y="2193495"/>
                  <a:pt x="11880977" y="2245040"/>
                </a:cubicBezTo>
                <a:cubicBezTo>
                  <a:pt x="11880428" y="2245391"/>
                  <a:pt x="11880223" y="2246288"/>
                  <a:pt x="11879666" y="2246644"/>
                </a:cubicBezTo>
                <a:cubicBezTo>
                  <a:pt x="11877599" y="2249494"/>
                  <a:pt x="11875186" y="2251803"/>
                  <a:pt x="11873674" y="2254306"/>
                </a:cubicBezTo>
                <a:cubicBezTo>
                  <a:pt x="11806563" y="2362374"/>
                  <a:pt x="11801847" y="2563131"/>
                  <a:pt x="11738608" y="2689417"/>
                </a:cubicBezTo>
                <a:cubicBezTo>
                  <a:pt x="11737642" y="2691562"/>
                  <a:pt x="11735234" y="2693876"/>
                  <a:pt x="11732820" y="2696184"/>
                </a:cubicBezTo>
                <a:cubicBezTo>
                  <a:pt x="11856220" y="2915593"/>
                  <a:pt x="11965159" y="3142523"/>
                  <a:pt x="12058063" y="3376045"/>
                </a:cubicBezTo>
                <a:lnTo>
                  <a:pt x="12077722" y="3428999"/>
                </a:lnTo>
                <a:lnTo>
                  <a:pt x="11980831" y="3428999"/>
                </a:lnTo>
                <a:lnTo>
                  <a:pt x="11842370" y="3103596"/>
                </a:lnTo>
                <a:lnTo>
                  <a:pt x="11807118" y="3032642"/>
                </a:lnTo>
                <a:cubicBezTo>
                  <a:pt x="11675874" y="2761726"/>
                  <a:pt x="11523363" y="2501353"/>
                  <a:pt x="11352410" y="2253534"/>
                </a:cubicBezTo>
                <a:cubicBezTo>
                  <a:pt x="11349154" y="2253314"/>
                  <a:pt x="11346248" y="2253642"/>
                  <a:pt x="11344098" y="2252717"/>
                </a:cubicBezTo>
                <a:cubicBezTo>
                  <a:pt x="11146884" y="2178050"/>
                  <a:pt x="10940954" y="2145737"/>
                  <a:pt x="10730809" y="2156749"/>
                </a:cubicBezTo>
                <a:cubicBezTo>
                  <a:pt x="10726045" y="2159034"/>
                  <a:pt x="10720166" y="2162021"/>
                  <a:pt x="10713050" y="2164271"/>
                </a:cubicBezTo>
                <a:cubicBezTo>
                  <a:pt x="10300570" y="2303161"/>
                  <a:pt x="9845774" y="2211588"/>
                  <a:pt x="9420192" y="2263050"/>
                </a:cubicBezTo>
                <a:cubicBezTo>
                  <a:pt x="9405112" y="2265029"/>
                  <a:pt x="9380308" y="2257903"/>
                  <a:pt x="9404066" y="2242708"/>
                </a:cubicBezTo>
                <a:cubicBezTo>
                  <a:pt x="9811305" y="1986077"/>
                  <a:pt x="10269729" y="1904413"/>
                  <a:pt x="10712309" y="2109562"/>
                </a:cubicBezTo>
                <a:cubicBezTo>
                  <a:pt x="10909559" y="2093006"/>
                  <a:pt x="11103888" y="2112041"/>
                  <a:pt x="11291486" y="2166804"/>
                </a:cubicBezTo>
                <a:cubicBezTo>
                  <a:pt x="11253937" y="2114176"/>
                  <a:pt x="11215832" y="2061905"/>
                  <a:pt x="11176624" y="2010340"/>
                </a:cubicBezTo>
                <a:cubicBezTo>
                  <a:pt x="11019444" y="1803532"/>
                  <a:pt x="10848144" y="1617247"/>
                  <a:pt x="10665962" y="1445588"/>
                </a:cubicBezTo>
                <a:cubicBezTo>
                  <a:pt x="10659400" y="1447493"/>
                  <a:pt x="10653378" y="1449043"/>
                  <a:pt x="10647017" y="1450047"/>
                </a:cubicBezTo>
                <a:cubicBezTo>
                  <a:pt x="10469841" y="1508947"/>
                  <a:pt x="10294852" y="1560315"/>
                  <a:pt x="10107096" y="1560072"/>
                </a:cubicBezTo>
                <a:cubicBezTo>
                  <a:pt x="9884392" y="1559955"/>
                  <a:pt x="9658777" y="1518776"/>
                  <a:pt x="9439953" y="1480921"/>
                </a:cubicBezTo>
                <a:cubicBezTo>
                  <a:pt x="9408584" y="1475693"/>
                  <a:pt x="9464056" y="1445580"/>
                  <a:pt x="9470279" y="1443131"/>
                </a:cubicBezTo>
                <a:cubicBezTo>
                  <a:pt x="9777078" y="1343480"/>
                  <a:pt x="10227985" y="1251296"/>
                  <a:pt x="10565024" y="1352269"/>
                </a:cubicBezTo>
                <a:cubicBezTo>
                  <a:pt x="10362949" y="1172638"/>
                  <a:pt x="10148128" y="1009593"/>
                  <a:pt x="9922490" y="858833"/>
                </a:cubicBezTo>
                <a:cubicBezTo>
                  <a:pt x="9921938" y="859186"/>
                  <a:pt x="9921032" y="858993"/>
                  <a:pt x="9920481" y="859346"/>
                </a:cubicBezTo>
                <a:cubicBezTo>
                  <a:pt x="9919033" y="859508"/>
                  <a:pt x="9917026" y="860026"/>
                  <a:pt x="9916127" y="859836"/>
                </a:cubicBezTo>
                <a:cubicBezTo>
                  <a:pt x="9902906" y="859860"/>
                  <a:pt x="9795895" y="935971"/>
                  <a:pt x="9791125" y="938248"/>
                </a:cubicBezTo>
                <a:cubicBezTo>
                  <a:pt x="9707175" y="977384"/>
                  <a:pt x="9617775" y="1003133"/>
                  <a:pt x="9528364" y="1022767"/>
                </a:cubicBezTo>
                <a:cubicBezTo>
                  <a:pt x="9228232" y="1089029"/>
                  <a:pt x="8927622" y="1097349"/>
                  <a:pt x="8629850" y="1184329"/>
                </a:cubicBezTo>
                <a:cubicBezTo>
                  <a:pt x="8609591" y="1190390"/>
                  <a:pt x="8554225" y="1189011"/>
                  <a:pt x="8600239" y="1167243"/>
                </a:cubicBezTo>
                <a:cubicBezTo>
                  <a:pt x="8928850" y="1009196"/>
                  <a:pt x="9367700" y="707057"/>
                  <a:pt x="9761570" y="753283"/>
                </a:cubicBezTo>
                <a:cubicBezTo>
                  <a:pt x="9633677" y="672602"/>
                  <a:pt x="9502269" y="594929"/>
                  <a:pt x="9368237" y="520470"/>
                </a:cubicBezTo>
                <a:cubicBezTo>
                  <a:pt x="9363677" y="521852"/>
                  <a:pt x="9358768" y="522697"/>
                  <a:pt x="9354614" y="522288"/>
                </a:cubicBezTo>
                <a:cubicBezTo>
                  <a:pt x="9045666" y="683095"/>
                  <a:pt x="8711508" y="755792"/>
                  <a:pt x="8364351" y="730267"/>
                </a:cubicBezTo>
                <a:cubicBezTo>
                  <a:pt x="8322605" y="727073"/>
                  <a:pt x="8373028" y="696362"/>
                  <a:pt x="8386567" y="690760"/>
                </a:cubicBezTo>
                <a:cubicBezTo>
                  <a:pt x="8661942" y="588222"/>
                  <a:pt x="8938634" y="428115"/>
                  <a:pt x="9231713" y="444539"/>
                </a:cubicBezTo>
                <a:lnTo>
                  <a:pt x="9023301" y="334109"/>
                </a:lnTo>
                <a:cubicBezTo>
                  <a:pt x="9018245" y="333512"/>
                  <a:pt x="9014299" y="332207"/>
                  <a:pt x="9010556" y="329998"/>
                </a:cubicBezTo>
                <a:cubicBezTo>
                  <a:pt x="8866159" y="300489"/>
                  <a:pt x="8772044" y="209935"/>
                  <a:pt x="8687367" y="101276"/>
                </a:cubicBezTo>
                <a:lnTo>
                  <a:pt x="8613009" y="0"/>
                </a:lnTo>
                <a:close/>
                <a:moveTo>
                  <a:pt x="4382818" y="0"/>
                </a:moveTo>
                <a:lnTo>
                  <a:pt x="4463614" y="0"/>
                </a:lnTo>
                <a:lnTo>
                  <a:pt x="4557150" y="81023"/>
                </a:lnTo>
                <a:cubicBezTo>
                  <a:pt x="4661606" y="177446"/>
                  <a:pt x="4760255" y="280152"/>
                  <a:pt x="4856936" y="380146"/>
                </a:cubicBezTo>
                <a:cubicBezTo>
                  <a:pt x="4939779" y="466025"/>
                  <a:pt x="5024071" y="553240"/>
                  <a:pt x="5111996" y="636759"/>
                </a:cubicBezTo>
                <a:cubicBezTo>
                  <a:pt x="5199925" y="720276"/>
                  <a:pt x="5291490" y="800096"/>
                  <a:pt x="5388878" y="871185"/>
                </a:cubicBezTo>
                <a:cubicBezTo>
                  <a:pt x="5401114" y="874421"/>
                  <a:pt x="5413353" y="877662"/>
                  <a:pt x="5425556" y="879967"/>
                </a:cubicBezTo>
                <a:cubicBezTo>
                  <a:pt x="5290970" y="693931"/>
                  <a:pt x="5119226" y="545244"/>
                  <a:pt x="4943646" y="393916"/>
                </a:cubicBezTo>
                <a:cubicBezTo>
                  <a:pt x="4828850" y="295110"/>
                  <a:pt x="4714058" y="196311"/>
                  <a:pt x="4594837" y="103274"/>
                </a:cubicBezTo>
                <a:cubicBezTo>
                  <a:pt x="4578644" y="90676"/>
                  <a:pt x="4548631" y="60178"/>
                  <a:pt x="4518536" y="31511"/>
                </a:cubicBezTo>
                <a:lnTo>
                  <a:pt x="4483543" y="0"/>
                </a:lnTo>
                <a:lnTo>
                  <a:pt x="4534233" y="0"/>
                </a:lnTo>
                <a:lnTo>
                  <a:pt x="4633631" y="74706"/>
                </a:lnTo>
                <a:cubicBezTo>
                  <a:pt x="4740433" y="159974"/>
                  <a:pt x="4845128" y="247888"/>
                  <a:pt x="4949299" y="337336"/>
                </a:cubicBezTo>
                <a:cubicBezTo>
                  <a:pt x="5065543" y="437477"/>
                  <a:pt x="5184542" y="536579"/>
                  <a:pt x="5291452" y="647801"/>
                </a:cubicBezTo>
                <a:cubicBezTo>
                  <a:pt x="5309900" y="666629"/>
                  <a:pt x="5393714" y="782504"/>
                  <a:pt x="5434998" y="825100"/>
                </a:cubicBezTo>
                <a:cubicBezTo>
                  <a:pt x="5369347" y="743892"/>
                  <a:pt x="5356822" y="407202"/>
                  <a:pt x="5351015" y="331989"/>
                </a:cubicBezTo>
                <a:cubicBezTo>
                  <a:pt x="5345883" y="264779"/>
                  <a:pt x="5343618" y="197920"/>
                  <a:pt x="5344012" y="131333"/>
                </a:cubicBezTo>
                <a:lnTo>
                  <a:pt x="5349920" y="0"/>
                </a:lnTo>
                <a:lnTo>
                  <a:pt x="5401317" y="0"/>
                </a:lnTo>
                <a:cubicBezTo>
                  <a:pt x="5401164" y="27934"/>
                  <a:pt x="5401012" y="55867"/>
                  <a:pt x="5400859" y="83801"/>
                </a:cubicBezTo>
                <a:cubicBezTo>
                  <a:pt x="5401142" y="121653"/>
                  <a:pt x="5401664" y="157291"/>
                  <a:pt x="5401644" y="188847"/>
                </a:cubicBezTo>
                <a:cubicBezTo>
                  <a:pt x="5401790" y="378859"/>
                  <a:pt x="5425483" y="563734"/>
                  <a:pt x="5467256" y="746494"/>
                </a:cubicBezTo>
                <a:cubicBezTo>
                  <a:pt x="5469824" y="542868"/>
                  <a:pt x="5459296" y="337904"/>
                  <a:pt x="5448069" y="138554"/>
                </a:cubicBezTo>
                <a:lnTo>
                  <a:pt x="5440458" y="0"/>
                </a:lnTo>
                <a:lnTo>
                  <a:pt x="5472521" y="0"/>
                </a:lnTo>
                <a:lnTo>
                  <a:pt x="5480135" y="136802"/>
                </a:lnTo>
                <a:cubicBezTo>
                  <a:pt x="5490809" y="333845"/>
                  <a:pt x="5501220" y="536024"/>
                  <a:pt x="5499023" y="737310"/>
                </a:cubicBezTo>
                <a:cubicBezTo>
                  <a:pt x="5546233" y="555186"/>
                  <a:pt x="5562118" y="370116"/>
                  <a:pt x="5547022" y="178838"/>
                </a:cubicBezTo>
                <a:lnTo>
                  <a:pt x="5522799" y="0"/>
                </a:lnTo>
                <a:lnTo>
                  <a:pt x="5573386" y="0"/>
                </a:lnTo>
                <a:lnTo>
                  <a:pt x="5587618" y="82353"/>
                </a:lnTo>
                <a:cubicBezTo>
                  <a:pt x="5626891" y="364989"/>
                  <a:pt x="5616244" y="649256"/>
                  <a:pt x="5519779" y="930223"/>
                </a:cubicBezTo>
                <a:cubicBezTo>
                  <a:pt x="5520262" y="930669"/>
                  <a:pt x="5520293" y="931602"/>
                  <a:pt x="5520293" y="931602"/>
                </a:cubicBezTo>
                <a:cubicBezTo>
                  <a:pt x="5627244" y="1008825"/>
                  <a:pt x="5699666" y="1119575"/>
                  <a:pt x="5767221" y="1236564"/>
                </a:cubicBezTo>
                <a:cubicBezTo>
                  <a:pt x="6275281" y="1270277"/>
                  <a:pt x="6739386" y="1349523"/>
                  <a:pt x="6937169" y="1386941"/>
                </a:cubicBezTo>
                <a:cubicBezTo>
                  <a:pt x="7134952" y="1424359"/>
                  <a:pt x="7020263" y="1474218"/>
                  <a:pt x="6953922" y="1461068"/>
                </a:cubicBezTo>
                <a:cubicBezTo>
                  <a:pt x="6799988" y="1430556"/>
                  <a:pt x="6485790" y="1386676"/>
                  <a:pt x="6071359" y="1341770"/>
                </a:cubicBezTo>
                <a:lnTo>
                  <a:pt x="6038839" y="1335474"/>
                </a:lnTo>
                <a:cubicBezTo>
                  <a:pt x="6038795" y="1335265"/>
                  <a:pt x="6038750" y="1335056"/>
                  <a:pt x="6038706" y="1334847"/>
                </a:cubicBezTo>
                <a:lnTo>
                  <a:pt x="6037784" y="1335270"/>
                </a:lnTo>
                <a:lnTo>
                  <a:pt x="6038839" y="1335474"/>
                </a:lnTo>
                <a:lnTo>
                  <a:pt x="6040338" y="1342418"/>
                </a:lnTo>
                <a:cubicBezTo>
                  <a:pt x="6039088" y="1352803"/>
                  <a:pt x="6034314" y="1365510"/>
                  <a:pt x="6024488" y="1380903"/>
                </a:cubicBezTo>
                <a:cubicBezTo>
                  <a:pt x="5910095" y="1629984"/>
                  <a:pt x="5773348" y="1867385"/>
                  <a:pt x="5599771" y="2080652"/>
                </a:cubicBezTo>
                <a:cubicBezTo>
                  <a:pt x="5583815" y="2100842"/>
                  <a:pt x="5566811" y="2118293"/>
                  <a:pt x="5548843" y="2134845"/>
                </a:cubicBezTo>
                <a:cubicBezTo>
                  <a:pt x="5773782" y="2216205"/>
                  <a:pt x="5890323" y="2638151"/>
                  <a:pt x="5940952" y="2821028"/>
                </a:cubicBezTo>
                <a:cubicBezTo>
                  <a:pt x="5979301" y="2958982"/>
                  <a:pt x="6009900" y="3098294"/>
                  <a:pt x="6043441" y="3236847"/>
                </a:cubicBezTo>
                <a:lnTo>
                  <a:pt x="6093432" y="3429000"/>
                </a:lnTo>
                <a:lnTo>
                  <a:pt x="6034344" y="3429000"/>
                </a:lnTo>
                <a:lnTo>
                  <a:pt x="6026679" y="3407959"/>
                </a:lnTo>
                <a:cubicBezTo>
                  <a:pt x="5958957" y="3236497"/>
                  <a:pt x="5878558" y="3069078"/>
                  <a:pt x="5800441" y="2906286"/>
                </a:cubicBezTo>
                <a:cubicBezTo>
                  <a:pt x="5703359" y="2702918"/>
                  <a:pt x="5602295" y="2493187"/>
                  <a:pt x="5526562" y="2276388"/>
                </a:cubicBezTo>
                <a:cubicBezTo>
                  <a:pt x="5523956" y="2269505"/>
                  <a:pt x="5521803" y="2262139"/>
                  <a:pt x="5519640" y="2254774"/>
                </a:cubicBezTo>
                <a:cubicBezTo>
                  <a:pt x="5523207" y="2541988"/>
                  <a:pt x="5738292" y="2877566"/>
                  <a:pt x="5844559" y="3124349"/>
                </a:cubicBezTo>
                <a:lnTo>
                  <a:pt x="5975994" y="3429000"/>
                </a:lnTo>
                <a:lnTo>
                  <a:pt x="5898547" y="3429000"/>
                </a:lnTo>
                <a:lnTo>
                  <a:pt x="5682041" y="2926860"/>
                </a:lnTo>
                <a:cubicBezTo>
                  <a:pt x="5609136" y="2757449"/>
                  <a:pt x="5505535" y="2577625"/>
                  <a:pt x="5461758" y="2391220"/>
                </a:cubicBezTo>
                <a:cubicBezTo>
                  <a:pt x="5415457" y="2654349"/>
                  <a:pt x="5335494" y="2905433"/>
                  <a:pt x="5237282" y="3150086"/>
                </a:cubicBezTo>
                <a:lnTo>
                  <a:pt x="5115009" y="3429000"/>
                </a:lnTo>
                <a:lnTo>
                  <a:pt x="5028074" y="3429000"/>
                </a:lnTo>
                <a:lnTo>
                  <a:pt x="5079508" y="3320074"/>
                </a:lnTo>
                <a:cubicBezTo>
                  <a:pt x="5200211" y="3053556"/>
                  <a:pt x="5305048" y="2781716"/>
                  <a:pt x="5371846" y="2495413"/>
                </a:cubicBezTo>
                <a:lnTo>
                  <a:pt x="5270512" y="2709975"/>
                </a:lnTo>
                <a:cubicBezTo>
                  <a:pt x="5192357" y="2875175"/>
                  <a:pt x="5112108" y="3046512"/>
                  <a:pt x="5062409" y="3224544"/>
                </a:cubicBezTo>
                <a:cubicBezTo>
                  <a:pt x="5053035" y="3257987"/>
                  <a:pt x="5045072" y="3291843"/>
                  <a:pt x="5036628" y="3325247"/>
                </a:cubicBezTo>
                <a:lnTo>
                  <a:pt x="5009112" y="3429000"/>
                </a:lnTo>
                <a:lnTo>
                  <a:pt x="4976679" y="3429000"/>
                </a:lnTo>
                <a:lnTo>
                  <a:pt x="5006537" y="3318068"/>
                </a:lnTo>
                <a:cubicBezTo>
                  <a:pt x="5014940" y="3283729"/>
                  <a:pt x="5022903" y="3249883"/>
                  <a:pt x="5032723" y="3215957"/>
                </a:cubicBezTo>
                <a:cubicBezTo>
                  <a:pt x="5083245" y="3035091"/>
                  <a:pt x="5164383" y="2862790"/>
                  <a:pt x="5242949" y="2696175"/>
                </a:cubicBezTo>
                <a:lnTo>
                  <a:pt x="5286321" y="2604555"/>
                </a:lnTo>
                <a:cubicBezTo>
                  <a:pt x="5153522" y="2789172"/>
                  <a:pt x="5058694" y="2991826"/>
                  <a:pt x="5008210" y="3220194"/>
                </a:cubicBezTo>
                <a:cubicBezTo>
                  <a:pt x="4999505" y="3258732"/>
                  <a:pt x="4992445" y="3297670"/>
                  <a:pt x="4986321" y="3336687"/>
                </a:cubicBezTo>
                <a:lnTo>
                  <a:pt x="4973474" y="3429000"/>
                </a:lnTo>
                <a:lnTo>
                  <a:pt x="4907178" y="3429000"/>
                </a:lnTo>
                <a:lnTo>
                  <a:pt x="4910810" y="3400660"/>
                </a:lnTo>
                <a:cubicBezTo>
                  <a:pt x="4927183" y="3266980"/>
                  <a:pt x="4945608" y="3133743"/>
                  <a:pt x="4987461" y="3003994"/>
                </a:cubicBezTo>
                <a:cubicBezTo>
                  <a:pt x="5033887" y="2860556"/>
                  <a:pt x="5098947" y="2728948"/>
                  <a:pt x="5179262" y="2606044"/>
                </a:cubicBezTo>
                <a:cubicBezTo>
                  <a:pt x="5016033" y="2740178"/>
                  <a:pt x="4838252" y="2859995"/>
                  <a:pt x="4689678" y="3011241"/>
                </a:cubicBezTo>
                <a:cubicBezTo>
                  <a:pt x="4615724" y="3086503"/>
                  <a:pt x="4545518" y="3165166"/>
                  <a:pt x="4477543" y="3245836"/>
                </a:cubicBezTo>
                <a:lnTo>
                  <a:pt x="4329957" y="3429000"/>
                </a:lnTo>
                <a:lnTo>
                  <a:pt x="4218595" y="3429000"/>
                </a:lnTo>
                <a:lnTo>
                  <a:pt x="4368888" y="3239412"/>
                </a:lnTo>
                <a:cubicBezTo>
                  <a:pt x="4431654" y="3162444"/>
                  <a:pt x="4495926" y="3086754"/>
                  <a:pt x="4563091" y="3013508"/>
                </a:cubicBezTo>
                <a:cubicBezTo>
                  <a:pt x="4810353" y="2744676"/>
                  <a:pt x="5160740" y="2562069"/>
                  <a:pt x="5387324" y="2276830"/>
                </a:cubicBezTo>
                <a:cubicBezTo>
                  <a:pt x="5286064" y="2365177"/>
                  <a:pt x="5178968" y="2447241"/>
                  <a:pt x="5073620" y="2526437"/>
                </a:cubicBezTo>
                <a:cubicBezTo>
                  <a:pt x="4943865" y="2624305"/>
                  <a:pt x="4809130" y="2725627"/>
                  <a:pt x="4689789" y="2839382"/>
                </a:cubicBezTo>
                <a:cubicBezTo>
                  <a:pt x="4591303" y="2932972"/>
                  <a:pt x="4502007" y="3035046"/>
                  <a:pt x="4418722" y="3141886"/>
                </a:cubicBezTo>
                <a:lnTo>
                  <a:pt x="4214944" y="3429000"/>
                </a:lnTo>
                <a:lnTo>
                  <a:pt x="4177898" y="3429000"/>
                </a:lnTo>
                <a:lnTo>
                  <a:pt x="4391597" y="3127370"/>
                </a:lnTo>
                <a:cubicBezTo>
                  <a:pt x="4476641" y="3017900"/>
                  <a:pt x="4567929" y="2913186"/>
                  <a:pt x="4668889" y="2817399"/>
                </a:cubicBezTo>
                <a:cubicBezTo>
                  <a:pt x="4789603" y="2703122"/>
                  <a:pt x="4925227" y="2600827"/>
                  <a:pt x="5055427" y="2502476"/>
                </a:cubicBezTo>
                <a:cubicBezTo>
                  <a:pt x="5161670" y="2422314"/>
                  <a:pt x="5270142" y="2339732"/>
                  <a:pt x="5371814" y="2249975"/>
                </a:cubicBezTo>
                <a:cubicBezTo>
                  <a:pt x="5250056" y="2303278"/>
                  <a:pt x="5117554" y="2332328"/>
                  <a:pt x="4987918" y="2409701"/>
                </a:cubicBezTo>
                <a:cubicBezTo>
                  <a:pt x="4699961" y="2581191"/>
                  <a:pt x="4491898" y="2857162"/>
                  <a:pt x="4317146" y="3158716"/>
                </a:cubicBezTo>
                <a:lnTo>
                  <a:pt x="4171627" y="3429000"/>
                </a:lnTo>
                <a:lnTo>
                  <a:pt x="4081585" y="3429000"/>
                </a:lnTo>
                <a:lnTo>
                  <a:pt x="4238603" y="3130341"/>
                </a:lnTo>
                <a:cubicBezTo>
                  <a:pt x="4385995" y="2870856"/>
                  <a:pt x="4555804" y="2627475"/>
                  <a:pt x="4778333" y="2444626"/>
                </a:cubicBezTo>
                <a:cubicBezTo>
                  <a:pt x="4974935" y="2283072"/>
                  <a:pt x="5214460" y="2274893"/>
                  <a:pt x="5414185" y="2144882"/>
                </a:cubicBezTo>
                <a:cubicBezTo>
                  <a:pt x="5665168" y="1980695"/>
                  <a:pt x="5834734" y="1608780"/>
                  <a:pt x="5959648" y="1331797"/>
                </a:cubicBezTo>
                <a:cubicBezTo>
                  <a:pt x="5758178" y="1313307"/>
                  <a:pt x="5556149" y="1304150"/>
                  <a:pt x="5355019" y="1305672"/>
                </a:cubicBezTo>
                <a:cubicBezTo>
                  <a:pt x="5292258" y="1471655"/>
                  <a:pt x="5203125" y="1618664"/>
                  <a:pt x="5083565" y="1750121"/>
                </a:cubicBezTo>
                <a:cubicBezTo>
                  <a:pt x="5049677" y="1950813"/>
                  <a:pt x="4862890" y="2066797"/>
                  <a:pt x="4713577" y="2187803"/>
                </a:cubicBezTo>
                <a:cubicBezTo>
                  <a:pt x="4481263" y="2376403"/>
                  <a:pt x="4239092" y="2551417"/>
                  <a:pt x="3989559" y="2716945"/>
                </a:cubicBezTo>
                <a:cubicBezTo>
                  <a:pt x="3958721" y="2737743"/>
                  <a:pt x="3915645" y="2662150"/>
                  <a:pt x="3939824" y="2637900"/>
                </a:cubicBezTo>
                <a:cubicBezTo>
                  <a:pt x="4170724" y="2402323"/>
                  <a:pt x="4361787" y="2137131"/>
                  <a:pt x="4584537" y="1895826"/>
                </a:cubicBezTo>
                <a:cubicBezTo>
                  <a:pt x="4710868" y="1758971"/>
                  <a:pt x="4848359" y="1668244"/>
                  <a:pt x="5037105" y="1659765"/>
                </a:cubicBezTo>
                <a:cubicBezTo>
                  <a:pt x="5038033" y="1659728"/>
                  <a:pt x="5039001" y="1660622"/>
                  <a:pt x="5039930" y="1660585"/>
                </a:cubicBezTo>
                <a:cubicBezTo>
                  <a:pt x="5133008" y="1553937"/>
                  <a:pt x="5207480" y="1436387"/>
                  <a:pt x="5263764" y="1306525"/>
                </a:cubicBezTo>
                <a:cubicBezTo>
                  <a:pt x="4867298" y="1314930"/>
                  <a:pt x="4472427" y="1363315"/>
                  <a:pt x="4086300" y="1455599"/>
                </a:cubicBezTo>
                <a:cubicBezTo>
                  <a:pt x="4087456" y="1461142"/>
                  <a:pt x="4087673" y="1466720"/>
                  <a:pt x="4085485" y="1470070"/>
                </a:cubicBezTo>
                <a:cubicBezTo>
                  <a:pt x="4003302" y="1581406"/>
                  <a:pt x="3928312" y="1697573"/>
                  <a:pt x="3871915" y="1824645"/>
                </a:cubicBezTo>
                <a:cubicBezTo>
                  <a:pt x="3845467" y="1885321"/>
                  <a:pt x="3832705" y="1973857"/>
                  <a:pt x="3799374" y="2037127"/>
                </a:cubicBezTo>
                <a:cubicBezTo>
                  <a:pt x="3785138" y="2416399"/>
                  <a:pt x="3675506" y="2848604"/>
                  <a:pt x="3498850" y="3232888"/>
                </a:cubicBezTo>
                <a:lnTo>
                  <a:pt x="3399216" y="3429000"/>
                </a:lnTo>
                <a:lnTo>
                  <a:pt x="3303688" y="3429000"/>
                </a:lnTo>
                <a:lnTo>
                  <a:pt x="3391774" y="3268181"/>
                </a:lnTo>
                <a:cubicBezTo>
                  <a:pt x="3573729" y="2908659"/>
                  <a:pt x="3697480" y="2493895"/>
                  <a:pt x="3735540" y="2117923"/>
                </a:cubicBezTo>
                <a:cubicBezTo>
                  <a:pt x="3733489" y="2124993"/>
                  <a:pt x="3731483" y="2132993"/>
                  <a:pt x="3729438" y="2140058"/>
                </a:cubicBezTo>
                <a:cubicBezTo>
                  <a:pt x="3722922" y="2163607"/>
                  <a:pt x="3715485" y="2187189"/>
                  <a:pt x="3707782" y="2215908"/>
                </a:cubicBezTo>
                <a:cubicBezTo>
                  <a:pt x="3671550" y="2346366"/>
                  <a:pt x="3633159" y="2481098"/>
                  <a:pt x="3583827" y="2610215"/>
                </a:cubicBezTo>
                <a:cubicBezTo>
                  <a:pt x="3571998" y="2640498"/>
                  <a:pt x="3559686" y="2670330"/>
                  <a:pt x="3547861" y="2700609"/>
                </a:cubicBezTo>
                <a:cubicBezTo>
                  <a:pt x="3528366" y="2748894"/>
                  <a:pt x="3507534" y="2798631"/>
                  <a:pt x="3490905" y="2848660"/>
                </a:cubicBezTo>
                <a:cubicBezTo>
                  <a:pt x="3477958" y="2885973"/>
                  <a:pt x="3466463" y="2924624"/>
                  <a:pt x="3455859" y="2962301"/>
                </a:cubicBezTo>
                <a:cubicBezTo>
                  <a:pt x="3447266" y="2991993"/>
                  <a:pt x="3438672" y="3021673"/>
                  <a:pt x="3429112" y="3050469"/>
                </a:cubicBezTo>
                <a:cubicBezTo>
                  <a:pt x="3394330" y="3158977"/>
                  <a:pt x="3348719" y="3264654"/>
                  <a:pt x="3304862" y="3367476"/>
                </a:cubicBezTo>
                <a:lnTo>
                  <a:pt x="3276071" y="3429000"/>
                </a:lnTo>
                <a:lnTo>
                  <a:pt x="3240805" y="3429000"/>
                </a:lnTo>
                <a:lnTo>
                  <a:pt x="3275917" y="3354192"/>
                </a:lnTo>
                <a:cubicBezTo>
                  <a:pt x="3319817" y="3252303"/>
                  <a:pt x="3364982" y="3147108"/>
                  <a:pt x="3399358" y="3040011"/>
                </a:cubicBezTo>
                <a:cubicBezTo>
                  <a:pt x="3408430" y="3010778"/>
                  <a:pt x="3417061" y="2982021"/>
                  <a:pt x="3425650" y="2952333"/>
                </a:cubicBezTo>
                <a:cubicBezTo>
                  <a:pt x="3436256" y="2914653"/>
                  <a:pt x="3448199" y="2875520"/>
                  <a:pt x="3460661" y="2837763"/>
                </a:cubicBezTo>
                <a:cubicBezTo>
                  <a:pt x="3477731" y="2787246"/>
                  <a:pt x="3498530" y="2736579"/>
                  <a:pt x="3518021" y="2688298"/>
                </a:cubicBezTo>
                <a:cubicBezTo>
                  <a:pt x="3530339" y="2658462"/>
                  <a:pt x="3542206" y="2629115"/>
                  <a:pt x="3554035" y="2598832"/>
                </a:cubicBezTo>
                <a:cubicBezTo>
                  <a:pt x="3602956" y="2471128"/>
                  <a:pt x="3640454" y="2337362"/>
                  <a:pt x="3677174" y="2207351"/>
                </a:cubicBezTo>
                <a:cubicBezTo>
                  <a:pt x="3685353" y="2179086"/>
                  <a:pt x="3692308" y="2155047"/>
                  <a:pt x="3698819" y="2131503"/>
                </a:cubicBezTo>
                <a:cubicBezTo>
                  <a:pt x="3699603" y="2127742"/>
                  <a:pt x="3701314" y="2123952"/>
                  <a:pt x="3702094" y="2120194"/>
                </a:cubicBezTo>
                <a:cubicBezTo>
                  <a:pt x="3586407" y="2255227"/>
                  <a:pt x="3491727" y="2426671"/>
                  <a:pt x="3398355" y="2665603"/>
                </a:cubicBezTo>
                <a:cubicBezTo>
                  <a:pt x="3309322" y="2893763"/>
                  <a:pt x="3241029" y="3129474"/>
                  <a:pt x="3193941" y="3369775"/>
                </a:cubicBezTo>
                <a:lnTo>
                  <a:pt x="3184140" y="3429000"/>
                </a:lnTo>
                <a:lnTo>
                  <a:pt x="3099978" y="3429000"/>
                </a:lnTo>
                <a:lnTo>
                  <a:pt x="3101556" y="3414337"/>
                </a:lnTo>
                <a:cubicBezTo>
                  <a:pt x="3144932" y="3050621"/>
                  <a:pt x="3209988" y="2683612"/>
                  <a:pt x="3370162" y="2356550"/>
                </a:cubicBezTo>
                <a:cubicBezTo>
                  <a:pt x="3467073" y="2159398"/>
                  <a:pt x="3627623" y="2109666"/>
                  <a:pt x="3746477" y="1948889"/>
                </a:cubicBezTo>
                <a:cubicBezTo>
                  <a:pt x="3800786" y="1874532"/>
                  <a:pt x="3818424" y="1744820"/>
                  <a:pt x="3863399" y="1658257"/>
                </a:cubicBezTo>
                <a:cubicBezTo>
                  <a:pt x="3894981" y="1597843"/>
                  <a:pt x="3930436" y="1541007"/>
                  <a:pt x="3968712" y="1484989"/>
                </a:cubicBezTo>
                <a:cubicBezTo>
                  <a:pt x="3564505" y="1591029"/>
                  <a:pt x="3170154" y="1745588"/>
                  <a:pt x="2792390" y="1953974"/>
                </a:cubicBezTo>
                <a:lnTo>
                  <a:pt x="2714982" y="1998051"/>
                </a:lnTo>
                <a:cubicBezTo>
                  <a:pt x="2773600" y="2194577"/>
                  <a:pt x="2823261" y="2388201"/>
                  <a:pt x="2813361" y="2594912"/>
                </a:cubicBezTo>
                <a:cubicBezTo>
                  <a:pt x="2800935" y="2854826"/>
                  <a:pt x="2738768" y="3117188"/>
                  <a:pt x="2688430" y="3372564"/>
                </a:cubicBezTo>
                <a:cubicBezTo>
                  <a:pt x="2680286" y="3413403"/>
                  <a:pt x="2633415" y="3347749"/>
                  <a:pt x="2629626" y="3334394"/>
                </a:cubicBezTo>
                <a:cubicBezTo>
                  <a:pt x="2507208" y="2928509"/>
                  <a:pt x="2389664" y="2481450"/>
                  <a:pt x="2565328" y="2087399"/>
                </a:cubicBezTo>
                <a:cubicBezTo>
                  <a:pt x="2340344" y="2226334"/>
                  <a:pt x="2126262" y="2381607"/>
                  <a:pt x="1922999" y="2551343"/>
                </a:cubicBezTo>
                <a:cubicBezTo>
                  <a:pt x="1913735" y="2692357"/>
                  <a:pt x="1951823" y="2841268"/>
                  <a:pt x="1950261" y="2976858"/>
                </a:cubicBezTo>
                <a:cubicBezTo>
                  <a:pt x="2095468" y="2974315"/>
                  <a:pt x="2243415" y="3139324"/>
                  <a:pt x="2365554" y="3330107"/>
                </a:cubicBezTo>
                <a:lnTo>
                  <a:pt x="2424142" y="3429000"/>
                </a:lnTo>
                <a:lnTo>
                  <a:pt x="2395994" y="3429000"/>
                </a:lnTo>
                <a:lnTo>
                  <a:pt x="2392863" y="3423964"/>
                </a:lnTo>
                <a:cubicBezTo>
                  <a:pt x="2286592" y="3268030"/>
                  <a:pt x="2128210" y="3101604"/>
                  <a:pt x="2017589" y="3064982"/>
                </a:cubicBezTo>
                <a:cubicBezTo>
                  <a:pt x="2065428" y="3096607"/>
                  <a:pt x="2108651" y="3129340"/>
                  <a:pt x="2147336" y="3165052"/>
                </a:cubicBezTo>
                <a:cubicBezTo>
                  <a:pt x="2168131" y="3184249"/>
                  <a:pt x="2188032" y="3204414"/>
                  <a:pt x="2207047" y="3225540"/>
                </a:cubicBezTo>
                <a:cubicBezTo>
                  <a:pt x="2240670" y="3262852"/>
                  <a:pt x="2268864" y="3304110"/>
                  <a:pt x="2299106" y="3349931"/>
                </a:cubicBezTo>
                <a:lnTo>
                  <a:pt x="2314430" y="3372144"/>
                </a:lnTo>
                <a:lnTo>
                  <a:pt x="2352406" y="3429000"/>
                </a:lnTo>
                <a:lnTo>
                  <a:pt x="2314492" y="3429000"/>
                </a:lnTo>
                <a:lnTo>
                  <a:pt x="2288095" y="3389030"/>
                </a:lnTo>
                <a:lnTo>
                  <a:pt x="2272768" y="3366822"/>
                </a:lnTo>
                <a:cubicBezTo>
                  <a:pt x="2242565" y="3321921"/>
                  <a:pt x="2214890" y="3282042"/>
                  <a:pt x="2182715" y="3246071"/>
                </a:cubicBezTo>
                <a:cubicBezTo>
                  <a:pt x="2139301" y="3197043"/>
                  <a:pt x="2090046" y="3153375"/>
                  <a:pt x="2032061" y="3112380"/>
                </a:cubicBezTo>
                <a:cubicBezTo>
                  <a:pt x="2113005" y="3203219"/>
                  <a:pt x="2185837" y="3300905"/>
                  <a:pt x="2257220" y="3397257"/>
                </a:cubicBezTo>
                <a:lnTo>
                  <a:pt x="2281324" y="3429000"/>
                </a:lnTo>
                <a:lnTo>
                  <a:pt x="2242860" y="3429000"/>
                </a:lnTo>
                <a:lnTo>
                  <a:pt x="2232818" y="3415926"/>
                </a:lnTo>
                <a:cubicBezTo>
                  <a:pt x="2156524" y="3313256"/>
                  <a:pt x="2077809" y="3208351"/>
                  <a:pt x="1990172" y="3113121"/>
                </a:cubicBezTo>
                <a:cubicBezTo>
                  <a:pt x="2025229" y="3186236"/>
                  <a:pt x="2072239" y="3261202"/>
                  <a:pt x="2124090" y="3332017"/>
                </a:cubicBezTo>
                <a:lnTo>
                  <a:pt x="2200380" y="3429000"/>
                </a:lnTo>
                <a:lnTo>
                  <a:pt x="2147507" y="3429000"/>
                </a:lnTo>
                <a:lnTo>
                  <a:pt x="2070668" y="3332520"/>
                </a:lnTo>
                <a:cubicBezTo>
                  <a:pt x="2050397" y="3303060"/>
                  <a:pt x="1955949" y="3095860"/>
                  <a:pt x="1975142" y="3156570"/>
                </a:cubicBezTo>
                <a:cubicBezTo>
                  <a:pt x="1998651" y="3232010"/>
                  <a:pt x="2025657" y="3307543"/>
                  <a:pt x="2050035" y="3384345"/>
                </a:cubicBezTo>
                <a:lnTo>
                  <a:pt x="2063025" y="3429000"/>
                </a:lnTo>
                <a:lnTo>
                  <a:pt x="2021675" y="3429000"/>
                </a:lnTo>
                <a:lnTo>
                  <a:pt x="2019308" y="3418118"/>
                </a:lnTo>
                <a:cubicBezTo>
                  <a:pt x="1994223" y="3319278"/>
                  <a:pt x="1963999" y="3221518"/>
                  <a:pt x="1938835" y="3122160"/>
                </a:cubicBezTo>
                <a:cubicBezTo>
                  <a:pt x="1929908" y="3190047"/>
                  <a:pt x="1941143" y="3261322"/>
                  <a:pt x="1953230" y="3330699"/>
                </a:cubicBezTo>
                <a:lnTo>
                  <a:pt x="1956763" y="3349191"/>
                </a:lnTo>
                <a:lnTo>
                  <a:pt x="1967925" y="3429000"/>
                </a:lnTo>
                <a:lnTo>
                  <a:pt x="1936622" y="3429000"/>
                </a:lnTo>
                <a:lnTo>
                  <a:pt x="1926261" y="3355064"/>
                </a:lnTo>
                <a:lnTo>
                  <a:pt x="1922724" y="3336577"/>
                </a:lnTo>
                <a:cubicBezTo>
                  <a:pt x="1915473" y="3294948"/>
                  <a:pt x="1907737" y="3252875"/>
                  <a:pt x="1904650" y="3210616"/>
                </a:cubicBezTo>
                <a:lnTo>
                  <a:pt x="1885273" y="3429000"/>
                </a:lnTo>
                <a:lnTo>
                  <a:pt x="1854363" y="3429000"/>
                </a:lnTo>
                <a:lnTo>
                  <a:pt x="1880391" y="3174796"/>
                </a:lnTo>
                <a:cubicBezTo>
                  <a:pt x="1857032" y="3207864"/>
                  <a:pt x="1833268" y="3242346"/>
                  <a:pt x="1818273" y="3286729"/>
                </a:cubicBezTo>
                <a:cubicBezTo>
                  <a:pt x="1804852" y="3326735"/>
                  <a:pt x="1797634" y="3369725"/>
                  <a:pt x="1794691" y="3414239"/>
                </a:cubicBezTo>
                <a:cubicBezTo>
                  <a:pt x="1794765" y="3419159"/>
                  <a:pt x="1794840" y="3424080"/>
                  <a:pt x="1794914" y="3429000"/>
                </a:cubicBezTo>
                <a:lnTo>
                  <a:pt x="1746128" y="3429000"/>
                </a:lnTo>
                <a:lnTo>
                  <a:pt x="1753934" y="3295796"/>
                </a:lnTo>
                <a:cubicBezTo>
                  <a:pt x="1761216" y="3245140"/>
                  <a:pt x="1773366" y="3194443"/>
                  <a:pt x="1792053" y="3143396"/>
                </a:cubicBezTo>
                <a:cubicBezTo>
                  <a:pt x="1831929" y="3034223"/>
                  <a:pt x="1865036" y="2965363"/>
                  <a:pt x="1862248" y="2837397"/>
                </a:cubicBezTo>
                <a:cubicBezTo>
                  <a:pt x="1860953" y="2758277"/>
                  <a:pt x="1859762" y="2681946"/>
                  <a:pt x="1862250" y="2604531"/>
                </a:cubicBezTo>
                <a:cubicBezTo>
                  <a:pt x="1629459" y="2804327"/>
                  <a:pt x="1412286" y="3022119"/>
                  <a:pt x="1211999" y="3254610"/>
                </a:cubicBezTo>
                <a:cubicBezTo>
                  <a:pt x="1212594" y="3257848"/>
                  <a:pt x="1213637" y="3260601"/>
                  <a:pt x="1213266" y="3262947"/>
                </a:cubicBezTo>
                <a:cubicBezTo>
                  <a:pt x="1207239" y="3316048"/>
                  <a:pt x="1203941" y="3368982"/>
                  <a:pt x="1203370" y="3421676"/>
                </a:cubicBezTo>
                <a:cubicBezTo>
                  <a:pt x="1203470" y="3424117"/>
                  <a:pt x="1203571" y="3426559"/>
                  <a:pt x="1203671" y="3429000"/>
                </a:cubicBezTo>
                <a:lnTo>
                  <a:pt x="1143180" y="3429000"/>
                </a:lnTo>
                <a:cubicBezTo>
                  <a:pt x="1142845" y="3398348"/>
                  <a:pt x="1142511" y="3367697"/>
                  <a:pt x="1142176" y="3337045"/>
                </a:cubicBezTo>
                <a:lnTo>
                  <a:pt x="1067484" y="3429000"/>
                </a:lnTo>
                <a:lnTo>
                  <a:pt x="953928" y="3429000"/>
                </a:lnTo>
                <a:lnTo>
                  <a:pt x="959715" y="3421185"/>
                </a:lnTo>
                <a:cubicBezTo>
                  <a:pt x="1122351" y="3213955"/>
                  <a:pt x="1297493" y="3016464"/>
                  <a:pt x="1483788" y="2830174"/>
                </a:cubicBezTo>
                <a:cubicBezTo>
                  <a:pt x="1354519" y="2823700"/>
                  <a:pt x="1219786" y="2843526"/>
                  <a:pt x="1100671" y="2823137"/>
                </a:cubicBezTo>
                <a:cubicBezTo>
                  <a:pt x="1097473" y="2824667"/>
                  <a:pt x="1093344" y="2826226"/>
                  <a:pt x="1090144" y="2827748"/>
                </a:cubicBezTo>
                <a:cubicBezTo>
                  <a:pt x="1093160" y="2833221"/>
                  <a:pt x="1095726" y="2839172"/>
                  <a:pt x="1095872" y="2842892"/>
                </a:cubicBezTo>
                <a:cubicBezTo>
                  <a:pt x="1117034" y="3185754"/>
                  <a:pt x="501310" y="3336589"/>
                  <a:pt x="262785" y="3416450"/>
                </a:cubicBezTo>
                <a:cubicBezTo>
                  <a:pt x="240730" y="3423851"/>
                  <a:pt x="197167" y="3359461"/>
                  <a:pt x="209968" y="3341713"/>
                </a:cubicBezTo>
                <a:cubicBezTo>
                  <a:pt x="383281" y="3098661"/>
                  <a:pt x="615742" y="2948713"/>
                  <a:pt x="873460" y="2824768"/>
                </a:cubicBezTo>
                <a:cubicBezTo>
                  <a:pt x="626943" y="2762900"/>
                  <a:pt x="365733" y="2531633"/>
                  <a:pt x="192686" y="2420257"/>
                </a:cubicBezTo>
                <a:cubicBezTo>
                  <a:pt x="116185" y="2370690"/>
                  <a:pt x="52073" y="2325165"/>
                  <a:pt x="4696" y="2268668"/>
                </a:cubicBezTo>
                <a:lnTo>
                  <a:pt x="0" y="2260984"/>
                </a:lnTo>
                <a:lnTo>
                  <a:pt x="0" y="2084472"/>
                </a:lnTo>
                <a:lnTo>
                  <a:pt x="174101" y="2191277"/>
                </a:lnTo>
                <a:cubicBezTo>
                  <a:pt x="413334" y="2330164"/>
                  <a:pt x="660435" y="2456160"/>
                  <a:pt x="891800" y="2607935"/>
                </a:cubicBezTo>
                <a:cubicBezTo>
                  <a:pt x="944884" y="2642606"/>
                  <a:pt x="1012106" y="2716300"/>
                  <a:pt x="1072219" y="2740443"/>
                </a:cubicBezTo>
                <a:cubicBezTo>
                  <a:pt x="1072700" y="2740886"/>
                  <a:pt x="1073629" y="2740850"/>
                  <a:pt x="1074117" y="2741301"/>
                </a:cubicBezTo>
                <a:cubicBezTo>
                  <a:pt x="1077423" y="2742567"/>
                  <a:pt x="1080285" y="2744315"/>
                  <a:pt x="1083114" y="2745131"/>
                </a:cubicBezTo>
                <a:cubicBezTo>
                  <a:pt x="1205686" y="2782148"/>
                  <a:pt x="1403553" y="2733717"/>
                  <a:pt x="1543010" y="2762140"/>
                </a:cubicBezTo>
                <a:cubicBezTo>
                  <a:pt x="1545352" y="2762516"/>
                  <a:pt x="1548218" y="2764258"/>
                  <a:pt x="1551080" y="2766006"/>
                </a:cubicBezTo>
                <a:cubicBezTo>
                  <a:pt x="1796784" y="2527970"/>
                  <a:pt x="2061981" y="2311521"/>
                  <a:pt x="2345443" y="2120882"/>
                </a:cubicBezTo>
                <a:cubicBezTo>
                  <a:pt x="2141371" y="2118786"/>
                  <a:pt x="1930334" y="2175666"/>
                  <a:pt x="1721499" y="2170969"/>
                </a:cubicBezTo>
                <a:cubicBezTo>
                  <a:pt x="1398951" y="2164309"/>
                  <a:pt x="1081337" y="2118329"/>
                  <a:pt x="767716" y="2043768"/>
                </a:cubicBezTo>
                <a:cubicBezTo>
                  <a:pt x="753133" y="2040162"/>
                  <a:pt x="700946" y="1969599"/>
                  <a:pt x="722147" y="1964091"/>
                </a:cubicBezTo>
                <a:cubicBezTo>
                  <a:pt x="968781" y="1900673"/>
                  <a:pt x="1232259" y="1897588"/>
                  <a:pt x="1485552" y="1884202"/>
                </a:cubicBezTo>
                <a:cubicBezTo>
                  <a:pt x="1722589" y="1871930"/>
                  <a:pt x="1934026" y="1883502"/>
                  <a:pt x="2143004" y="1973420"/>
                </a:cubicBezTo>
                <a:cubicBezTo>
                  <a:pt x="2072259" y="1892879"/>
                  <a:pt x="2001915" y="1810927"/>
                  <a:pt x="1933391" y="1727971"/>
                </a:cubicBezTo>
                <a:cubicBezTo>
                  <a:pt x="1884964" y="1669829"/>
                  <a:pt x="1830279" y="1618453"/>
                  <a:pt x="1827118" y="1539410"/>
                </a:cubicBezTo>
                <a:cubicBezTo>
                  <a:pt x="1826899" y="1533830"/>
                  <a:pt x="1831287" y="1527131"/>
                  <a:pt x="1837349" y="1527357"/>
                </a:cubicBezTo>
                <a:cubicBezTo>
                  <a:pt x="1954786" y="1529180"/>
                  <a:pt x="2095955" y="1670243"/>
                  <a:pt x="2162835" y="1758853"/>
                </a:cubicBezTo>
                <a:cubicBezTo>
                  <a:pt x="2223806" y="1839314"/>
                  <a:pt x="2261117" y="1933764"/>
                  <a:pt x="2257167" y="2033123"/>
                </a:cubicBezTo>
                <a:cubicBezTo>
                  <a:pt x="2258619" y="2034463"/>
                  <a:pt x="2260110" y="2036731"/>
                  <a:pt x="2261598" y="2038998"/>
                </a:cubicBezTo>
                <a:cubicBezTo>
                  <a:pt x="2319293" y="2037627"/>
                  <a:pt x="2377620" y="2040418"/>
                  <a:pt x="2437177" y="2050608"/>
                </a:cubicBezTo>
                <a:cubicBezTo>
                  <a:pt x="2440002" y="2051429"/>
                  <a:pt x="2442387" y="2052726"/>
                  <a:pt x="2445247" y="2054476"/>
                </a:cubicBezTo>
                <a:cubicBezTo>
                  <a:pt x="2542410" y="1991910"/>
                  <a:pt x="2642483" y="1932023"/>
                  <a:pt x="2743626" y="1875819"/>
                </a:cubicBezTo>
                <a:cubicBezTo>
                  <a:pt x="2843877" y="1820576"/>
                  <a:pt x="2945694" y="1769471"/>
                  <a:pt x="3048102" y="1721595"/>
                </a:cubicBezTo>
                <a:cubicBezTo>
                  <a:pt x="2585795" y="1725639"/>
                  <a:pt x="2153807" y="1567795"/>
                  <a:pt x="1799414" y="1265732"/>
                </a:cubicBezTo>
                <a:cubicBezTo>
                  <a:pt x="1791709" y="1259523"/>
                  <a:pt x="1742423" y="1191635"/>
                  <a:pt x="1771735" y="1190929"/>
                </a:cubicBezTo>
                <a:cubicBezTo>
                  <a:pt x="2256142" y="1180405"/>
                  <a:pt x="2784409" y="1241721"/>
                  <a:pt x="3104273" y="1647159"/>
                </a:cubicBezTo>
                <a:cubicBezTo>
                  <a:pt x="3108183" y="1651663"/>
                  <a:pt x="3110711" y="1656686"/>
                  <a:pt x="3113245" y="1661705"/>
                </a:cubicBezTo>
                <a:cubicBezTo>
                  <a:pt x="3118189" y="1668958"/>
                  <a:pt x="3122727" y="1677622"/>
                  <a:pt x="3126294" y="1685400"/>
                </a:cubicBezTo>
                <a:cubicBezTo>
                  <a:pt x="3390302" y="1567262"/>
                  <a:pt x="3661785" y="1473036"/>
                  <a:pt x="3937433" y="1401473"/>
                </a:cubicBezTo>
                <a:cubicBezTo>
                  <a:pt x="3836176" y="1303523"/>
                  <a:pt x="3721785" y="1191668"/>
                  <a:pt x="3590475" y="1168974"/>
                </a:cubicBezTo>
                <a:cubicBezTo>
                  <a:pt x="3435249" y="1142111"/>
                  <a:pt x="3264279" y="1187605"/>
                  <a:pt x="3100264" y="1150845"/>
                </a:cubicBezTo>
                <a:cubicBezTo>
                  <a:pt x="2787310" y="1081393"/>
                  <a:pt x="2468738" y="941372"/>
                  <a:pt x="2183576" y="798150"/>
                </a:cubicBezTo>
                <a:cubicBezTo>
                  <a:pt x="2170260" y="791226"/>
                  <a:pt x="2115765" y="721220"/>
                  <a:pt x="2151029" y="717947"/>
                </a:cubicBezTo>
                <a:cubicBezTo>
                  <a:pt x="2677991" y="665203"/>
                  <a:pt x="3159089" y="688356"/>
                  <a:pt x="3563434" y="1040115"/>
                </a:cubicBezTo>
                <a:lnTo>
                  <a:pt x="3177952" y="228386"/>
                </a:lnTo>
                <a:cubicBezTo>
                  <a:pt x="3171337" y="214210"/>
                  <a:pt x="3161442" y="176414"/>
                  <a:pt x="3189263" y="196726"/>
                </a:cubicBezTo>
                <a:cubicBezTo>
                  <a:pt x="3348177" y="315655"/>
                  <a:pt x="3463235" y="479187"/>
                  <a:pt x="3560912" y="650863"/>
                </a:cubicBezTo>
                <a:cubicBezTo>
                  <a:pt x="3646545" y="800668"/>
                  <a:pt x="3658964" y="924983"/>
                  <a:pt x="3626636" y="1083230"/>
                </a:cubicBezTo>
                <a:cubicBezTo>
                  <a:pt x="3635603" y="1086129"/>
                  <a:pt x="3644081" y="1088586"/>
                  <a:pt x="3653088" y="1092417"/>
                </a:cubicBezTo>
                <a:cubicBezTo>
                  <a:pt x="3765052" y="1143828"/>
                  <a:pt x="3892199" y="1295230"/>
                  <a:pt x="3988128" y="1388267"/>
                </a:cubicBezTo>
                <a:cubicBezTo>
                  <a:pt x="4265269" y="1318971"/>
                  <a:pt x="4547054" y="1272774"/>
                  <a:pt x="4830582" y="1247000"/>
                </a:cubicBezTo>
                <a:lnTo>
                  <a:pt x="4830100" y="1246554"/>
                </a:lnTo>
                <a:cubicBezTo>
                  <a:pt x="4727027" y="940030"/>
                  <a:pt x="4271973" y="904199"/>
                  <a:pt x="4036318" y="718013"/>
                </a:cubicBezTo>
                <a:cubicBezTo>
                  <a:pt x="3810777" y="540273"/>
                  <a:pt x="3654591" y="291297"/>
                  <a:pt x="3432098" y="108312"/>
                </a:cubicBezTo>
                <a:cubicBezTo>
                  <a:pt x="3405134" y="86099"/>
                  <a:pt x="3391592" y="15385"/>
                  <a:pt x="3446761" y="32278"/>
                </a:cubicBezTo>
                <a:cubicBezTo>
                  <a:pt x="3801752" y="139638"/>
                  <a:pt x="4119982" y="317863"/>
                  <a:pt x="4419733" y="534555"/>
                </a:cubicBezTo>
                <a:cubicBezTo>
                  <a:pt x="4597168" y="662520"/>
                  <a:pt x="4760991" y="799417"/>
                  <a:pt x="4781371" y="1029604"/>
                </a:cubicBezTo>
                <a:cubicBezTo>
                  <a:pt x="4781562" y="1034257"/>
                  <a:pt x="4780772" y="1038014"/>
                  <a:pt x="4780440" y="1041290"/>
                </a:cubicBezTo>
                <a:cubicBezTo>
                  <a:pt x="4830364" y="1090056"/>
                  <a:pt x="4870983" y="1150844"/>
                  <a:pt x="4898954" y="1233092"/>
                </a:cubicBezTo>
                <a:cubicBezTo>
                  <a:pt x="4900480" y="1236288"/>
                  <a:pt x="4900107" y="1238630"/>
                  <a:pt x="4900699" y="1241867"/>
                </a:cubicBezTo>
                <a:cubicBezTo>
                  <a:pt x="5170915" y="1220815"/>
                  <a:pt x="5442360" y="1218817"/>
                  <a:pt x="5714511" y="1234483"/>
                </a:cubicBezTo>
                <a:cubicBezTo>
                  <a:pt x="5651495" y="1126157"/>
                  <a:pt x="5582088" y="1020879"/>
                  <a:pt x="5464793" y="964556"/>
                </a:cubicBezTo>
                <a:cubicBezTo>
                  <a:pt x="5463384" y="964148"/>
                  <a:pt x="5462860" y="962770"/>
                  <a:pt x="5461897" y="961879"/>
                </a:cubicBezTo>
                <a:cubicBezTo>
                  <a:pt x="5031826" y="876789"/>
                  <a:pt x="4661031" y="392458"/>
                  <a:pt x="4399417" y="23573"/>
                </a:cubicBezTo>
                <a:lnTo>
                  <a:pt x="4382818" y="0"/>
                </a:lnTo>
                <a:close/>
                <a:moveTo>
                  <a:pt x="1890928" y="0"/>
                </a:moveTo>
                <a:lnTo>
                  <a:pt x="1994713" y="0"/>
                </a:lnTo>
                <a:lnTo>
                  <a:pt x="1931354" y="46950"/>
                </a:lnTo>
                <a:cubicBezTo>
                  <a:pt x="1877666" y="83934"/>
                  <a:pt x="1822568" y="119048"/>
                  <a:pt x="1765923" y="152043"/>
                </a:cubicBezTo>
                <a:cubicBezTo>
                  <a:pt x="1744896" y="164696"/>
                  <a:pt x="1723857" y="174555"/>
                  <a:pt x="1702258" y="183286"/>
                </a:cubicBezTo>
                <a:cubicBezTo>
                  <a:pt x="1664333" y="221747"/>
                  <a:pt x="1731601" y="160836"/>
                  <a:pt x="1538370" y="382804"/>
                </a:cubicBezTo>
                <a:cubicBezTo>
                  <a:pt x="1278852" y="821311"/>
                  <a:pt x="915356" y="1171566"/>
                  <a:pt x="542867" y="1515092"/>
                </a:cubicBezTo>
                <a:cubicBezTo>
                  <a:pt x="521291" y="1535055"/>
                  <a:pt x="503482" y="1450596"/>
                  <a:pt x="515800" y="1433180"/>
                </a:cubicBezTo>
                <a:cubicBezTo>
                  <a:pt x="664236" y="1221055"/>
                  <a:pt x="747224" y="973666"/>
                  <a:pt x="909145" y="770225"/>
                </a:cubicBezTo>
                <a:cubicBezTo>
                  <a:pt x="998789" y="657824"/>
                  <a:pt x="1101084" y="562246"/>
                  <a:pt x="1214067" y="479561"/>
                </a:cubicBezTo>
                <a:cubicBezTo>
                  <a:pt x="1023317" y="544399"/>
                  <a:pt x="824392" y="591568"/>
                  <a:pt x="640967" y="676601"/>
                </a:cubicBezTo>
                <a:cubicBezTo>
                  <a:pt x="458381" y="761213"/>
                  <a:pt x="284593" y="863005"/>
                  <a:pt x="112563" y="967952"/>
                </a:cubicBezTo>
                <a:lnTo>
                  <a:pt x="0" y="1037006"/>
                </a:lnTo>
                <a:lnTo>
                  <a:pt x="0" y="804763"/>
                </a:lnTo>
                <a:lnTo>
                  <a:pt x="36881" y="771118"/>
                </a:lnTo>
                <a:cubicBezTo>
                  <a:pt x="302143" y="533792"/>
                  <a:pt x="585478" y="311226"/>
                  <a:pt x="910534" y="200753"/>
                </a:cubicBezTo>
                <a:cubicBezTo>
                  <a:pt x="1140280" y="122663"/>
                  <a:pt x="1356783" y="195873"/>
                  <a:pt x="1578717" y="146982"/>
                </a:cubicBezTo>
                <a:cubicBezTo>
                  <a:pt x="1683404" y="123672"/>
                  <a:pt x="1787691" y="70445"/>
                  <a:pt x="1887945" y="2196"/>
                </a:cubicBezTo>
                <a:lnTo>
                  <a:pt x="1890928"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9" name="Rectangle 18">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199"/>
            <a:ext cx="11277600"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F0CAD277-2D81-6658-BB43-6521ED176CD5}"/>
              </a:ext>
            </a:extLst>
          </p:cNvPr>
          <p:cNvSpPr>
            <a:spLocks noGrp="1"/>
          </p:cNvSpPr>
          <p:nvPr>
            <p:ph type="title"/>
          </p:nvPr>
        </p:nvSpPr>
        <p:spPr>
          <a:xfrm>
            <a:off x="1142999" y="2147638"/>
            <a:ext cx="5358064" cy="2245897"/>
          </a:xfrm>
        </p:spPr>
        <p:txBody>
          <a:bodyPr vert="horz" lIns="91440" tIns="45720" rIns="91440" bIns="45720" rtlCol="0" anchor="t">
            <a:normAutofit fontScale="90000"/>
          </a:bodyPr>
          <a:lstStyle/>
          <a:p>
            <a:r>
              <a:rPr lang="en-US" sz="4800" kern="1200">
                <a:latin typeface="+mj-lt"/>
                <a:ea typeface="+mj-ea"/>
                <a:cs typeface="+mj-cs"/>
              </a:rPr>
              <a:t>Tell us how we did!  </a:t>
            </a:r>
            <a:br>
              <a:rPr lang="en-US" sz="4800"/>
            </a:br>
            <a:br>
              <a:rPr lang="en-US" sz="4800"/>
            </a:br>
            <a:r>
              <a:rPr lang="en-US" sz="4800" kern="1200">
                <a:latin typeface="+mj-lt"/>
                <a:ea typeface="+mj-ea"/>
                <a:cs typeface="+mj-cs"/>
              </a:rPr>
              <a:t>Take this quick survey. </a:t>
            </a:r>
          </a:p>
        </p:txBody>
      </p:sp>
      <p:sp>
        <p:nvSpPr>
          <p:cNvPr id="6" name="Content Placeholder 5">
            <a:extLst>
              <a:ext uri="{FF2B5EF4-FFF2-40B4-BE49-F238E27FC236}">
                <a16:creationId xmlns:a16="http://schemas.microsoft.com/office/drawing/2014/main" id="{C1574F61-AC0F-1A6E-4B8E-1B99732F3ADD}"/>
              </a:ext>
            </a:extLst>
          </p:cNvPr>
          <p:cNvSpPr>
            <a:spLocks noGrp="1"/>
          </p:cNvSpPr>
          <p:nvPr>
            <p:ph idx="1"/>
          </p:nvPr>
        </p:nvSpPr>
        <p:spPr>
          <a:xfrm>
            <a:off x="1142999" y="4267200"/>
            <a:ext cx="4495801" cy="914400"/>
          </a:xfrm>
        </p:spPr>
        <p:txBody>
          <a:bodyPr vert="horz" lIns="91440" tIns="45720" rIns="91440" bIns="45720" rtlCol="0">
            <a:normAutofit/>
          </a:bodyPr>
          <a:lstStyle/>
          <a:p>
            <a:pPr marL="0" indent="0">
              <a:buNone/>
            </a:pPr>
            <a:br>
              <a:rPr lang="en-US" sz="2700" kern="1200">
                <a:solidFill>
                  <a:schemeClr val="tx1">
                    <a:alpha val="55000"/>
                  </a:schemeClr>
                </a:solidFill>
                <a:latin typeface="+mn-lt"/>
                <a:ea typeface="+mn-ea"/>
                <a:cs typeface="+mn-cs"/>
              </a:rPr>
            </a:br>
            <a:endParaRPr lang="en-US" sz="2700" kern="1200">
              <a:solidFill>
                <a:schemeClr val="tx1">
                  <a:alpha val="55000"/>
                </a:schemeClr>
              </a:solidFill>
              <a:latin typeface="+mn-lt"/>
              <a:ea typeface="+mn-ea"/>
              <a:cs typeface="+mn-cs"/>
            </a:endParaRPr>
          </a:p>
        </p:txBody>
      </p:sp>
      <p:pic>
        <p:nvPicPr>
          <p:cNvPr id="3" name="Picture 2" descr="A qr code on a white background&#10;&#10;Description automatically generated">
            <a:extLst>
              <a:ext uri="{FF2B5EF4-FFF2-40B4-BE49-F238E27FC236}">
                <a16:creationId xmlns:a16="http://schemas.microsoft.com/office/drawing/2014/main" id="{8AB70CDF-3335-FBDC-6AC2-4662293F8EAF}"/>
              </a:ext>
            </a:extLst>
          </p:cNvPr>
          <p:cNvPicPr>
            <a:picLocks noChangeAspect="1"/>
          </p:cNvPicPr>
          <p:nvPr/>
        </p:nvPicPr>
        <p:blipFill>
          <a:blip r:embed="rId2"/>
          <a:stretch>
            <a:fillRect/>
          </a:stretch>
        </p:blipFill>
        <p:spPr>
          <a:xfrm>
            <a:off x="6619874" y="1100135"/>
            <a:ext cx="4657726" cy="4657726"/>
          </a:xfrm>
          <a:prstGeom prst="rect">
            <a:avLst/>
          </a:prstGeom>
        </p:spPr>
      </p:pic>
      <p:pic>
        <p:nvPicPr>
          <p:cNvPr id="5" name="Picture 4" descr="A logo for a company&#10;&#10;Description automatically generated">
            <a:extLst>
              <a:ext uri="{FF2B5EF4-FFF2-40B4-BE49-F238E27FC236}">
                <a16:creationId xmlns:a16="http://schemas.microsoft.com/office/drawing/2014/main" id="{C8E086B4-0BEB-E8E8-1905-B1FBBA4CFD0E}"/>
              </a:ext>
            </a:extLst>
          </p:cNvPr>
          <p:cNvPicPr>
            <a:picLocks noChangeAspect="1"/>
          </p:cNvPicPr>
          <p:nvPr/>
        </p:nvPicPr>
        <p:blipFill>
          <a:blip r:embed="rId3"/>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2268168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B4CAAFA20B174C9D092CEDE2B75F72" ma:contentTypeVersion="16" ma:contentTypeDescription="Create a new document." ma:contentTypeScope="" ma:versionID="9c21024722a0a094e79ded9afdd4c23b">
  <xsd:schema xmlns:xsd="http://www.w3.org/2001/XMLSchema" xmlns:xs="http://www.w3.org/2001/XMLSchema" xmlns:p="http://schemas.microsoft.com/office/2006/metadata/properties" xmlns:ns2="13a59ec9-72ae-4468-8b69-a6fc079d6534" xmlns:ns3="f6e3e907-bc34-45f2-9bd0-9583dc1f18f1" targetNamespace="http://schemas.microsoft.com/office/2006/metadata/properties" ma:root="true" ma:fieldsID="cd9212ea0ba4a26db79549c459913f93" ns2:_="" ns3:_="">
    <xsd:import namespace="13a59ec9-72ae-4468-8b69-a6fc079d6534"/>
    <xsd:import namespace="f6e3e907-bc34-45f2-9bd0-9583dc1f1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a59ec9-72ae-4468-8b69-a6fc079d65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e3e907-bc34-45f2-9bd0-9583dc1f18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c067b02-87a6-49ea-b506-9b6aa8bcae63}" ma:internalName="TaxCatchAll" ma:showField="CatchAllData" ma:web="f6e3e907-bc34-45f2-9bd0-9583dc1f18f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a59ec9-72ae-4468-8b69-a6fc079d6534">
      <Terms xmlns="http://schemas.microsoft.com/office/infopath/2007/PartnerControls"/>
    </lcf76f155ced4ddcb4097134ff3c332f>
    <TaxCatchAll xmlns="f6e3e907-bc34-45f2-9bd0-9583dc1f18f1" xsi:nil="true"/>
  </documentManagement>
</p:properties>
</file>

<file path=customXml/itemProps1.xml><?xml version="1.0" encoding="utf-8"?>
<ds:datastoreItem xmlns:ds="http://schemas.openxmlformats.org/officeDocument/2006/customXml" ds:itemID="{02AC8553-A564-4FD5-B3F5-5B1AE28B24BC}">
  <ds:schemaRefs>
    <ds:schemaRef ds:uri="13a59ec9-72ae-4468-8b69-a6fc079d6534"/>
    <ds:schemaRef ds:uri="f6e3e907-bc34-45f2-9bd0-9583dc1f18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22F0E87-8473-4B5F-BCBF-202B2D7D59FA}">
  <ds:schemaRefs>
    <ds:schemaRef ds:uri="http://schemas.microsoft.com/sharepoint/v3/contenttype/forms"/>
  </ds:schemaRefs>
</ds:datastoreItem>
</file>

<file path=customXml/itemProps3.xml><?xml version="1.0" encoding="utf-8"?>
<ds:datastoreItem xmlns:ds="http://schemas.openxmlformats.org/officeDocument/2006/customXml" ds:itemID="{4677A5EC-DA53-4F7F-B758-D1C1D4D7D43C}">
  <ds:schemaRefs>
    <ds:schemaRef ds:uri="13a59ec9-72ae-4468-8b69-a6fc079d6534"/>
    <ds:schemaRef ds:uri="f6e3e907-bc34-45f2-9bd0-9583dc1f18f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1837</Words>
  <Application>Microsoft Office PowerPoint</Application>
  <PresentationFormat>Widescreen</PresentationFormat>
  <Paragraphs>299</Paragraphs>
  <Slides>35</Slides>
  <Notes>27</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Aptos</vt:lpstr>
      <vt:lpstr>Aptos Display</vt:lpstr>
      <vt:lpstr>Arial</vt:lpstr>
      <vt:lpstr>Calibri</vt:lpstr>
      <vt:lpstr>Calibri Light</vt:lpstr>
      <vt:lpstr>Candara</vt:lpstr>
      <vt:lpstr>Century Gothic</vt:lpstr>
      <vt:lpstr>Courier New</vt:lpstr>
      <vt:lpstr>Office Theme</vt:lpstr>
      <vt:lpstr>Office Theme</vt:lpstr>
      <vt:lpstr>Making the Leap from Planning to Implementation in Organizational Transformation </vt:lpstr>
      <vt:lpstr>Welcome &amp; Introductions</vt:lpstr>
      <vt:lpstr>Who's with us today? </vt:lpstr>
      <vt:lpstr>Today's Objectives</vt:lpstr>
      <vt:lpstr>PowerPoint Presentation</vt:lpstr>
      <vt:lpstr>PowerPoint Presentation</vt:lpstr>
      <vt:lpstr>About Transformation &amp; Innovation </vt:lpstr>
      <vt:lpstr>PowerPoint Presentation</vt:lpstr>
      <vt:lpstr>PowerPoint Presentation</vt:lpstr>
      <vt:lpstr>What are we transforming to? </vt:lpstr>
      <vt:lpstr>Polls </vt:lpstr>
      <vt:lpstr>10 Essential Elements of Provider Transformation</vt:lpstr>
      <vt:lpstr>PowerPoint Presentation</vt:lpstr>
      <vt:lpstr>The Gap Between</vt:lpstr>
      <vt:lpstr>PowerPoint Presentation</vt:lpstr>
      <vt:lpstr>Flying the Plane While Building it</vt:lpstr>
      <vt:lpstr>PowerPoint Presentation</vt:lpstr>
      <vt:lpstr>Ready, Fire…… Aim!</vt:lpstr>
      <vt:lpstr>Taking Actionable Steps</vt:lpstr>
      <vt:lpstr>Take smaller, manageable steps</vt:lpstr>
      <vt:lpstr>Using Pilots </vt:lpstr>
      <vt:lpstr>The Power of the Pilot   What is it? </vt:lpstr>
      <vt:lpstr> Why are pilots important?  </vt:lpstr>
      <vt:lpstr>Who should be involved in your pilot?   </vt:lpstr>
      <vt:lpstr>How should your pilot be used? </vt:lpstr>
      <vt:lpstr>Your Core Team is Modeling!</vt:lpstr>
      <vt:lpstr>Pilot = Opportunity</vt:lpstr>
      <vt:lpstr>Keep a Sense of Urgency </vt:lpstr>
      <vt:lpstr>Scale it Up! </vt:lpstr>
      <vt:lpstr>Are we there yet? Managing Fatigue </vt:lpstr>
      <vt:lpstr>What is stopping you??</vt:lpstr>
      <vt:lpstr> Stretch Break</vt:lpstr>
      <vt:lpstr>Making a Plan to Move Forward </vt:lpstr>
      <vt:lpstr>Resources  &amp;  Support </vt:lpstr>
      <vt:lpstr>Tell us how we did!    Take this quick survey.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Transformational Change Sounds Great!</dc:title>
  <dc:creator>Don Lavin</dc:creator>
  <cp:lastModifiedBy>Staci Jones</cp:lastModifiedBy>
  <cp:revision>2</cp:revision>
  <dcterms:created xsi:type="dcterms:W3CDTF">2024-04-01T16:57:23Z</dcterms:created>
  <dcterms:modified xsi:type="dcterms:W3CDTF">2024-05-16T21:56:44Z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0x01010022B4CAAFA20B174C9D092CEDE2B75F72</vt:lpwstr>
  </property>
  <property fmtid="{D5CDD505-2E9C-101B-9397-08002B2CF9AE}" pid="3" name="MediaServiceImageTags">
    <vt:lpwstr/>
  </property>
</Properties>
</file>