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19"/>
  </p:notesMasterIdLst>
  <p:sldIdLst>
    <p:sldId id="1343" r:id="rId5"/>
    <p:sldId id="300" r:id="rId6"/>
    <p:sldId id="268" r:id="rId7"/>
    <p:sldId id="1313" r:id="rId8"/>
    <p:sldId id="267" r:id="rId9"/>
    <p:sldId id="1275" r:id="rId10"/>
    <p:sldId id="1279" r:id="rId11"/>
    <p:sldId id="259" r:id="rId12"/>
    <p:sldId id="511" r:id="rId13"/>
    <p:sldId id="517" r:id="rId14"/>
    <p:sldId id="1345" r:id="rId15"/>
    <p:sldId id="1326" r:id="rId16"/>
    <p:sldId id="1344" r:id="rId17"/>
    <p:sldId id="313"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79DFB353-9356-066E-6A66-58B401C56A74}" name="Brian C Begin" initials="BB" userId="S::begin036@umn.edu::de8a03f3-db1e-4610-8412-f966a5aa77e7" providerId="AD"/>
  <p188:author id="{9B8DB296-7C7E-1E12-318A-15E1F6169068}" name="Bryn Peterson" initials="BP" userId="S::bryn.peterson@umb.edu::fd16c8ef-faa2-4aae-bb46-064735fd85dc"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69492" autoAdjust="0"/>
  </p:normalViewPr>
  <p:slideViewPr>
    <p:cSldViewPr snapToGrid="0">
      <p:cViewPr varScale="1">
        <p:scale>
          <a:sx n="77" d="100"/>
          <a:sy n="77" d="100"/>
        </p:scale>
        <p:origin x="1914"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viewProps" Target="view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microsoft.com/office/2018/10/relationships/authors" Target="author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B11EB87-5507-43DD-B91A-57890868DD4E}" type="datetimeFigureOut">
              <a:rPr lang="en-US" smtClean="0"/>
              <a:t>2/25/2025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7128FF1-3D4D-46AB-86BD-2B2D18AAFFEA}" type="slidenum">
              <a:rPr lang="en-US" smtClean="0"/>
              <a:t>‹#›</a:t>
            </a:fld>
            <a:endParaRPr lang="en-US"/>
          </a:p>
        </p:txBody>
      </p:sp>
    </p:spTree>
    <p:extLst>
      <p:ext uri="{BB962C8B-B14F-4D97-AF65-F5344CB8AC3E}">
        <p14:creationId xmlns:p14="http://schemas.microsoft.com/office/powerpoint/2010/main" val="84479662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
          <a:extLst>
            <a:ext uri="{FF2B5EF4-FFF2-40B4-BE49-F238E27FC236}">
              <a16:creationId xmlns:a16="http://schemas.microsoft.com/office/drawing/2014/main" id="{4A42CB79-75BA-6579-2AF1-95ED9344F5E4}"/>
            </a:ext>
          </a:extLst>
        </p:cNvPr>
        <p:cNvGrpSpPr/>
        <p:nvPr/>
      </p:nvGrpSpPr>
      <p:grpSpPr>
        <a:xfrm>
          <a:off x="0" y="0"/>
          <a:ext cx="0" cy="0"/>
          <a:chOff x="0" y="0"/>
          <a:chExt cx="0" cy="0"/>
        </a:xfrm>
      </p:grpSpPr>
      <p:sp>
        <p:nvSpPr>
          <p:cNvPr id="104" name="Google Shape;104;g13aeb6740f1_0_7:notes">
            <a:extLst>
              <a:ext uri="{FF2B5EF4-FFF2-40B4-BE49-F238E27FC236}">
                <a16:creationId xmlns:a16="http://schemas.microsoft.com/office/drawing/2014/main" id="{8A97EE67-B1EC-DE30-BD68-2FCCF9A283DD}"/>
              </a:ext>
            </a:extLst>
          </p:cNvPr>
          <p:cNvSpPr>
            <a:spLocks noGrp="1" noRot="1" noChangeAspect="1"/>
          </p:cNvSpPr>
          <p:nvPr>
            <p:ph type="sldImg" idx="2"/>
          </p:nvPr>
        </p:nvSpPr>
        <p:spPr>
          <a:xfrm>
            <a:off x="703263" y="1154113"/>
            <a:ext cx="5543550" cy="31178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5" name="Google Shape;105;g13aeb6740f1_0_7:notes">
            <a:extLst>
              <a:ext uri="{FF2B5EF4-FFF2-40B4-BE49-F238E27FC236}">
                <a16:creationId xmlns:a16="http://schemas.microsoft.com/office/drawing/2014/main" id="{EE325265-ED6B-D563-0C60-57737D5C6118}"/>
              </a:ext>
            </a:extLst>
          </p:cNvPr>
          <p:cNvSpPr txBox="1">
            <a:spLocks noGrp="1"/>
          </p:cNvSpPr>
          <p:nvPr>
            <p:ph type="body" idx="1"/>
          </p:nvPr>
        </p:nvSpPr>
        <p:spPr>
          <a:xfrm>
            <a:off x="695008" y="4444861"/>
            <a:ext cx="5560060" cy="3636856"/>
          </a:xfrm>
          <a:prstGeom prst="rect">
            <a:avLst/>
          </a:prstGeom>
          <a:noFill/>
          <a:ln>
            <a:noFill/>
          </a:ln>
        </p:spPr>
        <p:txBody>
          <a:bodyPr spcFirstLastPara="1" wrap="square" lIns="92476" tIns="46226" rIns="92476" bIns="46226" anchor="t" anchorCtr="0">
            <a:noAutofit/>
          </a:bodyPr>
          <a:lstStyle/>
          <a:p>
            <a:pPr>
              <a:buSzPts val="1400"/>
            </a:pPr>
            <a:endParaRPr lang="en-US" dirty="0">
              <a:cs typeface="Calibri"/>
            </a:endParaRPr>
          </a:p>
          <a:p>
            <a:pPr>
              <a:buSzPts val="1400"/>
            </a:pPr>
            <a:endParaRPr lang="en-US" dirty="0"/>
          </a:p>
          <a:p>
            <a:pPr>
              <a:buSzPts val="1400"/>
            </a:pPr>
            <a:endParaRPr lang="en-US" dirty="0">
              <a:cs typeface="Calibri"/>
            </a:endParaRPr>
          </a:p>
        </p:txBody>
      </p:sp>
      <p:sp>
        <p:nvSpPr>
          <p:cNvPr id="106" name="Google Shape;106;g13aeb6740f1_0_7:notes">
            <a:extLst>
              <a:ext uri="{FF2B5EF4-FFF2-40B4-BE49-F238E27FC236}">
                <a16:creationId xmlns:a16="http://schemas.microsoft.com/office/drawing/2014/main" id="{2754E88A-A18C-807D-B58A-3C538BE26390}"/>
              </a:ext>
            </a:extLst>
          </p:cNvPr>
          <p:cNvSpPr txBox="1">
            <a:spLocks noGrp="1"/>
          </p:cNvSpPr>
          <p:nvPr>
            <p:ph type="sldNum" idx="12"/>
          </p:nvPr>
        </p:nvSpPr>
        <p:spPr>
          <a:xfrm>
            <a:off x="3936768" y="8772668"/>
            <a:ext cx="3011699" cy="463319"/>
          </a:xfrm>
          <a:prstGeom prst="rect">
            <a:avLst/>
          </a:prstGeom>
          <a:noFill/>
          <a:ln>
            <a:noFill/>
          </a:ln>
        </p:spPr>
        <p:txBody>
          <a:bodyPr spcFirstLastPara="1" wrap="square" lIns="92476" tIns="46226" rIns="92476" bIns="46226" anchor="b" anchorCtr="0">
            <a:noAutofit/>
          </a:bodyPr>
          <a:lstStyle/>
          <a:p>
            <a:pPr>
              <a:buClr>
                <a:srgbClr val="000000"/>
              </a:buClr>
              <a:buSzPts val="1200"/>
            </a:pPr>
            <a:fld id="{00000000-1234-1234-1234-123412341234}" type="slidenum">
              <a:rPr lang="en-US"/>
              <a:pPr>
                <a:buClr>
                  <a:srgbClr val="000000"/>
                </a:buClr>
                <a:buSzPts val="1200"/>
              </a:pPr>
              <a:t>1</a:t>
            </a:fld>
            <a:endParaRPr/>
          </a:p>
        </p:txBody>
      </p:sp>
    </p:spTree>
    <p:extLst>
      <p:ext uri="{BB962C8B-B14F-4D97-AF65-F5344CB8AC3E}">
        <p14:creationId xmlns:p14="http://schemas.microsoft.com/office/powerpoint/2010/main" val="217550339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A9F22E3-C921-4AFD-8EEB-693BB09FFB7E}" type="slidenum">
              <a:rPr kumimoji="0" lang="en-US" sz="12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51131891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F7C0A9C-8EB1-2944-91B3-96D63BF1E2CF}" type="slidenum">
              <a:rPr lang="en-US" smtClean="0"/>
              <a:t>3</a:t>
            </a:fld>
            <a:endParaRPr lang="en-US"/>
          </a:p>
        </p:txBody>
      </p:sp>
    </p:spTree>
    <p:extLst>
      <p:ext uri="{BB962C8B-B14F-4D97-AF65-F5344CB8AC3E}">
        <p14:creationId xmlns:p14="http://schemas.microsoft.com/office/powerpoint/2010/main" val="15514365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
        <p:cNvGrpSpPr/>
        <p:nvPr/>
      </p:nvGrpSpPr>
      <p:grpSpPr>
        <a:xfrm>
          <a:off x="0" y="0"/>
          <a:ext cx="0" cy="0"/>
          <a:chOff x="0" y="0"/>
          <a:chExt cx="0" cy="0"/>
        </a:xfrm>
      </p:grpSpPr>
      <p:sp>
        <p:nvSpPr>
          <p:cNvPr id="104" name="Google Shape;104;g13aeb6740f1_0_7:notes"/>
          <p:cNvSpPr>
            <a:spLocks noGrp="1" noRot="1" noChangeAspect="1"/>
          </p:cNvSpPr>
          <p:nvPr>
            <p:ph type="sldImg" idx="2"/>
          </p:nvPr>
        </p:nvSpPr>
        <p:spPr>
          <a:xfrm>
            <a:off x="703263" y="1154113"/>
            <a:ext cx="5543550" cy="31178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5" name="Google Shape;105;g13aeb6740f1_0_7:notes"/>
          <p:cNvSpPr txBox="1">
            <a:spLocks noGrp="1"/>
          </p:cNvSpPr>
          <p:nvPr>
            <p:ph type="body" idx="1"/>
          </p:nvPr>
        </p:nvSpPr>
        <p:spPr>
          <a:xfrm>
            <a:off x="695008" y="4444861"/>
            <a:ext cx="5560060" cy="3636856"/>
          </a:xfrm>
          <a:prstGeom prst="rect">
            <a:avLst/>
          </a:prstGeom>
          <a:noFill/>
          <a:ln>
            <a:noFill/>
          </a:ln>
        </p:spPr>
        <p:txBody>
          <a:bodyPr spcFirstLastPara="1" wrap="square" lIns="92476" tIns="46226" rIns="92476" bIns="46226" anchor="t" anchorCtr="0">
            <a:noAutofit/>
          </a:bodyPr>
          <a:lstStyle/>
          <a:p>
            <a:pPr>
              <a:buSzPts val="1400"/>
            </a:pPr>
            <a:r>
              <a:rPr lang="en-US" b="0" i="0" dirty="0">
                <a:solidFill>
                  <a:srgbClr val="333333"/>
                </a:solidFill>
                <a:effectLst/>
                <a:latin typeface="Merriweather Sans"/>
              </a:rPr>
              <a:t>The Minnesota Transformation Initiative (MTI) is a project funded by the Minnesota Department of Human Services beginning in 2022. MTI is part of a statewide effort to support more people with disabilities to find competitive jobs as well as meaningful engagement in their communities. To build capacity for competitive integrated employment and community life engagement, MTI offers individualized technical assistance to provider agencies, counties, and tribal nations; statewide training opportunities; communities of practice; and peer mentoring and education for providers, self-advocates and families.</a:t>
            </a:r>
            <a:endParaRPr lang="en-US" dirty="0">
              <a:latin typeface="Merriweather Sans"/>
              <a:cs typeface="Calibri"/>
            </a:endParaRPr>
          </a:p>
          <a:p>
            <a:pPr>
              <a:buSzPts val="1400"/>
            </a:pPr>
            <a:endParaRPr lang="en-US" dirty="0">
              <a:cs typeface="Calibri"/>
            </a:endParaRPr>
          </a:p>
          <a:p>
            <a:pPr>
              <a:buSzPts val="1400"/>
            </a:pPr>
            <a:endParaRPr lang="en-US" dirty="0"/>
          </a:p>
          <a:p>
            <a:pPr>
              <a:buSzPts val="1400"/>
            </a:pPr>
            <a:endParaRPr lang="en-US" dirty="0">
              <a:cs typeface="Calibri"/>
            </a:endParaRPr>
          </a:p>
        </p:txBody>
      </p:sp>
      <p:sp>
        <p:nvSpPr>
          <p:cNvPr id="106" name="Google Shape;106;g13aeb6740f1_0_7:notes"/>
          <p:cNvSpPr txBox="1">
            <a:spLocks noGrp="1"/>
          </p:cNvSpPr>
          <p:nvPr>
            <p:ph type="sldNum" idx="12"/>
          </p:nvPr>
        </p:nvSpPr>
        <p:spPr>
          <a:xfrm>
            <a:off x="3936768" y="8772668"/>
            <a:ext cx="3011699" cy="463319"/>
          </a:xfrm>
          <a:prstGeom prst="rect">
            <a:avLst/>
          </a:prstGeom>
          <a:noFill/>
          <a:ln>
            <a:noFill/>
          </a:ln>
        </p:spPr>
        <p:txBody>
          <a:bodyPr spcFirstLastPara="1" wrap="square" lIns="92476" tIns="46226" rIns="92476" bIns="46226" anchor="b" anchorCtr="0">
            <a:noAutofit/>
          </a:bodyPr>
          <a:lstStyle/>
          <a:p>
            <a:pPr>
              <a:buClr>
                <a:srgbClr val="000000"/>
              </a:buClr>
              <a:buSzPts val="1200"/>
            </a:pPr>
            <a:fld id="{00000000-1234-1234-1234-123412341234}" type="slidenum">
              <a:rPr lang="en-US"/>
              <a:pPr>
                <a:buClr>
                  <a:srgbClr val="000000"/>
                </a:buClr>
                <a:buSzPts val="1200"/>
              </a:pPr>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MTI partners include the University of Minnesota's Institute on Community Integration, the University of Massachusetts Boston's Institute for Community Inclusion, and Strengths at Work, LLC for the technical assistance and statewide training, and Quillo and the Arc Minnesota for peer mentoring.</a:t>
            </a:r>
            <a:endParaRPr lang="en-US" dirty="0">
              <a:ea typeface="Calibri"/>
              <a:cs typeface="Calibri"/>
            </a:endParaRPr>
          </a:p>
          <a:p>
            <a:endParaRPr lang="en-US" dirty="0">
              <a:ea typeface="Calibri"/>
              <a:cs typeface="Calibri"/>
            </a:endParaRPr>
          </a:p>
        </p:txBody>
      </p:sp>
      <p:sp>
        <p:nvSpPr>
          <p:cNvPr id="4" name="Slide Number Placeholder 3"/>
          <p:cNvSpPr>
            <a:spLocks noGrp="1"/>
          </p:cNvSpPr>
          <p:nvPr>
            <p:ph type="sldNum" sz="quarter" idx="5"/>
          </p:nvPr>
        </p:nvSpPr>
        <p:spPr/>
        <p:txBody>
          <a:bodyPr/>
          <a:lstStyle/>
          <a:p>
            <a:fld id="{FA9F22E3-C921-4AFD-8EEB-693BB09FFB7E}" type="slidenum">
              <a:rPr lang="en-US"/>
              <a:t>5</a:t>
            </a:fld>
            <a:endParaRPr lang="en-US"/>
          </a:p>
        </p:txBody>
      </p:sp>
    </p:spTree>
    <p:extLst>
      <p:ext uri="{BB962C8B-B14F-4D97-AF65-F5344CB8AC3E}">
        <p14:creationId xmlns:p14="http://schemas.microsoft.com/office/powerpoint/2010/main" val="396194472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did we get here?</a:t>
            </a:r>
          </a:p>
        </p:txBody>
      </p:sp>
      <p:sp>
        <p:nvSpPr>
          <p:cNvPr id="4" name="Slide Number Placeholder 3"/>
          <p:cNvSpPr>
            <a:spLocks noGrp="1"/>
          </p:cNvSpPr>
          <p:nvPr>
            <p:ph type="sldNum" sz="quarter" idx="5"/>
          </p:nvPr>
        </p:nvSpPr>
        <p:spPr/>
        <p:txBody>
          <a:bodyPr/>
          <a:lstStyle/>
          <a:p>
            <a:fld id="{FF7C0A9C-8EB1-2944-91B3-96D63BF1E2CF}" type="slidenum">
              <a:rPr lang="en-US" smtClean="0"/>
              <a:t>6</a:t>
            </a:fld>
            <a:endParaRPr lang="en-US"/>
          </a:p>
        </p:txBody>
      </p:sp>
    </p:spTree>
    <p:extLst>
      <p:ext uri="{BB962C8B-B14F-4D97-AF65-F5344CB8AC3E}">
        <p14:creationId xmlns:p14="http://schemas.microsoft.com/office/powerpoint/2010/main" val="317600250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U.S. has had an Employment First policy since 2012.</a:t>
            </a:r>
          </a:p>
          <a:p>
            <a:endParaRPr lang="en-US" dirty="0"/>
          </a:p>
          <a:p>
            <a:pPr marL="0" indent="0">
              <a:buFont typeface="Arial" panose="020B0604020202020204" pitchFamily="34" charset="0"/>
              <a:buNone/>
            </a:pPr>
            <a:r>
              <a:rPr lang="en-US" dirty="0"/>
              <a:t>ODEP – established in 2001, this is the only non-regulatory federal agency. The mission is to develop and influence policies and practices that increase the number and quality of employment opportunities for people with disabilities.</a:t>
            </a:r>
          </a:p>
        </p:txBody>
      </p:sp>
      <p:sp>
        <p:nvSpPr>
          <p:cNvPr id="4" name="Slide Number Placeholder 3"/>
          <p:cNvSpPr>
            <a:spLocks noGrp="1"/>
          </p:cNvSpPr>
          <p:nvPr>
            <p:ph type="sldNum" sz="quarter" idx="5"/>
          </p:nvPr>
        </p:nvSpPr>
        <p:spPr/>
        <p:txBody>
          <a:bodyPr/>
          <a:lstStyle/>
          <a:p>
            <a:fld id="{63B659C8-9A3A-4BD7-B325-6A1DF5840E67}" type="slidenum">
              <a:rPr lang="en-US" smtClean="0"/>
              <a:t>7</a:t>
            </a:fld>
            <a:endParaRPr lang="en-US"/>
          </a:p>
        </p:txBody>
      </p:sp>
    </p:spTree>
    <p:extLst>
      <p:ext uri="{BB962C8B-B14F-4D97-AF65-F5344CB8AC3E}">
        <p14:creationId xmlns:p14="http://schemas.microsoft.com/office/powerpoint/2010/main" val="222457703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79FABE7-91DA-424B-ACE2-F1E00315680D}" type="slidenum">
              <a:rPr lang="en-US" smtClean="0"/>
              <a:t>8</a:t>
            </a:fld>
            <a:endParaRPr lang="en-US"/>
          </a:p>
        </p:txBody>
      </p:sp>
    </p:spTree>
    <p:extLst>
      <p:ext uri="{BB962C8B-B14F-4D97-AF65-F5344CB8AC3E}">
        <p14:creationId xmlns:p14="http://schemas.microsoft.com/office/powerpoint/2010/main" val="79852381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defRPr/>
            </a:pPr>
            <a:endParaRPr lang="en-US" dirty="0">
              <a:cs typeface="Calibri"/>
            </a:endParaRPr>
          </a:p>
        </p:txBody>
      </p:sp>
      <p:sp>
        <p:nvSpPr>
          <p:cNvPr id="4" name="Slide Number Placeholder 3"/>
          <p:cNvSpPr>
            <a:spLocks noGrp="1"/>
          </p:cNvSpPr>
          <p:nvPr>
            <p:ph type="sldNum" sz="quarter" idx="5"/>
          </p:nvPr>
        </p:nvSpPr>
        <p:spPr/>
        <p:txBody>
          <a:bodyPr/>
          <a:lstStyle/>
          <a:p>
            <a:fld id="{61E78B0C-5300-7A44-AA13-8B2C0E818EC7}" type="slidenum">
              <a:rPr lang="en-US" smtClean="0"/>
              <a:t>9</a:t>
            </a:fld>
            <a:endParaRPr lang="en-US"/>
          </a:p>
        </p:txBody>
      </p:sp>
    </p:spTree>
    <p:extLst>
      <p:ext uri="{BB962C8B-B14F-4D97-AF65-F5344CB8AC3E}">
        <p14:creationId xmlns:p14="http://schemas.microsoft.com/office/powerpoint/2010/main" val="175501055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EA6C58-30C2-08DD-DC13-EAA60315C00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89F1464-2C8E-3614-EB64-936CA4C3385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F5FE760-86DB-6F02-748A-DA36098D39CE}"/>
              </a:ext>
            </a:extLst>
          </p:cNvPr>
          <p:cNvSpPr>
            <a:spLocks noGrp="1"/>
          </p:cNvSpPr>
          <p:nvPr>
            <p:ph type="body" idx="1"/>
          </p:nvPr>
        </p:nvSpPr>
        <p:spPr/>
        <p:txBody>
          <a:bodyPr/>
          <a:lstStyle/>
          <a:p>
            <a:pPr>
              <a:defRPr/>
            </a:pPr>
            <a:endParaRPr lang="en-US" dirty="0">
              <a:cs typeface="Calibri"/>
            </a:endParaRPr>
          </a:p>
        </p:txBody>
      </p:sp>
      <p:sp>
        <p:nvSpPr>
          <p:cNvPr id="4" name="Slide Number Placeholder 3">
            <a:extLst>
              <a:ext uri="{FF2B5EF4-FFF2-40B4-BE49-F238E27FC236}">
                <a16:creationId xmlns:a16="http://schemas.microsoft.com/office/drawing/2014/main" id="{EEEA7493-1F66-258E-4063-7FBA2231B346}"/>
              </a:ext>
            </a:extLst>
          </p:cNvPr>
          <p:cNvSpPr>
            <a:spLocks noGrp="1"/>
          </p:cNvSpPr>
          <p:nvPr>
            <p:ph type="sldNum" sz="quarter" idx="5"/>
          </p:nvPr>
        </p:nvSpPr>
        <p:spPr/>
        <p:txBody>
          <a:bodyPr/>
          <a:lstStyle/>
          <a:p>
            <a:fld id="{61E78B0C-5300-7A44-AA13-8B2C0E818EC7}" type="slidenum">
              <a:rPr lang="en-US" smtClean="0"/>
              <a:t>10</a:t>
            </a:fld>
            <a:endParaRPr lang="en-US"/>
          </a:p>
        </p:txBody>
      </p:sp>
    </p:spTree>
    <p:extLst>
      <p:ext uri="{BB962C8B-B14F-4D97-AF65-F5344CB8AC3E}">
        <p14:creationId xmlns:p14="http://schemas.microsoft.com/office/powerpoint/2010/main" val="193436367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93AB77-9C99-423D-CC90-B52FBD3D8B2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C8AEBAA-9B62-7856-B385-8AD949B28A0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431CFC4-CF1D-69A3-BB98-E9090436B4B4}"/>
              </a:ext>
            </a:extLst>
          </p:cNvPr>
          <p:cNvSpPr>
            <a:spLocks noGrp="1"/>
          </p:cNvSpPr>
          <p:nvPr>
            <p:ph type="body" idx="1"/>
          </p:nvPr>
        </p:nvSpPr>
        <p:spPr/>
        <p:txBody>
          <a:bodyPr/>
          <a:lstStyle/>
          <a:p>
            <a:pPr marL="0" indent="0">
              <a:buFont typeface="Arial" panose="020B0604020202020204" pitchFamily="34" charset="0"/>
              <a:buNone/>
              <a:defRPr/>
            </a:pPr>
            <a:r>
              <a:rPr lang="en-US" dirty="0">
                <a:latin typeface="Calibri"/>
                <a:ea typeface="Calibri"/>
                <a:cs typeface="Calibri"/>
              </a:rPr>
              <a:t>There are different types of employment:</a:t>
            </a:r>
          </a:p>
          <a:p>
            <a:pPr marL="171450" indent="-171450">
              <a:buFont typeface="Arial" panose="020B0604020202020204" pitchFamily="34" charset="0"/>
              <a:buChar char="•"/>
              <a:defRPr/>
            </a:pPr>
            <a:r>
              <a:rPr lang="en-US" dirty="0">
                <a:latin typeface="Calibri"/>
                <a:ea typeface="Calibri"/>
                <a:cs typeface="Calibri"/>
              </a:rPr>
              <a:t>Sheltered workshops refer to an organization that employs people with disabilities and hold a 14c Special Wage certificate allowing employees to earn less than the minimum wage. In this situation individuals are on the payroll of the service provider which holds contracts with businesses. This work is done in a building owned by the service provider and the work is brought in.</a:t>
            </a:r>
          </a:p>
          <a:p>
            <a:pPr marL="171450" indent="-171450">
              <a:buFont typeface="Arial" panose="020B0604020202020204" pitchFamily="34" charset="0"/>
              <a:buChar char="•"/>
              <a:defRPr/>
            </a:pPr>
            <a:r>
              <a:rPr lang="en-US" dirty="0">
                <a:latin typeface="Calibri"/>
                <a:ea typeface="Calibri"/>
                <a:cs typeface="Calibri"/>
              </a:rPr>
              <a:t>Group/enclave is when people with disabilities are working together in a group with a paid support staff present and perform work at a business. The group typically has little to no interaction with employees of the business and people without disabilities. In this situation the group is on the payroll of the service provider which has a contract with the business. In this situation people may earn subminimum wages. </a:t>
            </a:r>
          </a:p>
          <a:p>
            <a:pPr marL="171450" indent="-171450">
              <a:buFont typeface="Arial" panose="020B0604020202020204" pitchFamily="34" charset="0"/>
              <a:buChar char="•"/>
              <a:defRPr/>
            </a:pPr>
            <a:r>
              <a:rPr lang="en-US" dirty="0">
                <a:latin typeface="Calibri"/>
                <a:ea typeface="Calibri"/>
                <a:cs typeface="Calibri"/>
              </a:rPr>
              <a:t>Contract work is any work a person with a disability is performing for a business where they are on the payroll of the service provider. In many cases people are earning minimum wage, sometimes higher. The person’s wage is negotiating by the service provider. The person is working an individual job.</a:t>
            </a:r>
          </a:p>
          <a:p>
            <a:pPr marL="0" indent="0">
              <a:buFont typeface="Arial"/>
              <a:buNone/>
              <a:defRPr/>
            </a:pPr>
            <a:endParaRPr lang="en-US" dirty="0">
              <a:latin typeface="Calibri"/>
              <a:ea typeface="Calibri"/>
              <a:cs typeface="Calibri"/>
            </a:endParaRPr>
          </a:p>
        </p:txBody>
      </p:sp>
      <p:sp>
        <p:nvSpPr>
          <p:cNvPr id="4" name="Slide Number Placeholder 3">
            <a:extLst>
              <a:ext uri="{FF2B5EF4-FFF2-40B4-BE49-F238E27FC236}">
                <a16:creationId xmlns:a16="http://schemas.microsoft.com/office/drawing/2014/main" id="{883F4DF4-4E78-DA8B-2BAE-983FF66AD1D1}"/>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A66B766-5C45-4899-B719-22BA409C4ED8}"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5541862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 typeface="Arial" panose="020B0604020202020204" pitchFamily="34" charset="0"/>
              <a:buNone/>
              <a:defRPr/>
            </a:pPr>
            <a:r>
              <a:rPr lang="en-US" dirty="0">
                <a:latin typeface="Calibri"/>
                <a:ea typeface="Calibri"/>
                <a:cs typeface="Calibri"/>
              </a:rPr>
              <a:t>Competitive integrated employment is the gold standard</a:t>
            </a:r>
          </a:p>
          <a:p>
            <a:pPr marL="171450" indent="-171450">
              <a:buFont typeface="Arial"/>
              <a:buChar char="•"/>
              <a:defRPr/>
            </a:pPr>
            <a:endParaRPr lang="en-US" dirty="0">
              <a:latin typeface="Calibri"/>
              <a:ea typeface="Calibri"/>
              <a:cs typeface="Calibri"/>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A66B766-5C45-4899-B719-22BA409C4ED8}"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1712726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A9F22E3-C921-4AFD-8EEB-693BB09FFB7E}" type="slidenum">
              <a:rPr kumimoji="0" lang="en-US" sz="12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14</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06938375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0B1399-3EBA-7870-D3D6-A2C64F49170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917AB470-C42A-B13C-F46E-30D309FE783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ADBB6D7B-49CD-2FA8-7E2C-9657ADA5C257}"/>
              </a:ext>
            </a:extLst>
          </p:cNvPr>
          <p:cNvSpPr>
            <a:spLocks noGrp="1"/>
          </p:cNvSpPr>
          <p:nvPr>
            <p:ph type="dt" sz="half" idx="10"/>
          </p:nvPr>
        </p:nvSpPr>
        <p:spPr/>
        <p:txBody>
          <a:bodyPr/>
          <a:lstStyle/>
          <a:p>
            <a:fld id="{B4B366C0-E982-45C6-9CD1-88B77839B90D}" type="datetimeFigureOut">
              <a:rPr lang="en-US" smtClean="0"/>
              <a:t>2/25/2025</a:t>
            </a:fld>
            <a:endParaRPr lang="en-US"/>
          </a:p>
        </p:txBody>
      </p:sp>
      <p:sp>
        <p:nvSpPr>
          <p:cNvPr id="5" name="Footer Placeholder 4">
            <a:extLst>
              <a:ext uri="{FF2B5EF4-FFF2-40B4-BE49-F238E27FC236}">
                <a16:creationId xmlns:a16="http://schemas.microsoft.com/office/drawing/2014/main" id="{2FBCF2A8-CC1E-46DB-213E-41491137C7A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8790F5D-107B-7F7E-47B6-7DB2867319B2}"/>
              </a:ext>
            </a:extLst>
          </p:cNvPr>
          <p:cNvSpPr>
            <a:spLocks noGrp="1"/>
          </p:cNvSpPr>
          <p:nvPr>
            <p:ph type="sldNum" sz="quarter" idx="12"/>
          </p:nvPr>
        </p:nvSpPr>
        <p:spPr/>
        <p:txBody>
          <a:bodyPr/>
          <a:lstStyle/>
          <a:p>
            <a:fld id="{C931C002-315E-4D7A-9A09-608D4652274D}" type="slidenum">
              <a:rPr lang="en-US" smtClean="0"/>
              <a:t>‹#›</a:t>
            </a:fld>
            <a:endParaRPr lang="en-US"/>
          </a:p>
        </p:txBody>
      </p:sp>
    </p:spTree>
    <p:extLst>
      <p:ext uri="{BB962C8B-B14F-4D97-AF65-F5344CB8AC3E}">
        <p14:creationId xmlns:p14="http://schemas.microsoft.com/office/powerpoint/2010/main" val="321307781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BF3B0A-D88F-E1AD-DF69-4ADD87FD381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23F0F9A-3F98-3B7B-5E38-4318F8544B4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B4799A5-B957-EF6C-CDEC-BE05A6FE65CF}"/>
              </a:ext>
            </a:extLst>
          </p:cNvPr>
          <p:cNvSpPr>
            <a:spLocks noGrp="1"/>
          </p:cNvSpPr>
          <p:nvPr>
            <p:ph type="dt" sz="half" idx="10"/>
          </p:nvPr>
        </p:nvSpPr>
        <p:spPr/>
        <p:txBody>
          <a:bodyPr/>
          <a:lstStyle/>
          <a:p>
            <a:fld id="{B4B366C0-E982-45C6-9CD1-88B77839B90D}" type="datetimeFigureOut">
              <a:rPr lang="en-US" smtClean="0"/>
              <a:t>2/25/2025</a:t>
            </a:fld>
            <a:endParaRPr lang="en-US"/>
          </a:p>
        </p:txBody>
      </p:sp>
      <p:sp>
        <p:nvSpPr>
          <p:cNvPr id="5" name="Footer Placeholder 4">
            <a:extLst>
              <a:ext uri="{FF2B5EF4-FFF2-40B4-BE49-F238E27FC236}">
                <a16:creationId xmlns:a16="http://schemas.microsoft.com/office/drawing/2014/main" id="{BD05AEDC-F9CB-095B-D2CA-2A2DE0A599E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630661C-BFFD-49C2-CEA7-0341845220FF}"/>
              </a:ext>
            </a:extLst>
          </p:cNvPr>
          <p:cNvSpPr>
            <a:spLocks noGrp="1"/>
          </p:cNvSpPr>
          <p:nvPr>
            <p:ph type="sldNum" sz="quarter" idx="12"/>
          </p:nvPr>
        </p:nvSpPr>
        <p:spPr/>
        <p:txBody>
          <a:bodyPr/>
          <a:lstStyle/>
          <a:p>
            <a:fld id="{C931C002-315E-4D7A-9A09-608D4652274D}" type="slidenum">
              <a:rPr lang="en-US" smtClean="0"/>
              <a:t>‹#›</a:t>
            </a:fld>
            <a:endParaRPr lang="en-US"/>
          </a:p>
        </p:txBody>
      </p:sp>
    </p:spTree>
    <p:extLst>
      <p:ext uri="{BB962C8B-B14F-4D97-AF65-F5344CB8AC3E}">
        <p14:creationId xmlns:p14="http://schemas.microsoft.com/office/powerpoint/2010/main" val="63221937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BD9B0B-B647-B7DE-8C76-FBFA22EDA5D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544F7F61-EDD5-6DB4-5DDF-444157E17494}"/>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EA8986D-E860-3F2A-E940-806CF68C1408}"/>
              </a:ext>
            </a:extLst>
          </p:cNvPr>
          <p:cNvSpPr>
            <a:spLocks noGrp="1"/>
          </p:cNvSpPr>
          <p:nvPr>
            <p:ph type="dt" sz="half" idx="10"/>
          </p:nvPr>
        </p:nvSpPr>
        <p:spPr/>
        <p:txBody>
          <a:bodyPr/>
          <a:lstStyle/>
          <a:p>
            <a:fld id="{B4B366C0-E982-45C6-9CD1-88B77839B90D}" type="datetimeFigureOut">
              <a:rPr lang="en-US" smtClean="0"/>
              <a:t>2/25/2025</a:t>
            </a:fld>
            <a:endParaRPr lang="en-US"/>
          </a:p>
        </p:txBody>
      </p:sp>
      <p:sp>
        <p:nvSpPr>
          <p:cNvPr id="5" name="Footer Placeholder 4">
            <a:extLst>
              <a:ext uri="{FF2B5EF4-FFF2-40B4-BE49-F238E27FC236}">
                <a16:creationId xmlns:a16="http://schemas.microsoft.com/office/drawing/2014/main" id="{E4D92E60-0D19-5B11-E2BF-D9FE402D1AE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A68FEA7-00C1-44E3-BE4D-5983061075D1}"/>
              </a:ext>
            </a:extLst>
          </p:cNvPr>
          <p:cNvSpPr>
            <a:spLocks noGrp="1"/>
          </p:cNvSpPr>
          <p:nvPr>
            <p:ph type="sldNum" sz="quarter" idx="12"/>
          </p:nvPr>
        </p:nvSpPr>
        <p:spPr/>
        <p:txBody>
          <a:bodyPr/>
          <a:lstStyle/>
          <a:p>
            <a:fld id="{C931C002-315E-4D7A-9A09-608D4652274D}" type="slidenum">
              <a:rPr lang="en-US" smtClean="0"/>
              <a:t>‹#›</a:t>
            </a:fld>
            <a:endParaRPr lang="en-US"/>
          </a:p>
        </p:txBody>
      </p:sp>
    </p:spTree>
    <p:extLst>
      <p:ext uri="{BB962C8B-B14F-4D97-AF65-F5344CB8AC3E}">
        <p14:creationId xmlns:p14="http://schemas.microsoft.com/office/powerpoint/2010/main" val="25019826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0B45A8-685C-1C94-6F85-D79DE0114AE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0592F7A-CA16-7830-12B7-0C6C17BBE81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B34A13CF-23F3-217D-24CC-2760CF6973D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532351AE-E190-6DDC-F9A5-B356677BECAA}"/>
              </a:ext>
            </a:extLst>
          </p:cNvPr>
          <p:cNvSpPr>
            <a:spLocks noGrp="1"/>
          </p:cNvSpPr>
          <p:nvPr>
            <p:ph type="dt" sz="half" idx="10"/>
          </p:nvPr>
        </p:nvSpPr>
        <p:spPr/>
        <p:txBody>
          <a:bodyPr/>
          <a:lstStyle/>
          <a:p>
            <a:fld id="{B4B366C0-E982-45C6-9CD1-88B77839B90D}" type="datetimeFigureOut">
              <a:rPr lang="en-US" smtClean="0"/>
              <a:t>2/25/2025</a:t>
            </a:fld>
            <a:endParaRPr lang="en-US"/>
          </a:p>
        </p:txBody>
      </p:sp>
      <p:sp>
        <p:nvSpPr>
          <p:cNvPr id="6" name="Footer Placeholder 5">
            <a:extLst>
              <a:ext uri="{FF2B5EF4-FFF2-40B4-BE49-F238E27FC236}">
                <a16:creationId xmlns:a16="http://schemas.microsoft.com/office/drawing/2014/main" id="{55394633-5342-FEBF-503B-1E20F377929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6930C9D-8D4F-7DB1-D399-F9230FD0623C}"/>
              </a:ext>
            </a:extLst>
          </p:cNvPr>
          <p:cNvSpPr>
            <a:spLocks noGrp="1"/>
          </p:cNvSpPr>
          <p:nvPr>
            <p:ph type="sldNum" sz="quarter" idx="12"/>
          </p:nvPr>
        </p:nvSpPr>
        <p:spPr/>
        <p:txBody>
          <a:bodyPr/>
          <a:lstStyle/>
          <a:p>
            <a:fld id="{C931C002-315E-4D7A-9A09-608D4652274D}" type="slidenum">
              <a:rPr lang="en-US" smtClean="0"/>
              <a:t>‹#›</a:t>
            </a:fld>
            <a:endParaRPr lang="en-US"/>
          </a:p>
        </p:txBody>
      </p:sp>
    </p:spTree>
    <p:extLst>
      <p:ext uri="{BB962C8B-B14F-4D97-AF65-F5344CB8AC3E}">
        <p14:creationId xmlns:p14="http://schemas.microsoft.com/office/powerpoint/2010/main" val="424951387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2B4B51-A2A9-33D3-C9D2-A2429BA8F248}"/>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EAB8FBEA-6C10-BEBE-CF56-EE9019F2662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DE35EF6-1991-F7A5-936E-B5FC25FBCB1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C406F150-2D0F-F6E9-CA38-29B515CA11F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11C9A05-964E-0C6C-91B5-0E8CC834349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DC1B7EA7-02F6-82DC-B850-0E44F64E5062}"/>
              </a:ext>
            </a:extLst>
          </p:cNvPr>
          <p:cNvSpPr>
            <a:spLocks noGrp="1"/>
          </p:cNvSpPr>
          <p:nvPr>
            <p:ph type="dt" sz="half" idx="10"/>
          </p:nvPr>
        </p:nvSpPr>
        <p:spPr/>
        <p:txBody>
          <a:bodyPr/>
          <a:lstStyle/>
          <a:p>
            <a:fld id="{B4B366C0-E982-45C6-9CD1-88B77839B90D}" type="datetimeFigureOut">
              <a:rPr lang="en-US" smtClean="0"/>
              <a:t>2/25/2025</a:t>
            </a:fld>
            <a:endParaRPr lang="en-US"/>
          </a:p>
        </p:txBody>
      </p:sp>
      <p:sp>
        <p:nvSpPr>
          <p:cNvPr id="8" name="Footer Placeholder 7">
            <a:extLst>
              <a:ext uri="{FF2B5EF4-FFF2-40B4-BE49-F238E27FC236}">
                <a16:creationId xmlns:a16="http://schemas.microsoft.com/office/drawing/2014/main" id="{2558F418-B2D5-D1F9-44A0-56F6547F5413}"/>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86F73EF6-B93D-DD2E-8549-3B0B635D89AB}"/>
              </a:ext>
            </a:extLst>
          </p:cNvPr>
          <p:cNvSpPr>
            <a:spLocks noGrp="1"/>
          </p:cNvSpPr>
          <p:nvPr>
            <p:ph type="sldNum" sz="quarter" idx="12"/>
          </p:nvPr>
        </p:nvSpPr>
        <p:spPr/>
        <p:txBody>
          <a:bodyPr/>
          <a:lstStyle/>
          <a:p>
            <a:fld id="{C931C002-315E-4D7A-9A09-608D4652274D}" type="slidenum">
              <a:rPr lang="en-US" smtClean="0"/>
              <a:t>‹#›</a:t>
            </a:fld>
            <a:endParaRPr lang="en-US"/>
          </a:p>
        </p:txBody>
      </p:sp>
    </p:spTree>
    <p:extLst>
      <p:ext uri="{BB962C8B-B14F-4D97-AF65-F5344CB8AC3E}">
        <p14:creationId xmlns:p14="http://schemas.microsoft.com/office/powerpoint/2010/main" val="24620210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CB43A5-2902-C072-17B2-AC4083883BF8}"/>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8894B185-23FA-0312-8298-BB4A15C7B7CC}"/>
              </a:ext>
            </a:extLst>
          </p:cNvPr>
          <p:cNvSpPr>
            <a:spLocks noGrp="1"/>
          </p:cNvSpPr>
          <p:nvPr>
            <p:ph type="dt" sz="half" idx="10"/>
          </p:nvPr>
        </p:nvSpPr>
        <p:spPr/>
        <p:txBody>
          <a:bodyPr/>
          <a:lstStyle/>
          <a:p>
            <a:fld id="{B4B366C0-E982-45C6-9CD1-88B77839B90D}" type="datetimeFigureOut">
              <a:rPr lang="en-US" smtClean="0"/>
              <a:t>2/25/2025</a:t>
            </a:fld>
            <a:endParaRPr lang="en-US"/>
          </a:p>
        </p:txBody>
      </p:sp>
      <p:sp>
        <p:nvSpPr>
          <p:cNvPr id="4" name="Footer Placeholder 3">
            <a:extLst>
              <a:ext uri="{FF2B5EF4-FFF2-40B4-BE49-F238E27FC236}">
                <a16:creationId xmlns:a16="http://schemas.microsoft.com/office/drawing/2014/main" id="{701FAE07-2932-A648-76E8-3E22DED3072F}"/>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7C28A42C-FDB7-6AC5-51B6-06675804E42E}"/>
              </a:ext>
            </a:extLst>
          </p:cNvPr>
          <p:cNvSpPr>
            <a:spLocks noGrp="1"/>
          </p:cNvSpPr>
          <p:nvPr>
            <p:ph type="sldNum" sz="quarter" idx="12"/>
          </p:nvPr>
        </p:nvSpPr>
        <p:spPr/>
        <p:txBody>
          <a:bodyPr/>
          <a:lstStyle/>
          <a:p>
            <a:fld id="{C931C002-315E-4D7A-9A09-608D4652274D}" type="slidenum">
              <a:rPr lang="en-US" smtClean="0"/>
              <a:t>‹#›</a:t>
            </a:fld>
            <a:endParaRPr lang="en-US"/>
          </a:p>
        </p:txBody>
      </p:sp>
    </p:spTree>
    <p:extLst>
      <p:ext uri="{BB962C8B-B14F-4D97-AF65-F5344CB8AC3E}">
        <p14:creationId xmlns:p14="http://schemas.microsoft.com/office/powerpoint/2010/main" val="5928529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13D2265-27F4-CE58-640B-8995175D7768}"/>
              </a:ext>
            </a:extLst>
          </p:cNvPr>
          <p:cNvSpPr>
            <a:spLocks noGrp="1"/>
          </p:cNvSpPr>
          <p:nvPr>
            <p:ph type="dt" sz="half" idx="10"/>
          </p:nvPr>
        </p:nvSpPr>
        <p:spPr/>
        <p:txBody>
          <a:bodyPr/>
          <a:lstStyle/>
          <a:p>
            <a:fld id="{B4B366C0-E982-45C6-9CD1-88B77839B90D}" type="datetimeFigureOut">
              <a:rPr lang="en-US" smtClean="0"/>
              <a:t>2/25/2025</a:t>
            </a:fld>
            <a:endParaRPr lang="en-US"/>
          </a:p>
        </p:txBody>
      </p:sp>
      <p:sp>
        <p:nvSpPr>
          <p:cNvPr id="3" name="Footer Placeholder 2">
            <a:extLst>
              <a:ext uri="{FF2B5EF4-FFF2-40B4-BE49-F238E27FC236}">
                <a16:creationId xmlns:a16="http://schemas.microsoft.com/office/drawing/2014/main" id="{2309A753-01EB-98E1-015D-76877A92D1CE}"/>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F3C971F7-37E2-8478-4118-22E67F6FF2D1}"/>
              </a:ext>
            </a:extLst>
          </p:cNvPr>
          <p:cNvSpPr>
            <a:spLocks noGrp="1"/>
          </p:cNvSpPr>
          <p:nvPr>
            <p:ph type="sldNum" sz="quarter" idx="12"/>
          </p:nvPr>
        </p:nvSpPr>
        <p:spPr/>
        <p:txBody>
          <a:bodyPr/>
          <a:lstStyle/>
          <a:p>
            <a:fld id="{C931C002-315E-4D7A-9A09-608D4652274D}" type="slidenum">
              <a:rPr lang="en-US" smtClean="0"/>
              <a:t>‹#›</a:t>
            </a:fld>
            <a:endParaRPr lang="en-US"/>
          </a:p>
        </p:txBody>
      </p:sp>
    </p:spTree>
    <p:extLst>
      <p:ext uri="{BB962C8B-B14F-4D97-AF65-F5344CB8AC3E}">
        <p14:creationId xmlns:p14="http://schemas.microsoft.com/office/powerpoint/2010/main" val="63076597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E4476C-BEC6-1A72-B198-C6724100147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18B6A759-791B-D3D9-4A1A-BAFBB1A1EEA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0BB5E2F2-DC7D-41BC-D04A-0736086969D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D698DBF-5AA1-30FE-D4E0-BC430794534B}"/>
              </a:ext>
            </a:extLst>
          </p:cNvPr>
          <p:cNvSpPr>
            <a:spLocks noGrp="1"/>
          </p:cNvSpPr>
          <p:nvPr>
            <p:ph type="dt" sz="half" idx="10"/>
          </p:nvPr>
        </p:nvSpPr>
        <p:spPr/>
        <p:txBody>
          <a:bodyPr/>
          <a:lstStyle/>
          <a:p>
            <a:fld id="{B4B366C0-E982-45C6-9CD1-88B77839B90D}" type="datetimeFigureOut">
              <a:rPr lang="en-US" smtClean="0"/>
              <a:t>2/25/2025</a:t>
            </a:fld>
            <a:endParaRPr lang="en-US"/>
          </a:p>
        </p:txBody>
      </p:sp>
      <p:sp>
        <p:nvSpPr>
          <p:cNvPr id="6" name="Footer Placeholder 5">
            <a:extLst>
              <a:ext uri="{FF2B5EF4-FFF2-40B4-BE49-F238E27FC236}">
                <a16:creationId xmlns:a16="http://schemas.microsoft.com/office/drawing/2014/main" id="{9E4E4296-DBFF-7200-B544-DB1B0AAE58F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90DF750-57C9-8332-42D7-BF402023E2AB}"/>
              </a:ext>
            </a:extLst>
          </p:cNvPr>
          <p:cNvSpPr>
            <a:spLocks noGrp="1"/>
          </p:cNvSpPr>
          <p:nvPr>
            <p:ph type="sldNum" sz="quarter" idx="12"/>
          </p:nvPr>
        </p:nvSpPr>
        <p:spPr/>
        <p:txBody>
          <a:bodyPr/>
          <a:lstStyle/>
          <a:p>
            <a:fld id="{C931C002-315E-4D7A-9A09-608D4652274D}" type="slidenum">
              <a:rPr lang="en-US" smtClean="0"/>
              <a:t>‹#›</a:t>
            </a:fld>
            <a:endParaRPr lang="en-US"/>
          </a:p>
        </p:txBody>
      </p:sp>
    </p:spTree>
    <p:extLst>
      <p:ext uri="{BB962C8B-B14F-4D97-AF65-F5344CB8AC3E}">
        <p14:creationId xmlns:p14="http://schemas.microsoft.com/office/powerpoint/2010/main" val="193629530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EB2800-D50E-18C7-4FF1-DDCBE53F9A3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91BBE160-3E51-8A31-A8EF-0C62C41B1B4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54420B17-EE1C-B3F4-C720-16FDB0841CA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AB40ADC-AA98-ADCF-5172-53ED442BEDC6}"/>
              </a:ext>
            </a:extLst>
          </p:cNvPr>
          <p:cNvSpPr>
            <a:spLocks noGrp="1"/>
          </p:cNvSpPr>
          <p:nvPr>
            <p:ph type="dt" sz="half" idx="10"/>
          </p:nvPr>
        </p:nvSpPr>
        <p:spPr/>
        <p:txBody>
          <a:bodyPr/>
          <a:lstStyle/>
          <a:p>
            <a:fld id="{B4B366C0-E982-45C6-9CD1-88B77839B90D}" type="datetimeFigureOut">
              <a:rPr lang="en-US" smtClean="0"/>
              <a:t>2/25/2025</a:t>
            </a:fld>
            <a:endParaRPr lang="en-US"/>
          </a:p>
        </p:txBody>
      </p:sp>
      <p:sp>
        <p:nvSpPr>
          <p:cNvPr id="6" name="Footer Placeholder 5">
            <a:extLst>
              <a:ext uri="{FF2B5EF4-FFF2-40B4-BE49-F238E27FC236}">
                <a16:creationId xmlns:a16="http://schemas.microsoft.com/office/drawing/2014/main" id="{893EDAB9-CCA3-D0AD-F2A5-0DCD7ABB798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079405D-363B-6911-414C-915BD9B2192E}"/>
              </a:ext>
            </a:extLst>
          </p:cNvPr>
          <p:cNvSpPr>
            <a:spLocks noGrp="1"/>
          </p:cNvSpPr>
          <p:nvPr>
            <p:ph type="sldNum" sz="quarter" idx="12"/>
          </p:nvPr>
        </p:nvSpPr>
        <p:spPr/>
        <p:txBody>
          <a:bodyPr/>
          <a:lstStyle/>
          <a:p>
            <a:fld id="{C931C002-315E-4D7A-9A09-608D4652274D}" type="slidenum">
              <a:rPr lang="en-US" smtClean="0"/>
              <a:t>‹#›</a:t>
            </a:fld>
            <a:endParaRPr lang="en-US"/>
          </a:p>
        </p:txBody>
      </p:sp>
    </p:spTree>
    <p:extLst>
      <p:ext uri="{BB962C8B-B14F-4D97-AF65-F5344CB8AC3E}">
        <p14:creationId xmlns:p14="http://schemas.microsoft.com/office/powerpoint/2010/main" val="270858653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F6A45C-CECD-632E-AA95-ACA4A3677496}"/>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1DBE3107-A763-D1FD-CAF8-C04566AED20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980D364-9828-5D07-ACBB-21E4DE0DB1B1}"/>
              </a:ext>
            </a:extLst>
          </p:cNvPr>
          <p:cNvSpPr>
            <a:spLocks noGrp="1"/>
          </p:cNvSpPr>
          <p:nvPr>
            <p:ph type="dt" sz="half" idx="10"/>
          </p:nvPr>
        </p:nvSpPr>
        <p:spPr/>
        <p:txBody>
          <a:bodyPr/>
          <a:lstStyle/>
          <a:p>
            <a:fld id="{B4B366C0-E982-45C6-9CD1-88B77839B90D}" type="datetimeFigureOut">
              <a:rPr lang="en-US" smtClean="0"/>
              <a:t>2/25/2025</a:t>
            </a:fld>
            <a:endParaRPr lang="en-US"/>
          </a:p>
        </p:txBody>
      </p:sp>
      <p:sp>
        <p:nvSpPr>
          <p:cNvPr id="5" name="Footer Placeholder 4">
            <a:extLst>
              <a:ext uri="{FF2B5EF4-FFF2-40B4-BE49-F238E27FC236}">
                <a16:creationId xmlns:a16="http://schemas.microsoft.com/office/drawing/2014/main" id="{0E684961-7F22-32D8-A45C-02E091CFB12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551B33C-5084-D4C3-F880-373BC34B1C5F}"/>
              </a:ext>
            </a:extLst>
          </p:cNvPr>
          <p:cNvSpPr>
            <a:spLocks noGrp="1"/>
          </p:cNvSpPr>
          <p:nvPr>
            <p:ph type="sldNum" sz="quarter" idx="12"/>
          </p:nvPr>
        </p:nvSpPr>
        <p:spPr/>
        <p:txBody>
          <a:bodyPr/>
          <a:lstStyle/>
          <a:p>
            <a:fld id="{C931C002-315E-4D7A-9A09-608D4652274D}" type="slidenum">
              <a:rPr lang="en-US" smtClean="0"/>
              <a:t>‹#›</a:t>
            </a:fld>
            <a:endParaRPr lang="en-US"/>
          </a:p>
        </p:txBody>
      </p:sp>
    </p:spTree>
    <p:extLst>
      <p:ext uri="{BB962C8B-B14F-4D97-AF65-F5344CB8AC3E}">
        <p14:creationId xmlns:p14="http://schemas.microsoft.com/office/powerpoint/2010/main" val="161785108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3F59CC7-D89E-3F5E-6149-1652B73045A1}"/>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34A4116F-64CD-4AC3-0680-081A41600E44}"/>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51C34AB-89F7-483F-040B-02075999E7CF}"/>
              </a:ext>
            </a:extLst>
          </p:cNvPr>
          <p:cNvSpPr>
            <a:spLocks noGrp="1"/>
          </p:cNvSpPr>
          <p:nvPr>
            <p:ph type="dt" sz="half" idx="10"/>
          </p:nvPr>
        </p:nvSpPr>
        <p:spPr/>
        <p:txBody>
          <a:bodyPr/>
          <a:lstStyle/>
          <a:p>
            <a:fld id="{B4B366C0-E982-45C6-9CD1-88B77839B90D}" type="datetimeFigureOut">
              <a:rPr lang="en-US" smtClean="0"/>
              <a:t>2/25/2025</a:t>
            </a:fld>
            <a:endParaRPr lang="en-US"/>
          </a:p>
        </p:txBody>
      </p:sp>
      <p:sp>
        <p:nvSpPr>
          <p:cNvPr id="5" name="Footer Placeholder 4">
            <a:extLst>
              <a:ext uri="{FF2B5EF4-FFF2-40B4-BE49-F238E27FC236}">
                <a16:creationId xmlns:a16="http://schemas.microsoft.com/office/drawing/2014/main" id="{20C658A0-CDEC-DEAC-8B71-B81117B3221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63B7E53-47BD-1989-993B-164318E2F7DA}"/>
              </a:ext>
            </a:extLst>
          </p:cNvPr>
          <p:cNvSpPr>
            <a:spLocks noGrp="1"/>
          </p:cNvSpPr>
          <p:nvPr>
            <p:ph type="sldNum" sz="quarter" idx="12"/>
          </p:nvPr>
        </p:nvSpPr>
        <p:spPr/>
        <p:txBody>
          <a:bodyPr/>
          <a:lstStyle/>
          <a:p>
            <a:fld id="{C931C002-315E-4D7A-9A09-608D4652274D}" type="slidenum">
              <a:rPr lang="en-US" smtClean="0"/>
              <a:t>‹#›</a:t>
            </a:fld>
            <a:endParaRPr lang="en-US"/>
          </a:p>
        </p:txBody>
      </p:sp>
    </p:spTree>
    <p:extLst>
      <p:ext uri="{BB962C8B-B14F-4D97-AF65-F5344CB8AC3E}">
        <p14:creationId xmlns:p14="http://schemas.microsoft.com/office/powerpoint/2010/main" val="41474086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5EF1E4D-4482-D064-E863-D86CF4DD073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4B8F1B83-F5FC-866E-6873-C28ECD7D12D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8A4614F-7EDF-7D10-EC74-4244FC786C4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B4B366C0-E982-45C6-9CD1-88B77839B90D}" type="datetimeFigureOut">
              <a:rPr lang="en-US" smtClean="0"/>
              <a:t>2/25/2025</a:t>
            </a:fld>
            <a:endParaRPr lang="en-US"/>
          </a:p>
        </p:txBody>
      </p:sp>
      <p:sp>
        <p:nvSpPr>
          <p:cNvPr id="5" name="Footer Placeholder 4">
            <a:extLst>
              <a:ext uri="{FF2B5EF4-FFF2-40B4-BE49-F238E27FC236}">
                <a16:creationId xmlns:a16="http://schemas.microsoft.com/office/drawing/2014/main" id="{7266F2F3-951E-118C-650D-437051CEBFA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5F9D01FB-E93D-8038-6221-182BD695FB8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C931C002-315E-4D7A-9A09-608D4652274D}" type="slidenum">
              <a:rPr lang="en-US" smtClean="0"/>
              <a:t>‹#›</a:t>
            </a:fld>
            <a:endParaRPr lang="en-US"/>
          </a:p>
        </p:txBody>
      </p:sp>
    </p:spTree>
    <p:extLst>
      <p:ext uri="{BB962C8B-B14F-4D97-AF65-F5344CB8AC3E}">
        <p14:creationId xmlns:p14="http://schemas.microsoft.com/office/powerpoint/2010/main" val="183970149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3" Type="http://schemas.openxmlformats.org/officeDocument/2006/relationships/hyperlink" Target="mailto:begin036@umn.edu" TargetMode="External"/><Relationship Id="rId2" Type="http://schemas.openxmlformats.org/officeDocument/2006/relationships/notesSlide" Target="../notesSlides/notesSlide2.xml"/><Relationship Id="rId1" Type="http://schemas.openxmlformats.org/officeDocument/2006/relationships/slideLayout" Target="../slideLayouts/slideLayout6.xml"/><Relationship Id="rId6" Type="http://schemas.openxmlformats.org/officeDocument/2006/relationships/image" Target="../media/image3.png"/><Relationship Id="rId5" Type="http://schemas.openxmlformats.org/officeDocument/2006/relationships/hyperlink" Target="mailto:amy.gessert@umb.edu" TargetMode="External"/><Relationship Id="rId4" Type="http://schemas.openxmlformats.org/officeDocument/2006/relationships/image" Target="../media/image2.jpg"/></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notesSlide" Target="../notesSlides/notesSlide5.xml"/><Relationship Id="rId1" Type="http://schemas.openxmlformats.org/officeDocument/2006/relationships/slideLayout" Target="../slideLayouts/slideLayout6.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 Id="rId9" Type="http://schemas.openxmlformats.org/officeDocument/2006/relationships/hyperlink" Target="https://mti.ici.umn.edu/" TargetMode="Externa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hyperlink" Target="https://mn.gov/dhs/partners-and-providers/news-initiatives-reports-workgroups/long-term-services-and-supports/employment-first/" TargetMode="External"/><Relationship Id="rId7" Type="http://schemas.openxmlformats.org/officeDocument/2006/relationships/hyperlink" Target="https://www.dol.gov/agencies/odep/initiatives/employment-first" TargetMode="External"/><Relationship Id="rId2" Type="http://schemas.openxmlformats.org/officeDocument/2006/relationships/notesSlide" Target="../notesSlides/notesSlide13.xml"/><Relationship Id="rId1" Type="http://schemas.openxmlformats.org/officeDocument/2006/relationships/slideLayout" Target="../slideLayouts/slideLayout6.xml"/><Relationship Id="rId6" Type="http://schemas.openxmlformats.org/officeDocument/2006/relationships/hyperlink" Target="https://mti.ici.umn.edu/" TargetMode="External"/><Relationship Id="rId5" Type="http://schemas.openxmlformats.org/officeDocument/2006/relationships/hyperlink" Target="https://mn.gov/dhs/partners-and-providers/news-initiatives-reports-workgroups/long-term-services-and-supports/task-force-on-eliminating-subminimum-wages/" TargetMode="External"/><Relationship Id="rId4" Type="http://schemas.openxmlformats.org/officeDocument/2006/relationships/hyperlink" Target="https://mn.gov/olmstead/mn-olmstead-plan/about/"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30E8D116-4DF6-9278-1FB3-1E068CC50B6C}"/>
            </a:ext>
          </a:extLst>
        </p:cNvPr>
        <p:cNvGrpSpPr/>
        <p:nvPr/>
      </p:nvGrpSpPr>
      <p:grpSpPr>
        <a:xfrm>
          <a:off x="0" y="0"/>
          <a:ext cx="0" cy="0"/>
          <a:chOff x="0" y="0"/>
          <a:chExt cx="0" cy="0"/>
        </a:xfrm>
      </p:grpSpPr>
      <p:pic>
        <p:nvPicPr>
          <p:cNvPr id="7" name="Picture 6" descr="Logo&#10;&#10;Description automatically generated with medium confidence">
            <a:extLst>
              <a:ext uri="{FF2B5EF4-FFF2-40B4-BE49-F238E27FC236}">
                <a16:creationId xmlns:a16="http://schemas.microsoft.com/office/drawing/2014/main" id="{0178A56A-777F-6F35-4DB9-3ED2F750481E}"/>
              </a:ext>
            </a:extLst>
          </p:cNvPr>
          <p:cNvPicPr>
            <a:picLocks noChangeAspect="1"/>
          </p:cNvPicPr>
          <p:nvPr/>
        </p:nvPicPr>
        <p:blipFill>
          <a:blip r:embed="rId3" cstate="email">
            <a:extLst>
              <a:ext uri="{28A0092B-C50C-407E-A947-70E740481C1C}">
                <a14:useLocalDpi xmlns:a14="http://schemas.microsoft.com/office/drawing/2010/main" val="0"/>
              </a:ext>
            </a:extLst>
          </a:blip>
          <a:stretch>
            <a:fillRect/>
          </a:stretch>
        </p:blipFill>
        <p:spPr>
          <a:xfrm>
            <a:off x="2723978" y="326209"/>
            <a:ext cx="6744042" cy="3193606"/>
          </a:xfrm>
          <a:prstGeom prst="rect">
            <a:avLst/>
          </a:prstGeom>
        </p:spPr>
      </p:pic>
      <p:sp>
        <p:nvSpPr>
          <p:cNvPr id="4" name="TextBox 3">
            <a:extLst>
              <a:ext uri="{FF2B5EF4-FFF2-40B4-BE49-F238E27FC236}">
                <a16:creationId xmlns:a16="http://schemas.microsoft.com/office/drawing/2014/main" id="{243223F8-F7BD-522C-8E6C-2EE9B4627085}"/>
              </a:ext>
            </a:extLst>
          </p:cNvPr>
          <p:cNvSpPr txBox="1"/>
          <p:nvPr/>
        </p:nvSpPr>
        <p:spPr>
          <a:xfrm>
            <a:off x="935276" y="3886117"/>
            <a:ext cx="10321447" cy="73866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defTabSz="841248">
              <a:spcAft>
                <a:spcPts val="600"/>
              </a:spcAft>
            </a:pPr>
            <a:r>
              <a:rPr lang="en-US" sz="4200" b="1" dirty="0">
                <a:latin typeface="+mj-lt"/>
                <a:ea typeface="Calibri" panose="020F0502020204030204" pitchFamily="34" charset="0"/>
                <a:cs typeface="Calibri" panose="020F0502020204030204" pitchFamily="34" charset="0"/>
              </a:rPr>
              <a:t>Employment Services in Minnesota</a:t>
            </a:r>
          </a:p>
        </p:txBody>
      </p:sp>
      <p:sp>
        <p:nvSpPr>
          <p:cNvPr id="2" name="TextBox 1">
            <a:extLst>
              <a:ext uri="{FF2B5EF4-FFF2-40B4-BE49-F238E27FC236}">
                <a16:creationId xmlns:a16="http://schemas.microsoft.com/office/drawing/2014/main" id="{A0D485E5-04BF-F6FF-4454-6DDAF3768881}"/>
              </a:ext>
            </a:extLst>
          </p:cNvPr>
          <p:cNvSpPr txBox="1"/>
          <p:nvPr/>
        </p:nvSpPr>
        <p:spPr>
          <a:xfrm>
            <a:off x="2723979" y="4960305"/>
            <a:ext cx="6294761" cy="553998"/>
          </a:xfrm>
          <a:prstGeom prst="rect">
            <a:avLst/>
          </a:prstGeom>
          <a:noFill/>
        </p:spPr>
        <p:txBody>
          <a:bodyPr wrap="square" rtlCol="0">
            <a:spAutoFit/>
          </a:bodyPr>
          <a:lstStyle/>
          <a:p>
            <a:pPr algn="ctr"/>
            <a:r>
              <a:rPr lang="en-US" sz="3000" dirty="0"/>
              <a:t>ATHC Board meeting 2/25/25</a:t>
            </a:r>
          </a:p>
        </p:txBody>
      </p:sp>
    </p:spTree>
    <p:extLst>
      <p:ext uri="{BB962C8B-B14F-4D97-AF65-F5344CB8AC3E}">
        <p14:creationId xmlns:p14="http://schemas.microsoft.com/office/powerpoint/2010/main" val="324198019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9DEBE8-4F1B-E58F-E58B-27FFE3755DEA}"/>
              </a:ext>
            </a:extLst>
          </p:cNvPr>
          <p:cNvSpPr>
            <a:spLocks noGrp="1"/>
          </p:cNvSpPr>
          <p:nvPr>
            <p:ph type="title"/>
          </p:nvPr>
        </p:nvSpPr>
        <p:spPr>
          <a:xfrm>
            <a:off x="1043631" y="184248"/>
            <a:ext cx="5052369" cy="1035781"/>
          </a:xfrm>
        </p:spPr>
        <p:txBody>
          <a:bodyPr vert="horz" lIns="91440" tIns="45720" rIns="91440" bIns="45720" rtlCol="0" anchor="ctr">
            <a:normAutofit/>
          </a:bodyPr>
          <a:lstStyle/>
          <a:p>
            <a:r>
              <a:rPr lang="en-US" sz="5400" b="1" kern="1200" dirty="0">
                <a:solidFill>
                  <a:schemeClr val="tx1"/>
                </a:solidFill>
                <a:latin typeface="+mj-lt"/>
                <a:ea typeface="+mj-ea"/>
                <a:cs typeface="+mj-cs"/>
              </a:rPr>
              <a:t>Introductions</a:t>
            </a:r>
          </a:p>
        </p:txBody>
      </p:sp>
      <p:sp>
        <p:nvSpPr>
          <p:cNvPr id="9" name="TextBox 8">
            <a:extLst>
              <a:ext uri="{FF2B5EF4-FFF2-40B4-BE49-F238E27FC236}">
                <a16:creationId xmlns:a16="http://schemas.microsoft.com/office/drawing/2014/main" id="{E24EF02A-D66F-46A4-CF8B-1D17D67209D2}"/>
              </a:ext>
            </a:extLst>
          </p:cNvPr>
          <p:cNvSpPr txBox="1"/>
          <p:nvPr/>
        </p:nvSpPr>
        <p:spPr>
          <a:xfrm>
            <a:off x="1306283" y="4538779"/>
            <a:ext cx="4991629" cy="1875203"/>
          </a:xfrm>
          <a:prstGeom prst="rect">
            <a:avLst/>
          </a:prstGeom>
        </p:spPr>
        <p:txBody>
          <a:bodyPr rot="0" spcFirstLastPara="0" vertOverflow="overflow" horzOverflow="overflow" vert="horz" lIns="91440" tIns="45720" rIns="91440" bIns="45720" numCol="1" spcCol="0" rtlCol="0" fromWordArt="0" anchor="ctr" anchorCtr="0" forceAA="0" compatLnSpc="1">
            <a:prstTxWarp prst="textNoShape">
              <a:avLst/>
            </a:prstTxWarp>
            <a:normAutofit/>
          </a:bodyPr>
          <a:lstStyle/>
          <a:p>
            <a:pPr marR="0" lvl="0" fontAlgn="auto">
              <a:lnSpc>
                <a:spcPct val="90000"/>
              </a:lnSpc>
              <a:spcBef>
                <a:spcPts val="0"/>
              </a:spcBef>
              <a:spcAft>
                <a:spcPts val="600"/>
              </a:spcAft>
              <a:buClrTx/>
              <a:buSzTx/>
              <a:tabLst/>
              <a:defRPr/>
            </a:pPr>
            <a:r>
              <a:rPr kumimoji="0" lang="en-US" sz="2400" b="0" i="0" u="none" strike="noStrike" cap="none" spc="0" normalizeH="0" baseline="0" noProof="0" dirty="0">
                <a:ln>
                  <a:noFill/>
                </a:ln>
                <a:effectLst/>
                <a:uLnTx/>
                <a:uFillTx/>
                <a:latin typeface="Calibri" panose="020F0502020204030204" pitchFamily="34" charset="0"/>
                <a:ea typeface="Calibri" panose="020F0502020204030204" pitchFamily="34" charset="0"/>
                <a:cs typeface="Calibri" panose="020F0502020204030204" pitchFamily="34" charset="0"/>
              </a:rPr>
              <a:t>Brian Begin (he/him/his)</a:t>
            </a:r>
          </a:p>
          <a:p>
            <a:pPr marR="0" lvl="0" fontAlgn="auto">
              <a:lnSpc>
                <a:spcPct val="90000"/>
              </a:lnSpc>
              <a:spcBef>
                <a:spcPts val="0"/>
              </a:spcBef>
              <a:spcAft>
                <a:spcPts val="600"/>
              </a:spcAft>
              <a:buClrTx/>
              <a:buSzTx/>
              <a:tabLst/>
              <a:defRPr/>
            </a:pPr>
            <a:r>
              <a:rPr kumimoji="0" lang="en-US" sz="2400" b="0" i="0" u="none" strike="noStrike" cap="none" spc="0" normalizeH="0" baseline="0" noProof="0" dirty="0">
                <a:ln>
                  <a:noFill/>
                </a:ln>
                <a:effectLst/>
                <a:uLnTx/>
                <a:uFillTx/>
                <a:latin typeface="Calibri" panose="020F0502020204030204" pitchFamily="34" charset="0"/>
                <a:ea typeface="Calibri" panose="020F0502020204030204" pitchFamily="34" charset="0"/>
                <a:cs typeface="Calibri" panose="020F0502020204030204" pitchFamily="34" charset="0"/>
              </a:rPr>
              <a:t>University of Minnesota’s Institute on Community Integration</a:t>
            </a:r>
          </a:p>
          <a:p>
            <a:pPr marR="0" lvl="0" fontAlgn="auto">
              <a:lnSpc>
                <a:spcPct val="90000"/>
              </a:lnSpc>
              <a:spcBef>
                <a:spcPts val="0"/>
              </a:spcBef>
              <a:spcAft>
                <a:spcPts val="600"/>
              </a:spcAft>
              <a:buClrTx/>
              <a:buSzTx/>
              <a:tabLst/>
              <a:defRPr/>
            </a:pPr>
            <a:r>
              <a:rPr kumimoji="0" lang="en-US" sz="2400" b="0" i="0" u="none" strike="noStrike" cap="none" spc="0" normalizeH="0" baseline="0" noProof="0" dirty="0">
                <a:ln>
                  <a:noFill/>
                </a:ln>
                <a:effectLst/>
                <a:uLnTx/>
                <a:uFillTx/>
                <a:latin typeface="Calibri" panose="020F0502020204030204" pitchFamily="34" charset="0"/>
                <a:ea typeface="Calibri" panose="020F0502020204030204" pitchFamily="34" charset="0"/>
                <a:cs typeface="Calibri" panose="020F0502020204030204" pitchFamily="34" charset="0"/>
                <a:hlinkClick r:id="rId3"/>
              </a:rPr>
              <a:t>begin036@umn.edu</a:t>
            </a:r>
            <a:r>
              <a:rPr kumimoji="0" lang="en-US" sz="2400" b="0" i="0" u="none" strike="noStrike" cap="none" spc="0" normalizeH="0" baseline="0" noProof="0" dirty="0">
                <a:ln>
                  <a:noFill/>
                </a:ln>
                <a:effectLst/>
                <a:uLnTx/>
                <a:uFillTx/>
                <a:latin typeface="Calibri" panose="020F0502020204030204" pitchFamily="34" charset="0"/>
                <a:ea typeface="Calibri" panose="020F0502020204030204" pitchFamily="34" charset="0"/>
                <a:cs typeface="Calibri" panose="020F0502020204030204" pitchFamily="34" charset="0"/>
              </a:rPr>
              <a:t> </a:t>
            </a:r>
          </a:p>
        </p:txBody>
      </p:sp>
      <p:pic>
        <p:nvPicPr>
          <p:cNvPr id="7" name="Picture 6" descr="A person in a suit and tie&#10;&#10;Description automatically generated">
            <a:extLst>
              <a:ext uri="{FF2B5EF4-FFF2-40B4-BE49-F238E27FC236}">
                <a16:creationId xmlns:a16="http://schemas.microsoft.com/office/drawing/2014/main" id="{738D8D3C-80CC-D9C5-31D0-7FF7DAB946F2}"/>
              </a:ext>
            </a:extLst>
          </p:cNvPr>
          <p:cNvPicPr>
            <a:picLocks noChangeAspect="1"/>
          </p:cNvPicPr>
          <p:nvPr/>
        </p:nvPicPr>
        <p:blipFill>
          <a:blip r:embed="rId4">
            <a:extLst>
              <a:ext uri="{28A0092B-C50C-407E-A947-70E740481C1C}">
                <a14:useLocalDpi xmlns:a14="http://schemas.microsoft.com/office/drawing/2010/main" val="0"/>
              </a:ext>
            </a:extLst>
          </a:blip>
          <a:srcRect r="5249" b="-1"/>
          <a:stretch/>
        </p:blipFill>
        <p:spPr>
          <a:xfrm>
            <a:off x="1843311" y="1649952"/>
            <a:ext cx="2779002" cy="2779000"/>
          </a:xfrm>
          <a:prstGeom prst="rect">
            <a:avLst/>
          </a:prstGeom>
          <a:ln>
            <a:noFill/>
          </a:ln>
          <a:effectLst>
            <a:outerShdw blurRad="292100" dist="139700" dir="2700000" algn="tl" rotWithShape="0">
              <a:srgbClr val="333333">
                <a:alpha val="65000"/>
              </a:srgbClr>
            </a:outerShdw>
          </a:effectLst>
        </p:spPr>
      </p:pic>
      <p:sp>
        <p:nvSpPr>
          <p:cNvPr id="8" name="TextBox 7">
            <a:extLst>
              <a:ext uri="{FF2B5EF4-FFF2-40B4-BE49-F238E27FC236}">
                <a16:creationId xmlns:a16="http://schemas.microsoft.com/office/drawing/2014/main" id="{557052B5-09DA-E7A4-CD47-F5EAEE622DA1}"/>
              </a:ext>
            </a:extLst>
          </p:cNvPr>
          <p:cNvSpPr txBox="1"/>
          <p:nvPr/>
        </p:nvSpPr>
        <p:spPr>
          <a:xfrm>
            <a:off x="6801931" y="4581724"/>
            <a:ext cx="4991629" cy="1569660"/>
          </a:xfrm>
          <a:prstGeom prst="rect">
            <a:avLst/>
          </a:prstGeom>
          <a:noFill/>
        </p:spPr>
        <p:txBody>
          <a:bodyPr wrap="square">
            <a:spAutoFit/>
          </a:bodyPr>
          <a:lstStyle/>
          <a:p>
            <a:r>
              <a:rPr lang="en-US" sz="2400" dirty="0">
                <a:latin typeface="Calibri" panose="020F0502020204030204" pitchFamily="34" charset="0"/>
                <a:ea typeface="Calibri" panose="020F0502020204030204" pitchFamily="34" charset="0"/>
                <a:cs typeface="Calibri" panose="020F0502020204030204" pitchFamily="34" charset="0"/>
              </a:rPr>
              <a:t>Amy Gessert</a:t>
            </a:r>
          </a:p>
          <a:p>
            <a:r>
              <a:rPr lang="en-US" sz="2400" dirty="0">
                <a:latin typeface="Calibri" panose="020F0502020204030204" pitchFamily="34" charset="0"/>
                <a:ea typeface="Calibri" panose="020F0502020204030204" pitchFamily="34" charset="0"/>
                <a:cs typeface="Calibri" panose="020F0502020204030204" pitchFamily="34" charset="0"/>
              </a:rPr>
              <a:t>University of Massachusetts Boston’s</a:t>
            </a:r>
          </a:p>
          <a:p>
            <a:r>
              <a:rPr lang="en-US" sz="2400" dirty="0">
                <a:latin typeface="Calibri" panose="020F0502020204030204" pitchFamily="34" charset="0"/>
                <a:ea typeface="Calibri" panose="020F0502020204030204" pitchFamily="34" charset="0"/>
                <a:cs typeface="Calibri" panose="020F0502020204030204" pitchFamily="34" charset="0"/>
              </a:rPr>
              <a:t>Institute for Community Inclusion</a:t>
            </a:r>
          </a:p>
          <a:p>
            <a:r>
              <a:rPr lang="en-US" sz="2400" dirty="0">
                <a:latin typeface="Calibri" panose="020F0502020204030204" pitchFamily="34" charset="0"/>
                <a:ea typeface="Calibri" panose="020F0502020204030204" pitchFamily="34" charset="0"/>
                <a:cs typeface="Calibri" panose="020F0502020204030204" pitchFamily="34" charset="0"/>
                <a:hlinkClick r:id="rId5"/>
              </a:rPr>
              <a:t>Amy.Gessert@umb.edu</a:t>
            </a:r>
            <a:endParaRPr lang="en-US" sz="2400" dirty="0">
              <a:latin typeface="Calibri" panose="020F0502020204030204" pitchFamily="34" charset="0"/>
              <a:ea typeface="Calibri" panose="020F0502020204030204" pitchFamily="34" charset="0"/>
              <a:cs typeface="Calibri" panose="020F0502020204030204" pitchFamily="34" charset="0"/>
            </a:endParaRPr>
          </a:p>
        </p:txBody>
      </p:sp>
      <p:pic>
        <p:nvPicPr>
          <p:cNvPr id="10" name="Picture 9">
            <a:extLst>
              <a:ext uri="{FF2B5EF4-FFF2-40B4-BE49-F238E27FC236}">
                <a16:creationId xmlns:a16="http://schemas.microsoft.com/office/drawing/2014/main" id="{DEA3691D-241B-1F68-D86C-C0FC5D99ACFA}"/>
              </a:ext>
            </a:extLst>
          </p:cNvPr>
          <p:cNvPicPr>
            <a:picLocks noChangeAspect="1"/>
          </p:cNvPicPr>
          <p:nvPr/>
        </p:nvPicPr>
        <p:blipFill>
          <a:blip r:embed="rId6">
            <a:extLst>
              <a:ext uri="{28A0092B-C50C-407E-A947-70E740481C1C}">
                <a14:useLocalDpi xmlns:a14="http://schemas.microsoft.com/office/drawing/2010/main" val="0"/>
              </a:ext>
            </a:extLst>
          </a:blip>
          <a:srcRect t="-1095" b="22663"/>
          <a:stretch/>
        </p:blipFill>
        <p:spPr>
          <a:xfrm>
            <a:off x="7870613" y="1649952"/>
            <a:ext cx="2779002" cy="2779000"/>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293058657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58D61CD-35F6-BD3A-947E-F2CA8A93E751}"/>
              </a:ext>
            </a:extLst>
          </p:cNvPr>
          <p:cNvSpPr>
            <a:spLocks noGrp="1"/>
          </p:cNvSpPr>
          <p:nvPr>
            <p:ph idx="1"/>
          </p:nvPr>
        </p:nvSpPr>
        <p:spPr>
          <a:xfrm>
            <a:off x="1328409" y="2050793"/>
            <a:ext cx="9535182" cy="2756413"/>
          </a:xfrm>
        </p:spPr>
        <p:txBody>
          <a:bodyPr vert="horz" lIns="91440" tIns="45720" rIns="91440" bIns="45720" rtlCol="0" anchor="t">
            <a:noAutofit/>
          </a:bodyPr>
          <a:lstStyle/>
          <a:p>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About Minnesota Transformation Initiative (MTI)</a:t>
            </a:r>
            <a:endParaRPr lang="en-US" dirty="0">
              <a:latin typeface="Calibri" panose="020F0502020204030204" pitchFamily="34" charset="0"/>
              <a:ea typeface="Calibri" panose="020F0502020204030204" pitchFamily="34" charset="0"/>
              <a:cs typeface="Calibri" panose="020F0502020204030204" pitchFamily="34" charset="0"/>
            </a:endParaRPr>
          </a:p>
          <a:p>
            <a:r>
              <a:rPr lang="en-US" dirty="0">
                <a:latin typeface="Calibri" panose="020F0502020204030204" pitchFamily="34" charset="0"/>
                <a:ea typeface="Calibri" panose="020F0502020204030204" pitchFamily="34" charset="0"/>
                <a:cs typeface="Calibri" panose="020F0502020204030204" pitchFamily="34" charset="0"/>
              </a:rPr>
              <a:t>Brief History of Disability Services</a:t>
            </a:r>
          </a:p>
          <a:p>
            <a:r>
              <a:rPr lang="en-US" dirty="0">
                <a:latin typeface="Calibri" panose="020F0502020204030204" pitchFamily="34" charset="0"/>
                <a:ea typeface="Calibri" panose="020F0502020204030204" pitchFamily="34" charset="0"/>
                <a:cs typeface="Calibri" panose="020F0502020204030204" pitchFamily="34" charset="0"/>
              </a:rPr>
              <a:t>Different types of employment</a:t>
            </a:r>
          </a:p>
          <a:p>
            <a:r>
              <a:rPr lang="en-US" dirty="0">
                <a:latin typeface="Calibri" panose="020F0502020204030204" pitchFamily="34" charset="0"/>
                <a:ea typeface="Calibri" panose="020F0502020204030204" pitchFamily="34" charset="0"/>
                <a:cs typeface="Calibri" panose="020F0502020204030204" pitchFamily="34" charset="0"/>
              </a:rPr>
              <a:t>New models of support in Minnesota</a:t>
            </a:r>
          </a:p>
          <a:p>
            <a:r>
              <a:rPr lang="en-US" dirty="0">
                <a:latin typeface="Calibri" panose="020F0502020204030204" pitchFamily="34" charset="0"/>
                <a:ea typeface="Calibri" panose="020F0502020204030204" pitchFamily="34" charset="0"/>
                <a:cs typeface="Calibri" panose="020F0502020204030204" pitchFamily="34" charset="0"/>
              </a:rPr>
              <a:t>Questions </a:t>
            </a:r>
          </a:p>
          <a:p>
            <a:pPr marL="457200" lvl="1" indent="0">
              <a:buNone/>
            </a:pPr>
            <a:endParaRPr lang="en-US" dirty="0">
              <a:solidFill>
                <a:srgbClr val="000000">
                  <a:alpha val="60000"/>
                </a:srgbClr>
              </a:solidFill>
              <a:cs typeface="Calibri" panose="020F0502020204030204"/>
            </a:endParaRPr>
          </a:p>
          <a:p>
            <a:pPr marL="0" indent="0">
              <a:buNone/>
            </a:pPr>
            <a:endParaRPr lang="en-US" dirty="0">
              <a:solidFill>
                <a:schemeClr val="tx1">
                  <a:alpha val="60000"/>
                </a:schemeClr>
              </a:solidFill>
            </a:endParaRPr>
          </a:p>
          <a:p>
            <a:endParaRPr lang="en-US" b="1" i="1" dirty="0">
              <a:solidFill>
                <a:schemeClr val="tx1">
                  <a:alpha val="60000"/>
                </a:schemeClr>
              </a:solidFill>
              <a:cs typeface="Calibri"/>
            </a:endParaRPr>
          </a:p>
          <a:p>
            <a:pPr marL="457200" lvl="1" indent="0">
              <a:buNone/>
            </a:pPr>
            <a:endParaRPr lang="en-US" i="1" dirty="0">
              <a:solidFill>
                <a:srgbClr val="000000">
                  <a:alpha val="60000"/>
                </a:srgbClr>
              </a:solidFill>
              <a:latin typeface="Calibri" panose="020F0502020204030204"/>
              <a:ea typeface="+mj-ea"/>
              <a:cs typeface="Calibri" panose="020F0502020204030204"/>
            </a:endParaRPr>
          </a:p>
          <a:p>
            <a:pPr marL="0" indent="0">
              <a:buNone/>
            </a:pPr>
            <a:endParaRPr lang="en-US" dirty="0">
              <a:solidFill>
                <a:srgbClr val="000000">
                  <a:alpha val="60000"/>
                </a:srgbClr>
              </a:solidFill>
              <a:cs typeface="Calibri" panose="020F0502020204030204"/>
            </a:endParaRPr>
          </a:p>
          <a:p>
            <a:pPr marL="0" indent="0">
              <a:buNone/>
            </a:pPr>
            <a:endParaRPr lang="en-US" dirty="0">
              <a:solidFill>
                <a:srgbClr val="000000">
                  <a:alpha val="60000"/>
                </a:srgbClr>
              </a:solidFill>
              <a:cs typeface="Calibri" panose="020F0502020204030204"/>
            </a:endParaRPr>
          </a:p>
        </p:txBody>
      </p:sp>
      <p:pic>
        <p:nvPicPr>
          <p:cNvPr id="4" name="Picture 3" descr="Logo&#10;&#10;Description automatically generated with medium confidence">
            <a:extLst>
              <a:ext uri="{FF2B5EF4-FFF2-40B4-BE49-F238E27FC236}">
                <a16:creationId xmlns:a16="http://schemas.microsoft.com/office/drawing/2014/main" id="{5F903BC0-EBD6-FDF7-22E3-1096C4EC6901}"/>
              </a:ext>
            </a:extLst>
          </p:cNvPr>
          <p:cNvPicPr>
            <a:picLocks noChangeAspect="1"/>
          </p:cNvPicPr>
          <p:nvPr/>
        </p:nvPicPr>
        <p:blipFill>
          <a:blip r:embed="rId3"/>
          <a:stretch>
            <a:fillRect/>
          </a:stretch>
        </p:blipFill>
        <p:spPr>
          <a:xfrm>
            <a:off x="10239914" y="5908872"/>
            <a:ext cx="1907423" cy="944685"/>
          </a:xfrm>
          <a:prstGeom prst="rect">
            <a:avLst/>
          </a:prstGeom>
        </p:spPr>
      </p:pic>
      <p:sp>
        <p:nvSpPr>
          <p:cNvPr id="2" name="TextBox 1">
            <a:extLst>
              <a:ext uri="{FF2B5EF4-FFF2-40B4-BE49-F238E27FC236}">
                <a16:creationId xmlns:a16="http://schemas.microsoft.com/office/drawing/2014/main" id="{4AF0ACE0-D648-D1E0-94E5-66BA5BB923DB}"/>
              </a:ext>
            </a:extLst>
          </p:cNvPr>
          <p:cNvSpPr txBox="1"/>
          <p:nvPr/>
        </p:nvSpPr>
        <p:spPr>
          <a:xfrm>
            <a:off x="1328409" y="351451"/>
            <a:ext cx="9380303" cy="923330"/>
          </a:xfrm>
          <a:prstGeom prst="rect">
            <a:avLst/>
          </a:prstGeom>
          <a:noFill/>
        </p:spPr>
        <p:txBody>
          <a:bodyPr wrap="square" rtlCol="0">
            <a:spAutoFit/>
          </a:bodyPr>
          <a:lstStyle/>
          <a:p>
            <a:r>
              <a:rPr lang="en-US" sz="5400" b="1" dirty="0"/>
              <a:t>Agenda</a:t>
            </a:r>
          </a:p>
        </p:txBody>
      </p:sp>
    </p:spTree>
    <p:extLst>
      <p:ext uri="{BB962C8B-B14F-4D97-AF65-F5344CB8AC3E}">
        <p14:creationId xmlns:p14="http://schemas.microsoft.com/office/powerpoint/2010/main" val="48379309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7"/>
        <p:cNvGrpSpPr/>
        <p:nvPr/>
      </p:nvGrpSpPr>
      <p:grpSpPr>
        <a:xfrm>
          <a:off x="0" y="0"/>
          <a:ext cx="0" cy="0"/>
          <a:chOff x="0" y="0"/>
          <a:chExt cx="0" cy="0"/>
        </a:xfrm>
      </p:grpSpPr>
      <p:pic>
        <p:nvPicPr>
          <p:cNvPr id="7" name="Picture 6" descr="Logo&#10;&#10;Description automatically generated with medium confidence">
            <a:extLst>
              <a:ext uri="{FF2B5EF4-FFF2-40B4-BE49-F238E27FC236}">
                <a16:creationId xmlns:a16="http://schemas.microsoft.com/office/drawing/2014/main" id="{74BC3221-34CD-1169-8D72-6CE43BA76759}"/>
              </a:ext>
            </a:extLst>
          </p:cNvPr>
          <p:cNvPicPr>
            <a:picLocks noChangeAspect="1"/>
          </p:cNvPicPr>
          <p:nvPr/>
        </p:nvPicPr>
        <p:blipFill>
          <a:blip r:embed="rId3" cstate="email">
            <a:extLst>
              <a:ext uri="{28A0092B-C50C-407E-A947-70E740481C1C}">
                <a14:useLocalDpi xmlns:a14="http://schemas.microsoft.com/office/drawing/2010/main" val="0"/>
              </a:ext>
            </a:extLst>
          </a:blip>
          <a:stretch>
            <a:fillRect/>
          </a:stretch>
        </p:blipFill>
        <p:spPr>
          <a:xfrm>
            <a:off x="2919409" y="420484"/>
            <a:ext cx="6353181" cy="3008516"/>
          </a:xfrm>
          <a:prstGeom prst="rect">
            <a:avLst/>
          </a:prstGeom>
        </p:spPr>
      </p:pic>
      <p:sp>
        <p:nvSpPr>
          <p:cNvPr id="4" name="TextBox 3">
            <a:extLst>
              <a:ext uri="{FF2B5EF4-FFF2-40B4-BE49-F238E27FC236}">
                <a16:creationId xmlns:a16="http://schemas.microsoft.com/office/drawing/2014/main" id="{DDAE0C1F-A4A9-5F07-DE7D-8C170F3B0D17}"/>
              </a:ext>
            </a:extLst>
          </p:cNvPr>
          <p:cNvSpPr txBox="1"/>
          <p:nvPr/>
        </p:nvSpPr>
        <p:spPr>
          <a:xfrm>
            <a:off x="1611086" y="3831446"/>
            <a:ext cx="9158514" cy="156966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defTabSz="841248">
              <a:spcAft>
                <a:spcPts val="600"/>
              </a:spcAft>
            </a:pPr>
            <a:r>
              <a:rPr lang="en-US" sz="2400" dirty="0">
                <a:latin typeface="Calibri" panose="020F0502020204030204" pitchFamily="34" charset="0"/>
                <a:ea typeface="Calibri" panose="020F0502020204030204" pitchFamily="34" charset="0"/>
                <a:cs typeface="Calibri" panose="020F0502020204030204" pitchFamily="34" charset="0"/>
              </a:rPr>
              <a:t>The Minnesota Transformation Initiative (MTI) is a project funded by the Minnesota Department of Human Services to build capacity to support competitive integrated employment and community life engagement across the state.</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9DEBE8-4F1B-E58F-E58B-27FFE3755DEA}"/>
              </a:ext>
            </a:extLst>
          </p:cNvPr>
          <p:cNvSpPr>
            <a:spLocks noGrp="1"/>
          </p:cNvSpPr>
          <p:nvPr>
            <p:ph type="title"/>
          </p:nvPr>
        </p:nvSpPr>
        <p:spPr>
          <a:xfrm>
            <a:off x="3460216" y="69293"/>
            <a:ext cx="5092113" cy="732852"/>
          </a:xfrm>
        </p:spPr>
        <p:txBody>
          <a:bodyPr>
            <a:normAutofit/>
          </a:bodyPr>
          <a:lstStyle/>
          <a:p>
            <a:r>
              <a:rPr lang="en-US" b="1" dirty="0">
                <a:cs typeface="Segoe UI"/>
              </a:rPr>
              <a:t>MTI Project Partners</a:t>
            </a:r>
          </a:p>
        </p:txBody>
      </p:sp>
      <p:pic>
        <p:nvPicPr>
          <p:cNvPr id="6" name="Google Shape;109;g13aeb6740f1_0_7" descr="Logo for the Institute for Community Inclusion, UMass Boston">
            <a:extLst>
              <a:ext uri="{FF2B5EF4-FFF2-40B4-BE49-F238E27FC236}">
                <a16:creationId xmlns:a16="http://schemas.microsoft.com/office/drawing/2014/main" id="{1312D0CE-3F17-0729-E4F6-C5F7F0E90A89}"/>
              </a:ext>
            </a:extLst>
          </p:cNvPr>
          <p:cNvPicPr preferRelativeResize="0"/>
          <p:nvPr/>
        </p:nvPicPr>
        <p:blipFill rotWithShape="1">
          <a:blip r:embed="rId3">
            <a:alphaModFix/>
          </a:blip>
          <a:srcRect/>
          <a:stretch/>
        </p:blipFill>
        <p:spPr>
          <a:xfrm>
            <a:off x="6269637" y="1171559"/>
            <a:ext cx="5283592" cy="1226072"/>
          </a:xfrm>
          <a:prstGeom prst="rect">
            <a:avLst/>
          </a:prstGeom>
          <a:noFill/>
          <a:ln>
            <a:noFill/>
          </a:ln>
        </p:spPr>
      </p:pic>
      <p:pic>
        <p:nvPicPr>
          <p:cNvPr id="7" name="Google Shape;112;g13aeb6740f1_0_7" descr="Logo for Strengths at Work, LLC">
            <a:extLst>
              <a:ext uri="{FF2B5EF4-FFF2-40B4-BE49-F238E27FC236}">
                <a16:creationId xmlns:a16="http://schemas.microsoft.com/office/drawing/2014/main" id="{5070FB17-AAE7-9661-4BC6-986168894549}"/>
              </a:ext>
            </a:extLst>
          </p:cNvPr>
          <p:cNvPicPr preferRelativeResize="0"/>
          <p:nvPr/>
        </p:nvPicPr>
        <p:blipFill rotWithShape="1">
          <a:blip r:embed="rId4">
            <a:alphaModFix/>
          </a:blip>
          <a:srcRect/>
          <a:stretch/>
        </p:blipFill>
        <p:spPr>
          <a:xfrm>
            <a:off x="3460216" y="5344376"/>
            <a:ext cx="5276194" cy="987127"/>
          </a:xfrm>
          <a:prstGeom prst="rect">
            <a:avLst/>
          </a:prstGeom>
          <a:noFill/>
          <a:ln>
            <a:noFill/>
          </a:ln>
        </p:spPr>
      </p:pic>
      <p:pic>
        <p:nvPicPr>
          <p:cNvPr id="5" name="Picture 10" descr="Logo, MN Department of Human Services&#10;">
            <a:extLst>
              <a:ext uri="{FF2B5EF4-FFF2-40B4-BE49-F238E27FC236}">
                <a16:creationId xmlns:a16="http://schemas.microsoft.com/office/drawing/2014/main" id="{1FF0590B-C506-9C6A-67FA-FEE0E4E68B22}"/>
              </a:ext>
            </a:extLst>
          </p:cNvPr>
          <p:cNvPicPr>
            <a:picLocks noChangeAspect="1"/>
          </p:cNvPicPr>
          <p:nvPr/>
        </p:nvPicPr>
        <p:blipFill>
          <a:blip r:embed="rId5"/>
          <a:stretch>
            <a:fillRect/>
          </a:stretch>
        </p:blipFill>
        <p:spPr>
          <a:xfrm>
            <a:off x="3118759" y="2413146"/>
            <a:ext cx="5328555" cy="2916172"/>
          </a:xfrm>
          <a:prstGeom prst="rect">
            <a:avLst/>
          </a:prstGeom>
        </p:spPr>
      </p:pic>
      <p:pic>
        <p:nvPicPr>
          <p:cNvPr id="8" name="Google Shape;110;g13aeb6740f1_0_7" descr="Logo for the Arc of Minnesota">
            <a:extLst>
              <a:ext uri="{FF2B5EF4-FFF2-40B4-BE49-F238E27FC236}">
                <a16:creationId xmlns:a16="http://schemas.microsoft.com/office/drawing/2014/main" id="{01745015-EFD8-32D0-181E-27FDBA514458}"/>
              </a:ext>
            </a:extLst>
          </p:cNvPr>
          <p:cNvPicPr preferRelativeResize="0"/>
          <p:nvPr/>
        </p:nvPicPr>
        <p:blipFill rotWithShape="1">
          <a:blip r:embed="rId6">
            <a:alphaModFix/>
          </a:blip>
          <a:srcRect/>
          <a:stretch/>
        </p:blipFill>
        <p:spPr>
          <a:xfrm>
            <a:off x="8451778" y="2782560"/>
            <a:ext cx="3097529" cy="2001144"/>
          </a:xfrm>
          <a:prstGeom prst="rect">
            <a:avLst/>
          </a:prstGeom>
          <a:noFill/>
          <a:ln>
            <a:noFill/>
          </a:ln>
        </p:spPr>
      </p:pic>
      <p:pic>
        <p:nvPicPr>
          <p:cNvPr id="9" name="Google Shape;111;g13aeb6740f1_0_7" descr="Logo for Quillo">
            <a:extLst>
              <a:ext uri="{FF2B5EF4-FFF2-40B4-BE49-F238E27FC236}">
                <a16:creationId xmlns:a16="http://schemas.microsoft.com/office/drawing/2014/main" id="{94B0B500-A971-325F-FC46-50EA3FA62662}"/>
              </a:ext>
            </a:extLst>
          </p:cNvPr>
          <p:cNvPicPr preferRelativeResize="0"/>
          <p:nvPr/>
        </p:nvPicPr>
        <p:blipFill rotWithShape="1">
          <a:blip r:embed="rId7">
            <a:alphaModFix/>
          </a:blip>
          <a:srcRect/>
          <a:stretch/>
        </p:blipFill>
        <p:spPr>
          <a:xfrm>
            <a:off x="489702" y="3429000"/>
            <a:ext cx="2116885" cy="2089672"/>
          </a:xfrm>
          <a:prstGeom prst="rect">
            <a:avLst/>
          </a:prstGeom>
          <a:noFill/>
          <a:ln>
            <a:noFill/>
          </a:ln>
        </p:spPr>
      </p:pic>
      <p:pic>
        <p:nvPicPr>
          <p:cNvPr id="11" name="Picture 10">
            <a:extLst>
              <a:ext uri="{FF2B5EF4-FFF2-40B4-BE49-F238E27FC236}">
                <a16:creationId xmlns:a16="http://schemas.microsoft.com/office/drawing/2014/main" id="{60C05F64-1DE8-F3C8-1F6A-AC6952CA7E7F}"/>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552507" y="853283"/>
            <a:ext cx="3680182" cy="2147180"/>
          </a:xfrm>
          <a:prstGeom prst="rect">
            <a:avLst/>
          </a:prstGeom>
        </p:spPr>
      </p:pic>
      <p:sp>
        <p:nvSpPr>
          <p:cNvPr id="3" name="TextBox 2">
            <a:extLst>
              <a:ext uri="{FF2B5EF4-FFF2-40B4-BE49-F238E27FC236}">
                <a16:creationId xmlns:a16="http://schemas.microsoft.com/office/drawing/2014/main" id="{41D97FE2-D26F-37D3-F8B9-701471CB30B9}"/>
              </a:ext>
            </a:extLst>
          </p:cNvPr>
          <p:cNvSpPr txBox="1"/>
          <p:nvPr/>
        </p:nvSpPr>
        <p:spPr>
          <a:xfrm>
            <a:off x="9079058" y="6008337"/>
            <a:ext cx="2883876" cy="646331"/>
          </a:xfrm>
          <a:prstGeom prst="rect">
            <a:avLst/>
          </a:prstGeom>
          <a:solidFill>
            <a:schemeClr val="bg1"/>
          </a:solidFill>
          <a:ln w="57150">
            <a:solidFill>
              <a:srgbClr val="C00000"/>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a:t>MTI Landing Page: </a:t>
            </a:r>
            <a:r>
              <a:rPr lang="en-US">
                <a:hlinkClick r:id="rId9"/>
              </a:rPr>
              <a:t>https://mti.ici.umn.edu/</a:t>
            </a:r>
            <a:endParaRPr lang="en-US"/>
          </a:p>
        </p:txBody>
      </p:sp>
    </p:spTree>
    <p:extLst>
      <p:ext uri="{BB962C8B-B14F-4D97-AF65-F5344CB8AC3E}">
        <p14:creationId xmlns:p14="http://schemas.microsoft.com/office/powerpoint/2010/main" val="31622918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94F438-5282-0AC6-BED5-6C58D59582CD}"/>
              </a:ext>
            </a:extLst>
          </p:cNvPr>
          <p:cNvSpPr>
            <a:spLocks noGrp="1"/>
          </p:cNvSpPr>
          <p:nvPr>
            <p:ph type="title"/>
          </p:nvPr>
        </p:nvSpPr>
        <p:spPr>
          <a:xfrm>
            <a:off x="423402" y="158966"/>
            <a:ext cx="10872127" cy="1099679"/>
          </a:xfrm>
        </p:spPr>
        <p:txBody>
          <a:bodyPr anchor="t">
            <a:normAutofit fontScale="90000"/>
          </a:bodyPr>
          <a:lstStyle/>
          <a:p>
            <a:r>
              <a:rPr lang="en-US" b="1" dirty="0"/>
              <a:t>How did we get here? </a:t>
            </a:r>
            <a:r>
              <a:rPr lang="en-US" sz="4000" b="1" dirty="0"/>
              <a:t>10-15 years of converging national transformation initiatives</a:t>
            </a:r>
            <a:br>
              <a:rPr lang="en-US" b="1" dirty="0"/>
            </a:br>
            <a:endParaRPr lang="en-US" b="1" dirty="0"/>
          </a:p>
        </p:txBody>
      </p:sp>
      <p:pic>
        <p:nvPicPr>
          <p:cNvPr id="4" name="Picture 3" descr="Logo&#10;&#10;Description automatically generated with medium confidence">
            <a:extLst>
              <a:ext uri="{FF2B5EF4-FFF2-40B4-BE49-F238E27FC236}">
                <a16:creationId xmlns:a16="http://schemas.microsoft.com/office/drawing/2014/main" id="{5F903BC0-EBD6-FDF7-22E3-1096C4EC6901}"/>
              </a:ext>
            </a:extLst>
          </p:cNvPr>
          <p:cNvPicPr>
            <a:picLocks noChangeAspect="1"/>
          </p:cNvPicPr>
          <p:nvPr/>
        </p:nvPicPr>
        <p:blipFill>
          <a:blip r:embed="rId3"/>
          <a:stretch>
            <a:fillRect/>
          </a:stretch>
        </p:blipFill>
        <p:spPr>
          <a:xfrm>
            <a:off x="10262796" y="5978484"/>
            <a:ext cx="1775840" cy="879516"/>
          </a:xfrm>
          <a:prstGeom prst="rect">
            <a:avLst/>
          </a:prstGeom>
        </p:spPr>
      </p:pic>
      <p:sp>
        <p:nvSpPr>
          <p:cNvPr id="9" name="Content Placeholder 2">
            <a:extLst>
              <a:ext uri="{FF2B5EF4-FFF2-40B4-BE49-F238E27FC236}">
                <a16:creationId xmlns:a16="http://schemas.microsoft.com/office/drawing/2014/main" id="{3F2DB40F-95C9-A43D-B6DD-B65B79129463}"/>
              </a:ext>
            </a:extLst>
          </p:cNvPr>
          <p:cNvSpPr txBox="1">
            <a:spLocks/>
          </p:cNvSpPr>
          <p:nvPr/>
        </p:nvSpPr>
        <p:spPr>
          <a:xfrm>
            <a:off x="250183" y="1480481"/>
            <a:ext cx="9497268" cy="5049411"/>
          </a:xfrm>
          <a:prstGeom prst="rect">
            <a:avLst/>
          </a:prstGeom>
        </p:spPr>
        <p:txBody>
          <a:bodyPr vert="horz" lIns="91440" tIns="45720" rIns="91440" bIns="45720" rtlCol="0" anchor="t">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1"/>
            <a:r>
              <a:rPr lang="en-US" sz="1900" dirty="0">
                <a:latin typeface="Calibri" panose="020F0502020204030204" pitchFamily="34" charset="0"/>
                <a:ea typeface="Calibri" panose="020F0502020204030204" pitchFamily="34" charset="0"/>
                <a:cs typeface="Calibri" panose="020F0502020204030204" pitchFamily="34" charset="0"/>
              </a:rPr>
              <a:t>Employment First policies (2012)</a:t>
            </a:r>
            <a:r>
              <a:rPr lang="en-US" sz="1900" dirty="0">
                <a:solidFill>
                  <a:srgbClr val="000000"/>
                </a:solidFill>
                <a:latin typeface="Calibri" panose="020F0502020204030204" pitchFamily="34" charset="0"/>
                <a:ea typeface="Calibri" panose="020F0502020204030204" pitchFamily="34" charset="0"/>
                <a:cs typeface="Calibri" panose="020F0502020204030204" pitchFamily="34" charset="0"/>
              </a:rPr>
              <a:t> </a:t>
            </a:r>
          </a:p>
          <a:p>
            <a:pPr lvl="1"/>
            <a:r>
              <a:rPr lang="en-US" sz="1900" b="1" dirty="0">
                <a:solidFill>
                  <a:schemeClr val="accent1"/>
                </a:solidFill>
                <a:latin typeface="Calibri" panose="020F0502020204030204" pitchFamily="34" charset="0"/>
                <a:ea typeface="Calibri" panose="020F0502020204030204" pitchFamily="34" charset="0"/>
                <a:cs typeface="Calibri" panose="020F0502020204030204" pitchFamily="34" charset="0"/>
              </a:rPr>
              <a:t>MN Employment First Policy &amp; E1 MN (2014 and 2020)</a:t>
            </a:r>
          </a:p>
          <a:p>
            <a:pPr marL="457200" lvl="1" indent="0">
              <a:buFont typeface="Arial" panose="020B0604020202020204" pitchFamily="34" charset="0"/>
              <a:buNone/>
            </a:pPr>
            <a:endParaRPr lang="en-US" sz="1900" b="1" dirty="0">
              <a:solidFill>
                <a:schemeClr val="accent1"/>
              </a:solidFill>
              <a:latin typeface="Calibri" panose="020F0502020204030204" pitchFamily="34" charset="0"/>
              <a:ea typeface="Calibri" panose="020F0502020204030204" pitchFamily="34" charset="0"/>
              <a:cs typeface="Calibri" panose="020F0502020204030204" pitchFamily="34" charset="0"/>
            </a:endParaRPr>
          </a:p>
          <a:p>
            <a:pPr lvl="1"/>
            <a:r>
              <a:rPr lang="en-US" sz="1900" dirty="0">
                <a:latin typeface="Calibri" panose="020F0502020204030204" pitchFamily="34" charset="0"/>
                <a:ea typeface="Calibri" panose="020F0502020204030204" pitchFamily="34" charset="0"/>
                <a:cs typeface="Calibri" panose="020F0502020204030204" pitchFamily="34" charset="0"/>
              </a:rPr>
              <a:t>Workforce Innovation and Opportunity Act (WIOA - 2014)</a:t>
            </a:r>
          </a:p>
          <a:p>
            <a:pPr lvl="1"/>
            <a:r>
              <a:rPr lang="en-US" sz="1900" b="1" dirty="0">
                <a:solidFill>
                  <a:schemeClr val="accent1"/>
                </a:solidFill>
                <a:latin typeface="Calibri" panose="020F0502020204030204" pitchFamily="34" charset="0"/>
                <a:ea typeface="Calibri" panose="020F0502020204030204" pitchFamily="34" charset="0"/>
                <a:cs typeface="Calibri" panose="020F0502020204030204" pitchFamily="34" charset="0"/>
              </a:rPr>
              <a:t>MN </a:t>
            </a:r>
            <a:r>
              <a:rPr lang="en-US" sz="1900" b="1" dirty="0" err="1">
                <a:solidFill>
                  <a:schemeClr val="accent1"/>
                </a:solidFill>
                <a:latin typeface="Calibri" panose="020F0502020204030204" pitchFamily="34" charset="0"/>
                <a:ea typeface="Calibri" panose="020F0502020204030204" pitchFamily="34" charset="0"/>
                <a:cs typeface="Calibri" panose="020F0502020204030204" pitchFamily="34" charset="0"/>
              </a:rPr>
              <a:t>CareerForce</a:t>
            </a:r>
            <a:r>
              <a:rPr lang="en-US" sz="1900" b="1" dirty="0">
                <a:solidFill>
                  <a:schemeClr val="accent1"/>
                </a:solidFill>
                <a:latin typeface="Calibri" panose="020F0502020204030204" pitchFamily="34" charset="0"/>
                <a:ea typeface="Calibri" panose="020F0502020204030204" pitchFamily="34" charset="0"/>
                <a:cs typeface="Calibri" panose="020F0502020204030204" pitchFamily="34" charset="0"/>
              </a:rPr>
              <a:t> Centers &amp; VRS (2014)</a:t>
            </a:r>
          </a:p>
          <a:p>
            <a:pPr marL="457200" lvl="1" indent="0">
              <a:buFont typeface="Arial" panose="020B0604020202020204" pitchFamily="34" charset="0"/>
              <a:buNone/>
            </a:pPr>
            <a:endParaRPr lang="en-US" sz="1900" b="1" dirty="0">
              <a:solidFill>
                <a:schemeClr val="accent1"/>
              </a:solidFill>
              <a:latin typeface="Calibri" panose="020F0502020204030204" pitchFamily="34" charset="0"/>
              <a:ea typeface="Calibri" panose="020F0502020204030204" pitchFamily="34" charset="0"/>
              <a:cs typeface="Calibri" panose="020F0502020204030204" pitchFamily="34" charset="0"/>
            </a:endParaRPr>
          </a:p>
          <a:p>
            <a:pPr lvl="1"/>
            <a:r>
              <a:rPr lang="en-US" sz="1900" dirty="0">
                <a:latin typeface="Calibri" panose="020F0502020204030204" pitchFamily="34" charset="0"/>
                <a:ea typeface="Calibri" panose="020F0502020204030204" pitchFamily="34" charset="0"/>
                <a:cs typeface="Calibri" panose="020F0502020204030204" pitchFamily="34" charset="0"/>
              </a:rPr>
              <a:t>Olmstead v. L.C. (Supreme Court case - 1999</a:t>
            </a:r>
            <a:r>
              <a:rPr lang="en-US" sz="1900" dirty="0">
                <a:solidFill>
                  <a:srgbClr val="000000"/>
                </a:solidFill>
                <a:latin typeface="Calibri" panose="020F0502020204030204" pitchFamily="34" charset="0"/>
                <a:ea typeface="Calibri" panose="020F0502020204030204" pitchFamily="34" charset="0"/>
                <a:cs typeface="Calibri" panose="020F0502020204030204" pitchFamily="34" charset="0"/>
              </a:rPr>
              <a:t>)</a:t>
            </a:r>
          </a:p>
          <a:p>
            <a:pPr lvl="1"/>
            <a:r>
              <a:rPr lang="en-US" sz="1900" b="1" dirty="0">
                <a:solidFill>
                  <a:schemeClr val="accent1"/>
                </a:solidFill>
                <a:latin typeface="Calibri" panose="020F0502020204030204" pitchFamily="34" charset="0"/>
                <a:ea typeface="Calibri" panose="020F0502020204030204" pitchFamily="34" charset="0"/>
                <a:cs typeface="Calibri" panose="020F0502020204030204" pitchFamily="34" charset="0"/>
              </a:rPr>
              <a:t>Jensen Settlement Agreement in MN (2009)</a:t>
            </a:r>
          </a:p>
          <a:p>
            <a:pPr lvl="1"/>
            <a:r>
              <a:rPr lang="en-US" sz="1900" b="1" dirty="0">
                <a:solidFill>
                  <a:schemeClr val="accent1"/>
                </a:solidFill>
                <a:latin typeface="Calibri" panose="020F0502020204030204" pitchFamily="34" charset="0"/>
                <a:ea typeface="Calibri" panose="020F0502020204030204" pitchFamily="34" charset="0"/>
                <a:cs typeface="Calibri" panose="020F0502020204030204" pitchFamily="34" charset="0"/>
              </a:rPr>
              <a:t>MN Olmstead Implementation Office (2014)</a:t>
            </a:r>
          </a:p>
          <a:p>
            <a:pPr marL="457200" lvl="1" indent="0">
              <a:buNone/>
            </a:pPr>
            <a:endParaRPr lang="en-US" sz="1900" b="1" dirty="0">
              <a:solidFill>
                <a:schemeClr val="accent1"/>
              </a:solidFill>
              <a:latin typeface="Calibri" panose="020F0502020204030204" pitchFamily="34" charset="0"/>
              <a:ea typeface="Calibri" panose="020F0502020204030204" pitchFamily="34" charset="0"/>
              <a:cs typeface="Calibri" panose="020F0502020204030204" pitchFamily="34" charset="0"/>
            </a:endParaRPr>
          </a:p>
          <a:p>
            <a:pPr lvl="1"/>
            <a:r>
              <a:rPr lang="en-US" sz="1900" dirty="0">
                <a:latin typeface="Calibri" panose="020F0502020204030204" pitchFamily="34" charset="0"/>
                <a:ea typeface="Calibri" panose="020F0502020204030204" pitchFamily="34" charset="0"/>
                <a:cs typeface="Calibri" panose="020F0502020204030204" pitchFamily="34" charset="0"/>
              </a:rPr>
              <a:t>States phasing out 14c certificate use (2014)</a:t>
            </a:r>
          </a:p>
          <a:p>
            <a:pPr lvl="1"/>
            <a:r>
              <a:rPr lang="en-US" sz="1900" b="1" dirty="0">
                <a:solidFill>
                  <a:schemeClr val="accent1"/>
                </a:solidFill>
                <a:latin typeface="Calibri" panose="020F0502020204030204" pitchFamily="34" charset="0"/>
                <a:ea typeface="Calibri" panose="020F0502020204030204" pitchFamily="34" charset="0"/>
                <a:cs typeface="Calibri" panose="020F0502020204030204" pitchFamily="34" charset="0"/>
              </a:rPr>
              <a:t> Minnesota Taskforce on Eliminating Subminimum Wages (2021)</a:t>
            </a:r>
          </a:p>
        </p:txBody>
      </p:sp>
    </p:spTree>
    <p:extLst>
      <p:ext uri="{BB962C8B-B14F-4D97-AF65-F5344CB8AC3E}">
        <p14:creationId xmlns:p14="http://schemas.microsoft.com/office/powerpoint/2010/main" val="365855356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20D9192C-25F4-48D1-983A-2FA6EF69DB12}"/>
              </a:ext>
            </a:extLst>
          </p:cNvPr>
          <p:cNvSpPr>
            <a:spLocks noGrp="1"/>
          </p:cNvSpPr>
          <p:nvPr>
            <p:ph type="sldNum" sz="quarter" idx="12"/>
          </p:nvPr>
        </p:nvSpPr>
        <p:spPr/>
        <p:txBody>
          <a:bodyPr/>
          <a:lstStyle/>
          <a:p>
            <a:fld id="{FAEF9944-A4F6-4C59-AEBD-678D6480B8EA}" type="slidenum">
              <a:rPr lang="en-US" smtClean="0"/>
              <a:pPr/>
              <a:t>7</a:t>
            </a:fld>
            <a:endParaRPr lang="en-US"/>
          </a:p>
        </p:txBody>
      </p:sp>
      <p:sp>
        <p:nvSpPr>
          <p:cNvPr id="9" name="TextBox 8">
            <a:extLst>
              <a:ext uri="{FF2B5EF4-FFF2-40B4-BE49-F238E27FC236}">
                <a16:creationId xmlns:a16="http://schemas.microsoft.com/office/drawing/2014/main" id="{74509B9F-524F-4796-86FE-59BFD5C41877}"/>
              </a:ext>
            </a:extLst>
          </p:cNvPr>
          <p:cNvSpPr txBox="1"/>
          <p:nvPr/>
        </p:nvSpPr>
        <p:spPr>
          <a:xfrm>
            <a:off x="225978" y="1476959"/>
            <a:ext cx="11658775" cy="2923877"/>
          </a:xfrm>
          <a:prstGeom prst="rect">
            <a:avLst/>
          </a:prstGeom>
          <a:noFill/>
        </p:spPr>
        <p:txBody>
          <a:bodyPr wrap="square" lIns="91440" tIns="45720" rIns="91440" bIns="45720" rtlCol="0" anchor="t">
            <a:spAutoFit/>
          </a:bodyPr>
          <a:lstStyle/>
          <a:p>
            <a:pPr marL="457200" indent="-457200">
              <a:buFont typeface="Arial" panose="020B0604020202020204" pitchFamily="34" charset="0"/>
              <a:buChar char="•"/>
            </a:pPr>
            <a:r>
              <a:rPr lang="en-US" sz="2600" dirty="0">
                <a:latin typeface="Calibri" panose="020F0502020204030204" pitchFamily="34" charset="0"/>
                <a:cs typeface="Calibri" panose="020F0502020204030204" pitchFamily="34" charset="0"/>
              </a:rPr>
              <a:t>A movement</a:t>
            </a:r>
          </a:p>
          <a:p>
            <a:pPr marL="457200" indent="-457200">
              <a:buFont typeface="Arial" panose="020B0604020202020204" pitchFamily="34" charset="0"/>
              <a:buChar char="•"/>
            </a:pPr>
            <a:r>
              <a:rPr lang="en-US" sz="2600" dirty="0">
                <a:latin typeface="Calibri" panose="020F0502020204030204" pitchFamily="34" charset="0"/>
                <a:cs typeface="Calibri" panose="020F0502020204030204" pitchFamily="34" charset="0"/>
              </a:rPr>
              <a:t>A National and State-level framework of systems change </a:t>
            </a:r>
          </a:p>
          <a:p>
            <a:pPr marL="457200" indent="-457200">
              <a:buFont typeface="Arial" panose="020B0604020202020204" pitchFamily="34" charset="0"/>
              <a:buChar char="•"/>
            </a:pPr>
            <a:r>
              <a:rPr lang="en-US" sz="2600" dirty="0">
                <a:latin typeface="Calibri" panose="020F0502020204030204" pitchFamily="34" charset="0"/>
                <a:cs typeface="Calibri" panose="020F0502020204030204" pitchFamily="34" charset="0"/>
              </a:rPr>
              <a:t>A set of values</a:t>
            </a:r>
          </a:p>
          <a:p>
            <a:pPr marL="457200" indent="-457200">
              <a:buFont typeface="Arial" panose="020B0604020202020204" pitchFamily="34" charset="0"/>
              <a:buChar char="•"/>
            </a:pPr>
            <a:endParaRPr lang="en-US" sz="2800" dirty="0">
              <a:latin typeface="Calibri" panose="020F0502020204030204" pitchFamily="34" charset="0"/>
              <a:cs typeface="Calibri" panose="020F0502020204030204" pitchFamily="34" charset="0"/>
            </a:endParaRPr>
          </a:p>
          <a:p>
            <a:r>
              <a:rPr lang="en-US" sz="2400" b="1" i="1" dirty="0">
                <a:latin typeface="Calibri"/>
                <a:cs typeface="Calibri"/>
              </a:rPr>
              <a:t>“Employment First is a national systems-change framework centered on the premise that all individuals, including those with the most significant disabilities, are capable of full participation in competitive integrated employment and community life.”</a:t>
            </a:r>
            <a:endParaRPr lang="en-US" sz="2400" dirty="0">
              <a:latin typeface="Calibri"/>
              <a:cs typeface="Calibri"/>
            </a:endParaRPr>
          </a:p>
        </p:txBody>
      </p:sp>
      <p:sp>
        <p:nvSpPr>
          <p:cNvPr id="2" name="TextBox 1">
            <a:extLst>
              <a:ext uri="{FF2B5EF4-FFF2-40B4-BE49-F238E27FC236}">
                <a16:creationId xmlns:a16="http://schemas.microsoft.com/office/drawing/2014/main" id="{17D2908A-430E-4E02-AF6F-23065E642D05}"/>
              </a:ext>
            </a:extLst>
          </p:cNvPr>
          <p:cNvSpPr txBox="1"/>
          <p:nvPr/>
        </p:nvSpPr>
        <p:spPr>
          <a:xfrm>
            <a:off x="284480" y="229641"/>
            <a:ext cx="7719652" cy="83099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sz="4800" b="1" i="1" dirty="0">
                <a:latin typeface="+mj-lt"/>
                <a:cs typeface="Calibri"/>
              </a:rPr>
              <a:t>What</a:t>
            </a:r>
            <a:r>
              <a:rPr lang="en-US" sz="4800" b="1" dirty="0">
                <a:latin typeface="+mj-lt"/>
                <a:cs typeface="Calibri"/>
              </a:rPr>
              <a:t> is Employment First?  </a:t>
            </a:r>
          </a:p>
        </p:txBody>
      </p:sp>
      <p:pic>
        <p:nvPicPr>
          <p:cNvPr id="6" name="Picture 5" descr="Logo&#10;&#10;Description automatically generated with medium confidence">
            <a:extLst>
              <a:ext uri="{FF2B5EF4-FFF2-40B4-BE49-F238E27FC236}">
                <a16:creationId xmlns:a16="http://schemas.microsoft.com/office/drawing/2014/main" id="{C9CA58D3-BB83-A3C0-4679-C199F188734C}"/>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47146" y="5723300"/>
            <a:ext cx="2044910" cy="1012779"/>
          </a:xfrm>
          <a:prstGeom prst="rect">
            <a:avLst/>
          </a:prstGeom>
        </p:spPr>
      </p:pic>
      <p:sp>
        <p:nvSpPr>
          <p:cNvPr id="3" name="TextBox 2">
            <a:extLst>
              <a:ext uri="{FF2B5EF4-FFF2-40B4-BE49-F238E27FC236}">
                <a16:creationId xmlns:a16="http://schemas.microsoft.com/office/drawing/2014/main" id="{2F91822C-C6CE-0768-05F6-E03B407B1F6A}"/>
              </a:ext>
            </a:extLst>
          </p:cNvPr>
          <p:cNvSpPr txBox="1"/>
          <p:nvPr/>
        </p:nvSpPr>
        <p:spPr>
          <a:xfrm>
            <a:off x="225978" y="4708613"/>
            <a:ext cx="2258304" cy="369332"/>
          </a:xfrm>
          <a:prstGeom prst="rect">
            <a:avLst/>
          </a:prstGeom>
          <a:noFill/>
        </p:spPr>
        <p:txBody>
          <a:bodyPr wrap="square" rtlCol="0">
            <a:spAutoFit/>
          </a:bodyPr>
          <a:lstStyle/>
          <a:p>
            <a:r>
              <a:rPr lang="en-US" dirty="0"/>
              <a:t>Source: ODEP, 2012</a:t>
            </a:r>
          </a:p>
        </p:txBody>
      </p:sp>
    </p:spTree>
    <p:extLst>
      <p:ext uri="{BB962C8B-B14F-4D97-AF65-F5344CB8AC3E}">
        <p14:creationId xmlns:p14="http://schemas.microsoft.com/office/powerpoint/2010/main" val="175064044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90C179-FF1E-C5EC-DB63-33DB07900D69}"/>
              </a:ext>
            </a:extLst>
          </p:cNvPr>
          <p:cNvSpPr>
            <a:spLocks noGrp="1"/>
          </p:cNvSpPr>
          <p:nvPr>
            <p:ph type="title"/>
          </p:nvPr>
        </p:nvSpPr>
        <p:spPr>
          <a:xfrm>
            <a:off x="1043631" y="809899"/>
            <a:ext cx="9942716" cy="900568"/>
          </a:xfrm>
        </p:spPr>
        <p:txBody>
          <a:bodyPr anchor="ctr">
            <a:normAutofit/>
          </a:bodyPr>
          <a:lstStyle/>
          <a:p>
            <a:r>
              <a:rPr lang="en-US" sz="4800" b="1" dirty="0"/>
              <a:t>What’s the Vision in Minnesota?</a:t>
            </a:r>
          </a:p>
        </p:txBody>
      </p:sp>
      <p:sp>
        <p:nvSpPr>
          <p:cNvPr id="3" name="Content Placeholder 2">
            <a:extLst>
              <a:ext uri="{FF2B5EF4-FFF2-40B4-BE49-F238E27FC236}">
                <a16:creationId xmlns:a16="http://schemas.microsoft.com/office/drawing/2014/main" id="{D21143F7-9E85-A14A-C469-6EFDC1CEE028}"/>
              </a:ext>
            </a:extLst>
          </p:cNvPr>
          <p:cNvSpPr>
            <a:spLocks noGrp="1"/>
          </p:cNvSpPr>
          <p:nvPr>
            <p:ph idx="1"/>
          </p:nvPr>
        </p:nvSpPr>
        <p:spPr>
          <a:xfrm>
            <a:off x="1040837" y="2505206"/>
            <a:ext cx="9941319" cy="2207238"/>
          </a:xfrm>
        </p:spPr>
        <p:txBody>
          <a:bodyPr vert="horz" lIns="91440" tIns="45720" rIns="91440" bIns="45720" rtlCol="0" anchor="ctr">
            <a:normAutofit/>
          </a:bodyPr>
          <a:lstStyle/>
          <a:p>
            <a:pPr marL="0" indent="0">
              <a:buNone/>
            </a:pPr>
            <a:r>
              <a:rPr lang="en-US" sz="2200" b="1" dirty="0">
                <a:latin typeface="Calibri" panose="020F0502020204030204" pitchFamily="34" charset="0"/>
                <a:ea typeface="Calibri" panose="020F0502020204030204" pitchFamily="34" charset="0"/>
                <a:cs typeface="Calibri" panose="020F0502020204030204" pitchFamily="34" charset="0"/>
              </a:rPr>
              <a:t>People with intellectual and developmental disabilities:</a:t>
            </a:r>
          </a:p>
          <a:p>
            <a:pPr lvl="1"/>
            <a:endParaRPr lang="en-US" sz="2200" dirty="0">
              <a:latin typeface="Calibri" panose="020F0502020204030204" pitchFamily="34" charset="0"/>
              <a:ea typeface="Calibri" panose="020F0502020204030204" pitchFamily="34" charset="0"/>
              <a:cs typeface="Calibri" panose="020F0502020204030204" pitchFamily="34" charset="0"/>
            </a:endParaRPr>
          </a:p>
          <a:p>
            <a:pPr lvl="1"/>
            <a:r>
              <a:rPr lang="en-US" sz="2200" dirty="0">
                <a:latin typeface="Calibri" panose="020F0502020204030204" pitchFamily="34" charset="0"/>
                <a:ea typeface="Calibri" panose="020F0502020204030204" pitchFamily="34" charset="0"/>
                <a:cs typeface="Calibri" panose="020F0502020204030204" pitchFamily="34" charset="0"/>
              </a:rPr>
              <a:t>Have opportunities and support to work in competitive integrated employment (employment services)</a:t>
            </a:r>
          </a:p>
          <a:p>
            <a:pPr lvl="1"/>
            <a:r>
              <a:rPr lang="en-US" sz="2200" dirty="0">
                <a:latin typeface="Calibri" panose="020F0502020204030204" pitchFamily="34" charset="0"/>
                <a:ea typeface="Calibri" panose="020F0502020204030204" pitchFamily="34" charset="0"/>
                <a:cs typeface="Calibri" panose="020F0502020204030204" pitchFamily="34" charset="0"/>
              </a:rPr>
              <a:t>Have full access to, and are integrated within, their chosen communities (day services)</a:t>
            </a:r>
          </a:p>
        </p:txBody>
      </p:sp>
      <p:pic>
        <p:nvPicPr>
          <p:cNvPr id="4" name="Picture 3">
            <a:extLst>
              <a:ext uri="{FF2B5EF4-FFF2-40B4-BE49-F238E27FC236}">
                <a16:creationId xmlns:a16="http://schemas.microsoft.com/office/drawing/2014/main" id="{EA1A917C-E1A9-AAF3-CF75-6DF961D3C14F}"/>
              </a:ext>
            </a:extLst>
          </p:cNvPr>
          <p:cNvPicPr>
            <a:picLocks noChangeAspect="1"/>
          </p:cNvPicPr>
          <p:nvPr/>
        </p:nvPicPr>
        <p:blipFill>
          <a:blip r:embed="rId3"/>
          <a:stretch>
            <a:fillRect/>
          </a:stretch>
        </p:blipFill>
        <p:spPr>
          <a:xfrm>
            <a:off x="10208712" y="5878824"/>
            <a:ext cx="1862160" cy="979176"/>
          </a:xfrm>
          <a:prstGeom prst="rect">
            <a:avLst/>
          </a:prstGeom>
        </p:spPr>
      </p:pic>
    </p:spTree>
    <p:extLst>
      <p:ext uri="{BB962C8B-B14F-4D97-AF65-F5344CB8AC3E}">
        <p14:creationId xmlns:p14="http://schemas.microsoft.com/office/powerpoint/2010/main" val="225374047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BA678E-8C91-CB71-77E9-663F7C234EC5}"/>
              </a:ext>
            </a:extLst>
          </p:cNvPr>
          <p:cNvSpPr>
            <a:spLocks noGrp="1"/>
          </p:cNvSpPr>
          <p:nvPr>
            <p:ph type="title"/>
          </p:nvPr>
        </p:nvSpPr>
        <p:spPr>
          <a:xfrm>
            <a:off x="780377" y="415718"/>
            <a:ext cx="10631245" cy="799896"/>
          </a:xfrm>
        </p:spPr>
        <p:txBody>
          <a:bodyPr anchor="t">
            <a:normAutofit/>
          </a:bodyPr>
          <a:lstStyle/>
          <a:p>
            <a:r>
              <a:rPr lang="en-US" sz="4600" b="1" dirty="0">
                <a:ea typeface="Calibri" panose="020F0502020204030204" pitchFamily="34" charset="0"/>
                <a:cs typeface="Calibri" panose="020F0502020204030204" pitchFamily="34" charset="0"/>
              </a:rPr>
              <a:t>Minnesota Employment First policy</a:t>
            </a:r>
            <a:endParaRPr lang="en-US" sz="4600" dirty="0">
              <a:ea typeface="Calibri" panose="020F0502020204030204" pitchFamily="34" charset="0"/>
              <a:cs typeface="Calibri" panose="020F0502020204030204" pitchFamily="34" charset="0"/>
            </a:endParaRPr>
          </a:p>
        </p:txBody>
      </p:sp>
      <p:pic>
        <p:nvPicPr>
          <p:cNvPr id="4" name="Picture 3" descr="Logo&#10;&#10;Description automatically generated with medium confidence">
            <a:extLst>
              <a:ext uri="{FF2B5EF4-FFF2-40B4-BE49-F238E27FC236}">
                <a16:creationId xmlns:a16="http://schemas.microsoft.com/office/drawing/2014/main" id="{C9D643C3-B2D6-E950-CE12-B1B726452BC9}"/>
              </a:ext>
            </a:extLst>
          </p:cNvPr>
          <p:cNvPicPr>
            <a:picLocks noChangeAspect="1"/>
          </p:cNvPicPr>
          <p:nvPr/>
        </p:nvPicPr>
        <p:blipFill>
          <a:blip r:embed="rId3"/>
          <a:stretch>
            <a:fillRect/>
          </a:stretch>
        </p:blipFill>
        <p:spPr>
          <a:xfrm>
            <a:off x="10414725" y="6015069"/>
            <a:ext cx="1701971" cy="842931"/>
          </a:xfrm>
          <a:prstGeom prst="rect">
            <a:avLst/>
          </a:prstGeom>
        </p:spPr>
      </p:pic>
      <p:sp>
        <p:nvSpPr>
          <p:cNvPr id="5" name="TextBox 4">
            <a:extLst>
              <a:ext uri="{FF2B5EF4-FFF2-40B4-BE49-F238E27FC236}">
                <a16:creationId xmlns:a16="http://schemas.microsoft.com/office/drawing/2014/main" id="{C5E3CFC7-0A4D-5ABE-F087-689FB2BD20BF}"/>
              </a:ext>
            </a:extLst>
          </p:cNvPr>
          <p:cNvSpPr txBox="1"/>
          <p:nvPr/>
        </p:nvSpPr>
        <p:spPr>
          <a:xfrm>
            <a:off x="906239" y="2105953"/>
            <a:ext cx="10631245" cy="1569660"/>
          </a:xfrm>
          <a:prstGeom prst="rect">
            <a:avLst/>
          </a:prstGeom>
          <a:noFill/>
        </p:spPr>
        <p:txBody>
          <a:bodyPr wrap="square" rtlCol="0">
            <a:spAutoFit/>
          </a:bodyPr>
          <a:lstStyle/>
          <a:p>
            <a:r>
              <a:rPr lang="en-US" sz="2400" dirty="0">
                <a:latin typeface="Calibri" panose="020F0502020204030204" pitchFamily="34" charset="0"/>
                <a:ea typeface="Calibri" panose="020F0502020204030204" pitchFamily="34" charset="0"/>
                <a:cs typeface="Calibri" panose="020F0502020204030204" pitchFamily="34" charset="0"/>
              </a:rPr>
              <a:t>“Employment First means raising the expectation that all working age Minnesotans with disabilities can work, want to work, and can achieve competitive integrated employment; and each person will be offered the opportunity to work and earn a competitive wage before being offered other supports and services.”</a:t>
            </a:r>
          </a:p>
        </p:txBody>
      </p:sp>
      <p:sp>
        <p:nvSpPr>
          <p:cNvPr id="6" name="TextBox 5">
            <a:extLst>
              <a:ext uri="{FF2B5EF4-FFF2-40B4-BE49-F238E27FC236}">
                <a16:creationId xmlns:a16="http://schemas.microsoft.com/office/drawing/2014/main" id="{EE5D8E91-5098-F0D1-B2A2-EB8341D31DB0}"/>
              </a:ext>
            </a:extLst>
          </p:cNvPr>
          <p:cNvSpPr txBox="1"/>
          <p:nvPr/>
        </p:nvSpPr>
        <p:spPr>
          <a:xfrm>
            <a:off x="906239" y="4165842"/>
            <a:ext cx="4049807" cy="400110"/>
          </a:xfrm>
          <a:prstGeom prst="rect">
            <a:avLst/>
          </a:prstGeom>
          <a:noFill/>
        </p:spPr>
        <p:txBody>
          <a:bodyPr wrap="square" rtlCol="0">
            <a:spAutoFit/>
          </a:bodyPr>
          <a:lstStyle/>
          <a:p>
            <a:r>
              <a:rPr lang="en-US" sz="2000" i="1" dirty="0">
                <a:latin typeface="Calibri" panose="020F0502020204030204" pitchFamily="34" charset="0"/>
                <a:ea typeface="Calibri" panose="020F0502020204030204" pitchFamily="34" charset="0"/>
                <a:cs typeface="Calibri" panose="020F0502020204030204" pitchFamily="34" charset="0"/>
              </a:rPr>
              <a:t>Source: DHS, 2014 and 2020</a:t>
            </a:r>
            <a:endParaRPr lang="en-US" sz="2000" dirty="0"/>
          </a:p>
        </p:txBody>
      </p:sp>
    </p:spTree>
    <p:extLst>
      <p:ext uri="{BB962C8B-B14F-4D97-AF65-F5344CB8AC3E}">
        <p14:creationId xmlns:p14="http://schemas.microsoft.com/office/powerpoint/2010/main" val="627530137"/>
      </p:ext>
    </p:extLst>
  </p:cSld>
  <p:clrMapOvr>
    <a:masterClrMapping/>
  </p:clrMapOvr>
  <mc:AlternateContent xmlns:mc="http://schemas.openxmlformats.org/markup-compatibility/2006" xmlns:p14="http://schemas.microsoft.com/office/powerpoint/2010/main">
    <mc:Choice Requires="p14">
      <p:transition spd="slow" p14:dur="2000" advTm="35439"/>
    </mc:Choice>
    <mc:Fallback xmlns="">
      <p:transition spd="slow" advTm="35439"/>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71430F-C0B9-8620-C959-2F2C4A1FA01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DC05B96-C4B6-660C-F165-6A25C4A99B88}"/>
              </a:ext>
            </a:extLst>
          </p:cNvPr>
          <p:cNvSpPr>
            <a:spLocks noGrp="1"/>
          </p:cNvSpPr>
          <p:nvPr>
            <p:ph type="title"/>
          </p:nvPr>
        </p:nvSpPr>
        <p:spPr>
          <a:xfrm>
            <a:off x="1019551" y="252673"/>
            <a:ext cx="9885515" cy="753456"/>
          </a:xfrm>
        </p:spPr>
        <p:txBody>
          <a:bodyPr anchor="t">
            <a:noAutofit/>
          </a:bodyPr>
          <a:lstStyle/>
          <a:p>
            <a:r>
              <a:rPr lang="en-US" sz="4600" b="1" dirty="0">
                <a:cs typeface="Calibri Light"/>
              </a:rPr>
              <a:t>Minnesota’s vision for Day Supports</a:t>
            </a:r>
            <a:endParaRPr lang="en-US" sz="4600" dirty="0"/>
          </a:p>
        </p:txBody>
      </p:sp>
      <p:sp>
        <p:nvSpPr>
          <p:cNvPr id="3" name="Content Placeholder 2">
            <a:extLst>
              <a:ext uri="{FF2B5EF4-FFF2-40B4-BE49-F238E27FC236}">
                <a16:creationId xmlns:a16="http://schemas.microsoft.com/office/drawing/2014/main" id="{0B34C345-42F2-C7EE-4B41-902D79D6EF0E}"/>
              </a:ext>
            </a:extLst>
          </p:cNvPr>
          <p:cNvSpPr>
            <a:spLocks noGrp="1"/>
          </p:cNvSpPr>
          <p:nvPr>
            <p:ph idx="1"/>
          </p:nvPr>
        </p:nvSpPr>
        <p:spPr>
          <a:xfrm>
            <a:off x="1019551" y="1393722"/>
            <a:ext cx="9885515" cy="3729424"/>
          </a:xfrm>
        </p:spPr>
        <p:txBody>
          <a:bodyPr vert="horz" lIns="91440" tIns="45720" rIns="91440" bIns="45720" rtlCol="0">
            <a:noAutofit/>
          </a:bodyPr>
          <a:lstStyle/>
          <a:p>
            <a:pPr marL="0" indent="0">
              <a:buNone/>
            </a:pPr>
            <a:r>
              <a:rPr lang="en-US" sz="2200" dirty="0">
                <a:latin typeface="Calibri" panose="020F0502020204030204" pitchFamily="34" charset="0"/>
                <a:ea typeface="Calibri" panose="020F0502020204030204" pitchFamily="34" charset="0"/>
                <a:cs typeface="Calibri" panose="020F0502020204030204" pitchFamily="34" charset="0"/>
              </a:rPr>
              <a:t>Offering someone a meaningful day means helping people grow and maintain life skills with experiences that help them realize who they are, what they are capable of, and how they can connect with other people in the community. </a:t>
            </a:r>
          </a:p>
          <a:p>
            <a:pPr marL="0" indent="0">
              <a:buNone/>
            </a:pPr>
            <a:endParaRPr lang="en-US" sz="2200" dirty="0">
              <a:latin typeface="Calibri" panose="020F0502020204030204" pitchFamily="34" charset="0"/>
              <a:ea typeface="Calibri" panose="020F0502020204030204" pitchFamily="34" charset="0"/>
              <a:cs typeface="Calibri" panose="020F0502020204030204" pitchFamily="34" charset="0"/>
            </a:endParaRPr>
          </a:p>
          <a:p>
            <a:pPr marL="0" indent="0">
              <a:buNone/>
            </a:pPr>
            <a:r>
              <a:rPr lang="en-US" sz="2200" dirty="0">
                <a:latin typeface="Calibri" panose="020F0502020204030204" pitchFamily="34" charset="0"/>
                <a:ea typeface="Calibri" panose="020F0502020204030204" pitchFamily="34" charset="0"/>
                <a:cs typeface="Calibri" panose="020F0502020204030204" pitchFamily="34" charset="0"/>
              </a:rPr>
              <a:t>Day support services shall: </a:t>
            </a:r>
          </a:p>
          <a:p>
            <a:pPr marL="0" indent="0">
              <a:buNone/>
            </a:pPr>
            <a:r>
              <a:rPr lang="en-US" sz="2200" dirty="0">
                <a:latin typeface="Calibri" panose="020F0502020204030204" pitchFamily="34" charset="0"/>
                <a:ea typeface="Calibri" panose="020F0502020204030204" pitchFamily="34" charset="0"/>
                <a:cs typeface="Calibri" panose="020F0502020204030204" pitchFamily="34" charset="0"/>
              </a:rPr>
              <a:t>• be person-centered, </a:t>
            </a:r>
          </a:p>
          <a:p>
            <a:pPr marL="0" indent="0">
              <a:buNone/>
            </a:pPr>
            <a:r>
              <a:rPr lang="en-US" sz="2200" dirty="0">
                <a:latin typeface="Calibri" panose="020F0502020204030204" pitchFamily="34" charset="0"/>
                <a:ea typeface="Calibri" panose="020F0502020204030204" pitchFamily="34" charset="0"/>
                <a:cs typeface="Calibri" panose="020F0502020204030204" pitchFamily="34" charset="0"/>
              </a:rPr>
              <a:t>• promote community membership and participation, </a:t>
            </a:r>
          </a:p>
          <a:p>
            <a:pPr marL="0" indent="0">
              <a:buNone/>
            </a:pPr>
            <a:r>
              <a:rPr lang="en-US" sz="2200" dirty="0">
                <a:latin typeface="Calibri" panose="020F0502020204030204" pitchFamily="34" charset="0"/>
                <a:ea typeface="Calibri" panose="020F0502020204030204" pitchFamily="34" charset="0"/>
                <a:cs typeface="Calibri" panose="020F0502020204030204" pitchFamily="34" charset="0"/>
              </a:rPr>
              <a:t>• facilitate skill building and relationships</a:t>
            </a:r>
          </a:p>
          <a:p>
            <a:pPr marL="0" indent="0">
              <a:buNone/>
            </a:pPr>
            <a:r>
              <a:rPr lang="en-US" sz="2200" dirty="0">
                <a:latin typeface="Calibri" panose="020F0502020204030204" pitchFamily="34" charset="0"/>
                <a:ea typeface="Calibri" panose="020F0502020204030204" pitchFamily="34" charset="0"/>
                <a:cs typeface="Calibri" panose="020F0502020204030204" pitchFamily="34" charset="0"/>
              </a:rPr>
              <a:t>• be outcome oriented. </a:t>
            </a:r>
            <a:endParaRPr lang="en-US" sz="2200" dirty="0">
              <a:solidFill>
                <a:schemeClr val="tx1">
                  <a:alpha val="55000"/>
                </a:schemeClr>
              </a:solidFill>
              <a:latin typeface="Calibri" panose="020F0502020204030204" pitchFamily="34" charset="0"/>
              <a:ea typeface="Calibri" panose="020F0502020204030204" pitchFamily="34" charset="0"/>
              <a:cs typeface="Calibri" panose="020F0502020204030204" pitchFamily="34" charset="0"/>
            </a:endParaRPr>
          </a:p>
        </p:txBody>
      </p:sp>
      <p:pic>
        <p:nvPicPr>
          <p:cNvPr id="4" name="Picture 3" descr="Logo&#10;&#10;Description automatically generated with medium confidence">
            <a:extLst>
              <a:ext uri="{FF2B5EF4-FFF2-40B4-BE49-F238E27FC236}">
                <a16:creationId xmlns:a16="http://schemas.microsoft.com/office/drawing/2014/main" id="{3D71E26A-0CA2-3244-583F-D2E6871AA408}"/>
              </a:ext>
            </a:extLst>
          </p:cNvPr>
          <p:cNvPicPr>
            <a:picLocks noChangeAspect="1"/>
          </p:cNvPicPr>
          <p:nvPr/>
        </p:nvPicPr>
        <p:blipFill>
          <a:blip r:embed="rId3"/>
          <a:stretch>
            <a:fillRect/>
          </a:stretch>
        </p:blipFill>
        <p:spPr>
          <a:xfrm>
            <a:off x="10384077" y="6046999"/>
            <a:ext cx="1637501" cy="811001"/>
          </a:xfrm>
          <a:prstGeom prst="rect">
            <a:avLst/>
          </a:prstGeom>
        </p:spPr>
      </p:pic>
      <p:sp>
        <p:nvSpPr>
          <p:cNvPr id="5" name="TextBox 4">
            <a:extLst>
              <a:ext uri="{FF2B5EF4-FFF2-40B4-BE49-F238E27FC236}">
                <a16:creationId xmlns:a16="http://schemas.microsoft.com/office/drawing/2014/main" id="{C83A4179-289B-682A-2B65-514DB9DED1AB}"/>
              </a:ext>
            </a:extLst>
          </p:cNvPr>
          <p:cNvSpPr txBox="1"/>
          <p:nvPr/>
        </p:nvSpPr>
        <p:spPr>
          <a:xfrm>
            <a:off x="1019551" y="5464278"/>
            <a:ext cx="5076448" cy="369332"/>
          </a:xfrm>
          <a:prstGeom prst="rect">
            <a:avLst/>
          </a:prstGeom>
          <a:noFill/>
        </p:spPr>
        <p:txBody>
          <a:bodyPr wrap="square" rtlCol="0">
            <a:spAutoFit/>
          </a:bodyPr>
          <a:lstStyle/>
          <a:p>
            <a:r>
              <a:rPr lang="en-US" i="1" dirty="0"/>
              <a:t>Source: DHS Policy statement, 2023</a:t>
            </a:r>
          </a:p>
        </p:txBody>
      </p:sp>
    </p:spTree>
    <p:extLst>
      <p:ext uri="{BB962C8B-B14F-4D97-AF65-F5344CB8AC3E}">
        <p14:creationId xmlns:p14="http://schemas.microsoft.com/office/powerpoint/2010/main" val="3062180821"/>
      </p:ext>
    </p:extLst>
  </p:cSld>
  <p:clrMapOvr>
    <a:masterClrMapping/>
  </p:clrMapOvr>
  <mc:AlternateContent xmlns:mc="http://schemas.openxmlformats.org/markup-compatibility/2006" xmlns:p14="http://schemas.microsoft.com/office/powerpoint/2010/main">
    <mc:Choice Requires="p14">
      <p:transition spd="slow" p14:dur="2000" advTm="35439"/>
    </mc:Choice>
    <mc:Fallback xmlns="">
      <p:transition spd="slow" advTm="35439"/>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008DF1-280B-C386-D61C-DC4271B764B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D57859E-AF23-BABF-810B-931D60F5BBF6}"/>
              </a:ext>
            </a:extLst>
          </p:cNvPr>
          <p:cNvSpPr>
            <a:spLocks noGrp="1"/>
          </p:cNvSpPr>
          <p:nvPr>
            <p:ph type="title"/>
          </p:nvPr>
        </p:nvSpPr>
        <p:spPr>
          <a:xfrm>
            <a:off x="1042234" y="396539"/>
            <a:ext cx="9942716" cy="1076654"/>
          </a:xfrm>
        </p:spPr>
        <p:txBody>
          <a:bodyPr anchor="ctr">
            <a:normAutofit/>
          </a:bodyPr>
          <a:lstStyle/>
          <a:p>
            <a:r>
              <a:rPr lang="en-US" sz="4800" b="1" dirty="0"/>
              <a:t>Different types of employment</a:t>
            </a:r>
          </a:p>
        </p:txBody>
      </p:sp>
      <p:sp>
        <p:nvSpPr>
          <p:cNvPr id="3" name="Content Placeholder 2">
            <a:extLst>
              <a:ext uri="{FF2B5EF4-FFF2-40B4-BE49-F238E27FC236}">
                <a16:creationId xmlns:a16="http://schemas.microsoft.com/office/drawing/2014/main" id="{9AFFD8F2-4EA4-44AA-6C29-0EEAE44F9783}"/>
              </a:ext>
            </a:extLst>
          </p:cNvPr>
          <p:cNvSpPr>
            <a:spLocks noGrp="1"/>
          </p:cNvSpPr>
          <p:nvPr>
            <p:ph idx="1"/>
          </p:nvPr>
        </p:nvSpPr>
        <p:spPr>
          <a:xfrm>
            <a:off x="1042234" y="1640470"/>
            <a:ext cx="9941319" cy="2688974"/>
          </a:xfrm>
        </p:spPr>
        <p:txBody>
          <a:bodyPr anchor="ctr">
            <a:normAutofit/>
          </a:bodyPr>
          <a:lstStyle/>
          <a:p>
            <a:r>
              <a:rPr lang="en-US" sz="2600" dirty="0">
                <a:latin typeface="Calibri" panose="020F0502020204030204" pitchFamily="34" charset="0"/>
                <a:ea typeface="Calibri" panose="020F0502020204030204" pitchFamily="34" charset="0"/>
                <a:cs typeface="Calibri" panose="020F0502020204030204" pitchFamily="34" charset="0"/>
              </a:rPr>
              <a:t>Sheltered workshops</a:t>
            </a:r>
          </a:p>
          <a:p>
            <a:r>
              <a:rPr lang="en-US" sz="2600" dirty="0">
                <a:latin typeface="Calibri" panose="020F0502020204030204" pitchFamily="34" charset="0"/>
                <a:ea typeface="Calibri" panose="020F0502020204030204" pitchFamily="34" charset="0"/>
                <a:cs typeface="Calibri" panose="020F0502020204030204" pitchFamily="34" charset="0"/>
              </a:rPr>
              <a:t>Group/enclave</a:t>
            </a:r>
          </a:p>
          <a:p>
            <a:r>
              <a:rPr lang="en-US" sz="2600" dirty="0">
                <a:latin typeface="Calibri" panose="020F0502020204030204" pitchFamily="34" charset="0"/>
                <a:ea typeface="Calibri" panose="020F0502020204030204" pitchFamily="34" charset="0"/>
                <a:cs typeface="Calibri" panose="020F0502020204030204" pitchFamily="34" charset="0"/>
              </a:rPr>
              <a:t>Contract</a:t>
            </a:r>
          </a:p>
          <a:p>
            <a:r>
              <a:rPr lang="en-US" sz="2600" dirty="0">
                <a:latin typeface="Calibri" panose="020F0502020204030204" pitchFamily="34" charset="0"/>
                <a:ea typeface="Calibri" panose="020F0502020204030204" pitchFamily="34" charset="0"/>
                <a:cs typeface="Calibri" panose="020F0502020204030204" pitchFamily="34" charset="0"/>
              </a:rPr>
              <a:t>Competitive integrated employment</a:t>
            </a:r>
          </a:p>
        </p:txBody>
      </p:sp>
      <p:pic>
        <p:nvPicPr>
          <p:cNvPr id="9" name="Picture 8" descr="A black background with red text&#10;&#10;Description automatically generated">
            <a:extLst>
              <a:ext uri="{FF2B5EF4-FFF2-40B4-BE49-F238E27FC236}">
                <a16:creationId xmlns:a16="http://schemas.microsoft.com/office/drawing/2014/main" id="{7876B4C1-48BE-A505-B89B-2D7BC2F60E15}"/>
              </a:ext>
            </a:extLst>
          </p:cNvPr>
          <p:cNvPicPr>
            <a:picLocks noChangeAspect="1"/>
          </p:cNvPicPr>
          <p:nvPr/>
        </p:nvPicPr>
        <p:blipFill>
          <a:blip r:embed="rId3"/>
          <a:stretch>
            <a:fillRect/>
          </a:stretch>
        </p:blipFill>
        <p:spPr>
          <a:xfrm>
            <a:off x="10210883" y="5874706"/>
            <a:ext cx="1873541" cy="985161"/>
          </a:xfrm>
          <a:prstGeom prst="rect">
            <a:avLst/>
          </a:prstGeom>
        </p:spPr>
      </p:pic>
    </p:spTree>
    <p:extLst>
      <p:ext uri="{BB962C8B-B14F-4D97-AF65-F5344CB8AC3E}">
        <p14:creationId xmlns:p14="http://schemas.microsoft.com/office/powerpoint/2010/main" val="183014445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11BCC8-2E68-4E5E-E7D0-BFE5DD0A9E70}"/>
              </a:ext>
            </a:extLst>
          </p:cNvPr>
          <p:cNvSpPr>
            <a:spLocks noGrp="1"/>
          </p:cNvSpPr>
          <p:nvPr>
            <p:ph type="title"/>
          </p:nvPr>
        </p:nvSpPr>
        <p:spPr>
          <a:xfrm>
            <a:off x="1043631" y="559377"/>
            <a:ext cx="9942716" cy="1076654"/>
          </a:xfrm>
        </p:spPr>
        <p:txBody>
          <a:bodyPr anchor="ctr">
            <a:normAutofit/>
          </a:bodyPr>
          <a:lstStyle/>
          <a:p>
            <a:r>
              <a:rPr lang="en-US" sz="4800" b="1" dirty="0"/>
              <a:t>Competitive Integrated Employment</a:t>
            </a:r>
          </a:p>
        </p:txBody>
      </p:sp>
      <p:sp>
        <p:nvSpPr>
          <p:cNvPr id="3" name="Content Placeholder 2">
            <a:extLst>
              <a:ext uri="{FF2B5EF4-FFF2-40B4-BE49-F238E27FC236}">
                <a16:creationId xmlns:a16="http://schemas.microsoft.com/office/drawing/2014/main" id="{5668D8A2-A199-FDEC-A84C-B2DB6976D52F}"/>
              </a:ext>
            </a:extLst>
          </p:cNvPr>
          <p:cNvSpPr>
            <a:spLocks noGrp="1"/>
          </p:cNvSpPr>
          <p:nvPr>
            <p:ph idx="1"/>
          </p:nvPr>
        </p:nvSpPr>
        <p:spPr>
          <a:xfrm>
            <a:off x="1043631" y="2282475"/>
            <a:ext cx="9941319" cy="2688974"/>
          </a:xfrm>
        </p:spPr>
        <p:txBody>
          <a:bodyPr anchor="ctr">
            <a:normAutofit/>
          </a:bodyPr>
          <a:lstStyle/>
          <a:p>
            <a:r>
              <a:rPr lang="en-US" sz="2200" dirty="0">
                <a:latin typeface="Calibri" panose="020F0502020204030204" pitchFamily="34" charset="0"/>
                <a:ea typeface="Calibri" panose="020F0502020204030204" pitchFamily="34" charset="0"/>
                <a:cs typeface="Calibri" panose="020F0502020204030204" pitchFamily="34" charset="0"/>
              </a:rPr>
              <a:t>Full-time, part-time, or self-employment with and without supports</a:t>
            </a:r>
          </a:p>
          <a:p>
            <a:r>
              <a:rPr lang="en-US" sz="2200" dirty="0">
                <a:latin typeface="Calibri" panose="020F0502020204030204" pitchFamily="34" charset="0"/>
                <a:ea typeface="Calibri" panose="020F0502020204030204" pitchFamily="34" charset="0"/>
                <a:cs typeface="Calibri" panose="020F0502020204030204" pitchFamily="34" charset="0"/>
              </a:rPr>
              <a:t>In the competitive labor force</a:t>
            </a:r>
          </a:p>
          <a:p>
            <a:r>
              <a:rPr lang="en-US" sz="2200" dirty="0">
                <a:latin typeface="Calibri" panose="020F0502020204030204" pitchFamily="34" charset="0"/>
                <a:ea typeface="Calibri" panose="020F0502020204030204" pitchFamily="34" charset="0"/>
                <a:cs typeface="Calibri" panose="020F0502020204030204" pitchFamily="34" charset="0"/>
              </a:rPr>
              <a:t>On the payroll of a competitive business or industry</a:t>
            </a:r>
          </a:p>
          <a:p>
            <a:r>
              <a:rPr lang="en-US" sz="2200" dirty="0">
                <a:latin typeface="Calibri" panose="020F0502020204030204" pitchFamily="34" charset="0"/>
                <a:ea typeface="Calibri" panose="020F0502020204030204" pitchFamily="34" charset="0"/>
                <a:cs typeface="Calibri" panose="020F0502020204030204" pitchFamily="34" charset="0"/>
              </a:rPr>
              <a:t>Pays at least minimum wage, but not less than the customary wage and level of benefits paid by the employer for the same or similar work performed by workers without a disability</a:t>
            </a:r>
          </a:p>
        </p:txBody>
      </p:sp>
      <p:pic>
        <p:nvPicPr>
          <p:cNvPr id="9" name="Picture 8" descr="A black background with red text&#10;&#10;Description automatically generated">
            <a:extLst>
              <a:ext uri="{FF2B5EF4-FFF2-40B4-BE49-F238E27FC236}">
                <a16:creationId xmlns:a16="http://schemas.microsoft.com/office/drawing/2014/main" id="{BDD633AB-9B4C-DB0A-8066-FC620E8F7CE4}"/>
              </a:ext>
            </a:extLst>
          </p:cNvPr>
          <p:cNvPicPr>
            <a:picLocks noChangeAspect="1"/>
          </p:cNvPicPr>
          <p:nvPr/>
        </p:nvPicPr>
        <p:blipFill>
          <a:blip r:embed="rId3"/>
          <a:stretch>
            <a:fillRect/>
          </a:stretch>
        </p:blipFill>
        <p:spPr>
          <a:xfrm>
            <a:off x="10471759" y="6011882"/>
            <a:ext cx="1612665" cy="847985"/>
          </a:xfrm>
          <a:prstGeom prst="rect">
            <a:avLst/>
          </a:prstGeom>
        </p:spPr>
      </p:pic>
    </p:spTree>
    <p:extLst>
      <p:ext uri="{BB962C8B-B14F-4D97-AF65-F5344CB8AC3E}">
        <p14:creationId xmlns:p14="http://schemas.microsoft.com/office/powerpoint/2010/main" val="13640587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C1DD1A8A-57D5-4A81-AD04-532B043C56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Yellow question mark">
            <a:extLst>
              <a:ext uri="{FF2B5EF4-FFF2-40B4-BE49-F238E27FC236}">
                <a16:creationId xmlns:a16="http://schemas.microsoft.com/office/drawing/2014/main" id="{2CF26179-F7A9-56A4-757D-4ADDB529C039}"/>
              </a:ext>
            </a:extLst>
          </p:cNvPr>
          <p:cNvPicPr>
            <a:picLocks noChangeAspect="1"/>
          </p:cNvPicPr>
          <p:nvPr/>
        </p:nvPicPr>
        <p:blipFill>
          <a:blip r:embed="rId2"/>
          <a:srcRect b="6250"/>
          <a:stretch/>
        </p:blipFill>
        <p:spPr>
          <a:xfrm>
            <a:off x="-3047" y="10"/>
            <a:ext cx="12191999" cy="6857990"/>
          </a:xfrm>
          <a:prstGeom prst="rect">
            <a:avLst/>
          </a:prstGeom>
        </p:spPr>
      </p:pic>
      <p:sp>
        <p:nvSpPr>
          <p:cNvPr id="11" name="Rectangle 10">
            <a:extLst>
              <a:ext uri="{FF2B5EF4-FFF2-40B4-BE49-F238E27FC236}">
                <a16:creationId xmlns:a16="http://schemas.microsoft.com/office/drawing/2014/main" id="{007891EC-4501-44ED-A8C8-B11B6DB767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7602"/>
            <a:ext cx="12191999" cy="3162146"/>
          </a:xfrm>
          <a:prstGeom prst="rect">
            <a:avLst/>
          </a:prstGeom>
          <a:gradFill flip="none" rotWithShape="1">
            <a:gsLst>
              <a:gs pos="0">
                <a:srgbClr val="000000">
                  <a:alpha val="0"/>
                </a:srgbClr>
              </a:gs>
              <a:gs pos="25000">
                <a:srgbClr val="000000">
                  <a:alpha val="15000"/>
                </a:srgbClr>
              </a:gs>
              <a:gs pos="75000">
                <a:srgbClr val="000000">
                  <a:alpha val="15000"/>
                </a:srgbClr>
              </a:gs>
              <a:gs pos="50000">
                <a:srgbClr val="000000">
                  <a:alpha val="30000"/>
                </a:srgbClr>
              </a:gs>
              <a:gs pos="100000">
                <a:srgbClr val="000000">
                  <a:alpha val="0"/>
                </a:srgb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183123C-D4C6-AF13-0C17-C1DFF1C5E398}"/>
              </a:ext>
            </a:extLst>
          </p:cNvPr>
          <p:cNvSpPr>
            <a:spLocks noGrp="1"/>
          </p:cNvSpPr>
          <p:nvPr>
            <p:ph type="title"/>
          </p:nvPr>
        </p:nvSpPr>
        <p:spPr>
          <a:xfrm>
            <a:off x="1097280" y="325550"/>
            <a:ext cx="10058400" cy="3574778"/>
          </a:xfrm>
          <a:effectLst>
            <a:outerShdw blurRad="50800" dist="38100" dir="2700000" algn="tl" rotWithShape="0">
              <a:prstClr val="black">
                <a:alpha val="40000"/>
              </a:prstClr>
            </a:outerShdw>
          </a:effectLst>
        </p:spPr>
        <p:txBody>
          <a:bodyPr vert="horz" lIns="91440" tIns="45720" rIns="91440" bIns="45720" rtlCol="0" anchor="b">
            <a:normAutofit/>
          </a:bodyPr>
          <a:lstStyle/>
          <a:p>
            <a:pPr algn="ctr"/>
            <a:r>
              <a:rPr lang="en-US" sz="5200" b="1">
                <a:solidFill>
                  <a:srgbClr val="FFFFFF"/>
                </a:solidFill>
              </a:rPr>
              <a:t>Questions?</a:t>
            </a:r>
          </a:p>
        </p:txBody>
      </p:sp>
    </p:spTree>
    <p:extLst>
      <p:ext uri="{BB962C8B-B14F-4D97-AF65-F5344CB8AC3E}">
        <p14:creationId xmlns:p14="http://schemas.microsoft.com/office/powerpoint/2010/main" val="409791294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9DEBE8-4F1B-E58F-E58B-27FFE3755DEA}"/>
              </a:ext>
            </a:extLst>
          </p:cNvPr>
          <p:cNvSpPr>
            <a:spLocks noGrp="1"/>
          </p:cNvSpPr>
          <p:nvPr>
            <p:ph type="title"/>
          </p:nvPr>
        </p:nvSpPr>
        <p:spPr>
          <a:xfrm>
            <a:off x="719866" y="253397"/>
            <a:ext cx="5376134" cy="736307"/>
          </a:xfrm>
        </p:spPr>
        <p:txBody>
          <a:bodyPr vert="horz" lIns="91440" tIns="45720" rIns="91440" bIns="45720" rtlCol="0" anchor="ctr">
            <a:noAutofit/>
          </a:bodyPr>
          <a:lstStyle/>
          <a:p>
            <a:r>
              <a:rPr lang="en-US" sz="4800" b="1" kern="1200" dirty="0">
                <a:solidFill>
                  <a:schemeClr val="tx1"/>
                </a:solidFill>
                <a:latin typeface="+mj-lt"/>
                <a:ea typeface="+mj-ea"/>
                <a:cs typeface="+mj-cs"/>
              </a:rPr>
              <a:t>Resources</a:t>
            </a:r>
          </a:p>
        </p:txBody>
      </p:sp>
      <p:sp>
        <p:nvSpPr>
          <p:cNvPr id="5" name="TextBox 4">
            <a:extLst>
              <a:ext uri="{FF2B5EF4-FFF2-40B4-BE49-F238E27FC236}">
                <a16:creationId xmlns:a16="http://schemas.microsoft.com/office/drawing/2014/main" id="{54B9F81D-860E-9242-6A97-2F728C7BF12E}"/>
              </a:ext>
            </a:extLst>
          </p:cNvPr>
          <p:cNvSpPr txBox="1"/>
          <p:nvPr/>
        </p:nvSpPr>
        <p:spPr>
          <a:xfrm>
            <a:off x="719866" y="1464595"/>
            <a:ext cx="10726270" cy="3157509"/>
          </a:xfrm>
          <a:prstGeom prst="rect">
            <a:avLst/>
          </a:prstGeom>
        </p:spPr>
        <p:txBody>
          <a:bodyPr vert="horz" lIns="91440" tIns="45720" rIns="91440" bIns="45720" rtlCol="0" anchor="t">
            <a:normAutofit/>
          </a:bodyPr>
          <a:lstStyle/>
          <a:p>
            <a:pPr marL="285750" marR="0" lvl="0" indent="-228600" fontAlgn="auto">
              <a:lnSpc>
                <a:spcPct val="90000"/>
              </a:lnSpc>
              <a:spcBef>
                <a:spcPts val="0"/>
              </a:spcBef>
              <a:spcAft>
                <a:spcPts val="600"/>
              </a:spcAft>
              <a:buClrTx/>
              <a:buSzTx/>
              <a:buFont typeface="Arial" panose="020B0604020202020204" pitchFamily="34" charset="0"/>
              <a:buChar char="•"/>
              <a:tabLst/>
              <a:defRPr/>
            </a:pPr>
            <a:r>
              <a:rPr kumimoji="0" lang="en-US" sz="1700" b="0" i="0" u="none" strike="noStrike" cap="none" spc="0" normalizeH="0" baseline="0" noProof="0" dirty="0">
                <a:ln>
                  <a:noFill/>
                </a:ln>
                <a:effectLst/>
                <a:uLnTx/>
                <a:uFillTx/>
                <a:latin typeface="Calibri" panose="020F0502020204030204" pitchFamily="34" charset="0"/>
                <a:ea typeface="Calibri" panose="020F0502020204030204" pitchFamily="34" charset="0"/>
                <a:cs typeface="Calibri" panose="020F0502020204030204" pitchFamily="34" charset="0"/>
              </a:rPr>
              <a:t>MN Employment First Policy, Vision, Values, and Guiding Principles. </a:t>
            </a:r>
            <a:r>
              <a:rPr kumimoji="0" lang="en-US" sz="1700" b="0" i="0" u="none" strike="noStrike" cap="none" spc="0" normalizeH="0" baseline="0" noProof="0" dirty="0">
                <a:ln>
                  <a:noFill/>
                </a:ln>
                <a:effectLst/>
                <a:uLnTx/>
                <a:uFillTx/>
                <a:latin typeface="Calibri" panose="020F0502020204030204" pitchFamily="34" charset="0"/>
                <a:ea typeface="Calibri" panose="020F0502020204030204" pitchFamily="34" charset="0"/>
                <a:cs typeface="Calibri" panose="020F0502020204030204" pitchFamily="34" charset="0"/>
                <a:hlinkClick r:id="rId3"/>
              </a:rPr>
              <a:t>https://mn.gov/dhs/partners-and-providers/news-initiatives-reports-workgroups/long-term-services-and-supports/employment-first/</a:t>
            </a:r>
            <a:endParaRPr kumimoji="0" lang="en-US" sz="1700" b="0" i="0" u="none" strike="noStrike" cap="none" spc="0" normalizeH="0" baseline="0" noProof="0" dirty="0">
              <a:ln>
                <a:noFill/>
              </a:ln>
              <a:effectLst/>
              <a:uLnTx/>
              <a:uFillTx/>
              <a:latin typeface="Calibri" panose="020F0502020204030204" pitchFamily="34" charset="0"/>
              <a:ea typeface="Calibri" panose="020F0502020204030204" pitchFamily="34" charset="0"/>
              <a:cs typeface="Calibri" panose="020F0502020204030204" pitchFamily="34" charset="0"/>
            </a:endParaRPr>
          </a:p>
          <a:p>
            <a:pPr marL="285750" marR="0" lvl="0" indent="-228600" fontAlgn="auto">
              <a:lnSpc>
                <a:spcPct val="90000"/>
              </a:lnSpc>
              <a:spcBef>
                <a:spcPts val="0"/>
              </a:spcBef>
              <a:spcAft>
                <a:spcPts val="600"/>
              </a:spcAft>
              <a:buClrTx/>
              <a:buSzTx/>
              <a:buFont typeface="Arial" panose="020B0604020202020204" pitchFamily="34" charset="0"/>
              <a:buChar char="•"/>
              <a:tabLst/>
              <a:defRPr/>
            </a:pPr>
            <a:r>
              <a:rPr kumimoji="0" lang="en-US" sz="1700" b="0" i="0" u="none" strike="noStrike" cap="none" spc="0" normalizeH="0" baseline="0" noProof="0" dirty="0">
                <a:ln>
                  <a:noFill/>
                </a:ln>
                <a:effectLst/>
                <a:uLnTx/>
                <a:uFillTx/>
                <a:latin typeface="Calibri" panose="020F0502020204030204" pitchFamily="34" charset="0"/>
                <a:ea typeface="Calibri" panose="020F0502020204030204" pitchFamily="34" charset="0"/>
                <a:cs typeface="Calibri" panose="020F0502020204030204" pitchFamily="34" charset="0"/>
              </a:rPr>
              <a:t>MN Employment First in Law. </a:t>
            </a:r>
            <a:r>
              <a:rPr kumimoji="0" lang="en-US" sz="1700" b="0" i="0" u="none" strike="noStrike" cap="none" spc="0" normalizeH="0" baseline="0" noProof="0" dirty="0">
                <a:ln>
                  <a:noFill/>
                </a:ln>
                <a:effectLst/>
                <a:uLnTx/>
                <a:uFillTx/>
                <a:latin typeface="Calibri" panose="020F0502020204030204" pitchFamily="34" charset="0"/>
                <a:ea typeface="Calibri" panose="020F0502020204030204" pitchFamily="34" charset="0"/>
                <a:cs typeface="Calibri" panose="020F0502020204030204" pitchFamily="34" charset="0"/>
                <a:hlinkClick r:id="rId3"/>
              </a:rPr>
              <a:t>https://mn.gov/dhs/partners-and-providers/news-initiatives-reports-workgroups/long-term-services-and-supports/employment-first/</a:t>
            </a:r>
            <a:r>
              <a:rPr kumimoji="0" lang="en-US" sz="1700" b="0" i="0" u="none" strike="noStrike" cap="none" spc="0" normalizeH="0" baseline="0" noProof="0" dirty="0">
                <a:ln>
                  <a:noFill/>
                </a:ln>
                <a:effectLst/>
                <a:uLnTx/>
                <a:uFillTx/>
                <a:latin typeface="Calibri" panose="020F0502020204030204" pitchFamily="34" charset="0"/>
                <a:ea typeface="Calibri" panose="020F0502020204030204" pitchFamily="34" charset="0"/>
                <a:cs typeface="Calibri" panose="020F0502020204030204" pitchFamily="34" charset="0"/>
              </a:rPr>
              <a:t> </a:t>
            </a:r>
          </a:p>
          <a:p>
            <a:pPr marL="285750" marR="0" lvl="0" indent="-228600" fontAlgn="auto">
              <a:lnSpc>
                <a:spcPct val="90000"/>
              </a:lnSpc>
              <a:spcBef>
                <a:spcPts val="0"/>
              </a:spcBef>
              <a:spcAft>
                <a:spcPts val="600"/>
              </a:spcAft>
              <a:buClrTx/>
              <a:buSzTx/>
              <a:buFont typeface="Arial" panose="020B0604020202020204" pitchFamily="34" charset="0"/>
              <a:buChar char="•"/>
              <a:tabLst/>
              <a:defRPr/>
            </a:pPr>
            <a:r>
              <a:rPr kumimoji="0" lang="en-US" sz="1700" b="0" i="0" u="none" strike="noStrike" cap="none" spc="0" normalizeH="0" baseline="0" noProof="0" dirty="0">
                <a:ln>
                  <a:noFill/>
                </a:ln>
                <a:effectLst/>
                <a:uLnTx/>
                <a:uFillTx/>
                <a:latin typeface="Calibri" panose="020F0502020204030204" pitchFamily="34" charset="0"/>
                <a:ea typeface="Calibri" panose="020F0502020204030204" pitchFamily="34" charset="0"/>
                <a:cs typeface="Calibri" panose="020F0502020204030204" pitchFamily="34" charset="0"/>
              </a:rPr>
              <a:t>MN Olmstead Plan.</a:t>
            </a:r>
            <a:r>
              <a:rPr lang="en-US" sz="1700" dirty="0">
                <a:latin typeface="Calibri" panose="020F0502020204030204" pitchFamily="34" charset="0"/>
                <a:ea typeface="Calibri" panose="020F0502020204030204" pitchFamily="34" charset="0"/>
                <a:cs typeface="Calibri" panose="020F0502020204030204" pitchFamily="34" charset="0"/>
              </a:rPr>
              <a:t> </a:t>
            </a:r>
            <a:r>
              <a:rPr lang="en-US" sz="1700" dirty="0">
                <a:latin typeface="Calibri" panose="020F0502020204030204" pitchFamily="34" charset="0"/>
                <a:ea typeface="Calibri" panose="020F0502020204030204" pitchFamily="34" charset="0"/>
                <a:cs typeface="Calibri" panose="020F0502020204030204" pitchFamily="34" charset="0"/>
                <a:hlinkClick r:id="rId4"/>
              </a:rPr>
              <a:t>https://mn.gov/olmstead/mn-olmstead-plan/about/</a:t>
            </a:r>
            <a:endParaRPr lang="en-US" sz="1700" dirty="0">
              <a:latin typeface="Calibri" panose="020F0502020204030204" pitchFamily="34" charset="0"/>
              <a:ea typeface="Calibri" panose="020F0502020204030204" pitchFamily="34" charset="0"/>
              <a:cs typeface="Calibri" panose="020F0502020204030204" pitchFamily="34" charset="0"/>
            </a:endParaRPr>
          </a:p>
          <a:p>
            <a:pPr marL="285750" marR="0" lvl="0" indent="-228600" fontAlgn="auto">
              <a:lnSpc>
                <a:spcPct val="90000"/>
              </a:lnSpc>
              <a:spcBef>
                <a:spcPts val="0"/>
              </a:spcBef>
              <a:spcAft>
                <a:spcPts val="600"/>
              </a:spcAft>
              <a:buClrTx/>
              <a:buSzTx/>
              <a:buFont typeface="Arial" panose="020B0604020202020204" pitchFamily="34" charset="0"/>
              <a:buChar char="•"/>
              <a:tabLst/>
              <a:defRPr/>
            </a:pPr>
            <a:r>
              <a:rPr kumimoji="0" lang="en-US" sz="1700" b="0" i="0" u="none" strike="noStrike" cap="none" spc="0" normalizeH="0" baseline="0" noProof="0" dirty="0">
                <a:ln>
                  <a:noFill/>
                </a:ln>
                <a:effectLst/>
                <a:uLnTx/>
                <a:uFillTx/>
                <a:latin typeface="Calibri" panose="020F0502020204030204" pitchFamily="34" charset="0"/>
                <a:ea typeface="Calibri" panose="020F0502020204030204" pitchFamily="34" charset="0"/>
                <a:cs typeface="Calibri" panose="020F0502020204030204" pitchFamily="34" charset="0"/>
              </a:rPr>
              <a:t>MN Task Force on Eliminating Subminimum Wages. </a:t>
            </a:r>
            <a:r>
              <a:rPr kumimoji="0" lang="en-US" sz="1700" b="0" i="0" u="none" strike="noStrike" cap="none" spc="0" normalizeH="0" baseline="0" noProof="0" dirty="0">
                <a:ln>
                  <a:noFill/>
                </a:ln>
                <a:effectLst/>
                <a:uLnTx/>
                <a:uFillTx/>
                <a:latin typeface="Calibri" panose="020F0502020204030204" pitchFamily="34" charset="0"/>
                <a:ea typeface="Calibri" panose="020F0502020204030204" pitchFamily="34" charset="0"/>
                <a:cs typeface="Calibri" panose="020F0502020204030204" pitchFamily="34" charset="0"/>
                <a:hlinkClick r:id="rId5"/>
              </a:rPr>
              <a:t>https://mn.gov/dhs/partners-and-providers/news-initiatives-reports-workgroups/long-term-services-and-supports/task-force-on-eliminating-subminimum-wages/</a:t>
            </a:r>
            <a:r>
              <a:rPr kumimoji="0" lang="en-US" sz="1700" b="0" i="0" u="none" strike="noStrike" cap="none" spc="0" normalizeH="0" baseline="0" noProof="0" dirty="0">
                <a:ln>
                  <a:noFill/>
                </a:ln>
                <a:effectLst/>
                <a:uLnTx/>
                <a:uFillTx/>
                <a:latin typeface="Calibri" panose="020F0502020204030204" pitchFamily="34" charset="0"/>
                <a:ea typeface="Calibri" panose="020F0502020204030204" pitchFamily="34" charset="0"/>
                <a:cs typeface="Calibri" panose="020F0502020204030204" pitchFamily="34" charset="0"/>
              </a:rPr>
              <a:t> </a:t>
            </a:r>
          </a:p>
          <a:p>
            <a:pPr marL="285750" marR="0" lvl="0" indent="-228600" fontAlgn="auto">
              <a:lnSpc>
                <a:spcPct val="90000"/>
              </a:lnSpc>
              <a:spcBef>
                <a:spcPts val="0"/>
              </a:spcBef>
              <a:spcAft>
                <a:spcPts val="600"/>
              </a:spcAft>
              <a:buClrTx/>
              <a:buSzTx/>
              <a:buFont typeface="Arial" panose="020B0604020202020204" pitchFamily="34" charset="0"/>
              <a:buChar char="•"/>
              <a:tabLst/>
              <a:defRPr/>
            </a:pPr>
            <a:r>
              <a:rPr kumimoji="0" lang="en-US" sz="1700" b="0" i="0" u="none" strike="noStrike" cap="none" spc="0" normalizeH="0" baseline="0" noProof="0" dirty="0">
                <a:ln>
                  <a:noFill/>
                </a:ln>
                <a:effectLst/>
                <a:uLnTx/>
                <a:uFillTx/>
                <a:latin typeface="Calibri" panose="020F0502020204030204" pitchFamily="34" charset="0"/>
                <a:ea typeface="Calibri" panose="020F0502020204030204" pitchFamily="34" charset="0"/>
                <a:cs typeface="Calibri" panose="020F0502020204030204" pitchFamily="34" charset="0"/>
              </a:rPr>
              <a:t>Minnesota Transformation Initiative (MTI). </a:t>
            </a:r>
            <a:r>
              <a:rPr kumimoji="0" lang="en-US" sz="1700" b="0" i="0" u="none" strike="noStrike" cap="none" spc="0" normalizeH="0" baseline="0" noProof="0" dirty="0">
                <a:ln>
                  <a:noFill/>
                </a:ln>
                <a:effectLst/>
                <a:uLnTx/>
                <a:uFillTx/>
                <a:latin typeface="Calibri" panose="020F0502020204030204" pitchFamily="34" charset="0"/>
                <a:ea typeface="Calibri" panose="020F0502020204030204" pitchFamily="34" charset="0"/>
                <a:cs typeface="Calibri" panose="020F0502020204030204" pitchFamily="34" charset="0"/>
                <a:hlinkClick r:id="rId6"/>
              </a:rPr>
              <a:t>https://mti.ici.umn.edu/</a:t>
            </a:r>
            <a:r>
              <a:rPr kumimoji="0" lang="en-US" sz="1700" b="0" i="0" u="none" strike="noStrike" cap="none" spc="0" normalizeH="0" baseline="0" noProof="0" dirty="0">
                <a:ln>
                  <a:noFill/>
                </a:ln>
                <a:effectLst/>
                <a:uLnTx/>
                <a:uFillTx/>
                <a:latin typeface="Calibri" panose="020F0502020204030204" pitchFamily="34" charset="0"/>
                <a:ea typeface="Calibri" panose="020F0502020204030204" pitchFamily="34" charset="0"/>
                <a:cs typeface="Calibri" panose="020F0502020204030204" pitchFamily="34" charset="0"/>
              </a:rPr>
              <a:t> </a:t>
            </a:r>
          </a:p>
          <a:p>
            <a:pPr marL="285750" indent="-228600">
              <a:lnSpc>
                <a:spcPct val="90000"/>
              </a:lnSpc>
              <a:spcAft>
                <a:spcPts val="600"/>
              </a:spcAft>
              <a:buFont typeface="Arial" panose="020B0604020202020204" pitchFamily="34" charset="0"/>
              <a:buChar char="•"/>
              <a:defRPr/>
            </a:pPr>
            <a:r>
              <a:rPr lang="en-US" sz="1700" dirty="0">
                <a:latin typeface="Calibri" panose="020F0502020204030204" pitchFamily="34" charset="0"/>
                <a:ea typeface="Calibri" panose="020F0502020204030204" pitchFamily="34" charset="0"/>
                <a:cs typeface="Calibri" panose="020F0502020204030204" pitchFamily="34" charset="0"/>
              </a:rPr>
              <a:t>Office of Disability Employment Policy (ODEP) – Employment First. </a:t>
            </a:r>
            <a:r>
              <a:rPr lang="en-US" sz="1700" dirty="0">
                <a:latin typeface="Calibri" panose="020F0502020204030204" pitchFamily="34" charset="0"/>
                <a:ea typeface="Calibri" panose="020F0502020204030204" pitchFamily="34" charset="0"/>
                <a:cs typeface="Calibri" panose="020F0502020204030204" pitchFamily="34" charset="0"/>
                <a:hlinkClick r:id="rId7"/>
              </a:rPr>
              <a:t>https://www.dol.gov/agencies/odep/initiatives/employment-first</a:t>
            </a:r>
            <a:endParaRPr lang="en-US" sz="1700" dirty="0">
              <a:latin typeface="Calibri" panose="020F0502020204030204" pitchFamily="34" charset="0"/>
              <a:ea typeface="Calibri" panose="020F0502020204030204" pitchFamily="34" charset="0"/>
              <a:cs typeface="Calibri" panose="020F0502020204030204" pitchFamily="34" charset="0"/>
            </a:endParaRPr>
          </a:p>
          <a:p>
            <a:pPr marL="285750" indent="-228600">
              <a:lnSpc>
                <a:spcPct val="90000"/>
              </a:lnSpc>
              <a:spcAft>
                <a:spcPts val="600"/>
              </a:spcAft>
              <a:buFont typeface="Arial" panose="020B0604020202020204" pitchFamily="34" charset="0"/>
              <a:buChar char="•"/>
              <a:defRPr/>
            </a:pPr>
            <a:endParaRPr lang="en-US" sz="1700" dirty="0">
              <a:latin typeface="Calibri" panose="020F0502020204030204" pitchFamily="34" charset="0"/>
              <a:ea typeface="Calibri" panose="020F0502020204030204" pitchFamily="34" charset="0"/>
              <a:cs typeface="Calibri" panose="020F0502020204030204" pitchFamily="34" charset="0"/>
            </a:endParaRPr>
          </a:p>
          <a:p>
            <a:pPr marL="285750" indent="-228600">
              <a:lnSpc>
                <a:spcPct val="90000"/>
              </a:lnSpc>
              <a:spcAft>
                <a:spcPts val="600"/>
              </a:spcAft>
              <a:buFont typeface="Arial" panose="020B0604020202020204" pitchFamily="34" charset="0"/>
              <a:buChar char="•"/>
              <a:defRPr/>
            </a:pPr>
            <a:endParaRPr lang="en-US" sz="1700" dirty="0">
              <a:latin typeface="Calibri" panose="020F0502020204030204" pitchFamily="34" charset="0"/>
              <a:ea typeface="Calibri" panose="020F0502020204030204" pitchFamily="34" charset="0"/>
              <a:cs typeface="Calibri" panose="020F0502020204030204" pitchFamily="34" charset="0"/>
            </a:endParaRPr>
          </a:p>
          <a:p>
            <a:pPr marL="285750" indent="-228600">
              <a:lnSpc>
                <a:spcPct val="90000"/>
              </a:lnSpc>
              <a:spcAft>
                <a:spcPts val="600"/>
              </a:spcAft>
              <a:buFont typeface="Arial" panose="020B0604020202020204" pitchFamily="34" charset="0"/>
              <a:buChar char="•"/>
              <a:defRPr/>
            </a:pPr>
            <a:endParaRPr lang="en-US" sz="1700" dirty="0">
              <a:ea typeface="+mn-lt"/>
              <a:cs typeface="+mn-lt"/>
            </a:endParaRPr>
          </a:p>
        </p:txBody>
      </p:sp>
      <p:pic>
        <p:nvPicPr>
          <p:cNvPr id="4" name="Picture 3" descr="Logo&#10;&#10;Description automatically generated with medium confidence">
            <a:extLst>
              <a:ext uri="{FF2B5EF4-FFF2-40B4-BE49-F238E27FC236}">
                <a16:creationId xmlns:a16="http://schemas.microsoft.com/office/drawing/2014/main" id="{2D71C92C-9DF5-89E7-0453-7A620CAAC7B5}"/>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10260524" y="92854"/>
            <a:ext cx="1810837" cy="896850"/>
          </a:xfrm>
          <a:prstGeom prst="rect">
            <a:avLst/>
          </a:prstGeom>
        </p:spPr>
      </p:pic>
    </p:spTree>
    <p:extLst>
      <p:ext uri="{BB962C8B-B14F-4D97-AF65-F5344CB8AC3E}">
        <p14:creationId xmlns:p14="http://schemas.microsoft.com/office/powerpoint/2010/main" val="307824035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8270A6BDCF9EDE429F30368D7F34C74C" ma:contentTypeVersion="8" ma:contentTypeDescription="Create a new document." ma:contentTypeScope="" ma:versionID="90e2959f7ede8bf6ad6e7ec9bccdd909">
  <xsd:schema xmlns:xsd="http://www.w3.org/2001/XMLSchema" xmlns:xs="http://www.w3.org/2001/XMLSchema" xmlns:p="http://schemas.microsoft.com/office/2006/metadata/properties" xmlns:ns2="2ba670d5-100b-44a8-b60c-b9ae61acdd03" xmlns:ns3="97ef7c57-f98b-4bbf-abe5-0dccd9ed8267" targetNamespace="http://schemas.microsoft.com/office/2006/metadata/properties" ma:root="true" ma:fieldsID="c7705e0506eb033bd23cd490c837d094" ns2:_="" ns3:_="">
    <xsd:import namespace="2ba670d5-100b-44a8-b60c-b9ae61acdd03"/>
    <xsd:import namespace="97ef7c57-f98b-4bbf-abe5-0dccd9ed8267"/>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3:SharedWithUsers" minOccurs="0"/>
                <xsd:element ref="ns3:SharedWithDetails"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ba670d5-100b-44a8-b60c-b9ae61acdd03"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ObjectDetectorVersions" ma:index="14" nillable="true" ma:displayName="MediaServiceObjectDetectorVersions" ma:hidden="true" ma:indexed="true" ma:internalName="MediaServiceObjectDetectorVersions" ma:readOnly="true">
      <xsd:simpleType>
        <xsd:restriction base="dms:Text"/>
      </xsd:simpleType>
    </xsd:element>
    <xsd:element name="MediaServiceSearchProperties" ma:index="15"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97ef7c57-f98b-4bbf-abe5-0dccd9ed8267"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SharedWithUsers xmlns="97ef7c57-f98b-4bbf-abe5-0dccd9ed8267">
      <UserInfo>
        <DisplayName/>
        <AccountId xsi:nil="true"/>
        <AccountType/>
      </UserInfo>
    </SharedWithUsers>
  </documentManagement>
</p:properties>
</file>

<file path=customXml/itemProps1.xml><?xml version="1.0" encoding="utf-8"?>
<ds:datastoreItem xmlns:ds="http://schemas.openxmlformats.org/officeDocument/2006/customXml" ds:itemID="{91F15ECC-BA31-40D7-A2F3-A9C7C2E06B17}">
  <ds:schemaRefs>
    <ds:schemaRef ds:uri="http://schemas.microsoft.com/sharepoint/v3/contenttype/forms"/>
  </ds:schemaRefs>
</ds:datastoreItem>
</file>

<file path=customXml/itemProps2.xml><?xml version="1.0" encoding="utf-8"?>
<ds:datastoreItem xmlns:ds="http://schemas.openxmlformats.org/officeDocument/2006/customXml" ds:itemID="{BA5DE32F-9DBA-4F37-8A4A-609B0C0093F2}"/>
</file>

<file path=customXml/itemProps3.xml><?xml version="1.0" encoding="utf-8"?>
<ds:datastoreItem xmlns:ds="http://schemas.openxmlformats.org/officeDocument/2006/customXml" ds:itemID="{DE429A85-0B29-4E83-B929-5B75CEB4D839}">
  <ds:schemaRefs>
    <ds:schemaRef ds:uri="http://schemas.microsoft.com/office/2006/metadata/properties"/>
    <ds:schemaRef ds:uri="http://schemas.microsoft.com/office/infopath/2007/PartnerControls"/>
  </ds:schemaRefs>
</ds:datastoreItem>
</file>

<file path=docProps/app.xml><?xml version="1.0" encoding="utf-8"?>
<Properties xmlns="http://schemas.openxmlformats.org/officeDocument/2006/extended-properties" xmlns:vt="http://schemas.openxmlformats.org/officeDocument/2006/docPropsVTypes">
  <TotalTime>680</TotalTime>
  <Words>1100</Words>
  <Application>Microsoft Office PowerPoint</Application>
  <PresentationFormat>Widescreen</PresentationFormat>
  <Paragraphs>106</Paragraphs>
  <Slides>14</Slides>
  <Notes>13</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14</vt:i4>
      </vt:variant>
    </vt:vector>
  </HeadingPairs>
  <TitlesOfParts>
    <vt:vector size="22" baseType="lpstr">
      <vt:lpstr>Aptos</vt:lpstr>
      <vt:lpstr>Aptos Display</vt:lpstr>
      <vt:lpstr>Arial</vt:lpstr>
      <vt:lpstr>Calibri</vt:lpstr>
      <vt:lpstr>Calibri Light</vt:lpstr>
      <vt:lpstr>Merriweather Sans</vt:lpstr>
      <vt:lpstr>Segoe UI</vt:lpstr>
      <vt:lpstr>Office Theme</vt:lpstr>
      <vt:lpstr>PowerPoint Presentation</vt:lpstr>
      <vt:lpstr>Introductions</vt:lpstr>
      <vt:lpstr>PowerPoint Presentation</vt:lpstr>
      <vt:lpstr>PowerPoint Presentation</vt:lpstr>
      <vt:lpstr>MTI Project Partners</vt:lpstr>
      <vt:lpstr>How did we get here? 10-15 years of converging national transformation initiatives </vt:lpstr>
      <vt:lpstr>PowerPoint Presentation</vt:lpstr>
      <vt:lpstr>What’s the Vision in Minnesota?</vt:lpstr>
      <vt:lpstr>Minnesota Employment First policy</vt:lpstr>
      <vt:lpstr>Minnesota’s vision for Day Supports</vt:lpstr>
      <vt:lpstr>Different types of employment</vt:lpstr>
      <vt:lpstr>Competitive Integrated Employment</vt:lpstr>
      <vt:lpstr>Questions?</vt:lpstr>
      <vt:lpstr>Resources</vt:lpstr>
    </vt:vector>
  </TitlesOfParts>
  <Company>University of Minnesota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Brian C Begin</dc:creator>
  <cp:lastModifiedBy>Brian C Begin</cp:lastModifiedBy>
  <cp:revision>63</cp:revision>
  <dcterms:created xsi:type="dcterms:W3CDTF">2025-01-24T16:55:38Z</dcterms:created>
  <dcterms:modified xsi:type="dcterms:W3CDTF">2025-02-25T14:11:33Z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0x0101008270A6BDCF9EDE429F30368D7F34C74C</vt:lpwstr>
  </property>
  <property fmtid="{D5CDD505-2E9C-101B-9397-08002B2CF9AE}" pid="3" name="Order">
    <vt:r8>99800</vt:r8>
  </property>
  <property fmtid="{D5CDD505-2E9C-101B-9397-08002B2CF9AE}" pid="4" name="xd_Signature">
    <vt:bool>false</vt:bool>
  </property>
  <property fmtid="{D5CDD505-2E9C-101B-9397-08002B2CF9AE}" pid="5" name="xd_ProgID">
    <vt:lpwstr/>
  </property>
  <property fmtid="{D5CDD505-2E9C-101B-9397-08002B2CF9AE}" pid="6" name="_ExtendedDescription">
    <vt:lpwstr/>
  </property>
  <property fmtid="{D5CDD505-2E9C-101B-9397-08002B2CF9AE}" pid="7" name="TriggerFlowInfo">
    <vt:lpwstr/>
  </property>
  <property fmtid="{D5CDD505-2E9C-101B-9397-08002B2CF9AE}" pid="8" name="_SourceUrl">
    <vt:lpwstr/>
  </property>
  <property fmtid="{D5CDD505-2E9C-101B-9397-08002B2CF9AE}" pid="9" name="_SharedFileIndex">
    <vt:lpwstr/>
  </property>
  <property fmtid="{D5CDD505-2E9C-101B-9397-08002B2CF9AE}" pid="10" name="ComplianceAssetId">
    <vt:lpwstr/>
  </property>
  <property fmtid="{D5CDD505-2E9C-101B-9397-08002B2CF9AE}" pid="11" name="TemplateUrl">
    <vt:lpwstr/>
  </property>
</Properties>
</file>