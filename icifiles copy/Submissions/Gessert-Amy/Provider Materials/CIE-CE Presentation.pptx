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sldIdLst>
    <p:sldId id="256" r:id="rId5"/>
    <p:sldId id="257" r:id="rId6"/>
    <p:sldId id="260" r:id="rId7"/>
    <p:sldId id="258" r:id="rId8"/>
    <p:sldId id="261" r:id="rId9"/>
    <p:sldId id="262" r:id="rId10"/>
    <p:sldId id="259" r:id="rId11"/>
    <p:sldId id="26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D19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473638-F63E-6CEF-27DA-6B96A7268C9F}" v="42" dt="2024-03-13T17:27:47.9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y C Gessert" userId="S::amy.gessert@umb.edu::959649af-45c5-487c-aa74-829e1b24d524" providerId="AD" clId="Web-{64473638-F63E-6CEF-27DA-6B96A7268C9F}"/>
    <pc:docChg chg="modSld">
      <pc:chgData name="Amy C Gessert" userId="S::amy.gessert@umb.edu::959649af-45c5-487c-aa74-829e1b24d524" providerId="AD" clId="Web-{64473638-F63E-6CEF-27DA-6B96A7268C9F}" dt="2024-03-13T17:27:46.799" v="39" actId="20577"/>
      <pc:docMkLst>
        <pc:docMk/>
      </pc:docMkLst>
      <pc:sldChg chg="modSp">
        <pc:chgData name="Amy C Gessert" userId="S::amy.gessert@umb.edu::959649af-45c5-487c-aa74-829e1b24d524" providerId="AD" clId="Web-{64473638-F63E-6CEF-27DA-6B96A7268C9F}" dt="2024-03-13T17:26:52.032" v="27" actId="20577"/>
        <pc:sldMkLst>
          <pc:docMk/>
          <pc:sldMk cId="1260075377" sldId="256"/>
        </pc:sldMkLst>
        <pc:spChg chg="mod">
          <ac:chgData name="Amy C Gessert" userId="S::amy.gessert@umb.edu::959649af-45c5-487c-aa74-829e1b24d524" providerId="AD" clId="Web-{64473638-F63E-6CEF-27DA-6B96A7268C9F}" dt="2024-03-13T17:26:52.032" v="27" actId="20577"/>
          <ac:spMkLst>
            <pc:docMk/>
            <pc:sldMk cId="1260075377" sldId="256"/>
            <ac:spMk id="12" creationId="{C53C2B2E-6420-884F-F8F6-214EDC91CE09}"/>
          </ac:spMkLst>
        </pc:spChg>
      </pc:sldChg>
      <pc:sldChg chg="modSp modNotes">
        <pc:chgData name="Amy C Gessert" userId="S::amy.gessert@umb.edu::959649af-45c5-487c-aa74-829e1b24d524" providerId="AD" clId="Web-{64473638-F63E-6CEF-27DA-6B96A7268C9F}" dt="2024-03-13T17:27:46.799" v="39" actId="20577"/>
        <pc:sldMkLst>
          <pc:docMk/>
          <pc:sldMk cId="2259620879" sldId="257"/>
        </pc:sldMkLst>
        <pc:spChg chg="mod">
          <ac:chgData name="Amy C Gessert" userId="S::amy.gessert@umb.edu::959649af-45c5-487c-aa74-829e1b24d524" providerId="AD" clId="Web-{64473638-F63E-6CEF-27DA-6B96A7268C9F}" dt="2024-03-13T17:27:46.799" v="39" actId="20577"/>
          <ac:spMkLst>
            <pc:docMk/>
            <pc:sldMk cId="2259620879" sldId="257"/>
            <ac:spMk id="5" creationId="{C1EA3D7A-21A5-7F8C-D07B-59287E8F62DB}"/>
          </ac:spMkLst>
        </pc:spChg>
      </pc:sldChg>
      <pc:sldChg chg="modNotes">
        <pc:chgData name="Amy C Gessert" userId="S::amy.gessert@umb.edu::959649af-45c5-487c-aa74-829e1b24d524" providerId="AD" clId="Web-{64473638-F63E-6CEF-27DA-6B96A7268C9F}" dt="2024-03-13T17:09:54.032" v="9"/>
        <pc:sldMkLst>
          <pc:docMk/>
          <pc:sldMk cId="2970849112" sldId="258"/>
        </pc:sldMkLst>
      </pc:sldChg>
      <pc:sldChg chg="modNotes">
        <pc:chgData name="Amy C Gessert" userId="S::amy.gessert@umb.edu::959649af-45c5-487c-aa74-829e1b24d524" providerId="AD" clId="Web-{64473638-F63E-6CEF-27DA-6B96A7268C9F}" dt="2024-03-13T17:09:59.360" v="10"/>
        <pc:sldMkLst>
          <pc:docMk/>
          <pc:sldMk cId="1884614594" sldId="259"/>
        </pc:sldMkLst>
      </pc:sldChg>
      <pc:sldChg chg="modNotes">
        <pc:chgData name="Amy C Gessert" userId="S::amy.gessert@umb.edu::959649af-45c5-487c-aa74-829e1b24d524" providerId="AD" clId="Web-{64473638-F63E-6CEF-27DA-6B96A7268C9F}" dt="2024-03-13T17:09:48.782" v="6"/>
        <pc:sldMkLst>
          <pc:docMk/>
          <pc:sldMk cId="1915097806" sldId="260"/>
        </pc:sldMkLst>
      </pc:sldChg>
      <pc:sldChg chg="modNotes">
        <pc:chgData name="Amy C Gessert" userId="S::amy.gessert@umb.edu::959649af-45c5-487c-aa74-829e1b24d524" providerId="AD" clId="Web-{64473638-F63E-6CEF-27DA-6B96A7268C9F}" dt="2024-03-13T17:09:27.359" v="0"/>
        <pc:sldMkLst>
          <pc:docMk/>
          <pc:sldMk cId="2252021034" sldId="261"/>
        </pc:sldMkLst>
      </pc:sldChg>
      <pc:sldChg chg="modNotes">
        <pc:chgData name="Amy C Gessert" userId="S::amy.gessert@umb.edu::959649af-45c5-487c-aa74-829e1b24d524" providerId="AD" clId="Web-{64473638-F63E-6CEF-27DA-6B96A7268C9F}" dt="2024-03-13T17:09:36.641" v="3"/>
        <pc:sldMkLst>
          <pc:docMk/>
          <pc:sldMk cId="4050747833" sldId="262"/>
        </pc:sldMkLst>
      </pc:sldChg>
      <pc:sldChg chg="modNotes">
        <pc:chgData name="Amy C Gessert" userId="S::amy.gessert@umb.edu::959649af-45c5-487c-aa74-829e1b24d524" providerId="AD" clId="Web-{64473638-F63E-6CEF-27DA-6B96A7268C9F}" dt="2024-03-13T17:10:15.845" v="15"/>
        <pc:sldMkLst>
          <pc:docMk/>
          <pc:sldMk cId="4176518962" sldId="263"/>
        </pc:sldMkLst>
      </pc:sldChg>
    </pc:docChg>
  </pc:docChgLst>
  <pc:docChgLst>
    <pc:chgData name="Amy C Gessert" userId="S::amy.gessert@umb.edu::959649af-45c5-487c-aa74-829e1b24d524" providerId="AD" clId="Web-{774EE224-F698-B541-3CB8-851D1166432B}"/>
    <pc:docChg chg="addSld modSld">
      <pc:chgData name="Amy C Gessert" userId="S::amy.gessert@umb.edu::959649af-45c5-487c-aa74-829e1b24d524" providerId="AD" clId="Web-{774EE224-F698-B541-3CB8-851D1166432B}" dt="2024-03-08T20:21:46.344" v="176" actId="20577"/>
      <pc:docMkLst>
        <pc:docMk/>
      </pc:docMkLst>
      <pc:sldChg chg="modSp">
        <pc:chgData name="Amy C Gessert" userId="S::amy.gessert@umb.edu::959649af-45c5-487c-aa74-829e1b24d524" providerId="AD" clId="Web-{774EE224-F698-B541-3CB8-851D1166432B}" dt="2024-03-08T20:21:46.344" v="176" actId="20577"/>
        <pc:sldMkLst>
          <pc:docMk/>
          <pc:sldMk cId="1260075377" sldId="256"/>
        </pc:sldMkLst>
        <pc:spChg chg="mod">
          <ac:chgData name="Amy C Gessert" userId="S::amy.gessert@umb.edu::959649af-45c5-487c-aa74-829e1b24d524" providerId="AD" clId="Web-{774EE224-F698-B541-3CB8-851D1166432B}" dt="2024-03-08T20:21:46.344" v="176" actId="20577"/>
          <ac:spMkLst>
            <pc:docMk/>
            <pc:sldMk cId="1260075377" sldId="256"/>
            <ac:spMk id="12" creationId="{C53C2B2E-6420-884F-F8F6-214EDC91CE09}"/>
          </ac:spMkLst>
        </pc:spChg>
      </pc:sldChg>
      <pc:sldChg chg="modNotes">
        <pc:chgData name="Amy C Gessert" userId="S::amy.gessert@umb.edu::959649af-45c5-487c-aa74-829e1b24d524" providerId="AD" clId="Web-{774EE224-F698-B541-3CB8-851D1166432B}" dt="2024-03-08T20:20:17.388" v="127"/>
        <pc:sldMkLst>
          <pc:docMk/>
          <pc:sldMk cId="1884614594" sldId="259"/>
        </pc:sldMkLst>
      </pc:sldChg>
      <pc:sldChg chg="addSp delSp modSp add replId delAnim modNotes">
        <pc:chgData name="Amy C Gessert" userId="S::amy.gessert@umb.edu::959649af-45c5-487c-aa74-829e1b24d524" providerId="AD" clId="Web-{774EE224-F698-B541-3CB8-851D1166432B}" dt="2024-03-08T20:19:27.652" v="87"/>
        <pc:sldMkLst>
          <pc:docMk/>
          <pc:sldMk cId="4176518962" sldId="263"/>
        </pc:sldMkLst>
        <pc:spChg chg="mod">
          <ac:chgData name="Amy C Gessert" userId="S::amy.gessert@umb.edu::959649af-45c5-487c-aa74-829e1b24d524" providerId="AD" clId="Web-{774EE224-F698-B541-3CB8-851D1166432B}" dt="2024-03-08T20:14:06.843" v="27" actId="1076"/>
          <ac:spMkLst>
            <pc:docMk/>
            <pc:sldMk cId="4176518962" sldId="263"/>
            <ac:spMk id="2" creationId="{92A753E5-0537-8A15-7800-8C0B0E59F6B9}"/>
          </ac:spMkLst>
        </pc:spChg>
        <pc:spChg chg="add del mod">
          <ac:chgData name="Amy C Gessert" userId="S::amy.gessert@umb.edu::959649af-45c5-487c-aa74-829e1b24d524" providerId="AD" clId="Web-{774EE224-F698-B541-3CB8-851D1166432B}" dt="2024-03-08T20:13:22.045" v="9"/>
          <ac:spMkLst>
            <pc:docMk/>
            <pc:sldMk cId="4176518962" sldId="263"/>
            <ac:spMk id="5" creationId="{00D83A09-8B6B-C49F-639B-A69387632828}"/>
          </ac:spMkLst>
        </pc:spChg>
        <pc:spChg chg="add mod">
          <ac:chgData name="Amy C Gessert" userId="S::amy.gessert@umb.edu::959649af-45c5-487c-aa74-829e1b24d524" providerId="AD" clId="Web-{774EE224-F698-B541-3CB8-851D1166432B}" dt="2024-03-08T20:13:49.655" v="17" actId="1076"/>
          <ac:spMkLst>
            <pc:docMk/>
            <pc:sldMk cId="4176518962" sldId="263"/>
            <ac:spMk id="8" creationId="{59CDF91C-D5F6-2985-08BE-556A1F09723A}"/>
          </ac:spMkLst>
        </pc:spChg>
        <pc:spChg chg="add mod">
          <ac:chgData name="Amy C Gessert" userId="S::amy.gessert@umb.edu::959649af-45c5-487c-aa74-829e1b24d524" providerId="AD" clId="Web-{774EE224-F698-B541-3CB8-851D1166432B}" dt="2024-03-08T20:15:46.566" v="59" actId="20577"/>
          <ac:spMkLst>
            <pc:docMk/>
            <pc:sldMk cId="4176518962" sldId="263"/>
            <ac:spMk id="9" creationId="{1BBE90BC-2243-3FF4-329E-3AA090622C9C}"/>
          </ac:spMkLst>
        </pc:spChg>
        <pc:picChg chg="del">
          <ac:chgData name="Amy C Gessert" userId="S::amy.gessert@umb.edu::959649af-45c5-487c-aa74-829e1b24d524" providerId="AD" clId="Web-{774EE224-F698-B541-3CB8-851D1166432B}" dt="2024-03-08T20:13:00.419" v="1"/>
          <ac:picMkLst>
            <pc:docMk/>
            <pc:sldMk cId="4176518962" sldId="263"/>
            <ac:picMk id="6" creationId="{0CE37856-3A80-397F-6A5C-6D31FAA22E7A}"/>
          </ac:picMkLst>
        </pc:picChg>
        <pc:picChg chg="add mod">
          <ac:chgData name="Amy C Gessert" userId="S::amy.gessert@umb.edu::959649af-45c5-487c-aa74-829e1b24d524" providerId="AD" clId="Web-{774EE224-F698-B541-3CB8-851D1166432B}" dt="2024-03-08T20:14:11.312" v="28" actId="1076"/>
          <ac:picMkLst>
            <pc:docMk/>
            <pc:sldMk cId="4176518962" sldId="263"/>
            <ac:picMk id="7" creationId="{C8A4D740-E504-258E-F7E4-8314BD986493}"/>
          </ac:picMkLst>
        </pc:picChg>
      </pc:sldChg>
    </pc:docChg>
  </pc:docChgLst>
  <pc:docChgLst>
    <pc:chgData name="Amy C Gessert" userId="S::amy.gessert@umb.edu::959649af-45c5-487c-aa74-829e1b24d524" providerId="AD" clId="Web-{94D8CC83-49D0-5B33-27E4-5408503299E1}"/>
    <pc:docChg chg="modSld">
      <pc:chgData name="Amy C Gessert" userId="S::amy.gessert@umb.edu::959649af-45c5-487c-aa74-829e1b24d524" providerId="AD" clId="Web-{94D8CC83-49D0-5B33-27E4-5408503299E1}" dt="2024-03-08T20:34:57.525" v="1" actId="20577"/>
      <pc:docMkLst>
        <pc:docMk/>
      </pc:docMkLst>
      <pc:sldChg chg="modSp">
        <pc:chgData name="Amy C Gessert" userId="S::amy.gessert@umb.edu::959649af-45c5-487c-aa74-829e1b24d524" providerId="AD" clId="Web-{94D8CC83-49D0-5B33-27E4-5408503299E1}" dt="2024-03-08T20:34:57.525" v="1" actId="20577"/>
        <pc:sldMkLst>
          <pc:docMk/>
          <pc:sldMk cId="2259620879" sldId="257"/>
        </pc:sldMkLst>
        <pc:spChg chg="mod">
          <ac:chgData name="Amy C Gessert" userId="S::amy.gessert@umb.edu::959649af-45c5-487c-aa74-829e1b24d524" providerId="AD" clId="Web-{94D8CC83-49D0-5B33-27E4-5408503299E1}" dt="2024-03-08T20:34:57.525" v="1" actId="20577"/>
          <ac:spMkLst>
            <pc:docMk/>
            <pc:sldMk cId="2259620879" sldId="257"/>
            <ac:spMk id="5" creationId="{C1EA3D7A-21A5-7F8C-D07B-59287E8F62D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0395ED-2194-457D-A8DD-7D595543DED5}" type="datetimeFigureOut">
              <a:t>3/13/2024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B12294-D2B3-4010-B33E-3308A620F65B}" type="slidenum">
              <a:t>‹#›</a:t>
            </a:fld>
            <a:endParaRPr lang="en-US"/>
          </a:p>
        </p:txBody>
      </p:sp>
    </p:spTree>
    <p:extLst>
      <p:ext uri="{BB962C8B-B14F-4D97-AF65-F5344CB8AC3E}">
        <p14:creationId xmlns:p14="http://schemas.microsoft.com/office/powerpoint/2010/main" val="3633257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Danielle</a:t>
            </a:r>
          </a:p>
        </p:txBody>
      </p:sp>
      <p:sp>
        <p:nvSpPr>
          <p:cNvPr id="4" name="Slide Number Placeholder 3"/>
          <p:cNvSpPr>
            <a:spLocks noGrp="1"/>
          </p:cNvSpPr>
          <p:nvPr>
            <p:ph type="sldNum" sz="quarter" idx="5"/>
          </p:nvPr>
        </p:nvSpPr>
        <p:spPr/>
        <p:txBody>
          <a:bodyPr/>
          <a:lstStyle/>
          <a:p>
            <a:fld id="{36B12294-D2B3-4010-B33E-3308A620F65B}" type="slidenum">
              <a:rPr lang="en-US"/>
              <a:t>2</a:t>
            </a:fld>
            <a:endParaRPr lang="en-US"/>
          </a:p>
        </p:txBody>
      </p:sp>
    </p:spTree>
    <p:extLst>
      <p:ext uri="{BB962C8B-B14F-4D97-AF65-F5344CB8AC3E}">
        <p14:creationId xmlns:p14="http://schemas.microsoft.com/office/powerpoint/2010/main" val="10990732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Danielle</a:t>
            </a:r>
          </a:p>
        </p:txBody>
      </p:sp>
      <p:sp>
        <p:nvSpPr>
          <p:cNvPr id="4" name="Slide Number Placeholder 3"/>
          <p:cNvSpPr>
            <a:spLocks noGrp="1"/>
          </p:cNvSpPr>
          <p:nvPr>
            <p:ph type="sldNum" sz="quarter" idx="5"/>
          </p:nvPr>
        </p:nvSpPr>
        <p:spPr/>
        <p:txBody>
          <a:bodyPr/>
          <a:lstStyle/>
          <a:p>
            <a:fld id="{36B12294-D2B3-4010-B33E-3308A620F65B}" type="slidenum">
              <a:rPr lang="en-US"/>
              <a:t>3</a:t>
            </a:fld>
            <a:endParaRPr lang="en-US"/>
          </a:p>
        </p:txBody>
      </p:sp>
    </p:spTree>
    <p:extLst>
      <p:ext uri="{BB962C8B-B14F-4D97-AF65-F5344CB8AC3E}">
        <p14:creationId xmlns:p14="http://schemas.microsoft.com/office/powerpoint/2010/main" val="35939348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Amy</a:t>
            </a:r>
          </a:p>
        </p:txBody>
      </p:sp>
      <p:sp>
        <p:nvSpPr>
          <p:cNvPr id="4" name="Slide Number Placeholder 3"/>
          <p:cNvSpPr>
            <a:spLocks noGrp="1"/>
          </p:cNvSpPr>
          <p:nvPr>
            <p:ph type="sldNum" sz="quarter" idx="5"/>
          </p:nvPr>
        </p:nvSpPr>
        <p:spPr/>
        <p:txBody>
          <a:bodyPr/>
          <a:lstStyle/>
          <a:p>
            <a:fld id="{36B12294-D2B3-4010-B33E-3308A620F65B}" type="slidenum">
              <a:rPr lang="en-US"/>
              <a:t>4</a:t>
            </a:fld>
            <a:endParaRPr lang="en-US"/>
          </a:p>
        </p:txBody>
      </p:sp>
    </p:spTree>
    <p:extLst>
      <p:ext uri="{BB962C8B-B14F-4D97-AF65-F5344CB8AC3E}">
        <p14:creationId xmlns:p14="http://schemas.microsoft.com/office/powerpoint/2010/main" val="17203749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Amy</a:t>
            </a:r>
          </a:p>
        </p:txBody>
      </p:sp>
      <p:sp>
        <p:nvSpPr>
          <p:cNvPr id="4" name="Slide Number Placeholder 3"/>
          <p:cNvSpPr>
            <a:spLocks noGrp="1"/>
          </p:cNvSpPr>
          <p:nvPr>
            <p:ph type="sldNum" sz="quarter" idx="5"/>
          </p:nvPr>
        </p:nvSpPr>
        <p:spPr/>
        <p:txBody>
          <a:bodyPr/>
          <a:lstStyle/>
          <a:p>
            <a:fld id="{36B12294-D2B3-4010-B33E-3308A620F65B}" type="slidenum">
              <a:rPr lang="en-US"/>
              <a:t>5</a:t>
            </a:fld>
            <a:endParaRPr lang="en-US"/>
          </a:p>
        </p:txBody>
      </p:sp>
    </p:spTree>
    <p:extLst>
      <p:ext uri="{BB962C8B-B14F-4D97-AF65-F5344CB8AC3E}">
        <p14:creationId xmlns:p14="http://schemas.microsoft.com/office/powerpoint/2010/main" val="314521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Amy</a:t>
            </a:r>
          </a:p>
        </p:txBody>
      </p:sp>
      <p:sp>
        <p:nvSpPr>
          <p:cNvPr id="4" name="Slide Number Placeholder 3"/>
          <p:cNvSpPr>
            <a:spLocks noGrp="1"/>
          </p:cNvSpPr>
          <p:nvPr>
            <p:ph type="sldNum" sz="quarter" idx="5"/>
          </p:nvPr>
        </p:nvSpPr>
        <p:spPr/>
        <p:txBody>
          <a:bodyPr/>
          <a:lstStyle/>
          <a:p>
            <a:fld id="{36B12294-D2B3-4010-B33E-3308A620F65B}" type="slidenum">
              <a:rPr lang="en-US"/>
              <a:t>6</a:t>
            </a:fld>
            <a:endParaRPr lang="en-US"/>
          </a:p>
        </p:txBody>
      </p:sp>
    </p:spTree>
    <p:extLst>
      <p:ext uri="{BB962C8B-B14F-4D97-AF65-F5344CB8AC3E}">
        <p14:creationId xmlns:p14="http://schemas.microsoft.com/office/powerpoint/2010/main" val="10598011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Danielle</a:t>
            </a:r>
          </a:p>
        </p:txBody>
      </p:sp>
      <p:sp>
        <p:nvSpPr>
          <p:cNvPr id="4" name="Slide Number Placeholder 3"/>
          <p:cNvSpPr>
            <a:spLocks noGrp="1"/>
          </p:cNvSpPr>
          <p:nvPr>
            <p:ph type="sldNum" sz="quarter" idx="5"/>
          </p:nvPr>
        </p:nvSpPr>
        <p:spPr/>
        <p:txBody>
          <a:bodyPr/>
          <a:lstStyle/>
          <a:p>
            <a:fld id="{36B12294-D2B3-4010-B33E-3308A620F65B}" type="slidenum">
              <a:t>7</a:t>
            </a:fld>
            <a:endParaRPr lang="en-US"/>
          </a:p>
        </p:txBody>
      </p:sp>
    </p:spTree>
    <p:extLst>
      <p:ext uri="{BB962C8B-B14F-4D97-AF65-F5344CB8AC3E}">
        <p14:creationId xmlns:p14="http://schemas.microsoft.com/office/powerpoint/2010/main" val="22363488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Amy </a:t>
            </a:r>
          </a:p>
          <a:p>
            <a:endParaRPr lang="en-US" dirty="0">
              <a:ea typeface="Calibri"/>
              <a:cs typeface="Calibri"/>
            </a:endParaRPr>
          </a:p>
          <a:p>
            <a:r>
              <a:rPr lang="en-US" dirty="0">
                <a:ea typeface="Calibri"/>
                <a:cs typeface="Calibri"/>
              </a:rPr>
              <a:t>Maggie already worked at a grocery store, but wanted to work in an office too.  </a:t>
            </a:r>
            <a:endParaRPr lang="en-US" dirty="0">
              <a:cs typeface="Calibri"/>
            </a:endParaRPr>
          </a:p>
          <a:p>
            <a:endParaRPr lang="en-US" dirty="0"/>
          </a:p>
          <a:p>
            <a:r>
              <a:rPr lang="en-US" dirty="0">
                <a:ea typeface="Calibri"/>
                <a:cs typeface="Calibri"/>
              </a:rPr>
              <a:t>What happened: </a:t>
            </a:r>
            <a:endParaRPr lang="en-US" dirty="0"/>
          </a:p>
          <a:p>
            <a:r>
              <a:rPr lang="en-US" dirty="0"/>
              <a:t>Maggie is a fast learner who enjoys working in the creative environment at AMP. She has worked at AMP for two years, in addition to her part-time job at the grocery store. She works at AMP four hours a day, three days a week, and earns ten dollars per hour, and works four hours a day for two days a week at the grocery store.</a:t>
            </a:r>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r>
              <a:rPr lang="en-US" b="1" dirty="0"/>
              <a:t>Lessons Learned</a:t>
            </a:r>
            <a:endParaRPr lang="en-US"/>
          </a:p>
          <a:p>
            <a:pPr marL="171450" indent="-171450">
              <a:buFont typeface="Arial"/>
              <a:buChar char="•"/>
            </a:pPr>
            <a:r>
              <a:rPr lang="en-US" dirty="0"/>
              <a:t>The job developers' effort to get to know the staff at AMP and their needs gave them the credibility to make valuable suggestions to the CEO and Serena as they created Maggie's job.</a:t>
            </a:r>
            <a:endParaRPr lang="en-US" dirty="0">
              <a:cs typeface="Calibri"/>
            </a:endParaRPr>
          </a:p>
          <a:p>
            <a:pPr marL="171450" indent="-171450">
              <a:buFont typeface="Arial"/>
              <a:buChar char="•"/>
            </a:pPr>
            <a:r>
              <a:rPr lang="en-US" dirty="0"/>
              <a:t>Carving out a new position from Serena's extra tasks created a perfect position for Maggie, while allowing Serena to focus on new responsibilities.</a:t>
            </a:r>
            <a:endParaRPr lang="en-US" dirty="0">
              <a:cs typeface="Calibri"/>
            </a:endParaRPr>
          </a:p>
          <a:p>
            <a:pPr marL="171450" indent="-171450">
              <a:buFont typeface="Arial"/>
              <a:buChar char="•"/>
            </a:pPr>
            <a:r>
              <a:rPr lang="en-US" dirty="0"/>
              <a:t>Creating this new job not only benefited a new employee, but also improved the running of the business.</a:t>
            </a:r>
            <a:endParaRPr lang="en-US" dirty="0">
              <a:cs typeface="Calibri"/>
            </a:endParaRPr>
          </a:p>
          <a:p>
            <a:pPr marL="171450" indent="-171450">
              <a:buFont typeface="Arial"/>
              <a:buChar char="•"/>
            </a:pPr>
            <a:r>
              <a:rPr lang="en-US" dirty="0"/>
              <a:t>The job coach was important to Maggie's smooth transition into the company. By taking time at the beginning to learn tasks and communicate expectations, Maggie, her job coach, and the office manager set the stage for Maggie to succeed.</a:t>
            </a:r>
            <a:endParaRPr lang="en-US" dirty="0">
              <a:cs typeface="Calibri"/>
            </a:endParaRPr>
          </a:p>
          <a:p>
            <a:endParaRPr lang="en-US" dirty="0">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36B12294-D2B3-4010-B33E-3308A620F65B}" type="slidenum">
              <a:t>8</a:t>
            </a:fld>
            <a:endParaRPr lang="en-US"/>
          </a:p>
        </p:txBody>
      </p:sp>
    </p:spTree>
    <p:extLst>
      <p:ext uri="{BB962C8B-B14F-4D97-AF65-F5344CB8AC3E}">
        <p14:creationId xmlns:p14="http://schemas.microsoft.com/office/powerpoint/2010/main" val="995476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3F7BB-E430-8FB6-4694-32B5B3BE75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A7288D1-2160-E478-A63D-58EEE53E76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3CB142-7E8B-6A0B-234F-CCEDD166139F}"/>
              </a:ext>
            </a:extLst>
          </p:cNvPr>
          <p:cNvSpPr>
            <a:spLocks noGrp="1"/>
          </p:cNvSpPr>
          <p:nvPr>
            <p:ph type="dt" sz="half" idx="10"/>
          </p:nvPr>
        </p:nvSpPr>
        <p:spPr/>
        <p:txBody>
          <a:bodyPr/>
          <a:lstStyle/>
          <a:p>
            <a:fld id="{1737FFC9-B47E-43CC-B162-9EDBE8041AD5}" type="datetimeFigureOut">
              <a:rPr lang="en-US" smtClean="0"/>
              <a:t>3/13/2024</a:t>
            </a:fld>
            <a:endParaRPr lang="en-US"/>
          </a:p>
        </p:txBody>
      </p:sp>
      <p:sp>
        <p:nvSpPr>
          <p:cNvPr id="5" name="Footer Placeholder 4">
            <a:extLst>
              <a:ext uri="{FF2B5EF4-FFF2-40B4-BE49-F238E27FC236}">
                <a16:creationId xmlns:a16="http://schemas.microsoft.com/office/drawing/2014/main" id="{69F70714-B7E8-2ADA-DC44-02239480C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5613E1-BD6E-0EDD-9110-114D9127A935}"/>
              </a:ext>
            </a:extLst>
          </p:cNvPr>
          <p:cNvSpPr>
            <a:spLocks noGrp="1"/>
          </p:cNvSpPr>
          <p:nvPr>
            <p:ph type="sldNum" sz="quarter" idx="12"/>
          </p:nvPr>
        </p:nvSpPr>
        <p:spPr/>
        <p:txBody>
          <a:bodyPr/>
          <a:lstStyle/>
          <a:p>
            <a:fld id="{48DED216-7893-4D5C-8B87-B59DD49FFAF2}" type="slidenum">
              <a:rPr lang="en-US" smtClean="0"/>
              <a:t>‹#›</a:t>
            </a:fld>
            <a:endParaRPr lang="en-US"/>
          </a:p>
        </p:txBody>
      </p:sp>
    </p:spTree>
    <p:extLst>
      <p:ext uri="{BB962C8B-B14F-4D97-AF65-F5344CB8AC3E}">
        <p14:creationId xmlns:p14="http://schemas.microsoft.com/office/powerpoint/2010/main" val="2341945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88E5D-89EA-4148-342E-C2DCEDC84E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A5B12D-62EA-C3B1-2FD5-7CB549136A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240F39-734D-79EC-C44E-CEA5489DA7C5}"/>
              </a:ext>
            </a:extLst>
          </p:cNvPr>
          <p:cNvSpPr>
            <a:spLocks noGrp="1"/>
          </p:cNvSpPr>
          <p:nvPr>
            <p:ph type="dt" sz="half" idx="10"/>
          </p:nvPr>
        </p:nvSpPr>
        <p:spPr/>
        <p:txBody>
          <a:bodyPr/>
          <a:lstStyle/>
          <a:p>
            <a:fld id="{1737FFC9-B47E-43CC-B162-9EDBE8041AD5}" type="datetimeFigureOut">
              <a:rPr lang="en-US" smtClean="0"/>
              <a:t>3/13/2024</a:t>
            </a:fld>
            <a:endParaRPr lang="en-US"/>
          </a:p>
        </p:txBody>
      </p:sp>
      <p:sp>
        <p:nvSpPr>
          <p:cNvPr id="5" name="Footer Placeholder 4">
            <a:extLst>
              <a:ext uri="{FF2B5EF4-FFF2-40B4-BE49-F238E27FC236}">
                <a16:creationId xmlns:a16="http://schemas.microsoft.com/office/drawing/2014/main" id="{5A907F91-BD1B-F0F5-644B-CF3D60E19F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A271F7-CEC1-7797-2B13-9D1EDEC51755}"/>
              </a:ext>
            </a:extLst>
          </p:cNvPr>
          <p:cNvSpPr>
            <a:spLocks noGrp="1"/>
          </p:cNvSpPr>
          <p:nvPr>
            <p:ph type="sldNum" sz="quarter" idx="12"/>
          </p:nvPr>
        </p:nvSpPr>
        <p:spPr/>
        <p:txBody>
          <a:bodyPr/>
          <a:lstStyle/>
          <a:p>
            <a:fld id="{48DED216-7893-4D5C-8B87-B59DD49FFAF2}" type="slidenum">
              <a:rPr lang="en-US" smtClean="0"/>
              <a:t>‹#›</a:t>
            </a:fld>
            <a:endParaRPr lang="en-US"/>
          </a:p>
        </p:txBody>
      </p:sp>
    </p:spTree>
    <p:extLst>
      <p:ext uri="{BB962C8B-B14F-4D97-AF65-F5344CB8AC3E}">
        <p14:creationId xmlns:p14="http://schemas.microsoft.com/office/powerpoint/2010/main" val="863799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D03A6-03B3-7A87-C973-45F574CC30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DA9F36A-A579-6957-11E0-299D71BB69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FB48A4-E743-0E66-733F-3D4D8AC0945A}"/>
              </a:ext>
            </a:extLst>
          </p:cNvPr>
          <p:cNvSpPr>
            <a:spLocks noGrp="1"/>
          </p:cNvSpPr>
          <p:nvPr>
            <p:ph type="dt" sz="half" idx="10"/>
          </p:nvPr>
        </p:nvSpPr>
        <p:spPr/>
        <p:txBody>
          <a:bodyPr/>
          <a:lstStyle/>
          <a:p>
            <a:fld id="{1737FFC9-B47E-43CC-B162-9EDBE8041AD5}" type="datetimeFigureOut">
              <a:rPr lang="en-US" smtClean="0"/>
              <a:t>3/13/2024</a:t>
            </a:fld>
            <a:endParaRPr lang="en-US"/>
          </a:p>
        </p:txBody>
      </p:sp>
      <p:sp>
        <p:nvSpPr>
          <p:cNvPr id="5" name="Footer Placeholder 4">
            <a:extLst>
              <a:ext uri="{FF2B5EF4-FFF2-40B4-BE49-F238E27FC236}">
                <a16:creationId xmlns:a16="http://schemas.microsoft.com/office/drawing/2014/main" id="{0510A7EA-95F1-C295-61B6-FA331A293F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074710-9B55-D11F-B19E-E28CF217A9AA}"/>
              </a:ext>
            </a:extLst>
          </p:cNvPr>
          <p:cNvSpPr>
            <a:spLocks noGrp="1"/>
          </p:cNvSpPr>
          <p:nvPr>
            <p:ph type="sldNum" sz="quarter" idx="12"/>
          </p:nvPr>
        </p:nvSpPr>
        <p:spPr/>
        <p:txBody>
          <a:bodyPr/>
          <a:lstStyle/>
          <a:p>
            <a:fld id="{48DED216-7893-4D5C-8B87-B59DD49FFAF2}" type="slidenum">
              <a:rPr lang="en-US" smtClean="0"/>
              <a:t>‹#›</a:t>
            </a:fld>
            <a:endParaRPr lang="en-US"/>
          </a:p>
        </p:txBody>
      </p:sp>
    </p:spTree>
    <p:extLst>
      <p:ext uri="{BB962C8B-B14F-4D97-AF65-F5344CB8AC3E}">
        <p14:creationId xmlns:p14="http://schemas.microsoft.com/office/powerpoint/2010/main" val="120005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F9ED1-47DA-7C89-5BD6-DE6898E02C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E825AC-DB60-13F4-6094-25BDDBB5ABB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BD15D6-A97C-80EF-6791-749993A3BF6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785D79E-D6F5-B855-7B43-9C39E64D8E68}"/>
              </a:ext>
            </a:extLst>
          </p:cNvPr>
          <p:cNvSpPr>
            <a:spLocks noGrp="1"/>
          </p:cNvSpPr>
          <p:nvPr>
            <p:ph type="dt" sz="half" idx="10"/>
          </p:nvPr>
        </p:nvSpPr>
        <p:spPr/>
        <p:txBody>
          <a:bodyPr/>
          <a:lstStyle/>
          <a:p>
            <a:fld id="{1737FFC9-B47E-43CC-B162-9EDBE8041AD5}" type="datetimeFigureOut">
              <a:rPr lang="en-US" smtClean="0"/>
              <a:t>3/13/2024</a:t>
            </a:fld>
            <a:endParaRPr lang="en-US"/>
          </a:p>
        </p:txBody>
      </p:sp>
      <p:sp>
        <p:nvSpPr>
          <p:cNvPr id="6" name="Footer Placeholder 5">
            <a:extLst>
              <a:ext uri="{FF2B5EF4-FFF2-40B4-BE49-F238E27FC236}">
                <a16:creationId xmlns:a16="http://schemas.microsoft.com/office/drawing/2014/main" id="{2BB34EB3-9764-2F8B-3A63-6D811BCA96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2E1F15-F244-8FBD-9215-223C75231436}"/>
              </a:ext>
            </a:extLst>
          </p:cNvPr>
          <p:cNvSpPr>
            <a:spLocks noGrp="1"/>
          </p:cNvSpPr>
          <p:nvPr>
            <p:ph type="sldNum" sz="quarter" idx="12"/>
          </p:nvPr>
        </p:nvSpPr>
        <p:spPr/>
        <p:txBody>
          <a:bodyPr/>
          <a:lstStyle/>
          <a:p>
            <a:fld id="{48DED216-7893-4D5C-8B87-B59DD49FFAF2}" type="slidenum">
              <a:rPr lang="en-US" smtClean="0"/>
              <a:t>‹#›</a:t>
            </a:fld>
            <a:endParaRPr lang="en-US"/>
          </a:p>
        </p:txBody>
      </p:sp>
    </p:spTree>
    <p:extLst>
      <p:ext uri="{BB962C8B-B14F-4D97-AF65-F5344CB8AC3E}">
        <p14:creationId xmlns:p14="http://schemas.microsoft.com/office/powerpoint/2010/main" val="2721813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A3CD5-465E-E36D-74AF-DBB1A0C3B9D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D599371-F55E-5E20-18A2-135601DF68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FFF322-9BAD-05B5-F8BF-FAD1C096D1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EA5901D-6C26-B890-622B-D8835CB7DB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F6E53C-7BB3-5849-B085-C536AC9568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20E3AC-CEA5-F58A-CD27-0C3373E81B30}"/>
              </a:ext>
            </a:extLst>
          </p:cNvPr>
          <p:cNvSpPr>
            <a:spLocks noGrp="1"/>
          </p:cNvSpPr>
          <p:nvPr>
            <p:ph type="dt" sz="half" idx="10"/>
          </p:nvPr>
        </p:nvSpPr>
        <p:spPr/>
        <p:txBody>
          <a:bodyPr/>
          <a:lstStyle/>
          <a:p>
            <a:fld id="{1737FFC9-B47E-43CC-B162-9EDBE8041AD5}" type="datetimeFigureOut">
              <a:rPr lang="en-US" smtClean="0"/>
              <a:t>3/13/2024</a:t>
            </a:fld>
            <a:endParaRPr lang="en-US"/>
          </a:p>
        </p:txBody>
      </p:sp>
      <p:sp>
        <p:nvSpPr>
          <p:cNvPr id="8" name="Footer Placeholder 7">
            <a:extLst>
              <a:ext uri="{FF2B5EF4-FFF2-40B4-BE49-F238E27FC236}">
                <a16:creationId xmlns:a16="http://schemas.microsoft.com/office/drawing/2014/main" id="{65E92246-A067-2662-22F7-7F14557DB3B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BFC1C60-7BD8-5AAF-950E-DD67F4501C09}"/>
              </a:ext>
            </a:extLst>
          </p:cNvPr>
          <p:cNvSpPr>
            <a:spLocks noGrp="1"/>
          </p:cNvSpPr>
          <p:nvPr>
            <p:ph type="sldNum" sz="quarter" idx="12"/>
          </p:nvPr>
        </p:nvSpPr>
        <p:spPr/>
        <p:txBody>
          <a:bodyPr/>
          <a:lstStyle/>
          <a:p>
            <a:fld id="{48DED216-7893-4D5C-8B87-B59DD49FFAF2}" type="slidenum">
              <a:rPr lang="en-US" smtClean="0"/>
              <a:t>‹#›</a:t>
            </a:fld>
            <a:endParaRPr lang="en-US"/>
          </a:p>
        </p:txBody>
      </p:sp>
    </p:spTree>
    <p:extLst>
      <p:ext uri="{BB962C8B-B14F-4D97-AF65-F5344CB8AC3E}">
        <p14:creationId xmlns:p14="http://schemas.microsoft.com/office/powerpoint/2010/main" val="3671967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E0B5B-FA41-0180-24D6-5DC957E22A1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C2FB12F-8746-FC52-6575-9BC9D4CE0291}"/>
              </a:ext>
            </a:extLst>
          </p:cNvPr>
          <p:cNvSpPr>
            <a:spLocks noGrp="1"/>
          </p:cNvSpPr>
          <p:nvPr>
            <p:ph type="dt" sz="half" idx="10"/>
          </p:nvPr>
        </p:nvSpPr>
        <p:spPr/>
        <p:txBody>
          <a:bodyPr/>
          <a:lstStyle/>
          <a:p>
            <a:fld id="{1737FFC9-B47E-43CC-B162-9EDBE8041AD5}" type="datetimeFigureOut">
              <a:rPr lang="en-US" smtClean="0"/>
              <a:t>3/13/2024</a:t>
            </a:fld>
            <a:endParaRPr lang="en-US"/>
          </a:p>
        </p:txBody>
      </p:sp>
      <p:sp>
        <p:nvSpPr>
          <p:cNvPr id="4" name="Footer Placeholder 3">
            <a:extLst>
              <a:ext uri="{FF2B5EF4-FFF2-40B4-BE49-F238E27FC236}">
                <a16:creationId xmlns:a16="http://schemas.microsoft.com/office/drawing/2014/main" id="{A720A93A-8596-C24A-81A0-CC30731CE6A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B50B470-7BC7-FC31-E703-2B448BB7F5C9}"/>
              </a:ext>
            </a:extLst>
          </p:cNvPr>
          <p:cNvSpPr>
            <a:spLocks noGrp="1"/>
          </p:cNvSpPr>
          <p:nvPr>
            <p:ph type="sldNum" sz="quarter" idx="12"/>
          </p:nvPr>
        </p:nvSpPr>
        <p:spPr/>
        <p:txBody>
          <a:bodyPr/>
          <a:lstStyle/>
          <a:p>
            <a:fld id="{48DED216-7893-4D5C-8B87-B59DD49FFAF2}" type="slidenum">
              <a:rPr lang="en-US" smtClean="0"/>
              <a:t>‹#›</a:t>
            </a:fld>
            <a:endParaRPr lang="en-US"/>
          </a:p>
        </p:txBody>
      </p:sp>
    </p:spTree>
    <p:extLst>
      <p:ext uri="{BB962C8B-B14F-4D97-AF65-F5344CB8AC3E}">
        <p14:creationId xmlns:p14="http://schemas.microsoft.com/office/powerpoint/2010/main" val="3721364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032EFB-9DAA-7DED-83A6-F27EF56CAEDD}"/>
              </a:ext>
            </a:extLst>
          </p:cNvPr>
          <p:cNvSpPr>
            <a:spLocks noGrp="1"/>
          </p:cNvSpPr>
          <p:nvPr>
            <p:ph type="dt" sz="half" idx="10"/>
          </p:nvPr>
        </p:nvSpPr>
        <p:spPr/>
        <p:txBody>
          <a:bodyPr/>
          <a:lstStyle/>
          <a:p>
            <a:fld id="{1737FFC9-B47E-43CC-B162-9EDBE8041AD5}" type="datetimeFigureOut">
              <a:rPr lang="en-US" smtClean="0"/>
              <a:t>3/13/2024</a:t>
            </a:fld>
            <a:endParaRPr lang="en-US"/>
          </a:p>
        </p:txBody>
      </p:sp>
      <p:sp>
        <p:nvSpPr>
          <p:cNvPr id="3" name="Footer Placeholder 2">
            <a:extLst>
              <a:ext uri="{FF2B5EF4-FFF2-40B4-BE49-F238E27FC236}">
                <a16:creationId xmlns:a16="http://schemas.microsoft.com/office/drawing/2014/main" id="{D9BFFA33-4BE2-0321-F612-8A9DEB52A68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668C840-9D6E-8BC9-7F4F-FFF6495D22AE}"/>
              </a:ext>
            </a:extLst>
          </p:cNvPr>
          <p:cNvSpPr>
            <a:spLocks noGrp="1"/>
          </p:cNvSpPr>
          <p:nvPr>
            <p:ph type="sldNum" sz="quarter" idx="12"/>
          </p:nvPr>
        </p:nvSpPr>
        <p:spPr/>
        <p:txBody>
          <a:bodyPr/>
          <a:lstStyle/>
          <a:p>
            <a:fld id="{48DED216-7893-4D5C-8B87-B59DD49FFAF2}" type="slidenum">
              <a:rPr lang="en-US" smtClean="0"/>
              <a:t>‹#›</a:t>
            </a:fld>
            <a:endParaRPr lang="en-US"/>
          </a:p>
        </p:txBody>
      </p:sp>
    </p:spTree>
    <p:extLst>
      <p:ext uri="{BB962C8B-B14F-4D97-AF65-F5344CB8AC3E}">
        <p14:creationId xmlns:p14="http://schemas.microsoft.com/office/powerpoint/2010/main" val="3072773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2C64F-9013-0011-2217-903FECE8F3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D32A31D-4CAF-4A48-E51E-D2E4F7B900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82167CB-E1E0-D504-23D0-E14CEE35E6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CB2480-BE61-087A-746E-527AD8F621A6}"/>
              </a:ext>
            </a:extLst>
          </p:cNvPr>
          <p:cNvSpPr>
            <a:spLocks noGrp="1"/>
          </p:cNvSpPr>
          <p:nvPr>
            <p:ph type="dt" sz="half" idx="10"/>
          </p:nvPr>
        </p:nvSpPr>
        <p:spPr/>
        <p:txBody>
          <a:bodyPr/>
          <a:lstStyle/>
          <a:p>
            <a:fld id="{1737FFC9-B47E-43CC-B162-9EDBE8041AD5}" type="datetimeFigureOut">
              <a:rPr lang="en-US" smtClean="0"/>
              <a:t>3/13/2024</a:t>
            </a:fld>
            <a:endParaRPr lang="en-US"/>
          </a:p>
        </p:txBody>
      </p:sp>
      <p:sp>
        <p:nvSpPr>
          <p:cNvPr id="6" name="Footer Placeholder 5">
            <a:extLst>
              <a:ext uri="{FF2B5EF4-FFF2-40B4-BE49-F238E27FC236}">
                <a16:creationId xmlns:a16="http://schemas.microsoft.com/office/drawing/2014/main" id="{A55F8D7B-03CD-612E-D512-78006B61EA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D675A6-F845-D46C-CCB6-6DA280327EA3}"/>
              </a:ext>
            </a:extLst>
          </p:cNvPr>
          <p:cNvSpPr>
            <a:spLocks noGrp="1"/>
          </p:cNvSpPr>
          <p:nvPr>
            <p:ph type="sldNum" sz="quarter" idx="12"/>
          </p:nvPr>
        </p:nvSpPr>
        <p:spPr/>
        <p:txBody>
          <a:bodyPr/>
          <a:lstStyle/>
          <a:p>
            <a:fld id="{48DED216-7893-4D5C-8B87-B59DD49FFAF2}" type="slidenum">
              <a:rPr lang="en-US" smtClean="0"/>
              <a:t>‹#›</a:t>
            </a:fld>
            <a:endParaRPr lang="en-US"/>
          </a:p>
        </p:txBody>
      </p:sp>
    </p:spTree>
    <p:extLst>
      <p:ext uri="{BB962C8B-B14F-4D97-AF65-F5344CB8AC3E}">
        <p14:creationId xmlns:p14="http://schemas.microsoft.com/office/powerpoint/2010/main" val="3972599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729B1-A393-757F-C974-5304FFF979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20C6622-F214-8E94-7B1D-C0FF36EC82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6774C5E-F6D2-CC69-3BBF-64E87CED96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B21D62-C384-034B-C381-7B201F3BBC16}"/>
              </a:ext>
            </a:extLst>
          </p:cNvPr>
          <p:cNvSpPr>
            <a:spLocks noGrp="1"/>
          </p:cNvSpPr>
          <p:nvPr>
            <p:ph type="dt" sz="half" idx="10"/>
          </p:nvPr>
        </p:nvSpPr>
        <p:spPr/>
        <p:txBody>
          <a:bodyPr/>
          <a:lstStyle/>
          <a:p>
            <a:fld id="{1737FFC9-B47E-43CC-B162-9EDBE8041AD5}" type="datetimeFigureOut">
              <a:rPr lang="en-US" smtClean="0"/>
              <a:t>3/13/2024</a:t>
            </a:fld>
            <a:endParaRPr lang="en-US"/>
          </a:p>
        </p:txBody>
      </p:sp>
      <p:sp>
        <p:nvSpPr>
          <p:cNvPr id="6" name="Footer Placeholder 5">
            <a:extLst>
              <a:ext uri="{FF2B5EF4-FFF2-40B4-BE49-F238E27FC236}">
                <a16:creationId xmlns:a16="http://schemas.microsoft.com/office/drawing/2014/main" id="{C146E4F1-4BB7-3DFB-1443-A988EC4FD4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6FEF1B-2B2F-6A49-DDBB-6343BB682B57}"/>
              </a:ext>
            </a:extLst>
          </p:cNvPr>
          <p:cNvSpPr>
            <a:spLocks noGrp="1"/>
          </p:cNvSpPr>
          <p:nvPr>
            <p:ph type="sldNum" sz="quarter" idx="12"/>
          </p:nvPr>
        </p:nvSpPr>
        <p:spPr/>
        <p:txBody>
          <a:bodyPr/>
          <a:lstStyle/>
          <a:p>
            <a:fld id="{48DED216-7893-4D5C-8B87-B59DD49FFAF2}" type="slidenum">
              <a:rPr lang="en-US" smtClean="0"/>
              <a:t>‹#›</a:t>
            </a:fld>
            <a:endParaRPr lang="en-US"/>
          </a:p>
        </p:txBody>
      </p:sp>
    </p:spTree>
    <p:extLst>
      <p:ext uri="{BB962C8B-B14F-4D97-AF65-F5344CB8AC3E}">
        <p14:creationId xmlns:p14="http://schemas.microsoft.com/office/powerpoint/2010/main" val="928271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B9F54-64F8-8498-0A01-AB0B3BD88F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D30C66E-1324-3FCD-E800-ED4379D37BA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5EE35E-262E-3445-1E39-E2224E951403}"/>
              </a:ext>
            </a:extLst>
          </p:cNvPr>
          <p:cNvSpPr>
            <a:spLocks noGrp="1"/>
          </p:cNvSpPr>
          <p:nvPr>
            <p:ph type="dt" sz="half" idx="10"/>
          </p:nvPr>
        </p:nvSpPr>
        <p:spPr/>
        <p:txBody>
          <a:bodyPr/>
          <a:lstStyle/>
          <a:p>
            <a:fld id="{1737FFC9-B47E-43CC-B162-9EDBE8041AD5}" type="datetimeFigureOut">
              <a:rPr lang="en-US" smtClean="0"/>
              <a:t>3/13/2024</a:t>
            </a:fld>
            <a:endParaRPr lang="en-US"/>
          </a:p>
        </p:txBody>
      </p:sp>
      <p:sp>
        <p:nvSpPr>
          <p:cNvPr id="5" name="Footer Placeholder 4">
            <a:extLst>
              <a:ext uri="{FF2B5EF4-FFF2-40B4-BE49-F238E27FC236}">
                <a16:creationId xmlns:a16="http://schemas.microsoft.com/office/drawing/2014/main" id="{3905F533-EB73-E162-755D-553FE56886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1E884A-D9BE-EC91-3022-4AAFBEE3943F}"/>
              </a:ext>
            </a:extLst>
          </p:cNvPr>
          <p:cNvSpPr>
            <a:spLocks noGrp="1"/>
          </p:cNvSpPr>
          <p:nvPr>
            <p:ph type="sldNum" sz="quarter" idx="12"/>
          </p:nvPr>
        </p:nvSpPr>
        <p:spPr/>
        <p:txBody>
          <a:bodyPr/>
          <a:lstStyle/>
          <a:p>
            <a:fld id="{48DED216-7893-4D5C-8B87-B59DD49FFAF2}" type="slidenum">
              <a:rPr lang="en-US" smtClean="0"/>
              <a:t>‹#›</a:t>
            </a:fld>
            <a:endParaRPr lang="en-US"/>
          </a:p>
        </p:txBody>
      </p:sp>
    </p:spTree>
    <p:extLst>
      <p:ext uri="{BB962C8B-B14F-4D97-AF65-F5344CB8AC3E}">
        <p14:creationId xmlns:p14="http://schemas.microsoft.com/office/powerpoint/2010/main" val="4059597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B7107B-0A5A-2771-51A9-8B6408DD22F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873CB7-C925-8701-A889-726DA6E900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8E1A34-B4D4-5068-E7E4-E5C0C93E0DFA}"/>
              </a:ext>
            </a:extLst>
          </p:cNvPr>
          <p:cNvSpPr>
            <a:spLocks noGrp="1"/>
          </p:cNvSpPr>
          <p:nvPr>
            <p:ph type="dt" sz="half" idx="10"/>
          </p:nvPr>
        </p:nvSpPr>
        <p:spPr/>
        <p:txBody>
          <a:bodyPr/>
          <a:lstStyle/>
          <a:p>
            <a:fld id="{1737FFC9-B47E-43CC-B162-9EDBE8041AD5}" type="datetimeFigureOut">
              <a:rPr lang="en-US" smtClean="0"/>
              <a:t>3/13/2024</a:t>
            </a:fld>
            <a:endParaRPr lang="en-US"/>
          </a:p>
        </p:txBody>
      </p:sp>
      <p:sp>
        <p:nvSpPr>
          <p:cNvPr id="5" name="Footer Placeholder 4">
            <a:extLst>
              <a:ext uri="{FF2B5EF4-FFF2-40B4-BE49-F238E27FC236}">
                <a16:creationId xmlns:a16="http://schemas.microsoft.com/office/drawing/2014/main" id="{CCBD310C-550E-09D7-268B-E3CF36055C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CBE3E4-ADED-7307-71AC-5BAB434620D2}"/>
              </a:ext>
            </a:extLst>
          </p:cNvPr>
          <p:cNvSpPr>
            <a:spLocks noGrp="1"/>
          </p:cNvSpPr>
          <p:nvPr>
            <p:ph type="sldNum" sz="quarter" idx="12"/>
          </p:nvPr>
        </p:nvSpPr>
        <p:spPr/>
        <p:txBody>
          <a:bodyPr/>
          <a:lstStyle/>
          <a:p>
            <a:fld id="{48DED216-7893-4D5C-8B87-B59DD49FFAF2}" type="slidenum">
              <a:rPr lang="en-US" smtClean="0"/>
              <a:t>‹#›</a:t>
            </a:fld>
            <a:endParaRPr lang="en-US"/>
          </a:p>
        </p:txBody>
      </p:sp>
    </p:spTree>
    <p:extLst>
      <p:ext uri="{BB962C8B-B14F-4D97-AF65-F5344CB8AC3E}">
        <p14:creationId xmlns:p14="http://schemas.microsoft.com/office/powerpoint/2010/main" val="4165115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3BBDC2-B3A4-C31D-B5B8-582D581DF1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20EFFF-4CF8-ACD6-1219-6C7239D4B2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9E104E-1BEE-2304-6B2F-FC30EBAA66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37FFC9-B47E-43CC-B162-9EDBE8041AD5}" type="datetimeFigureOut">
              <a:rPr lang="en-US" smtClean="0"/>
              <a:t>3/13/2024</a:t>
            </a:fld>
            <a:endParaRPr lang="en-US"/>
          </a:p>
        </p:txBody>
      </p:sp>
      <p:sp>
        <p:nvSpPr>
          <p:cNvPr id="5" name="Footer Placeholder 4">
            <a:extLst>
              <a:ext uri="{FF2B5EF4-FFF2-40B4-BE49-F238E27FC236}">
                <a16:creationId xmlns:a16="http://schemas.microsoft.com/office/drawing/2014/main" id="{06F49855-937C-A116-5A36-1BD626123F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2E55800-1329-BF50-392E-9859583731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DED216-7893-4D5C-8B87-B59DD49FFAF2}" type="slidenum">
              <a:rPr lang="en-US" smtClean="0"/>
              <a:t>‹#›</a:t>
            </a:fld>
            <a:endParaRPr lang="en-US"/>
          </a:p>
        </p:txBody>
      </p:sp>
    </p:spTree>
    <p:extLst>
      <p:ext uri="{BB962C8B-B14F-4D97-AF65-F5344CB8AC3E}">
        <p14:creationId xmlns:p14="http://schemas.microsoft.com/office/powerpoint/2010/main" val="34858167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video" Target="https://www.youtube.com/embed/RqZKiNnHhMk?feature=oembed" TargetMode="External"/><Relationship Id="rId5" Type="http://schemas.openxmlformats.org/officeDocument/2006/relationships/image" Target="../media/image7.jpe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hyperlink" Target="https://www.nationaldisabilityinstitute.org/employment/discovery-and-customized-employment/"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video" Target="https://www.youtube.com/embed/tCP3v9Jhf5w?feature=oembed" TargetMode="External"/><Relationship Id="rId5" Type="http://schemas.openxmlformats.org/officeDocument/2006/relationships/image" Target="../media/image10.jpe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hyperlink" Target="https://icimedia.wistia.com/medias/jia1vevogr?wvideo=jia1vevogr" TargetMode="External"/><Relationship Id="rId4" Type="http://schemas.openxmlformats.org/officeDocument/2006/relationships/image" Target="../media/image1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8C0F632-E45D-407A-CF14-1B7B3ECCE3CC}"/>
              </a:ext>
            </a:extLst>
          </p:cNvPr>
          <p:cNvSpPr/>
          <p:nvPr/>
        </p:nvSpPr>
        <p:spPr>
          <a:xfrm>
            <a:off x="0" y="0"/>
            <a:ext cx="12192000" cy="6858000"/>
          </a:xfrm>
          <a:prstGeom prst="rect">
            <a:avLst/>
          </a:prstGeom>
          <a:solidFill>
            <a:schemeClr val="bg1"/>
          </a:solidFill>
          <a:ln w="174625">
            <a:solidFill>
              <a:srgbClr val="8D19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Logo&#10;&#10;Description automatically generated with medium confidence">
            <a:extLst>
              <a:ext uri="{FF2B5EF4-FFF2-40B4-BE49-F238E27FC236}">
                <a16:creationId xmlns:a16="http://schemas.microsoft.com/office/drawing/2014/main" id="{3329BB9C-D49B-2EFE-9093-038296CC58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0988" y="365837"/>
            <a:ext cx="6790024" cy="3362883"/>
          </a:xfrm>
          <a:prstGeom prst="rect">
            <a:avLst/>
          </a:prstGeom>
        </p:spPr>
      </p:pic>
      <p:grpSp>
        <p:nvGrpSpPr>
          <p:cNvPr id="10" name="Group 9">
            <a:extLst>
              <a:ext uri="{FF2B5EF4-FFF2-40B4-BE49-F238E27FC236}">
                <a16:creationId xmlns:a16="http://schemas.microsoft.com/office/drawing/2014/main" id="{E140B5FF-90A5-9194-6799-C5E378844726}"/>
              </a:ext>
            </a:extLst>
          </p:cNvPr>
          <p:cNvGrpSpPr/>
          <p:nvPr/>
        </p:nvGrpSpPr>
        <p:grpSpPr>
          <a:xfrm>
            <a:off x="193422" y="5842000"/>
            <a:ext cx="11805156" cy="830386"/>
            <a:chOff x="89971" y="5230545"/>
            <a:chExt cx="11995349" cy="843764"/>
          </a:xfrm>
        </p:grpSpPr>
        <p:pic>
          <p:nvPicPr>
            <p:cNvPr id="6" name="Google Shape;109;g13aeb6740f1_0_7">
              <a:extLst>
                <a:ext uri="{FF2B5EF4-FFF2-40B4-BE49-F238E27FC236}">
                  <a16:creationId xmlns:a16="http://schemas.microsoft.com/office/drawing/2014/main" id="{1130D671-EBAA-7EE1-BD3E-F7163227740F}"/>
                </a:ext>
              </a:extLst>
            </p:cNvPr>
            <p:cNvPicPr preferRelativeResize="0"/>
            <p:nvPr/>
          </p:nvPicPr>
          <p:blipFill rotWithShape="1">
            <a:blip r:embed="rId3">
              <a:alphaModFix/>
            </a:blip>
            <a:srcRect/>
            <a:stretch/>
          </p:blipFill>
          <p:spPr>
            <a:xfrm>
              <a:off x="9067086" y="5242560"/>
              <a:ext cx="3018234" cy="831034"/>
            </a:xfrm>
            <a:prstGeom prst="rect">
              <a:avLst/>
            </a:prstGeom>
            <a:noFill/>
            <a:ln>
              <a:noFill/>
            </a:ln>
          </p:spPr>
        </p:pic>
        <p:pic>
          <p:nvPicPr>
            <p:cNvPr id="7" name="Google Shape;112;g13aeb6740f1_0_7">
              <a:extLst>
                <a:ext uri="{FF2B5EF4-FFF2-40B4-BE49-F238E27FC236}">
                  <a16:creationId xmlns:a16="http://schemas.microsoft.com/office/drawing/2014/main" id="{F9BFD93C-7D83-5580-131F-419C6C61C042}"/>
                </a:ext>
              </a:extLst>
            </p:cNvPr>
            <p:cNvPicPr preferRelativeResize="0"/>
            <p:nvPr/>
          </p:nvPicPr>
          <p:blipFill rotWithShape="1">
            <a:blip r:embed="rId4">
              <a:alphaModFix/>
            </a:blip>
            <a:srcRect/>
            <a:stretch/>
          </p:blipFill>
          <p:spPr>
            <a:xfrm>
              <a:off x="1014167" y="5540658"/>
              <a:ext cx="2844800" cy="532935"/>
            </a:xfrm>
            <a:prstGeom prst="rect">
              <a:avLst/>
            </a:prstGeom>
            <a:noFill/>
            <a:ln>
              <a:noFill/>
            </a:ln>
          </p:spPr>
        </p:pic>
        <p:pic>
          <p:nvPicPr>
            <p:cNvPr id="8" name="Google Shape;110;g13aeb6740f1_0_7">
              <a:extLst>
                <a:ext uri="{FF2B5EF4-FFF2-40B4-BE49-F238E27FC236}">
                  <a16:creationId xmlns:a16="http://schemas.microsoft.com/office/drawing/2014/main" id="{3633EC37-A546-4484-2CFB-C5223F4DF7F1}"/>
                </a:ext>
              </a:extLst>
            </p:cNvPr>
            <p:cNvPicPr preferRelativeResize="0"/>
            <p:nvPr/>
          </p:nvPicPr>
          <p:blipFill rotWithShape="1">
            <a:blip r:embed="rId5">
              <a:alphaModFix/>
            </a:blip>
            <a:srcRect/>
            <a:stretch/>
          </p:blipFill>
          <p:spPr>
            <a:xfrm>
              <a:off x="7631601" y="5236823"/>
              <a:ext cx="1294700" cy="830491"/>
            </a:xfrm>
            <a:prstGeom prst="rect">
              <a:avLst/>
            </a:prstGeom>
            <a:noFill/>
            <a:ln>
              <a:noFill/>
            </a:ln>
          </p:spPr>
        </p:pic>
        <p:pic>
          <p:nvPicPr>
            <p:cNvPr id="9" name="Google Shape;111;g13aeb6740f1_0_7">
              <a:extLst>
                <a:ext uri="{FF2B5EF4-FFF2-40B4-BE49-F238E27FC236}">
                  <a16:creationId xmlns:a16="http://schemas.microsoft.com/office/drawing/2014/main" id="{3E291B12-14A4-60CA-E260-510F1485DEBE}"/>
                </a:ext>
              </a:extLst>
            </p:cNvPr>
            <p:cNvPicPr preferRelativeResize="0"/>
            <p:nvPr/>
          </p:nvPicPr>
          <p:blipFill rotWithShape="1">
            <a:blip r:embed="rId6">
              <a:alphaModFix/>
            </a:blip>
            <a:srcRect/>
            <a:stretch/>
          </p:blipFill>
          <p:spPr>
            <a:xfrm>
              <a:off x="89971" y="5236823"/>
              <a:ext cx="837486" cy="837486"/>
            </a:xfrm>
            <a:prstGeom prst="rect">
              <a:avLst/>
            </a:prstGeom>
            <a:noFill/>
            <a:ln>
              <a:noFill/>
            </a:ln>
          </p:spPr>
        </p:pic>
        <p:pic>
          <p:nvPicPr>
            <p:cNvPr id="1026" name="Picture 2" descr="University of Minnesota. | Last Call Media">
              <a:extLst>
                <a:ext uri="{FF2B5EF4-FFF2-40B4-BE49-F238E27FC236}">
                  <a16:creationId xmlns:a16="http://schemas.microsoft.com/office/drawing/2014/main" id="{F77DBDE2-60BD-611E-7995-2B33565A6DC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14604" y="5230545"/>
              <a:ext cx="3261360" cy="836769"/>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TextBox 11">
            <a:extLst>
              <a:ext uri="{FF2B5EF4-FFF2-40B4-BE49-F238E27FC236}">
                <a16:creationId xmlns:a16="http://schemas.microsoft.com/office/drawing/2014/main" id="{C53C2B2E-6420-884F-F8F6-214EDC91CE09}"/>
              </a:ext>
            </a:extLst>
          </p:cNvPr>
          <p:cNvSpPr txBox="1"/>
          <p:nvPr/>
        </p:nvSpPr>
        <p:spPr>
          <a:xfrm>
            <a:off x="1899920" y="3869649"/>
            <a:ext cx="8392160" cy="1323439"/>
          </a:xfrm>
          <a:prstGeom prst="rect">
            <a:avLst/>
          </a:prstGeom>
          <a:noFill/>
        </p:spPr>
        <p:txBody>
          <a:bodyPr wrap="square" lIns="91440" tIns="45720" rIns="91440" bIns="45720" rtlCol="0" anchor="t">
            <a:spAutoFit/>
          </a:bodyPr>
          <a:lstStyle/>
          <a:p>
            <a:pPr algn="ctr"/>
            <a:r>
              <a:rPr lang="en-US" sz="4000" b="1" dirty="0"/>
              <a:t>Competitive Integrated Employment and Customized Employment</a:t>
            </a:r>
            <a:endParaRPr lang="en-US" sz="4000" b="1" dirty="0">
              <a:ea typeface="Calibri"/>
              <a:cs typeface="Calibri"/>
            </a:endParaRPr>
          </a:p>
        </p:txBody>
      </p:sp>
    </p:spTree>
    <p:extLst>
      <p:ext uri="{BB962C8B-B14F-4D97-AF65-F5344CB8AC3E}">
        <p14:creationId xmlns:p14="http://schemas.microsoft.com/office/powerpoint/2010/main" val="1260075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F8EAF3-CDCE-3820-DC31-1B7B81DA5610}"/>
              </a:ext>
            </a:extLst>
          </p:cNvPr>
          <p:cNvSpPr/>
          <p:nvPr/>
        </p:nvSpPr>
        <p:spPr>
          <a:xfrm>
            <a:off x="10160" y="0"/>
            <a:ext cx="12192000" cy="6858000"/>
          </a:xfrm>
          <a:prstGeom prst="rect">
            <a:avLst/>
          </a:prstGeom>
          <a:solidFill>
            <a:schemeClr val="bg1"/>
          </a:solidFill>
          <a:ln w="174625">
            <a:solidFill>
              <a:srgbClr val="8D19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09DEBE8-4F1B-E58F-E58B-27FFE3755DEA}"/>
              </a:ext>
            </a:extLst>
          </p:cNvPr>
          <p:cNvSpPr>
            <a:spLocks noGrp="1"/>
          </p:cNvSpPr>
          <p:nvPr>
            <p:ph type="title"/>
          </p:nvPr>
        </p:nvSpPr>
        <p:spPr/>
        <p:txBody>
          <a:bodyPr/>
          <a:lstStyle/>
          <a:p>
            <a:r>
              <a:rPr lang="en-US" dirty="0"/>
              <a:t>Competitive Integrated Employment	</a:t>
            </a:r>
          </a:p>
        </p:txBody>
      </p:sp>
      <p:pic>
        <p:nvPicPr>
          <p:cNvPr id="4" name="Picture 3" descr="Logo&#10;&#10;Description automatically generated with medium confidence">
            <a:extLst>
              <a:ext uri="{FF2B5EF4-FFF2-40B4-BE49-F238E27FC236}">
                <a16:creationId xmlns:a16="http://schemas.microsoft.com/office/drawing/2014/main" id="{2D71C92C-9DF5-89E7-0453-7A620CAAC7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115" y="6037597"/>
            <a:ext cx="1327547" cy="657492"/>
          </a:xfrm>
          <a:prstGeom prst="rect">
            <a:avLst/>
          </a:prstGeom>
        </p:spPr>
      </p:pic>
      <p:sp>
        <p:nvSpPr>
          <p:cNvPr id="5" name="TextBox 4">
            <a:extLst>
              <a:ext uri="{FF2B5EF4-FFF2-40B4-BE49-F238E27FC236}">
                <a16:creationId xmlns:a16="http://schemas.microsoft.com/office/drawing/2014/main" id="{C1EA3D7A-21A5-7F8C-D07B-59287E8F62DB}"/>
              </a:ext>
            </a:extLst>
          </p:cNvPr>
          <p:cNvSpPr txBox="1"/>
          <p:nvPr/>
        </p:nvSpPr>
        <p:spPr>
          <a:xfrm>
            <a:off x="1899920" y="1544320"/>
            <a:ext cx="8990067" cy="3539430"/>
          </a:xfrm>
          <a:prstGeom prst="rect">
            <a:avLst/>
          </a:prstGeom>
          <a:noFill/>
        </p:spPr>
        <p:txBody>
          <a:bodyPr wrap="square" lIns="91440" tIns="45720" rIns="91440" bIns="45720" rtlCol="0" anchor="t">
            <a:spAutoFit/>
          </a:bodyPr>
          <a:lstStyle/>
          <a:p>
            <a:r>
              <a:rPr lang="en-US" sz="3200" b="1" dirty="0"/>
              <a:t>Competitive</a:t>
            </a:r>
            <a:r>
              <a:rPr lang="en-US" sz="3200" dirty="0"/>
              <a:t>: At or above minimum wage, comparable to others doing the same jobs, with the same benefits and opportunities as others doing the same job. </a:t>
            </a:r>
            <a:endParaRPr lang="en-US" sz="3200" dirty="0">
              <a:cs typeface="Calibri"/>
            </a:endParaRPr>
          </a:p>
          <a:p>
            <a:endParaRPr lang="en-US" sz="3200" dirty="0">
              <a:cs typeface="Calibri"/>
            </a:endParaRPr>
          </a:p>
          <a:p>
            <a:r>
              <a:rPr lang="en-US" sz="3200" b="1" dirty="0"/>
              <a:t>Integrated</a:t>
            </a:r>
            <a:r>
              <a:rPr lang="en-US" sz="3200" dirty="0"/>
              <a:t>: In the community with people with and without disabilities</a:t>
            </a:r>
            <a:endParaRPr lang="en-US" sz="3200" dirty="0">
              <a:cs typeface="Calibri"/>
            </a:endParaRPr>
          </a:p>
        </p:txBody>
      </p:sp>
    </p:spTree>
    <p:extLst>
      <p:ext uri="{BB962C8B-B14F-4D97-AF65-F5344CB8AC3E}">
        <p14:creationId xmlns:p14="http://schemas.microsoft.com/office/powerpoint/2010/main" val="2259620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7D3AA-E477-A5B4-A5D1-EDB3E870CE8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A7D3757-FCFA-E4D3-68D1-D87ADF5FA232}"/>
              </a:ext>
            </a:extLst>
          </p:cNvPr>
          <p:cNvSpPr/>
          <p:nvPr/>
        </p:nvSpPr>
        <p:spPr>
          <a:xfrm>
            <a:off x="10160" y="0"/>
            <a:ext cx="12192000" cy="6858000"/>
          </a:xfrm>
          <a:prstGeom prst="rect">
            <a:avLst/>
          </a:prstGeom>
          <a:solidFill>
            <a:schemeClr val="bg1"/>
          </a:solidFill>
          <a:ln w="174625">
            <a:solidFill>
              <a:srgbClr val="8D19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9B8050A-8B60-B0C6-7466-FA24CE61B31E}"/>
              </a:ext>
            </a:extLst>
          </p:cNvPr>
          <p:cNvSpPr>
            <a:spLocks noGrp="1"/>
          </p:cNvSpPr>
          <p:nvPr>
            <p:ph type="title"/>
          </p:nvPr>
        </p:nvSpPr>
        <p:spPr/>
        <p:txBody>
          <a:bodyPr/>
          <a:lstStyle/>
          <a:p>
            <a:r>
              <a:rPr lang="en-US" dirty="0"/>
              <a:t>Success Stories: Episode1 - UDAC</a:t>
            </a:r>
          </a:p>
        </p:txBody>
      </p:sp>
      <p:pic>
        <p:nvPicPr>
          <p:cNvPr id="4" name="Picture 3" descr="Logo&#10;&#10;Description automatically generated with medium confidence">
            <a:extLst>
              <a:ext uri="{FF2B5EF4-FFF2-40B4-BE49-F238E27FC236}">
                <a16:creationId xmlns:a16="http://schemas.microsoft.com/office/drawing/2014/main" id="{0DEC3D6E-A2DC-A48D-715A-7118F35E0F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0115" y="6037597"/>
            <a:ext cx="1327547" cy="657492"/>
          </a:xfrm>
          <a:prstGeom prst="rect">
            <a:avLst/>
          </a:prstGeom>
        </p:spPr>
      </p:pic>
      <p:pic>
        <p:nvPicPr>
          <p:cNvPr id="5" name="Online Media 4" title="MTI Success Stories – Episode 1: Udac">
            <a:hlinkClick r:id="" action="ppaction://media"/>
            <a:extLst>
              <a:ext uri="{FF2B5EF4-FFF2-40B4-BE49-F238E27FC236}">
                <a16:creationId xmlns:a16="http://schemas.microsoft.com/office/drawing/2014/main" id="{5549B5C2-1010-E725-05E1-8AA45DC21ACE}"/>
              </a:ext>
            </a:extLst>
          </p:cNvPr>
          <p:cNvPicPr>
            <a:picLocks noRot="1" noChangeAspect="1"/>
          </p:cNvPicPr>
          <p:nvPr>
            <a:videoFile r:link="rId1"/>
          </p:nvPr>
        </p:nvPicPr>
        <p:blipFill>
          <a:blip r:embed="rId5"/>
          <a:stretch>
            <a:fillRect/>
          </a:stretch>
        </p:blipFill>
        <p:spPr>
          <a:xfrm>
            <a:off x="3058160" y="1827428"/>
            <a:ext cx="7914640" cy="4471772"/>
          </a:xfrm>
          <a:prstGeom prst="rect">
            <a:avLst/>
          </a:prstGeom>
        </p:spPr>
      </p:pic>
    </p:spTree>
    <p:extLst>
      <p:ext uri="{BB962C8B-B14F-4D97-AF65-F5344CB8AC3E}">
        <p14:creationId xmlns:p14="http://schemas.microsoft.com/office/powerpoint/2010/main" val="1915097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8E118-C039-8E47-0596-029B93D90DF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B779AFE-AFDB-71FB-5ABE-E802EF5ED3E5}"/>
              </a:ext>
            </a:extLst>
          </p:cNvPr>
          <p:cNvSpPr/>
          <p:nvPr/>
        </p:nvSpPr>
        <p:spPr>
          <a:xfrm>
            <a:off x="10160" y="0"/>
            <a:ext cx="12192000" cy="6858000"/>
          </a:xfrm>
          <a:prstGeom prst="rect">
            <a:avLst/>
          </a:prstGeom>
          <a:solidFill>
            <a:schemeClr val="bg1"/>
          </a:solidFill>
          <a:ln w="174625">
            <a:solidFill>
              <a:srgbClr val="8D19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502107-82C0-7774-F24C-DF67A82A2CBD}"/>
              </a:ext>
            </a:extLst>
          </p:cNvPr>
          <p:cNvSpPr>
            <a:spLocks noGrp="1"/>
          </p:cNvSpPr>
          <p:nvPr>
            <p:ph type="title"/>
          </p:nvPr>
        </p:nvSpPr>
        <p:spPr/>
        <p:txBody>
          <a:bodyPr/>
          <a:lstStyle/>
          <a:p>
            <a:r>
              <a:rPr lang="en-US" dirty="0"/>
              <a:t>Customized Employment</a:t>
            </a:r>
          </a:p>
        </p:txBody>
      </p:sp>
      <p:pic>
        <p:nvPicPr>
          <p:cNvPr id="4" name="Picture 3" descr="Logo&#10;&#10;Description automatically generated with medium confidence">
            <a:extLst>
              <a:ext uri="{FF2B5EF4-FFF2-40B4-BE49-F238E27FC236}">
                <a16:creationId xmlns:a16="http://schemas.microsoft.com/office/drawing/2014/main" id="{D2983C07-142A-5985-89AF-9D58D31B58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115" y="6037597"/>
            <a:ext cx="1327547" cy="657492"/>
          </a:xfrm>
          <a:prstGeom prst="rect">
            <a:avLst/>
          </a:prstGeom>
        </p:spPr>
      </p:pic>
      <p:sp>
        <p:nvSpPr>
          <p:cNvPr id="5" name="TextBox 4">
            <a:extLst>
              <a:ext uri="{FF2B5EF4-FFF2-40B4-BE49-F238E27FC236}">
                <a16:creationId xmlns:a16="http://schemas.microsoft.com/office/drawing/2014/main" id="{73FBF1FE-DD65-1E21-1BB5-8F4133F6622C}"/>
              </a:ext>
            </a:extLst>
          </p:cNvPr>
          <p:cNvSpPr txBox="1"/>
          <p:nvPr/>
        </p:nvSpPr>
        <p:spPr>
          <a:xfrm>
            <a:off x="1615442" y="1422681"/>
            <a:ext cx="10048240" cy="4401205"/>
          </a:xfrm>
          <a:prstGeom prst="rect">
            <a:avLst/>
          </a:prstGeom>
          <a:noFill/>
        </p:spPr>
        <p:txBody>
          <a:bodyPr wrap="square" rtlCol="0">
            <a:spAutoFit/>
          </a:bodyPr>
          <a:lstStyle/>
          <a:p>
            <a:r>
              <a:rPr lang="en-US" sz="2800" dirty="0"/>
              <a:t>Focus on learning as much about the person through “Discovery.” </a:t>
            </a:r>
          </a:p>
          <a:p>
            <a:endParaRPr lang="en-US" sz="2800" dirty="0"/>
          </a:p>
          <a:p>
            <a:r>
              <a:rPr lang="en-US" sz="2800" dirty="0"/>
              <a:t>Discovery is evidence-based and leads to better outcomes</a:t>
            </a:r>
          </a:p>
          <a:p>
            <a:endParaRPr lang="en-US" sz="2800" dirty="0"/>
          </a:p>
          <a:p>
            <a:r>
              <a:rPr lang="en-US" sz="2800" dirty="0"/>
              <a:t>“CE utilizes an individualized approach to employment planning and job development — one person at a time and one employer at a time. Because CE jobs are a good fit for the person and the employer, there is greater employee satisfaction and productivity, resulting in enhanced retention and profitability for employers.” National Disability Institute</a:t>
            </a:r>
          </a:p>
        </p:txBody>
      </p:sp>
      <p:sp>
        <p:nvSpPr>
          <p:cNvPr id="6" name="TextBox 5">
            <a:extLst>
              <a:ext uri="{FF2B5EF4-FFF2-40B4-BE49-F238E27FC236}">
                <a16:creationId xmlns:a16="http://schemas.microsoft.com/office/drawing/2014/main" id="{27ADA607-86BD-5994-BCB3-211DD006AF2D}"/>
              </a:ext>
            </a:extLst>
          </p:cNvPr>
          <p:cNvSpPr txBox="1"/>
          <p:nvPr/>
        </p:nvSpPr>
        <p:spPr>
          <a:xfrm>
            <a:off x="5191760" y="5694611"/>
            <a:ext cx="7589520" cy="646331"/>
          </a:xfrm>
          <a:prstGeom prst="rect">
            <a:avLst/>
          </a:prstGeom>
          <a:noFill/>
        </p:spPr>
        <p:txBody>
          <a:bodyPr wrap="square" rtlCol="0">
            <a:spAutoFit/>
          </a:bodyPr>
          <a:lstStyle/>
          <a:p>
            <a:r>
              <a:rPr lang="en-US" dirty="0">
                <a:hlinkClick r:id="rId4"/>
              </a:rPr>
              <a:t>Discovery &amp; Customized Employment - National Disability Institute</a:t>
            </a:r>
            <a:endParaRPr lang="en-US" dirty="0"/>
          </a:p>
          <a:p>
            <a:endParaRPr lang="en-US" dirty="0"/>
          </a:p>
        </p:txBody>
      </p:sp>
    </p:spTree>
    <p:extLst>
      <p:ext uri="{BB962C8B-B14F-4D97-AF65-F5344CB8AC3E}">
        <p14:creationId xmlns:p14="http://schemas.microsoft.com/office/powerpoint/2010/main" val="2970849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3815E-4540-57BF-1437-4ABD257E4CF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6785B5E-4C5D-2D76-20D8-1549F5221286}"/>
              </a:ext>
            </a:extLst>
          </p:cNvPr>
          <p:cNvSpPr/>
          <p:nvPr/>
        </p:nvSpPr>
        <p:spPr>
          <a:xfrm>
            <a:off x="10160" y="0"/>
            <a:ext cx="12192000" cy="6858000"/>
          </a:xfrm>
          <a:prstGeom prst="rect">
            <a:avLst/>
          </a:prstGeom>
          <a:solidFill>
            <a:schemeClr val="bg1"/>
          </a:solidFill>
          <a:ln w="174625">
            <a:solidFill>
              <a:srgbClr val="8D19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4D5AA24-7C53-8D8F-6230-BA399EF82D46}"/>
              </a:ext>
            </a:extLst>
          </p:cNvPr>
          <p:cNvSpPr>
            <a:spLocks noGrp="1"/>
          </p:cNvSpPr>
          <p:nvPr>
            <p:ph type="title"/>
          </p:nvPr>
        </p:nvSpPr>
        <p:spPr>
          <a:xfrm>
            <a:off x="685800" y="-135732"/>
            <a:ext cx="10515600" cy="1325563"/>
          </a:xfrm>
        </p:spPr>
        <p:txBody>
          <a:bodyPr/>
          <a:lstStyle/>
          <a:p>
            <a:r>
              <a:rPr lang="en-US" dirty="0"/>
              <a:t>Customized Employment</a:t>
            </a:r>
          </a:p>
        </p:txBody>
      </p:sp>
      <p:pic>
        <p:nvPicPr>
          <p:cNvPr id="4" name="Picture 3" descr="Logo&#10;&#10;Description automatically generated with medium confidence">
            <a:extLst>
              <a:ext uri="{FF2B5EF4-FFF2-40B4-BE49-F238E27FC236}">
                <a16:creationId xmlns:a16="http://schemas.microsoft.com/office/drawing/2014/main" id="{53676E43-0C0D-0EF9-8A82-63D92E1DDD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115" y="6037597"/>
            <a:ext cx="1327547" cy="657492"/>
          </a:xfrm>
          <a:prstGeom prst="rect">
            <a:avLst/>
          </a:prstGeom>
        </p:spPr>
      </p:pic>
      <p:pic>
        <p:nvPicPr>
          <p:cNvPr id="7" name="Picture 6" descr="A diagram of a pyramid&#10;&#10;Description automatically generated">
            <a:extLst>
              <a:ext uri="{FF2B5EF4-FFF2-40B4-BE49-F238E27FC236}">
                <a16:creationId xmlns:a16="http://schemas.microsoft.com/office/drawing/2014/main" id="{259DF3A7-BF99-4123-BDA5-720EBC9C02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76400" y="892175"/>
            <a:ext cx="9956800" cy="5600700"/>
          </a:xfrm>
          <a:prstGeom prst="rect">
            <a:avLst/>
          </a:prstGeom>
        </p:spPr>
      </p:pic>
    </p:spTree>
    <p:extLst>
      <p:ext uri="{BB962C8B-B14F-4D97-AF65-F5344CB8AC3E}">
        <p14:creationId xmlns:p14="http://schemas.microsoft.com/office/powerpoint/2010/main" val="2252021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45B9A-5712-AE66-989E-7AC24375A5E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4E56D4D-589F-338F-B231-61678C5DCE42}"/>
              </a:ext>
            </a:extLst>
          </p:cNvPr>
          <p:cNvSpPr/>
          <p:nvPr/>
        </p:nvSpPr>
        <p:spPr>
          <a:xfrm>
            <a:off x="10160" y="0"/>
            <a:ext cx="12192000" cy="6858000"/>
          </a:xfrm>
          <a:prstGeom prst="rect">
            <a:avLst/>
          </a:prstGeom>
          <a:solidFill>
            <a:schemeClr val="bg1"/>
          </a:solidFill>
          <a:ln w="174625">
            <a:solidFill>
              <a:srgbClr val="8D19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Logo&#10;&#10;Description automatically generated with medium confidence">
            <a:extLst>
              <a:ext uri="{FF2B5EF4-FFF2-40B4-BE49-F238E27FC236}">
                <a16:creationId xmlns:a16="http://schemas.microsoft.com/office/drawing/2014/main" id="{32EB78D7-4969-0BB5-3F89-5EF3384ECE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115" y="6037597"/>
            <a:ext cx="1327547" cy="657492"/>
          </a:xfrm>
          <a:prstGeom prst="rect">
            <a:avLst/>
          </a:prstGeom>
        </p:spPr>
      </p:pic>
      <p:pic>
        <p:nvPicPr>
          <p:cNvPr id="9" name="Picture 8" descr="A blackboard with white text and yellow paint&#10;&#10;Description automatically generated">
            <a:extLst>
              <a:ext uri="{FF2B5EF4-FFF2-40B4-BE49-F238E27FC236}">
                <a16:creationId xmlns:a16="http://schemas.microsoft.com/office/drawing/2014/main" id="{B34CB24E-C143-8EE5-201E-39099D6735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60" y="0"/>
            <a:ext cx="12192000" cy="6858000"/>
          </a:xfrm>
          <a:prstGeom prst="rect">
            <a:avLst/>
          </a:prstGeom>
        </p:spPr>
      </p:pic>
    </p:spTree>
    <p:extLst>
      <p:ext uri="{BB962C8B-B14F-4D97-AF65-F5344CB8AC3E}">
        <p14:creationId xmlns:p14="http://schemas.microsoft.com/office/powerpoint/2010/main" val="4050747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13866-E3BB-D2FB-12A0-3E5A55DBA2C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1DDE9BF-26C9-198C-A49A-D51B2DE36339}"/>
              </a:ext>
            </a:extLst>
          </p:cNvPr>
          <p:cNvSpPr/>
          <p:nvPr/>
        </p:nvSpPr>
        <p:spPr>
          <a:xfrm>
            <a:off x="10160" y="0"/>
            <a:ext cx="12192000" cy="6858000"/>
          </a:xfrm>
          <a:prstGeom prst="rect">
            <a:avLst/>
          </a:prstGeom>
          <a:solidFill>
            <a:schemeClr val="bg1"/>
          </a:solidFill>
          <a:ln w="174625">
            <a:solidFill>
              <a:srgbClr val="8D19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2A753E5-0537-8A15-7800-8C0B0E59F6B9}"/>
              </a:ext>
            </a:extLst>
          </p:cNvPr>
          <p:cNvSpPr>
            <a:spLocks noGrp="1"/>
          </p:cNvSpPr>
          <p:nvPr>
            <p:ph type="title"/>
          </p:nvPr>
        </p:nvSpPr>
        <p:spPr/>
        <p:txBody>
          <a:bodyPr/>
          <a:lstStyle/>
          <a:p>
            <a:r>
              <a:rPr lang="en-US" dirty="0"/>
              <a:t>Success Stories: Episode 3-Customized Employment in Action</a:t>
            </a:r>
          </a:p>
        </p:txBody>
      </p:sp>
      <p:pic>
        <p:nvPicPr>
          <p:cNvPr id="4" name="Picture 3" descr="Logo&#10;&#10;Description automatically generated with medium confidence">
            <a:extLst>
              <a:ext uri="{FF2B5EF4-FFF2-40B4-BE49-F238E27FC236}">
                <a16:creationId xmlns:a16="http://schemas.microsoft.com/office/drawing/2014/main" id="{037C0608-AD87-9DD3-31B4-34CF80BA30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0115" y="6037597"/>
            <a:ext cx="1327547" cy="657492"/>
          </a:xfrm>
          <a:prstGeom prst="rect">
            <a:avLst/>
          </a:prstGeom>
        </p:spPr>
      </p:pic>
      <p:pic>
        <p:nvPicPr>
          <p:cNvPr id="6" name="Online Media 5" title="MTI Success Stories – Episode 3: Customized Employment in Action">
            <a:hlinkClick r:id="" action="ppaction://media"/>
            <a:extLst>
              <a:ext uri="{FF2B5EF4-FFF2-40B4-BE49-F238E27FC236}">
                <a16:creationId xmlns:a16="http://schemas.microsoft.com/office/drawing/2014/main" id="{0CE37856-3A80-397F-6A5C-6D31FAA22E7A}"/>
              </a:ext>
            </a:extLst>
          </p:cNvPr>
          <p:cNvPicPr>
            <a:picLocks noRot="1" noChangeAspect="1"/>
          </p:cNvPicPr>
          <p:nvPr>
            <a:videoFile r:link="rId1"/>
          </p:nvPr>
        </p:nvPicPr>
        <p:blipFill>
          <a:blip r:embed="rId5"/>
          <a:stretch>
            <a:fillRect/>
          </a:stretch>
        </p:blipFill>
        <p:spPr>
          <a:xfrm>
            <a:off x="3042920" y="1797228"/>
            <a:ext cx="8310880" cy="4695647"/>
          </a:xfrm>
          <a:prstGeom prst="rect">
            <a:avLst/>
          </a:prstGeom>
        </p:spPr>
      </p:pic>
    </p:spTree>
    <p:extLst>
      <p:ext uri="{BB962C8B-B14F-4D97-AF65-F5344CB8AC3E}">
        <p14:creationId xmlns:p14="http://schemas.microsoft.com/office/powerpoint/2010/main" val="1884614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13866-E3BB-D2FB-12A0-3E5A55DBA2C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1DDE9BF-26C9-198C-A49A-D51B2DE36339}"/>
              </a:ext>
            </a:extLst>
          </p:cNvPr>
          <p:cNvSpPr/>
          <p:nvPr/>
        </p:nvSpPr>
        <p:spPr>
          <a:xfrm>
            <a:off x="10160" y="0"/>
            <a:ext cx="12192000" cy="6858000"/>
          </a:xfrm>
          <a:prstGeom prst="rect">
            <a:avLst/>
          </a:prstGeom>
          <a:solidFill>
            <a:schemeClr val="bg1"/>
          </a:solidFill>
          <a:ln w="174625">
            <a:solidFill>
              <a:srgbClr val="8D191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2A753E5-0537-8A15-7800-8C0B0E59F6B9}"/>
              </a:ext>
            </a:extLst>
          </p:cNvPr>
          <p:cNvSpPr>
            <a:spLocks noGrp="1"/>
          </p:cNvSpPr>
          <p:nvPr>
            <p:ph type="title"/>
          </p:nvPr>
        </p:nvSpPr>
        <p:spPr>
          <a:xfrm>
            <a:off x="838200" y="-15875"/>
            <a:ext cx="10515600" cy="1325563"/>
          </a:xfrm>
        </p:spPr>
        <p:txBody>
          <a:bodyPr/>
          <a:lstStyle/>
          <a:p>
            <a:r>
              <a:rPr lang="en-US" dirty="0"/>
              <a:t>Job Carve Outs: Maggie's Story</a:t>
            </a:r>
          </a:p>
        </p:txBody>
      </p:sp>
      <p:pic>
        <p:nvPicPr>
          <p:cNvPr id="4" name="Picture 3" descr="Logo&#10;&#10;Description automatically generated with medium confidence">
            <a:extLst>
              <a:ext uri="{FF2B5EF4-FFF2-40B4-BE49-F238E27FC236}">
                <a16:creationId xmlns:a16="http://schemas.microsoft.com/office/drawing/2014/main" id="{037C0608-AD87-9DD3-31B4-34CF80BA30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115" y="6037597"/>
            <a:ext cx="1327547" cy="657492"/>
          </a:xfrm>
          <a:prstGeom prst="rect">
            <a:avLst/>
          </a:prstGeom>
        </p:spPr>
      </p:pic>
      <p:pic>
        <p:nvPicPr>
          <p:cNvPr id="7" name="Picture 6" descr="A person with a play button&#10;&#10;Description automatically generated">
            <a:extLst>
              <a:ext uri="{FF2B5EF4-FFF2-40B4-BE49-F238E27FC236}">
                <a16:creationId xmlns:a16="http://schemas.microsoft.com/office/drawing/2014/main" id="{C8A4D740-E504-258E-F7E4-8314BD986493}"/>
              </a:ext>
            </a:extLst>
          </p:cNvPr>
          <p:cNvPicPr>
            <a:picLocks noChangeAspect="1"/>
          </p:cNvPicPr>
          <p:nvPr/>
        </p:nvPicPr>
        <p:blipFill>
          <a:blip r:embed="rId4"/>
          <a:stretch>
            <a:fillRect/>
          </a:stretch>
        </p:blipFill>
        <p:spPr>
          <a:xfrm>
            <a:off x="2531807" y="1128405"/>
            <a:ext cx="9156289" cy="5141963"/>
          </a:xfrm>
          <a:prstGeom prst="rect">
            <a:avLst/>
          </a:prstGeom>
        </p:spPr>
      </p:pic>
      <p:sp>
        <p:nvSpPr>
          <p:cNvPr id="8" name="TextBox 7">
            <a:extLst>
              <a:ext uri="{FF2B5EF4-FFF2-40B4-BE49-F238E27FC236}">
                <a16:creationId xmlns:a16="http://schemas.microsoft.com/office/drawing/2014/main" id="{59CDF91C-D5F6-2985-08BE-556A1F09723A}"/>
              </a:ext>
            </a:extLst>
          </p:cNvPr>
          <p:cNvSpPr txBox="1"/>
          <p:nvPr/>
        </p:nvSpPr>
        <p:spPr>
          <a:xfrm>
            <a:off x="3802626" y="3667432"/>
            <a:ext cx="593868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a:p>
            <a:r>
              <a:rPr lang="en-US">
                <a:hlinkClick r:id="rId5"/>
              </a:rPr>
              <a:t>Maggie full version</a:t>
            </a:r>
          </a:p>
        </p:txBody>
      </p:sp>
      <p:sp>
        <p:nvSpPr>
          <p:cNvPr id="9" name="TextBox 8">
            <a:extLst>
              <a:ext uri="{FF2B5EF4-FFF2-40B4-BE49-F238E27FC236}">
                <a16:creationId xmlns:a16="http://schemas.microsoft.com/office/drawing/2014/main" id="{1BBE90BC-2243-3FF4-329E-3AA090622C9C}"/>
              </a:ext>
            </a:extLst>
          </p:cNvPr>
          <p:cNvSpPr txBox="1"/>
          <p:nvPr/>
        </p:nvSpPr>
        <p:spPr>
          <a:xfrm>
            <a:off x="3805069" y="6369651"/>
            <a:ext cx="901948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www.thinkwork.org/maggie-carving-out-job-increase-business-efficiency</a:t>
            </a:r>
            <a:endParaRPr lang="en-US" dirty="0"/>
          </a:p>
        </p:txBody>
      </p:sp>
    </p:spTree>
    <p:extLst>
      <p:ext uri="{BB962C8B-B14F-4D97-AF65-F5344CB8AC3E}">
        <p14:creationId xmlns:p14="http://schemas.microsoft.com/office/powerpoint/2010/main" val="4176518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97ef7c57-f98b-4bbf-abe5-0dccd9ed8267">
      <UserInfo>
        <DisplayName/>
        <AccountId xsi:nil="true"/>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270A6BDCF9EDE429F30368D7F34C74C" ma:contentTypeVersion="8" ma:contentTypeDescription="Create a new document." ma:contentTypeScope="" ma:versionID="90e2959f7ede8bf6ad6e7ec9bccdd909">
  <xsd:schema xmlns:xsd="http://www.w3.org/2001/XMLSchema" xmlns:xs="http://www.w3.org/2001/XMLSchema" xmlns:p="http://schemas.microsoft.com/office/2006/metadata/properties" xmlns:ns2="2ba670d5-100b-44a8-b60c-b9ae61acdd03" xmlns:ns3="97ef7c57-f98b-4bbf-abe5-0dccd9ed8267" targetNamespace="http://schemas.microsoft.com/office/2006/metadata/properties" ma:root="true" ma:fieldsID="c7705e0506eb033bd23cd490c837d094" ns2:_="" ns3:_="">
    <xsd:import namespace="2ba670d5-100b-44a8-b60c-b9ae61acdd03"/>
    <xsd:import namespace="97ef7c57-f98b-4bbf-abe5-0dccd9ed826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a670d5-100b-44a8-b60c-b9ae61acdd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7ef7c57-f98b-4bbf-abe5-0dccd9ed826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7A88C82-9B81-478B-A828-E8C01A58DBF3}">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F9CAC717-BEC9-4094-95D6-8D1FE39A995A}">
  <ds:schemaRefs>
    <ds:schemaRef ds:uri="http://schemas.microsoft.com/sharepoint/v3/contenttype/forms"/>
  </ds:schemaRefs>
</ds:datastoreItem>
</file>

<file path=customXml/itemProps3.xml><?xml version="1.0" encoding="utf-8"?>
<ds:datastoreItem xmlns:ds="http://schemas.openxmlformats.org/officeDocument/2006/customXml" ds:itemID="{7F1688EE-5AD5-4542-9136-C5BC08BA272D}"/>
</file>

<file path=docProps/app.xml><?xml version="1.0" encoding="utf-8"?>
<Properties xmlns="http://schemas.openxmlformats.org/officeDocument/2006/extended-properties" xmlns:vt="http://schemas.openxmlformats.org/officeDocument/2006/docPropsVTypes">
  <TotalTime>48</TotalTime>
  <Words>152</Words>
  <Application>Microsoft Office PowerPoint</Application>
  <PresentationFormat>Widescreen</PresentationFormat>
  <Paragraphs>15</Paragraphs>
  <Slides>8</Slides>
  <Notes>7</Notes>
  <HiddenSlides>0</HiddenSlides>
  <MMClips>2</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Competitive Integrated Employment </vt:lpstr>
      <vt:lpstr>Success Stories: Episode1 - UDAC</vt:lpstr>
      <vt:lpstr>Customized Employment</vt:lpstr>
      <vt:lpstr>Customized Employment</vt:lpstr>
      <vt:lpstr>PowerPoint Presentation</vt:lpstr>
      <vt:lpstr>Success Stories: Episode 3-Customized Employment in Action</vt:lpstr>
      <vt:lpstr>Job Carve Outs: Maggie's Story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Amy C Gessert</dc:creator>
  <cp:lastModifiedBy>Amy C Gessert</cp:lastModifiedBy>
  <cp:revision>89</cp:revision>
  <dcterms:created xsi:type="dcterms:W3CDTF">2023-04-18T18:16:17Z</dcterms:created>
  <dcterms:modified xsi:type="dcterms:W3CDTF">2024-03-13T17:27:57Z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0x0101008270A6BDCF9EDE429F30368D7F34C74C</vt:lpwstr>
  </property>
  <property fmtid="{D5CDD505-2E9C-101B-9397-08002B2CF9AE}" pid="3" name="xd_ProgID">
    <vt:lpwstr/>
  </property>
  <property fmtid="{D5CDD505-2E9C-101B-9397-08002B2CF9AE}" pid="4" name="_SourceUrl">
    <vt:lpwstr/>
  </property>
  <property fmtid="{D5CDD505-2E9C-101B-9397-08002B2CF9AE}" pid="5" name="_SharedFileIndex">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xd_Signature">
    <vt:bool>false</vt:bool>
  </property>
</Properties>
</file>