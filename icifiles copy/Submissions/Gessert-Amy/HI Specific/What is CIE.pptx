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36" d="100"/>
          <a:sy n="36" d="100"/>
        </p:scale>
        <p:origin x="2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28" d="100"/>
          <a:sy n="28" d="100"/>
        </p:scale>
        <p:origin x="1328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C4809-5908-4C63-9DA1-A047C4D71E1B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F4B7E-03A8-434D-8A98-8EFA7EA41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F4B7E-03A8-434D-8A98-8EFA7EA41C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6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F4B7E-03A8-434D-8A98-8EFA7EA41C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76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F4B7E-03A8-434D-8A98-8EFA7EA41C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52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F4B7E-03A8-434D-8A98-8EFA7EA41C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86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FF44-57BC-5075-DFCE-CC8FBD1F3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FA515-C3F5-B071-BFBC-F19288BC9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76F96-0244-C4EC-C196-6BD26A89A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E6315-070C-D1B4-6FCE-4087ECE43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8E29B-B0DF-D5A9-4059-BE4E2E76B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26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C54A-EEA2-03FF-BCBF-26B218B4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63C52-0342-E97A-8227-EEEBF0D0C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2794B-9855-30B8-60B4-B321D8AB4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0D5B0-4ADE-FC04-F219-954FE4FE1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F2FF8-DEF8-DA69-0C6E-0E0D3EBE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3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51C3-E534-171B-B8DC-4DD70E12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B32AE-B363-84F9-EC8D-1870E9768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E24BB-A8A1-81B6-A65A-6BD9C9034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1624F-7DAE-4067-A1FF-345D88540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F0D90-4C9C-BDAF-8AB1-A601C116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93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1B55-45E1-DCC6-47DC-C2BDBAE5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C3D92-05FE-B282-A24B-7990A2A4A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8A67F-D338-2DB3-BCD7-14F5C2661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0B79B-8AEB-DB06-A715-B9FA09911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A5031-72FC-3953-4B7E-6D4DA1DA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81654-86F8-D847-7DD2-9B870F17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8EBE-2261-3605-373C-B6B86E751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327BD-D4FA-FCC1-98D8-2C04AC303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1DF43-BEBD-AC7B-D6E2-8F6413F9E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04446-168B-E2CA-DA89-16DF9D4214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F912D-95B9-EFAF-EA92-F3A934DF4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93574-A84E-917A-5813-9010099E8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19824-0FE3-9F57-0709-611E7B074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515BF5-6E19-5816-03F4-B117674B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92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CE1DF-1BFA-27F8-480D-8014F7BA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7DD60-B6DD-75E2-1AD1-0A63AEF3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29FF2-EB50-C121-1376-0D1989D24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2EBCC-4185-21E4-D354-30CEFDB6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0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0F885-4051-92FD-0A81-8AECEF19C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7C10C-3FB0-48D5-BE49-A49DEE44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06611-D735-C12E-C8E4-4651E119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4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0DB4-9B16-3966-0185-82117B94C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97227-BDFF-A1B8-67DB-88A84D13F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3ADF9-AA28-3451-CF75-B04092F44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776BA-13B8-B4B0-1401-489865E1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617E9-D736-AD24-53C3-49F5ADE3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02C9D-D78E-6DD5-BCC8-8CC343EF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39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8A7D-463D-70A4-A663-9D400C4DC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A8CF6F-051D-8B2C-731D-8D2CEF9A9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1BA52-6FF1-A000-87B2-08BCEF180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B25E1-0A55-F2F2-B2C9-18E743DD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A7B77-1ECB-5F85-00E4-AE29B58C5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92ECC-E5D7-1652-46BF-F1EA562F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9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E511-F4A1-4B93-D607-64A7977A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14307-726A-31D3-A351-9E25A6E15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A82DE-5069-33E9-24BC-D01B746D3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008FB-7B2A-8ED2-BDD3-47853319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80664-BA06-4219-6585-125B0FE7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3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4EC479-9BF8-C27D-23BA-809C90F03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95485-D145-321F-6310-20A9766FC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E9B3-0038-AC8E-A964-50E209924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C9A67-29E2-916E-BB38-9AFBC4A6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004FE-726E-7D2E-1685-EC3CF609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4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E6885-3054-3588-ED19-C9D66EE9C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CE5C6-2A24-9CD9-76E0-17C1A0777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327E8-F4B1-4D9E-8C58-602F55818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67159-7F80-4386-A966-F3C3F2758BD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05E74-FC04-B11C-27E4-36D7DEE74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6E6F4-30A4-34AE-19D2-DCBCEB781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9184A-2962-412E-9901-9EE4BB082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96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A6CCB4-03B0-2FA5-440E-A0E831F4AB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74625">
            <a:solidFill>
              <a:srgbClr val="8D19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Open Sans"/>
                <a:ea typeface="Open Sans"/>
                <a:cs typeface="Open Sans"/>
              </a:rPr>
              <a:t>Taylor, J., </a:t>
            </a:r>
            <a:r>
              <a:rPr lang="en-US" sz="1400" dirty="0" err="1">
                <a:latin typeface="Open Sans"/>
                <a:ea typeface="Open Sans"/>
                <a:cs typeface="Open Sans"/>
              </a:rPr>
              <a:t>Avellone</a:t>
            </a:r>
            <a:r>
              <a:rPr lang="en-US" sz="1400" dirty="0">
                <a:latin typeface="Open Sans"/>
                <a:ea typeface="Open Sans"/>
                <a:cs typeface="Open Sans"/>
              </a:rPr>
              <a:t>, L., Brooke, V., </a:t>
            </a:r>
            <a:r>
              <a:rPr lang="en-US" sz="1400" dirty="0" err="1">
                <a:latin typeface="Open Sans"/>
                <a:ea typeface="Open Sans"/>
                <a:cs typeface="Open Sans"/>
              </a:rPr>
              <a:t>Wehman</a:t>
            </a:r>
            <a:r>
              <a:rPr lang="en-US" sz="1400" dirty="0">
                <a:latin typeface="Open Sans"/>
                <a:ea typeface="Open Sans"/>
                <a:cs typeface="Open Sans"/>
              </a:rPr>
              <a:t>, P., Inge, K., </a:t>
            </a:r>
            <a:r>
              <a:rPr lang="en-US" sz="1400" dirty="0" err="1">
                <a:latin typeface="Open Sans"/>
                <a:ea typeface="Open Sans"/>
                <a:cs typeface="Open Sans"/>
              </a:rPr>
              <a:t>Schall</a:t>
            </a:r>
            <a:r>
              <a:rPr lang="en-US" sz="1400" dirty="0">
                <a:latin typeface="Open Sans"/>
                <a:ea typeface="Open Sans"/>
                <a:cs typeface="Open Sans"/>
              </a:rPr>
              <a:t>, C., &amp; Iwanaga, K. (2022). The impact of competitive integrated employment on economic, psychological, and physical health outcomes for individuals with intellectual and developmental disabilities. Journal of Applied Research in Intellectual Disabilities, 35(2), 448–459. https://doi.org/10.1111/jar.12974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99C857-EBCE-DEC2-FC93-CAA4D76C28FE}"/>
              </a:ext>
            </a:extLst>
          </p:cNvPr>
          <p:cNvSpPr txBox="1">
            <a:spLocks/>
          </p:cNvSpPr>
          <p:nvPr/>
        </p:nvSpPr>
        <p:spPr>
          <a:xfrm>
            <a:off x="739239" y="192669"/>
            <a:ext cx="9574875" cy="4984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+mn-lt"/>
              </a:rPr>
              <a:t>CIE v Community Employment</a:t>
            </a:r>
            <a:endParaRPr lang="en-US">
              <a:cs typeface="Calibri Light" panose="020F0302020204030204"/>
            </a:endParaRPr>
          </a:p>
        </p:txBody>
      </p:sp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4D8F2B6A-EC57-9C66-FD6E-FC40407C1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15" y="6037597"/>
            <a:ext cx="1327547" cy="6574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8D3A2D-EE55-88DA-2156-E8961DB03A7A}"/>
              </a:ext>
            </a:extLst>
          </p:cNvPr>
          <p:cNvSpPr txBox="1"/>
          <p:nvPr/>
        </p:nvSpPr>
        <p:spPr>
          <a:xfrm>
            <a:off x="744888" y="729013"/>
            <a:ext cx="11179626" cy="612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cs typeface="Calibri"/>
              </a:rPr>
              <a:t>Competitive Integrated Employment (CIE):</a:t>
            </a:r>
            <a:endParaRPr lang="en-US" sz="2800"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Calibri"/>
              </a:rPr>
              <a:t>Directly hired by the business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Calibri"/>
              </a:rPr>
              <a:t>Full or part-time employment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Calibri"/>
              </a:rPr>
              <a:t>Paid at or above minimum wage and comparable to the customary rate paid by employer to employees without disabilities performing similar duties and with similar training and experience 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Calibri"/>
              </a:rPr>
              <a:t>Receiving the same level of benefits provided to other employees without disabilities in similar positions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Calibri"/>
              </a:rPr>
              <a:t>At a location where the employee interacts with other individuals without disabilities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Calibri"/>
              </a:rPr>
              <a:t>Presented opportunities for advancement similar to other employees without disabilities in similar positions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>
              <a:cs typeface="Calibri"/>
            </a:endParaRPr>
          </a:p>
          <a:p>
            <a:r>
              <a:rPr lang="en-US" sz="2800" b="1">
                <a:cs typeface="Calibri"/>
              </a:rPr>
              <a:t>What CIE is </a:t>
            </a:r>
            <a:r>
              <a:rPr lang="en-US" sz="2800" b="1" u="sng">
                <a:cs typeface="Calibri"/>
              </a:rPr>
              <a:t>not</a:t>
            </a:r>
            <a:r>
              <a:rPr lang="en-US" sz="2800" b="1">
                <a:cs typeface="Calibri"/>
              </a:rPr>
              <a:t>:</a:t>
            </a:r>
            <a:endParaRPr lang="en-US" sz="2800"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Calibri"/>
              </a:rPr>
              <a:t>Facility or center-based work operated by a disability service provider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Calibri"/>
              </a:rPr>
              <a:t>Working as a subcontractor on the payroll of the disability service provider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Calibri"/>
              </a:rPr>
              <a:t>Working in group employment models such as enclaves or crews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Calibri"/>
              </a:rPr>
              <a:t>Earning piece rated or hourly wages below minimum wage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cs typeface="Calibri"/>
              </a:rPr>
              <a:t>Earning  minimum wage but not meeting other CIE standards (e.g., service provider is employer)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sz="1200">
              <a:cs typeface="Calibri"/>
            </a:endParaRPr>
          </a:p>
          <a:p>
            <a:r>
              <a:rPr lang="en-US" sz="1400">
                <a:cs typeface="Calibri"/>
              </a:rPr>
              <a:t>                                                                             (Source: US Dept of Labor, Office of Disability Employment Policy, Workforce Innovation and Opportunity Act)</a:t>
            </a:r>
            <a:endParaRPr lang="en-US" sz="1400">
              <a:ea typeface="+mn-lt"/>
              <a:cs typeface="+mn-lt"/>
            </a:endParaRPr>
          </a:p>
          <a:p>
            <a:endParaRPr lang="en-US" sz="12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913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8E703B-E0AE-EA1C-62CD-1B04419CFCE7}"/>
              </a:ext>
            </a:extLst>
          </p:cNvPr>
          <p:cNvSpPr/>
          <p:nvPr/>
        </p:nvSpPr>
        <p:spPr>
          <a:xfrm>
            <a:off x="-51759" y="0"/>
            <a:ext cx="12192000" cy="6858000"/>
          </a:xfrm>
          <a:prstGeom prst="rect">
            <a:avLst/>
          </a:prstGeom>
          <a:solidFill>
            <a:schemeClr val="bg1"/>
          </a:solidFill>
          <a:ln w="174625">
            <a:solidFill>
              <a:srgbClr val="8D19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Open Sans"/>
                <a:ea typeface="Open Sans"/>
                <a:cs typeface="Open Sans"/>
              </a:rPr>
              <a:t>Taylor, J., Avellone, L., Brooke, V., Wehman, P., Inge, K., Schall, C., &amp; Iwanaga, K. (2022). The impact of competitive integrated employment on economic, psychological, and physical health outcomes for individuals with intellectual and developmental disabilities. Journal of Applied Research in Intellectual Disabilities, 35(2), 448–459. https://doi.org/10.1111/jar.12974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6B0315-960B-E6C2-8FFB-DEBB990DECD2}"/>
              </a:ext>
            </a:extLst>
          </p:cNvPr>
          <p:cNvSpPr txBox="1">
            <a:spLocks/>
          </p:cNvSpPr>
          <p:nvPr/>
        </p:nvSpPr>
        <p:spPr>
          <a:xfrm>
            <a:off x="740614" y="223732"/>
            <a:ext cx="9574875" cy="498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+mn-lt"/>
              </a:rPr>
              <a:t>Why CIE?</a:t>
            </a:r>
            <a:endParaRPr lang="en-US">
              <a:cs typeface="Calibri Light" panose="020F0302020204030204"/>
            </a:endParaRPr>
          </a:p>
        </p:txBody>
      </p:sp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E0E1A07E-5B31-CE6F-E051-108DE1151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15" y="6037597"/>
            <a:ext cx="1327547" cy="6574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A5E20C-229C-CB4B-8AEC-00DA430C4CE1}"/>
              </a:ext>
            </a:extLst>
          </p:cNvPr>
          <p:cNvSpPr txBox="1"/>
          <p:nvPr/>
        </p:nvSpPr>
        <p:spPr>
          <a:xfrm>
            <a:off x="772102" y="946727"/>
            <a:ext cx="6352114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Segoe UI"/>
              </a:rPr>
              <a:t>Competitive integrated employment is not only about earning equitable wages &amp; benefits, but the </a:t>
            </a:r>
            <a:r>
              <a:rPr lang="en-US" sz="3000" u="sng">
                <a:solidFill>
                  <a:srgbClr val="FF0000"/>
                </a:solidFill>
                <a:latin typeface="Calibri"/>
                <a:ea typeface="Calibri"/>
                <a:cs typeface="Segoe UI"/>
              </a:rPr>
              <a:t>gateway to a good life:</a:t>
            </a: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Segoe UI"/>
              </a:rPr>
              <a:t>                                                                                                         </a:t>
            </a:r>
          </a:p>
          <a:p>
            <a:r>
              <a:rPr lang="en-US" sz="3000">
                <a:solidFill>
                  <a:srgbClr val="FF0000"/>
                </a:solidFill>
                <a:latin typeface="Calibri"/>
                <a:ea typeface="Calibri"/>
                <a:cs typeface="Segoe UI"/>
              </a:rPr>
              <a:t>*</a:t>
            </a: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Segoe UI"/>
              </a:rPr>
              <a:t> increased social inclusion/belonging</a:t>
            </a:r>
          </a:p>
          <a:p>
            <a:r>
              <a:rPr lang="en-US" sz="3000">
                <a:solidFill>
                  <a:srgbClr val="FF0000"/>
                </a:solidFill>
                <a:latin typeface="Calibri"/>
                <a:ea typeface="Calibri"/>
                <a:cs typeface="Segoe UI"/>
              </a:rPr>
              <a:t>*</a:t>
            </a: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Segoe UI"/>
              </a:rPr>
              <a:t> meaningful community engagements </a:t>
            </a:r>
            <a:r>
              <a:rPr lang="en-US" sz="3000">
                <a:solidFill>
                  <a:srgbClr val="FF0000"/>
                </a:solidFill>
                <a:latin typeface="Calibri"/>
                <a:ea typeface="Calibri"/>
                <a:cs typeface="Segoe UI"/>
              </a:rPr>
              <a:t>*</a:t>
            </a: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Segoe UI"/>
              </a:rPr>
              <a:t> personal achievement/contribution </a:t>
            </a:r>
          </a:p>
          <a:p>
            <a:r>
              <a:rPr lang="en-US" sz="3000">
                <a:solidFill>
                  <a:srgbClr val="FF0000"/>
                </a:solidFill>
                <a:latin typeface="Calibri"/>
                <a:ea typeface="Calibri"/>
                <a:cs typeface="Segoe UI"/>
              </a:rPr>
              <a:t>*</a:t>
            </a: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Segoe UI"/>
              </a:rPr>
              <a:t> self-determination</a:t>
            </a:r>
            <a:endParaRPr lang="ru-RU" sz="3000">
              <a:solidFill>
                <a:srgbClr val="262626"/>
              </a:solidFill>
              <a:latin typeface="Calibri"/>
              <a:ea typeface="Calibri"/>
              <a:cs typeface="Segoe UI"/>
            </a:endParaRPr>
          </a:p>
          <a:p>
            <a:endParaRPr lang="en-US" sz="2800" b="1"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687E3-518A-593E-C17B-ACFD108FB6E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63" r="6790"/>
          <a:stretch/>
        </p:blipFill>
        <p:spPr>
          <a:xfrm>
            <a:off x="6574457" y="79380"/>
            <a:ext cx="5503302" cy="669924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5995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B45BDC-C2AA-5591-AEE7-9D9771FCFB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74625">
            <a:solidFill>
              <a:srgbClr val="8D19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Open Sans"/>
                <a:ea typeface="Open Sans"/>
                <a:cs typeface="Open Sans"/>
              </a:rPr>
              <a:t>Taylor, J., Avellone, L., Brooke, V., Wehman, P., Inge, K., Schall, C., &amp; Iwanaga, K. (2022). The impact of competitive integrated employment on economic, psychological, and physical health outcomes for individuals with intellectual and developmental disabilities. Journal of Applied Research in Intellectual Disabilities, 35(2), 448–459. https://doi.org/10.1111/jar.12974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6095FF-C1B8-AB9C-9489-8F7D3188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565"/>
            <a:ext cx="9361795" cy="49847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+mn-lt"/>
              </a:rPr>
              <a:t>What does the research say about CIE??</a:t>
            </a:r>
          </a:p>
        </p:txBody>
      </p:sp>
      <p:pic>
        <p:nvPicPr>
          <p:cNvPr id="6" name="Picture 5" descr="Logo&#10;&#10;Description automatically generated with medium confidence">
            <a:extLst>
              <a:ext uri="{FF2B5EF4-FFF2-40B4-BE49-F238E27FC236}">
                <a16:creationId xmlns:a16="http://schemas.microsoft.com/office/drawing/2014/main" id="{37EEEEBA-36A0-476F-AFF7-4930A65BB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15" y="6037597"/>
            <a:ext cx="1327547" cy="6574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CB8E14-716E-3207-30F5-6E86517E89A8}"/>
              </a:ext>
            </a:extLst>
          </p:cNvPr>
          <p:cNvSpPr txBox="1"/>
          <p:nvPr/>
        </p:nvSpPr>
        <p:spPr>
          <a:xfrm>
            <a:off x="6258888" y="1087120"/>
            <a:ext cx="590296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latin typeface="Open Sans"/>
                <a:ea typeface="Open Sans"/>
                <a:cs typeface="Open Sans"/>
              </a:rPr>
              <a:t>Economic benefits: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3200">
                <a:latin typeface="Open Sans"/>
                <a:ea typeface="Open Sans"/>
                <a:cs typeface="Open Sans"/>
              </a:rPr>
              <a:t>Earn more money than peers working in facility-based centers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Open Sans"/>
                <a:ea typeface="Open Sans"/>
                <a:cs typeface="Open Sans"/>
              </a:rPr>
              <a:t>Work more hours per week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Open Sans"/>
                <a:ea typeface="Open Sans"/>
                <a:cs typeface="Open Sans"/>
              </a:rPr>
              <a:t>Increased access to employer benefits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1EDFF-11E6-C1D4-8976-C2B6B851EA59}"/>
              </a:ext>
            </a:extLst>
          </p:cNvPr>
          <p:cNvSpPr txBox="1"/>
          <p:nvPr/>
        </p:nvSpPr>
        <p:spPr>
          <a:xfrm>
            <a:off x="1788160" y="5689600"/>
            <a:ext cx="101092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latin typeface="Open Sans"/>
                <a:ea typeface="Open Sans"/>
                <a:cs typeface="Open Sans"/>
              </a:rPr>
              <a:t>Taylor, J., Avellone, L., Brooke, V., Wehman, P., Inge, K., Schall, C., &amp; Iwanaga, K. (2022). The impact of competitive integrated employment on economic, psychological, and physical health outcomes for individuals with intellectual and developmental disabilities. Journal of Applied Research in Intellectual Disabilities, 35(2), 448–459. https://doi.org/10.1111/jar.12974</a:t>
            </a:r>
            <a:endParaRPr lang="en-US"/>
          </a:p>
        </p:txBody>
      </p:sp>
      <p:pic>
        <p:nvPicPr>
          <p:cNvPr id="9" name="Picture 6" descr="A person holding a stack of money.&#10;&#10;">
            <a:extLst>
              <a:ext uri="{FF2B5EF4-FFF2-40B4-BE49-F238E27FC236}">
                <a16:creationId xmlns:a16="http://schemas.microsoft.com/office/drawing/2014/main" id="{0698233A-095C-7707-754E-37F04AA02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49" y="1482570"/>
            <a:ext cx="5311877" cy="35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98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D04A883-EC39-5EDA-9860-7CAFABF8CB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74625">
            <a:solidFill>
              <a:srgbClr val="8D19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Open Sans"/>
                <a:ea typeface="Open Sans"/>
                <a:cs typeface="Open Sans"/>
              </a:rPr>
              <a:t>Taylor, J., Avellone, L., Brooke, V., Wehman, P., Inge, K., Schall, C., &amp; Iwanaga, K. (2022). The impact of competitive integrated employment on economic, psychological, and physical health outcomes for individuals with intellectual and developmental disabilities. Journal of Applied Research in Intellectual Disabilities, 35(2), 448–459. https://doi.org/10.1111/jar.12974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C498B-95E3-3EC6-4475-B09AF9DE033F}"/>
              </a:ext>
            </a:extLst>
          </p:cNvPr>
          <p:cNvSpPr txBox="1">
            <a:spLocks/>
          </p:cNvSpPr>
          <p:nvPr/>
        </p:nvSpPr>
        <p:spPr>
          <a:xfrm>
            <a:off x="838200" y="202565"/>
            <a:ext cx="9139947" cy="498475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+mn-lt"/>
              </a:rPr>
              <a:t>What does the research say about CIE??</a:t>
            </a:r>
          </a:p>
        </p:txBody>
      </p:sp>
      <p:pic>
        <p:nvPicPr>
          <p:cNvPr id="3" name="Picture 2" descr="Logo&#10;&#10;Description automatically generated with medium confidence">
            <a:extLst>
              <a:ext uri="{FF2B5EF4-FFF2-40B4-BE49-F238E27FC236}">
                <a16:creationId xmlns:a16="http://schemas.microsoft.com/office/drawing/2014/main" id="{8512C265-6655-E44D-A10A-DFCD94FC6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15" y="6037597"/>
            <a:ext cx="1327547" cy="6574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28B1BB-571D-9B0E-9DC7-1E5102204A79}"/>
              </a:ext>
            </a:extLst>
          </p:cNvPr>
          <p:cNvSpPr txBox="1"/>
          <p:nvPr/>
        </p:nvSpPr>
        <p:spPr>
          <a:xfrm>
            <a:off x="5618808" y="934720"/>
            <a:ext cx="6593840" cy="44165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300" dirty="0">
                <a:ea typeface="+mn-lt"/>
                <a:cs typeface="+mn-lt"/>
              </a:rPr>
              <a:t>Psychological benefits: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3300" dirty="0">
                <a:ea typeface="+mn-lt"/>
                <a:cs typeface="+mn-lt"/>
              </a:rPr>
              <a:t>Increase in community integration and social belonging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3300" dirty="0">
                <a:ea typeface="+mn-lt"/>
                <a:cs typeface="+mn-lt"/>
              </a:rPr>
              <a:t>Increase in personal independence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3300" dirty="0">
                <a:ea typeface="+mn-lt"/>
                <a:cs typeface="+mn-lt"/>
              </a:rPr>
              <a:t>Increased autonomy and self-determination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3300" dirty="0">
                <a:ea typeface="+mn-lt"/>
                <a:cs typeface="+mn-lt"/>
              </a:rPr>
              <a:t>Reduced daily living support needs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Char char="•"/>
            </a:pPr>
            <a:endParaRPr lang="en-US" sz="3200">
              <a:latin typeface="Open Sans"/>
              <a:ea typeface="Open Sans"/>
              <a:cs typeface="Open Sans"/>
            </a:endParaRP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2062D-3FC0-1F13-759B-485063C27AE1}"/>
              </a:ext>
            </a:extLst>
          </p:cNvPr>
          <p:cNvSpPr txBox="1"/>
          <p:nvPr/>
        </p:nvSpPr>
        <p:spPr>
          <a:xfrm>
            <a:off x="1788160" y="5689600"/>
            <a:ext cx="101092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latin typeface="Open Sans"/>
                <a:ea typeface="Open Sans"/>
                <a:cs typeface="Open Sans"/>
              </a:rPr>
              <a:t>Taylor, J., Avellone, L., Brooke, V., Wehman, P., Inge, K., Schall, C., &amp; Iwanaga, K. (2022). The impact of competitive integrated employment on economic, psychological, and physical health outcomes for individuals with intellectual and developmental disabilities. Journal of Applied Research in Intellectual Disabilities, 35(2), 448–459. https://doi.org/10.1111/jar.12974</a:t>
            </a:r>
            <a:endParaRPr lang="en-US"/>
          </a:p>
        </p:txBody>
      </p:sp>
      <p:pic>
        <p:nvPicPr>
          <p:cNvPr id="6" name="Picture 6" descr="An aerial view of a neighborhood&#10;&#10;">
            <a:extLst>
              <a:ext uri="{FF2B5EF4-FFF2-40B4-BE49-F238E27FC236}">
                <a16:creationId xmlns:a16="http://schemas.microsoft.com/office/drawing/2014/main" id="{C6144CC7-3446-7E4E-124F-04774535E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20" y="1544022"/>
            <a:ext cx="5066070" cy="336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098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A8F3A2E7F68747928B4D6B67EB9807" ma:contentTypeVersion="13" ma:contentTypeDescription="Create a new document." ma:contentTypeScope="" ma:versionID="10a5dffa45752b17ae437612325af80e">
  <xsd:schema xmlns:xsd="http://www.w3.org/2001/XMLSchema" xmlns:xs="http://www.w3.org/2001/XMLSchema" xmlns:p="http://schemas.microsoft.com/office/2006/metadata/properties" xmlns:ns2="218189da-cc44-4b6c-9f63-83ae0464560d" xmlns:ns3="a8225de8-9dbb-40fa-b368-c7b6e2bd6ccd" targetNamespace="http://schemas.microsoft.com/office/2006/metadata/properties" ma:root="true" ma:fieldsID="bb512c75d93d86428f8a264c4cb93283" ns2:_="" ns3:_="">
    <xsd:import namespace="218189da-cc44-4b6c-9f63-83ae0464560d"/>
    <xsd:import namespace="a8225de8-9dbb-40fa-b368-c7b6e2bd6c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8189da-cc44-4b6c-9f63-83ae046456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bb1ab42-7277-4699-bffd-c4f8fd762e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25de8-9dbb-40fa-b368-c7b6e2bd6cc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4a6c88-11e5-44cd-9900-9bfaf37410b7}" ma:internalName="TaxCatchAll" ma:showField="CatchAllData" ma:web="a8225de8-9dbb-40fa-b368-c7b6e2bd6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18189da-cc44-4b6c-9f63-83ae0464560d">
      <Terms xmlns="http://schemas.microsoft.com/office/infopath/2007/PartnerControls"/>
    </lcf76f155ced4ddcb4097134ff3c332f>
    <TaxCatchAll xmlns="a8225de8-9dbb-40fa-b368-c7b6e2bd6ccd" xsi:nil="true"/>
  </documentManagement>
</p:properties>
</file>

<file path=customXml/itemProps1.xml><?xml version="1.0" encoding="utf-8"?>
<ds:datastoreItem xmlns:ds="http://schemas.openxmlformats.org/officeDocument/2006/customXml" ds:itemID="{508FF44D-847F-4BC5-885F-A0F275CE3604}"/>
</file>

<file path=customXml/itemProps2.xml><?xml version="1.0" encoding="utf-8"?>
<ds:datastoreItem xmlns:ds="http://schemas.openxmlformats.org/officeDocument/2006/customXml" ds:itemID="{3906D29B-075E-4C48-881A-3702040E20F8}"/>
</file>

<file path=customXml/itemProps3.xml><?xml version="1.0" encoding="utf-8"?>
<ds:datastoreItem xmlns:ds="http://schemas.openxmlformats.org/officeDocument/2006/customXml" ds:itemID="{C2A3CDD9-77F6-489E-89E4-0E2D5C5F8C03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747</Words>
  <Application>Microsoft Office PowerPoint</Application>
  <PresentationFormat>Widescreen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Arial,Sans-Serif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What does the research say about CIE??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Amy C Gessert</dc:creator>
  <cp:lastModifiedBy>Amy C Gessert</cp:lastModifiedBy>
  <cp:revision>1</cp:revision>
  <dcterms:created xsi:type="dcterms:W3CDTF">2023-05-26T15:05:57Z</dcterms:created>
  <dcterms:modified xsi:type="dcterms:W3CDTF">2023-05-26T15:10:44Z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0x010100B1A8F3A2E7F68747928B4D6B67EB9807</vt:lpwstr>
  </property>
</Properties>
</file>