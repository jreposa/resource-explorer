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rels" ContentType="application/vnd.openxmlformats-package.relationships+xml"/>
  <Default Extension="gif" ContentType="image/gif"/>
  <Default Extension="wdp" ContentType="image/vnd.ms-photo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09" r:id="rId1"/>
  </p:sldMasterIdLst>
  <p:notesMasterIdLst>
    <p:notesMasterId r:id="rId36"/>
  </p:notesMasterIdLst>
  <p:handoutMasterIdLst>
    <p:handoutMasterId r:id="rId37"/>
  </p:handoutMasterIdLst>
  <p:sldIdLst>
    <p:sldId id="295" r:id="rId2"/>
    <p:sldId id="425" r:id="rId3"/>
    <p:sldId id="465" r:id="rId4"/>
    <p:sldId id="466" r:id="rId5"/>
    <p:sldId id="467" r:id="rId6"/>
    <p:sldId id="468" r:id="rId7"/>
    <p:sldId id="469" r:id="rId8"/>
    <p:sldId id="470" r:id="rId9"/>
    <p:sldId id="471" r:id="rId10"/>
    <p:sldId id="472" r:id="rId11"/>
    <p:sldId id="473" r:id="rId12"/>
    <p:sldId id="474" r:id="rId13"/>
    <p:sldId id="430" r:id="rId14"/>
    <p:sldId id="462" r:id="rId15"/>
    <p:sldId id="432" r:id="rId16"/>
    <p:sldId id="461" r:id="rId17"/>
    <p:sldId id="429" r:id="rId18"/>
    <p:sldId id="435" r:id="rId19"/>
    <p:sldId id="434" r:id="rId20"/>
    <p:sldId id="439" r:id="rId21"/>
    <p:sldId id="445" r:id="rId22"/>
    <p:sldId id="436" r:id="rId23"/>
    <p:sldId id="446" r:id="rId24"/>
    <p:sldId id="443" r:id="rId25"/>
    <p:sldId id="447" r:id="rId26"/>
    <p:sldId id="458" r:id="rId27"/>
    <p:sldId id="459" r:id="rId28"/>
    <p:sldId id="460" r:id="rId29"/>
    <p:sldId id="464" r:id="rId30"/>
    <p:sldId id="463" r:id="rId31"/>
    <p:sldId id="475" r:id="rId32"/>
    <p:sldId id="476" r:id="rId33"/>
    <p:sldId id="477" r:id="rId34"/>
    <p:sldId id="427" r:id="rId35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Geneva" pitchFamily="1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Geneva" pitchFamily="1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Geneva" pitchFamily="1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Geneva" pitchFamily="1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Geneva" pitchFamily="1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Geneva" pitchFamily="1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Geneva" pitchFamily="1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Geneva" pitchFamily="1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Geneva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ya Weber" initials="AW" lastIdx="3" clrIdx="0"/>
  <p:cmAuthor id="1" name="Allison B Taylor" initials="ABT" lastIdx="1" clrIdx="1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FFFF99"/>
    <a:srgbClr val="006699"/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5938" autoAdjust="0"/>
    <p:restoredTop sz="85472" autoAdjust="0"/>
  </p:normalViewPr>
  <p:slideViewPr>
    <p:cSldViewPr>
      <p:cViewPr varScale="1">
        <p:scale>
          <a:sx n="69" d="100"/>
          <a:sy n="69" d="100"/>
        </p:scale>
        <p:origin x="192" y="3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3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36" d="100"/>
          <a:sy n="136" d="100"/>
        </p:scale>
        <p:origin x="-3512" y="-120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handoutMaster" Target="handoutMasters/handoutMaster1.xml"/><Relationship Id="rId38" Type="http://schemas.openxmlformats.org/officeDocument/2006/relationships/commentAuthors" Target="commentAuthors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1" Type="http://schemas.openxmlformats.org/officeDocument/2006/relationships/theme" Target="../theme/theme3.xml"/><Relationship Id="rId2" Type="http://schemas.openxmlformats.org/officeDocument/2006/relationships/image" Target="../media/image5.png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3271520" y="8731515"/>
            <a:ext cx="2959947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177" tIns="46589" rIns="93177" bIns="46589"/>
          <a:lstStyle/>
          <a:p>
            <a:pPr algn="ctr"/>
            <a:endParaRPr lang="en-US" sz="1400" dirty="0"/>
          </a:p>
        </p:txBody>
      </p:sp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4907280" y="154940"/>
            <a:ext cx="1947333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3177" tIns="46589" rIns="93177" bIns="46589"/>
          <a:lstStyle/>
          <a:p>
            <a:pPr algn="r"/>
            <a:fld id="{AFAC51CC-1C92-4CF5-9FA8-73145F4310A4}" type="slidenum">
              <a:rPr lang="en-US" sz="1400"/>
              <a:pPr algn="r"/>
              <a:t>‹#›</a:t>
            </a:fld>
            <a:endParaRPr lang="en-US" sz="1400" dirty="0"/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155787" y="8444230"/>
            <a:ext cx="6543040" cy="697230"/>
          </a:xfrm>
          <a:prstGeom prst="rect">
            <a:avLst/>
          </a:prstGeom>
          <a:solidFill>
            <a:srgbClr val="006699"/>
          </a:solidFill>
          <a:ln w="9525">
            <a:noFill/>
            <a:miter lim="800000"/>
            <a:headEnd/>
            <a:tailEnd/>
          </a:ln>
        </p:spPr>
        <p:txBody>
          <a:bodyPr wrap="none" lIns="93177" tIns="46589" rIns="93177" bIns="46589" anchor="ctr"/>
          <a:lstStyle/>
          <a:p>
            <a:endParaRPr lang="en-US" dirty="0"/>
          </a:p>
        </p:txBody>
      </p:sp>
      <p:sp>
        <p:nvSpPr>
          <p:cNvPr id="7177" name="Rectangle 9"/>
          <p:cNvSpPr>
            <a:spLocks noChangeArrowheads="1"/>
          </p:cNvSpPr>
          <p:nvPr/>
        </p:nvSpPr>
        <p:spPr bwMode="auto">
          <a:xfrm>
            <a:off x="155787" y="8444230"/>
            <a:ext cx="6543040" cy="130731"/>
          </a:xfrm>
          <a:prstGeom prst="rect">
            <a:avLst/>
          </a:prstGeom>
          <a:solidFill>
            <a:srgbClr val="0099CC"/>
          </a:solidFill>
          <a:ln w="9525">
            <a:noFill/>
            <a:miter lim="800000"/>
            <a:headEnd/>
            <a:tailEnd/>
          </a:ln>
        </p:spPr>
        <p:txBody>
          <a:bodyPr wrap="none" lIns="93177" tIns="46589" rIns="93177" bIns="46589" anchor="ctr"/>
          <a:lstStyle/>
          <a:p>
            <a:endParaRPr lang="en-US" dirty="0"/>
          </a:p>
        </p:txBody>
      </p:sp>
      <p:pic>
        <p:nvPicPr>
          <p:cNvPr id="7179" name="Picture 11" descr="iciPPT_BI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680" y="8599170"/>
            <a:ext cx="3115733" cy="497099"/>
          </a:xfrm>
          <a:prstGeom prst="rect">
            <a:avLst/>
          </a:prstGeom>
          <a:noFill/>
        </p:spPr>
      </p:pic>
      <p:grpSp>
        <p:nvGrpSpPr>
          <p:cNvPr id="7182" name="Group 14"/>
          <p:cNvGrpSpPr>
            <a:grpSpLocks/>
          </p:cNvGrpSpPr>
          <p:nvPr/>
        </p:nvGrpSpPr>
        <p:grpSpPr bwMode="auto">
          <a:xfrm>
            <a:off x="5764107" y="8628221"/>
            <a:ext cx="778933" cy="445453"/>
            <a:chOff x="5103" y="5266"/>
            <a:chExt cx="586" cy="336"/>
          </a:xfrm>
        </p:grpSpPr>
        <p:pic>
          <p:nvPicPr>
            <p:cNvPr id="7178" name="Picture 10" descr="umb_white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103" y="5266"/>
              <a:ext cx="273" cy="328"/>
            </a:xfrm>
            <a:prstGeom prst="rect">
              <a:avLst/>
            </a:prstGeom>
            <a:noFill/>
          </p:spPr>
        </p:pic>
        <p:pic>
          <p:nvPicPr>
            <p:cNvPr id="7180" name="Picture 12" descr="CHB_reverse_BI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424" y="5266"/>
              <a:ext cx="265" cy="336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211670326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720" y="4415790"/>
            <a:ext cx="514096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25BE78A-691F-4EF8-BADD-1B00646B090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02142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Geneva" pitchFamily="1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Geneva" pitchFamily="1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Geneva" pitchFamily="1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Geneva" pitchFamily="1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Geneva" pitchFamily="1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23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So hopefully audience members can apply knowledge gained in your next grant application or in current research efforts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587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How we pitched it</a:t>
            </a:r>
          </a:p>
          <a:p>
            <a:r>
              <a:rPr lang="en-US" dirty="0" smtClean="0"/>
              <a:t>How we carried out the research agenda</a:t>
            </a:r>
          </a:p>
          <a:p>
            <a:r>
              <a:rPr lang="en-US" dirty="0" smtClean="0"/>
              <a:t>What we learned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589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3 studies in partnership w/ SVRAs; 3 “traditional” approaches</a:t>
            </a:r>
            <a:r>
              <a:rPr lang="en-US" baseline="0" dirty="0" smtClean="0"/>
              <a:t>: survey, case study, secondary data analysis</a:t>
            </a:r>
          </a:p>
          <a:p>
            <a:endParaRPr lang="en-US" baseline="0" dirty="0" smtClean="0"/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Overview of the model</a:t>
            </a:r>
          </a:p>
          <a:p>
            <a:endParaRPr lang="en-US" dirty="0" smtClean="0"/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Supporting evidence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58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Project goal: take a model for employment services that emerged in Vermont, replicate and evaluate that model in four other states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7536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The reasons why this research project was such a success: Partnership with VR agency as co-researchers:</a:t>
            </a:r>
            <a:r>
              <a:rPr lang="en-US" baseline="0" dirty="0" smtClean="0"/>
              <a:t> the model emerged in a VR agency – as opposed to a laboratory; this enabled us to get buy-in from other states to join the research study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716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1427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overarching goal of the SGA Project was to improve employment and earning outcomes for SSDI-only </a:t>
            </a:r>
            <a:r>
              <a:rPr lang="en-US" dirty="0" smtClean="0"/>
              <a:t>clients. </a:t>
            </a:r>
            <a:r>
              <a:rPr lang="en-US" dirty="0"/>
              <a:t>Through our evaluation we also wanted to gather information on strategies that can be used to help other state agencies implement SGA innovations in the future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EC10AC-6804-4420-81E7-A8E1421417D7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136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800" dirty="0" smtClean="0"/>
              <a:t>Recruited two VR agencies, in Kentucky and Minnesota, to implement the model</a:t>
            </a:r>
          </a:p>
          <a:p>
            <a:r>
              <a:rPr lang="en-US" sz="2800" dirty="0" smtClean="0"/>
              <a:t>Contracted with Mathematica Policy Research to conduct evaluation</a:t>
            </a:r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EC10AC-6804-4420-81E7-A8E1421417D7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0679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EC10AC-6804-4420-81E7-A8E1421417D7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1002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1" defTabSz="46588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>
              <a:latin typeface="+mn-lt"/>
              <a:ea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2DD960-0BF2-614A-B17E-8343E4E46E80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7909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1596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Every SSDI-only</a:t>
            </a:r>
            <a:r>
              <a:rPr lang="en-US" baseline="0" dirty="0" smtClean="0"/>
              <a:t> customer was part of the study – about 1000 in each state - 500 at Treatment sites (Enhanced), 500 at Control (Usual)</a:t>
            </a:r>
          </a:p>
        </p:txBody>
      </p:sp>
    </p:spTree>
    <p:extLst>
      <p:ext uri="{BB962C8B-B14F-4D97-AF65-F5344CB8AC3E}">
        <p14:creationId xmlns:p14="http://schemas.microsoft.com/office/powerpoint/2010/main" val="36299499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Follow-along study, not an evaluation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044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6500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106501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1065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+mn-ea"/>
              </a:defRPr>
            </a:lvl1pPr>
          </a:lstStyle>
          <a:p>
            <a:fld id="{EF2E67E0-B563-4716-9379-6E0AF3DA6A30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106503" name="Rectangle 7"/>
          <p:cNvSpPr>
            <a:spLocks noChangeArrowheads="1"/>
          </p:cNvSpPr>
          <p:nvPr userDrawn="1"/>
        </p:nvSpPr>
        <p:spPr bwMode="auto">
          <a:xfrm>
            <a:off x="0" y="5867400"/>
            <a:ext cx="9144000" cy="990600"/>
          </a:xfrm>
          <a:prstGeom prst="rect">
            <a:avLst/>
          </a:prstGeom>
          <a:solidFill>
            <a:srgbClr val="0066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6504" name="Rectangle 8"/>
          <p:cNvSpPr>
            <a:spLocks noChangeArrowheads="1"/>
          </p:cNvSpPr>
          <p:nvPr userDrawn="1"/>
        </p:nvSpPr>
        <p:spPr bwMode="auto">
          <a:xfrm>
            <a:off x="0" y="5867400"/>
            <a:ext cx="9144000" cy="152400"/>
          </a:xfrm>
          <a:prstGeom prst="rect">
            <a:avLst/>
          </a:prstGeom>
          <a:solidFill>
            <a:srgbClr val="0099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6505" name="Rectangle 9"/>
          <p:cNvSpPr>
            <a:spLocks noChangeArrowheads="1"/>
          </p:cNvSpPr>
          <p:nvPr userDrawn="1"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66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106506" name="Picture 10" descr="umb_white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24813" y="6172200"/>
            <a:ext cx="433387" cy="520700"/>
          </a:xfrm>
          <a:prstGeom prst="rect">
            <a:avLst/>
          </a:prstGeom>
          <a:noFill/>
        </p:spPr>
      </p:pic>
      <p:pic>
        <p:nvPicPr>
          <p:cNvPr id="106507" name="Picture 11" descr="iciPPT_BI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" y="6042025"/>
            <a:ext cx="4800600" cy="769938"/>
          </a:xfrm>
          <a:prstGeom prst="rect">
            <a:avLst/>
          </a:prstGeom>
          <a:noFill/>
        </p:spPr>
      </p:pic>
      <p:pic>
        <p:nvPicPr>
          <p:cNvPr id="106508" name="Picture 12" descr="CHB_reverse_BI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34400" y="6172200"/>
            <a:ext cx="420688" cy="533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019800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172200" y="6096000"/>
            <a:ext cx="2895600" cy="4572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424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381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png"/><Relationship Id="rId17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54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+mn-ea"/>
              </a:defRPr>
            </a:lvl1pPr>
          </a:lstStyle>
          <a:p>
            <a:endParaRPr lang="en-US" dirty="0"/>
          </a:p>
        </p:txBody>
      </p:sp>
      <p:sp>
        <p:nvSpPr>
          <p:cNvPr id="1054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+mn-ea"/>
              </a:defRPr>
            </a:lvl1pPr>
          </a:lstStyle>
          <a:p>
            <a:endParaRPr lang="en-US" dirty="0"/>
          </a:p>
        </p:txBody>
      </p:sp>
      <p:pic>
        <p:nvPicPr>
          <p:cNvPr id="105479" name="Picture 7" descr="ici3015_for_PPT2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76200" y="6172200"/>
            <a:ext cx="3621088" cy="392113"/>
          </a:xfrm>
          <a:prstGeom prst="rect">
            <a:avLst/>
          </a:prstGeom>
          <a:noFill/>
        </p:spPr>
      </p:pic>
      <p:pic>
        <p:nvPicPr>
          <p:cNvPr id="105480" name="Picture 8" descr="umb_white"/>
          <p:cNvPicPr>
            <a:picLocks noChangeAspect="1" noChangeArrowheads="1"/>
          </p:cNvPicPr>
          <p:nvPr userDrawn="1"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8024813" y="6172200"/>
            <a:ext cx="433387" cy="520700"/>
          </a:xfrm>
          <a:prstGeom prst="rect">
            <a:avLst/>
          </a:prstGeom>
          <a:noFill/>
        </p:spPr>
      </p:pic>
      <p:pic>
        <p:nvPicPr>
          <p:cNvPr id="105481" name="Picture 9" descr="CHB_reverse_BIG"/>
          <p:cNvPicPr>
            <a:picLocks noChangeAspect="1" noChangeArrowheads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534400" y="6172200"/>
            <a:ext cx="420688" cy="533400"/>
          </a:xfrm>
          <a:prstGeom prst="rect">
            <a:avLst/>
          </a:prstGeom>
          <a:noFill/>
        </p:spPr>
      </p:pic>
      <p:sp>
        <p:nvSpPr>
          <p:cNvPr id="105482" name="Rectangle 10"/>
          <p:cNvSpPr>
            <a:spLocks noChangeArrowheads="1"/>
          </p:cNvSpPr>
          <p:nvPr userDrawn="1"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0066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5483" name="Rectangle 11"/>
          <p:cNvSpPr>
            <a:spLocks noChangeArrowheads="1"/>
          </p:cNvSpPr>
          <p:nvPr userDrawn="1"/>
        </p:nvSpPr>
        <p:spPr bwMode="auto">
          <a:xfrm>
            <a:off x="0" y="6629400"/>
            <a:ext cx="9144000" cy="228600"/>
          </a:xfrm>
          <a:prstGeom prst="rect">
            <a:avLst/>
          </a:prstGeom>
          <a:solidFill>
            <a:srgbClr val="0066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22" r:id="rId8"/>
    <p:sldLayoutId id="2147483721" r:id="rId9"/>
    <p:sldLayoutId id="2147483717" r:id="rId10"/>
    <p:sldLayoutId id="2147483718" r:id="rId11"/>
    <p:sldLayoutId id="2147483719" r:id="rId12"/>
    <p:sldLayoutId id="2147483720" r:id="rId13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pitchFamily="8" charset="-128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pitchFamily="8" charset="-128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pitchFamily="8" charset="-128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pitchFamily="8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pitchFamily="8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pitchFamily="8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pitchFamily="8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pitchFamily="8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jpeg"/><Relationship Id="rId5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angston.edu/capacitybuilding-rrtc" TargetMode="External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hyperlink" Target="mailto:clmoore@langston.edu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jpg"/><Relationship Id="rId7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eg"/><Relationship Id="rId3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3.gif"/><Relationship Id="rId5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mailto:Kelly.Haines@umb.edu" TargetMode="External"/><Relationship Id="rId4" Type="http://schemas.openxmlformats.org/officeDocument/2006/relationships/hyperlink" Target="mailto:Allison.Taylor@umb.edu" TargetMode="External"/><Relationship Id="rId5" Type="http://schemas.openxmlformats.org/officeDocument/2006/relationships/hyperlink" Target="mailto:Ngai.Kwan@umb.edu" TargetMode="External"/><Relationship Id="rId6" Type="http://schemas.openxmlformats.org/officeDocument/2006/relationships/image" Target="../media/image29.png"/><Relationship Id="rId7" Type="http://schemas.microsoft.com/office/2007/relationships/hdphoto" Target="../media/hdphoto1.wdp"/><Relationship Id="rId8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ExploreVR.org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Relationship Id="rId3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angston.edu/capacitybuilding-rrtc" TargetMode="External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hyperlink" Target="mailto:clmoore@langston.edu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surveygizmo.com/s3/4515526/Post-WebinarSeptember-12-2018-Survey" TargetMode="Externa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2708920"/>
            <a:ext cx="7772400" cy="1143000"/>
          </a:xfrm>
        </p:spPr>
        <p:txBody>
          <a:bodyPr/>
          <a:lstStyle/>
          <a:p>
            <a:r>
              <a:rPr lang="en-US" sz="3200" b="1" dirty="0" smtClean="0"/>
              <a:t>Conducting Applied Research in the Field of Vocational Rehabilitation: </a:t>
            </a:r>
            <a:r>
              <a:rPr lang="en-US" sz="3200" dirty="0"/>
              <a:t>Strategies and Challenges in Studying Emerging Models</a:t>
            </a:r>
            <a:br>
              <a:rPr lang="en-US" sz="3200" dirty="0"/>
            </a:br>
            <a:endParaRPr lang="en-US" sz="32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3648" y="4077072"/>
            <a:ext cx="6400800" cy="1752600"/>
          </a:xfrm>
        </p:spPr>
        <p:txBody>
          <a:bodyPr/>
          <a:lstStyle/>
          <a:p>
            <a:endParaRPr lang="en-US" sz="1600" b="1" dirty="0" smtClean="0"/>
          </a:p>
          <a:p>
            <a:r>
              <a:rPr lang="en-US" sz="2000" dirty="0" smtClean="0"/>
              <a:t>September 12, 2018 1:00pm </a:t>
            </a:r>
          </a:p>
          <a:p>
            <a:r>
              <a:rPr lang="en-US" sz="2000" dirty="0" smtClean="0"/>
              <a:t>Presenters: </a:t>
            </a:r>
          </a:p>
          <a:p>
            <a:r>
              <a:rPr lang="en-US" sz="2400" dirty="0" smtClean="0"/>
              <a:t>Kelly Haines, Allison Taylor, &amp; </a:t>
            </a:r>
            <a:r>
              <a:rPr lang="en-US" sz="2400" dirty="0" err="1" smtClean="0"/>
              <a:t>Ngai</a:t>
            </a:r>
            <a:r>
              <a:rPr lang="en-US" sz="2400" dirty="0" smtClean="0"/>
              <a:t> Kwan</a:t>
            </a:r>
          </a:p>
          <a:p>
            <a:endParaRPr lang="en-US" sz="1600" dirty="0" smtClean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1800" y="304800"/>
            <a:ext cx="2224087" cy="1328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509" name="Picture 5" descr="UMB Informal-Blue-JB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304800"/>
            <a:ext cx="10477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24625" y="6105525"/>
            <a:ext cx="2619375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7772400" cy="4800600"/>
          </a:xfrm>
        </p:spPr>
        <p:txBody>
          <a:bodyPr/>
          <a:lstStyle/>
          <a:p>
            <a:r>
              <a:rPr lang="en-US" sz="1400" dirty="0" smtClean="0"/>
              <a:t>Collaborative effort between the Institute for Community Inclusion, University of Massachusetts, and the LU-RRTC.</a:t>
            </a:r>
          </a:p>
          <a:p>
            <a:pPr marL="0" indent="0">
              <a:buNone/>
            </a:pPr>
            <a:r>
              <a:rPr lang="en-US" sz="1400" dirty="0" smtClean="0"/>
              <a:t>  </a:t>
            </a:r>
          </a:p>
          <a:p>
            <a:r>
              <a:rPr lang="en-US" sz="1400" dirty="0" smtClean="0"/>
              <a:t>The RRTC is funded through the </a:t>
            </a:r>
            <a:r>
              <a:rPr lang="en-US" sz="1400" dirty="0"/>
              <a:t>National Institute on Disability Independent Living and Rehabilitation Research </a:t>
            </a:r>
            <a:r>
              <a:rPr lang="en-US" sz="1400" dirty="0" smtClean="0"/>
              <a:t>(NIDILRR)</a:t>
            </a:r>
          </a:p>
          <a:p>
            <a:pPr marL="0" indent="0">
              <a:buNone/>
            </a:pPr>
            <a:endParaRPr lang="en-US" sz="1400" dirty="0" smtClean="0"/>
          </a:p>
          <a:p>
            <a:r>
              <a:rPr lang="en-US" sz="1400" dirty="0" smtClean="0"/>
              <a:t>Mission: To improve Minority Entities’ disability and rehabilitation research capacity and infrastructure by conducting a programmatic line of research examining experiences and outcomes of persons from traditionally underserved racial and ethnic populations and communities and capacity-building efforts.</a:t>
            </a:r>
          </a:p>
          <a:p>
            <a:endParaRPr lang="en-US" sz="1400" dirty="0" smtClean="0"/>
          </a:p>
          <a:p>
            <a:r>
              <a:rPr lang="en-US" sz="1400" dirty="0" smtClean="0"/>
              <a:t>PI:  Dr. Corey L. Moore, CRC </a:t>
            </a:r>
            <a:br>
              <a:rPr lang="en-US" sz="1400" dirty="0" smtClean="0"/>
            </a:br>
            <a:r>
              <a:rPr lang="en-US" sz="1400" dirty="0" smtClean="0"/>
              <a:t>Delta Sigma Theta Sorority, Inc. </a:t>
            </a:r>
            <a:br>
              <a:rPr lang="en-US" sz="1400" dirty="0" smtClean="0"/>
            </a:br>
            <a:r>
              <a:rPr lang="en-US" sz="1400" dirty="0" smtClean="0"/>
              <a:t>Distinguished Professor Endowed Chair &amp; Principal Investigator/Research Director</a:t>
            </a:r>
            <a:br>
              <a:rPr lang="en-US" sz="1400" dirty="0" smtClean="0"/>
            </a:br>
            <a:r>
              <a:rPr lang="en-US" sz="1400" dirty="0" smtClean="0"/>
              <a:t>Rehabilitation Research and Training Center (RRTC) on Research and Capacity Building for Minority Entities</a:t>
            </a:r>
            <a:br>
              <a:rPr lang="en-US" sz="1400" dirty="0" smtClean="0"/>
            </a:b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dirty="0" smtClean="0"/>
              <a:t>Email: </a:t>
            </a:r>
            <a:r>
              <a:rPr lang="en-US" sz="1400" u="sng" dirty="0" smtClean="0">
                <a:hlinkClick r:id="rId2"/>
              </a:rPr>
              <a:t>clmoore@langston.edu</a:t>
            </a: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dirty="0" smtClean="0"/>
              <a:t>Website: </a:t>
            </a:r>
            <a:r>
              <a:rPr lang="en-US" sz="1400" u="sng" dirty="0" smtClean="0">
                <a:hlinkClick r:id="rId3"/>
              </a:rPr>
              <a:t>http://www.langston.edu/capacitybuilding-rrtc</a:t>
            </a:r>
            <a:endParaRPr lang="en-US" sz="14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15200" y="5562600"/>
            <a:ext cx="1538287" cy="919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itle 1"/>
          <p:cNvSpPr txBox="1">
            <a:spLocks/>
          </p:cNvSpPr>
          <p:nvPr/>
        </p:nvSpPr>
        <p:spPr bwMode="auto">
          <a:xfrm>
            <a:off x="533400" y="3810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Osaka" pitchFamily="8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Osaka" pitchFamily="8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Osaka" pitchFamily="8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Osaka" pitchFamily="8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Osaka" pitchFamily="8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Osaka" pitchFamily="8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Osaka" pitchFamily="8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Osaka" pitchFamily="8" charset="-128"/>
              </a:defRPr>
            </a:lvl9pPr>
          </a:lstStyle>
          <a:p>
            <a:r>
              <a:rPr lang="en-US" sz="1800" b="1" dirty="0" smtClean="0"/>
              <a:t>Langston University Rehabilitation Research and Training Center </a:t>
            </a:r>
            <a:br>
              <a:rPr lang="en-US" sz="1800" b="1" dirty="0" smtClean="0"/>
            </a:br>
            <a:r>
              <a:rPr lang="en-US" sz="1800" b="1" dirty="0" smtClean="0"/>
              <a:t>(LU-RRTC) and Research and Capacity Building for Minority Entities</a:t>
            </a:r>
            <a:endParaRPr lang="en-US" sz="1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 for today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Describe two federally-funded research studies that examine emerging models in employment services that aim to improve outcomes for individuals with disabilities</a:t>
            </a:r>
          </a:p>
          <a:p>
            <a:r>
              <a:rPr lang="en-US" sz="2400" dirty="0"/>
              <a:t>Outline implementation strategies that supported applied research in the field of vocational rehabilitation</a:t>
            </a:r>
          </a:p>
          <a:p>
            <a:r>
              <a:rPr lang="en-US" sz="2400" dirty="0"/>
              <a:t>Consider how quantitative approaches underpinned each effort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15200" y="5562600"/>
            <a:ext cx="1538287" cy="919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47791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Applied Research Example: Progressive Employment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NIDILRR-funded research study under RRTC on Demand-Side Strategies</a:t>
            </a:r>
          </a:p>
          <a:p>
            <a:r>
              <a:rPr lang="en-US" dirty="0" smtClean="0"/>
              <a:t>Project objectives:</a:t>
            </a:r>
          </a:p>
          <a:p>
            <a:pPr lvl="1"/>
            <a:r>
              <a:rPr lang="en-US" dirty="0" smtClean="0"/>
              <a:t>Define and extract the PE model</a:t>
            </a:r>
          </a:p>
          <a:p>
            <a:pPr lvl="1"/>
            <a:r>
              <a:rPr lang="en-US" dirty="0" smtClean="0"/>
              <a:t>Replicate it other states</a:t>
            </a:r>
          </a:p>
          <a:p>
            <a:pPr lvl="1"/>
            <a:r>
              <a:rPr lang="en-US" dirty="0" smtClean="0"/>
              <a:t>Evaluate the results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15200" y="5562600"/>
            <a:ext cx="1538287" cy="919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66212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Pitch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628800"/>
            <a:ext cx="8206680" cy="1368152"/>
          </a:xfrm>
        </p:spPr>
        <p:txBody>
          <a:bodyPr numCol="2">
            <a:normAutofit fontScale="70000" lnSpcReduction="20000"/>
          </a:bodyPr>
          <a:lstStyle/>
          <a:p>
            <a:r>
              <a:rPr lang="en-US" dirty="0" smtClean="0"/>
              <a:t>Making the case for studying an emerging model</a:t>
            </a:r>
          </a:p>
          <a:p>
            <a:r>
              <a:rPr lang="en-US" dirty="0" smtClean="0"/>
              <a:t>Fitting into the overall research agenda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pic>
        <p:nvPicPr>
          <p:cNvPr id="4" name="Picture 3" descr="Screen Shot 2018-08-31 at 4.04.43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3068960"/>
            <a:ext cx="5760640" cy="3216238"/>
          </a:xfrm>
          <a:prstGeom prst="rect">
            <a:avLst/>
          </a:prstGeom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24328" y="5562600"/>
            <a:ext cx="1512168" cy="962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86896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Partnership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8" y="1844824"/>
            <a:ext cx="7772400" cy="4114800"/>
          </a:xfrm>
        </p:spPr>
        <p:txBody>
          <a:bodyPr/>
          <a:lstStyle/>
          <a:p>
            <a:r>
              <a:rPr lang="en-US" dirty="0" smtClean="0"/>
              <a:t>State Vocational Rehabilitation Agency as a project partner</a:t>
            </a:r>
          </a:p>
          <a:p>
            <a:pPr lvl="1"/>
            <a:r>
              <a:rPr lang="en-US" dirty="0" smtClean="0"/>
              <a:t>Contractual relationship managed by ICI as primary grantee</a:t>
            </a:r>
          </a:p>
          <a:p>
            <a:pPr lvl="1"/>
            <a:r>
              <a:rPr lang="en-US" dirty="0" smtClean="0"/>
              <a:t>VR agency personnel listed as key project staff</a:t>
            </a:r>
            <a:endParaRPr lang="en-US" dirty="0"/>
          </a:p>
        </p:txBody>
      </p:sp>
      <p:pic>
        <p:nvPicPr>
          <p:cNvPr id="5" name="Picture 4" descr="Screen Shot 2018-08-31 at 4.12.3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4797152"/>
            <a:ext cx="67564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723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Proposed an impact and process evaluation</a:t>
            </a:r>
          </a:p>
          <a:p>
            <a:pPr lvl="1"/>
            <a:r>
              <a:rPr lang="en-US" dirty="0" smtClean="0"/>
              <a:t>5 year work-plan</a:t>
            </a:r>
          </a:p>
          <a:p>
            <a:pPr lvl="1"/>
            <a:r>
              <a:rPr lang="en-US" dirty="0" smtClean="0"/>
              <a:t>Qualitative and quantitative approach to measurement</a:t>
            </a:r>
          </a:p>
          <a:p>
            <a:pPr lvl="1"/>
            <a:r>
              <a:rPr lang="en-US" dirty="0" smtClean="0"/>
              <a:t>Embedded Training, TA, and Dissemination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200" y="5562600"/>
            <a:ext cx="1538287" cy="919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08798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creen Shot 2018-08-31 at 4.20.2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1556792"/>
            <a:ext cx="3559585" cy="48691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1. Define and extract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3670176" cy="4114800"/>
          </a:xfrm>
        </p:spPr>
        <p:txBody>
          <a:bodyPr/>
          <a:lstStyle/>
          <a:p>
            <a:r>
              <a:rPr lang="en-US" dirty="0" smtClean="0"/>
              <a:t>Emerging model</a:t>
            </a:r>
          </a:p>
          <a:p>
            <a:pPr lvl="1"/>
            <a:r>
              <a:rPr lang="en-US" dirty="0" smtClean="0"/>
              <a:t>Define </a:t>
            </a:r>
            <a:endParaRPr lang="en-US" dirty="0"/>
          </a:p>
          <a:p>
            <a:pPr lvl="1"/>
            <a:r>
              <a:rPr lang="en-US" dirty="0" smtClean="0"/>
              <a:t>Document</a:t>
            </a:r>
          </a:p>
          <a:p>
            <a:pPr lvl="1"/>
            <a:r>
              <a:rPr lang="en-US" dirty="0" smtClean="0"/>
              <a:t>Package</a:t>
            </a:r>
          </a:p>
          <a:p>
            <a:endParaRPr lang="en-US" dirty="0" smtClean="0"/>
          </a:p>
        </p:txBody>
      </p:sp>
      <p:pic>
        <p:nvPicPr>
          <p:cNvPr id="4" name="Picture 3" descr="Screen Shot 2018-08-24 at 3.05.31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1988840"/>
            <a:ext cx="1440160" cy="117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145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548680"/>
            <a:ext cx="7772400" cy="1143000"/>
          </a:xfrm>
        </p:spPr>
        <p:txBody>
          <a:bodyPr/>
          <a:lstStyle/>
          <a:p>
            <a:r>
              <a:rPr lang="en-US" dirty="0" smtClean="0"/>
              <a:t>Step 2. Model replication</a:t>
            </a:r>
            <a:endParaRPr lang="en-US" dirty="0"/>
          </a:p>
        </p:txBody>
      </p:sp>
      <p:pic>
        <p:nvPicPr>
          <p:cNvPr id="4" name="Picture 3" descr="Screen Shot 2018-08-24 at 2.53.10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2348880"/>
            <a:ext cx="5663819" cy="39262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9592" y="1556792"/>
            <a:ext cx="7128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Engage other agencies to adopt and test the model using a </a:t>
            </a:r>
            <a:r>
              <a:rPr lang="en-US" b="1" dirty="0"/>
              <a:t>Learning Collaborative </a:t>
            </a:r>
            <a:r>
              <a:rPr lang="en-US" dirty="0"/>
              <a:t>approach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15200" y="5562600"/>
            <a:ext cx="1538287" cy="919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30753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3. Evaluate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Impact analysis:</a:t>
            </a:r>
          </a:p>
          <a:p>
            <a:pPr lvl="1"/>
            <a:r>
              <a:rPr lang="en-US" dirty="0" smtClean="0"/>
              <a:t>State driven evaluation plans</a:t>
            </a:r>
          </a:p>
          <a:p>
            <a:pPr lvl="1"/>
            <a:r>
              <a:rPr lang="en-US" dirty="0" smtClean="0"/>
              <a:t>Case file and PE-specific data extracts</a:t>
            </a:r>
          </a:p>
          <a:p>
            <a:r>
              <a:rPr lang="en-US" dirty="0" smtClean="0"/>
              <a:t>Process analysis:</a:t>
            </a:r>
          </a:p>
          <a:p>
            <a:pPr lvl="1"/>
            <a:r>
              <a:rPr lang="en-US" dirty="0" smtClean="0"/>
              <a:t>Monthly phone calls</a:t>
            </a:r>
          </a:p>
          <a:p>
            <a:pPr lvl="1"/>
            <a:r>
              <a:rPr lang="en-US" dirty="0" smtClean="0"/>
              <a:t>1-2x year in-person (site visits)</a:t>
            </a:r>
          </a:p>
          <a:p>
            <a:pPr lvl="1"/>
            <a:r>
              <a:rPr lang="en-US" dirty="0" smtClean="0"/>
              <a:t>Learning collaborative meetings (virtual and in-person)</a:t>
            </a:r>
          </a:p>
          <a:p>
            <a:pPr lvl="1"/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200" y="5661248"/>
            <a:ext cx="1538287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58585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have we learned?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Partnership with VR agency as co-researchers </a:t>
            </a:r>
          </a:p>
          <a:p>
            <a:r>
              <a:rPr lang="en-US" dirty="0" smtClean="0"/>
              <a:t>Flexibility of the evaluation plans and specific research questions (by state)</a:t>
            </a:r>
          </a:p>
          <a:p>
            <a:r>
              <a:rPr lang="en-US" dirty="0" smtClean="0"/>
              <a:t>Embedded training and TA, and peer-to-peer support</a:t>
            </a:r>
          </a:p>
          <a:p>
            <a:r>
              <a:rPr lang="en-US" dirty="0" smtClean="0"/>
              <a:t>Early successes and positive preliminary findings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15200" y="5562600"/>
            <a:ext cx="1538287" cy="919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71138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Building on success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Currently have 2 additional funding streams to build upon the PE research conducted under the RRTC</a:t>
            </a:r>
          </a:p>
          <a:p>
            <a:r>
              <a:rPr lang="en-US" dirty="0" smtClean="0"/>
              <a:t>Eventually hope to scale up this model and this approach – as in the next example of the SGA project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15200" y="5562600"/>
            <a:ext cx="1538287" cy="919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00075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08000" y="2132856"/>
            <a:ext cx="8242300" cy="3823444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 smtClean="0"/>
              <a:t>Model Demonstration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/>
              <a:t>F</a:t>
            </a:r>
            <a:r>
              <a:rPr lang="en-US" sz="2200" dirty="0" smtClean="0"/>
              <a:t>unded by Rehabilitation Services Administration (RSA)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 smtClean="0"/>
              <a:t>Goal: Develop and test </a:t>
            </a:r>
            <a:r>
              <a:rPr lang="en-US" sz="2200" dirty="0"/>
              <a:t>an </a:t>
            </a:r>
            <a:r>
              <a:rPr lang="en-US" sz="2200" b="1" dirty="0"/>
              <a:t>employment services model </a:t>
            </a:r>
            <a:r>
              <a:rPr lang="en-US" sz="2200" dirty="0"/>
              <a:t>for </a:t>
            </a:r>
            <a:r>
              <a:rPr lang="en-US" sz="2200" b="1" dirty="0" smtClean="0"/>
              <a:t>SSDI beneficiaries </a:t>
            </a:r>
            <a:r>
              <a:rPr lang="en-US" sz="2200" dirty="0" smtClean="0"/>
              <a:t>that would: 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 smtClean="0"/>
              <a:t>Enhance engagement in services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 smtClean="0"/>
              <a:t>Improve employment outcomes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sz="1800" dirty="0" smtClean="0"/>
              <a:t>Increase chances </a:t>
            </a:r>
            <a:r>
              <a:rPr lang="en-US" sz="1800" dirty="0"/>
              <a:t>of </a:t>
            </a:r>
            <a:r>
              <a:rPr lang="en-US" sz="1800" dirty="0" smtClean="0"/>
              <a:t>earning above </a:t>
            </a:r>
            <a:r>
              <a:rPr lang="en-US" sz="1800" dirty="0"/>
              <a:t>the </a:t>
            </a:r>
            <a:r>
              <a:rPr lang="en-US" sz="1800" dirty="0" smtClean="0"/>
              <a:t>SGA (Substantial Gainful Activity) level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dirty="0" smtClean="0"/>
              <a:t>Randomized Control Trial (RCT)</a:t>
            </a:r>
            <a:endParaRPr lang="en-US" sz="2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SGA Project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15200" y="5562600"/>
            <a:ext cx="1538287" cy="919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32684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The SGA Project Partners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15200" y="5562600"/>
            <a:ext cx="1538287" cy="919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994" y="4869160"/>
            <a:ext cx="1362075" cy="990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0560" y="1774092"/>
            <a:ext cx="1974941" cy="1883508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500839" y="3372016"/>
            <a:ext cx="2869998" cy="1548354"/>
            <a:chOff x="493579" y="3657600"/>
            <a:chExt cx="2869998" cy="1548354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3579" y="3657600"/>
              <a:ext cx="2752578" cy="1313413"/>
            </a:xfrm>
            <a:prstGeom prst="rect">
              <a:avLst/>
            </a:prstGeom>
          </p:spPr>
        </p:pic>
        <p:sp>
          <p:nvSpPr>
            <p:cNvPr id="10" name="Oval 9"/>
            <p:cNvSpPr/>
            <p:nvPr/>
          </p:nvSpPr>
          <p:spPr bwMode="auto">
            <a:xfrm>
              <a:off x="493579" y="3837802"/>
              <a:ext cx="2869998" cy="1368152"/>
            </a:xfrm>
            <a:prstGeom prst="ellipse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800" dirty="0" smtClean="0">
                  <a:solidFill>
                    <a:srgbClr val="FFFF99"/>
                  </a:solidFill>
                </a:rPr>
                <a:t>KY</a:t>
              </a:r>
              <a:r>
                <a:rPr kumimoji="0" lang="en-US" sz="2800" b="0" i="0" u="none" strike="noStrike" cap="none" normalizeH="0" baseline="0" dirty="0" smtClean="0">
                  <a:ln>
                    <a:noFill/>
                  </a:ln>
                  <a:solidFill>
                    <a:srgbClr val="FFFF99"/>
                  </a:solidFill>
                  <a:effectLst/>
                </a:rPr>
                <a:t> </a:t>
              </a:r>
              <a:r>
                <a:rPr lang="en-US" sz="2800" dirty="0" smtClean="0">
                  <a:solidFill>
                    <a:srgbClr val="FFFF99"/>
                  </a:solidFill>
                </a:rPr>
                <a:t>OV</a:t>
              </a:r>
              <a:r>
                <a:rPr kumimoji="0" lang="en-US" sz="2800" b="0" i="0" u="none" strike="noStrike" cap="none" normalizeH="0" baseline="0" dirty="0" smtClean="0">
                  <a:ln>
                    <a:noFill/>
                  </a:ln>
                  <a:solidFill>
                    <a:srgbClr val="FFFF99"/>
                  </a:solidFill>
                  <a:effectLst/>
                </a:rPr>
                <a:t>R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5848250" y="2900915"/>
            <a:ext cx="2402257" cy="2310355"/>
            <a:chOff x="5848250" y="2900915"/>
            <a:chExt cx="2402257" cy="2310355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40152" y="2900915"/>
              <a:ext cx="2310355" cy="2310355"/>
            </a:xfrm>
            <a:prstGeom prst="rect">
              <a:avLst/>
            </a:prstGeom>
          </p:spPr>
        </p:pic>
        <p:sp>
          <p:nvSpPr>
            <p:cNvPr id="8" name="Oval 7"/>
            <p:cNvSpPr/>
            <p:nvPr/>
          </p:nvSpPr>
          <p:spPr bwMode="auto">
            <a:xfrm>
              <a:off x="5848250" y="3372016"/>
              <a:ext cx="2016224" cy="1368152"/>
            </a:xfrm>
            <a:prstGeom prst="ellipse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0" i="0" u="none" strike="noStrike" cap="none" normalizeH="0" baseline="0" dirty="0" smtClean="0">
                  <a:ln>
                    <a:noFill/>
                  </a:ln>
                  <a:solidFill>
                    <a:srgbClr val="FFFF99"/>
                  </a:solidFill>
                  <a:effectLst/>
                  <a:latin typeface="Arial" charset="0"/>
                  <a:ea typeface="Geneva" pitchFamily="1" charset="-128"/>
                </a:rPr>
                <a:t>MN VRS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2253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The SGA Project Intervention 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23169" y="5571653"/>
            <a:ext cx="1538287" cy="919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Content Placeholder 4" descr="N:\Project\06887_DIVR\NJ1\400 Dissemination\Research Briefs\Graphics\06887_SGA_090817_MN_COM program.png"/>
          <p:cNvPicPr>
            <a:picLocks noGrp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576" y="1473235"/>
            <a:ext cx="7108848" cy="4351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5111" y="5571653"/>
            <a:ext cx="585251" cy="224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590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6686" y="2132856"/>
            <a:ext cx="3059831" cy="22667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Training and Technical Assistance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5326360" cy="4114800"/>
          </a:xfrm>
        </p:spPr>
        <p:txBody>
          <a:bodyPr/>
          <a:lstStyle/>
          <a:p>
            <a:r>
              <a:rPr lang="en-US" dirty="0" smtClean="0"/>
              <a:t>Statewide launch meetings</a:t>
            </a:r>
          </a:p>
          <a:p>
            <a:r>
              <a:rPr lang="en-US" dirty="0" smtClean="0"/>
              <a:t>Manuals, forms</a:t>
            </a:r>
          </a:p>
          <a:p>
            <a:r>
              <a:rPr lang="en-US" dirty="0" smtClean="0"/>
              <a:t>Regular meetings with VR administrators</a:t>
            </a:r>
          </a:p>
          <a:p>
            <a:r>
              <a:rPr lang="en-US" dirty="0" smtClean="0"/>
              <a:t>Site visits at VR offices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15200" y="5562600"/>
            <a:ext cx="1538287" cy="919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78510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rrowheads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dirty="0"/>
              <a:t>Research Activities</a:t>
            </a:r>
          </a:p>
        </p:txBody>
      </p:sp>
      <p:sp>
        <p:nvSpPr>
          <p:cNvPr id="79878" name="Rectangle 6"/>
          <p:cNvSpPr>
            <a:spLocks noGrp="1" noChangeArrowheads="1"/>
          </p:cNvSpPr>
          <p:nvPr>
            <p:ph idx="1"/>
          </p:nvPr>
        </p:nvSpPr>
        <p:spPr>
          <a:xfrm>
            <a:off x="539552" y="1988840"/>
            <a:ext cx="5690592" cy="3810000"/>
          </a:xfrm>
        </p:spPr>
        <p:txBody>
          <a:bodyPr>
            <a:normAutofit/>
          </a:bodyPr>
          <a:lstStyle/>
          <a:p>
            <a:pPr marL="457200" indent="-457200">
              <a:spcBef>
                <a:spcPts val="0"/>
              </a:spcBef>
              <a:spcAft>
                <a:spcPts val="4200"/>
              </a:spcAft>
              <a:buFont typeface="+mj-lt"/>
              <a:buAutoNum type="arabicPeriod"/>
              <a:defRPr/>
            </a:pPr>
            <a:r>
              <a:rPr lang="en-US" sz="4000" dirty="0">
                <a:latin typeface="+mj-lt"/>
              </a:rPr>
              <a:t>Impact </a:t>
            </a:r>
            <a:r>
              <a:rPr lang="en-US" sz="4000" dirty="0" smtClean="0">
                <a:latin typeface="+mj-lt"/>
              </a:rPr>
              <a:t>Evaluation </a:t>
            </a:r>
          </a:p>
          <a:p>
            <a:pPr marL="457200" indent="-457200">
              <a:spcBef>
                <a:spcPts val="0"/>
              </a:spcBef>
              <a:spcAft>
                <a:spcPts val="4200"/>
              </a:spcAft>
              <a:buFont typeface="+mj-lt"/>
              <a:buAutoNum type="arabicPeriod"/>
              <a:defRPr/>
            </a:pPr>
            <a:r>
              <a:rPr lang="en-US" sz="4000" dirty="0" smtClean="0">
                <a:latin typeface="+mj-lt"/>
              </a:rPr>
              <a:t>Process Evaluation</a:t>
            </a:r>
          </a:p>
          <a:p>
            <a:pPr marL="457200" indent="-457200">
              <a:spcBef>
                <a:spcPts val="0"/>
              </a:spcBef>
              <a:spcAft>
                <a:spcPts val="4200"/>
              </a:spcAft>
              <a:buFont typeface="+mj-lt"/>
              <a:buAutoNum type="arabicPeriod"/>
              <a:defRPr/>
            </a:pPr>
            <a:r>
              <a:rPr lang="en-US" sz="4000" dirty="0" smtClean="0">
                <a:latin typeface="+mj-lt"/>
              </a:rPr>
              <a:t>Follow-Along Qualitative Study</a:t>
            </a:r>
            <a:endParaRPr lang="en-US" sz="4000" dirty="0">
              <a:latin typeface="+mj-lt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15200" y="5562600"/>
            <a:ext cx="1538287" cy="919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9660" y="3751462"/>
            <a:ext cx="2235200" cy="1676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1556792"/>
            <a:ext cx="1914215" cy="1703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858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Office-Level Clustered Random Assignment</a:t>
            </a:r>
            <a:endParaRPr lang="en-US" dirty="0"/>
          </a:p>
        </p:txBody>
      </p:sp>
      <p:pic>
        <p:nvPicPr>
          <p:cNvPr id="16" name="Content Placeholder 15" descr="Six pairs of circles (12 circles total); each pair is matched by color and number (1-6)." title="Random Assignment 1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55701" y="2479595"/>
            <a:ext cx="4832598" cy="311801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15200" y="5562600"/>
            <a:ext cx="1538287" cy="919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14247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Office-Level Clustered Random Assignment</a:t>
            </a:r>
            <a:endParaRPr lang="en-US" dirty="0"/>
          </a:p>
        </p:txBody>
      </p:sp>
      <p:pic>
        <p:nvPicPr>
          <p:cNvPr id="53" name="Content Placeholder 52" descr="Six pairs of circles, 12 total. One of each matched pair falls into one of two buckets labeled &quot;USUAL SERVICES&quot; or &quot;ENHANCED SERVICES.&quot;" title="Random Assignment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53698" y="1981200"/>
            <a:ext cx="5036603" cy="41148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15200" y="5562600"/>
            <a:ext cx="1538287" cy="919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54667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Impact Evaluation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what extent was the model implemented as designed?</a:t>
            </a:r>
          </a:p>
          <a:p>
            <a:r>
              <a:rPr lang="en-US" dirty="0"/>
              <a:t>Did outcomes improve?</a:t>
            </a:r>
          </a:p>
          <a:p>
            <a:pPr lvl="1"/>
            <a:r>
              <a:rPr lang="en-US" dirty="0" smtClean="0"/>
              <a:t>Engagement (drop-out rate)</a:t>
            </a:r>
            <a:endParaRPr lang="en-US" dirty="0"/>
          </a:p>
          <a:p>
            <a:pPr lvl="1"/>
            <a:r>
              <a:rPr lang="en-US" dirty="0" smtClean="0"/>
              <a:t>Employment</a:t>
            </a:r>
            <a:endParaRPr lang="en-US" dirty="0"/>
          </a:p>
          <a:p>
            <a:pPr lvl="1"/>
            <a:r>
              <a:rPr lang="en-US" dirty="0" smtClean="0"/>
              <a:t>SGA-level earnings</a:t>
            </a:r>
          </a:p>
          <a:p>
            <a:pPr lvl="1"/>
            <a:endParaRPr lang="en-US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200" y="5562600"/>
            <a:ext cx="1538287" cy="919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663014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Impact Evaluation: </a:t>
            </a:r>
            <a:br>
              <a:rPr lang="en-US" dirty="0" smtClean="0"/>
            </a:br>
            <a:r>
              <a:rPr lang="en-US" dirty="0" smtClean="0"/>
              <a:t>Data 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Case Management Systems (CMS) at VR agencies</a:t>
            </a:r>
          </a:p>
          <a:p>
            <a:pPr lvl="1"/>
            <a:r>
              <a:rPr lang="en-US" dirty="0" smtClean="0"/>
              <a:t>Existing CMS – RSA-911 reporting requirements</a:t>
            </a:r>
          </a:p>
          <a:p>
            <a:pPr lvl="1"/>
            <a:r>
              <a:rPr lang="en-US" dirty="0" smtClean="0"/>
              <a:t>Added fields for SGA project services and milestones</a:t>
            </a:r>
          </a:p>
          <a:p>
            <a:r>
              <a:rPr lang="en-US" dirty="0" smtClean="0"/>
              <a:t>VR agencies shared de-identified data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200" y="5562600"/>
            <a:ext cx="1538287" cy="919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312676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Evaluation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was the project implemented?</a:t>
            </a:r>
          </a:p>
          <a:p>
            <a:r>
              <a:rPr lang="en-US" dirty="0" smtClean="0"/>
              <a:t>What challenges arose, and how were they addressed?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200" y="5562600"/>
            <a:ext cx="1538287" cy="919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752893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Evaluation: </a:t>
            </a:r>
            <a:br>
              <a:rPr lang="en-US" dirty="0" smtClean="0"/>
            </a:br>
            <a:r>
              <a:rPr lang="en-US" dirty="0" smtClean="0"/>
              <a:t>Data 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Document </a:t>
            </a:r>
            <a:r>
              <a:rPr lang="en-US" dirty="0"/>
              <a:t>review</a:t>
            </a:r>
          </a:p>
          <a:p>
            <a:r>
              <a:rPr lang="en-US" dirty="0"/>
              <a:t>Observations of training and TA</a:t>
            </a:r>
          </a:p>
          <a:p>
            <a:r>
              <a:rPr lang="en-US" dirty="0"/>
              <a:t>Site visits</a:t>
            </a:r>
          </a:p>
          <a:p>
            <a:r>
              <a:rPr lang="en-US" dirty="0"/>
              <a:t>Interviews with VR leadership and </a:t>
            </a:r>
            <a:r>
              <a:rPr lang="en-US" dirty="0" smtClean="0"/>
              <a:t>staff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200" y="5562600"/>
            <a:ext cx="1538287" cy="919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184455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Qualitative Follow-Along Study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What are VR customer perceptions and experiences </a:t>
            </a:r>
            <a:r>
              <a:rPr lang="en-US" sz="2800" dirty="0"/>
              <a:t>of </a:t>
            </a:r>
            <a:r>
              <a:rPr lang="en-US" sz="2800" dirty="0" smtClean="0"/>
              <a:t>employment, job </a:t>
            </a:r>
            <a:r>
              <a:rPr lang="en-US" sz="2800" dirty="0"/>
              <a:t>search, VR, and SSDI?</a:t>
            </a:r>
          </a:p>
          <a:p>
            <a:r>
              <a:rPr lang="en-US" sz="2800" dirty="0"/>
              <a:t>How do </a:t>
            </a:r>
            <a:r>
              <a:rPr lang="en-US" sz="2800" dirty="0" smtClean="0"/>
              <a:t>they make </a:t>
            </a:r>
            <a:r>
              <a:rPr lang="en-US" sz="2800" dirty="0"/>
              <a:t>decisions about returning to work?</a:t>
            </a:r>
          </a:p>
          <a:p>
            <a:r>
              <a:rPr lang="en-US" sz="2800" dirty="0"/>
              <a:t>What is the role of VR in these decisions</a:t>
            </a:r>
            <a:r>
              <a:rPr lang="en-US" sz="2800" dirty="0" smtClean="0"/>
              <a:t>?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15200" y="5562600"/>
            <a:ext cx="1538287" cy="919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585193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Qualitative Study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200" y="5562600"/>
            <a:ext cx="1538287" cy="919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u="sng" dirty="0" smtClean="0"/>
              <a:t>Sample</a:t>
            </a:r>
            <a:r>
              <a:rPr lang="en-US" sz="2800" dirty="0" smtClean="0"/>
              <a:t>: 48 participants (SSDI-only VR customers receiving services during demonstration)</a:t>
            </a:r>
          </a:p>
          <a:p>
            <a:r>
              <a:rPr lang="en-US" sz="2800" u="sng" dirty="0" smtClean="0"/>
              <a:t>Recruitment</a:t>
            </a:r>
            <a:r>
              <a:rPr lang="en-US" sz="2800" dirty="0" smtClean="0"/>
              <a:t>: coordinated with VR agencies</a:t>
            </a:r>
          </a:p>
          <a:p>
            <a:r>
              <a:rPr lang="en-US" sz="2800" u="sng" dirty="0" smtClean="0"/>
              <a:t>Methods</a:t>
            </a:r>
            <a:r>
              <a:rPr lang="en-US" sz="2800" dirty="0" smtClean="0"/>
              <a:t>: 1-3 in-depth telephone interviews</a:t>
            </a:r>
          </a:p>
          <a:p>
            <a:r>
              <a:rPr lang="en-US" sz="2800" u="sng" dirty="0" smtClean="0"/>
              <a:t>Data Analysis</a:t>
            </a:r>
            <a:r>
              <a:rPr lang="en-US" sz="2800" dirty="0" smtClean="0"/>
              <a:t>: Ongoing thematic analysis using </a:t>
            </a:r>
            <a:r>
              <a:rPr lang="en-US" sz="2800" smtClean="0"/>
              <a:t>Atlas.ti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8468616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2568" y="260648"/>
            <a:ext cx="7772400" cy="1143000"/>
          </a:xfrm>
        </p:spPr>
        <p:txBody>
          <a:bodyPr/>
          <a:lstStyle/>
          <a:p>
            <a:r>
              <a:rPr lang="en-US" dirty="0"/>
              <a:t>Quantitative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2568" y="1052736"/>
            <a:ext cx="7772400" cy="4114800"/>
          </a:xfrm>
        </p:spPr>
        <p:txBody>
          <a:bodyPr/>
          <a:lstStyle/>
          <a:p>
            <a:r>
              <a:rPr lang="en-US" dirty="0" smtClean="0"/>
              <a:t>How can quantitative data be useful in the study design stage?</a:t>
            </a:r>
          </a:p>
          <a:p>
            <a:pPr lvl="0"/>
            <a:r>
              <a:rPr lang="en-US" sz="2000" dirty="0">
                <a:solidFill>
                  <a:srgbClr val="000000"/>
                </a:solidFill>
              </a:rPr>
              <a:t>B</a:t>
            </a:r>
            <a:r>
              <a:rPr lang="en-US" sz="2000" dirty="0" smtClean="0">
                <a:solidFill>
                  <a:srgbClr val="000000"/>
                </a:solidFill>
              </a:rPr>
              <a:t>ackground information :</a:t>
            </a:r>
            <a:endParaRPr lang="en-US" sz="2000" dirty="0">
              <a:solidFill>
                <a:srgbClr val="000000"/>
              </a:solidFill>
            </a:endParaRPr>
          </a:p>
          <a:p>
            <a:pPr lvl="1"/>
            <a:r>
              <a:rPr lang="en-US" sz="2000" dirty="0" smtClean="0">
                <a:solidFill>
                  <a:srgbClr val="000000"/>
                </a:solidFill>
              </a:rPr>
              <a:t>Area Demographics</a:t>
            </a:r>
            <a:endParaRPr lang="en-US" sz="2000" dirty="0">
              <a:solidFill>
                <a:srgbClr val="000000"/>
              </a:solidFill>
            </a:endParaRPr>
          </a:p>
          <a:p>
            <a:pPr lvl="1"/>
            <a:r>
              <a:rPr lang="en-US" sz="2000" dirty="0" smtClean="0">
                <a:solidFill>
                  <a:srgbClr val="000000"/>
                </a:solidFill>
              </a:rPr>
              <a:t>Local economy</a:t>
            </a:r>
          </a:p>
          <a:p>
            <a:pPr lvl="1"/>
            <a:r>
              <a:rPr lang="en-US" sz="2000" dirty="0" smtClean="0">
                <a:solidFill>
                  <a:srgbClr val="000000"/>
                </a:solidFill>
              </a:rPr>
              <a:t>Past and Current VR client profiles</a:t>
            </a:r>
          </a:p>
          <a:p>
            <a:pPr lvl="1"/>
            <a:r>
              <a:rPr lang="en-US" sz="2000" dirty="0" smtClean="0">
                <a:solidFill>
                  <a:srgbClr val="000000"/>
                </a:solidFill>
              </a:rPr>
              <a:t>VR agency performance</a:t>
            </a:r>
          </a:p>
          <a:p>
            <a:pPr lvl="1"/>
            <a:r>
              <a:rPr lang="en-US" sz="2000" dirty="0" smtClean="0">
                <a:solidFill>
                  <a:srgbClr val="000000"/>
                </a:solidFill>
              </a:rPr>
              <a:t>Example: SGA (identify study sample characteristics using RSA911 data)</a:t>
            </a:r>
          </a:p>
          <a:p>
            <a:pPr lvl="0"/>
            <a:r>
              <a:rPr lang="en-US" sz="2000" dirty="0" smtClean="0">
                <a:solidFill>
                  <a:srgbClr val="000000"/>
                </a:solidFill>
              </a:rPr>
              <a:t>Determination of a control group when using a quasi-experimental approach :</a:t>
            </a:r>
          </a:p>
          <a:p>
            <a:pPr lvl="1"/>
            <a:r>
              <a:rPr lang="en-US" sz="2000" dirty="0" smtClean="0">
                <a:solidFill>
                  <a:srgbClr val="000000"/>
                </a:solidFill>
              </a:rPr>
              <a:t>Matching </a:t>
            </a:r>
            <a:endParaRPr lang="en-US" sz="2000" dirty="0">
              <a:solidFill>
                <a:srgbClr val="000000"/>
              </a:solidFill>
            </a:endParaRPr>
          </a:p>
          <a:p>
            <a:pPr lvl="1"/>
            <a:r>
              <a:rPr lang="en-US" sz="2000" dirty="0" smtClean="0">
                <a:solidFill>
                  <a:srgbClr val="000000"/>
                </a:solidFill>
              </a:rPr>
              <a:t>Example: PE vs Non-PE clients</a:t>
            </a:r>
          </a:p>
          <a:p>
            <a:pPr marL="457200" lvl="1" indent="0"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 lvl="0"/>
            <a:endParaRPr lang="en-US" sz="2000" dirty="0" smtClean="0">
              <a:solidFill>
                <a:srgbClr val="000000"/>
              </a:solidFill>
            </a:endParaRPr>
          </a:p>
          <a:p>
            <a:pPr marL="0" lvl="0" indent="0"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 marL="457200" lvl="1" indent="0">
              <a:buNone/>
            </a:pPr>
            <a:endParaRPr lang="en-US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200" y="5562600"/>
            <a:ext cx="1538287" cy="919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872741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Quantitative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rgbClr val="000000"/>
                </a:solidFill>
              </a:rPr>
              <a:t>How can quantitative data be </a:t>
            </a:r>
            <a:r>
              <a:rPr lang="en-US" dirty="0" smtClean="0">
                <a:solidFill>
                  <a:srgbClr val="000000"/>
                </a:solidFill>
              </a:rPr>
              <a:t>helpful </a:t>
            </a:r>
            <a:r>
              <a:rPr lang="en-US" dirty="0">
                <a:solidFill>
                  <a:srgbClr val="000000"/>
                </a:solidFill>
              </a:rPr>
              <a:t>in </a:t>
            </a:r>
            <a:r>
              <a:rPr lang="en-US" dirty="0" smtClean="0">
                <a:solidFill>
                  <a:srgbClr val="000000"/>
                </a:solidFill>
              </a:rPr>
              <a:t>project implementation stage</a:t>
            </a:r>
            <a:r>
              <a:rPr lang="en-US" dirty="0">
                <a:solidFill>
                  <a:srgbClr val="000000"/>
                </a:solidFill>
              </a:rPr>
              <a:t>?</a:t>
            </a:r>
          </a:p>
          <a:p>
            <a:pPr lvl="0"/>
            <a:r>
              <a:rPr lang="en-US" sz="2000" dirty="0" smtClean="0">
                <a:solidFill>
                  <a:srgbClr val="000000"/>
                </a:solidFill>
              </a:rPr>
              <a:t>Data Accuracy assurance :</a:t>
            </a:r>
          </a:p>
          <a:p>
            <a:pPr lvl="1"/>
            <a:r>
              <a:rPr lang="en-US" sz="2000" dirty="0" smtClean="0">
                <a:solidFill>
                  <a:srgbClr val="000000"/>
                </a:solidFill>
              </a:rPr>
              <a:t>Compare data collected with existing data</a:t>
            </a:r>
          </a:p>
          <a:p>
            <a:pPr lvl="1"/>
            <a:r>
              <a:rPr lang="en-US" sz="2000" dirty="0" smtClean="0">
                <a:solidFill>
                  <a:srgbClr val="000000"/>
                </a:solidFill>
              </a:rPr>
              <a:t>Construct a trend data pool to monitor the consistency of data collected</a:t>
            </a:r>
          </a:p>
          <a:p>
            <a:pPr lvl="1"/>
            <a:r>
              <a:rPr lang="en-US" sz="2000" dirty="0" smtClean="0">
                <a:solidFill>
                  <a:srgbClr val="000000"/>
                </a:solidFill>
              </a:rPr>
              <a:t>Provide feedback to PI if there are problems with (1) study sample; (2) data quality (missing data; inputting errors); (3) effectiveness of the intervention. </a:t>
            </a:r>
          </a:p>
          <a:p>
            <a:pPr lvl="1"/>
            <a:r>
              <a:rPr lang="en-US" sz="2000" dirty="0" smtClean="0">
                <a:solidFill>
                  <a:srgbClr val="000000"/>
                </a:solidFill>
              </a:rPr>
              <a:t>Example: TPS project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200" y="5562600"/>
            <a:ext cx="1538287" cy="919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643987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7772400" cy="1143000"/>
          </a:xfrm>
        </p:spPr>
        <p:txBody>
          <a:bodyPr/>
          <a:lstStyle/>
          <a:p>
            <a:r>
              <a:rPr lang="en-US" dirty="0"/>
              <a:t>Quantitative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58" y="1052736"/>
            <a:ext cx="7772400" cy="4114800"/>
          </a:xfrm>
        </p:spPr>
        <p:txBody>
          <a:bodyPr/>
          <a:lstStyle/>
          <a:p>
            <a:pPr lvl="0"/>
            <a:r>
              <a:rPr lang="en-US" dirty="0">
                <a:solidFill>
                  <a:srgbClr val="000000"/>
                </a:solidFill>
              </a:rPr>
              <a:t>How can quantitative data be </a:t>
            </a:r>
            <a:r>
              <a:rPr lang="en-US" dirty="0" smtClean="0">
                <a:solidFill>
                  <a:srgbClr val="000000"/>
                </a:solidFill>
              </a:rPr>
              <a:t>meaningful </a:t>
            </a:r>
            <a:r>
              <a:rPr lang="en-US" dirty="0">
                <a:solidFill>
                  <a:srgbClr val="000000"/>
                </a:solidFill>
              </a:rPr>
              <a:t>in project </a:t>
            </a:r>
            <a:r>
              <a:rPr lang="en-US" dirty="0" smtClean="0">
                <a:solidFill>
                  <a:srgbClr val="000000"/>
                </a:solidFill>
              </a:rPr>
              <a:t>completion stage</a:t>
            </a:r>
            <a:r>
              <a:rPr lang="en-US" dirty="0">
                <a:solidFill>
                  <a:srgbClr val="000000"/>
                </a:solidFill>
              </a:rPr>
              <a:t>?</a:t>
            </a:r>
          </a:p>
          <a:p>
            <a:pPr lvl="0"/>
            <a:r>
              <a:rPr lang="en-US" sz="2000" dirty="0" smtClean="0">
                <a:solidFill>
                  <a:srgbClr val="000000"/>
                </a:solidFill>
              </a:rPr>
              <a:t>Knowledge Translation and reports </a:t>
            </a:r>
            <a:r>
              <a:rPr lang="en-US" sz="2000" dirty="0">
                <a:solidFill>
                  <a:srgbClr val="000000"/>
                </a:solidFill>
              </a:rPr>
              <a:t>:</a:t>
            </a:r>
          </a:p>
          <a:p>
            <a:pPr lvl="1"/>
            <a:r>
              <a:rPr lang="en-US" sz="2000" dirty="0" smtClean="0">
                <a:solidFill>
                  <a:srgbClr val="000000"/>
                </a:solidFill>
              </a:rPr>
              <a:t>Impact analysis </a:t>
            </a:r>
            <a:r>
              <a:rPr lang="en-US" sz="2000" dirty="0">
                <a:solidFill>
                  <a:srgbClr val="000000"/>
                </a:solidFill>
              </a:rPr>
              <a:t>(example: Improved Pace and Engagement in </a:t>
            </a:r>
            <a:r>
              <a:rPr lang="en-US" sz="2000" dirty="0" smtClean="0">
                <a:solidFill>
                  <a:srgbClr val="000000"/>
                </a:solidFill>
              </a:rPr>
              <a:t>Minnesota)</a:t>
            </a:r>
          </a:p>
          <a:p>
            <a:pPr lvl="1"/>
            <a:endParaRPr lang="en-US" sz="2000" dirty="0">
              <a:solidFill>
                <a:srgbClr val="000000"/>
              </a:solidFill>
            </a:endParaRPr>
          </a:p>
          <a:p>
            <a:pPr lvl="1"/>
            <a:endParaRPr lang="en-US" sz="2000" dirty="0" smtClean="0">
              <a:solidFill>
                <a:srgbClr val="000000"/>
              </a:solidFill>
            </a:endParaRPr>
          </a:p>
          <a:p>
            <a:pPr lvl="1"/>
            <a:endParaRPr lang="en-US" sz="2000" dirty="0">
              <a:solidFill>
                <a:srgbClr val="000000"/>
              </a:solidFill>
            </a:endParaRPr>
          </a:p>
          <a:p>
            <a:pPr lvl="1"/>
            <a:endParaRPr lang="en-US" sz="2000" dirty="0" smtClean="0">
              <a:solidFill>
                <a:srgbClr val="000000"/>
              </a:solidFill>
            </a:endParaRPr>
          </a:p>
          <a:p>
            <a:pPr lvl="1"/>
            <a:endParaRPr lang="en-US" sz="2000" dirty="0">
              <a:solidFill>
                <a:srgbClr val="000000"/>
              </a:solidFill>
            </a:endParaRPr>
          </a:p>
          <a:p>
            <a:pPr lvl="1"/>
            <a:endParaRPr lang="en-US" sz="2000" dirty="0" smtClean="0">
              <a:solidFill>
                <a:srgbClr val="000000"/>
              </a:solidFill>
            </a:endParaRPr>
          </a:p>
          <a:p>
            <a:pPr lvl="1"/>
            <a:endParaRPr lang="en-US" sz="2000" dirty="0">
              <a:solidFill>
                <a:srgbClr val="000000"/>
              </a:solidFill>
            </a:endParaRPr>
          </a:p>
          <a:p>
            <a:pPr lvl="1"/>
            <a:endParaRPr lang="en-US" sz="2000" dirty="0" smtClean="0">
              <a:solidFill>
                <a:srgbClr val="000000"/>
              </a:solidFill>
            </a:endParaRPr>
          </a:p>
          <a:p>
            <a:pPr lvl="0"/>
            <a:endParaRPr lang="en-US" sz="2000" dirty="0">
              <a:solidFill>
                <a:srgbClr val="000000"/>
              </a:solidFill>
            </a:endParaRPr>
          </a:p>
          <a:p>
            <a:pPr lvl="1"/>
            <a:endParaRPr lang="en-US" sz="2000" dirty="0" smtClean="0">
              <a:solidFill>
                <a:srgbClr val="0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3110135"/>
            <a:ext cx="5328592" cy="3069503"/>
          </a:xfrm>
          <a:prstGeom prst="rect">
            <a:avLst/>
          </a:prstGeom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15200" y="5562600"/>
            <a:ext cx="1538287" cy="919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882194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Improved Pace and Employment in Kentucky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576" y="1752600"/>
            <a:ext cx="7200898" cy="41148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80312" y="5733256"/>
            <a:ext cx="1656184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897086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Quantitative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Journal articles; briefs; web portals</a:t>
            </a:r>
          </a:p>
          <a:p>
            <a:r>
              <a:rPr lang="en-US" dirty="0"/>
              <a:t>A few things to remember :</a:t>
            </a:r>
          </a:p>
          <a:p>
            <a:r>
              <a:rPr lang="en-US" dirty="0"/>
              <a:t>Data agreement contract</a:t>
            </a:r>
          </a:p>
          <a:p>
            <a:r>
              <a:rPr lang="en-US" dirty="0"/>
              <a:t>Data storage and transferring</a:t>
            </a:r>
          </a:p>
          <a:p>
            <a:r>
              <a:rPr lang="en-US" dirty="0"/>
              <a:t>Data structure</a:t>
            </a:r>
          </a:p>
          <a:p>
            <a:r>
              <a:rPr lang="en-US" dirty="0"/>
              <a:t>Example :PE project partnering with several state agencies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200" y="5562600"/>
            <a:ext cx="1538287" cy="919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212222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 more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Visit our website: </a:t>
            </a:r>
          </a:p>
          <a:p>
            <a:pPr marL="0" indent="0" algn="ctr">
              <a:buNone/>
            </a:pPr>
            <a:r>
              <a:rPr lang="en-US" dirty="0" smtClean="0">
                <a:hlinkClick r:id="rId2"/>
              </a:rPr>
              <a:t>[www.ExploreVR.org</a:t>
            </a:r>
            <a:r>
              <a:rPr lang="en-US" dirty="0" smtClean="0"/>
              <a:t>]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Contact </a:t>
            </a:r>
            <a:r>
              <a:rPr lang="en-US" dirty="0" smtClean="0"/>
              <a:t>us:</a:t>
            </a:r>
          </a:p>
          <a:p>
            <a:pPr marL="457200" lvl="1" indent="0" algn="ctr">
              <a:buNone/>
            </a:pPr>
            <a:r>
              <a:rPr lang="en-US" sz="2400" dirty="0" smtClean="0">
                <a:hlinkClick r:id="rId3"/>
              </a:rPr>
              <a:t>Kelly.Haines@umb.edu</a:t>
            </a:r>
            <a:endParaRPr lang="en-US" sz="2400" dirty="0" smtClean="0"/>
          </a:p>
          <a:p>
            <a:pPr marL="457200" lvl="1" indent="0" algn="ctr">
              <a:buNone/>
            </a:pPr>
            <a:r>
              <a:rPr lang="en-US" sz="2400" dirty="0">
                <a:hlinkClick r:id="rId4"/>
              </a:rPr>
              <a:t>Allison.Taylor@</a:t>
            </a:r>
            <a:r>
              <a:rPr lang="en-US" sz="2400" dirty="0" smtClean="0">
                <a:hlinkClick r:id="rId4"/>
              </a:rPr>
              <a:t>umb.edu</a:t>
            </a:r>
            <a:endParaRPr lang="en-US" sz="2400" dirty="0" smtClean="0"/>
          </a:p>
          <a:p>
            <a:pPr marL="457200" lvl="1" indent="0" algn="ctr">
              <a:buNone/>
            </a:pPr>
            <a:r>
              <a:rPr lang="en-US" sz="2400" dirty="0" smtClean="0">
                <a:hlinkClick r:id="rId5"/>
              </a:rPr>
              <a:t>Ngai.Kwan@umb.edu</a:t>
            </a:r>
            <a:r>
              <a:rPr lang="en-US" sz="2400" dirty="0" smtClean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logo for explore VR website" title="Explore VR logo"/>
          <p:cNvPicPr/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2060848"/>
            <a:ext cx="2651125" cy="576580"/>
          </a:xfrm>
          <a:prstGeom prst="rect">
            <a:avLst/>
          </a:prstGeom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315200" y="5562600"/>
            <a:ext cx="1538287" cy="919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28659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Questions?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2708920"/>
            <a:ext cx="2857500" cy="2857500"/>
          </a:xfrm>
          <a:prstGeom prst="rect">
            <a:avLst/>
          </a:prstGeom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15200" y="5562600"/>
            <a:ext cx="1538287" cy="919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184556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7772400" cy="4800600"/>
          </a:xfrm>
        </p:spPr>
        <p:txBody>
          <a:bodyPr/>
          <a:lstStyle/>
          <a:p>
            <a:r>
              <a:rPr lang="en-US" sz="1400" dirty="0" smtClean="0"/>
              <a:t>Collaborative effort between the Institute for Community Inclusion, University of Massachusetts, and the LU-RRTC.</a:t>
            </a:r>
          </a:p>
          <a:p>
            <a:pPr marL="0" indent="0">
              <a:buNone/>
            </a:pPr>
            <a:r>
              <a:rPr lang="en-US" sz="1400" dirty="0" smtClean="0"/>
              <a:t>  </a:t>
            </a:r>
          </a:p>
          <a:p>
            <a:r>
              <a:rPr lang="en-US" sz="1400" dirty="0" smtClean="0"/>
              <a:t>The RRTC is funded through the </a:t>
            </a:r>
            <a:r>
              <a:rPr lang="en-US" sz="1400" dirty="0"/>
              <a:t>National Institute on Disability Independent Living and Rehabilitation Research </a:t>
            </a:r>
            <a:r>
              <a:rPr lang="en-US" sz="1400" dirty="0" smtClean="0"/>
              <a:t>(NIDILRR)</a:t>
            </a:r>
          </a:p>
          <a:p>
            <a:pPr marL="0" indent="0">
              <a:buNone/>
            </a:pPr>
            <a:endParaRPr lang="en-US" sz="1400" dirty="0" smtClean="0"/>
          </a:p>
          <a:p>
            <a:r>
              <a:rPr lang="en-US" sz="1400" dirty="0" smtClean="0"/>
              <a:t>Mission: To improve Minority Entities’ disability and rehabilitation research capacity and infrastructure by conducting a programmatic line of research examining experiences and outcomes of persons from traditionally underserved racial and ethnic populations and communities and capacity-building efforts.</a:t>
            </a:r>
          </a:p>
          <a:p>
            <a:endParaRPr lang="en-US" sz="1400" dirty="0" smtClean="0"/>
          </a:p>
          <a:p>
            <a:r>
              <a:rPr lang="en-US" sz="1400" dirty="0" smtClean="0"/>
              <a:t>PI:  Dr. Corey L. Moore, CRC </a:t>
            </a:r>
            <a:br>
              <a:rPr lang="en-US" sz="1400" dirty="0" smtClean="0"/>
            </a:br>
            <a:r>
              <a:rPr lang="en-US" sz="1400" dirty="0" smtClean="0"/>
              <a:t>Delta Sigma Theta Sorority, Inc. </a:t>
            </a:r>
            <a:br>
              <a:rPr lang="en-US" sz="1400" dirty="0" smtClean="0"/>
            </a:br>
            <a:r>
              <a:rPr lang="en-US" sz="1400" dirty="0" smtClean="0"/>
              <a:t>Distinguished Professor Endowed Chair &amp; Principal Investigator/Research Director</a:t>
            </a:r>
            <a:br>
              <a:rPr lang="en-US" sz="1400" dirty="0" smtClean="0"/>
            </a:br>
            <a:r>
              <a:rPr lang="en-US" sz="1400" dirty="0" smtClean="0"/>
              <a:t>Rehabilitation Research and Training Center (RRTC) on Research and Capacity Building for Minority Entities</a:t>
            </a:r>
            <a:br>
              <a:rPr lang="en-US" sz="1400" dirty="0" smtClean="0"/>
            </a:b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dirty="0" smtClean="0"/>
              <a:t>Email: </a:t>
            </a:r>
            <a:r>
              <a:rPr lang="en-US" sz="1400" u="sng" dirty="0" smtClean="0">
                <a:hlinkClick r:id="rId2"/>
              </a:rPr>
              <a:t>clmoore@langston.edu</a:t>
            </a:r>
            <a:r>
              <a:rPr lang="en-US" sz="1400" dirty="0" smtClean="0"/>
              <a:t/>
            </a:r>
            <a:br>
              <a:rPr lang="en-US" sz="1400" dirty="0" smtClean="0"/>
            </a:br>
            <a:r>
              <a:rPr lang="en-US" sz="1400" dirty="0" smtClean="0"/>
              <a:t>Website: </a:t>
            </a:r>
            <a:r>
              <a:rPr lang="en-US" sz="1400" u="sng" dirty="0" smtClean="0">
                <a:hlinkClick r:id="rId3"/>
              </a:rPr>
              <a:t>http://www.langston.edu/capacitybuilding-rrtc</a:t>
            </a:r>
            <a:endParaRPr lang="en-US" sz="14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15200" y="5562600"/>
            <a:ext cx="1538287" cy="919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itle 1"/>
          <p:cNvSpPr txBox="1">
            <a:spLocks/>
          </p:cNvSpPr>
          <p:nvPr/>
        </p:nvSpPr>
        <p:spPr bwMode="auto">
          <a:xfrm>
            <a:off x="533400" y="3810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Osaka" pitchFamily="8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Osaka" pitchFamily="8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Osaka" pitchFamily="8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Osaka" pitchFamily="8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Osaka" pitchFamily="8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Osaka" pitchFamily="8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Osaka" pitchFamily="8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Osaka" pitchFamily="8" charset="-128"/>
              </a:defRPr>
            </a:lvl9pPr>
          </a:lstStyle>
          <a:p>
            <a:r>
              <a:rPr lang="en-US" sz="1800" b="1" dirty="0" smtClean="0"/>
              <a:t>Langston University Rehabilitation Research and Training Center </a:t>
            </a:r>
            <a:br>
              <a:rPr lang="en-US" sz="1800" b="1" dirty="0" smtClean="0"/>
            </a:br>
            <a:r>
              <a:rPr lang="en-US" sz="1800" b="1" dirty="0" smtClean="0"/>
              <a:t>(LU-RRTC) and Research and Capacity Building for Minority Entities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817618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114800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b="1" dirty="0"/>
              <a:t>Thank you for your participation!!</a:t>
            </a:r>
          </a:p>
          <a:p>
            <a:pPr marL="0" indent="0" algn="ctr">
              <a:buNone/>
            </a:pPr>
            <a:endParaRPr lang="en-US" sz="3600" b="1" dirty="0"/>
          </a:p>
          <a:p>
            <a:pPr marL="0" indent="0" algn="ctr">
              <a:buNone/>
            </a:pPr>
            <a:r>
              <a:rPr lang="en-US" dirty="0"/>
              <a:t>Please take a few minutes to fill out the evaluation </a:t>
            </a:r>
            <a:r>
              <a:rPr lang="en-US" dirty="0" smtClean="0"/>
              <a:t>survey:</a:t>
            </a:r>
          </a:p>
          <a:p>
            <a:pPr marL="0" indent="0" algn="ctr">
              <a:buNone/>
            </a:pP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www.surveygizmo.com/s3/4515526/Post-WebinarSeptember-12-2018-Survey</a:t>
            </a:r>
            <a:endParaRPr lang="en-US" dirty="0" smtClean="0"/>
          </a:p>
          <a:p>
            <a:pPr marL="0" indent="0" algn="ctr">
              <a:buNone/>
            </a:pP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15200" y="5562600"/>
            <a:ext cx="1538287" cy="919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67337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Osaka"/>
        <a:cs typeface=""/>
      </a:majorFont>
      <a:minorFont>
        <a:latin typeface="Arial"/>
        <a:ea typeface="Osak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Geneva" pitchFamily="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Geneva" pitchFamily="1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2004:Templates:Presentations:Designs:Blank Presentation</Template>
  <TotalTime>4253</TotalTime>
  <Words>1243</Words>
  <Application>Microsoft Macintosh PowerPoint</Application>
  <PresentationFormat>On-screen Show (4:3)</PresentationFormat>
  <Paragraphs>191</Paragraphs>
  <Slides>34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Geneva</vt:lpstr>
      <vt:lpstr>Osaka</vt:lpstr>
      <vt:lpstr>Blank Presentation</vt:lpstr>
      <vt:lpstr>Conducting Applied Research in the Field of Vocational Rehabilitation: Strategies and Challenges in Studying Emerging Models </vt:lpstr>
      <vt:lpstr>PowerPoint Presentation</vt:lpstr>
      <vt:lpstr>Objectives for today</vt:lpstr>
      <vt:lpstr>Applied Research Example: Progressive Employment</vt:lpstr>
      <vt:lpstr>The Pitch</vt:lpstr>
      <vt:lpstr>Partnership</vt:lpstr>
      <vt:lpstr>Methodology</vt:lpstr>
      <vt:lpstr>Step 1. Define and extract</vt:lpstr>
      <vt:lpstr>Step 2. Model replication</vt:lpstr>
      <vt:lpstr>Step 3. Evaluate</vt:lpstr>
      <vt:lpstr>What have we learned?</vt:lpstr>
      <vt:lpstr>Building on success</vt:lpstr>
      <vt:lpstr>SGA Project</vt:lpstr>
      <vt:lpstr>The SGA Project Partners</vt:lpstr>
      <vt:lpstr>The SGA Project Intervention </vt:lpstr>
      <vt:lpstr>Training and Technical Assistance</vt:lpstr>
      <vt:lpstr>Research Activities</vt:lpstr>
      <vt:lpstr>Office-Level Clustered Random Assignment</vt:lpstr>
      <vt:lpstr>Office-Level Clustered Random Assignment</vt:lpstr>
      <vt:lpstr>Impact Evaluation</vt:lpstr>
      <vt:lpstr>Impact Evaluation:  Data Sources</vt:lpstr>
      <vt:lpstr>Process Evaluation</vt:lpstr>
      <vt:lpstr>Process Evaluation:  Data Sources</vt:lpstr>
      <vt:lpstr>Qualitative Follow-Along Study</vt:lpstr>
      <vt:lpstr>Qualitative Study</vt:lpstr>
      <vt:lpstr>Quantitative Data</vt:lpstr>
      <vt:lpstr>Quantitative Data</vt:lpstr>
      <vt:lpstr>Quantitative Data</vt:lpstr>
      <vt:lpstr>Improved Pace and Employment in Kentucky</vt:lpstr>
      <vt:lpstr>Quantitative Data</vt:lpstr>
      <vt:lpstr>Learn more</vt:lpstr>
      <vt:lpstr>PowerPoint Presentation</vt:lpstr>
      <vt:lpstr>PowerPoint Presentation</vt:lpstr>
      <vt:lpstr>PowerPoint Presentation</vt:lpstr>
    </vt:vector>
  </TitlesOfParts>
  <Company>UMass Boston</Company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ICI</dc:creator>
  <cp:lastModifiedBy>Nerlie Blackburn</cp:lastModifiedBy>
  <cp:revision>407</cp:revision>
  <dcterms:created xsi:type="dcterms:W3CDTF">2006-09-27T14:52:23Z</dcterms:created>
  <dcterms:modified xsi:type="dcterms:W3CDTF">2018-09-05T17:11:55Z</dcterms:modified>
</cp:coreProperties>
</file>