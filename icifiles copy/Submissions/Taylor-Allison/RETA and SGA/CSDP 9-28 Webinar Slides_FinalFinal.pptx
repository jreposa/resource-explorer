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4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1.xml" ContentType="application/vnd.openxmlformats-officedocument.presentationml.slide+xml"/>
  <Override PartName="/ppt/slides/slide52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style1.xml" ContentType="application/vnd.ms-office.chartstyle+xml"/>
  <Override PartName="/ppt/charts/chart1.xml" ContentType="application/vnd.openxmlformats-officedocument.drawingml.chart+xml"/>
  <Override PartName="/ppt/charts/colors4.xml" ContentType="application/vnd.ms-office.chartcolorstyl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style4.xml" ContentType="application/vnd.ms-office.chartstyl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olors1.xml" ContentType="application/vnd.ms-office.chartcolorstyle+xml"/>
  <Override PartName="/ppt/charts/style2.xml" ContentType="application/vnd.ms-office.chartstyle+xml"/>
  <Override PartName="/ppt/charts/chart4.xml" ContentType="application/vnd.openxmlformats-officedocument.drawingml.chart+xml"/>
  <Override PartName="/ppt/theme/theme2.xml" ContentType="application/vnd.openxmlformats-officedocument.them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4.xml" ContentType="application/vnd.openxmlformats-officedocument.theme+xml"/>
  <Override PartName="/ppt/theme/theme3.xml" ContentType="application/vnd.openxmlformats-officedocument.theme+xml"/>
  <Override PartName="/ppt/charts/colors2.xml" ContentType="application/vnd.ms-office.chartcolorstyl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64" r:id="rId1"/>
    <p:sldMasterId id="2147483874" r:id="rId2"/>
  </p:sldMasterIdLst>
  <p:notesMasterIdLst>
    <p:notesMasterId r:id="rId55"/>
  </p:notesMasterIdLst>
  <p:handoutMasterIdLst>
    <p:handoutMasterId r:id="rId56"/>
  </p:handoutMasterIdLst>
  <p:sldIdLst>
    <p:sldId id="300" r:id="rId3"/>
    <p:sldId id="301" r:id="rId4"/>
    <p:sldId id="302" r:id="rId5"/>
    <p:sldId id="303" r:id="rId6"/>
    <p:sldId id="30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25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42" r:id="rId30"/>
    <p:sldId id="387" r:id="rId31"/>
    <p:sldId id="388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354" r:id="rId52"/>
    <p:sldId id="410" r:id="rId53"/>
    <p:sldId id="408" r:id="rId54"/>
  </p:sldIdLst>
  <p:sldSz cx="9144000" cy="6858000" type="screen4x3"/>
  <p:notesSz cx="6985000" cy="9283700"/>
  <p:custDataLst>
    <p:tags r:id="rId57"/>
  </p:custDataLst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1200" b="1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200" b="1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200" b="1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200" b="1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200" b="1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ffie Metropoulos" initials="EM" lastIdx="80" clrIdx="0">
    <p:extLst>
      <p:ext uri="{19B8F6BF-5375-455C-9EA6-DF929625EA0E}">
        <p15:presenceInfo xmlns:p15="http://schemas.microsoft.com/office/powerpoint/2012/main" userId="S-1-5-21-484763869-796845957-839522115-222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0000"/>
    <a:srgbClr val="FFCC00"/>
    <a:srgbClr val="F80E62"/>
    <a:srgbClr val="FFFF81"/>
    <a:srgbClr val="00FF00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86338" autoAdjust="0"/>
  </p:normalViewPr>
  <p:slideViewPr>
    <p:cSldViewPr snapToGrid="0">
      <p:cViewPr varScale="1">
        <p:scale>
          <a:sx n="78" d="100"/>
          <a:sy n="78" d="100"/>
        </p:scale>
        <p:origin x="85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750" y="948"/>
      </p:cViewPr>
      <p:guideLst>
        <p:guide orient="horz" pos="2923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63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64" Type="http://schemas.openxmlformats.org/officeDocument/2006/relationships/customXml" Target="../customXml/item2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mathematica.Net\NDrive\Project\06887_DIVR\NJ1\400%20Dissemination\Summit%202017%20Sept\Figures%20for%20summit%20present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Enhanced-service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mtClean="0"/>
                      <a:t>25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4.5449269608764178E-3"/>
                  <c:y val="9.136302847577085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4"/>
                <c:pt idx="0">
                  <c:v>IPE within 30 days</c:v>
                </c:pt>
                <c:pt idx="1">
                  <c:v>Did not exit VR prior to employment</c:v>
                </c:pt>
                <c:pt idx="2">
                  <c:v>Closure with competitive, integrated employment</c:v>
                </c:pt>
                <c:pt idx="3">
                  <c:v>Closure with SGA-level earnings</c:v>
                </c:pt>
              </c:strCache>
            </c:strRef>
          </c:cat>
          <c:val>
            <c:numRef>
              <c:f>Sheet1!$B$4:$B$7</c:f>
              <c:numCache>
                <c:formatCode>General</c:formatCode>
                <c:ptCount val="4"/>
                <c:pt idx="0">
                  <c:v>27</c:v>
                </c:pt>
                <c:pt idx="1">
                  <c:v>59</c:v>
                </c:pt>
                <c:pt idx="2">
                  <c:v>26</c:v>
                </c:pt>
                <c:pt idx="3">
                  <c:v>8.1999999999999993</c:v>
                </c:pt>
              </c:numCache>
            </c:numRef>
          </c:val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Usual-service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4"/>
                <c:pt idx="0">
                  <c:v>IPE within 30 days</c:v>
                </c:pt>
                <c:pt idx="1">
                  <c:v>Did not exit VR prior to employment</c:v>
                </c:pt>
                <c:pt idx="2">
                  <c:v>Closure with competitive, integrated employment</c:v>
                </c:pt>
                <c:pt idx="3">
                  <c:v>Closure with SGA-level earnings</c:v>
                </c:pt>
              </c:strCache>
            </c:strRef>
          </c:cat>
          <c:val>
            <c:numRef>
              <c:f>Sheet1!$C$4:$C$7</c:f>
              <c:numCache>
                <c:formatCode>General</c:formatCode>
                <c:ptCount val="4"/>
                <c:pt idx="0">
                  <c:v>10</c:v>
                </c:pt>
                <c:pt idx="1">
                  <c:v>56</c:v>
                </c:pt>
                <c:pt idx="2">
                  <c:v>17</c:v>
                </c:pt>
                <c:pt idx="3">
                  <c:v>2.5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24624048"/>
        <c:axId val="624624440"/>
      </c:barChart>
      <c:catAx>
        <c:axId val="624624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24624440"/>
        <c:crosses val="autoZero"/>
        <c:auto val="1"/>
        <c:lblAlgn val="ctr"/>
        <c:lblOffset val="100"/>
        <c:noMultiLvlLbl val="0"/>
      </c:catAx>
      <c:valAx>
        <c:axId val="624624440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24624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Sheet1!$F$3</c:f>
              <c:strCache>
                <c:ptCount val="1"/>
                <c:pt idx="0">
                  <c:v>Enhanced-service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4"/>
                <c:pt idx="0">
                  <c:v>IPE within 30 days</c:v>
                </c:pt>
                <c:pt idx="1">
                  <c:v>Did not exit VR prior to employment</c:v>
                </c:pt>
                <c:pt idx="2">
                  <c:v>Closed with competitive, integrated employment </c:v>
                </c:pt>
                <c:pt idx="3">
                  <c:v>Closed with SGA-level earnings </c:v>
                </c:pt>
              </c:strCache>
            </c:strRef>
          </c:cat>
          <c:val>
            <c:numRef>
              <c:f>Sheet1!$F$4:$F$7</c:f>
              <c:numCache>
                <c:formatCode>General</c:formatCode>
                <c:ptCount val="4"/>
                <c:pt idx="0">
                  <c:v>35</c:v>
                </c:pt>
                <c:pt idx="1">
                  <c:v>68</c:v>
                </c:pt>
                <c:pt idx="2">
                  <c:v>28</c:v>
                </c:pt>
                <c:pt idx="3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Sheet1!$G$3</c:f>
              <c:strCache>
                <c:ptCount val="1"/>
                <c:pt idx="0">
                  <c:v>Usual-service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4"/>
                <c:pt idx="0">
                  <c:v>IPE within 30 days</c:v>
                </c:pt>
                <c:pt idx="1">
                  <c:v>Did not exit VR prior to employment</c:v>
                </c:pt>
                <c:pt idx="2">
                  <c:v>Closed with competitive, integrated employment </c:v>
                </c:pt>
                <c:pt idx="3">
                  <c:v>Closed with SGA-level earnings </c:v>
                </c:pt>
              </c:strCache>
            </c:strRef>
          </c:cat>
          <c:val>
            <c:numRef>
              <c:f>Sheet1!$G$4:$G$7</c:f>
              <c:numCache>
                <c:formatCode>General</c:formatCode>
                <c:ptCount val="4"/>
                <c:pt idx="0">
                  <c:v>27</c:v>
                </c:pt>
                <c:pt idx="1">
                  <c:v>62</c:v>
                </c:pt>
                <c:pt idx="2">
                  <c:v>22</c:v>
                </c:pt>
                <c:pt idx="3">
                  <c:v>4.2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23703096"/>
        <c:axId val="623703488"/>
      </c:barChart>
      <c:catAx>
        <c:axId val="6237030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23703488"/>
        <c:crosses val="autoZero"/>
        <c:auto val="1"/>
        <c:lblAlgn val="ctr"/>
        <c:lblOffset val="100"/>
        <c:noMultiLvlLbl val="0"/>
      </c:catAx>
      <c:valAx>
        <c:axId val="623703488"/>
        <c:scaling>
          <c:orientation val="minMax"/>
          <c:max val="70"/>
        </c:scaling>
        <c:delete val="0"/>
        <c:axPos val="t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400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623703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Enhanced service office applicants</c:v>
                </c:pt>
              </c:strCache>
            </c:strRef>
          </c:tx>
          <c:spPr>
            <a:solidFill>
              <a:srgbClr val="E700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Eligibility determination within 2 days of application</c:v>
                </c:pt>
                <c:pt idx="1">
                  <c:v>Signed IPE within 30 days (of those with an IPE)</c:v>
                </c:pt>
                <c:pt idx="2">
                  <c:v>Benefits summary and analysis</c:v>
                </c:pt>
                <c:pt idx="3">
                  <c:v>Initial teaming meeting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39</c:v>
                </c:pt>
                <c:pt idx="2">
                  <c:v>47</c:v>
                </c:pt>
                <c:pt idx="3">
                  <c:v>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23704272"/>
        <c:axId val="200037920"/>
      </c:barChart>
      <c:catAx>
        <c:axId val="6237042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037920"/>
        <c:crosses val="autoZero"/>
        <c:auto val="1"/>
        <c:lblAlgn val="ctr"/>
        <c:lblOffset val="100"/>
        <c:noMultiLvlLbl val="0"/>
      </c:catAx>
      <c:valAx>
        <c:axId val="200037920"/>
        <c:scaling>
          <c:orientation val="minMax"/>
          <c:max val="100"/>
        </c:scaling>
        <c:delete val="0"/>
        <c:axPos val="t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70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Enhanced service office applicants</c:v>
                </c:pt>
              </c:strCache>
            </c:strRef>
          </c:tx>
          <c:spPr>
            <a:solidFill>
              <a:srgbClr val="E700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Eligibility determination within 2 days of application</c:v>
                </c:pt>
                <c:pt idx="1">
                  <c:v>Signed IPE within 30 days (of those with an IPE)</c:v>
                </c:pt>
                <c:pt idx="2">
                  <c:v>Financial plan</c:v>
                </c:pt>
                <c:pt idx="3">
                  <c:v>Initial teaming meeting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44</c:v>
                </c:pt>
                <c:pt idx="2">
                  <c:v>48</c:v>
                </c:pt>
                <c:pt idx="3">
                  <c:v>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0038704"/>
        <c:axId val="200039096"/>
      </c:barChart>
      <c:catAx>
        <c:axId val="2000387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039096"/>
        <c:crosses val="autoZero"/>
        <c:auto val="1"/>
        <c:lblAlgn val="ctr"/>
        <c:lblOffset val="100"/>
        <c:noMultiLvlLbl val="0"/>
      </c:catAx>
      <c:valAx>
        <c:axId val="200039096"/>
        <c:scaling>
          <c:orientation val="minMax"/>
          <c:max val="100"/>
        </c:scaling>
        <c:delete val="0"/>
        <c:axPos val="t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038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104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00088"/>
            <a:ext cx="4756150" cy="3567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9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257976" y="8561988"/>
            <a:ext cx="728925" cy="508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7" tIns="46354" rIns="92707" bIns="46354" numCol="1" anchor="ctr" anchorCtr="0" compatLnSpc="1">
            <a:prstTxWarp prst="textNoShape">
              <a:avLst/>
            </a:prstTxWarp>
          </a:bodyPr>
          <a:lstStyle>
            <a:lvl1pPr algn="r" defTabSz="927100">
              <a:spcBef>
                <a:spcPct val="0"/>
              </a:spcBef>
              <a:defRPr sz="14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A2EC10AC-6804-4420-81E7-A8E1421417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664" y="4439962"/>
            <a:ext cx="5143673" cy="4129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707" tIns="46354" rIns="92707" bIns="463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26538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899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8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84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44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D313F-63BD-DA45-B361-F8C94543D256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746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548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99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04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494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These</a:t>
            </a:r>
            <a:r>
              <a:rPr lang="en-US" baseline="0" dirty="0" smtClean="0"/>
              <a:t> are process measures; they’re targets, not laws</a:t>
            </a:r>
            <a:endParaRPr lang="en-US" dirty="0" smtClean="0"/>
          </a:p>
          <a:p>
            <a:r>
              <a:rPr lang="en-US" dirty="0" smtClean="0"/>
              <a:t>T group didn’t get to half;</a:t>
            </a:r>
            <a:r>
              <a:rPr lang="en-US" baseline="0" dirty="0" smtClean="0"/>
              <a:t> but not expecting 100%; counselors need to be able to deliver individualized approach; not all clients need everything</a:t>
            </a:r>
          </a:p>
          <a:p>
            <a:r>
              <a:rPr lang="en-US" baseline="0" dirty="0" smtClean="0"/>
              <a:t>This isn’t IPS—we tested a model, but don’t know which aspects are best, what right targets are</a:t>
            </a:r>
          </a:p>
          <a:p>
            <a:r>
              <a:rPr lang="en-US" baseline="0" dirty="0" smtClean="0"/>
              <a:t>Broadly, the demonstration was about adding capacity within an office—capacity to increase pacing, to develop teaming, </a:t>
            </a:r>
            <a:r>
              <a:rPr lang="en-US" baseline="0" dirty="0" err="1" smtClean="0"/>
              <a:t>etc</a:t>
            </a:r>
            <a:r>
              <a:rPr lang="en-US" baseline="0" dirty="0" smtClean="0"/>
              <a:t>…</a:t>
            </a:r>
          </a:p>
          <a:p>
            <a:r>
              <a:rPr lang="en-US" baseline="0" dirty="0" smtClean="0"/>
              <a:t>Raises question whether impacts would be greater with better implementation of innovations</a:t>
            </a:r>
          </a:p>
          <a:p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18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983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33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Neither</a:t>
            </a:r>
            <a:r>
              <a:rPr lang="en-US" baseline="0" dirty="0" smtClean="0"/>
              <a:t> state is implementing the model lock, stock, and barrel, but they are adapting aspects of the innovations, somewhat informally – trying to maintain the office staffing that was part of </a:t>
            </a:r>
            <a:r>
              <a:rPr lang="en-US" baseline="0" smtClean="0"/>
              <a:t>the demonstration </a:t>
            </a:r>
            <a:r>
              <a:rPr lang="en-US" baseline="0" dirty="0" smtClean="0"/>
              <a:t>enhanced offices, for instance.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34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00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48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25613"/>
            <a:ext cx="7772400" cy="1190625"/>
          </a:xfrm>
          <a:effectLst/>
        </p:spPr>
        <p:txBody>
          <a:bodyPr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276600"/>
            <a:ext cx="6400800" cy="1511300"/>
          </a:xfrm>
          <a:effectLst/>
        </p:spPr>
        <p:txBody>
          <a:bodyPr anchor="t" anchorCtr="0"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2050" name="Picture 2" descr="C:\Users\Wgarrett\AppData\Local\Microsoft\Windows\Temporary Internet Files\Content.Outlook\CBT9801S\CSDP 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5675" y="5648359"/>
            <a:ext cx="2326325" cy="857067"/>
          </a:xfrm>
          <a:prstGeom prst="rect">
            <a:avLst/>
          </a:prstGeom>
          <a:noFill/>
        </p:spPr>
      </p:pic>
      <p:pic>
        <p:nvPicPr>
          <p:cNvPr id="2052" name="Picture 4" descr="Image result for institute for community inclus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092" y="5648359"/>
            <a:ext cx="1524653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36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1625" y="247316"/>
            <a:ext cx="844867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defRPr sz="2400"/>
            </a:lvl1pPr>
            <a:lvl2pPr>
              <a:spcBef>
                <a:spcPts val="300"/>
              </a:spcBef>
              <a:spcAft>
                <a:spcPts val="300"/>
              </a:spcAft>
              <a:defRPr sz="2000"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47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2980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841500"/>
            <a:ext cx="4044950" cy="411480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841500"/>
            <a:ext cx="4044950" cy="411480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59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5957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500"/>
            </a:lvl1pPr>
            <a:lvl2pPr>
              <a:defRPr sz="2100"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1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1475" y="203200"/>
            <a:ext cx="2111375" cy="5753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175" y="203200"/>
            <a:ext cx="6184900" cy="5753100"/>
          </a:xfrm>
        </p:spPr>
        <p:txBody>
          <a:bodyPr vert="eaVert"/>
          <a:lstStyle>
            <a:lvl1pPr>
              <a:defRPr sz="2500"/>
            </a:lvl1pPr>
            <a:lvl2pPr>
              <a:defRPr sz="2100"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9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5" y="203200"/>
            <a:ext cx="844867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841500"/>
            <a:ext cx="8242300" cy="411480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4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pyright 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5" y="203200"/>
            <a:ext cx="84486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841500"/>
            <a:ext cx="8242300" cy="411480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9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25613"/>
            <a:ext cx="7772400" cy="1190625"/>
          </a:xfrm>
          <a:effectLst/>
        </p:spPr>
        <p:txBody>
          <a:bodyPr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276600"/>
            <a:ext cx="6400800" cy="1511300"/>
          </a:xfrm>
          <a:effectLst/>
        </p:spPr>
        <p:txBody>
          <a:bodyPr anchor="t" anchorCtr="0"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2" descr="C:\Users\Wgarrett\AppData\Local\Microsoft\Windows\Temporary Internet Files\Content.Outlook\CBT9801S\CSDP 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5675" y="5648359"/>
            <a:ext cx="2326325" cy="857067"/>
          </a:xfrm>
          <a:prstGeom prst="rect">
            <a:avLst/>
          </a:prstGeom>
          <a:noFill/>
        </p:spPr>
      </p:pic>
      <p:pic>
        <p:nvPicPr>
          <p:cNvPr id="8" name="Picture 4" descr="Image result for institute for community inclus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092" y="5648359"/>
            <a:ext cx="1524653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73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defRPr/>
            </a:lvl1pPr>
            <a:lvl2pPr>
              <a:spcBef>
                <a:spcPts val="300"/>
              </a:spcBef>
              <a:spcAft>
                <a:spcPts val="300"/>
              </a:spcAft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15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3528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841500"/>
            <a:ext cx="40449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841500"/>
            <a:ext cx="40449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97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7714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6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1475" y="203200"/>
            <a:ext cx="2111375" cy="5753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175" y="203200"/>
            <a:ext cx="6184900" cy="5753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5" y="203200"/>
            <a:ext cx="84486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841500"/>
            <a:ext cx="82423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99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pyright 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5" y="203200"/>
            <a:ext cx="84486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841500"/>
            <a:ext cx="82423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1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5707" y="2130425"/>
            <a:ext cx="5810244" cy="406519"/>
          </a:xfrm>
          <a:ln>
            <a:noFill/>
          </a:ln>
        </p:spPr>
        <p:txBody>
          <a:bodyPr>
            <a:normAutofit/>
          </a:bodyPr>
          <a:lstStyle>
            <a:lvl1pPr algn="l">
              <a:defRPr sz="2600" b="1" baseline="0">
                <a:solidFill>
                  <a:srgbClr val="10335A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Presentation Title: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95707" y="3851910"/>
            <a:ext cx="5334480" cy="59478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0" indent="0" algn="l">
              <a:buNone/>
              <a:defRPr sz="1500" baseline="0">
                <a:solidFill>
                  <a:srgbClr val="10335A"/>
                </a:solidFill>
                <a:latin typeface="Arial Blac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at the xxx Conference, city, state (location)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2895707" y="3718988"/>
            <a:ext cx="5334480" cy="79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2895707" y="4910663"/>
            <a:ext cx="5334480" cy="79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31339" y="6155267"/>
            <a:ext cx="8675593" cy="794"/>
          </a:xfrm>
          <a:prstGeom prst="line">
            <a:avLst/>
          </a:prstGeom>
          <a:ln w="12700" cap="flat" cmpd="sng" algn="ctr">
            <a:solidFill>
              <a:srgbClr val="D2243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2826956" y="2629291"/>
            <a:ext cx="5806963" cy="926295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600" b="0">
                <a:solidFill>
                  <a:srgbClr val="10335A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600">
                <a:latin typeface="Arial" pitchFamily="34" charset="0"/>
                <a:cs typeface="Arial" pitchFamily="34" charset="0"/>
              </a:defRPr>
            </a:lvl2pPr>
            <a:lvl3pPr>
              <a:defRPr sz="2600">
                <a:latin typeface="Arial" pitchFamily="34" charset="0"/>
                <a:cs typeface="Arial" pitchFamily="34" charset="0"/>
              </a:defRPr>
            </a:lvl3pPr>
            <a:lvl4pPr>
              <a:defRPr sz="2600">
                <a:latin typeface="Arial" pitchFamily="34" charset="0"/>
                <a:cs typeface="Arial" pitchFamily="34" charset="0"/>
              </a:defRPr>
            </a:lvl4pPr>
            <a:lvl5pPr>
              <a:defRPr sz="26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Subtitle (after colon) in this font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" hasCustomPrompt="1"/>
          </p:nvPr>
        </p:nvSpPr>
        <p:spPr>
          <a:xfrm>
            <a:off x="2826957" y="5132388"/>
            <a:ext cx="5806963" cy="914400"/>
          </a:xfrm>
          <a:ln>
            <a:noFill/>
          </a:ln>
        </p:spPr>
        <p:txBody>
          <a:bodyPr>
            <a:normAutofit/>
          </a:bodyPr>
          <a:lstStyle>
            <a:lvl1pPr>
              <a:spcBef>
                <a:spcPct val="20000"/>
              </a:spcBef>
              <a:buNone/>
              <a:defRPr sz="1600">
                <a:solidFill>
                  <a:srgbClr val="10335A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sz="160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Author • Author</a:t>
            </a:r>
            <a:r>
              <a:rPr lang="en-US" sz="1600" dirty="0" smtClean="0">
                <a:latin typeface="Arial"/>
                <a:cs typeface="Arial"/>
              </a:rPr>
              <a:t> • Author</a:t>
            </a:r>
            <a:endParaRPr kumimoji="0" lang="en-US" sz="160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lvl="0">
              <a:spcBef>
                <a:spcPct val="20000"/>
              </a:spcBef>
            </a:pPr>
            <a:r>
              <a:rPr lang="en-US" sz="1600" dirty="0" smtClean="0">
                <a:latin typeface="Arial"/>
                <a:cs typeface="Arial"/>
              </a:rPr>
              <a:t>Author • Author • Author</a:t>
            </a:r>
            <a:endParaRPr kumimoji="0" lang="en-US" sz="160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2826957" y="4610100"/>
            <a:ext cx="5334480" cy="335598"/>
          </a:xfrm>
          <a:ln>
            <a:noFill/>
          </a:ln>
        </p:spPr>
        <p:txBody>
          <a:bodyPr>
            <a:normAutofit/>
          </a:bodyPr>
          <a:lstStyle>
            <a:lvl1pPr>
              <a:buNone/>
              <a:defRPr sz="1500" baseline="0">
                <a:solidFill>
                  <a:srgbClr val="10335A"/>
                </a:solidFill>
                <a:latin typeface="Arial Black" pitchFamily="34" charset="0"/>
              </a:defRPr>
            </a:lvl1pPr>
          </a:lstStyle>
          <a:p>
            <a:pPr lvl="0"/>
            <a:r>
              <a:rPr lang="en-US" dirty="0" smtClean="0"/>
              <a:t>Enter conference date</a:t>
            </a:r>
          </a:p>
        </p:txBody>
      </p:sp>
      <p:pic>
        <p:nvPicPr>
          <p:cNvPr id="14" name="Picture 2" descr="N:\Corporate\Communications\Images\logos\_Mathematica Policy Research Logo\Mathematica-logo-RG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" y="207437"/>
            <a:ext cx="1764430" cy="584242"/>
          </a:xfrm>
          <a:prstGeom prst="rect">
            <a:avLst/>
          </a:prstGeom>
          <a:noFill/>
        </p:spPr>
      </p:pic>
      <p:cxnSp>
        <p:nvCxnSpPr>
          <p:cNvPr id="15" name="Straight Connector 14"/>
          <p:cNvCxnSpPr/>
          <p:nvPr/>
        </p:nvCxnSpPr>
        <p:spPr>
          <a:xfrm flipV="1">
            <a:off x="231339" y="924449"/>
            <a:ext cx="8675593" cy="794"/>
          </a:xfrm>
          <a:prstGeom prst="line">
            <a:avLst/>
          </a:prstGeom>
          <a:ln w="50800" cap="flat" cmpd="sng" algn="ctr">
            <a:solidFill>
              <a:srgbClr val="E7003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V="1">
            <a:off x="2895707" y="3718988"/>
            <a:ext cx="5334480" cy="79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flipV="1">
            <a:off x="2895707" y="4910663"/>
            <a:ext cx="5334480" cy="79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231339" y="6155267"/>
            <a:ext cx="8675593" cy="794"/>
          </a:xfrm>
          <a:prstGeom prst="line">
            <a:avLst/>
          </a:prstGeom>
          <a:ln w="12700" cap="flat" cmpd="sng" algn="ctr">
            <a:solidFill>
              <a:srgbClr val="D2243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N:\Corporate\Communications\Images\logos\_Mathematica Policy Research Logo\Mathematica-logo-RGB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43840" y="207437"/>
            <a:ext cx="1764430" cy="584242"/>
          </a:xfrm>
          <a:prstGeom prst="rect">
            <a:avLst/>
          </a:prstGeom>
          <a:noFill/>
        </p:spPr>
      </p:pic>
      <p:cxnSp>
        <p:nvCxnSpPr>
          <p:cNvPr id="25" name="Straight Connector 24"/>
          <p:cNvCxnSpPr/>
          <p:nvPr userDrawn="1"/>
        </p:nvCxnSpPr>
        <p:spPr>
          <a:xfrm flipV="1">
            <a:off x="231339" y="924449"/>
            <a:ext cx="8675593" cy="794"/>
          </a:xfrm>
          <a:prstGeom prst="line">
            <a:avLst/>
          </a:prstGeom>
          <a:ln w="50800" cap="flat" cmpd="sng" algn="ctr">
            <a:solidFill>
              <a:srgbClr val="E7003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351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sert Text--One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10335A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37660" y="6377940"/>
            <a:ext cx="914400" cy="3429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</a:pPr>
            <a:fld id="{9A1C2BF7-17A1-4718-8BD8-563E813054B3}" type="slidenum">
              <a:rPr lang="en-US" b="0" smtClean="0">
                <a:solidFill>
                  <a:srgbClr val="10335A"/>
                </a:solidFill>
                <a:latin typeface="Arial"/>
                <a:cs typeface="Arial Black"/>
              </a:rPr>
              <a:pPr algn="ctr">
                <a:spcBef>
                  <a:spcPct val="20000"/>
                </a:spcBef>
              </a:pPr>
              <a:t>‹#›</a:t>
            </a:fld>
            <a:endParaRPr lang="en-US" b="0" dirty="0" smtClean="0">
              <a:solidFill>
                <a:srgbClr val="10335A"/>
              </a:solidFill>
              <a:latin typeface="Arial"/>
              <a:cs typeface="Arial Black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7200" y="1173480"/>
            <a:ext cx="8229599" cy="4846320"/>
          </a:xfrm>
          <a:ln>
            <a:noFill/>
          </a:ln>
        </p:spPr>
        <p:txBody>
          <a:bodyPr/>
          <a:lstStyle>
            <a:lvl1pPr marL="228600" indent="-228600">
              <a:spcBef>
                <a:spcPts val="1000"/>
              </a:spcBef>
              <a:spcAft>
                <a:spcPts val="600"/>
              </a:spcAft>
              <a:buClr>
                <a:srgbClr val="10335A"/>
              </a:buClr>
              <a:buSzPct val="115000"/>
              <a:defRPr sz="2400" b="1">
                <a:solidFill>
                  <a:srgbClr val="10335A"/>
                </a:solidFill>
                <a:latin typeface="Arial Bold" pitchFamily="34" charset="0"/>
                <a:cs typeface="Arial Bold" pitchFamily="34" charset="0"/>
              </a:defRPr>
            </a:lvl1pPr>
            <a:lvl2pPr marL="457200" indent="-228600">
              <a:spcBef>
                <a:spcPts val="300"/>
              </a:spcBef>
              <a:spcAft>
                <a:spcPts val="300"/>
              </a:spcAft>
              <a:buClr>
                <a:srgbClr val="10335A"/>
              </a:buClr>
              <a:defRPr sz="2000" b="1">
                <a:solidFill>
                  <a:srgbClr val="10335A"/>
                </a:solidFill>
                <a:latin typeface="Arial Bold" pitchFamily="34" charset="0"/>
                <a:cs typeface="Arial Bold" pitchFamily="34" charset="0"/>
              </a:defRPr>
            </a:lvl2pPr>
            <a:lvl3pPr marL="685800" indent="-228600">
              <a:spcBef>
                <a:spcPts val="300"/>
              </a:spcBef>
              <a:buClr>
                <a:srgbClr val="10335A"/>
              </a:buClr>
              <a:defRPr sz="1800">
                <a:solidFill>
                  <a:srgbClr val="10335A"/>
                </a:solidFill>
              </a:defRPr>
            </a:lvl3pPr>
            <a:lvl4pPr marL="1316038" indent="-346075">
              <a:spcBef>
                <a:spcPts val="300"/>
              </a:spcBef>
              <a:defRPr sz="1400"/>
            </a:lvl4pPr>
            <a:lvl5pPr marL="1660525" indent="-344488">
              <a:spcBef>
                <a:spcPts val="300"/>
              </a:spcBef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pic>
        <p:nvPicPr>
          <p:cNvPr id="6" name="Picture 2" descr="N:\Corporate\Communications\Images\logos\_Mathematica Policy Research Logo\Mathematica-logo-RGB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451" y="6270041"/>
            <a:ext cx="1380760" cy="457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 userDrawn="1"/>
        </p:nvSpPr>
        <p:spPr>
          <a:xfrm>
            <a:off x="4137660" y="6377940"/>
            <a:ext cx="914400" cy="3429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</a:pPr>
            <a:fld id="{9A1C2BF7-17A1-4718-8BD8-563E813054B3}" type="slidenum">
              <a:rPr lang="en-US" b="0" smtClean="0">
                <a:solidFill>
                  <a:srgbClr val="10335A"/>
                </a:solidFill>
                <a:latin typeface="Arial"/>
                <a:cs typeface="Arial Black"/>
              </a:rPr>
              <a:pPr algn="ctr">
                <a:spcBef>
                  <a:spcPct val="20000"/>
                </a:spcBef>
              </a:pPr>
              <a:t>‹#›</a:t>
            </a:fld>
            <a:endParaRPr lang="en-US" b="0" dirty="0" smtClean="0">
              <a:solidFill>
                <a:srgbClr val="10335A"/>
              </a:solidFill>
              <a:latin typeface="Arial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847941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84175" y="203200"/>
            <a:ext cx="84486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841500"/>
            <a:ext cx="82423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065" name="Line 41"/>
          <p:cNvSpPr>
            <a:spLocks noChangeShapeType="1"/>
          </p:cNvSpPr>
          <p:nvPr/>
        </p:nvSpPr>
        <p:spPr bwMode="auto">
          <a:xfrm>
            <a:off x="393700" y="1377950"/>
            <a:ext cx="8461375" cy="1588"/>
          </a:xfrm>
          <a:prstGeom prst="line">
            <a:avLst/>
          </a:prstGeom>
          <a:noFill/>
          <a:ln w="38100">
            <a:solidFill>
              <a:srgbClr val="00436E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  <a:defRPr/>
            </a:pPr>
            <a:endParaRPr lang="en-US" sz="2400" b="0" dirty="0">
              <a:solidFill>
                <a:srgbClr val="151515"/>
              </a:solidFill>
              <a:latin typeface="Times New Roman" charset="0"/>
            </a:endParaRPr>
          </a:p>
        </p:txBody>
      </p:sp>
      <p:sp>
        <p:nvSpPr>
          <p:cNvPr id="1070" name="Line 46"/>
          <p:cNvSpPr>
            <a:spLocks noChangeShapeType="1"/>
          </p:cNvSpPr>
          <p:nvPr/>
        </p:nvSpPr>
        <p:spPr bwMode="auto">
          <a:xfrm>
            <a:off x="222250" y="6071898"/>
            <a:ext cx="870585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lang="en-US" sz="2400" b="0" dirty="0">
              <a:solidFill>
                <a:srgbClr val="151515"/>
              </a:solidFill>
              <a:latin typeface="Times New Roman" charset="0"/>
            </a:endParaRPr>
          </a:p>
        </p:txBody>
      </p:sp>
      <p:pic>
        <p:nvPicPr>
          <p:cNvPr id="1026" name="Picture 2" descr="C:\Users\Wgarrett\AppData\Local\Microsoft\Windows\Temporary Internet Files\Content.Outlook\CBT9801S\CSDP logo.jpg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57998" y="6147099"/>
            <a:ext cx="1535826" cy="565831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 userDrawn="1"/>
        </p:nvSpPr>
        <p:spPr>
          <a:xfrm>
            <a:off x="4274050" y="6441897"/>
            <a:ext cx="5239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FB987C3-7E0F-4D0E-9AF2-F723B518BAC8}" type="slidenum">
              <a:rPr lang="en-US" b="0" smtClean="0">
                <a:solidFill>
                  <a:srgbClr val="151515"/>
                </a:solidFill>
              </a:rPr>
              <a:pPr/>
              <a:t>‹#›</a:t>
            </a:fld>
            <a:endParaRPr lang="en-US" b="0" dirty="0">
              <a:solidFill>
                <a:srgbClr val="151515"/>
              </a:solidFill>
            </a:endParaRPr>
          </a:p>
        </p:txBody>
      </p:sp>
      <p:pic>
        <p:nvPicPr>
          <p:cNvPr id="3" name="Picture 2" descr="Image result for institute for community inclusion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677" y="6147099"/>
            <a:ext cx="1005623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71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●"/>
        <a:defRPr sz="25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–"/>
        <a:defRPr sz="2100" b="1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▪"/>
        <a:defRPr sz="2000" b="1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Font typeface="Wingdings" pitchFamily="2" charset="2"/>
        <a:defRPr sz="2000" b="1">
          <a:solidFill>
            <a:schemeClr val="bg2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Font typeface="Wingdings" pitchFamily="2" charset="2"/>
        <a:defRPr sz="2000" b="1">
          <a:solidFill>
            <a:schemeClr val="bg2"/>
          </a:solidFill>
          <a:latin typeface="+mn-lt"/>
        </a:defRPr>
      </a:lvl5pPr>
      <a:lvl6pPr marL="25146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84175" y="203200"/>
            <a:ext cx="84486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b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841500"/>
            <a:ext cx="82423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65" name="Line 41"/>
          <p:cNvSpPr>
            <a:spLocks noChangeShapeType="1"/>
          </p:cNvSpPr>
          <p:nvPr/>
        </p:nvSpPr>
        <p:spPr bwMode="auto">
          <a:xfrm>
            <a:off x="393700" y="1377950"/>
            <a:ext cx="8461375" cy="1588"/>
          </a:xfrm>
          <a:prstGeom prst="line">
            <a:avLst/>
          </a:prstGeom>
          <a:noFill/>
          <a:ln w="38100">
            <a:solidFill>
              <a:srgbClr val="00436E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spcBef>
                <a:spcPct val="0"/>
              </a:spcBef>
              <a:defRPr/>
            </a:pPr>
            <a:endParaRPr lang="en-US" sz="2400" b="0" dirty="0">
              <a:solidFill>
                <a:srgbClr val="151515"/>
              </a:solidFill>
              <a:latin typeface="Times New Roman" charset="0"/>
            </a:endParaRPr>
          </a:p>
        </p:txBody>
      </p:sp>
      <p:sp>
        <p:nvSpPr>
          <p:cNvPr id="1070" name="Line 46"/>
          <p:cNvSpPr>
            <a:spLocks noChangeShapeType="1"/>
          </p:cNvSpPr>
          <p:nvPr/>
        </p:nvSpPr>
        <p:spPr bwMode="auto">
          <a:xfrm>
            <a:off x="222250" y="6071898"/>
            <a:ext cx="870585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lang="en-US" sz="2400" b="0" dirty="0">
              <a:solidFill>
                <a:srgbClr val="151515"/>
              </a:solidFill>
              <a:latin typeface="Times New Roman" charset="0"/>
            </a:endParaRPr>
          </a:p>
        </p:txBody>
      </p:sp>
      <p:pic>
        <p:nvPicPr>
          <p:cNvPr id="1026" name="Picture 2" descr="C:\Users\Wgarrett\AppData\Local\Microsoft\Windows\Temporary Internet Files\Content.Outlook\CBT9801S\CSDP logo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57998" y="6147099"/>
            <a:ext cx="1535826" cy="56583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 userDrawn="1"/>
        </p:nvSpPr>
        <p:spPr>
          <a:xfrm>
            <a:off x="4137660" y="6377940"/>
            <a:ext cx="914400" cy="3429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</a:pPr>
            <a:fld id="{9A1C2BF7-17A1-4718-8BD8-563E813054B3}" type="slidenum">
              <a:rPr lang="en-US" b="0" smtClean="0">
                <a:solidFill>
                  <a:srgbClr val="10335A"/>
                </a:solidFill>
                <a:latin typeface="Arial"/>
                <a:cs typeface="Arial Black"/>
              </a:rPr>
              <a:pPr algn="ctr">
                <a:spcBef>
                  <a:spcPct val="20000"/>
                </a:spcBef>
              </a:pPr>
              <a:t>‹#›</a:t>
            </a:fld>
            <a:endParaRPr lang="en-US" b="0" dirty="0" smtClean="0">
              <a:solidFill>
                <a:srgbClr val="10335A"/>
              </a:solidFill>
              <a:latin typeface="Arial"/>
              <a:cs typeface="Arial Black"/>
            </a:endParaRPr>
          </a:p>
        </p:txBody>
      </p:sp>
      <p:pic>
        <p:nvPicPr>
          <p:cNvPr id="8" name="Picture 7" descr="Image result for institute for community inclusio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677" y="6147099"/>
            <a:ext cx="1005623" cy="5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93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Arial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●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–"/>
        <a:defRPr sz="2400" b="1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F1141"/>
        </a:buClr>
        <a:buFont typeface="Arial" pitchFamily="34" charset="0"/>
        <a:buChar char="▪"/>
        <a:defRPr sz="2000" b="1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Font typeface="Wingdings" pitchFamily="2" charset="2"/>
        <a:defRPr sz="2000" b="1">
          <a:solidFill>
            <a:schemeClr val="bg2"/>
          </a:solidFill>
          <a:latin typeface="+mn-lt"/>
        </a:defRPr>
      </a:lvl4pPr>
      <a:lvl5pPr marL="20574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Font typeface="Wingdings" pitchFamily="2" charset="2"/>
        <a:defRPr sz="2000" b="1">
          <a:solidFill>
            <a:schemeClr val="bg2"/>
          </a:solidFill>
          <a:latin typeface="+mn-lt"/>
        </a:defRPr>
      </a:lvl5pPr>
      <a:lvl6pPr marL="25146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CC3300"/>
        </a:buClr>
        <a:buSzPct val="75000"/>
        <a:buFont typeface="Wingdings" pitchFamily="2" charset="2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685800" y="399557"/>
            <a:ext cx="7772400" cy="954750"/>
          </a:xfrm>
        </p:spPr>
        <p:txBody>
          <a:bodyPr/>
          <a:lstStyle/>
          <a:p>
            <a:r>
              <a:rPr lang="en-US" sz="2800" dirty="0" smtClean="0"/>
              <a:t>Innovating Services, Improving Outcomes: A VR Model for Serving SSDI Clients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sz="quarter" idx="1"/>
          </p:nvPr>
        </p:nvSpPr>
        <p:spPr>
          <a:xfrm>
            <a:off x="444843" y="1564373"/>
            <a:ext cx="8254314" cy="1511300"/>
          </a:xfrm>
        </p:spPr>
        <p:txBody>
          <a:bodyPr/>
          <a:lstStyle/>
          <a:p>
            <a:r>
              <a:rPr lang="en-US" sz="1800" dirty="0" smtClean="0"/>
              <a:t>Presenters</a:t>
            </a:r>
          </a:p>
          <a:p>
            <a:endParaRPr lang="en-US" sz="1800" dirty="0" smtClean="0"/>
          </a:p>
          <a:p>
            <a:r>
              <a:rPr lang="en-US" sz="1800" dirty="0" smtClean="0"/>
              <a:t>Susan Foley and Joe Marrone</a:t>
            </a:r>
          </a:p>
          <a:p>
            <a:r>
              <a:rPr lang="en-US" sz="1800" dirty="0" smtClean="0"/>
              <a:t>Institute for Community Inclusion</a:t>
            </a:r>
          </a:p>
          <a:p>
            <a:endParaRPr lang="en-US" sz="1800" dirty="0" smtClean="0"/>
          </a:p>
          <a:p>
            <a:r>
              <a:rPr lang="en-US" sz="1800" dirty="0" smtClean="0"/>
              <a:t>Purvi Sevak and Todd Honeycutt </a:t>
            </a:r>
          </a:p>
          <a:p>
            <a:r>
              <a:rPr lang="en-US" sz="1800" dirty="0" smtClean="0"/>
              <a:t>Mathematica Policy Research</a:t>
            </a:r>
          </a:p>
          <a:p>
            <a:endParaRPr lang="en-US" sz="1800" dirty="0" smtClean="0"/>
          </a:p>
          <a:p>
            <a:r>
              <a:rPr lang="en-US" sz="1800" dirty="0" smtClean="0"/>
              <a:t>Discussant</a:t>
            </a:r>
          </a:p>
          <a:p>
            <a:endParaRPr lang="en-US" sz="1800" dirty="0" smtClean="0"/>
          </a:p>
          <a:p>
            <a:r>
              <a:rPr lang="en-US" sz="1800" dirty="0" smtClean="0"/>
              <a:t>Steve Wooderson</a:t>
            </a:r>
          </a:p>
          <a:p>
            <a:r>
              <a:rPr lang="en-US" sz="1800" dirty="0" smtClean="0"/>
              <a:t>Council of State Administrators of Vocational Rehabilitation</a:t>
            </a:r>
          </a:p>
          <a:p>
            <a:endParaRPr lang="en-US" sz="1800" dirty="0" smtClean="0"/>
          </a:p>
          <a:p>
            <a:r>
              <a:rPr lang="en-US" sz="1800" dirty="0" smtClean="0"/>
              <a:t>September 28, 2017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470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Welcome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47234" y="4101874"/>
            <a:ext cx="595745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151515"/>
                </a:solidFill>
              </a:rPr>
              <a:t>Moderator</a:t>
            </a:r>
          </a:p>
          <a:p>
            <a:pPr algn="ctr">
              <a:spcBef>
                <a:spcPts val="600"/>
              </a:spcBef>
            </a:pPr>
            <a:r>
              <a:rPr lang="en-US" sz="2000" dirty="0" smtClean="0">
                <a:solidFill>
                  <a:srgbClr val="151515"/>
                </a:solidFill>
              </a:rPr>
              <a:t>Gina Livermore</a:t>
            </a:r>
          </a:p>
          <a:p>
            <a:pPr algn="ctr">
              <a:spcBef>
                <a:spcPts val="600"/>
              </a:spcBef>
            </a:pPr>
            <a:r>
              <a:rPr lang="en-US" sz="2000" dirty="0" smtClean="0">
                <a:solidFill>
                  <a:srgbClr val="151515"/>
                </a:solidFill>
              </a:rPr>
              <a:t>Mathematica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0" y="1815874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31274"/>
            <a:ext cx="8448675" cy="1143000"/>
          </a:xfrm>
        </p:spPr>
        <p:txBody>
          <a:bodyPr/>
          <a:lstStyle/>
          <a:p>
            <a:r>
              <a:rPr lang="en-US" dirty="0" smtClean="0"/>
              <a:t>About the </a:t>
            </a:r>
            <a:r>
              <a:rPr lang="en-US" sz="3200" dirty="0" smtClean="0"/>
              <a:t>Center </a:t>
            </a:r>
            <a:r>
              <a:rPr lang="en-US" sz="3200" dirty="0"/>
              <a:t>for Studying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Disability </a:t>
            </a:r>
            <a:r>
              <a:rPr lang="en-US" sz="3200" dirty="0"/>
              <a:t>Policy </a:t>
            </a:r>
            <a:r>
              <a:rPr lang="en-US" sz="3200" dirty="0" smtClean="0"/>
              <a:t>(</a:t>
            </a:r>
            <a:r>
              <a:rPr lang="en-US" sz="3200" smtClean="0"/>
              <a:t>CSDP</a:t>
            </a:r>
            <a:r>
              <a:rPr lang="en-US" sz="3200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22400"/>
            <a:ext cx="82423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CSDP </a:t>
            </a:r>
            <a:r>
              <a:rPr lang="en-US" dirty="0"/>
              <a:t>was established by Mathematica in 2007 to provide the nation’s leaders with the data </a:t>
            </a:r>
            <a:r>
              <a:rPr lang="en-US" dirty="0" smtClean="0"/>
              <a:t>necessary to </a:t>
            </a:r>
            <a:r>
              <a:rPr lang="en-US" dirty="0"/>
              <a:t>shape disability policy and programs to fully meet the needs of all Americans with </a:t>
            </a:r>
            <a:r>
              <a:rPr lang="en-US" dirty="0" smtClean="0"/>
              <a:t>disabilities.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79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09216"/>
            <a:ext cx="8448675" cy="1143000"/>
          </a:xfrm>
        </p:spPr>
        <p:txBody>
          <a:bodyPr/>
          <a:lstStyle/>
          <a:p>
            <a:r>
              <a:rPr lang="en-US" dirty="0" smtClean="0"/>
              <a:t>Today’s Speakers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96587" y="1489845"/>
            <a:ext cx="2666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Susan Foley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Institute for Community Inclusion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725" y="1489845"/>
            <a:ext cx="2666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Joe Marrone</a:t>
            </a:r>
            <a:endParaRPr lang="en-US" sz="1600" dirty="0">
              <a:solidFill>
                <a:srgbClr val="151515"/>
              </a:solidFill>
            </a:endParaRP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Institute for Community Inclusion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6587" y="3692416"/>
            <a:ext cx="2666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Purvi Sevak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Mathematica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725" y="3692416"/>
            <a:ext cx="2666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Todd Honeycutt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Mathematica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" t="6408" r="221" b="20310"/>
          <a:stretch/>
        </p:blipFill>
        <p:spPr>
          <a:xfrm>
            <a:off x="396387" y="1489845"/>
            <a:ext cx="1600200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4" r="16964"/>
          <a:stretch/>
        </p:blipFill>
        <p:spPr>
          <a:xfrm>
            <a:off x="4663525" y="1489845"/>
            <a:ext cx="1600200" cy="160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396387" y="3688815"/>
            <a:ext cx="16002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6" b="20196"/>
          <a:stretch/>
        </p:blipFill>
        <p:spPr>
          <a:xfrm>
            <a:off x="4663525" y="3688815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8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685800" y="1248560"/>
            <a:ext cx="7772400" cy="1077860"/>
          </a:xfrm>
        </p:spPr>
        <p:txBody>
          <a:bodyPr/>
          <a:lstStyle/>
          <a:p>
            <a:r>
              <a:rPr lang="en-US" sz="3200" dirty="0" smtClean="0"/>
              <a:t>Designing and Initiating the VR Services Model</a:t>
            </a:r>
            <a:endParaRPr lang="en-US" sz="3300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1371600" y="3179496"/>
            <a:ext cx="6400800" cy="1511300"/>
          </a:xfrm>
        </p:spPr>
        <p:txBody>
          <a:bodyPr/>
          <a:lstStyle/>
          <a:p>
            <a:r>
              <a:rPr lang="en-US" sz="2000" dirty="0" smtClean="0"/>
              <a:t>Susan Foley, Ph.D.</a:t>
            </a:r>
          </a:p>
          <a:p>
            <a:r>
              <a:rPr lang="en-US" sz="2000" dirty="0" smtClean="0"/>
              <a:t>Institute for Community Inclusion</a:t>
            </a:r>
          </a:p>
          <a:p>
            <a:r>
              <a:rPr lang="en-US" sz="2000" dirty="0" smtClean="0"/>
              <a:t>University of Massachusetts Boston</a:t>
            </a:r>
            <a:endParaRPr lang="en-US" sz="1800" dirty="0">
              <a:solidFill>
                <a:srgbClr val="151515"/>
              </a:solidFill>
            </a:endParaRPr>
          </a:p>
          <a:p>
            <a:pPr lvl="0"/>
            <a:endParaRPr lang="en-US" sz="1800" dirty="0"/>
          </a:p>
          <a:p>
            <a:r>
              <a:rPr lang="en-US" sz="1800" dirty="0" smtClean="0"/>
              <a:t>September 28, </a:t>
            </a:r>
            <a:r>
              <a:rPr lang="en-US" sz="1800" dirty="0"/>
              <a:t>2017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362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goal was to test out a VR-driven employment services model that improves the employment outcomes of SSDI-only non-blind customers of VR.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28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Intervention Creation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Should we pick a particular promising practice and see if it made a difference (e.g., Motivational Interviewing)?</a:t>
            </a:r>
          </a:p>
          <a:p>
            <a:r>
              <a:rPr lang="en-US" altLang="en-US" dirty="0" smtClean="0"/>
              <a:t>Should we find a practice happening in one high performing state VR agency, define it, extract it, and export it? </a:t>
            </a:r>
          </a:p>
          <a:p>
            <a:r>
              <a:rPr lang="en-US" altLang="en-US" dirty="0" smtClean="0"/>
              <a:t>Should we get a sense of what is happening (or not happening) for SSDI beneficiaries in places where the wage outcomes are comparatively high?  </a:t>
            </a:r>
          </a:p>
        </p:txBody>
      </p:sp>
    </p:spTree>
    <p:extLst>
      <p:ext uri="{BB962C8B-B14F-4D97-AF65-F5344CB8AC3E}">
        <p14:creationId xmlns:p14="http://schemas.microsoft.com/office/powerpoint/2010/main" val="381338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Pulling the Clues Together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Interviews with state VR directors</a:t>
            </a:r>
          </a:p>
          <a:p>
            <a:r>
              <a:rPr lang="en-US" altLang="en-US" dirty="0" smtClean="0"/>
              <a:t>RSA 911 Trend Analysis comparing VR agencies by their performance on wage outcomes for SSDI-only customers</a:t>
            </a:r>
          </a:p>
          <a:p>
            <a:r>
              <a:rPr lang="en-US" altLang="en-US" dirty="0" smtClean="0"/>
              <a:t>Case studies of eight state VR agencies that had “something going on”</a:t>
            </a:r>
          </a:p>
          <a:p>
            <a:r>
              <a:rPr lang="en-US" altLang="en-US" dirty="0" smtClean="0"/>
              <a:t>Expert panel</a:t>
            </a:r>
          </a:p>
        </p:txBody>
      </p:sp>
    </p:spTree>
    <p:extLst>
      <p:ext uri="{BB962C8B-B14F-4D97-AF65-F5344CB8AC3E}">
        <p14:creationId xmlns:p14="http://schemas.microsoft.com/office/powerpoint/2010/main" val="274987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Interview Responses</a:t>
            </a:r>
          </a:p>
        </p:txBody>
      </p:sp>
      <p:sp>
        <p:nvSpPr>
          <p:cNvPr id="16386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Very few states mentioned specific efforts for SSDI-only customers (OK, AL, NE)</a:t>
            </a:r>
          </a:p>
          <a:p>
            <a:r>
              <a:rPr lang="en-US" altLang="en-US" dirty="0" smtClean="0"/>
              <a:t>Most listed services available to any and all VR clients, including job development, financial planning, business relations strategies</a:t>
            </a:r>
          </a:p>
          <a:p>
            <a:r>
              <a:rPr lang="en-US" altLang="en-US" dirty="0" smtClean="0"/>
              <a:t>We concluded that most VR agencies were not offering a specific “employment services package” to SSDI-only beneficiaries</a:t>
            </a:r>
          </a:p>
        </p:txBody>
      </p:sp>
    </p:spTree>
    <p:extLst>
      <p:ext uri="{BB962C8B-B14F-4D97-AF65-F5344CB8AC3E}">
        <p14:creationId xmlns:p14="http://schemas.microsoft.com/office/powerpoint/2010/main" val="195107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Preliminary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Agencies that had above average wage outcomes for SSDI-only customers had: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ewer counseling staff and more counseling support staff as a percentage of all staff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ewer customers on wait lists</a:t>
            </a:r>
          </a:p>
          <a:p>
            <a:pPr lvl="1"/>
            <a:r>
              <a:rPr lang="en-US" dirty="0" smtClean="0"/>
              <a:t>Provided more services to customers through VR personnel and purchased fewer services in aggregate from vendors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ewer average days to individualized plan for employment (IPE)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ewer SSDI-only customers closed because of refused services/uncooperative</a:t>
            </a:r>
          </a:p>
          <a:p>
            <a:pPr lvl="1"/>
            <a:r>
              <a:rPr lang="en-US" dirty="0"/>
              <a:t>L</a:t>
            </a:r>
            <a:r>
              <a:rPr lang="en-US" dirty="0" smtClean="0"/>
              <a:t>ower average cost of purchased services for SSDI-only customers who received services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7240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Case Study Findings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Multiple SVRAs emphasized early and progressively detailed access to financial services</a:t>
            </a:r>
          </a:p>
          <a:p>
            <a:r>
              <a:rPr lang="en-US" altLang="en-US" dirty="0" smtClean="0"/>
              <a:t>Rehabilitation counseling strategies with a sense of urgency and rapid engagement, because momentum is good customer service</a:t>
            </a:r>
          </a:p>
          <a:p>
            <a:r>
              <a:rPr lang="en-US" altLang="en-US" dirty="0" smtClean="0"/>
              <a:t>A business relations focus to job development, rather than supply side job placement</a:t>
            </a:r>
          </a:p>
          <a:p>
            <a:r>
              <a:rPr lang="en-US" altLang="en-US" dirty="0" smtClean="0"/>
              <a:t>Active attempts to align office level procedures and policies for responsive client services</a:t>
            </a:r>
          </a:p>
        </p:txBody>
      </p:sp>
    </p:spTree>
    <p:extLst>
      <p:ext uri="{BB962C8B-B14F-4D97-AF65-F5344CB8AC3E}">
        <p14:creationId xmlns:p14="http://schemas.microsoft.com/office/powerpoint/2010/main" val="412020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What We </a:t>
            </a:r>
            <a:r>
              <a:rPr lang="en-US" altLang="en-US" dirty="0"/>
              <a:t>C</a:t>
            </a:r>
            <a:r>
              <a:rPr lang="en-US" altLang="en-US" dirty="0" smtClean="0"/>
              <a:t>ame To 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early and rapid coordinated team approach (CTA) would improve engagement, employment, and wage outcomes of SSDI-only non-blind customers of VR at closure from VR</a:t>
            </a:r>
          </a:p>
          <a:p>
            <a:r>
              <a:rPr lang="en-US" altLang="en-US" dirty="0" smtClean="0"/>
              <a:t>If we build office-level capacity to implement an early and rapid coordinated team approach, will those offices get better employment outcomes for SSDI beneficiaries? 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580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718168" y="1725613"/>
            <a:ext cx="7772400" cy="1190625"/>
          </a:xfrm>
        </p:spPr>
        <p:txBody>
          <a:bodyPr>
            <a:noAutofit/>
          </a:bodyPr>
          <a:lstStyle/>
          <a:p>
            <a:r>
              <a:rPr lang="en-US" sz="3200" dirty="0" smtClean="0"/>
              <a:t>SGA Project: State Experiences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9" name="Subtitle 2"/>
          <p:cNvSpPr>
            <a:spLocks noGrp="1"/>
          </p:cNvSpPr>
          <p:nvPr>
            <p:ph type="subTitle" sz="quarter" idx="1"/>
          </p:nvPr>
        </p:nvSpPr>
        <p:spPr>
          <a:xfrm>
            <a:off x="1403968" y="2916238"/>
            <a:ext cx="6400800" cy="1511300"/>
          </a:xfrm>
        </p:spPr>
        <p:txBody>
          <a:bodyPr/>
          <a:lstStyle/>
          <a:p>
            <a:r>
              <a:rPr lang="en-US" sz="2000" dirty="0" smtClean="0"/>
              <a:t>Joe Marrone </a:t>
            </a:r>
          </a:p>
          <a:p>
            <a:r>
              <a:rPr lang="en-US" sz="2000" dirty="0"/>
              <a:t>Institute for Community Inclusion</a:t>
            </a:r>
          </a:p>
          <a:p>
            <a:r>
              <a:rPr lang="en-US" sz="2000" dirty="0"/>
              <a:t>University of Massachusetts Boston</a:t>
            </a:r>
            <a:endParaRPr lang="en-US" sz="2000" dirty="0">
              <a:solidFill>
                <a:srgbClr val="151515"/>
              </a:solidFill>
            </a:endParaRPr>
          </a:p>
          <a:p>
            <a:pPr lvl="0"/>
            <a:endParaRPr lang="en-US" sz="2000" dirty="0"/>
          </a:p>
          <a:p>
            <a:r>
              <a:rPr lang="en-US" sz="2000" dirty="0" smtClean="0"/>
              <a:t>September 28, </a:t>
            </a:r>
            <a:r>
              <a:rPr lang="en-US" sz="2000" dirty="0"/>
              <a:t>2017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580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Enhanced Services Expectations</a:t>
            </a:r>
            <a:r>
              <a:rPr lang="en-US" dirty="0" smtClean="0"/>
              <a:t>—</a:t>
            </a:r>
            <a:r>
              <a:rPr lang="en-US" altLang="en-US" dirty="0" smtClean="0"/>
              <a:t>Both States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Increased pacing</a:t>
            </a:r>
          </a:p>
          <a:p>
            <a:pPr lvl="1"/>
            <a:r>
              <a:rPr lang="en-US" altLang="en-US" dirty="0" smtClean="0"/>
              <a:t>Eligibility determination within 3 days</a:t>
            </a:r>
          </a:p>
          <a:p>
            <a:pPr lvl="1"/>
            <a:r>
              <a:rPr lang="en-US" altLang="en-US" dirty="0" smtClean="0"/>
              <a:t>First coordinated team meeting within 7 days</a:t>
            </a:r>
          </a:p>
          <a:p>
            <a:pPr lvl="1"/>
            <a:r>
              <a:rPr lang="en-US" altLang="en-US" dirty="0" smtClean="0"/>
              <a:t>IPE completed within 30 days of application</a:t>
            </a:r>
          </a:p>
          <a:p>
            <a:r>
              <a:rPr lang="en-US" altLang="en-US" dirty="0" smtClean="0"/>
              <a:t>Weekly contact</a:t>
            </a:r>
          </a:p>
          <a:p>
            <a:r>
              <a:rPr lang="en-US" altLang="en-US" dirty="0" smtClean="0"/>
              <a:t>Use of presumptive eligibility</a:t>
            </a:r>
          </a:p>
          <a:p>
            <a:r>
              <a:rPr lang="en-US" altLang="en-US" dirty="0" smtClean="0"/>
              <a:t>IPE used as a living document that can be amended as clients progress</a:t>
            </a:r>
          </a:p>
          <a:p>
            <a:r>
              <a:rPr lang="en-US" altLang="en-US" dirty="0" smtClean="0"/>
              <a:t>Less reliance on outside assessment (especially for OOS), greater reliance on counselor judgment</a:t>
            </a:r>
          </a:p>
          <a:p>
            <a:r>
              <a:rPr lang="en-US" altLang="en-US" dirty="0" smtClean="0"/>
              <a:t>Teamwork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987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4175" y="644263"/>
            <a:ext cx="8448675" cy="1143000"/>
          </a:xfrm>
        </p:spPr>
        <p:txBody>
          <a:bodyPr/>
          <a:lstStyle/>
          <a:p>
            <a:r>
              <a:rPr lang="en-US" altLang="en-US" dirty="0" smtClean="0"/>
              <a:t>Kentucky: Coordinated Team </a:t>
            </a:r>
            <a:r>
              <a:rPr lang="en-US" altLang="en-US" dirty="0"/>
              <a:t>A</a:t>
            </a:r>
            <a:r>
              <a:rPr lang="en-US" altLang="en-US" dirty="0" smtClean="0"/>
              <a:t>pproach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28536" y="1892615"/>
            <a:ext cx="7772400" cy="3810000"/>
          </a:xfrm>
        </p:spPr>
        <p:txBody>
          <a:bodyPr>
            <a:normAutofit fontScale="92500"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 smtClean="0"/>
              <a:t>Team of VRC, financial specialist and job placement specialist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 smtClean="0"/>
              <a:t>Financial specialists were all KWICs and covered multiple offices</a:t>
            </a:r>
            <a:r>
              <a:rPr lang="en-US" sz="2800" dirty="0"/>
              <a:t>—</a:t>
            </a:r>
            <a:r>
              <a:rPr lang="en-US" altLang="en-US" sz="2800" dirty="0" smtClean="0"/>
              <a:t>different from Minnesota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 smtClean="0"/>
              <a:t>Emphasis on VRC as team lead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/>
              <a:t>Job </a:t>
            </a:r>
            <a:r>
              <a:rPr lang="en-US" altLang="en-US" sz="2800" dirty="0" smtClean="0"/>
              <a:t>placement </a:t>
            </a:r>
            <a:r>
              <a:rPr lang="en-US" altLang="en-US" sz="2800" dirty="0"/>
              <a:t>specialists </a:t>
            </a:r>
            <a:r>
              <a:rPr lang="en-US" altLang="en-US" sz="2800" dirty="0" smtClean="0"/>
              <a:t>on each office team, </a:t>
            </a:r>
            <a:r>
              <a:rPr lang="en-US" altLang="en-US" sz="2800" dirty="0"/>
              <a:t>meeting with the consumer prior to IPE to provide </a:t>
            </a:r>
            <a:r>
              <a:rPr lang="en-US" altLang="en-US" sz="2800" dirty="0" err="1" smtClean="0"/>
              <a:t>LMI</a:t>
            </a:r>
            <a:r>
              <a:rPr lang="en-US" altLang="en-US" sz="2800" dirty="0" smtClean="0"/>
              <a:t>, and assisting consumer </a:t>
            </a:r>
            <a:r>
              <a:rPr lang="en-US" altLang="en-US" sz="2800" dirty="0"/>
              <a:t>in developing an </a:t>
            </a:r>
            <a:r>
              <a:rPr lang="en-US" altLang="en-US" sz="2800" dirty="0" smtClean="0"/>
              <a:t>employment goal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4377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SGA Project</a:t>
            </a:r>
            <a:r>
              <a:rPr lang="en-US" dirty="0"/>
              <a:t>—</a:t>
            </a:r>
            <a:r>
              <a:rPr lang="en-US" altLang="en-US" dirty="0" smtClean="0"/>
              <a:t>Kentucky Context (1)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Fit in with recent asset development initiatives</a:t>
            </a:r>
          </a:p>
          <a:p>
            <a:r>
              <a:rPr lang="en-US" altLang="en-US" dirty="0" smtClean="0"/>
              <a:t>Possibility of increasing positive employment outcomes and SSA reimbursements</a:t>
            </a:r>
          </a:p>
          <a:p>
            <a:r>
              <a:rPr lang="en-US" altLang="en-US" dirty="0" smtClean="0"/>
              <a:t>Previous positive experience with ICI</a:t>
            </a:r>
          </a:p>
          <a:p>
            <a:r>
              <a:rPr lang="en-US" altLang="en-US" dirty="0" smtClean="0"/>
              <a:t>Agency director (later moved on) very eager to participate</a:t>
            </a:r>
          </a:p>
          <a:p>
            <a:r>
              <a:rPr lang="en-US" altLang="en-US" dirty="0" smtClean="0"/>
              <a:t>Agency director (later moved on)  invested in innovation and </a:t>
            </a:r>
            <a:r>
              <a:rPr lang="en-US" altLang="en-US" dirty="0"/>
              <a:t>s</a:t>
            </a:r>
            <a:r>
              <a:rPr lang="en-US" altLang="en-US" dirty="0" smtClean="0"/>
              <a:t>taff development</a:t>
            </a:r>
          </a:p>
          <a:p>
            <a:r>
              <a:rPr lang="en-US" altLang="en-US" dirty="0" smtClean="0"/>
              <a:t>Desire to improve </a:t>
            </a:r>
            <a:r>
              <a:rPr lang="en-US" altLang="en-US" dirty="0"/>
              <a:t>l</a:t>
            </a:r>
            <a:r>
              <a:rPr lang="en-US" altLang="en-US" dirty="0" smtClean="0"/>
              <a:t>inks with SSA</a:t>
            </a:r>
            <a:r>
              <a:rPr lang="en-US" dirty="0"/>
              <a:t>—</a:t>
            </a:r>
            <a:r>
              <a:rPr lang="en-US" altLang="en-US" dirty="0" smtClean="0"/>
              <a:t>info </a:t>
            </a:r>
            <a:r>
              <a:rPr lang="en-US" altLang="en-US" dirty="0"/>
              <a:t>s</a:t>
            </a:r>
            <a:r>
              <a:rPr lang="en-US" altLang="en-US" dirty="0" smtClean="0"/>
              <a:t>haring</a:t>
            </a:r>
          </a:p>
        </p:txBody>
      </p:sp>
    </p:spTree>
    <p:extLst>
      <p:ext uri="{BB962C8B-B14F-4D97-AF65-F5344CB8AC3E}">
        <p14:creationId xmlns:p14="http://schemas.microsoft.com/office/powerpoint/2010/main" val="389948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SGA Project</a:t>
            </a:r>
            <a:r>
              <a:rPr lang="en-US" dirty="0"/>
              <a:t>—</a:t>
            </a:r>
            <a:r>
              <a:rPr lang="en-US" altLang="en-US" dirty="0" smtClean="0"/>
              <a:t>Kentucky Context (2)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 smtClean="0"/>
              <a:t>Pacing: Time from application to IPE was quite long and interested in improving</a:t>
            </a:r>
          </a:p>
          <a:p>
            <a:r>
              <a:rPr lang="en-US" altLang="en-US" dirty="0" smtClean="0"/>
              <a:t>Presumptive eligibility: Kentucky VRs had major concerns about this due to long lag time with SSA verification</a:t>
            </a:r>
            <a:r>
              <a:rPr lang="en-US" dirty="0"/>
              <a:t>—</a:t>
            </a:r>
            <a:r>
              <a:rPr lang="en-US" altLang="en-US" dirty="0" smtClean="0"/>
              <a:t>project helped mitigate this</a:t>
            </a:r>
          </a:p>
          <a:p>
            <a:r>
              <a:rPr lang="en-US" altLang="en-US" dirty="0" smtClean="0"/>
              <a:t>Job placement: initially job placement people thought it was inefficient to be involved early in process; eventually some changed views and some new staff hired</a:t>
            </a:r>
          </a:p>
          <a:p>
            <a:r>
              <a:rPr lang="en-US" altLang="en-US" dirty="0" smtClean="0"/>
              <a:t>Introduced motivational interviewing and DB 101 training late in project</a:t>
            </a:r>
          </a:p>
        </p:txBody>
      </p:sp>
    </p:spTree>
    <p:extLst>
      <p:ext uri="{BB962C8B-B14F-4D97-AF65-F5344CB8AC3E}">
        <p14:creationId xmlns:p14="http://schemas.microsoft.com/office/powerpoint/2010/main" val="128042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TA Process</a:t>
            </a:r>
            <a:r>
              <a:rPr lang="en-US" dirty="0" smtClean="0"/>
              <a:t>—</a:t>
            </a:r>
            <a:r>
              <a:rPr lang="en-US" altLang="en-US" dirty="0" smtClean="0"/>
              <a:t>Kentucky OVR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87362" y="1513953"/>
            <a:ext cx="8242300" cy="4114800"/>
          </a:xfrm>
        </p:spPr>
        <p:txBody>
          <a:bodyPr/>
          <a:lstStyle/>
          <a:p>
            <a:r>
              <a:rPr lang="en-US" altLang="en-US" dirty="0" smtClean="0"/>
              <a:t>Initial rollout training consisted of a three-day training </a:t>
            </a:r>
            <a:r>
              <a:rPr lang="en-US" altLang="en-US" dirty="0"/>
              <a:t>p</a:t>
            </a:r>
            <a:r>
              <a:rPr lang="en-US" altLang="en-US" dirty="0" smtClean="0"/>
              <a:t>rovided by ICI</a:t>
            </a:r>
          </a:p>
          <a:p>
            <a:r>
              <a:rPr lang="en-US" altLang="en-US" dirty="0" smtClean="0"/>
              <a:t>Financial </a:t>
            </a:r>
            <a:r>
              <a:rPr lang="en-US" altLang="en-US" dirty="0"/>
              <a:t>s</a:t>
            </a:r>
            <a:r>
              <a:rPr lang="en-US" altLang="en-US" dirty="0" smtClean="0"/>
              <a:t>pecialists</a:t>
            </a:r>
            <a:r>
              <a:rPr lang="en-US" dirty="0" smtClean="0"/>
              <a:t>—</a:t>
            </a:r>
            <a:r>
              <a:rPr lang="en-US" altLang="en-US" dirty="0" smtClean="0"/>
              <a:t>regular contact by ICI TA staff</a:t>
            </a:r>
          </a:p>
          <a:p>
            <a:r>
              <a:rPr lang="en-US" altLang="en-US" dirty="0" smtClean="0"/>
              <a:t>VRCs got periodic on-site TA visits                             from ICI </a:t>
            </a:r>
            <a:r>
              <a:rPr lang="en-US" altLang="en-US" dirty="0"/>
              <a:t>TA staff </a:t>
            </a:r>
            <a:endParaRPr lang="en-US" altLang="en-US" dirty="0" smtClean="0"/>
          </a:p>
          <a:p>
            <a:r>
              <a:rPr lang="en-US" altLang="en-US" dirty="0" smtClean="0"/>
              <a:t>ICI staff participated in local and state-level meetings, including with SRC, and provided individual support remotely</a:t>
            </a:r>
          </a:p>
        </p:txBody>
      </p:sp>
    </p:spTree>
    <p:extLst>
      <p:ext uri="{BB962C8B-B14F-4D97-AF65-F5344CB8AC3E}">
        <p14:creationId xmlns:p14="http://schemas.microsoft.com/office/powerpoint/2010/main" val="319774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What Were the </a:t>
            </a:r>
            <a:r>
              <a:rPr lang="en-US" altLang="en-US" dirty="0"/>
              <a:t>M</a:t>
            </a:r>
            <a:r>
              <a:rPr lang="en-US" altLang="en-US" dirty="0" smtClean="0"/>
              <a:t>ajor Kentucky </a:t>
            </a:r>
            <a:r>
              <a:rPr lang="en-US" altLang="en-US" dirty="0"/>
              <a:t>B</a:t>
            </a:r>
            <a:r>
              <a:rPr lang="en-US" altLang="en-US" dirty="0" smtClean="0"/>
              <a:t>arriers?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Weak links with local SSA for verifications</a:t>
            </a:r>
          </a:p>
          <a:p>
            <a:r>
              <a:rPr lang="en-US" altLang="en-US" dirty="0" smtClean="0"/>
              <a:t>Staff changes at admin levels</a:t>
            </a:r>
          </a:p>
          <a:p>
            <a:r>
              <a:rPr lang="en-US" altLang="en-US" dirty="0" smtClean="0"/>
              <a:t>Lack of work incentive capacity w. WIPA</a:t>
            </a:r>
          </a:p>
          <a:p>
            <a:r>
              <a:rPr lang="en-US" altLang="en-US" dirty="0" smtClean="0"/>
              <a:t>Distractions for leadership (WIOA implementation, budget issues, etc.)</a:t>
            </a:r>
          </a:p>
          <a:p>
            <a:r>
              <a:rPr lang="en-US" altLang="en-US" dirty="0" smtClean="0"/>
              <a:t>Lack of infrastructure (should have spent first year updating PCs, online assessments, DB 101) 20/20 hindsight</a:t>
            </a:r>
          </a:p>
        </p:txBody>
      </p:sp>
    </p:spTree>
    <p:extLst>
      <p:ext uri="{BB962C8B-B14F-4D97-AF65-F5344CB8AC3E}">
        <p14:creationId xmlns:p14="http://schemas.microsoft.com/office/powerpoint/2010/main" val="10719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Kentucky Implementation Successes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Staff saw value in SGA framework</a:t>
            </a:r>
          </a:p>
          <a:p>
            <a:r>
              <a:rPr lang="en-US" altLang="en-US" dirty="0" smtClean="0"/>
              <a:t>Quick and early identification of SSA recipients enabling presumptive eligibility</a:t>
            </a:r>
            <a:r>
              <a:rPr lang="en-US" dirty="0"/>
              <a:t>—</a:t>
            </a:r>
            <a:r>
              <a:rPr lang="en-US" altLang="en-US" dirty="0" smtClean="0"/>
              <a:t>                                    previously not available</a:t>
            </a:r>
          </a:p>
          <a:p>
            <a:r>
              <a:rPr lang="en-US" altLang="en-US" dirty="0" smtClean="0"/>
              <a:t>Able to build capacity in several areas</a:t>
            </a:r>
            <a:r>
              <a:rPr lang="en-US" dirty="0"/>
              <a:t>—</a:t>
            </a:r>
            <a:r>
              <a:rPr lang="en-US" altLang="en-US" dirty="0" smtClean="0"/>
              <a:t>                 specifically </a:t>
            </a:r>
            <a:r>
              <a:rPr lang="en-US" altLang="en-US" dirty="0"/>
              <a:t>j</a:t>
            </a:r>
            <a:r>
              <a:rPr lang="en-US" altLang="en-US" dirty="0" smtClean="0"/>
              <a:t>ob placement and </a:t>
            </a:r>
            <a:r>
              <a:rPr lang="en-US" altLang="en-US" dirty="0"/>
              <a:t>f</a:t>
            </a:r>
            <a:r>
              <a:rPr lang="en-US" altLang="en-US" dirty="0" smtClean="0"/>
              <a:t>inancial specialists </a:t>
            </a:r>
          </a:p>
          <a:p>
            <a:r>
              <a:rPr lang="en-US" altLang="en-US" dirty="0" smtClean="0"/>
              <a:t>Preliminary indications of increased employment rate and earnings among SSDI recipients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8465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Kentucky Sustainability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Financial specialists retained under contract</a:t>
            </a:r>
          </a:p>
          <a:p>
            <a:r>
              <a:rPr lang="en-US" altLang="en-US" dirty="0" smtClean="0"/>
              <a:t>Use of motivational interviewing and DB 101</a:t>
            </a:r>
          </a:p>
          <a:p>
            <a:r>
              <a:rPr lang="en-US" altLang="en-US" dirty="0" smtClean="0"/>
              <a:t>Increased use of presumptive (much faster) eligibility</a:t>
            </a:r>
          </a:p>
        </p:txBody>
      </p:sp>
    </p:spTree>
    <p:extLst>
      <p:ext uri="{BB962C8B-B14F-4D97-AF65-F5344CB8AC3E}">
        <p14:creationId xmlns:p14="http://schemas.microsoft.com/office/powerpoint/2010/main" val="292288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Minnesota: Differences from Kentucky Approach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Financial specialist located in each office, but employed by the Disability Linkage Line or an ILC</a:t>
            </a:r>
          </a:p>
          <a:p>
            <a:r>
              <a:rPr lang="en-US" altLang="en-US" dirty="0" smtClean="0"/>
              <a:t>A full benefits analysis was available when needed by referral to CWICs if financial specialist not a CWIC</a:t>
            </a:r>
          </a:p>
          <a:p>
            <a:r>
              <a:rPr lang="en-US" altLang="en-US" dirty="0" smtClean="0"/>
              <a:t>Job placement and financial specialist staff in each office, not multiple offices</a:t>
            </a:r>
          </a:p>
          <a:p>
            <a:r>
              <a:rPr lang="en-US" dirty="0" smtClean="0"/>
              <a:t>Minnesota able to use its state Disability Linkage Line to bolster service </a:t>
            </a:r>
            <a:r>
              <a:rPr lang="en-US" dirty="0"/>
              <a:t>implementation—no </a:t>
            </a:r>
            <a:r>
              <a:rPr lang="en-US" dirty="0" smtClean="0"/>
              <a:t>analog in Kentucky</a:t>
            </a:r>
          </a:p>
          <a:p>
            <a:r>
              <a:rPr lang="en-US" dirty="0" smtClean="0"/>
              <a:t>Minnesota added to its benefits </a:t>
            </a:r>
            <a:r>
              <a:rPr lang="en-US" dirty="0"/>
              <a:t>t</a:t>
            </a:r>
            <a:r>
              <a:rPr lang="en-US" dirty="0" smtClean="0"/>
              <a:t>raining with local 4 Cornerstones financial education curriculum</a:t>
            </a:r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013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SGA </a:t>
            </a:r>
            <a:r>
              <a:rPr lang="en-US" dirty="0"/>
              <a:t>Project—Minnesota </a:t>
            </a:r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5440" y="1600200"/>
            <a:ext cx="8174859" cy="43561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Existing focus on improving VR pacing pre-SGA by VR director</a:t>
            </a:r>
          </a:p>
          <a:p>
            <a:r>
              <a:rPr lang="en-US" dirty="0" smtClean="0"/>
              <a:t>Long history of motivational interviewing training at several levels of intensity</a:t>
            </a:r>
          </a:p>
          <a:p>
            <a:r>
              <a:rPr lang="en-US" dirty="0" smtClean="0"/>
              <a:t>Existing strong links with SSA for benefit verification- quick turnaround already</a:t>
            </a:r>
          </a:p>
          <a:p>
            <a:r>
              <a:rPr lang="en-US" dirty="0" smtClean="0"/>
              <a:t>Local state level “Disability </a:t>
            </a:r>
            <a:r>
              <a:rPr lang="en-US" dirty="0"/>
              <a:t>L</a:t>
            </a:r>
            <a:r>
              <a:rPr lang="en-US" dirty="0" smtClean="0"/>
              <a:t>inkage </a:t>
            </a:r>
            <a:r>
              <a:rPr lang="en-US" dirty="0"/>
              <a:t>L</a:t>
            </a:r>
            <a:r>
              <a:rPr lang="en-US" dirty="0" smtClean="0"/>
              <a:t>ine”</a:t>
            </a:r>
          </a:p>
          <a:p>
            <a:r>
              <a:rPr lang="en-US" dirty="0" smtClean="0"/>
              <a:t>Existing emphasis on team approaches</a:t>
            </a:r>
          </a:p>
          <a:p>
            <a:r>
              <a:rPr lang="en-US" dirty="0" smtClean="0"/>
              <a:t>Many existing innovation projects</a:t>
            </a:r>
          </a:p>
          <a:p>
            <a:r>
              <a:rPr lang="en-US" dirty="0" smtClean="0"/>
              <a:t>Minnesota has strong social safety net, but</a:t>
            </a:r>
          </a:p>
          <a:p>
            <a:pPr lvl="1"/>
            <a:r>
              <a:rPr lang="en-US" dirty="0" smtClean="0"/>
              <a:t>Olmstead complaints in process</a:t>
            </a:r>
          </a:p>
          <a:p>
            <a:pPr lvl="2"/>
            <a:r>
              <a:rPr lang="en-US" dirty="0" smtClean="0"/>
              <a:t>Strong provider groups</a:t>
            </a:r>
          </a:p>
          <a:p>
            <a:pPr lvl="1"/>
            <a:r>
              <a:rPr lang="en-US" dirty="0" smtClean="0"/>
              <a:t>Heavy reliance on subminimum wage</a:t>
            </a:r>
          </a:p>
        </p:txBody>
      </p:sp>
    </p:spTree>
    <p:extLst>
      <p:ext uri="{BB962C8B-B14F-4D97-AF65-F5344CB8AC3E}">
        <p14:creationId xmlns:p14="http://schemas.microsoft.com/office/powerpoint/2010/main" val="186211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TA Process</a:t>
            </a:r>
            <a:r>
              <a:rPr lang="en-US" dirty="0"/>
              <a:t>—</a:t>
            </a:r>
            <a:r>
              <a:rPr lang="en-US" altLang="en-US" dirty="0" smtClean="0"/>
              <a:t>Minnesota VRS DEED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Initial rollout training consisted of two three-day trainings</a:t>
            </a:r>
            <a:r>
              <a:rPr lang="en-US" dirty="0" smtClean="0"/>
              <a:t>—</a:t>
            </a:r>
            <a:r>
              <a:rPr lang="en-US" altLang="en-US" dirty="0" smtClean="0"/>
              <a:t>ICI, Minnesota VR, and VR Dev. Group</a:t>
            </a:r>
          </a:p>
          <a:p>
            <a:r>
              <a:rPr lang="en-US" altLang="en-US" dirty="0" smtClean="0"/>
              <a:t>Financial specialists met every other week by phone and once a month in person, and attended                on-site visits</a:t>
            </a:r>
          </a:p>
          <a:p>
            <a:r>
              <a:rPr lang="en-US" altLang="en-US" dirty="0" smtClean="0"/>
              <a:t>Job placement specialists had quarterly TA meetings and attended on-site visits</a:t>
            </a:r>
          </a:p>
          <a:p>
            <a:r>
              <a:rPr lang="en-US" altLang="en-US" dirty="0" smtClean="0"/>
              <a:t>VRCs participated in periodic on-site TA visits by ICI staff and received support from their RAMs</a:t>
            </a:r>
          </a:p>
          <a:p>
            <a:r>
              <a:rPr lang="en-US" altLang="en-US" dirty="0" smtClean="0"/>
              <a:t>ICI staff participated in RAM meetings and provided individual support to RAMs remotely</a:t>
            </a:r>
          </a:p>
        </p:txBody>
      </p:sp>
    </p:spTree>
    <p:extLst>
      <p:ext uri="{BB962C8B-B14F-4D97-AF65-F5344CB8AC3E}">
        <p14:creationId xmlns:p14="http://schemas.microsoft.com/office/powerpoint/2010/main" val="317528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Minnesota Sustainability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Maintaining financial specialists w. ongoing training through DLL</a:t>
            </a:r>
          </a:p>
          <a:p>
            <a:pPr lvl="1"/>
            <a:r>
              <a:rPr lang="en-US" altLang="en-US" dirty="0" smtClean="0"/>
              <a:t>Currently contracting with ILCs</a:t>
            </a:r>
          </a:p>
          <a:p>
            <a:pPr lvl="1"/>
            <a:r>
              <a:rPr lang="en-US" altLang="en-US" dirty="0" smtClean="0"/>
              <a:t>Eventually hope to add permanent positions </a:t>
            </a:r>
          </a:p>
          <a:p>
            <a:r>
              <a:rPr lang="en-US" altLang="en-US" dirty="0" smtClean="0"/>
              <a:t>Two job placement staff positions funded under SGA retained</a:t>
            </a:r>
          </a:p>
          <a:p>
            <a:r>
              <a:rPr lang="en-US" altLang="en-US" dirty="0" smtClean="0"/>
              <a:t>Interest in maintaining faster pacing for entire agency w. early involvement of job placement and financial specialists</a:t>
            </a:r>
          </a:p>
        </p:txBody>
      </p:sp>
    </p:spTree>
    <p:extLst>
      <p:ext uri="{BB962C8B-B14F-4D97-AF65-F5344CB8AC3E}">
        <p14:creationId xmlns:p14="http://schemas.microsoft.com/office/powerpoint/2010/main" val="44014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Lessons Learned from Both States’ Experiences (1)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/>
              <a:t>VRCs</a:t>
            </a:r>
            <a:r>
              <a:rPr lang="en-US" altLang="en-US" dirty="0" smtClean="0"/>
              <a:t> can use developmental IPEs effectively</a:t>
            </a:r>
          </a:p>
          <a:p>
            <a:r>
              <a:rPr lang="en-US" altLang="en-US" dirty="0" smtClean="0"/>
              <a:t>Not everyone needs full benefits analysis</a:t>
            </a:r>
          </a:p>
          <a:p>
            <a:r>
              <a:rPr lang="en-US" altLang="en-US" dirty="0" smtClean="0"/>
              <a:t>Rollout needed to provide more specific guidance on the intervention teaming should allow VR counselors to focus more on counseling but</a:t>
            </a:r>
          </a:p>
          <a:p>
            <a:pPr lvl="1"/>
            <a:r>
              <a:rPr lang="en-US" altLang="en-US" dirty="0" err="1" smtClean="0"/>
              <a:t>VRCs</a:t>
            </a:r>
            <a:r>
              <a:rPr lang="en-US" altLang="en-US" dirty="0" smtClean="0"/>
              <a:t> needed additional training on team facilitation </a:t>
            </a:r>
          </a:p>
          <a:p>
            <a:pPr lvl="1"/>
            <a:r>
              <a:rPr lang="en-US" altLang="en-US" dirty="0" smtClean="0"/>
              <a:t>Some </a:t>
            </a:r>
            <a:r>
              <a:rPr lang="en-US" altLang="en-US" dirty="0" err="1" smtClean="0"/>
              <a:t>VRCs</a:t>
            </a:r>
            <a:r>
              <a:rPr lang="en-US" altLang="en-US" dirty="0" smtClean="0"/>
              <a:t> </a:t>
            </a:r>
            <a:r>
              <a:rPr lang="en-US" altLang="en-US" dirty="0"/>
              <a:t>f</a:t>
            </a:r>
            <a:r>
              <a:rPr lang="en-US" altLang="en-US" dirty="0" smtClean="0"/>
              <a:t>elt a loss of control as “farmed out” to financial/placement specialists</a:t>
            </a:r>
          </a:p>
        </p:txBody>
      </p:sp>
    </p:spTree>
    <p:extLst>
      <p:ext uri="{BB962C8B-B14F-4D97-AF65-F5344CB8AC3E}">
        <p14:creationId xmlns:p14="http://schemas.microsoft.com/office/powerpoint/2010/main" val="334911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93738" y="228600"/>
            <a:ext cx="7772400" cy="762000"/>
          </a:xfrm>
        </p:spPr>
        <p:txBody>
          <a:bodyPr/>
          <a:lstStyle/>
          <a:p>
            <a:r>
              <a:rPr lang="en-US" altLang="en-US" dirty="0" smtClean="0"/>
              <a:t>Lessons </a:t>
            </a:r>
            <a:r>
              <a:rPr lang="en-US" altLang="en-US" dirty="0"/>
              <a:t>Learned from Both </a:t>
            </a:r>
            <a:r>
              <a:rPr lang="en-US" altLang="en-US" dirty="0" smtClean="0"/>
              <a:t>States’ Experiences (2)</a:t>
            </a:r>
            <a:endParaRPr lang="en-US" altLang="en-US" u="sng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03238" y="2398059"/>
            <a:ext cx="8153400" cy="3810000"/>
          </a:xfrm>
        </p:spPr>
        <p:txBody>
          <a:bodyPr/>
          <a:lstStyle/>
          <a:p>
            <a:r>
              <a:rPr lang="en-US" altLang="en-US" sz="2200" dirty="0" smtClean="0"/>
              <a:t>Slow pacing for VR engagement should be seen as a “bug” to be fixed, not a “feature” of the system</a:t>
            </a:r>
          </a:p>
          <a:p>
            <a:r>
              <a:rPr lang="en-US" altLang="en-US" sz="2200" dirty="0" smtClean="0"/>
              <a:t>Leadership support SGA as an “important” piece for VR agency quality improvement, not just an extraneous project</a:t>
            </a:r>
          </a:p>
          <a:p>
            <a:r>
              <a:rPr lang="en-US" altLang="en-US" sz="2200" dirty="0" smtClean="0"/>
              <a:t>Possible SGA type approach with other populations that might benefit, e.g., students with MH issues, TANF recipients, ex-offenders, those in recovery from substance abuse</a:t>
            </a:r>
          </a:p>
          <a:p>
            <a:endParaRPr lang="en-US" altLang="en-US" sz="2200" dirty="0" smtClean="0"/>
          </a:p>
          <a:p>
            <a:endParaRPr lang="en-US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266807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685800" y="1488715"/>
            <a:ext cx="7772400" cy="1108638"/>
          </a:xfrm>
        </p:spPr>
        <p:txBody>
          <a:bodyPr/>
          <a:lstStyle/>
          <a:p>
            <a:r>
              <a:rPr lang="en-US" sz="3200" dirty="0" smtClean="0"/>
              <a:t>Impacts of the SGA Project Innovations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1371600" y="2913008"/>
            <a:ext cx="6400800" cy="1771235"/>
          </a:xfrm>
        </p:spPr>
        <p:txBody>
          <a:bodyPr/>
          <a:lstStyle/>
          <a:p>
            <a:r>
              <a:rPr lang="en-US" sz="2000" dirty="0" smtClean="0"/>
              <a:t>Purvi Sevak</a:t>
            </a:r>
          </a:p>
          <a:p>
            <a:r>
              <a:rPr lang="en-US" sz="2000" dirty="0" smtClean="0"/>
              <a:t>Mathematica Policy Research</a:t>
            </a:r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September 28, 2017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261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90550" y="1638300"/>
            <a:ext cx="8242300" cy="4114800"/>
          </a:xfrm>
        </p:spPr>
        <p:txBody>
          <a:bodyPr/>
          <a:lstStyle/>
          <a:p>
            <a:r>
              <a:rPr lang="en-US" dirty="0" smtClean="0"/>
              <a:t>Design of the demonstration</a:t>
            </a:r>
          </a:p>
          <a:p>
            <a:r>
              <a:rPr lang="en-US" dirty="0" smtClean="0"/>
              <a:t>Evaluation methods</a:t>
            </a:r>
          </a:p>
          <a:p>
            <a:r>
              <a:rPr lang="en-US" dirty="0" smtClean="0"/>
              <a:t>Impacts in Kentucky</a:t>
            </a:r>
          </a:p>
          <a:p>
            <a:r>
              <a:rPr lang="en-US" dirty="0" smtClean="0"/>
              <a:t>Impacts in Minnesota</a:t>
            </a:r>
          </a:p>
          <a:p>
            <a:r>
              <a:rPr lang="en-US" dirty="0" smtClean="0"/>
              <a:t>Potential for longer-term impacts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96198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the SGA Project Demonstration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Office-level (clustered) random assignment</a:t>
            </a:r>
          </a:p>
          <a:p>
            <a:pPr lvl="1"/>
            <a:r>
              <a:rPr lang="en-US" dirty="0" smtClean="0"/>
              <a:t>Offices grouped into strata based on geographic location, urban versus rural, and past Social Security Disability Insurance (SSDI) client outcomes</a:t>
            </a:r>
          </a:p>
          <a:p>
            <a:pPr lvl="1"/>
            <a:r>
              <a:rPr lang="en-US" dirty="0" smtClean="0"/>
              <a:t>Offices from each stratum randomly assigned to deliver usual VR services or “enhanced” (SGA Project) services</a:t>
            </a:r>
          </a:p>
          <a:p>
            <a:r>
              <a:rPr lang="en-US" dirty="0" smtClean="0"/>
              <a:t>All non-blind, SSDI-only VR applicants in Kentucky and Minnesota were part of the demonstration</a:t>
            </a:r>
          </a:p>
          <a:p>
            <a:pPr lvl="1"/>
            <a:r>
              <a:rPr lang="en-US" dirty="0" smtClean="0"/>
              <a:t>Roughly 1,000 in each </a:t>
            </a:r>
            <a:r>
              <a:rPr lang="en-US" dirty="0"/>
              <a:t>state—half </a:t>
            </a:r>
            <a:r>
              <a:rPr lang="en-US" dirty="0" smtClean="0"/>
              <a:t>at enhanced-service and half at usual-service offices</a:t>
            </a:r>
          </a:p>
          <a:p>
            <a:pPr lvl="1"/>
            <a:r>
              <a:rPr lang="en-US" dirty="0" smtClean="0"/>
              <a:t>Enrollment began in mid-2015 and continued for about one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Estimated Impacts Using VR Agencies’ Data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Four primary outcomes:</a:t>
            </a:r>
          </a:p>
          <a:p>
            <a:pPr lvl="1"/>
            <a:r>
              <a:rPr lang="en-US" dirty="0" smtClean="0"/>
              <a:t>Pace of services: IPE within 30 days of application</a:t>
            </a:r>
          </a:p>
          <a:p>
            <a:pPr lvl="1"/>
            <a:r>
              <a:rPr lang="en-US" dirty="0" smtClean="0"/>
              <a:t>Successful client engagement: not exiting VR before obtaining competitive employment</a:t>
            </a:r>
          </a:p>
          <a:p>
            <a:pPr lvl="1"/>
            <a:r>
              <a:rPr lang="en-US" dirty="0" smtClean="0"/>
              <a:t>Competitive employment: closing with competitive employment</a:t>
            </a:r>
          </a:p>
          <a:p>
            <a:pPr lvl="1"/>
            <a:r>
              <a:rPr lang="en-US" dirty="0" smtClean="0"/>
              <a:t>SGA-level earnings: closing with SGA-level earnings</a:t>
            </a:r>
          </a:p>
          <a:p>
            <a:r>
              <a:rPr lang="en-US" dirty="0" smtClean="0"/>
              <a:t>Data: VR case file data reflecting service delivery and client outcomes through late April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1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Impacts Estimated as Difference in Usual- and Enhanced-Service </a:t>
            </a:r>
            <a:r>
              <a:rPr lang="en-US" dirty="0"/>
              <a:t>O</a:t>
            </a:r>
            <a:r>
              <a:rPr lang="en-US" dirty="0" smtClean="0"/>
              <a:t>ffices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Usual- and enhanced-service offices were otherwise similar</a:t>
            </a:r>
          </a:p>
          <a:p>
            <a:pPr lvl="1"/>
            <a:r>
              <a:rPr lang="en-US" dirty="0" smtClean="0"/>
              <a:t>No significant differences in primary outcomes before the SGA Project demonstration</a:t>
            </a:r>
          </a:p>
          <a:p>
            <a:pPr lvl="1"/>
            <a:r>
              <a:rPr lang="en-US" dirty="0" smtClean="0"/>
              <a:t>No significant differences in client characteristics</a:t>
            </a:r>
          </a:p>
          <a:p>
            <a:r>
              <a:rPr lang="en-US" dirty="0" smtClean="0"/>
              <a:t>Used regression models to control for client characteristics and pre-demonstration office level outcomes</a:t>
            </a:r>
          </a:p>
          <a:p>
            <a:r>
              <a:rPr lang="en-US" dirty="0" smtClean="0"/>
              <a:t>Statistical adjustments to account for office-level clustered randomization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5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SGA Project Innovations </a:t>
            </a:r>
            <a:r>
              <a:rPr lang="en-US" dirty="0"/>
              <a:t>I</a:t>
            </a:r>
            <a:r>
              <a:rPr lang="en-US" dirty="0" smtClean="0"/>
              <a:t>mproved </a:t>
            </a:r>
            <a:r>
              <a:rPr lang="en-US" dirty="0"/>
              <a:t>P</a:t>
            </a:r>
            <a:r>
              <a:rPr lang="en-US" dirty="0" smtClean="0"/>
              <a:t>ace and Employment in Kentucky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449877" y="1540475"/>
          <a:ext cx="8382973" cy="4170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9877" y="5710652"/>
            <a:ext cx="8108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151515"/>
                </a:solidFill>
              </a:rPr>
              <a:t>*/**/*** </a:t>
            </a:r>
            <a:r>
              <a:rPr lang="en-US" dirty="0" smtClean="0">
                <a:solidFill>
                  <a:srgbClr val="151515"/>
                </a:solidFill>
              </a:rPr>
              <a:t>Enhanced-/usual-service difference </a:t>
            </a:r>
            <a:r>
              <a:rPr lang="en-US" dirty="0">
                <a:solidFill>
                  <a:srgbClr val="151515"/>
                </a:solidFill>
              </a:rPr>
              <a:t>is significant at the 0.10/0.05/0.01 </a:t>
            </a:r>
            <a:r>
              <a:rPr lang="en-US" dirty="0" smtClean="0">
                <a:solidFill>
                  <a:srgbClr val="151515"/>
                </a:solidFill>
              </a:rPr>
              <a:t>levels, respectively.</a:t>
            </a:r>
            <a:endParaRPr lang="en-US" dirty="0">
              <a:solidFill>
                <a:srgbClr val="151515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6242584" y="2559977"/>
            <a:ext cx="524917" cy="276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***</a:t>
            </a:r>
            <a:endParaRPr lang="en-US" dirty="0"/>
          </a:p>
        </p:txBody>
      </p:sp>
      <p:sp>
        <p:nvSpPr>
          <p:cNvPr id="11" name="TextBox 7"/>
          <p:cNvSpPr txBox="1"/>
          <p:nvPr/>
        </p:nvSpPr>
        <p:spPr>
          <a:xfrm>
            <a:off x="6242584" y="3887677"/>
            <a:ext cx="474140" cy="210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solidFill>
                  <a:srgbClr val="151515"/>
                </a:solidFill>
              </a:rPr>
              <a:t>**</a:t>
            </a:r>
            <a:endParaRPr lang="en-US" sz="1400" dirty="0">
              <a:solidFill>
                <a:srgbClr val="151515"/>
              </a:solidFill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5158302" y="4606056"/>
            <a:ext cx="524917" cy="80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***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4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7362" y="1720730"/>
            <a:ext cx="8242300" cy="4114800"/>
          </a:xfrm>
        </p:spPr>
        <p:txBody>
          <a:bodyPr/>
          <a:lstStyle/>
          <a:p>
            <a:r>
              <a:rPr lang="en-US" dirty="0" smtClean="0"/>
              <a:t>Relative to usual-service clients, enhanced-service clients were</a:t>
            </a:r>
          </a:p>
          <a:p>
            <a:pPr lvl="1"/>
            <a:r>
              <a:rPr lang="en-US" dirty="0" smtClean="0"/>
              <a:t>More likely to receive </a:t>
            </a:r>
          </a:p>
          <a:p>
            <a:pPr lvl="2"/>
            <a:r>
              <a:rPr lang="en-US" dirty="0" smtClean="0"/>
              <a:t>Job placement services (18 percentage points)</a:t>
            </a:r>
          </a:p>
          <a:p>
            <a:pPr lvl="2"/>
            <a:r>
              <a:rPr lang="en-US" dirty="0" smtClean="0"/>
              <a:t>Other employment-related services (14 percentage points)</a:t>
            </a:r>
          </a:p>
          <a:p>
            <a:pPr lvl="2"/>
            <a:r>
              <a:rPr lang="en-US" dirty="0" smtClean="0"/>
              <a:t>Benefit counseling services (41 percentage points)</a:t>
            </a:r>
          </a:p>
          <a:p>
            <a:pPr lvl="1"/>
            <a:r>
              <a:rPr lang="en-US" dirty="0" smtClean="0"/>
              <a:t>Receiving services sooner</a:t>
            </a:r>
          </a:p>
          <a:p>
            <a:pPr lvl="2"/>
            <a:r>
              <a:rPr lang="en-US" dirty="0"/>
              <a:t>Job placement services </a:t>
            </a:r>
            <a:r>
              <a:rPr lang="en-US" dirty="0" smtClean="0"/>
              <a:t>(</a:t>
            </a:r>
            <a:r>
              <a:rPr lang="en-US" dirty="0"/>
              <a:t>47 </a:t>
            </a:r>
            <a:r>
              <a:rPr lang="en-US" dirty="0" smtClean="0"/>
              <a:t>days)</a:t>
            </a:r>
            <a:endParaRPr lang="en-US" dirty="0"/>
          </a:p>
          <a:p>
            <a:pPr lvl="2"/>
            <a:r>
              <a:rPr lang="en-US" dirty="0"/>
              <a:t>Other employment-related services </a:t>
            </a:r>
            <a:r>
              <a:rPr lang="en-US" dirty="0" smtClean="0"/>
              <a:t>(82 days)</a:t>
            </a:r>
            <a:endParaRPr lang="en-US" dirty="0"/>
          </a:p>
          <a:p>
            <a:pPr lvl="2"/>
            <a:r>
              <a:rPr lang="en-US" dirty="0"/>
              <a:t>Benefit counseling services </a:t>
            </a:r>
            <a:r>
              <a:rPr lang="en-US" dirty="0" smtClean="0"/>
              <a:t>(29 days)</a:t>
            </a:r>
          </a:p>
          <a:p>
            <a:r>
              <a:rPr lang="en-US" dirty="0" smtClean="0"/>
              <a:t>Includes staff-provided and authorized services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Faster Pace and </a:t>
            </a:r>
            <a:r>
              <a:rPr lang="en-US" dirty="0"/>
              <a:t>I</a:t>
            </a:r>
            <a:r>
              <a:rPr lang="en-US" dirty="0" smtClean="0"/>
              <a:t>ncreased </a:t>
            </a:r>
            <a:r>
              <a:rPr lang="en-US" dirty="0"/>
              <a:t>A</a:t>
            </a:r>
            <a:r>
              <a:rPr lang="en-US" dirty="0" smtClean="0"/>
              <a:t>uthorization for Services in Kentucky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8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SGA </a:t>
            </a:r>
            <a:r>
              <a:rPr lang="en-US" smtClean="0"/>
              <a:t>Project Innovations </a:t>
            </a:r>
            <a:r>
              <a:rPr lang="en-US"/>
              <a:t>I</a:t>
            </a:r>
            <a:r>
              <a:rPr lang="en-US" smtClean="0"/>
              <a:t>mproved </a:t>
            </a:r>
            <a:r>
              <a:rPr lang="en-US" dirty="0"/>
              <a:t>P</a:t>
            </a:r>
            <a:r>
              <a:rPr lang="en-US" smtClean="0"/>
              <a:t>ace and Engagement </a:t>
            </a:r>
            <a:r>
              <a:rPr lang="en-US" dirty="0" smtClean="0"/>
              <a:t>in Minnesota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/>
          </p:nvPr>
        </p:nvGraphicFramePr>
        <p:xfrm>
          <a:off x="384175" y="1532237"/>
          <a:ext cx="8448675" cy="4078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4085" y="5498530"/>
            <a:ext cx="810885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>
                <a:solidFill>
                  <a:srgbClr val="151515"/>
                </a:solidFill>
              </a:rPr>
              <a:t>*/**/*** </a:t>
            </a:r>
            <a:r>
              <a:rPr lang="en-US" dirty="0" smtClean="0">
                <a:solidFill>
                  <a:srgbClr val="151515"/>
                </a:solidFill>
              </a:rPr>
              <a:t>Enhanced-/usual-service difference </a:t>
            </a:r>
            <a:r>
              <a:rPr lang="en-US" dirty="0">
                <a:solidFill>
                  <a:srgbClr val="151515"/>
                </a:solidFill>
              </a:rPr>
              <a:t>is significant at the 0.10/0.05/0.01 level.</a:t>
            </a:r>
          </a:p>
          <a:p>
            <a:pPr>
              <a:spcBef>
                <a:spcPts val="300"/>
              </a:spcBef>
            </a:pPr>
            <a:r>
              <a:rPr lang="en-US" baseline="30000" dirty="0">
                <a:solidFill>
                  <a:srgbClr val="151515"/>
                </a:solidFill>
              </a:rPr>
              <a:t>a</a:t>
            </a:r>
            <a:r>
              <a:rPr lang="en-US" dirty="0">
                <a:solidFill>
                  <a:srgbClr val="151515"/>
                </a:solidFill>
              </a:rPr>
              <a:t> </a:t>
            </a:r>
            <a:r>
              <a:rPr lang="en-US" dirty="0" smtClean="0">
                <a:solidFill>
                  <a:srgbClr val="151515"/>
                </a:solidFill>
              </a:rPr>
              <a:t>Enhanced-/usual-service difference </a:t>
            </a:r>
            <a:r>
              <a:rPr lang="en-US" dirty="0">
                <a:solidFill>
                  <a:srgbClr val="151515"/>
                </a:solidFill>
              </a:rPr>
              <a:t>is significant at the </a:t>
            </a:r>
            <a:r>
              <a:rPr lang="en-US" i="1" dirty="0">
                <a:solidFill>
                  <a:srgbClr val="151515"/>
                </a:solidFill>
              </a:rPr>
              <a:t>p</a:t>
            </a:r>
            <a:r>
              <a:rPr lang="en-US" dirty="0">
                <a:solidFill>
                  <a:srgbClr val="151515"/>
                </a:solidFill>
              </a:rPr>
              <a:t> = 0.11 level.</a:t>
            </a:r>
          </a:p>
        </p:txBody>
      </p:sp>
      <p:sp>
        <p:nvSpPr>
          <p:cNvPr id="10" name="TextBox 6"/>
          <p:cNvSpPr txBox="1"/>
          <p:nvPr/>
        </p:nvSpPr>
        <p:spPr>
          <a:xfrm>
            <a:off x="6277648" y="3867908"/>
            <a:ext cx="254000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aseline="30000" dirty="0">
                <a:solidFill>
                  <a:srgbClr val="151515"/>
                </a:solidFill>
              </a:rPr>
              <a:t>a</a:t>
            </a:r>
          </a:p>
        </p:txBody>
      </p:sp>
      <p:sp>
        <p:nvSpPr>
          <p:cNvPr id="11" name="TextBox 7"/>
          <p:cNvSpPr txBox="1"/>
          <p:nvPr/>
        </p:nvSpPr>
        <p:spPr>
          <a:xfrm>
            <a:off x="8662939" y="3090698"/>
            <a:ext cx="47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151515"/>
                </a:solidFill>
              </a:rPr>
              <a:t>**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6697002" y="2433083"/>
            <a:ext cx="47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151515"/>
                </a:solidFill>
              </a:rPr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131587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Changes in Service </a:t>
            </a:r>
            <a:r>
              <a:rPr lang="en-US" dirty="0"/>
              <a:t>D</a:t>
            </a:r>
            <a:r>
              <a:rPr lang="en-US" dirty="0" smtClean="0"/>
              <a:t>elivery in Minnesota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8000" y="1478893"/>
            <a:ext cx="8242300" cy="4114800"/>
          </a:xfrm>
        </p:spPr>
        <p:txBody>
          <a:bodyPr/>
          <a:lstStyle/>
          <a:p>
            <a:r>
              <a:rPr lang="en-US" dirty="0" smtClean="0"/>
              <a:t>Relative to usual-service clients, enhanced-service clients were</a:t>
            </a:r>
          </a:p>
          <a:p>
            <a:pPr lvl="1"/>
            <a:r>
              <a:rPr lang="en-US" dirty="0" smtClean="0"/>
              <a:t>Less likely to be referred to providers for job placement or benefits counseling services</a:t>
            </a:r>
          </a:p>
          <a:p>
            <a:pPr lvl="1"/>
            <a:r>
              <a:rPr lang="en-US" dirty="0" smtClean="0"/>
              <a:t>No different in the referrals to providers for other employment services or training services</a:t>
            </a:r>
          </a:p>
        </p:txBody>
      </p:sp>
    </p:spTree>
    <p:extLst>
      <p:ext uri="{BB962C8B-B14F-4D97-AF65-F5344CB8AC3E}">
        <p14:creationId xmlns:p14="http://schemas.microsoft.com/office/powerpoint/2010/main" val="182080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Impacts on Non–SGA Project Clients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None that we could detect in either state</a:t>
            </a:r>
          </a:p>
          <a:p>
            <a:pPr lvl="1"/>
            <a:r>
              <a:rPr lang="en-US" dirty="0" smtClean="0"/>
              <a:t>No significant differences in the four primary outcomes between non–SGA Project clients at the enhanced- and usual-service sites</a:t>
            </a:r>
          </a:p>
          <a:p>
            <a:r>
              <a:rPr lang="en-US" dirty="0" smtClean="0"/>
              <a:t>Suggests that counselors did not divert attention from non–SGA Project clients</a:t>
            </a:r>
          </a:p>
          <a:p>
            <a:r>
              <a:rPr lang="en-US" dirty="0" smtClean="0"/>
              <a:t>There was minimal spillover of the SGA Project innovations to non–SGA Project clients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69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Longer-Term Impacts Are Still </a:t>
            </a:r>
            <a:r>
              <a:rPr lang="en-US" dirty="0"/>
              <a:t>U</a:t>
            </a:r>
            <a:r>
              <a:rPr lang="en-US" dirty="0" smtClean="0"/>
              <a:t>nknown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35% to 40% of cases were still open in each state</a:t>
            </a:r>
          </a:p>
          <a:p>
            <a:pPr lvl="1"/>
            <a:r>
              <a:rPr lang="en-US" dirty="0" smtClean="0"/>
              <a:t>Estimated impacts could change as cases close</a:t>
            </a:r>
          </a:p>
          <a:p>
            <a:pPr lvl="1"/>
            <a:r>
              <a:rPr lang="en-US" dirty="0" smtClean="0"/>
              <a:t>Because the impacts in Kentucky were large, we expect them to persist even as more cases close</a:t>
            </a:r>
          </a:p>
          <a:p>
            <a:pPr lvl="1"/>
            <a:r>
              <a:rPr lang="en-US" dirty="0" smtClean="0"/>
              <a:t>Significant employment impacts in Minnesota might become evident as more cases close</a:t>
            </a:r>
          </a:p>
          <a:p>
            <a:r>
              <a:rPr lang="en-US" dirty="0" smtClean="0"/>
              <a:t>Evaluation could only examine short-term outcomes</a:t>
            </a:r>
          </a:p>
          <a:p>
            <a:pPr lvl="1"/>
            <a:r>
              <a:rPr lang="en-US" dirty="0" smtClean="0"/>
              <a:t>SSA and RSA administrative data could reveal impacts on longer-term earnings, suspension of benefits, and SSA payments to VR agencies</a:t>
            </a:r>
          </a:p>
        </p:txBody>
      </p:sp>
    </p:spTree>
    <p:extLst>
      <p:ext uri="{BB962C8B-B14F-4D97-AF65-F5344CB8AC3E}">
        <p14:creationId xmlns:p14="http://schemas.microsoft.com/office/powerpoint/2010/main" val="312758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685800" y="1519493"/>
            <a:ext cx="7772400" cy="1077860"/>
          </a:xfrm>
        </p:spPr>
        <p:txBody>
          <a:bodyPr/>
          <a:lstStyle/>
          <a:p>
            <a:r>
              <a:rPr lang="en-US" sz="3200" dirty="0" smtClean="0"/>
              <a:t>Challenges, Lessons, and Implications of the SGA Project Demonstration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1371600" y="2913008"/>
            <a:ext cx="6400800" cy="1771235"/>
          </a:xfrm>
        </p:spPr>
        <p:txBody>
          <a:bodyPr/>
          <a:lstStyle/>
          <a:p>
            <a:r>
              <a:rPr lang="en-US" sz="2000" dirty="0" smtClean="0"/>
              <a:t>Todd Honeycutt</a:t>
            </a:r>
          </a:p>
          <a:p>
            <a:r>
              <a:rPr lang="en-US" sz="2000" dirty="0" smtClean="0"/>
              <a:t>Mathematica Policy Research</a:t>
            </a:r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September 28, 2017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81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Intervention implementation</a:t>
            </a:r>
          </a:p>
          <a:p>
            <a:r>
              <a:rPr lang="en-US" dirty="0" smtClean="0"/>
              <a:t>Implementation challenges</a:t>
            </a:r>
          </a:p>
          <a:p>
            <a:r>
              <a:rPr lang="en-US" dirty="0" smtClean="0"/>
              <a:t>Implementation lessons</a:t>
            </a:r>
          </a:p>
          <a:p>
            <a:r>
              <a:rPr lang="en-US" dirty="0" smtClean="0"/>
              <a:t>Sustaining the innovations</a:t>
            </a:r>
          </a:p>
          <a:p>
            <a:r>
              <a:rPr lang="en-US" dirty="0" smtClean="0"/>
              <a:t>Considerations for other agencies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8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Intervention Implementation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Kentucky and Minnesota had similar implementation experiences, at least as shown by process measures</a:t>
            </a:r>
          </a:p>
          <a:p>
            <a:r>
              <a:rPr lang="en-US" dirty="0" smtClean="0"/>
              <a:t>Not all applicants received innovation services</a:t>
            </a:r>
          </a:p>
          <a:p>
            <a:pPr lvl="1"/>
            <a:r>
              <a:rPr lang="en-US" dirty="0" smtClean="0"/>
              <a:t>But not all were expected to</a:t>
            </a:r>
          </a:p>
          <a:p>
            <a:r>
              <a:rPr lang="en-US" dirty="0" smtClean="0"/>
              <a:t>Innovation targets promoted office-level capacity building, not fidelity</a:t>
            </a:r>
          </a:p>
          <a:p>
            <a:r>
              <a:rPr lang="en-US" dirty="0" smtClean="0"/>
              <a:t>Questions about consistent data entry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1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487362" y="1597517"/>
          <a:ext cx="8242300" cy="4320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Kentucky: Innovation </a:t>
            </a:r>
            <a:br>
              <a:rPr lang="en-US" dirty="0" smtClean="0"/>
            </a:br>
            <a:r>
              <a:rPr lang="en-US" dirty="0" smtClean="0"/>
              <a:t>Implementation (Select </a:t>
            </a:r>
            <a:r>
              <a:rPr lang="en-US" dirty="0"/>
              <a:t>M</a:t>
            </a:r>
            <a:r>
              <a:rPr lang="en-US" dirty="0" smtClean="0"/>
              <a:t>easures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000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508000" y="1635617"/>
          <a:ext cx="8242300" cy="4320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Minnesota: Innovation Implementation (</a:t>
            </a:r>
            <a:r>
              <a:rPr lang="en-US" dirty="0"/>
              <a:t>S</a:t>
            </a:r>
            <a:r>
              <a:rPr lang="en-US" dirty="0" smtClean="0"/>
              <a:t>elect Measures)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8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Both States </a:t>
            </a:r>
            <a:r>
              <a:rPr lang="en-US" dirty="0"/>
              <a:t>H</a:t>
            </a:r>
            <a:r>
              <a:rPr lang="en-US" dirty="0" smtClean="0"/>
              <a:t>ad </a:t>
            </a:r>
            <a:r>
              <a:rPr lang="en-US" dirty="0"/>
              <a:t>S</a:t>
            </a:r>
            <a:r>
              <a:rPr lang="en-US" dirty="0" smtClean="0"/>
              <a:t>imilar </a:t>
            </a:r>
            <a:r>
              <a:rPr lang="en-US" dirty="0"/>
              <a:t>I</a:t>
            </a:r>
            <a:r>
              <a:rPr lang="en-US" dirty="0" smtClean="0"/>
              <a:t>mplementation </a:t>
            </a:r>
            <a:r>
              <a:rPr lang="en-US" dirty="0"/>
              <a:t>C</a:t>
            </a:r>
            <a:r>
              <a:rPr lang="en-US" dirty="0" smtClean="0"/>
              <a:t>hallenges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 caseloads and logistical barriers were an occasional impediment to pacing and service delivery</a:t>
            </a:r>
          </a:p>
          <a:p>
            <a:r>
              <a:rPr lang="en-US" dirty="0" smtClean="0"/>
              <a:t>Difficulty in teaming adoption because of communication and logistical barriers (particularly in rural areas)</a:t>
            </a:r>
          </a:p>
          <a:p>
            <a:r>
              <a:rPr lang="en-US" dirty="0" smtClean="0"/>
              <a:t>Confusion among staff about roles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68909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State-Specific Implementation Challenges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1625" y="1390316"/>
            <a:ext cx="8242300" cy="4114800"/>
          </a:xfrm>
        </p:spPr>
        <p:txBody>
          <a:bodyPr/>
          <a:lstStyle/>
          <a:p>
            <a:r>
              <a:rPr lang="en-US" dirty="0" smtClean="0"/>
              <a:t>Kentucky: some VR counselors initially resisted adopting pacing and the faster approach to IPE</a:t>
            </a:r>
          </a:p>
          <a:p>
            <a:r>
              <a:rPr lang="en-US" dirty="0" smtClean="0"/>
              <a:t>Minnesota: early involvement of the job placement specialist was not universally accepted by VR counselors</a:t>
            </a:r>
          </a:p>
        </p:txBody>
      </p:sp>
    </p:spTree>
    <p:extLst>
      <p:ext uri="{BB962C8B-B14F-4D97-AF65-F5344CB8AC3E}">
        <p14:creationId xmlns:p14="http://schemas.microsoft.com/office/powerpoint/2010/main" val="171033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Lessons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comfortable with a faster pace and seeing the IPE as an evolving document</a:t>
            </a:r>
          </a:p>
          <a:p>
            <a:r>
              <a:rPr lang="en-US" dirty="0" smtClean="0"/>
              <a:t>Financial planning viewed as highly beneficial</a:t>
            </a:r>
          </a:p>
          <a:p>
            <a:r>
              <a:rPr lang="en-US" dirty="0" smtClean="0"/>
              <a:t>Job placement specialist role not a big change, but early involvement perceived as leading to more realistic employment goal development</a:t>
            </a:r>
          </a:p>
          <a:p>
            <a:r>
              <a:rPr lang="en-US" dirty="0" smtClean="0"/>
              <a:t>Increasing value of teaming and staff collaboration</a:t>
            </a:r>
          </a:p>
          <a:p>
            <a:r>
              <a:rPr lang="en-US" dirty="0" smtClean="0"/>
              <a:t>Linkages to SSA are important</a:t>
            </a:r>
          </a:p>
        </p:txBody>
      </p:sp>
    </p:spTree>
    <p:extLst>
      <p:ext uri="{BB962C8B-B14F-4D97-AF65-F5344CB8AC3E}">
        <p14:creationId xmlns:p14="http://schemas.microsoft.com/office/powerpoint/2010/main" val="147093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Sustained SGA Project Innovations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Staff in both states looking to incorporate aspects of the innovations informally</a:t>
            </a:r>
          </a:p>
          <a:p>
            <a:pPr lvl="0"/>
            <a:r>
              <a:rPr lang="en-US" dirty="0" smtClean="0"/>
              <a:t>Kentucky</a:t>
            </a:r>
          </a:p>
          <a:p>
            <a:pPr lvl="1"/>
            <a:r>
              <a:rPr lang="en-US" dirty="0" smtClean="0"/>
              <a:t>New policy and best-practice guidelines (faster pacing, quicker job placement involvement, and teaming)</a:t>
            </a:r>
          </a:p>
          <a:p>
            <a:pPr lvl="1"/>
            <a:r>
              <a:rPr lang="en-US" dirty="0" smtClean="0"/>
              <a:t>Motivational interviewing</a:t>
            </a:r>
          </a:p>
          <a:p>
            <a:pPr lvl="1"/>
            <a:r>
              <a:rPr lang="en-US" dirty="0" smtClean="0"/>
              <a:t>Financial tool and training</a:t>
            </a:r>
          </a:p>
          <a:p>
            <a:pPr lvl="0"/>
            <a:r>
              <a:rPr lang="en-US" dirty="0" smtClean="0"/>
              <a:t>Minnesota</a:t>
            </a:r>
          </a:p>
          <a:p>
            <a:pPr lvl="1"/>
            <a:r>
              <a:rPr lang="en-US" dirty="0" smtClean="0"/>
              <a:t>Expanded financial planning services </a:t>
            </a:r>
          </a:p>
          <a:p>
            <a:pPr lvl="2"/>
            <a:r>
              <a:rPr lang="en-US" dirty="0" smtClean="0"/>
              <a:t>Incorporating financial specialists into existing contracts</a:t>
            </a:r>
          </a:p>
          <a:p>
            <a:pPr lvl="2"/>
            <a:r>
              <a:rPr lang="en-US" dirty="0" smtClean="0"/>
              <a:t>Developing stand-alone financial curriculum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56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Implications for Other VR Agencies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A faster pace of services is possible without negative consequences</a:t>
            </a:r>
          </a:p>
          <a:p>
            <a:pPr lvl="1"/>
            <a:r>
              <a:rPr lang="en-US" smtClean="0"/>
              <a:t>Might not be feasible for all clients</a:t>
            </a:r>
          </a:p>
          <a:p>
            <a:pPr lvl="0"/>
            <a:r>
              <a:rPr lang="en-US" smtClean="0"/>
              <a:t>The financial counseling and education and the teaming strategies might be more difficult to implement </a:t>
            </a:r>
          </a:p>
          <a:p>
            <a:pPr lvl="0"/>
            <a:r>
              <a:rPr lang="en-US" smtClean="0"/>
              <a:t>Technical assistance and monitoring are needed to execute innovations </a:t>
            </a:r>
          </a:p>
          <a:p>
            <a:pPr lvl="0"/>
            <a:r>
              <a:rPr lang="en-US" smtClean="0"/>
              <a:t>Office-level random assignment is a feasible and rigorous evaluation approach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35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8144" y="1757855"/>
            <a:ext cx="8222155" cy="4198445"/>
          </a:xfrm>
        </p:spPr>
        <p:txBody>
          <a:bodyPr/>
          <a:lstStyle/>
          <a:p>
            <a:r>
              <a:rPr lang="en-US" dirty="0" smtClean="0"/>
              <a:t>Value of teaming and role of the counselor</a:t>
            </a:r>
          </a:p>
          <a:p>
            <a:r>
              <a:rPr lang="en-US" dirty="0" smtClean="0"/>
              <a:t>Importance of financial counseling</a:t>
            </a:r>
          </a:p>
          <a:p>
            <a:r>
              <a:rPr lang="en-US" dirty="0" smtClean="0"/>
              <a:t>What other agencies </a:t>
            </a:r>
            <a:r>
              <a:rPr lang="en-US" dirty="0"/>
              <a:t>can and will apply </a:t>
            </a:r>
            <a:r>
              <a:rPr lang="en-US" dirty="0" smtClean="0"/>
              <a:t>from the demonstration findings, and at what cost</a:t>
            </a:r>
          </a:p>
          <a:p>
            <a:r>
              <a:rPr lang="en-US" dirty="0"/>
              <a:t>Need for long-term evaluation on earnings, federal disability </a:t>
            </a:r>
            <a:r>
              <a:rPr lang="en-US" dirty="0" smtClean="0"/>
              <a:t>benefits, </a:t>
            </a:r>
            <a:r>
              <a:rPr lang="en-US" dirty="0"/>
              <a:t>and SSA cost reimbursement impacts</a:t>
            </a:r>
          </a:p>
          <a:p>
            <a:r>
              <a:rPr lang="en-US" dirty="0" smtClean="0"/>
              <a:t>Application of office randomization to test other VR innovations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Directions </a:t>
            </a:r>
            <a:r>
              <a:rPr lang="en-US" dirty="0"/>
              <a:t>E</a:t>
            </a:r>
            <a:r>
              <a:rPr lang="en-US" dirty="0" smtClean="0"/>
              <a:t>merging from the Demonstration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32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Discussant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47939" y="4101874"/>
            <a:ext cx="75211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000" dirty="0" smtClean="0">
                <a:solidFill>
                  <a:srgbClr val="151515"/>
                </a:solidFill>
              </a:rPr>
              <a:t>Steve Wooderson</a:t>
            </a:r>
          </a:p>
          <a:p>
            <a:pPr algn="ctr">
              <a:spcBef>
                <a:spcPts val="0"/>
              </a:spcBef>
            </a:pPr>
            <a:endParaRPr lang="en-US" sz="2000" dirty="0" smtClean="0">
              <a:solidFill>
                <a:srgbClr val="151515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2000" dirty="0" smtClean="0">
                <a:solidFill>
                  <a:srgbClr val="151515"/>
                </a:solidFill>
              </a:rPr>
              <a:t>Council of State Administrators of Vocational Rehabilitation</a:t>
            </a:r>
            <a:endParaRPr lang="en-US" sz="2000" dirty="0">
              <a:solidFill>
                <a:srgbClr val="151515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65512" y="2101624"/>
            <a:ext cx="2286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2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7362" y="1664521"/>
            <a:ext cx="8242300" cy="417621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 smtClean="0"/>
              <a:t>How does this demonstration project respond to the V2020 objectives</a:t>
            </a:r>
            <a:r>
              <a:rPr lang="mr-IN" dirty="0" smtClean="0"/>
              <a:t>…</a:t>
            </a:r>
            <a:endParaRPr lang="en-US" dirty="0"/>
          </a:p>
          <a:p>
            <a:pPr lvl="1" algn="just"/>
            <a:r>
              <a:rPr lang="en-US" sz="2800" dirty="0"/>
              <a:t>VR is mission driven and dual customer focused</a:t>
            </a:r>
          </a:p>
          <a:p>
            <a:pPr lvl="1" algn="just"/>
            <a:r>
              <a:rPr lang="en-US" sz="2800" dirty="0"/>
              <a:t>VR leads change through innovative cutting edge practice</a:t>
            </a:r>
          </a:p>
          <a:p>
            <a:pPr lvl="1" algn="just"/>
            <a:r>
              <a:rPr lang="en-US" sz="2800" dirty="0"/>
              <a:t>VR customizes services to meet the needs of the individual and business customer</a:t>
            </a:r>
          </a:p>
          <a:p>
            <a:pPr lvl="1" algn="just"/>
            <a:r>
              <a:rPr lang="en-US" sz="2800" dirty="0"/>
              <a:t>VR creates partnerships to maximize resources and opportunities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Vision 2020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59" y="6077230"/>
            <a:ext cx="2030991" cy="702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9699" y="6111218"/>
            <a:ext cx="1656677" cy="702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8598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09216"/>
            <a:ext cx="8448675" cy="1143000"/>
          </a:xfrm>
        </p:spPr>
        <p:txBody>
          <a:bodyPr/>
          <a:lstStyle/>
          <a:p>
            <a:r>
              <a:rPr lang="en-US" dirty="0" smtClean="0"/>
              <a:t>Audience Q&amp;A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96587" y="1489845"/>
            <a:ext cx="2666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Susan Foley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Institute for Community Inclusion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725" y="1489845"/>
            <a:ext cx="2666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Joe Marrone</a:t>
            </a:r>
            <a:endParaRPr lang="en-US" sz="1600" dirty="0">
              <a:solidFill>
                <a:srgbClr val="151515"/>
              </a:solidFill>
            </a:endParaRP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Institute for Community Inclusion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6587" y="3692416"/>
            <a:ext cx="2666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Purvi Sevak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Mathematica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725" y="3692416"/>
            <a:ext cx="2666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Todd Honeycutt</a:t>
            </a:r>
          </a:p>
          <a:p>
            <a:pPr>
              <a:spcBef>
                <a:spcPts val="0"/>
              </a:spcBef>
            </a:pPr>
            <a:r>
              <a:rPr lang="en-US" sz="1600" dirty="0" smtClean="0">
                <a:solidFill>
                  <a:srgbClr val="151515"/>
                </a:solidFill>
              </a:rPr>
              <a:t>Mathematica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" t="6408" r="221" b="20310"/>
          <a:stretch/>
        </p:blipFill>
        <p:spPr>
          <a:xfrm>
            <a:off x="396387" y="1489845"/>
            <a:ext cx="1600200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4" r="16964"/>
          <a:stretch/>
        </p:blipFill>
        <p:spPr>
          <a:xfrm>
            <a:off x="4663525" y="1489845"/>
            <a:ext cx="1600200" cy="160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396387" y="3688815"/>
            <a:ext cx="16002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6" b="20196"/>
          <a:stretch/>
        </p:blipFill>
        <p:spPr>
          <a:xfrm>
            <a:off x="4663525" y="3688815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7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Employment and Work Expectations of Social Security Disability Beneficiaries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Purpose of the Presentation&amp;quot;&quot;/&gt;&lt;property id=&quot;20307&quot; value=&quot;272&quot;/&gt;&lt;/object&gt;&lt;object type=&quot;3&quot; unique_id=&quot;10006&quot;&gt;&lt;property id=&quot;20148&quot; value=&quot;5&quot;/&gt;&lt;property id=&quot;20300&quot; value=&quot;Slide 3 - &amp;quot;Why Is This Interesting?&amp;quot;&quot;/&gt;&lt;property id=&quot;20307&quot; value=&quot;284&quot;/&gt;&lt;/object&gt;&lt;object type=&quot;3&quot; unique_id=&quot;10007&quot;&gt;&lt;property id=&quot;20148&quot; value=&quot;5&quot;/&gt;&lt;property id=&quot;20300&quot; value=&quot;Slide 4 - &amp;quot;Why Is This Interesting? (cont’d) &amp;quot;&quot;/&gt;&lt;property id=&quot;20307&quot; value=&quot;285&quot;/&gt;&lt;/object&gt;&lt;object type=&quot;3&quot; unique_id=&quot;10008&quot;&gt;&lt;property id=&quot;20148&quot; value=&quot;5&quot;/&gt;&lt;property id=&quot;20300&quot; value=&quot;Slide 5 - &amp;quot;About the Data&amp;quot;&quot;/&gt;&lt;property id=&quot;20307&quot; value=&quot;286&quot;/&gt;&lt;/object&gt;&lt;object type=&quot;3&quot; unique_id=&quot;10009&quot;&gt;&lt;property id=&quot;20148&quot; value=&quot;5&quot;/&gt;&lt;property id=&quot;20300&quot; value=&quot;Slide 6 - &amp;quot;Share of Working-Age SSI and SSDI Beneficiaries Who Are Employed&amp;quot;&quot;/&gt;&lt;property id=&quot;20307&quot; value=&quot;300&quot;/&gt;&lt;/object&gt;&lt;object type=&quot;3&quot; unique_id=&quot;10010&quot;&gt;&lt;property id=&quot;20148&quot; value=&quot;5&quot;/&gt;&lt;property id=&quot;20300&quot; value=&quot;Slide 7 - &amp;quot;Characteristics of the &amp;#x0D;&amp;#x0A;9 Percent Who Are Working&amp;quot;&quot;/&gt;&lt;property id=&quot;20307&quot; value=&quot;288&quot;/&gt;&lt;/object&gt;&lt;object type=&quot;3&quot; unique_id=&quot;10011&quot;&gt;&lt;property id=&quot;20148&quot; value=&quot;5&quot;/&gt;&lt;property id=&quot;20300&quot; value=&quot;Slide 8 - &amp;quot;Selected Characteristics of Working and All SSI/SSDI Beneficiaries&amp;quot;&quot;/&gt;&lt;property id=&quot;20307&quot; value=&quot;289&quot;/&gt;&lt;/object&gt;&lt;object type=&quot;3&quot; unique_id=&quot;10012&quot;&gt;&lt;property id=&quot;20148&quot; value=&quot;5&quot;/&gt;&lt;property id=&quot;20300&quot; value=&quot;Slide 9 - &amp;quot;Job Characteristics of Working Beneficiaries&amp;quot;&quot;/&gt;&lt;property id=&quot;20307&quot; value=&quot;299&quot;/&gt;&lt;/object&gt;&lt;object type=&quot;3&quot; unique_id=&quot;10013&quot;&gt;&lt;property id=&quot;20148&quot; value=&quot;5&quot;/&gt;&lt;property id=&quot;20300&quot; value=&quot;Slide 10 - &amp;quot;Working SSI-Only Beneficiaries Were More Likely to:&amp;quot;&quot;/&gt;&lt;property id=&quot;20307&quot; value=&quot;298&quot;/&gt;&lt;/object&gt;&lt;object type=&quot;3&quot; unique_id=&quot;10014&quot;&gt;&lt;property id=&quot;20148&quot; value=&quot;5&quot;/&gt;&lt;property id=&quot;20300&quot; value=&quot;Slide 11 - &amp;quot;Share of Beneficiaries Who Say &amp;#x0D;&amp;#x0A;They Want to Work&amp;quot;&quot;/&gt;&lt;property id=&quot;20307&quot; value=&quot;291&quot;/&gt;&lt;/object&gt;&lt;object type=&quot;3&quot; unique_id=&quot;10015&quot;&gt;&lt;property id=&quot;20148&quot; value=&quot;5&quot;/&gt;&lt;property id=&quot;20300&quot; value=&quot;Slide 12 - &amp;quot;Reasons Beneficiaries Give for &amp;#x0D;&amp;#x0A;Not Working&amp;quot;&quot;/&gt;&lt;property id=&quot;20307&quot; value=&quot;292&quot;/&gt;&lt;/object&gt;&lt;object type=&quot;3&quot; unique_id=&quot;10016&quot;&gt;&lt;property id=&quot;20148&quot; value=&quot;5&quot;/&gt;&lt;property id=&quot;20300&quot; value=&quot;Slide 13 - &amp;quot;Other Challenges to Employment Faced by Working-Age Beneficiaries&amp;quot;&quot;/&gt;&lt;property id=&quot;20307&quot; value=&quot;294&quot;/&gt;&lt;/object&gt;&lt;object type=&quot;3&quot; unique_id=&quot;10017&quot;&gt;&lt;property id=&quot;20148&quot; value=&quot;5&quot;/&gt;&lt;property id=&quot;20300&quot; value=&quot;Slide 14 - &amp;quot;Efforts to Promote Employment Among Beneficiaries Are Not Futile&amp;quot;&quot;/&gt;&lt;property id=&quot;20307&quot; value=&quot;295&quot;/&gt;&lt;/object&gt;&lt;object type=&quot;3&quot; unique_id=&quot;10018&quot;&gt;&lt;property id=&quot;20148&quot; value=&quot;5&quot;/&gt;&lt;property id=&quot;20300&quot; value=&quot;Slide 15 - &amp;quot;Efforts to Promote Employment Among Beneficiaries Will Be Challenging&amp;quot;&quot;/&gt;&lt;property id=&quot;20307&quot; value=&quot;303&quot;/&gt;&lt;/object&gt;&lt;object type=&quot;3&quot; unique_id=&quot;10019&quot;&gt;&lt;property id=&quot;20148&quot; value=&quot;5&quot;/&gt;&lt;property id=&quot;20300&quot; value=&quot;Slide 16 - &amp;quot;Contact Information&amp;quot;&quot;/&gt;&lt;property id=&quot;20307&quot; value=&quot;283&quot;/&gt;&lt;/object&gt;&lt;/object&gt;&lt;/object&gt;&lt;/database&gt;"/>
</p:tagLst>
</file>

<file path=ppt/theme/theme1.xml><?xml version="1.0" encoding="utf-8"?>
<a:theme xmlns:a="http://schemas.openxmlformats.org/drawingml/2006/main" name="1_4 CSDP Slide Template">
  <a:themeElements>
    <a:clrScheme name="Custom 1">
      <a:dk1>
        <a:srgbClr val="151515"/>
      </a:dk1>
      <a:lt1>
        <a:srgbClr val="FFFFFF"/>
      </a:lt1>
      <a:dk2>
        <a:srgbClr val="0066CC"/>
      </a:dk2>
      <a:lt2>
        <a:srgbClr val="151515"/>
      </a:lt2>
      <a:accent1>
        <a:srgbClr val="003266"/>
      </a:accent1>
      <a:accent2>
        <a:srgbClr val="E7E7E7"/>
      </a:accent2>
      <a:accent3>
        <a:srgbClr val="A5A5A5"/>
      </a:accent3>
      <a:accent4>
        <a:srgbClr val="DADADA"/>
      </a:accent4>
      <a:accent5>
        <a:srgbClr val="ADE2E2"/>
      </a:accent5>
      <a:accent6>
        <a:srgbClr val="5CB9E7"/>
      </a:accent6>
      <a:hlink>
        <a:srgbClr val="0066CC"/>
      </a:hlink>
      <a:folHlink>
        <a:srgbClr val="FFCC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4 CSDP Slide Template">
  <a:themeElements>
    <a:clrScheme name="Custom 1">
      <a:dk1>
        <a:srgbClr val="151515"/>
      </a:dk1>
      <a:lt1>
        <a:srgbClr val="FFFFFF"/>
      </a:lt1>
      <a:dk2>
        <a:srgbClr val="0066CC"/>
      </a:dk2>
      <a:lt2>
        <a:srgbClr val="151515"/>
      </a:lt2>
      <a:accent1>
        <a:srgbClr val="003266"/>
      </a:accent1>
      <a:accent2>
        <a:srgbClr val="E7E7E7"/>
      </a:accent2>
      <a:accent3>
        <a:srgbClr val="A5A5A5"/>
      </a:accent3>
      <a:accent4>
        <a:srgbClr val="DADADA"/>
      </a:accent4>
      <a:accent5>
        <a:srgbClr val="ADE2E2"/>
      </a:accent5>
      <a:accent6>
        <a:srgbClr val="5CB9E7"/>
      </a:accent6>
      <a:hlink>
        <a:srgbClr val="0066CC"/>
      </a:hlink>
      <a:folHlink>
        <a:srgbClr val="FFCC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89562E724024595B6F6839457EEAB" ma:contentTypeVersion="11" ma:contentTypeDescription="Create a new document." ma:contentTypeScope="" ma:versionID="a55b46c7cf422668b7add2c240962d4e">
  <xsd:schema xmlns:xsd="http://www.w3.org/2001/XMLSchema" xmlns:xs="http://www.w3.org/2001/XMLSchema" xmlns:p="http://schemas.microsoft.com/office/2006/metadata/properties" xmlns:ns2="4242b8a1-7a91-48e1-9491-342c8aee28a6" xmlns:ns3="061e8ecc-5f93-4052-b542-6774df9d2165" targetNamespace="http://schemas.microsoft.com/office/2006/metadata/properties" ma:root="true" ma:fieldsID="a73d558ee5e8dd0398c8ba741abbb0ea" ns2:_="" ns3:_="">
    <xsd:import namespace="4242b8a1-7a91-48e1-9491-342c8aee28a6"/>
    <xsd:import namespace="061e8ecc-5f93-4052-b542-6774df9d21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2b8a1-7a91-48e1-9491-342c8aee28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bb1ab42-7277-4699-bffd-c4f8fd762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e8ecc-5f93-4052-b542-6774df9d21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5d72260-9a7d-4945-ba03-7d4d77032514}" ma:internalName="TaxCatchAll" ma:showField="CatchAllData" ma:web="061e8ecc-5f93-4052-b542-6774df9d21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1e8ecc-5f93-4052-b542-6774df9d2165" xsi:nil="true"/>
    <lcf76f155ced4ddcb4097134ff3c332f xmlns="4242b8a1-7a91-48e1-9491-342c8aee28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DA5DED-6F5F-47DB-8C97-7509442A970E}"/>
</file>

<file path=customXml/itemProps2.xml><?xml version="1.0" encoding="utf-8"?>
<ds:datastoreItem xmlns:ds="http://schemas.openxmlformats.org/officeDocument/2006/customXml" ds:itemID="{8BBF3AA0-5C3C-45C1-98F0-571704CC0865}"/>
</file>

<file path=customXml/itemProps3.xml><?xml version="1.0" encoding="utf-8"?>
<ds:datastoreItem xmlns:ds="http://schemas.openxmlformats.org/officeDocument/2006/customXml" ds:itemID="{0CB1DB4A-8DA9-4264-8627-52ACBE4A9D3E}"/>
</file>

<file path=docProps/app.xml><?xml version="1.0" encoding="utf-8"?>
<Properties xmlns="http://schemas.openxmlformats.org/officeDocument/2006/extended-properties" xmlns:vt="http://schemas.openxmlformats.org/officeDocument/2006/docPropsVTypes">
  <Template>3 CSDP Slide Template</Template>
  <TotalTime>714</TotalTime>
  <Words>2582</Words>
  <Application>Microsoft Office PowerPoint</Application>
  <PresentationFormat>On-screen Show (4:3)</PresentationFormat>
  <Paragraphs>328</Paragraphs>
  <Slides>52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Arial Black</vt:lpstr>
      <vt:lpstr>Arial Bold</vt:lpstr>
      <vt:lpstr>Mangal</vt:lpstr>
      <vt:lpstr>Times New Roman</vt:lpstr>
      <vt:lpstr>Wingdings</vt:lpstr>
      <vt:lpstr>1_4 CSDP Slide Template</vt:lpstr>
      <vt:lpstr>2_4 CSDP Slide Template</vt:lpstr>
      <vt:lpstr>Innovating Services, Improving Outcomes: A VR Model for Serving SSDI Clients</vt:lpstr>
      <vt:lpstr>Welcome</vt:lpstr>
      <vt:lpstr>About the Center for Studying  Disability Policy (CSDP)</vt:lpstr>
      <vt:lpstr>Today’s Speakers</vt:lpstr>
      <vt:lpstr>Designing and Initiating the VR Services Model</vt:lpstr>
      <vt:lpstr>PowerPoint Presentation</vt:lpstr>
      <vt:lpstr>Intervention Creation</vt:lpstr>
      <vt:lpstr>Pulling the Clues Together</vt:lpstr>
      <vt:lpstr>Interview Responses</vt:lpstr>
      <vt:lpstr>Preliminary Analysis </vt:lpstr>
      <vt:lpstr>Case Study Findings</vt:lpstr>
      <vt:lpstr>What We Came To </vt:lpstr>
      <vt:lpstr>SGA Project: State Experiences  </vt:lpstr>
      <vt:lpstr>Enhanced Services Expectations—Both States</vt:lpstr>
      <vt:lpstr>Kentucky: Coordinated Team Approach </vt:lpstr>
      <vt:lpstr>SGA Project—Kentucky Context (1)</vt:lpstr>
      <vt:lpstr>SGA Project—Kentucky Context (2)</vt:lpstr>
      <vt:lpstr>TA Process—Kentucky OVR</vt:lpstr>
      <vt:lpstr>What Were the Major Kentucky Barriers?</vt:lpstr>
      <vt:lpstr>Kentucky Implementation Successes</vt:lpstr>
      <vt:lpstr>Kentucky Sustainability</vt:lpstr>
      <vt:lpstr>Minnesota: Differences from Kentucky Approach</vt:lpstr>
      <vt:lpstr>SGA Project—Minnesota Context</vt:lpstr>
      <vt:lpstr>TA Process—Minnesota VRS DEED</vt:lpstr>
      <vt:lpstr>Minnesota Sustainability</vt:lpstr>
      <vt:lpstr>Lessons Learned from Both States’ Experiences (1)</vt:lpstr>
      <vt:lpstr>Lessons Learned from Both States’ Experiences (2)</vt:lpstr>
      <vt:lpstr>Impacts of the SGA Project Innovations</vt:lpstr>
      <vt:lpstr>Overview</vt:lpstr>
      <vt:lpstr>Design of the SGA Project Demonstration</vt:lpstr>
      <vt:lpstr>Estimated Impacts Using VR Agencies’ Data </vt:lpstr>
      <vt:lpstr>Impacts Estimated as Difference in Usual- and Enhanced-Service Offices</vt:lpstr>
      <vt:lpstr>SGA Project Innovations Improved Pace and Employment in Kentucky</vt:lpstr>
      <vt:lpstr>Faster Pace and Increased Authorization for Services in Kentucky</vt:lpstr>
      <vt:lpstr>SGA Project Innovations Improved Pace and Engagement in Minnesota</vt:lpstr>
      <vt:lpstr>Some Changes in Service Delivery in Minnesota</vt:lpstr>
      <vt:lpstr>Impacts on Non–SGA Project Clients</vt:lpstr>
      <vt:lpstr>Longer-Term Impacts Are Still Unknown</vt:lpstr>
      <vt:lpstr>Challenges, Lessons, and Implications of the SGA Project Demonstration</vt:lpstr>
      <vt:lpstr>Overview</vt:lpstr>
      <vt:lpstr>Intervention Implementation</vt:lpstr>
      <vt:lpstr>Kentucky: Innovation  Implementation (Select Measures)</vt:lpstr>
      <vt:lpstr>Minnesota: Innovation Implementation (Select Measures)</vt:lpstr>
      <vt:lpstr>Both States Had Similar Implementation Challenges</vt:lpstr>
      <vt:lpstr>State-Specific Implementation Challenges</vt:lpstr>
      <vt:lpstr>Implementation Lessons</vt:lpstr>
      <vt:lpstr>Sustained SGA Project Innovations</vt:lpstr>
      <vt:lpstr>Implications for Other VR Agencies</vt:lpstr>
      <vt:lpstr>New Directions Emerging from the Demonstration</vt:lpstr>
      <vt:lpstr>Discussant</vt:lpstr>
      <vt:lpstr>Response  </vt:lpstr>
      <vt:lpstr>Audience Q&amp;A</vt:lpstr>
    </vt:vector>
  </TitlesOfParts>
  <Company>Mathematica,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Innovating Services, Improving Outcomes: A VR Model for Serving SSDI Clients</dc:title>
  <dc:creator>Steve Bruns</dc:creator>
  <dc:description>Use "save as PDF" method to create PDF (April 24, 2009).</dc:description>
  <cp:lastModifiedBy>Allison B Taylor</cp:lastModifiedBy>
  <cp:revision>83</cp:revision>
  <cp:lastPrinted>2017-09-25T15:01:55Z</cp:lastPrinted>
  <dcterms:created xsi:type="dcterms:W3CDTF">2017-09-21T20:06:42Z</dcterms:created>
  <dcterms:modified xsi:type="dcterms:W3CDTF">2018-04-30T14:26:27Z</dcterms:modified>
  <cp:contentStatus>April 24, 2009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0x01010076589562E724024595B6F6839457EEAB</vt:lpwstr>
  </property>
</Properties>
</file>