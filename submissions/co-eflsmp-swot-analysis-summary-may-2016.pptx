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3" r:id="rId1"/>
  </p:sldMasterIdLst>
  <p:notesMasterIdLst>
    <p:notesMasterId r:id="rId10"/>
  </p:notesMasterIdLst>
  <p:handoutMasterIdLst>
    <p:handoutMasterId r:id="rId11"/>
  </p:handoutMasterIdLst>
  <p:sldIdLst>
    <p:sldId id="256" r:id="rId2"/>
    <p:sldId id="314" r:id="rId3"/>
    <p:sldId id="315" r:id="rId4"/>
    <p:sldId id="316" r:id="rId5"/>
    <p:sldId id="317" r:id="rId6"/>
    <p:sldId id="318" r:id="rId7"/>
    <p:sldId id="319" r:id="rId8"/>
    <p:sldId id="31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ryl Mitchell" initials="CM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88" autoAdjust="0"/>
    <p:restoredTop sz="94703" autoAdjust="0"/>
  </p:normalViewPr>
  <p:slideViewPr>
    <p:cSldViewPr>
      <p:cViewPr varScale="1">
        <p:scale>
          <a:sx n="85" d="100"/>
          <a:sy n="85" d="100"/>
        </p:scale>
        <p:origin x="-96" y="-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C2EE7-7A57-714F-9609-25C4E1494122}" type="datetimeFigureOut">
              <a:rPr lang="en-US" smtClean="0"/>
              <a:t>5/24/16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42697-7CAC-D44B-8890-F6A6BF022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124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858E-FCD8-4ED7-BED2-9A033A14DA47}" type="datetimeFigureOut">
              <a:rPr lang="en-US" smtClean="0"/>
              <a:t>5/24/16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FB66-5F89-47BC-8A1D-BCED48A2E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916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7FB66-5F89-47BC-8A1D-BCED48A2E1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2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7FB66-5F89-47BC-8A1D-BCED48A2E1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24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BD77-EDA5-48C9-9357-90E970C5CE61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37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1B1A-19D4-47A4-A383-C70B2572AC00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2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9CDF-700E-46D1-B6DC-65697EABCA54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6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DC63-DA8C-400D-929F-0F71A56EB39F}" type="datetime1">
              <a:rPr lang="en-US" smtClean="0"/>
              <a:t>5/24/16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0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8F37-7D4D-44D1-818C-42F933E828A3}" type="datetime1">
              <a:rPr lang="en-US" smtClean="0"/>
              <a:t>5/24/16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7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BC703-DE81-4BA6-A52A-0AAD2FE42F2E}" type="datetime1">
              <a:rPr lang="en-US" smtClean="0"/>
              <a:t>5/24/16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7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E1C2-F054-459B-8CDE-797F6BC47AF3}" type="datetime1">
              <a:rPr lang="en-US" smtClean="0"/>
              <a:t>5/24/16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8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DD62CC-57D0-498D-98EE-D641145C7032}" type="datetime1">
              <a:rPr lang="en-US" smtClean="0"/>
              <a:t>5/24/16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4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32733-221F-4D5A-8B8E-4CCDDD61FF97}" type="datetime1">
              <a:rPr lang="en-US" smtClean="0"/>
              <a:t>5/24/16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4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41FD-18A0-4B55-8841-06CF01006564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6E4F-3B59-49B5-9750-EC40C94E1200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7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02CD8F-62CF-4AF8-A981-B64338D84851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64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224" y="1524000"/>
            <a:ext cx="2939975" cy="2438400"/>
          </a:xfrm>
        </p:spPr>
        <p:txBody>
          <a:bodyPr>
            <a:noAutofit/>
          </a:bodyPr>
          <a:lstStyle/>
          <a:p>
            <a:pPr marL="182880" indent="0">
              <a:lnSpc>
                <a:spcPct val="100000"/>
              </a:lnSpc>
              <a:buNone/>
            </a:pPr>
            <a:r>
              <a:rPr lang="en-US" sz="4400" b="1" dirty="0" smtClean="0">
                <a:solidFill>
                  <a:schemeClr val="tx1"/>
                </a:solidFill>
              </a:rPr>
              <a:t>Colorado SWOT Analysis Summary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572000"/>
            <a:ext cx="7848600" cy="143886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EFSLMP Vision Quest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Workforce Development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May 26, 2016</a:t>
            </a:r>
          </a:p>
        </p:txBody>
      </p:sp>
      <p:pic>
        <p:nvPicPr>
          <p:cNvPr id="4" name="Picture 3" descr="Image represents ODEP's Employment 1st  " title="Employment 1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25" y="457201"/>
            <a:ext cx="1408298" cy="243861"/>
          </a:xfrm>
          <a:prstGeom prst="rect">
            <a:avLst/>
          </a:prstGeom>
        </p:spPr>
      </p:pic>
      <p:pic>
        <p:nvPicPr>
          <p:cNvPr id="6" name="Picture 5" descr="Image represents ODEP's logo" title="ODEP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229861"/>
            <a:ext cx="1444877" cy="536494"/>
          </a:xfrm>
          <a:prstGeom prst="rect">
            <a:avLst/>
          </a:prstGeom>
        </p:spPr>
      </p:pic>
      <p:pic>
        <p:nvPicPr>
          <p:cNvPr id="7" name="Picture 6" descr="Image represents EconSys' logo&#10;" title="EconSys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43796"/>
            <a:ext cx="1627773" cy="518205"/>
          </a:xfrm>
          <a:prstGeom prst="rect">
            <a:avLst/>
          </a:prstGeom>
        </p:spPr>
      </p:pic>
      <p:pic>
        <p:nvPicPr>
          <p:cNvPr id="8" name="Picture 7" descr="United States map with Colorado highlighed" title="Colorado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600200"/>
            <a:ext cx="2895600" cy="1790982"/>
          </a:xfrm>
          <a:prstGeom prst="rect">
            <a:avLst/>
          </a:prstGeom>
        </p:spPr>
      </p:pic>
      <p:pic>
        <p:nvPicPr>
          <p:cNvPr id="5" name="Picture 4" descr="SWOT Graphic - Strengths, Weaknesses, Opportunities, Threats" title="SWOT Graphic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752600"/>
            <a:ext cx="1676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1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</a:t>
            </a:r>
            <a:r>
              <a:rPr lang="en-US" dirty="0" smtClean="0"/>
              <a:t>trengths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97971"/>
            <a:ext cx="7543801" cy="4023360"/>
          </a:xfrm>
        </p:spPr>
        <p:txBody>
          <a:bodyPr/>
          <a:lstStyle/>
          <a:p>
            <a:pPr marL="182880" lvl="0" indent="-182880">
              <a:buFont typeface="Wingdings" charset="2"/>
              <a:buChar char="§"/>
            </a:pPr>
            <a:r>
              <a:rPr lang="en-US" sz="2800" dirty="0" smtClean="0"/>
              <a:t>School-to-Work Alliance (SWAP) </a:t>
            </a:r>
            <a:r>
              <a:rPr lang="en-US" sz="2800" dirty="0"/>
              <a:t>structure and school relationships</a:t>
            </a:r>
          </a:p>
          <a:p>
            <a:pPr marL="182880" lvl="0" indent="-182880">
              <a:buFont typeface="Wingdings" charset="2"/>
              <a:buChar char="§"/>
            </a:pPr>
            <a:r>
              <a:rPr lang="en-US" sz="2800" dirty="0"/>
              <a:t>Mutual meeting of DVR and education goals</a:t>
            </a:r>
          </a:p>
          <a:p>
            <a:pPr marL="182880" lvl="0" indent="-182880">
              <a:buFont typeface="Wingdings" charset="2"/>
              <a:buChar char="§"/>
            </a:pPr>
            <a:r>
              <a:rPr lang="en-US" sz="2800" dirty="0"/>
              <a:t>Significant source of cash match for DVR</a:t>
            </a:r>
          </a:p>
          <a:p>
            <a:pPr marL="182880" lvl="0" indent="-182880">
              <a:buFont typeface="Wingdings" charset="2"/>
              <a:buChar char="§"/>
            </a:pPr>
            <a:r>
              <a:rPr lang="en-US" sz="2800" dirty="0"/>
              <a:t>Relatively positive data for Colorado in terms of employment of people with disabilities</a:t>
            </a:r>
          </a:p>
          <a:p>
            <a:endParaRPr lang="en-US" dirty="0"/>
          </a:p>
        </p:txBody>
      </p:sp>
      <p:pic>
        <p:nvPicPr>
          <p:cNvPr id="6" name="Picture 5" descr="Graphic for SWOT Analysis - Strengths, Weaknesses, Opportunities, Threats" title="SWOT Graphic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52400"/>
            <a:ext cx="1893040" cy="18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7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W</a:t>
            </a:r>
            <a:r>
              <a:rPr lang="en-US" dirty="0" smtClean="0"/>
              <a:t>eaknesses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8458200" cy="4267200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High level of reliance by DVR on SWAP for its budget</a:t>
            </a:r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Misalignment of SWAP with overall DVR priorities in terms of population served</a:t>
            </a:r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SWAP viewed as </a:t>
            </a:r>
            <a:r>
              <a:rPr lang="en-US" sz="8000" dirty="0" smtClean="0"/>
              <a:t>default </a:t>
            </a:r>
            <a:r>
              <a:rPr lang="en-US" sz="8000" dirty="0"/>
              <a:t>option for DVR in terms of transition</a:t>
            </a:r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Per Indicator 14, many individuals leaving school and not engaged in further education or employment</a:t>
            </a:r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Mismatch between students in SWAP and </a:t>
            </a:r>
            <a:r>
              <a:rPr lang="en-US" sz="8000" dirty="0" smtClean="0"/>
              <a:t>Pre-Employment Transition Services</a:t>
            </a:r>
            <a:endParaRPr lang="en-US" sz="8000" dirty="0"/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School reliance on sub-minimum wage</a:t>
            </a:r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School lack of work-based learning opportunities</a:t>
            </a:r>
          </a:p>
          <a:p>
            <a:pPr lvl="0">
              <a:lnSpc>
                <a:spcPct val="120000"/>
              </a:lnSpc>
              <a:buFont typeface="Wingdings" charset="2"/>
              <a:buChar char="§"/>
            </a:pPr>
            <a:r>
              <a:rPr lang="en-US" sz="8000" dirty="0"/>
              <a:t>Local control of education results in lack of </a:t>
            </a:r>
            <a:r>
              <a:rPr lang="en-US" sz="8000" dirty="0" smtClean="0"/>
              <a:t>consistent</a:t>
            </a:r>
            <a:br>
              <a:rPr lang="en-US" sz="8000" dirty="0" smtClean="0"/>
            </a:br>
            <a:r>
              <a:rPr lang="en-US" sz="8000" dirty="0" smtClean="0"/>
              <a:t>cross</a:t>
            </a:r>
            <a:r>
              <a:rPr lang="en-US" sz="8000" dirty="0"/>
              <a:t>-system coordination and engagement</a:t>
            </a:r>
          </a:p>
          <a:p>
            <a:endParaRPr lang="en-US" dirty="0"/>
          </a:p>
        </p:txBody>
      </p:sp>
      <p:pic>
        <p:nvPicPr>
          <p:cNvPr id="5" name="Picture 4" descr="Graphic for SWOT Analysis - Strengths, Weaknesses, Opportunities, Threats" title="SWOT Graphi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712" y="152400"/>
            <a:ext cx="1621727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O</a:t>
            </a:r>
            <a:r>
              <a:rPr lang="en-US" dirty="0" smtClean="0"/>
              <a:t>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921934"/>
            <a:ext cx="7940041" cy="43264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Commitment by DVR within WIOA state plan to revamp transition</a:t>
            </a:r>
          </a:p>
          <a:p>
            <a:pPr lvl="0"/>
            <a:r>
              <a:rPr lang="en-US" dirty="0"/>
              <a:t>Rebuilding of DVR youth service unit</a:t>
            </a:r>
          </a:p>
          <a:p>
            <a:pPr lvl="0"/>
            <a:r>
              <a:rPr lang="en-US" dirty="0"/>
              <a:t>Changes under WIOA provide opportunity to re-work transition</a:t>
            </a:r>
          </a:p>
          <a:p>
            <a:pPr lvl="0"/>
            <a:r>
              <a:rPr lang="en-US" dirty="0"/>
              <a:t>Movement of DVR to Department of Employment and Labor</a:t>
            </a:r>
          </a:p>
          <a:p>
            <a:pPr lvl="0"/>
            <a:r>
              <a:rPr lang="en-US" dirty="0"/>
              <a:t>Colorado Career Pathway initiatives for students</a:t>
            </a:r>
          </a:p>
          <a:p>
            <a:pPr lvl="0"/>
            <a:r>
              <a:rPr lang="en-US" dirty="0"/>
              <a:t>Stronger linkages with workforce development youth services</a:t>
            </a:r>
          </a:p>
          <a:p>
            <a:pPr lvl="0"/>
            <a:r>
              <a:rPr lang="en-US" dirty="0"/>
              <a:t>Strong cross-agency integrated approach on transition with DIDD and OBH</a:t>
            </a:r>
          </a:p>
          <a:p>
            <a:pPr lvl="0"/>
            <a:r>
              <a:rPr lang="en-US" dirty="0"/>
              <a:t>New state focus on work-based learning</a:t>
            </a:r>
          </a:p>
          <a:p>
            <a:pPr lvl="0"/>
            <a:r>
              <a:rPr lang="en-US" dirty="0"/>
              <a:t>Section 511 as a catalyst for reduced use of sub-minimum wage and systems change</a:t>
            </a:r>
          </a:p>
          <a:p>
            <a:endParaRPr lang="en-US" dirty="0"/>
          </a:p>
        </p:txBody>
      </p:sp>
      <p:pic>
        <p:nvPicPr>
          <p:cNvPr id="5" name="Picture 4" descr="Graphic for SWOT Analysis - Strengths, Weaknesses, Opportunities, Threats" title="SWOT Graphi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714" y="152400"/>
            <a:ext cx="1621726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9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T</a:t>
            </a:r>
            <a:r>
              <a:rPr lang="en-US" dirty="0" smtClean="0"/>
              <a:t>hreats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0"/>
            <a:ext cx="7848600" cy="402336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High reliance on school funding for DVR budget creating </a:t>
            </a:r>
            <a:endParaRPr lang="en-US" sz="3200" dirty="0" smtClean="0"/>
          </a:p>
          <a:p>
            <a:pPr lvl="1"/>
            <a:r>
              <a:rPr lang="en-US" sz="3000" i="1" dirty="0"/>
              <a:t>M</a:t>
            </a:r>
            <a:r>
              <a:rPr lang="en-US" sz="3000" i="1" dirty="0" smtClean="0"/>
              <a:t>ajor </a:t>
            </a:r>
            <a:r>
              <a:rPr lang="en-US" sz="3000" i="1" dirty="0"/>
              <a:t>challenges in making changes in </a:t>
            </a:r>
            <a:r>
              <a:rPr lang="en-US" sz="3000" i="1" dirty="0" smtClean="0"/>
              <a:t>SWAP</a:t>
            </a:r>
            <a:endParaRPr lang="en-US" sz="3000" i="1" dirty="0"/>
          </a:p>
          <a:p>
            <a:pPr lvl="1"/>
            <a:r>
              <a:rPr lang="en-US" sz="3000" i="1" dirty="0"/>
              <a:t>R</a:t>
            </a:r>
            <a:r>
              <a:rPr lang="en-US" sz="3000" i="1" dirty="0" smtClean="0"/>
              <a:t>e</a:t>
            </a:r>
            <a:r>
              <a:rPr lang="en-US" sz="3000" i="1" dirty="0"/>
              <a:t>-thinking overall transition </a:t>
            </a:r>
            <a:r>
              <a:rPr lang="en-US" sz="3000" i="1" dirty="0" smtClean="0"/>
              <a:t>efforts</a:t>
            </a:r>
            <a:br>
              <a:rPr lang="en-US" sz="3000" i="1" dirty="0" smtClean="0"/>
            </a:br>
            <a:endParaRPr lang="en-US" sz="3000" i="1" dirty="0"/>
          </a:p>
          <a:p>
            <a:pPr lvl="0"/>
            <a:r>
              <a:rPr lang="en-US" sz="3200" dirty="0"/>
              <a:t>DVR supplanting education obligations with </a:t>
            </a:r>
            <a:r>
              <a:rPr lang="en-US" sz="3200" dirty="0" smtClean="0"/>
              <a:t>Pre-Employment Transition Services </a:t>
            </a:r>
            <a:endParaRPr lang="en-US" sz="3200" dirty="0"/>
          </a:p>
        </p:txBody>
      </p:sp>
      <p:pic>
        <p:nvPicPr>
          <p:cNvPr id="5" name="Picture 4" descr="Graphic for SWOT Analysis - Strengths, Weaknesses, Opportunities, Threats" title="SWOT Graphi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52400"/>
            <a:ext cx="1893040" cy="18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7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Transition Policy 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998134"/>
            <a:ext cx="8016241" cy="4250266"/>
          </a:xfrm>
        </p:spPr>
        <p:txBody>
          <a:bodyPr/>
          <a:lstStyle/>
          <a:p>
            <a:r>
              <a:rPr lang="en-US" dirty="0" smtClean="0"/>
              <a:t>Clarify roles of DVR and Education in delivery of Pre-Employment </a:t>
            </a:r>
            <a:r>
              <a:rPr lang="en-US" dirty="0"/>
              <a:t>T</a:t>
            </a:r>
            <a:r>
              <a:rPr lang="en-US" dirty="0" smtClean="0"/>
              <a:t>ransition Services with emphasis on actual work experience</a:t>
            </a:r>
          </a:p>
          <a:p>
            <a:r>
              <a:rPr lang="en-US" dirty="0" smtClean="0"/>
              <a:t>Enhance existing definitions of Pre-Employment Transition Service components to ensure consistent quality and maximizing work-based learning</a:t>
            </a:r>
          </a:p>
          <a:p>
            <a:r>
              <a:rPr lang="en-US" dirty="0" smtClean="0"/>
              <a:t>Determine target population for </a:t>
            </a:r>
            <a:r>
              <a:rPr lang="en-US" dirty="0"/>
              <a:t>Pre-Employment Transition Services </a:t>
            </a:r>
            <a:r>
              <a:rPr lang="en-US" dirty="0" smtClean="0"/>
              <a:t>and how students will be identified</a:t>
            </a:r>
          </a:p>
          <a:p>
            <a:r>
              <a:rPr lang="en-US" dirty="0" smtClean="0"/>
              <a:t>Define expected </a:t>
            </a:r>
            <a:r>
              <a:rPr lang="en-US" dirty="0"/>
              <a:t>and allowable roles of education agencies, DVR, workforce development, Community Centered Boards, and other entities regarding transition </a:t>
            </a:r>
            <a:endParaRPr lang="en-US" dirty="0" smtClean="0"/>
          </a:p>
          <a:p>
            <a:r>
              <a:rPr lang="en-US" dirty="0" smtClean="0"/>
              <a:t>Expanded role of workforce development in transition</a:t>
            </a:r>
            <a:endParaRPr lang="en-US" dirty="0"/>
          </a:p>
        </p:txBody>
      </p:sp>
      <p:pic>
        <p:nvPicPr>
          <p:cNvPr id="5" name="Picture 4" descr="Picture of East Denver High School" title="Picture of East Denver High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2400"/>
            <a:ext cx="3048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543800" cy="1450757"/>
          </a:xfrm>
        </p:spPr>
        <p:txBody>
          <a:bodyPr/>
          <a:lstStyle/>
          <a:p>
            <a:r>
              <a:rPr lang="en-US" dirty="0" smtClean="0"/>
              <a:t>Section 511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686800" cy="4402666"/>
          </a:xfrm>
        </p:spPr>
        <p:txBody>
          <a:bodyPr>
            <a:noAutofit/>
          </a:bodyPr>
          <a:lstStyle/>
          <a:p>
            <a:r>
              <a:rPr lang="en-US" dirty="0" smtClean="0"/>
              <a:t>Policy statement regarding intent of 511 to divert and transition individuals from sub-minimum wage employment</a:t>
            </a:r>
          </a:p>
          <a:p>
            <a:r>
              <a:rPr lang="en-US" dirty="0" smtClean="0"/>
              <a:t>Polices at state and local level regarding DVR and education responsibilities </a:t>
            </a:r>
          </a:p>
          <a:p>
            <a:r>
              <a:rPr lang="en-US" dirty="0" smtClean="0"/>
              <a:t>Policy from CDE reiterating federal prohibition on schools contracting for paying individuals sub-minimum wage</a:t>
            </a:r>
          </a:p>
          <a:p>
            <a:r>
              <a:rPr lang="en-US" dirty="0" smtClean="0"/>
              <a:t>Cross-agency policies between DVR and DIDD and County-Centered Boards on roles and responsibilities in implementation</a:t>
            </a:r>
          </a:p>
          <a:p>
            <a:r>
              <a:rPr lang="en-US" dirty="0" smtClean="0"/>
              <a:t>Policy directives to sub-minimum wage holder regarding Section 511 responsibilities</a:t>
            </a:r>
          </a:p>
          <a:p>
            <a:r>
              <a:rPr lang="en-US" dirty="0" smtClean="0"/>
              <a:t>High degree of awareness about Section 511 among individuals and families</a:t>
            </a:r>
          </a:p>
          <a:p>
            <a:r>
              <a:rPr lang="en-US" dirty="0"/>
              <a:t>S</a:t>
            </a:r>
            <a:r>
              <a:rPr lang="en-US" dirty="0" smtClean="0"/>
              <a:t>tandards for </a:t>
            </a:r>
            <a:r>
              <a:rPr lang="en-US" dirty="0"/>
              <a:t>self-advocacy, self-determination, and peer </a:t>
            </a:r>
            <a:r>
              <a:rPr lang="en-US" dirty="0" smtClean="0"/>
              <a:t>mentoring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03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Questions and Discussion</a:t>
            </a:r>
            <a:endParaRPr lang="en-US" b="1" dirty="0"/>
          </a:p>
        </p:txBody>
      </p:sp>
      <p:pic>
        <p:nvPicPr>
          <p:cNvPr id="5" name="Picture 4" descr="Drawing of 5 people each with a call out balloon to represent discussion." title="Discussion Graphi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032" y="2438400"/>
            <a:ext cx="4170968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297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1491</TotalTime>
  <Words>450</Words>
  <Application>Microsoft Macintosh PowerPoint</Application>
  <PresentationFormat>On-screen Show (4:3)</PresentationFormat>
  <Paragraphs>57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Retrospect</vt:lpstr>
      <vt:lpstr>Colorado SWOT Analysis Summary</vt:lpstr>
      <vt:lpstr>Strengths</vt:lpstr>
      <vt:lpstr>Weaknesses</vt:lpstr>
      <vt:lpstr>Opportunities</vt:lpstr>
      <vt:lpstr>Threats</vt:lpstr>
      <vt:lpstr>Transition Policy Recommendations</vt:lpstr>
      <vt:lpstr>Section 511 Recommendations</vt:lpstr>
      <vt:lpstr>Questions and Discussion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Obligations and Opportunities: Compliments of the Federal Government</dc:title>
  <dc:creator>lmills67</dc:creator>
  <cp:lastModifiedBy>David Hoff</cp:lastModifiedBy>
  <cp:revision>128</cp:revision>
  <dcterms:created xsi:type="dcterms:W3CDTF">2015-01-26T21:42:42Z</dcterms:created>
  <dcterms:modified xsi:type="dcterms:W3CDTF">2016-05-24T16:49:07Z</dcterms:modified>
</cp:coreProperties>
</file>