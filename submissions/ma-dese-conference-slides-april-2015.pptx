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9" r:id="rId1"/>
  </p:sldMasterIdLst>
  <p:notesMasterIdLst>
    <p:notesMasterId r:id="rId43"/>
  </p:notesMasterIdLst>
  <p:handoutMasterIdLst>
    <p:handoutMasterId r:id="rId44"/>
  </p:handoutMasterIdLst>
  <p:sldIdLst>
    <p:sldId id="787" r:id="rId2"/>
    <p:sldId id="820" r:id="rId3"/>
    <p:sldId id="848" r:id="rId4"/>
    <p:sldId id="836" r:id="rId5"/>
    <p:sldId id="847" r:id="rId6"/>
    <p:sldId id="865" r:id="rId7"/>
    <p:sldId id="844" r:id="rId8"/>
    <p:sldId id="845" r:id="rId9"/>
    <p:sldId id="849" r:id="rId10"/>
    <p:sldId id="846" r:id="rId11"/>
    <p:sldId id="850" r:id="rId12"/>
    <p:sldId id="775" r:id="rId13"/>
    <p:sldId id="835" r:id="rId14"/>
    <p:sldId id="625" r:id="rId15"/>
    <p:sldId id="781" r:id="rId16"/>
    <p:sldId id="782" r:id="rId17"/>
    <p:sldId id="777" r:id="rId18"/>
    <p:sldId id="833" r:id="rId19"/>
    <p:sldId id="834" r:id="rId20"/>
    <p:sldId id="780" r:id="rId21"/>
    <p:sldId id="788" r:id="rId22"/>
    <p:sldId id="863" r:id="rId23"/>
    <p:sldId id="790" r:id="rId24"/>
    <p:sldId id="791" r:id="rId25"/>
    <p:sldId id="855" r:id="rId26"/>
    <p:sldId id="794" r:id="rId27"/>
    <p:sldId id="852" r:id="rId28"/>
    <p:sldId id="795" r:id="rId29"/>
    <p:sldId id="796" r:id="rId30"/>
    <p:sldId id="853" r:id="rId31"/>
    <p:sldId id="856" r:id="rId32"/>
    <p:sldId id="818" r:id="rId33"/>
    <p:sldId id="805" r:id="rId34"/>
    <p:sldId id="857" r:id="rId35"/>
    <p:sldId id="858" r:id="rId36"/>
    <p:sldId id="819" r:id="rId37"/>
    <p:sldId id="815" r:id="rId38"/>
    <p:sldId id="860" r:id="rId39"/>
    <p:sldId id="864" r:id="rId40"/>
    <p:sldId id="813" r:id="rId41"/>
    <p:sldId id="826" r:id="rId4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37D0"/>
    <a:srgbClr val="D60202"/>
    <a:srgbClr val="AE4AB2"/>
    <a:srgbClr val="1136C0"/>
    <a:srgbClr val="FFF80A"/>
    <a:srgbClr val="F5FF15"/>
    <a:srgbClr val="FFEF71"/>
    <a:srgbClr val="3DCB56"/>
    <a:srgbClr val="FF0000"/>
    <a:srgbClr val="F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007" autoAdjust="0"/>
  </p:normalViewPr>
  <p:slideViewPr>
    <p:cSldViewPr>
      <p:cViewPr>
        <p:scale>
          <a:sx n="75" d="100"/>
          <a:sy n="75" d="100"/>
        </p:scale>
        <p:origin x="-320" y="-3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760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handoutMaster" Target="handoutMasters/handoutMaster1.xml"/><Relationship Id="rId45" Type="http://schemas.openxmlformats.org/officeDocument/2006/relationships/printerSettings" Target="printerSettings/printerSettings1.bin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E78607-278D-7A4A-ACB6-756ECECC7F0D}" type="doc">
      <dgm:prSet loTypeId="urn:microsoft.com/office/officeart/2005/8/layout/hProcess9" loCatId="" qsTypeId="urn:microsoft.com/office/officeart/2005/8/quickstyle/simple4" qsCatId="simple" csTypeId="urn:microsoft.com/office/officeart/2005/8/colors/accent1_2" csCatId="accent1" phldr="1"/>
      <dgm:spPr/>
    </dgm:pt>
    <dgm:pt modelId="{FDEB802A-8C23-2840-AEB7-EFD75A661C06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glow rad="635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US" sz="1800" dirty="0" smtClean="0"/>
            <a:t>Age 11-12:</a:t>
          </a:r>
        </a:p>
        <a:p>
          <a:r>
            <a:rPr lang="en-US" sz="1800" dirty="0" smtClean="0"/>
            <a:t> </a:t>
          </a:r>
          <a:r>
            <a:rPr lang="en-US" sz="1800" b="1" i="1" dirty="0" smtClean="0"/>
            <a:t>Interest</a:t>
          </a:r>
          <a:endParaRPr lang="en-US" sz="1800" b="1" i="1" dirty="0"/>
        </a:p>
      </dgm:t>
    </dgm:pt>
    <dgm:pt modelId="{2A12352D-216D-FF41-AE4E-FF967090AFEA}" type="parTrans" cxnId="{C29D9B9B-50B9-7F47-8EB4-D738EA8CE7C2}">
      <dgm:prSet/>
      <dgm:spPr/>
      <dgm:t>
        <a:bodyPr/>
        <a:lstStyle/>
        <a:p>
          <a:endParaRPr lang="en-US"/>
        </a:p>
      </dgm:t>
    </dgm:pt>
    <dgm:pt modelId="{AB03981A-2FFA-BD42-936B-5E36409FA9B8}" type="sibTrans" cxnId="{C29D9B9B-50B9-7F47-8EB4-D738EA8CE7C2}">
      <dgm:prSet/>
      <dgm:spPr/>
      <dgm:t>
        <a:bodyPr/>
        <a:lstStyle/>
        <a:p>
          <a:endParaRPr lang="en-US"/>
        </a:p>
      </dgm:t>
    </dgm:pt>
    <dgm:pt modelId="{269EF9DA-BB86-A14C-83A5-0C0FC7E91061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glow rad="635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US" sz="1800" dirty="0" smtClean="0"/>
            <a:t>Age 13-14:</a:t>
          </a:r>
        </a:p>
        <a:p>
          <a:r>
            <a:rPr lang="en-US" sz="1800" dirty="0" smtClean="0"/>
            <a:t> </a:t>
          </a:r>
          <a:r>
            <a:rPr lang="en-US" sz="1800" b="1" i="1" dirty="0" smtClean="0"/>
            <a:t>Capacity</a:t>
          </a:r>
          <a:endParaRPr lang="en-US" sz="1800" b="1" i="1" dirty="0"/>
        </a:p>
      </dgm:t>
    </dgm:pt>
    <dgm:pt modelId="{3DD50DAA-1834-5D4E-AD28-84EC78440AFA}" type="parTrans" cxnId="{35E712CF-779C-6B47-98A7-C339DD594F49}">
      <dgm:prSet/>
      <dgm:spPr/>
      <dgm:t>
        <a:bodyPr/>
        <a:lstStyle/>
        <a:p>
          <a:endParaRPr lang="en-US"/>
        </a:p>
      </dgm:t>
    </dgm:pt>
    <dgm:pt modelId="{DEC078D0-8522-D148-B2EA-F87C54DFB50F}" type="sibTrans" cxnId="{35E712CF-779C-6B47-98A7-C339DD594F49}">
      <dgm:prSet/>
      <dgm:spPr/>
      <dgm:t>
        <a:bodyPr/>
        <a:lstStyle/>
        <a:p>
          <a:endParaRPr lang="en-US"/>
        </a:p>
      </dgm:t>
    </dgm:pt>
    <dgm:pt modelId="{CD3EA326-8F37-7C43-AC7F-85F3A9785F93}">
      <dgm:prSet phldrT="[Text]" custT="1"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800" dirty="0" smtClean="0"/>
            <a:t>Age 15-17:</a:t>
          </a:r>
        </a:p>
        <a:p>
          <a:r>
            <a:rPr lang="en-US" sz="1800" b="1" i="1" dirty="0" smtClean="0"/>
            <a:t>Tentative</a:t>
          </a:r>
          <a:endParaRPr lang="en-US" sz="1800" b="1" i="1" dirty="0"/>
        </a:p>
      </dgm:t>
    </dgm:pt>
    <dgm:pt modelId="{A54952CA-29A7-4C4A-82C5-ABC040B90816}" type="parTrans" cxnId="{34642089-9AC0-8D44-8FEE-703AD67D8068}">
      <dgm:prSet/>
      <dgm:spPr/>
      <dgm:t>
        <a:bodyPr/>
        <a:lstStyle/>
        <a:p>
          <a:endParaRPr lang="en-US"/>
        </a:p>
      </dgm:t>
    </dgm:pt>
    <dgm:pt modelId="{9C698A82-F760-9040-9DC1-A8C64E99E333}" type="sibTrans" cxnId="{34642089-9AC0-8D44-8FEE-703AD67D8068}">
      <dgm:prSet/>
      <dgm:spPr/>
      <dgm:t>
        <a:bodyPr/>
        <a:lstStyle/>
        <a:p>
          <a:endParaRPr lang="en-US"/>
        </a:p>
      </dgm:t>
    </dgm:pt>
    <dgm:pt modelId="{8B5E24CA-0C20-894C-9824-9C1266990AA6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effectLst>
          <a:glow rad="635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US" dirty="0" smtClean="0"/>
            <a:t>Age 25-30:</a:t>
          </a:r>
        </a:p>
        <a:p>
          <a:r>
            <a:rPr lang="en-US" dirty="0" smtClean="0"/>
            <a:t> </a:t>
          </a:r>
          <a:r>
            <a:rPr lang="en-US" b="1" dirty="0" smtClean="0"/>
            <a:t>Trial &amp; Stabilization</a:t>
          </a:r>
        </a:p>
      </dgm:t>
    </dgm:pt>
    <dgm:pt modelId="{32B1B2C1-17BB-294E-A83F-ECCEA0EF8038}" type="parTrans" cxnId="{2F796982-729D-0B42-BC1D-888D37F8B352}">
      <dgm:prSet/>
      <dgm:spPr/>
      <dgm:t>
        <a:bodyPr/>
        <a:lstStyle/>
        <a:p>
          <a:endParaRPr lang="en-US"/>
        </a:p>
      </dgm:t>
    </dgm:pt>
    <dgm:pt modelId="{AE79B622-77B7-494C-92FD-3DA194E68F9C}" type="sibTrans" cxnId="{2F796982-729D-0B42-BC1D-888D37F8B352}">
      <dgm:prSet/>
      <dgm:spPr/>
      <dgm:t>
        <a:bodyPr/>
        <a:lstStyle/>
        <a:p>
          <a:endParaRPr lang="en-US"/>
        </a:p>
      </dgm:t>
    </dgm:pt>
    <dgm:pt modelId="{5B09698B-2EAC-664A-AB21-D93576CF4AD9}">
      <dgm:prSet phldrT="[Text]" custT="1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3366FF"/>
        </a:solidFill>
      </dgm:spPr>
      <dgm:t>
        <a:bodyPr/>
        <a:lstStyle/>
        <a:p>
          <a:r>
            <a:rPr lang="en-US" sz="1800" dirty="0" smtClean="0">
              <a:solidFill>
                <a:schemeClr val="tx1"/>
              </a:solidFill>
            </a:rPr>
            <a:t>Age 18-21:</a:t>
          </a:r>
        </a:p>
        <a:p>
          <a:r>
            <a:rPr lang="en-US" sz="1700" b="1" i="1" dirty="0" smtClean="0">
              <a:solidFill>
                <a:schemeClr val="tx1"/>
              </a:solidFill>
            </a:rPr>
            <a:t>Crystalize Preference</a:t>
          </a:r>
          <a:endParaRPr lang="en-US" sz="1700" b="1" i="1" dirty="0">
            <a:solidFill>
              <a:schemeClr val="tx1"/>
            </a:solidFill>
          </a:endParaRPr>
        </a:p>
      </dgm:t>
    </dgm:pt>
    <dgm:pt modelId="{9B329E91-A8E3-6C4A-88D1-89252F35CA4C}" type="parTrans" cxnId="{C7AD40DD-BEF9-7446-A253-78672BEAF399}">
      <dgm:prSet/>
      <dgm:spPr/>
      <dgm:t>
        <a:bodyPr/>
        <a:lstStyle/>
        <a:p>
          <a:endParaRPr lang="en-US"/>
        </a:p>
      </dgm:t>
    </dgm:pt>
    <dgm:pt modelId="{310FDFE0-14D7-2042-B67E-A606FC9DCB06}" type="sibTrans" cxnId="{C7AD40DD-BEF9-7446-A253-78672BEAF399}">
      <dgm:prSet/>
      <dgm:spPr/>
      <dgm:t>
        <a:bodyPr/>
        <a:lstStyle/>
        <a:p>
          <a:endParaRPr lang="en-US"/>
        </a:p>
      </dgm:t>
    </dgm:pt>
    <dgm:pt modelId="{D171B74D-35AB-A541-82D2-CD53466C3237}">
      <dgm:prSet phldrT="[Text]" custT="1"/>
      <dgm:spPr>
        <a:solidFill>
          <a:srgbClr val="000090"/>
        </a:solidFill>
        <a:effectLst>
          <a:glow rad="635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US" sz="1500" dirty="0" smtClean="0"/>
            <a:t>Early 20’s:</a:t>
          </a:r>
        </a:p>
        <a:p>
          <a:r>
            <a:rPr lang="en-US" sz="1700" b="1" dirty="0" smtClean="0"/>
            <a:t>Specify Vocational Preference</a:t>
          </a:r>
          <a:endParaRPr lang="en-US" sz="1700" b="1" dirty="0"/>
        </a:p>
      </dgm:t>
    </dgm:pt>
    <dgm:pt modelId="{193A69C0-30EC-834F-BB4B-F97A5A5A03AA}" type="parTrans" cxnId="{30A433EF-BAFF-8947-832E-99931D836ACF}">
      <dgm:prSet/>
      <dgm:spPr/>
      <dgm:t>
        <a:bodyPr/>
        <a:lstStyle/>
        <a:p>
          <a:endParaRPr lang="en-US"/>
        </a:p>
      </dgm:t>
    </dgm:pt>
    <dgm:pt modelId="{B1547568-6D60-3748-A18D-D36AE994D8CA}" type="sibTrans" cxnId="{30A433EF-BAFF-8947-832E-99931D836ACF}">
      <dgm:prSet/>
      <dgm:spPr/>
      <dgm:t>
        <a:bodyPr/>
        <a:lstStyle/>
        <a:p>
          <a:endParaRPr lang="en-US"/>
        </a:p>
      </dgm:t>
    </dgm:pt>
    <dgm:pt modelId="{CFA62FBE-396A-4645-AFDE-A6DCFF160638}" type="pres">
      <dgm:prSet presAssocID="{47E78607-278D-7A4A-ACB6-756ECECC7F0D}" presName="CompostProcess" presStyleCnt="0">
        <dgm:presLayoutVars>
          <dgm:dir/>
          <dgm:resizeHandles val="exact"/>
        </dgm:presLayoutVars>
      </dgm:prSet>
      <dgm:spPr/>
    </dgm:pt>
    <dgm:pt modelId="{2C012168-5CF1-074E-A59E-654D103C28CA}" type="pres">
      <dgm:prSet presAssocID="{47E78607-278D-7A4A-ACB6-756ECECC7F0D}" presName="arrow" presStyleLbl="bgShp" presStyleIdx="0" presStyleCnt="1" custLinFactNeighborX="-4835" custLinFactNeighborY="-8333"/>
      <dgm:spPr>
        <a:solidFill>
          <a:schemeClr val="accent6">
            <a:lumMod val="60000"/>
            <a:lumOff val="40000"/>
          </a:schemeClr>
        </a:solidFill>
        <a:ln w="57150" cmpd="thickThin">
          <a:solidFill>
            <a:srgbClr val="000090"/>
          </a:solidFill>
        </a:ln>
      </dgm:spPr>
    </dgm:pt>
    <dgm:pt modelId="{1512A4C6-4209-B242-A84D-D63D5914CA9E}" type="pres">
      <dgm:prSet presAssocID="{47E78607-278D-7A4A-ACB6-756ECECC7F0D}" presName="linearProcess" presStyleCnt="0"/>
      <dgm:spPr/>
    </dgm:pt>
    <dgm:pt modelId="{82CA88BD-1F91-7846-A359-951714CA1B29}" type="pres">
      <dgm:prSet presAssocID="{FDEB802A-8C23-2840-AEB7-EFD75A661C06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92158A-07F5-384B-893C-D6EAD8DCAD9A}" type="pres">
      <dgm:prSet presAssocID="{AB03981A-2FFA-BD42-936B-5E36409FA9B8}" presName="sibTrans" presStyleCnt="0"/>
      <dgm:spPr/>
    </dgm:pt>
    <dgm:pt modelId="{CD06667A-A930-C746-99A5-EFE6CE7F1DEB}" type="pres">
      <dgm:prSet presAssocID="{269EF9DA-BB86-A14C-83A5-0C0FC7E91061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9AA16A-A0EB-E84B-B7D5-25AF1FC0689A}" type="pres">
      <dgm:prSet presAssocID="{DEC078D0-8522-D148-B2EA-F87C54DFB50F}" presName="sibTrans" presStyleCnt="0"/>
      <dgm:spPr/>
    </dgm:pt>
    <dgm:pt modelId="{C33848B6-89F7-674F-84DE-B88B7880DD20}" type="pres">
      <dgm:prSet presAssocID="{CD3EA326-8F37-7C43-AC7F-85F3A9785F93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231508-79BE-D44B-8863-9E6EF6980B4F}" type="pres">
      <dgm:prSet presAssocID="{9C698A82-F760-9040-9DC1-A8C64E99E333}" presName="sibTrans" presStyleCnt="0"/>
      <dgm:spPr/>
    </dgm:pt>
    <dgm:pt modelId="{B2F65E7C-D087-4944-9595-D319C822E221}" type="pres">
      <dgm:prSet presAssocID="{5B09698B-2EAC-664A-AB21-D93576CF4AD9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6BDEEA-B741-464F-B54B-8B7239CF5C6A}" type="pres">
      <dgm:prSet presAssocID="{310FDFE0-14D7-2042-B67E-A606FC9DCB06}" presName="sibTrans" presStyleCnt="0"/>
      <dgm:spPr/>
    </dgm:pt>
    <dgm:pt modelId="{5693D215-8515-874C-AEA4-DC6A4F16021D}" type="pres">
      <dgm:prSet presAssocID="{D171B74D-35AB-A541-82D2-CD53466C3237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B8E993-449F-C643-ADB2-4C4D3C516178}" type="pres">
      <dgm:prSet presAssocID="{B1547568-6D60-3748-A18D-D36AE994D8CA}" presName="sibTrans" presStyleCnt="0"/>
      <dgm:spPr/>
    </dgm:pt>
    <dgm:pt modelId="{E0B3962E-5D4D-454F-B43B-B20B87C03F88}" type="pres">
      <dgm:prSet presAssocID="{8B5E24CA-0C20-894C-9824-9C1266990AA6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D658941-C138-5043-98A8-7D05C60267B1}" type="presOf" srcId="{CD3EA326-8F37-7C43-AC7F-85F3A9785F93}" destId="{C33848B6-89F7-674F-84DE-B88B7880DD20}" srcOrd="0" destOrd="0" presId="urn:microsoft.com/office/officeart/2005/8/layout/hProcess9"/>
    <dgm:cxn modelId="{C7AD40DD-BEF9-7446-A253-78672BEAF399}" srcId="{47E78607-278D-7A4A-ACB6-756ECECC7F0D}" destId="{5B09698B-2EAC-664A-AB21-D93576CF4AD9}" srcOrd="3" destOrd="0" parTransId="{9B329E91-A8E3-6C4A-88D1-89252F35CA4C}" sibTransId="{310FDFE0-14D7-2042-B67E-A606FC9DCB06}"/>
    <dgm:cxn modelId="{34642089-9AC0-8D44-8FEE-703AD67D8068}" srcId="{47E78607-278D-7A4A-ACB6-756ECECC7F0D}" destId="{CD3EA326-8F37-7C43-AC7F-85F3A9785F93}" srcOrd="2" destOrd="0" parTransId="{A54952CA-29A7-4C4A-82C5-ABC040B90816}" sibTransId="{9C698A82-F760-9040-9DC1-A8C64E99E333}"/>
    <dgm:cxn modelId="{66E0B4A6-A7CD-4343-A8BF-BE4A154F6A99}" type="presOf" srcId="{8B5E24CA-0C20-894C-9824-9C1266990AA6}" destId="{E0B3962E-5D4D-454F-B43B-B20B87C03F88}" srcOrd="0" destOrd="0" presId="urn:microsoft.com/office/officeart/2005/8/layout/hProcess9"/>
    <dgm:cxn modelId="{87A9B93B-6B6F-7146-877D-5D9E206B8F6D}" type="presOf" srcId="{D171B74D-35AB-A541-82D2-CD53466C3237}" destId="{5693D215-8515-874C-AEA4-DC6A4F16021D}" srcOrd="0" destOrd="0" presId="urn:microsoft.com/office/officeart/2005/8/layout/hProcess9"/>
    <dgm:cxn modelId="{96CFACDB-A57E-E54F-BF2F-584846C647F3}" type="presOf" srcId="{5B09698B-2EAC-664A-AB21-D93576CF4AD9}" destId="{B2F65E7C-D087-4944-9595-D319C822E221}" srcOrd="0" destOrd="0" presId="urn:microsoft.com/office/officeart/2005/8/layout/hProcess9"/>
    <dgm:cxn modelId="{3543F18F-7F27-7D4F-B180-C7F2DC6C2854}" type="presOf" srcId="{269EF9DA-BB86-A14C-83A5-0C0FC7E91061}" destId="{CD06667A-A930-C746-99A5-EFE6CE7F1DEB}" srcOrd="0" destOrd="0" presId="urn:microsoft.com/office/officeart/2005/8/layout/hProcess9"/>
    <dgm:cxn modelId="{30A433EF-BAFF-8947-832E-99931D836ACF}" srcId="{47E78607-278D-7A4A-ACB6-756ECECC7F0D}" destId="{D171B74D-35AB-A541-82D2-CD53466C3237}" srcOrd="4" destOrd="0" parTransId="{193A69C0-30EC-834F-BB4B-F97A5A5A03AA}" sibTransId="{B1547568-6D60-3748-A18D-D36AE994D8CA}"/>
    <dgm:cxn modelId="{B31CF720-01C8-2949-AC8E-8002E54EB61F}" type="presOf" srcId="{FDEB802A-8C23-2840-AEB7-EFD75A661C06}" destId="{82CA88BD-1F91-7846-A359-951714CA1B29}" srcOrd="0" destOrd="0" presId="urn:microsoft.com/office/officeart/2005/8/layout/hProcess9"/>
    <dgm:cxn modelId="{35E712CF-779C-6B47-98A7-C339DD594F49}" srcId="{47E78607-278D-7A4A-ACB6-756ECECC7F0D}" destId="{269EF9DA-BB86-A14C-83A5-0C0FC7E91061}" srcOrd="1" destOrd="0" parTransId="{3DD50DAA-1834-5D4E-AD28-84EC78440AFA}" sibTransId="{DEC078D0-8522-D148-B2EA-F87C54DFB50F}"/>
    <dgm:cxn modelId="{2F796982-729D-0B42-BC1D-888D37F8B352}" srcId="{47E78607-278D-7A4A-ACB6-756ECECC7F0D}" destId="{8B5E24CA-0C20-894C-9824-9C1266990AA6}" srcOrd="5" destOrd="0" parTransId="{32B1B2C1-17BB-294E-A83F-ECCEA0EF8038}" sibTransId="{AE79B622-77B7-494C-92FD-3DA194E68F9C}"/>
    <dgm:cxn modelId="{C29D9B9B-50B9-7F47-8EB4-D738EA8CE7C2}" srcId="{47E78607-278D-7A4A-ACB6-756ECECC7F0D}" destId="{FDEB802A-8C23-2840-AEB7-EFD75A661C06}" srcOrd="0" destOrd="0" parTransId="{2A12352D-216D-FF41-AE4E-FF967090AFEA}" sibTransId="{AB03981A-2FFA-BD42-936B-5E36409FA9B8}"/>
    <dgm:cxn modelId="{5D2D4D46-EEA0-954A-B1BB-6315F275304C}" type="presOf" srcId="{47E78607-278D-7A4A-ACB6-756ECECC7F0D}" destId="{CFA62FBE-396A-4645-AFDE-A6DCFF160638}" srcOrd="0" destOrd="0" presId="urn:microsoft.com/office/officeart/2005/8/layout/hProcess9"/>
    <dgm:cxn modelId="{8E3640E9-7684-CB4A-BAD1-E8750D676EC1}" type="presParOf" srcId="{CFA62FBE-396A-4645-AFDE-A6DCFF160638}" destId="{2C012168-5CF1-074E-A59E-654D103C28CA}" srcOrd="0" destOrd="0" presId="urn:microsoft.com/office/officeart/2005/8/layout/hProcess9"/>
    <dgm:cxn modelId="{A6784045-EFF6-B74B-A93B-120A7AC630A3}" type="presParOf" srcId="{CFA62FBE-396A-4645-AFDE-A6DCFF160638}" destId="{1512A4C6-4209-B242-A84D-D63D5914CA9E}" srcOrd="1" destOrd="0" presId="urn:microsoft.com/office/officeart/2005/8/layout/hProcess9"/>
    <dgm:cxn modelId="{4EA0BBFA-EFC4-494D-A3D4-2481E033B979}" type="presParOf" srcId="{1512A4C6-4209-B242-A84D-D63D5914CA9E}" destId="{82CA88BD-1F91-7846-A359-951714CA1B29}" srcOrd="0" destOrd="0" presId="urn:microsoft.com/office/officeart/2005/8/layout/hProcess9"/>
    <dgm:cxn modelId="{82316A7B-88DD-174D-BC78-7B51C7AF450C}" type="presParOf" srcId="{1512A4C6-4209-B242-A84D-D63D5914CA9E}" destId="{B392158A-07F5-384B-893C-D6EAD8DCAD9A}" srcOrd="1" destOrd="0" presId="urn:microsoft.com/office/officeart/2005/8/layout/hProcess9"/>
    <dgm:cxn modelId="{319CD282-B5BC-574D-9E3A-ACA5CD2F8250}" type="presParOf" srcId="{1512A4C6-4209-B242-A84D-D63D5914CA9E}" destId="{CD06667A-A930-C746-99A5-EFE6CE7F1DEB}" srcOrd="2" destOrd="0" presId="urn:microsoft.com/office/officeart/2005/8/layout/hProcess9"/>
    <dgm:cxn modelId="{CBAAC71B-E1C1-E449-9BF9-557A39FEDE03}" type="presParOf" srcId="{1512A4C6-4209-B242-A84D-D63D5914CA9E}" destId="{5E9AA16A-A0EB-E84B-B7D5-25AF1FC0689A}" srcOrd="3" destOrd="0" presId="urn:microsoft.com/office/officeart/2005/8/layout/hProcess9"/>
    <dgm:cxn modelId="{24946C5A-8BED-7F47-AE5B-D9937B6BE04F}" type="presParOf" srcId="{1512A4C6-4209-B242-A84D-D63D5914CA9E}" destId="{C33848B6-89F7-674F-84DE-B88B7880DD20}" srcOrd="4" destOrd="0" presId="urn:microsoft.com/office/officeart/2005/8/layout/hProcess9"/>
    <dgm:cxn modelId="{B64CB459-B6D1-074B-BB9F-13F2A2012933}" type="presParOf" srcId="{1512A4C6-4209-B242-A84D-D63D5914CA9E}" destId="{E0231508-79BE-D44B-8863-9E6EF6980B4F}" srcOrd="5" destOrd="0" presId="urn:microsoft.com/office/officeart/2005/8/layout/hProcess9"/>
    <dgm:cxn modelId="{205E96ED-51BA-C047-B431-FEDD59A303E6}" type="presParOf" srcId="{1512A4C6-4209-B242-A84D-D63D5914CA9E}" destId="{B2F65E7C-D087-4944-9595-D319C822E221}" srcOrd="6" destOrd="0" presId="urn:microsoft.com/office/officeart/2005/8/layout/hProcess9"/>
    <dgm:cxn modelId="{410A6F74-74C2-2944-8623-ED634C18DF66}" type="presParOf" srcId="{1512A4C6-4209-B242-A84D-D63D5914CA9E}" destId="{606BDEEA-B741-464F-B54B-8B7239CF5C6A}" srcOrd="7" destOrd="0" presId="urn:microsoft.com/office/officeart/2005/8/layout/hProcess9"/>
    <dgm:cxn modelId="{45C45B5E-7121-1B42-9871-F43EEE46A4AF}" type="presParOf" srcId="{1512A4C6-4209-B242-A84D-D63D5914CA9E}" destId="{5693D215-8515-874C-AEA4-DC6A4F16021D}" srcOrd="8" destOrd="0" presId="urn:microsoft.com/office/officeart/2005/8/layout/hProcess9"/>
    <dgm:cxn modelId="{D662FACA-5A41-3344-81B5-F1B305C21721}" type="presParOf" srcId="{1512A4C6-4209-B242-A84D-D63D5914CA9E}" destId="{A7B8E993-449F-C643-ADB2-4C4D3C516178}" srcOrd="9" destOrd="0" presId="urn:microsoft.com/office/officeart/2005/8/layout/hProcess9"/>
    <dgm:cxn modelId="{B4FAE8D3-573B-1B40-8224-B2C0C9ED18E7}" type="presParOf" srcId="{1512A4C6-4209-B242-A84D-D63D5914CA9E}" destId="{E0B3962E-5D4D-454F-B43B-B20B87C03F88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12168-5CF1-074E-A59E-654D103C28CA}">
      <dsp:nvSpPr>
        <dsp:cNvPr id="0" name=""/>
        <dsp:cNvSpPr/>
      </dsp:nvSpPr>
      <dsp:spPr>
        <a:xfrm>
          <a:off x="296226" y="0"/>
          <a:ext cx="7426960" cy="4851400"/>
        </a:xfrm>
        <a:prstGeom prst="rightArrow">
          <a:avLst/>
        </a:prstGeom>
        <a:solidFill>
          <a:schemeClr val="accent6">
            <a:lumMod val="60000"/>
            <a:lumOff val="40000"/>
          </a:schemeClr>
        </a:solidFill>
        <a:ln w="57150" cmpd="thickThin">
          <a:solidFill>
            <a:srgbClr val="00009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2CA88BD-1F91-7846-A359-951714CA1B29}">
      <dsp:nvSpPr>
        <dsp:cNvPr id="0" name=""/>
        <dsp:cNvSpPr/>
      </dsp:nvSpPr>
      <dsp:spPr>
        <a:xfrm>
          <a:off x="2726" y="1455420"/>
          <a:ext cx="1395894" cy="1940560"/>
        </a:xfrm>
        <a:prstGeom prst="roundRect">
          <a:avLst/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glow rad="63500">
            <a:schemeClr val="accent2">
              <a:satMod val="175000"/>
              <a:alpha val="40000"/>
            </a:schemeClr>
          </a:glo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Age 11-12: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 </a:t>
          </a:r>
          <a:r>
            <a:rPr lang="en-US" sz="1800" b="1" i="1" kern="1200" dirty="0" smtClean="0"/>
            <a:t>Interest</a:t>
          </a:r>
          <a:endParaRPr lang="en-US" sz="1800" b="1" i="1" kern="1200" dirty="0"/>
        </a:p>
      </dsp:txBody>
      <dsp:txXfrm>
        <a:off x="70868" y="1523562"/>
        <a:ext cx="1259610" cy="1804276"/>
      </dsp:txXfrm>
    </dsp:sp>
    <dsp:sp modelId="{CD06667A-A930-C746-99A5-EFE6CE7F1DEB}">
      <dsp:nvSpPr>
        <dsp:cNvPr id="0" name=""/>
        <dsp:cNvSpPr/>
      </dsp:nvSpPr>
      <dsp:spPr>
        <a:xfrm>
          <a:off x="1469976" y="1455420"/>
          <a:ext cx="1395894" cy="1940560"/>
        </a:xfrm>
        <a:prstGeom prst="roundRect">
          <a:avLst/>
        </a:prstGeom>
        <a:gradFill rotWithShape="1">
          <a:gsLst>
            <a:gs pos="0">
              <a:schemeClr val="accent6">
                <a:tint val="50000"/>
                <a:satMod val="300000"/>
              </a:schemeClr>
            </a:gs>
            <a:gs pos="35000">
              <a:schemeClr val="accent6">
                <a:tint val="37000"/>
                <a:satMod val="300000"/>
              </a:schemeClr>
            </a:gs>
            <a:gs pos="100000">
              <a:schemeClr val="accent6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glow rad="63500">
            <a:schemeClr val="accent4">
              <a:satMod val="175000"/>
              <a:alpha val="40000"/>
            </a:schemeClr>
          </a:glo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Age 13-14: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 </a:t>
          </a:r>
          <a:r>
            <a:rPr lang="en-US" sz="1800" b="1" i="1" kern="1200" dirty="0" smtClean="0"/>
            <a:t>Capacity</a:t>
          </a:r>
          <a:endParaRPr lang="en-US" sz="1800" b="1" i="1" kern="1200" dirty="0"/>
        </a:p>
      </dsp:txBody>
      <dsp:txXfrm>
        <a:off x="1538118" y="1523562"/>
        <a:ext cx="1259610" cy="1804276"/>
      </dsp:txXfrm>
    </dsp:sp>
    <dsp:sp modelId="{C33848B6-89F7-674F-84DE-B88B7880DD20}">
      <dsp:nvSpPr>
        <dsp:cNvPr id="0" name=""/>
        <dsp:cNvSpPr/>
      </dsp:nvSpPr>
      <dsp:spPr>
        <a:xfrm>
          <a:off x="2937227" y="1455420"/>
          <a:ext cx="1395894" cy="1940560"/>
        </a:xfrm>
        <a:prstGeom prst="roundRect">
          <a:avLst/>
        </a:prstGeom>
        <a:solidFill>
          <a:schemeClr val="accent6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Age 15-17: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kern="1200" dirty="0" smtClean="0"/>
            <a:t>Tentative</a:t>
          </a:r>
          <a:endParaRPr lang="en-US" sz="1800" b="1" i="1" kern="1200" dirty="0"/>
        </a:p>
      </dsp:txBody>
      <dsp:txXfrm>
        <a:off x="3005369" y="1523562"/>
        <a:ext cx="1259610" cy="1804276"/>
      </dsp:txXfrm>
    </dsp:sp>
    <dsp:sp modelId="{B2F65E7C-D087-4944-9595-D319C822E221}">
      <dsp:nvSpPr>
        <dsp:cNvPr id="0" name=""/>
        <dsp:cNvSpPr/>
      </dsp:nvSpPr>
      <dsp:spPr>
        <a:xfrm>
          <a:off x="4404477" y="1455420"/>
          <a:ext cx="1395894" cy="1940560"/>
        </a:xfrm>
        <a:prstGeom prst="roundRect">
          <a:avLst/>
        </a:prstGeom>
        <a:solidFill>
          <a:srgbClr val="3366FF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1"/>
              </a:solidFill>
            </a:rPr>
            <a:t>Age 18-21: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1" kern="1200" dirty="0" smtClean="0">
              <a:solidFill>
                <a:schemeClr val="tx1"/>
              </a:solidFill>
            </a:rPr>
            <a:t>Crystalize Preference</a:t>
          </a:r>
          <a:endParaRPr lang="en-US" sz="1700" b="1" i="1" kern="1200" dirty="0">
            <a:solidFill>
              <a:schemeClr val="tx1"/>
            </a:solidFill>
          </a:endParaRPr>
        </a:p>
      </dsp:txBody>
      <dsp:txXfrm>
        <a:off x="4472619" y="1523562"/>
        <a:ext cx="1259610" cy="1804276"/>
      </dsp:txXfrm>
    </dsp:sp>
    <dsp:sp modelId="{5693D215-8515-874C-AEA4-DC6A4F16021D}">
      <dsp:nvSpPr>
        <dsp:cNvPr id="0" name=""/>
        <dsp:cNvSpPr/>
      </dsp:nvSpPr>
      <dsp:spPr>
        <a:xfrm>
          <a:off x="5871728" y="1455420"/>
          <a:ext cx="1395894" cy="1940560"/>
        </a:xfrm>
        <a:prstGeom prst="roundRect">
          <a:avLst/>
        </a:prstGeom>
        <a:solidFill>
          <a:srgbClr val="000090"/>
        </a:solidFill>
        <a:ln>
          <a:noFill/>
        </a:ln>
        <a:effectLst>
          <a:glow rad="63500">
            <a:schemeClr val="accent2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Early 20’s: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Specify Vocational Preference</a:t>
          </a:r>
          <a:endParaRPr lang="en-US" sz="1700" b="1" kern="1200" dirty="0"/>
        </a:p>
      </dsp:txBody>
      <dsp:txXfrm>
        <a:off x="5939870" y="1523562"/>
        <a:ext cx="1259610" cy="1804276"/>
      </dsp:txXfrm>
    </dsp:sp>
    <dsp:sp modelId="{E0B3962E-5D4D-454F-B43B-B20B87C03F88}">
      <dsp:nvSpPr>
        <dsp:cNvPr id="0" name=""/>
        <dsp:cNvSpPr/>
      </dsp:nvSpPr>
      <dsp:spPr>
        <a:xfrm>
          <a:off x="7338978" y="1455420"/>
          <a:ext cx="1395894" cy="1940560"/>
        </a:xfrm>
        <a:prstGeom prst="roundRect">
          <a:avLst/>
        </a:prstGeom>
        <a:solidFill>
          <a:schemeClr val="accent4"/>
        </a:solidFill>
        <a:ln w="38100" cap="flat" cmpd="sng" algn="ctr">
          <a:solidFill>
            <a:schemeClr val="lt1"/>
          </a:solidFill>
          <a:prstDash val="solid"/>
        </a:ln>
        <a:effectLst>
          <a:glow rad="63500">
            <a:schemeClr val="accent4">
              <a:satMod val="175000"/>
              <a:alpha val="40000"/>
            </a:schemeClr>
          </a:glow>
        </a:effectLst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Age 25-30: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 </a:t>
          </a:r>
          <a:r>
            <a:rPr lang="en-US" sz="1500" b="1" kern="1200" dirty="0" smtClean="0"/>
            <a:t>Trial &amp; Stabilization</a:t>
          </a:r>
        </a:p>
      </dsp:txBody>
      <dsp:txXfrm>
        <a:off x="7407120" y="1523562"/>
        <a:ext cx="1259610" cy="1804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/>
          <p:cNvSpPr>
            <a:spLocks noChangeArrowheads="1"/>
          </p:cNvSpPr>
          <p:nvPr/>
        </p:nvSpPr>
        <p:spPr bwMode="auto">
          <a:xfrm>
            <a:off x="3200400" y="8588375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1400"/>
          </a:p>
        </p:txBody>
      </p:sp>
      <p:sp>
        <p:nvSpPr>
          <p:cNvPr id="25603" name="Rectangle 7"/>
          <p:cNvSpPr>
            <a:spLocks noChangeArrowheads="1"/>
          </p:cNvSpPr>
          <p:nvPr/>
        </p:nvSpPr>
        <p:spPr bwMode="auto">
          <a:xfrm>
            <a:off x="4800600" y="152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96293B16-5310-A242-8B9E-7E479C16C966}" type="slidenum">
              <a:rPr lang="en-US" sz="1400"/>
              <a:pPr algn="r"/>
              <a:t>‹#›</a:t>
            </a:fld>
            <a:endParaRPr lang="en-US" sz="1400"/>
          </a:p>
        </p:txBody>
      </p:sp>
      <p:sp>
        <p:nvSpPr>
          <p:cNvPr id="25604" name="Rectangle 8"/>
          <p:cNvSpPr>
            <a:spLocks noChangeArrowheads="1"/>
          </p:cNvSpPr>
          <p:nvPr/>
        </p:nvSpPr>
        <p:spPr bwMode="auto">
          <a:xfrm>
            <a:off x="152400" y="8305800"/>
            <a:ext cx="6400800" cy="6858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9"/>
          <p:cNvSpPr>
            <a:spLocks noChangeArrowheads="1"/>
          </p:cNvSpPr>
          <p:nvPr/>
        </p:nvSpPr>
        <p:spPr bwMode="auto">
          <a:xfrm>
            <a:off x="152400" y="8305800"/>
            <a:ext cx="6400800" cy="128588"/>
          </a:xfrm>
          <a:prstGeom prst="rect">
            <a:avLst/>
          </a:prstGeom>
          <a:solidFill>
            <a:srgbClr val="00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5606" name="Picture 11" descr="iciPPT_B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458200"/>
            <a:ext cx="30480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10" descr="umb_wh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8486775"/>
            <a:ext cx="355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5398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Geneva" charset="0"/>
              </a:defRPr>
            </a:lvl1pPr>
          </a:lstStyle>
          <a:p>
            <a:pPr>
              <a:defRPr/>
            </a:pPr>
            <a:fld id="{779DEED0-D9C0-E449-AC9F-D335B7268D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801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Geneva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1AB0745-1A2D-F24C-B28F-8F52445FAF2A}" type="slidenum">
              <a:rPr lang="en-US" sz="1200"/>
              <a:pPr/>
              <a:t>1</a:t>
            </a:fld>
            <a:endParaRPr lang="en-US" sz="1200" dirty="0"/>
          </a:p>
        </p:txBody>
      </p:sp>
      <p:sp>
        <p:nvSpPr>
          <p:cNvPr id="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z="10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BC04F52-F3EC-0141-AFC3-0DABF47A6FEE}" type="slidenum">
              <a:rPr lang="en-US" sz="1200">
                <a:cs typeface="Geneva" charset="0"/>
              </a:rPr>
              <a:pPr/>
              <a:t>15</a:t>
            </a:fld>
            <a:endParaRPr lang="en-US" sz="1200">
              <a:cs typeface="Geneva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9C3BBFF-F018-E846-94FF-760A8E78BA9F}" type="slidenum">
              <a:rPr lang="en-US" sz="1200">
                <a:cs typeface="Geneva" charset="0"/>
              </a:rPr>
              <a:pPr/>
              <a:t>39</a:t>
            </a:fld>
            <a:endParaRPr lang="en-US" sz="1200">
              <a:cs typeface="Geneva" charset="0"/>
            </a:endParaRPr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1F09A3C3-5CCE-D64A-BE28-1A0BCE937401}" type="slidenum">
              <a:rPr lang="en-US" sz="1200">
                <a:cs typeface="Geneva" charset="0"/>
              </a:rPr>
              <a:pPr/>
              <a:t>40</a:t>
            </a:fld>
            <a:endParaRPr lang="en-US" sz="1200">
              <a:cs typeface="Geneva" charset="0"/>
            </a:endParaRPr>
          </a:p>
        </p:txBody>
      </p:sp>
      <p:sp>
        <p:nvSpPr>
          <p:cNvPr id="11469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r"/>
            <a:fld id="{45DB2F97-A022-3648-9776-E54FF387F78C}" type="slidenum">
              <a:rPr lang="en-US" sz="1200">
                <a:cs typeface="Geneva" charset="0"/>
              </a:rPr>
              <a:pPr algn="r"/>
              <a:t>40</a:t>
            </a:fld>
            <a:endParaRPr lang="en-US" sz="1200">
              <a:cs typeface="Geneva" charset="0"/>
            </a:endParaRPr>
          </a:p>
        </p:txBody>
      </p:sp>
      <p:sp>
        <p:nvSpPr>
          <p:cNvPr id="266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A7AEB9-BC43-054A-A12E-A759E0879377}" type="slidenum">
              <a:rPr lang="en-US"/>
              <a:pPr/>
              <a:t>41</a:t>
            </a:fld>
            <a:endParaRPr lang="en-US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0" y="5867400"/>
            <a:ext cx="9144000" cy="9906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8"/>
          <p:cNvSpPr>
            <a:spLocks noChangeArrowheads="1"/>
          </p:cNvSpPr>
          <p:nvPr userDrawn="1"/>
        </p:nvSpPr>
        <p:spPr bwMode="auto">
          <a:xfrm>
            <a:off x="0" y="5867400"/>
            <a:ext cx="9144000" cy="152400"/>
          </a:xfrm>
          <a:prstGeom prst="rect">
            <a:avLst/>
          </a:prstGeom>
          <a:solidFill>
            <a:srgbClr val="00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9"/>
          <p:cNvSpPr>
            <a:spLocks noChangeArrowheads="1"/>
          </p:cNvSpPr>
          <p:nvPr userDrawn="1"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 descr="umb_whit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813" y="6172200"/>
            <a:ext cx="433387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1" descr="iciPPT_BI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42025"/>
            <a:ext cx="48006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fld id="{3264C454-4DA9-8847-89E8-E62503C620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2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99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076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1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4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5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00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3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8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68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solidFill>
            <a:srgbClr val="006699"/>
          </a:solidFill>
          <a:ln w="19050" cmpd="sng">
            <a:solidFill>
              <a:srgbClr val="000000"/>
            </a:solidFill>
            <a:miter lim="800000"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4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030" name="Picture 7" descr="ici3015_for_PPT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172200"/>
            <a:ext cx="3621088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CHB_reverse_BI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172200"/>
            <a:ext cx="4206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" name="Rectangle 11"/>
          <p:cNvSpPr>
            <a:spLocks noChangeArrowheads="1"/>
          </p:cNvSpPr>
          <p:nvPr userDrawn="1"/>
        </p:nvSpPr>
        <p:spPr bwMode="auto">
          <a:xfrm>
            <a:off x="0" y="6629400"/>
            <a:ext cx="9144000" cy="2286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76" r:id="rId1"/>
    <p:sldLayoutId id="2147485456" r:id="rId2"/>
    <p:sldLayoutId id="2147485457" r:id="rId3"/>
    <p:sldLayoutId id="2147485458" r:id="rId4"/>
    <p:sldLayoutId id="2147485459" r:id="rId5"/>
    <p:sldLayoutId id="2147485460" r:id="rId6"/>
    <p:sldLayoutId id="2147485461" r:id="rId7"/>
    <p:sldLayoutId id="2147485462" r:id="rId8"/>
    <p:sldLayoutId id="2147485463" r:id="rId9"/>
    <p:sldLayoutId id="2147485464" r:id="rId10"/>
    <p:sldLayoutId id="214748546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Calibri"/>
          <a:ea typeface="+mj-ea"/>
          <a:cs typeface="Calibri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latin typeface="Cambria" charset="0"/>
          <a:ea typeface="Osaka" charset="0"/>
          <a:cs typeface="Osak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latin typeface="Cambria" charset="0"/>
          <a:ea typeface="Osaka" charset="0"/>
          <a:cs typeface="Osak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latin typeface="Cambria" charset="0"/>
          <a:ea typeface="Osaka" charset="0"/>
          <a:cs typeface="Osak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 i="1">
          <a:solidFill>
            <a:schemeClr val="bg1"/>
          </a:solidFill>
          <a:latin typeface="Cambria" charset="0"/>
          <a:ea typeface="Osaka" charset="0"/>
          <a:cs typeface="Osak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3200">
          <a:solidFill>
            <a:schemeClr val="tx1"/>
          </a:solidFill>
          <a:latin typeface="Calibri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0"/>
        <a:buChar char="Ø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jpeg"/><Relationship Id="rId5" Type="http://schemas.openxmlformats.org/officeDocument/2006/relationships/image" Target="../media/image12.jpe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4" Type="http://schemas.openxmlformats.org/officeDocument/2006/relationships/image" Target="../media/image34.gif"/><Relationship Id="rId5" Type="http://schemas.openxmlformats.org/officeDocument/2006/relationships/image" Target="../media/image35.jpg"/><Relationship Id="rId6" Type="http://schemas.openxmlformats.org/officeDocument/2006/relationships/image" Target="../media/image36.gi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4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Relationship Id="rId3" Type="http://schemas.openxmlformats.org/officeDocument/2006/relationships/image" Target="../media/image44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wmf"/><Relationship Id="rId3" Type="http://schemas.openxmlformats.org/officeDocument/2006/relationships/image" Target="../media/image51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4" Type="http://schemas.openxmlformats.org/officeDocument/2006/relationships/image" Target="../media/image53.w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4" Type="http://schemas.openxmlformats.org/officeDocument/2006/relationships/image" Target="../media/image56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4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1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2.gi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1524000" y="4038600"/>
            <a:ext cx="5638800" cy="16619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  <a:ex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latin typeface="Verdana" charset="0"/>
                <a:cs typeface="Geneva" charset="0"/>
              </a:rPr>
              <a:t>David Hoff</a:t>
            </a:r>
            <a:br>
              <a:rPr lang="en-US" sz="2800" b="1" dirty="0">
                <a:latin typeface="Verdana" charset="0"/>
                <a:cs typeface="Geneva" charset="0"/>
              </a:rPr>
            </a:br>
            <a:r>
              <a:rPr lang="en-US" sz="1800" i="1" dirty="0" smtClean="0">
                <a:latin typeface="Verdana" charset="0"/>
                <a:cs typeface="Geneva" charset="0"/>
              </a:rPr>
              <a:t>Project Director</a:t>
            </a:r>
          </a:p>
          <a:p>
            <a:pPr algn="ctr">
              <a:defRPr/>
            </a:pPr>
            <a:r>
              <a:rPr lang="en-US" sz="1800" i="1" dirty="0" smtClean="0">
                <a:latin typeface="Verdana" charset="0"/>
                <a:cs typeface="Geneva" charset="0"/>
              </a:rPr>
              <a:t>Institute </a:t>
            </a:r>
            <a:r>
              <a:rPr lang="en-US" sz="1800" i="1" dirty="0">
                <a:latin typeface="Verdana" charset="0"/>
                <a:cs typeface="Geneva" charset="0"/>
              </a:rPr>
              <a:t>for Community Inclusion</a:t>
            </a:r>
            <a:br>
              <a:rPr lang="en-US" sz="1800" i="1" dirty="0">
                <a:latin typeface="Verdana" charset="0"/>
                <a:cs typeface="Geneva" charset="0"/>
              </a:rPr>
            </a:br>
            <a:r>
              <a:rPr lang="en-US" sz="1800" i="1" dirty="0">
                <a:latin typeface="Verdana" charset="0"/>
                <a:cs typeface="Geneva" charset="0"/>
              </a:rPr>
              <a:t>University of Massachusetts, Boston</a:t>
            </a:r>
          </a:p>
          <a:p>
            <a:pPr algn="ctr">
              <a:spcAft>
                <a:spcPts val="2400"/>
              </a:spcAft>
              <a:defRPr/>
            </a:pPr>
            <a:endParaRPr lang="en-US" sz="2000" i="1" dirty="0">
              <a:latin typeface="Verdana" charset="0"/>
              <a:cs typeface="Geneva" charset="0"/>
            </a:endParaRPr>
          </a:p>
        </p:txBody>
      </p:sp>
      <p:sp>
        <p:nvSpPr>
          <p:cNvPr id="27650" name="Rectangle 23"/>
          <p:cNvSpPr>
            <a:spLocks noChangeArrowheads="1"/>
          </p:cNvSpPr>
          <p:nvPr/>
        </p:nvSpPr>
        <p:spPr bwMode="auto">
          <a:xfrm>
            <a:off x="0" y="5867400"/>
            <a:ext cx="9144000" cy="9906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651" name="Rectangle 24"/>
          <p:cNvSpPr>
            <a:spLocks noChangeArrowheads="1"/>
          </p:cNvSpPr>
          <p:nvPr/>
        </p:nvSpPr>
        <p:spPr bwMode="auto">
          <a:xfrm>
            <a:off x="0" y="5867400"/>
            <a:ext cx="9144000" cy="152400"/>
          </a:xfrm>
          <a:prstGeom prst="rect">
            <a:avLst/>
          </a:prstGeom>
          <a:solidFill>
            <a:srgbClr val="00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652" name="Rectangle 25"/>
          <p:cNvSpPr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27653" name="Picture 26" descr="umb_wh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813" y="6172200"/>
            <a:ext cx="433387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27" descr="iciPPT_BI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42025"/>
            <a:ext cx="48006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7" name="TextBox 1"/>
          <p:cNvSpPr txBox="1">
            <a:spLocks noChangeArrowheads="1"/>
          </p:cNvSpPr>
          <p:nvPr/>
        </p:nvSpPr>
        <p:spPr bwMode="auto">
          <a:xfrm>
            <a:off x="838200" y="1066800"/>
            <a:ext cx="6858000" cy="2062103"/>
          </a:xfrm>
          <a:prstGeom prst="rect">
            <a:avLst/>
          </a:prstGeom>
          <a:solidFill>
            <a:srgbClr val="006699"/>
          </a:solidFill>
          <a:ln w="38100" cmpd="sng">
            <a:solidFill>
              <a:srgbClr val="000000"/>
            </a:solidFill>
            <a:miter lim="800000"/>
            <a:headEnd/>
            <a:tailEnd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Real Jobs and Real Careers:</a:t>
            </a:r>
            <a:br>
              <a:rPr lang="en-US" sz="3200" b="1" dirty="0" smtClean="0">
                <a:solidFill>
                  <a:schemeClr val="bg1"/>
                </a:solidFill>
              </a:rPr>
            </a:br>
            <a:r>
              <a:rPr lang="en-US" sz="3200" b="1" dirty="0" smtClean="0">
                <a:solidFill>
                  <a:schemeClr val="bg1"/>
                </a:solidFill>
              </a:rPr>
              <a:t/>
            </a:r>
            <a:br>
              <a:rPr lang="en-US" sz="3200" b="1" dirty="0" smtClean="0">
                <a:solidFill>
                  <a:schemeClr val="bg1"/>
                </a:solidFill>
              </a:rPr>
            </a:br>
            <a:r>
              <a:rPr lang="en-US" sz="3200" i="1" dirty="0" smtClean="0">
                <a:solidFill>
                  <a:schemeClr val="bg1"/>
                </a:solidFill>
              </a:rPr>
              <a:t>Making It Happen for</a:t>
            </a:r>
            <a:br>
              <a:rPr lang="en-US" sz="3200" i="1" dirty="0" smtClean="0">
                <a:solidFill>
                  <a:schemeClr val="bg1"/>
                </a:solidFill>
              </a:rPr>
            </a:br>
            <a:r>
              <a:rPr lang="en-US" sz="3200" i="1" dirty="0" smtClean="0">
                <a:solidFill>
                  <a:schemeClr val="bg1"/>
                </a:solidFill>
              </a:rPr>
              <a:t>Students with Disabilities</a:t>
            </a:r>
            <a:endParaRPr lang="en-US" sz="3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91072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90600"/>
            <a:ext cx="7772400" cy="1143000"/>
          </a:xfrm>
          <a:scene3d>
            <a:camera prst="isometricOffAxis1Righ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dirty="0" smtClean="0"/>
              <a:t>Contact Information</a:t>
            </a:r>
            <a:endParaRPr lang="en-US" dirty="0"/>
          </a:p>
        </p:txBody>
      </p:sp>
      <p:sp>
        <p:nvSpPr>
          <p:cNvPr id="29698" name="TextBox 4"/>
          <p:cNvSpPr txBox="1">
            <a:spLocks noChangeArrowheads="1"/>
          </p:cNvSpPr>
          <p:nvPr/>
        </p:nvSpPr>
        <p:spPr bwMode="auto">
          <a:xfrm>
            <a:off x="1447800" y="2514600"/>
            <a:ext cx="632460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3200" b="1" dirty="0">
                <a:latin typeface="Comic Sans MS" charset="0"/>
                <a:cs typeface="Comic Sans MS" charset="0"/>
              </a:rPr>
              <a:t>David Hoff</a:t>
            </a:r>
          </a:p>
          <a:p>
            <a:pPr algn="ctr"/>
            <a:endParaRPr lang="en-US" dirty="0">
              <a:cs typeface="Arial" charset="0"/>
            </a:endParaRPr>
          </a:p>
          <a:p>
            <a:pPr algn="ctr"/>
            <a:r>
              <a:rPr lang="en-US" dirty="0">
                <a:cs typeface="Arial" charset="0"/>
              </a:rPr>
              <a:t>617-287-4308</a:t>
            </a:r>
          </a:p>
          <a:p>
            <a:pPr algn="ctr"/>
            <a:r>
              <a:rPr lang="en-US" dirty="0" err="1">
                <a:cs typeface="Arial" charset="0"/>
              </a:rPr>
              <a:t>david.hoff@umb.edu</a:t>
            </a:r>
            <a:endParaRPr lang="en-US" dirty="0">
              <a:cs typeface="Arial" charset="0"/>
            </a:endParaRPr>
          </a:p>
          <a:p>
            <a:pPr algn="ctr"/>
            <a:r>
              <a:rPr lang="en-US" b="1" dirty="0" err="1">
                <a:latin typeface="Century Gothic" charset="0"/>
                <a:cs typeface="Century Gothic" charset="0"/>
              </a:rPr>
              <a:t>www.communityinclusion.org</a:t>
            </a:r>
            <a:endParaRPr lang="en-US" b="1" dirty="0">
              <a:latin typeface="Century Gothic" charset="0"/>
              <a:cs typeface="Century Gothic" charset="0"/>
            </a:endParaRPr>
          </a:p>
          <a:p>
            <a:pPr algn="ctr"/>
            <a:endParaRPr lang="en-US" dirty="0" smtClean="0">
              <a:latin typeface="Century Gothic" charset="0"/>
              <a:cs typeface="Century Gothic" charset="0"/>
            </a:endParaRPr>
          </a:p>
          <a:p>
            <a:pPr algn="ctr"/>
            <a:r>
              <a:rPr lang="en-US" dirty="0" smtClean="0">
                <a:latin typeface="Century Gothic" charset="0"/>
                <a:cs typeface="Century Gothic" charset="0"/>
              </a:rPr>
              <a:t>@davidhoff10</a:t>
            </a:r>
            <a:endParaRPr lang="en-US" dirty="0">
              <a:latin typeface="Century Gothic" charset="0"/>
              <a:cs typeface="Century Gothic" charset="0"/>
            </a:endParaRPr>
          </a:p>
        </p:txBody>
      </p:sp>
      <p:pic>
        <p:nvPicPr>
          <p:cNvPr id="29700" name="Picture 2" descr="MC900433861-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581400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4" descr="MC900019332-1.W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981200"/>
            <a:ext cx="1716088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twitter-bird-light-bgs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724400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010561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90800"/>
            <a:ext cx="7848600" cy="2971800"/>
          </a:xfrm>
          <a:effectLst>
            <a:glow rad="139700">
              <a:schemeClr val="accent2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r>
              <a:rPr lang="en-US" sz="4800" i="0" dirty="0" smtClean="0"/>
              <a:t>Same career development strategies as any other teenager and young adult</a:t>
            </a:r>
            <a:endParaRPr lang="en-US" sz="4800" i="0" dirty="0"/>
          </a:p>
        </p:txBody>
      </p:sp>
      <p:sp>
        <p:nvSpPr>
          <p:cNvPr id="6" name="Rectangle 5"/>
          <p:cNvSpPr/>
          <p:nvPr/>
        </p:nvSpPr>
        <p:spPr>
          <a:xfrm>
            <a:off x="1066800" y="685800"/>
            <a:ext cx="6803628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eflateTop">
              <a:avLst/>
            </a:prstTxWarp>
            <a:spAutoFit/>
          </a:bodyPr>
          <a:lstStyle/>
          <a:p>
            <a:pPr algn="ctr"/>
            <a:r>
              <a:rPr 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009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Basic Premise # 1</a:t>
            </a:r>
            <a:endParaRPr lang="en-US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000090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13349807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457200"/>
            <a:ext cx="8229600" cy="1828800"/>
          </a:xfrm>
        </p:spPr>
        <p:txBody>
          <a:bodyPr/>
          <a:lstStyle/>
          <a:p>
            <a:pPr algn="ctr">
              <a:lnSpc>
                <a:spcPct val="115000"/>
              </a:lnSpc>
            </a:pPr>
            <a:r>
              <a:rPr lang="en-US" sz="3200" b="0" dirty="0"/>
              <a:t>Successful employment for </a:t>
            </a:r>
            <a:r>
              <a:rPr lang="en-US" sz="3200" b="0" dirty="0" smtClean="0"/>
              <a:t>people with disabilities: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i="0" dirty="0" smtClean="0"/>
              <a:t>the same as everyone else</a:t>
            </a:r>
            <a:endParaRPr lang="en-US" i="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2514600"/>
            <a:ext cx="7467600" cy="3352800"/>
          </a:xfrm>
        </p:spPr>
        <p:txBody>
          <a:bodyPr/>
          <a:lstStyle/>
          <a:p>
            <a:pPr algn="l">
              <a:buFont typeface="Wingdings" charset="0"/>
              <a:buChar char="n"/>
            </a:pPr>
            <a:r>
              <a:rPr lang="en-US" dirty="0"/>
              <a:t> Clear goals</a:t>
            </a:r>
          </a:p>
          <a:p>
            <a:pPr algn="l">
              <a:buFont typeface="Wingdings" charset="0"/>
              <a:buChar char="n"/>
            </a:pPr>
            <a:r>
              <a:rPr lang="en-US" dirty="0"/>
              <a:t> Experience in trying new things</a:t>
            </a:r>
          </a:p>
          <a:p>
            <a:pPr algn="l">
              <a:buFont typeface="Wingdings" charset="0"/>
              <a:buChar char="n"/>
            </a:pPr>
            <a:r>
              <a:rPr lang="en-US" dirty="0"/>
              <a:t> Use of personal networks</a:t>
            </a:r>
          </a:p>
          <a:p>
            <a:pPr algn="l">
              <a:buFont typeface="Wingdings" charset="0"/>
              <a:buChar char="n"/>
            </a:pPr>
            <a:r>
              <a:rPr lang="en-US" dirty="0"/>
              <a:t> A good job match</a:t>
            </a:r>
          </a:p>
          <a:p>
            <a:pPr algn="l">
              <a:buFont typeface="Wingdings" charset="0"/>
              <a:buChar char="n"/>
            </a:pPr>
            <a:r>
              <a:rPr lang="en-US" dirty="0"/>
              <a:t> A supportive work environment</a:t>
            </a:r>
          </a:p>
        </p:txBody>
      </p:sp>
    </p:spTree>
    <p:extLst>
      <p:ext uri="{BB962C8B-B14F-4D97-AF65-F5344CB8AC3E}">
        <p14:creationId xmlns:p14="http://schemas.microsoft.com/office/powerpoint/2010/main" val="389539910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5486400" cy="1066800"/>
          </a:xfrm>
          <a:ln>
            <a:noFill/>
          </a:ln>
          <a:effectLst/>
        </p:spPr>
        <p:txBody>
          <a:bodyPr/>
          <a:lstStyle/>
          <a:p>
            <a:pPr algn="l"/>
            <a:r>
              <a:rPr lang="en-US" sz="3200" dirty="0" smtClean="0"/>
              <a:t>Stages of Career Development</a:t>
            </a:r>
            <a:br>
              <a:rPr lang="en-US" sz="3200" dirty="0" smtClean="0"/>
            </a:br>
            <a:r>
              <a:rPr lang="en-US" sz="1600" b="0" i="0" dirty="0" smtClean="0"/>
              <a:t>(</a:t>
            </a:r>
            <a:r>
              <a:rPr lang="en-US" sz="1600" b="0" i="0" dirty="0" smtClean="0"/>
              <a:t>Super)</a:t>
            </a:r>
            <a:endParaRPr lang="en-US" sz="1600" b="0" i="0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633610986"/>
              </p:ext>
            </p:extLst>
          </p:nvPr>
        </p:nvGraphicFramePr>
        <p:xfrm>
          <a:off x="254000" y="1676400"/>
          <a:ext cx="8737600" cy="485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671273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09600" y="838200"/>
            <a:ext cx="7772400" cy="14478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 smtClean="0">
                <a:latin typeface="Calibri"/>
                <a:cs typeface="Calibri"/>
              </a:rPr>
              <a:t>Employment Readiness Myth</a:t>
            </a:r>
            <a:endParaRPr lang="en-US" sz="4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2667000"/>
            <a:ext cx="3048000" cy="25908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 smtClean="0"/>
              <a:t>Employers are expecting perfect employees</a:t>
            </a:r>
          </a:p>
        </p:txBody>
      </p:sp>
      <p:pic>
        <p:nvPicPr>
          <p:cNvPr id="3" name="Picture 2" descr="Hoff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2" r="10493" b="20062"/>
          <a:stretch>
            <a:fillRect/>
          </a:stretch>
        </p:blipFill>
        <p:spPr bwMode="auto">
          <a:xfrm>
            <a:off x="5618163" y="2667000"/>
            <a:ext cx="238283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036635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733800" y="228600"/>
            <a:ext cx="5410200" cy="5715000"/>
          </a:xfrm>
        </p:spPr>
        <p:txBody>
          <a:bodyPr anchor="ctr" anchorCtr="0"/>
          <a:lstStyle/>
          <a:p>
            <a:pPr eaLnBrk="1" hangingPunct="1">
              <a:spcBef>
                <a:spcPts val="1272"/>
              </a:spcBef>
              <a:defRPr/>
            </a:pPr>
            <a:r>
              <a:rPr lang="en-US" sz="2800" dirty="0" smtClean="0"/>
              <a:t>Couldn’t get along with others?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2800" dirty="0" smtClean="0"/>
              <a:t>Acted inappropriately?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2800" dirty="0" smtClean="0"/>
              <a:t>Had behavioral outbursts?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2800" dirty="0" smtClean="0"/>
              <a:t>Was chronically late?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2800" dirty="0" smtClean="0"/>
              <a:t>Complained about everything?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2800" dirty="0" smtClean="0"/>
              <a:t>Didn’t communicate well?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2800" dirty="0" smtClean="0"/>
              <a:t>Didn't work very fast?</a:t>
            </a:r>
          </a:p>
          <a:p>
            <a:pPr eaLnBrk="1" hangingPunct="1">
              <a:spcBef>
                <a:spcPts val="1272"/>
              </a:spcBef>
              <a:defRPr/>
            </a:pPr>
            <a:r>
              <a:rPr lang="en-US" sz="2800" dirty="0" smtClean="0"/>
              <a:t>Got distracted easily?</a:t>
            </a:r>
          </a:p>
        </p:txBody>
      </p:sp>
      <p:sp>
        <p:nvSpPr>
          <p:cNvPr id="6" name="Pentagon 5"/>
          <p:cNvSpPr/>
          <p:nvPr/>
        </p:nvSpPr>
        <p:spPr bwMode="auto">
          <a:xfrm>
            <a:off x="228600" y="457200"/>
            <a:ext cx="3124200" cy="2133600"/>
          </a:xfrm>
          <a:prstGeom prst="homePlate">
            <a:avLst/>
          </a:prstGeom>
          <a:ln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/>
                <a:ea typeface="ＭＳ Ｐゴシック" charset="0"/>
                <a:cs typeface="Geneva" charset="0"/>
              </a:rPr>
              <a:t>Have you ever</a:t>
            </a:r>
            <a:r>
              <a:rPr kumimoji="0" lang="en-US" sz="32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/>
                <a:ea typeface="ＭＳ Ｐゴシック" charset="0"/>
                <a:cs typeface="Geneva" charset="0"/>
              </a:rPr>
              <a:t> worked with anyon</a:t>
            </a:r>
            <a:r>
              <a:rPr lang="en-US" sz="3200" dirty="0" smtClean="0">
                <a:solidFill>
                  <a:schemeClr val="tx1"/>
                </a:solidFill>
                <a:latin typeface="Comic Sans MS"/>
                <a:ea typeface="ＭＳ Ｐゴシック" charset="0"/>
                <a:cs typeface="Geneva" charset="0"/>
              </a:rPr>
              <a:t>e who</a:t>
            </a:r>
            <a:r>
              <a:rPr lang="en-US" sz="2800" dirty="0" smtClean="0">
                <a:solidFill>
                  <a:schemeClr val="tx1"/>
                </a:solidFill>
                <a:latin typeface="Comic Sans MS"/>
                <a:ea typeface="ＭＳ Ｐゴシック" charset="0"/>
                <a:cs typeface="Geneva" charset="0"/>
              </a:rPr>
              <a:t>:</a:t>
            </a:r>
            <a:endParaRPr kumimoji="0" 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/>
              <a:ea typeface="ＭＳ Ｐゴシック" charset="0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36621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784600" y="228600"/>
            <a:ext cx="5334000" cy="5867400"/>
          </a:xfrm>
        </p:spPr>
        <p:txBody>
          <a:bodyPr anchor="ctr" anchorCtr="0"/>
          <a:lstStyle/>
          <a:p>
            <a:pPr eaLnBrk="1" hangingPunct="1">
              <a:defRPr/>
            </a:pPr>
            <a:r>
              <a:rPr lang="en-US" sz="2800" dirty="0"/>
              <a:t>Acted impulsively without thinking?</a:t>
            </a:r>
          </a:p>
          <a:p>
            <a:pPr eaLnBrk="1" hangingPunct="1">
              <a:defRPr/>
            </a:pPr>
            <a:r>
              <a:rPr lang="en-US" sz="2800" dirty="0" smtClean="0"/>
              <a:t>Didn’t </a:t>
            </a:r>
            <a:r>
              <a:rPr lang="en-US" sz="2800" dirty="0"/>
              <a:t>take directions well…or at all</a:t>
            </a:r>
            <a:r>
              <a:rPr lang="en-US" sz="2800" dirty="0" smtClean="0"/>
              <a:t>?</a:t>
            </a:r>
          </a:p>
          <a:p>
            <a:pPr eaLnBrk="1" hangingPunct="1">
              <a:defRPr/>
            </a:pPr>
            <a:r>
              <a:rPr lang="en-US" sz="2800" dirty="0" smtClean="0"/>
              <a:t>Had a messy office?</a:t>
            </a:r>
          </a:p>
          <a:p>
            <a:pPr eaLnBrk="1" hangingPunct="1">
              <a:defRPr/>
            </a:pPr>
            <a:r>
              <a:rPr lang="en-US" sz="2800" dirty="0" smtClean="0"/>
              <a:t>Wasn’t organized?</a:t>
            </a:r>
          </a:p>
          <a:p>
            <a:pPr eaLnBrk="1" hangingPunct="1">
              <a:defRPr/>
            </a:pPr>
            <a:r>
              <a:rPr lang="en-US" sz="2800" dirty="0" smtClean="0"/>
              <a:t>Wasn’t always professional?</a:t>
            </a:r>
          </a:p>
          <a:p>
            <a:pPr eaLnBrk="1" hangingPunct="1">
              <a:defRPr/>
            </a:pPr>
            <a:r>
              <a:rPr lang="en-US" sz="2800" dirty="0" smtClean="0"/>
              <a:t>Was rude?</a:t>
            </a:r>
          </a:p>
          <a:p>
            <a:pPr eaLnBrk="1" hangingPunct="1">
              <a:defRPr/>
            </a:pPr>
            <a:r>
              <a:rPr lang="en-US" sz="2800" dirty="0" smtClean="0"/>
              <a:t>Couldn’t take criticism?</a:t>
            </a:r>
          </a:p>
          <a:p>
            <a:pPr eaLnBrk="1" hangingPunct="1">
              <a:defRPr/>
            </a:pPr>
            <a:r>
              <a:rPr lang="en-US" sz="2800" dirty="0" smtClean="0"/>
              <a:t>Was lazy?</a:t>
            </a:r>
          </a:p>
        </p:txBody>
      </p:sp>
      <p:sp>
        <p:nvSpPr>
          <p:cNvPr id="6" name="Pentagon 5"/>
          <p:cNvSpPr/>
          <p:nvPr/>
        </p:nvSpPr>
        <p:spPr bwMode="auto">
          <a:xfrm>
            <a:off x="457200" y="533400"/>
            <a:ext cx="3124200" cy="2362200"/>
          </a:xfrm>
          <a:prstGeom prst="homePlate">
            <a:avLst/>
          </a:prstGeom>
          <a:solidFill>
            <a:srgbClr val="000090"/>
          </a:solidFill>
          <a:ln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  <a:ex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mic Sans MS"/>
                <a:ea typeface="ＭＳ Ｐゴシック" charset="0"/>
                <a:cs typeface="Geneva" charset="0"/>
              </a:rPr>
              <a:t>Have you ever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Comic Sans MS"/>
                <a:ea typeface="ＭＳ Ｐゴシック" charset="0"/>
                <a:cs typeface="Geneva" charset="0"/>
              </a:rPr>
              <a:t> worked with anyon</a:t>
            </a:r>
            <a:r>
              <a:rPr lang="en-US" sz="2800" dirty="0" smtClean="0">
                <a:solidFill>
                  <a:schemeClr val="bg1"/>
                </a:solidFill>
                <a:latin typeface="Comic Sans MS"/>
                <a:ea typeface="ＭＳ Ｐゴシック" charset="0"/>
                <a:cs typeface="Geneva" charset="0"/>
              </a:rPr>
              <a:t>e who: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ic Sans MS"/>
              <a:ea typeface="ＭＳ Ｐゴシック" charset="0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82976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67000"/>
            <a:ext cx="7772400" cy="30480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Disability Specific Strategies:</a:t>
            </a:r>
            <a:br>
              <a:rPr lang="en-US" dirty="0" smtClean="0"/>
            </a:br>
            <a:r>
              <a:rPr lang="en-US" i="0" dirty="0" smtClean="0"/>
              <a:t>Supplement,</a:t>
            </a:r>
            <a:br>
              <a:rPr lang="en-US" i="0" dirty="0" smtClean="0"/>
            </a:br>
            <a:r>
              <a:rPr lang="en-US" dirty="0" smtClean="0"/>
              <a:t>Not Replace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66800" y="685800"/>
            <a:ext cx="6803628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eflateTop">
              <a:avLst/>
            </a:prstTxWarp>
            <a:spAutoFit/>
          </a:bodyPr>
          <a:lstStyle/>
          <a:p>
            <a:pPr algn="ctr"/>
            <a:r>
              <a:rPr 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Basic Premise # 2</a:t>
            </a:r>
            <a:endParaRPr lang="en-US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911280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0" y="1447800"/>
            <a:ext cx="4724400" cy="3581400"/>
          </a:xfrm>
        </p:spPr>
        <p:txBody>
          <a:bodyPr/>
          <a:lstStyle/>
          <a:p>
            <a:pPr>
              <a:spcBef>
                <a:spcPts val="2160"/>
              </a:spcBef>
            </a:pPr>
            <a:r>
              <a:rPr lang="en-US" sz="4000" dirty="0" smtClean="0"/>
              <a:t>Disclosure</a:t>
            </a:r>
          </a:p>
          <a:p>
            <a:pPr>
              <a:spcBef>
                <a:spcPts val="2160"/>
              </a:spcBef>
            </a:pPr>
            <a:r>
              <a:rPr lang="en-US" sz="4000" dirty="0" smtClean="0"/>
              <a:t>Accommodations</a:t>
            </a:r>
          </a:p>
          <a:p>
            <a:pPr>
              <a:spcBef>
                <a:spcPts val="2160"/>
              </a:spcBef>
            </a:pPr>
            <a:r>
              <a:rPr lang="en-US" sz="4000" dirty="0" smtClean="0"/>
              <a:t>Benefit issues</a:t>
            </a:r>
          </a:p>
          <a:p>
            <a:pPr>
              <a:spcBef>
                <a:spcPts val="2160"/>
              </a:spcBef>
            </a:pPr>
            <a:r>
              <a:rPr lang="en-US" sz="4000" dirty="0" smtClean="0"/>
              <a:t>Self-Advocacy</a:t>
            </a:r>
            <a:endParaRPr lang="en-US" sz="4000" dirty="0"/>
          </a:p>
        </p:txBody>
      </p:sp>
      <p:sp>
        <p:nvSpPr>
          <p:cNvPr id="4" name="Pentagon 3"/>
          <p:cNvSpPr/>
          <p:nvPr/>
        </p:nvSpPr>
        <p:spPr bwMode="auto">
          <a:xfrm>
            <a:off x="457200" y="838200"/>
            <a:ext cx="3810000" cy="2743200"/>
          </a:xfrm>
          <a:prstGeom prst="homePlate">
            <a:avLst/>
          </a:prstGeom>
          <a:solidFill>
            <a:srgbClr val="000090"/>
          </a:solidFill>
          <a:ln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  <a:ex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Disability-Specific</a:t>
            </a:r>
            <a:r>
              <a:rPr kumimoji="0" lang="en-US" sz="3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 Considerations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79206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53000"/>
            <a:ext cx="7696200" cy="990600"/>
          </a:xfrm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dirty="0" smtClean="0"/>
              <a:t>The best source of support will always be the individual’s community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-152400" y="533400"/>
            <a:ext cx="4114800" cy="646331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Basic Premise # 3</a:t>
            </a:r>
            <a:endParaRPr lang="en-US" sz="3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pic>
        <p:nvPicPr>
          <p:cNvPr id="8" name="Picture 7" descr="Project-SEARCH-3_mini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667000"/>
            <a:ext cx="1962150" cy="1143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609600"/>
            <a:ext cx="1506896" cy="1737868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 bwMode="auto">
          <a:xfrm flipV="1">
            <a:off x="5867400" y="1981200"/>
            <a:ext cx="1143000" cy="6858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4" name="Picture 3" descr="th.jpe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276600"/>
            <a:ext cx="2218059" cy="1057275"/>
          </a:xfrm>
          <a:prstGeom prst="rect">
            <a:avLst/>
          </a:prstGeom>
        </p:spPr>
      </p:pic>
      <p:pic>
        <p:nvPicPr>
          <p:cNvPr id="5" name="Picture 4" descr="th-1.jpe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2895600"/>
            <a:ext cx="2184400" cy="1521799"/>
          </a:xfrm>
          <a:prstGeom prst="rect">
            <a:avLst/>
          </a:prstGeom>
        </p:spPr>
      </p:pic>
      <p:pic>
        <p:nvPicPr>
          <p:cNvPr id="6" name="Picture 5" descr="neighbors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28800"/>
            <a:ext cx="1828800" cy="1072662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 bwMode="auto">
          <a:xfrm>
            <a:off x="5791200" y="3276600"/>
            <a:ext cx="762000" cy="457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H="1" flipV="1">
            <a:off x="2895600" y="2133600"/>
            <a:ext cx="609600" cy="6858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 flipV="1">
            <a:off x="2667000" y="3581400"/>
            <a:ext cx="914400" cy="609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28" name="Picture 27" descr="community_clip_art_16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91592"/>
            <a:ext cx="1371600" cy="1431036"/>
          </a:xfrm>
          <a:prstGeom prst="rect">
            <a:avLst/>
          </a:prstGeom>
        </p:spPr>
      </p:pic>
      <p:cxnSp>
        <p:nvCxnSpPr>
          <p:cNvPr id="29" name="Straight Connector 28"/>
          <p:cNvCxnSpPr/>
          <p:nvPr/>
        </p:nvCxnSpPr>
        <p:spPr bwMode="auto">
          <a:xfrm flipV="1">
            <a:off x="4648200" y="1828800"/>
            <a:ext cx="0" cy="6858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0813874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4" descr="fram_ital.19thc.lg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04800"/>
            <a:ext cx="5013325" cy="5969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TextBox 5"/>
          <p:cNvSpPr txBox="1">
            <a:spLocks noChangeArrowheads="1"/>
          </p:cNvSpPr>
          <p:nvPr/>
        </p:nvSpPr>
        <p:spPr bwMode="auto">
          <a:xfrm>
            <a:off x="2819400" y="1143000"/>
            <a:ext cx="3200400" cy="4370427"/>
          </a:xfrm>
          <a:prstGeom prst="rect">
            <a:avLst/>
          </a:prstGeom>
          <a:solidFill>
            <a:srgbClr val="675E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endParaRPr lang="en-US" sz="3000" dirty="0">
              <a:solidFill>
                <a:schemeClr val="bg1"/>
              </a:solidFill>
              <a:latin typeface="Comic Sans MS" charset="0"/>
            </a:endParaRPr>
          </a:p>
          <a:p>
            <a:pPr algn="ctr" eaLnBrk="1" hangingPunct="1"/>
            <a:endParaRPr lang="en-US" sz="3000" dirty="0" smtClean="0">
              <a:solidFill>
                <a:schemeClr val="bg1"/>
              </a:solidFill>
              <a:latin typeface="Comic Sans MS" charset="0"/>
            </a:endParaRPr>
          </a:p>
          <a:p>
            <a:pPr algn="ctr" eaLnBrk="1" hangingPunct="1"/>
            <a:endParaRPr lang="en-US" sz="3000" dirty="0">
              <a:solidFill>
                <a:schemeClr val="bg1"/>
              </a:solidFill>
              <a:latin typeface="Comic Sans MS" charset="0"/>
            </a:endParaRPr>
          </a:p>
          <a:p>
            <a:pPr algn="ctr" eaLnBrk="1" hangingPunct="1"/>
            <a:r>
              <a:rPr lang="en-US" sz="3000" dirty="0" smtClean="0">
                <a:solidFill>
                  <a:schemeClr val="bg1"/>
                </a:solidFill>
                <a:latin typeface="Comic Sans MS" charset="0"/>
              </a:rPr>
              <a:t>Employment: THE</a:t>
            </a:r>
            <a:r>
              <a:rPr lang="en-US" sz="3000" dirty="0">
                <a:solidFill>
                  <a:schemeClr val="bg1"/>
                </a:solidFill>
                <a:latin typeface="Comic Sans MS" charset="0"/>
              </a:rPr>
              <a:t/>
            </a:r>
            <a:br>
              <a:rPr lang="en-US" sz="3000" dirty="0">
                <a:solidFill>
                  <a:schemeClr val="bg1"/>
                </a:solidFill>
                <a:latin typeface="Comic Sans MS" charset="0"/>
              </a:rPr>
            </a:br>
            <a:r>
              <a:rPr lang="en-US" sz="3000" dirty="0">
                <a:solidFill>
                  <a:schemeClr val="bg1"/>
                </a:solidFill>
                <a:latin typeface="Comic Sans MS" charset="0"/>
              </a:rPr>
              <a:t>BIG PICTURE</a:t>
            </a:r>
            <a:r>
              <a:rPr lang="en-US" sz="3000" dirty="0" smtClean="0">
                <a:solidFill>
                  <a:schemeClr val="bg1"/>
                </a:solidFill>
                <a:latin typeface="Comic Sans MS" charset="0"/>
              </a:rPr>
              <a:t>!</a:t>
            </a:r>
          </a:p>
          <a:p>
            <a:pPr algn="ctr" eaLnBrk="1" hangingPunct="1"/>
            <a:endParaRPr lang="en-US" sz="3000" dirty="0">
              <a:solidFill>
                <a:schemeClr val="bg1"/>
              </a:solidFill>
              <a:latin typeface="Comic Sans MS" charset="0"/>
            </a:endParaRPr>
          </a:p>
          <a:p>
            <a:pPr algn="ctr" eaLnBrk="1" hangingPunct="1"/>
            <a:endParaRPr lang="en-US" sz="3000" dirty="0" smtClean="0">
              <a:solidFill>
                <a:schemeClr val="bg1"/>
              </a:solidFill>
              <a:latin typeface="Comic Sans MS" charset="0"/>
            </a:endParaRPr>
          </a:p>
          <a:p>
            <a:pPr algn="ctr" eaLnBrk="1" hangingPunct="1"/>
            <a:endParaRPr lang="en-US" sz="800" dirty="0">
              <a:solidFill>
                <a:schemeClr val="bg1"/>
              </a:solidFill>
              <a:latin typeface="Comic Sans MS" charset="0"/>
            </a:endParaRPr>
          </a:p>
          <a:p>
            <a:pPr algn="ctr" eaLnBrk="1" hangingPunct="1"/>
            <a:endParaRPr lang="en-US" sz="3000" dirty="0">
              <a:solidFill>
                <a:schemeClr val="bg1"/>
              </a:solidFill>
              <a:latin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12227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ea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572000"/>
            <a:ext cx="2681801" cy="1516978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images-1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133600"/>
            <a:ext cx="2875293" cy="1299908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</p:pic>
      <p:pic>
        <p:nvPicPr>
          <p:cNvPr id="2" name="Picture 1" descr="Unknown-1.jpe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066800"/>
            <a:ext cx="2857500" cy="134573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  <p:pic>
        <p:nvPicPr>
          <p:cNvPr id="6" name="Picture 5" descr="us-department-of-labor-office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429000"/>
            <a:ext cx="2438400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561501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2133600"/>
            <a:ext cx="3886200" cy="28623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342900" indent="-342900">
              <a:buFont typeface="Arial"/>
              <a:buChar char="•"/>
              <a:defRPr/>
            </a:pPr>
            <a:r>
              <a:rPr lang="en-US" sz="2800" b="1" dirty="0"/>
              <a:t>Employment First Movement now in </a:t>
            </a:r>
            <a:r>
              <a:rPr lang="en-US" sz="2800" b="1" dirty="0" smtClean="0"/>
              <a:t>most </a:t>
            </a:r>
            <a:r>
              <a:rPr lang="en-US" sz="2800" b="1" dirty="0"/>
              <a:t>States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pPr marL="342900" indent="-342900">
              <a:buFont typeface="Arial"/>
              <a:buChar char="•"/>
              <a:defRPr/>
            </a:pPr>
            <a:r>
              <a:rPr lang="en-US" dirty="0" smtClean="0"/>
              <a:t>30+ </a:t>
            </a:r>
            <a:r>
              <a:rPr lang="en-US" dirty="0"/>
              <a:t>States with an</a:t>
            </a:r>
            <a:br>
              <a:rPr lang="en-US" dirty="0"/>
            </a:br>
            <a:r>
              <a:rPr lang="en-US" dirty="0"/>
              <a:t>Official </a:t>
            </a:r>
            <a:r>
              <a:rPr lang="en-US" dirty="0" smtClean="0"/>
              <a:t>Policy</a:t>
            </a:r>
            <a:r>
              <a:rPr lang="en-US" dirty="0"/>
              <a:t> </a:t>
            </a:r>
            <a:r>
              <a:rPr lang="en-US" dirty="0" smtClean="0"/>
              <a:t>- including Massachusetts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153400" cy="12192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sz="2400" i="0" dirty="0" smtClean="0"/>
              <a:t>Employment First </a:t>
            </a:r>
            <a:r>
              <a:rPr lang="en-US" sz="2400" b="0" i="0" dirty="0" smtClean="0"/>
              <a:t>– the concept that employment should be the first and primary service option for people with disabilities - </a:t>
            </a:r>
            <a:r>
              <a:rPr lang="en-US" sz="2400" i="0" dirty="0" smtClean="0"/>
              <a:t>continues to grow.</a:t>
            </a:r>
            <a:endParaRPr lang="en-US" sz="2400" i="0" dirty="0"/>
          </a:p>
        </p:txBody>
      </p:sp>
      <p:pic>
        <p:nvPicPr>
          <p:cNvPr id="2" name="Picture 1" descr="MA Employment First Policy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828800"/>
            <a:ext cx="3483264" cy="45077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772400" cy="7620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sz="3600" i="0" dirty="0">
                <a:latin typeface="Cambria" charset="0"/>
                <a:ea typeface="Osaka" charset="0"/>
                <a:cs typeface="Osaka" charset="0"/>
              </a:rPr>
              <a:t>Employment First: </a:t>
            </a:r>
            <a:r>
              <a:rPr lang="en-US" sz="3600" dirty="0">
                <a:latin typeface="Cambria" charset="0"/>
                <a:ea typeface="Osaka" charset="0"/>
                <a:cs typeface="Osaka" charset="0"/>
              </a:rPr>
              <a:t>What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229600" cy="1295400"/>
          </a:xfrm>
        </p:spPr>
        <p:txBody>
          <a:bodyPr/>
          <a:lstStyle/>
          <a:p>
            <a:pPr>
              <a:defRPr/>
            </a:pPr>
            <a:r>
              <a:rPr lang="en-US" sz="2800" b="1" dirty="0"/>
              <a:t>General </a:t>
            </a:r>
            <a:r>
              <a:rPr lang="en-US" sz="2800" b="1" dirty="0" smtClean="0"/>
              <a:t>theme: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Employment </a:t>
            </a:r>
            <a:r>
              <a:rPr lang="en-US" sz="2800" dirty="0"/>
              <a:t>in the community is the first/primary service option for individuals with disabilities</a:t>
            </a:r>
          </a:p>
          <a:p>
            <a:pPr marL="114300" indent="0">
              <a:buFontTx/>
              <a:buNone/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  <p:sp>
        <p:nvSpPr>
          <p:cNvPr id="6" name="Horizontal Scroll 5"/>
          <p:cNvSpPr/>
          <p:nvPr/>
        </p:nvSpPr>
        <p:spPr bwMode="auto">
          <a:xfrm>
            <a:off x="152400" y="2514600"/>
            <a:ext cx="8839200" cy="3581400"/>
          </a:xfrm>
          <a:prstGeom prst="horizontalScroll">
            <a:avLst/>
          </a:prstGeom>
          <a:solidFill>
            <a:srgbClr val="3333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marL="114300" algn="ctr">
              <a:defRPr/>
            </a:pPr>
            <a:r>
              <a:rPr lang="en-US" b="1" dirty="0">
                <a:solidFill>
                  <a:schemeClr val="bg1"/>
                </a:solidFill>
                <a:latin typeface="Capitals"/>
                <a:cs typeface="Capitals"/>
              </a:rPr>
              <a:t>APSE Statement on Employment First</a:t>
            </a:r>
            <a:br>
              <a:rPr lang="en-US" b="1" dirty="0">
                <a:solidFill>
                  <a:schemeClr val="bg1"/>
                </a:solidFill>
                <a:latin typeface="Capitals"/>
                <a:cs typeface="Capitals"/>
              </a:rPr>
            </a:br>
            <a:endParaRPr lang="en-US" b="1" dirty="0">
              <a:solidFill>
                <a:schemeClr val="bg1"/>
              </a:solidFill>
              <a:latin typeface="Capitals"/>
              <a:cs typeface="Capitals"/>
            </a:endParaRPr>
          </a:p>
          <a:p>
            <a:pPr algn="ctr">
              <a:defRPr/>
            </a:pPr>
            <a:r>
              <a:rPr lang="en-US" dirty="0">
                <a:solidFill>
                  <a:schemeClr val="bg1"/>
                </a:solidFill>
              </a:rPr>
              <a:t>Employment in the general workforce is the first and preferred outcome in the provision of publicly funded services for all working age citizens with disabilities, regardless of level of disability.</a:t>
            </a:r>
          </a:p>
        </p:txBody>
      </p:sp>
    </p:spTree>
    <p:extLst>
      <p:ext uri="{BB962C8B-B14F-4D97-AF65-F5344CB8AC3E}">
        <p14:creationId xmlns:p14="http://schemas.microsoft.com/office/powerpoint/2010/main" val="97936755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81000"/>
            <a:ext cx="4114800" cy="25146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sz="3200" dirty="0" smtClean="0"/>
              <a:t>Excerpt from Massachusetts Employment First Policy</a:t>
            </a:r>
            <a:br>
              <a:rPr lang="en-US" sz="3200" dirty="0" smtClean="0"/>
            </a:br>
            <a:r>
              <a:rPr lang="en-US" sz="1800" i="0" dirty="0" smtClean="0"/>
              <a:t>July 2010</a:t>
            </a:r>
            <a:endParaRPr lang="en-US" sz="1800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533400"/>
            <a:ext cx="4241800" cy="4114800"/>
          </a:xfrm>
        </p:spPr>
        <p:txBody>
          <a:bodyPr/>
          <a:lstStyle/>
          <a:p>
            <a:r>
              <a:rPr lang="en-US" sz="2800" dirty="0" smtClean="0"/>
              <a:t>For </a:t>
            </a:r>
            <a:r>
              <a:rPr lang="en-US" sz="2800" dirty="0"/>
              <a:t>working age adults served by </a:t>
            </a:r>
            <a:r>
              <a:rPr lang="en-US" sz="2800" dirty="0" smtClean="0"/>
              <a:t>DDS, </a:t>
            </a:r>
            <a:r>
              <a:rPr lang="en-US" sz="2800" dirty="0"/>
              <a:t>integrated, individual employment is the preferred service option and optimal outcome. In the development of service plans and service delivery, assistance and supports for individual, integrated employment will be prioritized. </a:t>
            </a:r>
            <a:endParaRPr lang="en-US" sz="2800" dirty="0" smtClean="0"/>
          </a:p>
        </p:txBody>
      </p:sp>
      <p:pic>
        <p:nvPicPr>
          <p:cNvPr id="4" name="Picture 3" descr="Unknown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200400"/>
            <a:ext cx="32512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1109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Content Placeholder 2"/>
          <p:cNvSpPr>
            <a:spLocks noGrp="1"/>
          </p:cNvSpPr>
          <p:nvPr>
            <p:ph idx="1"/>
          </p:nvPr>
        </p:nvSpPr>
        <p:spPr>
          <a:xfrm>
            <a:off x="3581400" y="533400"/>
            <a:ext cx="5257800" cy="5368925"/>
          </a:xfrm>
        </p:spPr>
        <p:txBody>
          <a:bodyPr/>
          <a:lstStyle/>
          <a:p>
            <a:pPr>
              <a:spcBef>
                <a:spcPts val="2472"/>
              </a:spcBef>
            </a:pPr>
            <a:r>
              <a:rPr lang="en-US" sz="2800" b="1" dirty="0">
                <a:latin typeface="Trebuchet MS" charset="0"/>
                <a:ea typeface="ＭＳ Ｐゴシック" charset="0"/>
                <a:cs typeface="ＭＳ Ｐゴシック" charset="0"/>
              </a:rPr>
              <a:t>The Workforce Innovation and Opportunity Act</a:t>
            </a:r>
            <a:br>
              <a:rPr lang="en-US" sz="2800" b="1" dirty="0">
                <a:latin typeface="Trebuchet MS" charset="0"/>
                <a:ea typeface="ＭＳ Ｐゴシック" charset="0"/>
                <a:cs typeface="ＭＳ Ｐゴシック" charset="0"/>
              </a:rPr>
            </a:br>
            <a:r>
              <a:rPr lang="en-US" sz="2800" b="1" dirty="0">
                <a:latin typeface="Trebuchet MS" charset="0"/>
                <a:ea typeface="ＭＳ Ｐゴシック" charset="0"/>
                <a:cs typeface="ＭＳ Ｐゴシック" charset="0"/>
              </a:rPr>
              <a:t>of </a:t>
            </a:r>
            <a:r>
              <a:rPr lang="en-US" sz="2800" b="1" dirty="0" smtClean="0">
                <a:latin typeface="Trebuchet MS" charset="0"/>
                <a:ea typeface="ＭＳ Ｐゴシック" charset="0"/>
                <a:cs typeface="ＭＳ Ｐゴシック" charset="0"/>
              </a:rPr>
              <a:t>2014</a:t>
            </a:r>
            <a:endParaRPr lang="en-US" sz="2800" dirty="0">
              <a:latin typeface="Trebuchet MS" charset="0"/>
              <a:ea typeface="ＭＳ Ｐゴシック" charset="0"/>
              <a:cs typeface="ＭＳ Ｐゴシック" charset="0"/>
            </a:endParaRPr>
          </a:p>
          <a:p>
            <a:pPr>
              <a:spcBef>
                <a:spcPts val="2472"/>
              </a:spcBef>
            </a:pPr>
            <a:r>
              <a:rPr lang="en-US" sz="2800" dirty="0">
                <a:latin typeface="Trebuchet MS" charset="0"/>
                <a:ea typeface="ＭＳ Ｐゴシック" charset="0"/>
                <a:cs typeface="ＭＳ Ｐゴシック" charset="0"/>
              </a:rPr>
              <a:t>Signed into law July 22, </a:t>
            </a:r>
            <a:r>
              <a:rPr lang="en-US" sz="2800" dirty="0" smtClean="0">
                <a:latin typeface="Trebuchet MS" charset="0"/>
                <a:ea typeface="ＭＳ Ｐゴシック" charset="0"/>
                <a:cs typeface="ＭＳ Ｐゴシック" charset="0"/>
              </a:rPr>
              <a:t>2014</a:t>
            </a:r>
            <a:endParaRPr lang="en-US" sz="2800" dirty="0">
              <a:latin typeface="Trebuchet MS" charset="0"/>
              <a:ea typeface="ＭＳ Ｐゴシック" charset="0"/>
              <a:cs typeface="ＭＳ Ｐゴシック" charset="0"/>
            </a:endParaRPr>
          </a:p>
          <a:p>
            <a:pPr>
              <a:spcBef>
                <a:spcPts val="2472"/>
              </a:spcBef>
            </a:pPr>
            <a:r>
              <a:rPr lang="en-US" sz="2800" dirty="0">
                <a:latin typeface="Trebuchet MS" charset="0"/>
                <a:ea typeface="ＭＳ Ｐゴシック" charset="0"/>
                <a:cs typeface="ＭＳ Ｐゴシック" charset="0"/>
              </a:rPr>
              <a:t>Reauthorizes the </a:t>
            </a:r>
            <a:r>
              <a:rPr lang="en-US" sz="2800" b="1" dirty="0">
                <a:latin typeface="Trebuchet MS" charset="0"/>
                <a:ea typeface="ＭＳ Ｐゴシック" charset="0"/>
                <a:cs typeface="ＭＳ Ｐゴシック" charset="0"/>
              </a:rPr>
              <a:t>Workforce Investment Act of 1998</a:t>
            </a:r>
            <a:r>
              <a:rPr lang="en-US" sz="2800" dirty="0">
                <a:latin typeface="Trebuchet MS" charset="0"/>
                <a:ea typeface="ＭＳ Ｐゴシック" charset="0"/>
                <a:cs typeface="ＭＳ Ｐゴシック" charset="0"/>
              </a:rPr>
              <a:t>, including the </a:t>
            </a:r>
            <a:r>
              <a:rPr lang="en-US" sz="2800" b="1" dirty="0">
                <a:latin typeface="Trebuchet MS" charset="0"/>
                <a:ea typeface="ＭＳ Ｐゴシック" charset="0"/>
                <a:cs typeface="ＭＳ Ｐゴシック" charset="0"/>
              </a:rPr>
              <a:t>Rehabilitation Act</a:t>
            </a:r>
          </a:p>
        </p:txBody>
      </p:sp>
      <p:sp>
        <p:nvSpPr>
          <p:cNvPr id="3" name="Pentagon 2"/>
          <p:cNvSpPr/>
          <p:nvPr/>
        </p:nvSpPr>
        <p:spPr>
          <a:xfrm>
            <a:off x="457200" y="533400"/>
            <a:ext cx="2819400" cy="1447800"/>
          </a:xfrm>
          <a:prstGeom prst="homePlate">
            <a:avLst/>
          </a:prstGeom>
          <a:solidFill>
            <a:srgbClr val="CC0000"/>
          </a:solidFill>
          <a:effectLst>
            <a:glow rad="228600">
              <a:schemeClr val="accent4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i="1" dirty="0" smtClean="0">
                <a:solidFill>
                  <a:srgbClr val="FFFF00"/>
                </a:solidFill>
                <a:latin typeface="Comic Sans MS"/>
                <a:cs typeface="Comic Sans MS"/>
              </a:rPr>
              <a:t>WIOA</a:t>
            </a:r>
            <a:endParaRPr lang="en-US" sz="3200" b="1" i="1" dirty="0">
              <a:solidFill>
                <a:srgbClr val="FFFF00"/>
              </a:solidFill>
              <a:latin typeface="Comic Sans MS"/>
              <a:cs typeface="Comic Sans MS"/>
            </a:endParaRPr>
          </a:p>
        </p:txBody>
      </p:sp>
      <p:pic>
        <p:nvPicPr>
          <p:cNvPr id="5" name="Picture 4" descr="workers-articlelarge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71800"/>
            <a:ext cx="3117589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585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0" y="1371600"/>
            <a:ext cx="7162800" cy="416225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dirty="0"/>
              <a:t>“The foundation of the VR program is the principle that individuals with disabilities, </a:t>
            </a:r>
            <a:r>
              <a:rPr lang="en-US" sz="2800" i="1" dirty="0"/>
              <a:t>including </a:t>
            </a:r>
            <a:r>
              <a:rPr lang="en-US" sz="2800" i="1" dirty="0" smtClean="0"/>
              <a:t>those</a:t>
            </a:r>
            <a:br>
              <a:rPr lang="en-US" sz="2800" i="1" dirty="0" smtClean="0"/>
            </a:br>
            <a:r>
              <a:rPr lang="en-US" sz="2800" i="1" dirty="0" smtClean="0"/>
              <a:t>with </a:t>
            </a:r>
            <a:r>
              <a:rPr lang="en-US" sz="2800" i="1" dirty="0"/>
              <a:t>the most significant disabilities</a:t>
            </a:r>
            <a:r>
              <a:rPr lang="en-US" sz="2800" i="1" dirty="0" smtClean="0"/>
              <a:t>,</a:t>
            </a:r>
            <a:br>
              <a:rPr lang="en-US" sz="2800" i="1" dirty="0" smtClean="0"/>
            </a:br>
            <a:r>
              <a:rPr lang="en-US" sz="2800" b="1" dirty="0" smtClean="0"/>
              <a:t>are </a:t>
            </a:r>
            <a:r>
              <a:rPr lang="en-US" sz="2800" b="1" dirty="0"/>
              <a:t>capable of achieving high quality, competitive integrated </a:t>
            </a:r>
            <a:r>
              <a:rPr lang="en-US" sz="2800" b="1" dirty="0" smtClean="0"/>
              <a:t>employment</a:t>
            </a:r>
            <a:br>
              <a:rPr lang="en-US" sz="2800" b="1" dirty="0" smtClean="0"/>
            </a:br>
            <a:r>
              <a:rPr lang="en-US" sz="2800" dirty="0" smtClean="0"/>
              <a:t>when </a:t>
            </a:r>
            <a:r>
              <a:rPr lang="en-US" sz="2800" dirty="0"/>
              <a:t>provided the </a:t>
            </a:r>
            <a:r>
              <a:rPr lang="en-US" sz="2800" dirty="0" smtClean="0"/>
              <a:t>necessary</a:t>
            </a:r>
            <a:br>
              <a:rPr lang="en-US" sz="2800" dirty="0" smtClean="0"/>
            </a:br>
            <a:r>
              <a:rPr lang="en-US" sz="2800" dirty="0" smtClean="0"/>
              <a:t>skills </a:t>
            </a:r>
            <a:r>
              <a:rPr lang="en-US" sz="2800" dirty="0"/>
              <a:t>and supports.” </a:t>
            </a:r>
          </a:p>
        </p:txBody>
      </p:sp>
    </p:spTree>
    <p:extLst>
      <p:ext uri="{BB962C8B-B14F-4D97-AF65-F5344CB8AC3E}">
        <p14:creationId xmlns:p14="http://schemas.microsoft.com/office/powerpoint/2010/main" val="107292647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219200"/>
            <a:ext cx="6400800" cy="3897221"/>
          </a:xfrm>
          <a:prstGeom prst="rect">
            <a:avLst/>
          </a:prstGeom>
          <a:solidFill>
            <a:srgbClr val="000090"/>
          </a:solidFill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wrap="square">
            <a:spAutoFit/>
          </a:bodyPr>
          <a:lstStyle/>
          <a:p>
            <a:pPr algn="ctr">
              <a:lnSpc>
                <a:spcPts val="4260"/>
              </a:lnSpc>
            </a:pPr>
            <a:r>
              <a:rPr lang="en-US" sz="2800" dirty="0">
                <a:solidFill>
                  <a:schemeClr val="bg1"/>
                </a:solidFill>
              </a:rPr>
              <a:t>“Congress makes clear that youth with significant </a:t>
            </a:r>
            <a:r>
              <a:rPr lang="en-US" sz="2800" dirty="0" smtClean="0">
                <a:solidFill>
                  <a:schemeClr val="bg1"/>
                </a:solidFill>
              </a:rPr>
              <a:t>disabilities</a:t>
            </a:r>
            <a:br>
              <a:rPr lang="en-US" sz="2800" dirty="0" smtClean="0">
                <a:solidFill>
                  <a:schemeClr val="bg1"/>
                </a:solidFill>
              </a:rPr>
            </a:br>
            <a:r>
              <a:rPr lang="en-US" sz="2800" b="1" i="1" dirty="0" smtClean="0">
                <a:solidFill>
                  <a:schemeClr val="bg1"/>
                </a:solidFill>
              </a:rPr>
              <a:t>must </a:t>
            </a:r>
            <a:r>
              <a:rPr lang="en-US" sz="2800" b="1" i="1" dirty="0">
                <a:solidFill>
                  <a:schemeClr val="bg1"/>
                </a:solidFill>
              </a:rPr>
              <a:t>be given every opportunity to receive the services </a:t>
            </a:r>
            <a:r>
              <a:rPr lang="en-US" sz="2800" b="1" i="1" dirty="0" smtClean="0">
                <a:solidFill>
                  <a:schemeClr val="bg1"/>
                </a:solidFill>
              </a:rPr>
              <a:t>necessary</a:t>
            </a:r>
            <a:r>
              <a:rPr lang="en-US" sz="2800" i="1" dirty="0">
                <a:solidFill>
                  <a:schemeClr val="bg1"/>
                </a:solidFill>
              </a:rPr>
              <a:t/>
            </a:r>
            <a:br>
              <a:rPr lang="en-US" sz="2800" i="1" dirty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</a:rPr>
              <a:t>to </a:t>
            </a:r>
            <a:r>
              <a:rPr lang="en-US" sz="2800" dirty="0">
                <a:solidFill>
                  <a:schemeClr val="bg1"/>
                </a:solidFill>
              </a:rPr>
              <a:t>ensure the maximum </a:t>
            </a:r>
            <a:r>
              <a:rPr lang="en-US" sz="2800" dirty="0" smtClean="0">
                <a:solidFill>
                  <a:schemeClr val="bg1"/>
                </a:solidFill>
              </a:rPr>
              <a:t>potential</a:t>
            </a:r>
            <a:br>
              <a:rPr lang="en-US" sz="2800" dirty="0" smtClean="0">
                <a:solidFill>
                  <a:schemeClr val="bg1"/>
                </a:solidFill>
              </a:rPr>
            </a:br>
            <a:r>
              <a:rPr lang="en-US" sz="2800" b="1" i="1" dirty="0" smtClean="0">
                <a:solidFill>
                  <a:schemeClr val="bg1"/>
                </a:solidFill>
              </a:rPr>
              <a:t>to </a:t>
            </a:r>
            <a:r>
              <a:rPr lang="en-US" sz="2800" b="1" i="1" dirty="0">
                <a:solidFill>
                  <a:schemeClr val="bg1"/>
                </a:solidFill>
              </a:rPr>
              <a:t>achieve competitive integrated employment.” </a:t>
            </a:r>
          </a:p>
        </p:txBody>
      </p:sp>
    </p:spTree>
    <p:extLst>
      <p:ext uri="{BB962C8B-B14F-4D97-AF65-F5344CB8AC3E}">
        <p14:creationId xmlns:p14="http://schemas.microsoft.com/office/powerpoint/2010/main" val="272645941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1676400"/>
            <a:ext cx="4724400" cy="2895600"/>
          </a:xfrm>
          <a:ln/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r>
              <a:rPr lang="en-US" sz="2800" b="1" dirty="0"/>
              <a:t>E</a:t>
            </a:r>
            <a:r>
              <a:rPr lang="en-US" sz="2800" b="1" dirty="0" smtClean="0"/>
              <a:t>mployment of individuals with disabilities fully integrated within the general workforce is expected and preferred.</a:t>
            </a:r>
            <a:endParaRPr lang="en-US" sz="2800" b="1" dirty="0"/>
          </a:p>
        </p:txBody>
      </p:sp>
      <p:pic>
        <p:nvPicPr>
          <p:cNvPr id="5" name="Picture 4" descr="usa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1" t="14478" b="7407"/>
          <a:stretch/>
        </p:blipFill>
        <p:spPr>
          <a:xfrm>
            <a:off x="457200" y="838200"/>
            <a:ext cx="2830694" cy="18639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76400"/>
            <a:ext cx="2697570" cy="34748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 rot="21540000">
            <a:off x="1066800" y="3046405"/>
            <a:ext cx="1676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Chalkboard"/>
              </a:rPr>
              <a:t>The National Message</a:t>
            </a:r>
            <a:endParaRPr lang="en-US" sz="2800" b="1" dirty="0">
              <a:latin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269280181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known.jpe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4" r="10234"/>
          <a:stretch>
            <a:fillRect/>
          </a:stretch>
        </p:blipFill>
        <p:spPr>
          <a:xfrm>
            <a:off x="1981200" y="596153"/>
            <a:ext cx="4343400" cy="2299447"/>
          </a:xfrm>
        </p:spPr>
      </p:pic>
      <p:cxnSp>
        <p:nvCxnSpPr>
          <p:cNvPr id="7" name="Straight Connector 6"/>
          <p:cNvCxnSpPr/>
          <p:nvPr/>
        </p:nvCxnSpPr>
        <p:spPr bwMode="auto">
          <a:xfrm>
            <a:off x="6324600" y="2362200"/>
            <a:ext cx="0" cy="2971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" name="Straight Connector 8"/>
          <p:cNvCxnSpPr/>
          <p:nvPr/>
        </p:nvCxnSpPr>
        <p:spPr bwMode="auto">
          <a:xfrm>
            <a:off x="1981200" y="2895600"/>
            <a:ext cx="0" cy="2438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" name="TextBox 1"/>
          <p:cNvSpPr txBox="1"/>
          <p:nvPr/>
        </p:nvSpPr>
        <p:spPr>
          <a:xfrm>
            <a:off x="1981200" y="2819400"/>
            <a:ext cx="4495800" cy="2308324"/>
          </a:xfrm>
          <a:prstGeom prst="rect">
            <a:avLst/>
          </a:prstGeom>
          <a:noFill/>
          <a:ln>
            <a:noFill/>
          </a:ln>
          <a:scene3d>
            <a:camera prst="isometricOffAxis1Righ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rgbClr val="000090"/>
                </a:solidFill>
                <a:latin typeface="Impact"/>
                <a:cs typeface="Impact"/>
              </a:rPr>
              <a:t>Public Systems and New Opportunities</a:t>
            </a:r>
            <a:endParaRPr lang="en-US" sz="4800" dirty="0">
              <a:solidFill>
                <a:srgbClr val="000090"/>
              </a:solidFill>
              <a:latin typeface="Impact"/>
              <a:cs typeface="Impact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1981200" y="5334000"/>
            <a:ext cx="4343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60027128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848600" cy="762000"/>
          </a:xfr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pPr algn="l"/>
            <a:r>
              <a:rPr lang="en-US" sz="2400" i="0" dirty="0" smtClean="0">
                <a:latin typeface="Calibri"/>
                <a:cs typeface="Calibri"/>
              </a:rPr>
              <a:t>Delivering on the Transition Promise: </a:t>
            </a:r>
            <a:r>
              <a:rPr lang="en-US" sz="2800" dirty="0" smtClean="0">
                <a:latin typeface="Calibri"/>
                <a:cs typeface="Calibri"/>
              </a:rPr>
              <a:t>Partnerships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685800" y="2667000"/>
            <a:ext cx="1981200" cy="1447800"/>
          </a:xfrm>
          <a:prstGeom prst="ellipse">
            <a:avLst/>
          </a:prstGeom>
          <a:solidFill>
            <a:srgbClr val="FFF80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63500" dist="38099" dir="2700000" algn="ctr" rotWithShape="0">
              <a:schemeClr val="bg2">
                <a:alpha val="74998"/>
              </a:scheme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solidFill>
                  <a:srgbClr val="000000"/>
                </a:solidFill>
                <a:latin typeface="Arial Narrow"/>
                <a:cs typeface="Arial Narrow"/>
              </a:rPr>
              <a:t>Public VR: MRC/MCB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/>
              <a:cs typeface="Arial Narrow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429000" y="1295400"/>
            <a:ext cx="1752600" cy="1371600"/>
          </a:xfrm>
          <a:prstGeom prst="ellipse">
            <a:avLst/>
          </a:prstGeom>
          <a:solidFill>
            <a:srgbClr val="3DCB5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63500" dist="38099" dir="2700000" algn="ctr" rotWithShape="0">
              <a:schemeClr val="bg2">
                <a:alpha val="74998"/>
              </a:scheme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solidFill>
                  <a:srgbClr val="000000"/>
                </a:solidFill>
                <a:latin typeface="Arial Narrow"/>
                <a:cs typeface="Arial Narrow"/>
              </a:rPr>
              <a:t>Education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/>
              <a:cs typeface="Arial Narrow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5867400" y="2286000"/>
            <a:ext cx="2362200" cy="1905000"/>
          </a:xfrm>
          <a:prstGeom prst="ellipse">
            <a:avLst/>
          </a:prstGeom>
          <a:solidFill>
            <a:srgbClr val="FFF80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63500" dist="38099" dir="2700000" algn="ctr" rotWithShape="0">
              <a:schemeClr val="bg2">
                <a:alpha val="74998"/>
              </a:scheme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 smtClean="0">
                <a:solidFill>
                  <a:srgbClr val="000000"/>
                </a:solidFill>
                <a:latin typeface="Arial Narrow"/>
                <a:cs typeface="Arial Narrow"/>
              </a:rPr>
              <a:t>Dept. of Workforce Development: </a:t>
            </a:r>
            <a:r>
              <a:rPr lang="en-US" sz="1800" dirty="0" smtClean="0">
                <a:solidFill>
                  <a:srgbClr val="000000"/>
                </a:solidFill>
                <a:latin typeface="Arial Narrow"/>
                <a:cs typeface="Arial Narrow"/>
              </a:rPr>
              <a:t>Career Centers &amp; Youth Services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/>
              <a:cs typeface="Arial Narrow"/>
            </a:endParaRPr>
          </a:p>
        </p:txBody>
      </p:sp>
      <p:pic>
        <p:nvPicPr>
          <p:cNvPr id="9" name="Picture 8" descr="partnership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859061"/>
            <a:ext cx="2209800" cy="1789139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 bwMode="auto">
          <a:xfrm>
            <a:off x="914400" y="4495800"/>
            <a:ext cx="2438400" cy="1676400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63500" dist="38099" dir="2700000" algn="ctr" rotWithShape="0">
              <a:schemeClr val="bg2">
                <a:alpha val="74998"/>
              </a:scheme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solidFill>
                  <a:schemeClr val="bg1"/>
                </a:solidFill>
                <a:latin typeface="Arial Narrow"/>
                <a:cs typeface="Arial Narrow"/>
              </a:rPr>
              <a:t>Department of Developmental Services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Narrow"/>
              <a:cs typeface="Arial Narrow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5410200" y="4572000"/>
            <a:ext cx="2362200" cy="1676400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63500" dist="38099" dir="2700000" algn="ctr" rotWithShape="0">
              <a:schemeClr val="bg2">
                <a:alpha val="74998"/>
              </a:scheme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solidFill>
                  <a:srgbClr val="FFFFFF"/>
                </a:solidFill>
                <a:latin typeface="Arial Narrow"/>
                <a:cs typeface="Arial Narrow"/>
              </a:rPr>
              <a:t>Department of Mental Health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963632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-42335" y="1769533"/>
            <a:ext cx="9152468" cy="4859867"/>
          </a:xfrm>
        </p:spPr>
        <p:txBody>
          <a:bodyPr/>
          <a:lstStyle/>
          <a:p>
            <a:r>
              <a:rPr lang="en-US" sz="2400" b="1" dirty="0">
                <a:latin typeface="Trebuchet MS" charset="0"/>
                <a:ea typeface="ＭＳ Ｐゴシック" charset="0"/>
                <a:cs typeface="ＭＳ Ｐゴシック" charset="0"/>
              </a:rPr>
              <a:t>15% of state Title I VR Funds must be used for</a:t>
            </a:r>
            <a:br>
              <a:rPr lang="en-US" sz="2400" b="1" dirty="0">
                <a:latin typeface="Trebuchet MS" charset="0"/>
                <a:ea typeface="ＭＳ Ｐゴシック" charset="0"/>
                <a:cs typeface="ＭＳ Ｐゴシック" charset="0"/>
              </a:rPr>
            </a:br>
            <a:r>
              <a:rPr lang="en-US" sz="2400" b="1" dirty="0">
                <a:latin typeface="Trebuchet MS" charset="0"/>
                <a:ea typeface="ＭＳ Ｐゴシック" charset="0"/>
                <a:cs typeface="ＭＳ Ｐゴシック" charset="0"/>
              </a:rPr>
              <a:t>“pre-employment transition services”</a:t>
            </a:r>
          </a:p>
          <a:p>
            <a:pPr lvl="1"/>
            <a:r>
              <a:rPr lang="en-US" sz="2000" dirty="0" smtClean="0">
                <a:latin typeface="Trebuchet MS" charset="0"/>
                <a:ea typeface="ＭＳ Ｐゴシック" charset="0"/>
                <a:cs typeface="ＭＳ Ｐゴシック" charset="0"/>
              </a:rPr>
              <a:t>Title </a:t>
            </a:r>
            <a:r>
              <a:rPr lang="en-US" sz="2000" dirty="0">
                <a:latin typeface="Trebuchet MS" charset="0"/>
                <a:ea typeface="ＭＳ Ｐゴシック" charset="0"/>
                <a:cs typeface="ＭＳ Ｐゴシック" charset="0"/>
              </a:rPr>
              <a:t>I Funds FY </a:t>
            </a:r>
            <a:r>
              <a:rPr lang="en-US" sz="2000" dirty="0" smtClean="0">
                <a:latin typeface="Trebuchet MS" charset="0"/>
                <a:ea typeface="ＭＳ Ｐゴシック" charset="0"/>
                <a:cs typeface="ＭＳ Ｐゴシック" charset="0"/>
              </a:rPr>
              <a:t>2015 (MA): $56 million</a:t>
            </a:r>
            <a:endParaRPr lang="en-US" sz="2000" b="1" dirty="0">
              <a:latin typeface="Trebuchet MS" charset="0"/>
              <a:ea typeface="ＭＳ Ｐゴシック" charset="0"/>
              <a:cs typeface="ＭＳ Ｐゴシック" charset="0"/>
            </a:endParaRPr>
          </a:p>
          <a:p>
            <a:pPr>
              <a:spcBef>
                <a:spcPts val="1925"/>
              </a:spcBef>
            </a:pPr>
            <a:r>
              <a:rPr lang="en-US" sz="2400" b="1" dirty="0">
                <a:latin typeface="Trebuchet MS" charset="0"/>
                <a:ea typeface="ＭＳ Ｐゴシック" charset="0"/>
                <a:cs typeface="ＭＳ Ｐゴシック" charset="0"/>
              </a:rPr>
              <a:t>Required services:</a:t>
            </a:r>
          </a:p>
          <a:p>
            <a:pPr lvl="1"/>
            <a:r>
              <a:rPr lang="en-US" sz="2000" dirty="0">
                <a:latin typeface="Trebuchet MS" charset="0"/>
                <a:ea typeface="ＭＳ Ｐゴシック" charset="0"/>
              </a:rPr>
              <a:t>job exploration counseling</a:t>
            </a:r>
          </a:p>
          <a:p>
            <a:pPr lvl="1"/>
            <a:r>
              <a:rPr lang="en-US" sz="2000" dirty="0">
                <a:latin typeface="Trebuchet MS" charset="0"/>
                <a:ea typeface="ＭＳ Ｐゴシック" charset="0"/>
              </a:rPr>
              <a:t>work based learning experiences</a:t>
            </a:r>
          </a:p>
          <a:p>
            <a:pPr lvl="1"/>
            <a:r>
              <a:rPr lang="en-US" sz="2000" dirty="0">
                <a:latin typeface="Trebuchet MS" charset="0"/>
                <a:ea typeface="ＭＳ Ｐゴシック" charset="0"/>
              </a:rPr>
              <a:t>counseling on post-secondary opportunities</a:t>
            </a:r>
          </a:p>
          <a:p>
            <a:pPr lvl="1"/>
            <a:r>
              <a:rPr lang="en-US" sz="2000" dirty="0">
                <a:latin typeface="Trebuchet MS" charset="0"/>
                <a:ea typeface="ＭＳ Ｐゴシック" charset="0"/>
              </a:rPr>
              <a:t>workplace readiness training</a:t>
            </a:r>
          </a:p>
          <a:p>
            <a:pPr lvl="1"/>
            <a:r>
              <a:rPr lang="en-US" sz="2000" dirty="0">
                <a:latin typeface="Trebuchet MS" charset="0"/>
                <a:ea typeface="ＭＳ Ｐゴシック" charset="0"/>
              </a:rPr>
              <a:t>training on self-advocacy</a:t>
            </a:r>
          </a:p>
          <a:p>
            <a:pPr>
              <a:spcBef>
                <a:spcPts val="1925"/>
              </a:spcBef>
            </a:pPr>
            <a:r>
              <a:rPr lang="en-US" sz="2400" b="1" dirty="0">
                <a:latin typeface="Trebuchet MS" charset="0"/>
                <a:ea typeface="ＭＳ Ｐゴシック" charset="0"/>
                <a:cs typeface="ＭＳ Ｐゴシック" charset="0"/>
              </a:rPr>
              <a:t>Additional specified activities allowed </a:t>
            </a:r>
            <a:r>
              <a:rPr lang="en-US" sz="2400" b="1" u="sng" dirty="0">
                <a:latin typeface="Trebuchet MS" charset="0"/>
                <a:ea typeface="ＭＳ Ｐゴシック" charset="0"/>
                <a:cs typeface="ＭＳ Ｐゴシック" charset="0"/>
              </a:rPr>
              <a:t>if</a:t>
            </a:r>
            <a:r>
              <a:rPr lang="en-US" sz="2400" b="1" dirty="0">
                <a:latin typeface="Trebuchet MS" charset="0"/>
                <a:ea typeface="ＭＳ Ｐゴシック" charset="0"/>
                <a:cs typeface="ＭＳ Ｐゴシック" charset="0"/>
              </a:rPr>
              <a:t> funding is available</a:t>
            </a:r>
          </a:p>
        </p:txBody>
      </p:sp>
      <p:pic>
        <p:nvPicPr>
          <p:cNvPr id="2560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676400"/>
            <a:ext cx="1128713" cy="1516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new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04800"/>
            <a:ext cx="1752600" cy="140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57400" y="609600"/>
            <a:ext cx="281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 smtClean="0">
                <a:solidFill>
                  <a:srgbClr val="FF0000"/>
                </a:solidFill>
                <a:latin typeface="Impact"/>
                <a:cs typeface="Impact"/>
              </a:rPr>
              <a:t>Under WIOA</a:t>
            </a:r>
            <a:endParaRPr lang="en-US" sz="4000" i="1" dirty="0">
              <a:solidFill>
                <a:srgbClr val="FF0000"/>
              </a:solidFill>
              <a:latin typeface="Impact"/>
              <a:cs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363995504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s-1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304800"/>
            <a:ext cx="1562100" cy="1562100"/>
          </a:xfrm>
          <a:prstGeom prst="rect">
            <a:avLst/>
          </a:prstGeom>
        </p:spPr>
      </p:pic>
      <p:sp>
        <p:nvSpPr>
          <p:cNvPr id="26625" name="Content Placeholder 2"/>
          <p:cNvSpPr>
            <a:spLocks noGrp="1"/>
          </p:cNvSpPr>
          <p:nvPr>
            <p:ph idx="1"/>
          </p:nvPr>
        </p:nvSpPr>
        <p:spPr>
          <a:xfrm>
            <a:off x="4495800" y="381000"/>
            <a:ext cx="4191000" cy="5562600"/>
          </a:xfrm>
        </p:spPr>
        <p:txBody>
          <a:bodyPr/>
          <a:lstStyle/>
          <a:p>
            <a:pPr>
              <a:spcBef>
                <a:spcPts val="1175"/>
              </a:spcBef>
            </a:pPr>
            <a:r>
              <a:rPr lang="en-US" sz="2400" dirty="0">
                <a:latin typeface="Trebuchet MS" charset="0"/>
                <a:ea typeface="ＭＳ Ｐゴシック" charset="0"/>
                <a:cs typeface="ＭＳ Ｐゴシック" charset="0"/>
              </a:rPr>
              <a:t>Attend IEP Meetings</a:t>
            </a:r>
          </a:p>
          <a:p>
            <a:pPr>
              <a:spcBef>
                <a:spcPts val="1175"/>
              </a:spcBef>
            </a:pPr>
            <a:r>
              <a:rPr lang="en-US" sz="2400" dirty="0">
                <a:latin typeface="Trebuchet MS" charset="0"/>
                <a:ea typeface="ＭＳ Ｐゴシック" charset="0"/>
                <a:cs typeface="ＭＳ Ｐゴシック" charset="0"/>
              </a:rPr>
              <a:t>Work with workforce boards, One-Stops, </a:t>
            </a:r>
            <a:r>
              <a:rPr lang="en-US" sz="2400" dirty="0" smtClean="0">
                <a:latin typeface="Trebuchet MS" charset="0"/>
                <a:ea typeface="ＭＳ Ｐゴシック" charset="0"/>
                <a:cs typeface="ＭＳ Ｐゴシック" charset="0"/>
              </a:rPr>
              <a:t>&amp; </a:t>
            </a:r>
            <a:r>
              <a:rPr lang="en-US" sz="2400" dirty="0">
                <a:latin typeface="Trebuchet MS" charset="0"/>
                <a:ea typeface="ＭＳ Ｐゴシック" charset="0"/>
                <a:cs typeface="ＭＳ Ｐゴシック" charset="0"/>
              </a:rPr>
              <a:t>employers to develop employment opportunities</a:t>
            </a:r>
          </a:p>
          <a:p>
            <a:pPr>
              <a:spcBef>
                <a:spcPts val="1175"/>
              </a:spcBef>
            </a:pPr>
            <a:r>
              <a:rPr lang="en-US" sz="2400" dirty="0">
                <a:latin typeface="Trebuchet MS" charset="0"/>
                <a:ea typeface="ＭＳ Ｐゴシック" charset="0"/>
                <a:cs typeface="ＭＳ Ｐゴシック" charset="0"/>
              </a:rPr>
              <a:t>Work with schools to ensure provision </a:t>
            </a:r>
            <a:r>
              <a:rPr lang="en-US" sz="2400" dirty="0" smtClean="0">
                <a:latin typeface="Trebuchet MS" charset="0"/>
                <a:ea typeface="ＭＳ Ｐゴシック" charset="0"/>
                <a:cs typeface="ＭＳ Ｐゴシック" charset="0"/>
              </a:rPr>
              <a:t>of</a:t>
            </a:r>
            <a:br>
              <a:rPr lang="en-US" sz="2400" dirty="0" smtClean="0">
                <a:latin typeface="Trebuchet MS" charset="0"/>
                <a:ea typeface="ＭＳ Ｐゴシック" charset="0"/>
                <a:cs typeface="ＭＳ Ｐゴシック" charset="0"/>
              </a:rPr>
            </a:br>
            <a:r>
              <a:rPr lang="en-US" sz="2400" dirty="0" smtClean="0">
                <a:latin typeface="Trebuchet MS" charset="0"/>
                <a:ea typeface="ＭＳ Ｐゴシック" charset="0"/>
                <a:cs typeface="ＭＳ Ｐゴシック" charset="0"/>
              </a:rPr>
              <a:t>pre</a:t>
            </a:r>
            <a:r>
              <a:rPr lang="en-US" sz="2400" dirty="0">
                <a:latin typeface="Trebuchet MS" charset="0"/>
                <a:ea typeface="ＭＳ Ｐゴシック" charset="0"/>
                <a:cs typeface="ＭＳ Ｐゴシック" charset="0"/>
              </a:rPr>
              <a:t>-employment transition services</a:t>
            </a:r>
          </a:p>
          <a:p>
            <a:pPr>
              <a:spcBef>
                <a:spcPts val="1175"/>
              </a:spcBef>
            </a:pPr>
            <a:r>
              <a:rPr lang="en-US" sz="2400" dirty="0">
                <a:latin typeface="Trebuchet MS" charset="0"/>
                <a:ea typeface="ＭＳ Ｐゴシック" charset="0"/>
                <a:cs typeface="ＭＳ Ｐゴシック" charset="0"/>
              </a:rPr>
              <a:t>When invited, attend person-centered planning meetings</a:t>
            </a:r>
          </a:p>
        </p:txBody>
      </p:sp>
      <p:sp>
        <p:nvSpPr>
          <p:cNvPr id="5" name="Pentagon 4"/>
          <p:cNvSpPr/>
          <p:nvPr/>
        </p:nvSpPr>
        <p:spPr>
          <a:xfrm>
            <a:off x="228600" y="457200"/>
            <a:ext cx="3733800" cy="3124200"/>
          </a:xfrm>
          <a:prstGeom prst="homePlate">
            <a:avLst/>
          </a:prstGeom>
          <a:solidFill>
            <a:srgbClr val="CC0000"/>
          </a:solidFill>
          <a:effectLst>
            <a:glow rad="228600">
              <a:schemeClr val="accent4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3200" b="1" dirty="0" smtClean="0">
                <a:solidFill>
                  <a:srgbClr val="FFFF00"/>
                </a:solidFill>
                <a:latin typeface="Arial Narrow"/>
                <a:cs typeface="Arial Narrow"/>
              </a:rPr>
              <a:t>VR</a:t>
            </a:r>
            <a:r>
              <a:rPr lang="en-US" sz="3200" b="1" dirty="0">
                <a:solidFill>
                  <a:srgbClr val="FFFF00"/>
                </a:solidFill>
                <a:latin typeface="Arial Narrow"/>
                <a:cs typeface="Arial Narrow"/>
              </a:rPr>
              <a:t/>
            </a:r>
            <a:br>
              <a:rPr lang="en-US" sz="3200" b="1" dirty="0">
                <a:solidFill>
                  <a:srgbClr val="FFFF00"/>
                </a:solidFill>
                <a:latin typeface="Arial Narrow"/>
                <a:cs typeface="Arial Narrow"/>
              </a:rPr>
            </a:br>
            <a:r>
              <a:rPr lang="en-US" sz="3200" b="1" i="1" dirty="0">
                <a:solidFill>
                  <a:srgbClr val="FFFF00"/>
                </a:solidFill>
                <a:latin typeface="Arial Narrow"/>
                <a:cs typeface="Arial Narrow"/>
              </a:rPr>
              <a:t>Employment Transition Coordination </a:t>
            </a:r>
            <a:r>
              <a:rPr lang="en-US" sz="3200" b="1" dirty="0">
                <a:solidFill>
                  <a:srgbClr val="FFFF00"/>
                </a:solidFill>
                <a:latin typeface="Arial Narrow"/>
                <a:cs typeface="Arial Narrow"/>
              </a:rPr>
              <a:t>Requirements</a:t>
            </a:r>
          </a:p>
        </p:txBody>
      </p:sp>
      <p:pic>
        <p:nvPicPr>
          <p:cNvPr id="2" name="Picture 1" descr="Unknown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886200"/>
            <a:ext cx="2235200" cy="1689100"/>
          </a:xfrm>
          <a:prstGeom prst="rect">
            <a:avLst/>
          </a:prstGeom>
        </p:spPr>
      </p:pic>
      <p:pic>
        <p:nvPicPr>
          <p:cNvPr id="4" name="Picture 3" descr="MCB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4953000"/>
            <a:ext cx="1549400" cy="98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933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429037426571_calvin-arguing_large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3733800"/>
            <a:ext cx="3276600" cy="245745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</p:pic>
      <p:pic>
        <p:nvPicPr>
          <p:cNvPr id="13" name="Picture 12" descr="Unknown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685800"/>
            <a:ext cx="5715000" cy="2480411"/>
          </a:xfrm>
          <a:prstGeom prst="rect">
            <a:avLst/>
          </a:prstGeom>
        </p:spPr>
      </p:pic>
      <p:pic>
        <p:nvPicPr>
          <p:cNvPr id="14" name="Content Placeholder 3" descr="VocRehab.gif"/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2" t="645" r="5762" b="24169"/>
          <a:stretch/>
        </p:blipFill>
        <p:spPr>
          <a:xfrm>
            <a:off x="3505200" y="1447800"/>
            <a:ext cx="1435100" cy="1038742"/>
          </a:xfrm>
        </p:spPr>
      </p:pic>
      <p:pic>
        <p:nvPicPr>
          <p:cNvPr id="15" name="Picture 14" descr="school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246" y="1066800"/>
            <a:ext cx="1103154" cy="1623778"/>
          </a:xfrm>
          <a:prstGeom prst="rect">
            <a:avLst/>
          </a:prstGeom>
        </p:spPr>
      </p:pic>
      <p:pic>
        <p:nvPicPr>
          <p:cNvPr id="16" name="Picture 15" descr="1407275355899.gi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219200"/>
            <a:ext cx="1447800" cy="14478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 bwMode="auto">
          <a:xfrm>
            <a:off x="3200400" y="838200"/>
            <a:ext cx="1981200" cy="2209800"/>
          </a:xfrm>
          <a:prstGeom prst="ellipse">
            <a:avLst/>
          </a:prstGeom>
          <a:solidFill>
            <a:srgbClr val="F90000"/>
          </a:solidFill>
          <a:ln>
            <a:headEnd type="none" w="med" len="med"/>
            <a:tailEnd type="none" w="med" len="med"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divot"/>
          </a:sp3d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i="1" dirty="0" smtClean="0">
                <a:solidFill>
                  <a:schemeClr val="bg1"/>
                </a:solidFill>
                <a:latin typeface="Arial Narrow"/>
                <a:cs typeface="Arial Narrow"/>
              </a:rPr>
              <a:t>Other agency?</a:t>
            </a:r>
            <a:endParaRPr kumimoji="0" lang="en-US" sz="2800" b="1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Narrow"/>
              <a:ea typeface="ＭＳ Ｐゴシック" charset="0"/>
              <a:cs typeface="Arial Narrow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3200400" y="838200"/>
            <a:ext cx="1981200" cy="2209800"/>
          </a:xfrm>
          <a:prstGeom prst="ellipse">
            <a:avLst/>
          </a:prstGeom>
          <a:solidFill>
            <a:srgbClr val="FFF80A"/>
          </a:solidFill>
          <a:ln>
            <a:headEnd type="none" w="med" len="med"/>
            <a:tailEnd type="none" w="med" len="med"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divot"/>
          </a:sp3d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 smtClean="0">
                <a:solidFill>
                  <a:schemeClr val="tx1"/>
                </a:solidFill>
                <a:latin typeface="Bernard MT Condensed"/>
                <a:cs typeface="Bernard MT Condensed"/>
              </a:rPr>
              <a:t>Who pays for what</a:t>
            </a:r>
            <a:r>
              <a:rPr lang="en-US" sz="3200" dirty="0" smtClean="0">
                <a:solidFill>
                  <a:schemeClr val="tx1"/>
                </a:solidFill>
                <a:latin typeface="Times New Roman"/>
                <a:cs typeface="Times New Roman"/>
              </a:rPr>
              <a:t>?</a:t>
            </a:r>
            <a:endParaRPr kumimoji="0" 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/>
              <a:ea typeface="ＭＳ Ｐゴシック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225268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 bwMode="auto">
          <a:xfrm>
            <a:off x="1905000" y="1295400"/>
            <a:ext cx="5486400" cy="4572000"/>
          </a:xfrm>
          <a:prstGeom prst="ellipse">
            <a:avLst/>
          </a:prstGeom>
          <a:solidFill>
            <a:srgbClr val="FFF80A"/>
          </a:solidFill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39700" h="139700" prst="divot"/>
          </a:sp3d>
          <a:ex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Special</a:t>
            </a:r>
            <a:r>
              <a:rPr kumimoji="0" lang="en-US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 Jobs</a:t>
            </a:r>
            <a:br>
              <a:rPr kumimoji="0" lang="en-US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</a:br>
            <a:r>
              <a:rPr kumimoji="0" lang="en-US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at</a:t>
            </a:r>
            <a:br>
              <a:rPr kumimoji="0" lang="en-US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</a:br>
            <a:r>
              <a:rPr kumimoji="0" lang="en-US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Special Places</a:t>
            </a:r>
            <a:br>
              <a:rPr kumimoji="0" lang="en-US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</a:br>
            <a:r>
              <a:rPr kumimoji="0" lang="en-US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for</a:t>
            </a:r>
            <a:br>
              <a:rPr kumimoji="0" lang="en-US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</a:br>
            <a:r>
              <a:rPr kumimoji="0" lang="en-US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Special People</a:t>
            </a:r>
            <a:endParaRPr kumimoji="0" 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 flipH="1">
            <a:off x="2514600" y="1524000"/>
            <a:ext cx="4267200" cy="403860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" name="Straight Connector 7"/>
          <p:cNvCxnSpPr/>
          <p:nvPr/>
        </p:nvCxnSpPr>
        <p:spPr bwMode="auto">
          <a:xfrm>
            <a:off x="2590800" y="1600200"/>
            <a:ext cx="4114800" cy="403860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00907702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20109_CentralMOContracting_01__t_w600_h30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685800"/>
            <a:ext cx="3543300" cy="2362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257800" y="914400"/>
            <a:ext cx="3429000" cy="461665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Sheltered Workshops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4724400"/>
            <a:ext cx="3429000" cy="830997"/>
          </a:xfrm>
          <a:prstGeom prst="rect">
            <a:avLst/>
          </a:prstGeom>
          <a:solidFill>
            <a:srgbClr val="000090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Enclaves &amp; Mobile Work Crews</a:t>
            </a:r>
            <a:endParaRPr lang="en-US" dirty="0"/>
          </a:p>
        </p:txBody>
      </p:sp>
      <p:pic>
        <p:nvPicPr>
          <p:cNvPr id="3" name="Picture 2" descr="a1792758ded24ca0b0554c0497e01744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810000"/>
            <a:ext cx="3352800" cy="216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42012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7772400" cy="1524000"/>
          </a:xfrm>
        </p:spPr>
        <p:txBody>
          <a:bodyPr/>
          <a:lstStyle/>
          <a:p>
            <a:pPr>
              <a:defRPr/>
            </a:pP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WIOA Section 511:</a:t>
            </a:r>
            <a:br>
              <a:rPr lang="en-US" sz="3200" dirty="0" smtClean="0">
                <a:solidFill>
                  <a:srgbClr val="FFFF00"/>
                </a:solidFill>
                <a:latin typeface="+mn-lt"/>
              </a:rPr>
            </a:br>
            <a:r>
              <a:rPr lang="en-US" sz="3200" dirty="0" smtClean="0">
                <a:latin typeface="+mn-lt"/>
              </a:rPr>
              <a:t>Restrictions on Sub-Minimum Wage</a:t>
            </a:r>
            <a:endParaRPr lang="en-US" sz="3200" dirty="0">
              <a:latin typeface="+mn-lt"/>
            </a:endParaRP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381000" y="1828800"/>
            <a:ext cx="8534400" cy="4530725"/>
          </a:xfrm>
        </p:spPr>
        <p:txBody>
          <a:bodyPr/>
          <a:lstStyle/>
          <a:p>
            <a:r>
              <a:rPr lang="en-US" sz="2400" b="1" dirty="0" smtClean="0">
                <a:latin typeface="Trebuchet MS" charset="0"/>
                <a:ea typeface="ＭＳ Ｐゴシック" charset="0"/>
                <a:cs typeface="ＭＳ Ｐゴシック" charset="0"/>
              </a:rPr>
              <a:t>Required </a:t>
            </a:r>
            <a:r>
              <a:rPr lang="en-US" sz="2400" b="1" dirty="0">
                <a:latin typeface="Trebuchet MS" charset="0"/>
                <a:ea typeface="ＭＳ Ｐゴシック" charset="0"/>
                <a:cs typeface="ＭＳ Ｐゴシック" charset="0"/>
              </a:rPr>
              <a:t>(as of 2016</a:t>
            </a:r>
            <a:r>
              <a:rPr lang="en-US" sz="2400" b="1" dirty="0" smtClean="0">
                <a:latin typeface="Trebuchet MS" charset="0"/>
                <a:ea typeface="ＭＳ Ｐゴシック" charset="0"/>
                <a:cs typeface="ＭＳ Ｐゴシック" charset="0"/>
              </a:rPr>
              <a:t>) for individuals 24 </a:t>
            </a:r>
            <a:r>
              <a:rPr lang="en-US" sz="2400" b="1" dirty="0">
                <a:latin typeface="Trebuchet MS" charset="0"/>
                <a:ea typeface="ＭＳ Ｐゴシック" charset="0"/>
                <a:cs typeface="ＭＳ Ｐゴシック" charset="0"/>
              </a:rPr>
              <a:t>&amp; under </a:t>
            </a:r>
            <a:r>
              <a:rPr lang="en-US" sz="2400" b="1" dirty="0" smtClean="0">
                <a:latin typeface="Trebuchet MS" charset="0"/>
                <a:ea typeface="ＭＳ Ｐゴシック" charset="0"/>
                <a:cs typeface="ＭＳ Ｐゴシック" charset="0"/>
              </a:rPr>
              <a:t>before </a:t>
            </a:r>
            <a:r>
              <a:rPr lang="en-US" sz="2400" b="1" dirty="0">
                <a:latin typeface="Trebuchet MS" charset="0"/>
                <a:ea typeface="ＭＳ Ｐゴシック" charset="0"/>
                <a:cs typeface="ＭＳ Ｐゴシック" charset="0"/>
              </a:rPr>
              <a:t>being placed in a position that pays less than minimum wage</a:t>
            </a:r>
          </a:p>
          <a:p>
            <a:r>
              <a:rPr lang="en-US" sz="2400" dirty="0">
                <a:latin typeface="Trebuchet MS" charset="0"/>
                <a:ea typeface="ＭＳ Ｐゴシック" charset="0"/>
                <a:cs typeface="ＭＳ Ｐゴシック" charset="0"/>
              </a:rPr>
              <a:t>Steps include: </a:t>
            </a:r>
          </a:p>
          <a:p>
            <a:pPr marL="857250" lvl="1" indent="-514350">
              <a:buFont typeface="Trebuchet MS" charset="0"/>
              <a:buAutoNum type="arabicPeriod"/>
            </a:pPr>
            <a:r>
              <a:rPr lang="en-US" sz="2400" dirty="0" smtClean="0">
                <a:latin typeface="Trebuchet MS" charset="0"/>
                <a:ea typeface="ＭＳ Ｐゴシック" charset="0"/>
              </a:rPr>
              <a:t>MRC/MCB Pre</a:t>
            </a:r>
            <a:r>
              <a:rPr lang="en-US" sz="2400" dirty="0">
                <a:latin typeface="Trebuchet MS" charset="0"/>
                <a:ea typeface="ＭＳ Ｐゴシック" charset="0"/>
              </a:rPr>
              <a:t>-employment </a:t>
            </a:r>
            <a:r>
              <a:rPr lang="en-US" sz="2400" dirty="0" smtClean="0">
                <a:latin typeface="Trebuchet MS" charset="0"/>
                <a:ea typeface="ＭＳ Ｐゴシック" charset="0"/>
              </a:rPr>
              <a:t>transition services or IDEA transition services</a:t>
            </a:r>
            <a:endParaRPr lang="en-US" sz="2400" dirty="0">
              <a:latin typeface="Trebuchet MS" charset="0"/>
              <a:ea typeface="ＭＳ Ｐゴシック" charset="0"/>
            </a:endParaRPr>
          </a:p>
          <a:p>
            <a:pPr marL="857250" lvl="1" indent="-514350">
              <a:buFont typeface="Trebuchet MS" charset="0"/>
              <a:buAutoNum type="arabicPeriod"/>
            </a:pPr>
            <a:r>
              <a:rPr lang="en-US" sz="2400" dirty="0">
                <a:latin typeface="Trebuchet MS" charset="0"/>
                <a:ea typeface="ＭＳ Ｐゴシック" charset="0"/>
              </a:rPr>
              <a:t>Either being determined ineligible for </a:t>
            </a:r>
            <a:r>
              <a:rPr lang="en-US" sz="2400" dirty="0" smtClean="0">
                <a:latin typeface="Trebuchet MS" charset="0"/>
                <a:ea typeface="ＭＳ Ｐゴシック" charset="0"/>
              </a:rPr>
              <a:t>MRC/MCB </a:t>
            </a:r>
            <a:r>
              <a:rPr lang="en-US" sz="2400" dirty="0">
                <a:latin typeface="Trebuchet MS" charset="0"/>
                <a:ea typeface="ＭＳ Ｐゴシック" charset="0"/>
              </a:rPr>
              <a:t>or an unsuccessful </a:t>
            </a:r>
            <a:r>
              <a:rPr lang="en-US" sz="2400" dirty="0" smtClean="0">
                <a:latin typeface="Trebuchet MS" charset="0"/>
                <a:ea typeface="ＭＳ Ｐゴシック" charset="0"/>
              </a:rPr>
              <a:t>MRC/MCB </a:t>
            </a:r>
            <a:r>
              <a:rPr lang="en-US" sz="2400" dirty="0">
                <a:latin typeface="Trebuchet MS" charset="0"/>
                <a:ea typeface="ＭＳ Ｐゴシック" charset="0"/>
              </a:rPr>
              <a:t>closure</a:t>
            </a:r>
          </a:p>
          <a:p>
            <a:pPr marL="857250" lvl="1" indent="-514350">
              <a:buFont typeface="Trebuchet MS" charset="0"/>
              <a:buAutoNum type="arabicPeriod"/>
            </a:pPr>
            <a:r>
              <a:rPr lang="en-US" sz="2400" dirty="0">
                <a:latin typeface="Trebuchet MS" charset="0"/>
                <a:ea typeface="ＭＳ Ｐゴシック" charset="0"/>
              </a:rPr>
              <a:t>Provision of career counseling </a:t>
            </a:r>
            <a:r>
              <a:rPr lang="en-US" sz="2400" dirty="0" smtClean="0">
                <a:latin typeface="Trebuchet MS" charset="0"/>
                <a:ea typeface="ＭＳ Ｐゴシック" charset="0"/>
              </a:rPr>
              <a:t>&amp; </a:t>
            </a:r>
            <a:r>
              <a:rPr lang="en-US" sz="2400" dirty="0">
                <a:latin typeface="Trebuchet MS" charset="0"/>
                <a:ea typeface="ＭＳ Ｐゴシック" charset="0"/>
              </a:rPr>
              <a:t>referrals designed to assist individual to achieve competitive integrated employment</a:t>
            </a:r>
          </a:p>
          <a:p>
            <a:endParaRPr lang="en-US" dirty="0">
              <a:latin typeface="Trebuchet MS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" y="228600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10627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7924800" cy="25146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n-lt"/>
              </a:rPr>
              <a:t>As of July 22nd, schools no longer allowed to contract with organizations to pay individuals sub-minimum wage</a:t>
            </a:r>
            <a:endParaRPr lang="en-US" dirty="0">
              <a:latin typeface="+mn-lt"/>
            </a:endParaRPr>
          </a:p>
        </p:txBody>
      </p:sp>
      <p:pic>
        <p:nvPicPr>
          <p:cNvPr id="3" name="Picture 2" descr="sheltered+workshop+pic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4114800"/>
            <a:ext cx="2638014" cy="1884728"/>
          </a:xfrm>
          <a:prstGeom prst="rect">
            <a:avLst/>
          </a:prstGeom>
        </p:spPr>
      </p:pic>
      <p:pic>
        <p:nvPicPr>
          <p:cNvPr id="6" name="Picture 5" descr="MP91021637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4114800"/>
            <a:ext cx="2142958" cy="1866900"/>
          </a:xfrm>
          <a:prstGeom prst="rect">
            <a:avLst/>
          </a:prstGeom>
        </p:spPr>
      </p:pic>
      <p:pic>
        <p:nvPicPr>
          <p:cNvPr id="8" name="Picture 7" descr="MC900382578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810000"/>
            <a:ext cx="2209800" cy="220980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 bwMode="auto">
          <a:xfrm flipH="1">
            <a:off x="2895600" y="3886200"/>
            <a:ext cx="1828800" cy="1905000"/>
          </a:xfrm>
          <a:prstGeom prst="line">
            <a:avLst/>
          </a:prstGeom>
          <a:solidFill>
            <a:schemeClr val="accent1"/>
          </a:solidFill>
          <a:ln w="793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" name="Straight Connector 12"/>
          <p:cNvCxnSpPr/>
          <p:nvPr/>
        </p:nvCxnSpPr>
        <p:spPr bwMode="auto">
          <a:xfrm flipH="1" flipV="1">
            <a:off x="2971800" y="4038600"/>
            <a:ext cx="1752600" cy="1752600"/>
          </a:xfrm>
          <a:prstGeom prst="line">
            <a:avLst/>
          </a:prstGeom>
          <a:solidFill>
            <a:schemeClr val="accent1"/>
          </a:solidFill>
          <a:ln w="793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6" name="Striped Right Arrow 15"/>
          <p:cNvSpPr/>
          <p:nvPr/>
        </p:nvSpPr>
        <p:spPr bwMode="auto">
          <a:xfrm>
            <a:off x="4724400" y="4495800"/>
            <a:ext cx="1447800" cy="685800"/>
          </a:xfrm>
          <a:prstGeom prst="stripedRightArrow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37935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4038600" cy="9906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r>
              <a:rPr lang="en-US" i="0" dirty="0" smtClean="0"/>
              <a:t>DDS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534400" cy="4419600"/>
          </a:xfrm>
        </p:spPr>
        <p:txBody>
          <a:bodyPr/>
          <a:lstStyle/>
          <a:p>
            <a:r>
              <a:rPr lang="en-US" dirty="0" smtClean="0"/>
              <a:t>New entries to sheltered workshops ended on January 1, 2014.</a:t>
            </a:r>
          </a:p>
          <a:p>
            <a:r>
              <a:rPr lang="en-US" dirty="0" smtClean="0"/>
              <a:t>Funding of sheltered workshops ends on June 30, 2016</a:t>
            </a:r>
          </a:p>
          <a:p>
            <a:r>
              <a:rPr lang="en-US" dirty="0" smtClean="0"/>
              <a:t>Phase-out of sub-minimum</a:t>
            </a:r>
            <a:br>
              <a:rPr lang="en-US" dirty="0" smtClean="0"/>
            </a:br>
            <a:r>
              <a:rPr lang="en-US" dirty="0" smtClean="0"/>
              <a:t>wage payments by</a:t>
            </a:r>
            <a:br>
              <a:rPr lang="en-US" dirty="0" smtClean="0"/>
            </a:br>
            <a:r>
              <a:rPr lang="en-US" dirty="0" smtClean="0"/>
              <a:t>June 2018</a:t>
            </a:r>
          </a:p>
          <a:p>
            <a:endParaRPr lang="en-US" dirty="0"/>
          </a:p>
        </p:txBody>
      </p:sp>
      <p:pic>
        <p:nvPicPr>
          <p:cNvPr id="4" name="Picture 3" descr="front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200400"/>
            <a:ext cx="2561772" cy="1793240"/>
          </a:xfrm>
          <a:prstGeom prst="rect">
            <a:avLst/>
          </a:prstGeom>
        </p:spPr>
      </p:pic>
      <p:pic>
        <p:nvPicPr>
          <p:cNvPr id="5" name="Picture 4" descr="Unknown-1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4724400"/>
            <a:ext cx="2501900" cy="140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361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295400"/>
            <a:ext cx="3733800" cy="3886200"/>
          </a:xfrm>
          <a:solidFill>
            <a:srgbClr val="FF0000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anchor="ctr"/>
          <a:lstStyle/>
          <a:p>
            <a:pPr algn="ctr">
              <a:defRPr/>
            </a:pPr>
            <a:r>
              <a:rPr lang="en-US" i="0" dirty="0" smtClean="0">
                <a:solidFill>
                  <a:schemeClr val="accent3"/>
                </a:solidFill>
                <a:latin typeface="+mj-lt"/>
              </a:rPr>
              <a:t>Workforce Development System </a:t>
            </a:r>
            <a:r>
              <a:rPr lang="en-US" i="1" dirty="0" smtClean="0">
                <a:solidFill>
                  <a:srgbClr val="FFFF00"/>
                </a:solidFill>
                <a:latin typeface="+mj-lt"/>
              </a:rPr>
              <a:t>Opportunities</a:t>
            </a:r>
            <a:endParaRPr lang="en-US" i="1" dirty="0">
              <a:solidFill>
                <a:srgbClr val="FFFF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8368198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ichmond CA 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114800"/>
            <a:ext cx="2819400" cy="1822642"/>
          </a:xfrm>
          <a:prstGeom prst="rect">
            <a:avLst/>
          </a:prstGeom>
        </p:spPr>
      </p:pic>
      <p:pic>
        <p:nvPicPr>
          <p:cNvPr id="8" name="Picture 7" descr="Richmond CA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717" y="4114800"/>
            <a:ext cx="2713483" cy="1827261"/>
          </a:xfrm>
          <a:prstGeom prst="rect">
            <a:avLst/>
          </a:prstGeom>
        </p:spPr>
      </p:pic>
      <p:pic>
        <p:nvPicPr>
          <p:cNvPr id="2" name="Picture 1" descr="moscc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4724400"/>
            <a:ext cx="2367857" cy="914400"/>
          </a:xfrm>
          <a:prstGeom prst="rect">
            <a:avLst/>
          </a:prstGeom>
        </p:spPr>
      </p:pic>
      <p:pic>
        <p:nvPicPr>
          <p:cNvPr id="3" name="Picture 2" descr="revised_map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52600"/>
            <a:ext cx="3218665" cy="205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600200"/>
            <a:ext cx="4419600" cy="175432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16</a:t>
            </a:r>
            <a:br>
              <a:rPr lang="en-US" sz="3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n-US" sz="36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Massachusetts Workforce Boards</a:t>
            </a:r>
            <a:endParaRPr lang="en-US" sz="3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38600" y="4139624"/>
            <a:ext cx="11430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32</a:t>
            </a:r>
            <a:endParaRPr lang="en-US" sz="3200" b="1" dirty="0"/>
          </a:p>
        </p:txBody>
      </p:sp>
      <p:cxnSp>
        <p:nvCxnSpPr>
          <p:cNvPr id="11" name="Straight Connector 10"/>
          <p:cNvCxnSpPr/>
          <p:nvPr/>
        </p:nvCxnSpPr>
        <p:spPr bwMode="auto">
          <a:xfrm flipV="1">
            <a:off x="304800" y="3886200"/>
            <a:ext cx="8610600" cy="76200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9" name="Picture 8" descr="images.jpe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04800"/>
            <a:ext cx="2971800" cy="75811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 bwMode="auto">
          <a:xfrm flipV="1">
            <a:off x="304800" y="1295400"/>
            <a:ext cx="8610600" cy="76200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56095804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Content Placeholder 2"/>
          <p:cNvSpPr>
            <a:spLocks noGrp="1"/>
          </p:cNvSpPr>
          <p:nvPr>
            <p:ph idx="1"/>
          </p:nvPr>
        </p:nvSpPr>
        <p:spPr>
          <a:xfrm>
            <a:off x="3657600" y="838200"/>
            <a:ext cx="5257800" cy="5216525"/>
          </a:xfrm>
        </p:spPr>
        <p:txBody>
          <a:bodyPr/>
          <a:lstStyle/>
          <a:p>
            <a:pPr>
              <a:spcBef>
                <a:spcPts val="1325"/>
              </a:spcBef>
            </a:pPr>
            <a:r>
              <a:rPr lang="en-US" sz="3600" dirty="0">
                <a:latin typeface="Trebuchet MS" charset="0"/>
                <a:ea typeface="ＭＳ Ｐゴシック" charset="0"/>
                <a:cs typeface="ＭＳ Ｐゴシック" charset="0"/>
              </a:rPr>
              <a:t>Variety of services available for eligible youth </a:t>
            </a:r>
            <a:r>
              <a:rPr lang="en-US" sz="3600" dirty="0" smtClean="0">
                <a:latin typeface="Trebuchet MS" charset="0"/>
                <a:ea typeface="ＭＳ Ｐゴシック" charset="0"/>
                <a:cs typeface="ＭＳ Ｐゴシック" charset="0"/>
              </a:rPr>
              <a:t>to assist with employment &amp; career development </a:t>
            </a:r>
            <a:br>
              <a:rPr lang="en-US" sz="3600" dirty="0" smtClean="0">
                <a:latin typeface="Trebuchet MS" charset="0"/>
                <a:ea typeface="ＭＳ Ｐゴシック" charset="0"/>
                <a:cs typeface="ＭＳ Ｐゴシック" charset="0"/>
              </a:rPr>
            </a:br>
            <a:endParaRPr lang="en-US" sz="3600" dirty="0" smtClean="0">
              <a:latin typeface="Trebuchet MS" charset="0"/>
              <a:ea typeface="ＭＳ Ｐゴシック" charset="0"/>
              <a:cs typeface="ＭＳ Ｐゴシック" charset="0"/>
            </a:endParaRPr>
          </a:p>
          <a:p>
            <a:pPr>
              <a:spcBef>
                <a:spcPts val="1325"/>
              </a:spcBef>
            </a:pPr>
            <a:r>
              <a:rPr lang="en-US" sz="3600" dirty="0" smtClean="0">
                <a:latin typeface="Trebuchet MS" charset="0"/>
                <a:ea typeface="ＭＳ Ｐゴシック" charset="0"/>
                <a:cs typeface="ＭＳ Ｐゴシック" charset="0"/>
              </a:rPr>
              <a:t>Primarily </a:t>
            </a:r>
            <a:r>
              <a:rPr lang="en-US" sz="3600" dirty="0">
                <a:latin typeface="Trebuchet MS" charset="0"/>
                <a:ea typeface="ＭＳ Ｐゴシック" charset="0"/>
                <a:cs typeface="ＭＳ Ｐゴシック" charset="0"/>
              </a:rPr>
              <a:t>administered by local workforce boards</a:t>
            </a:r>
          </a:p>
          <a:p>
            <a:pPr marL="0" indent="0">
              <a:buNone/>
            </a:pPr>
            <a:endParaRPr lang="en-US" dirty="0">
              <a:latin typeface="Trebuchet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" name="Pentagon 2"/>
          <p:cNvSpPr/>
          <p:nvPr/>
        </p:nvSpPr>
        <p:spPr>
          <a:xfrm>
            <a:off x="457200" y="457200"/>
            <a:ext cx="2895600" cy="1905000"/>
          </a:xfrm>
          <a:prstGeom prst="homePlate">
            <a:avLst/>
          </a:prstGeo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dirty="0"/>
              <a:t>Workforce Development Youth Services</a:t>
            </a:r>
          </a:p>
        </p:txBody>
      </p:sp>
      <p:pic>
        <p:nvPicPr>
          <p:cNvPr id="39939" name="Picture 4" descr="MC900060317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556125"/>
            <a:ext cx="1600200" cy="148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Picture 5" descr="MC900297549.W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743200"/>
            <a:ext cx="14097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979750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7189190"/>
              </p:ext>
            </p:extLst>
          </p:nvPr>
        </p:nvGraphicFramePr>
        <p:xfrm>
          <a:off x="609600" y="762000"/>
          <a:ext cx="8077200" cy="3820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/>
                <a:gridCol w="2692400"/>
                <a:gridCol w="2692400"/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 smtClean="0">
                          <a:solidFill>
                            <a:schemeClr val="tx1"/>
                          </a:solidFill>
                        </a:rPr>
                        <a:t>WIOA Youth Services</a:t>
                      </a:r>
                      <a:endParaRPr lang="en-US" sz="280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cap="small" dirty="0" smtClean="0">
                          <a:solidFill>
                            <a:schemeClr val="bg1"/>
                          </a:solidFill>
                        </a:rPr>
                        <a:t>Out of School</a:t>
                      </a:r>
                    </a:p>
                    <a:p>
                      <a:pPr algn="ctr"/>
                      <a:r>
                        <a:rPr lang="en-US" sz="1800" i="1" cap="small" dirty="0" smtClean="0">
                          <a:solidFill>
                            <a:schemeClr val="bg1"/>
                          </a:solidFill>
                        </a:rPr>
                        <a:t>(75% of funding)</a:t>
                      </a:r>
                      <a:endParaRPr lang="en-US" sz="1800" i="1" cap="small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cap="small" dirty="0" smtClean="0">
                          <a:solidFill>
                            <a:schemeClr val="tx1"/>
                          </a:solidFill>
                          <a:latin typeface="Avenir Medium"/>
                          <a:cs typeface="Avenir Medium"/>
                        </a:rPr>
                        <a:t>In-School</a:t>
                      </a:r>
                    </a:p>
                    <a:p>
                      <a:pPr algn="ctr"/>
                      <a:r>
                        <a:rPr lang="en-US" i="1" cap="small" dirty="0" smtClean="0">
                          <a:solidFill>
                            <a:schemeClr val="tx1"/>
                          </a:solidFill>
                          <a:latin typeface="Avenir Medium"/>
                          <a:cs typeface="Avenir Medium"/>
                        </a:rPr>
                        <a:t>(25% of Funding)</a:t>
                      </a:r>
                      <a:endParaRPr lang="en-US" i="1" cap="small" dirty="0">
                        <a:solidFill>
                          <a:schemeClr val="tx1"/>
                        </a:solidFill>
                        <a:latin typeface="Avenir Medium"/>
                        <a:cs typeface="Avenir Medium"/>
                      </a:endParaRPr>
                    </a:p>
                  </a:txBody>
                  <a:tcPr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0A"/>
                    </a:solidFill>
                  </a:tcPr>
                </a:tc>
              </a:tr>
              <a:tr h="1412098">
                <a:tc>
                  <a:txBody>
                    <a:bodyPr/>
                    <a:lstStyle/>
                    <a:p>
                      <a:pPr algn="l"/>
                      <a:r>
                        <a:rPr lang="en-US" sz="2000" b="1" i="1" dirty="0" smtClean="0"/>
                        <a:t>Available</a:t>
                      </a:r>
                      <a:r>
                        <a:rPr lang="en-US" sz="2000" b="1" i="1" baseline="0" dirty="0" smtClean="0"/>
                        <a:t> To </a:t>
                      </a:r>
                      <a:r>
                        <a:rPr lang="en-US" sz="2000" b="1" i="1" baseline="0" dirty="0" smtClean="0">
                          <a:latin typeface="Wingdings"/>
                          <a:ea typeface="Wingdings"/>
                          <a:cs typeface="Wingdings"/>
                          <a:sym typeface="Wingdings"/>
                        </a:rPr>
                        <a:t></a:t>
                      </a:r>
                      <a:endParaRPr lang="en-US" sz="2000" b="1" i="1" dirty="0"/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Eligible</a:t>
                      </a:r>
                      <a:r>
                        <a:rPr lang="en-US" sz="2400" baseline="0" dirty="0" smtClean="0">
                          <a:solidFill>
                            <a:schemeClr val="bg1"/>
                          </a:solidFill>
                        </a:rPr>
                        <a:t> y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outh age 16 to 24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Avenir Medium"/>
                          <a:cs typeface="Avenir Medium"/>
                        </a:rPr>
                        <a:t>Students with Disabilities (age 14 to 21)</a:t>
                      </a:r>
                      <a:endParaRPr lang="en-US" dirty="0">
                        <a:solidFill>
                          <a:schemeClr val="tx1"/>
                        </a:solidFill>
                        <a:latin typeface="Avenir Medium"/>
                        <a:cs typeface="Avenir Medium"/>
                      </a:endParaRPr>
                    </a:p>
                  </a:txBody>
                  <a:tcPr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0A"/>
                    </a:solidFill>
                  </a:tcPr>
                </a:tc>
              </a:tr>
              <a:tr h="882761">
                <a:tc>
                  <a:txBody>
                    <a:bodyPr/>
                    <a:lstStyle/>
                    <a:p>
                      <a:pPr algn="l"/>
                      <a:r>
                        <a:rPr lang="en-US" sz="2000" b="1" i="1" dirty="0" smtClean="0"/>
                        <a:t>Disability</a:t>
                      </a:r>
                      <a:r>
                        <a:rPr lang="en-US" sz="2000" b="1" i="1" baseline="0" dirty="0" smtClean="0"/>
                        <a:t> Eligibility</a:t>
                      </a:r>
                      <a:endParaRPr lang="en-US" sz="2000" b="1" i="1" dirty="0"/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Any youth meeting the ADA definition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Avenir Medium"/>
                          <a:cs typeface="Avenir Medium"/>
                        </a:rPr>
                        <a:t>Any youth meeting the ADA definition who is on SSI or low income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Avenir Medium"/>
                          <a:cs typeface="Avenir Medium"/>
                        </a:rPr>
                        <a:t> (considered a family of 1 for income purposes)</a:t>
                      </a:r>
                      <a:endParaRPr lang="en-US" dirty="0">
                        <a:solidFill>
                          <a:schemeClr val="tx1"/>
                        </a:solidFill>
                        <a:latin typeface="Avenir Medium"/>
                        <a:cs typeface="Avenir Medium"/>
                      </a:endParaRPr>
                    </a:p>
                  </a:txBody>
                  <a:tcPr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0A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MC900231610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029200"/>
            <a:ext cx="16764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091155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vised_map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838200"/>
            <a:ext cx="3576297" cy="22860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810000"/>
            <a:ext cx="7162800" cy="193899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There are also other youth services administered by </a:t>
            </a:r>
            <a:br>
              <a:rPr lang="en-US" b="1" dirty="0" smtClean="0"/>
            </a:br>
            <a:r>
              <a:rPr lang="en-US" b="1" dirty="0" smtClean="0"/>
              <a:t>Workforce Boards and Workforce System</a:t>
            </a:r>
            <a:br>
              <a:rPr lang="en-US" b="1" dirty="0" smtClean="0"/>
            </a:br>
            <a:r>
              <a:rPr lang="en-US" b="1" dirty="0" smtClean="0"/>
              <a:t> </a:t>
            </a:r>
            <a:br>
              <a:rPr lang="en-US" b="1" dirty="0" smtClean="0"/>
            </a:br>
            <a:r>
              <a:rPr lang="en-US" dirty="0" smtClean="0"/>
              <a:t>E.G.: Connecting Activities</a:t>
            </a:r>
            <a:endParaRPr lang="en-US" dirty="0"/>
          </a:p>
        </p:txBody>
      </p:sp>
      <p:pic>
        <p:nvPicPr>
          <p:cNvPr id="4" name="Picture 3" descr="images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3883152" cy="990600"/>
          </a:xfrm>
          <a:prstGeom prst="rect">
            <a:avLst/>
          </a:prstGeom>
        </p:spPr>
      </p:pic>
      <p:pic>
        <p:nvPicPr>
          <p:cNvPr id="5" name="Picture 4" descr="MC900197692.W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105400"/>
            <a:ext cx="1981200" cy="129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880829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315200" cy="2362200"/>
          </a:xfrm>
          <a:scene3d>
            <a:camera prst="isometricOffAxis1Righ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r>
              <a:rPr lang="en-US" dirty="0" smtClean="0"/>
              <a:t>Best Practices:</a:t>
            </a:r>
            <a:br>
              <a:rPr lang="en-US" dirty="0" smtClean="0"/>
            </a:br>
            <a:r>
              <a:rPr lang="en-US" dirty="0" smtClean="0"/>
              <a:t>Transition and Employment</a:t>
            </a:r>
            <a:endParaRPr lang="en-US" dirty="0"/>
          </a:p>
        </p:txBody>
      </p:sp>
      <p:pic>
        <p:nvPicPr>
          <p:cNvPr id="3" name="Picture 2" descr="MP90042277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4419600"/>
            <a:ext cx="1600200" cy="1600200"/>
          </a:xfrm>
          <a:prstGeom prst="rect">
            <a:avLst/>
          </a:prstGeom>
        </p:spPr>
      </p:pic>
      <p:pic>
        <p:nvPicPr>
          <p:cNvPr id="4" name="Picture 3" descr="Teen girl working at ice cream shop with papers in hand" title="Teenager - Ice Cream Sho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7" y="457200"/>
            <a:ext cx="2743200" cy="1543050"/>
          </a:xfrm>
          <a:prstGeom prst="rect">
            <a:avLst/>
          </a:prstGeom>
        </p:spPr>
      </p:pic>
      <p:pic>
        <p:nvPicPr>
          <p:cNvPr id="5" name="Picture 4" descr="Boy teen behind counter of skate board shop" title="Teener - Skateboard Shop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58" t="15942"/>
          <a:stretch/>
        </p:blipFill>
        <p:spPr>
          <a:xfrm>
            <a:off x="3124200" y="4495800"/>
            <a:ext cx="1402376" cy="156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11197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3505200" cy="1752600"/>
          </a:xfrm>
        </p:spPr>
        <p:txBody>
          <a:bodyPr/>
          <a:lstStyle/>
          <a:p>
            <a:pPr>
              <a:defRPr/>
            </a:pPr>
            <a:r>
              <a:rPr lang="en-US" sz="3200" dirty="0" smtClean="0"/>
              <a:t>Best Practices: Transition &amp; Employment</a:t>
            </a:r>
            <a:endParaRPr lang="en-US" sz="3200" i="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381000"/>
            <a:ext cx="5029200" cy="59436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Arial Narrow"/>
                <a:cs typeface="Arial Narrow"/>
              </a:rPr>
              <a:t>Presume all students can succeed in employment</a:t>
            </a:r>
          </a:p>
          <a:p>
            <a:pPr>
              <a:defRPr/>
            </a:pPr>
            <a:r>
              <a:rPr lang="en-US" sz="2400" dirty="0" smtClean="0">
                <a:latin typeface="Arial Narrow"/>
                <a:cs typeface="Arial Narrow"/>
              </a:rPr>
              <a:t>Employment addressed annually as core element of IEP starting at age 14</a:t>
            </a:r>
          </a:p>
          <a:p>
            <a:pPr>
              <a:defRPr/>
            </a:pPr>
            <a:r>
              <a:rPr lang="en-US" sz="2400" dirty="0" smtClean="0">
                <a:latin typeface="Arial Narrow"/>
                <a:cs typeface="Arial Narrow"/>
              </a:rPr>
              <a:t>Decision to not pursue employment requires high level of documentation</a:t>
            </a:r>
          </a:p>
          <a:p>
            <a:pPr>
              <a:defRPr/>
            </a:pPr>
            <a:r>
              <a:rPr lang="en-US" sz="2400" dirty="0" smtClean="0">
                <a:latin typeface="Arial Narrow"/>
                <a:cs typeface="Arial Narrow"/>
              </a:rPr>
              <a:t>Typical student work experiences based on a person-centered approach</a:t>
            </a:r>
          </a:p>
          <a:p>
            <a:pPr>
              <a:defRPr/>
            </a:pPr>
            <a:r>
              <a:rPr lang="en-US" sz="2400" dirty="0" smtClean="0">
                <a:latin typeface="Arial Narrow"/>
                <a:cs typeface="Arial Narrow"/>
              </a:rPr>
              <a:t>Integrate students into school-to-career opportunities available to all students</a:t>
            </a:r>
            <a:r>
              <a:rPr lang="en-US" sz="2400" i="1" dirty="0" smtClean="0">
                <a:latin typeface="Arial Narrow"/>
                <a:cs typeface="Arial Narrow"/>
              </a:rPr>
              <a:t>.</a:t>
            </a:r>
          </a:p>
          <a:p>
            <a:pPr>
              <a:defRPr/>
            </a:pPr>
            <a:r>
              <a:rPr lang="en-US" sz="2400" dirty="0" smtClean="0">
                <a:latin typeface="Arial Narrow"/>
                <a:cs typeface="Arial Narrow"/>
              </a:rPr>
              <a:t>Facilitate</a:t>
            </a:r>
            <a:r>
              <a:rPr lang="en-US" sz="2400" dirty="0">
                <a:latin typeface="Arial Narrow"/>
                <a:cs typeface="Arial Narrow"/>
              </a:rPr>
              <a:t>/encourage use of natural supports on the </a:t>
            </a:r>
            <a:r>
              <a:rPr lang="en-US" sz="2400" dirty="0" smtClean="0">
                <a:latin typeface="Arial Narrow"/>
                <a:cs typeface="Arial Narrow"/>
              </a:rPr>
              <a:t>job</a:t>
            </a:r>
          </a:p>
          <a:p>
            <a:pPr>
              <a:defRPr/>
            </a:pPr>
            <a:r>
              <a:rPr lang="en-US" sz="2400" dirty="0" smtClean="0">
                <a:latin typeface="Arial Narrow"/>
                <a:cs typeface="Arial Narrow"/>
              </a:rPr>
              <a:t>Stronger </a:t>
            </a:r>
            <a:r>
              <a:rPr lang="en-US" sz="2400" dirty="0">
                <a:latin typeface="Arial Narrow"/>
                <a:cs typeface="Arial Narrow"/>
              </a:rPr>
              <a:t>links with vocational education programs</a:t>
            </a:r>
          </a:p>
          <a:p>
            <a:pPr marL="0" indent="0">
              <a:buNone/>
              <a:defRPr/>
            </a:pPr>
            <a:endParaRPr lang="en-US" sz="2400" dirty="0" smtClean="0">
              <a:latin typeface="Arial Narrow"/>
              <a:cs typeface="Arial Narrow"/>
            </a:endParaRPr>
          </a:p>
          <a:p>
            <a:pPr>
              <a:defRPr/>
            </a:pPr>
            <a:endParaRPr lang="en-US" sz="2600" dirty="0" smtClean="0"/>
          </a:p>
          <a:p>
            <a:pPr>
              <a:defRPr/>
            </a:pPr>
            <a:endParaRPr lang="en-US" sz="2800" dirty="0"/>
          </a:p>
        </p:txBody>
      </p:sp>
      <p:pic>
        <p:nvPicPr>
          <p:cNvPr id="83973" name="Picture 7" descr="iStock_000012804135XSmall_teen_stor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819400"/>
            <a:ext cx="14224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4" name="Picture 8" descr="teenager-working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572000"/>
            <a:ext cx="169545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5" name="Picture 10" descr="article-new-ehow-images-a07-po-vc-job-hunting-tips-teenagers-800x800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667000"/>
            <a:ext cx="1917700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11473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0" y="609600"/>
            <a:ext cx="5943600" cy="5715000"/>
          </a:xfrm>
        </p:spPr>
        <p:txBody>
          <a:bodyPr/>
          <a:lstStyle/>
          <a:p>
            <a:pPr>
              <a:spcBef>
                <a:spcPts val="1224"/>
              </a:spcBef>
            </a:pPr>
            <a:r>
              <a:rPr lang="en-US" sz="2400" dirty="0" smtClean="0"/>
              <a:t>Schools “owning” jobs</a:t>
            </a:r>
          </a:p>
          <a:p>
            <a:pPr>
              <a:spcBef>
                <a:spcPts val="1224"/>
              </a:spcBef>
            </a:pPr>
            <a:r>
              <a:rPr lang="en-US" sz="2400" dirty="0" smtClean="0"/>
              <a:t>Job “programs” with limited options that aren’t person-centered</a:t>
            </a:r>
          </a:p>
          <a:p>
            <a:pPr>
              <a:spcBef>
                <a:spcPts val="1224"/>
              </a:spcBef>
            </a:pPr>
            <a:r>
              <a:rPr lang="en-US" sz="2400" dirty="0"/>
              <a:t>G</a:t>
            </a:r>
            <a:r>
              <a:rPr lang="en-US" sz="2400" dirty="0" smtClean="0"/>
              <a:t>roup employment as the primary experience</a:t>
            </a:r>
          </a:p>
          <a:p>
            <a:pPr>
              <a:spcBef>
                <a:spcPts val="1224"/>
              </a:spcBef>
            </a:pPr>
            <a:r>
              <a:rPr lang="en-US" sz="2400" dirty="0" smtClean="0"/>
              <a:t>Using segregated facility-based programs</a:t>
            </a:r>
          </a:p>
          <a:p>
            <a:pPr>
              <a:spcBef>
                <a:spcPts val="1224"/>
              </a:spcBef>
            </a:pPr>
            <a:r>
              <a:rPr lang="en-US" sz="2400" dirty="0" smtClean="0"/>
              <a:t>Inappropriate “volunteering” for jobs</a:t>
            </a:r>
          </a:p>
          <a:p>
            <a:pPr>
              <a:spcBef>
                <a:spcPts val="1224"/>
              </a:spcBef>
            </a:pPr>
            <a:r>
              <a:rPr lang="en-US" sz="2400" dirty="0" smtClean="0"/>
              <a:t>Permanent on-the-job staff supports</a:t>
            </a:r>
          </a:p>
          <a:p>
            <a:pPr>
              <a:spcBef>
                <a:spcPts val="1224"/>
              </a:spcBef>
            </a:pPr>
            <a:r>
              <a:rPr lang="en-US" sz="2400" dirty="0" smtClean="0"/>
              <a:t>Experiences not reflective of career development stages</a:t>
            </a:r>
          </a:p>
          <a:p>
            <a:pPr>
              <a:spcBef>
                <a:spcPts val="1224"/>
              </a:spcBef>
            </a:pPr>
            <a:r>
              <a:rPr lang="en-US" sz="2400" dirty="0" smtClean="0"/>
              <a:t>Leaving school with no real work experience</a:t>
            </a:r>
          </a:p>
          <a:p>
            <a:endParaRPr lang="en-US" dirty="0"/>
          </a:p>
        </p:txBody>
      </p:sp>
      <p:pic>
        <p:nvPicPr>
          <p:cNvPr id="6" name="Picture 5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838200"/>
            <a:ext cx="2286000" cy="223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7107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2"/>
          <p:cNvSpPr txBox="1">
            <a:spLocks noChangeArrowheads="1"/>
          </p:cNvSpPr>
          <p:nvPr/>
        </p:nvSpPr>
        <p:spPr bwMode="auto">
          <a:xfrm>
            <a:off x="4038600" y="4876800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 </a:t>
            </a:r>
            <a:r>
              <a:rPr lang="en-US" sz="2800"/>
              <a:t>Mahatma Gandhi</a:t>
            </a:r>
          </a:p>
        </p:txBody>
      </p:sp>
      <p:sp>
        <p:nvSpPr>
          <p:cNvPr id="243715" name="Rectangle 3"/>
          <p:cNvSpPr>
            <a:spLocks noChangeArrowheads="1"/>
          </p:cNvSpPr>
          <p:nvPr/>
        </p:nvSpPr>
        <p:spPr bwMode="auto">
          <a:xfrm>
            <a:off x="381000" y="533400"/>
            <a:ext cx="8229600" cy="3659188"/>
          </a:xfrm>
          <a:prstGeom prst="rect">
            <a:avLst/>
          </a:prstGeom>
          <a:solidFill>
            <a:srgbClr val="006699"/>
          </a:solidFill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ja-JP" altLang="en-US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en-US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What you do may seem insignificant, but it is most important that you do it.</a:t>
            </a:r>
            <a:r>
              <a:rPr lang="ja-JP" altLang="en-US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  <a:endParaRPr lang="en-US" sz="54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lnSpc>
                <a:spcPct val="120000"/>
              </a:lnSpc>
              <a:defRPr/>
            </a:pPr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5363" name="Picture 2" descr="mahatma-gandhi-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810000"/>
            <a:ext cx="2438400" cy="203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2742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685800"/>
            <a:ext cx="7924800" cy="5029200"/>
          </a:xfrm>
          <a:solidFill>
            <a:srgbClr val="003366"/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ja-JP" altLang="en-US" b="0" dirty="0">
                <a:latin typeface="Geneva" charset="0"/>
              </a:rPr>
              <a:t>“</a:t>
            </a:r>
            <a:r>
              <a:rPr lang="en-US" b="0" dirty="0">
                <a:latin typeface="Geneva" charset="0"/>
              </a:rPr>
              <a:t> A ship in harbor is safe ---</a:t>
            </a:r>
            <a:br>
              <a:rPr lang="en-US" b="0" dirty="0">
                <a:latin typeface="Geneva" charset="0"/>
              </a:rPr>
            </a:br>
            <a:r>
              <a:rPr lang="en-US" b="0" dirty="0">
                <a:latin typeface="Geneva" charset="0"/>
              </a:rPr>
              <a:t>but that is not</a:t>
            </a:r>
            <a:br>
              <a:rPr lang="en-US" b="0" dirty="0">
                <a:latin typeface="Geneva" charset="0"/>
              </a:rPr>
            </a:br>
            <a:r>
              <a:rPr lang="en-US" b="0" dirty="0">
                <a:latin typeface="Geneva" charset="0"/>
              </a:rPr>
              <a:t>what ships are built for. </a:t>
            </a:r>
            <a:r>
              <a:rPr lang="ja-JP" altLang="en-US" b="0" dirty="0">
                <a:latin typeface="Geneva" charset="0"/>
              </a:rPr>
              <a:t>”</a:t>
            </a:r>
            <a:endParaRPr lang="en-US" dirty="0"/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124200" y="4800600"/>
            <a:ext cx="3276600" cy="609600"/>
          </a:xfrm>
        </p:spPr>
        <p:txBody>
          <a:bodyPr/>
          <a:lstStyle/>
          <a:p>
            <a:pPr>
              <a:defRPr/>
            </a:pPr>
            <a:r>
              <a:rPr lang="en-US" i="1">
                <a:solidFill>
                  <a:srgbClr val="FFFF00"/>
                </a:solidFill>
                <a:latin typeface="Times New Roman" charset="0"/>
              </a:rPr>
              <a:t>John A. Shedd</a:t>
            </a:r>
          </a:p>
        </p:txBody>
      </p:sp>
      <p:pic>
        <p:nvPicPr>
          <p:cNvPr id="11366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343400"/>
            <a:ext cx="1246188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222756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9" name="Text Box 3"/>
          <p:cNvSpPr txBox="1">
            <a:spLocks noChangeArrowheads="1"/>
          </p:cNvSpPr>
          <p:nvPr/>
        </p:nvSpPr>
        <p:spPr bwMode="auto">
          <a:xfrm>
            <a:off x="4876800" y="5586413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</a:t>
            </a:r>
            <a:r>
              <a:rPr lang="en-US" sz="2800" dirty="0"/>
              <a:t>Kay </a:t>
            </a:r>
            <a:r>
              <a:rPr lang="en-US" sz="2800" dirty="0" err="1"/>
              <a:t>Drais</a:t>
            </a:r>
            <a:r>
              <a:rPr lang="en-US" sz="2800" dirty="0"/>
              <a:t>, Parent</a:t>
            </a:r>
          </a:p>
        </p:txBody>
      </p:sp>
      <p:sp>
        <p:nvSpPr>
          <p:cNvPr id="219140" name="Rectangle 4"/>
          <p:cNvSpPr>
            <a:spLocks noChangeArrowheads="1"/>
          </p:cNvSpPr>
          <p:nvPr/>
        </p:nvSpPr>
        <p:spPr bwMode="auto">
          <a:xfrm>
            <a:off x="914400" y="533400"/>
            <a:ext cx="7620000" cy="4897438"/>
          </a:xfrm>
          <a:prstGeom prst="rect">
            <a:avLst/>
          </a:prstGeom>
          <a:solidFill>
            <a:srgbClr val="006699"/>
          </a:solidFill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ja-JP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It is very clear to me now,</a:t>
            </a:r>
            <a:b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that the manner in which we interface with people with apparent disabilities</a:t>
            </a:r>
            <a:b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is far more reflective of our own personal capacities, than those of the person we interface with.</a:t>
            </a:r>
            <a:r>
              <a:rPr lang="ja-JP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  <a: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endParaRPr lang="en-US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240104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Genev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Geneva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8681</TotalTime>
  <Words>898</Words>
  <Application>Microsoft Macintosh PowerPoint</Application>
  <PresentationFormat>On-screen Show (4:3)</PresentationFormat>
  <Paragraphs>171</Paragraphs>
  <Slides>41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Blank Presentation</vt:lpstr>
      <vt:lpstr>PowerPoint Presentation</vt:lpstr>
      <vt:lpstr>Contact Information</vt:lpstr>
      <vt:lpstr>Same career development strategies as any other teenager and young adult</vt:lpstr>
      <vt:lpstr>Successful employment for people with disabilities: the same as everyone else</vt:lpstr>
      <vt:lpstr>Stages of Career Development (Super)</vt:lpstr>
      <vt:lpstr>Employment Readiness Myth</vt:lpstr>
      <vt:lpstr>PowerPoint Presentation</vt:lpstr>
      <vt:lpstr>PowerPoint Presentation</vt:lpstr>
      <vt:lpstr>Disability Specific Strategies: Supplement, Not Replace</vt:lpstr>
      <vt:lpstr>PowerPoint Presentation</vt:lpstr>
      <vt:lpstr>The best source of support will always be the individual’s community</vt:lpstr>
      <vt:lpstr>PowerPoint Presentation</vt:lpstr>
      <vt:lpstr>PowerPoint Presentation</vt:lpstr>
      <vt:lpstr>Employment First – the concept that employment should be the first and primary service option for people with disabilities - continues to grow.</vt:lpstr>
      <vt:lpstr>Employment First: What Is It?</vt:lpstr>
      <vt:lpstr>Excerpt from Massachusetts Employment First Policy July 2010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Delivering on the Transition Promise: Partnerships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WIOA Section 511: Restrictions on Sub-Minimum Wage</vt:lpstr>
      <vt:lpstr>As of July 22nd, schools no longer allowed to contract with organizations to pay individuals sub-minimum wage</vt:lpstr>
      <vt:lpstr>DDS Policy</vt:lpstr>
      <vt:lpstr>Workforce Development System Opportunities</vt:lpstr>
      <vt:lpstr>PowerPoint Presentation</vt:lpstr>
      <vt:lpstr>PowerPoint Presentation</vt:lpstr>
      <vt:lpstr>PowerPoint Presentation</vt:lpstr>
      <vt:lpstr>PowerPoint Presentation</vt:lpstr>
      <vt:lpstr>Best Practices: Transition and Employment</vt:lpstr>
      <vt:lpstr>Best Practices: Transition &amp; Employment</vt:lpstr>
      <vt:lpstr>PowerPoint Presentation</vt:lpstr>
      <vt:lpstr>PowerPoint Presentation</vt:lpstr>
      <vt:lpstr>“ A ship in harbor is safe --- but that is not what ships are built for. ”</vt:lpstr>
      <vt:lpstr>PowerPoint Presentation</vt:lpstr>
    </vt:vector>
  </TitlesOfParts>
  <Company>UMass Boston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ICI</dc:creator>
  <cp:lastModifiedBy>David Hoff</cp:lastModifiedBy>
  <cp:revision>838</cp:revision>
  <cp:lastPrinted>2012-04-30T01:00:45Z</cp:lastPrinted>
  <dcterms:created xsi:type="dcterms:W3CDTF">2006-09-27T14:52:23Z</dcterms:created>
  <dcterms:modified xsi:type="dcterms:W3CDTF">2016-05-14T19:49:30Z</dcterms:modified>
</cp:coreProperties>
</file>