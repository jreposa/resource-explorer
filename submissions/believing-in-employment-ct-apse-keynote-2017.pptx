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jpg" ContentType="image/jpeg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256" r:id="rId2"/>
    <p:sldId id="384" r:id="rId3"/>
    <p:sldId id="308" r:id="rId4"/>
    <p:sldId id="310" r:id="rId5"/>
    <p:sldId id="352" r:id="rId6"/>
    <p:sldId id="351" r:id="rId7"/>
    <p:sldId id="374" r:id="rId8"/>
    <p:sldId id="326" r:id="rId9"/>
    <p:sldId id="348" r:id="rId10"/>
    <p:sldId id="349" r:id="rId11"/>
    <p:sldId id="350" r:id="rId12"/>
    <p:sldId id="366" r:id="rId13"/>
    <p:sldId id="353" r:id="rId14"/>
    <p:sldId id="354" r:id="rId15"/>
    <p:sldId id="355" r:id="rId16"/>
    <p:sldId id="356" r:id="rId17"/>
    <p:sldId id="357" r:id="rId18"/>
    <p:sldId id="324" r:id="rId19"/>
    <p:sldId id="318" r:id="rId20"/>
    <p:sldId id="317" r:id="rId21"/>
    <p:sldId id="319" r:id="rId22"/>
    <p:sldId id="320" r:id="rId23"/>
    <p:sldId id="321" r:id="rId24"/>
    <p:sldId id="306" r:id="rId25"/>
    <p:sldId id="347" r:id="rId26"/>
    <p:sldId id="323" r:id="rId27"/>
    <p:sldId id="379" r:id="rId28"/>
    <p:sldId id="380" r:id="rId29"/>
    <p:sldId id="309" r:id="rId30"/>
    <p:sldId id="371" r:id="rId31"/>
    <p:sldId id="372" r:id="rId32"/>
    <p:sldId id="330" r:id="rId33"/>
    <p:sldId id="331" r:id="rId34"/>
    <p:sldId id="333" r:id="rId35"/>
    <p:sldId id="334" r:id="rId36"/>
    <p:sldId id="381" r:id="rId37"/>
    <p:sldId id="382" r:id="rId38"/>
    <p:sldId id="383" r:id="rId39"/>
    <p:sldId id="385" r:id="rId40"/>
    <p:sldId id="378" r:id="rId41"/>
    <p:sldId id="302" r:id="rId42"/>
    <p:sldId id="377" r:id="rId43"/>
    <p:sldId id="376" r:id="rId44"/>
    <p:sldId id="287" r:id="rId4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837" autoAdjust="0"/>
  </p:normalViewPr>
  <p:slideViewPr>
    <p:cSldViewPr snapToGrid="0" snapToObjects="1">
      <p:cViewPr>
        <p:scale>
          <a:sx n="100" d="100"/>
          <a:sy n="100" d="100"/>
        </p:scale>
        <p:origin x="-888" y="-5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notesMaster" Target="notesMasters/notesMaster1.xml"/><Relationship Id="rId47" Type="http://schemas.openxmlformats.org/officeDocument/2006/relationships/printerSettings" Target="printerSettings/printerSettings1.bin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13D73DC-65C6-364A-AFAF-9F832EDC56F9}" type="datetimeFigureOut">
              <a:rPr lang="en-US"/>
              <a:pPr>
                <a:defRPr/>
              </a:pPr>
              <a:t>10/24/17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7189C35-E998-F94C-9BFA-E6D0077E8F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8919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9DDA710-0AF2-7A40-BB12-4B8D81124234}" type="slidenum">
              <a:rPr lang="en-US" sz="1200">
                <a:cs typeface="Geneva" charset="0"/>
              </a:rPr>
              <a:pPr/>
              <a:t>2</a:t>
            </a:fld>
            <a:endParaRPr lang="en-US" sz="1200">
              <a:cs typeface="Geneva" charset="0"/>
            </a:endParaRPr>
          </a:p>
        </p:txBody>
      </p:sp>
      <p:sp>
        <p:nvSpPr>
          <p:cNvPr id="29184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1987" name="Rectangle 3"/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7A1D7EF-5BB3-F94F-ABDE-04F974BBDFC0}" type="slidenum">
              <a:rPr lang="en-US" sz="1200">
                <a:cs typeface="Geneva" charset="0"/>
              </a:rPr>
              <a:pPr/>
              <a:t>14</a:t>
            </a:fld>
            <a:endParaRPr lang="en-US" sz="1200">
              <a:cs typeface="Geneva" charset="0"/>
            </a:endParaRPr>
          </a:p>
        </p:txBody>
      </p:sp>
      <p:sp>
        <p:nvSpPr>
          <p:cNvPr id="368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A7AEB9-BC43-054A-A12E-A759E0879377}" type="slidenum">
              <a:rPr lang="en-US"/>
              <a:pPr/>
              <a:t>24</a:t>
            </a:fld>
            <a:endParaRPr lang="en-US"/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4DE6FF-1E16-D04B-9AC4-433E0F201D9F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337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37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428F6A-081B-2E4C-87B6-5AA15194BB2F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337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37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9DEED0-D9C0-E449-AC9F-D335B7268DEA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979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9DEED0-D9C0-E449-AC9F-D335B7268DEA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042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9DEED0-D9C0-E449-AC9F-D335B7268DEA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08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FE0ADA-2EF1-ED41-A60D-62372EB578D0}" type="slidenum">
              <a:rPr lang="en-US"/>
              <a:pPr>
                <a:defRPr/>
              </a:pPr>
              <a:t>39</a:t>
            </a:fld>
            <a:endParaRPr lang="en-US"/>
          </a:p>
        </p:txBody>
      </p:sp>
      <p:sp>
        <p:nvSpPr>
          <p:cNvPr id="337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37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875532C-18CC-D14B-8FC4-30C9EF6881DA}" type="slidenum">
              <a:rPr lang="en-US" sz="1200"/>
              <a:pPr/>
              <a:t>40</a:t>
            </a:fld>
            <a:endParaRPr lang="en-US" sz="1200"/>
          </a:p>
        </p:txBody>
      </p:sp>
      <p:sp>
        <p:nvSpPr>
          <p:cNvPr id="408578" name="Rectangle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487" tIns="44450" rIns="90487" bIns="44450"/>
          <a:lstStyle/>
          <a:p>
            <a:pPr eaLnBrk="1" hangingPunct="1">
              <a:defRPr/>
            </a:pPr>
            <a:endParaRPr lang="en-US" smtClean="0"/>
          </a:p>
        </p:txBody>
      </p:sp>
      <p:sp>
        <p:nvSpPr>
          <p:cNvPr id="408579" name="Rectangle 3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157288" y="1344613"/>
            <a:ext cx="63500" cy="650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E7E6EC2-8FCA-F342-B6C3-85D7B39ABE01}" type="datetimeFigureOut">
              <a:rPr lang="en-US"/>
              <a:pPr>
                <a:defRPr/>
              </a:pPr>
              <a:t>10/24/17</a:t>
            </a:fld>
            <a:endParaRPr lang="en-US" dirty="0"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US" dirty="0" smtClean="0"/>
              <a:t>#APSE2014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DF57DA1-2AD2-FF41-B7A2-1B4F1AD3CC5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142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71BF26B-E5F3-134B-8008-FB56B1FFA22C}" type="datetimeFigureOut">
              <a:rPr lang="en-US"/>
              <a:pPr>
                <a:defRPr/>
              </a:pPr>
              <a:t>10/24/17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US" dirty="0" smtClean="0"/>
              <a:t>#APSE2014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E0518C9-3CC7-7448-AD05-3CB26938477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998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4996640-CE9E-9E46-9E1A-325E1D467E92}" type="datetimeFigureOut">
              <a:rPr lang="en-US"/>
              <a:pPr>
                <a:defRPr/>
              </a:pPr>
              <a:t>10/24/17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CA51CDF-7A81-424C-8057-ADAC32C3137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384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0D8E7FF-72B1-B149-8AA5-D41265ED3A55}" type="datetimeFigureOut">
              <a:rPr lang="en-US"/>
              <a:pPr>
                <a:defRPr/>
              </a:pPr>
              <a:t>10/24/17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914F4CA-897D-214A-8D71-10AFFED61C5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46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898C2BC-2C6C-1841-819B-267B324546A2}" type="datetimeFigureOut">
              <a:rPr lang="en-US"/>
              <a:pPr>
                <a:defRPr/>
              </a:pPr>
              <a:t>10/24/17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495D0EA-5D5D-1948-9829-DE54142719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337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E00FBB7-8DEA-0E49-B7EF-941B428C7D7B}" type="datetimeFigureOut">
              <a:rPr lang="en-US"/>
              <a:pPr>
                <a:defRPr/>
              </a:pPr>
              <a:t>10/24/17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F8BE299-D423-6340-A0CA-3205E805061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930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1088136" y="948268"/>
            <a:ext cx="859197" cy="812798"/>
          </a:xfrm>
        </p:spPr>
        <p:txBody>
          <a:bodyPr>
            <a:normAutofit/>
          </a:bodyPr>
          <a:lstStyle>
            <a:lvl1pPr marL="82296" indent="0">
              <a:buNone/>
              <a:defRPr sz="1600"/>
            </a:lvl1pPr>
          </a:lstStyle>
          <a:p>
            <a:pPr lvl="0"/>
            <a:endParaRPr lang="en-US" noProof="0" dirty="0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2489199" y="140230"/>
            <a:ext cx="6204035" cy="672571"/>
          </a:xfrm>
        </p:spPr>
        <p:txBody>
          <a:bodyPr vert="horz"/>
          <a:lstStyle>
            <a:lvl1pPr algn="ctr">
              <a:defRPr sz="32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1088136" y="1930399"/>
            <a:ext cx="859197" cy="812798"/>
          </a:xfrm>
        </p:spPr>
        <p:txBody>
          <a:bodyPr>
            <a:normAutofit/>
          </a:bodyPr>
          <a:lstStyle>
            <a:lvl1pPr marL="82296" indent="0">
              <a:buNone/>
              <a:defRPr sz="1600"/>
            </a:lvl1pPr>
          </a:lstStyle>
          <a:p>
            <a:pPr lvl="0"/>
            <a:endParaRPr lang="en-US" noProof="0" dirty="0"/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1082717" y="2946401"/>
            <a:ext cx="859197" cy="812798"/>
          </a:xfrm>
        </p:spPr>
        <p:txBody>
          <a:bodyPr>
            <a:normAutofit/>
          </a:bodyPr>
          <a:lstStyle>
            <a:lvl1pPr marL="82296" indent="0">
              <a:buNone/>
              <a:defRPr sz="1600"/>
            </a:lvl1pPr>
          </a:lstStyle>
          <a:p>
            <a:pPr lvl="0"/>
            <a:endParaRPr lang="en-US" noProof="0" dirty="0"/>
          </a:p>
        </p:txBody>
      </p:sp>
      <p:sp>
        <p:nvSpPr>
          <p:cNvPr id="21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1088136" y="3945468"/>
            <a:ext cx="859197" cy="812798"/>
          </a:xfrm>
        </p:spPr>
        <p:txBody>
          <a:bodyPr>
            <a:normAutofit/>
          </a:bodyPr>
          <a:lstStyle>
            <a:lvl1pPr marL="82296" indent="0">
              <a:buNone/>
              <a:defRPr sz="1600"/>
            </a:lvl1pPr>
          </a:lstStyle>
          <a:p>
            <a:pPr lvl="0"/>
            <a:endParaRPr lang="en-US" noProof="0" dirty="0"/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1082717" y="4910668"/>
            <a:ext cx="859197" cy="812798"/>
          </a:xfrm>
        </p:spPr>
        <p:txBody>
          <a:bodyPr>
            <a:normAutofit/>
          </a:bodyPr>
          <a:lstStyle>
            <a:lvl1pPr marL="82296" indent="0">
              <a:buNone/>
              <a:defRPr sz="1600"/>
            </a:lvl1pPr>
          </a:lstStyle>
          <a:p>
            <a:pPr lvl="0"/>
            <a:endParaRPr lang="en-US" noProof="0" dirty="0"/>
          </a:p>
        </p:txBody>
      </p:sp>
      <p:sp>
        <p:nvSpPr>
          <p:cNvPr id="23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1088136" y="5899151"/>
            <a:ext cx="859197" cy="812798"/>
          </a:xfrm>
        </p:spPr>
        <p:txBody>
          <a:bodyPr>
            <a:normAutofit/>
          </a:bodyPr>
          <a:lstStyle>
            <a:lvl1pPr marL="82296" indent="0">
              <a:buNone/>
              <a:defRPr sz="1600"/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7205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C1A2D0B-DE91-C24C-AF4A-76E7D563B48D}" type="datetimeFigureOut">
              <a:rPr lang="en-US"/>
              <a:pPr>
                <a:defRPr/>
              </a:pPr>
              <a:t>10/24/17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9CFF0E2-C4D3-6049-ABA5-9FE4BC468A4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487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>
            <a:extLst/>
          </a:lstStyle>
          <a:p>
            <a:pPr indent="-283464" fontAlgn="auto">
              <a:lnSpc>
                <a:spcPts val="3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3200" dirty="0">
              <a:latin typeface="+mn-lt"/>
              <a:ea typeface="+mn-ea"/>
              <a:cs typeface="+mn-cs"/>
            </a:endParaRPr>
          </a:p>
        </p:txBody>
      </p:sp>
      <p:sp>
        <p:nvSpPr>
          <p:cNvPr id="6" name="Process 5"/>
          <p:cNvSpPr/>
          <p:nvPr/>
        </p:nvSpPr>
        <p:spPr>
          <a:xfrm rot="19468671">
            <a:off x="396875" y="954088"/>
            <a:ext cx="685800" cy="204787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Process 6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274320"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502DF82-8239-ED49-A986-A52774B208A4}" type="datetimeFigureOut">
              <a:rPr lang="en-US"/>
              <a:pPr>
                <a:defRPr/>
              </a:pPr>
              <a:t>10/24/17</a:t>
            </a:fld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05BEA33-7D7F-DD40-B8BE-D194AD0272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786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CA92AD5-5C2C-0D44-986D-7335D240CA37}" type="datetimeFigureOut">
              <a:rPr lang="en-US"/>
              <a:pPr>
                <a:defRPr/>
              </a:pPr>
              <a:t>10/24/17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1952A26-B463-2948-AE0D-BDBE007892A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731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69DC645-C4B5-3A42-B161-AFCB8437CFDE}" type="datetimeFigureOut">
              <a:rPr lang="en-US"/>
              <a:pPr>
                <a:defRPr/>
              </a:pPr>
              <a:t>10/24/17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B926D39-B112-8545-A064-A5EB9DE8A9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425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2CCCF-7FEA-954A-A44C-03B1D37A0B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151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33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1435100" y="1447800"/>
            <a:ext cx="749935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>
              <a:defRPr/>
            </a:pPr>
            <a:fld id="{A1D3836E-33C5-FA4A-9E7B-1E347AD6B1B6}" type="datetimeFigureOut">
              <a:rPr lang="en-US"/>
              <a:pPr>
                <a:defRPr/>
              </a:pPr>
              <a:t>10/24/17</a:t>
            </a:fld>
            <a:endParaRPr lang="en-US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2000">
                <a:solidFill>
                  <a:srgbClr val="3366FF"/>
                </a:solidFill>
                <a:effectLst/>
                <a:latin typeface="+mn-lt"/>
                <a:ea typeface="+mn-ea"/>
                <a:cs typeface="+mn-cs"/>
              </a:defRPr>
            </a:lvl1pPr>
            <a:extLst/>
          </a:lstStyle>
          <a:p>
            <a:pPr>
              <a:defRPr/>
            </a:pPr>
            <a:r>
              <a:rPr lang="en-US" dirty="0" smtClean="0"/>
              <a:t># APSE2014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extLst/>
          </a:lstStyle>
          <a:p>
            <a:pPr>
              <a:defRPr/>
            </a:pPr>
            <a:fld id="{76D09E21-E3A5-A34B-9A90-0AE5B5561539}" type="slidenum">
              <a:rPr lang="en-US"/>
              <a:pPr>
                <a:defRPr/>
              </a:pPr>
              <a:t>‹#›</a:t>
            </a:fld>
            <a:endParaRPr lang="en-US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300" b="1" kern="1200">
          <a:solidFill>
            <a:srgbClr val="41536B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41536B"/>
          </a:solidFill>
          <a:latin typeface="Gill Sans MT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41536B"/>
          </a:solidFill>
          <a:latin typeface="Gill Sans MT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41536B"/>
          </a:solidFill>
          <a:latin typeface="Gill Sans MT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41536B"/>
          </a:solidFill>
          <a:latin typeface="Gill Sans MT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41536B"/>
          </a:solidFill>
          <a:latin typeface="Gill Sans MT" charset="0"/>
          <a:ea typeface="ＭＳ Ｐゴシック" charset="0"/>
          <a:cs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41536B"/>
          </a:solidFill>
          <a:latin typeface="Gill Sans MT" charset="0"/>
          <a:ea typeface="ＭＳ Ｐゴシック" charset="0"/>
          <a:cs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41536B"/>
          </a:solidFill>
          <a:latin typeface="Gill Sans MT" charset="0"/>
          <a:ea typeface="ＭＳ Ｐゴシック" charset="0"/>
          <a:cs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41536B"/>
          </a:solidFill>
          <a:latin typeface="Gill Sans MT" charset="0"/>
          <a:ea typeface="ＭＳ Ｐゴシック" charset="0"/>
          <a:cs typeface="ＭＳ Ｐゴシック" charset="0"/>
        </a:defRPr>
      </a:lvl9pPr>
      <a:extLst/>
    </p:titleStyle>
    <p:bodyStyle>
      <a:lvl1pPr marL="365125" indent="-282575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charset="0"/>
        <a:buChar char=""/>
        <a:defRPr sz="28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39763" indent="-236538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Font typeface="Verdana" charset="0"/>
        <a:buChar char="◦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885825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charset="0"/>
        <a:buChar char="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096963" indent="-173038" algn="l" rtl="0" eaLnBrk="0" fontAlgn="base" hangingPunct="0">
        <a:spcBef>
          <a:spcPct val="20000"/>
        </a:spcBef>
        <a:spcAft>
          <a:spcPct val="0"/>
        </a:spcAft>
        <a:buClr>
          <a:srgbClr val="2397E2"/>
        </a:buClr>
        <a:buFont typeface="Wingdings 2" charset="0"/>
        <a:buChar char="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296988" indent="-182563" algn="l" rtl="0" eaLnBrk="0" fontAlgn="base" hangingPunct="0">
        <a:spcBef>
          <a:spcPct val="20000"/>
        </a:spcBef>
        <a:spcAft>
          <a:spcPct val="0"/>
        </a:spcAft>
        <a:buClr>
          <a:srgbClr val="35ACA2"/>
        </a:buClr>
        <a:buFont typeface="Wingdings 2" charset="0"/>
        <a:buChar char="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Relationship Id="rId3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eg"/><Relationship Id="rId3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eg"/><Relationship Id="rId3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image" Target="../media/image22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4" Type="http://schemas.openxmlformats.org/officeDocument/2006/relationships/image" Target="../media/image25.jpeg"/><Relationship Id="rId5" Type="http://schemas.openxmlformats.org/officeDocument/2006/relationships/image" Target="../media/image26.jpeg"/><Relationship Id="rId6" Type="http://schemas.openxmlformats.org/officeDocument/2006/relationships/image" Target="../media/image27.jpeg"/><Relationship Id="rId7" Type="http://schemas.openxmlformats.org/officeDocument/2006/relationships/image" Target="../media/image28.jpeg"/><Relationship Id="rId8" Type="http://schemas.openxmlformats.org/officeDocument/2006/relationships/image" Target="../media/image29.jpe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4" Type="http://schemas.openxmlformats.org/officeDocument/2006/relationships/image" Target="../media/image33.jpe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eg"/><Relationship Id="rId3" Type="http://schemas.openxmlformats.org/officeDocument/2006/relationships/image" Target="../media/image39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4" Type="http://schemas.openxmlformats.org/officeDocument/2006/relationships/image" Target="../media/image42.jpeg"/><Relationship Id="rId5" Type="http://schemas.openxmlformats.org/officeDocument/2006/relationships/image" Target="../media/image43.jpeg"/><Relationship Id="rId6" Type="http://schemas.openxmlformats.org/officeDocument/2006/relationships/image" Target="../media/image44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4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4" Type="http://schemas.openxmlformats.org/officeDocument/2006/relationships/image" Target="../media/image49.jp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4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jpe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jpe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jpg"/></Relationships>
</file>

<file path=ppt/slides/_rels/slide43.xml.rels><?xml version="1.0" encoding="UTF-8" standalone="yes"?>
<Relationships xmlns="http://schemas.openxmlformats.org/package/2006/relationships"><Relationship Id="rId11" Type="http://schemas.openxmlformats.org/officeDocument/2006/relationships/image" Target="../media/image64.jpeg"/><Relationship Id="rId12" Type="http://schemas.openxmlformats.org/officeDocument/2006/relationships/image" Target="../media/image65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jpeg"/><Relationship Id="rId3" Type="http://schemas.openxmlformats.org/officeDocument/2006/relationships/image" Target="../media/image56.jpeg"/><Relationship Id="rId4" Type="http://schemas.openxmlformats.org/officeDocument/2006/relationships/image" Target="../media/image57.jpeg"/><Relationship Id="rId5" Type="http://schemas.openxmlformats.org/officeDocument/2006/relationships/image" Target="../media/image58.jpeg"/><Relationship Id="rId6" Type="http://schemas.openxmlformats.org/officeDocument/2006/relationships/image" Target="../media/image59.jpeg"/><Relationship Id="rId7" Type="http://schemas.openxmlformats.org/officeDocument/2006/relationships/image" Target="../media/image60.jpeg"/><Relationship Id="rId8" Type="http://schemas.openxmlformats.org/officeDocument/2006/relationships/image" Target="../media/image61.jpeg"/><Relationship Id="rId9" Type="http://schemas.openxmlformats.org/officeDocument/2006/relationships/image" Target="../media/image62.jpeg"/><Relationship Id="rId10" Type="http://schemas.openxmlformats.org/officeDocument/2006/relationships/image" Target="../media/image63.jpe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WMF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960066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Believing in Employment:</a:t>
            </a:r>
            <a:br>
              <a:rPr lang="en-US" dirty="0" smtClean="0"/>
            </a:br>
            <a:r>
              <a:rPr lang="en-US" i="1" dirty="0" smtClean="0"/>
              <a:t>What It Really Means,</a:t>
            </a:r>
            <a:br>
              <a:rPr lang="en-US" i="1" dirty="0" smtClean="0"/>
            </a:br>
            <a:r>
              <a:rPr lang="en-US" i="1" dirty="0" smtClean="0"/>
              <a:t> Where We Go From Here </a:t>
            </a:r>
            <a:endParaRPr lang="en-US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2560" y="2650164"/>
            <a:ext cx="7406640" cy="1752600"/>
          </a:xfrm>
        </p:spPr>
        <p:txBody>
          <a:bodyPr/>
          <a:lstStyle/>
          <a:p>
            <a:r>
              <a:rPr lang="en-US" sz="3200" b="1" dirty="0" smtClean="0"/>
              <a:t>David Hoff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Institute for Community Inclusion</a:t>
            </a:r>
            <a:br>
              <a:rPr lang="en-US" dirty="0" smtClean="0"/>
            </a:br>
            <a:r>
              <a:rPr lang="en-US" dirty="0" smtClean="0"/>
              <a:t>University of Massachusetts, Boston</a:t>
            </a:r>
            <a:endParaRPr lang="en-US" dirty="0"/>
          </a:p>
          <a:p>
            <a:r>
              <a:rPr lang="en-US" sz="2400" dirty="0" err="1" smtClean="0"/>
              <a:t>www.communityinclusion.org</a:t>
            </a:r>
            <a:endParaRPr lang="en-US" sz="2400" dirty="0" smtClean="0"/>
          </a:p>
          <a:p>
            <a:r>
              <a:rPr lang="en-US" sz="2400" dirty="0" err="1" smtClean="0"/>
              <a:t>david.hoff@umb.edu</a:t>
            </a:r>
            <a:r>
              <a:rPr lang="en-US" sz="2400" dirty="0" smtClean="0"/>
              <a:t> - 617-287-4308</a:t>
            </a:r>
            <a:endParaRPr lang="en-US" sz="2400" dirty="0"/>
          </a:p>
        </p:txBody>
      </p:sp>
      <p:pic>
        <p:nvPicPr>
          <p:cNvPr id="5" name="Picture 4" descr="ICI_UMB_BLACK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100" y="3259764"/>
            <a:ext cx="1579563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Unknow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500" y="5045528"/>
            <a:ext cx="2286000" cy="146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125370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508000"/>
            <a:ext cx="6324600" cy="3683000"/>
          </a:xfrm>
          <a:solidFill>
            <a:srgbClr val="006699"/>
          </a:solidFill>
          <a:ln w="57150" cmpd="thickThin">
            <a:solidFill>
              <a:schemeClr val="tx1"/>
            </a:solidFill>
          </a:ln>
        </p:spPr>
        <p:txBody>
          <a:bodyPr lIns="90487" tIns="44450" rIns="90487" bIns="44450"/>
          <a:lstStyle/>
          <a:p>
            <a:pPr algn="ctr">
              <a:lnSpc>
                <a:spcPct val="110000"/>
              </a:lnSpc>
              <a:defRPr/>
            </a:pPr>
            <a:r>
              <a:rPr lang="ja-JP" altLang="en-US" sz="4800" b="1" dirty="0" smtClean="0">
                <a:solidFill>
                  <a:schemeClr val="bg1"/>
                </a:solidFill>
                <a:latin typeface="+mj-lt"/>
                <a:cs typeface="Bernard MT Condensed"/>
              </a:rPr>
              <a:t>“</a:t>
            </a:r>
            <a:r>
              <a:rPr lang="en-US" sz="4800" b="1" dirty="0" smtClean="0">
                <a:solidFill>
                  <a:schemeClr val="bg1"/>
                </a:solidFill>
                <a:latin typeface="+mj-lt"/>
                <a:cs typeface="Bernard MT Condensed"/>
              </a:rPr>
              <a:t>There’s no point in speaking unless you can improve on the silence.</a:t>
            </a:r>
            <a:r>
              <a:rPr lang="ja-JP" altLang="en-US" sz="3600" b="1" dirty="0">
                <a:solidFill>
                  <a:schemeClr val="bg1"/>
                </a:solidFill>
                <a:latin typeface="+mj-lt"/>
                <a:cs typeface="Bernard MT Condensed"/>
              </a:rPr>
              <a:t>”</a:t>
            </a:r>
            <a:endParaRPr lang="en-US" sz="3600" b="1" dirty="0">
              <a:solidFill>
                <a:schemeClr val="bg1"/>
              </a:solidFill>
              <a:latin typeface="+mj-lt"/>
              <a:cs typeface="Bernard MT Condensed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2000" dirty="0">
                <a:solidFill>
                  <a:schemeClr val="bg1"/>
                </a:solidFill>
              </a:rPr>
              <a:t>                       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		</a:t>
            </a:r>
          </a:p>
          <a:p>
            <a:pPr algn="ctr">
              <a:lnSpc>
                <a:spcPct val="110000"/>
              </a:lnSpc>
              <a:defRPr/>
            </a:pPr>
            <a:endParaRPr lang="en-US" sz="2000" dirty="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2400" i="1" dirty="0">
                <a:solidFill>
                  <a:schemeClr val="bg1"/>
                </a:solidFill>
              </a:rPr>
              <a:t>- </a:t>
            </a:r>
            <a:r>
              <a:rPr lang="en-US" sz="2400" i="1" dirty="0" smtClean="0">
                <a:solidFill>
                  <a:schemeClr val="bg1"/>
                </a:solidFill>
              </a:rPr>
              <a:t>Edmund Muskie</a:t>
            </a:r>
            <a:endParaRPr lang="en-US" sz="1600" i="1" dirty="0">
              <a:solidFill>
                <a:schemeClr val="bg1"/>
              </a:solidFill>
            </a:endParaRPr>
          </a:p>
        </p:txBody>
      </p:sp>
      <p:pic>
        <p:nvPicPr>
          <p:cNvPr id="40962" name="Picture 2" descr="a999edmundmuskie_2050081722-20486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543300"/>
            <a:ext cx="1701800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TextBox 3"/>
          <p:cNvSpPr txBox="1">
            <a:spLocks noChangeArrowheads="1"/>
          </p:cNvSpPr>
          <p:nvPr/>
        </p:nvSpPr>
        <p:spPr bwMode="auto">
          <a:xfrm>
            <a:off x="3276600" y="4876800"/>
            <a:ext cx="3657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200" i="1"/>
              <a:t>- Edmund Muskie</a:t>
            </a:r>
          </a:p>
        </p:txBody>
      </p:sp>
    </p:spTree>
    <p:extLst>
      <p:ext uri="{BB962C8B-B14F-4D97-AF65-F5344CB8AC3E}">
        <p14:creationId xmlns:p14="http://schemas.microsoft.com/office/powerpoint/2010/main" val="1217287779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100" y="1112838"/>
            <a:ext cx="7499350" cy="15541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dirty="0" smtClean="0"/>
              <a:t>Employment: </a:t>
            </a:r>
            <a:br>
              <a:rPr lang="en-US" dirty="0" smtClean="0"/>
            </a:br>
            <a:r>
              <a:rPr lang="en-US" i="1" dirty="0" smtClean="0"/>
              <a:t>What are we talking about?</a:t>
            </a:r>
            <a:endParaRPr lang="en-US" i="1" dirty="0"/>
          </a:p>
        </p:txBody>
      </p:sp>
      <p:pic>
        <p:nvPicPr>
          <p:cNvPr id="5" name="Picture 4" descr="MC900379495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100" y="3224822"/>
            <a:ext cx="2933700" cy="223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564588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100" y="401638"/>
            <a:ext cx="7499350" cy="690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Competitive Integrated Employment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435100"/>
            <a:ext cx="7499350" cy="5207000"/>
          </a:xfrm>
        </p:spPr>
        <p:txBody>
          <a:bodyPr/>
          <a:lstStyle/>
          <a:p>
            <a:r>
              <a:rPr lang="en-US" sz="2400" b="1" dirty="0">
                <a:latin typeface="Calibri"/>
                <a:cs typeface="Calibri"/>
              </a:rPr>
              <a:t>Wages &amp; </a:t>
            </a:r>
            <a:r>
              <a:rPr lang="en-US" sz="2400" b="1" dirty="0" smtClean="0">
                <a:latin typeface="Calibri"/>
                <a:cs typeface="Calibri"/>
              </a:rPr>
              <a:t>benefits: </a:t>
            </a:r>
            <a:r>
              <a:rPr lang="en-US" sz="2400" dirty="0">
                <a:latin typeface="Calibri"/>
                <a:cs typeface="Calibri"/>
              </a:rPr>
              <a:t>similar to those </a:t>
            </a:r>
            <a:r>
              <a:rPr lang="en-US" sz="2400" dirty="0" smtClean="0">
                <a:latin typeface="Calibri"/>
                <a:cs typeface="Calibri"/>
              </a:rPr>
              <a:t>without</a:t>
            </a:r>
            <a:br>
              <a:rPr lang="en-US" sz="2400" dirty="0" smtClean="0">
                <a:latin typeface="Calibri"/>
                <a:cs typeface="Calibri"/>
              </a:rPr>
            </a:br>
            <a:r>
              <a:rPr lang="en-US" sz="2400" dirty="0" smtClean="0">
                <a:latin typeface="Calibri"/>
                <a:cs typeface="Calibri"/>
              </a:rPr>
              <a:t>disabilities </a:t>
            </a:r>
            <a:r>
              <a:rPr lang="en-US" sz="2400" dirty="0">
                <a:latin typeface="Calibri"/>
                <a:cs typeface="Calibri"/>
              </a:rPr>
              <a:t>performing </a:t>
            </a:r>
            <a:r>
              <a:rPr lang="en-US" sz="2400" dirty="0" smtClean="0">
                <a:latin typeface="Calibri"/>
                <a:cs typeface="Calibri"/>
              </a:rPr>
              <a:t>same </a:t>
            </a:r>
            <a:r>
              <a:rPr lang="en-US" sz="2400" dirty="0">
                <a:latin typeface="Calibri"/>
                <a:cs typeface="Calibri"/>
              </a:rPr>
              <a:t>work</a:t>
            </a:r>
          </a:p>
          <a:p>
            <a:pPr>
              <a:spcBef>
                <a:spcPts val="1200"/>
              </a:spcBef>
            </a:pPr>
            <a:r>
              <a:rPr lang="en-US" sz="2400" dirty="0" smtClean="0">
                <a:latin typeface="Calibri"/>
                <a:cs typeface="Calibri"/>
              </a:rPr>
              <a:t>Location </a:t>
            </a:r>
            <a:r>
              <a:rPr lang="en-US" sz="2400" b="1" dirty="0" smtClean="0">
                <a:latin typeface="Calibri"/>
                <a:cs typeface="Calibri"/>
              </a:rPr>
              <a:t>typically</a:t>
            </a:r>
            <a:r>
              <a:rPr lang="en-US" sz="2400" dirty="0" smtClean="0">
                <a:latin typeface="Calibri"/>
                <a:cs typeface="Calibri"/>
              </a:rPr>
              <a:t> found in the community</a:t>
            </a:r>
          </a:p>
          <a:p>
            <a:pPr lvl="1">
              <a:spcBef>
                <a:spcPts val="0"/>
              </a:spcBef>
            </a:pPr>
            <a:r>
              <a:rPr lang="en-US" sz="2400" i="1" dirty="0" smtClean="0">
                <a:latin typeface="Calibri"/>
                <a:cs typeface="Calibri"/>
              </a:rPr>
              <a:t>Not created with specific intent of employing</a:t>
            </a:r>
            <a:br>
              <a:rPr lang="en-US" sz="2400" i="1" dirty="0" smtClean="0">
                <a:latin typeface="Calibri"/>
                <a:cs typeface="Calibri"/>
              </a:rPr>
            </a:br>
            <a:r>
              <a:rPr lang="en-US" sz="2400" i="1" dirty="0" smtClean="0">
                <a:latin typeface="Calibri"/>
                <a:cs typeface="Calibri"/>
              </a:rPr>
              <a:t>people with disabilities</a:t>
            </a:r>
          </a:p>
          <a:p>
            <a:pPr>
              <a:spcBef>
                <a:spcPts val="1200"/>
              </a:spcBef>
            </a:pPr>
            <a:r>
              <a:rPr lang="en-US" sz="2400" dirty="0" smtClean="0">
                <a:latin typeface="Calibri"/>
                <a:cs typeface="Calibri"/>
              </a:rPr>
              <a:t>Same opportunities for </a:t>
            </a:r>
            <a:r>
              <a:rPr lang="en-US" sz="2400" b="1" dirty="0" smtClean="0">
                <a:latin typeface="Calibri"/>
                <a:cs typeface="Calibri"/>
              </a:rPr>
              <a:t>advancement</a:t>
            </a:r>
            <a:r>
              <a:rPr lang="en-US" sz="2400" dirty="0" smtClean="0">
                <a:latin typeface="Calibri"/>
                <a:cs typeface="Calibri"/>
              </a:rPr>
              <a:t> as other workers</a:t>
            </a:r>
          </a:p>
          <a:p>
            <a:pPr>
              <a:spcBef>
                <a:spcPts val="1200"/>
              </a:spcBef>
            </a:pPr>
            <a:r>
              <a:rPr lang="en-US" sz="2400" dirty="0" smtClean="0">
                <a:latin typeface="Calibri"/>
                <a:cs typeface="Calibri"/>
              </a:rPr>
              <a:t>Same </a:t>
            </a:r>
            <a:r>
              <a:rPr lang="en-US" sz="2400" b="1" dirty="0" smtClean="0">
                <a:latin typeface="Calibri"/>
                <a:cs typeface="Calibri"/>
              </a:rPr>
              <a:t>conditions of employment </a:t>
            </a:r>
            <a:r>
              <a:rPr lang="en-US" sz="2400" dirty="0" smtClean="0">
                <a:latin typeface="Calibri"/>
                <a:cs typeface="Calibri"/>
              </a:rPr>
              <a:t>as employees without disabilities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Calibri"/>
                <a:cs typeface="Calibri"/>
              </a:rPr>
              <a:t>Both within the work unit and entire workplace, </a:t>
            </a:r>
            <a:r>
              <a:rPr lang="en-US" sz="2400" b="1" i="1" dirty="0">
                <a:latin typeface="Calibri"/>
                <a:cs typeface="Calibri"/>
              </a:rPr>
              <a:t>must interact with co-workers, customers, and vendors </a:t>
            </a:r>
            <a:r>
              <a:rPr lang="en-US" sz="2400" dirty="0">
                <a:latin typeface="Calibri"/>
                <a:cs typeface="Calibri"/>
              </a:rPr>
              <a:t>to the same extent as employees without disabilities in comparable </a:t>
            </a:r>
            <a:r>
              <a:rPr lang="en-US" sz="2400" dirty="0" smtClean="0">
                <a:latin typeface="Calibri"/>
                <a:cs typeface="Calibri"/>
              </a:rPr>
              <a:t>positions</a:t>
            </a:r>
          </a:p>
          <a:p>
            <a:pPr marL="82550" indent="0">
              <a:buNone/>
            </a:pPr>
            <a:endParaRPr lang="en-US" sz="2400" dirty="0">
              <a:latin typeface="Calibri"/>
              <a:cs typeface="Calibri"/>
            </a:endParaRPr>
          </a:p>
          <a:p>
            <a:endParaRPr lang="en-US" sz="2400" dirty="0"/>
          </a:p>
        </p:txBody>
      </p:sp>
      <p:pic>
        <p:nvPicPr>
          <p:cNvPr id="5" name="Picture 4" descr="holding_golden_star_pc_800_wht_123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025" y="0"/>
            <a:ext cx="1577975" cy="323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567300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79500" y="505765"/>
            <a:ext cx="396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Wolf </a:t>
            </a:r>
            <a:r>
              <a:rPr lang="en-US" dirty="0" err="1" smtClean="0"/>
              <a:t>Wolfensberger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0" y="988365"/>
            <a:ext cx="3992563" cy="5334000"/>
          </a:xfrm>
        </p:spPr>
        <p:txBody>
          <a:bodyPr/>
          <a:lstStyle/>
          <a:p>
            <a:pPr>
              <a:spcBef>
                <a:spcPts val="1272"/>
              </a:spcBef>
            </a:pPr>
            <a:r>
              <a:rPr lang="en-US" dirty="0" smtClean="0"/>
              <a:t>Physical </a:t>
            </a:r>
            <a:r>
              <a:rPr lang="en-US" dirty="0"/>
              <a:t>integration is a precondition for the attainment of social </a:t>
            </a:r>
            <a:r>
              <a:rPr lang="en-US" dirty="0" smtClean="0"/>
              <a:t>integration</a:t>
            </a:r>
            <a:br>
              <a:rPr lang="en-US" dirty="0" smtClean="0"/>
            </a:br>
            <a:endParaRPr lang="en-US" dirty="0" smtClean="0"/>
          </a:p>
          <a:p>
            <a:pPr>
              <a:spcBef>
                <a:spcPts val="1272"/>
              </a:spcBef>
            </a:pPr>
            <a:r>
              <a:rPr lang="en-US" dirty="0" smtClean="0"/>
              <a:t>“Ultimately</a:t>
            </a:r>
            <a:r>
              <a:rPr lang="en-US" dirty="0"/>
              <a:t>, integration is only meaningful if it is social </a:t>
            </a:r>
            <a:r>
              <a:rPr lang="en-US" dirty="0" smtClean="0"/>
              <a:t>integration</a:t>
            </a:r>
            <a:r>
              <a:rPr lang="en-US" dirty="0"/>
              <a:t> </a:t>
            </a:r>
            <a:r>
              <a:rPr lang="en-US" dirty="0" smtClean="0"/>
              <a:t>–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i="1" dirty="0" smtClean="0"/>
              <a:t>if </a:t>
            </a:r>
            <a:r>
              <a:rPr lang="en-US" b="1" i="1" dirty="0"/>
              <a:t>it involves social interaction and acceptance, and not merely physical </a:t>
            </a:r>
            <a:r>
              <a:rPr lang="en-US" b="1" i="1" dirty="0" smtClean="0"/>
              <a:t>presence.</a:t>
            </a:r>
            <a:r>
              <a:rPr lang="en-US" b="1" dirty="0" smtClean="0"/>
              <a:t>”</a:t>
            </a:r>
            <a:endParaRPr lang="en-US" b="1" dirty="0"/>
          </a:p>
          <a:p>
            <a:endParaRPr lang="en-US" b="1" dirty="0"/>
          </a:p>
        </p:txBody>
      </p:sp>
      <p:pic>
        <p:nvPicPr>
          <p:cNvPr id="6" name="Picture 5" descr="51sEmduUmZL._AC_US160_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4114800"/>
            <a:ext cx="2362200" cy="2362200"/>
          </a:xfrm>
          <a:prstGeom prst="rect">
            <a:avLst/>
          </a:prstGeom>
        </p:spPr>
      </p:pic>
      <p:pic>
        <p:nvPicPr>
          <p:cNvPr id="7" name="Picture 6" descr="250_2010_04_21_8925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133600"/>
            <a:ext cx="2425700" cy="161066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0518C9-3CC7-7448-AD05-3CB269384775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994016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0" y="406400"/>
            <a:ext cx="4711700" cy="5994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b="1" dirty="0" smtClean="0"/>
              <a:t>Presumption</a:t>
            </a:r>
            <a:r>
              <a:rPr lang="en-US" dirty="0" smtClean="0"/>
              <a:t> of employability</a:t>
            </a:r>
          </a:p>
          <a:p>
            <a:pPr>
              <a:spcBef>
                <a:spcPts val="1200"/>
              </a:spcBef>
            </a:pPr>
            <a:r>
              <a:rPr lang="en-US" b="1" dirty="0" smtClean="0"/>
              <a:t>Strength-based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Job placements = </a:t>
            </a:r>
            <a:r>
              <a:rPr lang="en-US" b="1" dirty="0" smtClean="0"/>
              <a:t>good match</a:t>
            </a:r>
            <a:r>
              <a:rPr lang="en-US" dirty="0" smtClean="0"/>
              <a:t> between individual’s skills, personality, interests,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Individual </a:t>
            </a:r>
            <a:r>
              <a:rPr lang="en-US" b="1" dirty="0" smtClean="0"/>
              <a:t>fully engaged </a:t>
            </a:r>
            <a:r>
              <a:rPr lang="en-US" dirty="0" smtClean="0"/>
              <a:t>and empowered throughout the process</a:t>
            </a:r>
          </a:p>
          <a:p>
            <a:pPr>
              <a:spcBef>
                <a:spcPts val="1200"/>
              </a:spcBef>
            </a:pPr>
            <a:r>
              <a:rPr lang="en-US" dirty="0"/>
              <a:t>Driven by </a:t>
            </a:r>
            <a:r>
              <a:rPr lang="en-US" b="1" dirty="0"/>
              <a:t>individual’s interests and </a:t>
            </a:r>
            <a:r>
              <a:rPr lang="en-US" b="1" dirty="0" smtClean="0"/>
              <a:t>preferences</a:t>
            </a:r>
            <a:endParaRPr lang="en-US" b="1" dirty="0"/>
          </a:p>
        </p:txBody>
      </p:sp>
      <p:pic>
        <p:nvPicPr>
          <p:cNvPr id="7" name="Picture 6" descr="custom_classifieds_12091-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796" y="224028"/>
            <a:ext cx="4392996" cy="370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179031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0" y="406400"/>
            <a:ext cx="7581900" cy="39624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b="0" dirty="0" smtClean="0">
                <a:solidFill>
                  <a:srgbClr val="800000"/>
                </a:solidFill>
              </a:rPr>
              <a:t>Why is it that everything we know about a good job search for</a:t>
            </a:r>
            <a:br>
              <a:rPr lang="en-US" b="0" dirty="0" smtClean="0">
                <a:solidFill>
                  <a:srgbClr val="800000"/>
                </a:solidFill>
              </a:rPr>
            </a:br>
            <a:r>
              <a:rPr lang="en-US" dirty="0" smtClean="0">
                <a:solidFill>
                  <a:srgbClr val="800000"/>
                </a:solidFill>
              </a:rPr>
              <a:t>people without disabilities,</a:t>
            </a:r>
            <a:r>
              <a:rPr lang="en-US" b="0" dirty="0" smtClean="0">
                <a:solidFill>
                  <a:srgbClr val="800000"/>
                </a:solidFill>
              </a:rPr>
              <a:t/>
            </a:r>
            <a:br>
              <a:rPr lang="en-US" b="0" dirty="0" smtClean="0">
                <a:solidFill>
                  <a:srgbClr val="800000"/>
                </a:solidFill>
              </a:rPr>
            </a:br>
            <a:r>
              <a:rPr lang="en-US" b="0" dirty="0" smtClean="0">
                <a:solidFill>
                  <a:srgbClr val="800000"/>
                </a:solidFill>
              </a:rPr>
              <a:t>we too often forget</a:t>
            </a:r>
            <a:br>
              <a:rPr lang="en-US" b="0" dirty="0" smtClean="0">
                <a:solidFill>
                  <a:srgbClr val="800000"/>
                </a:solidFill>
              </a:rPr>
            </a:br>
            <a:r>
              <a:rPr lang="en-US" b="0" dirty="0" smtClean="0">
                <a:solidFill>
                  <a:srgbClr val="800000"/>
                </a:solidFill>
              </a:rPr>
              <a:t>when it comes to a</a:t>
            </a:r>
            <a:br>
              <a:rPr lang="en-US" b="0" dirty="0" smtClean="0">
                <a:solidFill>
                  <a:srgbClr val="800000"/>
                </a:solidFill>
              </a:rPr>
            </a:br>
            <a:r>
              <a:rPr lang="en-US" dirty="0" smtClean="0">
                <a:solidFill>
                  <a:srgbClr val="800000"/>
                </a:solidFill>
              </a:rPr>
              <a:t>job seeker with a disability?</a:t>
            </a:r>
            <a:endParaRPr lang="en-US" dirty="0">
              <a:solidFill>
                <a:srgbClr val="800000"/>
              </a:solidFill>
            </a:endParaRPr>
          </a:p>
        </p:txBody>
      </p:sp>
      <p:pic>
        <p:nvPicPr>
          <p:cNvPr id="122884" name="Picture 4" descr="joblisting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4775200"/>
            <a:ext cx="1828800" cy="16160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1916633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609600"/>
            <a:ext cx="4419600" cy="54102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 smtClean="0"/>
              <a:t>Persons with disabilities succeed on the job and in careers for the same reasons as other individuals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BFC529-F0D0-3A4E-A87F-88B0D892009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5" name="Picture Placeholder 5" descr="Laura Martinez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12" r="12412"/>
          <a:stretch>
            <a:fillRect/>
          </a:stretch>
        </p:blipFill>
        <p:spPr>
          <a:xfrm>
            <a:off x="6096000" y="685800"/>
            <a:ext cx="2057400" cy="2736312"/>
          </a:xfrm>
          <a:prstGeom prst="rect">
            <a:avLst/>
          </a:prstGeom>
        </p:spPr>
      </p:pic>
      <p:pic>
        <p:nvPicPr>
          <p:cNvPr id="6" name="Picture Placeholder 2" descr="Andy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9" r="24519"/>
          <a:stretch>
            <a:fillRect/>
          </a:stretch>
        </p:blipFill>
        <p:spPr>
          <a:xfrm>
            <a:off x="6096000" y="3657600"/>
            <a:ext cx="2257955" cy="270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583345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68400" y="1308100"/>
            <a:ext cx="7467600" cy="4178300"/>
          </a:xfrm>
        </p:spPr>
        <p:txBody>
          <a:bodyPr/>
          <a:lstStyle/>
          <a:p>
            <a:pPr marL="598932" indent="-571500" algn="l">
              <a:spcBef>
                <a:spcPts val="1800"/>
              </a:spcBef>
              <a:buSzPct val="100000"/>
              <a:buFont typeface="Wingdings" charset="2"/>
              <a:buChar char="Ø"/>
            </a:pPr>
            <a:r>
              <a:rPr lang="en-US" sz="3600" dirty="0" smtClean="0"/>
              <a:t>Clear goals</a:t>
            </a:r>
          </a:p>
          <a:p>
            <a:pPr marL="598932" indent="-571500" algn="l">
              <a:spcBef>
                <a:spcPts val="1800"/>
              </a:spcBef>
              <a:buSzPct val="100000"/>
              <a:buFont typeface="Wingdings" charset="2"/>
              <a:buChar char="Ø"/>
            </a:pPr>
            <a:r>
              <a:rPr lang="en-US" sz="3600" dirty="0" smtClean="0"/>
              <a:t>Experience </a:t>
            </a:r>
            <a:r>
              <a:rPr lang="en-US" sz="3600" dirty="0"/>
              <a:t>in </a:t>
            </a:r>
            <a:r>
              <a:rPr lang="en-US" sz="3600" dirty="0" smtClean="0"/>
              <a:t>trying</a:t>
            </a:r>
            <a:br>
              <a:rPr lang="en-US" sz="3600" dirty="0" smtClean="0"/>
            </a:br>
            <a:r>
              <a:rPr lang="en-US" sz="3600" dirty="0" smtClean="0"/>
              <a:t>new </a:t>
            </a:r>
            <a:r>
              <a:rPr lang="en-US" sz="3600" dirty="0"/>
              <a:t>things</a:t>
            </a:r>
          </a:p>
          <a:p>
            <a:pPr marL="598932" indent="-571500" algn="l">
              <a:spcBef>
                <a:spcPts val="1800"/>
              </a:spcBef>
              <a:buSzPct val="100000"/>
              <a:buFont typeface="Wingdings" charset="2"/>
              <a:buChar char="Ø"/>
            </a:pPr>
            <a:r>
              <a:rPr lang="en-US" sz="3600" dirty="0" smtClean="0"/>
              <a:t>Use </a:t>
            </a:r>
            <a:r>
              <a:rPr lang="en-US" sz="3600" dirty="0"/>
              <a:t>of personal </a:t>
            </a:r>
            <a:r>
              <a:rPr lang="en-US" sz="3600" dirty="0" smtClean="0"/>
              <a:t>networks</a:t>
            </a:r>
          </a:p>
          <a:p>
            <a:pPr marL="598932" indent="-571500" algn="l">
              <a:spcBef>
                <a:spcPts val="1800"/>
              </a:spcBef>
              <a:buSzPct val="100000"/>
              <a:buFont typeface="Wingdings" charset="2"/>
              <a:buChar char="Ø"/>
            </a:pPr>
            <a:r>
              <a:rPr lang="en-US" sz="3600" dirty="0" smtClean="0"/>
              <a:t>A </a:t>
            </a:r>
            <a:r>
              <a:rPr lang="en-US" sz="3600" dirty="0"/>
              <a:t>good job match</a:t>
            </a:r>
          </a:p>
          <a:p>
            <a:pPr marL="598932" indent="-571500" algn="l">
              <a:spcBef>
                <a:spcPts val="1800"/>
              </a:spcBef>
              <a:buSzPct val="100000"/>
              <a:buFont typeface="Wingdings" charset="2"/>
              <a:buChar char="Ø"/>
            </a:pPr>
            <a:r>
              <a:rPr lang="en-US" sz="3600" dirty="0" smtClean="0"/>
              <a:t>A </a:t>
            </a:r>
            <a:r>
              <a:rPr lang="en-US" sz="3600" dirty="0"/>
              <a:t>supportive </a:t>
            </a:r>
            <a:r>
              <a:rPr lang="en-US" sz="3600" dirty="0" smtClean="0"/>
              <a:t>work</a:t>
            </a:r>
            <a:br>
              <a:rPr lang="en-US" sz="3600" dirty="0" smtClean="0"/>
            </a:br>
            <a:r>
              <a:rPr lang="en-US" sz="3600" dirty="0" smtClean="0"/>
              <a:t>environment</a:t>
            </a:r>
            <a:endParaRPr lang="en-US" sz="3600" dirty="0"/>
          </a:p>
        </p:txBody>
      </p:sp>
      <p:pic>
        <p:nvPicPr>
          <p:cNvPr id="2" name="Picture 1" descr="businessmen_jobs_800_wht_1831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900" y="431800"/>
            <a:ext cx="2120900" cy="42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93258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838200"/>
            <a:ext cx="4419600" cy="54102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dirty="0" smtClean="0"/>
              <a:t>Persons with disabilities are unemployed for many of the same reasons as any other individual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BFC529-F0D0-3A4E-A87F-88B0D892009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7086600" y="1752600"/>
            <a:ext cx="1905000" cy="1676400"/>
          </a:xfrm>
          <a:prstGeom prst="ellipse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Lack of skills</a:t>
            </a:r>
            <a:endParaRPr lang="en-US" sz="2400" b="1" dirty="0"/>
          </a:p>
        </p:txBody>
      </p:sp>
      <p:sp>
        <p:nvSpPr>
          <p:cNvPr id="6" name="Oval 5"/>
          <p:cNvSpPr/>
          <p:nvPr/>
        </p:nvSpPr>
        <p:spPr>
          <a:xfrm>
            <a:off x="4800600" y="685800"/>
            <a:ext cx="2286000" cy="1752600"/>
          </a:xfrm>
          <a:prstGeom prst="ellipse">
            <a:avLst/>
          </a:prstGeom>
          <a:effectLst>
            <a:glow rad="101600">
              <a:schemeClr val="accent6">
                <a:satMod val="175000"/>
                <a:alpha val="40000"/>
              </a:schemeClr>
            </a:glow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FFFF00"/>
                </a:solidFill>
              </a:rPr>
              <a:t>Lack of education</a:t>
            </a:r>
            <a:endParaRPr lang="en-US" sz="2400" b="1" dirty="0">
              <a:solidFill>
                <a:srgbClr val="FFFF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800600" y="3200400"/>
            <a:ext cx="2209800" cy="1752600"/>
          </a:xfrm>
          <a:prstGeom prst="ellipse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660066"/>
                </a:solidFill>
              </a:rPr>
              <a:t>Poor personal networks</a:t>
            </a:r>
            <a:endParaRPr lang="en-US" sz="2400" b="1" dirty="0">
              <a:solidFill>
                <a:srgbClr val="660066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6096000" y="4953000"/>
            <a:ext cx="2895600" cy="1752600"/>
          </a:xfrm>
          <a:prstGeom prst="ellipse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Cultural expectations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993104236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8229600" cy="2514600"/>
          </a:xfrm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  <a:sp3d>
            <a:bevelT w="139700" h="139700" prst="divot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lvl="0" algn="ctr"/>
            <a:r>
              <a:rPr lang="en-US" dirty="0" smtClean="0"/>
              <a:t>Deviate </a:t>
            </a:r>
            <a:r>
              <a:rPr lang="en-US" dirty="0"/>
              <a:t>from </a:t>
            </a:r>
            <a:r>
              <a:rPr lang="en-US" dirty="0" smtClean="0"/>
              <a:t>typical employment process</a:t>
            </a:r>
            <a:br>
              <a:rPr lang="en-US" dirty="0" smtClean="0"/>
            </a:br>
            <a:r>
              <a:rPr lang="en-US" b="1" i="1" cap="all" dirty="0" smtClean="0"/>
              <a:t>only </a:t>
            </a:r>
            <a:r>
              <a:rPr lang="en-US" b="1" i="1" cap="all" dirty="0"/>
              <a:t>as </a:t>
            </a:r>
            <a:r>
              <a:rPr lang="en-US" b="1" i="1" cap="all" dirty="0" smtClean="0"/>
              <a:t>absolutely necessary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(but sometimes it’s necessary)</a:t>
            </a:r>
            <a:endParaRPr lang="en-US" dirty="0"/>
          </a:p>
        </p:txBody>
      </p:sp>
      <p:pic>
        <p:nvPicPr>
          <p:cNvPr id="3" name="Picture 4" descr="Janitorial Worker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4495800"/>
            <a:ext cx="16002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jd23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3810000"/>
            <a:ext cx="2340148" cy="17526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BFC529-F0D0-3A4E-A87F-88B0D892009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298443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0" y="-139700"/>
            <a:ext cx="7962900" cy="8509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Do you REALLY believe in employment?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0300" y="609600"/>
            <a:ext cx="7823200" cy="4800600"/>
          </a:xfrm>
        </p:spPr>
        <p:txBody>
          <a:bodyPr/>
          <a:lstStyle/>
          <a:p>
            <a:pPr>
              <a:buSzPct val="100000"/>
              <a:buFont typeface="Wingdings" charset="2"/>
              <a:buChar char="ü"/>
            </a:pPr>
            <a:r>
              <a:rPr lang="en-US" sz="2400" dirty="0"/>
              <a:t>E</a:t>
            </a:r>
            <a:r>
              <a:rPr lang="en-US" sz="2400" dirty="0" smtClean="0"/>
              <a:t>veryone has an </a:t>
            </a:r>
            <a:r>
              <a:rPr lang="en-US" sz="2400" b="1" dirty="0" smtClean="0"/>
              <a:t>employment plan</a:t>
            </a:r>
          </a:p>
          <a:p>
            <a:pPr>
              <a:buSzPct val="100000"/>
              <a:buFont typeface="Wingdings" charset="2"/>
              <a:buChar char="ü"/>
            </a:pPr>
            <a:r>
              <a:rPr lang="en-US" sz="2400" dirty="0"/>
              <a:t>P</a:t>
            </a:r>
            <a:r>
              <a:rPr lang="en-US" sz="2400" dirty="0" smtClean="0"/>
              <a:t>lan regularly </a:t>
            </a:r>
            <a:r>
              <a:rPr lang="en-US" sz="2400" b="1" dirty="0" smtClean="0"/>
              <a:t>updated</a:t>
            </a:r>
          </a:p>
          <a:p>
            <a:pPr>
              <a:buSzPct val="100000"/>
              <a:buFont typeface="Wingdings" charset="2"/>
              <a:buChar char="ü"/>
            </a:pPr>
            <a:r>
              <a:rPr lang="en-US" sz="2400" dirty="0"/>
              <a:t>I</a:t>
            </a:r>
            <a:r>
              <a:rPr lang="en-US" sz="2400" dirty="0" smtClean="0"/>
              <a:t>ndividuals </a:t>
            </a:r>
            <a:r>
              <a:rPr lang="en-US" sz="2400" b="1" dirty="0" smtClean="0"/>
              <a:t>in charge </a:t>
            </a:r>
            <a:r>
              <a:rPr lang="en-US" sz="2400" dirty="0" smtClean="0"/>
              <a:t>of their employment plan</a:t>
            </a:r>
            <a:endParaRPr lang="en-US" sz="2400" dirty="0"/>
          </a:p>
          <a:p>
            <a:pPr>
              <a:buSzPct val="100000"/>
              <a:buFont typeface="Wingdings" charset="2"/>
              <a:buChar char="ü"/>
            </a:pPr>
            <a:r>
              <a:rPr lang="en-US" sz="2400" dirty="0" smtClean="0"/>
              <a:t>Staff spending most of their </a:t>
            </a:r>
            <a:r>
              <a:rPr lang="en-US" sz="2400" b="1" dirty="0" smtClean="0"/>
              <a:t>time</a:t>
            </a:r>
            <a:r>
              <a:rPr lang="en-US" sz="2400" dirty="0" smtClean="0"/>
              <a:t> on employment</a:t>
            </a:r>
          </a:p>
          <a:p>
            <a:pPr>
              <a:buSzPct val="100000"/>
              <a:buFont typeface="Wingdings" charset="2"/>
              <a:buChar char="ü"/>
            </a:pPr>
            <a:r>
              <a:rPr lang="en-US" sz="2400" dirty="0"/>
              <a:t>E</a:t>
            </a:r>
            <a:r>
              <a:rPr lang="en-US" sz="2400" dirty="0" smtClean="0"/>
              <a:t>xploration and assessment occurring in the </a:t>
            </a:r>
            <a:r>
              <a:rPr lang="en-US" sz="2400" b="1" dirty="0" smtClean="0"/>
              <a:t>community</a:t>
            </a:r>
          </a:p>
          <a:p>
            <a:pPr>
              <a:buSzPct val="100000"/>
              <a:buFont typeface="Wingdings" charset="2"/>
              <a:buChar char="ü"/>
            </a:pPr>
            <a:r>
              <a:rPr lang="en-US" sz="2400" dirty="0"/>
              <a:t>U</a:t>
            </a:r>
            <a:r>
              <a:rPr lang="en-US" sz="2400" dirty="0" smtClean="0"/>
              <a:t>nderstand and highly engaged with your </a:t>
            </a:r>
            <a:r>
              <a:rPr lang="en-US" sz="2400" b="1" dirty="0" smtClean="0"/>
              <a:t>local labor market</a:t>
            </a:r>
          </a:p>
          <a:p>
            <a:pPr>
              <a:buSzPct val="100000"/>
              <a:buFont typeface="Wingdings" charset="2"/>
              <a:buChar char="ü"/>
            </a:pPr>
            <a:r>
              <a:rPr lang="en-US" sz="2400" b="1" dirty="0" smtClean="0"/>
              <a:t>Job development ≠ </a:t>
            </a:r>
            <a:r>
              <a:rPr lang="en-US" sz="2400" dirty="0" smtClean="0"/>
              <a:t>filling out job applications and internet searches</a:t>
            </a:r>
          </a:p>
          <a:p>
            <a:pPr>
              <a:buSzPct val="100000"/>
              <a:buFont typeface="Wingdings" charset="2"/>
              <a:buChar char="ü"/>
            </a:pPr>
            <a:r>
              <a:rPr lang="en-US" sz="2400" b="1" dirty="0" smtClean="0"/>
              <a:t>Tracking</a:t>
            </a:r>
            <a:r>
              <a:rPr lang="en-US" sz="2400" dirty="0" smtClean="0"/>
              <a:t> employment processes and outcomes</a:t>
            </a:r>
          </a:p>
          <a:p>
            <a:pPr>
              <a:buSzPct val="100000"/>
              <a:buFont typeface="Wingdings" charset="2"/>
              <a:buChar char="ü"/>
            </a:pPr>
            <a:r>
              <a:rPr lang="en-US" sz="2400" dirty="0"/>
              <a:t>E</a:t>
            </a:r>
            <a:r>
              <a:rPr lang="en-US" sz="2400" dirty="0" smtClean="0"/>
              <a:t>mployment </a:t>
            </a:r>
            <a:r>
              <a:rPr lang="en-US" sz="2400" b="1" dirty="0" smtClean="0"/>
              <a:t>goals/benchmarks</a:t>
            </a:r>
          </a:p>
          <a:p>
            <a:pPr>
              <a:buSzPct val="100000"/>
              <a:buFont typeface="Wingdings" charset="2"/>
              <a:buChar char="ü"/>
            </a:pPr>
            <a:r>
              <a:rPr lang="en-US" sz="2400" b="1" dirty="0" smtClean="0"/>
              <a:t>Budget dollars </a:t>
            </a:r>
            <a:r>
              <a:rPr lang="en-US" sz="2400" dirty="0"/>
              <a:t>focused on </a:t>
            </a:r>
            <a:r>
              <a:rPr lang="en-US" sz="2400" dirty="0" smtClean="0"/>
              <a:t>employment</a:t>
            </a:r>
            <a:endParaRPr lang="en-US" sz="2400" dirty="0"/>
          </a:p>
          <a:p>
            <a:pPr>
              <a:buSzPct val="100000"/>
              <a:buFont typeface="Wingdings" charset="2"/>
              <a:buChar char="ü"/>
            </a:pPr>
            <a:r>
              <a:rPr lang="en-US" sz="2400" dirty="0" smtClean="0"/>
              <a:t>Staff have necessary </a:t>
            </a:r>
            <a:r>
              <a:rPr lang="en-US" sz="2400" b="1" dirty="0" smtClean="0"/>
              <a:t>competencies</a:t>
            </a:r>
          </a:p>
          <a:p>
            <a:pPr>
              <a:buSzPct val="100000"/>
              <a:buFont typeface="Wingdings" charset="2"/>
              <a:buChar char="ü"/>
            </a:pPr>
            <a:r>
              <a:rPr lang="en-US" sz="2400" dirty="0"/>
              <a:t>T</a:t>
            </a:r>
            <a:r>
              <a:rPr lang="en-US" sz="2400" dirty="0" smtClean="0"/>
              <a:t>ruly </a:t>
            </a:r>
            <a:r>
              <a:rPr lang="en-US" sz="2400" b="1" dirty="0" smtClean="0"/>
              <a:t>informed choice </a:t>
            </a:r>
            <a:r>
              <a:rPr lang="en-US" sz="2400" dirty="0" smtClean="0"/>
              <a:t>regarding employment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04378700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2900" y="2370138"/>
            <a:ext cx="4889500" cy="2646362"/>
          </a:xfrm>
          <a:solidFill>
            <a:srgbClr val="0000FF"/>
          </a:solidFill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b="1" dirty="0" smtClean="0"/>
              <a:t>The</a:t>
            </a:r>
            <a:br>
              <a:rPr lang="en-US" b="1" dirty="0" smtClean="0"/>
            </a:br>
            <a:r>
              <a:rPr lang="en-US" b="1" dirty="0" smtClean="0"/>
              <a:t>“Choice”</a:t>
            </a:r>
            <a:br>
              <a:rPr lang="en-US" b="1" dirty="0" smtClean="0"/>
            </a:br>
            <a:r>
              <a:rPr lang="en-US" b="1" dirty="0" smtClean="0"/>
              <a:t>Issue</a:t>
            </a:r>
            <a:endParaRPr lang="en-US" b="1" dirty="0"/>
          </a:p>
        </p:txBody>
      </p:sp>
      <p:pic>
        <p:nvPicPr>
          <p:cNvPr id="3" name="Picture 2" descr="Choice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706" y="482600"/>
            <a:ext cx="1950794" cy="273475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0518C9-3CC7-7448-AD05-3CB269384775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02438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343400" y="3810000"/>
            <a:ext cx="4572000" cy="1295400"/>
          </a:xfrm>
          <a:noFill/>
          <a:ln>
            <a:noFill/>
          </a:ln>
        </p:spPr>
        <p:txBody>
          <a:bodyPr lIns="90488" tIns="44450" rIns="90488" bIns="44450" anchor="b"/>
          <a:lstStyle/>
          <a:p>
            <a:pPr>
              <a:defRPr/>
            </a:pPr>
            <a:r>
              <a:rPr lang="en-US" sz="3200">
                <a:solidFill>
                  <a:schemeClr val="tx1"/>
                </a:solidFill>
                <a:latin typeface="Arial" charset="0"/>
              </a:rPr>
              <a:t>- Henry Ford</a:t>
            </a:r>
            <a:endParaRPr lang="en-US" sz="4800">
              <a:solidFill>
                <a:srgbClr val="99FFCC"/>
              </a:solidFill>
              <a:latin typeface="Arial" charset="0"/>
            </a:endParaRPr>
          </a:p>
        </p:txBody>
      </p:sp>
      <p:sp>
        <p:nvSpPr>
          <p:cNvPr id="1435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546100"/>
            <a:ext cx="8534400" cy="4267200"/>
          </a:xfrm>
        </p:spPr>
        <p:txBody>
          <a:bodyPr lIns="90488" tIns="44450" rIns="90488" bIns="44450"/>
          <a:lstStyle/>
          <a:p>
            <a:pPr marL="285750" indent="-285750" algn="ctr">
              <a:buFont typeface="Times" charset="0"/>
              <a:buNone/>
              <a:defRPr/>
            </a:pPr>
            <a:r>
              <a:rPr lang="ja-JP" altLang="en-US" sz="5400" b="1" dirty="0">
                <a:solidFill>
                  <a:srgbClr val="006699"/>
                </a:solidFill>
                <a:latin typeface="Arial" charset="0"/>
              </a:rPr>
              <a:t>“</a:t>
            </a:r>
            <a:r>
              <a:rPr lang="en-US" sz="5400" b="1" dirty="0">
                <a:solidFill>
                  <a:srgbClr val="006699"/>
                </a:solidFill>
                <a:latin typeface="Arial" charset="0"/>
              </a:rPr>
              <a:t>If I had asked people what they wanted, they would have said</a:t>
            </a:r>
            <a:br>
              <a:rPr lang="en-US" sz="5400" b="1" dirty="0">
                <a:solidFill>
                  <a:srgbClr val="006699"/>
                </a:solidFill>
                <a:latin typeface="Arial" charset="0"/>
              </a:rPr>
            </a:br>
            <a:r>
              <a:rPr lang="en-US" sz="5400" b="1" dirty="0">
                <a:solidFill>
                  <a:srgbClr val="006699"/>
                </a:solidFill>
                <a:latin typeface="Arial" charset="0"/>
              </a:rPr>
              <a:t>a faster horse.</a:t>
            </a:r>
            <a:r>
              <a:rPr lang="ja-JP" altLang="en-US" sz="5400" b="1" dirty="0">
                <a:solidFill>
                  <a:srgbClr val="006699"/>
                </a:solidFill>
                <a:latin typeface="Arial" charset="0"/>
              </a:rPr>
              <a:t>”</a:t>
            </a:r>
            <a:endParaRPr lang="en-US" sz="5400" b="1" dirty="0">
              <a:solidFill>
                <a:srgbClr val="006699"/>
              </a:solidFill>
              <a:latin typeface="Arial" charset="0"/>
            </a:endParaRPr>
          </a:p>
        </p:txBody>
      </p:sp>
      <p:pic>
        <p:nvPicPr>
          <p:cNvPr id="52229" name="Picture 6" descr="henry-for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200" y="4090193"/>
            <a:ext cx="2030413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4480518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14" descr="Speech balloon pointing right.jpe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609600"/>
            <a:ext cx="3505200" cy="294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2" name="TextBox 4"/>
          <p:cNvSpPr txBox="1">
            <a:spLocks noChangeArrowheads="1"/>
          </p:cNvSpPr>
          <p:nvPr/>
        </p:nvSpPr>
        <p:spPr bwMode="auto">
          <a:xfrm>
            <a:off x="2057400" y="990600"/>
            <a:ext cx="20574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1"/>
              <a:t>Do you want to work in the community?</a:t>
            </a:r>
          </a:p>
        </p:txBody>
      </p:sp>
      <p:pic>
        <p:nvPicPr>
          <p:cNvPr id="35843" name="Picture 1" descr="interview clipart.gif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200400"/>
            <a:ext cx="4065588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 rot="21060000">
            <a:off x="1633965" y="2803882"/>
            <a:ext cx="6773674" cy="1938992"/>
          </a:xfrm>
          <a:prstGeom prst="rect">
            <a:avLst/>
          </a:prstGeom>
          <a:solidFill>
            <a:srgbClr val="000090"/>
          </a:solidFill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6000" dirty="0">
                <a:solidFill>
                  <a:srgbClr val="FFF028"/>
                </a:solidFill>
                <a:latin typeface="Impact"/>
              </a:rPr>
              <a:t>NOT INFORMED CHOICE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0518C9-3CC7-7448-AD05-3CB269384775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4663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4348" y="850900"/>
            <a:ext cx="4584700" cy="6375400"/>
          </a:xfrm>
        </p:spPr>
        <p:txBody>
          <a:bodyPr>
            <a:noAutofit/>
          </a:bodyPr>
          <a:lstStyle/>
          <a:p>
            <a:pPr marL="457200" indent="-457200">
              <a:spcBef>
                <a:spcPts val="2328"/>
              </a:spcBef>
              <a:buClrTx/>
              <a:buFontTx/>
              <a:buAutoNum type="arabicPeriod"/>
              <a:defRPr/>
            </a:pPr>
            <a:r>
              <a:rPr lang="en-US" sz="2200" dirty="0" smtClean="0">
                <a:latin typeface="Calibri" charset="0"/>
                <a:ea typeface="Osaka" charset="0"/>
                <a:cs typeface="Osaka" charset="0"/>
              </a:rPr>
              <a:t>Provide </a:t>
            </a:r>
            <a:r>
              <a:rPr lang="en-US" sz="2200" dirty="0">
                <a:latin typeface="Calibri" charset="0"/>
                <a:ea typeface="Osaka" charset="0"/>
                <a:cs typeface="Osaka" charset="0"/>
              </a:rPr>
              <a:t>information about the </a:t>
            </a:r>
            <a:r>
              <a:rPr lang="en-US" sz="2200" b="1" dirty="0">
                <a:latin typeface="Calibri" charset="0"/>
                <a:ea typeface="Osaka" charset="0"/>
                <a:cs typeface="Osaka" charset="0"/>
              </a:rPr>
              <a:t>benefits of </a:t>
            </a:r>
            <a:r>
              <a:rPr lang="en-US" sz="2200" b="1" dirty="0" smtClean="0">
                <a:latin typeface="Calibri" charset="0"/>
                <a:ea typeface="Osaka" charset="0"/>
                <a:cs typeface="Osaka" charset="0"/>
              </a:rPr>
              <a:t>working</a:t>
            </a:r>
            <a:br>
              <a:rPr lang="en-US" sz="2200" b="1" dirty="0" smtClean="0">
                <a:latin typeface="Calibri" charset="0"/>
                <a:ea typeface="Osaka" charset="0"/>
                <a:cs typeface="Osaka" charset="0"/>
              </a:rPr>
            </a:br>
            <a:r>
              <a:rPr lang="en-US" sz="2200" dirty="0" smtClean="0">
                <a:latin typeface="Calibri" charset="0"/>
                <a:ea typeface="Osaka" charset="0"/>
                <a:cs typeface="Osaka" charset="0"/>
              </a:rPr>
              <a:t>in </a:t>
            </a:r>
            <a:r>
              <a:rPr lang="en-US" sz="2200" dirty="0">
                <a:latin typeface="Calibri" charset="0"/>
                <a:ea typeface="Osaka" charset="0"/>
                <a:cs typeface="Osaka" charset="0"/>
              </a:rPr>
              <a:t>integrated settings.</a:t>
            </a:r>
          </a:p>
          <a:p>
            <a:pPr marL="457200" indent="-457200">
              <a:spcBef>
                <a:spcPts val="2328"/>
              </a:spcBef>
              <a:buClrTx/>
              <a:buFontTx/>
              <a:buAutoNum type="arabicPeriod"/>
              <a:defRPr/>
            </a:pPr>
            <a:r>
              <a:rPr lang="en-US" sz="2200" dirty="0" smtClean="0">
                <a:latin typeface="Calibri" charset="0"/>
                <a:ea typeface="Osaka" charset="0"/>
                <a:cs typeface="Osaka" charset="0"/>
              </a:rPr>
              <a:t>Facilitate</a:t>
            </a:r>
            <a:r>
              <a:rPr lang="en-US" sz="2200" b="1" dirty="0" smtClean="0">
                <a:latin typeface="Calibri" charset="0"/>
                <a:ea typeface="Osaka" charset="0"/>
                <a:cs typeface="Osaka" charset="0"/>
              </a:rPr>
              <a:t> </a:t>
            </a:r>
            <a:r>
              <a:rPr lang="en-US" sz="2200" b="1" dirty="0">
                <a:latin typeface="Calibri" charset="0"/>
                <a:ea typeface="Osaka" charset="0"/>
                <a:cs typeface="Osaka" charset="0"/>
              </a:rPr>
              <a:t>visits or other experiences </a:t>
            </a:r>
            <a:r>
              <a:rPr lang="en-US" sz="2200" dirty="0">
                <a:latin typeface="Calibri" charset="0"/>
                <a:ea typeface="Osaka" charset="0"/>
                <a:cs typeface="Osaka" charset="0"/>
              </a:rPr>
              <a:t>in such settings: </a:t>
            </a:r>
            <a:r>
              <a:rPr lang="en-US" sz="2200" i="1" dirty="0">
                <a:latin typeface="Calibri" charset="0"/>
                <a:ea typeface="Osaka" charset="0"/>
                <a:cs typeface="Osaka" charset="0"/>
              </a:rPr>
              <a:t>situational assessment, informational interviews, job shadowing, job tours, etc.</a:t>
            </a:r>
          </a:p>
          <a:p>
            <a:pPr marL="457200" indent="-457200">
              <a:spcBef>
                <a:spcPts val="2328"/>
              </a:spcBef>
              <a:buClrTx/>
              <a:buFontTx/>
              <a:buAutoNum type="arabicPeriod"/>
              <a:defRPr/>
            </a:pPr>
            <a:r>
              <a:rPr lang="en-US" sz="2200" dirty="0">
                <a:latin typeface="Calibri" charset="0"/>
                <a:ea typeface="Osaka" charset="0"/>
                <a:cs typeface="Osaka" charset="0"/>
              </a:rPr>
              <a:t>Peer-to-Peer </a:t>
            </a:r>
            <a:r>
              <a:rPr lang="en-US" sz="2200" dirty="0" smtClean="0">
                <a:latin typeface="Calibri" charset="0"/>
                <a:ea typeface="Osaka" charset="0"/>
                <a:cs typeface="Osaka" charset="0"/>
              </a:rPr>
              <a:t>Opportunities:</a:t>
            </a:r>
            <a:r>
              <a:rPr lang="en-US" sz="2200" dirty="0">
                <a:latin typeface="Calibri" charset="0"/>
                <a:ea typeface="Osaka" charset="0"/>
                <a:cs typeface="Osaka" charset="0"/>
              </a:rPr>
              <a:t> </a:t>
            </a:r>
            <a:r>
              <a:rPr lang="en-US" sz="2200" b="1" dirty="0" smtClean="0">
                <a:latin typeface="Calibri" charset="0"/>
                <a:ea typeface="Osaka" charset="0"/>
                <a:cs typeface="Osaka" charset="0"/>
              </a:rPr>
              <a:t>Individuals </a:t>
            </a:r>
            <a:r>
              <a:rPr lang="en-US" sz="2200" b="1" dirty="0">
                <a:latin typeface="Calibri" charset="0"/>
                <a:ea typeface="Osaka" charset="0"/>
                <a:cs typeface="Osaka" charset="0"/>
              </a:rPr>
              <a:t>with disabilities </a:t>
            </a:r>
            <a:r>
              <a:rPr lang="en-US" sz="2200" dirty="0">
                <a:latin typeface="Calibri" charset="0"/>
                <a:ea typeface="Osaka" charset="0"/>
                <a:cs typeface="Osaka" charset="0"/>
              </a:rPr>
              <a:t>&amp;</a:t>
            </a:r>
            <a:r>
              <a:rPr lang="en-US" sz="2200" dirty="0" smtClean="0">
                <a:latin typeface="Calibri" charset="0"/>
                <a:ea typeface="Osaka" charset="0"/>
                <a:cs typeface="Osaka" charset="0"/>
              </a:rPr>
              <a:t> </a:t>
            </a:r>
            <a:r>
              <a:rPr lang="en-US" sz="2200" b="1" dirty="0" smtClean="0">
                <a:latin typeface="Calibri" charset="0"/>
                <a:ea typeface="Osaka" charset="0"/>
                <a:cs typeface="Osaka" charset="0"/>
              </a:rPr>
              <a:t>families.</a:t>
            </a:r>
          </a:p>
          <a:p>
            <a:pPr marL="457200" indent="-457200">
              <a:spcBef>
                <a:spcPts val="2328"/>
              </a:spcBef>
              <a:buClrTx/>
              <a:buFontTx/>
              <a:buAutoNum type="arabicPeriod"/>
              <a:defRPr/>
            </a:pPr>
            <a:r>
              <a:rPr lang="en-US" sz="2200" b="1" dirty="0" smtClean="0">
                <a:latin typeface="Calibri" charset="0"/>
                <a:ea typeface="Osaka" charset="0"/>
                <a:cs typeface="Osaka" charset="0"/>
              </a:rPr>
              <a:t>Identify </a:t>
            </a:r>
            <a:r>
              <a:rPr lang="en-US" sz="2200" b="1" dirty="0">
                <a:latin typeface="Calibri" charset="0"/>
                <a:ea typeface="Osaka" charset="0"/>
                <a:cs typeface="Osaka" charset="0"/>
              </a:rPr>
              <a:t>and address any concerns or objections </a:t>
            </a:r>
            <a:r>
              <a:rPr lang="en-US" sz="2200" dirty="0">
                <a:latin typeface="Calibri" charset="0"/>
                <a:ea typeface="Osaka" charset="0"/>
                <a:cs typeface="Osaka" charset="0"/>
              </a:rPr>
              <a:t>raised by individual or relevant decision-maker.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0518C9-3CC7-7448-AD05-3CB269384775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2" name="Pentagon 1"/>
          <p:cNvSpPr/>
          <p:nvPr/>
        </p:nvSpPr>
        <p:spPr>
          <a:xfrm>
            <a:off x="1174748" y="266700"/>
            <a:ext cx="2927352" cy="2070100"/>
          </a:xfrm>
          <a:prstGeom prst="homePlate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srgbClr val="000090"/>
                </a:solidFill>
              </a:rPr>
              <a:t>Ensuring truly  </a:t>
            </a:r>
            <a:r>
              <a:rPr lang="en-US" sz="2400" b="1" dirty="0" smtClean="0">
                <a:solidFill>
                  <a:srgbClr val="000090"/>
                </a:solidFill>
              </a:rPr>
              <a:t>INFORMED CHOICE </a:t>
            </a:r>
          </a:p>
          <a:p>
            <a:r>
              <a:rPr lang="en-US" sz="2400" dirty="0" smtClean="0">
                <a:solidFill>
                  <a:srgbClr val="000090"/>
                </a:solidFill>
              </a:rPr>
              <a:t>about employment</a:t>
            </a:r>
            <a:endParaRPr lang="en-US" sz="2400" dirty="0">
              <a:solidFill>
                <a:srgbClr val="000090"/>
              </a:solidFill>
            </a:endParaRPr>
          </a:p>
        </p:txBody>
      </p:sp>
      <p:pic>
        <p:nvPicPr>
          <p:cNvPr id="4" name="Picture 3" descr="stick_figure_direction_800_wht_2113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748" y="3175002"/>
            <a:ext cx="2851148" cy="28511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97448" y="266700"/>
            <a:ext cx="2787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Affirmative Steps </a:t>
            </a:r>
            <a:endParaRPr lang="en-US" sz="2400" b="1" u="sng" dirty="0"/>
          </a:p>
        </p:txBody>
      </p:sp>
    </p:spTree>
    <p:extLst>
      <p:ext uri="{BB962C8B-B14F-4D97-AF65-F5344CB8AC3E}">
        <p14:creationId xmlns:p14="http://schemas.microsoft.com/office/powerpoint/2010/main" val="2174802499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1498600"/>
            <a:ext cx="7499350" cy="2997200"/>
          </a:xfrm>
          <a:effectLst>
            <a:glow rad="1397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dirty="0" smtClean="0"/>
              <a:t>People with disabilities should have the same level of choice in their lives as those without disabilities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082003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194300" y="476310"/>
            <a:ext cx="3124200" cy="1815882"/>
          </a:xfrm>
          <a:prstGeom prst="rect">
            <a:avLst/>
          </a:prstGeom>
          <a:ln w="57150" cmpd="sng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Century Schoolbook"/>
                <a:cs typeface="Century Schoolbook"/>
              </a:rPr>
              <a:t>Create a program for individuals to participate in</a:t>
            </a:r>
            <a:endParaRPr lang="en-US" sz="2800" b="1" dirty="0">
              <a:latin typeface="Century Schoolbook"/>
              <a:cs typeface="Century Schoolboo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38700" y="4045010"/>
            <a:ext cx="3810000" cy="1815882"/>
          </a:xfrm>
          <a:prstGeom prst="rect">
            <a:avLst/>
          </a:prstGeom>
          <a:ln w="76200" cmpd="sng">
            <a:solidFill>
              <a:srgbClr val="FFFF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Support individuals to fully participate in existing opportunities in the community</a:t>
            </a:r>
            <a:endParaRPr lang="en-US" sz="2800" b="1" dirty="0"/>
          </a:p>
        </p:txBody>
      </p:sp>
      <p:pic>
        <p:nvPicPr>
          <p:cNvPr id="2" name="Picture 1" descr="blank_sign_905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978" y="3708400"/>
            <a:ext cx="3144926" cy="3352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27200" y="4146610"/>
            <a:ext cx="2317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New Paradigm</a:t>
            </a:r>
            <a:endParaRPr lang="en-US" sz="2400" b="1" dirty="0">
              <a:solidFill>
                <a:srgbClr val="0000FF"/>
              </a:solidFill>
            </a:endParaRPr>
          </a:p>
        </p:txBody>
      </p:sp>
      <p:pic>
        <p:nvPicPr>
          <p:cNvPr id="4" name="Picture 3" descr="blank_sign_800_wht_9058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406" y="273228"/>
            <a:ext cx="3093498" cy="32997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89100" y="679510"/>
            <a:ext cx="2428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0000"/>
                </a:solidFill>
                <a:latin typeface="Century Schoolbook"/>
                <a:cs typeface="Century Schoolbook"/>
              </a:rPr>
              <a:t>Old</a:t>
            </a:r>
            <a:r>
              <a:rPr lang="en-US" sz="2400" b="1" dirty="0" smtClean="0">
                <a:solidFill>
                  <a:schemeClr val="bg1"/>
                </a:solidFill>
                <a:latin typeface="Century Schoolbook"/>
                <a:cs typeface="Century Schoolbook"/>
              </a:rPr>
              <a:t> </a:t>
            </a:r>
            <a:r>
              <a:rPr lang="en-US" sz="2400" b="1" dirty="0" smtClean="0">
                <a:latin typeface="Century Schoolbook"/>
                <a:cs typeface="Century Schoolbook"/>
              </a:rPr>
              <a:t>Paradigm</a:t>
            </a:r>
            <a:endParaRPr lang="en-US" sz="2400" b="1" dirty="0">
              <a:latin typeface="Century Schoolbook"/>
              <a:cs typeface="Century Schoolbook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54100" y="3327400"/>
            <a:ext cx="8089900" cy="0"/>
          </a:xfrm>
          <a:prstGeom prst="line">
            <a:avLst/>
          </a:prstGeom>
          <a:ln w="76200" cmpd="tri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422372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>
                <a:latin typeface="Arial" charset="0"/>
                <a:ea typeface="ＭＳ Ｐゴシック" charset="0"/>
              </a:rPr>
              <a:t>The Changing Role of the Professional</a:t>
            </a:r>
          </a:p>
        </p:txBody>
      </p:sp>
      <p:sp>
        <p:nvSpPr>
          <p:cNvPr id="7" name="Pentagon 6"/>
          <p:cNvSpPr/>
          <p:nvPr/>
        </p:nvSpPr>
        <p:spPr bwMode="auto">
          <a:xfrm>
            <a:off x="1219200" y="2743200"/>
            <a:ext cx="3124200" cy="2286000"/>
          </a:xfrm>
          <a:prstGeom prst="homePlat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2800" b="1" dirty="0">
                <a:solidFill>
                  <a:schemeClr val="bg1"/>
                </a:solidFill>
                <a:latin typeface="Calibri"/>
                <a:cs typeface="Calibri"/>
              </a:rPr>
              <a:t>FROM</a:t>
            </a:r>
          </a:p>
          <a:p>
            <a:pPr marL="457200" indent="-457200">
              <a:buFont typeface="Arial"/>
              <a:buChar char="•"/>
              <a:defRPr/>
            </a:pPr>
            <a:r>
              <a:rPr lang="en-US" sz="2800" b="0" dirty="0">
                <a:solidFill>
                  <a:schemeClr val="bg1"/>
                </a:solidFill>
                <a:latin typeface="Calibri"/>
                <a:cs typeface="Calibri"/>
              </a:rPr>
              <a:t>Caretaker</a:t>
            </a:r>
          </a:p>
          <a:p>
            <a:pPr marL="457200" indent="-457200">
              <a:buFont typeface="Arial"/>
              <a:buChar char="•"/>
              <a:defRPr/>
            </a:pPr>
            <a:r>
              <a:rPr lang="en-US" sz="2800" b="0" dirty="0">
                <a:solidFill>
                  <a:schemeClr val="bg1"/>
                </a:solidFill>
                <a:latin typeface="Calibri"/>
                <a:cs typeface="Calibri"/>
              </a:rPr>
              <a:t>Trainer</a:t>
            </a:r>
          </a:p>
          <a:p>
            <a:pPr marL="457200" indent="-457200">
              <a:buFont typeface="Arial"/>
              <a:buChar char="•"/>
              <a:defRPr/>
            </a:pPr>
            <a:r>
              <a:rPr lang="en-US" sz="2800" b="0" dirty="0">
                <a:solidFill>
                  <a:schemeClr val="bg1"/>
                </a:solidFill>
                <a:latin typeface="Calibri"/>
                <a:cs typeface="Calibri"/>
              </a:rPr>
              <a:t>Authoritative figure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4724400" y="2743200"/>
            <a:ext cx="4038600" cy="3441700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sz="2800" b="1" dirty="0">
                <a:solidFill>
                  <a:srgbClr val="000000"/>
                </a:solidFill>
                <a:latin typeface="Calibri"/>
                <a:ea typeface="ＭＳ Ｐゴシック" charset="0"/>
                <a:cs typeface="Calibri"/>
              </a:rPr>
              <a:t>TO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  <a:defRPr/>
            </a:pPr>
            <a:r>
              <a:rPr lang="en-US" sz="2800" dirty="0">
                <a:solidFill>
                  <a:srgbClr val="000000"/>
                </a:solidFill>
                <a:latin typeface="Calibri"/>
                <a:ea typeface="ＭＳ Ｐゴシック" charset="0"/>
                <a:cs typeface="Calibri"/>
              </a:rPr>
              <a:t>Facilitator of inclusion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  <a:defRPr/>
            </a:pPr>
            <a:r>
              <a:rPr lang="en-US" sz="2800" dirty="0">
                <a:solidFill>
                  <a:srgbClr val="000000"/>
                </a:solidFill>
                <a:latin typeface="Calibri"/>
                <a:ea typeface="ＭＳ Ｐゴシック" charset="0"/>
                <a:cs typeface="Calibri"/>
              </a:rPr>
              <a:t>Facilitator of community supports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  <a:defRPr/>
            </a:pPr>
            <a:r>
              <a:rPr lang="en-US" sz="2800" dirty="0">
                <a:solidFill>
                  <a:srgbClr val="000000"/>
                </a:solidFill>
                <a:latin typeface="Calibri"/>
                <a:ea typeface="ＭＳ Ｐゴシック" charset="0"/>
                <a:cs typeface="Calibri"/>
              </a:rPr>
              <a:t>Support </a:t>
            </a:r>
            <a:r>
              <a:rPr lang="en-US" sz="2800" dirty="0" smtClean="0">
                <a:solidFill>
                  <a:srgbClr val="000000"/>
                </a:solidFill>
                <a:latin typeface="Calibri"/>
                <a:ea typeface="ＭＳ Ｐゴシック" charset="0"/>
                <a:cs typeface="Calibri"/>
              </a:rPr>
              <a:t>professional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  <a:defRPr/>
            </a:pPr>
            <a:r>
              <a:rPr lang="en-US" sz="2800" dirty="0" smtClean="0">
                <a:solidFill>
                  <a:srgbClr val="000000"/>
                </a:solidFill>
                <a:latin typeface="Calibri"/>
                <a:ea typeface="ＭＳ Ｐゴシック" charset="0"/>
                <a:cs typeface="Calibri"/>
              </a:rPr>
              <a:t>Social 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ＭＳ Ｐゴシック" charset="0"/>
                <a:cs typeface="Calibri"/>
              </a:rPr>
              <a:t>change </a:t>
            </a:r>
            <a:r>
              <a:rPr lang="en-US" sz="2800" dirty="0" smtClean="0">
                <a:solidFill>
                  <a:srgbClr val="000000"/>
                </a:solidFill>
                <a:latin typeface="Calibri"/>
                <a:ea typeface="ＭＳ Ｐゴシック" charset="0"/>
                <a:cs typeface="Calibri"/>
              </a:rPr>
              <a:t>agent</a:t>
            </a:r>
            <a:endParaRPr lang="en-US" sz="2800" dirty="0">
              <a:solidFill>
                <a:srgbClr val="000000"/>
              </a:solidFill>
              <a:latin typeface="Calibri"/>
              <a:ea typeface="ＭＳ Ｐゴシック" charset="0"/>
              <a:cs typeface="Calibri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14F4CA-897D-214A-8D71-10AFFED61C52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34442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1320800"/>
            <a:ext cx="6750050" cy="3568700"/>
          </a:xfrm>
          <a:solidFill>
            <a:srgbClr val="0000FF"/>
          </a:solidFill>
          <a:effectLst>
            <a:glow rad="139700">
              <a:schemeClr val="accent5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139700" h="139700" prst="divot"/>
            <a:contourClr>
              <a:schemeClr val="accent5">
                <a:shade val="80000"/>
              </a:schemeClr>
            </a:contourClr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sz="5300" i="1" dirty="0" smtClean="0"/>
              <a:t>This is a social justice and social change movement</a:t>
            </a:r>
            <a:endParaRPr lang="en-US" sz="5300" i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0518C9-3CC7-7448-AD05-3CB269384775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997899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ownload-365x260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571500"/>
            <a:ext cx="2291861" cy="1632559"/>
          </a:xfrm>
          <a:prstGeom prst="rect">
            <a:avLst/>
          </a:prstGeom>
        </p:spPr>
      </p:pic>
      <p:pic>
        <p:nvPicPr>
          <p:cNvPr id="8" name="Picture 7" descr="Unknown.jpe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" y="5181600"/>
            <a:ext cx="1524000" cy="1524000"/>
          </a:xfrm>
          <a:prstGeom prst="rect">
            <a:avLst/>
          </a:prstGeom>
        </p:spPr>
      </p:pic>
      <p:pic>
        <p:nvPicPr>
          <p:cNvPr id="11" name="Picture 10" descr="SABE-board-20151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726" y="5181600"/>
            <a:ext cx="2441948" cy="1295400"/>
          </a:xfrm>
          <a:prstGeom prst="rect">
            <a:avLst/>
          </a:prstGeom>
        </p:spPr>
      </p:pic>
      <p:pic>
        <p:nvPicPr>
          <p:cNvPr id="12" name="Picture 11" descr="2014-03-30-CesarChavez.jp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5181600"/>
            <a:ext cx="2084517" cy="1397277"/>
          </a:xfrm>
          <a:prstGeom prst="rect">
            <a:avLst/>
          </a:prstGeom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1447800" y="2336800"/>
            <a:ext cx="6172200" cy="1066800"/>
          </a:xfrm>
          <a:solidFill>
            <a:srgbClr val="FFFF00"/>
          </a:solidFill>
          <a:effectLst>
            <a:glow rad="228600">
              <a:schemeClr val="accent4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</p:spPr>
        <p:txBody>
          <a:bodyPr/>
          <a:lstStyle/>
          <a:p>
            <a:pPr algn="ctr"/>
            <a:r>
              <a:rPr lang="en-US" b="1" dirty="0" smtClean="0"/>
              <a:t>Civil Rights Worker</a:t>
            </a:r>
            <a:endParaRPr lang="en-US" b="1" dirty="0"/>
          </a:p>
        </p:txBody>
      </p:sp>
      <p:pic>
        <p:nvPicPr>
          <p:cNvPr id="13" name="Picture 12" descr="Rosa-Parks-2107541x1.jp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00" y="3987960"/>
            <a:ext cx="2101026" cy="1401778"/>
          </a:xfrm>
          <a:prstGeom prst="rect">
            <a:avLst/>
          </a:prstGeom>
        </p:spPr>
      </p:pic>
      <p:pic>
        <p:nvPicPr>
          <p:cNvPr id="7" name="Picture 6" descr="gty_martin_luther_king_jr_ll_130115_wmain.jp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431800"/>
            <a:ext cx="2768600" cy="15573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BE299-D423-6340-A0CA-3205E805061E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3" name="Picture 2" descr="504.jpg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675" y="3277037"/>
            <a:ext cx="2406650" cy="160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776888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/>
          <p:cNvSpPr/>
          <p:nvPr/>
        </p:nvSpPr>
        <p:spPr>
          <a:xfrm>
            <a:off x="1168400" y="215900"/>
            <a:ext cx="7823200" cy="6451600"/>
          </a:xfrm>
          <a:prstGeom prst="cloud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</a:rPr>
              <a:t>Jobs and Community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06700" y="2038350"/>
            <a:ext cx="3987800" cy="2730500"/>
          </a:xfrm>
          <a:prstGeom prst="rect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Jobs and Community</a:t>
            </a:r>
            <a:endParaRPr lang="en-US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0518C9-3CC7-7448-AD05-3CB269384775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926042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4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6500" y="638176"/>
            <a:ext cx="749935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It’s not just about changing individual lives.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2908300"/>
            <a:ext cx="2537056" cy="2537056"/>
          </a:xfrm>
          <a:prstGeom prst="rect">
            <a:avLst/>
          </a:prstGeom>
        </p:spPr>
      </p:pic>
      <p:pic>
        <p:nvPicPr>
          <p:cNvPr id="6" name="Picture 5" descr="MC900036771.WM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3146656"/>
            <a:ext cx="2988310" cy="22987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0518C9-3CC7-7448-AD05-3CB269384775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275205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9" name="Text Box 3"/>
          <p:cNvSpPr txBox="1">
            <a:spLocks noChangeArrowheads="1"/>
          </p:cNvSpPr>
          <p:nvPr/>
        </p:nvSpPr>
        <p:spPr bwMode="auto">
          <a:xfrm>
            <a:off x="4876800" y="5586413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</a:t>
            </a:r>
            <a:r>
              <a:rPr lang="en-US" sz="2800" dirty="0"/>
              <a:t>Kay </a:t>
            </a:r>
            <a:r>
              <a:rPr lang="en-US" sz="2800" dirty="0" err="1"/>
              <a:t>Drais</a:t>
            </a:r>
            <a:r>
              <a:rPr lang="en-US" sz="2800" dirty="0"/>
              <a:t>, Parent</a:t>
            </a:r>
          </a:p>
        </p:txBody>
      </p:sp>
      <p:sp>
        <p:nvSpPr>
          <p:cNvPr id="219140" name="Rectangle 4"/>
          <p:cNvSpPr>
            <a:spLocks noChangeArrowheads="1"/>
          </p:cNvSpPr>
          <p:nvPr/>
        </p:nvSpPr>
        <p:spPr bwMode="auto">
          <a:xfrm>
            <a:off x="1358900" y="533400"/>
            <a:ext cx="7620000" cy="4897438"/>
          </a:xfrm>
          <a:prstGeom prst="rect">
            <a:avLst/>
          </a:prstGeom>
          <a:solidFill>
            <a:srgbClr val="006699"/>
          </a:solidFill>
          <a:ln w="57150" cmpd="thinThick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ja-JP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“</a:t>
            </a:r>
            <a:r>
              <a: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It is very clear to me now,</a:t>
            </a:r>
            <a:br>
              <a: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that the manner in which we interface with people with apparent disabilities</a:t>
            </a:r>
            <a:br>
              <a: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is far more reflective of our own personal capacities, than those of the person we interface with.</a:t>
            </a:r>
            <a:r>
              <a:rPr lang="ja-JP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  <a:r>
              <a: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endParaRPr lang="en-US" sz="36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1084606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55799" y="4914900"/>
            <a:ext cx="5880100" cy="707886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Comic Sans MS"/>
              </a:rPr>
              <a:t>Old habits die hard</a:t>
            </a:r>
            <a:endParaRPr lang="en-US" sz="4000" dirty="0">
              <a:latin typeface="Comic Sans MS"/>
            </a:endParaRPr>
          </a:p>
        </p:txBody>
      </p:sp>
      <p:pic>
        <p:nvPicPr>
          <p:cNvPr id="5" name="Picture 4" descr="custom_text_gap_12244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34" y="661432"/>
            <a:ext cx="5955865" cy="334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299297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0" y="1849438"/>
            <a:ext cx="1549400" cy="1782762"/>
          </a:xfrm>
          <a:ln/>
          <a:effectLst>
            <a:glow rad="228600">
              <a:schemeClr val="accent6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2200" b="1" dirty="0" smtClean="0">
                <a:latin typeface="Arial Narrow"/>
                <a:cs typeface="Arial Narrow"/>
              </a:rPr>
              <a:t>Typical employment in the general workforce</a:t>
            </a:r>
            <a:endParaRPr lang="en-US" sz="2200" b="1" dirty="0">
              <a:latin typeface="Arial Narrow"/>
              <a:cs typeface="Arial Narrow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3632200" y="3055940"/>
            <a:ext cx="0" cy="1312860"/>
          </a:xfrm>
          <a:prstGeom prst="line">
            <a:avLst/>
          </a:prstGeom>
          <a:ln w="7620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648200" y="1409700"/>
            <a:ext cx="25400" cy="1316039"/>
          </a:xfrm>
          <a:prstGeom prst="line">
            <a:avLst/>
          </a:prstGeom>
          <a:ln w="7620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5676900" y="3030539"/>
            <a:ext cx="0" cy="1312860"/>
          </a:xfrm>
          <a:prstGeom prst="line">
            <a:avLst/>
          </a:prstGeom>
          <a:ln w="7620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743200" y="1653988"/>
            <a:ext cx="25400" cy="1033652"/>
          </a:xfrm>
          <a:prstGeom prst="line">
            <a:avLst/>
          </a:prstGeom>
          <a:ln w="7620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984500" y="4369832"/>
            <a:ext cx="1409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Start an agency business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3943350" y="636370"/>
            <a:ext cx="1409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Create an enclave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1920875" y="308571"/>
            <a:ext cx="16446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Create a</a:t>
            </a:r>
            <a:br>
              <a:rPr lang="en-US" sz="2000" dirty="0" smtClean="0"/>
            </a:br>
            <a:r>
              <a:rPr lang="en-US" sz="2000" dirty="0" smtClean="0"/>
              <a:t>pre-vocational “program” </a:t>
            </a:r>
            <a:endParaRPr 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4984750" y="4354394"/>
            <a:ext cx="1409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Create a non-work “program”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0518C9-3CC7-7448-AD05-3CB269384775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6" name="Right Arrow 5"/>
          <p:cNvSpPr/>
          <p:nvPr/>
        </p:nvSpPr>
        <p:spPr>
          <a:xfrm>
            <a:off x="1219200" y="2497140"/>
            <a:ext cx="6070600" cy="711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9995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9" grpId="0"/>
      <p:bldP spid="11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ChangeArrowheads="1"/>
          </p:cNvSpPr>
          <p:nvPr/>
        </p:nvSpPr>
        <p:spPr bwMode="auto">
          <a:xfrm>
            <a:off x="1676400" y="1143000"/>
            <a:ext cx="6477000" cy="2492990"/>
          </a:xfrm>
          <a:prstGeom prst="rect">
            <a:avLst/>
          </a:prstGeom>
          <a:ln>
            <a:headEnd/>
            <a:tailEnd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  <a:ex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4400" b="1" dirty="0">
                <a:solidFill>
                  <a:schemeClr val="tx1"/>
                </a:solidFill>
                <a:latin typeface="Arial"/>
                <a:cs typeface="+mn-cs"/>
              </a:rPr>
              <a:t>“</a:t>
            </a:r>
            <a:r>
              <a:rPr lang="en-US" sz="4400" b="1" dirty="0">
                <a:solidFill>
                  <a:schemeClr val="tx1"/>
                </a:solidFill>
                <a:cs typeface="+mn-cs"/>
              </a:rPr>
              <a:t>What you do</a:t>
            </a:r>
            <a:br>
              <a:rPr lang="en-US" sz="4400" b="1" dirty="0">
                <a:solidFill>
                  <a:schemeClr val="tx1"/>
                </a:solidFill>
                <a:cs typeface="+mn-cs"/>
              </a:rPr>
            </a:br>
            <a:r>
              <a:rPr lang="en-US" sz="4400" b="1" dirty="0">
                <a:solidFill>
                  <a:schemeClr val="tx1"/>
                </a:solidFill>
                <a:cs typeface="+mn-cs"/>
              </a:rPr>
              <a:t>proves</a:t>
            </a:r>
            <a:br>
              <a:rPr lang="en-US" sz="4400" b="1" dirty="0">
                <a:solidFill>
                  <a:schemeClr val="tx1"/>
                </a:solidFill>
                <a:cs typeface="+mn-cs"/>
              </a:rPr>
            </a:br>
            <a:r>
              <a:rPr lang="en-US" sz="4400" b="1" dirty="0">
                <a:solidFill>
                  <a:schemeClr val="tx1"/>
                </a:solidFill>
                <a:cs typeface="+mn-cs"/>
              </a:rPr>
              <a:t>what you believe.</a:t>
            </a:r>
            <a:r>
              <a:rPr lang="ja-JP" altLang="en-US" sz="4400" b="1" dirty="0">
                <a:solidFill>
                  <a:schemeClr val="tx1"/>
                </a:solidFill>
                <a:latin typeface="Arial"/>
                <a:cs typeface="+mn-cs"/>
              </a:rPr>
              <a:t>”</a:t>
            </a:r>
            <a:endParaRPr lang="en-US" sz="2400" b="1" dirty="0">
              <a:solidFill>
                <a:schemeClr val="tx1"/>
              </a:solidFill>
              <a:cs typeface="+mn-cs"/>
            </a:endParaRPr>
          </a:p>
          <a:p>
            <a:pPr>
              <a:defRPr/>
            </a:pPr>
            <a:r>
              <a:rPr lang="en-US" sz="2400" b="1" dirty="0">
                <a:solidFill>
                  <a:schemeClr val="tx1"/>
                </a:solidFill>
                <a:cs typeface="+mn-cs"/>
              </a:rPr>
              <a:t>                                         </a:t>
            </a:r>
            <a:endParaRPr lang="en-US" sz="2400" b="1" i="1" dirty="0">
              <a:solidFill>
                <a:schemeClr val="tx1"/>
              </a:solidFill>
              <a:cs typeface="+mn-cs"/>
            </a:endParaRPr>
          </a:p>
        </p:txBody>
      </p:sp>
      <p:sp>
        <p:nvSpPr>
          <p:cNvPr id="328707" name="Text Box 3"/>
          <p:cNvSpPr txBox="1">
            <a:spLocks noChangeArrowheads="1"/>
          </p:cNvSpPr>
          <p:nvPr/>
        </p:nvSpPr>
        <p:spPr bwMode="auto">
          <a:xfrm>
            <a:off x="5410200" y="5105400"/>
            <a:ext cx="5029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  <a:defRPr/>
            </a:pPr>
            <a:r>
              <a:rPr lang="en-US" sz="3200" b="1" dirty="0">
                <a:solidFill>
                  <a:schemeClr val="tx1"/>
                </a:solidFill>
                <a:cs typeface="+mn-cs"/>
              </a:rPr>
              <a:t> </a:t>
            </a:r>
            <a:r>
              <a:rPr lang="en-US" sz="3200" dirty="0">
                <a:solidFill>
                  <a:schemeClr val="tx1"/>
                </a:solidFill>
                <a:latin typeface="+mn-lt"/>
                <a:cs typeface="+mn-cs"/>
              </a:rPr>
              <a:t>Simon </a:t>
            </a:r>
            <a:r>
              <a:rPr lang="en-US" sz="3200" dirty="0" err="1">
                <a:solidFill>
                  <a:schemeClr val="tx1"/>
                </a:solidFill>
                <a:latin typeface="+mn-lt"/>
                <a:cs typeface="+mn-cs"/>
              </a:rPr>
              <a:t>Sinek</a:t>
            </a:r>
            <a:endParaRPr lang="en-US" sz="3200" dirty="0">
              <a:solidFill>
                <a:schemeClr val="tx1"/>
              </a:solidFill>
              <a:latin typeface="+mn-lt"/>
              <a:cs typeface="+mn-cs"/>
            </a:endParaRPr>
          </a:p>
        </p:txBody>
      </p:sp>
      <p:pic>
        <p:nvPicPr>
          <p:cNvPr id="15365" name="Picture 1" descr="Unknown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4419600"/>
            <a:ext cx="3128963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4177949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ChangeArrowheads="1"/>
          </p:cNvSpPr>
          <p:nvPr/>
        </p:nvSpPr>
        <p:spPr bwMode="auto">
          <a:xfrm>
            <a:off x="1231900" y="3294727"/>
            <a:ext cx="7607300" cy="2554545"/>
          </a:xfrm>
          <a:prstGeom prst="rect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ja-JP" altLang="en-US" sz="4000" b="1" dirty="0">
                <a:solidFill>
                  <a:schemeClr val="tx1"/>
                </a:solidFill>
                <a:latin typeface="+mn-lt"/>
                <a:cs typeface="+mn-cs"/>
              </a:rPr>
              <a:t>“</a:t>
            </a:r>
            <a:r>
              <a:rPr lang="en-US" sz="4000" b="1" dirty="0">
                <a:solidFill>
                  <a:schemeClr val="tx1"/>
                </a:solidFill>
                <a:latin typeface="+mn-lt"/>
                <a:cs typeface="+mn-cs"/>
              </a:rPr>
              <a:t>Martin Luther King gave the</a:t>
            </a:r>
            <a:br>
              <a:rPr lang="en-US" sz="4000" b="1" dirty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US" sz="4000" b="1" i="1" dirty="0">
                <a:solidFill>
                  <a:schemeClr val="tx1"/>
                </a:solidFill>
                <a:latin typeface="+mn-lt"/>
                <a:cs typeface="+mn-cs"/>
              </a:rPr>
              <a:t>‘I Have a Dream’ </a:t>
            </a:r>
            <a:r>
              <a:rPr lang="en-US" sz="4000" b="1" dirty="0">
                <a:solidFill>
                  <a:schemeClr val="tx1"/>
                </a:solidFill>
                <a:latin typeface="+mn-lt"/>
                <a:cs typeface="+mn-cs"/>
              </a:rPr>
              <a:t>speech,</a:t>
            </a:r>
            <a:br>
              <a:rPr lang="en-US" sz="4000" b="1" dirty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US" sz="4000" b="1" dirty="0">
                <a:solidFill>
                  <a:schemeClr val="tx1"/>
                </a:solidFill>
                <a:latin typeface="+mn-lt"/>
                <a:cs typeface="+mn-cs"/>
              </a:rPr>
              <a:t>not the</a:t>
            </a:r>
            <a:br>
              <a:rPr lang="en-US" sz="4000" b="1" dirty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US" sz="4000" b="1" i="1" dirty="0">
                <a:solidFill>
                  <a:schemeClr val="tx1"/>
                </a:solidFill>
                <a:latin typeface="+mn-lt"/>
                <a:cs typeface="+mn-cs"/>
              </a:rPr>
              <a:t>‘I Have a Plan’</a:t>
            </a:r>
            <a:r>
              <a:rPr lang="en-US" sz="4000" b="1" dirty="0">
                <a:solidFill>
                  <a:schemeClr val="tx1"/>
                </a:solidFill>
                <a:latin typeface="+mn-lt"/>
                <a:cs typeface="+mn-cs"/>
              </a:rPr>
              <a:t> speech.</a:t>
            </a:r>
            <a:r>
              <a:rPr lang="ja-JP" altLang="en-US" sz="4000" b="1" dirty="0">
                <a:solidFill>
                  <a:schemeClr val="tx1"/>
                </a:solidFill>
                <a:latin typeface="+mn-lt"/>
                <a:cs typeface="+mn-cs"/>
              </a:rPr>
              <a:t>”</a:t>
            </a:r>
            <a:r>
              <a:rPr lang="en-US" sz="4000" b="1" dirty="0">
                <a:solidFill>
                  <a:schemeClr val="tx1"/>
                </a:solidFill>
                <a:latin typeface="+mn-lt"/>
                <a:cs typeface="+mn-cs"/>
              </a:rPr>
              <a:t> </a:t>
            </a:r>
          </a:p>
        </p:txBody>
      </p:sp>
      <p:sp>
        <p:nvSpPr>
          <p:cNvPr id="328707" name="Text Box 3"/>
          <p:cNvSpPr txBox="1">
            <a:spLocks noChangeArrowheads="1"/>
          </p:cNvSpPr>
          <p:nvPr/>
        </p:nvSpPr>
        <p:spPr bwMode="auto">
          <a:xfrm>
            <a:off x="4267200" y="6019800"/>
            <a:ext cx="41910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  <a:defRPr/>
            </a:pPr>
            <a:r>
              <a:rPr lang="en-US" sz="3200" dirty="0">
                <a:solidFill>
                  <a:schemeClr val="tx1"/>
                </a:solidFill>
                <a:cs typeface="+mn-cs"/>
              </a:rPr>
              <a:t> </a:t>
            </a:r>
            <a:r>
              <a:rPr lang="en-US" sz="3200" dirty="0">
                <a:solidFill>
                  <a:schemeClr val="tx1"/>
                </a:solidFill>
                <a:latin typeface="+mn-lt"/>
                <a:cs typeface="+mn-cs"/>
              </a:rPr>
              <a:t>Simon </a:t>
            </a:r>
            <a:r>
              <a:rPr lang="en-US" sz="3200" dirty="0" err="1">
                <a:solidFill>
                  <a:schemeClr val="tx1"/>
                </a:solidFill>
                <a:latin typeface="+mn-lt"/>
                <a:cs typeface="+mn-cs"/>
              </a:rPr>
              <a:t>Sinek</a:t>
            </a:r>
            <a:endParaRPr lang="en-US" sz="3200" dirty="0">
              <a:solidFill>
                <a:schemeClr val="tx1"/>
              </a:solidFill>
              <a:latin typeface="+mn-lt"/>
              <a:cs typeface="+mn-cs"/>
            </a:endParaRPr>
          </a:p>
        </p:txBody>
      </p:sp>
      <p:pic>
        <p:nvPicPr>
          <p:cNvPr id="15363" name="Picture 1" descr="i-have-a-dream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81000"/>
            <a:ext cx="403860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1" descr="Unknown.jpe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6019800"/>
            <a:ext cx="1300163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8387146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1450" y="1036638"/>
            <a:ext cx="7499350" cy="11430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en-US" sz="4400" dirty="0" smtClean="0"/>
              <a:t>Do you want a program?</a:t>
            </a:r>
            <a:endParaRPr lang="en-US" sz="44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441450" y="3525838"/>
            <a:ext cx="7499350" cy="1143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300" b="1" kern="1200">
                <a:solidFill>
                  <a:srgbClr val="41536B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41536B"/>
                </a:solidFill>
                <a:latin typeface="Gill Sans MT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41536B"/>
                </a:solidFill>
                <a:latin typeface="Gill Sans MT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41536B"/>
                </a:solidFill>
                <a:latin typeface="Gill Sans MT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300">
                <a:solidFill>
                  <a:srgbClr val="41536B"/>
                </a:solidFill>
                <a:latin typeface="Gill Sans MT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41536B"/>
                </a:solidFill>
                <a:latin typeface="Gill Sans MT" charset="0"/>
                <a:ea typeface="ＭＳ Ｐゴシック" charset="0"/>
                <a:cs typeface="ＭＳ Ｐゴシック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41536B"/>
                </a:solidFill>
                <a:latin typeface="Gill Sans MT" charset="0"/>
                <a:ea typeface="ＭＳ Ｐゴシック" charset="0"/>
                <a:cs typeface="ＭＳ Ｐゴシック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41536B"/>
                </a:solidFill>
                <a:latin typeface="Gill Sans MT" charset="0"/>
                <a:ea typeface="ＭＳ Ｐゴシック" charset="0"/>
                <a:cs typeface="ＭＳ Ｐゴシック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41536B"/>
                </a:solidFill>
                <a:latin typeface="Gill Sans MT" charset="0"/>
                <a:ea typeface="ＭＳ Ｐゴシック" charset="0"/>
                <a:cs typeface="ＭＳ Ｐゴシック" charset="0"/>
              </a:defRPr>
            </a:lvl9pPr>
            <a:extLst/>
          </a:lstStyle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Or do you want a job?</a:t>
            </a:r>
            <a:endParaRPr 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438293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0" y="0"/>
            <a:ext cx="7499350" cy="993776"/>
          </a:xfrm>
        </p:spPr>
        <p:txBody>
          <a:bodyPr/>
          <a:lstStyle/>
          <a:p>
            <a:r>
              <a:rPr lang="en-US" dirty="0" smtClean="0"/>
              <a:t>What’s your response?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6900" y="1076328"/>
            <a:ext cx="7188200" cy="5410200"/>
          </a:xfrm>
        </p:spPr>
        <p:txBody>
          <a:bodyPr/>
          <a:lstStyle/>
          <a:p>
            <a:pPr>
              <a:spcBef>
                <a:spcPts val="2400"/>
              </a:spcBef>
            </a:pPr>
            <a:r>
              <a:rPr lang="en-US" sz="3600" dirty="0"/>
              <a:t>D</a:t>
            </a:r>
            <a:r>
              <a:rPr lang="en-US" sz="3600" dirty="0" smtClean="0"/>
              <a:t>on’t want to work</a:t>
            </a:r>
          </a:p>
          <a:p>
            <a:pPr>
              <a:spcBef>
                <a:spcPts val="2400"/>
              </a:spcBef>
            </a:pPr>
            <a:r>
              <a:rPr lang="en-US" sz="3600" dirty="0"/>
              <a:t>O</a:t>
            </a:r>
            <a:r>
              <a:rPr lang="en-US" sz="3600" dirty="0" smtClean="0"/>
              <a:t>nly want to work a few hours</a:t>
            </a:r>
          </a:p>
          <a:p>
            <a:pPr>
              <a:spcBef>
                <a:spcPts val="2400"/>
              </a:spcBef>
            </a:pPr>
            <a:r>
              <a:rPr lang="en-US" sz="3600" dirty="0"/>
              <a:t>C</a:t>
            </a:r>
            <a:r>
              <a:rPr lang="en-US" sz="3600" dirty="0" smtClean="0"/>
              <a:t>an’t work because of benefits</a:t>
            </a:r>
          </a:p>
          <a:p>
            <a:pPr>
              <a:spcBef>
                <a:spcPts val="2400"/>
              </a:spcBef>
            </a:pPr>
            <a:r>
              <a:rPr lang="en-US" sz="3600" dirty="0"/>
              <a:t>B</a:t>
            </a:r>
            <a:r>
              <a:rPr lang="en-US" sz="3600" dirty="0" smtClean="0"/>
              <a:t>etter off in a day program</a:t>
            </a:r>
          </a:p>
          <a:p>
            <a:pPr>
              <a:spcBef>
                <a:spcPts val="2400"/>
              </a:spcBef>
            </a:pPr>
            <a:r>
              <a:rPr lang="en-US" sz="3600" dirty="0"/>
              <a:t>H</a:t>
            </a:r>
            <a:r>
              <a:rPr lang="en-US" sz="3600" dirty="0" smtClean="0"/>
              <a:t>appy in sheltered work</a:t>
            </a:r>
          </a:p>
          <a:p>
            <a:pPr>
              <a:spcBef>
                <a:spcPts val="2400"/>
              </a:spcBef>
            </a:pPr>
            <a:r>
              <a:rPr lang="en-US" sz="3600" dirty="0" smtClean="0"/>
              <a:t>Person isn’t work ready</a:t>
            </a:r>
          </a:p>
          <a:p>
            <a:pPr>
              <a:spcBef>
                <a:spcPts val="2400"/>
              </a:spcBef>
            </a:pPr>
            <a:r>
              <a:rPr lang="en-US" sz="3600" dirty="0" smtClean="0"/>
              <a:t>Individual loses a job</a:t>
            </a:r>
          </a:p>
        </p:txBody>
      </p:sp>
      <p:pic>
        <p:nvPicPr>
          <p:cNvPr id="5" name="Picture 4" descr="MC900078622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76" y="3327400"/>
            <a:ext cx="1412724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152492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0" y="0"/>
            <a:ext cx="7499350" cy="993776"/>
          </a:xfrm>
        </p:spPr>
        <p:txBody>
          <a:bodyPr/>
          <a:lstStyle/>
          <a:p>
            <a:r>
              <a:rPr lang="en-US" dirty="0" smtClean="0"/>
              <a:t>What’s your response?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038228"/>
            <a:ext cx="8001000" cy="5527672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sz="3600" dirty="0" smtClean="0"/>
              <a:t>Production rate is too slow</a:t>
            </a:r>
          </a:p>
          <a:p>
            <a:pPr>
              <a:spcBef>
                <a:spcPts val="1800"/>
              </a:spcBef>
            </a:pPr>
            <a:r>
              <a:rPr lang="en-US" sz="3600" dirty="0" smtClean="0"/>
              <a:t>Service provider:  </a:t>
            </a:r>
            <a:r>
              <a:rPr lang="en-US" sz="3600" i="1" dirty="0" smtClean="0"/>
              <a:t>Let’s start a business.</a:t>
            </a:r>
          </a:p>
          <a:p>
            <a:pPr>
              <a:spcBef>
                <a:spcPts val="1800"/>
              </a:spcBef>
            </a:pPr>
            <a:r>
              <a:rPr lang="en-US" sz="3600" dirty="0" smtClean="0"/>
              <a:t>Let’s create an enclave</a:t>
            </a:r>
          </a:p>
          <a:p>
            <a:pPr>
              <a:spcBef>
                <a:spcPts val="1800"/>
              </a:spcBef>
            </a:pPr>
            <a:r>
              <a:rPr lang="en-US" sz="3600" dirty="0"/>
              <a:t>N</a:t>
            </a:r>
            <a:r>
              <a:rPr lang="en-US" sz="3600" dirty="0" smtClean="0"/>
              <a:t>o jobs</a:t>
            </a:r>
          </a:p>
          <a:p>
            <a:pPr>
              <a:spcBef>
                <a:spcPts val="1800"/>
              </a:spcBef>
            </a:pPr>
            <a:r>
              <a:rPr lang="en-US" sz="3600" dirty="0" smtClean="0"/>
              <a:t>Business:  </a:t>
            </a:r>
            <a:r>
              <a:rPr lang="en-US" sz="3600" i="1" dirty="0" smtClean="0"/>
              <a:t>We have no openings.</a:t>
            </a:r>
          </a:p>
          <a:p>
            <a:pPr>
              <a:spcBef>
                <a:spcPts val="1800"/>
              </a:spcBef>
            </a:pPr>
            <a:r>
              <a:rPr lang="en-US" sz="3600" dirty="0"/>
              <a:t>P</a:t>
            </a:r>
            <a:r>
              <a:rPr lang="en-US" sz="3600" dirty="0" smtClean="0"/>
              <a:t>rovider not finding jobs</a:t>
            </a:r>
          </a:p>
          <a:p>
            <a:pPr>
              <a:spcBef>
                <a:spcPts val="1800"/>
              </a:spcBef>
            </a:pPr>
            <a:r>
              <a:rPr lang="en-US" sz="3600" dirty="0" smtClean="0"/>
              <a:t>Too disabled to work</a:t>
            </a:r>
          </a:p>
          <a:p>
            <a:endParaRPr lang="en-US" dirty="0"/>
          </a:p>
        </p:txBody>
      </p:sp>
      <p:pic>
        <p:nvPicPr>
          <p:cNvPr id="7" name="Picture 6" descr="MC900078711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635" y="3657600"/>
            <a:ext cx="1191465" cy="29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875302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0518C9-3CC7-7448-AD05-3CB269384775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pic>
        <p:nvPicPr>
          <p:cNvPr id="5" name="Picture 4" descr="busniess_man_telescope_800_wht_12212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449" y="2921000"/>
            <a:ext cx="2736342" cy="3860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585431" y="630535"/>
            <a:ext cx="6201750" cy="1754327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Trends and </a:t>
            </a:r>
          </a:p>
          <a:p>
            <a:pPr algn="ctr"/>
            <a:r>
              <a:rPr lang="en-US" sz="54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Opportunities</a:t>
            </a:r>
            <a:endParaRPr lang="en-US" sz="54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49050223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APPS:</a:t>
            </a:r>
            <a:br>
              <a:rPr lang="en-US" b="1" dirty="0" smtClean="0"/>
            </a:br>
            <a:r>
              <a:rPr lang="en-US" dirty="0" smtClean="0"/>
              <a:t>The New Revolution in Job Supports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0518C9-3CC7-7448-AD05-3CB269384775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pic>
        <p:nvPicPr>
          <p:cNvPr id="5" name="Picture 4" descr="mobile-apps-pile-ss-1920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0" y="2197099"/>
            <a:ext cx="3124200" cy="1757363"/>
          </a:xfrm>
          <a:prstGeom prst="rect">
            <a:avLst/>
          </a:prstGeom>
        </p:spPr>
      </p:pic>
      <p:pic>
        <p:nvPicPr>
          <p:cNvPr id="6" name="Picture 5" descr="smartphones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100" y="3954462"/>
            <a:ext cx="3492504" cy="222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475715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625" y="2736850"/>
            <a:ext cx="7880350" cy="1123950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/>
              <a:t>Expand Boundaries of</a:t>
            </a:r>
            <a:br>
              <a:rPr lang="en-US" sz="3600" dirty="0" smtClean="0"/>
            </a:br>
            <a:r>
              <a:rPr lang="en-US" sz="3600" dirty="0" smtClean="0"/>
              <a:t>Industry-Based Credential Training for Skill Enhancement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0518C9-3CC7-7448-AD05-3CB269384775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pic>
        <p:nvPicPr>
          <p:cNvPr id="5" name="Picture 4" descr="Classroom-Landing-Combo-Pic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633" y="349250"/>
            <a:ext cx="2582333" cy="1936750"/>
          </a:xfrm>
          <a:prstGeom prst="rect">
            <a:avLst/>
          </a:prstGeom>
        </p:spPr>
      </p:pic>
      <p:pic>
        <p:nvPicPr>
          <p:cNvPr id="7" name="Picture 6" descr="handywoman_jack_of_all_trades_800_wht_17789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625" y="4606788"/>
            <a:ext cx="1581150" cy="2108200"/>
          </a:xfrm>
          <a:prstGeom prst="rect">
            <a:avLst/>
          </a:prstGeom>
        </p:spPr>
      </p:pic>
      <p:pic>
        <p:nvPicPr>
          <p:cNvPr id="8" name="Picture 7" descr="too_many_cooks_800_wht_5294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900" y="4514850"/>
            <a:ext cx="1612900" cy="1612900"/>
          </a:xfrm>
          <a:prstGeom prst="rect">
            <a:avLst/>
          </a:prstGeom>
        </p:spPr>
      </p:pic>
      <p:pic>
        <p:nvPicPr>
          <p:cNvPr id="9" name="Picture 8" descr="mechanic_tire_tools_800_wht_4824.jp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4927600"/>
            <a:ext cx="1651000" cy="1651000"/>
          </a:xfrm>
          <a:prstGeom prst="rect">
            <a:avLst/>
          </a:prstGeom>
        </p:spPr>
      </p:pic>
      <p:pic>
        <p:nvPicPr>
          <p:cNvPr id="10" name="Picture 9" descr="female_nurse_arms_folded_800_wht_17725.jpg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240"/>
          <a:stretch/>
        </p:blipFill>
        <p:spPr>
          <a:xfrm>
            <a:off x="3015972" y="4606788"/>
            <a:ext cx="1670328" cy="197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8033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5588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New support models: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079500"/>
            <a:ext cx="7315200" cy="4876800"/>
          </a:xfrm>
        </p:spPr>
        <p:txBody>
          <a:bodyPr/>
          <a:lstStyle/>
          <a:p>
            <a:r>
              <a:rPr lang="en-US" sz="3200" dirty="0" smtClean="0"/>
              <a:t>Embedded job coaches</a:t>
            </a:r>
            <a:br>
              <a:rPr lang="en-US" sz="3200" dirty="0" smtClean="0"/>
            </a:br>
            <a:endParaRPr lang="en-US" sz="3200" dirty="0" smtClean="0"/>
          </a:p>
          <a:p>
            <a:r>
              <a:rPr lang="en-US" sz="3200" dirty="0" smtClean="0"/>
              <a:t>Compensating employers for supports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0518C9-3CC7-7448-AD05-3CB269384775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pic>
        <p:nvPicPr>
          <p:cNvPr id="5" name="Picture 4" descr="submin2-work-v2-art0-gnqcnq8a-1submin-10-crr4-jpg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445" y="3018542"/>
            <a:ext cx="5750455" cy="366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409401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rystal_ball_fortune_800_wht_59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400" y="807910"/>
            <a:ext cx="3886200" cy="59218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67399" y="1460500"/>
            <a:ext cx="259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bg1"/>
                </a:solidFill>
                <a:latin typeface="Comic Sans MS"/>
                <a:cs typeface="Comic Sans MS"/>
              </a:rPr>
              <a:t>Federal Policy: </a:t>
            </a:r>
            <a:r>
              <a:rPr lang="en-US" sz="3600" i="1" dirty="0" smtClean="0">
                <a:solidFill>
                  <a:schemeClr val="bg1"/>
                </a:solidFill>
                <a:latin typeface="Comic Sans MS"/>
                <a:cs typeface="Comic Sans MS"/>
              </a:rPr>
              <a:t>Murky </a:t>
            </a:r>
            <a:r>
              <a:rPr lang="en-US" sz="3600" i="1" dirty="0" smtClean="0">
                <a:solidFill>
                  <a:schemeClr val="bg1"/>
                </a:solidFill>
                <a:latin typeface="Comic Sans MS"/>
                <a:cs typeface="Comic Sans MS"/>
              </a:rPr>
              <a:t>Future</a:t>
            </a:r>
            <a:endParaRPr lang="en-US" sz="3600" i="1" dirty="0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  <p:pic>
        <p:nvPicPr>
          <p:cNvPr id="3" name="Picture 2" descr="IMG_0509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033" y="508000"/>
            <a:ext cx="3437466" cy="25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553343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 descr="bridge_of_uncertainty_800_clr_19669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5" b="1115"/>
          <a:stretch>
            <a:fillRect/>
          </a:stretch>
        </p:blipFill>
        <p:spPr>
          <a:xfrm>
            <a:off x="2133600" y="533401"/>
            <a:ext cx="5140480" cy="2827066"/>
          </a:xfrm>
          <a:prstGeom prst="rect">
            <a:avLst/>
          </a:prstGeom>
        </p:spPr>
      </p:pic>
      <p:pic>
        <p:nvPicPr>
          <p:cNvPr id="4" name="Picture 3" descr="medicaid-logo-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352800"/>
            <a:ext cx="5142932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89889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4300" y="3352800"/>
            <a:ext cx="7061200" cy="3225800"/>
          </a:xfrm>
        </p:spPr>
        <p:txBody>
          <a:bodyPr/>
          <a:lstStyle/>
          <a:p>
            <a:r>
              <a:rPr lang="en-US" sz="2800" b="1" i="1" dirty="0" smtClean="0"/>
              <a:t>Proposed cuts to discretionary</a:t>
            </a:r>
            <a:br>
              <a:rPr lang="en-US" sz="2800" b="1" i="1" dirty="0" smtClean="0"/>
            </a:br>
            <a:r>
              <a:rPr lang="en-US" sz="2800" b="1" i="1" dirty="0" smtClean="0"/>
              <a:t>programs and Social Security benefits</a:t>
            </a:r>
          </a:p>
          <a:p>
            <a:r>
              <a:rPr lang="en-US" sz="2800" b="1" i="1" dirty="0" smtClean="0"/>
              <a:t>Tax cut proposals</a:t>
            </a:r>
          </a:p>
          <a:p>
            <a:r>
              <a:rPr lang="en-US" sz="2800" b="1" i="1" dirty="0" smtClean="0"/>
              <a:t>Efforts to eliminate regulations</a:t>
            </a:r>
          </a:p>
          <a:p>
            <a:r>
              <a:rPr lang="en-US" sz="2800" b="1" i="1" dirty="0" smtClean="0"/>
              <a:t>Few undersecretary/commissioner appointments to date</a:t>
            </a:r>
            <a:endParaRPr lang="en-US" sz="2800" b="1" i="1" dirty="0"/>
          </a:p>
        </p:txBody>
      </p:sp>
      <p:pic>
        <p:nvPicPr>
          <p:cNvPr id="4" name="Picture 3" descr="scissors_clipping_hundred_dollar_bill_800_wht_2296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270" y="4305300"/>
            <a:ext cx="1596571" cy="1397000"/>
          </a:xfrm>
          <a:prstGeom prst="rect">
            <a:avLst/>
          </a:prstGeom>
        </p:spPr>
      </p:pic>
      <p:pic>
        <p:nvPicPr>
          <p:cNvPr id="2" name="Picture 1" descr="custom_text_gap_1224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774" y="398526"/>
            <a:ext cx="6205826" cy="348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823149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ChangeArrowheads="1"/>
          </p:cNvSpPr>
          <p:nvPr/>
        </p:nvSpPr>
        <p:spPr bwMode="auto">
          <a:xfrm>
            <a:off x="1295400" y="762000"/>
            <a:ext cx="7162800" cy="3170099"/>
          </a:xfrm>
          <a:prstGeom prst="rect">
            <a:avLst/>
          </a:prstGeom>
          <a:solidFill>
            <a:srgbClr val="000090"/>
          </a:solidFill>
          <a:ln>
            <a:solidFill>
              <a:srgbClr val="000090"/>
            </a:solidFill>
            <a:headEnd/>
            <a:tailEnd/>
          </a:ln>
          <a:ex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4400" b="1" i="1" dirty="0">
                <a:solidFill>
                  <a:schemeClr val="bg1"/>
                </a:solidFill>
                <a:latin typeface="Arial"/>
                <a:cs typeface="+mn-cs"/>
              </a:rPr>
              <a:t>“</a:t>
            </a:r>
            <a:r>
              <a:rPr lang="en-US" sz="4400" b="1" i="1" dirty="0">
                <a:solidFill>
                  <a:schemeClr val="bg1"/>
                </a:solidFill>
                <a:cs typeface="+mn-cs"/>
              </a:rPr>
              <a:t>We must accept finite </a:t>
            </a:r>
            <a:r>
              <a:rPr lang="en-US" sz="4400" b="1" i="1" dirty="0" smtClean="0">
                <a:solidFill>
                  <a:schemeClr val="bg1"/>
                </a:solidFill>
                <a:cs typeface="+mn-cs"/>
              </a:rPr>
              <a:t>disappointment,</a:t>
            </a:r>
            <a:br>
              <a:rPr lang="en-US" sz="4400" b="1" i="1" dirty="0" smtClean="0">
                <a:solidFill>
                  <a:schemeClr val="bg1"/>
                </a:solidFill>
                <a:cs typeface="+mn-cs"/>
              </a:rPr>
            </a:br>
            <a:r>
              <a:rPr lang="en-US" sz="4400" b="1" i="1" dirty="0" smtClean="0">
                <a:solidFill>
                  <a:schemeClr val="bg1"/>
                </a:solidFill>
                <a:cs typeface="+mn-cs"/>
              </a:rPr>
              <a:t>but </a:t>
            </a:r>
            <a:r>
              <a:rPr lang="en-US" sz="4400" b="1" i="1" dirty="0">
                <a:solidFill>
                  <a:schemeClr val="bg1"/>
                </a:solidFill>
                <a:cs typeface="+mn-cs"/>
              </a:rPr>
              <a:t>never lose infinite hope.</a:t>
            </a:r>
            <a:r>
              <a:rPr lang="ja-JP" altLang="en-US" sz="4400" b="1" i="1" dirty="0">
                <a:solidFill>
                  <a:schemeClr val="bg1"/>
                </a:solidFill>
                <a:latin typeface="Arial"/>
                <a:cs typeface="+mn-cs"/>
              </a:rPr>
              <a:t>”</a:t>
            </a:r>
            <a:endParaRPr lang="en-US" sz="4400" b="1" i="1" dirty="0">
              <a:solidFill>
                <a:schemeClr val="bg1"/>
              </a:solidFill>
              <a:cs typeface="+mn-cs"/>
            </a:endParaRPr>
          </a:p>
          <a:p>
            <a:pPr>
              <a:defRPr/>
            </a:pPr>
            <a:r>
              <a:rPr lang="en-US" sz="2400" dirty="0">
                <a:solidFill>
                  <a:schemeClr val="tx1"/>
                </a:solidFill>
                <a:cs typeface="+mn-cs"/>
              </a:rPr>
              <a:t>     </a:t>
            </a:r>
          </a:p>
        </p:txBody>
      </p:sp>
      <p:sp>
        <p:nvSpPr>
          <p:cNvPr id="328707" name="Text Box 3"/>
          <p:cNvSpPr txBox="1">
            <a:spLocks noChangeArrowheads="1"/>
          </p:cNvSpPr>
          <p:nvPr/>
        </p:nvSpPr>
        <p:spPr bwMode="auto">
          <a:xfrm>
            <a:off x="3657600" y="5029200"/>
            <a:ext cx="5029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+mn-cs"/>
              </a:rPr>
              <a:t> Martin Luther King, Jr.</a:t>
            </a:r>
          </a:p>
        </p:txBody>
      </p:sp>
      <p:pic>
        <p:nvPicPr>
          <p:cNvPr id="5123" name="Picture 5" descr="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230688"/>
            <a:ext cx="2133600" cy="185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014563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ChangeArrowheads="1"/>
          </p:cNvSpPr>
          <p:nvPr/>
        </p:nvSpPr>
        <p:spPr bwMode="auto">
          <a:xfrm>
            <a:off x="1320800" y="1231900"/>
            <a:ext cx="7553325" cy="4347343"/>
          </a:xfrm>
          <a:prstGeom prst="rect">
            <a:avLst/>
          </a:prstGeom>
          <a:ln/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39700" h="139700" prst="divot"/>
          </a:sp3d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87" tIns="44450" rIns="90487" bIns="4445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4400" b="0" dirty="0">
                <a:solidFill>
                  <a:schemeClr val="tx1"/>
                </a:solidFill>
                <a:latin typeface="Century Gothic" charset="0"/>
                <a:ea typeface="Osaka" charset="0"/>
                <a:cs typeface="Osaka" charset="0"/>
              </a:rPr>
              <a:t>“</a:t>
            </a:r>
            <a:r>
              <a:rPr lang="en-US" altLang="ja-JP" sz="4400" b="0" dirty="0">
                <a:solidFill>
                  <a:schemeClr val="tx1"/>
                </a:solidFill>
                <a:latin typeface="Century Gothic" charset="0"/>
                <a:ea typeface="Osaka" charset="0"/>
                <a:cs typeface="Osaka" charset="0"/>
              </a:rPr>
              <a:t>When you are born in a world you don</a:t>
            </a:r>
            <a:r>
              <a:rPr lang="en-US" sz="4400" b="0" dirty="0">
                <a:solidFill>
                  <a:schemeClr val="tx1"/>
                </a:solidFill>
                <a:latin typeface="Century Gothic" charset="0"/>
                <a:ea typeface="Osaka" charset="0"/>
                <a:cs typeface="Osaka" charset="0"/>
              </a:rPr>
              <a:t>’</a:t>
            </a:r>
            <a:r>
              <a:rPr lang="en-US" altLang="ja-JP" sz="4400" b="0" dirty="0">
                <a:solidFill>
                  <a:schemeClr val="tx1"/>
                </a:solidFill>
                <a:latin typeface="Century Gothic" charset="0"/>
                <a:ea typeface="Osaka" charset="0"/>
                <a:cs typeface="Osaka" charset="0"/>
              </a:rPr>
              <a:t>t fit in,</a:t>
            </a:r>
            <a:br>
              <a:rPr lang="en-US" altLang="ja-JP" sz="4400" b="0" dirty="0">
                <a:solidFill>
                  <a:schemeClr val="tx1"/>
                </a:solidFill>
                <a:latin typeface="Century Gothic" charset="0"/>
                <a:ea typeface="Osaka" charset="0"/>
                <a:cs typeface="Osaka" charset="0"/>
              </a:rPr>
            </a:br>
            <a:r>
              <a:rPr lang="en-US" altLang="ja-JP" sz="4400" b="0" dirty="0">
                <a:solidFill>
                  <a:schemeClr val="tx1"/>
                </a:solidFill>
                <a:latin typeface="Century Gothic" charset="0"/>
                <a:ea typeface="Osaka" charset="0"/>
                <a:cs typeface="Osaka" charset="0"/>
              </a:rPr>
              <a:t>it</a:t>
            </a:r>
            <a:r>
              <a:rPr lang="en-US" sz="4400" b="0" dirty="0">
                <a:solidFill>
                  <a:schemeClr val="tx1"/>
                </a:solidFill>
                <a:latin typeface="Century Gothic" charset="0"/>
                <a:ea typeface="Osaka" charset="0"/>
                <a:cs typeface="Osaka" charset="0"/>
              </a:rPr>
              <a:t>’</a:t>
            </a:r>
            <a:r>
              <a:rPr lang="en-US" altLang="ja-JP" sz="4400" b="0" dirty="0">
                <a:solidFill>
                  <a:schemeClr val="tx1"/>
                </a:solidFill>
                <a:latin typeface="Century Gothic" charset="0"/>
                <a:ea typeface="Osaka" charset="0"/>
                <a:cs typeface="Osaka" charset="0"/>
              </a:rPr>
              <a:t>s because you were born to help create a new one.</a:t>
            </a:r>
            <a:r>
              <a:rPr lang="ja-JP" altLang="en-US" sz="4400" b="0" dirty="0" smtClean="0">
                <a:solidFill>
                  <a:schemeClr val="tx1"/>
                </a:solidFill>
                <a:latin typeface="Century Gothic" charset="0"/>
                <a:ea typeface="Osaka" charset="0"/>
                <a:cs typeface="Osaka" charset="0"/>
              </a:rPr>
              <a:t>”</a:t>
            </a:r>
            <a:r>
              <a:rPr lang="en-US" sz="3200" b="0" dirty="0">
                <a:solidFill>
                  <a:schemeClr val="tx1"/>
                </a:solidFill>
                <a:ea typeface="Osaka" charset="0"/>
                <a:cs typeface="Osaka" charset="0"/>
              </a:rPr>
              <a:t/>
            </a:r>
            <a:br>
              <a:rPr lang="en-US" sz="3200" b="0" dirty="0">
                <a:solidFill>
                  <a:schemeClr val="tx1"/>
                </a:solidFill>
                <a:ea typeface="Osaka" charset="0"/>
                <a:cs typeface="Osaka" charset="0"/>
              </a:rPr>
            </a:br>
            <a:endParaRPr lang="en-US" sz="3200" b="0" dirty="0">
              <a:solidFill>
                <a:schemeClr val="tx1"/>
              </a:solidFill>
              <a:ea typeface="Osaka" charset="0"/>
              <a:cs typeface="Osak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311006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19400" y="4724400"/>
            <a:ext cx="4343400" cy="12954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/>
          <a:p>
            <a:pPr>
              <a:lnSpc>
                <a:spcPct val="90000"/>
              </a:lnSpc>
              <a:buFont typeface="Times" charset="0"/>
              <a:buNone/>
            </a:pPr>
            <a:endParaRPr lang="en-US" sz="3600">
              <a:latin typeface="Calibri" charset="0"/>
              <a:ea typeface="MS PGothic" charset="0"/>
            </a:endParaRPr>
          </a:p>
          <a:p>
            <a:pPr>
              <a:lnSpc>
                <a:spcPct val="90000"/>
              </a:lnSpc>
              <a:buFont typeface="Times" charset="0"/>
              <a:buNone/>
            </a:pPr>
            <a:r>
              <a:rPr lang="en-US" sz="3600">
                <a:latin typeface="Calibri" charset="0"/>
                <a:ea typeface="MS PGothic" charset="0"/>
              </a:rPr>
              <a:t>- Tom Robbins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79400"/>
            <a:ext cx="8382000" cy="4419600"/>
          </a:xfrm>
          <a:solidFill>
            <a:srgbClr val="000090"/>
          </a:solidFill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>
              <a:defRPr/>
            </a:pPr>
            <a:r>
              <a:rPr lang="ja-JP" altLang="en-US" dirty="0" smtClean="0">
                <a:solidFill>
                  <a:schemeClr val="bg1"/>
                </a:solidFill>
                <a:latin typeface="Arial"/>
                <a:cs typeface="Arial"/>
              </a:rPr>
              <a:t>“</a:t>
            </a:r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Humanity has advanced</a:t>
            </a:r>
            <a:r>
              <a:rPr lang="en-US" dirty="0" smtClean="0">
                <a:solidFill>
                  <a:schemeClr val="bg1"/>
                </a:solidFill>
                <a:latin typeface="Arial"/>
                <a:cs typeface="Arial"/>
              </a:rPr>
              <a:t>,</a:t>
            </a:r>
            <a:br>
              <a:rPr lang="en-US" dirty="0" smtClean="0">
                <a:solidFill>
                  <a:schemeClr val="bg1"/>
                </a:solidFill>
                <a:latin typeface="Arial"/>
                <a:cs typeface="Arial"/>
              </a:rPr>
            </a:br>
            <a:r>
              <a:rPr lang="en-US" dirty="0" smtClean="0">
                <a:solidFill>
                  <a:schemeClr val="bg1"/>
                </a:solidFill>
                <a:latin typeface="Arial"/>
                <a:cs typeface="Arial"/>
              </a:rPr>
              <a:t>when </a:t>
            </a:r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it has advanced</a:t>
            </a:r>
            <a:r>
              <a:rPr lang="en-US" dirty="0" smtClean="0">
                <a:solidFill>
                  <a:schemeClr val="bg1"/>
                </a:solidFill>
                <a:latin typeface="Arial"/>
                <a:cs typeface="Arial"/>
              </a:rPr>
              <a:t>,</a:t>
            </a:r>
            <a:br>
              <a:rPr lang="en-US" dirty="0" smtClean="0">
                <a:solidFill>
                  <a:schemeClr val="bg1"/>
                </a:solidFill>
                <a:latin typeface="Arial"/>
                <a:cs typeface="Arial"/>
              </a:rPr>
            </a:br>
            <a:r>
              <a:rPr lang="en-US" dirty="0" smtClean="0">
                <a:solidFill>
                  <a:schemeClr val="bg1"/>
                </a:solidFill>
                <a:latin typeface="Arial"/>
                <a:cs typeface="Arial"/>
              </a:rPr>
              <a:t>not </a:t>
            </a:r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because it has been sober, responsible, and cautious</a:t>
            </a:r>
            <a:r>
              <a:rPr lang="en-US" dirty="0" smtClean="0">
                <a:solidFill>
                  <a:schemeClr val="bg1"/>
                </a:solidFill>
                <a:latin typeface="Arial"/>
                <a:cs typeface="Arial"/>
              </a:rPr>
              <a:t>,</a:t>
            </a:r>
            <a:br>
              <a:rPr lang="en-US" dirty="0" smtClean="0">
                <a:solidFill>
                  <a:schemeClr val="bg1"/>
                </a:solidFill>
                <a:latin typeface="Arial"/>
                <a:cs typeface="Arial"/>
              </a:rPr>
            </a:br>
            <a:r>
              <a:rPr lang="en-US" dirty="0" smtClean="0">
                <a:solidFill>
                  <a:schemeClr val="bg1"/>
                </a:solidFill>
                <a:latin typeface="Arial"/>
                <a:cs typeface="Arial"/>
              </a:rPr>
              <a:t>but </a:t>
            </a:r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because it has been playful, rebellious, and </a:t>
            </a:r>
            <a:r>
              <a:rPr lang="en-US" dirty="0" smtClean="0">
                <a:solidFill>
                  <a:schemeClr val="bg1"/>
                </a:solidFill>
                <a:latin typeface="Arial"/>
                <a:cs typeface="Arial"/>
              </a:rPr>
              <a:t>immature.”</a:t>
            </a:r>
            <a:br>
              <a:rPr lang="en-US" dirty="0" smtClean="0">
                <a:solidFill>
                  <a:schemeClr val="bg1"/>
                </a:solidFill>
                <a:latin typeface="Arial"/>
                <a:cs typeface="Arial"/>
              </a:rPr>
            </a:br>
            <a:endParaRPr lang="en-US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01379" name="Picture 2" descr="tom-robbins[1]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4933950"/>
            <a:ext cx="1282700" cy="1609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6822994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41E0BA-DFE8-AC44-A799-3CFCF62077C1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pic>
        <p:nvPicPr>
          <p:cNvPr id="5" name="Picture 4" descr="APSE NAtional Conferencre 234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566"/>
          <a:stretch/>
        </p:blipFill>
        <p:spPr>
          <a:xfrm>
            <a:off x="1909462" y="685800"/>
            <a:ext cx="593913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21659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725" y="2580014"/>
            <a:ext cx="82296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Let’s make employment for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people with disabilities</a:t>
            </a:r>
            <a:br>
              <a:rPr lang="en-US" dirty="0" smtClean="0">
                <a:solidFill>
                  <a:schemeClr val="tx1"/>
                </a:solidFill>
              </a:rPr>
            </a:br>
            <a:endParaRPr lang="en-US" sz="53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0518C9-3CC7-7448-AD05-3CB269384775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  <p:pic>
        <p:nvPicPr>
          <p:cNvPr id="5" name="Picture 4" descr="Project-SEARCH-3_mini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00" y="5454650"/>
            <a:ext cx="1962150" cy="1143000"/>
          </a:xfrm>
          <a:prstGeom prst="rect">
            <a:avLst/>
          </a:prstGeom>
        </p:spPr>
      </p:pic>
      <p:pic>
        <p:nvPicPr>
          <p:cNvPr id="6" name="Picture 5" descr="cody1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946" y="520700"/>
            <a:ext cx="1580354" cy="1638300"/>
          </a:xfrm>
          <a:prstGeom prst="rect">
            <a:avLst/>
          </a:prstGeom>
        </p:spPr>
      </p:pic>
      <p:pic>
        <p:nvPicPr>
          <p:cNvPr id="7" name="Picture 6" descr="matt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081" y="3232150"/>
            <a:ext cx="1408044" cy="1714500"/>
          </a:xfrm>
          <a:prstGeom prst="rect">
            <a:avLst/>
          </a:prstGeom>
        </p:spPr>
      </p:pic>
      <p:pic>
        <p:nvPicPr>
          <p:cNvPr id="9" name="Picture 8" descr="brian_dj.jp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782472"/>
            <a:ext cx="1066800" cy="1420977"/>
          </a:xfrm>
          <a:prstGeom prst="rect">
            <a:avLst/>
          </a:prstGeom>
        </p:spPr>
      </p:pic>
      <p:pic>
        <p:nvPicPr>
          <p:cNvPr id="10" name="Picture 9" descr="Nicole.jp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20700"/>
            <a:ext cx="1562100" cy="1373729"/>
          </a:xfrm>
          <a:prstGeom prst="rect">
            <a:avLst/>
          </a:prstGeom>
        </p:spPr>
      </p:pic>
      <p:pic>
        <p:nvPicPr>
          <p:cNvPr id="11" name="Picture 10" descr="frankie.jp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67" y="5213350"/>
            <a:ext cx="1845733" cy="1384300"/>
          </a:xfrm>
          <a:prstGeom prst="rect">
            <a:avLst/>
          </a:prstGeom>
        </p:spPr>
      </p:pic>
      <p:pic>
        <p:nvPicPr>
          <p:cNvPr id="12" name="Picture 11" descr="Zachary_photo.jpg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046" y="4946650"/>
            <a:ext cx="1828800" cy="1371600"/>
          </a:xfrm>
          <a:prstGeom prst="rect">
            <a:avLst/>
          </a:prstGeom>
        </p:spPr>
      </p:pic>
      <p:pic>
        <p:nvPicPr>
          <p:cNvPr id="13" name="Picture Placeholder 5" descr="Laura Martinez.jpg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12" r="12412"/>
          <a:stretch>
            <a:fillRect/>
          </a:stretch>
        </p:blipFill>
        <p:spPr>
          <a:xfrm>
            <a:off x="457200" y="3496328"/>
            <a:ext cx="1142999" cy="1520172"/>
          </a:xfrm>
          <a:prstGeom prst="rect">
            <a:avLst/>
          </a:prstGeom>
        </p:spPr>
      </p:pic>
      <p:pic>
        <p:nvPicPr>
          <p:cNvPr id="14" name="Picture 3" descr="AchieveAus_038.jpg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250" y="5232400"/>
            <a:ext cx="21717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4" descr="brian.jpg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1472" y="4058444"/>
            <a:ext cx="1616075" cy="1212056"/>
          </a:xfrm>
          <a:prstGeom prst="rect">
            <a:avLst/>
          </a:prstGeom>
        </p:spPr>
      </p:pic>
      <p:pic>
        <p:nvPicPr>
          <p:cNvPr id="16" name="Picture 15" descr="zumba-800.jpg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1472" y="639510"/>
            <a:ext cx="1856653" cy="1392490"/>
          </a:xfrm>
          <a:prstGeom prst="rect">
            <a:avLst/>
          </a:prstGeom>
        </p:spPr>
      </p:pic>
      <p:sp>
        <p:nvSpPr>
          <p:cNvPr id="17" name="Title 1"/>
          <p:cNvSpPr txBox="1">
            <a:spLocks/>
          </p:cNvSpPr>
          <p:nvPr/>
        </p:nvSpPr>
        <p:spPr>
          <a:xfrm>
            <a:off x="375446" y="2567314"/>
            <a:ext cx="8460579" cy="13296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dirty="0" smtClean="0"/>
              <a:t/>
            </a:r>
            <a:br>
              <a:rPr lang="en-US" sz="4400" dirty="0" smtClean="0"/>
            </a:br>
            <a:r>
              <a:rPr lang="en-US" sz="4400" b="1" i="1" dirty="0" smtClean="0"/>
              <a:t>NOTHING SPECIAL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43620062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400" y="384176"/>
            <a:ext cx="5499100" cy="114300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 smtClean="0"/>
              <a:t>Thanks!</a:t>
            </a:r>
            <a:endParaRPr lang="en-US" dirty="0"/>
          </a:p>
        </p:txBody>
      </p:sp>
      <p:pic>
        <p:nvPicPr>
          <p:cNvPr id="4" name="Picture 3" descr="MC900078773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200" y="2333747"/>
            <a:ext cx="3835400" cy="3101853"/>
          </a:xfrm>
          <a:prstGeom prst="rect">
            <a:avLst/>
          </a:prstGeom>
        </p:spPr>
      </p:pic>
      <p:pic>
        <p:nvPicPr>
          <p:cNvPr id="5" name="Picture 4" descr="Unknow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500" y="5045528"/>
            <a:ext cx="2286000" cy="146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09765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Genesis">
      <a:dk1>
        <a:sysClr val="windowText" lastClr="000000"/>
      </a:dk1>
      <a:lt1>
        <a:sysClr val="window" lastClr="FFFFFF"/>
      </a:lt1>
      <a:dk2>
        <a:srgbClr val="465466"/>
      </a:dk2>
      <a:lt2>
        <a:srgbClr val="BBD7F8"/>
      </a:lt2>
      <a:accent1>
        <a:srgbClr val="80B606"/>
      </a:accent1>
      <a:accent2>
        <a:srgbClr val="E29F1D"/>
      </a:accent2>
      <a:accent3>
        <a:srgbClr val="2397E2"/>
      </a:accent3>
      <a:accent4>
        <a:srgbClr val="35ACA2"/>
      </a:accent4>
      <a:accent5>
        <a:srgbClr val="5430BB"/>
      </a:accent5>
      <a:accent6>
        <a:srgbClr val="8D34E0"/>
      </a:accent6>
      <a:hlink>
        <a:srgbClr val="00B0F0"/>
      </a:hlink>
      <a:folHlink>
        <a:srgbClr val="0070C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3870</TotalTime>
  <Words>595</Words>
  <Application>Microsoft Macintosh PowerPoint</Application>
  <PresentationFormat>On-screen Show (4:3)</PresentationFormat>
  <Paragraphs>166</Paragraphs>
  <Slides>44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Solstice</vt:lpstr>
      <vt:lpstr>Believing in Employment: What It Really Means,  Where We Go From Here </vt:lpstr>
      <vt:lpstr>PowerPoint Presentation</vt:lpstr>
      <vt:lpstr>Employment:  What are we talking about?</vt:lpstr>
      <vt:lpstr>Competitive Integrated Employment</vt:lpstr>
      <vt:lpstr>Wolf Wolfensberger</vt:lpstr>
      <vt:lpstr>PowerPoint Presentation</vt:lpstr>
      <vt:lpstr>Why is it that everything we know about a good job search for people without disabilities, we too often forget when it comes to a job seeker with a disability?</vt:lpstr>
      <vt:lpstr>Persons with disabilities succeed on the job and in careers for the same reasons as other individuals</vt:lpstr>
      <vt:lpstr>PowerPoint Presentation</vt:lpstr>
      <vt:lpstr>Persons with disabilities are unemployed for many of the same reasons as any other individual</vt:lpstr>
      <vt:lpstr>Deviate from typical employment process only as absolutely necessary (but sometimes it’s necessary)</vt:lpstr>
      <vt:lpstr>Do you REALLY believe in employment?</vt:lpstr>
      <vt:lpstr>The “Choice” Issue</vt:lpstr>
      <vt:lpstr>- Henry Ford</vt:lpstr>
      <vt:lpstr>PowerPoint Presentation</vt:lpstr>
      <vt:lpstr>PowerPoint Presentation</vt:lpstr>
      <vt:lpstr>People with disabilities should have the same level of choice in their lives as those without disabilities</vt:lpstr>
      <vt:lpstr>PowerPoint Presentation</vt:lpstr>
      <vt:lpstr>The Changing Role of the Professional</vt:lpstr>
      <vt:lpstr>This is a social justice and social change movement</vt:lpstr>
      <vt:lpstr>Civil Rights Worker</vt:lpstr>
      <vt:lpstr>PowerPoint Presentation</vt:lpstr>
      <vt:lpstr>It’s not just about changing individual lives.</vt:lpstr>
      <vt:lpstr>PowerPoint Presentation</vt:lpstr>
      <vt:lpstr>PowerPoint Presentation</vt:lpstr>
      <vt:lpstr>Typical employment in the general workforce</vt:lpstr>
      <vt:lpstr>PowerPoint Presentation</vt:lpstr>
      <vt:lpstr>PowerPoint Presentation</vt:lpstr>
      <vt:lpstr>Do you want a program?</vt:lpstr>
      <vt:lpstr>What’s your response?</vt:lpstr>
      <vt:lpstr>What’s your response?</vt:lpstr>
      <vt:lpstr>PowerPoint Presentation</vt:lpstr>
      <vt:lpstr>APPS: The New Revolution in Job Supports</vt:lpstr>
      <vt:lpstr>Expand Boundaries of Industry-Based Credential Training for Skill Enhancement</vt:lpstr>
      <vt:lpstr>New support models: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“Humanity has advanced, when it has advanced, not because it has been sober, responsible, and cautious, but because it has been playful, rebellious, and immature.” </vt:lpstr>
      <vt:lpstr>PowerPoint Presentation</vt:lpstr>
      <vt:lpstr>Let’s make employment for people with disabilities </vt:lpstr>
      <vt:lpstr>Thanks!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APSE Board Orientation</dc:title>
  <dc:creator>David  Hoff</dc:creator>
  <cp:lastModifiedBy>David Hoff</cp:lastModifiedBy>
  <cp:revision>297</cp:revision>
  <dcterms:created xsi:type="dcterms:W3CDTF">2012-06-25T01:24:00Z</dcterms:created>
  <dcterms:modified xsi:type="dcterms:W3CDTF">2017-10-24T22:39:42Z</dcterms:modified>
</cp:coreProperties>
</file>