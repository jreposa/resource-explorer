
<file path=[Content_Types].xml><?xml version="1.0" encoding="utf-8"?>
<Types xmlns="http://schemas.openxmlformats.org/package/2006/content-types">
  <Default Extension="xml" ContentType="application/xml"/>
  <Default Extension="wmf" ContentType="image/x-wmf"/>
  <Default Extension="jpeg" ContentType="image/jpeg"/>
  <Default Extension="tiff" ContentType="image/tiff"/>
  <Default Extension="jpg" ContentType="image/jpeg"/>
  <Default Extension="rels" ContentType="application/vnd.openxmlformats-package.relationships+xml"/>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6" r:id="rId2"/>
    <p:sldId id="305" r:id="rId3"/>
    <p:sldId id="279" r:id="rId4"/>
    <p:sldId id="280" r:id="rId5"/>
    <p:sldId id="303" r:id="rId6"/>
    <p:sldId id="257" r:id="rId7"/>
    <p:sldId id="258" r:id="rId8"/>
    <p:sldId id="284" r:id="rId9"/>
    <p:sldId id="259" r:id="rId10"/>
    <p:sldId id="260" r:id="rId11"/>
    <p:sldId id="306" r:id="rId12"/>
    <p:sldId id="261" r:id="rId13"/>
    <p:sldId id="262" r:id="rId14"/>
    <p:sldId id="263" r:id="rId15"/>
    <p:sldId id="281" r:id="rId16"/>
    <p:sldId id="282" r:id="rId17"/>
    <p:sldId id="264" r:id="rId18"/>
    <p:sldId id="265" r:id="rId19"/>
    <p:sldId id="266" r:id="rId20"/>
    <p:sldId id="276" r:id="rId21"/>
    <p:sldId id="283" r:id="rId22"/>
    <p:sldId id="267" r:id="rId23"/>
    <p:sldId id="268" r:id="rId24"/>
    <p:sldId id="269" r:id="rId25"/>
    <p:sldId id="270" r:id="rId26"/>
    <p:sldId id="271" r:id="rId27"/>
    <p:sldId id="272" r:id="rId28"/>
    <p:sldId id="273" r:id="rId29"/>
    <p:sldId id="304" r:id="rId30"/>
    <p:sldId id="274" r:id="rId31"/>
    <p:sldId id="275" r:id="rId32"/>
    <p:sldId id="277" r:id="rId33"/>
    <p:sldId id="302" r:id="rId34"/>
    <p:sldId id="307" r:id="rId35"/>
    <p:sldId id="301" r:id="rId36"/>
    <p:sldId id="286" r:id="rId37"/>
    <p:sldId id="278" r:id="rId38"/>
    <p:sldId id="287"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Gill Sans MT"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Gill Sans MT"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Gill Sans MT"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Gill Sans MT"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Gill Sans MT" charset="0"/>
        <a:ea typeface="ＭＳ Ｐゴシック" charset="0"/>
        <a:cs typeface="ＭＳ Ｐゴシック" charset="0"/>
      </a:defRPr>
    </a:lvl5pPr>
    <a:lvl6pPr marL="2286000" algn="l" defTabSz="457200" rtl="0" eaLnBrk="1" latinLnBrk="0" hangingPunct="1">
      <a:defRPr kern="1200">
        <a:solidFill>
          <a:schemeClr val="tx1"/>
        </a:solidFill>
        <a:latin typeface="Gill Sans MT" charset="0"/>
        <a:ea typeface="ＭＳ Ｐゴシック" charset="0"/>
        <a:cs typeface="ＭＳ Ｐゴシック" charset="0"/>
      </a:defRPr>
    </a:lvl6pPr>
    <a:lvl7pPr marL="2743200" algn="l" defTabSz="457200" rtl="0" eaLnBrk="1" latinLnBrk="0" hangingPunct="1">
      <a:defRPr kern="1200">
        <a:solidFill>
          <a:schemeClr val="tx1"/>
        </a:solidFill>
        <a:latin typeface="Gill Sans MT" charset="0"/>
        <a:ea typeface="ＭＳ Ｐゴシック" charset="0"/>
        <a:cs typeface="ＭＳ Ｐゴシック" charset="0"/>
      </a:defRPr>
    </a:lvl7pPr>
    <a:lvl8pPr marL="3200400" algn="l" defTabSz="457200" rtl="0" eaLnBrk="1" latinLnBrk="0" hangingPunct="1">
      <a:defRPr kern="1200">
        <a:solidFill>
          <a:schemeClr val="tx1"/>
        </a:solidFill>
        <a:latin typeface="Gill Sans MT" charset="0"/>
        <a:ea typeface="ＭＳ Ｐゴシック" charset="0"/>
        <a:cs typeface="ＭＳ Ｐゴシック" charset="0"/>
      </a:defRPr>
    </a:lvl8pPr>
    <a:lvl9pPr marL="3657600" algn="l" defTabSz="457200" rtl="0" eaLnBrk="1" latinLnBrk="0" hangingPunct="1">
      <a:defRPr kern="1200">
        <a:solidFill>
          <a:schemeClr val="tx1"/>
        </a:solidFill>
        <a:latin typeface="Gill Sans MT" charset="0"/>
        <a:ea typeface="ＭＳ Ｐゴシック" charset="0"/>
        <a:cs typeface="ＭＳ Ｐゴシック"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837" autoAdjust="0"/>
  </p:normalViewPr>
  <p:slideViewPr>
    <p:cSldViewPr snapToGrid="0" snapToObjects="1">
      <p:cViewPr>
        <p:scale>
          <a:sx n="100" d="100"/>
          <a:sy n="100" d="100"/>
        </p:scale>
        <p:origin x="-88" y="-11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interSettings" Target="printerSettings/printerSettings1.bin"/><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EB1893-7C66-EB42-8328-10E3C4B21DD9}" type="doc">
      <dgm:prSet loTypeId="urn:microsoft.com/office/officeart/2005/8/layout/arrow5" loCatId="" qsTypeId="urn:microsoft.com/office/officeart/2005/8/quickstyle/simple4" qsCatId="simple" csTypeId="urn:microsoft.com/office/officeart/2005/8/colors/accent1_2" csCatId="accent1" phldr="1"/>
      <dgm:spPr/>
      <dgm:t>
        <a:bodyPr/>
        <a:lstStyle/>
        <a:p>
          <a:endParaRPr lang="en-US"/>
        </a:p>
      </dgm:t>
    </dgm:pt>
    <dgm:pt modelId="{42C93384-88CA-9E4B-A1F0-3CFB65B38D86}">
      <dgm:prSet phldrT="[Text]"/>
      <dgm:spPr>
        <a:solidFill>
          <a:srgbClr val="000090"/>
        </a:solidFill>
      </dgm:spPr>
      <dgm:t>
        <a:bodyPr/>
        <a:lstStyle/>
        <a:p>
          <a:r>
            <a:rPr lang="en-US" dirty="0" smtClean="0"/>
            <a:t>Peer</a:t>
          </a:r>
          <a:endParaRPr lang="en-US" dirty="0"/>
        </a:p>
      </dgm:t>
    </dgm:pt>
    <dgm:pt modelId="{C32784EE-3991-9249-890B-F271D0A156FE}" type="parTrans" cxnId="{CDF0C1A3-D105-E642-B1BA-85DDF754E27A}">
      <dgm:prSet/>
      <dgm:spPr/>
      <dgm:t>
        <a:bodyPr/>
        <a:lstStyle/>
        <a:p>
          <a:endParaRPr lang="en-US"/>
        </a:p>
      </dgm:t>
    </dgm:pt>
    <dgm:pt modelId="{5A72676D-81FD-2E49-B379-274582C357BB}" type="sibTrans" cxnId="{CDF0C1A3-D105-E642-B1BA-85DDF754E27A}">
      <dgm:prSet/>
      <dgm:spPr/>
      <dgm:t>
        <a:bodyPr/>
        <a:lstStyle/>
        <a:p>
          <a:endParaRPr lang="en-US"/>
        </a:p>
      </dgm:t>
    </dgm:pt>
    <dgm:pt modelId="{32540C3A-B0DF-A648-B3E1-0B2006356ED9}">
      <dgm:prSet phldrT="[Text]"/>
      <dgm:spPr>
        <a:solidFill>
          <a:srgbClr val="008000"/>
        </a:solidFill>
      </dgm:spPr>
      <dgm:t>
        <a:bodyPr/>
        <a:lstStyle/>
        <a:p>
          <a:r>
            <a:rPr lang="en-US" dirty="0" smtClean="0"/>
            <a:t>Peer	</a:t>
          </a:r>
          <a:endParaRPr lang="en-US" dirty="0"/>
        </a:p>
      </dgm:t>
    </dgm:pt>
    <dgm:pt modelId="{B8B9CA46-3DE6-C245-BE5C-8B778F2D293F}" type="sibTrans" cxnId="{5841CDBB-C576-0842-9F79-CE467AB12C46}">
      <dgm:prSet/>
      <dgm:spPr/>
      <dgm:t>
        <a:bodyPr/>
        <a:lstStyle/>
        <a:p>
          <a:endParaRPr lang="en-US"/>
        </a:p>
      </dgm:t>
    </dgm:pt>
    <dgm:pt modelId="{0494BFC4-F25E-AF4B-8FB4-365C6D3B3856}" type="parTrans" cxnId="{5841CDBB-C576-0842-9F79-CE467AB12C46}">
      <dgm:prSet/>
      <dgm:spPr/>
      <dgm:t>
        <a:bodyPr/>
        <a:lstStyle/>
        <a:p>
          <a:endParaRPr lang="en-US"/>
        </a:p>
      </dgm:t>
    </dgm:pt>
    <dgm:pt modelId="{DB3A285F-2793-594A-8432-498A02F2A13B}" type="pres">
      <dgm:prSet presAssocID="{6BEB1893-7C66-EB42-8328-10E3C4B21DD9}" presName="diagram" presStyleCnt="0">
        <dgm:presLayoutVars>
          <dgm:dir/>
          <dgm:resizeHandles val="exact"/>
        </dgm:presLayoutVars>
      </dgm:prSet>
      <dgm:spPr/>
      <dgm:t>
        <a:bodyPr/>
        <a:lstStyle/>
        <a:p>
          <a:endParaRPr lang="en-US"/>
        </a:p>
      </dgm:t>
    </dgm:pt>
    <dgm:pt modelId="{5C796955-4A5E-ED48-92E2-4D0F37DAB885}" type="pres">
      <dgm:prSet presAssocID="{32540C3A-B0DF-A648-B3E1-0B2006356ED9}" presName="arrow" presStyleLbl="node1" presStyleIdx="0" presStyleCnt="2">
        <dgm:presLayoutVars>
          <dgm:bulletEnabled val="1"/>
        </dgm:presLayoutVars>
      </dgm:prSet>
      <dgm:spPr/>
      <dgm:t>
        <a:bodyPr/>
        <a:lstStyle/>
        <a:p>
          <a:endParaRPr lang="en-US"/>
        </a:p>
      </dgm:t>
    </dgm:pt>
    <dgm:pt modelId="{DDE499C9-76D5-5E49-9097-66EFEDB4274B}" type="pres">
      <dgm:prSet presAssocID="{42C93384-88CA-9E4B-A1F0-3CFB65B38D86}" presName="arrow" presStyleLbl="node1" presStyleIdx="1" presStyleCnt="2">
        <dgm:presLayoutVars>
          <dgm:bulletEnabled val="1"/>
        </dgm:presLayoutVars>
      </dgm:prSet>
      <dgm:spPr/>
      <dgm:t>
        <a:bodyPr/>
        <a:lstStyle/>
        <a:p>
          <a:endParaRPr lang="en-US"/>
        </a:p>
      </dgm:t>
    </dgm:pt>
  </dgm:ptLst>
  <dgm:cxnLst>
    <dgm:cxn modelId="{5841CDBB-C576-0842-9F79-CE467AB12C46}" srcId="{6BEB1893-7C66-EB42-8328-10E3C4B21DD9}" destId="{32540C3A-B0DF-A648-B3E1-0B2006356ED9}" srcOrd="0" destOrd="0" parTransId="{0494BFC4-F25E-AF4B-8FB4-365C6D3B3856}" sibTransId="{B8B9CA46-3DE6-C245-BE5C-8B778F2D293F}"/>
    <dgm:cxn modelId="{07FBB2FB-D0C3-9942-A85F-D4C4F34BA9CB}" type="presOf" srcId="{6BEB1893-7C66-EB42-8328-10E3C4B21DD9}" destId="{DB3A285F-2793-594A-8432-498A02F2A13B}" srcOrd="0" destOrd="0" presId="urn:microsoft.com/office/officeart/2005/8/layout/arrow5"/>
    <dgm:cxn modelId="{CDF0C1A3-D105-E642-B1BA-85DDF754E27A}" srcId="{6BEB1893-7C66-EB42-8328-10E3C4B21DD9}" destId="{42C93384-88CA-9E4B-A1F0-3CFB65B38D86}" srcOrd="1" destOrd="0" parTransId="{C32784EE-3991-9249-890B-F271D0A156FE}" sibTransId="{5A72676D-81FD-2E49-B379-274582C357BB}"/>
    <dgm:cxn modelId="{585CDB81-C21C-C749-A3A1-EFBEECE919D4}" type="presOf" srcId="{32540C3A-B0DF-A648-B3E1-0B2006356ED9}" destId="{5C796955-4A5E-ED48-92E2-4D0F37DAB885}" srcOrd="0" destOrd="0" presId="urn:microsoft.com/office/officeart/2005/8/layout/arrow5"/>
    <dgm:cxn modelId="{6759FB23-E6D0-0B44-BC50-22A544184419}" type="presOf" srcId="{42C93384-88CA-9E4B-A1F0-3CFB65B38D86}" destId="{DDE499C9-76D5-5E49-9097-66EFEDB4274B}" srcOrd="0" destOrd="0" presId="urn:microsoft.com/office/officeart/2005/8/layout/arrow5"/>
    <dgm:cxn modelId="{9E2865F1-1872-D14E-AED6-0E56DC05D6F6}" type="presParOf" srcId="{DB3A285F-2793-594A-8432-498A02F2A13B}" destId="{5C796955-4A5E-ED48-92E2-4D0F37DAB885}" srcOrd="0" destOrd="0" presId="urn:microsoft.com/office/officeart/2005/8/layout/arrow5"/>
    <dgm:cxn modelId="{2C3C3CC3-FB06-7440-85C7-F4E57DC874CB}" type="presParOf" srcId="{DB3A285F-2793-594A-8432-498A02F2A13B}" destId="{DDE499C9-76D5-5E49-9097-66EFEDB4274B}"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EB1893-7C66-EB42-8328-10E3C4B21DD9}" type="doc">
      <dgm:prSet loTypeId="urn:microsoft.com/office/officeart/2005/8/layout/arrow5" loCatId="" qsTypeId="urn:microsoft.com/office/officeart/2005/8/quickstyle/simple4" qsCatId="simple" csTypeId="urn:microsoft.com/office/officeart/2005/8/colors/accent1_2" csCatId="accent1" phldr="1"/>
      <dgm:spPr/>
      <dgm:t>
        <a:bodyPr/>
        <a:lstStyle/>
        <a:p>
          <a:endParaRPr lang="en-US"/>
        </a:p>
      </dgm:t>
    </dgm:pt>
    <dgm:pt modelId="{42C93384-88CA-9E4B-A1F0-3CFB65B38D86}">
      <dgm:prSet phldrT="[Text]"/>
      <dgm:spPr>
        <a:solidFill>
          <a:srgbClr val="000090"/>
        </a:solidFill>
      </dgm:spPr>
      <dgm:t>
        <a:bodyPr/>
        <a:lstStyle/>
        <a:p>
          <a:r>
            <a:rPr lang="en-US" dirty="0" smtClean="0"/>
            <a:t>Diversity</a:t>
          </a:r>
          <a:endParaRPr lang="en-US" dirty="0"/>
        </a:p>
      </dgm:t>
    </dgm:pt>
    <dgm:pt modelId="{C32784EE-3991-9249-890B-F271D0A156FE}" type="parTrans" cxnId="{CDF0C1A3-D105-E642-B1BA-85DDF754E27A}">
      <dgm:prSet/>
      <dgm:spPr/>
      <dgm:t>
        <a:bodyPr/>
        <a:lstStyle/>
        <a:p>
          <a:endParaRPr lang="en-US"/>
        </a:p>
      </dgm:t>
    </dgm:pt>
    <dgm:pt modelId="{5A72676D-81FD-2E49-B379-274582C357BB}" type="sibTrans" cxnId="{CDF0C1A3-D105-E642-B1BA-85DDF754E27A}">
      <dgm:prSet/>
      <dgm:spPr/>
      <dgm:t>
        <a:bodyPr/>
        <a:lstStyle/>
        <a:p>
          <a:endParaRPr lang="en-US"/>
        </a:p>
      </dgm:t>
    </dgm:pt>
    <dgm:pt modelId="{32540C3A-B0DF-A648-B3E1-0B2006356ED9}">
      <dgm:prSet phldrT="[Text]"/>
      <dgm:spPr>
        <a:solidFill>
          <a:srgbClr val="FFFF00"/>
        </a:solidFill>
      </dgm:spPr>
      <dgm:t>
        <a:bodyPr/>
        <a:lstStyle/>
        <a:p>
          <a:r>
            <a:rPr lang="en-US" b="1" dirty="0" smtClean="0">
              <a:solidFill>
                <a:schemeClr val="tx1"/>
              </a:solidFill>
            </a:rPr>
            <a:t>Disability</a:t>
          </a:r>
          <a:endParaRPr lang="en-US" b="1" dirty="0">
            <a:solidFill>
              <a:schemeClr val="tx1"/>
            </a:solidFill>
          </a:endParaRPr>
        </a:p>
      </dgm:t>
    </dgm:pt>
    <dgm:pt modelId="{B8B9CA46-3DE6-C245-BE5C-8B778F2D293F}" type="sibTrans" cxnId="{5841CDBB-C576-0842-9F79-CE467AB12C46}">
      <dgm:prSet/>
      <dgm:spPr/>
      <dgm:t>
        <a:bodyPr/>
        <a:lstStyle/>
        <a:p>
          <a:endParaRPr lang="en-US"/>
        </a:p>
      </dgm:t>
    </dgm:pt>
    <dgm:pt modelId="{0494BFC4-F25E-AF4B-8FB4-365C6D3B3856}" type="parTrans" cxnId="{5841CDBB-C576-0842-9F79-CE467AB12C46}">
      <dgm:prSet/>
      <dgm:spPr/>
      <dgm:t>
        <a:bodyPr/>
        <a:lstStyle/>
        <a:p>
          <a:endParaRPr lang="en-US"/>
        </a:p>
      </dgm:t>
    </dgm:pt>
    <dgm:pt modelId="{DB3A285F-2793-594A-8432-498A02F2A13B}" type="pres">
      <dgm:prSet presAssocID="{6BEB1893-7C66-EB42-8328-10E3C4B21DD9}" presName="diagram" presStyleCnt="0">
        <dgm:presLayoutVars>
          <dgm:dir/>
          <dgm:resizeHandles val="exact"/>
        </dgm:presLayoutVars>
      </dgm:prSet>
      <dgm:spPr/>
      <dgm:t>
        <a:bodyPr/>
        <a:lstStyle/>
        <a:p>
          <a:endParaRPr lang="en-US"/>
        </a:p>
      </dgm:t>
    </dgm:pt>
    <dgm:pt modelId="{5C796955-4A5E-ED48-92E2-4D0F37DAB885}" type="pres">
      <dgm:prSet presAssocID="{32540C3A-B0DF-A648-B3E1-0B2006356ED9}" presName="arrow" presStyleLbl="node1" presStyleIdx="0" presStyleCnt="2">
        <dgm:presLayoutVars>
          <dgm:bulletEnabled val="1"/>
        </dgm:presLayoutVars>
      </dgm:prSet>
      <dgm:spPr/>
      <dgm:t>
        <a:bodyPr/>
        <a:lstStyle/>
        <a:p>
          <a:endParaRPr lang="en-US"/>
        </a:p>
      </dgm:t>
    </dgm:pt>
    <dgm:pt modelId="{DDE499C9-76D5-5E49-9097-66EFEDB4274B}" type="pres">
      <dgm:prSet presAssocID="{42C93384-88CA-9E4B-A1F0-3CFB65B38D86}" presName="arrow" presStyleLbl="node1" presStyleIdx="1" presStyleCnt="2">
        <dgm:presLayoutVars>
          <dgm:bulletEnabled val="1"/>
        </dgm:presLayoutVars>
      </dgm:prSet>
      <dgm:spPr/>
      <dgm:t>
        <a:bodyPr/>
        <a:lstStyle/>
        <a:p>
          <a:endParaRPr lang="en-US"/>
        </a:p>
      </dgm:t>
    </dgm:pt>
  </dgm:ptLst>
  <dgm:cxnLst>
    <dgm:cxn modelId="{5841CDBB-C576-0842-9F79-CE467AB12C46}" srcId="{6BEB1893-7C66-EB42-8328-10E3C4B21DD9}" destId="{32540C3A-B0DF-A648-B3E1-0B2006356ED9}" srcOrd="0" destOrd="0" parTransId="{0494BFC4-F25E-AF4B-8FB4-365C6D3B3856}" sibTransId="{B8B9CA46-3DE6-C245-BE5C-8B778F2D293F}"/>
    <dgm:cxn modelId="{CDF0C1A3-D105-E642-B1BA-85DDF754E27A}" srcId="{6BEB1893-7C66-EB42-8328-10E3C4B21DD9}" destId="{42C93384-88CA-9E4B-A1F0-3CFB65B38D86}" srcOrd="1" destOrd="0" parTransId="{C32784EE-3991-9249-890B-F271D0A156FE}" sibTransId="{5A72676D-81FD-2E49-B379-274582C357BB}"/>
    <dgm:cxn modelId="{7624AA94-99AF-F243-AF6D-AB76BF4B730D}" type="presOf" srcId="{42C93384-88CA-9E4B-A1F0-3CFB65B38D86}" destId="{DDE499C9-76D5-5E49-9097-66EFEDB4274B}" srcOrd="0" destOrd="0" presId="urn:microsoft.com/office/officeart/2005/8/layout/arrow5"/>
    <dgm:cxn modelId="{7022F687-5EBF-1643-A1A7-73D535F61167}" type="presOf" srcId="{32540C3A-B0DF-A648-B3E1-0B2006356ED9}" destId="{5C796955-4A5E-ED48-92E2-4D0F37DAB885}" srcOrd="0" destOrd="0" presId="urn:microsoft.com/office/officeart/2005/8/layout/arrow5"/>
    <dgm:cxn modelId="{36633247-07CC-EC4E-828A-CA7E68BA460F}" type="presOf" srcId="{6BEB1893-7C66-EB42-8328-10E3C4B21DD9}" destId="{DB3A285F-2793-594A-8432-498A02F2A13B}" srcOrd="0" destOrd="0" presId="urn:microsoft.com/office/officeart/2005/8/layout/arrow5"/>
    <dgm:cxn modelId="{A14CB7D8-E378-9E41-A434-A331EFB7208E}" type="presParOf" srcId="{DB3A285F-2793-594A-8432-498A02F2A13B}" destId="{5C796955-4A5E-ED48-92E2-4D0F37DAB885}" srcOrd="0" destOrd="0" presId="urn:microsoft.com/office/officeart/2005/8/layout/arrow5"/>
    <dgm:cxn modelId="{48542A5B-2A66-6F42-8312-14FCF0E9CCC2}" type="presParOf" srcId="{DB3A285F-2793-594A-8432-498A02F2A13B}" destId="{DDE499C9-76D5-5E49-9097-66EFEDB4274B}"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796955-4A5E-ED48-92E2-4D0F37DAB885}">
      <dsp:nvSpPr>
        <dsp:cNvPr id="0" name=""/>
        <dsp:cNvSpPr/>
      </dsp:nvSpPr>
      <dsp:spPr>
        <a:xfrm rot="16200000">
          <a:off x="1322" y="558601"/>
          <a:ext cx="2946796" cy="2946796"/>
        </a:xfrm>
        <a:prstGeom prst="downArrow">
          <a:avLst>
            <a:gd name="adj1" fmla="val 50000"/>
            <a:gd name="adj2" fmla="val 35000"/>
          </a:avLst>
        </a:prstGeom>
        <a:solidFill>
          <a:srgbClr val="008000"/>
        </a:solidFill>
        <a:ln>
          <a:noFill/>
        </a:ln>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accent1">
              <a:hueOff val="0"/>
              <a:satOff val="0"/>
              <a:lumOff val="0"/>
              <a:alphaOff val="0"/>
              <a:shade val="8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lvl="0" algn="ctr" defTabSz="1822450">
            <a:lnSpc>
              <a:spcPct val="90000"/>
            </a:lnSpc>
            <a:spcBef>
              <a:spcPct val="0"/>
            </a:spcBef>
            <a:spcAft>
              <a:spcPct val="35000"/>
            </a:spcAft>
          </a:pPr>
          <a:r>
            <a:rPr lang="en-US" sz="4100" kern="1200" dirty="0" smtClean="0"/>
            <a:t>Peer	</a:t>
          </a:r>
          <a:endParaRPr lang="en-US" sz="4100" kern="1200" dirty="0"/>
        </a:p>
      </dsp:txBody>
      <dsp:txXfrm rot="5400000">
        <a:off x="1323" y="1295299"/>
        <a:ext cx="2431107" cy="1473398"/>
      </dsp:txXfrm>
    </dsp:sp>
    <dsp:sp modelId="{DDE499C9-76D5-5E49-9097-66EFEDB4274B}">
      <dsp:nvSpPr>
        <dsp:cNvPr id="0" name=""/>
        <dsp:cNvSpPr/>
      </dsp:nvSpPr>
      <dsp:spPr>
        <a:xfrm rot="5400000">
          <a:off x="3147880" y="558601"/>
          <a:ext cx="2946796" cy="2946796"/>
        </a:xfrm>
        <a:prstGeom prst="downArrow">
          <a:avLst>
            <a:gd name="adj1" fmla="val 50000"/>
            <a:gd name="adj2" fmla="val 35000"/>
          </a:avLst>
        </a:prstGeom>
        <a:solidFill>
          <a:srgbClr val="000090"/>
        </a:solidFill>
        <a:ln>
          <a:noFill/>
        </a:ln>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accent1">
              <a:hueOff val="0"/>
              <a:satOff val="0"/>
              <a:lumOff val="0"/>
              <a:alphaOff val="0"/>
              <a:shade val="8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291592" tIns="291592" rIns="291592" bIns="291592" numCol="1" spcCol="1270" anchor="ctr" anchorCtr="0">
          <a:noAutofit/>
        </a:bodyPr>
        <a:lstStyle/>
        <a:p>
          <a:pPr lvl="0" algn="ctr" defTabSz="1822450">
            <a:lnSpc>
              <a:spcPct val="90000"/>
            </a:lnSpc>
            <a:spcBef>
              <a:spcPct val="0"/>
            </a:spcBef>
            <a:spcAft>
              <a:spcPct val="35000"/>
            </a:spcAft>
          </a:pPr>
          <a:r>
            <a:rPr lang="en-US" sz="4100" kern="1200" dirty="0" smtClean="0"/>
            <a:t>Peer</a:t>
          </a:r>
          <a:endParaRPr lang="en-US" sz="4100" kern="1200" dirty="0"/>
        </a:p>
      </dsp:txBody>
      <dsp:txXfrm rot="-5400000">
        <a:off x="3663570" y="1295300"/>
        <a:ext cx="2431107" cy="14733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713D73DC-65C6-364A-AFAF-9F832EDC56F9}" type="datetimeFigureOut">
              <a:rPr lang="en-US"/>
              <a:pPr>
                <a:defRPr/>
              </a:pPr>
              <a:t>10/20/15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17189C35-E998-F94C-9BFA-E6D0077E8FEB}" type="slidenum">
              <a:rPr lang="en-US"/>
              <a:pPr>
                <a:defRPr/>
              </a:pPr>
              <a:t>‹#›</a:t>
            </a:fld>
            <a:endParaRPr lang="en-US"/>
          </a:p>
        </p:txBody>
      </p:sp>
    </p:spTree>
    <p:extLst>
      <p:ext uri="{BB962C8B-B14F-4D97-AF65-F5344CB8AC3E}">
        <p14:creationId xmlns:p14="http://schemas.microsoft.com/office/powerpoint/2010/main" val="2613891965"/>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8482F5-7E4A-0F4E-BD9F-AFD3986E2707}" type="slidenum">
              <a:rPr lang="en-US"/>
              <a:pPr/>
              <a:t>3</a:t>
            </a:fld>
            <a:endParaRPr lang="en-US"/>
          </a:p>
        </p:txBody>
      </p:sp>
      <p:sp>
        <p:nvSpPr>
          <p:cNvPr id="2918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sp>
      <p:sp>
        <p:nvSpPr>
          <p:cNvPr id="2918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16386" name="Notes Placeholder 2"/>
          <p:cNvSpPr>
            <a:spLocks noGrp="1"/>
          </p:cNvSpPr>
          <p:nvPr>
            <p:ph type="body" idx="1"/>
          </p:nvPr>
        </p:nvSpPr>
        <p:spPr>
          <a:noFill/>
        </p:spPr>
        <p:txBody>
          <a:bodyPr/>
          <a:lstStyle/>
          <a:p>
            <a:endParaRPr lang="en-US"/>
          </a:p>
        </p:txBody>
      </p:sp>
      <p:sp>
        <p:nvSpPr>
          <p:cNvPr id="16387" name="Slide Number Placeholder 3"/>
          <p:cNvSpPr>
            <a:spLocks noGrp="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DD7A626A-FBFF-0B47-A908-560A99B88B93}" type="slidenum">
              <a:rPr lang="en-US" sz="1200">
                <a:cs typeface="Geneva" charset="0"/>
              </a:rPr>
              <a:pPr/>
              <a:t>4</a:t>
            </a:fld>
            <a:endParaRPr lang="en-US" sz="1200">
              <a:cs typeface="Geneva"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A0475F-D1CD-C14A-9D56-EE6A2C4D4501}" type="slidenum">
              <a:rPr lang="en-US"/>
              <a:pPr/>
              <a:t>5</a:t>
            </a:fld>
            <a:endParaRPr lang="en-US"/>
          </a:p>
        </p:txBody>
      </p:sp>
      <p:sp>
        <p:nvSpPr>
          <p:cNvPr id="24473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44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62B603-859B-DF4B-9EFA-8F6C74407351}" type="slidenum">
              <a:rPr lang="en-US"/>
              <a:pPr/>
              <a:t>8</a:t>
            </a:fld>
            <a:endParaRPr lang="en-US"/>
          </a:p>
        </p:txBody>
      </p:sp>
      <p:sp>
        <p:nvSpPr>
          <p:cNvPr id="376834" name="Rectangle 2"/>
          <p:cNvSpPr>
            <a:spLocks noGrp="1" noRot="1" noChangeAspect="1" noChangeArrowheads="1" noTextEdit="1"/>
          </p:cNvSpPr>
          <p:nvPr>
            <p:ph type="sldImg"/>
          </p:nvPr>
        </p:nvSpPr>
        <p:spPr bwMode="auto">
          <a:xfrm>
            <a:off x="1152525" y="692150"/>
            <a:ext cx="4554538" cy="3416300"/>
          </a:xfrm>
          <a:prstGeom prst="rect">
            <a:avLst/>
          </a:prstGeom>
          <a:solidFill>
            <a:srgbClr val="FFFFFF"/>
          </a:solidFill>
          <a:ln>
            <a:solidFill>
              <a:srgbClr val="000000"/>
            </a:solidFill>
            <a:miter lim="800000"/>
            <a:headEnd/>
            <a:tailEnd/>
          </a:ln>
          <a:extLst>
            <a:ext uri="{FAA26D3D-D897-4be2-8F04-BA451C77F1D7}">
              <ma14:placeholderFlag xmlns:ma14="http://schemas.microsoft.com/office/mac/drawingml/2011/main" val="1"/>
            </a:ext>
          </a:extLst>
        </p:spPr>
      </p:sp>
      <p:sp>
        <p:nvSpPr>
          <p:cNvPr id="376835" name="Rectangle 3"/>
          <p:cNvSpPr>
            <a:spLocks noGrp="1" noChangeArrowheads="1"/>
          </p:cNvSpPr>
          <p:nvPr>
            <p:ph type="body" idx="1"/>
          </p:nvPr>
        </p:nvSpPr>
        <p:spPr bwMode="auto">
          <a:xfrm>
            <a:off x="914400" y="4343400"/>
            <a:ext cx="5029200" cy="41148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txBody>
          <a:bodyPr lIns="90488" tIns="44450" rIns="90488" bIns="44450"/>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A7AEB9-BC43-054A-A12E-A759E0879377}" type="slidenum">
              <a:rPr lang="en-US"/>
              <a:pPr/>
              <a:t>11</a:t>
            </a:fld>
            <a:endParaRPr lang="en-US"/>
          </a:p>
        </p:txBody>
      </p:sp>
      <p:sp>
        <p:nvSpPr>
          <p:cNvPr id="22835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228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962633-C50D-674B-8227-2DC0D2BAA462}" type="slidenum">
              <a:rPr lang="en-US"/>
              <a:pPr/>
              <a:t>15</a:t>
            </a:fld>
            <a:endParaRPr lang="en-US"/>
          </a:p>
        </p:txBody>
      </p:sp>
      <p:sp>
        <p:nvSpPr>
          <p:cNvPr id="38912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389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body" idx="1"/>
          </p:nvPr>
        </p:nvSpPr>
        <p:spPr>
          <a:noFill/>
        </p:spPr>
        <p:txBody>
          <a:bodyPr/>
          <a:lstStyle/>
          <a:p>
            <a:endParaRPr lang="en-US"/>
          </a:p>
        </p:txBody>
      </p:sp>
      <p:sp>
        <p:nvSpPr>
          <p:cNvPr id="5123" name="Rectangle 3"/>
          <p:cNvSpPr>
            <a:spLocks noGrp="1" noRot="1" noChangeAspect="1" noChangeArrowheads="1" noTextEdit="1"/>
          </p:cNvSpPr>
          <p:nvPr>
            <p:ph type="sldImg"/>
          </p:nvPr>
        </p:nvSpPr>
        <p:spPr>
          <a:xfrm>
            <a:off x="1150938" y="692150"/>
            <a:ext cx="4556125" cy="3416300"/>
          </a:xfrm>
          <a:ln cap="flat"/>
          <a:extLst>
            <a:ext uri="{FAA26D3D-D897-4be2-8F04-BA451C77F1D7}">
              <ma14:placeholderFlag xmlns:ma14="http://schemas.microsoft.com/office/mac/drawingml/2011/main" val="1"/>
            </a:ext>
          </a:extLs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Oval 3"/>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dirty="0"/>
          </a:p>
        </p:txBody>
      </p:sp>
      <p:sp>
        <p:nvSpPr>
          <p:cNvPr id="5" name="Oval 4"/>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dirty="0"/>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smtClean="0"/>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6" name="Date Placeholder 6"/>
          <p:cNvSpPr>
            <a:spLocks noGrp="1"/>
          </p:cNvSpPr>
          <p:nvPr>
            <p:ph type="dt" sz="half" idx="10"/>
          </p:nvPr>
        </p:nvSpPr>
        <p:spPr/>
        <p:txBody>
          <a:bodyPr/>
          <a:lstStyle>
            <a:lvl1pPr>
              <a:defRPr/>
            </a:lvl1pPr>
            <a:extLst/>
          </a:lstStyle>
          <a:p>
            <a:pPr>
              <a:defRPr/>
            </a:pPr>
            <a:fld id="{4E7E6EC2-8FCA-F342-B6C3-85D7B39ABE01}" type="datetimeFigureOut">
              <a:rPr lang="en-US"/>
              <a:pPr>
                <a:defRPr/>
              </a:pPr>
              <a:t>10/20/15</a:t>
            </a:fld>
            <a:endParaRPr lang="en-US" dirty="0"/>
          </a:p>
        </p:txBody>
      </p:sp>
      <p:sp>
        <p:nvSpPr>
          <p:cNvPr id="7" name="Footer Placeholder 19"/>
          <p:cNvSpPr>
            <a:spLocks noGrp="1"/>
          </p:cNvSpPr>
          <p:nvPr>
            <p:ph type="ftr" sz="quarter" idx="11"/>
          </p:nvPr>
        </p:nvSpPr>
        <p:spPr/>
        <p:txBody>
          <a:bodyPr/>
          <a:lstStyle>
            <a:lvl1pPr>
              <a:defRPr>
                <a:solidFill>
                  <a:schemeClr val="bg2">
                    <a:shade val="50000"/>
                    <a:satMod val="200000"/>
                  </a:schemeClr>
                </a:solidFill>
              </a:defRPr>
            </a:lvl1pPr>
            <a:extLst/>
          </a:lstStyle>
          <a:p>
            <a:pPr>
              <a:defRPr/>
            </a:pPr>
            <a:r>
              <a:rPr lang="en-US" dirty="0" smtClean="0"/>
              <a:t>#APSE2014</a:t>
            </a:r>
            <a:endParaRPr lang="en-US" dirty="0"/>
          </a:p>
        </p:txBody>
      </p:sp>
      <p:sp>
        <p:nvSpPr>
          <p:cNvPr id="8" name="Slide Number Placeholder 9"/>
          <p:cNvSpPr>
            <a:spLocks noGrp="1"/>
          </p:cNvSpPr>
          <p:nvPr>
            <p:ph type="sldNum" sz="quarter" idx="12"/>
          </p:nvPr>
        </p:nvSpPr>
        <p:spPr/>
        <p:txBody>
          <a:bodyPr/>
          <a:lstStyle>
            <a:lvl1pPr>
              <a:defRPr/>
            </a:lvl1pPr>
            <a:extLst/>
          </a:lstStyle>
          <a:p>
            <a:pPr>
              <a:defRPr/>
            </a:pPr>
            <a:fld id="{3DF57DA1-2AD2-FF41-B7A2-1B4F1AD3CC59}" type="slidenum">
              <a:rPr lang="en-US"/>
              <a:pPr>
                <a:defRPr/>
              </a:pPr>
              <a:t>‹#›</a:t>
            </a:fld>
            <a:endParaRPr lang="en-US" dirty="0"/>
          </a:p>
        </p:txBody>
      </p:sp>
    </p:spTree>
    <p:extLst>
      <p:ext uri="{BB962C8B-B14F-4D97-AF65-F5344CB8AC3E}">
        <p14:creationId xmlns:p14="http://schemas.microsoft.com/office/powerpoint/2010/main" val="3481142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extLst/>
          </a:lstStyle>
          <a:p>
            <a:pPr>
              <a:defRPr/>
            </a:pPr>
            <a:fld id="{871BF26B-E5F3-134B-8008-FB56B1FFA22C}" type="datetimeFigureOut">
              <a:rPr lang="en-US"/>
              <a:pPr>
                <a:defRPr/>
              </a:pPr>
              <a:t>10/20/15</a:t>
            </a:fld>
            <a:endParaRPr lang="en-US" dirty="0"/>
          </a:p>
        </p:txBody>
      </p:sp>
      <p:sp>
        <p:nvSpPr>
          <p:cNvPr id="5" name="Footer Placeholder 4"/>
          <p:cNvSpPr>
            <a:spLocks noGrp="1"/>
          </p:cNvSpPr>
          <p:nvPr>
            <p:ph type="ftr" sz="quarter" idx="11"/>
          </p:nvPr>
        </p:nvSpPr>
        <p:spPr/>
        <p:txBody>
          <a:bodyPr/>
          <a:lstStyle>
            <a:lvl1pPr>
              <a:defRPr>
                <a:solidFill>
                  <a:schemeClr val="bg2">
                    <a:shade val="50000"/>
                    <a:satMod val="200000"/>
                  </a:schemeClr>
                </a:solidFill>
              </a:defRPr>
            </a:lvl1pPr>
            <a:extLst/>
          </a:lstStyle>
          <a:p>
            <a:pPr>
              <a:defRPr/>
            </a:pPr>
            <a:r>
              <a:rPr lang="en-US" dirty="0" smtClean="0"/>
              <a:t>#APSE2014</a:t>
            </a:r>
            <a:endParaRPr lang="en-US" dirty="0"/>
          </a:p>
        </p:txBody>
      </p:sp>
      <p:sp>
        <p:nvSpPr>
          <p:cNvPr id="6" name="Slide Number Placeholder 5"/>
          <p:cNvSpPr>
            <a:spLocks noGrp="1"/>
          </p:cNvSpPr>
          <p:nvPr>
            <p:ph type="sldNum" sz="quarter" idx="12"/>
          </p:nvPr>
        </p:nvSpPr>
        <p:spPr/>
        <p:txBody>
          <a:bodyPr/>
          <a:lstStyle>
            <a:lvl1pPr>
              <a:defRPr/>
            </a:lvl1pPr>
            <a:extLst/>
          </a:lstStyle>
          <a:p>
            <a:pPr>
              <a:defRPr/>
            </a:pPr>
            <a:fld id="{DE0518C9-3CC7-7448-AD05-3CB269384775}" type="slidenum">
              <a:rPr lang="en-US"/>
              <a:pPr>
                <a:defRPr/>
              </a:pPr>
              <a:t>‹#›</a:t>
            </a:fld>
            <a:endParaRPr lang="en-US" dirty="0"/>
          </a:p>
        </p:txBody>
      </p:sp>
    </p:spTree>
    <p:extLst>
      <p:ext uri="{BB962C8B-B14F-4D97-AF65-F5344CB8AC3E}">
        <p14:creationId xmlns:p14="http://schemas.microsoft.com/office/powerpoint/2010/main" val="1462998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5" name="Rectangle 4"/>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6" name="Oval 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dirty="0"/>
          </a:p>
        </p:txBody>
      </p:sp>
      <p:sp>
        <p:nvSpPr>
          <p:cNvPr id="7" name="Oval 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fontAlgn="auto">
              <a:spcBef>
                <a:spcPts val="0"/>
              </a:spcBef>
              <a:spcAft>
                <a:spcPts val="0"/>
              </a:spcAft>
              <a:defRPr/>
            </a:pPr>
            <a:endParaRPr lang="en-US" dirty="0"/>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smtClean="0"/>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54996640-CE9E-9E46-9E1A-325E1D467E92}" type="datetimeFigureOut">
              <a:rPr lang="en-US"/>
              <a:pPr>
                <a:defRPr/>
              </a:pPr>
              <a:t>10/20/15</a:t>
            </a:fld>
            <a:endParaRPr lang="en-US" dirty="0"/>
          </a:p>
        </p:txBody>
      </p:sp>
      <p:sp>
        <p:nvSpPr>
          <p:cNvPr id="9" name="Footer Placeholder 4"/>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10" name="Slide Number Placeholder 5"/>
          <p:cNvSpPr>
            <a:spLocks noGrp="1"/>
          </p:cNvSpPr>
          <p:nvPr>
            <p:ph type="sldNum" sz="quarter" idx="12"/>
          </p:nvPr>
        </p:nvSpPr>
        <p:spPr/>
        <p:txBody>
          <a:bodyPr/>
          <a:lstStyle>
            <a:lvl1pPr>
              <a:defRPr/>
            </a:lvl1pPr>
            <a:extLst/>
          </a:lstStyle>
          <a:p>
            <a:pPr>
              <a:defRPr/>
            </a:pPr>
            <a:fld id="{DCA51CDF-7A81-424C-8057-ADAC32C3137F}" type="slidenum">
              <a:rPr lang="en-US"/>
              <a:pPr>
                <a:defRPr/>
              </a:pPr>
              <a:t>‹#›</a:t>
            </a:fld>
            <a:endParaRPr lang="en-US" dirty="0"/>
          </a:p>
        </p:txBody>
      </p:sp>
    </p:spTree>
    <p:extLst>
      <p:ext uri="{BB962C8B-B14F-4D97-AF65-F5344CB8AC3E}">
        <p14:creationId xmlns:p14="http://schemas.microsoft.com/office/powerpoint/2010/main" val="3205384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20D8E7FF-72B1-B149-8AA5-D41265ED3A55}" type="datetimeFigureOut">
              <a:rPr lang="en-US"/>
              <a:pPr>
                <a:defRPr/>
              </a:pPr>
              <a:t>10/20/15</a:t>
            </a:fld>
            <a:endParaRPr lang="en-US" dirty="0"/>
          </a:p>
        </p:txBody>
      </p:sp>
      <p:sp>
        <p:nvSpPr>
          <p:cNvPr id="6" name="Footer Placeholder 5"/>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7914F4CA-897D-214A-8D71-10AFFED61C52}" type="slidenum">
              <a:rPr lang="en-US"/>
              <a:pPr>
                <a:defRPr/>
              </a:pPr>
              <a:t>‹#›</a:t>
            </a:fld>
            <a:endParaRPr lang="en-US" dirty="0"/>
          </a:p>
        </p:txBody>
      </p:sp>
    </p:spTree>
    <p:extLst>
      <p:ext uri="{BB962C8B-B14F-4D97-AF65-F5344CB8AC3E}">
        <p14:creationId xmlns:p14="http://schemas.microsoft.com/office/powerpoint/2010/main" val="282146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smtClean="0"/>
              <a:t>Click to edit Master title style</a:t>
            </a:r>
            <a:endParaRPr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4898C2BC-2C6C-1841-819B-267B324546A2}" type="datetimeFigureOut">
              <a:rPr lang="en-US"/>
              <a:pPr>
                <a:defRPr/>
              </a:pPr>
              <a:t>10/20/15</a:t>
            </a:fld>
            <a:endParaRPr lang="en-US" dirty="0"/>
          </a:p>
        </p:txBody>
      </p:sp>
      <p:sp>
        <p:nvSpPr>
          <p:cNvPr id="8" name="Footer Placeholder 7"/>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E495D0EA-5D5D-1948-9829-DE54142719A3}" type="slidenum">
              <a:rPr lang="en-US"/>
              <a:pPr>
                <a:defRPr/>
              </a:pPr>
              <a:t>‹#›</a:t>
            </a:fld>
            <a:endParaRPr lang="en-US" dirty="0"/>
          </a:p>
        </p:txBody>
      </p:sp>
    </p:spTree>
    <p:extLst>
      <p:ext uri="{BB962C8B-B14F-4D97-AF65-F5344CB8AC3E}">
        <p14:creationId xmlns:p14="http://schemas.microsoft.com/office/powerpoint/2010/main" val="23893373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fld id="{7E00FBB7-8DEA-0E49-B7EF-941B428C7D7B}" type="datetimeFigureOut">
              <a:rPr lang="en-US"/>
              <a:pPr>
                <a:defRPr/>
              </a:pPr>
              <a:t>10/20/15</a:t>
            </a:fld>
            <a:endParaRPr lang="en-US" dirty="0"/>
          </a:p>
        </p:txBody>
      </p:sp>
      <p:sp>
        <p:nvSpPr>
          <p:cNvPr id="4" name="Footer Placeholder 3"/>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extLst/>
          </a:lstStyle>
          <a:p>
            <a:pPr>
              <a:defRPr/>
            </a:pPr>
            <a:fld id="{EF8BE299-D423-6340-A0CA-3205E805061E}" type="slidenum">
              <a:rPr lang="en-US"/>
              <a:pPr>
                <a:defRPr/>
              </a:pPr>
              <a:t>‹#›</a:t>
            </a:fld>
            <a:endParaRPr lang="en-US" dirty="0"/>
          </a:p>
        </p:txBody>
      </p:sp>
    </p:spTree>
    <p:extLst>
      <p:ext uri="{BB962C8B-B14F-4D97-AF65-F5344CB8AC3E}">
        <p14:creationId xmlns:p14="http://schemas.microsoft.com/office/powerpoint/2010/main" val="1135930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9" name="Rectangle 8"/>
          <p:cNvSpPr/>
          <p:nvPr userDrawn="1"/>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10" name="Rectangle 9"/>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11" name="Picture Placeholder 7"/>
          <p:cNvSpPr>
            <a:spLocks noGrp="1"/>
          </p:cNvSpPr>
          <p:nvPr>
            <p:ph type="pic" sz="quarter" idx="15"/>
          </p:nvPr>
        </p:nvSpPr>
        <p:spPr>
          <a:xfrm>
            <a:off x="1088136" y="948268"/>
            <a:ext cx="859197" cy="812798"/>
          </a:xfrm>
        </p:spPr>
        <p:txBody>
          <a:bodyPr>
            <a:normAutofit/>
          </a:bodyPr>
          <a:lstStyle>
            <a:lvl1pPr marL="82296" indent="0">
              <a:buNone/>
              <a:defRPr sz="1600"/>
            </a:lvl1pPr>
          </a:lstStyle>
          <a:p>
            <a:pPr lvl="0"/>
            <a:endParaRPr lang="en-US" noProof="0" dirty="0"/>
          </a:p>
        </p:txBody>
      </p:sp>
      <p:sp>
        <p:nvSpPr>
          <p:cNvPr id="18" name="Title 17"/>
          <p:cNvSpPr>
            <a:spLocks noGrp="1"/>
          </p:cNvSpPr>
          <p:nvPr>
            <p:ph type="title"/>
          </p:nvPr>
        </p:nvSpPr>
        <p:spPr>
          <a:xfrm>
            <a:off x="2489199" y="140230"/>
            <a:ext cx="6204035" cy="672571"/>
          </a:xfrm>
        </p:spPr>
        <p:txBody>
          <a:bodyPr vert="horz"/>
          <a:lstStyle>
            <a:lvl1pPr algn="ctr">
              <a:defRPr sz="3200"/>
            </a:lvl1pPr>
          </a:lstStyle>
          <a:p>
            <a:r>
              <a:rPr lang="en-US" dirty="0" smtClean="0"/>
              <a:t>Click to edit Master title style</a:t>
            </a:r>
            <a:endParaRPr lang="en-US" dirty="0"/>
          </a:p>
        </p:txBody>
      </p:sp>
      <p:sp>
        <p:nvSpPr>
          <p:cNvPr id="19" name="Picture Placeholder 7"/>
          <p:cNvSpPr>
            <a:spLocks noGrp="1"/>
          </p:cNvSpPr>
          <p:nvPr>
            <p:ph type="pic" sz="quarter" idx="16"/>
          </p:nvPr>
        </p:nvSpPr>
        <p:spPr>
          <a:xfrm>
            <a:off x="1088136" y="1930399"/>
            <a:ext cx="859197" cy="812798"/>
          </a:xfrm>
        </p:spPr>
        <p:txBody>
          <a:bodyPr>
            <a:normAutofit/>
          </a:bodyPr>
          <a:lstStyle>
            <a:lvl1pPr marL="82296" indent="0">
              <a:buNone/>
              <a:defRPr sz="1600"/>
            </a:lvl1pPr>
          </a:lstStyle>
          <a:p>
            <a:pPr lvl="0"/>
            <a:endParaRPr lang="en-US" noProof="0" dirty="0"/>
          </a:p>
        </p:txBody>
      </p:sp>
      <p:sp>
        <p:nvSpPr>
          <p:cNvPr id="20" name="Picture Placeholder 7"/>
          <p:cNvSpPr>
            <a:spLocks noGrp="1"/>
          </p:cNvSpPr>
          <p:nvPr>
            <p:ph type="pic" sz="quarter" idx="17"/>
          </p:nvPr>
        </p:nvSpPr>
        <p:spPr>
          <a:xfrm>
            <a:off x="1082717" y="2946401"/>
            <a:ext cx="859197" cy="812798"/>
          </a:xfrm>
        </p:spPr>
        <p:txBody>
          <a:bodyPr>
            <a:normAutofit/>
          </a:bodyPr>
          <a:lstStyle>
            <a:lvl1pPr marL="82296" indent="0">
              <a:buNone/>
              <a:defRPr sz="1600"/>
            </a:lvl1pPr>
          </a:lstStyle>
          <a:p>
            <a:pPr lvl="0"/>
            <a:endParaRPr lang="en-US" noProof="0" dirty="0"/>
          </a:p>
        </p:txBody>
      </p:sp>
      <p:sp>
        <p:nvSpPr>
          <p:cNvPr id="21" name="Picture Placeholder 7"/>
          <p:cNvSpPr>
            <a:spLocks noGrp="1"/>
          </p:cNvSpPr>
          <p:nvPr>
            <p:ph type="pic" sz="quarter" idx="18"/>
          </p:nvPr>
        </p:nvSpPr>
        <p:spPr>
          <a:xfrm>
            <a:off x="1088136" y="3945468"/>
            <a:ext cx="859197" cy="812798"/>
          </a:xfrm>
        </p:spPr>
        <p:txBody>
          <a:bodyPr>
            <a:normAutofit/>
          </a:bodyPr>
          <a:lstStyle>
            <a:lvl1pPr marL="82296" indent="0">
              <a:buNone/>
              <a:defRPr sz="1600"/>
            </a:lvl1pPr>
          </a:lstStyle>
          <a:p>
            <a:pPr lvl="0"/>
            <a:endParaRPr lang="en-US" noProof="0" dirty="0"/>
          </a:p>
        </p:txBody>
      </p:sp>
      <p:sp>
        <p:nvSpPr>
          <p:cNvPr id="22" name="Picture Placeholder 7"/>
          <p:cNvSpPr>
            <a:spLocks noGrp="1"/>
          </p:cNvSpPr>
          <p:nvPr>
            <p:ph type="pic" sz="quarter" idx="19"/>
          </p:nvPr>
        </p:nvSpPr>
        <p:spPr>
          <a:xfrm>
            <a:off x="1082717" y="4910668"/>
            <a:ext cx="859197" cy="812798"/>
          </a:xfrm>
        </p:spPr>
        <p:txBody>
          <a:bodyPr>
            <a:normAutofit/>
          </a:bodyPr>
          <a:lstStyle>
            <a:lvl1pPr marL="82296" indent="0">
              <a:buNone/>
              <a:defRPr sz="1600"/>
            </a:lvl1pPr>
          </a:lstStyle>
          <a:p>
            <a:pPr lvl="0"/>
            <a:endParaRPr lang="en-US" noProof="0" dirty="0"/>
          </a:p>
        </p:txBody>
      </p:sp>
      <p:sp>
        <p:nvSpPr>
          <p:cNvPr id="23" name="Picture Placeholder 7"/>
          <p:cNvSpPr>
            <a:spLocks noGrp="1"/>
          </p:cNvSpPr>
          <p:nvPr>
            <p:ph type="pic" sz="quarter" idx="20"/>
          </p:nvPr>
        </p:nvSpPr>
        <p:spPr>
          <a:xfrm>
            <a:off x="1088136" y="5899151"/>
            <a:ext cx="859197" cy="812798"/>
          </a:xfrm>
        </p:spPr>
        <p:txBody>
          <a:bodyPr>
            <a:normAutofit/>
          </a:bodyPr>
          <a:lstStyle>
            <a:lvl1pPr marL="82296" indent="0">
              <a:buNone/>
              <a:defRPr sz="1600"/>
            </a:lvl1pPr>
          </a:lstStyle>
          <a:p>
            <a:pPr lvl="0"/>
            <a:endParaRPr lang="en-US" noProof="0" dirty="0"/>
          </a:p>
        </p:txBody>
      </p:sp>
    </p:spTree>
    <p:extLst>
      <p:ext uri="{BB962C8B-B14F-4D97-AF65-F5344CB8AC3E}">
        <p14:creationId xmlns:p14="http://schemas.microsoft.com/office/powerpoint/2010/main" val="3287205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smtClean="0"/>
              <a:t>Click to edit Master title style</a:t>
            </a:r>
            <a:endParaRPr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AC1A2D0B-DE91-C24C-AF4A-76E7D563B48D}" type="datetimeFigureOut">
              <a:rPr lang="en-US"/>
              <a:pPr>
                <a:defRPr/>
              </a:pPr>
              <a:t>10/20/15</a:t>
            </a:fld>
            <a:endParaRPr lang="en-US" dirty="0"/>
          </a:p>
        </p:txBody>
      </p:sp>
      <p:sp>
        <p:nvSpPr>
          <p:cNvPr id="6" name="Footer Placeholder 5"/>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D9CFF0E2-C4D3-6049-ABA5-9FE4BC468A4B}" type="slidenum">
              <a:rPr lang="en-US"/>
              <a:pPr>
                <a:defRPr/>
              </a:pPr>
              <a:t>‹#›</a:t>
            </a:fld>
            <a:endParaRPr lang="en-US" dirty="0"/>
          </a:p>
        </p:txBody>
      </p:sp>
    </p:spTree>
    <p:extLst>
      <p:ext uri="{BB962C8B-B14F-4D97-AF65-F5344CB8AC3E}">
        <p14:creationId xmlns:p14="http://schemas.microsoft.com/office/powerpoint/2010/main" val="373848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extLst/>
          </a:lstStyle>
          <a:p>
            <a:pPr indent="-283464" fontAlgn="auto">
              <a:lnSpc>
                <a:spcPts val="3000"/>
              </a:lnSpc>
              <a:spcBef>
                <a:spcPts val="600"/>
              </a:spcBef>
              <a:spcAft>
                <a:spcPts val="0"/>
              </a:spcAft>
              <a:buClr>
                <a:schemeClr val="accent1"/>
              </a:buClr>
              <a:buSzPct val="80000"/>
              <a:buFont typeface="Wingdings 2"/>
              <a:buNone/>
              <a:defRPr/>
            </a:pPr>
            <a:endParaRPr lang="en-US" sz="3200" dirty="0">
              <a:latin typeface="+mn-lt"/>
              <a:ea typeface="+mn-ea"/>
              <a:cs typeface="+mn-cs"/>
            </a:endParaRPr>
          </a:p>
        </p:txBody>
      </p:sp>
      <p:sp>
        <p:nvSpPr>
          <p:cNvPr id="6" name="Process 5"/>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7" name="Process 6"/>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smtClean="0"/>
              <a:t>Click to edit Master title style</a:t>
            </a:r>
            <a:endParaRPr lang="en-US"/>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dirty="0" smtClean="0"/>
              <a:t>Drag picture to placeholder or click icon to add</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A502DF82-8239-ED49-A986-A52774B208A4}" type="datetimeFigureOut">
              <a:rPr lang="en-US"/>
              <a:pPr>
                <a:defRPr/>
              </a:pPr>
              <a:t>10/20/15</a:t>
            </a:fld>
            <a:endParaRPr lang="en-US" dirty="0"/>
          </a:p>
        </p:txBody>
      </p:sp>
      <p:sp>
        <p:nvSpPr>
          <p:cNvPr id="9" name="Footer Placeholder 5"/>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10" name="Slide Number Placeholder 6"/>
          <p:cNvSpPr>
            <a:spLocks noGrp="1"/>
          </p:cNvSpPr>
          <p:nvPr>
            <p:ph type="sldNum" sz="quarter" idx="12"/>
          </p:nvPr>
        </p:nvSpPr>
        <p:spPr/>
        <p:txBody>
          <a:bodyPr/>
          <a:lstStyle>
            <a:lvl1pPr>
              <a:defRPr/>
            </a:lvl1pPr>
            <a:extLst/>
          </a:lstStyle>
          <a:p>
            <a:pPr>
              <a:defRPr/>
            </a:pPr>
            <a:fld id="{805BEA33-7D7F-DD40-B8BE-D194AD0272E9}" type="slidenum">
              <a:rPr lang="en-US"/>
              <a:pPr>
                <a:defRPr/>
              </a:pPr>
              <a:t>‹#›</a:t>
            </a:fld>
            <a:endParaRPr lang="en-US" dirty="0"/>
          </a:p>
        </p:txBody>
      </p:sp>
    </p:spTree>
    <p:extLst>
      <p:ext uri="{BB962C8B-B14F-4D97-AF65-F5344CB8AC3E}">
        <p14:creationId xmlns:p14="http://schemas.microsoft.com/office/powerpoint/2010/main" val="3224786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extLst/>
          </a:lstStyle>
          <a:p>
            <a:pPr>
              <a:defRPr/>
            </a:pPr>
            <a:fld id="{7CA92AD5-5C2C-0D44-986D-7335D240CA37}" type="datetimeFigureOut">
              <a:rPr lang="en-US"/>
              <a:pPr>
                <a:defRPr/>
              </a:pPr>
              <a:t>10/20/15</a:t>
            </a:fld>
            <a:endParaRPr lang="en-US" dirty="0"/>
          </a:p>
        </p:txBody>
      </p:sp>
      <p:sp>
        <p:nvSpPr>
          <p:cNvPr id="5" name="Footer Placeholder 4"/>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6" name="Slide Number Placeholder 5"/>
          <p:cNvSpPr>
            <a:spLocks noGrp="1"/>
          </p:cNvSpPr>
          <p:nvPr>
            <p:ph type="sldNum" sz="quarter" idx="12"/>
          </p:nvPr>
        </p:nvSpPr>
        <p:spPr/>
        <p:txBody>
          <a:bodyPr/>
          <a:lstStyle>
            <a:lvl1pPr>
              <a:defRPr/>
            </a:lvl1pPr>
            <a:extLst/>
          </a:lstStyle>
          <a:p>
            <a:pPr>
              <a:defRPr/>
            </a:pPr>
            <a:fld id="{31952A26-B463-2948-AE0D-BDBE007892A0}" type="slidenum">
              <a:rPr lang="en-US"/>
              <a:pPr>
                <a:defRPr/>
              </a:pPr>
              <a:t>‹#›</a:t>
            </a:fld>
            <a:endParaRPr lang="en-US" dirty="0"/>
          </a:p>
        </p:txBody>
      </p:sp>
    </p:spTree>
    <p:extLst>
      <p:ext uri="{BB962C8B-B14F-4D97-AF65-F5344CB8AC3E}">
        <p14:creationId xmlns:p14="http://schemas.microsoft.com/office/powerpoint/2010/main" val="1204731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extLst/>
          </a:lstStyle>
          <a:p>
            <a:pPr>
              <a:defRPr/>
            </a:pPr>
            <a:fld id="{B69DC645-C4B5-3A42-B161-AFCB8437CFDE}" type="datetimeFigureOut">
              <a:rPr lang="en-US"/>
              <a:pPr>
                <a:defRPr/>
              </a:pPr>
              <a:t>10/20/15</a:t>
            </a:fld>
            <a:endParaRPr lang="en-US" dirty="0"/>
          </a:p>
        </p:txBody>
      </p:sp>
      <p:sp>
        <p:nvSpPr>
          <p:cNvPr id="5" name="Footer Placeholder 4"/>
          <p:cNvSpPr>
            <a:spLocks noGrp="1"/>
          </p:cNvSpPr>
          <p:nvPr>
            <p:ph type="ftr" sz="quarter" idx="11"/>
          </p:nvPr>
        </p:nvSpPr>
        <p:spPr/>
        <p:txBody>
          <a:bodyPr/>
          <a:lstStyle>
            <a:lvl1pPr>
              <a:defRPr>
                <a:solidFill>
                  <a:schemeClr val="bg2">
                    <a:shade val="50000"/>
                    <a:satMod val="200000"/>
                  </a:schemeClr>
                </a:solidFill>
              </a:defRPr>
            </a:lvl1pPr>
            <a:extLst/>
          </a:lstStyle>
          <a:p>
            <a:pPr>
              <a:defRPr/>
            </a:pPr>
            <a:endParaRPr lang="en-US"/>
          </a:p>
        </p:txBody>
      </p:sp>
      <p:sp>
        <p:nvSpPr>
          <p:cNvPr id="6" name="Slide Number Placeholder 5"/>
          <p:cNvSpPr>
            <a:spLocks noGrp="1"/>
          </p:cNvSpPr>
          <p:nvPr>
            <p:ph type="sldNum" sz="quarter" idx="12"/>
          </p:nvPr>
        </p:nvSpPr>
        <p:spPr/>
        <p:txBody>
          <a:bodyPr/>
          <a:lstStyle>
            <a:lvl1pPr>
              <a:defRPr/>
            </a:lvl1pPr>
            <a:extLst/>
          </a:lstStyle>
          <a:p>
            <a:pPr>
              <a:defRPr/>
            </a:pPr>
            <a:fld id="{DB926D39-B112-8545-A064-A5EB9DE8A934}" type="slidenum">
              <a:rPr lang="en-US"/>
              <a:pPr>
                <a:defRPr/>
              </a:pPr>
              <a:t>‹#›</a:t>
            </a:fld>
            <a:endParaRPr lang="en-US" dirty="0"/>
          </a:p>
        </p:txBody>
      </p:sp>
    </p:spTree>
    <p:extLst>
      <p:ext uri="{BB962C8B-B14F-4D97-AF65-F5344CB8AC3E}">
        <p14:creationId xmlns:p14="http://schemas.microsoft.com/office/powerpoint/2010/main" val="1434425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6772CCCF-7FEA-954A-A44C-03B1D37A0B58}" type="slidenum">
              <a:rPr lang="en-US"/>
              <a:pPr/>
              <a:t>‹#›</a:t>
            </a:fld>
            <a:endParaRPr lang="en-US"/>
          </a:p>
        </p:txBody>
      </p:sp>
    </p:spTree>
    <p:extLst>
      <p:ext uri="{BB962C8B-B14F-4D97-AF65-F5344CB8AC3E}">
        <p14:creationId xmlns:p14="http://schemas.microsoft.com/office/powerpoint/2010/main" val="157615109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extLst/>
          </a:lstStyle>
          <a:p>
            <a:r>
              <a:rPr lang="en-US" dirty="0" smtClean="0"/>
              <a:t>Click to edit Master title style</a:t>
            </a:r>
            <a:endParaRPr lang="en-US" dirty="0"/>
          </a:p>
        </p:txBody>
      </p:sp>
      <p:sp>
        <p:nvSpPr>
          <p:cNvPr id="1033" name="Text Placeholder 8"/>
          <p:cNvSpPr>
            <a:spLocks noGrp="1"/>
          </p:cNvSpPr>
          <p:nvPr>
            <p:ph type="body" idx="1"/>
          </p:nvPr>
        </p:nvSpPr>
        <p:spPr bwMode="auto">
          <a:xfrm>
            <a:off x="1435100"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ea typeface="+mn-ea"/>
                <a:cs typeface="+mn-cs"/>
              </a:defRPr>
            </a:lvl1pPr>
            <a:extLst/>
          </a:lstStyle>
          <a:p>
            <a:pPr>
              <a:defRPr/>
            </a:pPr>
            <a:fld id="{A1D3836E-33C5-FA4A-9E7B-1E347AD6B1B6}" type="datetimeFigureOut">
              <a:rPr lang="en-US"/>
              <a:pPr>
                <a:defRPr/>
              </a:pPr>
              <a:t>10/20/15</a:t>
            </a:fld>
            <a:endParaRPr lang="en-US" dirty="0">
              <a:solidFill>
                <a:schemeClr val="bg2">
                  <a:shade val="50000"/>
                </a:schemeClr>
              </a:solidFill>
            </a:endParaRPr>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algn="r" eaLnBrk="1" fontAlgn="auto" latinLnBrk="0" hangingPunct="1">
              <a:spcBef>
                <a:spcPts val="0"/>
              </a:spcBef>
              <a:spcAft>
                <a:spcPts val="0"/>
              </a:spcAft>
              <a:defRPr kumimoji="0" sz="2000">
                <a:solidFill>
                  <a:srgbClr val="3366FF"/>
                </a:solidFill>
                <a:effectLst/>
                <a:latin typeface="+mn-lt"/>
                <a:ea typeface="+mn-ea"/>
                <a:cs typeface="+mn-cs"/>
              </a:defRPr>
            </a:lvl1pPr>
            <a:extLst/>
          </a:lstStyle>
          <a:p>
            <a:pPr>
              <a:defRPr/>
            </a:pPr>
            <a:r>
              <a:rPr lang="en-US" dirty="0" smtClean="0"/>
              <a:t># APSE2014</a:t>
            </a:r>
            <a:endParaRPr lang="en-US" dirty="0"/>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ea typeface="+mn-ea"/>
                <a:cs typeface="+mn-cs"/>
              </a:defRPr>
            </a:lvl1pPr>
            <a:extLst/>
          </a:lstStyle>
          <a:p>
            <a:pPr>
              <a:defRPr/>
            </a:pPr>
            <a:fld id="{76D09E21-E3A5-A34B-9A90-0AE5B5561539}" type="slidenum">
              <a:rPr lang="en-US"/>
              <a:pPr>
                <a:defRPr/>
              </a:pPr>
              <a:t>‹#›</a:t>
            </a:fld>
            <a:endParaRPr lang="en-US" dirty="0">
              <a:solidFill>
                <a:schemeClr val="bg2">
                  <a:shade val="50000"/>
                </a:schemeClr>
              </a:solidFill>
            </a:endParaRPr>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dirty="0"/>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Lst>
  <p:txStyles>
    <p:titleStyle>
      <a:lvl1pPr algn="l" rtl="0" eaLnBrk="0" fontAlgn="base" hangingPunct="0">
        <a:spcBef>
          <a:spcPct val="0"/>
        </a:spcBef>
        <a:spcAft>
          <a:spcPct val="0"/>
        </a:spcAft>
        <a:defRPr sz="4300" b="1" kern="1200">
          <a:solidFill>
            <a:srgbClr val="41536B"/>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41536B"/>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41536B"/>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41536B"/>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41536B"/>
          </a:solidFill>
          <a:latin typeface="Gill Sans MT" charset="0"/>
          <a:ea typeface="ＭＳ Ｐゴシック" charset="0"/>
          <a:cs typeface="ＭＳ Ｐゴシック"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charset="0"/>
        <a:buChar char=""/>
        <a:defRPr sz="2800" kern="1200">
          <a:solidFill>
            <a:schemeClr val="tx1"/>
          </a:solidFill>
          <a:latin typeface="+mn-lt"/>
          <a:ea typeface="ＭＳ Ｐゴシック" charset="0"/>
          <a:cs typeface="ＭＳ Ｐゴシック" charset="0"/>
        </a:defRPr>
      </a:lvl1pPr>
      <a:lvl2pPr marL="639763" indent="-236538" algn="l" rtl="0" eaLnBrk="0" fontAlgn="base" hangingPunct="0">
        <a:spcBef>
          <a:spcPts val="550"/>
        </a:spcBef>
        <a:spcAft>
          <a:spcPct val="0"/>
        </a:spcAft>
        <a:buClr>
          <a:schemeClr val="accent1"/>
        </a:buClr>
        <a:buFont typeface="Verdana" charset="0"/>
        <a:buChar char="◦"/>
        <a:defRPr sz="2800" kern="1200">
          <a:solidFill>
            <a:schemeClr val="tx1"/>
          </a:solidFill>
          <a:latin typeface="+mn-lt"/>
          <a:ea typeface="ＭＳ Ｐゴシック" charset="0"/>
          <a:cs typeface="+mn-cs"/>
        </a:defRPr>
      </a:lvl2pPr>
      <a:lvl3pPr marL="885825" indent="-228600" algn="l" rtl="0" eaLnBrk="0" fontAlgn="base" hangingPunct="0">
        <a:spcBef>
          <a:spcPct val="20000"/>
        </a:spcBef>
        <a:spcAft>
          <a:spcPct val="0"/>
        </a:spcAft>
        <a:buClr>
          <a:schemeClr val="accent2"/>
        </a:buClr>
        <a:buFont typeface="Wingdings 2" charset="0"/>
        <a:buChar char=""/>
        <a:defRPr sz="2400" kern="1200">
          <a:solidFill>
            <a:schemeClr val="tx1"/>
          </a:solidFill>
          <a:latin typeface="+mn-lt"/>
          <a:ea typeface="ＭＳ Ｐゴシック" charset="0"/>
          <a:cs typeface="+mn-cs"/>
        </a:defRPr>
      </a:lvl3pPr>
      <a:lvl4pPr marL="1096963" indent="-173038" algn="l" rtl="0" eaLnBrk="0" fontAlgn="base" hangingPunct="0">
        <a:spcBef>
          <a:spcPct val="20000"/>
        </a:spcBef>
        <a:spcAft>
          <a:spcPct val="0"/>
        </a:spcAft>
        <a:buClr>
          <a:srgbClr val="2397E2"/>
        </a:buClr>
        <a:buFont typeface="Wingdings 2" charset="0"/>
        <a:buChar char=""/>
        <a:defRPr sz="2000" kern="1200">
          <a:solidFill>
            <a:schemeClr val="tx1"/>
          </a:solidFill>
          <a:latin typeface="+mn-lt"/>
          <a:ea typeface="ＭＳ Ｐゴシック" charset="0"/>
          <a:cs typeface="+mn-cs"/>
        </a:defRPr>
      </a:lvl4pPr>
      <a:lvl5pPr marL="1296988" indent="-182563" algn="l" rtl="0" eaLnBrk="0" fontAlgn="base" hangingPunct="0">
        <a:spcBef>
          <a:spcPct val="20000"/>
        </a:spcBef>
        <a:spcAft>
          <a:spcPct val="0"/>
        </a:spcAft>
        <a:buClr>
          <a:srgbClr val="35ACA2"/>
        </a:buClr>
        <a:buFont typeface="Wingdings 2" charset="0"/>
        <a:buChar char=""/>
        <a:defRPr sz="2000" kern="1200">
          <a:solidFill>
            <a:schemeClr val="tx1"/>
          </a:solidFill>
          <a:latin typeface="+mn-lt"/>
          <a:ea typeface="ＭＳ Ｐゴシック" charset="0"/>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tiff"/><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4" Type="http://schemas.openxmlformats.org/officeDocument/2006/relationships/image" Target="../media/image6.png"/><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image" Target="../media/image12.jpeg"/><Relationship Id="rId6" Type="http://schemas.openxmlformats.org/officeDocument/2006/relationships/image" Target="../media/image13.jpeg"/><Relationship Id="rId1" Type="http://schemas.openxmlformats.org/officeDocument/2006/relationships/slideLayout" Target="../slideLayouts/slideLayout2.xml"/><Relationship Id="rId2"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jpg"/></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29.WMF"/><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32.WMF"/><Relationship Id="rId1" Type="http://schemas.openxmlformats.org/officeDocument/2006/relationships/slideLayout" Target="../slideLayouts/slideLayout2.xml"/><Relationship Id="rId2" Type="http://schemas.openxmlformats.org/officeDocument/2006/relationships/diagramData" Target="../diagrams/data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tif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style>
          <a:lnRef idx="0">
            <a:schemeClr val="accent5"/>
          </a:lnRef>
          <a:fillRef idx="3">
            <a:schemeClr val="accent5"/>
          </a:fillRef>
          <a:effectRef idx="3">
            <a:schemeClr val="accent5"/>
          </a:effectRef>
          <a:fontRef idx="minor">
            <a:schemeClr val="lt1"/>
          </a:fontRef>
        </p:style>
        <p:txBody>
          <a:bodyPr/>
          <a:lstStyle/>
          <a:p>
            <a:r>
              <a:rPr lang="en-US" dirty="0" smtClean="0"/>
              <a:t>Employment First:</a:t>
            </a:r>
            <a:br>
              <a:rPr lang="en-US" dirty="0" smtClean="0"/>
            </a:br>
            <a:r>
              <a:rPr lang="en-US" dirty="0" smtClean="0"/>
              <a:t>Time to Get Real </a:t>
            </a:r>
            <a:endParaRPr lang="en-US" dirty="0"/>
          </a:p>
        </p:txBody>
      </p:sp>
      <p:sp>
        <p:nvSpPr>
          <p:cNvPr id="3" name="Subtitle 2"/>
          <p:cNvSpPr>
            <a:spLocks noGrp="1"/>
          </p:cNvSpPr>
          <p:nvPr>
            <p:ph type="subTitle" idx="1"/>
          </p:nvPr>
        </p:nvSpPr>
        <p:spPr>
          <a:xfrm>
            <a:off x="1432560" y="2319964"/>
            <a:ext cx="7406640" cy="1752600"/>
          </a:xfrm>
        </p:spPr>
        <p:txBody>
          <a:bodyPr/>
          <a:lstStyle/>
          <a:p>
            <a:r>
              <a:rPr lang="en-US" sz="3200" b="1" dirty="0" smtClean="0"/>
              <a:t>David Hoff</a:t>
            </a:r>
          </a:p>
          <a:p>
            <a:r>
              <a:rPr lang="en-US" dirty="0" smtClean="0"/>
              <a:t/>
            </a:r>
            <a:br>
              <a:rPr lang="en-US" dirty="0" smtClean="0"/>
            </a:br>
            <a:r>
              <a:rPr lang="en-US" dirty="0" smtClean="0"/>
              <a:t>Institute for Community Inclusion</a:t>
            </a:r>
            <a:br>
              <a:rPr lang="en-US" dirty="0" smtClean="0"/>
            </a:br>
            <a:r>
              <a:rPr lang="en-US" dirty="0" smtClean="0"/>
              <a:t>UMass Boston</a:t>
            </a:r>
            <a:br>
              <a:rPr lang="en-US" dirty="0" smtClean="0"/>
            </a:br>
            <a:endParaRPr lang="en-US" dirty="0" smtClean="0"/>
          </a:p>
          <a:p>
            <a:endParaRPr lang="en-US" dirty="0"/>
          </a:p>
          <a:p>
            <a:r>
              <a:rPr lang="en-US" dirty="0" smtClean="0"/>
              <a:t>APSE Past President</a:t>
            </a:r>
            <a:endParaRPr lang="en-US" dirty="0"/>
          </a:p>
        </p:txBody>
      </p:sp>
      <p:pic>
        <p:nvPicPr>
          <p:cNvPr id="4" name="Picture 3" descr="New APSE Logo.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4128" y="4737100"/>
            <a:ext cx="1609171" cy="981841"/>
          </a:xfrm>
          <a:prstGeom prst="rect">
            <a:avLst/>
          </a:prstGeom>
        </p:spPr>
      </p:pic>
      <p:pic>
        <p:nvPicPr>
          <p:cNvPr id="5" name="Picture 4" descr="ICI_UMB_BLACK.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69100" y="3259764"/>
            <a:ext cx="1579563"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25512537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0" y="457200"/>
            <a:ext cx="7772400" cy="1143000"/>
          </a:xfrm>
          <a:scene3d>
            <a:camera prst="isometricOffAxis1Right"/>
            <a:lightRig rig="threePt" dir="t"/>
          </a:scene3d>
        </p:spPr>
        <p:txBody>
          <a:bodyPr/>
          <a:lstStyle/>
          <a:p>
            <a:pPr>
              <a:defRPr/>
            </a:pPr>
            <a:r>
              <a:rPr lang="en-US" dirty="0" smtClean="0"/>
              <a:t>Contact Information</a:t>
            </a:r>
            <a:endParaRPr lang="en-US" dirty="0"/>
          </a:p>
        </p:txBody>
      </p:sp>
      <p:sp>
        <p:nvSpPr>
          <p:cNvPr id="18434" name="TextBox 4"/>
          <p:cNvSpPr txBox="1">
            <a:spLocks noChangeArrowheads="1"/>
          </p:cNvSpPr>
          <p:nvPr/>
        </p:nvSpPr>
        <p:spPr bwMode="auto">
          <a:xfrm>
            <a:off x="1219200" y="2286000"/>
            <a:ext cx="64008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r>
              <a:rPr lang="en-US" sz="3200" b="1" dirty="0">
                <a:latin typeface="Comic Sans MS" charset="0"/>
                <a:cs typeface="Comic Sans MS" charset="0"/>
              </a:rPr>
              <a:t>David Hoff</a:t>
            </a:r>
          </a:p>
          <a:p>
            <a:pPr algn="ctr"/>
            <a:endParaRPr lang="en-US" dirty="0">
              <a:cs typeface="Arial" charset="0"/>
            </a:endParaRPr>
          </a:p>
          <a:p>
            <a:pPr algn="ctr"/>
            <a:r>
              <a:rPr lang="en-US" dirty="0">
                <a:cs typeface="Arial" charset="0"/>
              </a:rPr>
              <a:t>617-287-4308</a:t>
            </a:r>
          </a:p>
          <a:p>
            <a:pPr algn="ctr"/>
            <a:r>
              <a:rPr lang="en-US" dirty="0" err="1">
                <a:cs typeface="Arial" charset="0"/>
              </a:rPr>
              <a:t>david.hoff@umb.edu</a:t>
            </a:r>
            <a:endParaRPr lang="en-US" dirty="0">
              <a:cs typeface="Arial" charset="0"/>
            </a:endParaRPr>
          </a:p>
          <a:p>
            <a:pPr algn="ctr"/>
            <a:r>
              <a:rPr lang="en-US" b="1" dirty="0" err="1">
                <a:latin typeface="Century Gothic" charset="0"/>
                <a:cs typeface="Century Gothic" charset="0"/>
              </a:rPr>
              <a:t>www.communityinclusion.org</a:t>
            </a:r>
            <a:endParaRPr lang="en-US" b="1" dirty="0">
              <a:latin typeface="Century Gothic" charset="0"/>
              <a:cs typeface="Century Gothic" charset="0"/>
            </a:endParaRPr>
          </a:p>
          <a:p>
            <a:pPr algn="ctr"/>
            <a:endParaRPr lang="en-US" dirty="0">
              <a:latin typeface="Century Gothic" charset="0"/>
              <a:cs typeface="Century Gothic" charset="0"/>
            </a:endParaRPr>
          </a:p>
          <a:p>
            <a:pPr algn="ctr"/>
            <a:endParaRPr lang="en-US" b="1" dirty="0">
              <a:latin typeface="Century Gothic" charset="0"/>
              <a:cs typeface="Century Gothic" charset="0"/>
            </a:endParaRPr>
          </a:p>
          <a:p>
            <a:pPr algn="ctr"/>
            <a:r>
              <a:rPr lang="en-US" b="1" dirty="0">
                <a:latin typeface="Century Gothic" charset="0"/>
                <a:cs typeface="Century Gothic" charset="0"/>
              </a:rPr>
              <a:t>Twitter @DavidHoff10</a:t>
            </a:r>
          </a:p>
        </p:txBody>
      </p:sp>
      <p:pic>
        <p:nvPicPr>
          <p:cNvPr id="18435" name="Picture 2" descr="MC900433861-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30300" y="2878138"/>
            <a:ext cx="990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6" name="Picture 4" descr="MC900019332-1.WM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9943" y="2578100"/>
            <a:ext cx="1230313"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2" descr="twitter-bird-light-bgs.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09700" y="5499100"/>
            <a:ext cx="1066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424073626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subTitle" idx="1"/>
          </p:nvPr>
        </p:nvSpPr>
        <p:spPr>
          <a:xfrm>
            <a:off x="1492250" y="469901"/>
            <a:ext cx="6896100" cy="2786062"/>
          </a:xfrm>
          <a:solidFill>
            <a:srgbClr val="0000FF"/>
          </a:solidFill>
          <a:ln/>
          <a:scene3d>
            <a:camera prst="orthographicFront" fov="0">
              <a:rot lat="0" lon="0" rev="0"/>
            </a:camera>
            <a:lightRig rig="brightRoom" dir="tl">
              <a:rot lat="0" lon="0" rev="5400000"/>
            </a:lightRig>
          </a:scene3d>
          <a:sp3d contourW="12700">
            <a:bevelT w="25400" h="50800" prst="divot"/>
            <a:contourClr>
              <a:schemeClr val="accent5"/>
            </a:contourClr>
          </a:sp3d>
        </p:spPr>
        <p:style>
          <a:lnRef idx="0">
            <a:schemeClr val="accent5"/>
          </a:lnRef>
          <a:fillRef idx="3">
            <a:schemeClr val="accent5"/>
          </a:fillRef>
          <a:effectRef idx="3">
            <a:schemeClr val="accent5"/>
          </a:effectRef>
          <a:fontRef idx="minor">
            <a:schemeClr val="lt1"/>
          </a:fontRef>
        </p:style>
        <p:txBody>
          <a:bodyPr lIns="90487" tIns="44450" rIns="90487" bIns="44450" anchor="ctr" anchorCtr="0"/>
          <a:lstStyle/>
          <a:p>
            <a:pPr algn="ctr">
              <a:lnSpc>
                <a:spcPct val="110000"/>
              </a:lnSpc>
            </a:pPr>
            <a:r>
              <a:rPr lang="ja-JP" altLang="en-US" sz="3600" dirty="0">
                <a:solidFill>
                  <a:schemeClr val="bg1"/>
                </a:solidFill>
                <a:latin typeface="Arial"/>
                <a:cs typeface="Arial"/>
              </a:rPr>
              <a:t>“</a:t>
            </a:r>
            <a:r>
              <a:rPr lang="en-US" sz="3600" dirty="0">
                <a:solidFill>
                  <a:schemeClr val="bg1"/>
                </a:solidFill>
                <a:latin typeface="Arial"/>
                <a:cs typeface="Arial"/>
              </a:rPr>
              <a:t>I NEVER THOUGHT MY SPEECHES WERE TOO LONG;</a:t>
            </a:r>
            <a:br>
              <a:rPr lang="en-US" sz="3600" dirty="0">
                <a:solidFill>
                  <a:schemeClr val="bg1"/>
                </a:solidFill>
                <a:latin typeface="Arial"/>
                <a:cs typeface="Arial"/>
              </a:rPr>
            </a:br>
            <a:r>
              <a:rPr lang="en-US" sz="3600" dirty="0" smtClean="0">
                <a:solidFill>
                  <a:schemeClr val="bg1"/>
                </a:solidFill>
                <a:latin typeface="Arial"/>
                <a:cs typeface="Arial"/>
              </a:rPr>
              <a:t>I’VE </a:t>
            </a:r>
            <a:r>
              <a:rPr lang="en-US" sz="3600" dirty="0">
                <a:solidFill>
                  <a:schemeClr val="bg1"/>
                </a:solidFill>
                <a:latin typeface="Arial"/>
                <a:cs typeface="Arial"/>
              </a:rPr>
              <a:t>ENJOYED THEM</a:t>
            </a:r>
            <a:r>
              <a:rPr lang="en-US" sz="3600" dirty="0" smtClean="0">
                <a:solidFill>
                  <a:schemeClr val="bg1"/>
                </a:solidFill>
                <a:latin typeface="Arial"/>
                <a:cs typeface="Arial"/>
              </a:rPr>
              <a:t>.”</a:t>
            </a:r>
            <a:endParaRPr lang="en-US" sz="2000" dirty="0"/>
          </a:p>
        </p:txBody>
      </p:sp>
      <p:pic>
        <p:nvPicPr>
          <p:cNvPr id="290819" name="Picture 3" descr="images-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4221163"/>
            <a:ext cx="1758950" cy="1577975"/>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p:cNvSpPr txBox="1">
            <a:spLocks/>
          </p:cNvSpPr>
          <p:nvPr/>
        </p:nvSpPr>
        <p:spPr bwMode="auto">
          <a:xfrm>
            <a:off x="2171700" y="4584700"/>
            <a:ext cx="44577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0" rIns="91440" bIns="45720" numCol="1" anchor="t" anchorCtr="0" compatLnSpc="1">
            <a:prstTxWarp prst="textNoShape">
              <a:avLst/>
            </a:prstTxWarp>
          </a:bodyPr>
          <a:lstStyle>
            <a:lvl1pPr marL="27432" indent="0" algn="l" rtl="0" eaLnBrk="0" fontAlgn="base" hangingPunct="0">
              <a:spcBef>
                <a:spcPts val="600"/>
              </a:spcBef>
              <a:spcAft>
                <a:spcPct val="0"/>
              </a:spcAft>
              <a:buClr>
                <a:schemeClr val="accent1"/>
              </a:buClr>
              <a:buSzPct val="80000"/>
              <a:buFont typeface="Wingdings 2" charset="0"/>
              <a:buNone/>
              <a:defRPr sz="2600" kern="1200">
                <a:solidFill>
                  <a:schemeClr val="tx2">
                    <a:shade val="30000"/>
                    <a:satMod val="150000"/>
                  </a:schemeClr>
                </a:solidFill>
                <a:latin typeface="+mn-lt"/>
                <a:ea typeface="ＭＳ Ｐゴシック" charset="0"/>
                <a:cs typeface="ＭＳ Ｐゴシック" charset="0"/>
              </a:defRPr>
            </a:lvl1pPr>
            <a:lvl2pPr marL="457200" indent="0" algn="ctr" rtl="0" eaLnBrk="0" fontAlgn="base" hangingPunct="0">
              <a:spcBef>
                <a:spcPts val="550"/>
              </a:spcBef>
              <a:spcAft>
                <a:spcPct val="0"/>
              </a:spcAft>
              <a:buClr>
                <a:schemeClr val="accent1"/>
              </a:buClr>
              <a:buFont typeface="Verdana" charset="0"/>
              <a:buNone/>
              <a:defRPr sz="2800" kern="1200">
                <a:solidFill>
                  <a:schemeClr val="tx1"/>
                </a:solidFill>
                <a:latin typeface="+mn-lt"/>
                <a:ea typeface="ＭＳ Ｐゴシック" charset="0"/>
                <a:cs typeface="+mn-cs"/>
              </a:defRPr>
            </a:lvl2pPr>
            <a:lvl3pPr marL="914400" indent="0" algn="ctr" rtl="0" eaLnBrk="0" fontAlgn="base" hangingPunct="0">
              <a:spcBef>
                <a:spcPct val="20000"/>
              </a:spcBef>
              <a:spcAft>
                <a:spcPct val="0"/>
              </a:spcAft>
              <a:buClr>
                <a:schemeClr val="accent2"/>
              </a:buClr>
              <a:buFont typeface="Wingdings 2" charset="0"/>
              <a:buNone/>
              <a:defRPr sz="2400" kern="1200">
                <a:solidFill>
                  <a:schemeClr val="tx1"/>
                </a:solidFill>
                <a:latin typeface="+mn-lt"/>
                <a:ea typeface="ＭＳ Ｐゴシック" charset="0"/>
                <a:cs typeface="+mn-cs"/>
              </a:defRPr>
            </a:lvl3pPr>
            <a:lvl4pPr marL="1371600" indent="0" algn="ctr" rtl="0" eaLnBrk="0" fontAlgn="base" hangingPunct="0">
              <a:spcBef>
                <a:spcPct val="20000"/>
              </a:spcBef>
              <a:spcAft>
                <a:spcPct val="0"/>
              </a:spcAft>
              <a:buClr>
                <a:srgbClr val="2397E2"/>
              </a:buClr>
              <a:buFont typeface="Wingdings 2" charset="0"/>
              <a:buNone/>
              <a:defRPr sz="2000" kern="1200">
                <a:solidFill>
                  <a:schemeClr val="tx1"/>
                </a:solidFill>
                <a:latin typeface="+mn-lt"/>
                <a:ea typeface="ＭＳ Ｐゴシック" charset="0"/>
                <a:cs typeface="+mn-cs"/>
              </a:defRPr>
            </a:lvl4pPr>
            <a:lvl5pPr marL="1828800" indent="0" algn="ctr" rtl="0" eaLnBrk="0" fontAlgn="base" hangingPunct="0">
              <a:spcBef>
                <a:spcPct val="20000"/>
              </a:spcBef>
              <a:spcAft>
                <a:spcPct val="0"/>
              </a:spcAft>
              <a:buClr>
                <a:srgbClr val="35ACA2"/>
              </a:buClr>
              <a:buFont typeface="Wingdings 2" charset="0"/>
              <a:buNone/>
              <a:defRPr sz="2000" kern="1200">
                <a:solidFill>
                  <a:schemeClr val="tx1"/>
                </a:solidFill>
                <a:latin typeface="+mn-lt"/>
                <a:ea typeface="ＭＳ Ｐゴシック" charset="0"/>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marL="484632" indent="-457200">
              <a:buFont typeface="Arial"/>
              <a:buChar char="•"/>
            </a:pPr>
            <a:r>
              <a:rPr lang="en-US" sz="3200" b="1" dirty="0" smtClean="0"/>
              <a:t>Hubert Humphrey</a:t>
            </a:r>
            <a:endParaRPr lang="en-US" sz="3200" b="1" dirty="0"/>
          </a:p>
        </p:txBody>
      </p:sp>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77218663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1219200" y="381000"/>
            <a:ext cx="7772400" cy="762000"/>
          </a:xfrm>
          <a:scene3d>
            <a:camera prst="orthographicFront"/>
            <a:lightRig rig="threePt" dir="t"/>
          </a:scene3d>
          <a:sp3d>
            <a:bevelT w="139700" h="139700" prst="divot"/>
          </a:sp3d>
        </p:spPr>
        <p:txBody>
          <a:bodyPr/>
          <a:lstStyle/>
          <a:p>
            <a:pPr>
              <a:defRPr/>
            </a:pPr>
            <a:r>
              <a:rPr lang="en-US" sz="3600" i="0" dirty="0">
                <a:latin typeface="Cambria" charset="0"/>
                <a:ea typeface="Osaka" charset="0"/>
                <a:cs typeface="Osaka" charset="0"/>
              </a:rPr>
              <a:t>Employment First: </a:t>
            </a:r>
            <a:r>
              <a:rPr lang="en-US" sz="3600" dirty="0">
                <a:latin typeface="Cambria" charset="0"/>
                <a:ea typeface="Osaka" charset="0"/>
                <a:cs typeface="Osaka" charset="0"/>
              </a:rPr>
              <a:t>What Is It?</a:t>
            </a:r>
          </a:p>
        </p:txBody>
      </p:sp>
      <p:sp>
        <p:nvSpPr>
          <p:cNvPr id="3" name="Content Placeholder 2"/>
          <p:cNvSpPr>
            <a:spLocks noGrp="1"/>
          </p:cNvSpPr>
          <p:nvPr>
            <p:ph idx="1"/>
          </p:nvPr>
        </p:nvSpPr>
        <p:spPr>
          <a:xfrm>
            <a:off x="914400" y="1244600"/>
            <a:ext cx="8229600" cy="1295400"/>
          </a:xfrm>
        </p:spPr>
        <p:txBody>
          <a:bodyPr/>
          <a:lstStyle/>
          <a:p>
            <a:pPr>
              <a:defRPr/>
            </a:pPr>
            <a:r>
              <a:rPr lang="en-US" sz="2800" b="1" dirty="0"/>
              <a:t>General </a:t>
            </a:r>
            <a:r>
              <a:rPr lang="en-US" sz="2800" b="1" dirty="0" smtClean="0"/>
              <a:t>theme:</a:t>
            </a:r>
            <a:r>
              <a:rPr lang="en-US" sz="2800" dirty="0"/>
              <a:t/>
            </a:r>
            <a:br>
              <a:rPr lang="en-US" sz="2800" dirty="0"/>
            </a:br>
            <a:r>
              <a:rPr lang="en-US" sz="2800" dirty="0" smtClean="0"/>
              <a:t>Employment </a:t>
            </a:r>
            <a:r>
              <a:rPr lang="en-US" sz="2800" dirty="0"/>
              <a:t>in the community is the first/primary service option for individuals with disabilities</a:t>
            </a:r>
          </a:p>
          <a:p>
            <a:pPr marL="114300" indent="0">
              <a:buFontTx/>
              <a:buNone/>
              <a:defRPr/>
            </a:pPr>
            <a:endParaRPr lang="en-US" dirty="0" smtClean="0"/>
          </a:p>
          <a:p>
            <a:pPr>
              <a:defRPr/>
            </a:pPr>
            <a:endParaRPr lang="en-US" dirty="0" smtClean="0"/>
          </a:p>
          <a:p>
            <a:pPr>
              <a:defRPr/>
            </a:pPr>
            <a:endParaRPr lang="en-US" dirty="0"/>
          </a:p>
        </p:txBody>
      </p:sp>
      <p:sp>
        <p:nvSpPr>
          <p:cNvPr id="6" name="Horizontal Scroll 5"/>
          <p:cNvSpPr/>
          <p:nvPr/>
        </p:nvSpPr>
        <p:spPr bwMode="auto">
          <a:xfrm>
            <a:off x="152400" y="2882900"/>
            <a:ext cx="8839200" cy="3581400"/>
          </a:xfrm>
          <a:prstGeom prst="horizontalScroll">
            <a:avLst/>
          </a:prstGeom>
          <a:solidFill>
            <a:srgbClr val="333399"/>
          </a:solidFill>
          <a:ln w="9525" cap="flat" cmpd="sng" algn="ctr">
            <a:solidFill>
              <a:schemeClr val="tx1"/>
            </a:solidFill>
            <a:prstDash val="solid"/>
            <a:round/>
            <a:headEnd type="none" w="med" len="med"/>
            <a:tailEnd type="none" w="med" len="med"/>
          </a:ln>
          <a:effectLst/>
          <a:extLst/>
        </p:spPr>
        <p:txBody>
          <a:bodyPr/>
          <a:lstStyle/>
          <a:p>
            <a:pPr marL="114300" algn="ctr">
              <a:defRPr/>
            </a:pPr>
            <a:r>
              <a:rPr lang="en-US" sz="2800" b="1" dirty="0">
                <a:solidFill>
                  <a:schemeClr val="bg1"/>
                </a:solidFill>
                <a:latin typeface="Capitals"/>
                <a:cs typeface="Capitals"/>
              </a:rPr>
              <a:t>APSE Statement on Employment First</a:t>
            </a:r>
            <a:br>
              <a:rPr lang="en-US" sz="2800" b="1" dirty="0">
                <a:solidFill>
                  <a:schemeClr val="bg1"/>
                </a:solidFill>
                <a:latin typeface="Capitals"/>
                <a:cs typeface="Capitals"/>
              </a:rPr>
            </a:br>
            <a:endParaRPr lang="en-US" sz="2800" b="1" dirty="0">
              <a:solidFill>
                <a:schemeClr val="bg1"/>
              </a:solidFill>
              <a:latin typeface="Capitals"/>
              <a:cs typeface="Capitals"/>
            </a:endParaRPr>
          </a:p>
          <a:p>
            <a:pPr algn="ctr">
              <a:defRPr/>
            </a:pPr>
            <a:r>
              <a:rPr lang="en-US" sz="2800" dirty="0">
                <a:solidFill>
                  <a:schemeClr val="bg1"/>
                </a:solidFill>
              </a:rPr>
              <a:t>Employment in the general workforce is the first and preferred outcome in the provision of publicly funded services for all working age citizens with disabilities, regardless of level of disability.</a:t>
            </a:r>
          </a:p>
        </p:txBody>
      </p:sp>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760582227"/>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3200400" y="5181600"/>
            <a:ext cx="4267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spcBef>
                <a:spcPct val="50000"/>
              </a:spcBef>
              <a:buFontTx/>
              <a:buChar char="•"/>
            </a:pPr>
            <a:r>
              <a:rPr lang="en-US"/>
              <a:t> </a:t>
            </a:r>
            <a:r>
              <a:rPr lang="en-US" sz="2800"/>
              <a:t>Winston Churchill</a:t>
            </a:r>
          </a:p>
        </p:txBody>
      </p:sp>
      <p:sp>
        <p:nvSpPr>
          <p:cNvPr id="243715" name="Rectangle 3"/>
          <p:cNvSpPr>
            <a:spLocks noChangeArrowheads="1"/>
          </p:cNvSpPr>
          <p:nvPr/>
        </p:nvSpPr>
        <p:spPr bwMode="auto">
          <a:xfrm>
            <a:off x="381000" y="533400"/>
            <a:ext cx="8229600" cy="3660775"/>
          </a:xfrm>
          <a:prstGeom prst="rect">
            <a:avLst/>
          </a:prstGeom>
          <a:solidFill>
            <a:srgbClr val="006699"/>
          </a:solidFill>
          <a:ln w="57150" cmpd="thinThick">
            <a:solidFill>
              <a:schemeClr val="tx1"/>
            </a:solidFill>
            <a:miter lim="800000"/>
            <a:headEnd/>
            <a:tailEnd/>
          </a:ln>
        </p:spPr>
        <p:txBody>
          <a:bodyPr>
            <a:spAutoFit/>
          </a:bodyPr>
          <a:lstStyle/>
          <a:p>
            <a:pPr algn="ctr">
              <a:lnSpc>
                <a:spcPct val="120000"/>
              </a:lnSpc>
            </a:pPr>
            <a:r>
              <a:rPr lang="ja-JP" altLang="en-US" sz="4800">
                <a:solidFill>
                  <a:schemeClr val="bg1"/>
                </a:solidFill>
                <a:effectLst>
                  <a:outerShdw blurRad="38100" dist="38100" dir="2700000" algn="tl">
                    <a:srgbClr val="000000"/>
                  </a:outerShdw>
                </a:effectLst>
              </a:rPr>
              <a:t>“</a:t>
            </a:r>
            <a:r>
              <a:rPr lang="en-US" sz="4800">
                <a:solidFill>
                  <a:schemeClr val="bg1"/>
                </a:solidFill>
                <a:effectLst>
                  <a:outerShdw blurRad="38100" dist="38100" dir="2700000" algn="tl">
                    <a:srgbClr val="000000"/>
                  </a:outerShdw>
                </a:effectLst>
              </a:rPr>
              <a:t>You can always count on Americans to do the right thing</a:t>
            </a:r>
            <a:r>
              <a:rPr lang="en-US" sz="4800">
                <a:solidFill>
                  <a:schemeClr val="bg1"/>
                </a:solidFill>
                <a:effectLst>
                  <a:outerShdw blurRad="38100" dist="38100" dir="2700000" algn="tl">
                    <a:srgbClr val="000000"/>
                  </a:outerShdw>
                </a:effectLst>
                <a:ea typeface="ヒラギノ角ゴ Pro W3" charset="0"/>
                <a:cs typeface="ヒラギノ角ゴ Pro W3" charset="0"/>
              </a:rPr>
              <a:t> - </a:t>
            </a:r>
            <a:r>
              <a:rPr lang="en-US" sz="4800">
                <a:solidFill>
                  <a:schemeClr val="bg1"/>
                </a:solidFill>
                <a:effectLst>
                  <a:outerShdw blurRad="38100" dist="38100" dir="2700000" algn="tl">
                    <a:srgbClr val="000000"/>
                  </a:outerShdw>
                </a:effectLst>
              </a:rPr>
              <a:t>after they</a:t>
            </a:r>
            <a:r>
              <a:rPr lang="en-US" sz="4800">
                <a:solidFill>
                  <a:schemeClr val="bg1"/>
                </a:solidFill>
                <a:effectLst>
                  <a:outerShdw blurRad="38100" dist="38100" dir="2700000" algn="tl">
                    <a:srgbClr val="000000"/>
                  </a:outerShdw>
                </a:effectLst>
                <a:ea typeface="ヒラギノ角ゴ Pro W3" charset="0"/>
                <a:cs typeface="ヒラギノ角ゴ Pro W3" charset="0"/>
              </a:rPr>
              <a:t>’</a:t>
            </a:r>
            <a:r>
              <a:rPr lang="en-US" sz="4800">
                <a:solidFill>
                  <a:schemeClr val="bg1"/>
                </a:solidFill>
                <a:effectLst>
                  <a:outerShdw blurRad="38100" dist="38100" dir="2700000" algn="tl">
                    <a:srgbClr val="000000"/>
                  </a:outerShdw>
                </a:effectLst>
              </a:rPr>
              <a:t>ve tried everything else.</a:t>
            </a:r>
            <a:r>
              <a:rPr lang="ja-JP" altLang="en-US" sz="4800">
                <a:solidFill>
                  <a:schemeClr val="bg1"/>
                </a:solidFill>
                <a:effectLst>
                  <a:outerShdw blurRad="38100" dist="38100" dir="2700000" algn="tl">
                    <a:srgbClr val="000000"/>
                  </a:outerShdw>
                </a:effectLst>
              </a:rPr>
              <a:t>”</a:t>
            </a:r>
            <a:endParaRPr lang="en-US" sz="4800">
              <a:solidFill>
                <a:schemeClr val="bg1"/>
              </a:solidFill>
              <a:effectLst>
                <a:outerShdw blurRad="38100" dist="38100" dir="2700000" algn="tl">
                  <a:srgbClr val="000000"/>
                </a:outerShdw>
              </a:effectLst>
            </a:endParaRPr>
          </a:p>
        </p:txBody>
      </p:sp>
      <p:pic>
        <p:nvPicPr>
          <p:cNvPr id="243720" name="Picture 8" descr="churchi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3962400"/>
            <a:ext cx="1514475" cy="203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78105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eal.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93897" y="2578683"/>
            <a:ext cx="2681801" cy="1516978"/>
          </a:xfrm>
          <a:prstGeom prst="rect">
            <a:avLst/>
          </a:prstGeom>
          <a:noFill/>
          <a:ln>
            <a:noFill/>
          </a:ln>
          <a:scene3d>
            <a:camera prst="orthographicFront"/>
            <a:lightRig rig="threePt" dir="t"/>
          </a:scene3d>
          <a:sp3d>
            <a:bevelT w="165100" prst="coolSlant"/>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employment_first_emp_now.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9300" y="337487"/>
            <a:ext cx="2514600" cy="1906561"/>
          </a:xfrm>
          <a:prstGeom prst="rect">
            <a:avLst/>
          </a:prstGeom>
          <a:ln w="12700" cmpd="sng">
            <a:solidFill>
              <a:srgbClr val="0000FF"/>
            </a:solidFill>
          </a:ln>
        </p:spPr>
      </p:pic>
      <p:pic>
        <p:nvPicPr>
          <p:cNvPr id="3" name="Picture 2" descr="MP900430642.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3900" y="4417300"/>
            <a:ext cx="2870200" cy="1910476"/>
          </a:xfrm>
          <a:prstGeom prst="rect">
            <a:avLst/>
          </a:prstGeom>
          <a:scene3d>
            <a:camera prst="orthographicFront"/>
            <a:lightRig rig="threePt" dir="t"/>
          </a:scene3d>
          <a:sp3d>
            <a:bevelT w="165100" prst="coolSlant"/>
          </a:sp3d>
        </p:spPr>
      </p:pic>
      <p:pic>
        <p:nvPicPr>
          <p:cNvPr id="7" name="Picture 6" descr="images-1.jpe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2699" y="4900868"/>
            <a:ext cx="2875293" cy="1299908"/>
          </a:xfrm>
          <a:prstGeom prst="rect">
            <a:avLst/>
          </a:prstGeom>
          <a:ln>
            <a:solidFill>
              <a:schemeClr val="tx1"/>
            </a:solidFill>
          </a:ln>
          <a:scene3d>
            <a:camera prst="orthographicFront"/>
            <a:lightRig rig="threePt" dir="t"/>
          </a:scene3d>
          <a:sp3d>
            <a:bevelT w="165100" prst="coolSlant"/>
          </a:sp3d>
        </p:spPr>
      </p:pic>
      <p:pic>
        <p:nvPicPr>
          <p:cNvPr id="2" name="Picture 1" descr="Unknown-1.jpe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24500" y="2578683"/>
            <a:ext cx="2857500" cy="1345734"/>
          </a:xfrm>
          <a:prstGeom prst="rect">
            <a:avLst/>
          </a:prstGeom>
          <a:scene3d>
            <a:camera prst="orthographicFront"/>
            <a:lightRig rig="threePt" dir="t"/>
          </a:scene3d>
          <a:sp3d>
            <a:bevelT w="165100" prst="coolSlant"/>
          </a:sp3d>
        </p:spPr>
      </p:pic>
      <p:sp>
        <p:nvSpPr>
          <p:cNvPr id="8" name="TextBox 7"/>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420396466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500" fill="hold"/>
                                        <p:tgtEl>
                                          <p:spTgt spid="7"/>
                                        </p:tgtEl>
                                        <p:attrNameLst>
                                          <p:attrName>ppt_w</p:attrName>
                                        </p:attrNameLst>
                                      </p:cBhvr>
                                      <p:tavLst>
                                        <p:tav tm="0">
                                          <p:val>
                                            <p:fltVal val="0"/>
                                          </p:val>
                                        </p:tav>
                                        <p:tav tm="100000">
                                          <p:val>
                                            <p:strVal val="#ppt_w"/>
                                          </p:val>
                                        </p:tav>
                                      </p:tavLst>
                                    </p:anim>
                                    <p:anim calcmode="lin" valueType="num">
                                      <p:cBhvr>
                                        <p:cTn id="22" dur="500" fill="hold"/>
                                        <p:tgtEl>
                                          <p:spTgt spid="7"/>
                                        </p:tgtEl>
                                        <p:attrNameLst>
                                          <p:attrName>ppt_h</p:attrName>
                                        </p:attrNameLst>
                                      </p:cBhvr>
                                      <p:tavLst>
                                        <p:tav tm="0">
                                          <p:val>
                                            <p:fltVal val="0"/>
                                          </p:val>
                                        </p:tav>
                                        <p:tav tm="100000">
                                          <p:val>
                                            <p:strVal val="#ppt_h"/>
                                          </p:val>
                                        </p:tav>
                                      </p:tavLst>
                                    </p:anim>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300" y="4999038"/>
            <a:ext cx="7499350" cy="1143000"/>
          </a:xfrm>
        </p:spPr>
        <p:txBody>
          <a:bodyPr/>
          <a:lstStyle/>
          <a:p>
            <a:pPr algn="ctr"/>
            <a:r>
              <a:rPr lang="en-US" dirty="0" smtClean="0"/>
              <a:t>We have the technology.</a:t>
            </a:r>
            <a:endParaRPr lang="en-US" dirty="0"/>
          </a:p>
        </p:txBody>
      </p:sp>
      <p:pic>
        <p:nvPicPr>
          <p:cNvPr id="3" name="Picture 2" descr="Unknown-1.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4118" y="719277"/>
            <a:ext cx="5338882" cy="4292461"/>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22436034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6626" name="Rectangle 2"/>
          <p:cNvSpPr>
            <a:spLocks noGrp="1" noChangeArrowheads="1"/>
          </p:cNvSpPr>
          <p:nvPr>
            <p:ph type="body" idx="4294967295"/>
          </p:nvPr>
        </p:nvSpPr>
        <p:spPr>
          <a:xfrm>
            <a:off x="1409700" y="292100"/>
            <a:ext cx="7239000" cy="3657600"/>
          </a:xfrm>
          <a:solidFill>
            <a:srgbClr val="000090"/>
          </a:solidFill>
          <a:scene3d>
            <a:camera prst="orthographicFront"/>
            <a:lightRig rig="threePt" dir="t"/>
          </a:scene3d>
          <a:sp3d>
            <a:bevelT w="101600" prst="riblet"/>
          </a:sp3d>
        </p:spPr>
        <p:txBody>
          <a:bodyPr lIns="90488" tIns="44450" rIns="90488" bIns="44450"/>
          <a:lstStyle/>
          <a:p>
            <a:pPr marL="285750" indent="-285750" algn="ctr">
              <a:lnSpc>
                <a:spcPct val="105000"/>
              </a:lnSpc>
              <a:buFont typeface="Times" charset="0"/>
              <a:buNone/>
            </a:pPr>
            <a:r>
              <a:rPr lang="ja-JP" altLang="en-US" sz="4000" dirty="0">
                <a:solidFill>
                  <a:schemeClr val="bg1"/>
                </a:solidFill>
                <a:latin typeface="Century Gothic" charset="0"/>
              </a:rPr>
              <a:t>“</a:t>
            </a:r>
            <a:r>
              <a:rPr lang="en-US" sz="4000" dirty="0">
                <a:solidFill>
                  <a:schemeClr val="bg1"/>
                </a:solidFill>
                <a:latin typeface="Century Gothic" charset="0"/>
              </a:rPr>
              <a:t>It is nearly impossible to make your own future,</a:t>
            </a:r>
            <a:br>
              <a:rPr lang="en-US" sz="4000" dirty="0">
                <a:solidFill>
                  <a:schemeClr val="bg1"/>
                </a:solidFill>
                <a:latin typeface="Century Gothic" charset="0"/>
              </a:rPr>
            </a:br>
            <a:r>
              <a:rPr lang="en-US" sz="4000" dirty="0">
                <a:solidFill>
                  <a:schemeClr val="bg1"/>
                </a:solidFill>
                <a:latin typeface="Century Gothic" charset="0"/>
              </a:rPr>
              <a:t>when you are not part of the economic fabric</a:t>
            </a:r>
            <a:br>
              <a:rPr lang="en-US" sz="4000" dirty="0">
                <a:solidFill>
                  <a:schemeClr val="bg1"/>
                </a:solidFill>
                <a:latin typeface="Century Gothic" charset="0"/>
              </a:rPr>
            </a:br>
            <a:r>
              <a:rPr lang="en-US" sz="4000" dirty="0">
                <a:solidFill>
                  <a:schemeClr val="bg1"/>
                </a:solidFill>
                <a:latin typeface="Century Gothic" charset="0"/>
              </a:rPr>
              <a:t>of the culture you live in.</a:t>
            </a:r>
            <a:r>
              <a:rPr lang="ja-JP" altLang="en-US" sz="4000" dirty="0">
                <a:solidFill>
                  <a:schemeClr val="bg1"/>
                </a:solidFill>
                <a:latin typeface="Century Gothic" charset="0"/>
              </a:rPr>
              <a:t>”</a:t>
            </a:r>
            <a:endParaRPr lang="en-US" sz="4000" dirty="0">
              <a:solidFill>
                <a:schemeClr val="bg1"/>
              </a:solidFill>
              <a:latin typeface="Century Gothic" charset="0"/>
            </a:endParaRPr>
          </a:p>
          <a:p>
            <a:pPr marL="285750" indent="-285750" algn="ctr">
              <a:lnSpc>
                <a:spcPct val="80000"/>
              </a:lnSpc>
              <a:buFont typeface="Times" charset="0"/>
              <a:buNone/>
            </a:pPr>
            <a:endParaRPr lang="en-US" sz="3600" dirty="0">
              <a:effectLst>
                <a:outerShdw blurRad="38100" dist="38100" dir="2700000" algn="tl">
                  <a:srgbClr val="DDDDDD"/>
                </a:outerShdw>
              </a:effectLst>
            </a:endParaRPr>
          </a:p>
        </p:txBody>
      </p:sp>
      <p:sp>
        <p:nvSpPr>
          <p:cNvPr id="2" name="TextBox 1"/>
          <p:cNvSpPr txBox="1"/>
          <p:nvPr/>
        </p:nvSpPr>
        <p:spPr>
          <a:xfrm>
            <a:off x="3886200" y="4953000"/>
            <a:ext cx="3429000" cy="523220"/>
          </a:xfrm>
          <a:prstGeom prst="rect">
            <a:avLst/>
          </a:prstGeom>
          <a:noFill/>
        </p:spPr>
        <p:txBody>
          <a:bodyPr wrap="square" rtlCol="0">
            <a:spAutoFit/>
          </a:bodyPr>
          <a:lstStyle/>
          <a:p>
            <a:r>
              <a:rPr lang="en-US" sz="2800" b="1" dirty="0" smtClean="0"/>
              <a:t>- </a:t>
            </a:r>
            <a:r>
              <a:rPr lang="en-US" sz="2800" b="1" i="1" dirty="0" smtClean="0"/>
              <a:t>Patricia </a:t>
            </a:r>
            <a:r>
              <a:rPr lang="en-US" sz="2800" b="1" i="1" dirty="0" err="1" smtClean="0"/>
              <a:t>Deegan</a:t>
            </a:r>
            <a:endParaRPr lang="en-US" sz="2800" b="1" i="1" dirty="0"/>
          </a:p>
        </p:txBody>
      </p:sp>
      <p:pic>
        <p:nvPicPr>
          <p:cNvPr id="3" name="Picture 2" descr="pat_deegan_smile-200x200.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0400" y="4495800"/>
            <a:ext cx="1778000" cy="1778000"/>
          </a:xfrm>
          <a:prstGeom prst="rect">
            <a:avLst/>
          </a:prstGeom>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40014705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C900379495.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0300" y="978078"/>
            <a:ext cx="4914900" cy="3746322"/>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49772734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9900" y="1320800"/>
            <a:ext cx="6750050" cy="3568700"/>
          </a:xfrm>
          <a:solidFill>
            <a:srgbClr val="0000FF"/>
          </a:solidFill>
          <a:effectLst>
            <a:glow rad="139700">
              <a:schemeClr val="accent5">
                <a:satMod val="175000"/>
                <a:alpha val="40000"/>
              </a:schemeClr>
            </a:glow>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139700" h="139700" prst="divot"/>
            <a:contourClr>
              <a:schemeClr val="accent5">
                <a:shade val="80000"/>
              </a:schemeClr>
            </a:contourClr>
          </a:sp3d>
        </p:spPr>
        <p:style>
          <a:lnRef idx="1">
            <a:schemeClr val="accent5"/>
          </a:lnRef>
          <a:fillRef idx="3">
            <a:schemeClr val="accent5"/>
          </a:fillRef>
          <a:effectRef idx="2">
            <a:schemeClr val="accent5"/>
          </a:effectRef>
          <a:fontRef idx="minor">
            <a:schemeClr val="lt1"/>
          </a:fontRef>
        </p:style>
        <p:txBody>
          <a:bodyPr>
            <a:normAutofit/>
          </a:bodyPr>
          <a:lstStyle/>
          <a:p>
            <a:pPr algn="ctr"/>
            <a:r>
              <a:rPr lang="en-US" sz="5300" i="1" dirty="0" smtClean="0"/>
              <a:t>Employment First</a:t>
            </a:r>
            <a:br>
              <a:rPr lang="en-US" sz="5300" i="1" dirty="0" smtClean="0"/>
            </a:br>
            <a:r>
              <a:rPr lang="en-US" sz="5300" i="1" dirty="0" smtClean="0"/>
              <a:t>is a social justice and social change movement.</a:t>
            </a:r>
            <a:endParaRPr lang="en-US" sz="5300" i="1" dirty="0"/>
          </a:p>
        </p:txBody>
      </p:sp>
      <p:sp>
        <p:nvSpPr>
          <p:cNvPr id="3" name="TextBox 2"/>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251737873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9" name="Text Box 3"/>
          <p:cNvSpPr txBox="1">
            <a:spLocks noChangeArrowheads="1"/>
          </p:cNvSpPr>
          <p:nvPr/>
        </p:nvSpPr>
        <p:spPr bwMode="auto">
          <a:xfrm>
            <a:off x="4876800" y="5586413"/>
            <a:ext cx="3886200" cy="519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buFontTx/>
              <a:buChar char="•"/>
            </a:pPr>
            <a:r>
              <a:rPr lang="en-US" dirty="0"/>
              <a:t> </a:t>
            </a:r>
            <a:r>
              <a:rPr lang="en-US" sz="2800" dirty="0"/>
              <a:t>Kay </a:t>
            </a:r>
            <a:r>
              <a:rPr lang="en-US" sz="2800" dirty="0" err="1"/>
              <a:t>Drais</a:t>
            </a:r>
            <a:r>
              <a:rPr lang="en-US" sz="2800" dirty="0"/>
              <a:t>, Parent</a:t>
            </a:r>
          </a:p>
        </p:txBody>
      </p:sp>
      <p:sp>
        <p:nvSpPr>
          <p:cNvPr id="219140" name="Rectangle 4"/>
          <p:cNvSpPr>
            <a:spLocks noChangeArrowheads="1"/>
          </p:cNvSpPr>
          <p:nvPr/>
        </p:nvSpPr>
        <p:spPr bwMode="auto">
          <a:xfrm>
            <a:off x="1358900" y="533400"/>
            <a:ext cx="7620000" cy="4897438"/>
          </a:xfrm>
          <a:prstGeom prst="rect">
            <a:avLst/>
          </a:prstGeom>
          <a:solidFill>
            <a:srgbClr val="006699"/>
          </a:solidFill>
          <a:ln w="57150" cmpd="thinThick">
            <a:solidFill>
              <a:schemeClr val="tx1"/>
            </a:solidFill>
            <a:miter lim="800000"/>
            <a:headEnd/>
            <a:tailEnd/>
          </a:ln>
        </p:spPr>
        <p:txBody>
          <a:bodyPr>
            <a:spAutoFit/>
          </a:bodyPr>
          <a:lstStyle/>
          <a:p>
            <a:pPr algn="ctr">
              <a:lnSpc>
                <a:spcPct val="120000"/>
              </a:lnSpc>
            </a:pPr>
            <a:r>
              <a:rPr lang="en-US" sz="3200">
                <a:solidFill>
                  <a:schemeClr val="bg1"/>
                </a:solidFill>
                <a:effectLst>
                  <a:outerShdw blurRad="38100" dist="38100" dir="2700000" algn="tl">
                    <a:srgbClr val="000000"/>
                  </a:outerShdw>
                </a:effectLst>
              </a:rPr>
              <a:t/>
            </a:r>
            <a:br>
              <a:rPr lang="en-US" sz="3200">
                <a:solidFill>
                  <a:schemeClr val="bg1"/>
                </a:solidFill>
                <a:effectLst>
                  <a:outerShdw blurRad="38100" dist="38100" dir="2700000" algn="tl">
                    <a:srgbClr val="000000"/>
                  </a:outerShdw>
                </a:effectLst>
              </a:rPr>
            </a:br>
            <a:r>
              <a:rPr lang="ja-JP" altLang="en-US" sz="3200">
                <a:solidFill>
                  <a:schemeClr val="bg1"/>
                </a:solidFill>
                <a:effectLst>
                  <a:outerShdw blurRad="38100" dist="38100" dir="2700000" algn="tl">
                    <a:srgbClr val="000000"/>
                  </a:outerShdw>
                </a:effectLst>
              </a:rPr>
              <a:t>“</a:t>
            </a:r>
            <a:r>
              <a:rPr lang="en-US" sz="3200">
                <a:solidFill>
                  <a:schemeClr val="bg1"/>
                </a:solidFill>
                <a:effectLst>
                  <a:outerShdw blurRad="38100" dist="38100" dir="2700000" algn="tl">
                    <a:srgbClr val="000000"/>
                  </a:outerShdw>
                </a:effectLst>
              </a:rPr>
              <a:t>It is very clear to me now,</a:t>
            </a:r>
            <a:br>
              <a:rPr lang="en-US" sz="3200">
                <a:solidFill>
                  <a:schemeClr val="bg1"/>
                </a:solidFill>
                <a:effectLst>
                  <a:outerShdw blurRad="38100" dist="38100" dir="2700000" algn="tl">
                    <a:srgbClr val="000000"/>
                  </a:outerShdw>
                </a:effectLst>
              </a:rPr>
            </a:br>
            <a:r>
              <a:rPr lang="en-US" sz="3200">
                <a:solidFill>
                  <a:schemeClr val="bg1"/>
                </a:solidFill>
                <a:effectLst>
                  <a:outerShdw blurRad="38100" dist="38100" dir="2700000" algn="tl">
                    <a:srgbClr val="000000"/>
                  </a:outerShdw>
                </a:effectLst>
              </a:rPr>
              <a:t>that the manner in which we interface with people with apparent disabilities</a:t>
            </a:r>
            <a:br>
              <a:rPr lang="en-US" sz="3200">
                <a:solidFill>
                  <a:schemeClr val="bg1"/>
                </a:solidFill>
                <a:effectLst>
                  <a:outerShdw blurRad="38100" dist="38100" dir="2700000" algn="tl">
                    <a:srgbClr val="000000"/>
                  </a:outerShdw>
                </a:effectLst>
              </a:rPr>
            </a:br>
            <a:r>
              <a:rPr lang="en-US" sz="3200">
                <a:solidFill>
                  <a:schemeClr val="bg1"/>
                </a:solidFill>
                <a:effectLst>
                  <a:outerShdw blurRad="38100" dist="38100" dir="2700000" algn="tl">
                    <a:srgbClr val="000000"/>
                  </a:outerShdw>
                </a:effectLst>
              </a:rPr>
              <a:t>is far more reflective of our own personal capacities, than those of the person we interface with.</a:t>
            </a:r>
            <a:r>
              <a:rPr lang="ja-JP" altLang="en-US" sz="3200">
                <a:solidFill>
                  <a:schemeClr val="bg1"/>
                </a:solidFill>
                <a:effectLst>
                  <a:outerShdw blurRad="38100" dist="38100" dir="2700000" algn="tl">
                    <a:srgbClr val="000000"/>
                  </a:outerShdw>
                </a:effectLst>
              </a:rPr>
              <a:t>”</a:t>
            </a:r>
            <a:r>
              <a:rPr lang="en-US" sz="3200">
                <a:solidFill>
                  <a:schemeClr val="bg1"/>
                </a:solidFill>
                <a:effectLst>
                  <a:outerShdw blurRad="38100" dist="38100" dir="2700000" algn="tl">
                    <a:srgbClr val="000000"/>
                  </a:outerShdw>
                </a:effectLst>
              </a:rPr>
              <a:t/>
            </a:r>
            <a:br>
              <a:rPr lang="en-US" sz="3200">
                <a:solidFill>
                  <a:schemeClr val="bg1"/>
                </a:solidFill>
                <a:effectLst>
                  <a:outerShdw blurRad="38100" dist="38100" dir="2700000" algn="tl">
                    <a:srgbClr val="000000"/>
                  </a:outerShdw>
                </a:effectLst>
              </a:rPr>
            </a:br>
            <a:endParaRPr lang="en-US" sz="3600">
              <a:solidFill>
                <a:schemeClr val="bg1"/>
              </a:solidFill>
              <a:effectLst>
                <a:outerShdw blurRad="38100" dist="38100" dir="2700000" algn="tl">
                  <a:srgbClr val="000000"/>
                </a:outerShdw>
              </a:effectLst>
            </a:endParaRPr>
          </a:p>
        </p:txBody>
      </p:sp>
    </p:spTree>
    <p:extLst>
      <p:ext uri="{BB962C8B-B14F-4D97-AF65-F5344CB8AC3E}">
        <p14:creationId xmlns:p14="http://schemas.microsoft.com/office/powerpoint/2010/main" val="64108460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ud 1"/>
          <p:cNvSpPr/>
          <p:nvPr/>
        </p:nvSpPr>
        <p:spPr>
          <a:xfrm>
            <a:off x="1168400" y="215900"/>
            <a:ext cx="7823200" cy="6451600"/>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smtClean="0">
                <a:solidFill>
                  <a:schemeClr val="tx1"/>
                </a:solidFill>
              </a:rPr>
              <a:t>Jobs and Community</a:t>
            </a:r>
            <a:endParaRPr lang="en-US" sz="3200" b="1" dirty="0">
              <a:solidFill>
                <a:schemeClr val="tx1"/>
              </a:solidFill>
            </a:endParaRPr>
          </a:p>
        </p:txBody>
      </p:sp>
      <p:sp>
        <p:nvSpPr>
          <p:cNvPr id="4" name="Rectangle 3"/>
          <p:cNvSpPr/>
          <p:nvPr/>
        </p:nvSpPr>
        <p:spPr>
          <a:xfrm>
            <a:off x="3149600" y="2038350"/>
            <a:ext cx="3987800" cy="2730500"/>
          </a:xfrm>
          <a:prstGeom prst="rect">
            <a:avLst/>
          </a:prstGeom>
          <a:solidFill>
            <a:srgbClr val="0000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t>Jobs and Community</a:t>
            </a:r>
            <a:endParaRPr lang="en-US" sz="3200" dirty="0"/>
          </a:p>
        </p:txBody>
      </p:sp>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53365948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4"/>
                                        </p:tgtEl>
                                      </p:cBhvr>
                                      <p:by x="150000" y="150000"/>
                                    </p:animScale>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par>
                          <p:cTn id="7" fill="hold">
                            <p:stCondLst>
                              <p:cond delay="2000"/>
                            </p:stCondLst>
                            <p:childTnLst>
                              <p:par>
                                <p:cTn id="8" presetID="1" presetClass="entr" presetSubtype="0" fill="hold" grpId="0" nodeType="afterEffect">
                                  <p:stCondLst>
                                    <p:cond delay="500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6500" y="638176"/>
            <a:ext cx="7499350" cy="1143000"/>
          </a:xfrm>
        </p:spPr>
        <p:txBody>
          <a:bodyPr>
            <a:normAutofit fontScale="90000"/>
          </a:bodyPr>
          <a:lstStyle/>
          <a:p>
            <a:pPr algn="ctr"/>
            <a:r>
              <a:rPr lang="en-US" dirty="0" smtClean="0"/>
              <a:t>It’s not just about changing individual lives.</a:t>
            </a:r>
            <a:endParaRPr lang="en-US" dirty="0"/>
          </a:p>
        </p:txBody>
      </p:sp>
      <p:pic>
        <p:nvPicPr>
          <p:cNvPr id="4" name="Picture 3"/>
          <p:cNvPicPr>
            <a:picLocks noChangeAspect="1"/>
          </p:cNvPicPr>
          <p:nvPr/>
        </p:nvPicPr>
        <p:blipFill>
          <a:blip r:embed="rId2"/>
          <a:stretch>
            <a:fillRect/>
          </a:stretch>
        </p:blipFill>
        <p:spPr>
          <a:xfrm>
            <a:off x="5753100" y="2908300"/>
            <a:ext cx="2537056" cy="2537056"/>
          </a:xfrm>
          <a:prstGeom prst="rect">
            <a:avLst/>
          </a:prstGeom>
        </p:spPr>
      </p:pic>
      <p:pic>
        <p:nvPicPr>
          <p:cNvPr id="6" name="Picture 5" descr="MC900036771.WM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3146656"/>
            <a:ext cx="2988310" cy="2298700"/>
          </a:xfrm>
          <a:prstGeom prst="rect">
            <a:avLst/>
          </a:prstGeom>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290321257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500" y="1849438"/>
            <a:ext cx="1549400" cy="1782762"/>
          </a:xfrm>
          <a:ln/>
          <a:effectLst>
            <a:glow rad="228600">
              <a:schemeClr val="accent6">
                <a:satMod val="175000"/>
                <a:alpha val="40000"/>
              </a:schemeClr>
            </a:glow>
            <a:outerShdw blurRad="63500" dist="25400" dir="5400000" rotWithShape="0">
              <a:srgbClr val="000000">
                <a:alpha val="43137"/>
              </a:srgbClr>
            </a:outerShdw>
          </a:effectLst>
        </p:spPr>
        <p:style>
          <a:lnRef idx="1">
            <a:schemeClr val="accent6"/>
          </a:lnRef>
          <a:fillRef idx="2">
            <a:schemeClr val="accent6"/>
          </a:fillRef>
          <a:effectRef idx="1">
            <a:schemeClr val="accent6"/>
          </a:effectRef>
          <a:fontRef idx="minor">
            <a:schemeClr val="dk1"/>
          </a:fontRef>
        </p:style>
        <p:txBody>
          <a:bodyPr>
            <a:noAutofit/>
          </a:bodyPr>
          <a:lstStyle/>
          <a:p>
            <a:pPr algn="ctr"/>
            <a:r>
              <a:rPr lang="en-US" sz="2200" dirty="0" smtClean="0">
                <a:latin typeface="Arial Narrow"/>
                <a:cs typeface="Arial Narrow"/>
              </a:rPr>
              <a:t>Typical employment in the general workforce</a:t>
            </a:r>
            <a:endParaRPr lang="en-US" sz="2200" dirty="0">
              <a:latin typeface="Arial Narrow"/>
              <a:cs typeface="Arial Narrow"/>
            </a:endParaRPr>
          </a:p>
        </p:txBody>
      </p:sp>
      <p:cxnSp>
        <p:nvCxnSpPr>
          <p:cNvPr id="5" name="Straight Arrow Connector 4"/>
          <p:cNvCxnSpPr/>
          <p:nvPr/>
        </p:nvCxnSpPr>
        <p:spPr>
          <a:xfrm>
            <a:off x="1231900" y="2725739"/>
            <a:ext cx="6184900" cy="1"/>
          </a:xfrm>
          <a:prstGeom prst="straightConnector1">
            <a:avLst/>
          </a:prstGeom>
          <a:ln w="76200" cmpd="sng">
            <a:solidFill>
              <a:srgbClr val="0000FF"/>
            </a:solidFill>
            <a:tailEnd type="arrow"/>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3683000" y="2725740"/>
            <a:ext cx="0" cy="1312860"/>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648200" y="1409700"/>
            <a:ext cx="25400" cy="1316039"/>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V="1">
            <a:off x="5676900" y="2725739"/>
            <a:ext cx="0" cy="1312860"/>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743200" y="1409701"/>
            <a:ext cx="25400" cy="1316039"/>
          </a:xfrm>
          <a:prstGeom prst="line">
            <a:avLst/>
          </a:prstGeom>
          <a:ln w="76200" cmpd="sng">
            <a:solidFill>
              <a:srgbClr val="0000FF"/>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2984500" y="4039632"/>
            <a:ext cx="1409700" cy="1015663"/>
          </a:xfrm>
          <a:prstGeom prst="rect">
            <a:avLst/>
          </a:prstGeom>
          <a:noFill/>
        </p:spPr>
        <p:txBody>
          <a:bodyPr wrap="square" rtlCol="0">
            <a:spAutoFit/>
          </a:bodyPr>
          <a:lstStyle/>
          <a:p>
            <a:pPr algn="ctr"/>
            <a:r>
              <a:rPr lang="en-US" sz="2000" dirty="0" smtClean="0"/>
              <a:t>Start an agency business</a:t>
            </a:r>
            <a:endParaRPr lang="en-US" sz="2000" dirty="0"/>
          </a:p>
        </p:txBody>
      </p:sp>
      <p:sp>
        <p:nvSpPr>
          <p:cNvPr id="9" name="TextBox 8"/>
          <p:cNvSpPr txBox="1"/>
          <p:nvPr/>
        </p:nvSpPr>
        <p:spPr>
          <a:xfrm>
            <a:off x="3943350" y="636370"/>
            <a:ext cx="1409700" cy="707886"/>
          </a:xfrm>
          <a:prstGeom prst="rect">
            <a:avLst/>
          </a:prstGeom>
          <a:noFill/>
        </p:spPr>
        <p:txBody>
          <a:bodyPr wrap="square" rtlCol="0">
            <a:spAutoFit/>
          </a:bodyPr>
          <a:lstStyle/>
          <a:p>
            <a:pPr algn="ctr"/>
            <a:r>
              <a:rPr lang="en-US" sz="2000" dirty="0" smtClean="0"/>
              <a:t>Create an enclave</a:t>
            </a:r>
            <a:endParaRPr lang="en-US" sz="2000" dirty="0"/>
          </a:p>
        </p:txBody>
      </p:sp>
      <p:sp>
        <p:nvSpPr>
          <p:cNvPr id="11" name="TextBox 10"/>
          <p:cNvSpPr txBox="1"/>
          <p:nvPr/>
        </p:nvSpPr>
        <p:spPr>
          <a:xfrm>
            <a:off x="1920875" y="359371"/>
            <a:ext cx="1644650" cy="1015663"/>
          </a:xfrm>
          <a:prstGeom prst="rect">
            <a:avLst/>
          </a:prstGeom>
          <a:noFill/>
        </p:spPr>
        <p:txBody>
          <a:bodyPr wrap="square" rtlCol="0">
            <a:spAutoFit/>
          </a:bodyPr>
          <a:lstStyle/>
          <a:p>
            <a:pPr algn="ctr"/>
            <a:r>
              <a:rPr lang="en-US" sz="2000" dirty="0" smtClean="0"/>
              <a:t>Create a</a:t>
            </a:r>
            <a:br>
              <a:rPr lang="en-US" sz="2000" dirty="0" smtClean="0"/>
            </a:br>
            <a:r>
              <a:rPr lang="en-US" sz="2000" dirty="0" smtClean="0"/>
              <a:t>pre-vocational “program” </a:t>
            </a:r>
            <a:endParaRPr lang="en-US" sz="2000" dirty="0"/>
          </a:p>
        </p:txBody>
      </p:sp>
      <p:sp>
        <p:nvSpPr>
          <p:cNvPr id="13" name="TextBox 12"/>
          <p:cNvSpPr txBox="1"/>
          <p:nvPr/>
        </p:nvSpPr>
        <p:spPr>
          <a:xfrm>
            <a:off x="4972050" y="4189294"/>
            <a:ext cx="1409700" cy="1015663"/>
          </a:xfrm>
          <a:prstGeom prst="rect">
            <a:avLst/>
          </a:prstGeom>
          <a:noFill/>
        </p:spPr>
        <p:txBody>
          <a:bodyPr wrap="square" rtlCol="0">
            <a:spAutoFit/>
          </a:bodyPr>
          <a:lstStyle/>
          <a:p>
            <a:pPr algn="ctr"/>
            <a:r>
              <a:rPr lang="en-US" sz="2000" dirty="0" smtClean="0"/>
              <a:t>Create a non-work “program”</a:t>
            </a:r>
            <a:endParaRPr lang="en-US" sz="2000" dirty="0"/>
          </a:p>
        </p:txBody>
      </p:sp>
      <p:sp>
        <p:nvSpPr>
          <p:cNvPr id="12" name="TextBox 11"/>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682833706"/>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par>
                          <p:cTn id="27" fill="hold">
                            <p:stCondLst>
                              <p:cond delay="0"/>
                            </p:stCondLst>
                            <p:childTnLst>
                              <p:par>
                                <p:cTn id="28" presetID="1" presetClass="exit" presetSubtype="0" fill="hold" grpId="0" nodeType="afterEffect">
                                  <p:stCondLst>
                                    <p:cond delay="4000"/>
                                  </p:stCondLst>
                                  <p:childTnLst>
                                    <p:set>
                                      <p:cBhvr>
                                        <p:cTn id="29"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9" grpId="0"/>
      <p:bldP spid="11"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ChangeArrowheads="1"/>
          </p:cNvSpPr>
          <p:nvPr/>
        </p:nvSpPr>
        <p:spPr bwMode="auto">
          <a:xfrm>
            <a:off x="1206500" y="698500"/>
            <a:ext cx="7467600" cy="4154983"/>
          </a:xfrm>
          <a:prstGeom prst="rect">
            <a:avLst/>
          </a:prstGeom>
          <a:solidFill>
            <a:srgbClr val="0000FF"/>
          </a:solidFill>
          <a:ln/>
        </p:spPr>
        <p:style>
          <a:lnRef idx="0">
            <a:schemeClr val="accent5"/>
          </a:lnRef>
          <a:fillRef idx="3">
            <a:schemeClr val="accent5"/>
          </a:fillRef>
          <a:effectRef idx="3">
            <a:schemeClr val="accent5"/>
          </a:effectRef>
          <a:fontRef idx="minor">
            <a:schemeClr val="lt1"/>
          </a:fontRef>
        </p:style>
        <p:txBody>
          <a:bodyPr>
            <a:spAutoFit/>
          </a:bodyPr>
          <a:lstStyle/>
          <a:p>
            <a:pPr algn="ctr"/>
            <a:r>
              <a:rPr lang="ja-JP" altLang="en-US" sz="4400" b="1" dirty="0" smtClean="0">
                <a:solidFill>
                  <a:schemeClr val="bg1"/>
                </a:solidFill>
                <a:latin typeface="Century Gothic" charset="0"/>
              </a:rPr>
              <a:t>“</a:t>
            </a:r>
            <a:r>
              <a:rPr lang="en-US" sz="4400" b="1" dirty="0" smtClean="0">
                <a:solidFill>
                  <a:schemeClr val="bg1"/>
                </a:solidFill>
              </a:rPr>
              <a:t>There </a:t>
            </a:r>
            <a:r>
              <a:rPr lang="en-US" sz="4400" b="1" dirty="0">
                <a:solidFill>
                  <a:schemeClr val="bg1"/>
                </a:solidFill>
              </a:rPr>
              <a:t>are </a:t>
            </a:r>
            <a:r>
              <a:rPr lang="en-US" sz="4400" b="1" dirty="0" smtClean="0">
                <a:solidFill>
                  <a:schemeClr val="bg1"/>
                </a:solidFill>
              </a:rPr>
              <a:t>always</a:t>
            </a:r>
            <a:br>
              <a:rPr lang="en-US" sz="4400" b="1" dirty="0" smtClean="0">
                <a:solidFill>
                  <a:schemeClr val="bg1"/>
                </a:solidFill>
              </a:rPr>
            </a:br>
            <a:r>
              <a:rPr lang="en-US" sz="4400" b="1" dirty="0" smtClean="0">
                <a:solidFill>
                  <a:schemeClr val="bg1"/>
                </a:solidFill>
              </a:rPr>
              <a:t>two </a:t>
            </a:r>
            <a:r>
              <a:rPr lang="en-US" sz="4400" b="1" dirty="0">
                <a:solidFill>
                  <a:schemeClr val="bg1"/>
                </a:solidFill>
              </a:rPr>
              <a:t>choices.</a:t>
            </a:r>
            <a:br>
              <a:rPr lang="en-US" sz="4400" b="1" dirty="0">
                <a:solidFill>
                  <a:schemeClr val="bg1"/>
                </a:solidFill>
              </a:rPr>
            </a:br>
            <a:r>
              <a:rPr lang="en-US" sz="4400" b="1" dirty="0">
                <a:solidFill>
                  <a:schemeClr val="bg1"/>
                </a:solidFill>
              </a:rPr>
              <a:t>Two paths to take.</a:t>
            </a:r>
            <a:br>
              <a:rPr lang="en-US" sz="4400" b="1" dirty="0">
                <a:solidFill>
                  <a:schemeClr val="bg1"/>
                </a:solidFill>
              </a:rPr>
            </a:br>
            <a:r>
              <a:rPr lang="en-US" sz="4400" b="1" dirty="0">
                <a:solidFill>
                  <a:schemeClr val="bg1"/>
                </a:solidFill>
              </a:rPr>
              <a:t>One is easy.</a:t>
            </a:r>
            <a:br>
              <a:rPr lang="en-US" sz="4400" b="1" dirty="0">
                <a:solidFill>
                  <a:schemeClr val="bg1"/>
                </a:solidFill>
              </a:rPr>
            </a:br>
            <a:r>
              <a:rPr lang="en-US" sz="4400" b="1" dirty="0">
                <a:solidFill>
                  <a:schemeClr val="bg1"/>
                </a:solidFill>
              </a:rPr>
              <a:t>And its only reward is</a:t>
            </a:r>
            <a:br>
              <a:rPr lang="en-US" sz="4400" b="1" dirty="0">
                <a:solidFill>
                  <a:schemeClr val="bg1"/>
                </a:solidFill>
              </a:rPr>
            </a:br>
            <a:r>
              <a:rPr lang="en-US" sz="4400" b="1" dirty="0">
                <a:solidFill>
                  <a:schemeClr val="bg1"/>
                </a:solidFill>
              </a:rPr>
              <a:t>that </a:t>
            </a:r>
            <a:r>
              <a:rPr lang="en-US" sz="4400" b="1" dirty="0" smtClean="0">
                <a:solidFill>
                  <a:schemeClr val="bg1"/>
                </a:solidFill>
              </a:rPr>
              <a:t>it‘s </a:t>
            </a:r>
            <a:r>
              <a:rPr lang="en-US" sz="4400" b="1" dirty="0">
                <a:solidFill>
                  <a:schemeClr val="bg1"/>
                </a:solidFill>
              </a:rPr>
              <a:t>easy</a:t>
            </a:r>
            <a:r>
              <a:rPr lang="en-US" sz="4400" b="1" dirty="0">
                <a:solidFill>
                  <a:schemeClr val="bg1"/>
                </a:solidFill>
                <a:latin typeface="Century Gothic" charset="0"/>
              </a:rPr>
              <a:t>.</a:t>
            </a:r>
            <a:r>
              <a:rPr lang="ja-JP" altLang="en-US" sz="4400" b="1" dirty="0" smtClean="0">
                <a:solidFill>
                  <a:schemeClr val="bg1"/>
                </a:solidFill>
                <a:latin typeface="Century Gothic" charset="0"/>
              </a:rPr>
              <a:t>”</a:t>
            </a:r>
            <a:endParaRPr lang="en-US" sz="4400" b="1" dirty="0">
              <a:solidFill>
                <a:schemeClr val="bg1"/>
              </a:solidFill>
              <a:latin typeface="Century Gothic" charset="0"/>
            </a:endParaRPr>
          </a:p>
        </p:txBody>
      </p:sp>
      <p:sp>
        <p:nvSpPr>
          <p:cNvPr id="3" name="TextBox 2"/>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202217660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subTitle" idx="1"/>
          </p:nvPr>
        </p:nvSpPr>
        <p:spPr>
          <a:xfrm>
            <a:off x="685800" y="4419600"/>
            <a:ext cx="6172200" cy="914400"/>
          </a:xfrm>
        </p:spPr>
        <p:txBody>
          <a:bodyPr/>
          <a:lstStyle/>
          <a:p>
            <a:pPr algn="r">
              <a:buFontTx/>
              <a:buChar char="-"/>
            </a:pPr>
            <a:r>
              <a:rPr lang="en-US"/>
              <a:t>Michael Long</a:t>
            </a:r>
            <a:br>
              <a:rPr lang="en-US"/>
            </a:br>
            <a:r>
              <a:rPr lang="en-US" sz="1800" i="1"/>
              <a:t>California Department of Developmental Services</a:t>
            </a:r>
            <a:br>
              <a:rPr lang="en-US" sz="1800" i="1"/>
            </a:br>
            <a:r>
              <a:rPr lang="en-US" sz="1800" i="1"/>
              <a:t>Office of Consumer Affairs</a:t>
            </a:r>
            <a:r>
              <a:rPr lang="en-US"/>
              <a:t> </a:t>
            </a:r>
          </a:p>
        </p:txBody>
      </p:sp>
      <p:sp>
        <p:nvSpPr>
          <p:cNvPr id="143365" name="Rectangle 5"/>
          <p:cNvSpPr>
            <a:spLocks noGrp="1" noChangeArrowheads="1"/>
          </p:cNvSpPr>
          <p:nvPr>
            <p:ph type="ctrTitle"/>
          </p:nvPr>
        </p:nvSpPr>
        <p:spPr>
          <a:xfrm>
            <a:off x="1066800" y="596900"/>
            <a:ext cx="8077200" cy="26670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Lst>
        </p:spPr>
        <p:txBody>
          <a:bodyPr>
            <a:normAutofit fontScale="90000"/>
          </a:bodyPr>
          <a:lstStyle/>
          <a:p>
            <a:pPr algn="ctr"/>
            <a:r>
              <a:rPr lang="ja-JP" altLang="en-US" sz="5400" dirty="0">
                <a:latin typeface="Verdana"/>
              </a:rPr>
              <a:t>“</a:t>
            </a:r>
            <a:r>
              <a:rPr lang="en-US" sz="5400" dirty="0">
                <a:latin typeface="Helvetica" charset="0"/>
              </a:rPr>
              <a:t>You only make it difficult,</a:t>
            </a:r>
            <a:br>
              <a:rPr lang="en-US" sz="5400" dirty="0">
                <a:latin typeface="Helvetica" charset="0"/>
              </a:rPr>
            </a:br>
            <a:r>
              <a:rPr lang="en-US" sz="5400" dirty="0">
                <a:latin typeface="Helvetica" charset="0"/>
              </a:rPr>
              <a:t>because you choose to make it difficult.</a:t>
            </a:r>
            <a:r>
              <a:rPr lang="ja-JP" altLang="en-US" sz="5400" dirty="0">
                <a:latin typeface="Verdana"/>
              </a:rPr>
              <a:t>”</a:t>
            </a:r>
            <a:endParaRPr lang="en-US" dirty="0">
              <a:latin typeface="Helvetica" charset="0"/>
            </a:endParaRPr>
          </a:p>
        </p:txBody>
      </p:sp>
      <p:pic>
        <p:nvPicPr>
          <p:cNvPr id="143370" name="Picture 10" descr="Lo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4038600"/>
            <a:ext cx="1524000" cy="1466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36669220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477838"/>
            <a:ext cx="7200900" cy="2671762"/>
          </a:xfrm>
          <a:effectLst>
            <a:glow rad="139700">
              <a:schemeClr val="accent5">
                <a:satMod val="175000"/>
                <a:alpha val="40000"/>
              </a:schemeClr>
            </a:glow>
            <a:outerShdw blurRad="63500" dist="25400" dir="5400000" rotWithShape="0">
              <a:srgbClr val="000000">
                <a:alpha val="43137"/>
              </a:srgbClr>
            </a:outerShdw>
          </a:effectLst>
        </p:spPr>
        <p:style>
          <a:lnRef idx="0">
            <a:schemeClr val="accent5"/>
          </a:lnRef>
          <a:fillRef idx="3">
            <a:schemeClr val="accent5"/>
          </a:fillRef>
          <a:effectRef idx="3">
            <a:schemeClr val="accent5"/>
          </a:effectRef>
          <a:fontRef idx="minor">
            <a:schemeClr val="lt1"/>
          </a:fontRef>
        </p:style>
        <p:txBody>
          <a:bodyPr>
            <a:normAutofit/>
          </a:bodyPr>
          <a:lstStyle/>
          <a:p>
            <a:pPr algn="ctr"/>
            <a:r>
              <a:rPr lang="en-US" b="1" dirty="0" smtClean="0"/>
              <a:t>No more</a:t>
            </a:r>
            <a:br>
              <a:rPr lang="en-US" b="1" dirty="0" smtClean="0"/>
            </a:br>
            <a:r>
              <a:rPr lang="en-US" b="1" dirty="0" smtClean="0"/>
              <a:t>service system</a:t>
            </a:r>
            <a:br>
              <a:rPr lang="en-US" b="1" dirty="0" smtClean="0"/>
            </a:br>
            <a:r>
              <a:rPr lang="en-US" b="1" dirty="0" smtClean="0"/>
              <a:t>groupies.</a:t>
            </a:r>
            <a:endParaRPr lang="en-US" b="1" dirty="0"/>
          </a:p>
        </p:txBody>
      </p:sp>
      <p:pic>
        <p:nvPicPr>
          <p:cNvPr id="3" name="Picture 2" descr="AF groupies band aid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1100" y="3555403"/>
            <a:ext cx="4737100" cy="2675068"/>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52758557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MC90043153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00" y="889000"/>
            <a:ext cx="5321300" cy="5321300"/>
          </a:xfrm>
          <a:prstGeom prst="rect">
            <a:avLst/>
          </a:prstGeom>
        </p:spPr>
      </p:pic>
      <p:sp>
        <p:nvSpPr>
          <p:cNvPr id="5" name="TextBox 4"/>
          <p:cNvSpPr txBox="1"/>
          <p:nvPr/>
        </p:nvSpPr>
        <p:spPr>
          <a:xfrm>
            <a:off x="3479800" y="2768600"/>
            <a:ext cx="2679700" cy="1323439"/>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en-US" sz="4000" b="1" dirty="0" smtClean="0"/>
              <a:t>Program</a:t>
            </a:r>
            <a:br>
              <a:rPr lang="en-US" sz="4000" b="1" dirty="0" smtClean="0"/>
            </a:br>
            <a:r>
              <a:rPr lang="en-US" sz="4000" b="1" dirty="0" smtClean="0"/>
              <a:t>World</a:t>
            </a:r>
            <a:endParaRPr lang="en-US" sz="4000" b="1" dirty="0"/>
          </a:p>
        </p:txBody>
      </p:sp>
      <p:cxnSp>
        <p:nvCxnSpPr>
          <p:cNvPr id="7" name="Straight Connector 6"/>
          <p:cNvCxnSpPr/>
          <p:nvPr/>
        </p:nvCxnSpPr>
        <p:spPr>
          <a:xfrm>
            <a:off x="2514600" y="1041400"/>
            <a:ext cx="4279900" cy="4953000"/>
          </a:xfrm>
          <a:prstGeom prst="line">
            <a:avLst/>
          </a:prstGeom>
          <a:ln w="76200" cmpd="sng">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2413000" y="889000"/>
            <a:ext cx="4381500" cy="5016500"/>
          </a:xfrm>
          <a:prstGeom prst="line">
            <a:avLst/>
          </a:prstGeom>
          <a:ln w="76200" cmpd="sng">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298522126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200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300" y="3467100"/>
            <a:ext cx="6362700" cy="2032000"/>
          </a:xfrm>
          <a:effectLst>
            <a:glow rad="228600">
              <a:schemeClr val="accent5">
                <a:satMod val="175000"/>
                <a:alpha val="40000"/>
              </a:schemeClr>
            </a:glow>
          </a:effectLst>
        </p:spPr>
        <p:style>
          <a:lnRef idx="2">
            <a:schemeClr val="accent6">
              <a:shade val="50000"/>
            </a:schemeClr>
          </a:lnRef>
          <a:fillRef idx="1">
            <a:schemeClr val="accent6"/>
          </a:fillRef>
          <a:effectRef idx="0">
            <a:schemeClr val="accent6"/>
          </a:effectRef>
          <a:fontRef idx="minor">
            <a:schemeClr val="lt1"/>
          </a:fontRef>
        </p:style>
        <p:txBody>
          <a:bodyPr>
            <a:normAutofit/>
          </a:bodyPr>
          <a:lstStyle/>
          <a:p>
            <a:pPr algn="ctr"/>
            <a:r>
              <a:rPr lang="en-US" dirty="0" smtClean="0"/>
              <a:t>More Real Lives</a:t>
            </a:r>
            <a:endParaRPr lang="en-US" dirty="0"/>
          </a:p>
        </p:txBody>
      </p:sp>
      <p:sp>
        <p:nvSpPr>
          <p:cNvPr id="3" name="Title 1"/>
          <p:cNvSpPr txBox="1">
            <a:spLocks/>
          </p:cNvSpPr>
          <p:nvPr/>
        </p:nvSpPr>
        <p:spPr>
          <a:xfrm>
            <a:off x="1765300" y="858838"/>
            <a:ext cx="6362700" cy="1757362"/>
          </a:xfrm>
          <a:prstGeom prst="rect">
            <a:avLst/>
          </a:prstGeom>
        </p:spPr>
        <p:style>
          <a:lnRef idx="3">
            <a:schemeClr val="lt1"/>
          </a:lnRef>
          <a:fillRef idx="1">
            <a:schemeClr val="dk1"/>
          </a:fillRef>
          <a:effectRef idx="1">
            <a:schemeClr val="dk1"/>
          </a:effectRef>
          <a:fontRef idx="minor">
            <a:schemeClr val="lt1"/>
          </a:fontRef>
        </p:style>
        <p:txBody>
          <a:bodyPr anchor="ctr">
            <a:normAutofit/>
          </a:bodyPr>
          <a:lstStyle>
            <a:lvl1pPr algn="l" rtl="0" eaLnBrk="0" fontAlgn="base" hangingPunct="0">
              <a:spcBef>
                <a:spcPct val="0"/>
              </a:spcBef>
              <a:spcAft>
                <a:spcPct val="0"/>
              </a:spcAft>
              <a:defRPr sz="4300" kern="1200">
                <a:solidFill>
                  <a:srgbClr val="41536B"/>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41536B"/>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41536B"/>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41536B"/>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41536B"/>
                </a:solidFill>
                <a:latin typeface="Gill Sans MT" charset="0"/>
                <a:ea typeface="ＭＳ Ｐゴシック" charset="0"/>
                <a:cs typeface="ＭＳ Ｐゴシック" charset="0"/>
              </a:defRPr>
            </a:lvl9pPr>
            <a:extLst/>
          </a:lstStyle>
          <a:p>
            <a:pPr algn="ctr"/>
            <a:r>
              <a:rPr lang="en-US" dirty="0" smtClean="0">
                <a:solidFill>
                  <a:schemeClr val="bg1"/>
                </a:solidFill>
              </a:rPr>
              <a:t>Less Programs</a:t>
            </a:r>
            <a:endParaRPr lang="en-US" dirty="0">
              <a:solidFill>
                <a:schemeClr val="bg1"/>
              </a:solidFill>
            </a:endParaRPr>
          </a:p>
        </p:txBody>
      </p:sp>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15070704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2900" y="2370138"/>
            <a:ext cx="4889500" cy="2646362"/>
          </a:xfrm>
          <a:solidFill>
            <a:srgbClr val="0000FF"/>
          </a:solidFill>
          <a:scene3d>
            <a:camera prst="orthographicFront"/>
            <a:lightRig rig="threePt" dir="t"/>
          </a:scene3d>
          <a:sp3d>
            <a:bevelT w="139700" h="139700" prst="divot"/>
          </a:sp3d>
        </p:spPr>
        <p:style>
          <a:lnRef idx="2">
            <a:schemeClr val="accent3">
              <a:shade val="50000"/>
            </a:schemeClr>
          </a:lnRef>
          <a:fillRef idx="1">
            <a:schemeClr val="accent3"/>
          </a:fillRef>
          <a:effectRef idx="0">
            <a:schemeClr val="accent3"/>
          </a:effectRef>
          <a:fontRef idx="minor">
            <a:schemeClr val="lt1"/>
          </a:fontRef>
        </p:style>
        <p:txBody>
          <a:bodyPr>
            <a:normAutofit/>
          </a:bodyPr>
          <a:lstStyle/>
          <a:p>
            <a:pPr algn="ctr"/>
            <a:r>
              <a:rPr lang="en-US" b="1" dirty="0" smtClean="0"/>
              <a:t>The</a:t>
            </a:r>
            <a:br>
              <a:rPr lang="en-US" b="1" dirty="0" smtClean="0"/>
            </a:br>
            <a:r>
              <a:rPr lang="en-US" b="1" dirty="0" smtClean="0"/>
              <a:t>“Choice”</a:t>
            </a:r>
            <a:br>
              <a:rPr lang="en-US" b="1" dirty="0" smtClean="0"/>
            </a:br>
            <a:r>
              <a:rPr lang="en-US" b="1" dirty="0" smtClean="0"/>
              <a:t>Issue</a:t>
            </a:r>
            <a:endParaRPr lang="en-US" b="1" dirty="0"/>
          </a:p>
        </p:txBody>
      </p:sp>
      <p:pic>
        <p:nvPicPr>
          <p:cNvPr id="3" name="Picture 2" descr="Choice.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8706" y="482600"/>
            <a:ext cx="1950794" cy="2734759"/>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73299224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1092200" y="165100"/>
            <a:ext cx="7620000" cy="4483100"/>
          </a:xfrm>
          <a:solidFill>
            <a:srgbClr val="0000FF"/>
          </a:solidFill>
          <a:scene3d>
            <a:camera prst="orthographicFront"/>
            <a:lightRig rig="threePt" dir="t"/>
          </a:scene3d>
          <a:sp3d>
            <a:bevelT w="139700" h="139700" prst="divot"/>
          </a:sp3d>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eaLnBrk="1" hangingPunct="1">
              <a:lnSpc>
                <a:spcPts val="4260"/>
              </a:lnSpc>
              <a:defRPr/>
            </a:pPr>
            <a:r>
              <a:rPr lang="ja-JP" altLang="en-US" sz="2800" b="0" i="1" dirty="0" smtClean="0">
                <a:solidFill>
                  <a:schemeClr val="bg1"/>
                </a:solidFill>
                <a:latin typeface="Arial"/>
                <a:cs typeface="Arial Narrow"/>
              </a:rPr>
              <a:t>“</a:t>
            </a:r>
            <a:r>
              <a:rPr lang="en-US" altLang="ja-JP" sz="2800" dirty="0" smtClean="0">
                <a:solidFill>
                  <a:schemeClr val="bg1"/>
                </a:solidFill>
                <a:latin typeface="Arial"/>
                <a:cs typeface="Arial Narrow"/>
              </a:rPr>
              <a:t>What drives me up the wall is the intentional teaching of</a:t>
            </a:r>
            <a:br>
              <a:rPr lang="en-US" altLang="ja-JP" sz="2800" dirty="0" smtClean="0">
                <a:solidFill>
                  <a:schemeClr val="bg1"/>
                </a:solidFill>
                <a:latin typeface="Arial"/>
                <a:cs typeface="Arial Narrow"/>
              </a:rPr>
            </a:br>
            <a:r>
              <a:rPr lang="en-US" altLang="ja-JP" sz="2800" dirty="0" smtClean="0">
                <a:solidFill>
                  <a:schemeClr val="bg1"/>
                </a:solidFill>
                <a:latin typeface="Arial"/>
                <a:cs typeface="Arial Narrow"/>
              </a:rPr>
              <a:t>fear of having any kind of meaningful life because ‘You will decompensate’ or</a:t>
            </a:r>
            <a:br>
              <a:rPr lang="en-US" altLang="ja-JP" sz="2800" dirty="0" smtClean="0">
                <a:solidFill>
                  <a:schemeClr val="bg1"/>
                </a:solidFill>
                <a:latin typeface="Arial"/>
                <a:cs typeface="Arial Narrow"/>
              </a:rPr>
            </a:br>
            <a:r>
              <a:rPr lang="en-US" altLang="ja-JP" sz="2800" dirty="0" smtClean="0">
                <a:solidFill>
                  <a:schemeClr val="bg1"/>
                </a:solidFill>
                <a:latin typeface="Arial"/>
                <a:cs typeface="Arial Narrow"/>
              </a:rPr>
              <a:t>‘You are stress sensitive’.</a:t>
            </a:r>
            <a:br>
              <a:rPr lang="en-US" altLang="ja-JP" sz="2800" dirty="0" smtClean="0">
                <a:solidFill>
                  <a:schemeClr val="bg1"/>
                </a:solidFill>
                <a:latin typeface="Arial"/>
                <a:cs typeface="Arial Narrow"/>
              </a:rPr>
            </a:br>
            <a:r>
              <a:rPr lang="en-US" altLang="ja-JP" sz="2800" dirty="0" smtClean="0">
                <a:solidFill>
                  <a:schemeClr val="bg1"/>
                </a:solidFill>
                <a:latin typeface="Arial"/>
                <a:cs typeface="Arial Narrow"/>
              </a:rPr>
              <a:t>The most stressful thing in the world is being a couch potato with nothing to do, nowhere to go, and no one to talk to.”</a:t>
            </a:r>
            <a:endParaRPr lang="en-US" sz="2800" dirty="0" smtClean="0">
              <a:solidFill>
                <a:schemeClr val="bg1"/>
              </a:solidFill>
              <a:latin typeface="Arial"/>
              <a:cs typeface="Arial Narrow"/>
            </a:endParaRPr>
          </a:p>
        </p:txBody>
      </p:sp>
      <p:sp>
        <p:nvSpPr>
          <p:cNvPr id="5124" name="TextBox 1"/>
          <p:cNvSpPr txBox="1">
            <a:spLocks noChangeArrowheads="1"/>
          </p:cNvSpPr>
          <p:nvPr/>
        </p:nvSpPr>
        <p:spPr bwMode="auto">
          <a:xfrm>
            <a:off x="5816600" y="5778500"/>
            <a:ext cx="289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buFont typeface="Arial" charset="0"/>
              <a:buChar char="•"/>
            </a:pPr>
            <a:r>
              <a:rPr lang="en-US" i="1" dirty="0"/>
              <a:t>Ed Knight, Ph.D.</a:t>
            </a:r>
          </a:p>
        </p:txBody>
      </p:sp>
      <p:pic>
        <p:nvPicPr>
          <p:cNvPr id="5125" name="Picture 2" descr="image_mini.jpe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5092700"/>
            <a:ext cx="1017588"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85538486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nknown-1.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900" y="939800"/>
            <a:ext cx="4356100" cy="4356100"/>
          </a:xfrm>
          <a:prstGeom prst="rect">
            <a:avLst/>
          </a:prstGeom>
          <a:ln w="28575" cmpd="sng">
            <a:solidFill>
              <a:srgbClr val="000090"/>
            </a:solidFill>
          </a:ln>
        </p:spPr>
      </p:pic>
      <p:sp>
        <p:nvSpPr>
          <p:cNvPr id="3" name="TextBox 2"/>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427500900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SSDI.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57500" y="878681"/>
            <a:ext cx="5194300" cy="4671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p:cNvSpPr txBox="1">
            <a:spLocks/>
          </p:cNvSpPr>
          <p:nvPr/>
        </p:nvSpPr>
        <p:spPr>
          <a:xfrm>
            <a:off x="1206500" y="2446338"/>
            <a:ext cx="7645400" cy="1287462"/>
          </a:xfrm>
          <a:prstGeom prst="rect">
            <a:avLst/>
          </a:prstGeom>
          <a:solidFill>
            <a:schemeClr val="bg1"/>
          </a:solidFill>
          <a:ln w="28575" cmpd="sng">
            <a:solidFill>
              <a:srgbClr val="FF0000"/>
            </a:solidFill>
          </a:ln>
          <a:scene3d>
            <a:camera prst="isometricOffAxis1Right"/>
            <a:lightRig rig="threePt" dir="t"/>
          </a:scene3d>
        </p:spPr>
        <p:txBody>
          <a:bodyPr anchor="ctr">
            <a:noAutofit/>
          </a:bodyPr>
          <a:lstStyle>
            <a:lvl1pPr algn="l" rtl="0" eaLnBrk="0" fontAlgn="base" hangingPunct="0">
              <a:spcBef>
                <a:spcPct val="0"/>
              </a:spcBef>
              <a:spcAft>
                <a:spcPct val="0"/>
              </a:spcAft>
              <a:defRPr sz="4300" kern="1200">
                <a:solidFill>
                  <a:srgbClr val="41536B"/>
                </a:solidFill>
                <a:effectLst>
                  <a:outerShdw blurRad="50000" dist="30000" dir="5400000" algn="tl" rotWithShape="0">
                    <a:srgbClr val="000000">
                      <a:alpha val="30000"/>
                    </a:srgbClr>
                  </a:outerShdw>
                </a:effectLst>
                <a:latin typeface="+mj-lt"/>
                <a:ea typeface="ＭＳ Ｐゴシック" charset="0"/>
                <a:cs typeface="ＭＳ Ｐゴシック" charset="0"/>
              </a:defRPr>
            </a:lvl1pPr>
            <a:lvl2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2pPr>
            <a:lvl3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3pPr>
            <a:lvl4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4pPr>
            <a:lvl5pPr algn="l" rtl="0" eaLnBrk="0" fontAlgn="base" hangingPunct="0">
              <a:spcBef>
                <a:spcPct val="0"/>
              </a:spcBef>
              <a:spcAft>
                <a:spcPct val="0"/>
              </a:spcAft>
              <a:defRPr sz="4300">
                <a:solidFill>
                  <a:srgbClr val="41536B"/>
                </a:solidFill>
                <a:latin typeface="Gill Sans MT" charset="0"/>
                <a:ea typeface="ＭＳ Ｐゴシック" charset="0"/>
                <a:cs typeface="ＭＳ Ｐゴシック" charset="0"/>
              </a:defRPr>
            </a:lvl5pPr>
            <a:lvl6pPr marL="457200" algn="l" rtl="0" fontAlgn="base">
              <a:spcBef>
                <a:spcPct val="0"/>
              </a:spcBef>
              <a:spcAft>
                <a:spcPct val="0"/>
              </a:spcAft>
              <a:defRPr sz="4300">
                <a:solidFill>
                  <a:srgbClr val="41536B"/>
                </a:solidFill>
                <a:latin typeface="Gill Sans MT" charset="0"/>
                <a:ea typeface="ＭＳ Ｐゴシック" charset="0"/>
                <a:cs typeface="ＭＳ Ｐゴシック" charset="0"/>
              </a:defRPr>
            </a:lvl6pPr>
            <a:lvl7pPr marL="914400" algn="l" rtl="0" fontAlgn="base">
              <a:spcBef>
                <a:spcPct val="0"/>
              </a:spcBef>
              <a:spcAft>
                <a:spcPct val="0"/>
              </a:spcAft>
              <a:defRPr sz="4300">
                <a:solidFill>
                  <a:srgbClr val="41536B"/>
                </a:solidFill>
                <a:latin typeface="Gill Sans MT" charset="0"/>
                <a:ea typeface="ＭＳ Ｐゴシック" charset="0"/>
                <a:cs typeface="ＭＳ Ｐゴシック" charset="0"/>
              </a:defRPr>
            </a:lvl7pPr>
            <a:lvl8pPr marL="1371600" algn="l" rtl="0" fontAlgn="base">
              <a:spcBef>
                <a:spcPct val="0"/>
              </a:spcBef>
              <a:spcAft>
                <a:spcPct val="0"/>
              </a:spcAft>
              <a:defRPr sz="4300">
                <a:solidFill>
                  <a:srgbClr val="41536B"/>
                </a:solidFill>
                <a:latin typeface="Gill Sans MT" charset="0"/>
                <a:ea typeface="ＭＳ Ｐゴシック" charset="0"/>
                <a:cs typeface="ＭＳ Ｐゴシック" charset="0"/>
              </a:defRPr>
            </a:lvl8pPr>
            <a:lvl9pPr marL="1828800" algn="l" rtl="0" fontAlgn="base">
              <a:spcBef>
                <a:spcPct val="0"/>
              </a:spcBef>
              <a:spcAft>
                <a:spcPct val="0"/>
              </a:spcAft>
              <a:defRPr sz="4300">
                <a:solidFill>
                  <a:srgbClr val="41536B"/>
                </a:solidFill>
                <a:latin typeface="Gill Sans MT" charset="0"/>
                <a:ea typeface="ＭＳ Ｐゴシック" charset="0"/>
                <a:cs typeface="ＭＳ Ｐゴシック" charset="0"/>
              </a:defRPr>
            </a:lvl9pPr>
            <a:extLst/>
          </a:lstStyle>
          <a:p>
            <a:pPr algn="ctr"/>
            <a:r>
              <a:rPr lang="en-US" sz="8000" dirty="0" smtClean="0">
                <a:solidFill>
                  <a:srgbClr val="FF0000"/>
                </a:solidFill>
              </a:rPr>
              <a:t>Stop Tweaking</a:t>
            </a:r>
            <a:endParaRPr lang="en-US" sz="8000" dirty="0">
              <a:solidFill>
                <a:srgbClr val="FF0000"/>
              </a:solidFill>
            </a:endParaRPr>
          </a:p>
        </p:txBody>
      </p:sp>
      <p:sp>
        <p:nvSpPr>
          <p:cNvPr id="2" name="Title 1"/>
          <p:cNvSpPr>
            <a:spLocks noGrp="1"/>
          </p:cNvSpPr>
          <p:nvPr>
            <p:ph type="title"/>
          </p:nvPr>
        </p:nvSpPr>
        <p:spPr>
          <a:xfrm>
            <a:off x="2133600" y="2489200"/>
            <a:ext cx="5918200" cy="1193800"/>
          </a:xfrm>
          <a:solidFill>
            <a:srgbClr val="008000"/>
          </a:solidFill>
          <a:ln>
            <a:solidFill>
              <a:schemeClr val="tx1"/>
            </a:solidFill>
          </a:ln>
        </p:spPr>
        <p:txBody>
          <a:bodyPr>
            <a:normAutofit/>
          </a:bodyPr>
          <a:lstStyle/>
          <a:p>
            <a:pPr algn="ctr"/>
            <a:r>
              <a:rPr lang="en-US" sz="5400" dirty="0" smtClean="0">
                <a:solidFill>
                  <a:schemeClr val="bg1"/>
                </a:solidFill>
                <a:latin typeface="Impact"/>
              </a:rPr>
              <a:t>Real Reform</a:t>
            </a:r>
            <a:endParaRPr lang="en-US" sz="5400" dirty="0">
              <a:solidFill>
                <a:schemeClr val="bg1"/>
              </a:solidFill>
              <a:latin typeface="Impact"/>
            </a:endParaRPr>
          </a:p>
        </p:txBody>
      </p:sp>
      <p:sp>
        <p:nvSpPr>
          <p:cNvPr id="6" name="TextBox 5"/>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35808646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465138"/>
            <a:ext cx="7499350" cy="1143000"/>
          </a:xfrm>
        </p:spPr>
        <p:txBody>
          <a:bodyPr/>
          <a:lstStyle/>
          <a:p>
            <a:pPr algn="ctr"/>
            <a:r>
              <a:rPr lang="en-US" dirty="0" smtClean="0"/>
              <a:t>Public Policy Advocacy</a:t>
            </a:r>
            <a:endParaRPr lang="en-US" dirty="0"/>
          </a:p>
        </p:txBody>
      </p:sp>
      <p:pic>
        <p:nvPicPr>
          <p:cNvPr id="3" name="Picture 2" descr="California+Legislators+Vote+State+Embattled+XuPiF_r4-Vjl.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6919" y="2010228"/>
            <a:ext cx="3441810" cy="2294539"/>
          </a:xfrm>
          <a:prstGeom prst="rect">
            <a:avLst/>
          </a:prstGeom>
          <a:scene3d>
            <a:camera prst="orthographicFront"/>
            <a:lightRig rig="threePt" dir="t"/>
          </a:scene3d>
          <a:sp3d>
            <a:bevelT/>
          </a:sp3d>
        </p:spPr>
      </p:pic>
      <p:pic>
        <p:nvPicPr>
          <p:cNvPr id="4" name="Picture 3" descr="olympia-1.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8174" y="2010228"/>
            <a:ext cx="2867026" cy="2293620"/>
          </a:xfrm>
          <a:prstGeom prst="rect">
            <a:avLst/>
          </a:prstGeom>
          <a:scene3d>
            <a:camera prst="orthographicFront"/>
            <a:lightRig rig="threePt" dir="t"/>
          </a:scene3d>
          <a:sp3d>
            <a:bevelT/>
          </a:sp3d>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6828983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4100" y="427038"/>
            <a:ext cx="5676900" cy="2671762"/>
          </a:xfrm>
        </p:spPr>
        <p:txBody>
          <a:bodyPr>
            <a:normAutofit/>
          </a:bodyPr>
          <a:lstStyle/>
          <a:p>
            <a:pPr algn="ctr"/>
            <a:r>
              <a:rPr lang="en-US" dirty="0" smtClean="0"/>
              <a:t>Direct Support Professional</a:t>
            </a:r>
            <a:br>
              <a:rPr lang="en-US" dirty="0" smtClean="0"/>
            </a:br>
            <a:r>
              <a:rPr lang="en-US" dirty="0" smtClean="0"/>
              <a:t>Challenges</a:t>
            </a:r>
            <a:endParaRPr lang="en-US" dirty="0"/>
          </a:p>
        </p:txBody>
      </p:sp>
      <p:pic>
        <p:nvPicPr>
          <p:cNvPr id="7" name="Picture 6" descr="16socialworker460x276.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9466" y="3340100"/>
            <a:ext cx="4677833" cy="2806700"/>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98409458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1264417263"/>
              </p:ext>
            </p:extLst>
          </p:nvPr>
        </p:nvGraphicFramePr>
        <p:xfrm>
          <a:off x="1778000" y="431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Picture 8" descr="MC900297567.WM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76541" y="4445000"/>
            <a:ext cx="3729059" cy="1955800"/>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297791988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6200" y="1023938"/>
            <a:ext cx="7588250" cy="1439862"/>
          </a:xfrm>
        </p:spPr>
        <p:txBody>
          <a:bodyPr>
            <a:normAutofit/>
          </a:bodyPr>
          <a:lstStyle/>
          <a:p>
            <a:pPr algn="ctr"/>
            <a:r>
              <a:rPr lang="en-US" dirty="0" smtClean="0"/>
              <a:t>Transition:</a:t>
            </a:r>
            <a:br>
              <a:rPr lang="en-US" dirty="0" smtClean="0"/>
            </a:br>
            <a:r>
              <a:rPr lang="en-US" dirty="0" smtClean="0"/>
              <a:t> Opportunity &amp; Challenge</a:t>
            </a:r>
            <a:endParaRPr lang="en-US" dirty="0"/>
          </a:p>
        </p:txBody>
      </p:sp>
      <p:pic>
        <p:nvPicPr>
          <p:cNvPr id="4" name="Picture 3" descr="MC900231610.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9301" y="2819400"/>
            <a:ext cx="3619500" cy="2988408"/>
          </a:xfrm>
          <a:prstGeom prst="rect">
            <a:avLst/>
          </a:prstGeom>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25367622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655638"/>
            <a:ext cx="7499350" cy="1143000"/>
          </a:xfrm>
        </p:spPr>
        <p:txBody>
          <a:bodyPr>
            <a:normAutofit fontScale="90000"/>
          </a:bodyPr>
          <a:lstStyle/>
          <a:p>
            <a:pPr algn="ctr"/>
            <a:r>
              <a:rPr lang="en-US" dirty="0" smtClean="0"/>
              <a:t>Limits of Traditional</a:t>
            </a:r>
            <a:br>
              <a:rPr lang="en-US" dirty="0" smtClean="0"/>
            </a:br>
            <a:r>
              <a:rPr lang="en-US" dirty="0" smtClean="0"/>
              <a:t>Placement</a:t>
            </a:r>
            <a:endParaRPr lang="en-US" dirty="0"/>
          </a:p>
        </p:txBody>
      </p:sp>
      <p:pic>
        <p:nvPicPr>
          <p:cNvPr id="4" name="Picture 3" descr="Job Interview.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2641600"/>
            <a:ext cx="3365500" cy="3365500"/>
          </a:xfrm>
          <a:prstGeom prst="rect">
            <a:avLst/>
          </a:prstGeom>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219604812"/>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1663700" y="749300"/>
            <a:ext cx="6410325" cy="3659976"/>
          </a:xfrm>
          <a:prstGeom prst="rect">
            <a:avLst/>
          </a:prstGeom>
          <a:solidFill>
            <a:srgbClr val="006699"/>
          </a:solidFill>
          <a:ln/>
          <a:scene3d>
            <a:camera prst="orthographicFront"/>
            <a:lightRig rig="threePt" dir="t"/>
          </a:scene3d>
          <a:sp3d>
            <a:bevelT w="139700" h="139700" prst="divot"/>
          </a:sp3d>
        </p:spPr>
        <p:style>
          <a:lnRef idx="2">
            <a:schemeClr val="accent2">
              <a:shade val="50000"/>
            </a:schemeClr>
          </a:lnRef>
          <a:fillRef idx="1">
            <a:schemeClr val="accent2"/>
          </a:fillRef>
          <a:effectRef idx="0">
            <a:schemeClr val="accent2"/>
          </a:effectRef>
          <a:fontRef idx="minor">
            <a:schemeClr val="lt1"/>
          </a:fontRef>
        </p:style>
        <p:txBody>
          <a:bodyPr lIns="90487" tIns="44450" rIns="90487" bIns="44450">
            <a:spAutoFit/>
          </a:bodyPr>
          <a:lstStyle/>
          <a:p>
            <a:pPr algn="ctr">
              <a:defRPr/>
            </a:pPr>
            <a:endParaRPr lang="en-US" altLang="ja-JP" sz="4000" b="1" i="1" dirty="0">
              <a:effectLst>
                <a:outerShdw blurRad="38100" dist="38100" dir="2700000" algn="tl">
                  <a:srgbClr val="DDDDDD"/>
                </a:outerShdw>
              </a:effectLst>
              <a:latin typeface="Arial"/>
            </a:endParaRPr>
          </a:p>
          <a:p>
            <a:pPr algn="ctr">
              <a:defRPr/>
            </a:pPr>
            <a:r>
              <a:rPr lang="ja-JP" altLang="en-US" sz="4000" b="1" i="1" dirty="0" smtClean="0">
                <a:effectLst>
                  <a:outerShdw blurRad="38100" dist="38100" dir="2700000" algn="tl">
                    <a:srgbClr val="DDDDDD"/>
                  </a:outerShdw>
                </a:effectLst>
                <a:latin typeface="Arial"/>
              </a:rPr>
              <a:t>“</a:t>
            </a:r>
            <a:r>
              <a:rPr lang="en-US" sz="4000" b="1" dirty="0" smtClean="0">
                <a:effectLst>
                  <a:outerShdw blurRad="38100" dist="38100" dir="2700000" algn="tl">
                    <a:srgbClr val="DDDDDD"/>
                  </a:outerShdw>
                </a:effectLst>
                <a:latin typeface="Arial" charset="0"/>
              </a:rPr>
              <a:t>Anyone in charge of an organization with more than two people is running a clinic.”</a:t>
            </a:r>
          </a:p>
          <a:p>
            <a:pPr algn="ctr">
              <a:defRPr/>
            </a:pPr>
            <a:endParaRPr lang="en-US" sz="3200" b="1" i="1" dirty="0">
              <a:solidFill>
                <a:srgbClr val="DC0081"/>
              </a:solidFill>
              <a:latin typeface="Arial" charset="0"/>
            </a:endParaRPr>
          </a:p>
        </p:txBody>
      </p:sp>
      <p:sp>
        <p:nvSpPr>
          <p:cNvPr id="51204" name="Text Box 3"/>
          <p:cNvSpPr txBox="1">
            <a:spLocks noChangeArrowheads="1"/>
          </p:cNvSpPr>
          <p:nvPr/>
        </p:nvSpPr>
        <p:spPr bwMode="auto">
          <a:xfrm>
            <a:off x="4038600" y="5105400"/>
            <a:ext cx="51054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buFontTx/>
              <a:buChar char="•"/>
            </a:pPr>
            <a:r>
              <a:rPr lang="en-US"/>
              <a:t> </a:t>
            </a:r>
            <a:r>
              <a:rPr lang="en-US" sz="2800"/>
              <a:t>CEO of Major Corporation</a:t>
            </a:r>
          </a:p>
        </p:txBody>
      </p:sp>
    </p:spTree>
    <p:extLst>
      <p:ext uri="{BB962C8B-B14F-4D97-AF65-F5344CB8AC3E}">
        <p14:creationId xmlns:p14="http://schemas.microsoft.com/office/powerpoint/2010/main" val="2719012928"/>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p:cNvGraphicFramePr/>
          <p:nvPr>
            <p:extLst>
              <p:ext uri="{D42A27DB-BD31-4B8C-83A1-F6EECF244321}">
                <p14:modId xmlns:p14="http://schemas.microsoft.com/office/powerpoint/2010/main" val="159984524"/>
              </p:ext>
            </p:extLst>
          </p:nvPr>
        </p:nvGraphicFramePr>
        <p:xfrm>
          <a:off x="1816100" y="165100"/>
          <a:ext cx="66421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6" descr="Diversity.WMF"/>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69584" y="3949700"/>
            <a:ext cx="2678816" cy="2628900"/>
          </a:xfrm>
          <a:prstGeom prst="rect">
            <a:avLst/>
          </a:prstGeom>
        </p:spPr>
      </p:pic>
      <p:sp>
        <p:nvSpPr>
          <p:cNvPr id="4" name="TextBox 3"/>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6657070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600" y="0"/>
            <a:ext cx="7499350" cy="993776"/>
          </a:xfrm>
        </p:spPr>
        <p:txBody>
          <a:bodyPr/>
          <a:lstStyle/>
          <a:p>
            <a:r>
              <a:rPr lang="en-US" dirty="0" smtClean="0"/>
              <a:t>What’s your response?</a:t>
            </a:r>
            <a:endParaRPr lang="en-US" dirty="0"/>
          </a:p>
        </p:txBody>
      </p:sp>
      <p:sp>
        <p:nvSpPr>
          <p:cNvPr id="3" name="Content Placeholder 2"/>
          <p:cNvSpPr>
            <a:spLocks noGrp="1"/>
          </p:cNvSpPr>
          <p:nvPr>
            <p:ph idx="1"/>
          </p:nvPr>
        </p:nvSpPr>
        <p:spPr>
          <a:xfrm>
            <a:off x="1866900" y="1076328"/>
            <a:ext cx="7188200" cy="5410200"/>
          </a:xfrm>
        </p:spPr>
        <p:txBody>
          <a:bodyPr/>
          <a:lstStyle/>
          <a:p>
            <a:pPr>
              <a:spcBef>
                <a:spcPts val="2400"/>
              </a:spcBef>
            </a:pPr>
            <a:r>
              <a:rPr lang="en-US" sz="3600" dirty="0"/>
              <a:t>D</a:t>
            </a:r>
            <a:r>
              <a:rPr lang="en-US" sz="3600" dirty="0" smtClean="0"/>
              <a:t>on’t want to work</a:t>
            </a:r>
          </a:p>
          <a:p>
            <a:pPr>
              <a:spcBef>
                <a:spcPts val="2400"/>
              </a:spcBef>
            </a:pPr>
            <a:r>
              <a:rPr lang="en-US" sz="3600" dirty="0"/>
              <a:t>O</a:t>
            </a:r>
            <a:r>
              <a:rPr lang="en-US" sz="3600" dirty="0" smtClean="0"/>
              <a:t>nly want to work a few hours</a:t>
            </a:r>
          </a:p>
          <a:p>
            <a:pPr>
              <a:spcBef>
                <a:spcPts val="2400"/>
              </a:spcBef>
            </a:pPr>
            <a:r>
              <a:rPr lang="en-US" sz="3600" dirty="0"/>
              <a:t>C</a:t>
            </a:r>
            <a:r>
              <a:rPr lang="en-US" sz="3600" dirty="0" smtClean="0"/>
              <a:t>an’t work because of benefits</a:t>
            </a:r>
          </a:p>
          <a:p>
            <a:pPr>
              <a:spcBef>
                <a:spcPts val="2400"/>
              </a:spcBef>
            </a:pPr>
            <a:r>
              <a:rPr lang="en-US" sz="3600" dirty="0"/>
              <a:t>B</a:t>
            </a:r>
            <a:r>
              <a:rPr lang="en-US" sz="3600" dirty="0" smtClean="0"/>
              <a:t>etter off in a day program</a:t>
            </a:r>
          </a:p>
          <a:p>
            <a:pPr>
              <a:spcBef>
                <a:spcPts val="2400"/>
              </a:spcBef>
            </a:pPr>
            <a:r>
              <a:rPr lang="en-US" sz="3600" dirty="0"/>
              <a:t>H</a:t>
            </a:r>
            <a:r>
              <a:rPr lang="en-US" sz="3600" dirty="0" smtClean="0"/>
              <a:t>appy in sheltered work</a:t>
            </a:r>
          </a:p>
        </p:txBody>
      </p:sp>
      <p:pic>
        <p:nvPicPr>
          <p:cNvPr id="5" name="Picture 4" descr="MC900078622.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276" y="3327400"/>
            <a:ext cx="1412724" cy="3048000"/>
          </a:xfrm>
          <a:prstGeom prst="rect">
            <a:avLst/>
          </a:prstGeom>
        </p:spPr>
      </p:pic>
      <p:sp>
        <p:nvSpPr>
          <p:cNvPr id="6" name="TextBox 5"/>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171028062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set>
                                      <p:cBhvr override="childStyle">
                                        <p:cTn dur="1" fill="hold" display="0" masterRel="nextClick" afterEffect="1"/>
                                        <p:tgtEl>
                                          <p:spTgt spid="3">
                                            <p:txEl>
                                              <p:pRg st="1" end="1"/>
                                            </p:txEl>
                                          </p:spTgt>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set>
                                      <p:cBhvr override="childStyle">
                                        <p:cTn dur="1" fill="hold" display="0" masterRel="nextClick" afterEffect="1"/>
                                        <p:tgtEl>
                                          <p:spTgt spid="3">
                                            <p:txEl>
                                              <p:pRg st="2" end="2"/>
                                            </p:txEl>
                                          </p:spTgt>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set>
                                      <p:cBhvr override="childStyle">
                                        <p:cTn dur="1" fill="hold" display="0" masterRel="nextClick" afterEffect="1"/>
                                        <p:tgtEl>
                                          <p:spTgt spid="3">
                                            <p:txEl>
                                              <p:pRg st="3" end="3"/>
                                            </p:txEl>
                                          </p:spTgt>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600" y="0"/>
            <a:ext cx="7499350" cy="993776"/>
          </a:xfrm>
        </p:spPr>
        <p:txBody>
          <a:bodyPr/>
          <a:lstStyle/>
          <a:p>
            <a:r>
              <a:rPr lang="en-US" dirty="0" smtClean="0"/>
              <a:t>What’s your response?</a:t>
            </a:r>
            <a:endParaRPr lang="en-US" dirty="0"/>
          </a:p>
        </p:txBody>
      </p:sp>
      <p:sp>
        <p:nvSpPr>
          <p:cNvPr id="3" name="Content Placeholder 2"/>
          <p:cNvSpPr>
            <a:spLocks noGrp="1"/>
          </p:cNvSpPr>
          <p:nvPr>
            <p:ph idx="1"/>
          </p:nvPr>
        </p:nvSpPr>
        <p:spPr>
          <a:xfrm>
            <a:off x="952500" y="1038228"/>
            <a:ext cx="8001000" cy="5527672"/>
          </a:xfrm>
        </p:spPr>
        <p:txBody>
          <a:bodyPr/>
          <a:lstStyle/>
          <a:p>
            <a:r>
              <a:rPr lang="en-US" sz="3600" dirty="0" smtClean="0"/>
              <a:t>Service provider: let’s start a business</a:t>
            </a:r>
          </a:p>
          <a:p>
            <a:pPr>
              <a:spcBef>
                <a:spcPts val="1800"/>
              </a:spcBef>
            </a:pPr>
            <a:r>
              <a:rPr lang="en-US" sz="3600" dirty="0" smtClean="0"/>
              <a:t>Let’s create an enclave</a:t>
            </a:r>
          </a:p>
          <a:p>
            <a:pPr>
              <a:spcBef>
                <a:spcPts val="1800"/>
              </a:spcBef>
            </a:pPr>
            <a:r>
              <a:rPr lang="en-US" sz="3600" dirty="0"/>
              <a:t>N</a:t>
            </a:r>
            <a:r>
              <a:rPr lang="en-US" sz="3600" dirty="0" smtClean="0"/>
              <a:t>o jobs</a:t>
            </a:r>
          </a:p>
          <a:p>
            <a:pPr>
              <a:spcBef>
                <a:spcPts val="1800"/>
              </a:spcBef>
            </a:pPr>
            <a:r>
              <a:rPr lang="en-US" sz="3600" dirty="0" smtClean="0"/>
              <a:t>Business:  We have no openings</a:t>
            </a:r>
          </a:p>
          <a:p>
            <a:pPr>
              <a:spcBef>
                <a:spcPts val="1800"/>
              </a:spcBef>
            </a:pPr>
            <a:r>
              <a:rPr lang="en-US" sz="3600" dirty="0" smtClean="0"/>
              <a:t>Service system:</a:t>
            </a:r>
            <a:br>
              <a:rPr lang="en-US" sz="3600" dirty="0" smtClean="0"/>
            </a:br>
            <a:r>
              <a:rPr lang="en-US" sz="3600" dirty="0" smtClean="0"/>
              <a:t>provider not finding jobs</a:t>
            </a:r>
          </a:p>
          <a:p>
            <a:pPr>
              <a:spcBef>
                <a:spcPts val="1800"/>
              </a:spcBef>
            </a:pPr>
            <a:r>
              <a:rPr lang="en-US" sz="3600" dirty="0" smtClean="0"/>
              <a:t>Too disabled to work</a:t>
            </a:r>
          </a:p>
          <a:p>
            <a:endParaRPr lang="en-US" dirty="0"/>
          </a:p>
        </p:txBody>
      </p:sp>
      <p:pic>
        <p:nvPicPr>
          <p:cNvPr id="7" name="Picture 6" descr="MC900078711.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2683" y="3415088"/>
            <a:ext cx="1290817" cy="3150812"/>
          </a:xfrm>
          <a:prstGeom prst="rect">
            <a:avLst/>
          </a:prstGeom>
        </p:spPr>
      </p:pic>
    </p:spTree>
    <p:extLst>
      <p:ext uri="{BB962C8B-B14F-4D97-AF65-F5344CB8AC3E}">
        <p14:creationId xmlns:p14="http://schemas.microsoft.com/office/powerpoint/2010/main" val="753458051"/>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set>
                                      <p:cBhvr override="childStyle">
                                        <p:cTn dur="1" fill="hold" display="0" masterRel="nextClick" afterEffect="1"/>
                                        <p:tgtEl>
                                          <p:spTgt spid="3">
                                            <p:txEl>
                                              <p:pRg st="0" end="0"/>
                                            </p:txEl>
                                          </p:spTgt>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set>
                                      <p:cBhvr override="childStyle">
                                        <p:cTn dur="1" fill="hold" display="0" masterRel="nextClick" afterEffect="1"/>
                                        <p:tgtEl>
                                          <p:spTgt spid="3">
                                            <p:txEl>
                                              <p:pRg st="1" end="1"/>
                                            </p:txEl>
                                          </p:spTgt>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set>
                                      <p:cBhvr override="childStyle">
                                        <p:cTn dur="1" fill="hold" display="0" masterRel="nextClick" afterEffect="1"/>
                                        <p:tgtEl>
                                          <p:spTgt spid="3">
                                            <p:txEl>
                                              <p:pRg st="2" end="2"/>
                                            </p:txEl>
                                          </p:spTgt>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set>
                                      <p:cBhvr override="childStyle">
                                        <p:cTn dur="1" fill="hold" display="0" masterRel="nextClick" afterEffect="1"/>
                                        <p:tgtEl>
                                          <p:spTgt spid="3">
                                            <p:txEl>
                                              <p:pRg st="3" end="3"/>
                                            </p:txEl>
                                          </p:spTgt>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subTnLst>
                                    <p:set>
                                      <p:cBhvr override="childStyle">
                                        <p:cTn dur="1" fill="hold" display="0" masterRel="nextClick" afterEffect="1"/>
                                        <p:tgtEl>
                                          <p:spTgt spid="3">
                                            <p:txEl>
                                              <p:pRg st="4" end="4"/>
                                            </p:txEl>
                                          </p:spTgt>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3"/>
          <p:cNvSpPr>
            <a:spLocks noGrp="1" noChangeArrowheads="1"/>
          </p:cNvSpPr>
          <p:nvPr>
            <p:ph type="body" idx="1"/>
          </p:nvPr>
        </p:nvSpPr>
        <p:spPr>
          <a:xfrm>
            <a:off x="2819400" y="4724400"/>
            <a:ext cx="4343400" cy="1295400"/>
          </a:xfrm>
          <a:extLst>
            <a:ext uri="{91240B29-F687-4f45-9708-019B960494DF}">
              <a14:hiddenLine xmlns:a14="http://schemas.microsoft.com/office/drawing/2010/main" w="12700">
                <a:solidFill>
                  <a:schemeClr val="tx1"/>
                </a:solidFill>
                <a:miter lim="800000"/>
                <a:headEnd/>
                <a:tailEnd/>
              </a14:hiddenLine>
            </a:ext>
          </a:extLst>
        </p:spPr>
        <p:txBody>
          <a:bodyPr lIns="90487" tIns="44450" rIns="90487" bIns="44450"/>
          <a:lstStyle/>
          <a:p>
            <a:pPr>
              <a:lnSpc>
                <a:spcPct val="90000"/>
              </a:lnSpc>
              <a:buFont typeface="Times" charset="0"/>
              <a:buNone/>
            </a:pPr>
            <a:endParaRPr lang="en-US" sz="3600">
              <a:latin typeface="Calibri" charset="0"/>
              <a:ea typeface="MS PGothic" charset="0"/>
            </a:endParaRPr>
          </a:p>
          <a:p>
            <a:pPr>
              <a:lnSpc>
                <a:spcPct val="90000"/>
              </a:lnSpc>
              <a:buFont typeface="Times" charset="0"/>
              <a:buNone/>
            </a:pPr>
            <a:r>
              <a:rPr lang="en-US" sz="3600">
                <a:latin typeface="Calibri" charset="0"/>
                <a:ea typeface="MS PGothic" charset="0"/>
              </a:rPr>
              <a:t>- Tom Robbins</a:t>
            </a:r>
          </a:p>
        </p:txBody>
      </p:sp>
      <p:sp>
        <p:nvSpPr>
          <p:cNvPr id="2" name="Title 1"/>
          <p:cNvSpPr>
            <a:spLocks noGrp="1"/>
          </p:cNvSpPr>
          <p:nvPr>
            <p:ph type="title"/>
          </p:nvPr>
        </p:nvSpPr>
        <p:spPr>
          <a:xfrm>
            <a:off x="635000" y="279400"/>
            <a:ext cx="8382000" cy="4419600"/>
          </a:xfrm>
          <a:ln w="38100"/>
        </p:spPr>
        <p:style>
          <a:lnRef idx="2">
            <a:schemeClr val="accent3"/>
          </a:lnRef>
          <a:fillRef idx="1">
            <a:schemeClr val="lt1"/>
          </a:fillRef>
          <a:effectRef idx="0">
            <a:schemeClr val="accent3"/>
          </a:effectRef>
          <a:fontRef idx="minor">
            <a:schemeClr val="dk1"/>
          </a:fontRef>
        </p:style>
        <p:txBody>
          <a:bodyPr>
            <a:normAutofit fontScale="90000"/>
          </a:bodyPr>
          <a:lstStyle/>
          <a:p>
            <a:pPr algn="ctr">
              <a:defRPr/>
            </a:pPr>
            <a:r>
              <a:rPr lang="ja-JP" altLang="en-US" dirty="0" smtClean="0">
                <a:latin typeface="Arial"/>
                <a:cs typeface="Arial"/>
              </a:rPr>
              <a:t>“</a:t>
            </a:r>
            <a:r>
              <a:rPr lang="en-US" dirty="0">
                <a:latin typeface="Arial"/>
                <a:cs typeface="Arial"/>
              </a:rPr>
              <a:t>Humanity has advanced</a:t>
            </a:r>
            <a:r>
              <a:rPr lang="en-US" dirty="0" smtClean="0">
                <a:latin typeface="Arial"/>
                <a:cs typeface="Arial"/>
              </a:rPr>
              <a:t>,</a:t>
            </a:r>
            <a:br>
              <a:rPr lang="en-US" dirty="0" smtClean="0">
                <a:latin typeface="Arial"/>
                <a:cs typeface="Arial"/>
              </a:rPr>
            </a:br>
            <a:r>
              <a:rPr lang="en-US" dirty="0" smtClean="0">
                <a:latin typeface="Arial"/>
                <a:cs typeface="Arial"/>
              </a:rPr>
              <a:t>when </a:t>
            </a:r>
            <a:r>
              <a:rPr lang="en-US" dirty="0">
                <a:latin typeface="Arial"/>
                <a:cs typeface="Arial"/>
              </a:rPr>
              <a:t>it has advanced</a:t>
            </a:r>
            <a:r>
              <a:rPr lang="en-US" dirty="0" smtClean="0">
                <a:latin typeface="Arial"/>
                <a:cs typeface="Arial"/>
              </a:rPr>
              <a:t>,</a:t>
            </a:r>
            <a:br>
              <a:rPr lang="en-US" dirty="0" smtClean="0">
                <a:latin typeface="Arial"/>
                <a:cs typeface="Arial"/>
              </a:rPr>
            </a:br>
            <a:r>
              <a:rPr lang="en-US" dirty="0" smtClean="0">
                <a:latin typeface="Arial"/>
                <a:cs typeface="Arial"/>
              </a:rPr>
              <a:t>not </a:t>
            </a:r>
            <a:r>
              <a:rPr lang="en-US" dirty="0">
                <a:latin typeface="Arial"/>
                <a:cs typeface="Arial"/>
              </a:rPr>
              <a:t>because it has been sober, responsible, and cautious</a:t>
            </a:r>
            <a:r>
              <a:rPr lang="en-US" dirty="0" smtClean="0">
                <a:latin typeface="Arial"/>
                <a:cs typeface="Arial"/>
              </a:rPr>
              <a:t>,</a:t>
            </a:r>
            <a:br>
              <a:rPr lang="en-US" dirty="0" smtClean="0">
                <a:latin typeface="Arial"/>
                <a:cs typeface="Arial"/>
              </a:rPr>
            </a:br>
            <a:r>
              <a:rPr lang="en-US" dirty="0" smtClean="0">
                <a:latin typeface="Arial"/>
                <a:cs typeface="Arial"/>
              </a:rPr>
              <a:t>but </a:t>
            </a:r>
            <a:r>
              <a:rPr lang="en-US" dirty="0">
                <a:latin typeface="Arial"/>
                <a:cs typeface="Arial"/>
              </a:rPr>
              <a:t>because it has been playful, rebellious, and </a:t>
            </a:r>
            <a:r>
              <a:rPr lang="en-US" dirty="0" smtClean="0">
                <a:latin typeface="Arial"/>
                <a:cs typeface="Arial"/>
              </a:rPr>
              <a:t>immature.”</a:t>
            </a:r>
            <a:br>
              <a:rPr lang="en-US" dirty="0" smtClean="0">
                <a:latin typeface="Arial"/>
                <a:cs typeface="Arial"/>
              </a:rPr>
            </a:br>
            <a:endParaRPr lang="en-US" dirty="0">
              <a:latin typeface="Arial"/>
              <a:cs typeface="Arial"/>
            </a:endParaRPr>
          </a:p>
        </p:txBody>
      </p:sp>
      <p:pic>
        <p:nvPicPr>
          <p:cNvPr id="101379" name="Picture 2" descr="tom-robbins[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467600" y="4933950"/>
            <a:ext cx="1282700" cy="16097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822994"/>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SE NAtional Conferencre 292 copy.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2769" y="711200"/>
            <a:ext cx="7602118" cy="5054600"/>
          </a:xfrm>
          <a:prstGeom prst="rect">
            <a:avLst/>
          </a:prstGeom>
        </p:spPr>
      </p:pic>
    </p:spTree>
    <p:extLst>
      <p:ext uri="{BB962C8B-B14F-4D97-AF65-F5344CB8AC3E}">
        <p14:creationId xmlns:p14="http://schemas.microsoft.com/office/powerpoint/2010/main" val="811886225"/>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58900" y="127000"/>
            <a:ext cx="6805236" cy="5168900"/>
          </a:xfrm>
          <a:solidFill>
            <a:srgbClr val="000090"/>
          </a:solidFill>
        </p:spPr>
        <p:style>
          <a:lnRef idx="3">
            <a:schemeClr val="lt1"/>
          </a:lnRef>
          <a:fillRef idx="1">
            <a:schemeClr val="accent5"/>
          </a:fillRef>
          <a:effectRef idx="1">
            <a:schemeClr val="accent5"/>
          </a:effectRef>
          <a:fontRef idx="minor">
            <a:schemeClr val="lt1"/>
          </a:fontRef>
        </p:style>
        <p:txBody>
          <a:bodyPr>
            <a:normAutofit fontScale="90000"/>
          </a:bodyPr>
          <a:lstStyle/>
          <a:p>
            <a:pPr algn="ctr">
              <a:lnSpc>
                <a:spcPts val="4040"/>
              </a:lnSpc>
            </a:pPr>
            <a:r>
              <a:rPr lang="en-US" sz="3200" dirty="0" smtClean="0"/>
              <a:t>“For far too long the shabby treatment of the many millions of the mentally disabled in custodial institutions and many millions more now in communities needing help</a:t>
            </a:r>
            <a:br>
              <a:rPr lang="en-US" sz="3200" dirty="0" smtClean="0"/>
            </a:br>
            <a:r>
              <a:rPr lang="en-US" sz="3200" dirty="0" smtClean="0"/>
              <a:t>has been justified on grounds of</a:t>
            </a:r>
            <a:br>
              <a:rPr lang="en-US" sz="3200" dirty="0" smtClean="0"/>
            </a:br>
            <a:r>
              <a:rPr lang="en-US" sz="3200" dirty="0" smtClean="0"/>
              <a:t>inadequate funds, further studies</a:t>
            </a:r>
            <a:br>
              <a:rPr lang="en-US" sz="3200" dirty="0" smtClean="0"/>
            </a:br>
            <a:r>
              <a:rPr lang="en-US" sz="3200" dirty="0" smtClean="0"/>
              <a:t>and future promises.</a:t>
            </a:r>
            <a:br>
              <a:rPr lang="en-US" sz="3200" dirty="0" smtClean="0"/>
            </a:br>
            <a:r>
              <a:rPr lang="en-US" sz="3200" b="1" i="1" dirty="0" smtClean="0"/>
              <a:t>We can procrastinate no more.</a:t>
            </a:r>
            <a:r>
              <a:rPr lang="en-US" sz="3200" dirty="0" smtClean="0"/>
              <a:t>”</a:t>
            </a:r>
            <a:endParaRPr lang="en-US" sz="3200" dirty="0"/>
          </a:p>
        </p:txBody>
      </p:sp>
      <p:sp>
        <p:nvSpPr>
          <p:cNvPr id="5" name="TextBox 4"/>
          <p:cNvSpPr txBox="1"/>
          <p:nvPr/>
        </p:nvSpPr>
        <p:spPr>
          <a:xfrm>
            <a:off x="544136" y="5758867"/>
            <a:ext cx="5241525" cy="830997"/>
          </a:xfrm>
          <a:prstGeom prst="rect">
            <a:avLst/>
          </a:prstGeom>
          <a:noFill/>
        </p:spPr>
        <p:txBody>
          <a:bodyPr wrap="square" rtlCol="0">
            <a:spAutoFit/>
          </a:bodyPr>
          <a:lstStyle/>
          <a:p>
            <a:pPr algn="r"/>
            <a:r>
              <a:rPr lang="en-US" dirty="0" smtClean="0"/>
              <a:t>- </a:t>
            </a:r>
            <a:r>
              <a:rPr lang="en-US" sz="2400" b="1" dirty="0" smtClean="0"/>
              <a:t>President John F. Kennedy</a:t>
            </a:r>
            <a:br>
              <a:rPr lang="en-US" sz="2400" b="1" dirty="0" smtClean="0"/>
            </a:br>
            <a:r>
              <a:rPr lang="en-US" sz="2400" b="1" dirty="0" smtClean="0"/>
              <a:t>February 1963</a:t>
            </a:r>
            <a:endParaRPr lang="en-US" sz="2400" b="1" dirty="0"/>
          </a:p>
        </p:txBody>
      </p:sp>
      <p:pic>
        <p:nvPicPr>
          <p:cNvPr id="6" name="Picture 5" descr="220px-JohnFK.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5089165"/>
            <a:ext cx="1293436" cy="1581520"/>
          </a:xfrm>
          <a:prstGeom prst="rect">
            <a:avLst/>
          </a:prstGeom>
          <a:ln w="19050" cmpd="sng">
            <a:solidFill>
              <a:schemeClr val="tx1"/>
            </a:solidFill>
          </a:ln>
        </p:spPr>
      </p:pic>
    </p:spTree>
    <p:extLst>
      <p:ext uri="{BB962C8B-B14F-4D97-AF65-F5344CB8AC3E}">
        <p14:creationId xmlns:p14="http://schemas.microsoft.com/office/powerpoint/2010/main" val="3470468250"/>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type="subTitle" idx="1"/>
          </p:nvPr>
        </p:nvSpPr>
        <p:spPr>
          <a:xfrm>
            <a:off x="2400300" y="4605338"/>
            <a:ext cx="6400800" cy="914400"/>
          </a:xfrm>
        </p:spPr>
        <p:txBody>
          <a:bodyPr/>
          <a:lstStyle/>
          <a:p>
            <a:pPr algn="r">
              <a:defRPr/>
            </a:pPr>
            <a:r>
              <a:rPr lang="en-US" sz="2400" b="1" dirty="0"/>
              <a:t>- Marc Gold</a:t>
            </a:r>
          </a:p>
        </p:txBody>
      </p:sp>
      <p:sp>
        <p:nvSpPr>
          <p:cNvPr id="143365" name="Rectangle 5"/>
          <p:cNvSpPr>
            <a:spLocks noGrp="1" noChangeArrowheads="1"/>
          </p:cNvSpPr>
          <p:nvPr>
            <p:ph type="ctrTitle"/>
          </p:nvPr>
        </p:nvSpPr>
        <p:spPr>
          <a:xfrm>
            <a:off x="1290637" y="291508"/>
            <a:ext cx="7510463" cy="3454992"/>
          </a:xfrm>
          <a:solidFill>
            <a:srgbClr val="000090"/>
          </a:solidFill>
          <a:scene3d>
            <a:camera prst="orthographicFront"/>
            <a:lightRig rig="threePt" dir="t"/>
          </a:scene3d>
          <a:sp3d>
            <a:bevelT w="139700" h="139700" prst="divot"/>
          </a:sp3d>
        </p:spPr>
        <p:style>
          <a:lnRef idx="2">
            <a:schemeClr val="accent3">
              <a:shade val="50000"/>
            </a:schemeClr>
          </a:lnRef>
          <a:fillRef idx="1">
            <a:schemeClr val="accent3"/>
          </a:fillRef>
          <a:effectRef idx="0">
            <a:schemeClr val="accent3"/>
          </a:effectRef>
          <a:fontRef idx="minor">
            <a:schemeClr val="lt1"/>
          </a:fontRef>
        </p:style>
        <p:txBody>
          <a:bodyPr anchor="ctr" anchorCtr="0">
            <a:normAutofit/>
          </a:bodyPr>
          <a:lstStyle/>
          <a:p>
            <a:pPr>
              <a:defRPr/>
            </a:pPr>
            <a:r>
              <a:rPr lang="ja-JP" altLang="en-US" sz="3600" dirty="0">
                <a:solidFill>
                  <a:schemeClr val="bg1"/>
                </a:solidFill>
                <a:latin typeface="Verdana"/>
              </a:rPr>
              <a:t>“</a:t>
            </a:r>
            <a:r>
              <a:rPr lang="en-US" sz="3600" dirty="0" smtClean="0">
                <a:solidFill>
                  <a:schemeClr val="bg1"/>
                </a:solidFill>
                <a:latin typeface="Helvetica" charset="0"/>
              </a:rPr>
              <a:t>And if that doesn’t work,</a:t>
            </a:r>
            <a:br>
              <a:rPr lang="en-US" sz="3600" dirty="0" smtClean="0">
                <a:solidFill>
                  <a:schemeClr val="bg1"/>
                </a:solidFill>
                <a:latin typeface="Helvetica" charset="0"/>
              </a:rPr>
            </a:br>
            <a:r>
              <a:rPr lang="en-US" sz="3600" dirty="0" smtClean="0">
                <a:solidFill>
                  <a:schemeClr val="bg1"/>
                </a:solidFill>
                <a:latin typeface="Helvetica" charset="0"/>
              </a:rPr>
              <a:t>    what do you do next?</a:t>
            </a:r>
            <a:r>
              <a:rPr lang="en-US" sz="3600" dirty="0">
                <a:solidFill>
                  <a:schemeClr val="bg1"/>
                </a:solidFill>
                <a:latin typeface="Helvetica" charset="0"/>
              </a:rPr>
              <a:t/>
            </a:r>
            <a:br>
              <a:rPr lang="en-US" sz="3600" dirty="0">
                <a:solidFill>
                  <a:schemeClr val="bg1"/>
                </a:solidFill>
                <a:latin typeface="Helvetica" charset="0"/>
              </a:rPr>
            </a:br>
            <a:r>
              <a:rPr lang="en-US" sz="3600" dirty="0">
                <a:solidFill>
                  <a:schemeClr val="bg1"/>
                </a:solidFill>
                <a:latin typeface="Helvetica" charset="0"/>
              </a:rPr>
              <a:t>     </a:t>
            </a:r>
            <a:r>
              <a:rPr lang="en-US" sz="3600" dirty="0" smtClean="0">
                <a:solidFill>
                  <a:schemeClr val="bg1"/>
                </a:solidFill>
                <a:latin typeface="Helvetica" charset="0"/>
              </a:rPr>
              <a:t>… and next?</a:t>
            </a:r>
            <a:r>
              <a:rPr lang="en-US" sz="3600" dirty="0">
                <a:solidFill>
                  <a:schemeClr val="bg1"/>
                </a:solidFill>
                <a:latin typeface="Helvetica" charset="0"/>
              </a:rPr>
              <a:t/>
            </a:r>
            <a:br>
              <a:rPr lang="en-US" sz="3600" dirty="0">
                <a:solidFill>
                  <a:schemeClr val="bg1"/>
                </a:solidFill>
                <a:latin typeface="Helvetica" charset="0"/>
              </a:rPr>
            </a:br>
            <a:r>
              <a:rPr lang="en-US" sz="3600" dirty="0">
                <a:solidFill>
                  <a:schemeClr val="bg1"/>
                </a:solidFill>
                <a:latin typeface="Helvetica" charset="0"/>
              </a:rPr>
              <a:t>     </a:t>
            </a:r>
            <a:r>
              <a:rPr lang="en-US" sz="3600" dirty="0" smtClean="0">
                <a:solidFill>
                  <a:schemeClr val="bg1"/>
                </a:solidFill>
                <a:latin typeface="Helvetica" charset="0"/>
              </a:rPr>
              <a:t>…</a:t>
            </a:r>
            <a:r>
              <a:rPr lang="en-US" sz="3600" dirty="0">
                <a:solidFill>
                  <a:schemeClr val="bg1"/>
                </a:solidFill>
                <a:latin typeface="Helvetica" charset="0"/>
              </a:rPr>
              <a:t> </a:t>
            </a:r>
            <a:r>
              <a:rPr lang="en-US" sz="3600" dirty="0" smtClean="0">
                <a:solidFill>
                  <a:schemeClr val="bg1"/>
                </a:solidFill>
                <a:latin typeface="Helvetica" charset="0"/>
              </a:rPr>
              <a:t>and next?</a:t>
            </a:r>
            <a:r>
              <a:rPr lang="ja-JP" altLang="en-US" sz="3600" dirty="0" smtClean="0">
                <a:solidFill>
                  <a:schemeClr val="bg1"/>
                </a:solidFill>
                <a:latin typeface="Verdana"/>
              </a:rPr>
              <a:t>”</a:t>
            </a:r>
            <a:endParaRPr lang="en-US" sz="3600" dirty="0">
              <a:solidFill>
                <a:schemeClr val="bg1"/>
              </a:solidFill>
              <a:latin typeface="Helvetica" charset="0"/>
            </a:endParaRPr>
          </a:p>
        </p:txBody>
      </p:sp>
      <p:pic>
        <p:nvPicPr>
          <p:cNvPr id="104453" name="Picture 6" descr="go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8713" y="4071938"/>
            <a:ext cx="17145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4174734179"/>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w APSE Logo.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7980" y="1219200"/>
            <a:ext cx="6292420" cy="3839341"/>
          </a:xfrm>
          <a:prstGeom prst="rect">
            <a:avLst/>
          </a:prstGeom>
        </p:spPr>
      </p:pic>
      <p:sp>
        <p:nvSpPr>
          <p:cNvPr id="3" name="TextBox 2"/>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571778673"/>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0400" y="384176"/>
            <a:ext cx="5499100" cy="1143000"/>
          </a:xfrm>
        </p:spPr>
        <p:style>
          <a:lnRef idx="1">
            <a:schemeClr val="accent6"/>
          </a:lnRef>
          <a:fillRef idx="2">
            <a:schemeClr val="accent6"/>
          </a:fillRef>
          <a:effectRef idx="1">
            <a:schemeClr val="accent6"/>
          </a:effectRef>
          <a:fontRef idx="minor">
            <a:schemeClr val="dk1"/>
          </a:fontRef>
        </p:style>
        <p:txBody>
          <a:bodyPr/>
          <a:lstStyle/>
          <a:p>
            <a:pPr algn="ctr"/>
            <a:r>
              <a:rPr lang="en-US" dirty="0" smtClean="0"/>
              <a:t>Thanks!</a:t>
            </a:r>
            <a:endParaRPr lang="en-US" dirty="0"/>
          </a:p>
        </p:txBody>
      </p:sp>
      <p:pic>
        <p:nvPicPr>
          <p:cNvPr id="4" name="Picture 3" descr="MC900078773.WM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0200" y="2333747"/>
            <a:ext cx="3835400" cy="3101853"/>
          </a:xfrm>
          <a:prstGeom prst="rect">
            <a:avLst/>
          </a:prstGeom>
        </p:spPr>
      </p:pic>
      <p:sp>
        <p:nvSpPr>
          <p:cNvPr id="5" name="TextBox 4"/>
          <p:cNvSpPr txBox="1"/>
          <p:nvPr/>
        </p:nvSpPr>
        <p:spPr>
          <a:xfrm>
            <a:off x="7688263" y="6438900"/>
            <a:ext cx="1320800" cy="369332"/>
          </a:xfrm>
          <a:prstGeom prst="rect">
            <a:avLst/>
          </a:prstGeom>
          <a:noFill/>
        </p:spPr>
        <p:txBody>
          <a:bodyPr wrap="square" rtlCol="0">
            <a:spAutoFit/>
          </a:bodyPr>
          <a:lstStyle/>
          <a:p>
            <a:r>
              <a:rPr lang="en-US" dirty="0" smtClean="0">
                <a:solidFill>
                  <a:srgbClr val="000090"/>
                </a:solidFill>
              </a:rPr>
              <a:t>#APSE2014</a:t>
            </a:r>
            <a:endParaRPr lang="en-US" dirty="0">
              <a:solidFill>
                <a:srgbClr val="000090"/>
              </a:solidFill>
            </a:endParaRPr>
          </a:p>
        </p:txBody>
      </p:sp>
    </p:spTree>
    <p:extLst>
      <p:ext uri="{BB962C8B-B14F-4D97-AF65-F5344CB8AC3E}">
        <p14:creationId xmlns:p14="http://schemas.microsoft.com/office/powerpoint/2010/main" val="3945109765"/>
      </p:ext>
    </p:extLst>
  </p:cSld>
  <p:clrMapOvr>
    <a:masterClrMapping/>
  </p:clrMapOvr>
  <p:transition xmlns:p14="http://schemas.microsoft.com/office/powerpoint/2010/main" spd="slow">
    <p:wipe/>
  </p:transition>
  <p:timing>
    <p:tnLst>
      <p:par>
        <p:cTn xmlns:p14="http://schemas.microsoft.com/office/powerpoint/2010/mai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Solstice">
      <a:majorFont>
        <a:latin typeface="Gill Sans MT"/>
        <a:ea typeface=""/>
        <a:cs typeface=""/>
        <a:font script="Grek" typeface="Corbel"/>
        <a:font script="Cyrl" typeface="Corbel"/>
        <a:font script="Jpan" typeface="ＭＳ ゴシック"/>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ＭＳ ゴシック"/>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2147</TotalTime>
  <Words>393</Words>
  <Application>Microsoft Macintosh PowerPoint</Application>
  <PresentationFormat>On-screen Show (4:3)</PresentationFormat>
  <Paragraphs>118</Paragraphs>
  <Slides>38</Slides>
  <Notes>7</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Solstice</vt:lpstr>
      <vt:lpstr>Employment First: Time to Get Real </vt:lpstr>
      <vt:lpstr>Contact Information</vt:lpstr>
      <vt:lpstr>PowerPoint Presentation</vt:lpstr>
      <vt:lpstr>Employment First: What Is It?</vt:lpstr>
      <vt:lpstr>PowerPoint Presentation</vt:lpstr>
      <vt:lpstr>PowerPoint Presentation</vt:lpstr>
      <vt:lpstr>We have the technology.</vt:lpstr>
      <vt:lpstr>PowerPoint Presentation</vt:lpstr>
      <vt:lpstr>PowerPoint Presentation</vt:lpstr>
      <vt:lpstr>Employment First is a social justice and social change movement.</vt:lpstr>
      <vt:lpstr>PowerPoint Presentation</vt:lpstr>
      <vt:lpstr>PowerPoint Presentation</vt:lpstr>
      <vt:lpstr>It’s not just about changing individual lives.</vt:lpstr>
      <vt:lpstr>Typical employment in the general workforce</vt:lpstr>
      <vt:lpstr>PowerPoint Presentation</vt:lpstr>
      <vt:lpstr>“You only make it difficult, because you choose to make it difficult.”</vt:lpstr>
      <vt:lpstr>No more service system groupies.</vt:lpstr>
      <vt:lpstr>PowerPoint Presentation</vt:lpstr>
      <vt:lpstr>More Real Lives</vt:lpstr>
      <vt:lpstr>The “Choice” Issue</vt:lpstr>
      <vt:lpstr>“What drives me up the wall is the intentional teaching of fear of having any kind of meaningful life because ‘You will decompensate’ or ‘You are stress sensitive’. The most stressful thing in the world is being a couch potato with nothing to do, nowhere to go, and no one to talk to.”</vt:lpstr>
      <vt:lpstr>PowerPoint Presentation</vt:lpstr>
      <vt:lpstr>Real Reform</vt:lpstr>
      <vt:lpstr>Public Policy Advocacy</vt:lpstr>
      <vt:lpstr>Direct Support Professional Challenges</vt:lpstr>
      <vt:lpstr>PowerPoint Presentation</vt:lpstr>
      <vt:lpstr>Transition:  Opportunity &amp; Challenge</vt:lpstr>
      <vt:lpstr>Limits of Traditional Placement</vt:lpstr>
      <vt:lpstr>PowerPoint Presentation</vt:lpstr>
      <vt:lpstr>PowerPoint Presentation</vt:lpstr>
      <vt:lpstr>What’s your response?</vt:lpstr>
      <vt:lpstr>What’s your response?</vt:lpstr>
      <vt:lpstr>“Humanity has advanced, when it has advanced, not because it has been sober, responsible, and cautious, but because it has been playful, rebellious, and immature.” </vt:lpstr>
      <vt:lpstr>PowerPoint Presentation</vt:lpstr>
      <vt:lpstr>“For far too long the shabby treatment of the many millions of the mentally disabled in custodial institutions and many millions more now in communities needing help has been justified on grounds of inadequate funds, further studies and future promises. We can procrastinate no more.”</vt:lpstr>
      <vt:lpstr>“And if that doesn’t work,     what do you do next?      … and next?      … and next?”</vt:lpstr>
      <vt:lpstr>PowerPoint Presentation</vt:lpstr>
      <vt:lpstr>Thanks!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APSE Board Orientation</dc:title>
  <dc:creator>David  Hoff</dc:creator>
  <cp:lastModifiedBy>David Hoff</cp:lastModifiedBy>
  <cp:revision>232</cp:revision>
  <dcterms:created xsi:type="dcterms:W3CDTF">2012-06-25T01:24:00Z</dcterms:created>
  <dcterms:modified xsi:type="dcterms:W3CDTF">2015-10-20T15:40:53Z</dcterms:modified>
</cp:coreProperties>
</file>