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diagrams/data1.xml" ContentType="application/vnd.openxmlformats-officedocument.drawingml.diagramData+xml"/>
  <Override PartName="/ppt/presentation.xml" ContentType="application/vnd.openxmlformats-officedocument.presentationml.presentation.main+xml"/>
  <Override PartName="/ppt/slides/slide3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5.xml" ContentType="application/vnd.openxmlformats-officedocument.presentationml.slide+xml"/>
  <Override PartName="/ppt/slides/slide36.xml" ContentType="application/vnd.openxmlformats-officedocument.presentationml.slide+xml"/>
  <Override PartName="/ppt/slides/slide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5.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1.xml" ContentType="application/vnd.openxmlformats-officedocument.presentationml.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slideLayouts/slideLayout5.xml" ContentType="application/vnd.openxmlformats-officedocument.presentationml.slideLayou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slideLayouts/slideLayout4.xml" ContentType="application/vnd.openxmlformats-officedocument.presentationml.slideLayou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slideLayouts/slideLayout6.xml" ContentType="application/vnd.openxmlformats-officedocument.presentationml.slideLayou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29.xml" ContentType="application/vnd.openxmlformats-officedocument.presentationml.notesSlide+xml"/>
  <Override PartName="/ppt/notesSlides/notesSlide2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28.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notesSlides/notesSlide26.xml" ContentType="application/vnd.openxmlformats-officedocument.presentationml.notesSlide+xml"/>
  <Override PartName="/ppt/slideLayouts/slideLayout7.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charts/style2.xml" ContentType="application/vnd.ms-office.chartstyle+xml"/>
  <Override PartName="/ppt/charts/chart1.xml" ContentType="application/vnd.openxmlformats-officedocument.drawingml.chart+xml"/>
  <Override PartName="/ppt/diagrams/drawing1.xml" ContentType="application/vnd.ms-office.drawingml.diagramDrawing+xml"/>
  <Override PartName="/ppt/handoutMasters/handoutMaster1.xml" ContentType="application/vnd.openxmlformats-officedocument.presentationml.handoutMaster+xml"/>
  <Override PartName="/ppt/diagrams/colors1.xml" ContentType="application/vnd.openxmlformats-officedocument.drawingml.diagramColors+xml"/>
  <Override PartName="/ppt/diagrams/layout1.xml" ContentType="application/vnd.openxmlformats-officedocument.drawingml.diagramLayout+xml"/>
  <Override PartName="/ppt/charts/chart2.xml" ContentType="application/vnd.openxmlformats-officedocument.drawingml.chart+xml"/>
  <Override PartName="/ppt/diagrams/quickStyle1.xml" ContentType="application/vnd.openxmlformats-officedocument.drawingml.diagramStyle+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commentAuthors.xml" ContentType="application/vnd.openxmlformats-officedocument.presentationml.commentAuthors+xml"/>
  <Override PartName="/ppt/charts/colors2.xml" ContentType="application/vnd.ms-office.chartcolor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tags/tag1.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64" r:id="rId1"/>
  </p:sldMasterIdLst>
  <p:notesMasterIdLst>
    <p:notesMasterId r:id="rId48"/>
  </p:notesMasterIdLst>
  <p:handoutMasterIdLst>
    <p:handoutMasterId r:id="rId49"/>
  </p:handoutMasterIdLst>
  <p:sldIdLst>
    <p:sldId id="300" r:id="rId2"/>
    <p:sldId id="448" r:id="rId3"/>
    <p:sldId id="457" r:id="rId4"/>
    <p:sldId id="412" r:id="rId5"/>
    <p:sldId id="430" r:id="rId6"/>
    <p:sldId id="433" r:id="rId7"/>
    <p:sldId id="463" r:id="rId8"/>
    <p:sldId id="325" r:id="rId9"/>
    <p:sldId id="411" r:id="rId10"/>
    <p:sldId id="449" r:id="rId11"/>
    <p:sldId id="373" r:id="rId12"/>
    <p:sldId id="413" r:id="rId13"/>
    <p:sldId id="416" r:id="rId14"/>
    <p:sldId id="427" r:id="rId15"/>
    <p:sldId id="382" r:id="rId16"/>
    <p:sldId id="417" r:id="rId17"/>
    <p:sldId id="423" r:id="rId18"/>
    <p:sldId id="455" r:id="rId19"/>
    <p:sldId id="420" r:id="rId20"/>
    <p:sldId id="450" r:id="rId21"/>
    <p:sldId id="435" r:id="rId22"/>
    <p:sldId id="436" r:id="rId23"/>
    <p:sldId id="437" r:id="rId24"/>
    <p:sldId id="438" r:id="rId25"/>
    <p:sldId id="439" r:id="rId26"/>
    <p:sldId id="440" r:id="rId27"/>
    <p:sldId id="441" r:id="rId28"/>
    <p:sldId id="442" r:id="rId29"/>
    <p:sldId id="443" r:id="rId30"/>
    <p:sldId id="444" r:id="rId31"/>
    <p:sldId id="445" r:id="rId32"/>
    <p:sldId id="446" r:id="rId33"/>
    <p:sldId id="447" r:id="rId34"/>
    <p:sldId id="342" r:id="rId35"/>
    <p:sldId id="387" r:id="rId36"/>
    <p:sldId id="389" r:id="rId37"/>
    <p:sldId id="390" r:id="rId38"/>
    <p:sldId id="391" r:id="rId39"/>
    <p:sldId id="392" r:id="rId40"/>
    <p:sldId id="393" r:id="rId41"/>
    <p:sldId id="394" r:id="rId42"/>
    <p:sldId id="395" r:id="rId43"/>
    <p:sldId id="396" r:id="rId44"/>
    <p:sldId id="406" r:id="rId45"/>
    <p:sldId id="407" r:id="rId46"/>
    <p:sldId id="454" r:id="rId47"/>
  </p:sldIdLst>
  <p:sldSz cx="9144000" cy="6858000" type="screen4x3"/>
  <p:notesSz cx="7023100" cy="9309100"/>
  <p:custDataLst>
    <p:tags r:id="rId50"/>
  </p:custDataLst>
  <p:defaultTextStyle>
    <a:defPPr>
      <a:defRPr lang="en-US"/>
    </a:defPPr>
    <a:lvl1pPr algn="l" rtl="0" eaLnBrk="0" fontAlgn="base" hangingPunct="0">
      <a:spcBef>
        <a:spcPct val="50000"/>
      </a:spcBef>
      <a:spcAft>
        <a:spcPct val="0"/>
      </a:spcAft>
      <a:defRPr sz="1200" b="1" kern="1200">
        <a:solidFill>
          <a:schemeClr val="bg2"/>
        </a:solidFill>
        <a:latin typeface="Arial" charset="0"/>
        <a:ea typeface="+mn-ea"/>
        <a:cs typeface="+mn-cs"/>
      </a:defRPr>
    </a:lvl1pPr>
    <a:lvl2pPr marL="457200" algn="l" rtl="0" eaLnBrk="0" fontAlgn="base" hangingPunct="0">
      <a:spcBef>
        <a:spcPct val="50000"/>
      </a:spcBef>
      <a:spcAft>
        <a:spcPct val="0"/>
      </a:spcAft>
      <a:defRPr sz="1200" b="1" kern="1200">
        <a:solidFill>
          <a:schemeClr val="bg2"/>
        </a:solidFill>
        <a:latin typeface="Arial" charset="0"/>
        <a:ea typeface="+mn-ea"/>
        <a:cs typeface="+mn-cs"/>
      </a:defRPr>
    </a:lvl2pPr>
    <a:lvl3pPr marL="914400" algn="l" rtl="0" eaLnBrk="0" fontAlgn="base" hangingPunct="0">
      <a:spcBef>
        <a:spcPct val="50000"/>
      </a:spcBef>
      <a:spcAft>
        <a:spcPct val="0"/>
      </a:spcAft>
      <a:defRPr sz="1200" b="1" kern="1200">
        <a:solidFill>
          <a:schemeClr val="bg2"/>
        </a:solidFill>
        <a:latin typeface="Arial" charset="0"/>
        <a:ea typeface="+mn-ea"/>
        <a:cs typeface="+mn-cs"/>
      </a:defRPr>
    </a:lvl3pPr>
    <a:lvl4pPr marL="1371600" algn="l" rtl="0" eaLnBrk="0" fontAlgn="base" hangingPunct="0">
      <a:spcBef>
        <a:spcPct val="50000"/>
      </a:spcBef>
      <a:spcAft>
        <a:spcPct val="0"/>
      </a:spcAft>
      <a:defRPr sz="1200" b="1" kern="1200">
        <a:solidFill>
          <a:schemeClr val="bg2"/>
        </a:solidFill>
        <a:latin typeface="Arial" charset="0"/>
        <a:ea typeface="+mn-ea"/>
        <a:cs typeface="+mn-cs"/>
      </a:defRPr>
    </a:lvl4pPr>
    <a:lvl5pPr marL="1828800" algn="l" rtl="0" eaLnBrk="0" fontAlgn="base" hangingPunct="0">
      <a:spcBef>
        <a:spcPct val="50000"/>
      </a:spcBef>
      <a:spcAft>
        <a:spcPct val="0"/>
      </a:spcAft>
      <a:defRPr sz="1200" b="1" kern="1200">
        <a:solidFill>
          <a:schemeClr val="bg2"/>
        </a:solidFill>
        <a:latin typeface="Arial" charset="0"/>
        <a:ea typeface="+mn-ea"/>
        <a:cs typeface="+mn-cs"/>
      </a:defRPr>
    </a:lvl5pPr>
    <a:lvl6pPr marL="2286000" algn="l" defTabSz="914400" rtl="0" eaLnBrk="1" latinLnBrk="0" hangingPunct="1">
      <a:defRPr sz="1200" b="1" kern="1200">
        <a:solidFill>
          <a:schemeClr val="bg2"/>
        </a:solidFill>
        <a:latin typeface="Arial" charset="0"/>
        <a:ea typeface="+mn-ea"/>
        <a:cs typeface="+mn-cs"/>
      </a:defRPr>
    </a:lvl6pPr>
    <a:lvl7pPr marL="2743200" algn="l" defTabSz="914400" rtl="0" eaLnBrk="1" latinLnBrk="0" hangingPunct="1">
      <a:defRPr sz="1200" b="1" kern="1200">
        <a:solidFill>
          <a:schemeClr val="bg2"/>
        </a:solidFill>
        <a:latin typeface="Arial" charset="0"/>
        <a:ea typeface="+mn-ea"/>
        <a:cs typeface="+mn-cs"/>
      </a:defRPr>
    </a:lvl7pPr>
    <a:lvl8pPr marL="3200400" algn="l" defTabSz="914400" rtl="0" eaLnBrk="1" latinLnBrk="0" hangingPunct="1">
      <a:defRPr sz="1200" b="1" kern="1200">
        <a:solidFill>
          <a:schemeClr val="bg2"/>
        </a:solidFill>
        <a:latin typeface="Arial" charset="0"/>
        <a:ea typeface="+mn-ea"/>
        <a:cs typeface="+mn-cs"/>
      </a:defRPr>
    </a:lvl8pPr>
    <a:lvl9pPr marL="3657600" algn="l" defTabSz="914400" rtl="0" eaLnBrk="1" latinLnBrk="0" hangingPunct="1">
      <a:defRPr sz="1200" b="1" kern="1200">
        <a:solidFill>
          <a:schemeClr val="bg2"/>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1" userDrawn="1">
          <p15:clr>
            <a:srgbClr val="A4A3A4"/>
          </p15:clr>
        </p15:guide>
        <p15:guide id="2" pos="221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ffie Metropoulos" initials="EM" lastIdx="80" clrIdx="0">
    <p:extLst>
      <p:ext uri="{19B8F6BF-5375-455C-9EA6-DF929625EA0E}">
        <p15:presenceInfo xmlns:p15="http://schemas.microsoft.com/office/powerpoint/2012/main" userId="S-1-5-21-484763869-796845957-839522115-22265" providerId="AD"/>
      </p:ext>
    </p:extLst>
  </p:cmAuthor>
  <p:cmAuthor id="2" name="Frank Martin" initials="FM" lastIdx="51" clrIdx="1">
    <p:extLst>
      <p:ext uri="{19B8F6BF-5375-455C-9EA6-DF929625EA0E}">
        <p15:presenceInfo xmlns:p15="http://schemas.microsoft.com/office/powerpoint/2012/main" userId="S-1-5-21-484763869-796845957-839522115-15002" providerId="AD"/>
      </p:ext>
    </p:extLst>
  </p:cmAuthor>
  <p:cmAuthor id="3" name="Allison B Taylor" initials="ABT" lastIdx="1" clrIdx="2">
    <p:extLst>
      <p:ext uri="{19B8F6BF-5375-455C-9EA6-DF929625EA0E}">
        <p15:presenceInfo xmlns:p15="http://schemas.microsoft.com/office/powerpoint/2012/main" userId="S-1-5-21-1990142038-1674059633-623647154-146975" providerId="AD"/>
      </p:ext>
    </p:extLst>
  </p:cmAuthor>
  <p:cmAuthor id="4" name="Purvi Sevak" initials="PS" lastIdx="13" clrIdx="3">
    <p:extLst>
      <p:ext uri="{19B8F6BF-5375-455C-9EA6-DF929625EA0E}">
        <p15:presenceInfo xmlns:p15="http://schemas.microsoft.com/office/powerpoint/2012/main" userId="S-1-5-21-484763869-796845957-839522115-17354" providerId="AD"/>
      </p:ext>
    </p:extLst>
  </p:cmAuthor>
  <p:cmAuthor id="5" name="John Kennedy" initials="JK" lastIdx="9" clrIdx="4">
    <p:extLst>
      <p:ext uri="{19B8F6BF-5375-455C-9EA6-DF929625EA0E}">
        <p15:presenceInfo xmlns:p15="http://schemas.microsoft.com/office/powerpoint/2012/main" userId="S-1-5-21-484763869-796845957-839522115-168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000000"/>
    <a:srgbClr val="FFCC00"/>
    <a:srgbClr val="F80E62"/>
    <a:srgbClr val="FFFF81"/>
    <a:srgbClr val="00FF00"/>
    <a:srgbClr val="FF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autoAdjust="0"/>
    <p:restoredTop sz="69928" autoAdjust="0"/>
  </p:normalViewPr>
  <p:slideViewPr>
    <p:cSldViewPr snapToGrid="0">
      <p:cViewPr varScale="1">
        <p:scale>
          <a:sx n="46" d="100"/>
          <a:sy n="46" d="100"/>
        </p:scale>
        <p:origin x="1224" y="40"/>
      </p:cViewPr>
      <p:guideLst>
        <p:guide orient="horz" pos="2160"/>
        <p:guide pos="2880"/>
      </p:guideLst>
    </p:cSldViewPr>
  </p:slideViewPr>
  <p:outlineViewPr>
    <p:cViewPr>
      <p:scale>
        <a:sx n="33" d="100"/>
        <a:sy n="33" d="100"/>
      </p:scale>
      <p:origin x="42" y="0"/>
    </p:cViewPr>
  </p:outlineViewPr>
  <p:notesTextViewPr>
    <p:cViewPr>
      <p:scale>
        <a:sx n="3" d="2"/>
        <a:sy n="3" d="2"/>
      </p:scale>
      <p:origin x="0" y="0"/>
    </p:cViewPr>
  </p:notesTextViewPr>
  <p:sorterViewPr>
    <p:cViewPr>
      <p:scale>
        <a:sx n="160" d="100"/>
        <a:sy n="160" d="100"/>
      </p:scale>
      <p:origin x="0" y="-14236"/>
    </p:cViewPr>
  </p:sorterViewPr>
  <p:notesViewPr>
    <p:cSldViewPr snapToGrid="0">
      <p:cViewPr>
        <p:scale>
          <a:sx n="100" d="100"/>
          <a:sy n="100" d="100"/>
        </p:scale>
        <p:origin x="-750" y="948"/>
      </p:cViewPr>
      <p:guideLst>
        <p:guide orient="horz" pos="2931"/>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Enhanced service office applicants</c:v>
                </c:pt>
              </c:strCache>
            </c:strRef>
          </c:tx>
          <c:spPr>
            <a:solidFill>
              <a:srgbClr val="E70033"/>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Eligibility determination within 2 days of application</c:v>
                </c:pt>
                <c:pt idx="1">
                  <c:v>Signed IPE within 30 days (of those with an IPE)</c:v>
                </c:pt>
                <c:pt idx="2">
                  <c:v>Benefits summary and analysis</c:v>
                </c:pt>
                <c:pt idx="3">
                  <c:v>Initial teaming meeting</c:v>
                </c:pt>
              </c:strCache>
            </c:strRef>
          </c:cat>
          <c:val>
            <c:numRef>
              <c:f>Sheet1!$B$2:$B$5</c:f>
              <c:numCache>
                <c:formatCode>General</c:formatCode>
                <c:ptCount val="4"/>
                <c:pt idx="0">
                  <c:v>40</c:v>
                </c:pt>
                <c:pt idx="1">
                  <c:v>39</c:v>
                </c:pt>
                <c:pt idx="2">
                  <c:v>47</c:v>
                </c:pt>
                <c:pt idx="3">
                  <c:v>56</c:v>
                </c:pt>
              </c:numCache>
            </c:numRef>
          </c:val>
        </c:ser>
        <c:dLbls>
          <c:showLegendKey val="0"/>
          <c:showVal val="0"/>
          <c:showCatName val="0"/>
          <c:showSerName val="0"/>
          <c:showPercent val="0"/>
          <c:showBubbleSize val="0"/>
        </c:dLbls>
        <c:gapWidth val="182"/>
        <c:axId val="227191088"/>
        <c:axId val="226561592"/>
      </c:barChart>
      <c:catAx>
        <c:axId val="227191088"/>
        <c:scaling>
          <c:orientation val="maxMin"/>
        </c:scaling>
        <c:delete val="0"/>
        <c:axPos val="l"/>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26561592"/>
        <c:crosses val="autoZero"/>
        <c:auto val="1"/>
        <c:lblAlgn val="ctr"/>
        <c:lblOffset val="100"/>
        <c:noMultiLvlLbl val="0"/>
      </c:catAx>
      <c:valAx>
        <c:axId val="226561592"/>
        <c:scaling>
          <c:orientation val="minMax"/>
          <c:max val="100"/>
        </c:scaling>
        <c:delete val="0"/>
        <c:axPos val="t"/>
        <c:majorGridlines>
          <c:spPr>
            <a:ln w="9525" cap="flat" cmpd="sng" algn="ctr">
              <a:solidFill>
                <a:schemeClr val="tx1"/>
              </a:solidFill>
              <a:round/>
            </a:ln>
            <a:effectLst/>
          </c:spPr>
        </c:majorGridlines>
        <c:title>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en-US"/>
                  <a:t>Percentage</a:t>
                </a:r>
              </a:p>
            </c:rich>
          </c:tx>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271910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sz="18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Enhanced service office applicants</c:v>
                </c:pt>
              </c:strCache>
            </c:strRef>
          </c:tx>
          <c:spPr>
            <a:solidFill>
              <a:srgbClr val="E70033"/>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Eligibility determination within 2 days of application</c:v>
                </c:pt>
                <c:pt idx="1">
                  <c:v>Signed IPE within 30 days (of those with an IPE)</c:v>
                </c:pt>
                <c:pt idx="2">
                  <c:v>Financial plan</c:v>
                </c:pt>
                <c:pt idx="3">
                  <c:v>Initial teaming meeting</c:v>
                </c:pt>
              </c:strCache>
            </c:strRef>
          </c:cat>
          <c:val>
            <c:numRef>
              <c:f>Sheet1!$B$2:$B$5</c:f>
              <c:numCache>
                <c:formatCode>General</c:formatCode>
                <c:ptCount val="4"/>
                <c:pt idx="0">
                  <c:v>37</c:v>
                </c:pt>
                <c:pt idx="1">
                  <c:v>44</c:v>
                </c:pt>
                <c:pt idx="2">
                  <c:v>48</c:v>
                </c:pt>
                <c:pt idx="3">
                  <c:v>53</c:v>
                </c:pt>
              </c:numCache>
            </c:numRef>
          </c:val>
        </c:ser>
        <c:dLbls>
          <c:showLegendKey val="0"/>
          <c:showVal val="0"/>
          <c:showCatName val="0"/>
          <c:showSerName val="0"/>
          <c:showPercent val="0"/>
          <c:showBubbleSize val="0"/>
        </c:dLbls>
        <c:gapWidth val="182"/>
        <c:axId val="228153968"/>
        <c:axId val="228153184"/>
      </c:barChart>
      <c:catAx>
        <c:axId val="228153968"/>
        <c:scaling>
          <c:orientation val="maxMin"/>
        </c:scaling>
        <c:delete val="0"/>
        <c:axPos val="l"/>
        <c:numFmt formatCode="General" sourceLinked="1"/>
        <c:majorTickMark val="none"/>
        <c:minorTickMark val="none"/>
        <c:tickLblPos val="nextTo"/>
        <c:spPr>
          <a:noFill/>
          <a:ln w="9525" cap="flat" cmpd="sng" algn="ctr">
            <a:solidFill>
              <a:srgbClr val="000000"/>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28153184"/>
        <c:crosses val="autoZero"/>
        <c:auto val="1"/>
        <c:lblAlgn val="ctr"/>
        <c:lblOffset val="100"/>
        <c:noMultiLvlLbl val="0"/>
      </c:catAx>
      <c:valAx>
        <c:axId val="228153184"/>
        <c:scaling>
          <c:orientation val="minMax"/>
          <c:max val="100"/>
        </c:scaling>
        <c:delete val="0"/>
        <c:axPos val="t"/>
        <c:majorGridlines>
          <c:spPr>
            <a:ln w="9525" cap="flat" cmpd="sng" algn="ctr">
              <a:solidFill>
                <a:schemeClr val="tx1"/>
              </a:solidFill>
              <a:round/>
            </a:ln>
            <a:effectLst/>
          </c:spPr>
        </c:majorGridlines>
        <c:title>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en-US"/>
                  <a:t>Percentage</a:t>
                </a:r>
              </a:p>
            </c:rich>
          </c:tx>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crossAx val="22815396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sz="18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043861-92DD-4FFC-A549-5795B1E4D997}" type="doc">
      <dgm:prSet loTypeId="urn:microsoft.com/office/officeart/2011/layout/HexagonRadial" loCatId="officeonline" qsTypeId="urn:microsoft.com/office/officeart/2005/8/quickstyle/simple5" qsCatId="simple" csTypeId="urn:microsoft.com/office/officeart/2005/8/colors/accent0_3" csCatId="mainScheme" phldr="1"/>
      <dgm:spPr/>
      <dgm:t>
        <a:bodyPr/>
        <a:lstStyle/>
        <a:p>
          <a:endParaRPr lang="en-US"/>
        </a:p>
      </dgm:t>
    </dgm:pt>
    <dgm:pt modelId="{CB6CF56C-6B9D-4545-B34D-B326C4F22892}">
      <dgm:prSet phldrT="[Text]" custT="1"/>
      <dgm:spPr>
        <a:xfrm>
          <a:off x="4399598" y="2112471"/>
          <a:ext cx="2685043" cy="2322671"/>
        </a:xfrm>
        <a:gradFill rotWithShape="0">
          <a:gsLst>
            <a:gs pos="0">
              <a:srgbClr val="335B74">
                <a:hueOff val="0"/>
                <a:satOff val="0"/>
                <a:lumOff val="0"/>
                <a:alphaOff val="0"/>
                <a:tint val="100000"/>
                <a:shade val="85000"/>
                <a:satMod val="100000"/>
                <a:lumMod val="100000"/>
              </a:srgbClr>
            </a:gs>
            <a:gs pos="100000">
              <a:srgbClr val="335B74">
                <a:hueOff val="0"/>
                <a:satOff val="0"/>
                <a:lumOff val="0"/>
                <a:alphaOff val="0"/>
                <a:tint val="90000"/>
                <a:shade val="100000"/>
                <a:satMod val="150000"/>
                <a:lumMod val="100000"/>
              </a:srgbClr>
            </a:gs>
          </a:gsLst>
          <a:path path="circle">
            <a:fillToRect l="100000" t="100000" r="100000" b="100000"/>
          </a:path>
        </a:grad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gm:spPr>
      <dgm:t>
        <a:bodyPr/>
        <a:lstStyle/>
        <a:p>
          <a:pPr>
            <a:lnSpc>
              <a:spcPct val="100000"/>
            </a:lnSpc>
            <a:spcBef>
              <a:spcPts val="0"/>
            </a:spcBef>
            <a:spcAft>
              <a:spcPts val="0"/>
            </a:spcAft>
          </a:pPr>
          <a:r>
            <a:rPr lang="en-US" sz="1800" dirty="0" smtClean="0">
              <a:solidFill>
                <a:sysClr val="window" lastClr="FFFFFF"/>
              </a:solidFill>
              <a:latin typeface="Tw Cen MT Condensed" panose="020B0606020104020203"/>
              <a:ea typeface="+mn-ea"/>
              <a:cs typeface="+mn-cs"/>
            </a:rPr>
            <a:t>DECISIONS ABOUT WORKING</a:t>
          </a:r>
          <a:endParaRPr lang="en-US" sz="1800" dirty="0">
            <a:solidFill>
              <a:sysClr val="window" lastClr="FFFFFF"/>
            </a:solidFill>
            <a:latin typeface="Tw Cen MT Condensed" panose="020B0606020104020203"/>
            <a:ea typeface="+mn-ea"/>
            <a:cs typeface="+mn-cs"/>
          </a:endParaRPr>
        </a:p>
      </dgm:t>
    </dgm:pt>
    <dgm:pt modelId="{E4766E37-E767-4184-88A2-EA9666D5877B}" type="parTrans" cxnId="{2F0504FD-577C-4730-92B4-EF2226C2A736}">
      <dgm:prSet/>
      <dgm:spPr/>
      <dgm:t>
        <a:bodyPr/>
        <a:lstStyle/>
        <a:p>
          <a:pPr>
            <a:lnSpc>
              <a:spcPct val="100000"/>
            </a:lnSpc>
            <a:spcBef>
              <a:spcPts val="0"/>
            </a:spcBef>
            <a:spcAft>
              <a:spcPts val="0"/>
            </a:spcAft>
          </a:pPr>
          <a:endParaRPr lang="en-US"/>
        </a:p>
      </dgm:t>
    </dgm:pt>
    <dgm:pt modelId="{71FB6249-64EF-4355-BD03-4B75FFF571C3}" type="sibTrans" cxnId="{2F0504FD-577C-4730-92B4-EF2226C2A736}">
      <dgm:prSet/>
      <dgm:spPr/>
      <dgm:t>
        <a:bodyPr/>
        <a:lstStyle/>
        <a:p>
          <a:pPr>
            <a:lnSpc>
              <a:spcPct val="100000"/>
            </a:lnSpc>
            <a:spcBef>
              <a:spcPts val="0"/>
            </a:spcBef>
            <a:spcAft>
              <a:spcPts val="0"/>
            </a:spcAft>
          </a:pPr>
          <a:endParaRPr lang="en-US"/>
        </a:p>
      </dgm:t>
    </dgm:pt>
    <dgm:pt modelId="{18506E9B-6453-4396-824E-C10BE2997250}">
      <dgm:prSet phldrT="[Text]"/>
      <dgm:spPr>
        <a:xfrm>
          <a:off x="2557665" y="1116274"/>
          <a:ext cx="2200373" cy="1903581"/>
        </a:xfrm>
        <a:blipFill rotWithShape="0">
          <a:blip xmlns:r="http://schemas.openxmlformats.org/officeDocument/2006/relationships" r:embed="rId1"/>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gm:spPr>
      <dgm:t>
        <a:bodyPr/>
        <a:lstStyle/>
        <a:p>
          <a:endParaRPr lang="en-US" dirty="0">
            <a:solidFill>
              <a:sysClr val="window" lastClr="FFFFFF"/>
            </a:solidFill>
            <a:latin typeface="Tw Cen MT" panose="020B0602020104020603"/>
            <a:ea typeface="+mn-ea"/>
            <a:cs typeface="+mn-cs"/>
          </a:endParaRPr>
        </a:p>
      </dgm:t>
      <dgm:extLst>
        <a:ext uri="{E40237B7-FDA0-4F09-8148-C483321AD2D9}">
          <dgm14:cNvPr xmlns:dgm14="http://schemas.microsoft.com/office/drawing/2010/diagram" id="0" name="" descr="Clipart of two parents and two children, all holding hands" title="Family"/>
        </a:ext>
      </dgm:extLst>
    </dgm:pt>
    <dgm:pt modelId="{0C803F2C-25D1-48E6-B39A-F2FA0050F01F}" type="parTrans" cxnId="{B546D686-F25F-43CA-9C1D-481EE3A816E7}">
      <dgm:prSet/>
      <dgm:spPr/>
      <dgm:t>
        <a:bodyPr/>
        <a:lstStyle/>
        <a:p>
          <a:pPr>
            <a:lnSpc>
              <a:spcPct val="100000"/>
            </a:lnSpc>
            <a:spcBef>
              <a:spcPts val="0"/>
            </a:spcBef>
            <a:spcAft>
              <a:spcPts val="0"/>
            </a:spcAft>
          </a:pPr>
          <a:endParaRPr lang="en-US"/>
        </a:p>
      </dgm:t>
    </dgm:pt>
    <dgm:pt modelId="{72B4DEA2-7A8D-45CA-98B6-5ECE64B3B0D6}" type="sibTrans" cxnId="{B546D686-F25F-43CA-9C1D-481EE3A816E7}">
      <dgm:prSet/>
      <dgm:spPr/>
      <dgm:t>
        <a:bodyPr/>
        <a:lstStyle/>
        <a:p>
          <a:pPr>
            <a:lnSpc>
              <a:spcPct val="100000"/>
            </a:lnSpc>
            <a:spcBef>
              <a:spcPts val="0"/>
            </a:spcBef>
            <a:spcAft>
              <a:spcPts val="0"/>
            </a:spcAft>
          </a:pPr>
          <a:endParaRPr lang="en-US"/>
        </a:p>
      </dgm:t>
    </dgm:pt>
    <dgm:pt modelId="{909B0794-41D5-49E9-A02D-AE4C522C0BB9}">
      <dgm:prSet phldrT="[Text]"/>
      <dgm:spPr>
        <a:xfrm>
          <a:off x="4646929" y="4644687"/>
          <a:ext cx="2200373" cy="1903581"/>
        </a:xfrm>
        <a:blipFill rotWithShape="0">
          <a:blip xmlns:r="http://schemas.openxmlformats.org/officeDocument/2006/relationships" r:embed="rId2"/>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gm:spPr>
      <dgm:t>
        <a:bodyPr/>
        <a:lstStyle/>
        <a:p>
          <a:pPr>
            <a:lnSpc>
              <a:spcPct val="100000"/>
            </a:lnSpc>
            <a:spcBef>
              <a:spcPts val="0"/>
            </a:spcBef>
            <a:spcAft>
              <a:spcPts val="0"/>
            </a:spcAft>
          </a:pPr>
          <a:endParaRPr lang="en-US" dirty="0">
            <a:solidFill>
              <a:sysClr val="window" lastClr="FFFFFF"/>
            </a:solidFill>
            <a:latin typeface="Tw Cen MT" panose="020B0602020104020603"/>
            <a:ea typeface="+mn-ea"/>
            <a:cs typeface="+mn-cs"/>
          </a:endParaRPr>
        </a:p>
      </dgm:t>
      <dgm:extLst>
        <a:ext uri="{E40237B7-FDA0-4F09-8148-C483321AD2D9}">
          <dgm14:cNvPr xmlns:dgm14="http://schemas.microsoft.com/office/drawing/2010/diagram" id="0" name="" descr="Person wearing a tie, sitting cross-legged, arms open, with symbols floating around his head: heart, %, clock, file folder, $, clipart family" title="Meaning of Work"/>
        </a:ext>
      </dgm:extLst>
    </dgm:pt>
    <dgm:pt modelId="{2BB6DF23-0F8B-4704-A184-B367C2BDBC9C}" type="parTrans" cxnId="{79A5DD96-00D1-4EE7-A1ED-53C803A4F95B}">
      <dgm:prSet/>
      <dgm:spPr/>
      <dgm:t>
        <a:bodyPr/>
        <a:lstStyle/>
        <a:p>
          <a:pPr>
            <a:lnSpc>
              <a:spcPct val="100000"/>
            </a:lnSpc>
            <a:spcBef>
              <a:spcPts val="0"/>
            </a:spcBef>
            <a:spcAft>
              <a:spcPts val="0"/>
            </a:spcAft>
          </a:pPr>
          <a:endParaRPr lang="en-US"/>
        </a:p>
      </dgm:t>
    </dgm:pt>
    <dgm:pt modelId="{0BD6C62C-1EAC-49AC-9F70-163BAFA63B5D}" type="sibTrans" cxnId="{79A5DD96-00D1-4EE7-A1ED-53C803A4F95B}">
      <dgm:prSet/>
      <dgm:spPr/>
      <dgm:t>
        <a:bodyPr/>
        <a:lstStyle/>
        <a:p>
          <a:pPr>
            <a:lnSpc>
              <a:spcPct val="100000"/>
            </a:lnSpc>
            <a:spcBef>
              <a:spcPts val="0"/>
            </a:spcBef>
            <a:spcAft>
              <a:spcPts val="0"/>
            </a:spcAft>
          </a:pPr>
          <a:endParaRPr lang="en-US"/>
        </a:p>
      </dgm:t>
    </dgm:pt>
    <dgm:pt modelId="{69DD3C5A-1A32-4B94-BBAD-3F362EAE3676}">
      <dgm:prSet phldrT="[Text]"/>
      <dgm:spPr>
        <a:xfrm>
          <a:off x="2619562" y="3473856"/>
          <a:ext cx="2200373" cy="1903581"/>
        </a:xfrm>
        <a:blipFill rotWithShape="0">
          <a:blip xmlns:r="http://schemas.openxmlformats.org/officeDocument/2006/relationships" r:embed="rId3"/>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gm:spPr>
      <dgm:t>
        <a:bodyPr/>
        <a:lstStyle/>
        <a:p>
          <a:pPr>
            <a:lnSpc>
              <a:spcPct val="100000"/>
            </a:lnSpc>
            <a:spcBef>
              <a:spcPts val="0"/>
            </a:spcBef>
            <a:spcAft>
              <a:spcPts val="0"/>
            </a:spcAft>
          </a:pPr>
          <a:endParaRPr lang="en-US" dirty="0">
            <a:solidFill>
              <a:sysClr val="window" lastClr="FFFFFF"/>
            </a:solidFill>
            <a:latin typeface="Tw Cen MT" panose="020B0602020104020603"/>
            <a:ea typeface="+mn-ea"/>
            <a:cs typeface="+mn-cs"/>
          </a:endParaRPr>
        </a:p>
      </dgm:t>
      <dgm:extLst>
        <a:ext uri="{E40237B7-FDA0-4F09-8148-C483321AD2D9}">
          <dgm14:cNvPr xmlns:dgm14="http://schemas.microsoft.com/office/drawing/2010/diagram" id="0" name="" descr="Three people against skyline - adult using wheelchair, adult running, child on bike." title="Activity/Social"/>
        </a:ext>
      </dgm:extLst>
    </dgm:pt>
    <dgm:pt modelId="{83F9FA1A-D927-42C8-B1DE-5D70DFFC3E07}" type="parTrans" cxnId="{8BBDDEFB-4096-4D22-B64B-350059A19B15}">
      <dgm:prSet/>
      <dgm:spPr/>
      <dgm:t>
        <a:bodyPr/>
        <a:lstStyle/>
        <a:p>
          <a:pPr>
            <a:lnSpc>
              <a:spcPct val="100000"/>
            </a:lnSpc>
            <a:spcBef>
              <a:spcPts val="0"/>
            </a:spcBef>
            <a:spcAft>
              <a:spcPts val="0"/>
            </a:spcAft>
          </a:pPr>
          <a:endParaRPr lang="en-US"/>
        </a:p>
      </dgm:t>
    </dgm:pt>
    <dgm:pt modelId="{AFBE1310-E20D-41B8-8B87-5ABBF6C4E3C9}" type="sibTrans" cxnId="{8BBDDEFB-4096-4D22-B64B-350059A19B15}">
      <dgm:prSet/>
      <dgm:spPr/>
      <dgm:t>
        <a:bodyPr/>
        <a:lstStyle/>
        <a:p>
          <a:pPr>
            <a:lnSpc>
              <a:spcPct val="100000"/>
            </a:lnSpc>
            <a:spcBef>
              <a:spcPts val="0"/>
            </a:spcBef>
            <a:spcAft>
              <a:spcPts val="0"/>
            </a:spcAft>
          </a:pPr>
          <a:endParaRPr lang="en-US"/>
        </a:p>
      </dgm:t>
    </dgm:pt>
    <dgm:pt modelId="{F976D4F5-653D-4F03-B75D-C5EA1B57BC5E}">
      <dgm:prSet phldrT="[Text]"/>
      <dgm:spPr>
        <a:xfrm>
          <a:off x="6632362" y="1180317"/>
          <a:ext cx="2200373" cy="1903581"/>
        </a:xfrm>
        <a:blipFill rotWithShape="0">
          <a:blip xmlns:r="http://schemas.openxmlformats.org/officeDocument/2006/relationships" r:embed="rId4"/>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gm:spPr>
      <dgm:t>
        <a:bodyPr/>
        <a:lstStyle/>
        <a:p>
          <a:endParaRPr lang="en-US" dirty="0">
            <a:solidFill>
              <a:sysClr val="window" lastClr="FFFFFF"/>
            </a:solidFill>
            <a:latin typeface="Tw Cen MT" panose="020B0602020104020603"/>
            <a:ea typeface="+mn-ea"/>
            <a:cs typeface="+mn-cs"/>
          </a:endParaRPr>
        </a:p>
      </dgm:t>
      <dgm:extLst>
        <a:ext uri="{E40237B7-FDA0-4F09-8148-C483321AD2D9}">
          <dgm14:cNvPr xmlns:dgm14="http://schemas.microsoft.com/office/drawing/2010/diagram" id="0" name="" descr="clipart: wheelchair user, brain, heart, &quot;not every disability is visible&quot; person with wheelchair-shaped shadow" title="Disabilities"/>
        </a:ext>
      </dgm:extLst>
    </dgm:pt>
    <dgm:pt modelId="{BB5753D1-B2FA-459A-9255-B567DC2CBD36}" type="sibTrans" cxnId="{3ED344CA-0F05-4356-BBD8-3B8F9FC1D313}">
      <dgm:prSet/>
      <dgm:spPr/>
      <dgm:t>
        <a:bodyPr/>
        <a:lstStyle/>
        <a:p>
          <a:pPr>
            <a:lnSpc>
              <a:spcPct val="100000"/>
            </a:lnSpc>
            <a:spcBef>
              <a:spcPts val="0"/>
            </a:spcBef>
            <a:spcAft>
              <a:spcPts val="0"/>
            </a:spcAft>
          </a:pPr>
          <a:endParaRPr lang="en-US"/>
        </a:p>
      </dgm:t>
    </dgm:pt>
    <dgm:pt modelId="{5CB6B981-0491-4729-AB51-05925DFDCE5A}" type="parTrans" cxnId="{3ED344CA-0F05-4356-BBD8-3B8F9FC1D313}">
      <dgm:prSet/>
      <dgm:spPr/>
      <dgm:t>
        <a:bodyPr/>
        <a:lstStyle/>
        <a:p>
          <a:pPr>
            <a:lnSpc>
              <a:spcPct val="100000"/>
            </a:lnSpc>
            <a:spcBef>
              <a:spcPts val="0"/>
            </a:spcBef>
            <a:spcAft>
              <a:spcPts val="0"/>
            </a:spcAft>
          </a:pPr>
          <a:endParaRPr lang="en-US"/>
        </a:p>
      </dgm:t>
    </dgm:pt>
    <dgm:pt modelId="{2F5F6059-71F8-43AC-8562-632A723A9968}">
      <dgm:prSet phldrT="[Text]"/>
      <dgm:spPr>
        <a:xfrm>
          <a:off x="4646929" y="0"/>
          <a:ext cx="2200373" cy="1903581"/>
        </a:xfrm>
        <a:blipFill rotWithShape="0">
          <a:blip xmlns:r="http://schemas.openxmlformats.org/officeDocument/2006/relationships" r:embed="rId5"/>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gm:spPr>
      <dgm:t>
        <a:bodyPr/>
        <a:lstStyle/>
        <a:p>
          <a:endParaRPr lang="en-US" dirty="0" smtClean="0">
            <a:solidFill>
              <a:sysClr val="window" lastClr="FFFFFF"/>
            </a:solidFill>
            <a:latin typeface="Tw Cen MT" panose="020B0602020104020603"/>
            <a:ea typeface="+mn-ea"/>
            <a:cs typeface="+mn-cs"/>
          </a:endParaRPr>
        </a:p>
      </dgm:t>
      <dgm:extLst>
        <a:ext uri="{E40237B7-FDA0-4F09-8148-C483321AD2D9}">
          <dgm14:cNvPr xmlns:dgm14="http://schemas.microsoft.com/office/drawing/2010/diagram" id="0" name="" descr="Clipart of dollar sign and health insurance cards" title="SSDI &amp; Other Benefits"/>
        </a:ext>
      </dgm:extLst>
    </dgm:pt>
    <dgm:pt modelId="{F6973E01-4BD7-4260-B321-79BAD7C10E4B}" type="sibTrans" cxnId="{19395E89-32EE-42FB-90FB-59F442CC601C}">
      <dgm:prSet/>
      <dgm:spPr/>
      <dgm:t>
        <a:bodyPr/>
        <a:lstStyle/>
        <a:p>
          <a:pPr>
            <a:lnSpc>
              <a:spcPct val="100000"/>
            </a:lnSpc>
            <a:spcBef>
              <a:spcPts val="0"/>
            </a:spcBef>
            <a:spcAft>
              <a:spcPts val="0"/>
            </a:spcAft>
          </a:pPr>
          <a:endParaRPr lang="en-US"/>
        </a:p>
      </dgm:t>
    </dgm:pt>
    <dgm:pt modelId="{91E8F8F4-B2F1-4775-8B5A-E6156149B8E4}" type="parTrans" cxnId="{19395E89-32EE-42FB-90FB-59F442CC601C}">
      <dgm:prSet/>
      <dgm:spPr/>
      <dgm:t>
        <a:bodyPr/>
        <a:lstStyle/>
        <a:p>
          <a:pPr>
            <a:lnSpc>
              <a:spcPct val="100000"/>
            </a:lnSpc>
            <a:spcBef>
              <a:spcPts val="0"/>
            </a:spcBef>
            <a:spcAft>
              <a:spcPts val="0"/>
            </a:spcAft>
          </a:pPr>
          <a:endParaRPr lang="en-US"/>
        </a:p>
      </dgm:t>
    </dgm:pt>
    <dgm:pt modelId="{87DDCB59-FBA7-4B32-AFEE-DB71DE244B0E}">
      <dgm:prSet phldrT="[Text]"/>
      <dgm:spPr>
        <a:xfrm>
          <a:off x="6654915" y="3584096"/>
          <a:ext cx="2200373" cy="1903581"/>
        </a:xfrm>
        <a:blipFill rotWithShape="0">
          <a:blip xmlns:r="http://schemas.openxmlformats.org/officeDocument/2006/relationships" r:embed="rId6"/>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gm:spPr>
      <dgm:t>
        <a:bodyPr/>
        <a:lstStyle/>
        <a:p>
          <a:pPr>
            <a:lnSpc>
              <a:spcPct val="100000"/>
            </a:lnSpc>
            <a:spcBef>
              <a:spcPts val="0"/>
            </a:spcBef>
            <a:spcAft>
              <a:spcPts val="0"/>
            </a:spcAft>
          </a:pPr>
          <a:endParaRPr lang="en-US" dirty="0">
            <a:solidFill>
              <a:sysClr val="window" lastClr="FFFFFF"/>
            </a:solidFill>
            <a:latin typeface="Tw Cen MT" panose="020B0602020104020603"/>
            <a:ea typeface="+mn-ea"/>
            <a:cs typeface="+mn-cs"/>
          </a:endParaRPr>
        </a:p>
      </dgm:t>
      <dgm:extLst>
        <a:ext uri="{E40237B7-FDA0-4F09-8148-C483321AD2D9}">
          <dgm14:cNvPr xmlns:dgm14="http://schemas.microsoft.com/office/drawing/2010/diagram" id="0" name="" descr="clipart of bicycle, bus, car, person walking" title="Transportation"/>
        </a:ext>
      </dgm:extLst>
    </dgm:pt>
    <dgm:pt modelId="{63118870-F110-4811-99CF-30AD35BF8D14}" type="sibTrans" cxnId="{2CF79FDC-3D4C-4603-8D94-278B8143ADA8}">
      <dgm:prSet/>
      <dgm:spPr/>
      <dgm:t>
        <a:bodyPr/>
        <a:lstStyle/>
        <a:p>
          <a:pPr>
            <a:lnSpc>
              <a:spcPct val="100000"/>
            </a:lnSpc>
            <a:spcBef>
              <a:spcPts val="0"/>
            </a:spcBef>
            <a:spcAft>
              <a:spcPts val="0"/>
            </a:spcAft>
          </a:pPr>
          <a:endParaRPr lang="en-US"/>
        </a:p>
      </dgm:t>
    </dgm:pt>
    <dgm:pt modelId="{BC4EDA11-41B5-4A88-A1FD-629DD7F8A2F8}" type="parTrans" cxnId="{2CF79FDC-3D4C-4603-8D94-278B8143ADA8}">
      <dgm:prSet/>
      <dgm:spPr/>
      <dgm:t>
        <a:bodyPr/>
        <a:lstStyle/>
        <a:p>
          <a:pPr>
            <a:lnSpc>
              <a:spcPct val="100000"/>
            </a:lnSpc>
            <a:spcBef>
              <a:spcPts val="0"/>
            </a:spcBef>
            <a:spcAft>
              <a:spcPts val="0"/>
            </a:spcAft>
          </a:pPr>
          <a:endParaRPr lang="en-US"/>
        </a:p>
      </dgm:t>
    </dgm:pt>
    <dgm:pt modelId="{D53B8C31-E722-4C8F-8BA0-D3E25646EA82}" type="pres">
      <dgm:prSet presAssocID="{3D043861-92DD-4FFC-A549-5795B1E4D997}" presName="Name0" presStyleCnt="0">
        <dgm:presLayoutVars>
          <dgm:chMax val="1"/>
          <dgm:chPref val="1"/>
          <dgm:dir/>
          <dgm:animOne val="branch"/>
          <dgm:animLvl val="lvl"/>
        </dgm:presLayoutVars>
      </dgm:prSet>
      <dgm:spPr/>
      <dgm:t>
        <a:bodyPr/>
        <a:lstStyle/>
        <a:p>
          <a:endParaRPr lang="en-US"/>
        </a:p>
      </dgm:t>
    </dgm:pt>
    <dgm:pt modelId="{418D2A22-2738-4235-9A3F-1D6E9721E7DA}" type="pres">
      <dgm:prSet presAssocID="{CB6CF56C-6B9D-4545-B34D-B326C4F22892}" presName="Parent" presStyleLbl="node0" presStyleIdx="0" presStyleCnt="1">
        <dgm:presLayoutVars>
          <dgm:chMax val="6"/>
          <dgm:chPref val="6"/>
        </dgm:presLayoutVars>
      </dgm:prSet>
      <dgm:spPr>
        <a:prstGeom prst="hexagon">
          <a:avLst>
            <a:gd name="adj" fmla="val 28570"/>
            <a:gd name="vf" fmla="val 115470"/>
          </a:avLst>
        </a:prstGeom>
      </dgm:spPr>
      <dgm:t>
        <a:bodyPr/>
        <a:lstStyle/>
        <a:p>
          <a:endParaRPr lang="en-US"/>
        </a:p>
      </dgm:t>
    </dgm:pt>
    <dgm:pt modelId="{B434F17D-9756-4249-9087-A4C508D63019}" type="pres">
      <dgm:prSet presAssocID="{2F5F6059-71F8-43AC-8562-632A723A9968}" presName="Accent1" presStyleCnt="0"/>
      <dgm:spPr/>
      <dgm:t>
        <a:bodyPr/>
        <a:lstStyle/>
        <a:p>
          <a:endParaRPr lang="en-US"/>
        </a:p>
      </dgm:t>
    </dgm:pt>
    <dgm:pt modelId="{E5AF13DE-8F8A-45A3-B576-B2BE4CC75772}" type="pres">
      <dgm:prSet presAssocID="{2F5F6059-71F8-43AC-8562-632A723A9968}" presName="Accent" presStyleLbl="bgShp" presStyleIdx="0" presStyleCnt="6"/>
      <dgm:spPr/>
      <dgm:t>
        <a:bodyPr/>
        <a:lstStyle/>
        <a:p>
          <a:endParaRPr lang="en-US"/>
        </a:p>
      </dgm:t>
    </dgm:pt>
    <dgm:pt modelId="{88CF3C5B-31F5-45D3-9E43-CE724C00E48D}" type="pres">
      <dgm:prSet presAssocID="{2F5F6059-71F8-43AC-8562-632A723A9968}" presName="Child1" presStyleLbl="node1" presStyleIdx="0" presStyleCnt="6">
        <dgm:presLayoutVars>
          <dgm:chMax val="0"/>
          <dgm:chPref val="0"/>
          <dgm:bulletEnabled val="1"/>
        </dgm:presLayoutVars>
      </dgm:prSet>
      <dgm:spPr>
        <a:prstGeom prst="hexagon">
          <a:avLst>
            <a:gd name="adj" fmla="val 28570"/>
            <a:gd name="vf" fmla="val 115470"/>
          </a:avLst>
        </a:prstGeom>
      </dgm:spPr>
      <dgm:t>
        <a:bodyPr/>
        <a:lstStyle/>
        <a:p>
          <a:endParaRPr lang="en-US"/>
        </a:p>
      </dgm:t>
    </dgm:pt>
    <dgm:pt modelId="{68F0F142-3FC0-4F05-BF28-84533971DF5E}" type="pres">
      <dgm:prSet presAssocID="{87DDCB59-FBA7-4B32-AFEE-DB71DE244B0E}" presName="Accent2" presStyleCnt="0"/>
      <dgm:spPr/>
      <dgm:t>
        <a:bodyPr/>
        <a:lstStyle/>
        <a:p>
          <a:endParaRPr lang="en-US"/>
        </a:p>
      </dgm:t>
    </dgm:pt>
    <dgm:pt modelId="{D4F27DFB-97CC-4CEF-B218-D8282D1F9AC0}" type="pres">
      <dgm:prSet presAssocID="{87DDCB59-FBA7-4B32-AFEE-DB71DE244B0E}" presName="Accent" presStyleLbl="bgShp" presStyleIdx="1" presStyleCnt="6"/>
      <dgm:spPr>
        <a:xfrm>
          <a:off x="6080951" y="1001230"/>
          <a:ext cx="1013058" cy="8728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gm:spPr>
      <dgm:t>
        <a:bodyPr/>
        <a:lstStyle/>
        <a:p>
          <a:endParaRPr lang="en-US"/>
        </a:p>
      </dgm:t>
    </dgm:pt>
    <dgm:pt modelId="{7253645E-2774-4C8A-B8CF-4E2EE25D05B3}" type="pres">
      <dgm:prSet presAssocID="{87DDCB59-FBA7-4B32-AFEE-DB71DE244B0E}" presName="Child2" presStyleLbl="node1" presStyleIdx="1" presStyleCnt="6" custLinFactY="26775" custLinFactNeighborX="-455" custLinFactNeighborY="100000">
        <dgm:presLayoutVars>
          <dgm:chMax val="0"/>
          <dgm:chPref val="0"/>
          <dgm:bulletEnabled val="1"/>
        </dgm:presLayoutVars>
      </dgm:prSet>
      <dgm:spPr>
        <a:prstGeom prst="hexagon">
          <a:avLst>
            <a:gd name="adj" fmla="val 28570"/>
            <a:gd name="vf" fmla="val 115470"/>
          </a:avLst>
        </a:prstGeom>
      </dgm:spPr>
      <dgm:t>
        <a:bodyPr/>
        <a:lstStyle/>
        <a:p>
          <a:endParaRPr lang="en-US"/>
        </a:p>
      </dgm:t>
    </dgm:pt>
    <dgm:pt modelId="{E672D9D8-892F-4336-954A-9DA4BFEA1A1F}" type="pres">
      <dgm:prSet presAssocID="{18506E9B-6453-4396-824E-C10BE2997250}" presName="Accent3" presStyleCnt="0"/>
      <dgm:spPr/>
      <dgm:t>
        <a:bodyPr/>
        <a:lstStyle/>
        <a:p>
          <a:endParaRPr lang="en-US"/>
        </a:p>
      </dgm:t>
    </dgm:pt>
    <dgm:pt modelId="{119727E0-80C0-451B-8C3F-4B8AEC34760F}" type="pres">
      <dgm:prSet presAssocID="{18506E9B-6453-4396-824E-C10BE2997250}" presName="Accent" presStyleLbl="bgShp" presStyleIdx="2" presStyleCnt="6" custLinFactY="100000" custLinFactNeighborX="-84530" custLinFactNeighborY="117826"/>
      <dgm:spPr>
        <a:xfrm>
          <a:off x="6406930" y="4534427"/>
          <a:ext cx="1013058" cy="8728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gm:spPr>
      <dgm:t>
        <a:bodyPr/>
        <a:lstStyle/>
        <a:p>
          <a:endParaRPr lang="en-US"/>
        </a:p>
      </dgm:t>
    </dgm:pt>
    <dgm:pt modelId="{1783A292-4D68-4444-B200-E039641D10E2}" type="pres">
      <dgm:prSet presAssocID="{18506E9B-6453-4396-824E-C10BE2997250}" presName="Child3" presStyleLbl="node1" presStyleIdx="2" presStyleCnt="6" custLinFactX="-86662" custLinFactY="-23781" custLinFactNeighborX="-100000" custLinFactNeighborY="-100000">
        <dgm:presLayoutVars>
          <dgm:chMax val="0"/>
          <dgm:chPref val="0"/>
          <dgm:bulletEnabled val="1"/>
        </dgm:presLayoutVars>
      </dgm:prSet>
      <dgm:spPr>
        <a:prstGeom prst="hexagon">
          <a:avLst>
            <a:gd name="adj" fmla="val 28570"/>
            <a:gd name="vf" fmla="val 115470"/>
          </a:avLst>
        </a:prstGeom>
      </dgm:spPr>
      <dgm:t>
        <a:bodyPr/>
        <a:lstStyle/>
        <a:p>
          <a:endParaRPr lang="en-US"/>
        </a:p>
      </dgm:t>
    </dgm:pt>
    <dgm:pt modelId="{19754E3F-863B-42DB-9125-8DC5929EDCF0}" type="pres">
      <dgm:prSet presAssocID="{909B0794-41D5-49E9-A02D-AE4C522C0BB9}" presName="Accent4" presStyleCnt="0"/>
      <dgm:spPr/>
      <dgm:t>
        <a:bodyPr/>
        <a:lstStyle/>
        <a:p>
          <a:endParaRPr lang="en-US"/>
        </a:p>
      </dgm:t>
    </dgm:pt>
    <dgm:pt modelId="{78BCBA13-4690-420B-8B0B-1D528C98C39A}" type="pres">
      <dgm:prSet presAssocID="{909B0794-41D5-49E9-A02D-AE4C522C0BB9}" presName="Accent" presStyleLbl="bgShp" presStyleIdx="3" presStyleCnt="6" custLinFactY="-100000" custLinFactNeighborX="78800" custLinFactNeighborY="-104410"/>
      <dgm:spPr>
        <a:xfrm>
          <a:off x="7240245" y="2690824"/>
          <a:ext cx="1013058" cy="8728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gm:spPr>
      <dgm:t>
        <a:bodyPr/>
        <a:lstStyle/>
        <a:p>
          <a:endParaRPr lang="en-US"/>
        </a:p>
      </dgm:t>
    </dgm:pt>
    <dgm:pt modelId="{9C388D87-20D3-4B9B-9C3B-E7497EE59B25}" type="pres">
      <dgm:prSet presAssocID="{909B0794-41D5-49E9-A02D-AE4C522C0BB9}" presName="Child4" presStyleLbl="node1" presStyleIdx="3" presStyleCnt="6">
        <dgm:presLayoutVars>
          <dgm:chMax val="0"/>
          <dgm:chPref val="0"/>
          <dgm:bulletEnabled val="1"/>
        </dgm:presLayoutVars>
      </dgm:prSet>
      <dgm:spPr>
        <a:prstGeom prst="hexagon">
          <a:avLst>
            <a:gd name="adj" fmla="val 28570"/>
            <a:gd name="vf" fmla="val 115470"/>
          </a:avLst>
        </a:prstGeom>
      </dgm:spPr>
      <dgm:t>
        <a:bodyPr/>
        <a:lstStyle/>
        <a:p>
          <a:endParaRPr lang="en-US"/>
        </a:p>
      </dgm:t>
    </dgm:pt>
    <dgm:pt modelId="{51F6C1ED-F597-4DAB-AC6A-5B769F1CEF13}" type="pres">
      <dgm:prSet presAssocID="{69DD3C5A-1A32-4B94-BBAD-3F362EAE3676}" presName="Accent5" presStyleCnt="0"/>
      <dgm:spPr/>
      <dgm:t>
        <a:bodyPr/>
        <a:lstStyle/>
        <a:p>
          <a:endParaRPr lang="en-US"/>
        </a:p>
      </dgm:t>
    </dgm:pt>
    <dgm:pt modelId="{47E72CD4-38DB-49ED-BF55-4B12078C903C}" type="pres">
      <dgm:prSet presAssocID="{69DD3C5A-1A32-4B94-BBAD-3F362EAE3676}" presName="Accent" presStyleLbl="bgShp" presStyleIdx="4" presStyleCnt="6"/>
      <dgm:spPr>
        <a:xfrm>
          <a:off x="4404594" y="4666296"/>
          <a:ext cx="1013058" cy="8728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gm:spPr>
      <dgm:t>
        <a:bodyPr/>
        <a:lstStyle/>
        <a:p>
          <a:endParaRPr lang="en-US"/>
        </a:p>
      </dgm:t>
    </dgm:pt>
    <dgm:pt modelId="{99F0D9AC-07F4-48C2-A8E3-A28D8E9AA065}" type="pres">
      <dgm:prSet presAssocID="{69DD3C5A-1A32-4B94-BBAD-3F362EAE3676}" presName="Child5" presStyleLbl="node1" presStyleIdx="4" presStyleCnt="6">
        <dgm:presLayoutVars>
          <dgm:chMax val="0"/>
          <dgm:chPref val="0"/>
          <dgm:bulletEnabled val="1"/>
        </dgm:presLayoutVars>
      </dgm:prSet>
      <dgm:spPr>
        <a:prstGeom prst="hexagon">
          <a:avLst>
            <a:gd name="adj" fmla="val 28570"/>
            <a:gd name="vf" fmla="val 115470"/>
          </a:avLst>
        </a:prstGeom>
      </dgm:spPr>
      <dgm:t>
        <a:bodyPr/>
        <a:lstStyle/>
        <a:p>
          <a:endParaRPr lang="en-US"/>
        </a:p>
      </dgm:t>
    </dgm:pt>
    <dgm:pt modelId="{8A2E22EE-D1CB-46FD-9AB2-8DC17D5FCCD5}" type="pres">
      <dgm:prSet presAssocID="{F976D4F5-653D-4F03-B75D-C5EA1B57BC5E}" presName="Accent6" presStyleCnt="0"/>
      <dgm:spPr/>
      <dgm:t>
        <a:bodyPr/>
        <a:lstStyle/>
        <a:p>
          <a:endParaRPr lang="en-US"/>
        </a:p>
      </dgm:t>
    </dgm:pt>
    <dgm:pt modelId="{0B07D659-154D-46DC-9BF0-5732DDA80631}" type="pres">
      <dgm:prSet presAssocID="{F976D4F5-653D-4F03-B75D-C5EA1B57BC5E}" presName="Accent" presStyleLbl="bgShp" presStyleIdx="5" presStyleCnt="6"/>
      <dgm:spPr>
        <a:xfrm>
          <a:off x="3202914" y="3035122"/>
          <a:ext cx="1013058" cy="8728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gm:spPr>
      <dgm:t>
        <a:bodyPr/>
        <a:lstStyle/>
        <a:p>
          <a:endParaRPr lang="en-US"/>
        </a:p>
      </dgm:t>
    </dgm:pt>
    <dgm:pt modelId="{EDA8B795-1E1D-40BE-8902-AAC89BF53ECB}" type="pres">
      <dgm:prSet presAssocID="{F976D4F5-653D-4F03-B75D-C5EA1B57BC5E}" presName="Child6" presStyleLbl="node1" presStyleIdx="5" presStyleCnt="6" custLinFactX="82369" custLinFactNeighborX="100000" custLinFactNeighborY="636">
        <dgm:presLayoutVars>
          <dgm:chMax val="0"/>
          <dgm:chPref val="0"/>
          <dgm:bulletEnabled val="1"/>
        </dgm:presLayoutVars>
      </dgm:prSet>
      <dgm:spPr>
        <a:prstGeom prst="hexagon">
          <a:avLst>
            <a:gd name="adj" fmla="val 28570"/>
            <a:gd name="vf" fmla="val 115470"/>
          </a:avLst>
        </a:prstGeom>
      </dgm:spPr>
      <dgm:t>
        <a:bodyPr/>
        <a:lstStyle/>
        <a:p>
          <a:endParaRPr lang="en-US"/>
        </a:p>
      </dgm:t>
    </dgm:pt>
  </dgm:ptLst>
  <dgm:cxnLst>
    <dgm:cxn modelId="{5D41B550-68AF-4494-80EB-C665191736B0}" type="presOf" srcId="{F976D4F5-653D-4F03-B75D-C5EA1B57BC5E}" destId="{EDA8B795-1E1D-40BE-8902-AAC89BF53ECB}" srcOrd="0" destOrd="0" presId="urn:microsoft.com/office/officeart/2011/layout/HexagonRadial"/>
    <dgm:cxn modelId="{3ED344CA-0F05-4356-BBD8-3B8F9FC1D313}" srcId="{CB6CF56C-6B9D-4545-B34D-B326C4F22892}" destId="{F976D4F5-653D-4F03-B75D-C5EA1B57BC5E}" srcOrd="5" destOrd="0" parTransId="{5CB6B981-0491-4729-AB51-05925DFDCE5A}" sibTransId="{BB5753D1-B2FA-459A-9255-B567DC2CBD36}"/>
    <dgm:cxn modelId="{10D3FC63-DD73-41AD-B9E6-5E27CC51E2C6}" type="presOf" srcId="{2F5F6059-71F8-43AC-8562-632A723A9968}" destId="{88CF3C5B-31F5-45D3-9E43-CE724C00E48D}" srcOrd="0" destOrd="0" presId="urn:microsoft.com/office/officeart/2011/layout/HexagonRadial"/>
    <dgm:cxn modelId="{19395E89-32EE-42FB-90FB-59F442CC601C}" srcId="{CB6CF56C-6B9D-4545-B34D-B326C4F22892}" destId="{2F5F6059-71F8-43AC-8562-632A723A9968}" srcOrd="0" destOrd="0" parTransId="{91E8F8F4-B2F1-4775-8B5A-E6156149B8E4}" sibTransId="{F6973E01-4BD7-4260-B321-79BAD7C10E4B}"/>
    <dgm:cxn modelId="{0ED02305-A1E1-4E3E-A03C-275FB6A5E688}" type="presOf" srcId="{87DDCB59-FBA7-4B32-AFEE-DB71DE244B0E}" destId="{7253645E-2774-4C8A-B8CF-4E2EE25D05B3}" srcOrd="0" destOrd="0" presId="urn:microsoft.com/office/officeart/2011/layout/HexagonRadial"/>
    <dgm:cxn modelId="{12162A5A-94B8-4C7C-9103-39AC39D21276}" type="presOf" srcId="{3D043861-92DD-4FFC-A549-5795B1E4D997}" destId="{D53B8C31-E722-4C8F-8BA0-D3E25646EA82}" srcOrd="0" destOrd="0" presId="urn:microsoft.com/office/officeart/2011/layout/HexagonRadial"/>
    <dgm:cxn modelId="{79A5DD96-00D1-4EE7-A1ED-53C803A4F95B}" srcId="{CB6CF56C-6B9D-4545-B34D-B326C4F22892}" destId="{909B0794-41D5-49E9-A02D-AE4C522C0BB9}" srcOrd="3" destOrd="0" parTransId="{2BB6DF23-0F8B-4704-A184-B367C2BDBC9C}" sibTransId="{0BD6C62C-1EAC-49AC-9F70-163BAFA63B5D}"/>
    <dgm:cxn modelId="{8BBDDEFB-4096-4D22-B64B-350059A19B15}" srcId="{CB6CF56C-6B9D-4545-B34D-B326C4F22892}" destId="{69DD3C5A-1A32-4B94-BBAD-3F362EAE3676}" srcOrd="4" destOrd="0" parTransId="{83F9FA1A-D927-42C8-B1DE-5D70DFFC3E07}" sibTransId="{AFBE1310-E20D-41B8-8B87-5ABBF6C4E3C9}"/>
    <dgm:cxn modelId="{AEA572F1-FC4E-4933-9692-DC408214FA56}" type="presOf" srcId="{18506E9B-6453-4396-824E-C10BE2997250}" destId="{1783A292-4D68-4444-B200-E039641D10E2}" srcOrd="0" destOrd="0" presId="urn:microsoft.com/office/officeart/2011/layout/HexagonRadial"/>
    <dgm:cxn modelId="{2F0504FD-577C-4730-92B4-EF2226C2A736}" srcId="{3D043861-92DD-4FFC-A549-5795B1E4D997}" destId="{CB6CF56C-6B9D-4545-B34D-B326C4F22892}" srcOrd="0" destOrd="0" parTransId="{E4766E37-E767-4184-88A2-EA9666D5877B}" sibTransId="{71FB6249-64EF-4355-BD03-4B75FFF571C3}"/>
    <dgm:cxn modelId="{FA41B437-9FF7-4A27-9306-B31EF89CADE1}" type="presOf" srcId="{909B0794-41D5-49E9-A02D-AE4C522C0BB9}" destId="{9C388D87-20D3-4B9B-9C3B-E7497EE59B25}" srcOrd="0" destOrd="0" presId="urn:microsoft.com/office/officeart/2011/layout/HexagonRadial"/>
    <dgm:cxn modelId="{B4724C24-9260-465C-92FF-1D8B85E6614D}" type="presOf" srcId="{CB6CF56C-6B9D-4545-B34D-B326C4F22892}" destId="{418D2A22-2738-4235-9A3F-1D6E9721E7DA}" srcOrd="0" destOrd="0" presId="urn:microsoft.com/office/officeart/2011/layout/HexagonRadial"/>
    <dgm:cxn modelId="{2CF79FDC-3D4C-4603-8D94-278B8143ADA8}" srcId="{CB6CF56C-6B9D-4545-B34D-B326C4F22892}" destId="{87DDCB59-FBA7-4B32-AFEE-DB71DE244B0E}" srcOrd="1" destOrd="0" parTransId="{BC4EDA11-41B5-4A88-A1FD-629DD7F8A2F8}" sibTransId="{63118870-F110-4811-99CF-30AD35BF8D14}"/>
    <dgm:cxn modelId="{BDFC355C-95E7-43B1-9209-8629E84865E4}" type="presOf" srcId="{69DD3C5A-1A32-4B94-BBAD-3F362EAE3676}" destId="{99F0D9AC-07F4-48C2-A8E3-A28D8E9AA065}" srcOrd="0" destOrd="0" presId="urn:microsoft.com/office/officeart/2011/layout/HexagonRadial"/>
    <dgm:cxn modelId="{B546D686-F25F-43CA-9C1D-481EE3A816E7}" srcId="{CB6CF56C-6B9D-4545-B34D-B326C4F22892}" destId="{18506E9B-6453-4396-824E-C10BE2997250}" srcOrd="2" destOrd="0" parTransId="{0C803F2C-25D1-48E6-B39A-F2FA0050F01F}" sibTransId="{72B4DEA2-7A8D-45CA-98B6-5ECE64B3B0D6}"/>
    <dgm:cxn modelId="{9E0CD9FB-2BA1-47F9-B808-AB781E6A9415}" type="presParOf" srcId="{D53B8C31-E722-4C8F-8BA0-D3E25646EA82}" destId="{418D2A22-2738-4235-9A3F-1D6E9721E7DA}" srcOrd="0" destOrd="0" presId="urn:microsoft.com/office/officeart/2011/layout/HexagonRadial"/>
    <dgm:cxn modelId="{E8461261-5514-4DC8-A4CD-C0835FB43145}" type="presParOf" srcId="{D53B8C31-E722-4C8F-8BA0-D3E25646EA82}" destId="{B434F17D-9756-4249-9087-A4C508D63019}" srcOrd="1" destOrd="0" presId="urn:microsoft.com/office/officeart/2011/layout/HexagonRadial"/>
    <dgm:cxn modelId="{4A3D795A-D68F-41C6-90F7-2D4FC3ECD394}" type="presParOf" srcId="{B434F17D-9756-4249-9087-A4C508D63019}" destId="{E5AF13DE-8F8A-45A3-B576-B2BE4CC75772}" srcOrd="0" destOrd="0" presId="urn:microsoft.com/office/officeart/2011/layout/HexagonRadial"/>
    <dgm:cxn modelId="{5DF14D45-3B4C-40C3-949C-DBAA0F97032A}" type="presParOf" srcId="{D53B8C31-E722-4C8F-8BA0-D3E25646EA82}" destId="{88CF3C5B-31F5-45D3-9E43-CE724C00E48D}" srcOrd="2" destOrd="0" presId="urn:microsoft.com/office/officeart/2011/layout/HexagonRadial"/>
    <dgm:cxn modelId="{16295BBC-49F8-4C41-BF4E-1644E52E1AAB}" type="presParOf" srcId="{D53B8C31-E722-4C8F-8BA0-D3E25646EA82}" destId="{68F0F142-3FC0-4F05-BF28-84533971DF5E}" srcOrd="3" destOrd="0" presId="urn:microsoft.com/office/officeart/2011/layout/HexagonRadial"/>
    <dgm:cxn modelId="{EE61EA9F-D88B-4DF5-B70D-140A134D77F9}" type="presParOf" srcId="{68F0F142-3FC0-4F05-BF28-84533971DF5E}" destId="{D4F27DFB-97CC-4CEF-B218-D8282D1F9AC0}" srcOrd="0" destOrd="0" presId="urn:microsoft.com/office/officeart/2011/layout/HexagonRadial"/>
    <dgm:cxn modelId="{9DBDB553-928F-4E08-8B34-745AD3A89DD1}" type="presParOf" srcId="{D53B8C31-E722-4C8F-8BA0-D3E25646EA82}" destId="{7253645E-2774-4C8A-B8CF-4E2EE25D05B3}" srcOrd="4" destOrd="0" presId="urn:microsoft.com/office/officeart/2011/layout/HexagonRadial"/>
    <dgm:cxn modelId="{66954250-DB42-4232-9A03-332A2A9752A6}" type="presParOf" srcId="{D53B8C31-E722-4C8F-8BA0-D3E25646EA82}" destId="{E672D9D8-892F-4336-954A-9DA4BFEA1A1F}" srcOrd="5" destOrd="0" presId="urn:microsoft.com/office/officeart/2011/layout/HexagonRadial"/>
    <dgm:cxn modelId="{D70379A5-5B79-41FF-BBDB-762F64D7F30D}" type="presParOf" srcId="{E672D9D8-892F-4336-954A-9DA4BFEA1A1F}" destId="{119727E0-80C0-451B-8C3F-4B8AEC34760F}" srcOrd="0" destOrd="0" presId="urn:microsoft.com/office/officeart/2011/layout/HexagonRadial"/>
    <dgm:cxn modelId="{35F07A49-6C79-4B56-B2EF-7ECECFDB1357}" type="presParOf" srcId="{D53B8C31-E722-4C8F-8BA0-D3E25646EA82}" destId="{1783A292-4D68-4444-B200-E039641D10E2}" srcOrd="6" destOrd="0" presId="urn:microsoft.com/office/officeart/2011/layout/HexagonRadial"/>
    <dgm:cxn modelId="{1766EAE7-BFD5-4A30-984D-03035AB08C04}" type="presParOf" srcId="{D53B8C31-E722-4C8F-8BA0-D3E25646EA82}" destId="{19754E3F-863B-42DB-9125-8DC5929EDCF0}" srcOrd="7" destOrd="0" presId="urn:microsoft.com/office/officeart/2011/layout/HexagonRadial"/>
    <dgm:cxn modelId="{A896FDFE-475A-42B0-8958-B80A0AD6B513}" type="presParOf" srcId="{19754E3F-863B-42DB-9125-8DC5929EDCF0}" destId="{78BCBA13-4690-420B-8B0B-1D528C98C39A}" srcOrd="0" destOrd="0" presId="urn:microsoft.com/office/officeart/2011/layout/HexagonRadial"/>
    <dgm:cxn modelId="{1CBF57E0-BA8A-40BF-8B54-C35D8BBF8641}" type="presParOf" srcId="{D53B8C31-E722-4C8F-8BA0-D3E25646EA82}" destId="{9C388D87-20D3-4B9B-9C3B-E7497EE59B25}" srcOrd="8" destOrd="0" presId="urn:microsoft.com/office/officeart/2011/layout/HexagonRadial"/>
    <dgm:cxn modelId="{C690405A-0BD6-4E32-A73F-762BBC848FAE}" type="presParOf" srcId="{D53B8C31-E722-4C8F-8BA0-D3E25646EA82}" destId="{51F6C1ED-F597-4DAB-AC6A-5B769F1CEF13}" srcOrd="9" destOrd="0" presId="urn:microsoft.com/office/officeart/2011/layout/HexagonRadial"/>
    <dgm:cxn modelId="{EE590756-539E-4948-830F-CF0AE1186C2D}" type="presParOf" srcId="{51F6C1ED-F597-4DAB-AC6A-5B769F1CEF13}" destId="{47E72CD4-38DB-49ED-BF55-4B12078C903C}" srcOrd="0" destOrd="0" presId="urn:microsoft.com/office/officeart/2011/layout/HexagonRadial"/>
    <dgm:cxn modelId="{80AC4171-AAB1-41B7-86DB-3C3395CB1C9B}" type="presParOf" srcId="{D53B8C31-E722-4C8F-8BA0-D3E25646EA82}" destId="{99F0D9AC-07F4-48C2-A8E3-A28D8E9AA065}" srcOrd="10" destOrd="0" presId="urn:microsoft.com/office/officeart/2011/layout/HexagonRadial"/>
    <dgm:cxn modelId="{24B83263-89B6-48F9-A3B1-8073C022B99C}" type="presParOf" srcId="{D53B8C31-E722-4C8F-8BA0-D3E25646EA82}" destId="{8A2E22EE-D1CB-46FD-9AB2-8DC17D5FCCD5}" srcOrd="11" destOrd="0" presId="urn:microsoft.com/office/officeart/2011/layout/HexagonRadial"/>
    <dgm:cxn modelId="{F6678952-FF74-4F89-80EF-144B5A6CD7D4}" type="presParOf" srcId="{8A2E22EE-D1CB-46FD-9AB2-8DC17D5FCCD5}" destId="{0B07D659-154D-46DC-9BF0-5732DDA80631}" srcOrd="0" destOrd="0" presId="urn:microsoft.com/office/officeart/2011/layout/HexagonRadial"/>
    <dgm:cxn modelId="{39CB2FC6-84C1-48ED-BC94-C062962E6B2B}" type="presParOf" srcId="{D53B8C31-E722-4C8F-8BA0-D3E25646EA82}" destId="{EDA8B795-1E1D-40BE-8902-AAC89BF53ECB}"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8D2A22-2738-4235-9A3F-1D6E9721E7DA}">
      <dsp:nvSpPr>
        <dsp:cNvPr id="0" name=""/>
        <dsp:cNvSpPr/>
      </dsp:nvSpPr>
      <dsp:spPr>
        <a:xfrm>
          <a:off x="2646585" y="1270760"/>
          <a:ext cx="1615192" cy="1397206"/>
        </a:xfrm>
        <a:prstGeom prst="hexagon">
          <a:avLst>
            <a:gd name="adj" fmla="val 28570"/>
            <a:gd name="vf" fmla="val 115470"/>
          </a:avLst>
        </a:prstGeom>
        <a:gradFill rotWithShape="0">
          <a:gsLst>
            <a:gs pos="0">
              <a:srgbClr val="335B74">
                <a:hueOff val="0"/>
                <a:satOff val="0"/>
                <a:lumOff val="0"/>
                <a:alphaOff val="0"/>
                <a:tint val="100000"/>
                <a:shade val="85000"/>
                <a:satMod val="100000"/>
                <a:lumMod val="100000"/>
              </a:srgbClr>
            </a:gs>
            <a:gs pos="100000">
              <a:srgbClr val="335B74">
                <a:hueOff val="0"/>
                <a:satOff val="0"/>
                <a:lumOff val="0"/>
                <a:alphaOff val="0"/>
                <a:tint val="90000"/>
                <a:shade val="100000"/>
                <a:satMod val="150000"/>
                <a:lumMod val="100000"/>
              </a:srgbClr>
            </a:gs>
          </a:gsLst>
          <a:path path="circle">
            <a:fillToRect l="100000" t="100000" r="100000" b="100000"/>
          </a:path>
        </a:grad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100000"/>
            </a:lnSpc>
            <a:spcBef>
              <a:spcPct val="0"/>
            </a:spcBef>
            <a:spcAft>
              <a:spcPts val="0"/>
            </a:spcAft>
          </a:pPr>
          <a:r>
            <a:rPr lang="en-US" sz="1800" kern="1200" dirty="0" smtClean="0">
              <a:solidFill>
                <a:sysClr val="window" lastClr="FFFFFF"/>
              </a:solidFill>
              <a:latin typeface="Tw Cen MT Condensed" panose="020B0606020104020203"/>
              <a:ea typeface="+mn-ea"/>
              <a:cs typeface="+mn-cs"/>
            </a:rPr>
            <a:t>DECISIONS ABOUT WORKING</a:t>
          </a:r>
          <a:endParaRPr lang="en-US" sz="1800" kern="1200" dirty="0">
            <a:solidFill>
              <a:sysClr val="window" lastClr="FFFFFF"/>
            </a:solidFill>
            <a:latin typeface="Tw Cen MT Condensed" panose="020B0606020104020203"/>
            <a:ea typeface="+mn-ea"/>
            <a:cs typeface="+mn-cs"/>
          </a:endParaRPr>
        </a:p>
      </dsp:txBody>
      <dsp:txXfrm>
        <a:off x="2914245" y="1502297"/>
        <a:ext cx="1079872" cy="934132"/>
      </dsp:txXfrm>
    </dsp:sp>
    <dsp:sp modelId="{D4F27DFB-97CC-4CEF-B218-D8282D1F9AC0}">
      <dsp:nvSpPr>
        <dsp:cNvPr id="0" name=""/>
        <dsp:cNvSpPr/>
      </dsp:nvSpPr>
      <dsp:spPr>
        <a:xfrm>
          <a:off x="3658006" y="602291"/>
          <a:ext cx="609407" cy="5250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88CF3C5B-31F5-45D3-9E43-CE724C00E48D}">
      <dsp:nvSpPr>
        <dsp:cNvPr id="0" name=""/>
        <dsp:cNvSpPr/>
      </dsp:nvSpPr>
      <dsp:spPr>
        <a:xfrm>
          <a:off x="2795368" y="0"/>
          <a:ext cx="1323638" cy="1145102"/>
        </a:xfrm>
        <a:prstGeom prst="hexagon">
          <a:avLst>
            <a:gd name="adj" fmla="val 28570"/>
            <a:gd name="vf" fmla="val 115470"/>
          </a:avLst>
        </a:prstGeom>
        <a:blipFill rotWithShape="0">
          <a:blip xmlns:r="http://schemas.openxmlformats.org/officeDocument/2006/relationships" r:embed="rId1"/>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2266950">
            <a:lnSpc>
              <a:spcPct val="90000"/>
            </a:lnSpc>
            <a:spcBef>
              <a:spcPct val="0"/>
            </a:spcBef>
            <a:spcAft>
              <a:spcPct val="35000"/>
            </a:spcAft>
          </a:pPr>
          <a:endParaRPr lang="en-US" sz="5100" kern="1200" dirty="0" smtClean="0">
            <a:solidFill>
              <a:sysClr val="window" lastClr="FFFFFF"/>
            </a:solidFill>
            <a:latin typeface="Tw Cen MT" panose="020B0602020104020603"/>
            <a:ea typeface="+mn-ea"/>
            <a:cs typeface="+mn-cs"/>
          </a:endParaRPr>
        </a:p>
      </dsp:txBody>
      <dsp:txXfrm>
        <a:off x="3014723" y="189768"/>
        <a:ext cx="884928" cy="765566"/>
      </dsp:txXfrm>
    </dsp:sp>
    <dsp:sp modelId="{119727E0-80C0-451B-8C3F-4B8AEC34760F}">
      <dsp:nvSpPr>
        <dsp:cNvPr id="0" name=""/>
        <dsp:cNvSpPr/>
      </dsp:nvSpPr>
      <dsp:spPr>
        <a:xfrm>
          <a:off x="3854099" y="2727692"/>
          <a:ext cx="609407" cy="5250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7253645E-2774-4C8A-B8CF-4E2EE25D05B3}">
      <dsp:nvSpPr>
        <dsp:cNvPr id="0" name=""/>
        <dsp:cNvSpPr/>
      </dsp:nvSpPr>
      <dsp:spPr>
        <a:xfrm>
          <a:off x="4003275" y="2156019"/>
          <a:ext cx="1323638" cy="1145102"/>
        </a:xfrm>
        <a:prstGeom prst="hexagon">
          <a:avLst>
            <a:gd name="adj" fmla="val 28570"/>
            <a:gd name="vf" fmla="val 115470"/>
          </a:avLst>
        </a:prstGeom>
        <a:blipFill rotWithShape="0">
          <a:blip xmlns:r="http://schemas.openxmlformats.org/officeDocument/2006/relationships" r:embed="rId2"/>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58420" tIns="58420" rIns="58420" bIns="58420" numCol="1" spcCol="1270" anchor="ctr" anchorCtr="0">
          <a:noAutofit/>
        </a:bodyPr>
        <a:lstStyle/>
        <a:p>
          <a:pPr lvl="0" algn="ctr" defTabSz="2044700">
            <a:lnSpc>
              <a:spcPct val="100000"/>
            </a:lnSpc>
            <a:spcBef>
              <a:spcPct val="0"/>
            </a:spcBef>
            <a:spcAft>
              <a:spcPts val="0"/>
            </a:spcAft>
          </a:pPr>
          <a:endParaRPr lang="en-US" sz="4600" kern="1200" dirty="0">
            <a:solidFill>
              <a:sysClr val="window" lastClr="FFFFFF"/>
            </a:solidFill>
            <a:latin typeface="Tw Cen MT" panose="020B0602020104020603"/>
            <a:ea typeface="+mn-ea"/>
            <a:cs typeface="+mn-cs"/>
          </a:endParaRPr>
        </a:p>
      </dsp:txBody>
      <dsp:txXfrm>
        <a:off x="4222630" y="2345787"/>
        <a:ext cx="884928" cy="765566"/>
      </dsp:txXfrm>
    </dsp:sp>
    <dsp:sp modelId="{78BCBA13-4690-420B-8B0B-1D528C98C39A}">
      <dsp:nvSpPr>
        <dsp:cNvPr id="0" name=""/>
        <dsp:cNvSpPr/>
      </dsp:nvSpPr>
      <dsp:spPr>
        <a:xfrm>
          <a:off x="4355381" y="1618669"/>
          <a:ext cx="609407" cy="5250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1783A292-4D68-4444-B200-E039641D10E2}">
      <dsp:nvSpPr>
        <dsp:cNvPr id="0" name=""/>
        <dsp:cNvSpPr/>
      </dsp:nvSpPr>
      <dsp:spPr>
        <a:xfrm>
          <a:off x="1538568" y="671496"/>
          <a:ext cx="1323638" cy="1145102"/>
        </a:xfrm>
        <a:prstGeom prst="hexagon">
          <a:avLst>
            <a:gd name="adj" fmla="val 28570"/>
            <a:gd name="vf" fmla="val 115470"/>
          </a:avLst>
        </a:prstGeom>
        <a:blipFill rotWithShape="0">
          <a:blip xmlns:r="http://schemas.openxmlformats.org/officeDocument/2006/relationships" r:embed="rId3"/>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2266950">
            <a:lnSpc>
              <a:spcPct val="90000"/>
            </a:lnSpc>
            <a:spcBef>
              <a:spcPct val="0"/>
            </a:spcBef>
            <a:spcAft>
              <a:spcPct val="35000"/>
            </a:spcAft>
          </a:pPr>
          <a:endParaRPr lang="en-US" sz="5100" kern="1200" dirty="0">
            <a:solidFill>
              <a:sysClr val="window" lastClr="FFFFFF"/>
            </a:solidFill>
            <a:latin typeface="Tw Cen MT" panose="020B0602020104020603"/>
            <a:ea typeface="+mn-ea"/>
            <a:cs typeface="+mn-cs"/>
          </a:endParaRPr>
        </a:p>
      </dsp:txBody>
      <dsp:txXfrm>
        <a:off x="1757923" y="861264"/>
        <a:ext cx="884928" cy="765566"/>
      </dsp:txXfrm>
    </dsp:sp>
    <dsp:sp modelId="{47E72CD4-38DB-49ED-BF55-4B12078C903C}">
      <dsp:nvSpPr>
        <dsp:cNvPr id="0" name=""/>
        <dsp:cNvSpPr/>
      </dsp:nvSpPr>
      <dsp:spPr>
        <a:xfrm>
          <a:off x="2649591" y="2807018"/>
          <a:ext cx="609407" cy="5250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9C388D87-20D3-4B9B-9C3B-E7497EE59B25}">
      <dsp:nvSpPr>
        <dsp:cNvPr id="0" name=""/>
        <dsp:cNvSpPr/>
      </dsp:nvSpPr>
      <dsp:spPr>
        <a:xfrm>
          <a:off x="2795368" y="2794019"/>
          <a:ext cx="1323638" cy="1145102"/>
        </a:xfrm>
        <a:prstGeom prst="hexagon">
          <a:avLst>
            <a:gd name="adj" fmla="val 28570"/>
            <a:gd name="vf" fmla="val 115470"/>
          </a:avLst>
        </a:prstGeom>
        <a:blipFill rotWithShape="0">
          <a:blip xmlns:r="http://schemas.openxmlformats.org/officeDocument/2006/relationships" r:embed="rId4"/>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58420" tIns="58420" rIns="58420" bIns="58420" numCol="1" spcCol="1270" anchor="ctr" anchorCtr="0">
          <a:noAutofit/>
        </a:bodyPr>
        <a:lstStyle/>
        <a:p>
          <a:pPr lvl="0" algn="ctr" defTabSz="2044700">
            <a:lnSpc>
              <a:spcPct val="100000"/>
            </a:lnSpc>
            <a:spcBef>
              <a:spcPct val="0"/>
            </a:spcBef>
            <a:spcAft>
              <a:spcPts val="0"/>
            </a:spcAft>
          </a:pPr>
          <a:endParaRPr lang="en-US" sz="4600" kern="1200" dirty="0">
            <a:solidFill>
              <a:sysClr val="window" lastClr="FFFFFF"/>
            </a:solidFill>
            <a:latin typeface="Tw Cen MT" panose="020B0602020104020603"/>
            <a:ea typeface="+mn-ea"/>
            <a:cs typeface="+mn-cs"/>
          </a:endParaRPr>
        </a:p>
      </dsp:txBody>
      <dsp:txXfrm>
        <a:off x="3014723" y="2983787"/>
        <a:ext cx="884928" cy="765566"/>
      </dsp:txXfrm>
    </dsp:sp>
    <dsp:sp modelId="{0B07D659-154D-46DC-9BF0-5732DDA80631}">
      <dsp:nvSpPr>
        <dsp:cNvPr id="0" name=""/>
        <dsp:cNvSpPr/>
      </dsp:nvSpPr>
      <dsp:spPr>
        <a:xfrm>
          <a:off x="1926718" y="1825783"/>
          <a:ext cx="609407" cy="525084"/>
        </a:xfrm>
        <a:prstGeom prst="hexagon">
          <a:avLst>
            <a:gd name="adj" fmla="val 28900"/>
            <a:gd name="vf" fmla="val 115470"/>
          </a:avLst>
        </a:prstGeom>
        <a:solidFill>
          <a:srgbClr val="335B74">
            <a:tint val="40000"/>
            <a:hueOff val="0"/>
            <a:satOff val="0"/>
            <a:lumOff val="0"/>
            <a:alphaOff val="0"/>
          </a:srgbClr>
        </a:solidFill>
        <a:ln w="12700">
          <a:solidFill>
            <a:srgbClr val="335B74"/>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99F0D9AC-07F4-48C2-A8E3-A28D8E9AA065}">
      <dsp:nvSpPr>
        <dsp:cNvPr id="0" name=""/>
        <dsp:cNvSpPr/>
      </dsp:nvSpPr>
      <dsp:spPr>
        <a:xfrm>
          <a:off x="1575802" y="2089704"/>
          <a:ext cx="1323638" cy="1145102"/>
        </a:xfrm>
        <a:prstGeom prst="hexagon">
          <a:avLst>
            <a:gd name="adj" fmla="val 28570"/>
            <a:gd name="vf" fmla="val 115470"/>
          </a:avLst>
        </a:prstGeom>
        <a:blipFill rotWithShape="0">
          <a:blip xmlns:r="http://schemas.openxmlformats.org/officeDocument/2006/relationships" r:embed="rId5"/>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58420" tIns="58420" rIns="58420" bIns="58420" numCol="1" spcCol="1270" anchor="ctr" anchorCtr="0">
          <a:noAutofit/>
        </a:bodyPr>
        <a:lstStyle/>
        <a:p>
          <a:pPr lvl="0" algn="ctr" defTabSz="2044700">
            <a:lnSpc>
              <a:spcPct val="100000"/>
            </a:lnSpc>
            <a:spcBef>
              <a:spcPct val="0"/>
            </a:spcBef>
            <a:spcAft>
              <a:spcPts val="0"/>
            </a:spcAft>
          </a:pPr>
          <a:endParaRPr lang="en-US" sz="4600" kern="1200" dirty="0">
            <a:solidFill>
              <a:sysClr val="window" lastClr="FFFFFF"/>
            </a:solidFill>
            <a:latin typeface="Tw Cen MT" panose="020B0602020104020603"/>
            <a:ea typeface="+mn-ea"/>
            <a:cs typeface="+mn-cs"/>
          </a:endParaRPr>
        </a:p>
      </dsp:txBody>
      <dsp:txXfrm>
        <a:off x="1795157" y="2279472"/>
        <a:ext cx="884928" cy="765566"/>
      </dsp:txXfrm>
    </dsp:sp>
    <dsp:sp modelId="{EDA8B795-1E1D-40BE-8902-AAC89BF53ECB}">
      <dsp:nvSpPr>
        <dsp:cNvPr id="0" name=""/>
        <dsp:cNvSpPr/>
      </dsp:nvSpPr>
      <dsp:spPr>
        <a:xfrm>
          <a:off x="3989708" y="710022"/>
          <a:ext cx="1323638" cy="1145102"/>
        </a:xfrm>
        <a:prstGeom prst="hexagon">
          <a:avLst>
            <a:gd name="adj" fmla="val 28570"/>
            <a:gd name="vf" fmla="val 115470"/>
          </a:avLst>
        </a:prstGeom>
        <a:blipFill rotWithShape="0">
          <a:blip xmlns:r="http://schemas.openxmlformats.org/officeDocument/2006/relationships" r:embed="rId6"/>
          <a:stretch>
            <a:fillRect/>
          </a:stretch>
        </a:blipFill>
        <a:ln w="12700">
          <a:solidFill>
            <a:srgbClr val="335B74"/>
          </a:solidFill>
        </a:ln>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rgbClr val="335B74">
              <a:hueOff val="0"/>
              <a:satOff val="0"/>
              <a:lumOff val="0"/>
              <a:alphaOff val="0"/>
              <a:shade val="35000"/>
              <a:satMod val="160000"/>
            </a:srgbClr>
          </a:contourClr>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lvl="0" algn="ctr" defTabSz="2266950">
            <a:lnSpc>
              <a:spcPct val="90000"/>
            </a:lnSpc>
            <a:spcBef>
              <a:spcPct val="0"/>
            </a:spcBef>
            <a:spcAft>
              <a:spcPct val="35000"/>
            </a:spcAft>
          </a:pPr>
          <a:endParaRPr lang="en-US" sz="5100" kern="1200" dirty="0">
            <a:solidFill>
              <a:sysClr val="window" lastClr="FFFFFF"/>
            </a:solidFill>
            <a:latin typeface="Tw Cen MT" panose="020B0602020104020603"/>
            <a:ea typeface="+mn-ea"/>
            <a:cs typeface="+mn-cs"/>
          </a:endParaRPr>
        </a:p>
      </dsp:txBody>
      <dsp:txXfrm>
        <a:off x="4209063" y="899790"/>
        <a:ext cx="884928" cy="765566"/>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01049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4"/>
          <p:cNvSpPr>
            <a:spLocks noGrp="1" noRot="1" noChangeAspect="1" noChangeArrowheads="1" noTextEdit="1"/>
          </p:cNvSpPr>
          <p:nvPr>
            <p:ph type="sldImg" idx="2"/>
          </p:nvPr>
        </p:nvSpPr>
        <p:spPr bwMode="auto">
          <a:xfrm>
            <a:off x="1054100" y="701675"/>
            <a:ext cx="4768850" cy="3576638"/>
          </a:xfrm>
          <a:prstGeom prst="rect">
            <a:avLst/>
          </a:prstGeom>
          <a:noFill/>
          <a:ln w="12700">
            <a:solidFill>
              <a:schemeClr val="tx1"/>
            </a:solidFill>
            <a:miter lim="800000"/>
            <a:headEnd/>
            <a:tailEnd/>
          </a:ln>
        </p:spPr>
      </p:sp>
      <p:sp>
        <p:nvSpPr>
          <p:cNvPr id="2059" name="Rectangle 11"/>
          <p:cNvSpPr>
            <a:spLocks noGrp="1" noChangeArrowheads="1"/>
          </p:cNvSpPr>
          <p:nvPr>
            <p:ph type="sldNum" sz="quarter" idx="5"/>
          </p:nvPr>
        </p:nvSpPr>
        <p:spPr bwMode="auto">
          <a:xfrm>
            <a:off x="3275747" y="8585413"/>
            <a:ext cx="732901" cy="510088"/>
          </a:xfrm>
          <a:prstGeom prst="rect">
            <a:avLst/>
          </a:prstGeom>
          <a:noFill/>
          <a:ln w="9525">
            <a:noFill/>
            <a:miter lim="800000"/>
            <a:headEnd/>
            <a:tailEnd/>
          </a:ln>
          <a:effectLst/>
        </p:spPr>
        <p:txBody>
          <a:bodyPr vert="horz" wrap="square" lIns="93069" tIns="46535" rIns="93069" bIns="46535" numCol="1" anchor="ctr" anchorCtr="0" compatLnSpc="1">
            <a:prstTxWarp prst="textNoShape">
              <a:avLst/>
            </a:prstTxWarp>
          </a:bodyPr>
          <a:lstStyle>
            <a:lvl1pPr algn="r" defTabSz="930716">
              <a:spcBef>
                <a:spcPct val="0"/>
              </a:spcBef>
              <a:defRPr sz="1400" b="0">
                <a:solidFill>
                  <a:schemeClr val="tx1"/>
                </a:solidFill>
                <a:latin typeface="Times New Roman" charset="0"/>
              </a:defRPr>
            </a:lvl1pPr>
          </a:lstStyle>
          <a:p>
            <a:pPr>
              <a:defRPr/>
            </a:pPr>
            <a:fld id="{A2EC10AC-6804-4420-81E7-A8E1421417D7}" type="slidenum">
              <a:rPr lang="en-US"/>
              <a:pPr>
                <a:defRPr/>
              </a:pPr>
              <a:t>‹#›</a:t>
            </a:fld>
            <a:endParaRPr lang="en-US" dirty="0"/>
          </a:p>
        </p:txBody>
      </p:sp>
      <p:sp>
        <p:nvSpPr>
          <p:cNvPr id="2060" name="Rectangle 12"/>
          <p:cNvSpPr>
            <a:spLocks noGrp="1" noChangeArrowheads="1"/>
          </p:cNvSpPr>
          <p:nvPr>
            <p:ph type="body" sz="quarter" idx="3"/>
          </p:nvPr>
        </p:nvSpPr>
        <p:spPr bwMode="auto">
          <a:xfrm>
            <a:off x="925687" y="4452110"/>
            <a:ext cx="5171729" cy="4141275"/>
          </a:xfrm>
          <a:prstGeom prst="rect">
            <a:avLst/>
          </a:prstGeom>
          <a:noFill/>
          <a:ln w="12700">
            <a:noFill/>
            <a:miter lim="800000"/>
            <a:headEnd type="none" w="sm" len="sm"/>
            <a:tailEnd type="none" w="sm" len="sm"/>
          </a:ln>
          <a:effectLst/>
        </p:spPr>
        <p:txBody>
          <a:bodyPr vert="horz" wrap="square" lIns="93069" tIns="46535" rIns="93069" bIns="4653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extLst>
      <p:ext uri="{BB962C8B-B14F-4D97-AF65-F5344CB8AC3E}">
        <p14:creationId xmlns:p14="http://schemas.microsoft.com/office/powerpoint/2010/main" val="40226538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solidFill>
                  <a:srgbClr val="000000"/>
                </a:solidFill>
              </a:rPr>
              <a:pPr>
                <a:defRPr/>
              </a:pPr>
              <a:t>1</a:t>
            </a:fld>
            <a:endParaRPr lang="en-US" dirty="0">
              <a:solidFill>
                <a:srgbClr val="000000"/>
              </a:solidFill>
            </a:endParaRPr>
          </a:p>
        </p:txBody>
      </p:sp>
    </p:spTree>
    <p:extLst>
      <p:ext uri="{BB962C8B-B14F-4D97-AF65-F5344CB8AC3E}">
        <p14:creationId xmlns:p14="http://schemas.microsoft.com/office/powerpoint/2010/main" val="3289899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2</a:t>
            </a:fld>
            <a:endParaRPr lang="en-US" dirty="0"/>
          </a:p>
        </p:txBody>
      </p:sp>
    </p:spTree>
    <p:extLst>
      <p:ext uri="{BB962C8B-B14F-4D97-AF65-F5344CB8AC3E}">
        <p14:creationId xmlns:p14="http://schemas.microsoft.com/office/powerpoint/2010/main" val="2694020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3</a:t>
            </a:fld>
            <a:endParaRPr lang="en-US" dirty="0"/>
          </a:p>
        </p:txBody>
      </p:sp>
    </p:spTree>
    <p:extLst>
      <p:ext uri="{BB962C8B-B14F-4D97-AF65-F5344CB8AC3E}">
        <p14:creationId xmlns:p14="http://schemas.microsoft.com/office/powerpoint/2010/main" val="295914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overarching goal of the SGA Project was to improve employment and earning outcomes for SSDI-only clients, and to help DI beneficiaries improve their quality of life. Through our evaluation we also wanted to gather information on strategies that can be used to help other state agencies implement SGA innovations in the future</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4</a:t>
            </a:fld>
            <a:endParaRPr lang="en-US" dirty="0"/>
          </a:p>
        </p:txBody>
      </p:sp>
    </p:spTree>
    <p:extLst>
      <p:ext uri="{BB962C8B-B14F-4D97-AF65-F5344CB8AC3E}">
        <p14:creationId xmlns:p14="http://schemas.microsoft.com/office/powerpoint/2010/main" val="193522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a:t>
            </a:r>
            <a:r>
              <a:rPr lang="en-US" baseline="0" dirty="0" smtClean="0"/>
              <a:t>first two years of the project:</a:t>
            </a:r>
          </a:p>
          <a:p>
            <a:pPr marL="172119" indent="-172119">
              <a:buFontTx/>
              <a:buChar char="-"/>
            </a:pPr>
            <a:r>
              <a:rPr lang="en-US" baseline="0" dirty="0" smtClean="0"/>
              <a:t>20-30 state VR directors</a:t>
            </a:r>
          </a:p>
          <a:p>
            <a:pPr marL="172119" indent="-172119">
              <a:buFontTx/>
              <a:buChar char="-"/>
            </a:pPr>
            <a:r>
              <a:rPr lang="en-US" baseline="0" dirty="0" smtClean="0"/>
              <a:t>RSA 911 </a:t>
            </a:r>
          </a:p>
          <a:p>
            <a:pPr marL="172119" indent="-172119">
              <a:buFontTx/>
              <a:buChar char="-"/>
            </a:pPr>
            <a:r>
              <a:rPr lang="en-US" baseline="0" dirty="0" smtClean="0"/>
              <a:t>Case studies</a:t>
            </a:r>
          </a:p>
          <a:p>
            <a:pPr marL="172119" indent="-172119">
              <a:buFontTx/>
              <a:buChar char="-"/>
            </a:pPr>
            <a:r>
              <a:rPr lang="en-US" baseline="0" dirty="0" smtClean="0"/>
              <a:t>Expert Panel</a:t>
            </a:r>
          </a:p>
          <a:p>
            <a:pPr marL="172119" indent="-172119">
              <a:buFontTx/>
              <a:buChar char="-"/>
            </a:pPr>
            <a:endParaRPr lang="en-US" baseline="0" dirty="0" smtClean="0"/>
          </a:p>
          <a:p>
            <a:r>
              <a:rPr lang="en-US" baseline="0" dirty="0" smtClean="0"/>
              <a:t>Found through interviews that states did not have specific interventions designed for SSDI-only customers.</a:t>
            </a:r>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5</a:t>
            </a:fld>
            <a:endParaRPr lang="en-US" dirty="0"/>
          </a:p>
        </p:txBody>
      </p:sp>
    </p:spTree>
    <p:extLst>
      <p:ext uri="{BB962C8B-B14F-4D97-AF65-F5344CB8AC3E}">
        <p14:creationId xmlns:p14="http://schemas.microsoft.com/office/powerpoint/2010/main" val="3273233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question remained: If we build office-level capacity to implement an early </a:t>
            </a:r>
            <a:r>
              <a:rPr lang="en-US" altLang="en-US" dirty="0" smtClean="0"/>
              <a:t>and rapid coordinated team approach, will those offices get better employment outcomes for SSDI beneficiaries? </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6</a:t>
            </a:fld>
            <a:endParaRPr lang="en-US" dirty="0"/>
          </a:p>
        </p:txBody>
      </p:sp>
    </p:spTree>
    <p:extLst>
      <p:ext uri="{BB962C8B-B14F-4D97-AF65-F5344CB8AC3E}">
        <p14:creationId xmlns:p14="http://schemas.microsoft.com/office/powerpoint/2010/main" val="3115305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7</a:t>
            </a:fld>
            <a:endParaRPr lang="en-US" dirty="0"/>
          </a:p>
        </p:txBody>
      </p:sp>
    </p:spTree>
    <p:extLst>
      <p:ext uri="{BB962C8B-B14F-4D97-AF65-F5344CB8AC3E}">
        <p14:creationId xmlns:p14="http://schemas.microsoft.com/office/powerpoint/2010/main" val="3368570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a:buFont typeface="Arial" panose="020B0604020202020204" pitchFamily="34" charset="0"/>
              <a:buChar char="•"/>
            </a:pPr>
            <a:r>
              <a:rPr lang="en-US" dirty="0"/>
              <a:t>I will present findings on the implementation efforts in KY and MN</a:t>
            </a:r>
            <a:endParaRPr lang="en-US" dirty="0"/>
          </a:p>
        </p:txBody>
      </p:sp>
      <p:sp>
        <p:nvSpPr>
          <p:cNvPr id="4" name="Slide Number Placeholder 3"/>
          <p:cNvSpPr>
            <a:spLocks noGrp="1"/>
          </p:cNvSpPr>
          <p:nvPr>
            <p:ph type="sldNum" sz="quarter" idx="10"/>
          </p:nvPr>
        </p:nvSpPr>
        <p:spPr/>
        <p:txBody>
          <a:bodyPr/>
          <a:lstStyle/>
          <a:p>
            <a:fld id="{3A3D313F-63BD-DA45-B361-F8C94543D256}" type="slidenum">
              <a:rPr lang="en-US" smtClean="0">
                <a:solidFill>
                  <a:srgbClr val="000000"/>
                </a:solidFill>
              </a:rPr>
              <a:pPr/>
              <a:t>8</a:t>
            </a:fld>
            <a:endParaRPr lang="en-US" dirty="0">
              <a:solidFill>
                <a:srgbClr val="000000"/>
              </a:solidFill>
            </a:endParaRPr>
          </a:p>
        </p:txBody>
      </p:sp>
    </p:spTree>
    <p:extLst>
      <p:ext uri="{BB962C8B-B14F-4D97-AF65-F5344CB8AC3E}">
        <p14:creationId xmlns:p14="http://schemas.microsoft.com/office/powerpoint/2010/main" val="2532746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Enhanced</a:t>
            </a:r>
            <a:r>
              <a:rPr lang="en-US" baseline="0" dirty="0" smtClean="0"/>
              <a:t> services i.e. treatment sites compared to usual services or control</a:t>
            </a:r>
          </a:p>
          <a:p>
            <a:r>
              <a:rPr lang="en-US" baseline="0" dirty="0" smtClean="0"/>
              <a:t>Selected measures from implementation </a:t>
            </a:r>
          </a:p>
          <a:p>
            <a:r>
              <a:rPr lang="en-US" baseline="0" dirty="0" smtClean="0"/>
              <a:t>Highlight staff experiences implementing the intervention </a:t>
            </a:r>
          </a:p>
          <a:p>
            <a:r>
              <a:rPr lang="en-US" baseline="0" dirty="0" smtClean="0"/>
              <a:t>Challenges encountered across states and a few of the lessons learned</a:t>
            </a:r>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9</a:t>
            </a:fld>
            <a:endParaRPr lang="en-US" dirty="0"/>
          </a:p>
        </p:txBody>
      </p:sp>
    </p:spTree>
    <p:extLst>
      <p:ext uri="{BB962C8B-B14F-4D97-AF65-F5344CB8AC3E}">
        <p14:creationId xmlns:p14="http://schemas.microsoft.com/office/powerpoint/2010/main" val="3614442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a:buFont typeface="Arial" panose="020B0604020202020204" pitchFamily="34" charset="0"/>
              <a:buChar char="•"/>
            </a:pPr>
            <a:r>
              <a:rPr lang="en-US" baseline="0" dirty="0" smtClean="0"/>
              <a:t>The SGA Project model was similar in both states with just a few exceptions. Each state engaged in faster pace of services including rapid eligibility determination within 2 days and IPE within 30 days of application. There was a push to use presumptive eligibility. </a:t>
            </a:r>
          </a:p>
          <a:p>
            <a:pPr marL="172119" indent="-172119">
              <a:buFont typeface="Arial" panose="020B0604020202020204" pitchFamily="34" charset="0"/>
              <a:buChar char="•"/>
            </a:pPr>
            <a:r>
              <a:rPr lang="en-US" baseline="0" dirty="0" smtClean="0"/>
              <a:t>The VRC played a lead role in development of IPE in both states</a:t>
            </a:r>
          </a:p>
          <a:p>
            <a:pPr marL="172119" indent="-172119" defTabSz="917966">
              <a:buFont typeface="Arial" panose="020B0604020202020204" pitchFamily="34" charset="0"/>
              <a:buChar char="•"/>
              <a:defRPr/>
            </a:pPr>
            <a:r>
              <a:rPr lang="en-US" dirty="0"/>
              <a:t>Development IPE: The IPE is not final, but a draft and amended as needed. In this view, the IPE is not a binding agreement but a document that can be modified and evolve, based on new information. </a:t>
            </a:r>
          </a:p>
          <a:p>
            <a:pPr marL="172119" indent="-172119">
              <a:buFont typeface="Arial" panose="020B0604020202020204" pitchFamily="34" charset="0"/>
              <a:buChar char="•"/>
            </a:pPr>
            <a:r>
              <a:rPr lang="en-US" baseline="0" dirty="0" smtClean="0"/>
              <a:t> Both states offered financial counseling and support that was embedded in the agency.  Kentucky hired three Kentucky Work Incentive Coordinators (KWICs) who were responsible for the entire state. </a:t>
            </a:r>
          </a:p>
          <a:p>
            <a:pPr marL="172119" indent="-172119">
              <a:buFont typeface="Arial" panose="020B0604020202020204" pitchFamily="34" charset="0"/>
              <a:buChar char="•"/>
            </a:pPr>
            <a:r>
              <a:rPr lang="en-US" baseline="0" dirty="0" smtClean="0"/>
              <a:t>MN employed a financial planner in each office. Most were CWICS, not all. If BSA needed the person was referred to a CWIC</a:t>
            </a:r>
          </a:p>
          <a:p>
            <a:pPr marL="172119" indent="-172119" defTabSz="917966">
              <a:buFont typeface="Arial" panose="020B0604020202020204" pitchFamily="34" charset="0"/>
              <a:buChar char="•"/>
              <a:defRPr/>
            </a:pPr>
            <a:r>
              <a:rPr lang="en-US" altLang="en-US" dirty="0" smtClean="0"/>
              <a:t>Job placement and financial specialist staff in each office, not multiple offices. </a:t>
            </a:r>
            <a:r>
              <a:rPr lang="en-US" baseline="0" dirty="0" smtClean="0"/>
              <a:t>Use of job placement specialists much earlier in the VR process. JPS  provided input on the labor market, job referrals, and related services. </a:t>
            </a:r>
          </a:p>
          <a:p>
            <a:pPr marL="172119" indent="-172119" defTabSz="917966">
              <a:buFont typeface="Arial" panose="020B0604020202020204" pitchFamily="34" charset="0"/>
              <a:buChar char="•"/>
              <a:defRPr/>
            </a:pPr>
            <a:r>
              <a:rPr lang="en-US" dirty="0"/>
              <a:t>The three staff make up the CTA. The Team identified clients goals, reviewed important financial information, discussed ideas for IPE development</a:t>
            </a:r>
          </a:p>
          <a:p>
            <a:pPr marL="172119" indent="-172119" defTabSz="917966">
              <a:buFont typeface="Arial" panose="020B0604020202020204" pitchFamily="34" charset="0"/>
              <a:buChar char="•"/>
              <a:defRPr/>
            </a:pPr>
            <a:endParaRPr lang="en-US" baseline="0" dirty="0" smtClean="0"/>
          </a:p>
          <a:p>
            <a:pPr marL="172119" indent="-172119">
              <a:buFont typeface="Arial" panose="020B0604020202020204" pitchFamily="34" charset="0"/>
              <a:buChar char="•"/>
            </a:pPr>
            <a:r>
              <a:rPr lang="en-US" baseline="0" dirty="0" smtClean="0"/>
              <a:t>In addition, both states received early and ongoing training and technical assistance from ICI’s team. </a:t>
            </a:r>
          </a:p>
          <a:p>
            <a:pPr marL="631102" lvl="1" indent="-172119">
              <a:buFont typeface="Arial" panose="020B0604020202020204" pitchFamily="34" charset="0"/>
              <a:buChar char="•"/>
            </a:pPr>
            <a:r>
              <a:rPr lang="en-US" baseline="0" dirty="0" smtClean="0"/>
              <a:t>Both KY and MN received an initial 3 day training </a:t>
            </a:r>
          </a:p>
          <a:p>
            <a:pPr marL="631102" lvl="1" indent="-172119">
              <a:buFont typeface="Arial" panose="020B0604020202020204" pitchFamily="34" charset="0"/>
              <a:buChar char="•"/>
            </a:pPr>
            <a:r>
              <a:rPr lang="en-US" baseline="0" dirty="0" smtClean="0"/>
              <a:t>Financial specialists had special training with ICI experts</a:t>
            </a:r>
          </a:p>
          <a:p>
            <a:pPr marL="631102" lvl="1" indent="-172119">
              <a:buFont typeface="Arial" panose="020B0604020202020204" pitchFamily="34" charset="0"/>
              <a:buChar char="•"/>
            </a:pPr>
            <a:r>
              <a:rPr lang="en-US" baseline="0" dirty="0" smtClean="0"/>
              <a:t>Regular, quarterly site visits</a:t>
            </a:r>
          </a:p>
          <a:p>
            <a:pPr marL="631102" lvl="1" indent="-172119">
              <a:buFont typeface="Arial" panose="020B0604020202020204" pitchFamily="34" charset="0"/>
              <a:buChar char="•"/>
            </a:pPr>
            <a:r>
              <a:rPr lang="en-US" baseline="0" dirty="0" smtClean="0"/>
              <a:t>Local and state wide in person meetings and support [cross-site meeting in KY to discuss shared concerns]</a:t>
            </a:r>
            <a:endParaRPr lang="en-US" dirty="0" smtClean="0"/>
          </a:p>
          <a:p>
            <a:pPr marL="172119" indent="-172119">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10</a:t>
            </a:fld>
            <a:endParaRPr lang="en-US" dirty="0"/>
          </a:p>
        </p:txBody>
      </p:sp>
    </p:spTree>
    <p:extLst>
      <p:ext uri="{BB962C8B-B14F-4D97-AF65-F5344CB8AC3E}">
        <p14:creationId xmlns:p14="http://schemas.microsoft.com/office/powerpoint/2010/main" val="2490462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a:buFont typeface="Arial" panose="020B0604020202020204" pitchFamily="34" charset="0"/>
              <a:buChar char="•"/>
            </a:pPr>
            <a:r>
              <a:rPr lang="en-US" b="0" baseline="0" dirty="0" smtClean="0"/>
              <a:t>These are selected implementation measures we are reporting today. </a:t>
            </a:r>
          </a:p>
          <a:p>
            <a:pPr marL="172119" indent="-172119">
              <a:buFont typeface="Arial" panose="020B0604020202020204" pitchFamily="34" charset="0"/>
              <a:buChar char="•"/>
            </a:pPr>
            <a:r>
              <a:rPr lang="en-US" b="0" baseline="0" dirty="0" smtClean="0"/>
              <a:t>As I mentioned, the target for eligibility determination was 2 days from application and the target for IPE was 30 days after application. </a:t>
            </a:r>
          </a:p>
          <a:p>
            <a:pPr marL="172119" indent="-172119">
              <a:buFont typeface="Arial" panose="020B0604020202020204" pitchFamily="34" charset="0"/>
              <a:buChar char="•"/>
            </a:pPr>
            <a:r>
              <a:rPr lang="en-US" b="0" baseline="0" dirty="0" smtClean="0"/>
              <a:t>Clients should receive benefits counseling and a BSA was expected  </a:t>
            </a:r>
          </a:p>
          <a:p>
            <a:pPr marL="172119" indent="-172119">
              <a:buFont typeface="Arial" panose="020B0604020202020204" pitchFamily="34" charset="0"/>
              <a:buChar char="•"/>
            </a:pPr>
            <a:r>
              <a:rPr lang="en-US" b="0" baseline="0" dirty="0" smtClean="0"/>
              <a:t>A coordinated team approach meeting should have occurred for clients with the first meeting occurring within 5 business days after eligibility in KY and in MN they set their target at 7 days after application</a:t>
            </a:r>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11</a:t>
            </a:fld>
            <a:endParaRPr lang="en-US" dirty="0"/>
          </a:p>
        </p:txBody>
      </p:sp>
    </p:spTree>
    <p:extLst>
      <p:ext uri="{BB962C8B-B14F-4D97-AF65-F5344CB8AC3E}">
        <p14:creationId xmlns:p14="http://schemas.microsoft.com/office/powerpoint/2010/main" val="1299905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defTabSz="917966">
              <a:buFont typeface="Arial" panose="020B0604020202020204" pitchFamily="34" charset="0"/>
              <a:buChar char="•"/>
              <a:defRPr/>
            </a:pPr>
            <a:r>
              <a:rPr lang="en-US" b="0" baseline="0" dirty="0" smtClean="0"/>
              <a:t>How did enhanced services compare to usual VR services in Kentucky?</a:t>
            </a:r>
          </a:p>
          <a:p>
            <a:pPr marL="172119" indent="-172119" defTabSz="917966">
              <a:buFont typeface="Arial" panose="020B0604020202020204" pitchFamily="34" charset="0"/>
              <a:buChar char="•"/>
              <a:defRPr/>
            </a:pPr>
            <a:r>
              <a:rPr lang="en-US" b="0" baseline="0" dirty="0" smtClean="0"/>
              <a:t>Eligibility determination was </a:t>
            </a:r>
            <a:r>
              <a:rPr lang="en-US" b="1" baseline="0" dirty="0" smtClean="0"/>
              <a:t>2 days (normally 60 days) </a:t>
            </a:r>
            <a:r>
              <a:rPr lang="en-US" b="0" baseline="0" dirty="0" smtClean="0"/>
              <a:t>Pacing at usual service for eligibility determination was 60 days  </a:t>
            </a:r>
            <a:endParaRPr lang="en-US" b="1" baseline="0" dirty="0" smtClean="0"/>
          </a:p>
          <a:p>
            <a:pPr marL="172119" indent="-172119">
              <a:buFont typeface="Arial" panose="020B0604020202020204" pitchFamily="34" charset="0"/>
              <a:buChar char="•"/>
            </a:pPr>
            <a:r>
              <a:rPr lang="en-US" b="0" baseline="0" dirty="0" smtClean="0"/>
              <a:t>Financial counseling from a KWIC , compared to referral to vendors under usual service. </a:t>
            </a:r>
          </a:p>
          <a:p>
            <a:pPr marL="172119" indent="-172119">
              <a:buFont typeface="Arial" panose="020B0604020202020204" pitchFamily="34" charset="0"/>
              <a:buChar char="•"/>
            </a:pPr>
            <a:r>
              <a:rPr lang="en-US" b="0" baseline="0" dirty="0" smtClean="0"/>
              <a:t>JPS early, prior to IPE and frequent follow up</a:t>
            </a:r>
          </a:p>
          <a:p>
            <a:pPr marL="172119" indent="-172119" defTabSz="917966">
              <a:buFont typeface="Arial" panose="020B0604020202020204" pitchFamily="34" charset="0"/>
              <a:buChar char="•"/>
              <a:defRPr/>
            </a:pPr>
            <a:r>
              <a:rPr lang="en-US" b="0" baseline="0" dirty="0" smtClean="0"/>
              <a:t>Coordinated team approach and initial meeting within 5 days of eligibility  </a:t>
            </a:r>
          </a:p>
          <a:p>
            <a:pPr marL="172119" indent="-172119">
              <a:buFont typeface="Arial" panose="020B0604020202020204" pitchFamily="34" charset="0"/>
              <a:buChar char="•"/>
            </a:pPr>
            <a:r>
              <a:rPr lang="en-US" dirty="0" smtClean="0"/>
              <a:t>(Note re:</a:t>
            </a:r>
            <a:r>
              <a:rPr lang="en-US" baseline="0" dirty="0" smtClean="0"/>
              <a:t> Data on Deaf clients. KY data on deaf clients not included in analysis because rehab. Counselors for Deaf were not randomized to T or C. Also Deaf clients could choose preferred counselor, regardless of T or C designation.)</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12</a:t>
            </a:fld>
            <a:endParaRPr lang="en-US" dirty="0"/>
          </a:p>
        </p:txBody>
      </p:sp>
    </p:spTree>
    <p:extLst>
      <p:ext uri="{BB962C8B-B14F-4D97-AF65-F5344CB8AC3E}">
        <p14:creationId xmlns:p14="http://schemas.microsoft.com/office/powerpoint/2010/main" val="3701819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a:buFont typeface="Arial" panose="020B0604020202020204" pitchFamily="34" charset="0"/>
              <a:buChar char="•"/>
            </a:pPr>
            <a:r>
              <a:rPr lang="en-US" dirty="0" smtClean="0"/>
              <a:t>Data collected during the demonstration suggest that participants did not fully or consistently</a:t>
            </a:r>
            <a:r>
              <a:rPr lang="en-US" baseline="0" dirty="0" smtClean="0"/>
              <a:t> </a:t>
            </a:r>
            <a:r>
              <a:rPr lang="en-US" dirty="0" smtClean="0"/>
              <a:t>receive all components of the innovation. </a:t>
            </a:r>
          </a:p>
          <a:p>
            <a:pPr marL="172119" indent="-172119">
              <a:buFont typeface="Arial" panose="020B0604020202020204" pitchFamily="34" charset="0"/>
              <a:buChar char="•"/>
            </a:pPr>
            <a:r>
              <a:rPr lang="en-US" dirty="0" smtClean="0"/>
              <a:t>About 40 percent of applicants had eligibility</a:t>
            </a:r>
            <a:r>
              <a:rPr lang="en-US" baseline="0" dirty="0" smtClean="0"/>
              <a:t> determinations</a:t>
            </a:r>
            <a:r>
              <a:rPr lang="en-US" dirty="0" smtClean="0"/>
              <a:t> within</a:t>
            </a:r>
            <a:r>
              <a:rPr lang="en-US" baseline="0" dirty="0" smtClean="0"/>
              <a:t> 2 day target (60 days at usual service sites)</a:t>
            </a:r>
            <a:endParaRPr lang="en-US" dirty="0" smtClean="0"/>
          </a:p>
          <a:p>
            <a:pPr marL="172119" indent="-172119">
              <a:buFont typeface="Arial" panose="020B0604020202020204" pitchFamily="34" charset="0"/>
              <a:buChar char="•"/>
            </a:pPr>
            <a:r>
              <a:rPr lang="en-US" dirty="0" smtClean="0">
                <a:solidFill>
                  <a:schemeClr val="tx1"/>
                </a:solidFill>
              </a:rPr>
              <a:t>39 percent of those</a:t>
            </a:r>
            <a:r>
              <a:rPr lang="en-US" baseline="0" dirty="0" smtClean="0">
                <a:solidFill>
                  <a:schemeClr val="tx1"/>
                </a:solidFill>
              </a:rPr>
              <a:t> with an IPE had one within 30 days of application. </a:t>
            </a:r>
            <a:r>
              <a:rPr lang="en-US" dirty="0" smtClean="0">
                <a:solidFill>
                  <a:schemeClr val="tx1"/>
                </a:solidFill>
              </a:rPr>
              <a:t>(Overall</a:t>
            </a:r>
            <a:r>
              <a:rPr lang="en-US" baseline="0" dirty="0" smtClean="0">
                <a:solidFill>
                  <a:schemeClr val="tx1"/>
                </a:solidFill>
              </a:rPr>
              <a:t> –</a:t>
            </a:r>
            <a:r>
              <a:rPr lang="en-US" dirty="0" smtClean="0">
                <a:solidFill>
                  <a:schemeClr val="tx1"/>
                </a:solidFill>
              </a:rPr>
              <a:t>27 percent of applicants</a:t>
            </a:r>
            <a:r>
              <a:rPr lang="en-US" baseline="0" dirty="0" smtClean="0">
                <a:solidFill>
                  <a:schemeClr val="tx1"/>
                </a:solidFill>
              </a:rPr>
              <a:t> received an IPE within 30 days</a:t>
            </a:r>
            <a:r>
              <a:rPr lang="en-US" dirty="0" smtClean="0">
                <a:solidFill>
                  <a:schemeClr val="tx1"/>
                </a:solidFill>
              </a:rPr>
              <a:t>)  </a:t>
            </a:r>
            <a:endParaRPr lang="en-US" dirty="0" smtClean="0"/>
          </a:p>
          <a:p>
            <a:pPr marL="172119" indent="-172119">
              <a:buFont typeface="Arial" panose="020B0604020202020204" pitchFamily="34" charset="0"/>
              <a:buChar char="•"/>
            </a:pPr>
            <a:r>
              <a:rPr lang="en-US" dirty="0" smtClean="0"/>
              <a:t>About half (47 percent) of clients received a</a:t>
            </a:r>
            <a:r>
              <a:rPr lang="en-US" baseline="0" dirty="0" smtClean="0"/>
              <a:t> </a:t>
            </a:r>
            <a:r>
              <a:rPr lang="en-US" dirty="0" smtClean="0"/>
              <a:t>benefits summary</a:t>
            </a:r>
            <a:r>
              <a:rPr lang="en-US" baseline="0" dirty="0" smtClean="0"/>
              <a:t> and </a:t>
            </a:r>
            <a:r>
              <a:rPr lang="en-US" dirty="0" smtClean="0"/>
              <a:t>analysis. </a:t>
            </a:r>
          </a:p>
          <a:p>
            <a:pPr marL="172119" indent="-172119">
              <a:buFont typeface="Arial" panose="020B0604020202020204" pitchFamily="34" charset="0"/>
              <a:buChar char="•"/>
            </a:pPr>
            <a:r>
              <a:rPr lang="en-US" dirty="0" smtClean="0"/>
              <a:t>And although most clients participated in an initial CTA meeting (56 percent), just 27 percent of those who had a meeting completed it within the project goal of 5 business days</a:t>
            </a:r>
            <a:r>
              <a:rPr lang="en-US" baseline="0" dirty="0" smtClean="0"/>
              <a:t> of </a:t>
            </a:r>
            <a:r>
              <a:rPr lang="en-US" b="1" dirty="0" smtClean="0"/>
              <a:t>eligibility</a:t>
            </a:r>
            <a:r>
              <a:rPr lang="en-US" b="1" baseline="0" dirty="0" smtClean="0"/>
              <a:t> determination</a:t>
            </a:r>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13</a:t>
            </a:fld>
            <a:endParaRPr lang="en-US" dirty="0"/>
          </a:p>
        </p:txBody>
      </p:sp>
    </p:spTree>
    <p:extLst>
      <p:ext uri="{BB962C8B-B14F-4D97-AF65-F5344CB8AC3E}">
        <p14:creationId xmlns:p14="http://schemas.microsoft.com/office/powerpoint/2010/main" val="3748858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a:buFont typeface="Arial" panose="020B0604020202020204" pitchFamily="34" charset="0"/>
              <a:buChar char="•"/>
            </a:pPr>
            <a:r>
              <a:rPr lang="en-US" dirty="0" smtClean="0"/>
              <a:t>How did enhanced services differ from usual services in MN?</a:t>
            </a:r>
          </a:p>
          <a:p>
            <a:pPr marL="172119" indent="-172119">
              <a:buFont typeface="Arial" panose="020B0604020202020204" pitchFamily="34" charset="0"/>
              <a:buChar char="•"/>
            </a:pPr>
            <a:r>
              <a:rPr lang="en-US" dirty="0" smtClean="0"/>
              <a:t>In MN</a:t>
            </a:r>
            <a:r>
              <a:rPr lang="en-US" baseline="0" dirty="0" smtClean="0"/>
              <a:t> the pace was quicker, but faster pacing was part of their normal practice</a:t>
            </a:r>
          </a:p>
          <a:p>
            <a:pPr marL="172119" indent="-172119">
              <a:buFont typeface="Arial" panose="020B0604020202020204" pitchFamily="34" charset="0"/>
              <a:buChar char="•"/>
            </a:pPr>
            <a:r>
              <a:rPr lang="en-US" baseline="0" dirty="0" smtClean="0"/>
              <a:t>The new target for eligibility was 2 days, compared to 10 days under usual services. </a:t>
            </a:r>
          </a:p>
          <a:p>
            <a:pPr marL="172119" indent="-172119">
              <a:buFont typeface="Arial" panose="020B0604020202020204" pitchFamily="34" charset="0"/>
              <a:buChar char="•"/>
            </a:pPr>
            <a:r>
              <a:rPr lang="en-US" baseline="0" dirty="0" smtClean="0"/>
              <a:t>Similar to KY they had in-house financial planner – under usual services financial planning is contracted to a WIC</a:t>
            </a:r>
          </a:p>
          <a:p>
            <a:pPr marL="172119" indent="-172119">
              <a:buFont typeface="Arial" panose="020B0604020202020204" pitchFamily="34" charset="0"/>
              <a:buChar char="•"/>
            </a:pPr>
            <a:r>
              <a:rPr lang="en-US" dirty="0"/>
              <a:t>In-house job placement specialist was also involved earlier in the process. </a:t>
            </a:r>
          </a:p>
          <a:p>
            <a:pPr marL="172119" indent="-172119">
              <a:buFont typeface="Arial" panose="020B0604020202020204" pitchFamily="34" charset="0"/>
              <a:buChar char="•"/>
            </a:pPr>
            <a:r>
              <a:rPr lang="en-US" dirty="0"/>
              <a:t>Regarding coordinated team approach, the CRP and VRC meet and discuss under usual, but not in a formal way, nor prior to IPE</a:t>
            </a:r>
          </a:p>
          <a:p>
            <a:pPr marL="172119" indent="-172119">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14</a:t>
            </a:fld>
            <a:endParaRPr lang="en-US" dirty="0"/>
          </a:p>
        </p:txBody>
      </p:sp>
    </p:spTree>
    <p:extLst>
      <p:ext uri="{BB962C8B-B14F-4D97-AF65-F5344CB8AC3E}">
        <p14:creationId xmlns:p14="http://schemas.microsoft.com/office/powerpoint/2010/main" val="3232599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a:buFont typeface="Arial" panose="020B0604020202020204" pitchFamily="34" charset="0"/>
              <a:buChar char="•"/>
            </a:pPr>
            <a:r>
              <a:rPr lang="en-US" dirty="0" smtClean="0"/>
              <a:t>Context</a:t>
            </a:r>
            <a:r>
              <a:rPr lang="en-US" baseline="0" dirty="0" smtClean="0"/>
              <a:t> in MN differed….</a:t>
            </a:r>
          </a:p>
          <a:p>
            <a:pPr marL="172119" indent="-172119">
              <a:buFont typeface="Arial" panose="020B0604020202020204" pitchFamily="34" charset="0"/>
              <a:buChar char="•"/>
            </a:pPr>
            <a:r>
              <a:rPr lang="en-US" dirty="0" smtClean="0"/>
              <a:t>MN also</a:t>
            </a:r>
            <a:r>
              <a:rPr lang="en-US" baseline="0" dirty="0" smtClean="0"/>
              <a:t> differed in terms of practice patterns.</a:t>
            </a:r>
          </a:p>
          <a:p>
            <a:pPr marL="172119" indent="-172119">
              <a:buFont typeface="Arial" panose="020B0604020202020204" pitchFamily="34" charset="0"/>
              <a:buChar char="•"/>
            </a:pPr>
            <a:r>
              <a:rPr lang="en-US" baseline="0" dirty="0" smtClean="0"/>
              <a:t>More use of motivational interviewing, strong ties to SSA and they had already embraced the dynamic IPE approach i.e. IPE as a living document. </a:t>
            </a:r>
          </a:p>
          <a:p>
            <a:pPr marL="172119" indent="-172119">
              <a:buFont typeface="Arial" panose="020B0604020202020204" pitchFamily="34" charset="0"/>
              <a:buChar char="•"/>
            </a:pPr>
            <a:r>
              <a:rPr lang="en-US" baseline="0" dirty="0" smtClean="0"/>
              <a:t>One of their big concerns with usual services was the lack of timely benefits analysis. </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15</a:t>
            </a:fld>
            <a:endParaRPr lang="en-US" dirty="0"/>
          </a:p>
        </p:txBody>
      </p:sp>
    </p:spTree>
    <p:extLst>
      <p:ext uri="{BB962C8B-B14F-4D97-AF65-F5344CB8AC3E}">
        <p14:creationId xmlns:p14="http://schemas.microsoft.com/office/powerpoint/2010/main" val="31615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7966">
              <a:defRPr/>
            </a:pPr>
            <a:r>
              <a:rPr lang="en-US" dirty="0" smtClean="0"/>
              <a:t>Here are</a:t>
            </a:r>
            <a:r>
              <a:rPr lang="en-US" baseline="0" dirty="0" smtClean="0"/>
              <a:t> the implementation measures for MN. Data collected during the demonstration suggest that participants did not fully or consistently receive all components of the innovation. </a:t>
            </a:r>
          </a:p>
          <a:p>
            <a:pPr marL="172119" indent="-172119">
              <a:buFont typeface="Arial" panose="020B0604020202020204" pitchFamily="34" charset="0"/>
              <a:buChar char="•"/>
            </a:pPr>
            <a:r>
              <a:rPr lang="en-US" baseline="0" dirty="0" smtClean="0"/>
              <a:t>Just over a third had their eligibility determinations within the 2 day target.  (Compared to 10 days at usual practice sites)</a:t>
            </a:r>
          </a:p>
          <a:p>
            <a:pPr marL="172119" indent="-172119">
              <a:buFont typeface="Arial" panose="020B0604020202020204" pitchFamily="34" charset="0"/>
              <a:buChar char="•"/>
            </a:pPr>
            <a:r>
              <a:rPr lang="en-US" b="1" baseline="0" dirty="0" smtClean="0"/>
              <a:t>44% received </a:t>
            </a:r>
            <a:r>
              <a:rPr lang="en-US" baseline="0" dirty="0" smtClean="0"/>
              <a:t>an IPE within the project goal of 30 days (compared to 90 days),   [over </a:t>
            </a:r>
            <a:r>
              <a:rPr lang="en-US" b="1" baseline="0" dirty="0" smtClean="0"/>
              <a:t>one-third (35 percent) total of all eligible had IPE within 30 days) </a:t>
            </a:r>
          </a:p>
          <a:p>
            <a:pPr marL="172119" indent="-172119">
              <a:buFont typeface="Arial" panose="020B0604020202020204" pitchFamily="34" charset="0"/>
              <a:buChar char="•"/>
            </a:pPr>
            <a:r>
              <a:rPr lang="en-US" baseline="0" dirty="0" smtClean="0"/>
              <a:t>48 percent received a financial plan [this differs from KY where a BSA was required, if BSA was needed a CWIC referral was made</a:t>
            </a:r>
          </a:p>
          <a:p>
            <a:pPr marL="172119" indent="-172119">
              <a:buFont typeface="Arial" panose="020B0604020202020204" pitchFamily="34" charset="0"/>
              <a:buChar char="•"/>
            </a:pPr>
            <a:r>
              <a:rPr lang="en-US" baseline="0" dirty="0" smtClean="0"/>
              <a:t>Similar to Kentucky re: CTA implementation -- Although most clients (53 percent) participated in an initial CTA meeting, just 27 percent of those who had an initial CTA meeting completed it within the project goal of 7 days after application.   -- so Team meetings occurred but not as rapidly as intended. </a:t>
            </a:r>
          </a:p>
          <a:p>
            <a:pPr marL="172119" indent="-172119">
              <a:buFont typeface="Arial" panose="020B0604020202020204" pitchFamily="34" charset="0"/>
              <a:buChar char="•"/>
            </a:pPr>
            <a:r>
              <a:rPr lang="en-US" baseline="0" dirty="0" smtClean="0"/>
              <a:t>We did not report metrics for job placement services…</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16</a:t>
            </a:fld>
            <a:endParaRPr lang="en-US" dirty="0"/>
          </a:p>
        </p:txBody>
      </p:sp>
    </p:spTree>
    <p:extLst>
      <p:ext uri="{BB962C8B-B14F-4D97-AF65-F5344CB8AC3E}">
        <p14:creationId xmlns:p14="http://schemas.microsoft.com/office/powerpoint/2010/main" val="3425647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learned from the VR staff and administrators about their experiences and challenges with the innovations</a:t>
            </a:r>
          </a:p>
          <a:p>
            <a:pPr marL="172119" indent="-172119">
              <a:buFont typeface="Arial" panose="020B0604020202020204" pitchFamily="34" charset="0"/>
              <a:buChar char="•"/>
            </a:pPr>
            <a:r>
              <a:rPr lang="en-US" dirty="0"/>
              <a:t>In Kentucky, we heard a lot of great comments about KWIC involvement and their role in the demonstration. </a:t>
            </a:r>
          </a:p>
          <a:p>
            <a:pPr marL="172119" indent="-172119" defTabSz="917966">
              <a:buFont typeface="Arial" panose="020B0604020202020204" pitchFamily="34" charset="0"/>
              <a:buChar char="•"/>
              <a:defRPr/>
            </a:pPr>
            <a:r>
              <a:rPr lang="en-US" dirty="0"/>
              <a:t>Many staff noted it is one of the most beneficial components of the demonstration.</a:t>
            </a:r>
          </a:p>
          <a:p>
            <a:pPr marL="172119" indent="-172119" defTabSz="917966">
              <a:buFont typeface="Arial" panose="020B0604020202020204" pitchFamily="34" charset="0"/>
              <a:buChar char="•"/>
              <a:defRPr/>
            </a:pPr>
            <a:r>
              <a:rPr lang="en-US" dirty="0"/>
              <a:t>Similar comments about the value of financial planning in MN</a:t>
            </a:r>
            <a:endParaRPr lang="en-US" b="0" dirty="0" smtClean="0"/>
          </a:p>
          <a:p>
            <a:r>
              <a:rPr lang="en-US" b="1" dirty="0"/>
              <a:t>Later in the presentation today, Allison will present more findings on the perspective of consumers/clients’ who participated in the demonstration. </a:t>
            </a:r>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17</a:t>
            </a:fld>
            <a:endParaRPr lang="en-US" dirty="0"/>
          </a:p>
        </p:txBody>
      </p:sp>
    </p:spTree>
    <p:extLst>
      <p:ext uri="{BB962C8B-B14F-4D97-AF65-F5344CB8AC3E}">
        <p14:creationId xmlns:p14="http://schemas.microsoft.com/office/powerpoint/2010/main" val="3265464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defTabSz="917966">
              <a:buFont typeface="Arial" panose="020B0604020202020204" pitchFamily="34" charset="0"/>
              <a:buChar char="•"/>
              <a:defRPr/>
            </a:pPr>
            <a:r>
              <a:rPr lang="en-US" dirty="0"/>
              <a:t>Training was an issue for some sites and staff, especially with regard to roles – making certain everyone was on the same page with regard to client interaction, steps, and data entry. </a:t>
            </a:r>
          </a:p>
          <a:p>
            <a:pPr marL="172119" indent="-172119" defTabSz="917966">
              <a:buFont typeface="Arial" panose="020B0604020202020204" pitchFamily="34" charset="0"/>
              <a:buChar char="•"/>
              <a:defRPr/>
            </a:pPr>
            <a:r>
              <a:rPr lang="en-US" dirty="0"/>
              <a:t>Some JPS expressed a reluctance to meetings or follow-up meetings with clients in supported employment or long-term training was unnecessary</a:t>
            </a:r>
          </a:p>
          <a:p>
            <a:pPr marL="172119" indent="-172119">
              <a:buFont typeface="Arial" panose="020B0604020202020204" pitchFamily="34" charset="0"/>
              <a:buChar char="•"/>
            </a:pPr>
            <a:r>
              <a:rPr lang="en-US" dirty="0" smtClean="0"/>
              <a:t>There was a need for more guidance on intervention teaming and how to team</a:t>
            </a:r>
          </a:p>
          <a:p>
            <a:pPr marL="172119" indent="-172119" defTabSz="917966">
              <a:buFont typeface="Arial" panose="020B0604020202020204" pitchFamily="34" charset="0"/>
              <a:buChar char="•"/>
              <a:defRPr/>
            </a:pPr>
            <a:r>
              <a:rPr lang="en-US" dirty="0"/>
              <a:t>We heard from VRCs and JPS in Kentucky that it was difficult to do enhanced services while maintaining a large caseload. Staffing shortages also created tension</a:t>
            </a:r>
          </a:p>
          <a:p>
            <a:pPr marL="172119" indent="-172119" defTabSz="917966">
              <a:buFont typeface="Arial" panose="020B0604020202020204" pitchFamily="34" charset="0"/>
              <a:buChar char="•"/>
              <a:defRPr/>
            </a:pPr>
            <a:r>
              <a:rPr lang="en-US" dirty="0"/>
              <a:t>Team meetings sere logistically difficult in some sites due to distance. Some VRCs said clients expressed dissatisfaction with the frequent number of meetings and constant follow-ups. </a:t>
            </a:r>
          </a:p>
          <a:p>
            <a:pPr marL="172119" indent="-172119">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18</a:t>
            </a:fld>
            <a:endParaRPr lang="en-US" dirty="0"/>
          </a:p>
        </p:txBody>
      </p:sp>
    </p:spTree>
    <p:extLst>
      <p:ext uri="{BB962C8B-B14F-4D97-AF65-F5344CB8AC3E}">
        <p14:creationId xmlns:p14="http://schemas.microsoft.com/office/powerpoint/2010/main" val="1929101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a:buFont typeface="Arial" panose="020B0604020202020204" pitchFamily="34" charset="0"/>
              <a:buChar char="•"/>
            </a:pPr>
            <a:r>
              <a:rPr lang="en-US" sz="1100" dirty="0"/>
              <a:t>There was resistance and lack of buy-in among some VRCs in KY. Many VRCs had a slow and deliberate practice pattern and they liked it. Many did not know or about or embrace presumptive eligibility – a few believed it could lead to reprimand</a:t>
            </a:r>
          </a:p>
          <a:p>
            <a:pPr marL="172119" indent="-172119">
              <a:buFont typeface="Arial" panose="020B0604020202020204" pitchFamily="34" charset="0"/>
              <a:buChar char="•"/>
            </a:pPr>
            <a:r>
              <a:rPr lang="en-US" sz="1100" dirty="0"/>
              <a:t>In Kentucky, they could only secure three KWICs. These individuals served the entire state, resulting in substantial travel for CTA and other meetings. </a:t>
            </a:r>
          </a:p>
          <a:p>
            <a:pPr marL="172119" indent="-172119">
              <a:buFont typeface="Arial" panose="020B0604020202020204" pitchFamily="34" charset="0"/>
              <a:buChar char="•"/>
            </a:pPr>
            <a:r>
              <a:rPr lang="en-US" sz="1100" dirty="0"/>
              <a:t>KWIC caseloads were unevenly distributed (95 to 225 clients), and those with large. According to Virginia Commonwealth University’s Work Incentive Planning and Assistance National Training Center, an appropriate caseload size is approximately 100 clients for a new CWIC. </a:t>
            </a:r>
          </a:p>
          <a:p>
            <a:pPr marL="172119" indent="-172119">
              <a:buFont typeface="Arial" panose="020B0604020202020204" pitchFamily="34" charset="0"/>
              <a:buChar char="•"/>
            </a:pPr>
            <a:r>
              <a:rPr lang="en-US" sz="1100" dirty="0"/>
              <a:t>Staff described their experience with delays in receiving SSA documentation or medical documentation slowing the pace of service delivery. </a:t>
            </a:r>
          </a:p>
          <a:p>
            <a:pPr marL="172119" indent="-172119">
              <a:buFont typeface="Arial" panose="020B0604020202020204" pitchFamily="34" charset="0"/>
              <a:buChar char="•"/>
            </a:pPr>
            <a:r>
              <a:rPr lang="en-US" sz="1100" dirty="0"/>
              <a:t>JPS role was not embraced in MN initially and in fact there was some confusion about this in KY too.  </a:t>
            </a:r>
          </a:p>
          <a:p>
            <a:pPr marL="172119" indent="-172119">
              <a:buFont typeface="Arial" panose="020B0604020202020204" pitchFamily="34" charset="0"/>
              <a:buChar char="•"/>
            </a:pPr>
            <a:r>
              <a:rPr lang="en-US" sz="1100" dirty="0"/>
              <a:t>In MN, the CRP in rural areas had more local labor market information. So many preferred the usual practice of CRP compared to using a JPS. </a:t>
            </a:r>
          </a:p>
          <a:p>
            <a:pPr marL="172119" indent="-172119">
              <a:buFont typeface="Arial" panose="020B0604020202020204" pitchFamily="34" charset="0"/>
              <a:buChar char="•"/>
            </a:pPr>
            <a:endParaRPr lang="en-US" sz="2400" dirty="0"/>
          </a:p>
          <a:p>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19</a:t>
            </a:fld>
            <a:endParaRPr lang="en-US" dirty="0"/>
          </a:p>
        </p:txBody>
      </p:sp>
    </p:spTree>
    <p:extLst>
      <p:ext uri="{BB962C8B-B14F-4D97-AF65-F5344CB8AC3E}">
        <p14:creationId xmlns:p14="http://schemas.microsoft.com/office/powerpoint/2010/main" val="96508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a:buFont typeface="Arial" panose="020B0604020202020204" pitchFamily="34" charset="0"/>
              <a:buChar char="•"/>
            </a:pPr>
            <a:r>
              <a:rPr lang="en-US" dirty="0"/>
              <a:t>A few lessons from implementation – </a:t>
            </a:r>
          </a:p>
          <a:p>
            <a:pPr marL="172119" indent="-172119">
              <a:buFont typeface="Arial" panose="020B0604020202020204" pitchFamily="34" charset="0"/>
              <a:buChar char="•"/>
            </a:pPr>
            <a:r>
              <a:rPr lang="en-US" dirty="0"/>
              <a:t>Overtime and with TA, VRCs became more comfortable with faster pacing; many remarked that faster is better for all clients. </a:t>
            </a:r>
          </a:p>
          <a:p>
            <a:pPr marL="172119" indent="-172119">
              <a:buFont typeface="Arial" panose="020B0604020202020204" pitchFamily="34" charset="0"/>
              <a:buChar char="•"/>
            </a:pPr>
            <a:r>
              <a:rPr lang="en-US" dirty="0"/>
              <a:t>Training helped VRCs understand developmental IPEs </a:t>
            </a:r>
          </a:p>
          <a:p>
            <a:pPr marL="172119" indent="-172119">
              <a:buFont typeface="Arial" panose="020B0604020202020204" pitchFamily="34" charset="0"/>
              <a:buChar char="•"/>
            </a:pPr>
            <a:r>
              <a:rPr lang="en-US" dirty="0"/>
              <a:t>Many clients for SSDI are not seeking a change in status, but resources for work or long-term training and do not necessarily need a benefits summary and analysis </a:t>
            </a:r>
          </a:p>
          <a:p>
            <a:pPr marL="172119" indent="-172119">
              <a:buFont typeface="Arial" panose="020B0604020202020204" pitchFamily="34" charset="0"/>
              <a:buChar char="•"/>
            </a:pPr>
            <a:r>
              <a:rPr lang="en-US" dirty="0"/>
              <a:t>Job placement activity was not a major change – most said they were doing the same thing – just before the IPE</a:t>
            </a:r>
          </a:p>
          <a:p>
            <a:pPr marL="172119" indent="-172119">
              <a:buFont typeface="Arial" panose="020B0604020202020204" pitchFamily="34" charset="0"/>
              <a:buChar char="•"/>
            </a:pPr>
            <a:r>
              <a:rPr lang="en-US" dirty="0"/>
              <a:t>Now, I’ll turn it over to Purvi to discuss Impacts Analysis and Lessons Learned. </a:t>
            </a:r>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20</a:t>
            </a:fld>
            <a:endParaRPr lang="en-US" dirty="0"/>
          </a:p>
        </p:txBody>
      </p:sp>
    </p:spTree>
    <p:extLst>
      <p:ext uri="{BB962C8B-B14F-4D97-AF65-F5344CB8AC3E}">
        <p14:creationId xmlns:p14="http://schemas.microsoft.com/office/powerpoint/2010/main" val="19629988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21</a:t>
            </a:fld>
            <a:endParaRPr lang="en-US" dirty="0"/>
          </a:p>
        </p:txBody>
      </p:sp>
    </p:spTree>
    <p:extLst>
      <p:ext uri="{BB962C8B-B14F-4D97-AF65-F5344CB8AC3E}">
        <p14:creationId xmlns:p14="http://schemas.microsoft.com/office/powerpoint/2010/main" val="8843389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22</a:t>
            </a:fld>
            <a:endParaRPr lang="en-US"/>
          </a:p>
        </p:txBody>
      </p:sp>
    </p:spTree>
    <p:extLst>
      <p:ext uri="{BB962C8B-B14F-4D97-AF65-F5344CB8AC3E}">
        <p14:creationId xmlns:p14="http://schemas.microsoft.com/office/powerpoint/2010/main" val="366610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Slightly</a:t>
            </a:r>
            <a:r>
              <a:rPr lang="en-US" baseline="0" dirty="0" smtClean="0"/>
              <a:t> over-sampled for black women, but otherwise demographics largely match the overall population.</a:t>
            </a:r>
            <a:endParaRPr lang="en-US" dirty="0" smtClean="0"/>
          </a:p>
          <a:p>
            <a:pPr defTabSz="917966" eaLnBrk="1" fontAlgn="auto" hangingPunct="1">
              <a:spcBef>
                <a:spcPts val="0"/>
              </a:spcBef>
              <a:spcAft>
                <a:spcPts val="0"/>
              </a:spcAft>
              <a:defRPr/>
            </a:pPr>
            <a:r>
              <a:rPr lang="en-US" dirty="0" smtClean="0"/>
              <a:t>First</a:t>
            </a:r>
            <a:r>
              <a:rPr lang="en-US" baseline="0" dirty="0" smtClean="0"/>
              <a:t> column – participants in the qualitative study; second column is the SGA project overall as a reference. (all SSDI customers enrolled in VR in KY/MN during study period) </a:t>
            </a:r>
          </a:p>
          <a:p>
            <a:pPr defTabSz="917966" eaLnBrk="1" fontAlgn="auto" hangingPunct="1">
              <a:spcBef>
                <a:spcPts val="0"/>
              </a:spcBef>
              <a:spcAft>
                <a:spcPts val="0"/>
              </a:spcAft>
              <a:defRPr/>
            </a:pPr>
            <a:r>
              <a:rPr lang="en-US" baseline="0" dirty="0" smtClean="0"/>
              <a:t>Greater proportion of women. Slightly higher numbers of black/</a:t>
            </a:r>
            <a:r>
              <a:rPr lang="en-US" baseline="0" dirty="0" err="1" smtClean="0"/>
              <a:t>af</a:t>
            </a:r>
            <a:r>
              <a:rPr lang="en-US" baseline="0" dirty="0" smtClean="0"/>
              <a:t> </a:t>
            </a:r>
            <a:r>
              <a:rPr lang="en-US" baseline="0" dirty="0" err="1" smtClean="0"/>
              <a:t>amer</a:t>
            </a:r>
            <a:r>
              <a:rPr lang="en-US" baseline="0" dirty="0" smtClean="0"/>
              <a:t> participants, which is good. It would have been better to have even more diversity, but I’m glad we were able to over-sample for black participants a bit, esp. as these two states are overall very white.</a:t>
            </a:r>
            <a:endParaRPr lang="en-US" dirty="0"/>
          </a:p>
        </p:txBody>
      </p:sp>
      <p:sp>
        <p:nvSpPr>
          <p:cNvPr id="4" name="Slide Number Placeholder 3"/>
          <p:cNvSpPr>
            <a:spLocks noGrp="1"/>
          </p:cNvSpPr>
          <p:nvPr>
            <p:ph type="sldNum" sz="quarter" idx="10"/>
          </p:nvPr>
        </p:nvSpPr>
        <p:spPr/>
        <p:txBody>
          <a:bodyPr/>
          <a:lstStyle/>
          <a:p>
            <a:fld id="{2C3207C2-EE1D-4EEA-B994-36B9C98EDF3F}" type="slidenum">
              <a:rPr lang="en-US" smtClean="0"/>
              <a:t>23</a:t>
            </a:fld>
            <a:endParaRPr lang="en-US"/>
          </a:p>
        </p:txBody>
      </p:sp>
    </p:spTree>
    <p:extLst>
      <p:ext uri="{BB962C8B-B14F-4D97-AF65-F5344CB8AC3E}">
        <p14:creationId xmlns:p14="http://schemas.microsoft.com/office/powerpoint/2010/main" val="1442849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88FD5D-1F64-49A7-87B6-AC0388952909}" type="slidenum">
              <a:rPr lang="en-US" smtClean="0"/>
              <a:t>24</a:t>
            </a:fld>
            <a:endParaRPr lang="en-US"/>
          </a:p>
        </p:txBody>
      </p:sp>
    </p:spTree>
    <p:extLst>
      <p:ext uri="{BB962C8B-B14F-4D97-AF65-F5344CB8AC3E}">
        <p14:creationId xmlns:p14="http://schemas.microsoft.com/office/powerpoint/2010/main" val="3888666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7966">
              <a:defRPr/>
            </a:pPr>
            <a:r>
              <a:rPr lang="en-US" sz="1400" dirty="0"/>
              <a:t>Decisions are complex and dynamic, based on many interlocking variables:</a:t>
            </a:r>
          </a:p>
          <a:p>
            <a:pPr marL="344237" indent="-344237">
              <a:buFont typeface="Arial" panose="020B0604020202020204" pitchFamily="34" charset="0"/>
              <a:buChar char="•"/>
            </a:pPr>
            <a:r>
              <a:rPr lang="en-US" sz="1400" dirty="0"/>
              <a:t>Intrinsic motivations to work (personal &amp; social meanings of work) are at least as important as financial</a:t>
            </a:r>
          </a:p>
          <a:p>
            <a:pPr marL="344237" indent="-344237">
              <a:buFont typeface="Arial" panose="020B0604020202020204" pitchFamily="34" charset="0"/>
              <a:buChar char="•"/>
            </a:pPr>
            <a:r>
              <a:rPr lang="en-US" sz="1400" dirty="0"/>
              <a:t>Financial motivations tied to engagement in community, enhancing family and social </a:t>
            </a:r>
            <a:r>
              <a:rPr lang="en-US" sz="1400" dirty="0" smtClean="0"/>
              <a:t>connections</a:t>
            </a:r>
            <a:endParaRPr lang="en-US" sz="1400"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25</a:t>
            </a:fld>
            <a:endParaRPr lang="en-US" dirty="0"/>
          </a:p>
        </p:txBody>
      </p:sp>
    </p:spTree>
    <p:extLst>
      <p:ext uri="{BB962C8B-B14F-4D97-AF65-F5344CB8AC3E}">
        <p14:creationId xmlns:p14="http://schemas.microsoft.com/office/powerpoint/2010/main" val="34232361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mn-lt"/>
              </a:rPr>
              <a:t>[MN-T-105]:</a:t>
            </a:r>
          </a:p>
          <a:p>
            <a:r>
              <a:rPr lang="en-US" dirty="0">
                <a:latin typeface="+mn-lt"/>
              </a:rPr>
              <a:t>Married woman in her 50s. Her husband lives in another country, and they have been working with a lawyer to help him to immigrate. She currently lives with and cares for her mother and stepfather, who both have medical conditions. She has made the decision to try working again and wants to go off SSDI. </a:t>
            </a:r>
          </a:p>
          <a:p>
            <a:r>
              <a:rPr lang="en-US" dirty="0">
                <a:latin typeface="+mn-lt"/>
              </a:rPr>
              <a:t>[QUOTE]</a:t>
            </a:r>
          </a:p>
          <a:p>
            <a:r>
              <a:rPr lang="en-US" dirty="0">
                <a:latin typeface="+mn-lt"/>
              </a:rPr>
              <a:t>This quote reflects the nuanced, sometimes contradictory, but very real experience people with disabilities have when making decisions about employment. For this person, who still faces many challenges due to her disability, returning to work has financial implications, but it also carries meaning far beyond a paycheck – it means “reclaiming life.”</a:t>
            </a:r>
          </a:p>
          <a:p>
            <a:endParaRPr lang="en-US" dirty="0">
              <a:latin typeface="+mn-lt"/>
            </a:endParaRPr>
          </a:p>
          <a:p>
            <a:r>
              <a:rPr lang="en-US" dirty="0">
                <a:latin typeface="+mn-lt"/>
              </a:rPr>
              <a:t>She is worried what will happen if she loses her SSDI, but the financial/benefits counselor at VR explained that if she needs to go back on SSDI, she can. Armed with that information, she’s ready to try.</a:t>
            </a:r>
          </a:p>
        </p:txBody>
      </p:sp>
      <p:sp>
        <p:nvSpPr>
          <p:cNvPr id="4" name="Slide Number Placeholder 3"/>
          <p:cNvSpPr>
            <a:spLocks noGrp="1"/>
          </p:cNvSpPr>
          <p:nvPr>
            <p:ph type="sldNum" sz="quarter" idx="10"/>
          </p:nvPr>
        </p:nvSpPr>
        <p:spPr/>
        <p:txBody>
          <a:bodyPr/>
          <a:lstStyle/>
          <a:p>
            <a:fld id="{2C3207C2-EE1D-4EEA-B994-36B9C98EDF3F}" type="slidenum">
              <a:rPr lang="en-US" smtClean="0"/>
              <a:t>26</a:t>
            </a:fld>
            <a:endParaRPr lang="en-US"/>
          </a:p>
        </p:txBody>
      </p:sp>
    </p:spTree>
    <p:extLst>
      <p:ext uri="{BB962C8B-B14F-4D97-AF65-F5344CB8AC3E}">
        <p14:creationId xmlns:p14="http://schemas.microsoft.com/office/powerpoint/2010/main" val="5207886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Participants wanted to work, but they were often confused</a:t>
            </a:r>
            <a:r>
              <a:rPr lang="en-US" baseline="0" dirty="0" smtClean="0"/>
              <a:t> about what would happen if they did and fearful of losing the safety net of SSDI.</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27</a:t>
            </a:fld>
            <a:endParaRPr lang="en-US" dirty="0"/>
          </a:p>
        </p:txBody>
      </p:sp>
    </p:spTree>
    <p:extLst>
      <p:ext uri="{BB962C8B-B14F-4D97-AF65-F5344CB8AC3E}">
        <p14:creationId xmlns:p14="http://schemas.microsoft.com/office/powerpoint/2010/main" val="22814012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7966" eaLnBrk="1" fontAlgn="auto" hangingPunct="1">
              <a:spcBef>
                <a:spcPts val="0"/>
              </a:spcBef>
              <a:spcAft>
                <a:spcPts val="0"/>
              </a:spcAft>
              <a:defRPr/>
            </a:pPr>
            <a:r>
              <a:rPr lang="en-US" dirty="0">
                <a:latin typeface="+mn-lt"/>
              </a:rPr>
              <a:t>[KY-T-026]</a:t>
            </a:r>
          </a:p>
          <a:p>
            <a:r>
              <a:rPr lang="en-US" dirty="0" smtClean="0"/>
              <a:t>Single man in his 30s.</a:t>
            </a:r>
            <a:r>
              <a:rPr lang="en-US" baseline="0" dirty="0" smtClean="0"/>
              <a:t> This slide talking about his first encounter with VR, soon after the accident that caused his disability.</a:t>
            </a:r>
            <a:endParaRPr lang="en-US" dirty="0" smtClean="0"/>
          </a:p>
          <a:p>
            <a:r>
              <a:rPr lang="en-US" dirty="0" smtClean="0"/>
              <a:t> </a:t>
            </a:r>
            <a:endParaRPr lang="en-US" baseline="0" dirty="0" smtClean="0"/>
          </a:p>
          <a:p>
            <a:r>
              <a:rPr lang="en-US" baseline="0" dirty="0" smtClean="0"/>
              <a:t>[Mentions SSI – my understanding is that he had SSI and SSDI the first time he went to VR when he was younger but no longer has it.]</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28</a:t>
            </a:fld>
            <a:endParaRPr lang="en-US"/>
          </a:p>
        </p:txBody>
      </p:sp>
    </p:spTree>
    <p:extLst>
      <p:ext uri="{BB962C8B-B14F-4D97-AF65-F5344CB8AC3E}">
        <p14:creationId xmlns:p14="http://schemas.microsoft.com/office/powerpoint/2010/main" val="9188524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 everyone</a:t>
            </a:r>
            <a:r>
              <a:rPr lang="en-US" baseline="0" dirty="0" smtClean="0"/>
              <a:t> needed each member of the team, but having them there at the beginning helped them understand what was available. For example, a woman in her 30s whose immediate goal was education didn’t need the job placement person at first but now knows that is a service she can use in the future. A few people were fairly clear on the SSDI rules and didn’t need extensive financial and benefits counseling but most did. Also key is that many didn’t know they were confused until they got the benefits counseling.</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29</a:t>
            </a:fld>
            <a:endParaRPr lang="en-US" dirty="0"/>
          </a:p>
        </p:txBody>
      </p:sp>
    </p:spTree>
    <p:extLst>
      <p:ext uri="{BB962C8B-B14F-4D97-AF65-F5344CB8AC3E}">
        <p14:creationId xmlns:p14="http://schemas.microsoft.com/office/powerpoint/2010/main" val="6037678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a:t>
            </a:r>
            <a:r>
              <a:rPr lang="en-US" b="1" baseline="30000" dirty="0" smtClean="0"/>
              <a:t>st</a:t>
            </a:r>
            <a:r>
              <a:rPr lang="en-US" b="1" baseline="0" dirty="0" smtClean="0"/>
              <a:t> </a:t>
            </a:r>
            <a:r>
              <a:rPr lang="en-US" b="1" dirty="0" smtClean="0"/>
              <a:t>interview</a:t>
            </a:r>
            <a:r>
              <a:rPr lang="en-US" dirty="0"/>
              <a:t>, </a:t>
            </a:r>
            <a:r>
              <a:rPr lang="en-US" dirty="0" smtClean="0"/>
              <a:t>ambivalent </a:t>
            </a:r>
            <a:r>
              <a:rPr lang="en-US" dirty="0"/>
              <a:t>about even getting a job. </a:t>
            </a:r>
            <a:r>
              <a:rPr lang="en-US" dirty="0" smtClean="0"/>
              <a:t>Went to </a:t>
            </a:r>
            <a:r>
              <a:rPr lang="en-US" dirty="0"/>
              <a:t>VR on the urging </a:t>
            </a:r>
            <a:r>
              <a:rPr lang="en-US" dirty="0" smtClean="0"/>
              <a:t>of</a:t>
            </a:r>
            <a:r>
              <a:rPr lang="en-US" baseline="0" dirty="0" smtClean="0"/>
              <a:t> </a:t>
            </a:r>
            <a:r>
              <a:rPr lang="en-US" dirty="0" smtClean="0"/>
              <a:t>probation </a:t>
            </a:r>
            <a:r>
              <a:rPr lang="en-US" dirty="0"/>
              <a:t>officer, </a:t>
            </a:r>
            <a:r>
              <a:rPr lang="en-US" dirty="0" smtClean="0"/>
              <a:t>hadn’t </a:t>
            </a:r>
            <a:r>
              <a:rPr lang="en-US" dirty="0"/>
              <a:t>yet returned for a </a:t>
            </a:r>
            <a:r>
              <a:rPr lang="en-US" dirty="0" smtClean="0"/>
              <a:t>2nd mtg.</a:t>
            </a:r>
            <a:r>
              <a:rPr lang="en-US" baseline="0" dirty="0" smtClean="0"/>
              <a:t> Worried about losing SSDI and Medicare if he started working at all.</a:t>
            </a:r>
            <a:endParaRPr lang="en-US" dirty="0" smtClean="0"/>
          </a:p>
          <a:p>
            <a:pPr marL="180127" indent="-180198">
              <a:buFont typeface="Arial" panose="020B0604020202020204" pitchFamily="34" charset="0"/>
              <a:buChar char="•"/>
            </a:pPr>
            <a:r>
              <a:rPr lang="en-US" dirty="0" smtClean="0"/>
              <a:t>His</a:t>
            </a:r>
            <a:r>
              <a:rPr lang="en-US" baseline="0" dirty="0" smtClean="0"/>
              <a:t> motivations for working revolved around his family and his desire to be a “productive citizen.”</a:t>
            </a:r>
            <a:endParaRPr lang="en-US" dirty="0"/>
          </a:p>
          <a:p>
            <a:r>
              <a:rPr lang="en-US" b="1" dirty="0" smtClean="0"/>
              <a:t>2</a:t>
            </a:r>
            <a:r>
              <a:rPr lang="en-US" b="1" baseline="30000" dirty="0" smtClean="0"/>
              <a:t>nd</a:t>
            </a:r>
            <a:r>
              <a:rPr lang="en-US" b="1" dirty="0" smtClean="0"/>
              <a:t> interview</a:t>
            </a:r>
            <a:r>
              <a:rPr lang="en-US" dirty="0" smtClean="0"/>
              <a:t>, he </a:t>
            </a:r>
            <a:r>
              <a:rPr lang="en-US" dirty="0"/>
              <a:t>had gone to a follow up meeting at VR – CTA meeting. </a:t>
            </a:r>
            <a:endParaRPr lang="en-US" dirty="0" smtClean="0"/>
          </a:p>
          <a:p>
            <a:pPr marL="180127" indent="-180198">
              <a:buFont typeface="Arial" panose="020B0604020202020204" pitchFamily="34" charset="0"/>
              <a:buChar char="•"/>
            </a:pPr>
            <a:r>
              <a:rPr lang="en-US" dirty="0" smtClean="0"/>
              <a:t>He </a:t>
            </a:r>
            <a:r>
              <a:rPr lang="en-US" dirty="0"/>
              <a:t>learned from the benefits counselor that he would not lose his disability. </a:t>
            </a:r>
            <a:endParaRPr lang="en-US" dirty="0" smtClean="0"/>
          </a:p>
          <a:p>
            <a:pPr marL="180127" indent="-180198">
              <a:buFont typeface="Arial" panose="020B0604020202020204" pitchFamily="34" charset="0"/>
              <a:buChar char="•"/>
            </a:pPr>
            <a:r>
              <a:rPr lang="en-US" dirty="0" smtClean="0"/>
              <a:t>Job </a:t>
            </a:r>
            <a:r>
              <a:rPr lang="en-US" dirty="0"/>
              <a:t>placement </a:t>
            </a:r>
            <a:r>
              <a:rPr lang="en-US" dirty="0" smtClean="0"/>
              <a:t>-</a:t>
            </a:r>
            <a:r>
              <a:rPr lang="en-US" baseline="0" dirty="0" smtClean="0"/>
              <a:t> </a:t>
            </a:r>
            <a:r>
              <a:rPr lang="en-US" dirty="0" smtClean="0"/>
              <a:t>a </a:t>
            </a:r>
            <a:r>
              <a:rPr lang="en-US" dirty="0"/>
              <a:t>job </a:t>
            </a:r>
            <a:r>
              <a:rPr lang="en-US" dirty="0" smtClean="0"/>
              <a:t>opening,</a:t>
            </a:r>
            <a:r>
              <a:rPr lang="en-US" baseline="0" dirty="0" smtClean="0"/>
              <a:t> </a:t>
            </a:r>
            <a:r>
              <a:rPr lang="en-US" dirty="0" smtClean="0"/>
              <a:t>hired</a:t>
            </a:r>
            <a:r>
              <a:rPr lang="en-US" dirty="0"/>
              <a:t>. </a:t>
            </a:r>
            <a:endParaRPr lang="en-US" dirty="0" smtClean="0"/>
          </a:p>
          <a:p>
            <a:pPr marL="180127" indent="-180198">
              <a:buFont typeface="Arial" panose="020B0604020202020204" pitchFamily="34" charset="0"/>
              <a:buChar char="•"/>
            </a:pPr>
            <a:r>
              <a:rPr lang="en-US" dirty="0" smtClean="0"/>
              <a:t>One </a:t>
            </a:r>
            <a:r>
              <a:rPr lang="en-US" dirty="0"/>
              <a:t>of the things missing from his life was spending time with </a:t>
            </a:r>
            <a:r>
              <a:rPr lang="en-US" dirty="0" smtClean="0"/>
              <a:t>family</a:t>
            </a:r>
            <a:r>
              <a:rPr lang="en-US" baseline="0" dirty="0" smtClean="0"/>
              <a:t> – his aunts and uncles, sister, son and grandchildren.</a:t>
            </a:r>
            <a:endParaRPr lang="en-US" dirty="0"/>
          </a:p>
          <a:p>
            <a:r>
              <a:rPr lang="en-US" b="1" dirty="0"/>
              <a:t>3</a:t>
            </a:r>
            <a:r>
              <a:rPr lang="en-US" b="1" baseline="30000" dirty="0"/>
              <a:t>rd</a:t>
            </a:r>
            <a:r>
              <a:rPr lang="en-US" b="1" dirty="0"/>
              <a:t> </a:t>
            </a:r>
            <a:r>
              <a:rPr lang="en-US" b="1" dirty="0" smtClean="0"/>
              <a:t>interview</a:t>
            </a:r>
            <a:r>
              <a:rPr lang="en-US" dirty="0" smtClean="0"/>
              <a:t>,</a:t>
            </a:r>
            <a:r>
              <a:rPr lang="en-US" baseline="0" dirty="0" smtClean="0"/>
              <a:t> he had been at his job </a:t>
            </a:r>
            <a:r>
              <a:rPr lang="en-US" dirty="0" smtClean="0"/>
              <a:t>5 months, </a:t>
            </a:r>
          </a:p>
          <a:p>
            <a:pPr marL="180198" indent="-180198">
              <a:buFont typeface="Arial" panose="020B0604020202020204" pitchFamily="34" charset="0"/>
              <a:buChar char="•"/>
            </a:pPr>
            <a:r>
              <a:rPr lang="en-US" dirty="0" smtClean="0"/>
              <a:t>still </a:t>
            </a:r>
            <a:r>
              <a:rPr lang="en-US" dirty="0"/>
              <a:t>spending time with his family. </a:t>
            </a:r>
            <a:endParaRPr lang="en-US" dirty="0" smtClean="0"/>
          </a:p>
          <a:p>
            <a:pPr marL="180198" indent="-180198">
              <a:buFont typeface="Arial" panose="020B0604020202020204" pitchFamily="34" charset="0"/>
              <a:buChar char="•"/>
            </a:pPr>
            <a:r>
              <a:rPr lang="en-US" dirty="0" smtClean="0"/>
              <a:t>He even helped</a:t>
            </a:r>
            <a:r>
              <a:rPr lang="en-US" baseline="0" dirty="0" smtClean="0"/>
              <a:t> his son get a job with his employer. </a:t>
            </a:r>
          </a:p>
          <a:p>
            <a:pPr marL="180198" indent="-180198">
              <a:buFont typeface="Arial" panose="020B0604020202020204" pitchFamily="34" charset="0"/>
              <a:buChar char="•"/>
            </a:pPr>
            <a:r>
              <a:rPr lang="en-US" baseline="0" dirty="0" smtClean="0"/>
              <a:t>He may not work full-time and go off SSDI, but is now considering.</a:t>
            </a:r>
            <a:endParaRPr lang="en-US" dirty="0"/>
          </a:p>
        </p:txBody>
      </p:sp>
      <p:sp>
        <p:nvSpPr>
          <p:cNvPr id="4" name="Slide Number Placeholder 3"/>
          <p:cNvSpPr>
            <a:spLocks noGrp="1"/>
          </p:cNvSpPr>
          <p:nvPr>
            <p:ph type="sldNum" sz="quarter" idx="10"/>
          </p:nvPr>
        </p:nvSpPr>
        <p:spPr/>
        <p:txBody>
          <a:bodyPr/>
          <a:lstStyle/>
          <a:p>
            <a:fld id="{C588FD5D-1F64-49A7-87B6-AC0388952909}" type="slidenum">
              <a:rPr lang="en-US" smtClean="0"/>
              <a:t>30</a:t>
            </a:fld>
            <a:endParaRPr lang="en-US"/>
          </a:p>
        </p:txBody>
      </p:sp>
    </p:spTree>
    <p:extLst>
      <p:ext uri="{BB962C8B-B14F-4D97-AF65-F5344CB8AC3E}">
        <p14:creationId xmlns:p14="http://schemas.microsoft.com/office/powerpoint/2010/main" val="32674680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SSDI and</a:t>
            </a:r>
            <a:r>
              <a:rPr lang="en-US" baseline="0" dirty="0" smtClean="0"/>
              <a:t> work incentives rules are very confusing, even for the most savvy – including a participant with an MBA and another with an HR background.</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31</a:t>
            </a:fld>
            <a:endParaRPr lang="en-US" dirty="0"/>
          </a:p>
        </p:txBody>
      </p:sp>
    </p:spTree>
    <p:extLst>
      <p:ext uri="{BB962C8B-B14F-4D97-AF65-F5344CB8AC3E}">
        <p14:creationId xmlns:p14="http://schemas.microsoft.com/office/powerpoint/2010/main" val="1060433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smtClean="0"/>
              <a:t>This</a:t>
            </a:r>
            <a:r>
              <a:rPr lang="en-US" baseline="0" dirty="0" smtClean="0"/>
              <a:t> person had an MBA, so he was pretty savvy about financial planning, and he might not have asked for financial counseling, but he was still confused about the work incentives rules and really benefitted from the financial planning process.</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32</a:t>
            </a:fld>
            <a:endParaRPr lang="en-US" dirty="0"/>
          </a:p>
        </p:txBody>
      </p:sp>
    </p:spTree>
    <p:extLst>
      <p:ext uri="{BB962C8B-B14F-4D97-AF65-F5344CB8AC3E}">
        <p14:creationId xmlns:p14="http://schemas.microsoft.com/office/powerpoint/2010/main" val="36463544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7966">
              <a:defRPr/>
            </a:pPr>
            <a:r>
              <a:rPr lang="en-US" dirty="0" smtClean="0"/>
              <a:t>VR</a:t>
            </a:r>
            <a:r>
              <a:rPr lang="en-US" baseline="0" dirty="0" smtClean="0"/>
              <a:t> staff should r</a:t>
            </a:r>
            <a:r>
              <a:rPr lang="en-US" dirty="0" smtClean="0"/>
              <a:t>ecognize that motivations to work may not always be pragmatic or obvious</a:t>
            </a:r>
            <a:r>
              <a:rPr lang="en-US" baseline="0" dirty="0" smtClean="0"/>
              <a:t> and ask open-ended questions to learn their needs, desires, and fears.</a:t>
            </a:r>
            <a:endParaRPr lang="en-US" dirty="0" smtClean="0"/>
          </a:p>
          <a:p>
            <a:pPr defTabSz="917966">
              <a:defRPr/>
            </a:pPr>
            <a:r>
              <a:rPr lang="en-US" dirty="0" smtClean="0"/>
              <a:t>Flexible, dynamic IPE works for customers whose situation, needs, and outlook change. </a:t>
            </a:r>
          </a:p>
          <a:p>
            <a:pPr defTabSz="917966">
              <a:defRPr/>
            </a:pPr>
            <a:r>
              <a:rPr lang="en-US" dirty="0" smtClean="0"/>
              <a:t>	– e.g., many saw working part-time as a trial, to see if they could eventually going off SSDI. </a:t>
            </a:r>
          </a:p>
          <a:p>
            <a:pPr defTabSz="917966">
              <a:defRPr/>
            </a:pPr>
            <a:r>
              <a:rPr lang="en-US" dirty="0" smtClean="0"/>
              <a:t>Pacing can be increased. People go to VR when they are ready to work. </a:t>
            </a:r>
          </a:p>
          <a:p>
            <a:r>
              <a:rPr lang="en-US" dirty="0" smtClean="0"/>
              <a:t>	- Everyone was ready to work, some would even forgo the “perfect” fit for some opportunity to re-engage socially. No</a:t>
            </a:r>
            <a:r>
              <a:rPr lang="en-US" baseline="0" dirty="0" smtClean="0"/>
              <a:t> one was overwhelmed by the pace, and most were frustrated by how slowly the process was going, even with the increased pacing.</a:t>
            </a: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33</a:t>
            </a:fld>
            <a:endParaRPr lang="en-US" dirty="0"/>
          </a:p>
        </p:txBody>
      </p:sp>
    </p:spTree>
    <p:extLst>
      <p:ext uri="{BB962C8B-B14F-4D97-AF65-F5344CB8AC3E}">
        <p14:creationId xmlns:p14="http://schemas.microsoft.com/office/powerpoint/2010/main" val="4688648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36</a:t>
            </a:fld>
            <a:endParaRPr lang="en-US" dirty="0"/>
          </a:p>
        </p:txBody>
      </p:sp>
    </p:spTree>
    <p:extLst>
      <p:ext uri="{BB962C8B-B14F-4D97-AF65-F5344CB8AC3E}">
        <p14:creationId xmlns:p14="http://schemas.microsoft.com/office/powerpoint/2010/main" val="24341999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2119" indent="-172119">
              <a:buFontTx/>
              <a:buChar char="-"/>
            </a:pPr>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37</a:t>
            </a:fld>
            <a:endParaRPr lang="en-US" dirty="0"/>
          </a:p>
        </p:txBody>
      </p:sp>
    </p:spTree>
    <p:extLst>
      <p:ext uri="{BB962C8B-B14F-4D97-AF65-F5344CB8AC3E}">
        <p14:creationId xmlns:p14="http://schemas.microsoft.com/office/powerpoint/2010/main" val="1083704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39</a:t>
            </a:fld>
            <a:endParaRPr lang="en-US" dirty="0"/>
          </a:p>
        </p:txBody>
      </p:sp>
    </p:spTree>
    <p:extLst>
      <p:ext uri="{BB962C8B-B14F-4D97-AF65-F5344CB8AC3E}">
        <p14:creationId xmlns:p14="http://schemas.microsoft.com/office/powerpoint/2010/main" val="4654945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A2EC10AC-6804-4420-81E7-A8E1421417D7}" type="slidenum">
              <a:rPr lang="en-US" smtClean="0"/>
              <a:pPr>
                <a:defRPr/>
              </a:pPr>
              <a:t>44</a:t>
            </a:fld>
            <a:endParaRPr lang="en-US" dirty="0"/>
          </a:p>
        </p:txBody>
      </p:sp>
    </p:spTree>
    <p:extLst>
      <p:ext uri="{BB962C8B-B14F-4D97-AF65-F5344CB8AC3E}">
        <p14:creationId xmlns:p14="http://schemas.microsoft.com/office/powerpoint/2010/main" val="5556008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106" name="Rectangle 34"/>
          <p:cNvSpPr>
            <a:spLocks noGrp="1" noChangeArrowheads="1"/>
          </p:cNvSpPr>
          <p:nvPr>
            <p:ph type="ctrTitle" sz="quarter"/>
          </p:nvPr>
        </p:nvSpPr>
        <p:spPr>
          <a:xfrm>
            <a:off x="685800" y="1725613"/>
            <a:ext cx="7772400" cy="1190625"/>
          </a:xfrm>
          <a:effectLst/>
        </p:spPr>
        <p:txBody>
          <a:bodyPr>
            <a:spAutoFit/>
          </a:bodyPr>
          <a:lstStyle>
            <a:lvl1pPr>
              <a:defRPr>
                <a:solidFill>
                  <a:schemeClr val="bg2"/>
                </a:solidFill>
              </a:defRPr>
            </a:lvl1pPr>
          </a:lstStyle>
          <a:p>
            <a:r>
              <a:rPr lang="en-US" smtClean="0"/>
              <a:t>Click to edit Master title style</a:t>
            </a:r>
            <a:endParaRPr lang="en-US" dirty="0"/>
          </a:p>
        </p:txBody>
      </p:sp>
      <p:sp>
        <p:nvSpPr>
          <p:cNvPr id="3107" name="Rectangle 35"/>
          <p:cNvSpPr>
            <a:spLocks noGrp="1" noChangeArrowheads="1"/>
          </p:cNvSpPr>
          <p:nvPr>
            <p:ph type="subTitle" sz="quarter" idx="1"/>
          </p:nvPr>
        </p:nvSpPr>
        <p:spPr>
          <a:xfrm>
            <a:off x="1371600" y="3276600"/>
            <a:ext cx="6400800" cy="1511300"/>
          </a:xfrm>
          <a:effectLst/>
        </p:spPr>
        <p:txBody>
          <a:bodyPr anchor="t" anchorCtr="0"/>
          <a:lstStyle>
            <a:lvl1pPr marL="0" indent="0" algn="ctr">
              <a:buFont typeface="Wingdings" pitchFamily="2" charset="2"/>
              <a:buNone/>
              <a:defRPr sz="3200">
                <a:solidFill>
                  <a:schemeClr val="bg2"/>
                </a:solidFill>
              </a:defRPr>
            </a:lvl1pPr>
          </a:lstStyle>
          <a:p>
            <a:r>
              <a:rPr lang="en-US" smtClean="0"/>
              <a:t>Click to edit Master subtitle style</a:t>
            </a:r>
            <a:endParaRPr lang="en-US" dirty="0"/>
          </a:p>
        </p:txBody>
      </p:sp>
      <p:pic>
        <p:nvPicPr>
          <p:cNvPr id="2052" name="Picture 4" descr="Image result for institute for community inclusion"/>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104092" y="5648359"/>
            <a:ext cx="1524653" cy="8595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2889794" y="5530688"/>
            <a:ext cx="1371600" cy="1047750"/>
          </a:xfrm>
          <a:prstGeom prst="rect">
            <a:avLst/>
          </a:prstGeom>
          <a:noFill/>
        </p:spPr>
      </p:pic>
    </p:spTree>
    <p:extLst>
      <p:ext uri="{BB962C8B-B14F-4D97-AF65-F5344CB8AC3E}">
        <p14:creationId xmlns:p14="http://schemas.microsoft.com/office/powerpoint/2010/main" val="211236350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3"/>
          <p:cNvSpPr>
            <a:spLocks noGrp="1"/>
          </p:cNvSpPr>
          <p:nvPr>
            <p:ph type="title"/>
          </p:nvPr>
        </p:nvSpPr>
        <p:spPr>
          <a:xfrm>
            <a:off x="301625" y="247316"/>
            <a:ext cx="8448675" cy="1143000"/>
          </a:xfrm>
        </p:spPr>
        <p:txBody>
          <a:bodyPr/>
          <a:lstStyle>
            <a:lvl1pPr>
              <a:defRPr sz="3000"/>
            </a:lvl1pPr>
          </a:lstStyle>
          <a:p>
            <a:r>
              <a:rPr lang="en-US" dirty="0" smtClean="0"/>
              <a:t>Click to edit Master title style</a:t>
            </a:r>
            <a:endParaRPr lang="en-US" dirty="0"/>
          </a:p>
        </p:txBody>
      </p:sp>
      <p:sp>
        <p:nvSpPr>
          <p:cNvPr id="3" name="Content Placeholder 2"/>
          <p:cNvSpPr>
            <a:spLocks noGrp="1"/>
          </p:cNvSpPr>
          <p:nvPr>
            <p:ph idx="1"/>
          </p:nvPr>
        </p:nvSpPr>
        <p:spPr>
          <a:effectLst/>
        </p:spPr>
        <p:txBody>
          <a:bodyPr/>
          <a:lstStyle>
            <a:lvl1pPr>
              <a:spcBef>
                <a:spcPts val="600"/>
              </a:spcBef>
              <a:spcAft>
                <a:spcPts val="600"/>
              </a:spcAft>
              <a:buClr>
                <a:srgbClr val="C00000"/>
              </a:buClr>
              <a:defRPr sz="2400"/>
            </a:lvl1pPr>
            <a:lvl2pPr>
              <a:spcBef>
                <a:spcPts val="300"/>
              </a:spcBef>
              <a:spcAft>
                <a:spcPts val="300"/>
              </a:spcAft>
              <a:defRPr sz="2000"/>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2424730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1298080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8000" y="1841500"/>
            <a:ext cx="4044950" cy="4114800"/>
          </a:xfrm>
        </p:spPr>
        <p:txBody>
          <a:bodyPr/>
          <a:lstStyle>
            <a:lvl1pPr>
              <a:defRPr sz="2500"/>
            </a:lvl1pPr>
            <a:lvl2pPr>
              <a:defRPr sz="21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5350" y="1841500"/>
            <a:ext cx="4044950" cy="4114800"/>
          </a:xfrm>
        </p:spPr>
        <p:txBody>
          <a:bodyPr/>
          <a:lstStyle>
            <a:lvl1pPr>
              <a:defRPr sz="2500"/>
            </a:lvl1pPr>
            <a:lvl2pPr>
              <a:defRPr sz="21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213590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2500"/>
            </a:lvl1pPr>
            <a:lvl2pPr>
              <a:defRPr sz="21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2595720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lvl1pPr>
              <a:defRPr sz="2500"/>
            </a:lvl1pPr>
            <a:lvl2pPr>
              <a:defRPr sz="2100"/>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52321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1475" y="203200"/>
            <a:ext cx="2111375" cy="57531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4175" y="203200"/>
            <a:ext cx="6184900" cy="5753100"/>
          </a:xfrm>
        </p:spPr>
        <p:txBody>
          <a:bodyPr vert="eaVert"/>
          <a:lstStyle>
            <a:lvl1pPr>
              <a:defRPr sz="2500"/>
            </a:lvl1pPr>
            <a:lvl2pPr>
              <a:defRPr sz="2100"/>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57396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4175" y="203200"/>
            <a:ext cx="8448675" cy="1143000"/>
          </a:xfrm>
        </p:spPr>
        <p:txBody>
          <a:bodyPr/>
          <a:lstStyle>
            <a:lvl1pPr>
              <a:defRPr sz="3000"/>
            </a:lvl1pPr>
          </a:lstStyle>
          <a:p>
            <a:r>
              <a:rPr lang="en-US" smtClean="0"/>
              <a:t>Click to edit Master title style</a:t>
            </a:r>
            <a:endParaRPr lang="en-US"/>
          </a:p>
        </p:txBody>
      </p:sp>
      <p:sp>
        <p:nvSpPr>
          <p:cNvPr id="3" name="Content Placeholder 2"/>
          <p:cNvSpPr>
            <a:spLocks noGrp="1"/>
          </p:cNvSpPr>
          <p:nvPr>
            <p:ph idx="1"/>
          </p:nvPr>
        </p:nvSpPr>
        <p:spPr>
          <a:xfrm>
            <a:off x="508000" y="1841500"/>
            <a:ext cx="8242300" cy="4114800"/>
          </a:xfrm>
        </p:spPr>
        <p:txBody>
          <a:bodyPr/>
          <a:lstStyle>
            <a:lvl1pPr>
              <a:defRPr sz="2500"/>
            </a:lvl1pPr>
            <a:lvl2pPr>
              <a:defRPr sz="2100"/>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337344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pyright Last Slide">
    <p:spTree>
      <p:nvGrpSpPr>
        <p:cNvPr id="1" name=""/>
        <p:cNvGrpSpPr/>
        <p:nvPr/>
      </p:nvGrpSpPr>
      <p:grpSpPr>
        <a:xfrm>
          <a:off x="0" y="0"/>
          <a:ext cx="0" cy="0"/>
          <a:chOff x="0" y="0"/>
          <a:chExt cx="0" cy="0"/>
        </a:xfrm>
      </p:grpSpPr>
      <p:sp>
        <p:nvSpPr>
          <p:cNvPr id="2" name="Title 1"/>
          <p:cNvSpPr>
            <a:spLocks noGrp="1"/>
          </p:cNvSpPr>
          <p:nvPr>
            <p:ph type="title"/>
          </p:nvPr>
        </p:nvSpPr>
        <p:spPr>
          <a:xfrm>
            <a:off x="384175" y="203200"/>
            <a:ext cx="8448675" cy="1143000"/>
          </a:xfrm>
        </p:spPr>
        <p:txBody>
          <a:bodyPr/>
          <a:lstStyle/>
          <a:p>
            <a:r>
              <a:rPr lang="en-US" smtClean="0"/>
              <a:t>Click to edit Master title style</a:t>
            </a:r>
            <a:endParaRPr lang="en-US"/>
          </a:p>
        </p:txBody>
      </p:sp>
      <p:sp>
        <p:nvSpPr>
          <p:cNvPr id="3" name="Content Placeholder 2"/>
          <p:cNvSpPr>
            <a:spLocks noGrp="1"/>
          </p:cNvSpPr>
          <p:nvPr>
            <p:ph idx="1"/>
          </p:nvPr>
        </p:nvSpPr>
        <p:spPr>
          <a:xfrm>
            <a:off x="508000" y="1841500"/>
            <a:ext cx="8242300" cy="4114800"/>
          </a:xfrm>
        </p:spPr>
        <p:txBody>
          <a:bodyPr/>
          <a:lstStyle>
            <a:lvl1pPr>
              <a:defRPr sz="2500"/>
            </a:lvl1pPr>
            <a:lvl2pPr>
              <a:defRPr sz="2100"/>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47695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8" name="Rectangle 34"/>
          <p:cNvSpPr>
            <a:spLocks noGrp="1" noChangeArrowheads="1"/>
          </p:cNvSpPr>
          <p:nvPr>
            <p:ph type="title"/>
          </p:nvPr>
        </p:nvSpPr>
        <p:spPr bwMode="auto">
          <a:xfrm>
            <a:off x="384175" y="203200"/>
            <a:ext cx="8448675" cy="1143000"/>
          </a:xfrm>
          <a:prstGeom prst="rect">
            <a:avLst/>
          </a:prstGeom>
          <a:noFill/>
          <a:ln w="9525">
            <a:noFill/>
            <a:miter lim="800000"/>
            <a:headEnd/>
            <a:tailEnd/>
          </a:ln>
        </p:spPr>
        <p:txBody>
          <a:bodyPr vert="horz" wrap="square" lIns="92075" tIns="46038" rIns="92075" bIns="46038" numCol="1" anchor="b" anchorCtr="1" compatLnSpc="1">
            <a:prstTxWarp prst="textNoShape">
              <a:avLst/>
            </a:prstTxWarp>
          </a:bodyPr>
          <a:lstStyle/>
          <a:p>
            <a:pPr lvl="0"/>
            <a:r>
              <a:rPr lang="en-US" smtClean="0"/>
              <a:t>Click to edit Master title style</a:t>
            </a:r>
          </a:p>
        </p:txBody>
      </p:sp>
      <p:sp>
        <p:nvSpPr>
          <p:cNvPr id="1029" name="Rectangle 35"/>
          <p:cNvSpPr>
            <a:spLocks noGrp="1" noChangeArrowheads="1"/>
          </p:cNvSpPr>
          <p:nvPr>
            <p:ph type="body" idx="1"/>
          </p:nvPr>
        </p:nvSpPr>
        <p:spPr bwMode="auto">
          <a:xfrm>
            <a:off x="508000" y="1841500"/>
            <a:ext cx="8242300" cy="4114800"/>
          </a:xfrm>
          <a:prstGeom prst="rect">
            <a:avLst/>
          </a:prstGeom>
          <a:noFill/>
          <a:ln w="9525">
            <a:noFill/>
            <a:miter lim="800000"/>
            <a:headEnd/>
            <a:tailEnd/>
          </a:ln>
        </p:spPr>
        <p:txBody>
          <a:bodyPr vert="horz" wrap="square" lIns="92075" tIns="46038" rIns="92075" bIns="46038" numCol="1" anchor="ctr" anchorCtr="1"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065" name="Line 41"/>
          <p:cNvSpPr>
            <a:spLocks noChangeShapeType="1"/>
          </p:cNvSpPr>
          <p:nvPr/>
        </p:nvSpPr>
        <p:spPr bwMode="auto">
          <a:xfrm>
            <a:off x="393700" y="1377950"/>
            <a:ext cx="8461375" cy="1588"/>
          </a:xfrm>
          <a:prstGeom prst="line">
            <a:avLst/>
          </a:prstGeom>
          <a:noFill/>
          <a:ln w="38100">
            <a:solidFill>
              <a:srgbClr val="00436E"/>
            </a:solidFill>
            <a:round/>
            <a:headEnd type="none" w="sm" len="sm"/>
            <a:tailEnd type="none" w="sm" len="sm"/>
          </a:ln>
          <a:effectLst>
            <a:outerShdw dist="17961" dir="2700000" algn="ctr" rotWithShape="0">
              <a:schemeClr val="bg2"/>
            </a:outerShdw>
          </a:effectLst>
        </p:spPr>
        <p:txBody>
          <a:bodyPr wrap="none" anchor="ctr"/>
          <a:lstStyle/>
          <a:p>
            <a:pPr>
              <a:spcBef>
                <a:spcPct val="0"/>
              </a:spcBef>
              <a:defRPr/>
            </a:pPr>
            <a:endParaRPr lang="en-US" sz="2400" b="0" dirty="0">
              <a:solidFill>
                <a:srgbClr val="151515"/>
              </a:solidFill>
              <a:latin typeface="Times New Roman" charset="0"/>
            </a:endParaRPr>
          </a:p>
        </p:txBody>
      </p:sp>
      <p:sp>
        <p:nvSpPr>
          <p:cNvPr id="1070" name="Line 46"/>
          <p:cNvSpPr>
            <a:spLocks noChangeShapeType="1"/>
          </p:cNvSpPr>
          <p:nvPr/>
        </p:nvSpPr>
        <p:spPr bwMode="auto">
          <a:xfrm>
            <a:off x="222250" y="6071898"/>
            <a:ext cx="8705850" cy="0"/>
          </a:xfrm>
          <a:prstGeom prst="line">
            <a:avLst/>
          </a:prstGeom>
          <a:noFill/>
          <a:ln w="19050">
            <a:solidFill>
              <a:schemeClr val="bg2"/>
            </a:solidFill>
            <a:round/>
            <a:headEnd type="none" w="sm" len="sm"/>
            <a:tailEnd type="none" w="sm" len="sm"/>
          </a:ln>
          <a:effectLst/>
        </p:spPr>
        <p:txBody>
          <a:bodyPr/>
          <a:lstStyle/>
          <a:p>
            <a:pPr>
              <a:spcBef>
                <a:spcPct val="0"/>
              </a:spcBef>
              <a:defRPr/>
            </a:pPr>
            <a:endParaRPr lang="en-US" sz="2400" b="0" dirty="0">
              <a:solidFill>
                <a:srgbClr val="151515"/>
              </a:solidFill>
              <a:latin typeface="Times New Roman" charset="0"/>
            </a:endParaRPr>
          </a:p>
        </p:txBody>
      </p:sp>
      <p:sp>
        <p:nvSpPr>
          <p:cNvPr id="2" name="TextBox 1"/>
          <p:cNvSpPr txBox="1"/>
          <p:nvPr userDrawn="1"/>
        </p:nvSpPr>
        <p:spPr>
          <a:xfrm>
            <a:off x="4274050" y="6441897"/>
            <a:ext cx="523982" cy="276999"/>
          </a:xfrm>
          <a:prstGeom prst="rect">
            <a:avLst/>
          </a:prstGeom>
          <a:noFill/>
        </p:spPr>
        <p:txBody>
          <a:bodyPr wrap="square" rtlCol="0">
            <a:spAutoFit/>
          </a:bodyPr>
          <a:lstStyle/>
          <a:p>
            <a:fld id="{1FB987C3-7E0F-4D0E-9AF2-F723B518BAC8}" type="slidenum">
              <a:rPr lang="en-US" b="0" smtClean="0">
                <a:solidFill>
                  <a:srgbClr val="151515"/>
                </a:solidFill>
              </a:rPr>
              <a:pPr/>
              <a:t>‹#›</a:t>
            </a:fld>
            <a:endParaRPr lang="en-US" b="0" dirty="0">
              <a:solidFill>
                <a:srgbClr val="151515"/>
              </a:solidFill>
            </a:endParaRPr>
          </a:p>
        </p:txBody>
      </p:sp>
      <p:pic>
        <p:nvPicPr>
          <p:cNvPr id="3" name="Picture 2" descr="Image result for institute for community inclusion"/>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7744677" y="6147099"/>
            <a:ext cx="1005623" cy="56692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p:cNvPicPr>
            <a:picLocks noChangeAspect="1" noChangeArrowheads="1"/>
          </p:cNvPicPr>
          <p:nvPr userDrawn="1"/>
        </p:nvPicPr>
        <p:blipFill>
          <a:blip r:embed="rId12">
            <a:extLst>
              <a:ext uri="{28A0092B-C50C-407E-A947-70E740481C1C}">
                <a14:useLocalDpi xmlns:a14="http://schemas.microsoft.com/office/drawing/2010/main" val="0"/>
              </a:ext>
            </a:extLst>
          </a:blip>
          <a:stretch>
            <a:fillRect/>
          </a:stretch>
        </p:blipFill>
        <p:spPr bwMode="auto">
          <a:xfrm>
            <a:off x="478183" y="6135197"/>
            <a:ext cx="905256" cy="691515"/>
          </a:xfrm>
          <a:prstGeom prst="rect">
            <a:avLst/>
          </a:prstGeom>
          <a:noFill/>
        </p:spPr>
      </p:pic>
    </p:spTree>
    <p:extLst>
      <p:ext uri="{BB962C8B-B14F-4D97-AF65-F5344CB8AC3E}">
        <p14:creationId xmlns:p14="http://schemas.microsoft.com/office/powerpoint/2010/main" val="529719732"/>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Lst>
  <p:timing>
    <p:tnLst>
      <p:par>
        <p:cTn id="1" dur="indefinite" restart="never" nodeType="tmRoot"/>
      </p:par>
    </p:tnLst>
  </p:timing>
  <p:hf hdr="0" dt="0"/>
  <p:txStyles>
    <p:titleStyle>
      <a:lvl1pPr algn="ctr" rtl="0" eaLnBrk="1" fontAlgn="base" hangingPunct="1">
        <a:spcBef>
          <a:spcPct val="0"/>
        </a:spcBef>
        <a:spcAft>
          <a:spcPct val="0"/>
        </a:spcAft>
        <a:defRPr sz="3000" b="1">
          <a:solidFill>
            <a:schemeClr val="bg2"/>
          </a:solidFill>
          <a:latin typeface="+mj-lt"/>
          <a:ea typeface="+mj-ea"/>
          <a:cs typeface="+mj-cs"/>
        </a:defRPr>
      </a:lvl1pPr>
      <a:lvl2pPr algn="ctr" rtl="0" eaLnBrk="1" fontAlgn="base" hangingPunct="1">
        <a:spcBef>
          <a:spcPct val="0"/>
        </a:spcBef>
        <a:spcAft>
          <a:spcPct val="0"/>
        </a:spcAft>
        <a:defRPr sz="3600" b="1">
          <a:solidFill>
            <a:schemeClr val="bg2"/>
          </a:solidFill>
          <a:latin typeface="Arial" charset="0"/>
        </a:defRPr>
      </a:lvl2pPr>
      <a:lvl3pPr algn="ctr" rtl="0" eaLnBrk="1" fontAlgn="base" hangingPunct="1">
        <a:spcBef>
          <a:spcPct val="0"/>
        </a:spcBef>
        <a:spcAft>
          <a:spcPct val="0"/>
        </a:spcAft>
        <a:defRPr sz="3600" b="1">
          <a:solidFill>
            <a:schemeClr val="bg2"/>
          </a:solidFill>
          <a:latin typeface="Arial" charset="0"/>
        </a:defRPr>
      </a:lvl3pPr>
      <a:lvl4pPr algn="ctr" rtl="0" eaLnBrk="1" fontAlgn="base" hangingPunct="1">
        <a:spcBef>
          <a:spcPct val="0"/>
        </a:spcBef>
        <a:spcAft>
          <a:spcPct val="0"/>
        </a:spcAft>
        <a:defRPr sz="3600" b="1">
          <a:solidFill>
            <a:schemeClr val="bg2"/>
          </a:solidFill>
          <a:latin typeface="Arial" charset="0"/>
        </a:defRPr>
      </a:lvl4pPr>
      <a:lvl5pPr algn="ctr" rtl="0" eaLnBrk="1" fontAlgn="base" hangingPunct="1">
        <a:spcBef>
          <a:spcPct val="0"/>
        </a:spcBef>
        <a:spcAft>
          <a:spcPct val="0"/>
        </a:spcAft>
        <a:defRPr sz="3600" b="1">
          <a:solidFill>
            <a:schemeClr val="bg2"/>
          </a:solidFill>
          <a:latin typeface="Arial" charset="0"/>
        </a:defRPr>
      </a:lvl5pPr>
      <a:lvl6pPr marL="457200" algn="ctr" rtl="0" eaLnBrk="1" fontAlgn="base" hangingPunct="1">
        <a:spcBef>
          <a:spcPct val="0"/>
        </a:spcBef>
        <a:spcAft>
          <a:spcPct val="0"/>
        </a:spcAft>
        <a:defRPr sz="3600" b="1">
          <a:solidFill>
            <a:srgbClr val="FFFF00"/>
          </a:solidFill>
          <a:latin typeface="Arial" charset="0"/>
        </a:defRPr>
      </a:lvl6pPr>
      <a:lvl7pPr marL="914400" algn="ctr" rtl="0" eaLnBrk="1" fontAlgn="base" hangingPunct="1">
        <a:spcBef>
          <a:spcPct val="0"/>
        </a:spcBef>
        <a:spcAft>
          <a:spcPct val="0"/>
        </a:spcAft>
        <a:defRPr sz="3600" b="1">
          <a:solidFill>
            <a:srgbClr val="FFFF00"/>
          </a:solidFill>
          <a:latin typeface="Arial" charset="0"/>
        </a:defRPr>
      </a:lvl7pPr>
      <a:lvl8pPr marL="1371600" algn="ctr" rtl="0" eaLnBrk="1" fontAlgn="base" hangingPunct="1">
        <a:spcBef>
          <a:spcPct val="0"/>
        </a:spcBef>
        <a:spcAft>
          <a:spcPct val="0"/>
        </a:spcAft>
        <a:defRPr sz="3600" b="1">
          <a:solidFill>
            <a:srgbClr val="FFFF00"/>
          </a:solidFill>
          <a:latin typeface="Arial" charset="0"/>
        </a:defRPr>
      </a:lvl8pPr>
      <a:lvl9pPr marL="1828800" algn="ctr" rtl="0" eaLnBrk="1" fontAlgn="base" hangingPunct="1">
        <a:spcBef>
          <a:spcPct val="0"/>
        </a:spcBef>
        <a:spcAft>
          <a:spcPct val="0"/>
        </a:spcAft>
        <a:defRPr sz="3600" b="1">
          <a:solidFill>
            <a:srgbClr val="FFFF00"/>
          </a:solidFill>
          <a:latin typeface="Arial" charset="0"/>
        </a:defRPr>
      </a:lvl9pPr>
    </p:titleStyle>
    <p:bodyStyle>
      <a:lvl1pPr marL="342900" indent="-342900" algn="l" rtl="0" eaLnBrk="1" fontAlgn="base" hangingPunct="1">
        <a:lnSpc>
          <a:spcPct val="90000"/>
        </a:lnSpc>
        <a:spcBef>
          <a:spcPct val="0"/>
        </a:spcBef>
        <a:spcAft>
          <a:spcPct val="0"/>
        </a:spcAft>
        <a:buClr>
          <a:srgbClr val="CF1141"/>
        </a:buClr>
        <a:buFont typeface="Arial" pitchFamily="34" charset="0"/>
        <a:buChar char="●"/>
        <a:defRPr sz="2500" b="1">
          <a:solidFill>
            <a:schemeClr val="bg2"/>
          </a:solidFill>
          <a:latin typeface="+mn-lt"/>
          <a:ea typeface="+mn-ea"/>
          <a:cs typeface="+mn-cs"/>
        </a:defRPr>
      </a:lvl1pPr>
      <a:lvl2pPr marL="742950" indent="-285750" algn="l" rtl="0" eaLnBrk="1" fontAlgn="base" hangingPunct="1">
        <a:lnSpc>
          <a:spcPct val="90000"/>
        </a:lnSpc>
        <a:spcBef>
          <a:spcPct val="0"/>
        </a:spcBef>
        <a:spcAft>
          <a:spcPct val="0"/>
        </a:spcAft>
        <a:buClr>
          <a:srgbClr val="CF1141"/>
        </a:buClr>
        <a:buFont typeface="Arial" pitchFamily="34" charset="0"/>
        <a:buChar char="–"/>
        <a:defRPr sz="2100" b="1">
          <a:solidFill>
            <a:schemeClr val="bg2"/>
          </a:solidFill>
          <a:latin typeface="+mn-lt"/>
        </a:defRPr>
      </a:lvl2pPr>
      <a:lvl3pPr marL="1143000" indent="-228600" algn="l" rtl="0" eaLnBrk="1" fontAlgn="base" hangingPunct="1">
        <a:lnSpc>
          <a:spcPct val="90000"/>
        </a:lnSpc>
        <a:spcBef>
          <a:spcPct val="0"/>
        </a:spcBef>
        <a:spcAft>
          <a:spcPct val="0"/>
        </a:spcAft>
        <a:buClr>
          <a:srgbClr val="CF1141"/>
        </a:buClr>
        <a:buFont typeface="Arial" pitchFamily="34" charset="0"/>
        <a:buChar char="▪"/>
        <a:defRPr sz="2000" b="1">
          <a:solidFill>
            <a:schemeClr val="bg2"/>
          </a:solidFill>
          <a:latin typeface="+mn-lt"/>
        </a:defRPr>
      </a:lvl3pPr>
      <a:lvl4pPr marL="1600200" indent="-228600" algn="l" rtl="0" eaLnBrk="1" fontAlgn="base" hangingPunct="1">
        <a:lnSpc>
          <a:spcPct val="90000"/>
        </a:lnSpc>
        <a:spcBef>
          <a:spcPct val="0"/>
        </a:spcBef>
        <a:spcAft>
          <a:spcPct val="0"/>
        </a:spcAft>
        <a:buClr>
          <a:srgbClr val="CC3300"/>
        </a:buClr>
        <a:buFont typeface="Wingdings" pitchFamily="2" charset="2"/>
        <a:defRPr sz="2000" b="1">
          <a:solidFill>
            <a:schemeClr val="bg2"/>
          </a:solidFill>
          <a:latin typeface="+mn-lt"/>
        </a:defRPr>
      </a:lvl4pPr>
      <a:lvl5pPr marL="2057400" indent="-228600" algn="l" rtl="0" eaLnBrk="1" fontAlgn="base" hangingPunct="1">
        <a:lnSpc>
          <a:spcPct val="90000"/>
        </a:lnSpc>
        <a:spcBef>
          <a:spcPct val="0"/>
        </a:spcBef>
        <a:spcAft>
          <a:spcPct val="0"/>
        </a:spcAft>
        <a:buClr>
          <a:srgbClr val="CC3300"/>
        </a:buClr>
        <a:buFont typeface="Wingdings" pitchFamily="2" charset="2"/>
        <a:defRPr sz="2000" b="1">
          <a:solidFill>
            <a:schemeClr val="bg2"/>
          </a:solidFill>
          <a:latin typeface="+mn-lt"/>
        </a:defRPr>
      </a:lvl5pPr>
      <a:lvl6pPr marL="2514600" indent="-228600" algn="l" rtl="0" eaLnBrk="1" fontAlgn="base" hangingPunct="1">
        <a:lnSpc>
          <a:spcPct val="90000"/>
        </a:lnSpc>
        <a:spcBef>
          <a:spcPct val="0"/>
        </a:spcBef>
        <a:spcAft>
          <a:spcPct val="0"/>
        </a:spcAft>
        <a:buClr>
          <a:srgbClr val="CC3300"/>
        </a:buClr>
        <a:buSzPct val="75000"/>
        <a:buFont typeface="Wingdings" pitchFamily="2" charset="2"/>
        <a:defRPr sz="2800" b="1">
          <a:solidFill>
            <a:schemeClr val="tx1"/>
          </a:solidFill>
          <a:latin typeface="+mn-lt"/>
        </a:defRPr>
      </a:lvl6pPr>
      <a:lvl7pPr marL="2971800" indent="-228600" algn="l" rtl="0" eaLnBrk="1" fontAlgn="base" hangingPunct="1">
        <a:lnSpc>
          <a:spcPct val="90000"/>
        </a:lnSpc>
        <a:spcBef>
          <a:spcPct val="0"/>
        </a:spcBef>
        <a:spcAft>
          <a:spcPct val="0"/>
        </a:spcAft>
        <a:buClr>
          <a:srgbClr val="CC3300"/>
        </a:buClr>
        <a:buSzPct val="75000"/>
        <a:buFont typeface="Wingdings" pitchFamily="2" charset="2"/>
        <a:defRPr sz="2800" b="1">
          <a:solidFill>
            <a:schemeClr val="tx1"/>
          </a:solidFill>
          <a:latin typeface="+mn-lt"/>
        </a:defRPr>
      </a:lvl7pPr>
      <a:lvl8pPr marL="3429000" indent="-228600" algn="l" rtl="0" eaLnBrk="1" fontAlgn="base" hangingPunct="1">
        <a:lnSpc>
          <a:spcPct val="90000"/>
        </a:lnSpc>
        <a:spcBef>
          <a:spcPct val="0"/>
        </a:spcBef>
        <a:spcAft>
          <a:spcPct val="0"/>
        </a:spcAft>
        <a:buClr>
          <a:srgbClr val="CC3300"/>
        </a:buClr>
        <a:buSzPct val="75000"/>
        <a:buFont typeface="Wingdings" pitchFamily="2" charset="2"/>
        <a:defRPr sz="2800" b="1">
          <a:solidFill>
            <a:schemeClr val="tx1"/>
          </a:solidFill>
          <a:latin typeface="+mn-lt"/>
        </a:defRPr>
      </a:lvl8pPr>
      <a:lvl9pPr marL="3886200" indent="-228600" algn="l" rtl="0" eaLnBrk="1" fontAlgn="base" hangingPunct="1">
        <a:lnSpc>
          <a:spcPct val="90000"/>
        </a:lnSpc>
        <a:spcBef>
          <a:spcPct val="0"/>
        </a:spcBef>
        <a:spcAft>
          <a:spcPct val="0"/>
        </a:spcAft>
        <a:buClr>
          <a:srgbClr val="CC3300"/>
        </a:buClr>
        <a:buSzPct val="75000"/>
        <a:buFont typeface="Wingdings" pitchFamily="2" charset="2"/>
        <a:defRPr sz="28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mailto:fmartin@mathematica-mpr.com" TargetMode="External"/><Relationship Id="rId2" Type="http://schemas.openxmlformats.org/officeDocument/2006/relationships/hyperlink" Target="mailto:Allison.taylor@umb.edu" TargetMode="External"/><Relationship Id="rId1" Type="http://schemas.openxmlformats.org/officeDocument/2006/relationships/slideLayout" Target="../slideLayouts/slideLayout2.xml"/><Relationship Id="rId4" Type="http://schemas.openxmlformats.org/officeDocument/2006/relationships/hyperlink" Target="mailto:psevak@mathematica-mpr.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sz="quarter"/>
          </p:nvPr>
        </p:nvSpPr>
        <p:spPr>
          <a:xfrm>
            <a:off x="685800" y="390701"/>
            <a:ext cx="7772400" cy="1385637"/>
          </a:xfrm>
        </p:spPr>
        <p:txBody>
          <a:bodyPr/>
          <a:lstStyle/>
          <a:p>
            <a:r>
              <a:rPr lang="en-US" sz="2800" dirty="0" smtClean="0"/>
              <a:t>The SGA Project Demonstration: </a:t>
            </a:r>
            <a:br>
              <a:rPr lang="en-US" sz="2800" dirty="0" smtClean="0"/>
            </a:br>
            <a:r>
              <a:rPr lang="en-US" sz="2800" dirty="0" smtClean="0"/>
              <a:t>A VR Model for Improving Outcomes for </a:t>
            </a:r>
            <a:r>
              <a:rPr lang="en-US" sz="2800" dirty="0" err="1" smtClean="0"/>
              <a:t>SSDI</a:t>
            </a:r>
            <a:r>
              <a:rPr lang="en-US" sz="2800" dirty="0" smtClean="0"/>
              <a:t> Beneficiaries</a:t>
            </a:r>
            <a:endParaRPr lang="en-US" sz="2800" dirty="0"/>
          </a:p>
        </p:txBody>
      </p:sp>
      <p:sp>
        <p:nvSpPr>
          <p:cNvPr id="5" name="Subtitle 4"/>
          <p:cNvSpPr>
            <a:spLocks noGrp="1"/>
          </p:cNvSpPr>
          <p:nvPr>
            <p:ph type="subTitle" sz="quarter" idx="1"/>
          </p:nvPr>
        </p:nvSpPr>
        <p:spPr>
          <a:xfrm>
            <a:off x="444843" y="2056742"/>
            <a:ext cx="8254314" cy="1511300"/>
          </a:xfrm>
        </p:spPr>
        <p:txBody>
          <a:bodyPr/>
          <a:lstStyle/>
          <a:p>
            <a:r>
              <a:rPr lang="en-US" sz="1800" dirty="0" smtClean="0"/>
              <a:t>Presenters</a:t>
            </a:r>
          </a:p>
          <a:p>
            <a:endParaRPr lang="en-US" sz="1800" dirty="0" smtClean="0"/>
          </a:p>
          <a:p>
            <a:r>
              <a:rPr lang="en-US" sz="1800" dirty="0" smtClean="0"/>
              <a:t>Allison Taylor</a:t>
            </a:r>
          </a:p>
          <a:p>
            <a:r>
              <a:rPr lang="en-US" sz="1800" dirty="0" smtClean="0"/>
              <a:t>Institute for Community Inclusion</a:t>
            </a:r>
          </a:p>
          <a:p>
            <a:endParaRPr lang="en-US" sz="1800" dirty="0" smtClean="0"/>
          </a:p>
          <a:p>
            <a:r>
              <a:rPr lang="en-US" sz="1800" dirty="0" smtClean="0"/>
              <a:t>Purvi Sevak and Frank Martin</a:t>
            </a:r>
          </a:p>
          <a:p>
            <a:r>
              <a:rPr lang="en-US" sz="1800" dirty="0" smtClean="0"/>
              <a:t>Mathematica Policy Research</a:t>
            </a:r>
          </a:p>
          <a:p>
            <a:endParaRPr lang="en-US" sz="1800" dirty="0" smtClean="0"/>
          </a:p>
          <a:p>
            <a:endParaRPr lang="en-US" sz="1800" dirty="0" smtClean="0"/>
          </a:p>
          <a:p>
            <a:r>
              <a:rPr lang="en-US" sz="1800" dirty="0"/>
              <a:t>Evidence-Based Practices in Vocational Rehabilitation: </a:t>
            </a:r>
            <a:br>
              <a:rPr lang="en-US" sz="1800" dirty="0"/>
            </a:br>
            <a:r>
              <a:rPr lang="en-US" sz="1800" dirty="0"/>
              <a:t>Advancing the State of the </a:t>
            </a:r>
            <a:r>
              <a:rPr lang="en-US" sz="1800" dirty="0" smtClean="0"/>
              <a:t>Science</a:t>
            </a:r>
          </a:p>
          <a:p>
            <a:endParaRPr lang="en-US" sz="1800" dirty="0" smtClean="0"/>
          </a:p>
          <a:p>
            <a:r>
              <a:rPr lang="en-US" sz="1800" dirty="0" smtClean="0"/>
              <a:t>May 23, 2018</a:t>
            </a:r>
          </a:p>
          <a:p>
            <a:endParaRPr lang="en-US" sz="1800" dirty="0"/>
          </a:p>
        </p:txBody>
      </p:sp>
    </p:spTree>
    <p:extLst>
      <p:ext uri="{BB962C8B-B14F-4D97-AF65-F5344CB8AC3E}">
        <p14:creationId xmlns:p14="http://schemas.microsoft.com/office/powerpoint/2010/main" val="29947037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Funding and Disclaimer</a:t>
            </a:r>
            <a:endParaRPr lang="en-US" dirty="0"/>
          </a:p>
        </p:txBody>
      </p:sp>
      <p:sp>
        <p:nvSpPr>
          <p:cNvPr id="3" name="Content Placeholder 2"/>
          <p:cNvSpPr>
            <a:spLocks noGrp="1"/>
          </p:cNvSpPr>
          <p:nvPr>
            <p:ph idx="1"/>
          </p:nvPr>
        </p:nvSpPr>
        <p:spPr/>
        <p:txBody>
          <a:bodyPr/>
          <a:lstStyle/>
          <a:p>
            <a:r>
              <a:rPr lang="en-US" sz="2000" dirty="0" smtClean="0"/>
              <a:t>The </a:t>
            </a:r>
            <a:r>
              <a:rPr lang="en-US" sz="2000" dirty="0"/>
              <a:t>Institute for Community Inclusion (ICI) at the University of Massachusetts-Boston </a:t>
            </a:r>
            <a:r>
              <a:rPr lang="en-US" sz="2000" dirty="0" smtClean="0"/>
              <a:t>and Mathematica </a:t>
            </a:r>
            <a:r>
              <a:rPr lang="en-US" sz="2000" dirty="0"/>
              <a:t>Policy Research </a:t>
            </a:r>
            <a:r>
              <a:rPr lang="en-US" sz="2000" dirty="0" smtClean="0"/>
              <a:t>led the Substantial Gainful Activity (SGA) Project Demonstration through </a:t>
            </a:r>
            <a:r>
              <a:rPr lang="en-US" sz="2000" dirty="0"/>
              <a:t>a grant received from the U.S. Department of Education, Rehabilitation Services </a:t>
            </a:r>
            <a:r>
              <a:rPr lang="en-US" sz="2000" dirty="0" smtClean="0"/>
              <a:t>Administration (RSA). </a:t>
            </a:r>
          </a:p>
          <a:p>
            <a:r>
              <a:rPr lang="en-US" sz="2000" dirty="0"/>
              <a:t>The views and opinions expressed here are those of the authors and do not necessarily reflect the views, opinions, or policies </a:t>
            </a:r>
            <a:r>
              <a:rPr lang="en-US" sz="2000" dirty="0" smtClean="0"/>
              <a:t>of the </a:t>
            </a:r>
            <a:r>
              <a:rPr lang="en-US" sz="2000" dirty="0"/>
              <a:t>Kentucky Office of Vocational Rehabilitation, the Minnesota Department of Employment and Economic </a:t>
            </a:r>
            <a:r>
              <a:rPr lang="en-US" sz="2000" dirty="0" smtClean="0"/>
              <a:t>Development, or RSA. </a:t>
            </a:r>
          </a:p>
          <a:p>
            <a:r>
              <a:rPr lang="en-US" sz="2000" dirty="0" smtClean="0"/>
              <a:t>The </a:t>
            </a:r>
            <a:r>
              <a:rPr lang="en-US" sz="2000" dirty="0"/>
              <a:t>authors are solely responsible for any errors.</a:t>
            </a:r>
          </a:p>
        </p:txBody>
      </p:sp>
    </p:spTree>
    <p:extLst>
      <p:ext uri="{BB962C8B-B14F-4D97-AF65-F5344CB8AC3E}">
        <p14:creationId xmlns:p14="http://schemas.microsoft.com/office/powerpoint/2010/main" val="7322744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idx="1"/>
          </p:nvPr>
        </p:nvSpPr>
        <p:spPr/>
        <p:txBody>
          <a:bodyPr/>
          <a:lstStyle/>
          <a:p>
            <a:r>
              <a:rPr lang="en-US" dirty="0" smtClean="0"/>
              <a:t>Goals and design of the SGA Project Demonstration (Allison)</a:t>
            </a:r>
          </a:p>
          <a:p>
            <a:r>
              <a:rPr lang="en-US" dirty="0" smtClean="0"/>
              <a:t>Implementation and challenges in two vocational rehabilitation (VR) agencies (Frank)</a:t>
            </a:r>
          </a:p>
          <a:p>
            <a:r>
              <a:rPr lang="en-US" dirty="0" smtClean="0"/>
              <a:t>Perspectives of VR customers (Allison)</a:t>
            </a:r>
          </a:p>
          <a:p>
            <a:r>
              <a:rPr lang="en-US" dirty="0" smtClean="0"/>
              <a:t>Impacts of the SGA Project Demonstration on VR outcomes (Purvi)</a:t>
            </a:r>
          </a:p>
          <a:p>
            <a:r>
              <a:rPr lang="en-US" dirty="0" smtClean="0"/>
              <a:t>Implications (Purvi)</a:t>
            </a:r>
          </a:p>
          <a:p>
            <a:endParaRPr lang="en-US" dirty="0"/>
          </a:p>
        </p:txBody>
      </p:sp>
    </p:spTree>
    <p:extLst>
      <p:ext uri="{BB962C8B-B14F-4D97-AF65-F5344CB8AC3E}">
        <p14:creationId xmlns:p14="http://schemas.microsoft.com/office/powerpoint/2010/main" val="31964328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8000" y="1698171"/>
            <a:ext cx="8242300" cy="4258129"/>
          </a:xfrm>
        </p:spPr>
        <p:txBody>
          <a:bodyPr/>
          <a:lstStyle/>
          <a:p>
            <a:r>
              <a:rPr lang="en-US" sz="2200" dirty="0" smtClean="0"/>
              <a:t>Develop an employment-services model that will improve the chances that VR clients receiving Social Security Disability Insurance (</a:t>
            </a:r>
            <a:r>
              <a:rPr lang="en-US" sz="2200" dirty="0" err="1" smtClean="0"/>
              <a:t>SSDI</a:t>
            </a:r>
            <a:r>
              <a:rPr lang="en-US" sz="2200" dirty="0" smtClean="0"/>
              <a:t>)-only benefits attain employment with earnings above the SGA level (now $1,180 per month)</a:t>
            </a:r>
          </a:p>
          <a:p>
            <a:pPr lvl="1">
              <a:spcBef>
                <a:spcPts val="600"/>
              </a:spcBef>
              <a:spcAft>
                <a:spcPts val="600"/>
              </a:spcAft>
            </a:pPr>
            <a:r>
              <a:rPr lang="en-US" sz="1800" dirty="0" smtClean="0"/>
              <a:t>Develop model of promising </a:t>
            </a:r>
            <a:r>
              <a:rPr lang="en-US" sz="1800" dirty="0"/>
              <a:t>strategies that are within the control and scope of VR agencies</a:t>
            </a:r>
          </a:p>
          <a:p>
            <a:pPr lvl="1">
              <a:spcBef>
                <a:spcPts val="600"/>
              </a:spcBef>
              <a:spcAft>
                <a:spcPts val="600"/>
              </a:spcAft>
            </a:pPr>
            <a:r>
              <a:rPr lang="en-US" sz="1800" dirty="0" smtClean="0"/>
              <a:t>Document experiences </a:t>
            </a:r>
            <a:r>
              <a:rPr lang="en-US" sz="1800" dirty="0"/>
              <a:t>of </a:t>
            </a:r>
            <a:r>
              <a:rPr lang="en-US" sz="1800" dirty="0" smtClean="0"/>
              <a:t>states </a:t>
            </a:r>
            <a:r>
              <a:rPr lang="en-US" sz="1800" dirty="0"/>
              <a:t>in implementing the model and evaluate its effectiveness</a:t>
            </a:r>
          </a:p>
          <a:p>
            <a:pPr lvl="1">
              <a:spcBef>
                <a:spcPts val="600"/>
              </a:spcBef>
              <a:spcAft>
                <a:spcPts val="600"/>
              </a:spcAft>
            </a:pPr>
            <a:r>
              <a:rPr lang="en-US" sz="1800" dirty="0"/>
              <a:t>If </a:t>
            </a:r>
            <a:r>
              <a:rPr lang="en-US" sz="1800" dirty="0" smtClean="0"/>
              <a:t>found effective</a:t>
            </a:r>
            <a:r>
              <a:rPr lang="en-US" sz="1800" dirty="0"/>
              <a:t>, develop and disseminate information that can help other state VR agencies implement </a:t>
            </a:r>
            <a:r>
              <a:rPr lang="en-US" sz="1800" dirty="0" smtClean="0"/>
              <a:t>it</a:t>
            </a:r>
            <a:endParaRPr lang="en-US" sz="1800" dirty="0"/>
          </a:p>
        </p:txBody>
      </p:sp>
      <p:sp>
        <p:nvSpPr>
          <p:cNvPr id="3" name="Title 2"/>
          <p:cNvSpPr>
            <a:spLocks noGrp="1"/>
          </p:cNvSpPr>
          <p:nvPr>
            <p:ph type="title"/>
          </p:nvPr>
        </p:nvSpPr>
        <p:spPr/>
        <p:txBody>
          <a:bodyPr/>
          <a:lstStyle/>
          <a:p>
            <a:r>
              <a:rPr lang="en-US" dirty="0"/>
              <a:t>SGA Project </a:t>
            </a:r>
            <a:r>
              <a:rPr lang="en-US" dirty="0" smtClean="0"/>
              <a:t>Goals </a:t>
            </a:r>
            <a:r>
              <a:rPr lang="en-US" dirty="0"/>
              <a:t>and </a:t>
            </a:r>
            <a:r>
              <a:rPr lang="en-US" dirty="0" smtClean="0"/>
              <a:t>Objectives</a:t>
            </a:r>
            <a:endParaRPr lang="en-US" dirty="0"/>
          </a:p>
        </p:txBody>
      </p:sp>
    </p:spTree>
    <p:extLst>
      <p:ext uri="{BB962C8B-B14F-4D97-AF65-F5344CB8AC3E}">
        <p14:creationId xmlns:p14="http://schemas.microsoft.com/office/powerpoint/2010/main" val="26846446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r>
              <a:rPr lang="en-US" altLang="en-US" dirty="0" smtClean="0"/>
              <a:t>How We Identified Promising Practices</a:t>
            </a:r>
          </a:p>
        </p:txBody>
      </p:sp>
      <p:sp>
        <p:nvSpPr>
          <p:cNvPr id="25602" name="Content Placeholder 2"/>
          <p:cNvSpPr>
            <a:spLocks noGrp="1"/>
          </p:cNvSpPr>
          <p:nvPr>
            <p:ph idx="1"/>
          </p:nvPr>
        </p:nvSpPr>
        <p:spPr/>
        <p:txBody>
          <a:bodyPr/>
          <a:lstStyle/>
          <a:p>
            <a:r>
              <a:rPr lang="en-US" altLang="en-US" dirty="0" smtClean="0"/>
              <a:t>Interviews with state VR directors</a:t>
            </a:r>
          </a:p>
          <a:p>
            <a:r>
              <a:rPr lang="en-US" altLang="en-US" dirty="0" smtClean="0"/>
              <a:t>RSA-911 Trend Analysis comparing VR agencies by their performance on wage outcomes for SSDI-only customers</a:t>
            </a:r>
          </a:p>
          <a:p>
            <a:r>
              <a:rPr lang="en-US" altLang="en-US" dirty="0" smtClean="0"/>
              <a:t>Case studies of eight state VR agencies</a:t>
            </a:r>
          </a:p>
          <a:p>
            <a:r>
              <a:rPr lang="en-US" altLang="en-US" dirty="0" smtClean="0"/>
              <a:t>Expert panel</a:t>
            </a:r>
          </a:p>
        </p:txBody>
      </p:sp>
    </p:spTree>
    <p:extLst>
      <p:ext uri="{BB962C8B-B14F-4D97-AF65-F5344CB8AC3E}">
        <p14:creationId xmlns:p14="http://schemas.microsoft.com/office/powerpoint/2010/main" val="12767807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altLang="en-US" dirty="0" smtClean="0"/>
              <a:t>The SGA Project Intervention </a:t>
            </a:r>
          </a:p>
        </p:txBody>
      </p:sp>
      <p:sp>
        <p:nvSpPr>
          <p:cNvPr id="26626" name="Content Placeholder 2"/>
          <p:cNvSpPr>
            <a:spLocks noGrp="1"/>
          </p:cNvSpPr>
          <p:nvPr>
            <p:ph idx="1"/>
          </p:nvPr>
        </p:nvSpPr>
        <p:spPr/>
        <p:txBody>
          <a:bodyPr/>
          <a:lstStyle/>
          <a:p>
            <a:r>
              <a:rPr lang="en-US" altLang="en-US" dirty="0" smtClean="0"/>
              <a:t>An early and rapid coordinated team approach (CTA) would improve engagement, employment, and wage outcomes of SSDI-only non-blind customers of VR at closure from VR</a:t>
            </a:r>
          </a:p>
          <a:p>
            <a:r>
              <a:rPr lang="en-US" altLang="en-US" dirty="0" smtClean="0"/>
              <a:t>If we build office-level capacity to implement an early and rapid CTA, will those offices get better employment outcomes for SSDI beneficiaries? </a:t>
            </a:r>
          </a:p>
          <a:p>
            <a:r>
              <a:rPr lang="en-US" altLang="en-US" dirty="0" smtClean="0"/>
              <a:t>Recruited two agencies, in Kentucky and Minnesota, to implement (2015–2017) and evaluate the model</a:t>
            </a:r>
          </a:p>
          <a:p>
            <a:endParaRPr lang="en-US" altLang="en-US" dirty="0" smtClean="0"/>
          </a:p>
        </p:txBody>
      </p:sp>
    </p:spTree>
    <p:extLst>
      <p:ext uri="{BB962C8B-B14F-4D97-AF65-F5344CB8AC3E}">
        <p14:creationId xmlns:p14="http://schemas.microsoft.com/office/powerpoint/2010/main" val="7990451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Design of the SGA Project Demonstration</a:t>
            </a:r>
            <a:endParaRPr lang="en-US" dirty="0"/>
          </a:p>
        </p:txBody>
      </p:sp>
      <p:sp>
        <p:nvSpPr>
          <p:cNvPr id="2" name="Content Placeholder 1"/>
          <p:cNvSpPr>
            <a:spLocks noGrp="1"/>
          </p:cNvSpPr>
          <p:nvPr>
            <p:ph idx="1"/>
          </p:nvPr>
        </p:nvSpPr>
        <p:spPr/>
        <p:txBody>
          <a:bodyPr/>
          <a:lstStyle/>
          <a:p>
            <a:r>
              <a:rPr lang="en-US" dirty="0" smtClean="0"/>
              <a:t>Office-level (clustered) random assignment</a:t>
            </a:r>
          </a:p>
          <a:p>
            <a:pPr lvl="1"/>
            <a:r>
              <a:rPr lang="en-US" dirty="0" smtClean="0"/>
              <a:t>Offices grouped into strata based on geographic location, urban versus rural, and past </a:t>
            </a:r>
            <a:r>
              <a:rPr lang="en-US" dirty="0" err="1" smtClean="0"/>
              <a:t>SSDI</a:t>
            </a:r>
            <a:r>
              <a:rPr lang="en-US" dirty="0" smtClean="0"/>
              <a:t> client outcomes</a:t>
            </a:r>
          </a:p>
          <a:p>
            <a:pPr lvl="1"/>
            <a:r>
              <a:rPr lang="en-US" dirty="0" smtClean="0"/>
              <a:t>Offices from each stratum randomly assigned to deliver usual VR services or enhanced (SGA Project) services</a:t>
            </a:r>
          </a:p>
          <a:p>
            <a:r>
              <a:rPr lang="en-US" dirty="0" smtClean="0"/>
              <a:t>All non-blind, SSDI-only VR applicants in Kentucky and Minnesota were part of the demonstration</a:t>
            </a:r>
          </a:p>
          <a:p>
            <a:pPr lvl="1"/>
            <a:r>
              <a:rPr lang="en-US" dirty="0" smtClean="0"/>
              <a:t>Roughly 1,000 in each </a:t>
            </a:r>
            <a:r>
              <a:rPr lang="en-US" dirty="0"/>
              <a:t>state—half </a:t>
            </a:r>
            <a:r>
              <a:rPr lang="en-US" dirty="0" smtClean="0"/>
              <a:t>at enhanced-service and half at usual-service offices</a:t>
            </a:r>
          </a:p>
        </p:txBody>
      </p:sp>
    </p:spTree>
    <p:extLst>
      <p:ext uri="{BB962C8B-B14F-4D97-AF65-F5344CB8AC3E}">
        <p14:creationId xmlns:p14="http://schemas.microsoft.com/office/powerpoint/2010/main" val="7259889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718168" y="1725613"/>
            <a:ext cx="7772400" cy="1190625"/>
          </a:xfrm>
        </p:spPr>
        <p:txBody>
          <a:bodyPr>
            <a:noAutofit/>
          </a:bodyPr>
          <a:lstStyle/>
          <a:p>
            <a:r>
              <a:rPr lang="en-US" sz="3200" dirty="0" smtClean="0"/>
              <a:t>SGA Project: Innovations, Implementation, and Challenges</a:t>
            </a:r>
            <a:r>
              <a:rPr lang="en-US" sz="3200" dirty="0"/>
              <a:t/>
            </a:r>
            <a:br>
              <a:rPr lang="en-US" sz="3200" dirty="0"/>
            </a:br>
            <a:r>
              <a:rPr lang="en-US" sz="3200" dirty="0" smtClean="0"/>
              <a:t/>
            </a:r>
            <a:br>
              <a:rPr lang="en-US" sz="3200" dirty="0" smtClean="0"/>
            </a:br>
            <a:endParaRPr lang="en-US" sz="3200" dirty="0"/>
          </a:p>
        </p:txBody>
      </p:sp>
      <p:sp>
        <p:nvSpPr>
          <p:cNvPr id="9" name="Subtitle 2"/>
          <p:cNvSpPr>
            <a:spLocks noGrp="1"/>
          </p:cNvSpPr>
          <p:nvPr>
            <p:ph type="subTitle" sz="quarter" idx="1"/>
          </p:nvPr>
        </p:nvSpPr>
        <p:spPr>
          <a:xfrm>
            <a:off x="1061068" y="2916238"/>
            <a:ext cx="7086600" cy="1511300"/>
          </a:xfrm>
        </p:spPr>
        <p:txBody>
          <a:bodyPr/>
          <a:lstStyle/>
          <a:p>
            <a:r>
              <a:rPr lang="en-US" sz="2000" dirty="0" smtClean="0"/>
              <a:t>Frank Martin</a:t>
            </a:r>
          </a:p>
          <a:p>
            <a:r>
              <a:rPr lang="en-US" sz="2000" dirty="0" smtClean="0"/>
              <a:t>Mathematica Policy Research</a:t>
            </a:r>
          </a:p>
          <a:p>
            <a:endParaRPr lang="en-US" sz="2000" dirty="0"/>
          </a:p>
          <a:p>
            <a:r>
              <a:rPr lang="en-US" sz="2000" dirty="0"/>
              <a:t>Evidence-Based Practices in Vocational Rehabilitation: </a:t>
            </a:r>
            <a:br>
              <a:rPr lang="en-US" sz="2000" dirty="0"/>
            </a:br>
            <a:r>
              <a:rPr lang="en-US" sz="2000" dirty="0"/>
              <a:t>Advancing the State of the Science</a:t>
            </a:r>
          </a:p>
          <a:p>
            <a:endParaRPr lang="en-US" sz="2000" dirty="0"/>
          </a:p>
          <a:p>
            <a:r>
              <a:rPr lang="en-US" sz="2000" dirty="0"/>
              <a:t>May 23, 2018</a:t>
            </a:r>
          </a:p>
          <a:p>
            <a:endParaRPr lang="en-US" sz="2000" dirty="0"/>
          </a:p>
        </p:txBody>
      </p:sp>
    </p:spTree>
    <p:extLst>
      <p:ext uri="{BB962C8B-B14F-4D97-AF65-F5344CB8AC3E}">
        <p14:creationId xmlns:p14="http://schemas.microsoft.com/office/powerpoint/2010/main" val="34158048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Overview</a:t>
            </a:r>
            <a:endParaRPr lang="en-US" dirty="0"/>
          </a:p>
        </p:txBody>
      </p:sp>
      <p:sp>
        <p:nvSpPr>
          <p:cNvPr id="2" name="Content Placeholder 1"/>
          <p:cNvSpPr>
            <a:spLocks noGrp="1"/>
          </p:cNvSpPr>
          <p:nvPr>
            <p:ph idx="1"/>
          </p:nvPr>
        </p:nvSpPr>
        <p:spPr/>
        <p:txBody>
          <a:bodyPr/>
          <a:lstStyle/>
          <a:p>
            <a:r>
              <a:rPr lang="en-US" dirty="0" smtClean="0"/>
              <a:t>Enhanced service innovations</a:t>
            </a:r>
          </a:p>
          <a:p>
            <a:r>
              <a:rPr lang="en-US" dirty="0"/>
              <a:t>Implementation measures</a:t>
            </a:r>
          </a:p>
          <a:p>
            <a:r>
              <a:rPr lang="en-US" dirty="0" smtClean="0"/>
              <a:t>Staff experiences </a:t>
            </a:r>
          </a:p>
          <a:p>
            <a:r>
              <a:rPr lang="en-US" dirty="0" smtClean="0"/>
              <a:t>Challenges encountered</a:t>
            </a:r>
          </a:p>
          <a:p>
            <a:r>
              <a:rPr lang="en-US" dirty="0" smtClean="0"/>
              <a:t>Lessons learned</a:t>
            </a:r>
          </a:p>
          <a:p>
            <a:pPr marL="0" indent="0">
              <a:buNone/>
            </a:pPr>
            <a:endParaRPr lang="en-US" dirty="0"/>
          </a:p>
        </p:txBody>
      </p:sp>
    </p:spTree>
    <p:extLst>
      <p:ext uri="{BB962C8B-B14F-4D97-AF65-F5344CB8AC3E}">
        <p14:creationId xmlns:p14="http://schemas.microsoft.com/office/powerpoint/2010/main" val="18706522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SGA Model of Enhanced Service Innovations</a:t>
            </a:r>
            <a:endParaRPr lang="en-US" dirty="0"/>
          </a:p>
        </p:txBody>
      </p:sp>
      <p:pic>
        <p:nvPicPr>
          <p:cNvPr id="4" name="Picture 3" descr="N:\Project\06887_DIVR\NJ1\400 Dissemination\Research Briefs\Graphics\06887_SGA_090817_MN_COM program.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3450" y="1619250"/>
            <a:ext cx="7410449" cy="4229100"/>
          </a:xfrm>
          <a:prstGeom prst="rect">
            <a:avLst/>
          </a:prstGeom>
          <a:noFill/>
          <a:ln>
            <a:noFill/>
          </a:ln>
        </p:spPr>
      </p:pic>
      <p:sp>
        <p:nvSpPr>
          <p:cNvPr id="3" name="TextBox 2"/>
          <p:cNvSpPr txBox="1"/>
          <p:nvPr/>
        </p:nvSpPr>
        <p:spPr>
          <a:xfrm>
            <a:off x="933450" y="5846925"/>
            <a:ext cx="3496660" cy="276999"/>
          </a:xfrm>
          <a:prstGeom prst="rect">
            <a:avLst/>
          </a:prstGeom>
          <a:noFill/>
        </p:spPr>
        <p:txBody>
          <a:bodyPr wrap="square" rtlCol="0">
            <a:spAutoFit/>
          </a:bodyPr>
          <a:lstStyle/>
          <a:p>
            <a:r>
              <a:rPr lang="en-US" dirty="0" smtClean="0"/>
              <a:t>IPE: Individualized Plan for Employment </a:t>
            </a:r>
            <a:endParaRPr lang="en-US" dirty="0"/>
          </a:p>
        </p:txBody>
      </p:sp>
    </p:spTree>
    <p:extLst>
      <p:ext uri="{BB962C8B-B14F-4D97-AF65-F5344CB8AC3E}">
        <p14:creationId xmlns:p14="http://schemas.microsoft.com/office/powerpoint/2010/main" val="3953390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301625" y="193528"/>
            <a:ext cx="8448675" cy="1143000"/>
          </a:xfrm>
        </p:spPr>
        <p:txBody>
          <a:bodyPr/>
          <a:lstStyle/>
          <a:p>
            <a:r>
              <a:rPr lang="en-US" altLang="en-US" dirty="0" smtClean="0"/>
              <a:t/>
            </a:r>
            <a:br>
              <a:rPr lang="en-US" altLang="en-US" dirty="0" smtClean="0"/>
            </a:br>
            <a:r>
              <a:rPr lang="en-US" altLang="en-US" dirty="0" smtClean="0"/>
              <a:t>Selected Implementation Measures </a:t>
            </a:r>
          </a:p>
        </p:txBody>
      </p:sp>
      <p:sp>
        <p:nvSpPr>
          <p:cNvPr id="9219" name="Content Placeholder 2"/>
          <p:cNvSpPr>
            <a:spLocks noGrp="1"/>
          </p:cNvSpPr>
          <p:nvPr>
            <p:ph idx="1"/>
          </p:nvPr>
        </p:nvSpPr>
        <p:spPr/>
        <p:txBody>
          <a:bodyPr/>
          <a:lstStyle/>
          <a:p>
            <a:r>
              <a:rPr lang="en-US" altLang="en-US" sz="2800" dirty="0" smtClean="0"/>
              <a:t>Increased pacing and financial counseling </a:t>
            </a:r>
          </a:p>
          <a:p>
            <a:pPr lvl="1"/>
            <a:r>
              <a:rPr lang="en-US" altLang="en-US" sz="2400" dirty="0" smtClean="0">
                <a:solidFill>
                  <a:schemeClr val="tx1"/>
                </a:solidFill>
              </a:rPr>
              <a:t>Eligibility determination within 2 days</a:t>
            </a:r>
          </a:p>
          <a:p>
            <a:pPr lvl="1"/>
            <a:r>
              <a:rPr lang="en-US" altLang="en-US" sz="2400" dirty="0" smtClean="0">
                <a:solidFill>
                  <a:schemeClr val="tx1"/>
                </a:solidFill>
              </a:rPr>
              <a:t>IPE signed within 30 days of application</a:t>
            </a:r>
          </a:p>
          <a:p>
            <a:pPr lvl="1"/>
            <a:r>
              <a:rPr lang="en-US" altLang="en-US" sz="2400" dirty="0" smtClean="0">
                <a:solidFill>
                  <a:schemeClr val="tx1"/>
                </a:solidFill>
              </a:rPr>
              <a:t>Financial counseling benefits summary and analysis</a:t>
            </a:r>
          </a:p>
          <a:p>
            <a:pPr lvl="1"/>
            <a:r>
              <a:rPr lang="en-US" altLang="en-US" sz="2400" dirty="0" smtClean="0">
                <a:solidFill>
                  <a:schemeClr val="tx1"/>
                </a:solidFill>
              </a:rPr>
              <a:t>First </a:t>
            </a:r>
            <a:r>
              <a:rPr lang="en-US" altLang="en-US" sz="2400" dirty="0">
                <a:solidFill>
                  <a:schemeClr val="tx1"/>
                </a:solidFill>
              </a:rPr>
              <a:t>coordinated team </a:t>
            </a:r>
            <a:r>
              <a:rPr lang="en-US" altLang="en-US" sz="2400" dirty="0" smtClean="0">
                <a:solidFill>
                  <a:schemeClr val="tx1"/>
                </a:solidFill>
              </a:rPr>
              <a:t>meeting: 5 business days in Kentucky, 7 days in Minnesota</a:t>
            </a:r>
            <a:endParaRPr lang="en-US" altLang="en-US" dirty="0" smtClean="0">
              <a:solidFill>
                <a:schemeClr val="tx1"/>
              </a:solidFill>
            </a:endParaRPr>
          </a:p>
        </p:txBody>
      </p:sp>
    </p:spTree>
    <p:extLst>
      <p:ext uri="{BB962C8B-B14F-4D97-AF65-F5344CB8AC3E}">
        <p14:creationId xmlns:p14="http://schemas.microsoft.com/office/powerpoint/2010/main" val="29498768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8000" y="1689463"/>
            <a:ext cx="8242300" cy="4266837"/>
          </a:xfrm>
        </p:spPr>
        <p:txBody>
          <a:bodyPr/>
          <a:lstStyle/>
          <a:p>
            <a:r>
              <a:rPr lang="en-US" sz="2200" dirty="0" smtClean="0"/>
              <a:t>SGA Project innovations represented a substantial shift from usual operating procedures</a:t>
            </a:r>
          </a:p>
          <a:p>
            <a:pPr lvl="1">
              <a:spcBef>
                <a:spcPts val="600"/>
              </a:spcBef>
              <a:spcAft>
                <a:spcPts val="600"/>
              </a:spcAft>
            </a:pPr>
            <a:r>
              <a:rPr lang="en-US" dirty="0" smtClean="0"/>
              <a:t>Pacing targets were aggressive relative to usual services</a:t>
            </a:r>
            <a:endParaRPr lang="en-US" sz="1800" dirty="0" smtClean="0"/>
          </a:p>
          <a:p>
            <a:pPr lvl="1">
              <a:spcBef>
                <a:spcPts val="600"/>
              </a:spcBef>
              <a:spcAft>
                <a:spcPts val="600"/>
              </a:spcAft>
            </a:pPr>
            <a:r>
              <a:rPr lang="en-US" dirty="0" smtClean="0"/>
              <a:t>Usual services rely on vendors for financial counseling  </a:t>
            </a:r>
          </a:p>
          <a:p>
            <a:pPr lvl="1">
              <a:spcBef>
                <a:spcPts val="600"/>
              </a:spcBef>
              <a:spcAft>
                <a:spcPts val="600"/>
              </a:spcAft>
            </a:pPr>
            <a:r>
              <a:rPr lang="en-US" dirty="0" smtClean="0"/>
              <a:t>Added job placement specialist (JPS) capacity </a:t>
            </a:r>
          </a:p>
          <a:p>
            <a:pPr lvl="1">
              <a:spcBef>
                <a:spcPts val="600"/>
              </a:spcBef>
              <a:spcAft>
                <a:spcPts val="600"/>
              </a:spcAft>
            </a:pPr>
            <a:r>
              <a:rPr lang="en-US" dirty="0" smtClean="0"/>
              <a:t>JPS involvement before IPE</a:t>
            </a:r>
          </a:p>
          <a:p>
            <a:pPr lvl="1">
              <a:spcBef>
                <a:spcPts val="600"/>
              </a:spcBef>
              <a:spcAft>
                <a:spcPts val="600"/>
              </a:spcAft>
            </a:pPr>
            <a:r>
              <a:rPr lang="en-US" dirty="0" smtClean="0"/>
              <a:t>Coordination among </a:t>
            </a:r>
            <a:r>
              <a:rPr lang="en-US" dirty="0"/>
              <a:t>v</a:t>
            </a:r>
            <a:r>
              <a:rPr lang="en-US" dirty="0" smtClean="0"/>
              <a:t>ocational rehabilitation counselors (VRCs), Kentucky work incentive coordinators (KWICs), and JPS early in process does not occur under usual practice</a:t>
            </a:r>
          </a:p>
          <a:p>
            <a:pPr lvl="1"/>
            <a:endParaRPr lang="en-US" dirty="0"/>
          </a:p>
        </p:txBody>
      </p:sp>
      <p:sp>
        <p:nvSpPr>
          <p:cNvPr id="3" name="Title 2"/>
          <p:cNvSpPr>
            <a:spLocks noGrp="1"/>
          </p:cNvSpPr>
          <p:nvPr>
            <p:ph type="title"/>
          </p:nvPr>
        </p:nvSpPr>
        <p:spPr/>
        <p:txBody>
          <a:bodyPr/>
          <a:lstStyle/>
          <a:p>
            <a:r>
              <a:rPr lang="en-US" dirty="0" smtClean="0"/>
              <a:t>Kentucky Enhanced Versus Usual Services</a:t>
            </a:r>
            <a:endParaRPr lang="en-US" dirty="0"/>
          </a:p>
        </p:txBody>
      </p:sp>
    </p:spTree>
    <p:extLst>
      <p:ext uri="{BB962C8B-B14F-4D97-AF65-F5344CB8AC3E}">
        <p14:creationId xmlns:p14="http://schemas.microsoft.com/office/powerpoint/2010/main" val="34874088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nvPr>
        </p:nvGraphicFramePr>
        <p:xfrm>
          <a:off x="487362" y="1597517"/>
          <a:ext cx="8242300" cy="4320683"/>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2"/>
          <p:cNvSpPr>
            <a:spLocks noGrp="1"/>
          </p:cNvSpPr>
          <p:nvPr>
            <p:ph type="title"/>
          </p:nvPr>
        </p:nvSpPr>
        <p:spPr/>
        <p:txBody>
          <a:bodyPr/>
          <a:lstStyle/>
          <a:p>
            <a:r>
              <a:rPr lang="en-US" dirty="0" smtClean="0"/>
              <a:t>Kentucky: Innovation </a:t>
            </a:r>
            <a:br>
              <a:rPr lang="en-US" dirty="0" smtClean="0"/>
            </a:br>
            <a:r>
              <a:rPr lang="en-US" dirty="0" smtClean="0"/>
              <a:t>Implementation (select measures</a:t>
            </a:r>
            <a:r>
              <a:rPr lang="en-US" dirty="0"/>
              <a:t>)</a:t>
            </a:r>
          </a:p>
        </p:txBody>
      </p:sp>
    </p:spTree>
    <p:extLst>
      <p:ext uri="{BB962C8B-B14F-4D97-AF65-F5344CB8AC3E}">
        <p14:creationId xmlns:p14="http://schemas.microsoft.com/office/powerpoint/2010/main" val="40813155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8000" y="1689463"/>
            <a:ext cx="8242300" cy="4266837"/>
          </a:xfrm>
        </p:spPr>
        <p:txBody>
          <a:bodyPr/>
          <a:lstStyle/>
          <a:p>
            <a:r>
              <a:rPr lang="en-US" sz="2200" dirty="0" smtClean="0"/>
              <a:t>SGA Project innovations represented an alteration in financial planning and teaming  </a:t>
            </a:r>
          </a:p>
          <a:p>
            <a:pPr lvl="1">
              <a:spcBef>
                <a:spcPts val="600"/>
              </a:spcBef>
              <a:spcAft>
                <a:spcPts val="600"/>
              </a:spcAft>
            </a:pPr>
            <a:r>
              <a:rPr lang="en-US" dirty="0" smtClean="0"/>
              <a:t>Presumptive eligibility expected within 2 days compared with 10 days under usual services</a:t>
            </a:r>
            <a:endParaRPr lang="en-US" sz="1800" dirty="0" smtClean="0"/>
          </a:p>
          <a:p>
            <a:pPr lvl="1">
              <a:spcBef>
                <a:spcPts val="600"/>
              </a:spcBef>
              <a:spcAft>
                <a:spcPts val="600"/>
              </a:spcAft>
            </a:pPr>
            <a:r>
              <a:rPr lang="en-US" dirty="0" smtClean="0"/>
              <a:t>In-house financial planning compared to a special work incentive coordinator (WIC) request </a:t>
            </a:r>
          </a:p>
          <a:p>
            <a:pPr lvl="1">
              <a:spcBef>
                <a:spcPts val="600"/>
              </a:spcBef>
              <a:spcAft>
                <a:spcPts val="600"/>
              </a:spcAft>
            </a:pPr>
            <a:r>
              <a:rPr lang="en-US" dirty="0" smtClean="0"/>
              <a:t>JPS integrated with team and coordinated in-house compared with community rehabilitation provider (CRP) after the IPE</a:t>
            </a:r>
          </a:p>
          <a:p>
            <a:pPr lvl="1">
              <a:spcBef>
                <a:spcPts val="600"/>
              </a:spcBef>
              <a:spcAft>
                <a:spcPts val="600"/>
              </a:spcAft>
            </a:pPr>
            <a:r>
              <a:rPr lang="en-US" dirty="0" smtClean="0"/>
              <a:t>CTA with meeting within 7 days of application; no formal teaming under usual services </a:t>
            </a:r>
            <a:endParaRPr lang="en-US" dirty="0"/>
          </a:p>
        </p:txBody>
      </p:sp>
      <p:sp>
        <p:nvSpPr>
          <p:cNvPr id="3" name="Title 2"/>
          <p:cNvSpPr>
            <a:spLocks noGrp="1"/>
          </p:cNvSpPr>
          <p:nvPr>
            <p:ph type="title"/>
          </p:nvPr>
        </p:nvSpPr>
        <p:spPr/>
        <p:txBody>
          <a:bodyPr/>
          <a:lstStyle/>
          <a:p>
            <a:r>
              <a:rPr lang="en-US" dirty="0" smtClean="0"/>
              <a:t>Minnesota Enhanced Versus Usual Services</a:t>
            </a:r>
            <a:endParaRPr lang="en-US" dirty="0"/>
          </a:p>
        </p:txBody>
      </p:sp>
    </p:spTree>
    <p:extLst>
      <p:ext uri="{BB962C8B-B14F-4D97-AF65-F5344CB8AC3E}">
        <p14:creationId xmlns:p14="http://schemas.microsoft.com/office/powerpoint/2010/main" val="7540976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SGA </a:t>
            </a:r>
            <a:r>
              <a:rPr lang="en-US" dirty="0"/>
              <a:t>Project—Minnesota </a:t>
            </a:r>
            <a:r>
              <a:rPr lang="en-US" dirty="0" smtClean="0"/>
              <a:t>Context</a:t>
            </a:r>
            <a:endParaRPr lang="en-US" dirty="0"/>
          </a:p>
        </p:txBody>
      </p:sp>
      <p:sp>
        <p:nvSpPr>
          <p:cNvPr id="2" name="Content Placeholder 1"/>
          <p:cNvSpPr>
            <a:spLocks noGrp="1"/>
          </p:cNvSpPr>
          <p:nvPr>
            <p:ph idx="1"/>
          </p:nvPr>
        </p:nvSpPr>
        <p:spPr>
          <a:xfrm>
            <a:off x="575440" y="1600200"/>
            <a:ext cx="8174859" cy="4356100"/>
          </a:xfrm>
        </p:spPr>
        <p:txBody>
          <a:bodyPr>
            <a:normAutofit/>
          </a:bodyPr>
          <a:lstStyle/>
          <a:p>
            <a:r>
              <a:rPr lang="en-US" dirty="0" smtClean="0"/>
              <a:t>Existing focus on improving VR pacing pre-SGA by VR director</a:t>
            </a:r>
          </a:p>
          <a:p>
            <a:r>
              <a:rPr lang="en-US" dirty="0" smtClean="0"/>
              <a:t>Long history of motivational interviewing training at several levels of intensity</a:t>
            </a:r>
          </a:p>
          <a:p>
            <a:r>
              <a:rPr lang="en-US" dirty="0" smtClean="0"/>
              <a:t>Existing strong links with Social Security Administration (</a:t>
            </a:r>
            <a:r>
              <a:rPr lang="en-US" dirty="0" err="1" smtClean="0"/>
              <a:t>SSA</a:t>
            </a:r>
            <a:r>
              <a:rPr lang="en-US" dirty="0" smtClean="0"/>
              <a:t>) for benefit verification―quick turnaround already</a:t>
            </a:r>
          </a:p>
          <a:p>
            <a:r>
              <a:rPr lang="en-US" dirty="0" smtClean="0"/>
              <a:t>Use of dynamic IPE approach </a:t>
            </a:r>
          </a:p>
          <a:p>
            <a:r>
              <a:rPr lang="en-US" dirty="0" smtClean="0"/>
              <a:t>Existing emphasis on VRC and CRP teaming</a:t>
            </a:r>
          </a:p>
          <a:p>
            <a:r>
              <a:rPr lang="en-US" dirty="0" smtClean="0"/>
              <a:t>Lack of timely benefits analysis </a:t>
            </a:r>
          </a:p>
        </p:txBody>
      </p:sp>
    </p:spTree>
    <p:extLst>
      <p:ext uri="{BB962C8B-B14F-4D97-AF65-F5344CB8AC3E}">
        <p14:creationId xmlns:p14="http://schemas.microsoft.com/office/powerpoint/2010/main" val="18621199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nvPr>
        </p:nvGraphicFramePr>
        <p:xfrm>
          <a:off x="508000" y="1635617"/>
          <a:ext cx="8242300" cy="4320683"/>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2"/>
          <p:cNvSpPr>
            <a:spLocks noGrp="1"/>
          </p:cNvSpPr>
          <p:nvPr>
            <p:ph type="title"/>
          </p:nvPr>
        </p:nvSpPr>
        <p:spPr/>
        <p:txBody>
          <a:bodyPr/>
          <a:lstStyle/>
          <a:p>
            <a:r>
              <a:rPr lang="en-US" dirty="0" smtClean="0"/>
              <a:t>Minnesota: Innovation Implementation (</a:t>
            </a:r>
            <a:r>
              <a:rPr lang="en-US" dirty="0"/>
              <a:t>s</a:t>
            </a:r>
            <a:r>
              <a:rPr lang="en-US" dirty="0" smtClean="0"/>
              <a:t>elect measures)</a:t>
            </a:r>
            <a:endParaRPr lang="en-US" dirty="0"/>
          </a:p>
        </p:txBody>
      </p:sp>
    </p:spTree>
    <p:extLst>
      <p:ext uri="{BB962C8B-B14F-4D97-AF65-F5344CB8AC3E}">
        <p14:creationId xmlns:p14="http://schemas.microsoft.com/office/powerpoint/2010/main" val="20654172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8000" y="1637211"/>
            <a:ext cx="8242300" cy="4319089"/>
          </a:xfrm>
        </p:spPr>
        <p:txBody>
          <a:bodyPr/>
          <a:lstStyle/>
          <a:p>
            <a:r>
              <a:rPr lang="en-US" sz="2800" dirty="0" smtClean="0"/>
              <a:t>KWIC involvement and the benefit summary and analyses were considered by many as among the most significant and beneficial innovations of the SGA Project</a:t>
            </a:r>
          </a:p>
          <a:p>
            <a:r>
              <a:rPr lang="en-US" sz="2800" dirty="0" smtClean="0"/>
              <a:t>Early KWIC involvement was essential to provide accurate information to clients and address concerns about benefit loss</a:t>
            </a:r>
          </a:p>
          <a:p>
            <a:endParaRPr lang="en-US" sz="2800" dirty="0" smtClean="0"/>
          </a:p>
        </p:txBody>
      </p:sp>
      <p:sp>
        <p:nvSpPr>
          <p:cNvPr id="3" name="Title 2"/>
          <p:cNvSpPr>
            <a:spLocks noGrp="1"/>
          </p:cNvSpPr>
          <p:nvPr>
            <p:ph type="title"/>
          </p:nvPr>
        </p:nvSpPr>
        <p:spPr/>
        <p:txBody>
          <a:bodyPr/>
          <a:lstStyle/>
          <a:p>
            <a:r>
              <a:rPr lang="en-US" dirty="0" smtClean="0"/>
              <a:t>Staff Experiences and Challenges with </a:t>
            </a:r>
            <a:br>
              <a:rPr lang="en-US" dirty="0" smtClean="0"/>
            </a:br>
            <a:r>
              <a:rPr lang="en-US" dirty="0" smtClean="0"/>
              <a:t>SGA Project Innovation </a:t>
            </a:r>
            <a:endParaRPr lang="en-US" dirty="0"/>
          </a:p>
        </p:txBody>
      </p:sp>
    </p:spTree>
    <p:extLst>
      <p:ext uri="{BB962C8B-B14F-4D97-AF65-F5344CB8AC3E}">
        <p14:creationId xmlns:p14="http://schemas.microsoft.com/office/powerpoint/2010/main" val="41059693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Both States Had Similar</a:t>
            </a:r>
            <a:br>
              <a:rPr lang="en-US" dirty="0" smtClean="0"/>
            </a:br>
            <a:r>
              <a:rPr lang="en-US" dirty="0" smtClean="0"/>
              <a:t>Implementation Challenges</a:t>
            </a:r>
            <a:endParaRPr lang="en-US" dirty="0"/>
          </a:p>
        </p:txBody>
      </p:sp>
      <p:sp>
        <p:nvSpPr>
          <p:cNvPr id="2" name="Content Placeholder 1"/>
          <p:cNvSpPr>
            <a:spLocks noGrp="1"/>
          </p:cNvSpPr>
          <p:nvPr>
            <p:ph idx="1"/>
          </p:nvPr>
        </p:nvSpPr>
        <p:spPr/>
        <p:txBody>
          <a:bodyPr/>
          <a:lstStyle/>
          <a:p>
            <a:r>
              <a:rPr lang="en-US" dirty="0"/>
              <a:t>Confusion among staff about roles and responsibilities</a:t>
            </a:r>
          </a:p>
          <a:p>
            <a:r>
              <a:rPr lang="en-US" altLang="en-US" dirty="0" smtClean="0"/>
              <a:t>VRCs </a:t>
            </a:r>
            <a:r>
              <a:rPr lang="en-US" altLang="en-US" dirty="0"/>
              <a:t>needed additional training on team facilitation </a:t>
            </a:r>
          </a:p>
          <a:p>
            <a:r>
              <a:rPr lang="en-US" dirty="0" smtClean="0"/>
              <a:t>Large </a:t>
            </a:r>
            <a:r>
              <a:rPr lang="en-US" dirty="0"/>
              <a:t>caseloads and logistical barriers were an occasional impediment to pacing and service delivery</a:t>
            </a:r>
          </a:p>
          <a:p>
            <a:r>
              <a:rPr lang="en-US" dirty="0"/>
              <a:t>Difficulty in teaming adoption because of communication and logistical barriers (particularly in rural areas</a:t>
            </a:r>
            <a:r>
              <a:rPr lang="en-US" dirty="0" smtClean="0"/>
              <a:t>)</a:t>
            </a:r>
            <a:endParaRPr lang="en-US" dirty="0"/>
          </a:p>
        </p:txBody>
      </p:sp>
    </p:spTree>
    <p:extLst>
      <p:ext uri="{BB962C8B-B14F-4D97-AF65-F5344CB8AC3E}">
        <p14:creationId xmlns:p14="http://schemas.microsoft.com/office/powerpoint/2010/main" val="30824592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State-Specific Implementation Challenges</a:t>
            </a:r>
            <a:endParaRPr lang="en-US" dirty="0"/>
          </a:p>
        </p:txBody>
      </p:sp>
      <p:sp>
        <p:nvSpPr>
          <p:cNvPr id="2" name="Content Placeholder 1"/>
          <p:cNvSpPr>
            <a:spLocks noGrp="1"/>
          </p:cNvSpPr>
          <p:nvPr>
            <p:ph idx="1"/>
          </p:nvPr>
        </p:nvSpPr>
        <p:spPr>
          <a:xfrm>
            <a:off x="301625" y="1535282"/>
            <a:ext cx="8242300" cy="4114800"/>
          </a:xfrm>
        </p:spPr>
        <p:txBody>
          <a:bodyPr/>
          <a:lstStyle/>
          <a:p>
            <a:r>
              <a:rPr lang="en-US" dirty="0" smtClean="0"/>
              <a:t>Kentucky</a:t>
            </a:r>
          </a:p>
          <a:p>
            <a:pPr lvl="1"/>
            <a:r>
              <a:rPr lang="en-US" dirty="0" smtClean="0"/>
              <a:t>Some </a:t>
            </a:r>
            <a:r>
              <a:rPr lang="en-US" dirty="0" err="1" smtClean="0"/>
              <a:t>VRCs</a:t>
            </a:r>
            <a:r>
              <a:rPr lang="en-US" dirty="0" smtClean="0"/>
              <a:t> initially resisted adopting pacing and the faster approach to IPE</a:t>
            </a:r>
          </a:p>
          <a:p>
            <a:pPr lvl="1"/>
            <a:r>
              <a:rPr lang="en-US" dirty="0" smtClean="0"/>
              <a:t>Finding and retaining qualified KWICs</a:t>
            </a:r>
          </a:p>
          <a:p>
            <a:pPr lvl="1"/>
            <a:r>
              <a:rPr lang="en-US" dirty="0" smtClean="0"/>
              <a:t>Linkages </a:t>
            </a:r>
            <a:r>
              <a:rPr lang="en-US" dirty="0"/>
              <a:t>to </a:t>
            </a:r>
            <a:r>
              <a:rPr lang="en-US" dirty="0" err="1" smtClean="0"/>
              <a:t>SSA</a:t>
            </a:r>
            <a:r>
              <a:rPr lang="en-US" dirty="0" smtClean="0"/>
              <a:t> </a:t>
            </a:r>
            <a:r>
              <a:rPr lang="en-US" dirty="0"/>
              <a:t>are important</a:t>
            </a:r>
          </a:p>
          <a:p>
            <a:r>
              <a:rPr lang="en-US" dirty="0" smtClean="0"/>
              <a:t>Minnesota</a:t>
            </a:r>
          </a:p>
          <a:p>
            <a:pPr lvl="1"/>
            <a:r>
              <a:rPr lang="en-US" dirty="0" smtClean="0"/>
              <a:t>Early involvement of JPS was not universally accepted by </a:t>
            </a:r>
            <a:r>
              <a:rPr lang="en-US" dirty="0" err="1" smtClean="0"/>
              <a:t>VRCs</a:t>
            </a:r>
            <a:endParaRPr lang="en-US" dirty="0" smtClean="0"/>
          </a:p>
          <a:p>
            <a:pPr lvl="1"/>
            <a:r>
              <a:rPr lang="en-US" altLang="en-US" dirty="0"/>
              <a:t>Some VRCs felt a loss of control as “farmed out” to </a:t>
            </a:r>
            <a:r>
              <a:rPr lang="en-US" altLang="en-US" dirty="0" smtClean="0"/>
              <a:t>financial and placement </a:t>
            </a:r>
            <a:r>
              <a:rPr lang="en-US" altLang="en-US" dirty="0"/>
              <a:t>specialists</a:t>
            </a:r>
          </a:p>
          <a:p>
            <a:pPr lvl="1"/>
            <a:r>
              <a:rPr lang="en-US" dirty="0" smtClean="0"/>
              <a:t>Large rural areas were difficult for one JPS to serve   </a:t>
            </a:r>
          </a:p>
        </p:txBody>
      </p:sp>
    </p:spTree>
    <p:extLst>
      <p:ext uri="{BB962C8B-B14F-4D97-AF65-F5344CB8AC3E}">
        <p14:creationId xmlns:p14="http://schemas.microsoft.com/office/powerpoint/2010/main" val="7147616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Implementation Lessons</a:t>
            </a:r>
            <a:endParaRPr lang="en-US" dirty="0"/>
          </a:p>
        </p:txBody>
      </p:sp>
      <p:sp>
        <p:nvSpPr>
          <p:cNvPr id="2" name="Content Placeholder 1"/>
          <p:cNvSpPr>
            <a:spLocks noGrp="1"/>
          </p:cNvSpPr>
          <p:nvPr>
            <p:ph idx="1"/>
          </p:nvPr>
        </p:nvSpPr>
        <p:spPr/>
        <p:txBody>
          <a:bodyPr/>
          <a:lstStyle/>
          <a:p>
            <a:r>
              <a:rPr lang="en-US" dirty="0" smtClean="0"/>
              <a:t>More comfortable with a faster pace and seeing the IPE as an evolving document</a:t>
            </a:r>
          </a:p>
          <a:p>
            <a:r>
              <a:rPr lang="en-US" altLang="en-US" dirty="0"/>
              <a:t>VRCs can use developmental IPEs effectively</a:t>
            </a:r>
          </a:p>
          <a:p>
            <a:r>
              <a:rPr lang="en-US" altLang="en-US" dirty="0"/>
              <a:t>Not everyone needs full benefits analysis</a:t>
            </a:r>
          </a:p>
          <a:p>
            <a:r>
              <a:rPr lang="en-US" dirty="0" smtClean="0"/>
              <a:t>JPS role not a big change, but early involvement perceived as leading to developing more realistic employment goals</a:t>
            </a:r>
          </a:p>
          <a:p>
            <a:endParaRPr lang="en-US" dirty="0" smtClean="0"/>
          </a:p>
        </p:txBody>
      </p:sp>
    </p:spTree>
    <p:extLst>
      <p:ext uri="{BB962C8B-B14F-4D97-AF65-F5344CB8AC3E}">
        <p14:creationId xmlns:p14="http://schemas.microsoft.com/office/powerpoint/2010/main" val="36980559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678051" y="1550490"/>
            <a:ext cx="7772400" cy="1077860"/>
          </a:xfrm>
        </p:spPr>
        <p:txBody>
          <a:bodyPr/>
          <a:lstStyle/>
          <a:p>
            <a:r>
              <a:rPr lang="en-US" sz="3200" dirty="0"/>
              <a:t>Perspectives of VR Clients in the </a:t>
            </a:r>
            <a:r>
              <a:rPr lang="en-US" sz="3200" dirty="0" smtClean="0"/>
              <a:t/>
            </a:r>
            <a:br>
              <a:rPr lang="en-US" sz="3200" dirty="0" smtClean="0"/>
            </a:br>
            <a:r>
              <a:rPr lang="en-US" sz="3200" dirty="0" smtClean="0"/>
              <a:t>SGA </a:t>
            </a:r>
            <a:r>
              <a:rPr lang="en-US" sz="3200" dirty="0"/>
              <a:t>Project Demonstration</a:t>
            </a:r>
          </a:p>
        </p:txBody>
      </p:sp>
      <p:sp>
        <p:nvSpPr>
          <p:cNvPr id="3" name="Subtitle 2"/>
          <p:cNvSpPr>
            <a:spLocks noGrp="1"/>
          </p:cNvSpPr>
          <p:nvPr>
            <p:ph type="subTitle" sz="quarter" idx="1"/>
          </p:nvPr>
        </p:nvSpPr>
        <p:spPr>
          <a:xfrm>
            <a:off x="1371600" y="2913008"/>
            <a:ext cx="6400800" cy="1771235"/>
          </a:xfrm>
        </p:spPr>
        <p:txBody>
          <a:bodyPr/>
          <a:lstStyle/>
          <a:p>
            <a:r>
              <a:rPr lang="en-US" sz="2000" dirty="0" smtClean="0"/>
              <a:t>Allison B. Taylor</a:t>
            </a:r>
          </a:p>
          <a:p>
            <a:r>
              <a:rPr lang="en-US" sz="2000" dirty="0" smtClean="0"/>
              <a:t>Institute for Community Inclusion</a:t>
            </a:r>
          </a:p>
          <a:p>
            <a:endParaRPr lang="en-US" sz="2000" dirty="0"/>
          </a:p>
          <a:p>
            <a:r>
              <a:rPr lang="en-US" sz="2000" dirty="0"/>
              <a:t>Evidence-Based Practices in Vocational Rehabilitation: </a:t>
            </a:r>
            <a:br>
              <a:rPr lang="en-US" sz="2000" dirty="0"/>
            </a:br>
            <a:r>
              <a:rPr lang="en-US" sz="2000" dirty="0"/>
              <a:t>Advancing the State of the Science</a:t>
            </a:r>
          </a:p>
          <a:p>
            <a:endParaRPr lang="en-US" sz="2000" dirty="0"/>
          </a:p>
          <a:p>
            <a:r>
              <a:rPr lang="en-US" sz="2000" dirty="0"/>
              <a:t>May 23, 2018</a:t>
            </a:r>
          </a:p>
          <a:p>
            <a:endParaRPr lang="en-US" sz="2000" dirty="0"/>
          </a:p>
          <a:p>
            <a:endParaRPr lang="en-US" sz="2000" dirty="0" smtClean="0"/>
          </a:p>
          <a:p>
            <a:endParaRPr lang="en-US" sz="2000" dirty="0" smtClean="0"/>
          </a:p>
        </p:txBody>
      </p:sp>
    </p:spTree>
    <p:extLst>
      <p:ext uri="{BB962C8B-B14F-4D97-AF65-F5344CB8AC3E}">
        <p14:creationId xmlns:p14="http://schemas.microsoft.com/office/powerpoint/2010/main" val="2279152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Overview―Qualitative Study</a:t>
            </a:r>
            <a:endParaRPr lang="en-US" dirty="0"/>
          </a:p>
        </p:txBody>
      </p:sp>
      <p:sp>
        <p:nvSpPr>
          <p:cNvPr id="3" name="Content Placeholder 2"/>
          <p:cNvSpPr>
            <a:spLocks noGrp="1"/>
          </p:cNvSpPr>
          <p:nvPr>
            <p:ph idx="1"/>
          </p:nvPr>
        </p:nvSpPr>
        <p:spPr>
          <a:xfrm>
            <a:off x="768097" y="1615736"/>
            <a:ext cx="8216105" cy="4094542"/>
          </a:xfrm>
        </p:spPr>
        <p:txBody>
          <a:bodyPr>
            <a:noAutofit/>
          </a:bodyPr>
          <a:lstStyle/>
          <a:p>
            <a:r>
              <a:rPr lang="en-US" sz="2700" dirty="0"/>
              <a:t>Purpose: Gather the experiences and perspectives of VR customers who receive SSDI </a:t>
            </a:r>
            <a:r>
              <a:rPr lang="en-US" sz="2700" dirty="0" smtClean="0"/>
              <a:t>benefits in Minnesota </a:t>
            </a:r>
            <a:r>
              <a:rPr lang="en-US" sz="2700" dirty="0"/>
              <a:t>and </a:t>
            </a:r>
            <a:r>
              <a:rPr lang="en-US" sz="2700" dirty="0" smtClean="0"/>
              <a:t>Kentucky</a:t>
            </a:r>
            <a:endParaRPr lang="en-US" sz="2700" dirty="0"/>
          </a:p>
          <a:p>
            <a:r>
              <a:rPr lang="en-US" sz="2700" dirty="0"/>
              <a:t>Sample: </a:t>
            </a:r>
          </a:p>
          <a:p>
            <a:pPr lvl="1">
              <a:buFont typeface="Wingdings" panose="05000000000000000000" pitchFamily="2" charset="2"/>
              <a:buChar char="Ø"/>
            </a:pPr>
            <a:r>
              <a:rPr lang="en-US" sz="2700" dirty="0" smtClean="0"/>
              <a:t>48 </a:t>
            </a:r>
            <a:r>
              <a:rPr lang="en-US" sz="2700" dirty="0"/>
              <a:t>VR </a:t>
            </a:r>
            <a:r>
              <a:rPr lang="en-US" sz="2700" dirty="0" smtClean="0"/>
              <a:t>customers w/SSDI (KY 25, MN 23)</a:t>
            </a:r>
            <a:endParaRPr lang="en-US" sz="2700" dirty="0"/>
          </a:p>
          <a:p>
            <a:pPr lvl="1">
              <a:buFont typeface="Wingdings" panose="05000000000000000000" pitchFamily="2" charset="2"/>
              <a:buChar char="Ø"/>
            </a:pPr>
            <a:r>
              <a:rPr lang="en-US" sz="2700" dirty="0" smtClean="0"/>
              <a:t>Most </a:t>
            </a:r>
            <a:r>
              <a:rPr lang="en-US" sz="2700" dirty="0"/>
              <a:t>from treatment sites (75% </a:t>
            </a:r>
            <a:r>
              <a:rPr lang="en-US" sz="2700" dirty="0" smtClean="0"/>
              <a:t>treatment, </a:t>
            </a:r>
            <a:r>
              <a:rPr lang="en-US" sz="2700" dirty="0"/>
              <a:t>25% </a:t>
            </a:r>
            <a:r>
              <a:rPr lang="en-US" sz="2700" dirty="0" smtClean="0"/>
              <a:t>control)</a:t>
            </a:r>
            <a:endParaRPr lang="en-US" sz="2700" dirty="0"/>
          </a:p>
          <a:p>
            <a:r>
              <a:rPr lang="en-US" sz="2700" dirty="0"/>
              <a:t>Method:</a:t>
            </a:r>
          </a:p>
          <a:p>
            <a:pPr lvl="1">
              <a:buFont typeface="Wingdings" panose="05000000000000000000" pitchFamily="2" charset="2"/>
              <a:buChar char="Ø"/>
            </a:pPr>
            <a:r>
              <a:rPr lang="en-US" sz="2700" dirty="0" smtClean="0"/>
              <a:t>1 to 3 in-depth </a:t>
            </a:r>
            <a:r>
              <a:rPr lang="en-US" sz="2700" dirty="0"/>
              <a:t>qualitative interviews</a:t>
            </a:r>
          </a:p>
        </p:txBody>
      </p:sp>
    </p:spTree>
    <p:extLst>
      <p:ext uri="{BB962C8B-B14F-4D97-AF65-F5344CB8AC3E}">
        <p14:creationId xmlns:p14="http://schemas.microsoft.com/office/powerpoint/2010/main" val="11966433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lstStyle/>
          <a:p>
            <a:r>
              <a:rPr lang="en-US" dirty="0" smtClean="0"/>
              <a:t>Participants’ Demographics</a:t>
            </a:r>
            <a:endParaRPr lang="en-US" dirty="0"/>
          </a:p>
        </p:txBody>
      </p:sp>
      <p:sp>
        <p:nvSpPr>
          <p:cNvPr id="10" name="Text Placeholder 9"/>
          <p:cNvSpPr>
            <a:spLocks noGrp="1"/>
          </p:cNvSpPr>
          <p:nvPr>
            <p:ph idx="1"/>
          </p:nvPr>
        </p:nvSpPr>
        <p:spPr/>
        <p:txBody>
          <a:bodyPr>
            <a:normAutofit/>
          </a:bodyPr>
          <a:lstStyle/>
          <a:p>
            <a:pPr algn="ctr"/>
            <a:r>
              <a:rPr lang="en-US" dirty="0"/>
              <a:t>Qualitative Data</a:t>
            </a:r>
          </a:p>
        </p:txBody>
      </p:sp>
      <p:graphicFrame>
        <p:nvGraphicFramePr>
          <p:cNvPr id="14" name="Table 13"/>
          <p:cNvGraphicFramePr>
            <a:graphicFrameLocks noGrp="1"/>
          </p:cNvGraphicFramePr>
          <p:nvPr>
            <p:extLst>
              <p:ext uri="{D42A27DB-BD31-4B8C-83A1-F6EECF244321}">
                <p14:modId xmlns:p14="http://schemas.microsoft.com/office/powerpoint/2010/main" val="2191184226"/>
              </p:ext>
            </p:extLst>
          </p:nvPr>
        </p:nvGraphicFramePr>
        <p:xfrm>
          <a:off x="530515" y="1580272"/>
          <a:ext cx="7990893" cy="4232876"/>
        </p:xfrm>
        <a:graphic>
          <a:graphicData uri="http://schemas.openxmlformats.org/drawingml/2006/table">
            <a:tbl>
              <a:tblPr firstRow="1" bandRow="1">
                <a:tableStyleId>{5C22544A-7EE6-4342-B048-85BDC9FD1C3A}</a:tableStyleId>
              </a:tblPr>
              <a:tblGrid>
                <a:gridCol w="2134902"/>
                <a:gridCol w="2791949"/>
                <a:gridCol w="3064042"/>
              </a:tblGrid>
              <a:tr h="385470">
                <a:tc>
                  <a:txBody>
                    <a:bodyPr/>
                    <a:lstStyle/>
                    <a:p>
                      <a:endParaRPr lang="en-US" sz="2000" b="1" dirty="0"/>
                    </a:p>
                  </a:txBody>
                  <a:tcPr marL="68580" marR="68580" marT="34290" marB="34290"/>
                </a:tc>
                <a:tc>
                  <a:txBody>
                    <a:bodyPr/>
                    <a:lstStyle/>
                    <a:p>
                      <a:pPr algn="ctr"/>
                      <a:r>
                        <a:rPr lang="en-US" sz="2000" b="1" dirty="0" smtClean="0"/>
                        <a:t>Qualitative</a:t>
                      </a:r>
                      <a:r>
                        <a:rPr lang="en-US" sz="2000" b="1" baseline="0" dirty="0" smtClean="0"/>
                        <a:t> study</a:t>
                      </a:r>
                      <a:endParaRPr lang="en-US" sz="2000" b="1" dirty="0"/>
                    </a:p>
                  </a:txBody>
                  <a:tcPr marL="68580" marR="68580" marT="34290" marB="34290"/>
                </a:tc>
                <a:tc>
                  <a:txBody>
                    <a:bodyPr/>
                    <a:lstStyle/>
                    <a:p>
                      <a:pPr algn="ctr"/>
                      <a:r>
                        <a:rPr lang="en-US" sz="2000" b="1" dirty="0" smtClean="0"/>
                        <a:t>SGA project</a:t>
                      </a:r>
                      <a:r>
                        <a:rPr lang="en-US" sz="2000" b="1" baseline="0" dirty="0" smtClean="0"/>
                        <a:t> overall</a:t>
                      </a:r>
                      <a:endParaRPr lang="en-US" sz="2000" b="1" dirty="0"/>
                    </a:p>
                  </a:txBody>
                  <a:tcPr marL="68580" marR="68580" marT="34290" marB="34290"/>
                </a:tc>
              </a:tr>
              <a:tr h="385470">
                <a:tc>
                  <a:txBody>
                    <a:bodyPr/>
                    <a:lstStyle/>
                    <a:p>
                      <a:r>
                        <a:rPr lang="en-US" sz="2000" b="1" u="none" dirty="0" smtClean="0">
                          <a:solidFill>
                            <a:schemeClr val="tx1"/>
                          </a:solidFill>
                        </a:rPr>
                        <a:t>Gender</a:t>
                      </a:r>
                    </a:p>
                  </a:txBody>
                  <a:tcPr marL="68580" marR="68580" marT="34290" marB="34290"/>
                </a:tc>
                <a:tc>
                  <a:txBody>
                    <a:bodyPr/>
                    <a:lstStyle/>
                    <a:p>
                      <a:pPr algn="ctr"/>
                      <a:endParaRPr lang="en-US" sz="2000" b="1" dirty="0"/>
                    </a:p>
                  </a:txBody>
                  <a:tcPr marL="68580" marR="68580" marT="34290" marB="34290"/>
                </a:tc>
                <a:tc>
                  <a:txBody>
                    <a:bodyPr/>
                    <a:lstStyle/>
                    <a:p>
                      <a:pPr algn="ctr"/>
                      <a:endParaRPr lang="en-US" sz="2000" b="1" dirty="0"/>
                    </a:p>
                  </a:txBody>
                  <a:tcPr marL="68580" marR="68580" marT="34290" marB="34290"/>
                </a:tc>
              </a:tr>
              <a:tr h="385470">
                <a:tc>
                  <a:txBody>
                    <a:bodyPr/>
                    <a:lstStyle/>
                    <a:p>
                      <a:pPr marL="285750" marR="0" lvl="0" indent="-285750" algn="l" defTabSz="914400" rtl="0" eaLnBrk="1" fontAlgn="auto" latinLnBrk="0" hangingPunct="1">
                        <a:lnSpc>
                          <a:spcPct val="100000"/>
                        </a:lnSpc>
                        <a:spcBef>
                          <a:spcPts val="0"/>
                        </a:spcBef>
                        <a:spcAft>
                          <a:spcPts val="0"/>
                        </a:spcAft>
                        <a:buClrTx/>
                        <a:buSzTx/>
                        <a:buFont typeface="Arial" charset="0"/>
                        <a:buNone/>
                        <a:tabLst/>
                        <a:defRPr/>
                      </a:pPr>
                      <a:r>
                        <a:rPr lang="en-US" sz="2000" b="0" dirty="0" smtClean="0"/>
                        <a:t>  Male</a:t>
                      </a:r>
                      <a:endParaRPr lang="en-US" sz="2000" b="0" dirty="0"/>
                    </a:p>
                  </a:txBody>
                  <a:tcPr marL="68580" marR="68580" marT="34290" marB="34290"/>
                </a:tc>
                <a:tc>
                  <a:txBody>
                    <a:bodyPr/>
                    <a:lstStyle/>
                    <a:p>
                      <a:pPr algn="ctr"/>
                      <a:r>
                        <a:rPr lang="en-US" sz="2000" b="0" dirty="0" smtClean="0"/>
                        <a:t>40%</a:t>
                      </a:r>
                    </a:p>
                  </a:txBody>
                  <a:tcPr marL="68580" marR="68580" marT="34290" marB="34290"/>
                </a:tc>
                <a:tc>
                  <a:txBody>
                    <a:bodyPr/>
                    <a:lstStyle/>
                    <a:p>
                      <a:pPr algn="ctr"/>
                      <a:r>
                        <a:rPr lang="en-US" sz="2000" b="0" dirty="0" smtClean="0"/>
                        <a:t>53%</a:t>
                      </a:r>
                      <a:endParaRPr lang="en-US" sz="2000" b="0" dirty="0"/>
                    </a:p>
                  </a:txBody>
                  <a:tcPr marL="68580" marR="68580" marT="34290" marB="34290"/>
                </a:tc>
              </a:tr>
              <a:tr h="385470">
                <a:tc>
                  <a:txBody>
                    <a:bodyPr/>
                    <a:lstStyle/>
                    <a:p>
                      <a:r>
                        <a:rPr lang="en-US" sz="2000" b="0" dirty="0" smtClean="0"/>
                        <a:t>  Female</a:t>
                      </a:r>
                      <a:endParaRPr lang="en-US" sz="2000" b="0" dirty="0"/>
                    </a:p>
                  </a:txBody>
                  <a:tcPr marL="68580" marR="68580" marT="34290" marB="34290"/>
                </a:tc>
                <a:tc>
                  <a:txBody>
                    <a:bodyPr/>
                    <a:lstStyle/>
                    <a:p>
                      <a:pPr algn="ctr"/>
                      <a:r>
                        <a:rPr lang="en-US" sz="2000" b="0" dirty="0" smtClean="0"/>
                        <a:t>60%</a:t>
                      </a:r>
                    </a:p>
                  </a:txBody>
                  <a:tcPr marL="68580" marR="68580" marT="34290" marB="34290"/>
                </a:tc>
                <a:tc>
                  <a:txBody>
                    <a:bodyPr/>
                    <a:lstStyle/>
                    <a:p>
                      <a:pPr algn="ctr"/>
                      <a:r>
                        <a:rPr lang="en-US" sz="2000" b="0" dirty="0" smtClean="0"/>
                        <a:t>47%</a:t>
                      </a:r>
                      <a:endParaRPr lang="en-US" sz="2000" b="0" dirty="0"/>
                    </a:p>
                  </a:txBody>
                  <a:tcPr marL="68580" marR="68580" marT="34290" marB="34290"/>
                </a:tc>
              </a:tr>
              <a:tr h="385470">
                <a:tc>
                  <a:txBody>
                    <a:bodyPr/>
                    <a:lstStyle/>
                    <a:p>
                      <a:r>
                        <a:rPr lang="en-US" sz="2000" b="1" u="none" dirty="0" smtClean="0"/>
                        <a:t>Race/Ethnicity</a:t>
                      </a:r>
                      <a:endParaRPr lang="en-US" sz="2000" b="1" u="none" dirty="0"/>
                    </a:p>
                  </a:txBody>
                  <a:tcPr marL="68580" marR="68580" marT="34290" marB="34290"/>
                </a:tc>
                <a:tc>
                  <a:txBody>
                    <a:bodyPr/>
                    <a:lstStyle/>
                    <a:p>
                      <a:pPr algn="ctr"/>
                      <a:endParaRPr lang="en-US" sz="2000" b="1" dirty="0"/>
                    </a:p>
                  </a:txBody>
                  <a:tcPr marL="68580" marR="68580" marT="34290" marB="34290"/>
                </a:tc>
                <a:tc>
                  <a:txBody>
                    <a:bodyPr/>
                    <a:lstStyle/>
                    <a:p>
                      <a:pPr algn="ctr"/>
                      <a:endParaRPr lang="en-US" sz="2000" b="1" dirty="0"/>
                    </a:p>
                  </a:txBody>
                  <a:tcPr marL="68580" marR="68580" marT="34290" marB="34290"/>
                </a:tc>
              </a:tr>
              <a:tr h="385470">
                <a:tc>
                  <a:txBody>
                    <a:bodyPr/>
                    <a:lstStyle/>
                    <a:p>
                      <a:r>
                        <a:rPr lang="en-US" sz="2000" b="0" dirty="0" smtClean="0"/>
                        <a:t>  Black</a:t>
                      </a:r>
                      <a:endParaRPr lang="en-US" sz="2000" b="0" dirty="0"/>
                    </a:p>
                  </a:txBody>
                  <a:tcPr marL="68580" marR="68580" marT="34290" marB="34290"/>
                </a:tc>
                <a:tc>
                  <a:txBody>
                    <a:bodyPr/>
                    <a:lstStyle/>
                    <a:p>
                      <a:pPr algn="ctr"/>
                      <a:r>
                        <a:rPr lang="en-US" sz="2000" b="0" dirty="0" smtClean="0"/>
                        <a:t>21%</a:t>
                      </a:r>
                      <a:endParaRPr lang="en-US" sz="2000" b="0" dirty="0"/>
                    </a:p>
                  </a:txBody>
                  <a:tcPr marL="68580" marR="68580" marT="34290" marB="34290"/>
                </a:tc>
                <a:tc>
                  <a:txBody>
                    <a:bodyPr/>
                    <a:lstStyle/>
                    <a:p>
                      <a:pPr algn="ctr"/>
                      <a:r>
                        <a:rPr lang="en-US" sz="2000" b="0" dirty="0" smtClean="0"/>
                        <a:t>16%</a:t>
                      </a:r>
                      <a:endParaRPr lang="en-US" sz="2000" b="0" dirty="0"/>
                    </a:p>
                  </a:txBody>
                  <a:tcPr marL="68580" marR="68580" marT="34290" marB="34290"/>
                </a:tc>
              </a:tr>
              <a:tr h="385470">
                <a:tc>
                  <a:txBody>
                    <a:bodyPr/>
                    <a:lstStyle/>
                    <a:p>
                      <a:r>
                        <a:rPr lang="en-US" sz="2000" b="0" dirty="0" smtClean="0"/>
                        <a:t>  White</a:t>
                      </a:r>
                      <a:endParaRPr lang="en-US" sz="2000" b="0" dirty="0"/>
                    </a:p>
                  </a:txBody>
                  <a:tcPr marL="68580" marR="68580" marT="34290" marB="34290"/>
                </a:tc>
                <a:tc>
                  <a:txBody>
                    <a:bodyPr/>
                    <a:lstStyle/>
                    <a:p>
                      <a:pPr algn="ctr"/>
                      <a:r>
                        <a:rPr lang="en-US" sz="2000" b="0" dirty="0" smtClean="0"/>
                        <a:t>77%</a:t>
                      </a:r>
                      <a:endParaRPr lang="en-US" sz="2000" b="0" dirty="0"/>
                    </a:p>
                  </a:txBody>
                  <a:tcPr marL="68580" marR="68580" marT="34290" marB="34290"/>
                </a:tc>
                <a:tc>
                  <a:txBody>
                    <a:bodyPr/>
                    <a:lstStyle/>
                    <a:p>
                      <a:pPr algn="ctr"/>
                      <a:r>
                        <a:rPr lang="en-US" sz="2000" b="0" dirty="0" smtClean="0"/>
                        <a:t>80%</a:t>
                      </a:r>
                      <a:endParaRPr lang="en-US" sz="2000" b="0" dirty="0"/>
                    </a:p>
                  </a:txBody>
                  <a:tcPr marL="68580" marR="68580" marT="34290" marB="34290"/>
                </a:tc>
              </a:tr>
              <a:tr h="385470">
                <a:tc>
                  <a:txBody>
                    <a:bodyPr/>
                    <a:lstStyle/>
                    <a:p>
                      <a:r>
                        <a:rPr lang="en-US" sz="2000" b="0" dirty="0" smtClean="0"/>
                        <a:t>  Latino</a:t>
                      </a:r>
                      <a:endParaRPr lang="en-US" sz="2000" b="0" dirty="0"/>
                    </a:p>
                  </a:txBody>
                  <a:tcPr marL="68580" marR="68580" marT="34290" marB="34290"/>
                </a:tc>
                <a:tc>
                  <a:txBody>
                    <a:bodyPr/>
                    <a:lstStyle/>
                    <a:p>
                      <a:pPr algn="ctr"/>
                      <a:r>
                        <a:rPr lang="en-US" sz="2000" b="0" dirty="0" smtClean="0"/>
                        <a:t>2%</a:t>
                      </a:r>
                      <a:endParaRPr lang="en-US" sz="2000" b="0" dirty="0"/>
                    </a:p>
                  </a:txBody>
                  <a:tcPr marL="68580" marR="68580" marT="34290" marB="34290"/>
                </a:tc>
                <a:tc>
                  <a:txBody>
                    <a:bodyPr/>
                    <a:lstStyle/>
                    <a:p>
                      <a:pPr algn="ctr"/>
                      <a:r>
                        <a:rPr lang="en-US" sz="2000" b="0" dirty="0" smtClean="0"/>
                        <a:t>3%</a:t>
                      </a:r>
                      <a:endParaRPr lang="en-US" sz="2000" b="0" dirty="0"/>
                    </a:p>
                  </a:txBody>
                  <a:tcPr marL="68580" marR="68580" marT="34290" marB="34290"/>
                </a:tc>
              </a:tr>
              <a:tr h="385470">
                <a:tc>
                  <a:txBody>
                    <a:bodyPr/>
                    <a:lstStyle/>
                    <a:p>
                      <a:r>
                        <a:rPr lang="en-US" sz="2000" b="1" u="none" kern="1200" dirty="0" smtClean="0">
                          <a:solidFill>
                            <a:schemeClr val="dk1"/>
                          </a:solidFill>
                          <a:latin typeface="+mn-lt"/>
                          <a:ea typeface="+mn-ea"/>
                          <a:cs typeface="+mn-cs"/>
                        </a:rPr>
                        <a:t>Age</a:t>
                      </a:r>
                      <a:endParaRPr lang="en-US" sz="2000" b="1" u="none" kern="1200" dirty="0">
                        <a:solidFill>
                          <a:schemeClr val="dk1"/>
                        </a:solidFill>
                        <a:latin typeface="+mn-lt"/>
                        <a:ea typeface="+mn-ea"/>
                        <a:cs typeface="+mn-cs"/>
                      </a:endParaRPr>
                    </a:p>
                  </a:txBody>
                  <a:tcPr marL="68580" marR="68580" marT="34290" marB="34290"/>
                </a:tc>
                <a:tc>
                  <a:txBody>
                    <a:bodyPr/>
                    <a:lstStyle/>
                    <a:p>
                      <a:pPr algn="ctr"/>
                      <a:endParaRPr lang="en-US" sz="2000" b="1" dirty="0"/>
                    </a:p>
                  </a:txBody>
                  <a:tcPr marL="68580" marR="68580" marT="34290" marB="34290"/>
                </a:tc>
                <a:tc>
                  <a:txBody>
                    <a:bodyPr/>
                    <a:lstStyle/>
                    <a:p>
                      <a:pPr algn="ctr"/>
                      <a:endParaRPr lang="en-US" sz="2000" b="1" dirty="0"/>
                    </a:p>
                  </a:txBody>
                  <a:tcPr marL="68580" marR="68580" marT="34290" marB="34290"/>
                </a:tc>
              </a:tr>
              <a:tr h="378176">
                <a:tc>
                  <a:txBody>
                    <a:bodyPr/>
                    <a:lstStyle/>
                    <a:p>
                      <a:r>
                        <a:rPr lang="en-US" sz="2000" b="0" dirty="0" smtClean="0"/>
                        <a:t> </a:t>
                      </a:r>
                      <a:r>
                        <a:rPr lang="en-US" sz="2000" b="0" baseline="0" dirty="0" smtClean="0"/>
                        <a:t> Range</a:t>
                      </a:r>
                      <a:endParaRPr lang="en-US" sz="2000" b="0" dirty="0"/>
                    </a:p>
                  </a:txBody>
                  <a:tcPr marL="68580" marR="68580" marT="34290" marB="34290"/>
                </a:tc>
                <a:tc>
                  <a:txBody>
                    <a:bodyPr/>
                    <a:lstStyle/>
                    <a:p>
                      <a:pPr algn="ctr"/>
                      <a:r>
                        <a:rPr lang="en-US" sz="2000" b="0" dirty="0" smtClean="0"/>
                        <a:t>26–65</a:t>
                      </a:r>
                      <a:endParaRPr lang="en-US" sz="2000" b="0" dirty="0"/>
                    </a:p>
                  </a:txBody>
                  <a:tcPr marL="68580" marR="68580" marT="34290" marB="34290"/>
                </a:tc>
                <a:tc>
                  <a:txBody>
                    <a:bodyPr/>
                    <a:lstStyle/>
                    <a:p>
                      <a:pPr algn="ctr"/>
                      <a:r>
                        <a:rPr lang="en-US" sz="2000" b="0" dirty="0" smtClean="0"/>
                        <a:t>18–65</a:t>
                      </a:r>
                      <a:endParaRPr lang="en-US" sz="2000" b="0" dirty="0"/>
                    </a:p>
                  </a:txBody>
                  <a:tcPr marL="68580" marR="68580" marT="34290" marB="34290"/>
                </a:tc>
              </a:tr>
              <a:tr h="385470">
                <a:tc>
                  <a:txBody>
                    <a:bodyPr/>
                    <a:lstStyle/>
                    <a:p>
                      <a:r>
                        <a:rPr lang="en-US" sz="2000" b="0" baseline="0" dirty="0" smtClean="0"/>
                        <a:t>  Median</a:t>
                      </a:r>
                      <a:endParaRPr lang="en-US" sz="2000" b="0" dirty="0"/>
                    </a:p>
                  </a:txBody>
                  <a:tcPr marL="68580" marR="68580" marT="34290" marB="34290"/>
                </a:tc>
                <a:tc>
                  <a:txBody>
                    <a:bodyPr/>
                    <a:lstStyle/>
                    <a:p>
                      <a:pPr algn="ctr"/>
                      <a:r>
                        <a:rPr lang="en-US" sz="2000" b="0" dirty="0" smtClean="0"/>
                        <a:t>51</a:t>
                      </a:r>
                      <a:endParaRPr lang="en-US" sz="2000" b="0" dirty="0"/>
                    </a:p>
                  </a:txBody>
                  <a:tcPr marL="68580" marR="68580" marT="34290" marB="34290"/>
                </a:tc>
                <a:tc>
                  <a:txBody>
                    <a:bodyPr/>
                    <a:lstStyle/>
                    <a:p>
                      <a:pPr algn="ctr"/>
                      <a:r>
                        <a:rPr lang="en-US" sz="2000" b="0" dirty="0" smtClean="0"/>
                        <a:t>49</a:t>
                      </a:r>
                      <a:endParaRPr lang="en-US" sz="2000" b="0" dirty="0"/>
                    </a:p>
                  </a:txBody>
                  <a:tcPr marL="68580" marR="68580" marT="34290" marB="34290"/>
                </a:tc>
              </a:tr>
            </a:tbl>
          </a:graphicData>
        </a:graphic>
      </p:graphicFrame>
    </p:spTree>
    <p:extLst>
      <p:ext uri="{BB962C8B-B14F-4D97-AF65-F5344CB8AC3E}">
        <p14:creationId xmlns:p14="http://schemas.microsoft.com/office/powerpoint/2010/main" val="20341393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Questions</a:t>
            </a:r>
            <a:endParaRPr lang="en-US" dirty="0"/>
          </a:p>
        </p:txBody>
      </p:sp>
      <p:sp>
        <p:nvSpPr>
          <p:cNvPr id="3" name="Content Placeholder 2"/>
          <p:cNvSpPr>
            <a:spLocks noGrp="1"/>
          </p:cNvSpPr>
          <p:nvPr>
            <p:ph idx="1"/>
          </p:nvPr>
        </p:nvSpPr>
        <p:spPr>
          <a:xfrm>
            <a:off x="628650" y="1660125"/>
            <a:ext cx="7886700" cy="4255894"/>
          </a:xfrm>
        </p:spPr>
        <p:txBody>
          <a:bodyPr>
            <a:noAutofit/>
          </a:bodyPr>
          <a:lstStyle/>
          <a:p>
            <a:pPr>
              <a:buFont typeface="Wingdings" panose="05000000000000000000" pitchFamily="2" charset="2"/>
              <a:buChar char="Ø"/>
            </a:pPr>
            <a:r>
              <a:rPr lang="en-US" sz="3200" dirty="0"/>
              <a:t>What are the experiences </a:t>
            </a:r>
            <a:r>
              <a:rPr lang="en-US" sz="3200" dirty="0" smtClean="0"/>
              <a:t>and perspectives </a:t>
            </a:r>
            <a:r>
              <a:rPr lang="en-US" sz="3200" dirty="0"/>
              <a:t>of VR customers with SSDI? </a:t>
            </a:r>
          </a:p>
          <a:p>
            <a:pPr marL="342900" lvl="3" indent="-342900">
              <a:spcBef>
                <a:spcPts val="600"/>
              </a:spcBef>
              <a:spcAft>
                <a:spcPts val="600"/>
              </a:spcAft>
              <a:buClr>
                <a:srgbClr val="C00000"/>
              </a:buClr>
              <a:buSzPct val="100000"/>
              <a:buFont typeface="Wingdings" panose="05000000000000000000" pitchFamily="2" charset="2"/>
              <a:buChar char="Ø"/>
            </a:pPr>
            <a:r>
              <a:rPr lang="en-US" sz="3200" dirty="0">
                <a:ea typeface="+mn-ea"/>
                <a:cs typeface="+mn-cs"/>
              </a:rPr>
              <a:t>How do they make decisions about working?</a:t>
            </a:r>
          </a:p>
          <a:p>
            <a:pPr marL="342900" lvl="3" indent="-342900">
              <a:spcBef>
                <a:spcPts val="600"/>
              </a:spcBef>
              <a:spcAft>
                <a:spcPts val="600"/>
              </a:spcAft>
              <a:buClr>
                <a:srgbClr val="C00000"/>
              </a:buClr>
              <a:buSzPct val="100000"/>
              <a:buFont typeface="Wingdings" panose="05000000000000000000" pitchFamily="2" charset="2"/>
              <a:buChar char="Ø"/>
            </a:pPr>
            <a:r>
              <a:rPr lang="en-US" sz="3200" dirty="0">
                <a:ea typeface="+mn-ea"/>
                <a:cs typeface="+mn-cs"/>
              </a:rPr>
              <a:t>What is the role of VR in those decisions?</a:t>
            </a:r>
          </a:p>
        </p:txBody>
      </p:sp>
    </p:spTree>
    <p:extLst>
      <p:ext uri="{BB962C8B-B14F-4D97-AF65-F5344CB8AC3E}">
        <p14:creationId xmlns:p14="http://schemas.microsoft.com/office/powerpoint/2010/main" val="1127583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Content Placeholder 4" descr="6 hexagons arranged around a central hexagon that reads &quot;Decisions about working.&quot; The smaller hexagons have clipart images with labels representing:&#10;Disabilities&#10;SSDI &amp; Other Benefits&#10;Transportation&#10;Family&#10;Meaning of Work&#10;Being Active/Social&#10;" title="Decisions about Working Chart"/>
          <p:cNvGraphicFramePr>
            <a:graphicFrameLocks/>
          </p:cNvGraphicFramePr>
          <p:nvPr>
            <p:extLst>
              <p:ext uri="{D42A27DB-BD31-4B8C-83A1-F6EECF244321}">
                <p14:modId xmlns:p14="http://schemas.microsoft.com/office/powerpoint/2010/main" val="3604361812"/>
              </p:ext>
            </p:extLst>
          </p:nvPr>
        </p:nvGraphicFramePr>
        <p:xfrm>
          <a:off x="855641" y="1697434"/>
          <a:ext cx="6908739" cy="39391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 name="TextBox 23"/>
          <p:cNvSpPr txBox="1"/>
          <p:nvPr/>
        </p:nvSpPr>
        <p:spPr>
          <a:xfrm>
            <a:off x="6115547" y="3922546"/>
            <a:ext cx="1728463" cy="446276"/>
          </a:xfrm>
          <a:prstGeom prst="rect">
            <a:avLst/>
          </a:prstGeom>
          <a:noFill/>
        </p:spPr>
        <p:txBody>
          <a:bodyPr wrap="square" rtlCol="0">
            <a:spAutoFit/>
          </a:bodyPr>
          <a:lstStyle/>
          <a:p>
            <a:pPr eaLnBrk="1" fontAlgn="auto" hangingPunct="1">
              <a:spcBef>
                <a:spcPts val="0"/>
              </a:spcBef>
              <a:spcAft>
                <a:spcPts val="0"/>
              </a:spcAft>
            </a:pPr>
            <a:r>
              <a:rPr lang="en-US" sz="2300" b="0" dirty="0">
                <a:solidFill>
                  <a:srgbClr val="0070C0"/>
                </a:solidFill>
                <a:latin typeface="Tw Cen MT Condensed" panose="020B0606020104020203"/>
              </a:rPr>
              <a:t>Transportation</a:t>
            </a:r>
          </a:p>
        </p:txBody>
      </p:sp>
      <p:sp>
        <p:nvSpPr>
          <p:cNvPr id="25" name="TextBox 24"/>
          <p:cNvSpPr txBox="1"/>
          <p:nvPr/>
        </p:nvSpPr>
        <p:spPr>
          <a:xfrm>
            <a:off x="4844045" y="1691787"/>
            <a:ext cx="2856745" cy="446276"/>
          </a:xfrm>
          <a:prstGeom prst="rect">
            <a:avLst/>
          </a:prstGeom>
          <a:noFill/>
        </p:spPr>
        <p:txBody>
          <a:bodyPr wrap="square" rtlCol="0">
            <a:spAutoFit/>
          </a:bodyPr>
          <a:lstStyle>
            <a:defPPr>
              <a:defRPr lang="en-US"/>
            </a:defPPr>
            <a:lvl1pPr>
              <a:defRPr sz="4400">
                <a:latin typeface="+mj-lt"/>
              </a:defRPr>
            </a:lvl1pPr>
          </a:lstStyle>
          <a:p>
            <a:pPr eaLnBrk="1" fontAlgn="auto" hangingPunct="1">
              <a:spcBef>
                <a:spcPts val="0"/>
              </a:spcBef>
              <a:spcAft>
                <a:spcPts val="0"/>
              </a:spcAft>
            </a:pPr>
            <a:r>
              <a:rPr lang="en-US" sz="2300" b="0" dirty="0" err="1">
                <a:solidFill>
                  <a:srgbClr val="0070C0"/>
                </a:solidFill>
                <a:latin typeface="Tw Cen MT Condensed" panose="020B0606020104020203"/>
              </a:rPr>
              <a:t>SSDI</a:t>
            </a:r>
            <a:r>
              <a:rPr lang="en-US" sz="2300" b="0" dirty="0">
                <a:solidFill>
                  <a:srgbClr val="0070C0"/>
                </a:solidFill>
                <a:latin typeface="Tw Cen MT Condensed" panose="020B0606020104020203"/>
              </a:rPr>
              <a:t> </a:t>
            </a:r>
            <a:r>
              <a:rPr lang="en-US" sz="2300" b="0" dirty="0" smtClean="0">
                <a:solidFill>
                  <a:srgbClr val="0070C0"/>
                </a:solidFill>
                <a:latin typeface="Tw Cen MT Condensed" panose="020B0606020104020203"/>
              </a:rPr>
              <a:t>and Other </a:t>
            </a:r>
            <a:r>
              <a:rPr lang="en-US" sz="2300" b="0" dirty="0">
                <a:solidFill>
                  <a:srgbClr val="0070C0"/>
                </a:solidFill>
                <a:latin typeface="Tw Cen MT Condensed" panose="020B0606020104020203"/>
              </a:rPr>
              <a:t>Benefits</a:t>
            </a:r>
          </a:p>
        </p:txBody>
      </p:sp>
      <p:sp>
        <p:nvSpPr>
          <p:cNvPr id="26" name="TextBox 25"/>
          <p:cNvSpPr txBox="1"/>
          <p:nvPr/>
        </p:nvSpPr>
        <p:spPr>
          <a:xfrm>
            <a:off x="1568167" y="3002680"/>
            <a:ext cx="1082944" cy="446276"/>
          </a:xfrm>
          <a:prstGeom prst="rect">
            <a:avLst/>
          </a:prstGeom>
          <a:noFill/>
        </p:spPr>
        <p:txBody>
          <a:bodyPr wrap="square" rtlCol="0">
            <a:spAutoFit/>
          </a:bodyPr>
          <a:lstStyle>
            <a:defPPr>
              <a:defRPr lang="en-US"/>
            </a:defPPr>
            <a:lvl1pPr>
              <a:defRPr sz="4400">
                <a:latin typeface="+mj-lt"/>
              </a:defRPr>
            </a:lvl1pPr>
          </a:lstStyle>
          <a:p>
            <a:pPr eaLnBrk="1" fontAlgn="auto" hangingPunct="1">
              <a:spcBef>
                <a:spcPts val="0"/>
              </a:spcBef>
              <a:spcAft>
                <a:spcPts val="0"/>
              </a:spcAft>
            </a:pPr>
            <a:r>
              <a:rPr lang="en-US" sz="2300" b="0" dirty="0">
                <a:solidFill>
                  <a:srgbClr val="0070C0"/>
                </a:solidFill>
                <a:latin typeface="Tw Cen MT Condensed" panose="020B0606020104020203"/>
              </a:rPr>
              <a:t>Family</a:t>
            </a:r>
          </a:p>
        </p:txBody>
      </p:sp>
      <p:sp>
        <p:nvSpPr>
          <p:cNvPr id="27" name="TextBox 26"/>
          <p:cNvSpPr txBox="1"/>
          <p:nvPr/>
        </p:nvSpPr>
        <p:spPr>
          <a:xfrm>
            <a:off x="1910633" y="5260410"/>
            <a:ext cx="2129750" cy="658642"/>
          </a:xfrm>
          <a:prstGeom prst="rect">
            <a:avLst/>
          </a:prstGeom>
          <a:noFill/>
        </p:spPr>
        <p:txBody>
          <a:bodyPr wrap="none" rtlCol="0">
            <a:spAutoFit/>
          </a:bodyPr>
          <a:lstStyle>
            <a:defPPr>
              <a:defRPr lang="en-US"/>
            </a:defPPr>
            <a:lvl1pPr>
              <a:defRPr sz="4400">
                <a:latin typeface="+mj-lt"/>
              </a:defRPr>
            </a:lvl1pPr>
          </a:lstStyle>
          <a:p>
            <a:pPr eaLnBrk="1" fontAlgn="auto" hangingPunct="1">
              <a:lnSpc>
                <a:spcPct val="80000"/>
              </a:lnSpc>
              <a:spcBef>
                <a:spcPts val="0"/>
              </a:spcBef>
              <a:spcAft>
                <a:spcPts val="0"/>
              </a:spcAft>
            </a:pPr>
            <a:r>
              <a:rPr lang="en-US" sz="2300" b="0" dirty="0" smtClean="0">
                <a:solidFill>
                  <a:srgbClr val="0070C0"/>
                </a:solidFill>
                <a:latin typeface="Tw Cen MT Condensed" panose="020B0606020104020203"/>
              </a:rPr>
              <a:t>Personal/Social</a:t>
            </a:r>
          </a:p>
          <a:p>
            <a:pPr eaLnBrk="1" fontAlgn="auto" hangingPunct="1">
              <a:lnSpc>
                <a:spcPct val="80000"/>
              </a:lnSpc>
              <a:spcBef>
                <a:spcPts val="0"/>
              </a:spcBef>
              <a:spcAft>
                <a:spcPts val="0"/>
              </a:spcAft>
            </a:pPr>
            <a:r>
              <a:rPr lang="en-US" sz="2300" b="0" dirty="0" smtClean="0">
                <a:solidFill>
                  <a:srgbClr val="0070C0"/>
                </a:solidFill>
                <a:latin typeface="Tw Cen MT Condensed" panose="020B0606020104020203"/>
              </a:rPr>
              <a:t>Meanings </a:t>
            </a:r>
            <a:r>
              <a:rPr lang="en-US" sz="2300" b="0" dirty="0">
                <a:solidFill>
                  <a:srgbClr val="0070C0"/>
                </a:solidFill>
                <a:latin typeface="Tw Cen MT Condensed" panose="020B0606020104020203"/>
              </a:rPr>
              <a:t>of Work</a:t>
            </a:r>
          </a:p>
        </p:txBody>
      </p:sp>
      <p:sp>
        <p:nvSpPr>
          <p:cNvPr id="28" name="TextBox 27"/>
          <p:cNvSpPr txBox="1"/>
          <p:nvPr/>
        </p:nvSpPr>
        <p:spPr>
          <a:xfrm>
            <a:off x="6115546" y="2541015"/>
            <a:ext cx="2329955" cy="430887"/>
          </a:xfrm>
          <a:prstGeom prst="rect">
            <a:avLst/>
          </a:prstGeom>
          <a:noFill/>
        </p:spPr>
        <p:txBody>
          <a:bodyPr wrap="square" rtlCol="0">
            <a:spAutoFit/>
          </a:bodyPr>
          <a:lstStyle>
            <a:defPPr>
              <a:defRPr lang="en-US"/>
            </a:defPPr>
            <a:lvl1pPr>
              <a:defRPr sz="4400">
                <a:latin typeface="+mj-lt"/>
              </a:defRPr>
            </a:lvl1pPr>
          </a:lstStyle>
          <a:p>
            <a:pPr eaLnBrk="1" fontAlgn="auto" hangingPunct="1">
              <a:spcBef>
                <a:spcPts val="0"/>
              </a:spcBef>
              <a:spcAft>
                <a:spcPts val="0"/>
              </a:spcAft>
            </a:pPr>
            <a:r>
              <a:rPr lang="en-US" sz="2200" b="0" dirty="0" smtClean="0">
                <a:solidFill>
                  <a:srgbClr val="0070C0"/>
                </a:solidFill>
                <a:latin typeface="Tw Cen MT Condensed" panose="020B0606020104020203"/>
              </a:rPr>
              <a:t>Disabilities</a:t>
            </a:r>
            <a:endParaRPr lang="en-US" sz="2200" b="0" dirty="0">
              <a:solidFill>
                <a:srgbClr val="0070C0"/>
              </a:solidFill>
              <a:latin typeface="Tw Cen MT Condensed" panose="020B0606020104020203"/>
            </a:endParaRPr>
          </a:p>
        </p:txBody>
      </p:sp>
      <p:sp>
        <p:nvSpPr>
          <p:cNvPr id="29" name="TextBox 28" title="Activity/Social Engagement"/>
          <p:cNvSpPr txBox="1"/>
          <p:nvPr/>
        </p:nvSpPr>
        <p:spPr>
          <a:xfrm>
            <a:off x="689810" y="4170910"/>
            <a:ext cx="1756713" cy="621709"/>
          </a:xfrm>
          <a:prstGeom prst="rect">
            <a:avLst/>
          </a:prstGeom>
          <a:noFill/>
        </p:spPr>
        <p:txBody>
          <a:bodyPr wrap="square" rtlCol="0">
            <a:spAutoFit/>
          </a:bodyPr>
          <a:lstStyle>
            <a:defPPr>
              <a:defRPr lang="en-US"/>
            </a:defPPr>
            <a:lvl1pPr>
              <a:lnSpc>
                <a:spcPct val="80000"/>
              </a:lnSpc>
              <a:defRPr sz="4400">
                <a:solidFill>
                  <a:srgbClr val="0070C0"/>
                </a:solidFill>
                <a:latin typeface="+mj-lt"/>
              </a:defRPr>
            </a:lvl1pPr>
          </a:lstStyle>
          <a:p>
            <a:pPr algn="r" eaLnBrk="1" fontAlgn="auto" hangingPunct="1">
              <a:spcBef>
                <a:spcPts val="0"/>
              </a:spcBef>
              <a:spcAft>
                <a:spcPts val="0"/>
              </a:spcAft>
            </a:pPr>
            <a:r>
              <a:rPr lang="en-US" sz="2000" b="0" dirty="0" smtClean="0">
                <a:latin typeface="Tw Cen MT Condensed" panose="020B0606020104020203"/>
              </a:rPr>
              <a:t>Activity/Social</a:t>
            </a:r>
          </a:p>
          <a:p>
            <a:pPr algn="r" eaLnBrk="1" fontAlgn="auto" hangingPunct="1">
              <a:spcBef>
                <a:spcPts val="0"/>
              </a:spcBef>
              <a:spcAft>
                <a:spcPts val="0"/>
              </a:spcAft>
            </a:pPr>
            <a:r>
              <a:rPr lang="en-US" sz="2300" b="0" dirty="0" smtClean="0">
                <a:latin typeface="Tw Cen MT Condensed" panose="020B0606020104020203"/>
              </a:rPr>
              <a:t>Engagement</a:t>
            </a:r>
            <a:endParaRPr lang="en-US" sz="2300" b="0" dirty="0">
              <a:latin typeface="Tw Cen MT Condensed" panose="020B0606020104020203"/>
            </a:endParaRPr>
          </a:p>
        </p:txBody>
      </p:sp>
      <p:sp>
        <p:nvSpPr>
          <p:cNvPr id="30" name="Title 1"/>
          <p:cNvSpPr>
            <a:spLocks noGrp="1"/>
          </p:cNvSpPr>
          <p:nvPr>
            <p:ph type="title"/>
          </p:nvPr>
        </p:nvSpPr>
        <p:spPr>
          <a:xfrm>
            <a:off x="301625" y="247316"/>
            <a:ext cx="8448675" cy="1143000"/>
          </a:xfrm>
        </p:spPr>
        <p:txBody>
          <a:bodyPr/>
          <a:lstStyle/>
          <a:p>
            <a:r>
              <a:rPr lang="en-US" dirty="0" smtClean="0"/>
              <a:t/>
            </a:r>
            <a:br>
              <a:rPr lang="en-US" dirty="0" smtClean="0"/>
            </a:br>
            <a:r>
              <a:rPr lang="en-US" dirty="0" smtClean="0"/>
              <a:t>Factors in Decisions About Working</a:t>
            </a:r>
            <a:endParaRPr lang="en-US" dirty="0"/>
          </a:p>
        </p:txBody>
      </p:sp>
    </p:spTree>
    <p:extLst>
      <p:ext uri="{BB962C8B-B14F-4D97-AF65-F5344CB8AC3E}">
        <p14:creationId xmlns:p14="http://schemas.microsoft.com/office/powerpoint/2010/main" val="28569206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t>
            </a:r>
            <a:r>
              <a:rPr lang="en-US" dirty="0"/>
              <a:t>Reclaiming </a:t>
            </a:r>
            <a:r>
              <a:rPr lang="en-US" dirty="0" smtClean="0"/>
              <a:t>life” (female, 50s, Minnesota)</a:t>
            </a:r>
            <a:endParaRPr lang="en-US" dirty="0"/>
          </a:p>
        </p:txBody>
      </p:sp>
      <p:sp>
        <p:nvSpPr>
          <p:cNvPr id="3" name="Content Placeholder 2"/>
          <p:cNvSpPr>
            <a:spLocks noGrp="1"/>
          </p:cNvSpPr>
          <p:nvPr>
            <p:ph idx="1"/>
          </p:nvPr>
        </p:nvSpPr>
        <p:spPr>
          <a:xfrm>
            <a:off x="768096" y="1732548"/>
            <a:ext cx="7290055" cy="4459705"/>
          </a:xfrm>
        </p:spPr>
        <p:txBody>
          <a:bodyPr>
            <a:normAutofit fontScale="85000" lnSpcReduction="10000"/>
          </a:bodyPr>
          <a:lstStyle/>
          <a:p>
            <a:pPr marL="0" indent="0">
              <a:lnSpc>
                <a:spcPct val="120000"/>
              </a:lnSpc>
              <a:buNone/>
            </a:pPr>
            <a:r>
              <a:rPr lang="en-US" i="1" dirty="0" smtClean="0"/>
              <a:t>Here I am thinking, ‘Yeah</a:t>
            </a:r>
            <a:r>
              <a:rPr lang="en-US" i="1" dirty="0"/>
              <a:t>, I’m ready, let’s do it. </a:t>
            </a:r>
            <a:r>
              <a:rPr lang="en-US" b="1" i="1" dirty="0"/>
              <a:t>I want to get off this disability</a:t>
            </a:r>
            <a:r>
              <a:rPr lang="en-US" i="1" dirty="0"/>
              <a:t>. I want to make as much money as I can make and take care of myself and plan ahead</a:t>
            </a:r>
            <a:r>
              <a:rPr lang="en-US" i="1" dirty="0" smtClean="0"/>
              <a:t>.’ </a:t>
            </a:r>
          </a:p>
          <a:p>
            <a:pPr marL="0" indent="0">
              <a:lnSpc>
                <a:spcPct val="120000"/>
              </a:lnSpc>
              <a:buNone/>
            </a:pPr>
            <a:r>
              <a:rPr lang="en-US" i="1" dirty="0" smtClean="0"/>
              <a:t>But </a:t>
            </a:r>
            <a:r>
              <a:rPr lang="en-US" i="1" dirty="0"/>
              <a:t>I need to think about, </a:t>
            </a:r>
            <a:r>
              <a:rPr lang="en-US" b="1" i="1" dirty="0"/>
              <a:t>what if I have to go back on disability and do this all over again</a:t>
            </a:r>
            <a:r>
              <a:rPr lang="en-US" i="1" dirty="0"/>
              <a:t>—the one or two years to get it back</a:t>
            </a:r>
            <a:r>
              <a:rPr lang="en-US" i="1" dirty="0" smtClean="0"/>
              <a:t>? </a:t>
            </a:r>
            <a:r>
              <a:rPr lang="en-US" i="1" dirty="0"/>
              <a:t>But they explained it to me. I wouldn’t have to go through all that, which is good</a:t>
            </a:r>
            <a:r>
              <a:rPr lang="en-US" i="1" dirty="0" smtClean="0"/>
              <a:t>.</a:t>
            </a:r>
            <a:endParaRPr lang="en-US" i="1" dirty="0"/>
          </a:p>
          <a:p>
            <a:pPr marL="0" indent="0">
              <a:lnSpc>
                <a:spcPct val="120000"/>
              </a:lnSpc>
              <a:buNone/>
            </a:pPr>
            <a:r>
              <a:rPr lang="en-US" i="1" dirty="0" smtClean="0"/>
              <a:t>… I </a:t>
            </a:r>
            <a:r>
              <a:rPr lang="en-US" i="1" dirty="0"/>
              <a:t>just had to be determined and take it as it comes because I’ve had a lot of time to think about it. And I have to do something. I’m </a:t>
            </a:r>
            <a:r>
              <a:rPr lang="en-US" b="1" i="1" dirty="0"/>
              <a:t>feeling physically ready </a:t>
            </a:r>
            <a:r>
              <a:rPr lang="en-US" i="1" dirty="0"/>
              <a:t>to give it a shot</a:t>
            </a:r>
            <a:r>
              <a:rPr lang="en-US" i="1" dirty="0" smtClean="0"/>
              <a:t>.… I’m </a:t>
            </a:r>
            <a:r>
              <a:rPr lang="en-US" i="1" dirty="0"/>
              <a:t>looking at </a:t>
            </a:r>
            <a:r>
              <a:rPr lang="en-US" b="1" i="1" dirty="0"/>
              <a:t>reclaiming life</a:t>
            </a:r>
            <a:r>
              <a:rPr lang="en-US" i="1" dirty="0" smtClean="0"/>
              <a:t>.</a:t>
            </a:r>
            <a:endParaRPr lang="en-US" i="1" dirty="0"/>
          </a:p>
          <a:p>
            <a:pPr marL="0" indent="0">
              <a:lnSpc>
                <a:spcPct val="120000"/>
              </a:lnSpc>
              <a:buNone/>
            </a:pPr>
            <a:endParaRPr lang="en-US" i="1" dirty="0"/>
          </a:p>
        </p:txBody>
      </p:sp>
    </p:spTree>
    <p:extLst>
      <p:ext uri="{BB962C8B-B14F-4D97-AF65-F5344CB8AC3E}">
        <p14:creationId xmlns:p14="http://schemas.microsoft.com/office/powerpoint/2010/main" val="33759998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Fear and Confusion</a:t>
            </a:r>
            <a:endParaRPr lang="en-US" dirty="0"/>
          </a:p>
        </p:txBody>
      </p:sp>
      <p:sp>
        <p:nvSpPr>
          <p:cNvPr id="3" name="Content Placeholder 2"/>
          <p:cNvSpPr>
            <a:spLocks noGrp="1"/>
          </p:cNvSpPr>
          <p:nvPr>
            <p:ph idx="1"/>
          </p:nvPr>
        </p:nvSpPr>
        <p:spPr/>
        <p:txBody>
          <a:bodyPr/>
          <a:lstStyle/>
          <a:p>
            <a:pPr lvl="0"/>
            <a:r>
              <a:rPr lang="en-US" sz="3200" dirty="0" smtClean="0"/>
              <a:t>Confusion</a:t>
            </a:r>
            <a:endParaRPr lang="en-US" sz="3200" dirty="0"/>
          </a:p>
          <a:p>
            <a:pPr lvl="1"/>
            <a:r>
              <a:rPr lang="en-US" sz="2800" dirty="0" err="1" smtClean="0"/>
              <a:t>SSDI</a:t>
            </a:r>
            <a:r>
              <a:rPr lang="en-US" sz="2800" dirty="0" smtClean="0"/>
              <a:t> and work </a:t>
            </a:r>
            <a:r>
              <a:rPr lang="en-US" sz="2800" dirty="0"/>
              <a:t>incentives rules </a:t>
            </a:r>
          </a:p>
          <a:p>
            <a:pPr lvl="1"/>
            <a:r>
              <a:rPr lang="en-US" sz="2800" dirty="0"/>
              <a:t>VR </a:t>
            </a:r>
            <a:r>
              <a:rPr lang="en-US" sz="2800" dirty="0" smtClean="0"/>
              <a:t>services</a:t>
            </a:r>
          </a:p>
          <a:p>
            <a:pPr lvl="1"/>
            <a:endParaRPr lang="en-US" sz="2800" dirty="0"/>
          </a:p>
          <a:p>
            <a:pPr lvl="0"/>
            <a:r>
              <a:rPr lang="en-US" sz="3200" dirty="0" smtClean="0"/>
              <a:t>Fear and anxiety</a:t>
            </a:r>
            <a:endParaRPr lang="en-US" sz="3200" dirty="0"/>
          </a:p>
          <a:p>
            <a:pPr lvl="1"/>
            <a:r>
              <a:rPr lang="en-US" sz="2800" dirty="0"/>
              <a:t>Unpredictability of </a:t>
            </a:r>
            <a:r>
              <a:rPr lang="en-US" sz="2800" dirty="0" smtClean="0"/>
              <a:t>illnesses and disabilities</a:t>
            </a:r>
            <a:endParaRPr lang="en-US" sz="2800" dirty="0"/>
          </a:p>
          <a:p>
            <a:pPr lvl="1"/>
            <a:r>
              <a:rPr lang="en-US" sz="2800" dirty="0" smtClean="0"/>
              <a:t>Loss of </a:t>
            </a:r>
            <a:r>
              <a:rPr lang="en-US" sz="2800" dirty="0"/>
              <a:t>financial </a:t>
            </a:r>
            <a:r>
              <a:rPr lang="en-US" sz="2800" dirty="0" smtClean="0"/>
              <a:t>stability and safety net</a:t>
            </a:r>
            <a:endParaRPr lang="en-US" sz="3200" dirty="0" smtClean="0"/>
          </a:p>
          <a:p>
            <a:pPr lvl="1"/>
            <a:endParaRPr lang="en-US" sz="2800" dirty="0"/>
          </a:p>
        </p:txBody>
      </p:sp>
    </p:spTree>
    <p:extLst>
      <p:ext uri="{BB962C8B-B14F-4D97-AF65-F5344CB8AC3E}">
        <p14:creationId xmlns:p14="http://schemas.microsoft.com/office/powerpoint/2010/main" val="29708378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fear </a:t>
            </a:r>
            <a:r>
              <a:rPr lang="en-US" dirty="0"/>
              <a:t>of not knowing</a:t>
            </a:r>
            <a:r>
              <a:rPr lang="en-US" dirty="0" smtClean="0"/>
              <a:t>”</a:t>
            </a:r>
            <a:r>
              <a:rPr lang="en-US" dirty="0"/>
              <a:t> </a:t>
            </a:r>
            <a:r>
              <a:rPr lang="en-US" dirty="0" smtClean="0"/>
              <a:t/>
            </a:r>
            <a:br>
              <a:rPr lang="en-US" dirty="0" smtClean="0"/>
            </a:br>
            <a:r>
              <a:rPr lang="en-US" dirty="0" smtClean="0"/>
              <a:t>(male, 30s, Kentucky)</a:t>
            </a:r>
            <a:endParaRPr lang="en-US" dirty="0"/>
          </a:p>
        </p:txBody>
      </p:sp>
      <p:sp>
        <p:nvSpPr>
          <p:cNvPr id="3" name="Content Placeholder 2"/>
          <p:cNvSpPr>
            <a:spLocks noGrp="1"/>
          </p:cNvSpPr>
          <p:nvPr>
            <p:ph idx="1"/>
          </p:nvPr>
        </p:nvSpPr>
        <p:spPr>
          <a:xfrm>
            <a:off x="806352" y="2297692"/>
            <a:ext cx="7290053" cy="3017520"/>
          </a:xfrm>
        </p:spPr>
        <p:txBody>
          <a:bodyPr>
            <a:noAutofit/>
          </a:bodyPr>
          <a:lstStyle/>
          <a:p>
            <a:pPr marL="0" indent="0">
              <a:lnSpc>
                <a:spcPct val="100000"/>
              </a:lnSpc>
              <a:buNone/>
            </a:pPr>
            <a:r>
              <a:rPr lang="en-US" i="1" dirty="0" smtClean="0"/>
              <a:t>I </a:t>
            </a:r>
            <a:r>
              <a:rPr lang="en-US" i="1" dirty="0"/>
              <a:t>was 26-ish when I first started thinking about getting back to work… Even the fear of losing the little I was getting, the fear of not knowing.… </a:t>
            </a:r>
          </a:p>
          <a:p>
            <a:pPr marL="0" indent="0">
              <a:lnSpc>
                <a:spcPct val="100000"/>
              </a:lnSpc>
              <a:buNone/>
            </a:pPr>
            <a:r>
              <a:rPr lang="en-US" i="1" dirty="0"/>
              <a:t>I didn’t know </a:t>
            </a:r>
            <a:r>
              <a:rPr lang="en-US" i="1" dirty="0" smtClean="0"/>
              <a:t>if … I </a:t>
            </a:r>
            <a:r>
              <a:rPr lang="en-US" i="1" dirty="0"/>
              <a:t>could do a full day of work…. Everything was just so uncertain. It would have been really nice to have a little bit of certainty </a:t>
            </a:r>
            <a:r>
              <a:rPr lang="en-US" i="1" dirty="0" smtClean="0"/>
              <a:t>in … understanding </a:t>
            </a:r>
            <a:r>
              <a:rPr lang="en-US" i="1" dirty="0"/>
              <a:t>what happens with SSI and SSDI and Medicare or Medicaid when you start working</a:t>
            </a:r>
            <a:r>
              <a:rPr lang="en-US" i="1" dirty="0" smtClean="0"/>
              <a:t>….</a:t>
            </a:r>
            <a:endParaRPr lang="en-US" i="1" dirty="0"/>
          </a:p>
        </p:txBody>
      </p:sp>
    </p:spTree>
    <p:extLst>
      <p:ext uri="{BB962C8B-B14F-4D97-AF65-F5344CB8AC3E}">
        <p14:creationId xmlns:p14="http://schemas.microsoft.com/office/powerpoint/2010/main" val="46809718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SGA Model:</a:t>
            </a:r>
            <a:br>
              <a:rPr lang="en-US" dirty="0" smtClean="0"/>
            </a:br>
            <a:r>
              <a:rPr lang="en-US" dirty="0" smtClean="0"/>
              <a:t>Rapid Engagement and Team Approach</a:t>
            </a:r>
            <a:endParaRPr lang="en-US" dirty="0"/>
          </a:p>
        </p:txBody>
      </p:sp>
      <p:sp>
        <p:nvSpPr>
          <p:cNvPr id="3" name="Content Placeholder 2"/>
          <p:cNvSpPr>
            <a:spLocks noGrp="1"/>
          </p:cNvSpPr>
          <p:nvPr>
            <p:ph idx="1"/>
          </p:nvPr>
        </p:nvSpPr>
        <p:spPr>
          <a:xfrm>
            <a:off x="387016" y="1793374"/>
            <a:ext cx="8363284" cy="4114800"/>
          </a:xfrm>
        </p:spPr>
        <p:txBody>
          <a:bodyPr/>
          <a:lstStyle/>
          <a:p>
            <a:r>
              <a:rPr lang="en-US" dirty="0" smtClean="0"/>
              <a:t>Responsive: Customers come to VR ready </a:t>
            </a:r>
            <a:r>
              <a:rPr lang="en-US" dirty="0"/>
              <a:t>to work don’t want to wait for </a:t>
            </a:r>
            <a:r>
              <a:rPr lang="en-US" dirty="0" smtClean="0"/>
              <a:t>help</a:t>
            </a:r>
            <a:endParaRPr lang="en-US" dirty="0"/>
          </a:p>
          <a:p>
            <a:r>
              <a:rPr lang="en-US" dirty="0" smtClean="0"/>
              <a:t>Holistic: With job placement and financial counseling, the counselor </a:t>
            </a:r>
            <a:r>
              <a:rPr lang="en-US" dirty="0"/>
              <a:t>can </a:t>
            </a:r>
            <a:r>
              <a:rPr lang="en-US" dirty="0" smtClean="0"/>
              <a:t>focus counseling</a:t>
            </a:r>
            <a:endParaRPr lang="en-US" dirty="0"/>
          </a:p>
          <a:p>
            <a:r>
              <a:rPr lang="en-US" dirty="0" smtClean="0"/>
              <a:t>Flexible: Team members can be more or less active, depending on customers’ needs.</a:t>
            </a:r>
          </a:p>
          <a:p>
            <a:r>
              <a:rPr lang="en-US" dirty="0" smtClean="0"/>
              <a:t>Transparent: Everyone’s role is explained and customer knows what services are available</a:t>
            </a:r>
          </a:p>
        </p:txBody>
      </p:sp>
    </p:spTree>
    <p:extLst>
      <p:ext uri="{BB962C8B-B14F-4D97-AF65-F5344CB8AC3E}">
        <p14:creationId xmlns:p14="http://schemas.microsoft.com/office/powerpoint/2010/main" val="22271124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 miss my family to death”</a:t>
            </a:r>
            <a:br>
              <a:rPr lang="en-US" dirty="0" smtClean="0"/>
            </a:br>
            <a:r>
              <a:rPr lang="en-US" dirty="0" smtClean="0"/>
              <a:t>(male, 50s, Kentucky)</a:t>
            </a:r>
            <a:endParaRPr lang="en-US" dirty="0"/>
          </a:p>
        </p:txBody>
      </p:sp>
      <p:sp>
        <p:nvSpPr>
          <p:cNvPr id="3" name="Content Placeholder 2"/>
          <p:cNvSpPr>
            <a:spLocks noGrp="1"/>
          </p:cNvSpPr>
          <p:nvPr>
            <p:ph idx="1"/>
          </p:nvPr>
        </p:nvSpPr>
        <p:spPr>
          <a:xfrm>
            <a:off x="768096" y="2420874"/>
            <a:ext cx="7290055" cy="3168396"/>
          </a:xfrm>
        </p:spPr>
        <p:txBody>
          <a:bodyPr>
            <a:noAutofit/>
          </a:bodyPr>
          <a:lstStyle/>
          <a:p>
            <a:pPr marL="0" indent="0">
              <a:lnSpc>
                <a:spcPct val="100000"/>
              </a:lnSpc>
              <a:buNone/>
            </a:pPr>
            <a:r>
              <a:rPr lang="en-US" sz="2250" i="1" dirty="0" smtClean="0"/>
              <a:t>[</a:t>
            </a:r>
            <a:r>
              <a:rPr lang="en-US" sz="2250" i="1" dirty="0"/>
              <a:t>Having a job] helps me with all my free time. I don’t have to sit there 24 hours a day just watching the TV. I can go see my family now, which back in the day I didn’t have the money to go see </a:t>
            </a:r>
            <a:r>
              <a:rPr lang="en-US" sz="2250" i="1" dirty="0" smtClean="0"/>
              <a:t>them … and </a:t>
            </a:r>
            <a:r>
              <a:rPr lang="en-US" sz="2250" i="1" dirty="0"/>
              <a:t>now I can see them at least once or twice a week. And that’s been great because I miss my family to death</a:t>
            </a:r>
            <a:r>
              <a:rPr lang="en-US" sz="2250" i="1" dirty="0" smtClean="0"/>
              <a:t>.</a:t>
            </a:r>
            <a:endParaRPr lang="en-US" sz="2250" i="1" dirty="0"/>
          </a:p>
          <a:p>
            <a:pPr marL="0" indent="0">
              <a:lnSpc>
                <a:spcPct val="100000"/>
              </a:lnSpc>
              <a:buNone/>
            </a:pPr>
            <a:r>
              <a:rPr lang="en-US" sz="2250" i="1" dirty="0"/>
              <a:t> </a:t>
            </a:r>
          </a:p>
          <a:p>
            <a:pPr marL="0" indent="0">
              <a:lnSpc>
                <a:spcPct val="100000"/>
              </a:lnSpc>
              <a:buNone/>
            </a:pPr>
            <a:endParaRPr lang="en-US" sz="2250" i="1" dirty="0"/>
          </a:p>
        </p:txBody>
      </p:sp>
    </p:spTree>
    <p:extLst>
      <p:ext uri="{BB962C8B-B14F-4D97-AF65-F5344CB8AC3E}">
        <p14:creationId xmlns:p14="http://schemas.microsoft.com/office/powerpoint/2010/main" val="7959970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SGA Model:</a:t>
            </a:r>
            <a:br>
              <a:rPr lang="en-US" dirty="0" smtClean="0"/>
            </a:br>
            <a:r>
              <a:rPr lang="en-US" dirty="0" smtClean="0"/>
              <a:t>Financial and Benefits Counseling</a:t>
            </a:r>
            <a:endParaRPr lang="en-US" dirty="0"/>
          </a:p>
        </p:txBody>
      </p:sp>
      <p:sp>
        <p:nvSpPr>
          <p:cNvPr id="3" name="Content Placeholder 2"/>
          <p:cNvSpPr>
            <a:spLocks noGrp="1"/>
          </p:cNvSpPr>
          <p:nvPr>
            <p:ph idx="1"/>
          </p:nvPr>
        </p:nvSpPr>
        <p:spPr/>
        <p:txBody>
          <a:bodyPr/>
          <a:lstStyle/>
          <a:p>
            <a:r>
              <a:rPr lang="en-US" dirty="0" smtClean="0"/>
              <a:t>Provides clarity </a:t>
            </a:r>
            <a:r>
              <a:rPr lang="en-US" dirty="0"/>
              <a:t>around work incentives and financial impacts of returning to </a:t>
            </a:r>
            <a:r>
              <a:rPr lang="en-US" dirty="0" smtClean="0"/>
              <a:t>work </a:t>
            </a:r>
          </a:p>
          <a:p>
            <a:r>
              <a:rPr lang="en-US" dirty="0" smtClean="0"/>
              <a:t>Customers might not realize they are confused and might not ask for this help, but if it’s offered, they can benefit from it</a:t>
            </a:r>
            <a:endParaRPr lang="en-US" dirty="0"/>
          </a:p>
          <a:p>
            <a:r>
              <a:rPr lang="en-US" dirty="0"/>
              <a:t>Reduces </a:t>
            </a:r>
            <a:r>
              <a:rPr lang="en-US" dirty="0" smtClean="0"/>
              <a:t>anxiety and fear </a:t>
            </a:r>
            <a:r>
              <a:rPr lang="en-US" dirty="0"/>
              <a:t>of unknown by removing some of the perceived </a:t>
            </a:r>
            <a:r>
              <a:rPr lang="en-US" dirty="0" smtClean="0"/>
              <a:t>risk</a:t>
            </a:r>
            <a:endParaRPr lang="en-US" dirty="0"/>
          </a:p>
          <a:p>
            <a:r>
              <a:rPr lang="en-US" dirty="0" smtClean="0"/>
              <a:t>Particularly </a:t>
            </a:r>
            <a:r>
              <a:rPr lang="en-US" dirty="0"/>
              <a:t>useful for people </a:t>
            </a:r>
            <a:r>
              <a:rPr lang="en-US" dirty="0" smtClean="0"/>
              <a:t>with strong </a:t>
            </a:r>
            <a:r>
              <a:rPr lang="en-US" dirty="0"/>
              <a:t>motivations to return to work but are overwhelmed by the process or fearful of taking the leap to </a:t>
            </a:r>
            <a:r>
              <a:rPr lang="en-US" dirty="0" smtClean="0"/>
              <a:t>full-time</a:t>
            </a:r>
            <a:endParaRPr lang="en-US" dirty="0"/>
          </a:p>
          <a:p>
            <a:endParaRPr lang="en-US" dirty="0"/>
          </a:p>
        </p:txBody>
      </p:sp>
    </p:spTree>
    <p:extLst>
      <p:ext uri="{BB962C8B-B14F-4D97-AF65-F5344CB8AC3E}">
        <p14:creationId xmlns:p14="http://schemas.microsoft.com/office/powerpoint/2010/main" val="32828857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 gave me confidence” </a:t>
            </a:r>
            <a:br>
              <a:rPr lang="en-US" dirty="0" smtClean="0"/>
            </a:br>
            <a:r>
              <a:rPr lang="en-US" dirty="0" smtClean="0"/>
              <a:t>(male, </a:t>
            </a:r>
            <a:r>
              <a:rPr lang="en-US" dirty="0"/>
              <a:t>30s, </a:t>
            </a:r>
            <a:r>
              <a:rPr lang="en-US" dirty="0" smtClean="0"/>
              <a:t>Kentucky)</a:t>
            </a:r>
            <a:endParaRPr lang="en-US" dirty="0"/>
          </a:p>
        </p:txBody>
      </p:sp>
      <p:sp>
        <p:nvSpPr>
          <p:cNvPr id="3" name="Content Placeholder 2"/>
          <p:cNvSpPr>
            <a:spLocks noGrp="1"/>
          </p:cNvSpPr>
          <p:nvPr>
            <p:ph idx="1"/>
          </p:nvPr>
        </p:nvSpPr>
        <p:spPr>
          <a:xfrm>
            <a:off x="475915" y="1616911"/>
            <a:ext cx="8443495" cy="4114800"/>
          </a:xfrm>
        </p:spPr>
        <p:txBody>
          <a:bodyPr/>
          <a:lstStyle/>
          <a:p>
            <a:pPr marL="0" indent="0">
              <a:buNone/>
            </a:pPr>
            <a:r>
              <a:rPr lang="en-US" i="1" dirty="0"/>
              <a:t>The financial planning lady, she had a very thorough discovery of what all of my benefits are, what all my income sources are, what they could be in the </a:t>
            </a:r>
            <a:r>
              <a:rPr lang="en-US" i="1" dirty="0" smtClean="0"/>
              <a:t>future … and </a:t>
            </a:r>
            <a:r>
              <a:rPr lang="en-US" i="1" dirty="0"/>
              <a:t>whether it was worth it for me. </a:t>
            </a:r>
          </a:p>
          <a:p>
            <a:pPr marL="0" indent="0">
              <a:buNone/>
            </a:pPr>
            <a:r>
              <a:rPr lang="en-US" i="1" dirty="0" smtClean="0"/>
              <a:t>… One </a:t>
            </a:r>
            <a:r>
              <a:rPr lang="en-US" i="1" dirty="0"/>
              <a:t>of the biggest worries with me at the very beginning was, “If you work too much, </a:t>
            </a:r>
            <a:r>
              <a:rPr lang="en-US" i="1" dirty="0" smtClean="0"/>
              <a:t>you’re </a:t>
            </a:r>
            <a:r>
              <a:rPr lang="en-US" i="1" dirty="0"/>
              <a:t>going to lose these benefits</a:t>
            </a:r>
            <a:r>
              <a:rPr lang="en-US" i="1" dirty="0" smtClean="0"/>
              <a:t>.” … </a:t>
            </a:r>
            <a:r>
              <a:rPr lang="en-US" i="1" dirty="0"/>
              <a:t>It gave me confidence that, yeah, </a:t>
            </a:r>
            <a:r>
              <a:rPr lang="en-US" i="1" dirty="0" smtClean="0"/>
              <a:t>here’s </a:t>
            </a:r>
            <a:r>
              <a:rPr lang="en-US" i="1" dirty="0"/>
              <a:t>my window. </a:t>
            </a:r>
            <a:endParaRPr lang="en-US" i="1" dirty="0" smtClean="0"/>
          </a:p>
          <a:p>
            <a:pPr marL="0" indent="0">
              <a:buNone/>
            </a:pPr>
            <a:r>
              <a:rPr lang="en-US" i="1" dirty="0" smtClean="0"/>
              <a:t>… I </a:t>
            </a:r>
            <a:r>
              <a:rPr lang="en-US" i="1" dirty="0"/>
              <a:t>think it’s a great thing to have in place because it actually </a:t>
            </a:r>
            <a:r>
              <a:rPr lang="en-US" i="1" dirty="0" smtClean="0"/>
              <a:t>motivates―it </a:t>
            </a:r>
            <a:r>
              <a:rPr lang="en-US" i="1" dirty="0"/>
              <a:t>allows people in my situation to make a plan like this and be comfortable moving on the plan.</a:t>
            </a:r>
          </a:p>
        </p:txBody>
      </p:sp>
    </p:spTree>
    <p:extLst>
      <p:ext uri="{BB962C8B-B14F-4D97-AF65-F5344CB8AC3E}">
        <p14:creationId xmlns:p14="http://schemas.microsoft.com/office/powerpoint/2010/main" val="13367938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Implications of Consumers’ Perspectives</a:t>
            </a:r>
            <a:endParaRPr lang="en-US" dirty="0"/>
          </a:p>
        </p:txBody>
      </p:sp>
      <p:sp>
        <p:nvSpPr>
          <p:cNvPr id="3" name="Content Placeholder 2"/>
          <p:cNvSpPr>
            <a:spLocks noGrp="1"/>
          </p:cNvSpPr>
          <p:nvPr>
            <p:ph idx="1"/>
          </p:nvPr>
        </p:nvSpPr>
        <p:spPr>
          <a:xfrm>
            <a:off x="301625" y="1390316"/>
            <a:ext cx="8448675" cy="4565984"/>
          </a:xfrm>
        </p:spPr>
        <p:txBody>
          <a:bodyPr/>
          <a:lstStyle/>
          <a:p>
            <a:pPr lvl="0"/>
            <a:r>
              <a:rPr lang="en-US" dirty="0" smtClean="0"/>
              <a:t>Recognize that factors in employment decisions might </a:t>
            </a:r>
            <a:r>
              <a:rPr lang="en-US" dirty="0"/>
              <a:t>not </a:t>
            </a:r>
            <a:r>
              <a:rPr lang="en-US" dirty="0" smtClean="0"/>
              <a:t>be </a:t>
            </a:r>
            <a:r>
              <a:rPr lang="en-US" dirty="0"/>
              <a:t>pragmatic or </a:t>
            </a:r>
            <a:r>
              <a:rPr lang="en-US" dirty="0" smtClean="0"/>
              <a:t>self-evident, and fear plays a role.</a:t>
            </a:r>
          </a:p>
          <a:p>
            <a:r>
              <a:rPr lang="en-US" dirty="0"/>
              <a:t>Flexible, dynamic IPE works for customers whose situation, needs, and outlook </a:t>
            </a:r>
            <a:r>
              <a:rPr lang="en-US" dirty="0" smtClean="0"/>
              <a:t>change </a:t>
            </a:r>
          </a:p>
          <a:p>
            <a:r>
              <a:rPr lang="en-US" dirty="0" smtClean="0"/>
              <a:t>Pacing can be increased; people in our study went to VR when they were ready to work </a:t>
            </a:r>
          </a:p>
          <a:p>
            <a:pPr lvl="0"/>
            <a:r>
              <a:rPr lang="en-US" dirty="0" smtClean="0"/>
              <a:t>Financial and benefits counseling can reduce confusion and fear about consequences of working, thus removing perceived barriers</a:t>
            </a:r>
            <a:endParaRPr lang="en-US" dirty="0"/>
          </a:p>
        </p:txBody>
      </p:sp>
    </p:spTree>
    <p:extLst>
      <p:ext uri="{BB962C8B-B14F-4D97-AF65-F5344CB8AC3E}">
        <p14:creationId xmlns:p14="http://schemas.microsoft.com/office/powerpoint/2010/main" val="19418565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685800" y="1488715"/>
            <a:ext cx="7772400" cy="1108638"/>
          </a:xfrm>
        </p:spPr>
        <p:txBody>
          <a:bodyPr/>
          <a:lstStyle/>
          <a:p>
            <a:r>
              <a:rPr lang="en-US" sz="3200" dirty="0" smtClean="0"/>
              <a:t>Impacts of the SGA Project Innovations</a:t>
            </a:r>
            <a:endParaRPr lang="en-US" sz="3200" dirty="0"/>
          </a:p>
        </p:txBody>
      </p:sp>
      <p:sp>
        <p:nvSpPr>
          <p:cNvPr id="3" name="Subtitle 2"/>
          <p:cNvSpPr>
            <a:spLocks noGrp="1"/>
          </p:cNvSpPr>
          <p:nvPr>
            <p:ph type="subTitle" sz="quarter" idx="1"/>
          </p:nvPr>
        </p:nvSpPr>
        <p:spPr>
          <a:xfrm>
            <a:off x="1371600" y="2913008"/>
            <a:ext cx="6400800" cy="1771235"/>
          </a:xfrm>
        </p:spPr>
        <p:txBody>
          <a:bodyPr/>
          <a:lstStyle/>
          <a:p>
            <a:r>
              <a:rPr lang="en-US" sz="2000" dirty="0" smtClean="0"/>
              <a:t>Purvi Sevak</a:t>
            </a:r>
          </a:p>
          <a:p>
            <a:r>
              <a:rPr lang="en-US" sz="2000" dirty="0" smtClean="0"/>
              <a:t>Mathematica Policy Research</a:t>
            </a:r>
          </a:p>
          <a:p>
            <a:endParaRPr lang="en-US" sz="2000" dirty="0" smtClean="0"/>
          </a:p>
          <a:p>
            <a:r>
              <a:rPr lang="en-US" sz="2000" dirty="0" smtClean="0"/>
              <a:t>Evidence-Based </a:t>
            </a:r>
            <a:r>
              <a:rPr lang="en-US" sz="2000" dirty="0"/>
              <a:t>Practices in Vocational Rehabilitation: </a:t>
            </a:r>
            <a:br>
              <a:rPr lang="en-US" sz="2000" dirty="0"/>
            </a:br>
            <a:r>
              <a:rPr lang="en-US" sz="2000" dirty="0"/>
              <a:t>Advancing the State of the Science</a:t>
            </a:r>
          </a:p>
          <a:p>
            <a:endParaRPr lang="en-US" sz="2000" dirty="0"/>
          </a:p>
          <a:p>
            <a:r>
              <a:rPr lang="en-US" sz="2000" dirty="0"/>
              <a:t>May 23, 2018</a:t>
            </a:r>
          </a:p>
          <a:p>
            <a:endParaRPr lang="en-US" sz="2000" dirty="0"/>
          </a:p>
        </p:txBody>
      </p:sp>
    </p:spTree>
    <p:extLst>
      <p:ext uri="{BB962C8B-B14F-4D97-AF65-F5344CB8AC3E}">
        <p14:creationId xmlns:p14="http://schemas.microsoft.com/office/powerpoint/2010/main" val="12226129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90550" y="1638300"/>
            <a:ext cx="8242300" cy="4114800"/>
          </a:xfrm>
        </p:spPr>
        <p:txBody>
          <a:bodyPr/>
          <a:lstStyle/>
          <a:p>
            <a:r>
              <a:rPr lang="en-US" dirty="0" smtClean="0"/>
              <a:t>Design of the demonstration</a:t>
            </a:r>
          </a:p>
          <a:p>
            <a:r>
              <a:rPr lang="en-US" dirty="0" smtClean="0"/>
              <a:t>Evaluation methods</a:t>
            </a:r>
          </a:p>
          <a:p>
            <a:r>
              <a:rPr lang="en-US" dirty="0" smtClean="0"/>
              <a:t>Impacts in Kentucky</a:t>
            </a:r>
          </a:p>
          <a:p>
            <a:r>
              <a:rPr lang="en-US" dirty="0" smtClean="0"/>
              <a:t>Impacts in Minnesota</a:t>
            </a:r>
          </a:p>
          <a:p>
            <a:r>
              <a:rPr lang="en-US" dirty="0" smtClean="0"/>
              <a:t>Potential for longer-term impacts</a:t>
            </a:r>
          </a:p>
          <a:p>
            <a:r>
              <a:rPr lang="en-US" dirty="0" smtClean="0"/>
              <a:t>Implications</a:t>
            </a:r>
          </a:p>
        </p:txBody>
      </p:sp>
      <p:sp>
        <p:nvSpPr>
          <p:cNvPr id="3" name="Title 2"/>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9619885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Estimated Impacts Using VR Agencies’ Data </a:t>
            </a:r>
            <a:endParaRPr lang="en-US" dirty="0"/>
          </a:p>
        </p:txBody>
      </p:sp>
      <p:sp>
        <p:nvSpPr>
          <p:cNvPr id="2" name="Content Placeholder 1"/>
          <p:cNvSpPr>
            <a:spLocks noGrp="1"/>
          </p:cNvSpPr>
          <p:nvPr>
            <p:ph idx="1"/>
          </p:nvPr>
        </p:nvSpPr>
        <p:spPr/>
        <p:txBody>
          <a:bodyPr/>
          <a:lstStyle/>
          <a:p>
            <a:r>
              <a:rPr lang="en-US" dirty="0" smtClean="0"/>
              <a:t>Four primary outcomes:</a:t>
            </a:r>
          </a:p>
          <a:p>
            <a:pPr lvl="1"/>
            <a:r>
              <a:rPr lang="en-US" dirty="0" smtClean="0"/>
              <a:t>Pace of services: IPE within 30 days of application</a:t>
            </a:r>
          </a:p>
          <a:p>
            <a:pPr lvl="1"/>
            <a:r>
              <a:rPr lang="en-US" dirty="0" smtClean="0"/>
              <a:t>Successful client engagement: not exiting VR before obtaining competitive employment</a:t>
            </a:r>
          </a:p>
          <a:p>
            <a:pPr lvl="1"/>
            <a:r>
              <a:rPr lang="en-US" dirty="0" smtClean="0"/>
              <a:t>Competitive employment: closing with competitive employment</a:t>
            </a:r>
          </a:p>
          <a:p>
            <a:pPr lvl="1"/>
            <a:r>
              <a:rPr lang="en-US" dirty="0" smtClean="0"/>
              <a:t>SGA-level earnings: closing with SGA-level earnings</a:t>
            </a:r>
          </a:p>
          <a:p>
            <a:r>
              <a:rPr lang="en-US" dirty="0" smtClean="0"/>
              <a:t>Data: VR case file data reflecting service delivery and client outcomes through late April 2017</a:t>
            </a:r>
            <a:endParaRPr lang="en-US" dirty="0"/>
          </a:p>
        </p:txBody>
      </p:sp>
    </p:spTree>
    <p:extLst>
      <p:ext uri="{BB962C8B-B14F-4D97-AF65-F5344CB8AC3E}">
        <p14:creationId xmlns:p14="http://schemas.microsoft.com/office/powerpoint/2010/main" val="21430131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Estimated Impacts as Difference in Usual- and Enhanced-Service Offices</a:t>
            </a:r>
            <a:endParaRPr lang="en-US" dirty="0"/>
          </a:p>
        </p:txBody>
      </p:sp>
      <p:sp>
        <p:nvSpPr>
          <p:cNvPr id="2" name="Content Placeholder 1"/>
          <p:cNvSpPr>
            <a:spLocks noGrp="1"/>
          </p:cNvSpPr>
          <p:nvPr>
            <p:ph idx="1"/>
          </p:nvPr>
        </p:nvSpPr>
        <p:spPr/>
        <p:txBody>
          <a:bodyPr/>
          <a:lstStyle/>
          <a:p>
            <a:r>
              <a:rPr lang="en-US" dirty="0" smtClean="0"/>
              <a:t>Usual- and enhanced-service offices were otherwise similar</a:t>
            </a:r>
          </a:p>
          <a:p>
            <a:pPr lvl="1"/>
            <a:r>
              <a:rPr lang="en-US" dirty="0" smtClean="0"/>
              <a:t>No significant differences in primary outcomes before the SGA Project demonstration</a:t>
            </a:r>
          </a:p>
          <a:p>
            <a:pPr lvl="1"/>
            <a:r>
              <a:rPr lang="en-US" dirty="0" smtClean="0"/>
              <a:t>No significant differences in clients’ characteristics</a:t>
            </a:r>
          </a:p>
          <a:p>
            <a:r>
              <a:rPr lang="en-US" dirty="0" smtClean="0"/>
              <a:t>Used regression models to control for clients’ characteristics and pre-demonstration office-level outcomes</a:t>
            </a:r>
          </a:p>
          <a:p>
            <a:r>
              <a:rPr lang="en-US" dirty="0" smtClean="0"/>
              <a:t>Statistical adjustments to account for office-level clustered randomization</a:t>
            </a:r>
            <a:endParaRPr lang="en-US" dirty="0"/>
          </a:p>
        </p:txBody>
      </p:sp>
    </p:spTree>
    <p:extLst>
      <p:ext uri="{BB962C8B-B14F-4D97-AF65-F5344CB8AC3E}">
        <p14:creationId xmlns:p14="http://schemas.microsoft.com/office/powerpoint/2010/main" val="33241592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SGA Project Innovations Improved Pace and Employment in Kentucky</a:t>
            </a:r>
            <a:endParaRPr lang="en-US" dirty="0"/>
          </a:p>
        </p:txBody>
      </p:sp>
      <p:pic>
        <p:nvPicPr>
          <p:cNvPr id="8" name="Picture 7" descr="C:\Users\emorris\AppData\Local\Microsoft\Windows\Temporary Internet Files\Content.Outlook\LRILJUES\06887_SGA_090617_KY impact.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0100" y="1609407"/>
            <a:ext cx="7720012" cy="4410393"/>
          </a:xfrm>
          <a:prstGeom prst="rect">
            <a:avLst/>
          </a:prstGeom>
          <a:noFill/>
          <a:ln>
            <a:noFill/>
          </a:ln>
        </p:spPr>
      </p:pic>
    </p:spTree>
    <p:extLst>
      <p:ext uri="{BB962C8B-B14F-4D97-AF65-F5344CB8AC3E}">
        <p14:creationId xmlns:p14="http://schemas.microsoft.com/office/powerpoint/2010/main" val="136014566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87362" y="1720730"/>
            <a:ext cx="8242300" cy="4114800"/>
          </a:xfrm>
        </p:spPr>
        <p:txBody>
          <a:bodyPr/>
          <a:lstStyle/>
          <a:p>
            <a:r>
              <a:rPr lang="en-US" dirty="0" smtClean="0"/>
              <a:t>Relative to usual-service clients, enhanced-service clients were</a:t>
            </a:r>
          </a:p>
          <a:p>
            <a:pPr lvl="1"/>
            <a:r>
              <a:rPr lang="en-US" dirty="0" smtClean="0"/>
              <a:t>More likely to receive </a:t>
            </a:r>
          </a:p>
          <a:p>
            <a:pPr lvl="2"/>
            <a:r>
              <a:rPr lang="en-US" dirty="0" smtClean="0"/>
              <a:t>Job placement services (18 percentage points)</a:t>
            </a:r>
          </a:p>
          <a:p>
            <a:pPr lvl="2"/>
            <a:r>
              <a:rPr lang="en-US" dirty="0" smtClean="0"/>
              <a:t>Other employment-related services (14 percentage points)</a:t>
            </a:r>
          </a:p>
          <a:p>
            <a:pPr lvl="2"/>
            <a:r>
              <a:rPr lang="en-US" dirty="0" smtClean="0"/>
              <a:t>Benefit counseling services (41 percentage points)</a:t>
            </a:r>
          </a:p>
          <a:p>
            <a:pPr lvl="1"/>
            <a:r>
              <a:rPr lang="en-US" dirty="0" smtClean="0"/>
              <a:t>Receiving services sooner</a:t>
            </a:r>
          </a:p>
          <a:p>
            <a:pPr lvl="2"/>
            <a:r>
              <a:rPr lang="en-US" dirty="0"/>
              <a:t>Job placement services </a:t>
            </a:r>
            <a:r>
              <a:rPr lang="en-US" dirty="0" smtClean="0"/>
              <a:t>(</a:t>
            </a:r>
            <a:r>
              <a:rPr lang="en-US" dirty="0"/>
              <a:t>47 </a:t>
            </a:r>
            <a:r>
              <a:rPr lang="en-US" dirty="0" smtClean="0"/>
              <a:t>days)</a:t>
            </a:r>
            <a:endParaRPr lang="en-US" dirty="0"/>
          </a:p>
          <a:p>
            <a:pPr lvl="2"/>
            <a:r>
              <a:rPr lang="en-US" dirty="0"/>
              <a:t>Other employment-related services </a:t>
            </a:r>
            <a:r>
              <a:rPr lang="en-US" dirty="0" smtClean="0"/>
              <a:t>(82 days)</a:t>
            </a:r>
            <a:endParaRPr lang="en-US" dirty="0"/>
          </a:p>
          <a:p>
            <a:pPr lvl="2"/>
            <a:r>
              <a:rPr lang="en-US" dirty="0"/>
              <a:t>Benefit counseling services </a:t>
            </a:r>
            <a:r>
              <a:rPr lang="en-US" dirty="0" smtClean="0"/>
              <a:t>(29 days)</a:t>
            </a:r>
          </a:p>
          <a:p>
            <a:r>
              <a:rPr lang="en-US" dirty="0" smtClean="0"/>
              <a:t>Includes staff-provided and authorized services</a:t>
            </a:r>
            <a:endParaRPr lang="en-US" dirty="0"/>
          </a:p>
        </p:txBody>
      </p:sp>
      <p:sp>
        <p:nvSpPr>
          <p:cNvPr id="3" name="Title 2"/>
          <p:cNvSpPr>
            <a:spLocks noGrp="1"/>
          </p:cNvSpPr>
          <p:nvPr>
            <p:ph type="title"/>
          </p:nvPr>
        </p:nvSpPr>
        <p:spPr/>
        <p:txBody>
          <a:bodyPr/>
          <a:lstStyle/>
          <a:p>
            <a:r>
              <a:rPr lang="en-US" dirty="0" smtClean="0"/>
              <a:t>Faster Pace and Increased Authorization for Specific Services in Kentucky</a:t>
            </a:r>
            <a:endParaRPr lang="en-US" dirty="0"/>
          </a:p>
        </p:txBody>
      </p:sp>
    </p:spTree>
    <p:extLst>
      <p:ext uri="{BB962C8B-B14F-4D97-AF65-F5344CB8AC3E}">
        <p14:creationId xmlns:p14="http://schemas.microsoft.com/office/powerpoint/2010/main" val="135948868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SGA Project Innovations Improved Pace and Engagement in Minnesota</a:t>
            </a:r>
            <a:endParaRPr lang="en-US" dirty="0"/>
          </a:p>
        </p:txBody>
      </p:sp>
      <p:pic>
        <p:nvPicPr>
          <p:cNvPr id="8" name="Picture 7" descr="N:\Project\06887_DIVR\NJ1\400 Dissemination\Research Briefs\Graphics\06887_SGA_090817_MN impact.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1050" y="1543050"/>
            <a:ext cx="7734300" cy="4457700"/>
          </a:xfrm>
          <a:prstGeom prst="rect">
            <a:avLst/>
          </a:prstGeom>
          <a:noFill/>
          <a:ln>
            <a:noFill/>
          </a:ln>
        </p:spPr>
      </p:pic>
    </p:spTree>
    <p:extLst>
      <p:ext uri="{BB962C8B-B14F-4D97-AF65-F5344CB8AC3E}">
        <p14:creationId xmlns:p14="http://schemas.microsoft.com/office/powerpoint/2010/main" val="131587377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Some Changes in Service Delivery</a:t>
            </a:r>
            <a:br>
              <a:rPr lang="en-US" dirty="0" smtClean="0"/>
            </a:br>
            <a:r>
              <a:rPr lang="en-US" dirty="0" smtClean="0"/>
              <a:t> in </a:t>
            </a:r>
            <a:r>
              <a:rPr lang="en-US" dirty="0"/>
              <a:t>M</a:t>
            </a:r>
            <a:r>
              <a:rPr lang="en-US" dirty="0" smtClean="0"/>
              <a:t>innesota</a:t>
            </a:r>
            <a:endParaRPr lang="en-US" dirty="0"/>
          </a:p>
        </p:txBody>
      </p:sp>
      <p:sp>
        <p:nvSpPr>
          <p:cNvPr id="2" name="Content Placeholder 1"/>
          <p:cNvSpPr>
            <a:spLocks noGrp="1"/>
          </p:cNvSpPr>
          <p:nvPr>
            <p:ph idx="1"/>
          </p:nvPr>
        </p:nvSpPr>
        <p:spPr>
          <a:xfrm>
            <a:off x="508000" y="1478893"/>
            <a:ext cx="8242300" cy="4114800"/>
          </a:xfrm>
        </p:spPr>
        <p:txBody>
          <a:bodyPr/>
          <a:lstStyle/>
          <a:p>
            <a:r>
              <a:rPr lang="en-US" dirty="0" smtClean="0"/>
              <a:t>Relative to usual-service clients, enhanced-service clients were</a:t>
            </a:r>
          </a:p>
          <a:p>
            <a:pPr lvl="1"/>
            <a:r>
              <a:rPr lang="en-US" dirty="0" smtClean="0"/>
              <a:t>Less likely to be referred to providers for job placement or benefits counseling services</a:t>
            </a:r>
          </a:p>
          <a:p>
            <a:pPr lvl="1"/>
            <a:r>
              <a:rPr lang="en-US" dirty="0" smtClean="0"/>
              <a:t>Not different in the referrals to providers for other employment services or training services</a:t>
            </a:r>
          </a:p>
        </p:txBody>
      </p:sp>
    </p:spTree>
    <p:extLst>
      <p:ext uri="{BB962C8B-B14F-4D97-AF65-F5344CB8AC3E}">
        <p14:creationId xmlns:p14="http://schemas.microsoft.com/office/powerpoint/2010/main" val="18208005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Impacts on Non-SGA Project Clients</a:t>
            </a:r>
            <a:endParaRPr lang="en-US" dirty="0"/>
          </a:p>
        </p:txBody>
      </p:sp>
      <p:sp>
        <p:nvSpPr>
          <p:cNvPr id="2" name="Content Placeholder 1"/>
          <p:cNvSpPr>
            <a:spLocks noGrp="1"/>
          </p:cNvSpPr>
          <p:nvPr>
            <p:ph idx="1"/>
          </p:nvPr>
        </p:nvSpPr>
        <p:spPr/>
        <p:txBody>
          <a:bodyPr/>
          <a:lstStyle/>
          <a:p>
            <a:r>
              <a:rPr lang="en-US" dirty="0" smtClean="0"/>
              <a:t>None that we could detect in either state</a:t>
            </a:r>
          </a:p>
          <a:p>
            <a:pPr lvl="1"/>
            <a:r>
              <a:rPr lang="en-US" dirty="0" smtClean="0"/>
              <a:t>No significant differences in the four primary outcomes between non-SGA Project clients at the enhanced- and usual-service sites</a:t>
            </a:r>
          </a:p>
          <a:p>
            <a:r>
              <a:rPr lang="en-US" dirty="0" smtClean="0"/>
              <a:t>Suggests that counselors did not divert attention from non-SGA Project clients</a:t>
            </a:r>
          </a:p>
          <a:p>
            <a:r>
              <a:rPr lang="en-US" dirty="0" smtClean="0"/>
              <a:t>There was minimal spillover of the SGA Project innovations to non-SGA Project clients</a:t>
            </a:r>
            <a:endParaRPr lang="en-US" dirty="0"/>
          </a:p>
        </p:txBody>
      </p:sp>
    </p:spTree>
    <p:extLst>
      <p:ext uri="{BB962C8B-B14F-4D97-AF65-F5344CB8AC3E}">
        <p14:creationId xmlns:p14="http://schemas.microsoft.com/office/powerpoint/2010/main" val="9826991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Longer-Term Impacts Are Still Unknown</a:t>
            </a:r>
            <a:endParaRPr lang="en-US" dirty="0"/>
          </a:p>
        </p:txBody>
      </p:sp>
      <p:sp>
        <p:nvSpPr>
          <p:cNvPr id="2" name="Content Placeholder 1"/>
          <p:cNvSpPr>
            <a:spLocks noGrp="1"/>
          </p:cNvSpPr>
          <p:nvPr>
            <p:ph idx="1"/>
          </p:nvPr>
        </p:nvSpPr>
        <p:spPr/>
        <p:txBody>
          <a:bodyPr/>
          <a:lstStyle/>
          <a:p>
            <a:r>
              <a:rPr lang="en-US" dirty="0" smtClean="0"/>
              <a:t>35% to 40% of cases were still open in each state</a:t>
            </a:r>
          </a:p>
          <a:p>
            <a:pPr lvl="1"/>
            <a:r>
              <a:rPr lang="en-US" dirty="0" smtClean="0"/>
              <a:t>Estimated impacts could change as cases close</a:t>
            </a:r>
          </a:p>
          <a:p>
            <a:pPr lvl="1"/>
            <a:r>
              <a:rPr lang="en-US" dirty="0" smtClean="0"/>
              <a:t>Because the impacts in Kentucky were large, we expect them to persist even as more cases close</a:t>
            </a:r>
          </a:p>
          <a:p>
            <a:pPr lvl="1"/>
            <a:r>
              <a:rPr lang="en-US" dirty="0" smtClean="0"/>
              <a:t>Significant employment impacts in Minnesota might become evident as more cases close</a:t>
            </a:r>
          </a:p>
          <a:p>
            <a:r>
              <a:rPr lang="en-US" dirty="0" smtClean="0"/>
              <a:t>Evaluation could examine only short-term outcomes</a:t>
            </a:r>
          </a:p>
          <a:p>
            <a:pPr lvl="1"/>
            <a:r>
              <a:rPr lang="en-US" dirty="0" smtClean="0"/>
              <a:t>SSA and RSA administrative data could reveal impacts on longer-term earnings, suspension of benefits, and SSA payments to VR agencies</a:t>
            </a:r>
          </a:p>
        </p:txBody>
      </p:sp>
    </p:spTree>
    <p:extLst>
      <p:ext uri="{BB962C8B-B14F-4D97-AF65-F5344CB8AC3E}">
        <p14:creationId xmlns:p14="http://schemas.microsoft.com/office/powerpoint/2010/main" val="312758435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Implications for VR Practice</a:t>
            </a:r>
            <a:endParaRPr lang="en-US" dirty="0"/>
          </a:p>
        </p:txBody>
      </p:sp>
      <p:sp>
        <p:nvSpPr>
          <p:cNvPr id="2" name="Content Placeholder 1"/>
          <p:cNvSpPr>
            <a:spLocks noGrp="1"/>
          </p:cNvSpPr>
          <p:nvPr>
            <p:ph idx="1"/>
          </p:nvPr>
        </p:nvSpPr>
        <p:spPr/>
        <p:txBody>
          <a:bodyPr/>
          <a:lstStyle/>
          <a:p>
            <a:pPr lvl="0"/>
            <a:r>
              <a:rPr lang="en-US" dirty="0"/>
              <a:t>It </a:t>
            </a:r>
            <a:r>
              <a:rPr lang="en-US" i="1" dirty="0" smtClean="0"/>
              <a:t>is</a:t>
            </a:r>
            <a:r>
              <a:rPr lang="en-US" dirty="0" smtClean="0"/>
              <a:t> </a:t>
            </a:r>
            <a:r>
              <a:rPr lang="en-US" dirty="0"/>
              <a:t>possible to move the </a:t>
            </a:r>
            <a:r>
              <a:rPr lang="en-US" dirty="0" smtClean="0"/>
              <a:t>needle</a:t>
            </a:r>
          </a:p>
          <a:p>
            <a:pPr lvl="1"/>
            <a:r>
              <a:rPr lang="en-US" dirty="0" smtClean="0"/>
              <a:t>At least for short-term VR process and closure outcomes</a:t>
            </a:r>
            <a:endParaRPr lang="en-US" dirty="0"/>
          </a:p>
          <a:p>
            <a:pPr lvl="0"/>
            <a:r>
              <a:rPr lang="en-US" dirty="0" smtClean="0"/>
              <a:t>A faster pace of services is possible without negative consequences</a:t>
            </a:r>
          </a:p>
          <a:p>
            <a:pPr lvl="1"/>
            <a:r>
              <a:rPr lang="en-US" dirty="0" smtClean="0"/>
              <a:t>Might not be feasible for all clients</a:t>
            </a:r>
          </a:p>
          <a:p>
            <a:pPr lvl="0"/>
            <a:r>
              <a:rPr lang="en-US" dirty="0" smtClean="0"/>
              <a:t>Technical assistance and monitoring are helpful in executing innovations </a:t>
            </a:r>
          </a:p>
        </p:txBody>
      </p:sp>
    </p:spTree>
    <p:extLst>
      <p:ext uri="{BB962C8B-B14F-4D97-AF65-F5344CB8AC3E}">
        <p14:creationId xmlns:p14="http://schemas.microsoft.com/office/powerpoint/2010/main" val="177435124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28144" y="1757855"/>
            <a:ext cx="8222155" cy="4198445"/>
          </a:xfrm>
        </p:spPr>
        <p:txBody>
          <a:bodyPr/>
          <a:lstStyle/>
          <a:p>
            <a:r>
              <a:rPr lang="en-US" dirty="0" smtClean="0"/>
              <a:t>Relative importance of individual intervention components should be tested</a:t>
            </a:r>
          </a:p>
          <a:p>
            <a:pPr lvl="1"/>
            <a:r>
              <a:rPr lang="en-US" dirty="0" smtClean="0"/>
              <a:t>Faster pacing of eligibility and IPE</a:t>
            </a:r>
          </a:p>
          <a:p>
            <a:pPr lvl="1"/>
            <a:r>
              <a:rPr lang="en-US" dirty="0"/>
              <a:t>C</a:t>
            </a:r>
            <a:r>
              <a:rPr lang="en-US" dirty="0" smtClean="0"/>
              <a:t>ollaborative team approach</a:t>
            </a:r>
          </a:p>
          <a:p>
            <a:pPr lvl="1"/>
            <a:r>
              <a:rPr lang="en-US" dirty="0"/>
              <a:t>F</a:t>
            </a:r>
            <a:r>
              <a:rPr lang="en-US" dirty="0" smtClean="0"/>
              <a:t>inancial counseling</a:t>
            </a:r>
          </a:p>
          <a:p>
            <a:r>
              <a:rPr lang="en-US" dirty="0" smtClean="0"/>
              <a:t>Data linkages with </a:t>
            </a:r>
            <a:r>
              <a:rPr lang="en-US" dirty="0" err="1" smtClean="0"/>
              <a:t>SSA</a:t>
            </a:r>
            <a:r>
              <a:rPr lang="en-US" dirty="0" smtClean="0"/>
              <a:t> needed </a:t>
            </a:r>
            <a:r>
              <a:rPr lang="en-US" dirty="0"/>
              <a:t>for </a:t>
            </a:r>
            <a:r>
              <a:rPr lang="en-US" dirty="0" smtClean="0"/>
              <a:t>evaluation of long-term impacts</a:t>
            </a:r>
          </a:p>
          <a:p>
            <a:pPr lvl="1"/>
            <a:r>
              <a:rPr lang="en-US" dirty="0" smtClean="0"/>
              <a:t>Earnings</a:t>
            </a:r>
            <a:r>
              <a:rPr lang="en-US" dirty="0"/>
              <a:t>, federal disability </a:t>
            </a:r>
            <a:r>
              <a:rPr lang="en-US" dirty="0" smtClean="0"/>
              <a:t>benefits, </a:t>
            </a:r>
            <a:r>
              <a:rPr lang="en-US" dirty="0"/>
              <a:t>and SSA cost reimbursement impacts</a:t>
            </a:r>
          </a:p>
          <a:p>
            <a:r>
              <a:rPr lang="en-US" dirty="0"/>
              <a:t>Office-level random assignment is a feasible and rigorous evaluation </a:t>
            </a:r>
            <a:r>
              <a:rPr lang="en-US" dirty="0" smtClean="0"/>
              <a:t>approach that should be considered to test other VR innovations</a:t>
            </a:r>
          </a:p>
        </p:txBody>
      </p:sp>
      <p:sp>
        <p:nvSpPr>
          <p:cNvPr id="3" name="Title 2"/>
          <p:cNvSpPr>
            <a:spLocks noGrp="1"/>
          </p:cNvSpPr>
          <p:nvPr>
            <p:ph type="title"/>
          </p:nvPr>
        </p:nvSpPr>
        <p:spPr/>
        <p:txBody>
          <a:bodyPr/>
          <a:lstStyle/>
          <a:p>
            <a:r>
              <a:rPr lang="en-US" dirty="0" smtClean="0"/>
              <a:t>Implications for VR Research</a:t>
            </a:r>
            <a:endParaRPr lang="en-US" dirty="0"/>
          </a:p>
        </p:txBody>
      </p:sp>
    </p:spTree>
    <p:extLst>
      <p:ext uri="{BB962C8B-B14F-4D97-AF65-F5344CB8AC3E}">
        <p14:creationId xmlns:p14="http://schemas.microsoft.com/office/powerpoint/2010/main" val="49632738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Contact Information</a:t>
            </a:r>
            <a:endParaRPr lang="en-US" dirty="0"/>
          </a:p>
        </p:txBody>
      </p:sp>
      <p:sp>
        <p:nvSpPr>
          <p:cNvPr id="3" name="Content Placeholder 2"/>
          <p:cNvSpPr>
            <a:spLocks noGrp="1"/>
          </p:cNvSpPr>
          <p:nvPr>
            <p:ph idx="1"/>
          </p:nvPr>
        </p:nvSpPr>
        <p:spPr/>
        <p:txBody>
          <a:bodyPr/>
          <a:lstStyle/>
          <a:p>
            <a:r>
              <a:rPr lang="en-US" dirty="0" smtClean="0"/>
              <a:t>Allison Taylor, Institute for Community Inclusion </a:t>
            </a:r>
            <a:r>
              <a:rPr lang="en-US" dirty="0" smtClean="0">
                <a:hlinkClick r:id="rId2"/>
              </a:rPr>
              <a:t>Allison.taylor@umb.edu</a:t>
            </a:r>
            <a:r>
              <a:rPr lang="en-US" dirty="0" smtClean="0"/>
              <a:t> </a:t>
            </a:r>
          </a:p>
          <a:p>
            <a:r>
              <a:rPr lang="en-US" dirty="0" smtClean="0"/>
              <a:t>Frank Martin, Mathematica Policy Research </a:t>
            </a:r>
            <a:r>
              <a:rPr lang="en-US" dirty="0" smtClean="0">
                <a:hlinkClick r:id="rId3"/>
              </a:rPr>
              <a:t>fmartin@mathematica-mpr.com</a:t>
            </a:r>
            <a:r>
              <a:rPr lang="en-US" dirty="0" smtClean="0"/>
              <a:t> </a:t>
            </a:r>
          </a:p>
          <a:p>
            <a:r>
              <a:rPr lang="en-US" dirty="0" smtClean="0"/>
              <a:t>Purvi Sevak, Mathematica Policy Research </a:t>
            </a:r>
            <a:r>
              <a:rPr lang="en-US" dirty="0" smtClean="0">
                <a:hlinkClick r:id="rId4"/>
              </a:rPr>
              <a:t>psevak@mathematica-mpr.com</a:t>
            </a:r>
            <a:r>
              <a:rPr lang="en-US" dirty="0" smtClean="0"/>
              <a:t> </a:t>
            </a:r>
            <a:endParaRPr lang="en-US" dirty="0"/>
          </a:p>
        </p:txBody>
      </p:sp>
    </p:spTree>
    <p:extLst>
      <p:ext uri="{BB962C8B-B14F-4D97-AF65-F5344CB8AC3E}">
        <p14:creationId xmlns:p14="http://schemas.microsoft.com/office/powerpoint/2010/main" val="72559321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Employment and Work Expectations of Social Security Disability Beneficiaries&amp;quot;&quot;/&gt;&lt;property id=&quot;20307&quot; value=&quot;256&quot;/&gt;&lt;/object&gt;&lt;object type=&quot;3&quot; unique_id=&quot;10005&quot;&gt;&lt;property id=&quot;20148&quot; value=&quot;5&quot;/&gt;&lt;property id=&quot;20300&quot; value=&quot;Slide 2 - &amp;quot;Purpose of the Presentation&amp;quot;&quot;/&gt;&lt;property id=&quot;20307&quot; value=&quot;272&quot;/&gt;&lt;/object&gt;&lt;object type=&quot;3&quot; unique_id=&quot;10006&quot;&gt;&lt;property id=&quot;20148&quot; value=&quot;5&quot;/&gt;&lt;property id=&quot;20300&quot; value=&quot;Slide 3 - &amp;quot;Why Is This Interesting?&amp;quot;&quot;/&gt;&lt;property id=&quot;20307&quot; value=&quot;284&quot;/&gt;&lt;/object&gt;&lt;object type=&quot;3&quot; unique_id=&quot;10007&quot;&gt;&lt;property id=&quot;20148&quot; value=&quot;5&quot;/&gt;&lt;property id=&quot;20300&quot; value=&quot;Slide 4 - &amp;quot;Why Is This Interesting? (cont’d) &amp;quot;&quot;/&gt;&lt;property id=&quot;20307&quot; value=&quot;285&quot;/&gt;&lt;/object&gt;&lt;object type=&quot;3&quot; unique_id=&quot;10008&quot;&gt;&lt;property id=&quot;20148&quot; value=&quot;5&quot;/&gt;&lt;property id=&quot;20300&quot; value=&quot;Slide 5 - &amp;quot;About the Data&amp;quot;&quot;/&gt;&lt;property id=&quot;20307&quot; value=&quot;286&quot;/&gt;&lt;/object&gt;&lt;object type=&quot;3&quot; unique_id=&quot;10009&quot;&gt;&lt;property id=&quot;20148&quot; value=&quot;5&quot;/&gt;&lt;property id=&quot;20300&quot; value=&quot;Slide 6 - &amp;quot;Share of Working-Age SSI and SSDI Beneficiaries Who Are Employed&amp;quot;&quot;/&gt;&lt;property id=&quot;20307&quot; value=&quot;300&quot;/&gt;&lt;/object&gt;&lt;object type=&quot;3&quot; unique_id=&quot;10010&quot;&gt;&lt;property id=&quot;20148&quot; value=&quot;5&quot;/&gt;&lt;property id=&quot;20300&quot; value=&quot;Slide 7 - &amp;quot;Characteristics of the &amp;#x0D;&amp;#x0A;9 Percent Who Are Working&amp;quot;&quot;/&gt;&lt;property id=&quot;20307&quot; value=&quot;288&quot;/&gt;&lt;/object&gt;&lt;object type=&quot;3&quot; unique_id=&quot;10011&quot;&gt;&lt;property id=&quot;20148&quot; value=&quot;5&quot;/&gt;&lt;property id=&quot;20300&quot; value=&quot;Slide 8 - &amp;quot;Selected Characteristics of Working and All SSI/SSDI Beneficiaries&amp;quot;&quot;/&gt;&lt;property id=&quot;20307&quot; value=&quot;289&quot;/&gt;&lt;/object&gt;&lt;object type=&quot;3&quot; unique_id=&quot;10012&quot;&gt;&lt;property id=&quot;20148&quot; value=&quot;5&quot;/&gt;&lt;property id=&quot;20300&quot; value=&quot;Slide 9 - &amp;quot;Job Characteristics of Working Beneficiaries&amp;quot;&quot;/&gt;&lt;property id=&quot;20307&quot; value=&quot;299&quot;/&gt;&lt;/object&gt;&lt;object type=&quot;3&quot; unique_id=&quot;10013&quot;&gt;&lt;property id=&quot;20148&quot; value=&quot;5&quot;/&gt;&lt;property id=&quot;20300&quot; value=&quot;Slide 10 - &amp;quot;Working SSI-Only Beneficiaries Were More Likely to:&amp;quot;&quot;/&gt;&lt;property id=&quot;20307&quot; value=&quot;298&quot;/&gt;&lt;/object&gt;&lt;object type=&quot;3&quot; unique_id=&quot;10014&quot;&gt;&lt;property id=&quot;20148&quot; value=&quot;5&quot;/&gt;&lt;property id=&quot;20300&quot; value=&quot;Slide 11 - &amp;quot;Share of Beneficiaries Who Say &amp;#x0D;&amp;#x0A;They Want to Work&amp;quot;&quot;/&gt;&lt;property id=&quot;20307&quot; value=&quot;291&quot;/&gt;&lt;/object&gt;&lt;object type=&quot;3&quot; unique_id=&quot;10015&quot;&gt;&lt;property id=&quot;20148&quot; value=&quot;5&quot;/&gt;&lt;property id=&quot;20300&quot; value=&quot;Slide 12 - &amp;quot;Reasons Beneficiaries Give for &amp;#x0D;&amp;#x0A;Not Working&amp;quot;&quot;/&gt;&lt;property id=&quot;20307&quot; value=&quot;292&quot;/&gt;&lt;/object&gt;&lt;object type=&quot;3&quot; unique_id=&quot;10016&quot;&gt;&lt;property id=&quot;20148&quot; value=&quot;5&quot;/&gt;&lt;property id=&quot;20300&quot; value=&quot;Slide 13 - &amp;quot;Other Challenges to Employment Faced by Working-Age Beneficiaries&amp;quot;&quot;/&gt;&lt;property id=&quot;20307&quot; value=&quot;294&quot;/&gt;&lt;/object&gt;&lt;object type=&quot;3&quot; unique_id=&quot;10017&quot;&gt;&lt;property id=&quot;20148&quot; value=&quot;5&quot;/&gt;&lt;property id=&quot;20300&quot; value=&quot;Slide 14 - &amp;quot;Efforts to Promote Employment Among Beneficiaries Are Not Futile&amp;quot;&quot;/&gt;&lt;property id=&quot;20307&quot; value=&quot;295&quot;/&gt;&lt;/object&gt;&lt;object type=&quot;3&quot; unique_id=&quot;10018&quot;&gt;&lt;property id=&quot;20148&quot; value=&quot;5&quot;/&gt;&lt;property id=&quot;20300&quot; value=&quot;Slide 15 - &amp;quot;Efforts to Promote Employment Among Beneficiaries Will Be Challenging&amp;quot;&quot;/&gt;&lt;property id=&quot;20307&quot; value=&quot;303&quot;/&gt;&lt;/object&gt;&lt;object type=&quot;3&quot; unique_id=&quot;10019&quot;&gt;&lt;property id=&quot;20148&quot; value=&quot;5&quot;/&gt;&lt;property id=&quot;20300&quot; value=&quot;Slide 16 - &amp;quot;Contact Information&amp;quot;&quot;/&gt;&lt;property id=&quot;20307&quot; value=&quot;283&quot;/&gt;&lt;/object&gt;&lt;/object&gt;&lt;/object&gt;&lt;/database&gt;"/>
</p:tagLst>
</file>

<file path=ppt/theme/theme1.xml><?xml version="1.0" encoding="utf-8"?>
<a:theme xmlns:a="http://schemas.openxmlformats.org/drawingml/2006/main" name="1_4 CSDP Slide Template">
  <a:themeElements>
    <a:clrScheme name="Custom 1">
      <a:dk1>
        <a:srgbClr val="151515"/>
      </a:dk1>
      <a:lt1>
        <a:srgbClr val="FFFFFF"/>
      </a:lt1>
      <a:dk2>
        <a:srgbClr val="0066CC"/>
      </a:dk2>
      <a:lt2>
        <a:srgbClr val="151515"/>
      </a:lt2>
      <a:accent1>
        <a:srgbClr val="003266"/>
      </a:accent1>
      <a:accent2>
        <a:srgbClr val="E7E7E7"/>
      </a:accent2>
      <a:accent3>
        <a:srgbClr val="A5A5A5"/>
      </a:accent3>
      <a:accent4>
        <a:srgbClr val="DADADA"/>
      </a:accent4>
      <a:accent5>
        <a:srgbClr val="ADE2E2"/>
      </a:accent5>
      <a:accent6>
        <a:srgbClr val="5CB9E7"/>
      </a:accent6>
      <a:hlink>
        <a:srgbClr val="0066CC"/>
      </a:hlink>
      <a:folHlink>
        <a:srgbClr val="FFCC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Default Design 1">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6600CC"/>
        </a:hlink>
        <a:folHlink>
          <a:srgbClr val="6699FF"/>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CBCBCB"/>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589562E724024595B6F6839457EEAB" ma:contentTypeVersion="11" ma:contentTypeDescription="Create a new document." ma:contentTypeScope="" ma:versionID="a55b46c7cf422668b7add2c240962d4e">
  <xsd:schema xmlns:xsd="http://www.w3.org/2001/XMLSchema" xmlns:xs="http://www.w3.org/2001/XMLSchema" xmlns:p="http://schemas.microsoft.com/office/2006/metadata/properties" xmlns:ns2="4242b8a1-7a91-48e1-9491-342c8aee28a6" xmlns:ns3="061e8ecc-5f93-4052-b542-6774df9d2165" targetNamespace="http://schemas.microsoft.com/office/2006/metadata/properties" ma:root="true" ma:fieldsID="a73d558ee5e8dd0398c8ba741abbb0ea" ns2:_="" ns3:_="">
    <xsd:import namespace="4242b8a1-7a91-48e1-9491-342c8aee28a6"/>
    <xsd:import namespace="061e8ecc-5f93-4052-b542-6774df9d21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42b8a1-7a91-48e1-9491-342c8aee28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1e8ecc-5f93-4052-b542-6774df9d216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5d72260-9a7d-4945-ba03-7d4d77032514}" ma:internalName="TaxCatchAll" ma:showField="CatchAllData" ma:web="061e8ecc-5f93-4052-b542-6774df9d21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61e8ecc-5f93-4052-b542-6774df9d2165" xsi:nil="true"/>
    <lcf76f155ced4ddcb4097134ff3c332f xmlns="4242b8a1-7a91-48e1-9491-342c8aee28a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F4C47B8-A63F-49E1-80CF-5ABBEF644AB9}"/>
</file>

<file path=customXml/itemProps2.xml><?xml version="1.0" encoding="utf-8"?>
<ds:datastoreItem xmlns:ds="http://schemas.openxmlformats.org/officeDocument/2006/customXml" ds:itemID="{F436263B-8A19-47EC-8B04-F95EC74EDABD}"/>
</file>

<file path=customXml/itemProps3.xml><?xml version="1.0" encoding="utf-8"?>
<ds:datastoreItem xmlns:ds="http://schemas.openxmlformats.org/officeDocument/2006/customXml" ds:itemID="{DD94F997-562F-4056-98C5-68042DC51023}"/>
</file>

<file path=docProps/app.xml><?xml version="1.0" encoding="utf-8"?>
<Properties xmlns="http://schemas.openxmlformats.org/officeDocument/2006/extended-properties" xmlns:vt="http://schemas.openxmlformats.org/officeDocument/2006/docPropsVTypes">
  <Template>3 CSDP Slide Template</Template>
  <TotalTime>4970</TotalTime>
  <Words>4792</Words>
  <Application>Microsoft Office PowerPoint</Application>
  <PresentationFormat>On-screen Show (4:3)</PresentationFormat>
  <Paragraphs>430</Paragraphs>
  <Slides>46</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Times New Roman</vt:lpstr>
      <vt:lpstr>Tw Cen MT</vt:lpstr>
      <vt:lpstr>Tw Cen MT Condensed</vt:lpstr>
      <vt:lpstr>Wingdings</vt:lpstr>
      <vt:lpstr>1_4 CSDP Slide Template</vt:lpstr>
      <vt:lpstr>The SGA Project Demonstration:  A VR Model for Improving Outcomes for SSDI Beneficiaries</vt:lpstr>
      <vt:lpstr>Funding and Disclaimer</vt:lpstr>
      <vt:lpstr>Overview</vt:lpstr>
      <vt:lpstr>SGA Project Goals and Objectives</vt:lpstr>
      <vt:lpstr>How We Identified Promising Practices</vt:lpstr>
      <vt:lpstr>The SGA Project Intervention </vt:lpstr>
      <vt:lpstr>Design of the SGA Project Demonstration</vt:lpstr>
      <vt:lpstr>SGA Project: Innovations, Implementation, and Challenges  </vt:lpstr>
      <vt:lpstr>Overview</vt:lpstr>
      <vt:lpstr>SGA Model of Enhanced Service Innovations</vt:lpstr>
      <vt:lpstr> Selected Implementation Measures </vt:lpstr>
      <vt:lpstr>Kentucky Enhanced Versus Usual Services</vt:lpstr>
      <vt:lpstr>Kentucky: Innovation  Implementation (select measures)</vt:lpstr>
      <vt:lpstr>Minnesota Enhanced Versus Usual Services</vt:lpstr>
      <vt:lpstr>SGA Project—Minnesota Context</vt:lpstr>
      <vt:lpstr>Minnesota: Innovation Implementation (select measures)</vt:lpstr>
      <vt:lpstr>Staff Experiences and Challenges with  SGA Project Innovation </vt:lpstr>
      <vt:lpstr>Both States Had Similar Implementation Challenges</vt:lpstr>
      <vt:lpstr>State-Specific Implementation Challenges</vt:lpstr>
      <vt:lpstr>Implementation Lessons</vt:lpstr>
      <vt:lpstr>Perspectives of VR Clients in the  SGA Project Demonstration</vt:lpstr>
      <vt:lpstr>Overview―Qualitative Study</vt:lpstr>
      <vt:lpstr>Participants’ Demographics</vt:lpstr>
      <vt:lpstr>Research Questions</vt:lpstr>
      <vt:lpstr> Factors in Decisions About Working</vt:lpstr>
      <vt:lpstr>“Reclaiming life” (female, 50s, Minnesota)</vt:lpstr>
      <vt:lpstr>Fear and Confusion</vt:lpstr>
      <vt:lpstr>“The fear of not knowing”  (male, 30s, Kentucky)</vt:lpstr>
      <vt:lpstr>SGA Model: Rapid Engagement and Team Approach</vt:lpstr>
      <vt:lpstr>“I miss my family to death” (male, 50s, Kentucky)</vt:lpstr>
      <vt:lpstr>SGA Model: Financial and Benefits Counseling</vt:lpstr>
      <vt:lpstr>“It gave me confidence”  (male, 30s, Kentucky)</vt:lpstr>
      <vt:lpstr>Implications of Consumers’ Perspectives</vt:lpstr>
      <vt:lpstr>Impacts of the SGA Project Innovations</vt:lpstr>
      <vt:lpstr>Overview</vt:lpstr>
      <vt:lpstr>Estimated Impacts Using VR Agencies’ Data </vt:lpstr>
      <vt:lpstr>Estimated Impacts as Difference in Usual- and Enhanced-Service Offices</vt:lpstr>
      <vt:lpstr>SGA Project Innovations Improved Pace and Employment in Kentucky</vt:lpstr>
      <vt:lpstr>Faster Pace and Increased Authorization for Specific Services in Kentucky</vt:lpstr>
      <vt:lpstr>SGA Project Innovations Improved Pace and Engagement in Minnesota</vt:lpstr>
      <vt:lpstr>Some Changes in Service Delivery  in Minnesota</vt:lpstr>
      <vt:lpstr>Impacts on Non-SGA Project Clients</vt:lpstr>
      <vt:lpstr>Longer-Term Impacts Are Still Unknown</vt:lpstr>
      <vt:lpstr>Implications for VR Practice</vt:lpstr>
      <vt:lpstr>Implications for VR Research</vt:lpstr>
      <vt:lpstr>Contact Information</vt:lpstr>
    </vt:vector>
  </TitlesOfParts>
  <Company>Mathematica,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Innovating Services, Improving Outcomes: A VR Model for Serving SSDI Clients</dc:title>
  <dc:creator>Steve Bruns</dc:creator>
  <dc:description>Use "save as PDF" method to create PDF (April 24, 2009).</dc:description>
  <cp:lastModifiedBy>Allison B Taylor</cp:lastModifiedBy>
  <cp:revision>234</cp:revision>
  <cp:lastPrinted>2018-05-21T19:45:40Z</cp:lastPrinted>
  <dcterms:created xsi:type="dcterms:W3CDTF">2017-09-21T20:06:42Z</dcterms:created>
  <dcterms:modified xsi:type="dcterms:W3CDTF">2018-05-21T20:38:31Z</dcterms:modified>
  <cp:contentStatus>April 24, 2009</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0x01010076589562E724024595B6F6839457EEAB</vt:lpwstr>
  </property>
</Properties>
</file>