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</p:sldMasterIdLst>
  <p:notesMasterIdLst>
    <p:notesMasterId r:id="rId28"/>
  </p:notesMasterIdLst>
  <p:handoutMasterIdLst>
    <p:handoutMasterId r:id="rId29"/>
  </p:handoutMasterIdLst>
  <p:sldIdLst>
    <p:sldId id="869" r:id="rId3"/>
    <p:sldId id="1060" r:id="rId4"/>
    <p:sldId id="1059" r:id="rId5"/>
    <p:sldId id="1062" r:id="rId6"/>
    <p:sldId id="1061" r:id="rId7"/>
    <p:sldId id="1063" r:id="rId8"/>
    <p:sldId id="1065" r:id="rId9"/>
    <p:sldId id="1056" r:id="rId10"/>
    <p:sldId id="1058" r:id="rId11"/>
    <p:sldId id="999" r:id="rId12"/>
    <p:sldId id="998" r:id="rId13"/>
    <p:sldId id="974" r:id="rId14"/>
    <p:sldId id="709" r:id="rId15"/>
    <p:sldId id="1044" r:id="rId16"/>
    <p:sldId id="958" r:id="rId17"/>
    <p:sldId id="1064" r:id="rId18"/>
    <p:sldId id="1066" r:id="rId19"/>
    <p:sldId id="499" r:id="rId20"/>
    <p:sldId id="959" r:id="rId21"/>
    <p:sldId id="1067" r:id="rId22"/>
    <p:sldId id="1068" r:id="rId23"/>
    <p:sldId id="1069" r:id="rId24"/>
    <p:sldId id="1055" r:id="rId25"/>
    <p:sldId id="411" r:id="rId26"/>
    <p:sldId id="107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381" autoAdjust="0"/>
  </p:normalViewPr>
  <p:slideViewPr>
    <p:cSldViewPr snapToGrid="0" snapToObjects="1">
      <p:cViewPr varScale="1">
        <p:scale>
          <a:sx n="94" d="100"/>
          <a:sy n="94" d="100"/>
        </p:scale>
        <p:origin x="208" y="4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ACA19-5182-474C-8E8D-9EB475AC8A66}" type="datetimeFigureOut">
              <a:rPr lang="en-US" smtClean="0"/>
              <a:t>6/18/19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b="1" dirty="0"/>
              <a:t>Massachusetts Disability Employment Initiative </a:t>
            </a:r>
            <a:r>
              <a:rPr lang="en-US" dirty="0"/>
              <a:t>– May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0AC30-6ABB-AD49-AE6C-DBFC607E23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1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7552B-FA4E-DB49-AADD-6673C3266A39}" type="datetimeFigureOut">
              <a:rPr lang="en-US" smtClean="0"/>
              <a:t>6/18/19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965BD-F497-AF4F-9543-DEC19C8F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0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81AB0745-1A2D-F24C-B28F-8F52445FAF2A}" type="slidenum">
              <a:rPr lang="en-US" sz="1200"/>
              <a:pPr/>
              <a:t>1</a:t>
            </a:fld>
            <a:endParaRPr lang="en-US" sz="1200" dirty="0"/>
          </a:p>
        </p:txBody>
      </p:sp>
      <p:sp>
        <p:nvSpPr>
          <p:cNvPr id="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0842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312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SLOW</a:t>
            </a:r>
          </a:p>
          <a:p>
            <a:r>
              <a:rPr lang="en-US">
                <a:latin typeface="Calibri" charset="0"/>
              </a:rPr>
              <a:t>Example of TA with providers</a:t>
            </a:r>
          </a:p>
          <a:p>
            <a:r>
              <a:rPr lang="en-US">
                <a:latin typeface="Calibri" charset="0"/>
              </a:rPr>
              <a:t>We’re so glad someone is willing to do job development – but we need to care how they do it</a:t>
            </a:r>
          </a:p>
        </p:txBody>
      </p:sp>
    </p:spTree>
    <p:extLst>
      <p:ext uri="{BB962C8B-B14F-4D97-AF65-F5344CB8AC3E}">
        <p14:creationId xmlns:p14="http://schemas.microsoft.com/office/powerpoint/2010/main" val="1067906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501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55268C0-20B0-0145-B2FF-30FD8C85A6D3}" type="slidenum">
              <a:rPr lang="en-US" sz="1200">
                <a:solidFill>
                  <a:srgbClr val="000000"/>
                </a:solidFill>
                <a:cs typeface="Geneva" charset="0"/>
              </a:rPr>
              <a:pPr/>
              <a:t>15</a:t>
            </a:fld>
            <a:endParaRPr lang="en-US" sz="1200">
              <a:solidFill>
                <a:srgbClr val="000000"/>
              </a:solidFill>
              <a:cs typeface="Geneva" charset="0"/>
            </a:endParaRPr>
          </a:p>
        </p:txBody>
      </p:sp>
      <p:sp>
        <p:nvSpPr>
          <p:cNvPr id="25190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1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5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508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Drag picture to placeholder or click icon to add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7E0485-99C3-A14E-BD9F-ED43B44B1E0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E64C65C8-4F87-D84D-A743-BA158FEBF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9292" y="1012374"/>
            <a:ext cx="4697413" cy="999309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4A7F7E03-AD8F-C14A-A4A1-73C831020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8500" y="2482491"/>
            <a:ext cx="4697413" cy="314361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AA5557DB-D946-2644-95B4-CDDF094793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709" y="2108906"/>
            <a:ext cx="4698207" cy="37358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66A48E-575B-FD42-82AC-52D3F2E606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9C093F-F4BD-664F-9DDC-D0F858F500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8503" y="695031"/>
            <a:ext cx="4698207" cy="317340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F06097-1504-401B-AB7A-A4858A92D8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07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24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Photo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07EE7F26-1321-2445-A1A4-B5B78FCF1E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416375 w 12192000"/>
              <a:gd name="connsiteY0" fmla="*/ 455059 h 6858000"/>
              <a:gd name="connsiteX1" fmla="*/ 416375 w 12192000"/>
              <a:gd name="connsiteY1" fmla="*/ 6044697 h 6858000"/>
              <a:gd name="connsiteX2" fmla="*/ 5677243 w 12192000"/>
              <a:gd name="connsiteY2" fmla="*/ 6044697 h 6858000"/>
              <a:gd name="connsiteX3" fmla="*/ 5677243 w 12192000"/>
              <a:gd name="connsiteY3" fmla="*/ 455059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16375" y="455059"/>
                </a:moveTo>
                <a:lnTo>
                  <a:pt x="416375" y="6044697"/>
                </a:lnTo>
                <a:lnTo>
                  <a:pt x="5677243" y="6044697"/>
                </a:lnTo>
                <a:lnTo>
                  <a:pt x="5677243" y="45505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E64C65C8-4F87-D84D-A743-BA158FEBF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9292" y="1012374"/>
            <a:ext cx="4697413" cy="999309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4A7F7E03-AD8F-C14A-A4A1-73C831020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8500" y="2482491"/>
            <a:ext cx="4697413" cy="314361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AA5557DB-D946-2644-95B4-CDDF094793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709" y="2108906"/>
            <a:ext cx="4698207" cy="37358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ED9C80-A09F-944D-8036-B3AEB86735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" y="0"/>
            <a:ext cx="12192001" cy="6858000"/>
          </a:xfrm>
          <a:custGeom>
            <a:avLst/>
            <a:gdLst>
              <a:gd name="connsiteX0" fmla="*/ 416375 w 12192001"/>
              <a:gd name="connsiteY0" fmla="*/ 455059 h 6858000"/>
              <a:gd name="connsiteX1" fmla="*/ 416375 w 12192001"/>
              <a:gd name="connsiteY1" fmla="*/ 6044697 h 6858000"/>
              <a:gd name="connsiteX2" fmla="*/ 5677243 w 12192001"/>
              <a:gd name="connsiteY2" fmla="*/ 6044697 h 6858000"/>
              <a:gd name="connsiteX3" fmla="*/ 5677243 w 12192001"/>
              <a:gd name="connsiteY3" fmla="*/ 455059 h 6858000"/>
              <a:gd name="connsiteX4" fmla="*/ 0 w 12192001"/>
              <a:gd name="connsiteY4" fmla="*/ 0 h 6858000"/>
              <a:gd name="connsiteX5" fmla="*/ 12192001 w 12192001"/>
              <a:gd name="connsiteY5" fmla="*/ 0 h 6858000"/>
              <a:gd name="connsiteX6" fmla="*/ 12192001 w 12192001"/>
              <a:gd name="connsiteY6" fmla="*/ 6858000 h 6858000"/>
              <a:gd name="connsiteX7" fmla="*/ 0 w 1219200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6858000">
                <a:moveTo>
                  <a:pt x="416375" y="455059"/>
                </a:moveTo>
                <a:lnTo>
                  <a:pt x="416375" y="6044697"/>
                </a:lnTo>
                <a:lnTo>
                  <a:pt x="5677243" y="6044697"/>
                </a:lnTo>
                <a:lnTo>
                  <a:pt x="5677243" y="455059"/>
                </a:lnTo>
                <a:close/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9C093F-F4BD-664F-9DDC-D0F858F500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8503" y="695031"/>
            <a:ext cx="4698207" cy="317340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</p:spTree>
    <p:extLst>
      <p:ext uri="{BB962C8B-B14F-4D97-AF65-F5344CB8AC3E}">
        <p14:creationId xmlns:p14="http://schemas.microsoft.com/office/powerpoint/2010/main" val="2068166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7E0485-99C3-A14E-BD9F-ED43B44B1E06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E64C65C8-4F87-D84D-A743-BA158FEBF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8244" y="1012374"/>
            <a:ext cx="4697413" cy="999309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4A7F7E03-AD8F-C14A-A4A1-73C831020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7452" y="2482491"/>
            <a:ext cx="4697413" cy="319441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AA5557DB-D946-2644-95B4-CDDF094793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6659" y="2108906"/>
            <a:ext cx="4698207" cy="37358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66A48E-575B-FD42-82AC-52D3F2E606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82ADFC0A-EB24-894D-A665-DF65DC39E8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26659" y="695031"/>
            <a:ext cx="4698207" cy="317340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CE3B9-7472-4389-A839-1D4110F64F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2179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93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7E0485-99C3-A14E-BD9F-ED43B44B1E06}"/>
              </a:ext>
            </a:extLst>
          </p:cNvPr>
          <p:cNvSpPr/>
          <p:nvPr userDrawn="1"/>
        </p:nvSpPr>
        <p:spPr>
          <a:xfrm>
            <a:off x="0" y="0"/>
            <a:ext cx="12192000" cy="38435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E64C65C8-4F87-D84D-A743-BA158FEBF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04551" y="4323116"/>
            <a:ext cx="9382900" cy="76546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4A7F7E03-AD8F-C14A-A4A1-73C831020E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155" y="5364962"/>
            <a:ext cx="9382900" cy="10737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&lt;Insert text&gt;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AA5557DB-D946-2644-95B4-CDDF094793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02570" y="5047643"/>
            <a:ext cx="9384487" cy="28239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66A48E-575B-FD42-82AC-52D3F2E606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12192000" cy="3843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3248A42-9103-0841-9630-92B19E7AD7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5710" y="4005772"/>
            <a:ext cx="4698207" cy="317340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Subheader if it is appropriate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6CD286-4C67-4861-8B79-407B4EE028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2179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23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-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7E0485-99C3-A14E-BD9F-ED43B44B1E06}"/>
              </a:ext>
            </a:extLst>
          </p:cNvPr>
          <p:cNvSpPr/>
          <p:nvPr userDrawn="1"/>
        </p:nvSpPr>
        <p:spPr>
          <a:xfrm>
            <a:off x="0" y="4375339"/>
            <a:ext cx="12192000" cy="2482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E64C65C8-4F87-D84D-A743-BA158FEBF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04551" y="734786"/>
            <a:ext cx="9382900" cy="70230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4A7F7E03-AD8F-C14A-A4A1-73C831020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04551" y="1816505"/>
            <a:ext cx="9382900" cy="22021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AA5557DB-D946-2644-95B4-CDDF094793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02570" y="1420192"/>
            <a:ext cx="9384487" cy="37358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266A48E-575B-FD42-82AC-52D3F2E606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375510"/>
            <a:ext cx="12192000" cy="24824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D0DFACD-A69E-C043-BCE4-3C70DE4A0F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2569" y="483242"/>
            <a:ext cx="9384091" cy="25137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</p:spTree>
    <p:extLst>
      <p:ext uri="{BB962C8B-B14F-4D97-AF65-F5344CB8AC3E}">
        <p14:creationId xmlns:p14="http://schemas.microsoft.com/office/powerpoint/2010/main" val="3581072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Photo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1" y="4"/>
            <a:ext cx="3225731" cy="68578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3387105" y="175"/>
            <a:ext cx="3225731" cy="68578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322573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87105" y="0"/>
            <a:ext cx="3225731" cy="6858000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3590" y="999267"/>
            <a:ext cx="4549361" cy="87485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2796" y="2150074"/>
            <a:ext cx="4549360" cy="33663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2001" y="1874125"/>
            <a:ext cx="4550131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2EDB562-9263-A048-96FB-922FA0E2EF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2001" y="723320"/>
            <a:ext cx="4550131" cy="27594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EFFBF4-5F8A-4A8D-8B7B-CBF19189BE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2179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4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Photo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5579165" y="4"/>
            <a:ext cx="3225731" cy="68578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8966269" y="175"/>
            <a:ext cx="3225731" cy="68578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79165" y="0"/>
            <a:ext cx="322573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66269" y="0"/>
            <a:ext cx="3225731" cy="6858000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088" y="999267"/>
            <a:ext cx="4549361" cy="87485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95" y="2150074"/>
            <a:ext cx="4549360" cy="33663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1" y="1874125"/>
            <a:ext cx="4550131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2EDB562-9263-A048-96FB-922FA0E2EF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1" y="723320"/>
            <a:ext cx="4550131" cy="27594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FF9080-CD6B-4252-8D34-CB64184F8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07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2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 Photo -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1" y="1"/>
            <a:ext cx="2258323" cy="57938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2445932" y="999415"/>
            <a:ext cx="2258323" cy="58585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2258323" cy="57940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45932" y="999270"/>
            <a:ext cx="2258323" cy="5858733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7297" y="999267"/>
            <a:ext cx="4121427" cy="87485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46505" y="2150076"/>
            <a:ext cx="4121427" cy="35447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45784" y="1874125"/>
            <a:ext cx="4122123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4EA47-0EB0-EB4D-8718-C9DDBD68F4CC}"/>
              </a:ext>
            </a:extLst>
          </p:cNvPr>
          <p:cNvSpPr/>
          <p:nvPr userDrawn="1"/>
        </p:nvSpPr>
        <p:spPr>
          <a:xfrm>
            <a:off x="4891861" y="175"/>
            <a:ext cx="2258323" cy="57937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F545B76-64FB-2D40-A87E-63220F70398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91861" y="4"/>
            <a:ext cx="2258323" cy="5793899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D2F50D-8BF2-824F-A4DC-0CBF6EC8B684}"/>
              </a:ext>
            </a:extLst>
          </p:cNvPr>
          <p:cNvSpPr/>
          <p:nvPr userDrawn="1"/>
        </p:nvSpPr>
        <p:spPr>
          <a:xfrm>
            <a:off x="3842863" y="3972062"/>
            <a:ext cx="1722783" cy="1722783"/>
          </a:xfrm>
          <a:prstGeom prst="ellipse">
            <a:avLst/>
          </a:prstGeom>
          <a:solidFill>
            <a:srgbClr val="3AC1CD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814B6AF-8703-524C-8F9D-E8FE27AB741D}"/>
              </a:ext>
            </a:extLst>
          </p:cNvPr>
          <p:cNvSpPr/>
          <p:nvPr userDrawn="1"/>
        </p:nvSpPr>
        <p:spPr>
          <a:xfrm>
            <a:off x="6340971" y="0"/>
            <a:ext cx="1618428" cy="568486"/>
          </a:xfrm>
          <a:custGeom>
            <a:avLst/>
            <a:gdLst>
              <a:gd name="connsiteX0" fmla="*/ 0 w 1618428"/>
              <a:gd name="connsiteY0" fmla="*/ 0 h 568486"/>
              <a:gd name="connsiteX1" fmla="*/ 1618428 w 1618428"/>
              <a:gd name="connsiteY1" fmla="*/ 0 h 568486"/>
              <a:gd name="connsiteX2" fmla="*/ 1602914 w 1618428"/>
              <a:gd name="connsiteY2" fmla="*/ 42387 h 568486"/>
              <a:gd name="connsiteX3" fmla="*/ 809214 w 1618428"/>
              <a:gd name="connsiteY3" fmla="*/ 568486 h 568486"/>
              <a:gd name="connsiteX4" fmla="*/ 15514 w 1618428"/>
              <a:gd name="connsiteY4" fmla="*/ 42387 h 568486"/>
              <a:gd name="connsiteX5" fmla="*/ 0 w 1618428"/>
              <a:gd name="connsiteY5" fmla="*/ 0 h 56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8428" h="568486">
                <a:moveTo>
                  <a:pt x="0" y="0"/>
                </a:moveTo>
                <a:lnTo>
                  <a:pt x="1618428" y="0"/>
                </a:lnTo>
                <a:lnTo>
                  <a:pt x="1602914" y="42387"/>
                </a:lnTo>
                <a:cubicBezTo>
                  <a:pt x="1472147" y="351553"/>
                  <a:pt x="1166015" y="568486"/>
                  <a:pt x="809214" y="568486"/>
                </a:cubicBezTo>
                <a:cubicBezTo>
                  <a:pt x="452414" y="568486"/>
                  <a:pt x="146281" y="351553"/>
                  <a:pt x="15514" y="4238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AB3E781-549C-B144-86E1-72DAF614D0D7}"/>
              </a:ext>
            </a:extLst>
          </p:cNvPr>
          <p:cNvSpPr/>
          <p:nvPr userDrawn="1"/>
        </p:nvSpPr>
        <p:spPr>
          <a:xfrm>
            <a:off x="1396933" y="1874129"/>
            <a:ext cx="1722783" cy="1722783"/>
          </a:xfrm>
          <a:prstGeom prst="ellipse">
            <a:avLst/>
          </a:prstGeom>
          <a:solidFill>
            <a:srgbClr val="FF532E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1F39990-DB47-A541-9DC1-EBDAF89CD7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45781" y="659818"/>
            <a:ext cx="4122123" cy="27594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0B6ED6-30C2-40BD-BAC9-805C3CC7A9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2179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41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 Photo - 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5586821" y="4"/>
            <a:ext cx="1961153" cy="64332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7790362" y="424705"/>
            <a:ext cx="1961153" cy="6433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6821" y="-1"/>
            <a:ext cx="1961153" cy="6433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90362" y="424544"/>
            <a:ext cx="1961153" cy="6433456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2251" y="999267"/>
            <a:ext cx="4131800" cy="87485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1461" y="2150078"/>
            <a:ext cx="4131799" cy="335265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722" y="1874125"/>
            <a:ext cx="4132497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4EA47-0EB0-EB4D-8718-C9DDBD68F4CC}"/>
              </a:ext>
            </a:extLst>
          </p:cNvPr>
          <p:cNvSpPr/>
          <p:nvPr userDrawn="1"/>
        </p:nvSpPr>
        <p:spPr>
          <a:xfrm>
            <a:off x="9993905" y="175"/>
            <a:ext cx="1961153" cy="6433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F545B76-64FB-2D40-A87E-63220F70398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93905" y="4"/>
            <a:ext cx="1961153" cy="6433297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AAA9A73-AB73-E644-BAAD-3D32292280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0722" y="659818"/>
            <a:ext cx="4132497" cy="27594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6890C5-625A-49BC-AF8E-534E100419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07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6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 Photo - Stack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0" y="5130684"/>
            <a:ext cx="4015365" cy="1727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4088319" y="5130843"/>
            <a:ext cx="4015365" cy="1727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130803"/>
            <a:ext cx="4015365" cy="17272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88319" y="5130803"/>
            <a:ext cx="4015365" cy="1727201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2251" y="999267"/>
            <a:ext cx="10804744" cy="87485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1459" y="2150077"/>
            <a:ext cx="10804743" cy="255785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720" y="1874125"/>
            <a:ext cx="10806568" cy="2759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4EA47-0EB0-EB4D-8718-C9DDBD68F4CC}"/>
              </a:ext>
            </a:extLst>
          </p:cNvPr>
          <p:cNvSpPr/>
          <p:nvPr userDrawn="1"/>
        </p:nvSpPr>
        <p:spPr>
          <a:xfrm>
            <a:off x="8176636" y="5130726"/>
            <a:ext cx="4015365" cy="17271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F545B76-64FB-2D40-A87E-63220F70398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6636" y="5130673"/>
            <a:ext cx="4015365" cy="1727158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AAA9A73-AB73-E644-BAAD-3D32292280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0720" y="659818"/>
            <a:ext cx="10806568" cy="275948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</p:spTree>
    <p:extLst>
      <p:ext uri="{BB962C8B-B14F-4D97-AF65-F5344CB8AC3E}">
        <p14:creationId xmlns:p14="http://schemas.microsoft.com/office/powerpoint/2010/main" val="240007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2">
          <p15:clr>
            <a:srgbClr val="FBAE40"/>
          </p15:clr>
        </p15:guide>
        <p15:guide id="4" pos="724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 Photo - Stack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8176636" y="0"/>
            <a:ext cx="4015365" cy="21845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8176636" y="2336753"/>
            <a:ext cx="4015365" cy="21845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76636" y="116"/>
            <a:ext cx="4015365" cy="21845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76636" y="2336710"/>
            <a:ext cx="4015365" cy="2184580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2253" y="999267"/>
            <a:ext cx="6715343" cy="87485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1459" y="2150074"/>
            <a:ext cx="6715343" cy="35014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720" y="1874125"/>
            <a:ext cx="6716477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4EA47-0EB0-EB4D-8718-C9DDBD68F4CC}"/>
              </a:ext>
            </a:extLst>
          </p:cNvPr>
          <p:cNvSpPr/>
          <p:nvPr userDrawn="1"/>
        </p:nvSpPr>
        <p:spPr>
          <a:xfrm>
            <a:off x="8176636" y="4673527"/>
            <a:ext cx="4015365" cy="21844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F545B76-64FB-2D40-A87E-63220F70398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6636" y="4673474"/>
            <a:ext cx="4015365" cy="2184526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AAA9A73-AB73-E644-BAAD-3D32292280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0720" y="659818"/>
            <a:ext cx="6716477" cy="27594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BF8277-B6E5-4530-9A35-5B344F924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07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18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2">
          <p15:clr>
            <a:srgbClr val="FBAE40"/>
          </p15:clr>
        </p15:guide>
        <p15:guide id="4" pos="72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 Photo - Stac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4E960-6041-8747-B361-8AB8FEE94A58}"/>
              </a:ext>
            </a:extLst>
          </p:cNvPr>
          <p:cNvSpPr/>
          <p:nvPr userDrawn="1"/>
        </p:nvSpPr>
        <p:spPr>
          <a:xfrm>
            <a:off x="0" y="0"/>
            <a:ext cx="4015365" cy="21845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0DC4F-7802-BC49-A79D-4B46A4283440}"/>
              </a:ext>
            </a:extLst>
          </p:cNvPr>
          <p:cNvSpPr/>
          <p:nvPr userDrawn="1"/>
        </p:nvSpPr>
        <p:spPr>
          <a:xfrm>
            <a:off x="0" y="2336753"/>
            <a:ext cx="4015365" cy="21845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CB26-8886-0A4D-B551-E773718498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"/>
            <a:ext cx="4015365" cy="21845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&lt;Insert Picture&gt;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7C6C04-B569-944B-B8AC-5CF5296470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336710"/>
            <a:ext cx="4015365" cy="2184580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6B9B9F6-E8E4-DD45-8A86-207A756FAB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0859" y="999267"/>
            <a:ext cx="6715343" cy="87485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79C42FF-BB56-A04E-A88B-8E5FA1D8F4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0067" y="2150074"/>
            <a:ext cx="6715343" cy="35014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383FEE3C-7015-F141-828D-D64131F42C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9328" y="1874125"/>
            <a:ext cx="6716477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4EA47-0EB0-EB4D-8718-C9DDBD68F4CC}"/>
              </a:ext>
            </a:extLst>
          </p:cNvPr>
          <p:cNvSpPr/>
          <p:nvPr userDrawn="1"/>
        </p:nvSpPr>
        <p:spPr>
          <a:xfrm>
            <a:off x="0" y="4673527"/>
            <a:ext cx="4015365" cy="21844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F545B76-64FB-2D40-A87E-63220F70398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673474"/>
            <a:ext cx="4015365" cy="2184526"/>
          </a:xfrm>
          <a:prstGeom prst="rect">
            <a:avLst/>
          </a:prstGeom>
        </p:spPr>
        <p:txBody>
          <a:bodyPr/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500"/>
            </a:lvl1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&lt;Insert Picture&gt;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AAA9A73-AB73-E644-BAAD-3D32292280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9328" y="659818"/>
            <a:ext cx="6716477" cy="27594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1F1C01-B399-401D-904B-8B6DE77AA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2179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17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2">
          <p15:clr>
            <a:srgbClr val="FBAE40"/>
          </p15:clr>
        </p15:guide>
        <p15:guide id="4" pos="72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 - Col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29A6C0A8-AD47-0241-B1D7-7D08101B97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9292" y="999267"/>
            <a:ext cx="4697413" cy="87485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2D6E100-9148-9644-9507-F4F6A6E267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8501" y="2150074"/>
            <a:ext cx="4350579" cy="35141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14EFF97-6164-5340-9FF0-90B289E8D9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709" y="1874125"/>
            <a:ext cx="4698207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62ED493-6B5A-F44A-8797-FDD7C117E6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04083" y="1408674"/>
            <a:ext cx="1844983" cy="252366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5EE5A55-DE9E-E04A-980F-DA40C01CEF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30099" y="1136824"/>
            <a:ext cx="2672885" cy="167525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E9889E-364B-5A48-8B46-481958AB752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950163" y="2812077"/>
            <a:ext cx="829216" cy="112025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F41DF26D-6499-CD41-841C-0DE9E8882B5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827683" y="3010893"/>
            <a:ext cx="829216" cy="112025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E107CDEE-A69F-B54C-ACC4-AE4330D7C3D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58002" y="3010893"/>
            <a:ext cx="1844983" cy="252366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BBB41BD0-BEB3-D54E-A065-609BC863B70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4083" y="4118795"/>
            <a:ext cx="2672885" cy="167525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EFAF70A-94D1-7A43-BD01-B9341CF2CC6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7707" y="659823"/>
            <a:ext cx="4698207" cy="275947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FAFCFE-E323-42BB-B51A-92C2237FC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07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213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 -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29A6C0A8-AD47-0241-B1D7-7D08101B97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9292" y="999267"/>
            <a:ext cx="4697413" cy="87485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2D6E100-9148-9644-9507-F4F6A6E267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8501" y="2150074"/>
            <a:ext cx="4350579" cy="35268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14EFF97-6164-5340-9FF0-90B289E8D9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709" y="1874125"/>
            <a:ext cx="4698207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523A6B96-F447-7B45-B1D6-F3C8C8552F3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31773" y="999269"/>
            <a:ext cx="2165387" cy="216081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insert your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F135290-EF75-4443-A4D4-9FB8F9A5CC8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55993" y="-81143"/>
            <a:ext cx="2165387" cy="216081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insert your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5D26C15C-EF18-ED4A-835B-706A77EF6A1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297161" y="3188072"/>
            <a:ext cx="2165387" cy="216081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insert your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2D1C00DC-AE17-3A42-A3B4-D57D21D15A7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1121381" y="2107664"/>
            <a:ext cx="2165387" cy="216081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insert your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2FCF177-C367-BC43-A0F2-66ADA32F22E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928269" y="-1171448"/>
            <a:ext cx="2165387" cy="216081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insert your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CDE3BC0F-9135-CA48-8AA5-0BC6B81A6BA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443593" y="5376874"/>
            <a:ext cx="2165387" cy="216081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here</a:t>
            </a:r>
            <a:br>
              <a:rPr lang="en-US"/>
            </a:br>
            <a:r>
              <a:rPr lang="en-US"/>
              <a:t>to insert your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27879A9-DCEB-4F46-B703-95001A4A2A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7707" y="659823"/>
            <a:ext cx="4698207" cy="275947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79497-5216-451F-8218-38F0186496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07" y="5792336"/>
            <a:ext cx="661736" cy="7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45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 - HalfPage w/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29A6C0A8-AD47-0241-B1D7-7D08101B97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7896" y="1132003"/>
            <a:ext cx="4697413" cy="87485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2D6E100-9148-9644-9507-F4F6A6E267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77105" y="2282810"/>
            <a:ext cx="4697411" cy="35141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14EFF97-6164-5340-9FF0-90B289E8D9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76313" y="2006861"/>
            <a:ext cx="4698207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62ED493-6B5A-F44A-8797-FDD7C117E6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40986" y="0"/>
            <a:ext cx="4250225" cy="3429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37EBDA-A032-DD4D-B1B6-0FA474B32F9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62744" y="-2475"/>
            <a:ext cx="2832464" cy="423581"/>
          </a:xfrm>
          <a:custGeom>
            <a:avLst/>
            <a:gdLst>
              <a:gd name="connsiteX0" fmla="*/ 0 w 2832464"/>
              <a:gd name="connsiteY0" fmla="*/ 0 h 423581"/>
              <a:gd name="connsiteX1" fmla="*/ 2832464 w 2832464"/>
              <a:gd name="connsiteY1" fmla="*/ 0 h 423581"/>
              <a:gd name="connsiteX2" fmla="*/ 2832464 w 2832464"/>
              <a:gd name="connsiteY2" fmla="*/ 423581 h 423581"/>
              <a:gd name="connsiteX3" fmla="*/ 0 w 2832464"/>
              <a:gd name="connsiteY3" fmla="*/ 423581 h 42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2464" h="423581">
                <a:moveTo>
                  <a:pt x="0" y="0"/>
                </a:moveTo>
                <a:lnTo>
                  <a:pt x="2832464" y="0"/>
                </a:lnTo>
                <a:lnTo>
                  <a:pt x="2832464" y="423581"/>
                </a:lnTo>
                <a:lnTo>
                  <a:pt x="0" y="42358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24018BA-64A1-E34C-8EA6-2C220E8D8E3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3" y="-2475"/>
            <a:ext cx="1844983" cy="6860475"/>
          </a:xfrm>
          <a:custGeom>
            <a:avLst/>
            <a:gdLst>
              <a:gd name="connsiteX0" fmla="*/ 0 w 1844983"/>
              <a:gd name="connsiteY0" fmla="*/ 0 h 6860475"/>
              <a:gd name="connsiteX1" fmla="*/ 1844983 w 1844983"/>
              <a:gd name="connsiteY1" fmla="*/ 0 h 6860475"/>
              <a:gd name="connsiteX2" fmla="*/ 1844983 w 1844983"/>
              <a:gd name="connsiteY2" fmla="*/ 6860475 h 6860475"/>
              <a:gd name="connsiteX3" fmla="*/ 0 w 1844983"/>
              <a:gd name="connsiteY3" fmla="*/ 6860475 h 6860475"/>
              <a:gd name="connsiteX4" fmla="*/ 0 w 1844983"/>
              <a:gd name="connsiteY4" fmla="*/ 5905387 h 6860475"/>
              <a:gd name="connsiteX5" fmla="*/ 491006 w 1844983"/>
              <a:gd name="connsiteY5" fmla="*/ 5905387 h 6860475"/>
              <a:gd name="connsiteX6" fmla="*/ 491006 w 1844983"/>
              <a:gd name="connsiteY6" fmla="*/ 423581 h 6860475"/>
              <a:gd name="connsiteX7" fmla="*/ 0 w 1844983"/>
              <a:gd name="connsiteY7" fmla="*/ 423581 h 6860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4983" h="6860475">
                <a:moveTo>
                  <a:pt x="0" y="0"/>
                </a:moveTo>
                <a:lnTo>
                  <a:pt x="1844983" y="0"/>
                </a:lnTo>
                <a:lnTo>
                  <a:pt x="1844983" y="6860475"/>
                </a:lnTo>
                <a:lnTo>
                  <a:pt x="0" y="6860475"/>
                </a:lnTo>
                <a:lnTo>
                  <a:pt x="0" y="5905387"/>
                </a:lnTo>
                <a:lnTo>
                  <a:pt x="491006" y="5905387"/>
                </a:lnTo>
                <a:lnTo>
                  <a:pt x="491006" y="423581"/>
                </a:lnTo>
                <a:lnTo>
                  <a:pt x="0" y="42358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BBB41BD0-BEB3-D54E-A065-609BC863B70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40984" y="3429000"/>
            <a:ext cx="4251019" cy="3429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EFAF70A-94D1-7A43-BD01-B9341CF2CC6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76311" y="792556"/>
            <a:ext cx="4698207" cy="275947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0C12EEC-4801-634A-A98C-BC079BD5EA7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0"/>
            <a:ext cx="6096000" cy="3429000"/>
          </a:xfrm>
          <a:custGeom>
            <a:avLst/>
            <a:gdLst>
              <a:gd name="connsiteX0" fmla="*/ 0 w 6096000"/>
              <a:gd name="connsiteY0" fmla="*/ 0 h 3429000"/>
              <a:gd name="connsiteX1" fmla="*/ 1063818 w 6096000"/>
              <a:gd name="connsiteY1" fmla="*/ 0 h 3429000"/>
              <a:gd name="connsiteX2" fmla="*/ 1063818 w 6096000"/>
              <a:gd name="connsiteY2" fmla="*/ 2473912 h 3429000"/>
              <a:gd name="connsiteX3" fmla="*/ 6096000 w 6096000"/>
              <a:gd name="connsiteY3" fmla="*/ 2473912 h 3429000"/>
              <a:gd name="connsiteX4" fmla="*/ 6096000 w 6096000"/>
              <a:gd name="connsiteY4" fmla="*/ 3429000 h 3429000"/>
              <a:gd name="connsiteX5" fmla="*/ 0 w 6096000"/>
              <a:gd name="connsiteY5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1063818" y="0"/>
                </a:lnTo>
                <a:lnTo>
                  <a:pt x="1063818" y="2473912"/>
                </a:lnTo>
                <a:lnTo>
                  <a:pt x="6096000" y="2473912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0E2859A-EC5E-6049-8DA6-03CAE9E701A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3262744" cy="3429000"/>
          </a:xfrm>
          <a:custGeom>
            <a:avLst/>
            <a:gdLst>
              <a:gd name="connsiteX0" fmla="*/ 0 w 3262744"/>
              <a:gd name="connsiteY0" fmla="*/ 0 h 3429000"/>
              <a:gd name="connsiteX1" fmla="*/ 3262744 w 3262744"/>
              <a:gd name="connsiteY1" fmla="*/ 0 h 3429000"/>
              <a:gd name="connsiteX2" fmla="*/ 3262744 w 3262744"/>
              <a:gd name="connsiteY2" fmla="*/ 421106 h 3429000"/>
              <a:gd name="connsiteX3" fmla="*/ 1063818 w 3262744"/>
              <a:gd name="connsiteY3" fmla="*/ 421106 h 3429000"/>
              <a:gd name="connsiteX4" fmla="*/ 1063818 w 3262744"/>
              <a:gd name="connsiteY4" fmla="*/ 3429000 h 3429000"/>
              <a:gd name="connsiteX5" fmla="*/ 0 w 3262744"/>
              <a:gd name="connsiteY5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2744" h="3429000">
                <a:moveTo>
                  <a:pt x="0" y="0"/>
                </a:moveTo>
                <a:lnTo>
                  <a:pt x="3262744" y="0"/>
                </a:lnTo>
                <a:lnTo>
                  <a:pt x="3262744" y="421106"/>
                </a:lnTo>
                <a:lnTo>
                  <a:pt x="1063818" y="421106"/>
                </a:lnTo>
                <a:lnTo>
                  <a:pt x="1063818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3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 - Full Page w/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29A6C0A8-AD47-0241-B1D7-7D08101B97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88273" y="1930362"/>
            <a:ext cx="8003689" cy="87485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80000"/>
              </a:lnSpc>
              <a:spcBef>
                <a:spcPts val="225"/>
              </a:spcBef>
              <a:spcAft>
                <a:spcPts val="450"/>
              </a:spcAft>
              <a:buNone/>
              <a:defRPr sz="1800" b="1" kern="400" cap="all" spc="11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title&gt;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2D6E100-9148-9644-9507-F4F6A6E267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87481" y="3081173"/>
            <a:ext cx="8004481" cy="218591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225"/>
              </a:spcBef>
              <a:spcAft>
                <a:spcPts val="450"/>
              </a:spcAft>
              <a:buNone/>
              <a:defRPr sz="10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14EFF97-6164-5340-9FF0-90B289E8D9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6685" y="2805220"/>
            <a:ext cx="8005043" cy="27594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&lt;Insert Subtitle&gt;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358620F-2FFB-6D48-96CA-CC0639EBBF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19116" y="175"/>
            <a:ext cx="2672885" cy="4198738"/>
          </a:xfrm>
          <a:custGeom>
            <a:avLst/>
            <a:gdLst>
              <a:gd name="connsiteX0" fmla="*/ 0 w 2672885"/>
              <a:gd name="connsiteY0" fmla="*/ 0 h 4194830"/>
              <a:gd name="connsiteX1" fmla="*/ 2672885 w 2672885"/>
              <a:gd name="connsiteY1" fmla="*/ 0 h 4194830"/>
              <a:gd name="connsiteX2" fmla="*/ 2672885 w 2672885"/>
              <a:gd name="connsiteY2" fmla="*/ 4194830 h 4194830"/>
              <a:gd name="connsiteX3" fmla="*/ 1320950 w 2672885"/>
              <a:gd name="connsiteY3" fmla="*/ 4194830 h 4194830"/>
              <a:gd name="connsiteX4" fmla="*/ 1320950 w 2672885"/>
              <a:gd name="connsiteY4" fmla="*/ 1011841 h 4194830"/>
              <a:gd name="connsiteX5" fmla="*/ 0 w 2672885"/>
              <a:gd name="connsiteY5" fmla="*/ 1011841 h 4194830"/>
              <a:gd name="connsiteX0" fmla="*/ 0 w 2672885"/>
              <a:gd name="connsiteY0" fmla="*/ 375139 h 4194830"/>
              <a:gd name="connsiteX1" fmla="*/ 2672885 w 2672885"/>
              <a:gd name="connsiteY1" fmla="*/ 0 h 4194830"/>
              <a:gd name="connsiteX2" fmla="*/ 2672885 w 2672885"/>
              <a:gd name="connsiteY2" fmla="*/ 4194830 h 4194830"/>
              <a:gd name="connsiteX3" fmla="*/ 1320950 w 2672885"/>
              <a:gd name="connsiteY3" fmla="*/ 4194830 h 4194830"/>
              <a:gd name="connsiteX4" fmla="*/ 1320950 w 2672885"/>
              <a:gd name="connsiteY4" fmla="*/ 1011841 h 4194830"/>
              <a:gd name="connsiteX5" fmla="*/ 0 w 2672885"/>
              <a:gd name="connsiteY5" fmla="*/ 1011841 h 4194830"/>
              <a:gd name="connsiteX6" fmla="*/ 0 w 2672885"/>
              <a:gd name="connsiteY6" fmla="*/ 375139 h 4194830"/>
              <a:gd name="connsiteX0" fmla="*/ 0 w 2672885"/>
              <a:gd name="connsiteY0" fmla="*/ 0 h 4198737"/>
              <a:gd name="connsiteX1" fmla="*/ 2672885 w 2672885"/>
              <a:gd name="connsiteY1" fmla="*/ 3907 h 4198737"/>
              <a:gd name="connsiteX2" fmla="*/ 2672885 w 2672885"/>
              <a:gd name="connsiteY2" fmla="*/ 4198737 h 4198737"/>
              <a:gd name="connsiteX3" fmla="*/ 1320950 w 2672885"/>
              <a:gd name="connsiteY3" fmla="*/ 4198737 h 4198737"/>
              <a:gd name="connsiteX4" fmla="*/ 1320950 w 2672885"/>
              <a:gd name="connsiteY4" fmla="*/ 1015748 h 4198737"/>
              <a:gd name="connsiteX5" fmla="*/ 0 w 2672885"/>
              <a:gd name="connsiteY5" fmla="*/ 1015748 h 4198737"/>
              <a:gd name="connsiteX6" fmla="*/ 0 w 2672885"/>
              <a:gd name="connsiteY6" fmla="*/ 0 h 4198737"/>
              <a:gd name="connsiteX0" fmla="*/ 0 w 2672885"/>
              <a:gd name="connsiteY0" fmla="*/ 1 h 4198738"/>
              <a:gd name="connsiteX1" fmla="*/ 2668977 w 2672885"/>
              <a:gd name="connsiteY1" fmla="*/ 0 h 4198738"/>
              <a:gd name="connsiteX2" fmla="*/ 2672885 w 2672885"/>
              <a:gd name="connsiteY2" fmla="*/ 4198738 h 4198738"/>
              <a:gd name="connsiteX3" fmla="*/ 1320950 w 2672885"/>
              <a:gd name="connsiteY3" fmla="*/ 4198738 h 4198738"/>
              <a:gd name="connsiteX4" fmla="*/ 1320950 w 2672885"/>
              <a:gd name="connsiteY4" fmla="*/ 1015749 h 4198738"/>
              <a:gd name="connsiteX5" fmla="*/ 0 w 2672885"/>
              <a:gd name="connsiteY5" fmla="*/ 1015749 h 4198738"/>
              <a:gd name="connsiteX6" fmla="*/ 0 w 2672885"/>
              <a:gd name="connsiteY6" fmla="*/ 1 h 419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85" h="4198738">
                <a:moveTo>
                  <a:pt x="0" y="1"/>
                </a:moveTo>
                <a:lnTo>
                  <a:pt x="2668977" y="0"/>
                </a:lnTo>
                <a:cubicBezTo>
                  <a:pt x="2670280" y="1399579"/>
                  <a:pt x="2671582" y="2799159"/>
                  <a:pt x="2672885" y="4198738"/>
                </a:cubicBezTo>
                <a:lnTo>
                  <a:pt x="1320950" y="4198738"/>
                </a:lnTo>
                <a:lnTo>
                  <a:pt x="1320950" y="1015749"/>
                </a:lnTo>
                <a:lnTo>
                  <a:pt x="0" y="1015749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7877DEB-252E-9F44-B34F-E2730595072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" y="4"/>
            <a:ext cx="4817804" cy="2659087"/>
          </a:xfrm>
          <a:custGeom>
            <a:avLst/>
            <a:gdLst>
              <a:gd name="connsiteX0" fmla="*/ 0 w 4817804"/>
              <a:gd name="connsiteY0" fmla="*/ 0 h 2659087"/>
              <a:gd name="connsiteX1" fmla="*/ 4817804 w 4817804"/>
              <a:gd name="connsiteY1" fmla="*/ 0 h 2659087"/>
              <a:gd name="connsiteX2" fmla="*/ 4817804 w 4817804"/>
              <a:gd name="connsiteY2" fmla="*/ 1015925 h 2659087"/>
              <a:gd name="connsiteX3" fmla="*/ 1338343 w 4817804"/>
              <a:gd name="connsiteY3" fmla="*/ 1015925 h 2659087"/>
              <a:gd name="connsiteX4" fmla="*/ 1338343 w 4817804"/>
              <a:gd name="connsiteY4" fmla="*/ 2659087 h 2659087"/>
              <a:gd name="connsiteX5" fmla="*/ 0 w 4817804"/>
              <a:gd name="connsiteY5" fmla="*/ 2659087 h 2659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17804" h="2659087">
                <a:moveTo>
                  <a:pt x="0" y="0"/>
                </a:moveTo>
                <a:lnTo>
                  <a:pt x="4817804" y="0"/>
                </a:lnTo>
                <a:lnTo>
                  <a:pt x="4817804" y="1015925"/>
                </a:lnTo>
                <a:lnTo>
                  <a:pt x="1338343" y="1015925"/>
                </a:lnTo>
                <a:lnTo>
                  <a:pt x="1338343" y="2659087"/>
                </a:lnTo>
                <a:lnTo>
                  <a:pt x="0" y="2659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F9D9B71-BFFD-F149-98FF-4B3F74EDE6F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661119" y="5842077"/>
            <a:ext cx="4713079" cy="1015924"/>
          </a:xfrm>
          <a:custGeom>
            <a:avLst/>
            <a:gdLst>
              <a:gd name="connsiteX0" fmla="*/ 0 w 4713078"/>
              <a:gd name="connsiteY0" fmla="*/ 0 h 1015924"/>
              <a:gd name="connsiteX1" fmla="*/ 4713078 w 4713078"/>
              <a:gd name="connsiteY1" fmla="*/ 0 h 1015924"/>
              <a:gd name="connsiteX2" fmla="*/ 4713078 w 4713078"/>
              <a:gd name="connsiteY2" fmla="*/ 1015924 h 1015924"/>
              <a:gd name="connsiteX3" fmla="*/ 0 w 4713078"/>
              <a:gd name="connsiteY3" fmla="*/ 1015924 h 101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3078" h="1015924">
                <a:moveTo>
                  <a:pt x="0" y="0"/>
                </a:moveTo>
                <a:lnTo>
                  <a:pt x="4713078" y="0"/>
                </a:lnTo>
                <a:lnTo>
                  <a:pt x="4713078" y="1015924"/>
                </a:lnTo>
                <a:lnTo>
                  <a:pt x="0" y="10159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3C10310-D492-2B48-82D8-47AD8800EC2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817806" y="4"/>
            <a:ext cx="4701076" cy="1015925"/>
          </a:xfrm>
          <a:custGeom>
            <a:avLst/>
            <a:gdLst>
              <a:gd name="connsiteX0" fmla="*/ 0 w 4679169"/>
              <a:gd name="connsiteY0" fmla="*/ 0 h 1015925"/>
              <a:gd name="connsiteX1" fmla="*/ 4679169 w 4679169"/>
              <a:gd name="connsiteY1" fmla="*/ 0 h 1015925"/>
              <a:gd name="connsiteX2" fmla="*/ 4679169 w 4679169"/>
              <a:gd name="connsiteY2" fmla="*/ 1015925 h 1015925"/>
              <a:gd name="connsiteX3" fmla="*/ 0 w 4679169"/>
              <a:gd name="connsiteY3" fmla="*/ 1015925 h 101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9169" h="1015925">
                <a:moveTo>
                  <a:pt x="0" y="0"/>
                </a:moveTo>
                <a:lnTo>
                  <a:pt x="4679169" y="0"/>
                </a:lnTo>
                <a:lnTo>
                  <a:pt x="4679169" y="1015925"/>
                </a:lnTo>
                <a:lnTo>
                  <a:pt x="0" y="10159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248D697-E1D5-CE49-B64D-4F8496B4CF1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2659086"/>
            <a:ext cx="2661117" cy="4198914"/>
          </a:xfrm>
          <a:custGeom>
            <a:avLst/>
            <a:gdLst>
              <a:gd name="connsiteX0" fmla="*/ 0 w 2661117"/>
              <a:gd name="connsiteY0" fmla="*/ 0 h 4198914"/>
              <a:gd name="connsiteX1" fmla="*/ 1338343 w 2661117"/>
              <a:gd name="connsiteY1" fmla="*/ 0 h 4198914"/>
              <a:gd name="connsiteX2" fmla="*/ 1338343 w 2661117"/>
              <a:gd name="connsiteY2" fmla="*/ 3182991 h 4198914"/>
              <a:gd name="connsiteX3" fmla="*/ 2661117 w 2661117"/>
              <a:gd name="connsiteY3" fmla="*/ 3182991 h 4198914"/>
              <a:gd name="connsiteX4" fmla="*/ 2661117 w 2661117"/>
              <a:gd name="connsiteY4" fmla="*/ 4198914 h 4198914"/>
              <a:gd name="connsiteX5" fmla="*/ 0 w 2661117"/>
              <a:gd name="connsiteY5" fmla="*/ 4198914 h 419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61117" h="4198914">
                <a:moveTo>
                  <a:pt x="0" y="0"/>
                </a:moveTo>
                <a:lnTo>
                  <a:pt x="1338343" y="0"/>
                </a:lnTo>
                <a:lnTo>
                  <a:pt x="1338343" y="3182991"/>
                </a:lnTo>
                <a:lnTo>
                  <a:pt x="2661117" y="3182991"/>
                </a:lnTo>
                <a:lnTo>
                  <a:pt x="2661117" y="4198914"/>
                </a:lnTo>
                <a:lnTo>
                  <a:pt x="0" y="419891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467BD37-282E-E446-8940-9805483E961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74197" y="4198915"/>
            <a:ext cx="4817807" cy="2659086"/>
          </a:xfrm>
          <a:custGeom>
            <a:avLst/>
            <a:gdLst>
              <a:gd name="connsiteX0" fmla="*/ 3465870 w 4817806"/>
              <a:gd name="connsiteY0" fmla="*/ 0 h 2659086"/>
              <a:gd name="connsiteX1" fmla="*/ 4817806 w 4817806"/>
              <a:gd name="connsiteY1" fmla="*/ 0 h 2659086"/>
              <a:gd name="connsiteX2" fmla="*/ 4817806 w 4817806"/>
              <a:gd name="connsiteY2" fmla="*/ 2659086 h 2659086"/>
              <a:gd name="connsiteX3" fmla="*/ 0 w 4817806"/>
              <a:gd name="connsiteY3" fmla="*/ 2659086 h 2659086"/>
              <a:gd name="connsiteX4" fmla="*/ 0 w 4817806"/>
              <a:gd name="connsiteY4" fmla="*/ 1643162 h 2659086"/>
              <a:gd name="connsiteX5" fmla="*/ 3465870 w 4817806"/>
              <a:gd name="connsiteY5" fmla="*/ 1643162 h 265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17806" h="2659086">
                <a:moveTo>
                  <a:pt x="3465870" y="0"/>
                </a:moveTo>
                <a:lnTo>
                  <a:pt x="4817806" y="0"/>
                </a:lnTo>
                <a:lnTo>
                  <a:pt x="4817806" y="2659086"/>
                </a:lnTo>
                <a:lnTo>
                  <a:pt x="0" y="2659086"/>
                </a:lnTo>
                <a:lnTo>
                  <a:pt x="0" y="1643162"/>
                </a:lnTo>
                <a:lnTo>
                  <a:pt x="3465870" y="164316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EFAF70A-94D1-7A43-BD01-B9341CF2CC6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6684" y="1590918"/>
            <a:ext cx="8005043" cy="275947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0" i="0" cap="all" spc="150" baseline="0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Subheader</a:t>
            </a:r>
            <a:r>
              <a:rPr lang="en-US" dirty="0"/>
              <a:t> if it is appropriate&gt;</a:t>
            </a:r>
          </a:p>
        </p:txBody>
      </p:sp>
    </p:spTree>
    <p:extLst>
      <p:ext uri="{BB962C8B-B14F-4D97-AF65-F5344CB8AC3E}">
        <p14:creationId xmlns:p14="http://schemas.microsoft.com/office/powerpoint/2010/main" val="384094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C92EB89-C360-6C4F-A67E-7B74D835019D}" type="datetimeFigureOut">
              <a:rPr lang="en-US" smtClean="0"/>
              <a:t>6/18/19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C20E49D-532B-574C-9B28-3CB5D48BEFC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52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400" b="1" i="0" kern="1200" cap="all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1050" b="0" i="0" kern="1200">
          <a:solidFill>
            <a:srgbClr val="595959"/>
          </a:solidFill>
          <a:latin typeface="Arial" charset="0"/>
          <a:ea typeface="Arial" charset="0"/>
          <a:cs typeface="Arial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050" b="0" i="0" kern="1200">
          <a:solidFill>
            <a:srgbClr val="595959"/>
          </a:solidFill>
          <a:latin typeface="Arial" charset="0"/>
          <a:ea typeface="Arial" charset="0"/>
          <a:cs typeface="Arial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050" b="0" i="0" kern="1200">
          <a:solidFill>
            <a:srgbClr val="595959"/>
          </a:solidFill>
          <a:latin typeface="Arial" charset="0"/>
          <a:ea typeface="Arial" charset="0"/>
          <a:cs typeface="Arial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050" b="0" i="0" kern="1200">
          <a:solidFill>
            <a:srgbClr val="595959"/>
          </a:solidFill>
          <a:latin typeface="Arial" charset="0"/>
          <a:ea typeface="Arial" charset="0"/>
          <a:cs typeface="Arial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050" b="0" i="0" kern="1200">
          <a:solidFill>
            <a:srgbClr val="595959"/>
          </a:solidFill>
          <a:latin typeface="Arial" charset="0"/>
          <a:ea typeface="Arial" charset="0"/>
          <a:cs typeface="Arial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Picture 26" descr="umb_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8814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TextBox 1"/>
          <p:cNvSpPr txBox="1">
            <a:spLocks noChangeArrowheads="1"/>
          </p:cNvSpPr>
          <p:nvPr/>
        </p:nvSpPr>
        <p:spPr bwMode="auto">
          <a:xfrm>
            <a:off x="2195006" y="1260441"/>
            <a:ext cx="8932340" cy="1323439"/>
          </a:xfrm>
          <a:prstGeom prst="rect">
            <a:avLst/>
          </a:prstGeom>
          <a:ln>
            <a:headEnd/>
            <a:tailEnd/>
          </a:ln>
          <a:scene3d>
            <a:camera prst="isometricOffAxis1Right"/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accent6"/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4000" b="1" dirty="0">
                <a:solidFill>
                  <a:schemeClr val="bg1"/>
                </a:solidFill>
              </a:rPr>
              <a:t>The Direct Service Crisis:</a:t>
            </a:r>
          </a:p>
          <a:p>
            <a:pPr algn="ctr">
              <a:defRPr/>
            </a:pPr>
            <a:r>
              <a:rPr lang="en-US" sz="4000" b="1" i="1" dirty="0">
                <a:solidFill>
                  <a:schemeClr val="bg1"/>
                </a:solidFill>
              </a:rPr>
              <a:t>What Do We Do?</a:t>
            </a:r>
            <a:endParaRPr lang="en-US" sz="4000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E7E21-B56F-654D-B706-42B29315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464" y="5191252"/>
            <a:ext cx="2868168" cy="1434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C05BF6-1C36-1B4C-93C9-4ED48E43042A}"/>
              </a:ext>
            </a:extLst>
          </p:cNvPr>
          <p:cNvSpPr txBox="1"/>
          <p:nvPr/>
        </p:nvSpPr>
        <p:spPr>
          <a:xfrm>
            <a:off x="1853184" y="4092412"/>
            <a:ext cx="6364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David Hoff</a:t>
            </a:r>
          </a:p>
          <a:p>
            <a:r>
              <a:rPr lang="en-US" sz="2800" dirty="0"/>
              <a:t>Institute for Community Inclusion</a:t>
            </a:r>
          </a:p>
          <a:p>
            <a:r>
              <a:rPr lang="en-US" sz="2800" dirty="0"/>
              <a:t>University of Massachusetts Boston</a:t>
            </a:r>
          </a:p>
          <a:p>
            <a:r>
              <a:rPr lang="en-US" sz="2800" dirty="0"/>
              <a:t>617-287-4308 – </a:t>
            </a:r>
            <a:r>
              <a:rPr lang="en-US" sz="2800" dirty="0" err="1"/>
              <a:t>david.hoff@umb.edu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3554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85">
            <a:extLst>
              <a:ext uri="{FF2B5EF4-FFF2-40B4-BE49-F238E27FC236}">
                <a16:creationId xmlns:a16="http://schemas.microsoft.com/office/drawing/2014/main" id="{A3DFFD5A-9A8D-EF44-A049-F565B33997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5655" y="245943"/>
            <a:ext cx="3233975" cy="306989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F3671E-2FEE-1B41-8189-36CC7FBD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570" y="1447800"/>
            <a:ext cx="6548014" cy="4800600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dirty="0"/>
              <a:t>No charge technical assistance and training project available to</a:t>
            </a:r>
            <a:br>
              <a:rPr lang="en-US" dirty="0"/>
            </a:br>
            <a:r>
              <a:rPr lang="en-US" dirty="0"/>
              <a:t>Division of Developmental Disability providers</a:t>
            </a:r>
            <a:br>
              <a:rPr lang="en-US" dirty="0"/>
            </a:br>
            <a:endParaRPr lang="en-US" dirty="0"/>
          </a:p>
          <a:p>
            <a:pPr>
              <a:spcBef>
                <a:spcPts val="2400"/>
              </a:spcBef>
            </a:pPr>
            <a:r>
              <a:rPr lang="en-US" b="1" dirty="0"/>
              <a:t>Website: </a:t>
            </a:r>
            <a:r>
              <a:rPr lang="en-US" dirty="0" err="1"/>
              <a:t>employmentfirstmo.org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823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D18BC-2AAE-7D43-A541-9DCDA326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144" y="274638"/>
            <a:ext cx="2698799" cy="11430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Handouts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AFE91-ED01-2145-B76E-D859A694F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680" y="1877704"/>
            <a:ext cx="4796006" cy="4980296"/>
          </a:xfrm>
        </p:spPr>
        <p:txBody>
          <a:bodyPr/>
          <a:lstStyle/>
          <a:p>
            <a:r>
              <a:rPr lang="en-US" dirty="0"/>
              <a:t>Resources on Recruiting and Retaining Staff</a:t>
            </a:r>
            <a:br>
              <a:rPr lang="en-US" dirty="0"/>
            </a:br>
            <a:endParaRPr lang="en-US" dirty="0"/>
          </a:p>
          <a:p>
            <a:r>
              <a:rPr lang="en-US" dirty="0"/>
              <a:t>APP Handout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87EBC5-BB5C-DB41-BCAD-7EE4BB35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653" y="515136"/>
            <a:ext cx="4503245" cy="58277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99A2AF-85D1-BF44-9470-30BDAF554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215" y="515136"/>
            <a:ext cx="4503245" cy="58277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7083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1E5DC4-279A-4A4A-926A-578A1D764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692" y="1645692"/>
            <a:ext cx="5212307" cy="52123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93B91F-D297-A648-826F-4DF24303A1B5}"/>
              </a:ext>
            </a:extLst>
          </p:cNvPr>
          <p:cNvSpPr txBox="1"/>
          <p:nvPr/>
        </p:nvSpPr>
        <p:spPr>
          <a:xfrm>
            <a:off x="1651379" y="2483893"/>
            <a:ext cx="2552131" cy="138499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Recruit &amp; Retain Sufficient Staff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AEA827-461E-B24A-A3BD-BE94FE9E4D0A}"/>
              </a:ext>
            </a:extLst>
          </p:cNvPr>
          <p:cNvSpPr txBox="1"/>
          <p:nvPr/>
        </p:nvSpPr>
        <p:spPr>
          <a:xfrm>
            <a:off x="9755238" y="2449521"/>
            <a:ext cx="2156346" cy="138499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Provide services with less staff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6699E6-33B4-F447-B68B-3790CB7B738E}"/>
              </a:ext>
            </a:extLst>
          </p:cNvPr>
          <p:cNvSpPr/>
          <p:nvPr/>
        </p:nvSpPr>
        <p:spPr>
          <a:xfrm>
            <a:off x="4203510" y="346965"/>
            <a:ext cx="5161541" cy="1107996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Two Choices</a:t>
            </a:r>
          </a:p>
        </p:txBody>
      </p:sp>
    </p:spTree>
    <p:extLst>
      <p:ext uri="{BB962C8B-B14F-4D97-AF65-F5344CB8AC3E}">
        <p14:creationId xmlns:p14="http://schemas.microsoft.com/office/powerpoint/2010/main" val="3769163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FCBF-BD38-154E-BE9B-C180EA0E1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703" y="274638"/>
            <a:ext cx="8935826" cy="1143000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effectLst/>
              </a:rPr>
              <a:t>Creative sources for staff recruitment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C0A5B-B21B-B44E-B051-CBF63190E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757" y="1589845"/>
            <a:ext cx="6241889" cy="526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60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A8F6-60E0-FA49-8BA2-31C3C9BA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83" y="206399"/>
            <a:ext cx="8499644" cy="136309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/>
              <a:t>Making organizations attractive</a:t>
            </a:r>
            <a:br>
              <a:rPr lang="en-US" b="1" dirty="0"/>
            </a:br>
            <a:r>
              <a:rPr lang="en-US" b="1" dirty="0"/>
              <a:t>places to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B4071-838C-084A-A066-6A57D0F3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330" y="1866333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81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DDC1AB-B0C1-E446-A4D3-458D6D07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851" y="61553"/>
            <a:ext cx="6184854" cy="7068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0821A3-09EA-3142-B479-C31F275672BE}"/>
              </a:ext>
            </a:extLst>
          </p:cNvPr>
          <p:cNvSpPr txBox="1"/>
          <p:nvPr/>
        </p:nvSpPr>
        <p:spPr>
          <a:xfrm>
            <a:off x="6096000" y="2767280"/>
            <a:ext cx="2524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Chalkboard" panose="03050602040202020205" pitchFamily="66" charset="77"/>
              </a:rPr>
              <a:t>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1602258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6EBA-A76D-DC48-A8D6-A9043C82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944" y="1065028"/>
            <a:ext cx="6348488" cy="5943600"/>
          </a:xfrm>
        </p:spPr>
        <p:txBody>
          <a:bodyPr/>
          <a:lstStyle/>
          <a:p>
            <a:r>
              <a:rPr lang="en-US" b="1" dirty="0"/>
              <a:t>Effective: </a:t>
            </a:r>
            <a:r>
              <a:rPr lang="en-US" i="1" dirty="0"/>
              <a:t>Producing intended or expected result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Efficient: </a:t>
            </a:r>
            <a:r>
              <a:rPr lang="en-US" i="1" dirty="0"/>
              <a:t>Performing in the best possible manner with least waste of time and effort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8516E-F8E6-A647-A5ED-84387242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8</a:t>
            </a:fld>
            <a:endParaRPr 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D46463EC-DE2A-BB46-BF0A-4E7C3F23F0E8}"/>
              </a:ext>
            </a:extLst>
          </p:cNvPr>
          <p:cNvSpPr/>
          <p:nvPr/>
        </p:nvSpPr>
        <p:spPr>
          <a:xfrm>
            <a:off x="2049000" y="767316"/>
            <a:ext cx="2856154" cy="1954619"/>
          </a:xfrm>
          <a:prstGeom prst="homePlate">
            <a:avLst/>
          </a:prstGeom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6">
                <a:shade val="30000"/>
                <a:satMod val="130000"/>
              </a:schemeClr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Effective vs. Efficient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464576-EEE8-D142-AE1C-3D19D1BA5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693" y="3765175"/>
            <a:ext cx="4041455" cy="2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88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BF66B-F58F-8A41-9A7A-13242EF2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C67AB4-B406-144D-A11A-1C6FCD494198}"/>
              </a:ext>
            </a:extLst>
          </p:cNvPr>
          <p:cNvGraphicFramePr>
            <a:graphicFrameLocks noGrp="1"/>
          </p:cNvGraphicFramePr>
          <p:nvPr/>
        </p:nvGraphicFramePr>
        <p:xfrm>
          <a:off x="4031512" y="909159"/>
          <a:ext cx="6096000" cy="357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175069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10556515"/>
                    </a:ext>
                  </a:extLst>
                </a:gridCol>
              </a:tblGrid>
              <a:tr h="1789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Pursuing goals but costs are too high (inefficient)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Pursing right goals and efficient (high Return on Investment, cost efficient)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54600"/>
                  </a:ext>
                </a:extLst>
              </a:tr>
              <a:tr h="178952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</a:rPr>
                        <a:t>Pursuing wrong goals and inefficient</a:t>
                      </a:r>
                      <a:br>
                        <a:rPr lang="en-US" sz="2000" b="1" dirty="0">
                          <a:solidFill>
                            <a:srgbClr val="FFFF00"/>
                          </a:solidFill>
                        </a:rPr>
                      </a:br>
                      <a:r>
                        <a:rPr lang="en-US" sz="2000" b="1" dirty="0">
                          <a:solidFill>
                            <a:srgbClr val="FFFF00"/>
                          </a:solidFill>
                        </a:rPr>
                        <a:t>(not producing enough and expensive)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Pursuing wrong goals but is efficient (not producing enough but low cost)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760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3BBADF1-0528-1C48-A718-84A1D9EC12BE}"/>
              </a:ext>
            </a:extLst>
          </p:cNvPr>
          <p:cNvSpPr txBox="1"/>
          <p:nvPr/>
        </p:nvSpPr>
        <p:spPr>
          <a:xfrm>
            <a:off x="7531969" y="4497647"/>
            <a:ext cx="196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Efficient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03068-A67C-8A49-B69F-B703056F35DF}"/>
              </a:ext>
            </a:extLst>
          </p:cNvPr>
          <p:cNvSpPr txBox="1"/>
          <p:nvPr/>
        </p:nvSpPr>
        <p:spPr>
          <a:xfrm>
            <a:off x="4556099" y="4486870"/>
            <a:ext cx="196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Inefficient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0CF8F-B373-9041-8BBD-69A7F6B0D400}"/>
              </a:ext>
            </a:extLst>
          </p:cNvPr>
          <p:cNvSpPr txBox="1"/>
          <p:nvPr/>
        </p:nvSpPr>
        <p:spPr>
          <a:xfrm>
            <a:off x="8245762" y="6120884"/>
            <a:ext cx="2775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Source: </a:t>
            </a:r>
            <a:r>
              <a:rPr lang="en-US" i="1" dirty="0" err="1"/>
              <a:t>insightsquared.com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5F12D-098C-A345-AD82-4C2F99D13D7C}"/>
              </a:ext>
            </a:extLst>
          </p:cNvPr>
          <p:cNvSpPr txBox="1"/>
          <p:nvPr/>
        </p:nvSpPr>
        <p:spPr>
          <a:xfrm>
            <a:off x="4743828" y="4874651"/>
            <a:ext cx="4497708" cy="954107"/>
          </a:xfrm>
          <a:prstGeom prst="rect">
            <a:avLst/>
          </a:prstGeom>
          <a:ln w="381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Use of Resources – </a:t>
            </a:r>
          </a:p>
          <a:p>
            <a:pPr algn="ctr"/>
            <a:r>
              <a:rPr lang="en-US" sz="2800" b="1" i="1" dirty="0"/>
              <a:t>Doing Things Right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D270A-BDD8-2F41-AF8C-CF00AA0EA2D2}"/>
              </a:ext>
            </a:extLst>
          </p:cNvPr>
          <p:cNvSpPr txBox="1"/>
          <p:nvPr/>
        </p:nvSpPr>
        <p:spPr>
          <a:xfrm>
            <a:off x="3578152" y="3034437"/>
            <a:ext cx="492443" cy="158216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 b="1" dirty="0"/>
              <a:t>Ineffective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E7945-ACAE-E943-8DB8-D85D42DFB1CD}"/>
              </a:ext>
            </a:extLst>
          </p:cNvPr>
          <p:cNvSpPr txBox="1"/>
          <p:nvPr/>
        </p:nvSpPr>
        <p:spPr>
          <a:xfrm>
            <a:off x="3589339" y="928622"/>
            <a:ext cx="492443" cy="122679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 b="1" dirty="0"/>
              <a:t>Effective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01E12-9F59-BC4A-9235-0BD321AC9049}"/>
              </a:ext>
            </a:extLst>
          </p:cNvPr>
          <p:cNvSpPr txBox="1"/>
          <p:nvPr/>
        </p:nvSpPr>
        <p:spPr>
          <a:xfrm>
            <a:off x="2240766" y="700553"/>
            <a:ext cx="1046440" cy="5005095"/>
          </a:xfrm>
          <a:prstGeom prst="rect">
            <a:avLst/>
          </a:prstGeom>
          <a:ln w="2857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vert270" wrap="square" rtlCol="0" anchor="ctr" anchorCtr="0">
            <a:spAutoFit/>
          </a:bodyPr>
          <a:lstStyle/>
          <a:p>
            <a:pPr algn="ctr"/>
            <a:r>
              <a:rPr lang="en-US" sz="2800" b="1" i="1" dirty="0"/>
              <a:t>Pursuit of Appropriate Goals –</a:t>
            </a:r>
          </a:p>
          <a:p>
            <a:pPr algn="ctr"/>
            <a:r>
              <a:rPr lang="en-US" sz="2800" b="1" i="1" dirty="0"/>
              <a:t>Doing Right Things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DB9E92-5B49-1841-9D13-179661CE3A3D}"/>
              </a:ext>
            </a:extLst>
          </p:cNvPr>
          <p:cNvCxnSpPr>
            <a:cxnSpLocks/>
          </p:cNvCxnSpPr>
          <p:nvPr/>
        </p:nvCxnSpPr>
        <p:spPr>
          <a:xfrm>
            <a:off x="6404345" y="4682313"/>
            <a:ext cx="141949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E653A1-25FF-5C4B-83B2-607CC306F313}"/>
              </a:ext>
            </a:extLst>
          </p:cNvPr>
          <p:cNvCxnSpPr>
            <a:cxnSpLocks/>
          </p:cNvCxnSpPr>
          <p:nvPr/>
        </p:nvCxnSpPr>
        <p:spPr>
          <a:xfrm flipV="1">
            <a:off x="3820170" y="2155722"/>
            <a:ext cx="0" cy="8542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46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Curved Connector 145"/>
          <p:cNvCxnSpPr>
            <a:stCxn id="25" idx="2"/>
          </p:cNvCxnSpPr>
          <p:nvPr/>
        </p:nvCxnSpPr>
        <p:spPr bwMode="auto">
          <a:xfrm rot="5400000">
            <a:off x="8724900" y="2171700"/>
            <a:ext cx="762000" cy="6858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5" name="Curved Connector 164"/>
          <p:cNvCxnSpPr/>
          <p:nvPr/>
        </p:nvCxnSpPr>
        <p:spPr bwMode="auto">
          <a:xfrm rot="16200000" flipH="1">
            <a:off x="8534400" y="3124200"/>
            <a:ext cx="990600" cy="5334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3" name="Curved Connector 152"/>
          <p:cNvCxnSpPr/>
          <p:nvPr/>
        </p:nvCxnSpPr>
        <p:spPr bwMode="auto">
          <a:xfrm rot="5400000">
            <a:off x="8686800" y="3810000"/>
            <a:ext cx="1600200" cy="1447800"/>
          </a:xfrm>
          <a:prstGeom prst="curvedConnector3">
            <a:avLst>
              <a:gd name="adj1" fmla="val 56349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9" name="Straight Connector 78"/>
          <p:cNvCxnSpPr>
            <a:cxnSpLocks/>
          </p:cNvCxnSpPr>
          <p:nvPr/>
        </p:nvCxnSpPr>
        <p:spPr bwMode="auto">
          <a:xfrm>
            <a:off x="10134600" y="3429000"/>
            <a:ext cx="15240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>
            <a:stCxn id="28" idx="6"/>
            <a:endCxn id="19" idx="1"/>
          </p:cNvCxnSpPr>
          <p:nvPr/>
        </p:nvCxnSpPr>
        <p:spPr bwMode="auto">
          <a:xfrm>
            <a:off x="7162800" y="5219700"/>
            <a:ext cx="533400" cy="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>
            <a:stCxn id="29" idx="3"/>
            <a:endCxn id="28" idx="2"/>
          </p:cNvCxnSpPr>
          <p:nvPr/>
        </p:nvCxnSpPr>
        <p:spPr bwMode="auto">
          <a:xfrm>
            <a:off x="5257800" y="5219700"/>
            <a:ext cx="685800" cy="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9" name="Curved Connector 58"/>
          <p:cNvCxnSpPr/>
          <p:nvPr/>
        </p:nvCxnSpPr>
        <p:spPr bwMode="auto">
          <a:xfrm rot="10800000">
            <a:off x="2743200" y="4495800"/>
            <a:ext cx="1295400" cy="647700"/>
          </a:xfrm>
          <a:prstGeom prst="curvedConnector3">
            <a:avLst>
              <a:gd name="adj1" fmla="val 10784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Curved Connector 37"/>
          <p:cNvCxnSpPr>
            <a:stCxn id="25" idx="1"/>
          </p:cNvCxnSpPr>
          <p:nvPr/>
        </p:nvCxnSpPr>
        <p:spPr bwMode="auto">
          <a:xfrm rot="10800000" flipV="1">
            <a:off x="8305800" y="1752600"/>
            <a:ext cx="609600" cy="3810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Connector 13"/>
          <p:cNvCxnSpPr>
            <a:cxnSpLocks/>
            <a:stCxn id="15" idx="0"/>
            <a:endCxn id="26" idx="1"/>
          </p:cNvCxnSpPr>
          <p:nvPr/>
        </p:nvCxnSpPr>
        <p:spPr bwMode="auto">
          <a:xfrm flipH="1" flipV="1">
            <a:off x="6934200" y="1371600"/>
            <a:ext cx="723900" cy="6858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>
            <a:cxnSpLocks/>
            <a:stCxn id="27" idx="0"/>
            <a:endCxn id="18" idx="2"/>
          </p:cNvCxnSpPr>
          <p:nvPr/>
        </p:nvCxnSpPr>
        <p:spPr bwMode="auto">
          <a:xfrm flipH="1" flipV="1">
            <a:off x="5372101" y="2362200"/>
            <a:ext cx="1003301" cy="6096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>
            <a:stCxn id="18" idx="2"/>
            <a:endCxn id="16" idx="0"/>
          </p:cNvCxnSpPr>
          <p:nvPr/>
        </p:nvCxnSpPr>
        <p:spPr bwMode="auto">
          <a:xfrm flipH="1">
            <a:off x="4495800" y="2362200"/>
            <a:ext cx="876300" cy="457200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>
            <a:stCxn id="16" idx="0"/>
            <a:endCxn id="24" idx="5"/>
          </p:cNvCxnSpPr>
          <p:nvPr/>
        </p:nvCxnSpPr>
        <p:spPr bwMode="auto">
          <a:xfrm flipH="1" flipV="1">
            <a:off x="3555252" y="2403008"/>
            <a:ext cx="940548" cy="416392"/>
          </a:xfrm>
          <a:prstGeom prst="line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Curved Connector 35"/>
          <p:cNvCxnSpPr/>
          <p:nvPr/>
        </p:nvCxnSpPr>
        <p:spPr bwMode="auto">
          <a:xfrm rot="16200000" flipH="1">
            <a:off x="2207928" y="3278474"/>
            <a:ext cx="1695450" cy="167705"/>
          </a:xfrm>
          <a:prstGeom prst="curvedConnector4">
            <a:avLst>
              <a:gd name="adj1" fmla="val 33708"/>
              <a:gd name="adj2" fmla="val 499806"/>
            </a:avLst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1" y="95250"/>
            <a:ext cx="3581399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600" b="1" dirty="0">
                <a:latin typeface="Arial Narrow"/>
                <a:cs typeface="Arial Narrow"/>
              </a:rPr>
              <a:t>What will be the best route to employment success?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7010400" y="2057400"/>
            <a:ext cx="1295400" cy="6858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Helvetica Neue"/>
                <a:cs typeface="Geneva" charset="0"/>
              </a:rPr>
              <a:t>Community Exploration</a:t>
            </a:r>
            <a:endParaRPr lang="en-US" sz="1400" b="1" dirty="0">
              <a:solidFill>
                <a:srgbClr val="000000"/>
              </a:solidFill>
              <a:latin typeface="Helvetica Neue"/>
              <a:ea typeface="ＭＳ Ｐゴシック" charset="0"/>
              <a:cs typeface="Geneva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3962400" y="2819400"/>
            <a:ext cx="1066800" cy="533400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bg1"/>
                </a:solidFill>
                <a:latin typeface="Marker Felt Thin"/>
                <a:cs typeface="Geneva" charset="0"/>
              </a:rPr>
              <a:t>PASS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4724400" y="1676400"/>
            <a:ext cx="1295400" cy="685800"/>
          </a:xfrm>
          <a:prstGeom prst="roundRect">
            <a:avLst/>
          </a:prstGeom>
          <a:solidFill>
            <a:srgbClr val="E94D0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bg1"/>
                </a:solidFill>
                <a:latin typeface="Arial" charset="0"/>
                <a:ea typeface="ＭＳ Ｐゴシック" charset="0"/>
                <a:cs typeface="Geneva" charset="0"/>
              </a:rPr>
              <a:t>Job Development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7696200" y="4876800"/>
            <a:ext cx="1143000" cy="685800"/>
          </a:xfrm>
          <a:prstGeom prst="roundRect">
            <a:avLst/>
          </a:prstGeom>
          <a:solidFill>
            <a:srgbClr val="3A828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Arial" charset="0"/>
                <a:ea typeface="ＭＳ Ｐゴシック" charset="0"/>
                <a:cs typeface="Geneva" charset="0"/>
              </a:rPr>
              <a:t>Plan Job Search</a:t>
            </a:r>
          </a:p>
        </p:txBody>
      </p:sp>
      <p:sp>
        <p:nvSpPr>
          <p:cNvPr id="24" name="Oval 23"/>
          <p:cNvSpPr/>
          <p:nvPr/>
        </p:nvSpPr>
        <p:spPr bwMode="auto">
          <a:xfrm>
            <a:off x="2514600" y="1752600"/>
            <a:ext cx="1219200" cy="762000"/>
          </a:xfrm>
          <a:prstGeom prst="ellipse">
            <a:avLst/>
          </a:prstGeom>
          <a:solidFill>
            <a:srgbClr val="800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00"/>
                </a:solidFill>
                <a:latin typeface="Arial" charset="0"/>
                <a:ea typeface="ＭＳ Ｐゴシック" charset="0"/>
                <a:cs typeface="Geneva" charset="0"/>
              </a:rPr>
              <a:t>Job Creation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8915400" y="1371600"/>
            <a:ext cx="1066800" cy="762000"/>
          </a:xfrm>
          <a:prstGeom prst="rect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bg1"/>
                </a:solidFill>
                <a:latin typeface="Arial" charset="0"/>
                <a:ea typeface="ＭＳ Ｐゴシック" charset="0"/>
                <a:cs typeface="Geneva" charset="0"/>
              </a:rPr>
              <a:t>Person-Centered Planning</a:t>
            </a:r>
          </a:p>
        </p:txBody>
      </p:sp>
      <p:sp>
        <p:nvSpPr>
          <p:cNvPr id="26" name="Round Diagonal Corner Rectangle 25"/>
          <p:cNvSpPr/>
          <p:nvPr/>
        </p:nvSpPr>
        <p:spPr bwMode="auto">
          <a:xfrm>
            <a:off x="6324600" y="762000"/>
            <a:ext cx="1219200" cy="609600"/>
          </a:xfrm>
          <a:prstGeom prst="round2Diag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000000"/>
                </a:solidFill>
                <a:latin typeface="Optima"/>
                <a:ea typeface="ＭＳ Ｐゴシック" charset="0"/>
                <a:cs typeface="Geneva" charset="0"/>
              </a:rPr>
              <a:t>Situational Assessment</a:t>
            </a:r>
          </a:p>
        </p:txBody>
      </p:sp>
      <p:sp>
        <p:nvSpPr>
          <p:cNvPr id="27" name="Oval 26"/>
          <p:cNvSpPr/>
          <p:nvPr/>
        </p:nvSpPr>
        <p:spPr bwMode="auto">
          <a:xfrm>
            <a:off x="5664202" y="2971800"/>
            <a:ext cx="1422399" cy="762000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00"/>
                </a:solidFill>
                <a:latin typeface="Times New Roman"/>
                <a:cs typeface="Geneva" charset="0"/>
              </a:rPr>
              <a:t>Benefits Planning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5943600" y="4800600"/>
            <a:ext cx="1219200" cy="838200"/>
          </a:xfrm>
          <a:prstGeom prst="ellipse">
            <a:avLst/>
          </a:prstGeom>
          <a:solidFill>
            <a:srgbClr val="FFE53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000000"/>
                </a:solidFill>
                <a:latin typeface="Optima"/>
                <a:ea typeface="ＭＳ Ｐゴシック" charset="0"/>
                <a:cs typeface="Geneva" charset="0"/>
              </a:rPr>
              <a:t>Develop Resume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038600" y="4876800"/>
            <a:ext cx="1219200" cy="685800"/>
          </a:xfrm>
          <a:prstGeom prst="roundRect">
            <a:avLst/>
          </a:prstGeom>
          <a:solidFill>
            <a:srgbClr val="800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bg1"/>
                </a:solidFill>
                <a:latin typeface="Copperplate"/>
                <a:cs typeface="Geneva" charset="0"/>
              </a:rPr>
              <a:t>Pursue Job Leads</a:t>
            </a:r>
          </a:p>
        </p:txBody>
      </p:sp>
      <p:pic>
        <p:nvPicPr>
          <p:cNvPr id="3" name="Picture 2" descr="MC900030019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3657600"/>
            <a:ext cx="1539305" cy="110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1752600" y="2971800"/>
            <a:ext cx="1219200" cy="533400"/>
          </a:xfrm>
          <a:prstGeom prst="rect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  <a:effectLst>
            <a:glow rad="101600">
              <a:srgbClr val="FF0000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E53E"/>
                </a:solidFill>
                <a:latin typeface="Futura Condensed Medium"/>
                <a:ea typeface="ＭＳ Ｐゴシック" charset="0"/>
                <a:cs typeface="Geneva" charset="0"/>
              </a:rPr>
              <a:t>Employment Success</a:t>
            </a:r>
          </a:p>
        </p:txBody>
      </p:sp>
      <p:cxnSp>
        <p:nvCxnSpPr>
          <p:cNvPr id="11" name="Straight Connector 10"/>
          <p:cNvCxnSpPr>
            <a:stCxn id="9" idx="2"/>
          </p:cNvCxnSpPr>
          <p:nvPr/>
        </p:nvCxnSpPr>
        <p:spPr bwMode="auto">
          <a:xfrm>
            <a:off x="2362200" y="3505200"/>
            <a:ext cx="0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67" name="Picture 66" descr="images.jpe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3" t="48333" b="11666"/>
          <a:stretch/>
        </p:blipFill>
        <p:spPr>
          <a:xfrm>
            <a:off x="9220200" y="3581400"/>
            <a:ext cx="1447800" cy="3048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372600" y="3090446"/>
            <a:ext cx="990600" cy="338554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rial Narrow"/>
                <a:cs typeface="Arial Narrow"/>
              </a:rPr>
              <a:t>Find a Job</a:t>
            </a:r>
          </a:p>
        </p:txBody>
      </p:sp>
      <p:cxnSp>
        <p:nvCxnSpPr>
          <p:cNvPr id="77" name="Straight Connector 76"/>
          <p:cNvCxnSpPr/>
          <p:nvPr/>
        </p:nvCxnSpPr>
        <p:spPr bwMode="auto">
          <a:xfrm flipH="1">
            <a:off x="9601200" y="3429000"/>
            <a:ext cx="7620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8" name="Picture 7" descr="MC900358031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581400"/>
            <a:ext cx="685800" cy="685800"/>
          </a:xfrm>
          <a:prstGeom prst="rect">
            <a:avLst/>
          </a:prstGeom>
        </p:spPr>
      </p:pic>
      <p:sp>
        <p:nvSpPr>
          <p:cNvPr id="133" name="Freeform 132"/>
          <p:cNvSpPr/>
          <p:nvPr/>
        </p:nvSpPr>
        <p:spPr>
          <a:xfrm>
            <a:off x="9245601" y="2159000"/>
            <a:ext cx="112087" cy="1676400"/>
          </a:xfrm>
          <a:custGeom>
            <a:avLst/>
            <a:gdLst>
              <a:gd name="connsiteX0" fmla="*/ 0 w 112087"/>
              <a:gd name="connsiteY0" fmla="*/ 1676400 h 1676400"/>
              <a:gd name="connsiteX1" fmla="*/ 38100 w 112087"/>
              <a:gd name="connsiteY1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087" h="1676400">
                <a:moveTo>
                  <a:pt x="0" y="1676400"/>
                </a:moveTo>
                <a:cubicBezTo>
                  <a:pt x="89958" y="1219200"/>
                  <a:pt x="179917" y="762000"/>
                  <a:pt x="38100" y="0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4" name="Freeform 133"/>
          <p:cNvSpPr/>
          <p:nvPr/>
        </p:nvSpPr>
        <p:spPr>
          <a:xfrm>
            <a:off x="8674100" y="1981200"/>
            <a:ext cx="1282700" cy="1892300"/>
          </a:xfrm>
          <a:custGeom>
            <a:avLst/>
            <a:gdLst>
              <a:gd name="connsiteX0" fmla="*/ 558800 w 1282700"/>
              <a:gd name="connsiteY0" fmla="*/ 1892300 h 1892300"/>
              <a:gd name="connsiteX1" fmla="*/ 558800 w 1282700"/>
              <a:gd name="connsiteY1" fmla="*/ 1892300 h 1892300"/>
              <a:gd name="connsiteX2" fmla="*/ 469900 w 1282700"/>
              <a:gd name="connsiteY2" fmla="*/ 1828800 h 1892300"/>
              <a:gd name="connsiteX3" fmla="*/ 419100 w 1282700"/>
              <a:gd name="connsiteY3" fmla="*/ 1816100 h 1892300"/>
              <a:gd name="connsiteX4" fmla="*/ 381000 w 1282700"/>
              <a:gd name="connsiteY4" fmla="*/ 1778000 h 1892300"/>
              <a:gd name="connsiteX5" fmla="*/ 342900 w 1282700"/>
              <a:gd name="connsiteY5" fmla="*/ 1752600 h 1892300"/>
              <a:gd name="connsiteX6" fmla="*/ 317500 w 1282700"/>
              <a:gd name="connsiteY6" fmla="*/ 1714500 h 1892300"/>
              <a:gd name="connsiteX7" fmla="*/ 266700 w 1282700"/>
              <a:gd name="connsiteY7" fmla="*/ 1625600 h 1892300"/>
              <a:gd name="connsiteX8" fmla="*/ 228600 w 1282700"/>
              <a:gd name="connsiteY8" fmla="*/ 1574800 h 1892300"/>
              <a:gd name="connsiteX9" fmla="*/ 190500 w 1282700"/>
              <a:gd name="connsiteY9" fmla="*/ 1536700 h 1892300"/>
              <a:gd name="connsiteX10" fmla="*/ 165100 w 1282700"/>
              <a:gd name="connsiteY10" fmla="*/ 1485900 h 1892300"/>
              <a:gd name="connsiteX11" fmla="*/ 50800 w 1282700"/>
              <a:gd name="connsiteY11" fmla="*/ 1397000 h 1892300"/>
              <a:gd name="connsiteX12" fmla="*/ 0 w 1282700"/>
              <a:gd name="connsiteY12" fmla="*/ 1346200 h 1892300"/>
              <a:gd name="connsiteX13" fmla="*/ 114300 w 1282700"/>
              <a:gd name="connsiteY13" fmla="*/ 1460500 h 1892300"/>
              <a:gd name="connsiteX14" fmla="*/ 203200 w 1282700"/>
              <a:gd name="connsiteY14" fmla="*/ 1320800 h 1892300"/>
              <a:gd name="connsiteX15" fmla="*/ 241300 w 1282700"/>
              <a:gd name="connsiteY15" fmla="*/ 1231900 h 1892300"/>
              <a:gd name="connsiteX16" fmla="*/ 279400 w 1282700"/>
              <a:gd name="connsiteY16" fmla="*/ 1168400 h 1892300"/>
              <a:gd name="connsiteX17" fmla="*/ 304800 w 1282700"/>
              <a:gd name="connsiteY17" fmla="*/ 1079500 h 1892300"/>
              <a:gd name="connsiteX18" fmla="*/ 342900 w 1282700"/>
              <a:gd name="connsiteY18" fmla="*/ 990600 h 1892300"/>
              <a:gd name="connsiteX19" fmla="*/ 368300 w 1282700"/>
              <a:gd name="connsiteY19" fmla="*/ 812800 h 1892300"/>
              <a:gd name="connsiteX20" fmla="*/ 393700 w 1282700"/>
              <a:gd name="connsiteY20" fmla="*/ 711200 h 1892300"/>
              <a:gd name="connsiteX21" fmla="*/ 419100 w 1282700"/>
              <a:gd name="connsiteY21" fmla="*/ 647700 h 1892300"/>
              <a:gd name="connsiteX22" fmla="*/ 444500 w 1282700"/>
              <a:gd name="connsiteY22" fmla="*/ 558800 h 1892300"/>
              <a:gd name="connsiteX23" fmla="*/ 457200 w 1282700"/>
              <a:gd name="connsiteY23" fmla="*/ 520700 h 1892300"/>
              <a:gd name="connsiteX24" fmla="*/ 635000 w 1282700"/>
              <a:gd name="connsiteY24" fmla="*/ 317500 h 1892300"/>
              <a:gd name="connsiteX25" fmla="*/ 736600 w 1282700"/>
              <a:gd name="connsiteY25" fmla="*/ 241300 h 1892300"/>
              <a:gd name="connsiteX26" fmla="*/ 838200 w 1282700"/>
              <a:gd name="connsiteY26" fmla="*/ 177800 h 1892300"/>
              <a:gd name="connsiteX27" fmla="*/ 1066800 w 1282700"/>
              <a:gd name="connsiteY27" fmla="*/ 76200 h 1892300"/>
              <a:gd name="connsiteX28" fmla="*/ 1155700 w 1282700"/>
              <a:gd name="connsiteY28" fmla="*/ 38100 h 1892300"/>
              <a:gd name="connsiteX29" fmla="*/ 1282700 w 1282700"/>
              <a:gd name="connsiteY29" fmla="*/ 0 h 189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82700" h="1892300">
                <a:moveTo>
                  <a:pt x="558800" y="1892300"/>
                </a:moveTo>
                <a:lnTo>
                  <a:pt x="558800" y="1892300"/>
                </a:lnTo>
                <a:cubicBezTo>
                  <a:pt x="529167" y="1871133"/>
                  <a:pt x="501870" y="1846238"/>
                  <a:pt x="469900" y="1828800"/>
                </a:cubicBezTo>
                <a:cubicBezTo>
                  <a:pt x="454577" y="1820442"/>
                  <a:pt x="434255" y="1824760"/>
                  <a:pt x="419100" y="1816100"/>
                </a:cubicBezTo>
                <a:cubicBezTo>
                  <a:pt x="403506" y="1807189"/>
                  <a:pt x="394798" y="1789498"/>
                  <a:pt x="381000" y="1778000"/>
                </a:cubicBezTo>
                <a:cubicBezTo>
                  <a:pt x="369274" y="1768229"/>
                  <a:pt x="355600" y="1761067"/>
                  <a:pt x="342900" y="1752600"/>
                </a:cubicBezTo>
                <a:cubicBezTo>
                  <a:pt x="334433" y="1739900"/>
                  <a:pt x="325073" y="1727752"/>
                  <a:pt x="317500" y="1714500"/>
                </a:cubicBezTo>
                <a:cubicBezTo>
                  <a:pt x="274978" y="1640087"/>
                  <a:pt x="310902" y="1687483"/>
                  <a:pt x="266700" y="1625600"/>
                </a:cubicBezTo>
                <a:cubicBezTo>
                  <a:pt x="254397" y="1608376"/>
                  <a:pt x="242375" y="1590871"/>
                  <a:pt x="228600" y="1574800"/>
                </a:cubicBezTo>
                <a:cubicBezTo>
                  <a:pt x="216911" y="1561163"/>
                  <a:pt x="200939" y="1551315"/>
                  <a:pt x="190500" y="1536700"/>
                </a:cubicBezTo>
                <a:cubicBezTo>
                  <a:pt x="179496" y="1521294"/>
                  <a:pt x="178487" y="1499287"/>
                  <a:pt x="165100" y="1485900"/>
                </a:cubicBezTo>
                <a:cubicBezTo>
                  <a:pt x="130970" y="1451770"/>
                  <a:pt x="84930" y="1431130"/>
                  <a:pt x="50800" y="1397000"/>
                </a:cubicBezTo>
                <a:lnTo>
                  <a:pt x="0" y="1346200"/>
                </a:lnTo>
                <a:lnTo>
                  <a:pt x="114300" y="1460500"/>
                </a:lnTo>
                <a:cubicBezTo>
                  <a:pt x="143933" y="1413933"/>
                  <a:pt x="176394" y="1369050"/>
                  <a:pt x="203200" y="1320800"/>
                </a:cubicBezTo>
                <a:cubicBezTo>
                  <a:pt x="218857" y="1292617"/>
                  <a:pt x="226882" y="1260736"/>
                  <a:pt x="241300" y="1231900"/>
                </a:cubicBezTo>
                <a:cubicBezTo>
                  <a:pt x="252339" y="1209822"/>
                  <a:pt x="266700" y="1189567"/>
                  <a:pt x="279400" y="1168400"/>
                </a:cubicBezTo>
                <a:cubicBezTo>
                  <a:pt x="287867" y="1138767"/>
                  <a:pt x="294434" y="1108524"/>
                  <a:pt x="304800" y="1079500"/>
                </a:cubicBezTo>
                <a:cubicBezTo>
                  <a:pt x="315644" y="1049138"/>
                  <a:pt x="333419" y="1021414"/>
                  <a:pt x="342900" y="990600"/>
                </a:cubicBezTo>
                <a:cubicBezTo>
                  <a:pt x="351252" y="963457"/>
                  <a:pt x="365606" y="830308"/>
                  <a:pt x="368300" y="812800"/>
                </a:cubicBezTo>
                <a:cubicBezTo>
                  <a:pt x="374891" y="769960"/>
                  <a:pt x="379591" y="748824"/>
                  <a:pt x="393700" y="711200"/>
                </a:cubicBezTo>
                <a:cubicBezTo>
                  <a:pt x="401705" y="689854"/>
                  <a:pt x="411891" y="669327"/>
                  <a:pt x="419100" y="647700"/>
                </a:cubicBezTo>
                <a:cubicBezTo>
                  <a:pt x="428846" y="618462"/>
                  <a:pt x="435644" y="588319"/>
                  <a:pt x="444500" y="558800"/>
                </a:cubicBezTo>
                <a:cubicBezTo>
                  <a:pt x="448347" y="545978"/>
                  <a:pt x="449419" y="531593"/>
                  <a:pt x="457200" y="520700"/>
                </a:cubicBezTo>
                <a:cubicBezTo>
                  <a:pt x="488475" y="476915"/>
                  <a:pt x="579693" y="364298"/>
                  <a:pt x="635000" y="317500"/>
                </a:cubicBezTo>
                <a:cubicBezTo>
                  <a:pt x="667317" y="290155"/>
                  <a:pt x="701716" y="265283"/>
                  <a:pt x="736600" y="241300"/>
                </a:cubicBezTo>
                <a:cubicBezTo>
                  <a:pt x="769510" y="218674"/>
                  <a:pt x="802479" y="195660"/>
                  <a:pt x="838200" y="177800"/>
                </a:cubicBezTo>
                <a:cubicBezTo>
                  <a:pt x="912784" y="140508"/>
                  <a:pt x="990475" y="109783"/>
                  <a:pt x="1066800" y="76200"/>
                </a:cubicBezTo>
                <a:cubicBezTo>
                  <a:pt x="1096310" y="63216"/>
                  <a:pt x="1124423" y="45919"/>
                  <a:pt x="1155700" y="38100"/>
                </a:cubicBezTo>
                <a:cubicBezTo>
                  <a:pt x="1266483" y="10404"/>
                  <a:pt x="1226076" y="28312"/>
                  <a:pt x="1282700" y="0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5" name="Freeform 134"/>
          <p:cNvSpPr/>
          <p:nvPr/>
        </p:nvSpPr>
        <p:spPr>
          <a:xfrm>
            <a:off x="7696200" y="2895600"/>
            <a:ext cx="1397000" cy="1548894"/>
          </a:xfrm>
          <a:custGeom>
            <a:avLst/>
            <a:gdLst>
              <a:gd name="connsiteX0" fmla="*/ 1397000 w 1397000"/>
              <a:gd name="connsiteY0" fmla="*/ 982359 h 1548894"/>
              <a:gd name="connsiteX1" fmla="*/ 965200 w 1397000"/>
              <a:gd name="connsiteY1" fmla="*/ 906159 h 1548894"/>
              <a:gd name="connsiteX2" fmla="*/ 1092200 w 1397000"/>
              <a:gd name="connsiteY2" fmla="*/ 1401459 h 1548894"/>
              <a:gd name="connsiteX3" fmla="*/ 1016000 w 1397000"/>
              <a:gd name="connsiteY3" fmla="*/ 1452259 h 1548894"/>
              <a:gd name="connsiteX4" fmla="*/ 431800 w 1397000"/>
              <a:gd name="connsiteY4" fmla="*/ 194959 h 1548894"/>
              <a:gd name="connsiteX5" fmla="*/ 0 w 1397000"/>
              <a:gd name="connsiteY5" fmla="*/ 4459 h 1548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000" h="1548894">
                <a:moveTo>
                  <a:pt x="1397000" y="982359"/>
                </a:moveTo>
                <a:cubicBezTo>
                  <a:pt x="1206500" y="909334"/>
                  <a:pt x="1016000" y="836309"/>
                  <a:pt x="965200" y="906159"/>
                </a:cubicBezTo>
                <a:cubicBezTo>
                  <a:pt x="914400" y="976009"/>
                  <a:pt x="1083733" y="1310442"/>
                  <a:pt x="1092200" y="1401459"/>
                </a:cubicBezTo>
                <a:cubicBezTo>
                  <a:pt x="1100667" y="1492476"/>
                  <a:pt x="1126067" y="1653342"/>
                  <a:pt x="1016000" y="1452259"/>
                </a:cubicBezTo>
                <a:cubicBezTo>
                  <a:pt x="905933" y="1251176"/>
                  <a:pt x="601133" y="436259"/>
                  <a:pt x="431800" y="194959"/>
                </a:cubicBezTo>
                <a:cubicBezTo>
                  <a:pt x="262467" y="-46341"/>
                  <a:pt x="0" y="4459"/>
                  <a:pt x="0" y="4459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pic>
        <p:nvPicPr>
          <p:cNvPr id="7" name="Picture 6" descr="MC900413498.W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1" y="3505201"/>
            <a:ext cx="694823" cy="622299"/>
          </a:xfrm>
          <a:prstGeom prst="rect">
            <a:avLst/>
          </a:prstGeom>
        </p:spPr>
      </p:pic>
      <p:cxnSp>
        <p:nvCxnSpPr>
          <p:cNvPr id="162" name="Curved Connector 161"/>
          <p:cNvCxnSpPr>
            <a:cxnSpLocks/>
            <a:stCxn id="26" idx="1"/>
            <a:endCxn id="27" idx="0"/>
          </p:cNvCxnSpPr>
          <p:nvPr/>
        </p:nvCxnSpPr>
        <p:spPr bwMode="auto">
          <a:xfrm rot="5400000">
            <a:off x="5854701" y="1892302"/>
            <a:ext cx="1600200" cy="558799"/>
          </a:xfrm>
          <a:prstGeom prst="curvedConnector3">
            <a:avLst/>
          </a:prstGeom>
          <a:solidFill>
            <a:schemeClr val="accent1"/>
          </a:solidFill>
          <a:ln w="762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10CD8-8D46-C445-86BA-341338A1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00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48148E-6 C -0.00035 -0.00787 0.00122 -0.0375 -0.00191 -0.04722 C -0.00503 -0.05694 -0.01302 -0.0537 -0.01858 -0.05833 C -0.02413 -0.06296 -0.0309 -0.06597 -0.03524 -0.075 C -0.03958 -0.08403 -0.04392 -0.10139 -0.04496 -0.11204 C -0.04601 -0.12268 -0.04167 -0.12986 -0.04114 -0.13935 C -0.04062 -0.14884 -0.04427 -0.16042 -0.04149 -0.16898 C -0.03889 -0.17754 -0.03542 -0.1831 -0.025 -0.1912 C -0.01476 -0.1993 0.01181 -0.19329 0.02031 -0.2169 C 0.02882 -0.24074 0.02483 -0.30903 0.02604 -0.3331 " pathEditMode="relative" rAng="0" ptsTypes="aaaaaaaa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" y="-1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4 -0.00255 C -0.00122 0.0081 -0.01511 0.04583 -0.02691 0.06157 C -0.03872 0.07731 -0.05486 0.0868 -0.06667 0.09259 C -0.07848 0.09838 -0.08611 0.08842 -0.09775 0.09699 C -0.10938 0.10579 -0.11823 0.13426 -0.13681 0.14467 C -0.15521 0.15486 -0.19375 0.15509 -0.20816 0.15833 " pathEditMode="relative" rAng="0" ptsTypes="aaaaaa">
                                      <p:cBhvr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25" y="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014 -0.33426 C 0.0132 -0.33264 -0.01163 -0.32893 -0.02135 -0.325 C -0.03108 -0.32106 -0.03299 -0.31412 -0.03802 -0.31018 C -0.04305 -0.30625 -0.04549 -0.30903 -0.05191 -0.30092 C -0.05833 -0.29282 -0.06042 -0.27222 -0.07691 -0.26203 C -0.0934 -0.25185 -0.13524 -0.24444 -0.15069 -0.23981 " pathEditMode="relative" rAng="0" ptsTypes="aaaa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472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16 0.15834 L -0.3875 0.1611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3875 0.16111 L -0.59584 0.1611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17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07 -0.23981 L -0.24566 -0.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7" y="-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59584 0.16111 C -0.60938 0.16528 -0.66129 0.18819 -0.67622 0.18634 C -0.69132 0.18449 -0.68073 0.15972 -0.68611 0.15023 C -0.6915 0.14074 -0.69966 0.13403 -0.70834 0.12847 C -0.71702 0.12291 -0.72795 0.11967 -0.73802 0.11736 C -0.74792 0.11551 -0.74532 0.12014 -0.76771 0.11597 C -0.78993 0.1118 -0.84931 0.09815 -0.87084 0.09352 " pathEditMode="relative" rAng="0" ptsTypes="aaaaaaa">
                                      <p:cBhvr>
                                        <p:cTn id="2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-2037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566 -0.4 C -0.24774 -0.37731 -0.25243 -0.29907 -0.25781 -0.26435 C -0.26337 -0.22963 -0.27292 -0.2169 -0.27934 -0.19166 C -0.28576 -0.16643 -0.29305 -0.12893 -0.29635 -0.11227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" y="1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29635 -0.1125 L -0.42135 -0.2898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-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0"/>
                            </p:stCondLst>
                            <p:childTnLst>
                              <p:par>
                                <p:cTn id="28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41771 -0.29074 L -0.51302 -0.1120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51302 -0.11204 L -0.66302 -0.278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400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66302 -0.2787 C -0.66319 -0.26018 -0.67778 -0.19977 -0.66441 -0.16759 C -0.65104 -0.13542 -0.58316 -0.12153 -0.58246 -0.08611 C -0.58177 -0.05069 -0.6441 0.01736 -0.66024 0.04468 " pathEditMode="relative" rAng="0" ptsTypes="aaaa">
                                      <p:cBhvr>
                                        <p:cTn id="35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6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05000" y="1295400"/>
          <a:ext cx="845820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EMPLOYMENT</a:t>
                      </a:r>
                      <a:r>
                        <a:rPr lang="en-US" sz="2400" b="1" baseline="0" dirty="0">
                          <a:solidFill>
                            <a:srgbClr val="0070C0"/>
                          </a:solidFill>
                        </a:rPr>
                        <a:t> STRATEGIES &amp; TECHNIQUES</a:t>
                      </a:r>
                      <a:endParaRPr lang="en-US" sz="2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57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Full scale discovery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Job creation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Job carving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Customized</a:t>
                      </a: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 strategies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Short-term job trials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Comprehensive person-centered planning</a:t>
                      </a: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Professional job development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Job coaching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More complex</a:t>
                      </a:r>
                      <a:r>
                        <a:rPr lang="en-US" b="1" baseline="0">
                          <a:solidFill>
                            <a:schemeClr val="tx1"/>
                          </a:solidFill>
                        </a:rPr>
                        <a:t> accommodations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>
                          <a:solidFill>
                            <a:schemeClr val="tx1"/>
                          </a:solidFill>
                        </a:rPr>
                        <a:t>Job skill training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Assistance with job search plan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Job search guidance &amp; counseling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Guidance on disability issues/disclosure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Simple accommodations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Standard job search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practices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Resume assistance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Help with job leads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Brush up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interview skills</a:t>
                      </a:r>
                      <a:endParaRPr lang="en-US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Left Arrow 5"/>
          <p:cNvSpPr/>
          <p:nvPr/>
        </p:nvSpPr>
        <p:spPr bwMode="auto">
          <a:xfrm>
            <a:off x="2133600" y="5334000"/>
            <a:ext cx="3124200" cy="762000"/>
          </a:xfrm>
          <a:prstGeom prst="leftArrow">
            <a:avLst/>
          </a:prstGeom>
          <a:solidFill>
            <a:srgbClr val="EA0000"/>
          </a:solidFill>
          <a:ln>
            <a:headEnd type="none" w="med" len="med"/>
            <a:tailEnd type="none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latin typeface="Book Antiqua"/>
                <a:ea typeface="ＭＳ Ｐゴシック" charset="0"/>
                <a:cs typeface="Geneva" charset="0"/>
              </a:rPr>
              <a:t>More time &amp; resources</a:t>
            </a:r>
          </a:p>
        </p:txBody>
      </p:sp>
      <p:sp>
        <p:nvSpPr>
          <p:cNvPr id="7" name="Right Arrow 6"/>
          <p:cNvSpPr/>
          <p:nvPr/>
        </p:nvSpPr>
        <p:spPr bwMode="auto">
          <a:xfrm>
            <a:off x="7239000" y="5334000"/>
            <a:ext cx="2971800" cy="838200"/>
          </a:xfrm>
          <a:prstGeom prst="rightArrow">
            <a:avLst/>
          </a:prstGeom>
          <a:solidFill>
            <a:srgbClr val="EA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latin typeface="Book Antiqua"/>
                <a:ea typeface="ＭＳ Ｐゴシック" charset="0"/>
                <a:cs typeface="Geneva" charset="0"/>
              </a:rPr>
              <a:t>Less time &amp; resources</a:t>
            </a:r>
          </a:p>
        </p:txBody>
      </p:sp>
      <p:sp>
        <p:nvSpPr>
          <p:cNvPr id="12" name="Left Arrow 11"/>
          <p:cNvSpPr/>
          <p:nvPr/>
        </p:nvSpPr>
        <p:spPr bwMode="auto">
          <a:xfrm>
            <a:off x="2057400" y="399070"/>
            <a:ext cx="3733800" cy="762000"/>
          </a:xfrm>
          <a:prstGeom prst="leftArrow">
            <a:avLst/>
          </a:prstGeom>
          <a:solidFill>
            <a:schemeClr val="bg2">
              <a:lumMod val="25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dirty="0">
                <a:solidFill>
                  <a:schemeClr val="bg1"/>
                </a:solidFill>
                <a:latin typeface="Chalkboard"/>
                <a:ea typeface="ＭＳ Ｐゴシック" charset="0"/>
                <a:cs typeface="Geneva" charset="0"/>
              </a:rPr>
              <a:t>More intensive intervention</a:t>
            </a:r>
          </a:p>
        </p:txBody>
      </p:sp>
      <p:sp>
        <p:nvSpPr>
          <p:cNvPr id="13" name="Right Arrow 12"/>
          <p:cNvSpPr/>
          <p:nvPr/>
        </p:nvSpPr>
        <p:spPr bwMode="auto">
          <a:xfrm>
            <a:off x="6629400" y="399070"/>
            <a:ext cx="3581400" cy="762000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chemeClr val="bg1"/>
                </a:solidFill>
                <a:latin typeface="Chalkboard"/>
                <a:ea typeface="ＭＳ Ｐゴシック" charset="0"/>
                <a:cs typeface="Geneva" charset="0"/>
              </a:rPr>
              <a:t>Less intensive intervention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FE7397-8EF6-BB46-9CBF-2DE7FB6C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43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5867400" cy="129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latin typeface="Cambria" charset="0"/>
                <a:ea typeface="Osaka" charset="0"/>
                <a:cs typeface="Osaka" charset="0"/>
              </a:rPr>
              <a:t>Time is Precious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752600"/>
            <a:ext cx="8382000" cy="4191000"/>
          </a:xfrm>
        </p:spPr>
        <p:txBody>
          <a:bodyPr/>
          <a:lstStyle/>
          <a:p>
            <a:pPr marL="609600" indent="-609600">
              <a:buClr>
                <a:srgbClr val="0099CC"/>
              </a:buClr>
              <a:buFont typeface="Times" charset="0"/>
              <a:buAutoNum type="arabicPeriod"/>
              <a:defRPr/>
            </a:pPr>
            <a:r>
              <a:rPr lang="en-US"/>
              <a:t>Enough time</a:t>
            </a:r>
            <a:br>
              <a:rPr lang="en-US"/>
            </a:br>
            <a:r>
              <a:rPr lang="en-US" sz="2400"/>
              <a:t> </a:t>
            </a:r>
          </a:p>
          <a:p>
            <a:pPr marL="609600" indent="-609600">
              <a:buClr>
                <a:srgbClr val="0099CC"/>
              </a:buClr>
              <a:buFont typeface="Times" charset="0"/>
              <a:buAutoNum type="arabicPeriod"/>
              <a:defRPr/>
            </a:pPr>
            <a:r>
              <a:rPr lang="en-US"/>
              <a:t>Using that time efficiently and effectively</a:t>
            </a:r>
          </a:p>
        </p:txBody>
      </p:sp>
      <p:sp>
        <p:nvSpPr>
          <p:cNvPr id="48131" name="TextBox 1"/>
          <p:cNvSpPr txBox="1">
            <a:spLocks noChangeArrowheads="1"/>
          </p:cNvSpPr>
          <p:nvPr/>
        </p:nvSpPr>
        <p:spPr bwMode="auto">
          <a:xfrm>
            <a:off x="2438400" y="4106689"/>
            <a:ext cx="8305800" cy="2185213"/>
          </a:xfrm>
          <a:prstGeom prst="rect">
            <a:avLst/>
          </a:prstGeom>
          <a:solidFill>
            <a:srgbClr val="000090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ts val="1800"/>
              </a:spcBef>
              <a:defRPr/>
            </a:pPr>
            <a:r>
              <a:rPr lang="en-US" sz="2800" b="1" i="1" dirty="0">
                <a:solidFill>
                  <a:schemeClr val="bg1"/>
                </a:solidFill>
              </a:rPr>
              <a:t>CRITICAL NEED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Better understanding of what service practices are….and are not effective in terms of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i="1" dirty="0">
                <a:solidFill>
                  <a:schemeClr val="bg1"/>
                </a:solidFill>
              </a:rPr>
              <a:t>quantity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b="1" i="1" dirty="0">
                <a:solidFill>
                  <a:schemeClr val="bg1"/>
                </a:solidFill>
              </a:rPr>
              <a:t>quality</a:t>
            </a:r>
            <a:r>
              <a:rPr lang="en-US" sz="2800" dirty="0">
                <a:solidFill>
                  <a:schemeClr val="bg1"/>
                </a:solidFill>
              </a:rPr>
              <a:t> of outcomes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018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533401"/>
            <a:ext cx="1331913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040FE6-6ED0-FD42-AB9D-E9546557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47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ext Box 2"/>
          <p:cNvSpPr txBox="1">
            <a:spLocks noChangeArrowheads="1"/>
          </p:cNvSpPr>
          <p:nvPr/>
        </p:nvSpPr>
        <p:spPr bwMode="auto">
          <a:xfrm>
            <a:off x="5387163" y="5078412"/>
            <a:ext cx="426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sz="2800" dirty="0"/>
              <a:t>Ken Miller</a:t>
            </a:r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1672856" y="581026"/>
            <a:ext cx="8534400" cy="3076575"/>
          </a:xfrm>
          <a:prstGeom prst="rect">
            <a:avLst/>
          </a:prstGeom>
          <a:solidFill>
            <a:schemeClr val="accent6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ja-JP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length of a minute is relative, depending on</a:t>
            </a:r>
            <a:b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which side of the bathroom door</a:t>
            </a:r>
            <a:b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you are on.</a:t>
            </a:r>
            <a:r>
              <a:rPr lang="ja-JP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endParaRPr 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2" name="Picture 4" descr="wdmw_home_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1" y="4114801"/>
            <a:ext cx="1666875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1CD2F-BBAC-B34B-8EB0-2E0CF2D9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3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CFD2-BE3B-3648-8A23-5BF213DC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935" y="650357"/>
            <a:ext cx="4125433" cy="2592573"/>
          </a:xfr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Do we really know what works?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DD9D9-B47C-E743-86A7-C69C0957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335" y="2147777"/>
            <a:ext cx="3732028" cy="37320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A0DCF-58CC-E643-9E80-DA9A2065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84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2"/>
          <p:cNvSpPr txBox="1">
            <a:spLocks noChangeArrowheads="1"/>
          </p:cNvSpPr>
          <p:nvPr/>
        </p:nvSpPr>
        <p:spPr bwMode="auto">
          <a:xfrm>
            <a:off x="7471770" y="3990258"/>
            <a:ext cx="33782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sz="3200" dirty="0">
                <a:solidFill>
                  <a:srgbClr val="000000"/>
                </a:solidFill>
              </a:rPr>
              <a:t>Mason, Sr.</a:t>
            </a:r>
            <a:br>
              <a:rPr lang="en-US" sz="3200" dirty="0">
                <a:solidFill>
                  <a:srgbClr val="000000"/>
                </a:solidFill>
              </a:rPr>
            </a:b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i="1" dirty="0">
                <a:solidFill>
                  <a:srgbClr val="000000"/>
                </a:solidFill>
              </a:rPr>
              <a:t>“</a:t>
            </a:r>
            <a:r>
              <a:rPr lang="en-US" altLang="ja-JP" sz="3200" i="1" dirty="0">
                <a:solidFill>
                  <a:srgbClr val="000000"/>
                </a:solidFill>
              </a:rPr>
              <a:t>Boyhood</a:t>
            </a:r>
            <a:r>
              <a:rPr lang="en-US" sz="3200" i="1" dirty="0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50883" name="Rectangle 3"/>
          <p:cNvSpPr>
            <a:spLocks noChangeArrowheads="1"/>
          </p:cNvSpPr>
          <p:nvPr/>
        </p:nvSpPr>
        <p:spPr bwMode="auto">
          <a:xfrm>
            <a:off x="6786350" y="759790"/>
            <a:ext cx="4063620" cy="285167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ea typeface="ＭＳ Ｐゴシック" charset="0"/>
                <a:cs typeface="Arial"/>
              </a:rPr>
              <a:t> </a:t>
            </a:r>
          </a:p>
          <a:p>
            <a:pPr algn="ctr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ea typeface="ＭＳ Ｐゴシック" charset="0"/>
                <a:cs typeface="Arial"/>
              </a:rPr>
              <a:t>”We’re all just</a:t>
            </a:r>
            <a:br>
              <a:rPr lang="en-US" sz="4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ea typeface="ＭＳ Ｐゴシック" charset="0"/>
                <a:cs typeface="Arial"/>
              </a:rPr>
            </a:br>
            <a:r>
              <a:rPr lang="en-US" sz="4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ea typeface="ＭＳ Ｐゴシック" charset="0"/>
                <a:cs typeface="Arial"/>
              </a:rPr>
              <a:t>winging it.”</a:t>
            </a:r>
          </a:p>
          <a:p>
            <a:pPr algn="ctr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333333"/>
                </a:solidFill>
                <a:latin typeface="Arial"/>
                <a:ea typeface="ＭＳ Ｐゴシック" charset="0"/>
                <a:cs typeface="Arial"/>
              </a:rPr>
              <a:t> </a:t>
            </a:r>
          </a:p>
        </p:txBody>
      </p:sp>
      <p:pic>
        <p:nvPicPr>
          <p:cNvPr id="61443" name="Picture 1" descr="pecchenino2-006-dadsonclub-sm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29"/>
          <a:stretch>
            <a:fillRect/>
          </a:stretch>
        </p:blipFill>
        <p:spPr bwMode="auto">
          <a:xfrm>
            <a:off x="1819700" y="381000"/>
            <a:ext cx="3819099" cy="3609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014F5F-00D7-284E-B690-5BDA8CFB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95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9985-87FF-2F44-A50A-6EB64306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529" y="929731"/>
            <a:ext cx="9997440" cy="1143000"/>
          </a:xfrm>
          <a:scene3d>
            <a:camera prst="isometricOffAxis1Right"/>
            <a:lightRig rig="threePt" dir="t"/>
          </a:scene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/>
              <a:t>Increasing Effectiveness and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E1908-7FB2-5345-83B4-7A20178F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526" y="2685196"/>
            <a:ext cx="2934269" cy="29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9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726607-07E3-B542-A717-E869D89D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433" y="3855576"/>
            <a:ext cx="2338316" cy="3117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816A6E-AFB2-7849-9F8A-B1C748193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19" y="6527"/>
            <a:ext cx="7210568" cy="5407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55207A-4C60-C54C-A1F9-C6546CED3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358" y="552817"/>
            <a:ext cx="2594149" cy="34588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A7F0AF-0447-8446-B7A1-32CA933D1969}"/>
              </a:ext>
            </a:extLst>
          </p:cNvPr>
          <p:cNvSpPr txBox="1"/>
          <p:nvPr/>
        </p:nvSpPr>
        <p:spPr>
          <a:xfrm>
            <a:off x="2826074" y="960862"/>
            <a:ext cx="3817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merican Typewriter" panose="02090604020004020304" pitchFamily="18" charset="77"/>
              </a:rPr>
              <a:t>Use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241063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 descr="mobile-apps-pile-ss-1920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896" y="3984377"/>
            <a:ext cx="3654968" cy="2055920"/>
          </a:xfrm>
          <a:prstGeom prst="rect">
            <a:avLst/>
          </a:prstGeom>
        </p:spPr>
      </p:pic>
      <p:pic>
        <p:nvPicPr>
          <p:cNvPr id="6" name="Picture 5" descr="smartphones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254" y="958783"/>
            <a:ext cx="3881772" cy="2470217"/>
          </a:xfrm>
          <a:prstGeom prst="rect">
            <a:avLst/>
          </a:prstGeom>
        </p:spPr>
      </p:pic>
      <p:pic>
        <p:nvPicPr>
          <p:cNvPr id="8" name="Picture 7" descr="black_smartphone_frontfacing_19706.png">
            <a:extLst>
              <a:ext uri="{FF2B5EF4-FFF2-40B4-BE49-F238E27FC236}">
                <a16:creationId xmlns:a16="http://schemas.microsoft.com/office/drawing/2014/main" id="{C0A26CFF-BE44-1E43-BAE8-F57FB73D5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48" y="535543"/>
            <a:ext cx="2702734" cy="550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32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665" y="699976"/>
            <a:ext cx="7772400" cy="580715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</a:pPr>
            <a:r>
              <a:rPr lang="en-US" sz="2800" b="1" dirty="0">
                <a:latin typeface="Arial Narrow"/>
                <a:cs typeface="Arial Narrow"/>
              </a:rPr>
              <a:t>Readily available and pre-installed APPs </a:t>
            </a:r>
            <a:r>
              <a:rPr lang="en-US" sz="2800" dirty="0">
                <a:latin typeface="Arial Narrow"/>
                <a:cs typeface="Arial Narrow"/>
              </a:rPr>
              <a:t>and technology can be used for variety of job placement support needs</a:t>
            </a:r>
          </a:p>
          <a:p>
            <a:pPr>
              <a:spcBef>
                <a:spcPts val="1176"/>
              </a:spcBef>
              <a:spcAft>
                <a:spcPts val="1200"/>
              </a:spcAft>
            </a:pPr>
            <a:r>
              <a:rPr lang="en-US" sz="2800" b="1" dirty="0">
                <a:latin typeface="Arial Narrow"/>
                <a:cs typeface="Arial Narrow"/>
              </a:rPr>
              <a:t>Can assist with: </a:t>
            </a:r>
            <a:r>
              <a:rPr lang="en-US" sz="2800" dirty="0">
                <a:latin typeface="Arial Narrow"/>
                <a:cs typeface="Arial Narrow"/>
              </a:rPr>
              <a:t>attendance, tardiness, leaving early, attitude, appearance, appropriateness, taking initiative, communication, abusing break times, staying on task, etc. </a:t>
            </a:r>
          </a:p>
          <a:p>
            <a:pPr>
              <a:spcBef>
                <a:spcPts val="1176"/>
              </a:spcBef>
              <a:spcAft>
                <a:spcPts val="1200"/>
              </a:spcAft>
            </a:pPr>
            <a:r>
              <a:rPr lang="en-US" sz="2800" b="1" dirty="0">
                <a:latin typeface="Arial Narrow"/>
                <a:cs typeface="Arial Narrow"/>
              </a:rPr>
              <a:t>Types of APPs – Examples:</a:t>
            </a:r>
          </a:p>
          <a:p>
            <a:pPr lvl="1"/>
            <a:r>
              <a:rPr lang="en-US" dirty="0">
                <a:latin typeface="Arial Narrow"/>
                <a:cs typeface="Arial Narrow"/>
              </a:rPr>
              <a:t>Picture schedules</a:t>
            </a:r>
          </a:p>
          <a:p>
            <a:pPr lvl="1"/>
            <a:r>
              <a:rPr lang="en-US" dirty="0">
                <a:latin typeface="Arial Narrow"/>
                <a:cs typeface="Arial Narrow"/>
              </a:rPr>
              <a:t>Video modeling, Video Prompting, Continuous Video Modeling, Video Feedback</a:t>
            </a:r>
          </a:p>
          <a:p>
            <a:pPr lvl="1"/>
            <a:r>
              <a:rPr lang="en-US" dirty="0">
                <a:latin typeface="Arial Narrow"/>
                <a:cs typeface="Arial Narrow"/>
              </a:rPr>
              <a:t>Task sequencing</a:t>
            </a:r>
          </a:p>
          <a:p>
            <a:pPr lvl="1"/>
            <a:r>
              <a:rPr lang="en-US" dirty="0">
                <a:latin typeface="Arial Narrow"/>
                <a:cs typeface="Arial Narrow"/>
              </a:rPr>
              <a:t>Time management</a:t>
            </a:r>
          </a:p>
          <a:p>
            <a:pPr lvl="1"/>
            <a:r>
              <a:rPr lang="en-US" dirty="0">
                <a:latin typeface="Arial Narrow"/>
                <a:cs typeface="Arial Narrow"/>
              </a:rPr>
              <a:t>Communication</a:t>
            </a:r>
          </a:p>
          <a:p>
            <a:pPr lvl="1"/>
            <a:r>
              <a:rPr lang="en-US" dirty="0">
                <a:latin typeface="Arial Narrow"/>
                <a:cs typeface="Arial Narrow"/>
              </a:rPr>
              <a:t>Transportation</a:t>
            </a:r>
          </a:p>
          <a:p>
            <a:endParaRPr lang="en-US" sz="2400" dirty="0">
              <a:latin typeface="Arial Narrow"/>
              <a:cs typeface="Arial Narrow"/>
            </a:endParaRPr>
          </a:p>
          <a:p>
            <a:endParaRPr lang="en-US" sz="2400" dirty="0">
              <a:latin typeface="Arial Narrow"/>
              <a:cs typeface="Arial Narrow"/>
            </a:endParaRPr>
          </a:p>
        </p:txBody>
      </p:sp>
      <p:pic>
        <p:nvPicPr>
          <p:cNvPr id="5" name="Picture 4" descr="bin_full_of_apps_800_wht_880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343400"/>
            <a:ext cx="3429000" cy="23102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5EFF46-85D5-5746-8DA1-0CA2ED4E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10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2940-9FEF-864D-875C-80DBF2A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Role of Funders/Service Systems:</a:t>
            </a:r>
            <a:br>
              <a:rPr lang="en-US" dirty="0"/>
            </a:br>
            <a:r>
              <a:rPr lang="en-US" b="1" i="1" dirty="0"/>
              <a:t>How can they help?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85E8B-2861-FE4D-8AF0-48F5CBCF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584" y="3429000"/>
            <a:ext cx="5080000" cy="330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603DBF-C219-F143-9A29-406B3DFDD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688" y="1879854"/>
            <a:ext cx="4281752" cy="27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5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E4B1-B3DA-5146-90F0-93CAADD0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74638"/>
            <a:ext cx="9997440" cy="1493202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Public Policy Agenda</a:t>
            </a:r>
            <a:br>
              <a:rPr lang="en-US" dirty="0"/>
            </a:br>
            <a:r>
              <a:rPr lang="en-US" dirty="0"/>
              <a:t>for Strengthening Workforce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55A06-C962-BC41-B622-1E2C2EBB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940" y="2499360"/>
            <a:ext cx="5288211" cy="348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5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7269-EED3-D64B-8BA3-394FEF8C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144" y="274638"/>
            <a:ext cx="3243072" cy="1143000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Other Ideas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E9B91E-9617-6740-8F46-D3D0E407B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4822" y="647334"/>
            <a:ext cx="4353306" cy="5563331"/>
          </a:xfrm>
        </p:spPr>
      </p:pic>
    </p:spTree>
    <p:extLst>
      <p:ext uri="{BB962C8B-B14F-4D97-AF65-F5344CB8AC3E}">
        <p14:creationId xmlns:p14="http://schemas.microsoft.com/office/powerpoint/2010/main" val="3919171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DB45F-660E-6047-BA09-3462FB5A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6277-038F-7E48-8E4C-A01E1E2CD239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E485D8-391A-6943-B6EA-A4E8179E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11" y="774788"/>
            <a:ext cx="2417216" cy="5687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2539F5-1C18-EC45-9A4E-ED9C4089AF79}"/>
              </a:ext>
            </a:extLst>
          </p:cNvPr>
          <p:cNvSpPr/>
          <p:nvPr/>
        </p:nvSpPr>
        <p:spPr>
          <a:xfrm>
            <a:off x="1581240" y="1235101"/>
            <a:ext cx="6054671" cy="1754326"/>
          </a:xfrm>
          <a:prstGeom prst="rect">
            <a:avLst/>
          </a:prstGeom>
          <a:ln/>
          <a:scene3d>
            <a:camera prst="isometricOffAxis1Right"/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accent2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Service Strategies</a:t>
            </a:r>
            <a:b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469554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660A-6D35-2B42-8070-7F4DF2D0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279" y="-181837"/>
            <a:ext cx="7772400" cy="1143000"/>
          </a:xfrm>
        </p:spPr>
        <p:txBody>
          <a:bodyPr/>
          <a:lstStyle/>
          <a:p>
            <a:r>
              <a:rPr lang="en-US" sz="3200" b="1" i="1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9ECDF-F520-1440-A954-10A7B263E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234" y="1226384"/>
            <a:ext cx="4706509" cy="1143000"/>
          </a:xfrm>
        </p:spPr>
        <p:txBody>
          <a:bodyPr/>
          <a:lstStyle/>
          <a:p>
            <a:pPr marL="25400" indent="0">
              <a:buNone/>
            </a:pPr>
            <a:r>
              <a:rPr lang="en-US" sz="2000" b="1" dirty="0"/>
              <a:t>ARC DSP Toolkit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95FDCF-55BB-E140-B6D7-A65E3DB26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406" y="3916907"/>
            <a:ext cx="1931385" cy="2499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3DBE05-C582-5643-A8A0-228673C72F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161"/>
          <a:stretch/>
        </p:blipFill>
        <p:spPr>
          <a:xfrm>
            <a:off x="1668842" y="4993107"/>
            <a:ext cx="1747221" cy="9266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394D8F-4669-2D47-A3B5-0E1EB4BC6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698" y="2992683"/>
            <a:ext cx="2228045" cy="16710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BA4ECC-9838-3246-95FD-7449C45D0F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333" t="8584" r="8193"/>
          <a:stretch/>
        </p:blipFill>
        <p:spPr>
          <a:xfrm>
            <a:off x="1752025" y="938205"/>
            <a:ext cx="1997209" cy="1771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F22CB2-0596-E249-94C3-EF0AFCB92D76}"/>
              </a:ext>
            </a:extLst>
          </p:cNvPr>
          <p:cNvSpPr txBox="1">
            <a:spLocks/>
          </p:cNvSpPr>
          <p:nvPr/>
        </p:nvSpPr>
        <p:spPr>
          <a:xfrm>
            <a:off x="1514279" y="3367998"/>
            <a:ext cx="5000582" cy="96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>
              <a:buNone/>
            </a:pPr>
            <a:r>
              <a:rPr lang="en-US" sz="2000" b="1" dirty="0"/>
              <a:t>Institute on Community Integration</a:t>
            </a:r>
            <a:br>
              <a:rPr lang="en-US" sz="2000" b="1" dirty="0"/>
            </a:br>
            <a:r>
              <a:rPr lang="en-US" sz="2000" dirty="0"/>
              <a:t>University of MN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74CC9ED-3307-7B44-961F-7E603C38320F}"/>
              </a:ext>
            </a:extLst>
          </p:cNvPr>
          <p:cNvSpPr txBox="1">
            <a:spLocks/>
          </p:cNvSpPr>
          <p:nvPr/>
        </p:nvSpPr>
        <p:spPr>
          <a:xfrm>
            <a:off x="3097020" y="4993106"/>
            <a:ext cx="3765822" cy="76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indent="0">
              <a:buNone/>
            </a:pPr>
            <a:r>
              <a:rPr lang="en-US" sz="2000" b="1" dirty="0"/>
              <a:t>National Alliance for</a:t>
            </a:r>
            <a:br>
              <a:rPr lang="en-US" sz="2000" b="1" dirty="0"/>
            </a:br>
            <a:r>
              <a:rPr lang="en-US" sz="2000" b="1" dirty="0"/>
              <a:t>Direct Support Professionals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00A2D11-DD3A-044B-854A-B568FD9A368D}"/>
              </a:ext>
            </a:extLst>
          </p:cNvPr>
          <p:cNvSpPr txBox="1">
            <a:spLocks/>
          </p:cNvSpPr>
          <p:nvPr/>
        </p:nvSpPr>
        <p:spPr>
          <a:xfrm>
            <a:off x="10157220" y="3429000"/>
            <a:ext cx="1893754" cy="480673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5400" indent="0" defTabSz="914400">
              <a:buFont typeface="Wingdings 2"/>
              <a:buNone/>
            </a:pPr>
            <a:r>
              <a:rPr lang="en-US" sz="2000" b="1" dirty="0"/>
              <a:t>Monograph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A5172-A95E-244B-B42A-A57E0F49922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318" t="11201" r="10516"/>
          <a:stretch/>
        </p:blipFill>
        <p:spPr>
          <a:xfrm>
            <a:off x="8189829" y="577856"/>
            <a:ext cx="2926490" cy="1976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65B0246-B67E-8547-BA24-84872988C8D7}"/>
              </a:ext>
            </a:extLst>
          </p:cNvPr>
          <p:cNvSpPr txBox="1">
            <a:spLocks/>
          </p:cNvSpPr>
          <p:nvPr/>
        </p:nvSpPr>
        <p:spPr>
          <a:xfrm>
            <a:off x="8086720" y="120691"/>
            <a:ext cx="4706509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5400" indent="0" defTabSz="914400">
              <a:buFont typeface="Wingdings 2"/>
              <a:buNone/>
            </a:pPr>
            <a:r>
              <a:rPr lang="en-US" sz="2000" b="1" dirty="0"/>
              <a:t>Medicaid Workforce Initiative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5065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4BC85C-83B7-554C-BDDB-E0087DE57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326136"/>
            <a:ext cx="5705856" cy="3922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4DEA84-8807-514E-9727-A6B849F8E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928" y="3913632"/>
            <a:ext cx="4326128" cy="216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29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ge Photography">
  <a:themeElements>
    <a:clrScheme name="JFF Colors 1">
      <a:dk1>
        <a:srgbClr val="222222"/>
      </a:dk1>
      <a:lt1>
        <a:srgbClr val="FFFFFF"/>
      </a:lt1>
      <a:dk2>
        <a:srgbClr val="7B868C"/>
      </a:dk2>
      <a:lt2>
        <a:srgbClr val="D9D8D6"/>
      </a:lt2>
      <a:accent1>
        <a:srgbClr val="FF532E"/>
      </a:accent1>
      <a:accent2>
        <a:srgbClr val="3AC1CC"/>
      </a:accent2>
      <a:accent3>
        <a:srgbClr val="DEE12B"/>
      </a:accent3>
      <a:accent4>
        <a:srgbClr val="00CE7B"/>
      </a:accent4>
      <a:accent5>
        <a:srgbClr val="B3DFD7"/>
      </a:accent5>
      <a:accent6>
        <a:srgbClr val="F0D383"/>
      </a:accent6>
      <a:hlink>
        <a:srgbClr val="3A5DAB"/>
      </a:hlink>
      <a:folHlink>
        <a:srgbClr val="0077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2" id="{6710149A-582D-3742-96CD-BDC54B2318BE}" vid="{DFAE3D30-4EA1-6949-9475-E311DE2C05E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1374</TotalTime>
  <Words>447</Words>
  <Application>Microsoft Macintosh PowerPoint</Application>
  <PresentationFormat>Widescreen</PresentationFormat>
  <Paragraphs>118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4" baseType="lpstr">
      <vt:lpstr>American Typewriter</vt:lpstr>
      <vt:lpstr>Arial</vt:lpstr>
      <vt:lpstr>Arial Narrow</vt:lpstr>
      <vt:lpstr>Book Antiqua</vt:lpstr>
      <vt:lpstr>Calibri</vt:lpstr>
      <vt:lpstr>Cambria</vt:lpstr>
      <vt:lpstr>Chalkboard</vt:lpstr>
      <vt:lpstr>Copperplate</vt:lpstr>
      <vt:lpstr>Futura Condensed Medium</vt:lpstr>
      <vt:lpstr>Gill Sans MT</vt:lpstr>
      <vt:lpstr>Helvetica Neue</vt:lpstr>
      <vt:lpstr>Marker Felt Thin</vt:lpstr>
      <vt:lpstr>Optima</vt:lpstr>
      <vt:lpstr>Times</vt:lpstr>
      <vt:lpstr>Times New Roman</vt:lpstr>
      <vt:lpstr>Verdana</vt:lpstr>
      <vt:lpstr>Wingdings 2</vt:lpstr>
      <vt:lpstr>Solstice</vt:lpstr>
      <vt:lpstr>Large Photography</vt:lpstr>
      <vt:lpstr>PowerPoint Presentation</vt:lpstr>
      <vt:lpstr>PowerPoint Presentation</vt:lpstr>
      <vt:lpstr>Handouts</vt:lpstr>
      <vt:lpstr>PowerPoint Presentation</vt:lpstr>
      <vt:lpstr>Creative sources for staff recruitment </vt:lpstr>
      <vt:lpstr>Making organizations attractive places to work</vt:lpstr>
      <vt:lpstr>PowerPoint Presentation</vt:lpstr>
      <vt:lpstr>PowerPoint Presentation</vt:lpstr>
      <vt:lpstr>PowerPoint Presentation</vt:lpstr>
      <vt:lpstr>What will be the best route to employment success?</vt:lpstr>
      <vt:lpstr>PowerPoint Presentation</vt:lpstr>
      <vt:lpstr>Time is Precious</vt:lpstr>
      <vt:lpstr>PowerPoint Presentation</vt:lpstr>
      <vt:lpstr>Do we really know what works?</vt:lpstr>
      <vt:lpstr>PowerPoint Presentation</vt:lpstr>
      <vt:lpstr>Increasing Effectiveness and Efficiency</vt:lpstr>
      <vt:lpstr>PowerPoint Presentation</vt:lpstr>
      <vt:lpstr>PowerPoint Presentation</vt:lpstr>
      <vt:lpstr>PowerPoint Presentation</vt:lpstr>
      <vt:lpstr>The Role of Funders/Service Systems: How can they help?</vt:lpstr>
      <vt:lpstr>Public Policy Agenda for Strengthening Workforce</vt:lpstr>
      <vt:lpstr>Other Ideas</vt:lpstr>
      <vt:lpstr>PowerPoint Presentation</vt:lpstr>
      <vt:lpstr>Resources</vt:lpstr>
      <vt:lpstr>PowerPoint Presentation</vt:lpstr>
    </vt:vector>
  </TitlesOfParts>
  <Company>Institute for Community Inclusion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Massachusetts DEI</dc:title>
  <dc:creator>David  Hoff</dc:creator>
  <cp:lastModifiedBy>David Hoff</cp:lastModifiedBy>
  <cp:revision>119</cp:revision>
  <dcterms:created xsi:type="dcterms:W3CDTF">2013-05-10T00:50:30Z</dcterms:created>
  <dcterms:modified xsi:type="dcterms:W3CDTF">2019-06-18T17:48:44Z</dcterms:modified>
</cp:coreProperties>
</file>