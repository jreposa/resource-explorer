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3.xml" ContentType="application/vnd.openxmlformats-officedocument.theme+xml"/>
  <Override PartName="/ppt/slideLayouts/slideLayout24.xml" ContentType="application/vnd.openxmlformats-officedocument.presentationml.slideLayout+xml"/>
  <Override PartName="/ppt/theme/theme4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5.xml" ContentType="application/vnd.openxmlformats-officedocument.theme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4" r:id="rId4"/>
    <p:sldMasterId id="2147483662" r:id="rId5"/>
    <p:sldMasterId id="2147483650" r:id="rId6"/>
    <p:sldMasterId id="2147483660" r:id="rId7"/>
    <p:sldMasterId id="2147483705" r:id="rId8"/>
    <p:sldMasterId id="2147483741" r:id="rId9"/>
  </p:sldMasterIdLst>
  <p:notesMasterIdLst>
    <p:notesMasterId r:id="rId33"/>
  </p:notesMasterIdLst>
  <p:sldIdLst>
    <p:sldId id="256" r:id="rId10"/>
    <p:sldId id="272" r:id="rId11"/>
    <p:sldId id="270" r:id="rId12"/>
    <p:sldId id="271" r:id="rId13"/>
    <p:sldId id="1187" r:id="rId14"/>
    <p:sldId id="1188" r:id="rId15"/>
    <p:sldId id="1189" r:id="rId16"/>
    <p:sldId id="1179" r:id="rId17"/>
    <p:sldId id="1180" r:id="rId18"/>
    <p:sldId id="1181" r:id="rId19"/>
    <p:sldId id="1182" r:id="rId20"/>
    <p:sldId id="1191" r:id="rId21"/>
    <p:sldId id="1183" r:id="rId22"/>
    <p:sldId id="1185" r:id="rId23"/>
    <p:sldId id="1184" r:id="rId24"/>
    <p:sldId id="1192" r:id="rId25"/>
    <p:sldId id="428" r:id="rId26"/>
    <p:sldId id="413" r:id="rId27"/>
    <p:sldId id="1186" r:id="rId28"/>
    <p:sldId id="1193" r:id="rId29"/>
    <p:sldId id="426" r:id="rId30"/>
    <p:sldId id="1194" r:id="rId31"/>
    <p:sldId id="269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0F30D"/>
    <a:srgbClr val="004284"/>
    <a:srgbClr val="FFFF99"/>
    <a:srgbClr val="FFFFCC"/>
    <a:srgbClr val="00407B"/>
    <a:srgbClr val="003F74"/>
    <a:srgbClr val="214074"/>
    <a:srgbClr val="2C4F8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6B97E4F-44A3-CE92-F2AE-265BF441A983}" v="1" dt="2025-05-28T14:49:36.57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7216" autoAdjust="0"/>
    <p:restoredTop sz="76143" autoAdjust="0"/>
  </p:normalViewPr>
  <p:slideViewPr>
    <p:cSldViewPr snapToGrid="0">
      <p:cViewPr varScale="1">
        <p:scale>
          <a:sx n="91" d="100"/>
          <a:sy n="91" d="100"/>
        </p:scale>
        <p:origin x="1192" y="176"/>
      </p:cViewPr>
      <p:guideLst/>
    </p:cSldViewPr>
  </p:slideViewPr>
  <p:outlineViewPr>
    <p:cViewPr>
      <p:scale>
        <a:sx n="33" d="100"/>
        <a:sy n="33" d="100"/>
      </p:scale>
      <p:origin x="0" y="-17264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4.xml"/><Relationship Id="rId18" Type="http://schemas.openxmlformats.org/officeDocument/2006/relationships/slide" Target="slides/slide9.xml"/><Relationship Id="rId26" Type="http://schemas.openxmlformats.org/officeDocument/2006/relationships/slide" Target="slides/slide17.xml"/><Relationship Id="rId39" Type="http://schemas.microsoft.com/office/2015/10/relationships/revisionInfo" Target="revisionInfo.xml"/><Relationship Id="rId21" Type="http://schemas.openxmlformats.org/officeDocument/2006/relationships/slide" Target="slides/slide12.xml"/><Relationship Id="rId34" Type="http://schemas.openxmlformats.org/officeDocument/2006/relationships/presProps" Target="presProps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3.xml"/><Relationship Id="rId17" Type="http://schemas.openxmlformats.org/officeDocument/2006/relationships/slide" Target="slides/slide8.xml"/><Relationship Id="rId25" Type="http://schemas.openxmlformats.org/officeDocument/2006/relationships/slide" Target="slides/slide16.xml"/><Relationship Id="rId33" Type="http://schemas.openxmlformats.org/officeDocument/2006/relationships/notesMaster" Target="notesMasters/notesMaster1.xml"/><Relationship Id="rId38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7.xml"/><Relationship Id="rId20" Type="http://schemas.openxmlformats.org/officeDocument/2006/relationships/slide" Target="slides/slide11.xml"/><Relationship Id="rId29" Type="http://schemas.openxmlformats.org/officeDocument/2006/relationships/slide" Target="slides/slide20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2.xml"/><Relationship Id="rId24" Type="http://schemas.openxmlformats.org/officeDocument/2006/relationships/slide" Target="slides/slide15.xml"/><Relationship Id="rId32" Type="http://schemas.openxmlformats.org/officeDocument/2006/relationships/slide" Target="slides/slide23.xml"/><Relationship Id="rId37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6.xml"/><Relationship Id="rId23" Type="http://schemas.openxmlformats.org/officeDocument/2006/relationships/slide" Target="slides/slide14.xml"/><Relationship Id="rId28" Type="http://schemas.openxmlformats.org/officeDocument/2006/relationships/slide" Target="slides/slide19.xml"/><Relationship Id="rId36" Type="http://schemas.openxmlformats.org/officeDocument/2006/relationships/theme" Target="theme/theme1.xml"/><Relationship Id="rId10" Type="http://schemas.openxmlformats.org/officeDocument/2006/relationships/slide" Target="slides/slide1.xml"/><Relationship Id="rId19" Type="http://schemas.openxmlformats.org/officeDocument/2006/relationships/slide" Target="slides/slide10.xml"/><Relationship Id="rId31" Type="http://schemas.openxmlformats.org/officeDocument/2006/relationships/slide" Target="slides/slide22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4" Type="http://schemas.openxmlformats.org/officeDocument/2006/relationships/slide" Target="slides/slide5.xml"/><Relationship Id="rId22" Type="http://schemas.openxmlformats.org/officeDocument/2006/relationships/slide" Target="slides/slide13.xml"/><Relationship Id="rId27" Type="http://schemas.openxmlformats.org/officeDocument/2006/relationships/slide" Target="slides/slide18.xml"/><Relationship Id="rId30" Type="http://schemas.openxmlformats.org/officeDocument/2006/relationships/slide" Target="slides/slide21.xml"/><Relationship Id="rId35" Type="http://schemas.openxmlformats.org/officeDocument/2006/relationships/viewProps" Target="viewProps.xml"/><Relationship Id="rId8" Type="http://schemas.openxmlformats.org/officeDocument/2006/relationships/slideMaster" Target="slideMasters/slideMaster5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eslie D Quarles" userId="S::leslie.quarles@umb.edu::702f4051-4280-438b-844b-dc969a358923" providerId="AD" clId="Web-{C4E3DAC0-C56F-4D5B-B834-13D8DE54E04C}"/>
    <pc:docChg chg="delSld modSld">
      <pc:chgData name="Leslie D Quarles" userId="S::leslie.quarles@umb.edu::702f4051-4280-438b-844b-dc969a358923" providerId="AD" clId="Web-{C4E3DAC0-C56F-4D5B-B834-13D8DE54E04C}" dt="2025-05-22T19:32:48.918" v="4" actId="20577"/>
      <pc:docMkLst>
        <pc:docMk/>
      </pc:docMkLst>
      <pc:sldChg chg="del">
        <pc:chgData name="Leslie D Quarles" userId="S::leslie.quarles@umb.edu::702f4051-4280-438b-844b-dc969a358923" providerId="AD" clId="Web-{C4E3DAC0-C56F-4D5B-B834-13D8DE54E04C}" dt="2025-05-22T19:32:41.418" v="0"/>
        <pc:sldMkLst>
          <pc:docMk/>
          <pc:sldMk cId="2628322313" sldId="1191"/>
        </pc:sldMkLst>
      </pc:sldChg>
      <pc:sldChg chg="modSp">
        <pc:chgData name="Leslie D Quarles" userId="S::leslie.quarles@umb.edu::702f4051-4280-438b-844b-dc969a358923" providerId="AD" clId="Web-{C4E3DAC0-C56F-4D5B-B834-13D8DE54E04C}" dt="2025-05-22T19:32:48.918" v="4" actId="20577"/>
        <pc:sldMkLst>
          <pc:docMk/>
          <pc:sldMk cId="2730122140" sldId="1192"/>
        </pc:sldMkLst>
        <pc:spChg chg="mod">
          <ac:chgData name="Leslie D Quarles" userId="S::leslie.quarles@umb.edu::702f4051-4280-438b-844b-dc969a358923" providerId="AD" clId="Web-{C4E3DAC0-C56F-4D5B-B834-13D8DE54E04C}" dt="2025-05-22T19:32:48.918" v="4" actId="20577"/>
          <ac:spMkLst>
            <pc:docMk/>
            <pc:sldMk cId="2730122140" sldId="1192"/>
            <ac:spMk id="2" creationId="{E325E3D0-E6C8-61E5-21DD-41B16C1EC0BF}"/>
          </ac:spMkLst>
        </pc:spChg>
      </pc:sldChg>
    </pc:docChg>
  </pc:docChgLst>
  <pc:docChgLst>
    <pc:chgData name="Leslie D Quarles" userId="S::leslie.quarles@umb.edu::702f4051-4280-438b-844b-dc969a358923" providerId="AD" clId="Web-{5FFD0E7F-655C-48D8-88FA-EF1CF0CDD8E3}"/>
    <pc:docChg chg="modSld">
      <pc:chgData name="Leslie D Quarles" userId="S::leslie.quarles@umb.edu::702f4051-4280-438b-844b-dc969a358923" providerId="AD" clId="Web-{5FFD0E7F-655C-48D8-88FA-EF1CF0CDD8E3}" dt="2025-05-21T14:27:26.061" v="4" actId="20577"/>
      <pc:docMkLst>
        <pc:docMk/>
      </pc:docMkLst>
      <pc:sldChg chg="modSp">
        <pc:chgData name="Leslie D Quarles" userId="S::leslie.quarles@umb.edu::702f4051-4280-438b-844b-dc969a358923" providerId="AD" clId="Web-{5FFD0E7F-655C-48D8-88FA-EF1CF0CDD8E3}" dt="2025-05-21T14:03:13.236" v="1" actId="20577"/>
        <pc:sldMkLst>
          <pc:docMk/>
          <pc:sldMk cId="0" sldId="309"/>
        </pc:sldMkLst>
        <pc:spChg chg="mod">
          <ac:chgData name="Leslie D Quarles" userId="S::leslie.quarles@umb.edu::702f4051-4280-438b-844b-dc969a358923" providerId="AD" clId="Web-{5FFD0E7F-655C-48D8-88FA-EF1CF0CDD8E3}" dt="2025-05-21T14:03:13.236" v="1" actId="20577"/>
          <ac:spMkLst>
            <pc:docMk/>
            <pc:sldMk cId="0" sldId="309"/>
            <ac:spMk id="88066" creationId="{AC005157-18B4-0FE1-2405-EE8463CC5254}"/>
          </ac:spMkLst>
        </pc:spChg>
      </pc:sldChg>
      <pc:sldChg chg="modSp">
        <pc:chgData name="Leslie D Quarles" userId="S::leslie.quarles@umb.edu::702f4051-4280-438b-844b-dc969a358923" providerId="AD" clId="Web-{5FFD0E7F-655C-48D8-88FA-EF1CF0CDD8E3}" dt="2025-05-21T14:27:26.061" v="4" actId="20577"/>
        <pc:sldMkLst>
          <pc:docMk/>
          <pc:sldMk cId="1776092909" sldId="1170"/>
        </pc:sldMkLst>
        <pc:spChg chg="mod">
          <ac:chgData name="Leslie D Quarles" userId="S::leslie.quarles@umb.edu::702f4051-4280-438b-844b-dc969a358923" providerId="AD" clId="Web-{5FFD0E7F-655C-48D8-88FA-EF1CF0CDD8E3}" dt="2025-05-21T14:27:26.061" v="4" actId="20577"/>
          <ac:spMkLst>
            <pc:docMk/>
            <pc:sldMk cId="1776092909" sldId="1170"/>
            <ac:spMk id="5" creationId="{146663AB-B2DF-9829-9EB3-03BA88E2D000}"/>
          </ac:spMkLst>
        </pc:spChg>
      </pc:sldChg>
    </pc:docChg>
  </pc:docChgLst>
  <pc:docChgLst>
    <pc:chgData name="Leslie D Quarles" userId="S::leslie.quarles@umb.edu::702f4051-4280-438b-844b-dc969a358923" providerId="AD" clId="Web-{56B97E4F-44A3-CE92-F2AE-265BF441A983}"/>
    <pc:docChg chg="modSld">
      <pc:chgData name="Leslie D Quarles" userId="S::leslie.quarles@umb.edu::702f4051-4280-438b-844b-dc969a358923" providerId="AD" clId="Web-{56B97E4F-44A3-CE92-F2AE-265BF441A983}" dt="2025-05-28T14:49:36.578" v="7"/>
      <pc:docMkLst>
        <pc:docMk/>
      </pc:docMkLst>
      <pc:sldChg chg="modSp">
        <pc:chgData name="Leslie D Quarles" userId="S::leslie.quarles@umb.edu::702f4051-4280-438b-844b-dc969a358923" providerId="AD" clId="Web-{56B97E4F-44A3-CE92-F2AE-265BF441A983}" dt="2025-05-28T14:46:57.281" v="6" actId="20577"/>
        <pc:sldMkLst>
          <pc:docMk/>
          <pc:sldMk cId="2106254433" sldId="1194"/>
        </pc:sldMkLst>
        <pc:graphicFrameChg chg="modGraphic">
          <ac:chgData name="Leslie D Quarles" userId="S::leslie.quarles@umb.edu::702f4051-4280-438b-844b-dc969a358923" providerId="AD" clId="Web-{56B97E4F-44A3-CE92-F2AE-265BF441A983}" dt="2025-05-28T14:46:57.281" v="6" actId="20577"/>
          <ac:graphicFrameMkLst>
            <pc:docMk/>
            <pc:sldMk cId="2106254433" sldId="1194"/>
            <ac:graphicFrameMk id="36" creationId="{4B2F874A-FE64-047A-1BF6-BA224DF9F92F}"/>
          </ac:graphicFrameMkLst>
        </pc:graphicFrameChg>
      </pc:sldChg>
      <pc:sldChg chg="mod modShow">
        <pc:chgData name="Leslie D Quarles" userId="S::leslie.quarles@umb.edu::702f4051-4280-438b-844b-dc969a358923" providerId="AD" clId="Web-{56B97E4F-44A3-CE92-F2AE-265BF441A983}" dt="2025-05-28T14:49:36.578" v="7"/>
        <pc:sldMkLst>
          <pc:docMk/>
          <pc:sldMk cId="190204298" sldId="123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F78F9E-5750-427C-956F-A7E2DA0FD390}" type="datetimeFigureOut">
              <a:rPr lang="en-US" smtClean="0"/>
              <a:t>4/2/26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46214A-7B04-4C95-A6B2-D2A2810289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33908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46214A-7B04-4C95-A6B2-D2A28102897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21153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46214A-7B04-4C95-A6B2-D2A28102897A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47208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46214A-7B04-4C95-A6B2-D2A28102897A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56505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46214A-7B04-4C95-A6B2-D2A28102897A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15798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46214A-7B04-4C95-A6B2-D2A28102897A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1544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46214A-7B04-4C95-A6B2-D2A28102897A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841051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46214A-7B04-4C95-A6B2-D2A28102897A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39447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BD24DB-EBF9-2633-1190-A667DED405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9053C69-A8A7-0F35-4D8D-C982EC0DF2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1D4351-0C17-3B09-3ADF-76C0B44A75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AB902-D408-0140-93C7-3EB3F64089A0}" type="datetime1">
              <a:rPr lang="en-US" smtClean="0"/>
              <a:t>4/2/26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83D766-9012-EC88-D9BB-BDD53C23AB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881E22-2BFB-747B-283D-458B799657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45C8A-0D95-0A47-99C3-ECEAB95A457F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 descr="Logo, company name&#10;&#10;Description automatically generated">
            <a:extLst>
              <a:ext uri="{FF2B5EF4-FFF2-40B4-BE49-F238E27FC236}">
                <a16:creationId xmlns:a16="http://schemas.microsoft.com/office/drawing/2014/main" id="{9B2E9FF0-5F47-2767-AA31-F2F64579891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37220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031F39-5AC4-951B-EAB5-4A3358D939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3D78818-9368-425F-CBFE-4D1C81FFF6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A43DCA-4ADE-693E-DD1A-BBFC1C855C2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2270668-4F5B-9741-B3A6-F7886089BED0}" type="datetime1">
              <a:rPr lang="en-US" smtClean="0"/>
              <a:t>4/2/26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5861A5-5D0E-A32E-28BD-C1E42388FC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E8D186-D0E7-5F85-E9D4-A91A7DAFF0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CD1C0-252C-DD4F-BCAA-7C888885EA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68581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D32C4E-EEB0-1087-FB68-E11BB62F23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01ABE6-445C-EC28-1787-B4CCB1B1F5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850780-998C-047C-3BE4-401778072F4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A7B3B7F-9D23-9D47-AE5F-4634145D2FE6}" type="datetime1">
              <a:rPr lang="en-US" smtClean="0"/>
              <a:t>4/2/26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64F9E5-D7CD-A69F-827A-9C4D32DAEC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DA0404-5C35-C577-EDFE-072824E4E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CD1C0-252C-DD4F-BCAA-7C888885EA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89980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D70BAE-0FDA-113D-1D0A-90CD063180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EA03BE-2C8C-2588-BD1D-DB32CFE8B9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B5AA40-A7B3-F731-FF65-81EDF272C18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3089AFF-014E-A444-A712-B095BC9071D9}" type="datetime1">
              <a:rPr lang="en-US" smtClean="0"/>
              <a:t>4/2/26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12961D-DF6C-73FF-ADBA-2519507195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26DCB7-3CB5-DD91-F6F8-4F146F7F16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CD1C0-252C-DD4F-BCAA-7C888885EA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34596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3CFFF5-E6E1-96DE-8B6D-5647602EA3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5CB404-9D2B-ECFF-C30C-E5EA206BEE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565492-71EE-B696-FD7B-A32CBC6425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5B39A7-6899-10B0-931A-FCD45A43CDE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0D48A5C-B463-DD4F-97C2-86C24F5E9763}" type="datetime1">
              <a:rPr lang="en-US" smtClean="0"/>
              <a:t>4/2/26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0736DC-E925-49FE-076C-C920B9394E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291BD6-F3B4-802F-2D59-C072DE86AC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CD1C0-252C-DD4F-BCAA-7C888885EA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46751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59F9CA-7778-8D8D-7260-D237E194FB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B38156-28F0-14D6-E949-FB681CC578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D4EFFD-CA6D-EED8-666D-FCAAB57E85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832C971-AC05-6C80-A524-602D67E75EF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DD753E0-C16F-19D9-1C82-B49F009383E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B1DD087-4653-06FE-E9F1-4DAA0757734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932AD-EDFC-3F4D-87D3-302683E4BA6E}" type="datetime1">
              <a:rPr lang="en-US" smtClean="0"/>
              <a:t>4/2/26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A66FCF8-E6CD-7526-D6FA-C551D169F1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CD92476-3C6D-4A9A-F885-D6AABB4D5C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CD1C0-252C-DD4F-BCAA-7C888885EA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2470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B24A18-509F-C20D-1FB9-13F78FCE7E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CDB377-0CAE-661E-2F48-A4FAADC6BF5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11524F1-BDA8-C44F-BA26-B398393A04DF}" type="datetime1">
              <a:rPr lang="en-US" smtClean="0"/>
              <a:t>4/2/26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185A7E-96B5-1C2A-0538-A0E87E128E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FECB4A-B1D1-9E6E-30CF-C48E439D3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CD1C0-252C-DD4F-BCAA-7C888885EA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11290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E7A1262-BECC-884F-826B-72931110866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C886305-CA7B-4148-8375-31094199E39E}" type="datetime1">
              <a:rPr lang="en-US" smtClean="0"/>
              <a:t>4/2/26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46C22D-6988-913B-8364-3F58082FC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976E24-6EAC-60DB-3D9A-B2A2977BF5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CD1C0-252C-DD4F-BCAA-7C888885EA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91724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3C9BAC-016C-260A-D2CA-05B36FC9FF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531D38-63AD-7604-5615-D5697CB5B5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7FDCA4-4AD5-9CB1-6EA7-ECA5FB51D3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B236BD-7C36-80B7-A133-A1DDAE335E4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CFC0723-D844-B849-BA87-0464B0D5081F}" type="datetime1">
              <a:rPr lang="en-US" smtClean="0"/>
              <a:t>4/2/26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0FE9A4-1E91-FE1D-67D8-DDD719A364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FE26FC-DB4C-8BB9-175B-31816C2E5D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CD1C0-252C-DD4F-BCAA-7C888885EA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905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993E0A-7978-718E-7370-2B5E003673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C323679-29B0-443B-C21B-95FF27152C7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64A9E9-296E-5D40-E530-EB42F928A3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8FA974-0AE5-FE4B-4A4D-9A53CDDA4E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3F9F93B-1975-2641-893B-0F6C19ACA807}" type="datetime1">
              <a:rPr lang="en-US" smtClean="0"/>
              <a:t>4/2/26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1B613B-A719-00B1-D0A2-04BA2F833D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05FADC-E0D9-71F3-E765-2F345AEBD1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CD1C0-252C-DD4F-BCAA-7C888885EA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60531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5BD0CB-624F-46BD-574C-1201B50D8F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BA91D-F672-82E3-AE25-2B0803DF7A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A3C87A-071F-F64B-1EE5-96A93777264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CEDEC10-84E4-9340-ADE6-8016D093D547}" type="datetime1">
              <a:rPr lang="en-US" smtClean="0"/>
              <a:t>4/2/26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8B0590-A6B9-D91C-9B09-819EFE7AFF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9DB085-3EA8-9279-1359-AC1915F262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CD1C0-252C-DD4F-BCAA-7C888885EA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60612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695ED18-5EB1-8E17-01C8-95AF16F6789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1E1372-A837-ADF4-E1BD-CD374F272C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28EBAD-0E08-311A-9BCC-E4E0FF1A037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6F34A8E-16C1-C940-972F-FC9C1CD5077F}" type="datetime1">
              <a:rPr lang="en-US" smtClean="0"/>
              <a:t>4/2/26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9E346D-B5AC-D334-9DE0-97B5A21FEF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EB5319-8397-4B9F-3672-4DEA013147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CD1C0-252C-DD4F-BCAA-7C888885EA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14889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855317-7C62-219C-7B06-0B160F177A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9A71FB2-18F8-AEBF-20F8-3098E202BA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FB2421-3FF7-6099-0607-3F0246FF598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6840138-0774-CB4A-9D5C-B51B47BD6618}" type="datetime1">
              <a:rPr lang="en-US" smtClean="0"/>
              <a:t>4/2/26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89996A-1B54-5877-E28C-042913929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33DA09-0808-AE4E-6622-CE99A9BB87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D70750D-29AA-3044-AA49-65F102781B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197337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A3B3F6-7AF2-FCEB-25A0-A515D5A852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D2EDCC-3D63-F4E8-B905-4F62EE61A4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B5BCF9-B422-D27B-5054-496AA2B6FE2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69B8CCA-0744-404D-B013-AB29C6D90D66}" type="datetime1">
              <a:rPr lang="en-US" smtClean="0"/>
              <a:t>4/2/26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111C30-C1E3-FF5E-2BA0-7EA29F6FB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0DCE18-4D81-3437-4DBE-E3DCC6880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D70750D-29AA-3044-AA49-65F102781B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63956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49D4FB-2F10-2E10-A81E-2B48CF4A27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3D928E-23AE-ABB8-F4F9-EDF45A34C3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4F9F3D-64B0-5971-6D77-FB554A48657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9600CD7-871F-EB4A-BFD6-B6024B3CFDA0}" type="datetime1">
              <a:rPr lang="en-US" smtClean="0"/>
              <a:t>4/2/26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FD2094-B392-CC74-26AF-4352F3CB37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78F843-C265-BCBE-B64E-2E13662009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D70750D-29AA-3044-AA49-65F102781B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186975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647D62-2E31-C490-6FB5-066D511EF9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2C365C-6681-0723-DBEE-4EFFA607FF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846171-191F-87CC-CB4A-115D18A736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0B35F2-CECA-9B93-C0BB-73A0115F879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CB22417-0C17-F04B-8C82-322E47319E9F}" type="datetime1">
              <a:rPr lang="en-US" smtClean="0"/>
              <a:t>4/2/26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CCFBA4-FDEB-CBD7-4A2E-652FD88B02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BE430B-8530-05DC-A8E8-D1470884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D70750D-29AA-3044-AA49-65F102781B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48784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9F3B89-FC53-F2E2-C81B-AD3E1365AA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B43D72-1353-AFF2-37FA-2DF3447111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3F284C-0EF7-7FBA-BD13-23816E5ADB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C4A68ED-5689-67A9-E253-60F1FD2B77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63879B9-4BE7-5D73-9B52-9712B9D06CA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B5D367F-411F-9C6A-EA73-8B988284A10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E561170-301D-8A49-86B9-439F87EEDAC4}" type="datetime1">
              <a:rPr lang="en-US" smtClean="0"/>
              <a:t>4/2/26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E6321F-867E-5053-4EDB-A3F965FCC5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227FB90-9B13-FBA8-7423-38044DBF4A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D70750D-29AA-3044-AA49-65F102781B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637294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2B8EB2-F0EE-B2CF-D9B4-AF87436F1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0C7DE90-6A3B-3D3A-AAFD-A0EDD51B6F4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C98B6A6-B570-C34C-AC0C-C66CC967EC91}" type="datetime1">
              <a:rPr lang="en-US" smtClean="0"/>
              <a:t>4/2/26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6842A36-E716-0B1D-CBA4-8E209D86ED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E48CEB-51B0-109C-182C-233C4372A4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D70750D-29AA-3044-AA49-65F102781B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728844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A9A2746-1B81-4D60-22F5-DD81734DEFF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1E808D9-EC5B-764F-9232-9772628D43B4}" type="datetime1">
              <a:rPr lang="en-US" smtClean="0"/>
              <a:t>4/2/26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3336DF4-F052-BD8C-AE09-7295440A1D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679CD6-91EE-9847-8F73-FE42186DEC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D70750D-29AA-3044-AA49-65F102781B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562362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751629-053B-5371-9484-E2E9ABAF16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253E3-8E18-1E1B-C28C-DB142C20A2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9D4ADF-DA19-5906-0ADF-3798BEC89E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D1A50D-2FAD-056E-7F3C-DE29AD54DBC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73C0E9F-F62A-9F46-97D6-6D9DA0CE09AA}" type="datetime1">
              <a:rPr lang="en-US" smtClean="0"/>
              <a:t>4/2/26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3C7A40-C494-AD28-CE7C-59F963DFEF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49767A-C895-48E8-7DB0-ABB79FE8E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D70750D-29AA-3044-AA49-65F102781B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914191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DE23D5-F4B9-443E-C962-6B1BCEC93A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571FDB1-7F08-03D8-F1FB-77A06EA4998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4127D2-4932-DF7B-F685-FEF976457E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B30771-F31E-E0F7-4020-297893B3500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E5B4105-2E19-7B45-B3A4-F851898741B6}" type="datetime1">
              <a:rPr lang="en-US" smtClean="0"/>
              <a:t>4/2/26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7E74CE-DFED-338F-EFEB-E58B0CC2B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280F33-151D-424F-0864-90EBA889B9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D70750D-29AA-3044-AA49-65F102781B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37762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B50883-E18B-30DD-AA31-51265C05A5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E80189E-CE1E-A24E-D144-F204402D01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8C0262-ECB2-8944-4241-10FD5D9208F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CB60A87-B702-1E49-829B-A74E10B912BB}" type="datetime1">
              <a:rPr lang="en-US" smtClean="0"/>
              <a:t>4/2/26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145FDC-6252-4273-2475-AD38323FA5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6CB7ED-A0AD-6E47-EBC3-3EAFCE46E6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D70750D-29AA-3044-AA49-65F102781B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261392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A0AEA51-10C3-3360-3640-6CA96E28EAD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D1F169-E139-9B0F-7C85-A9B4787211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5718A9-4AD1-613F-FA23-4131ACE66CE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36A9EF4-505A-9646-A0B4-18FFD87E7EE0}" type="datetime1">
              <a:rPr lang="en-US" smtClean="0"/>
              <a:t>4/2/26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118D5F-5995-5D81-7CEA-69E7AAF8C3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894974-E07F-365D-0238-D7B6C1330A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D70750D-29AA-3044-AA49-65F102781B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950213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E7A1262-BECC-884F-826B-72931110866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04FD151-0156-F548-BFB7-33D5F436DC73}" type="datetime1">
              <a:rPr lang="en-US" smtClean="0"/>
              <a:t>4/2/26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46C22D-6988-913B-8364-3F58082FC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976E24-6EAC-60DB-3D9A-B2A2977BF5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CD1C0-252C-DD4F-BCAA-7C888885EA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856644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3E0145-9C9D-D2B8-B15D-3400BB027F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4B6A73-6BE8-6152-172A-77FC7EF013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A68FCA-DB03-35E4-93CC-1FA177AC2B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0431D-680B-514D-B1AD-29BFC04D0CFD}" type="datetime1">
              <a:rPr lang="en-US" smtClean="0"/>
              <a:t>4/2/26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3E5878-E80C-0490-FCFA-17562F0E59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3BF9DF-7B5F-B4CF-9FBE-9D8C333B7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52F78A-DC1D-43B2-AA64-C0B49AF253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527361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CBBF54-D69E-78FD-C876-1D7C742532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C96316-AA10-BD96-C4DE-932D2BF055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6D0C16-BF97-E80B-8FCF-0982E62125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3FABE-CD88-A745-AD5A-25C775051D61}" type="datetime1">
              <a:rPr lang="en-US" smtClean="0"/>
              <a:t>4/2/26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B16008-C3D2-67F7-DA78-036C4DBFDD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FC1D8F-B1EA-D2B6-1DBF-A597F2D4EA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52F78A-DC1D-43B2-AA64-C0B49AF253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317090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30AD7-677C-3B4F-80BC-B56AF2A6EF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398417-6EF6-BB33-ABEC-D39B5C59DA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935DFD-3094-05C6-7B64-73323BF826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D323EB-BCFF-2049-A570-4513205BFD8A}" type="datetime1">
              <a:rPr lang="en-US" smtClean="0"/>
              <a:t>4/2/26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A4919F-3097-B511-B6AE-E728AC0854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9F1BBF-FA72-7F4C-10AB-ABF449631A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52F78A-DC1D-43B2-AA64-C0B49AF253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63516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0810A2-80B3-B4B1-F854-0663F7B212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3FA7EF-729F-6559-6DBF-E60967BA8F8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26E31D-DD50-3A64-1CE4-026E50DFA7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06FDC0-A956-27D2-4ABA-A56769C070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3199ED-B61B-7A4A-B92F-89365642FC15}" type="datetime1">
              <a:rPr lang="en-US" smtClean="0"/>
              <a:t>4/2/26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0571D8-84A2-7129-2ACF-9E1109F5D1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B88AE0-FD58-7BD9-B93D-F3B54BD35F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52F78A-DC1D-43B2-AA64-C0B49AF253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08346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65C803-9785-9CFC-1FFB-C8D061ACC9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D6232E-A5C9-F312-FEAC-AAB37C82BB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C398C1-2687-58CE-D73C-6FE5CE59CA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E5136CF-54DB-6E28-891F-76D214A4C0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E9ADBB-4F77-49A9-4EDF-21E3515AB6A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BBF025E-2468-1764-0EC2-50DBF5EFAE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819F5-1E78-C643-80BC-27A153042CBF}" type="datetime1">
              <a:rPr lang="en-US" smtClean="0"/>
              <a:t>4/2/26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92BF393-4DF1-2B29-01A4-4CA48B7256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EEF0D3C-6590-680C-8650-E993D25521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52F78A-DC1D-43B2-AA64-C0B49AF253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806608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9E24DF-C82F-BBED-404C-8A7D949FD7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1E3D61D-DACE-A308-B259-21AC91308B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29FB0-E158-BE49-9BAD-A233BCC69661}" type="datetime1">
              <a:rPr lang="en-US" smtClean="0"/>
              <a:t>4/2/26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72B7CF7-6B88-0C74-01AE-E41839AEFA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C37A36-AE2E-FDF5-1989-222333233D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52F78A-DC1D-43B2-AA64-C0B49AF253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86346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694571C-2C7F-39D5-14D9-FA889A0AF4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68BEA-9E50-CE40-9601-CCB26844CAC4}" type="datetime1">
              <a:rPr lang="en-US" smtClean="0"/>
              <a:t>4/2/26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57577F8-CBED-6CE2-1D5B-7BD0BEE9DE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6CCF34-83ED-DD38-2F54-760D4615E9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52F78A-DC1D-43B2-AA64-C0B49AF253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515449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6156E4-FC41-E0B7-0C5A-6A05327EDD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86C302-CB70-30CA-63F3-ECBC3D3D96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119902-D798-38E0-808C-48F59E5818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862842-8329-E303-5861-1A5414EAFF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F2204-3F4E-8C48-84F2-3D911497485C}" type="datetime1">
              <a:rPr lang="en-US" smtClean="0"/>
              <a:t>4/2/26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622EC4-8CBA-8A2E-CE85-FBAA7789A2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828E11-95B3-B085-5711-A0845B3945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52F78A-DC1D-43B2-AA64-C0B49AF253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796879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7A0E46-DD0D-EC75-672D-A67D453967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A7E5156-7F56-8A82-DAE6-90CC1DC27B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06C14F-FBC9-4BE4-C535-780686842A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A6030A-3028-D7E7-9D70-C8ACC21458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AD111-F5EE-CC45-A928-B2A6A4E5C574}" type="datetime1">
              <a:rPr lang="en-US" smtClean="0"/>
              <a:t>4/2/26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BD8DD5-A55F-F4E8-4704-AE7F9F5989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CBB49C-0B57-2854-360A-325A8E06C5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52F78A-DC1D-43B2-AA64-C0B49AF253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303904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91727B-B5D7-FFB6-DB3C-F8726483D2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A4C07F1-384F-33CB-E5A8-AD6C0B8DCE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6B841E-3E2F-9B44-3F86-86FC095A3F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43595-ABD3-2E4D-B890-16919F3FCDE2}" type="datetime1">
              <a:rPr lang="en-US" smtClean="0"/>
              <a:t>4/2/26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B35BFD-65AE-1356-25EF-1FB3C0C5DC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E00154-520F-7BB8-9689-7D19F593C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52F78A-DC1D-43B2-AA64-C0B49AF253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25382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666DF67-5AB9-8491-4D20-10D41685DA0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CF6F91-2187-4E49-1057-69A3F62EF4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F86D8E-CBBA-C206-B20D-1BAD5ED2EC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94AEF-85D7-FD45-BF59-88F66FC3AA72}" type="datetime1">
              <a:rPr lang="en-US" smtClean="0"/>
              <a:t>4/2/26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46B261-3076-EB7E-E8E3-41FD312AFF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17E36B-F314-7CAA-2EBF-CD90C32FA2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52F78A-DC1D-43B2-AA64-C0B49AF253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588851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031F39-5AC4-951B-EAB5-4A3358D939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3D78818-9368-425F-CBFE-4D1C81FFF6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A43DCA-4ADE-693E-DD1A-BBFC1C855C2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8A496A2-361A-0540-B675-388953D96664}" type="datetime1">
              <a:rPr lang="en-US" smtClean="0"/>
              <a:t>4/2/26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5861A5-5D0E-A32E-28BD-C1E42388FC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E8D186-D0E7-5F85-E9D4-A91A7DAFF0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CD1C0-252C-DD4F-BCAA-7C888885EA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204731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D32C4E-EEB0-1087-FB68-E11BB62F23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01ABE6-445C-EC28-1787-B4CCB1B1F5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850780-998C-047C-3BE4-401778072F4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1C56158-A30E-B944-A2AE-1C1B4954DFC8}" type="datetime1">
              <a:rPr lang="en-US" smtClean="0"/>
              <a:t>4/2/26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64F9E5-D7CD-A69F-827A-9C4D32DAEC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DA0404-5C35-C577-EDFE-072824E4E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CD1C0-252C-DD4F-BCAA-7C888885EA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559402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D70BAE-0FDA-113D-1D0A-90CD063180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EA03BE-2C8C-2588-BD1D-DB32CFE8B9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B5AA40-A7B3-F731-FF65-81EDF272C18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C64ADA1-89E9-5A48-8C30-545194A08C09}" type="datetime1">
              <a:rPr lang="en-US" smtClean="0"/>
              <a:t>4/2/26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12961D-DF6C-73FF-ADBA-2519507195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26DCB7-3CB5-DD91-F6F8-4F146F7F16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CD1C0-252C-DD4F-BCAA-7C888885EA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1999352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3CFFF5-E6E1-96DE-8B6D-5647602EA3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5CB404-9D2B-ECFF-C30C-E5EA206BEE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565492-71EE-B696-FD7B-A32CBC6425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5B39A7-6899-10B0-931A-FCD45A43CDE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7A2F6E8-52A0-C045-8FAF-EE1686350B9C}" type="datetime1">
              <a:rPr lang="en-US" smtClean="0"/>
              <a:t>4/2/26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0736DC-E925-49FE-076C-C920B9394E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291BD6-F3B4-802F-2D59-C072DE86AC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CD1C0-252C-DD4F-BCAA-7C888885EA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1760783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59F9CA-7778-8D8D-7260-D237E194FB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B38156-28F0-14D6-E949-FB681CC578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D4EFFD-CA6D-EED8-666D-FCAAB57E85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832C971-AC05-6C80-A524-602D67E75EF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DD753E0-C16F-19D9-1C82-B49F009383E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B1DD087-4653-06FE-E9F1-4DAA0757734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72B5730-7522-A24D-98B3-15473FCAD775}" type="datetime1">
              <a:rPr lang="en-US" smtClean="0"/>
              <a:t>4/2/26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A66FCF8-E6CD-7526-D6FA-C551D169F1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CD92476-3C6D-4A9A-F885-D6AABB4D5C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CD1C0-252C-DD4F-BCAA-7C888885EA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793170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B24A18-509F-C20D-1FB9-13F78FCE7E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CDB377-0CAE-661E-2F48-A4FAADC6BF5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8B48995-EB8F-D14B-B38D-64D4EE7AD954}" type="datetime1">
              <a:rPr lang="en-US" smtClean="0"/>
              <a:t>4/2/26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185A7E-96B5-1C2A-0538-A0E87E128E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FECB4A-B1D1-9E6E-30CF-C48E439D3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CD1C0-252C-DD4F-BCAA-7C888885EA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72884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E7A1262-BECC-884F-826B-72931110866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B1612AE-EED1-DC49-82DC-AAD2DD0382E7}" type="datetime1">
              <a:rPr lang="en-US" smtClean="0"/>
              <a:t>4/2/26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46C22D-6988-913B-8364-3F58082FC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976E24-6EAC-60DB-3D9A-B2A2977BF5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CD1C0-252C-DD4F-BCAA-7C888885EA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9439076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3C9BAC-016C-260A-D2CA-05B36FC9FF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531D38-63AD-7604-5615-D5697CB5B5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7FDCA4-4AD5-9CB1-6EA7-ECA5FB51D3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B236BD-7C36-80B7-A133-A1DDAE335E4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ABF50E7-8B6D-6046-8102-14F4B2EF682B}" type="datetime1">
              <a:rPr lang="en-US" smtClean="0"/>
              <a:t>4/2/26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0FE9A4-1E91-FE1D-67D8-DDD719A364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FE26FC-DB4C-8BB9-175B-31816C2E5D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CD1C0-252C-DD4F-BCAA-7C888885EA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2521841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993E0A-7978-718E-7370-2B5E003673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C323679-29B0-443B-C21B-95FF27152C7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64A9E9-296E-5D40-E530-EB42F928A3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8FA974-0AE5-FE4B-4A4D-9A53CDDA4E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5CF6D94-7C1F-1C47-AEC8-64BFFD59CD5C}" type="datetime1">
              <a:rPr lang="en-US" smtClean="0"/>
              <a:t>4/2/26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1B613B-A719-00B1-D0A2-04BA2F833D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05FADC-E0D9-71F3-E765-2F345AEBD1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CD1C0-252C-DD4F-BCAA-7C888885EA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783815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5BD0CB-624F-46BD-574C-1201B50D8F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BA91D-F672-82E3-AE25-2B0803DF7A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A3C87A-071F-F64B-1EE5-96A93777264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7B83670-500E-004C-9041-D48742487EA6}" type="datetime1">
              <a:rPr lang="en-US" smtClean="0"/>
              <a:t>4/2/26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8B0590-A6B9-D91C-9B09-819EFE7AFF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9DB085-3EA8-9279-1359-AC1915F262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CD1C0-252C-DD4F-BCAA-7C888885EA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6995864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695ED18-5EB1-8E17-01C8-95AF16F6789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1E1372-A837-ADF4-E1BD-CD374F272C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28EBAD-0E08-311A-9BCC-E4E0FF1A037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7AA5904-B8C7-2D47-9084-EFD4AC443BC3}" type="datetime1">
              <a:rPr lang="en-US" smtClean="0"/>
              <a:t>4/2/26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9E346D-B5AC-D334-9DE0-97B5A21FEF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EB5319-8397-4B9F-3672-4DEA013147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CD1C0-252C-DD4F-BCAA-7C888885EA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22944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2.xml"/><Relationship Id="rId5" Type="http://schemas.openxmlformats.org/officeDocument/2006/relationships/slideLayout" Target="../slideLayouts/slideLayout6.xml"/><Relationship Id="rId15" Type="http://schemas.openxmlformats.org/officeDocument/2006/relationships/image" Target="../media/image4.png"/><Relationship Id="rId10" Type="http://schemas.openxmlformats.org/officeDocument/2006/relationships/slideLayout" Target="../slideLayouts/slideLayout11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Relationship Id="rId14" Type="http://schemas.openxmlformats.org/officeDocument/2006/relationships/image" Target="../media/image3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image" Target="../media/image5.png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24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3.xml"/><Relationship Id="rId3" Type="http://schemas.openxmlformats.org/officeDocument/2006/relationships/slideLayout" Target="../slideLayouts/slideLayout38.xml"/><Relationship Id="rId7" Type="http://schemas.openxmlformats.org/officeDocument/2006/relationships/slideLayout" Target="../slideLayouts/slideLayout42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37.xml"/><Relationship Id="rId1" Type="http://schemas.openxmlformats.org/officeDocument/2006/relationships/slideLayout" Target="../slideLayouts/slideLayout36.xml"/><Relationship Id="rId6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46.xml"/><Relationship Id="rId5" Type="http://schemas.openxmlformats.org/officeDocument/2006/relationships/slideLayout" Target="../slideLayouts/slideLayout40.xml"/><Relationship Id="rId10" Type="http://schemas.openxmlformats.org/officeDocument/2006/relationships/slideLayout" Target="../slideLayouts/slideLayout45.xml"/><Relationship Id="rId4" Type="http://schemas.openxmlformats.org/officeDocument/2006/relationships/slideLayout" Target="../slideLayouts/slideLayout39.xml"/><Relationship Id="rId9" Type="http://schemas.openxmlformats.org/officeDocument/2006/relationships/slideLayout" Target="../slideLayouts/slideLayout4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61AE749-2F0D-F0C9-268C-8B4A800AB9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3ADAA6-781C-AD45-24B8-E8975D5F4B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3D9AEC-719E-47D8-1806-E5192E5F57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A8236C-B4C4-CD40-A0F9-7A602400A48E}" type="datetime1">
              <a:rPr lang="en-US" smtClean="0"/>
              <a:t>4/2/26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4DE23E-8D21-34DC-3604-8E4B5FFFC8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DD989C-601D-8B00-AF8F-451D9D1278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845C8A-0D95-0A47-99C3-ECEAB95A457F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 descr="Logo, company name&#10;&#10;Description automatically generated">
            <a:extLst>
              <a:ext uri="{FF2B5EF4-FFF2-40B4-BE49-F238E27FC236}">
                <a16:creationId xmlns:a16="http://schemas.microsoft.com/office/drawing/2014/main" id="{1F0D263E-C3BD-04AF-3274-6FE6FAC8376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44070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F405267-637A-4A65-DC02-E055AD980E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47667" y="458304"/>
            <a:ext cx="564210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Contact Information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899761-6C5D-F618-869C-BC94540119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320899" y="196304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0A30E2-E4D6-D69B-E9C2-CE8DD5F532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26047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ECD1C0-252C-DD4F-BCAA-7C888885EA59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DA95E44-F9AC-1BCD-DF8C-1C490AD8FB32}"/>
              </a:ext>
            </a:extLst>
          </p:cNvPr>
          <p:cNvCxnSpPr>
            <a:cxnSpLocks/>
          </p:cNvCxnSpPr>
          <p:nvPr userDrawn="1"/>
        </p:nvCxnSpPr>
        <p:spPr>
          <a:xfrm>
            <a:off x="152310" y="0"/>
            <a:ext cx="0" cy="6858000"/>
          </a:xfrm>
          <a:prstGeom prst="line">
            <a:avLst/>
          </a:prstGeom>
          <a:ln w="304800">
            <a:solidFill>
              <a:srgbClr val="00428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5BEC744-0AA3-5ACD-8374-69AA2C57D556}"/>
              </a:ext>
            </a:extLst>
          </p:cNvPr>
          <p:cNvCxnSpPr>
            <a:cxnSpLocks/>
          </p:cNvCxnSpPr>
          <p:nvPr userDrawn="1"/>
        </p:nvCxnSpPr>
        <p:spPr>
          <a:xfrm>
            <a:off x="12039690" y="0"/>
            <a:ext cx="0" cy="6858000"/>
          </a:xfrm>
          <a:prstGeom prst="line">
            <a:avLst/>
          </a:prstGeom>
          <a:ln w="304800">
            <a:solidFill>
              <a:srgbClr val="00428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7F45BB8-B0A4-FD66-C1FB-F2933303A6A6}"/>
              </a:ext>
            </a:extLst>
          </p:cNvPr>
          <p:cNvCxnSpPr>
            <a:cxnSpLocks/>
          </p:cNvCxnSpPr>
          <p:nvPr userDrawn="1"/>
        </p:nvCxnSpPr>
        <p:spPr>
          <a:xfrm>
            <a:off x="296562" y="6709118"/>
            <a:ext cx="11615352" cy="0"/>
          </a:xfrm>
          <a:prstGeom prst="line">
            <a:avLst/>
          </a:prstGeom>
          <a:ln w="304800">
            <a:solidFill>
              <a:srgbClr val="00428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512BF725-0448-5CB0-CA52-75A6B4AE8551}"/>
              </a:ext>
            </a:extLst>
          </p:cNvPr>
          <p:cNvCxnSpPr>
            <a:cxnSpLocks/>
          </p:cNvCxnSpPr>
          <p:nvPr userDrawn="1"/>
        </p:nvCxnSpPr>
        <p:spPr>
          <a:xfrm>
            <a:off x="296562" y="151799"/>
            <a:ext cx="11615352" cy="0"/>
          </a:xfrm>
          <a:prstGeom prst="line">
            <a:avLst/>
          </a:prstGeom>
          <a:ln w="304800">
            <a:solidFill>
              <a:srgbClr val="00428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 descr="Logo&#10;&#10;Description automatically generated">
            <a:extLst>
              <a:ext uri="{FF2B5EF4-FFF2-40B4-BE49-F238E27FC236}">
                <a16:creationId xmlns:a16="http://schemas.microsoft.com/office/drawing/2014/main" id="{781608AB-4BBB-610B-AA06-3D35B8B90FD7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0575" y="327230"/>
            <a:ext cx="1635815" cy="1635815"/>
          </a:xfrm>
          <a:prstGeom prst="rect">
            <a:avLst/>
          </a:prstGeom>
        </p:spPr>
      </p:pic>
      <p:pic>
        <p:nvPicPr>
          <p:cNvPr id="18" name="Picture 17" descr="Logo&#10;&#10;Description automatically generated">
            <a:extLst>
              <a:ext uri="{FF2B5EF4-FFF2-40B4-BE49-F238E27FC236}">
                <a16:creationId xmlns:a16="http://schemas.microsoft.com/office/drawing/2014/main" id="{6246F837-F70A-CBC6-561C-BA4CEA5EB537}"/>
              </a:ext>
            </a:extLst>
          </p:cNvPr>
          <p:cNvPicPr>
            <a:picLocks noChangeAspect="1"/>
          </p:cNvPicPr>
          <p:nvPr userDrawn="1"/>
        </p:nvPicPr>
        <p:blipFill>
          <a:blip r:embed="rId1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215531" y="5468233"/>
            <a:ext cx="902759" cy="86199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AC3C21A-0F02-EF30-8216-4DCDD17C6534}"/>
              </a:ext>
            </a:extLst>
          </p:cNvPr>
          <p:cNvPicPr>
            <a:picLocks noChangeAspect="1"/>
          </p:cNvPicPr>
          <p:nvPr userDrawn="1"/>
        </p:nvPicPr>
        <p:blipFill>
          <a:blip r:embed="rId1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4230" y="5515180"/>
            <a:ext cx="1074435" cy="861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30489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7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b="1" kern="1200" cap="none" spc="0">
          <a:ln w="13462">
            <a:solidFill>
              <a:schemeClr val="bg1"/>
            </a:solidFill>
            <a:prstDash val="solid"/>
          </a:ln>
          <a:solidFill>
            <a:schemeClr val="tx1">
              <a:lumMod val="85000"/>
              <a:lumOff val="15000"/>
            </a:schemeClr>
          </a:solidFill>
          <a:effectLst>
            <a:outerShdw dist="38100" dir="2700000" algn="bl" rotWithShape="0">
              <a:schemeClr val="accent5"/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Shape, rectangle&#10;&#10;Description automatically generated">
            <a:extLst>
              <a:ext uri="{FF2B5EF4-FFF2-40B4-BE49-F238E27FC236}">
                <a16:creationId xmlns:a16="http://schemas.microsoft.com/office/drawing/2014/main" id="{4B956B48-BA34-E030-3984-674D0B1B71BD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36355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75" r:id="rId5"/>
    <p:sldLayoutId id="2147483656" r:id="rId6"/>
    <p:sldLayoutId id="2147483657" r:id="rId7"/>
    <p:sldLayoutId id="2147483658" r:id="rId8"/>
    <p:sldLayoutId id="2147483659" r:id="rId9"/>
    <p:sldLayoutId id="2147483676" r:id="rId10"/>
    <p:sldLayoutId id="214748366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F405267-637A-4A65-DC02-E055AD980E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899761-6C5D-F618-869C-BC94540119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0A30E2-E4D6-D69B-E9C2-CE8DD5F532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26047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ECD1C0-252C-DD4F-BCAA-7C888885EA59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DA95E44-F9AC-1BCD-DF8C-1C490AD8FB32}"/>
              </a:ext>
            </a:extLst>
          </p:cNvPr>
          <p:cNvCxnSpPr>
            <a:cxnSpLocks/>
          </p:cNvCxnSpPr>
          <p:nvPr userDrawn="1"/>
        </p:nvCxnSpPr>
        <p:spPr>
          <a:xfrm>
            <a:off x="152310" y="0"/>
            <a:ext cx="0" cy="6858000"/>
          </a:xfrm>
          <a:prstGeom prst="line">
            <a:avLst/>
          </a:prstGeom>
          <a:ln w="304800">
            <a:solidFill>
              <a:srgbClr val="00428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5BEC744-0AA3-5ACD-8374-69AA2C57D556}"/>
              </a:ext>
            </a:extLst>
          </p:cNvPr>
          <p:cNvCxnSpPr>
            <a:cxnSpLocks/>
          </p:cNvCxnSpPr>
          <p:nvPr userDrawn="1"/>
        </p:nvCxnSpPr>
        <p:spPr>
          <a:xfrm>
            <a:off x="12039690" y="0"/>
            <a:ext cx="0" cy="6858000"/>
          </a:xfrm>
          <a:prstGeom prst="line">
            <a:avLst/>
          </a:prstGeom>
          <a:ln w="304800">
            <a:solidFill>
              <a:srgbClr val="00428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7F45BB8-B0A4-FD66-C1FB-F2933303A6A6}"/>
              </a:ext>
            </a:extLst>
          </p:cNvPr>
          <p:cNvCxnSpPr>
            <a:cxnSpLocks/>
          </p:cNvCxnSpPr>
          <p:nvPr userDrawn="1"/>
        </p:nvCxnSpPr>
        <p:spPr>
          <a:xfrm>
            <a:off x="296562" y="6709118"/>
            <a:ext cx="11615352" cy="0"/>
          </a:xfrm>
          <a:prstGeom prst="line">
            <a:avLst/>
          </a:prstGeom>
          <a:ln w="304800">
            <a:solidFill>
              <a:srgbClr val="00428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512BF725-0448-5CB0-CA52-75A6B4AE8551}"/>
              </a:ext>
            </a:extLst>
          </p:cNvPr>
          <p:cNvCxnSpPr>
            <a:cxnSpLocks/>
          </p:cNvCxnSpPr>
          <p:nvPr userDrawn="1"/>
        </p:nvCxnSpPr>
        <p:spPr>
          <a:xfrm>
            <a:off x="296562" y="151799"/>
            <a:ext cx="11615352" cy="0"/>
          </a:xfrm>
          <a:prstGeom prst="line">
            <a:avLst/>
          </a:prstGeom>
          <a:ln w="304800">
            <a:solidFill>
              <a:srgbClr val="00428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391127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978B640-CC92-A7E4-C35B-4068F0E2B2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DB5D7B-DCCB-0F2E-6773-C1BEFFC90F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0F3CA0-779D-776E-3AE4-10DFEB00DE9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DCA138-854E-804C-9A74-4C71EB8CEA3A}" type="datetime1">
              <a:rPr lang="en-US" smtClean="0"/>
              <a:t>4/2/26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D61A7-D459-0511-C550-F792E4FBAD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68C7EE-5067-87A2-EDF1-0D221BDAC1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52F78A-DC1D-43B2-AA64-C0B49AF253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79216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09" r:id="rId4"/>
    <p:sldLayoutId id="2147483710" r:id="rId5"/>
    <p:sldLayoutId id="2147483711" r:id="rId6"/>
    <p:sldLayoutId id="2147483712" r:id="rId7"/>
    <p:sldLayoutId id="2147483713" r:id="rId8"/>
    <p:sldLayoutId id="2147483714" r:id="rId9"/>
    <p:sldLayoutId id="2147483715" r:id="rId10"/>
    <p:sldLayoutId id="2147483716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F405267-637A-4A65-DC02-E055AD980E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899761-6C5D-F618-869C-BC94540119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0A30E2-E4D6-D69B-E9C2-CE8DD5F532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26047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ECD1C0-252C-DD4F-BCAA-7C888885EA59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DA95E44-F9AC-1BCD-DF8C-1C490AD8FB32}"/>
              </a:ext>
            </a:extLst>
          </p:cNvPr>
          <p:cNvCxnSpPr>
            <a:cxnSpLocks/>
          </p:cNvCxnSpPr>
          <p:nvPr userDrawn="1"/>
        </p:nvCxnSpPr>
        <p:spPr>
          <a:xfrm>
            <a:off x="152310" y="0"/>
            <a:ext cx="0" cy="6858000"/>
          </a:xfrm>
          <a:prstGeom prst="line">
            <a:avLst/>
          </a:prstGeom>
          <a:ln w="304800">
            <a:solidFill>
              <a:srgbClr val="00428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5BEC744-0AA3-5ACD-8374-69AA2C57D556}"/>
              </a:ext>
            </a:extLst>
          </p:cNvPr>
          <p:cNvCxnSpPr>
            <a:cxnSpLocks/>
          </p:cNvCxnSpPr>
          <p:nvPr userDrawn="1"/>
        </p:nvCxnSpPr>
        <p:spPr>
          <a:xfrm>
            <a:off x="12039690" y="0"/>
            <a:ext cx="0" cy="6858000"/>
          </a:xfrm>
          <a:prstGeom prst="line">
            <a:avLst/>
          </a:prstGeom>
          <a:ln w="304800">
            <a:solidFill>
              <a:srgbClr val="00428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7F45BB8-B0A4-FD66-C1FB-F2933303A6A6}"/>
              </a:ext>
            </a:extLst>
          </p:cNvPr>
          <p:cNvCxnSpPr>
            <a:cxnSpLocks/>
          </p:cNvCxnSpPr>
          <p:nvPr userDrawn="1"/>
        </p:nvCxnSpPr>
        <p:spPr>
          <a:xfrm>
            <a:off x="296562" y="6709118"/>
            <a:ext cx="11615352" cy="0"/>
          </a:xfrm>
          <a:prstGeom prst="line">
            <a:avLst/>
          </a:prstGeom>
          <a:ln w="304800">
            <a:solidFill>
              <a:srgbClr val="00428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512BF725-0448-5CB0-CA52-75A6B4AE8551}"/>
              </a:ext>
            </a:extLst>
          </p:cNvPr>
          <p:cNvCxnSpPr>
            <a:cxnSpLocks/>
          </p:cNvCxnSpPr>
          <p:nvPr userDrawn="1"/>
        </p:nvCxnSpPr>
        <p:spPr>
          <a:xfrm>
            <a:off x="296562" y="151799"/>
            <a:ext cx="11615352" cy="0"/>
          </a:xfrm>
          <a:prstGeom prst="line">
            <a:avLst/>
          </a:prstGeom>
          <a:ln w="304800">
            <a:solidFill>
              <a:srgbClr val="00428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387187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2" r:id="rId1"/>
    <p:sldLayoutId id="2147483743" r:id="rId2"/>
    <p:sldLayoutId id="2147483744" r:id="rId3"/>
    <p:sldLayoutId id="2147483745" r:id="rId4"/>
    <p:sldLayoutId id="2147483746" r:id="rId5"/>
    <p:sldLayoutId id="2147483747" r:id="rId6"/>
    <p:sldLayoutId id="2147483748" r:id="rId7"/>
    <p:sldLayoutId id="2147483749" r:id="rId8"/>
    <p:sldLayoutId id="2147483750" r:id="rId9"/>
    <p:sldLayoutId id="2147483751" r:id="rId10"/>
    <p:sldLayoutId id="2147483752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jpeg"/><Relationship Id="rId3" Type="http://schemas.openxmlformats.org/officeDocument/2006/relationships/image" Target="../media/image10.png"/><Relationship Id="rId7" Type="http://schemas.openxmlformats.org/officeDocument/2006/relationships/image" Target="../media/image1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jpe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1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9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emf"/><Relationship Id="rId1" Type="http://schemas.openxmlformats.org/officeDocument/2006/relationships/slideLayout" Target="../slideLayouts/slideLayout1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mailto:David.Hoff@umb.edu" TargetMode="External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6.xml"/><Relationship Id="rId6" Type="http://schemas.openxmlformats.org/officeDocument/2006/relationships/hyperlink" Target="mailto:Leslie.Quarles@umb.edu" TargetMode="External"/><Relationship Id="rId5" Type="http://schemas.openxmlformats.org/officeDocument/2006/relationships/hyperlink" Target="mailto:Jessica.Keenoy@umb.edu" TargetMode="External"/><Relationship Id="rId4" Type="http://schemas.openxmlformats.org/officeDocument/2006/relationships/hyperlink" Target="mailto:Nicholas.Holz@umb.edu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B16EB4-50A4-1868-FCD9-B5A63FDD02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-2387600"/>
            <a:ext cx="9144000" cy="238760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Intro slide and E1stMO logo</a:t>
            </a:r>
            <a:br>
              <a:rPr lang="en-US" dirty="0"/>
            </a:br>
            <a:endParaRPr lang="en-US" dirty="0"/>
          </a:p>
        </p:txBody>
      </p:sp>
      <p:sp>
        <p:nvSpPr>
          <p:cNvPr id="3" name="TextBox 2" descr="Division of Developmental Disabilities">
            <a:extLst>
              <a:ext uri="{FF2B5EF4-FFF2-40B4-BE49-F238E27FC236}">
                <a16:creationId xmlns:a16="http://schemas.microsoft.com/office/drawing/2014/main" id="{98D7EF56-3472-479C-B34C-A912B15CFC55}"/>
              </a:ext>
            </a:extLst>
          </p:cNvPr>
          <p:cNvSpPr txBox="1"/>
          <p:nvPr/>
        </p:nvSpPr>
        <p:spPr>
          <a:xfrm>
            <a:off x="6417129" y="4229100"/>
            <a:ext cx="2057400" cy="11430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pic>
        <p:nvPicPr>
          <p:cNvPr id="5" name="Picture 4" descr="Division of Developmental Disabilities">
            <a:extLst>
              <a:ext uri="{FF2B5EF4-FFF2-40B4-BE49-F238E27FC236}">
                <a16:creationId xmlns:a16="http://schemas.microsoft.com/office/drawing/2014/main" id="{03942789-3CB5-28C7-8B83-83C379C792BB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94714" y="4442002"/>
            <a:ext cx="1159328" cy="930098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6D7541-704F-22BF-E537-6B57544C5E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45C8A-0D95-0A47-99C3-ECEAB95A457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317854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469D260-B40A-7B5F-BEC0-AD4446CEF2E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Using Technology to Provide Job Supports Remotely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853A4C5C-E01A-E0D5-CA74-4D6CD216900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/>
              <a:t>David Hoff,</a:t>
            </a:r>
            <a:r>
              <a:rPr lang="en-US" dirty="0"/>
              <a:t> Project Manager</a:t>
            </a:r>
          </a:p>
          <a:p>
            <a:r>
              <a:rPr lang="en-US" dirty="0"/>
              <a:t>Employment First Missouri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31643DC-3A9F-ECD1-DAD4-8891370584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CD1C0-252C-DD4F-BCAA-7C888885EA5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3949586"/>
      </p:ext>
    </p:extLst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DFA870F-DF77-0791-3FA4-3A0AA9F6F0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7357" y="294788"/>
            <a:ext cx="7250723" cy="774358"/>
          </a:xfrm>
          <a:solidFill>
            <a:srgbClr val="C00000"/>
          </a:solidFill>
          <a:scene3d>
            <a:camera prst="orthographicFront"/>
            <a:lightRig rig="threePt" dir="t"/>
          </a:scene3d>
          <a:sp3d>
            <a:bevelT prst="angle"/>
          </a:sp3d>
        </p:spPr>
        <p:txBody>
          <a:bodyPr/>
          <a:lstStyle/>
          <a:p>
            <a:pPr algn="ctr"/>
            <a:r>
              <a:rPr lang="en-US" b="1" cap="small" dirty="0">
                <a:solidFill>
                  <a:schemeClr val="bg1"/>
                </a:solidFill>
              </a:rPr>
              <a:t>Getting Clear on Terminology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565F2CF-D327-0C45-A507-3EE7C65729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4351338"/>
          </a:xfrm>
        </p:spPr>
        <p:txBody>
          <a:bodyPr/>
          <a:lstStyle/>
          <a:p>
            <a:r>
              <a:rPr lang="en-US" b="1" dirty="0"/>
              <a:t>Assistive technology: </a:t>
            </a:r>
            <a:r>
              <a:rPr lang="en-US" dirty="0"/>
              <a:t>Any item, piece of equipment, software program, or product system that is used to increase, maintain, or improve the functional capabilities of persons with disabilities.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800" b="1" i="1" dirty="0"/>
              <a:t>Self-management technology:</a:t>
            </a:r>
            <a:r>
              <a:rPr lang="en-US" sz="2800" i="1" dirty="0"/>
              <a:t> technology that enables individuals to manage tasks on their own (e.g., apps).</a:t>
            </a:r>
          </a:p>
          <a:p>
            <a:r>
              <a:rPr lang="en-US" b="1" dirty="0"/>
              <a:t>Virtual service delivery: </a:t>
            </a:r>
            <a:r>
              <a:rPr lang="en-US" dirty="0"/>
              <a:t>Services provided via internet/computer.</a:t>
            </a:r>
          </a:p>
          <a:p>
            <a:pPr lvl="1">
              <a:buFont typeface="Wingdings" pitchFamily="2" charset="2"/>
              <a:buChar char="Ø"/>
            </a:pPr>
            <a:r>
              <a:rPr lang="en-US" sz="2800" i="1" dirty="0"/>
              <a:t>Can be live or self-paced.</a:t>
            </a:r>
          </a:p>
          <a:p>
            <a:r>
              <a:rPr lang="en-US" b="1" dirty="0"/>
              <a:t>Remote supports: </a:t>
            </a:r>
            <a:r>
              <a:rPr lang="en-US" dirty="0"/>
              <a:t>technology that allows staff to provide real-time supports from a different location from where the individual is located.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C0885A2-8672-C7E0-2C66-EAEFC8A992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0750D-29AA-3044-AA49-65F102781B7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9312216"/>
      </p:ext>
    </p:extLst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D0C6D-9285-2425-3C33-B296354357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763" y="365125"/>
            <a:ext cx="4085492" cy="672720"/>
          </a:xfrm>
          <a:effectLst>
            <a:glow rad="228600">
              <a:schemeClr val="accent3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/>
          <a:lstStyle/>
          <a:p>
            <a:pPr algn="ctr"/>
            <a:r>
              <a:rPr lang="en-US" b="1" dirty="0"/>
              <a:t>Time for a Poll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27A6D81-7861-2913-45B3-6AA7D690B997}"/>
              </a:ext>
            </a:extLst>
          </p:cNvPr>
          <p:cNvSpPr txBox="1"/>
          <p:nvPr/>
        </p:nvSpPr>
        <p:spPr>
          <a:xfrm>
            <a:off x="1033670" y="1690688"/>
            <a:ext cx="5585791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Are you currently using remote supports for individuals?</a:t>
            </a:r>
          </a:p>
        </p:txBody>
      </p:sp>
      <p:pic>
        <p:nvPicPr>
          <p:cNvPr id="5" name="Content Placeholder 4" descr="Cartoon checklist and pencil">
            <a:extLst>
              <a:ext uri="{FF2B5EF4-FFF2-40B4-BE49-F238E27FC236}">
                <a16:creationId xmlns:a16="http://schemas.microsoft.com/office/drawing/2014/main" id="{9FBFEB33-3FB8-A600-59D3-9018AECE773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613372" y="1037845"/>
            <a:ext cx="3935897" cy="3458817"/>
          </a:xfr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05B6539-28E7-CD12-94EC-BC3C232D83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0750D-29AA-3044-AA49-65F102781B7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5897939"/>
      </p:ext>
    </p:extLst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4F4BEB3-7CB5-B888-8146-44F9B58BC5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64142"/>
            <a:ext cx="10515600" cy="2367199"/>
          </a:xfrm>
          <a:solidFill>
            <a:srgbClr val="C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anchorCtr="0"/>
          <a:lstStyle/>
          <a:p>
            <a:pPr algn="ctr"/>
            <a:r>
              <a:rPr lang="en-US" sz="5400" dirty="0"/>
              <a:t>On-site job coaching is the</a:t>
            </a:r>
            <a:br>
              <a:rPr lang="en-US" sz="5400" dirty="0"/>
            </a:br>
            <a:r>
              <a:rPr lang="en-US" sz="5400" b="1" dirty="0"/>
              <a:t>least best answer</a:t>
            </a:r>
            <a:r>
              <a:rPr lang="en-US" sz="5400" dirty="0"/>
              <a:t>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15AF2CF-9F79-8E03-1BD7-7D84E85DDD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0750D-29AA-3044-AA49-65F102781B7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758527"/>
      </p:ext>
    </p:extLst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A18128-5C47-3B51-7668-DF4951A1ECDF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37625" y="491091"/>
            <a:ext cx="3798277" cy="1420837"/>
          </a:xfrm>
          <a:prstGeom prst="homePlate">
            <a:avLst/>
          </a:prstGeom>
          <a:solidFill>
            <a:schemeClr val="accent1"/>
          </a:solidFill>
          <a:ln w="12700" cap="flat" cmpd="sng" algn="ctr">
            <a:solidFill>
              <a:schemeClr val="accent1">
                <a:shade val="15000"/>
              </a:schemeClr>
            </a:solidFill>
            <a:prstDash val="solid"/>
            <a:miter lim="800000"/>
          </a:ln>
          <a:effectLst/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small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Alternatives to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small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On-Site Job Coaching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779B53-DE72-40FC-5007-D703E5AF7A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83725" y="633046"/>
            <a:ext cx="7430083" cy="4816878"/>
          </a:xfrm>
        </p:spPr>
        <p:txBody>
          <a:bodyPr/>
          <a:lstStyle/>
          <a:p>
            <a:pPr>
              <a:spcBef>
                <a:spcPts val="2200"/>
              </a:spcBef>
            </a:pPr>
            <a:r>
              <a:rPr lang="en-US" dirty="0"/>
              <a:t>Self-management techniques</a:t>
            </a:r>
          </a:p>
          <a:p>
            <a:pPr>
              <a:spcBef>
                <a:spcPts val="2200"/>
              </a:spcBef>
            </a:pPr>
            <a:r>
              <a:rPr lang="en-US" dirty="0"/>
              <a:t>Accommodations</a:t>
            </a:r>
          </a:p>
          <a:p>
            <a:pPr>
              <a:spcBef>
                <a:spcPts val="2200"/>
              </a:spcBef>
            </a:pPr>
            <a:r>
              <a:rPr lang="en-US" dirty="0"/>
              <a:t>Assistive technology, including</a:t>
            </a:r>
            <a:br>
              <a:rPr lang="en-US" dirty="0"/>
            </a:br>
            <a:r>
              <a:rPr lang="en-US" dirty="0"/>
              <a:t>self-management technology/apps</a:t>
            </a:r>
          </a:p>
          <a:p>
            <a:pPr>
              <a:spcBef>
                <a:spcPts val="2200"/>
              </a:spcBef>
            </a:pPr>
            <a:r>
              <a:rPr lang="en-US" dirty="0"/>
              <a:t>Natural supports</a:t>
            </a:r>
          </a:p>
          <a:p>
            <a:pPr>
              <a:spcBef>
                <a:spcPts val="2200"/>
              </a:spcBef>
            </a:pPr>
            <a:r>
              <a:rPr lang="en-US" dirty="0"/>
              <a:t>Remote job coaching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B7094FB-6CCC-06A3-6A87-17E45FEF11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7625" y="2776450"/>
            <a:ext cx="3608783" cy="2406467"/>
          </a:xfrm>
          <a:prstGeom prst="rect">
            <a:avLst/>
          </a:prstGeom>
        </p:spPr>
      </p:pic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35AA10A-7D67-4C1E-8BF9-B1D83D9E84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0750D-29AA-3044-AA49-65F102781B7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0697867"/>
      </p:ext>
    </p:extLst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E245E1-8916-114A-1C7F-9732480DBB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48780"/>
          </a:xfrm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/>
          <a:lstStyle/>
          <a:p>
            <a:pPr algn="ctr"/>
            <a:r>
              <a:rPr lang="en-US" b="1" cap="small" dirty="0"/>
              <a:t>Determining the need for staff supports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B27A15-27E2-C13A-D318-FC0B513269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Question # 1: </a:t>
            </a:r>
            <a:r>
              <a:rPr lang="en-US" dirty="0"/>
              <a:t>Does the individual require staff support on the job?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			</a:t>
            </a:r>
            <a:r>
              <a:rPr lang="en-US" sz="4000" b="1" dirty="0"/>
              <a:t>If the answer is </a:t>
            </a:r>
            <a:r>
              <a:rPr lang="en-US" sz="4000" b="1" dirty="0">
                <a:solidFill>
                  <a:srgbClr val="FF0000"/>
                </a:solidFill>
              </a:rPr>
              <a:t>YES</a:t>
            </a:r>
            <a:r>
              <a:rPr lang="en-US" sz="4000" b="1" dirty="0"/>
              <a:t>…</a:t>
            </a:r>
            <a:br>
              <a:rPr lang="en-US" sz="4000" b="1" dirty="0">
                <a:solidFill>
                  <a:srgbClr val="FF0000"/>
                </a:solidFill>
              </a:rPr>
            </a:br>
            <a:endParaRPr lang="en-US" sz="4000" b="1" dirty="0">
              <a:solidFill>
                <a:srgbClr val="FF0000"/>
              </a:solidFill>
            </a:endParaRPr>
          </a:p>
          <a:p>
            <a:r>
              <a:rPr lang="en-US" b="1" dirty="0"/>
              <a:t>Question # 2: </a:t>
            </a:r>
            <a:r>
              <a:rPr lang="en-US" dirty="0"/>
              <a:t>Does the support need to be in-person, or is remote support an option?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9A8064-81C3-E7E5-DD4D-4B7F43882B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0750D-29AA-3044-AA49-65F102781B7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7498830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6DEB08-903A-0249-8C36-B8F60B0978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cap="small" dirty="0"/>
              <a:t>Why remote job supports?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4A733C-F0D5-3942-BABB-E960EB5E7B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199" y="1690687"/>
            <a:ext cx="7175313" cy="3598765"/>
          </a:xfr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/>
          <a:lstStyle/>
          <a:p>
            <a:r>
              <a:rPr lang="en-US" dirty="0"/>
              <a:t>Does not require staff on-site</a:t>
            </a:r>
          </a:p>
          <a:p>
            <a:r>
              <a:rPr lang="en-US" dirty="0"/>
              <a:t>Less obtrusive</a:t>
            </a:r>
          </a:p>
          <a:p>
            <a:r>
              <a:rPr lang="en-US" dirty="0"/>
              <a:t>Encourages greater use of natural supports</a:t>
            </a:r>
          </a:p>
          <a:p>
            <a:r>
              <a:rPr lang="en-US" dirty="0"/>
              <a:t>More efficient use of resources</a:t>
            </a:r>
          </a:p>
          <a:p>
            <a:pPr lvl="1">
              <a:buFont typeface="Wingdings" pitchFamily="2" charset="2"/>
              <a:buChar char="Ø"/>
            </a:pPr>
            <a:r>
              <a:rPr lang="en-US" i="1" dirty="0"/>
              <a:t>Doesn’t require travel to job sites</a:t>
            </a:r>
          </a:p>
          <a:p>
            <a:r>
              <a:rPr lang="en-US" dirty="0"/>
              <a:t>Wider availability of job coaching</a:t>
            </a:r>
          </a:p>
          <a:p>
            <a:r>
              <a:rPr lang="en-US" dirty="0"/>
              <a:t>Can provide job coaching over long distances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9A8C2FF-13C5-6B4A-A925-5FC1074D33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194381" y="1290340"/>
            <a:ext cx="3340287" cy="3817471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D4A61F-D0D7-3757-4812-F8B3B03C21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0750D-29AA-3044-AA49-65F102781B7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2558674"/>
      </p:ext>
    </p:extLst>
  </p:cSld>
  <p:clrMapOvr>
    <a:masterClrMapping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05A052-C2FF-8FA3-6060-C962E0AB9C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81924" y="363999"/>
            <a:ext cx="8793480" cy="732155"/>
          </a:xfrm>
          <a:noFill/>
          <a:ln>
            <a:noFill/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/>
          <a:lstStyle/>
          <a:p>
            <a:pPr algn="ctr"/>
            <a:r>
              <a:rPr lang="en-US" b="1" cap="small" dirty="0">
                <a:solidFill>
                  <a:schemeClr val="tx1"/>
                </a:solidFill>
              </a:rPr>
              <a:t>of Remote Job Supports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119D23-7041-8757-BC85-4CB62272F7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7488" y="1480778"/>
            <a:ext cx="11037916" cy="3724268"/>
          </a:xfrm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/>
          <a:lstStyle/>
          <a:p>
            <a:pPr marL="514350" indent="-514350">
              <a:lnSpc>
                <a:spcPct val="100000"/>
              </a:lnSpc>
              <a:spcBef>
                <a:spcPts val="1600"/>
              </a:spcBef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</a:rPr>
              <a:t>Inability to observe all variables and nuances of workplace</a:t>
            </a:r>
          </a:p>
          <a:p>
            <a:pPr marL="514350" indent="-514350">
              <a:lnSpc>
                <a:spcPct val="100000"/>
              </a:lnSpc>
              <a:spcBef>
                <a:spcPts val="1600"/>
              </a:spcBef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</a:rPr>
              <a:t>Challenges in facilitating natural supports</a:t>
            </a:r>
          </a:p>
          <a:p>
            <a:pPr marL="514350" indent="-514350">
              <a:lnSpc>
                <a:spcPct val="100000"/>
              </a:lnSpc>
              <a:spcBef>
                <a:spcPts val="1600"/>
              </a:spcBef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</a:rPr>
              <a:t>Limits ability by job coach to build relationship with business</a:t>
            </a:r>
          </a:p>
          <a:p>
            <a:pPr marL="514350" indent="-514350">
              <a:lnSpc>
                <a:spcPct val="100000"/>
              </a:lnSpc>
              <a:spcBef>
                <a:spcPts val="1600"/>
              </a:spcBef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</a:rPr>
              <a:t>Limits ability to to build relationship with individual </a:t>
            </a:r>
          </a:p>
          <a:p>
            <a:pPr marL="514350" indent="-514350">
              <a:lnSpc>
                <a:spcPct val="100000"/>
              </a:lnSpc>
              <a:spcBef>
                <a:spcPts val="1600"/>
              </a:spcBef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</a:rPr>
              <a:t>Failure of technology</a:t>
            </a:r>
          </a:p>
          <a:p>
            <a:pPr marL="514350" indent="-514350">
              <a:lnSpc>
                <a:spcPct val="100000"/>
              </a:lnSpc>
              <a:spcBef>
                <a:spcPts val="1600"/>
              </a:spcBef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</a:rPr>
              <a:t>Other</a:t>
            </a:r>
          </a:p>
        </p:txBody>
      </p:sp>
      <p:pic>
        <p:nvPicPr>
          <p:cNvPr id="5" name="Picture 4" descr="Challenge">
            <a:extLst>
              <a:ext uri="{FF2B5EF4-FFF2-40B4-BE49-F238E27FC236}">
                <a16:creationId xmlns:a16="http://schemas.microsoft.com/office/drawing/2014/main" id="{E701E1D8-6704-3F75-F47C-6CB2872B706D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27938" y="-146917"/>
            <a:ext cx="3507971" cy="1753986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AFE338-ED5F-5421-D607-0507D6FBC4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0750D-29AA-3044-AA49-65F102781B7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2239220"/>
      </p:ext>
    </p:extLst>
  </p:cSld>
  <p:clrMapOvr>
    <a:masterClrMapping/>
  </p:clrMapOvr>
  <p:transition spd="slow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533717-7B42-6243-833B-CBF8C3D938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096" y="612895"/>
            <a:ext cx="5261385" cy="2816104"/>
          </a:xfrm>
          <a:effectLst>
            <a:glow rad="228600">
              <a:schemeClr val="accent3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anchor="ctr" anchorCtr="0"/>
          <a:lstStyle/>
          <a:p>
            <a:pPr algn="ctr"/>
            <a:r>
              <a:rPr lang="en-US" b="1" cap="small" dirty="0">
                <a:solidFill>
                  <a:schemeClr val="tx1"/>
                </a:solidFill>
              </a:rPr>
              <a:t>Not an</a:t>
            </a:r>
            <a:br>
              <a:rPr lang="en-US" b="1" cap="small" dirty="0">
                <a:solidFill>
                  <a:schemeClr val="tx1"/>
                </a:solidFill>
              </a:rPr>
            </a:br>
            <a:r>
              <a:rPr lang="en-US" b="1" cap="small" dirty="0">
                <a:solidFill>
                  <a:schemeClr val="tx1"/>
                </a:solidFill>
              </a:rPr>
              <a:t>“All or Nothing” Concept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1D26FB-464D-EF58-4E7F-96135FBF4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72520" y="2020948"/>
            <a:ext cx="4576482" cy="2816103"/>
          </a:xfrm>
        </p:spPr>
        <p:txBody>
          <a:bodyPr/>
          <a:lstStyle/>
          <a:p>
            <a:r>
              <a:rPr lang="en-US" sz="4000" dirty="0"/>
              <a:t>Remote supports can be used in combination with in-person supports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52017C-0F66-AF6F-7ECC-D5A5F1C6DB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0750D-29AA-3044-AA49-65F102781B78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3949526"/>
      </p:ext>
    </p:extLst>
  </p:cSld>
  <p:clrMapOvr>
    <a:masterClrMapping/>
  </p:clrMapOvr>
  <p:transition spd="slow"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FABDAF-A393-548A-41F2-DA17BA47E7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8066"/>
            <a:ext cx="10515600" cy="831908"/>
          </a:xfr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0"/>
          <a:lstStyle/>
          <a:p>
            <a:pPr algn="ctr"/>
            <a:r>
              <a:rPr lang="en-US" b="1" cap="small" dirty="0"/>
              <a:t>Methods for providing remote supports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451D84-6403-2B5D-67D6-E4F275A172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47183" y="1029974"/>
            <a:ext cx="4714702" cy="4351338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2800"/>
              </a:spcBef>
            </a:pPr>
            <a:r>
              <a:rPr lang="en-US" dirty="0"/>
              <a:t>Phone (voice)</a:t>
            </a:r>
          </a:p>
          <a:p>
            <a:pPr>
              <a:lnSpc>
                <a:spcPct val="100000"/>
              </a:lnSpc>
              <a:spcBef>
                <a:spcPts val="2800"/>
              </a:spcBef>
            </a:pPr>
            <a:r>
              <a:rPr lang="en-US" dirty="0"/>
              <a:t>Text</a:t>
            </a:r>
          </a:p>
          <a:p>
            <a:pPr>
              <a:lnSpc>
                <a:spcPct val="100000"/>
              </a:lnSpc>
              <a:spcBef>
                <a:spcPts val="2800"/>
              </a:spcBef>
            </a:pPr>
            <a:r>
              <a:rPr lang="en-US" dirty="0"/>
              <a:t>Video call (Facetime, Skype)</a:t>
            </a:r>
          </a:p>
          <a:p>
            <a:pPr>
              <a:lnSpc>
                <a:spcPct val="100000"/>
              </a:lnSpc>
              <a:spcBef>
                <a:spcPts val="2800"/>
              </a:spcBef>
            </a:pPr>
            <a:r>
              <a:rPr lang="en-US" dirty="0"/>
              <a:t>Email</a:t>
            </a:r>
          </a:p>
          <a:p>
            <a:pPr>
              <a:lnSpc>
                <a:spcPct val="100000"/>
              </a:lnSpc>
              <a:spcBef>
                <a:spcPts val="2800"/>
              </a:spcBef>
            </a:pPr>
            <a:r>
              <a:rPr lang="en-US" dirty="0"/>
              <a:t>Video meeting (Zoom, etc.)</a:t>
            </a:r>
          </a:p>
          <a:p>
            <a:pPr>
              <a:lnSpc>
                <a:spcPct val="100000"/>
              </a:lnSpc>
              <a:spcBef>
                <a:spcPts val="2800"/>
              </a:spcBef>
            </a:pPr>
            <a:r>
              <a:rPr lang="en-US" dirty="0"/>
              <a:t>Tele-presence robots</a:t>
            </a:r>
          </a:p>
          <a:p>
            <a:pPr>
              <a:spcBef>
                <a:spcPts val="2800"/>
              </a:spcBef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4738A1F-AF28-207C-A8BE-4F489C19C7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4529" y="1223632"/>
            <a:ext cx="1943793" cy="242974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D79E0A0-B305-1E94-9D73-6090913294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440832" y="2846246"/>
            <a:ext cx="1998985" cy="123716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C282636-CA0A-98AD-FFEB-0B397AA4B4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2299" y="3768658"/>
            <a:ext cx="1237163" cy="123716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D5A9E6F-7A4E-00BC-1556-B4A8BABDE2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594553" y="971615"/>
            <a:ext cx="1186629" cy="158217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517C82F-5D2B-7FEF-E095-DC7C9123E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9906716" y="1469728"/>
            <a:ext cx="1653771" cy="1833187"/>
          </a:xfrm>
          <a:prstGeom prst="rect">
            <a:avLst/>
          </a:prstGeom>
        </p:spPr>
      </p:pic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014B3997-C6F0-5964-F6AF-29865AA03A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0750D-29AA-3044-AA49-65F102781B78}" type="slidenum">
              <a:rPr lang="en-US" smtClean="0"/>
              <a:t>11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4FA8A91-5BBC-24BE-8B5F-5BAA6F000B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32629" t="15122" r="32135" b="13807"/>
          <a:stretch>
            <a:fillRect/>
          </a:stretch>
        </p:blipFill>
        <p:spPr>
          <a:xfrm>
            <a:off x="9544817" y="3863118"/>
            <a:ext cx="1466032" cy="1663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0230986"/>
      </p:ext>
    </p:extLst>
  </p:cSld>
  <p:clrMapOvr>
    <a:masterClrMapping/>
  </p:clrMapOvr>
  <p:transition spd="slow">
    <p:wip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CF23CA-0F81-8F74-9908-A3F888E63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7325" y="1259695"/>
            <a:ext cx="8574742" cy="2253410"/>
          </a:xfrm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/>
          <a:lstStyle/>
          <a:p>
            <a:pPr algn="ctr"/>
            <a:r>
              <a:rPr lang="en-US" cap="small" dirty="0"/>
              <a:t>Remote Supports</a:t>
            </a:r>
            <a:br>
              <a:rPr lang="en-US" cap="small" dirty="0"/>
            </a:br>
            <a:br>
              <a:rPr lang="en-US" dirty="0"/>
            </a:br>
            <a:r>
              <a:rPr lang="en-US" i="1" dirty="0"/>
              <a:t>Getting beyond check-ins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29C4241-6EC2-DCDA-2F52-FFE79E9FA7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0750D-29AA-3044-AA49-65F102781B78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9307747"/>
      </p:ext>
    </p:extLst>
  </p:cSld>
  <p:clrMapOvr>
    <a:masterClrMapping/>
  </p:clrMapOvr>
  <p:transition spd="slow">
    <p:wip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07590E-676A-3531-1660-A00BF21AF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2317" y="304078"/>
            <a:ext cx="3085407" cy="2089987"/>
          </a:xfrm>
        </p:spPr>
        <p:txBody>
          <a:bodyPr/>
          <a:lstStyle/>
          <a:p>
            <a:r>
              <a:rPr lang="en-US" b="1" dirty="0"/>
              <a:t>What can remote support be used for?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8E9776-55E0-BA0F-5CBF-6DD8A3C6F4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1685" y="1626119"/>
            <a:ext cx="6493624" cy="3610899"/>
          </a:xfrm>
          <a:solidFill>
            <a:srgbClr val="C00000"/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/>
          <a:lstStyle/>
          <a:p>
            <a:r>
              <a:rPr lang="en-US" sz="3200" dirty="0"/>
              <a:t>Check-in </a:t>
            </a:r>
          </a:p>
          <a:p>
            <a:r>
              <a:rPr lang="en-US" sz="3200" dirty="0"/>
              <a:t>Video observation</a:t>
            </a:r>
          </a:p>
          <a:p>
            <a:r>
              <a:rPr lang="en-US" sz="3200" dirty="0"/>
              <a:t>Instruction</a:t>
            </a:r>
          </a:p>
          <a:p>
            <a:r>
              <a:rPr lang="en-US" sz="3200" dirty="0"/>
              <a:t>Questions initiated by individual</a:t>
            </a:r>
          </a:p>
          <a:p>
            <a:r>
              <a:rPr lang="en-US" sz="3200" dirty="0"/>
              <a:t>Need for support/crisis intervention</a:t>
            </a:r>
          </a:p>
          <a:p>
            <a:r>
              <a:rPr lang="en-US" sz="3200" dirty="0"/>
              <a:t>Other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4F2C2C-7865-4CD1-7E5E-066EB555FB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0750D-29AA-3044-AA49-65F102781B78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5224998"/>
      </p:ext>
    </p:extLst>
  </p:cSld>
  <p:clrMapOvr>
    <a:masterClrMapping/>
  </p:clrMapOvr>
  <p:transition spd="slow">
    <p:wip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E2CA7-2B53-F3D1-6354-72AE0A41C4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7796" y="-1412241"/>
            <a:ext cx="4221480" cy="732155"/>
          </a:xfrm>
          <a:noFill/>
          <a:ln>
            <a:noFill/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/>
          <a:lstStyle/>
          <a:p>
            <a:pPr algn="ctr"/>
            <a:r>
              <a:rPr lang="en-US" dirty="0"/>
              <a:t>Let’s Discuss</a:t>
            </a:r>
          </a:p>
        </p:txBody>
      </p:sp>
      <p:pic>
        <p:nvPicPr>
          <p:cNvPr id="5" name="Picture 4" descr="Let’s Discuss">
            <a:extLst>
              <a:ext uri="{FF2B5EF4-FFF2-40B4-BE49-F238E27FC236}">
                <a16:creationId xmlns:a16="http://schemas.microsoft.com/office/drawing/2014/main" id="{1A53D585-0194-CBF9-13E1-1470B67B7569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93750" y="405807"/>
            <a:ext cx="3695700" cy="270417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9E1207-A37B-95E6-C529-9FE81BB302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01734" y="2333625"/>
            <a:ext cx="5867400" cy="3609975"/>
          </a:xfrm>
        </p:spPr>
        <p:txBody>
          <a:bodyPr/>
          <a:lstStyle/>
          <a:p>
            <a:r>
              <a:rPr lang="en-US" sz="3600" dirty="0"/>
              <a:t>What factors should be considered in provision of remote job supports?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37A87D-A2CF-6FA6-96DA-56259F7D7B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0750D-29AA-3044-AA49-65F102781B78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5465790"/>
      </p:ext>
    </p:extLst>
  </p:cSld>
  <p:clrMapOvr>
    <a:masterClrMapping/>
  </p:clrMapOvr>
  <p:transition spd="slow">
    <p:wip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5211D2-6065-8D47-4059-E2D2908C52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762" y="328161"/>
            <a:ext cx="5764238" cy="2096721"/>
          </a:xfrm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/>
          <a:lstStyle/>
          <a:p>
            <a:r>
              <a:rPr lang="en-US" b="1" cap="small" dirty="0"/>
              <a:t>Starting Point:</a:t>
            </a:r>
            <a:br>
              <a:rPr lang="en-US" cap="small" dirty="0"/>
            </a:br>
            <a:r>
              <a:rPr lang="en-US" i="1" cap="small" dirty="0"/>
              <a:t>Individual’s choice and preferences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38294D-F6E9-B380-0E9C-986E2452B6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0966" y="1378634"/>
            <a:ext cx="4502834" cy="2729132"/>
          </a:xfrm>
        </p:spPr>
        <p:txBody>
          <a:bodyPr/>
          <a:lstStyle/>
          <a:p>
            <a:r>
              <a:rPr lang="en-US" sz="3200" dirty="0"/>
              <a:t>Comfort level with remote supports</a:t>
            </a:r>
            <a:br>
              <a:rPr lang="en-US" sz="3200" dirty="0"/>
            </a:br>
            <a:endParaRPr lang="en-US" sz="3200" dirty="0"/>
          </a:p>
          <a:p>
            <a:r>
              <a:rPr lang="en-US" sz="3200" dirty="0"/>
              <a:t>Skills and capacity in using technology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58E5375-9D63-D4BB-43A6-23A1D2CBAD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0714" y="2743200"/>
            <a:ext cx="4106333" cy="2738279"/>
          </a:xfrm>
          <a:prstGeom prst="rect">
            <a:avLst/>
          </a:prstGeom>
        </p:spPr>
      </p:pic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C4A5775F-1FCA-0D6B-7DC0-AE06A385CC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0750D-29AA-3044-AA49-65F102781B78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6975966"/>
      </p:ext>
    </p:extLst>
  </p:cSld>
  <p:clrMapOvr>
    <a:masterClrMapping/>
  </p:clrMapOvr>
  <p:transition spd="slow">
    <p:wip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95B4C3-1F68-3DE0-84D8-13C1FA2B37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516" y="136525"/>
            <a:ext cx="9422264" cy="703385"/>
          </a:xfr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/>
          <a:lstStyle/>
          <a:p>
            <a:pPr algn="ctr"/>
            <a:r>
              <a:rPr lang="en-US" b="1" cap="small" dirty="0"/>
              <a:t>Remote Supports: A Step-by-Step Process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1BE133-DB31-E38E-5D2E-DF05DD010C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5577" y="919873"/>
            <a:ext cx="10678551" cy="4351338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sz="2000" dirty="0"/>
              <a:t>What types of support does individual need?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What are skills, abilities, preferences of individual regarding remote supports?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Identify technology options.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If remote job coaching makes sense: discuss with individual and employer.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Get permission of guardian, if required.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Develop plan for remote supports: when, how.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Work with employer and individual on details for implementation, including training.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Pilot test.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Develop check-in schedule with individual.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Set parameters regarding individual contacting job coach as needed.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Implement.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After implementation, evaluate and make modifications as necessary.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E087596-83B0-D40E-86B6-278F8FEDA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03108" y="166256"/>
            <a:ext cx="2488892" cy="2177780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9EA0EC-3273-BCDE-646D-35A2BE0196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0750D-29AA-3044-AA49-65F102781B78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2190805"/>
      </p:ext>
    </p:extLst>
  </p:cSld>
  <p:clrMapOvr>
    <a:masterClrMapping/>
  </p:clrMapOvr>
  <p:transition spd="slow">
    <p:wip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004BB6AE-522C-5640-862A-62551747BFEB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77703" y="674972"/>
            <a:ext cx="3507827" cy="1753773"/>
          </a:xfrm>
          <a:prstGeom prst="homePlate">
            <a:avLst/>
          </a:prstGeom>
          <a:solidFill>
            <a:schemeClr val="accent1"/>
          </a:solidFill>
          <a:ln w="12700" cap="flat" cmpd="sng" algn="ctr">
            <a:solidFill>
              <a:schemeClr val="accent1">
                <a:shade val="50000"/>
              </a:schemeClr>
            </a:solidFill>
            <a:prstDash val="solid"/>
            <a:miter lim="800000"/>
          </a:ln>
          <a:effectLst/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Considerations in remote job supports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B29D70E-3AF1-5A45-AC84-84F9896AB5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07809" y="2711377"/>
            <a:ext cx="2634316" cy="3010647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9C14A3-2BEA-3A43-88DF-789A2D4B07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998720" y="701622"/>
            <a:ext cx="5572462" cy="5279629"/>
          </a:xfrm>
        </p:spPr>
        <p:txBody>
          <a:bodyPr/>
          <a:lstStyle/>
          <a:p>
            <a:pPr marL="457200" indent="-365760">
              <a:spcBef>
                <a:spcPts val="2440"/>
              </a:spcBef>
              <a:buSzPct val="100000"/>
              <a:buFont typeface="Wingdings" pitchFamily="2" charset="2"/>
              <a:buChar char="ü"/>
            </a:pPr>
            <a:r>
              <a:rPr lang="en-US" sz="2400" dirty="0"/>
              <a:t>Consider mix of methods (video calls, video observation, text, email, etc.).</a:t>
            </a:r>
          </a:p>
          <a:p>
            <a:pPr marL="457200" indent="-365760">
              <a:spcBef>
                <a:spcPts val="2440"/>
              </a:spcBef>
              <a:buSzPct val="100000"/>
              <a:buFont typeface="Wingdings" pitchFamily="2" charset="2"/>
              <a:buChar char="ü"/>
            </a:pPr>
            <a:r>
              <a:rPr lang="en-US" sz="2400" dirty="0"/>
              <a:t>Consider mix of in-person and remote supports.</a:t>
            </a:r>
          </a:p>
          <a:p>
            <a:pPr marL="457200" indent="-365760">
              <a:spcBef>
                <a:spcPts val="2440"/>
              </a:spcBef>
              <a:buSzPct val="100000"/>
              <a:buFont typeface="Wingdings" pitchFamily="2" charset="2"/>
              <a:buChar char="ü"/>
            </a:pPr>
            <a:r>
              <a:rPr lang="en-US" sz="2400" dirty="0"/>
              <a:t>Have remote job supports as an option in all support plans.</a:t>
            </a:r>
          </a:p>
          <a:p>
            <a:pPr marL="457200" indent="-365760">
              <a:spcBef>
                <a:spcPts val="2440"/>
              </a:spcBef>
              <a:buSzPct val="100000"/>
              <a:buFont typeface="Wingdings" pitchFamily="2" charset="2"/>
              <a:buChar char="ü"/>
            </a:pPr>
            <a:r>
              <a:rPr lang="en-US" sz="2400" dirty="0"/>
              <a:t>Standard job coaching/job support best practices apply.</a:t>
            </a:r>
          </a:p>
          <a:p>
            <a:endParaRPr lang="en-US" sz="24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F01D19B-51CB-D870-56CD-1B5CDE3F81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0750D-29AA-3044-AA49-65F102781B78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7724038"/>
      </p:ext>
    </p:extLst>
  </p:cSld>
  <p:clrMapOvr>
    <a:masterClrMapping/>
  </p:clrMapOvr>
  <p:transition spd="slow">
    <p:wip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hoosing Technology">
            <a:extLst>
              <a:ext uri="{FF2B5EF4-FFF2-40B4-BE49-F238E27FC236}">
                <a16:creationId xmlns:a16="http://schemas.microsoft.com/office/drawing/2014/main" id="{F1555E53-461C-6D49-B22A-8343CE431FB4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90880" y="487533"/>
            <a:ext cx="3921955" cy="2941467"/>
          </a:xfrm>
          <a:prstGeom prst="rect">
            <a:avLst/>
          </a:prstGeo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FB8AFCD4-C182-6941-9537-4FC67649949F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1253197" y="930964"/>
            <a:ext cx="2263726" cy="954107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  <a:cs typeface="Arial Narrow" panose="020B0604020202020204" pitchFamily="34" charset="0"/>
              </a:rPr>
              <a:t>Choosing Technology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9999D1-D025-D14D-A762-2A175D8A4F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01139" y="342900"/>
            <a:ext cx="6643858" cy="5562600"/>
          </a:xfrm>
        </p:spPr>
        <p:txBody>
          <a:bodyPr/>
          <a:lstStyle/>
          <a:p>
            <a:pPr marL="365438" indent="-365438">
              <a:spcBef>
                <a:spcPts val="1800"/>
              </a:spcBef>
              <a:buFont typeface="Wingdings" pitchFamily="2" charset="2"/>
              <a:buChar char="ü"/>
            </a:pPr>
            <a:r>
              <a:rPr lang="en-US" b="1" dirty="0"/>
              <a:t>A</a:t>
            </a:r>
            <a:r>
              <a:rPr lang="en-US" sz="2400" b="1" dirty="0"/>
              <a:t>vailability</a:t>
            </a:r>
            <a:r>
              <a:rPr lang="en-US" sz="2400" dirty="0"/>
              <a:t> of technology for both staff and individual</a:t>
            </a:r>
          </a:p>
          <a:p>
            <a:pPr marL="365438" indent="-365438">
              <a:spcBef>
                <a:spcPts val="1800"/>
              </a:spcBef>
              <a:buFont typeface="Wingdings" pitchFamily="2" charset="2"/>
              <a:buChar char="ü"/>
            </a:pPr>
            <a:r>
              <a:rPr lang="en-US" b="1" dirty="0"/>
              <a:t>F</a:t>
            </a:r>
            <a:r>
              <a:rPr lang="en-US" sz="2400" b="1" dirty="0"/>
              <a:t>eatures</a:t>
            </a:r>
            <a:r>
              <a:rPr lang="en-US" sz="2400" dirty="0"/>
              <a:t> of technology for service delivery</a:t>
            </a:r>
          </a:p>
          <a:p>
            <a:pPr marL="365438" indent="-365438">
              <a:spcBef>
                <a:spcPts val="1800"/>
              </a:spcBef>
              <a:buFont typeface="Wingdings" pitchFamily="2" charset="2"/>
              <a:buChar char="ü"/>
            </a:pPr>
            <a:r>
              <a:rPr lang="en-US" b="1" dirty="0"/>
              <a:t>S</a:t>
            </a:r>
            <a:r>
              <a:rPr lang="en-US" sz="2400" b="1" dirty="0"/>
              <a:t>kill and capacity </a:t>
            </a:r>
            <a:r>
              <a:rPr lang="en-US" sz="2400" dirty="0"/>
              <a:t>of staff and individual in using technology</a:t>
            </a:r>
          </a:p>
          <a:p>
            <a:pPr marL="365438" indent="-365438">
              <a:spcBef>
                <a:spcPts val="1800"/>
              </a:spcBef>
              <a:buFont typeface="Wingdings" pitchFamily="2" charset="2"/>
              <a:buChar char="ü"/>
            </a:pPr>
            <a:r>
              <a:rPr lang="en-US" b="1" dirty="0"/>
              <a:t>C</a:t>
            </a:r>
            <a:r>
              <a:rPr lang="en-US" sz="2400" b="1" dirty="0"/>
              <a:t>ost </a:t>
            </a:r>
            <a:r>
              <a:rPr lang="en-US" sz="2400" dirty="0"/>
              <a:t>of technology</a:t>
            </a:r>
          </a:p>
          <a:p>
            <a:pPr marL="365438" indent="-365438">
              <a:spcBef>
                <a:spcPts val="1800"/>
              </a:spcBef>
              <a:buFont typeface="Wingdings" pitchFamily="2" charset="2"/>
              <a:buChar char="ü"/>
            </a:pPr>
            <a:r>
              <a:rPr lang="en-US" b="1" dirty="0"/>
              <a:t>S</a:t>
            </a:r>
            <a:r>
              <a:rPr lang="en-US" sz="2400" b="1" dirty="0"/>
              <a:t>ecurity</a:t>
            </a:r>
            <a:r>
              <a:rPr lang="en-US" sz="2400" dirty="0"/>
              <a:t> of technology</a:t>
            </a:r>
          </a:p>
          <a:p>
            <a:pPr marL="365438" indent="-365438">
              <a:spcBef>
                <a:spcPts val="1800"/>
              </a:spcBef>
              <a:buFont typeface="Wingdings" pitchFamily="2" charset="2"/>
              <a:buChar char="ü"/>
            </a:pPr>
            <a:r>
              <a:rPr lang="en-US" b="1" dirty="0"/>
              <a:t>A</a:t>
            </a:r>
            <a:r>
              <a:rPr lang="en-US" sz="2400" b="1" dirty="0"/>
              <a:t>ccessibility</a:t>
            </a:r>
            <a:r>
              <a:rPr lang="en-US" sz="2400" dirty="0"/>
              <a:t> of technology specific to accessibility needs of users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A4029DA-3730-BF34-FF36-AE08AD1F7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0750D-29AA-3044-AA49-65F102781B78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067800"/>
      </p:ext>
    </p:extLst>
  </p:cSld>
  <p:clrMapOvr>
    <a:masterClrMapping/>
  </p:clrMapOvr>
  <p:transition spd="slow">
    <p:wip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50F0E0-94E0-449D-C55F-DDC5FE8189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137" y="-9841"/>
            <a:ext cx="11515726" cy="702509"/>
          </a:xfrm>
        </p:spPr>
        <p:txBody>
          <a:bodyPr/>
          <a:lstStyle/>
          <a:p>
            <a:r>
              <a:rPr lang="en-US" b="1" cap="small" dirty="0"/>
              <a:t>Guidelines on Remote Supports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5B40164-DB7C-0C78-9FCE-8CB0430D4B8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28636" y="532578"/>
            <a:ext cx="11387139" cy="51860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rgbClr val="212121"/>
                </a:solidFill>
                <a:effectLst/>
                <a:latin typeface="+mn-lt"/>
              </a:rPr>
              <a:t>Need full consent of the individual and/or guardian to participate.</a:t>
            </a: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rgbClr val="212121"/>
                </a:solidFill>
                <a:effectLst/>
                <a:latin typeface="+mn-lt"/>
              </a:rPr>
              <a:t>Individuals will use their own equipment or equipment provided by the provider.  </a:t>
            </a: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rgbClr val="212121"/>
                </a:solidFill>
                <a:effectLst/>
                <a:latin typeface="+mn-lt"/>
              </a:rPr>
              <a:t>Individual has full control of the device and can turn it off or end services anytime they wish.</a:t>
            </a: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rgbClr val="212121"/>
                </a:solidFill>
                <a:effectLst/>
                <a:latin typeface="+mn-lt"/>
              </a:rPr>
              <a:t>Providers have to use HIPAA compliant platforms.</a:t>
            </a: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rgbClr val="212121"/>
                </a:solidFill>
                <a:effectLst/>
                <a:latin typeface="+mn-lt"/>
              </a:rPr>
              <a:t>Any video/web cameras should not record audio or video feed of the individual.</a:t>
            </a: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rgbClr val="212121"/>
                </a:solidFill>
                <a:effectLst/>
                <a:latin typeface="+mn-lt"/>
              </a:rPr>
              <a:t>There must always be an option for in-person services for those who require it or choose it. </a:t>
            </a: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rgbClr val="212121"/>
                </a:solidFill>
                <a:effectLst/>
                <a:latin typeface="+mn-lt"/>
              </a:rPr>
              <a:t>Providers must develop and maintain policies on virtual delivery of services and train staff on those policies.</a:t>
            </a: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rgbClr val="212121"/>
                </a:solidFill>
                <a:effectLst/>
                <a:latin typeface="+mn-lt"/>
              </a:rPr>
              <a:t>Can’ t be used for the providers convenience and cannot restrict, prohibit, or limit access to the community.</a:t>
            </a: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rgbClr val="212121"/>
                </a:solidFill>
                <a:effectLst/>
                <a:latin typeface="+mn-lt"/>
              </a:rPr>
              <a:t>Must be used to support an individual in achieving goals and outcomes identified in their Person-Centered Service Plan.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lang="en-US" altLang="en-US" sz="2200" dirty="0">
                <a:solidFill>
                  <a:srgbClr val="212121"/>
                </a:solidFill>
                <a:latin typeface="+mn-lt"/>
              </a:rPr>
              <a:t>Need to have a back-up plan if technology fails. </a:t>
            </a: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pic>
        <p:nvPicPr>
          <p:cNvPr id="3" name="Picture 2" descr="Division of Developmental Disabilities">
            <a:extLst>
              <a:ext uri="{FF2B5EF4-FFF2-40B4-BE49-F238E27FC236}">
                <a16:creationId xmlns:a16="http://schemas.microsoft.com/office/drawing/2014/main" id="{055E04CA-408D-6333-62C3-E407D9E0B904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02438" y="196158"/>
            <a:ext cx="1613337" cy="1294337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92C2E7-011D-CD59-F0CD-B407E36BF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0750D-29AA-3044-AA49-65F102781B78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2513320"/>
      </p:ext>
    </p:extLst>
  </p:cSld>
  <p:clrMapOvr>
    <a:masterClrMapping/>
  </p:clrMapOvr>
  <p:transition spd="slow">
    <p:wip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088FE2-06A9-A68C-41DC-FD2485391F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2347" y="135572"/>
            <a:ext cx="9614096" cy="732155"/>
          </a:xfrm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 algn="ctr"/>
            <a:r>
              <a:rPr lang="en-US" b="1" cap="small" dirty="0"/>
              <a:t>Agency Policies for Remote Supports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F1A771-4ECF-1989-3DD7-7413A23A31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7661" y="1126721"/>
            <a:ext cx="10515600" cy="4351338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sz="2400" dirty="0"/>
              <a:t>Planning process and documentation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/>
              <a:t>Technology platforms to be used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/>
              <a:t>Security and maintaining confidentiality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/>
              <a:t>Parameters for remote job coaching – when it can/can’t be used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/>
              <a:t>Abiding by funding agency policies for remote supports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/>
              <a:t>Working with individuals and businesses on remote support – permission and making arrangements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/>
              <a:t>Requirements for notification of case managers, guardians, families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/>
              <a:t>Technology back-up plans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/>
              <a:t>Staff training requirements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71AA17C-A48E-DC18-4976-2F9C09BE6D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0136869" y="677334"/>
            <a:ext cx="1832784" cy="1947333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96A8A8-1D51-5FA7-68F2-BA3FF47728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D70750D-29AA-3044-AA49-65F102781B78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81781664"/>
      </p:ext>
    </p:extLst>
  </p:cSld>
  <p:clrMapOvr>
    <a:masterClrMapping/>
  </p:clrMapOvr>
  <p:transition spd="slow">
    <p:wip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3E0BB17-2B7C-4E99-B019-D5CA142D04A6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38200" y="-1325563"/>
            <a:ext cx="10515600" cy="1325563"/>
          </a:xfrm>
          <a:prstGeom prst="rect">
            <a:avLst/>
          </a:prstGeom>
        </p:spPr>
        <p:txBody>
          <a:bodyPr anchor="b"/>
          <a:lstStyle/>
          <a:p>
            <a:r>
              <a:rPr lang="en-US" dirty="0"/>
              <a:t>This is new &amp; we’re all learning</a:t>
            </a:r>
          </a:p>
        </p:txBody>
      </p:sp>
      <p:pic>
        <p:nvPicPr>
          <p:cNvPr id="5" name="Picture 4" descr="Robot holding sign: This is new and we’re all learning">
            <a:extLst>
              <a:ext uri="{FF2B5EF4-FFF2-40B4-BE49-F238E27FC236}">
                <a16:creationId xmlns:a16="http://schemas.microsoft.com/office/drawing/2014/main" id="{5B7B3A62-5A48-6E48-888D-E035F5A3E5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4299" y="0"/>
            <a:ext cx="7525675" cy="5885078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F84E5D8-0873-F12E-C646-72D7537D7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0750D-29AA-3044-AA49-65F102781B78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02785"/>
      </p:ext>
    </p:extLst>
  </p:cSld>
  <p:clrMapOvr>
    <a:masterClrMapping/>
  </p:clrMapOvr>
  <p:transition spd="slow">
    <p:wip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A6943D-D7E5-966B-61C1-19FF9DFDA8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2935" y="697635"/>
            <a:ext cx="4149436" cy="715530"/>
          </a:xfrm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/>
          <a:lstStyle/>
          <a:p>
            <a:pPr algn="ctr"/>
            <a:r>
              <a:rPr lang="en-US" cap="small" dirty="0"/>
              <a:t>Handout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A9D516-1FBD-25C1-7D6D-1B635B807D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299065" cy="3120447"/>
          </a:xfrm>
        </p:spPr>
        <p:txBody>
          <a:bodyPr/>
          <a:lstStyle/>
          <a:p>
            <a:r>
              <a:rPr lang="en-US" sz="4400" dirty="0"/>
              <a:t>Using Technology to Job Coach Remotely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9392CF0-BC7B-AA55-C9C6-AC28DDE0BF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7120" y="216130"/>
            <a:ext cx="4223747" cy="5466025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73C4E7-2D51-3659-4725-C0952C2F3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0750D-29AA-3044-AA49-65F102781B78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6921363"/>
      </p:ext>
    </p:extLst>
  </p:cSld>
  <p:clrMapOvr>
    <a:masterClrMapping/>
  </p:clrMapOvr>
  <p:transition spd="slow">
    <p:wip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99EEB87-AEEE-920B-D264-25DCD52FC2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3400" dirty="0">
                <a:solidFill>
                  <a:srgbClr val="FFFFFF"/>
                </a:solidFill>
              </a:rPr>
              <a:t>Employment First Missouri</a:t>
            </a:r>
            <a:br>
              <a:rPr lang="en-US" sz="3400" dirty="0">
                <a:solidFill>
                  <a:srgbClr val="FFFFFF"/>
                </a:solidFill>
              </a:rPr>
            </a:br>
            <a:r>
              <a:rPr lang="en-US" sz="3400" dirty="0">
                <a:solidFill>
                  <a:srgbClr val="FFFFFF"/>
                </a:solidFill>
              </a:rPr>
              <a:t>Contact Information</a:t>
            </a:r>
          </a:p>
        </p:txBody>
      </p:sp>
      <p:pic>
        <p:nvPicPr>
          <p:cNvPr id="4" name="Shape 85" descr="Employment First Missouri">
            <a:extLst>
              <a:ext uri="{FF2B5EF4-FFF2-40B4-BE49-F238E27FC236}">
                <a16:creationId xmlns:a16="http://schemas.microsoft.com/office/drawing/2014/main" id="{2F10A76E-6C77-BA90-C8CD-1AC08839FC62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302402" y="406672"/>
            <a:ext cx="2607117" cy="243214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657A83-556C-1397-AA1D-7A45B87294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1809135"/>
            <a:ext cx="9724031" cy="4192420"/>
          </a:xfrm>
        </p:spPr>
        <p:txBody>
          <a:bodyPr anchor="ctr">
            <a:normAutofit/>
          </a:bodyPr>
          <a:lstStyle/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DAVID HOFF, Project Direct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or –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David.Hoff@umb.edu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b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rtl="0" fontAlgn="base"/>
            <a:r>
              <a:rPr lang="en-US" sz="2000" b="1" i="0" cap="all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NICK HOLZ</a:t>
            </a:r>
            <a:r>
              <a:rPr lang="en-US" sz="2000" b="1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Training Associate</a:t>
            </a:r>
            <a:r>
              <a:rPr lang="en-US" sz="20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- </a:t>
            </a:r>
            <a:r>
              <a:rPr lang="en-US" sz="2000" b="0" i="0" u="none" strike="noStrike" dirty="0">
                <a:effectLst/>
                <a:latin typeface="Arial" panose="020B0604020202020204" pitchFamily="34" charset="0"/>
                <a:cs typeface="Arial" panose="020B0604020202020204" pitchFamily="34" charset="0"/>
                <a:hlinkClick r:id="rId4"/>
              </a:rPr>
              <a:t>Nicholas.Holz@umb.edu</a:t>
            </a:r>
            <a:r>
              <a:rPr lang="en-US" sz="20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</a:p>
          <a:p>
            <a:pPr marL="0" indent="0" rtl="0" fontAlgn="base">
              <a:buNone/>
            </a:pPr>
            <a:r>
              <a:rPr lang="en-US" sz="2000" b="0" i="1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Albany, Kansas City, Springfield, Joplin regions</a:t>
            </a:r>
            <a:r>
              <a:rPr lang="en-US" sz="20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br>
              <a:rPr lang="en-US" sz="20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2000" b="0" i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rtl="0" fontAlgn="base"/>
            <a:r>
              <a:rPr lang="en-US" sz="20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en-US" sz="2000" b="1" i="0" cap="all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JESSI KEENOY</a:t>
            </a:r>
            <a:r>
              <a:rPr lang="en-US" sz="2000" b="1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Training Associate</a:t>
            </a:r>
            <a:r>
              <a:rPr lang="en-US" sz="20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- </a:t>
            </a:r>
            <a:r>
              <a:rPr lang="en-US" sz="2000" b="0" i="0" u="none" strike="noStrike" dirty="0">
                <a:effectLst/>
                <a:latin typeface="Arial" panose="020B0604020202020204" pitchFamily="34" charset="0"/>
                <a:cs typeface="Arial" panose="020B0604020202020204" pitchFamily="34" charset="0"/>
                <a:hlinkClick r:id="rId5"/>
              </a:rPr>
              <a:t>Jessica.Keenoy@umb.edu</a:t>
            </a:r>
            <a:r>
              <a:rPr lang="en-US" sz="20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</a:p>
          <a:p>
            <a:pPr marL="0" indent="0" rtl="0" fontAlgn="base">
              <a:buNone/>
            </a:pPr>
            <a:r>
              <a:rPr lang="en-US" sz="2000" b="0" i="1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Hannibal, Kirksville, Rolla, Central Missouri regions</a:t>
            </a:r>
            <a:r>
              <a:rPr lang="en-US" sz="20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br>
              <a:rPr lang="en-US" sz="20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2000" b="0" i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fontAlgn="base"/>
            <a:r>
              <a:rPr lang="en-US" sz="2000" b="1" i="0" cap="all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LESLIE QUARLES</a:t>
            </a:r>
            <a:r>
              <a:rPr lang="en-US" sz="2000" b="1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Training Associate</a:t>
            </a:r>
            <a:r>
              <a:rPr lang="en-US" sz="20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– </a:t>
            </a:r>
            <a:r>
              <a:rPr lang="en-US" sz="2000" b="0" i="0" u="none" strike="noStrike" dirty="0">
                <a:effectLst/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Leslie.Quarles@umb.edu</a:t>
            </a:r>
            <a:r>
              <a:rPr lang="en-US" sz="20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</a:p>
          <a:p>
            <a:pPr marL="0" indent="0" rtl="0" fontAlgn="base">
              <a:buNone/>
            </a:pPr>
            <a:r>
              <a:rPr lang="en-US" sz="2000" b="0" i="1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St. Louis Regional, Sikeston, Poplar Bluff regions</a:t>
            </a:r>
            <a:r>
              <a:rPr lang="en-US" sz="20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DF1983C-3C49-EEBB-D057-3BA2ACDF5B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52F78A-DC1D-43B2-AA64-C0B49AF253A3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855340"/>
      </p:ext>
    </p:extLst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3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2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6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66D3A693-EE92-455A-B8A7-3A5E88C80704}">
  <we:reference id="wa104051163" version="1.2.0.3" store="en-US" storeType="OMEX"/>
  <we:alternateReferences>
    <we:reference id="WA104051163" version="1.2.0.3" store="" storeType="OMEX"/>
  </we:alternateReferences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57D6FDAA1379145BEE58AA9A94DB2BE" ma:contentTypeVersion="16" ma:contentTypeDescription="Create a new document." ma:contentTypeScope="" ma:versionID="fe18b300cc8b2adaad953e901074ecab">
  <xsd:schema xmlns:xsd="http://www.w3.org/2001/XMLSchema" xmlns:xs="http://www.w3.org/2001/XMLSchema" xmlns:p="http://schemas.microsoft.com/office/2006/metadata/properties" xmlns:ns2="fd13cf6f-d993-4c4a-bfe4-26999fdc6ea5" xmlns:ns3="e5447e23-d43c-4826-b7c1-2149e69487bf" targetNamespace="http://schemas.microsoft.com/office/2006/metadata/properties" ma:root="true" ma:fieldsID="9a946e3d05e0ccba1c570bd89378039c" ns2:_="" ns3:_="">
    <xsd:import namespace="fd13cf6f-d993-4c4a-bfe4-26999fdc6ea5"/>
    <xsd:import namespace="e5447e23-d43c-4826-b7c1-2149e69487b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AutoKeyPoints" minOccurs="0"/>
                <xsd:element ref="ns2:MediaServiceKeyPoints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d13cf6f-d993-4c4a-bfe4-26999fdc6e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abb1ab42-7277-4699-bffd-c4f8fd762ea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ObjectDetectorVersions" ma:index="2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5447e23-d43c-4826-b7c1-2149e69487bf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13a3e3cc-873d-4337-9c34-2ca5923db30d}" ma:internalName="TaxCatchAll" ma:showField="CatchAllData" ma:web="e5447e23-d43c-4826-b7c1-2149e69487b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d13cf6f-d993-4c4a-bfe4-26999fdc6ea5">
      <Terms xmlns="http://schemas.microsoft.com/office/infopath/2007/PartnerControls"/>
    </lcf76f155ced4ddcb4097134ff3c332f>
    <TaxCatchAll xmlns="e5447e23-d43c-4826-b7c1-2149e69487bf" xsi:nil="true"/>
  </documentManagement>
</p:properties>
</file>

<file path=customXml/itemProps1.xml><?xml version="1.0" encoding="utf-8"?>
<ds:datastoreItem xmlns:ds="http://schemas.openxmlformats.org/officeDocument/2006/customXml" ds:itemID="{B781DE3E-BCC2-4651-98CA-BD83FD0BAE4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d13cf6f-d993-4c4a-bfe4-26999fdc6ea5"/>
    <ds:schemaRef ds:uri="e5447e23-d43c-4826-b7c1-2149e69487b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0085D982-A2CD-4C19-B8EB-3C3EB7DD12C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481F117-7255-4032-8D23-AB799407168B}">
  <ds:schemaRefs>
    <ds:schemaRef ds:uri="http://schemas.microsoft.com/office/2006/metadata/properties"/>
    <ds:schemaRef ds:uri="http://schemas.microsoft.com/office/infopath/2007/PartnerControls"/>
    <ds:schemaRef ds:uri="fd13cf6f-d993-4c4a-bfe4-26999fdc6ea5"/>
    <ds:schemaRef ds:uri="e5447e23-d43c-4826-b7c1-2149e69487bf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15103</TotalTime>
  <Words>964</Words>
  <Application>Microsoft Macintosh PowerPoint</Application>
  <PresentationFormat>Widescreen</PresentationFormat>
  <Paragraphs>149</Paragraphs>
  <Slides>23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6</vt:i4>
      </vt:variant>
      <vt:variant>
        <vt:lpstr>Slide Titles</vt:lpstr>
      </vt:variant>
      <vt:variant>
        <vt:i4>23</vt:i4>
      </vt:variant>
    </vt:vector>
  </HeadingPairs>
  <TitlesOfParts>
    <vt:vector size="36" baseType="lpstr">
      <vt:lpstr>Aptos</vt:lpstr>
      <vt:lpstr>Arial</vt:lpstr>
      <vt:lpstr>Arial Narrow</vt:lpstr>
      <vt:lpstr>Calibri</vt:lpstr>
      <vt:lpstr>Calibri Light</vt:lpstr>
      <vt:lpstr>Courier New</vt:lpstr>
      <vt:lpstr>Wingdings</vt:lpstr>
      <vt:lpstr>Office Theme</vt:lpstr>
      <vt:lpstr>1_Custom Design</vt:lpstr>
      <vt:lpstr>Custom Design</vt:lpstr>
      <vt:lpstr>1_Custom Design</vt:lpstr>
      <vt:lpstr>3_Office Theme</vt:lpstr>
      <vt:lpstr>2_Custom Design</vt:lpstr>
      <vt:lpstr>Intro slide and E1stMO logo </vt:lpstr>
      <vt:lpstr>Using Technology to Provide Job Supports Remotely</vt:lpstr>
      <vt:lpstr>Getting Clear on Terminology</vt:lpstr>
      <vt:lpstr>Time for a Poll</vt:lpstr>
      <vt:lpstr>On-site job coaching is the least best answer.</vt:lpstr>
      <vt:lpstr>Alternatives to  On-Site Job Coaching</vt:lpstr>
      <vt:lpstr>Determining the need for staff supports</vt:lpstr>
      <vt:lpstr>Why remote job supports?</vt:lpstr>
      <vt:lpstr>of Remote Job Supports</vt:lpstr>
      <vt:lpstr>Not an “All or Nothing” Concept</vt:lpstr>
      <vt:lpstr>Methods for providing remote supports</vt:lpstr>
      <vt:lpstr>Remote Supports  Getting beyond check-ins</vt:lpstr>
      <vt:lpstr>What can remote support be used for?</vt:lpstr>
      <vt:lpstr>Let’s Discuss</vt:lpstr>
      <vt:lpstr>Starting Point: Individual’s choice and preferences</vt:lpstr>
      <vt:lpstr>Remote Supports: A Step-by-Step Process</vt:lpstr>
      <vt:lpstr>Considerations in remote job supports</vt:lpstr>
      <vt:lpstr>Choosing Technology</vt:lpstr>
      <vt:lpstr>Guidelines on Remote Supports</vt:lpstr>
      <vt:lpstr>Agency Policies for Remote Supports</vt:lpstr>
      <vt:lpstr>This is new &amp; we’re all learning</vt:lpstr>
      <vt:lpstr>Handout</vt:lpstr>
      <vt:lpstr>Employment First Missouri Contact Information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David Hoff</cp:lastModifiedBy>
  <cp:revision>37</cp:revision>
  <dcterms:created xsi:type="dcterms:W3CDTF">2022-08-02T17:45:53Z</dcterms:created>
  <dcterms:modified xsi:type="dcterms:W3CDTF">2026-04-02T19:04:12Z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0x010100857D6FDAA1379145BEE58AA9A94DB2BE</vt:lpwstr>
  </property>
  <property fmtid="{D5CDD505-2E9C-101B-9397-08002B2CF9AE}" pid="3" name="MediaServiceImageTags">
    <vt:lpwstr/>
  </property>
</Properties>
</file>