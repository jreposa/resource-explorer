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m4a" ContentType="audio/mp4"/>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99" r:id="rId1"/>
    <p:sldMasterId id="2147483735" r:id="rId2"/>
    <p:sldMasterId id="2147483747" r:id="rId3"/>
  </p:sldMasterIdLst>
  <p:notesMasterIdLst>
    <p:notesMasterId r:id="rId35"/>
  </p:notesMasterIdLst>
  <p:handoutMasterIdLst>
    <p:handoutMasterId r:id="rId36"/>
  </p:handoutMasterIdLst>
  <p:sldIdLst>
    <p:sldId id="366" r:id="rId4"/>
    <p:sldId id="365" r:id="rId5"/>
    <p:sldId id="394" r:id="rId6"/>
    <p:sldId id="1196" r:id="rId7"/>
    <p:sldId id="389" r:id="rId8"/>
    <p:sldId id="390" r:id="rId9"/>
    <p:sldId id="1192" r:id="rId10"/>
    <p:sldId id="368" r:id="rId11"/>
    <p:sldId id="1184" r:id="rId12"/>
    <p:sldId id="268" r:id="rId13"/>
    <p:sldId id="363" r:id="rId14"/>
    <p:sldId id="369" r:id="rId15"/>
    <p:sldId id="1193" r:id="rId16"/>
    <p:sldId id="379" r:id="rId17"/>
    <p:sldId id="1195" r:id="rId18"/>
    <p:sldId id="380" r:id="rId19"/>
    <p:sldId id="381" r:id="rId20"/>
    <p:sldId id="382" r:id="rId21"/>
    <p:sldId id="383" r:id="rId22"/>
    <p:sldId id="1197" r:id="rId23"/>
    <p:sldId id="1185" r:id="rId24"/>
    <p:sldId id="1187" r:id="rId25"/>
    <p:sldId id="568" r:id="rId26"/>
    <p:sldId id="1190" r:id="rId27"/>
    <p:sldId id="1194" r:id="rId28"/>
    <p:sldId id="1189" r:id="rId29"/>
    <p:sldId id="1191" r:id="rId30"/>
    <p:sldId id="385" r:id="rId31"/>
    <p:sldId id="386" r:id="rId32"/>
    <p:sldId id="387" r:id="rId33"/>
    <p:sldId id="388" r:id="rId34"/>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5pPr>
    <a:lvl6pPr marL="22860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6pPr>
    <a:lvl7pPr marL="27432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7pPr>
    <a:lvl8pPr marL="32004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8pPr>
    <a:lvl9pPr marL="36576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0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928"/>
    <p:restoredTop sz="90816"/>
  </p:normalViewPr>
  <p:slideViewPr>
    <p:cSldViewPr>
      <p:cViewPr varScale="1">
        <p:scale>
          <a:sx n="116" d="100"/>
          <a:sy n="116" d="100"/>
        </p:scale>
        <p:origin x="1472" y="216"/>
      </p:cViewPr>
      <p:guideLst>
        <p:guide orient="horz" pos="2160"/>
        <p:guide pos="2880"/>
      </p:guideLst>
    </p:cSldViewPr>
  </p:slideViewPr>
  <p:outlineViewPr>
    <p:cViewPr>
      <p:scale>
        <a:sx n="33" d="100"/>
        <a:sy n="33" d="100"/>
      </p:scale>
      <p:origin x="0" y="-56488"/>
    </p:cViewPr>
  </p:outlineViewPr>
  <p:notesTextViewPr>
    <p:cViewPr>
      <p:scale>
        <a:sx n="100" d="100"/>
        <a:sy n="100" d="100"/>
      </p:scale>
      <p:origin x="0" y="0"/>
    </p:cViewPr>
  </p:notesTextViewPr>
  <p:sorterViewPr>
    <p:cViewPr>
      <p:scale>
        <a:sx n="1" d="1"/>
        <a:sy n="1" d="1"/>
      </p:scale>
      <p:origin x="0" y="0"/>
    </p:cViewPr>
  </p:sorterViewPr>
  <p:notesViewPr>
    <p:cSldViewPr>
      <p:cViewPr varScale="1">
        <p:scale>
          <a:sx n="97" d="100"/>
          <a:sy n="97" d="100"/>
        </p:scale>
        <p:origin x="3120" y="20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heme" Target="theme/theme1.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handoutMaster" Target="handoutMasters/handout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notesMaster" Target="notesMasters/notesMaster1.xml"/><Relationship Id="rId8" Type="http://schemas.openxmlformats.org/officeDocument/2006/relationships/slide" Target="slides/slide5.xml"/><Relationship Id="rId3" Type="http://schemas.openxmlformats.org/officeDocument/2006/relationships/slideMaster" Target="slideMasters/slideMaster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51016E-66A5-C74A-BCEF-835A44D439A0}" type="doc">
      <dgm:prSet loTypeId="urn:microsoft.com/office/officeart/2005/8/layout/hProcess9" loCatId="" qsTypeId="urn:microsoft.com/office/officeart/2005/8/quickstyle/simple4" qsCatId="simple" csTypeId="urn:microsoft.com/office/officeart/2005/8/colors/accent1_2" csCatId="accent1" phldr="1"/>
      <dgm:spPr/>
    </dgm:pt>
    <dgm:pt modelId="{251CE972-A472-544B-90AB-B51C32684174}">
      <dgm:prSet phldrT="[Text]" custT="1">
        <dgm:style>
          <a:lnRef idx="1">
            <a:schemeClr val="accent6"/>
          </a:lnRef>
          <a:fillRef idx="3">
            <a:schemeClr val="accent6"/>
          </a:fillRef>
          <a:effectRef idx="2">
            <a:schemeClr val="accent6"/>
          </a:effectRef>
          <a:fontRef idx="minor">
            <a:schemeClr val="lt1"/>
          </a:fontRef>
        </dgm:style>
      </dgm:prSet>
      <dgm:spPr>
        <a:scene3d>
          <a:camera prst="orthographicFront"/>
          <a:lightRig rig="threePt" dir="t"/>
        </a:scene3d>
        <a:sp3d>
          <a:bevelT w="139700" h="139700" prst="divot"/>
        </a:sp3d>
      </dgm:spPr>
      <dgm:t>
        <a:bodyPr/>
        <a:lstStyle/>
        <a:p>
          <a:r>
            <a:rPr lang="en-US" sz="2400" b="1" dirty="0">
              <a:solidFill>
                <a:schemeClr val="tx1"/>
              </a:solidFill>
            </a:rPr>
            <a:t>Person-Centered Planning</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1AC75C06-C18D-3143-8122-7787268D4351}" type="parTrans" cxnId="{123340A8-F989-9348-914E-0BA5DAD78F66}">
      <dgm:prSet/>
      <dgm:spPr/>
      <dgm:t>
        <a:bodyPr/>
        <a:lstStyle/>
        <a:p>
          <a:endParaRPr lang="en-US"/>
        </a:p>
      </dgm:t>
    </dgm:pt>
    <dgm:pt modelId="{1182E6A2-1D89-784D-9440-112E520C183A}" type="sibTrans" cxnId="{123340A8-F989-9348-914E-0BA5DAD78F66}">
      <dgm:prSet/>
      <dgm:spPr/>
      <dgm:t>
        <a:bodyPr/>
        <a:lstStyle/>
        <a:p>
          <a:endParaRPr lang="en-US"/>
        </a:p>
      </dgm:t>
    </dgm:pt>
    <dgm:pt modelId="{F901D43E-7AC8-CE4E-AD38-D4D041C05DDC}">
      <dgm:prSet phldrT="[Text]" custT="1"/>
      <dgm:spPr>
        <a:scene3d>
          <a:camera prst="orthographicFront"/>
          <a:lightRig rig="threePt" dir="t"/>
        </a:scene3d>
        <a:sp3d>
          <a:bevelT w="139700" h="139700" prst="divot"/>
        </a:sp3d>
      </dgm:spPr>
      <dgm:t>
        <a:bodyPr/>
        <a:lstStyle/>
        <a:p>
          <a:r>
            <a:rPr lang="en-US" sz="2200" b="1" dirty="0">
              <a:solidFill>
                <a:schemeClr val="tx1"/>
              </a:solidFill>
            </a:rPr>
            <a:t>Exploration &amp; Discovery</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AB3CBAA8-A0F0-3548-9CD0-A41A500019B3}" type="parTrans" cxnId="{575D1B07-DA20-FD4C-A07A-B66C419E4933}">
      <dgm:prSet/>
      <dgm:spPr/>
      <dgm:t>
        <a:bodyPr/>
        <a:lstStyle/>
        <a:p>
          <a:endParaRPr lang="en-US"/>
        </a:p>
      </dgm:t>
    </dgm:pt>
    <dgm:pt modelId="{C79D0B48-BF7F-6D4D-B140-20F2AE199360}" type="sibTrans" cxnId="{575D1B07-DA20-FD4C-A07A-B66C419E4933}">
      <dgm:prSet/>
      <dgm:spPr/>
      <dgm:t>
        <a:bodyPr/>
        <a:lstStyle/>
        <a:p>
          <a:endParaRPr lang="en-US"/>
        </a:p>
      </dgm:t>
    </dgm:pt>
    <dgm:pt modelId="{1E5DC367-DD24-E142-B248-11591DB1B4B4}">
      <dgm:prSet phldrT="[Text]">
        <dgm:style>
          <a:lnRef idx="0">
            <a:schemeClr val="accent2"/>
          </a:lnRef>
          <a:fillRef idx="3">
            <a:schemeClr val="accent2"/>
          </a:fillRef>
          <a:effectRef idx="3">
            <a:schemeClr val="accent2"/>
          </a:effectRef>
          <a:fontRef idx="minor">
            <a:schemeClr val="lt1"/>
          </a:fontRef>
        </dgm:style>
      </dgm:prSet>
      <dgm:spPr>
        <a:scene3d>
          <a:camera prst="orthographicFront">
            <a:rot lat="0" lon="0" rev="0"/>
          </a:camera>
          <a:lightRig rig="balanced" dir="t">
            <a:rot lat="0" lon="0" rev="5100000"/>
          </a:lightRig>
        </a:scene3d>
        <a:sp3d contourW="6350">
          <a:bevelT w="29210" h="12700" prst="divot"/>
          <a:contourClr>
            <a:schemeClr val="accent2">
              <a:shade val="30000"/>
              <a:satMod val="130000"/>
            </a:schemeClr>
          </a:contourClr>
        </a:sp3d>
      </dgm:spPr>
      <dgm:t>
        <a:bodyPr/>
        <a:lstStyle/>
        <a:p>
          <a:r>
            <a:rPr lang="en-US" b="1" dirty="0">
              <a:solidFill>
                <a:schemeClr val="tx1"/>
              </a:solidFill>
            </a:rPr>
            <a:t>Job Development &amp;</a:t>
          </a:r>
        </a:p>
        <a:p>
          <a:r>
            <a:rPr lang="en-US" b="1" dirty="0">
              <a:solidFill>
                <a:schemeClr val="tx1"/>
              </a:solidFill>
            </a:rPr>
            <a:t> Job Design</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34E7D34F-9E22-0849-9EEF-3F350EC57F1E}" type="parTrans" cxnId="{66E4CA78-75DC-6C47-9545-2DD70CCCE959}">
      <dgm:prSet/>
      <dgm:spPr/>
      <dgm:t>
        <a:bodyPr/>
        <a:lstStyle/>
        <a:p>
          <a:endParaRPr lang="en-US"/>
        </a:p>
      </dgm:t>
    </dgm:pt>
    <dgm:pt modelId="{AFE5B784-7ED7-4B40-B17B-A183AB91A698}" type="sibTrans" cxnId="{66E4CA78-75DC-6C47-9545-2DD70CCCE959}">
      <dgm:prSet/>
      <dgm:spPr/>
      <dgm:t>
        <a:bodyPr/>
        <a:lstStyle/>
        <a:p>
          <a:endParaRPr lang="en-US"/>
        </a:p>
      </dgm:t>
    </dgm:pt>
    <dgm:pt modelId="{46D5AF3B-2B5D-3E45-AC19-8B6526CB84B3}">
      <dgm:prSet phldrT="[Text]" custT="1">
        <dgm:style>
          <a:lnRef idx="0">
            <a:schemeClr val="accent4"/>
          </a:lnRef>
          <a:fillRef idx="3">
            <a:schemeClr val="accent4"/>
          </a:fillRef>
          <a:effectRef idx="3">
            <a:schemeClr val="accent4"/>
          </a:effectRef>
          <a:fontRef idx="minor">
            <a:schemeClr val="lt1"/>
          </a:fontRef>
        </dgm:style>
      </dgm:prSet>
      <dgm:spPr>
        <a:scene3d>
          <a:camera prst="orthographicFront">
            <a:rot lat="0" lon="0" rev="0"/>
          </a:camera>
          <a:lightRig rig="balanced" dir="t">
            <a:rot lat="0" lon="0" rev="5100000"/>
          </a:lightRig>
        </a:scene3d>
        <a:sp3d contourW="6350">
          <a:bevelT w="29210" h="12700" prst="divot"/>
          <a:contourClr>
            <a:schemeClr val="accent4">
              <a:shade val="30000"/>
              <a:satMod val="130000"/>
            </a:schemeClr>
          </a:contourClr>
        </a:sp3d>
      </dgm:spPr>
      <dgm:t>
        <a:bodyPr/>
        <a:lstStyle/>
        <a:p>
          <a:r>
            <a:rPr lang="en-US" sz="2200" b="1" dirty="0">
              <a:solidFill>
                <a:schemeClr val="tx1"/>
              </a:solidFill>
            </a:rPr>
            <a:t>Initial Placement Support</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603174D1-D139-7E46-A0AE-0DDC187DF67E}" type="parTrans" cxnId="{459AB9B4-E8B2-0844-9A78-653BE0570B0B}">
      <dgm:prSet/>
      <dgm:spPr/>
      <dgm:t>
        <a:bodyPr/>
        <a:lstStyle/>
        <a:p>
          <a:endParaRPr lang="en-US"/>
        </a:p>
      </dgm:t>
    </dgm:pt>
    <dgm:pt modelId="{126FD5FE-AB13-8A4F-80CB-ACFCAD24CC82}" type="sibTrans" cxnId="{459AB9B4-E8B2-0844-9A78-653BE0570B0B}">
      <dgm:prSet/>
      <dgm:spPr/>
      <dgm:t>
        <a:bodyPr/>
        <a:lstStyle/>
        <a:p>
          <a:endParaRPr lang="en-US"/>
        </a:p>
      </dgm:t>
    </dgm:pt>
    <dgm:pt modelId="{67DB3D83-41C2-C14A-A5EE-66E1BCBA61AC}">
      <dgm:prSet phldrT="[Text]" custT="1">
        <dgm:style>
          <a:lnRef idx="1">
            <a:schemeClr val="accent2"/>
          </a:lnRef>
          <a:fillRef idx="2">
            <a:schemeClr val="accent2"/>
          </a:fillRef>
          <a:effectRef idx="1">
            <a:schemeClr val="accent2"/>
          </a:effectRef>
          <a:fontRef idx="minor">
            <a:schemeClr val="dk1"/>
          </a:fontRef>
        </dgm:style>
      </dgm:prSet>
      <dgm:spPr>
        <a:scene3d>
          <a:camera prst="orthographicFront"/>
          <a:lightRig rig="threePt" dir="t"/>
        </a:scene3d>
        <a:sp3d>
          <a:bevelT w="139700" h="139700" prst="divot"/>
        </a:sp3d>
      </dgm:spPr>
      <dgm:t>
        <a:bodyPr/>
        <a:lstStyle/>
        <a:p>
          <a:r>
            <a:rPr lang="en-US" sz="2400" b="1" dirty="0"/>
            <a:t>Follow-Up Supports</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DBF90655-F9D1-6440-9486-CE3AD43072EA}" type="parTrans" cxnId="{8F114287-3672-B94E-89F4-5C12977E3899}">
      <dgm:prSet/>
      <dgm:spPr/>
      <dgm:t>
        <a:bodyPr/>
        <a:lstStyle/>
        <a:p>
          <a:endParaRPr lang="en-US"/>
        </a:p>
      </dgm:t>
    </dgm:pt>
    <dgm:pt modelId="{20A8509B-E128-824D-826F-A4904F928617}" type="sibTrans" cxnId="{8F114287-3672-B94E-89F4-5C12977E3899}">
      <dgm:prSet/>
      <dgm:spPr/>
      <dgm:t>
        <a:bodyPr/>
        <a:lstStyle/>
        <a:p>
          <a:endParaRPr lang="en-US"/>
        </a:p>
      </dgm:t>
    </dgm:pt>
    <dgm:pt modelId="{B819CC41-D541-3245-8075-24FDED5B0F48}" type="pres">
      <dgm:prSet presAssocID="{8E51016E-66A5-C74A-BCEF-835A44D439A0}" presName="CompostProcess" presStyleCnt="0">
        <dgm:presLayoutVars>
          <dgm:dir/>
          <dgm:resizeHandles val="exact"/>
        </dgm:presLayoutVars>
      </dgm:prSet>
      <dgm:spPr/>
    </dgm:pt>
    <dgm:pt modelId="{C9A58526-F34A-1549-9334-22E63279823E}" type="pres">
      <dgm:prSet presAssocID="{8E51016E-66A5-C74A-BCEF-835A44D439A0}" presName="arrow" presStyleLbl="bgShp" presStyleIdx="0" presStyleCnt="1" custLinFactNeighborX="-747" custLinFactNeighborY="77"/>
      <dgm:spPr/>
      <dgm:extLst>
        <a:ext uri="{E40237B7-FDA0-4F09-8148-C483321AD2D9}">
          <dgm14:cNvPr xmlns:dgm14="http://schemas.microsoft.com/office/drawing/2010/diagram" id="0" name="" descr="Graphic of the Employment process,with arrow going to the right, starting with person-centered planning, and proceeding to exploration and discoverry, job devleopment and job design, initial placement support, and follow-up supports."/>
        </a:ext>
      </dgm:extLst>
    </dgm:pt>
    <dgm:pt modelId="{F3487C6C-B238-A842-898A-F9033EF18971}" type="pres">
      <dgm:prSet presAssocID="{8E51016E-66A5-C74A-BCEF-835A44D439A0}" presName="linearProcess" presStyleCnt="0"/>
      <dgm:spPr/>
    </dgm:pt>
    <dgm:pt modelId="{233C1BC6-B1F6-3F45-8B03-EDCA22BAB1D6}" type="pres">
      <dgm:prSet presAssocID="{251CE972-A472-544B-90AB-B51C32684174}" presName="textNode" presStyleLbl="node1" presStyleIdx="0" presStyleCnt="5">
        <dgm:presLayoutVars>
          <dgm:bulletEnabled val="1"/>
        </dgm:presLayoutVars>
      </dgm:prSet>
      <dgm:spPr/>
    </dgm:pt>
    <dgm:pt modelId="{85016923-E66D-0740-B8F4-1EA64B2D311F}" type="pres">
      <dgm:prSet presAssocID="{1182E6A2-1D89-784D-9440-112E520C183A}" presName="sibTrans" presStyleCnt="0"/>
      <dgm:spPr/>
    </dgm:pt>
    <dgm:pt modelId="{6FFBFB83-9131-844B-8F0A-13CD4902D693}" type="pres">
      <dgm:prSet presAssocID="{F901D43E-7AC8-CE4E-AD38-D4D041C05DDC}" presName="textNode" presStyleLbl="node1" presStyleIdx="1" presStyleCnt="5" custScaleX="102634">
        <dgm:presLayoutVars>
          <dgm:bulletEnabled val="1"/>
        </dgm:presLayoutVars>
      </dgm:prSet>
      <dgm:spPr/>
    </dgm:pt>
    <dgm:pt modelId="{E7F0B6C1-A342-3D42-8EFB-B6A41A69DD35}" type="pres">
      <dgm:prSet presAssocID="{C79D0B48-BF7F-6D4D-B140-20F2AE199360}" presName="sibTrans" presStyleCnt="0"/>
      <dgm:spPr/>
    </dgm:pt>
    <dgm:pt modelId="{445CBBD1-DFB3-0D4A-A054-257C86B961A5}" type="pres">
      <dgm:prSet presAssocID="{1E5DC367-DD24-E142-B248-11591DB1B4B4}" presName="textNode" presStyleLbl="node1" presStyleIdx="2" presStyleCnt="5">
        <dgm:presLayoutVars>
          <dgm:bulletEnabled val="1"/>
        </dgm:presLayoutVars>
      </dgm:prSet>
      <dgm:spPr/>
    </dgm:pt>
    <dgm:pt modelId="{04DDC62C-6849-684D-8DBB-73630649AD52}" type="pres">
      <dgm:prSet presAssocID="{AFE5B784-7ED7-4B40-B17B-A183AB91A698}" presName="sibTrans" presStyleCnt="0"/>
      <dgm:spPr/>
    </dgm:pt>
    <dgm:pt modelId="{C556ECAE-C952-C841-B26D-606938BA86EF}" type="pres">
      <dgm:prSet presAssocID="{46D5AF3B-2B5D-3E45-AC19-8B6526CB84B3}" presName="textNode" presStyleLbl="node1" presStyleIdx="3" presStyleCnt="5">
        <dgm:presLayoutVars>
          <dgm:bulletEnabled val="1"/>
        </dgm:presLayoutVars>
      </dgm:prSet>
      <dgm:spPr/>
    </dgm:pt>
    <dgm:pt modelId="{8CED6FB1-97DF-1548-B288-7EE25E3C8D37}" type="pres">
      <dgm:prSet presAssocID="{126FD5FE-AB13-8A4F-80CB-ACFCAD24CC82}" presName="sibTrans" presStyleCnt="0"/>
      <dgm:spPr/>
    </dgm:pt>
    <dgm:pt modelId="{04F24155-D9CF-D84D-909F-C081C6DAC877}" type="pres">
      <dgm:prSet presAssocID="{67DB3D83-41C2-C14A-A5EE-66E1BCBA61AC}" presName="textNode" presStyleLbl="node1" presStyleIdx="4" presStyleCnt="5">
        <dgm:presLayoutVars>
          <dgm:bulletEnabled val="1"/>
        </dgm:presLayoutVars>
      </dgm:prSet>
      <dgm:spPr/>
    </dgm:pt>
  </dgm:ptLst>
  <dgm:cxnLst>
    <dgm:cxn modelId="{575D1B07-DA20-FD4C-A07A-B66C419E4933}" srcId="{8E51016E-66A5-C74A-BCEF-835A44D439A0}" destId="{F901D43E-7AC8-CE4E-AD38-D4D041C05DDC}" srcOrd="1" destOrd="0" parTransId="{AB3CBAA8-A0F0-3548-9CD0-A41A500019B3}" sibTransId="{C79D0B48-BF7F-6D4D-B140-20F2AE199360}"/>
    <dgm:cxn modelId="{795FDC07-6843-6647-A61C-B706651E687C}" type="presOf" srcId="{46D5AF3B-2B5D-3E45-AC19-8B6526CB84B3}" destId="{C556ECAE-C952-C841-B26D-606938BA86EF}" srcOrd="0" destOrd="0" presId="urn:microsoft.com/office/officeart/2005/8/layout/hProcess9"/>
    <dgm:cxn modelId="{32936319-C711-D74C-9215-8CA9D3E592A9}" type="presOf" srcId="{251CE972-A472-544B-90AB-B51C32684174}" destId="{233C1BC6-B1F6-3F45-8B03-EDCA22BAB1D6}" srcOrd="0" destOrd="0" presId="urn:microsoft.com/office/officeart/2005/8/layout/hProcess9"/>
    <dgm:cxn modelId="{66E4CA78-75DC-6C47-9545-2DD70CCCE959}" srcId="{8E51016E-66A5-C74A-BCEF-835A44D439A0}" destId="{1E5DC367-DD24-E142-B248-11591DB1B4B4}" srcOrd="2" destOrd="0" parTransId="{34E7D34F-9E22-0849-9EEF-3F350EC57F1E}" sibTransId="{AFE5B784-7ED7-4B40-B17B-A183AB91A698}"/>
    <dgm:cxn modelId="{E313CB84-BE3F-5A4A-ADED-6075B7D82E35}" type="presOf" srcId="{1E5DC367-DD24-E142-B248-11591DB1B4B4}" destId="{445CBBD1-DFB3-0D4A-A054-257C86B961A5}" srcOrd="0" destOrd="0" presId="urn:microsoft.com/office/officeart/2005/8/layout/hProcess9"/>
    <dgm:cxn modelId="{8F114287-3672-B94E-89F4-5C12977E3899}" srcId="{8E51016E-66A5-C74A-BCEF-835A44D439A0}" destId="{67DB3D83-41C2-C14A-A5EE-66E1BCBA61AC}" srcOrd="4" destOrd="0" parTransId="{DBF90655-F9D1-6440-9486-CE3AD43072EA}" sibTransId="{20A8509B-E128-824D-826F-A4904F928617}"/>
    <dgm:cxn modelId="{4E40DE96-31B6-CD43-AC4B-DD6811E33A9B}" type="presOf" srcId="{67DB3D83-41C2-C14A-A5EE-66E1BCBA61AC}" destId="{04F24155-D9CF-D84D-909F-C081C6DAC877}" srcOrd="0" destOrd="0" presId="urn:microsoft.com/office/officeart/2005/8/layout/hProcess9"/>
    <dgm:cxn modelId="{123340A8-F989-9348-914E-0BA5DAD78F66}" srcId="{8E51016E-66A5-C74A-BCEF-835A44D439A0}" destId="{251CE972-A472-544B-90AB-B51C32684174}" srcOrd="0" destOrd="0" parTransId="{1AC75C06-C18D-3143-8122-7787268D4351}" sibTransId="{1182E6A2-1D89-784D-9440-112E520C183A}"/>
    <dgm:cxn modelId="{B20064A9-9B2A-7C46-8B20-689EAC94A479}" type="presOf" srcId="{8E51016E-66A5-C74A-BCEF-835A44D439A0}" destId="{B819CC41-D541-3245-8075-24FDED5B0F48}" srcOrd="0" destOrd="0" presId="urn:microsoft.com/office/officeart/2005/8/layout/hProcess9"/>
    <dgm:cxn modelId="{459AB9B4-E8B2-0844-9A78-653BE0570B0B}" srcId="{8E51016E-66A5-C74A-BCEF-835A44D439A0}" destId="{46D5AF3B-2B5D-3E45-AC19-8B6526CB84B3}" srcOrd="3" destOrd="0" parTransId="{603174D1-D139-7E46-A0AE-0DDC187DF67E}" sibTransId="{126FD5FE-AB13-8A4F-80CB-ACFCAD24CC82}"/>
    <dgm:cxn modelId="{34FEE5EA-F1BD-C54F-BA7E-AA03D54FA433}" type="presOf" srcId="{F901D43E-7AC8-CE4E-AD38-D4D041C05DDC}" destId="{6FFBFB83-9131-844B-8F0A-13CD4902D693}" srcOrd="0" destOrd="0" presId="urn:microsoft.com/office/officeart/2005/8/layout/hProcess9"/>
    <dgm:cxn modelId="{04E81206-EC4A-724B-A754-B09FBC3A5638}" type="presParOf" srcId="{B819CC41-D541-3245-8075-24FDED5B0F48}" destId="{C9A58526-F34A-1549-9334-22E63279823E}" srcOrd="0" destOrd="0" presId="urn:microsoft.com/office/officeart/2005/8/layout/hProcess9"/>
    <dgm:cxn modelId="{76DD6E9C-3B7D-CC4A-AFBF-6F93F94CA275}" type="presParOf" srcId="{B819CC41-D541-3245-8075-24FDED5B0F48}" destId="{F3487C6C-B238-A842-898A-F9033EF18971}" srcOrd="1" destOrd="0" presId="urn:microsoft.com/office/officeart/2005/8/layout/hProcess9"/>
    <dgm:cxn modelId="{EDFA970E-2CBB-004B-A4C0-366F07109087}" type="presParOf" srcId="{F3487C6C-B238-A842-898A-F9033EF18971}" destId="{233C1BC6-B1F6-3F45-8B03-EDCA22BAB1D6}" srcOrd="0" destOrd="0" presId="urn:microsoft.com/office/officeart/2005/8/layout/hProcess9"/>
    <dgm:cxn modelId="{83B11813-02F1-7F48-BFA3-C3D75A4AF6F6}" type="presParOf" srcId="{F3487C6C-B238-A842-898A-F9033EF18971}" destId="{85016923-E66D-0740-B8F4-1EA64B2D311F}" srcOrd="1" destOrd="0" presId="urn:microsoft.com/office/officeart/2005/8/layout/hProcess9"/>
    <dgm:cxn modelId="{C4EC7E4B-6F87-D240-BF86-0A167D2A6D2E}" type="presParOf" srcId="{F3487C6C-B238-A842-898A-F9033EF18971}" destId="{6FFBFB83-9131-844B-8F0A-13CD4902D693}" srcOrd="2" destOrd="0" presId="urn:microsoft.com/office/officeart/2005/8/layout/hProcess9"/>
    <dgm:cxn modelId="{4B705D03-84B2-C04D-B7A2-50A930515CBF}" type="presParOf" srcId="{F3487C6C-B238-A842-898A-F9033EF18971}" destId="{E7F0B6C1-A342-3D42-8EFB-B6A41A69DD35}" srcOrd="3" destOrd="0" presId="urn:microsoft.com/office/officeart/2005/8/layout/hProcess9"/>
    <dgm:cxn modelId="{3C19838E-2363-2B42-AECA-0272148D9D09}" type="presParOf" srcId="{F3487C6C-B238-A842-898A-F9033EF18971}" destId="{445CBBD1-DFB3-0D4A-A054-257C86B961A5}" srcOrd="4" destOrd="0" presId="urn:microsoft.com/office/officeart/2005/8/layout/hProcess9"/>
    <dgm:cxn modelId="{3A1FFDD6-D0B4-8E4A-9950-DBF5628D8617}" type="presParOf" srcId="{F3487C6C-B238-A842-898A-F9033EF18971}" destId="{04DDC62C-6849-684D-8DBB-73630649AD52}" srcOrd="5" destOrd="0" presId="urn:microsoft.com/office/officeart/2005/8/layout/hProcess9"/>
    <dgm:cxn modelId="{04EFC0A4-BDEC-6F49-A488-A2FB025FEB90}" type="presParOf" srcId="{F3487C6C-B238-A842-898A-F9033EF18971}" destId="{C556ECAE-C952-C841-B26D-606938BA86EF}" srcOrd="6" destOrd="0" presId="urn:microsoft.com/office/officeart/2005/8/layout/hProcess9"/>
    <dgm:cxn modelId="{5F32E728-919E-4645-A103-719B291075C6}" type="presParOf" srcId="{F3487C6C-B238-A842-898A-F9033EF18971}" destId="{8CED6FB1-97DF-1548-B288-7EE25E3C8D37}" srcOrd="7" destOrd="0" presId="urn:microsoft.com/office/officeart/2005/8/layout/hProcess9"/>
    <dgm:cxn modelId="{D794E0E2-1D46-C945-9283-308954252F2D}" type="presParOf" srcId="{F3487C6C-B238-A842-898A-F9033EF18971}" destId="{04F24155-D9CF-D84D-909F-C081C6DAC877}"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4680DD0-3B01-D645-855B-115B2A2B049A}" type="doc">
      <dgm:prSet loTypeId="urn:microsoft.com/office/officeart/2005/8/layout/cycle6" loCatId="" qsTypeId="urn:microsoft.com/office/officeart/2005/8/quickstyle/simple1" qsCatId="simple" csTypeId="urn:microsoft.com/office/officeart/2005/8/colors/accent1_2" csCatId="accent1" phldr="1"/>
      <dgm:spPr/>
      <dgm:t>
        <a:bodyPr/>
        <a:lstStyle/>
        <a:p>
          <a:endParaRPr lang="en-US"/>
        </a:p>
      </dgm:t>
    </dgm:pt>
    <dgm:pt modelId="{9EF8A510-99ED-324F-861D-7471DCD9C5D0}">
      <dgm:prSet phldrT="[Text]" custT="1"/>
      <dgm:spPr>
        <a:solidFill>
          <a:srgbClr val="0060C1"/>
        </a:solidFill>
        <a:scene3d>
          <a:camera prst="orthographicFront"/>
          <a:lightRig rig="threePt" dir="t"/>
        </a:scene3d>
        <a:sp3d>
          <a:bevelT prst="angle"/>
        </a:sp3d>
      </dgm:spPr>
      <dgm:t>
        <a:bodyPr/>
        <a:lstStyle/>
        <a:p>
          <a:r>
            <a:rPr lang="en-US" sz="2000" dirty="0"/>
            <a:t>Confidentiality</a:t>
          </a:r>
        </a:p>
      </dgm:t>
      <dgm:extLst>
        <a:ext uri="{E40237B7-FDA0-4F09-8148-C483321AD2D9}">
          <dgm14:cNvPr xmlns:dgm14="http://schemas.microsoft.com/office/drawing/2010/diagram" id="0" name="" descr="Confidentiality"/>
        </a:ext>
      </dgm:extLst>
    </dgm:pt>
    <dgm:pt modelId="{007FD2A4-6795-2644-BDC0-7D9254477FE4}" type="parTrans" cxnId="{BDD3CD6E-F771-5745-AADC-FD49C8AAB983}">
      <dgm:prSet/>
      <dgm:spPr/>
      <dgm:t>
        <a:bodyPr/>
        <a:lstStyle/>
        <a:p>
          <a:endParaRPr lang="en-US"/>
        </a:p>
      </dgm:t>
    </dgm:pt>
    <dgm:pt modelId="{2765E2DC-0979-5547-9BB0-B07E21943C69}" type="sibTrans" cxnId="{BDD3CD6E-F771-5745-AADC-FD49C8AAB983}">
      <dgm:prSet/>
      <dgm:spPr>
        <a:ln w="25400">
          <a:solidFill>
            <a:srgbClr val="0070C0"/>
          </a:solidFill>
        </a:ln>
      </dgm:spPr>
      <dgm:t>
        <a:bodyPr/>
        <a:lstStyle/>
        <a:p>
          <a:endParaRPr lang="en-US"/>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EB86120C-F490-BC40-9021-0CD4BDFC037A}">
      <dgm:prSet phldrT="[Text]" custT="1">
        <dgm:style>
          <a:lnRef idx="0">
            <a:schemeClr val="accent6"/>
          </a:lnRef>
          <a:fillRef idx="3">
            <a:schemeClr val="accent6"/>
          </a:fillRef>
          <a:effectRef idx="3">
            <a:schemeClr val="accent6"/>
          </a:effectRef>
          <a:fontRef idx="minor">
            <a:schemeClr val="lt1"/>
          </a:fontRef>
        </dgm:style>
      </dgm:prSet>
      <dgm:spPr>
        <a:scene3d>
          <a:camera prst="orthographicFront"/>
          <a:lightRig rig="threePt" dir="t"/>
        </a:scene3d>
        <a:sp3d>
          <a:bevelT prst="angle"/>
        </a:sp3d>
      </dgm:spPr>
      <dgm:t>
        <a:bodyPr/>
        <a:lstStyle/>
        <a:p>
          <a:r>
            <a:rPr lang="en-US" sz="2000" dirty="0"/>
            <a:t>Resources</a:t>
          </a:r>
        </a:p>
      </dgm:t>
      <dgm:extLst>
        <a:ext uri="{E40237B7-FDA0-4F09-8148-C483321AD2D9}">
          <dgm14:cNvPr xmlns:dgm14="http://schemas.microsoft.com/office/drawing/2010/diagram" id="0" name="" descr="Resources"/>
        </a:ext>
      </dgm:extLst>
    </dgm:pt>
    <dgm:pt modelId="{2FAD6CD1-F1C2-EE4E-8B3D-F66B2F4FDF48}" type="parTrans" cxnId="{B7AC89B6-5D20-BC46-9760-F19DA23FA61C}">
      <dgm:prSet/>
      <dgm:spPr/>
      <dgm:t>
        <a:bodyPr/>
        <a:lstStyle/>
        <a:p>
          <a:endParaRPr lang="en-US"/>
        </a:p>
      </dgm:t>
    </dgm:pt>
    <dgm:pt modelId="{9DABB2C6-918D-F945-9350-FE3202DF0565}" type="sibTrans" cxnId="{B7AC89B6-5D20-BC46-9760-F19DA23FA61C}">
      <dgm:prSet/>
      <dgm:spPr>
        <a:ln w="25400">
          <a:solidFill>
            <a:srgbClr val="0070C0"/>
          </a:solidFill>
        </a:ln>
      </dgm:spPr>
      <dgm:t>
        <a:bodyPr/>
        <a:lstStyle/>
        <a:p>
          <a:endParaRPr lang="en-US"/>
        </a:p>
      </dgm:t>
    </dgm:pt>
    <dgm:pt modelId="{2E45443A-1D9F-5341-9CD1-37ABCEDEE514}">
      <dgm:prSet phldrT="[Text]" custT="1">
        <dgm:style>
          <a:lnRef idx="1">
            <a:schemeClr val="accent6"/>
          </a:lnRef>
          <a:fillRef idx="2">
            <a:schemeClr val="accent6"/>
          </a:fillRef>
          <a:effectRef idx="1">
            <a:schemeClr val="accent6"/>
          </a:effectRef>
          <a:fontRef idx="minor">
            <a:schemeClr val="dk1"/>
          </a:fontRef>
        </dgm:style>
      </dgm:prSet>
      <dgm:spPr>
        <a:scene3d>
          <a:camera prst="orthographicFront"/>
          <a:lightRig rig="threePt" dir="t"/>
        </a:scene3d>
        <a:sp3d>
          <a:bevelT prst="angle"/>
        </a:sp3d>
      </dgm:spPr>
      <dgm:t>
        <a:bodyPr/>
        <a:lstStyle/>
        <a:p>
          <a:r>
            <a:rPr lang="en-US" sz="2000" dirty="0"/>
            <a:t>Employer Support</a:t>
          </a:r>
        </a:p>
      </dgm:t>
      <dgm:extLst>
        <a:ext uri="{E40237B7-FDA0-4F09-8148-C483321AD2D9}">
          <dgm14:cNvPr xmlns:dgm14="http://schemas.microsoft.com/office/drawing/2010/diagram" id="0" name="" descr="Employer Support"/>
        </a:ext>
      </dgm:extLst>
    </dgm:pt>
    <dgm:pt modelId="{C028F4A1-B031-A846-B1D8-63B0ABC0C4F1}" type="parTrans" cxnId="{4AC0A632-CC6F-3044-9DBD-18E0794C9CBF}">
      <dgm:prSet/>
      <dgm:spPr/>
      <dgm:t>
        <a:bodyPr/>
        <a:lstStyle/>
        <a:p>
          <a:endParaRPr lang="en-US"/>
        </a:p>
      </dgm:t>
    </dgm:pt>
    <dgm:pt modelId="{294EF629-CC04-FF4B-9894-CEEF81E5B3FB}" type="sibTrans" cxnId="{4AC0A632-CC6F-3044-9DBD-18E0794C9CBF}">
      <dgm:prSet/>
      <dgm:spPr>
        <a:ln w="25400">
          <a:solidFill>
            <a:srgbClr val="0060C1"/>
          </a:solidFill>
        </a:ln>
      </dgm:spPr>
      <dgm:t>
        <a:bodyPr/>
        <a:lstStyle/>
        <a:p>
          <a:endParaRPr lang="en-US"/>
        </a:p>
      </dgm:t>
    </dgm:pt>
    <dgm:pt modelId="{BF1CA5F1-D039-0949-B8BF-F5E847B23F33}">
      <dgm:prSet phldrT="[Text]" custT="1"/>
      <dgm:spPr>
        <a:scene3d>
          <a:camera prst="orthographicFront"/>
          <a:lightRig rig="threePt" dir="t"/>
        </a:scene3d>
        <a:sp3d>
          <a:bevelT prst="angle"/>
        </a:sp3d>
      </dgm:spPr>
      <dgm:t>
        <a:bodyPr/>
        <a:lstStyle/>
        <a:p>
          <a:r>
            <a:rPr lang="en-US" sz="2000" dirty="0">
              <a:solidFill>
                <a:schemeClr val="tx1"/>
              </a:solidFill>
            </a:rPr>
            <a:t>Ownership</a:t>
          </a:r>
        </a:p>
      </dgm:t>
      <dgm:extLst>
        <a:ext uri="{E40237B7-FDA0-4F09-8148-C483321AD2D9}">
          <dgm14:cNvPr xmlns:dgm14="http://schemas.microsoft.com/office/drawing/2010/diagram" id="0" name="" descr="Ownership"/>
        </a:ext>
      </dgm:extLst>
    </dgm:pt>
    <dgm:pt modelId="{6997D46D-ED75-A84B-8266-42BD8C356546}" type="parTrans" cxnId="{2F418EE7-D95C-744B-84D3-09A220074647}">
      <dgm:prSet/>
      <dgm:spPr/>
      <dgm:t>
        <a:bodyPr/>
        <a:lstStyle/>
        <a:p>
          <a:endParaRPr lang="en-US"/>
        </a:p>
      </dgm:t>
    </dgm:pt>
    <dgm:pt modelId="{C07AD6C3-162B-6340-80B9-E8CAB43DF4A8}" type="sibTrans" cxnId="{2F418EE7-D95C-744B-84D3-09A220074647}">
      <dgm:prSet/>
      <dgm:spPr>
        <a:ln w="25400">
          <a:solidFill>
            <a:srgbClr val="0060C1"/>
          </a:solidFill>
        </a:ln>
      </dgm:spPr>
      <dgm:t>
        <a:bodyPr/>
        <a:lstStyle/>
        <a:p>
          <a:endParaRPr lang="en-US"/>
        </a:p>
      </dgm:t>
    </dgm:pt>
    <dgm:pt modelId="{0A808260-C64B-7341-B94F-50D9B7508CC9}">
      <dgm:prSet phldrT="[Text]" custT="1">
        <dgm:style>
          <a:lnRef idx="3">
            <a:schemeClr val="lt1"/>
          </a:lnRef>
          <a:fillRef idx="1">
            <a:schemeClr val="accent4"/>
          </a:fillRef>
          <a:effectRef idx="1">
            <a:schemeClr val="accent4"/>
          </a:effectRef>
          <a:fontRef idx="minor">
            <a:schemeClr val="lt1"/>
          </a:fontRef>
        </dgm:style>
      </dgm:prSet>
      <dgm:spPr>
        <a:scene3d>
          <a:camera prst="orthographicFront"/>
          <a:lightRig rig="threePt" dir="t"/>
        </a:scene3d>
        <a:sp3d>
          <a:bevelT prst="angle"/>
        </a:sp3d>
      </dgm:spPr>
      <dgm:t>
        <a:bodyPr/>
        <a:lstStyle/>
        <a:p>
          <a:r>
            <a:rPr lang="en-US" sz="2000" dirty="0"/>
            <a:t>Funding</a:t>
          </a:r>
        </a:p>
      </dgm:t>
      <dgm:extLst>
        <a:ext uri="{E40237B7-FDA0-4F09-8148-C483321AD2D9}">
          <dgm14:cNvPr xmlns:dgm14="http://schemas.microsoft.com/office/drawing/2010/diagram" id="0" name="" descr="Funding"/>
        </a:ext>
      </dgm:extLst>
    </dgm:pt>
    <dgm:pt modelId="{37AEA23B-A956-644F-8FFE-712FD56C4DE2}" type="parTrans" cxnId="{6BF23C4C-AE9E-E74E-BABD-902CA1A357A5}">
      <dgm:prSet/>
      <dgm:spPr/>
      <dgm:t>
        <a:bodyPr/>
        <a:lstStyle/>
        <a:p>
          <a:endParaRPr lang="en-US"/>
        </a:p>
      </dgm:t>
    </dgm:pt>
    <dgm:pt modelId="{F15A334B-7AA9-6149-A015-72914CEC7125}" type="sibTrans" cxnId="{6BF23C4C-AE9E-E74E-BABD-902CA1A357A5}">
      <dgm:prSet/>
      <dgm:spPr>
        <a:ln w="25400">
          <a:solidFill>
            <a:srgbClr val="0060C1"/>
          </a:solidFill>
        </a:ln>
      </dgm:spPr>
      <dgm:t>
        <a:bodyPr/>
        <a:lstStyle/>
        <a:p>
          <a:endParaRPr lang="en-US"/>
        </a:p>
      </dgm:t>
    </dgm:pt>
    <dgm:pt modelId="{4A29014A-21DE-1D47-835D-0924545C98A9}">
      <dgm:prSet custT="1">
        <dgm:style>
          <a:lnRef idx="1">
            <a:schemeClr val="dk1"/>
          </a:lnRef>
          <a:fillRef idx="2">
            <a:schemeClr val="dk1"/>
          </a:fillRef>
          <a:effectRef idx="1">
            <a:schemeClr val="dk1"/>
          </a:effectRef>
          <a:fontRef idx="minor">
            <a:schemeClr val="dk1"/>
          </a:fontRef>
        </dgm:style>
      </dgm:prSet>
      <dgm:spPr>
        <a:scene3d>
          <a:camera prst="orthographicFront"/>
          <a:lightRig rig="threePt" dir="t"/>
        </a:scene3d>
        <a:sp3d>
          <a:bevelT prst="angle"/>
        </a:sp3d>
      </dgm:spPr>
      <dgm:t>
        <a:bodyPr/>
        <a:lstStyle/>
        <a:p>
          <a:r>
            <a:rPr lang="en-US" sz="2000" dirty="0"/>
            <a:t>System Policies</a:t>
          </a:r>
        </a:p>
      </dgm:t>
      <dgm:extLst>
        <a:ext uri="{E40237B7-FDA0-4F09-8148-C483321AD2D9}">
          <dgm14:cNvPr xmlns:dgm14="http://schemas.microsoft.com/office/drawing/2010/diagram" id="0" name="" descr="System Policies"/>
        </a:ext>
      </dgm:extLst>
    </dgm:pt>
    <dgm:pt modelId="{70F30C82-76B3-CD40-8B24-FA87ED2EF436}" type="parTrans" cxnId="{E12ABAFF-EB2A-3F41-B432-4FC1A4F4053B}">
      <dgm:prSet/>
      <dgm:spPr/>
      <dgm:t>
        <a:bodyPr/>
        <a:lstStyle/>
        <a:p>
          <a:endParaRPr lang="en-US"/>
        </a:p>
      </dgm:t>
    </dgm:pt>
    <dgm:pt modelId="{6C19AE5E-2D78-F14C-8C28-526CE8C10B64}" type="sibTrans" cxnId="{E12ABAFF-EB2A-3F41-B432-4FC1A4F4053B}">
      <dgm:prSet/>
      <dgm:spPr>
        <a:ln w="25400">
          <a:solidFill>
            <a:srgbClr val="0060C1"/>
          </a:solidFill>
        </a:ln>
      </dgm:spPr>
      <dgm:t>
        <a:bodyPr/>
        <a:lstStyle/>
        <a:p>
          <a:endParaRPr lang="en-US"/>
        </a:p>
      </dgm:t>
    </dgm:pt>
    <dgm:pt modelId="{3D659092-1E18-E44D-B4FC-42C059DDA7CB}">
      <dgm:prSet custT="1">
        <dgm:style>
          <a:lnRef idx="0">
            <a:schemeClr val="accent2"/>
          </a:lnRef>
          <a:fillRef idx="3">
            <a:schemeClr val="accent2"/>
          </a:fillRef>
          <a:effectRef idx="3">
            <a:schemeClr val="accent2"/>
          </a:effectRef>
          <a:fontRef idx="minor">
            <a:schemeClr val="lt1"/>
          </a:fontRef>
        </dgm:style>
      </dgm:prSet>
      <dgm:spPr>
        <a:scene3d>
          <a:camera prst="orthographicFront"/>
          <a:lightRig rig="threePt" dir="t"/>
        </a:scene3d>
        <a:sp3d>
          <a:bevelT prst="angle"/>
        </a:sp3d>
      </dgm:spPr>
      <dgm:t>
        <a:bodyPr/>
        <a:lstStyle/>
        <a:p>
          <a:r>
            <a:rPr lang="en-US" sz="2000" dirty="0"/>
            <a:t>Training</a:t>
          </a:r>
        </a:p>
      </dgm:t>
      <dgm:extLst>
        <a:ext uri="{E40237B7-FDA0-4F09-8148-C483321AD2D9}">
          <dgm14:cNvPr xmlns:dgm14="http://schemas.microsoft.com/office/drawing/2010/diagram" id="0" name="" descr="Training"/>
        </a:ext>
      </dgm:extLst>
    </dgm:pt>
    <dgm:pt modelId="{B3F759BE-23BD-EA46-B9E8-D1553560DD09}" type="parTrans" cxnId="{01E9E122-5034-E049-BBF5-C46561D5ECE2}">
      <dgm:prSet/>
      <dgm:spPr/>
      <dgm:t>
        <a:bodyPr/>
        <a:lstStyle/>
        <a:p>
          <a:endParaRPr lang="en-US"/>
        </a:p>
      </dgm:t>
    </dgm:pt>
    <dgm:pt modelId="{ECBD6A88-5BFA-3149-98D7-556509CB0890}" type="sibTrans" cxnId="{01E9E122-5034-E049-BBF5-C46561D5ECE2}">
      <dgm:prSet/>
      <dgm:spPr>
        <a:ln w="25400">
          <a:solidFill>
            <a:srgbClr val="0060C1"/>
          </a:solidFill>
        </a:ln>
      </dgm:spPr>
      <dgm:t>
        <a:bodyPr/>
        <a:lstStyle/>
        <a:p>
          <a:endParaRPr lang="en-US"/>
        </a:p>
      </dgm:t>
    </dgm:pt>
    <dgm:pt modelId="{7BA3555E-CCBD-014A-B4DC-D5F0FC038F13}">
      <dgm:prSet custT="1"/>
      <dgm:spPr>
        <a:scene3d>
          <a:camera prst="orthographicFront"/>
          <a:lightRig rig="threePt" dir="t"/>
        </a:scene3d>
        <a:sp3d>
          <a:bevelT prst="angle"/>
        </a:sp3d>
      </dgm:spPr>
      <dgm:t>
        <a:bodyPr/>
        <a:lstStyle/>
        <a:p>
          <a:r>
            <a:rPr lang="en-US" sz="2000" dirty="0">
              <a:solidFill>
                <a:schemeClr val="tx1"/>
              </a:solidFill>
            </a:rPr>
            <a:t>Transition</a:t>
          </a:r>
        </a:p>
      </dgm:t>
      <dgm:extLst>
        <a:ext uri="{E40237B7-FDA0-4F09-8148-C483321AD2D9}">
          <dgm14:cNvPr xmlns:dgm14="http://schemas.microsoft.com/office/drawing/2010/diagram" id="0" name="" descr="Transition"/>
        </a:ext>
      </dgm:extLst>
    </dgm:pt>
    <dgm:pt modelId="{788C3583-D13F-184A-A873-F126579BCA5F}" type="parTrans" cxnId="{768029AA-F469-ED48-89A8-68A047E6DA92}">
      <dgm:prSet/>
      <dgm:spPr/>
      <dgm:t>
        <a:bodyPr/>
        <a:lstStyle/>
        <a:p>
          <a:endParaRPr lang="en-US"/>
        </a:p>
      </dgm:t>
    </dgm:pt>
    <dgm:pt modelId="{69B6E093-5BEF-A940-8D88-5E0967464022}" type="sibTrans" cxnId="{768029AA-F469-ED48-89A8-68A047E6DA92}">
      <dgm:prSet/>
      <dgm:spPr>
        <a:ln w="25400">
          <a:solidFill>
            <a:srgbClr val="0060C1"/>
          </a:solidFill>
        </a:ln>
      </dgm:spPr>
      <dgm:t>
        <a:bodyPr/>
        <a:lstStyle/>
        <a:p>
          <a:endParaRPr lang="en-US"/>
        </a:p>
      </dgm:t>
    </dgm:pt>
    <dgm:pt modelId="{B35B3E9F-FD6F-404C-8846-8331728C26A6}" type="pres">
      <dgm:prSet presAssocID="{E4680DD0-3B01-D645-855B-115B2A2B049A}" presName="cycle" presStyleCnt="0">
        <dgm:presLayoutVars>
          <dgm:dir/>
          <dgm:resizeHandles val="exact"/>
        </dgm:presLayoutVars>
      </dgm:prSet>
      <dgm:spPr/>
    </dgm:pt>
    <dgm:pt modelId="{B3541BE8-9096-ED49-8E55-3CB7B84D2097}" type="pres">
      <dgm:prSet presAssocID="{9EF8A510-99ED-324F-861D-7471DCD9C5D0}" presName="node" presStyleLbl="node1" presStyleIdx="0" presStyleCnt="8" custScaleX="170383" custScaleY="60815">
        <dgm:presLayoutVars>
          <dgm:bulletEnabled val="1"/>
        </dgm:presLayoutVars>
      </dgm:prSet>
      <dgm:spPr/>
    </dgm:pt>
    <dgm:pt modelId="{36B11E06-5596-9347-9999-70122108A449}" type="pres">
      <dgm:prSet presAssocID="{9EF8A510-99ED-324F-861D-7471DCD9C5D0}" presName="spNode" presStyleCnt="0"/>
      <dgm:spPr/>
    </dgm:pt>
    <dgm:pt modelId="{648E59BB-5001-C045-B1A9-34ABDB8E09EA}" type="pres">
      <dgm:prSet presAssocID="{2765E2DC-0979-5547-9BB0-B07E21943C69}" presName="sibTrans" presStyleLbl="sibTrans1D1" presStyleIdx="0" presStyleCnt="8"/>
      <dgm:spPr/>
    </dgm:pt>
    <dgm:pt modelId="{07F81D62-94E6-CB45-B6D4-D49A862E34A5}" type="pres">
      <dgm:prSet presAssocID="{EB86120C-F490-BC40-9021-0CD4BDFC037A}" presName="node" presStyleLbl="node1" presStyleIdx="1" presStyleCnt="8" custScaleX="127987" custScaleY="59039">
        <dgm:presLayoutVars>
          <dgm:bulletEnabled val="1"/>
        </dgm:presLayoutVars>
      </dgm:prSet>
      <dgm:spPr/>
    </dgm:pt>
    <dgm:pt modelId="{0F88AA1F-D677-E04C-9710-48DCC46FD130}" type="pres">
      <dgm:prSet presAssocID="{EB86120C-F490-BC40-9021-0CD4BDFC037A}" presName="spNode" presStyleCnt="0"/>
      <dgm:spPr/>
    </dgm:pt>
    <dgm:pt modelId="{B45B11D5-382C-4045-921A-F35889848A7B}" type="pres">
      <dgm:prSet presAssocID="{9DABB2C6-918D-F945-9350-FE3202DF0565}" presName="sibTrans" presStyleLbl="sibTrans1D1" presStyleIdx="1" presStyleCnt="8"/>
      <dgm:spPr/>
    </dgm:pt>
    <dgm:pt modelId="{E5F95648-B381-B94C-8FE2-861BF8209BAC}" type="pres">
      <dgm:prSet presAssocID="{0A808260-C64B-7341-B94F-50D9B7508CC9}" presName="node" presStyleLbl="node1" presStyleIdx="2" presStyleCnt="8" custScaleX="102230" custScaleY="53134">
        <dgm:presLayoutVars>
          <dgm:bulletEnabled val="1"/>
        </dgm:presLayoutVars>
      </dgm:prSet>
      <dgm:spPr/>
    </dgm:pt>
    <dgm:pt modelId="{95BBC7F7-BCD8-FF49-8758-C256B74F31D7}" type="pres">
      <dgm:prSet presAssocID="{0A808260-C64B-7341-B94F-50D9B7508CC9}" presName="spNode" presStyleCnt="0"/>
      <dgm:spPr/>
    </dgm:pt>
    <dgm:pt modelId="{AFFE17BD-7B7B-CC42-B535-4F2170B01BC8}" type="pres">
      <dgm:prSet presAssocID="{F15A334B-7AA9-6149-A015-72914CEC7125}" presName="sibTrans" presStyleLbl="sibTrans1D1" presStyleIdx="2" presStyleCnt="8"/>
      <dgm:spPr/>
    </dgm:pt>
    <dgm:pt modelId="{AA22DE72-DB4C-9B4C-810C-1FFE3E1A0DD4}" type="pres">
      <dgm:prSet presAssocID="{3D659092-1E18-E44D-B4FC-42C059DDA7CB}" presName="node" presStyleLbl="node1" presStyleIdx="3" presStyleCnt="8" custScaleY="57036">
        <dgm:presLayoutVars>
          <dgm:bulletEnabled val="1"/>
        </dgm:presLayoutVars>
      </dgm:prSet>
      <dgm:spPr/>
    </dgm:pt>
    <dgm:pt modelId="{CC42250F-6F74-0549-BFFD-3D40BF932E51}" type="pres">
      <dgm:prSet presAssocID="{3D659092-1E18-E44D-B4FC-42C059DDA7CB}" presName="spNode" presStyleCnt="0"/>
      <dgm:spPr/>
    </dgm:pt>
    <dgm:pt modelId="{A4A53420-3721-4E4A-8B8E-B67B0B8EC468}" type="pres">
      <dgm:prSet presAssocID="{ECBD6A88-5BFA-3149-98D7-556509CB0890}" presName="sibTrans" presStyleLbl="sibTrans1D1" presStyleIdx="3" presStyleCnt="8"/>
      <dgm:spPr/>
    </dgm:pt>
    <dgm:pt modelId="{A7A65F87-34F7-0546-B59D-34463F90C65B}" type="pres">
      <dgm:prSet presAssocID="{BF1CA5F1-D039-0949-B8BF-F5E847B23F33}" presName="node" presStyleLbl="node1" presStyleIdx="4" presStyleCnt="8" custScaleX="135134" custScaleY="55519">
        <dgm:presLayoutVars>
          <dgm:bulletEnabled val="1"/>
        </dgm:presLayoutVars>
      </dgm:prSet>
      <dgm:spPr/>
    </dgm:pt>
    <dgm:pt modelId="{E05D7C73-19BC-6449-9A6A-55995D85901E}" type="pres">
      <dgm:prSet presAssocID="{BF1CA5F1-D039-0949-B8BF-F5E847B23F33}" presName="spNode" presStyleCnt="0"/>
      <dgm:spPr/>
    </dgm:pt>
    <dgm:pt modelId="{A71AC181-9617-0E42-985B-3B0448B9C5AF}" type="pres">
      <dgm:prSet presAssocID="{C07AD6C3-162B-6340-80B9-E8CAB43DF4A8}" presName="sibTrans" presStyleLbl="sibTrans1D1" presStyleIdx="4" presStyleCnt="8"/>
      <dgm:spPr/>
    </dgm:pt>
    <dgm:pt modelId="{7DBCFE32-3349-3E48-B94D-AFD387F98091}" type="pres">
      <dgm:prSet presAssocID="{2E45443A-1D9F-5341-9CD1-37ABCEDEE514}" presName="node" presStyleLbl="node1" presStyleIdx="5" presStyleCnt="8" custScaleX="139215" custScaleY="100240">
        <dgm:presLayoutVars>
          <dgm:bulletEnabled val="1"/>
        </dgm:presLayoutVars>
      </dgm:prSet>
      <dgm:spPr/>
    </dgm:pt>
    <dgm:pt modelId="{F7192295-8A21-BF45-813D-FB3E014E4456}" type="pres">
      <dgm:prSet presAssocID="{2E45443A-1D9F-5341-9CD1-37ABCEDEE514}" presName="spNode" presStyleCnt="0"/>
      <dgm:spPr/>
    </dgm:pt>
    <dgm:pt modelId="{6F0521D2-F4EE-6047-9441-B1E8EE28CF4C}" type="pres">
      <dgm:prSet presAssocID="{294EF629-CC04-FF4B-9894-CEEF81E5B3FB}" presName="sibTrans" presStyleLbl="sibTrans1D1" presStyleIdx="5" presStyleCnt="8"/>
      <dgm:spPr/>
    </dgm:pt>
    <dgm:pt modelId="{0F2ECD0D-65BC-104E-A588-7C010897D429}" type="pres">
      <dgm:prSet presAssocID="{4A29014A-21DE-1D47-835D-0924545C98A9}" presName="node" presStyleLbl="node1" presStyleIdx="6" presStyleCnt="8" custScaleX="171555" custScaleY="55519">
        <dgm:presLayoutVars>
          <dgm:bulletEnabled val="1"/>
        </dgm:presLayoutVars>
      </dgm:prSet>
      <dgm:spPr/>
    </dgm:pt>
    <dgm:pt modelId="{16FFFA54-B77E-E347-9027-7AF047640063}" type="pres">
      <dgm:prSet presAssocID="{4A29014A-21DE-1D47-835D-0924545C98A9}" presName="spNode" presStyleCnt="0"/>
      <dgm:spPr/>
    </dgm:pt>
    <dgm:pt modelId="{A59D0CE1-CE8B-3149-A816-C837218F91E1}" type="pres">
      <dgm:prSet presAssocID="{6C19AE5E-2D78-F14C-8C28-526CE8C10B64}" presName="sibTrans" presStyleLbl="sibTrans1D1" presStyleIdx="6" presStyleCnt="8"/>
      <dgm:spPr/>
    </dgm:pt>
    <dgm:pt modelId="{0E533C64-2A09-0C4B-9830-A8BF063DCD0A}" type="pres">
      <dgm:prSet presAssocID="{7BA3555E-CCBD-014A-B4DC-D5F0FC038F13}" presName="node" presStyleLbl="node1" presStyleIdx="7" presStyleCnt="8" custScaleX="123775" custScaleY="49618" custRadScaleRad="100616" custRadScaleInc="-11340">
        <dgm:presLayoutVars>
          <dgm:bulletEnabled val="1"/>
        </dgm:presLayoutVars>
      </dgm:prSet>
      <dgm:spPr/>
    </dgm:pt>
    <dgm:pt modelId="{0B1102DD-7168-5349-A21C-1066138C23FE}" type="pres">
      <dgm:prSet presAssocID="{7BA3555E-CCBD-014A-B4DC-D5F0FC038F13}" presName="spNode" presStyleCnt="0"/>
      <dgm:spPr/>
    </dgm:pt>
    <dgm:pt modelId="{0A4252C7-7FE2-784E-8A39-B16305DE0B94}" type="pres">
      <dgm:prSet presAssocID="{69B6E093-5BEF-A940-8D88-5E0967464022}" presName="sibTrans" presStyleLbl="sibTrans1D1" presStyleIdx="7" presStyleCnt="8"/>
      <dgm:spPr/>
    </dgm:pt>
  </dgm:ptLst>
  <dgm:cxnLst>
    <dgm:cxn modelId="{4BB37611-2593-4B45-9E6E-7A054DF12757}" type="presOf" srcId="{69B6E093-5BEF-A940-8D88-5E0967464022}" destId="{0A4252C7-7FE2-784E-8A39-B16305DE0B94}" srcOrd="0" destOrd="0" presId="urn:microsoft.com/office/officeart/2005/8/layout/cycle6"/>
    <dgm:cxn modelId="{2DAA901B-BC5B-E943-83DB-5D6A9919C123}" type="presOf" srcId="{3D659092-1E18-E44D-B4FC-42C059DDA7CB}" destId="{AA22DE72-DB4C-9B4C-810C-1FFE3E1A0DD4}" srcOrd="0" destOrd="0" presId="urn:microsoft.com/office/officeart/2005/8/layout/cycle6"/>
    <dgm:cxn modelId="{F8B97A1F-ACD1-364A-80AA-E97D9C3A0702}" type="presOf" srcId="{ECBD6A88-5BFA-3149-98D7-556509CB0890}" destId="{A4A53420-3721-4E4A-8B8E-B67B0B8EC468}" srcOrd="0" destOrd="0" presId="urn:microsoft.com/office/officeart/2005/8/layout/cycle6"/>
    <dgm:cxn modelId="{3A9E1922-32AF-5249-98FF-C25B387BA294}" type="presOf" srcId="{9EF8A510-99ED-324F-861D-7471DCD9C5D0}" destId="{B3541BE8-9096-ED49-8E55-3CB7B84D2097}" srcOrd="0" destOrd="0" presId="urn:microsoft.com/office/officeart/2005/8/layout/cycle6"/>
    <dgm:cxn modelId="{01E9E122-5034-E049-BBF5-C46561D5ECE2}" srcId="{E4680DD0-3B01-D645-855B-115B2A2B049A}" destId="{3D659092-1E18-E44D-B4FC-42C059DDA7CB}" srcOrd="3" destOrd="0" parTransId="{B3F759BE-23BD-EA46-B9E8-D1553560DD09}" sibTransId="{ECBD6A88-5BFA-3149-98D7-556509CB0890}"/>
    <dgm:cxn modelId="{BDC57324-117A-1648-A91D-76BC154DAA36}" type="presOf" srcId="{F15A334B-7AA9-6149-A015-72914CEC7125}" destId="{AFFE17BD-7B7B-CC42-B535-4F2170B01BC8}" srcOrd="0" destOrd="0" presId="urn:microsoft.com/office/officeart/2005/8/layout/cycle6"/>
    <dgm:cxn modelId="{B0CFBB2E-95D3-C647-912B-1D6FD4E6EB6D}" type="presOf" srcId="{BF1CA5F1-D039-0949-B8BF-F5E847B23F33}" destId="{A7A65F87-34F7-0546-B59D-34463F90C65B}" srcOrd="0" destOrd="0" presId="urn:microsoft.com/office/officeart/2005/8/layout/cycle6"/>
    <dgm:cxn modelId="{4AC0A632-CC6F-3044-9DBD-18E0794C9CBF}" srcId="{E4680DD0-3B01-D645-855B-115B2A2B049A}" destId="{2E45443A-1D9F-5341-9CD1-37ABCEDEE514}" srcOrd="5" destOrd="0" parTransId="{C028F4A1-B031-A846-B1D8-63B0ABC0C4F1}" sibTransId="{294EF629-CC04-FF4B-9894-CEEF81E5B3FB}"/>
    <dgm:cxn modelId="{9E49B33A-1B0F-B241-AB28-06E59D2EB2F8}" type="presOf" srcId="{E4680DD0-3B01-D645-855B-115B2A2B049A}" destId="{B35B3E9F-FD6F-404C-8846-8331728C26A6}" srcOrd="0" destOrd="0" presId="urn:microsoft.com/office/officeart/2005/8/layout/cycle6"/>
    <dgm:cxn modelId="{7396F43C-B0B0-B94D-ADBA-38F173BC4A90}" type="presOf" srcId="{9DABB2C6-918D-F945-9350-FE3202DF0565}" destId="{B45B11D5-382C-4045-921A-F35889848A7B}" srcOrd="0" destOrd="0" presId="urn:microsoft.com/office/officeart/2005/8/layout/cycle6"/>
    <dgm:cxn modelId="{6BF23C4C-AE9E-E74E-BABD-902CA1A357A5}" srcId="{E4680DD0-3B01-D645-855B-115B2A2B049A}" destId="{0A808260-C64B-7341-B94F-50D9B7508CC9}" srcOrd="2" destOrd="0" parTransId="{37AEA23B-A956-644F-8FFE-712FD56C4DE2}" sibTransId="{F15A334B-7AA9-6149-A015-72914CEC7125}"/>
    <dgm:cxn modelId="{8BFC9762-E214-904E-B02B-C53D253BBEE9}" type="presOf" srcId="{4A29014A-21DE-1D47-835D-0924545C98A9}" destId="{0F2ECD0D-65BC-104E-A588-7C010897D429}" srcOrd="0" destOrd="0" presId="urn:microsoft.com/office/officeart/2005/8/layout/cycle6"/>
    <dgm:cxn modelId="{86D39366-45EB-9E48-BF7C-C0CBF5DE7F0D}" type="presOf" srcId="{C07AD6C3-162B-6340-80B9-E8CAB43DF4A8}" destId="{A71AC181-9617-0E42-985B-3B0448B9C5AF}" srcOrd="0" destOrd="0" presId="urn:microsoft.com/office/officeart/2005/8/layout/cycle6"/>
    <dgm:cxn modelId="{BDD3CD6E-F771-5745-AADC-FD49C8AAB983}" srcId="{E4680DD0-3B01-D645-855B-115B2A2B049A}" destId="{9EF8A510-99ED-324F-861D-7471DCD9C5D0}" srcOrd="0" destOrd="0" parTransId="{007FD2A4-6795-2644-BDC0-7D9254477FE4}" sibTransId="{2765E2DC-0979-5547-9BB0-B07E21943C69}"/>
    <dgm:cxn modelId="{615B9E73-3974-9442-BC14-CF4DFEF74318}" type="presOf" srcId="{6C19AE5E-2D78-F14C-8C28-526CE8C10B64}" destId="{A59D0CE1-CE8B-3149-A816-C837218F91E1}" srcOrd="0" destOrd="0" presId="urn:microsoft.com/office/officeart/2005/8/layout/cycle6"/>
    <dgm:cxn modelId="{A071C07C-DA5B-4A4F-9562-F7E0E3C532D3}" type="presOf" srcId="{2E45443A-1D9F-5341-9CD1-37ABCEDEE514}" destId="{7DBCFE32-3349-3E48-B94D-AFD387F98091}" srcOrd="0" destOrd="0" presId="urn:microsoft.com/office/officeart/2005/8/layout/cycle6"/>
    <dgm:cxn modelId="{80AA7896-9ACC-5F49-8BD2-B7F75F566C10}" type="presOf" srcId="{294EF629-CC04-FF4B-9894-CEEF81E5B3FB}" destId="{6F0521D2-F4EE-6047-9441-B1E8EE28CF4C}" srcOrd="0" destOrd="0" presId="urn:microsoft.com/office/officeart/2005/8/layout/cycle6"/>
    <dgm:cxn modelId="{768029AA-F469-ED48-89A8-68A047E6DA92}" srcId="{E4680DD0-3B01-D645-855B-115B2A2B049A}" destId="{7BA3555E-CCBD-014A-B4DC-D5F0FC038F13}" srcOrd="7" destOrd="0" parTransId="{788C3583-D13F-184A-A873-F126579BCA5F}" sibTransId="{69B6E093-5BEF-A940-8D88-5E0967464022}"/>
    <dgm:cxn modelId="{B7AC89B6-5D20-BC46-9760-F19DA23FA61C}" srcId="{E4680DD0-3B01-D645-855B-115B2A2B049A}" destId="{EB86120C-F490-BC40-9021-0CD4BDFC037A}" srcOrd="1" destOrd="0" parTransId="{2FAD6CD1-F1C2-EE4E-8B3D-F66B2F4FDF48}" sibTransId="{9DABB2C6-918D-F945-9350-FE3202DF0565}"/>
    <dgm:cxn modelId="{EFF685DA-67F2-5C44-8D3C-D75A0C75ADC9}" type="presOf" srcId="{0A808260-C64B-7341-B94F-50D9B7508CC9}" destId="{E5F95648-B381-B94C-8FE2-861BF8209BAC}" srcOrd="0" destOrd="0" presId="urn:microsoft.com/office/officeart/2005/8/layout/cycle6"/>
    <dgm:cxn modelId="{438452DB-8953-3142-BF19-72A4C4F6AE63}" type="presOf" srcId="{7BA3555E-CCBD-014A-B4DC-D5F0FC038F13}" destId="{0E533C64-2A09-0C4B-9830-A8BF063DCD0A}" srcOrd="0" destOrd="0" presId="urn:microsoft.com/office/officeart/2005/8/layout/cycle6"/>
    <dgm:cxn modelId="{62B210DC-7CC8-294A-A5DB-CB03C1A61716}" type="presOf" srcId="{EB86120C-F490-BC40-9021-0CD4BDFC037A}" destId="{07F81D62-94E6-CB45-B6D4-D49A862E34A5}" srcOrd="0" destOrd="0" presId="urn:microsoft.com/office/officeart/2005/8/layout/cycle6"/>
    <dgm:cxn modelId="{2F418EE7-D95C-744B-84D3-09A220074647}" srcId="{E4680DD0-3B01-D645-855B-115B2A2B049A}" destId="{BF1CA5F1-D039-0949-B8BF-F5E847B23F33}" srcOrd="4" destOrd="0" parTransId="{6997D46D-ED75-A84B-8266-42BD8C356546}" sibTransId="{C07AD6C3-162B-6340-80B9-E8CAB43DF4A8}"/>
    <dgm:cxn modelId="{648A58F9-7A2F-5143-99A2-F1DB0E197CC2}" type="presOf" srcId="{2765E2DC-0979-5547-9BB0-B07E21943C69}" destId="{648E59BB-5001-C045-B1A9-34ABDB8E09EA}" srcOrd="0" destOrd="0" presId="urn:microsoft.com/office/officeart/2005/8/layout/cycle6"/>
    <dgm:cxn modelId="{E12ABAFF-EB2A-3F41-B432-4FC1A4F4053B}" srcId="{E4680DD0-3B01-D645-855B-115B2A2B049A}" destId="{4A29014A-21DE-1D47-835D-0924545C98A9}" srcOrd="6" destOrd="0" parTransId="{70F30C82-76B3-CD40-8B24-FA87ED2EF436}" sibTransId="{6C19AE5E-2D78-F14C-8C28-526CE8C10B64}"/>
    <dgm:cxn modelId="{4D716BE5-7C29-D841-90AD-AC8F840D4AF9}" type="presParOf" srcId="{B35B3E9F-FD6F-404C-8846-8331728C26A6}" destId="{B3541BE8-9096-ED49-8E55-3CB7B84D2097}" srcOrd="0" destOrd="0" presId="urn:microsoft.com/office/officeart/2005/8/layout/cycle6"/>
    <dgm:cxn modelId="{3458B4BC-4BEB-7B47-B749-C37CC760895F}" type="presParOf" srcId="{B35B3E9F-FD6F-404C-8846-8331728C26A6}" destId="{36B11E06-5596-9347-9999-70122108A449}" srcOrd="1" destOrd="0" presId="urn:microsoft.com/office/officeart/2005/8/layout/cycle6"/>
    <dgm:cxn modelId="{7F0CEF1C-4895-FB49-9DD1-69F07D9A3EB9}" type="presParOf" srcId="{B35B3E9F-FD6F-404C-8846-8331728C26A6}" destId="{648E59BB-5001-C045-B1A9-34ABDB8E09EA}" srcOrd="2" destOrd="0" presId="urn:microsoft.com/office/officeart/2005/8/layout/cycle6"/>
    <dgm:cxn modelId="{66F501A8-B738-C543-94EC-8E9BE2FE7821}" type="presParOf" srcId="{B35B3E9F-FD6F-404C-8846-8331728C26A6}" destId="{07F81D62-94E6-CB45-B6D4-D49A862E34A5}" srcOrd="3" destOrd="0" presId="urn:microsoft.com/office/officeart/2005/8/layout/cycle6"/>
    <dgm:cxn modelId="{55876302-C70A-6443-BB2C-5B5308F90A4D}" type="presParOf" srcId="{B35B3E9F-FD6F-404C-8846-8331728C26A6}" destId="{0F88AA1F-D677-E04C-9710-48DCC46FD130}" srcOrd="4" destOrd="0" presId="urn:microsoft.com/office/officeart/2005/8/layout/cycle6"/>
    <dgm:cxn modelId="{7D7FE65D-FB7B-294B-9C67-154BFF161098}" type="presParOf" srcId="{B35B3E9F-FD6F-404C-8846-8331728C26A6}" destId="{B45B11D5-382C-4045-921A-F35889848A7B}" srcOrd="5" destOrd="0" presId="urn:microsoft.com/office/officeart/2005/8/layout/cycle6"/>
    <dgm:cxn modelId="{2ABC1F07-363C-6C48-8CB5-CDD9A541A1D5}" type="presParOf" srcId="{B35B3E9F-FD6F-404C-8846-8331728C26A6}" destId="{E5F95648-B381-B94C-8FE2-861BF8209BAC}" srcOrd="6" destOrd="0" presId="urn:microsoft.com/office/officeart/2005/8/layout/cycle6"/>
    <dgm:cxn modelId="{25805C54-AC12-DA4E-AFE9-13235DEA2660}" type="presParOf" srcId="{B35B3E9F-FD6F-404C-8846-8331728C26A6}" destId="{95BBC7F7-BCD8-FF49-8758-C256B74F31D7}" srcOrd="7" destOrd="0" presId="urn:microsoft.com/office/officeart/2005/8/layout/cycle6"/>
    <dgm:cxn modelId="{945E4D95-E6CA-3F41-9D98-1961B57749A2}" type="presParOf" srcId="{B35B3E9F-FD6F-404C-8846-8331728C26A6}" destId="{AFFE17BD-7B7B-CC42-B535-4F2170B01BC8}" srcOrd="8" destOrd="0" presId="urn:microsoft.com/office/officeart/2005/8/layout/cycle6"/>
    <dgm:cxn modelId="{A7776159-3684-2848-9A8B-A9AB38E0B28F}" type="presParOf" srcId="{B35B3E9F-FD6F-404C-8846-8331728C26A6}" destId="{AA22DE72-DB4C-9B4C-810C-1FFE3E1A0DD4}" srcOrd="9" destOrd="0" presId="urn:microsoft.com/office/officeart/2005/8/layout/cycle6"/>
    <dgm:cxn modelId="{B392DF06-A950-0746-B50A-76508DBFF9A3}" type="presParOf" srcId="{B35B3E9F-FD6F-404C-8846-8331728C26A6}" destId="{CC42250F-6F74-0549-BFFD-3D40BF932E51}" srcOrd="10" destOrd="0" presId="urn:microsoft.com/office/officeart/2005/8/layout/cycle6"/>
    <dgm:cxn modelId="{AEBFACEA-A877-D54F-B847-B2C21F321FF6}" type="presParOf" srcId="{B35B3E9F-FD6F-404C-8846-8331728C26A6}" destId="{A4A53420-3721-4E4A-8B8E-B67B0B8EC468}" srcOrd="11" destOrd="0" presId="urn:microsoft.com/office/officeart/2005/8/layout/cycle6"/>
    <dgm:cxn modelId="{4A78BDF4-BC7A-7545-959E-D9AE0196461E}" type="presParOf" srcId="{B35B3E9F-FD6F-404C-8846-8331728C26A6}" destId="{A7A65F87-34F7-0546-B59D-34463F90C65B}" srcOrd="12" destOrd="0" presId="urn:microsoft.com/office/officeart/2005/8/layout/cycle6"/>
    <dgm:cxn modelId="{CE28534C-9DC9-5C40-BE88-D43087B21924}" type="presParOf" srcId="{B35B3E9F-FD6F-404C-8846-8331728C26A6}" destId="{E05D7C73-19BC-6449-9A6A-55995D85901E}" srcOrd="13" destOrd="0" presId="urn:microsoft.com/office/officeart/2005/8/layout/cycle6"/>
    <dgm:cxn modelId="{33AC464E-7280-764D-9253-58B433EEB459}" type="presParOf" srcId="{B35B3E9F-FD6F-404C-8846-8331728C26A6}" destId="{A71AC181-9617-0E42-985B-3B0448B9C5AF}" srcOrd="14" destOrd="0" presId="urn:microsoft.com/office/officeart/2005/8/layout/cycle6"/>
    <dgm:cxn modelId="{965E105F-55E9-9247-9ADF-EF51B1D64886}" type="presParOf" srcId="{B35B3E9F-FD6F-404C-8846-8331728C26A6}" destId="{7DBCFE32-3349-3E48-B94D-AFD387F98091}" srcOrd="15" destOrd="0" presId="urn:microsoft.com/office/officeart/2005/8/layout/cycle6"/>
    <dgm:cxn modelId="{5A8380C1-884D-404C-B49F-AEC4ABB0D7AD}" type="presParOf" srcId="{B35B3E9F-FD6F-404C-8846-8331728C26A6}" destId="{F7192295-8A21-BF45-813D-FB3E014E4456}" srcOrd="16" destOrd="0" presId="urn:microsoft.com/office/officeart/2005/8/layout/cycle6"/>
    <dgm:cxn modelId="{164BD7C6-3391-C94F-BABA-67B9B27A3151}" type="presParOf" srcId="{B35B3E9F-FD6F-404C-8846-8331728C26A6}" destId="{6F0521D2-F4EE-6047-9441-B1E8EE28CF4C}" srcOrd="17" destOrd="0" presId="urn:microsoft.com/office/officeart/2005/8/layout/cycle6"/>
    <dgm:cxn modelId="{91B0F1D6-B27B-A048-B2A5-E4D482AA4B84}" type="presParOf" srcId="{B35B3E9F-FD6F-404C-8846-8331728C26A6}" destId="{0F2ECD0D-65BC-104E-A588-7C010897D429}" srcOrd="18" destOrd="0" presId="urn:microsoft.com/office/officeart/2005/8/layout/cycle6"/>
    <dgm:cxn modelId="{5369C672-B39A-0C44-B045-F909E3BBADD1}" type="presParOf" srcId="{B35B3E9F-FD6F-404C-8846-8331728C26A6}" destId="{16FFFA54-B77E-E347-9027-7AF047640063}" srcOrd="19" destOrd="0" presId="urn:microsoft.com/office/officeart/2005/8/layout/cycle6"/>
    <dgm:cxn modelId="{36E7CBFE-1018-4E43-AD54-B76F6E8AAABB}" type="presParOf" srcId="{B35B3E9F-FD6F-404C-8846-8331728C26A6}" destId="{A59D0CE1-CE8B-3149-A816-C837218F91E1}" srcOrd="20" destOrd="0" presId="urn:microsoft.com/office/officeart/2005/8/layout/cycle6"/>
    <dgm:cxn modelId="{869E1D39-CBDB-6247-BB98-53030C12B3A2}" type="presParOf" srcId="{B35B3E9F-FD6F-404C-8846-8331728C26A6}" destId="{0E533C64-2A09-0C4B-9830-A8BF063DCD0A}" srcOrd="21" destOrd="0" presId="urn:microsoft.com/office/officeart/2005/8/layout/cycle6"/>
    <dgm:cxn modelId="{7B894083-17D7-2747-9764-9C842FA2D477}" type="presParOf" srcId="{B35B3E9F-FD6F-404C-8846-8331728C26A6}" destId="{0B1102DD-7168-5349-A21C-1066138C23FE}" srcOrd="22" destOrd="0" presId="urn:microsoft.com/office/officeart/2005/8/layout/cycle6"/>
    <dgm:cxn modelId="{96A2D0BB-ACF3-1D4B-951B-776F39D7AF09}" type="presParOf" srcId="{B35B3E9F-FD6F-404C-8846-8331728C26A6}" destId="{0A4252C7-7FE2-784E-8A39-B16305DE0B94}" srcOrd="23" destOrd="0" presId="urn:microsoft.com/office/officeart/2005/8/layout/cycle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A58526-F34A-1549-9334-22E63279823E}">
      <dsp:nvSpPr>
        <dsp:cNvPr id="0" name=""/>
        <dsp:cNvSpPr/>
      </dsp:nvSpPr>
      <dsp:spPr>
        <a:xfrm>
          <a:off x="600712" y="0"/>
          <a:ext cx="7437755" cy="6180328"/>
        </a:xfrm>
        <a:prstGeom prst="rightArrow">
          <a:avLst/>
        </a:prstGeom>
        <a:solidFill>
          <a:schemeClr val="accent1">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233C1BC6-B1F6-3F45-8B03-EDCA22BAB1D6}">
      <dsp:nvSpPr>
        <dsp:cNvPr id="0" name=""/>
        <dsp:cNvSpPr/>
      </dsp:nvSpPr>
      <dsp:spPr>
        <a:xfrm>
          <a:off x="4589" y="1854098"/>
          <a:ext cx="1662898" cy="2472131"/>
        </a:xfrm>
        <a:prstGeom prst="roundRect">
          <a:avLst/>
        </a:prstGeom>
        <a:gradFill rotWithShape="1">
          <a:gsLst>
            <a:gs pos="0">
              <a:schemeClr val="accent6">
                <a:tint val="100000"/>
                <a:shade val="100000"/>
                <a:satMod val="130000"/>
              </a:schemeClr>
            </a:gs>
            <a:gs pos="100000">
              <a:schemeClr val="accent6">
                <a:tint val="50000"/>
                <a:shade val="100000"/>
                <a:satMod val="350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a:scene3d>
          <a:camera prst="orthographicFront"/>
          <a:lightRig rig="threePt" dir="t"/>
        </a:scene3d>
        <a:sp3d>
          <a:bevelT w="139700" h="139700" prst="divot"/>
        </a:sp3d>
      </dsp:spPr>
      <dsp:style>
        <a:lnRef idx="1">
          <a:schemeClr val="accent6"/>
        </a:lnRef>
        <a:fillRef idx="3">
          <a:schemeClr val="accent6"/>
        </a:fillRef>
        <a:effectRef idx="2">
          <a:schemeClr val="accent6"/>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tx1"/>
              </a:solidFill>
            </a:rPr>
            <a:t>Person-Centered Planning</a:t>
          </a:r>
        </a:p>
      </dsp:txBody>
      <dsp:txXfrm>
        <a:off x="85765" y="1935274"/>
        <a:ext cx="1500546" cy="2309779"/>
      </dsp:txXfrm>
    </dsp:sp>
    <dsp:sp modelId="{6FFBFB83-9131-844B-8F0A-13CD4902D693}">
      <dsp:nvSpPr>
        <dsp:cNvPr id="0" name=""/>
        <dsp:cNvSpPr/>
      </dsp:nvSpPr>
      <dsp:spPr>
        <a:xfrm>
          <a:off x="1763195" y="1854098"/>
          <a:ext cx="1706699" cy="2472131"/>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scene3d>
        <a:sp3d>
          <a:bevelT w="139700" h="139700" prst="divot"/>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kern="1200" dirty="0">
              <a:solidFill>
                <a:schemeClr val="tx1"/>
              </a:solidFill>
            </a:rPr>
            <a:t>Exploration &amp; Discovery</a:t>
          </a:r>
        </a:p>
      </dsp:txBody>
      <dsp:txXfrm>
        <a:off x="1846509" y="1937412"/>
        <a:ext cx="1540071" cy="2305503"/>
      </dsp:txXfrm>
    </dsp:sp>
    <dsp:sp modelId="{445CBBD1-DFB3-0D4A-A054-257C86B961A5}">
      <dsp:nvSpPr>
        <dsp:cNvPr id="0" name=""/>
        <dsp:cNvSpPr/>
      </dsp:nvSpPr>
      <dsp:spPr>
        <a:xfrm>
          <a:off x="3565600" y="1854098"/>
          <a:ext cx="1662898" cy="2472131"/>
        </a:xfrm>
        <a:prstGeom prst="roundRect">
          <a:avLst/>
        </a:prstGeom>
        <a:gradFill rotWithShape="1">
          <a:gsLst>
            <a:gs pos="0">
              <a:schemeClr val="accent2">
                <a:tint val="100000"/>
                <a:shade val="100000"/>
                <a:satMod val="130000"/>
              </a:schemeClr>
            </a:gs>
            <a:gs pos="100000">
              <a:schemeClr val="accent2">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balanced" dir="t">
            <a:rot lat="0" lon="0" rev="5100000"/>
          </a:lightRig>
        </a:scene3d>
        <a:sp3d contourW="6350">
          <a:bevelT w="29210" h="12700" prst="divot"/>
          <a:contourClr>
            <a:schemeClr val="accent2">
              <a:shade val="30000"/>
              <a:satMod val="130000"/>
            </a:schemeClr>
          </a:contourClr>
        </a:sp3d>
      </dsp:spPr>
      <dsp:style>
        <a:lnRef idx="0">
          <a:schemeClr val="accent2"/>
        </a:lnRef>
        <a:fillRef idx="3">
          <a:schemeClr val="accent2"/>
        </a:fillRef>
        <a:effectRef idx="3">
          <a:schemeClr val="accent2"/>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solidFill>
                <a:schemeClr val="tx1"/>
              </a:solidFill>
            </a:rPr>
            <a:t>Job Development &amp;</a:t>
          </a:r>
        </a:p>
        <a:p>
          <a:pPr marL="0" lvl="0" indent="0" algn="ctr" defTabSz="844550">
            <a:lnSpc>
              <a:spcPct val="90000"/>
            </a:lnSpc>
            <a:spcBef>
              <a:spcPct val="0"/>
            </a:spcBef>
            <a:spcAft>
              <a:spcPct val="35000"/>
            </a:spcAft>
            <a:buNone/>
          </a:pPr>
          <a:r>
            <a:rPr lang="en-US" sz="1900" b="1" kern="1200" dirty="0">
              <a:solidFill>
                <a:schemeClr val="tx1"/>
              </a:solidFill>
            </a:rPr>
            <a:t> Job Design</a:t>
          </a:r>
        </a:p>
      </dsp:txBody>
      <dsp:txXfrm>
        <a:off x="3646776" y="1935274"/>
        <a:ext cx="1500546" cy="2309779"/>
      </dsp:txXfrm>
    </dsp:sp>
    <dsp:sp modelId="{C556ECAE-C952-C841-B26D-606938BA86EF}">
      <dsp:nvSpPr>
        <dsp:cNvPr id="0" name=""/>
        <dsp:cNvSpPr/>
      </dsp:nvSpPr>
      <dsp:spPr>
        <a:xfrm>
          <a:off x="5324206" y="1854098"/>
          <a:ext cx="1662898" cy="2472131"/>
        </a:xfrm>
        <a:prstGeom prst="roundRect">
          <a:avLst/>
        </a:prstGeom>
        <a:gradFill rotWithShape="1">
          <a:gsLst>
            <a:gs pos="0">
              <a:schemeClr val="accent4">
                <a:tint val="100000"/>
                <a:shade val="100000"/>
                <a:satMod val="130000"/>
              </a:schemeClr>
            </a:gs>
            <a:gs pos="100000">
              <a:schemeClr val="accent4">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balanced" dir="t">
            <a:rot lat="0" lon="0" rev="5100000"/>
          </a:lightRig>
        </a:scene3d>
        <a:sp3d contourW="6350">
          <a:bevelT w="29210" h="12700" prst="divot"/>
          <a:contourClr>
            <a:schemeClr val="accent4">
              <a:shade val="30000"/>
              <a:satMod val="130000"/>
            </a:schemeClr>
          </a:contourClr>
        </a:sp3d>
      </dsp:spPr>
      <dsp:style>
        <a:lnRef idx="0">
          <a:schemeClr val="accent4"/>
        </a:lnRef>
        <a:fillRef idx="3">
          <a:schemeClr val="accent4"/>
        </a:fillRef>
        <a:effectRef idx="3">
          <a:schemeClr val="accent4"/>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kern="1200" dirty="0">
              <a:solidFill>
                <a:schemeClr val="tx1"/>
              </a:solidFill>
            </a:rPr>
            <a:t>Initial Placement Support</a:t>
          </a:r>
        </a:p>
      </dsp:txBody>
      <dsp:txXfrm>
        <a:off x="5405382" y="1935274"/>
        <a:ext cx="1500546" cy="2309779"/>
      </dsp:txXfrm>
    </dsp:sp>
    <dsp:sp modelId="{04F24155-D9CF-D84D-909F-C081C6DAC877}">
      <dsp:nvSpPr>
        <dsp:cNvPr id="0" name=""/>
        <dsp:cNvSpPr/>
      </dsp:nvSpPr>
      <dsp:spPr>
        <a:xfrm>
          <a:off x="7082811" y="1854098"/>
          <a:ext cx="1662898" cy="2472131"/>
        </a:xfrm>
        <a:prstGeom prst="roundRect">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ln>
        <a:effectLst>
          <a:outerShdw blurRad="40000" dist="20000" dir="5400000" rotWithShape="0">
            <a:srgbClr val="000000">
              <a:alpha val="38000"/>
            </a:srgbClr>
          </a:outerShdw>
        </a:effectLst>
        <a:scene3d>
          <a:camera prst="orthographicFront"/>
          <a:lightRig rig="threePt" dir="t"/>
        </a:scene3d>
        <a:sp3d>
          <a:bevelT w="139700" h="139700" prst="divot"/>
        </a:sp3d>
      </dsp:spPr>
      <dsp:style>
        <a:lnRef idx="1">
          <a:schemeClr val="accent2"/>
        </a:lnRef>
        <a:fillRef idx="2">
          <a:schemeClr val="accent2"/>
        </a:fillRef>
        <a:effectRef idx="1">
          <a:schemeClr val="accent2"/>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Follow-Up Supports</a:t>
          </a:r>
        </a:p>
      </dsp:txBody>
      <dsp:txXfrm>
        <a:off x="7163987" y="1935274"/>
        <a:ext cx="1500546" cy="23097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541BE8-9096-ED49-8E55-3CB7B84D2097}">
      <dsp:nvSpPr>
        <dsp:cNvPr id="0" name=""/>
        <dsp:cNvSpPr/>
      </dsp:nvSpPr>
      <dsp:spPr>
        <a:xfrm>
          <a:off x="3661528" y="184977"/>
          <a:ext cx="2286004" cy="530364"/>
        </a:xfrm>
        <a:prstGeom prst="roundRect">
          <a:avLst/>
        </a:prstGeom>
        <a:solidFill>
          <a:srgbClr val="0060C1"/>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Confidentiality</a:t>
          </a:r>
        </a:p>
      </dsp:txBody>
      <dsp:txXfrm>
        <a:off x="3687418" y="210867"/>
        <a:ext cx="2234224" cy="478584"/>
      </dsp:txXfrm>
    </dsp:sp>
    <dsp:sp modelId="{648E59BB-5001-C045-B1A9-34ABDB8E09EA}">
      <dsp:nvSpPr>
        <dsp:cNvPr id="0" name=""/>
        <dsp:cNvSpPr/>
      </dsp:nvSpPr>
      <dsp:spPr>
        <a:xfrm>
          <a:off x="1776044" y="450160"/>
          <a:ext cx="6056972" cy="6056972"/>
        </a:xfrm>
        <a:custGeom>
          <a:avLst/>
          <a:gdLst/>
          <a:ahLst/>
          <a:cxnLst/>
          <a:rect l="0" t="0" r="0" b="0"/>
          <a:pathLst>
            <a:path>
              <a:moveTo>
                <a:pt x="4179020" y="227057"/>
              </a:moveTo>
              <a:arcTo wR="3028486" hR="3028486" stAng="17539664" swAng="908097"/>
            </a:path>
          </a:pathLst>
        </a:custGeom>
        <a:noFill/>
        <a:ln w="25400" cap="flat" cmpd="sng" algn="ctr">
          <a:solidFill>
            <a:srgbClr val="0070C0"/>
          </a:solidFill>
          <a:prstDash val="solid"/>
          <a:miter lim="800000"/>
        </a:ln>
        <a:effectLst/>
      </dsp:spPr>
      <dsp:style>
        <a:lnRef idx="1">
          <a:scrgbClr r="0" g="0" b="0"/>
        </a:lnRef>
        <a:fillRef idx="0">
          <a:scrgbClr r="0" g="0" b="0"/>
        </a:fillRef>
        <a:effectRef idx="0">
          <a:scrgbClr r="0" g="0" b="0"/>
        </a:effectRef>
        <a:fontRef idx="minor"/>
      </dsp:style>
    </dsp:sp>
    <dsp:sp modelId="{07F81D62-94E6-CB45-B6D4-D49A862E34A5}">
      <dsp:nvSpPr>
        <dsp:cNvPr id="0" name=""/>
        <dsp:cNvSpPr/>
      </dsp:nvSpPr>
      <dsp:spPr>
        <a:xfrm>
          <a:off x="6087402" y="1079745"/>
          <a:ext cx="1717183" cy="514876"/>
        </a:xfrm>
        <a:prstGeom prst="roundRect">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lightRig rig="threePt" dir="t"/>
        </a:scene3d>
        <a:sp3d>
          <a:bevelT prst="angle"/>
        </a:sp3d>
      </dsp:spPr>
      <dsp:style>
        <a:lnRef idx="0">
          <a:schemeClr val="accent6"/>
        </a:lnRef>
        <a:fillRef idx="3">
          <a:schemeClr val="accent6"/>
        </a:fillRef>
        <a:effectRef idx="3">
          <a:schemeClr val="accent6"/>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Resources</a:t>
          </a:r>
        </a:p>
      </dsp:txBody>
      <dsp:txXfrm>
        <a:off x="6112536" y="1104879"/>
        <a:ext cx="1666915" cy="464608"/>
      </dsp:txXfrm>
    </dsp:sp>
    <dsp:sp modelId="{B45B11D5-382C-4045-921A-F35889848A7B}">
      <dsp:nvSpPr>
        <dsp:cNvPr id="0" name=""/>
        <dsp:cNvSpPr/>
      </dsp:nvSpPr>
      <dsp:spPr>
        <a:xfrm>
          <a:off x="1776044" y="450160"/>
          <a:ext cx="6056972" cy="6056972"/>
        </a:xfrm>
        <a:custGeom>
          <a:avLst/>
          <a:gdLst/>
          <a:ahLst/>
          <a:cxnLst/>
          <a:rect l="0" t="0" r="0" b="0"/>
          <a:pathLst>
            <a:path>
              <a:moveTo>
                <a:pt x="5410601" y="1158391"/>
              </a:moveTo>
              <a:arcTo wR="3028486" hR="3028486" stAng="19311965" swAng="2004629"/>
            </a:path>
          </a:pathLst>
        </a:custGeom>
        <a:noFill/>
        <a:ln w="25400" cap="flat" cmpd="sng" algn="ctr">
          <a:solidFill>
            <a:srgbClr val="0070C0"/>
          </a:solidFill>
          <a:prstDash val="solid"/>
          <a:miter lim="800000"/>
        </a:ln>
        <a:effectLst/>
      </dsp:spPr>
      <dsp:style>
        <a:lnRef idx="1">
          <a:scrgbClr r="0" g="0" b="0"/>
        </a:lnRef>
        <a:fillRef idx="0">
          <a:scrgbClr r="0" g="0" b="0"/>
        </a:fillRef>
        <a:effectRef idx="0">
          <a:scrgbClr r="0" g="0" b="0"/>
        </a:effectRef>
        <a:fontRef idx="minor"/>
      </dsp:style>
    </dsp:sp>
    <dsp:sp modelId="{E5F95648-B381-B94C-8FE2-861BF8209BAC}">
      <dsp:nvSpPr>
        <dsp:cNvPr id="0" name=""/>
        <dsp:cNvSpPr/>
      </dsp:nvSpPr>
      <dsp:spPr>
        <a:xfrm>
          <a:off x="7147214" y="3246956"/>
          <a:ext cx="1371605" cy="463379"/>
        </a:xfrm>
        <a:prstGeom prst="roundRect">
          <a:avLst/>
        </a:prstGeom>
        <a:solidFill>
          <a:schemeClr val="accent4"/>
        </a:solidFill>
        <a:ln w="19050" cap="flat" cmpd="sng" algn="ctr">
          <a:solidFill>
            <a:schemeClr val="lt1"/>
          </a:solidFill>
          <a:prstDash val="solid"/>
          <a:miter lim="800000"/>
        </a:ln>
        <a:effectLst/>
        <a:scene3d>
          <a:camera prst="orthographicFront"/>
          <a:lightRig rig="threePt" dir="t"/>
        </a:scene3d>
        <a:sp3d>
          <a:bevelT prst="angle"/>
        </a:sp3d>
      </dsp:spPr>
      <dsp:style>
        <a:lnRef idx="3">
          <a:schemeClr val="lt1"/>
        </a:lnRef>
        <a:fillRef idx="1">
          <a:schemeClr val="accent4"/>
        </a:fillRef>
        <a:effectRef idx="1">
          <a:schemeClr val="accent4"/>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Funding</a:t>
          </a:r>
        </a:p>
      </dsp:txBody>
      <dsp:txXfrm>
        <a:off x="7169834" y="3269576"/>
        <a:ext cx="1326365" cy="418139"/>
      </dsp:txXfrm>
    </dsp:sp>
    <dsp:sp modelId="{AFFE17BD-7B7B-CC42-B535-4F2170B01BC8}">
      <dsp:nvSpPr>
        <dsp:cNvPr id="0" name=""/>
        <dsp:cNvSpPr/>
      </dsp:nvSpPr>
      <dsp:spPr>
        <a:xfrm>
          <a:off x="1776044" y="450160"/>
          <a:ext cx="6056972" cy="6056972"/>
        </a:xfrm>
        <a:custGeom>
          <a:avLst/>
          <a:gdLst/>
          <a:ahLst/>
          <a:cxnLst/>
          <a:rect l="0" t="0" r="0" b="0"/>
          <a:pathLst>
            <a:path>
              <a:moveTo>
                <a:pt x="6046678" y="3277976"/>
              </a:moveTo>
              <a:arcTo wR="3028486" hR="3028486" stAng="283527" swAng="2017068"/>
            </a:path>
          </a:pathLst>
        </a:custGeom>
        <a:noFill/>
        <a:ln w="25400" cap="flat" cmpd="sng" algn="ctr">
          <a:solidFill>
            <a:srgbClr val="0060C1"/>
          </a:solidFill>
          <a:prstDash val="solid"/>
          <a:miter lim="800000"/>
        </a:ln>
        <a:effectLst/>
      </dsp:spPr>
      <dsp:style>
        <a:lnRef idx="1">
          <a:scrgbClr r="0" g="0" b="0"/>
        </a:lnRef>
        <a:fillRef idx="0">
          <a:scrgbClr r="0" g="0" b="0"/>
        </a:fillRef>
        <a:effectRef idx="0">
          <a:scrgbClr r="0" g="0" b="0"/>
        </a:effectRef>
        <a:fontRef idx="minor"/>
      </dsp:style>
    </dsp:sp>
    <dsp:sp modelId="{AA22DE72-DB4C-9B4C-810C-1FFE3E1A0DD4}">
      <dsp:nvSpPr>
        <dsp:cNvPr id="0" name=""/>
        <dsp:cNvSpPr/>
      </dsp:nvSpPr>
      <dsp:spPr>
        <a:xfrm>
          <a:off x="6275151" y="5371405"/>
          <a:ext cx="1341685" cy="497408"/>
        </a:xfrm>
        <a:prstGeom prst="roundRect">
          <a:avLst/>
        </a:prstGeom>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lightRig rig="threePt" dir="t"/>
        </a:scene3d>
        <a:sp3d>
          <a:bevelT prst="angle"/>
        </a:sp3d>
      </dsp:spPr>
      <dsp:style>
        <a:lnRef idx="0">
          <a:schemeClr val="accent2"/>
        </a:lnRef>
        <a:fillRef idx="3">
          <a:schemeClr val="accent2"/>
        </a:fillRef>
        <a:effectRef idx="3">
          <a:schemeClr val="accent2"/>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Training</a:t>
          </a:r>
        </a:p>
      </dsp:txBody>
      <dsp:txXfrm>
        <a:off x="6299432" y="5395686"/>
        <a:ext cx="1293123" cy="448846"/>
      </dsp:txXfrm>
    </dsp:sp>
    <dsp:sp modelId="{A4A53420-3721-4E4A-8B8E-B67B0B8EC468}">
      <dsp:nvSpPr>
        <dsp:cNvPr id="0" name=""/>
        <dsp:cNvSpPr/>
      </dsp:nvSpPr>
      <dsp:spPr>
        <a:xfrm>
          <a:off x="1776044" y="450160"/>
          <a:ext cx="6056972" cy="6056972"/>
        </a:xfrm>
        <a:custGeom>
          <a:avLst/>
          <a:gdLst/>
          <a:ahLst/>
          <a:cxnLst/>
          <a:rect l="0" t="0" r="0" b="0"/>
          <a:pathLst>
            <a:path>
              <a:moveTo>
                <a:pt x="4879773" y="5425247"/>
              </a:moveTo>
              <a:arcTo wR="3028486" hR="3028486" stAng="3139024" swAng="1203694"/>
            </a:path>
          </a:pathLst>
        </a:custGeom>
        <a:noFill/>
        <a:ln w="25400" cap="flat" cmpd="sng" algn="ctr">
          <a:solidFill>
            <a:srgbClr val="0060C1"/>
          </a:solidFill>
          <a:prstDash val="solid"/>
          <a:miter lim="800000"/>
        </a:ln>
        <a:effectLst/>
      </dsp:spPr>
      <dsp:style>
        <a:lnRef idx="1">
          <a:scrgbClr r="0" g="0" b="0"/>
        </a:lnRef>
        <a:fillRef idx="0">
          <a:scrgbClr r="0" g="0" b="0"/>
        </a:fillRef>
        <a:effectRef idx="0">
          <a:scrgbClr r="0" g="0" b="0"/>
        </a:effectRef>
        <a:fontRef idx="minor"/>
      </dsp:style>
    </dsp:sp>
    <dsp:sp modelId="{A7A65F87-34F7-0546-B59D-34463F90C65B}">
      <dsp:nvSpPr>
        <dsp:cNvPr id="0" name=""/>
        <dsp:cNvSpPr/>
      </dsp:nvSpPr>
      <dsp:spPr>
        <a:xfrm>
          <a:off x="3897994" y="6265043"/>
          <a:ext cx="1813073" cy="48417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Ownership</a:t>
          </a:r>
        </a:p>
      </dsp:txBody>
      <dsp:txXfrm>
        <a:off x="3921630" y="6288679"/>
        <a:ext cx="1765801" cy="436906"/>
      </dsp:txXfrm>
    </dsp:sp>
    <dsp:sp modelId="{A71AC181-9617-0E42-985B-3B0448B9C5AF}">
      <dsp:nvSpPr>
        <dsp:cNvPr id="0" name=""/>
        <dsp:cNvSpPr/>
      </dsp:nvSpPr>
      <dsp:spPr>
        <a:xfrm>
          <a:off x="1776044" y="450160"/>
          <a:ext cx="6056972" cy="6056972"/>
        </a:xfrm>
        <a:custGeom>
          <a:avLst/>
          <a:gdLst/>
          <a:ahLst/>
          <a:cxnLst/>
          <a:rect l="0" t="0" r="0" b="0"/>
          <a:pathLst>
            <a:path>
              <a:moveTo>
                <a:pt x="2114801" y="5915856"/>
              </a:moveTo>
              <a:arcTo wR="3028486" hR="3028486" stAng="6453572" swAng="835839"/>
            </a:path>
          </a:pathLst>
        </a:custGeom>
        <a:noFill/>
        <a:ln w="25400" cap="flat" cmpd="sng" algn="ctr">
          <a:solidFill>
            <a:srgbClr val="0060C1"/>
          </a:solidFill>
          <a:prstDash val="solid"/>
          <a:miter lim="800000"/>
        </a:ln>
        <a:effectLst/>
      </dsp:spPr>
      <dsp:style>
        <a:lnRef idx="1">
          <a:scrgbClr r="0" g="0" b="0"/>
        </a:lnRef>
        <a:fillRef idx="0">
          <a:scrgbClr r="0" g="0" b="0"/>
        </a:fillRef>
        <a:effectRef idx="0">
          <a:scrgbClr r="0" g="0" b="0"/>
        </a:effectRef>
        <a:fontRef idx="minor"/>
      </dsp:style>
    </dsp:sp>
    <dsp:sp modelId="{7DBCFE32-3349-3E48-B94D-AFD387F98091}">
      <dsp:nvSpPr>
        <dsp:cNvPr id="0" name=""/>
        <dsp:cNvSpPr/>
      </dsp:nvSpPr>
      <dsp:spPr>
        <a:xfrm>
          <a:off x="1729154" y="5183015"/>
          <a:ext cx="1867827" cy="874188"/>
        </a:xfrm>
        <a:prstGeom prst="roundRect">
          <a:avLst/>
        </a:prstGeom>
        <a:gradFill rotWithShape="1">
          <a:gsLst>
            <a:gs pos="0">
              <a:schemeClr val="accent6">
                <a:lumMod val="110000"/>
                <a:satMod val="105000"/>
                <a:tint val="67000"/>
              </a:schemeClr>
            </a:gs>
            <a:gs pos="50000">
              <a:schemeClr val="accent6">
                <a:lumMod val="105000"/>
                <a:satMod val="103000"/>
                <a:tint val="73000"/>
              </a:schemeClr>
            </a:gs>
            <a:gs pos="100000">
              <a:schemeClr val="accent6">
                <a:lumMod val="105000"/>
                <a:satMod val="109000"/>
                <a:tint val="81000"/>
              </a:schemeClr>
            </a:gs>
          </a:gsLst>
          <a:lin ang="5400000" scaled="0"/>
        </a:gradFill>
        <a:ln w="6350" cap="flat" cmpd="sng" algn="ctr">
          <a:solidFill>
            <a:schemeClr val="accent6"/>
          </a:solidFill>
          <a:prstDash val="solid"/>
          <a:miter lim="800000"/>
        </a:ln>
        <a:effectLst/>
        <a:scene3d>
          <a:camera prst="orthographicFront"/>
          <a:lightRig rig="threePt" dir="t"/>
        </a:scene3d>
        <a:sp3d>
          <a:bevelT prst="angle"/>
        </a:sp3d>
      </dsp:spPr>
      <dsp:style>
        <a:lnRef idx="1">
          <a:schemeClr val="accent6"/>
        </a:lnRef>
        <a:fillRef idx="2">
          <a:schemeClr val="accent6"/>
        </a:fillRef>
        <a:effectRef idx="1">
          <a:schemeClr val="accent6"/>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Employer Support</a:t>
          </a:r>
        </a:p>
      </dsp:txBody>
      <dsp:txXfrm>
        <a:off x="1771828" y="5225689"/>
        <a:ext cx="1782479" cy="788840"/>
      </dsp:txXfrm>
    </dsp:sp>
    <dsp:sp modelId="{6F0521D2-F4EE-6047-9441-B1E8EE28CF4C}">
      <dsp:nvSpPr>
        <dsp:cNvPr id="0" name=""/>
        <dsp:cNvSpPr/>
      </dsp:nvSpPr>
      <dsp:spPr>
        <a:xfrm>
          <a:off x="1776044" y="450160"/>
          <a:ext cx="6056972" cy="6056972"/>
        </a:xfrm>
        <a:custGeom>
          <a:avLst/>
          <a:gdLst/>
          <a:ahLst/>
          <a:cxnLst/>
          <a:rect l="0" t="0" r="0" b="0"/>
          <a:pathLst>
            <a:path>
              <a:moveTo>
                <a:pt x="516424" y="4720016"/>
              </a:moveTo>
              <a:arcTo wR="3028486" hR="3028486" stAng="8762707" swAng="1744595"/>
            </a:path>
          </a:pathLst>
        </a:custGeom>
        <a:noFill/>
        <a:ln w="25400" cap="flat" cmpd="sng" algn="ctr">
          <a:solidFill>
            <a:srgbClr val="0060C1"/>
          </a:solidFill>
          <a:prstDash val="solid"/>
          <a:miter lim="800000"/>
        </a:ln>
        <a:effectLst/>
      </dsp:spPr>
      <dsp:style>
        <a:lnRef idx="1">
          <a:scrgbClr r="0" g="0" b="0"/>
        </a:lnRef>
        <a:fillRef idx="0">
          <a:scrgbClr r="0" g="0" b="0"/>
        </a:fillRef>
        <a:effectRef idx="0">
          <a:scrgbClr r="0" g="0" b="0"/>
        </a:effectRef>
        <a:fontRef idx="minor"/>
      </dsp:style>
    </dsp:sp>
    <dsp:sp modelId="{0F2ECD0D-65BC-104E-A588-7C010897D429}">
      <dsp:nvSpPr>
        <dsp:cNvPr id="0" name=""/>
        <dsp:cNvSpPr/>
      </dsp:nvSpPr>
      <dsp:spPr>
        <a:xfrm>
          <a:off x="625180" y="3236557"/>
          <a:ext cx="2301728" cy="484178"/>
        </a:xfrm>
        <a:prstGeom prst="roundRect">
          <a:avLst/>
        </a:prstGeom>
        <a:gradFill rotWithShape="1">
          <a:gsLst>
            <a:gs pos="0">
              <a:schemeClr val="dk1">
                <a:lumMod val="110000"/>
                <a:satMod val="105000"/>
                <a:tint val="67000"/>
              </a:schemeClr>
            </a:gs>
            <a:gs pos="50000">
              <a:schemeClr val="dk1">
                <a:lumMod val="105000"/>
                <a:satMod val="103000"/>
                <a:tint val="73000"/>
              </a:schemeClr>
            </a:gs>
            <a:gs pos="100000">
              <a:schemeClr val="dk1">
                <a:lumMod val="105000"/>
                <a:satMod val="109000"/>
                <a:tint val="81000"/>
              </a:schemeClr>
            </a:gs>
          </a:gsLst>
          <a:lin ang="5400000" scaled="0"/>
        </a:gradFill>
        <a:ln w="6350" cap="flat" cmpd="sng" algn="ctr">
          <a:solidFill>
            <a:schemeClr val="dk1"/>
          </a:solidFill>
          <a:prstDash val="solid"/>
          <a:miter lim="800000"/>
        </a:ln>
        <a:effectLst/>
        <a:scene3d>
          <a:camera prst="orthographicFront"/>
          <a:lightRig rig="threePt" dir="t"/>
        </a:scene3d>
        <a:sp3d>
          <a:bevelT prst="angle"/>
        </a:sp3d>
      </dsp:spPr>
      <dsp:style>
        <a:lnRef idx="1">
          <a:schemeClr val="dk1"/>
        </a:lnRef>
        <a:fillRef idx="2">
          <a:schemeClr val="dk1"/>
        </a:fillRef>
        <a:effectRef idx="1">
          <a:schemeClr val="dk1"/>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System Policies</a:t>
          </a:r>
        </a:p>
      </dsp:txBody>
      <dsp:txXfrm>
        <a:off x="648816" y="3260193"/>
        <a:ext cx="2254456" cy="436906"/>
      </dsp:txXfrm>
    </dsp:sp>
    <dsp:sp modelId="{A59D0CE1-CE8B-3149-A816-C837218F91E1}">
      <dsp:nvSpPr>
        <dsp:cNvPr id="0" name=""/>
        <dsp:cNvSpPr/>
      </dsp:nvSpPr>
      <dsp:spPr>
        <a:xfrm>
          <a:off x="1778564" y="416370"/>
          <a:ext cx="6056972" cy="6056972"/>
        </a:xfrm>
        <a:custGeom>
          <a:avLst/>
          <a:gdLst/>
          <a:ahLst/>
          <a:cxnLst/>
          <a:rect l="0" t="0" r="0" b="0"/>
          <a:pathLst>
            <a:path>
              <a:moveTo>
                <a:pt x="8421" y="2802795"/>
              </a:moveTo>
              <a:arcTo wR="3028486" hR="3028486" stAng="11056428" swAng="1968023"/>
            </a:path>
          </a:pathLst>
        </a:custGeom>
        <a:noFill/>
        <a:ln w="25400" cap="flat" cmpd="sng" algn="ctr">
          <a:solidFill>
            <a:srgbClr val="0060C1"/>
          </a:solidFill>
          <a:prstDash val="solid"/>
          <a:miter lim="800000"/>
        </a:ln>
        <a:effectLst/>
      </dsp:spPr>
      <dsp:style>
        <a:lnRef idx="1">
          <a:scrgbClr r="0" g="0" b="0"/>
        </a:lnRef>
        <a:fillRef idx="0">
          <a:scrgbClr r="0" g="0" b="0"/>
        </a:fillRef>
        <a:effectRef idx="0">
          <a:scrgbClr r="0" g="0" b="0"/>
        </a:effectRef>
        <a:fontRef idx="minor"/>
      </dsp:style>
    </dsp:sp>
    <dsp:sp modelId="{0E533C64-2A09-0C4B-9830-A8BF063DCD0A}">
      <dsp:nvSpPr>
        <dsp:cNvPr id="0" name=""/>
        <dsp:cNvSpPr/>
      </dsp:nvSpPr>
      <dsp:spPr>
        <a:xfrm>
          <a:off x="1756532" y="1172541"/>
          <a:ext cx="1660671" cy="43271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Transition</a:t>
          </a:r>
        </a:p>
      </dsp:txBody>
      <dsp:txXfrm>
        <a:off x="1777655" y="1193664"/>
        <a:ext cx="1618425" cy="390470"/>
      </dsp:txXfrm>
    </dsp:sp>
    <dsp:sp modelId="{0A4252C7-7FE2-784E-8A39-B16305DE0B94}">
      <dsp:nvSpPr>
        <dsp:cNvPr id="0" name=""/>
        <dsp:cNvSpPr/>
      </dsp:nvSpPr>
      <dsp:spPr>
        <a:xfrm>
          <a:off x="1721879" y="471630"/>
          <a:ext cx="6056972" cy="6056972"/>
        </a:xfrm>
        <a:custGeom>
          <a:avLst/>
          <a:gdLst/>
          <a:ahLst/>
          <a:cxnLst/>
          <a:rect l="0" t="0" r="0" b="0"/>
          <a:pathLst>
            <a:path>
              <a:moveTo>
                <a:pt x="1098505" y="694626"/>
              </a:moveTo>
              <a:arcTo wR="3028486" hR="3028486" stAng="13824661" swAng="1099880"/>
            </a:path>
          </a:pathLst>
        </a:custGeom>
        <a:noFill/>
        <a:ln w="25400" cap="flat" cmpd="sng" algn="ctr">
          <a:solidFill>
            <a:srgbClr val="0060C1"/>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5.emf"/></Relationships>
</file>

<file path=ppt/handoutMasters/_rels/handoutMaster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heme" Target="../theme/theme5.xml"/><Relationship Id="rId4" Type="http://schemas.openxmlformats.org/officeDocument/2006/relationships/image" Target="../media/image3.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6">
            <a:extLst>
              <a:ext uri="{FF2B5EF4-FFF2-40B4-BE49-F238E27FC236}">
                <a16:creationId xmlns:a16="http://schemas.microsoft.com/office/drawing/2014/main" id="{D2D49F3F-9924-B744-9871-F7152E7D54FF}"/>
              </a:ext>
            </a:extLst>
          </p:cNvPr>
          <p:cNvSpPr>
            <a:spLocks noChangeArrowheads="1"/>
          </p:cNvSpPr>
          <p:nvPr/>
        </p:nvSpPr>
        <p:spPr bwMode="auto">
          <a:xfrm>
            <a:off x="3200400" y="8588375"/>
            <a:ext cx="28956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algn="ctr">
              <a:defRPr/>
            </a:pPr>
            <a:endParaRPr lang="en-US" altLang="en-US" sz="1400"/>
          </a:p>
        </p:txBody>
      </p:sp>
      <p:sp>
        <p:nvSpPr>
          <p:cNvPr id="6147" name="Rectangle 7">
            <a:extLst>
              <a:ext uri="{FF2B5EF4-FFF2-40B4-BE49-F238E27FC236}">
                <a16:creationId xmlns:a16="http://schemas.microsoft.com/office/drawing/2014/main" id="{1030BE6A-464B-E34C-AB76-A01819BE9C23}"/>
              </a:ext>
            </a:extLst>
          </p:cNvPr>
          <p:cNvSpPr>
            <a:spLocks noChangeArrowheads="1"/>
          </p:cNvSpPr>
          <p:nvPr/>
        </p:nvSpPr>
        <p:spPr bwMode="auto">
          <a:xfrm>
            <a:off x="4800600" y="152400"/>
            <a:ext cx="19050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algn="r">
              <a:defRPr/>
            </a:pPr>
            <a:fld id="{8D4E4D53-0970-F546-A9C7-D6A61D694C5D}" type="slidenum">
              <a:rPr lang="en-US" altLang="en-US" sz="1400" smtClean="0"/>
              <a:pPr algn="r">
                <a:defRPr/>
              </a:pPr>
              <a:t>‹#›</a:t>
            </a:fld>
            <a:endParaRPr lang="en-US" altLang="en-US" sz="1400"/>
          </a:p>
        </p:txBody>
      </p:sp>
      <p:sp>
        <p:nvSpPr>
          <p:cNvPr id="6148" name="Rectangle 8">
            <a:extLst>
              <a:ext uri="{FF2B5EF4-FFF2-40B4-BE49-F238E27FC236}">
                <a16:creationId xmlns:a16="http://schemas.microsoft.com/office/drawing/2014/main" id="{F1404091-10E7-F740-B935-7D4A70EB1FB3}"/>
              </a:ext>
            </a:extLst>
          </p:cNvPr>
          <p:cNvSpPr>
            <a:spLocks noChangeArrowheads="1"/>
          </p:cNvSpPr>
          <p:nvPr/>
        </p:nvSpPr>
        <p:spPr bwMode="auto">
          <a:xfrm>
            <a:off x="152400" y="8305800"/>
            <a:ext cx="6400800" cy="685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a:defRPr/>
            </a:pPr>
            <a:endParaRPr lang="en-US" altLang="en-US"/>
          </a:p>
        </p:txBody>
      </p:sp>
      <p:sp>
        <p:nvSpPr>
          <p:cNvPr id="6149" name="Rectangle 9">
            <a:extLst>
              <a:ext uri="{FF2B5EF4-FFF2-40B4-BE49-F238E27FC236}">
                <a16:creationId xmlns:a16="http://schemas.microsoft.com/office/drawing/2014/main" id="{6B8173CC-10BB-BD49-8A54-CAB49455DE75}"/>
              </a:ext>
            </a:extLst>
          </p:cNvPr>
          <p:cNvSpPr>
            <a:spLocks noChangeArrowheads="1"/>
          </p:cNvSpPr>
          <p:nvPr/>
        </p:nvSpPr>
        <p:spPr bwMode="auto">
          <a:xfrm>
            <a:off x="152400" y="8305800"/>
            <a:ext cx="6400800" cy="128588"/>
          </a:xfrm>
          <a:prstGeom prst="rect">
            <a:avLst/>
          </a:prstGeom>
          <a:solidFill>
            <a:srgbClr val="0099CC"/>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a:defRPr/>
            </a:pPr>
            <a:endParaRPr lang="en-US" altLang="en-US"/>
          </a:p>
        </p:txBody>
      </p:sp>
      <p:pic>
        <p:nvPicPr>
          <p:cNvPr id="14342" name="Picture 11" descr="iciPPT_BIG">
            <a:extLst>
              <a:ext uri="{FF2B5EF4-FFF2-40B4-BE49-F238E27FC236}">
                <a16:creationId xmlns:a16="http://schemas.microsoft.com/office/drawing/2014/main" id="{E1BCF9E8-2C2F-7B43-B622-5DBC417ED424}"/>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228600" y="8458200"/>
            <a:ext cx="3048000" cy="4889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14343" name="Group 14">
            <a:extLst>
              <a:ext uri="{FF2B5EF4-FFF2-40B4-BE49-F238E27FC236}">
                <a16:creationId xmlns:a16="http://schemas.microsoft.com/office/drawing/2014/main" id="{374E0F2B-D057-1A4D-A72F-67572FFA44A4}"/>
              </a:ext>
            </a:extLst>
          </p:cNvPr>
          <p:cNvGrpSpPr>
            <a:grpSpLocks/>
          </p:cNvGrpSpPr>
          <p:nvPr/>
        </p:nvGrpSpPr>
        <p:grpSpPr bwMode="auto">
          <a:xfrm>
            <a:off x="5638800" y="8486775"/>
            <a:ext cx="762000" cy="438150"/>
            <a:chOff x="5103" y="5266"/>
            <a:chExt cx="586" cy="336"/>
          </a:xfrm>
        </p:grpSpPr>
        <p:pic>
          <p:nvPicPr>
            <p:cNvPr id="14344" name="Picture 10" descr="umb_white">
              <a:extLst>
                <a:ext uri="{FF2B5EF4-FFF2-40B4-BE49-F238E27FC236}">
                  <a16:creationId xmlns:a16="http://schemas.microsoft.com/office/drawing/2014/main" id="{BEF3E9E6-CF8F-0D4A-A297-1F4055C77695}"/>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103" y="5266"/>
              <a:ext cx="273" cy="3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4345" name="Picture 12" descr="CHB_reverse_BIG">
              <a:extLst>
                <a:ext uri="{FF2B5EF4-FFF2-40B4-BE49-F238E27FC236}">
                  <a16:creationId xmlns:a16="http://schemas.microsoft.com/office/drawing/2014/main" id="{54F73BC5-B41D-094E-A18A-8F046762414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424" y="5266"/>
              <a:ext cx="265" cy="3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920088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09B3A64B-BD29-B64A-A470-7398DC6053A5}"/>
              </a:ext>
            </a:extLst>
          </p:cNvPr>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en-US"/>
          </a:p>
        </p:txBody>
      </p:sp>
      <p:sp>
        <p:nvSpPr>
          <p:cNvPr id="3075" name="Rectangle 3">
            <a:extLst>
              <a:ext uri="{FF2B5EF4-FFF2-40B4-BE49-F238E27FC236}">
                <a16:creationId xmlns:a16="http://schemas.microsoft.com/office/drawing/2014/main" id="{CEB1B764-1E3D-F94C-AFE8-93CA8696BBC6}"/>
              </a:ext>
            </a:extLst>
          </p:cNvPr>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en-US"/>
          </a:p>
        </p:txBody>
      </p:sp>
      <p:sp>
        <p:nvSpPr>
          <p:cNvPr id="13316" name="Rectangle 4">
            <a:extLst>
              <a:ext uri="{FF2B5EF4-FFF2-40B4-BE49-F238E27FC236}">
                <a16:creationId xmlns:a16="http://schemas.microsoft.com/office/drawing/2014/main" id="{BAF8533A-3C1A-B542-944B-EAD4B68E1EB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 uri="{53640926-AAD7-44d8-BBD7-CCE9431645EC}">
              <a14:shadowObscured xmlns="" xmlns:a14="http://schemas.microsoft.com/office/drawing/2010/main" val="1"/>
            </a:ext>
          </a:extLst>
        </p:spPr>
      </p:sp>
      <p:sp>
        <p:nvSpPr>
          <p:cNvPr id="3077" name="Rectangle 5">
            <a:extLst>
              <a:ext uri="{FF2B5EF4-FFF2-40B4-BE49-F238E27FC236}">
                <a16:creationId xmlns:a16="http://schemas.microsoft.com/office/drawing/2014/main" id="{626E4560-BA05-2040-A535-1FA0A95D97D1}"/>
              </a:ext>
            </a:extLst>
          </p:cNvPr>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3078" name="Rectangle 6">
            <a:extLst>
              <a:ext uri="{FF2B5EF4-FFF2-40B4-BE49-F238E27FC236}">
                <a16:creationId xmlns:a16="http://schemas.microsoft.com/office/drawing/2014/main" id="{C758BAA2-FE2D-464F-9111-FEF4CCCC94AD}"/>
              </a:ext>
            </a:extLst>
          </p:cNvPr>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en-US"/>
          </a:p>
        </p:txBody>
      </p:sp>
      <p:sp>
        <p:nvSpPr>
          <p:cNvPr id="3079" name="Rectangle 7">
            <a:extLst>
              <a:ext uri="{FF2B5EF4-FFF2-40B4-BE49-F238E27FC236}">
                <a16:creationId xmlns:a16="http://schemas.microsoft.com/office/drawing/2014/main" id="{3D9E1561-AF14-5440-BAC2-6453D18CFFE2}"/>
              </a:ext>
            </a:extLst>
          </p:cNvPr>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a:lvl1pPr>
          </a:lstStyle>
          <a:p>
            <a:pPr>
              <a:defRPr/>
            </a:pPr>
            <a:fld id="{1E6EAF8F-0920-7444-BF36-95ABB4CBBBE1}" type="slidenum">
              <a:rPr lang="en-US" altLang="en-US"/>
              <a:pPr>
                <a:defRPr/>
              </a:pPr>
              <a:t>‹#›</a:t>
            </a:fld>
            <a:endParaRPr lang="en-US" altLang="en-US"/>
          </a:p>
        </p:txBody>
      </p:sp>
    </p:spTree>
    <p:extLst>
      <p:ext uri="{BB962C8B-B14F-4D97-AF65-F5344CB8AC3E}">
        <p14:creationId xmlns:p14="http://schemas.microsoft.com/office/powerpoint/2010/main" val="16679132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1</a:t>
            </a:fld>
            <a:endParaRPr lang="en-US" altLang="en-US"/>
          </a:p>
        </p:txBody>
      </p:sp>
    </p:spTree>
    <p:extLst>
      <p:ext uri="{BB962C8B-B14F-4D97-AF65-F5344CB8AC3E}">
        <p14:creationId xmlns:p14="http://schemas.microsoft.com/office/powerpoint/2010/main" val="1754144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2</a:t>
            </a:fld>
            <a:endParaRPr lang="en-US" altLang="en-US"/>
          </a:p>
        </p:txBody>
      </p:sp>
    </p:spTree>
    <p:extLst>
      <p:ext uri="{BB962C8B-B14F-4D97-AF65-F5344CB8AC3E}">
        <p14:creationId xmlns:p14="http://schemas.microsoft.com/office/powerpoint/2010/main" val="3243769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3</a:t>
            </a:fld>
            <a:endParaRPr lang="en-US" altLang="en-US"/>
          </a:p>
        </p:txBody>
      </p:sp>
    </p:spTree>
    <p:extLst>
      <p:ext uri="{BB962C8B-B14F-4D97-AF65-F5344CB8AC3E}">
        <p14:creationId xmlns:p14="http://schemas.microsoft.com/office/powerpoint/2010/main" val="2841082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5</a:t>
            </a:fld>
            <a:endParaRPr lang="en-US" altLang="en-US"/>
          </a:p>
        </p:txBody>
      </p:sp>
    </p:spTree>
    <p:extLst>
      <p:ext uri="{BB962C8B-B14F-4D97-AF65-F5344CB8AC3E}">
        <p14:creationId xmlns:p14="http://schemas.microsoft.com/office/powerpoint/2010/main" val="3693082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6</a:t>
            </a:fld>
            <a:endParaRPr lang="en-US" altLang="en-US"/>
          </a:p>
        </p:txBody>
      </p:sp>
    </p:spTree>
    <p:extLst>
      <p:ext uri="{BB962C8B-B14F-4D97-AF65-F5344CB8AC3E}">
        <p14:creationId xmlns:p14="http://schemas.microsoft.com/office/powerpoint/2010/main" val="29518063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7</a:t>
            </a:fld>
            <a:endParaRPr lang="en-US" altLang="en-US"/>
          </a:p>
        </p:txBody>
      </p:sp>
    </p:spTree>
    <p:extLst>
      <p:ext uri="{BB962C8B-B14F-4D97-AF65-F5344CB8AC3E}">
        <p14:creationId xmlns:p14="http://schemas.microsoft.com/office/powerpoint/2010/main" val="17936918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8">
            <a:extLst>
              <a:ext uri="{FF2B5EF4-FFF2-40B4-BE49-F238E27FC236}">
                <a16:creationId xmlns:a16="http://schemas.microsoft.com/office/drawing/2014/main" id="{1B0B47CB-DD3A-5844-82AA-2BBFE462DFD1}"/>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C2DDFE2-3768-4A42-A4D8-7AE12E85DC1A}"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22529" name="Text Box 1">
            <a:extLst>
              <a:ext uri="{FF2B5EF4-FFF2-40B4-BE49-F238E27FC236}">
                <a16:creationId xmlns:a16="http://schemas.microsoft.com/office/drawing/2014/main" id="{CEBB80C3-09B4-EE40-8ED5-CCB447F0694A}"/>
              </a:ext>
            </a:extLst>
          </p:cNvPr>
          <p:cNvSpPr txBox="1">
            <a:spLocks noGrp="1" noRot="1" noChangeAspect="1" noChangeArrowheads="1"/>
          </p:cNvSpPr>
          <p:nvPr>
            <p:ph type="sldImg"/>
          </p:nvPr>
        </p:nvSpPr>
        <p:spPr>
          <a:xfrm>
            <a:off x="1106488" y="812800"/>
            <a:ext cx="5341937" cy="4005263"/>
          </a:xfrm>
          <a:solidFill>
            <a:srgbClr val="FFFFFF"/>
          </a:solidFill>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2530" name="Text Box 2">
            <a:extLst>
              <a:ext uri="{FF2B5EF4-FFF2-40B4-BE49-F238E27FC236}">
                <a16:creationId xmlns:a16="http://schemas.microsoft.com/office/drawing/2014/main" id="{7D1D1348-D998-6F42-A805-80AF6A5E4F30}"/>
              </a:ext>
            </a:extLst>
          </p:cNvPr>
          <p:cNvSpPr txBox="1">
            <a:spLocks noGrp="1" noChangeArrowheads="1"/>
          </p:cNvSpPr>
          <p:nvPr>
            <p:ph type="body" idx="1"/>
          </p:nvPr>
        </p:nvSpPr>
        <p:spPr>
          <a:xfrm>
            <a:off x="755650" y="5078413"/>
            <a:ext cx="6045200" cy="4808537"/>
          </a:xfrm>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r>
              <a:rPr lang="en-US" altLang="en-US" dirty="0">
                <a:solidFill>
                  <a:srgbClr val="000000"/>
                </a:solidFill>
                <a:latin typeface="Times New Roman" charset="0"/>
                <a:ea typeface="+mn-ea"/>
              </a:rPr>
              <a:t>Embedded</a:t>
            </a:r>
            <a:r>
              <a:rPr lang="en-US" altLang="en-US" baseline="0" dirty="0">
                <a:solidFill>
                  <a:srgbClr val="000000"/>
                </a:solidFill>
                <a:latin typeface="Times New Roman" charset="0"/>
                <a:ea typeface="+mn-ea"/>
              </a:rPr>
              <a:t> apps &amp; tools: Notes, camera, contact lists, calendar, reminders,  etc. </a:t>
            </a:r>
          </a:p>
          <a:p>
            <a:pPr>
              <a:defRPr/>
            </a:pPr>
            <a:r>
              <a:rPr lang="en-US" altLang="en-US" dirty="0">
                <a:solidFill>
                  <a:srgbClr val="000000"/>
                </a:solidFill>
                <a:latin typeface="Times New Roman" charset="0"/>
                <a:ea typeface="+mn-ea"/>
              </a:rPr>
              <a:t>Accessibility Features: Speak selection </a:t>
            </a:r>
          </a:p>
          <a:p>
            <a:pPr>
              <a:defRPr/>
            </a:pPr>
            <a:r>
              <a:rPr lang="en-US" altLang="en-US" baseline="0" dirty="0">
                <a:solidFill>
                  <a:srgbClr val="000000"/>
                </a:solidFill>
                <a:latin typeface="Times New Roman" charset="0"/>
                <a:ea typeface="+mn-ea"/>
              </a:rPr>
              <a:t>Apps: video modeling, CAN Plan – U of Victoria, communication apps. </a:t>
            </a:r>
          </a:p>
          <a:p>
            <a:pPr>
              <a:defRPr/>
            </a:pPr>
            <a:r>
              <a:rPr lang="en-US" altLang="en-US" baseline="0" dirty="0">
                <a:solidFill>
                  <a:srgbClr val="000000"/>
                </a:solidFill>
                <a:latin typeface="Times New Roman" charset="0"/>
                <a:ea typeface="+mn-ea"/>
              </a:rPr>
              <a:t> </a:t>
            </a:r>
            <a:endParaRPr lang="en-US" altLang="en-US" dirty="0">
              <a:solidFill>
                <a:srgbClr val="000000"/>
              </a:solidFill>
              <a:latin typeface="Times New Roman" charset="0"/>
              <a:ea typeface="+mn-ea"/>
            </a:endParaRPr>
          </a:p>
        </p:txBody>
      </p:sp>
    </p:spTree>
    <p:extLst>
      <p:ext uri="{BB962C8B-B14F-4D97-AF65-F5344CB8AC3E}">
        <p14:creationId xmlns:p14="http://schemas.microsoft.com/office/powerpoint/2010/main" val="29470145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9</a:t>
            </a:fld>
            <a:endParaRPr lang="en-US" altLang="en-US"/>
          </a:p>
        </p:txBody>
      </p:sp>
    </p:spTree>
    <p:extLst>
      <p:ext uri="{BB962C8B-B14F-4D97-AF65-F5344CB8AC3E}">
        <p14:creationId xmlns:p14="http://schemas.microsoft.com/office/powerpoint/2010/main" val="33995135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8">
            <a:extLst>
              <a:ext uri="{FF2B5EF4-FFF2-40B4-BE49-F238E27FC236}">
                <a16:creationId xmlns:a16="http://schemas.microsoft.com/office/drawing/2014/main" id="{1B0B47CB-DD3A-5844-82AA-2BBFE462DFD1}"/>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fld id="{2C2DDFE2-3768-4A42-A4D8-7AE12E85DC1A}" type="slidenum">
              <a:rPr lang="en-US" altLang="en-US" sz="1200" smtClean="0"/>
              <a:pPr/>
              <a:t>10</a:t>
            </a:fld>
            <a:endParaRPr lang="en-US" altLang="en-US" sz="1200"/>
          </a:p>
        </p:txBody>
      </p:sp>
      <p:sp>
        <p:nvSpPr>
          <p:cNvPr id="22529" name="Text Box 1">
            <a:extLst>
              <a:ext uri="{FF2B5EF4-FFF2-40B4-BE49-F238E27FC236}">
                <a16:creationId xmlns:a16="http://schemas.microsoft.com/office/drawing/2014/main" id="{CEBB80C3-09B4-EE40-8ED5-CCB447F0694A}"/>
              </a:ext>
            </a:extLst>
          </p:cNvPr>
          <p:cNvSpPr txBox="1">
            <a:spLocks noGrp="1" noRot="1" noChangeAspect="1" noChangeArrowheads="1"/>
          </p:cNvSpPr>
          <p:nvPr>
            <p:ph type="sldImg"/>
          </p:nvPr>
        </p:nvSpPr>
        <p:spPr>
          <a:xfrm>
            <a:off x="1106488" y="812800"/>
            <a:ext cx="5341937" cy="4005263"/>
          </a:xfrm>
          <a:solidFill>
            <a:srgbClr val="FFFFFF"/>
          </a:solidFill>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2530" name="Text Box 2">
            <a:extLst>
              <a:ext uri="{FF2B5EF4-FFF2-40B4-BE49-F238E27FC236}">
                <a16:creationId xmlns:a16="http://schemas.microsoft.com/office/drawing/2014/main" id="{7D1D1348-D998-6F42-A805-80AF6A5E4F30}"/>
              </a:ext>
            </a:extLst>
          </p:cNvPr>
          <p:cNvSpPr txBox="1">
            <a:spLocks noGrp="1" noChangeArrowheads="1"/>
          </p:cNvSpPr>
          <p:nvPr>
            <p:ph type="body" idx="1"/>
          </p:nvPr>
        </p:nvSpPr>
        <p:spPr>
          <a:xfrm>
            <a:off x="755650" y="5078413"/>
            <a:ext cx="6045200" cy="4808537"/>
          </a:xfrm>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dirty="0">
              <a:solidFill>
                <a:srgbClr val="000000"/>
              </a:solidFill>
              <a:latin typeface="Times New Roman" charset="0"/>
              <a:ea typeface="+mn-ea"/>
            </a:endParaRPr>
          </a:p>
          <a:p>
            <a:pPr>
              <a:defRPr/>
            </a:pPr>
            <a:br>
              <a:rPr lang="en-US" dirty="0">
                <a:solidFill>
                  <a:srgbClr val="000000"/>
                </a:solidFill>
                <a:latin typeface="Times New Roman" charset="0"/>
                <a:ea typeface="+mn-ea"/>
              </a:rPr>
            </a:br>
            <a:endParaRPr lang="en-US" dirty="0">
              <a:solidFill>
                <a:srgbClr val="000000"/>
              </a:solidFill>
              <a:latin typeface="Times New Roman" charset="0"/>
              <a:ea typeface="+mn-ea"/>
            </a:endParaRPr>
          </a:p>
          <a:p>
            <a:pPr>
              <a:defRPr/>
            </a:pPr>
            <a:r>
              <a:rPr lang="en-US" dirty="0">
                <a:solidFill>
                  <a:srgbClr val="000000"/>
                </a:solidFill>
                <a:latin typeface="Times New Roman" charset="0"/>
                <a:ea typeface="+mn-ea"/>
              </a:rPr>
              <a:t>Need to know you are part of bigger historic movement. </a:t>
            </a:r>
          </a:p>
          <a:p>
            <a:pPr>
              <a:defRPr/>
            </a:pPr>
            <a:r>
              <a:rPr lang="en-US" dirty="0">
                <a:solidFill>
                  <a:srgbClr val="000000"/>
                </a:solidFill>
                <a:latin typeface="Times New Roman" charset="0"/>
                <a:ea typeface="+mn-ea"/>
              </a:rPr>
              <a:t>What you do preserves and strengthens everyone's rights. </a:t>
            </a:r>
          </a:p>
          <a:p>
            <a:pPr>
              <a:defRPr/>
            </a:pPr>
            <a:br>
              <a:rPr lang="en-US" dirty="0">
                <a:solidFill>
                  <a:srgbClr val="000000"/>
                </a:solidFill>
                <a:latin typeface="Times New Roman" charset="0"/>
                <a:ea typeface="+mn-ea"/>
              </a:rPr>
            </a:br>
            <a:endParaRPr lang="en-US" dirty="0">
              <a:solidFill>
                <a:srgbClr val="000000"/>
              </a:solidFill>
              <a:latin typeface="Times New Roman" charset="0"/>
              <a:ea typeface="+mn-ea"/>
            </a:endParaRPr>
          </a:p>
          <a:p>
            <a:pPr>
              <a:defRPr/>
            </a:pPr>
            <a:br>
              <a:rPr lang="en-US" dirty="0"/>
            </a:br>
            <a:endParaRPr lang="en-US" dirty="0">
              <a:solidFill>
                <a:srgbClr val="000000"/>
              </a:solidFill>
              <a:latin typeface="Times New Roman" charset="0"/>
              <a:ea typeface="+mn-ea"/>
            </a:endParaRPr>
          </a:p>
          <a:p>
            <a:pPr>
              <a:defRPr/>
            </a:pPr>
            <a:endParaRPr lang="en-US" dirty="0">
              <a:solidFill>
                <a:srgbClr val="000000"/>
              </a:solidFill>
              <a:latin typeface="Times New Roman" charset="0"/>
              <a:ea typeface="+mn-ea"/>
            </a:endParaRPr>
          </a:p>
          <a:p>
            <a:pPr>
              <a:defRPr/>
            </a:pPr>
            <a:endParaRPr lang="en-US" altLang="en-US" dirty="0">
              <a:solidFill>
                <a:srgbClr val="000000"/>
              </a:solidFill>
              <a:latin typeface="Times New Roman" charset="0"/>
              <a:ea typeface="+mn-ea"/>
            </a:endParaRPr>
          </a:p>
          <a:p>
            <a:pPr>
              <a:defRPr/>
            </a:pPr>
            <a:endParaRPr lang="en-US" altLang="en-US" dirty="0">
              <a:solidFill>
                <a:srgbClr val="000000"/>
              </a:solidFill>
              <a:latin typeface="Times New Roman" charset="0"/>
              <a:ea typeface="+mn-ea"/>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8">
            <a:extLst>
              <a:ext uri="{FF2B5EF4-FFF2-40B4-BE49-F238E27FC236}">
                <a16:creationId xmlns:a16="http://schemas.microsoft.com/office/drawing/2014/main" id="{1B0B47CB-DD3A-5844-82AA-2BBFE462DFD1}"/>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fld id="{2C2DDFE2-3768-4A42-A4D8-7AE12E85DC1A}" type="slidenum">
              <a:rPr lang="en-US" altLang="en-US" sz="1200" smtClean="0"/>
              <a:pPr/>
              <a:t>11</a:t>
            </a:fld>
            <a:endParaRPr lang="en-US" altLang="en-US" sz="1200"/>
          </a:p>
        </p:txBody>
      </p:sp>
      <p:sp>
        <p:nvSpPr>
          <p:cNvPr id="22529" name="Text Box 1">
            <a:extLst>
              <a:ext uri="{FF2B5EF4-FFF2-40B4-BE49-F238E27FC236}">
                <a16:creationId xmlns:a16="http://schemas.microsoft.com/office/drawing/2014/main" id="{CEBB80C3-09B4-EE40-8ED5-CCB447F0694A}"/>
              </a:ext>
            </a:extLst>
          </p:cNvPr>
          <p:cNvSpPr txBox="1">
            <a:spLocks noGrp="1" noRot="1" noChangeAspect="1" noChangeArrowheads="1"/>
          </p:cNvSpPr>
          <p:nvPr>
            <p:ph type="sldImg"/>
          </p:nvPr>
        </p:nvSpPr>
        <p:spPr>
          <a:xfrm>
            <a:off x="1106488" y="812800"/>
            <a:ext cx="5341937" cy="4005263"/>
          </a:xfrm>
          <a:solidFill>
            <a:srgbClr val="FFFFFF"/>
          </a:solidFill>
          <a:ln/>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sp>
      <p:sp>
        <p:nvSpPr>
          <p:cNvPr id="22530" name="Text Box 2">
            <a:extLst>
              <a:ext uri="{FF2B5EF4-FFF2-40B4-BE49-F238E27FC236}">
                <a16:creationId xmlns:a16="http://schemas.microsoft.com/office/drawing/2014/main" id="{7D1D1348-D998-6F42-A805-80AF6A5E4F30}"/>
              </a:ext>
            </a:extLst>
          </p:cNvPr>
          <p:cNvSpPr txBox="1">
            <a:spLocks noGrp="1" noChangeArrowheads="1"/>
          </p:cNvSpPr>
          <p:nvPr>
            <p:ph type="body" idx="1"/>
          </p:nvPr>
        </p:nvSpPr>
        <p:spPr>
          <a:xfrm>
            <a:off x="755650" y="5078413"/>
            <a:ext cx="6045200" cy="4808537"/>
          </a:xfrm>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defRPr/>
            </a:pPr>
            <a:br>
              <a:rPr lang="en-US" dirty="0">
                <a:solidFill>
                  <a:srgbClr val="000000"/>
                </a:solidFill>
                <a:latin typeface="Times New Roman" charset="0"/>
                <a:ea typeface="+mn-ea"/>
              </a:rPr>
            </a:br>
            <a:endParaRPr lang="en-US" dirty="0">
              <a:solidFill>
                <a:srgbClr val="000000"/>
              </a:solidFill>
              <a:latin typeface="Times New Roman" charset="0"/>
              <a:ea typeface="+mn-ea"/>
            </a:endParaRPr>
          </a:p>
          <a:p>
            <a:pPr>
              <a:defRPr/>
            </a:pPr>
            <a:br>
              <a:rPr lang="en-US" dirty="0"/>
            </a:br>
            <a:endParaRPr lang="en-US" dirty="0">
              <a:solidFill>
                <a:srgbClr val="000000"/>
              </a:solidFill>
              <a:latin typeface="Times New Roman" charset="0"/>
              <a:ea typeface="+mn-ea"/>
            </a:endParaRPr>
          </a:p>
          <a:p>
            <a:pPr>
              <a:defRPr/>
            </a:pPr>
            <a:endParaRPr lang="en-US" dirty="0">
              <a:solidFill>
                <a:srgbClr val="000000"/>
              </a:solidFill>
              <a:latin typeface="Times New Roman" charset="0"/>
              <a:ea typeface="+mn-ea"/>
            </a:endParaRPr>
          </a:p>
          <a:p>
            <a:pPr>
              <a:defRPr/>
            </a:pPr>
            <a:endParaRPr lang="en-US" altLang="en-US" dirty="0">
              <a:solidFill>
                <a:srgbClr val="000000"/>
              </a:solidFill>
              <a:latin typeface="Times New Roman" charset="0"/>
              <a:ea typeface="+mn-ea"/>
            </a:endParaRPr>
          </a:p>
          <a:p>
            <a:pPr>
              <a:defRPr/>
            </a:pPr>
            <a:endParaRPr lang="en-US" altLang="en-US" dirty="0">
              <a:solidFill>
                <a:srgbClr val="000000"/>
              </a:solidFill>
              <a:latin typeface="Times New Roman" charset="0"/>
              <a:ea typeface="+mn-ea"/>
            </a:endParaRPr>
          </a:p>
        </p:txBody>
      </p:sp>
    </p:spTree>
    <p:extLst>
      <p:ext uri="{BB962C8B-B14F-4D97-AF65-F5344CB8AC3E}">
        <p14:creationId xmlns:p14="http://schemas.microsoft.com/office/powerpoint/2010/main" val="22125007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8">
            <a:extLst>
              <a:ext uri="{FF2B5EF4-FFF2-40B4-BE49-F238E27FC236}">
                <a16:creationId xmlns:a16="http://schemas.microsoft.com/office/drawing/2014/main" id="{1B0B47CB-DD3A-5844-82AA-2BBFE462DFD1}"/>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C2DDFE2-3768-4A42-A4D8-7AE12E85DC1A}"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22529" name="Text Box 1">
            <a:extLst>
              <a:ext uri="{FF2B5EF4-FFF2-40B4-BE49-F238E27FC236}">
                <a16:creationId xmlns:a16="http://schemas.microsoft.com/office/drawing/2014/main" id="{CEBB80C3-09B4-EE40-8ED5-CCB447F0694A}"/>
              </a:ext>
            </a:extLst>
          </p:cNvPr>
          <p:cNvSpPr txBox="1">
            <a:spLocks noGrp="1" noRot="1" noChangeAspect="1" noChangeArrowheads="1"/>
          </p:cNvSpPr>
          <p:nvPr>
            <p:ph type="sldImg"/>
          </p:nvPr>
        </p:nvSpPr>
        <p:spPr>
          <a:xfrm>
            <a:off x="1106488" y="812800"/>
            <a:ext cx="5341937" cy="4005263"/>
          </a:xfrm>
          <a:solidFill>
            <a:srgbClr val="FFFFFF"/>
          </a:solidFill>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2530" name="Text Box 2">
            <a:extLst>
              <a:ext uri="{FF2B5EF4-FFF2-40B4-BE49-F238E27FC236}">
                <a16:creationId xmlns:a16="http://schemas.microsoft.com/office/drawing/2014/main" id="{7D1D1348-D998-6F42-A805-80AF6A5E4F30}"/>
              </a:ext>
            </a:extLst>
          </p:cNvPr>
          <p:cNvSpPr txBox="1">
            <a:spLocks noGrp="1" noChangeArrowheads="1"/>
          </p:cNvSpPr>
          <p:nvPr>
            <p:ph type="body" idx="1"/>
          </p:nvPr>
        </p:nvSpPr>
        <p:spPr>
          <a:xfrm>
            <a:off x="755650" y="5078413"/>
            <a:ext cx="6045200" cy="4808537"/>
          </a:xfrm>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r>
              <a:rPr lang="en-US" dirty="0">
                <a:solidFill>
                  <a:srgbClr val="000000"/>
                </a:solidFill>
                <a:latin typeface="Times New Roman" charset="0"/>
                <a:ea typeface="+mn-ea"/>
              </a:rPr>
              <a:t>Access to experts is limited. Not everyone can go through a tech assessment and not everyone</a:t>
            </a:r>
          </a:p>
          <a:p>
            <a:pPr>
              <a:defRPr/>
            </a:pPr>
            <a:r>
              <a:rPr lang="en-US" dirty="0">
                <a:solidFill>
                  <a:srgbClr val="000000"/>
                </a:solidFill>
                <a:latin typeface="Times New Roman" charset="0"/>
                <a:ea typeface="+mn-ea"/>
              </a:rPr>
              <a:t>needs to go through an assessment. </a:t>
            </a:r>
          </a:p>
          <a:p>
            <a:pPr>
              <a:defRPr/>
            </a:pPr>
            <a:r>
              <a:rPr lang="en-US" dirty="0">
                <a:solidFill>
                  <a:srgbClr val="000000"/>
                </a:solidFill>
                <a:latin typeface="Times New Roman" charset="0"/>
                <a:ea typeface="+mn-ea"/>
              </a:rPr>
              <a:t>Honor individual</a:t>
            </a:r>
            <a:r>
              <a:rPr lang="en-US" baseline="0" dirty="0">
                <a:solidFill>
                  <a:srgbClr val="000000"/>
                </a:solidFill>
                <a:latin typeface="Times New Roman" charset="0"/>
                <a:ea typeface="+mn-ea"/>
              </a:rPr>
              <a:t> choices and preferences </a:t>
            </a:r>
          </a:p>
          <a:p>
            <a:pPr>
              <a:defRPr/>
            </a:pPr>
            <a:r>
              <a:rPr lang="en-US" baseline="0" dirty="0">
                <a:solidFill>
                  <a:srgbClr val="000000"/>
                </a:solidFill>
                <a:latin typeface="Times New Roman" charset="0"/>
                <a:ea typeface="+mn-ea"/>
              </a:rPr>
              <a:t>Solution focused – keep it simple and focus on one barrier at a time </a:t>
            </a:r>
            <a:endParaRPr lang="en-US" dirty="0">
              <a:solidFill>
                <a:srgbClr val="000000"/>
              </a:solidFill>
              <a:latin typeface="Times New Roman" charset="0"/>
              <a:ea typeface="+mn-ea"/>
            </a:endParaRPr>
          </a:p>
          <a:p>
            <a:pPr>
              <a:defRPr/>
            </a:pPr>
            <a:r>
              <a:rPr lang="en-US" dirty="0">
                <a:solidFill>
                  <a:srgbClr val="000000"/>
                </a:solidFill>
                <a:latin typeface="Times New Roman" charset="0"/>
                <a:ea typeface="+mn-ea"/>
              </a:rPr>
              <a:t>Staff do not have to be experts themselves, but willing to learn and try new things. </a:t>
            </a:r>
          </a:p>
          <a:p>
            <a:pPr>
              <a:defRPr/>
            </a:pPr>
            <a:r>
              <a:rPr lang="en-US" dirty="0">
                <a:solidFill>
                  <a:srgbClr val="000000"/>
                </a:solidFill>
                <a:latin typeface="Times New Roman" charset="0"/>
                <a:ea typeface="+mn-ea"/>
              </a:rPr>
              <a:t>You are already using a lot of the skills that are needed – Person Centered Approach </a:t>
            </a:r>
          </a:p>
          <a:p>
            <a:pPr>
              <a:defRPr/>
            </a:pPr>
            <a:r>
              <a:rPr lang="en-US" dirty="0">
                <a:solidFill>
                  <a:srgbClr val="000000"/>
                </a:solidFill>
                <a:latin typeface="Times New Roman" charset="0"/>
                <a:ea typeface="+mn-ea"/>
              </a:rPr>
              <a:t>How are you using technology to address barriers in your own life and work? </a:t>
            </a:r>
          </a:p>
          <a:p>
            <a:pPr>
              <a:defRPr/>
            </a:pPr>
            <a:r>
              <a:rPr lang="en-US" dirty="0">
                <a:solidFill>
                  <a:srgbClr val="000000"/>
                </a:solidFill>
                <a:latin typeface="Times New Roman" charset="0"/>
                <a:ea typeface="+mn-ea"/>
              </a:rPr>
              <a:t>You probably use technology to</a:t>
            </a:r>
            <a:r>
              <a:rPr lang="en-US" baseline="0" dirty="0">
                <a:solidFill>
                  <a:srgbClr val="000000"/>
                </a:solidFill>
                <a:latin typeface="Times New Roman" charset="0"/>
                <a:ea typeface="+mn-ea"/>
              </a:rPr>
              <a:t> solve address barriers in your own life and work. </a:t>
            </a:r>
          </a:p>
          <a:p>
            <a:pPr>
              <a:defRPr/>
            </a:pPr>
            <a:r>
              <a:rPr lang="en-US" dirty="0">
                <a:solidFill>
                  <a:srgbClr val="000000"/>
                </a:solidFill>
                <a:latin typeface="Times New Roman" charset="0"/>
                <a:ea typeface="+mn-ea"/>
              </a:rPr>
              <a:t>Keep it simple- focus on one barrier</a:t>
            </a:r>
            <a:r>
              <a:rPr lang="en-US" baseline="0" dirty="0">
                <a:solidFill>
                  <a:srgbClr val="000000"/>
                </a:solidFill>
                <a:latin typeface="Times New Roman" charset="0"/>
                <a:ea typeface="+mn-ea"/>
              </a:rPr>
              <a:t> at a time, sometimes start low tech. </a:t>
            </a:r>
            <a:br>
              <a:rPr lang="en-US" dirty="0">
                <a:solidFill>
                  <a:srgbClr val="000000"/>
                </a:solidFill>
                <a:latin typeface="Times New Roman" charset="0"/>
                <a:ea typeface="+mn-ea"/>
              </a:rPr>
            </a:br>
            <a:r>
              <a:rPr lang="en-US" dirty="0">
                <a:solidFill>
                  <a:srgbClr val="000000"/>
                </a:solidFill>
                <a:latin typeface="Times New Roman" charset="0"/>
                <a:ea typeface="+mn-ea"/>
              </a:rPr>
              <a:t>Foster self-determination</a:t>
            </a:r>
            <a:r>
              <a:rPr lang="en-US" baseline="0" dirty="0">
                <a:solidFill>
                  <a:srgbClr val="000000"/>
                </a:solidFill>
                <a:latin typeface="Times New Roman" charset="0"/>
                <a:ea typeface="+mn-ea"/>
              </a:rPr>
              <a:t> – teach people rather than doing it for them </a:t>
            </a:r>
            <a:endParaRPr lang="en-US" dirty="0">
              <a:solidFill>
                <a:srgbClr val="000000"/>
              </a:solidFill>
              <a:latin typeface="Times New Roman" charset="0"/>
              <a:ea typeface="+mn-ea"/>
            </a:endParaRPr>
          </a:p>
          <a:p>
            <a:pPr>
              <a:defRPr/>
            </a:pPr>
            <a:br>
              <a:rPr lang="en-US" dirty="0">
                <a:solidFill>
                  <a:srgbClr val="000000"/>
                </a:solidFill>
                <a:latin typeface="Times New Roman" charset="0"/>
                <a:ea typeface="+mn-ea"/>
              </a:rPr>
            </a:br>
            <a:endParaRPr lang="en-US" dirty="0">
              <a:solidFill>
                <a:srgbClr val="000000"/>
              </a:solidFill>
              <a:latin typeface="Times New Roman" charset="0"/>
              <a:ea typeface="+mn-ea"/>
            </a:endParaRPr>
          </a:p>
          <a:p>
            <a:pPr>
              <a:defRPr/>
            </a:pPr>
            <a:br>
              <a:rPr lang="en-US" dirty="0"/>
            </a:br>
            <a:endParaRPr lang="en-US" dirty="0">
              <a:solidFill>
                <a:srgbClr val="000000"/>
              </a:solidFill>
              <a:latin typeface="Times New Roman" charset="0"/>
              <a:ea typeface="+mn-ea"/>
            </a:endParaRPr>
          </a:p>
          <a:p>
            <a:pPr>
              <a:defRPr/>
            </a:pPr>
            <a:endParaRPr lang="en-US" dirty="0">
              <a:solidFill>
                <a:srgbClr val="000000"/>
              </a:solidFill>
              <a:latin typeface="Times New Roman" charset="0"/>
              <a:ea typeface="+mn-ea"/>
            </a:endParaRPr>
          </a:p>
          <a:p>
            <a:pPr>
              <a:defRPr/>
            </a:pPr>
            <a:endParaRPr lang="en-US" altLang="en-US" dirty="0">
              <a:solidFill>
                <a:srgbClr val="000000"/>
              </a:solidFill>
              <a:latin typeface="Times New Roman" charset="0"/>
              <a:ea typeface="+mn-ea"/>
            </a:endParaRPr>
          </a:p>
          <a:p>
            <a:pPr>
              <a:defRPr/>
            </a:pPr>
            <a:endParaRPr lang="en-US" altLang="en-US" dirty="0">
              <a:solidFill>
                <a:srgbClr val="000000"/>
              </a:solidFill>
              <a:latin typeface="Times New Roman" charset="0"/>
              <a:ea typeface="+mn-ea"/>
            </a:endParaRPr>
          </a:p>
        </p:txBody>
      </p:sp>
    </p:spTree>
    <p:extLst>
      <p:ext uri="{BB962C8B-B14F-4D97-AF65-F5344CB8AC3E}">
        <p14:creationId xmlns:p14="http://schemas.microsoft.com/office/powerpoint/2010/main" val="38472453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SET </a:t>
            </a:r>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1E6EAF8F-0920-7444-BF36-95ABB4CBBBE1}"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10100098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en-US" dirty="0"/>
          </a:p>
        </p:txBody>
      </p:sp>
      <p:sp>
        <p:nvSpPr>
          <p:cNvPr id="4" name="Substituent număr diapozitiv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0C927C-1E7F-4E42-9881-F2F08CF0D6EB}" type="slidenum">
              <a:rPr kumimoji="0" lang="en-US" sz="1200" b="0" i="0" u="none" strike="noStrike" kern="1200" cap="none" spc="0" normalizeH="0" baseline="0" noProof="0" smtClean="0">
                <a:ln>
                  <a:noFill/>
                </a:ln>
                <a:solidFill>
                  <a:prstClr val="black"/>
                </a:solidFill>
                <a:effectLst/>
                <a:uLnTx/>
                <a:uFillTx/>
                <a:latin typeface="Calibri"/>
                <a:ea typeface="Geneva" panose="020B05030304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a:ea typeface="Geneva" panose="020B0503030404040204" pitchFamily="34" charset="0"/>
              <a:cs typeface="+mn-cs"/>
            </a:endParaRPr>
          </a:p>
        </p:txBody>
      </p:sp>
    </p:spTree>
    <p:extLst>
      <p:ext uri="{BB962C8B-B14F-4D97-AF65-F5344CB8AC3E}">
        <p14:creationId xmlns:p14="http://schemas.microsoft.com/office/powerpoint/2010/main" val="533229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15</a:t>
            </a:fld>
            <a:endParaRPr lang="en-US" altLang="en-US"/>
          </a:p>
        </p:txBody>
      </p:sp>
    </p:spTree>
    <p:extLst>
      <p:ext uri="{BB962C8B-B14F-4D97-AF65-F5344CB8AC3E}">
        <p14:creationId xmlns:p14="http://schemas.microsoft.com/office/powerpoint/2010/main" val="9754326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en-US" dirty="0"/>
          </a:p>
        </p:txBody>
      </p:sp>
      <p:sp>
        <p:nvSpPr>
          <p:cNvPr id="4" name="Substituent număr diapozitiv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0C927C-1E7F-4E42-9881-F2F08CF0D6EB}" type="slidenum">
              <a:rPr kumimoji="0" lang="en-US" sz="1200" b="0" i="0" u="none" strike="noStrike" kern="1200" cap="none" spc="0" normalizeH="0" baseline="0" noProof="0" smtClean="0">
                <a:ln>
                  <a:noFill/>
                </a:ln>
                <a:solidFill>
                  <a:prstClr val="black"/>
                </a:solidFill>
                <a:effectLst/>
                <a:uLnTx/>
                <a:uFillTx/>
                <a:latin typeface="Calibri"/>
                <a:ea typeface="Geneva" panose="020B05030304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a:ea typeface="Geneva" panose="020B0503030404040204" pitchFamily="34" charset="0"/>
              <a:cs typeface="+mn-cs"/>
            </a:endParaRPr>
          </a:p>
        </p:txBody>
      </p:sp>
    </p:spTree>
    <p:extLst>
      <p:ext uri="{BB962C8B-B14F-4D97-AF65-F5344CB8AC3E}">
        <p14:creationId xmlns:p14="http://schemas.microsoft.com/office/powerpoint/2010/main" val="25839427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en-US" dirty="0"/>
          </a:p>
        </p:txBody>
      </p:sp>
      <p:sp>
        <p:nvSpPr>
          <p:cNvPr id="4" name="Substituent număr diapozitiv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0C927C-1E7F-4E42-9881-F2F08CF0D6EB}" type="slidenum">
              <a:rPr kumimoji="0" lang="en-US" sz="1200" b="0" i="0" u="none" strike="noStrike" kern="1200" cap="none" spc="0" normalizeH="0" baseline="0" noProof="0" smtClean="0">
                <a:ln>
                  <a:noFill/>
                </a:ln>
                <a:solidFill>
                  <a:prstClr val="black"/>
                </a:solidFill>
                <a:effectLst/>
                <a:uLnTx/>
                <a:uFillTx/>
                <a:latin typeface="Calibri"/>
                <a:ea typeface="Geneva" panose="020B05030304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a:ea typeface="Geneva" panose="020B0503030404040204" pitchFamily="34" charset="0"/>
              <a:cs typeface="+mn-cs"/>
            </a:endParaRPr>
          </a:p>
        </p:txBody>
      </p:sp>
    </p:spTree>
    <p:extLst>
      <p:ext uri="{BB962C8B-B14F-4D97-AF65-F5344CB8AC3E}">
        <p14:creationId xmlns:p14="http://schemas.microsoft.com/office/powerpoint/2010/main" val="17353800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en-US" dirty="0"/>
          </a:p>
        </p:txBody>
      </p:sp>
      <p:sp>
        <p:nvSpPr>
          <p:cNvPr id="4" name="Substituent număr diapozitiv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0C927C-1E7F-4E42-9881-F2F08CF0D6EB}" type="slidenum">
              <a:rPr kumimoji="0" lang="en-US" sz="1200" b="0" i="0" u="none" strike="noStrike" kern="1200" cap="none" spc="0" normalizeH="0" baseline="0" noProof="0" smtClean="0">
                <a:ln>
                  <a:noFill/>
                </a:ln>
                <a:solidFill>
                  <a:prstClr val="black"/>
                </a:solidFill>
                <a:effectLst/>
                <a:uLnTx/>
                <a:uFillTx/>
                <a:latin typeface="Calibri"/>
                <a:ea typeface="Geneva" panose="020B05030304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a:ea typeface="Geneva" panose="020B0503030404040204" pitchFamily="34" charset="0"/>
              <a:cs typeface="+mn-cs"/>
            </a:endParaRPr>
          </a:p>
        </p:txBody>
      </p:sp>
    </p:spTree>
    <p:extLst>
      <p:ext uri="{BB962C8B-B14F-4D97-AF65-F5344CB8AC3E}">
        <p14:creationId xmlns:p14="http://schemas.microsoft.com/office/powerpoint/2010/main" val="19530206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en-US" dirty="0"/>
          </a:p>
        </p:txBody>
      </p:sp>
      <p:sp>
        <p:nvSpPr>
          <p:cNvPr id="4" name="Substituent număr diapozitiv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0C927C-1E7F-4E42-9881-F2F08CF0D6EB}" type="slidenum">
              <a:rPr kumimoji="0" lang="en-US" sz="1200" b="0" i="0" u="none" strike="noStrike" kern="1200" cap="none" spc="0" normalizeH="0" baseline="0" noProof="0" smtClean="0">
                <a:ln>
                  <a:noFill/>
                </a:ln>
                <a:solidFill>
                  <a:prstClr val="black"/>
                </a:solidFill>
                <a:effectLst/>
                <a:uLnTx/>
                <a:uFillTx/>
                <a:latin typeface="Calibri"/>
                <a:ea typeface="Geneva" panose="020B05030304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a:ea typeface="Geneva" panose="020B0503030404040204" pitchFamily="34" charset="0"/>
              <a:cs typeface="+mn-cs"/>
            </a:endParaRPr>
          </a:p>
        </p:txBody>
      </p:sp>
    </p:spTree>
    <p:extLst>
      <p:ext uri="{BB962C8B-B14F-4D97-AF65-F5344CB8AC3E}">
        <p14:creationId xmlns:p14="http://schemas.microsoft.com/office/powerpoint/2010/main" val="27427016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8">
            <a:extLst>
              <a:ext uri="{FF2B5EF4-FFF2-40B4-BE49-F238E27FC236}">
                <a16:creationId xmlns:a16="http://schemas.microsoft.com/office/drawing/2014/main" id="{1B0B47CB-DD3A-5844-82AA-2BBFE462DFD1}"/>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C2DDFE2-3768-4A42-A4D8-7AE12E85DC1A}"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22529" name="Text Box 1">
            <a:extLst>
              <a:ext uri="{FF2B5EF4-FFF2-40B4-BE49-F238E27FC236}">
                <a16:creationId xmlns:a16="http://schemas.microsoft.com/office/drawing/2014/main" id="{CEBB80C3-09B4-EE40-8ED5-CCB447F0694A}"/>
              </a:ext>
            </a:extLst>
          </p:cNvPr>
          <p:cNvSpPr txBox="1">
            <a:spLocks noGrp="1" noRot="1" noChangeAspect="1" noChangeArrowheads="1"/>
          </p:cNvSpPr>
          <p:nvPr>
            <p:ph type="sldImg"/>
          </p:nvPr>
        </p:nvSpPr>
        <p:spPr>
          <a:xfrm>
            <a:off x="1106488" y="812800"/>
            <a:ext cx="5341937" cy="4005263"/>
          </a:xfrm>
          <a:solidFill>
            <a:srgbClr val="FFFFFF"/>
          </a:solidFill>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2530" name="Text Box 2">
            <a:extLst>
              <a:ext uri="{FF2B5EF4-FFF2-40B4-BE49-F238E27FC236}">
                <a16:creationId xmlns:a16="http://schemas.microsoft.com/office/drawing/2014/main" id="{7D1D1348-D998-6F42-A805-80AF6A5E4F30}"/>
              </a:ext>
            </a:extLst>
          </p:cNvPr>
          <p:cNvSpPr txBox="1">
            <a:spLocks noGrp="1" noChangeArrowheads="1"/>
          </p:cNvSpPr>
          <p:nvPr>
            <p:ph type="body" idx="1"/>
          </p:nvPr>
        </p:nvSpPr>
        <p:spPr>
          <a:xfrm>
            <a:off x="755650" y="5078413"/>
            <a:ext cx="6045200" cy="4808537"/>
          </a:xfrm>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altLang="en-US" dirty="0">
              <a:solidFill>
                <a:srgbClr val="000000"/>
              </a:solidFill>
              <a:latin typeface="Times New Roman" charset="0"/>
              <a:ea typeface="+mn-ea"/>
            </a:endParaRPr>
          </a:p>
        </p:txBody>
      </p:sp>
    </p:spTree>
    <p:extLst>
      <p:ext uri="{BB962C8B-B14F-4D97-AF65-F5344CB8AC3E}">
        <p14:creationId xmlns:p14="http://schemas.microsoft.com/office/powerpoint/2010/main" val="29127907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21</a:t>
            </a:fld>
            <a:endParaRPr lang="en-US" altLang="en-US"/>
          </a:p>
        </p:txBody>
      </p:sp>
    </p:spTree>
    <p:extLst>
      <p:ext uri="{BB962C8B-B14F-4D97-AF65-F5344CB8AC3E}">
        <p14:creationId xmlns:p14="http://schemas.microsoft.com/office/powerpoint/2010/main" val="7153934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22</a:t>
            </a:fld>
            <a:endParaRPr lang="en-US" altLang="en-US"/>
          </a:p>
        </p:txBody>
      </p:sp>
    </p:spTree>
    <p:extLst>
      <p:ext uri="{BB962C8B-B14F-4D97-AF65-F5344CB8AC3E}">
        <p14:creationId xmlns:p14="http://schemas.microsoft.com/office/powerpoint/2010/main" val="40505549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23</a:t>
            </a:fld>
            <a:endParaRPr lang="en-US" altLang="en-US"/>
          </a:p>
        </p:txBody>
      </p:sp>
    </p:spTree>
    <p:extLst>
      <p:ext uri="{BB962C8B-B14F-4D97-AF65-F5344CB8AC3E}">
        <p14:creationId xmlns:p14="http://schemas.microsoft.com/office/powerpoint/2010/main" val="19603362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24</a:t>
            </a:fld>
            <a:endParaRPr lang="en-US" altLang="en-US"/>
          </a:p>
        </p:txBody>
      </p:sp>
    </p:spTree>
    <p:extLst>
      <p:ext uri="{BB962C8B-B14F-4D97-AF65-F5344CB8AC3E}">
        <p14:creationId xmlns:p14="http://schemas.microsoft.com/office/powerpoint/2010/main" val="16979323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27</a:t>
            </a:fld>
            <a:endParaRPr lang="en-US" altLang="en-US"/>
          </a:p>
        </p:txBody>
      </p:sp>
    </p:spTree>
    <p:extLst>
      <p:ext uri="{BB962C8B-B14F-4D97-AF65-F5344CB8AC3E}">
        <p14:creationId xmlns:p14="http://schemas.microsoft.com/office/powerpoint/2010/main" val="35711221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8">
            <a:extLst>
              <a:ext uri="{FF2B5EF4-FFF2-40B4-BE49-F238E27FC236}">
                <a16:creationId xmlns:a16="http://schemas.microsoft.com/office/drawing/2014/main" id="{1B0B47CB-DD3A-5844-82AA-2BBFE462DFD1}"/>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C2DDFE2-3768-4A42-A4D8-7AE12E85DC1A}"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22529" name="Text Box 1">
            <a:extLst>
              <a:ext uri="{FF2B5EF4-FFF2-40B4-BE49-F238E27FC236}">
                <a16:creationId xmlns:a16="http://schemas.microsoft.com/office/drawing/2014/main" id="{CEBB80C3-09B4-EE40-8ED5-CCB447F0694A}"/>
              </a:ext>
            </a:extLst>
          </p:cNvPr>
          <p:cNvSpPr txBox="1">
            <a:spLocks noGrp="1" noRot="1" noChangeAspect="1" noChangeArrowheads="1"/>
          </p:cNvSpPr>
          <p:nvPr>
            <p:ph type="sldImg"/>
          </p:nvPr>
        </p:nvSpPr>
        <p:spPr>
          <a:xfrm>
            <a:off x="1106488" y="812800"/>
            <a:ext cx="5341937" cy="4005263"/>
          </a:xfrm>
          <a:solidFill>
            <a:srgbClr val="FFFFFF"/>
          </a:solidFill>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2530" name="Text Box 2">
            <a:extLst>
              <a:ext uri="{FF2B5EF4-FFF2-40B4-BE49-F238E27FC236}">
                <a16:creationId xmlns:a16="http://schemas.microsoft.com/office/drawing/2014/main" id="{7D1D1348-D998-6F42-A805-80AF6A5E4F30}"/>
              </a:ext>
            </a:extLst>
          </p:cNvPr>
          <p:cNvSpPr txBox="1">
            <a:spLocks noGrp="1" noChangeArrowheads="1"/>
          </p:cNvSpPr>
          <p:nvPr>
            <p:ph type="body" idx="1"/>
          </p:nvPr>
        </p:nvSpPr>
        <p:spPr>
          <a:xfrm>
            <a:off x="755650" y="5078413"/>
            <a:ext cx="6045200" cy="4808537"/>
          </a:xfrm>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r>
              <a:rPr lang="en-US" altLang="en-US" dirty="0">
                <a:solidFill>
                  <a:srgbClr val="000000"/>
                </a:solidFill>
                <a:latin typeface="Times New Roman" charset="0"/>
                <a:ea typeface="+mn-ea"/>
              </a:rPr>
              <a:t>Don’t be afraid</a:t>
            </a:r>
            <a:r>
              <a:rPr lang="en-US" altLang="en-US" baseline="0" dirty="0">
                <a:solidFill>
                  <a:srgbClr val="000000"/>
                </a:solidFill>
                <a:latin typeface="Times New Roman" charset="0"/>
                <a:ea typeface="+mn-ea"/>
              </a:rPr>
              <a:t> to take risks, step out of your comfort zone.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10% knowing the tech and 90% creativity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Everyone can benefit from tech in some way – up to us to figure it out.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Increase expectations – we can learn new things.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p>
          <a:p>
            <a:pPr>
              <a:defRPr/>
            </a:pPr>
            <a:endParaRPr lang="en-US" altLang="en-US" dirty="0">
              <a:solidFill>
                <a:srgbClr val="000000"/>
              </a:solidFill>
              <a:latin typeface="Times New Roman" charset="0"/>
              <a:ea typeface="+mn-ea"/>
            </a:endParaRPr>
          </a:p>
        </p:txBody>
      </p:sp>
    </p:spTree>
    <p:extLst>
      <p:ext uri="{BB962C8B-B14F-4D97-AF65-F5344CB8AC3E}">
        <p14:creationId xmlns:p14="http://schemas.microsoft.com/office/powerpoint/2010/main" val="5195268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8">
            <a:extLst>
              <a:ext uri="{FF2B5EF4-FFF2-40B4-BE49-F238E27FC236}">
                <a16:creationId xmlns:a16="http://schemas.microsoft.com/office/drawing/2014/main" id="{1B0B47CB-DD3A-5844-82AA-2BBFE462DFD1}"/>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C2DDFE2-3768-4A42-A4D8-7AE12E85DC1A}"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30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22529" name="Text Box 1">
            <a:extLst>
              <a:ext uri="{FF2B5EF4-FFF2-40B4-BE49-F238E27FC236}">
                <a16:creationId xmlns:a16="http://schemas.microsoft.com/office/drawing/2014/main" id="{CEBB80C3-09B4-EE40-8ED5-CCB447F0694A}"/>
              </a:ext>
            </a:extLst>
          </p:cNvPr>
          <p:cNvSpPr txBox="1">
            <a:spLocks noGrp="1" noRot="1" noChangeAspect="1" noChangeArrowheads="1"/>
          </p:cNvSpPr>
          <p:nvPr>
            <p:ph type="sldImg"/>
          </p:nvPr>
        </p:nvSpPr>
        <p:spPr>
          <a:xfrm>
            <a:off x="1106488" y="812800"/>
            <a:ext cx="5341937" cy="4005263"/>
          </a:xfrm>
          <a:solidFill>
            <a:srgbClr val="FFFFFF"/>
          </a:solidFill>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2530" name="Text Box 2">
            <a:extLst>
              <a:ext uri="{FF2B5EF4-FFF2-40B4-BE49-F238E27FC236}">
                <a16:creationId xmlns:a16="http://schemas.microsoft.com/office/drawing/2014/main" id="{7D1D1348-D998-6F42-A805-80AF6A5E4F30}"/>
              </a:ext>
            </a:extLst>
          </p:cNvPr>
          <p:cNvSpPr txBox="1">
            <a:spLocks noGrp="1" noChangeArrowheads="1"/>
          </p:cNvSpPr>
          <p:nvPr>
            <p:ph type="body" idx="1"/>
          </p:nvPr>
        </p:nvSpPr>
        <p:spPr>
          <a:xfrm>
            <a:off x="755650" y="5078413"/>
            <a:ext cx="6045200" cy="4808537"/>
          </a:xfrm>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dirty="0">
              <a:solidFill>
                <a:srgbClr val="000000"/>
              </a:solidFill>
              <a:latin typeface="Times New Roman" charset="0"/>
              <a:ea typeface="+mn-ea"/>
            </a:endParaRPr>
          </a:p>
          <a:p>
            <a:pPr>
              <a:defRPr/>
            </a:pPr>
            <a:br>
              <a:rPr lang="en-US" dirty="0">
                <a:solidFill>
                  <a:srgbClr val="000000"/>
                </a:solidFill>
                <a:latin typeface="Times New Roman" charset="0"/>
                <a:ea typeface="+mn-ea"/>
              </a:rPr>
            </a:br>
            <a:endParaRPr lang="en-US" dirty="0">
              <a:solidFill>
                <a:srgbClr val="000000"/>
              </a:solidFill>
              <a:latin typeface="Times New Roman" charset="0"/>
              <a:ea typeface="+mn-ea"/>
            </a:endParaRPr>
          </a:p>
          <a:p>
            <a:pPr>
              <a:defRPr/>
            </a:pPr>
            <a:r>
              <a:rPr lang="en-US" dirty="0">
                <a:solidFill>
                  <a:srgbClr val="000000"/>
                </a:solidFill>
                <a:latin typeface="Times New Roman" charset="0"/>
                <a:ea typeface="+mn-ea"/>
              </a:rPr>
              <a:t>Need to know you are part of bigger historic movement. </a:t>
            </a:r>
          </a:p>
          <a:p>
            <a:pPr>
              <a:defRPr/>
            </a:pPr>
            <a:r>
              <a:rPr lang="en-US" dirty="0">
                <a:solidFill>
                  <a:srgbClr val="000000"/>
                </a:solidFill>
                <a:latin typeface="Times New Roman" charset="0"/>
                <a:ea typeface="+mn-ea"/>
              </a:rPr>
              <a:t>What you do preserves and strengthens everyone's rights. </a:t>
            </a:r>
          </a:p>
          <a:p>
            <a:pPr>
              <a:defRPr/>
            </a:pPr>
            <a:br>
              <a:rPr lang="en-US" dirty="0">
                <a:solidFill>
                  <a:srgbClr val="000000"/>
                </a:solidFill>
                <a:latin typeface="Times New Roman" charset="0"/>
                <a:ea typeface="+mn-ea"/>
              </a:rPr>
            </a:br>
            <a:endParaRPr lang="en-US" dirty="0">
              <a:solidFill>
                <a:srgbClr val="000000"/>
              </a:solidFill>
              <a:latin typeface="Times New Roman" charset="0"/>
              <a:ea typeface="+mn-ea"/>
            </a:endParaRPr>
          </a:p>
          <a:p>
            <a:pPr>
              <a:defRPr/>
            </a:pPr>
            <a:br>
              <a:rPr lang="en-US" dirty="0"/>
            </a:br>
            <a:endParaRPr lang="en-US" dirty="0">
              <a:solidFill>
                <a:srgbClr val="000000"/>
              </a:solidFill>
              <a:latin typeface="Times New Roman" charset="0"/>
              <a:ea typeface="+mn-ea"/>
            </a:endParaRPr>
          </a:p>
          <a:p>
            <a:pPr>
              <a:defRPr/>
            </a:pPr>
            <a:endParaRPr lang="en-US" dirty="0">
              <a:solidFill>
                <a:srgbClr val="000000"/>
              </a:solidFill>
              <a:latin typeface="Times New Roman" charset="0"/>
              <a:ea typeface="+mn-ea"/>
            </a:endParaRPr>
          </a:p>
          <a:p>
            <a:pPr>
              <a:defRPr/>
            </a:pPr>
            <a:endParaRPr lang="en-US" altLang="en-US" dirty="0">
              <a:solidFill>
                <a:srgbClr val="000000"/>
              </a:solidFill>
              <a:latin typeface="Times New Roman" charset="0"/>
              <a:ea typeface="+mn-ea"/>
            </a:endParaRPr>
          </a:p>
          <a:p>
            <a:pPr>
              <a:defRPr/>
            </a:pPr>
            <a:endParaRPr lang="en-US" altLang="en-US" dirty="0">
              <a:solidFill>
                <a:srgbClr val="000000"/>
              </a:solidFill>
              <a:latin typeface="Times New Roman" charset="0"/>
              <a:ea typeface="+mn-ea"/>
            </a:endParaRPr>
          </a:p>
        </p:txBody>
      </p:sp>
    </p:spTree>
    <p:extLst>
      <p:ext uri="{BB962C8B-B14F-4D97-AF65-F5344CB8AC3E}">
        <p14:creationId xmlns:p14="http://schemas.microsoft.com/office/powerpoint/2010/main" val="8063986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8">
            <a:extLst>
              <a:ext uri="{FF2B5EF4-FFF2-40B4-BE49-F238E27FC236}">
                <a16:creationId xmlns:a16="http://schemas.microsoft.com/office/drawing/2014/main" id="{1B0B47CB-DD3A-5844-82AA-2BBFE462DFD1}"/>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C2DDFE2-3768-4A42-A4D8-7AE12E85DC1A}"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31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22529" name="Text Box 1">
            <a:extLst>
              <a:ext uri="{FF2B5EF4-FFF2-40B4-BE49-F238E27FC236}">
                <a16:creationId xmlns:a16="http://schemas.microsoft.com/office/drawing/2014/main" id="{CEBB80C3-09B4-EE40-8ED5-CCB447F0694A}"/>
              </a:ext>
            </a:extLst>
          </p:cNvPr>
          <p:cNvSpPr txBox="1">
            <a:spLocks noGrp="1" noRot="1" noChangeAspect="1" noChangeArrowheads="1"/>
          </p:cNvSpPr>
          <p:nvPr>
            <p:ph type="sldImg"/>
          </p:nvPr>
        </p:nvSpPr>
        <p:spPr>
          <a:xfrm>
            <a:off x="1106488" y="812800"/>
            <a:ext cx="5341937" cy="4005263"/>
          </a:xfrm>
          <a:solidFill>
            <a:srgbClr val="FFFFFF"/>
          </a:solidFill>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2530" name="Text Box 2">
            <a:extLst>
              <a:ext uri="{FF2B5EF4-FFF2-40B4-BE49-F238E27FC236}">
                <a16:creationId xmlns:a16="http://schemas.microsoft.com/office/drawing/2014/main" id="{7D1D1348-D998-6F42-A805-80AF6A5E4F30}"/>
              </a:ext>
            </a:extLst>
          </p:cNvPr>
          <p:cNvSpPr txBox="1">
            <a:spLocks noGrp="1" noChangeArrowheads="1"/>
          </p:cNvSpPr>
          <p:nvPr>
            <p:ph type="body" idx="1"/>
          </p:nvPr>
        </p:nvSpPr>
        <p:spPr>
          <a:xfrm>
            <a:off x="755650" y="5078413"/>
            <a:ext cx="6045200" cy="4808537"/>
          </a:xfrm>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dirty="0">
              <a:solidFill>
                <a:srgbClr val="000000"/>
              </a:solidFill>
              <a:latin typeface="Times New Roman" charset="0"/>
              <a:ea typeface="+mn-ea"/>
            </a:endParaRPr>
          </a:p>
          <a:p>
            <a:pPr>
              <a:defRPr/>
            </a:pPr>
            <a:br>
              <a:rPr lang="en-US" dirty="0">
                <a:solidFill>
                  <a:srgbClr val="000000"/>
                </a:solidFill>
                <a:latin typeface="Times New Roman" charset="0"/>
                <a:ea typeface="+mn-ea"/>
              </a:rPr>
            </a:br>
            <a:endParaRPr lang="en-US" dirty="0">
              <a:solidFill>
                <a:srgbClr val="000000"/>
              </a:solidFill>
              <a:latin typeface="Times New Roman" charset="0"/>
              <a:ea typeface="+mn-ea"/>
            </a:endParaRPr>
          </a:p>
          <a:p>
            <a:pPr>
              <a:defRPr/>
            </a:pPr>
            <a:r>
              <a:rPr lang="en-US" dirty="0">
                <a:solidFill>
                  <a:srgbClr val="000000"/>
                </a:solidFill>
                <a:latin typeface="Times New Roman" charset="0"/>
                <a:ea typeface="+mn-ea"/>
              </a:rPr>
              <a:t>Need to know you are part of bigger historic movement. </a:t>
            </a:r>
          </a:p>
          <a:p>
            <a:pPr>
              <a:defRPr/>
            </a:pPr>
            <a:r>
              <a:rPr lang="en-US" dirty="0">
                <a:solidFill>
                  <a:srgbClr val="000000"/>
                </a:solidFill>
                <a:latin typeface="Times New Roman" charset="0"/>
                <a:ea typeface="+mn-ea"/>
              </a:rPr>
              <a:t>What you do preserves and strengthens everyone's rights. </a:t>
            </a:r>
          </a:p>
          <a:p>
            <a:pPr>
              <a:defRPr/>
            </a:pPr>
            <a:br>
              <a:rPr lang="en-US" dirty="0">
                <a:solidFill>
                  <a:srgbClr val="000000"/>
                </a:solidFill>
                <a:latin typeface="Times New Roman" charset="0"/>
                <a:ea typeface="+mn-ea"/>
              </a:rPr>
            </a:br>
            <a:endParaRPr lang="en-US" dirty="0">
              <a:solidFill>
                <a:srgbClr val="000000"/>
              </a:solidFill>
              <a:latin typeface="Times New Roman" charset="0"/>
              <a:ea typeface="+mn-ea"/>
            </a:endParaRPr>
          </a:p>
          <a:p>
            <a:pPr>
              <a:defRPr/>
            </a:pPr>
            <a:br>
              <a:rPr lang="en-US" dirty="0"/>
            </a:br>
            <a:endParaRPr lang="en-US" dirty="0">
              <a:solidFill>
                <a:srgbClr val="000000"/>
              </a:solidFill>
              <a:latin typeface="Times New Roman" charset="0"/>
              <a:ea typeface="+mn-ea"/>
            </a:endParaRPr>
          </a:p>
          <a:p>
            <a:pPr>
              <a:defRPr/>
            </a:pPr>
            <a:endParaRPr lang="en-US" dirty="0">
              <a:solidFill>
                <a:srgbClr val="000000"/>
              </a:solidFill>
              <a:latin typeface="Times New Roman" charset="0"/>
              <a:ea typeface="+mn-ea"/>
            </a:endParaRPr>
          </a:p>
          <a:p>
            <a:pPr>
              <a:defRPr/>
            </a:pPr>
            <a:endParaRPr lang="en-US" altLang="en-US" dirty="0">
              <a:solidFill>
                <a:srgbClr val="000000"/>
              </a:solidFill>
              <a:latin typeface="Times New Roman" charset="0"/>
              <a:ea typeface="+mn-ea"/>
            </a:endParaRPr>
          </a:p>
          <a:p>
            <a:pPr>
              <a:defRPr/>
            </a:pPr>
            <a:endParaRPr lang="en-US" altLang="en-US" dirty="0">
              <a:solidFill>
                <a:srgbClr val="000000"/>
              </a:solidFill>
              <a:latin typeface="Times New Roman" charset="0"/>
              <a:ea typeface="+mn-ea"/>
            </a:endParaRPr>
          </a:p>
        </p:txBody>
      </p:sp>
    </p:spTree>
    <p:extLst>
      <p:ext uri="{BB962C8B-B14F-4D97-AF65-F5344CB8AC3E}">
        <p14:creationId xmlns:p14="http://schemas.microsoft.com/office/powerpoint/2010/main" val="22656200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D2D74-2660-B344-AFE9-F8D9172706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ABC8C5-328F-6B4D-B3CA-42B5F0926A7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7C34F60-AB21-1F4E-99CB-BED189B6171A}"/>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87BF0A2B-C10A-D84F-8845-A7A4820A03E8}"/>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07183137-51CC-0146-B3A2-E95DD0D99C58}"/>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F4F2C800-E6A5-EE47-9F5D-6559176AC179}" type="slidenum">
              <a:rPr lang="en-US" altLang="en-US"/>
              <a:pPr>
                <a:defRPr/>
              </a:pPr>
              <a:t>‹#›</a:t>
            </a:fld>
            <a:endParaRPr lang="en-US" altLang="en-US"/>
          </a:p>
        </p:txBody>
      </p:sp>
    </p:spTree>
    <p:extLst>
      <p:ext uri="{BB962C8B-B14F-4D97-AF65-F5344CB8AC3E}">
        <p14:creationId xmlns:p14="http://schemas.microsoft.com/office/powerpoint/2010/main" val="598560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49BFC-8DC4-1043-9116-9C8878D18F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196530-A4DA-234C-80A3-6FFA0FD1A9F1}"/>
              </a:ext>
            </a:extLst>
          </p:cNvPr>
          <p:cNvSpPr>
            <a:spLocks noGrp="1"/>
          </p:cNvSpPr>
          <p:nvPr>
            <p:ph sz="half" idx="1"/>
          </p:nvPr>
        </p:nvSpPr>
        <p:spPr>
          <a:xfrm>
            <a:off x="685800" y="1752600"/>
            <a:ext cx="3810000" cy="381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BC3B30-E6B1-EE49-A601-FAD230136040}"/>
              </a:ext>
            </a:extLst>
          </p:cNvPr>
          <p:cNvSpPr>
            <a:spLocks noGrp="1"/>
          </p:cNvSpPr>
          <p:nvPr>
            <p:ph sz="half" idx="2"/>
          </p:nvPr>
        </p:nvSpPr>
        <p:spPr>
          <a:xfrm>
            <a:off x="4648200" y="1752600"/>
            <a:ext cx="3810000" cy="381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986C48-47D5-CF46-9C97-E8207131CD30}"/>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en-US"/>
          </a:p>
        </p:txBody>
      </p:sp>
      <p:sp>
        <p:nvSpPr>
          <p:cNvPr id="6" name="Footer Placeholder 5">
            <a:extLst>
              <a:ext uri="{FF2B5EF4-FFF2-40B4-BE49-F238E27FC236}">
                <a16:creationId xmlns:a16="http://schemas.microsoft.com/office/drawing/2014/main" id="{9AA27E03-6A6D-4E45-B739-84710C27D44A}"/>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7" name="Slide Number Placeholder 6">
            <a:extLst>
              <a:ext uri="{FF2B5EF4-FFF2-40B4-BE49-F238E27FC236}">
                <a16:creationId xmlns:a16="http://schemas.microsoft.com/office/drawing/2014/main" id="{4F9B890F-5089-DC4D-84C0-B7479C13532D}"/>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DADED417-B3A5-0247-A5EF-759E0B1E1E60}" type="slidenum">
              <a:rPr lang="en-US" altLang="en-US"/>
              <a:pPr>
                <a:defRPr/>
              </a:pPr>
              <a:t>‹#›</a:t>
            </a:fld>
            <a:endParaRPr lang="en-US" altLang="en-US"/>
          </a:p>
        </p:txBody>
      </p:sp>
    </p:spTree>
    <p:extLst>
      <p:ext uri="{BB962C8B-B14F-4D97-AF65-F5344CB8AC3E}">
        <p14:creationId xmlns:p14="http://schemas.microsoft.com/office/powerpoint/2010/main" val="2661509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D994F-7C79-9D4C-89E5-FC701A78538C}"/>
              </a:ext>
            </a:extLst>
          </p:cNvPr>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9C111860-1701-B444-9C82-8BD19C25DA60}"/>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en-US"/>
          </a:p>
        </p:txBody>
      </p:sp>
      <p:sp>
        <p:nvSpPr>
          <p:cNvPr id="4" name="Rectangle 5">
            <a:extLst>
              <a:ext uri="{FF2B5EF4-FFF2-40B4-BE49-F238E27FC236}">
                <a16:creationId xmlns:a16="http://schemas.microsoft.com/office/drawing/2014/main" id="{42D173D8-C9FC-7548-A846-B0C5A9D966A1}"/>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C0A3EA6A-5374-0844-90E2-1A0C7E526184}"/>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03796480-D029-B94F-BE73-D819B106F9C3}" type="slidenum">
              <a:rPr lang="en-US" altLang="en-US"/>
              <a:pPr>
                <a:defRPr/>
              </a:pPr>
              <a:t>‹#›</a:t>
            </a:fld>
            <a:endParaRPr lang="en-US" altLang="en-US"/>
          </a:p>
        </p:txBody>
      </p:sp>
    </p:spTree>
    <p:extLst>
      <p:ext uri="{BB962C8B-B14F-4D97-AF65-F5344CB8AC3E}">
        <p14:creationId xmlns:p14="http://schemas.microsoft.com/office/powerpoint/2010/main" val="4094230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68080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33488-CFB5-1C4A-83A0-9F6AF9B58A71}"/>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3FBA32-7E1F-3D44-9BF0-10A93E8A0B3A}"/>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D09D552-57B7-9646-B05E-6415C6C76F32}"/>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62E182A-30DF-354A-A100-F873D52D373F}"/>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en-US"/>
          </a:p>
        </p:txBody>
      </p:sp>
      <p:sp>
        <p:nvSpPr>
          <p:cNvPr id="6" name="Footer Placeholder 5">
            <a:extLst>
              <a:ext uri="{FF2B5EF4-FFF2-40B4-BE49-F238E27FC236}">
                <a16:creationId xmlns:a16="http://schemas.microsoft.com/office/drawing/2014/main" id="{64146504-C886-AA4F-82D4-B3C76B5785D1}"/>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7" name="Slide Number Placeholder 6">
            <a:extLst>
              <a:ext uri="{FF2B5EF4-FFF2-40B4-BE49-F238E27FC236}">
                <a16:creationId xmlns:a16="http://schemas.microsoft.com/office/drawing/2014/main" id="{8C1EC1C9-612C-4F48-97F2-7495EFA1A6B8}"/>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3E31C1A8-0226-5149-8605-B962693E6F7C}" type="slidenum">
              <a:rPr lang="en-US" altLang="en-US"/>
              <a:pPr>
                <a:defRPr/>
              </a:pPr>
              <a:t>‹#›</a:t>
            </a:fld>
            <a:endParaRPr lang="en-US" altLang="en-US"/>
          </a:p>
        </p:txBody>
      </p:sp>
    </p:spTree>
    <p:extLst>
      <p:ext uri="{BB962C8B-B14F-4D97-AF65-F5344CB8AC3E}">
        <p14:creationId xmlns:p14="http://schemas.microsoft.com/office/powerpoint/2010/main" val="2770851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7CCB52-5D48-470B-B8DA-D8134110C94D}" type="slidenum">
              <a:rPr lang="en-US" smtClean="0"/>
              <a:t>‹#›</a:t>
            </a:fld>
            <a:endParaRPr lang="en-US"/>
          </a:p>
        </p:txBody>
      </p:sp>
    </p:spTree>
    <p:extLst>
      <p:ext uri="{BB962C8B-B14F-4D97-AF65-F5344CB8AC3E}">
        <p14:creationId xmlns:p14="http://schemas.microsoft.com/office/powerpoint/2010/main" val="127942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7CCB52-5D48-470B-B8DA-D8134110C94D}" type="slidenum">
              <a:rPr lang="en-US" smtClean="0"/>
              <a:t>‹#›</a:t>
            </a:fld>
            <a:endParaRPr lang="en-US"/>
          </a:p>
        </p:txBody>
      </p:sp>
    </p:spTree>
    <p:extLst>
      <p:ext uri="{BB962C8B-B14F-4D97-AF65-F5344CB8AC3E}">
        <p14:creationId xmlns:p14="http://schemas.microsoft.com/office/powerpoint/2010/main" val="2799321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7CCB52-5D48-470B-B8DA-D8134110C94D}" type="slidenum">
              <a:rPr lang="en-US" smtClean="0"/>
              <a:t>‹#›</a:t>
            </a:fld>
            <a:endParaRPr lang="en-US"/>
          </a:p>
        </p:txBody>
      </p:sp>
    </p:spTree>
    <p:extLst>
      <p:ext uri="{BB962C8B-B14F-4D97-AF65-F5344CB8AC3E}">
        <p14:creationId xmlns:p14="http://schemas.microsoft.com/office/powerpoint/2010/main" val="881671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7CCB52-5D48-470B-B8DA-D8134110C94D}" type="slidenum">
              <a:rPr lang="en-US" smtClean="0"/>
              <a:t>‹#›</a:t>
            </a:fld>
            <a:endParaRPr lang="en-US"/>
          </a:p>
        </p:txBody>
      </p:sp>
    </p:spTree>
    <p:extLst>
      <p:ext uri="{BB962C8B-B14F-4D97-AF65-F5344CB8AC3E}">
        <p14:creationId xmlns:p14="http://schemas.microsoft.com/office/powerpoint/2010/main" val="1421504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D7CCB52-5D48-470B-B8DA-D8134110C94D}" type="slidenum">
              <a:rPr lang="en-US" smtClean="0"/>
              <a:t>‹#›</a:t>
            </a:fld>
            <a:endParaRPr lang="en-US"/>
          </a:p>
        </p:txBody>
      </p:sp>
    </p:spTree>
    <p:extLst>
      <p:ext uri="{BB962C8B-B14F-4D97-AF65-F5344CB8AC3E}">
        <p14:creationId xmlns:p14="http://schemas.microsoft.com/office/powerpoint/2010/main" val="1988439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7CCB52-5D48-470B-B8DA-D8134110C94D}" type="slidenum">
              <a:rPr lang="en-US" smtClean="0"/>
              <a:t>‹#›</a:t>
            </a:fld>
            <a:endParaRPr lang="en-US"/>
          </a:p>
        </p:txBody>
      </p:sp>
    </p:spTree>
    <p:extLst>
      <p:ext uri="{BB962C8B-B14F-4D97-AF65-F5344CB8AC3E}">
        <p14:creationId xmlns:p14="http://schemas.microsoft.com/office/powerpoint/2010/main" val="22549093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D7CCB52-5D48-470B-B8DA-D8134110C94D}" type="slidenum">
              <a:rPr lang="en-US" smtClean="0"/>
              <a:t>‹#›</a:t>
            </a:fld>
            <a:endParaRPr lang="en-US"/>
          </a:p>
        </p:txBody>
      </p:sp>
    </p:spTree>
    <p:extLst>
      <p:ext uri="{BB962C8B-B14F-4D97-AF65-F5344CB8AC3E}">
        <p14:creationId xmlns:p14="http://schemas.microsoft.com/office/powerpoint/2010/main" val="6832988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7CCB52-5D48-470B-B8DA-D8134110C94D}" type="slidenum">
              <a:rPr lang="en-US" smtClean="0"/>
              <a:t>‹#›</a:t>
            </a:fld>
            <a:endParaRPr lang="en-US"/>
          </a:p>
        </p:txBody>
      </p:sp>
    </p:spTree>
    <p:extLst>
      <p:ext uri="{BB962C8B-B14F-4D97-AF65-F5344CB8AC3E}">
        <p14:creationId xmlns:p14="http://schemas.microsoft.com/office/powerpoint/2010/main" val="35524233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7CCB52-5D48-470B-B8DA-D8134110C94D}" type="slidenum">
              <a:rPr lang="en-US" smtClean="0"/>
              <a:t>‹#›</a:t>
            </a:fld>
            <a:endParaRPr lang="en-US"/>
          </a:p>
        </p:txBody>
      </p:sp>
    </p:spTree>
    <p:extLst>
      <p:ext uri="{BB962C8B-B14F-4D97-AF65-F5344CB8AC3E}">
        <p14:creationId xmlns:p14="http://schemas.microsoft.com/office/powerpoint/2010/main" val="39224859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7CCB52-5D48-470B-B8DA-D8134110C94D}" type="slidenum">
              <a:rPr lang="en-US" smtClean="0"/>
              <a:t>‹#›</a:t>
            </a:fld>
            <a:endParaRPr lang="en-US"/>
          </a:p>
        </p:txBody>
      </p:sp>
    </p:spTree>
    <p:extLst>
      <p:ext uri="{BB962C8B-B14F-4D97-AF65-F5344CB8AC3E}">
        <p14:creationId xmlns:p14="http://schemas.microsoft.com/office/powerpoint/2010/main" val="15079754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7CCB52-5D48-470B-B8DA-D8134110C94D}" type="slidenum">
              <a:rPr lang="en-US" smtClean="0"/>
              <a:t>‹#›</a:t>
            </a:fld>
            <a:endParaRPr lang="en-US"/>
          </a:p>
        </p:txBody>
      </p:sp>
    </p:spTree>
    <p:extLst>
      <p:ext uri="{BB962C8B-B14F-4D97-AF65-F5344CB8AC3E}">
        <p14:creationId xmlns:p14="http://schemas.microsoft.com/office/powerpoint/2010/main" val="38292904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5052E6B4-2895-484C-BD31-05CEE0B12703}"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8881367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5052E6B4-2895-484C-BD31-05CEE0B12703}"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5286546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5052E6B4-2895-484C-BD31-05CEE0B12703}"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2889953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5052E6B4-2895-484C-BD31-05CEE0B12703}"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6471635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solidFill>
                <a:prstClr val="black">
                  <a:tint val="75000"/>
                </a:prstClr>
              </a:solidFill>
              <a:latin typeface="Calibri"/>
            </a:endParaRPr>
          </a:p>
        </p:txBody>
      </p:sp>
      <p:sp>
        <p:nvSpPr>
          <p:cNvPr id="8" name="Footer Placeholder 7"/>
          <p:cNvSpPr>
            <a:spLocks noGrp="1"/>
          </p:cNvSpPr>
          <p:nvPr>
            <p:ph type="ftr" sz="quarter" idx="11"/>
          </p:nvPr>
        </p:nvSpPr>
        <p:spPr/>
        <p:txBody>
          <a:bodyPr/>
          <a:lstStyle/>
          <a:p>
            <a:endParaRPr lang="en-US">
              <a:solidFill>
                <a:prstClr val="black">
                  <a:tint val="75000"/>
                </a:prstClr>
              </a:solidFill>
              <a:latin typeface="Calibri"/>
            </a:endParaRPr>
          </a:p>
        </p:txBody>
      </p:sp>
      <p:sp>
        <p:nvSpPr>
          <p:cNvPr id="9" name="Slide Number Placeholder 8"/>
          <p:cNvSpPr>
            <a:spLocks noGrp="1"/>
          </p:cNvSpPr>
          <p:nvPr>
            <p:ph type="sldNum" sz="quarter" idx="12"/>
          </p:nvPr>
        </p:nvSpPr>
        <p:spPr/>
        <p:txBody>
          <a:bodyPr/>
          <a:lstStyle/>
          <a:p>
            <a:fld id="{5052E6B4-2895-484C-BD31-05CEE0B12703}"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2655864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endParaRPr lang="en-US">
              <a:solidFill>
                <a:prstClr val="black">
                  <a:tint val="75000"/>
                </a:prstClr>
              </a:solidFill>
              <a:latin typeface="Calibri"/>
            </a:endParaRPr>
          </a:p>
        </p:txBody>
      </p:sp>
      <p:sp>
        <p:nvSpPr>
          <p:cNvPr id="5" name="Slide Number Placeholder 4"/>
          <p:cNvSpPr>
            <a:spLocks noGrp="1"/>
          </p:cNvSpPr>
          <p:nvPr>
            <p:ph type="sldNum" sz="quarter" idx="12"/>
          </p:nvPr>
        </p:nvSpPr>
        <p:spPr/>
        <p:txBody>
          <a:bodyPr/>
          <a:lstStyle/>
          <a:p>
            <a:fld id="{5052E6B4-2895-484C-BD31-05CEE0B12703}"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1599757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endParaRPr lang="en-US">
              <a:solidFill>
                <a:prstClr val="black">
                  <a:tint val="75000"/>
                </a:prstClr>
              </a:solidFill>
              <a:latin typeface="Calibri"/>
            </a:endParaRPr>
          </a:p>
        </p:txBody>
      </p:sp>
      <p:sp>
        <p:nvSpPr>
          <p:cNvPr id="4" name="Slide Number Placeholder 3"/>
          <p:cNvSpPr>
            <a:spLocks noGrp="1"/>
          </p:cNvSpPr>
          <p:nvPr>
            <p:ph type="sldNum" sz="quarter" idx="12"/>
          </p:nvPr>
        </p:nvSpPr>
        <p:spPr/>
        <p:txBody>
          <a:bodyPr/>
          <a:lstStyle/>
          <a:p>
            <a:fld id="{5052E6B4-2895-484C-BD31-05CEE0B12703}"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1748105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5052E6B4-2895-484C-BD31-05CEE0B12703}"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9433533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5052E6B4-2895-484C-BD31-05CEE0B12703}"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1101836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5052E6B4-2895-484C-BD31-05CEE0B12703}"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7044761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5052E6B4-2895-484C-BD31-05CEE0B12703}"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0482223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8A55487-52F1-A449-8D7B-F3806BE2D105}"/>
              </a:ext>
            </a:extLst>
          </p:cNvPr>
          <p:cNvSpPr>
            <a:spLocks noGrp="1" noChangeArrowheads="1"/>
          </p:cNvSpPr>
          <p:nvPr>
            <p:ph type="title"/>
          </p:nvPr>
        </p:nvSpPr>
        <p:spPr bwMode="auto">
          <a:xfrm>
            <a:off x="685800" y="457200"/>
            <a:ext cx="7772400"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7C847538-DA64-994B-8402-39D4FE540499}"/>
              </a:ext>
            </a:extLst>
          </p:cNvPr>
          <p:cNvSpPr>
            <a:spLocks noGrp="1" noChangeArrowheads="1"/>
          </p:cNvSpPr>
          <p:nvPr>
            <p:ph type="body" idx="1"/>
          </p:nvPr>
        </p:nvSpPr>
        <p:spPr bwMode="auto">
          <a:xfrm>
            <a:off x="685800" y="1752600"/>
            <a:ext cx="7772400" cy="3810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lt1" tx1="dk1" bg2="lt2" tx2="dk2" accent1="accent1" accent2="accent2" accent3="accent3" accent4="accent4" accent5="accent5" accent6="accent6" hlink="hlink" folHlink="folHlink"/>
  <p:sldLayoutIdLst>
    <p:sldLayoutId id="2147483728" r:id="rId1"/>
    <p:sldLayoutId id="2147483730" r:id="rId2"/>
    <p:sldLayoutId id="2147483732" r:id="rId3"/>
    <p:sldLayoutId id="2147483733" r:id="rId4"/>
    <p:sldLayoutId id="2147483734" r:id="rId5"/>
  </p:sldLayoutIdLst>
  <p:hf hdr="0" ftr="0" dt="0"/>
  <p:txStyles>
    <p:titleStyle>
      <a:lvl1pPr algn="ctr" rtl="0" eaLnBrk="0" fontAlgn="base" hangingPunct="0">
        <a:spcBef>
          <a:spcPct val="0"/>
        </a:spcBef>
        <a:spcAft>
          <a:spcPct val="0"/>
        </a:spcAft>
        <a:defRPr sz="3200" b="1" kern="1200">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2pPr>
      <a:lvl3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3pPr>
      <a:lvl4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4pPr>
      <a:lvl5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5pPr>
      <a:lvl6pPr marL="457200" algn="ctr" rtl="0" fontAlgn="base">
        <a:spcBef>
          <a:spcPct val="0"/>
        </a:spcBef>
        <a:spcAft>
          <a:spcPct val="0"/>
        </a:spcAft>
        <a:defRPr sz="3200" b="1">
          <a:solidFill>
            <a:schemeClr val="tx2"/>
          </a:solidFill>
          <a:latin typeface="Verdana" panose="020B0604030504040204" pitchFamily="34" charset="0"/>
          <a:ea typeface="Osaka" pitchFamily="-88" charset="-128"/>
        </a:defRPr>
      </a:lvl6pPr>
      <a:lvl7pPr marL="914400" algn="ctr" rtl="0" fontAlgn="base">
        <a:spcBef>
          <a:spcPct val="0"/>
        </a:spcBef>
        <a:spcAft>
          <a:spcPct val="0"/>
        </a:spcAft>
        <a:defRPr sz="3200" b="1">
          <a:solidFill>
            <a:schemeClr val="tx2"/>
          </a:solidFill>
          <a:latin typeface="Verdana" panose="020B0604030504040204" pitchFamily="34" charset="0"/>
          <a:ea typeface="Osaka" pitchFamily="-88" charset="-128"/>
        </a:defRPr>
      </a:lvl7pPr>
      <a:lvl8pPr marL="1371600" algn="ctr" rtl="0" fontAlgn="base">
        <a:spcBef>
          <a:spcPct val="0"/>
        </a:spcBef>
        <a:spcAft>
          <a:spcPct val="0"/>
        </a:spcAft>
        <a:defRPr sz="3200" b="1">
          <a:solidFill>
            <a:schemeClr val="tx2"/>
          </a:solidFill>
          <a:latin typeface="Verdana" panose="020B0604030504040204" pitchFamily="34" charset="0"/>
          <a:ea typeface="Osaka" pitchFamily="-88" charset="-128"/>
        </a:defRPr>
      </a:lvl8pPr>
      <a:lvl9pPr marL="1828800" algn="ctr" rtl="0" fontAlgn="base">
        <a:spcBef>
          <a:spcPct val="0"/>
        </a:spcBef>
        <a:spcAft>
          <a:spcPct val="0"/>
        </a:spcAft>
        <a:defRPr sz="3200" b="1">
          <a:solidFill>
            <a:schemeClr val="tx2"/>
          </a:solidFill>
          <a:latin typeface="Verdana" panose="020B0604030504040204" pitchFamily="34" charset="0"/>
          <a:ea typeface="Osaka" pitchFamily="-88" charset="-128"/>
        </a:defRPr>
      </a:lvl9pPr>
    </p:titleStyle>
    <p:bodyStyle>
      <a:lvl1pPr marL="342900" indent="-342900" algn="l" rtl="0" eaLnBrk="0" fontAlgn="base" hangingPunct="0">
        <a:spcBef>
          <a:spcPct val="20000"/>
        </a:spcBef>
        <a:spcAft>
          <a:spcPct val="0"/>
        </a:spcAft>
        <a:buChar char="•"/>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b="1"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b="1"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pattFill prst="lgGrid">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7CCB52-5D48-470B-B8DA-D8134110C94D}" type="slidenum">
              <a:rPr lang="en-US" smtClean="0"/>
              <a:t>‹#›</a:t>
            </a:fld>
            <a:endParaRPr lang="en-US"/>
          </a:p>
        </p:txBody>
      </p:sp>
    </p:spTree>
    <p:extLst>
      <p:ext uri="{BB962C8B-B14F-4D97-AF65-F5344CB8AC3E}">
        <p14:creationId xmlns:p14="http://schemas.microsoft.com/office/powerpoint/2010/main" val="1816911251"/>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eaLnBrk="1" fontAlgn="auto" hangingPunct="1">
              <a:spcBef>
                <a:spcPts val="0"/>
              </a:spcBef>
              <a:spcAft>
                <a:spcPts val="0"/>
              </a:spcAft>
            </a:pPr>
            <a:endParaRPr lang="en-US" b="0">
              <a:solidFill>
                <a:prstClr val="black">
                  <a:tint val="75000"/>
                </a:prstClr>
              </a:solidFill>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eaLnBrk="1" fontAlgn="auto" hangingPunct="1">
              <a:spcBef>
                <a:spcPts val="0"/>
              </a:spcBef>
              <a:spcAft>
                <a:spcPts val="0"/>
              </a:spcAft>
            </a:pPr>
            <a:endParaRPr lang="en-US" b="0">
              <a:solidFill>
                <a:prstClr val="black">
                  <a:tint val="75000"/>
                </a:prstClr>
              </a:solidFill>
              <a:latin typeface="Calibri"/>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eaLnBrk="1" fontAlgn="auto" hangingPunct="1">
              <a:spcBef>
                <a:spcPts val="0"/>
              </a:spcBef>
              <a:spcAft>
                <a:spcPts val="0"/>
              </a:spcAft>
            </a:pPr>
            <a:fld id="{5052E6B4-2895-484C-BD31-05CEE0B12703}" type="slidenum">
              <a:rPr lang="en-US" b="0" smtClean="0">
                <a:solidFill>
                  <a:prstClr val="black">
                    <a:tint val="75000"/>
                  </a:prstClr>
                </a:solidFill>
                <a:latin typeface="Calibri"/>
                <a:ea typeface="+mn-ea"/>
                <a:cs typeface="+mn-cs"/>
              </a:rPr>
              <a:pPr defTabSz="457200" eaLnBrk="1" fontAlgn="auto" hangingPunct="1">
                <a:spcBef>
                  <a:spcPts val="0"/>
                </a:spcBef>
                <a:spcAft>
                  <a:spcPts val="0"/>
                </a:spcAft>
              </a:pPr>
              <a:t>‹#›</a:t>
            </a:fld>
            <a:endParaRPr lang="en-US" b="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419872227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3.jpg"/><Relationship Id="rId18" Type="http://schemas.openxmlformats.org/officeDocument/2006/relationships/image" Target="../media/image17.jpeg"/><Relationship Id="rId3" Type="http://schemas.openxmlformats.org/officeDocument/2006/relationships/hyperlink" Target="https://www.flickr.com/photos/pargon/2444943158/" TargetMode="External"/><Relationship Id="rId7" Type="http://schemas.openxmlformats.org/officeDocument/2006/relationships/image" Target="../media/image9.png"/><Relationship Id="rId12" Type="http://schemas.openxmlformats.org/officeDocument/2006/relationships/image" Target="../media/image12.png"/><Relationship Id="rId17" Type="http://schemas.openxmlformats.org/officeDocument/2006/relationships/image" Target="../media/image16.png"/><Relationship Id="rId2" Type="http://schemas.openxmlformats.org/officeDocument/2006/relationships/notesSlide" Target="../notesSlides/notesSlide2.xml"/><Relationship Id="rId16" Type="http://schemas.openxmlformats.org/officeDocument/2006/relationships/image" Target="../media/image15.jpeg"/><Relationship Id="rId1" Type="http://schemas.openxmlformats.org/officeDocument/2006/relationships/slideLayout" Target="../slideLayouts/slideLayout4.xml"/><Relationship Id="rId6" Type="http://schemas.openxmlformats.org/officeDocument/2006/relationships/image" Target="../media/image8.png"/><Relationship Id="rId11" Type="http://schemas.openxmlformats.org/officeDocument/2006/relationships/hyperlink" Target="https://creativecommons.org/licenses/by-sa/3.0/" TargetMode="External"/><Relationship Id="rId5" Type="http://schemas.openxmlformats.org/officeDocument/2006/relationships/image" Target="../media/image7.png"/><Relationship Id="rId15" Type="http://schemas.openxmlformats.org/officeDocument/2006/relationships/hyperlink" Target="https://pxhere.com/en/photo/45917" TargetMode="External"/><Relationship Id="rId10" Type="http://schemas.openxmlformats.org/officeDocument/2006/relationships/hyperlink" Target="http://programmers.stackexchange.com/questions/148677/why-is-80-characters-the-standard-limit-for-code-width" TargetMode="External"/><Relationship Id="rId4" Type="http://schemas.openxmlformats.org/officeDocument/2006/relationships/hyperlink" Target="https://creativecommons.org/licenses/by/3.0/" TargetMode="External"/><Relationship Id="rId9" Type="http://schemas.openxmlformats.org/officeDocument/2006/relationships/image" Target="../media/image11.png"/><Relationship Id="rId14" Type="http://schemas.openxmlformats.org/officeDocument/2006/relationships/image" Target="../media/image14.jpeg"/></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hyperlink" Target="https://www.colemaninstitute.org/category/public-policy/technology-and-information-access/"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slideLayout" Target="../slideLayouts/slideLayout1.xml"/><Relationship Id="rId7" Type="http://schemas.openxmlformats.org/officeDocument/2006/relationships/image" Target="../media/image24.png"/><Relationship Id="rId2" Type="http://schemas.microsoft.com/office/2007/relationships/media" Target="../media/media1.m4a"/><Relationship Id="rId1" Type="http://schemas.openxmlformats.org/officeDocument/2006/relationships/audio" Target="NULL" TargetMode="External"/><Relationship Id="rId6" Type="http://schemas.openxmlformats.org/officeDocument/2006/relationships/hyperlink" Target="https://www.publicdomainpictures.net/en/view-image.php?image=9327&amp;picture=wedding-ceremony" TargetMode="External"/><Relationship Id="rId5" Type="http://schemas.openxmlformats.org/officeDocument/2006/relationships/image" Target="../media/image23.jpeg"/><Relationship Id="rId10" Type="http://schemas.openxmlformats.org/officeDocument/2006/relationships/image" Target="../media/image27.png"/><Relationship Id="rId4" Type="http://schemas.openxmlformats.org/officeDocument/2006/relationships/notesSlide" Target="../notesSlides/notesSlide6.xml"/><Relationship Id="rId9"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www.pngall.com/steve-jobs-png"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hyperlink" Target="https://creativecommons.org/licenses/by-nc/3.0/"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14.xml"/><Relationship Id="rId1" Type="http://schemas.openxmlformats.org/officeDocument/2006/relationships/slideLayout" Target="../slideLayouts/slideLayout18.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35.emf"/><Relationship Id="rId4" Type="http://schemas.openxmlformats.org/officeDocument/2006/relationships/oleObject" Target="../embeddings/oleObject1.bin"/></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hyperlink" Target="http://www.at3center.net/"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41.jpg"/><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slideLayout" Target="../slideLayouts/slideLayout2.xml"/><Relationship Id="rId4" Type="http://schemas.openxmlformats.org/officeDocument/2006/relationships/hyperlink" Target="https://covid19.communityinclusion.org/" TargetMode="External"/></Relationships>
</file>

<file path=ppt/slides/_rels/slide27.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48.png"/></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9.xml"/><Relationship Id="rId4" Type="http://schemas.openxmlformats.org/officeDocument/2006/relationships/image" Target="../media/image25.jpeg"/></Relationships>
</file>

<file path=ppt/slides/_rels/slide31.xml.rels><?xml version="1.0" encoding="UTF-8" standalone="yes"?>
<Relationships xmlns="http://schemas.openxmlformats.org/package/2006/relationships"><Relationship Id="rId8" Type="http://schemas.openxmlformats.org/officeDocument/2006/relationships/hyperlink" Target="https://employmentfirstmo.org/" TargetMode="External"/><Relationship Id="rId3" Type="http://schemas.openxmlformats.org/officeDocument/2006/relationships/image" Target="../media/image51.png"/><Relationship Id="rId7" Type="http://schemas.openxmlformats.org/officeDocument/2006/relationships/hyperlink" Target="http://www.communityinclusion.org/" TargetMode="External"/><Relationship Id="rId2" Type="http://schemas.openxmlformats.org/officeDocument/2006/relationships/notesSlide" Target="../notesSlides/notesSlide27.xml"/><Relationship Id="rId1" Type="http://schemas.openxmlformats.org/officeDocument/2006/relationships/slideLayout" Target="../slideLayouts/slideLayout9.xml"/><Relationship Id="rId6" Type="http://schemas.openxmlformats.org/officeDocument/2006/relationships/image" Target="../media/image52.png"/><Relationship Id="rId5" Type="http://schemas.openxmlformats.org/officeDocument/2006/relationships/hyperlink" Target="mailto:david.hoff@umb.edu" TargetMode="External"/><Relationship Id="rId4" Type="http://schemas.openxmlformats.org/officeDocument/2006/relationships/hyperlink" Target="mailto:jessica.keenoy@umb.edu" TargetMode="External"/><Relationship Id="rId9"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DC442CC-E6A3-274F-959D-ABFAB442166D}"/>
              </a:ex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pic>
        <p:nvPicPr>
          <p:cNvPr id="15" name="Picture 14" descr="Logo of University of Massachusetts Boston">
            <a:extLst>
              <a:ext uri="{FF2B5EF4-FFF2-40B4-BE49-F238E27FC236}">
                <a16:creationId xmlns:a16="http://schemas.microsoft.com/office/drawing/2014/main" id="{319CB389-FF32-104C-9099-2EF2E445670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981146" y="5293605"/>
            <a:ext cx="833266" cy="1111021"/>
          </a:xfrm>
          <a:prstGeom prst="rect">
            <a:avLst/>
          </a:prstGeom>
        </p:spPr>
      </p:pic>
      <p:pic>
        <p:nvPicPr>
          <p:cNvPr id="13" name="Picture 12" descr="Logo of Institute for Community Inclusion - Employment, Education, Community Life, Health CAre">
            <a:extLst>
              <a:ext uri="{FF2B5EF4-FFF2-40B4-BE49-F238E27FC236}">
                <a16:creationId xmlns:a16="http://schemas.microsoft.com/office/drawing/2014/main" id="{CD48F755-B858-8B49-82D5-C0FBF96DF9D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25916" y="5250920"/>
            <a:ext cx="1303462" cy="1244596"/>
          </a:xfrm>
          <a:prstGeom prst="rect">
            <a:avLst/>
          </a:prstGeom>
        </p:spPr>
      </p:pic>
      <p:cxnSp>
        <p:nvCxnSpPr>
          <p:cNvPr id="19" name="Straight Connector 18">
            <a:extLst>
              <a:ext uri="{FF2B5EF4-FFF2-40B4-BE49-F238E27FC236}">
                <a16:creationId xmlns:a16="http://schemas.microsoft.com/office/drawing/2014/main" id="{166B695D-A1D8-7E4A-AB19-6268EEB858BB}"/>
              </a:ext>
              <a:ext uri="{C183D7F6-B498-43B3-948B-1728B52AA6E4}">
                <adec:decorative xmlns:adec="http://schemas.microsoft.com/office/drawing/2017/decorative" val="1"/>
              </a:ext>
            </a:extLst>
          </p:cNvPr>
          <p:cNvCxnSpPr/>
          <p:nvPr/>
        </p:nvCxnSpPr>
        <p:spPr bwMode="auto">
          <a:xfrm>
            <a:off x="76200" y="4953000"/>
            <a:ext cx="8991600" cy="0"/>
          </a:xfrm>
          <a:prstGeom prst="line">
            <a:avLst/>
          </a:prstGeom>
          <a:solidFill>
            <a:schemeClr val="accent1"/>
          </a:solidFill>
          <a:ln w="63500" cap="rnd" cmpd="sng" algn="ctr">
            <a:solidFill>
              <a:srgbClr val="0060C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1" name="TextBox 20">
            <a:extLst>
              <a:ext uri="{FF2B5EF4-FFF2-40B4-BE49-F238E27FC236}">
                <a16:creationId xmlns:a16="http://schemas.microsoft.com/office/drawing/2014/main" id="{50C192DB-0BFE-5344-95A8-F0933A871A8B}"/>
              </a:ext>
              <a:ext uri="{C183D7F6-B498-43B3-948B-1728B52AA6E4}">
                <adec:decorative xmlns:adec="http://schemas.microsoft.com/office/drawing/2017/decorative" val="1"/>
              </a:ext>
            </a:extLst>
          </p:cNvPr>
          <p:cNvSpPr txBox="1"/>
          <p:nvPr/>
        </p:nvSpPr>
        <p:spPr>
          <a:xfrm>
            <a:off x="4724400" y="2996625"/>
            <a:ext cx="1143000" cy="584775"/>
          </a:xfrm>
          <a:prstGeom prst="rect">
            <a:avLst/>
          </a:prstGeom>
          <a:noFill/>
        </p:spPr>
        <p:txBody>
          <a:bodyPr wrap="square" rtlCol="0">
            <a:spAutoFit/>
          </a:bodyPr>
          <a:lstStyle/>
          <a:p>
            <a:pPr algn="ctr"/>
            <a:r>
              <a:rPr lang="en-US" sz="1600" dirty="0">
                <a:solidFill>
                  <a:schemeClr val="bg1"/>
                </a:solidFill>
                <a:latin typeface="Arial Narrow" panose="020B0604020202020204" pitchFamily="34" charset="0"/>
                <a:cs typeface="Arial Narrow" panose="020B0604020202020204" pitchFamily="34" charset="0"/>
              </a:rPr>
              <a:t>Employment First</a:t>
            </a:r>
          </a:p>
        </p:txBody>
      </p:sp>
      <p:pic>
        <p:nvPicPr>
          <p:cNvPr id="17" name="Picture 16">
            <a:extLst>
              <a:ext uri="{FF2B5EF4-FFF2-40B4-BE49-F238E27FC236}">
                <a16:creationId xmlns:a16="http://schemas.microsoft.com/office/drawing/2014/main" id="{BF008D74-FA09-5B46-9ED0-65C43D3930D2}"/>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flipH="1">
            <a:off x="4495800" y="372365"/>
            <a:ext cx="4191000" cy="4735592"/>
          </a:xfrm>
          <a:prstGeom prst="rect">
            <a:avLst/>
          </a:prstGeom>
        </p:spPr>
      </p:pic>
      <p:sp>
        <p:nvSpPr>
          <p:cNvPr id="6" name="Content Placeholder 5">
            <a:extLst>
              <a:ext uri="{FF2B5EF4-FFF2-40B4-BE49-F238E27FC236}">
                <a16:creationId xmlns:a16="http://schemas.microsoft.com/office/drawing/2014/main" id="{E789E07E-951E-194A-B146-9551FE3E1E68}"/>
              </a:ext>
            </a:extLst>
          </p:cNvPr>
          <p:cNvSpPr>
            <a:spLocks noGrp="1"/>
          </p:cNvSpPr>
          <p:nvPr>
            <p:ph idx="1"/>
          </p:nvPr>
        </p:nvSpPr>
        <p:spPr>
          <a:xfrm>
            <a:off x="2000083" y="5293605"/>
            <a:ext cx="5459598" cy="1325390"/>
          </a:xfrm>
          <a:ln>
            <a:noFill/>
          </a:ln>
        </p:spPr>
        <p:style>
          <a:lnRef idx="2">
            <a:schemeClr val="dk1"/>
          </a:lnRef>
          <a:fillRef idx="1">
            <a:schemeClr val="lt1"/>
          </a:fillRef>
          <a:effectRef idx="0">
            <a:schemeClr val="dk1"/>
          </a:effectRef>
          <a:fontRef idx="minor">
            <a:schemeClr val="dk1"/>
          </a:fontRef>
        </p:style>
        <p:txBody>
          <a:bodyPr/>
          <a:lstStyle/>
          <a:p>
            <a:pPr marL="0" indent="0" algn="ctr">
              <a:buNone/>
            </a:pPr>
            <a:r>
              <a:rPr lang="en-US" sz="2400" dirty="0">
                <a:solidFill>
                  <a:schemeClr val="tx1"/>
                </a:solidFill>
              </a:rPr>
              <a:t>David Hoff &amp; Jessi </a:t>
            </a:r>
            <a:r>
              <a:rPr lang="en-US" sz="2400" dirty="0" err="1">
                <a:solidFill>
                  <a:schemeClr val="tx1"/>
                </a:solidFill>
              </a:rPr>
              <a:t>Keenoy</a:t>
            </a:r>
            <a:br>
              <a:rPr lang="en-US" sz="2400" dirty="0">
                <a:solidFill>
                  <a:schemeClr val="tx1"/>
                </a:solidFill>
              </a:rPr>
            </a:br>
            <a:r>
              <a:rPr lang="en-US" sz="2400" b="0" dirty="0">
                <a:solidFill>
                  <a:schemeClr val="tx1"/>
                </a:solidFill>
              </a:rPr>
              <a:t>Institute for Community Inclusion</a:t>
            </a:r>
            <a:br>
              <a:rPr lang="en-US" sz="2400" b="0" dirty="0">
                <a:solidFill>
                  <a:schemeClr val="tx1"/>
                </a:solidFill>
              </a:rPr>
            </a:br>
            <a:r>
              <a:rPr lang="en-US" sz="2400" b="0" i="1" dirty="0">
                <a:solidFill>
                  <a:schemeClr val="tx1"/>
                </a:solidFill>
              </a:rPr>
              <a:t>UMass Boston</a:t>
            </a:r>
          </a:p>
        </p:txBody>
      </p:sp>
      <p:sp>
        <p:nvSpPr>
          <p:cNvPr id="5" name="Title 4">
            <a:extLst>
              <a:ext uri="{FF2B5EF4-FFF2-40B4-BE49-F238E27FC236}">
                <a16:creationId xmlns:a16="http://schemas.microsoft.com/office/drawing/2014/main" id="{26A4A2AA-97E7-AE42-931A-15598AF40B7D}"/>
              </a:ext>
            </a:extLst>
          </p:cNvPr>
          <p:cNvSpPr>
            <a:spLocks noGrp="1"/>
          </p:cNvSpPr>
          <p:nvPr>
            <p:ph type="title"/>
          </p:nvPr>
        </p:nvSpPr>
        <p:spPr>
          <a:xfrm>
            <a:off x="457200" y="613735"/>
            <a:ext cx="2933700" cy="3828507"/>
          </a:xfrm>
          <a:solidFill>
            <a:srgbClr val="0070C0"/>
          </a:solidFill>
          <a:scene3d>
            <a:camera prst="orthographicFront"/>
            <a:lightRig rig="threePt" dir="t"/>
          </a:scene3d>
          <a:sp3d>
            <a:bevelT prst="angle"/>
          </a:sp3d>
        </p:spPr>
        <p:style>
          <a:lnRef idx="1">
            <a:schemeClr val="accent4"/>
          </a:lnRef>
          <a:fillRef idx="2">
            <a:schemeClr val="accent4"/>
          </a:fillRef>
          <a:effectRef idx="1">
            <a:schemeClr val="accent4"/>
          </a:effectRef>
          <a:fontRef idx="minor">
            <a:schemeClr val="dk1"/>
          </a:fontRef>
        </p:style>
        <p:txBody>
          <a:bodyPr/>
          <a:lstStyle/>
          <a:p>
            <a:r>
              <a:rPr lang="en-US" sz="2800" dirty="0">
                <a:solidFill>
                  <a:schemeClr val="bg1"/>
                </a:solidFill>
              </a:rPr>
              <a:t>Employment First Meets Technology First:</a:t>
            </a:r>
            <a:br>
              <a:rPr lang="en-US" sz="2800" dirty="0">
                <a:solidFill>
                  <a:schemeClr val="bg1"/>
                </a:solidFill>
              </a:rPr>
            </a:br>
            <a:r>
              <a:rPr lang="en-US" b="0" i="1" dirty="0">
                <a:solidFill>
                  <a:schemeClr val="bg1"/>
                </a:solidFill>
              </a:rPr>
              <a:t>It’s More Than Just The Device</a:t>
            </a:r>
            <a:endParaRPr lang="en-US" sz="2800" dirty="0">
              <a:solidFill>
                <a:schemeClr val="bg1"/>
              </a:solidFill>
            </a:endParaRPr>
          </a:p>
        </p:txBody>
      </p:sp>
      <p:sp>
        <p:nvSpPr>
          <p:cNvPr id="2" name="TextBox 1">
            <a:extLst>
              <a:ext uri="{FF2B5EF4-FFF2-40B4-BE49-F238E27FC236}">
                <a16:creationId xmlns:a16="http://schemas.microsoft.com/office/drawing/2014/main" id="{131A52CB-EB2E-7D4B-AB44-3038953C741A}"/>
              </a:ext>
            </a:extLst>
          </p:cNvPr>
          <p:cNvSpPr txBox="1"/>
          <p:nvPr/>
        </p:nvSpPr>
        <p:spPr>
          <a:xfrm>
            <a:off x="4680333" y="3125745"/>
            <a:ext cx="1110867" cy="523220"/>
          </a:xfrm>
          <a:prstGeom prst="rect">
            <a:avLst/>
          </a:prstGeom>
          <a:noFill/>
        </p:spPr>
        <p:txBody>
          <a:bodyPr wrap="square" rtlCol="0">
            <a:spAutoFit/>
          </a:bodyPr>
          <a:lstStyle/>
          <a:p>
            <a:pPr algn="ctr"/>
            <a:r>
              <a:rPr lang="en-US" sz="1400" dirty="0">
                <a:solidFill>
                  <a:schemeClr val="bg1"/>
                </a:solidFill>
                <a:latin typeface="Arial Narrow" panose="020B0604020202020204" pitchFamily="34" charset="0"/>
                <a:cs typeface="Arial Narrow" panose="020B0604020202020204" pitchFamily="34" charset="0"/>
              </a:rPr>
              <a:t>Employment First</a:t>
            </a:r>
          </a:p>
        </p:txBody>
      </p:sp>
    </p:spTree>
    <p:extLst>
      <p:ext uri="{BB962C8B-B14F-4D97-AF65-F5344CB8AC3E}">
        <p14:creationId xmlns:p14="http://schemas.microsoft.com/office/powerpoint/2010/main" val="4207383846"/>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231EB11-1FAC-814D-89AD-38CB89F7EEB4}"/>
              </a:ext>
            </a:extLst>
          </p:cNvPr>
          <p:cNvSpPr txBox="1"/>
          <p:nvPr/>
        </p:nvSpPr>
        <p:spPr>
          <a:xfrm>
            <a:off x="1295400" y="6565848"/>
            <a:ext cx="3123752" cy="230832"/>
          </a:xfrm>
          <a:prstGeom prst="rect">
            <a:avLst/>
          </a:prstGeom>
          <a:noFill/>
        </p:spPr>
        <p:txBody>
          <a:bodyPr wrap="square" rtlCol="0">
            <a:spAutoFit/>
          </a:bodyPr>
          <a:lstStyle/>
          <a:p>
            <a:r>
              <a:rPr lang="en-US" sz="900" dirty="0">
                <a:hlinkClick r:id="rId3" tooltip="https://www.flickr.com/photos/pargon/2444943158/"/>
              </a:rPr>
              <a:t>This Photo</a:t>
            </a:r>
            <a:r>
              <a:rPr lang="en-US" sz="900" dirty="0"/>
              <a:t> by Unknown Author is licensed under </a:t>
            </a:r>
            <a:r>
              <a:rPr lang="en-US" sz="900" dirty="0">
                <a:hlinkClick r:id="rId4" tooltip="https://creativecommons.org/licenses/by/3.0/"/>
              </a:rPr>
              <a:t>CC BY</a:t>
            </a:r>
            <a:endParaRPr lang="en-US" sz="900" dirty="0"/>
          </a:p>
        </p:txBody>
      </p:sp>
      <p:pic>
        <p:nvPicPr>
          <p:cNvPr id="16" name="Picture 15">
            <a:extLst>
              <a:ext uri="{FF2B5EF4-FFF2-40B4-BE49-F238E27FC236}">
                <a16:creationId xmlns:a16="http://schemas.microsoft.com/office/drawing/2014/main" id="{56EB39B7-070C-9D4C-80AB-41E2B87CC2F3}"/>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164001" y="617142"/>
            <a:ext cx="3251194" cy="2739131"/>
          </a:xfrm>
          <a:prstGeom prst="rect">
            <a:avLst/>
          </a:prstGeom>
        </p:spPr>
      </p:pic>
      <p:pic>
        <p:nvPicPr>
          <p:cNvPr id="10" name="Picture 9">
            <a:extLst>
              <a:ext uri="{FF2B5EF4-FFF2-40B4-BE49-F238E27FC236}">
                <a16:creationId xmlns:a16="http://schemas.microsoft.com/office/drawing/2014/main" id="{9D83AFF5-A517-E447-9F23-2E406CAB2E5B}"/>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365186" y="3722950"/>
            <a:ext cx="2232159" cy="2508043"/>
          </a:xfrm>
          <a:prstGeom prst="rect">
            <a:avLst/>
          </a:prstGeom>
        </p:spPr>
      </p:pic>
      <p:pic>
        <p:nvPicPr>
          <p:cNvPr id="22" name="Picture 21">
            <a:extLst>
              <a:ext uri="{FF2B5EF4-FFF2-40B4-BE49-F238E27FC236}">
                <a16:creationId xmlns:a16="http://schemas.microsoft.com/office/drawing/2014/main" id="{D527521B-177C-F64B-AD57-18175D68C07F}"/>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3468481" y="3676032"/>
            <a:ext cx="2539999" cy="1904999"/>
          </a:xfrm>
          <a:prstGeom prst="rect">
            <a:avLst/>
          </a:prstGeom>
        </p:spPr>
      </p:pic>
      <p:pic>
        <p:nvPicPr>
          <p:cNvPr id="18" name="Picture 17">
            <a:extLst>
              <a:ext uri="{FF2B5EF4-FFF2-40B4-BE49-F238E27FC236}">
                <a16:creationId xmlns:a16="http://schemas.microsoft.com/office/drawing/2014/main" id="{04E0F63A-2C1B-1344-A71B-B5CC06875492}"/>
              </a:ext>
              <a:ext uri="{C183D7F6-B498-43B3-948B-1728B52AA6E4}">
                <adec:decorative xmlns:adec="http://schemas.microsoft.com/office/drawing/2017/decorative" val="1"/>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371761" y="3200401"/>
            <a:ext cx="2855393" cy="2855393"/>
          </a:xfrm>
          <a:prstGeom prst="rect">
            <a:avLst/>
          </a:prstGeom>
        </p:spPr>
      </p:pic>
      <p:pic>
        <p:nvPicPr>
          <p:cNvPr id="20" name="Picture 19">
            <a:extLst>
              <a:ext uri="{FF2B5EF4-FFF2-40B4-BE49-F238E27FC236}">
                <a16:creationId xmlns:a16="http://schemas.microsoft.com/office/drawing/2014/main" id="{FBE1611D-3625-FA4D-B662-358635351F7F}"/>
              </a:ext>
              <a:ext uri="{C183D7F6-B498-43B3-948B-1728B52AA6E4}">
                <adec:decorative xmlns:adec="http://schemas.microsoft.com/office/drawing/2017/decorative" val="1"/>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7099300" y="518003"/>
            <a:ext cx="1705737" cy="3073400"/>
          </a:xfrm>
          <a:prstGeom prst="rect">
            <a:avLst/>
          </a:prstGeom>
        </p:spPr>
      </p:pic>
      <p:sp>
        <p:nvSpPr>
          <p:cNvPr id="15" name="TextBox 14">
            <a:extLst>
              <a:ext uri="{FF2B5EF4-FFF2-40B4-BE49-F238E27FC236}">
                <a16:creationId xmlns:a16="http://schemas.microsoft.com/office/drawing/2014/main" id="{E85E51F8-7C38-2A4F-A7A5-A9CF371786BB}"/>
              </a:ext>
            </a:extLst>
          </p:cNvPr>
          <p:cNvSpPr txBox="1"/>
          <p:nvPr/>
        </p:nvSpPr>
        <p:spPr>
          <a:xfrm>
            <a:off x="5257800" y="6569039"/>
            <a:ext cx="3683000" cy="230832"/>
          </a:xfrm>
          <a:prstGeom prst="rect">
            <a:avLst/>
          </a:prstGeom>
          <a:noFill/>
        </p:spPr>
        <p:txBody>
          <a:bodyPr wrap="square" rtlCol="0">
            <a:spAutoFit/>
          </a:bodyPr>
          <a:lstStyle/>
          <a:p>
            <a:r>
              <a:rPr lang="en-US" sz="900" dirty="0">
                <a:hlinkClick r:id="rId10" tooltip="http://programmers.stackexchange.com/questions/148677/why-is-80-characters-the-standard-limit-for-code-width"/>
              </a:rPr>
              <a:t>This Photo</a:t>
            </a:r>
            <a:r>
              <a:rPr lang="en-US" sz="900" dirty="0"/>
              <a:t> by Unknown Author is licensed under </a:t>
            </a:r>
            <a:r>
              <a:rPr lang="en-US" sz="900" dirty="0">
                <a:hlinkClick r:id="rId11" tooltip="https://creativecommons.org/licenses/by-sa/3.0/"/>
              </a:rPr>
              <a:t>CC BY-SA</a:t>
            </a:r>
            <a:endParaRPr lang="en-US" sz="900" dirty="0"/>
          </a:p>
        </p:txBody>
      </p:sp>
      <p:pic>
        <p:nvPicPr>
          <p:cNvPr id="5" name="Picture 4" descr="Picture series demonstrating transformation of technology over the past fifty years from dial phone, electric typewriter, pad and pen, mainframe computers and use of punch cards, to smart phones, laptop computers, people using tablets, people using desktop computers, the internet, and apps.">
            <a:extLst>
              <a:ext uri="{FF2B5EF4-FFF2-40B4-BE49-F238E27FC236}">
                <a16:creationId xmlns:a16="http://schemas.microsoft.com/office/drawing/2014/main" id="{26EB104A-3639-C740-92FD-708CE9430BD5}"/>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1167427" y="518003"/>
            <a:ext cx="2076449" cy="2768599"/>
          </a:xfrm>
          <a:prstGeom prst="rect">
            <a:avLst/>
          </a:prstGeom>
        </p:spPr>
      </p:pic>
      <p:pic>
        <p:nvPicPr>
          <p:cNvPr id="14" name="Picture 13">
            <a:extLst>
              <a:ext uri="{FF2B5EF4-FFF2-40B4-BE49-F238E27FC236}">
                <a16:creationId xmlns:a16="http://schemas.microsoft.com/office/drawing/2014/main" id="{12AB5077-3D0B-8F43-B851-AAE181B571A8}"/>
              </a:ext>
              <a:ext uri="{C183D7F6-B498-43B3-948B-1728B52AA6E4}">
                <adec:decorative xmlns:adec="http://schemas.microsoft.com/office/drawing/2017/decorative" val="1"/>
              </a:ext>
            </a:extLst>
          </p:cNvPr>
          <p:cNvPicPr>
            <a:picLocks noChangeAspect="1"/>
          </p:cNvPicPr>
          <p:nvPr/>
        </p:nvPicPr>
        <p:blipFill>
          <a:blip r:embed="rId13">
            <a:extLst>
              <a:ext uri="{28A0092B-C50C-407E-A947-70E740481C1C}">
                <a14:useLocalDpi xmlns:a14="http://schemas.microsoft.com/office/drawing/2010/main"/>
              </a:ext>
              <a:ext uri="{837473B0-CC2E-450A-ABE3-18F120FF3D39}">
                <a1611:picAttrSrcUrl xmlns:a1611="http://schemas.microsoft.com/office/drawing/2016/11/main" r:id="rId10"/>
              </a:ext>
            </a:extLst>
          </a:blip>
          <a:stretch>
            <a:fillRect/>
          </a:stretch>
        </p:blipFill>
        <p:spPr>
          <a:xfrm>
            <a:off x="5029200" y="3846934"/>
            <a:ext cx="3683000" cy="1701800"/>
          </a:xfrm>
          <a:prstGeom prst="rect">
            <a:avLst/>
          </a:prstGeom>
        </p:spPr>
      </p:pic>
      <p:pic>
        <p:nvPicPr>
          <p:cNvPr id="11" name="Picture 10">
            <a:extLst>
              <a:ext uri="{FF2B5EF4-FFF2-40B4-BE49-F238E27FC236}">
                <a16:creationId xmlns:a16="http://schemas.microsoft.com/office/drawing/2014/main" id="{77E75C2F-E5E7-EB47-827B-130D322308CD}"/>
              </a:ext>
              <a:ext uri="{C183D7F6-B498-43B3-948B-1728B52AA6E4}">
                <adec:decorative xmlns:adec="http://schemas.microsoft.com/office/drawing/2017/decorative" val="1"/>
              </a:ext>
            </a:extLst>
          </p:cNvPr>
          <p:cNvPicPr>
            <a:picLocks noChangeAspect="1"/>
          </p:cNvPicPr>
          <p:nvPr/>
        </p:nvPicPr>
        <p:blipFill rotWithShape="1">
          <a:blip r:embed="rId14" cstate="screen">
            <a:extLst>
              <a:ext uri="{28A0092B-C50C-407E-A947-70E740481C1C}">
                <a14:useLocalDpi xmlns:a14="http://schemas.microsoft.com/office/drawing/2010/main"/>
              </a:ext>
              <a:ext uri="{837473B0-CC2E-450A-ABE3-18F120FF3D39}">
                <a1611:picAttrSrcUrl xmlns:a1611="http://schemas.microsoft.com/office/drawing/2016/11/main" r:id="rId15"/>
              </a:ext>
            </a:extLst>
          </a:blip>
          <a:srcRect/>
          <a:stretch/>
        </p:blipFill>
        <p:spPr>
          <a:xfrm>
            <a:off x="4133849" y="912346"/>
            <a:ext cx="2247902" cy="1891092"/>
          </a:xfrm>
          <a:prstGeom prst="rect">
            <a:avLst/>
          </a:prstGeom>
        </p:spPr>
      </p:pic>
      <p:pic>
        <p:nvPicPr>
          <p:cNvPr id="6" name="Picture 5">
            <a:extLst>
              <a:ext uri="{FF2B5EF4-FFF2-40B4-BE49-F238E27FC236}">
                <a16:creationId xmlns:a16="http://schemas.microsoft.com/office/drawing/2014/main" id="{73049838-8581-D24D-9BE5-C56B9BFAF53B}"/>
              </a:ext>
              <a:ext uri="{C183D7F6-B498-43B3-948B-1728B52AA6E4}">
                <adec:decorative xmlns:adec="http://schemas.microsoft.com/office/drawing/2017/decorative" val="1"/>
              </a:ext>
            </a:extLst>
          </p:cNvPr>
          <p:cNvPicPr>
            <a:picLocks noChangeAspect="1"/>
          </p:cNvPicPr>
          <p:nvPr/>
        </p:nvPicPr>
        <p:blipFill>
          <a:blip r:embed="rId16"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1295400" y="3657599"/>
            <a:ext cx="3123753" cy="2080469"/>
          </a:xfrm>
          <a:prstGeom prst="rect">
            <a:avLst/>
          </a:prstGeom>
        </p:spPr>
      </p:pic>
      <p:pic>
        <p:nvPicPr>
          <p:cNvPr id="3" name="Picture 2">
            <a:extLst>
              <a:ext uri="{FF2B5EF4-FFF2-40B4-BE49-F238E27FC236}">
                <a16:creationId xmlns:a16="http://schemas.microsoft.com/office/drawing/2014/main" id="{E8BAD893-E0FD-FB4C-9260-0C78A19F8573}"/>
              </a:ext>
              <a:ext uri="{C183D7F6-B498-43B3-948B-1728B52AA6E4}">
                <adec:decorative xmlns:adec="http://schemas.microsoft.com/office/drawing/2017/decorative" val="1"/>
              </a:ext>
            </a:extLst>
          </p:cNvPr>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6629400" y="784086"/>
            <a:ext cx="2387600" cy="2387600"/>
          </a:xfrm>
          <a:prstGeom prst="rect">
            <a:avLst/>
          </a:prstGeom>
        </p:spPr>
      </p:pic>
      <p:sp>
        <p:nvSpPr>
          <p:cNvPr id="17" name="Slide Number Placeholder 4">
            <a:extLst>
              <a:ext uri="{FF2B5EF4-FFF2-40B4-BE49-F238E27FC236}">
                <a16:creationId xmlns:a16="http://schemas.microsoft.com/office/drawing/2014/main" id="{A40AFFC5-B1CF-5540-A58F-F9E28D860DBA}"/>
              </a:ext>
            </a:extLst>
          </p:cNvPr>
          <p:cNvSpPr txBox="1">
            <a:spLocks/>
          </p:cNvSpPr>
          <p:nvPr/>
        </p:nvSpPr>
        <p:spPr>
          <a:xfrm>
            <a:off x="8712200" y="6452664"/>
            <a:ext cx="1905000" cy="457200"/>
          </a:xfrm>
          <a:prstGeom prst="rect">
            <a:avLst/>
          </a:prstGeom>
        </p:spPr>
        <p:txBody>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5pPr>
            <a:lvl6pPr marL="22860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6pPr>
            <a:lvl7pPr marL="27432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7pPr>
            <a:lvl8pPr marL="32004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8pPr>
            <a:lvl9pPr marL="36576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9pPr>
          </a:lstStyle>
          <a:p>
            <a:pPr>
              <a:defRPr/>
            </a:pPr>
            <a:fld id="{03796480-D029-B94F-BE73-D819B106F9C3}" type="slidenum">
              <a:rPr lang="en-US" altLang="en-US" sz="1400" smtClean="0"/>
              <a:pPr>
                <a:defRPr/>
              </a:pPr>
              <a:t>2</a:t>
            </a:fld>
            <a:endParaRPr lang="en-US" altLang="en-US" sz="1400" dirty="0"/>
          </a:p>
        </p:txBody>
      </p:sp>
      <p:pic>
        <p:nvPicPr>
          <p:cNvPr id="9" name="Picture 8">
            <a:extLst>
              <a:ext uri="{FF2B5EF4-FFF2-40B4-BE49-F238E27FC236}">
                <a16:creationId xmlns:a16="http://schemas.microsoft.com/office/drawing/2014/main" id="{B9A85F82-B0AC-B444-B6A1-52C5BAD923AC}"/>
              </a:ext>
              <a:ext uri="{C183D7F6-B498-43B3-948B-1728B52AA6E4}">
                <adec:decorative xmlns:adec="http://schemas.microsoft.com/office/drawing/2017/decorative" val="1"/>
              </a:ext>
            </a:extLst>
          </p:cNvPr>
          <p:cNvPicPr>
            <a:picLocks noChangeAspect="1"/>
          </p:cNvPicPr>
          <p:nvPr/>
        </p:nvPicPr>
        <p:blipFill rotWithShape="1">
          <a:blip r:embed="rId18" cstate="screen">
            <a:extLst>
              <a:ext uri="{28A0092B-C50C-407E-A947-70E740481C1C}">
                <a14:useLocalDpi xmlns:a14="http://schemas.microsoft.com/office/drawing/2010/main"/>
              </a:ext>
            </a:extLst>
          </a:blip>
          <a:srcRect/>
          <a:stretch/>
        </p:blipFill>
        <p:spPr>
          <a:xfrm>
            <a:off x="1524000" y="1168719"/>
            <a:ext cx="1676400" cy="1077653"/>
          </a:xfrm>
          <a:prstGeom prst="rect">
            <a:avLst/>
          </a:prstGeom>
        </p:spPr>
      </p:pic>
      <p:sp>
        <p:nvSpPr>
          <p:cNvPr id="12" name="Rectangle 11">
            <a:extLst>
              <a:ext uri="{FF2B5EF4-FFF2-40B4-BE49-F238E27FC236}">
                <a16:creationId xmlns:a16="http://schemas.microsoft.com/office/drawing/2014/main" id="{732CA894-615F-F846-9330-EB8769DD3623}"/>
              </a:ex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sp>
        <p:nvSpPr>
          <p:cNvPr id="2" name="Title 1">
            <a:extLst>
              <a:ext uri="{FF2B5EF4-FFF2-40B4-BE49-F238E27FC236}">
                <a16:creationId xmlns:a16="http://schemas.microsoft.com/office/drawing/2014/main" id="{224E73C3-F23C-A44B-AAB2-DC9449AC64A6}"/>
              </a:ext>
            </a:extLst>
          </p:cNvPr>
          <p:cNvSpPr>
            <a:spLocks noGrp="1"/>
          </p:cNvSpPr>
          <p:nvPr>
            <p:ph type="title" idx="4294967295"/>
          </p:nvPr>
        </p:nvSpPr>
        <p:spPr>
          <a:xfrm>
            <a:off x="685800" y="-1559508"/>
            <a:ext cx="7772400" cy="1143000"/>
          </a:xfrm>
        </p:spPr>
        <p:txBody>
          <a:bodyPr/>
          <a:lstStyle/>
          <a:p>
            <a:r>
              <a:rPr lang="en-US" dirty="0"/>
              <a:t>Transformation of Technology Over the Decades</a:t>
            </a:r>
          </a:p>
        </p:txBody>
      </p:sp>
    </p:spTree>
    <p:extLst>
      <p:ext uri="{BB962C8B-B14F-4D97-AF65-F5344CB8AC3E}">
        <p14:creationId xmlns:p14="http://schemas.microsoft.com/office/powerpoint/2010/main" val="131970056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nodeType="clickEffect">
                                  <p:stCondLst>
                                    <p:cond delay="0"/>
                                  </p:stCondLst>
                                  <p:childTnLst>
                                    <p:animEffect transition="out" filter="dissolv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par>
                                <p:cTn id="8" presetID="9" presetClass="exit" presetSubtype="0" fill="hold" nodeType="withEffect">
                                  <p:stCondLst>
                                    <p:cond delay="0"/>
                                  </p:stCondLst>
                                  <p:childTnLst>
                                    <p:animEffect transition="out" filter="dissolve">
                                      <p:cBhvr>
                                        <p:cTn id="9" dur="500"/>
                                        <p:tgtEl>
                                          <p:spTgt spid="11"/>
                                        </p:tgtEl>
                                      </p:cBhvr>
                                    </p:animEffect>
                                    <p:set>
                                      <p:cBhvr>
                                        <p:cTn id="10" dur="1" fill="hold">
                                          <p:stCondLst>
                                            <p:cond delay="499"/>
                                          </p:stCondLst>
                                        </p:cTn>
                                        <p:tgtEl>
                                          <p:spTgt spid="11"/>
                                        </p:tgtEl>
                                        <p:attrNameLst>
                                          <p:attrName>style.visibility</p:attrName>
                                        </p:attrNameLst>
                                      </p:cBhvr>
                                      <p:to>
                                        <p:strVal val="hidden"/>
                                      </p:to>
                                    </p:set>
                                  </p:childTnLst>
                                </p:cTn>
                              </p:par>
                              <p:par>
                                <p:cTn id="11" presetID="9" presetClass="exit" presetSubtype="0" fill="hold" nodeType="withEffect">
                                  <p:stCondLst>
                                    <p:cond delay="0"/>
                                  </p:stCondLst>
                                  <p:childTnLst>
                                    <p:animEffect transition="out" filter="dissolve">
                                      <p:cBhvr>
                                        <p:cTn id="12" dur="500"/>
                                        <p:tgtEl>
                                          <p:spTgt spid="6"/>
                                        </p:tgtEl>
                                      </p:cBhvr>
                                    </p:animEffect>
                                    <p:set>
                                      <p:cBhvr>
                                        <p:cTn id="13" dur="1" fill="hold">
                                          <p:stCondLst>
                                            <p:cond delay="499"/>
                                          </p:stCondLst>
                                        </p:cTn>
                                        <p:tgtEl>
                                          <p:spTgt spid="6"/>
                                        </p:tgtEl>
                                        <p:attrNameLst>
                                          <p:attrName>style.visibility</p:attrName>
                                        </p:attrNameLst>
                                      </p:cBhvr>
                                      <p:to>
                                        <p:strVal val="hidden"/>
                                      </p:to>
                                    </p:set>
                                  </p:childTnLst>
                                </p:cTn>
                              </p:par>
                              <p:par>
                                <p:cTn id="14" presetID="9" presetClass="exit" presetSubtype="0" fill="hold" nodeType="withEffect">
                                  <p:stCondLst>
                                    <p:cond delay="0"/>
                                  </p:stCondLst>
                                  <p:childTnLst>
                                    <p:animEffect transition="out" filter="dissolve">
                                      <p:cBhvr>
                                        <p:cTn id="15" dur="500"/>
                                        <p:tgtEl>
                                          <p:spTgt spid="14"/>
                                        </p:tgtEl>
                                      </p:cBhvr>
                                    </p:animEffect>
                                    <p:set>
                                      <p:cBhvr>
                                        <p:cTn id="16" dur="1" fill="hold">
                                          <p:stCondLst>
                                            <p:cond delay="499"/>
                                          </p:stCondLst>
                                        </p:cTn>
                                        <p:tgtEl>
                                          <p:spTgt spid="14"/>
                                        </p:tgtEl>
                                        <p:attrNameLst>
                                          <p:attrName>style.visibility</p:attrName>
                                        </p:attrNameLst>
                                      </p:cBhvr>
                                      <p:to>
                                        <p:strVal val="hidden"/>
                                      </p:to>
                                    </p:set>
                                  </p:childTnLst>
                                </p:cTn>
                              </p:par>
                              <p:par>
                                <p:cTn id="17" presetID="9" presetClass="exit" presetSubtype="0" fill="hold" nodeType="withEffect">
                                  <p:stCondLst>
                                    <p:cond delay="0"/>
                                  </p:stCondLst>
                                  <p:childTnLst>
                                    <p:animEffect transition="out" filter="dissolve">
                                      <p:cBhvr>
                                        <p:cTn id="18" dur="500"/>
                                        <p:tgtEl>
                                          <p:spTgt spid="3"/>
                                        </p:tgtEl>
                                      </p:cBhvr>
                                    </p:animEffect>
                                    <p:set>
                                      <p:cBhvr>
                                        <p:cTn id="19" dur="1" fill="hold">
                                          <p:stCondLst>
                                            <p:cond delay="499"/>
                                          </p:stCondLst>
                                        </p:cTn>
                                        <p:tgtEl>
                                          <p:spTgt spid="3"/>
                                        </p:tgtEl>
                                        <p:attrNameLst>
                                          <p:attrName>style.visibility</p:attrName>
                                        </p:attrNameLst>
                                      </p:cBhvr>
                                      <p:to>
                                        <p:strVal val="hidden"/>
                                      </p:to>
                                    </p:set>
                                  </p:childTnLst>
                                </p:cTn>
                              </p:par>
                              <p:par>
                                <p:cTn id="20" presetID="1" presetClass="exit"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hidden"/>
                                      </p:to>
                                    </p:set>
                                  </p:childTnLst>
                                </p:cTn>
                              </p:par>
                              <p:par>
                                <p:cTn id="22" presetID="1" presetClass="exit"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hidden"/>
                                      </p:to>
                                    </p:set>
                                  </p:childTnLst>
                                </p:cTn>
                              </p:par>
                              <p:par>
                                <p:cTn id="24" presetID="9" presetClass="entr" presetSubtype="0" fill="hold" nodeType="withEffect">
                                  <p:stCondLst>
                                    <p:cond delay="1000"/>
                                  </p:stCondLst>
                                  <p:childTnLst>
                                    <p:set>
                                      <p:cBhvr>
                                        <p:cTn id="25" dur="1" fill="hold">
                                          <p:stCondLst>
                                            <p:cond delay="0"/>
                                          </p:stCondLst>
                                        </p:cTn>
                                        <p:tgtEl>
                                          <p:spTgt spid="5"/>
                                        </p:tgtEl>
                                        <p:attrNameLst>
                                          <p:attrName>style.visibility</p:attrName>
                                        </p:attrNameLst>
                                      </p:cBhvr>
                                      <p:to>
                                        <p:strVal val="visible"/>
                                      </p:to>
                                    </p:set>
                                    <p:animEffect transition="in" filter="dissolve">
                                      <p:cBhvr>
                                        <p:cTn id="26" dur="500"/>
                                        <p:tgtEl>
                                          <p:spTgt spid="5"/>
                                        </p:tgtEl>
                                      </p:cBhvr>
                                    </p:animEffect>
                                  </p:childTnLst>
                                </p:cTn>
                              </p:par>
                              <p:par>
                                <p:cTn id="27" presetID="9" presetClass="entr" presetSubtype="0" fill="hold" nodeType="withEffect">
                                  <p:stCondLst>
                                    <p:cond delay="1000"/>
                                  </p:stCondLst>
                                  <p:childTnLst>
                                    <p:set>
                                      <p:cBhvr>
                                        <p:cTn id="28" dur="1" fill="hold">
                                          <p:stCondLst>
                                            <p:cond delay="0"/>
                                          </p:stCondLst>
                                        </p:cTn>
                                        <p:tgtEl>
                                          <p:spTgt spid="16"/>
                                        </p:tgtEl>
                                        <p:attrNameLst>
                                          <p:attrName>style.visibility</p:attrName>
                                        </p:attrNameLst>
                                      </p:cBhvr>
                                      <p:to>
                                        <p:strVal val="visible"/>
                                      </p:to>
                                    </p:set>
                                    <p:animEffect transition="in" filter="dissolve">
                                      <p:cBhvr>
                                        <p:cTn id="29" dur="500"/>
                                        <p:tgtEl>
                                          <p:spTgt spid="16"/>
                                        </p:tgtEl>
                                      </p:cBhvr>
                                    </p:animEffect>
                                  </p:childTnLst>
                                </p:cTn>
                              </p:par>
                              <p:par>
                                <p:cTn id="30" presetID="9" presetClass="entr" presetSubtype="0" fill="hold" nodeType="withEffect">
                                  <p:stCondLst>
                                    <p:cond delay="1000"/>
                                  </p:stCondLst>
                                  <p:childTnLst>
                                    <p:set>
                                      <p:cBhvr>
                                        <p:cTn id="31" dur="1" fill="hold">
                                          <p:stCondLst>
                                            <p:cond delay="0"/>
                                          </p:stCondLst>
                                        </p:cTn>
                                        <p:tgtEl>
                                          <p:spTgt spid="20"/>
                                        </p:tgtEl>
                                        <p:attrNameLst>
                                          <p:attrName>style.visibility</p:attrName>
                                        </p:attrNameLst>
                                      </p:cBhvr>
                                      <p:to>
                                        <p:strVal val="visible"/>
                                      </p:to>
                                    </p:set>
                                    <p:animEffect transition="in" filter="dissolve">
                                      <p:cBhvr>
                                        <p:cTn id="32" dur="500"/>
                                        <p:tgtEl>
                                          <p:spTgt spid="20"/>
                                        </p:tgtEl>
                                      </p:cBhvr>
                                    </p:animEffect>
                                  </p:childTnLst>
                                </p:cTn>
                              </p:par>
                              <p:par>
                                <p:cTn id="33" presetID="9" presetClass="entr" presetSubtype="0" fill="hold" nodeType="withEffect">
                                  <p:stCondLst>
                                    <p:cond delay="1000"/>
                                  </p:stCondLst>
                                  <p:childTnLst>
                                    <p:set>
                                      <p:cBhvr>
                                        <p:cTn id="34" dur="1" fill="hold">
                                          <p:stCondLst>
                                            <p:cond delay="0"/>
                                          </p:stCondLst>
                                        </p:cTn>
                                        <p:tgtEl>
                                          <p:spTgt spid="18"/>
                                        </p:tgtEl>
                                        <p:attrNameLst>
                                          <p:attrName>style.visibility</p:attrName>
                                        </p:attrNameLst>
                                      </p:cBhvr>
                                      <p:to>
                                        <p:strVal val="visible"/>
                                      </p:to>
                                    </p:set>
                                    <p:animEffect transition="in" filter="dissolve">
                                      <p:cBhvr>
                                        <p:cTn id="35" dur="500"/>
                                        <p:tgtEl>
                                          <p:spTgt spid="18"/>
                                        </p:tgtEl>
                                      </p:cBhvr>
                                    </p:animEffect>
                                  </p:childTnLst>
                                </p:cTn>
                              </p:par>
                              <p:par>
                                <p:cTn id="36" presetID="9" presetClass="entr" presetSubtype="0" fill="hold" nodeType="withEffect">
                                  <p:stCondLst>
                                    <p:cond delay="1000"/>
                                  </p:stCondLst>
                                  <p:childTnLst>
                                    <p:set>
                                      <p:cBhvr>
                                        <p:cTn id="37" dur="1" fill="hold">
                                          <p:stCondLst>
                                            <p:cond delay="0"/>
                                          </p:stCondLst>
                                        </p:cTn>
                                        <p:tgtEl>
                                          <p:spTgt spid="22"/>
                                        </p:tgtEl>
                                        <p:attrNameLst>
                                          <p:attrName>style.visibility</p:attrName>
                                        </p:attrNameLst>
                                      </p:cBhvr>
                                      <p:to>
                                        <p:strVal val="visible"/>
                                      </p:to>
                                    </p:set>
                                    <p:animEffect transition="in" filter="dissolve">
                                      <p:cBhvr>
                                        <p:cTn id="38" dur="500"/>
                                        <p:tgtEl>
                                          <p:spTgt spid="22"/>
                                        </p:tgtEl>
                                      </p:cBhvr>
                                    </p:animEffect>
                                  </p:childTnLst>
                                </p:cTn>
                              </p:par>
                              <p:par>
                                <p:cTn id="39" presetID="9" presetClass="entr" presetSubtype="0" fill="hold" nodeType="withEffect">
                                  <p:stCondLst>
                                    <p:cond delay="1000"/>
                                  </p:stCondLst>
                                  <p:childTnLst>
                                    <p:set>
                                      <p:cBhvr>
                                        <p:cTn id="40" dur="1" fill="hold">
                                          <p:stCondLst>
                                            <p:cond delay="0"/>
                                          </p:stCondLst>
                                        </p:cTn>
                                        <p:tgtEl>
                                          <p:spTgt spid="10"/>
                                        </p:tgtEl>
                                        <p:attrNameLst>
                                          <p:attrName>style.visibility</p:attrName>
                                        </p:attrNameLst>
                                      </p:cBhvr>
                                      <p:to>
                                        <p:strVal val="visible"/>
                                      </p:to>
                                    </p:set>
                                    <p:animEffect transition="in" filter="dissolve">
                                      <p:cBhvr>
                                        <p:cTn id="4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0030439-F1BE-AE4C-AA57-71C8A72E267A}"/>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181100" y="5514975"/>
            <a:ext cx="7086600" cy="885825"/>
          </a:xfrm>
          <a:prstGeom prst="rect">
            <a:avLst/>
          </a:prstGeom>
        </p:spPr>
      </p:pic>
      <p:sp>
        <p:nvSpPr>
          <p:cNvPr id="4" name="Content Placeholder 2" descr="“Technology and information access today is no longer a luxury.It is essential for people with cognitive disabilities to have the same access as their peers without such disabilities in order to fully participate in the worlds of today and tomorrow.”&#13;&#10;">
            <a:extLst>
              <a:ext uri="{FF2B5EF4-FFF2-40B4-BE49-F238E27FC236}">
                <a16:creationId xmlns:a16="http://schemas.microsoft.com/office/drawing/2014/main" id="{8AB6DDAC-AB1F-674E-93B1-E0212E016748}"/>
              </a:ext>
            </a:extLst>
          </p:cNvPr>
          <p:cNvSpPr>
            <a:spLocks noGrp="1"/>
          </p:cNvSpPr>
          <p:nvPr>
            <p:ph idx="1"/>
          </p:nvPr>
        </p:nvSpPr>
        <p:spPr>
          <a:xfrm>
            <a:off x="838200" y="685800"/>
            <a:ext cx="7772400" cy="4191000"/>
          </a:xfrm>
          <a:solidFill>
            <a:srgbClr val="0060C1"/>
          </a:solidFill>
          <a:scene3d>
            <a:camera prst="orthographicFront"/>
            <a:lightRig rig="threePt" dir="t"/>
          </a:scene3d>
          <a:sp3d>
            <a:bevelT prst="angle"/>
          </a:sp3d>
        </p:spPr>
        <p:style>
          <a:lnRef idx="1">
            <a:schemeClr val="accent6"/>
          </a:lnRef>
          <a:fillRef idx="2">
            <a:schemeClr val="accent6"/>
          </a:fillRef>
          <a:effectRef idx="1">
            <a:schemeClr val="accent6"/>
          </a:effectRef>
          <a:fontRef idx="minor">
            <a:schemeClr val="dk1"/>
          </a:fontRef>
        </p:style>
        <p:txBody>
          <a:bodyPr/>
          <a:lstStyle/>
          <a:p>
            <a:pPr marL="0" indent="0" algn="ctr">
              <a:buNone/>
            </a:pPr>
            <a:r>
              <a:rPr lang="en-US" b="0" dirty="0">
                <a:solidFill>
                  <a:schemeClr val="bg1"/>
                </a:solidFill>
              </a:rPr>
              <a:t>“Technology and information access today is no longer a luxury.</a:t>
            </a:r>
            <a:br>
              <a:rPr lang="en-US" b="0" dirty="0">
                <a:solidFill>
                  <a:schemeClr val="bg1"/>
                </a:solidFill>
              </a:rPr>
            </a:br>
            <a:r>
              <a:rPr lang="en-US" b="0" dirty="0">
                <a:solidFill>
                  <a:schemeClr val="bg1"/>
                </a:solidFill>
              </a:rPr>
              <a:t>It is essential for </a:t>
            </a:r>
            <a:br>
              <a:rPr lang="en-US" b="0" dirty="0">
                <a:solidFill>
                  <a:schemeClr val="bg1"/>
                </a:solidFill>
              </a:rPr>
            </a:br>
            <a:r>
              <a:rPr lang="en-US" b="0" dirty="0">
                <a:solidFill>
                  <a:schemeClr val="bg1"/>
                </a:solidFill>
              </a:rPr>
              <a:t>people with cognitive disabilities to have the same access as their peers without such disabilities in order to fully participate in the worlds of today and tomorrow.”</a:t>
            </a:r>
          </a:p>
        </p:txBody>
      </p:sp>
      <p:sp>
        <p:nvSpPr>
          <p:cNvPr id="2" name="Title 1">
            <a:extLst>
              <a:ext uri="{FF2B5EF4-FFF2-40B4-BE49-F238E27FC236}">
                <a16:creationId xmlns:a16="http://schemas.microsoft.com/office/drawing/2014/main" id="{351DE1A2-5A08-9645-B121-2C09355F169A}"/>
              </a:ext>
            </a:extLst>
          </p:cNvPr>
          <p:cNvSpPr>
            <a:spLocks noGrp="1"/>
          </p:cNvSpPr>
          <p:nvPr>
            <p:ph type="title"/>
          </p:nvPr>
        </p:nvSpPr>
        <p:spPr>
          <a:xfrm>
            <a:off x="28575" y="-1524000"/>
            <a:ext cx="8147892" cy="1143000"/>
          </a:xfrm>
        </p:spPr>
        <p:txBody>
          <a:bodyPr/>
          <a:lstStyle/>
          <a:p>
            <a:r>
              <a:rPr lang="en-US" sz="2400" b="0" dirty="0"/>
              <a:t>Coleman Institute for Cognitive Disabilities</a:t>
            </a:r>
            <a:br>
              <a:rPr lang="en-US" sz="2400" b="0" dirty="0"/>
            </a:br>
            <a:r>
              <a:rPr lang="en-US" sz="2400" b="0" dirty="0"/>
              <a:t>University of Colorado</a:t>
            </a:r>
          </a:p>
        </p:txBody>
      </p:sp>
      <p:sp>
        <p:nvSpPr>
          <p:cNvPr id="5" name="Rectangle 4">
            <a:extLst>
              <a:ext uri="{FF2B5EF4-FFF2-40B4-BE49-F238E27FC236}">
                <a16:creationId xmlns:a16="http://schemas.microsoft.com/office/drawing/2014/main" id="{B25435B3-336A-7A42-81A3-A76BFCA4B019}"/>
              </a:ex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8" name="Slide Number Placeholder 4">
            <a:extLst>
              <a:ext uri="{FF2B5EF4-FFF2-40B4-BE49-F238E27FC236}">
                <a16:creationId xmlns:a16="http://schemas.microsoft.com/office/drawing/2014/main" id="{E59EC014-497D-B64D-A5FF-B90AA47F346B}"/>
              </a:ext>
            </a:extLst>
          </p:cNvPr>
          <p:cNvSpPr txBox="1">
            <a:spLocks/>
          </p:cNvSpPr>
          <p:nvPr/>
        </p:nvSpPr>
        <p:spPr>
          <a:xfrm>
            <a:off x="8610600" y="6400800"/>
            <a:ext cx="1905000" cy="457200"/>
          </a:xfrm>
          <a:prstGeom prst="rect">
            <a:avLst/>
          </a:prstGeom>
          <a:ln/>
        </p:spPr>
        <p:txBody>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5pPr>
            <a:lvl6pPr marL="22860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6pPr>
            <a:lvl7pPr marL="27432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7pPr>
            <a:lvl8pPr marL="32004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8pPr>
            <a:lvl9pPr marL="36576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9pPr>
          </a:lstStyle>
          <a:p>
            <a:pPr>
              <a:defRPr/>
            </a:pPr>
            <a:fld id="{03796480-D029-B94F-BE73-D819B106F9C3}" type="slidenum">
              <a:rPr lang="en-US" altLang="en-US" sz="1400" smtClean="0"/>
              <a:pPr>
                <a:defRPr/>
              </a:pPr>
              <a:t>3</a:t>
            </a:fld>
            <a:endParaRPr lang="en-US" altLang="en-US" sz="1400" dirty="0"/>
          </a:p>
        </p:txBody>
      </p:sp>
    </p:spTree>
    <p:extLst>
      <p:ext uri="{BB962C8B-B14F-4D97-AF65-F5344CB8AC3E}">
        <p14:creationId xmlns:p14="http://schemas.microsoft.com/office/powerpoint/2010/main" val="1117498217"/>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A35D0F6F-D7C6-E74C-91DD-0B8E7FD15A0B}"/>
              </a:ext>
            </a:extLst>
          </p:cNvPr>
          <p:cNvSpPr txBox="1"/>
          <p:nvPr/>
        </p:nvSpPr>
        <p:spPr>
          <a:xfrm>
            <a:off x="533400" y="6024732"/>
            <a:ext cx="8839200" cy="338554"/>
          </a:xfrm>
          <a:prstGeom prst="rect">
            <a:avLst/>
          </a:prstGeom>
          <a:noFill/>
        </p:spPr>
        <p:txBody>
          <a:bodyPr wrap="square" rtlCol="0">
            <a:spAutoFit/>
          </a:bodyPr>
          <a:lstStyle/>
          <a:p>
            <a:r>
              <a:rPr lang="en-US" sz="1600" dirty="0">
                <a:hlinkClick r:id="rId2"/>
              </a:rPr>
              <a:t>https://www.colemaninstitute.org/category/public-policy/technology-and-information-access/</a:t>
            </a:r>
            <a:r>
              <a:rPr lang="en-US" sz="1600" dirty="0"/>
              <a:t> </a:t>
            </a:r>
          </a:p>
        </p:txBody>
      </p:sp>
      <p:pic>
        <p:nvPicPr>
          <p:cNvPr id="9" name="Picture 8" descr="Picture of the the declaration of the rights of people with cognitive disabilities to technology and information access.">
            <a:extLst>
              <a:ext uri="{FF2B5EF4-FFF2-40B4-BE49-F238E27FC236}">
                <a16:creationId xmlns:a16="http://schemas.microsoft.com/office/drawing/2014/main" id="{696FB09F-AF47-AB44-8820-CBAC5FD23404}"/>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743200" y="457200"/>
            <a:ext cx="4180609" cy="5410200"/>
          </a:xfrm>
          <a:prstGeom prst="rect">
            <a:avLst/>
          </a:prstGeom>
        </p:spPr>
      </p:pic>
      <p:sp>
        <p:nvSpPr>
          <p:cNvPr id="7" name="Title 6">
            <a:extLst>
              <a:ext uri="{FF2B5EF4-FFF2-40B4-BE49-F238E27FC236}">
                <a16:creationId xmlns:a16="http://schemas.microsoft.com/office/drawing/2014/main" id="{797BDEB7-0471-A14A-9476-0867D7ADFE2C}"/>
              </a:ext>
            </a:extLst>
          </p:cNvPr>
          <p:cNvSpPr>
            <a:spLocks noGrp="1"/>
          </p:cNvSpPr>
          <p:nvPr>
            <p:ph type="title"/>
          </p:nvPr>
        </p:nvSpPr>
        <p:spPr>
          <a:xfrm>
            <a:off x="2547504" y="-2138138"/>
            <a:ext cx="4572000" cy="1641130"/>
          </a:xfrm>
          <a:noFill/>
          <a:ln>
            <a:noFill/>
          </a:ln>
        </p:spPr>
        <p:style>
          <a:lnRef idx="2">
            <a:schemeClr val="dk1"/>
          </a:lnRef>
          <a:fillRef idx="1">
            <a:schemeClr val="lt1"/>
          </a:fillRef>
          <a:effectRef idx="0">
            <a:schemeClr val="dk1"/>
          </a:effectRef>
          <a:fontRef idx="minor">
            <a:schemeClr val="dk1"/>
          </a:fontRef>
        </p:style>
        <p:txBody>
          <a:bodyPr/>
          <a:lstStyle/>
          <a:p>
            <a:r>
              <a:rPr lang="en-US" sz="1800" b="0" dirty="0">
                <a:solidFill>
                  <a:schemeClr val="tx1"/>
                </a:solidFill>
              </a:rPr>
              <a:t>Declaration of the Rights of People with Cognitive Disabilities to Technology and Information Access</a:t>
            </a:r>
          </a:p>
        </p:txBody>
      </p:sp>
      <p:sp>
        <p:nvSpPr>
          <p:cNvPr id="5" name="Slide Number Placeholder 4">
            <a:extLst>
              <a:ext uri="{FF2B5EF4-FFF2-40B4-BE49-F238E27FC236}">
                <a16:creationId xmlns:a16="http://schemas.microsoft.com/office/drawing/2014/main" id="{C39BF629-4434-D746-A02F-51BC4B15E052}"/>
              </a:ext>
            </a:extLst>
          </p:cNvPr>
          <p:cNvSpPr>
            <a:spLocks noGrp="1"/>
          </p:cNvSpPr>
          <p:nvPr>
            <p:ph type="sldNum" sz="quarter" idx="12"/>
          </p:nvPr>
        </p:nvSpPr>
        <p:spPr>
          <a:xfrm>
            <a:off x="8458200" y="6400800"/>
            <a:ext cx="533400" cy="457200"/>
          </a:xfrm>
        </p:spPr>
        <p:txBody>
          <a:bodyPr/>
          <a:lstStyle/>
          <a:p>
            <a:pPr>
              <a:defRPr/>
            </a:pPr>
            <a:fld id="{DADED417-B3A5-0247-A5EF-759E0B1E1E60}" type="slidenum">
              <a:rPr lang="en-US" altLang="en-US" sz="1400" smtClean="0"/>
              <a:pPr>
                <a:defRPr/>
              </a:pPr>
              <a:t>4</a:t>
            </a:fld>
            <a:endParaRPr lang="en-US" altLang="en-US" sz="1400" dirty="0"/>
          </a:p>
        </p:txBody>
      </p:sp>
      <p:sp>
        <p:nvSpPr>
          <p:cNvPr id="11" name="Rectangle 10">
            <a:extLst>
              <a:ext uri="{FF2B5EF4-FFF2-40B4-BE49-F238E27FC236}">
                <a16:creationId xmlns:a16="http://schemas.microsoft.com/office/drawing/2014/main" id="{A428662B-9AFE-214E-912F-EA1300A22AC0}"/>
              </a:ex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C00000"/>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60594873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shot of Ohio Technology First web page">
            <a:extLst>
              <a:ext uri="{FF2B5EF4-FFF2-40B4-BE49-F238E27FC236}">
                <a16:creationId xmlns:a16="http://schemas.microsoft.com/office/drawing/2014/main" id="{F1F5D5CB-D3F0-C14B-AFAA-926550B6D098}"/>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04800" y="4486619"/>
            <a:ext cx="4148667" cy="2286000"/>
          </a:xfrm>
          <a:prstGeom prst="rect">
            <a:avLst/>
          </a:prstGeom>
          <a:ln>
            <a:solidFill>
              <a:schemeClr val="tx1"/>
            </a:solidFill>
          </a:ln>
        </p:spPr>
      </p:pic>
      <p:pic>
        <p:nvPicPr>
          <p:cNvPr id="6" name="Picture 5" descr="Screenshot of Missouri Department of Mental Health Techology First web page">
            <a:extLst>
              <a:ext uri="{FF2B5EF4-FFF2-40B4-BE49-F238E27FC236}">
                <a16:creationId xmlns:a16="http://schemas.microsoft.com/office/drawing/2014/main" id="{11D85AF5-7A86-7645-BDD5-1828A2B6791D}"/>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2590800" y="1524000"/>
            <a:ext cx="5991225" cy="2819400"/>
          </a:xfrm>
          <a:prstGeom prst="rect">
            <a:avLst/>
          </a:prstGeom>
          <a:ln>
            <a:solidFill>
              <a:schemeClr val="tx1"/>
            </a:solidFill>
          </a:ln>
        </p:spPr>
      </p:pic>
      <p:sp>
        <p:nvSpPr>
          <p:cNvPr id="7" name="Title 6">
            <a:extLst>
              <a:ext uri="{FF2B5EF4-FFF2-40B4-BE49-F238E27FC236}">
                <a16:creationId xmlns:a16="http://schemas.microsoft.com/office/drawing/2014/main" id="{57CF82E3-1193-424D-9D6F-C7EBED38D88D}"/>
              </a:ext>
            </a:extLst>
          </p:cNvPr>
          <p:cNvSpPr>
            <a:spLocks noGrp="1"/>
          </p:cNvSpPr>
          <p:nvPr>
            <p:ph type="title"/>
          </p:nvPr>
        </p:nvSpPr>
        <p:spPr>
          <a:xfrm>
            <a:off x="1405467" y="448019"/>
            <a:ext cx="6096000" cy="835446"/>
          </a:xfrm>
          <a:scene3d>
            <a:camera prst="orthographicFront"/>
            <a:lightRig rig="threePt" dir="t"/>
          </a:scene3d>
          <a:sp3d>
            <a:bevelT prst="angle"/>
          </a:sp3d>
        </p:spPr>
        <p:style>
          <a:lnRef idx="1">
            <a:schemeClr val="accent2"/>
          </a:lnRef>
          <a:fillRef idx="2">
            <a:schemeClr val="accent2"/>
          </a:fillRef>
          <a:effectRef idx="1">
            <a:schemeClr val="accent2"/>
          </a:effectRef>
          <a:fontRef idx="minor">
            <a:schemeClr val="dk1"/>
          </a:fontRef>
        </p:style>
        <p:txBody>
          <a:bodyPr/>
          <a:lstStyle/>
          <a:p>
            <a:r>
              <a:rPr lang="en-US" cap="small" dirty="0"/>
              <a:t>Technology First</a:t>
            </a:r>
          </a:p>
        </p:txBody>
      </p:sp>
      <p:sp>
        <p:nvSpPr>
          <p:cNvPr id="2" name="Rectangle 1">
            <a:extLst>
              <a:ext uri="{FF2B5EF4-FFF2-40B4-BE49-F238E27FC236}">
                <a16:creationId xmlns:a16="http://schemas.microsoft.com/office/drawing/2014/main" id="{2D8475B6-548B-FE4D-9E0F-9394BD68D15B}"/>
              </a:ex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sp>
        <p:nvSpPr>
          <p:cNvPr id="5" name="Slide Number Placeholder 4">
            <a:extLst>
              <a:ext uri="{FF2B5EF4-FFF2-40B4-BE49-F238E27FC236}">
                <a16:creationId xmlns:a16="http://schemas.microsoft.com/office/drawing/2014/main" id="{EBC4045E-8535-274E-856C-2775A84264BC}"/>
              </a:ext>
            </a:extLst>
          </p:cNvPr>
          <p:cNvSpPr>
            <a:spLocks noGrp="1"/>
          </p:cNvSpPr>
          <p:nvPr>
            <p:ph type="sldNum" sz="quarter" idx="12"/>
          </p:nvPr>
        </p:nvSpPr>
        <p:spPr>
          <a:xfrm>
            <a:off x="8582025" y="6544019"/>
            <a:ext cx="1905000" cy="457200"/>
          </a:xfrm>
        </p:spPr>
        <p:txBody>
          <a:bodyPr/>
          <a:lstStyle/>
          <a:p>
            <a:pPr>
              <a:defRPr/>
            </a:pPr>
            <a:fld id="{03796480-D029-B94F-BE73-D819B106F9C3}" type="slidenum">
              <a:rPr lang="en-US" altLang="en-US" sz="1200" smtClean="0"/>
              <a:pPr>
                <a:defRPr/>
              </a:pPr>
              <a:t>5</a:t>
            </a:fld>
            <a:endParaRPr lang="en-US" altLang="en-US" sz="1200" dirty="0"/>
          </a:p>
        </p:txBody>
      </p:sp>
    </p:spTree>
    <p:extLst>
      <p:ext uri="{BB962C8B-B14F-4D97-AF65-F5344CB8AC3E}">
        <p14:creationId xmlns:p14="http://schemas.microsoft.com/office/powerpoint/2010/main" val="2126881459"/>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1041109-A6D4-2E46-8571-812B41D8447A}"/>
              </a:ext>
            </a:extLst>
          </p:cNvPr>
          <p:cNvSpPr>
            <a:spLocks noGrp="1"/>
          </p:cNvSpPr>
          <p:nvPr>
            <p:ph idx="1"/>
          </p:nvPr>
        </p:nvSpPr>
        <p:spPr>
          <a:xfrm>
            <a:off x="3810000" y="480806"/>
            <a:ext cx="5181600" cy="4953000"/>
          </a:xfrm>
        </p:spPr>
        <p:txBody>
          <a:bodyPr/>
          <a:lstStyle/>
          <a:p>
            <a:pPr>
              <a:spcBef>
                <a:spcPts val="1176"/>
              </a:spcBef>
            </a:pPr>
            <a:r>
              <a:rPr lang="en-US" sz="2400" b="0" dirty="0"/>
              <a:t>Technology considered as source of support for all individuals.</a:t>
            </a:r>
          </a:p>
          <a:p>
            <a:pPr>
              <a:spcBef>
                <a:spcPts val="1176"/>
              </a:spcBef>
            </a:pPr>
            <a:r>
              <a:rPr lang="en-US" sz="2400" b="0" dirty="0"/>
              <a:t>Technology preferred over staff interventions.</a:t>
            </a:r>
          </a:p>
          <a:p>
            <a:pPr>
              <a:spcBef>
                <a:spcPts val="1176"/>
              </a:spcBef>
            </a:pPr>
            <a:r>
              <a:rPr lang="en-US" sz="2400" b="0" dirty="0"/>
              <a:t>Informed choice and</a:t>
            </a:r>
            <a:br>
              <a:rPr lang="en-US" sz="2400" b="0" dirty="0"/>
            </a:br>
            <a:r>
              <a:rPr lang="en-US" sz="2400" b="0" dirty="0"/>
              <a:t>self-determination as drivers.</a:t>
            </a:r>
          </a:p>
          <a:p>
            <a:pPr>
              <a:spcBef>
                <a:spcPts val="1176"/>
              </a:spcBef>
            </a:pPr>
            <a:r>
              <a:rPr lang="en-US" sz="2400" b="0" dirty="0"/>
              <a:t>Ability to become competent in technology is presumed.</a:t>
            </a:r>
          </a:p>
          <a:p>
            <a:pPr>
              <a:spcBef>
                <a:spcPts val="1176"/>
              </a:spcBef>
            </a:pPr>
            <a:r>
              <a:rPr lang="en-US" sz="2400" b="0" dirty="0"/>
              <a:t>Development of competency in technology begins early and is ongoing.</a:t>
            </a:r>
          </a:p>
          <a:p>
            <a:pPr>
              <a:spcBef>
                <a:spcPts val="1176"/>
              </a:spcBef>
            </a:pPr>
            <a:r>
              <a:rPr lang="en-US" sz="2400" b="0" dirty="0"/>
              <a:t>Consideration of technology is incorporated within all components of services.</a:t>
            </a:r>
          </a:p>
        </p:txBody>
      </p:sp>
      <p:pic>
        <p:nvPicPr>
          <p:cNvPr id="3" name="Picture 2">
            <a:extLst>
              <a:ext uri="{FF2B5EF4-FFF2-40B4-BE49-F238E27FC236}">
                <a16:creationId xmlns:a16="http://schemas.microsoft.com/office/drawing/2014/main" id="{EDE0A916-520C-8A45-B117-47B139BA904F}"/>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790" y="482865"/>
            <a:ext cx="4067980" cy="2871994"/>
          </a:xfrm>
          <a:prstGeom prst="rect">
            <a:avLst/>
          </a:prstGeom>
        </p:spPr>
      </p:pic>
      <p:sp>
        <p:nvSpPr>
          <p:cNvPr id="8" name="Rectangle 7">
            <a:extLst>
              <a:ext uri="{FF2B5EF4-FFF2-40B4-BE49-F238E27FC236}">
                <a16:creationId xmlns:a16="http://schemas.microsoft.com/office/drawing/2014/main" id="{B5767885-EA25-6C4B-8B34-F101D157F6A6}"/>
              </a:ext>
              <a:ext uri="{C183D7F6-B498-43B3-948B-1728B52AA6E4}">
                <adec:decorative xmlns:adec="http://schemas.microsoft.com/office/drawing/2017/decorative" val="1"/>
              </a:ext>
            </a:extLst>
          </p:cNvPr>
          <p:cNvSpPr>
            <a:spLocks noChangeArrowheads="1"/>
          </p:cNvSpPr>
          <p:nvPr/>
        </p:nvSpPr>
        <p:spPr bwMode="auto">
          <a:xfrm>
            <a:off x="-2309" y="16164"/>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sp>
        <p:nvSpPr>
          <p:cNvPr id="2" name="Title 1">
            <a:extLst>
              <a:ext uri="{FF2B5EF4-FFF2-40B4-BE49-F238E27FC236}">
                <a16:creationId xmlns:a16="http://schemas.microsoft.com/office/drawing/2014/main" id="{2EB41332-98C5-4946-911E-3DD6D2AB2F71}"/>
              </a:ext>
            </a:extLst>
          </p:cNvPr>
          <p:cNvSpPr>
            <a:spLocks noGrp="1"/>
          </p:cNvSpPr>
          <p:nvPr>
            <p:ph type="title"/>
          </p:nvPr>
        </p:nvSpPr>
        <p:spPr>
          <a:xfrm>
            <a:off x="381000" y="-1330227"/>
            <a:ext cx="7772400" cy="1143000"/>
          </a:xfrm>
        </p:spPr>
        <p:txBody>
          <a:bodyPr/>
          <a:lstStyle/>
          <a:p>
            <a:r>
              <a:rPr lang="en-US" dirty="0"/>
              <a:t>Technology First: What It Means</a:t>
            </a:r>
          </a:p>
        </p:txBody>
      </p:sp>
      <p:sp>
        <p:nvSpPr>
          <p:cNvPr id="7" name="Slide Number Placeholder 6">
            <a:extLst>
              <a:ext uri="{FF2B5EF4-FFF2-40B4-BE49-F238E27FC236}">
                <a16:creationId xmlns:a16="http://schemas.microsoft.com/office/drawing/2014/main" id="{3F11E2B3-C3DA-C942-B49B-052279951B57}"/>
              </a:ext>
            </a:extLst>
          </p:cNvPr>
          <p:cNvSpPr>
            <a:spLocks noGrp="1"/>
          </p:cNvSpPr>
          <p:nvPr>
            <p:ph type="sldNum" sz="quarter" idx="12"/>
          </p:nvPr>
        </p:nvSpPr>
        <p:spPr>
          <a:xfrm>
            <a:off x="8686800" y="6477000"/>
            <a:ext cx="1905000" cy="457200"/>
          </a:xfrm>
        </p:spPr>
        <p:txBody>
          <a:bodyPr/>
          <a:lstStyle/>
          <a:p>
            <a:pPr>
              <a:defRPr/>
            </a:pPr>
            <a:fld id="{F4F2C800-E6A5-EE47-9F5D-6559176AC179}" type="slidenum">
              <a:rPr lang="en-US" altLang="en-US" sz="1400" smtClean="0"/>
              <a:pPr>
                <a:defRPr/>
              </a:pPr>
              <a:t>6</a:t>
            </a:fld>
            <a:endParaRPr lang="en-US" altLang="en-US" sz="1400" dirty="0"/>
          </a:p>
        </p:txBody>
      </p:sp>
    </p:spTree>
    <p:extLst>
      <p:ext uri="{BB962C8B-B14F-4D97-AF65-F5344CB8AC3E}">
        <p14:creationId xmlns:p14="http://schemas.microsoft.com/office/powerpoint/2010/main" val="316192549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18A80471-DB46-A44C-A04B-DCAADB99BA95}"/>
              </a:ext>
              <a:ext uri="{C183D7F6-B498-43B3-948B-1728B52AA6E4}">
                <adec:decorative xmlns:adec="http://schemas.microsoft.com/office/drawing/2017/decorative" val="1"/>
              </a:ext>
            </a:extLst>
          </p:cNvPr>
          <p:cNvPicPr>
            <a:picLocks noChangeAspect="1"/>
          </p:cNvPicPr>
          <p:nvPr/>
        </p:nvPicPr>
        <p:blipFill rotWithShape="1">
          <a:blip r:embed="rId5" cstate="screen">
            <a:extLst>
              <a:ext uri="{28A0092B-C50C-407E-A947-70E740481C1C}">
                <a14:useLocalDpi xmlns:a14="http://schemas.microsoft.com/office/drawing/2010/main"/>
              </a:ext>
              <a:ext uri="{837473B0-CC2E-450A-ABE3-18F120FF3D39}">
                <a1611:picAttrSrcUrl xmlns:a1611="http://schemas.microsoft.com/office/drawing/2016/11/main" r:id="rId6"/>
              </a:ext>
            </a:extLst>
          </a:blip>
          <a:srcRect/>
          <a:stretch/>
        </p:blipFill>
        <p:spPr>
          <a:xfrm>
            <a:off x="-14623" y="0"/>
            <a:ext cx="9143980" cy="6857990"/>
          </a:xfrm>
          <a:prstGeom prst="rect">
            <a:avLst/>
          </a:prstGeom>
        </p:spPr>
      </p:pic>
      <p:sp>
        <p:nvSpPr>
          <p:cNvPr id="23" name="Rectangle 22">
            <a:extLst>
              <a:ext uri="{FF2B5EF4-FFF2-40B4-BE49-F238E27FC236}">
                <a16:creationId xmlns:a16="http://schemas.microsoft.com/office/drawing/2014/main" id="{86C7B4A1-154A-4DF0-AC46-F88D75A2E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52663" y="321176"/>
            <a:ext cx="5398329" cy="5896743"/>
          </a:xfrm>
          <a:prstGeom prst="rect">
            <a:avLst/>
          </a:prstGeom>
          <a:solidFill>
            <a:schemeClr val="bg1">
              <a:alpha val="90000"/>
            </a:schemeClr>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C1AF8E58-8990-2D48-B334-7CEE6A3EE1DA}"/>
              </a:ext>
            </a:extLst>
          </p:cNvPr>
          <p:cNvSpPr>
            <a:spLocks noGrp="1"/>
          </p:cNvSpPr>
          <p:nvPr>
            <p:ph idx="1"/>
          </p:nvPr>
        </p:nvSpPr>
        <p:spPr>
          <a:xfrm>
            <a:off x="289608" y="2401641"/>
            <a:ext cx="5434892" cy="4334121"/>
          </a:xfrm>
        </p:spPr>
        <p:txBody>
          <a:bodyPr>
            <a:normAutofit/>
          </a:bodyPr>
          <a:lstStyle/>
          <a:p>
            <a:pPr>
              <a:lnSpc>
                <a:spcPct val="110000"/>
              </a:lnSpc>
            </a:pPr>
            <a:r>
              <a:rPr lang="en-US" sz="1800" b="0" dirty="0"/>
              <a:t>Employment First MO asked to support Technology First MO</a:t>
            </a:r>
          </a:p>
          <a:p>
            <a:pPr>
              <a:lnSpc>
                <a:spcPct val="110000"/>
              </a:lnSpc>
              <a:spcBef>
                <a:spcPts val="1056"/>
              </a:spcBef>
            </a:pPr>
            <a:r>
              <a:rPr lang="en-US" sz="1800" b="0" dirty="0"/>
              <a:t>Community of Practice, facilitated by ICI</a:t>
            </a:r>
          </a:p>
          <a:p>
            <a:pPr lvl="1">
              <a:lnSpc>
                <a:spcPct val="110000"/>
              </a:lnSpc>
              <a:spcBef>
                <a:spcPts val="1056"/>
              </a:spcBef>
            </a:pPr>
            <a:r>
              <a:rPr lang="en-US" sz="1800" i="1" dirty="0"/>
              <a:t>Members: </a:t>
            </a:r>
            <a:r>
              <a:rPr lang="en-US" sz="1800" b="0" dirty="0"/>
              <a:t>3 employment providers, MO AT project, DD staff, DD council</a:t>
            </a:r>
          </a:p>
          <a:p>
            <a:pPr lvl="1">
              <a:lnSpc>
                <a:spcPct val="110000"/>
              </a:lnSpc>
              <a:spcBef>
                <a:spcPts val="1056"/>
              </a:spcBef>
            </a:pPr>
            <a:r>
              <a:rPr lang="en-US" sz="1800" i="1" dirty="0"/>
              <a:t>Meets monthly: </a:t>
            </a:r>
            <a:r>
              <a:rPr lang="en-US" sz="1800" b="0" dirty="0"/>
              <a:t>sharing technology ideas &amp; implementation,</a:t>
            </a:r>
            <a:br>
              <a:rPr lang="en-US" sz="1800" b="0" dirty="0"/>
            </a:br>
            <a:r>
              <a:rPr lang="en-US" sz="1800" b="0" dirty="0"/>
              <a:t>capacity-building strategies</a:t>
            </a:r>
          </a:p>
          <a:p>
            <a:pPr lvl="1">
              <a:lnSpc>
                <a:spcPct val="110000"/>
              </a:lnSpc>
              <a:spcBef>
                <a:spcPts val="1056"/>
              </a:spcBef>
            </a:pPr>
            <a:r>
              <a:rPr lang="en-US" sz="1800" i="1" dirty="0"/>
              <a:t>Outputs: </a:t>
            </a:r>
            <a:r>
              <a:rPr lang="en-US" sz="1800" b="0" dirty="0"/>
              <a:t>Developed framework, written products</a:t>
            </a:r>
          </a:p>
        </p:txBody>
      </p:sp>
      <p:pic>
        <p:nvPicPr>
          <p:cNvPr id="31" name="Picture 30">
            <a:extLst>
              <a:ext uri="{FF2B5EF4-FFF2-40B4-BE49-F238E27FC236}">
                <a16:creationId xmlns:a16="http://schemas.microsoft.com/office/drawing/2014/main" id="{A993C86A-EC81-F447-8053-04896D10A08A}"/>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314570" y="1427018"/>
            <a:ext cx="1135404" cy="851553"/>
          </a:xfrm>
          <a:prstGeom prst="rect">
            <a:avLst/>
          </a:prstGeom>
        </p:spPr>
      </p:pic>
      <p:sp>
        <p:nvSpPr>
          <p:cNvPr id="2" name="Title 1">
            <a:extLst>
              <a:ext uri="{FF2B5EF4-FFF2-40B4-BE49-F238E27FC236}">
                <a16:creationId xmlns:a16="http://schemas.microsoft.com/office/drawing/2014/main" id="{E881036D-D0E7-654A-9E4C-8100ABE480C4}"/>
              </a:ext>
            </a:extLst>
          </p:cNvPr>
          <p:cNvSpPr>
            <a:spLocks noGrp="1"/>
          </p:cNvSpPr>
          <p:nvPr>
            <p:ph type="title"/>
          </p:nvPr>
        </p:nvSpPr>
        <p:spPr>
          <a:xfrm>
            <a:off x="456654" y="316933"/>
            <a:ext cx="4964858" cy="1344975"/>
          </a:xfrm>
        </p:spPr>
        <p:txBody>
          <a:bodyPr>
            <a:normAutofit/>
          </a:bodyPr>
          <a:lstStyle/>
          <a:p>
            <a:pPr>
              <a:lnSpc>
                <a:spcPct val="90000"/>
              </a:lnSpc>
            </a:pPr>
            <a:r>
              <a:rPr lang="en-US" sz="2400" dirty="0">
                <a:latin typeface="Brush Script MT" panose="03060802040406070304" pitchFamily="66" charset="77"/>
                <a:cs typeface="Arial Narrow" panose="020B0604020202020204" pitchFamily="34" charset="0"/>
              </a:rPr>
              <a:t>Marriage of</a:t>
            </a:r>
            <a:br>
              <a:rPr lang="en-US" sz="2400" dirty="0">
                <a:latin typeface="Brush Script MT" panose="03060802040406070304" pitchFamily="66" charset="77"/>
                <a:cs typeface="Arial Narrow" panose="020B0604020202020204" pitchFamily="34" charset="0"/>
              </a:rPr>
            </a:br>
            <a:r>
              <a:rPr lang="en-US" sz="2400" dirty="0">
                <a:latin typeface="Brush Script MT" panose="03060802040406070304" pitchFamily="66" charset="77"/>
                <a:cs typeface="Arial Narrow" panose="020B0604020202020204" pitchFamily="34" charset="0"/>
              </a:rPr>
              <a:t>Employment First MO &amp; </a:t>
            </a:r>
            <a:br>
              <a:rPr lang="en-US" sz="2400" dirty="0">
                <a:latin typeface="Brush Script MT" panose="03060802040406070304" pitchFamily="66" charset="77"/>
                <a:cs typeface="Arial Narrow" panose="020B0604020202020204" pitchFamily="34" charset="0"/>
              </a:rPr>
            </a:br>
            <a:r>
              <a:rPr lang="en-US" sz="2400" dirty="0">
                <a:latin typeface="Brush Script MT" panose="03060802040406070304" pitchFamily="66" charset="77"/>
                <a:cs typeface="Arial Narrow" panose="020B0604020202020204" pitchFamily="34" charset="0"/>
              </a:rPr>
              <a:t>Technology First MO</a:t>
            </a:r>
          </a:p>
        </p:txBody>
      </p:sp>
      <p:pic>
        <p:nvPicPr>
          <p:cNvPr id="4" name="Picture 3" descr="Logo of technology first Missouri">
            <a:extLst>
              <a:ext uri="{FF2B5EF4-FFF2-40B4-BE49-F238E27FC236}">
                <a16:creationId xmlns:a16="http://schemas.microsoft.com/office/drawing/2014/main" id="{FE78B614-F6DE-564D-8E03-E52C3A4F684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381000" y="339390"/>
            <a:ext cx="1097436" cy="1108410"/>
          </a:xfrm>
          <a:prstGeom prst="rect">
            <a:avLst/>
          </a:prstGeom>
        </p:spPr>
      </p:pic>
      <p:pic>
        <p:nvPicPr>
          <p:cNvPr id="10" name="Shape 85" descr="Employment First Missouri Logo">
            <a:extLst>
              <a:ext uri="{FF2B5EF4-FFF2-40B4-BE49-F238E27FC236}">
                <a16:creationId xmlns:a16="http://schemas.microsoft.com/office/drawing/2014/main" id="{84B546E5-F807-AA4A-AD1E-B9139F48E073}"/>
              </a:ext>
            </a:extLst>
          </p:cNvPr>
          <p:cNvPicPr preferRelativeResize="0"/>
          <p:nvPr/>
        </p:nvPicPr>
        <p:blipFill rotWithShape="1">
          <a:blip r:embed="rId9" cstate="screen">
            <a:alphaModFix/>
            <a:extLst>
              <a:ext uri="{28A0092B-C50C-407E-A947-70E740481C1C}">
                <a14:useLocalDpi xmlns:a14="http://schemas.microsoft.com/office/drawing/2010/main"/>
              </a:ext>
            </a:extLst>
          </a:blip>
          <a:srcRect/>
          <a:stretch/>
        </p:blipFill>
        <p:spPr>
          <a:xfrm>
            <a:off x="4557367" y="414112"/>
            <a:ext cx="986173" cy="1018627"/>
          </a:xfrm>
          <a:prstGeom prst="rect">
            <a:avLst/>
          </a:prstGeom>
          <a:noFill/>
          <a:ln>
            <a:noFill/>
          </a:ln>
        </p:spPr>
      </p:pic>
      <p:sp>
        <p:nvSpPr>
          <p:cNvPr id="5" name="Slide Number Placeholder 4">
            <a:extLst>
              <a:ext uri="{FF2B5EF4-FFF2-40B4-BE49-F238E27FC236}">
                <a16:creationId xmlns:a16="http://schemas.microsoft.com/office/drawing/2014/main" id="{49A427C9-C8E0-E346-9AA9-A95985ABF664}"/>
              </a:ext>
            </a:extLst>
          </p:cNvPr>
          <p:cNvSpPr>
            <a:spLocks noGrp="1"/>
          </p:cNvSpPr>
          <p:nvPr>
            <p:ph type="sldNum" sz="quarter" idx="12"/>
          </p:nvPr>
        </p:nvSpPr>
        <p:spPr>
          <a:xfrm>
            <a:off x="8458200" y="6553200"/>
            <a:ext cx="2057400" cy="365125"/>
          </a:xfrm>
        </p:spPr>
        <p:txBody>
          <a:bodyPr>
            <a:normAutofit/>
          </a:bodyPr>
          <a:lstStyle/>
          <a:p>
            <a:pPr>
              <a:lnSpc>
                <a:spcPct val="90000"/>
              </a:lnSpc>
              <a:spcAft>
                <a:spcPts val="600"/>
              </a:spcAft>
              <a:defRPr/>
            </a:pPr>
            <a:fld id="{DADED417-B3A5-0247-A5EF-759E0B1E1E60}" type="slidenum">
              <a:rPr lang="en-US" altLang="en-US" sz="1400"/>
              <a:pPr>
                <a:lnSpc>
                  <a:spcPct val="90000"/>
                </a:lnSpc>
                <a:spcAft>
                  <a:spcPts val="600"/>
                </a:spcAft>
                <a:defRPr/>
              </a:pPr>
              <a:t>7</a:t>
            </a:fld>
            <a:endParaRPr lang="en-US" altLang="en-US" sz="1400" dirty="0"/>
          </a:p>
        </p:txBody>
      </p:sp>
      <p:pic>
        <p:nvPicPr>
          <p:cNvPr id="8" name="08 Mendelssohn_ Incidental Music To _A Midsummer Night's Dream_ - Wedding March" descr="08 Mendelssohn_ Incidental Music To _A Midsummer Night's Dream_ - Wedding March">
            <a:hlinkClick r:id="" action="ppaction://media"/>
            <a:extLst>
              <a:ext uri="{FF2B5EF4-FFF2-40B4-BE49-F238E27FC236}">
                <a16:creationId xmlns:a16="http://schemas.microsoft.com/office/drawing/2014/main" id="{79C899A4-E55C-6943-AC69-F58D90EDBD46}"/>
              </a:ext>
            </a:extLst>
          </p:cNvPr>
          <p:cNvPicPr>
            <a:picLocks noChangeAspect="1"/>
          </p:cNvPicPr>
          <p:nvPr>
            <a:audioFile r:link="rId1"/>
            <p:extLst>
              <p:ext uri="{DAA4B4D4-6D71-4841-9C94-3DE7FCFB9230}">
                <p14:media xmlns:p14="http://schemas.microsoft.com/office/powerpoint/2010/main" r:embed="rId2">
                  <p14:trim st="13125.6255" end="307242.5518"/>
                </p14:media>
              </p:ext>
            </p:extLst>
          </p:nvPr>
        </p:nvPicPr>
        <p:blipFill>
          <a:blip r:embed="rId10"/>
          <a:stretch>
            <a:fillRect/>
          </a:stretch>
        </p:blipFill>
        <p:spPr>
          <a:xfrm>
            <a:off x="7938" y="3175"/>
            <a:ext cx="812800" cy="812800"/>
          </a:xfrm>
          <a:prstGeom prst="rect">
            <a:avLst/>
          </a:prstGeom>
        </p:spPr>
      </p:pic>
    </p:spTree>
    <p:extLst>
      <p:ext uri="{BB962C8B-B14F-4D97-AF65-F5344CB8AC3E}">
        <p14:creationId xmlns:p14="http://schemas.microsoft.com/office/powerpoint/2010/main" val="219854126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33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5257800" y="1981200"/>
            <a:ext cx="2857500" cy="3810000"/>
          </a:xfrm>
          <a:prstGeom prst="rect">
            <a:avLst/>
          </a:prstGeom>
        </p:spPr>
      </p:pic>
      <p:sp>
        <p:nvSpPr>
          <p:cNvPr id="16" name="Content Placeholder 15"/>
          <p:cNvSpPr>
            <a:spLocks noGrp="1"/>
          </p:cNvSpPr>
          <p:nvPr>
            <p:ph idx="1"/>
          </p:nvPr>
        </p:nvSpPr>
        <p:spPr>
          <a:xfrm>
            <a:off x="609600" y="1524000"/>
            <a:ext cx="7772400" cy="3810000"/>
          </a:xfrm>
        </p:spPr>
        <p:txBody>
          <a:bodyPr/>
          <a:lstStyle/>
          <a:p>
            <a:endParaRPr lang="en-US" sz="2400" b="0" dirty="0"/>
          </a:p>
          <a:p>
            <a:pPr>
              <a:spcBef>
                <a:spcPts val="1176"/>
              </a:spcBef>
            </a:pPr>
            <a:r>
              <a:rPr lang="en-US" sz="2400" b="0" dirty="0"/>
              <a:t>Readily Available</a:t>
            </a:r>
          </a:p>
          <a:p>
            <a:pPr>
              <a:spcBef>
                <a:spcPts val="1176"/>
              </a:spcBef>
            </a:pPr>
            <a:r>
              <a:rPr lang="en-US" sz="2400" b="0" dirty="0"/>
              <a:t>Embedded Apps &amp; Tools </a:t>
            </a:r>
          </a:p>
          <a:p>
            <a:pPr>
              <a:spcBef>
                <a:spcPts val="1176"/>
              </a:spcBef>
            </a:pPr>
            <a:r>
              <a:rPr lang="en-US" sz="2400" b="0" dirty="0"/>
              <a:t>Accessibility Features </a:t>
            </a:r>
          </a:p>
          <a:p>
            <a:pPr>
              <a:spcBef>
                <a:spcPts val="1176"/>
              </a:spcBef>
            </a:pPr>
            <a:r>
              <a:rPr lang="en-US" sz="2400" b="0" dirty="0"/>
              <a:t>Apps</a:t>
            </a:r>
          </a:p>
          <a:p>
            <a:pPr lvl="1">
              <a:buFont typeface="Courier New" panose="02070309020205020404" pitchFamily="49" charset="0"/>
              <a:buChar char="o"/>
            </a:pPr>
            <a:r>
              <a:rPr lang="en-US" sz="2000" b="0" dirty="0"/>
              <a:t>Video modeling</a:t>
            </a:r>
          </a:p>
          <a:p>
            <a:pPr lvl="1">
              <a:buFont typeface="Courier New" panose="02070309020205020404" pitchFamily="49" charset="0"/>
              <a:buChar char="o"/>
            </a:pPr>
            <a:r>
              <a:rPr lang="en-US" sz="2000" b="0" dirty="0"/>
              <a:t>Communication</a:t>
            </a:r>
          </a:p>
          <a:p>
            <a:pPr lvl="1">
              <a:buFont typeface="Courier New" panose="02070309020205020404" pitchFamily="49" charset="0"/>
              <a:buChar char="o"/>
            </a:pPr>
            <a:r>
              <a:rPr lang="en-US" sz="2000" b="0" dirty="0"/>
              <a:t>Task sequencing </a:t>
            </a:r>
          </a:p>
          <a:p>
            <a:pPr lvl="1">
              <a:buFont typeface="Courier New" panose="02070309020205020404" pitchFamily="49" charset="0"/>
              <a:buChar char="o"/>
            </a:pPr>
            <a:r>
              <a:rPr lang="en-US" sz="2000" b="0" dirty="0"/>
              <a:t>Focus &amp; sustained effort</a:t>
            </a:r>
          </a:p>
          <a:p>
            <a:pPr lvl="1">
              <a:buFont typeface="Courier New" panose="02070309020205020404" pitchFamily="49" charset="0"/>
              <a:buChar char="o"/>
            </a:pPr>
            <a:r>
              <a:rPr lang="en-US" sz="2000" b="0" dirty="0"/>
              <a:t>Mindfulness </a:t>
            </a:r>
          </a:p>
          <a:p>
            <a:pPr lvl="1">
              <a:buFont typeface="Courier New" panose="02070309020205020404" pitchFamily="49" charset="0"/>
              <a:buChar char="o"/>
            </a:pPr>
            <a:r>
              <a:rPr lang="en-US" sz="2000" b="0" dirty="0"/>
              <a:t>Scheduling   </a:t>
            </a:r>
          </a:p>
        </p:txBody>
      </p:sp>
      <p:sp>
        <p:nvSpPr>
          <p:cNvPr id="2" name="Title 1"/>
          <p:cNvSpPr>
            <a:spLocks noGrp="1"/>
          </p:cNvSpPr>
          <p:nvPr>
            <p:ph type="title"/>
          </p:nvPr>
        </p:nvSpPr>
        <p:spPr>
          <a:xfrm>
            <a:off x="685800" y="533400"/>
            <a:ext cx="7772400" cy="866502"/>
          </a:xfrm>
          <a:effectLst>
            <a:glow rad="139700">
              <a:schemeClr val="accent4">
                <a:satMod val="175000"/>
                <a:alpha val="40000"/>
              </a:schemeClr>
            </a:glow>
          </a:effectLst>
        </p:spPr>
        <p:style>
          <a:lnRef idx="1">
            <a:schemeClr val="accent5"/>
          </a:lnRef>
          <a:fillRef idx="2">
            <a:schemeClr val="accent5"/>
          </a:fillRef>
          <a:effectRef idx="1">
            <a:schemeClr val="accent5"/>
          </a:effectRef>
          <a:fontRef idx="minor">
            <a:schemeClr val="dk1"/>
          </a:fontRef>
        </p:style>
        <p:txBody>
          <a:bodyPr/>
          <a:lstStyle/>
          <a:p>
            <a:r>
              <a:rPr lang="en-US" cap="small" dirty="0"/>
              <a:t>Scope of Focus</a:t>
            </a:r>
          </a:p>
        </p:txBody>
      </p:sp>
      <p:sp>
        <p:nvSpPr>
          <p:cNvPr id="10" name="Rectangle 9">
            <a:extLs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4" name="Slide Number Placeholder 3">
            <a:extLst>
              <a:ext uri="{FF2B5EF4-FFF2-40B4-BE49-F238E27FC236}">
                <a16:creationId xmlns:a16="http://schemas.microsoft.com/office/drawing/2014/main" id="{4426ECDF-1F03-FF45-B07B-23BAA112525D}"/>
              </a:ext>
            </a:extLst>
          </p:cNvPr>
          <p:cNvSpPr>
            <a:spLocks noGrp="1"/>
          </p:cNvSpPr>
          <p:nvPr>
            <p:ph type="sldNum" sz="quarter" idx="12"/>
          </p:nvPr>
        </p:nvSpPr>
        <p:spPr>
          <a:xfrm>
            <a:off x="8686800" y="6400800"/>
            <a:ext cx="1905000" cy="457200"/>
          </a:xfrm>
        </p:spPr>
        <p:txBody>
          <a:bodyPr/>
          <a:lstStyle/>
          <a:p>
            <a:pPr>
              <a:defRPr/>
            </a:pPr>
            <a:fld id="{F4F2C800-E6A5-EE47-9F5D-6559176AC179}" type="slidenum">
              <a:rPr lang="en-US" altLang="en-US" sz="1400" smtClean="0"/>
              <a:pPr>
                <a:defRPr/>
              </a:pPr>
              <a:t>8</a:t>
            </a:fld>
            <a:endParaRPr lang="en-US" altLang="en-US" sz="1400" dirty="0"/>
          </a:p>
        </p:txBody>
      </p:sp>
    </p:spTree>
    <p:extLst>
      <p:ext uri="{BB962C8B-B14F-4D97-AF65-F5344CB8AC3E}">
        <p14:creationId xmlns:p14="http://schemas.microsoft.com/office/powerpoint/2010/main" val="1630219412"/>
      </p:ext>
    </p:extLst>
  </p:cSld>
  <p:clrMapOvr>
    <a:masterClrMapping/>
  </p:clrMapOvr>
  <p:transition spd="slow">
    <p:wip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descr="Please share in the chat your ideas for integrating technology within the employment process.&#13;&#10;">
            <a:extLst>
              <a:ext uri="{FF2B5EF4-FFF2-40B4-BE49-F238E27FC236}">
                <a16:creationId xmlns:a16="http://schemas.microsoft.com/office/drawing/2014/main" id="{9A694E8D-4445-B240-8126-90BEE2F6A068}"/>
              </a:ext>
            </a:extLst>
          </p:cNvPr>
          <p:cNvSpPr txBox="1"/>
          <p:nvPr/>
        </p:nvSpPr>
        <p:spPr>
          <a:xfrm>
            <a:off x="252428" y="5444065"/>
            <a:ext cx="3795234" cy="1015663"/>
          </a:xfrm>
          <a:prstGeom prst="rect">
            <a:avLst/>
          </a:prstGeom>
          <a:effectLst>
            <a:glow rad="139700">
              <a:schemeClr val="accent3">
                <a:satMod val="175000"/>
                <a:alpha val="40000"/>
              </a:schemeClr>
            </a:glow>
            <a:outerShdw blurRad="40000" dist="20000" dir="5400000" rotWithShape="0">
              <a:srgbClr val="000000">
                <a:alpha val="38000"/>
              </a:srgbClr>
            </a:outerShdw>
          </a:effectLst>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US" sz="2000" i="1" dirty="0">
                <a:latin typeface="Arial Narrow" panose="020B0604020202020204" pitchFamily="34" charset="0"/>
                <a:cs typeface="Arial Narrow" panose="020B0604020202020204" pitchFamily="34" charset="0"/>
              </a:rPr>
              <a:t>Please share in the chat your ideas for integrating technology within the employment process.</a:t>
            </a:r>
          </a:p>
        </p:txBody>
      </p:sp>
      <p:graphicFrame>
        <p:nvGraphicFramePr>
          <p:cNvPr id="6" name="Diagram 5" descr="1.&#9;Person-Centered Planning.&#13;&#10;2.&#9;Exploration and Discovery.&#13;&#10;3.&#9;Job Development and Job Design.&#13;&#10;4.&#9;Initial Placement Support.&#13;&#10;5.&#9;Follow-Up Supports.&#13;&#10;"/>
          <p:cNvGraphicFramePr/>
          <p:nvPr>
            <p:extLst>
              <p:ext uri="{D42A27DB-BD31-4B8C-83A1-F6EECF244321}">
                <p14:modId xmlns:p14="http://schemas.microsoft.com/office/powerpoint/2010/main" val="4145321350"/>
              </p:ext>
            </p:extLst>
          </p:nvPr>
        </p:nvGraphicFramePr>
        <p:xfrm>
          <a:off x="252428" y="171240"/>
          <a:ext cx="8750300" cy="61803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Box 1">
            <a:extLst>
              <a:ext uri="{FF2B5EF4-FFF2-40B4-BE49-F238E27FC236}">
                <a16:creationId xmlns:a16="http://schemas.microsoft.com/office/drawing/2014/main" id="{C8661422-0DB2-D24F-B146-7B8BE439A828}"/>
              </a:ext>
              <a:ext uri="{C183D7F6-B498-43B3-948B-1728B52AA6E4}">
                <adec:decorative xmlns:adec="http://schemas.microsoft.com/office/drawing/2017/decorative" val="1"/>
              </a:ext>
            </a:extLst>
          </p:cNvPr>
          <p:cNvSpPr txBox="1"/>
          <p:nvPr/>
        </p:nvSpPr>
        <p:spPr>
          <a:xfrm>
            <a:off x="133927" y="398272"/>
            <a:ext cx="4114800" cy="523220"/>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1" i="0" u="none" strike="noStrike" kern="1200" cap="none" spc="0" normalizeH="0" baseline="0" noProof="0" dirty="0">
                <a:ln>
                  <a:noFill/>
                </a:ln>
                <a:solidFill>
                  <a:prstClr val="black"/>
                </a:solidFill>
                <a:effectLst>
                  <a:reflection blurRad="6350" stA="50000" endA="300" endPos="50000" dist="29997" dir="5400000" sy="-100000" algn="bl" rotWithShape="0"/>
                </a:effectLst>
                <a:uLnTx/>
                <a:uFillTx/>
                <a:latin typeface="Times" charset="0"/>
                <a:ea typeface="ＭＳ Ｐゴシック" charset="0"/>
              </a:rPr>
              <a:t>The Employment Process</a:t>
            </a:r>
          </a:p>
        </p:txBody>
      </p:sp>
      <p:sp>
        <p:nvSpPr>
          <p:cNvPr id="4" name="Title 3">
            <a:extLst>
              <a:ext uri="{FF2B5EF4-FFF2-40B4-BE49-F238E27FC236}">
                <a16:creationId xmlns:a16="http://schemas.microsoft.com/office/drawing/2014/main" id="{C1D88369-21A1-0A42-BA7D-05E9AC5A43DD}"/>
              </a:ext>
            </a:extLst>
          </p:cNvPr>
          <p:cNvSpPr>
            <a:spLocks noGrp="1"/>
          </p:cNvSpPr>
          <p:nvPr>
            <p:ph type="title" idx="4294967295"/>
          </p:nvPr>
        </p:nvSpPr>
        <p:spPr>
          <a:xfrm>
            <a:off x="138281" y="-1905000"/>
            <a:ext cx="8229600" cy="1143000"/>
          </a:xfrm>
        </p:spPr>
        <p:txBody>
          <a:bodyPr/>
          <a:lstStyle/>
          <a:p>
            <a:r>
              <a:rPr lang="en-US" dirty="0"/>
              <a:t>The Employment Process</a:t>
            </a:r>
          </a:p>
        </p:txBody>
      </p:sp>
      <p:sp>
        <p:nvSpPr>
          <p:cNvPr id="5" name="Slide Number Placeholder 4"/>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7914F4CA-897D-214A-8D71-10AFFED61C52}" type="slidenum">
              <a:rPr kumimoji="0" lang="en-US" sz="1200" b="1" i="0" u="none" strike="noStrike" kern="1200" cap="none" spc="0" normalizeH="0" baseline="0" noProof="0" smtClean="0">
                <a:ln>
                  <a:noFill/>
                </a:ln>
                <a:solidFill>
                  <a:prstClr val="black">
                    <a:tint val="75000"/>
                  </a:prstClr>
                </a:solidFill>
                <a:effectLst/>
                <a:uLnTx/>
                <a:uFillTx/>
                <a:latin typeface="Times" charset="0"/>
                <a:ea typeface="ＭＳ Ｐゴシック" charset="0"/>
              </a:rPr>
              <a:pPr marL="0" marR="0" lvl="0" indent="0" algn="r" defTabSz="914400" rtl="0" eaLnBrk="0" fontAlgn="base" latinLnBrk="0" hangingPunct="0">
                <a:lnSpc>
                  <a:spcPct val="100000"/>
                </a:lnSpc>
                <a:spcBef>
                  <a:spcPct val="0"/>
                </a:spcBef>
                <a:spcAft>
                  <a:spcPct val="0"/>
                </a:spcAft>
                <a:buClrTx/>
                <a:buSzTx/>
                <a:buFontTx/>
                <a:buNone/>
                <a:tabLst/>
                <a:defRPr/>
              </a:pPr>
              <a:t>9</a:t>
            </a:fld>
            <a:endParaRPr kumimoji="0" lang="en-US" sz="1200" b="1" i="0" u="none" strike="noStrike" kern="1200" cap="none" spc="0" normalizeH="0" baseline="0" noProof="0" dirty="0">
              <a:ln>
                <a:noFill/>
              </a:ln>
              <a:solidFill>
                <a:prstClr val="black">
                  <a:tint val="75000"/>
                </a:prstClr>
              </a:solidFill>
              <a:effectLst/>
              <a:uLnTx/>
              <a:uFillTx/>
              <a:latin typeface="Times" charset="0"/>
              <a:ea typeface="ＭＳ Ｐゴシック" charset="0"/>
            </a:endParaRPr>
          </a:p>
        </p:txBody>
      </p:sp>
    </p:spTree>
    <p:extLst>
      <p:ext uri="{BB962C8B-B14F-4D97-AF65-F5344CB8AC3E}">
        <p14:creationId xmlns:p14="http://schemas.microsoft.com/office/powerpoint/2010/main" val="325253622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5839C177-DF4E-3D4B-BFD2-8FC85C049DF9}"/>
              </a:ext>
            </a:extLst>
          </p:cNvPr>
          <p:cNvSpPr txBox="1"/>
          <p:nvPr/>
        </p:nvSpPr>
        <p:spPr>
          <a:xfrm>
            <a:off x="7130005" y="6400800"/>
            <a:ext cx="1852914" cy="369332"/>
          </a:xfrm>
          <a:prstGeom prst="rect">
            <a:avLst/>
          </a:prstGeom>
          <a:noFill/>
        </p:spPr>
        <p:txBody>
          <a:bodyPr wrap="square" rtlCol="0">
            <a:spAutoFit/>
          </a:bodyPr>
          <a:lstStyle/>
          <a:p>
            <a:r>
              <a:rPr lang="en-US" sz="900" dirty="0">
                <a:hlinkClick r:id="rId3" tooltip="http://www.pngall.com/steve-jobs-png"/>
              </a:rPr>
              <a:t>This Photo</a:t>
            </a:r>
            <a:r>
              <a:rPr lang="en-US" sz="900" dirty="0"/>
              <a:t> by Unknown Author is licensed under </a:t>
            </a:r>
            <a:r>
              <a:rPr lang="en-US" sz="900" dirty="0">
                <a:hlinkClick r:id="rId4" tooltip="https://creativecommons.org/licenses/by-nc/3.0/"/>
              </a:rPr>
              <a:t>CC BY-NC</a:t>
            </a:r>
            <a:endParaRPr lang="en-US" sz="900" dirty="0"/>
          </a:p>
        </p:txBody>
      </p:sp>
      <p:pic>
        <p:nvPicPr>
          <p:cNvPr id="8" name="Picture 7">
            <a:extLst>
              <a:ext uri="{FF2B5EF4-FFF2-40B4-BE49-F238E27FC236}">
                <a16:creationId xmlns:a16="http://schemas.microsoft.com/office/drawing/2014/main" id="{C0D9D36A-BEB5-744A-B1CE-2F772E6CD5C6}"/>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6145696" y="1295400"/>
            <a:ext cx="2810719" cy="3581400"/>
          </a:xfrm>
          <a:prstGeom prst="rect">
            <a:avLst/>
          </a:prstGeom>
        </p:spPr>
      </p:pic>
      <p:sp>
        <p:nvSpPr>
          <p:cNvPr id="3" name="Content Placeholder 2" descr="“I don’t focus on the technology.I focus on what’s in it for the customer.I want to give the customer an incredible experience.”">
            <a:extLst>
              <a:ext uri="{FF2B5EF4-FFF2-40B4-BE49-F238E27FC236}">
                <a16:creationId xmlns:a16="http://schemas.microsoft.com/office/drawing/2014/main" id="{8A37ACD3-A626-754C-9896-9097B67CB868}"/>
              </a:ext>
            </a:extLst>
          </p:cNvPr>
          <p:cNvSpPr>
            <a:spLocks noGrp="1"/>
          </p:cNvSpPr>
          <p:nvPr>
            <p:ph idx="1"/>
          </p:nvPr>
        </p:nvSpPr>
        <p:spPr>
          <a:xfrm>
            <a:off x="609600" y="1930102"/>
            <a:ext cx="4906617" cy="4318298"/>
          </a:xfrm>
          <a:solidFill>
            <a:srgbClr val="0070C0"/>
          </a:solidFill>
          <a:scene3d>
            <a:camera prst="orthographicFront"/>
            <a:lightRig rig="threePt" dir="t"/>
          </a:scene3d>
          <a:sp3d>
            <a:bevelT prst="angle"/>
          </a:sp3d>
        </p:spPr>
        <p:style>
          <a:lnRef idx="2">
            <a:schemeClr val="accent2">
              <a:shade val="50000"/>
            </a:schemeClr>
          </a:lnRef>
          <a:fillRef idx="1">
            <a:schemeClr val="accent2"/>
          </a:fillRef>
          <a:effectRef idx="0">
            <a:schemeClr val="accent2"/>
          </a:effectRef>
          <a:fontRef idx="minor">
            <a:schemeClr val="lt1"/>
          </a:fontRef>
        </p:style>
        <p:txBody>
          <a:bodyPr anchor="ctr" anchorCtr="0"/>
          <a:lstStyle/>
          <a:p>
            <a:pPr marL="0" indent="0" algn="ctr">
              <a:buNone/>
            </a:pPr>
            <a:r>
              <a:rPr lang="en-US" b="0" dirty="0"/>
              <a:t>“I don’t focus on the technology.</a:t>
            </a:r>
            <a:br>
              <a:rPr lang="en-US" b="0" dirty="0"/>
            </a:br>
            <a:r>
              <a:rPr lang="en-US" b="0" dirty="0"/>
              <a:t>I focus on what’s in it for the customer.</a:t>
            </a:r>
            <a:br>
              <a:rPr lang="en-US" b="0" dirty="0"/>
            </a:br>
            <a:r>
              <a:rPr lang="en-US" b="0" dirty="0"/>
              <a:t>I want to give the customer an incredible experience.”</a:t>
            </a:r>
          </a:p>
        </p:txBody>
      </p:sp>
      <p:sp>
        <p:nvSpPr>
          <p:cNvPr id="2" name="Title 1">
            <a:extLst>
              <a:ext uri="{FF2B5EF4-FFF2-40B4-BE49-F238E27FC236}">
                <a16:creationId xmlns:a16="http://schemas.microsoft.com/office/drawing/2014/main" id="{BC0D1BB0-FAD3-144F-A22C-DBFF050E60D9}"/>
              </a:ext>
            </a:extLst>
          </p:cNvPr>
          <p:cNvSpPr>
            <a:spLocks noGrp="1"/>
          </p:cNvSpPr>
          <p:nvPr>
            <p:ph type="title"/>
          </p:nvPr>
        </p:nvSpPr>
        <p:spPr/>
        <p:txBody>
          <a:bodyPr/>
          <a:lstStyle/>
          <a:p>
            <a:r>
              <a:rPr lang="en-US" sz="4000" cap="small" dirty="0"/>
              <a:t>Steve Jobs</a:t>
            </a:r>
          </a:p>
        </p:txBody>
      </p:sp>
      <p:sp>
        <p:nvSpPr>
          <p:cNvPr id="10" name="Rectangle 9">
            <a:extLs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endParaRPr lang="en-US"/>
          </a:p>
        </p:txBody>
      </p:sp>
      <p:sp>
        <p:nvSpPr>
          <p:cNvPr id="5" name="Slide Number Placeholder 4">
            <a:extLst>
              <a:ext uri="{FF2B5EF4-FFF2-40B4-BE49-F238E27FC236}">
                <a16:creationId xmlns:a16="http://schemas.microsoft.com/office/drawing/2014/main" id="{F29FA275-32F2-094E-815A-638D3D26F364}"/>
              </a:ext>
            </a:extLst>
          </p:cNvPr>
          <p:cNvSpPr>
            <a:spLocks noGrp="1"/>
          </p:cNvSpPr>
          <p:nvPr>
            <p:ph type="sldNum" sz="quarter" idx="12"/>
          </p:nvPr>
        </p:nvSpPr>
        <p:spPr>
          <a:xfrm>
            <a:off x="8686800" y="6128266"/>
            <a:ext cx="1905000" cy="457200"/>
          </a:xfrm>
        </p:spPr>
        <p:txBody>
          <a:bodyPr/>
          <a:lstStyle/>
          <a:p>
            <a:pPr>
              <a:defRPr/>
            </a:pPr>
            <a:fld id="{F4F2C800-E6A5-EE47-9F5D-6559176AC179}" type="slidenum">
              <a:rPr lang="en-US" altLang="en-US" sz="1400" smtClean="0"/>
              <a:pPr>
                <a:defRPr/>
              </a:pPr>
              <a:t>10</a:t>
            </a:fld>
            <a:endParaRPr lang="en-US" altLang="en-US" sz="1400" dirty="0"/>
          </a:p>
        </p:txBody>
      </p:sp>
    </p:spTree>
  </p:cSld>
  <p:clrMapOvr>
    <a:masterClrMapping/>
  </p:clrMapOvr>
  <p:transition spd="slow">
    <p:wip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99896D83-90FE-784F-B82B-428534614E87}"/>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0415" y="663158"/>
            <a:ext cx="2729489" cy="2224534"/>
          </a:xfrm>
          <a:prstGeom prst="rect">
            <a:avLst/>
          </a:prstGeom>
        </p:spPr>
      </p:pic>
      <p:sp>
        <p:nvSpPr>
          <p:cNvPr id="29" name="TextBox 28">
            <a:extLst>
              <a:ext uri="{FF2B5EF4-FFF2-40B4-BE49-F238E27FC236}">
                <a16:creationId xmlns:a16="http://schemas.microsoft.com/office/drawing/2014/main" id="{1B7A3CD6-9929-7C4C-AB0C-983D0F7089EE}"/>
              </a:ext>
            </a:extLst>
          </p:cNvPr>
          <p:cNvSpPr txBox="1"/>
          <p:nvPr/>
        </p:nvSpPr>
        <p:spPr>
          <a:xfrm>
            <a:off x="382401" y="946113"/>
            <a:ext cx="1981200" cy="1384995"/>
          </a:xfrm>
          <a:prstGeom prst="rect">
            <a:avLst/>
          </a:prstGeom>
          <a:noFill/>
        </p:spPr>
        <p:txBody>
          <a:bodyPr wrap="square" rtlCol="0">
            <a:spAutoFit/>
          </a:bodyPr>
          <a:lstStyle/>
          <a:p>
            <a:pPr algn="ctr"/>
            <a:r>
              <a:rPr lang="en-US" sz="2800" dirty="0"/>
              <a:t>But know where to find me!</a:t>
            </a:r>
          </a:p>
        </p:txBody>
      </p:sp>
      <p:sp>
        <p:nvSpPr>
          <p:cNvPr id="12" name="Title 11">
            <a:extLst>
              <a:ext uri="{FF2B5EF4-FFF2-40B4-BE49-F238E27FC236}">
                <a16:creationId xmlns:a16="http://schemas.microsoft.com/office/drawing/2014/main" id="{59479A15-7EB5-0D48-A0E2-2E5379FDEDA9}"/>
              </a:ext>
              <a:ext uri="{C183D7F6-B498-43B3-948B-1728B52AA6E4}">
                <adec:decorative xmlns:adec="http://schemas.microsoft.com/office/drawing/2017/decorative" val="1"/>
              </a:ext>
            </a:extLst>
          </p:cNvPr>
          <p:cNvSpPr>
            <a:spLocks noGrp="1"/>
          </p:cNvSpPr>
          <p:nvPr>
            <p:ph type="title" idx="4294967295"/>
          </p:nvPr>
        </p:nvSpPr>
        <p:spPr>
          <a:xfrm>
            <a:off x="3505200" y="6077004"/>
            <a:ext cx="3429000" cy="638104"/>
          </a:xfrm>
          <a:solidFill>
            <a:srgbClr val="FF0000"/>
          </a:solidFill>
          <a:scene3d>
            <a:camera prst="orthographicFront"/>
            <a:lightRig rig="threePt" dir="t"/>
          </a:scene3d>
          <a:sp3d>
            <a:bevelT prst="angle"/>
          </a:sp3d>
        </p:spPr>
        <p:style>
          <a:lnRef idx="1">
            <a:schemeClr val="accent4"/>
          </a:lnRef>
          <a:fillRef idx="2">
            <a:schemeClr val="accent4"/>
          </a:fillRef>
          <a:effectRef idx="1">
            <a:schemeClr val="accent4"/>
          </a:effectRef>
          <a:fontRef idx="minor">
            <a:schemeClr val="dk1"/>
          </a:fontRef>
        </p:style>
        <p:txBody>
          <a:bodyPr/>
          <a:lstStyle/>
          <a:p>
            <a:r>
              <a:rPr lang="en-US" dirty="0">
                <a:solidFill>
                  <a:srgbClr val="FFFF00"/>
                </a:solidFill>
              </a:rPr>
              <a:t>Tech Expert</a:t>
            </a:r>
          </a:p>
        </p:txBody>
      </p:sp>
      <p:pic>
        <p:nvPicPr>
          <p:cNvPr id="7" name="Picture 6" descr="Drawing of man with dark brown hair, glasses with tape fixing them, suspenders, bow tie,  and a pocket protector, with tech expert underneath him. A red X covers him to indicate that you don't need to be a tech expert to help individuals with their tech needs - but your need to know where to find them if needed.">
            <a:extLst>
              <a:ext uri="{FF2B5EF4-FFF2-40B4-BE49-F238E27FC236}">
                <a16:creationId xmlns:a16="http://schemas.microsoft.com/office/drawing/2014/main" id="{FF03FE34-15EE-CA43-91B7-C6A6564A6236}"/>
              </a:ext>
              <a:ext uri="{C183D7F6-B498-43B3-948B-1728B52AA6E4}">
                <adec:decorative xmlns:adec="http://schemas.microsoft.com/office/drawing/2017/decorative" val="0"/>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14607" t="4494" r="15730" b="15730"/>
          <a:stretch/>
        </p:blipFill>
        <p:spPr>
          <a:xfrm>
            <a:off x="2645587" y="470349"/>
            <a:ext cx="4800600" cy="5497461"/>
          </a:xfrm>
          <a:prstGeom prst="rect">
            <a:avLst/>
          </a:prstGeom>
        </p:spPr>
      </p:pic>
      <p:cxnSp>
        <p:nvCxnSpPr>
          <p:cNvPr id="16" name="Straight Connector 15">
            <a:extLst>
              <a:ext uri="{FF2B5EF4-FFF2-40B4-BE49-F238E27FC236}">
                <a16:creationId xmlns:a16="http://schemas.microsoft.com/office/drawing/2014/main" id="{948E8C0A-9ED7-B842-BC65-6733E9059916}"/>
              </a:ext>
              <a:ext uri="{C183D7F6-B498-43B3-948B-1728B52AA6E4}">
                <adec:decorative xmlns:adec="http://schemas.microsoft.com/office/drawing/2017/decorative" val="1"/>
              </a:ext>
            </a:extLst>
          </p:cNvPr>
          <p:cNvCxnSpPr/>
          <p:nvPr/>
        </p:nvCxnSpPr>
        <p:spPr bwMode="auto">
          <a:xfrm flipV="1">
            <a:off x="2262447" y="606449"/>
            <a:ext cx="5259471" cy="5313959"/>
          </a:xfrm>
          <a:prstGeom prst="line">
            <a:avLst/>
          </a:prstGeom>
          <a:solidFill>
            <a:schemeClr val="accent1"/>
          </a:solidFill>
          <a:ln w="254000" cap="rnd" cmpd="sng" algn="ctr">
            <a:solidFill>
              <a:srgbClr val="FF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Connector 13">
            <a:extLst>
              <a:ext uri="{FF2B5EF4-FFF2-40B4-BE49-F238E27FC236}">
                <a16:creationId xmlns:a16="http://schemas.microsoft.com/office/drawing/2014/main" id="{87BEBDEA-1CA6-C344-9E94-77DAE3B6712C}"/>
              </a:ext>
              <a:ext uri="{C183D7F6-B498-43B3-948B-1728B52AA6E4}">
                <adec:decorative xmlns:adec="http://schemas.microsoft.com/office/drawing/2017/decorative" val="1"/>
              </a:ext>
            </a:extLst>
          </p:cNvPr>
          <p:cNvCxnSpPr/>
          <p:nvPr/>
        </p:nvCxnSpPr>
        <p:spPr bwMode="auto">
          <a:xfrm>
            <a:off x="2645587" y="497255"/>
            <a:ext cx="5448300" cy="5532348"/>
          </a:xfrm>
          <a:prstGeom prst="line">
            <a:avLst/>
          </a:prstGeom>
          <a:solidFill>
            <a:schemeClr val="accent1"/>
          </a:solidFill>
          <a:ln w="254000" cap="rnd" cmpd="sng" algn="ctr">
            <a:solidFill>
              <a:srgbClr val="FF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0" name="Rectangle 9">
            <a:extLs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sp>
        <p:nvSpPr>
          <p:cNvPr id="9" name="Slide Number Placeholder 4">
            <a:extLst>
              <a:ext uri="{FF2B5EF4-FFF2-40B4-BE49-F238E27FC236}">
                <a16:creationId xmlns:a16="http://schemas.microsoft.com/office/drawing/2014/main" id="{83B9E02F-9641-E24F-83BC-7E6E165D16AC}"/>
              </a:ext>
            </a:extLst>
          </p:cNvPr>
          <p:cNvSpPr txBox="1">
            <a:spLocks/>
          </p:cNvSpPr>
          <p:nvPr/>
        </p:nvSpPr>
        <p:spPr>
          <a:xfrm>
            <a:off x="8610600" y="6429304"/>
            <a:ext cx="457200" cy="457200"/>
          </a:xfrm>
          <a:prstGeom prst="rect">
            <a:avLst/>
          </a:prstGeom>
        </p:spPr>
        <p:txBody>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5pPr>
            <a:lvl6pPr marL="22860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6pPr>
            <a:lvl7pPr marL="27432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7pPr>
            <a:lvl8pPr marL="32004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8pPr>
            <a:lvl9pPr marL="36576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9pPr>
          </a:lstStyle>
          <a:p>
            <a:pPr>
              <a:defRPr/>
            </a:pPr>
            <a:fld id="{03796480-D029-B94F-BE73-D819B106F9C3}" type="slidenum">
              <a:rPr lang="en-US" altLang="en-US" sz="1400" smtClean="0"/>
              <a:pPr>
                <a:defRPr/>
              </a:pPr>
              <a:t>11</a:t>
            </a:fld>
            <a:endParaRPr lang="en-US" altLang="en-US" sz="1400" dirty="0"/>
          </a:p>
        </p:txBody>
      </p:sp>
    </p:spTree>
    <p:extLst>
      <p:ext uri="{BB962C8B-B14F-4D97-AF65-F5344CB8AC3E}">
        <p14:creationId xmlns:p14="http://schemas.microsoft.com/office/powerpoint/2010/main" val="419769742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000"/>
                                  </p:stCondLst>
                                  <p:childTnLst>
                                    <p:set>
                                      <p:cBhvr>
                                        <p:cTn id="9" dur="1" fill="hold">
                                          <p:stCondLst>
                                            <p:cond delay="0"/>
                                          </p:stCondLst>
                                        </p:cTn>
                                        <p:tgtEl>
                                          <p:spTgt spid="1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9"/>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81000" y="1905000"/>
            <a:ext cx="2857500" cy="3810000"/>
          </a:xfrm>
          <a:prstGeom prst="rect">
            <a:avLst/>
          </a:prstGeom>
        </p:spPr>
      </p:pic>
      <p:sp>
        <p:nvSpPr>
          <p:cNvPr id="3" name="Content Placeholder 2"/>
          <p:cNvSpPr>
            <a:spLocks noGrp="1"/>
          </p:cNvSpPr>
          <p:nvPr>
            <p:ph idx="1"/>
          </p:nvPr>
        </p:nvSpPr>
        <p:spPr>
          <a:xfrm>
            <a:off x="2057400" y="1981200"/>
            <a:ext cx="6934200" cy="3921275"/>
          </a:xfrm>
        </p:spPr>
        <p:txBody>
          <a:bodyPr/>
          <a:lstStyle/>
          <a:p>
            <a:pPr marL="0" indent="0">
              <a:buNone/>
            </a:pPr>
            <a:r>
              <a:rPr lang="en-US" sz="2400" b="0" dirty="0"/>
              <a:t>Empower staff</a:t>
            </a:r>
          </a:p>
          <a:p>
            <a:pPr marL="0" indent="0">
              <a:buNone/>
            </a:pPr>
            <a:endParaRPr lang="en-US" sz="2400" b="0" dirty="0"/>
          </a:p>
          <a:p>
            <a:pPr marL="0" indent="0">
              <a:buNone/>
            </a:pPr>
            <a:r>
              <a:rPr lang="en-US" sz="2400" b="0" dirty="0"/>
              <a:t>Build on existing strengths &amp; skills   </a:t>
            </a:r>
          </a:p>
          <a:p>
            <a:pPr marL="0" indent="0">
              <a:buNone/>
            </a:pPr>
            <a:endParaRPr lang="en-US" sz="2000" dirty="0"/>
          </a:p>
          <a:p>
            <a:pPr marL="0" indent="0">
              <a:buNone/>
            </a:pPr>
            <a:endParaRPr lang="en-US" sz="2000" dirty="0"/>
          </a:p>
          <a:p>
            <a:r>
              <a:rPr lang="en-US" sz="2000" dirty="0"/>
              <a:t>Person-centered</a:t>
            </a:r>
            <a:r>
              <a:rPr lang="en-US" sz="2000" b="0" dirty="0"/>
              <a:t> and </a:t>
            </a:r>
            <a:r>
              <a:rPr lang="en-US" sz="2000" dirty="0"/>
              <a:t>individualized</a:t>
            </a:r>
            <a:r>
              <a:rPr lang="en-US" sz="2000" b="0" dirty="0"/>
              <a:t> </a:t>
            </a:r>
          </a:p>
          <a:p>
            <a:pPr>
              <a:spcBef>
                <a:spcPts val="1080"/>
              </a:spcBef>
            </a:pPr>
            <a:r>
              <a:rPr lang="en-US" sz="2000" dirty="0"/>
              <a:t>Solution-focused </a:t>
            </a:r>
          </a:p>
          <a:p>
            <a:pPr>
              <a:spcBef>
                <a:spcPts val="1080"/>
              </a:spcBef>
            </a:pPr>
            <a:r>
              <a:rPr lang="en-US" sz="2000" dirty="0"/>
              <a:t>Self-determination </a:t>
            </a:r>
            <a:r>
              <a:rPr lang="en-US" sz="2000" b="0" dirty="0"/>
              <a:t>&amp; </a:t>
            </a:r>
            <a:r>
              <a:rPr lang="en-US" sz="2000" dirty="0"/>
              <a:t>skill development</a:t>
            </a:r>
          </a:p>
          <a:p>
            <a:pPr>
              <a:spcBef>
                <a:spcPts val="1080"/>
              </a:spcBef>
            </a:pPr>
            <a:r>
              <a:rPr lang="en-US" sz="2000" dirty="0"/>
              <a:t>Not all or nothing – </a:t>
            </a:r>
            <a:r>
              <a:rPr lang="en-US" sz="2000" b="0" dirty="0"/>
              <a:t>in combination with other supports </a:t>
            </a:r>
            <a:r>
              <a:rPr lang="en-US" sz="2000" dirty="0"/>
              <a:t> </a:t>
            </a:r>
          </a:p>
          <a:p>
            <a:pPr marL="0" indent="0">
              <a:buNone/>
            </a:pPr>
            <a:endParaRPr lang="en-US" sz="2000" dirty="0"/>
          </a:p>
        </p:txBody>
      </p:sp>
      <p:sp>
        <p:nvSpPr>
          <p:cNvPr id="2" name="Title 1"/>
          <p:cNvSpPr>
            <a:spLocks noGrp="1"/>
          </p:cNvSpPr>
          <p:nvPr>
            <p:ph type="title"/>
          </p:nvPr>
        </p:nvSpPr>
        <p:spPr>
          <a:xfrm>
            <a:off x="685800" y="533400"/>
            <a:ext cx="7772400" cy="866502"/>
          </a:xfrm>
          <a:effectLst>
            <a:glow rad="139700">
              <a:schemeClr val="accent4">
                <a:satMod val="175000"/>
                <a:alpha val="40000"/>
              </a:schemeClr>
            </a:glow>
          </a:effectLst>
        </p:spPr>
        <p:style>
          <a:lnRef idx="1">
            <a:schemeClr val="accent5"/>
          </a:lnRef>
          <a:fillRef idx="2">
            <a:schemeClr val="accent5"/>
          </a:fillRef>
          <a:effectRef idx="1">
            <a:schemeClr val="accent5"/>
          </a:effectRef>
          <a:fontRef idx="minor">
            <a:schemeClr val="dk1"/>
          </a:fontRef>
        </p:style>
        <p:txBody>
          <a:bodyPr/>
          <a:lstStyle/>
          <a:p>
            <a:r>
              <a:rPr lang="en-US" cap="small" dirty="0"/>
              <a:t>Approach to Technology </a:t>
            </a:r>
          </a:p>
        </p:txBody>
      </p:sp>
      <p:sp>
        <p:nvSpPr>
          <p:cNvPr id="6" name="Slide Number Placeholder 5">
            <a:extLst>
              <a:ext uri="{FF2B5EF4-FFF2-40B4-BE49-F238E27FC236}">
                <a16:creationId xmlns:a16="http://schemas.microsoft.com/office/drawing/2014/main" id="{0AA064D7-9FB4-A649-8667-DBBF04B1604C}"/>
              </a:ext>
            </a:extLst>
          </p:cNvPr>
          <p:cNvSpPr>
            <a:spLocks noGrp="1"/>
          </p:cNvSpPr>
          <p:nvPr>
            <p:ph type="sldNum" sz="quarter" idx="12"/>
          </p:nvPr>
        </p:nvSpPr>
        <p:spPr>
          <a:xfrm>
            <a:off x="8458200" y="6434769"/>
            <a:ext cx="1905000" cy="457200"/>
          </a:xfrm>
        </p:spPr>
        <p:txBody>
          <a:bodyPr/>
          <a:lstStyle/>
          <a:p>
            <a:pPr>
              <a:defRPr/>
            </a:pPr>
            <a:fld id="{F4F2C800-E6A5-EE47-9F5D-6559176AC179}" type="slidenum">
              <a:rPr lang="en-US" altLang="en-US" sz="1400" smtClean="0"/>
              <a:pPr>
                <a:defRPr/>
              </a:pPr>
              <a:t>12</a:t>
            </a:fld>
            <a:endParaRPr lang="en-US" altLang="en-US" sz="1400" dirty="0"/>
          </a:p>
        </p:txBody>
      </p:sp>
      <p:sp>
        <p:nvSpPr>
          <p:cNvPr id="10" name="Rectangle 9">
            <a:extLst>
              <a:ext uri="{C183D7F6-B498-43B3-948B-1728B52AA6E4}">
                <adec:decorative xmlns:adec="http://schemas.microsoft.com/office/drawing/2017/decorative" val="1"/>
              </a:ext>
            </a:extLst>
          </p:cNvPr>
          <p:cNvSpPr>
            <a:spLocks noChangeArrowheads="1"/>
          </p:cNvSpPr>
          <p:nvPr/>
        </p:nvSpPr>
        <p:spPr bwMode="auto">
          <a:xfrm>
            <a:off x="0" y="18473"/>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2206283826"/>
      </p:ext>
    </p:extLst>
  </p:cSld>
  <p:clrMapOvr>
    <a:masterClrMapping/>
  </p:clrMapOvr>
  <p:transition spd="slow">
    <p:wip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 name="Rectangle 53" descr="Technology Framework"/>
          <p:cNvSpPr/>
          <p:nvPr/>
        </p:nvSpPr>
        <p:spPr>
          <a:xfrm>
            <a:off x="0" y="393929"/>
            <a:ext cx="9144000" cy="749071"/>
          </a:xfrm>
          <a:prstGeom prst="rect">
            <a:avLst/>
          </a:prstGeom>
          <a:solidFill>
            <a:schemeClr val="bg1">
              <a:lumMod val="95000"/>
              <a:alpha val="99000"/>
            </a:schemeClr>
          </a:solidFill>
          <a:ln>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Rectangle 30">
            <a:extLst>
              <a:ext uri="{C183D7F6-B498-43B3-948B-1728B52AA6E4}">
                <adec:decorative xmlns:adec="http://schemas.microsoft.com/office/drawing/2017/decorative" val="1"/>
              </a:ext>
            </a:extLst>
          </p:cNvPr>
          <p:cNvSpPr/>
          <p:nvPr/>
        </p:nvSpPr>
        <p:spPr>
          <a:xfrm>
            <a:off x="-26691" y="152400"/>
            <a:ext cx="9144000" cy="56902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Freeform 28">
            <a:extLst>
              <a:ext uri="{C183D7F6-B498-43B3-948B-1728B52AA6E4}">
                <adec:decorative xmlns:adec="http://schemas.microsoft.com/office/drawing/2017/decorative" val="1"/>
              </a:ext>
            </a:extLst>
          </p:cNvPr>
          <p:cNvSpPr>
            <a:spLocks noEditPoints="1"/>
          </p:cNvSpPr>
          <p:nvPr/>
        </p:nvSpPr>
        <p:spPr bwMode="auto">
          <a:xfrm rot="5400000" flipH="1">
            <a:off x="1650512" y="3029837"/>
            <a:ext cx="2550345" cy="1369124"/>
          </a:xfrm>
          <a:custGeom>
            <a:avLst/>
            <a:gdLst>
              <a:gd name="T0" fmla="*/ 1748 w 1871"/>
              <a:gd name="T1" fmla="*/ 287 h 1020"/>
              <a:gd name="T2" fmla="*/ 1302 w 1871"/>
              <a:gd name="T3" fmla="*/ 287 h 1020"/>
              <a:gd name="T4" fmla="*/ 1286 w 1871"/>
              <a:gd name="T5" fmla="*/ 304 h 1020"/>
              <a:gd name="T6" fmla="*/ 924 w 1871"/>
              <a:gd name="T7" fmla="*/ 299 h 1020"/>
              <a:gd name="T8" fmla="*/ 924 w 1871"/>
              <a:gd name="T9" fmla="*/ 299 h 1020"/>
              <a:gd name="T10" fmla="*/ 844 w 1871"/>
              <a:gd name="T11" fmla="*/ 187 h 1020"/>
              <a:gd name="T12" fmla="*/ 839 w 1871"/>
              <a:gd name="T13" fmla="*/ 182 h 1020"/>
              <a:gd name="T14" fmla="*/ 182 w 1871"/>
              <a:gd name="T15" fmla="*/ 182 h 1020"/>
              <a:gd name="T16" fmla="*/ 182 w 1871"/>
              <a:gd name="T17" fmla="*/ 839 h 1020"/>
              <a:gd name="T18" fmla="*/ 839 w 1871"/>
              <a:gd name="T19" fmla="*/ 839 h 1020"/>
              <a:gd name="T20" fmla="*/ 929 w 1871"/>
              <a:gd name="T21" fmla="*/ 711 h 1020"/>
              <a:gd name="T22" fmla="*/ 1286 w 1871"/>
              <a:gd name="T23" fmla="*/ 716 h 1020"/>
              <a:gd name="T24" fmla="*/ 1302 w 1871"/>
              <a:gd name="T25" fmla="*/ 733 h 1020"/>
              <a:gd name="T26" fmla="*/ 1748 w 1871"/>
              <a:gd name="T27" fmla="*/ 733 h 1020"/>
              <a:gd name="T28" fmla="*/ 1748 w 1871"/>
              <a:gd name="T29" fmla="*/ 287 h 1020"/>
              <a:gd name="T30" fmla="*/ 506 w 1871"/>
              <a:gd name="T31" fmla="*/ 922 h 1020"/>
              <a:gd name="T32" fmla="*/ 96 w 1871"/>
              <a:gd name="T33" fmla="*/ 512 h 1020"/>
              <a:gd name="T34" fmla="*/ 506 w 1871"/>
              <a:gd name="T35" fmla="*/ 102 h 1020"/>
              <a:gd name="T36" fmla="*/ 916 w 1871"/>
              <a:gd name="T37" fmla="*/ 512 h 1020"/>
              <a:gd name="T38" fmla="*/ 506 w 1871"/>
              <a:gd name="T39" fmla="*/ 922 h 1020"/>
              <a:gd name="T40" fmla="*/ 1524 w 1871"/>
              <a:gd name="T41" fmla="*/ 778 h 1020"/>
              <a:gd name="T42" fmla="*/ 1260 w 1871"/>
              <a:gd name="T43" fmla="*/ 514 h 1020"/>
              <a:gd name="T44" fmla="*/ 1524 w 1871"/>
              <a:gd name="T45" fmla="*/ 250 h 1020"/>
              <a:gd name="T46" fmla="*/ 1788 w 1871"/>
              <a:gd name="T47" fmla="*/ 514 h 1020"/>
              <a:gd name="T48" fmla="*/ 1524 w 1871"/>
              <a:gd name="T49" fmla="*/ 778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1" h="1020">
                <a:moveTo>
                  <a:pt x="1748" y="287"/>
                </a:moveTo>
                <a:cubicBezTo>
                  <a:pt x="1625" y="164"/>
                  <a:pt x="1425" y="164"/>
                  <a:pt x="1302" y="287"/>
                </a:cubicBezTo>
                <a:cubicBezTo>
                  <a:pt x="1296" y="293"/>
                  <a:pt x="1291" y="298"/>
                  <a:pt x="1286" y="304"/>
                </a:cubicBezTo>
                <a:cubicBezTo>
                  <a:pt x="1122" y="415"/>
                  <a:pt x="949" y="315"/>
                  <a:pt x="924" y="299"/>
                </a:cubicBezTo>
                <a:cubicBezTo>
                  <a:pt x="924" y="299"/>
                  <a:pt x="924" y="299"/>
                  <a:pt x="924" y="299"/>
                </a:cubicBezTo>
                <a:cubicBezTo>
                  <a:pt x="904" y="259"/>
                  <a:pt x="877" y="221"/>
                  <a:pt x="844" y="187"/>
                </a:cubicBezTo>
                <a:cubicBezTo>
                  <a:pt x="842" y="185"/>
                  <a:pt x="840" y="183"/>
                  <a:pt x="839" y="182"/>
                </a:cubicBezTo>
                <a:cubicBezTo>
                  <a:pt x="657" y="0"/>
                  <a:pt x="363" y="0"/>
                  <a:pt x="182" y="182"/>
                </a:cubicBezTo>
                <a:cubicBezTo>
                  <a:pt x="0" y="363"/>
                  <a:pt x="0" y="657"/>
                  <a:pt x="182" y="839"/>
                </a:cubicBezTo>
                <a:cubicBezTo>
                  <a:pt x="363" y="1020"/>
                  <a:pt x="657" y="1020"/>
                  <a:pt x="839" y="839"/>
                </a:cubicBezTo>
                <a:cubicBezTo>
                  <a:pt x="877" y="800"/>
                  <a:pt x="907" y="757"/>
                  <a:pt x="929" y="711"/>
                </a:cubicBezTo>
                <a:cubicBezTo>
                  <a:pt x="1087" y="607"/>
                  <a:pt x="1252" y="696"/>
                  <a:pt x="1286" y="716"/>
                </a:cubicBezTo>
                <a:cubicBezTo>
                  <a:pt x="1291" y="722"/>
                  <a:pt x="1296" y="727"/>
                  <a:pt x="1302" y="733"/>
                </a:cubicBezTo>
                <a:cubicBezTo>
                  <a:pt x="1425" y="856"/>
                  <a:pt x="1625" y="856"/>
                  <a:pt x="1748" y="733"/>
                </a:cubicBezTo>
                <a:cubicBezTo>
                  <a:pt x="1871" y="610"/>
                  <a:pt x="1871" y="410"/>
                  <a:pt x="1748" y="287"/>
                </a:cubicBezTo>
                <a:close/>
                <a:moveTo>
                  <a:pt x="506" y="922"/>
                </a:moveTo>
                <a:cubicBezTo>
                  <a:pt x="280" y="922"/>
                  <a:pt x="96" y="738"/>
                  <a:pt x="96" y="512"/>
                </a:cubicBezTo>
                <a:cubicBezTo>
                  <a:pt x="96" y="286"/>
                  <a:pt x="280" y="102"/>
                  <a:pt x="506" y="102"/>
                </a:cubicBezTo>
                <a:cubicBezTo>
                  <a:pt x="732" y="102"/>
                  <a:pt x="916" y="286"/>
                  <a:pt x="916" y="512"/>
                </a:cubicBezTo>
                <a:cubicBezTo>
                  <a:pt x="916" y="738"/>
                  <a:pt x="732" y="922"/>
                  <a:pt x="506" y="922"/>
                </a:cubicBezTo>
                <a:close/>
                <a:moveTo>
                  <a:pt x="1524" y="778"/>
                </a:moveTo>
                <a:cubicBezTo>
                  <a:pt x="1378" y="778"/>
                  <a:pt x="1260" y="660"/>
                  <a:pt x="1260" y="514"/>
                </a:cubicBezTo>
                <a:cubicBezTo>
                  <a:pt x="1260" y="368"/>
                  <a:pt x="1378" y="250"/>
                  <a:pt x="1524" y="250"/>
                </a:cubicBezTo>
                <a:cubicBezTo>
                  <a:pt x="1670" y="250"/>
                  <a:pt x="1788" y="368"/>
                  <a:pt x="1788" y="514"/>
                </a:cubicBezTo>
                <a:cubicBezTo>
                  <a:pt x="1788" y="660"/>
                  <a:pt x="1670" y="778"/>
                  <a:pt x="1524" y="778"/>
                </a:cubicBezTo>
                <a:close/>
              </a:path>
            </a:pathLst>
          </a:custGeom>
          <a:solidFill>
            <a:schemeClr val="tx1">
              <a:lumMod val="65000"/>
              <a:lumOff val="35000"/>
            </a:schemeClr>
          </a:solidFill>
          <a:ln w="22225" cap="flat">
            <a:noFill/>
            <a:prstDash val="solid"/>
            <a:miter lim="800000"/>
            <a:headEnd/>
            <a:tailEnd/>
          </a:ln>
          <a:effectLst>
            <a:outerShdw blurRad="38100" dist="25400" dir="7740000" algn="tr" rotWithShape="0">
              <a:prstClr val="black">
                <a:alpha val="40000"/>
              </a:prstClr>
            </a:outerShdw>
          </a:effectLst>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Calibri"/>
              <a:ea typeface="Geneva" panose="020B0503030404040204" pitchFamily="34" charset="0"/>
              <a:cs typeface="+mn-cs"/>
            </a:endParaRPr>
          </a:p>
        </p:txBody>
      </p:sp>
      <p:sp>
        <p:nvSpPr>
          <p:cNvPr id="8" name="Freeform 28">
            <a:extLst>
              <a:ext uri="{C183D7F6-B498-43B3-948B-1728B52AA6E4}">
                <adec:decorative xmlns:adec="http://schemas.microsoft.com/office/drawing/2017/decorative" val="1"/>
              </a:ext>
            </a:extLst>
          </p:cNvPr>
          <p:cNvSpPr>
            <a:spLocks noEditPoints="1"/>
          </p:cNvSpPr>
          <p:nvPr/>
        </p:nvSpPr>
        <p:spPr bwMode="auto">
          <a:xfrm rot="10800000" flipH="1">
            <a:off x="3197563" y="1251559"/>
            <a:ext cx="2550345" cy="1369124"/>
          </a:xfrm>
          <a:custGeom>
            <a:avLst/>
            <a:gdLst>
              <a:gd name="T0" fmla="*/ 1748 w 1871"/>
              <a:gd name="T1" fmla="*/ 287 h 1020"/>
              <a:gd name="T2" fmla="*/ 1302 w 1871"/>
              <a:gd name="T3" fmla="*/ 287 h 1020"/>
              <a:gd name="T4" fmla="*/ 1286 w 1871"/>
              <a:gd name="T5" fmla="*/ 304 h 1020"/>
              <a:gd name="T6" fmla="*/ 924 w 1871"/>
              <a:gd name="T7" fmla="*/ 299 h 1020"/>
              <a:gd name="T8" fmla="*/ 924 w 1871"/>
              <a:gd name="T9" fmla="*/ 299 h 1020"/>
              <a:gd name="T10" fmla="*/ 844 w 1871"/>
              <a:gd name="T11" fmla="*/ 187 h 1020"/>
              <a:gd name="T12" fmla="*/ 839 w 1871"/>
              <a:gd name="T13" fmla="*/ 182 h 1020"/>
              <a:gd name="T14" fmla="*/ 182 w 1871"/>
              <a:gd name="T15" fmla="*/ 182 h 1020"/>
              <a:gd name="T16" fmla="*/ 182 w 1871"/>
              <a:gd name="T17" fmla="*/ 839 h 1020"/>
              <a:gd name="T18" fmla="*/ 839 w 1871"/>
              <a:gd name="T19" fmla="*/ 839 h 1020"/>
              <a:gd name="T20" fmla="*/ 929 w 1871"/>
              <a:gd name="T21" fmla="*/ 711 h 1020"/>
              <a:gd name="T22" fmla="*/ 1286 w 1871"/>
              <a:gd name="T23" fmla="*/ 716 h 1020"/>
              <a:gd name="T24" fmla="*/ 1302 w 1871"/>
              <a:gd name="T25" fmla="*/ 733 h 1020"/>
              <a:gd name="T26" fmla="*/ 1748 w 1871"/>
              <a:gd name="T27" fmla="*/ 733 h 1020"/>
              <a:gd name="T28" fmla="*/ 1748 w 1871"/>
              <a:gd name="T29" fmla="*/ 287 h 1020"/>
              <a:gd name="T30" fmla="*/ 506 w 1871"/>
              <a:gd name="T31" fmla="*/ 922 h 1020"/>
              <a:gd name="T32" fmla="*/ 96 w 1871"/>
              <a:gd name="T33" fmla="*/ 512 h 1020"/>
              <a:gd name="T34" fmla="*/ 506 w 1871"/>
              <a:gd name="T35" fmla="*/ 102 h 1020"/>
              <a:gd name="T36" fmla="*/ 916 w 1871"/>
              <a:gd name="T37" fmla="*/ 512 h 1020"/>
              <a:gd name="T38" fmla="*/ 506 w 1871"/>
              <a:gd name="T39" fmla="*/ 922 h 1020"/>
              <a:gd name="T40" fmla="*/ 1524 w 1871"/>
              <a:gd name="T41" fmla="*/ 778 h 1020"/>
              <a:gd name="T42" fmla="*/ 1260 w 1871"/>
              <a:gd name="T43" fmla="*/ 514 h 1020"/>
              <a:gd name="T44" fmla="*/ 1524 w 1871"/>
              <a:gd name="T45" fmla="*/ 250 h 1020"/>
              <a:gd name="T46" fmla="*/ 1788 w 1871"/>
              <a:gd name="T47" fmla="*/ 514 h 1020"/>
              <a:gd name="T48" fmla="*/ 1524 w 1871"/>
              <a:gd name="T49" fmla="*/ 778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1" h="1020">
                <a:moveTo>
                  <a:pt x="1748" y="287"/>
                </a:moveTo>
                <a:cubicBezTo>
                  <a:pt x="1625" y="164"/>
                  <a:pt x="1425" y="164"/>
                  <a:pt x="1302" y="287"/>
                </a:cubicBezTo>
                <a:cubicBezTo>
                  <a:pt x="1296" y="293"/>
                  <a:pt x="1291" y="298"/>
                  <a:pt x="1286" y="304"/>
                </a:cubicBezTo>
                <a:cubicBezTo>
                  <a:pt x="1122" y="415"/>
                  <a:pt x="949" y="315"/>
                  <a:pt x="924" y="299"/>
                </a:cubicBezTo>
                <a:cubicBezTo>
                  <a:pt x="924" y="299"/>
                  <a:pt x="924" y="299"/>
                  <a:pt x="924" y="299"/>
                </a:cubicBezTo>
                <a:cubicBezTo>
                  <a:pt x="904" y="259"/>
                  <a:pt x="877" y="221"/>
                  <a:pt x="844" y="187"/>
                </a:cubicBezTo>
                <a:cubicBezTo>
                  <a:pt x="842" y="185"/>
                  <a:pt x="840" y="183"/>
                  <a:pt x="839" y="182"/>
                </a:cubicBezTo>
                <a:cubicBezTo>
                  <a:pt x="657" y="0"/>
                  <a:pt x="363" y="0"/>
                  <a:pt x="182" y="182"/>
                </a:cubicBezTo>
                <a:cubicBezTo>
                  <a:pt x="0" y="363"/>
                  <a:pt x="0" y="657"/>
                  <a:pt x="182" y="839"/>
                </a:cubicBezTo>
                <a:cubicBezTo>
                  <a:pt x="363" y="1020"/>
                  <a:pt x="657" y="1020"/>
                  <a:pt x="839" y="839"/>
                </a:cubicBezTo>
                <a:cubicBezTo>
                  <a:pt x="877" y="800"/>
                  <a:pt x="907" y="757"/>
                  <a:pt x="929" y="711"/>
                </a:cubicBezTo>
                <a:cubicBezTo>
                  <a:pt x="1087" y="607"/>
                  <a:pt x="1252" y="696"/>
                  <a:pt x="1286" y="716"/>
                </a:cubicBezTo>
                <a:cubicBezTo>
                  <a:pt x="1291" y="722"/>
                  <a:pt x="1296" y="727"/>
                  <a:pt x="1302" y="733"/>
                </a:cubicBezTo>
                <a:cubicBezTo>
                  <a:pt x="1425" y="856"/>
                  <a:pt x="1625" y="856"/>
                  <a:pt x="1748" y="733"/>
                </a:cubicBezTo>
                <a:cubicBezTo>
                  <a:pt x="1871" y="610"/>
                  <a:pt x="1871" y="410"/>
                  <a:pt x="1748" y="287"/>
                </a:cubicBezTo>
                <a:close/>
                <a:moveTo>
                  <a:pt x="506" y="922"/>
                </a:moveTo>
                <a:cubicBezTo>
                  <a:pt x="280" y="922"/>
                  <a:pt x="96" y="738"/>
                  <a:pt x="96" y="512"/>
                </a:cubicBezTo>
                <a:cubicBezTo>
                  <a:pt x="96" y="286"/>
                  <a:pt x="280" y="102"/>
                  <a:pt x="506" y="102"/>
                </a:cubicBezTo>
                <a:cubicBezTo>
                  <a:pt x="732" y="102"/>
                  <a:pt x="916" y="286"/>
                  <a:pt x="916" y="512"/>
                </a:cubicBezTo>
                <a:cubicBezTo>
                  <a:pt x="916" y="738"/>
                  <a:pt x="732" y="922"/>
                  <a:pt x="506" y="922"/>
                </a:cubicBezTo>
                <a:close/>
                <a:moveTo>
                  <a:pt x="1524" y="778"/>
                </a:moveTo>
                <a:cubicBezTo>
                  <a:pt x="1378" y="778"/>
                  <a:pt x="1260" y="660"/>
                  <a:pt x="1260" y="514"/>
                </a:cubicBezTo>
                <a:cubicBezTo>
                  <a:pt x="1260" y="368"/>
                  <a:pt x="1378" y="250"/>
                  <a:pt x="1524" y="250"/>
                </a:cubicBezTo>
                <a:cubicBezTo>
                  <a:pt x="1670" y="250"/>
                  <a:pt x="1788" y="368"/>
                  <a:pt x="1788" y="514"/>
                </a:cubicBezTo>
                <a:cubicBezTo>
                  <a:pt x="1788" y="660"/>
                  <a:pt x="1670" y="778"/>
                  <a:pt x="1524" y="778"/>
                </a:cubicBezTo>
                <a:close/>
              </a:path>
            </a:pathLst>
          </a:custGeom>
          <a:solidFill>
            <a:schemeClr val="tx1">
              <a:lumMod val="65000"/>
              <a:lumOff val="35000"/>
            </a:schemeClr>
          </a:solidFill>
          <a:ln w="22225" cap="flat">
            <a:noFill/>
            <a:prstDash val="solid"/>
            <a:miter lim="800000"/>
            <a:headEnd/>
            <a:tailEnd/>
          </a:ln>
          <a:effectLst>
            <a:outerShdw blurRad="38100" dist="25400" dir="7740000" algn="tr" rotWithShape="0">
              <a:prstClr val="black">
                <a:alpha val="40000"/>
              </a:prstClr>
            </a:outerShdw>
          </a:effectLst>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Calibri"/>
              <a:ea typeface="Geneva" panose="020B0503030404040204" pitchFamily="34" charset="0"/>
              <a:cs typeface="+mn-cs"/>
            </a:endParaRPr>
          </a:p>
        </p:txBody>
      </p:sp>
      <p:sp>
        <p:nvSpPr>
          <p:cNvPr id="10" name="Freeform 28">
            <a:extLst>
              <a:ext uri="{C183D7F6-B498-43B3-948B-1728B52AA6E4}">
                <adec:decorative xmlns:adec="http://schemas.microsoft.com/office/drawing/2017/decorative" val="1"/>
              </a:ext>
            </a:extLst>
          </p:cNvPr>
          <p:cNvSpPr>
            <a:spLocks noEditPoints="1"/>
          </p:cNvSpPr>
          <p:nvPr/>
        </p:nvSpPr>
        <p:spPr bwMode="auto">
          <a:xfrm rot="16200000" flipH="1">
            <a:off x="4971990" y="2800412"/>
            <a:ext cx="2550345" cy="1369124"/>
          </a:xfrm>
          <a:custGeom>
            <a:avLst/>
            <a:gdLst>
              <a:gd name="T0" fmla="*/ 1748 w 1871"/>
              <a:gd name="T1" fmla="*/ 287 h 1020"/>
              <a:gd name="T2" fmla="*/ 1302 w 1871"/>
              <a:gd name="T3" fmla="*/ 287 h 1020"/>
              <a:gd name="T4" fmla="*/ 1286 w 1871"/>
              <a:gd name="T5" fmla="*/ 304 h 1020"/>
              <a:gd name="T6" fmla="*/ 924 w 1871"/>
              <a:gd name="T7" fmla="*/ 299 h 1020"/>
              <a:gd name="T8" fmla="*/ 924 w 1871"/>
              <a:gd name="T9" fmla="*/ 299 h 1020"/>
              <a:gd name="T10" fmla="*/ 844 w 1871"/>
              <a:gd name="T11" fmla="*/ 187 h 1020"/>
              <a:gd name="T12" fmla="*/ 839 w 1871"/>
              <a:gd name="T13" fmla="*/ 182 h 1020"/>
              <a:gd name="T14" fmla="*/ 182 w 1871"/>
              <a:gd name="T15" fmla="*/ 182 h 1020"/>
              <a:gd name="T16" fmla="*/ 182 w 1871"/>
              <a:gd name="T17" fmla="*/ 839 h 1020"/>
              <a:gd name="T18" fmla="*/ 839 w 1871"/>
              <a:gd name="T19" fmla="*/ 839 h 1020"/>
              <a:gd name="T20" fmla="*/ 929 w 1871"/>
              <a:gd name="T21" fmla="*/ 711 h 1020"/>
              <a:gd name="T22" fmla="*/ 1286 w 1871"/>
              <a:gd name="T23" fmla="*/ 716 h 1020"/>
              <a:gd name="T24" fmla="*/ 1302 w 1871"/>
              <a:gd name="T25" fmla="*/ 733 h 1020"/>
              <a:gd name="T26" fmla="*/ 1748 w 1871"/>
              <a:gd name="T27" fmla="*/ 733 h 1020"/>
              <a:gd name="T28" fmla="*/ 1748 w 1871"/>
              <a:gd name="T29" fmla="*/ 287 h 1020"/>
              <a:gd name="T30" fmla="*/ 506 w 1871"/>
              <a:gd name="T31" fmla="*/ 922 h 1020"/>
              <a:gd name="T32" fmla="*/ 96 w 1871"/>
              <a:gd name="T33" fmla="*/ 512 h 1020"/>
              <a:gd name="T34" fmla="*/ 506 w 1871"/>
              <a:gd name="T35" fmla="*/ 102 h 1020"/>
              <a:gd name="T36" fmla="*/ 916 w 1871"/>
              <a:gd name="T37" fmla="*/ 512 h 1020"/>
              <a:gd name="T38" fmla="*/ 506 w 1871"/>
              <a:gd name="T39" fmla="*/ 922 h 1020"/>
              <a:gd name="T40" fmla="*/ 1524 w 1871"/>
              <a:gd name="T41" fmla="*/ 778 h 1020"/>
              <a:gd name="T42" fmla="*/ 1260 w 1871"/>
              <a:gd name="T43" fmla="*/ 514 h 1020"/>
              <a:gd name="T44" fmla="*/ 1524 w 1871"/>
              <a:gd name="T45" fmla="*/ 250 h 1020"/>
              <a:gd name="T46" fmla="*/ 1788 w 1871"/>
              <a:gd name="T47" fmla="*/ 514 h 1020"/>
              <a:gd name="T48" fmla="*/ 1524 w 1871"/>
              <a:gd name="T49" fmla="*/ 778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1" h="1020">
                <a:moveTo>
                  <a:pt x="1748" y="287"/>
                </a:moveTo>
                <a:cubicBezTo>
                  <a:pt x="1625" y="164"/>
                  <a:pt x="1425" y="164"/>
                  <a:pt x="1302" y="287"/>
                </a:cubicBezTo>
                <a:cubicBezTo>
                  <a:pt x="1296" y="293"/>
                  <a:pt x="1291" y="298"/>
                  <a:pt x="1286" y="304"/>
                </a:cubicBezTo>
                <a:cubicBezTo>
                  <a:pt x="1122" y="415"/>
                  <a:pt x="949" y="315"/>
                  <a:pt x="924" y="299"/>
                </a:cubicBezTo>
                <a:cubicBezTo>
                  <a:pt x="924" y="299"/>
                  <a:pt x="924" y="299"/>
                  <a:pt x="924" y="299"/>
                </a:cubicBezTo>
                <a:cubicBezTo>
                  <a:pt x="904" y="259"/>
                  <a:pt x="877" y="221"/>
                  <a:pt x="844" y="187"/>
                </a:cubicBezTo>
                <a:cubicBezTo>
                  <a:pt x="842" y="185"/>
                  <a:pt x="840" y="183"/>
                  <a:pt x="839" y="182"/>
                </a:cubicBezTo>
                <a:cubicBezTo>
                  <a:pt x="657" y="0"/>
                  <a:pt x="363" y="0"/>
                  <a:pt x="182" y="182"/>
                </a:cubicBezTo>
                <a:cubicBezTo>
                  <a:pt x="0" y="363"/>
                  <a:pt x="0" y="657"/>
                  <a:pt x="182" y="839"/>
                </a:cubicBezTo>
                <a:cubicBezTo>
                  <a:pt x="363" y="1020"/>
                  <a:pt x="657" y="1020"/>
                  <a:pt x="839" y="839"/>
                </a:cubicBezTo>
                <a:cubicBezTo>
                  <a:pt x="877" y="800"/>
                  <a:pt x="907" y="757"/>
                  <a:pt x="929" y="711"/>
                </a:cubicBezTo>
                <a:cubicBezTo>
                  <a:pt x="1087" y="607"/>
                  <a:pt x="1252" y="696"/>
                  <a:pt x="1286" y="716"/>
                </a:cubicBezTo>
                <a:cubicBezTo>
                  <a:pt x="1291" y="722"/>
                  <a:pt x="1296" y="727"/>
                  <a:pt x="1302" y="733"/>
                </a:cubicBezTo>
                <a:cubicBezTo>
                  <a:pt x="1425" y="856"/>
                  <a:pt x="1625" y="856"/>
                  <a:pt x="1748" y="733"/>
                </a:cubicBezTo>
                <a:cubicBezTo>
                  <a:pt x="1871" y="610"/>
                  <a:pt x="1871" y="410"/>
                  <a:pt x="1748" y="287"/>
                </a:cubicBezTo>
                <a:close/>
                <a:moveTo>
                  <a:pt x="506" y="922"/>
                </a:moveTo>
                <a:cubicBezTo>
                  <a:pt x="280" y="922"/>
                  <a:pt x="96" y="738"/>
                  <a:pt x="96" y="512"/>
                </a:cubicBezTo>
                <a:cubicBezTo>
                  <a:pt x="96" y="286"/>
                  <a:pt x="280" y="102"/>
                  <a:pt x="506" y="102"/>
                </a:cubicBezTo>
                <a:cubicBezTo>
                  <a:pt x="732" y="102"/>
                  <a:pt x="916" y="286"/>
                  <a:pt x="916" y="512"/>
                </a:cubicBezTo>
                <a:cubicBezTo>
                  <a:pt x="916" y="738"/>
                  <a:pt x="732" y="922"/>
                  <a:pt x="506" y="922"/>
                </a:cubicBezTo>
                <a:close/>
                <a:moveTo>
                  <a:pt x="1524" y="778"/>
                </a:moveTo>
                <a:cubicBezTo>
                  <a:pt x="1378" y="778"/>
                  <a:pt x="1260" y="660"/>
                  <a:pt x="1260" y="514"/>
                </a:cubicBezTo>
                <a:cubicBezTo>
                  <a:pt x="1260" y="368"/>
                  <a:pt x="1378" y="250"/>
                  <a:pt x="1524" y="250"/>
                </a:cubicBezTo>
                <a:cubicBezTo>
                  <a:pt x="1670" y="250"/>
                  <a:pt x="1788" y="368"/>
                  <a:pt x="1788" y="514"/>
                </a:cubicBezTo>
                <a:cubicBezTo>
                  <a:pt x="1788" y="660"/>
                  <a:pt x="1670" y="778"/>
                  <a:pt x="1524" y="778"/>
                </a:cubicBezTo>
                <a:close/>
              </a:path>
            </a:pathLst>
          </a:custGeom>
          <a:solidFill>
            <a:schemeClr val="tx1">
              <a:lumMod val="65000"/>
              <a:lumOff val="35000"/>
            </a:schemeClr>
          </a:solidFill>
          <a:ln w="22225" cap="flat">
            <a:noFill/>
            <a:prstDash val="solid"/>
            <a:miter lim="800000"/>
            <a:headEnd/>
            <a:tailEnd/>
          </a:ln>
          <a:effectLst>
            <a:outerShdw blurRad="38100" dist="25400" dir="7740000" algn="tr" rotWithShape="0">
              <a:prstClr val="black">
                <a:alpha val="40000"/>
              </a:prstClr>
            </a:outerShdw>
          </a:effectLst>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Calibri"/>
              <a:ea typeface="Geneva" panose="020B0503030404040204" pitchFamily="34" charset="0"/>
              <a:cs typeface="+mn-cs"/>
            </a:endParaRPr>
          </a:p>
        </p:txBody>
      </p:sp>
      <p:sp>
        <p:nvSpPr>
          <p:cNvPr id="4" name="Freeform 28">
            <a:extLst>
              <a:ext uri="{C183D7F6-B498-43B3-948B-1728B52AA6E4}">
                <adec:decorative xmlns:adec="http://schemas.microsoft.com/office/drawing/2017/decorative" val="1"/>
              </a:ext>
            </a:extLst>
          </p:cNvPr>
          <p:cNvSpPr>
            <a:spLocks noEditPoints="1"/>
          </p:cNvSpPr>
          <p:nvPr/>
        </p:nvSpPr>
        <p:spPr bwMode="auto">
          <a:xfrm flipH="1">
            <a:off x="3420909" y="4606986"/>
            <a:ext cx="2550345" cy="1369124"/>
          </a:xfrm>
          <a:custGeom>
            <a:avLst/>
            <a:gdLst>
              <a:gd name="T0" fmla="*/ 1748 w 1871"/>
              <a:gd name="T1" fmla="*/ 287 h 1020"/>
              <a:gd name="T2" fmla="*/ 1302 w 1871"/>
              <a:gd name="T3" fmla="*/ 287 h 1020"/>
              <a:gd name="T4" fmla="*/ 1286 w 1871"/>
              <a:gd name="T5" fmla="*/ 304 h 1020"/>
              <a:gd name="T6" fmla="*/ 924 w 1871"/>
              <a:gd name="T7" fmla="*/ 299 h 1020"/>
              <a:gd name="T8" fmla="*/ 924 w 1871"/>
              <a:gd name="T9" fmla="*/ 299 h 1020"/>
              <a:gd name="T10" fmla="*/ 844 w 1871"/>
              <a:gd name="T11" fmla="*/ 187 h 1020"/>
              <a:gd name="T12" fmla="*/ 839 w 1871"/>
              <a:gd name="T13" fmla="*/ 182 h 1020"/>
              <a:gd name="T14" fmla="*/ 182 w 1871"/>
              <a:gd name="T15" fmla="*/ 182 h 1020"/>
              <a:gd name="T16" fmla="*/ 182 w 1871"/>
              <a:gd name="T17" fmla="*/ 839 h 1020"/>
              <a:gd name="T18" fmla="*/ 839 w 1871"/>
              <a:gd name="T19" fmla="*/ 839 h 1020"/>
              <a:gd name="T20" fmla="*/ 929 w 1871"/>
              <a:gd name="T21" fmla="*/ 711 h 1020"/>
              <a:gd name="T22" fmla="*/ 1286 w 1871"/>
              <a:gd name="T23" fmla="*/ 716 h 1020"/>
              <a:gd name="T24" fmla="*/ 1302 w 1871"/>
              <a:gd name="T25" fmla="*/ 733 h 1020"/>
              <a:gd name="T26" fmla="*/ 1748 w 1871"/>
              <a:gd name="T27" fmla="*/ 733 h 1020"/>
              <a:gd name="T28" fmla="*/ 1748 w 1871"/>
              <a:gd name="T29" fmla="*/ 287 h 1020"/>
              <a:gd name="T30" fmla="*/ 506 w 1871"/>
              <a:gd name="T31" fmla="*/ 922 h 1020"/>
              <a:gd name="T32" fmla="*/ 96 w 1871"/>
              <a:gd name="T33" fmla="*/ 512 h 1020"/>
              <a:gd name="T34" fmla="*/ 506 w 1871"/>
              <a:gd name="T35" fmla="*/ 102 h 1020"/>
              <a:gd name="T36" fmla="*/ 916 w 1871"/>
              <a:gd name="T37" fmla="*/ 512 h 1020"/>
              <a:gd name="T38" fmla="*/ 506 w 1871"/>
              <a:gd name="T39" fmla="*/ 922 h 1020"/>
              <a:gd name="T40" fmla="*/ 1524 w 1871"/>
              <a:gd name="T41" fmla="*/ 778 h 1020"/>
              <a:gd name="T42" fmla="*/ 1260 w 1871"/>
              <a:gd name="T43" fmla="*/ 514 h 1020"/>
              <a:gd name="T44" fmla="*/ 1524 w 1871"/>
              <a:gd name="T45" fmla="*/ 250 h 1020"/>
              <a:gd name="T46" fmla="*/ 1788 w 1871"/>
              <a:gd name="T47" fmla="*/ 514 h 1020"/>
              <a:gd name="T48" fmla="*/ 1524 w 1871"/>
              <a:gd name="T49" fmla="*/ 778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1" h="1020">
                <a:moveTo>
                  <a:pt x="1748" y="287"/>
                </a:moveTo>
                <a:cubicBezTo>
                  <a:pt x="1625" y="164"/>
                  <a:pt x="1425" y="164"/>
                  <a:pt x="1302" y="287"/>
                </a:cubicBezTo>
                <a:cubicBezTo>
                  <a:pt x="1296" y="293"/>
                  <a:pt x="1291" y="298"/>
                  <a:pt x="1286" y="304"/>
                </a:cubicBezTo>
                <a:cubicBezTo>
                  <a:pt x="1122" y="415"/>
                  <a:pt x="949" y="315"/>
                  <a:pt x="924" y="299"/>
                </a:cubicBezTo>
                <a:cubicBezTo>
                  <a:pt x="924" y="299"/>
                  <a:pt x="924" y="299"/>
                  <a:pt x="924" y="299"/>
                </a:cubicBezTo>
                <a:cubicBezTo>
                  <a:pt x="904" y="259"/>
                  <a:pt x="877" y="221"/>
                  <a:pt x="844" y="187"/>
                </a:cubicBezTo>
                <a:cubicBezTo>
                  <a:pt x="842" y="185"/>
                  <a:pt x="840" y="183"/>
                  <a:pt x="839" y="182"/>
                </a:cubicBezTo>
                <a:cubicBezTo>
                  <a:pt x="657" y="0"/>
                  <a:pt x="363" y="0"/>
                  <a:pt x="182" y="182"/>
                </a:cubicBezTo>
                <a:cubicBezTo>
                  <a:pt x="0" y="363"/>
                  <a:pt x="0" y="657"/>
                  <a:pt x="182" y="839"/>
                </a:cubicBezTo>
                <a:cubicBezTo>
                  <a:pt x="363" y="1020"/>
                  <a:pt x="657" y="1020"/>
                  <a:pt x="839" y="839"/>
                </a:cubicBezTo>
                <a:cubicBezTo>
                  <a:pt x="877" y="800"/>
                  <a:pt x="907" y="757"/>
                  <a:pt x="929" y="711"/>
                </a:cubicBezTo>
                <a:cubicBezTo>
                  <a:pt x="1087" y="607"/>
                  <a:pt x="1252" y="696"/>
                  <a:pt x="1286" y="716"/>
                </a:cubicBezTo>
                <a:cubicBezTo>
                  <a:pt x="1291" y="722"/>
                  <a:pt x="1296" y="727"/>
                  <a:pt x="1302" y="733"/>
                </a:cubicBezTo>
                <a:cubicBezTo>
                  <a:pt x="1425" y="856"/>
                  <a:pt x="1625" y="856"/>
                  <a:pt x="1748" y="733"/>
                </a:cubicBezTo>
                <a:cubicBezTo>
                  <a:pt x="1871" y="610"/>
                  <a:pt x="1871" y="410"/>
                  <a:pt x="1748" y="287"/>
                </a:cubicBezTo>
                <a:close/>
                <a:moveTo>
                  <a:pt x="506" y="922"/>
                </a:moveTo>
                <a:cubicBezTo>
                  <a:pt x="280" y="922"/>
                  <a:pt x="96" y="738"/>
                  <a:pt x="96" y="512"/>
                </a:cubicBezTo>
                <a:cubicBezTo>
                  <a:pt x="96" y="286"/>
                  <a:pt x="280" y="102"/>
                  <a:pt x="506" y="102"/>
                </a:cubicBezTo>
                <a:cubicBezTo>
                  <a:pt x="732" y="102"/>
                  <a:pt x="916" y="286"/>
                  <a:pt x="916" y="512"/>
                </a:cubicBezTo>
                <a:cubicBezTo>
                  <a:pt x="916" y="738"/>
                  <a:pt x="732" y="922"/>
                  <a:pt x="506" y="922"/>
                </a:cubicBezTo>
                <a:close/>
                <a:moveTo>
                  <a:pt x="1524" y="778"/>
                </a:moveTo>
                <a:cubicBezTo>
                  <a:pt x="1378" y="778"/>
                  <a:pt x="1260" y="660"/>
                  <a:pt x="1260" y="514"/>
                </a:cubicBezTo>
                <a:cubicBezTo>
                  <a:pt x="1260" y="368"/>
                  <a:pt x="1378" y="250"/>
                  <a:pt x="1524" y="250"/>
                </a:cubicBezTo>
                <a:cubicBezTo>
                  <a:pt x="1670" y="250"/>
                  <a:pt x="1788" y="368"/>
                  <a:pt x="1788" y="514"/>
                </a:cubicBezTo>
                <a:cubicBezTo>
                  <a:pt x="1788" y="660"/>
                  <a:pt x="1670" y="778"/>
                  <a:pt x="1524" y="778"/>
                </a:cubicBezTo>
                <a:close/>
              </a:path>
            </a:pathLst>
          </a:custGeom>
          <a:solidFill>
            <a:schemeClr val="tx1">
              <a:lumMod val="65000"/>
              <a:lumOff val="35000"/>
            </a:schemeClr>
          </a:solidFill>
          <a:ln w="22225" cap="flat">
            <a:noFill/>
            <a:prstDash val="solid"/>
            <a:miter lim="800000"/>
            <a:headEnd/>
            <a:tailEnd/>
          </a:ln>
          <a:effectLst>
            <a:outerShdw blurRad="38100" dist="25400" dir="7740000" algn="tr" rotWithShape="0">
              <a:prstClr val="black">
                <a:alpha val="40000"/>
              </a:prstClr>
            </a:outerShdw>
          </a:effectLst>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Calibri"/>
              <a:ea typeface="Geneva" panose="020B0503030404040204" pitchFamily="34" charset="0"/>
              <a:cs typeface="+mn-cs"/>
            </a:endParaRPr>
          </a:p>
        </p:txBody>
      </p:sp>
      <p:sp>
        <p:nvSpPr>
          <p:cNvPr id="6" name="Freeform 28">
            <a:extLst>
              <a:ext uri="{C183D7F6-B498-43B3-948B-1728B52AA6E4}">
                <adec:decorative xmlns:adec="http://schemas.microsoft.com/office/drawing/2017/decorative" val="1"/>
              </a:ext>
            </a:extLst>
          </p:cNvPr>
          <p:cNvSpPr>
            <a:spLocks noEditPoints="1"/>
          </p:cNvSpPr>
          <p:nvPr/>
        </p:nvSpPr>
        <p:spPr bwMode="auto">
          <a:xfrm rot="2700000" flipH="1">
            <a:off x="2203310" y="4178096"/>
            <a:ext cx="2550345" cy="1369124"/>
          </a:xfrm>
          <a:custGeom>
            <a:avLst/>
            <a:gdLst>
              <a:gd name="T0" fmla="*/ 1748 w 1871"/>
              <a:gd name="T1" fmla="*/ 287 h 1020"/>
              <a:gd name="T2" fmla="*/ 1302 w 1871"/>
              <a:gd name="T3" fmla="*/ 287 h 1020"/>
              <a:gd name="T4" fmla="*/ 1286 w 1871"/>
              <a:gd name="T5" fmla="*/ 304 h 1020"/>
              <a:gd name="T6" fmla="*/ 924 w 1871"/>
              <a:gd name="T7" fmla="*/ 299 h 1020"/>
              <a:gd name="T8" fmla="*/ 924 w 1871"/>
              <a:gd name="T9" fmla="*/ 299 h 1020"/>
              <a:gd name="T10" fmla="*/ 844 w 1871"/>
              <a:gd name="T11" fmla="*/ 187 h 1020"/>
              <a:gd name="T12" fmla="*/ 839 w 1871"/>
              <a:gd name="T13" fmla="*/ 182 h 1020"/>
              <a:gd name="T14" fmla="*/ 182 w 1871"/>
              <a:gd name="T15" fmla="*/ 182 h 1020"/>
              <a:gd name="T16" fmla="*/ 182 w 1871"/>
              <a:gd name="T17" fmla="*/ 839 h 1020"/>
              <a:gd name="T18" fmla="*/ 839 w 1871"/>
              <a:gd name="T19" fmla="*/ 839 h 1020"/>
              <a:gd name="T20" fmla="*/ 929 w 1871"/>
              <a:gd name="T21" fmla="*/ 711 h 1020"/>
              <a:gd name="T22" fmla="*/ 1286 w 1871"/>
              <a:gd name="T23" fmla="*/ 716 h 1020"/>
              <a:gd name="T24" fmla="*/ 1302 w 1871"/>
              <a:gd name="T25" fmla="*/ 733 h 1020"/>
              <a:gd name="T26" fmla="*/ 1748 w 1871"/>
              <a:gd name="T27" fmla="*/ 733 h 1020"/>
              <a:gd name="T28" fmla="*/ 1748 w 1871"/>
              <a:gd name="T29" fmla="*/ 287 h 1020"/>
              <a:gd name="T30" fmla="*/ 506 w 1871"/>
              <a:gd name="T31" fmla="*/ 922 h 1020"/>
              <a:gd name="T32" fmla="*/ 96 w 1871"/>
              <a:gd name="T33" fmla="*/ 512 h 1020"/>
              <a:gd name="T34" fmla="*/ 506 w 1871"/>
              <a:gd name="T35" fmla="*/ 102 h 1020"/>
              <a:gd name="T36" fmla="*/ 916 w 1871"/>
              <a:gd name="T37" fmla="*/ 512 h 1020"/>
              <a:gd name="T38" fmla="*/ 506 w 1871"/>
              <a:gd name="T39" fmla="*/ 922 h 1020"/>
              <a:gd name="T40" fmla="*/ 1524 w 1871"/>
              <a:gd name="T41" fmla="*/ 778 h 1020"/>
              <a:gd name="T42" fmla="*/ 1260 w 1871"/>
              <a:gd name="T43" fmla="*/ 514 h 1020"/>
              <a:gd name="T44" fmla="*/ 1524 w 1871"/>
              <a:gd name="T45" fmla="*/ 250 h 1020"/>
              <a:gd name="T46" fmla="*/ 1788 w 1871"/>
              <a:gd name="T47" fmla="*/ 514 h 1020"/>
              <a:gd name="T48" fmla="*/ 1524 w 1871"/>
              <a:gd name="T49" fmla="*/ 778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1" h="1020">
                <a:moveTo>
                  <a:pt x="1748" y="287"/>
                </a:moveTo>
                <a:cubicBezTo>
                  <a:pt x="1625" y="164"/>
                  <a:pt x="1425" y="164"/>
                  <a:pt x="1302" y="287"/>
                </a:cubicBezTo>
                <a:cubicBezTo>
                  <a:pt x="1296" y="293"/>
                  <a:pt x="1291" y="298"/>
                  <a:pt x="1286" y="304"/>
                </a:cubicBezTo>
                <a:cubicBezTo>
                  <a:pt x="1122" y="415"/>
                  <a:pt x="949" y="315"/>
                  <a:pt x="924" y="299"/>
                </a:cubicBezTo>
                <a:cubicBezTo>
                  <a:pt x="924" y="299"/>
                  <a:pt x="924" y="299"/>
                  <a:pt x="924" y="299"/>
                </a:cubicBezTo>
                <a:cubicBezTo>
                  <a:pt x="904" y="259"/>
                  <a:pt x="877" y="221"/>
                  <a:pt x="844" y="187"/>
                </a:cubicBezTo>
                <a:cubicBezTo>
                  <a:pt x="842" y="185"/>
                  <a:pt x="840" y="183"/>
                  <a:pt x="839" y="182"/>
                </a:cubicBezTo>
                <a:cubicBezTo>
                  <a:pt x="657" y="0"/>
                  <a:pt x="363" y="0"/>
                  <a:pt x="182" y="182"/>
                </a:cubicBezTo>
                <a:cubicBezTo>
                  <a:pt x="0" y="363"/>
                  <a:pt x="0" y="657"/>
                  <a:pt x="182" y="839"/>
                </a:cubicBezTo>
                <a:cubicBezTo>
                  <a:pt x="363" y="1020"/>
                  <a:pt x="657" y="1020"/>
                  <a:pt x="839" y="839"/>
                </a:cubicBezTo>
                <a:cubicBezTo>
                  <a:pt x="877" y="800"/>
                  <a:pt x="907" y="757"/>
                  <a:pt x="929" y="711"/>
                </a:cubicBezTo>
                <a:cubicBezTo>
                  <a:pt x="1087" y="607"/>
                  <a:pt x="1252" y="696"/>
                  <a:pt x="1286" y="716"/>
                </a:cubicBezTo>
                <a:cubicBezTo>
                  <a:pt x="1291" y="722"/>
                  <a:pt x="1296" y="727"/>
                  <a:pt x="1302" y="733"/>
                </a:cubicBezTo>
                <a:cubicBezTo>
                  <a:pt x="1425" y="856"/>
                  <a:pt x="1625" y="856"/>
                  <a:pt x="1748" y="733"/>
                </a:cubicBezTo>
                <a:cubicBezTo>
                  <a:pt x="1871" y="610"/>
                  <a:pt x="1871" y="410"/>
                  <a:pt x="1748" y="287"/>
                </a:cubicBezTo>
                <a:close/>
                <a:moveTo>
                  <a:pt x="506" y="922"/>
                </a:moveTo>
                <a:cubicBezTo>
                  <a:pt x="280" y="922"/>
                  <a:pt x="96" y="738"/>
                  <a:pt x="96" y="512"/>
                </a:cubicBezTo>
                <a:cubicBezTo>
                  <a:pt x="96" y="286"/>
                  <a:pt x="280" y="102"/>
                  <a:pt x="506" y="102"/>
                </a:cubicBezTo>
                <a:cubicBezTo>
                  <a:pt x="732" y="102"/>
                  <a:pt x="916" y="286"/>
                  <a:pt x="916" y="512"/>
                </a:cubicBezTo>
                <a:cubicBezTo>
                  <a:pt x="916" y="738"/>
                  <a:pt x="732" y="922"/>
                  <a:pt x="506" y="922"/>
                </a:cubicBezTo>
                <a:close/>
                <a:moveTo>
                  <a:pt x="1524" y="778"/>
                </a:moveTo>
                <a:cubicBezTo>
                  <a:pt x="1378" y="778"/>
                  <a:pt x="1260" y="660"/>
                  <a:pt x="1260" y="514"/>
                </a:cubicBezTo>
                <a:cubicBezTo>
                  <a:pt x="1260" y="368"/>
                  <a:pt x="1378" y="250"/>
                  <a:pt x="1524" y="250"/>
                </a:cubicBezTo>
                <a:cubicBezTo>
                  <a:pt x="1670" y="250"/>
                  <a:pt x="1788" y="368"/>
                  <a:pt x="1788" y="514"/>
                </a:cubicBezTo>
                <a:cubicBezTo>
                  <a:pt x="1788" y="660"/>
                  <a:pt x="1670" y="778"/>
                  <a:pt x="1524" y="778"/>
                </a:cubicBezTo>
                <a:close/>
              </a:path>
            </a:pathLst>
          </a:custGeom>
          <a:solidFill>
            <a:schemeClr val="accent1">
              <a:lumMod val="75000"/>
            </a:schemeClr>
          </a:solidFill>
          <a:ln w="22225" cap="flat">
            <a:noFill/>
            <a:prstDash val="solid"/>
            <a:miter lim="800000"/>
            <a:headEnd/>
            <a:tailEnd/>
          </a:ln>
          <a:effectLst>
            <a:outerShdw blurRad="38100" dist="25400" dir="7740000" algn="tr" rotWithShape="0">
              <a:prstClr val="black">
                <a:alpha val="40000"/>
              </a:prstClr>
            </a:outerShdw>
          </a:effectLst>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Calibri"/>
              <a:ea typeface="Geneva" panose="020B0503030404040204" pitchFamily="34" charset="0"/>
              <a:cs typeface="+mn-cs"/>
            </a:endParaRPr>
          </a:p>
        </p:txBody>
      </p:sp>
      <p:sp>
        <p:nvSpPr>
          <p:cNvPr id="9" name="Freeform 28">
            <a:extLst>
              <a:ext uri="{C183D7F6-B498-43B3-948B-1728B52AA6E4}">
                <adec:decorative xmlns:adec="http://schemas.microsoft.com/office/drawing/2017/decorative" val="1"/>
              </a:ext>
            </a:extLst>
          </p:cNvPr>
          <p:cNvSpPr>
            <a:spLocks noEditPoints="1"/>
          </p:cNvSpPr>
          <p:nvPr/>
        </p:nvSpPr>
        <p:spPr bwMode="auto">
          <a:xfrm rot="13500000" flipH="1">
            <a:off x="4414141" y="1815896"/>
            <a:ext cx="2550345" cy="1369124"/>
          </a:xfrm>
          <a:custGeom>
            <a:avLst/>
            <a:gdLst>
              <a:gd name="T0" fmla="*/ 1748 w 1871"/>
              <a:gd name="T1" fmla="*/ 287 h 1020"/>
              <a:gd name="T2" fmla="*/ 1302 w 1871"/>
              <a:gd name="T3" fmla="*/ 287 h 1020"/>
              <a:gd name="T4" fmla="*/ 1286 w 1871"/>
              <a:gd name="T5" fmla="*/ 304 h 1020"/>
              <a:gd name="T6" fmla="*/ 924 w 1871"/>
              <a:gd name="T7" fmla="*/ 299 h 1020"/>
              <a:gd name="T8" fmla="*/ 924 w 1871"/>
              <a:gd name="T9" fmla="*/ 299 h 1020"/>
              <a:gd name="T10" fmla="*/ 844 w 1871"/>
              <a:gd name="T11" fmla="*/ 187 h 1020"/>
              <a:gd name="T12" fmla="*/ 839 w 1871"/>
              <a:gd name="T13" fmla="*/ 182 h 1020"/>
              <a:gd name="T14" fmla="*/ 182 w 1871"/>
              <a:gd name="T15" fmla="*/ 182 h 1020"/>
              <a:gd name="T16" fmla="*/ 182 w 1871"/>
              <a:gd name="T17" fmla="*/ 839 h 1020"/>
              <a:gd name="T18" fmla="*/ 839 w 1871"/>
              <a:gd name="T19" fmla="*/ 839 h 1020"/>
              <a:gd name="T20" fmla="*/ 929 w 1871"/>
              <a:gd name="T21" fmla="*/ 711 h 1020"/>
              <a:gd name="T22" fmla="*/ 1286 w 1871"/>
              <a:gd name="T23" fmla="*/ 716 h 1020"/>
              <a:gd name="T24" fmla="*/ 1302 w 1871"/>
              <a:gd name="T25" fmla="*/ 733 h 1020"/>
              <a:gd name="T26" fmla="*/ 1748 w 1871"/>
              <a:gd name="T27" fmla="*/ 733 h 1020"/>
              <a:gd name="T28" fmla="*/ 1748 w 1871"/>
              <a:gd name="T29" fmla="*/ 287 h 1020"/>
              <a:gd name="T30" fmla="*/ 506 w 1871"/>
              <a:gd name="T31" fmla="*/ 922 h 1020"/>
              <a:gd name="T32" fmla="*/ 96 w 1871"/>
              <a:gd name="T33" fmla="*/ 512 h 1020"/>
              <a:gd name="T34" fmla="*/ 506 w 1871"/>
              <a:gd name="T35" fmla="*/ 102 h 1020"/>
              <a:gd name="T36" fmla="*/ 916 w 1871"/>
              <a:gd name="T37" fmla="*/ 512 h 1020"/>
              <a:gd name="T38" fmla="*/ 506 w 1871"/>
              <a:gd name="T39" fmla="*/ 922 h 1020"/>
              <a:gd name="T40" fmla="*/ 1524 w 1871"/>
              <a:gd name="T41" fmla="*/ 778 h 1020"/>
              <a:gd name="T42" fmla="*/ 1260 w 1871"/>
              <a:gd name="T43" fmla="*/ 514 h 1020"/>
              <a:gd name="T44" fmla="*/ 1524 w 1871"/>
              <a:gd name="T45" fmla="*/ 250 h 1020"/>
              <a:gd name="T46" fmla="*/ 1788 w 1871"/>
              <a:gd name="T47" fmla="*/ 514 h 1020"/>
              <a:gd name="T48" fmla="*/ 1524 w 1871"/>
              <a:gd name="T49" fmla="*/ 778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1" h="1020">
                <a:moveTo>
                  <a:pt x="1748" y="287"/>
                </a:moveTo>
                <a:cubicBezTo>
                  <a:pt x="1625" y="164"/>
                  <a:pt x="1425" y="164"/>
                  <a:pt x="1302" y="287"/>
                </a:cubicBezTo>
                <a:cubicBezTo>
                  <a:pt x="1296" y="293"/>
                  <a:pt x="1291" y="298"/>
                  <a:pt x="1286" y="304"/>
                </a:cubicBezTo>
                <a:cubicBezTo>
                  <a:pt x="1122" y="415"/>
                  <a:pt x="949" y="315"/>
                  <a:pt x="924" y="299"/>
                </a:cubicBezTo>
                <a:cubicBezTo>
                  <a:pt x="924" y="299"/>
                  <a:pt x="924" y="299"/>
                  <a:pt x="924" y="299"/>
                </a:cubicBezTo>
                <a:cubicBezTo>
                  <a:pt x="904" y="259"/>
                  <a:pt x="877" y="221"/>
                  <a:pt x="844" y="187"/>
                </a:cubicBezTo>
                <a:cubicBezTo>
                  <a:pt x="842" y="185"/>
                  <a:pt x="840" y="183"/>
                  <a:pt x="839" y="182"/>
                </a:cubicBezTo>
                <a:cubicBezTo>
                  <a:pt x="657" y="0"/>
                  <a:pt x="363" y="0"/>
                  <a:pt x="182" y="182"/>
                </a:cubicBezTo>
                <a:cubicBezTo>
                  <a:pt x="0" y="363"/>
                  <a:pt x="0" y="657"/>
                  <a:pt x="182" y="839"/>
                </a:cubicBezTo>
                <a:cubicBezTo>
                  <a:pt x="363" y="1020"/>
                  <a:pt x="657" y="1020"/>
                  <a:pt x="839" y="839"/>
                </a:cubicBezTo>
                <a:cubicBezTo>
                  <a:pt x="877" y="800"/>
                  <a:pt x="907" y="757"/>
                  <a:pt x="929" y="711"/>
                </a:cubicBezTo>
                <a:cubicBezTo>
                  <a:pt x="1087" y="607"/>
                  <a:pt x="1252" y="696"/>
                  <a:pt x="1286" y="716"/>
                </a:cubicBezTo>
                <a:cubicBezTo>
                  <a:pt x="1291" y="722"/>
                  <a:pt x="1296" y="727"/>
                  <a:pt x="1302" y="733"/>
                </a:cubicBezTo>
                <a:cubicBezTo>
                  <a:pt x="1425" y="856"/>
                  <a:pt x="1625" y="856"/>
                  <a:pt x="1748" y="733"/>
                </a:cubicBezTo>
                <a:cubicBezTo>
                  <a:pt x="1871" y="610"/>
                  <a:pt x="1871" y="410"/>
                  <a:pt x="1748" y="287"/>
                </a:cubicBezTo>
                <a:close/>
                <a:moveTo>
                  <a:pt x="506" y="922"/>
                </a:moveTo>
                <a:cubicBezTo>
                  <a:pt x="280" y="922"/>
                  <a:pt x="96" y="738"/>
                  <a:pt x="96" y="512"/>
                </a:cubicBezTo>
                <a:cubicBezTo>
                  <a:pt x="96" y="286"/>
                  <a:pt x="280" y="102"/>
                  <a:pt x="506" y="102"/>
                </a:cubicBezTo>
                <a:cubicBezTo>
                  <a:pt x="732" y="102"/>
                  <a:pt x="916" y="286"/>
                  <a:pt x="916" y="512"/>
                </a:cubicBezTo>
                <a:cubicBezTo>
                  <a:pt x="916" y="738"/>
                  <a:pt x="732" y="922"/>
                  <a:pt x="506" y="922"/>
                </a:cubicBezTo>
                <a:close/>
                <a:moveTo>
                  <a:pt x="1524" y="778"/>
                </a:moveTo>
                <a:cubicBezTo>
                  <a:pt x="1378" y="778"/>
                  <a:pt x="1260" y="660"/>
                  <a:pt x="1260" y="514"/>
                </a:cubicBezTo>
                <a:cubicBezTo>
                  <a:pt x="1260" y="368"/>
                  <a:pt x="1378" y="250"/>
                  <a:pt x="1524" y="250"/>
                </a:cubicBezTo>
                <a:cubicBezTo>
                  <a:pt x="1670" y="250"/>
                  <a:pt x="1788" y="368"/>
                  <a:pt x="1788" y="514"/>
                </a:cubicBezTo>
                <a:cubicBezTo>
                  <a:pt x="1788" y="660"/>
                  <a:pt x="1670" y="778"/>
                  <a:pt x="1524" y="778"/>
                </a:cubicBezTo>
                <a:close/>
              </a:path>
            </a:pathLst>
          </a:custGeom>
          <a:solidFill>
            <a:schemeClr val="accent2">
              <a:lumMod val="75000"/>
            </a:schemeClr>
          </a:solidFill>
          <a:ln w="22225" cap="flat">
            <a:noFill/>
            <a:prstDash val="solid"/>
            <a:miter lim="800000"/>
            <a:headEnd/>
            <a:tailEnd/>
          </a:ln>
          <a:effectLst>
            <a:outerShdw blurRad="38100" dist="25400" dir="7740000" algn="tr" rotWithShape="0">
              <a:prstClr val="black">
                <a:alpha val="40000"/>
              </a:prstClr>
            </a:outerShdw>
          </a:effectLst>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Calibri"/>
              <a:ea typeface="Geneva" panose="020B0503030404040204" pitchFamily="34" charset="0"/>
              <a:cs typeface="+mn-cs"/>
            </a:endParaRPr>
          </a:p>
        </p:txBody>
      </p:sp>
      <p:sp>
        <p:nvSpPr>
          <p:cNvPr id="11" name="Freeform 28">
            <a:extLst>
              <a:ext uri="{C183D7F6-B498-43B3-948B-1728B52AA6E4}">
                <adec:decorative xmlns:adec="http://schemas.microsoft.com/office/drawing/2017/decorative" val="1"/>
              </a:ext>
            </a:extLst>
          </p:cNvPr>
          <p:cNvSpPr>
            <a:spLocks noEditPoints="1"/>
          </p:cNvSpPr>
          <p:nvPr/>
        </p:nvSpPr>
        <p:spPr bwMode="auto">
          <a:xfrm rot="18792584" flipH="1">
            <a:off x="4561883" y="4165725"/>
            <a:ext cx="2550345" cy="1369124"/>
          </a:xfrm>
          <a:custGeom>
            <a:avLst/>
            <a:gdLst>
              <a:gd name="T0" fmla="*/ 1748 w 1871"/>
              <a:gd name="T1" fmla="*/ 287 h 1020"/>
              <a:gd name="T2" fmla="*/ 1302 w 1871"/>
              <a:gd name="T3" fmla="*/ 287 h 1020"/>
              <a:gd name="T4" fmla="*/ 1286 w 1871"/>
              <a:gd name="T5" fmla="*/ 304 h 1020"/>
              <a:gd name="T6" fmla="*/ 924 w 1871"/>
              <a:gd name="T7" fmla="*/ 299 h 1020"/>
              <a:gd name="T8" fmla="*/ 924 w 1871"/>
              <a:gd name="T9" fmla="*/ 299 h 1020"/>
              <a:gd name="T10" fmla="*/ 844 w 1871"/>
              <a:gd name="T11" fmla="*/ 187 h 1020"/>
              <a:gd name="T12" fmla="*/ 839 w 1871"/>
              <a:gd name="T13" fmla="*/ 182 h 1020"/>
              <a:gd name="T14" fmla="*/ 182 w 1871"/>
              <a:gd name="T15" fmla="*/ 182 h 1020"/>
              <a:gd name="T16" fmla="*/ 182 w 1871"/>
              <a:gd name="T17" fmla="*/ 839 h 1020"/>
              <a:gd name="T18" fmla="*/ 839 w 1871"/>
              <a:gd name="T19" fmla="*/ 839 h 1020"/>
              <a:gd name="T20" fmla="*/ 929 w 1871"/>
              <a:gd name="T21" fmla="*/ 711 h 1020"/>
              <a:gd name="T22" fmla="*/ 1286 w 1871"/>
              <a:gd name="T23" fmla="*/ 716 h 1020"/>
              <a:gd name="T24" fmla="*/ 1302 w 1871"/>
              <a:gd name="T25" fmla="*/ 733 h 1020"/>
              <a:gd name="T26" fmla="*/ 1748 w 1871"/>
              <a:gd name="T27" fmla="*/ 733 h 1020"/>
              <a:gd name="T28" fmla="*/ 1748 w 1871"/>
              <a:gd name="T29" fmla="*/ 287 h 1020"/>
              <a:gd name="T30" fmla="*/ 506 w 1871"/>
              <a:gd name="T31" fmla="*/ 922 h 1020"/>
              <a:gd name="T32" fmla="*/ 96 w 1871"/>
              <a:gd name="T33" fmla="*/ 512 h 1020"/>
              <a:gd name="T34" fmla="*/ 506 w 1871"/>
              <a:gd name="T35" fmla="*/ 102 h 1020"/>
              <a:gd name="T36" fmla="*/ 916 w 1871"/>
              <a:gd name="T37" fmla="*/ 512 h 1020"/>
              <a:gd name="T38" fmla="*/ 506 w 1871"/>
              <a:gd name="T39" fmla="*/ 922 h 1020"/>
              <a:gd name="T40" fmla="*/ 1524 w 1871"/>
              <a:gd name="T41" fmla="*/ 778 h 1020"/>
              <a:gd name="T42" fmla="*/ 1260 w 1871"/>
              <a:gd name="T43" fmla="*/ 514 h 1020"/>
              <a:gd name="T44" fmla="*/ 1524 w 1871"/>
              <a:gd name="T45" fmla="*/ 250 h 1020"/>
              <a:gd name="T46" fmla="*/ 1788 w 1871"/>
              <a:gd name="T47" fmla="*/ 514 h 1020"/>
              <a:gd name="T48" fmla="*/ 1524 w 1871"/>
              <a:gd name="T49" fmla="*/ 778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1" h="1020">
                <a:moveTo>
                  <a:pt x="1748" y="287"/>
                </a:moveTo>
                <a:cubicBezTo>
                  <a:pt x="1625" y="164"/>
                  <a:pt x="1425" y="164"/>
                  <a:pt x="1302" y="287"/>
                </a:cubicBezTo>
                <a:cubicBezTo>
                  <a:pt x="1296" y="293"/>
                  <a:pt x="1291" y="298"/>
                  <a:pt x="1286" y="304"/>
                </a:cubicBezTo>
                <a:cubicBezTo>
                  <a:pt x="1122" y="415"/>
                  <a:pt x="949" y="315"/>
                  <a:pt x="924" y="299"/>
                </a:cubicBezTo>
                <a:cubicBezTo>
                  <a:pt x="924" y="299"/>
                  <a:pt x="924" y="299"/>
                  <a:pt x="924" y="299"/>
                </a:cubicBezTo>
                <a:cubicBezTo>
                  <a:pt x="904" y="259"/>
                  <a:pt x="877" y="221"/>
                  <a:pt x="844" y="187"/>
                </a:cubicBezTo>
                <a:cubicBezTo>
                  <a:pt x="842" y="185"/>
                  <a:pt x="840" y="183"/>
                  <a:pt x="839" y="182"/>
                </a:cubicBezTo>
                <a:cubicBezTo>
                  <a:pt x="657" y="0"/>
                  <a:pt x="363" y="0"/>
                  <a:pt x="182" y="182"/>
                </a:cubicBezTo>
                <a:cubicBezTo>
                  <a:pt x="0" y="363"/>
                  <a:pt x="0" y="657"/>
                  <a:pt x="182" y="839"/>
                </a:cubicBezTo>
                <a:cubicBezTo>
                  <a:pt x="363" y="1020"/>
                  <a:pt x="657" y="1020"/>
                  <a:pt x="839" y="839"/>
                </a:cubicBezTo>
                <a:cubicBezTo>
                  <a:pt x="877" y="800"/>
                  <a:pt x="907" y="757"/>
                  <a:pt x="929" y="711"/>
                </a:cubicBezTo>
                <a:cubicBezTo>
                  <a:pt x="1087" y="607"/>
                  <a:pt x="1252" y="696"/>
                  <a:pt x="1286" y="716"/>
                </a:cubicBezTo>
                <a:cubicBezTo>
                  <a:pt x="1291" y="722"/>
                  <a:pt x="1296" y="727"/>
                  <a:pt x="1302" y="733"/>
                </a:cubicBezTo>
                <a:cubicBezTo>
                  <a:pt x="1425" y="856"/>
                  <a:pt x="1625" y="856"/>
                  <a:pt x="1748" y="733"/>
                </a:cubicBezTo>
                <a:cubicBezTo>
                  <a:pt x="1871" y="610"/>
                  <a:pt x="1871" y="410"/>
                  <a:pt x="1748" y="287"/>
                </a:cubicBezTo>
                <a:close/>
                <a:moveTo>
                  <a:pt x="506" y="922"/>
                </a:moveTo>
                <a:cubicBezTo>
                  <a:pt x="280" y="922"/>
                  <a:pt x="96" y="738"/>
                  <a:pt x="96" y="512"/>
                </a:cubicBezTo>
                <a:cubicBezTo>
                  <a:pt x="96" y="286"/>
                  <a:pt x="280" y="102"/>
                  <a:pt x="506" y="102"/>
                </a:cubicBezTo>
                <a:cubicBezTo>
                  <a:pt x="732" y="102"/>
                  <a:pt x="916" y="286"/>
                  <a:pt x="916" y="512"/>
                </a:cubicBezTo>
                <a:cubicBezTo>
                  <a:pt x="916" y="738"/>
                  <a:pt x="732" y="922"/>
                  <a:pt x="506" y="922"/>
                </a:cubicBezTo>
                <a:close/>
                <a:moveTo>
                  <a:pt x="1524" y="778"/>
                </a:moveTo>
                <a:cubicBezTo>
                  <a:pt x="1378" y="778"/>
                  <a:pt x="1260" y="660"/>
                  <a:pt x="1260" y="514"/>
                </a:cubicBezTo>
                <a:cubicBezTo>
                  <a:pt x="1260" y="368"/>
                  <a:pt x="1378" y="250"/>
                  <a:pt x="1524" y="250"/>
                </a:cubicBezTo>
                <a:cubicBezTo>
                  <a:pt x="1670" y="250"/>
                  <a:pt x="1788" y="368"/>
                  <a:pt x="1788" y="514"/>
                </a:cubicBezTo>
                <a:cubicBezTo>
                  <a:pt x="1788" y="660"/>
                  <a:pt x="1670" y="778"/>
                  <a:pt x="1524" y="778"/>
                </a:cubicBezTo>
                <a:close/>
              </a:path>
            </a:pathLst>
          </a:custGeom>
          <a:solidFill>
            <a:schemeClr val="accent6">
              <a:lumMod val="75000"/>
            </a:schemeClr>
          </a:solidFill>
          <a:ln w="22225" cap="flat">
            <a:noFill/>
            <a:prstDash val="solid"/>
            <a:miter lim="800000"/>
            <a:headEnd/>
            <a:tailEnd/>
          </a:ln>
          <a:effectLst>
            <a:outerShdw blurRad="38100" dist="25400" dir="7740000" algn="tr" rotWithShape="0">
              <a:prstClr val="black">
                <a:alpha val="40000"/>
              </a:prstClr>
            </a:outerShdw>
          </a:effectLst>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Calibri"/>
              <a:ea typeface="Geneva" panose="020B0503030404040204" pitchFamily="34" charset="0"/>
              <a:cs typeface="+mn-cs"/>
            </a:endParaRPr>
          </a:p>
        </p:txBody>
      </p:sp>
      <p:sp>
        <p:nvSpPr>
          <p:cNvPr id="7" name="Freeform 28">
            <a:extLst>
              <a:ext uri="{C183D7F6-B498-43B3-948B-1728B52AA6E4}">
                <adec:decorative xmlns:adec="http://schemas.microsoft.com/office/drawing/2017/decorative" val="1"/>
              </a:ext>
            </a:extLst>
          </p:cNvPr>
          <p:cNvSpPr>
            <a:spLocks noEditPoints="1"/>
          </p:cNvSpPr>
          <p:nvPr/>
        </p:nvSpPr>
        <p:spPr bwMode="auto">
          <a:xfrm rot="8100000" flipH="1">
            <a:off x="2057401" y="2044496"/>
            <a:ext cx="2550345" cy="1369124"/>
          </a:xfrm>
          <a:custGeom>
            <a:avLst/>
            <a:gdLst>
              <a:gd name="T0" fmla="*/ 1748 w 1871"/>
              <a:gd name="T1" fmla="*/ 287 h 1020"/>
              <a:gd name="T2" fmla="*/ 1302 w 1871"/>
              <a:gd name="T3" fmla="*/ 287 h 1020"/>
              <a:gd name="T4" fmla="*/ 1286 w 1871"/>
              <a:gd name="T5" fmla="*/ 304 h 1020"/>
              <a:gd name="T6" fmla="*/ 924 w 1871"/>
              <a:gd name="T7" fmla="*/ 299 h 1020"/>
              <a:gd name="T8" fmla="*/ 924 w 1871"/>
              <a:gd name="T9" fmla="*/ 299 h 1020"/>
              <a:gd name="T10" fmla="*/ 844 w 1871"/>
              <a:gd name="T11" fmla="*/ 187 h 1020"/>
              <a:gd name="T12" fmla="*/ 839 w 1871"/>
              <a:gd name="T13" fmla="*/ 182 h 1020"/>
              <a:gd name="T14" fmla="*/ 182 w 1871"/>
              <a:gd name="T15" fmla="*/ 182 h 1020"/>
              <a:gd name="T16" fmla="*/ 182 w 1871"/>
              <a:gd name="T17" fmla="*/ 839 h 1020"/>
              <a:gd name="T18" fmla="*/ 839 w 1871"/>
              <a:gd name="T19" fmla="*/ 839 h 1020"/>
              <a:gd name="T20" fmla="*/ 929 w 1871"/>
              <a:gd name="T21" fmla="*/ 711 h 1020"/>
              <a:gd name="T22" fmla="*/ 1286 w 1871"/>
              <a:gd name="T23" fmla="*/ 716 h 1020"/>
              <a:gd name="T24" fmla="*/ 1302 w 1871"/>
              <a:gd name="T25" fmla="*/ 733 h 1020"/>
              <a:gd name="T26" fmla="*/ 1748 w 1871"/>
              <a:gd name="T27" fmla="*/ 733 h 1020"/>
              <a:gd name="T28" fmla="*/ 1748 w 1871"/>
              <a:gd name="T29" fmla="*/ 287 h 1020"/>
              <a:gd name="T30" fmla="*/ 506 w 1871"/>
              <a:gd name="T31" fmla="*/ 922 h 1020"/>
              <a:gd name="T32" fmla="*/ 96 w 1871"/>
              <a:gd name="T33" fmla="*/ 512 h 1020"/>
              <a:gd name="T34" fmla="*/ 506 w 1871"/>
              <a:gd name="T35" fmla="*/ 102 h 1020"/>
              <a:gd name="T36" fmla="*/ 916 w 1871"/>
              <a:gd name="T37" fmla="*/ 512 h 1020"/>
              <a:gd name="T38" fmla="*/ 506 w 1871"/>
              <a:gd name="T39" fmla="*/ 922 h 1020"/>
              <a:gd name="T40" fmla="*/ 1524 w 1871"/>
              <a:gd name="T41" fmla="*/ 778 h 1020"/>
              <a:gd name="T42" fmla="*/ 1260 w 1871"/>
              <a:gd name="T43" fmla="*/ 514 h 1020"/>
              <a:gd name="T44" fmla="*/ 1524 w 1871"/>
              <a:gd name="T45" fmla="*/ 250 h 1020"/>
              <a:gd name="T46" fmla="*/ 1788 w 1871"/>
              <a:gd name="T47" fmla="*/ 514 h 1020"/>
              <a:gd name="T48" fmla="*/ 1524 w 1871"/>
              <a:gd name="T49" fmla="*/ 778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1" h="1020">
                <a:moveTo>
                  <a:pt x="1748" y="287"/>
                </a:moveTo>
                <a:cubicBezTo>
                  <a:pt x="1625" y="164"/>
                  <a:pt x="1425" y="164"/>
                  <a:pt x="1302" y="287"/>
                </a:cubicBezTo>
                <a:cubicBezTo>
                  <a:pt x="1296" y="293"/>
                  <a:pt x="1291" y="298"/>
                  <a:pt x="1286" y="304"/>
                </a:cubicBezTo>
                <a:cubicBezTo>
                  <a:pt x="1122" y="415"/>
                  <a:pt x="949" y="315"/>
                  <a:pt x="924" y="299"/>
                </a:cubicBezTo>
                <a:cubicBezTo>
                  <a:pt x="924" y="299"/>
                  <a:pt x="924" y="299"/>
                  <a:pt x="924" y="299"/>
                </a:cubicBezTo>
                <a:cubicBezTo>
                  <a:pt x="904" y="259"/>
                  <a:pt x="877" y="221"/>
                  <a:pt x="844" y="187"/>
                </a:cubicBezTo>
                <a:cubicBezTo>
                  <a:pt x="842" y="185"/>
                  <a:pt x="840" y="183"/>
                  <a:pt x="839" y="182"/>
                </a:cubicBezTo>
                <a:cubicBezTo>
                  <a:pt x="657" y="0"/>
                  <a:pt x="363" y="0"/>
                  <a:pt x="182" y="182"/>
                </a:cubicBezTo>
                <a:cubicBezTo>
                  <a:pt x="0" y="363"/>
                  <a:pt x="0" y="657"/>
                  <a:pt x="182" y="839"/>
                </a:cubicBezTo>
                <a:cubicBezTo>
                  <a:pt x="363" y="1020"/>
                  <a:pt x="657" y="1020"/>
                  <a:pt x="839" y="839"/>
                </a:cubicBezTo>
                <a:cubicBezTo>
                  <a:pt x="877" y="800"/>
                  <a:pt x="907" y="757"/>
                  <a:pt x="929" y="711"/>
                </a:cubicBezTo>
                <a:cubicBezTo>
                  <a:pt x="1087" y="607"/>
                  <a:pt x="1252" y="696"/>
                  <a:pt x="1286" y="716"/>
                </a:cubicBezTo>
                <a:cubicBezTo>
                  <a:pt x="1291" y="722"/>
                  <a:pt x="1296" y="727"/>
                  <a:pt x="1302" y="733"/>
                </a:cubicBezTo>
                <a:cubicBezTo>
                  <a:pt x="1425" y="856"/>
                  <a:pt x="1625" y="856"/>
                  <a:pt x="1748" y="733"/>
                </a:cubicBezTo>
                <a:cubicBezTo>
                  <a:pt x="1871" y="610"/>
                  <a:pt x="1871" y="410"/>
                  <a:pt x="1748" y="287"/>
                </a:cubicBezTo>
                <a:close/>
                <a:moveTo>
                  <a:pt x="506" y="922"/>
                </a:moveTo>
                <a:cubicBezTo>
                  <a:pt x="280" y="922"/>
                  <a:pt x="96" y="738"/>
                  <a:pt x="96" y="512"/>
                </a:cubicBezTo>
                <a:cubicBezTo>
                  <a:pt x="96" y="286"/>
                  <a:pt x="280" y="102"/>
                  <a:pt x="506" y="102"/>
                </a:cubicBezTo>
                <a:cubicBezTo>
                  <a:pt x="732" y="102"/>
                  <a:pt x="916" y="286"/>
                  <a:pt x="916" y="512"/>
                </a:cubicBezTo>
                <a:cubicBezTo>
                  <a:pt x="916" y="738"/>
                  <a:pt x="732" y="922"/>
                  <a:pt x="506" y="922"/>
                </a:cubicBezTo>
                <a:close/>
                <a:moveTo>
                  <a:pt x="1524" y="778"/>
                </a:moveTo>
                <a:cubicBezTo>
                  <a:pt x="1378" y="778"/>
                  <a:pt x="1260" y="660"/>
                  <a:pt x="1260" y="514"/>
                </a:cubicBezTo>
                <a:cubicBezTo>
                  <a:pt x="1260" y="368"/>
                  <a:pt x="1378" y="250"/>
                  <a:pt x="1524" y="250"/>
                </a:cubicBezTo>
                <a:cubicBezTo>
                  <a:pt x="1670" y="250"/>
                  <a:pt x="1788" y="368"/>
                  <a:pt x="1788" y="514"/>
                </a:cubicBezTo>
                <a:cubicBezTo>
                  <a:pt x="1788" y="660"/>
                  <a:pt x="1670" y="778"/>
                  <a:pt x="1524" y="778"/>
                </a:cubicBezTo>
                <a:close/>
              </a:path>
            </a:pathLst>
          </a:custGeom>
          <a:solidFill>
            <a:schemeClr val="accent3">
              <a:lumMod val="75000"/>
            </a:schemeClr>
          </a:solidFill>
          <a:ln w="22225" cap="flat">
            <a:noFill/>
            <a:prstDash val="solid"/>
            <a:miter lim="800000"/>
            <a:headEnd/>
            <a:tailEnd/>
          </a:ln>
          <a:effectLst>
            <a:outerShdw blurRad="38100" dist="25400" dir="7740000" algn="tr" rotWithShape="0">
              <a:prstClr val="black">
                <a:alpha val="40000"/>
              </a:prstClr>
            </a:outerShdw>
          </a:effectLst>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Calibri"/>
              <a:ea typeface="Geneva" panose="020B0503030404040204" pitchFamily="34" charset="0"/>
              <a:cs typeface="+mn-cs"/>
            </a:endParaRPr>
          </a:p>
        </p:txBody>
      </p:sp>
      <p:sp>
        <p:nvSpPr>
          <p:cNvPr id="16" name="Oval 15">
            <a:extLst>
              <a:ext uri="{C183D7F6-B498-43B3-948B-1728B52AA6E4}">
                <adec:decorative xmlns:adec="http://schemas.microsoft.com/office/drawing/2017/decorative" val="1"/>
              </a:ext>
            </a:extLst>
          </p:cNvPr>
          <p:cNvSpPr/>
          <p:nvPr/>
        </p:nvSpPr>
        <p:spPr>
          <a:xfrm>
            <a:off x="5021317" y="5045793"/>
            <a:ext cx="533400" cy="533400"/>
          </a:xfrm>
          <a:prstGeom prst="ellipse">
            <a:avLst/>
          </a:prstGeom>
          <a:gradFill flip="none" rotWithShape="1">
            <a:gsLst>
              <a:gs pos="15000">
                <a:schemeClr val="accent6"/>
              </a:gs>
              <a:gs pos="84000">
                <a:schemeClr val="accent6">
                  <a:lumMod val="75000"/>
                </a:schemeClr>
              </a:gs>
            </a:gsLst>
            <a:lin ang="0" scaled="0"/>
            <a:tileRect/>
          </a:gradFill>
          <a:ln>
            <a:solidFill>
              <a:schemeClr val="tx1">
                <a:lumMod val="65000"/>
                <a:lumOff val="35000"/>
              </a:schemeClr>
            </a:solidFill>
          </a:ln>
          <a:effectLst>
            <a:outerShdw blurRad="101600" dist="50800" dir="7560000" rotWithShape="0">
              <a:prstClr val="black">
                <a:alpha val="65000"/>
              </a:prstClr>
            </a:outerShdw>
          </a:effectLst>
          <a:scene3d>
            <a:camera prst="orthographicFront"/>
            <a:lightRig rig="threePt" dir="t"/>
          </a:scene3d>
          <a:sp3d extrusionH="76200" contourW="19050" prstMaterial="matte">
            <a:bevelT w="0" h="0"/>
            <a:extrusionClr>
              <a:schemeClr val="bg1">
                <a:lumMod val="95000"/>
              </a:schemeClr>
            </a:extrusionClr>
            <a:contourClr>
              <a:schemeClr val="bg1">
                <a:lumMod val="9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a:extLst>
              <a:ext uri="{C183D7F6-B498-43B3-948B-1728B52AA6E4}">
                <adec:decorative xmlns:adec="http://schemas.microsoft.com/office/drawing/2017/decorative" val="1"/>
              </a:ext>
            </a:extLst>
          </p:cNvPr>
          <p:cNvSpPr/>
          <p:nvPr/>
        </p:nvSpPr>
        <p:spPr>
          <a:xfrm>
            <a:off x="2635469" y="4021035"/>
            <a:ext cx="533400" cy="533400"/>
          </a:xfrm>
          <a:prstGeom prst="ellipse">
            <a:avLst/>
          </a:prstGeom>
          <a:gradFill flip="none" rotWithShape="1">
            <a:gsLst>
              <a:gs pos="15000">
                <a:schemeClr val="accent1"/>
              </a:gs>
              <a:gs pos="84000">
                <a:schemeClr val="accent1">
                  <a:lumMod val="75000"/>
                </a:schemeClr>
              </a:gs>
            </a:gsLst>
            <a:lin ang="0" scaled="0"/>
            <a:tileRect/>
          </a:gradFill>
          <a:ln>
            <a:solidFill>
              <a:schemeClr val="tx1">
                <a:lumMod val="65000"/>
                <a:lumOff val="35000"/>
              </a:schemeClr>
            </a:solidFill>
          </a:ln>
          <a:effectLst>
            <a:outerShdw blurRad="101600" dist="50800" dir="7560000" rotWithShape="0">
              <a:prstClr val="black">
                <a:alpha val="65000"/>
              </a:prstClr>
            </a:outerShdw>
          </a:effectLst>
          <a:scene3d>
            <a:camera prst="orthographicFront"/>
            <a:lightRig rig="threePt" dir="t"/>
          </a:scene3d>
          <a:sp3d extrusionH="76200" contourW="19050" prstMaterial="matte">
            <a:bevelT w="0" h="0"/>
            <a:extrusionClr>
              <a:schemeClr val="bg1">
                <a:lumMod val="95000"/>
              </a:schemeClr>
            </a:extrusionClr>
            <a:contourClr>
              <a:schemeClr val="bg1">
                <a:lumMod val="9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Oval 17">
            <a:extLst>
              <a:ext uri="{C183D7F6-B498-43B3-948B-1728B52AA6E4}">
                <adec:decorative xmlns:adec="http://schemas.microsoft.com/office/drawing/2017/decorative" val="1"/>
              </a:ext>
            </a:extLst>
          </p:cNvPr>
          <p:cNvSpPr/>
          <p:nvPr/>
        </p:nvSpPr>
        <p:spPr>
          <a:xfrm>
            <a:off x="3626069" y="1656207"/>
            <a:ext cx="533400" cy="533400"/>
          </a:xfrm>
          <a:prstGeom prst="ellipse">
            <a:avLst/>
          </a:prstGeom>
          <a:gradFill flip="none" rotWithShape="1">
            <a:gsLst>
              <a:gs pos="15000">
                <a:schemeClr val="accent3"/>
              </a:gs>
              <a:gs pos="84000">
                <a:schemeClr val="accent3">
                  <a:lumMod val="75000"/>
                </a:schemeClr>
              </a:gs>
            </a:gsLst>
            <a:lin ang="0" scaled="0"/>
            <a:tileRect/>
          </a:gradFill>
          <a:ln>
            <a:solidFill>
              <a:schemeClr val="tx1">
                <a:lumMod val="65000"/>
                <a:lumOff val="35000"/>
              </a:schemeClr>
            </a:solidFill>
          </a:ln>
          <a:effectLst>
            <a:outerShdw blurRad="101600" dist="50800" dir="7560000" rotWithShape="0">
              <a:prstClr val="black">
                <a:alpha val="65000"/>
              </a:prstClr>
            </a:outerShdw>
          </a:effectLst>
          <a:scene3d>
            <a:camera prst="orthographicFront"/>
            <a:lightRig rig="threePt" dir="t"/>
          </a:scene3d>
          <a:sp3d extrusionH="76200" contourW="19050" prstMaterial="matte">
            <a:bevelT w="0" h="0"/>
            <a:extrusionClr>
              <a:schemeClr val="bg1">
                <a:lumMod val="95000"/>
              </a:schemeClr>
            </a:extrusionClr>
            <a:contourClr>
              <a:schemeClr val="bg1">
                <a:lumMod val="9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Oval 18">
            <a:extLst>
              <a:ext uri="{C183D7F6-B498-43B3-948B-1728B52AA6E4}">
                <adec:decorative xmlns:adec="http://schemas.microsoft.com/office/drawing/2017/decorative" val="1"/>
              </a:ext>
            </a:extLst>
          </p:cNvPr>
          <p:cNvSpPr/>
          <p:nvPr/>
        </p:nvSpPr>
        <p:spPr>
          <a:xfrm>
            <a:off x="5998779" y="2646808"/>
            <a:ext cx="533400" cy="533400"/>
          </a:xfrm>
          <a:prstGeom prst="ellipse">
            <a:avLst/>
          </a:prstGeom>
          <a:gradFill flip="none" rotWithShape="1">
            <a:gsLst>
              <a:gs pos="15000">
                <a:schemeClr val="accent2"/>
              </a:gs>
              <a:gs pos="84000">
                <a:schemeClr val="accent2">
                  <a:lumMod val="75000"/>
                </a:schemeClr>
              </a:gs>
            </a:gsLst>
            <a:lin ang="0" scaled="0"/>
            <a:tileRect/>
          </a:gradFill>
          <a:ln>
            <a:solidFill>
              <a:schemeClr val="tx1">
                <a:lumMod val="65000"/>
                <a:lumOff val="35000"/>
              </a:schemeClr>
            </a:solidFill>
          </a:ln>
          <a:effectLst>
            <a:outerShdw blurRad="101600" dist="50800" dir="7560000" rotWithShape="0">
              <a:prstClr val="black">
                <a:alpha val="65000"/>
              </a:prstClr>
            </a:outerShdw>
          </a:effectLst>
          <a:scene3d>
            <a:camera prst="orthographicFront"/>
            <a:lightRig rig="threePt" dir="t"/>
          </a:scene3d>
          <a:sp3d extrusionH="76200" contourW="19050" prstMaterial="matte">
            <a:bevelT w="0" h="0"/>
            <a:extrusionClr>
              <a:schemeClr val="bg1">
                <a:lumMod val="95000"/>
              </a:schemeClr>
            </a:extrusionClr>
            <a:contourClr>
              <a:schemeClr val="bg1">
                <a:lumMod val="9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0" name="Elbow Connector 19">
            <a:extLst>
              <a:ext uri="{C183D7F6-B498-43B3-948B-1728B52AA6E4}">
                <adec:decorative xmlns:adec="http://schemas.microsoft.com/office/drawing/2017/decorative" val="1"/>
              </a:ext>
            </a:extLst>
          </p:cNvPr>
          <p:cNvCxnSpPr>
            <a:stCxn id="23" idx="1"/>
          </p:cNvCxnSpPr>
          <p:nvPr/>
        </p:nvCxnSpPr>
        <p:spPr>
          <a:xfrm rot="10800000" flipV="1">
            <a:off x="5339257" y="5181988"/>
            <a:ext cx="1473064" cy="112330"/>
          </a:xfrm>
          <a:prstGeom prst="bentConnector3">
            <a:avLst>
              <a:gd name="adj1" fmla="val 50000"/>
            </a:avLst>
          </a:prstGeom>
          <a:ln w="25400">
            <a:solidFill>
              <a:schemeClr val="accent6">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Elbow Connector 34">
            <a:extLst>
              <a:ext uri="{C183D7F6-B498-43B3-948B-1728B52AA6E4}">
                <adec:decorative xmlns:adec="http://schemas.microsoft.com/office/drawing/2017/decorative" val="1"/>
              </a:ext>
            </a:extLst>
          </p:cNvPr>
          <p:cNvCxnSpPr>
            <a:stCxn id="27" idx="1"/>
          </p:cNvCxnSpPr>
          <p:nvPr/>
        </p:nvCxnSpPr>
        <p:spPr>
          <a:xfrm rot="10800000" flipV="1">
            <a:off x="6264174" y="2058092"/>
            <a:ext cx="440174" cy="857384"/>
          </a:xfrm>
          <a:prstGeom prst="bentConnector2">
            <a:avLst/>
          </a:prstGeom>
          <a:ln w="25400">
            <a:solidFill>
              <a:schemeClr val="accent2">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4" name="Elbow Connector 43">
            <a:extLst>
              <a:ext uri="{C183D7F6-B498-43B3-948B-1728B52AA6E4}">
                <adec:decorative xmlns:adec="http://schemas.microsoft.com/office/drawing/2017/decorative" val="1"/>
              </a:ext>
            </a:extLst>
          </p:cNvPr>
          <p:cNvCxnSpPr/>
          <p:nvPr/>
        </p:nvCxnSpPr>
        <p:spPr>
          <a:xfrm flipV="1">
            <a:off x="2324792" y="1792934"/>
            <a:ext cx="1474916" cy="366750"/>
          </a:xfrm>
          <a:prstGeom prst="bentConnector3">
            <a:avLst>
              <a:gd name="adj1" fmla="val 50000"/>
            </a:avLst>
          </a:prstGeom>
          <a:ln w="25400">
            <a:solidFill>
              <a:schemeClr val="accent3">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0" name="Elbow Connector 49">
            <a:extLst>
              <a:ext uri="{C183D7F6-B498-43B3-948B-1728B52AA6E4}">
                <adec:decorative xmlns:adec="http://schemas.microsoft.com/office/drawing/2017/decorative" val="1"/>
              </a:ext>
            </a:extLst>
          </p:cNvPr>
          <p:cNvCxnSpPr>
            <a:stCxn id="49" idx="3"/>
          </p:cNvCxnSpPr>
          <p:nvPr/>
        </p:nvCxnSpPr>
        <p:spPr>
          <a:xfrm flipV="1">
            <a:off x="2452644" y="4292336"/>
            <a:ext cx="469232" cy="942754"/>
          </a:xfrm>
          <a:prstGeom prst="bentConnector2">
            <a:avLst/>
          </a:prstGeom>
          <a:ln w="25400">
            <a:solidFill>
              <a:schemeClr val="accent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3" name="Group 12" descr="Implement and evaluate"/>
          <p:cNvGrpSpPr/>
          <p:nvPr/>
        </p:nvGrpSpPr>
        <p:grpSpPr>
          <a:xfrm>
            <a:off x="3687616" y="2767676"/>
            <a:ext cx="1722584" cy="1702858"/>
            <a:chOff x="3107679" y="1323928"/>
            <a:chExt cx="1696466" cy="1699229"/>
          </a:xfrm>
        </p:grpSpPr>
        <p:sp>
          <p:nvSpPr>
            <p:cNvPr id="14" name="Oval 13"/>
            <p:cNvSpPr/>
            <p:nvPr/>
          </p:nvSpPr>
          <p:spPr>
            <a:xfrm>
              <a:off x="3107679" y="1323928"/>
              <a:ext cx="1696466" cy="1699229"/>
            </a:xfrm>
            <a:prstGeom prst="ellipse">
              <a:avLst/>
            </a:prstGeom>
            <a:gradFill flip="none" rotWithShape="1">
              <a:gsLst>
                <a:gs pos="15000">
                  <a:schemeClr val="bg1"/>
                </a:gs>
                <a:gs pos="84000">
                  <a:schemeClr val="bg1">
                    <a:lumMod val="86000"/>
                  </a:schemeClr>
                </a:gs>
              </a:gsLst>
              <a:lin ang="0" scaled="0"/>
              <a:tileRect/>
            </a:gradFill>
            <a:ln w="34925">
              <a:gradFill>
                <a:gsLst>
                  <a:gs pos="63740">
                    <a:schemeClr val="accent2">
                      <a:lumMod val="75000"/>
                    </a:schemeClr>
                  </a:gs>
                  <a:gs pos="30000">
                    <a:schemeClr val="accent3">
                      <a:lumMod val="75000"/>
                    </a:schemeClr>
                  </a:gs>
                  <a:gs pos="0">
                    <a:schemeClr val="accent1">
                      <a:lumMod val="75000"/>
                    </a:schemeClr>
                  </a:gs>
                  <a:gs pos="100000">
                    <a:schemeClr val="accent6">
                      <a:lumMod val="75000"/>
                    </a:schemeClr>
                  </a:gs>
                </a:gsLst>
                <a:lin ang="0" scaled="0"/>
              </a:gradFill>
            </a:ln>
            <a:effectLst>
              <a:outerShdw blurRad="254000" dist="139700" dir="7560000" rotWithShape="0">
                <a:prstClr val="black">
                  <a:alpha val="65000"/>
                </a:prstClr>
              </a:outerShdw>
            </a:effectLst>
            <a:scene3d>
              <a:camera prst="orthographicFront"/>
              <a:lightRig rig="threePt" dir="t"/>
            </a:scene3d>
            <a:sp3d extrusionH="76200" contourW="19050" prstMaterial="matte">
              <a:bevelT w="0" h="0"/>
              <a:extrusionClr>
                <a:schemeClr val="bg1">
                  <a:lumMod val="95000"/>
                </a:schemeClr>
              </a:extrusionClr>
              <a:contourClr>
                <a:schemeClr val="bg1">
                  <a:lumMod val="9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Box 14"/>
            <p:cNvSpPr txBox="1">
              <a:spLocks/>
            </p:cNvSpPr>
            <p:nvPr/>
          </p:nvSpPr>
          <p:spPr>
            <a:xfrm>
              <a:off x="3279609" y="1471416"/>
              <a:ext cx="1395146" cy="1291498"/>
            </a:xfrm>
            <a:prstGeom prst="rect">
              <a:avLst/>
            </a:prstGeom>
            <a:noFill/>
            <a:effectLst/>
          </p:spPr>
          <p:txBody>
            <a:bodyPr wrap="square" rtlCol="0" anchor="ctr" anchorCtr="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50" normalizeH="0" baseline="0" noProof="0" dirty="0">
                  <a:ln w="13500">
                    <a:solidFill>
                      <a:srgbClr val="0070C0">
                        <a:shade val="2500"/>
                        <a:alpha val="2000"/>
                      </a:srgbClr>
                    </a:solidFill>
                    <a:prstDash val="solid"/>
                  </a:ln>
                  <a:solidFill>
                    <a:prstClr val="black">
                      <a:alpha val="95000"/>
                    </a:prstClr>
                  </a:solidFill>
                  <a:effectLst>
                    <a:innerShdw blurRad="50900" dist="38500" dir="13500000">
                      <a:srgbClr val="000000">
                        <a:alpha val="60000"/>
                      </a:srgbClr>
                    </a:innerShdw>
                  </a:effectLst>
                  <a:uLnTx/>
                  <a:uFillTx/>
                  <a:latin typeface="Calibri"/>
                  <a:ea typeface="Geneva" panose="020B0503030404040204" pitchFamily="34" charset="0"/>
                  <a:cs typeface="+mn-cs"/>
                </a:rPr>
                <a:t>Implement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50" normalizeH="0" baseline="0" noProof="0" dirty="0">
                  <a:ln w="13500">
                    <a:solidFill>
                      <a:srgbClr val="0070C0">
                        <a:shade val="2500"/>
                        <a:alpha val="2000"/>
                      </a:srgbClr>
                    </a:solidFill>
                    <a:prstDash val="solid"/>
                  </a:ln>
                  <a:solidFill>
                    <a:prstClr val="black">
                      <a:alpha val="95000"/>
                    </a:prstClr>
                  </a:solidFill>
                  <a:effectLst>
                    <a:innerShdw blurRad="50900" dist="38500" dir="13500000">
                      <a:srgbClr val="000000">
                        <a:alpha val="60000"/>
                      </a:srgbClr>
                    </a:innerShdw>
                  </a:effectLst>
                  <a:uLnTx/>
                  <a:uFillTx/>
                  <a:latin typeface="Calibri"/>
                  <a:ea typeface="Geneva" panose="020B0503030404040204" pitchFamily="34" charset="0"/>
                  <a:cs typeface="+mn-cs"/>
                </a:rPr>
                <a:t>&amp;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50" normalizeH="0" baseline="0" noProof="0" dirty="0">
                  <a:ln w="13500">
                    <a:solidFill>
                      <a:srgbClr val="0070C0">
                        <a:shade val="2500"/>
                        <a:alpha val="2000"/>
                      </a:srgbClr>
                    </a:solidFill>
                    <a:prstDash val="solid"/>
                  </a:ln>
                  <a:solidFill>
                    <a:prstClr val="black">
                      <a:alpha val="95000"/>
                    </a:prstClr>
                  </a:solidFill>
                  <a:effectLst>
                    <a:innerShdw blurRad="50900" dist="38500" dir="13500000">
                      <a:srgbClr val="000000">
                        <a:alpha val="60000"/>
                      </a:srgbClr>
                    </a:innerShdw>
                  </a:effectLst>
                  <a:uLnTx/>
                  <a:uFillTx/>
                  <a:latin typeface="Calibri"/>
                  <a:ea typeface="Geneva" panose="020B0503030404040204" pitchFamily="34" charset="0"/>
                  <a:cs typeface="+mn-cs"/>
                </a:rPr>
                <a:t>Evaluate </a:t>
              </a:r>
            </a:p>
          </p:txBody>
        </p:sp>
      </p:grpSp>
      <p:sp>
        <p:nvSpPr>
          <p:cNvPr id="49" name="Rounded Rectangle 48" descr="Narrow the gap"/>
          <p:cNvSpPr/>
          <p:nvPr/>
        </p:nvSpPr>
        <p:spPr>
          <a:xfrm>
            <a:off x="63062" y="4114800"/>
            <a:ext cx="2222938" cy="1371600"/>
          </a:xfrm>
          <a:prstGeom prst="roundRect">
            <a:avLst>
              <a:gd name="adj" fmla="val 20589"/>
            </a:avLst>
          </a:prstGeom>
          <a:solidFill>
            <a:schemeClr val="bg1">
              <a:lumMod val="9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50" normalizeH="0" baseline="0" noProof="0" dirty="0">
                <a:ln w="13500">
                  <a:solidFill>
                    <a:srgbClr val="0070C0">
                      <a:shade val="2500"/>
                      <a:alpha val="2000"/>
                    </a:srgbClr>
                  </a:solidFill>
                  <a:prstDash val="solid"/>
                </a:ln>
                <a:solidFill>
                  <a:prstClr val="black">
                    <a:alpha val="95000"/>
                  </a:prstClr>
                </a:solidFill>
                <a:effectLst>
                  <a:innerShdw blurRad="50900" dist="38500" dir="13500000">
                    <a:srgbClr val="000000">
                      <a:alpha val="60000"/>
                    </a:srgbClr>
                  </a:innerShdw>
                </a:effectLst>
                <a:uLnTx/>
                <a:uFillTx/>
                <a:latin typeface="Calibri"/>
                <a:ea typeface="+mn-ea"/>
                <a:cs typeface="+mn-cs"/>
              </a:rPr>
              <a:t>Narrow the Gap</a:t>
            </a:r>
            <a:br>
              <a:rPr kumimoji="0" lang="en-US" sz="2000" b="1" i="0" u="none" strike="noStrike" kern="1200" cap="none" spc="50" normalizeH="0" baseline="0" noProof="0" dirty="0">
                <a:ln w="13500">
                  <a:solidFill>
                    <a:srgbClr val="0070C0">
                      <a:shade val="2500"/>
                      <a:alpha val="2000"/>
                    </a:srgbClr>
                  </a:solidFill>
                  <a:prstDash val="solid"/>
                </a:ln>
                <a:solidFill>
                  <a:prstClr val="black">
                    <a:alpha val="95000"/>
                  </a:prstClr>
                </a:solidFill>
                <a:effectLst>
                  <a:innerShdw blurRad="50900" dist="38500" dir="13500000">
                    <a:srgbClr val="000000">
                      <a:alpha val="60000"/>
                    </a:srgbClr>
                  </a:innerShdw>
                </a:effectLst>
                <a:uLnTx/>
                <a:uFillTx/>
                <a:latin typeface="Calibri"/>
                <a:ea typeface="+mn-ea"/>
                <a:cs typeface="+mn-cs"/>
              </a:rPr>
            </a:br>
            <a:r>
              <a:rPr kumimoji="0" lang="en-US" sz="2000" b="1" i="0" u="none" strike="noStrike" kern="1200" cap="none" spc="50" normalizeH="0" baseline="0" noProof="0" dirty="0">
                <a:ln w="13500">
                  <a:solidFill>
                    <a:srgbClr val="0070C0">
                      <a:shade val="2500"/>
                      <a:alpha val="2000"/>
                    </a:srgbClr>
                  </a:solidFill>
                  <a:prstDash val="solid"/>
                </a:ln>
                <a:solidFill>
                  <a:prstClr val="black">
                    <a:alpha val="95000"/>
                  </a:prstClr>
                </a:solidFill>
                <a:effectLst>
                  <a:innerShdw blurRad="50900" dist="38500" dir="13500000">
                    <a:srgbClr val="000000">
                      <a:alpha val="60000"/>
                    </a:srgbClr>
                  </a:innerShdw>
                </a:effectLst>
                <a:uLnTx/>
                <a:uFillTx/>
                <a:latin typeface="Calibri"/>
                <a:ea typeface="+mn-ea"/>
                <a:cs typeface="+mn-cs"/>
              </a:rPr>
              <a:t> </a:t>
            </a:r>
          </a:p>
        </p:txBody>
      </p:sp>
      <p:sp>
        <p:nvSpPr>
          <p:cNvPr id="23" name="Rounded Rectangle 22" descr="Gap and barrier analysis"/>
          <p:cNvSpPr/>
          <p:nvPr/>
        </p:nvSpPr>
        <p:spPr>
          <a:xfrm>
            <a:off x="6812321" y="3962401"/>
            <a:ext cx="2237086" cy="1371600"/>
          </a:xfrm>
          <a:prstGeom prst="roundRect">
            <a:avLst/>
          </a:prstGeom>
          <a:solidFill>
            <a:schemeClr val="bg1">
              <a:lumMod val="95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50" normalizeH="0" baseline="0" noProof="0" dirty="0">
                <a:ln w="13500">
                  <a:solidFill>
                    <a:srgbClr val="0070C0">
                      <a:shade val="2500"/>
                      <a:alpha val="2000"/>
                    </a:srgbClr>
                  </a:solidFill>
                  <a:prstDash val="solid"/>
                </a:ln>
                <a:solidFill>
                  <a:prstClr val="black">
                    <a:alpha val="95000"/>
                  </a:prstClr>
                </a:solidFill>
                <a:effectLst>
                  <a:innerShdw blurRad="50900" dist="38500" dir="13500000">
                    <a:srgbClr val="000000">
                      <a:alpha val="60000"/>
                    </a:srgbClr>
                  </a:innerShdw>
                </a:effectLst>
                <a:uLnTx/>
                <a:uFillTx/>
                <a:latin typeface="Calibri"/>
                <a:ea typeface="+mn-ea"/>
                <a:cs typeface="+mn-cs"/>
              </a:rPr>
              <a:t>Gap &amp; Barrier Analysis </a:t>
            </a:r>
          </a:p>
        </p:txBody>
      </p:sp>
      <p:sp>
        <p:nvSpPr>
          <p:cNvPr id="27" name="Rounded Rectangle 26" descr="Environment"/>
          <p:cNvSpPr/>
          <p:nvPr/>
        </p:nvSpPr>
        <p:spPr>
          <a:xfrm>
            <a:off x="6704348" y="1371600"/>
            <a:ext cx="2240280" cy="1280852"/>
          </a:xfrm>
          <a:prstGeom prst="roundRect">
            <a:avLst/>
          </a:prstGeom>
          <a:solidFill>
            <a:schemeClr val="bg1">
              <a:lumMod val="9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50" normalizeH="0" baseline="0" noProof="0" dirty="0">
                <a:ln w="13500">
                  <a:solidFill>
                    <a:srgbClr val="0070C0">
                      <a:shade val="2500"/>
                      <a:alpha val="2000"/>
                    </a:srgbClr>
                  </a:solidFill>
                  <a:prstDash val="solid"/>
                </a:ln>
                <a:solidFill>
                  <a:prstClr val="black">
                    <a:alpha val="95000"/>
                  </a:prstClr>
                </a:solidFill>
                <a:effectLst>
                  <a:innerShdw blurRad="50900" dist="38500" dir="13500000">
                    <a:srgbClr val="000000">
                      <a:alpha val="60000"/>
                    </a:srgbClr>
                  </a:innerShdw>
                </a:effectLst>
                <a:uLnTx/>
                <a:uFillTx/>
                <a:latin typeface="Calibri"/>
                <a:ea typeface="+mn-ea"/>
                <a:cs typeface="+mn-cs"/>
              </a:rPr>
              <a:t>Environment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50" normalizeH="0" baseline="0" noProof="0" dirty="0">
              <a:ln w="13500">
                <a:solidFill>
                  <a:srgbClr val="0070C0">
                    <a:shade val="2500"/>
                    <a:alpha val="2000"/>
                  </a:srgbClr>
                </a:solidFill>
                <a:prstDash val="solid"/>
              </a:ln>
              <a:solidFill>
                <a:prstClr val="black">
                  <a:alpha val="95000"/>
                </a:prstClr>
              </a:solidFill>
              <a:effectLst>
                <a:innerShdw blurRad="50900" dist="38500" dir="13500000">
                  <a:srgbClr val="000000">
                    <a:alpha val="60000"/>
                  </a:srgbClr>
                </a:innerShdw>
              </a:effectLst>
              <a:uLnTx/>
              <a:uFillTx/>
              <a:latin typeface="Calibri"/>
              <a:ea typeface="+mn-ea"/>
              <a:cs typeface="+mn-cs"/>
            </a:endParaRPr>
          </a:p>
        </p:txBody>
      </p:sp>
      <p:sp>
        <p:nvSpPr>
          <p:cNvPr id="43" name="Rounded Rectangle 42" descr="Individual"/>
          <p:cNvSpPr/>
          <p:nvPr/>
        </p:nvSpPr>
        <p:spPr>
          <a:xfrm>
            <a:off x="84512" y="1340502"/>
            <a:ext cx="2240280" cy="1371600"/>
          </a:xfrm>
          <a:prstGeom prst="roundRect">
            <a:avLst/>
          </a:prstGeom>
          <a:solidFill>
            <a:schemeClr val="bg1">
              <a:lumMod val="9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50" normalizeH="0" baseline="0" noProof="0" dirty="0">
                <a:ln w="13500">
                  <a:solidFill>
                    <a:srgbClr val="0070C0">
                      <a:shade val="2500"/>
                      <a:alpha val="2000"/>
                    </a:srgbClr>
                  </a:solidFill>
                  <a:prstDash val="solid"/>
                </a:ln>
                <a:solidFill>
                  <a:prstClr val="black">
                    <a:alpha val="95000"/>
                  </a:prstClr>
                </a:solidFill>
                <a:effectLst>
                  <a:innerShdw blurRad="50900" dist="38500" dir="13500000">
                    <a:srgbClr val="000000">
                      <a:alpha val="60000"/>
                    </a:srgbClr>
                  </a:innerShdw>
                </a:effectLst>
                <a:uLnTx/>
                <a:uFillTx/>
                <a:latin typeface="Calibri"/>
                <a:ea typeface="+mn-ea"/>
                <a:cs typeface="+mn-cs"/>
              </a:rPr>
              <a:t>Individual</a:t>
            </a:r>
            <a:br>
              <a:rPr kumimoji="0" lang="en-US" sz="1800" b="1" i="0" u="none" strike="noStrike" kern="1200" cap="none" spc="50" normalizeH="0" baseline="0" noProof="0" dirty="0">
                <a:ln w="13500">
                  <a:solidFill>
                    <a:srgbClr val="0070C0">
                      <a:shade val="2500"/>
                      <a:alpha val="2000"/>
                    </a:srgbClr>
                  </a:solidFill>
                  <a:prstDash val="solid"/>
                </a:ln>
                <a:solidFill>
                  <a:prstClr val="black">
                    <a:alpha val="95000"/>
                  </a:prstClr>
                </a:solidFill>
                <a:effectLst>
                  <a:innerShdw blurRad="50900" dist="38500" dir="13500000">
                    <a:srgbClr val="000000">
                      <a:alpha val="60000"/>
                    </a:srgbClr>
                  </a:innerShdw>
                </a:effectLst>
                <a:uLnTx/>
                <a:uFillTx/>
                <a:latin typeface="Calibri"/>
                <a:ea typeface="+mn-ea"/>
                <a:cs typeface="+mn-cs"/>
              </a:rPr>
            </a:br>
            <a:endParaRPr kumimoji="0" lang="en-US" sz="1400" b="1" i="0" u="none" strike="noStrike" kern="1200" cap="none" spc="50" normalizeH="0" baseline="0" noProof="0" dirty="0">
              <a:ln w="13500">
                <a:solidFill>
                  <a:srgbClr val="0070C0">
                    <a:shade val="2500"/>
                    <a:alpha val="2000"/>
                  </a:srgbClr>
                </a:solidFill>
                <a:prstDash val="solid"/>
              </a:ln>
              <a:solidFill>
                <a:prstClr val="black">
                  <a:alpha val="95000"/>
                </a:prstClr>
              </a:solidFill>
              <a:effectLst>
                <a:innerShdw blurRad="50900" dist="38500" dir="13500000">
                  <a:srgbClr val="000000">
                    <a:alpha val="60000"/>
                  </a:srgbClr>
                </a:innerShdw>
              </a:effectLst>
              <a:uLnTx/>
              <a:uFillTx/>
              <a:latin typeface="Calibri"/>
              <a:ea typeface="+mn-ea"/>
              <a:cs typeface="+mn-cs"/>
            </a:endParaRPr>
          </a:p>
        </p:txBody>
      </p:sp>
      <p:sp>
        <p:nvSpPr>
          <p:cNvPr id="55" name="TextBox 54"/>
          <p:cNvSpPr txBox="1"/>
          <p:nvPr/>
        </p:nvSpPr>
        <p:spPr>
          <a:xfrm>
            <a:off x="2128433" y="381000"/>
            <a:ext cx="4784367" cy="53340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small" spc="0" normalizeH="0" noProof="0" dirty="0">
                <a:ln>
                  <a:noFill/>
                </a:ln>
                <a:solidFill>
                  <a:schemeClr val="bg1"/>
                </a:solidFill>
                <a:effectLst/>
                <a:uLnTx/>
                <a:uFillTx/>
                <a:latin typeface="Calibri"/>
                <a:ea typeface="Geneva" panose="020B0503030404040204" pitchFamily="34" charset="0"/>
                <a:cs typeface="+mn-cs"/>
              </a:rPr>
              <a:t>Technology</a:t>
            </a:r>
            <a:r>
              <a:rPr kumimoji="0" lang="en-US" sz="3200" b="1" i="0" u="none" strike="noStrike" kern="1200" cap="small" spc="0" normalizeH="0" baseline="0" noProof="0" dirty="0">
                <a:ln>
                  <a:noFill/>
                </a:ln>
                <a:solidFill>
                  <a:schemeClr val="bg1"/>
                </a:solidFill>
                <a:effectLst/>
                <a:uLnTx/>
                <a:uFillTx/>
                <a:latin typeface="Calibri"/>
                <a:ea typeface="Geneva" panose="020B0503030404040204" pitchFamily="34" charset="0"/>
                <a:cs typeface="+mn-cs"/>
              </a:rPr>
              <a:t> Framework </a:t>
            </a:r>
          </a:p>
        </p:txBody>
      </p:sp>
      <p:sp>
        <p:nvSpPr>
          <p:cNvPr id="28" name="Rectangle 27">
            <a:extLs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Geneva" panose="020B0503030404040204" pitchFamily="34" charset="0"/>
              <a:cs typeface="+mn-cs"/>
            </a:endParaRPr>
          </a:p>
        </p:txBody>
      </p:sp>
      <p:sp>
        <p:nvSpPr>
          <p:cNvPr id="2" name="Title 1">
            <a:extLst>
              <a:ext uri="{FF2B5EF4-FFF2-40B4-BE49-F238E27FC236}">
                <a16:creationId xmlns:a16="http://schemas.microsoft.com/office/drawing/2014/main" id="{CBCE779C-7EA3-994F-9E66-33014FEE7FCB}"/>
              </a:ext>
            </a:extLst>
          </p:cNvPr>
          <p:cNvSpPr>
            <a:spLocks noGrp="1"/>
          </p:cNvSpPr>
          <p:nvPr>
            <p:ph type="title"/>
          </p:nvPr>
        </p:nvSpPr>
        <p:spPr>
          <a:xfrm>
            <a:off x="434108" y="-1371476"/>
            <a:ext cx="8229600" cy="1143000"/>
          </a:xfrm>
        </p:spPr>
        <p:txBody>
          <a:bodyPr/>
          <a:lstStyle/>
          <a:p>
            <a:r>
              <a:rPr lang="en-US" dirty="0"/>
              <a:t>Technology Framework</a:t>
            </a:r>
          </a:p>
        </p:txBody>
      </p:sp>
      <p:sp>
        <p:nvSpPr>
          <p:cNvPr id="3" name="Slide Number Placeholder 2">
            <a:extLst>
              <a:ext uri="{FF2B5EF4-FFF2-40B4-BE49-F238E27FC236}">
                <a16:creationId xmlns:a16="http://schemas.microsoft.com/office/drawing/2014/main" id="{218565A2-4A15-0948-9E36-947B98DF9016}"/>
              </a:ext>
            </a:extLst>
          </p:cNvPr>
          <p:cNvSpPr>
            <a:spLocks noGrp="1"/>
          </p:cNvSpPr>
          <p:nvPr>
            <p:ph type="sldNum" sz="quarter" idx="12"/>
          </p:nvPr>
        </p:nvSpPr>
        <p:spPr/>
        <p:txBody>
          <a:bodyPr/>
          <a:lstStyle/>
          <a:p>
            <a:fld id="{5D7CCB52-5D48-470B-B8DA-D8134110C94D}" type="slidenum">
              <a:rPr lang="en-US" smtClean="0"/>
              <a:t>13</a:t>
            </a:fld>
            <a:endParaRPr lang="en-US"/>
          </a:p>
        </p:txBody>
      </p:sp>
    </p:spTree>
    <p:extLst>
      <p:ext uri="{BB962C8B-B14F-4D97-AF65-F5344CB8AC3E}">
        <p14:creationId xmlns:p14="http://schemas.microsoft.com/office/powerpoint/2010/main" val="224172606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8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30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par>
                          <p:cTn id="16" fill="hold">
                            <p:stCondLst>
                              <p:cond delay="180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dissolve">
                                      <p:cBhvr>
                                        <p:cTn id="24" dur="500"/>
                                        <p:tgtEl>
                                          <p:spTgt spid="7"/>
                                        </p:tgtEl>
                                      </p:cBhvr>
                                    </p:animEffect>
                                  </p:childTnLst>
                                </p:cTn>
                              </p:par>
                            </p:childTnLst>
                          </p:cTn>
                        </p:par>
                        <p:par>
                          <p:cTn id="25" fill="hold">
                            <p:stCondLst>
                              <p:cond delay="500"/>
                            </p:stCondLst>
                            <p:childTnLst>
                              <p:par>
                                <p:cTn id="26" presetID="9" presetClass="entr" presetSubtype="0" fill="hold" grpId="0" nodeType="after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dissolve">
                                      <p:cBhvr>
                                        <p:cTn id="28" dur="500"/>
                                        <p:tgtEl>
                                          <p:spTgt spid="18"/>
                                        </p:tgtEl>
                                      </p:cBhvr>
                                    </p:animEffect>
                                  </p:childTnLst>
                                </p:cTn>
                              </p:par>
                            </p:childTnLst>
                          </p:cTn>
                        </p:par>
                        <p:par>
                          <p:cTn id="29" fill="hold">
                            <p:stCondLst>
                              <p:cond delay="1000"/>
                            </p:stCondLst>
                            <p:childTnLst>
                              <p:par>
                                <p:cTn id="30" presetID="9" presetClass="entr" presetSubtype="0" fill="hold" nodeType="after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dissolve">
                                      <p:cBhvr>
                                        <p:cTn id="32" dur="500"/>
                                        <p:tgtEl>
                                          <p:spTgt spid="44"/>
                                        </p:tgtEl>
                                      </p:cBhvr>
                                    </p:animEffect>
                                  </p:childTnLst>
                                </p:cTn>
                              </p:par>
                            </p:childTnLst>
                          </p:cTn>
                        </p:par>
                        <p:par>
                          <p:cTn id="33" fill="hold">
                            <p:stCondLst>
                              <p:cond delay="1500"/>
                            </p:stCondLst>
                            <p:childTnLst>
                              <p:par>
                                <p:cTn id="34" presetID="9" presetClass="entr" presetSubtype="0" fill="hold" grpId="0" nodeType="afterEffect">
                                  <p:stCondLst>
                                    <p:cond delay="0"/>
                                  </p:stCondLst>
                                  <p:childTnLst>
                                    <p:set>
                                      <p:cBhvr>
                                        <p:cTn id="35" dur="1" fill="hold">
                                          <p:stCondLst>
                                            <p:cond delay="0"/>
                                          </p:stCondLst>
                                        </p:cTn>
                                        <p:tgtEl>
                                          <p:spTgt spid="43"/>
                                        </p:tgtEl>
                                        <p:attrNameLst>
                                          <p:attrName>style.visibility</p:attrName>
                                        </p:attrNameLst>
                                      </p:cBhvr>
                                      <p:to>
                                        <p:strVal val="visible"/>
                                      </p:to>
                                    </p:set>
                                    <p:animEffect transition="in" filter="dissolve">
                                      <p:cBhvr>
                                        <p:cTn id="36" dur="500"/>
                                        <p:tgtEl>
                                          <p:spTgt spid="43"/>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dissolve">
                                      <p:cBhvr>
                                        <p:cTn id="41" dur="500"/>
                                        <p:tgtEl>
                                          <p:spTgt spid="9"/>
                                        </p:tgtEl>
                                      </p:cBhvr>
                                    </p:animEffect>
                                  </p:childTnLst>
                                </p:cTn>
                              </p:par>
                            </p:childTnLst>
                          </p:cTn>
                        </p:par>
                        <p:par>
                          <p:cTn id="42" fill="hold">
                            <p:stCondLst>
                              <p:cond delay="500"/>
                            </p:stCondLst>
                            <p:childTnLst>
                              <p:par>
                                <p:cTn id="43" presetID="9" presetClass="entr" presetSubtype="0" fill="hold" grpId="0" nodeType="after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dissolve">
                                      <p:cBhvr>
                                        <p:cTn id="45" dur="500"/>
                                        <p:tgtEl>
                                          <p:spTgt spid="19"/>
                                        </p:tgtEl>
                                      </p:cBhvr>
                                    </p:animEffect>
                                  </p:childTnLst>
                                </p:cTn>
                              </p:par>
                            </p:childTnLst>
                          </p:cTn>
                        </p:par>
                        <p:par>
                          <p:cTn id="46" fill="hold">
                            <p:stCondLst>
                              <p:cond delay="1000"/>
                            </p:stCondLst>
                            <p:childTnLst>
                              <p:par>
                                <p:cTn id="47" presetID="9" presetClass="entr" presetSubtype="0" fill="hold" nodeType="after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dissolve">
                                      <p:cBhvr>
                                        <p:cTn id="49" dur="500"/>
                                        <p:tgtEl>
                                          <p:spTgt spid="35"/>
                                        </p:tgtEl>
                                      </p:cBhvr>
                                    </p:animEffect>
                                  </p:childTnLst>
                                </p:cTn>
                              </p:par>
                            </p:childTnLst>
                          </p:cTn>
                        </p:par>
                        <p:par>
                          <p:cTn id="50" fill="hold">
                            <p:stCondLst>
                              <p:cond delay="1500"/>
                            </p:stCondLst>
                            <p:childTnLst>
                              <p:par>
                                <p:cTn id="51" presetID="9" presetClass="entr" presetSubtype="0" fill="hold" grpId="0" nodeType="after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dissolve">
                                      <p:cBhvr>
                                        <p:cTn id="53" dur="500"/>
                                        <p:tgtEl>
                                          <p:spTgt spid="27"/>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dissolve">
                                      <p:cBhvr>
                                        <p:cTn id="58" dur="500"/>
                                        <p:tgtEl>
                                          <p:spTgt spid="11"/>
                                        </p:tgtEl>
                                      </p:cBhvr>
                                    </p:animEffect>
                                  </p:childTnLst>
                                </p:cTn>
                              </p:par>
                            </p:childTnLst>
                          </p:cTn>
                        </p:par>
                        <p:par>
                          <p:cTn id="59" fill="hold">
                            <p:stCondLst>
                              <p:cond delay="500"/>
                            </p:stCondLst>
                            <p:childTnLst>
                              <p:par>
                                <p:cTn id="60" presetID="9" presetClass="entr" presetSubtype="0" fill="hold" grpId="0"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dissolve">
                                      <p:cBhvr>
                                        <p:cTn id="62" dur="500"/>
                                        <p:tgtEl>
                                          <p:spTgt spid="16"/>
                                        </p:tgtEl>
                                      </p:cBhvr>
                                    </p:animEffect>
                                  </p:childTnLst>
                                </p:cTn>
                              </p:par>
                            </p:childTnLst>
                          </p:cTn>
                        </p:par>
                        <p:par>
                          <p:cTn id="63" fill="hold">
                            <p:stCondLst>
                              <p:cond delay="1000"/>
                            </p:stCondLst>
                            <p:childTnLst>
                              <p:par>
                                <p:cTn id="64" presetID="9" presetClass="entr" presetSubtype="0" fill="hold" nodeType="after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dissolve">
                                      <p:cBhvr>
                                        <p:cTn id="66" dur="500"/>
                                        <p:tgtEl>
                                          <p:spTgt spid="20"/>
                                        </p:tgtEl>
                                      </p:cBhvr>
                                    </p:animEffect>
                                  </p:childTnLst>
                                </p:cTn>
                              </p:par>
                            </p:childTnLst>
                          </p:cTn>
                        </p:par>
                        <p:par>
                          <p:cTn id="67" fill="hold">
                            <p:stCondLst>
                              <p:cond delay="1500"/>
                            </p:stCondLst>
                            <p:childTnLst>
                              <p:par>
                                <p:cTn id="68" presetID="9" presetClass="entr" presetSubtype="0" fill="hold" grpId="0" nodeType="after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dissolve">
                                      <p:cBhvr>
                                        <p:cTn id="70" dur="500"/>
                                        <p:tgtEl>
                                          <p:spTgt spid="23"/>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6"/>
                                        </p:tgtEl>
                                        <p:attrNameLst>
                                          <p:attrName>style.visibility</p:attrName>
                                        </p:attrNameLst>
                                      </p:cBhvr>
                                      <p:to>
                                        <p:strVal val="visible"/>
                                      </p:to>
                                    </p:set>
                                    <p:animEffect transition="in" filter="dissolve">
                                      <p:cBhvr>
                                        <p:cTn id="75" dur="500"/>
                                        <p:tgtEl>
                                          <p:spTgt spid="6"/>
                                        </p:tgtEl>
                                      </p:cBhvr>
                                    </p:animEffect>
                                  </p:childTnLst>
                                </p:cTn>
                              </p:par>
                            </p:childTnLst>
                          </p:cTn>
                        </p:par>
                        <p:par>
                          <p:cTn id="76" fill="hold">
                            <p:stCondLst>
                              <p:cond delay="500"/>
                            </p:stCondLst>
                            <p:childTnLst>
                              <p:par>
                                <p:cTn id="77" presetID="9" presetClass="entr" presetSubtype="0" fill="hold" grpId="0" nodeType="afterEffect">
                                  <p:stCondLst>
                                    <p:cond delay="0"/>
                                  </p:stCondLst>
                                  <p:childTnLst>
                                    <p:set>
                                      <p:cBhvr>
                                        <p:cTn id="78" dur="1" fill="hold">
                                          <p:stCondLst>
                                            <p:cond delay="0"/>
                                          </p:stCondLst>
                                        </p:cTn>
                                        <p:tgtEl>
                                          <p:spTgt spid="17"/>
                                        </p:tgtEl>
                                        <p:attrNameLst>
                                          <p:attrName>style.visibility</p:attrName>
                                        </p:attrNameLst>
                                      </p:cBhvr>
                                      <p:to>
                                        <p:strVal val="visible"/>
                                      </p:to>
                                    </p:set>
                                    <p:animEffect transition="in" filter="dissolve">
                                      <p:cBhvr>
                                        <p:cTn id="79" dur="500"/>
                                        <p:tgtEl>
                                          <p:spTgt spid="17"/>
                                        </p:tgtEl>
                                      </p:cBhvr>
                                    </p:animEffect>
                                  </p:childTnLst>
                                </p:cTn>
                              </p:par>
                            </p:childTnLst>
                          </p:cTn>
                        </p:par>
                        <p:par>
                          <p:cTn id="80" fill="hold">
                            <p:stCondLst>
                              <p:cond delay="1000"/>
                            </p:stCondLst>
                            <p:childTnLst>
                              <p:par>
                                <p:cTn id="81" presetID="9" presetClass="entr" presetSubtype="0" fill="hold" nodeType="afterEffect">
                                  <p:stCondLst>
                                    <p:cond delay="0"/>
                                  </p:stCondLst>
                                  <p:childTnLst>
                                    <p:set>
                                      <p:cBhvr>
                                        <p:cTn id="82" dur="1" fill="hold">
                                          <p:stCondLst>
                                            <p:cond delay="0"/>
                                          </p:stCondLst>
                                        </p:cTn>
                                        <p:tgtEl>
                                          <p:spTgt spid="50"/>
                                        </p:tgtEl>
                                        <p:attrNameLst>
                                          <p:attrName>style.visibility</p:attrName>
                                        </p:attrNameLst>
                                      </p:cBhvr>
                                      <p:to>
                                        <p:strVal val="visible"/>
                                      </p:to>
                                    </p:set>
                                    <p:animEffect transition="in" filter="dissolve">
                                      <p:cBhvr>
                                        <p:cTn id="83" dur="500"/>
                                        <p:tgtEl>
                                          <p:spTgt spid="50"/>
                                        </p:tgtEl>
                                      </p:cBhvr>
                                    </p:animEffect>
                                  </p:childTnLst>
                                </p:cTn>
                              </p:par>
                            </p:childTnLst>
                          </p:cTn>
                        </p:par>
                        <p:par>
                          <p:cTn id="84" fill="hold">
                            <p:stCondLst>
                              <p:cond delay="1500"/>
                            </p:stCondLst>
                            <p:childTnLst>
                              <p:par>
                                <p:cTn id="85" presetID="9" presetClass="entr" presetSubtype="0" fill="hold" grpId="0" nodeType="afterEffect">
                                  <p:stCondLst>
                                    <p:cond delay="0"/>
                                  </p:stCondLst>
                                  <p:childTnLst>
                                    <p:set>
                                      <p:cBhvr>
                                        <p:cTn id="86" dur="1" fill="hold">
                                          <p:stCondLst>
                                            <p:cond delay="0"/>
                                          </p:stCondLst>
                                        </p:cTn>
                                        <p:tgtEl>
                                          <p:spTgt spid="49"/>
                                        </p:tgtEl>
                                        <p:attrNameLst>
                                          <p:attrName>style.visibility</p:attrName>
                                        </p:attrNameLst>
                                      </p:cBhvr>
                                      <p:to>
                                        <p:strVal val="visible"/>
                                      </p:to>
                                    </p:set>
                                    <p:animEffect transition="in" filter="dissolve">
                                      <p:cBhvr>
                                        <p:cTn id="87" dur="500"/>
                                        <p:tgtEl>
                                          <p:spTgt spid="49"/>
                                        </p:tgtEl>
                                      </p:cBhvr>
                                    </p:animEffect>
                                  </p:childTnLst>
                                </p:cTn>
                              </p:par>
                            </p:childTnLst>
                          </p:cTn>
                        </p:par>
                      </p:childTnLst>
                    </p:cTn>
                  </p:par>
                  <p:par>
                    <p:cTn id="88" fill="hold">
                      <p:stCondLst>
                        <p:cond delay="indefinite"/>
                      </p:stCondLst>
                      <p:childTnLst>
                        <p:par>
                          <p:cTn id="89" fill="hold">
                            <p:stCondLst>
                              <p:cond delay="0"/>
                            </p:stCondLst>
                            <p:childTnLst>
                              <p:par>
                                <p:cTn id="90" presetID="53" presetClass="entr" presetSubtype="16" fill="hold" nodeType="clickEffect">
                                  <p:stCondLst>
                                    <p:cond delay="0"/>
                                  </p:stCondLst>
                                  <p:childTnLst>
                                    <p:set>
                                      <p:cBhvr>
                                        <p:cTn id="91" dur="1" fill="hold">
                                          <p:stCondLst>
                                            <p:cond delay="0"/>
                                          </p:stCondLst>
                                        </p:cTn>
                                        <p:tgtEl>
                                          <p:spTgt spid="13"/>
                                        </p:tgtEl>
                                        <p:attrNameLst>
                                          <p:attrName>style.visibility</p:attrName>
                                        </p:attrNameLst>
                                      </p:cBhvr>
                                      <p:to>
                                        <p:strVal val="visible"/>
                                      </p:to>
                                    </p:set>
                                    <p:anim calcmode="lin" valueType="num">
                                      <p:cBhvr>
                                        <p:cTn id="92" dur="800" fill="hold"/>
                                        <p:tgtEl>
                                          <p:spTgt spid="13"/>
                                        </p:tgtEl>
                                        <p:attrNameLst>
                                          <p:attrName>ppt_w</p:attrName>
                                        </p:attrNameLst>
                                      </p:cBhvr>
                                      <p:tavLst>
                                        <p:tav tm="0">
                                          <p:val>
                                            <p:fltVal val="0"/>
                                          </p:val>
                                        </p:tav>
                                        <p:tav tm="100000">
                                          <p:val>
                                            <p:strVal val="#ppt_w"/>
                                          </p:val>
                                        </p:tav>
                                      </p:tavLst>
                                    </p:anim>
                                    <p:anim calcmode="lin" valueType="num">
                                      <p:cBhvr>
                                        <p:cTn id="93" dur="800" fill="hold"/>
                                        <p:tgtEl>
                                          <p:spTgt spid="13"/>
                                        </p:tgtEl>
                                        <p:attrNameLst>
                                          <p:attrName>ppt_h</p:attrName>
                                        </p:attrNameLst>
                                      </p:cBhvr>
                                      <p:tavLst>
                                        <p:tav tm="0">
                                          <p:val>
                                            <p:fltVal val="0"/>
                                          </p:val>
                                        </p:tav>
                                        <p:tav tm="100000">
                                          <p:val>
                                            <p:strVal val="#ppt_h"/>
                                          </p:val>
                                        </p:tav>
                                      </p:tavLst>
                                    </p:anim>
                                    <p:animEffect transition="in" filter="fade">
                                      <p:cBhvr>
                                        <p:cTn id="94" dur="8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0" grpId="0" animBg="1"/>
      <p:bldP spid="4" grpId="0" animBg="1"/>
      <p:bldP spid="6" grpId="0" animBg="1"/>
      <p:bldP spid="9" grpId="0" animBg="1"/>
      <p:bldP spid="11" grpId="0" animBg="1"/>
      <p:bldP spid="7" grpId="0" animBg="1"/>
      <p:bldP spid="16" grpId="0" animBg="1"/>
      <p:bldP spid="17" grpId="0" animBg="1"/>
      <p:bldP spid="18" grpId="0" animBg="1"/>
      <p:bldP spid="19" grpId="0" animBg="1"/>
      <p:bldP spid="49" grpId="0" animBg="1"/>
      <p:bldP spid="23" grpId="0" animBg="1"/>
      <p:bldP spid="27" grpId="0" animBg="1"/>
      <p:bldP spid="4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C183D7F6-B498-43B3-948B-1728B52AA6E4}">
                <adec:decorative xmlns:adec="http://schemas.microsoft.com/office/drawing/2017/decorative" val="1"/>
              </a:ext>
            </a:extLst>
          </p:cNvPr>
          <p:cNvSpPr/>
          <p:nvPr/>
        </p:nvSpPr>
        <p:spPr>
          <a:xfrm flipV="1">
            <a:off x="1" y="304800"/>
            <a:ext cx="9156441" cy="609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9" descr="Feel free to share examples of these factors in the chat.&#13;&#10;">
            <a:extLst>
              <a:ext uri="{FF2B5EF4-FFF2-40B4-BE49-F238E27FC236}">
                <a16:creationId xmlns:a16="http://schemas.microsoft.com/office/drawing/2014/main" id="{D068F216-DD4B-B84B-94F8-AFE789D0C55B}"/>
              </a:ext>
            </a:extLst>
          </p:cNvPr>
          <p:cNvSpPr txBox="1"/>
          <p:nvPr/>
        </p:nvSpPr>
        <p:spPr>
          <a:xfrm>
            <a:off x="284724" y="5705614"/>
            <a:ext cx="3185634" cy="707886"/>
          </a:xfrm>
          <a:prstGeom prst="rect">
            <a:avLst/>
          </a:prstGeom>
          <a:effectLst>
            <a:glow rad="139700">
              <a:schemeClr val="accent3">
                <a:satMod val="175000"/>
                <a:alpha val="40000"/>
              </a:schemeClr>
            </a:glow>
            <a:outerShdw blurRad="40000" dist="20000" dir="5400000" rotWithShape="0">
              <a:srgbClr val="000000">
                <a:alpha val="38000"/>
              </a:srgbClr>
            </a:outerShdw>
          </a:effectLst>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US" sz="2000" i="1" dirty="0">
                <a:latin typeface="Arial Narrow" panose="020B0604020202020204" pitchFamily="34" charset="0"/>
                <a:cs typeface="Arial Narrow" panose="020B0604020202020204" pitchFamily="34" charset="0"/>
              </a:rPr>
              <a:t>Feel free to share examples of these factors in the chat.</a:t>
            </a:r>
          </a:p>
        </p:txBody>
      </p:sp>
      <p:sp>
        <p:nvSpPr>
          <p:cNvPr id="20" name="Flowchart: Alternate Process 19" descr="Challenging tasks&#13;&#10;Strengths &#13;&#10;Compensatory strategies &#13;&#10;Self-maintenance strategies&#13;&#10;Learning preference or style&#13;&#10;Progressive or stable nature &#13;&#10;Natural motivators  &#13;&#10;Access &amp; experience with tech&#13;&#10;Technical skill level &#13;&#10;Technology preferences &#13;&#10;Current supports available  &#13;&#10;Accessibility needs &#13;&#10;"/>
          <p:cNvSpPr/>
          <p:nvPr/>
        </p:nvSpPr>
        <p:spPr>
          <a:xfrm>
            <a:off x="3892420" y="457200"/>
            <a:ext cx="4953001" cy="5943600"/>
          </a:xfrm>
          <a:prstGeom prst="flowChartAlternateProcess">
            <a:avLst/>
          </a:prstGeom>
          <a:solidFill>
            <a:schemeClr val="bg1">
              <a:lumMod val="95000"/>
            </a:schemeClr>
          </a:solidFill>
          <a:ln w="34925">
            <a:solidFill>
              <a:schemeClr val="tx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noAutofit/>
          </a:bodyPr>
          <a:lstStyle/>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rPr>
              <a:t>Challenging tasks</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rPr>
              <a:t>Strengths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rPr>
              <a:t>Compensatory strategies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rPr>
              <a:t>Self-maintenance strategies</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rPr>
              <a:t>Learning preference or style</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rPr>
              <a:t>Progressive or stable nature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rPr>
              <a:t>Natural motivators  </a:t>
            </a:r>
          </a:p>
          <a:p>
            <a:pPr marL="285750" lvl="0" indent="-285750" eaLnBrk="1" fontAlgn="auto" hangingPunct="1">
              <a:spcBef>
                <a:spcPts val="800"/>
              </a:spcBef>
              <a:spcAft>
                <a:spcPts val="0"/>
              </a:spcAft>
              <a:buFont typeface="Arial" panose="020B0604020202020204" pitchFamily="34" charset="0"/>
              <a:buChar char="•"/>
              <a:defRPr/>
            </a:pPr>
            <a:r>
              <a:rPr lang="en-US" b="1" i="1" dirty="0">
                <a:solidFill>
                  <a:prstClr val="black">
                    <a:lumMod val="95000"/>
                    <a:lumOff val="5000"/>
                  </a:prstClr>
                </a:solidFill>
              </a:rPr>
              <a:t>Access &amp; experience with tech</a:t>
            </a:r>
          </a:p>
          <a:p>
            <a:pPr marL="285750" lvl="0" indent="-285750" eaLnBrk="1" fontAlgn="auto" hangingPunct="1">
              <a:spcBef>
                <a:spcPts val="800"/>
              </a:spcBef>
              <a:spcAft>
                <a:spcPts val="0"/>
              </a:spcAft>
              <a:buFont typeface="Arial" panose="020B0604020202020204" pitchFamily="34" charset="0"/>
              <a:buChar char="•"/>
              <a:defRPr/>
            </a:pPr>
            <a:r>
              <a:rPr lang="en-US" b="1" i="1" dirty="0">
                <a:solidFill>
                  <a:prstClr val="black">
                    <a:lumMod val="95000"/>
                    <a:lumOff val="5000"/>
                  </a:prstClr>
                </a:solidFill>
              </a:rPr>
              <a:t>Technical skill level </a:t>
            </a:r>
          </a:p>
          <a:p>
            <a:pPr marL="285750" lvl="0" indent="-285750" eaLnBrk="1" fontAlgn="auto" hangingPunct="1">
              <a:spcBef>
                <a:spcPts val="800"/>
              </a:spcBef>
              <a:spcAft>
                <a:spcPts val="0"/>
              </a:spcAft>
              <a:buFont typeface="Arial" panose="020B0604020202020204" pitchFamily="34" charset="0"/>
              <a:buChar char="•"/>
              <a:defRPr/>
            </a:pPr>
            <a:r>
              <a:rPr lang="en-US" b="1" i="1" dirty="0">
                <a:solidFill>
                  <a:prstClr val="black">
                    <a:lumMod val="95000"/>
                    <a:lumOff val="5000"/>
                  </a:prstClr>
                </a:solidFill>
              </a:rPr>
              <a:t>Technology preferences </a:t>
            </a:r>
          </a:p>
          <a:p>
            <a:pPr marL="285750" lvl="0" indent="-285750" eaLnBrk="1" fontAlgn="auto" hangingPunct="1">
              <a:spcBef>
                <a:spcPts val="800"/>
              </a:spcBef>
              <a:spcAft>
                <a:spcPts val="0"/>
              </a:spcAft>
              <a:buFont typeface="Arial" panose="020B0604020202020204" pitchFamily="34" charset="0"/>
              <a:buChar char="•"/>
              <a:defRPr/>
            </a:pPr>
            <a:r>
              <a:rPr lang="en-US" b="1" i="1" dirty="0">
                <a:solidFill>
                  <a:prstClr val="black">
                    <a:lumMod val="95000"/>
                    <a:lumOff val="5000"/>
                  </a:prstClr>
                </a:solidFill>
              </a:rPr>
              <a:t>Current supports available  </a:t>
            </a:r>
            <a:endParaRPr kumimoji="0" lang="en-US" sz="2400" b="1" i="1" u="none" strike="noStrike" kern="1200" cap="none" spc="0" normalizeH="0" baseline="0" noProof="0" dirty="0">
              <a:ln>
                <a:noFill/>
              </a:ln>
              <a:solidFill>
                <a:prstClr val="black">
                  <a:lumMod val="95000"/>
                  <a:lumOff val="5000"/>
                </a:prstClr>
              </a:solidFill>
              <a:effectLst/>
              <a:uLnTx/>
              <a:uFillTx/>
              <a:latin typeface="Calibri"/>
            </a:endParaRPr>
          </a:p>
          <a:p>
            <a:pPr marL="285750" indent="-285750" eaLnBrk="1" fontAlgn="auto" hangingPunct="1">
              <a:spcBef>
                <a:spcPts val="800"/>
              </a:spcBef>
              <a:spcAft>
                <a:spcPts val="0"/>
              </a:spcAft>
              <a:buFont typeface="Arial" panose="020B0604020202020204" pitchFamily="34" charset="0"/>
              <a:buChar char="•"/>
              <a:defRPr/>
            </a:pPr>
            <a:r>
              <a:rPr lang="en-US" b="1" i="1" dirty="0">
                <a:solidFill>
                  <a:prstClr val="black">
                    <a:lumMod val="95000"/>
                    <a:lumOff val="5000"/>
                  </a:prstClr>
                </a:solidFill>
              </a:rPr>
              <a:t>Accessibility needs </a:t>
            </a:r>
            <a:endPar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endParaRPr>
          </a:p>
        </p:txBody>
      </p:sp>
      <p:sp>
        <p:nvSpPr>
          <p:cNvPr id="24" name="Freeform 33">
            <a:hlinkClick r:id="rId3" action="ppaction://hlinksldjump"/>
            <a:extLst>
              <a:ext uri="{C183D7F6-B498-43B3-948B-1728B52AA6E4}">
                <adec:decorative xmlns:adec="http://schemas.microsoft.com/office/drawing/2017/decorative" val="1"/>
              </a:ext>
            </a:extLst>
          </p:cNvPr>
          <p:cNvSpPr>
            <a:spLocks noEditPoints="1"/>
          </p:cNvSpPr>
          <p:nvPr/>
        </p:nvSpPr>
        <p:spPr bwMode="auto">
          <a:xfrm>
            <a:off x="326288" y="1930400"/>
            <a:ext cx="2743200" cy="3291840"/>
          </a:xfrm>
          <a:custGeom>
            <a:avLst/>
            <a:gdLst>
              <a:gd name="T0" fmla="*/ 106 w 211"/>
              <a:gd name="T1" fmla="*/ 0 h 280"/>
              <a:gd name="T2" fmla="*/ 99 w 211"/>
              <a:gd name="T3" fmla="*/ 0 h 280"/>
              <a:gd name="T4" fmla="*/ 2 w 211"/>
              <a:gd name="T5" fmla="*/ 97 h 280"/>
              <a:gd name="T6" fmla="*/ 25 w 211"/>
              <a:gd name="T7" fmla="*/ 171 h 280"/>
              <a:gd name="T8" fmla="*/ 31 w 211"/>
              <a:gd name="T9" fmla="*/ 189 h 280"/>
              <a:gd name="T10" fmla="*/ 31 w 211"/>
              <a:gd name="T11" fmla="*/ 203 h 280"/>
              <a:gd name="T12" fmla="*/ 37 w 211"/>
              <a:gd name="T13" fmla="*/ 220 h 280"/>
              <a:gd name="T14" fmla="*/ 37 w 211"/>
              <a:gd name="T15" fmla="*/ 253 h 280"/>
              <a:gd name="T16" fmla="*/ 52 w 211"/>
              <a:gd name="T17" fmla="*/ 268 h 280"/>
              <a:gd name="T18" fmla="*/ 74 w 211"/>
              <a:gd name="T19" fmla="*/ 268 h 280"/>
              <a:gd name="T20" fmla="*/ 89 w 211"/>
              <a:gd name="T21" fmla="*/ 280 h 280"/>
              <a:gd name="T22" fmla="*/ 124 w 211"/>
              <a:gd name="T23" fmla="*/ 280 h 280"/>
              <a:gd name="T24" fmla="*/ 138 w 211"/>
              <a:gd name="T25" fmla="*/ 268 h 280"/>
              <a:gd name="T26" fmla="*/ 161 w 211"/>
              <a:gd name="T27" fmla="*/ 268 h 280"/>
              <a:gd name="T28" fmla="*/ 176 w 211"/>
              <a:gd name="T29" fmla="*/ 253 h 280"/>
              <a:gd name="T30" fmla="*/ 176 w 211"/>
              <a:gd name="T31" fmla="*/ 220 h 280"/>
              <a:gd name="T32" fmla="*/ 181 w 211"/>
              <a:gd name="T33" fmla="*/ 203 h 280"/>
              <a:gd name="T34" fmla="*/ 181 w 211"/>
              <a:gd name="T35" fmla="*/ 189 h 280"/>
              <a:gd name="T36" fmla="*/ 188 w 211"/>
              <a:gd name="T37" fmla="*/ 171 h 280"/>
              <a:gd name="T38" fmla="*/ 211 w 211"/>
              <a:gd name="T39" fmla="*/ 105 h 280"/>
              <a:gd name="T40" fmla="*/ 106 w 211"/>
              <a:gd name="T41" fmla="*/ 0 h 280"/>
              <a:gd name="T42" fmla="*/ 114 w 211"/>
              <a:gd name="T43" fmla="*/ 203 h 280"/>
              <a:gd name="T44" fmla="*/ 99 w 211"/>
              <a:gd name="T45" fmla="*/ 203 h 280"/>
              <a:gd name="T46" fmla="*/ 99 w 211"/>
              <a:gd name="T47" fmla="*/ 158 h 280"/>
              <a:gd name="T48" fmla="*/ 114 w 211"/>
              <a:gd name="T49" fmla="*/ 158 h 280"/>
              <a:gd name="T50" fmla="*/ 114 w 211"/>
              <a:gd name="T51" fmla="*/ 203 h 280"/>
              <a:gd name="T52" fmla="*/ 164 w 211"/>
              <a:gd name="T53" fmla="*/ 152 h 280"/>
              <a:gd name="T54" fmla="*/ 151 w 211"/>
              <a:gd name="T55" fmla="*/ 189 h 280"/>
              <a:gd name="T56" fmla="*/ 151 w 211"/>
              <a:gd name="T57" fmla="*/ 203 h 280"/>
              <a:gd name="T58" fmla="*/ 129 w 211"/>
              <a:gd name="T59" fmla="*/ 203 h 280"/>
              <a:gd name="T60" fmla="*/ 129 w 211"/>
              <a:gd name="T61" fmla="*/ 158 h 280"/>
              <a:gd name="T62" fmla="*/ 149 w 211"/>
              <a:gd name="T63" fmla="*/ 131 h 280"/>
              <a:gd name="T64" fmla="*/ 146 w 211"/>
              <a:gd name="T65" fmla="*/ 111 h 280"/>
              <a:gd name="T66" fmla="*/ 132 w 211"/>
              <a:gd name="T67" fmla="*/ 105 h 280"/>
              <a:gd name="T68" fmla="*/ 121 w 211"/>
              <a:gd name="T69" fmla="*/ 110 h 280"/>
              <a:gd name="T70" fmla="*/ 113 w 211"/>
              <a:gd name="T71" fmla="*/ 143 h 280"/>
              <a:gd name="T72" fmla="*/ 99 w 211"/>
              <a:gd name="T73" fmla="*/ 143 h 280"/>
              <a:gd name="T74" fmla="*/ 92 w 211"/>
              <a:gd name="T75" fmla="*/ 110 h 280"/>
              <a:gd name="T76" fmla="*/ 81 w 211"/>
              <a:gd name="T77" fmla="*/ 105 h 280"/>
              <a:gd name="T78" fmla="*/ 67 w 211"/>
              <a:gd name="T79" fmla="*/ 111 h 280"/>
              <a:gd name="T80" fmla="*/ 63 w 211"/>
              <a:gd name="T81" fmla="*/ 131 h 280"/>
              <a:gd name="T82" fmla="*/ 84 w 211"/>
              <a:gd name="T83" fmla="*/ 158 h 280"/>
              <a:gd name="T84" fmla="*/ 84 w 211"/>
              <a:gd name="T85" fmla="*/ 203 h 280"/>
              <a:gd name="T86" fmla="*/ 61 w 211"/>
              <a:gd name="T87" fmla="*/ 203 h 280"/>
              <a:gd name="T88" fmla="*/ 61 w 211"/>
              <a:gd name="T89" fmla="*/ 189 h 280"/>
              <a:gd name="T90" fmla="*/ 48 w 211"/>
              <a:gd name="T91" fmla="*/ 152 h 280"/>
              <a:gd name="T92" fmla="*/ 32 w 211"/>
              <a:gd name="T93" fmla="*/ 99 h 280"/>
              <a:gd name="T94" fmla="*/ 101 w 211"/>
              <a:gd name="T95" fmla="*/ 30 h 280"/>
              <a:gd name="T96" fmla="*/ 106 w 211"/>
              <a:gd name="T97" fmla="*/ 30 h 280"/>
              <a:gd name="T98" fmla="*/ 181 w 211"/>
              <a:gd name="T99" fmla="*/ 105 h 280"/>
              <a:gd name="T100" fmla="*/ 164 w 211"/>
              <a:gd name="T101" fmla="*/ 152 h 280"/>
              <a:gd name="T102" fmla="*/ 128 w 211"/>
              <a:gd name="T103" fmla="*/ 142 h 280"/>
              <a:gd name="T104" fmla="*/ 132 w 211"/>
              <a:gd name="T105" fmla="*/ 120 h 280"/>
              <a:gd name="T106" fmla="*/ 134 w 211"/>
              <a:gd name="T107" fmla="*/ 120 h 280"/>
              <a:gd name="T108" fmla="*/ 135 w 211"/>
              <a:gd name="T109" fmla="*/ 128 h 280"/>
              <a:gd name="T110" fmla="*/ 128 w 211"/>
              <a:gd name="T111" fmla="*/ 142 h 280"/>
              <a:gd name="T112" fmla="*/ 84 w 211"/>
              <a:gd name="T113" fmla="*/ 142 h 280"/>
              <a:gd name="T114" fmla="*/ 78 w 211"/>
              <a:gd name="T115" fmla="*/ 128 h 280"/>
              <a:gd name="T116" fmla="*/ 79 w 211"/>
              <a:gd name="T117" fmla="*/ 120 h 280"/>
              <a:gd name="T118" fmla="*/ 81 w 211"/>
              <a:gd name="T119" fmla="*/ 120 h 280"/>
              <a:gd name="T120" fmla="*/ 84 w 211"/>
              <a:gd name="T121" fmla="*/ 142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1" h="280">
                <a:moveTo>
                  <a:pt x="106" y="0"/>
                </a:moveTo>
                <a:cubicBezTo>
                  <a:pt x="104" y="0"/>
                  <a:pt x="101" y="0"/>
                  <a:pt x="99" y="0"/>
                </a:cubicBezTo>
                <a:cubicBezTo>
                  <a:pt x="47" y="4"/>
                  <a:pt x="5" y="46"/>
                  <a:pt x="2" y="97"/>
                </a:cubicBezTo>
                <a:cubicBezTo>
                  <a:pt x="0" y="125"/>
                  <a:pt x="9" y="151"/>
                  <a:pt x="25" y="171"/>
                </a:cubicBezTo>
                <a:cubicBezTo>
                  <a:pt x="29" y="176"/>
                  <a:pt x="31" y="183"/>
                  <a:pt x="31" y="189"/>
                </a:cubicBezTo>
                <a:cubicBezTo>
                  <a:pt x="31" y="203"/>
                  <a:pt x="31" y="203"/>
                  <a:pt x="31" y="203"/>
                </a:cubicBezTo>
                <a:cubicBezTo>
                  <a:pt x="31" y="210"/>
                  <a:pt x="33" y="216"/>
                  <a:pt x="37" y="220"/>
                </a:cubicBezTo>
                <a:cubicBezTo>
                  <a:pt x="37" y="253"/>
                  <a:pt x="37" y="253"/>
                  <a:pt x="37" y="253"/>
                </a:cubicBezTo>
                <a:cubicBezTo>
                  <a:pt x="37" y="261"/>
                  <a:pt x="43" y="268"/>
                  <a:pt x="52" y="268"/>
                </a:cubicBezTo>
                <a:cubicBezTo>
                  <a:pt x="74" y="268"/>
                  <a:pt x="74" y="268"/>
                  <a:pt x="74" y="268"/>
                </a:cubicBezTo>
                <a:cubicBezTo>
                  <a:pt x="76" y="275"/>
                  <a:pt x="82" y="280"/>
                  <a:pt x="89" y="280"/>
                </a:cubicBezTo>
                <a:cubicBezTo>
                  <a:pt x="124" y="280"/>
                  <a:pt x="124" y="280"/>
                  <a:pt x="124" y="280"/>
                </a:cubicBezTo>
                <a:cubicBezTo>
                  <a:pt x="131" y="280"/>
                  <a:pt x="137" y="275"/>
                  <a:pt x="138" y="268"/>
                </a:cubicBezTo>
                <a:cubicBezTo>
                  <a:pt x="161" y="268"/>
                  <a:pt x="161" y="268"/>
                  <a:pt x="161" y="268"/>
                </a:cubicBezTo>
                <a:cubicBezTo>
                  <a:pt x="169" y="268"/>
                  <a:pt x="176" y="261"/>
                  <a:pt x="176" y="253"/>
                </a:cubicBezTo>
                <a:cubicBezTo>
                  <a:pt x="176" y="220"/>
                  <a:pt x="176" y="220"/>
                  <a:pt x="176" y="220"/>
                </a:cubicBezTo>
                <a:cubicBezTo>
                  <a:pt x="179" y="216"/>
                  <a:pt x="181" y="210"/>
                  <a:pt x="181" y="203"/>
                </a:cubicBezTo>
                <a:cubicBezTo>
                  <a:pt x="181" y="189"/>
                  <a:pt x="181" y="189"/>
                  <a:pt x="181" y="189"/>
                </a:cubicBezTo>
                <a:cubicBezTo>
                  <a:pt x="181" y="183"/>
                  <a:pt x="183" y="176"/>
                  <a:pt x="188" y="171"/>
                </a:cubicBezTo>
                <a:cubicBezTo>
                  <a:pt x="202" y="153"/>
                  <a:pt x="211" y="130"/>
                  <a:pt x="211" y="105"/>
                </a:cubicBezTo>
                <a:cubicBezTo>
                  <a:pt x="211" y="47"/>
                  <a:pt x="164" y="0"/>
                  <a:pt x="106" y="0"/>
                </a:cubicBezTo>
                <a:close/>
                <a:moveTo>
                  <a:pt x="114" y="203"/>
                </a:moveTo>
                <a:cubicBezTo>
                  <a:pt x="99" y="203"/>
                  <a:pt x="99" y="203"/>
                  <a:pt x="99" y="203"/>
                </a:cubicBezTo>
                <a:cubicBezTo>
                  <a:pt x="99" y="158"/>
                  <a:pt x="99" y="158"/>
                  <a:pt x="99" y="158"/>
                </a:cubicBezTo>
                <a:cubicBezTo>
                  <a:pt x="114" y="158"/>
                  <a:pt x="114" y="158"/>
                  <a:pt x="114" y="158"/>
                </a:cubicBezTo>
                <a:lnTo>
                  <a:pt x="114" y="203"/>
                </a:lnTo>
                <a:close/>
                <a:moveTo>
                  <a:pt x="164" y="152"/>
                </a:moveTo>
                <a:cubicBezTo>
                  <a:pt x="156" y="162"/>
                  <a:pt x="151" y="176"/>
                  <a:pt x="151" y="189"/>
                </a:cubicBezTo>
                <a:cubicBezTo>
                  <a:pt x="151" y="203"/>
                  <a:pt x="151" y="203"/>
                  <a:pt x="151" y="203"/>
                </a:cubicBezTo>
                <a:cubicBezTo>
                  <a:pt x="129" y="203"/>
                  <a:pt x="129" y="203"/>
                  <a:pt x="129" y="203"/>
                </a:cubicBezTo>
                <a:cubicBezTo>
                  <a:pt x="129" y="158"/>
                  <a:pt x="129" y="158"/>
                  <a:pt x="129" y="158"/>
                </a:cubicBezTo>
                <a:cubicBezTo>
                  <a:pt x="143" y="155"/>
                  <a:pt x="148" y="136"/>
                  <a:pt x="149" y="131"/>
                </a:cubicBezTo>
                <a:cubicBezTo>
                  <a:pt x="149" y="130"/>
                  <a:pt x="152" y="119"/>
                  <a:pt x="146" y="111"/>
                </a:cubicBezTo>
                <a:cubicBezTo>
                  <a:pt x="144" y="108"/>
                  <a:pt x="139" y="105"/>
                  <a:pt x="132" y="105"/>
                </a:cubicBezTo>
                <a:cubicBezTo>
                  <a:pt x="127" y="105"/>
                  <a:pt x="124" y="106"/>
                  <a:pt x="121" y="110"/>
                </a:cubicBezTo>
                <a:cubicBezTo>
                  <a:pt x="114" y="117"/>
                  <a:pt x="113" y="131"/>
                  <a:pt x="113" y="143"/>
                </a:cubicBezTo>
                <a:cubicBezTo>
                  <a:pt x="99" y="143"/>
                  <a:pt x="99" y="143"/>
                  <a:pt x="99" y="143"/>
                </a:cubicBezTo>
                <a:cubicBezTo>
                  <a:pt x="100" y="131"/>
                  <a:pt x="98" y="117"/>
                  <a:pt x="92" y="110"/>
                </a:cubicBezTo>
                <a:cubicBezTo>
                  <a:pt x="89" y="106"/>
                  <a:pt x="85" y="105"/>
                  <a:pt x="81" y="105"/>
                </a:cubicBezTo>
                <a:cubicBezTo>
                  <a:pt x="73" y="105"/>
                  <a:pt x="69" y="108"/>
                  <a:pt x="67" y="111"/>
                </a:cubicBezTo>
                <a:cubicBezTo>
                  <a:pt x="61" y="119"/>
                  <a:pt x="63" y="130"/>
                  <a:pt x="63" y="131"/>
                </a:cubicBezTo>
                <a:cubicBezTo>
                  <a:pt x="64" y="135"/>
                  <a:pt x="70" y="155"/>
                  <a:pt x="84" y="158"/>
                </a:cubicBezTo>
                <a:cubicBezTo>
                  <a:pt x="84" y="203"/>
                  <a:pt x="84" y="203"/>
                  <a:pt x="84" y="203"/>
                </a:cubicBezTo>
                <a:cubicBezTo>
                  <a:pt x="61" y="203"/>
                  <a:pt x="61" y="203"/>
                  <a:pt x="61" y="203"/>
                </a:cubicBezTo>
                <a:cubicBezTo>
                  <a:pt x="61" y="189"/>
                  <a:pt x="61" y="189"/>
                  <a:pt x="61" y="189"/>
                </a:cubicBezTo>
                <a:cubicBezTo>
                  <a:pt x="61" y="176"/>
                  <a:pt x="57" y="162"/>
                  <a:pt x="48" y="152"/>
                </a:cubicBezTo>
                <a:cubicBezTo>
                  <a:pt x="36" y="137"/>
                  <a:pt x="30" y="118"/>
                  <a:pt x="32" y="99"/>
                </a:cubicBezTo>
                <a:cubicBezTo>
                  <a:pt x="34" y="62"/>
                  <a:pt x="64" y="32"/>
                  <a:pt x="101" y="30"/>
                </a:cubicBezTo>
                <a:cubicBezTo>
                  <a:pt x="103" y="30"/>
                  <a:pt x="105" y="30"/>
                  <a:pt x="106" y="30"/>
                </a:cubicBezTo>
                <a:cubicBezTo>
                  <a:pt x="148" y="30"/>
                  <a:pt x="181" y="63"/>
                  <a:pt x="181" y="105"/>
                </a:cubicBezTo>
                <a:cubicBezTo>
                  <a:pt x="181" y="122"/>
                  <a:pt x="175" y="138"/>
                  <a:pt x="164" y="152"/>
                </a:cubicBezTo>
                <a:close/>
                <a:moveTo>
                  <a:pt x="128" y="142"/>
                </a:moveTo>
                <a:cubicBezTo>
                  <a:pt x="128" y="131"/>
                  <a:pt x="130" y="122"/>
                  <a:pt x="132" y="120"/>
                </a:cubicBezTo>
                <a:cubicBezTo>
                  <a:pt x="133" y="120"/>
                  <a:pt x="134" y="120"/>
                  <a:pt x="134" y="120"/>
                </a:cubicBezTo>
                <a:cubicBezTo>
                  <a:pt x="135" y="122"/>
                  <a:pt x="135" y="126"/>
                  <a:pt x="135" y="128"/>
                </a:cubicBezTo>
                <a:cubicBezTo>
                  <a:pt x="133" y="134"/>
                  <a:pt x="130" y="139"/>
                  <a:pt x="128" y="142"/>
                </a:cubicBezTo>
                <a:close/>
                <a:moveTo>
                  <a:pt x="84" y="142"/>
                </a:moveTo>
                <a:cubicBezTo>
                  <a:pt x="82" y="139"/>
                  <a:pt x="79" y="134"/>
                  <a:pt x="78" y="128"/>
                </a:cubicBezTo>
                <a:cubicBezTo>
                  <a:pt x="78" y="126"/>
                  <a:pt x="77" y="122"/>
                  <a:pt x="79" y="120"/>
                </a:cubicBezTo>
                <a:cubicBezTo>
                  <a:pt x="79" y="120"/>
                  <a:pt x="80" y="120"/>
                  <a:pt x="81" y="120"/>
                </a:cubicBezTo>
                <a:cubicBezTo>
                  <a:pt x="83" y="122"/>
                  <a:pt x="84" y="131"/>
                  <a:pt x="84" y="142"/>
                </a:cubicBezTo>
                <a:close/>
              </a:path>
            </a:pathLst>
          </a:custGeom>
          <a:solidFill>
            <a:schemeClr val="accent3">
              <a:lumMod val="75000"/>
            </a:schemeClr>
          </a:solidFill>
          <a:ln w="34925">
            <a:noFill/>
          </a:ln>
          <a:effectLst>
            <a:innerShdw blurRad="63500" dist="50800" dir="13500000">
              <a:prstClr val="black">
                <a:alpha val="50000"/>
              </a:prstClr>
            </a:innerShdw>
          </a:effectLst>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Geneva" panose="020B0503030404040204" pitchFamily="34" charset="0"/>
              <a:cs typeface="+mn-cs"/>
            </a:endParaRPr>
          </a:p>
        </p:txBody>
      </p:sp>
      <p:sp>
        <p:nvSpPr>
          <p:cNvPr id="19" name="CasetăText 103">
            <a:extLst>
              <a:ext uri="{C183D7F6-B498-43B3-948B-1728B52AA6E4}">
                <adec:decorative xmlns:adec="http://schemas.microsoft.com/office/drawing/2017/decorative" val="1"/>
              </a:ext>
            </a:extLst>
          </p:cNvPr>
          <p:cNvSpPr txBox="1"/>
          <p:nvPr/>
        </p:nvSpPr>
        <p:spPr>
          <a:xfrm>
            <a:off x="0" y="838200"/>
            <a:ext cx="3276600" cy="1066800"/>
          </a:xfrm>
          <a:prstGeom prst="rect">
            <a:avLst/>
          </a:prstGeom>
          <a:noFill/>
        </p:spPr>
        <p:txBody>
          <a:bodyPr wrap="square" rtlCol="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solidFill>
                    <a:prstClr val="black">
                      <a:lumMod val="85000"/>
                      <a:lumOff val="15000"/>
                    </a:prstClr>
                  </a:solidFill>
                </a:ln>
                <a:solidFill>
                  <a:srgbClr val="8064A2">
                    <a:lumMod val="75000"/>
                  </a:srgbClr>
                </a:solidFill>
                <a:effectLst/>
                <a:uLnTx/>
                <a:uFillTx/>
                <a:latin typeface="Calibri"/>
                <a:ea typeface="Geneva" panose="020B0503030404040204" pitchFamily="34" charset="0"/>
                <a:cs typeface="+mn-cs"/>
              </a:rPr>
              <a:t> </a:t>
            </a:r>
            <a:r>
              <a:rPr kumimoji="0" lang="en-US" sz="5400" b="1" i="0" u="none" strike="noStrike" kern="1200" cap="none" spc="0" normalizeH="0" baseline="0" noProof="0" dirty="0">
                <a:ln>
                  <a:solidFill>
                    <a:prstClr val="black">
                      <a:lumMod val="85000"/>
                      <a:lumOff val="15000"/>
                    </a:prstClr>
                  </a:solidFill>
                </a:ln>
                <a:solidFill>
                  <a:srgbClr val="9BBB59">
                    <a:lumMod val="75000"/>
                  </a:srgbClr>
                </a:solidFill>
                <a:effectLst/>
                <a:uLnTx/>
                <a:uFillTx/>
                <a:latin typeface="Calibri"/>
                <a:ea typeface="Geneva" panose="020B0503030404040204" pitchFamily="34" charset="0"/>
                <a:cs typeface="+mn-cs"/>
              </a:rPr>
              <a:t>Individual </a:t>
            </a:r>
          </a:p>
        </p:txBody>
      </p:sp>
      <p:sp>
        <p:nvSpPr>
          <p:cNvPr id="8" name="Rectangle 7">
            <a:extLst>
              <a:ext uri="{C183D7F6-B498-43B3-948B-1728B52AA6E4}">
                <adec:decorative xmlns:adec="http://schemas.microsoft.com/office/drawing/2017/decorative" val="1"/>
              </a:ext>
            </a:extLst>
          </p:cNvPr>
          <p:cNvSpPr>
            <a:spLocks noChangeArrowheads="1"/>
          </p:cNvSpPr>
          <p:nvPr/>
        </p:nvSpPr>
        <p:spPr bwMode="auto">
          <a:xfrm>
            <a:off x="-6031" y="16164"/>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Geneva" panose="020B0503030404040204" pitchFamily="34" charset="0"/>
              <a:cs typeface="+mn-cs"/>
            </a:endParaRPr>
          </a:p>
        </p:txBody>
      </p:sp>
      <p:sp>
        <p:nvSpPr>
          <p:cNvPr id="2" name="Title 1">
            <a:extLst>
              <a:ext uri="{FF2B5EF4-FFF2-40B4-BE49-F238E27FC236}">
                <a16:creationId xmlns:a16="http://schemas.microsoft.com/office/drawing/2014/main" id="{16CDE95B-85EA-E444-9A4A-741AEABB9DDF}"/>
              </a:ext>
            </a:extLst>
          </p:cNvPr>
          <p:cNvSpPr>
            <a:spLocks noGrp="1"/>
          </p:cNvSpPr>
          <p:nvPr>
            <p:ph type="title"/>
          </p:nvPr>
        </p:nvSpPr>
        <p:spPr>
          <a:xfrm>
            <a:off x="766970" y="-1940023"/>
            <a:ext cx="8229600" cy="1143000"/>
          </a:xfrm>
        </p:spPr>
        <p:txBody>
          <a:bodyPr/>
          <a:lstStyle/>
          <a:p>
            <a:r>
              <a:rPr lang="en-US" dirty="0"/>
              <a:t>Individual</a:t>
            </a:r>
          </a:p>
        </p:txBody>
      </p:sp>
      <p:sp>
        <p:nvSpPr>
          <p:cNvPr id="3" name="Slide Number Placeholder 2">
            <a:extLst>
              <a:ext uri="{FF2B5EF4-FFF2-40B4-BE49-F238E27FC236}">
                <a16:creationId xmlns:a16="http://schemas.microsoft.com/office/drawing/2014/main" id="{0E541DF9-C53B-314C-946C-40D2F04BF4FD}"/>
              </a:ext>
            </a:extLst>
          </p:cNvPr>
          <p:cNvSpPr>
            <a:spLocks noGrp="1"/>
          </p:cNvSpPr>
          <p:nvPr>
            <p:ph type="sldNum" sz="quarter" idx="12"/>
          </p:nvPr>
        </p:nvSpPr>
        <p:spPr>
          <a:xfrm>
            <a:off x="6867332" y="6395893"/>
            <a:ext cx="2133600" cy="365125"/>
          </a:xfrm>
        </p:spPr>
        <p:txBody>
          <a:bodyPr/>
          <a:lstStyle/>
          <a:p>
            <a:fld id="{5D7CCB52-5D48-470B-B8DA-D8134110C94D}" type="slidenum">
              <a:rPr lang="en-US" smtClean="0"/>
              <a:t>14</a:t>
            </a:fld>
            <a:endParaRPr lang="en-US" dirty="0"/>
          </a:p>
        </p:txBody>
      </p:sp>
    </p:spTree>
    <p:extLst>
      <p:ext uri="{BB962C8B-B14F-4D97-AF65-F5344CB8AC3E}">
        <p14:creationId xmlns:p14="http://schemas.microsoft.com/office/powerpoint/2010/main" val="286482333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200"/>
                                  </p:stCondLst>
                                  <p:childTnLst>
                                    <p:set>
                                      <p:cBhvr>
                                        <p:cTn id="6" dur="1" fill="hold">
                                          <p:stCondLst>
                                            <p:cond delay="0"/>
                                          </p:stCondLst>
                                        </p:cTn>
                                        <p:tgtEl>
                                          <p:spTgt spid="24"/>
                                        </p:tgtEl>
                                        <p:attrNameLst>
                                          <p:attrName>style.visibility</p:attrName>
                                        </p:attrNameLst>
                                      </p:cBhvr>
                                      <p:to>
                                        <p:strVal val="visible"/>
                                      </p:to>
                                    </p:set>
                                    <p:animEffect transition="in" filter="wipe(down)">
                                      <p:cBhvr>
                                        <p:cTn id="7" dur="1400"/>
                                        <p:tgtEl>
                                          <p:spTgt spid="24"/>
                                        </p:tgtEl>
                                      </p:cBhvr>
                                    </p:animEffect>
                                  </p:childTnLst>
                                </p:cTn>
                              </p:par>
                              <p:par>
                                <p:cTn id="8" presetID="10" presetClass="entr" presetSubtype="0" fill="hold" grpId="1" nodeType="withEffect">
                                  <p:stCondLst>
                                    <p:cond delay="20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3000"/>
                                        <p:tgtEl>
                                          <p:spTgt spid="20"/>
                                        </p:tgtEl>
                                      </p:cBhvr>
                                    </p:animEffect>
                                  </p:childTnLst>
                                </p:cTn>
                              </p:par>
                              <p:par>
                                <p:cTn id="11" presetID="2" presetClass="entr" presetSubtype="8" decel="91000" fill="hold" grpId="0" nodeType="withEffect">
                                  <p:stCondLst>
                                    <p:cond delay="20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1200" fill="hold"/>
                                        <p:tgtEl>
                                          <p:spTgt spid="20"/>
                                        </p:tgtEl>
                                        <p:attrNameLst>
                                          <p:attrName>ppt_x</p:attrName>
                                        </p:attrNameLst>
                                      </p:cBhvr>
                                      <p:tavLst>
                                        <p:tav tm="0">
                                          <p:val>
                                            <p:strVal val="0-#ppt_w/2"/>
                                          </p:val>
                                        </p:tav>
                                        <p:tav tm="100000">
                                          <p:val>
                                            <p:strVal val="#ppt_x"/>
                                          </p:val>
                                        </p:tav>
                                      </p:tavLst>
                                    </p:anim>
                                    <p:anim calcmode="lin" valueType="num">
                                      <p:cBhvr additive="base">
                                        <p:cTn id="14" dur="1200" fill="hold"/>
                                        <p:tgtEl>
                                          <p:spTgt spid="20"/>
                                        </p:tgtEl>
                                        <p:attrNameLst>
                                          <p:attrName>ppt_y</p:attrName>
                                        </p:attrNameLst>
                                      </p:cBhvr>
                                      <p:tavLst>
                                        <p:tav tm="0">
                                          <p:val>
                                            <p:strVal val="#ppt_y"/>
                                          </p:val>
                                        </p:tav>
                                        <p:tav tm="100000">
                                          <p:val>
                                            <p:strVal val="#ppt_y"/>
                                          </p:val>
                                        </p:tav>
                                      </p:tavLst>
                                    </p:anim>
                                  </p:childTnLst>
                                </p:cTn>
                              </p:par>
                              <p:par>
                                <p:cTn id="15" presetID="53" presetClass="entr" presetSubtype="16" fill="hold" grpId="2" nodeType="withEffect">
                                  <p:stCondLst>
                                    <p:cond delay="200"/>
                                  </p:stCondLst>
                                  <p:childTnLst>
                                    <p:set>
                                      <p:cBhvr>
                                        <p:cTn id="16" dur="1" fill="hold">
                                          <p:stCondLst>
                                            <p:cond delay="0"/>
                                          </p:stCondLst>
                                        </p:cTn>
                                        <p:tgtEl>
                                          <p:spTgt spid="20"/>
                                        </p:tgtEl>
                                        <p:attrNameLst>
                                          <p:attrName>style.visibility</p:attrName>
                                        </p:attrNameLst>
                                      </p:cBhvr>
                                      <p:to>
                                        <p:strVal val="visible"/>
                                      </p:to>
                                    </p:set>
                                    <p:anim calcmode="lin" valueType="num">
                                      <p:cBhvr>
                                        <p:cTn id="17" dur="1200" fill="hold"/>
                                        <p:tgtEl>
                                          <p:spTgt spid="20"/>
                                        </p:tgtEl>
                                        <p:attrNameLst>
                                          <p:attrName>ppt_w</p:attrName>
                                        </p:attrNameLst>
                                      </p:cBhvr>
                                      <p:tavLst>
                                        <p:tav tm="0">
                                          <p:val>
                                            <p:fltVal val="0"/>
                                          </p:val>
                                        </p:tav>
                                        <p:tav tm="100000">
                                          <p:val>
                                            <p:strVal val="#ppt_w"/>
                                          </p:val>
                                        </p:tav>
                                      </p:tavLst>
                                    </p:anim>
                                    <p:anim calcmode="lin" valueType="num">
                                      <p:cBhvr>
                                        <p:cTn id="18" dur="1200" fill="hold"/>
                                        <p:tgtEl>
                                          <p:spTgt spid="20"/>
                                        </p:tgtEl>
                                        <p:attrNameLst>
                                          <p:attrName>ppt_h</p:attrName>
                                        </p:attrNameLst>
                                      </p:cBhvr>
                                      <p:tavLst>
                                        <p:tav tm="0">
                                          <p:val>
                                            <p:fltVal val="0"/>
                                          </p:val>
                                        </p:tav>
                                        <p:tav tm="100000">
                                          <p:val>
                                            <p:strVal val="#ppt_h"/>
                                          </p:val>
                                        </p:tav>
                                      </p:tavLst>
                                    </p:anim>
                                    <p:animEffect transition="in" filter="fade">
                                      <p:cBhvr>
                                        <p:cTn id="19" dur="1200"/>
                                        <p:tgtEl>
                                          <p:spTgt spid="20"/>
                                        </p:tgtEl>
                                      </p:cBhvr>
                                    </p:animEffect>
                                  </p:childTnLst>
                                </p:cTn>
                              </p:par>
                              <p:par>
                                <p:cTn id="20" presetID="42" presetClass="entr" presetSubtype="0" fill="hold" grpId="0" nodeType="withEffect">
                                  <p:stCondLst>
                                    <p:cond delay="150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1000"/>
                                        <p:tgtEl>
                                          <p:spTgt spid="19"/>
                                        </p:tgtEl>
                                      </p:cBhvr>
                                    </p:animEffect>
                                    <p:anim calcmode="lin" valueType="num">
                                      <p:cBhvr>
                                        <p:cTn id="23" dur="1000" fill="hold"/>
                                        <p:tgtEl>
                                          <p:spTgt spid="19"/>
                                        </p:tgtEl>
                                        <p:attrNameLst>
                                          <p:attrName>ppt_x</p:attrName>
                                        </p:attrNameLst>
                                      </p:cBhvr>
                                      <p:tavLst>
                                        <p:tav tm="0">
                                          <p:val>
                                            <p:strVal val="#ppt_x"/>
                                          </p:val>
                                        </p:tav>
                                        <p:tav tm="100000">
                                          <p:val>
                                            <p:strVal val="#ppt_x"/>
                                          </p:val>
                                        </p:tav>
                                      </p:tavLst>
                                    </p:anim>
                                    <p:anim calcmode="lin" valueType="num">
                                      <p:cBhvr>
                                        <p:cTn id="24" dur="1000" fill="hold"/>
                                        <p:tgtEl>
                                          <p:spTgt spid="19"/>
                                        </p:tgtEl>
                                        <p:attrNameLst>
                                          <p:attrName>ppt_y</p:attrName>
                                        </p:attrNameLst>
                                      </p:cBhvr>
                                      <p:tavLst>
                                        <p:tav tm="0">
                                          <p:val>
                                            <p:strVal val="#ppt_y+.1"/>
                                          </p:val>
                                        </p:tav>
                                        <p:tav tm="100000">
                                          <p:val>
                                            <p:strVal val="#ppt_y"/>
                                          </p:val>
                                        </p:tav>
                                      </p:tavLst>
                                    </p:anim>
                                  </p:childTnLst>
                                </p:cTn>
                              </p:par>
                            </p:childTnLst>
                          </p:cTn>
                        </p:par>
                        <p:par>
                          <p:cTn id="25" fill="hold">
                            <p:stCondLst>
                              <p:cond delay="3200"/>
                            </p:stCondLst>
                            <p:childTnLst>
                              <p:par>
                                <p:cTn id="26" presetID="53" presetClass="entr" presetSubtype="16"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500" fill="hold"/>
                                        <p:tgtEl>
                                          <p:spTgt spid="10"/>
                                        </p:tgtEl>
                                        <p:attrNameLst>
                                          <p:attrName>ppt_w</p:attrName>
                                        </p:attrNameLst>
                                      </p:cBhvr>
                                      <p:tavLst>
                                        <p:tav tm="0">
                                          <p:val>
                                            <p:fltVal val="0"/>
                                          </p:val>
                                        </p:tav>
                                        <p:tav tm="100000">
                                          <p:val>
                                            <p:strVal val="#ppt_w"/>
                                          </p:val>
                                        </p:tav>
                                      </p:tavLst>
                                    </p:anim>
                                    <p:anim calcmode="lin" valueType="num">
                                      <p:cBhvr>
                                        <p:cTn id="29" dur="500" fill="hold"/>
                                        <p:tgtEl>
                                          <p:spTgt spid="10"/>
                                        </p:tgtEl>
                                        <p:attrNameLst>
                                          <p:attrName>ppt_h</p:attrName>
                                        </p:attrNameLst>
                                      </p:cBhvr>
                                      <p:tavLst>
                                        <p:tav tm="0">
                                          <p:val>
                                            <p:fltVal val="0"/>
                                          </p:val>
                                        </p:tav>
                                        <p:tav tm="100000">
                                          <p:val>
                                            <p:strVal val="#ppt_h"/>
                                          </p:val>
                                        </p:tav>
                                      </p:tavLst>
                                    </p:anim>
                                    <p:animEffect transition="in" filter="fade">
                                      <p:cBhvr>
                                        <p:cTn id="3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0" grpId="0" animBg="1"/>
      <p:bldP spid="20" grpId="1" animBg="1"/>
      <p:bldP spid="20" grpId="2" animBg="1"/>
      <p:bldP spid="24" grpId="0" animBg="1"/>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BCEADBE-0DBF-3D44-B47C-4161CA8BB755}"/>
              </a:ext>
            </a:extLst>
          </p:cNvPr>
          <p:cNvSpPr>
            <a:spLocks noGrp="1"/>
          </p:cNvSpPr>
          <p:nvPr>
            <p:ph type="title"/>
          </p:nvPr>
        </p:nvSpPr>
        <p:spPr>
          <a:xfrm>
            <a:off x="304800" y="-1219200"/>
            <a:ext cx="8229600" cy="579438"/>
          </a:xfrm>
        </p:spPr>
        <p:txBody>
          <a:bodyPr>
            <a:normAutofit/>
          </a:bodyPr>
          <a:lstStyle/>
          <a:p>
            <a:r>
              <a:rPr lang="en-US" sz="2000" dirty="0"/>
              <a:t>Technology Availability &amp; Skills Assessment</a:t>
            </a:r>
          </a:p>
        </p:txBody>
      </p:sp>
      <p:sp>
        <p:nvSpPr>
          <p:cNvPr id="4" name="Slide Number Placeholder 3">
            <a:extLst>
              <a:ext uri="{FF2B5EF4-FFF2-40B4-BE49-F238E27FC236}">
                <a16:creationId xmlns:a16="http://schemas.microsoft.com/office/drawing/2014/main" id="{27B60EAE-E7BC-0F47-85DB-9D1181E60835}"/>
              </a:ext>
            </a:extLst>
          </p:cNvPr>
          <p:cNvSpPr>
            <a:spLocks noGrp="1"/>
          </p:cNvSpPr>
          <p:nvPr>
            <p:ph type="sldNum" sz="quarter" idx="12"/>
          </p:nvPr>
        </p:nvSpPr>
        <p:spPr/>
        <p:txBody>
          <a:bodyPr/>
          <a:lstStyle/>
          <a:p>
            <a:fld id="{5D7CCB52-5D48-470B-B8DA-D8134110C94D}" type="slidenum">
              <a:rPr lang="en-US" sz="1400" smtClean="0"/>
              <a:t>15</a:t>
            </a:fld>
            <a:endParaRPr lang="en-US" sz="1400" dirty="0"/>
          </a:p>
        </p:txBody>
      </p:sp>
      <p:sp>
        <p:nvSpPr>
          <p:cNvPr id="11" name="Rectangle 10">
            <a:extLst>
              <a:ext uri="{FF2B5EF4-FFF2-40B4-BE49-F238E27FC236}">
                <a16:creationId xmlns:a16="http://schemas.microsoft.com/office/drawing/2014/main" id="{19207892-3B4F-DF4E-82E0-B525BE5D55C3}"/>
              </a:ext>
              <a:ext uri="{C183D7F6-B498-43B3-948B-1728B52AA6E4}">
                <adec:decorative xmlns:adec="http://schemas.microsoft.com/office/drawing/2017/decorative" val="1"/>
              </a:ext>
            </a:extLst>
          </p:cNvPr>
          <p:cNvSpPr>
            <a:spLocks noChangeArrowheads="1"/>
          </p:cNvSpPr>
          <p:nvPr/>
        </p:nvSpPr>
        <p:spPr bwMode="auto">
          <a:xfrm>
            <a:off x="-6031" y="16164"/>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Geneva" panose="020B0503030404040204" pitchFamily="34" charset="0"/>
              <a:cs typeface="+mn-cs"/>
            </a:endParaRPr>
          </a:p>
        </p:txBody>
      </p:sp>
      <p:pic>
        <p:nvPicPr>
          <p:cNvPr id="3" name="Picture 2">
            <a:extLst>
              <a:ext uri="{FF2B5EF4-FFF2-40B4-BE49-F238E27FC236}">
                <a16:creationId xmlns:a16="http://schemas.microsoft.com/office/drawing/2014/main" id="{B74C0EEA-E464-5947-83C6-8742928732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1988" y="976890"/>
            <a:ext cx="4114800" cy="5325035"/>
          </a:xfrm>
          <a:prstGeom prst="rect">
            <a:avLst/>
          </a:prstGeom>
          <a:ln>
            <a:solidFill>
              <a:schemeClr val="tx1"/>
            </a:solidFill>
          </a:ln>
        </p:spPr>
      </p:pic>
      <p:pic>
        <p:nvPicPr>
          <p:cNvPr id="8" name="Picture 7" descr="Graphical user interface, text, application, chat or text message&#10;&#10;Description automatically generated">
            <a:extLst>
              <a:ext uri="{FF2B5EF4-FFF2-40B4-BE49-F238E27FC236}">
                <a16:creationId xmlns:a16="http://schemas.microsoft.com/office/drawing/2014/main" id="{65E01A54-B179-7842-9ED7-57AEB2E99D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27129" y="685800"/>
            <a:ext cx="4242577" cy="3886200"/>
          </a:xfrm>
          <a:prstGeom prst="rect">
            <a:avLst/>
          </a:prstGeom>
        </p:spPr>
      </p:pic>
    </p:spTree>
    <p:extLst>
      <p:ext uri="{BB962C8B-B14F-4D97-AF65-F5344CB8AC3E}">
        <p14:creationId xmlns:p14="http://schemas.microsoft.com/office/powerpoint/2010/main" val="1849299167"/>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bg>
      <p:bgPr>
        <a:pattFill prst="pct5">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13" name="Rectangle 12">
            <a:extLst>
              <a:ext uri="{C183D7F6-B498-43B3-948B-1728B52AA6E4}">
                <adec:decorative xmlns:adec="http://schemas.microsoft.com/office/drawing/2017/decorative" val="1"/>
              </a:ext>
            </a:extLst>
          </p:cNvPr>
          <p:cNvSpPr/>
          <p:nvPr/>
        </p:nvSpPr>
        <p:spPr>
          <a:xfrm flipV="1">
            <a:off x="1" y="304800"/>
            <a:ext cx="9156441" cy="5734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13" descr="Feel free to share examples of these factors in the chat.&#13;&#10;">
            <a:extLst>
              <a:ext uri="{FF2B5EF4-FFF2-40B4-BE49-F238E27FC236}">
                <a16:creationId xmlns:a16="http://schemas.microsoft.com/office/drawing/2014/main" id="{93B4627B-EB27-1148-8BED-AF51EAA1B199}"/>
              </a:ext>
            </a:extLst>
          </p:cNvPr>
          <p:cNvSpPr txBox="1"/>
          <p:nvPr/>
        </p:nvSpPr>
        <p:spPr>
          <a:xfrm>
            <a:off x="288636" y="5818257"/>
            <a:ext cx="3185634" cy="707886"/>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en-US" sz="2000" i="1" dirty="0">
                <a:latin typeface="Arial Narrow" panose="020B0604020202020204" pitchFamily="34" charset="0"/>
                <a:cs typeface="Arial Narrow" panose="020B0604020202020204" pitchFamily="34" charset="0"/>
              </a:rPr>
              <a:t>Feel free to share examples of these factors in the chat.</a:t>
            </a:r>
          </a:p>
        </p:txBody>
      </p:sp>
      <p:sp>
        <p:nvSpPr>
          <p:cNvPr id="8" name="Flowchart: Alternate Process 7" descr="In what environment is the barrier occurring?  &#13;&#10;Resources available to everyone in the environment &#13;&#10;Policies &amp; attitudes related to technology &#13;&#10;Required tasks &#13;&#10;Safety, security, or environmental concerns that may impact the use of tech&#13;&#10;Available supports&#13;&#10;Environmental infrastructure &#13;&#10;"/>
          <p:cNvSpPr/>
          <p:nvPr/>
        </p:nvSpPr>
        <p:spPr>
          <a:xfrm>
            <a:off x="4114800" y="457200"/>
            <a:ext cx="4876800" cy="5886450"/>
          </a:xfrm>
          <a:prstGeom prst="flowChartAlternateProcess">
            <a:avLst/>
          </a:prstGeom>
          <a:solidFill>
            <a:schemeClr val="bg1">
              <a:lumMod val="95000"/>
            </a:schemeClr>
          </a:solidFill>
          <a:ln w="34925">
            <a:solidFill>
              <a:schemeClr val="tx1"/>
            </a:solidFill>
          </a:ln>
          <a:effectLst>
            <a:innerShdw blurRad="63500" dist="50800" dir="13500000">
              <a:schemeClr val="tx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normAutofit lnSpcReduction="10000"/>
          </a:bodyPr>
          <a:lstStyle/>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lumMod val="95000"/>
                    <a:lumOff val="5000"/>
                  </a:prstClr>
                </a:solidFill>
                <a:effectLst/>
                <a:uLnTx/>
                <a:uFillTx/>
                <a:latin typeface="Calibri"/>
                <a:ea typeface="+mn-ea"/>
                <a:cs typeface="+mn-cs"/>
              </a:rPr>
              <a:t>In what environment is the barrier occurring?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lumMod val="95000"/>
                    <a:lumOff val="5000"/>
                  </a:prstClr>
                </a:solidFill>
                <a:effectLst/>
                <a:uLnTx/>
                <a:uFillTx/>
                <a:latin typeface="Calibri"/>
                <a:ea typeface="+mn-ea"/>
                <a:cs typeface="+mn-cs"/>
              </a:rPr>
              <a:t>Resources available to everyone in the environment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lumMod val="95000"/>
                    <a:lumOff val="5000"/>
                  </a:prstClr>
                </a:solidFill>
                <a:effectLst/>
                <a:uLnTx/>
                <a:uFillTx/>
                <a:latin typeface="Calibri"/>
                <a:ea typeface="+mn-ea"/>
                <a:cs typeface="+mn-cs"/>
              </a:rPr>
              <a:t>Policies &amp; attitudes related to technology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lumMod val="95000"/>
                    <a:lumOff val="5000"/>
                  </a:prstClr>
                </a:solidFill>
                <a:effectLst/>
                <a:uLnTx/>
                <a:uFillTx/>
                <a:latin typeface="Calibri"/>
                <a:ea typeface="+mn-ea"/>
                <a:cs typeface="+mn-cs"/>
              </a:rPr>
              <a:t>Required tasks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lumMod val="95000"/>
                    <a:lumOff val="5000"/>
                  </a:prstClr>
                </a:solidFill>
                <a:effectLst/>
                <a:uLnTx/>
                <a:uFillTx/>
                <a:latin typeface="Calibri"/>
                <a:ea typeface="+mn-ea"/>
                <a:cs typeface="+mn-cs"/>
              </a:rPr>
              <a:t>Safety, security, or environmental concerns that may impact the use of tech</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lumMod val="95000"/>
                    <a:lumOff val="5000"/>
                  </a:prstClr>
                </a:solidFill>
                <a:effectLst/>
                <a:uLnTx/>
                <a:uFillTx/>
                <a:latin typeface="Calibri"/>
                <a:ea typeface="+mn-ea"/>
                <a:cs typeface="+mn-cs"/>
              </a:rPr>
              <a:t>Available supports</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lumMod val="95000"/>
                    <a:lumOff val="5000"/>
                  </a:prstClr>
                </a:solidFill>
                <a:effectLst/>
                <a:uLnTx/>
                <a:uFillTx/>
                <a:latin typeface="Calibri"/>
                <a:ea typeface="+mn-ea"/>
                <a:cs typeface="+mn-cs"/>
              </a:rPr>
              <a:t>Environmental infrastructure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600" b="0" i="0" u="none" strike="noStrike" kern="1200" cap="none" spc="0" normalizeH="0" baseline="0" noProof="0" dirty="0">
              <a:ln>
                <a:noFill/>
              </a:ln>
              <a:solidFill>
                <a:prstClr val="black">
                  <a:lumMod val="95000"/>
                  <a:lumOff val="5000"/>
                </a:prstClr>
              </a:solidFill>
              <a:effectLst/>
              <a:uLnTx/>
              <a:uFillTx/>
              <a:latin typeface="Calibri"/>
              <a:ea typeface="+mn-ea"/>
              <a:cs typeface="+mn-cs"/>
            </a:endParaRPr>
          </a:p>
        </p:txBody>
      </p:sp>
      <p:sp>
        <p:nvSpPr>
          <p:cNvPr id="11" name="Freeform 33">
            <a:hlinkClick r:id="rId3" action="ppaction://hlinksldjump"/>
            <a:extLst>
              <a:ext uri="{C183D7F6-B498-43B3-948B-1728B52AA6E4}">
                <adec:decorative xmlns:adec="http://schemas.microsoft.com/office/drawing/2017/decorative" val="1"/>
              </a:ext>
            </a:extLst>
          </p:cNvPr>
          <p:cNvSpPr>
            <a:spLocks noEditPoints="1"/>
          </p:cNvSpPr>
          <p:nvPr/>
        </p:nvSpPr>
        <p:spPr bwMode="auto">
          <a:xfrm>
            <a:off x="457200" y="2133600"/>
            <a:ext cx="2743200" cy="3291840"/>
          </a:xfrm>
          <a:custGeom>
            <a:avLst/>
            <a:gdLst>
              <a:gd name="T0" fmla="*/ 106 w 211"/>
              <a:gd name="T1" fmla="*/ 0 h 280"/>
              <a:gd name="T2" fmla="*/ 99 w 211"/>
              <a:gd name="T3" fmla="*/ 0 h 280"/>
              <a:gd name="T4" fmla="*/ 2 w 211"/>
              <a:gd name="T5" fmla="*/ 97 h 280"/>
              <a:gd name="T6" fmla="*/ 25 w 211"/>
              <a:gd name="T7" fmla="*/ 171 h 280"/>
              <a:gd name="T8" fmla="*/ 31 w 211"/>
              <a:gd name="T9" fmla="*/ 189 h 280"/>
              <a:gd name="T10" fmla="*/ 31 w 211"/>
              <a:gd name="T11" fmla="*/ 203 h 280"/>
              <a:gd name="T12" fmla="*/ 37 w 211"/>
              <a:gd name="T13" fmla="*/ 220 h 280"/>
              <a:gd name="T14" fmla="*/ 37 w 211"/>
              <a:gd name="T15" fmla="*/ 253 h 280"/>
              <a:gd name="T16" fmla="*/ 52 w 211"/>
              <a:gd name="T17" fmla="*/ 268 h 280"/>
              <a:gd name="T18" fmla="*/ 74 w 211"/>
              <a:gd name="T19" fmla="*/ 268 h 280"/>
              <a:gd name="T20" fmla="*/ 89 w 211"/>
              <a:gd name="T21" fmla="*/ 280 h 280"/>
              <a:gd name="T22" fmla="*/ 124 w 211"/>
              <a:gd name="T23" fmla="*/ 280 h 280"/>
              <a:gd name="T24" fmla="*/ 138 w 211"/>
              <a:gd name="T25" fmla="*/ 268 h 280"/>
              <a:gd name="T26" fmla="*/ 161 w 211"/>
              <a:gd name="T27" fmla="*/ 268 h 280"/>
              <a:gd name="T28" fmla="*/ 176 w 211"/>
              <a:gd name="T29" fmla="*/ 253 h 280"/>
              <a:gd name="T30" fmla="*/ 176 w 211"/>
              <a:gd name="T31" fmla="*/ 220 h 280"/>
              <a:gd name="T32" fmla="*/ 181 w 211"/>
              <a:gd name="T33" fmla="*/ 203 h 280"/>
              <a:gd name="T34" fmla="*/ 181 w 211"/>
              <a:gd name="T35" fmla="*/ 189 h 280"/>
              <a:gd name="T36" fmla="*/ 188 w 211"/>
              <a:gd name="T37" fmla="*/ 171 h 280"/>
              <a:gd name="T38" fmla="*/ 211 w 211"/>
              <a:gd name="T39" fmla="*/ 105 h 280"/>
              <a:gd name="T40" fmla="*/ 106 w 211"/>
              <a:gd name="T41" fmla="*/ 0 h 280"/>
              <a:gd name="T42" fmla="*/ 114 w 211"/>
              <a:gd name="T43" fmla="*/ 203 h 280"/>
              <a:gd name="T44" fmla="*/ 99 w 211"/>
              <a:gd name="T45" fmla="*/ 203 h 280"/>
              <a:gd name="T46" fmla="*/ 99 w 211"/>
              <a:gd name="T47" fmla="*/ 158 h 280"/>
              <a:gd name="T48" fmla="*/ 114 w 211"/>
              <a:gd name="T49" fmla="*/ 158 h 280"/>
              <a:gd name="T50" fmla="*/ 114 w 211"/>
              <a:gd name="T51" fmla="*/ 203 h 280"/>
              <a:gd name="T52" fmla="*/ 164 w 211"/>
              <a:gd name="T53" fmla="*/ 152 h 280"/>
              <a:gd name="T54" fmla="*/ 151 w 211"/>
              <a:gd name="T55" fmla="*/ 189 h 280"/>
              <a:gd name="T56" fmla="*/ 151 w 211"/>
              <a:gd name="T57" fmla="*/ 203 h 280"/>
              <a:gd name="T58" fmla="*/ 129 w 211"/>
              <a:gd name="T59" fmla="*/ 203 h 280"/>
              <a:gd name="T60" fmla="*/ 129 w 211"/>
              <a:gd name="T61" fmla="*/ 158 h 280"/>
              <a:gd name="T62" fmla="*/ 149 w 211"/>
              <a:gd name="T63" fmla="*/ 131 h 280"/>
              <a:gd name="T64" fmla="*/ 146 w 211"/>
              <a:gd name="T65" fmla="*/ 111 h 280"/>
              <a:gd name="T66" fmla="*/ 132 w 211"/>
              <a:gd name="T67" fmla="*/ 105 h 280"/>
              <a:gd name="T68" fmla="*/ 121 w 211"/>
              <a:gd name="T69" fmla="*/ 110 h 280"/>
              <a:gd name="T70" fmla="*/ 113 w 211"/>
              <a:gd name="T71" fmla="*/ 143 h 280"/>
              <a:gd name="T72" fmla="*/ 99 w 211"/>
              <a:gd name="T73" fmla="*/ 143 h 280"/>
              <a:gd name="T74" fmla="*/ 92 w 211"/>
              <a:gd name="T75" fmla="*/ 110 h 280"/>
              <a:gd name="T76" fmla="*/ 81 w 211"/>
              <a:gd name="T77" fmla="*/ 105 h 280"/>
              <a:gd name="T78" fmla="*/ 67 w 211"/>
              <a:gd name="T79" fmla="*/ 111 h 280"/>
              <a:gd name="T80" fmla="*/ 63 w 211"/>
              <a:gd name="T81" fmla="*/ 131 h 280"/>
              <a:gd name="T82" fmla="*/ 84 w 211"/>
              <a:gd name="T83" fmla="*/ 158 h 280"/>
              <a:gd name="T84" fmla="*/ 84 w 211"/>
              <a:gd name="T85" fmla="*/ 203 h 280"/>
              <a:gd name="T86" fmla="*/ 61 w 211"/>
              <a:gd name="T87" fmla="*/ 203 h 280"/>
              <a:gd name="T88" fmla="*/ 61 w 211"/>
              <a:gd name="T89" fmla="*/ 189 h 280"/>
              <a:gd name="T90" fmla="*/ 48 w 211"/>
              <a:gd name="T91" fmla="*/ 152 h 280"/>
              <a:gd name="T92" fmla="*/ 32 w 211"/>
              <a:gd name="T93" fmla="*/ 99 h 280"/>
              <a:gd name="T94" fmla="*/ 101 w 211"/>
              <a:gd name="T95" fmla="*/ 30 h 280"/>
              <a:gd name="T96" fmla="*/ 106 w 211"/>
              <a:gd name="T97" fmla="*/ 30 h 280"/>
              <a:gd name="T98" fmla="*/ 181 w 211"/>
              <a:gd name="T99" fmla="*/ 105 h 280"/>
              <a:gd name="T100" fmla="*/ 164 w 211"/>
              <a:gd name="T101" fmla="*/ 152 h 280"/>
              <a:gd name="T102" fmla="*/ 128 w 211"/>
              <a:gd name="T103" fmla="*/ 142 h 280"/>
              <a:gd name="T104" fmla="*/ 132 w 211"/>
              <a:gd name="T105" fmla="*/ 120 h 280"/>
              <a:gd name="T106" fmla="*/ 134 w 211"/>
              <a:gd name="T107" fmla="*/ 120 h 280"/>
              <a:gd name="T108" fmla="*/ 135 w 211"/>
              <a:gd name="T109" fmla="*/ 128 h 280"/>
              <a:gd name="T110" fmla="*/ 128 w 211"/>
              <a:gd name="T111" fmla="*/ 142 h 280"/>
              <a:gd name="T112" fmla="*/ 84 w 211"/>
              <a:gd name="T113" fmla="*/ 142 h 280"/>
              <a:gd name="T114" fmla="*/ 78 w 211"/>
              <a:gd name="T115" fmla="*/ 128 h 280"/>
              <a:gd name="T116" fmla="*/ 79 w 211"/>
              <a:gd name="T117" fmla="*/ 120 h 280"/>
              <a:gd name="T118" fmla="*/ 81 w 211"/>
              <a:gd name="T119" fmla="*/ 120 h 280"/>
              <a:gd name="T120" fmla="*/ 84 w 211"/>
              <a:gd name="T121" fmla="*/ 142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1" h="280">
                <a:moveTo>
                  <a:pt x="106" y="0"/>
                </a:moveTo>
                <a:cubicBezTo>
                  <a:pt x="104" y="0"/>
                  <a:pt x="101" y="0"/>
                  <a:pt x="99" y="0"/>
                </a:cubicBezTo>
                <a:cubicBezTo>
                  <a:pt x="47" y="4"/>
                  <a:pt x="5" y="46"/>
                  <a:pt x="2" y="97"/>
                </a:cubicBezTo>
                <a:cubicBezTo>
                  <a:pt x="0" y="125"/>
                  <a:pt x="9" y="151"/>
                  <a:pt x="25" y="171"/>
                </a:cubicBezTo>
                <a:cubicBezTo>
                  <a:pt x="29" y="176"/>
                  <a:pt x="31" y="183"/>
                  <a:pt x="31" y="189"/>
                </a:cubicBezTo>
                <a:cubicBezTo>
                  <a:pt x="31" y="203"/>
                  <a:pt x="31" y="203"/>
                  <a:pt x="31" y="203"/>
                </a:cubicBezTo>
                <a:cubicBezTo>
                  <a:pt x="31" y="210"/>
                  <a:pt x="33" y="216"/>
                  <a:pt x="37" y="220"/>
                </a:cubicBezTo>
                <a:cubicBezTo>
                  <a:pt x="37" y="253"/>
                  <a:pt x="37" y="253"/>
                  <a:pt x="37" y="253"/>
                </a:cubicBezTo>
                <a:cubicBezTo>
                  <a:pt x="37" y="261"/>
                  <a:pt x="43" y="268"/>
                  <a:pt x="52" y="268"/>
                </a:cubicBezTo>
                <a:cubicBezTo>
                  <a:pt x="74" y="268"/>
                  <a:pt x="74" y="268"/>
                  <a:pt x="74" y="268"/>
                </a:cubicBezTo>
                <a:cubicBezTo>
                  <a:pt x="76" y="275"/>
                  <a:pt x="82" y="280"/>
                  <a:pt x="89" y="280"/>
                </a:cubicBezTo>
                <a:cubicBezTo>
                  <a:pt x="124" y="280"/>
                  <a:pt x="124" y="280"/>
                  <a:pt x="124" y="280"/>
                </a:cubicBezTo>
                <a:cubicBezTo>
                  <a:pt x="131" y="280"/>
                  <a:pt x="137" y="275"/>
                  <a:pt x="138" y="268"/>
                </a:cubicBezTo>
                <a:cubicBezTo>
                  <a:pt x="161" y="268"/>
                  <a:pt x="161" y="268"/>
                  <a:pt x="161" y="268"/>
                </a:cubicBezTo>
                <a:cubicBezTo>
                  <a:pt x="169" y="268"/>
                  <a:pt x="176" y="261"/>
                  <a:pt x="176" y="253"/>
                </a:cubicBezTo>
                <a:cubicBezTo>
                  <a:pt x="176" y="220"/>
                  <a:pt x="176" y="220"/>
                  <a:pt x="176" y="220"/>
                </a:cubicBezTo>
                <a:cubicBezTo>
                  <a:pt x="179" y="216"/>
                  <a:pt x="181" y="210"/>
                  <a:pt x="181" y="203"/>
                </a:cubicBezTo>
                <a:cubicBezTo>
                  <a:pt x="181" y="189"/>
                  <a:pt x="181" y="189"/>
                  <a:pt x="181" y="189"/>
                </a:cubicBezTo>
                <a:cubicBezTo>
                  <a:pt x="181" y="183"/>
                  <a:pt x="183" y="176"/>
                  <a:pt x="188" y="171"/>
                </a:cubicBezTo>
                <a:cubicBezTo>
                  <a:pt x="202" y="153"/>
                  <a:pt x="211" y="130"/>
                  <a:pt x="211" y="105"/>
                </a:cubicBezTo>
                <a:cubicBezTo>
                  <a:pt x="211" y="47"/>
                  <a:pt x="164" y="0"/>
                  <a:pt x="106" y="0"/>
                </a:cubicBezTo>
                <a:close/>
                <a:moveTo>
                  <a:pt x="114" y="203"/>
                </a:moveTo>
                <a:cubicBezTo>
                  <a:pt x="99" y="203"/>
                  <a:pt x="99" y="203"/>
                  <a:pt x="99" y="203"/>
                </a:cubicBezTo>
                <a:cubicBezTo>
                  <a:pt x="99" y="158"/>
                  <a:pt x="99" y="158"/>
                  <a:pt x="99" y="158"/>
                </a:cubicBezTo>
                <a:cubicBezTo>
                  <a:pt x="114" y="158"/>
                  <a:pt x="114" y="158"/>
                  <a:pt x="114" y="158"/>
                </a:cubicBezTo>
                <a:lnTo>
                  <a:pt x="114" y="203"/>
                </a:lnTo>
                <a:close/>
                <a:moveTo>
                  <a:pt x="164" y="152"/>
                </a:moveTo>
                <a:cubicBezTo>
                  <a:pt x="156" y="162"/>
                  <a:pt x="151" y="176"/>
                  <a:pt x="151" y="189"/>
                </a:cubicBezTo>
                <a:cubicBezTo>
                  <a:pt x="151" y="203"/>
                  <a:pt x="151" y="203"/>
                  <a:pt x="151" y="203"/>
                </a:cubicBezTo>
                <a:cubicBezTo>
                  <a:pt x="129" y="203"/>
                  <a:pt x="129" y="203"/>
                  <a:pt x="129" y="203"/>
                </a:cubicBezTo>
                <a:cubicBezTo>
                  <a:pt x="129" y="158"/>
                  <a:pt x="129" y="158"/>
                  <a:pt x="129" y="158"/>
                </a:cubicBezTo>
                <a:cubicBezTo>
                  <a:pt x="143" y="155"/>
                  <a:pt x="148" y="136"/>
                  <a:pt x="149" y="131"/>
                </a:cubicBezTo>
                <a:cubicBezTo>
                  <a:pt x="149" y="130"/>
                  <a:pt x="152" y="119"/>
                  <a:pt x="146" y="111"/>
                </a:cubicBezTo>
                <a:cubicBezTo>
                  <a:pt x="144" y="108"/>
                  <a:pt x="139" y="105"/>
                  <a:pt x="132" y="105"/>
                </a:cubicBezTo>
                <a:cubicBezTo>
                  <a:pt x="127" y="105"/>
                  <a:pt x="124" y="106"/>
                  <a:pt x="121" y="110"/>
                </a:cubicBezTo>
                <a:cubicBezTo>
                  <a:pt x="114" y="117"/>
                  <a:pt x="113" y="131"/>
                  <a:pt x="113" y="143"/>
                </a:cubicBezTo>
                <a:cubicBezTo>
                  <a:pt x="99" y="143"/>
                  <a:pt x="99" y="143"/>
                  <a:pt x="99" y="143"/>
                </a:cubicBezTo>
                <a:cubicBezTo>
                  <a:pt x="100" y="131"/>
                  <a:pt x="98" y="117"/>
                  <a:pt x="92" y="110"/>
                </a:cubicBezTo>
                <a:cubicBezTo>
                  <a:pt x="89" y="106"/>
                  <a:pt x="85" y="105"/>
                  <a:pt x="81" y="105"/>
                </a:cubicBezTo>
                <a:cubicBezTo>
                  <a:pt x="73" y="105"/>
                  <a:pt x="69" y="108"/>
                  <a:pt x="67" y="111"/>
                </a:cubicBezTo>
                <a:cubicBezTo>
                  <a:pt x="61" y="119"/>
                  <a:pt x="63" y="130"/>
                  <a:pt x="63" y="131"/>
                </a:cubicBezTo>
                <a:cubicBezTo>
                  <a:pt x="64" y="135"/>
                  <a:pt x="70" y="155"/>
                  <a:pt x="84" y="158"/>
                </a:cubicBezTo>
                <a:cubicBezTo>
                  <a:pt x="84" y="203"/>
                  <a:pt x="84" y="203"/>
                  <a:pt x="84" y="203"/>
                </a:cubicBezTo>
                <a:cubicBezTo>
                  <a:pt x="61" y="203"/>
                  <a:pt x="61" y="203"/>
                  <a:pt x="61" y="203"/>
                </a:cubicBezTo>
                <a:cubicBezTo>
                  <a:pt x="61" y="189"/>
                  <a:pt x="61" y="189"/>
                  <a:pt x="61" y="189"/>
                </a:cubicBezTo>
                <a:cubicBezTo>
                  <a:pt x="61" y="176"/>
                  <a:pt x="57" y="162"/>
                  <a:pt x="48" y="152"/>
                </a:cubicBezTo>
                <a:cubicBezTo>
                  <a:pt x="36" y="137"/>
                  <a:pt x="30" y="118"/>
                  <a:pt x="32" y="99"/>
                </a:cubicBezTo>
                <a:cubicBezTo>
                  <a:pt x="34" y="62"/>
                  <a:pt x="64" y="32"/>
                  <a:pt x="101" y="30"/>
                </a:cubicBezTo>
                <a:cubicBezTo>
                  <a:pt x="103" y="30"/>
                  <a:pt x="105" y="30"/>
                  <a:pt x="106" y="30"/>
                </a:cubicBezTo>
                <a:cubicBezTo>
                  <a:pt x="148" y="30"/>
                  <a:pt x="181" y="63"/>
                  <a:pt x="181" y="105"/>
                </a:cubicBezTo>
                <a:cubicBezTo>
                  <a:pt x="181" y="122"/>
                  <a:pt x="175" y="138"/>
                  <a:pt x="164" y="152"/>
                </a:cubicBezTo>
                <a:close/>
                <a:moveTo>
                  <a:pt x="128" y="142"/>
                </a:moveTo>
                <a:cubicBezTo>
                  <a:pt x="128" y="131"/>
                  <a:pt x="130" y="122"/>
                  <a:pt x="132" y="120"/>
                </a:cubicBezTo>
                <a:cubicBezTo>
                  <a:pt x="133" y="120"/>
                  <a:pt x="134" y="120"/>
                  <a:pt x="134" y="120"/>
                </a:cubicBezTo>
                <a:cubicBezTo>
                  <a:pt x="135" y="122"/>
                  <a:pt x="135" y="126"/>
                  <a:pt x="135" y="128"/>
                </a:cubicBezTo>
                <a:cubicBezTo>
                  <a:pt x="133" y="134"/>
                  <a:pt x="130" y="139"/>
                  <a:pt x="128" y="142"/>
                </a:cubicBezTo>
                <a:close/>
                <a:moveTo>
                  <a:pt x="84" y="142"/>
                </a:moveTo>
                <a:cubicBezTo>
                  <a:pt x="82" y="139"/>
                  <a:pt x="79" y="134"/>
                  <a:pt x="78" y="128"/>
                </a:cubicBezTo>
                <a:cubicBezTo>
                  <a:pt x="78" y="126"/>
                  <a:pt x="77" y="122"/>
                  <a:pt x="79" y="120"/>
                </a:cubicBezTo>
                <a:cubicBezTo>
                  <a:pt x="79" y="120"/>
                  <a:pt x="80" y="120"/>
                  <a:pt x="81" y="120"/>
                </a:cubicBezTo>
                <a:cubicBezTo>
                  <a:pt x="83" y="122"/>
                  <a:pt x="84" y="131"/>
                  <a:pt x="84" y="142"/>
                </a:cubicBezTo>
                <a:close/>
              </a:path>
            </a:pathLst>
          </a:custGeom>
          <a:solidFill>
            <a:schemeClr val="accent2">
              <a:lumMod val="75000"/>
            </a:schemeClr>
          </a:solidFill>
          <a:ln w="34925">
            <a:noFill/>
          </a:ln>
          <a:effectLst>
            <a:innerShdw blurRad="63500" dist="50800" dir="13500000">
              <a:prstClr val="black">
                <a:alpha val="50000"/>
              </a:prstClr>
            </a:innerShdw>
          </a:effectLst>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Geneva" panose="020B0503030404040204" pitchFamily="34" charset="0"/>
              <a:cs typeface="+mn-cs"/>
            </a:endParaRPr>
          </a:p>
        </p:txBody>
      </p:sp>
      <p:sp>
        <p:nvSpPr>
          <p:cNvPr id="10" name="CasetăText 103">
            <a:extLst>
              <a:ext uri="{C183D7F6-B498-43B3-948B-1728B52AA6E4}">
                <adec:decorative xmlns:adec="http://schemas.microsoft.com/office/drawing/2017/decorative" val="1"/>
              </a:ext>
            </a:extLst>
          </p:cNvPr>
          <p:cNvSpPr txBox="1"/>
          <p:nvPr/>
        </p:nvSpPr>
        <p:spPr>
          <a:xfrm>
            <a:off x="-88642" y="657225"/>
            <a:ext cx="4038600" cy="1066800"/>
          </a:xfrm>
          <a:prstGeom prst="rect">
            <a:avLst/>
          </a:prstGeom>
          <a:noFill/>
        </p:spPr>
        <p:txBody>
          <a:bodyPr wrap="square" rtlCol="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solidFill>
                    <a:prstClr val="black">
                      <a:lumMod val="85000"/>
                      <a:lumOff val="15000"/>
                    </a:prstClr>
                  </a:solidFill>
                </a:ln>
                <a:solidFill>
                  <a:srgbClr val="4BACC6">
                    <a:lumMod val="75000"/>
                  </a:srgbClr>
                </a:solidFill>
                <a:effectLst/>
                <a:uLnTx/>
                <a:uFillTx/>
                <a:latin typeface="Calibri"/>
                <a:ea typeface="Geneva" panose="020B0503030404040204" pitchFamily="34" charset="0"/>
                <a:cs typeface="+mn-cs"/>
              </a:rPr>
              <a:t> </a:t>
            </a:r>
            <a:r>
              <a:rPr kumimoji="0" lang="en-US" sz="5400" b="1" i="0" u="none" strike="noStrike" kern="1200" cap="none" spc="0" normalizeH="0" baseline="0" noProof="0" dirty="0">
                <a:ln>
                  <a:solidFill>
                    <a:prstClr val="black">
                      <a:lumMod val="85000"/>
                      <a:lumOff val="15000"/>
                    </a:prstClr>
                  </a:solidFill>
                </a:ln>
                <a:solidFill>
                  <a:srgbClr val="C0504D">
                    <a:lumMod val="75000"/>
                  </a:srgbClr>
                </a:solidFill>
                <a:effectLst/>
                <a:uLnTx/>
                <a:uFillTx/>
                <a:latin typeface="Calibri"/>
                <a:ea typeface="Geneva" panose="020B0503030404040204" pitchFamily="34" charset="0"/>
                <a:cs typeface="+mn-cs"/>
              </a:rPr>
              <a:t>Environment</a:t>
            </a:r>
            <a:r>
              <a:rPr kumimoji="0" lang="en-US" sz="5400" b="1" i="0" u="none" strike="noStrike" kern="1200" cap="none" spc="0" normalizeH="0" baseline="0" noProof="0" dirty="0">
                <a:ln>
                  <a:solidFill>
                    <a:prstClr val="black">
                      <a:lumMod val="85000"/>
                      <a:lumOff val="15000"/>
                    </a:prstClr>
                  </a:solidFill>
                </a:ln>
                <a:solidFill>
                  <a:srgbClr val="4BACC6">
                    <a:lumMod val="75000"/>
                  </a:srgbClr>
                </a:solidFill>
                <a:effectLst/>
                <a:uLnTx/>
                <a:uFillTx/>
                <a:latin typeface="Calibri"/>
                <a:ea typeface="Geneva" panose="020B0503030404040204" pitchFamily="34" charset="0"/>
                <a:cs typeface="+mn-cs"/>
              </a:rPr>
              <a:t> </a:t>
            </a:r>
          </a:p>
        </p:txBody>
      </p:sp>
      <p:sp>
        <p:nvSpPr>
          <p:cNvPr id="12" name="Rectangle 11">
            <a:extLs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Geneva" panose="020B0503030404040204" pitchFamily="34" charset="0"/>
              <a:cs typeface="+mn-cs"/>
            </a:endParaRPr>
          </a:p>
        </p:txBody>
      </p:sp>
      <p:sp>
        <p:nvSpPr>
          <p:cNvPr id="3" name="Title 2"/>
          <p:cNvSpPr>
            <a:spLocks noGrp="1"/>
          </p:cNvSpPr>
          <p:nvPr>
            <p:ph type="title"/>
          </p:nvPr>
        </p:nvSpPr>
        <p:spPr>
          <a:xfrm>
            <a:off x="228600" y="-2000250"/>
            <a:ext cx="8229600" cy="857250"/>
          </a:xfrm>
        </p:spPr>
        <p:txBody>
          <a:bodyPr>
            <a:noAutofit/>
          </a:bodyPr>
          <a:lstStyle/>
          <a:p>
            <a:r>
              <a:rPr lang="en-US" sz="1800" dirty="0"/>
              <a:t>Environment</a:t>
            </a:r>
          </a:p>
        </p:txBody>
      </p:sp>
      <p:sp>
        <p:nvSpPr>
          <p:cNvPr id="4" name="Slide Number Placeholder 3">
            <a:extLst>
              <a:ext uri="{FF2B5EF4-FFF2-40B4-BE49-F238E27FC236}">
                <a16:creationId xmlns:a16="http://schemas.microsoft.com/office/drawing/2014/main" id="{A4D622C7-E1B8-A049-AE2E-F2EF4B208B46}"/>
              </a:ext>
            </a:extLst>
          </p:cNvPr>
          <p:cNvSpPr>
            <a:spLocks noGrp="1"/>
          </p:cNvSpPr>
          <p:nvPr>
            <p:ph type="sldNum" sz="quarter" idx="12"/>
          </p:nvPr>
        </p:nvSpPr>
        <p:spPr>
          <a:xfrm>
            <a:off x="6858000" y="6370637"/>
            <a:ext cx="2133600" cy="365125"/>
          </a:xfrm>
        </p:spPr>
        <p:txBody>
          <a:bodyPr/>
          <a:lstStyle/>
          <a:p>
            <a:fld id="{5D7CCB52-5D48-470B-B8DA-D8134110C94D}" type="slidenum">
              <a:rPr lang="en-US" smtClean="0"/>
              <a:t>16</a:t>
            </a:fld>
            <a:endParaRPr lang="en-US" dirty="0"/>
          </a:p>
        </p:txBody>
      </p:sp>
    </p:spTree>
    <p:extLst>
      <p:ext uri="{BB962C8B-B14F-4D97-AF65-F5344CB8AC3E}">
        <p14:creationId xmlns:p14="http://schemas.microsoft.com/office/powerpoint/2010/main" val="276204682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20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1400"/>
                                        <p:tgtEl>
                                          <p:spTgt spid="11"/>
                                        </p:tgtEl>
                                      </p:cBhvr>
                                    </p:animEffect>
                                  </p:childTnLst>
                                </p:cTn>
                              </p:par>
                              <p:par>
                                <p:cTn id="8" presetID="10" presetClass="entr" presetSubtype="0" fill="hold" grpId="1" nodeType="withEffect">
                                  <p:stCondLst>
                                    <p:cond delay="2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000"/>
                                        <p:tgtEl>
                                          <p:spTgt spid="8"/>
                                        </p:tgtEl>
                                      </p:cBhvr>
                                    </p:animEffect>
                                  </p:childTnLst>
                                </p:cTn>
                              </p:par>
                              <p:par>
                                <p:cTn id="11" presetID="2" presetClass="entr" presetSubtype="8" decel="91000" fill="hold" grpId="0" nodeType="withEffect">
                                  <p:stCondLst>
                                    <p:cond delay="20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1200" fill="hold"/>
                                        <p:tgtEl>
                                          <p:spTgt spid="8"/>
                                        </p:tgtEl>
                                        <p:attrNameLst>
                                          <p:attrName>ppt_x</p:attrName>
                                        </p:attrNameLst>
                                      </p:cBhvr>
                                      <p:tavLst>
                                        <p:tav tm="0">
                                          <p:val>
                                            <p:strVal val="0-#ppt_w/2"/>
                                          </p:val>
                                        </p:tav>
                                        <p:tav tm="100000">
                                          <p:val>
                                            <p:strVal val="#ppt_x"/>
                                          </p:val>
                                        </p:tav>
                                      </p:tavLst>
                                    </p:anim>
                                    <p:anim calcmode="lin" valueType="num">
                                      <p:cBhvr additive="base">
                                        <p:cTn id="14" dur="1200" fill="hold"/>
                                        <p:tgtEl>
                                          <p:spTgt spid="8"/>
                                        </p:tgtEl>
                                        <p:attrNameLst>
                                          <p:attrName>ppt_y</p:attrName>
                                        </p:attrNameLst>
                                      </p:cBhvr>
                                      <p:tavLst>
                                        <p:tav tm="0">
                                          <p:val>
                                            <p:strVal val="#ppt_y"/>
                                          </p:val>
                                        </p:tav>
                                        <p:tav tm="100000">
                                          <p:val>
                                            <p:strVal val="#ppt_y"/>
                                          </p:val>
                                        </p:tav>
                                      </p:tavLst>
                                    </p:anim>
                                  </p:childTnLst>
                                </p:cTn>
                              </p:par>
                              <p:par>
                                <p:cTn id="15" presetID="53" presetClass="entr" presetSubtype="16" fill="hold" grpId="2" nodeType="withEffect">
                                  <p:stCondLst>
                                    <p:cond delay="200"/>
                                  </p:stCondLst>
                                  <p:childTnLst>
                                    <p:set>
                                      <p:cBhvr>
                                        <p:cTn id="16" dur="1" fill="hold">
                                          <p:stCondLst>
                                            <p:cond delay="0"/>
                                          </p:stCondLst>
                                        </p:cTn>
                                        <p:tgtEl>
                                          <p:spTgt spid="8"/>
                                        </p:tgtEl>
                                        <p:attrNameLst>
                                          <p:attrName>style.visibility</p:attrName>
                                        </p:attrNameLst>
                                      </p:cBhvr>
                                      <p:to>
                                        <p:strVal val="visible"/>
                                      </p:to>
                                    </p:set>
                                    <p:anim calcmode="lin" valueType="num">
                                      <p:cBhvr>
                                        <p:cTn id="17" dur="1200" fill="hold"/>
                                        <p:tgtEl>
                                          <p:spTgt spid="8"/>
                                        </p:tgtEl>
                                        <p:attrNameLst>
                                          <p:attrName>ppt_w</p:attrName>
                                        </p:attrNameLst>
                                      </p:cBhvr>
                                      <p:tavLst>
                                        <p:tav tm="0">
                                          <p:val>
                                            <p:fltVal val="0"/>
                                          </p:val>
                                        </p:tav>
                                        <p:tav tm="100000">
                                          <p:val>
                                            <p:strVal val="#ppt_w"/>
                                          </p:val>
                                        </p:tav>
                                      </p:tavLst>
                                    </p:anim>
                                    <p:anim calcmode="lin" valueType="num">
                                      <p:cBhvr>
                                        <p:cTn id="18" dur="1200" fill="hold"/>
                                        <p:tgtEl>
                                          <p:spTgt spid="8"/>
                                        </p:tgtEl>
                                        <p:attrNameLst>
                                          <p:attrName>ppt_h</p:attrName>
                                        </p:attrNameLst>
                                      </p:cBhvr>
                                      <p:tavLst>
                                        <p:tav tm="0">
                                          <p:val>
                                            <p:fltVal val="0"/>
                                          </p:val>
                                        </p:tav>
                                        <p:tav tm="100000">
                                          <p:val>
                                            <p:strVal val="#ppt_h"/>
                                          </p:val>
                                        </p:tav>
                                      </p:tavLst>
                                    </p:anim>
                                    <p:animEffect transition="in" filter="fade">
                                      <p:cBhvr>
                                        <p:cTn id="19" dur="1200"/>
                                        <p:tgtEl>
                                          <p:spTgt spid="8"/>
                                        </p:tgtEl>
                                      </p:cBhvr>
                                    </p:animEffect>
                                  </p:childTnLst>
                                </p:cTn>
                              </p:par>
                              <p:par>
                                <p:cTn id="20" presetID="42" presetClass="entr" presetSubtype="0" fill="hold" grpId="0" nodeType="withEffect">
                                  <p:stCondLst>
                                    <p:cond delay="15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childTnLst>
                          </p:cTn>
                        </p:par>
                        <p:par>
                          <p:cTn id="25" fill="hold">
                            <p:stCondLst>
                              <p:cond delay="3200"/>
                            </p:stCondLst>
                            <p:childTnLst>
                              <p:par>
                                <p:cTn id="26" presetID="53" presetClass="entr" presetSubtype="16"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p:cTn id="28" dur="500" fill="hold"/>
                                        <p:tgtEl>
                                          <p:spTgt spid="14"/>
                                        </p:tgtEl>
                                        <p:attrNameLst>
                                          <p:attrName>ppt_w</p:attrName>
                                        </p:attrNameLst>
                                      </p:cBhvr>
                                      <p:tavLst>
                                        <p:tav tm="0">
                                          <p:val>
                                            <p:fltVal val="0"/>
                                          </p:val>
                                        </p:tav>
                                        <p:tav tm="100000">
                                          <p:val>
                                            <p:strVal val="#ppt_w"/>
                                          </p:val>
                                        </p:tav>
                                      </p:tavLst>
                                    </p:anim>
                                    <p:anim calcmode="lin" valueType="num">
                                      <p:cBhvr>
                                        <p:cTn id="29" dur="500" fill="hold"/>
                                        <p:tgtEl>
                                          <p:spTgt spid="14"/>
                                        </p:tgtEl>
                                        <p:attrNameLst>
                                          <p:attrName>ppt_h</p:attrName>
                                        </p:attrNameLst>
                                      </p:cBhvr>
                                      <p:tavLst>
                                        <p:tav tm="0">
                                          <p:val>
                                            <p:fltVal val="0"/>
                                          </p:val>
                                        </p:tav>
                                        <p:tav tm="100000">
                                          <p:val>
                                            <p:strVal val="#ppt_h"/>
                                          </p:val>
                                        </p:tav>
                                      </p:tavLst>
                                    </p:anim>
                                    <p:animEffect transition="in" filter="fade">
                                      <p:cBhvr>
                                        <p:cTn id="3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8" grpId="0" animBg="1"/>
      <p:bldP spid="8" grpId="1" animBg="1"/>
      <p:bldP spid="8" grpId="2" animBg="1"/>
      <p:bldP spid="11" grpId="0" animBg="1"/>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C183D7F6-B498-43B3-948B-1728B52AA6E4}">
                <adec:decorative xmlns:adec="http://schemas.microsoft.com/office/drawing/2017/decorative" val="1"/>
              </a:ext>
            </a:extLst>
          </p:cNvPr>
          <p:cNvSpPr/>
          <p:nvPr/>
        </p:nvSpPr>
        <p:spPr>
          <a:xfrm>
            <a:off x="0" y="857250"/>
            <a:ext cx="9144000"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descr="Feel free to share examples of these factors in the chat.&#13;&#10;">
            <a:extLst>
              <a:ext uri="{FF2B5EF4-FFF2-40B4-BE49-F238E27FC236}">
                <a16:creationId xmlns:a16="http://schemas.microsoft.com/office/drawing/2014/main" id="{CED22ED8-2C57-5747-94D9-827E43776CE9}"/>
              </a:ext>
            </a:extLst>
          </p:cNvPr>
          <p:cNvSpPr txBox="1"/>
          <p:nvPr/>
        </p:nvSpPr>
        <p:spPr>
          <a:xfrm>
            <a:off x="274083" y="5735708"/>
            <a:ext cx="3185634" cy="707886"/>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sz="2000" i="1" dirty="0">
                <a:latin typeface="Arial Narrow" panose="020B0604020202020204" pitchFamily="34" charset="0"/>
                <a:cs typeface="Arial Narrow" panose="020B0604020202020204" pitchFamily="34" charset="0"/>
              </a:rPr>
              <a:t>Feel free to share examples of these factors in the chat.</a:t>
            </a:r>
          </a:p>
        </p:txBody>
      </p:sp>
      <p:sp>
        <p:nvSpPr>
          <p:cNvPr id="8" name="Flowchart: Alternate Process 7" descr="Task or tasks that are not being completed to expectations  &#13;&#10;Environmental barrier &#13;&#10;Individual barrier or skill gap &#13;&#10;Interaction between environment and individual barrier&#13;&#10;What strategies have been tried in this environment and how effective have they been?  &#13;&#10;"/>
          <p:cNvSpPr/>
          <p:nvPr/>
        </p:nvSpPr>
        <p:spPr>
          <a:xfrm>
            <a:off x="3733800" y="1225551"/>
            <a:ext cx="5105400" cy="4953000"/>
          </a:xfrm>
          <a:prstGeom prst="flowChartAlternateProcess">
            <a:avLst/>
          </a:prstGeom>
          <a:solidFill>
            <a:schemeClr val="bg1">
              <a:lumMod val="95000"/>
            </a:schemeClr>
          </a:solidFill>
          <a:ln w="34925">
            <a:solidFill>
              <a:schemeClr val="tx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normAutofit/>
          </a:bodyPr>
          <a:lstStyle/>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rPr>
              <a:t>Task or tasks that are not being completed to expectations  </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rPr>
              <a:t>Environmental barrier </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rPr>
              <a:t>Individual barrier or skill gap </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rPr>
              <a:t>Interaction between environment and individual barrier</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rPr>
              <a:t>What strategies have been tried in this environment and how effective have they been?  </a:t>
            </a:r>
          </a:p>
        </p:txBody>
      </p:sp>
      <p:sp>
        <p:nvSpPr>
          <p:cNvPr id="11" name="Freeform 33">
            <a:hlinkClick r:id="rId3" action="ppaction://hlinksldjump"/>
            <a:extLst>
              <a:ext uri="{C183D7F6-B498-43B3-948B-1728B52AA6E4}">
                <adec:decorative xmlns:adec="http://schemas.microsoft.com/office/drawing/2017/decorative" val="1"/>
              </a:ext>
            </a:extLst>
          </p:cNvPr>
          <p:cNvSpPr>
            <a:spLocks noEditPoints="1"/>
          </p:cNvSpPr>
          <p:nvPr/>
        </p:nvSpPr>
        <p:spPr bwMode="auto">
          <a:xfrm>
            <a:off x="457200" y="2057400"/>
            <a:ext cx="2651760" cy="3291840"/>
          </a:xfrm>
          <a:custGeom>
            <a:avLst/>
            <a:gdLst>
              <a:gd name="T0" fmla="*/ 106 w 211"/>
              <a:gd name="T1" fmla="*/ 0 h 280"/>
              <a:gd name="T2" fmla="*/ 99 w 211"/>
              <a:gd name="T3" fmla="*/ 0 h 280"/>
              <a:gd name="T4" fmla="*/ 2 w 211"/>
              <a:gd name="T5" fmla="*/ 97 h 280"/>
              <a:gd name="T6" fmla="*/ 25 w 211"/>
              <a:gd name="T7" fmla="*/ 171 h 280"/>
              <a:gd name="T8" fmla="*/ 31 w 211"/>
              <a:gd name="T9" fmla="*/ 189 h 280"/>
              <a:gd name="T10" fmla="*/ 31 w 211"/>
              <a:gd name="T11" fmla="*/ 203 h 280"/>
              <a:gd name="T12" fmla="*/ 37 w 211"/>
              <a:gd name="T13" fmla="*/ 220 h 280"/>
              <a:gd name="T14" fmla="*/ 37 w 211"/>
              <a:gd name="T15" fmla="*/ 253 h 280"/>
              <a:gd name="T16" fmla="*/ 52 w 211"/>
              <a:gd name="T17" fmla="*/ 268 h 280"/>
              <a:gd name="T18" fmla="*/ 74 w 211"/>
              <a:gd name="T19" fmla="*/ 268 h 280"/>
              <a:gd name="T20" fmla="*/ 89 w 211"/>
              <a:gd name="T21" fmla="*/ 280 h 280"/>
              <a:gd name="T22" fmla="*/ 124 w 211"/>
              <a:gd name="T23" fmla="*/ 280 h 280"/>
              <a:gd name="T24" fmla="*/ 138 w 211"/>
              <a:gd name="T25" fmla="*/ 268 h 280"/>
              <a:gd name="T26" fmla="*/ 161 w 211"/>
              <a:gd name="T27" fmla="*/ 268 h 280"/>
              <a:gd name="T28" fmla="*/ 176 w 211"/>
              <a:gd name="T29" fmla="*/ 253 h 280"/>
              <a:gd name="T30" fmla="*/ 176 w 211"/>
              <a:gd name="T31" fmla="*/ 220 h 280"/>
              <a:gd name="T32" fmla="*/ 181 w 211"/>
              <a:gd name="T33" fmla="*/ 203 h 280"/>
              <a:gd name="T34" fmla="*/ 181 w 211"/>
              <a:gd name="T35" fmla="*/ 189 h 280"/>
              <a:gd name="T36" fmla="*/ 188 w 211"/>
              <a:gd name="T37" fmla="*/ 171 h 280"/>
              <a:gd name="T38" fmla="*/ 211 w 211"/>
              <a:gd name="T39" fmla="*/ 105 h 280"/>
              <a:gd name="T40" fmla="*/ 106 w 211"/>
              <a:gd name="T41" fmla="*/ 0 h 280"/>
              <a:gd name="T42" fmla="*/ 114 w 211"/>
              <a:gd name="T43" fmla="*/ 203 h 280"/>
              <a:gd name="T44" fmla="*/ 99 w 211"/>
              <a:gd name="T45" fmla="*/ 203 h 280"/>
              <a:gd name="T46" fmla="*/ 99 w 211"/>
              <a:gd name="T47" fmla="*/ 158 h 280"/>
              <a:gd name="T48" fmla="*/ 114 w 211"/>
              <a:gd name="T49" fmla="*/ 158 h 280"/>
              <a:gd name="T50" fmla="*/ 114 w 211"/>
              <a:gd name="T51" fmla="*/ 203 h 280"/>
              <a:gd name="T52" fmla="*/ 164 w 211"/>
              <a:gd name="T53" fmla="*/ 152 h 280"/>
              <a:gd name="T54" fmla="*/ 151 w 211"/>
              <a:gd name="T55" fmla="*/ 189 h 280"/>
              <a:gd name="T56" fmla="*/ 151 w 211"/>
              <a:gd name="T57" fmla="*/ 203 h 280"/>
              <a:gd name="T58" fmla="*/ 129 w 211"/>
              <a:gd name="T59" fmla="*/ 203 h 280"/>
              <a:gd name="T60" fmla="*/ 129 w 211"/>
              <a:gd name="T61" fmla="*/ 158 h 280"/>
              <a:gd name="T62" fmla="*/ 149 w 211"/>
              <a:gd name="T63" fmla="*/ 131 h 280"/>
              <a:gd name="T64" fmla="*/ 146 w 211"/>
              <a:gd name="T65" fmla="*/ 111 h 280"/>
              <a:gd name="T66" fmla="*/ 132 w 211"/>
              <a:gd name="T67" fmla="*/ 105 h 280"/>
              <a:gd name="T68" fmla="*/ 121 w 211"/>
              <a:gd name="T69" fmla="*/ 110 h 280"/>
              <a:gd name="T70" fmla="*/ 113 w 211"/>
              <a:gd name="T71" fmla="*/ 143 h 280"/>
              <a:gd name="T72" fmla="*/ 99 w 211"/>
              <a:gd name="T73" fmla="*/ 143 h 280"/>
              <a:gd name="T74" fmla="*/ 92 w 211"/>
              <a:gd name="T75" fmla="*/ 110 h 280"/>
              <a:gd name="T76" fmla="*/ 81 w 211"/>
              <a:gd name="T77" fmla="*/ 105 h 280"/>
              <a:gd name="T78" fmla="*/ 67 w 211"/>
              <a:gd name="T79" fmla="*/ 111 h 280"/>
              <a:gd name="T80" fmla="*/ 63 w 211"/>
              <a:gd name="T81" fmla="*/ 131 h 280"/>
              <a:gd name="T82" fmla="*/ 84 w 211"/>
              <a:gd name="T83" fmla="*/ 158 h 280"/>
              <a:gd name="T84" fmla="*/ 84 w 211"/>
              <a:gd name="T85" fmla="*/ 203 h 280"/>
              <a:gd name="T86" fmla="*/ 61 w 211"/>
              <a:gd name="T87" fmla="*/ 203 h 280"/>
              <a:gd name="T88" fmla="*/ 61 w 211"/>
              <a:gd name="T89" fmla="*/ 189 h 280"/>
              <a:gd name="T90" fmla="*/ 48 w 211"/>
              <a:gd name="T91" fmla="*/ 152 h 280"/>
              <a:gd name="T92" fmla="*/ 32 w 211"/>
              <a:gd name="T93" fmla="*/ 99 h 280"/>
              <a:gd name="T94" fmla="*/ 101 w 211"/>
              <a:gd name="T95" fmla="*/ 30 h 280"/>
              <a:gd name="T96" fmla="*/ 106 w 211"/>
              <a:gd name="T97" fmla="*/ 30 h 280"/>
              <a:gd name="T98" fmla="*/ 181 w 211"/>
              <a:gd name="T99" fmla="*/ 105 h 280"/>
              <a:gd name="T100" fmla="*/ 164 w 211"/>
              <a:gd name="T101" fmla="*/ 152 h 280"/>
              <a:gd name="T102" fmla="*/ 128 w 211"/>
              <a:gd name="T103" fmla="*/ 142 h 280"/>
              <a:gd name="T104" fmla="*/ 132 w 211"/>
              <a:gd name="T105" fmla="*/ 120 h 280"/>
              <a:gd name="T106" fmla="*/ 134 w 211"/>
              <a:gd name="T107" fmla="*/ 120 h 280"/>
              <a:gd name="T108" fmla="*/ 135 w 211"/>
              <a:gd name="T109" fmla="*/ 128 h 280"/>
              <a:gd name="T110" fmla="*/ 128 w 211"/>
              <a:gd name="T111" fmla="*/ 142 h 280"/>
              <a:gd name="T112" fmla="*/ 84 w 211"/>
              <a:gd name="T113" fmla="*/ 142 h 280"/>
              <a:gd name="T114" fmla="*/ 78 w 211"/>
              <a:gd name="T115" fmla="*/ 128 h 280"/>
              <a:gd name="T116" fmla="*/ 79 w 211"/>
              <a:gd name="T117" fmla="*/ 120 h 280"/>
              <a:gd name="T118" fmla="*/ 81 w 211"/>
              <a:gd name="T119" fmla="*/ 120 h 280"/>
              <a:gd name="T120" fmla="*/ 84 w 211"/>
              <a:gd name="T121" fmla="*/ 142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1" h="280">
                <a:moveTo>
                  <a:pt x="106" y="0"/>
                </a:moveTo>
                <a:cubicBezTo>
                  <a:pt x="104" y="0"/>
                  <a:pt x="101" y="0"/>
                  <a:pt x="99" y="0"/>
                </a:cubicBezTo>
                <a:cubicBezTo>
                  <a:pt x="47" y="4"/>
                  <a:pt x="5" y="46"/>
                  <a:pt x="2" y="97"/>
                </a:cubicBezTo>
                <a:cubicBezTo>
                  <a:pt x="0" y="125"/>
                  <a:pt x="9" y="151"/>
                  <a:pt x="25" y="171"/>
                </a:cubicBezTo>
                <a:cubicBezTo>
                  <a:pt x="29" y="176"/>
                  <a:pt x="31" y="183"/>
                  <a:pt x="31" y="189"/>
                </a:cubicBezTo>
                <a:cubicBezTo>
                  <a:pt x="31" y="203"/>
                  <a:pt x="31" y="203"/>
                  <a:pt x="31" y="203"/>
                </a:cubicBezTo>
                <a:cubicBezTo>
                  <a:pt x="31" y="210"/>
                  <a:pt x="33" y="216"/>
                  <a:pt x="37" y="220"/>
                </a:cubicBezTo>
                <a:cubicBezTo>
                  <a:pt x="37" y="253"/>
                  <a:pt x="37" y="253"/>
                  <a:pt x="37" y="253"/>
                </a:cubicBezTo>
                <a:cubicBezTo>
                  <a:pt x="37" y="261"/>
                  <a:pt x="43" y="268"/>
                  <a:pt x="52" y="268"/>
                </a:cubicBezTo>
                <a:cubicBezTo>
                  <a:pt x="74" y="268"/>
                  <a:pt x="74" y="268"/>
                  <a:pt x="74" y="268"/>
                </a:cubicBezTo>
                <a:cubicBezTo>
                  <a:pt x="76" y="275"/>
                  <a:pt x="82" y="280"/>
                  <a:pt x="89" y="280"/>
                </a:cubicBezTo>
                <a:cubicBezTo>
                  <a:pt x="124" y="280"/>
                  <a:pt x="124" y="280"/>
                  <a:pt x="124" y="280"/>
                </a:cubicBezTo>
                <a:cubicBezTo>
                  <a:pt x="131" y="280"/>
                  <a:pt x="137" y="275"/>
                  <a:pt x="138" y="268"/>
                </a:cubicBezTo>
                <a:cubicBezTo>
                  <a:pt x="161" y="268"/>
                  <a:pt x="161" y="268"/>
                  <a:pt x="161" y="268"/>
                </a:cubicBezTo>
                <a:cubicBezTo>
                  <a:pt x="169" y="268"/>
                  <a:pt x="176" y="261"/>
                  <a:pt x="176" y="253"/>
                </a:cubicBezTo>
                <a:cubicBezTo>
                  <a:pt x="176" y="220"/>
                  <a:pt x="176" y="220"/>
                  <a:pt x="176" y="220"/>
                </a:cubicBezTo>
                <a:cubicBezTo>
                  <a:pt x="179" y="216"/>
                  <a:pt x="181" y="210"/>
                  <a:pt x="181" y="203"/>
                </a:cubicBezTo>
                <a:cubicBezTo>
                  <a:pt x="181" y="189"/>
                  <a:pt x="181" y="189"/>
                  <a:pt x="181" y="189"/>
                </a:cubicBezTo>
                <a:cubicBezTo>
                  <a:pt x="181" y="183"/>
                  <a:pt x="183" y="176"/>
                  <a:pt x="188" y="171"/>
                </a:cubicBezTo>
                <a:cubicBezTo>
                  <a:pt x="202" y="153"/>
                  <a:pt x="211" y="130"/>
                  <a:pt x="211" y="105"/>
                </a:cubicBezTo>
                <a:cubicBezTo>
                  <a:pt x="211" y="47"/>
                  <a:pt x="164" y="0"/>
                  <a:pt x="106" y="0"/>
                </a:cubicBezTo>
                <a:close/>
                <a:moveTo>
                  <a:pt x="114" y="203"/>
                </a:moveTo>
                <a:cubicBezTo>
                  <a:pt x="99" y="203"/>
                  <a:pt x="99" y="203"/>
                  <a:pt x="99" y="203"/>
                </a:cubicBezTo>
                <a:cubicBezTo>
                  <a:pt x="99" y="158"/>
                  <a:pt x="99" y="158"/>
                  <a:pt x="99" y="158"/>
                </a:cubicBezTo>
                <a:cubicBezTo>
                  <a:pt x="114" y="158"/>
                  <a:pt x="114" y="158"/>
                  <a:pt x="114" y="158"/>
                </a:cubicBezTo>
                <a:lnTo>
                  <a:pt x="114" y="203"/>
                </a:lnTo>
                <a:close/>
                <a:moveTo>
                  <a:pt x="164" y="152"/>
                </a:moveTo>
                <a:cubicBezTo>
                  <a:pt x="156" y="162"/>
                  <a:pt x="151" y="176"/>
                  <a:pt x="151" y="189"/>
                </a:cubicBezTo>
                <a:cubicBezTo>
                  <a:pt x="151" y="203"/>
                  <a:pt x="151" y="203"/>
                  <a:pt x="151" y="203"/>
                </a:cubicBezTo>
                <a:cubicBezTo>
                  <a:pt x="129" y="203"/>
                  <a:pt x="129" y="203"/>
                  <a:pt x="129" y="203"/>
                </a:cubicBezTo>
                <a:cubicBezTo>
                  <a:pt x="129" y="158"/>
                  <a:pt x="129" y="158"/>
                  <a:pt x="129" y="158"/>
                </a:cubicBezTo>
                <a:cubicBezTo>
                  <a:pt x="143" y="155"/>
                  <a:pt x="148" y="136"/>
                  <a:pt x="149" y="131"/>
                </a:cubicBezTo>
                <a:cubicBezTo>
                  <a:pt x="149" y="130"/>
                  <a:pt x="152" y="119"/>
                  <a:pt x="146" y="111"/>
                </a:cubicBezTo>
                <a:cubicBezTo>
                  <a:pt x="144" y="108"/>
                  <a:pt x="139" y="105"/>
                  <a:pt x="132" y="105"/>
                </a:cubicBezTo>
                <a:cubicBezTo>
                  <a:pt x="127" y="105"/>
                  <a:pt x="124" y="106"/>
                  <a:pt x="121" y="110"/>
                </a:cubicBezTo>
                <a:cubicBezTo>
                  <a:pt x="114" y="117"/>
                  <a:pt x="113" y="131"/>
                  <a:pt x="113" y="143"/>
                </a:cubicBezTo>
                <a:cubicBezTo>
                  <a:pt x="99" y="143"/>
                  <a:pt x="99" y="143"/>
                  <a:pt x="99" y="143"/>
                </a:cubicBezTo>
                <a:cubicBezTo>
                  <a:pt x="100" y="131"/>
                  <a:pt x="98" y="117"/>
                  <a:pt x="92" y="110"/>
                </a:cubicBezTo>
                <a:cubicBezTo>
                  <a:pt x="89" y="106"/>
                  <a:pt x="85" y="105"/>
                  <a:pt x="81" y="105"/>
                </a:cubicBezTo>
                <a:cubicBezTo>
                  <a:pt x="73" y="105"/>
                  <a:pt x="69" y="108"/>
                  <a:pt x="67" y="111"/>
                </a:cubicBezTo>
                <a:cubicBezTo>
                  <a:pt x="61" y="119"/>
                  <a:pt x="63" y="130"/>
                  <a:pt x="63" y="131"/>
                </a:cubicBezTo>
                <a:cubicBezTo>
                  <a:pt x="64" y="135"/>
                  <a:pt x="70" y="155"/>
                  <a:pt x="84" y="158"/>
                </a:cubicBezTo>
                <a:cubicBezTo>
                  <a:pt x="84" y="203"/>
                  <a:pt x="84" y="203"/>
                  <a:pt x="84" y="203"/>
                </a:cubicBezTo>
                <a:cubicBezTo>
                  <a:pt x="61" y="203"/>
                  <a:pt x="61" y="203"/>
                  <a:pt x="61" y="203"/>
                </a:cubicBezTo>
                <a:cubicBezTo>
                  <a:pt x="61" y="189"/>
                  <a:pt x="61" y="189"/>
                  <a:pt x="61" y="189"/>
                </a:cubicBezTo>
                <a:cubicBezTo>
                  <a:pt x="61" y="176"/>
                  <a:pt x="57" y="162"/>
                  <a:pt x="48" y="152"/>
                </a:cubicBezTo>
                <a:cubicBezTo>
                  <a:pt x="36" y="137"/>
                  <a:pt x="30" y="118"/>
                  <a:pt x="32" y="99"/>
                </a:cubicBezTo>
                <a:cubicBezTo>
                  <a:pt x="34" y="62"/>
                  <a:pt x="64" y="32"/>
                  <a:pt x="101" y="30"/>
                </a:cubicBezTo>
                <a:cubicBezTo>
                  <a:pt x="103" y="30"/>
                  <a:pt x="105" y="30"/>
                  <a:pt x="106" y="30"/>
                </a:cubicBezTo>
                <a:cubicBezTo>
                  <a:pt x="148" y="30"/>
                  <a:pt x="181" y="63"/>
                  <a:pt x="181" y="105"/>
                </a:cubicBezTo>
                <a:cubicBezTo>
                  <a:pt x="181" y="122"/>
                  <a:pt x="175" y="138"/>
                  <a:pt x="164" y="152"/>
                </a:cubicBezTo>
                <a:close/>
                <a:moveTo>
                  <a:pt x="128" y="142"/>
                </a:moveTo>
                <a:cubicBezTo>
                  <a:pt x="128" y="131"/>
                  <a:pt x="130" y="122"/>
                  <a:pt x="132" y="120"/>
                </a:cubicBezTo>
                <a:cubicBezTo>
                  <a:pt x="133" y="120"/>
                  <a:pt x="134" y="120"/>
                  <a:pt x="134" y="120"/>
                </a:cubicBezTo>
                <a:cubicBezTo>
                  <a:pt x="135" y="122"/>
                  <a:pt x="135" y="126"/>
                  <a:pt x="135" y="128"/>
                </a:cubicBezTo>
                <a:cubicBezTo>
                  <a:pt x="133" y="134"/>
                  <a:pt x="130" y="139"/>
                  <a:pt x="128" y="142"/>
                </a:cubicBezTo>
                <a:close/>
                <a:moveTo>
                  <a:pt x="84" y="142"/>
                </a:moveTo>
                <a:cubicBezTo>
                  <a:pt x="82" y="139"/>
                  <a:pt x="79" y="134"/>
                  <a:pt x="78" y="128"/>
                </a:cubicBezTo>
                <a:cubicBezTo>
                  <a:pt x="78" y="126"/>
                  <a:pt x="77" y="122"/>
                  <a:pt x="79" y="120"/>
                </a:cubicBezTo>
                <a:cubicBezTo>
                  <a:pt x="79" y="120"/>
                  <a:pt x="80" y="120"/>
                  <a:pt x="81" y="120"/>
                </a:cubicBezTo>
                <a:cubicBezTo>
                  <a:pt x="83" y="122"/>
                  <a:pt x="84" y="131"/>
                  <a:pt x="84" y="142"/>
                </a:cubicBezTo>
                <a:close/>
              </a:path>
            </a:pathLst>
          </a:custGeom>
          <a:solidFill>
            <a:schemeClr val="accent6">
              <a:lumMod val="75000"/>
            </a:schemeClr>
          </a:solidFill>
          <a:ln w="34925">
            <a:noFill/>
          </a:ln>
          <a:effectLst>
            <a:innerShdw blurRad="63500" dist="50800" dir="13500000">
              <a:prstClr val="black">
                <a:alpha val="50000"/>
              </a:prstClr>
            </a:innerShdw>
          </a:effectLst>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Geneva" panose="020B0503030404040204" pitchFamily="34" charset="0"/>
              <a:cs typeface="+mn-cs"/>
            </a:endParaRPr>
          </a:p>
        </p:txBody>
      </p:sp>
      <p:sp>
        <p:nvSpPr>
          <p:cNvPr id="10" name="CasetăText 103">
            <a:extLst>
              <a:ext uri="{C183D7F6-B498-43B3-948B-1728B52AA6E4}">
                <adec:decorative xmlns:adec="http://schemas.microsoft.com/office/drawing/2017/decorative" val="1"/>
              </a:ext>
            </a:extLst>
          </p:cNvPr>
          <p:cNvSpPr txBox="1"/>
          <p:nvPr/>
        </p:nvSpPr>
        <p:spPr>
          <a:xfrm>
            <a:off x="0" y="533400"/>
            <a:ext cx="4343400" cy="1524000"/>
          </a:xfrm>
          <a:prstGeom prst="rect">
            <a:avLst/>
          </a:prstGeom>
          <a:noFill/>
          <a:ln>
            <a:noFill/>
          </a:ln>
        </p:spPr>
        <p:txBody>
          <a:bodyPr wrap="square" rtlCol="0">
            <a:normAutofit fontScale="70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600" b="1" i="0" u="none" strike="noStrike" kern="1200" cap="none" spc="0" normalizeH="0" baseline="0" noProof="0" dirty="0">
                <a:ln>
                  <a:solidFill>
                    <a:prstClr val="black">
                      <a:lumMod val="85000"/>
                      <a:lumOff val="15000"/>
                    </a:prstClr>
                  </a:solidFill>
                </a:ln>
                <a:solidFill>
                  <a:srgbClr val="F79646">
                    <a:lumMod val="75000"/>
                  </a:srgbClr>
                </a:solidFill>
                <a:effectLst/>
                <a:uLnTx/>
                <a:uFillTx/>
                <a:latin typeface="Calibri"/>
                <a:ea typeface="Geneva" panose="020B0503030404040204" pitchFamily="34" charset="0"/>
                <a:cs typeface="+mn-cs"/>
              </a:rPr>
              <a:t>Gap &amp; Barrier Analysis </a:t>
            </a:r>
            <a:r>
              <a:rPr kumimoji="0" lang="en-US" sz="5400" b="1" i="0" u="none" strike="noStrike" kern="1200" cap="none" spc="0" normalizeH="0" baseline="0" noProof="0" dirty="0">
                <a:ln>
                  <a:solidFill>
                    <a:prstClr val="black">
                      <a:lumMod val="85000"/>
                      <a:lumOff val="15000"/>
                    </a:prstClr>
                  </a:solidFill>
                </a:ln>
                <a:solidFill>
                  <a:srgbClr val="F79646">
                    <a:lumMod val="75000"/>
                  </a:srgbClr>
                </a:solidFill>
                <a:effectLst/>
                <a:uLnTx/>
                <a:uFillTx/>
                <a:latin typeface="Calibri"/>
                <a:ea typeface="Geneva" panose="020B0503030404040204" pitchFamily="34" charset="0"/>
                <a:cs typeface="+mn-cs"/>
              </a:rPr>
              <a:t>	</a:t>
            </a:r>
          </a:p>
        </p:txBody>
      </p:sp>
      <p:sp>
        <p:nvSpPr>
          <p:cNvPr id="13" name="Rectangle 12">
            <a:extLs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Geneva" panose="020B0503030404040204" pitchFamily="34" charset="0"/>
              <a:cs typeface="+mn-cs"/>
            </a:endParaRPr>
          </a:p>
        </p:txBody>
      </p:sp>
      <p:sp>
        <p:nvSpPr>
          <p:cNvPr id="3" name="Title 2"/>
          <p:cNvSpPr>
            <a:spLocks noGrp="1"/>
          </p:cNvSpPr>
          <p:nvPr>
            <p:ph type="title"/>
          </p:nvPr>
        </p:nvSpPr>
        <p:spPr>
          <a:xfrm>
            <a:off x="228600" y="-2000250"/>
            <a:ext cx="8229600" cy="857250"/>
          </a:xfrm>
        </p:spPr>
        <p:txBody>
          <a:bodyPr>
            <a:noAutofit/>
          </a:bodyPr>
          <a:lstStyle/>
          <a:p>
            <a:r>
              <a:rPr lang="en-US" sz="2400" dirty="0"/>
              <a:t>Gap &amp; Barrier Analysis</a:t>
            </a:r>
          </a:p>
        </p:txBody>
      </p:sp>
      <p:sp>
        <p:nvSpPr>
          <p:cNvPr id="4" name="Slide Number Placeholder 3">
            <a:extLst>
              <a:ext uri="{FF2B5EF4-FFF2-40B4-BE49-F238E27FC236}">
                <a16:creationId xmlns:a16="http://schemas.microsoft.com/office/drawing/2014/main" id="{CE99AE71-2713-B541-9BCF-C43665ECCE5E}"/>
              </a:ext>
            </a:extLst>
          </p:cNvPr>
          <p:cNvSpPr>
            <a:spLocks noGrp="1"/>
          </p:cNvSpPr>
          <p:nvPr>
            <p:ph type="sldNum" sz="quarter" idx="12"/>
          </p:nvPr>
        </p:nvSpPr>
        <p:spPr>
          <a:xfrm>
            <a:off x="6858000" y="6369051"/>
            <a:ext cx="2133600" cy="365125"/>
          </a:xfrm>
        </p:spPr>
        <p:txBody>
          <a:bodyPr/>
          <a:lstStyle/>
          <a:p>
            <a:fld id="{5D7CCB52-5D48-470B-B8DA-D8134110C94D}" type="slidenum">
              <a:rPr lang="en-US" smtClean="0"/>
              <a:t>17</a:t>
            </a:fld>
            <a:endParaRPr lang="en-US" dirty="0"/>
          </a:p>
        </p:txBody>
      </p:sp>
    </p:spTree>
    <p:extLst>
      <p:ext uri="{BB962C8B-B14F-4D97-AF65-F5344CB8AC3E}">
        <p14:creationId xmlns:p14="http://schemas.microsoft.com/office/powerpoint/2010/main" val="156963301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20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1400"/>
                                        <p:tgtEl>
                                          <p:spTgt spid="11"/>
                                        </p:tgtEl>
                                      </p:cBhvr>
                                    </p:animEffect>
                                  </p:childTnLst>
                                </p:cTn>
                              </p:par>
                              <p:par>
                                <p:cTn id="8" presetID="10" presetClass="entr" presetSubtype="0" fill="hold" grpId="1" nodeType="withEffect">
                                  <p:stCondLst>
                                    <p:cond delay="2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000"/>
                                        <p:tgtEl>
                                          <p:spTgt spid="8"/>
                                        </p:tgtEl>
                                      </p:cBhvr>
                                    </p:animEffect>
                                  </p:childTnLst>
                                </p:cTn>
                              </p:par>
                              <p:par>
                                <p:cTn id="11" presetID="2" presetClass="entr" presetSubtype="8" decel="91000" fill="hold" grpId="0" nodeType="withEffect">
                                  <p:stCondLst>
                                    <p:cond delay="20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1200" fill="hold"/>
                                        <p:tgtEl>
                                          <p:spTgt spid="8"/>
                                        </p:tgtEl>
                                        <p:attrNameLst>
                                          <p:attrName>ppt_x</p:attrName>
                                        </p:attrNameLst>
                                      </p:cBhvr>
                                      <p:tavLst>
                                        <p:tav tm="0">
                                          <p:val>
                                            <p:strVal val="0-#ppt_w/2"/>
                                          </p:val>
                                        </p:tav>
                                        <p:tav tm="100000">
                                          <p:val>
                                            <p:strVal val="#ppt_x"/>
                                          </p:val>
                                        </p:tav>
                                      </p:tavLst>
                                    </p:anim>
                                    <p:anim calcmode="lin" valueType="num">
                                      <p:cBhvr additive="base">
                                        <p:cTn id="14" dur="1200" fill="hold"/>
                                        <p:tgtEl>
                                          <p:spTgt spid="8"/>
                                        </p:tgtEl>
                                        <p:attrNameLst>
                                          <p:attrName>ppt_y</p:attrName>
                                        </p:attrNameLst>
                                      </p:cBhvr>
                                      <p:tavLst>
                                        <p:tav tm="0">
                                          <p:val>
                                            <p:strVal val="#ppt_y"/>
                                          </p:val>
                                        </p:tav>
                                        <p:tav tm="100000">
                                          <p:val>
                                            <p:strVal val="#ppt_y"/>
                                          </p:val>
                                        </p:tav>
                                      </p:tavLst>
                                    </p:anim>
                                  </p:childTnLst>
                                </p:cTn>
                              </p:par>
                              <p:par>
                                <p:cTn id="15" presetID="53" presetClass="entr" presetSubtype="16" fill="hold" grpId="2" nodeType="withEffect">
                                  <p:stCondLst>
                                    <p:cond delay="200"/>
                                  </p:stCondLst>
                                  <p:childTnLst>
                                    <p:set>
                                      <p:cBhvr>
                                        <p:cTn id="16" dur="1" fill="hold">
                                          <p:stCondLst>
                                            <p:cond delay="0"/>
                                          </p:stCondLst>
                                        </p:cTn>
                                        <p:tgtEl>
                                          <p:spTgt spid="8"/>
                                        </p:tgtEl>
                                        <p:attrNameLst>
                                          <p:attrName>style.visibility</p:attrName>
                                        </p:attrNameLst>
                                      </p:cBhvr>
                                      <p:to>
                                        <p:strVal val="visible"/>
                                      </p:to>
                                    </p:set>
                                    <p:anim calcmode="lin" valueType="num">
                                      <p:cBhvr>
                                        <p:cTn id="17" dur="1200" fill="hold"/>
                                        <p:tgtEl>
                                          <p:spTgt spid="8"/>
                                        </p:tgtEl>
                                        <p:attrNameLst>
                                          <p:attrName>ppt_w</p:attrName>
                                        </p:attrNameLst>
                                      </p:cBhvr>
                                      <p:tavLst>
                                        <p:tav tm="0">
                                          <p:val>
                                            <p:fltVal val="0"/>
                                          </p:val>
                                        </p:tav>
                                        <p:tav tm="100000">
                                          <p:val>
                                            <p:strVal val="#ppt_w"/>
                                          </p:val>
                                        </p:tav>
                                      </p:tavLst>
                                    </p:anim>
                                    <p:anim calcmode="lin" valueType="num">
                                      <p:cBhvr>
                                        <p:cTn id="18" dur="1200" fill="hold"/>
                                        <p:tgtEl>
                                          <p:spTgt spid="8"/>
                                        </p:tgtEl>
                                        <p:attrNameLst>
                                          <p:attrName>ppt_h</p:attrName>
                                        </p:attrNameLst>
                                      </p:cBhvr>
                                      <p:tavLst>
                                        <p:tav tm="0">
                                          <p:val>
                                            <p:fltVal val="0"/>
                                          </p:val>
                                        </p:tav>
                                        <p:tav tm="100000">
                                          <p:val>
                                            <p:strVal val="#ppt_h"/>
                                          </p:val>
                                        </p:tav>
                                      </p:tavLst>
                                    </p:anim>
                                    <p:animEffect transition="in" filter="fade">
                                      <p:cBhvr>
                                        <p:cTn id="19" dur="1200"/>
                                        <p:tgtEl>
                                          <p:spTgt spid="8"/>
                                        </p:tgtEl>
                                      </p:cBhvr>
                                    </p:animEffect>
                                  </p:childTnLst>
                                </p:cTn>
                              </p:par>
                              <p:par>
                                <p:cTn id="20" presetID="42" presetClass="entr" presetSubtype="0" fill="hold" grpId="0" nodeType="withEffect">
                                  <p:stCondLst>
                                    <p:cond delay="15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childTnLst>
                          </p:cTn>
                        </p:par>
                        <p:par>
                          <p:cTn id="25" fill="hold">
                            <p:stCondLst>
                              <p:cond delay="3200"/>
                            </p:stCondLst>
                            <p:childTnLst>
                              <p:par>
                                <p:cTn id="26" presetID="53" presetClass="entr" presetSubtype="16"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500" fill="hold"/>
                                        <p:tgtEl>
                                          <p:spTgt spid="9"/>
                                        </p:tgtEl>
                                        <p:attrNameLst>
                                          <p:attrName>ppt_w</p:attrName>
                                        </p:attrNameLst>
                                      </p:cBhvr>
                                      <p:tavLst>
                                        <p:tav tm="0">
                                          <p:val>
                                            <p:fltVal val="0"/>
                                          </p:val>
                                        </p:tav>
                                        <p:tav tm="100000">
                                          <p:val>
                                            <p:strVal val="#ppt_w"/>
                                          </p:val>
                                        </p:tav>
                                      </p:tavLst>
                                    </p:anim>
                                    <p:anim calcmode="lin" valueType="num">
                                      <p:cBhvr>
                                        <p:cTn id="29" dur="500" fill="hold"/>
                                        <p:tgtEl>
                                          <p:spTgt spid="9"/>
                                        </p:tgtEl>
                                        <p:attrNameLst>
                                          <p:attrName>ppt_h</p:attrName>
                                        </p:attrNameLst>
                                      </p:cBhvr>
                                      <p:tavLst>
                                        <p:tav tm="0">
                                          <p:val>
                                            <p:fltVal val="0"/>
                                          </p:val>
                                        </p:tav>
                                        <p:tav tm="100000">
                                          <p:val>
                                            <p:strVal val="#ppt_h"/>
                                          </p:val>
                                        </p:tav>
                                      </p:tavLst>
                                    </p:anim>
                                    <p:animEffect transition="in" filter="fade">
                                      <p:cBhvr>
                                        <p:cTn id="3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P spid="8" grpId="1" animBg="1"/>
      <p:bldP spid="8" grpId="2" animBg="1"/>
      <p:bldP spid="11" grpId="0" animBg="1"/>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C183D7F6-B498-43B3-948B-1728B52AA6E4}">
                <adec:decorative xmlns:adec="http://schemas.microsoft.com/office/drawing/2017/decorative" val="1"/>
              </a:ext>
            </a:extLst>
          </p:cNvPr>
          <p:cNvSpPr/>
          <p:nvPr/>
        </p:nvSpPr>
        <p:spPr>
          <a:xfrm flipV="1">
            <a:off x="-12441" y="228600"/>
            <a:ext cx="9156441" cy="5734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descr="Feel free to share examples of these factors in the chat.&#13;&#10;">
            <a:extLst>
              <a:ext uri="{FF2B5EF4-FFF2-40B4-BE49-F238E27FC236}">
                <a16:creationId xmlns:a16="http://schemas.microsoft.com/office/drawing/2014/main" id="{E48162E2-6F3F-4640-BE81-924B4760C4D4}"/>
              </a:ext>
            </a:extLst>
          </p:cNvPr>
          <p:cNvSpPr txBox="1"/>
          <p:nvPr/>
        </p:nvSpPr>
        <p:spPr>
          <a:xfrm>
            <a:off x="121188" y="5556410"/>
            <a:ext cx="2789238" cy="707886"/>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US" sz="2000" i="1" dirty="0">
                <a:latin typeface="Arial Narrow" panose="020B0604020202020204" pitchFamily="34" charset="0"/>
                <a:cs typeface="Arial Narrow" panose="020B0604020202020204" pitchFamily="34" charset="0"/>
              </a:rPr>
              <a:t>Feel free to share examples of these factors in the chat.</a:t>
            </a:r>
          </a:p>
        </p:txBody>
      </p:sp>
      <p:sp>
        <p:nvSpPr>
          <p:cNvPr id="8" name="Flowchart: Alternate Process 7" descr="Necessary skills &amp; training needs &#13;&#10;Costs associated with tech &#13;&#10;Could the tech be distracting or isolating? &#13;&#10;Safety or security concerns &#13;&#10;Supports available to assist&#13;&#10;Is the tech adaptable?&#13;&#10;Who will own the technology? &#13;&#10;How will the tech be transported?&#13;&#10;Availability of a demo or trial&#13;&#10;Accessibility features &#13;&#10;Is tech associated with a request for an accommodation?&#13;&#10;Age appropriateness &#13;&#10;"/>
          <p:cNvSpPr/>
          <p:nvPr/>
        </p:nvSpPr>
        <p:spPr>
          <a:xfrm>
            <a:off x="3155413" y="431022"/>
            <a:ext cx="5867399" cy="6294438"/>
          </a:xfrm>
          <a:prstGeom prst="flowChartAlternateProcess">
            <a:avLst/>
          </a:prstGeom>
          <a:solidFill>
            <a:schemeClr val="bg1">
              <a:lumMod val="95000"/>
            </a:schemeClr>
          </a:solidFill>
          <a:ln w="34925">
            <a:solidFill>
              <a:schemeClr val="tx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no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lumMod val="95000"/>
                    <a:lumOff val="5000"/>
                  </a:prstClr>
                </a:solidFill>
                <a:effectLst/>
                <a:uLnTx/>
                <a:uFillTx/>
                <a:latin typeface="Calibri"/>
                <a:ea typeface="+mn-ea"/>
                <a:cs typeface="+mn-cs"/>
              </a:rPr>
              <a:t>Necessary skills &amp;</a:t>
            </a:r>
            <a:r>
              <a:rPr kumimoji="0" lang="en-US" sz="2200" b="0" i="0" u="none" strike="noStrike" kern="1200" cap="none" spc="0" normalizeH="0" noProof="0" dirty="0">
                <a:ln>
                  <a:noFill/>
                </a:ln>
                <a:solidFill>
                  <a:prstClr val="black">
                    <a:lumMod val="95000"/>
                    <a:lumOff val="5000"/>
                  </a:prstClr>
                </a:solidFill>
                <a:effectLst/>
                <a:uLnTx/>
                <a:uFillTx/>
                <a:latin typeface="Calibri"/>
                <a:ea typeface="+mn-ea"/>
                <a:cs typeface="+mn-cs"/>
              </a:rPr>
              <a:t> </a:t>
            </a:r>
            <a:r>
              <a:rPr lang="en-US" sz="2300" dirty="0">
                <a:solidFill>
                  <a:prstClr val="black">
                    <a:lumMod val="95000"/>
                    <a:lumOff val="5000"/>
                  </a:prstClr>
                </a:solidFill>
                <a:latin typeface="Calibri"/>
              </a:rPr>
              <a:t>t</a:t>
            </a: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raining needs </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Costs associated with tech </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Could </a:t>
            </a:r>
            <a:r>
              <a:rPr lang="en-US" sz="2300" dirty="0">
                <a:solidFill>
                  <a:prstClr val="black">
                    <a:lumMod val="95000"/>
                    <a:lumOff val="5000"/>
                  </a:prstClr>
                </a:solidFill>
                <a:latin typeface="Calibri"/>
              </a:rPr>
              <a:t>the </a:t>
            </a: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tech be distracting or</a:t>
            </a:r>
            <a:r>
              <a:rPr kumimoji="0" lang="en-US" sz="2300" b="0" i="0" u="none" strike="noStrike" kern="1200" cap="none" spc="0" normalizeH="0" noProof="0" dirty="0">
                <a:ln>
                  <a:noFill/>
                </a:ln>
                <a:solidFill>
                  <a:prstClr val="black">
                    <a:lumMod val="95000"/>
                    <a:lumOff val="5000"/>
                  </a:prstClr>
                </a:solidFill>
                <a:effectLst/>
                <a:uLnTx/>
                <a:uFillTx/>
                <a:latin typeface="Calibri"/>
                <a:ea typeface="+mn-ea"/>
                <a:cs typeface="+mn-cs"/>
              </a:rPr>
              <a:t> </a:t>
            </a: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isolating? </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Safety </a:t>
            </a:r>
            <a:r>
              <a:rPr kumimoji="0" lang="en-US" sz="2200" b="0" i="0" u="none" strike="noStrike" kern="1200" cap="none" spc="0" normalizeH="0" baseline="0" noProof="0" dirty="0">
                <a:ln>
                  <a:noFill/>
                </a:ln>
                <a:solidFill>
                  <a:prstClr val="black">
                    <a:lumMod val="95000"/>
                    <a:lumOff val="5000"/>
                  </a:prstClr>
                </a:solidFill>
                <a:effectLst/>
                <a:uLnTx/>
                <a:uFillTx/>
                <a:latin typeface="Calibri"/>
                <a:ea typeface="+mn-ea"/>
                <a:cs typeface="+mn-cs"/>
              </a:rPr>
              <a:t>or security concerns </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lumMod val="95000"/>
                    <a:lumOff val="5000"/>
                  </a:prstClr>
                </a:solidFill>
                <a:effectLst/>
                <a:uLnTx/>
                <a:uFillTx/>
                <a:latin typeface="Calibri"/>
                <a:ea typeface="+mn-ea"/>
                <a:cs typeface="+mn-cs"/>
              </a:rPr>
              <a:t>Supports available to assist</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lumMod val="95000"/>
                    <a:lumOff val="5000"/>
                  </a:prstClr>
                </a:solidFill>
                <a:effectLst/>
                <a:uLnTx/>
                <a:uFillTx/>
                <a:latin typeface="Calibri"/>
                <a:ea typeface="+mn-ea"/>
                <a:cs typeface="+mn-cs"/>
              </a:rPr>
              <a:t>Is the tech adaptable?</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lumMod val="95000"/>
                    <a:lumOff val="5000"/>
                  </a:prstClr>
                </a:solidFill>
                <a:effectLst/>
                <a:uLnTx/>
                <a:uFillTx/>
                <a:latin typeface="Calibri"/>
                <a:ea typeface="+mn-ea"/>
                <a:cs typeface="+mn-cs"/>
              </a:rPr>
              <a:t>Who will own the technology? </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lumMod val="95000"/>
                    <a:lumOff val="5000"/>
                  </a:prstClr>
                </a:solidFill>
                <a:effectLst/>
                <a:uLnTx/>
                <a:uFillTx/>
                <a:latin typeface="Calibri"/>
                <a:ea typeface="+mn-ea"/>
                <a:cs typeface="+mn-cs"/>
              </a:rPr>
              <a:t>How will the tech be transported?</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lumMod val="95000"/>
                    <a:lumOff val="5000"/>
                  </a:prstClr>
                </a:solidFill>
                <a:effectLst/>
                <a:uLnTx/>
                <a:uFillTx/>
                <a:latin typeface="Calibri"/>
                <a:ea typeface="+mn-ea"/>
                <a:cs typeface="+mn-cs"/>
              </a:rPr>
              <a:t>Availability of a demo or trial</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lumMod val="95000"/>
                    <a:lumOff val="5000"/>
                  </a:prstClr>
                </a:solidFill>
                <a:effectLst/>
                <a:uLnTx/>
                <a:uFillTx/>
                <a:latin typeface="Calibri"/>
                <a:ea typeface="+mn-ea"/>
                <a:cs typeface="+mn-cs"/>
              </a:rPr>
              <a:t>Accessibility features </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lumMod val="95000"/>
                    <a:lumOff val="5000"/>
                  </a:prstClr>
                </a:solidFill>
                <a:effectLst/>
                <a:uLnTx/>
                <a:uFillTx/>
                <a:latin typeface="Calibri"/>
                <a:ea typeface="+mn-ea"/>
                <a:cs typeface="+mn-cs"/>
              </a:rPr>
              <a:t>Is tech associated with a request for an accommodation?</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lumMod val="95000"/>
                    <a:lumOff val="5000"/>
                  </a:prstClr>
                </a:solidFill>
                <a:effectLst/>
                <a:uLnTx/>
                <a:uFillTx/>
                <a:latin typeface="Calibri"/>
                <a:ea typeface="+mn-ea"/>
                <a:cs typeface="+mn-cs"/>
              </a:rPr>
              <a:t>Age appropriateness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1200" cap="none" spc="0" normalizeH="0" baseline="0" noProof="0" dirty="0">
              <a:ln>
                <a:noFill/>
              </a:ln>
              <a:solidFill>
                <a:prstClr val="black">
                  <a:lumMod val="95000"/>
                  <a:lumOff val="5000"/>
                </a:prstClr>
              </a:solidFill>
              <a:effectLst/>
              <a:uLnTx/>
              <a:uFillTx/>
              <a:latin typeface="Calibri"/>
              <a:ea typeface="+mn-ea"/>
              <a:cs typeface="+mn-cs"/>
            </a:endParaRPr>
          </a:p>
        </p:txBody>
      </p:sp>
      <p:sp>
        <p:nvSpPr>
          <p:cNvPr id="11" name="Freeform 33">
            <a:hlinkClick r:id="rId3" action="ppaction://hlinksldjump"/>
            <a:extLst>
              <a:ext uri="{C183D7F6-B498-43B3-948B-1728B52AA6E4}">
                <adec:decorative xmlns:adec="http://schemas.microsoft.com/office/drawing/2017/decorative" val="1"/>
              </a:ext>
            </a:extLst>
          </p:cNvPr>
          <p:cNvSpPr>
            <a:spLocks noEditPoints="1"/>
          </p:cNvSpPr>
          <p:nvPr/>
        </p:nvSpPr>
        <p:spPr bwMode="auto">
          <a:xfrm>
            <a:off x="121188" y="2054241"/>
            <a:ext cx="2393412" cy="3048000"/>
          </a:xfrm>
          <a:custGeom>
            <a:avLst/>
            <a:gdLst>
              <a:gd name="T0" fmla="*/ 106 w 211"/>
              <a:gd name="T1" fmla="*/ 0 h 280"/>
              <a:gd name="T2" fmla="*/ 99 w 211"/>
              <a:gd name="T3" fmla="*/ 0 h 280"/>
              <a:gd name="T4" fmla="*/ 2 w 211"/>
              <a:gd name="T5" fmla="*/ 97 h 280"/>
              <a:gd name="T6" fmla="*/ 25 w 211"/>
              <a:gd name="T7" fmla="*/ 171 h 280"/>
              <a:gd name="T8" fmla="*/ 31 w 211"/>
              <a:gd name="T9" fmla="*/ 189 h 280"/>
              <a:gd name="T10" fmla="*/ 31 w 211"/>
              <a:gd name="T11" fmla="*/ 203 h 280"/>
              <a:gd name="T12" fmla="*/ 37 w 211"/>
              <a:gd name="T13" fmla="*/ 220 h 280"/>
              <a:gd name="T14" fmla="*/ 37 w 211"/>
              <a:gd name="T15" fmla="*/ 253 h 280"/>
              <a:gd name="T16" fmla="*/ 52 w 211"/>
              <a:gd name="T17" fmla="*/ 268 h 280"/>
              <a:gd name="T18" fmla="*/ 74 w 211"/>
              <a:gd name="T19" fmla="*/ 268 h 280"/>
              <a:gd name="T20" fmla="*/ 89 w 211"/>
              <a:gd name="T21" fmla="*/ 280 h 280"/>
              <a:gd name="T22" fmla="*/ 124 w 211"/>
              <a:gd name="T23" fmla="*/ 280 h 280"/>
              <a:gd name="T24" fmla="*/ 138 w 211"/>
              <a:gd name="T25" fmla="*/ 268 h 280"/>
              <a:gd name="T26" fmla="*/ 161 w 211"/>
              <a:gd name="T27" fmla="*/ 268 h 280"/>
              <a:gd name="T28" fmla="*/ 176 w 211"/>
              <a:gd name="T29" fmla="*/ 253 h 280"/>
              <a:gd name="T30" fmla="*/ 176 w 211"/>
              <a:gd name="T31" fmla="*/ 220 h 280"/>
              <a:gd name="T32" fmla="*/ 181 w 211"/>
              <a:gd name="T33" fmla="*/ 203 h 280"/>
              <a:gd name="T34" fmla="*/ 181 w 211"/>
              <a:gd name="T35" fmla="*/ 189 h 280"/>
              <a:gd name="T36" fmla="*/ 188 w 211"/>
              <a:gd name="T37" fmla="*/ 171 h 280"/>
              <a:gd name="T38" fmla="*/ 211 w 211"/>
              <a:gd name="T39" fmla="*/ 105 h 280"/>
              <a:gd name="T40" fmla="*/ 106 w 211"/>
              <a:gd name="T41" fmla="*/ 0 h 280"/>
              <a:gd name="T42" fmla="*/ 114 w 211"/>
              <a:gd name="T43" fmla="*/ 203 h 280"/>
              <a:gd name="T44" fmla="*/ 99 w 211"/>
              <a:gd name="T45" fmla="*/ 203 h 280"/>
              <a:gd name="T46" fmla="*/ 99 w 211"/>
              <a:gd name="T47" fmla="*/ 158 h 280"/>
              <a:gd name="T48" fmla="*/ 114 w 211"/>
              <a:gd name="T49" fmla="*/ 158 h 280"/>
              <a:gd name="T50" fmla="*/ 114 w 211"/>
              <a:gd name="T51" fmla="*/ 203 h 280"/>
              <a:gd name="T52" fmla="*/ 164 w 211"/>
              <a:gd name="T53" fmla="*/ 152 h 280"/>
              <a:gd name="T54" fmla="*/ 151 w 211"/>
              <a:gd name="T55" fmla="*/ 189 h 280"/>
              <a:gd name="T56" fmla="*/ 151 w 211"/>
              <a:gd name="T57" fmla="*/ 203 h 280"/>
              <a:gd name="T58" fmla="*/ 129 w 211"/>
              <a:gd name="T59" fmla="*/ 203 h 280"/>
              <a:gd name="T60" fmla="*/ 129 w 211"/>
              <a:gd name="T61" fmla="*/ 158 h 280"/>
              <a:gd name="T62" fmla="*/ 149 w 211"/>
              <a:gd name="T63" fmla="*/ 131 h 280"/>
              <a:gd name="T64" fmla="*/ 146 w 211"/>
              <a:gd name="T65" fmla="*/ 111 h 280"/>
              <a:gd name="T66" fmla="*/ 132 w 211"/>
              <a:gd name="T67" fmla="*/ 105 h 280"/>
              <a:gd name="T68" fmla="*/ 121 w 211"/>
              <a:gd name="T69" fmla="*/ 110 h 280"/>
              <a:gd name="T70" fmla="*/ 113 w 211"/>
              <a:gd name="T71" fmla="*/ 143 h 280"/>
              <a:gd name="T72" fmla="*/ 99 w 211"/>
              <a:gd name="T73" fmla="*/ 143 h 280"/>
              <a:gd name="T74" fmla="*/ 92 w 211"/>
              <a:gd name="T75" fmla="*/ 110 h 280"/>
              <a:gd name="T76" fmla="*/ 81 w 211"/>
              <a:gd name="T77" fmla="*/ 105 h 280"/>
              <a:gd name="T78" fmla="*/ 67 w 211"/>
              <a:gd name="T79" fmla="*/ 111 h 280"/>
              <a:gd name="T80" fmla="*/ 63 w 211"/>
              <a:gd name="T81" fmla="*/ 131 h 280"/>
              <a:gd name="T82" fmla="*/ 84 w 211"/>
              <a:gd name="T83" fmla="*/ 158 h 280"/>
              <a:gd name="T84" fmla="*/ 84 w 211"/>
              <a:gd name="T85" fmla="*/ 203 h 280"/>
              <a:gd name="T86" fmla="*/ 61 w 211"/>
              <a:gd name="T87" fmla="*/ 203 h 280"/>
              <a:gd name="T88" fmla="*/ 61 w 211"/>
              <a:gd name="T89" fmla="*/ 189 h 280"/>
              <a:gd name="T90" fmla="*/ 48 w 211"/>
              <a:gd name="T91" fmla="*/ 152 h 280"/>
              <a:gd name="T92" fmla="*/ 32 w 211"/>
              <a:gd name="T93" fmla="*/ 99 h 280"/>
              <a:gd name="T94" fmla="*/ 101 w 211"/>
              <a:gd name="T95" fmla="*/ 30 h 280"/>
              <a:gd name="T96" fmla="*/ 106 w 211"/>
              <a:gd name="T97" fmla="*/ 30 h 280"/>
              <a:gd name="T98" fmla="*/ 181 w 211"/>
              <a:gd name="T99" fmla="*/ 105 h 280"/>
              <a:gd name="T100" fmla="*/ 164 w 211"/>
              <a:gd name="T101" fmla="*/ 152 h 280"/>
              <a:gd name="T102" fmla="*/ 128 w 211"/>
              <a:gd name="T103" fmla="*/ 142 h 280"/>
              <a:gd name="T104" fmla="*/ 132 w 211"/>
              <a:gd name="T105" fmla="*/ 120 h 280"/>
              <a:gd name="T106" fmla="*/ 134 w 211"/>
              <a:gd name="T107" fmla="*/ 120 h 280"/>
              <a:gd name="T108" fmla="*/ 135 w 211"/>
              <a:gd name="T109" fmla="*/ 128 h 280"/>
              <a:gd name="T110" fmla="*/ 128 w 211"/>
              <a:gd name="T111" fmla="*/ 142 h 280"/>
              <a:gd name="T112" fmla="*/ 84 w 211"/>
              <a:gd name="T113" fmla="*/ 142 h 280"/>
              <a:gd name="T114" fmla="*/ 78 w 211"/>
              <a:gd name="T115" fmla="*/ 128 h 280"/>
              <a:gd name="T116" fmla="*/ 79 w 211"/>
              <a:gd name="T117" fmla="*/ 120 h 280"/>
              <a:gd name="T118" fmla="*/ 81 w 211"/>
              <a:gd name="T119" fmla="*/ 120 h 280"/>
              <a:gd name="T120" fmla="*/ 84 w 211"/>
              <a:gd name="T121" fmla="*/ 142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1" h="280">
                <a:moveTo>
                  <a:pt x="106" y="0"/>
                </a:moveTo>
                <a:cubicBezTo>
                  <a:pt x="104" y="0"/>
                  <a:pt x="101" y="0"/>
                  <a:pt x="99" y="0"/>
                </a:cubicBezTo>
                <a:cubicBezTo>
                  <a:pt x="47" y="4"/>
                  <a:pt x="5" y="46"/>
                  <a:pt x="2" y="97"/>
                </a:cubicBezTo>
                <a:cubicBezTo>
                  <a:pt x="0" y="125"/>
                  <a:pt x="9" y="151"/>
                  <a:pt x="25" y="171"/>
                </a:cubicBezTo>
                <a:cubicBezTo>
                  <a:pt x="29" y="176"/>
                  <a:pt x="31" y="183"/>
                  <a:pt x="31" y="189"/>
                </a:cubicBezTo>
                <a:cubicBezTo>
                  <a:pt x="31" y="203"/>
                  <a:pt x="31" y="203"/>
                  <a:pt x="31" y="203"/>
                </a:cubicBezTo>
                <a:cubicBezTo>
                  <a:pt x="31" y="210"/>
                  <a:pt x="33" y="216"/>
                  <a:pt x="37" y="220"/>
                </a:cubicBezTo>
                <a:cubicBezTo>
                  <a:pt x="37" y="253"/>
                  <a:pt x="37" y="253"/>
                  <a:pt x="37" y="253"/>
                </a:cubicBezTo>
                <a:cubicBezTo>
                  <a:pt x="37" y="261"/>
                  <a:pt x="43" y="268"/>
                  <a:pt x="52" y="268"/>
                </a:cubicBezTo>
                <a:cubicBezTo>
                  <a:pt x="74" y="268"/>
                  <a:pt x="74" y="268"/>
                  <a:pt x="74" y="268"/>
                </a:cubicBezTo>
                <a:cubicBezTo>
                  <a:pt x="76" y="275"/>
                  <a:pt x="82" y="280"/>
                  <a:pt x="89" y="280"/>
                </a:cubicBezTo>
                <a:cubicBezTo>
                  <a:pt x="124" y="280"/>
                  <a:pt x="124" y="280"/>
                  <a:pt x="124" y="280"/>
                </a:cubicBezTo>
                <a:cubicBezTo>
                  <a:pt x="131" y="280"/>
                  <a:pt x="137" y="275"/>
                  <a:pt x="138" y="268"/>
                </a:cubicBezTo>
                <a:cubicBezTo>
                  <a:pt x="161" y="268"/>
                  <a:pt x="161" y="268"/>
                  <a:pt x="161" y="268"/>
                </a:cubicBezTo>
                <a:cubicBezTo>
                  <a:pt x="169" y="268"/>
                  <a:pt x="176" y="261"/>
                  <a:pt x="176" y="253"/>
                </a:cubicBezTo>
                <a:cubicBezTo>
                  <a:pt x="176" y="220"/>
                  <a:pt x="176" y="220"/>
                  <a:pt x="176" y="220"/>
                </a:cubicBezTo>
                <a:cubicBezTo>
                  <a:pt x="179" y="216"/>
                  <a:pt x="181" y="210"/>
                  <a:pt x="181" y="203"/>
                </a:cubicBezTo>
                <a:cubicBezTo>
                  <a:pt x="181" y="189"/>
                  <a:pt x="181" y="189"/>
                  <a:pt x="181" y="189"/>
                </a:cubicBezTo>
                <a:cubicBezTo>
                  <a:pt x="181" y="183"/>
                  <a:pt x="183" y="176"/>
                  <a:pt x="188" y="171"/>
                </a:cubicBezTo>
                <a:cubicBezTo>
                  <a:pt x="202" y="153"/>
                  <a:pt x="211" y="130"/>
                  <a:pt x="211" y="105"/>
                </a:cubicBezTo>
                <a:cubicBezTo>
                  <a:pt x="211" y="47"/>
                  <a:pt x="164" y="0"/>
                  <a:pt x="106" y="0"/>
                </a:cubicBezTo>
                <a:close/>
                <a:moveTo>
                  <a:pt x="114" y="203"/>
                </a:moveTo>
                <a:cubicBezTo>
                  <a:pt x="99" y="203"/>
                  <a:pt x="99" y="203"/>
                  <a:pt x="99" y="203"/>
                </a:cubicBezTo>
                <a:cubicBezTo>
                  <a:pt x="99" y="158"/>
                  <a:pt x="99" y="158"/>
                  <a:pt x="99" y="158"/>
                </a:cubicBezTo>
                <a:cubicBezTo>
                  <a:pt x="114" y="158"/>
                  <a:pt x="114" y="158"/>
                  <a:pt x="114" y="158"/>
                </a:cubicBezTo>
                <a:lnTo>
                  <a:pt x="114" y="203"/>
                </a:lnTo>
                <a:close/>
                <a:moveTo>
                  <a:pt x="164" y="152"/>
                </a:moveTo>
                <a:cubicBezTo>
                  <a:pt x="156" y="162"/>
                  <a:pt x="151" y="176"/>
                  <a:pt x="151" y="189"/>
                </a:cubicBezTo>
                <a:cubicBezTo>
                  <a:pt x="151" y="203"/>
                  <a:pt x="151" y="203"/>
                  <a:pt x="151" y="203"/>
                </a:cubicBezTo>
                <a:cubicBezTo>
                  <a:pt x="129" y="203"/>
                  <a:pt x="129" y="203"/>
                  <a:pt x="129" y="203"/>
                </a:cubicBezTo>
                <a:cubicBezTo>
                  <a:pt x="129" y="158"/>
                  <a:pt x="129" y="158"/>
                  <a:pt x="129" y="158"/>
                </a:cubicBezTo>
                <a:cubicBezTo>
                  <a:pt x="143" y="155"/>
                  <a:pt x="148" y="136"/>
                  <a:pt x="149" y="131"/>
                </a:cubicBezTo>
                <a:cubicBezTo>
                  <a:pt x="149" y="130"/>
                  <a:pt x="152" y="119"/>
                  <a:pt x="146" y="111"/>
                </a:cubicBezTo>
                <a:cubicBezTo>
                  <a:pt x="144" y="108"/>
                  <a:pt x="139" y="105"/>
                  <a:pt x="132" y="105"/>
                </a:cubicBezTo>
                <a:cubicBezTo>
                  <a:pt x="127" y="105"/>
                  <a:pt x="124" y="106"/>
                  <a:pt x="121" y="110"/>
                </a:cubicBezTo>
                <a:cubicBezTo>
                  <a:pt x="114" y="117"/>
                  <a:pt x="113" y="131"/>
                  <a:pt x="113" y="143"/>
                </a:cubicBezTo>
                <a:cubicBezTo>
                  <a:pt x="99" y="143"/>
                  <a:pt x="99" y="143"/>
                  <a:pt x="99" y="143"/>
                </a:cubicBezTo>
                <a:cubicBezTo>
                  <a:pt x="100" y="131"/>
                  <a:pt x="98" y="117"/>
                  <a:pt x="92" y="110"/>
                </a:cubicBezTo>
                <a:cubicBezTo>
                  <a:pt x="89" y="106"/>
                  <a:pt x="85" y="105"/>
                  <a:pt x="81" y="105"/>
                </a:cubicBezTo>
                <a:cubicBezTo>
                  <a:pt x="73" y="105"/>
                  <a:pt x="69" y="108"/>
                  <a:pt x="67" y="111"/>
                </a:cubicBezTo>
                <a:cubicBezTo>
                  <a:pt x="61" y="119"/>
                  <a:pt x="63" y="130"/>
                  <a:pt x="63" y="131"/>
                </a:cubicBezTo>
                <a:cubicBezTo>
                  <a:pt x="64" y="135"/>
                  <a:pt x="70" y="155"/>
                  <a:pt x="84" y="158"/>
                </a:cubicBezTo>
                <a:cubicBezTo>
                  <a:pt x="84" y="203"/>
                  <a:pt x="84" y="203"/>
                  <a:pt x="84" y="203"/>
                </a:cubicBezTo>
                <a:cubicBezTo>
                  <a:pt x="61" y="203"/>
                  <a:pt x="61" y="203"/>
                  <a:pt x="61" y="203"/>
                </a:cubicBezTo>
                <a:cubicBezTo>
                  <a:pt x="61" y="189"/>
                  <a:pt x="61" y="189"/>
                  <a:pt x="61" y="189"/>
                </a:cubicBezTo>
                <a:cubicBezTo>
                  <a:pt x="61" y="176"/>
                  <a:pt x="57" y="162"/>
                  <a:pt x="48" y="152"/>
                </a:cubicBezTo>
                <a:cubicBezTo>
                  <a:pt x="36" y="137"/>
                  <a:pt x="30" y="118"/>
                  <a:pt x="32" y="99"/>
                </a:cubicBezTo>
                <a:cubicBezTo>
                  <a:pt x="34" y="62"/>
                  <a:pt x="64" y="32"/>
                  <a:pt x="101" y="30"/>
                </a:cubicBezTo>
                <a:cubicBezTo>
                  <a:pt x="103" y="30"/>
                  <a:pt x="105" y="30"/>
                  <a:pt x="106" y="30"/>
                </a:cubicBezTo>
                <a:cubicBezTo>
                  <a:pt x="148" y="30"/>
                  <a:pt x="181" y="63"/>
                  <a:pt x="181" y="105"/>
                </a:cubicBezTo>
                <a:cubicBezTo>
                  <a:pt x="181" y="122"/>
                  <a:pt x="175" y="138"/>
                  <a:pt x="164" y="152"/>
                </a:cubicBezTo>
                <a:close/>
                <a:moveTo>
                  <a:pt x="128" y="142"/>
                </a:moveTo>
                <a:cubicBezTo>
                  <a:pt x="128" y="131"/>
                  <a:pt x="130" y="122"/>
                  <a:pt x="132" y="120"/>
                </a:cubicBezTo>
                <a:cubicBezTo>
                  <a:pt x="133" y="120"/>
                  <a:pt x="134" y="120"/>
                  <a:pt x="134" y="120"/>
                </a:cubicBezTo>
                <a:cubicBezTo>
                  <a:pt x="135" y="122"/>
                  <a:pt x="135" y="126"/>
                  <a:pt x="135" y="128"/>
                </a:cubicBezTo>
                <a:cubicBezTo>
                  <a:pt x="133" y="134"/>
                  <a:pt x="130" y="139"/>
                  <a:pt x="128" y="142"/>
                </a:cubicBezTo>
                <a:close/>
                <a:moveTo>
                  <a:pt x="84" y="142"/>
                </a:moveTo>
                <a:cubicBezTo>
                  <a:pt x="82" y="139"/>
                  <a:pt x="79" y="134"/>
                  <a:pt x="78" y="128"/>
                </a:cubicBezTo>
                <a:cubicBezTo>
                  <a:pt x="78" y="126"/>
                  <a:pt x="77" y="122"/>
                  <a:pt x="79" y="120"/>
                </a:cubicBezTo>
                <a:cubicBezTo>
                  <a:pt x="79" y="120"/>
                  <a:pt x="80" y="120"/>
                  <a:pt x="81" y="120"/>
                </a:cubicBezTo>
                <a:cubicBezTo>
                  <a:pt x="83" y="122"/>
                  <a:pt x="84" y="131"/>
                  <a:pt x="84" y="142"/>
                </a:cubicBezTo>
                <a:close/>
              </a:path>
            </a:pathLst>
          </a:custGeom>
          <a:solidFill>
            <a:schemeClr val="accent1">
              <a:lumMod val="75000"/>
            </a:schemeClr>
          </a:solidFill>
          <a:ln w="34925">
            <a:noFill/>
          </a:ln>
          <a:effectLst>
            <a:innerShdw blurRad="63500" dist="50800" dir="13500000">
              <a:prstClr val="black">
                <a:alpha val="50000"/>
              </a:prstClr>
            </a:innerShdw>
          </a:effectLst>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Geneva" panose="020B0503030404040204" pitchFamily="34" charset="0"/>
              <a:cs typeface="+mn-cs"/>
            </a:endParaRPr>
          </a:p>
        </p:txBody>
      </p:sp>
      <p:sp>
        <p:nvSpPr>
          <p:cNvPr id="10" name="CasetăText 103">
            <a:extLst>
              <a:ext uri="{C183D7F6-B498-43B3-948B-1728B52AA6E4}">
                <adec:decorative xmlns:adec="http://schemas.microsoft.com/office/drawing/2017/decorative" val="1"/>
              </a:ext>
            </a:extLst>
          </p:cNvPr>
          <p:cNvSpPr txBox="1"/>
          <p:nvPr/>
        </p:nvSpPr>
        <p:spPr>
          <a:xfrm>
            <a:off x="-152400" y="533400"/>
            <a:ext cx="3124200" cy="1600200"/>
          </a:xfrm>
          <a:prstGeom prst="rect">
            <a:avLst/>
          </a:prstGeom>
          <a:noFill/>
        </p:spPr>
        <p:txBody>
          <a:bodyPr wrap="square" rtlCol="0">
            <a:normAutofit fontScale="92500"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solidFill>
                    <a:prstClr val="black">
                      <a:lumMod val="85000"/>
                      <a:lumOff val="15000"/>
                    </a:prstClr>
                  </a:solidFill>
                </a:ln>
                <a:solidFill>
                  <a:srgbClr val="0070C0">
                    <a:lumMod val="75000"/>
                  </a:srgbClr>
                </a:solidFill>
                <a:effectLst/>
                <a:uLnTx/>
                <a:uFillTx/>
                <a:latin typeface="Calibri"/>
                <a:ea typeface="Geneva" panose="020B0503030404040204" pitchFamily="34" charset="0"/>
                <a:cs typeface="+mn-cs"/>
              </a:rPr>
              <a:t>Narrow the Gap </a:t>
            </a:r>
          </a:p>
        </p:txBody>
      </p:sp>
      <p:sp>
        <p:nvSpPr>
          <p:cNvPr id="2" name="Title 1">
            <a:extLst>
              <a:ext uri="{FF2B5EF4-FFF2-40B4-BE49-F238E27FC236}">
                <a16:creationId xmlns:a16="http://schemas.microsoft.com/office/drawing/2014/main" id="{60C7B9AF-67B1-5B45-B3A3-D0BE1D8698A6}"/>
              </a:ext>
            </a:extLst>
          </p:cNvPr>
          <p:cNvSpPr>
            <a:spLocks noGrp="1"/>
          </p:cNvSpPr>
          <p:nvPr>
            <p:ph type="title"/>
          </p:nvPr>
        </p:nvSpPr>
        <p:spPr>
          <a:xfrm>
            <a:off x="121188" y="-1933892"/>
            <a:ext cx="8229600" cy="1143000"/>
          </a:xfrm>
        </p:spPr>
        <p:txBody>
          <a:bodyPr/>
          <a:lstStyle/>
          <a:p>
            <a:r>
              <a:rPr lang="en-US" dirty="0"/>
              <a:t>Narrow the Gap</a:t>
            </a:r>
          </a:p>
        </p:txBody>
      </p:sp>
      <p:sp>
        <p:nvSpPr>
          <p:cNvPr id="12" name="Rectangle 11">
            <a:extLs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Geneva" panose="020B0503030404040204" pitchFamily="34" charset="0"/>
              <a:cs typeface="+mn-cs"/>
            </a:endParaRPr>
          </a:p>
        </p:txBody>
      </p:sp>
      <p:sp>
        <p:nvSpPr>
          <p:cNvPr id="3" name="Slide Number Placeholder 2">
            <a:extLst>
              <a:ext uri="{FF2B5EF4-FFF2-40B4-BE49-F238E27FC236}">
                <a16:creationId xmlns:a16="http://schemas.microsoft.com/office/drawing/2014/main" id="{5175B3BD-DA6E-BE4B-A22C-AC55B7E1D04E}"/>
              </a:ext>
            </a:extLst>
          </p:cNvPr>
          <p:cNvSpPr>
            <a:spLocks noGrp="1"/>
          </p:cNvSpPr>
          <p:nvPr>
            <p:ph type="sldNum" sz="quarter" idx="12"/>
          </p:nvPr>
        </p:nvSpPr>
        <p:spPr>
          <a:xfrm>
            <a:off x="7001164" y="6492875"/>
            <a:ext cx="2133600" cy="365125"/>
          </a:xfrm>
        </p:spPr>
        <p:txBody>
          <a:bodyPr/>
          <a:lstStyle/>
          <a:p>
            <a:fld id="{5D7CCB52-5D48-470B-B8DA-D8134110C94D}" type="slidenum">
              <a:rPr lang="en-US" smtClean="0"/>
              <a:t>18</a:t>
            </a:fld>
            <a:endParaRPr lang="en-US" dirty="0"/>
          </a:p>
        </p:txBody>
      </p:sp>
    </p:spTree>
    <p:extLst>
      <p:ext uri="{BB962C8B-B14F-4D97-AF65-F5344CB8AC3E}">
        <p14:creationId xmlns:p14="http://schemas.microsoft.com/office/powerpoint/2010/main" val="311581160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20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1400"/>
                                        <p:tgtEl>
                                          <p:spTgt spid="11"/>
                                        </p:tgtEl>
                                      </p:cBhvr>
                                    </p:animEffect>
                                  </p:childTnLst>
                                </p:cTn>
                              </p:par>
                              <p:par>
                                <p:cTn id="8" presetID="10" presetClass="entr" presetSubtype="0" fill="hold" grpId="1" nodeType="withEffect">
                                  <p:stCondLst>
                                    <p:cond delay="2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000"/>
                                        <p:tgtEl>
                                          <p:spTgt spid="8"/>
                                        </p:tgtEl>
                                      </p:cBhvr>
                                    </p:animEffect>
                                  </p:childTnLst>
                                </p:cTn>
                              </p:par>
                              <p:par>
                                <p:cTn id="11" presetID="2" presetClass="entr" presetSubtype="8" decel="91000" fill="hold" grpId="0" nodeType="withEffect">
                                  <p:stCondLst>
                                    <p:cond delay="20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1200" fill="hold"/>
                                        <p:tgtEl>
                                          <p:spTgt spid="8"/>
                                        </p:tgtEl>
                                        <p:attrNameLst>
                                          <p:attrName>ppt_x</p:attrName>
                                        </p:attrNameLst>
                                      </p:cBhvr>
                                      <p:tavLst>
                                        <p:tav tm="0">
                                          <p:val>
                                            <p:strVal val="0-#ppt_w/2"/>
                                          </p:val>
                                        </p:tav>
                                        <p:tav tm="100000">
                                          <p:val>
                                            <p:strVal val="#ppt_x"/>
                                          </p:val>
                                        </p:tav>
                                      </p:tavLst>
                                    </p:anim>
                                    <p:anim calcmode="lin" valueType="num">
                                      <p:cBhvr additive="base">
                                        <p:cTn id="14" dur="1200" fill="hold"/>
                                        <p:tgtEl>
                                          <p:spTgt spid="8"/>
                                        </p:tgtEl>
                                        <p:attrNameLst>
                                          <p:attrName>ppt_y</p:attrName>
                                        </p:attrNameLst>
                                      </p:cBhvr>
                                      <p:tavLst>
                                        <p:tav tm="0">
                                          <p:val>
                                            <p:strVal val="#ppt_y"/>
                                          </p:val>
                                        </p:tav>
                                        <p:tav tm="100000">
                                          <p:val>
                                            <p:strVal val="#ppt_y"/>
                                          </p:val>
                                        </p:tav>
                                      </p:tavLst>
                                    </p:anim>
                                  </p:childTnLst>
                                </p:cTn>
                              </p:par>
                              <p:par>
                                <p:cTn id="15" presetID="53" presetClass="entr" presetSubtype="16" fill="hold" grpId="2" nodeType="withEffect">
                                  <p:stCondLst>
                                    <p:cond delay="200"/>
                                  </p:stCondLst>
                                  <p:childTnLst>
                                    <p:set>
                                      <p:cBhvr>
                                        <p:cTn id="16" dur="1" fill="hold">
                                          <p:stCondLst>
                                            <p:cond delay="0"/>
                                          </p:stCondLst>
                                        </p:cTn>
                                        <p:tgtEl>
                                          <p:spTgt spid="8"/>
                                        </p:tgtEl>
                                        <p:attrNameLst>
                                          <p:attrName>style.visibility</p:attrName>
                                        </p:attrNameLst>
                                      </p:cBhvr>
                                      <p:to>
                                        <p:strVal val="visible"/>
                                      </p:to>
                                    </p:set>
                                    <p:anim calcmode="lin" valueType="num">
                                      <p:cBhvr>
                                        <p:cTn id="17" dur="1200" fill="hold"/>
                                        <p:tgtEl>
                                          <p:spTgt spid="8"/>
                                        </p:tgtEl>
                                        <p:attrNameLst>
                                          <p:attrName>ppt_w</p:attrName>
                                        </p:attrNameLst>
                                      </p:cBhvr>
                                      <p:tavLst>
                                        <p:tav tm="0">
                                          <p:val>
                                            <p:fltVal val="0"/>
                                          </p:val>
                                        </p:tav>
                                        <p:tav tm="100000">
                                          <p:val>
                                            <p:strVal val="#ppt_w"/>
                                          </p:val>
                                        </p:tav>
                                      </p:tavLst>
                                    </p:anim>
                                    <p:anim calcmode="lin" valueType="num">
                                      <p:cBhvr>
                                        <p:cTn id="18" dur="1200" fill="hold"/>
                                        <p:tgtEl>
                                          <p:spTgt spid="8"/>
                                        </p:tgtEl>
                                        <p:attrNameLst>
                                          <p:attrName>ppt_h</p:attrName>
                                        </p:attrNameLst>
                                      </p:cBhvr>
                                      <p:tavLst>
                                        <p:tav tm="0">
                                          <p:val>
                                            <p:fltVal val="0"/>
                                          </p:val>
                                        </p:tav>
                                        <p:tav tm="100000">
                                          <p:val>
                                            <p:strVal val="#ppt_h"/>
                                          </p:val>
                                        </p:tav>
                                      </p:tavLst>
                                    </p:anim>
                                    <p:animEffect transition="in" filter="fade">
                                      <p:cBhvr>
                                        <p:cTn id="19" dur="1200"/>
                                        <p:tgtEl>
                                          <p:spTgt spid="8"/>
                                        </p:tgtEl>
                                      </p:cBhvr>
                                    </p:animEffect>
                                  </p:childTnLst>
                                </p:cTn>
                              </p:par>
                              <p:par>
                                <p:cTn id="20" presetID="42" presetClass="entr" presetSubtype="0" fill="hold" grpId="0" nodeType="withEffect">
                                  <p:stCondLst>
                                    <p:cond delay="15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childTnLst>
                          </p:cTn>
                        </p:par>
                        <p:par>
                          <p:cTn id="25" fill="hold">
                            <p:stCondLst>
                              <p:cond delay="3200"/>
                            </p:stCondLst>
                            <p:childTnLst>
                              <p:par>
                                <p:cTn id="26" presetID="53" presetClass="entr" presetSubtype="16"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500" fill="hold"/>
                                        <p:tgtEl>
                                          <p:spTgt spid="9"/>
                                        </p:tgtEl>
                                        <p:attrNameLst>
                                          <p:attrName>ppt_w</p:attrName>
                                        </p:attrNameLst>
                                      </p:cBhvr>
                                      <p:tavLst>
                                        <p:tav tm="0">
                                          <p:val>
                                            <p:fltVal val="0"/>
                                          </p:val>
                                        </p:tav>
                                        <p:tav tm="100000">
                                          <p:val>
                                            <p:strVal val="#ppt_w"/>
                                          </p:val>
                                        </p:tav>
                                      </p:tavLst>
                                    </p:anim>
                                    <p:anim calcmode="lin" valueType="num">
                                      <p:cBhvr>
                                        <p:cTn id="29" dur="500" fill="hold"/>
                                        <p:tgtEl>
                                          <p:spTgt spid="9"/>
                                        </p:tgtEl>
                                        <p:attrNameLst>
                                          <p:attrName>ppt_h</p:attrName>
                                        </p:attrNameLst>
                                      </p:cBhvr>
                                      <p:tavLst>
                                        <p:tav tm="0">
                                          <p:val>
                                            <p:fltVal val="0"/>
                                          </p:val>
                                        </p:tav>
                                        <p:tav tm="100000">
                                          <p:val>
                                            <p:strVal val="#ppt_h"/>
                                          </p:val>
                                        </p:tav>
                                      </p:tavLst>
                                    </p:anim>
                                    <p:animEffect transition="in" filter="fade">
                                      <p:cBhvr>
                                        <p:cTn id="3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P spid="8" grpId="1" animBg="1"/>
      <p:bldP spid="8" grpId="2" animBg="1"/>
      <p:bldP spid="11" grpId="0" animBg="1"/>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pattFill prst="pct5">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13" name="Rectangle 12">
            <a:extLst>
              <a:ext uri="{C183D7F6-B498-43B3-948B-1728B52AA6E4}">
                <adec:decorative xmlns:adec="http://schemas.microsoft.com/office/drawing/2017/decorative" val="1"/>
              </a:ext>
            </a:extLst>
          </p:cNvPr>
          <p:cNvSpPr/>
          <p:nvPr/>
        </p:nvSpPr>
        <p:spPr>
          <a:xfrm flipV="1">
            <a:off x="1" y="304800"/>
            <a:ext cx="9156441" cy="5734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Box 14" descr="Feel free to share examples of these factors in the chat.&#13;&#10;">
            <a:extLst>
              <a:ext uri="{FF2B5EF4-FFF2-40B4-BE49-F238E27FC236}">
                <a16:creationId xmlns:a16="http://schemas.microsoft.com/office/drawing/2014/main" id="{0F23F8CF-BBEE-7C4D-9E5A-99D8F9769197}"/>
              </a:ext>
            </a:extLst>
          </p:cNvPr>
          <p:cNvSpPr txBox="1"/>
          <p:nvPr/>
        </p:nvSpPr>
        <p:spPr>
          <a:xfrm>
            <a:off x="133120" y="5608280"/>
            <a:ext cx="2997918" cy="707886"/>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ctr"/>
            <a:r>
              <a:rPr lang="en-US" sz="2000" i="1" dirty="0">
                <a:latin typeface="Arial Narrow" panose="020B0604020202020204" pitchFamily="34" charset="0"/>
                <a:cs typeface="Arial Narrow" panose="020B0604020202020204" pitchFamily="34" charset="0"/>
              </a:rPr>
              <a:t>Feel free to share examples of these factors in the chat.</a:t>
            </a:r>
          </a:p>
        </p:txBody>
      </p:sp>
      <p:sp>
        <p:nvSpPr>
          <p:cNvPr id="8" name="Flowchart: Alternate Process 7" descr="Follow up considerations: &#13;&#10;Is the tech working? &#13;&#10;Person is able to access &amp; operate tech&#13;&#10;Technology works in the environment &#13;&#10;Are task expectations being met?  &#13;&#10;Is the tech creating distractions or barriers? &#13;&#10;Feedback from the individual, employer, &amp; supports&#13;&#10;Necessary environmental changes &#13;&#10;Further training or supervision needs &#13;&#10;Unintended impacts &#13;&#10;Consider task analysis to assess data"/>
          <p:cNvSpPr/>
          <p:nvPr/>
        </p:nvSpPr>
        <p:spPr>
          <a:xfrm>
            <a:off x="3295880" y="481606"/>
            <a:ext cx="5715000" cy="6111876"/>
          </a:xfrm>
          <a:prstGeom prst="flowChartAlternateProcess">
            <a:avLst/>
          </a:prstGeom>
          <a:solidFill>
            <a:schemeClr val="bg1">
              <a:lumMod val="95000"/>
            </a:schemeClr>
          </a:solidFill>
          <a:ln w="34925">
            <a:solidFill>
              <a:schemeClr val="tx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noAutofit/>
          </a:bodyPr>
          <a:lstStyle/>
          <a:p>
            <a:pPr marL="0" marR="0" lvl="0" indent="0" algn="l" defTabSz="914400" rtl="0" eaLnBrk="1" fontAlgn="auto" latinLnBrk="0" hangingPunct="1">
              <a:lnSpc>
                <a:spcPct val="100000"/>
              </a:lnSpc>
              <a:spcBef>
                <a:spcPts val="800"/>
              </a:spcBef>
              <a:spcAft>
                <a:spcPts val="0"/>
              </a:spcAft>
              <a:buClrTx/>
              <a:buSzTx/>
              <a:buFontTx/>
              <a:buNone/>
              <a:tabLst/>
              <a:defRPr/>
            </a:pPr>
            <a:r>
              <a:rPr kumimoji="0" lang="en-US" sz="2300" b="1" i="0" u="none" strike="noStrike" kern="1200" cap="none" spc="0" normalizeH="0" baseline="0" noProof="0" dirty="0">
                <a:ln>
                  <a:noFill/>
                </a:ln>
                <a:solidFill>
                  <a:prstClr val="black">
                    <a:lumMod val="95000"/>
                    <a:lumOff val="5000"/>
                  </a:prstClr>
                </a:solidFill>
                <a:effectLst/>
                <a:uLnTx/>
                <a:uFillTx/>
                <a:latin typeface="Calibri"/>
                <a:ea typeface="+mn-ea"/>
                <a:cs typeface="+mn-cs"/>
              </a:rPr>
              <a:t>Follow up considerations: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Is the tech working?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Person is able to access &amp; operate tech</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Technology works in the environment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Are task expectations being met?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Is the tech creating distractions or barriers?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Feedback from the individual, employer, &amp; supports</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Necessary environmental changes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Further training or supervision needs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Unintended impacts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Consider task analysis to assess data</a:t>
            </a:r>
          </a:p>
        </p:txBody>
      </p:sp>
      <p:sp>
        <p:nvSpPr>
          <p:cNvPr id="14" name="Freeform 33">
            <a:hlinkClick r:id="rId3" action="ppaction://hlinksldjump"/>
            <a:extLst>
              <a:ext uri="{C183D7F6-B498-43B3-948B-1728B52AA6E4}">
                <adec:decorative xmlns:adec="http://schemas.microsoft.com/office/drawing/2017/decorative" val="1"/>
              </a:ext>
            </a:extLst>
          </p:cNvPr>
          <p:cNvSpPr>
            <a:spLocks noEditPoints="1"/>
          </p:cNvSpPr>
          <p:nvPr/>
        </p:nvSpPr>
        <p:spPr bwMode="auto">
          <a:xfrm>
            <a:off x="228600" y="1711940"/>
            <a:ext cx="2651760" cy="3291840"/>
          </a:xfrm>
          <a:custGeom>
            <a:avLst/>
            <a:gdLst>
              <a:gd name="T0" fmla="*/ 106 w 211"/>
              <a:gd name="T1" fmla="*/ 0 h 280"/>
              <a:gd name="T2" fmla="*/ 99 w 211"/>
              <a:gd name="T3" fmla="*/ 0 h 280"/>
              <a:gd name="T4" fmla="*/ 2 w 211"/>
              <a:gd name="T5" fmla="*/ 97 h 280"/>
              <a:gd name="T6" fmla="*/ 25 w 211"/>
              <a:gd name="T7" fmla="*/ 171 h 280"/>
              <a:gd name="T8" fmla="*/ 31 w 211"/>
              <a:gd name="T9" fmla="*/ 189 h 280"/>
              <a:gd name="T10" fmla="*/ 31 w 211"/>
              <a:gd name="T11" fmla="*/ 203 h 280"/>
              <a:gd name="T12" fmla="*/ 37 w 211"/>
              <a:gd name="T13" fmla="*/ 220 h 280"/>
              <a:gd name="T14" fmla="*/ 37 w 211"/>
              <a:gd name="T15" fmla="*/ 253 h 280"/>
              <a:gd name="T16" fmla="*/ 52 w 211"/>
              <a:gd name="T17" fmla="*/ 268 h 280"/>
              <a:gd name="T18" fmla="*/ 74 w 211"/>
              <a:gd name="T19" fmla="*/ 268 h 280"/>
              <a:gd name="T20" fmla="*/ 89 w 211"/>
              <a:gd name="T21" fmla="*/ 280 h 280"/>
              <a:gd name="T22" fmla="*/ 124 w 211"/>
              <a:gd name="T23" fmla="*/ 280 h 280"/>
              <a:gd name="T24" fmla="*/ 138 w 211"/>
              <a:gd name="T25" fmla="*/ 268 h 280"/>
              <a:gd name="T26" fmla="*/ 161 w 211"/>
              <a:gd name="T27" fmla="*/ 268 h 280"/>
              <a:gd name="T28" fmla="*/ 176 w 211"/>
              <a:gd name="T29" fmla="*/ 253 h 280"/>
              <a:gd name="T30" fmla="*/ 176 w 211"/>
              <a:gd name="T31" fmla="*/ 220 h 280"/>
              <a:gd name="T32" fmla="*/ 181 w 211"/>
              <a:gd name="T33" fmla="*/ 203 h 280"/>
              <a:gd name="T34" fmla="*/ 181 w 211"/>
              <a:gd name="T35" fmla="*/ 189 h 280"/>
              <a:gd name="T36" fmla="*/ 188 w 211"/>
              <a:gd name="T37" fmla="*/ 171 h 280"/>
              <a:gd name="T38" fmla="*/ 211 w 211"/>
              <a:gd name="T39" fmla="*/ 105 h 280"/>
              <a:gd name="T40" fmla="*/ 106 w 211"/>
              <a:gd name="T41" fmla="*/ 0 h 280"/>
              <a:gd name="T42" fmla="*/ 114 w 211"/>
              <a:gd name="T43" fmla="*/ 203 h 280"/>
              <a:gd name="T44" fmla="*/ 99 w 211"/>
              <a:gd name="T45" fmla="*/ 203 h 280"/>
              <a:gd name="T46" fmla="*/ 99 w 211"/>
              <a:gd name="T47" fmla="*/ 158 h 280"/>
              <a:gd name="T48" fmla="*/ 114 w 211"/>
              <a:gd name="T49" fmla="*/ 158 h 280"/>
              <a:gd name="T50" fmla="*/ 114 w 211"/>
              <a:gd name="T51" fmla="*/ 203 h 280"/>
              <a:gd name="T52" fmla="*/ 164 w 211"/>
              <a:gd name="T53" fmla="*/ 152 h 280"/>
              <a:gd name="T54" fmla="*/ 151 w 211"/>
              <a:gd name="T55" fmla="*/ 189 h 280"/>
              <a:gd name="T56" fmla="*/ 151 w 211"/>
              <a:gd name="T57" fmla="*/ 203 h 280"/>
              <a:gd name="T58" fmla="*/ 129 w 211"/>
              <a:gd name="T59" fmla="*/ 203 h 280"/>
              <a:gd name="T60" fmla="*/ 129 w 211"/>
              <a:gd name="T61" fmla="*/ 158 h 280"/>
              <a:gd name="T62" fmla="*/ 149 w 211"/>
              <a:gd name="T63" fmla="*/ 131 h 280"/>
              <a:gd name="T64" fmla="*/ 146 w 211"/>
              <a:gd name="T65" fmla="*/ 111 h 280"/>
              <a:gd name="T66" fmla="*/ 132 w 211"/>
              <a:gd name="T67" fmla="*/ 105 h 280"/>
              <a:gd name="T68" fmla="*/ 121 w 211"/>
              <a:gd name="T69" fmla="*/ 110 h 280"/>
              <a:gd name="T70" fmla="*/ 113 w 211"/>
              <a:gd name="T71" fmla="*/ 143 h 280"/>
              <a:gd name="T72" fmla="*/ 99 w 211"/>
              <a:gd name="T73" fmla="*/ 143 h 280"/>
              <a:gd name="T74" fmla="*/ 92 w 211"/>
              <a:gd name="T75" fmla="*/ 110 h 280"/>
              <a:gd name="T76" fmla="*/ 81 w 211"/>
              <a:gd name="T77" fmla="*/ 105 h 280"/>
              <a:gd name="T78" fmla="*/ 67 w 211"/>
              <a:gd name="T79" fmla="*/ 111 h 280"/>
              <a:gd name="T80" fmla="*/ 63 w 211"/>
              <a:gd name="T81" fmla="*/ 131 h 280"/>
              <a:gd name="T82" fmla="*/ 84 w 211"/>
              <a:gd name="T83" fmla="*/ 158 h 280"/>
              <a:gd name="T84" fmla="*/ 84 w 211"/>
              <a:gd name="T85" fmla="*/ 203 h 280"/>
              <a:gd name="T86" fmla="*/ 61 w 211"/>
              <a:gd name="T87" fmla="*/ 203 h 280"/>
              <a:gd name="T88" fmla="*/ 61 w 211"/>
              <a:gd name="T89" fmla="*/ 189 h 280"/>
              <a:gd name="T90" fmla="*/ 48 w 211"/>
              <a:gd name="T91" fmla="*/ 152 h 280"/>
              <a:gd name="T92" fmla="*/ 32 w 211"/>
              <a:gd name="T93" fmla="*/ 99 h 280"/>
              <a:gd name="T94" fmla="*/ 101 w 211"/>
              <a:gd name="T95" fmla="*/ 30 h 280"/>
              <a:gd name="T96" fmla="*/ 106 w 211"/>
              <a:gd name="T97" fmla="*/ 30 h 280"/>
              <a:gd name="T98" fmla="*/ 181 w 211"/>
              <a:gd name="T99" fmla="*/ 105 h 280"/>
              <a:gd name="T100" fmla="*/ 164 w 211"/>
              <a:gd name="T101" fmla="*/ 152 h 280"/>
              <a:gd name="T102" fmla="*/ 128 w 211"/>
              <a:gd name="T103" fmla="*/ 142 h 280"/>
              <a:gd name="T104" fmla="*/ 132 w 211"/>
              <a:gd name="T105" fmla="*/ 120 h 280"/>
              <a:gd name="T106" fmla="*/ 134 w 211"/>
              <a:gd name="T107" fmla="*/ 120 h 280"/>
              <a:gd name="T108" fmla="*/ 135 w 211"/>
              <a:gd name="T109" fmla="*/ 128 h 280"/>
              <a:gd name="T110" fmla="*/ 128 w 211"/>
              <a:gd name="T111" fmla="*/ 142 h 280"/>
              <a:gd name="T112" fmla="*/ 84 w 211"/>
              <a:gd name="T113" fmla="*/ 142 h 280"/>
              <a:gd name="T114" fmla="*/ 78 w 211"/>
              <a:gd name="T115" fmla="*/ 128 h 280"/>
              <a:gd name="T116" fmla="*/ 79 w 211"/>
              <a:gd name="T117" fmla="*/ 120 h 280"/>
              <a:gd name="T118" fmla="*/ 81 w 211"/>
              <a:gd name="T119" fmla="*/ 120 h 280"/>
              <a:gd name="T120" fmla="*/ 84 w 211"/>
              <a:gd name="T121" fmla="*/ 142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1" h="280">
                <a:moveTo>
                  <a:pt x="106" y="0"/>
                </a:moveTo>
                <a:cubicBezTo>
                  <a:pt x="104" y="0"/>
                  <a:pt x="101" y="0"/>
                  <a:pt x="99" y="0"/>
                </a:cubicBezTo>
                <a:cubicBezTo>
                  <a:pt x="47" y="4"/>
                  <a:pt x="5" y="46"/>
                  <a:pt x="2" y="97"/>
                </a:cubicBezTo>
                <a:cubicBezTo>
                  <a:pt x="0" y="125"/>
                  <a:pt x="9" y="151"/>
                  <a:pt x="25" y="171"/>
                </a:cubicBezTo>
                <a:cubicBezTo>
                  <a:pt x="29" y="176"/>
                  <a:pt x="31" y="183"/>
                  <a:pt x="31" y="189"/>
                </a:cubicBezTo>
                <a:cubicBezTo>
                  <a:pt x="31" y="203"/>
                  <a:pt x="31" y="203"/>
                  <a:pt x="31" y="203"/>
                </a:cubicBezTo>
                <a:cubicBezTo>
                  <a:pt x="31" y="210"/>
                  <a:pt x="33" y="216"/>
                  <a:pt x="37" y="220"/>
                </a:cubicBezTo>
                <a:cubicBezTo>
                  <a:pt x="37" y="253"/>
                  <a:pt x="37" y="253"/>
                  <a:pt x="37" y="253"/>
                </a:cubicBezTo>
                <a:cubicBezTo>
                  <a:pt x="37" y="261"/>
                  <a:pt x="43" y="268"/>
                  <a:pt x="52" y="268"/>
                </a:cubicBezTo>
                <a:cubicBezTo>
                  <a:pt x="74" y="268"/>
                  <a:pt x="74" y="268"/>
                  <a:pt x="74" y="268"/>
                </a:cubicBezTo>
                <a:cubicBezTo>
                  <a:pt x="76" y="275"/>
                  <a:pt x="82" y="280"/>
                  <a:pt x="89" y="280"/>
                </a:cubicBezTo>
                <a:cubicBezTo>
                  <a:pt x="124" y="280"/>
                  <a:pt x="124" y="280"/>
                  <a:pt x="124" y="280"/>
                </a:cubicBezTo>
                <a:cubicBezTo>
                  <a:pt x="131" y="280"/>
                  <a:pt x="137" y="275"/>
                  <a:pt x="138" y="268"/>
                </a:cubicBezTo>
                <a:cubicBezTo>
                  <a:pt x="161" y="268"/>
                  <a:pt x="161" y="268"/>
                  <a:pt x="161" y="268"/>
                </a:cubicBezTo>
                <a:cubicBezTo>
                  <a:pt x="169" y="268"/>
                  <a:pt x="176" y="261"/>
                  <a:pt x="176" y="253"/>
                </a:cubicBezTo>
                <a:cubicBezTo>
                  <a:pt x="176" y="220"/>
                  <a:pt x="176" y="220"/>
                  <a:pt x="176" y="220"/>
                </a:cubicBezTo>
                <a:cubicBezTo>
                  <a:pt x="179" y="216"/>
                  <a:pt x="181" y="210"/>
                  <a:pt x="181" y="203"/>
                </a:cubicBezTo>
                <a:cubicBezTo>
                  <a:pt x="181" y="189"/>
                  <a:pt x="181" y="189"/>
                  <a:pt x="181" y="189"/>
                </a:cubicBezTo>
                <a:cubicBezTo>
                  <a:pt x="181" y="183"/>
                  <a:pt x="183" y="176"/>
                  <a:pt x="188" y="171"/>
                </a:cubicBezTo>
                <a:cubicBezTo>
                  <a:pt x="202" y="153"/>
                  <a:pt x="211" y="130"/>
                  <a:pt x="211" y="105"/>
                </a:cubicBezTo>
                <a:cubicBezTo>
                  <a:pt x="211" y="47"/>
                  <a:pt x="164" y="0"/>
                  <a:pt x="106" y="0"/>
                </a:cubicBezTo>
                <a:close/>
                <a:moveTo>
                  <a:pt x="114" y="203"/>
                </a:moveTo>
                <a:cubicBezTo>
                  <a:pt x="99" y="203"/>
                  <a:pt x="99" y="203"/>
                  <a:pt x="99" y="203"/>
                </a:cubicBezTo>
                <a:cubicBezTo>
                  <a:pt x="99" y="158"/>
                  <a:pt x="99" y="158"/>
                  <a:pt x="99" y="158"/>
                </a:cubicBezTo>
                <a:cubicBezTo>
                  <a:pt x="114" y="158"/>
                  <a:pt x="114" y="158"/>
                  <a:pt x="114" y="158"/>
                </a:cubicBezTo>
                <a:lnTo>
                  <a:pt x="114" y="203"/>
                </a:lnTo>
                <a:close/>
                <a:moveTo>
                  <a:pt x="164" y="152"/>
                </a:moveTo>
                <a:cubicBezTo>
                  <a:pt x="156" y="162"/>
                  <a:pt x="151" y="176"/>
                  <a:pt x="151" y="189"/>
                </a:cubicBezTo>
                <a:cubicBezTo>
                  <a:pt x="151" y="203"/>
                  <a:pt x="151" y="203"/>
                  <a:pt x="151" y="203"/>
                </a:cubicBezTo>
                <a:cubicBezTo>
                  <a:pt x="129" y="203"/>
                  <a:pt x="129" y="203"/>
                  <a:pt x="129" y="203"/>
                </a:cubicBezTo>
                <a:cubicBezTo>
                  <a:pt x="129" y="158"/>
                  <a:pt x="129" y="158"/>
                  <a:pt x="129" y="158"/>
                </a:cubicBezTo>
                <a:cubicBezTo>
                  <a:pt x="143" y="155"/>
                  <a:pt x="148" y="136"/>
                  <a:pt x="149" y="131"/>
                </a:cubicBezTo>
                <a:cubicBezTo>
                  <a:pt x="149" y="130"/>
                  <a:pt x="152" y="119"/>
                  <a:pt x="146" y="111"/>
                </a:cubicBezTo>
                <a:cubicBezTo>
                  <a:pt x="144" y="108"/>
                  <a:pt x="139" y="105"/>
                  <a:pt x="132" y="105"/>
                </a:cubicBezTo>
                <a:cubicBezTo>
                  <a:pt x="127" y="105"/>
                  <a:pt x="124" y="106"/>
                  <a:pt x="121" y="110"/>
                </a:cubicBezTo>
                <a:cubicBezTo>
                  <a:pt x="114" y="117"/>
                  <a:pt x="113" y="131"/>
                  <a:pt x="113" y="143"/>
                </a:cubicBezTo>
                <a:cubicBezTo>
                  <a:pt x="99" y="143"/>
                  <a:pt x="99" y="143"/>
                  <a:pt x="99" y="143"/>
                </a:cubicBezTo>
                <a:cubicBezTo>
                  <a:pt x="100" y="131"/>
                  <a:pt x="98" y="117"/>
                  <a:pt x="92" y="110"/>
                </a:cubicBezTo>
                <a:cubicBezTo>
                  <a:pt x="89" y="106"/>
                  <a:pt x="85" y="105"/>
                  <a:pt x="81" y="105"/>
                </a:cubicBezTo>
                <a:cubicBezTo>
                  <a:pt x="73" y="105"/>
                  <a:pt x="69" y="108"/>
                  <a:pt x="67" y="111"/>
                </a:cubicBezTo>
                <a:cubicBezTo>
                  <a:pt x="61" y="119"/>
                  <a:pt x="63" y="130"/>
                  <a:pt x="63" y="131"/>
                </a:cubicBezTo>
                <a:cubicBezTo>
                  <a:pt x="64" y="135"/>
                  <a:pt x="70" y="155"/>
                  <a:pt x="84" y="158"/>
                </a:cubicBezTo>
                <a:cubicBezTo>
                  <a:pt x="84" y="203"/>
                  <a:pt x="84" y="203"/>
                  <a:pt x="84" y="203"/>
                </a:cubicBezTo>
                <a:cubicBezTo>
                  <a:pt x="61" y="203"/>
                  <a:pt x="61" y="203"/>
                  <a:pt x="61" y="203"/>
                </a:cubicBezTo>
                <a:cubicBezTo>
                  <a:pt x="61" y="189"/>
                  <a:pt x="61" y="189"/>
                  <a:pt x="61" y="189"/>
                </a:cubicBezTo>
                <a:cubicBezTo>
                  <a:pt x="61" y="176"/>
                  <a:pt x="57" y="162"/>
                  <a:pt x="48" y="152"/>
                </a:cubicBezTo>
                <a:cubicBezTo>
                  <a:pt x="36" y="137"/>
                  <a:pt x="30" y="118"/>
                  <a:pt x="32" y="99"/>
                </a:cubicBezTo>
                <a:cubicBezTo>
                  <a:pt x="34" y="62"/>
                  <a:pt x="64" y="32"/>
                  <a:pt x="101" y="30"/>
                </a:cubicBezTo>
                <a:cubicBezTo>
                  <a:pt x="103" y="30"/>
                  <a:pt x="105" y="30"/>
                  <a:pt x="106" y="30"/>
                </a:cubicBezTo>
                <a:cubicBezTo>
                  <a:pt x="148" y="30"/>
                  <a:pt x="181" y="63"/>
                  <a:pt x="181" y="105"/>
                </a:cubicBezTo>
                <a:cubicBezTo>
                  <a:pt x="181" y="122"/>
                  <a:pt x="175" y="138"/>
                  <a:pt x="164" y="152"/>
                </a:cubicBezTo>
                <a:close/>
                <a:moveTo>
                  <a:pt x="128" y="142"/>
                </a:moveTo>
                <a:cubicBezTo>
                  <a:pt x="128" y="131"/>
                  <a:pt x="130" y="122"/>
                  <a:pt x="132" y="120"/>
                </a:cubicBezTo>
                <a:cubicBezTo>
                  <a:pt x="133" y="120"/>
                  <a:pt x="134" y="120"/>
                  <a:pt x="134" y="120"/>
                </a:cubicBezTo>
                <a:cubicBezTo>
                  <a:pt x="135" y="122"/>
                  <a:pt x="135" y="126"/>
                  <a:pt x="135" y="128"/>
                </a:cubicBezTo>
                <a:cubicBezTo>
                  <a:pt x="133" y="134"/>
                  <a:pt x="130" y="139"/>
                  <a:pt x="128" y="142"/>
                </a:cubicBezTo>
                <a:close/>
                <a:moveTo>
                  <a:pt x="84" y="142"/>
                </a:moveTo>
                <a:cubicBezTo>
                  <a:pt x="82" y="139"/>
                  <a:pt x="79" y="134"/>
                  <a:pt x="78" y="128"/>
                </a:cubicBezTo>
                <a:cubicBezTo>
                  <a:pt x="78" y="126"/>
                  <a:pt x="77" y="122"/>
                  <a:pt x="79" y="120"/>
                </a:cubicBezTo>
                <a:cubicBezTo>
                  <a:pt x="79" y="120"/>
                  <a:pt x="80" y="120"/>
                  <a:pt x="81" y="120"/>
                </a:cubicBezTo>
                <a:cubicBezTo>
                  <a:pt x="83" y="122"/>
                  <a:pt x="84" y="131"/>
                  <a:pt x="84" y="142"/>
                </a:cubicBezTo>
                <a:close/>
              </a:path>
            </a:pathLst>
          </a:custGeom>
          <a:solidFill>
            <a:schemeClr val="bg1">
              <a:lumMod val="50000"/>
            </a:schemeClr>
          </a:solidFill>
          <a:ln w="34925">
            <a:noFill/>
          </a:ln>
          <a:effectLst>
            <a:innerShdw blurRad="63500" dist="50800" dir="13500000">
              <a:prstClr val="black">
                <a:alpha val="50000"/>
              </a:prstClr>
            </a:innerShdw>
          </a:effectLst>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Geneva" panose="020B0503030404040204" pitchFamily="34" charset="0"/>
              <a:cs typeface="+mn-cs"/>
            </a:endParaRPr>
          </a:p>
        </p:txBody>
      </p:sp>
      <p:sp>
        <p:nvSpPr>
          <p:cNvPr id="10" name="CasetăText 103">
            <a:extLst>
              <a:ext uri="{C183D7F6-B498-43B3-948B-1728B52AA6E4}">
                <adec:decorative xmlns:adec="http://schemas.microsoft.com/office/drawing/2017/decorative" val="1"/>
              </a:ext>
            </a:extLst>
          </p:cNvPr>
          <p:cNvSpPr txBox="1"/>
          <p:nvPr/>
        </p:nvSpPr>
        <p:spPr>
          <a:xfrm>
            <a:off x="0" y="533400"/>
            <a:ext cx="3276600" cy="1151930"/>
          </a:xfrm>
          <a:prstGeom prst="rect">
            <a:avLst/>
          </a:prstGeom>
          <a:noFill/>
        </p:spPr>
        <p:txBody>
          <a:bodyPr wrap="square" rtlCol="0">
            <a:normAutofit fontScale="77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solidFill>
                    <a:prstClr val="black">
                      <a:lumMod val="85000"/>
                      <a:lumOff val="15000"/>
                    </a:prstClr>
                  </a:solidFill>
                </a:ln>
                <a:solidFill>
                  <a:prstClr val="white">
                    <a:lumMod val="50000"/>
                  </a:prstClr>
                </a:solidFill>
                <a:effectLst/>
                <a:uLnTx/>
                <a:uFillTx/>
                <a:latin typeface="Calibri"/>
                <a:ea typeface="Geneva" panose="020B0503030404040204" pitchFamily="34" charset="0"/>
                <a:cs typeface="+mn-cs"/>
              </a:rPr>
              <a:t>Implement &amp; Evaluate </a:t>
            </a:r>
          </a:p>
        </p:txBody>
      </p:sp>
      <p:sp>
        <p:nvSpPr>
          <p:cNvPr id="2" name="Title 1">
            <a:extLst>
              <a:ext uri="{FF2B5EF4-FFF2-40B4-BE49-F238E27FC236}">
                <a16:creationId xmlns:a16="http://schemas.microsoft.com/office/drawing/2014/main" id="{CBA576FB-D58C-2641-A5AC-9E0F1E4D65C6}"/>
              </a:ext>
            </a:extLst>
          </p:cNvPr>
          <p:cNvSpPr>
            <a:spLocks noGrp="1"/>
          </p:cNvSpPr>
          <p:nvPr>
            <p:ph type="title"/>
          </p:nvPr>
        </p:nvSpPr>
        <p:spPr>
          <a:xfrm>
            <a:off x="228600" y="-1697632"/>
            <a:ext cx="8229600" cy="1143000"/>
          </a:xfrm>
        </p:spPr>
        <p:txBody>
          <a:bodyPr/>
          <a:lstStyle/>
          <a:p>
            <a:r>
              <a:rPr lang="en-US" dirty="0"/>
              <a:t>Implement</a:t>
            </a:r>
            <a:r>
              <a:rPr lang="en-US" baseline="0" dirty="0"/>
              <a:t> &amp; Evaluate</a:t>
            </a:r>
            <a:endParaRPr lang="en-US" dirty="0"/>
          </a:p>
        </p:txBody>
      </p:sp>
      <p:sp>
        <p:nvSpPr>
          <p:cNvPr id="12" name="Rectangle 11">
            <a:extLs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Geneva" panose="020B0503030404040204" pitchFamily="34" charset="0"/>
              <a:cs typeface="+mn-cs"/>
            </a:endParaRPr>
          </a:p>
        </p:txBody>
      </p:sp>
      <p:sp>
        <p:nvSpPr>
          <p:cNvPr id="4" name="Slide Number Placeholder 3">
            <a:extLst>
              <a:ext uri="{FF2B5EF4-FFF2-40B4-BE49-F238E27FC236}">
                <a16:creationId xmlns:a16="http://schemas.microsoft.com/office/drawing/2014/main" id="{FCD397E7-21D5-6E4F-92FE-740C3DBA32E0}"/>
              </a:ext>
            </a:extLst>
          </p:cNvPr>
          <p:cNvSpPr>
            <a:spLocks noGrp="1"/>
          </p:cNvSpPr>
          <p:nvPr>
            <p:ph type="sldNum" sz="quarter" idx="12"/>
          </p:nvPr>
        </p:nvSpPr>
        <p:spPr>
          <a:xfrm>
            <a:off x="6896560" y="6474402"/>
            <a:ext cx="2133600" cy="365125"/>
          </a:xfrm>
        </p:spPr>
        <p:txBody>
          <a:bodyPr/>
          <a:lstStyle/>
          <a:p>
            <a:fld id="{5D7CCB52-5D48-470B-B8DA-D8134110C94D}" type="slidenum">
              <a:rPr lang="en-US" smtClean="0"/>
              <a:t>19</a:t>
            </a:fld>
            <a:endParaRPr lang="en-US" dirty="0"/>
          </a:p>
        </p:txBody>
      </p:sp>
    </p:spTree>
    <p:extLst>
      <p:ext uri="{BB962C8B-B14F-4D97-AF65-F5344CB8AC3E}">
        <p14:creationId xmlns:p14="http://schemas.microsoft.com/office/powerpoint/2010/main" val="211408288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20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1400"/>
                                        <p:tgtEl>
                                          <p:spTgt spid="14"/>
                                        </p:tgtEl>
                                      </p:cBhvr>
                                    </p:animEffect>
                                  </p:childTnLst>
                                </p:cTn>
                              </p:par>
                              <p:par>
                                <p:cTn id="8" presetID="10" presetClass="entr" presetSubtype="0" fill="hold" grpId="1" nodeType="withEffect">
                                  <p:stCondLst>
                                    <p:cond delay="2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000"/>
                                        <p:tgtEl>
                                          <p:spTgt spid="8"/>
                                        </p:tgtEl>
                                      </p:cBhvr>
                                    </p:animEffect>
                                  </p:childTnLst>
                                </p:cTn>
                              </p:par>
                              <p:par>
                                <p:cTn id="11" presetID="2" presetClass="entr" presetSubtype="8" decel="91000" fill="hold" grpId="0" nodeType="withEffect">
                                  <p:stCondLst>
                                    <p:cond delay="20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1200" fill="hold"/>
                                        <p:tgtEl>
                                          <p:spTgt spid="8"/>
                                        </p:tgtEl>
                                        <p:attrNameLst>
                                          <p:attrName>ppt_x</p:attrName>
                                        </p:attrNameLst>
                                      </p:cBhvr>
                                      <p:tavLst>
                                        <p:tav tm="0">
                                          <p:val>
                                            <p:strVal val="0-#ppt_w/2"/>
                                          </p:val>
                                        </p:tav>
                                        <p:tav tm="100000">
                                          <p:val>
                                            <p:strVal val="#ppt_x"/>
                                          </p:val>
                                        </p:tav>
                                      </p:tavLst>
                                    </p:anim>
                                    <p:anim calcmode="lin" valueType="num">
                                      <p:cBhvr additive="base">
                                        <p:cTn id="14" dur="1200" fill="hold"/>
                                        <p:tgtEl>
                                          <p:spTgt spid="8"/>
                                        </p:tgtEl>
                                        <p:attrNameLst>
                                          <p:attrName>ppt_y</p:attrName>
                                        </p:attrNameLst>
                                      </p:cBhvr>
                                      <p:tavLst>
                                        <p:tav tm="0">
                                          <p:val>
                                            <p:strVal val="#ppt_y"/>
                                          </p:val>
                                        </p:tav>
                                        <p:tav tm="100000">
                                          <p:val>
                                            <p:strVal val="#ppt_y"/>
                                          </p:val>
                                        </p:tav>
                                      </p:tavLst>
                                    </p:anim>
                                  </p:childTnLst>
                                </p:cTn>
                              </p:par>
                              <p:par>
                                <p:cTn id="15" presetID="53" presetClass="entr" presetSubtype="16" fill="hold" grpId="2" nodeType="withEffect">
                                  <p:stCondLst>
                                    <p:cond delay="200"/>
                                  </p:stCondLst>
                                  <p:childTnLst>
                                    <p:set>
                                      <p:cBhvr>
                                        <p:cTn id="16" dur="1" fill="hold">
                                          <p:stCondLst>
                                            <p:cond delay="0"/>
                                          </p:stCondLst>
                                        </p:cTn>
                                        <p:tgtEl>
                                          <p:spTgt spid="8"/>
                                        </p:tgtEl>
                                        <p:attrNameLst>
                                          <p:attrName>style.visibility</p:attrName>
                                        </p:attrNameLst>
                                      </p:cBhvr>
                                      <p:to>
                                        <p:strVal val="visible"/>
                                      </p:to>
                                    </p:set>
                                    <p:anim calcmode="lin" valueType="num">
                                      <p:cBhvr>
                                        <p:cTn id="17" dur="1200" fill="hold"/>
                                        <p:tgtEl>
                                          <p:spTgt spid="8"/>
                                        </p:tgtEl>
                                        <p:attrNameLst>
                                          <p:attrName>ppt_w</p:attrName>
                                        </p:attrNameLst>
                                      </p:cBhvr>
                                      <p:tavLst>
                                        <p:tav tm="0">
                                          <p:val>
                                            <p:fltVal val="0"/>
                                          </p:val>
                                        </p:tav>
                                        <p:tav tm="100000">
                                          <p:val>
                                            <p:strVal val="#ppt_w"/>
                                          </p:val>
                                        </p:tav>
                                      </p:tavLst>
                                    </p:anim>
                                    <p:anim calcmode="lin" valueType="num">
                                      <p:cBhvr>
                                        <p:cTn id="18" dur="1200" fill="hold"/>
                                        <p:tgtEl>
                                          <p:spTgt spid="8"/>
                                        </p:tgtEl>
                                        <p:attrNameLst>
                                          <p:attrName>ppt_h</p:attrName>
                                        </p:attrNameLst>
                                      </p:cBhvr>
                                      <p:tavLst>
                                        <p:tav tm="0">
                                          <p:val>
                                            <p:fltVal val="0"/>
                                          </p:val>
                                        </p:tav>
                                        <p:tav tm="100000">
                                          <p:val>
                                            <p:strVal val="#ppt_h"/>
                                          </p:val>
                                        </p:tav>
                                      </p:tavLst>
                                    </p:anim>
                                    <p:animEffect transition="in" filter="fade">
                                      <p:cBhvr>
                                        <p:cTn id="19" dur="1200"/>
                                        <p:tgtEl>
                                          <p:spTgt spid="8"/>
                                        </p:tgtEl>
                                      </p:cBhvr>
                                    </p:animEffect>
                                  </p:childTnLst>
                                </p:cTn>
                              </p:par>
                              <p:par>
                                <p:cTn id="20" presetID="42" presetClass="entr" presetSubtype="0" fill="hold" grpId="0" nodeType="withEffect">
                                  <p:stCondLst>
                                    <p:cond delay="15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childTnLst>
                          </p:cTn>
                        </p:par>
                        <p:par>
                          <p:cTn id="25" fill="hold">
                            <p:stCondLst>
                              <p:cond delay="3200"/>
                            </p:stCondLst>
                            <p:childTnLst>
                              <p:par>
                                <p:cTn id="26" presetID="53" presetClass="entr" presetSubtype="16"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p:cTn id="28" dur="500" fill="hold"/>
                                        <p:tgtEl>
                                          <p:spTgt spid="15"/>
                                        </p:tgtEl>
                                        <p:attrNameLst>
                                          <p:attrName>ppt_w</p:attrName>
                                        </p:attrNameLst>
                                      </p:cBhvr>
                                      <p:tavLst>
                                        <p:tav tm="0">
                                          <p:val>
                                            <p:fltVal val="0"/>
                                          </p:val>
                                        </p:tav>
                                        <p:tav tm="100000">
                                          <p:val>
                                            <p:strVal val="#ppt_w"/>
                                          </p:val>
                                        </p:tav>
                                      </p:tavLst>
                                    </p:anim>
                                    <p:anim calcmode="lin" valueType="num">
                                      <p:cBhvr>
                                        <p:cTn id="29" dur="500" fill="hold"/>
                                        <p:tgtEl>
                                          <p:spTgt spid="15"/>
                                        </p:tgtEl>
                                        <p:attrNameLst>
                                          <p:attrName>ppt_h</p:attrName>
                                        </p:attrNameLst>
                                      </p:cBhvr>
                                      <p:tavLst>
                                        <p:tav tm="0">
                                          <p:val>
                                            <p:fltVal val="0"/>
                                          </p:val>
                                        </p:tav>
                                        <p:tav tm="100000">
                                          <p:val>
                                            <p:strVal val="#ppt_h"/>
                                          </p:val>
                                        </p:tav>
                                      </p:tavLst>
                                    </p:anim>
                                    <p:animEffect transition="in" filter="fade">
                                      <p:cBhvr>
                                        <p:cTn id="3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8" grpId="0" animBg="1"/>
      <p:bldP spid="8" grpId="1" animBg="1"/>
      <p:bldP spid="8" grpId="2" animBg="1"/>
      <p:bldP spid="14" grpId="0" animBg="1"/>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2" name="Title 1"/>
          <p:cNvSpPr>
            <a:spLocks noGrp="1"/>
          </p:cNvSpPr>
          <p:nvPr>
            <p:ph type="title"/>
          </p:nvPr>
        </p:nvSpPr>
        <p:spPr>
          <a:xfrm>
            <a:off x="685800" y="533400"/>
            <a:ext cx="7772400" cy="1143000"/>
          </a:xfrm>
          <a:effectLst>
            <a:glow rad="139700">
              <a:schemeClr val="accent4">
                <a:satMod val="175000"/>
                <a:alpha val="40000"/>
              </a:schemeClr>
            </a:glow>
          </a:effectLst>
        </p:spPr>
        <p:style>
          <a:lnRef idx="1">
            <a:schemeClr val="accent5"/>
          </a:lnRef>
          <a:fillRef idx="2">
            <a:schemeClr val="accent5"/>
          </a:fillRef>
          <a:effectRef idx="1">
            <a:schemeClr val="accent5"/>
          </a:effectRef>
          <a:fontRef idx="minor">
            <a:schemeClr val="dk1"/>
          </a:fontRef>
        </p:style>
        <p:txBody>
          <a:bodyPr/>
          <a:lstStyle/>
          <a:p>
            <a:r>
              <a:rPr lang="en-US" cap="small" dirty="0"/>
              <a:t>Step by Step Approach to Applying the Framework  </a:t>
            </a:r>
          </a:p>
        </p:txBody>
      </p:sp>
      <p:sp>
        <p:nvSpPr>
          <p:cNvPr id="3" name="Content Placeholder 2"/>
          <p:cNvSpPr>
            <a:spLocks noGrp="1"/>
          </p:cNvSpPr>
          <p:nvPr>
            <p:ph idx="1"/>
          </p:nvPr>
        </p:nvSpPr>
        <p:spPr>
          <a:xfrm>
            <a:off x="3886200" y="2209800"/>
            <a:ext cx="5257800" cy="3692674"/>
          </a:xfrm>
        </p:spPr>
        <p:txBody>
          <a:bodyPr/>
          <a:lstStyle/>
          <a:p>
            <a:pPr>
              <a:spcBef>
                <a:spcPts val="1128"/>
              </a:spcBef>
            </a:pPr>
            <a:r>
              <a:rPr lang="en-US" sz="2200" b="0" dirty="0"/>
              <a:t>Piloting an assessment tool</a:t>
            </a:r>
          </a:p>
          <a:p>
            <a:pPr>
              <a:spcBef>
                <a:spcPts val="1128"/>
              </a:spcBef>
            </a:pPr>
            <a:r>
              <a:rPr lang="en-US" sz="2200" b="0" dirty="0"/>
              <a:t>Domains can be used together or individually </a:t>
            </a:r>
          </a:p>
          <a:p>
            <a:pPr>
              <a:spcBef>
                <a:spcPts val="1128"/>
              </a:spcBef>
            </a:pPr>
            <a:r>
              <a:rPr lang="en-US" sz="2200" b="0" dirty="0"/>
              <a:t>Variety of sources and methods to gather information  </a:t>
            </a:r>
          </a:p>
          <a:p>
            <a:pPr>
              <a:spcBef>
                <a:spcPts val="1128"/>
              </a:spcBef>
            </a:pPr>
            <a:r>
              <a:rPr lang="en-US" sz="2200" b="0" dirty="0"/>
              <a:t>Focus on one barrier at a time </a:t>
            </a:r>
          </a:p>
          <a:p>
            <a:pPr>
              <a:spcBef>
                <a:spcPts val="1128"/>
              </a:spcBef>
            </a:pPr>
            <a:r>
              <a:rPr lang="en-US" sz="2200" b="0" dirty="0"/>
              <a:t>Honor individual choice &amp; preferences </a:t>
            </a:r>
          </a:p>
          <a:p>
            <a:pPr>
              <a:spcBef>
                <a:spcPts val="1128"/>
              </a:spcBef>
            </a:pPr>
            <a:r>
              <a:rPr lang="en-US" sz="2200" b="0" dirty="0"/>
              <a:t>Involve support team</a:t>
            </a:r>
          </a:p>
          <a:p>
            <a:pPr marL="0" indent="0">
              <a:buNone/>
            </a:pPr>
            <a:endParaRPr lang="en-US" sz="2000" b="0" dirty="0"/>
          </a:p>
          <a:p>
            <a:endParaRPr lang="en-US" sz="2000" b="0" dirty="0"/>
          </a:p>
        </p:txBody>
      </p:sp>
      <p:sp>
        <p:nvSpPr>
          <p:cNvPr id="5" name="Slide Number Placeholder 4">
            <a:extLst>
              <a:ext uri="{FF2B5EF4-FFF2-40B4-BE49-F238E27FC236}">
                <a16:creationId xmlns:a16="http://schemas.microsoft.com/office/drawing/2014/main" id="{1FBAE788-38CB-F142-ADF9-616D0C3159D3}"/>
              </a:ext>
            </a:extLst>
          </p:cNvPr>
          <p:cNvSpPr>
            <a:spLocks noGrp="1"/>
          </p:cNvSpPr>
          <p:nvPr>
            <p:ph type="sldNum" sz="quarter" idx="12"/>
          </p:nvPr>
        </p:nvSpPr>
        <p:spPr>
          <a:xfrm>
            <a:off x="8610600" y="6456802"/>
            <a:ext cx="1905000" cy="457200"/>
          </a:xfr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F4F2C800-E6A5-EE47-9F5D-6559176AC179}" type="slidenum">
              <a:rPr kumimoji="0" lang="en-US" altLang="en-US" sz="14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l" defTabSz="914400" rtl="0" eaLnBrk="0" fontAlgn="base" latinLnBrk="0" hangingPunct="0">
                <a:lnSpc>
                  <a:spcPct val="100000"/>
                </a:lnSpc>
                <a:spcBef>
                  <a:spcPct val="0"/>
                </a:spcBef>
                <a:spcAft>
                  <a:spcPct val="0"/>
                </a:spcAft>
                <a:buClrTx/>
                <a:buSzTx/>
                <a:buFontTx/>
                <a:buNone/>
                <a:tabLst/>
                <a:defRPr/>
              </a:pPr>
              <a:t>20</a:t>
            </a:fld>
            <a:endPar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endParaRPr>
          </a:p>
        </p:txBody>
      </p:sp>
      <p:graphicFrame>
        <p:nvGraphicFramePr>
          <p:cNvPr id="7" name="Object 6" descr="Picture of technology assessment form"/>
          <p:cNvGraphicFramePr>
            <a:graphicFrameLocks noChangeAspect="1"/>
          </p:cNvGraphicFramePr>
          <p:nvPr>
            <p:extLst>
              <p:ext uri="{D42A27DB-BD31-4B8C-83A1-F6EECF244321}">
                <p14:modId xmlns:p14="http://schemas.microsoft.com/office/powerpoint/2010/main" val="3260111847"/>
              </p:ext>
            </p:extLst>
          </p:nvPr>
        </p:nvGraphicFramePr>
        <p:xfrm>
          <a:off x="381000" y="2209800"/>
          <a:ext cx="3022322" cy="3911600"/>
        </p:xfrm>
        <a:graphic>
          <a:graphicData uri="http://schemas.openxmlformats.org/presentationml/2006/ole">
            <mc:AlternateContent xmlns:mc="http://schemas.openxmlformats.org/markup-compatibility/2006">
              <mc:Choice xmlns:v="urn:schemas-microsoft-com:vml" Requires="v">
                <p:oleObj spid="_x0000_s1037" name="Acrobat Document" r:id="rId4" imgW="5828911" imgH="7543536" progId="AcroExch.Document.DC">
                  <p:embed/>
                </p:oleObj>
              </mc:Choice>
              <mc:Fallback>
                <p:oleObj name="Acrobat Document" r:id="rId4" imgW="5828911" imgH="7543536" progId="AcroExch.Document.DC">
                  <p:embed/>
                  <p:pic>
                    <p:nvPicPr>
                      <p:cNvPr id="7" name="Object 6"/>
                      <p:cNvPicPr/>
                      <p:nvPr/>
                    </p:nvPicPr>
                    <p:blipFill>
                      <a:blip r:embed="rId5"/>
                      <a:stretch>
                        <a:fillRect/>
                      </a:stretch>
                    </p:blipFill>
                    <p:spPr>
                      <a:xfrm>
                        <a:off x="381000" y="2209800"/>
                        <a:ext cx="3022322" cy="3911600"/>
                      </a:xfrm>
                      <a:prstGeom prst="rect">
                        <a:avLst/>
                      </a:prstGeom>
                      <a:ln>
                        <a:solidFill>
                          <a:schemeClr val="tx1"/>
                        </a:solidFill>
                      </a:ln>
                    </p:spPr>
                  </p:pic>
                </p:oleObj>
              </mc:Fallback>
            </mc:AlternateContent>
          </a:graphicData>
        </a:graphic>
      </p:graphicFrame>
    </p:spTree>
    <p:extLst>
      <p:ext uri="{BB962C8B-B14F-4D97-AF65-F5344CB8AC3E}">
        <p14:creationId xmlns:p14="http://schemas.microsoft.com/office/powerpoint/2010/main" val="4115662520"/>
      </p:ext>
    </p:extLst>
  </p:cSld>
  <p:clrMapOvr>
    <a:masterClrMapping/>
  </p:clrMapOvr>
  <p:transition spd="slow">
    <p:wip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4FB157B-6F43-8C4C-9FB7-778B4631FC2F}"/>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52400" y="457200"/>
            <a:ext cx="3095074" cy="3435531"/>
          </a:xfrm>
          <a:prstGeom prst="rect">
            <a:avLst/>
          </a:prstGeom>
          <a:ln w="53975">
            <a:solidFill>
              <a:srgbClr val="0060C1"/>
            </a:solidFill>
          </a:ln>
        </p:spPr>
      </p:pic>
      <p:sp>
        <p:nvSpPr>
          <p:cNvPr id="7" name="Content Placeholder 6">
            <a:extLst>
              <a:ext uri="{FF2B5EF4-FFF2-40B4-BE49-F238E27FC236}">
                <a16:creationId xmlns:a16="http://schemas.microsoft.com/office/drawing/2014/main" id="{78F11C6C-55A6-C448-8BE9-E5F0A9A84E02}"/>
              </a:ext>
            </a:extLst>
          </p:cNvPr>
          <p:cNvSpPr>
            <a:spLocks noGrp="1"/>
          </p:cNvSpPr>
          <p:nvPr>
            <p:ph idx="1"/>
          </p:nvPr>
        </p:nvSpPr>
        <p:spPr>
          <a:xfrm>
            <a:off x="3581400" y="914400"/>
            <a:ext cx="5257798" cy="5486400"/>
          </a:xfrm>
        </p:spPr>
        <p:txBody>
          <a:bodyPr/>
          <a:lstStyle/>
          <a:p>
            <a:pPr>
              <a:spcBef>
                <a:spcPts val="2472"/>
              </a:spcBef>
            </a:pPr>
            <a:r>
              <a:rPr lang="en-US" sz="2800" b="0" dirty="0"/>
              <a:t>Incorporate into staff training, job description, competency requirements</a:t>
            </a:r>
          </a:p>
          <a:p>
            <a:pPr>
              <a:spcBef>
                <a:spcPts val="2472"/>
              </a:spcBef>
            </a:pPr>
            <a:r>
              <a:rPr lang="en-US" sz="2800" b="0" dirty="0"/>
              <a:t>Leadership buy-in &amp; support</a:t>
            </a:r>
          </a:p>
          <a:p>
            <a:pPr>
              <a:spcBef>
                <a:spcPts val="2472"/>
              </a:spcBef>
            </a:pPr>
            <a:r>
              <a:rPr lang="en-US" sz="2800" b="0" dirty="0"/>
              <a:t>Engagement of individuals at </a:t>
            </a:r>
            <a:r>
              <a:rPr lang="en-US" sz="2800" dirty="0"/>
              <a:t>every step</a:t>
            </a:r>
          </a:p>
          <a:p>
            <a:pPr>
              <a:spcBef>
                <a:spcPts val="2472"/>
              </a:spcBef>
            </a:pPr>
            <a:r>
              <a:rPr lang="en-US" sz="2800" b="0" dirty="0"/>
              <a:t>Communities of practice</a:t>
            </a:r>
          </a:p>
          <a:p>
            <a:pPr>
              <a:spcBef>
                <a:spcPts val="2472"/>
              </a:spcBef>
            </a:pPr>
            <a:r>
              <a:rPr lang="en-US" sz="2800" b="0" dirty="0"/>
              <a:t>Get help from the experts</a:t>
            </a:r>
          </a:p>
          <a:p>
            <a:endParaRPr lang="en-US" sz="2800" b="0" dirty="0"/>
          </a:p>
        </p:txBody>
      </p:sp>
      <p:sp>
        <p:nvSpPr>
          <p:cNvPr id="2" name="Title 1">
            <a:extLst>
              <a:ext uri="{FF2B5EF4-FFF2-40B4-BE49-F238E27FC236}">
                <a16:creationId xmlns:a16="http://schemas.microsoft.com/office/drawing/2014/main" id="{A990A523-D238-1E46-9D60-F0DFB9910582}"/>
              </a:ext>
            </a:extLst>
          </p:cNvPr>
          <p:cNvSpPr>
            <a:spLocks noGrp="1"/>
          </p:cNvSpPr>
          <p:nvPr>
            <p:ph type="title"/>
          </p:nvPr>
        </p:nvSpPr>
        <p:spPr>
          <a:xfrm>
            <a:off x="685800" y="-2070463"/>
            <a:ext cx="7772400" cy="1143000"/>
          </a:xfrm>
        </p:spPr>
        <p:txBody>
          <a:bodyPr/>
          <a:lstStyle/>
          <a:p>
            <a:r>
              <a:rPr lang="en-US" dirty="0"/>
              <a:t>Building Capacity</a:t>
            </a:r>
          </a:p>
        </p:txBody>
      </p:sp>
      <p:sp>
        <p:nvSpPr>
          <p:cNvPr id="5" name="Rectangle 4">
            <a:extLst>
              <a:ext uri="{FF2B5EF4-FFF2-40B4-BE49-F238E27FC236}">
                <a16:creationId xmlns:a16="http://schemas.microsoft.com/office/drawing/2014/main" id="{3EEF5F9B-3CA3-4447-AC56-14C28BCA973B}"/>
              </a:ex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3" name="Slide Number Placeholder 2">
            <a:extLst>
              <a:ext uri="{FF2B5EF4-FFF2-40B4-BE49-F238E27FC236}">
                <a16:creationId xmlns:a16="http://schemas.microsoft.com/office/drawing/2014/main" id="{6F8EE23A-E888-6948-BCD8-83940D4959C4}"/>
              </a:ext>
            </a:extLst>
          </p:cNvPr>
          <p:cNvSpPr>
            <a:spLocks noGrp="1"/>
          </p:cNvSpPr>
          <p:nvPr>
            <p:ph type="sldNum" sz="quarter" idx="12"/>
          </p:nvPr>
        </p:nvSpPr>
        <p:spPr>
          <a:xfrm>
            <a:off x="8534400" y="6400800"/>
            <a:ext cx="1905000" cy="457200"/>
          </a:xfrm>
        </p:spPr>
        <p:txBody>
          <a:bodyPr/>
          <a:lstStyle/>
          <a:p>
            <a:pPr>
              <a:defRPr/>
            </a:pPr>
            <a:fld id="{F4F2C800-E6A5-EE47-9F5D-6559176AC179}" type="slidenum">
              <a:rPr lang="en-US" altLang="en-US" sz="1400" smtClean="0"/>
              <a:pPr>
                <a:defRPr/>
              </a:pPr>
              <a:t>21</a:t>
            </a:fld>
            <a:endParaRPr lang="en-US" altLang="en-US" sz="1400"/>
          </a:p>
        </p:txBody>
      </p:sp>
    </p:spTree>
    <p:extLst>
      <p:ext uri="{BB962C8B-B14F-4D97-AF65-F5344CB8AC3E}">
        <p14:creationId xmlns:p14="http://schemas.microsoft.com/office/powerpoint/2010/main" val="276285932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T 3 Center ">
            <a:extLst>
              <a:ext uri="{FF2B5EF4-FFF2-40B4-BE49-F238E27FC236}">
                <a16:creationId xmlns:a16="http://schemas.microsoft.com/office/drawing/2014/main" id="{F4A7C711-DE90-E94C-B7D4-6C63D7117A9B}"/>
              </a:ext>
            </a:extLst>
          </p:cNvPr>
          <p:cNvPicPr>
            <a:picLocks noChangeAspect="1"/>
          </p:cNvPicPr>
          <p:nvPr/>
        </p:nvPicPr>
        <p:blipFill>
          <a:blip r:embed="rId3"/>
          <a:stretch>
            <a:fillRect/>
          </a:stretch>
        </p:blipFill>
        <p:spPr>
          <a:xfrm>
            <a:off x="6400800" y="4786468"/>
            <a:ext cx="1813160" cy="1015370"/>
          </a:xfrm>
          <a:prstGeom prst="rect">
            <a:avLst/>
          </a:prstGeom>
        </p:spPr>
      </p:pic>
      <p:sp>
        <p:nvSpPr>
          <p:cNvPr id="6" name="Content Placeholder 5">
            <a:extLst>
              <a:ext uri="{FF2B5EF4-FFF2-40B4-BE49-F238E27FC236}">
                <a16:creationId xmlns:a16="http://schemas.microsoft.com/office/drawing/2014/main" id="{FA5F2D6E-36D0-AB4D-9504-E9500C0A1A67}"/>
              </a:ext>
            </a:extLst>
          </p:cNvPr>
          <p:cNvSpPr>
            <a:spLocks noGrp="1"/>
          </p:cNvSpPr>
          <p:nvPr>
            <p:ph idx="1"/>
          </p:nvPr>
        </p:nvSpPr>
        <p:spPr>
          <a:xfrm>
            <a:off x="381000" y="4465196"/>
            <a:ext cx="6172200" cy="2514600"/>
          </a:xfrm>
        </p:spPr>
        <p:txBody>
          <a:bodyPr/>
          <a:lstStyle/>
          <a:p>
            <a:r>
              <a:rPr lang="en-US" b="0" dirty="0"/>
              <a:t>Contact information for state AT programs: </a:t>
            </a:r>
            <a:r>
              <a:rPr lang="en-US" b="0" dirty="0">
                <a:hlinkClick r:id="rId4"/>
              </a:rPr>
              <a:t>www.at3center.net</a:t>
            </a:r>
            <a:r>
              <a:rPr lang="en-US" b="0" dirty="0"/>
              <a:t> </a:t>
            </a:r>
          </a:p>
        </p:txBody>
      </p:sp>
      <p:pic>
        <p:nvPicPr>
          <p:cNvPr id="16" name="Picture 15">
            <a:extLst>
              <a:ext uri="{FF2B5EF4-FFF2-40B4-BE49-F238E27FC236}">
                <a16:creationId xmlns:a16="http://schemas.microsoft.com/office/drawing/2014/main" id="{DE07E666-0DD9-924A-AAF3-0AC975CA565E}"/>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828800" y="626072"/>
            <a:ext cx="5149070" cy="3542560"/>
          </a:xfrm>
          <a:prstGeom prst="rect">
            <a:avLst/>
          </a:prstGeom>
        </p:spPr>
      </p:pic>
      <p:sp>
        <p:nvSpPr>
          <p:cNvPr id="9" name="Rectangle 8">
            <a:extLst>
              <a:ext uri="{FF2B5EF4-FFF2-40B4-BE49-F238E27FC236}">
                <a16:creationId xmlns:a16="http://schemas.microsoft.com/office/drawing/2014/main" id="{07666971-618F-064A-8A66-BF7F2B495265}"/>
              </a:ex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2" name="Title 1">
            <a:extLst>
              <a:ext uri="{FF2B5EF4-FFF2-40B4-BE49-F238E27FC236}">
                <a16:creationId xmlns:a16="http://schemas.microsoft.com/office/drawing/2014/main" id="{23D93167-EBDD-7646-8FA0-27F770C32DC7}"/>
              </a:ext>
            </a:extLst>
          </p:cNvPr>
          <p:cNvSpPr>
            <a:spLocks noGrp="1"/>
          </p:cNvSpPr>
          <p:nvPr>
            <p:ph type="title"/>
          </p:nvPr>
        </p:nvSpPr>
        <p:spPr>
          <a:xfrm>
            <a:off x="685800" y="-1760836"/>
            <a:ext cx="7772400" cy="1143000"/>
          </a:xfrm>
        </p:spPr>
        <p:txBody>
          <a:bodyPr/>
          <a:lstStyle/>
          <a:p>
            <a:r>
              <a:rPr lang="en-US" dirty="0"/>
              <a:t>Stop #1:</a:t>
            </a:r>
            <a:r>
              <a:rPr lang="en-US" baseline="0" dirty="0"/>
              <a:t> State AT Center</a:t>
            </a:r>
            <a:endParaRPr lang="en-US" dirty="0"/>
          </a:p>
        </p:txBody>
      </p:sp>
      <p:sp>
        <p:nvSpPr>
          <p:cNvPr id="3" name="Slide Number Placeholder 2">
            <a:extLst>
              <a:ext uri="{FF2B5EF4-FFF2-40B4-BE49-F238E27FC236}">
                <a16:creationId xmlns:a16="http://schemas.microsoft.com/office/drawing/2014/main" id="{1FAF453E-A033-024B-9BB2-AAF8D73166B4}"/>
              </a:ext>
            </a:extLst>
          </p:cNvPr>
          <p:cNvSpPr>
            <a:spLocks noGrp="1"/>
          </p:cNvSpPr>
          <p:nvPr>
            <p:ph type="sldNum" sz="quarter" idx="12"/>
          </p:nvPr>
        </p:nvSpPr>
        <p:spPr>
          <a:xfrm>
            <a:off x="8610600" y="6400800"/>
            <a:ext cx="1905000" cy="457200"/>
          </a:xfrm>
        </p:spPr>
        <p:txBody>
          <a:bodyPr/>
          <a:lstStyle/>
          <a:p>
            <a:pPr>
              <a:defRPr/>
            </a:pPr>
            <a:fld id="{F4F2C800-E6A5-EE47-9F5D-6559176AC179}" type="slidenum">
              <a:rPr lang="en-US" altLang="en-US" sz="1400" smtClean="0"/>
              <a:pPr>
                <a:defRPr/>
              </a:pPr>
              <a:t>22</a:t>
            </a:fld>
            <a:endParaRPr lang="en-US" altLang="en-US" sz="1400"/>
          </a:p>
        </p:txBody>
      </p:sp>
    </p:spTree>
    <p:extLst>
      <p:ext uri="{BB962C8B-B14F-4D97-AF65-F5344CB8AC3E}">
        <p14:creationId xmlns:p14="http://schemas.microsoft.com/office/powerpoint/2010/main" val="4009655221"/>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JAN - Job Accommodation Network ">
            <a:extLst>
              <a:ext uri="{FF2B5EF4-FFF2-40B4-BE49-F238E27FC236}">
                <a16:creationId xmlns:a16="http://schemas.microsoft.com/office/drawing/2014/main" id="{93999A9D-CFB8-EE4F-8552-5918A775FF74}"/>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334000" y="304800"/>
            <a:ext cx="3541857" cy="1415143"/>
          </a:xfrm>
          <a:prstGeom prst="rect">
            <a:avLst/>
          </a:prstGeom>
        </p:spPr>
      </p:pic>
      <p:pic>
        <p:nvPicPr>
          <p:cNvPr id="9" name="Picture 8" descr="AbleData - Tools and Technologies to Enhance Life">
            <a:extLst>
              <a:ext uri="{FF2B5EF4-FFF2-40B4-BE49-F238E27FC236}">
                <a16:creationId xmlns:a16="http://schemas.microsoft.com/office/drawing/2014/main" id="{194220B6-822B-624B-850A-2654F9F998B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014960" y="5177624"/>
            <a:ext cx="3722640" cy="697995"/>
          </a:xfrm>
          <a:prstGeom prst="rect">
            <a:avLst/>
          </a:prstGeom>
        </p:spPr>
      </p:pic>
      <p:pic>
        <p:nvPicPr>
          <p:cNvPr id="10" name="Picture 9" descr="ATC - Accessible technology coaltion">
            <a:extLst>
              <a:ext uri="{FF2B5EF4-FFF2-40B4-BE49-F238E27FC236}">
                <a16:creationId xmlns:a16="http://schemas.microsoft.com/office/drawing/2014/main" id="{0971D9ED-1ED3-AE46-9553-BADFE44878DD}"/>
              </a:ext>
            </a:extLst>
          </p:cNvPr>
          <p:cNvPicPr>
            <a:picLocks noChangeAspect="1"/>
          </p:cNvPicPr>
          <p:nvPr/>
        </p:nvPicPr>
        <p:blipFill>
          <a:blip r:embed="rId5"/>
          <a:stretch>
            <a:fillRect/>
          </a:stretch>
        </p:blipFill>
        <p:spPr>
          <a:xfrm>
            <a:off x="3200400" y="2412566"/>
            <a:ext cx="2998361" cy="1882304"/>
          </a:xfrm>
          <a:prstGeom prst="rect">
            <a:avLst/>
          </a:prstGeom>
        </p:spPr>
      </p:pic>
      <p:sp>
        <p:nvSpPr>
          <p:cNvPr id="2" name="Title 1">
            <a:extLst>
              <a:ext uri="{FF2B5EF4-FFF2-40B4-BE49-F238E27FC236}">
                <a16:creationId xmlns:a16="http://schemas.microsoft.com/office/drawing/2014/main" id="{87AC2421-B2EC-A849-A779-BDD13445DBD1}"/>
              </a:ext>
            </a:extLst>
          </p:cNvPr>
          <p:cNvSpPr>
            <a:spLocks noGrp="1"/>
          </p:cNvSpPr>
          <p:nvPr>
            <p:ph type="title"/>
          </p:nvPr>
        </p:nvSpPr>
        <p:spPr>
          <a:xfrm>
            <a:off x="304800" y="598233"/>
            <a:ext cx="2819645" cy="1082143"/>
          </a:xfrm>
          <a:effectLst>
            <a:glow rad="228600">
              <a:schemeClr val="accent2">
                <a:satMod val="175000"/>
                <a:alpha val="40000"/>
              </a:schemeClr>
            </a:glow>
          </a:effectLst>
          <a:scene3d>
            <a:camera prst="isometricOffAxis1Right"/>
            <a:lightRig rig="threePt" dir="t"/>
          </a:scene3d>
          <a:sp3d>
            <a:bevelT prst="angle"/>
          </a:sp3d>
        </p:spPr>
        <p:style>
          <a:lnRef idx="3">
            <a:schemeClr val="lt1"/>
          </a:lnRef>
          <a:fillRef idx="1">
            <a:schemeClr val="accent2"/>
          </a:fillRef>
          <a:effectRef idx="1">
            <a:schemeClr val="accent2"/>
          </a:effectRef>
          <a:fontRef idx="minor">
            <a:schemeClr val="lt1"/>
          </a:fontRef>
        </p:style>
        <p:txBody>
          <a:bodyPr/>
          <a:lstStyle/>
          <a:p>
            <a:r>
              <a:rPr lang="en-US" i="1" cap="small" dirty="0"/>
              <a:t>Other</a:t>
            </a:r>
            <a:r>
              <a:rPr lang="en-US" b="1" i="1" cap="small" dirty="0"/>
              <a:t> Resources</a:t>
            </a:r>
          </a:p>
        </p:txBody>
      </p:sp>
      <p:sp>
        <p:nvSpPr>
          <p:cNvPr id="12" name="Rectangle 11">
            <a:extLst>
              <a:ext uri="{FF2B5EF4-FFF2-40B4-BE49-F238E27FC236}">
                <a16:creationId xmlns:a16="http://schemas.microsoft.com/office/drawing/2014/main" id="{66C25BB2-5CCF-1C4B-9B4D-CD413E310827}"/>
              </a:ex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4" name="Slide Number Placeholder 3">
            <a:extLst>
              <a:ext uri="{FF2B5EF4-FFF2-40B4-BE49-F238E27FC236}">
                <a16:creationId xmlns:a16="http://schemas.microsoft.com/office/drawing/2014/main" id="{88364AF3-C034-4745-A43B-CBC8C88362B0}"/>
              </a:ext>
            </a:extLst>
          </p:cNvPr>
          <p:cNvSpPr>
            <a:spLocks noGrp="1"/>
          </p:cNvSpPr>
          <p:nvPr>
            <p:ph type="sldNum" sz="quarter" idx="12"/>
          </p:nvPr>
        </p:nvSpPr>
        <p:spPr>
          <a:xfrm>
            <a:off x="8610600" y="6402636"/>
            <a:ext cx="1905000" cy="457200"/>
          </a:xfrm>
        </p:spPr>
        <p:txBody>
          <a:bodyPr/>
          <a:lstStyle/>
          <a:p>
            <a:pPr>
              <a:defRPr/>
            </a:pPr>
            <a:fld id="{F4F2C800-E6A5-EE47-9F5D-6559176AC179}" type="slidenum">
              <a:rPr lang="en-US" altLang="en-US" sz="1400" smtClean="0"/>
              <a:pPr>
                <a:defRPr/>
              </a:pPr>
              <a:t>23</a:t>
            </a:fld>
            <a:endParaRPr lang="en-US" altLang="en-US" sz="1400" dirty="0"/>
          </a:p>
        </p:txBody>
      </p:sp>
      <p:sp>
        <p:nvSpPr>
          <p:cNvPr id="8" name="TextBox 7" descr="Feel free to share examples of these factors in the chat.&#13;&#10;">
            <a:extLst>
              <a:ext uri="{FF2B5EF4-FFF2-40B4-BE49-F238E27FC236}">
                <a16:creationId xmlns:a16="http://schemas.microsoft.com/office/drawing/2014/main" id="{FA960F2E-3E24-0A4E-809C-D1FDE4E74F24}"/>
              </a:ext>
            </a:extLst>
          </p:cNvPr>
          <p:cNvSpPr txBox="1"/>
          <p:nvPr/>
        </p:nvSpPr>
        <p:spPr>
          <a:xfrm>
            <a:off x="304800" y="5909495"/>
            <a:ext cx="3398593" cy="707886"/>
          </a:xfrm>
          <a:prstGeom prst="rect">
            <a:avLst/>
          </a:prstGeom>
          <a:solidFill>
            <a:srgbClr val="0060C1"/>
          </a:solidFill>
          <a:effectLst>
            <a:glow rad="139700">
              <a:schemeClr val="accent4">
                <a:satMod val="175000"/>
                <a:alpha val="40000"/>
              </a:schemeClr>
            </a:glow>
          </a:effectLst>
          <a:scene3d>
            <a:camera prst="orthographicFront"/>
            <a:lightRig rig="threePt" dir="t"/>
          </a:scene3d>
          <a:sp3d>
            <a:bevelT prst="angle"/>
          </a:sp3d>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sz="2000" i="1" dirty="0">
                <a:solidFill>
                  <a:schemeClr val="bg1"/>
                </a:solidFill>
                <a:latin typeface="Arial Narrow" panose="020B0604020202020204" pitchFamily="34" charset="0"/>
                <a:cs typeface="Arial Narrow" panose="020B0604020202020204" pitchFamily="34" charset="0"/>
              </a:rPr>
              <a:t>Feel free to share additional technology resources in the chat</a:t>
            </a:r>
          </a:p>
        </p:txBody>
      </p:sp>
    </p:spTree>
    <p:extLst>
      <p:ext uri="{BB962C8B-B14F-4D97-AF65-F5344CB8AC3E}">
        <p14:creationId xmlns:p14="http://schemas.microsoft.com/office/powerpoint/2010/main" val="327616234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Slide Background Fill">
            <a:extLst>
              <a:ext uri="{FF2B5EF4-FFF2-40B4-BE49-F238E27FC236}">
                <a16:creationId xmlns:a16="http://schemas.microsoft.com/office/drawing/2014/main" id="{913AE63C-D5B4-45D1-ACFC-648CFFCF9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8" y="0"/>
            <a:ext cx="914171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8" name="Group 37">
            <a:extLst>
              <a:ext uri="{FF2B5EF4-FFF2-40B4-BE49-F238E27FC236}">
                <a16:creationId xmlns:a16="http://schemas.microsoft.com/office/drawing/2014/main" id="{4F0CCC29-1ADF-400B-B2E2-87AE5F0F398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1714" cy="6858000"/>
            <a:chOff x="651279" y="598259"/>
            <a:chExt cx="10889442" cy="5680742"/>
          </a:xfrm>
        </p:grpSpPr>
        <p:sp>
          <p:nvSpPr>
            <p:cNvPr id="39" name="Color">
              <a:extLst>
                <a:ext uri="{FF2B5EF4-FFF2-40B4-BE49-F238E27FC236}">
                  <a16:creationId xmlns:a16="http://schemas.microsoft.com/office/drawing/2014/main" id="{BD9615F1-E1A8-4B27-A6A8-4F50A77B2B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Color">
              <a:extLst>
                <a:ext uri="{FF2B5EF4-FFF2-40B4-BE49-F238E27FC236}">
                  <a16:creationId xmlns:a16="http://schemas.microsoft.com/office/drawing/2014/main" id="{BE138890-F764-4F96-86CE-30B4D87130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1" name="Picture 10" descr="Emoji of face with a mask">
            <a:extLst>
              <a:ext uri="{FF2B5EF4-FFF2-40B4-BE49-F238E27FC236}">
                <a16:creationId xmlns:a16="http://schemas.microsoft.com/office/drawing/2014/main" id="{3AE942EE-0FDB-2540-A3DC-DC9F0ED29DAF}"/>
              </a:ext>
              <a:ext uri="{C183D7F6-B498-43B3-948B-1728B52AA6E4}">
                <adec:decorative xmlns:adec="http://schemas.microsoft.com/office/drawing/2017/decorative" val="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 r="-2"/>
          <a:stretch/>
        </p:blipFill>
        <p:spPr>
          <a:xfrm>
            <a:off x="549471" y="696138"/>
            <a:ext cx="2371543" cy="1923119"/>
          </a:xfrm>
          <a:prstGeom prst="rect">
            <a:avLst/>
          </a:prstGeom>
        </p:spPr>
      </p:pic>
      <p:pic>
        <p:nvPicPr>
          <p:cNvPr id="4" name="Picture 3" descr="3 individuals social distancing: 2 women and a man">
            <a:extLst>
              <a:ext uri="{FF2B5EF4-FFF2-40B4-BE49-F238E27FC236}">
                <a16:creationId xmlns:a16="http://schemas.microsoft.com/office/drawing/2014/main" id="{48A583E4-265B-9947-8F9A-CB3B27DF4C5F}"/>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2180" t="-3415" r="-14107" b="3416"/>
          <a:stretch/>
        </p:blipFill>
        <p:spPr>
          <a:xfrm>
            <a:off x="2209800" y="2712289"/>
            <a:ext cx="6931912" cy="2864340"/>
          </a:xfrm>
          <a:prstGeom prst="rect">
            <a:avLst/>
          </a:prstGeom>
        </p:spPr>
      </p:pic>
      <p:grpSp>
        <p:nvGrpSpPr>
          <p:cNvPr id="42" name="Group 41">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3" y="0"/>
            <a:ext cx="9141717" cy="6858000"/>
            <a:chOff x="0" y="0"/>
            <a:chExt cx="12188952" cy="6858000"/>
          </a:xfrm>
        </p:grpSpPr>
        <p:sp>
          <p:nvSpPr>
            <p:cNvPr id="43" name="Freeform: Shape 42">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4" name="Freeform: Shape 43">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5" name="Freeform: Shape 44">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6" name="Freeform: Shape 45">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7" name="Freeform: Shape 46">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8" name="Freeform: Shape 47">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9" name="Freeform: Shape 48">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5" name="Slide Number Placeholder 4">
            <a:extLst>
              <a:ext uri="{FF2B5EF4-FFF2-40B4-BE49-F238E27FC236}">
                <a16:creationId xmlns:a16="http://schemas.microsoft.com/office/drawing/2014/main" id="{376B3AF7-A4A1-9C40-AAD4-9FFC076B82C6}"/>
              </a:ext>
            </a:extLst>
          </p:cNvPr>
          <p:cNvSpPr txBox="1">
            <a:spLocks/>
          </p:cNvSpPr>
          <p:nvPr/>
        </p:nvSpPr>
        <p:spPr>
          <a:xfrm>
            <a:off x="8378348" y="6266388"/>
            <a:ext cx="781813" cy="362221"/>
          </a:xfrm>
          <a:prstGeom prst="rect">
            <a:avLst/>
          </a:prstGeom>
        </p:spPr>
        <p:txBody>
          <a:bodyPr vert="horz" lIns="91440" tIns="45720" rIns="91440" bIns="45720" rtlCol="0" anchor="t">
            <a:normAutofit/>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5pPr>
            <a:lvl6pPr marL="22860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6pPr>
            <a:lvl7pPr marL="27432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7pPr>
            <a:lvl8pPr marL="32004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8pPr>
            <a:lvl9pPr marL="36576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9pPr>
          </a:lstStyle>
          <a:p>
            <a:pPr eaLnBrk="1" hangingPunct="1">
              <a:lnSpc>
                <a:spcPct val="90000"/>
              </a:lnSpc>
              <a:spcAft>
                <a:spcPts val="600"/>
              </a:spcAft>
              <a:defRPr/>
            </a:pPr>
            <a:fld id="{03796480-D029-B94F-BE73-D819B106F9C3}" type="slidenum">
              <a:rPr lang="en-US" altLang="en-US" sz="1600">
                <a:solidFill>
                  <a:schemeClr val="bg1"/>
                </a:solidFill>
                <a:latin typeface="+mn-lt"/>
                <a:ea typeface="+mn-ea"/>
              </a:rPr>
              <a:pPr eaLnBrk="1" hangingPunct="1">
                <a:lnSpc>
                  <a:spcPct val="90000"/>
                </a:lnSpc>
                <a:spcAft>
                  <a:spcPts val="600"/>
                </a:spcAft>
                <a:defRPr/>
              </a:pPr>
              <a:t>24</a:t>
            </a:fld>
            <a:endParaRPr lang="en-US" altLang="en-US" sz="1600" dirty="0">
              <a:solidFill>
                <a:schemeClr val="bg1"/>
              </a:solidFill>
              <a:latin typeface="+mn-lt"/>
              <a:ea typeface="+mn-ea"/>
            </a:endParaRPr>
          </a:p>
        </p:txBody>
      </p:sp>
      <p:sp>
        <p:nvSpPr>
          <p:cNvPr id="2" name="Title 1">
            <a:extLst>
              <a:ext uri="{FF2B5EF4-FFF2-40B4-BE49-F238E27FC236}">
                <a16:creationId xmlns:a16="http://schemas.microsoft.com/office/drawing/2014/main" id="{05207B2A-7072-F446-A59B-939D184F26B4}"/>
              </a:ext>
            </a:extLst>
          </p:cNvPr>
          <p:cNvSpPr>
            <a:spLocks noGrp="1"/>
          </p:cNvSpPr>
          <p:nvPr>
            <p:ph type="title" idx="4294967295"/>
          </p:nvPr>
        </p:nvSpPr>
        <p:spPr>
          <a:xfrm>
            <a:off x="650522" y="-2001910"/>
            <a:ext cx="7772400" cy="1143000"/>
          </a:xfrm>
        </p:spPr>
        <p:txBody>
          <a:bodyPr/>
          <a:lstStyle/>
          <a:p>
            <a:r>
              <a:rPr lang="en-US" dirty="0"/>
              <a:t>Lessons from Covid</a:t>
            </a:r>
          </a:p>
        </p:txBody>
      </p:sp>
    </p:spTree>
    <p:extLst>
      <p:ext uri="{BB962C8B-B14F-4D97-AF65-F5344CB8AC3E}">
        <p14:creationId xmlns:p14="http://schemas.microsoft.com/office/powerpoint/2010/main" val="758507664"/>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E5E604C-2B75-504E-8157-C83E32CF9484}"/>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728265"/>
            <a:ext cx="9144000" cy="5143501"/>
          </a:xfrm>
          <a:prstGeom prst="rect">
            <a:avLst/>
          </a:prstGeom>
        </p:spPr>
      </p:pic>
      <p:sp>
        <p:nvSpPr>
          <p:cNvPr id="2" name="Title 1">
            <a:extLst>
              <a:ext uri="{FF2B5EF4-FFF2-40B4-BE49-F238E27FC236}">
                <a16:creationId xmlns:a16="http://schemas.microsoft.com/office/drawing/2014/main" id="{3028EC6E-0B51-804C-A952-6AE808FFA120}"/>
              </a:ext>
            </a:extLst>
          </p:cNvPr>
          <p:cNvSpPr>
            <a:spLocks noGrp="1"/>
          </p:cNvSpPr>
          <p:nvPr>
            <p:ph type="title"/>
          </p:nvPr>
        </p:nvSpPr>
        <p:spPr>
          <a:xfrm>
            <a:off x="457200" y="3733800"/>
            <a:ext cx="8229600" cy="1143000"/>
          </a:xfrm>
        </p:spPr>
        <p:txBody>
          <a:bodyPr>
            <a:noAutofit/>
          </a:bodyPr>
          <a:lstStyle/>
          <a:p>
            <a:r>
              <a:rPr lang="en-US" sz="2400" i="1" dirty="0">
                <a:solidFill>
                  <a:srgbClr val="FFFF00"/>
                </a:solidFill>
              </a:rPr>
              <a:t>Mizuta Masahide</a:t>
            </a:r>
            <a:br>
              <a:rPr lang="en-US" sz="2400" i="1" dirty="0">
                <a:solidFill>
                  <a:srgbClr val="FFFF00"/>
                </a:solidFill>
              </a:rPr>
            </a:br>
            <a:r>
              <a:rPr lang="en-US" sz="2400" i="1" dirty="0">
                <a:solidFill>
                  <a:srgbClr val="FFFF00"/>
                </a:solidFill>
              </a:rPr>
              <a:t>(17th century Japanese poet and samurai)</a:t>
            </a:r>
            <a:br>
              <a:rPr lang="en-US" sz="2400" dirty="0">
                <a:solidFill>
                  <a:srgbClr val="FFFF00"/>
                </a:solidFill>
              </a:rPr>
            </a:br>
            <a:endParaRPr lang="en-US" sz="2400" dirty="0">
              <a:solidFill>
                <a:srgbClr val="FFFF00"/>
              </a:solidFill>
            </a:endParaRPr>
          </a:p>
        </p:txBody>
      </p:sp>
      <p:sp>
        <p:nvSpPr>
          <p:cNvPr id="3" name="Content Placeholder 2">
            <a:extLst>
              <a:ext uri="{FF2B5EF4-FFF2-40B4-BE49-F238E27FC236}">
                <a16:creationId xmlns:a16="http://schemas.microsoft.com/office/drawing/2014/main" id="{5035B1A7-CB1E-FE42-8C74-C92F5031E837}"/>
              </a:ext>
            </a:extLst>
          </p:cNvPr>
          <p:cNvSpPr>
            <a:spLocks noGrp="1"/>
          </p:cNvSpPr>
          <p:nvPr>
            <p:ph idx="1"/>
          </p:nvPr>
        </p:nvSpPr>
        <p:spPr>
          <a:xfrm>
            <a:off x="152400" y="1145236"/>
            <a:ext cx="8229600" cy="4525963"/>
          </a:xfrm>
        </p:spPr>
        <p:txBody>
          <a:bodyPr/>
          <a:lstStyle/>
          <a:p>
            <a:pPr marL="0" indent="0">
              <a:buNone/>
            </a:pPr>
            <a:r>
              <a:rPr lang="en-US" dirty="0">
                <a:solidFill>
                  <a:schemeClr val="bg1"/>
                </a:solidFill>
              </a:rPr>
              <a:t>“My barn having burned down, </a:t>
            </a:r>
          </a:p>
          <a:p>
            <a:pPr marL="0" indent="0">
              <a:buNone/>
            </a:pPr>
            <a:r>
              <a:rPr lang="en-US" dirty="0">
                <a:solidFill>
                  <a:schemeClr val="bg1"/>
                </a:solidFill>
              </a:rPr>
              <a:t>I can now see the moon.”</a:t>
            </a:r>
          </a:p>
        </p:txBody>
      </p:sp>
      <p:sp>
        <p:nvSpPr>
          <p:cNvPr id="4" name="Slide Number Placeholder 3">
            <a:extLst>
              <a:ext uri="{FF2B5EF4-FFF2-40B4-BE49-F238E27FC236}">
                <a16:creationId xmlns:a16="http://schemas.microsoft.com/office/drawing/2014/main" id="{AEC6117C-2D05-9C46-8BC3-0E840817EE38}"/>
              </a:ext>
            </a:extLst>
          </p:cNvPr>
          <p:cNvSpPr>
            <a:spLocks noGrp="1"/>
          </p:cNvSpPr>
          <p:nvPr>
            <p:ph type="sldNum" sz="quarter" idx="12"/>
          </p:nvPr>
        </p:nvSpPr>
        <p:spPr/>
        <p:txBody>
          <a:bodyPr/>
          <a:lstStyle/>
          <a:p>
            <a:pPr>
              <a:defRPr/>
            </a:pPr>
            <a:fld id="{6DFFECAE-5558-FC4F-A5D5-814DD6134961}" type="slidenum">
              <a:rPr lang="en-US" altLang="en-US" smtClean="0"/>
              <a:pPr>
                <a:defRPr/>
              </a:pPr>
              <a:t>25</a:t>
            </a:fld>
            <a:endParaRPr lang="en-US" altLang="en-US"/>
          </a:p>
        </p:txBody>
      </p:sp>
    </p:spTree>
    <p:extLst>
      <p:ext uri="{BB962C8B-B14F-4D97-AF65-F5344CB8AC3E}">
        <p14:creationId xmlns:p14="http://schemas.microsoft.com/office/powerpoint/2010/main" val="2549548735"/>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Picture of ICI Tools for Inclusion: Easy to Access Assistive Technology and Apps for Individual Success">
            <a:extLst>
              <a:ext uri="{FF2B5EF4-FFF2-40B4-BE49-F238E27FC236}">
                <a16:creationId xmlns:a16="http://schemas.microsoft.com/office/drawing/2014/main" id="{55B5CEAB-B082-FA49-ADAF-222F7AC77F8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949538" y="1617108"/>
            <a:ext cx="3664526" cy="4742327"/>
          </a:xfrm>
          <a:prstGeom prst="rect">
            <a:avLst/>
          </a:prstGeom>
          <a:ln>
            <a:solidFill>
              <a:schemeClr val="tx1"/>
            </a:solidFill>
          </a:ln>
        </p:spPr>
      </p:pic>
      <p:pic>
        <p:nvPicPr>
          <p:cNvPr id="12" name="Picture 11" descr="Picture of ICI Tools for Inclusion: Using Technology for Remote Support, Self-Managemernt, and Success in Employment and the Community">
            <a:extLst>
              <a:ext uri="{FF2B5EF4-FFF2-40B4-BE49-F238E27FC236}">
                <a16:creationId xmlns:a16="http://schemas.microsoft.com/office/drawing/2014/main" id="{6502CC0B-4C82-7040-B526-62384029B54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5102" y="1617109"/>
            <a:ext cx="3664525" cy="4742326"/>
          </a:xfrm>
          <a:prstGeom prst="rect">
            <a:avLst/>
          </a:prstGeom>
          <a:ln>
            <a:solidFill>
              <a:schemeClr val="tx1"/>
            </a:solidFill>
          </a:ln>
        </p:spPr>
      </p:pic>
      <p:sp>
        <p:nvSpPr>
          <p:cNvPr id="2" name="Title 1">
            <a:extLst>
              <a:ext uri="{FF2B5EF4-FFF2-40B4-BE49-F238E27FC236}">
                <a16:creationId xmlns:a16="http://schemas.microsoft.com/office/drawing/2014/main" id="{60AA201A-5C3C-4848-9E5E-21DFCD413745}"/>
              </a:ext>
            </a:extLst>
          </p:cNvPr>
          <p:cNvSpPr>
            <a:spLocks noGrp="1"/>
          </p:cNvSpPr>
          <p:nvPr>
            <p:ph type="title"/>
          </p:nvPr>
        </p:nvSpPr>
        <p:spPr>
          <a:xfrm>
            <a:off x="685800" y="304800"/>
            <a:ext cx="7772400" cy="1143000"/>
          </a:xfrm>
        </p:spPr>
        <p:txBody>
          <a:bodyPr/>
          <a:lstStyle/>
          <a:p>
            <a:r>
              <a:rPr lang="en-US" dirty="0"/>
              <a:t>ICI Publications</a:t>
            </a:r>
            <a:br>
              <a:rPr lang="en-US" dirty="0"/>
            </a:br>
            <a:r>
              <a:rPr lang="en-US" sz="2400" b="0" dirty="0">
                <a:hlinkClick r:id="rId4"/>
              </a:rPr>
              <a:t>https://covid19.communityinclusion.org</a:t>
            </a:r>
            <a:r>
              <a:rPr lang="en-US" sz="2400" b="0" dirty="0"/>
              <a:t> </a:t>
            </a:r>
          </a:p>
        </p:txBody>
      </p:sp>
      <p:sp>
        <p:nvSpPr>
          <p:cNvPr id="13" name="Rectangle 12">
            <a:extLst>
              <a:ext uri="{FF2B5EF4-FFF2-40B4-BE49-F238E27FC236}">
                <a16:creationId xmlns:a16="http://schemas.microsoft.com/office/drawing/2014/main" id="{982648BC-7F05-B649-BD89-42940699FD18}"/>
              </a:ex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4" name="Slide Number Placeholder 3">
            <a:extLst>
              <a:ext uri="{FF2B5EF4-FFF2-40B4-BE49-F238E27FC236}">
                <a16:creationId xmlns:a16="http://schemas.microsoft.com/office/drawing/2014/main" id="{41429D68-2034-644D-A987-3063CE7A7924}"/>
              </a:ext>
            </a:extLst>
          </p:cNvPr>
          <p:cNvSpPr>
            <a:spLocks noGrp="1"/>
          </p:cNvSpPr>
          <p:nvPr>
            <p:ph type="sldNum" sz="quarter" idx="12"/>
          </p:nvPr>
        </p:nvSpPr>
        <p:spPr>
          <a:xfrm>
            <a:off x="8648033" y="6400800"/>
            <a:ext cx="1905000" cy="457200"/>
          </a:xfrm>
        </p:spPr>
        <p:txBody>
          <a:bodyPr/>
          <a:lstStyle/>
          <a:p>
            <a:pPr>
              <a:defRPr/>
            </a:pPr>
            <a:fld id="{DADED417-B3A5-0247-A5EF-759E0B1E1E60}" type="slidenum">
              <a:rPr lang="en-US" altLang="en-US" sz="1400" smtClean="0"/>
              <a:pPr>
                <a:defRPr/>
              </a:pPr>
              <a:t>26</a:t>
            </a:fld>
            <a:endParaRPr lang="en-US" altLang="en-US" sz="1400" dirty="0"/>
          </a:p>
        </p:txBody>
      </p:sp>
    </p:spTree>
    <p:extLst>
      <p:ext uri="{BB962C8B-B14F-4D97-AF65-F5344CB8AC3E}">
        <p14:creationId xmlns:p14="http://schemas.microsoft.com/office/powerpoint/2010/main" val="189185298"/>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descr="Diagram showing questions and challenges regarding use of technology">
            <a:extLst>
              <a:ext uri="{FF2B5EF4-FFF2-40B4-BE49-F238E27FC236}">
                <a16:creationId xmlns:a16="http://schemas.microsoft.com/office/drawing/2014/main" id="{2F1269F8-39C1-8E47-AB2F-A9907D58F902}"/>
              </a:ext>
            </a:extLst>
          </p:cNvPr>
          <p:cNvGraphicFramePr/>
          <p:nvPr>
            <p:extLst>
              <p:ext uri="{D42A27DB-BD31-4B8C-83A1-F6EECF244321}">
                <p14:modId xmlns:p14="http://schemas.microsoft.com/office/powerpoint/2010/main" val="2605688003"/>
              </p:ext>
            </p:extLst>
          </p:nvPr>
        </p:nvGraphicFramePr>
        <p:xfrm>
          <a:off x="0" y="0"/>
          <a:ext cx="9144000" cy="6934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6">
            <a:extLst>
              <a:ext uri="{FF2B5EF4-FFF2-40B4-BE49-F238E27FC236}">
                <a16:creationId xmlns:a16="http://schemas.microsoft.com/office/drawing/2014/main" id="{61D4052A-2B31-D54C-BE9F-45B2EE3ED884}"/>
              </a:ext>
              <a:ext uri="{C183D7F6-B498-43B3-948B-1728B52AA6E4}">
                <adec:decorative xmlns:adec="http://schemas.microsoft.com/office/drawing/2017/decorative" val="1"/>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3429000" y="3429000"/>
            <a:ext cx="2932073" cy="1647825"/>
          </a:xfrm>
          <a:prstGeom prst="rect">
            <a:avLst/>
          </a:prstGeom>
        </p:spPr>
      </p:pic>
      <p:pic>
        <p:nvPicPr>
          <p:cNvPr id="9" name="Picture 8">
            <a:extLst>
              <a:ext uri="{FF2B5EF4-FFF2-40B4-BE49-F238E27FC236}">
                <a16:creationId xmlns:a16="http://schemas.microsoft.com/office/drawing/2014/main" id="{F0BE02D4-3532-B245-9C6F-CA6193DC340C}"/>
              </a:ext>
              <a:ext uri="{C183D7F6-B498-43B3-948B-1728B52AA6E4}">
                <adec:decorative xmlns:adec="http://schemas.microsoft.com/office/drawing/2017/decorative" val="1"/>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276600" y="1219200"/>
            <a:ext cx="1905000" cy="2032000"/>
          </a:xfrm>
          <a:prstGeom prst="rect">
            <a:avLst/>
          </a:prstGeom>
        </p:spPr>
      </p:pic>
      <p:sp>
        <p:nvSpPr>
          <p:cNvPr id="2" name="Title 1">
            <a:extLst>
              <a:ext uri="{FF2B5EF4-FFF2-40B4-BE49-F238E27FC236}">
                <a16:creationId xmlns:a16="http://schemas.microsoft.com/office/drawing/2014/main" id="{93B7F5CA-E5F3-9F4F-9885-B776C59DC2F6}"/>
              </a:ext>
            </a:extLst>
          </p:cNvPr>
          <p:cNvSpPr>
            <a:spLocks noGrp="1"/>
          </p:cNvSpPr>
          <p:nvPr>
            <p:ph type="title" idx="4294967295"/>
          </p:nvPr>
        </p:nvSpPr>
        <p:spPr>
          <a:xfrm>
            <a:off x="525066" y="-1822450"/>
            <a:ext cx="7772400" cy="1143000"/>
          </a:xfrm>
        </p:spPr>
        <p:txBody>
          <a:bodyPr/>
          <a:lstStyle/>
          <a:p>
            <a:r>
              <a:rPr lang="en-US" dirty="0"/>
              <a:t>Questions and Challenges</a:t>
            </a:r>
          </a:p>
        </p:txBody>
      </p:sp>
      <p:sp>
        <p:nvSpPr>
          <p:cNvPr id="6" name="Slide Number Placeholder 3">
            <a:extLst>
              <a:ext uri="{FF2B5EF4-FFF2-40B4-BE49-F238E27FC236}">
                <a16:creationId xmlns:a16="http://schemas.microsoft.com/office/drawing/2014/main" id="{EEBCF8C2-9FCF-5442-84F9-1A9F227FABCA}"/>
              </a:ext>
            </a:extLst>
          </p:cNvPr>
          <p:cNvSpPr txBox="1">
            <a:spLocks/>
          </p:cNvSpPr>
          <p:nvPr/>
        </p:nvSpPr>
        <p:spPr>
          <a:xfrm>
            <a:off x="8610600" y="6400800"/>
            <a:ext cx="1905000" cy="457200"/>
          </a:xfrm>
          <a:prstGeom prst="rect">
            <a:avLst/>
          </a:prstGeom>
        </p:spPr>
        <p:txBody>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5pPr>
            <a:lvl6pPr marL="22860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6pPr>
            <a:lvl7pPr marL="27432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7pPr>
            <a:lvl8pPr marL="32004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8pPr>
            <a:lvl9pPr marL="36576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9pPr>
          </a:lstStyle>
          <a:p>
            <a:pPr>
              <a:defRPr/>
            </a:pPr>
            <a:fld id="{DADED417-B3A5-0247-A5EF-759E0B1E1E60}" type="slidenum">
              <a:rPr lang="en-US" altLang="en-US" sz="1400" smtClean="0"/>
              <a:pPr>
                <a:defRPr/>
              </a:pPr>
              <a:t>27</a:t>
            </a:fld>
            <a:endParaRPr lang="en-US" altLang="en-US" sz="1400" dirty="0"/>
          </a:p>
        </p:txBody>
      </p:sp>
    </p:spTree>
    <p:extLst>
      <p:ext uri="{BB962C8B-B14F-4D97-AF65-F5344CB8AC3E}">
        <p14:creationId xmlns:p14="http://schemas.microsoft.com/office/powerpoint/2010/main" val="30459171"/>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895600" y="1905000"/>
            <a:ext cx="3120812" cy="2286000"/>
          </a:xfrm>
          <a:prstGeom prst="rect">
            <a:avLst/>
          </a:prstGeom>
        </p:spPr>
      </p:pic>
      <p:sp>
        <p:nvSpPr>
          <p:cNvPr id="3" name="Content Placeholder 2"/>
          <p:cNvSpPr>
            <a:spLocks noGrp="1"/>
          </p:cNvSpPr>
          <p:nvPr>
            <p:ph idx="1"/>
          </p:nvPr>
        </p:nvSpPr>
        <p:spPr>
          <a:xfrm>
            <a:off x="97367" y="4572000"/>
            <a:ext cx="8949265" cy="1482874"/>
          </a:xfrm>
        </p:spPr>
        <p:txBody>
          <a:bodyPr/>
          <a:lstStyle/>
          <a:p>
            <a:pPr algn="ctr">
              <a:spcBef>
                <a:spcPts val="1728"/>
              </a:spcBef>
            </a:pPr>
            <a:r>
              <a:rPr lang="en-US" sz="2200" b="0" dirty="0"/>
              <a:t>Be creative &amp; willing to try new things   </a:t>
            </a:r>
          </a:p>
          <a:p>
            <a:pPr algn="ctr">
              <a:spcBef>
                <a:spcPts val="1728"/>
              </a:spcBef>
            </a:pPr>
            <a:r>
              <a:rPr lang="en-US" sz="2200" b="0" dirty="0"/>
              <a:t>Increase expectations &amp; access </a:t>
            </a:r>
          </a:p>
          <a:p>
            <a:pPr algn="ctr">
              <a:spcBef>
                <a:spcPts val="1728"/>
              </a:spcBef>
            </a:pPr>
            <a:r>
              <a:rPr lang="en-US" sz="2200" b="0" dirty="0"/>
              <a:t>Return on investment </a:t>
            </a:r>
          </a:p>
          <a:p>
            <a:pPr marL="0" indent="0">
              <a:spcBef>
                <a:spcPts val="1728"/>
              </a:spcBef>
              <a:buNone/>
            </a:pPr>
            <a:endParaRPr lang="en-US" sz="2000" dirty="0"/>
          </a:p>
        </p:txBody>
      </p:sp>
      <p:sp>
        <p:nvSpPr>
          <p:cNvPr id="2" name="Title 1"/>
          <p:cNvSpPr>
            <a:spLocks noGrp="1"/>
          </p:cNvSpPr>
          <p:nvPr>
            <p:ph type="title"/>
          </p:nvPr>
        </p:nvSpPr>
        <p:spPr>
          <a:xfrm>
            <a:off x="685800" y="533400"/>
            <a:ext cx="7772400" cy="866502"/>
          </a:xfrm>
          <a:effectLst>
            <a:glow rad="139700">
              <a:schemeClr val="accent4">
                <a:satMod val="175000"/>
                <a:alpha val="40000"/>
              </a:schemeClr>
            </a:glow>
          </a:effectLst>
        </p:spPr>
        <p:style>
          <a:lnRef idx="1">
            <a:schemeClr val="accent5"/>
          </a:lnRef>
          <a:fillRef idx="2">
            <a:schemeClr val="accent5"/>
          </a:fillRef>
          <a:effectRef idx="1">
            <a:schemeClr val="accent5"/>
          </a:effectRef>
          <a:fontRef idx="minor">
            <a:schemeClr val="dk1"/>
          </a:fontRef>
        </p:style>
        <p:txBody>
          <a:bodyPr/>
          <a:lstStyle/>
          <a:p>
            <a:r>
              <a:rPr lang="en-US" cap="small" dirty="0"/>
              <a:t>Lessons Learned </a:t>
            </a:r>
          </a:p>
        </p:txBody>
      </p:sp>
      <p:sp>
        <p:nvSpPr>
          <p:cNvPr id="10" name="Rectangle 9">
            <a:extLs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5" name="Slide Number Placeholder 4">
            <a:extLst>
              <a:ext uri="{FF2B5EF4-FFF2-40B4-BE49-F238E27FC236}">
                <a16:creationId xmlns:a16="http://schemas.microsoft.com/office/drawing/2014/main" id="{991820D1-A032-D449-B7C8-FE35D3E3270F}"/>
              </a:ext>
            </a:extLst>
          </p:cNvPr>
          <p:cNvSpPr>
            <a:spLocks noGrp="1"/>
          </p:cNvSpPr>
          <p:nvPr>
            <p:ph type="sldNum" sz="quarter" idx="12"/>
          </p:nvPr>
        </p:nvSpPr>
        <p:spPr>
          <a:xfrm>
            <a:off x="8458200" y="6403741"/>
            <a:ext cx="1905000" cy="457200"/>
          </a:xfrm>
        </p:spPr>
        <p:txBody>
          <a:bodyPr/>
          <a:lstStyle/>
          <a:p>
            <a:pPr>
              <a:defRPr/>
            </a:pPr>
            <a:fld id="{F4F2C800-E6A5-EE47-9F5D-6559176AC179}" type="slidenum">
              <a:rPr lang="en-US" altLang="en-US" sz="1400" smtClean="0"/>
              <a:pPr>
                <a:defRPr/>
              </a:pPr>
              <a:t>28</a:t>
            </a:fld>
            <a:endParaRPr lang="en-US" altLang="en-US" sz="1400" dirty="0"/>
          </a:p>
        </p:txBody>
      </p:sp>
    </p:spTree>
    <p:extLst>
      <p:ext uri="{BB962C8B-B14F-4D97-AF65-F5344CB8AC3E}">
        <p14:creationId xmlns:p14="http://schemas.microsoft.com/office/powerpoint/2010/main" val="4109551157"/>
      </p:ext>
    </p:extLst>
  </p:cSld>
  <p:clrMapOvr>
    <a:masterClrMapping/>
  </p:clrMapOvr>
  <p:transition spd="slow">
    <p:wip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Missouri Assistive Technology">
            <a:extLst>
              <a:ext uri="{FF2B5EF4-FFF2-40B4-BE49-F238E27FC236}">
                <a16:creationId xmlns:a16="http://schemas.microsoft.com/office/drawing/2014/main" id="{E746AE97-3846-284E-8939-B11C759FC897}"/>
              </a:ext>
            </a:extLst>
          </p:cNvPr>
          <p:cNvPicPr>
            <a:picLocks noChangeAspect="1"/>
          </p:cNvPicPr>
          <p:nvPr/>
        </p:nvPicPr>
        <p:blipFill>
          <a:blip r:embed="rId2"/>
          <a:stretch>
            <a:fillRect/>
          </a:stretch>
        </p:blipFill>
        <p:spPr>
          <a:xfrm>
            <a:off x="304800" y="5105400"/>
            <a:ext cx="3827860" cy="681475"/>
          </a:xfrm>
          <a:prstGeom prst="rect">
            <a:avLst/>
          </a:prstGeom>
        </p:spPr>
      </p:pic>
      <p:sp>
        <p:nvSpPr>
          <p:cNvPr id="3" name="Content Placeholder 2"/>
          <p:cNvSpPr>
            <a:spLocks noGrp="1"/>
          </p:cNvSpPr>
          <p:nvPr>
            <p:ph idx="1"/>
          </p:nvPr>
        </p:nvSpPr>
        <p:spPr>
          <a:xfrm>
            <a:off x="211015" y="1825625"/>
            <a:ext cx="8304335" cy="4351338"/>
          </a:xfrm>
          <a:pattFill prst="pct5">
            <a:fgClr>
              <a:schemeClr val="bg1">
                <a:lumMod val="95000"/>
              </a:schemeClr>
            </a:fgClr>
            <a:bgClr>
              <a:schemeClr val="bg1"/>
            </a:bgClr>
          </a:pattFill>
        </p:spPr>
        <p:txBody>
          <a:bodyPr>
            <a:normAutofit/>
          </a:bodyPr>
          <a:lstStyle/>
          <a:p>
            <a:pPr marL="0" indent="0">
              <a:buNone/>
            </a:pPr>
            <a:r>
              <a:rPr lang="en-US" sz="3200" dirty="0"/>
              <a:t>“Using technology is 10% knowing the tech and 90% creativity.”</a:t>
            </a:r>
          </a:p>
          <a:p>
            <a:pPr marL="0" indent="0">
              <a:buNone/>
            </a:pPr>
            <a:endParaRPr lang="en-US" sz="3200" dirty="0"/>
          </a:p>
          <a:p>
            <a:pPr marL="0" indent="0">
              <a:buNone/>
            </a:pPr>
            <a:r>
              <a:rPr lang="en-US" sz="3200" dirty="0"/>
              <a:t>“Everyone can benefit from technology in some way. It is up to us to figure out how.”</a:t>
            </a:r>
          </a:p>
          <a:p>
            <a:pPr marL="0" indent="0" algn="ctr">
              <a:buNone/>
            </a:pPr>
            <a:endParaRPr lang="en-US" sz="3200" dirty="0"/>
          </a:p>
          <a:p>
            <a:pPr marL="0" indent="0" algn="ctr">
              <a:buNone/>
            </a:pPr>
            <a:r>
              <a:rPr lang="en-US" sz="3200" dirty="0"/>
              <a:t>                                                   </a:t>
            </a:r>
            <a:r>
              <a:rPr lang="en-US" sz="3200" b="1" dirty="0"/>
              <a:t>David Baker, </a:t>
            </a:r>
            <a:r>
              <a:rPr lang="en-US" sz="3200" b="1" dirty="0" err="1"/>
              <a:t>MoAT</a:t>
            </a:r>
            <a:r>
              <a:rPr lang="en-US" sz="3200" b="1" dirty="0"/>
              <a:t> </a:t>
            </a:r>
          </a:p>
        </p:txBody>
      </p:sp>
      <p:sp>
        <p:nvSpPr>
          <p:cNvPr id="2" name="Title 1"/>
          <p:cNvSpPr>
            <a:spLocks noGrp="1"/>
          </p:cNvSpPr>
          <p:nvPr>
            <p:ph type="title"/>
          </p:nvPr>
        </p:nvSpPr>
        <p:spPr/>
        <p:txBody>
          <a:bodyPr>
            <a:normAutofit fontScale="90000"/>
          </a:bodyPr>
          <a:lstStyle/>
          <a:p>
            <a:pPr algn="ctr"/>
            <a:r>
              <a:rPr lang="en-US" sz="7200" dirty="0" err="1">
                <a:solidFill>
                  <a:srgbClr val="0070C0"/>
                </a:solidFill>
                <a:latin typeface="Harlow Solid Italic" panose="04030604020F02020D02" pitchFamily="82" charset="0"/>
              </a:rPr>
              <a:t>Davidisms</a:t>
            </a:r>
            <a:endParaRPr lang="en-US" sz="7200" dirty="0">
              <a:solidFill>
                <a:srgbClr val="0070C0"/>
              </a:solidFill>
              <a:latin typeface="Harlow Solid Italic" panose="04030604020F02020D02" pitchFamily="82" charset="0"/>
            </a:endParaRPr>
          </a:p>
        </p:txBody>
      </p:sp>
      <p:sp>
        <p:nvSpPr>
          <p:cNvPr id="5" name="Rectangle 4">
            <a:extLst>
              <a:ext uri="{FF2B5EF4-FFF2-40B4-BE49-F238E27FC236}">
                <a16:creationId xmlns:a16="http://schemas.microsoft.com/office/drawing/2014/main" id="{1DBD1EE4-F40E-5748-827E-DD7BB221F4F4}"/>
              </a:ext>
              <a:ext uri="{C183D7F6-B498-43B3-948B-1728B52AA6E4}">
                <adec:decorative xmlns:adec="http://schemas.microsoft.com/office/drawing/2017/decorative" val="1"/>
              </a:ext>
            </a:extLst>
          </p:cNvPr>
          <p:cNvSpPr>
            <a:spLocks noChangeArrowheads="1"/>
          </p:cNvSpPr>
          <p:nvPr/>
        </p:nvSpPr>
        <p:spPr bwMode="auto">
          <a:xfrm>
            <a:off x="0" y="4333"/>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6" name="Slide Number Placeholder 5">
            <a:extLst>
              <a:ext uri="{FF2B5EF4-FFF2-40B4-BE49-F238E27FC236}">
                <a16:creationId xmlns:a16="http://schemas.microsoft.com/office/drawing/2014/main" id="{B2468E2E-69AB-D849-B924-D12D7C6C0127}"/>
              </a:ext>
            </a:extLst>
          </p:cNvPr>
          <p:cNvSpPr>
            <a:spLocks noGrp="1"/>
          </p:cNvSpPr>
          <p:nvPr>
            <p:ph type="sldNum" sz="quarter" idx="12"/>
          </p:nvPr>
        </p:nvSpPr>
        <p:spPr/>
        <p:txBody>
          <a:bodyPr/>
          <a:lstStyle/>
          <a:p>
            <a:fld id="{5D7CCB52-5D48-470B-B8DA-D8134110C94D}" type="slidenum">
              <a:rPr lang="en-US" smtClean="0"/>
              <a:t>29</a:t>
            </a:fld>
            <a:endParaRPr lang="en-US"/>
          </a:p>
        </p:txBody>
      </p:sp>
    </p:spTree>
    <p:extLst>
      <p:ext uri="{BB962C8B-B14F-4D97-AF65-F5344CB8AC3E}">
        <p14:creationId xmlns:p14="http://schemas.microsoft.com/office/powerpoint/2010/main" val="2166578568"/>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28600" y="2163996"/>
            <a:ext cx="4343400" cy="3763963"/>
          </a:xfrm>
        </p:spPr>
        <p:txBody>
          <a:bodyPr>
            <a:normAutofit/>
          </a:bodyPr>
          <a:lstStyle/>
          <a:p>
            <a:r>
              <a:rPr lang="en-US" sz="2000" dirty="0"/>
              <a:t>Alece Ausberger, Farmer’s House</a:t>
            </a:r>
          </a:p>
          <a:p>
            <a:r>
              <a:rPr lang="en-US" sz="2000" dirty="0"/>
              <a:t>David Baker, MO-AT </a:t>
            </a:r>
          </a:p>
          <a:p>
            <a:r>
              <a:rPr lang="en-US" sz="2000" dirty="0"/>
              <a:t>Rhian Beldon, LOQW</a:t>
            </a:r>
          </a:p>
          <a:p>
            <a:r>
              <a:rPr lang="en-US" sz="2000" dirty="0"/>
              <a:t>Kelly Cogan, Farmer’s House </a:t>
            </a:r>
          </a:p>
          <a:p>
            <a:r>
              <a:rPr lang="en-US" sz="2000" dirty="0"/>
              <a:t>David Hoff, ICI </a:t>
            </a:r>
          </a:p>
          <a:p>
            <a:r>
              <a:rPr lang="en-US" sz="2000" dirty="0"/>
              <a:t>Nick Holz, ICI</a:t>
            </a:r>
          </a:p>
          <a:p>
            <a:r>
              <a:rPr lang="en-US" sz="2000" dirty="0"/>
              <a:t>Brenda Knutson, Farmer’s House </a:t>
            </a:r>
          </a:p>
          <a:p>
            <a:r>
              <a:rPr lang="en-US" sz="2000" dirty="0"/>
              <a:t>Fontella Jackmon-Jones, ACT </a:t>
            </a:r>
          </a:p>
        </p:txBody>
      </p:sp>
      <p:sp>
        <p:nvSpPr>
          <p:cNvPr id="4" name="Content Placeholder 3"/>
          <p:cNvSpPr>
            <a:spLocks noGrp="1"/>
          </p:cNvSpPr>
          <p:nvPr>
            <p:ph sz="half" idx="2"/>
          </p:nvPr>
        </p:nvSpPr>
        <p:spPr>
          <a:xfrm>
            <a:off x="4800600" y="2201009"/>
            <a:ext cx="4343400" cy="3352799"/>
          </a:xfrm>
          <a:solidFill>
            <a:schemeClr val="bg1"/>
          </a:solidFill>
        </p:spPr>
        <p:txBody>
          <a:bodyPr>
            <a:noAutofit/>
          </a:bodyPr>
          <a:lstStyle/>
          <a:p>
            <a:r>
              <a:rPr lang="en-US" sz="2000" dirty="0"/>
              <a:t>Missy Johns, LOQW </a:t>
            </a:r>
          </a:p>
          <a:p>
            <a:r>
              <a:rPr lang="en-US" sz="2000" dirty="0"/>
              <a:t>Jessi Keenoy, ICI </a:t>
            </a:r>
          </a:p>
          <a:p>
            <a:r>
              <a:rPr lang="en-US" sz="2000" dirty="0"/>
              <a:t>Sandy Keyser, MO DMH DD</a:t>
            </a:r>
          </a:p>
          <a:p>
            <a:r>
              <a:rPr lang="en-US" sz="2000" dirty="0"/>
              <a:t>Jessica Mahon, ACT </a:t>
            </a:r>
          </a:p>
          <a:p>
            <a:r>
              <a:rPr lang="en-US" sz="2000" dirty="0"/>
              <a:t>Chaz Nickolaus, MO DD Council </a:t>
            </a:r>
          </a:p>
          <a:p>
            <a:r>
              <a:rPr lang="en-US" sz="2000" dirty="0"/>
              <a:t>Cory Schlegel, ACT </a:t>
            </a:r>
          </a:p>
          <a:p>
            <a:r>
              <a:rPr lang="en-US" sz="2000" dirty="0"/>
              <a:t>Duane Shumate, MO DMH DD </a:t>
            </a:r>
          </a:p>
          <a:p>
            <a:r>
              <a:rPr lang="en-US" sz="2000" dirty="0"/>
              <a:t>Steven Taylor, MO DMD DD</a:t>
            </a:r>
          </a:p>
        </p:txBody>
      </p:sp>
      <p:sp>
        <p:nvSpPr>
          <p:cNvPr id="8" name="Title 7"/>
          <p:cNvSpPr>
            <a:spLocks noGrp="1"/>
          </p:cNvSpPr>
          <p:nvPr>
            <p:ph type="title"/>
          </p:nvPr>
        </p:nvSpPr>
        <p:spPr>
          <a:xfrm rot="10800000" flipV="1">
            <a:off x="457201" y="533400"/>
            <a:ext cx="8305800" cy="1295400"/>
          </a:xfrm>
          <a:gradFill flip="none" rotWithShape="1">
            <a:gsLst>
              <a:gs pos="26000">
                <a:schemeClr val="accent5">
                  <a:lumMod val="5000"/>
                  <a:lumOff val="95000"/>
                </a:schemeClr>
              </a:gs>
              <a:gs pos="100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effectLst>
            <a:glow rad="101600">
              <a:schemeClr val="accent1">
                <a:satMod val="175000"/>
                <a:alpha val="40000"/>
              </a:schemeClr>
            </a:glow>
          </a:effectLst>
        </p:spPr>
        <p:txBody>
          <a:bodyPr>
            <a:normAutofit/>
          </a:bodyPr>
          <a:lstStyle/>
          <a:p>
            <a:r>
              <a:rPr lang="en-US" sz="3600" b="1" dirty="0"/>
              <a:t>Special Thanks to the Missouri Technology Pilot Learning Community!</a:t>
            </a:r>
          </a:p>
        </p:txBody>
      </p:sp>
      <p:sp>
        <p:nvSpPr>
          <p:cNvPr id="10" name="Rectangle 9">
            <a:extLs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Geneva" panose="020B0503030404040204" pitchFamily="34" charset="0"/>
              <a:cs typeface="+mn-cs"/>
            </a:endParaRPr>
          </a:p>
        </p:txBody>
      </p:sp>
      <p:sp>
        <p:nvSpPr>
          <p:cNvPr id="5" name="Slide Number Placeholder 4">
            <a:extLst>
              <a:ext uri="{FF2B5EF4-FFF2-40B4-BE49-F238E27FC236}">
                <a16:creationId xmlns:a16="http://schemas.microsoft.com/office/drawing/2014/main" id="{A1E488DD-900C-9448-BAE0-29F91C243924}"/>
              </a:ext>
            </a:extLst>
          </p:cNvPr>
          <p:cNvSpPr>
            <a:spLocks noGrp="1"/>
          </p:cNvSpPr>
          <p:nvPr>
            <p:ph type="sldNum" sz="quarter" idx="12"/>
          </p:nvPr>
        </p:nvSpPr>
        <p:spPr/>
        <p:txBody>
          <a:bodyPr/>
          <a:lstStyle/>
          <a:p>
            <a:fld id="{5D7CCB52-5D48-470B-B8DA-D8134110C94D}" type="slidenum">
              <a:rPr lang="en-US" smtClean="0"/>
              <a:t>30</a:t>
            </a:fld>
            <a:endParaRPr lang="en-US"/>
          </a:p>
        </p:txBody>
      </p:sp>
      <p:pic>
        <p:nvPicPr>
          <p:cNvPr id="7" name="Shape 85" descr="Employment First Missouri logo">
            <a:extLst>
              <a:ext uri="{FF2B5EF4-FFF2-40B4-BE49-F238E27FC236}">
                <a16:creationId xmlns:a16="http://schemas.microsoft.com/office/drawing/2014/main" id="{008C65A4-96A0-C243-9051-05CD4270D315}"/>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814182" y="5372335"/>
            <a:ext cx="1265459" cy="1111247"/>
          </a:xfrm>
          <a:prstGeom prst="rect">
            <a:avLst/>
          </a:prstGeom>
          <a:noFill/>
          <a:ln>
            <a:noFill/>
          </a:ln>
        </p:spPr>
      </p:pic>
      <p:pic>
        <p:nvPicPr>
          <p:cNvPr id="9" name="Picture 8" descr="Logo of technology first Missouri">
            <a:extLst>
              <a:ext uri="{FF2B5EF4-FFF2-40B4-BE49-F238E27FC236}">
                <a16:creationId xmlns:a16="http://schemas.microsoft.com/office/drawing/2014/main" id="{0BC02B9A-7707-044A-971E-BDE3241EF67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19451" y="5400875"/>
            <a:ext cx="1097436" cy="1108410"/>
          </a:xfrm>
          <a:prstGeom prst="rect">
            <a:avLst/>
          </a:prstGeom>
        </p:spPr>
      </p:pic>
    </p:spTree>
    <p:extLst>
      <p:ext uri="{BB962C8B-B14F-4D97-AF65-F5344CB8AC3E}">
        <p14:creationId xmlns:p14="http://schemas.microsoft.com/office/powerpoint/2010/main" val="2015973512"/>
      </p:ext>
    </p:extLst>
  </p:cSld>
  <p:clrMapOvr>
    <a:masterClrMapping/>
  </p:clrMapOvr>
  <p:transition spd="slow">
    <p:wip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pattFill prst="pct20">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10" name="Rectangle 9">
            <a:extLs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Geneva" panose="020B0503030404040204" pitchFamily="34" charset="0"/>
              <a:cs typeface="+mn-cs"/>
            </a:endParaRPr>
          </a:p>
        </p:txBody>
      </p:sp>
      <p:sp>
        <p:nvSpPr>
          <p:cNvPr id="5" name="Rectangle 4">
            <a:extLst>
              <a:ext uri="{C183D7F6-B498-43B3-948B-1728B52AA6E4}">
                <adec:decorative xmlns:adec="http://schemas.microsoft.com/office/drawing/2017/decorative" val="1"/>
              </a:ext>
            </a:extLst>
          </p:cNvPr>
          <p:cNvSpPr/>
          <p:nvPr/>
        </p:nvSpPr>
        <p:spPr>
          <a:xfrm>
            <a:off x="0" y="5029200"/>
            <a:ext cx="9144000" cy="1828799"/>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endParaRPr>
          </a:p>
        </p:txBody>
      </p:sp>
      <p:pic>
        <p:nvPicPr>
          <p:cNvPr id="6" name="Picture 5" descr="Institute for Community Inclusion"/>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2335" y="6071810"/>
            <a:ext cx="4309872" cy="762000"/>
          </a:xfrm>
          <a:prstGeom prst="rect">
            <a:avLst/>
          </a:prstGeom>
        </p:spPr>
      </p:pic>
      <p:sp>
        <p:nvSpPr>
          <p:cNvPr id="15" name="Rectangle 14"/>
          <p:cNvSpPr/>
          <p:nvPr/>
        </p:nvSpPr>
        <p:spPr>
          <a:xfrm>
            <a:off x="4595446" y="3527477"/>
            <a:ext cx="4191000" cy="1015663"/>
          </a:xfrm>
          <a:prstGeom prst="rect">
            <a:avLst/>
          </a:prstGeom>
          <a:ln>
            <a:noFill/>
          </a:ln>
        </p:spPr>
        <p:txBody>
          <a:bodyPr wrap="square">
            <a:spAutoFit/>
          </a:bodyPr>
          <a:lstStyle/>
          <a:p>
            <a:pPr marL="0" marR="0" lvl="0" indent="0" algn="l" defTabSz="914400" rtl="0" eaLnBrk="0" fontAlgn="base" latinLnBrk="0" hangingPunct="0">
              <a:lnSpc>
                <a:spcPct val="100000"/>
              </a:lnSpc>
              <a:spcBef>
                <a:spcPts val="360"/>
              </a:spcBef>
              <a:spcAft>
                <a:spcPct val="0"/>
              </a:spcAft>
              <a:buClr>
                <a:srgbClr val="000000"/>
              </a:buClr>
              <a:buSzPts val="3200"/>
              <a:buFontTx/>
              <a:buNone/>
              <a:tabLst/>
              <a:defRPr/>
            </a:pPr>
            <a:r>
              <a:rPr kumimoji="0" lang="en-US" sz="2000" b="1" i="0" u="none" strike="noStrike" kern="0" cap="none" spc="0" normalizeH="0" baseline="0" noProof="0" dirty="0">
                <a:ln>
                  <a:noFill/>
                </a:ln>
                <a:solidFill>
                  <a:srgbClr val="000000"/>
                </a:solidFill>
                <a:effectLst/>
                <a:uLnTx/>
                <a:uFillTx/>
                <a:latin typeface="Arial"/>
                <a:ea typeface="Geneva" panose="020B0503030404040204" pitchFamily="34" charset="0"/>
                <a:cs typeface="Arial"/>
                <a:sym typeface="Arial"/>
              </a:rPr>
              <a:t>Jessi Keenoy:</a:t>
            </a:r>
            <a:br>
              <a:rPr kumimoji="0" lang="en-US" sz="2000" b="0" i="0" u="none" strike="noStrike" kern="0" cap="none" spc="0" normalizeH="0" baseline="0" noProof="0" dirty="0">
                <a:ln>
                  <a:noFill/>
                </a:ln>
                <a:solidFill>
                  <a:srgbClr val="000000"/>
                </a:solidFill>
                <a:effectLst/>
                <a:uLnTx/>
                <a:uFillTx/>
                <a:latin typeface="Arial"/>
                <a:ea typeface="Geneva" panose="020B0503030404040204" pitchFamily="34" charset="0"/>
                <a:cs typeface="Arial"/>
                <a:sym typeface="Arial"/>
              </a:rPr>
            </a:br>
            <a:r>
              <a:rPr kumimoji="0" lang="en-US" sz="2000" b="0" i="0" u="none" strike="noStrike" kern="0" cap="none" spc="0" normalizeH="0" baseline="0" noProof="0" dirty="0">
                <a:ln>
                  <a:noFill/>
                </a:ln>
                <a:solidFill>
                  <a:srgbClr val="000000"/>
                </a:solidFill>
                <a:effectLst/>
                <a:uLnTx/>
                <a:uFillTx/>
                <a:latin typeface="Arial"/>
                <a:ea typeface="Geneva" panose="020B0503030404040204" pitchFamily="34" charset="0"/>
                <a:cs typeface="Arial"/>
                <a:sym typeface="Arial"/>
              </a:rPr>
              <a:t>Email:   </a:t>
            </a:r>
            <a:r>
              <a:rPr kumimoji="0" lang="en-US" sz="2000" b="0" i="0" u="none" strike="noStrike" kern="0" cap="none" spc="0" normalizeH="0" baseline="0" noProof="0" dirty="0">
                <a:ln>
                  <a:noFill/>
                </a:ln>
                <a:solidFill>
                  <a:srgbClr val="000000"/>
                </a:solidFill>
                <a:effectLst/>
                <a:uLnTx/>
                <a:uFillTx/>
                <a:latin typeface="Arial"/>
                <a:ea typeface="Geneva" panose="020B0503030404040204" pitchFamily="34" charset="0"/>
                <a:cs typeface="Arial"/>
                <a:sym typeface="Arial"/>
                <a:hlinkClick r:id="rId4"/>
              </a:rPr>
              <a:t>jessica.keenoy@umb.edu</a:t>
            </a:r>
            <a:r>
              <a:rPr kumimoji="0" lang="en-US" sz="2000" b="0" i="0" u="none" strike="noStrike" kern="0" cap="none" spc="0" normalizeH="0" baseline="0" noProof="0" dirty="0">
                <a:ln>
                  <a:noFill/>
                </a:ln>
                <a:solidFill>
                  <a:srgbClr val="000000"/>
                </a:solidFill>
                <a:effectLst/>
                <a:uLnTx/>
                <a:uFillTx/>
                <a:latin typeface="Arial"/>
                <a:ea typeface="Geneva" panose="020B0503030404040204" pitchFamily="34" charset="0"/>
                <a:cs typeface="Arial"/>
                <a:sym typeface="Arial"/>
              </a:rPr>
              <a:t> </a:t>
            </a:r>
            <a:br>
              <a:rPr kumimoji="0" lang="en-US" sz="2000" b="0" i="0" u="none" strike="noStrike" kern="0" cap="none" spc="0" normalizeH="0" baseline="0" noProof="0" dirty="0">
                <a:ln>
                  <a:noFill/>
                </a:ln>
                <a:solidFill>
                  <a:srgbClr val="000000"/>
                </a:solidFill>
                <a:effectLst/>
                <a:uLnTx/>
                <a:uFillTx/>
                <a:latin typeface="Arial"/>
                <a:ea typeface="Geneva" panose="020B0503030404040204" pitchFamily="34" charset="0"/>
                <a:cs typeface="Arial"/>
                <a:sym typeface="Arial"/>
              </a:rPr>
            </a:br>
            <a:r>
              <a:rPr kumimoji="0" lang="en-US" sz="2000" b="0" i="0" u="none" strike="noStrike" kern="0" cap="none" spc="0" normalizeH="0" baseline="0" noProof="0" dirty="0">
                <a:ln>
                  <a:noFill/>
                </a:ln>
                <a:solidFill>
                  <a:srgbClr val="000000"/>
                </a:solidFill>
                <a:effectLst/>
                <a:uLnTx/>
                <a:uFillTx/>
                <a:latin typeface="Arial"/>
                <a:ea typeface="Geneva" panose="020B0503030404040204" pitchFamily="34" charset="0"/>
                <a:cs typeface="Arial"/>
                <a:sym typeface="Arial"/>
              </a:rPr>
              <a:t>Phone:   573.303.8770 </a:t>
            </a:r>
          </a:p>
        </p:txBody>
      </p:sp>
      <p:sp>
        <p:nvSpPr>
          <p:cNvPr id="14" name="TextBox 13"/>
          <p:cNvSpPr txBox="1"/>
          <p:nvPr/>
        </p:nvSpPr>
        <p:spPr>
          <a:xfrm>
            <a:off x="313607" y="3527477"/>
            <a:ext cx="4038600" cy="1015663"/>
          </a:xfrm>
          <a:prstGeom prst="rect">
            <a:avLst/>
          </a:prstGeom>
          <a:noFill/>
          <a:ln>
            <a:noFill/>
          </a:ln>
        </p:spPr>
        <p:txBody>
          <a:bodyPr wrap="square" rtlCol="0">
            <a:spAutoFit/>
          </a:bodyPr>
          <a:lstStyle/>
          <a:p>
            <a:pPr marL="0" marR="0" lvl="0" indent="0" algn="l" defTabSz="914400" rtl="0" eaLnBrk="0" fontAlgn="base" latinLnBrk="0" hangingPunct="0">
              <a:lnSpc>
                <a:spcPct val="100000"/>
              </a:lnSpc>
              <a:spcBef>
                <a:spcPts val="360"/>
              </a:spcBef>
              <a:spcAft>
                <a:spcPct val="0"/>
              </a:spcAft>
              <a:buClr>
                <a:srgbClr val="000000"/>
              </a:buClr>
              <a:buSzTx/>
              <a:buFontTx/>
              <a:buNone/>
              <a:tabLst/>
              <a:defRPr/>
            </a:pPr>
            <a:r>
              <a:rPr kumimoji="0" lang="en-US" sz="2000" b="1" i="0" u="none" strike="noStrike" kern="0" cap="none" spc="0" normalizeH="0" baseline="0" noProof="0" dirty="0">
                <a:ln>
                  <a:noFill/>
                </a:ln>
                <a:solidFill>
                  <a:srgbClr val="000000"/>
                </a:solidFill>
                <a:effectLst/>
                <a:uLnTx/>
                <a:uFillTx/>
                <a:latin typeface="Arial"/>
                <a:ea typeface="Geneva" panose="020B0503030404040204" pitchFamily="34" charset="0"/>
                <a:cs typeface="Arial"/>
                <a:sym typeface="Arial"/>
              </a:rPr>
              <a:t>David Hoff:</a:t>
            </a:r>
            <a:br>
              <a:rPr kumimoji="0" lang="en-US" sz="2000" b="0" i="0" u="none" strike="noStrike" kern="0" cap="none" spc="0" normalizeH="0" baseline="0" noProof="0" dirty="0">
                <a:ln>
                  <a:noFill/>
                </a:ln>
                <a:solidFill>
                  <a:srgbClr val="000000"/>
                </a:solidFill>
                <a:effectLst/>
                <a:uLnTx/>
                <a:uFillTx/>
                <a:latin typeface="Arial"/>
                <a:ea typeface="Geneva" panose="020B0503030404040204" pitchFamily="34" charset="0"/>
                <a:cs typeface="Arial"/>
                <a:sym typeface="Arial"/>
              </a:rPr>
            </a:br>
            <a:r>
              <a:rPr kumimoji="0" lang="en-US" sz="2000" b="0" i="0" u="none" strike="noStrike" kern="0" cap="none" spc="0" normalizeH="0" baseline="0" noProof="0" dirty="0">
                <a:ln>
                  <a:noFill/>
                </a:ln>
                <a:solidFill>
                  <a:srgbClr val="000000"/>
                </a:solidFill>
                <a:effectLst/>
                <a:uLnTx/>
                <a:uFillTx/>
                <a:latin typeface="Arial"/>
                <a:ea typeface="Geneva" panose="020B0503030404040204" pitchFamily="34" charset="0"/>
                <a:cs typeface="Arial"/>
                <a:sym typeface="Arial"/>
              </a:rPr>
              <a:t>Email:   </a:t>
            </a:r>
            <a:r>
              <a:rPr kumimoji="0" lang="en-US" sz="2000" b="0" i="0" u="none" strike="noStrike" kern="0" cap="none" spc="0" normalizeH="0" baseline="0" noProof="0" dirty="0">
                <a:ln>
                  <a:noFill/>
                </a:ln>
                <a:solidFill>
                  <a:srgbClr val="000000"/>
                </a:solidFill>
                <a:effectLst/>
                <a:uLnTx/>
                <a:uFillTx/>
                <a:latin typeface="Arial"/>
                <a:ea typeface="Geneva" panose="020B0503030404040204" pitchFamily="34" charset="0"/>
                <a:cs typeface="Arial"/>
                <a:sym typeface="Arial"/>
                <a:hlinkClick r:id="rId5"/>
              </a:rPr>
              <a:t>david.hoff@umb.edu</a:t>
            </a:r>
            <a:r>
              <a:rPr kumimoji="0" lang="en-US" sz="2000" b="0" i="0" u="none" strike="noStrike" kern="0" cap="none" spc="0" normalizeH="0" baseline="0" noProof="0" dirty="0">
                <a:ln>
                  <a:noFill/>
                </a:ln>
                <a:solidFill>
                  <a:srgbClr val="000000"/>
                </a:solidFill>
                <a:effectLst/>
                <a:uLnTx/>
                <a:uFillTx/>
                <a:latin typeface="Arial"/>
                <a:ea typeface="Geneva" panose="020B0503030404040204" pitchFamily="34" charset="0"/>
                <a:cs typeface="Arial"/>
                <a:sym typeface="Arial"/>
              </a:rPr>
              <a:t> </a:t>
            </a:r>
            <a:br>
              <a:rPr kumimoji="0" lang="en-US" sz="2000" b="0" i="0" u="none" strike="noStrike" kern="0" cap="none" spc="0" normalizeH="0" baseline="0" noProof="0" dirty="0">
                <a:ln>
                  <a:noFill/>
                </a:ln>
                <a:solidFill>
                  <a:srgbClr val="000000"/>
                </a:solidFill>
                <a:effectLst/>
                <a:uLnTx/>
                <a:uFillTx/>
                <a:latin typeface="Arial"/>
                <a:ea typeface="Geneva" panose="020B0503030404040204" pitchFamily="34" charset="0"/>
                <a:cs typeface="Arial"/>
                <a:sym typeface="Arial"/>
              </a:rPr>
            </a:br>
            <a:r>
              <a:rPr kumimoji="0" lang="en-US" sz="2000" b="0" i="0" u="none" strike="noStrike" kern="0" cap="none" spc="0" normalizeH="0" baseline="0" noProof="0" dirty="0">
                <a:ln>
                  <a:noFill/>
                </a:ln>
                <a:solidFill>
                  <a:srgbClr val="000000"/>
                </a:solidFill>
                <a:effectLst/>
                <a:uLnTx/>
                <a:uFillTx/>
                <a:latin typeface="Arial"/>
                <a:ea typeface="Geneva" panose="020B0503030404040204" pitchFamily="34" charset="0"/>
                <a:cs typeface="Arial"/>
                <a:sym typeface="Arial"/>
              </a:rPr>
              <a:t>Phone:   617.480.9230</a:t>
            </a:r>
          </a:p>
        </p:txBody>
      </p:sp>
      <p:pic>
        <p:nvPicPr>
          <p:cNvPr id="13" name="Picture 12" descr="Thank You">
            <a:extLst>
              <a:ext uri="{FF2B5EF4-FFF2-40B4-BE49-F238E27FC236}">
                <a16:creationId xmlns:a16="http://schemas.microsoft.com/office/drawing/2014/main" id="{4F4942C6-1514-B441-B1C2-04B41A615A6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567245" y="663017"/>
            <a:ext cx="3857110" cy="2651760"/>
          </a:xfrm>
          <a:prstGeom prst="rect">
            <a:avLst/>
          </a:prstGeom>
        </p:spPr>
      </p:pic>
      <p:sp>
        <p:nvSpPr>
          <p:cNvPr id="2" name="Title 1">
            <a:extLst>
              <a:ext uri="{FF2B5EF4-FFF2-40B4-BE49-F238E27FC236}">
                <a16:creationId xmlns:a16="http://schemas.microsoft.com/office/drawing/2014/main" id="{651405E0-BCBA-3F45-90A4-B6B4140835D2}"/>
              </a:ext>
            </a:extLst>
          </p:cNvPr>
          <p:cNvSpPr>
            <a:spLocks noGrp="1"/>
          </p:cNvSpPr>
          <p:nvPr>
            <p:ph type="title"/>
          </p:nvPr>
        </p:nvSpPr>
        <p:spPr>
          <a:xfrm>
            <a:off x="381000" y="-1388227"/>
            <a:ext cx="8229600" cy="1143000"/>
          </a:xfrm>
        </p:spPr>
        <p:txBody>
          <a:bodyPr/>
          <a:lstStyle/>
          <a:p>
            <a:r>
              <a:rPr lang="en-US" dirty="0"/>
              <a:t>Contact Information</a:t>
            </a:r>
          </a:p>
        </p:txBody>
      </p:sp>
      <p:sp>
        <p:nvSpPr>
          <p:cNvPr id="3" name="Slide Number Placeholder 2">
            <a:extLst>
              <a:ext uri="{FF2B5EF4-FFF2-40B4-BE49-F238E27FC236}">
                <a16:creationId xmlns:a16="http://schemas.microsoft.com/office/drawing/2014/main" id="{48677898-CDB0-EF4E-A0FB-5BD9C676BF3D}"/>
              </a:ext>
            </a:extLst>
          </p:cNvPr>
          <p:cNvSpPr>
            <a:spLocks noGrp="1"/>
          </p:cNvSpPr>
          <p:nvPr>
            <p:ph type="sldNum" sz="quarter" idx="12"/>
          </p:nvPr>
        </p:nvSpPr>
        <p:spPr>
          <a:xfrm>
            <a:off x="6797625" y="367464"/>
            <a:ext cx="2133600" cy="365125"/>
          </a:xfrm>
        </p:spPr>
        <p:txBody>
          <a:bodyPr/>
          <a:lstStyle/>
          <a:p>
            <a:fld id="{5D7CCB52-5D48-470B-B8DA-D8134110C94D}" type="slidenum">
              <a:rPr lang="en-US" smtClean="0"/>
              <a:t>31</a:t>
            </a:fld>
            <a:endParaRPr lang="en-US" dirty="0"/>
          </a:p>
        </p:txBody>
      </p:sp>
      <p:sp>
        <p:nvSpPr>
          <p:cNvPr id="12" name="TextBox 11">
            <a:extLst>
              <a:ext uri="{FF2B5EF4-FFF2-40B4-BE49-F238E27FC236}">
                <a16:creationId xmlns:a16="http://schemas.microsoft.com/office/drawing/2014/main" id="{D59E585F-17C0-4E49-8FBF-45A253056079}"/>
              </a:ext>
            </a:extLst>
          </p:cNvPr>
          <p:cNvSpPr txBox="1"/>
          <p:nvPr/>
        </p:nvSpPr>
        <p:spPr>
          <a:xfrm>
            <a:off x="4577861" y="6234072"/>
            <a:ext cx="4467663" cy="461665"/>
          </a:xfrm>
          <a:prstGeom prst="rect">
            <a:avLst/>
          </a:prstGeom>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dirty="0">
                <a:solidFill>
                  <a:schemeClr val="bg1"/>
                </a:solidFill>
                <a:hlinkClick r:id="rId7">
                  <a:extLst>
                    <a:ext uri="{A12FA001-AC4F-418D-AE19-62706E023703}">
                      <ahyp:hlinkClr xmlns:ahyp="http://schemas.microsoft.com/office/drawing/2018/hyperlinkcolor" val="tx"/>
                    </a:ext>
                  </a:extLst>
                </a:hlinkClick>
              </a:rPr>
              <a:t>www.communityinclusion.org</a:t>
            </a:r>
            <a:endParaRPr lang="en-US" dirty="0">
              <a:solidFill>
                <a:schemeClr val="bg1"/>
              </a:solidFill>
            </a:endParaRPr>
          </a:p>
        </p:txBody>
      </p:sp>
      <p:sp>
        <p:nvSpPr>
          <p:cNvPr id="4" name="TextBox 3">
            <a:extLst>
              <a:ext uri="{FF2B5EF4-FFF2-40B4-BE49-F238E27FC236}">
                <a16:creationId xmlns:a16="http://schemas.microsoft.com/office/drawing/2014/main" id="{149D07B5-BD76-2448-83ED-BDAD5104A251}"/>
              </a:ext>
            </a:extLst>
          </p:cNvPr>
          <p:cNvSpPr txBox="1"/>
          <p:nvPr/>
        </p:nvSpPr>
        <p:spPr>
          <a:xfrm>
            <a:off x="4570827" y="5284934"/>
            <a:ext cx="4474697" cy="461665"/>
          </a:xfrm>
          <a:prstGeom prst="rect">
            <a:avLst/>
          </a:prstGeom>
          <a:scene3d>
            <a:camera prst="orthographicFront"/>
            <a:lightRig rig="threePt" dir="t"/>
          </a:scene3d>
          <a:sp3d>
            <a:bevelT/>
          </a:sp3d>
        </p:spPr>
        <p:style>
          <a:lnRef idx="1">
            <a:schemeClr val="accent2"/>
          </a:lnRef>
          <a:fillRef idx="3">
            <a:schemeClr val="accent2"/>
          </a:fillRef>
          <a:effectRef idx="2">
            <a:schemeClr val="accent2"/>
          </a:effectRef>
          <a:fontRef idx="minor">
            <a:schemeClr val="lt1"/>
          </a:fontRef>
        </p:style>
        <p:txBody>
          <a:bodyPr wrap="square" rtlCol="0">
            <a:spAutoFit/>
          </a:bodyPr>
          <a:lstStyle/>
          <a:p>
            <a:pPr algn="ctr"/>
            <a:r>
              <a:rPr lang="en-US" dirty="0">
                <a:solidFill>
                  <a:schemeClr val="bg1"/>
                </a:solidFill>
                <a:hlinkClick r:id="rId8">
                  <a:extLst>
                    <a:ext uri="{A12FA001-AC4F-418D-AE19-62706E023703}">
                      <ahyp:hlinkClr xmlns:ahyp="http://schemas.microsoft.com/office/drawing/2018/hyperlinkcolor" val="tx"/>
                    </a:ext>
                  </a:extLst>
                </a:hlinkClick>
              </a:rPr>
              <a:t>https://employmentfirstmo.org</a:t>
            </a:r>
            <a:r>
              <a:rPr lang="en-US" dirty="0">
                <a:solidFill>
                  <a:schemeClr val="bg1"/>
                </a:solidFill>
              </a:rPr>
              <a:t> </a:t>
            </a:r>
          </a:p>
        </p:txBody>
      </p:sp>
      <p:pic>
        <p:nvPicPr>
          <p:cNvPr id="16" name="Shape 85" descr="Employment First Missouri logo">
            <a:extLst>
              <a:ext uri="{FF2B5EF4-FFF2-40B4-BE49-F238E27FC236}">
                <a16:creationId xmlns:a16="http://schemas.microsoft.com/office/drawing/2014/main" id="{7067ACD2-656B-844F-9E47-C6CF15EF7651}"/>
              </a:ext>
            </a:extLst>
          </p:cNvPr>
          <p:cNvPicPr preferRelativeResize="0"/>
          <p:nvPr/>
        </p:nvPicPr>
        <p:blipFill rotWithShape="1">
          <a:blip r:embed="rId9" cstate="screen">
            <a:alphaModFix/>
            <a:extLst>
              <a:ext uri="{28A0092B-C50C-407E-A947-70E740481C1C}">
                <a14:useLocalDpi xmlns:a14="http://schemas.microsoft.com/office/drawing/2010/main"/>
              </a:ext>
            </a:extLst>
          </a:blip>
          <a:srcRect/>
          <a:stretch/>
        </p:blipFill>
        <p:spPr>
          <a:xfrm>
            <a:off x="42335" y="5088288"/>
            <a:ext cx="909493" cy="828525"/>
          </a:xfrm>
          <a:prstGeom prst="rect">
            <a:avLst/>
          </a:prstGeom>
          <a:noFill/>
          <a:ln>
            <a:noFill/>
          </a:ln>
        </p:spPr>
      </p:pic>
      <p:cxnSp>
        <p:nvCxnSpPr>
          <p:cNvPr id="18" name="Straight Connector 17">
            <a:extLst>
              <a:ext uri="{FF2B5EF4-FFF2-40B4-BE49-F238E27FC236}">
                <a16:creationId xmlns:a16="http://schemas.microsoft.com/office/drawing/2014/main" id="{259B6B44-F03A-4941-AD7E-3409FA45A11B}"/>
              </a:ext>
              <a:ext uri="{C183D7F6-B498-43B3-948B-1728B52AA6E4}">
                <adec:decorative xmlns:adec="http://schemas.microsoft.com/office/drawing/2017/decorative" val="1"/>
              </a:ext>
            </a:extLst>
          </p:cNvPr>
          <p:cNvCxnSpPr/>
          <p:nvPr/>
        </p:nvCxnSpPr>
        <p:spPr>
          <a:xfrm>
            <a:off x="-1173" y="5029200"/>
            <a:ext cx="9144000" cy="0"/>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6855409"/>
      </p:ext>
    </p:extLst>
  </p:cSld>
  <p:clrMapOvr>
    <a:masterClrMapping/>
  </p:clrMapOvr>
  <p:transition spd="slow">
    <p:wip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Verdana"/>
        <a:ea typeface="Osaka"/>
        <a:cs typeface=""/>
      </a:majorFont>
      <a:minorFont>
        <a:latin typeface="Verdana"/>
        <a:ea typeface="Osaka"/>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ea typeface="Geneva" panose="020B05030304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ea typeface="Geneva" panose="020B0503030404040204"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gear connection">
      <a:dk1>
        <a:sysClr val="windowText" lastClr="000000"/>
      </a:dk1>
      <a:lt1>
        <a:sysClr val="window" lastClr="FFFFFF"/>
      </a:lt1>
      <a:dk2>
        <a:srgbClr val="494429"/>
      </a:dk2>
      <a:lt2>
        <a:srgbClr val="EEECE1"/>
      </a:lt2>
      <a:accent1>
        <a:srgbClr val="0070C0"/>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Macintosh HD:Applications:Microsoft Office 2004:Templates:Presentations:Designs:Blank Presentation</Template>
  <TotalTime>2406</TotalTime>
  <Words>1448</Words>
  <Application>Microsoft Macintosh PowerPoint</Application>
  <PresentationFormat>On-screen Show (4:3)</PresentationFormat>
  <Paragraphs>298</Paragraphs>
  <Slides>31</Slides>
  <Notes>27</Notes>
  <HiddenSlides>0</HiddenSlides>
  <MMClips>1</MMClips>
  <ScaleCrop>false</ScaleCrop>
  <HeadingPairs>
    <vt:vector size="8" baseType="variant">
      <vt:variant>
        <vt:lpstr>Fonts Used</vt:lpstr>
      </vt:variant>
      <vt:variant>
        <vt:i4>9</vt:i4>
      </vt:variant>
      <vt:variant>
        <vt:lpstr>Theme</vt:lpstr>
      </vt:variant>
      <vt:variant>
        <vt:i4>3</vt:i4>
      </vt:variant>
      <vt:variant>
        <vt:lpstr>Embedded OLE Servers</vt:lpstr>
      </vt:variant>
      <vt:variant>
        <vt:i4>1</vt:i4>
      </vt:variant>
      <vt:variant>
        <vt:lpstr>Slide Titles</vt:lpstr>
      </vt:variant>
      <vt:variant>
        <vt:i4>31</vt:i4>
      </vt:variant>
    </vt:vector>
  </HeadingPairs>
  <TitlesOfParts>
    <vt:vector size="44" baseType="lpstr">
      <vt:lpstr>Arial</vt:lpstr>
      <vt:lpstr>Arial Narrow</vt:lpstr>
      <vt:lpstr>Brush Script MT</vt:lpstr>
      <vt:lpstr>Calibri</vt:lpstr>
      <vt:lpstr>Courier New</vt:lpstr>
      <vt:lpstr>Harlow Solid Italic</vt:lpstr>
      <vt:lpstr>Times</vt:lpstr>
      <vt:lpstr>Times New Roman</vt:lpstr>
      <vt:lpstr>Verdana</vt:lpstr>
      <vt:lpstr>Blank Presentation</vt:lpstr>
      <vt:lpstr>Office Theme</vt:lpstr>
      <vt:lpstr>1_Office Theme</vt:lpstr>
      <vt:lpstr>Acrobat Document</vt:lpstr>
      <vt:lpstr>Employment First Meets Technology First: It’s More Than Just The Device</vt:lpstr>
      <vt:lpstr>Transformation of Technology Over the Decades</vt:lpstr>
      <vt:lpstr>Coleman Institute for Cognitive Disabilities University of Colorado</vt:lpstr>
      <vt:lpstr>Declaration of the Rights of People with Cognitive Disabilities to Technology and Information Access</vt:lpstr>
      <vt:lpstr>Technology First</vt:lpstr>
      <vt:lpstr>Technology First: What It Means</vt:lpstr>
      <vt:lpstr>Marriage of Employment First MO &amp;  Technology First MO</vt:lpstr>
      <vt:lpstr>Scope of Focus</vt:lpstr>
      <vt:lpstr>The Employment Process</vt:lpstr>
      <vt:lpstr>Steve Jobs</vt:lpstr>
      <vt:lpstr>Tech Expert</vt:lpstr>
      <vt:lpstr>Approach to Technology </vt:lpstr>
      <vt:lpstr>Technology Framework</vt:lpstr>
      <vt:lpstr>Individual</vt:lpstr>
      <vt:lpstr>Technology Availability &amp; Skills Assessment</vt:lpstr>
      <vt:lpstr>Environment</vt:lpstr>
      <vt:lpstr>Gap &amp; Barrier Analysis</vt:lpstr>
      <vt:lpstr>Narrow the Gap</vt:lpstr>
      <vt:lpstr>Implement &amp; Evaluate</vt:lpstr>
      <vt:lpstr>Step by Step Approach to Applying the Framework  </vt:lpstr>
      <vt:lpstr>Building Capacity</vt:lpstr>
      <vt:lpstr>Stop #1: State AT Center</vt:lpstr>
      <vt:lpstr>Other Resources</vt:lpstr>
      <vt:lpstr>Lessons from Covid</vt:lpstr>
      <vt:lpstr>Mizuta Masahide (17th century Japanese poet and samurai) </vt:lpstr>
      <vt:lpstr>ICI Publications https://covid19.communityinclusion.org </vt:lpstr>
      <vt:lpstr>Questions and Challenges</vt:lpstr>
      <vt:lpstr>Lessons Learned </vt:lpstr>
      <vt:lpstr>Davidisms</vt:lpstr>
      <vt:lpstr>Special Thanks to the Missouri Technology Pilot Learning Community!</vt:lpstr>
      <vt:lpstr>Contact Information</vt:lpstr>
    </vt:vector>
  </TitlesOfParts>
  <Company>UMass Boston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ICI</dc:creator>
  <cp:lastModifiedBy>David Hoff</cp:lastModifiedBy>
  <cp:revision>165</cp:revision>
  <dcterms:created xsi:type="dcterms:W3CDTF">2006-09-27T14:52:23Z</dcterms:created>
  <dcterms:modified xsi:type="dcterms:W3CDTF">2021-06-09T02:41:02Z</dcterms:modified>
</cp:coreProperties>
</file>