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7"/>
  </p:notesMasterIdLst>
  <p:handoutMasterIdLst>
    <p:handoutMasterId r:id="rId8"/>
  </p:handoutMasterIdLst>
  <p:sldIdLst>
    <p:sldId id="420" r:id="rId6"/>
  </p:sldIdLst>
  <p:sldSz cx="12192000" cy="6858000"/>
  <p:notesSz cx="7023100" cy="93091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056" autoAdjust="0"/>
    <p:restoredTop sz="94673" autoAdjust="0"/>
  </p:normalViewPr>
  <p:slideViewPr>
    <p:cSldViewPr snapToGrid="0">
      <p:cViewPr varScale="1">
        <p:scale>
          <a:sx n="104" d="100"/>
          <a:sy n="104" d="100"/>
        </p:scale>
        <p:origin x="120" y="1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1.xml"/><Relationship Id="rId10"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an, Alix, HCA" userId="c991926d-e41d-48eb-8e10-c23a6e27f3c2" providerId="ADAL" clId="{FF914E49-7962-4939-93C0-11DF55097217}"/>
    <pc:docChg chg="custSel modSld">
      <pc:chgData name="Dean, Alix, HCA" userId="c991926d-e41d-48eb-8e10-c23a6e27f3c2" providerId="ADAL" clId="{FF914E49-7962-4939-93C0-11DF55097217}" dt="2026-02-05T17:45:04.572" v="61" actId="1076"/>
      <pc:docMkLst>
        <pc:docMk/>
      </pc:docMkLst>
      <pc:sldChg chg="modSp mod">
        <pc:chgData name="Dean, Alix, HCA" userId="c991926d-e41d-48eb-8e10-c23a6e27f3c2" providerId="ADAL" clId="{FF914E49-7962-4939-93C0-11DF55097217}" dt="2026-02-05T17:45:04.572" v="61" actId="1076"/>
        <pc:sldMkLst>
          <pc:docMk/>
          <pc:sldMk cId="2335733219" sldId="420"/>
        </pc:sldMkLst>
        <pc:cxnChg chg="mod">
          <ac:chgData name="Dean, Alix, HCA" userId="c991926d-e41d-48eb-8e10-c23a6e27f3c2" providerId="ADAL" clId="{FF914E49-7962-4939-93C0-11DF55097217}" dt="2026-02-05T17:44:39.254" v="58" actId="1076"/>
          <ac:cxnSpMkLst>
            <pc:docMk/>
            <pc:sldMk cId="2335733219" sldId="420"/>
            <ac:cxnSpMk id="14" creationId="{52F98D12-89C1-EED6-2015-7EE37A9507DA}"/>
          </ac:cxnSpMkLst>
        </pc:cxnChg>
        <pc:cxnChg chg="mod">
          <ac:chgData name="Dean, Alix, HCA" userId="c991926d-e41d-48eb-8e10-c23a6e27f3c2" providerId="ADAL" clId="{FF914E49-7962-4939-93C0-11DF55097217}" dt="2026-02-05T17:44:44.663" v="59" actId="14100"/>
          <ac:cxnSpMkLst>
            <pc:docMk/>
            <pc:sldMk cId="2335733219" sldId="420"/>
            <ac:cxnSpMk id="44" creationId="{00000000-0000-0000-0000-000000000000}"/>
          </ac:cxnSpMkLst>
        </pc:cxnChg>
        <pc:cxnChg chg="mod">
          <ac:chgData name="Dean, Alix, HCA" userId="c991926d-e41d-48eb-8e10-c23a6e27f3c2" providerId="ADAL" clId="{FF914E49-7962-4939-93C0-11DF55097217}" dt="2026-02-05T17:45:04.572" v="61" actId="1076"/>
          <ac:cxnSpMkLst>
            <pc:docMk/>
            <pc:sldMk cId="2335733219" sldId="420"/>
            <ac:cxnSpMk id="45" creationId="{967E9F97-393E-402E-B436-C496D7D6B627}"/>
          </ac:cxnSpMkLst>
        </pc:cxnChg>
        <pc:cxnChg chg="mod">
          <ac:chgData name="Dean, Alix, HCA" userId="c991926d-e41d-48eb-8e10-c23a6e27f3c2" providerId="ADAL" clId="{FF914E49-7962-4939-93C0-11DF55097217}" dt="2026-02-05T17:44:29.221" v="56" actId="14100"/>
          <ac:cxnSpMkLst>
            <pc:docMk/>
            <pc:sldMk cId="2335733219" sldId="420"/>
            <ac:cxnSpMk id="65" creationId="{00000000-0000-0000-0000-000000000000}"/>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E35E208-0E72-7435-593C-550C8F905ECC}"/>
              </a:ext>
            </a:extLst>
          </p:cNvPr>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dirty="0"/>
          </a:p>
        </p:txBody>
      </p:sp>
      <p:sp>
        <p:nvSpPr>
          <p:cNvPr id="3" name="Date Placeholder 2">
            <a:extLst>
              <a:ext uri="{FF2B5EF4-FFF2-40B4-BE49-F238E27FC236}">
                <a16:creationId xmlns:a16="http://schemas.microsoft.com/office/drawing/2014/main" id="{6335822E-6F03-38FF-E798-82FB07A331D8}"/>
              </a:ext>
            </a:extLst>
          </p:cNvPr>
          <p:cNvSpPr>
            <a:spLocks noGrp="1"/>
          </p:cNvSpPr>
          <p:nvPr>
            <p:ph type="dt" sz="quarter" idx="1"/>
          </p:nvPr>
        </p:nvSpPr>
        <p:spPr>
          <a:xfrm>
            <a:off x="3978132" y="0"/>
            <a:ext cx="3043343" cy="467072"/>
          </a:xfrm>
          <a:prstGeom prst="rect">
            <a:avLst/>
          </a:prstGeom>
        </p:spPr>
        <p:txBody>
          <a:bodyPr vert="horz" lIns="93324" tIns="46662" rIns="93324" bIns="46662" rtlCol="0"/>
          <a:lstStyle>
            <a:lvl1pPr algn="r">
              <a:defRPr sz="1200"/>
            </a:lvl1pPr>
          </a:lstStyle>
          <a:p>
            <a:fld id="{402B4E01-1E72-47A4-A8B5-A082D991C112}" type="datetimeFigureOut">
              <a:rPr lang="en-US" smtClean="0"/>
              <a:t>2/5/2026</a:t>
            </a:fld>
            <a:endParaRPr lang="en-US" dirty="0"/>
          </a:p>
        </p:txBody>
      </p:sp>
      <p:sp>
        <p:nvSpPr>
          <p:cNvPr id="4" name="Footer Placeholder 3">
            <a:extLst>
              <a:ext uri="{FF2B5EF4-FFF2-40B4-BE49-F238E27FC236}">
                <a16:creationId xmlns:a16="http://schemas.microsoft.com/office/drawing/2014/main" id="{6CC1EBA3-C6D2-0148-CC00-6309C3B483F9}"/>
              </a:ext>
            </a:extLst>
          </p:cNvPr>
          <p:cNvSpPr>
            <a:spLocks noGrp="1"/>
          </p:cNvSpPr>
          <p:nvPr>
            <p:ph type="ftr" sz="quarter" idx="2"/>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3FE9722-251E-6614-CF57-0391E2974D71}"/>
              </a:ext>
            </a:extLst>
          </p:cNvPr>
          <p:cNvSpPr>
            <a:spLocks noGrp="1"/>
          </p:cNvSpPr>
          <p:nvPr>
            <p:ph type="sldNum" sz="quarter" idx="3"/>
          </p:nvPr>
        </p:nvSpPr>
        <p:spPr>
          <a:xfrm>
            <a:off x="3978132" y="8842030"/>
            <a:ext cx="3043343" cy="467071"/>
          </a:xfrm>
          <a:prstGeom prst="rect">
            <a:avLst/>
          </a:prstGeom>
        </p:spPr>
        <p:txBody>
          <a:bodyPr vert="horz" lIns="93324" tIns="46662" rIns="93324" bIns="46662" rtlCol="0" anchor="b"/>
          <a:lstStyle>
            <a:lvl1pPr algn="r">
              <a:defRPr sz="1200"/>
            </a:lvl1pPr>
          </a:lstStyle>
          <a:p>
            <a:fld id="{40CC6D7D-65EA-4C0B-A821-CB263719C58A}" type="slidenum">
              <a:rPr lang="en-US" smtClean="0"/>
              <a:t>‹#›</a:t>
            </a:fld>
            <a:endParaRPr lang="en-US" dirty="0"/>
          </a:p>
        </p:txBody>
      </p:sp>
    </p:spTree>
    <p:extLst>
      <p:ext uri="{BB962C8B-B14F-4D97-AF65-F5344CB8AC3E}">
        <p14:creationId xmlns:p14="http://schemas.microsoft.com/office/powerpoint/2010/main" val="1845066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1FD8F743-F6F7-4D6D-AB6D-FF8C3558AFF1}" type="datetimeFigureOut">
              <a:rPr lang="en-US" smtClean="0"/>
              <a:t>2/5/2026</a:t>
            </a:fld>
            <a:endParaRPr lang="en-US" dirty="0"/>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en-US" dirty="0"/>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C8966410-9439-4710-960B-63B88D47AC7D}" type="slidenum">
              <a:rPr lang="en-US" smtClean="0"/>
              <a:t>‹#›</a:t>
            </a:fld>
            <a:endParaRPr lang="en-US" dirty="0"/>
          </a:p>
        </p:txBody>
      </p:sp>
    </p:spTree>
    <p:extLst>
      <p:ext uri="{BB962C8B-B14F-4D97-AF65-F5344CB8AC3E}">
        <p14:creationId xmlns:p14="http://schemas.microsoft.com/office/powerpoint/2010/main" val="2572926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51113" y="877888"/>
            <a:ext cx="4211637" cy="23685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39C270E-D5CD-4622-8424-D007D653CC89}" type="slidenum">
              <a:rPr lang="en-US" smtClean="0"/>
              <a:t>1</a:t>
            </a:fld>
            <a:endParaRPr lang="en-US" dirty="0"/>
          </a:p>
        </p:txBody>
      </p:sp>
    </p:spTree>
    <p:extLst>
      <p:ext uri="{BB962C8B-B14F-4D97-AF65-F5344CB8AC3E}">
        <p14:creationId xmlns:p14="http://schemas.microsoft.com/office/powerpoint/2010/main" val="3230376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B7DF5-F8CA-E5C0-9997-7E1CF98418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83C0E3-A253-687A-2643-F6F4DBB2C6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5587A9-0702-BBA4-EA0C-F148824CF423}"/>
              </a:ext>
            </a:extLst>
          </p:cNvPr>
          <p:cNvSpPr>
            <a:spLocks noGrp="1"/>
          </p:cNvSpPr>
          <p:nvPr>
            <p:ph type="dt" sz="half" idx="10"/>
          </p:nvPr>
        </p:nvSpPr>
        <p:spPr/>
        <p:txBody>
          <a:bodyPr/>
          <a:lstStyle/>
          <a:p>
            <a:fld id="{7452F016-51FC-4725-A96B-4A28FA0DE0F6}" type="datetimeFigureOut">
              <a:rPr lang="en-US" smtClean="0"/>
              <a:t>2/5/2026</a:t>
            </a:fld>
            <a:endParaRPr lang="en-US" dirty="0"/>
          </a:p>
        </p:txBody>
      </p:sp>
      <p:sp>
        <p:nvSpPr>
          <p:cNvPr id="5" name="Footer Placeholder 4">
            <a:extLst>
              <a:ext uri="{FF2B5EF4-FFF2-40B4-BE49-F238E27FC236}">
                <a16:creationId xmlns:a16="http://schemas.microsoft.com/office/drawing/2014/main" id="{462F2821-3EAB-1223-8CC8-29E8FA46B90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ED17524-EDF9-4083-38AC-E96255711C7A}"/>
              </a:ext>
            </a:extLst>
          </p:cNvPr>
          <p:cNvSpPr>
            <a:spLocks noGrp="1"/>
          </p:cNvSpPr>
          <p:nvPr>
            <p:ph type="sldNum" sz="quarter" idx="12"/>
          </p:nvPr>
        </p:nvSpPr>
        <p:spPr/>
        <p:txBody>
          <a:bodyPr/>
          <a:lstStyle/>
          <a:p>
            <a:fld id="{CF040F29-4216-4AD3-AF34-FD30A8B71418}" type="slidenum">
              <a:rPr lang="en-US" smtClean="0"/>
              <a:t>‹#›</a:t>
            </a:fld>
            <a:endParaRPr lang="en-US" dirty="0"/>
          </a:p>
        </p:txBody>
      </p:sp>
    </p:spTree>
    <p:extLst>
      <p:ext uri="{BB962C8B-B14F-4D97-AF65-F5344CB8AC3E}">
        <p14:creationId xmlns:p14="http://schemas.microsoft.com/office/powerpoint/2010/main" val="649755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8403F-696F-F404-BB1F-5EDEC7B970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C62184-DF7A-81EF-F938-501A19F5A6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B95CEF-E36D-543F-74DB-7BD521269835}"/>
              </a:ext>
            </a:extLst>
          </p:cNvPr>
          <p:cNvSpPr>
            <a:spLocks noGrp="1"/>
          </p:cNvSpPr>
          <p:nvPr>
            <p:ph type="dt" sz="half" idx="10"/>
          </p:nvPr>
        </p:nvSpPr>
        <p:spPr/>
        <p:txBody>
          <a:bodyPr/>
          <a:lstStyle/>
          <a:p>
            <a:fld id="{7452F016-51FC-4725-A96B-4A28FA0DE0F6}" type="datetimeFigureOut">
              <a:rPr lang="en-US" smtClean="0"/>
              <a:t>2/5/2026</a:t>
            </a:fld>
            <a:endParaRPr lang="en-US" dirty="0"/>
          </a:p>
        </p:txBody>
      </p:sp>
      <p:sp>
        <p:nvSpPr>
          <p:cNvPr id="5" name="Footer Placeholder 4">
            <a:extLst>
              <a:ext uri="{FF2B5EF4-FFF2-40B4-BE49-F238E27FC236}">
                <a16:creationId xmlns:a16="http://schemas.microsoft.com/office/drawing/2014/main" id="{4CE7DE73-F222-92FA-DC8E-9641F546CD5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A53266D-BEEA-B5EF-2F8D-2E6A217ECC2B}"/>
              </a:ext>
            </a:extLst>
          </p:cNvPr>
          <p:cNvSpPr>
            <a:spLocks noGrp="1"/>
          </p:cNvSpPr>
          <p:nvPr>
            <p:ph type="sldNum" sz="quarter" idx="12"/>
          </p:nvPr>
        </p:nvSpPr>
        <p:spPr/>
        <p:txBody>
          <a:bodyPr/>
          <a:lstStyle/>
          <a:p>
            <a:fld id="{CF040F29-4216-4AD3-AF34-FD30A8B71418}" type="slidenum">
              <a:rPr lang="en-US" smtClean="0"/>
              <a:t>‹#›</a:t>
            </a:fld>
            <a:endParaRPr lang="en-US" dirty="0"/>
          </a:p>
        </p:txBody>
      </p:sp>
    </p:spTree>
    <p:extLst>
      <p:ext uri="{BB962C8B-B14F-4D97-AF65-F5344CB8AC3E}">
        <p14:creationId xmlns:p14="http://schemas.microsoft.com/office/powerpoint/2010/main" val="3901267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A475B-B778-0F46-959C-C6CBDBF428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B7E210-4AF7-EC46-2A05-74122EB1E4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5F0688-2E1E-B178-A9DA-4300909667DF}"/>
              </a:ext>
            </a:extLst>
          </p:cNvPr>
          <p:cNvSpPr>
            <a:spLocks noGrp="1"/>
          </p:cNvSpPr>
          <p:nvPr>
            <p:ph type="dt" sz="half" idx="10"/>
          </p:nvPr>
        </p:nvSpPr>
        <p:spPr/>
        <p:txBody>
          <a:bodyPr/>
          <a:lstStyle/>
          <a:p>
            <a:fld id="{7452F016-51FC-4725-A96B-4A28FA0DE0F6}" type="datetimeFigureOut">
              <a:rPr lang="en-US" smtClean="0"/>
              <a:t>2/5/2026</a:t>
            </a:fld>
            <a:endParaRPr lang="en-US" dirty="0"/>
          </a:p>
        </p:txBody>
      </p:sp>
      <p:sp>
        <p:nvSpPr>
          <p:cNvPr id="5" name="Footer Placeholder 4">
            <a:extLst>
              <a:ext uri="{FF2B5EF4-FFF2-40B4-BE49-F238E27FC236}">
                <a16:creationId xmlns:a16="http://schemas.microsoft.com/office/drawing/2014/main" id="{6BAA861C-2444-C74F-395E-2286805FC71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FFD5B6D-C63B-4A05-A386-1CFB3DEDDBA0}"/>
              </a:ext>
            </a:extLst>
          </p:cNvPr>
          <p:cNvSpPr>
            <a:spLocks noGrp="1"/>
          </p:cNvSpPr>
          <p:nvPr>
            <p:ph type="sldNum" sz="quarter" idx="12"/>
          </p:nvPr>
        </p:nvSpPr>
        <p:spPr/>
        <p:txBody>
          <a:bodyPr/>
          <a:lstStyle/>
          <a:p>
            <a:fld id="{CF040F29-4216-4AD3-AF34-FD30A8B71418}" type="slidenum">
              <a:rPr lang="en-US" smtClean="0"/>
              <a:t>‹#›</a:t>
            </a:fld>
            <a:endParaRPr lang="en-US" dirty="0"/>
          </a:p>
        </p:txBody>
      </p:sp>
    </p:spTree>
    <p:extLst>
      <p:ext uri="{BB962C8B-B14F-4D97-AF65-F5344CB8AC3E}">
        <p14:creationId xmlns:p14="http://schemas.microsoft.com/office/powerpoint/2010/main" val="863137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E8B80-A111-EF1D-A5CF-FC27E376E7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44D34C-A7EB-2F0A-5DEE-CBAEF692DF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349F36-664A-3FCB-FB0B-8588D7D04B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815C7-C008-ADF4-60A2-E6796671E74A}"/>
              </a:ext>
            </a:extLst>
          </p:cNvPr>
          <p:cNvSpPr>
            <a:spLocks noGrp="1"/>
          </p:cNvSpPr>
          <p:nvPr>
            <p:ph type="dt" sz="half" idx="10"/>
          </p:nvPr>
        </p:nvSpPr>
        <p:spPr/>
        <p:txBody>
          <a:bodyPr/>
          <a:lstStyle/>
          <a:p>
            <a:fld id="{7452F016-51FC-4725-A96B-4A28FA0DE0F6}" type="datetimeFigureOut">
              <a:rPr lang="en-US" smtClean="0"/>
              <a:t>2/5/2026</a:t>
            </a:fld>
            <a:endParaRPr lang="en-US" dirty="0"/>
          </a:p>
        </p:txBody>
      </p:sp>
      <p:sp>
        <p:nvSpPr>
          <p:cNvPr id="6" name="Footer Placeholder 5">
            <a:extLst>
              <a:ext uri="{FF2B5EF4-FFF2-40B4-BE49-F238E27FC236}">
                <a16:creationId xmlns:a16="http://schemas.microsoft.com/office/drawing/2014/main" id="{60041DB4-8B48-CA93-E832-9F687557639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18A662-C9D4-513B-8F61-A41A2D215A8C}"/>
              </a:ext>
            </a:extLst>
          </p:cNvPr>
          <p:cNvSpPr>
            <a:spLocks noGrp="1"/>
          </p:cNvSpPr>
          <p:nvPr>
            <p:ph type="sldNum" sz="quarter" idx="12"/>
          </p:nvPr>
        </p:nvSpPr>
        <p:spPr/>
        <p:txBody>
          <a:bodyPr/>
          <a:lstStyle/>
          <a:p>
            <a:fld id="{CF040F29-4216-4AD3-AF34-FD30A8B71418}" type="slidenum">
              <a:rPr lang="en-US" smtClean="0"/>
              <a:t>‹#›</a:t>
            </a:fld>
            <a:endParaRPr lang="en-US" dirty="0"/>
          </a:p>
        </p:txBody>
      </p:sp>
    </p:spTree>
    <p:extLst>
      <p:ext uri="{BB962C8B-B14F-4D97-AF65-F5344CB8AC3E}">
        <p14:creationId xmlns:p14="http://schemas.microsoft.com/office/powerpoint/2010/main" val="2689746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84407-25BC-1BB8-80F4-8CF96673D6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82418D-21B3-291C-3C3D-4424D5DB29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6F74B7-68FF-94D9-9423-9794CC9EFC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A638EB-9BE0-592C-8B60-1B7BB8556E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60E3A9-F012-6779-91E6-4421B79CEF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1AE70A-F058-B289-7860-B4F3B15F6949}"/>
              </a:ext>
            </a:extLst>
          </p:cNvPr>
          <p:cNvSpPr>
            <a:spLocks noGrp="1"/>
          </p:cNvSpPr>
          <p:nvPr>
            <p:ph type="dt" sz="half" idx="10"/>
          </p:nvPr>
        </p:nvSpPr>
        <p:spPr/>
        <p:txBody>
          <a:bodyPr/>
          <a:lstStyle/>
          <a:p>
            <a:fld id="{7452F016-51FC-4725-A96B-4A28FA0DE0F6}" type="datetimeFigureOut">
              <a:rPr lang="en-US" smtClean="0"/>
              <a:t>2/5/2026</a:t>
            </a:fld>
            <a:endParaRPr lang="en-US" dirty="0"/>
          </a:p>
        </p:txBody>
      </p:sp>
      <p:sp>
        <p:nvSpPr>
          <p:cNvPr id="8" name="Footer Placeholder 7">
            <a:extLst>
              <a:ext uri="{FF2B5EF4-FFF2-40B4-BE49-F238E27FC236}">
                <a16:creationId xmlns:a16="http://schemas.microsoft.com/office/drawing/2014/main" id="{5386665C-2D2E-5E8B-CDE6-744B812CDD0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4D2577D-6DDE-7C28-E08E-331E1FACA9E7}"/>
              </a:ext>
            </a:extLst>
          </p:cNvPr>
          <p:cNvSpPr>
            <a:spLocks noGrp="1"/>
          </p:cNvSpPr>
          <p:nvPr>
            <p:ph type="sldNum" sz="quarter" idx="12"/>
          </p:nvPr>
        </p:nvSpPr>
        <p:spPr/>
        <p:txBody>
          <a:bodyPr/>
          <a:lstStyle/>
          <a:p>
            <a:fld id="{CF040F29-4216-4AD3-AF34-FD30A8B71418}" type="slidenum">
              <a:rPr lang="en-US" smtClean="0"/>
              <a:t>‹#›</a:t>
            </a:fld>
            <a:endParaRPr lang="en-US" dirty="0"/>
          </a:p>
        </p:txBody>
      </p:sp>
    </p:spTree>
    <p:extLst>
      <p:ext uri="{BB962C8B-B14F-4D97-AF65-F5344CB8AC3E}">
        <p14:creationId xmlns:p14="http://schemas.microsoft.com/office/powerpoint/2010/main" val="331816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224F8-2732-7274-DFF5-6CC44AA8A8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8C008A-91AA-8D3F-9E92-656106A64055}"/>
              </a:ext>
            </a:extLst>
          </p:cNvPr>
          <p:cNvSpPr>
            <a:spLocks noGrp="1"/>
          </p:cNvSpPr>
          <p:nvPr>
            <p:ph type="dt" sz="half" idx="10"/>
          </p:nvPr>
        </p:nvSpPr>
        <p:spPr/>
        <p:txBody>
          <a:bodyPr/>
          <a:lstStyle/>
          <a:p>
            <a:fld id="{7452F016-51FC-4725-A96B-4A28FA0DE0F6}" type="datetimeFigureOut">
              <a:rPr lang="en-US" smtClean="0"/>
              <a:t>2/5/2026</a:t>
            </a:fld>
            <a:endParaRPr lang="en-US" dirty="0"/>
          </a:p>
        </p:txBody>
      </p:sp>
      <p:sp>
        <p:nvSpPr>
          <p:cNvPr id="4" name="Footer Placeholder 3">
            <a:extLst>
              <a:ext uri="{FF2B5EF4-FFF2-40B4-BE49-F238E27FC236}">
                <a16:creationId xmlns:a16="http://schemas.microsoft.com/office/drawing/2014/main" id="{15DEE0C6-1815-236E-452A-D7BC6766970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BA2062F-F078-FA7F-0183-C9A6A6106B0C}"/>
              </a:ext>
            </a:extLst>
          </p:cNvPr>
          <p:cNvSpPr>
            <a:spLocks noGrp="1"/>
          </p:cNvSpPr>
          <p:nvPr>
            <p:ph type="sldNum" sz="quarter" idx="12"/>
          </p:nvPr>
        </p:nvSpPr>
        <p:spPr/>
        <p:txBody>
          <a:bodyPr/>
          <a:lstStyle/>
          <a:p>
            <a:fld id="{CF040F29-4216-4AD3-AF34-FD30A8B71418}" type="slidenum">
              <a:rPr lang="en-US" smtClean="0"/>
              <a:t>‹#›</a:t>
            </a:fld>
            <a:endParaRPr lang="en-US" dirty="0"/>
          </a:p>
        </p:txBody>
      </p:sp>
    </p:spTree>
    <p:extLst>
      <p:ext uri="{BB962C8B-B14F-4D97-AF65-F5344CB8AC3E}">
        <p14:creationId xmlns:p14="http://schemas.microsoft.com/office/powerpoint/2010/main" val="378054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03AD52-88A1-ACF9-040F-0A490EF5BF73}"/>
              </a:ext>
            </a:extLst>
          </p:cNvPr>
          <p:cNvSpPr>
            <a:spLocks noGrp="1"/>
          </p:cNvSpPr>
          <p:nvPr>
            <p:ph type="dt" sz="half" idx="10"/>
          </p:nvPr>
        </p:nvSpPr>
        <p:spPr/>
        <p:txBody>
          <a:bodyPr/>
          <a:lstStyle/>
          <a:p>
            <a:fld id="{7452F016-51FC-4725-A96B-4A28FA0DE0F6}" type="datetimeFigureOut">
              <a:rPr lang="en-US" smtClean="0"/>
              <a:t>2/5/2026</a:t>
            </a:fld>
            <a:endParaRPr lang="en-US" dirty="0"/>
          </a:p>
        </p:txBody>
      </p:sp>
      <p:sp>
        <p:nvSpPr>
          <p:cNvPr id="3" name="Footer Placeholder 2">
            <a:extLst>
              <a:ext uri="{FF2B5EF4-FFF2-40B4-BE49-F238E27FC236}">
                <a16:creationId xmlns:a16="http://schemas.microsoft.com/office/drawing/2014/main" id="{1E928DFC-EA81-E1A0-FE39-92C53217AAF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109C54C-4603-47B3-FEBC-11977B464085}"/>
              </a:ext>
            </a:extLst>
          </p:cNvPr>
          <p:cNvSpPr>
            <a:spLocks noGrp="1"/>
          </p:cNvSpPr>
          <p:nvPr>
            <p:ph type="sldNum" sz="quarter" idx="12"/>
          </p:nvPr>
        </p:nvSpPr>
        <p:spPr/>
        <p:txBody>
          <a:bodyPr/>
          <a:lstStyle/>
          <a:p>
            <a:fld id="{CF040F29-4216-4AD3-AF34-FD30A8B71418}" type="slidenum">
              <a:rPr lang="en-US" smtClean="0"/>
              <a:t>‹#›</a:t>
            </a:fld>
            <a:endParaRPr lang="en-US" dirty="0"/>
          </a:p>
        </p:txBody>
      </p:sp>
    </p:spTree>
    <p:extLst>
      <p:ext uri="{BB962C8B-B14F-4D97-AF65-F5344CB8AC3E}">
        <p14:creationId xmlns:p14="http://schemas.microsoft.com/office/powerpoint/2010/main" val="4254594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6DF30-EA26-9E1F-976C-905638DD2F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C654E0-FFFA-4D54-6BD0-41F3D31F9A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423156-40F6-A7EF-40D6-F2EFE2DAD8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024CB0-BE80-3111-F286-BB8354531C98}"/>
              </a:ext>
            </a:extLst>
          </p:cNvPr>
          <p:cNvSpPr>
            <a:spLocks noGrp="1"/>
          </p:cNvSpPr>
          <p:nvPr>
            <p:ph type="dt" sz="half" idx="10"/>
          </p:nvPr>
        </p:nvSpPr>
        <p:spPr/>
        <p:txBody>
          <a:bodyPr/>
          <a:lstStyle/>
          <a:p>
            <a:fld id="{7452F016-51FC-4725-A96B-4A28FA0DE0F6}" type="datetimeFigureOut">
              <a:rPr lang="en-US" smtClean="0"/>
              <a:t>2/5/2026</a:t>
            </a:fld>
            <a:endParaRPr lang="en-US" dirty="0"/>
          </a:p>
        </p:txBody>
      </p:sp>
      <p:sp>
        <p:nvSpPr>
          <p:cNvPr id="6" name="Footer Placeholder 5">
            <a:extLst>
              <a:ext uri="{FF2B5EF4-FFF2-40B4-BE49-F238E27FC236}">
                <a16:creationId xmlns:a16="http://schemas.microsoft.com/office/drawing/2014/main" id="{EA583182-FBD6-DE6F-CADE-125AAFC84C7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69AF0EF-7186-161A-910D-28199CD91E58}"/>
              </a:ext>
            </a:extLst>
          </p:cNvPr>
          <p:cNvSpPr>
            <a:spLocks noGrp="1"/>
          </p:cNvSpPr>
          <p:nvPr>
            <p:ph type="sldNum" sz="quarter" idx="12"/>
          </p:nvPr>
        </p:nvSpPr>
        <p:spPr/>
        <p:txBody>
          <a:bodyPr/>
          <a:lstStyle/>
          <a:p>
            <a:fld id="{CF040F29-4216-4AD3-AF34-FD30A8B71418}" type="slidenum">
              <a:rPr lang="en-US" smtClean="0"/>
              <a:t>‹#›</a:t>
            </a:fld>
            <a:endParaRPr lang="en-US" dirty="0"/>
          </a:p>
        </p:txBody>
      </p:sp>
    </p:spTree>
    <p:extLst>
      <p:ext uri="{BB962C8B-B14F-4D97-AF65-F5344CB8AC3E}">
        <p14:creationId xmlns:p14="http://schemas.microsoft.com/office/powerpoint/2010/main" val="690643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5A2A9-E583-6722-D862-A7A05DDB78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7F9A0C3-A168-B20F-624F-9092CC43F5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1A0D56F2-5F4A-A169-3610-A7810BC29D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8F06D0-6BAC-A024-FF01-8AF37A3B3C8E}"/>
              </a:ext>
            </a:extLst>
          </p:cNvPr>
          <p:cNvSpPr>
            <a:spLocks noGrp="1"/>
          </p:cNvSpPr>
          <p:nvPr>
            <p:ph type="dt" sz="half" idx="10"/>
          </p:nvPr>
        </p:nvSpPr>
        <p:spPr/>
        <p:txBody>
          <a:bodyPr/>
          <a:lstStyle/>
          <a:p>
            <a:fld id="{7452F016-51FC-4725-A96B-4A28FA0DE0F6}" type="datetimeFigureOut">
              <a:rPr lang="en-US" smtClean="0"/>
              <a:t>2/5/2026</a:t>
            </a:fld>
            <a:endParaRPr lang="en-US" dirty="0"/>
          </a:p>
        </p:txBody>
      </p:sp>
      <p:sp>
        <p:nvSpPr>
          <p:cNvPr id="6" name="Footer Placeholder 5">
            <a:extLst>
              <a:ext uri="{FF2B5EF4-FFF2-40B4-BE49-F238E27FC236}">
                <a16:creationId xmlns:a16="http://schemas.microsoft.com/office/drawing/2014/main" id="{4A130800-23F1-A134-2081-AD8F7068056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7A2EAAC-C5E7-18D0-41C2-716AA0810C32}"/>
              </a:ext>
            </a:extLst>
          </p:cNvPr>
          <p:cNvSpPr>
            <a:spLocks noGrp="1"/>
          </p:cNvSpPr>
          <p:nvPr>
            <p:ph type="sldNum" sz="quarter" idx="12"/>
          </p:nvPr>
        </p:nvSpPr>
        <p:spPr/>
        <p:txBody>
          <a:bodyPr/>
          <a:lstStyle/>
          <a:p>
            <a:fld id="{CF040F29-4216-4AD3-AF34-FD30A8B71418}" type="slidenum">
              <a:rPr lang="en-US" smtClean="0"/>
              <a:t>‹#›</a:t>
            </a:fld>
            <a:endParaRPr lang="en-US" dirty="0"/>
          </a:p>
        </p:txBody>
      </p:sp>
    </p:spTree>
    <p:extLst>
      <p:ext uri="{BB962C8B-B14F-4D97-AF65-F5344CB8AC3E}">
        <p14:creationId xmlns:p14="http://schemas.microsoft.com/office/powerpoint/2010/main" val="3354268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B22CC-974E-C846-04BE-7212D52ED8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E908F13-C03D-AA27-B4E4-4A914CF917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EACFA-4772-54DB-DE95-6580B3012B8D}"/>
              </a:ext>
            </a:extLst>
          </p:cNvPr>
          <p:cNvSpPr>
            <a:spLocks noGrp="1"/>
          </p:cNvSpPr>
          <p:nvPr>
            <p:ph type="dt" sz="half" idx="10"/>
          </p:nvPr>
        </p:nvSpPr>
        <p:spPr/>
        <p:txBody>
          <a:bodyPr/>
          <a:lstStyle/>
          <a:p>
            <a:fld id="{7452F016-51FC-4725-A96B-4A28FA0DE0F6}" type="datetimeFigureOut">
              <a:rPr lang="en-US" smtClean="0"/>
              <a:t>2/5/2026</a:t>
            </a:fld>
            <a:endParaRPr lang="en-US" dirty="0"/>
          </a:p>
        </p:txBody>
      </p:sp>
      <p:sp>
        <p:nvSpPr>
          <p:cNvPr id="5" name="Footer Placeholder 4">
            <a:extLst>
              <a:ext uri="{FF2B5EF4-FFF2-40B4-BE49-F238E27FC236}">
                <a16:creationId xmlns:a16="http://schemas.microsoft.com/office/drawing/2014/main" id="{9E74CCBA-C5C2-7D3C-70B4-6928886612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291E008-2BF6-3904-E5BA-201F3DC7B6FA}"/>
              </a:ext>
            </a:extLst>
          </p:cNvPr>
          <p:cNvSpPr>
            <a:spLocks noGrp="1"/>
          </p:cNvSpPr>
          <p:nvPr>
            <p:ph type="sldNum" sz="quarter" idx="12"/>
          </p:nvPr>
        </p:nvSpPr>
        <p:spPr/>
        <p:txBody>
          <a:bodyPr/>
          <a:lstStyle/>
          <a:p>
            <a:fld id="{CF040F29-4216-4AD3-AF34-FD30A8B71418}" type="slidenum">
              <a:rPr lang="en-US" smtClean="0"/>
              <a:t>‹#›</a:t>
            </a:fld>
            <a:endParaRPr lang="en-US" dirty="0"/>
          </a:p>
        </p:txBody>
      </p:sp>
    </p:spTree>
    <p:extLst>
      <p:ext uri="{BB962C8B-B14F-4D97-AF65-F5344CB8AC3E}">
        <p14:creationId xmlns:p14="http://schemas.microsoft.com/office/powerpoint/2010/main" val="3598368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69B191-BEC9-4246-3CA0-C0B2CA4664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D3D2A6-657C-B33C-CA1D-C785273E4B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928392-AF99-3FB3-CF5B-8666FAB05B1B}"/>
              </a:ext>
            </a:extLst>
          </p:cNvPr>
          <p:cNvSpPr>
            <a:spLocks noGrp="1"/>
          </p:cNvSpPr>
          <p:nvPr>
            <p:ph type="dt" sz="half" idx="10"/>
          </p:nvPr>
        </p:nvSpPr>
        <p:spPr/>
        <p:txBody>
          <a:bodyPr/>
          <a:lstStyle/>
          <a:p>
            <a:fld id="{7452F016-51FC-4725-A96B-4A28FA0DE0F6}" type="datetimeFigureOut">
              <a:rPr lang="en-US" smtClean="0"/>
              <a:t>2/5/2026</a:t>
            </a:fld>
            <a:endParaRPr lang="en-US" dirty="0"/>
          </a:p>
        </p:txBody>
      </p:sp>
      <p:sp>
        <p:nvSpPr>
          <p:cNvPr id="5" name="Footer Placeholder 4">
            <a:extLst>
              <a:ext uri="{FF2B5EF4-FFF2-40B4-BE49-F238E27FC236}">
                <a16:creationId xmlns:a16="http://schemas.microsoft.com/office/drawing/2014/main" id="{0214DFBB-47D0-46D9-BACC-A3195FCFDB1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4BA4547-88D9-BC49-9C2C-B55682264A43}"/>
              </a:ext>
            </a:extLst>
          </p:cNvPr>
          <p:cNvSpPr>
            <a:spLocks noGrp="1"/>
          </p:cNvSpPr>
          <p:nvPr>
            <p:ph type="sldNum" sz="quarter" idx="12"/>
          </p:nvPr>
        </p:nvSpPr>
        <p:spPr/>
        <p:txBody>
          <a:bodyPr/>
          <a:lstStyle/>
          <a:p>
            <a:fld id="{CF040F29-4216-4AD3-AF34-FD30A8B71418}" type="slidenum">
              <a:rPr lang="en-US" smtClean="0"/>
              <a:t>‹#›</a:t>
            </a:fld>
            <a:endParaRPr lang="en-US" dirty="0"/>
          </a:p>
        </p:txBody>
      </p:sp>
    </p:spTree>
    <p:extLst>
      <p:ext uri="{BB962C8B-B14F-4D97-AF65-F5344CB8AC3E}">
        <p14:creationId xmlns:p14="http://schemas.microsoft.com/office/powerpoint/2010/main" val="678038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BF1359-03AE-FE99-78CC-722B3FFD88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2FC402-624B-4F36-C112-DC6945513B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B465BD-80ED-43BE-CA5A-91FCAA7740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52F016-51FC-4725-A96B-4A28FA0DE0F6}" type="datetimeFigureOut">
              <a:rPr lang="en-US" smtClean="0"/>
              <a:t>2/5/2026</a:t>
            </a:fld>
            <a:endParaRPr lang="en-US" dirty="0"/>
          </a:p>
        </p:txBody>
      </p:sp>
      <p:sp>
        <p:nvSpPr>
          <p:cNvPr id="5" name="Footer Placeholder 4">
            <a:extLst>
              <a:ext uri="{FF2B5EF4-FFF2-40B4-BE49-F238E27FC236}">
                <a16:creationId xmlns:a16="http://schemas.microsoft.com/office/drawing/2014/main" id="{530E4CB5-4803-A6A6-6216-F65FE0B2FB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A727482F-E5C1-8030-2609-AEA6AE7840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040F29-4216-4AD3-AF34-FD30A8B71418}" type="slidenum">
              <a:rPr lang="en-US" smtClean="0"/>
              <a:t>‹#›</a:t>
            </a:fld>
            <a:endParaRPr lang="en-US" dirty="0"/>
          </a:p>
        </p:txBody>
      </p:sp>
    </p:spTree>
    <p:extLst>
      <p:ext uri="{BB962C8B-B14F-4D97-AF65-F5344CB8AC3E}">
        <p14:creationId xmlns:p14="http://schemas.microsoft.com/office/powerpoint/2010/main" val="35831478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title="Relationship diagram"/>
          <p:cNvGrpSpPr/>
          <p:nvPr/>
        </p:nvGrpSpPr>
        <p:grpSpPr>
          <a:xfrm>
            <a:off x="179693" y="1837073"/>
            <a:ext cx="11845412" cy="4466862"/>
            <a:chOff x="-84243" y="1357089"/>
            <a:chExt cx="11647573" cy="3371889"/>
          </a:xfrm>
          <a:effectLst/>
        </p:grpSpPr>
        <p:sp>
          <p:nvSpPr>
            <p:cNvPr id="11" name="Rounded Rectangle 10"/>
            <p:cNvSpPr/>
            <p:nvPr/>
          </p:nvSpPr>
          <p:spPr>
            <a:xfrm>
              <a:off x="1793678" y="1357089"/>
              <a:ext cx="1973985" cy="1066743"/>
            </a:xfrm>
            <a:prstGeom prst="roundRect">
              <a:avLst/>
            </a:prstGeom>
            <a:solidFill>
              <a:schemeClr val="accent2">
                <a:lumMod val="20000"/>
                <a:lumOff val="80000"/>
              </a:schemeClr>
            </a:solidFill>
            <a:ln>
              <a:solidFill>
                <a:schemeClr val="accent2">
                  <a:lumMod val="20000"/>
                  <a:lumOff val="8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2. Referral to NMDVR. </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A referral may be made by the CM, waiver recipient, provider or guardian. Referrals should be accompanied by signed ROI and PCP.</a:t>
              </a:r>
            </a:p>
          </p:txBody>
        </p:sp>
        <p:sp>
          <p:nvSpPr>
            <p:cNvPr id="22" name="Rounded Rectangle 21"/>
            <p:cNvSpPr/>
            <p:nvPr/>
          </p:nvSpPr>
          <p:spPr>
            <a:xfrm>
              <a:off x="6907329" y="3186507"/>
              <a:ext cx="1871532" cy="1542471"/>
            </a:xfrm>
            <a:prstGeom prst="roundRect">
              <a:avLst>
                <a:gd name="adj" fmla="val 11052"/>
              </a:avLst>
            </a:prstGeom>
            <a:solidFill>
              <a:schemeClr val="accent6">
                <a:lumMod val="20000"/>
                <a:lumOff val="80000"/>
              </a:schemeClr>
            </a:solidFill>
            <a:ln>
              <a:solidFill>
                <a:schemeClr val="accent6"/>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spAutoFit/>
            </a:bodyPr>
            <a:lstStyle/>
            <a:p>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8. Job stabilization. </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Short-term job coaching supports are funded by NMDVR to maximize independence at the job site. Job coaching hours will be faded to the appropriate extent. VRC receives PCP, budget and documents long-term services provided through HCBS.</a:t>
              </a:r>
            </a:p>
          </p:txBody>
        </p:sp>
        <p:sp>
          <p:nvSpPr>
            <p:cNvPr id="23" name="Rounded Rectangle 22"/>
            <p:cNvSpPr/>
            <p:nvPr/>
          </p:nvSpPr>
          <p:spPr>
            <a:xfrm>
              <a:off x="4690188" y="3385998"/>
              <a:ext cx="1871531" cy="1318588"/>
            </a:xfrm>
            <a:prstGeom prst="roundRect">
              <a:avLst>
                <a:gd name="adj" fmla="val 15515"/>
              </a:avLst>
            </a:prstGeom>
            <a:solidFill>
              <a:schemeClr val="accent6">
                <a:lumMod val="20000"/>
                <a:lumOff val="80000"/>
              </a:schemeClr>
            </a:solidFill>
            <a:ln>
              <a:solidFill>
                <a:schemeClr val="accent6"/>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spAutoFit/>
            </a:bodyPr>
            <a:lstStyle/>
            <a:p>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6. Job Placement. </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Once employment is secured in the stated employment goal, NM</a:t>
              </a:r>
              <a:r>
                <a:rPr lang="en-US" sz="1100" dirty="0">
                  <a:solidFill>
                    <a:prstClr val="black"/>
                  </a:solidFill>
                  <a:latin typeface="Calibri" panose="020F0502020204030204" pitchFamily="34" charset="0"/>
                  <a:ea typeface="Calibri" panose="020F0502020204030204" pitchFamily="34" charset="0"/>
                  <a:cs typeface="Calibri" panose="020F0502020204030204" pitchFamily="34" charset="0"/>
                </a:rPr>
                <a:t>DVR will provide short-term job supports (job coaching) for minimum 90 days. NMDVR team must inform CM of employment placement via email. </a:t>
              </a:r>
              <a:endPar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6" name="Rounded Rectangle 25"/>
            <p:cNvSpPr/>
            <p:nvPr/>
          </p:nvSpPr>
          <p:spPr>
            <a:xfrm>
              <a:off x="-84243" y="1426925"/>
              <a:ext cx="1623371" cy="764713"/>
            </a:xfrm>
            <a:prstGeom prst="roundRect">
              <a:avLst/>
            </a:prstGeom>
            <a:solidFill>
              <a:schemeClr val="accent2">
                <a:lumMod val="20000"/>
                <a:lumOff val="8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spAutoFit/>
            </a:bodyPr>
            <a:lstStyle/>
            <a:p>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1. Informed Choice about employment. </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CM documents informed choice about employment in PCP.</a:t>
              </a:r>
            </a:p>
          </p:txBody>
        </p:sp>
        <p:sp>
          <p:nvSpPr>
            <p:cNvPr id="32" name="Rounded Rectangle 31"/>
            <p:cNvSpPr/>
            <p:nvPr/>
          </p:nvSpPr>
          <p:spPr>
            <a:xfrm>
              <a:off x="107945" y="3484797"/>
              <a:ext cx="2100392" cy="1188840"/>
            </a:xfrm>
            <a:prstGeom prst="roundRect">
              <a:avLst/>
            </a:prstGeom>
            <a:solidFill>
              <a:schemeClr val="accent6">
                <a:lumMod val="20000"/>
                <a:lumOff val="80000"/>
              </a:schemeClr>
            </a:solidFill>
            <a:ln>
              <a:solidFill>
                <a:schemeClr val="accent6"/>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spAutoFit/>
            </a:bodyPr>
            <a:lstStyle/>
            <a:p>
              <a:pPr algn="ctr"/>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4. Comprehensive Assessment &amp; IPE Development.</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 NMDVR supports informed choice about a suitable employment goal and services. IPE to include at minimum Guidance and Counseling and JD services. IPE sent to CM.</a:t>
              </a:r>
            </a:p>
          </p:txBody>
        </p:sp>
        <p:sp>
          <p:nvSpPr>
            <p:cNvPr id="35" name="Rounded Rectangle 34"/>
            <p:cNvSpPr/>
            <p:nvPr/>
          </p:nvSpPr>
          <p:spPr>
            <a:xfrm>
              <a:off x="529134" y="2618337"/>
              <a:ext cx="2296346" cy="623338"/>
            </a:xfrm>
            <a:prstGeom prst="roundRect">
              <a:avLst/>
            </a:prstGeom>
            <a:solidFill>
              <a:schemeClr val="accent6">
                <a:lumMod val="20000"/>
                <a:lumOff val="80000"/>
              </a:schemeClr>
            </a:solidFill>
            <a:ln>
              <a:solidFill>
                <a:schemeClr val="accent6"/>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spAutoFit/>
            </a:bodyPr>
            <a:lstStyle/>
            <a:p>
              <a:pPr algn="ctr"/>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3. Intake and Eligibility. </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NMDVR</a:t>
              </a:r>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completes eligibility determination. NMDVR records ROIs and informs CM/Consultant of case progression.</a:t>
              </a:r>
            </a:p>
          </p:txBody>
        </p:sp>
        <p:sp>
          <p:nvSpPr>
            <p:cNvPr id="36" name="Rounded Rectangle 35"/>
            <p:cNvSpPr/>
            <p:nvPr/>
          </p:nvSpPr>
          <p:spPr>
            <a:xfrm>
              <a:off x="2539766" y="3499394"/>
              <a:ext cx="1819925" cy="1188840"/>
            </a:xfrm>
            <a:prstGeom prst="roundRect">
              <a:avLst/>
            </a:prstGeom>
            <a:solidFill>
              <a:schemeClr val="accent6">
                <a:lumMod val="20000"/>
                <a:lumOff val="80000"/>
              </a:schemeClr>
            </a:solidFill>
            <a:ln>
              <a:solidFill>
                <a:schemeClr val="accent6"/>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spAutoFit/>
            </a:bodyPr>
            <a:lstStyle/>
            <a:p>
              <a:pPr algn="ctr"/>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5. Job Development</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 NMDVR funds services leading to employment goal in IPE (may include customized employment). NMDVR team sends case updates to CM for case coordination purposes.</a:t>
              </a:r>
            </a:p>
          </p:txBody>
        </p:sp>
        <p:sp>
          <p:nvSpPr>
            <p:cNvPr id="38" name="Rounded Rectangle 37"/>
            <p:cNvSpPr/>
            <p:nvPr/>
          </p:nvSpPr>
          <p:spPr>
            <a:xfrm>
              <a:off x="9314330" y="1613204"/>
              <a:ext cx="2249000" cy="764713"/>
            </a:xfrm>
            <a:prstGeom prst="roundRect">
              <a:avLst/>
            </a:prstGeom>
            <a:solidFill>
              <a:schemeClr val="accent2">
                <a:lumMod val="20000"/>
                <a:lumOff val="8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spAutoFit/>
            </a:bodyPr>
            <a:lstStyle/>
            <a:p>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9. HCBS waiver long-term supports begin. </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HCBS waiver employment support services begin.  NMDVR case remains open for additional  minimum 90 days.</a:t>
              </a:r>
            </a:p>
          </p:txBody>
        </p:sp>
        <p:cxnSp>
          <p:nvCxnSpPr>
            <p:cNvPr id="115" name="Straight Arrow Connector 114"/>
            <p:cNvCxnSpPr>
              <a:cxnSpLocks/>
            </p:cNvCxnSpPr>
            <p:nvPr/>
          </p:nvCxnSpPr>
          <p:spPr>
            <a:xfrm>
              <a:off x="2208337" y="3845565"/>
              <a:ext cx="352433" cy="0"/>
            </a:xfrm>
            <a:prstGeom prst="straightConnector1">
              <a:avLst/>
            </a:prstGeom>
            <a:ln>
              <a:headEnd type="none" w="lg" len="med"/>
              <a:tailEnd type="triangle"/>
            </a:ln>
          </p:spPr>
          <p:style>
            <a:lnRef idx="3">
              <a:schemeClr val="dk1"/>
            </a:lnRef>
            <a:fillRef idx="0">
              <a:schemeClr val="dk1"/>
            </a:fillRef>
            <a:effectRef idx="2">
              <a:schemeClr val="dk1"/>
            </a:effectRef>
            <a:fontRef idx="minor">
              <a:schemeClr val="tx1"/>
            </a:fontRef>
          </p:style>
        </p:cxnSp>
      </p:grpSp>
      <p:sp>
        <p:nvSpPr>
          <p:cNvPr id="8" name="Title 7"/>
          <p:cNvSpPr>
            <a:spLocks noGrp="1"/>
          </p:cNvSpPr>
          <p:nvPr>
            <p:ph type="title"/>
          </p:nvPr>
        </p:nvSpPr>
        <p:spPr>
          <a:xfrm>
            <a:off x="2430986" y="191823"/>
            <a:ext cx="7814940" cy="431754"/>
          </a:xfrm>
          <a:effectLst/>
        </p:spPr>
        <p:txBody>
          <a:bodyPr>
            <a:noAutofit/>
          </a:bodyPr>
          <a:lstStyle/>
          <a:p>
            <a:pPr algn="ctr"/>
            <a:r>
              <a:rPr lang="en-US" sz="1600" b="1" dirty="0">
                <a:latin typeface="Calibri" panose="020F0502020204030204" pitchFamily="34" charset="0"/>
                <a:ea typeface="Calibri" panose="020F0502020204030204" pitchFamily="34" charset="0"/>
                <a:cs typeface="Calibri" panose="020F0502020204030204" pitchFamily="34" charset="0"/>
              </a:rPr>
              <a:t>Employment Supports Process</a:t>
            </a:r>
          </a:p>
        </p:txBody>
      </p:sp>
      <p:cxnSp>
        <p:nvCxnSpPr>
          <p:cNvPr id="60" name="Straight Arrow Connector 59"/>
          <p:cNvCxnSpPr>
            <a:cxnSpLocks/>
          </p:cNvCxnSpPr>
          <p:nvPr/>
        </p:nvCxnSpPr>
        <p:spPr>
          <a:xfrm>
            <a:off x="1021188" y="4380555"/>
            <a:ext cx="0" cy="200862"/>
          </a:xfrm>
          <a:prstGeom prst="straightConnector1">
            <a:avLst/>
          </a:prstGeom>
          <a:ln>
            <a:headEnd type="none" w="lg" len="med"/>
            <a:tailEnd type="triangle"/>
          </a:ln>
        </p:spPr>
        <p:style>
          <a:lnRef idx="3">
            <a:schemeClr val="dk1"/>
          </a:lnRef>
          <a:fillRef idx="0">
            <a:schemeClr val="dk1"/>
          </a:fillRef>
          <a:effectRef idx="2">
            <a:schemeClr val="dk1"/>
          </a:effectRef>
          <a:fontRef idx="minor">
            <a:schemeClr val="tx1"/>
          </a:fontRef>
        </p:style>
      </p:cxnSp>
      <p:cxnSp>
        <p:nvCxnSpPr>
          <p:cNvPr id="65" name="Straight Arrow Connector 64"/>
          <p:cNvCxnSpPr>
            <a:cxnSpLocks/>
          </p:cNvCxnSpPr>
          <p:nvPr/>
        </p:nvCxnSpPr>
        <p:spPr>
          <a:xfrm>
            <a:off x="4641547" y="5157157"/>
            <a:ext cx="512344" cy="0"/>
          </a:xfrm>
          <a:prstGeom prst="straightConnector1">
            <a:avLst/>
          </a:prstGeom>
          <a:ln>
            <a:headEnd type="none" w="lg" len="med"/>
            <a:tailEnd type="triangle"/>
          </a:ln>
        </p:spPr>
        <p:style>
          <a:lnRef idx="3">
            <a:schemeClr val="dk1"/>
          </a:lnRef>
          <a:fillRef idx="0">
            <a:schemeClr val="dk1"/>
          </a:fillRef>
          <a:effectRef idx="2">
            <a:schemeClr val="dk1"/>
          </a:effectRef>
          <a:fontRef idx="minor">
            <a:schemeClr val="tx1"/>
          </a:fontRef>
        </p:style>
      </p:cxnSp>
      <p:sp>
        <p:nvSpPr>
          <p:cNvPr id="73" name="Rounded Rectangle 72"/>
          <p:cNvSpPr/>
          <p:nvPr/>
        </p:nvSpPr>
        <p:spPr>
          <a:xfrm>
            <a:off x="6621032" y="2110192"/>
            <a:ext cx="2665965" cy="818540"/>
          </a:xfrm>
          <a:prstGeom prst="roundRect">
            <a:avLst>
              <a:gd name="adj" fmla="val 15515"/>
            </a:avLst>
          </a:prstGeom>
          <a:solidFill>
            <a:schemeClr val="accent2">
              <a:lumMod val="20000"/>
              <a:lumOff val="8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spAutoFit/>
          </a:bodyPr>
          <a:lstStyle/>
          <a:p>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8. Document exchange with NMDVR. </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The CM sends approved PCP and budget showing effective date of services to NMDVR via email.</a:t>
            </a:r>
          </a:p>
        </p:txBody>
      </p:sp>
      <p:sp>
        <p:nvSpPr>
          <p:cNvPr id="2" name="TextBox 1"/>
          <p:cNvSpPr txBox="1"/>
          <p:nvPr/>
        </p:nvSpPr>
        <p:spPr>
          <a:xfrm>
            <a:off x="179693" y="78140"/>
            <a:ext cx="3582940" cy="1631216"/>
          </a:xfrm>
          <a:prstGeom prst="rect">
            <a:avLst/>
          </a:prstGeom>
          <a:noFill/>
          <a:ln>
            <a:solidFill>
              <a:schemeClr val="tx1"/>
            </a:solidFill>
          </a:ln>
        </p:spPr>
        <p:txBody>
          <a:bodyPr wrap="square" rtlCol="0">
            <a:spAutoFit/>
          </a:bodyPr>
          <a:lstStyle/>
          <a:p>
            <a:r>
              <a:rPr lang="en-US" sz="1000" b="1" dirty="0">
                <a:latin typeface="Calibri" panose="020F0502020204030204" pitchFamily="34" charset="0"/>
                <a:ea typeface="Calibri" panose="020F0502020204030204" pitchFamily="34" charset="0"/>
                <a:cs typeface="Calibri" panose="020F0502020204030204" pitchFamily="34" charset="0"/>
              </a:rPr>
              <a:t>DDSD – Developmental Disabilities Supports Division</a:t>
            </a:r>
          </a:p>
          <a:p>
            <a:r>
              <a:rPr lang="en-US" sz="1000" b="1" dirty="0">
                <a:latin typeface="Calibri" panose="020F0502020204030204" pitchFamily="34" charset="0"/>
                <a:ea typeface="Calibri" panose="020F0502020204030204" pitchFamily="34" charset="0"/>
                <a:cs typeface="Calibri" panose="020F0502020204030204" pitchFamily="34" charset="0"/>
              </a:rPr>
              <a:t>NMDVR – Division of Vocational Rehabilitation</a:t>
            </a:r>
          </a:p>
          <a:p>
            <a:r>
              <a:rPr lang="en-US" sz="1000" b="1" dirty="0">
                <a:latin typeface="Calibri" panose="020F0502020204030204" pitchFamily="34" charset="0"/>
                <a:ea typeface="Calibri" panose="020F0502020204030204" pitchFamily="34" charset="0"/>
                <a:cs typeface="Calibri" panose="020F0502020204030204" pitchFamily="34" charset="0"/>
              </a:rPr>
              <a:t>CM – Case Manager or Consultant</a:t>
            </a:r>
          </a:p>
          <a:p>
            <a:r>
              <a:rPr lang="en-US" sz="1000" b="1" dirty="0">
                <a:latin typeface="Calibri" panose="020F0502020204030204" pitchFamily="34" charset="0"/>
                <a:ea typeface="Calibri" panose="020F0502020204030204" pitchFamily="34" charset="0"/>
                <a:cs typeface="Calibri" panose="020F0502020204030204" pitchFamily="34" charset="0"/>
              </a:rPr>
              <a:t>HCBS – Home and Community-Based Services</a:t>
            </a:r>
          </a:p>
          <a:p>
            <a:r>
              <a:rPr lang="en-US" sz="1000" b="1" dirty="0">
                <a:latin typeface="Calibri" panose="020F0502020204030204" pitchFamily="34" charset="0"/>
                <a:ea typeface="Calibri" panose="020F0502020204030204" pitchFamily="34" charset="0"/>
                <a:cs typeface="Calibri" panose="020F0502020204030204" pitchFamily="34" charset="0"/>
              </a:rPr>
              <a:t>VR – Vocational Rehabilitation </a:t>
            </a:r>
          </a:p>
          <a:p>
            <a:r>
              <a:rPr lang="en-US" sz="1000" b="1" dirty="0">
                <a:latin typeface="Calibri" panose="020F0502020204030204" pitchFamily="34" charset="0"/>
                <a:ea typeface="Calibri" panose="020F0502020204030204" pitchFamily="34" charset="0"/>
                <a:cs typeface="Calibri" panose="020F0502020204030204" pitchFamily="34" charset="0"/>
              </a:rPr>
              <a:t>VRC – Vocational Rehabilitation Counselor</a:t>
            </a:r>
          </a:p>
          <a:p>
            <a:r>
              <a:rPr lang="en-US" sz="1000" b="1" dirty="0">
                <a:latin typeface="Calibri" panose="020F0502020204030204" pitchFamily="34" charset="0"/>
                <a:ea typeface="Calibri" panose="020F0502020204030204" pitchFamily="34" charset="0"/>
                <a:cs typeface="Calibri" panose="020F0502020204030204" pitchFamily="34" charset="0"/>
              </a:rPr>
              <a:t>JD – Job Development</a:t>
            </a:r>
          </a:p>
          <a:p>
            <a:r>
              <a:rPr lang="en-US" sz="1000" b="1" dirty="0">
                <a:latin typeface="Calibri" panose="020F0502020204030204" pitchFamily="34" charset="0"/>
                <a:ea typeface="Calibri" panose="020F0502020204030204" pitchFamily="34" charset="0"/>
                <a:cs typeface="Calibri" panose="020F0502020204030204" pitchFamily="34" charset="0"/>
              </a:rPr>
              <a:t>IPE – Individualized Plan for Employment (NMDVR)</a:t>
            </a:r>
          </a:p>
          <a:p>
            <a:r>
              <a:rPr lang="en-US" sz="1000" b="1" dirty="0">
                <a:latin typeface="Calibri" panose="020F0502020204030204" pitchFamily="34" charset="0"/>
                <a:ea typeface="Calibri" panose="020F0502020204030204" pitchFamily="34" charset="0"/>
                <a:cs typeface="Calibri" panose="020F0502020204030204" pitchFamily="34" charset="0"/>
              </a:rPr>
              <a:t>PCP – Person Centered Plan (HCBS)</a:t>
            </a:r>
          </a:p>
          <a:p>
            <a:r>
              <a:rPr lang="en-US" sz="1000" b="1" dirty="0">
                <a:latin typeface="Calibri" panose="020F0502020204030204" pitchFamily="34" charset="0"/>
                <a:ea typeface="Calibri" panose="020F0502020204030204" pitchFamily="34" charset="0"/>
                <a:cs typeface="Calibri" panose="020F0502020204030204" pitchFamily="34" charset="0"/>
              </a:rPr>
              <a:t>ROI – Release of Information </a:t>
            </a:r>
          </a:p>
        </p:txBody>
      </p:sp>
      <p:sp>
        <p:nvSpPr>
          <p:cNvPr id="28" name="Rounded Rectangle 27"/>
          <p:cNvSpPr/>
          <p:nvPr/>
        </p:nvSpPr>
        <p:spPr>
          <a:xfrm>
            <a:off x="4258288" y="2055337"/>
            <a:ext cx="1951646" cy="1387614"/>
          </a:xfrm>
          <a:prstGeom prst="roundRect">
            <a:avLst/>
          </a:prstGeom>
          <a:solidFill>
            <a:schemeClr val="accent2">
              <a:lumMod val="20000"/>
              <a:lumOff val="8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spAutoFit/>
          </a:bodyPr>
          <a:lstStyle/>
          <a:p>
            <a:pPr lvl="0">
              <a:defRPr/>
            </a:pPr>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7. Planning for long term supports. </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Once CM receives job placement form, CM will facilitate</a:t>
            </a:r>
            <a:r>
              <a:rPr lang="en-US" sz="1100" cap="none" spc="0" dirty="0">
                <a:solidFill>
                  <a:schemeClr val="tx1"/>
                </a:solidFill>
                <a:latin typeface="Calibri" panose="020F0502020204030204" pitchFamily="34" charset="0"/>
                <a:ea typeface="Calibri" panose="020F0502020204030204" pitchFamily="34" charset="0"/>
                <a:cs typeface="Calibri" panose="020F0502020204030204" pitchFamily="34" charset="0"/>
              </a:rPr>
              <a:t> PCP process as defined by </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W</a:t>
            </a:r>
            <a:r>
              <a:rPr lang="en-US" sz="1100" cap="none" spc="0" dirty="0">
                <a:solidFill>
                  <a:schemeClr val="tx1"/>
                </a:solidFill>
                <a:latin typeface="Calibri" panose="020F0502020204030204" pitchFamily="34" charset="0"/>
                <a:ea typeface="Calibri" panose="020F0502020204030204" pitchFamily="34" charset="0"/>
                <a:cs typeface="Calibri" panose="020F0502020204030204" pitchFamily="34" charset="0"/>
              </a:rPr>
              <a:t>aiver. </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(Budget approval process may take  30 -60 days).</a:t>
            </a:r>
          </a:p>
        </p:txBody>
      </p:sp>
      <p:cxnSp>
        <p:nvCxnSpPr>
          <p:cNvPr id="80" name="Straight Arrow Connector 79"/>
          <p:cNvCxnSpPr>
            <a:cxnSpLocks/>
          </p:cNvCxnSpPr>
          <p:nvPr/>
        </p:nvCxnSpPr>
        <p:spPr>
          <a:xfrm>
            <a:off x="1848211" y="2433735"/>
            <a:ext cx="287379" cy="1"/>
          </a:xfrm>
          <a:prstGeom prst="straightConnector1">
            <a:avLst/>
          </a:prstGeom>
          <a:ln>
            <a:headEnd type="none" w="lg" len="med"/>
            <a:tailEnd type="triangle"/>
          </a:ln>
        </p:spPr>
        <p:style>
          <a:lnRef idx="3">
            <a:schemeClr val="dk1"/>
          </a:lnRef>
          <a:fillRef idx="0">
            <a:schemeClr val="dk1"/>
          </a:fillRef>
          <a:effectRef idx="2">
            <a:schemeClr val="dk1"/>
          </a:effectRef>
          <a:fontRef idx="minor">
            <a:schemeClr val="tx1"/>
          </a:fontRef>
        </p:style>
      </p:cxnSp>
      <p:cxnSp>
        <p:nvCxnSpPr>
          <p:cNvPr id="81" name="Straight Arrow Connector 80"/>
          <p:cNvCxnSpPr>
            <a:cxnSpLocks/>
          </p:cNvCxnSpPr>
          <p:nvPr/>
        </p:nvCxnSpPr>
        <p:spPr>
          <a:xfrm flipH="1">
            <a:off x="2331390" y="3217507"/>
            <a:ext cx="2307" cy="219560"/>
          </a:xfrm>
          <a:prstGeom prst="straightConnector1">
            <a:avLst/>
          </a:prstGeom>
          <a:ln>
            <a:headEnd type="none" w="lg" len="med"/>
            <a:tailEnd type="triangle"/>
          </a:ln>
        </p:spPr>
        <p:style>
          <a:lnRef idx="3">
            <a:schemeClr val="dk1"/>
          </a:lnRef>
          <a:fillRef idx="0">
            <a:schemeClr val="dk1"/>
          </a:fillRef>
          <a:effectRef idx="2">
            <a:schemeClr val="dk1"/>
          </a:effectRef>
          <a:fontRef idx="minor">
            <a:schemeClr val="tx1"/>
          </a:fontRef>
        </p:style>
      </p:cxnSp>
      <p:cxnSp>
        <p:nvCxnSpPr>
          <p:cNvPr id="44" name="Straight Arrow Connector 43"/>
          <p:cNvCxnSpPr>
            <a:cxnSpLocks/>
          </p:cNvCxnSpPr>
          <p:nvPr/>
        </p:nvCxnSpPr>
        <p:spPr>
          <a:xfrm>
            <a:off x="6209934" y="2756674"/>
            <a:ext cx="504902" cy="0"/>
          </a:xfrm>
          <a:prstGeom prst="straightConnector1">
            <a:avLst/>
          </a:prstGeom>
          <a:ln>
            <a:headEnd type="none" w="lg" len="med"/>
            <a:tailEnd type="triangle"/>
          </a:ln>
        </p:spPr>
        <p:style>
          <a:lnRef idx="3">
            <a:schemeClr val="dk1"/>
          </a:lnRef>
          <a:fillRef idx="0">
            <a:schemeClr val="dk1"/>
          </a:fillRef>
          <a:effectRef idx="2">
            <a:schemeClr val="dk1"/>
          </a:effectRef>
          <a:fontRef idx="minor">
            <a:schemeClr val="tx1"/>
          </a:fontRef>
        </p:style>
      </p:cxnSp>
      <p:sp>
        <p:nvSpPr>
          <p:cNvPr id="34" name="Rounded Rectangle 75">
            <a:extLst>
              <a:ext uri="{FF2B5EF4-FFF2-40B4-BE49-F238E27FC236}">
                <a16:creationId xmlns:a16="http://schemas.microsoft.com/office/drawing/2014/main" id="{7845FB75-C76A-4885-B8B4-E440D62C056C}"/>
              </a:ext>
            </a:extLst>
          </p:cNvPr>
          <p:cNvSpPr/>
          <p:nvPr/>
        </p:nvSpPr>
        <p:spPr>
          <a:xfrm>
            <a:off x="9462547" y="4263292"/>
            <a:ext cx="2640436" cy="2155433"/>
          </a:xfrm>
          <a:prstGeom prst="roundRect">
            <a:avLst>
              <a:gd name="adj" fmla="val 18712"/>
            </a:avLst>
          </a:prstGeom>
          <a:solidFill>
            <a:schemeClr val="accent6">
              <a:lumMod val="20000"/>
              <a:lumOff val="80000"/>
            </a:schemeClr>
          </a:solidFill>
          <a:ln>
            <a:solidFill>
              <a:schemeClr val="accent6"/>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spAutoFit/>
          </a:bodyPr>
          <a:lstStyle/>
          <a:p>
            <a:r>
              <a:rPr 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rPr>
              <a:t>10. NMDVR case closure. </a:t>
            </a:r>
            <a:r>
              <a:rPr lang="en-US" sz="1100" dirty="0">
                <a:solidFill>
                  <a:schemeClr val="tx1"/>
                </a:solidFill>
                <a:latin typeface="Calibri" panose="020F0502020204030204" pitchFamily="34" charset="0"/>
                <a:ea typeface="Calibri" panose="020F0502020204030204" pitchFamily="34" charset="0"/>
                <a:cs typeface="Calibri" panose="020F0502020204030204" pitchFamily="34" charset="0"/>
              </a:rPr>
              <a:t>Long-term services are stabilized (typically 180+ days after placement. Person is provided with notice of approaching closure as they have been stable in employment and have HCBS services in place as needed. After case closure, NMDVR services can be used again in future. If future circumstances warrant, a new referral to NMDVR may be initiated.</a:t>
            </a:r>
          </a:p>
        </p:txBody>
      </p:sp>
      <p:cxnSp>
        <p:nvCxnSpPr>
          <p:cNvPr id="37" name="Straight Arrow Connector 36">
            <a:extLst>
              <a:ext uri="{FF2B5EF4-FFF2-40B4-BE49-F238E27FC236}">
                <a16:creationId xmlns:a16="http://schemas.microsoft.com/office/drawing/2014/main" id="{3921D354-9BA9-4C10-8FD6-97C1E447B8DA}"/>
              </a:ext>
            </a:extLst>
          </p:cNvPr>
          <p:cNvCxnSpPr>
            <a:cxnSpLocks/>
            <a:stCxn id="73" idx="2"/>
          </p:cNvCxnSpPr>
          <p:nvPr/>
        </p:nvCxnSpPr>
        <p:spPr>
          <a:xfrm flipH="1">
            <a:off x="7954014" y="2928732"/>
            <a:ext cx="1" cy="133456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45" name="Straight Arrow Connector 44">
            <a:extLst>
              <a:ext uri="{FF2B5EF4-FFF2-40B4-BE49-F238E27FC236}">
                <a16:creationId xmlns:a16="http://schemas.microsoft.com/office/drawing/2014/main" id="{967E9F97-393E-402E-B436-C496D7D6B627}"/>
              </a:ext>
            </a:extLst>
          </p:cNvPr>
          <p:cNvCxnSpPr>
            <a:cxnSpLocks/>
          </p:cNvCxnSpPr>
          <p:nvPr/>
        </p:nvCxnSpPr>
        <p:spPr>
          <a:xfrm>
            <a:off x="9286997" y="2756674"/>
            <a:ext cx="506566" cy="0"/>
          </a:xfrm>
          <a:prstGeom prst="straightConnector1">
            <a:avLst/>
          </a:prstGeom>
          <a:ln>
            <a:headEnd type="none" w="lg" len="med"/>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52F98D12-89C1-EED6-2015-7EE37A9507DA}"/>
              </a:ext>
            </a:extLst>
          </p:cNvPr>
          <p:cNvCxnSpPr>
            <a:cxnSpLocks/>
          </p:cNvCxnSpPr>
          <p:nvPr/>
        </p:nvCxnSpPr>
        <p:spPr>
          <a:xfrm flipV="1">
            <a:off x="5524711" y="3347774"/>
            <a:ext cx="0" cy="1177067"/>
          </a:xfrm>
          <a:prstGeom prst="straightConnector1">
            <a:avLst/>
          </a:prstGeom>
          <a:ln w="25400">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EE688569-C58A-29E6-324A-959C5FE9C0CF}"/>
              </a:ext>
            </a:extLst>
          </p:cNvPr>
          <p:cNvCxnSpPr>
            <a:cxnSpLocks/>
          </p:cNvCxnSpPr>
          <p:nvPr/>
        </p:nvCxnSpPr>
        <p:spPr>
          <a:xfrm>
            <a:off x="6923817" y="5299613"/>
            <a:ext cx="447042" cy="3751"/>
          </a:xfrm>
          <a:prstGeom prst="straightConnector1">
            <a:avLst/>
          </a:prstGeom>
          <a:ln>
            <a:headEnd type="none" w="lg" len="med"/>
            <a:tailEnd type="triangle"/>
          </a:ln>
        </p:spPr>
        <p:style>
          <a:lnRef idx="3">
            <a:schemeClr val="dk1"/>
          </a:lnRef>
          <a:fillRef idx="0">
            <a:schemeClr val="dk1"/>
          </a:fillRef>
          <a:effectRef idx="2">
            <a:schemeClr val="dk1"/>
          </a:effectRef>
          <a:fontRef idx="minor">
            <a:schemeClr val="tx1"/>
          </a:fontRef>
        </p:style>
      </p:cxnSp>
      <p:sp>
        <p:nvSpPr>
          <p:cNvPr id="10" name="Rectangle 9">
            <a:extLst>
              <a:ext uri="{FF2B5EF4-FFF2-40B4-BE49-F238E27FC236}">
                <a16:creationId xmlns:a16="http://schemas.microsoft.com/office/drawing/2014/main" id="{C4FF22BB-7CA4-EAE9-AE9B-050AA792BE6F}"/>
              </a:ext>
            </a:extLst>
          </p:cNvPr>
          <p:cNvSpPr/>
          <p:nvPr/>
        </p:nvSpPr>
        <p:spPr>
          <a:xfrm>
            <a:off x="3890438" y="125756"/>
            <a:ext cx="4816425" cy="98693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E43831C3-476A-C850-BCD0-CF35ED25C904}"/>
              </a:ext>
            </a:extLst>
          </p:cNvPr>
          <p:cNvSpPr/>
          <p:nvPr/>
        </p:nvSpPr>
        <p:spPr>
          <a:xfrm>
            <a:off x="4489627" y="680380"/>
            <a:ext cx="132890" cy="14973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00CD0851-4297-D6E2-8E50-628830C37E5F}"/>
              </a:ext>
            </a:extLst>
          </p:cNvPr>
          <p:cNvSpPr txBox="1"/>
          <p:nvPr/>
        </p:nvSpPr>
        <p:spPr>
          <a:xfrm>
            <a:off x="4591768" y="641682"/>
            <a:ext cx="1569502" cy="261610"/>
          </a:xfrm>
          <a:prstGeom prst="rect">
            <a:avLst/>
          </a:prstGeom>
          <a:noFill/>
        </p:spPr>
        <p:txBody>
          <a:bodyPr wrap="square" rtlCol="0">
            <a:spAutoFit/>
          </a:bodyPr>
          <a:lstStyle/>
          <a:p>
            <a:r>
              <a:rPr lang="en-US" sz="1100" dirty="0">
                <a:latin typeface="Calibri" panose="020F0502020204030204" pitchFamily="34" charset="0"/>
                <a:ea typeface="Calibri" panose="020F0502020204030204" pitchFamily="34" charset="0"/>
                <a:cs typeface="Calibri" panose="020F0502020204030204" pitchFamily="34" charset="0"/>
              </a:rPr>
              <a:t>HCBS Waiver</a:t>
            </a:r>
          </a:p>
        </p:txBody>
      </p:sp>
      <p:sp>
        <p:nvSpPr>
          <p:cNvPr id="15" name="Rectangle 14">
            <a:extLst>
              <a:ext uri="{FF2B5EF4-FFF2-40B4-BE49-F238E27FC236}">
                <a16:creationId xmlns:a16="http://schemas.microsoft.com/office/drawing/2014/main" id="{6CCB20EC-766E-D57C-02D8-CE674D992D4D}"/>
              </a:ext>
            </a:extLst>
          </p:cNvPr>
          <p:cNvSpPr/>
          <p:nvPr/>
        </p:nvSpPr>
        <p:spPr>
          <a:xfrm>
            <a:off x="7104039" y="677375"/>
            <a:ext cx="132890" cy="163216"/>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01BF77F5-6529-7D87-D0C5-D0D4FE55A328}"/>
              </a:ext>
            </a:extLst>
          </p:cNvPr>
          <p:cNvSpPr txBox="1"/>
          <p:nvPr/>
        </p:nvSpPr>
        <p:spPr>
          <a:xfrm>
            <a:off x="7196768" y="652565"/>
            <a:ext cx="1291449" cy="261610"/>
          </a:xfrm>
          <a:prstGeom prst="rect">
            <a:avLst/>
          </a:prstGeom>
          <a:noFill/>
        </p:spPr>
        <p:txBody>
          <a:bodyPr wrap="square" rtlCol="0">
            <a:spAutoFit/>
          </a:bodyPr>
          <a:lstStyle/>
          <a:p>
            <a:r>
              <a:rPr lang="en-US" sz="1100" dirty="0">
                <a:latin typeface="Calibri" panose="020F0502020204030204" pitchFamily="34" charset="0"/>
                <a:ea typeface="Calibri" panose="020F0502020204030204" pitchFamily="34" charset="0"/>
                <a:cs typeface="Calibri" panose="020F0502020204030204" pitchFamily="34" charset="0"/>
              </a:rPr>
              <a:t>NMDVR System </a:t>
            </a:r>
          </a:p>
        </p:txBody>
      </p:sp>
      <p:cxnSp>
        <p:nvCxnSpPr>
          <p:cNvPr id="6" name="Straight Arrow Connector 5">
            <a:extLst>
              <a:ext uri="{FF2B5EF4-FFF2-40B4-BE49-F238E27FC236}">
                <a16:creationId xmlns:a16="http://schemas.microsoft.com/office/drawing/2014/main" id="{4ECB29AA-F27C-B0D1-3A3C-46205D701832}"/>
              </a:ext>
            </a:extLst>
          </p:cNvPr>
          <p:cNvCxnSpPr>
            <a:cxnSpLocks/>
          </p:cNvCxnSpPr>
          <p:nvPr/>
        </p:nvCxnSpPr>
        <p:spPr>
          <a:xfrm>
            <a:off x="10687977" y="3217507"/>
            <a:ext cx="0" cy="1045785"/>
          </a:xfrm>
          <a:prstGeom prst="straightConnector1">
            <a:avLst/>
          </a:prstGeom>
          <a:ln>
            <a:headEnd type="none" w="lg" len="med"/>
            <a:tailEnd type="triangle"/>
          </a:ln>
        </p:spPr>
        <p:style>
          <a:lnRef idx="3">
            <a:schemeClr val="dk1"/>
          </a:lnRef>
          <a:fillRef idx="0">
            <a:schemeClr val="dk1"/>
          </a:fillRef>
          <a:effectRef idx="2">
            <a:schemeClr val="dk1"/>
          </a:effectRef>
          <a:fontRef idx="minor">
            <a:schemeClr val="tx1"/>
          </a:fontRef>
        </p:style>
      </p:cxnSp>
      <p:sp>
        <p:nvSpPr>
          <p:cNvPr id="3" name="TextBox 2">
            <a:extLst>
              <a:ext uri="{FF2B5EF4-FFF2-40B4-BE49-F238E27FC236}">
                <a16:creationId xmlns:a16="http://schemas.microsoft.com/office/drawing/2014/main" id="{F14B1859-00A6-5A8C-41E2-5C008976C541}"/>
              </a:ext>
            </a:extLst>
          </p:cNvPr>
          <p:cNvSpPr txBox="1"/>
          <p:nvPr/>
        </p:nvSpPr>
        <p:spPr>
          <a:xfrm>
            <a:off x="196645" y="6364445"/>
            <a:ext cx="11906336" cy="523220"/>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DDSD Regional Offices are available at anytime during this process to provide technical assistance and advocacy for waiver recipients and providers.</a:t>
            </a:r>
          </a:p>
          <a:p>
            <a:pPr algn="ctr"/>
            <a:r>
              <a:rPr lang="en-US" sz="1400">
                <a:latin typeface="Calibri" panose="020F0502020204030204" pitchFamily="34" charset="0"/>
                <a:ea typeface="Calibri" panose="020F0502020204030204" pitchFamily="34" charset="0"/>
                <a:cs typeface="Calibri" panose="020F0502020204030204" pitchFamily="34" charset="0"/>
              </a:rPr>
              <a:t>12.2025</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Tree>
    <p:custDataLst>
      <p:tags r:id="rId1"/>
    </p:custDataLst>
    <p:extLst>
      <p:ext uri="{BB962C8B-B14F-4D97-AF65-F5344CB8AC3E}">
        <p14:creationId xmlns:p14="http://schemas.microsoft.com/office/powerpoint/2010/main" val="23357332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Document" ma:contentTypeID="0x0101002DD80F8FBF21224C82D4974208353B81" ma:contentTypeVersion="13" ma:contentTypeDescription="Create a new document." ma:contentTypeScope="" ma:versionID="f37a88f284088e0e1e8f2220b26bc5b2">
  <xsd:schema xmlns:xsd="http://www.w3.org/2001/XMLSchema" xmlns:xs="http://www.w3.org/2001/XMLSchema" xmlns:p="http://schemas.microsoft.com/office/2006/metadata/properties" xmlns:ns2="afbed930-59bf-4068-9420-9ac73cf19c31" xmlns:ns3="e44427f7-5430-4fe6-adc6-fcc2a9a35fde" targetNamespace="http://schemas.microsoft.com/office/2006/metadata/properties" ma:root="true" ma:fieldsID="e5f0679bc58333c7407feb9db267bf74" ns2:_="" ns3:_="">
    <xsd:import namespace="afbed930-59bf-4068-9420-9ac73cf19c31"/>
    <xsd:import namespace="e44427f7-5430-4fe6-adc6-fcc2a9a35fde"/>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bed930-59bf-4068-9420-9ac73cf19c31"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21" nillable="true" ma:displayName="Taxonomy Catch All Column" ma:hidden="true" ma:list="{40468c85-8156-4929-9423-bc83aa23f71f}" ma:internalName="TaxCatchAll" ma:showField="CatchAllData" ma:web="afbed930-59bf-4068-9420-9ac73cf19c3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e44427f7-5430-4fe6-adc6-fcc2a9a35fde"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0fdcca1d-aa7a-4aa4-88bd-88f0d812d4a1"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element name="MediaServiceLocation" ma:index="23"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afbed930-59bf-4068-9420-9ac73cf19c31" xsi:nil="true"/>
    <lcf76f155ced4ddcb4097134ff3c332f xmlns="e44427f7-5430-4fe6-adc6-fcc2a9a35fde">
      <Terms xmlns="http://schemas.microsoft.com/office/infopath/2007/PartnerControls"/>
    </lcf76f155ced4ddcb4097134ff3c332f>
    <_dlc_DocId xmlns="afbed930-59bf-4068-9420-9ac73cf19c31">73P6UPU343UE-1492078005-67757</_dlc_DocId>
    <_dlc_DocIdUrl xmlns="afbed930-59bf-4068-9420-9ac73cf19c31">
      <Url>https://nmgov.sharepoint.com/sites/HCA-DDSD-Datashare/_layouts/15/DocIdRedir.aspx?ID=73P6UPU343UE-1492078005-67757</Url>
      <Description>73P6UPU343UE-1492078005-67757</Description>
    </_dlc_DocIdUrl>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2D52B3-AEA2-471D-A05D-D90BF968B5EC}">
  <ds:schemaRefs>
    <ds:schemaRef ds:uri="http://schemas.microsoft.com/sharepoint/events"/>
  </ds:schemaRefs>
</ds:datastoreItem>
</file>

<file path=customXml/itemProps2.xml><?xml version="1.0" encoding="utf-8"?>
<ds:datastoreItem xmlns:ds="http://schemas.openxmlformats.org/officeDocument/2006/customXml" ds:itemID="{2CD2DCDD-8050-4624-AE70-CC4BAE6B9B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bed930-59bf-4068-9420-9ac73cf19c31"/>
    <ds:schemaRef ds:uri="e44427f7-5430-4fe6-adc6-fcc2a9a35fd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B63D240-5126-49A1-8EC1-903D70E8565D}">
  <ds:schemaRefs>
    <ds:schemaRef ds:uri="afbed930-59bf-4068-9420-9ac73cf19c31"/>
    <ds:schemaRef ds:uri="e44427f7-5430-4fe6-adc6-fcc2a9a35fde"/>
    <ds:schemaRef ds:uri="http://schemas.microsoft.com/office/2006/metadata/properties"/>
    <ds:schemaRef ds:uri="http://schemas.microsoft.com/office/infopath/2007/PartnerControls"/>
    <ds:schemaRef ds:uri="http://www.w3.org/XML/1998/namespace"/>
    <ds:schemaRef ds:uri="http://schemas.microsoft.com/office/2006/documentManagement/types"/>
    <ds:schemaRef ds:uri="http://purl.org/dc/dcmitype/"/>
    <ds:schemaRef ds:uri="http://schemas.openxmlformats.org/package/2006/metadata/core-properties"/>
    <ds:schemaRef ds:uri="http://purl.org/dc/terms/"/>
    <ds:schemaRef ds:uri="http://purl.org/dc/elements/1.1/"/>
  </ds:schemaRefs>
</ds:datastoreItem>
</file>

<file path=customXml/itemProps4.xml><?xml version="1.0" encoding="utf-8"?>
<ds:datastoreItem xmlns:ds="http://schemas.openxmlformats.org/officeDocument/2006/customXml" ds:itemID="{33DC806A-790F-4EAE-B336-BF5A9D947FD8}">
  <ds:schemaRefs>
    <ds:schemaRef ds:uri="http://schemas.microsoft.com/sharepoint/v3/contenttype/forms"/>
  </ds:schemaRefs>
</ds:datastoreItem>
</file>

<file path=docMetadata/LabelInfo.xml><?xml version="1.0" encoding="utf-8"?>
<clbl:labelList xmlns:clbl="http://schemas.microsoft.com/office/2020/mipLabelMetadata">
  <clbl:label id="{04aa6bf4-d436-426f-bfa4-04b7a70e60ff}" enabled="0" method="" siteId="{04aa6bf4-d436-426f-bfa4-04b7a70e60ff}" removed="1"/>
</clbl:labelList>
</file>

<file path=docProps/app.xml><?xml version="1.0" encoding="utf-8"?>
<Properties xmlns="http://schemas.openxmlformats.org/officeDocument/2006/extended-properties" xmlns:vt="http://schemas.openxmlformats.org/officeDocument/2006/docPropsVTypes">
  <Template>Ion Boardroom</Template>
  <TotalTime>5089</TotalTime>
  <Words>470</Words>
  <Application>Microsoft Office PowerPoint</Application>
  <PresentationFormat>Widescreen</PresentationFormat>
  <Paragraphs>27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Calibri</vt:lpstr>
      <vt:lpstr>Office Theme</vt:lpstr>
      <vt:lpstr>Employment Supports Process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DDSD and DVR Scaffold Funding and Services -The Model</dc:title>
  <dc:creator>Fuller, Christine M., DVR</dc:creator>
  <cp:lastModifiedBy>Dean, Alix, HCA</cp:lastModifiedBy>
  <cp:revision>12</cp:revision>
  <cp:lastPrinted>2025-11-21T15:34:50Z</cp:lastPrinted>
  <dcterms:created xsi:type="dcterms:W3CDTF">2024-04-01T16:16:48Z</dcterms:created>
  <dcterms:modified xsi:type="dcterms:W3CDTF">2026-02-05T17:45:12Z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6BDFD1C8-4EFE-4896-B38C-258BE041DFEF</vt:lpwstr>
  </property>
  <property fmtid="{D5CDD505-2E9C-101B-9397-08002B2CF9AE}" pid="3" name="ArticulatePath">
    <vt:lpwstr>scaffold dvr-ddsd (002)</vt:lpwstr>
  </property>
  <property fmtid="{D5CDD505-2E9C-101B-9397-08002B2CF9AE}" pid="4" name="ContentTypeId">
    <vt:lpwstr>0x0101002DD80F8FBF21224C82D4974208353B81</vt:lpwstr>
  </property>
  <property fmtid="{D5CDD505-2E9C-101B-9397-08002B2CF9AE}" pid="5" name="_dlc_DocIdItemGuid">
    <vt:lpwstr>a3d101fd-45a6-433a-a70d-3498dcbc12e0</vt:lpwstr>
  </property>
  <property fmtid="{D5CDD505-2E9C-101B-9397-08002B2CF9AE}" pid="6" name="MediaServiceImageTags">
    <vt:lpwstr/>
  </property>
</Properties>
</file>