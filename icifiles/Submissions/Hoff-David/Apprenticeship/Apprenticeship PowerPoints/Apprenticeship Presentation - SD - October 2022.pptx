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0" r:id="rId1"/>
    <p:sldMasterId id="2147484032" r:id="rId2"/>
    <p:sldMasterId id="2147484045" r:id="rId3"/>
    <p:sldMasterId id="2147484057" r:id="rId4"/>
    <p:sldMasterId id="2147484069" r:id="rId5"/>
  </p:sldMasterIdLst>
  <p:notesMasterIdLst>
    <p:notesMasterId r:id="rId38"/>
  </p:notesMasterIdLst>
  <p:sldIdLst>
    <p:sldId id="257" r:id="rId6"/>
    <p:sldId id="258" r:id="rId7"/>
    <p:sldId id="1215" r:id="rId8"/>
    <p:sldId id="466" r:id="rId9"/>
    <p:sldId id="1218" r:id="rId10"/>
    <p:sldId id="1216" r:id="rId11"/>
    <p:sldId id="1217" r:id="rId12"/>
    <p:sldId id="474" r:id="rId13"/>
    <p:sldId id="387" r:id="rId14"/>
    <p:sldId id="1219" r:id="rId15"/>
    <p:sldId id="1220" r:id="rId16"/>
    <p:sldId id="473" r:id="rId17"/>
    <p:sldId id="1223" r:id="rId18"/>
    <p:sldId id="1221" r:id="rId19"/>
    <p:sldId id="1224" r:id="rId20"/>
    <p:sldId id="1225" r:id="rId21"/>
    <p:sldId id="1230" r:id="rId22"/>
    <p:sldId id="1235" r:id="rId23"/>
    <p:sldId id="1231" r:id="rId24"/>
    <p:sldId id="1236" r:id="rId25"/>
    <p:sldId id="1226" r:id="rId26"/>
    <p:sldId id="1227" r:id="rId27"/>
    <p:sldId id="1200" r:id="rId28"/>
    <p:sldId id="1069" r:id="rId29"/>
    <p:sldId id="1203" r:id="rId30"/>
    <p:sldId id="1229" r:id="rId31"/>
    <p:sldId id="1228" r:id="rId32"/>
    <p:sldId id="1232" r:id="rId33"/>
    <p:sldId id="1233" r:id="rId34"/>
    <p:sldId id="414" r:id="rId35"/>
    <p:sldId id="1234" r:id="rId36"/>
    <p:sldId id="117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A118"/>
    <a:srgbClr val="E8BB06"/>
    <a:srgbClr val="EDCB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5183"/>
  </p:normalViewPr>
  <p:slideViewPr>
    <p:cSldViewPr snapToGrid="0" snapToObjects="1">
      <p:cViewPr varScale="1">
        <p:scale>
          <a:sx n="94" d="100"/>
          <a:sy n="94" d="100"/>
        </p:scale>
        <p:origin x="216" y="2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0F277-D805-9845-AC0F-21EDCD090926}" type="doc">
      <dgm:prSet loTypeId="urn:microsoft.com/office/officeart/2005/8/layout/radial3" loCatId="" qsTypeId="urn:microsoft.com/office/officeart/2005/8/quickstyle/simple1" qsCatId="simple" csTypeId="urn:microsoft.com/office/officeart/2005/8/colors/accent1_2" csCatId="accent1" phldr="1"/>
      <dgm:spPr/>
      <dgm:t>
        <a:bodyPr/>
        <a:lstStyle/>
        <a:p>
          <a:endParaRPr lang="en-US"/>
        </a:p>
      </dgm:t>
    </dgm:pt>
    <dgm:pt modelId="{63BEBF1C-4D2B-DA4F-94AC-BEBE4366ADF8}">
      <dgm:prSet phldrT="[Text]"/>
      <dgm:spPr>
        <a:scene3d>
          <a:camera prst="orthographicFront"/>
          <a:lightRig rig="threePt" dir="t"/>
        </a:scene3d>
        <a:sp3d>
          <a:bevelT prst="angle"/>
        </a:sp3d>
      </dgm:spPr>
      <dgm:t>
        <a:bodyPr/>
        <a:lstStyle/>
        <a:p>
          <a:r>
            <a:rPr lang="en-US" b="1" dirty="0"/>
            <a:t>Work-Based Learning</a:t>
          </a:r>
        </a:p>
      </dgm:t>
    </dgm:pt>
    <dgm:pt modelId="{DBB28028-44D8-8641-94FD-173E804A2FD2}" type="parTrans" cxnId="{18E4BF8B-8656-B243-AE18-A2490FF6F78C}">
      <dgm:prSet/>
      <dgm:spPr/>
      <dgm:t>
        <a:bodyPr/>
        <a:lstStyle/>
        <a:p>
          <a:endParaRPr lang="en-US"/>
        </a:p>
      </dgm:t>
    </dgm:pt>
    <dgm:pt modelId="{8FE3083B-B547-D34D-B450-A0B8759AC346}" type="sibTrans" cxnId="{18E4BF8B-8656-B243-AE18-A2490FF6F78C}">
      <dgm:prSet/>
      <dgm:spPr/>
      <dgm:t>
        <a:bodyPr/>
        <a:lstStyle/>
        <a:p>
          <a:endParaRPr lang="en-US"/>
        </a:p>
      </dgm:t>
    </dgm:pt>
    <dgm:pt modelId="{B1234F92-6096-BB4C-973E-D550A7C10033}">
      <dgm:prSet phldrT="[Text]" custT="1"/>
      <dgm:spPr>
        <a:solidFill>
          <a:srgbClr val="00B050">
            <a:alpha val="50000"/>
          </a:srgbClr>
        </a:solidFill>
        <a:ln w="22225"/>
      </dgm:spPr>
      <dgm:t>
        <a:bodyPr/>
        <a:lstStyle/>
        <a:p>
          <a:r>
            <a:rPr lang="en-US" sz="2400" cap="small" baseline="0" dirty="0"/>
            <a:t>Apprenticeship</a:t>
          </a:r>
        </a:p>
      </dgm:t>
    </dgm:pt>
    <dgm:pt modelId="{7A11C224-1CF3-4A47-B9A5-359B477F9746}" type="parTrans" cxnId="{D3A5EC61-78F0-CD4D-9C86-D5FB87A5117A}">
      <dgm:prSet/>
      <dgm:spPr/>
      <dgm:t>
        <a:bodyPr/>
        <a:lstStyle/>
        <a:p>
          <a:endParaRPr lang="en-US"/>
        </a:p>
      </dgm:t>
    </dgm:pt>
    <dgm:pt modelId="{596FCC0B-A31D-0743-9F15-81993DFC3923}" type="sibTrans" cxnId="{D3A5EC61-78F0-CD4D-9C86-D5FB87A5117A}">
      <dgm:prSet/>
      <dgm:spPr/>
      <dgm:t>
        <a:bodyPr/>
        <a:lstStyle/>
        <a:p>
          <a:endParaRPr lang="en-US"/>
        </a:p>
      </dgm:t>
    </dgm:pt>
    <dgm:pt modelId="{F4F318B5-646F-D94B-A512-7B6A3F376F53}">
      <dgm:prSet phldrT="[Text]"/>
      <dgm:spPr>
        <a:solidFill>
          <a:srgbClr val="FFFF00">
            <a:alpha val="50000"/>
          </a:srgbClr>
        </a:solidFill>
        <a:ln w="22225"/>
      </dgm:spPr>
      <dgm:t>
        <a:bodyPr/>
        <a:lstStyle/>
        <a:p>
          <a:r>
            <a:rPr lang="en-US" cap="small" baseline="0" dirty="0"/>
            <a:t>Internship</a:t>
          </a:r>
        </a:p>
      </dgm:t>
    </dgm:pt>
    <dgm:pt modelId="{F6BF96EB-1644-3948-9023-D00DEC9910CF}" type="parTrans" cxnId="{B23CA31F-F9F2-E84B-896F-F98B0AC9CB21}">
      <dgm:prSet/>
      <dgm:spPr/>
      <dgm:t>
        <a:bodyPr/>
        <a:lstStyle/>
        <a:p>
          <a:endParaRPr lang="en-US"/>
        </a:p>
      </dgm:t>
    </dgm:pt>
    <dgm:pt modelId="{505C6B3E-F250-1F4C-9E12-3669A30DD1A2}" type="sibTrans" cxnId="{B23CA31F-F9F2-E84B-896F-F98B0AC9CB21}">
      <dgm:prSet/>
      <dgm:spPr/>
      <dgm:t>
        <a:bodyPr/>
        <a:lstStyle/>
        <a:p>
          <a:endParaRPr lang="en-US"/>
        </a:p>
      </dgm:t>
    </dgm:pt>
    <dgm:pt modelId="{ACEE013C-211B-5F41-B1EC-38026800B638}">
      <dgm:prSet phldrT="[Text]"/>
      <dgm:spPr>
        <a:solidFill>
          <a:schemeClr val="bg1">
            <a:lumMod val="50000"/>
            <a:alpha val="50000"/>
          </a:schemeClr>
        </a:solidFill>
        <a:ln w="22225"/>
      </dgm:spPr>
      <dgm:t>
        <a:bodyPr/>
        <a:lstStyle/>
        <a:p>
          <a:r>
            <a:rPr lang="en-US" cap="small" baseline="0" dirty="0"/>
            <a:t>On-the-Job Training</a:t>
          </a:r>
        </a:p>
      </dgm:t>
    </dgm:pt>
    <dgm:pt modelId="{8C0055E7-D9C8-A841-B47E-D51F052A037B}" type="parTrans" cxnId="{5FBB5EF7-61AA-884E-A3DF-917689915BA5}">
      <dgm:prSet/>
      <dgm:spPr/>
      <dgm:t>
        <a:bodyPr/>
        <a:lstStyle/>
        <a:p>
          <a:endParaRPr lang="en-US"/>
        </a:p>
      </dgm:t>
    </dgm:pt>
    <dgm:pt modelId="{2BD49A0D-DDFC-B94C-9E2B-C8ECDE3EDFBC}" type="sibTrans" cxnId="{5FBB5EF7-61AA-884E-A3DF-917689915BA5}">
      <dgm:prSet/>
      <dgm:spPr/>
      <dgm:t>
        <a:bodyPr/>
        <a:lstStyle/>
        <a:p>
          <a:endParaRPr lang="en-US"/>
        </a:p>
      </dgm:t>
    </dgm:pt>
    <dgm:pt modelId="{9E12DF60-4DE8-934D-AE96-56895BC239C3}">
      <dgm:prSet phldrT="[Text]"/>
      <dgm:spPr>
        <a:solidFill>
          <a:schemeClr val="accent4">
            <a:alpha val="50000"/>
          </a:schemeClr>
        </a:solidFill>
        <a:ln w="22225"/>
      </dgm:spPr>
      <dgm:t>
        <a:bodyPr/>
        <a:lstStyle/>
        <a:p>
          <a:r>
            <a:rPr lang="en-US" cap="small" baseline="0" dirty="0"/>
            <a:t>Co-Op</a:t>
          </a:r>
        </a:p>
      </dgm:t>
    </dgm:pt>
    <dgm:pt modelId="{58C8F273-7A6A-E743-8F06-FFCDD0C40504}" type="parTrans" cxnId="{5A4B6662-5979-244E-AF54-E43655B345E9}">
      <dgm:prSet/>
      <dgm:spPr/>
      <dgm:t>
        <a:bodyPr/>
        <a:lstStyle/>
        <a:p>
          <a:endParaRPr lang="en-US"/>
        </a:p>
      </dgm:t>
    </dgm:pt>
    <dgm:pt modelId="{4B072A1F-4E04-1F4E-9B96-7BB32B7E3B43}" type="sibTrans" cxnId="{5A4B6662-5979-244E-AF54-E43655B345E9}">
      <dgm:prSet/>
      <dgm:spPr/>
      <dgm:t>
        <a:bodyPr/>
        <a:lstStyle/>
        <a:p>
          <a:endParaRPr lang="en-US"/>
        </a:p>
      </dgm:t>
    </dgm:pt>
    <dgm:pt modelId="{E2541F95-2CA4-AE4C-BC4E-CD84B39B2042}">
      <dgm:prSet phldrT="[Text]" custT="1"/>
      <dgm:spPr>
        <a:solidFill>
          <a:srgbClr val="C00000">
            <a:alpha val="50000"/>
          </a:srgbClr>
        </a:solidFill>
        <a:ln w="22225">
          <a:solidFill>
            <a:schemeClr val="tx1"/>
          </a:solidFill>
        </a:ln>
      </dgm:spPr>
      <dgm:t>
        <a:bodyPr/>
        <a:lstStyle/>
        <a:p>
          <a:r>
            <a:rPr lang="en-US" sz="2400" cap="small" baseline="0" dirty="0"/>
            <a:t>Transitional Employment</a:t>
          </a:r>
        </a:p>
      </dgm:t>
    </dgm:pt>
    <dgm:pt modelId="{2BDA442F-0905-9B48-92D3-2BAAAF36582A}" type="parTrans" cxnId="{AB8FBEF1-747F-544F-90E8-6F232E21380F}">
      <dgm:prSet/>
      <dgm:spPr/>
      <dgm:t>
        <a:bodyPr/>
        <a:lstStyle/>
        <a:p>
          <a:endParaRPr lang="en-US"/>
        </a:p>
      </dgm:t>
    </dgm:pt>
    <dgm:pt modelId="{0979BB89-CE0E-D742-8268-695FBED80B6A}" type="sibTrans" cxnId="{AB8FBEF1-747F-544F-90E8-6F232E21380F}">
      <dgm:prSet/>
      <dgm:spPr/>
      <dgm:t>
        <a:bodyPr/>
        <a:lstStyle/>
        <a:p>
          <a:endParaRPr lang="en-US"/>
        </a:p>
      </dgm:t>
    </dgm:pt>
    <dgm:pt modelId="{7B71F87E-5FE5-3447-A237-25F5BC90D088}" type="pres">
      <dgm:prSet presAssocID="{2FD0F277-D805-9845-AC0F-21EDCD090926}" presName="composite" presStyleCnt="0">
        <dgm:presLayoutVars>
          <dgm:chMax val="1"/>
          <dgm:dir/>
          <dgm:resizeHandles val="exact"/>
        </dgm:presLayoutVars>
      </dgm:prSet>
      <dgm:spPr/>
    </dgm:pt>
    <dgm:pt modelId="{4AE9C479-D95A-CC4E-97C5-523E9148C596}" type="pres">
      <dgm:prSet presAssocID="{2FD0F277-D805-9845-AC0F-21EDCD090926}" presName="radial" presStyleCnt="0">
        <dgm:presLayoutVars>
          <dgm:animLvl val="ctr"/>
        </dgm:presLayoutVars>
      </dgm:prSet>
      <dgm:spPr/>
    </dgm:pt>
    <dgm:pt modelId="{86ECC78F-837F-9241-AF58-ABA6CF7F5299}" type="pres">
      <dgm:prSet presAssocID="{63BEBF1C-4D2B-DA4F-94AC-BEBE4366ADF8}" presName="centerShape" presStyleLbl="vennNode1" presStyleIdx="0" presStyleCnt="6"/>
      <dgm:spPr/>
    </dgm:pt>
    <dgm:pt modelId="{3A0447CE-9D9F-A84A-843E-469AE8909EC8}" type="pres">
      <dgm:prSet presAssocID="{B1234F92-6096-BB4C-973E-D550A7C10033}" presName="node" presStyleLbl="vennNode1" presStyleIdx="1" presStyleCnt="6" custScaleX="166042" custScaleY="99600" custRadScaleRad="102855">
        <dgm:presLayoutVars>
          <dgm:bulletEnabled val="1"/>
        </dgm:presLayoutVars>
      </dgm:prSet>
      <dgm:spPr/>
    </dgm:pt>
    <dgm:pt modelId="{47486FE5-B2AD-E049-BA20-51A352902296}" type="pres">
      <dgm:prSet presAssocID="{F4F318B5-646F-D94B-A512-7B6A3F376F53}" presName="node" presStyleLbl="vennNode1" presStyleIdx="2" presStyleCnt="6" custScaleX="120615" custScaleY="81763" custRadScaleRad="111948" custRadScaleInc="6102">
        <dgm:presLayoutVars>
          <dgm:bulletEnabled val="1"/>
        </dgm:presLayoutVars>
      </dgm:prSet>
      <dgm:spPr/>
    </dgm:pt>
    <dgm:pt modelId="{376EA7C3-3393-9E4E-97AA-CC33F2A2D535}" type="pres">
      <dgm:prSet presAssocID="{ACEE013C-211B-5F41-B1EC-38026800B638}" presName="node" presStyleLbl="vennNode1" presStyleIdx="3" presStyleCnt="6" custScaleX="146783" custScaleY="90897" custRadScaleRad="111910" custRadScaleInc="-7089">
        <dgm:presLayoutVars>
          <dgm:bulletEnabled val="1"/>
        </dgm:presLayoutVars>
      </dgm:prSet>
      <dgm:spPr/>
    </dgm:pt>
    <dgm:pt modelId="{1B69B673-4096-4642-94CA-C584ECC05902}" type="pres">
      <dgm:prSet presAssocID="{9E12DF60-4DE8-934D-AE96-56895BC239C3}" presName="node" presStyleLbl="vennNode1" presStyleIdx="4" presStyleCnt="6" custScaleX="132588" custScaleY="79013" custRadScaleRad="108999" custRadScaleInc="5657">
        <dgm:presLayoutVars>
          <dgm:bulletEnabled val="1"/>
        </dgm:presLayoutVars>
      </dgm:prSet>
      <dgm:spPr/>
    </dgm:pt>
    <dgm:pt modelId="{61D72645-D724-8F4E-8E84-85BEAC38DB2D}" type="pres">
      <dgm:prSet presAssocID="{E2541F95-2CA4-AE4C-BC4E-CD84B39B2042}" presName="node" presStyleLbl="vennNode1" presStyleIdx="5" presStyleCnt="6" custScaleX="146786" custScaleY="89160" custRadScaleRad="118875" custRadScaleInc="-6439">
        <dgm:presLayoutVars>
          <dgm:bulletEnabled val="1"/>
        </dgm:presLayoutVars>
      </dgm:prSet>
      <dgm:spPr/>
    </dgm:pt>
  </dgm:ptLst>
  <dgm:cxnLst>
    <dgm:cxn modelId="{DFA19A0F-46FC-7048-8CB4-67EF5A21ADBD}" type="presOf" srcId="{E2541F95-2CA4-AE4C-BC4E-CD84B39B2042}" destId="{61D72645-D724-8F4E-8E84-85BEAC38DB2D}" srcOrd="0" destOrd="0" presId="urn:microsoft.com/office/officeart/2005/8/layout/radial3"/>
    <dgm:cxn modelId="{B23CA31F-F9F2-E84B-896F-F98B0AC9CB21}" srcId="{63BEBF1C-4D2B-DA4F-94AC-BEBE4366ADF8}" destId="{F4F318B5-646F-D94B-A512-7B6A3F376F53}" srcOrd="1" destOrd="0" parTransId="{F6BF96EB-1644-3948-9023-D00DEC9910CF}" sibTransId="{505C6B3E-F250-1F4C-9E12-3669A30DD1A2}"/>
    <dgm:cxn modelId="{89900228-83C4-024E-98A9-82F9C2D62AE9}" type="presOf" srcId="{ACEE013C-211B-5F41-B1EC-38026800B638}" destId="{376EA7C3-3393-9E4E-97AA-CC33F2A2D535}" srcOrd="0" destOrd="0" presId="urn:microsoft.com/office/officeart/2005/8/layout/radial3"/>
    <dgm:cxn modelId="{D3A5EC61-78F0-CD4D-9C86-D5FB87A5117A}" srcId="{63BEBF1C-4D2B-DA4F-94AC-BEBE4366ADF8}" destId="{B1234F92-6096-BB4C-973E-D550A7C10033}" srcOrd="0" destOrd="0" parTransId="{7A11C224-1CF3-4A47-B9A5-359B477F9746}" sibTransId="{596FCC0B-A31D-0743-9F15-81993DFC3923}"/>
    <dgm:cxn modelId="{5A4B6662-5979-244E-AF54-E43655B345E9}" srcId="{63BEBF1C-4D2B-DA4F-94AC-BEBE4366ADF8}" destId="{9E12DF60-4DE8-934D-AE96-56895BC239C3}" srcOrd="3" destOrd="0" parTransId="{58C8F273-7A6A-E743-8F06-FFCDD0C40504}" sibTransId="{4B072A1F-4E04-1F4E-9B96-7BB32B7E3B43}"/>
    <dgm:cxn modelId="{0D072C6B-83C8-334A-9D98-B7118C2E2E9C}" type="presOf" srcId="{F4F318B5-646F-D94B-A512-7B6A3F376F53}" destId="{47486FE5-B2AD-E049-BA20-51A352902296}" srcOrd="0" destOrd="0" presId="urn:microsoft.com/office/officeart/2005/8/layout/radial3"/>
    <dgm:cxn modelId="{18E4BF8B-8656-B243-AE18-A2490FF6F78C}" srcId="{2FD0F277-D805-9845-AC0F-21EDCD090926}" destId="{63BEBF1C-4D2B-DA4F-94AC-BEBE4366ADF8}" srcOrd="0" destOrd="0" parTransId="{DBB28028-44D8-8641-94FD-173E804A2FD2}" sibTransId="{8FE3083B-B547-D34D-B450-A0B8759AC346}"/>
    <dgm:cxn modelId="{C6190A9E-5D66-184F-9845-35C8C335DB48}" type="presOf" srcId="{9E12DF60-4DE8-934D-AE96-56895BC239C3}" destId="{1B69B673-4096-4642-94CA-C584ECC05902}" srcOrd="0" destOrd="0" presId="urn:microsoft.com/office/officeart/2005/8/layout/radial3"/>
    <dgm:cxn modelId="{F46E72DF-2972-8046-901D-ADC24B4A3F37}" type="presOf" srcId="{63BEBF1C-4D2B-DA4F-94AC-BEBE4366ADF8}" destId="{86ECC78F-837F-9241-AF58-ABA6CF7F5299}" srcOrd="0" destOrd="0" presId="urn:microsoft.com/office/officeart/2005/8/layout/radial3"/>
    <dgm:cxn modelId="{B3A836EC-A3AF-6743-A3B8-978F7B7961AD}" type="presOf" srcId="{2FD0F277-D805-9845-AC0F-21EDCD090926}" destId="{7B71F87E-5FE5-3447-A237-25F5BC90D088}" srcOrd="0" destOrd="0" presId="urn:microsoft.com/office/officeart/2005/8/layout/radial3"/>
    <dgm:cxn modelId="{00FD58EC-9A22-9547-9345-EACDF6CC8A38}" type="presOf" srcId="{B1234F92-6096-BB4C-973E-D550A7C10033}" destId="{3A0447CE-9D9F-A84A-843E-469AE8909EC8}" srcOrd="0" destOrd="0" presId="urn:microsoft.com/office/officeart/2005/8/layout/radial3"/>
    <dgm:cxn modelId="{AB8FBEF1-747F-544F-90E8-6F232E21380F}" srcId="{63BEBF1C-4D2B-DA4F-94AC-BEBE4366ADF8}" destId="{E2541F95-2CA4-AE4C-BC4E-CD84B39B2042}" srcOrd="4" destOrd="0" parTransId="{2BDA442F-0905-9B48-92D3-2BAAAF36582A}" sibTransId="{0979BB89-CE0E-D742-8268-695FBED80B6A}"/>
    <dgm:cxn modelId="{5FBB5EF7-61AA-884E-A3DF-917689915BA5}" srcId="{63BEBF1C-4D2B-DA4F-94AC-BEBE4366ADF8}" destId="{ACEE013C-211B-5F41-B1EC-38026800B638}" srcOrd="2" destOrd="0" parTransId="{8C0055E7-D9C8-A841-B47E-D51F052A037B}" sibTransId="{2BD49A0D-DDFC-B94C-9E2B-C8ECDE3EDFBC}"/>
    <dgm:cxn modelId="{9C63633E-EBC6-5445-A3CA-DFA554694651}" type="presParOf" srcId="{7B71F87E-5FE5-3447-A237-25F5BC90D088}" destId="{4AE9C479-D95A-CC4E-97C5-523E9148C596}" srcOrd="0" destOrd="0" presId="urn:microsoft.com/office/officeart/2005/8/layout/radial3"/>
    <dgm:cxn modelId="{723096FC-A47A-9F42-8277-488DE6480420}" type="presParOf" srcId="{4AE9C479-D95A-CC4E-97C5-523E9148C596}" destId="{86ECC78F-837F-9241-AF58-ABA6CF7F5299}" srcOrd="0" destOrd="0" presId="urn:microsoft.com/office/officeart/2005/8/layout/radial3"/>
    <dgm:cxn modelId="{1B5ACA62-0EA2-9A45-A3CD-27A13F93ABBC}" type="presParOf" srcId="{4AE9C479-D95A-CC4E-97C5-523E9148C596}" destId="{3A0447CE-9D9F-A84A-843E-469AE8909EC8}" srcOrd="1" destOrd="0" presId="urn:microsoft.com/office/officeart/2005/8/layout/radial3"/>
    <dgm:cxn modelId="{DE3378AD-C408-D948-BCA5-F18C3C6FB9C2}" type="presParOf" srcId="{4AE9C479-D95A-CC4E-97C5-523E9148C596}" destId="{47486FE5-B2AD-E049-BA20-51A352902296}" srcOrd="2" destOrd="0" presId="urn:microsoft.com/office/officeart/2005/8/layout/radial3"/>
    <dgm:cxn modelId="{A8D2D8D0-748E-1D44-AD9B-64A9A4456A6C}" type="presParOf" srcId="{4AE9C479-D95A-CC4E-97C5-523E9148C596}" destId="{376EA7C3-3393-9E4E-97AA-CC33F2A2D535}" srcOrd="3" destOrd="0" presId="urn:microsoft.com/office/officeart/2005/8/layout/radial3"/>
    <dgm:cxn modelId="{56825EBF-5E6D-DC4D-B019-577D3A370C8C}" type="presParOf" srcId="{4AE9C479-D95A-CC4E-97C5-523E9148C596}" destId="{1B69B673-4096-4642-94CA-C584ECC05902}" srcOrd="4" destOrd="0" presId="urn:microsoft.com/office/officeart/2005/8/layout/radial3"/>
    <dgm:cxn modelId="{333C7F94-9CAE-0D4D-8850-A7193AC06C3A}" type="presParOf" srcId="{4AE9C479-D95A-CC4E-97C5-523E9148C596}" destId="{61D72645-D724-8F4E-8E84-85BEAC38DB2D}" srcOrd="5"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84DF8B-2B06-4B46-B368-5861E543996D}"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en-US"/>
        </a:p>
      </dgm:t>
    </dgm:pt>
    <dgm:pt modelId="{5E3E21D6-1D8C-C84E-AA5F-EA88029999F9}">
      <dgm:prSet phldrT="[Text]" custT="1"/>
      <dgm:spPr>
        <a:solidFill>
          <a:srgbClr val="00B0F0"/>
        </a:solidFill>
        <a:effectLst>
          <a:glow rad="228600">
            <a:schemeClr val="accent1">
              <a:satMod val="175000"/>
              <a:alpha val="40000"/>
            </a:schemeClr>
          </a:glow>
        </a:effectLst>
        <a:scene3d>
          <a:camera prst="orthographicFront"/>
          <a:lightRig rig="threePt" dir="t"/>
        </a:scene3d>
        <a:sp3d>
          <a:bevelT prst="angle"/>
        </a:sp3d>
      </dgm:spPr>
      <dgm:t>
        <a:bodyPr/>
        <a:lstStyle/>
        <a:p>
          <a:r>
            <a:rPr lang="en-US" sz="2400" dirty="0">
              <a:solidFill>
                <a:schemeClr val="tx1"/>
              </a:solidFill>
              <a:latin typeface="Impact" panose="020B0806030902050204" pitchFamily="34" charset="0"/>
            </a:rPr>
            <a:t>Apprenticeship</a:t>
          </a:r>
        </a:p>
      </dgm:t>
    </dgm:pt>
    <dgm:pt modelId="{DF46FA5C-EA1B-2A4A-8F25-10134CE25D19}" type="parTrans" cxnId="{F1F1DCB4-C231-3342-9E9C-BCE3B93EE080}">
      <dgm:prSet/>
      <dgm:spPr/>
      <dgm:t>
        <a:bodyPr/>
        <a:lstStyle/>
        <a:p>
          <a:endParaRPr lang="en-US"/>
        </a:p>
      </dgm:t>
    </dgm:pt>
    <dgm:pt modelId="{E36CB782-23F6-3944-9B8F-AB15C1ACBDE6}" type="sibTrans" cxnId="{F1F1DCB4-C231-3342-9E9C-BCE3B93EE080}">
      <dgm:prSet/>
      <dgm:spPr/>
      <dgm:t>
        <a:bodyPr/>
        <a:lstStyle/>
        <a:p>
          <a:endParaRPr lang="en-US"/>
        </a:p>
      </dgm:t>
    </dgm:pt>
    <dgm:pt modelId="{F84C97B0-A7A3-4D4A-8E71-6FB699569B0B}">
      <dgm:prSet phldrT="[Text]" custT="1"/>
      <dgm:spPr>
        <a:solidFill>
          <a:srgbClr val="FFFF00"/>
        </a:solidFill>
        <a:ln w="25400">
          <a:solidFill>
            <a:schemeClr val="tx1"/>
          </a:solidFill>
        </a:ln>
      </dgm:spPr>
      <dgm:t>
        <a:bodyPr/>
        <a:lstStyle/>
        <a:p>
          <a:r>
            <a:rPr lang="en-US" sz="2000" cap="small" baseline="0" dirty="0">
              <a:solidFill>
                <a:schemeClr val="tx1"/>
              </a:solidFill>
            </a:rPr>
            <a:t>Paid job</a:t>
          </a:r>
        </a:p>
      </dgm:t>
    </dgm:pt>
    <dgm:pt modelId="{28E57083-0F94-3A4E-A175-4C2F6B117C08}" type="parTrans" cxnId="{D86DC21B-B383-9A47-8891-BD8DF2FCF474}">
      <dgm:prSet/>
      <dgm:spPr/>
      <dgm:t>
        <a:bodyPr/>
        <a:lstStyle/>
        <a:p>
          <a:endParaRPr lang="en-US"/>
        </a:p>
      </dgm:t>
    </dgm:pt>
    <dgm:pt modelId="{0DE8ECC9-16B5-624A-9DE7-C4194CE8FB76}" type="sibTrans" cxnId="{D86DC21B-B383-9A47-8891-BD8DF2FCF474}">
      <dgm:prSet/>
      <dgm:spPr/>
      <dgm:t>
        <a:bodyPr/>
        <a:lstStyle/>
        <a:p>
          <a:endParaRPr lang="en-US"/>
        </a:p>
      </dgm:t>
    </dgm:pt>
    <dgm:pt modelId="{8F2D80A4-4FA2-2947-BF97-74895B970200}">
      <dgm:prSet phldrT="[Text]" custT="1"/>
      <dgm:spPr>
        <a:solidFill>
          <a:srgbClr val="7030A0"/>
        </a:solidFill>
        <a:ln w="25400">
          <a:solidFill>
            <a:schemeClr val="tx1"/>
          </a:solidFill>
        </a:ln>
      </dgm:spPr>
      <dgm:t>
        <a:bodyPr/>
        <a:lstStyle/>
        <a:p>
          <a:r>
            <a:rPr lang="en-US" sz="2000" cap="small" baseline="0" dirty="0">
              <a:solidFill>
                <a:schemeClr val="bg1"/>
              </a:solidFill>
            </a:rPr>
            <a:t>Mentoring</a:t>
          </a:r>
        </a:p>
      </dgm:t>
    </dgm:pt>
    <dgm:pt modelId="{9539E4E5-28B9-2747-949B-ACBEDE2B1618}" type="parTrans" cxnId="{781A2D7D-B8DD-1341-AA98-EB72F8936F97}">
      <dgm:prSet/>
      <dgm:spPr/>
      <dgm:t>
        <a:bodyPr/>
        <a:lstStyle/>
        <a:p>
          <a:endParaRPr lang="en-US"/>
        </a:p>
      </dgm:t>
    </dgm:pt>
    <dgm:pt modelId="{6F597BB9-AC97-3649-BAC0-5C63C1CF14C3}" type="sibTrans" cxnId="{781A2D7D-B8DD-1341-AA98-EB72F8936F97}">
      <dgm:prSet/>
      <dgm:spPr/>
      <dgm:t>
        <a:bodyPr/>
        <a:lstStyle/>
        <a:p>
          <a:endParaRPr lang="en-US"/>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00AD3E7A-DE65-EF44-8C0C-DA72A2DE8AAF}">
      <dgm:prSet phldrT="[Text]" custT="1"/>
      <dgm:spPr>
        <a:solidFill>
          <a:srgbClr val="FFC000"/>
        </a:solidFill>
        <a:ln w="25400">
          <a:solidFill>
            <a:schemeClr val="tx1"/>
          </a:solidFill>
        </a:ln>
      </dgm:spPr>
      <dgm:t>
        <a:bodyPr/>
        <a:lstStyle/>
        <a:p>
          <a:r>
            <a:rPr lang="en-US" sz="2000" cap="small" baseline="0" dirty="0">
              <a:solidFill>
                <a:schemeClr val="tx1"/>
              </a:solidFill>
            </a:rPr>
            <a:t>Results in Industry Credential</a:t>
          </a:r>
        </a:p>
      </dgm:t>
    </dgm:pt>
    <dgm:pt modelId="{4FE59371-40E2-7A4B-86D5-B7BE5B18B93A}" type="parTrans" cxnId="{D4CFE315-0220-CC4A-970B-5574D381E74F}">
      <dgm:prSet/>
      <dgm:spPr/>
      <dgm:t>
        <a:bodyPr/>
        <a:lstStyle/>
        <a:p>
          <a:endParaRPr lang="en-US"/>
        </a:p>
      </dgm:t>
    </dgm:pt>
    <dgm:pt modelId="{560D095A-14EE-FF4A-BEE8-8D2C8F78009E}" type="sibTrans" cxnId="{D4CFE315-0220-CC4A-970B-5574D381E74F}">
      <dgm:prSet/>
      <dgm:spPr/>
      <dgm:t>
        <a:bodyPr/>
        <a:lstStyle/>
        <a:p>
          <a:endParaRPr lang="en-US"/>
        </a:p>
      </dgm:t>
    </dgm:pt>
    <dgm:pt modelId="{4F19FCB8-DFF7-C74D-B35E-0E070B55CAC5}">
      <dgm:prSet phldrT="[Text]" custT="1"/>
      <dgm:spPr>
        <a:solidFill>
          <a:srgbClr val="C00000"/>
        </a:solidFill>
        <a:ln w="25400">
          <a:solidFill>
            <a:schemeClr val="tx1"/>
          </a:solidFill>
        </a:ln>
      </dgm:spPr>
      <dgm:t>
        <a:bodyPr/>
        <a:lstStyle/>
        <a:p>
          <a:r>
            <a:rPr lang="en-US" sz="2000" cap="small" baseline="0" dirty="0"/>
            <a:t>Related instruction</a:t>
          </a:r>
        </a:p>
      </dgm:t>
    </dgm:pt>
    <dgm:pt modelId="{BF066618-99C4-194E-AB58-668FCB524FD6}" type="parTrans" cxnId="{F1B2F35E-F590-E040-BBDB-8E6E7E14A50B}">
      <dgm:prSet/>
      <dgm:spPr/>
      <dgm:t>
        <a:bodyPr/>
        <a:lstStyle/>
        <a:p>
          <a:endParaRPr lang="en-US"/>
        </a:p>
      </dgm:t>
    </dgm:pt>
    <dgm:pt modelId="{13E96B79-8B5C-194C-BA15-2DA63A1F2A11}" type="sibTrans" cxnId="{F1B2F35E-F590-E040-BBDB-8E6E7E14A50B}">
      <dgm:prSet/>
      <dgm:spPr/>
      <dgm:t>
        <a:bodyPr/>
        <a:lstStyle/>
        <a:p>
          <a:endParaRPr lang="en-US"/>
        </a:p>
      </dgm:t>
    </dgm:pt>
    <dgm:pt modelId="{29B6994F-BC5F-7E46-8F5B-629C78BF5FBC}">
      <dgm:prSet/>
      <dgm:spPr/>
      <dgm:t>
        <a:bodyPr/>
        <a:lstStyle/>
        <a:p>
          <a:r>
            <a:rPr lang="en-US" dirty="0"/>
            <a:t>Scheduled Wage Increases</a:t>
          </a:r>
        </a:p>
      </dgm:t>
    </dgm:pt>
    <dgm:pt modelId="{93162405-AA41-6946-A38F-77B245FB8B23}" type="parTrans" cxnId="{44979834-983C-114B-B0D9-6A0C3A7276C4}">
      <dgm:prSet/>
      <dgm:spPr/>
      <dgm:t>
        <a:bodyPr/>
        <a:lstStyle/>
        <a:p>
          <a:endParaRPr lang="en-US"/>
        </a:p>
      </dgm:t>
    </dgm:pt>
    <dgm:pt modelId="{3B13A7A2-239E-CE45-98C0-8467FE3E66DB}" type="sibTrans" cxnId="{44979834-983C-114B-B0D9-6A0C3A7276C4}">
      <dgm:prSet/>
      <dgm:spPr/>
      <dgm:t>
        <a:bodyPr/>
        <a:lstStyle/>
        <a:p>
          <a:endParaRPr lang="en-US"/>
        </a:p>
      </dgm:t>
    </dgm:pt>
    <dgm:pt modelId="{8CD4AE62-BD57-F54E-B0CA-8B4612EAA804}" type="pres">
      <dgm:prSet presAssocID="{F084DF8B-2B06-4B46-B368-5861E543996D}" presName="Name0" presStyleCnt="0">
        <dgm:presLayoutVars>
          <dgm:chMax val="1"/>
          <dgm:dir/>
          <dgm:animLvl val="ctr"/>
          <dgm:resizeHandles val="exact"/>
        </dgm:presLayoutVars>
      </dgm:prSet>
      <dgm:spPr/>
    </dgm:pt>
    <dgm:pt modelId="{254F2912-87A4-8C40-90F6-306E190CBB67}" type="pres">
      <dgm:prSet presAssocID="{5E3E21D6-1D8C-C84E-AA5F-EA88029999F9}" presName="centerShape" presStyleLbl="node0" presStyleIdx="0" presStyleCnt="1" custScaleX="142150" custScaleY="96502" custLinFactNeighborX="2297" custLinFactNeighborY="530"/>
      <dgm:spPr/>
    </dgm:pt>
    <dgm:pt modelId="{25B26556-9526-AB4F-98FA-7DEC28D786A1}" type="pres">
      <dgm:prSet presAssocID="{F84C97B0-A7A3-4D4A-8E71-6FB699569B0B}" presName="node" presStyleLbl="node1" presStyleIdx="0" presStyleCnt="5">
        <dgm:presLayoutVars>
          <dgm:bulletEnabled val="1"/>
        </dgm:presLayoutVars>
      </dgm:prSet>
      <dgm:spPr/>
    </dgm:pt>
    <dgm:pt modelId="{3E37F32D-6A25-C640-B50E-C7C5589FB3D1}" type="pres">
      <dgm:prSet presAssocID="{F84C97B0-A7A3-4D4A-8E71-6FB699569B0B}" presName="dummy" presStyleCnt="0"/>
      <dgm:spPr/>
    </dgm:pt>
    <dgm:pt modelId="{EC27E2BE-EBB2-2E42-B59F-26F1A39D4921}" type="pres">
      <dgm:prSet presAssocID="{0DE8ECC9-16B5-624A-9DE7-C4194CE8FB76}" presName="sibTrans" presStyleLbl="sibTrans2D1" presStyleIdx="0" presStyleCnt="5"/>
      <dgm:spPr/>
    </dgm:pt>
    <dgm:pt modelId="{73899DA7-FBC3-8A42-BD7C-AC4F5B124E1D}" type="pres">
      <dgm:prSet presAssocID="{8F2D80A4-4FA2-2947-BF97-74895B970200}" presName="node" presStyleLbl="node1" presStyleIdx="1" presStyleCnt="5" custScaleX="116530" custScaleY="104127" custRadScaleRad="121200">
        <dgm:presLayoutVars>
          <dgm:bulletEnabled val="1"/>
        </dgm:presLayoutVars>
      </dgm:prSet>
      <dgm:spPr/>
    </dgm:pt>
    <dgm:pt modelId="{88CD7B60-34AE-C044-BDFF-94FA2EAA2359}" type="pres">
      <dgm:prSet presAssocID="{8F2D80A4-4FA2-2947-BF97-74895B970200}" presName="dummy" presStyleCnt="0"/>
      <dgm:spPr/>
    </dgm:pt>
    <dgm:pt modelId="{DA577CD3-20FE-7A46-B785-D0CD29C70D51}" type="pres">
      <dgm:prSet presAssocID="{6F597BB9-AC97-3649-BAC0-5C63C1CF14C3}" presName="sibTrans" presStyleLbl="sibTrans2D1" presStyleIdx="1" presStyleCnt="5"/>
      <dgm:spPr/>
    </dgm:pt>
    <dgm:pt modelId="{3D861FD2-F3CB-4E46-813C-3309D5600BE3}" type="pres">
      <dgm:prSet presAssocID="{00AD3E7A-DE65-EF44-8C0C-DA72A2DE8AAF}" presName="node" presStyleLbl="node1" presStyleIdx="2" presStyleCnt="5" custScaleX="123275" custScaleY="103835">
        <dgm:presLayoutVars>
          <dgm:bulletEnabled val="1"/>
        </dgm:presLayoutVars>
      </dgm:prSet>
      <dgm:spPr/>
    </dgm:pt>
    <dgm:pt modelId="{B9402710-7C26-684A-8B9A-99D2E908D8FB}" type="pres">
      <dgm:prSet presAssocID="{00AD3E7A-DE65-EF44-8C0C-DA72A2DE8AAF}" presName="dummy" presStyleCnt="0"/>
      <dgm:spPr/>
    </dgm:pt>
    <dgm:pt modelId="{5EBACC73-ABA9-DB40-87B6-E9BFF0CE1159}" type="pres">
      <dgm:prSet presAssocID="{560D095A-14EE-FF4A-BEE8-8D2C8F78009E}" presName="sibTrans" presStyleLbl="sibTrans2D1" presStyleIdx="2" presStyleCnt="5"/>
      <dgm:spPr/>
    </dgm:pt>
    <dgm:pt modelId="{87726E35-F6AD-1445-88C4-B4F004C0C6F6}" type="pres">
      <dgm:prSet presAssocID="{4F19FCB8-DFF7-C74D-B35E-0E070B55CAC5}" presName="node" presStyleLbl="node1" presStyleIdx="3" presStyleCnt="5" custScaleX="125968" custScaleY="109563" custRadScaleRad="114840">
        <dgm:presLayoutVars>
          <dgm:bulletEnabled val="1"/>
        </dgm:presLayoutVars>
      </dgm:prSet>
      <dgm:spPr/>
    </dgm:pt>
    <dgm:pt modelId="{10C3E3A1-2519-D142-9F44-31C0DCA442CA}" type="pres">
      <dgm:prSet presAssocID="{4F19FCB8-DFF7-C74D-B35E-0E070B55CAC5}" presName="dummy" presStyleCnt="0"/>
      <dgm:spPr/>
    </dgm:pt>
    <dgm:pt modelId="{9BDD6204-D740-B745-A591-47E95BA48AED}" type="pres">
      <dgm:prSet presAssocID="{13E96B79-8B5C-194C-BA15-2DA63A1F2A11}" presName="sibTrans" presStyleLbl="sibTrans2D1" presStyleIdx="3" presStyleCnt="5"/>
      <dgm:spPr/>
    </dgm:pt>
    <dgm:pt modelId="{7B326DDF-C587-2C44-9083-A539913CCCDB}" type="pres">
      <dgm:prSet presAssocID="{29B6994F-BC5F-7E46-8F5B-629C78BF5FBC}" presName="node" presStyleLbl="node1" presStyleIdx="4" presStyleCnt="5">
        <dgm:presLayoutVars>
          <dgm:bulletEnabled val="1"/>
        </dgm:presLayoutVars>
      </dgm:prSet>
      <dgm:spPr/>
    </dgm:pt>
    <dgm:pt modelId="{6E646D98-CFE1-ED4A-85AD-B49B941EB58C}" type="pres">
      <dgm:prSet presAssocID="{29B6994F-BC5F-7E46-8F5B-629C78BF5FBC}" presName="dummy" presStyleCnt="0"/>
      <dgm:spPr/>
    </dgm:pt>
    <dgm:pt modelId="{F551E9B2-CA9B-F040-B786-FC4C0A66E4B3}" type="pres">
      <dgm:prSet presAssocID="{3B13A7A2-239E-CE45-98C0-8467FE3E66DB}" presName="sibTrans" presStyleLbl="sibTrans2D1" presStyleIdx="4" presStyleCnt="5"/>
      <dgm:spPr/>
    </dgm:pt>
  </dgm:ptLst>
  <dgm:cxnLst>
    <dgm:cxn modelId="{F04C2C0A-3646-D54E-A800-6720128011FC}" type="presOf" srcId="{4F19FCB8-DFF7-C74D-B35E-0E070B55CAC5}" destId="{87726E35-F6AD-1445-88C4-B4F004C0C6F6}" srcOrd="0" destOrd="0" presId="urn:microsoft.com/office/officeart/2005/8/layout/radial6"/>
    <dgm:cxn modelId="{B6736D13-CC25-AF4C-9520-4E66D5D60C96}" type="presOf" srcId="{00AD3E7A-DE65-EF44-8C0C-DA72A2DE8AAF}" destId="{3D861FD2-F3CB-4E46-813C-3309D5600BE3}" srcOrd="0" destOrd="0" presId="urn:microsoft.com/office/officeart/2005/8/layout/radial6"/>
    <dgm:cxn modelId="{D4CFE315-0220-CC4A-970B-5574D381E74F}" srcId="{5E3E21D6-1D8C-C84E-AA5F-EA88029999F9}" destId="{00AD3E7A-DE65-EF44-8C0C-DA72A2DE8AAF}" srcOrd="2" destOrd="0" parTransId="{4FE59371-40E2-7A4B-86D5-B7BE5B18B93A}" sibTransId="{560D095A-14EE-FF4A-BEE8-8D2C8F78009E}"/>
    <dgm:cxn modelId="{D86DC21B-B383-9A47-8891-BD8DF2FCF474}" srcId="{5E3E21D6-1D8C-C84E-AA5F-EA88029999F9}" destId="{F84C97B0-A7A3-4D4A-8E71-6FB699569B0B}" srcOrd="0" destOrd="0" parTransId="{28E57083-0F94-3A4E-A175-4C2F6B117C08}" sibTransId="{0DE8ECC9-16B5-624A-9DE7-C4194CE8FB76}"/>
    <dgm:cxn modelId="{575C751F-78AE-674D-AE8E-1A7DA98E09F8}" type="presOf" srcId="{8F2D80A4-4FA2-2947-BF97-74895B970200}" destId="{73899DA7-FBC3-8A42-BD7C-AC4F5B124E1D}" srcOrd="0" destOrd="0" presId="urn:microsoft.com/office/officeart/2005/8/layout/radial6"/>
    <dgm:cxn modelId="{8A3B4C22-9B4A-B14B-B657-D992E460F6A7}" type="presOf" srcId="{0DE8ECC9-16B5-624A-9DE7-C4194CE8FB76}" destId="{EC27E2BE-EBB2-2E42-B59F-26F1A39D4921}" srcOrd="0" destOrd="0" presId="urn:microsoft.com/office/officeart/2005/8/layout/radial6"/>
    <dgm:cxn modelId="{A8731830-A563-DA4B-AE47-6E508F975FED}" type="presOf" srcId="{3B13A7A2-239E-CE45-98C0-8467FE3E66DB}" destId="{F551E9B2-CA9B-F040-B786-FC4C0A66E4B3}" srcOrd="0" destOrd="0" presId="urn:microsoft.com/office/officeart/2005/8/layout/radial6"/>
    <dgm:cxn modelId="{44979834-983C-114B-B0D9-6A0C3A7276C4}" srcId="{5E3E21D6-1D8C-C84E-AA5F-EA88029999F9}" destId="{29B6994F-BC5F-7E46-8F5B-629C78BF5FBC}" srcOrd="4" destOrd="0" parTransId="{93162405-AA41-6946-A38F-77B245FB8B23}" sibTransId="{3B13A7A2-239E-CE45-98C0-8467FE3E66DB}"/>
    <dgm:cxn modelId="{F1B2F35E-F590-E040-BBDB-8E6E7E14A50B}" srcId="{5E3E21D6-1D8C-C84E-AA5F-EA88029999F9}" destId="{4F19FCB8-DFF7-C74D-B35E-0E070B55CAC5}" srcOrd="3" destOrd="0" parTransId="{BF066618-99C4-194E-AB58-668FCB524FD6}" sibTransId="{13E96B79-8B5C-194C-BA15-2DA63A1F2A11}"/>
    <dgm:cxn modelId="{B312FE69-F46A-4946-A99B-0EB573D31FE9}" type="presOf" srcId="{F084DF8B-2B06-4B46-B368-5861E543996D}" destId="{8CD4AE62-BD57-F54E-B0CA-8B4612EAA804}" srcOrd="0" destOrd="0" presId="urn:microsoft.com/office/officeart/2005/8/layout/radial6"/>
    <dgm:cxn modelId="{781A2D7D-B8DD-1341-AA98-EB72F8936F97}" srcId="{5E3E21D6-1D8C-C84E-AA5F-EA88029999F9}" destId="{8F2D80A4-4FA2-2947-BF97-74895B970200}" srcOrd="1" destOrd="0" parTransId="{9539E4E5-28B9-2747-949B-ACBEDE2B1618}" sibTransId="{6F597BB9-AC97-3649-BAC0-5C63C1CF14C3}"/>
    <dgm:cxn modelId="{F57976A6-5A2A-8848-8E28-6AF93D50F202}" type="presOf" srcId="{29B6994F-BC5F-7E46-8F5B-629C78BF5FBC}" destId="{7B326DDF-C587-2C44-9083-A539913CCCDB}" srcOrd="0" destOrd="0" presId="urn:microsoft.com/office/officeart/2005/8/layout/radial6"/>
    <dgm:cxn modelId="{112CA8AE-D15C-144F-8037-5A8F5B338BE9}" type="presOf" srcId="{13E96B79-8B5C-194C-BA15-2DA63A1F2A11}" destId="{9BDD6204-D740-B745-A591-47E95BA48AED}" srcOrd="0" destOrd="0" presId="urn:microsoft.com/office/officeart/2005/8/layout/radial6"/>
    <dgm:cxn modelId="{AAAFD0B2-3E7F-C040-B9E8-C5D062D66620}" type="presOf" srcId="{6F597BB9-AC97-3649-BAC0-5C63C1CF14C3}" destId="{DA577CD3-20FE-7A46-B785-D0CD29C70D51}" srcOrd="0" destOrd="0" presId="urn:microsoft.com/office/officeart/2005/8/layout/radial6"/>
    <dgm:cxn modelId="{F1F1DCB4-C231-3342-9E9C-BCE3B93EE080}" srcId="{F084DF8B-2B06-4B46-B368-5861E543996D}" destId="{5E3E21D6-1D8C-C84E-AA5F-EA88029999F9}" srcOrd="0" destOrd="0" parTransId="{DF46FA5C-EA1B-2A4A-8F25-10134CE25D19}" sibTransId="{E36CB782-23F6-3944-9B8F-AB15C1ACBDE6}"/>
    <dgm:cxn modelId="{2A15E3BA-3EB8-E54E-AA0B-EF4B188ECBB7}" type="presOf" srcId="{F84C97B0-A7A3-4D4A-8E71-6FB699569B0B}" destId="{25B26556-9526-AB4F-98FA-7DEC28D786A1}" srcOrd="0" destOrd="0" presId="urn:microsoft.com/office/officeart/2005/8/layout/radial6"/>
    <dgm:cxn modelId="{71EE40DA-D576-964A-BB77-3E6E3E61A52A}" type="presOf" srcId="{5E3E21D6-1D8C-C84E-AA5F-EA88029999F9}" destId="{254F2912-87A4-8C40-90F6-306E190CBB67}" srcOrd="0" destOrd="0" presId="urn:microsoft.com/office/officeart/2005/8/layout/radial6"/>
    <dgm:cxn modelId="{930D91FB-DD53-5849-82A2-1991C59DE910}" type="presOf" srcId="{560D095A-14EE-FF4A-BEE8-8D2C8F78009E}" destId="{5EBACC73-ABA9-DB40-87B6-E9BFF0CE1159}" srcOrd="0" destOrd="0" presId="urn:microsoft.com/office/officeart/2005/8/layout/radial6"/>
    <dgm:cxn modelId="{2DB05118-FA09-7340-9B3B-8F5DBED9E2B9}" type="presParOf" srcId="{8CD4AE62-BD57-F54E-B0CA-8B4612EAA804}" destId="{254F2912-87A4-8C40-90F6-306E190CBB67}" srcOrd="0" destOrd="0" presId="urn:microsoft.com/office/officeart/2005/8/layout/radial6"/>
    <dgm:cxn modelId="{A11022BE-57FC-8E4B-A08B-09CE7C429603}" type="presParOf" srcId="{8CD4AE62-BD57-F54E-B0CA-8B4612EAA804}" destId="{25B26556-9526-AB4F-98FA-7DEC28D786A1}" srcOrd="1" destOrd="0" presId="urn:microsoft.com/office/officeart/2005/8/layout/radial6"/>
    <dgm:cxn modelId="{F8825469-FC94-BE49-97EB-84EF6AFA1A99}" type="presParOf" srcId="{8CD4AE62-BD57-F54E-B0CA-8B4612EAA804}" destId="{3E37F32D-6A25-C640-B50E-C7C5589FB3D1}" srcOrd="2" destOrd="0" presId="urn:microsoft.com/office/officeart/2005/8/layout/radial6"/>
    <dgm:cxn modelId="{656F1771-FB91-9340-8D26-39C7FD33D41D}" type="presParOf" srcId="{8CD4AE62-BD57-F54E-B0CA-8B4612EAA804}" destId="{EC27E2BE-EBB2-2E42-B59F-26F1A39D4921}" srcOrd="3" destOrd="0" presId="urn:microsoft.com/office/officeart/2005/8/layout/radial6"/>
    <dgm:cxn modelId="{1256D038-6603-AA43-8400-9BA458233134}" type="presParOf" srcId="{8CD4AE62-BD57-F54E-B0CA-8B4612EAA804}" destId="{73899DA7-FBC3-8A42-BD7C-AC4F5B124E1D}" srcOrd="4" destOrd="0" presId="urn:microsoft.com/office/officeart/2005/8/layout/radial6"/>
    <dgm:cxn modelId="{CC13BB6A-FD82-4F4B-8780-106C3523C542}" type="presParOf" srcId="{8CD4AE62-BD57-F54E-B0CA-8B4612EAA804}" destId="{88CD7B60-34AE-C044-BDFF-94FA2EAA2359}" srcOrd="5" destOrd="0" presId="urn:microsoft.com/office/officeart/2005/8/layout/radial6"/>
    <dgm:cxn modelId="{289835C6-4B00-E248-8973-D3BD5CA63876}" type="presParOf" srcId="{8CD4AE62-BD57-F54E-B0CA-8B4612EAA804}" destId="{DA577CD3-20FE-7A46-B785-D0CD29C70D51}" srcOrd="6" destOrd="0" presId="urn:microsoft.com/office/officeart/2005/8/layout/radial6"/>
    <dgm:cxn modelId="{63266205-42AB-B343-BE1B-6747E439E240}" type="presParOf" srcId="{8CD4AE62-BD57-F54E-B0CA-8B4612EAA804}" destId="{3D861FD2-F3CB-4E46-813C-3309D5600BE3}" srcOrd="7" destOrd="0" presId="urn:microsoft.com/office/officeart/2005/8/layout/radial6"/>
    <dgm:cxn modelId="{87A15EA1-D74D-8E4B-B474-F02161BAA2B3}" type="presParOf" srcId="{8CD4AE62-BD57-F54E-B0CA-8B4612EAA804}" destId="{B9402710-7C26-684A-8B9A-99D2E908D8FB}" srcOrd="8" destOrd="0" presId="urn:microsoft.com/office/officeart/2005/8/layout/radial6"/>
    <dgm:cxn modelId="{CEF7A2EA-22B1-3D49-97F8-23BF28674266}" type="presParOf" srcId="{8CD4AE62-BD57-F54E-B0CA-8B4612EAA804}" destId="{5EBACC73-ABA9-DB40-87B6-E9BFF0CE1159}" srcOrd="9" destOrd="0" presId="urn:microsoft.com/office/officeart/2005/8/layout/radial6"/>
    <dgm:cxn modelId="{51034810-7740-DC4D-B761-639478284BE4}" type="presParOf" srcId="{8CD4AE62-BD57-F54E-B0CA-8B4612EAA804}" destId="{87726E35-F6AD-1445-88C4-B4F004C0C6F6}" srcOrd="10" destOrd="0" presId="urn:microsoft.com/office/officeart/2005/8/layout/radial6"/>
    <dgm:cxn modelId="{EF77C29E-5B47-ED4C-AED7-5FFDDFCE1ADF}" type="presParOf" srcId="{8CD4AE62-BD57-F54E-B0CA-8B4612EAA804}" destId="{10C3E3A1-2519-D142-9F44-31C0DCA442CA}" srcOrd="11" destOrd="0" presId="urn:microsoft.com/office/officeart/2005/8/layout/radial6"/>
    <dgm:cxn modelId="{02739C0E-EB06-7945-AB12-7B322F51F1CD}" type="presParOf" srcId="{8CD4AE62-BD57-F54E-B0CA-8B4612EAA804}" destId="{9BDD6204-D740-B745-A591-47E95BA48AED}" srcOrd="12" destOrd="0" presId="urn:microsoft.com/office/officeart/2005/8/layout/radial6"/>
    <dgm:cxn modelId="{3A073DF6-A848-2149-BD74-4AF05C046D7A}" type="presParOf" srcId="{8CD4AE62-BD57-F54E-B0CA-8B4612EAA804}" destId="{7B326DDF-C587-2C44-9083-A539913CCCDB}" srcOrd="13" destOrd="0" presId="urn:microsoft.com/office/officeart/2005/8/layout/radial6"/>
    <dgm:cxn modelId="{1F835FF2-F80A-DA4E-B506-A06089967393}" type="presParOf" srcId="{8CD4AE62-BD57-F54E-B0CA-8B4612EAA804}" destId="{6E646D98-CFE1-ED4A-85AD-B49B941EB58C}" srcOrd="14" destOrd="0" presId="urn:microsoft.com/office/officeart/2005/8/layout/radial6"/>
    <dgm:cxn modelId="{FB917DF7-E887-5F41-B12B-E08D6EDBB1A2}" type="presParOf" srcId="{8CD4AE62-BD57-F54E-B0CA-8B4612EAA804}" destId="{F551E9B2-CA9B-F040-B786-FC4C0A66E4B3}" srcOrd="15"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E04C38C-14C6-CF41-AA65-237FAAEB326D}" type="doc">
      <dgm:prSet loTypeId="urn:microsoft.com/office/officeart/2005/8/layout/cycle4" loCatId="" qsTypeId="urn:microsoft.com/office/officeart/2005/8/quickstyle/simple1" qsCatId="simple" csTypeId="urn:microsoft.com/office/officeart/2005/8/colors/accent1_2" csCatId="accent1" phldr="1"/>
      <dgm:spPr/>
      <dgm:t>
        <a:bodyPr/>
        <a:lstStyle/>
        <a:p>
          <a:endParaRPr lang="en-US"/>
        </a:p>
      </dgm:t>
    </dgm:pt>
    <dgm:pt modelId="{24507274-6595-0245-A897-6285AC03E95B}">
      <dgm:prSet phldrT="[Text]" custT="1"/>
      <dgm:spPr>
        <a:solidFill>
          <a:srgbClr val="002060"/>
        </a:solidFill>
        <a:scene3d>
          <a:camera prst="orthographicFront"/>
          <a:lightRig rig="threePt" dir="t"/>
        </a:scene3d>
        <a:sp3d>
          <a:bevelT prst="angle"/>
        </a:sp3d>
      </dgm:spPr>
      <dgm:t>
        <a:bodyPr/>
        <a:lstStyle/>
        <a:p>
          <a:r>
            <a:rPr lang="en-US" sz="1800" b="1"/>
            <a:t>Employer: On the Job Training</a:t>
          </a:r>
        </a:p>
      </dgm:t>
    </dgm:pt>
    <dgm:pt modelId="{F779B01C-32E9-854A-B5F1-019DC2CA480E}" type="parTrans" cxnId="{4F06B90C-E93B-5640-892B-067C04D878C9}">
      <dgm:prSet/>
      <dgm:spPr/>
      <dgm:t>
        <a:bodyPr/>
        <a:lstStyle/>
        <a:p>
          <a:endParaRPr lang="en-US"/>
        </a:p>
      </dgm:t>
    </dgm:pt>
    <dgm:pt modelId="{AE563AE8-71E3-2841-9686-C6EA1A943D89}" type="sibTrans" cxnId="{4F06B90C-E93B-5640-892B-067C04D878C9}">
      <dgm:prSet/>
      <dgm:spPr/>
      <dgm:t>
        <a:bodyPr/>
        <a:lstStyle/>
        <a:p>
          <a:endParaRPr lang="en-US"/>
        </a:p>
      </dgm:t>
    </dgm:pt>
    <dgm:pt modelId="{4680C49B-6FDF-404B-AA38-549E41E3D870}">
      <dgm:prSet phldrT="[Text]" custT="1"/>
      <dgm:spPr>
        <a:solidFill>
          <a:srgbClr val="FFFF00"/>
        </a:solidFill>
        <a:scene3d>
          <a:camera prst="orthographicFront"/>
          <a:lightRig rig="threePt" dir="t"/>
        </a:scene3d>
        <a:sp3d>
          <a:bevelT prst="angle"/>
        </a:sp3d>
      </dgm:spPr>
      <dgm:t>
        <a:bodyPr/>
        <a:lstStyle/>
        <a:p>
          <a:r>
            <a:rPr lang="en-US" sz="2400" b="1">
              <a:solidFill>
                <a:schemeClr val="tx1"/>
              </a:solidFill>
            </a:rPr>
            <a:t>Sponsor</a:t>
          </a:r>
        </a:p>
      </dgm:t>
    </dgm:pt>
    <dgm:pt modelId="{9FBECDB4-798D-2149-9E5A-3285BE02D66E}" type="parTrans" cxnId="{2AF714D2-1A7F-4046-A6D3-C5C6264D5831}">
      <dgm:prSet/>
      <dgm:spPr/>
      <dgm:t>
        <a:bodyPr/>
        <a:lstStyle/>
        <a:p>
          <a:endParaRPr lang="en-US"/>
        </a:p>
      </dgm:t>
    </dgm:pt>
    <dgm:pt modelId="{688FE752-309F-1C43-80FA-5F11D651FA73}" type="sibTrans" cxnId="{2AF714D2-1A7F-4046-A6D3-C5C6264D5831}">
      <dgm:prSet/>
      <dgm:spPr/>
      <dgm:t>
        <a:bodyPr/>
        <a:lstStyle/>
        <a:p>
          <a:endParaRPr lang="en-US"/>
        </a:p>
      </dgm:t>
    </dgm:pt>
    <dgm:pt modelId="{9D5AB6D3-9D2D-6B41-B000-E3D65CD04293}">
      <dgm:prSet phldrT="[Text]" custT="1"/>
      <dgm:spPr>
        <a:solidFill>
          <a:srgbClr val="C00000"/>
        </a:solidFill>
        <a:scene3d>
          <a:camera prst="orthographicFront"/>
          <a:lightRig rig="threePt" dir="t"/>
        </a:scene3d>
        <a:sp3d>
          <a:bevelT prst="angle"/>
        </a:sp3d>
      </dgm:spPr>
      <dgm:t>
        <a:bodyPr/>
        <a:lstStyle/>
        <a:p>
          <a:r>
            <a:rPr lang="en-US" sz="1900" b="1"/>
            <a:t>Related Instruction</a:t>
          </a:r>
        </a:p>
      </dgm:t>
    </dgm:pt>
    <dgm:pt modelId="{86C7B629-9E76-5C46-ABC5-13936DBF43EA}" type="parTrans" cxnId="{8014C782-2010-C34F-A59E-089335691FE3}">
      <dgm:prSet/>
      <dgm:spPr/>
      <dgm:t>
        <a:bodyPr/>
        <a:lstStyle/>
        <a:p>
          <a:endParaRPr lang="en-US"/>
        </a:p>
      </dgm:t>
    </dgm:pt>
    <dgm:pt modelId="{2DA5789C-D726-2A48-8856-30FD6588322B}" type="sibTrans" cxnId="{8014C782-2010-C34F-A59E-089335691FE3}">
      <dgm:prSet/>
      <dgm:spPr/>
      <dgm:t>
        <a:bodyPr/>
        <a:lstStyle/>
        <a:p>
          <a:endParaRPr lang="en-US"/>
        </a:p>
      </dgm:t>
    </dgm:pt>
    <dgm:pt modelId="{722780DD-2A11-7A44-A0FE-D61355510F25}">
      <dgm:prSet phldrT="[Text]" custT="1"/>
      <dgm:spPr>
        <a:solidFill>
          <a:srgbClr val="00B050"/>
        </a:solidFill>
        <a:scene3d>
          <a:camera prst="orthographicFront"/>
          <a:lightRig rig="threePt" dir="t"/>
        </a:scene3d>
        <a:sp3d>
          <a:bevelT prst="angle"/>
        </a:sp3d>
      </dgm:spPr>
      <dgm:t>
        <a:bodyPr/>
        <a:lstStyle/>
        <a:p>
          <a:r>
            <a:rPr lang="en-US" sz="2000" b="1"/>
            <a:t>Support Servic</a:t>
          </a:r>
          <a:r>
            <a:rPr lang="en-US" sz="2000"/>
            <a:t>es</a:t>
          </a:r>
        </a:p>
      </dgm:t>
    </dgm:pt>
    <dgm:pt modelId="{04B33EE8-E213-CD4D-B47C-2C5A8DE8E510}" type="parTrans" cxnId="{25ACC5C2-387F-6942-818D-CC5D234B4040}">
      <dgm:prSet/>
      <dgm:spPr/>
      <dgm:t>
        <a:bodyPr/>
        <a:lstStyle/>
        <a:p>
          <a:endParaRPr lang="en-US"/>
        </a:p>
      </dgm:t>
    </dgm:pt>
    <dgm:pt modelId="{F9445720-5367-E743-AF28-5B51B3572201}" type="sibTrans" cxnId="{25ACC5C2-387F-6942-818D-CC5D234B4040}">
      <dgm:prSet/>
      <dgm:spPr/>
      <dgm:t>
        <a:bodyPr/>
        <a:lstStyle/>
        <a:p>
          <a:endParaRPr lang="en-US"/>
        </a:p>
      </dgm:t>
    </dgm:pt>
    <dgm:pt modelId="{5D72250E-4B51-F443-BF81-3CDB7A278E33}" type="pres">
      <dgm:prSet presAssocID="{3E04C38C-14C6-CF41-AA65-237FAAEB326D}" presName="cycleMatrixDiagram" presStyleCnt="0">
        <dgm:presLayoutVars>
          <dgm:chMax val="1"/>
          <dgm:dir/>
          <dgm:animLvl val="lvl"/>
          <dgm:resizeHandles val="exact"/>
        </dgm:presLayoutVars>
      </dgm:prSet>
      <dgm:spPr/>
    </dgm:pt>
    <dgm:pt modelId="{0FA179E6-159F-B248-BC69-4313EE862D56}" type="pres">
      <dgm:prSet presAssocID="{3E04C38C-14C6-CF41-AA65-237FAAEB326D}" presName="children" presStyleCnt="0"/>
      <dgm:spPr/>
    </dgm:pt>
    <dgm:pt modelId="{E6551CBA-BFC8-974D-B279-EE5E76B7D615}" type="pres">
      <dgm:prSet presAssocID="{3E04C38C-14C6-CF41-AA65-237FAAEB326D}" presName="childPlaceholder" presStyleCnt="0"/>
      <dgm:spPr/>
    </dgm:pt>
    <dgm:pt modelId="{DE8765D5-91DA-D443-B7CF-5D8D2FCFDD6B}" type="pres">
      <dgm:prSet presAssocID="{3E04C38C-14C6-CF41-AA65-237FAAEB326D}" presName="circle" presStyleCnt="0"/>
      <dgm:spPr/>
    </dgm:pt>
    <dgm:pt modelId="{E0BE1DF5-67FB-8745-9FBB-BCC45DDB68F5}" type="pres">
      <dgm:prSet presAssocID="{3E04C38C-14C6-CF41-AA65-237FAAEB326D}" presName="quadrant1" presStyleLbl="node1" presStyleIdx="0" presStyleCnt="4" custScaleX="107435" custScaleY="104618" custLinFactNeighborX="-18023" custLinFactNeighborY="-2816">
        <dgm:presLayoutVars>
          <dgm:chMax val="1"/>
          <dgm:bulletEnabled val="1"/>
        </dgm:presLayoutVars>
      </dgm:prSet>
      <dgm:spPr/>
    </dgm:pt>
    <dgm:pt modelId="{10595D3E-2DE7-1648-9355-CF9AA65B13CB}" type="pres">
      <dgm:prSet presAssocID="{3E04C38C-14C6-CF41-AA65-237FAAEB326D}" presName="quadrant2" presStyleLbl="node1" presStyleIdx="1" presStyleCnt="4" custScaleX="122403" custScaleY="104925" custLinFactNeighborX="-2262" custLinFactNeighborY="-1688">
        <dgm:presLayoutVars>
          <dgm:chMax val="1"/>
          <dgm:bulletEnabled val="1"/>
        </dgm:presLayoutVars>
      </dgm:prSet>
      <dgm:spPr/>
    </dgm:pt>
    <dgm:pt modelId="{31496314-EC5E-F741-873B-4070EB0793E6}" type="pres">
      <dgm:prSet presAssocID="{3E04C38C-14C6-CF41-AA65-237FAAEB326D}" presName="quadrant3" presStyleLbl="node1" presStyleIdx="2" presStyleCnt="4" custScaleX="116753" custScaleY="97861" custLinFactNeighborX="2816" custLinFactNeighborY="2254">
        <dgm:presLayoutVars>
          <dgm:chMax val="1"/>
          <dgm:bulletEnabled val="1"/>
        </dgm:presLayoutVars>
      </dgm:prSet>
      <dgm:spPr/>
    </dgm:pt>
    <dgm:pt modelId="{BCDD4563-6519-E942-8FC9-472E1EC71FBD}" type="pres">
      <dgm:prSet presAssocID="{3E04C38C-14C6-CF41-AA65-237FAAEB326D}" presName="quadrant4" presStyleLbl="node1" presStyleIdx="3" presStyleCnt="4" custScaleX="111119" custScaleY="98164" custLinFactNeighborX="-13519" custLinFactNeighborY="3942">
        <dgm:presLayoutVars>
          <dgm:chMax val="1"/>
          <dgm:bulletEnabled val="1"/>
        </dgm:presLayoutVars>
      </dgm:prSet>
      <dgm:spPr/>
    </dgm:pt>
    <dgm:pt modelId="{8631F08A-9361-924E-B972-6CAA070304DF}" type="pres">
      <dgm:prSet presAssocID="{3E04C38C-14C6-CF41-AA65-237FAAEB326D}" presName="quadrantPlaceholder" presStyleCnt="0"/>
      <dgm:spPr/>
    </dgm:pt>
    <dgm:pt modelId="{452883BC-932D-EC46-B392-CF2426EB0036}" type="pres">
      <dgm:prSet presAssocID="{3E04C38C-14C6-CF41-AA65-237FAAEB326D}" presName="center1" presStyleLbl="fgShp" presStyleIdx="0" presStyleCnt="2" custLinFactNeighborX="-34261" custLinFactNeighborY="3940"/>
      <dgm:spPr>
        <a:solidFill>
          <a:schemeClr val="tx1"/>
        </a:solidFill>
      </dgm:spPr>
    </dgm:pt>
    <dgm:pt modelId="{A4B7F254-23A3-454E-B801-4201D9C3FC3E}" type="pres">
      <dgm:prSet presAssocID="{3E04C38C-14C6-CF41-AA65-237FAAEB326D}" presName="center2" presStyleLbl="fgShp" presStyleIdx="1" presStyleCnt="2" custLinFactNeighborX="-30998" custLinFactNeighborY="-1876"/>
      <dgm:spPr>
        <a:solidFill>
          <a:schemeClr val="tx1"/>
        </a:solidFill>
      </dgm:spPr>
    </dgm:pt>
  </dgm:ptLst>
  <dgm:cxnLst>
    <dgm:cxn modelId="{4F06B90C-E93B-5640-892B-067C04D878C9}" srcId="{3E04C38C-14C6-CF41-AA65-237FAAEB326D}" destId="{24507274-6595-0245-A897-6285AC03E95B}" srcOrd="0" destOrd="0" parTransId="{F779B01C-32E9-854A-B5F1-019DC2CA480E}" sibTransId="{AE563AE8-71E3-2841-9686-C6EA1A943D89}"/>
    <dgm:cxn modelId="{BDA0D831-18A0-4642-9C0C-5750690B8E72}" type="presOf" srcId="{722780DD-2A11-7A44-A0FE-D61355510F25}" destId="{BCDD4563-6519-E942-8FC9-472E1EC71FBD}" srcOrd="0" destOrd="0" presId="urn:microsoft.com/office/officeart/2005/8/layout/cycle4"/>
    <dgm:cxn modelId="{F1B73B58-0914-894A-B9CA-C3D92BE8403D}" type="presOf" srcId="{9D5AB6D3-9D2D-6B41-B000-E3D65CD04293}" destId="{31496314-EC5E-F741-873B-4070EB0793E6}" srcOrd="0" destOrd="0" presId="urn:microsoft.com/office/officeart/2005/8/layout/cycle4"/>
    <dgm:cxn modelId="{8014C782-2010-C34F-A59E-089335691FE3}" srcId="{3E04C38C-14C6-CF41-AA65-237FAAEB326D}" destId="{9D5AB6D3-9D2D-6B41-B000-E3D65CD04293}" srcOrd="2" destOrd="0" parTransId="{86C7B629-9E76-5C46-ABC5-13936DBF43EA}" sibTransId="{2DA5789C-D726-2A48-8856-30FD6588322B}"/>
    <dgm:cxn modelId="{31847B94-EAC5-3442-AB08-55666A56B746}" type="presOf" srcId="{3E04C38C-14C6-CF41-AA65-237FAAEB326D}" destId="{5D72250E-4B51-F443-BF81-3CDB7A278E33}" srcOrd="0" destOrd="0" presId="urn:microsoft.com/office/officeart/2005/8/layout/cycle4"/>
    <dgm:cxn modelId="{25ACC5C2-387F-6942-818D-CC5D234B4040}" srcId="{3E04C38C-14C6-CF41-AA65-237FAAEB326D}" destId="{722780DD-2A11-7A44-A0FE-D61355510F25}" srcOrd="3" destOrd="0" parTransId="{04B33EE8-E213-CD4D-B47C-2C5A8DE8E510}" sibTransId="{F9445720-5367-E743-AF28-5B51B3572201}"/>
    <dgm:cxn modelId="{2AF714D2-1A7F-4046-A6D3-C5C6264D5831}" srcId="{3E04C38C-14C6-CF41-AA65-237FAAEB326D}" destId="{4680C49B-6FDF-404B-AA38-549E41E3D870}" srcOrd="1" destOrd="0" parTransId="{9FBECDB4-798D-2149-9E5A-3285BE02D66E}" sibTransId="{688FE752-309F-1C43-80FA-5F11D651FA73}"/>
    <dgm:cxn modelId="{E5025CEB-8DD4-CC4F-BE20-062969F9BEC0}" type="presOf" srcId="{24507274-6595-0245-A897-6285AC03E95B}" destId="{E0BE1DF5-67FB-8745-9FBB-BCC45DDB68F5}" srcOrd="0" destOrd="0" presId="urn:microsoft.com/office/officeart/2005/8/layout/cycle4"/>
    <dgm:cxn modelId="{98A106FF-37B5-6A46-AEB9-E5F1F1D5D569}" type="presOf" srcId="{4680C49B-6FDF-404B-AA38-549E41E3D870}" destId="{10595D3E-2DE7-1648-9355-CF9AA65B13CB}" srcOrd="0" destOrd="0" presId="urn:microsoft.com/office/officeart/2005/8/layout/cycle4"/>
    <dgm:cxn modelId="{BE8F06E9-1A4B-D549-A2AE-2E7C7C500E48}" type="presParOf" srcId="{5D72250E-4B51-F443-BF81-3CDB7A278E33}" destId="{0FA179E6-159F-B248-BC69-4313EE862D56}" srcOrd="0" destOrd="0" presId="urn:microsoft.com/office/officeart/2005/8/layout/cycle4"/>
    <dgm:cxn modelId="{811324CE-0612-7743-985A-D6EC4FC1F2FC}" type="presParOf" srcId="{0FA179E6-159F-B248-BC69-4313EE862D56}" destId="{E6551CBA-BFC8-974D-B279-EE5E76B7D615}" srcOrd="0" destOrd="0" presId="urn:microsoft.com/office/officeart/2005/8/layout/cycle4"/>
    <dgm:cxn modelId="{65D9B3D9-86DF-C64A-9545-E4586210E0C1}" type="presParOf" srcId="{5D72250E-4B51-F443-BF81-3CDB7A278E33}" destId="{DE8765D5-91DA-D443-B7CF-5D8D2FCFDD6B}" srcOrd="1" destOrd="0" presId="urn:microsoft.com/office/officeart/2005/8/layout/cycle4"/>
    <dgm:cxn modelId="{2111E9A3-9A76-4241-B8B1-0E89D760AF6C}" type="presParOf" srcId="{DE8765D5-91DA-D443-B7CF-5D8D2FCFDD6B}" destId="{E0BE1DF5-67FB-8745-9FBB-BCC45DDB68F5}" srcOrd="0" destOrd="0" presId="urn:microsoft.com/office/officeart/2005/8/layout/cycle4"/>
    <dgm:cxn modelId="{22DB244F-650F-2749-BFF2-F843AD6B667E}" type="presParOf" srcId="{DE8765D5-91DA-D443-B7CF-5D8D2FCFDD6B}" destId="{10595D3E-2DE7-1648-9355-CF9AA65B13CB}" srcOrd="1" destOrd="0" presId="urn:microsoft.com/office/officeart/2005/8/layout/cycle4"/>
    <dgm:cxn modelId="{880ADBA8-5003-E545-A233-D02A4F7AA0C5}" type="presParOf" srcId="{DE8765D5-91DA-D443-B7CF-5D8D2FCFDD6B}" destId="{31496314-EC5E-F741-873B-4070EB0793E6}" srcOrd="2" destOrd="0" presId="urn:microsoft.com/office/officeart/2005/8/layout/cycle4"/>
    <dgm:cxn modelId="{5A7A52A4-3B81-EA40-8DED-3ABCEB558396}" type="presParOf" srcId="{DE8765D5-91DA-D443-B7CF-5D8D2FCFDD6B}" destId="{BCDD4563-6519-E942-8FC9-472E1EC71FBD}" srcOrd="3" destOrd="0" presId="urn:microsoft.com/office/officeart/2005/8/layout/cycle4"/>
    <dgm:cxn modelId="{3C551465-7CC7-9B49-963C-7AEB42A1155C}" type="presParOf" srcId="{DE8765D5-91DA-D443-B7CF-5D8D2FCFDD6B}" destId="{8631F08A-9361-924E-B972-6CAA070304DF}" srcOrd="4" destOrd="0" presId="urn:microsoft.com/office/officeart/2005/8/layout/cycle4"/>
    <dgm:cxn modelId="{C286B0CF-B73E-884F-AFED-48278ABA277F}" type="presParOf" srcId="{5D72250E-4B51-F443-BF81-3CDB7A278E33}" destId="{452883BC-932D-EC46-B392-CF2426EB0036}" srcOrd="2" destOrd="0" presId="urn:microsoft.com/office/officeart/2005/8/layout/cycle4"/>
    <dgm:cxn modelId="{1B468E1B-2FA1-4041-AF06-44BEAC07B54E}" type="presParOf" srcId="{5D72250E-4B51-F443-BF81-3CDB7A278E33}" destId="{A4B7F254-23A3-454E-B801-4201D9C3FC3E}"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2DC4F9-69B4-734C-840B-9834F688E9B4}"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en-US"/>
        </a:p>
      </dgm:t>
    </dgm:pt>
    <dgm:pt modelId="{D9FD50AC-8B20-9845-8B86-D31F255A8317}">
      <dgm:prSet phldrT="[Text]" custT="1"/>
      <dgm:spPr>
        <a:solidFill>
          <a:srgbClr val="FFFF00"/>
        </a:solidFill>
        <a:effectLst>
          <a:glow rad="228600">
            <a:schemeClr val="accent5">
              <a:satMod val="175000"/>
              <a:alpha val="40000"/>
            </a:schemeClr>
          </a:glow>
        </a:effectLst>
        <a:scene3d>
          <a:camera prst="orthographicFront"/>
          <a:lightRig rig="threePt" dir="t"/>
        </a:scene3d>
        <a:sp3d>
          <a:bevelT prst="angle"/>
        </a:sp3d>
      </dgm:spPr>
      <dgm:t>
        <a:bodyPr/>
        <a:lstStyle/>
        <a:p>
          <a:r>
            <a:rPr lang="en-US" sz="3000" b="1" dirty="0">
              <a:solidFill>
                <a:schemeClr val="tx1"/>
              </a:solidFill>
            </a:rPr>
            <a:t>Apprenticeship</a:t>
          </a:r>
        </a:p>
      </dgm:t>
    </dgm:pt>
    <dgm:pt modelId="{DFD22313-07B3-7C4F-8858-1B5A89CFB981}" type="parTrans" cxnId="{DB3A86FB-BE2D-3444-93F5-72B972F7250D}">
      <dgm:prSet/>
      <dgm:spPr/>
      <dgm:t>
        <a:bodyPr/>
        <a:lstStyle/>
        <a:p>
          <a:endParaRPr lang="en-US"/>
        </a:p>
      </dgm:t>
    </dgm:pt>
    <dgm:pt modelId="{492A780F-0B28-7849-B28A-078F66F4750E}" type="sibTrans" cxnId="{DB3A86FB-BE2D-3444-93F5-72B972F7250D}">
      <dgm:prSet/>
      <dgm:spPr/>
      <dgm:t>
        <a:bodyPr/>
        <a:lstStyle/>
        <a:p>
          <a:endParaRPr lang="en-US"/>
        </a:p>
      </dgm:t>
    </dgm:pt>
    <dgm:pt modelId="{CDC3276A-B00A-D64B-9BCB-942A67616AB4}">
      <dgm:prSet phldrT="[Text]" custT="1"/>
      <dgm:spPr/>
      <dgm:t>
        <a:bodyPr/>
        <a:lstStyle/>
        <a:p>
          <a:r>
            <a:rPr lang="en-US" sz="2000" dirty="0"/>
            <a:t>USDOL Apprenticeship Office</a:t>
          </a:r>
        </a:p>
      </dgm:t>
    </dgm:pt>
    <dgm:pt modelId="{0F261DBA-2DEC-D142-B602-A08A970DCC09}" type="parTrans" cxnId="{899F9949-713E-DF44-B9C9-7E6428B497F3}">
      <dgm:prSet/>
      <dgm:spPr/>
      <dgm:t>
        <a:bodyPr/>
        <a:lstStyle/>
        <a:p>
          <a:endParaRPr lang="en-US"/>
        </a:p>
      </dgm:t>
    </dgm:pt>
    <dgm:pt modelId="{B5B69B33-59B1-4047-9379-92FC5189FBED}" type="sibTrans" cxnId="{899F9949-713E-DF44-B9C9-7E6428B497F3}">
      <dgm:prSet/>
      <dgm:spPr/>
      <dgm:t>
        <a:bodyPr/>
        <a:lstStyle/>
        <a:p>
          <a:endParaRPr lang="en-US" sz="2000"/>
        </a:p>
      </dgm:t>
    </dgm:pt>
    <dgm:pt modelId="{24EC4318-9683-7344-B669-7CA85D1B0AA0}">
      <dgm:prSet phldrT="[Text]" custT="1"/>
      <dgm:spPr/>
      <dgm:t>
        <a:bodyPr/>
        <a:lstStyle/>
        <a:p>
          <a:r>
            <a:rPr lang="en-US" sz="2000" dirty="0"/>
            <a:t>SD Dept. of Labor &amp; Regulation</a:t>
          </a:r>
        </a:p>
      </dgm:t>
    </dgm:pt>
    <dgm:pt modelId="{13D45556-2782-814F-B896-476421BF0D84}" type="parTrans" cxnId="{85006468-410B-A04E-BF18-205EA0C4DC47}">
      <dgm:prSet/>
      <dgm:spPr/>
      <dgm:t>
        <a:bodyPr/>
        <a:lstStyle/>
        <a:p>
          <a:endParaRPr lang="en-US"/>
        </a:p>
      </dgm:t>
    </dgm:pt>
    <dgm:pt modelId="{FC06023F-1177-4342-ABCF-9F68B4C2D283}" type="sibTrans" cxnId="{85006468-410B-A04E-BF18-205EA0C4DC47}">
      <dgm:prSet/>
      <dgm:spPr/>
      <dgm:t>
        <a:bodyPr/>
        <a:lstStyle/>
        <a:p>
          <a:endParaRPr lang="en-US" sz="2000"/>
        </a:p>
      </dgm:t>
    </dgm:pt>
    <dgm:pt modelId="{AD3661D6-DFBA-6E46-BF2A-DD582FAC02B8}">
      <dgm:prSet phldrT="[Text]" custT="1"/>
      <dgm:spPr/>
      <dgm:t>
        <a:bodyPr/>
        <a:lstStyle/>
        <a:p>
          <a:r>
            <a:rPr lang="en-US" sz="2000" dirty="0"/>
            <a:t>Community Colleges</a:t>
          </a:r>
        </a:p>
      </dgm:t>
    </dgm:pt>
    <dgm:pt modelId="{98C2DC4D-DD4F-F949-8DFF-490AE5E41EB0}" type="parTrans" cxnId="{2BA9BD73-E141-2B4E-889E-5A891BA2D019}">
      <dgm:prSet/>
      <dgm:spPr/>
      <dgm:t>
        <a:bodyPr/>
        <a:lstStyle/>
        <a:p>
          <a:endParaRPr lang="en-US"/>
        </a:p>
      </dgm:t>
    </dgm:pt>
    <dgm:pt modelId="{85DDDDCB-2076-2C43-8422-12C462C63925}" type="sibTrans" cxnId="{2BA9BD73-E141-2B4E-889E-5A891BA2D019}">
      <dgm:prSet/>
      <dgm:spPr/>
      <dgm:t>
        <a:bodyPr/>
        <a:lstStyle/>
        <a:p>
          <a:endParaRPr lang="en-US" sz="2000"/>
        </a:p>
      </dgm:t>
    </dgm:pt>
    <dgm:pt modelId="{6B536184-A198-974A-9134-2DAFB215CBB4}">
      <dgm:prSet phldrT="[Text]" custT="1"/>
      <dgm:spPr/>
      <dgm:t>
        <a:bodyPr/>
        <a:lstStyle/>
        <a:p>
          <a:r>
            <a:rPr lang="en-US" sz="2000" dirty="0"/>
            <a:t>Local Education (K-12)</a:t>
          </a:r>
        </a:p>
      </dgm:t>
    </dgm:pt>
    <dgm:pt modelId="{CDDA58A3-8444-7B46-A110-F8EE042FCA45}" type="parTrans" cxnId="{0CF17F62-B5C0-C649-B248-D8D2591E4CBD}">
      <dgm:prSet/>
      <dgm:spPr/>
      <dgm:t>
        <a:bodyPr/>
        <a:lstStyle/>
        <a:p>
          <a:endParaRPr lang="en-US"/>
        </a:p>
      </dgm:t>
    </dgm:pt>
    <dgm:pt modelId="{853B75EF-64B4-A043-8C3E-CA2BCC64C9F6}" type="sibTrans" cxnId="{0CF17F62-B5C0-C649-B248-D8D2591E4CBD}">
      <dgm:prSet/>
      <dgm:spPr/>
      <dgm:t>
        <a:bodyPr/>
        <a:lstStyle/>
        <a:p>
          <a:endParaRPr lang="en-US" sz="2000"/>
        </a:p>
      </dgm:t>
    </dgm:pt>
    <dgm:pt modelId="{B7E7D9E9-CC1C-B94D-AF85-9EA63D32DFB3}">
      <dgm:prSet phldrT="[Text]" custT="1"/>
      <dgm:spPr/>
      <dgm:t>
        <a:bodyPr/>
        <a:lstStyle/>
        <a:p>
          <a:r>
            <a:rPr lang="en-US" sz="2000" dirty="0"/>
            <a:t>Vocational Rehabilitation</a:t>
          </a:r>
        </a:p>
      </dgm:t>
    </dgm:pt>
    <dgm:pt modelId="{05D4A410-DFA6-AA45-9DDC-B54CE6B30017}" type="parTrans" cxnId="{E5C419D3-629C-FE4B-B6BF-6D3D1CAC68BB}">
      <dgm:prSet/>
      <dgm:spPr/>
      <dgm:t>
        <a:bodyPr/>
        <a:lstStyle/>
        <a:p>
          <a:endParaRPr lang="en-US"/>
        </a:p>
      </dgm:t>
    </dgm:pt>
    <dgm:pt modelId="{300D95C7-F833-F047-9233-A4080C87D296}" type="sibTrans" cxnId="{E5C419D3-629C-FE4B-B6BF-6D3D1CAC68BB}">
      <dgm:prSet/>
      <dgm:spPr/>
      <dgm:t>
        <a:bodyPr/>
        <a:lstStyle/>
        <a:p>
          <a:endParaRPr lang="en-US" sz="2000"/>
        </a:p>
      </dgm:t>
    </dgm:pt>
    <dgm:pt modelId="{18B582B8-4E49-CC4C-90C2-A6962309E322}">
      <dgm:prSet phldrT="[Text]" custT="1"/>
      <dgm:spPr/>
      <dgm:t>
        <a:bodyPr/>
        <a:lstStyle/>
        <a:p>
          <a:r>
            <a:rPr lang="en-US" sz="2000" dirty="0"/>
            <a:t>Community Organizations</a:t>
          </a:r>
        </a:p>
      </dgm:t>
    </dgm:pt>
    <dgm:pt modelId="{82C21DC7-6FD7-1843-AF05-CFAFA003088B}" type="parTrans" cxnId="{729AD47C-9BE1-1D48-9C2F-A96600D05680}">
      <dgm:prSet/>
      <dgm:spPr/>
      <dgm:t>
        <a:bodyPr/>
        <a:lstStyle/>
        <a:p>
          <a:endParaRPr lang="en-US"/>
        </a:p>
      </dgm:t>
    </dgm:pt>
    <dgm:pt modelId="{FD2A61D2-2806-F241-9012-0D8BD9F28E22}" type="sibTrans" cxnId="{729AD47C-9BE1-1D48-9C2F-A96600D05680}">
      <dgm:prSet/>
      <dgm:spPr/>
      <dgm:t>
        <a:bodyPr/>
        <a:lstStyle/>
        <a:p>
          <a:endParaRPr lang="en-US" sz="2000"/>
        </a:p>
      </dgm:t>
    </dgm:pt>
    <dgm:pt modelId="{E26C336C-29BB-3546-986D-75128856D30F}">
      <dgm:prSet phldrT="[Text]" custT="1"/>
      <dgm:spPr/>
      <dgm:t>
        <a:bodyPr/>
        <a:lstStyle/>
        <a:p>
          <a:r>
            <a:rPr lang="en-US" sz="2000" dirty="0"/>
            <a:t>Employers</a:t>
          </a:r>
        </a:p>
      </dgm:t>
    </dgm:pt>
    <dgm:pt modelId="{53B6460C-15B3-9949-8B22-FB4018F5F1D8}" type="parTrans" cxnId="{B92F836F-71FB-864F-9653-A5576574B94D}">
      <dgm:prSet/>
      <dgm:spPr/>
      <dgm:t>
        <a:bodyPr/>
        <a:lstStyle/>
        <a:p>
          <a:endParaRPr lang="en-US"/>
        </a:p>
      </dgm:t>
    </dgm:pt>
    <dgm:pt modelId="{874F2C3D-9D8D-244B-A4BF-983EAA7B1D1F}" type="sibTrans" cxnId="{B92F836F-71FB-864F-9653-A5576574B94D}">
      <dgm:prSet/>
      <dgm:spPr/>
      <dgm:t>
        <a:bodyPr/>
        <a:lstStyle/>
        <a:p>
          <a:endParaRPr lang="en-US" sz="2000"/>
        </a:p>
      </dgm:t>
    </dgm:pt>
    <dgm:pt modelId="{F31F6605-97B0-7543-BDF9-30411C24CD34}">
      <dgm:prSet phldrT="[Text]" custT="1"/>
      <dgm:spPr/>
      <dgm:t>
        <a:bodyPr/>
        <a:lstStyle/>
        <a:p>
          <a:r>
            <a:rPr lang="en-US" sz="2000" dirty="0"/>
            <a:t>Labor Organizations</a:t>
          </a:r>
        </a:p>
      </dgm:t>
    </dgm:pt>
    <dgm:pt modelId="{C9FB0E92-76C4-A349-8BE0-F276620D6A37}" type="parTrans" cxnId="{E2EEBC63-D7B6-C14E-91F6-00B1DC216142}">
      <dgm:prSet/>
      <dgm:spPr/>
      <dgm:t>
        <a:bodyPr/>
        <a:lstStyle/>
        <a:p>
          <a:endParaRPr lang="en-US"/>
        </a:p>
      </dgm:t>
    </dgm:pt>
    <dgm:pt modelId="{EA35B427-B689-7F47-9176-5E98B9AA4380}" type="sibTrans" cxnId="{E2EEBC63-D7B6-C14E-91F6-00B1DC216142}">
      <dgm:prSet/>
      <dgm:spPr/>
      <dgm:t>
        <a:bodyPr/>
        <a:lstStyle/>
        <a:p>
          <a:endParaRPr lang="en-US" sz="2000"/>
        </a:p>
      </dgm:t>
    </dgm:pt>
    <dgm:pt modelId="{0A932CB5-6877-AF41-BF10-F53600708AE3}">
      <dgm:prSet phldrT="[Text]" custT="1"/>
      <dgm:spPr/>
      <dgm:t>
        <a:bodyPr/>
        <a:lstStyle/>
        <a:p>
          <a:r>
            <a:rPr lang="en-US" sz="2000" dirty="0"/>
            <a:t>Economic Development</a:t>
          </a:r>
        </a:p>
      </dgm:t>
    </dgm:pt>
    <dgm:pt modelId="{9EA1210C-FB4D-3946-8806-1D4D0423771D}" type="parTrans" cxnId="{2662CFE2-07C3-2341-A855-83ECB121B350}">
      <dgm:prSet/>
      <dgm:spPr/>
      <dgm:t>
        <a:bodyPr/>
        <a:lstStyle/>
        <a:p>
          <a:endParaRPr lang="en-US"/>
        </a:p>
      </dgm:t>
    </dgm:pt>
    <dgm:pt modelId="{0EF732C5-3121-4D49-BAA0-2F413972AA38}" type="sibTrans" cxnId="{2662CFE2-07C3-2341-A855-83ECB121B350}">
      <dgm:prSet/>
      <dgm:spPr/>
      <dgm:t>
        <a:bodyPr/>
        <a:lstStyle/>
        <a:p>
          <a:endParaRPr lang="en-US" sz="2000"/>
        </a:p>
      </dgm:t>
    </dgm:pt>
    <dgm:pt modelId="{CED77E72-BF73-4649-B357-822BA8EFE022}">
      <dgm:prSet custT="1"/>
      <dgm:spPr/>
      <dgm:t>
        <a:bodyPr/>
        <a:lstStyle/>
        <a:p>
          <a:r>
            <a:rPr lang="en-US" sz="2000" dirty="0"/>
            <a:t>Other</a:t>
          </a:r>
        </a:p>
      </dgm:t>
    </dgm:pt>
    <dgm:pt modelId="{CA7B4F1B-F777-4843-8708-4BB03135BED8}" type="parTrans" cxnId="{BF59072C-A195-C345-BD36-73DF7F8AE54E}">
      <dgm:prSet/>
      <dgm:spPr/>
      <dgm:t>
        <a:bodyPr/>
        <a:lstStyle/>
        <a:p>
          <a:endParaRPr lang="en-US"/>
        </a:p>
      </dgm:t>
    </dgm:pt>
    <dgm:pt modelId="{5F111BCF-64B5-304D-AD09-28AD30D65C0D}" type="sibTrans" cxnId="{BF59072C-A195-C345-BD36-73DF7F8AE54E}">
      <dgm:prSet/>
      <dgm:spPr/>
      <dgm:t>
        <a:bodyPr/>
        <a:lstStyle/>
        <a:p>
          <a:endParaRPr lang="en-US" sz="2000"/>
        </a:p>
      </dgm:t>
    </dgm:pt>
    <dgm:pt modelId="{3746914B-1820-BF41-9358-D62C83FBF69C}" type="pres">
      <dgm:prSet presAssocID="{DE2DC4F9-69B4-734C-840B-9834F688E9B4}" presName="Name0" presStyleCnt="0">
        <dgm:presLayoutVars>
          <dgm:chMax val="1"/>
          <dgm:dir/>
          <dgm:animLvl val="ctr"/>
          <dgm:resizeHandles val="exact"/>
        </dgm:presLayoutVars>
      </dgm:prSet>
      <dgm:spPr/>
    </dgm:pt>
    <dgm:pt modelId="{12E5C94C-EA3A-724A-B3C8-4006294761BB}" type="pres">
      <dgm:prSet presAssocID="{D9FD50AC-8B20-9845-8B86-D31F255A8317}" presName="centerShape" presStyleLbl="node0" presStyleIdx="0" presStyleCnt="1" custScaleX="239364" custScaleY="181244" custLinFactNeighborX="7052" custLinFactNeighborY="-3847"/>
      <dgm:spPr/>
    </dgm:pt>
    <dgm:pt modelId="{815CA14A-F957-BC49-84BA-6961EF81F13D}" type="pres">
      <dgm:prSet presAssocID="{CDC3276A-B00A-D64B-9BCB-942A67616AB4}" presName="node" presStyleLbl="node1" presStyleIdx="0" presStyleCnt="10" custScaleX="228457" custRadScaleRad="102147" custRadScaleInc="63453">
        <dgm:presLayoutVars>
          <dgm:bulletEnabled val="1"/>
        </dgm:presLayoutVars>
      </dgm:prSet>
      <dgm:spPr/>
    </dgm:pt>
    <dgm:pt modelId="{E84D0BB2-FA40-A545-A68B-61E74E417C7F}" type="pres">
      <dgm:prSet presAssocID="{CDC3276A-B00A-D64B-9BCB-942A67616AB4}" presName="dummy" presStyleCnt="0"/>
      <dgm:spPr/>
    </dgm:pt>
    <dgm:pt modelId="{7A3240EF-8FCF-1148-99CE-A00B5F84AF21}" type="pres">
      <dgm:prSet presAssocID="{B5B69B33-59B1-4047-9379-92FC5189FBED}" presName="sibTrans" presStyleLbl="sibTrans2D1" presStyleIdx="0" presStyleCnt="10"/>
      <dgm:spPr/>
    </dgm:pt>
    <dgm:pt modelId="{288AF90C-96F9-8141-AC37-C8F4FA1DC1F4}" type="pres">
      <dgm:prSet presAssocID="{24EC4318-9683-7344-B669-7CA85D1B0AA0}" presName="node" presStyleLbl="node1" presStyleIdx="1" presStyleCnt="10" custScaleX="211208" custRadScaleRad="134136" custRadScaleInc="136913">
        <dgm:presLayoutVars>
          <dgm:bulletEnabled val="1"/>
        </dgm:presLayoutVars>
      </dgm:prSet>
      <dgm:spPr/>
    </dgm:pt>
    <dgm:pt modelId="{491740E1-CA27-5E42-AD96-8702153EB7A1}" type="pres">
      <dgm:prSet presAssocID="{24EC4318-9683-7344-B669-7CA85D1B0AA0}" presName="dummy" presStyleCnt="0"/>
      <dgm:spPr/>
    </dgm:pt>
    <dgm:pt modelId="{902FA9C6-B049-4843-A05C-4957D9FACB8D}" type="pres">
      <dgm:prSet presAssocID="{FC06023F-1177-4342-ABCF-9F68B4C2D283}" presName="sibTrans" presStyleLbl="sibTrans2D1" presStyleIdx="1" presStyleCnt="10"/>
      <dgm:spPr/>
    </dgm:pt>
    <dgm:pt modelId="{7235123B-46F5-924F-A4BD-2491F1011A18}" type="pres">
      <dgm:prSet presAssocID="{AD3661D6-DFBA-6E46-BF2A-DD582FAC02B8}" presName="node" presStyleLbl="node1" presStyleIdx="2" presStyleCnt="10" custScaleX="188563" custRadScaleRad="127407" custRadScaleInc="34678">
        <dgm:presLayoutVars>
          <dgm:bulletEnabled val="1"/>
        </dgm:presLayoutVars>
      </dgm:prSet>
      <dgm:spPr/>
    </dgm:pt>
    <dgm:pt modelId="{E9E07CE1-4758-DE45-BE14-CD991038F65A}" type="pres">
      <dgm:prSet presAssocID="{AD3661D6-DFBA-6E46-BF2A-DD582FAC02B8}" presName="dummy" presStyleCnt="0"/>
      <dgm:spPr/>
    </dgm:pt>
    <dgm:pt modelId="{981D6604-0D65-1C4B-B6E0-325B96C6AB83}" type="pres">
      <dgm:prSet presAssocID="{85DDDDCB-2076-2C43-8422-12C462C63925}" presName="sibTrans" presStyleLbl="sibTrans2D1" presStyleIdx="2" presStyleCnt="10"/>
      <dgm:spPr/>
    </dgm:pt>
    <dgm:pt modelId="{6B308354-30AC-714E-A8CD-F7A0B1915F3A}" type="pres">
      <dgm:prSet presAssocID="{6B536184-A198-974A-9134-2DAFB215CBB4}" presName="node" presStyleLbl="node1" presStyleIdx="3" presStyleCnt="10" custScaleX="173534" custRadScaleRad="120029" custRadScaleInc="-23915">
        <dgm:presLayoutVars>
          <dgm:bulletEnabled val="1"/>
        </dgm:presLayoutVars>
      </dgm:prSet>
      <dgm:spPr/>
    </dgm:pt>
    <dgm:pt modelId="{3C7D9A66-5E0F-C549-BF11-60F8CC5262D4}" type="pres">
      <dgm:prSet presAssocID="{6B536184-A198-974A-9134-2DAFB215CBB4}" presName="dummy" presStyleCnt="0"/>
      <dgm:spPr/>
    </dgm:pt>
    <dgm:pt modelId="{C55D1679-ADB6-7E4E-8DE9-761DB7510C85}" type="pres">
      <dgm:prSet presAssocID="{853B75EF-64B4-A043-8C3E-CA2BCC64C9F6}" presName="sibTrans" presStyleLbl="sibTrans2D1" presStyleIdx="3" presStyleCnt="10"/>
      <dgm:spPr/>
    </dgm:pt>
    <dgm:pt modelId="{5F10AA7E-2AD8-D840-8F4D-5EF28836C584}" type="pres">
      <dgm:prSet presAssocID="{B7E7D9E9-CC1C-B94D-AF85-9EA63D32DFB3}" presName="node" presStyleLbl="node1" presStyleIdx="4" presStyleCnt="10" custScaleX="219644" custRadScaleRad="112533" custRadScaleInc="-87385">
        <dgm:presLayoutVars>
          <dgm:bulletEnabled val="1"/>
        </dgm:presLayoutVars>
      </dgm:prSet>
      <dgm:spPr/>
    </dgm:pt>
    <dgm:pt modelId="{636403AF-F586-064B-9823-DD798DD7680F}" type="pres">
      <dgm:prSet presAssocID="{B7E7D9E9-CC1C-B94D-AF85-9EA63D32DFB3}" presName="dummy" presStyleCnt="0"/>
      <dgm:spPr/>
    </dgm:pt>
    <dgm:pt modelId="{CD662B51-BCE5-5540-85CD-A6F3E5DC2AE9}" type="pres">
      <dgm:prSet presAssocID="{300D95C7-F833-F047-9233-A4080C87D296}" presName="sibTrans" presStyleLbl="sibTrans2D1" presStyleIdx="4" presStyleCnt="10"/>
      <dgm:spPr/>
    </dgm:pt>
    <dgm:pt modelId="{FB7F86C7-8A91-334C-A454-4B3B37B9FF0D}" type="pres">
      <dgm:prSet presAssocID="{18B582B8-4E49-CC4C-90C2-A6962309E322}" presName="node" presStyleLbl="node1" presStyleIdx="5" presStyleCnt="10" custScaleX="198881" custRadScaleRad="100098" custRadScaleInc="-16313">
        <dgm:presLayoutVars>
          <dgm:bulletEnabled val="1"/>
        </dgm:presLayoutVars>
      </dgm:prSet>
      <dgm:spPr/>
    </dgm:pt>
    <dgm:pt modelId="{5CB261D9-38E1-8542-8199-933E13CF1DF0}" type="pres">
      <dgm:prSet presAssocID="{18B582B8-4E49-CC4C-90C2-A6962309E322}" presName="dummy" presStyleCnt="0"/>
      <dgm:spPr/>
    </dgm:pt>
    <dgm:pt modelId="{882CFEA3-366F-0F46-9DAF-71E283CA2C42}" type="pres">
      <dgm:prSet presAssocID="{FD2A61D2-2806-F241-9012-0D8BD9F28E22}" presName="sibTrans" presStyleLbl="sibTrans2D1" presStyleIdx="5" presStyleCnt="10"/>
      <dgm:spPr/>
    </dgm:pt>
    <dgm:pt modelId="{67418730-FCFC-F847-A704-0161D5150608}" type="pres">
      <dgm:prSet presAssocID="{E26C336C-29BB-3546-986D-75128856D30F}" presName="node" presStyleLbl="node1" presStyleIdx="6" presStyleCnt="10" custScaleX="161337" custScaleY="92854" custRadScaleRad="101828" custRadScaleInc="21376">
        <dgm:presLayoutVars>
          <dgm:bulletEnabled val="1"/>
        </dgm:presLayoutVars>
      </dgm:prSet>
      <dgm:spPr/>
    </dgm:pt>
    <dgm:pt modelId="{A1C4D61B-7376-FC44-9D4D-523F999E7952}" type="pres">
      <dgm:prSet presAssocID="{E26C336C-29BB-3546-986D-75128856D30F}" presName="dummy" presStyleCnt="0"/>
      <dgm:spPr/>
    </dgm:pt>
    <dgm:pt modelId="{2201B449-F6D3-D544-A08A-0B667B034564}" type="pres">
      <dgm:prSet presAssocID="{874F2C3D-9D8D-244B-A4BF-983EAA7B1D1F}" presName="sibTrans" presStyleLbl="sibTrans2D1" presStyleIdx="6" presStyleCnt="10"/>
      <dgm:spPr/>
    </dgm:pt>
    <dgm:pt modelId="{92EEB3EF-1E3B-E040-B935-FF76217EFBFB}" type="pres">
      <dgm:prSet presAssocID="{F31F6605-97B0-7543-BDF9-30411C24CD34}" presName="node" presStyleLbl="node1" presStyleIdx="7" presStyleCnt="10" custScaleX="203366" custScaleY="101416">
        <dgm:presLayoutVars>
          <dgm:bulletEnabled val="1"/>
        </dgm:presLayoutVars>
      </dgm:prSet>
      <dgm:spPr/>
    </dgm:pt>
    <dgm:pt modelId="{FB5951F3-CA56-CE44-AB55-53C2B591132D}" type="pres">
      <dgm:prSet presAssocID="{F31F6605-97B0-7543-BDF9-30411C24CD34}" presName="dummy" presStyleCnt="0"/>
      <dgm:spPr/>
    </dgm:pt>
    <dgm:pt modelId="{37D495AD-9113-964B-BF52-10A669DD314C}" type="pres">
      <dgm:prSet presAssocID="{EA35B427-B689-7F47-9176-5E98B9AA4380}" presName="sibTrans" presStyleLbl="sibTrans2D1" presStyleIdx="7" presStyleCnt="10"/>
      <dgm:spPr/>
    </dgm:pt>
    <dgm:pt modelId="{5D975CDD-29A2-8C43-8167-9B587F3FDEDB}" type="pres">
      <dgm:prSet presAssocID="{0A932CB5-6877-AF41-BF10-F53600708AE3}" presName="node" presStyleLbl="node1" presStyleIdx="8" presStyleCnt="10" custScaleX="200542" custScaleY="114188" custRadScaleRad="100328" custRadScaleInc="-16361">
        <dgm:presLayoutVars>
          <dgm:bulletEnabled val="1"/>
        </dgm:presLayoutVars>
      </dgm:prSet>
      <dgm:spPr/>
    </dgm:pt>
    <dgm:pt modelId="{CEF64E9D-96BB-294D-9C77-FAEA74FB26F0}" type="pres">
      <dgm:prSet presAssocID="{0A932CB5-6877-AF41-BF10-F53600708AE3}" presName="dummy" presStyleCnt="0"/>
      <dgm:spPr/>
    </dgm:pt>
    <dgm:pt modelId="{6188ABA2-A055-624F-8C21-4AA779F86AF3}" type="pres">
      <dgm:prSet presAssocID="{0EF732C5-3121-4D49-BAA0-2F413972AA38}" presName="sibTrans" presStyleLbl="sibTrans2D1" presStyleIdx="8" presStyleCnt="10"/>
      <dgm:spPr/>
    </dgm:pt>
    <dgm:pt modelId="{110F7E1B-4367-BB46-8304-F2B3407C8B2B}" type="pres">
      <dgm:prSet presAssocID="{CED77E72-BF73-4649-B357-822BA8EFE022}" presName="node" presStyleLbl="node1" presStyleIdx="9" presStyleCnt="10" custScaleX="168718" custScaleY="79415" custRadScaleRad="110120" custRadScaleInc="-50309">
        <dgm:presLayoutVars>
          <dgm:bulletEnabled val="1"/>
        </dgm:presLayoutVars>
      </dgm:prSet>
      <dgm:spPr/>
    </dgm:pt>
    <dgm:pt modelId="{9B4645A7-41BB-BE47-AAD9-271E373475BC}" type="pres">
      <dgm:prSet presAssocID="{CED77E72-BF73-4649-B357-822BA8EFE022}" presName="dummy" presStyleCnt="0"/>
      <dgm:spPr/>
    </dgm:pt>
    <dgm:pt modelId="{8BAF80F2-3BBA-D145-BE45-E3B2C3C69CE7}" type="pres">
      <dgm:prSet presAssocID="{5F111BCF-64B5-304D-AD09-28AD30D65C0D}" presName="sibTrans" presStyleLbl="sibTrans2D1" presStyleIdx="9" presStyleCnt="10"/>
      <dgm:spPr/>
    </dgm:pt>
  </dgm:ptLst>
  <dgm:cxnLst>
    <dgm:cxn modelId="{01C8C526-88C4-2C43-9429-D6947DA78E53}" type="presOf" srcId="{AD3661D6-DFBA-6E46-BF2A-DD582FAC02B8}" destId="{7235123B-46F5-924F-A4BD-2491F1011A18}" srcOrd="0" destOrd="0" presId="urn:microsoft.com/office/officeart/2005/8/layout/radial6"/>
    <dgm:cxn modelId="{A1205B28-F322-B146-9747-F63F61AE4EF7}" type="presOf" srcId="{FD2A61D2-2806-F241-9012-0D8BD9F28E22}" destId="{882CFEA3-366F-0F46-9DAF-71E283CA2C42}" srcOrd="0" destOrd="0" presId="urn:microsoft.com/office/officeart/2005/8/layout/radial6"/>
    <dgm:cxn modelId="{BF59072C-A195-C345-BD36-73DF7F8AE54E}" srcId="{D9FD50AC-8B20-9845-8B86-D31F255A8317}" destId="{CED77E72-BF73-4649-B357-822BA8EFE022}" srcOrd="9" destOrd="0" parTransId="{CA7B4F1B-F777-4843-8708-4BB03135BED8}" sibTransId="{5F111BCF-64B5-304D-AD09-28AD30D65C0D}"/>
    <dgm:cxn modelId="{AEB0843B-677B-C84E-A4CD-8DC0E8C2CAFA}" type="presOf" srcId="{FC06023F-1177-4342-ABCF-9F68B4C2D283}" destId="{902FA9C6-B049-4843-A05C-4957D9FACB8D}" srcOrd="0" destOrd="0" presId="urn:microsoft.com/office/officeart/2005/8/layout/radial6"/>
    <dgm:cxn modelId="{D162BE42-CC58-0047-8D69-9ACB396D5D61}" type="presOf" srcId="{6B536184-A198-974A-9134-2DAFB215CBB4}" destId="{6B308354-30AC-714E-A8CD-F7A0B1915F3A}" srcOrd="0" destOrd="0" presId="urn:microsoft.com/office/officeart/2005/8/layout/radial6"/>
    <dgm:cxn modelId="{282EBD45-CAF0-2B4A-B126-3434D4E25444}" type="presOf" srcId="{874F2C3D-9D8D-244B-A4BF-983EAA7B1D1F}" destId="{2201B449-F6D3-D544-A08A-0B667B034564}" srcOrd="0" destOrd="0" presId="urn:microsoft.com/office/officeart/2005/8/layout/radial6"/>
    <dgm:cxn modelId="{29855746-B20C-3040-A513-862C8C97DC30}" type="presOf" srcId="{EA35B427-B689-7F47-9176-5E98B9AA4380}" destId="{37D495AD-9113-964B-BF52-10A669DD314C}" srcOrd="0" destOrd="0" presId="urn:microsoft.com/office/officeart/2005/8/layout/radial6"/>
    <dgm:cxn modelId="{899F9949-713E-DF44-B9C9-7E6428B497F3}" srcId="{D9FD50AC-8B20-9845-8B86-D31F255A8317}" destId="{CDC3276A-B00A-D64B-9BCB-942A67616AB4}" srcOrd="0" destOrd="0" parTransId="{0F261DBA-2DEC-D142-B602-A08A970DCC09}" sibTransId="{B5B69B33-59B1-4047-9379-92FC5189FBED}"/>
    <dgm:cxn modelId="{3025A85D-0C09-8743-B536-9C15B6CF8ED5}" type="presOf" srcId="{B5B69B33-59B1-4047-9379-92FC5189FBED}" destId="{7A3240EF-8FCF-1148-99CE-A00B5F84AF21}" srcOrd="0" destOrd="0" presId="urn:microsoft.com/office/officeart/2005/8/layout/radial6"/>
    <dgm:cxn modelId="{0CF17F62-B5C0-C649-B248-D8D2591E4CBD}" srcId="{D9FD50AC-8B20-9845-8B86-D31F255A8317}" destId="{6B536184-A198-974A-9134-2DAFB215CBB4}" srcOrd="3" destOrd="0" parTransId="{CDDA58A3-8444-7B46-A110-F8EE042FCA45}" sibTransId="{853B75EF-64B4-A043-8C3E-CA2BCC64C9F6}"/>
    <dgm:cxn modelId="{E2EEBC63-D7B6-C14E-91F6-00B1DC216142}" srcId="{D9FD50AC-8B20-9845-8B86-D31F255A8317}" destId="{F31F6605-97B0-7543-BDF9-30411C24CD34}" srcOrd="7" destOrd="0" parTransId="{C9FB0E92-76C4-A349-8BE0-F276620D6A37}" sibTransId="{EA35B427-B689-7F47-9176-5E98B9AA4380}"/>
    <dgm:cxn modelId="{85006468-410B-A04E-BF18-205EA0C4DC47}" srcId="{D9FD50AC-8B20-9845-8B86-D31F255A8317}" destId="{24EC4318-9683-7344-B669-7CA85D1B0AA0}" srcOrd="1" destOrd="0" parTransId="{13D45556-2782-814F-B896-476421BF0D84}" sibTransId="{FC06023F-1177-4342-ABCF-9F68B4C2D283}"/>
    <dgm:cxn modelId="{0A12F968-E74B-424C-9CD8-90E06A045CBE}" type="presOf" srcId="{CDC3276A-B00A-D64B-9BCB-942A67616AB4}" destId="{815CA14A-F957-BC49-84BA-6961EF81F13D}" srcOrd="0" destOrd="0" presId="urn:microsoft.com/office/officeart/2005/8/layout/radial6"/>
    <dgm:cxn modelId="{B92F836F-71FB-864F-9653-A5576574B94D}" srcId="{D9FD50AC-8B20-9845-8B86-D31F255A8317}" destId="{E26C336C-29BB-3546-986D-75128856D30F}" srcOrd="6" destOrd="0" parTransId="{53B6460C-15B3-9949-8B22-FB4018F5F1D8}" sibTransId="{874F2C3D-9D8D-244B-A4BF-983EAA7B1D1F}"/>
    <dgm:cxn modelId="{2BA9BD73-E141-2B4E-889E-5A891BA2D019}" srcId="{D9FD50AC-8B20-9845-8B86-D31F255A8317}" destId="{AD3661D6-DFBA-6E46-BF2A-DD582FAC02B8}" srcOrd="2" destOrd="0" parTransId="{98C2DC4D-DD4F-F949-8DFF-490AE5E41EB0}" sibTransId="{85DDDDCB-2076-2C43-8422-12C462C63925}"/>
    <dgm:cxn modelId="{3A46A77C-548D-674A-81C6-2DAE0413490F}" type="presOf" srcId="{5F111BCF-64B5-304D-AD09-28AD30D65C0D}" destId="{8BAF80F2-3BBA-D145-BE45-E3B2C3C69CE7}" srcOrd="0" destOrd="0" presId="urn:microsoft.com/office/officeart/2005/8/layout/radial6"/>
    <dgm:cxn modelId="{729AD47C-9BE1-1D48-9C2F-A96600D05680}" srcId="{D9FD50AC-8B20-9845-8B86-D31F255A8317}" destId="{18B582B8-4E49-CC4C-90C2-A6962309E322}" srcOrd="5" destOrd="0" parTransId="{82C21DC7-6FD7-1843-AF05-CFAFA003088B}" sibTransId="{FD2A61D2-2806-F241-9012-0D8BD9F28E22}"/>
    <dgm:cxn modelId="{7EDBE292-0660-9544-895C-F6A507110113}" type="presOf" srcId="{CED77E72-BF73-4649-B357-822BA8EFE022}" destId="{110F7E1B-4367-BB46-8304-F2B3407C8B2B}" srcOrd="0" destOrd="0" presId="urn:microsoft.com/office/officeart/2005/8/layout/radial6"/>
    <dgm:cxn modelId="{F2860994-F73B-3D4B-9AFE-4695E7FF7A38}" type="presOf" srcId="{24EC4318-9683-7344-B669-7CA85D1B0AA0}" destId="{288AF90C-96F9-8141-AC37-C8F4FA1DC1F4}" srcOrd="0" destOrd="0" presId="urn:microsoft.com/office/officeart/2005/8/layout/radial6"/>
    <dgm:cxn modelId="{C31883B6-2CE6-7943-A69D-6900CE9E9ADB}" type="presOf" srcId="{B7E7D9E9-CC1C-B94D-AF85-9EA63D32DFB3}" destId="{5F10AA7E-2AD8-D840-8F4D-5EF28836C584}" srcOrd="0" destOrd="0" presId="urn:microsoft.com/office/officeart/2005/8/layout/radial6"/>
    <dgm:cxn modelId="{0B0C01B8-7413-E64F-8D5B-9A47D50899D6}" type="presOf" srcId="{853B75EF-64B4-A043-8C3E-CA2BCC64C9F6}" destId="{C55D1679-ADB6-7E4E-8DE9-761DB7510C85}" srcOrd="0" destOrd="0" presId="urn:microsoft.com/office/officeart/2005/8/layout/radial6"/>
    <dgm:cxn modelId="{0CBC79B9-5A38-E14A-9649-36BC140FDF81}" type="presOf" srcId="{85DDDDCB-2076-2C43-8422-12C462C63925}" destId="{981D6604-0D65-1C4B-B6E0-325B96C6AB83}" srcOrd="0" destOrd="0" presId="urn:microsoft.com/office/officeart/2005/8/layout/radial6"/>
    <dgm:cxn modelId="{87E3D4BA-46A2-A949-8547-D5A39780B18E}" type="presOf" srcId="{18B582B8-4E49-CC4C-90C2-A6962309E322}" destId="{FB7F86C7-8A91-334C-A454-4B3B37B9FF0D}" srcOrd="0" destOrd="0" presId="urn:microsoft.com/office/officeart/2005/8/layout/radial6"/>
    <dgm:cxn modelId="{DD919DBC-DCA7-554D-9EF2-8B2A18976071}" type="presOf" srcId="{0EF732C5-3121-4D49-BAA0-2F413972AA38}" destId="{6188ABA2-A055-624F-8C21-4AA779F86AF3}" srcOrd="0" destOrd="0" presId="urn:microsoft.com/office/officeart/2005/8/layout/radial6"/>
    <dgm:cxn modelId="{F63884BF-E6B4-B74C-BF05-490E105FFB12}" type="presOf" srcId="{F31F6605-97B0-7543-BDF9-30411C24CD34}" destId="{92EEB3EF-1E3B-E040-B935-FF76217EFBFB}" srcOrd="0" destOrd="0" presId="urn:microsoft.com/office/officeart/2005/8/layout/radial6"/>
    <dgm:cxn modelId="{3AC79BCE-81FD-A44F-B8F0-E3F10FEACA82}" type="presOf" srcId="{E26C336C-29BB-3546-986D-75128856D30F}" destId="{67418730-FCFC-F847-A704-0161D5150608}" srcOrd="0" destOrd="0" presId="urn:microsoft.com/office/officeart/2005/8/layout/radial6"/>
    <dgm:cxn modelId="{28C002D0-AEB3-D348-B736-C63267E242BC}" type="presOf" srcId="{0A932CB5-6877-AF41-BF10-F53600708AE3}" destId="{5D975CDD-29A2-8C43-8167-9B587F3FDEDB}" srcOrd="0" destOrd="0" presId="urn:microsoft.com/office/officeart/2005/8/layout/radial6"/>
    <dgm:cxn modelId="{E5C419D3-629C-FE4B-B6BF-6D3D1CAC68BB}" srcId="{D9FD50AC-8B20-9845-8B86-D31F255A8317}" destId="{B7E7D9E9-CC1C-B94D-AF85-9EA63D32DFB3}" srcOrd="4" destOrd="0" parTransId="{05D4A410-DFA6-AA45-9DDC-B54CE6B30017}" sibTransId="{300D95C7-F833-F047-9233-A4080C87D296}"/>
    <dgm:cxn modelId="{C9FE24D9-A587-5845-B3A6-A947AF1CBF36}" type="presOf" srcId="{D9FD50AC-8B20-9845-8B86-D31F255A8317}" destId="{12E5C94C-EA3A-724A-B3C8-4006294761BB}" srcOrd="0" destOrd="0" presId="urn:microsoft.com/office/officeart/2005/8/layout/radial6"/>
    <dgm:cxn modelId="{2662CFE2-07C3-2341-A855-83ECB121B350}" srcId="{D9FD50AC-8B20-9845-8B86-D31F255A8317}" destId="{0A932CB5-6877-AF41-BF10-F53600708AE3}" srcOrd="8" destOrd="0" parTransId="{9EA1210C-FB4D-3946-8806-1D4D0423771D}" sibTransId="{0EF732C5-3121-4D49-BAA0-2F413972AA38}"/>
    <dgm:cxn modelId="{D6EF60EA-D9D6-354D-B9FB-A4D2D68794D1}" type="presOf" srcId="{DE2DC4F9-69B4-734C-840B-9834F688E9B4}" destId="{3746914B-1820-BF41-9358-D62C83FBF69C}" srcOrd="0" destOrd="0" presId="urn:microsoft.com/office/officeart/2005/8/layout/radial6"/>
    <dgm:cxn modelId="{71389DF9-D76A-DE46-8175-A3857BB5208F}" type="presOf" srcId="{300D95C7-F833-F047-9233-A4080C87D296}" destId="{CD662B51-BCE5-5540-85CD-A6F3E5DC2AE9}" srcOrd="0" destOrd="0" presId="urn:microsoft.com/office/officeart/2005/8/layout/radial6"/>
    <dgm:cxn modelId="{DB3A86FB-BE2D-3444-93F5-72B972F7250D}" srcId="{DE2DC4F9-69B4-734C-840B-9834F688E9B4}" destId="{D9FD50AC-8B20-9845-8B86-D31F255A8317}" srcOrd="0" destOrd="0" parTransId="{DFD22313-07B3-7C4F-8858-1B5A89CFB981}" sibTransId="{492A780F-0B28-7849-B28A-078F66F4750E}"/>
    <dgm:cxn modelId="{CE083D36-D672-D146-AE10-4EDD43A07458}" type="presParOf" srcId="{3746914B-1820-BF41-9358-D62C83FBF69C}" destId="{12E5C94C-EA3A-724A-B3C8-4006294761BB}" srcOrd="0" destOrd="0" presId="urn:microsoft.com/office/officeart/2005/8/layout/radial6"/>
    <dgm:cxn modelId="{A79E4ABA-D07C-E841-B854-742188FEF6ED}" type="presParOf" srcId="{3746914B-1820-BF41-9358-D62C83FBF69C}" destId="{815CA14A-F957-BC49-84BA-6961EF81F13D}" srcOrd="1" destOrd="0" presId="urn:microsoft.com/office/officeart/2005/8/layout/radial6"/>
    <dgm:cxn modelId="{C3CA399B-88B6-DE47-9D88-50DE480D72FB}" type="presParOf" srcId="{3746914B-1820-BF41-9358-D62C83FBF69C}" destId="{E84D0BB2-FA40-A545-A68B-61E74E417C7F}" srcOrd="2" destOrd="0" presId="urn:microsoft.com/office/officeart/2005/8/layout/radial6"/>
    <dgm:cxn modelId="{5EB53E4E-CC76-B147-BF86-68355998BC2D}" type="presParOf" srcId="{3746914B-1820-BF41-9358-D62C83FBF69C}" destId="{7A3240EF-8FCF-1148-99CE-A00B5F84AF21}" srcOrd="3" destOrd="0" presId="urn:microsoft.com/office/officeart/2005/8/layout/radial6"/>
    <dgm:cxn modelId="{E428F500-D68F-EE40-B4A2-20EB4E40E5A7}" type="presParOf" srcId="{3746914B-1820-BF41-9358-D62C83FBF69C}" destId="{288AF90C-96F9-8141-AC37-C8F4FA1DC1F4}" srcOrd="4" destOrd="0" presId="urn:microsoft.com/office/officeart/2005/8/layout/radial6"/>
    <dgm:cxn modelId="{6E8BCD20-379E-2540-8D97-6D590783EC6C}" type="presParOf" srcId="{3746914B-1820-BF41-9358-D62C83FBF69C}" destId="{491740E1-CA27-5E42-AD96-8702153EB7A1}" srcOrd="5" destOrd="0" presId="urn:microsoft.com/office/officeart/2005/8/layout/radial6"/>
    <dgm:cxn modelId="{A7F62E4B-CD29-0B42-BC9E-D8558B5C1ECE}" type="presParOf" srcId="{3746914B-1820-BF41-9358-D62C83FBF69C}" destId="{902FA9C6-B049-4843-A05C-4957D9FACB8D}" srcOrd="6" destOrd="0" presId="urn:microsoft.com/office/officeart/2005/8/layout/radial6"/>
    <dgm:cxn modelId="{07C6CC4E-E4E8-4647-AAA7-626C4744E123}" type="presParOf" srcId="{3746914B-1820-BF41-9358-D62C83FBF69C}" destId="{7235123B-46F5-924F-A4BD-2491F1011A18}" srcOrd="7" destOrd="0" presId="urn:microsoft.com/office/officeart/2005/8/layout/radial6"/>
    <dgm:cxn modelId="{CB07F155-FDC3-734C-ADC2-4D59E44E3799}" type="presParOf" srcId="{3746914B-1820-BF41-9358-D62C83FBF69C}" destId="{E9E07CE1-4758-DE45-BE14-CD991038F65A}" srcOrd="8" destOrd="0" presId="urn:microsoft.com/office/officeart/2005/8/layout/radial6"/>
    <dgm:cxn modelId="{7B8E07D8-6902-2E44-97BE-8D9C9015C59E}" type="presParOf" srcId="{3746914B-1820-BF41-9358-D62C83FBF69C}" destId="{981D6604-0D65-1C4B-B6E0-325B96C6AB83}" srcOrd="9" destOrd="0" presId="urn:microsoft.com/office/officeart/2005/8/layout/radial6"/>
    <dgm:cxn modelId="{4297851F-8E73-AF49-B75B-2E2306E453AB}" type="presParOf" srcId="{3746914B-1820-BF41-9358-D62C83FBF69C}" destId="{6B308354-30AC-714E-A8CD-F7A0B1915F3A}" srcOrd="10" destOrd="0" presId="urn:microsoft.com/office/officeart/2005/8/layout/radial6"/>
    <dgm:cxn modelId="{9869F940-A090-D546-8225-6DFDBAAD9301}" type="presParOf" srcId="{3746914B-1820-BF41-9358-D62C83FBF69C}" destId="{3C7D9A66-5E0F-C549-BF11-60F8CC5262D4}" srcOrd="11" destOrd="0" presId="urn:microsoft.com/office/officeart/2005/8/layout/radial6"/>
    <dgm:cxn modelId="{7EB682D3-C9B4-9E46-840D-936402FFA2B9}" type="presParOf" srcId="{3746914B-1820-BF41-9358-D62C83FBF69C}" destId="{C55D1679-ADB6-7E4E-8DE9-761DB7510C85}" srcOrd="12" destOrd="0" presId="urn:microsoft.com/office/officeart/2005/8/layout/radial6"/>
    <dgm:cxn modelId="{B25EA590-0093-9143-8B67-E38A78A94EC7}" type="presParOf" srcId="{3746914B-1820-BF41-9358-D62C83FBF69C}" destId="{5F10AA7E-2AD8-D840-8F4D-5EF28836C584}" srcOrd="13" destOrd="0" presId="urn:microsoft.com/office/officeart/2005/8/layout/radial6"/>
    <dgm:cxn modelId="{0F577AD4-FD45-4F4C-8644-A2EAC36973FD}" type="presParOf" srcId="{3746914B-1820-BF41-9358-D62C83FBF69C}" destId="{636403AF-F586-064B-9823-DD798DD7680F}" srcOrd="14" destOrd="0" presId="urn:microsoft.com/office/officeart/2005/8/layout/radial6"/>
    <dgm:cxn modelId="{898F4A0A-2E35-794E-9A3F-F909FC231082}" type="presParOf" srcId="{3746914B-1820-BF41-9358-D62C83FBF69C}" destId="{CD662B51-BCE5-5540-85CD-A6F3E5DC2AE9}" srcOrd="15" destOrd="0" presId="urn:microsoft.com/office/officeart/2005/8/layout/radial6"/>
    <dgm:cxn modelId="{7B7B56EC-3F2C-6947-A699-CD559CB54FEB}" type="presParOf" srcId="{3746914B-1820-BF41-9358-D62C83FBF69C}" destId="{FB7F86C7-8A91-334C-A454-4B3B37B9FF0D}" srcOrd="16" destOrd="0" presId="urn:microsoft.com/office/officeart/2005/8/layout/radial6"/>
    <dgm:cxn modelId="{B600ED0F-2FCA-284B-8A4C-CEF7CBEB1EE2}" type="presParOf" srcId="{3746914B-1820-BF41-9358-D62C83FBF69C}" destId="{5CB261D9-38E1-8542-8199-933E13CF1DF0}" srcOrd="17" destOrd="0" presId="urn:microsoft.com/office/officeart/2005/8/layout/radial6"/>
    <dgm:cxn modelId="{F10ED366-0CDE-F44B-ACBE-A276EB6F5164}" type="presParOf" srcId="{3746914B-1820-BF41-9358-D62C83FBF69C}" destId="{882CFEA3-366F-0F46-9DAF-71E283CA2C42}" srcOrd="18" destOrd="0" presId="urn:microsoft.com/office/officeart/2005/8/layout/radial6"/>
    <dgm:cxn modelId="{13054A76-B93D-3C49-8EC6-570692460D26}" type="presParOf" srcId="{3746914B-1820-BF41-9358-D62C83FBF69C}" destId="{67418730-FCFC-F847-A704-0161D5150608}" srcOrd="19" destOrd="0" presId="urn:microsoft.com/office/officeart/2005/8/layout/radial6"/>
    <dgm:cxn modelId="{E684F2BB-907D-FB4B-A088-32834DC71A1F}" type="presParOf" srcId="{3746914B-1820-BF41-9358-D62C83FBF69C}" destId="{A1C4D61B-7376-FC44-9D4D-523F999E7952}" srcOrd="20" destOrd="0" presId="urn:microsoft.com/office/officeart/2005/8/layout/radial6"/>
    <dgm:cxn modelId="{4F8419DE-CA63-944B-834B-632A5D8F4760}" type="presParOf" srcId="{3746914B-1820-BF41-9358-D62C83FBF69C}" destId="{2201B449-F6D3-D544-A08A-0B667B034564}" srcOrd="21" destOrd="0" presId="urn:microsoft.com/office/officeart/2005/8/layout/radial6"/>
    <dgm:cxn modelId="{D7E8434B-317B-8142-9016-2BF76426820A}" type="presParOf" srcId="{3746914B-1820-BF41-9358-D62C83FBF69C}" destId="{92EEB3EF-1E3B-E040-B935-FF76217EFBFB}" srcOrd="22" destOrd="0" presId="urn:microsoft.com/office/officeart/2005/8/layout/radial6"/>
    <dgm:cxn modelId="{FFC109E0-97E0-114F-ADC3-3E0B7B6C7B5F}" type="presParOf" srcId="{3746914B-1820-BF41-9358-D62C83FBF69C}" destId="{FB5951F3-CA56-CE44-AB55-53C2B591132D}" srcOrd="23" destOrd="0" presId="urn:microsoft.com/office/officeart/2005/8/layout/radial6"/>
    <dgm:cxn modelId="{7E2E5089-7CCA-6142-AB98-4709C9C0BDAB}" type="presParOf" srcId="{3746914B-1820-BF41-9358-D62C83FBF69C}" destId="{37D495AD-9113-964B-BF52-10A669DD314C}" srcOrd="24" destOrd="0" presId="urn:microsoft.com/office/officeart/2005/8/layout/radial6"/>
    <dgm:cxn modelId="{3A810081-8632-B645-95C6-084C9635A437}" type="presParOf" srcId="{3746914B-1820-BF41-9358-D62C83FBF69C}" destId="{5D975CDD-29A2-8C43-8167-9B587F3FDEDB}" srcOrd="25" destOrd="0" presId="urn:microsoft.com/office/officeart/2005/8/layout/radial6"/>
    <dgm:cxn modelId="{DFAE930D-FE3B-2E41-B1C7-B42E7203EF31}" type="presParOf" srcId="{3746914B-1820-BF41-9358-D62C83FBF69C}" destId="{CEF64E9D-96BB-294D-9C77-FAEA74FB26F0}" srcOrd="26" destOrd="0" presId="urn:microsoft.com/office/officeart/2005/8/layout/radial6"/>
    <dgm:cxn modelId="{903BA999-A38F-0A4B-A4C2-4D76D614891D}" type="presParOf" srcId="{3746914B-1820-BF41-9358-D62C83FBF69C}" destId="{6188ABA2-A055-624F-8C21-4AA779F86AF3}" srcOrd="27" destOrd="0" presId="urn:microsoft.com/office/officeart/2005/8/layout/radial6"/>
    <dgm:cxn modelId="{B22FDEF5-88D3-E94E-808B-4FBFEEBF7C22}" type="presParOf" srcId="{3746914B-1820-BF41-9358-D62C83FBF69C}" destId="{110F7E1B-4367-BB46-8304-F2B3407C8B2B}" srcOrd="28" destOrd="0" presId="urn:microsoft.com/office/officeart/2005/8/layout/radial6"/>
    <dgm:cxn modelId="{D9574CA5-0513-8F49-BB8C-3543E74C80D0}" type="presParOf" srcId="{3746914B-1820-BF41-9358-D62C83FBF69C}" destId="{9B4645A7-41BB-BE47-AAD9-271E373475BC}" srcOrd="29" destOrd="0" presId="urn:microsoft.com/office/officeart/2005/8/layout/radial6"/>
    <dgm:cxn modelId="{172D2DEB-C6C1-C04B-B95C-FE5FA2B9ED29}" type="presParOf" srcId="{3746914B-1820-BF41-9358-D62C83FBF69C}" destId="{8BAF80F2-3BBA-D145-BE45-E3B2C3C69CE7}" srcOrd="30"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ECC78F-837F-9241-AF58-ABA6CF7F5299}">
      <dsp:nvSpPr>
        <dsp:cNvPr id="0" name=""/>
        <dsp:cNvSpPr/>
      </dsp:nvSpPr>
      <dsp:spPr>
        <a:xfrm>
          <a:off x="2694620" y="1441679"/>
          <a:ext cx="3259729" cy="325972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tx1"/>
        </a:fontRef>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r>
            <a:rPr lang="en-US" sz="4800" b="1" kern="1200" dirty="0"/>
            <a:t>Work-Based Learning</a:t>
          </a:r>
        </a:p>
      </dsp:txBody>
      <dsp:txXfrm>
        <a:off x="3171996" y="1919055"/>
        <a:ext cx="2304977" cy="2304977"/>
      </dsp:txXfrm>
    </dsp:sp>
    <dsp:sp modelId="{3A0447CE-9D9F-A84A-843E-469AE8909EC8}">
      <dsp:nvSpPr>
        <dsp:cNvPr id="0" name=""/>
        <dsp:cNvSpPr/>
      </dsp:nvSpPr>
      <dsp:spPr>
        <a:xfrm>
          <a:off x="2971355" y="78749"/>
          <a:ext cx="2706259" cy="1623345"/>
        </a:xfrm>
        <a:prstGeom prst="ellipse">
          <a:avLst/>
        </a:prstGeom>
        <a:solidFill>
          <a:srgbClr val="00B050">
            <a:alpha val="50000"/>
          </a:srgbClr>
        </a:solidFill>
        <a:ln w="2222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cap="small" baseline="0" dirty="0"/>
            <a:t>Apprenticeship</a:t>
          </a:r>
        </a:p>
      </dsp:txBody>
      <dsp:txXfrm>
        <a:off x="3367677" y="316482"/>
        <a:ext cx="1913615" cy="1147879"/>
      </dsp:txXfrm>
    </dsp:sp>
    <dsp:sp modelId="{47486FE5-B2AD-E049-BA20-51A352902296}">
      <dsp:nvSpPr>
        <dsp:cNvPr id="0" name=""/>
        <dsp:cNvSpPr/>
      </dsp:nvSpPr>
      <dsp:spPr>
        <a:xfrm>
          <a:off x="5648873" y="1846751"/>
          <a:ext cx="1965861" cy="1332626"/>
        </a:xfrm>
        <a:prstGeom prst="ellipse">
          <a:avLst/>
        </a:prstGeom>
        <a:solidFill>
          <a:srgbClr val="FFFF00">
            <a:alpha val="50000"/>
          </a:srgbClr>
        </a:solidFill>
        <a:ln w="2222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kern="1200" cap="small" baseline="0" dirty="0"/>
            <a:t>Internship</a:t>
          </a:r>
        </a:p>
      </dsp:txBody>
      <dsp:txXfrm>
        <a:off x="5936767" y="2041910"/>
        <a:ext cx="1390073" cy="942308"/>
      </dsp:txXfrm>
    </dsp:sp>
    <dsp:sp modelId="{376EA7C3-3393-9E4E-97AA-CC33F2A2D535}">
      <dsp:nvSpPr>
        <dsp:cNvPr id="0" name=""/>
        <dsp:cNvSpPr/>
      </dsp:nvSpPr>
      <dsp:spPr>
        <a:xfrm>
          <a:off x="4688473" y="4118995"/>
          <a:ext cx="2392364" cy="1481497"/>
        </a:xfrm>
        <a:prstGeom prst="ellipse">
          <a:avLst/>
        </a:prstGeom>
        <a:solidFill>
          <a:schemeClr val="bg1">
            <a:lumMod val="50000"/>
            <a:alpha val="50000"/>
          </a:schemeClr>
        </a:solidFill>
        <a:ln w="2222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kern="1200" cap="small" baseline="0" dirty="0"/>
            <a:t>On-the-Job Training</a:t>
          </a:r>
        </a:p>
      </dsp:txBody>
      <dsp:txXfrm>
        <a:off x="5038827" y="4335955"/>
        <a:ext cx="1691656" cy="1047577"/>
      </dsp:txXfrm>
    </dsp:sp>
    <dsp:sp modelId="{1B69B673-4096-4642-94CA-C584ECC05902}">
      <dsp:nvSpPr>
        <dsp:cNvPr id="0" name=""/>
        <dsp:cNvSpPr/>
      </dsp:nvSpPr>
      <dsp:spPr>
        <a:xfrm>
          <a:off x="1755980" y="4196388"/>
          <a:ext cx="2161004" cy="1287804"/>
        </a:xfrm>
        <a:prstGeom prst="ellipse">
          <a:avLst/>
        </a:prstGeom>
        <a:solidFill>
          <a:schemeClr val="accent4">
            <a:alpha val="50000"/>
          </a:schemeClr>
        </a:solidFill>
        <a:ln w="2222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kern="1200" cap="small" baseline="0" dirty="0"/>
            <a:t>Co-Op</a:t>
          </a:r>
        </a:p>
      </dsp:txBody>
      <dsp:txXfrm>
        <a:off x="2072452" y="4384983"/>
        <a:ext cx="1528060" cy="910614"/>
      </dsp:txXfrm>
    </dsp:sp>
    <dsp:sp modelId="{61D72645-D724-8F4E-8E84-85BEAC38DB2D}">
      <dsp:nvSpPr>
        <dsp:cNvPr id="0" name=""/>
        <dsp:cNvSpPr/>
      </dsp:nvSpPr>
      <dsp:spPr>
        <a:xfrm>
          <a:off x="675700" y="1762295"/>
          <a:ext cx="2392412" cy="1453187"/>
        </a:xfrm>
        <a:prstGeom prst="ellipse">
          <a:avLst/>
        </a:prstGeom>
        <a:solidFill>
          <a:srgbClr val="C00000">
            <a:alpha val="50000"/>
          </a:srgbClr>
        </a:solidFill>
        <a:ln w="22225"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cap="small" baseline="0" dirty="0"/>
            <a:t>Transitional Employment</a:t>
          </a:r>
        </a:p>
      </dsp:txBody>
      <dsp:txXfrm>
        <a:off x="1026061" y="1975109"/>
        <a:ext cx="1691690" cy="10275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51E9B2-CA9B-F040-B786-FC4C0A66E4B3}">
      <dsp:nvSpPr>
        <dsp:cNvPr id="0" name=""/>
        <dsp:cNvSpPr/>
      </dsp:nvSpPr>
      <dsp:spPr>
        <a:xfrm>
          <a:off x="1829008" y="700072"/>
          <a:ext cx="4782819" cy="4782819"/>
        </a:xfrm>
        <a:prstGeom prst="blockArc">
          <a:avLst>
            <a:gd name="adj1" fmla="val 11880000"/>
            <a:gd name="adj2" fmla="val 16200000"/>
            <a:gd name="adj3" fmla="val 463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BDD6204-D740-B745-A591-47E95BA48AED}">
      <dsp:nvSpPr>
        <dsp:cNvPr id="0" name=""/>
        <dsp:cNvSpPr/>
      </dsp:nvSpPr>
      <dsp:spPr>
        <a:xfrm>
          <a:off x="1783965" y="826264"/>
          <a:ext cx="4782819" cy="4782819"/>
        </a:xfrm>
        <a:prstGeom prst="blockArc">
          <a:avLst>
            <a:gd name="adj1" fmla="val 7858502"/>
            <a:gd name="adj2" fmla="val 12077216"/>
            <a:gd name="adj3" fmla="val 463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EBACC73-ABA9-DB40-87B6-E9BFF0CE1159}">
      <dsp:nvSpPr>
        <dsp:cNvPr id="0" name=""/>
        <dsp:cNvSpPr/>
      </dsp:nvSpPr>
      <dsp:spPr>
        <a:xfrm>
          <a:off x="1727128" y="778464"/>
          <a:ext cx="4782819" cy="4782819"/>
        </a:xfrm>
        <a:prstGeom prst="blockArc">
          <a:avLst>
            <a:gd name="adj1" fmla="val 3050796"/>
            <a:gd name="adj2" fmla="val 7749204"/>
            <a:gd name="adj3" fmla="val 463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A577CD3-20FE-7A46-B785-D0CD29C70D51}">
      <dsp:nvSpPr>
        <dsp:cNvPr id="0" name=""/>
        <dsp:cNvSpPr/>
      </dsp:nvSpPr>
      <dsp:spPr>
        <a:xfrm>
          <a:off x="2270182" y="447865"/>
          <a:ext cx="4782819" cy="4782819"/>
        </a:xfrm>
        <a:prstGeom prst="blockArc">
          <a:avLst>
            <a:gd name="adj1" fmla="val 20672416"/>
            <a:gd name="adj2" fmla="val 3989349"/>
            <a:gd name="adj3" fmla="val 463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27E2BE-EBB2-2E42-B59F-26F1A39D4921}">
      <dsp:nvSpPr>
        <dsp:cNvPr id="0" name=""/>
        <dsp:cNvSpPr/>
      </dsp:nvSpPr>
      <dsp:spPr>
        <a:xfrm>
          <a:off x="2334169" y="644796"/>
          <a:ext cx="4782819" cy="4782819"/>
        </a:xfrm>
        <a:prstGeom prst="blockArc">
          <a:avLst>
            <a:gd name="adj1" fmla="val 15450651"/>
            <a:gd name="adj2" fmla="val 20367584"/>
            <a:gd name="adj3" fmla="val 463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54F2912-87A4-8C40-90F6-306E190CBB67}">
      <dsp:nvSpPr>
        <dsp:cNvPr id="0" name=""/>
        <dsp:cNvSpPr/>
      </dsp:nvSpPr>
      <dsp:spPr>
        <a:xfrm>
          <a:off x="2763648" y="2054427"/>
          <a:ext cx="3128166" cy="2123632"/>
        </a:xfrm>
        <a:prstGeom prst="ellipse">
          <a:avLst/>
        </a:prstGeom>
        <a:solidFill>
          <a:srgbClr val="00B0F0"/>
        </a:solidFill>
        <a:ln w="12700" cap="flat" cmpd="sng" algn="ctr">
          <a:solidFill>
            <a:schemeClr val="lt1">
              <a:hueOff val="0"/>
              <a:satOff val="0"/>
              <a:lumOff val="0"/>
              <a:alphaOff val="0"/>
            </a:schemeClr>
          </a:solidFill>
          <a:prstDash val="solid"/>
          <a:miter lim="800000"/>
        </a:ln>
        <a:effectLst>
          <a:glow rad="228600">
            <a:schemeClr val="accent1">
              <a:satMod val="175000"/>
              <a:alpha val="40000"/>
            </a:schemeClr>
          </a:glow>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Impact" panose="020B0806030902050204" pitchFamily="34" charset="0"/>
            </a:rPr>
            <a:t>Apprenticeship</a:t>
          </a:r>
        </a:p>
      </dsp:txBody>
      <dsp:txXfrm>
        <a:off x="3221757" y="2365426"/>
        <a:ext cx="2211948" cy="1501634"/>
      </dsp:txXfrm>
    </dsp:sp>
    <dsp:sp modelId="{25B26556-9526-AB4F-98FA-7DEC28D786A1}">
      <dsp:nvSpPr>
        <dsp:cNvPr id="0" name=""/>
        <dsp:cNvSpPr/>
      </dsp:nvSpPr>
      <dsp:spPr>
        <a:xfrm>
          <a:off x="3450204" y="-14685"/>
          <a:ext cx="1540426" cy="1540426"/>
        </a:xfrm>
        <a:prstGeom prst="ellipse">
          <a:avLst/>
        </a:prstGeom>
        <a:solidFill>
          <a:srgbClr val="FFFF00"/>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cap="small" baseline="0" dirty="0">
              <a:solidFill>
                <a:schemeClr val="tx1"/>
              </a:solidFill>
            </a:rPr>
            <a:t>Paid job</a:t>
          </a:r>
        </a:p>
      </dsp:txBody>
      <dsp:txXfrm>
        <a:off x="3675794" y="210905"/>
        <a:ext cx="1089246" cy="1089246"/>
      </dsp:txXfrm>
    </dsp:sp>
    <dsp:sp modelId="{73899DA7-FBC3-8A42-BD7C-AC4F5B124E1D}">
      <dsp:nvSpPr>
        <dsp:cNvPr id="0" name=""/>
        <dsp:cNvSpPr/>
      </dsp:nvSpPr>
      <dsp:spPr>
        <a:xfrm>
          <a:off x="6015497" y="1414600"/>
          <a:ext cx="1795059" cy="1603999"/>
        </a:xfrm>
        <a:prstGeom prst="ellipse">
          <a:avLst/>
        </a:prstGeom>
        <a:solidFill>
          <a:srgbClr val="7030A0"/>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cap="small" baseline="0" dirty="0">
              <a:solidFill>
                <a:schemeClr val="bg1"/>
              </a:solidFill>
            </a:rPr>
            <a:t>Mentoring</a:t>
          </a:r>
        </a:p>
      </dsp:txBody>
      <dsp:txXfrm>
        <a:off x="6278377" y="1649500"/>
        <a:ext cx="1269299" cy="1134199"/>
      </dsp:txXfrm>
    </dsp:sp>
    <dsp:sp modelId="{3D861FD2-F3CB-4E46-813C-3309D5600BE3}">
      <dsp:nvSpPr>
        <dsp:cNvPr id="0" name=""/>
        <dsp:cNvSpPr/>
      </dsp:nvSpPr>
      <dsp:spPr>
        <a:xfrm>
          <a:off x="4643976" y="4181557"/>
          <a:ext cx="1898960" cy="1599501"/>
        </a:xfrm>
        <a:prstGeom prst="ellipse">
          <a:avLst/>
        </a:prstGeom>
        <a:solidFill>
          <a:srgbClr val="FFC000"/>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cap="small" baseline="0" dirty="0">
              <a:solidFill>
                <a:schemeClr val="tx1"/>
              </a:solidFill>
            </a:rPr>
            <a:t>Results in Industry Credential</a:t>
          </a:r>
        </a:p>
      </dsp:txBody>
      <dsp:txXfrm>
        <a:off x="4922072" y="4415798"/>
        <a:ext cx="1342768" cy="1131019"/>
      </dsp:txXfrm>
    </dsp:sp>
    <dsp:sp modelId="{87726E35-F6AD-1445-88C4-B4F004C0C6F6}">
      <dsp:nvSpPr>
        <dsp:cNvPr id="0" name=""/>
        <dsp:cNvSpPr/>
      </dsp:nvSpPr>
      <dsp:spPr>
        <a:xfrm>
          <a:off x="1673397" y="4137439"/>
          <a:ext cx="1940444" cy="1687737"/>
        </a:xfrm>
        <a:prstGeom prst="ellipse">
          <a:avLst/>
        </a:prstGeom>
        <a:solidFill>
          <a:srgbClr val="C00000"/>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cap="small" baseline="0" dirty="0"/>
            <a:t>Related instruction</a:t>
          </a:r>
        </a:p>
      </dsp:txBody>
      <dsp:txXfrm>
        <a:off x="1957568" y="4384602"/>
        <a:ext cx="1372102" cy="1193411"/>
      </dsp:txXfrm>
    </dsp:sp>
    <dsp:sp modelId="{7B326DDF-C587-2C44-9083-A539913CCCDB}">
      <dsp:nvSpPr>
        <dsp:cNvPr id="0" name=""/>
        <dsp:cNvSpPr/>
      </dsp:nvSpPr>
      <dsp:spPr>
        <a:xfrm>
          <a:off x="1228580" y="1599419"/>
          <a:ext cx="1540426" cy="154042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Scheduled Wage Increases</a:t>
          </a:r>
        </a:p>
      </dsp:txBody>
      <dsp:txXfrm>
        <a:off x="1454170" y="1825009"/>
        <a:ext cx="1089246" cy="10892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E1DF5-67FB-8745-9FBB-BCC45DDB68F5}">
      <dsp:nvSpPr>
        <dsp:cNvPr id="0" name=""/>
        <dsp:cNvSpPr/>
      </dsp:nvSpPr>
      <dsp:spPr>
        <a:xfrm>
          <a:off x="868360" y="176350"/>
          <a:ext cx="2356796" cy="2294999"/>
        </a:xfrm>
        <a:prstGeom prst="pieWedge">
          <a:avLst/>
        </a:prstGeom>
        <a:solidFill>
          <a:srgbClr val="00206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a:t>Employer: On the Job Training</a:t>
          </a:r>
        </a:p>
      </dsp:txBody>
      <dsp:txXfrm>
        <a:off x="1558650" y="848540"/>
        <a:ext cx="1666506" cy="1622809"/>
      </dsp:txXfrm>
    </dsp:sp>
    <dsp:sp modelId="{10595D3E-2DE7-1648-9355-CF9AA65B13CB}">
      <dsp:nvSpPr>
        <dsp:cNvPr id="0" name=""/>
        <dsp:cNvSpPr/>
      </dsp:nvSpPr>
      <dsp:spPr>
        <a:xfrm rot="5400000">
          <a:off x="3536660" y="6021"/>
          <a:ext cx="2301734" cy="2685148"/>
        </a:xfrm>
        <a:prstGeom prst="pieWedge">
          <a:avLst/>
        </a:prstGeom>
        <a:solidFill>
          <a:srgbClr val="FFFF0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kern="1200">
              <a:solidFill>
                <a:schemeClr val="tx1"/>
              </a:solidFill>
            </a:rPr>
            <a:t>Sponsor</a:t>
          </a:r>
        </a:p>
      </dsp:txBody>
      <dsp:txXfrm rot="-5400000">
        <a:off x="3344953" y="871890"/>
        <a:ext cx="1898686" cy="1627572"/>
      </dsp:txXfrm>
    </dsp:sp>
    <dsp:sp modelId="{31496314-EC5E-F741-873B-4070EB0793E6}">
      <dsp:nvSpPr>
        <dsp:cNvPr id="0" name=""/>
        <dsp:cNvSpPr/>
      </dsp:nvSpPr>
      <dsp:spPr>
        <a:xfrm rot="10800000">
          <a:off x="3518320" y="2656705"/>
          <a:ext cx="2561204" cy="2146771"/>
        </a:xfrm>
        <a:prstGeom prst="pieWedge">
          <a:avLst/>
        </a:prstGeom>
        <a:solidFill>
          <a:srgbClr val="C0000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kern="1200"/>
            <a:t>Related Instruction</a:t>
          </a:r>
        </a:p>
      </dsp:txBody>
      <dsp:txXfrm rot="10800000">
        <a:off x="3518320" y="2656705"/>
        <a:ext cx="1811045" cy="1517996"/>
      </dsp:txXfrm>
    </dsp:sp>
    <dsp:sp modelId="{BCDD4563-6519-E942-8FC9-472E1EC71FBD}">
      <dsp:nvSpPr>
        <dsp:cNvPr id="0" name=""/>
        <dsp:cNvSpPr/>
      </dsp:nvSpPr>
      <dsp:spPr>
        <a:xfrm rot="16200000">
          <a:off x="1068853" y="2548314"/>
          <a:ext cx="2153418" cy="2437611"/>
        </a:xfrm>
        <a:prstGeom prst="pieWedge">
          <a:avLst/>
        </a:prstGeom>
        <a:solidFill>
          <a:srgbClr val="00B05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a:t>Support Servic</a:t>
          </a:r>
          <a:r>
            <a:rPr lang="en-US" sz="2000" kern="1200"/>
            <a:t>es</a:t>
          </a:r>
        </a:p>
      </dsp:txBody>
      <dsp:txXfrm rot="5400000">
        <a:off x="1640717" y="2690410"/>
        <a:ext cx="1723651" cy="1522696"/>
      </dsp:txXfrm>
    </dsp:sp>
    <dsp:sp modelId="{452883BC-932D-EC46-B392-CF2426EB0036}">
      <dsp:nvSpPr>
        <dsp:cNvPr id="0" name=""/>
        <dsp:cNvSpPr/>
      </dsp:nvSpPr>
      <dsp:spPr>
        <a:xfrm>
          <a:off x="2951439" y="2103120"/>
          <a:ext cx="757407" cy="658615"/>
        </a:xfrm>
        <a:prstGeom prst="circularArrow">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B7F254-23A3-454E-B801-4201D9C3FC3E}">
      <dsp:nvSpPr>
        <dsp:cNvPr id="0" name=""/>
        <dsp:cNvSpPr/>
      </dsp:nvSpPr>
      <dsp:spPr>
        <a:xfrm rot="10800000">
          <a:off x="2976153" y="2318128"/>
          <a:ext cx="757407" cy="658615"/>
        </a:xfrm>
        <a:prstGeom prst="circularArrow">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AF80F2-3BBA-D145-BE45-E3B2C3C69CE7}">
      <dsp:nvSpPr>
        <dsp:cNvPr id="0" name=""/>
        <dsp:cNvSpPr/>
      </dsp:nvSpPr>
      <dsp:spPr>
        <a:xfrm>
          <a:off x="2147495" y="400811"/>
          <a:ext cx="5491957" cy="5491957"/>
        </a:xfrm>
        <a:prstGeom prst="blockArc">
          <a:avLst>
            <a:gd name="adj1" fmla="val 13902762"/>
            <a:gd name="adj2" fmla="val 17079735"/>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188ABA2-A055-624F-8C21-4AA779F86AF3}">
      <dsp:nvSpPr>
        <dsp:cNvPr id="0" name=""/>
        <dsp:cNvSpPr/>
      </dsp:nvSpPr>
      <dsp:spPr>
        <a:xfrm>
          <a:off x="2549824" y="9033"/>
          <a:ext cx="5491957" cy="5491957"/>
        </a:xfrm>
        <a:prstGeom prst="blockArc">
          <a:avLst>
            <a:gd name="adj1" fmla="val 11142714"/>
            <a:gd name="adj2" fmla="val 13188590"/>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7D495AD-9113-964B-BF52-10A669DD314C}">
      <dsp:nvSpPr>
        <dsp:cNvPr id="0" name=""/>
        <dsp:cNvSpPr/>
      </dsp:nvSpPr>
      <dsp:spPr>
        <a:xfrm>
          <a:off x="2461479" y="475002"/>
          <a:ext cx="5491957" cy="5491957"/>
        </a:xfrm>
        <a:prstGeom prst="blockArc">
          <a:avLst>
            <a:gd name="adj1" fmla="val 9699870"/>
            <a:gd name="adj2" fmla="val 11745552"/>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201B449-F6D3-D544-A08A-0B667B034564}">
      <dsp:nvSpPr>
        <dsp:cNvPr id="0" name=""/>
        <dsp:cNvSpPr/>
      </dsp:nvSpPr>
      <dsp:spPr>
        <a:xfrm>
          <a:off x="2492655" y="575581"/>
          <a:ext cx="5491957" cy="5491957"/>
        </a:xfrm>
        <a:prstGeom prst="blockArc">
          <a:avLst>
            <a:gd name="adj1" fmla="val 7807629"/>
            <a:gd name="adj2" fmla="val 9833552"/>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82CFEA3-366F-0F46-9DAF-71E283CA2C42}">
      <dsp:nvSpPr>
        <dsp:cNvPr id="0" name=""/>
        <dsp:cNvSpPr/>
      </dsp:nvSpPr>
      <dsp:spPr>
        <a:xfrm>
          <a:off x="2393851" y="496180"/>
          <a:ext cx="5491957" cy="5491957"/>
        </a:xfrm>
        <a:prstGeom prst="blockArc">
          <a:avLst>
            <a:gd name="adj1" fmla="val 5190196"/>
            <a:gd name="adj2" fmla="val 7646705"/>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662B51-BCE5-5540-85CD-A6F3E5DC2AE9}">
      <dsp:nvSpPr>
        <dsp:cNvPr id="0" name=""/>
        <dsp:cNvSpPr/>
      </dsp:nvSpPr>
      <dsp:spPr>
        <a:xfrm>
          <a:off x="2932053" y="516954"/>
          <a:ext cx="5491957" cy="5491957"/>
        </a:xfrm>
        <a:prstGeom prst="blockArc">
          <a:avLst>
            <a:gd name="adj1" fmla="val 2993857"/>
            <a:gd name="adj2" fmla="val 5875063"/>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5D1679-ADB6-7E4E-8DE9-761DB7510C85}">
      <dsp:nvSpPr>
        <dsp:cNvPr id="0" name=""/>
        <dsp:cNvSpPr/>
      </dsp:nvSpPr>
      <dsp:spPr>
        <a:xfrm>
          <a:off x="3057582" y="417434"/>
          <a:ext cx="5491957" cy="5491957"/>
        </a:xfrm>
        <a:prstGeom prst="blockArc">
          <a:avLst>
            <a:gd name="adj1" fmla="val 1193027"/>
            <a:gd name="adj2" fmla="val 3197245"/>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81D6604-0D65-1C4B-B6E0-325B96C6AB83}">
      <dsp:nvSpPr>
        <dsp:cNvPr id="0" name=""/>
        <dsp:cNvSpPr/>
      </dsp:nvSpPr>
      <dsp:spPr>
        <a:xfrm>
          <a:off x="3157495" y="177783"/>
          <a:ext cx="5491957" cy="5491957"/>
        </a:xfrm>
        <a:prstGeom prst="blockArc">
          <a:avLst>
            <a:gd name="adj1" fmla="val 20944848"/>
            <a:gd name="adj2" fmla="val 1522762"/>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02FA9C6-B049-4843-A05C-4957D9FACB8D}">
      <dsp:nvSpPr>
        <dsp:cNvPr id="0" name=""/>
        <dsp:cNvSpPr/>
      </dsp:nvSpPr>
      <dsp:spPr>
        <a:xfrm>
          <a:off x="3112191" y="-193201"/>
          <a:ext cx="5491957" cy="5491957"/>
        </a:xfrm>
        <a:prstGeom prst="blockArc">
          <a:avLst>
            <a:gd name="adj1" fmla="val 19533513"/>
            <a:gd name="adj2" fmla="val 21419674"/>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A3240EF-8FCF-1148-99CE-A00B5F84AF21}">
      <dsp:nvSpPr>
        <dsp:cNvPr id="0" name=""/>
        <dsp:cNvSpPr/>
      </dsp:nvSpPr>
      <dsp:spPr>
        <a:xfrm>
          <a:off x="3628648" y="369463"/>
          <a:ext cx="5491957" cy="5491957"/>
        </a:xfrm>
        <a:prstGeom prst="blockArc">
          <a:avLst>
            <a:gd name="adj1" fmla="val 15174770"/>
            <a:gd name="adj2" fmla="val 18560715"/>
            <a:gd name="adj3" fmla="val 27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2E5C94C-EA3A-724A-B3C8-4006294761BB}">
      <dsp:nvSpPr>
        <dsp:cNvPr id="0" name=""/>
        <dsp:cNvSpPr/>
      </dsp:nvSpPr>
      <dsp:spPr>
        <a:xfrm>
          <a:off x="3792483" y="1663340"/>
          <a:ext cx="3603722" cy="2728701"/>
        </a:xfrm>
        <a:prstGeom prst="ellipse">
          <a:avLst/>
        </a:prstGeom>
        <a:solidFill>
          <a:srgbClr val="FFFF00"/>
        </a:solidFill>
        <a:ln w="12700" cap="flat" cmpd="sng" algn="ctr">
          <a:solidFill>
            <a:schemeClr val="lt1">
              <a:hueOff val="0"/>
              <a:satOff val="0"/>
              <a:lumOff val="0"/>
              <a:alphaOff val="0"/>
            </a:schemeClr>
          </a:solidFill>
          <a:prstDash val="solid"/>
          <a:miter lim="800000"/>
        </a:ln>
        <a:effectLst>
          <a:glow rad="228600">
            <a:schemeClr val="accent5">
              <a:satMod val="175000"/>
              <a:alpha val="40000"/>
            </a:schemeClr>
          </a:glow>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b="1" kern="1200" dirty="0">
              <a:solidFill>
                <a:schemeClr val="tx1"/>
              </a:solidFill>
            </a:rPr>
            <a:t>Apprenticeship</a:t>
          </a:r>
        </a:p>
      </dsp:txBody>
      <dsp:txXfrm>
        <a:off x="4320236" y="2062949"/>
        <a:ext cx="2548216" cy="1929483"/>
      </dsp:txXfrm>
    </dsp:sp>
    <dsp:sp modelId="{815CA14A-F957-BC49-84BA-6961EF81F13D}">
      <dsp:nvSpPr>
        <dsp:cNvPr id="0" name=""/>
        <dsp:cNvSpPr/>
      </dsp:nvSpPr>
      <dsp:spPr>
        <a:xfrm>
          <a:off x="4375105" y="0"/>
          <a:ext cx="2407658" cy="10538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USDOL Apprenticeship Office</a:t>
          </a:r>
        </a:p>
      </dsp:txBody>
      <dsp:txXfrm>
        <a:off x="4727698" y="154337"/>
        <a:ext cx="1702472" cy="745204"/>
      </dsp:txXfrm>
    </dsp:sp>
    <dsp:sp modelId="{288AF90C-96F9-8141-AC37-C8F4FA1DC1F4}">
      <dsp:nvSpPr>
        <dsp:cNvPr id="0" name=""/>
        <dsp:cNvSpPr/>
      </dsp:nvSpPr>
      <dsp:spPr>
        <a:xfrm>
          <a:off x="6978564" y="494268"/>
          <a:ext cx="2225875" cy="10538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SD Dept. of Labor &amp; Regulation</a:t>
          </a:r>
        </a:p>
      </dsp:txBody>
      <dsp:txXfrm>
        <a:off x="7304536" y="648605"/>
        <a:ext cx="1573931" cy="745204"/>
      </dsp:txXfrm>
    </dsp:sp>
    <dsp:sp modelId="{7235123B-46F5-924F-A4BD-2491F1011A18}">
      <dsp:nvSpPr>
        <dsp:cNvPr id="0" name=""/>
        <dsp:cNvSpPr/>
      </dsp:nvSpPr>
      <dsp:spPr>
        <a:xfrm>
          <a:off x="7568872" y="1883853"/>
          <a:ext cx="1987224" cy="10538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Community Colleges</a:t>
          </a:r>
        </a:p>
      </dsp:txBody>
      <dsp:txXfrm>
        <a:off x="7859894" y="2038190"/>
        <a:ext cx="1405180" cy="745204"/>
      </dsp:txXfrm>
    </dsp:sp>
    <dsp:sp modelId="{6B308354-30AC-714E-A8CD-F7A0B1915F3A}">
      <dsp:nvSpPr>
        <dsp:cNvPr id="0" name=""/>
        <dsp:cNvSpPr/>
      </dsp:nvSpPr>
      <dsp:spPr>
        <a:xfrm>
          <a:off x="7435740" y="3557515"/>
          <a:ext cx="1828837" cy="10538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Local Education (K-12)</a:t>
          </a:r>
        </a:p>
      </dsp:txBody>
      <dsp:txXfrm>
        <a:off x="7703567" y="3711852"/>
        <a:ext cx="1293183" cy="745204"/>
      </dsp:txXfrm>
    </dsp:sp>
    <dsp:sp modelId="{5F10AA7E-2AD8-D840-8F4D-5EF28836C584}">
      <dsp:nvSpPr>
        <dsp:cNvPr id="0" name=""/>
        <dsp:cNvSpPr/>
      </dsp:nvSpPr>
      <dsp:spPr>
        <a:xfrm>
          <a:off x="6265039" y="4807358"/>
          <a:ext cx="2314780" cy="10538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Vocational Rehabilitation</a:t>
          </a:r>
        </a:p>
      </dsp:txBody>
      <dsp:txXfrm>
        <a:off x="6604031" y="4961695"/>
        <a:ext cx="1636796" cy="745204"/>
      </dsp:txXfrm>
    </dsp:sp>
    <dsp:sp modelId="{FB7F86C7-8A91-334C-A454-4B3B37B9FF0D}">
      <dsp:nvSpPr>
        <dsp:cNvPr id="0" name=""/>
        <dsp:cNvSpPr/>
      </dsp:nvSpPr>
      <dsp:spPr>
        <a:xfrm>
          <a:off x="4257015" y="5418217"/>
          <a:ext cx="2095963" cy="10538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Community Organizations</a:t>
          </a:r>
        </a:p>
      </dsp:txBody>
      <dsp:txXfrm>
        <a:off x="4563962" y="5572554"/>
        <a:ext cx="1482069" cy="745204"/>
      </dsp:txXfrm>
    </dsp:sp>
    <dsp:sp modelId="{67418730-FCFC-F847-A704-0161D5150608}">
      <dsp:nvSpPr>
        <dsp:cNvPr id="0" name=""/>
        <dsp:cNvSpPr/>
      </dsp:nvSpPr>
      <dsp:spPr>
        <a:xfrm>
          <a:off x="2643192" y="4902886"/>
          <a:ext cx="1700295" cy="97856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Employers</a:t>
          </a:r>
        </a:p>
      </dsp:txBody>
      <dsp:txXfrm>
        <a:off x="2892194" y="5046194"/>
        <a:ext cx="1202291" cy="691952"/>
      </dsp:txXfrm>
    </dsp:sp>
    <dsp:sp modelId="{92EEB3EF-1E3B-E040-B935-FF76217EFBFB}">
      <dsp:nvSpPr>
        <dsp:cNvPr id="0" name=""/>
        <dsp:cNvSpPr/>
      </dsp:nvSpPr>
      <dsp:spPr>
        <a:xfrm>
          <a:off x="1565289" y="3538477"/>
          <a:ext cx="2143230" cy="10688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Labor Organizations</a:t>
          </a:r>
        </a:p>
      </dsp:txBody>
      <dsp:txXfrm>
        <a:off x="1879158" y="3694999"/>
        <a:ext cx="1515492" cy="755757"/>
      </dsp:txXfrm>
    </dsp:sp>
    <dsp:sp modelId="{5D975CDD-29A2-8C43-8167-9B587F3FDEDB}">
      <dsp:nvSpPr>
        <dsp:cNvPr id="0" name=""/>
        <dsp:cNvSpPr/>
      </dsp:nvSpPr>
      <dsp:spPr>
        <a:xfrm>
          <a:off x="1544475" y="1883789"/>
          <a:ext cx="2113468" cy="120340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Economic Development</a:t>
          </a:r>
        </a:p>
      </dsp:txBody>
      <dsp:txXfrm>
        <a:off x="1853985" y="2060023"/>
        <a:ext cx="1494448" cy="850934"/>
      </dsp:txXfrm>
    </dsp:sp>
    <dsp:sp modelId="{110F7E1B-4367-BB46-8304-F2B3407C8B2B}">
      <dsp:nvSpPr>
        <dsp:cNvPr id="0" name=""/>
        <dsp:cNvSpPr/>
      </dsp:nvSpPr>
      <dsp:spPr>
        <a:xfrm>
          <a:off x="2326517" y="602744"/>
          <a:ext cx="1778082" cy="83693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Other</a:t>
          </a:r>
        </a:p>
      </dsp:txBody>
      <dsp:txXfrm>
        <a:off x="2586911" y="725311"/>
        <a:ext cx="1257294" cy="591803"/>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4.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765E1A-2B15-164F-9C7F-2FFE8A5DEAA3}" type="datetimeFigureOut">
              <a:rPr lang="en-US" smtClean="0"/>
              <a:t>10/13/22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92C1AB-7233-C14A-8D12-FA14F83497B1}" type="slidenum">
              <a:rPr lang="en-US" smtClean="0"/>
              <a:t>‹#›</a:t>
            </a:fld>
            <a:endParaRPr lang="en-US"/>
          </a:p>
        </p:txBody>
      </p:sp>
    </p:spTree>
    <p:extLst>
      <p:ext uri="{BB962C8B-B14F-4D97-AF65-F5344CB8AC3E}">
        <p14:creationId xmlns:p14="http://schemas.microsoft.com/office/powerpoint/2010/main" val="291127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JULISA / DAVID</a:t>
            </a:r>
            <a:endParaRPr lang="en-US"/>
          </a:p>
          <a:p>
            <a:r>
              <a:rPr lang="en-US"/>
              <a:t>•</a:t>
            </a:r>
            <a:r>
              <a:rPr lang="en-US" b="1" kern="1200"/>
              <a:t>The Rural Youth Apprenticeship Development Project (</a:t>
            </a:r>
            <a:r>
              <a:rPr lang="en-US" b="1"/>
              <a:t>Julisa</a:t>
            </a:r>
            <a:r>
              <a:rPr lang="en-US" b="1" kern="1200"/>
              <a:t>)</a:t>
            </a:r>
            <a:endParaRPr lang="en-US" b="1"/>
          </a:p>
          <a:p>
            <a:r>
              <a:rPr lang="en-US"/>
              <a:t>•</a:t>
            </a:r>
            <a:r>
              <a:rPr lang="en-US" b="1" kern="1200"/>
              <a:t>JFF's National Innovation Hub for Diversity, Equity, Inclusion, and Accessibility in Registered Apprenticeship</a:t>
            </a:r>
            <a:r>
              <a:rPr lang="en-US" b="1"/>
              <a:t> (David)</a:t>
            </a:r>
            <a:endParaRPr lang="en-US"/>
          </a:p>
          <a:p>
            <a:r>
              <a:rPr lang="en-US"/>
              <a:t>•</a:t>
            </a:r>
            <a:r>
              <a:rPr lang="en-US" b="1"/>
              <a:t>Partner in Massachusetts Diversity and Equity in Apprenticeship Initiative (David)</a:t>
            </a:r>
            <a:endParaRPr lang="en-US"/>
          </a:p>
          <a:p>
            <a:r>
              <a:rPr lang="en-US"/>
              <a:t>•</a:t>
            </a:r>
          </a:p>
          <a:p>
            <a:r>
              <a:rPr lang="en-US"/>
              <a:t>The Rural Youth Apprenticeship Development Project promotes the development and advancement of State and American Indian VR apprenticeships programs for youth with disabilities in undeserved rural communities where there are higher rates of people with disabilities who face lower rates of employment.  </a:t>
            </a:r>
          </a:p>
          <a:p>
            <a:r>
              <a:rPr lang="en-US"/>
              <a:t> </a:t>
            </a:r>
          </a:p>
          <a:p>
            <a:r>
              <a:rPr lang="en-US"/>
              <a:t>We have defined youth as those ages 16-24 and agencies can focus on pre-apprenticeship, non-registered apprenticeships or registered apprenticeships. We are working with 4 VR agencies, </a:t>
            </a:r>
          </a:p>
          <a:p>
            <a:pPr marL="171450" indent="-171450">
              <a:buFont typeface="Arial"/>
              <a:buChar char="•"/>
            </a:pPr>
            <a:r>
              <a:rPr lang="en-US">
                <a:latin typeface="Arial"/>
                <a:cs typeface="Arial"/>
              </a:rPr>
              <a:t>Arkansas Rehabilitation Services and Arkansas Career Development Center </a:t>
            </a:r>
            <a:endParaRPr lang="en-US">
              <a:cs typeface="Arial"/>
            </a:endParaRPr>
          </a:p>
          <a:p>
            <a:pPr marL="628650" lvl="1" indent="-171450">
              <a:buFont typeface="Arial"/>
              <a:buChar char="•"/>
            </a:pPr>
            <a:r>
              <a:rPr lang="en-US">
                <a:latin typeface="Arial"/>
                <a:cs typeface="Arial"/>
              </a:rPr>
              <a:t>Created pre-apprenticeship programs that feed into registered apprenticeships in construction and healthcare</a:t>
            </a:r>
          </a:p>
          <a:p>
            <a:pPr marL="628650" lvl="1" indent="-171450">
              <a:buFont typeface="Arial"/>
              <a:buChar char="•"/>
            </a:pPr>
            <a:r>
              <a:rPr lang="en-US">
                <a:latin typeface="Arial"/>
                <a:cs typeface="Arial"/>
              </a:rPr>
              <a:t>Mentor role</a:t>
            </a:r>
          </a:p>
          <a:p>
            <a:pPr marL="171450" indent="-171450">
              <a:buFont typeface="Arial"/>
              <a:buChar char="•"/>
            </a:pPr>
            <a:r>
              <a:rPr lang="en-US">
                <a:latin typeface="Arial"/>
                <a:cs typeface="Arial"/>
              </a:rPr>
              <a:t>Vermont </a:t>
            </a:r>
            <a:r>
              <a:rPr lang="en-US" dirty="0" err="1">
                <a:latin typeface="Arial"/>
                <a:cs typeface="Arial"/>
              </a:rPr>
              <a:t>HireAbility</a:t>
            </a:r>
            <a:r>
              <a:rPr lang="en-US" dirty="0">
                <a:latin typeface="Arial"/>
                <a:cs typeface="Arial"/>
              </a:rPr>
              <a:t> (general VR agency) </a:t>
            </a:r>
            <a:endParaRPr lang="en-US" dirty="0">
              <a:cs typeface="Arial"/>
            </a:endParaRPr>
          </a:p>
          <a:p>
            <a:pPr marL="628650" lvl="1" indent="-171450">
              <a:buFont typeface="Arial"/>
              <a:buChar char="•"/>
            </a:pPr>
            <a:r>
              <a:rPr lang="en-US">
                <a:latin typeface="Arial"/>
                <a:cs typeface="Arial"/>
              </a:rPr>
              <a:t>Received one of the Rehabilitation Services Administration Career Pathways demonstration grants. </a:t>
            </a:r>
            <a:endParaRPr lang="en-US">
              <a:cs typeface="Arial"/>
            </a:endParaRPr>
          </a:p>
          <a:p>
            <a:pPr marL="628650" lvl="1" indent="-171450">
              <a:buFont typeface="Arial"/>
              <a:buChar char="•"/>
            </a:pPr>
            <a:r>
              <a:rPr lang="en-US">
                <a:latin typeface="Arial"/>
                <a:cs typeface="Arial"/>
              </a:rPr>
              <a:t>Partnered with workforce partners, state apprenticeship office, secondary and post-secondary education institutions, non-profit partners and Vermont employers to create registered apprenticeships in 5 target sectors </a:t>
            </a:r>
            <a:endParaRPr lang="en-US">
              <a:cs typeface="Arial"/>
            </a:endParaRPr>
          </a:p>
          <a:p>
            <a:pPr marL="628650" lvl="1" indent="-171450">
              <a:buFont typeface="Arial"/>
              <a:buChar char="•"/>
            </a:pPr>
            <a:r>
              <a:rPr lang="en-US">
                <a:latin typeface="Arial"/>
                <a:cs typeface="Arial"/>
              </a:rPr>
              <a:t>Their model includes Career Pathway Navigators, a Governance Board with leaders from all partner organizations, and an Employer Advisory Group representing the targeted sectors </a:t>
            </a:r>
            <a:endParaRPr lang="en-US">
              <a:cs typeface="Arial"/>
            </a:endParaRPr>
          </a:p>
          <a:p>
            <a:pPr marL="171450" indent="-171450">
              <a:buFont typeface="Arial"/>
              <a:buChar char="•"/>
            </a:pPr>
            <a:r>
              <a:rPr lang="en-US">
                <a:latin typeface="Arial"/>
                <a:cs typeface="Arial"/>
              </a:rPr>
              <a:t>Vermont Division for the Blind and Visually Impaired</a:t>
            </a:r>
          </a:p>
          <a:p>
            <a:pPr marL="628650" lvl="1" indent="-171450">
              <a:buFont typeface="Arial"/>
              <a:buChar char="•"/>
            </a:pPr>
            <a:r>
              <a:rPr lang="en-US">
                <a:latin typeface="Arial"/>
                <a:cs typeface="Arial"/>
              </a:rPr>
              <a:t>Create either a pre-apprenticeship or non-registered apprenticeship</a:t>
            </a:r>
          </a:p>
          <a:p>
            <a:pPr marL="628650" lvl="1" indent="-171450">
              <a:buFont typeface="Arial"/>
              <a:buChar char="•"/>
            </a:pPr>
            <a:r>
              <a:rPr lang="en-US">
                <a:latin typeface="Arial"/>
                <a:cs typeface="Arial"/>
              </a:rPr>
              <a:t>Focused on access and accessibility for youth that are blind or visually impaired </a:t>
            </a:r>
            <a:endParaRPr lang="en-US">
              <a:cs typeface="Arial"/>
            </a:endParaRPr>
          </a:p>
          <a:p>
            <a:pPr marL="628650" lvl="1" indent="-171450">
              <a:buFont typeface="Arial"/>
              <a:buChar char="•"/>
            </a:pPr>
            <a:r>
              <a:rPr lang="en-US">
                <a:latin typeface="Arial"/>
                <a:cs typeface="Arial"/>
              </a:rPr>
              <a:t>Looking at remote work options, IT, technology and civil service opportunities</a:t>
            </a:r>
          </a:p>
          <a:p>
            <a:pPr marL="171450" indent="-171450">
              <a:buFont typeface="Arial"/>
              <a:buChar char="•"/>
            </a:pPr>
            <a:r>
              <a:rPr lang="en-US">
                <a:latin typeface="Arial"/>
                <a:cs typeface="Arial"/>
              </a:rPr>
              <a:t>Wyoming Division of Vocational Rehabilitation</a:t>
            </a:r>
          </a:p>
          <a:p>
            <a:pPr marL="628650" lvl="1" indent="-171450">
              <a:buFont typeface="Arial"/>
              <a:buChar char="•"/>
            </a:pPr>
            <a:r>
              <a:rPr lang="en-US">
                <a:latin typeface="Arial"/>
                <a:cs typeface="Arial"/>
              </a:rPr>
              <a:t>Working with state apprenticeship office and secondary and post-secondary education institutions including the Makerspace programs</a:t>
            </a:r>
          </a:p>
          <a:p>
            <a:pPr marL="628650" lvl="1" indent="-171450">
              <a:buFont typeface="Arial"/>
              <a:buChar char="•"/>
            </a:pPr>
            <a:r>
              <a:rPr lang="en-US">
                <a:latin typeface="Arial"/>
                <a:cs typeface="Arial"/>
              </a:rPr>
              <a:t>There is a need for pre-apprenticeship programs to create a pipeline for the existing apprenticeship programs</a:t>
            </a:r>
          </a:p>
          <a:p>
            <a:pPr marL="628650" lvl="1" indent="-171450">
              <a:buFont typeface="Arial"/>
              <a:buChar char="•"/>
            </a:pPr>
            <a:r>
              <a:rPr lang="en-US">
                <a:latin typeface="Arial"/>
                <a:cs typeface="Arial"/>
              </a:rPr>
              <a:t>Work collaboratively with the Tribal VR program</a:t>
            </a:r>
          </a:p>
          <a:p>
            <a:pPr marL="628650" lvl="1" indent="-171450">
              <a:buFont typeface="Arial"/>
              <a:buChar char="•"/>
            </a:pPr>
            <a:r>
              <a:rPr lang="en-US">
                <a:latin typeface="Arial"/>
                <a:cs typeface="Arial"/>
              </a:rPr>
              <a:t>Focused on construction and IT, two of the fastest growing industries that matched the youth career interest</a:t>
            </a:r>
          </a:p>
          <a:p>
            <a:r>
              <a:rPr lang="en-US"/>
              <a:t> </a:t>
            </a:r>
          </a:p>
          <a:p>
            <a:r>
              <a:rPr lang="en-US"/>
              <a:t>Our team provides technical assistance (TA), assistance with identification and coordination with potential partners and guidance on evaluation strategies. Our TA model includes both individual support as well as the infrastructure, a learning collaborative, that brings members together in a cross-state forum to solve problems, identify and apply solutions, and measure outcomes and results through research and evaluation activities.  </a:t>
            </a:r>
          </a:p>
          <a:p>
            <a:r>
              <a:rPr lang="en-US"/>
              <a:t> </a:t>
            </a:r>
          </a:p>
          <a:p>
            <a:r>
              <a:rPr lang="en-US"/>
              <a:t>We have an advisory group that includes representatives from the various stakeholders; i.e. apprenticeship office, VR agencies, transportation, etc.</a:t>
            </a:r>
          </a:p>
          <a:p>
            <a:r>
              <a:rPr lang="en-US"/>
              <a:t> </a:t>
            </a:r>
          </a:p>
          <a:p>
            <a:r>
              <a:rPr lang="en-US">
                <a:latin typeface="Arial"/>
                <a:cs typeface="Arial"/>
              </a:rPr>
              <a:t>One of our project outputs is an apprenticeship toolkit with rural-specific resources. The toolkit will include policies that support apprenticeship programs in rural areas, implementation guides, sample tools like marketing material, and case scenarios. We have already developed the toolkit infrastructure and have a number of tools already available. These are intended for a broader audience and we are now working on rural and youth specific tools. If we have time, we will pull up the toolkit and give you a quick tour.</a:t>
            </a:r>
          </a:p>
          <a:p>
            <a:endParaRPr lang="en-US" dirty="0">
              <a:cs typeface="Arial"/>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a:t>
            </a:fld>
            <a:endParaRPr lang="en-US" altLang="en-US"/>
          </a:p>
        </p:txBody>
      </p:sp>
    </p:spTree>
    <p:extLst>
      <p:ext uri="{BB962C8B-B14F-4D97-AF65-F5344CB8AC3E}">
        <p14:creationId xmlns:p14="http://schemas.microsoft.com/office/powerpoint/2010/main" val="1154460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DAVID</a:t>
            </a:r>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a:pPr>
                <a:defRPr/>
              </a:pPr>
              <a:t>8</a:t>
            </a:fld>
            <a:endParaRPr lang="en-US" altLang="en-US"/>
          </a:p>
        </p:txBody>
      </p:sp>
    </p:spTree>
    <p:extLst>
      <p:ext uri="{BB962C8B-B14F-4D97-AF65-F5344CB8AC3E}">
        <p14:creationId xmlns:p14="http://schemas.microsoft.com/office/powerpoint/2010/main" val="3129131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latin typeface="Arial"/>
                <a:cs typeface="Arial"/>
              </a:rPr>
              <a:t>DAVID </a:t>
            </a:r>
            <a:endParaRPr lang="en-US" b="1">
              <a:latin typeface="Arial"/>
              <a:cs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1" dirty="0">
              <a:cs typeface="Arial"/>
            </a:endParaRPr>
          </a:p>
          <a:p>
            <a:pPr>
              <a:defRPr/>
            </a:pPr>
            <a:endParaRPr lang="en-US">
              <a:latin typeface="Arial"/>
              <a:cs typeface="Arial"/>
            </a:endParaRPr>
          </a:p>
          <a:p>
            <a:pPr>
              <a:defRPr/>
            </a:pPr>
            <a:r>
              <a:rPr lang="en-US" dirty="0">
                <a:latin typeface="Arial"/>
                <a:cs typeface="Arial"/>
              </a:rPr>
              <a:t>In the training last week, only about 30% of you mentioned using apprenticeships/ pre apprenticeships as an EE strategy. If you have not, why not?...One of the challenges that we heard most often is that businesses, jobseekers, and VR staff do not have a good understanding of the models and the benefits. I'll spend some time defining the first two now, and Neil will describe the registered apprenticeship model later when we talk about model advancement.</a:t>
            </a:r>
          </a:p>
          <a:p>
            <a:pPr>
              <a:defRPr/>
            </a:pPr>
            <a:endParaRPr lang="en-US">
              <a:latin typeface="Arial"/>
              <a:cs typeface="Arial"/>
            </a:endParaRPr>
          </a:p>
          <a:p>
            <a:pPr>
              <a:defRPr/>
            </a:pPr>
            <a:r>
              <a:rPr lang="en-US" dirty="0">
                <a:latin typeface="Arial"/>
                <a:cs typeface="Arial"/>
              </a:rPr>
              <a:t>Because apprenticeship combines on-the job training and related classroom instruction with a steady paycheck, it offers an ideal solution for the 68 percent of Americans with disabilities who are job seeking and are engaged in employment-related activities. These activities may include preparing for work, actively searching for jobs, currently participating in employment, or seeking to improve their employment situation.</a:t>
            </a:r>
          </a:p>
          <a:p>
            <a:pPr>
              <a:defRPr/>
            </a:pPr>
            <a:r>
              <a:rPr lang="en-US" dirty="0">
                <a:latin typeface="Arial"/>
                <a:cs typeface="Arial"/>
              </a:rPr>
              <a:t>Apprenticeship has the potential to solve a modern challenge which has some job seekers sidelined even when demand for talent is high. Driven by the 2017 Executive Order on Expanding Apprenticeships in America, the U.S. Department of Labor (DOL) is committed to increasing opportunities for talent development in the workplace.</a:t>
            </a:r>
          </a:p>
          <a:p>
            <a:pPr>
              <a:buFont typeface="Arial" panose="020B0604020202020204" pitchFamily="34" charset="0"/>
              <a:defRPr/>
            </a:pPr>
            <a:endParaRPr lang="en-US" b="0">
              <a:latin typeface="Arial" panose="020B0604020202020204" pitchFamily="34" charset="0"/>
              <a:cs typeface="+mn-cs"/>
            </a:endParaRPr>
          </a:p>
          <a:p>
            <a:pPr>
              <a:buFont typeface="Arial" panose="020B0604020202020204" pitchFamily="34" charset="0"/>
              <a:defRPr/>
            </a:pPr>
            <a:r>
              <a:rPr lang="en-US" b="0" dirty="0">
                <a:latin typeface="Arial"/>
                <a:cs typeface="Arial"/>
              </a:rPr>
              <a:t>Apprenticeships:</a:t>
            </a:r>
            <a:endParaRPr lang="en-US" b="1">
              <a:latin typeface="Arial"/>
              <a:cs typeface="Arial"/>
            </a:endParaRPr>
          </a:p>
          <a:p>
            <a:pPr marL="171450" indent="-171450">
              <a:buFont typeface="Arial" panose="020B0604020202020204" pitchFamily="34" charset="0"/>
              <a:buChar char="•"/>
            </a:pPr>
            <a:r>
              <a:rPr lang="en-US" sz="1200" kern="1200" dirty="0">
                <a:solidFill>
                  <a:schemeClr val="tx1"/>
                </a:solidFill>
                <a:effectLst/>
                <a:latin typeface="Arial"/>
                <a:cs typeface="Arial"/>
              </a:rPr>
              <a:t>Are a</a:t>
            </a:r>
            <a:r>
              <a:rPr lang="en-US" dirty="0">
                <a:latin typeface="Arial"/>
                <a:cs typeface="Arial"/>
              </a:rPr>
              <a:t> </a:t>
            </a:r>
            <a:r>
              <a:rPr lang="en-US" sz="1200" kern="1200" dirty="0">
                <a:solidFill>
                  <a:schemeClr val="tx1"/>
                </a:solidFill>
                <a:effectLst/>
                <a:latin typeface="Arial"/>
                <a:cs typeface="Arial"/>
              </a:rPr>
              <a:t> long-standing model used for entry into careers in the trades, but now expanded well beyond the trades </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Grew out of employer needs to hire and train qualified workers with specific skills to do the job </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Unlike other WBL models described earlier apprenticeships have a very defined structure and set of expectations</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Require a combination of on-the-job training and classroom learning that leads to a credential </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Are an Earn and Learn model with, as we said earlier, significant earnings potential</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Are a system for training a new generation of workers in a trade or profession </a:t>
            </a:r>
          </a:p>
          <a:p>
            <a:endParaRPr lang="en-US"/>
          </a:p>
          <a:p>
            <a:pPr fontAlgn="base"/>
            <a:r>
              <a:rPr lang="en-US" sz="1200" b="1" kern="1200" dirty="0">
                <a:solidFill>
                  <a:schemeClr val="tx1"/>
                </a:solidFill>
                <a:effectLst/>
                <a:latin typeface="Arial"/>
                <a:cs typeface="Arial"/>
              </a:rPr>
              <a:t>In 2006, the Vision for 21</a:t>
            </a:r>
            <a:r>
              <a:rPr lang="en-US" sz="1200" b="1" kern="1200" baseline="30000" dirty="0">
                <a:solidFill>
                  <a:schemeClr val="tx1"/>
                </a:solidFill>
                <a:effectLst/>
                <a:latin typeface="Arial"/>
                <a:cs typeface="Arial"/>
              </a:rPr>
              <a:t>st</a:t>
            </a:r>
            <a:r>
              <a:rPr lang="en-US" sz="1200" b="1" kern="1200" dirty="0">
                <a:solidFill>
                  <a:schemeClr val="tx1"/>
                </a:solidFill>
                <a:effectLst/>
                <a:latin typeface="Arial"/>
                <a:cs typeface="Arial"/>
              </a:rPr>
              <a:t> Century Apprenticeship initiative outlines use of Registered Apprenticeships to:</a:t>
            </a:r>
            <a:r>
              <a:rPr lang="en-US" sz="1200" kern="1200" dirty="0">
                <a:solidFill>
                  <a:schemeClr val="tx1"/>
                </a:solidFill>
                <a:effectLst/>
                <a:latin typeface="Arial"/>
                <a:cs typeface="Arial"/>
              </a:rPr>
              <a:t> </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Keep pace with economic changes </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Offer skill development through a competency-based training system </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Offer interim credentials in high growth/demand industries (healthcare, biotech, advanced manufacturing, info tech, and more) </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Be a talent development strategy &amp; key option to post-secondary education  </a:t>
            </a:r>
          </a:p>
          <a:p>
            <a:pPr marL="171450" lvl="0" indent="-171450" fontAlgn="base">
              <a:buFont typeface="Arial" panose="020B0604020202020204" pitchFamily="34" charset="0"/>
              <a:buChar char="•"/>
            </a:pPr>
            <a:r>
              <a:rPr lang="en-US" sz="1200" kern="1200" dirty="0">
                <a:solidFill>
                  <a:schemeClr val="tx1"/>
                </a:solidFill>
                <a:effectLst/>
                <a:latin typeface="Arial"/>
                <a:cs typeface="Arial"/>
              </a:rPr>
              <a:t>Built off pilot models around the country </a:t>
            </a:r>
          </a:p>
          <a:p>
            <a:pPr marL="171450" indent="-171450">
              <a:buFont typeface="Arial" panose="020B0604020202020204" pitchFamily="34" charset="0"/>
              <a:buChar char="•"/>
            </a:pPr>
            <a:endParaRPr lang="en-US">
              <a:cs typeface="Arial"/>
            </a:endParaRPr>
          </a:p>
          <a:p>
            <a:pPr marL="285750" indent="-285750">
              <a:spcBef>
                <a:spcPct val="20000"/>
              </a:spcBef>
              <a:buFont typeface="Arial" panose="020B0604020202020204" pitchFamily="34" charset="0"/>
              <a:buChar char="•"/>
            </a:pPr>
            <a:endParaRPr lang="en-US"/>
          </a:p>
          <a:p>
            <a:pPr marL="285750" indent="-285750">
              <a:spcBef>
                <a:spcPct val="20000"/>
              </a:spcBef>
              <a:buFont typeface="Arial" panose="020B0604020202020204" pitchFamily="34" charset="0"/>
              <a:buChar char="•"/>
            </a:pPr>
            <a:endParaRPr lang="en-US">
              <a:latin typeface="Arial"/>
              <a:cs typeface="Arial"/>
            </a:endParaRPr>
          </a:p>
          <a:p>
            <a:pPr marL="285750" indent="-285750">
              <a:spcBef>
                <a:spcPct val="20000"/>
              </a:spcBef>
              <a:buFont typeface="Arial" panose="020B0604020202020204" pitchFamily="34" charset="0"/>
              <a:buChar char="•"/>
            </a:pPr>
            <a:endParaRPr lang="en-US">
              <a:cs typeface="Arial" panose="020B0604020202020204" pitchFamily="34" charset="0"/>
            </a:endParaRPr>
          </a:p>
          <a:p>
            <a:pPr marL="171450" indent="-171450">
              <a:buFont typeface="Arial" panose="020B0604020202020204" pitchFamily="34" charset="0"/>
              <a:buChar char="•"/>
            </a:pPr>
            <a:endParaRPr lang="en-US">
              <a:cs typeface="Arial" panose="020B0604020202020204" pitchFamily="34" charset="0"/>
            </a:endParaRPr>
          </a:p>
          <a:p>
            <a:endParaRPr lang="en-US">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9</a:t>
            </a:fld>
            <a:endParaRPr lang="en-US" altLang="en-US"/>
          </a:p>
        </p:txBody>
      </p:sp>
    </p:spTree>
    <p:extLst>
      <p:ext uri="{BB962C8B-B14F-4D97-AF65-F5344CB8AC3E}">
        <p14:creationId xmlns:p14="http://schemas.microsoft.com/office/powerpoint/2010/main" val="3048386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DAVID</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5151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54267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4486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latin typeface="Arial"/>
                <a:cs typeface="Arial"/>
              </a:rPr>
              <a:t>JULISA</a:t>
            </a:r>
          </a:p>
          <a:p>
            <a:r>
              <a:rPr lang="en-US" dirty="0">
                <a:latin typeface="Arial"/>
                <a:cs typeface="Arial"/>
              </a:rPr>
              <a:t>An online interface of multimedia tools providing information and promoting implementation of Apprenticeship models. </a:t>
            </a:r>
          </a:p>
          <a:p>
            <a:endParaRPr lang="en-US" dirty="0">
              <a:latin typeface="Arial"/>
              <a:cs typeface="Arial"/>
            </a:endParaRPr>
          </a:p>
          <a:p>
            <a:r>
              <a:rPr lang="en-US" sz="1200" kern="1200" dirty="0">
                <a:solidFill>
                  <a:schemeClr val="tx1"/>
                </a:solidFill>
                <a:effectLst/>
                <a:latin typeface="Arial"/>
                <a:cs typeface="Arial"/>
              </a:rPr>
              <a:t>The toolkit is housed on </a:t>
            </a:r>
            <a:r>
              <a:rPr lang="en-US" sz="1200" kern="1200" dirty="0" err="1">
                <a:solidFill>
                  <a:schemeClr val="tx1"/>
                </a:solidFill>
                <a:effectLst/>
                <a:latin typeface="Arial"/>
                <a:cs typeface="Arial"/>
              </a:rPr>
              <a:t>ExploreVR</a:t>
            </a:r>
            <a:r>
              <a:rPr lang="en-US" sz="1200" kern="1200" dirty="0">
                <a:solidFill>
                  <a:schemeClr val="tx1"/>
                </a:solidFill>
                <a:effectLst/>
                <a:latin typeface="Arial"/>
                <a:cs typeface="Arial"/>
              </a:rPr>
              <a:t>. It’s been operating for 10 years so we have a robust listserv comprised primarily of VR professionals​. Since it is the website we use for all VR projects, we write it in on every proposal we write so it has built in sustainability and maintenance. Currently we have 6 toolkits on the site. I encourage you to check out that toolkit.</a:t>
            </a:r>
            <a:endParaRPr lang="en-US">
              <a:cs typeface="Arial"/>
            </a:endParaRPr>
          </a:p>
          <a:p>
            <a:endParaRPr lang="en-US">
              <a:cs typeface="Calibri"/>
            </a:endParaRPr>
          </a:p>
          <a:p>
            <a:r>
              <a:rPr lang="en-US" dirty="0">
                <a:latin typeface="Arial"/>
                <a:cs typeface="Arial"/>
              </a:rPr>
              <a:t>Resources- show the toolkit</a:t>
            </a:r>
            <a:br>
              <a:rPr lang="en-US" dirty="0">
                <a:cs typeface="Arial"/>
              </a:rPr>
            </a:br>
            <a:r>
              <a:rPr lang="en-US" dirty="0">
                <a:latin typeface="Arial"/>
                <a:cs typeface="Arial"/>
              </a:rPr>
              <a:t>-highlight state examples</a:t>
            </a:r>
            <a:br>
              <a:rPr lang="en-US" dirty="0">
                <a:cs typeface="Arial"/>
              </a:rPr>
            </a:br>
            <a:r>
              <a:rPr lang="en-US" dirty="0">
                <a:latin typeface="Arial"/>
                <a:cs typeface="Arial"/>
              </a:rPr>
              <a:t>-include JFF</a:t>
            </a:r>
          </a:p>
          <a:p>
            <a:endParaRPr lang="en-US" dirty="0"/>
          </a:p>
          <a:p>
            <a:r>
              <a:rPr lang="en-US" dirty="0">
                <a:latin typeface="Arial"/>
                <a:cs typeface="Arial"/>
              </a:rPr>
              <a:t>There is a wealth of information on both models available through DOL and other entities. We have toolkits with examples from state VR agencies that have implemented the models on </a:t>
            </a:r>
            <a:r>
              <a:rPr lang="en-US" dirty="0" err="1">
                <a:latin typeface="Arial"/>
                <a:cs typeface="Arial"/>
              </a:rPr>
              <a:t>ExploreVR</a:t>
            </a:r>
            <a:r>
              <a:rPr lang="en-US" dirty="0">
                <a:latin typeface="Arial"/>
                <a:cs typeface="Arial"/>
              </a:rPr>
              <a:t>. This includes Success stories, marketing material and implementation guides like the apprenticeship one we used for our large group discussion. We encourage you to take a look if you're interested in finding out more about either model.</a:t>
            </a:r>
          </a:p>
          <a:p>
            <a:endParaRPr lang="en-US" dirty="0"/>
          </a:p>
          <a:p>
            <a:endParaRPr lang="en-US" dirty="0"/>
          </a:p>
          <a:p>
            <a:r>
              <a:rPr lang="en-US" sz="1200" kern="1200" dirty="0">
                <a:solidFill>
                  <a:schemeClr val="tx1"/>
                </a:solidFill>
                <a:effectLst/>
                <a:latin typeface="Arial"/>
                <a:cs typeface="Arial"/>
              </a:rPr>
              <a:t>We include detailed information about tools’ expected benefits and resources required for tool implementation. </a:t>
            </a:r>
            <a:endParaRPr lang="en-US" dirty="0"/>
          </a:p>
          <a:p>
            <a:r>
              <a:rPr lang="en-US" sz="1200" kern="1200" dirty="0">
                <a:solidFill>
                  <a:schemeClr val="tx1"/>
                </a:solidFill>
                <a:effectLst/>
                <a:latin typeface="Arial"/>
                <a:cs typeface="Arial"/>
              </a:rPr>
              <a:t> </a:t>
            </a:r>
          </a:p>
          <a:p>
            <a:r>
              <a:rPr lang="en-US" sz="1200" b="1" kern="1200" dirty="0">
                <a:solidFill>
                  <a:schemeClr val="tx1"/>
                </a:solidFill>
                <a:effectLst/>
                <a:latin typeface="Arial"/>
                <a:cs typeface="Arial"/>
              </a:rPr>
              <a:t>Target Audience</a:t>
            </a:r>
            <a:endParaRPr lang="en-US" sz="1200" kern="1200">
              <a:solidFill>
                <a:schemeClr val="tx1"/>
              </a:solidFill>
              <a:effectLst/>
              <a:latin typeface="Arial"/>
              <a:cs typeface="Arial"/>
            </a:endParaRPr>
          </a:p>
          <a:p>
            <a:pPr lvl="0"/>
            <a:r>
              <a:rPr lang="en-US" sz="1200" kern="1200" dirty="0">
                <a:solidFill>
                  <a:schemeClr val="tx1"/>
                </a:solidFill>
                <a:effectLst/>
                <a:latin typeface="Arial"/>
                <a:cs typeface="Arial"/>
              </a:rPr>
              <a:t>State VR Agencies</a:t>
            </a:r>
          </a:p>
          <a:p>
            <a:r>
              <a:rPr lang="en-US" sz="1200" b="1" kern="1200" dirty="0">
                <a:solidFill>
                  <a:schemeClr val="tx1"/>
                </a:solidFill>
                <a:effectLst/>
                <a:latin typeface="Arial"/>
                <a:cs typeface="Arial"/>
              </a:rPr>
              <a:t>Primary Objective</a:t>
            </a:r>
            <a:endParaRPr lang="en-US" sz="1200" kern="1200">
              <a:solidFill>
                <a:schemeClr val="tx1"/>
              </a:solidFill>
              <a:effectLst/>
              <a:latin typeface="Arial"/>
              <a:cs typeface="Arial"/>
            </a:endParaRPr>
          </a:p>
          <a:p>
            <a:pPr lvl="0"/>
            <a:r>
              <a:rPr lang="en-US" sz="1200" kern="1200" dirty="0">
                <a:solidFill>
                  <a:schemeClr val="tx1"/>
                </a:solidFill>
                <a:effectLst/>
                <a:latin typeface="Arial"/>
                <a:cs typeface="Arial"/>
              </a:rPr>
              <a:t>Define Apprenticeships</a:t>
            </a:r>
          </a:p>
          <a:p>
            <a:pPr lvl="0"/>
            <a:r>
              <a:rPr lang="en-US" sz="1200" kern="1200" dirty="0">
                <a:solidFill>
                  <a:schemeClr val="tx1"/>
                </a:solidFill>
                <a:effectLst/>
                <a:latin typeface="Arial"/>
                <a:cs typeface="Arial"/>
              </a:rPr>
              <a:t>Showcase promising practices</a:t>
            </a:r>
          </a:p>
          <a:p>
            <a:r>
              <a:rPr lang="en-US" sz="1200" kern="1200" dirty="0">
                <a:solidFill>
                  <a:schemeClr val="tx1"/>
                </a:solidFill>
                <a:effectLst/>
                <a:latin typeface="Arial"/>
                <a:cs typeface="Arial"/>
              </a:rPr>
              <a:t>Support implementation</a:t>
            </a:r>
            <a:r>
              <a:rPr lang="en-US" dirty="0">
                <a:latin typeface="Arial"/>
                <a:cs typeface="Arial"/>
              </a:rPr>
              <a:t> </a:t>
            </a:r>
            <a:endParaRPr lang="en-US" sz="1200" kern="1200" dirty="0">
              <a:solidFill>
                <a:schemeClr val="tx1"/>
              </a:solidFill>
              <a:effectLst/>
              <a:latin typeface="Arial" panose="020B0604020202020204" pitchFamily="34" charset="0"/>
              <a:ea typeface="Geneva" panose="020B0503030404040204" pitchFamily="34" charset="0"/>
              <a:cs typeface="Arial"/>
            </a:endParaRPr>
          </a:p>
          <a:p>
            <a:pPr lvl="0"/>
            <a:r>
              <a:rPr lang="en-US" sz="1200" b="1" kern="1200" dirty="0">
                <a:solidFill>
                  <a:schemeClr val="tx1"/>
                </a:solidFill>
                <a:effectLst/>
                <a:latin typeface="Arial"/>
                <a:cs typeface="Arial"/>
              </a:rPr>
              <a:t>Content </a:t>
            </a:r>
            <a:endParaRPr lang="en-US" sz="1200" kern="1200">
              <a:solidFill>
                <a:schemeClr val="tx1"/>
              </a:solidFill>
              <a:effectLst/>
              <a:latin typeface="Arial"/>
              <a:cs typeface="Arial"/>
            </a:endParaRPr>
          </a:p>
          <a:p>
            <a:pPr lvl="0"/>
            <a:r>
              <a:rPr lang="en-US" sz="1200" kern="1200" dirty="0">
                <a:solidFill>
                  <a:schemeClr val="tx1"/>
                </a:solidFill>
                <a:effectLst/>
                <a:latin typeface="Arial"/>
                <a:cs typeface="Arial"/>
              </a:rPr>
              <a:t>Descriptions and briefs</a:t>
            </a:r>
          </a:p>
          <a:p>
            <a:pPr lvl="0"/>
            <a:r>
              <a:rPr lang="en-US" sz="1200" kern="1200" dirty="0">
                <a:solidFill>
                  <a:schemeClr val="tx1"/>
                </a:solidFill>
                <a:effectLst/>
                <a:latin typeface="Arial"/>
                <a:cs typeface="Arial"/>
              </a:rPr>
              <a:t>Videos and podcasts</a:t>
            </a:r>
          </a:p>
          <a:p>
            <a:pPr lvl="0"/>
            <a:r>
              <a:rPr lang="en-US" sz="1200" kern="1200" dirty="0">
                <a:solidFill>
                  <a:schemeClr val="tx1"/>
                </a:solidFill>
                <a:effectLst/>
                <a:latin typeface="Arial"/>
                <a:cs typeface="Arial"/>
              </a:rPr>
              <a:t>Sample tools</a:t>
            </a:r>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3B2F4C67-EF2D-A944-BB7A-AE19173A310F}" type="slidenum">
              <a:rPr kumimoji="0" 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861375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737AB1-AC53-D545-9814-E0415248A8D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79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7923" name="Rectangle 3"/>
          <p:cNvSpPr>
            <a:spLocks noGrp="1" noChangeArrowheads="1"/>
          </p:cNvSpPr>
          <p:nvPr>
            <p:ph type="body" idx="1"/>
          </p:nvPr>
        </p:nvSpPr>
        <p:spPr/>
        <p:txBody>
          <a:bodyPr/>
          <a:lstStyle/>
          <a:p>
            <a:pPr>
              <a:defRPr/>
            </a:pPr>
            <a:endParaRPr lang="en-US" dirty="0">
              <a:cs typeface="+mn-cs"/>
            </a:endParaRPr>
          </a:p>
        </p:txBody>
      </p:sp>
    </p:spTree>
    <p:extLst>
      <p:ext uri="{BB962C8B-B14F-4D97-AF65-F5344CB8AC3E}">
        <p14:creationId xmlns:p14="http://schemas.microsoft.com/office/powerpoint/2010/main" val="615498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C1E07-CFA6-4845-9C14-49B143895F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BDDDA7-1DED-2149-BDE0-87E7B98244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BCB4E6-2446-1141-BD1C-110C332F5A76}"/>
              </a:ext>
            </a:extLst>
          </p:cNvPr>
          <p:cNvSpPr>
            <a:spLocks noGrp="1"/>
          </p:cNvSpPr>
          <p:nvPr>
            <p:ph type="dt" sz="half" idx="10"/>
          </p:nvPr>
        </p:nvSpPr>
        <p:spPr/>
        <p:txBody>
          <a:bodyPr/>
          <a:lstStyle/>
          <a:p>
            <a:fld id="{40FA4EEC-2F3B-6C44-8C46-4ED2E2ECC399}" type="datetime1">
              <a:rPr lang="en-US" smtClean="0"/>
              <a:t>10/13/22</a:t>
            </a:fld>
            <a:endParaRPr lang="en-US"/>
          </a:p>
        </p:txBody>
      </p:sp>
      <p:sp>
        <p:nvSpPr>
          <p:cNvPr id="5" name="Footer Placeholder 4">
            <a:extLst>
              <a:ext uri="{FF2B5EF4-FFF2-40B4-BE49-F238E27FC236}">
                <a16:creationId xmlns:a16="http://schemas.microsoft.com/office/drawing/2014/main" id="{5D09AA18-DF4E-9F40-A07D-B212DB0C4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4DE001-5BCE-984F-8A6B-E0D97AB51304}"/>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689062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fld id="{DBBD031F-2672-FB49-AC1C-4610115F9795}" type="datetime1">
              <a:rPr lang="en-US" smtClean="0"/>
              <a:t>10/13/22</a:t>
            </a:fld>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920494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FC704-5F47-5347-9A9C-A4ECF40571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E95CFC-7070-0E40-8D89-3D23AEB3A0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EA1FE5-0ECE-BA4C-AE1D-813B37141530}"/>
              </a:ext>
            </a:extLst>
          </p:cNvPr>
          <p:cNvSpPr>
            <a:spLocks noGrp="1"/>
          </p:cNvSpPr>
          <p:nvPr>
            <p:ph type="dt" sz="half" idx="10"/>
          </p:nvPr>
        </p:nvSpPr>
        <p:spPr/>
        <p:txBody>
          <a:bodyPr/>
          <a:lstStyle/>
          <a:p>
            <a:fld id="{F7D0AC2B-E5DB-A242-81CA-9F3A1213BD22}" type="datetime1">
              <a:rPr lang="en-US" smtClean="0"/>
              <a:t>10/13/22</a:t>
            </a:fld>
            <a:endParaRPr lang="en-US"/>
          </a:p>
        </p:txBody>
      </p:sp>
      <p:sp>
        <p:nvSpPr>
          <p:cNvPr id="5" name="Footer Placeholder 4">
            <a:extLst>
              <a:ext uri="{FF2B5EF4-FFF2-40B4-BE49-F238E27FC236}">
                <a16:creationId xmlns:a16="http://schemas.microsoft.com/office/drawing/2014/main" id="{C283AE56-80B9-2940-9B4E-D3A8C1F7D7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A6944-4791-AD49-BD97-2C4F5F29A69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68786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832B-1F3B-124D-B645-8040FF9836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EF833C-7332-B84A-AA76-BF4A0970B0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067168-0E8B-A74C-B78F-B2A11F85B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C82167-B3E9-EC41-AFB1-8A9DDD3008F1}"/>
              </a:ext>
            </a:extLst>
          </p:cNvPr>
          <p:cNvSpPr>
            <a:spLocks noGrp="1"/>
          </p:cNvSpPr>
          <p:nvPr>
            <p:ph type="dt" sz="half" idx="10"/>
          </p:nvPr>
        </p:nvSpPr>
        <p:spPr/>
        <p:txBody>
          <a:bodyPr/>
          <a:lstStyle/>
          <a:p>
            <a:fld id="{49EC74C5-399A-FA40-A921-AE3CC11F6D78}" type="datetime1">
              <a:rPr lang="en-US" smtClean="0"/>
              <a:t>10/13/22</a:t>
            </a:fld>
            <a:endParaRPr lang="en-US"/>
          </a:p>
        </p:txBody>
      </p:sp>
      <p:sp>
        <p:nvSpPr>
          <p:cNvPr id="6" name="Footer Placeholder 5">
            <a:extLst>
              <a:ext uri="{FF2B5EF4-FFF2-40B4-BE49-F238E27FC236}">
                <a16:creationId xmlns:a16="http://schemas.microsoft.com/office/drawing/2014/main" id="{40D71D6F-602E-C448-B98D-B5B6D289B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A8856D-38FF-554C-B78E-A25F78914C6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98972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7CF9-58CC-734A-876F-8096A9DD80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F650C0-DF82-C645-9DC9-7D784F5782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DE2A9C-0B75-FB4A-9543-B0188D9A13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5B7715-D85B-7644-BD56-D311FB9ADE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51BB8D-20C0-884B-9D17-1EAF95CBDC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2CDA00-C0E4-AD4F-A6E5-EBAA150FE2AD}"/>
              </a:ext>
            </a:extLst>
          </p:cNvPr>
          <p:cNvSpPr>
            <a:spLocks noGrp="1"/>
          </p:cNvSpPr>
          <p:nvPr>
            <p:ph type="dt" sz="half" idx="10"/>
          </p:nvPr>
        </p:nvSpPr>
        <p:spPr/>
        <p:txBody>
          <a:bodyPr/>
          <a:lstStyle/>
          <a:p>
            <a:fld id="{BC0EF758-788B-BB40-8AAD-38BD71A96B9B}" type="datetime1">
              <a:rPr lang="en-US" smtClean="0"/>
              <a:t>10/13/22</a:t>
            </a:fld>
            <a:endParaRPr lang="en-US"/>
          </a:p>
        </p:txBody>
      </p:sp>
      <p:sp>
        <p:nvSpPr>
          <p:cNvPr id="8" name="Footer Placeholder 7">
            <a:extLst>
              <a:ext uri="{FF2B5EF4-FFF2-40B4-BE49-F238E27FC236}">
                <a16:creationId xmlns:a16="http://schemas.microsoft.com/office/drawing/2014/main" id="{98AF9934-B125-6A43-B688-15B92527C2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4BBDEB-3D88-DC4F-9094-E6D2634FAD3B}"/>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542778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DC38-A449-7A42-901B-B1614C3F19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FB450F-2BF8-D94A-9B83-ACA198D5B61F}"/>
              </a:ext>
            </a:extLst>
          </p:cNvPr>
          <p:cNvSpPr>
            <a:spLocks noGrp="1"/>
          </p:cNvSpPr>
          <p:nvPr>
            <p:ph type="dt" sz="half" idx="10"/>
          </p:nvPr>
        </p:nvSpPr>
        <p:spPr/>
        <p:txBody>
          <a:bodyPr/>
          <a:lstStyle/>
          <a:p>
            <a:fld id="{BBEABA45-C4B0-7D42-8FF4-7320DCE6084D}" type="datetime1">
              <a:rPr lang="en-US" smtClean="0"/>
              <a:t>10/13/22</a:t>
            </a:fld>
            <a:endParaRPr lang="en-US"/>
          </a:p>
        </p:txBody>
      </p:sp>
      <p:sp>
        <p:nvSpPr>
          <p:cNvPr id="4" name="Footer Placeholder 3">
            <a:extLst>
              <a:ext uri="{FF2B5EF4-FFF2-40B4-BE49-F238E27FC236}">
                <a16:creationId xmlns:a16="http://schemas.microsoft.com/office/drawing/2014/main" id="{696E1943-F920-FD4D-B10F-0783C5E033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AF4492-2E73-2845-B6F5-48AF992CEB5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68670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F97373-9AA8-9743-9FE7-A973F731E4A4}"/>
              </a:ext>
            </a:extLst>
          </p:cNvPr>
          <p:cNvSpPr>
            <a:spLocks noGrp="1"/>
          </p:cNvSpPr>
          <p:nvPr>
            <p:ph type="dt" sz="half" idx="10"/>
          </p:nvPr>
        </p:nvSpPr>
        <p:spPr/>
        <p:txBody>
          <a:bodyPr/>
          <a:lstStyle/>
          <a:p>
            <a:fld id="{47DDBFA3-CAC7-264E-A4A4-59090E2B65B3}" type="datetime1">
              <a:rPr lang="en-US" smtClean="0"/>
              <a:t>10/13/22</a:t>
            </a:fld>
            <a:endParaRPr lang="en-US"/>
          </a:p>
        </p:txBody>
      </p:sp>
      <p:sp>
        <p:nvSpPr>
          <p:cNvPr id="3" name="Footer Placeholder 2">
            <a:extLst>
              <a:ext uri="{FF2B5EF4-FFF2-40B4-BE49-F238E27FC236}">
                <a16:creationId xmlns:a16="http://schemas.microsoft.com/office/drawing/2014/main" id="{1CD78110-DEE0-CF46-9B73-57457F7D25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940768-1815-D144-8614-37DFBB8078D3}"/>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422094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FF98B-A116-0449-AADF-6C2AB6B13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51F10C-24E4-0B41-A318-B2ECEFB6F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40EA7E-7F2F-584C-8BBC-B9B856938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F6763B-A708-1148-BFBA-FB338822980C}"/>
              </a:ext>
            </a:extLst>
          </p:cNvPr>
          <p:cNvSpPr>
            <a:spLocks noGrp="1"/>
          </p:cNvSpPr>
          <p:nvPr>
            <p:ph type="dt" sz="half" idx="10"/>
          </p:nvPr>
        </p:nvSpPr>
        <p:spPr/>
        <p:txBody>
          <a:bodyPr/>
          <a:lstStyle/>
          <a:p>
            <a:fld id="{1839B830-AE5A-2240-8A3B-A6F04E17DF5C}" type="datetime1">
              <a:rPr lang="en-US" smtClean="0"/>
              <a:t>10/13/22</a:t>
            </a:fld>
            <a:endParaRPr lang="en-US"/>
          </a:p>
        </p:txBody>
      </p:sp>
      <p:sp>
        <p:nvSpPr>
          <p:cNvPr id="6" name="Footer Placeholder 5">
            <a:extLst>
              <a:ext uri="{FF2B5EF4-FFF2-40B4-BE49-F238E27FC236}">
                <a16:creationId xmlns:a16="http://schemas.microsoft.com/office/drawing/2014/main" id="{649C8849-49C1-AE4A-8055-6D4DDFCA07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86989-0805-5B45-BDE9-8D35856E61F9}"/>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62254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DC2BB-60BA-E643-9C2A-DB4DF61AE1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B3D2AD-E1BC-3442-9E4F-08359428F7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E815D2-158C-6B49-84C4-12D451E2B9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A738D-8DE9-5343-9A78-C631E2FB771D}"/>
              </a:ext>
            </a:extLst>
          </p:cNvPr>
          <p:cNvSpPr>
            <a:spLocks noGrp="1"/>
          </p:cNvSpPr>
          <p:nvPr>
            <p:ph type="dt" sz="half" idx="10"/>
          </p:nvPr>
        </p:nvSpPr>
        <p:spPr/>
        <p:txBody>
          <a:bodyPr/>
          <a:lstStyle/>
          <a:p>
            <a:fld id="{2765872B-7182-F84D-A585-014688C9A53A}" type="datetime1">
              <a:rPr lang="en-US" smtClean="0"/>
              <a:t>10/13/22</a:t>
            </a:fld>
            <a:endParaRPr lang="en-US"/>
          </a:p>
        </p:txBody>
      </p:sp>
      <p:sp>
        <p:nvSpPr>
          <p:cNvPr id="6" name="Footer Placeholder 5">
            <a:extLst>
              <a:ext uri="{FF2B5EF4-FFF2-40B4-BE49-F238E27FC236}">
                <a16:creationId xmlns:a16="http://schemas.microsoft.com/office/drawing/2014/main" id="{B8704796-F870-844B-A92F-6E26FD697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1D8D6C-8065-AD48-B4DC-02AB34D1470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650535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F1A5-9FBD-AA41-B701-58F23012E4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73C6DB-FC78-6540-AE38-C48402A317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51E24-604D-5F41-AE28-E81C17770DCB}"/>
              </a:ext>
            </a:extLst>
          </p:cNvPr>
          <p:cNvSpPr>
            <a:spLocks noGrp="1"/>
          </p:cNvSpPr>
          <p:nvPr>
            <p:ph type="dt" sz="half" idx="10"/>
          </p:nvPr>
        </p:nvSpPr>
        <p:spPr/>
        <p:txBody>
          <a:bodyPr/>
          <a:lstStyle/>
          <a:p>
            <a:fld id="{244B43A0-8080-C84F-802A-7784DC91EB53}" type="datetime1">
              <a:rPr lang="en-US" smtClean="0"/>
              <a:t>10/13/22</a:t>
            </a:fld>
            <a:endParaRPr lang="en-US"/>
          </a:p>
        </p:txBody>
      </p:sp>
      <p:sp>
        <p:nvSpPr>
          <p:cNvPr id="5" name="Footer Placeholder 4">
            <a:extLst>
              <a:ext uri="{FF2B5EF4-FFF2-40B4-BE49-F238E27FC236}">
                <a16:creationId xmlns:a16="http://schemas.microsoft.com/office/drawing/2014/main" id="{665FE96C-9B51-004C-B671-7C6651301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4E4D6-A39A-2242-B129-2C9E150F6A1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623719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9AE8F3-9CBD-2C47-A447-905506348C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CB8B2F-CB91-8545-8B26-CDD6ADBEB0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64647-85D8-2545-9549-C2304E0145DF}"/>
              </a:ext>
            </a:extLst>
          </p:cNvPr>
          <p:cNvSpPr>
            <a:spLocks noGrp="1"/>
          </p:cNvSpPr>
          <p:nvPr>
            <p:ph type="dt" sz="half" idx="10"/>
          </p:nvPr>
        </p:nvSpPr>
        <p:spPr/>
        <p:txBody>
          <a:bodyPr/>
          <a:lstStyle/>
          <a:p>
            <a:fld id="{3836046C-7EAC-F94F-BFD0-39705CA6A60E}" type="datetime1">
              <a:rPr lang="en-US" smtClean="0"/>
              <a:t>10/13/22</a:t>
            </a:fld>
            <a:endParaRPr lang="en-US"/>
          </a:p>
        </p:txBody>
      </p:sp>
      <p:sp>
        <p:nvSpPr>
          <p:cNvPr id="5" name="Footer Placeholder 4">
            <a:extLst>
              <a:ext uri="{FF2B5EF4-FFF2-40B4-BE49-F238E27FC236}">
                <a16:creationId xmlns:a16="http://schemas.microsoft.com/office/drawing/2014/main" id="{A6819A56-97BE-3F4A-9CAC-63124B5C4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79A20-E0C5-5040-8275-EA2372AC5636}"/>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026776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541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11C06C-AA6C-ED48-BC75-117C3059AC0F}" type="datetimeFigureOut">
              <a:rPr lang="en-US" smtClean="0"/>
              <a:t>10/13/22</a:t>
            </a:fld>
            <a:endParaRPr lang="en-US"/>
          </a:p>
        </p:txBody>
      </p:sp>
      <p:sp>
        <p:nvSpPr>
          <p:cNvPr id="5" name="Footer Placeholder 4"/>
          <p:cNvSpPr>
            <a:spLocks noGrp="1"/>
          </p:cNvSpPr>
          <p:nvPr>
            <p:ph type="ftr" sz="quarter" idx="11"/>
          </p:nvPr>
        </p:nvSpPr>
        <p:spPr>
          <a:xfrm>
            <a:off x="2493105" y="329307"/>
            <a:ext cx="4897310"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10FCC80D-D55D-0343-96BF-59A199A0261E}" type="slidenum">
              <a:rPr lang="en-US" smtClean="0"/>
              <a:t>‹#›</a:t>
            </a:fld>
            <a:endParaRPr lang="en-US"/>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9045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1C06C-AA6C-ED48-BC75-117C3059AC0F}" type="datetimeFigureOut">
              <a:rPr lang="en-US" smtClean="0"/>
              <a:t>10/13/22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CC80D-D55D-0343-96BF-59A199A0261E}" type="slidenum">
              <a:rPr lang="en-US" smtClean="0"/>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02567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1C06C-AA6C-ED48-BC75-117C3059AC0F}" type="datetimeFigureOut">
              <a:rPr lang="en-US" smtClean="0"/>
              <a:t>10/13/22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CC80D-D55D-0343-96BF-59A199A0261E}" type="slidenum">
              <a:rPr lang="en-US" smtClean="0"/>
              <a:t>‹#›</a:t>
            </a:fld>
            <a:endParaRPr lang="en-US"/>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072869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11C06C-AA6C-ED48-BC75-117C3059AC0F}" type="datetimeFigureOut">
              <a:rPr lang="en-US" smtClean="0"/>
              <a:t>10/13/22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CC80D-D55D-0343-96BF-59A199A0261E}" type="slidenum">
              <a:rPr lang="en-US" smtClean="0"/>
              <a:t>‹#›</a:t>
            </a:fld>
            <a:endParaRPr lang="en-US"/>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568791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11C06C-AA6C-ED48-BC75-117C3059AC0F}" type="datetimeFigureOut">
              <a:rPr lang="en-US" smtClean="0"/>
              <a:t>10/13/22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FCC80D-D55D-0343-96BF-59A199A0261E}" type="slidenum">
              <a:rPr lang="en-US" smtClean="0"/>
              <a:t>‹#›</a:t>
            </a:fld>
            <a:endParaRPr lang="en-US"/>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014080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11C06C-AA6C-ED48-BC75-117C3059AC0F}" type="datetimeFigureOut">
              <a:rPr lang="en-US" smtClean="0"/>
              <a:t>10/13/22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FCC80D-D55D-0343-96BF-59A199A0261E}" type="slidenum">
              <a:rPr lang="en-US" smtClean="0"/>
              <a:t>‹#›</a:t>
            </a:fld>
            <a:endParaRPr lang="en-US"/>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271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11C06C-AA6C-ED48-BC75-117C3059AC0F}" type="datetimeFigureOut">
              <a:rPr lang="en-US" smtClean="0"/>
              <a:t>10/13/22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FCC80D-D55D-0343-96BF-59A199A0261E}" type="slidenum">
              <a:rPr lang="en-US" smtClean="0"/>
              <a:t>‹#›</a:t>
            </a:fld>
            <a:endParaRPr lang="en-US"/>
          </a:p>
        </p:txBody>
      </p:sp>
    </p:spTree>
    <p:extLst>
      <p:ext uri="{BB962C8B-B14F-4D97-AF65-F5344CB8AC3E}">
        <p14:creationId xmlns:p14="http://schemas.microsoft.com/office/powerpoint/2010/main" val="11629627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11C06C-AA6C-ED48-BC75-117C3059AC0F}" type="datetimeFigureOut">
              <a:rPr lang="en-US" smtClean="0"/>
              <a:t>10/13/22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CC80D-D55D-0343-96BF-59A199A0261E}" type="slidenum">
              <a:rPr lang="en-US" smtClean="0"/>
              <a:t>‹#›</a:t>
            </a:fld>
            <a:endParaRPr lang="en-US"/>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707999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CC11C06C-AA6C-ED48-BC75-117C3059AC0F}" type="datetimeFigureOut">
              <a:rPr lang="en-US" smtClean="0"/>
              <a:t>10/13/22</a:t>
            </a:fld>
            <a:endParaRPr lang="en-US"/>
          </a:p>
        </p:txBody>
      </p:sp>
      <p:sp>
        <p:nvSpPr>
          <p:cNvPr id="6" name="Footer Placeholder 5"/>
          <p:cNvSpPr>
            <a:spLocks noGrp="1"/>
          </p:cNvSpPr>
          <p:nvPr>
            <p:ph type="ftr" sz="quarter" idx="11"/>
          </p:nvPr>
        </p:nvSpPr>
        <p:spPr>
          <a:xfrm>
            <a:off x="1534910" y="318640"/>
            <a:ext cx="5453475" cy="320931"/>
          </a:xfrm>
        </p:spPr>
        <p:txBody>
          <a:bodyPr/>
          <a:lstStyle/>
          <a:p>
            <a:endParaRPr lang="en-US"/>
          </a:p>
        </p:txBody>
      </p:sp>
      <p:sp>
        <p:nvSpPr>
          <p:cNvPr id="7" name="Slide Number Placeholder 6"/>
          <p:cNvSpPr>
            <a:spLocks noGrp="1"/>
          </p:cNvSpPr>
          <p:nvPr>
            <p:ph type="sldNum" sz="quarter" idx="12"/>
          </p:nvPr>
        </p:nvSpPr>
        <p:spPr/>
        <p:txBody>
          <a:bodyPr/>
          <a:lstStyle/>
          <a:p>
            <a:fld id="{10FCC80D-D55D-0343-96BF-59A199A0261E}" type="slidenum">
              <a:rPr lang="en-US" smtClean="0"/>
              <a:t>‹#›</a:t>
            </a:fld>
            <a:endParaRPr lang="en-US"/>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00143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1C06C-AA6C-ED48-BC75-117C3059AC0F}" type="datetimeFigureOut">
              <a:rPr lang="en-US" smtClean="0"/>
              <a:t>10/13/22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CC80D-D55D-0343-96BF-59A199A0261E}" type="slidenum">
              <a:rPr lang="en-US" smtClean="0"/>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0344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1C06C-AA6C-ED48-BC75-117C3059AC0F}" type="datetimeFigureOut">
              <a:rPr lang="en-US" smtClean="0"/>
              <a:t>10/13/22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CC80D-D55D-0343-96BF-59A199A0261E}" type="slidenum">
              <a:rPr lang="en-US" smtClean="0"/>
              <a:t>‹#›</a:t>
            </a:fld>
            <a:endParaRPr lang="en-US"/>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7749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2DCDD5A-FEC8-E74B-8A94-9F0DB1AE95A3}"/>
              </a:ext>
            </a:extLst>
          </p:cNvPr>
          <p:cNvCxnSpPr/>
          <p:nvPr/>
        </p:nvCxnSpPr>
        <p:spPr>
          <a:xfrm>
            <a:off x="914400" y="3398840"/>
            <a:ext cx="104648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914400" y="1371602"/>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D168660E-8ECE-7144-86DF-87B48A0B87CB}"/>
              </a:ext>
            </a:extLst>
          </p:cNvPr>
          <p:cNvSpPr>
            <a:spLocks noGrp="1"/>
          </p:cNvSpPr>
          <p:nvPr>
            <p:ph type="dt" sz="half" idx="10"/>
          </p:nvPr>
        </p:nvSpPr>
        <p:spPr/>
        <p:txBody>
          <a:bodyPr/>
          <a:lstStyle>
            <a:lvl1pPr>
              <a:defRPr/>
            </a:lvl1pPr>
          </a:lstStyle>
          <a:p>
            <a:pPr>
              <a:defRPr/>
            </a:pPr>
            <a:r>
              <a:rPr lang="en-US"/>
              <a:t>Monday, January 30, 17</a:t>
            </a:r>
          </a:p>
        </p:txBody>
      </p:sp>
      <p:sp>
        <p:nvSpPr>
          <p:cNvPr id="6" name="Footer Placeholder 4">
            <a:extLst>
              <a:ext uri="{FF2B5EF4-FFF2-40B4-BE49-F238E27FC236}">
                <a16:creationId xmlns:a16="http://schemas.microsoft.com/office/drawing/2014/main" id="{CD8DD584-F5C3-CE41-9506-9FD04107450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D4B42F7-CD5A-8C47-BD96-0545CF829AA5}"/>
              </a:ext>
            </a:extLst>
          </p:cNvPr>
          <p:cNvSpPr>
            <a:spLocks noGrp="1"/>
          </p:cNvSpPr>
          <p:nvPr>
            <p:ph type="sldNum" sz="quarter" idx="12"/>
          </p:nvPr>
        </p:nvSpPr>
        <p:spPr/>
        <p:txBody>
          <a:bodyPr/>
          <a:lstStyle>
            <a:lvl1pPr>
              <a:defRPr smtClean="0"/>
            </a:lvl1pPr>
          </a:lstStyle>
          <a:p>
            <a:pPr>
              <a:defRPr/>
            </a:pPr>
            <a:fld id="{2F5E16D9-FAD3-8343-A574-279BC8894A58}" type="slidenum">
              <a:rPr lang="en-US" altLang="en-US"/>
              <a:pPr>
                <a:defRPr/>
              </a:pPr>
              <a:t>‹#›</a:t>
            </a:fld>
            <a:endParaRPr lang="en-US" altLang="en-US"/>
          </a:p>
        </p:txBody>
      </p:sp>
    </p:spTree>
    <p:extLst>
      <p:ext uri="{BB962C8B-B14F-4D97-AF65-F5344CB8AC3E}">
        <p14:creationId xmlns:p14="http://schemas.microsoft.com/office/powerpoint/2010/main" val="31571709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CBE16-87FB-024F-8667-128DD81B0772}"/>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5" name="Footer Placeholder 4">
            <a:extLst>
              <a:ext uri="{FF2B5EF4-FFF2-40B4-BE49-F238E27FC236}">
                <a16:creationId xmlns:a16="http://schemas.microsoft.com/office/drawing/2014/main" id="{7429776A-9A07-4243-88CB-BFF348A2F0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3C29894-D723-9B4B-9E60-BE354F05F1BE}"/>
              </a:ext>
            </a:extLst>
          </p:cNvPr>
          <p:cNvSpPr>
            <a:spLocks noGrp="1"/>
          </p:cNvSpPr>
          <p:nvPr>
            <p:ph type="sldNum" sz="quarter" idx="12"/>
          </p:nvPr>
        </p:nvSpPr>
        <p:spPr/>
        <p:txBody>
          <a:bodyPr/>
          <a:lstStyle>
            <a:lvl1pPr>
              <a:defRPr/>
            </a:lvl1pPr>
          </a:lstStyle>
          <a:p>
            <a:pPr>
              <a:defRPr/>
            </a:pPr>
            <a:fld id="{6DFFECAE-5558-FC4F-A5D5-814DD6134961}" type="slidenum">
              <a:rPr lang="en-US" altLang="en-US"/>
              <a:pPr>
                <a:defRPr/>
              </a:pPr>
              <a:t>‹#›</a:t>
            </a:fld>
            <a:endParaRPr lang="en-US" altLang="en-US"/>
          </a:p>
        </p:txBody>
      </p:sp>
    </p:spTree>
    <p:extLst>
      <p:ext uri="{BB962C8B-B14F-4D97-AF65-F5344CB8AC3E}">
        <p14:creationId xmlns:p14="http://schemas.microsoft.com/office/powerpoint/2010/main" val="3603864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CACA102-DDA1-DC44-A6FC-7A58C154E3F8}"/>
              </a:ext>
            </a:extLst>
          </p:cNvPr>
          <p:cNvCxnSpPr/>
          <p:nvPr/>
        </p:nvCxnSpPr>
        <p:spPr>
          <a:xfrm>
            <a:off x="975784" y="4598990"/>
            <a:ext cx="104648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963084" y="2362201"/>
            <a:ext cx="10363200" cy="2200275"/>
          </a:xfrm>
        </p:spPr>
        <p:txBody>
          <a:bodyPr anchor="b"/>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6"/>
            <a:ext cx="10363200" cy="1500187"/>
          </a:xfrm>
        </p:spPr>
        <p:txBody>
          <a:bodyPr>
            <a:normAutofit/>
          </a:bodyPr>
          <a:lstStyle>
            <a:lvl1pPr marL="0" indent="0">
              <a:buNone/>
              <a:defRPr sz="2400">
                <a:solidFill>
                  <a:schemeClr val="tx2"/>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B8BD3862-5F17-CF44-8DB4-162A339F9702}"/>
              </a:ext>
            </a:extLst>
          </p:cNvPr>
          <p:cNvSpPr>
            <a:spLocks noGrp="1"/>
          </p:cNvSpPr>
          <p:nvPr>
            <p:ph type="dt" sz="half" idx="10"/>
          </p:nvPr>
        </p:nvSpPr>
        <p:spPr/>
        <p:txBody>
          <a:bodyPr/>
          <a:lstStyle>
            <a:lvl1pPr>
              <a:defRPr/>
            </a:lvl1pPr>
          </a:lstStyle>
          <a:p>
            <a:pPr>
              <a:defRPr/>
            </a:pPr>
            <a:r>
              <a:rPr lang="en-US"/>
              <a:t>Monday, January 30, 17</a:t>
            </a:r>
          </a:p>
        </p:txBody>
      </p:sp>
      <p:sp>
        <p:nvSpPr>
          <p:cNvPr id="6" name="Footer Placeholder 4">
            <a:extLst>
              <a:ext uri="{FF2B5EF4-FFF2-40B4-BE49-F238E27FC236}">
                <a16:creationId xmlns:a16="http://schemas.microsoft.com/office/drawing/2014/main" id="{1B6C0AE4-23CD-D648-B943-B406F109697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208E2B5-8975-774E-9099-896EDBE4B666}"/>
              </a:ext>
            </a:extLst>
          </p:cNvPr>
          <p:cNvSpPr>
            <a:spLocks noGrp="1"/>
          </p:cNvSpPr>
          <p:nvPr>
            <p:ph type="sldNum" sz="quarter" idx="12"/>
          </p:nvPr>
        </p:nvSpPr>
        <p:spPr/>
        <p:txBody>
          <a:bodyPr/>
          <a:lstStyle>
            <a:lvl1pPr>
              <a:defRPr smtClean="0"/>
            </a:lvl1pPr>
          </a:lstStyle>
          <a:p>
            <a:pPr>
              <a:defRPr/>
            </a:pPr>
            <a:fld id="{1851FCD7-60BF-0443-9D82-274D5A41A98A}" type="slidenum">
              <a:rPr lang="en-US" altLang="en-US"/>
              <a:pPr>
                <a:defRPr/>
              </a:pPr>
              <a:t>‹#›</a:t>
            </a:fld>
            <a:endParaRPr lang="en-US" altLang="en-US"/>
          </a:p>
        </p:txBody>
      </p:sp>
    </p:spTree>
    <p:extLst>
      <p:ext uri="{BB962C8B-B14F-4D97-AF65-F5344CB8AC3E}">
        <p14:creationId xmlns:p14="http://schemas.microsoft.com/office/powerpoint/2010/main" val="100542763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CDF3B8C-B363-B74C-83EE-8A31D6CCB1B2}"/>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6" name="Footer Placeholder 4">
            <a:extLst>
              <a:ext uri="{FF2B5EF4-FFF2-40B4-BE49-F238E27FC236}">
                <a16:creationId xmlns:a16="http://schemas.microsoft.com/office/drawing/2014/main" id="{219E2DE4-AC38-B645-8E19-91AFFA1788A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6131C8C-84EA-1248-82D0-0B3F51EB4DF2}"/>
              </a:ext>
            </a:extLst>
          </p:cNvPr>
          <p:cNvSpPr>
            <a:spLocks noGrp="1"/>
          </p:cNvSpPr>
          <p:nvPr>
            <p:ph type="sldNum" sz="quarter" idx="12"/>
          </p:nvPr>
        </p:nvSpPr>
        <p:spPr/>
        <p:txBody>
          <a:bodyPr/>
          <a:lstStyle>
            <a:lvl1pPr>
              <a:defRPr/>
            </a:lvl1pPr>
          </a:lstStyle>
          <a:p>
            <a:pPr>
              <a:defRPr/>
            </a:pPr>
            <a:fld id="{2D4FB8D5-209A-354C-A23E-7F23A4B35F42}" type="slidenum">
              <a:rPr lang="en-US" altLang="en-US"/>
              <a:pPr>
                <a:defRPr/>
              </a:pPr>
              <a:t>‹#›</a:t>
            </a:fld>
            <a:endParaRPr lang="en-US" altLang="en-US"/>
          </a:p>
        </p:txBody>
      </p:sp>
    </p:spTree>
    <p:extLst>
      <p:ext uri="{BB962C8B-B14F-4D97-AF65-F5344CB8AC3E}">
        <p14:creationId xmlns:p14="http://schemas.microsoft.com/office/powerpoint/2010/main" val="27225370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85B07ED-3669-4B42-81D8-66BBEF2F7F18}"/>
              </a:ext>
            </a:extLst>
          </p:cNvPr>
          <p:cNvCxnSpPr/>
          <p:nvPr/>
        </p:nvCxnSpPr>
        <p:spPr>
          <a:xfrm rot="5400000">
            <a:off x="3742798" y="4045481"/>
            <a:ext cx="4708525"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1"/>
            <a:ext cx="5242560"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1"/>
            <a:ext cx="5242560"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a:extLst>
              <a:ext uri="{FF2B5EF4-FFF2-40B4-BE49-F238E27FC236}">
                <a16:creationId xmlns:a16="http://schemas.microsoft.com/office/drawing/2014/main" id="{99919383-94F9-4647-8290-08165BC82D6A}"/>
              </a:ext>
            </a:extLst>
          </p:cNvPr>
          <p:cNvSpPr>
            <a:spLocks noGrp="1"/>
          </p:cNvSpPr>
          <p:nvPr>
            <p:ph type="dt" sz="half" idx="10"/>
          </p:nvPr>
        </p:nvSpPr>
        <p:spPr/>
        <p:txBody>
          <a:bodyPr/>
          <a:lstStyle>
            <a:lvl1pPr>
              <a:defRPr/>
            </a:lvl1pPr>
          </a:lstStyle>
          <a:p>
            <a:pPr>
              <a:defRPr/>
            </a:pPr>
            <a:r>
              <a:rPr lang="en-US"/>
              <a:t>Monday, January 30, 17</a:t>
            </a:r>
          </a:p>
        </p:txBody>
      </p:sp>
      <p:sp>
        <p:nvSpPr>
          <p:cNvPr id="9" name="Footer Placeholder 7">
            <a:extLst>
              <a:ext uri="{FF2B5EF4-FFF2-40B4-BE49-F238E27FC236}">
                <a16:creationId xmlns:a16="http://schemas.microsoft.com/office/drawing/2014/main" id="{37189A5C-A5B9-8A4B-8617-C5D6E37E07D5}"/>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id="{63D8AA3B-37B7-5444-869E-D674D263FCBD}"/>
              </a:ext>
            </a:extLst>
          </p:cNvPr>
          <p:cNvSpPr>
            <a:spLocks noGrp="1"/>
          </p:cNvSpPr>
          <p:nvPr>
            <p:ph type="sldNum" sz="quarter" idx="12"/>
          </p:nvPr>
        </p:nvSpPr>
        <p:spPr/>
        <p:txBody>
          <a:bodyPr/>
          <a:lstStyle>
            <a:lvl1pPr>
              <a:defRPr smtClean="0"/>
            </a:lvl1pPr>
          </a:lstStyle>
          <a:p>
            <a:pPr>
              <a:defRPr/>
            </a:pPr>
            <a:fld id="{36CE7853-A0A6-444C-840C-D63A1B510177}" type="slidenum">
              <a:rPr lang="en-US" altLang="en-US"/>
              <a:pPr>
                <a:defRPr/>
              </a:pPr>
              <a:t>‹#›</a:t>
            </a:fld>
            <a:endParaRPr lang="en-US" altLang="en-US"/>
          </a:p>
        </p:txBody>
      </p:sp>
    </p:spTree>
    <p:extLst>
      <p:ext uri="{BB962C8B-B14F-4D97-AF65-F5344CB8AC3E}">
        <p14:creationId xmlns:p14="http://schemas.microsoft.com/office/powerpoint/2010/main" val="24623358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BD6B3B7-2557-2A4F-B7FC-0E7459536A6B}"/>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4" name="Footer Placeholder 4">
            <a:extLst>
              <a:ext uri="{FF2B5EF4-FFF2-40B4-BE49-F238E27FC236}">
                <a16:creationId xmlns:a16="http://schemas.microsoft.com/office/drawing/2014/main" id="{FC6BEE12-FEEF-0D43-900C-D971C6170F0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58CFEF7-C9E1-284D-B996-4F8A06FAE6C2}"/>
              </a:ext>
            </a:extLst>
          </p:cNvPr>
          <p:cNvSpPr>
            <a:spLocks noGrp="1"/>
          </p:cNvSpPr>
          <p:nvPr>
            <p:ph type="sldNum" sz="quarter" idx="12"/>
          </p:nvPr>
        </p:nvSpPr>
        <p:spPr/>
        <p:txBody>
          <a:bodyPr/>
          <a:lstStyle>
            <a:lvl1pPr>
              <a:defRPr/>
            </a:lvl1pPr>
          </a:lstStyle>
          <a:p>
            <a:pPr>
              <a:defRPr/>
            </a:pPr>
            <a:fld id="{C52079FF-467D-6D41-A1F4-C32363388CCE}" type="slidenum">
              <a:rPr lang="en-US" altLang="en-US"/>
              <a:pPr>
                <a:defRPr/>
              </a:pPr>
              <a:t>‹#›</a:t>
            </a:fld>
            <a:endParaRPr lang="en-US" altLang="en-US"/>
          </a:p>
        </p:txBody>
      </p:sp>
    </p:spTree>
    <p:extLst>
      <p:ext uri="{BB962C8B-B14F-4D97-AF65-F5344CB8AC3E}">
        <p14:creationId xmlns:p14="http://schemas.microsoft.com/office/powerpoint/2010/main" val="11664065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9494C39-4D5D-E149-84F3-07A849102757}"/>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3" name="Footer Placeholder 4">
            <a:extLst>
              <a:ext uri="{FF2B5EF4-FFF2-40B4-BE49-F238E27FC236}">
                <a16:creationId xmlns:a16="http://schemas.microsoft.com/office/drawing/2014/main" id="{D8EDD62F-3058-6740-89FE-D6A8ADE4345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686ED7D-0E8A-604C-9FD7-1EB6A03F816F}"/>
              </a:ext>
            </a:extLst>
          </p:cNvPr>
          <p:cNvSpPr>
            <a:spLocks noGrp="1"/>
          </p:cNvSpPr>
          <p:nvPr>
            <p:ph type="sldNum" sz="quarter" idx="12"/>
          </p:nvPr>
        </p:nvSpPr>
        <p:spPr/>
        <p:txBody>
          <a:bodyPr/>
          <a:lstStyle>
            <a:lvl1pPr>
              <a:defRPr/>
            </a:lvl1pPr>
          </a:lstStyle>
          <a:p>
            <a:pPr>
              <a:defRPr/>
            </a:pPr>
            <a:fld id="{94330214-C1B0-274F-B99E-7FB2C7279437}" type="slidenum">
              <a:rPr lang="en-US" altLang="en-US"/>
              <a:pPr>
                <a:defRPr/>
              </a:pPr>
              <a:t>‹#›</a:t>
            </a:fld>
            <a:endParaRPr lang="en-US" altLang="en-US"/>
          </a:p>
        </p:txBody>
      </p:sp>
    </p:spTree>
    <p:extLst>
      <p:ext uri="{BB962C8B-B14F-4D97-AF65-F5344CB8AC3E}">
        <p14:creationId xmlns:p14="http://schemas.microsoft.com/office/powerpoint/2010/main" val="30916718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B7D8BF-4077-8544-897A-A202D01978F9}"/>
              </a:ext>
            </a:extLst>
          </p:cNvPr>
          <p:cNvCxnSpPr/>
          <p:nvPr/>
        </p:nvCxnSpPr>
        <p:spPr>
          <a:xfrm rot="5400000">
            <a:off x="911754" y="3580343"/>
            <a:ext cx="5578475"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5"/>
            <a:ext cx="2852928" cy="4243615"/>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C6A2EF62-737B-3E4C-908A-80A99C943F13}"/>
              </a:ext>
            </a:extLst>
          </p:cNvPr>
          <p:cNvSpPr>
            <a:spLocks noGrp="1"/>
          </p:cNvSpPr>
          <p:nvPr>
            <p:ph type="dt" sz="half" idx="10"/>
          </p:nvPr>
        </p:nvSpPr>
        <p:spPr/>
        <p:txBody>
          <a:bodyPr/>
          <a:lstStyle>
            <a:lvl1pPr>
              <a:defRPr/>
            </a:lvl1pPr>
          </a:lstStyle>
          <a:p>
            <a:pPr>
              <a:defRPr/>
            </a:pPr>
            <a:r>
              <a:rPr lang="en-US"/>
              <a:t>Monday, January 30, 17</a:t>
            </a:r>
          </a:p>
        </p:txBody>
      </p:sp>
      <p:sp>
        <p:nvSpPr>
          <p:cNvPr id="7" name="Footer Placeholder 5">
            <a:extLst>
              <a:ext uri="{FF2B5EF4-FFF2-40B4-BE49-F238E27FC236}">
                <a16:creationId xmlns:a16="http://schemas.microsoft.com/office/drawing/2014/main" id="{5A7436DC-F284-5949-B7BA-4AA37FD4AAFA}"/>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E930B4BC-7EED-8342-A1BD-4A17C5F12A30}"/>
              </a:ext>
            </a:extLst>
          </p:cNvPr>
          <p:cNvSpPr>
            <a:spLocks noGrp="1"/>
          </p:cNvSpPr>
          <p:nvPr>
            <p:ph type="sldNum" sz="quarter" idx="12"/>
          </p:nvPr>
        </p:nvSpPr>
        <p:spPr/>
        <p:txBody>
          <a:bodyPr/>
          <a:lstStyle>
            <a:lvl1pPr>
              <a:defRPr smtClean="0"/>
            </a:lvl1pPr>
          </a:lstStyle>
          <a:p>
            <a:pPr>
              <a:defRPr/>
            </a:pPr>
            <a:fld id="{E7CFDA24-9594-0E41-8AF7-A187F9F52738}" type="slidenum">
              <a:rPr lang="en-US" altLang="en-US"/>
              <a:pPr>
                <a:defRPr/>
              </a:pPr>
              <a:t>‹#›</a:t>
            </a:fld>
            <a:endParaRPr lang="en-US" altLang="en-US"/>
          </a:p>
        </p:txBody>
      </p:sp>
    </p:spTree>
    <p:extLst>
      <p:ext uri="{BB962C8B-B14F-4D97-AF65-F5344CB8AC3E}">
        <p14:creationId xmlns:p14="http://schemas.microsoft.com/office/powerpoint/2010/main" val="3197174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en-US" noProof="0"/>
              <a:t>Drag picture to placeholder or click icon to add</a:t>
            </a:r>
            <a:endParaRPr lang="en-US" noProof="0"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50BB1C6-097F-3C42-A33F-1F1B6C36E4C6}"/>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6" name="Footer Placeholder 4">
            <a:extLst>
              <a:ext uri="{FF2B5EF4-FFF2-40B4-BE49-F238E27FC236}">
                <a16:creationId xmlns:a16="http://schemas.microsoft.com/office/drawing/2014/main" id="{44FBA4F0-4D0A-A64B-84AE-1C0E9C7AB7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3898FA1-B2FD-DE47-BEB8-CE463510C590}"/>
              </a:ext>
            </a:extLst>
          </p:cNvPr>
          <p:cNvSpPr>
            <a:spLocks noGrp="1"/>
          </p:cNvSpPr>
          <p:nvPr>
            <p:ph type="sldNum" sz="quarter" idx="12"/>
          </p:nvPr>
        </p:nvSpPr>
        <p:spPr/>
        <p:txBody>
          <a:bodyPr/>
          <a:lstStyle>
            <a:lvl1pPr>
              <a:defRPr/>
            </a:lvl1pPr>
          </a:lstStyle>
          <a:p>
            <a:pPr>
              <a:defRPr/>
            </a:pPr>
            <a:fld id="{C30FCAA1-8A8A-6A49-B2E5-05A39EBF64B7}" type="slidenum">
              <a:rPr lang="en-US" altLang="en-US"/>
              <a:pPr>
                <a:defRPr/>
              </a:pPr>
              <a:t>‹#›</a:t>
            </a:fld>
            <a:endParaRPr lang="en-US" altLang="en-US"/>
          </a:p>
        </p:txBody>
      </p:sp>
    </p:spTree>
    <p:extLst>
      <p:ext uri="{BB962C8B-B14F-4D97-AF65-F5344CB8AC3E}">
        <p14:creationId xmlns:p14="http://schemas.microsoft.com/office/powerpoint/2010/main" val="157878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44687A-9899-7845-8A17-8B85C5EAE656}"/>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5" name="Footer Placeholder 4">
            <a:extLst>
              <a:ext uri="{FF2B5EF4-FFF2-40B4-BE49-F238E27FC236}">
                <a16:creationId xmlns:a16="http://schemas.microsoft.com/office/drawing/2014/main" id="{C2335466-830B-4242-B0FD-C478780035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954C0B0-9465-0B4F-A47F-5BAA7BEE0775}"/>
              </a:ext>
            </a:extLst>
          </p:cNvPr>
          <p:cNvSpPr>
            <a:spLocks noGrp="1"/>
          </p:cNvSpPr>
          <p:nvPr>
            <p:ph type="sldNum" sz="quarter" idx="12"/>
          </p:nvPr>
        </p:nvSpPr>
        <p:spPr/>
        <p:txBody>
          <a:bodyPr/>
          <a:lstStyle>
            <a:lvl1pPr>
              <a:defRPr/>
            </a:lvl1pPr>
          </a:lstStyle>
          <a:p>
            <a:pPr>
              <a:defRPr/>
            </a:pPr>
            <a:fld id="{DF6F8F63-C206-6F46-8B8A-B5AD3BBB21AD}" type="slidenum">
              <a:rPr lang="en-US" altLang="en-US"/>
              <a:pPr>
                <a:defRPr/>
              </a:pPr>
              <a:t>‹#›</a:t>
            </a:fld>
            <a:endParaRPr lang="en-US" altLang="en-US"/>
          </a:p>
        </p:txBody>
      </p:sp>
    </p:spTree>
    <p:extLst>
      <p:ext uri="{BB962C8B-B14F-4D97-AF65-F5344CB8AC3E}">
        <p14:creationId xmlns:p14="http://schemas.microsoft.com/office/powerpoint/2010/main" val="37144516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B76C9E6-01D3-814C-A399-2C11C31B8B77}"/>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5" name="Footer Placeholder 4">
            <a:extLst>
              <a:ext uri="{FF2B5EF4-FFF2-40B4-BE49-F238E27FC236}">
                <a16:creationId xmlns:a16="http://schemas.microsoft.com/office/drawing/2014/main" id="{B93DE167-D490-5646-BA44-469DBA7652D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78A4AC-74A9-3945-A7C0-679F87F0B5F7}"/>
              </a:ext>
            </a:extLst>
          </p:cNvPr>
          <p:cNvSpPr>
            <a:spLocks noGrp="1"/>
          </p:cNvSpPr>
          <p:nvPr>
            <p:ph type="sldNum" sz="quarter" idx="12"/>
          </p:nvPr>
        </p:nvSpPr>
        <p:spPr/>
        <p:txBody>
          <a:bodyPr/>
          <a:lstStyle>
            <a:lvl1pPr>
              <a:defRPr/>
            </a:lvl1pPr>
          </a:lstStyle>
          <a:p>
            <a:pPr>
              <a:defRPr/>
            </a:pPr>
            <a:fld id="{AE04F972-602B-F04A-BF83-2471432BF8EA}" type="slidenum">
              <a:rPr lang="en-US" altLang="en-US"/>
              <a:pPr>
                <a:defRPr/>
              </a:pPr>
              <a:t>‹#›</a:t>
            </a:fld>
            <a:endParaRPr lang="en-US" altLang="en-US"/>
          </a:p>
        </p:txBody>
      </p:sp>
    </p:spTree>
    <p:extLst>
      <p:ext uri="{BB962C8B-B14F-4D97-AF65-F5344CB8AC3E}">
        <p14:creationId xmlns:p14="http://schemas.microsoft.com/office/powerpoint/2010/main" val="18247378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C1E07-CFA6-4845-9C14-49B143895F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BDDDA7-1DED-2149-BDE0-87E7B98244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BCB4E6-2446-1141-BD1C-110C332F5A76}"/>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5" name="Footer Placeholder 4">
            <a:extLst>
              <a:ext uri="{FF2B5EF4-FFF2-40B4-BE49-F238E27FC236}">
                <a16:creationId xmlns:a16="http://schemas.microsoft.com/office/drawing/2014/main" id="{5D09AA18-DF4E-9F40-A07D-B212DB0C4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4DE001-5BCE-984F-8A6B-E0D97AB51304}"/>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4828968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41608892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FC704-5F47-5347-9A9C-A4ECF40571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E95CFC-7070-0E40-8D89-3D23AEB3A0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EA1FE5-0ECE-BA4C-AE1D-813B37141530}"/>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5" name="Footer Placeholder 4">
            <a:extLst>
              <a:ext uri="{FF2B5EF4-FFF2-40B4-BE49-F238E27FC236}">
                <a16:creationId xmlns:a16="http://schemas.microsoft.com/office/drawing/2014/main" id="{C283AE56-80B9-2940-9B4E-D3A8C1F7D7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A6944-4791-AD49-BD97-2C4F5F29A69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41760878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832B-1F3B-124D-B645-8040FF9836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EF833C-7332-B84A-AA76-BF4A0970B0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067168-0E8B-A74C-B78F-B2A11F85B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C82167-B3E9-EC41-AFB1-8A9DDD3008F1}"/>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6" name="Footer Placeholder 5">
            <a:extLst>
              <a:ext uri="{FF2B5EF4-FFF2-40B4-BE49-F238E27FC236}">
                <a16:creationId xmlns:a16="http://schemas.microsoft.com/office/drawing/2014/main" id="{40D71D6F-602E-C448-B98D-B5B6D289B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A8856D-38FF-554C-B78E-A25F78914C6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40348939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7CF9-58CC-734A-876F-8096A9DD80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F650C0-DF82-C645-9DC9-7D784F5782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DE2A9C-0B75-FB4A-9543-B0188D9A13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5B7715-D85B-7644-BD56-D311FB9ADE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51BB8D-20C0-884B-9D17-1EAF95CBDC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2CDA00-C0E4-AD4F-A6E5-EBAA150FE2AD}"/>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8" name="Footer Placeholder 7">
            <a:extLst>
              <a:ext uri="{FF2B5EF4-FFF2-40B4-BE49-F238E27FC236}">
                <a16:creationId xmlns:a16="http://schemas.microsoft.com/office/drawing/2014/main" id="{98AF9934-B125-6A43-B688-15B92527C2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4BBDEB-3D88-DC4F-9094-E6D2634FAD3B}"/>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4803207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DC38-A449-7A42-901B-B1614C3F19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FB450F-2BF8-D94A-9B83-ACA198D5B61F}"/>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4" name="Footer Placeholder 3">
            <a:extLst>
              <a:ext uri="{FF2B5EF4-FFF2-40B4-BE49-F238E27FC236}">
                <a16:creationId xmlns:a16="http://schemas.microsoft.com/office/drawing/2014/main" id="{696E1943-F920-FD4D-B10F-0783C5E033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AF4492-2E73-2845-B6F5-48AF992CEB5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5902610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F97373-9AA8-9743-9FE7-A973F731E4A4}"/>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3" name="Footer Placeholder 2">
            <a:extLst>
              <a:ext uri="{FF2B5EF4-FFF2-40B4-BE49-F238E27FC236}">
                <a16:creationId xmlns:a16="http://schemas.microsoft.com/office/drawing/2014/main" id="{1CD78110-DEE0-CF46-9B73-57457F7D25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940768-1815-D144-8614-37DFBB8078D3}"/>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9829073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FF98B-A116-0449-AADF-6C2AB6B13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51F10C-24E4-0B41-A318-B2ECEFB6F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40EA7E-7F2F-584C-8BBC-B9B856938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F6763B-A708-1148-BFBA-FB338822980C}"/>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6" name="Footer Placeholder 5">
            <a:extLst>
              <a:ext uri="{FF2B5EF4-FFF2-40B4-BE49-F238E27FC236}">
                <a16:creationId xmlns:a16="http://schemas.microsoft.com/office/drawing/2014/main" id="{649C8849-49C1-AE4A-8055-6D4DDFCA07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86989-0805-5B45-BDE9-8D35856E61F9}"/>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8782238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DC2BB-60BA-E643-9C2A-DB4DF61AE1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B3D2AD-E1BC-3442-9E4F-08359428F7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E815D2-158C-6B49-84C4-12D451E2B9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A738D-8DE9-5343-9A78-C631E2FB771D}"/>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6" name="Footer Placeholder 5">
            <a:extLst>
              <a:ext uri="{FF2B5EF4-FFF2-40B4-BE49-F238E27FC236}">
                <a16:creationId xmlns:a16="http://schemas.microsoft.com/office/drawing/2014/main" id="{B8704796-F870-844B-A92F-6E26FD697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1D8D6C-8065-AD48-B4DC-02AB34D1470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10970333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F1A5-9FBD-AA41-B701-58F23012E4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73C6DB-FC78-6540-AE38-C48402A317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51E24-604D-5F41-AE28-E81C17770DCB}"/>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5" name="Footer Placeholder 4">
            <a:extLst>
              <a:ext uri="{FF2B5EF4-FFF2-40B4-BE49-F238E27FC236}">
                <a16:creationId xmlns:a16="http://schemas.microsoft.com/office/drawing/2014/main" id="{665FE96C-9B51-004C-B671-7C6651301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4E4D6-A39A-2242-B129-2C9E150F6A1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16463468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9AE8F3-9CBD-2C47-A447-905506348C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CB8B2F-CB91-8545-8B26-CDD6ADBEB0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64647-85D8-2545-9549-C2304E0145DF}"/>
              </a:ext>
            </a:extLst>
          </p:cNvPr>
          <p:cNvSpPr>
            <a:spLocks noGrp="1"/>
          </p:cNvSpPr>
          <p:nvPr>
            <p:ph type="dt" sz="half" idx="10"/>
          </p:nvPr>
        </p:nvSpPr>
        <p:spPr/>
        <p:txBody>
          <a:bodyPr/>
          <a:lstStyle/>
          <a:p>
            <a:fld id="{E0677978-0B93-2F48-815C-1A68DD40D95E}" type="datetimeFigureOut">
              <a:rPr lang="en-US" smtClean="0"/>
              <a:t>10/13/22</a:t>
            </a:fld>
            <a:endParaRPr lang="en-US"/>
          </a:p>
        </p:txBody>
      </p:sp>
      <p:sp>
        <p:nvSpPr>
          <p:cNvPr id="5" name="Footer Placeholder 4">
            <a:extLst>
              <a:ext uri="{FF2B5EF4-FFF2-40B4-BE49-F238E27FC236}">
                <a16:creationId xmlns:a16="http://schemas.microsoft.com/office/drawing/2014/main" id="{A6819A56-97BE-3F4A-9CAC-63124B5C4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79A20-E0C5-5040-8275-EA2372AC5636}"/>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89698903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06566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914400" y="1752600"/>
            <a:ext cx="508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6197600" y="1752600"/>
            <a:ext cx="508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70889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77421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4981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48.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image" Target="../media/image3.png"/><Relationship Id="rId5" Type="http://schemas.openxmlformats.org/officeDocument/2006/relationships/theme" Target="../theme/theme5.xml"/><Relationship Id="rId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1981EC-0305-684C-86F3-72902EE5A9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2920DE-5AB9-3B4F-B0A1-33AD7768F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D9DCB8-678B-6749-8AF1-B679C582B6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BCA4CB-9C56-1148-AA7E-AF0802163F16}" type="datetime1">
              <a:rPr lang="en-US" smtClean="0"/>
              <a:t>10/13/22</a:t>
            </a:fld>
            <a:endParaRPr lang="en-US"/>
          </a:p>
        </p:txBody>
      </p:sp>
      <p:sp>
        <p:nvSpPr>
          <p:cNvPr id="5" name="Footer Placeholder 4">
            <a:extLst>
              <a:ext uri="{FF2B5EF4-FFF2-40B4-BE49-F238E27FC236}">
                <a16:creationId xmlns:a16="http://schemas.microsoft.com/office/drawing/2014/main" id="{21DF7613-AEBC-A34D-B202-D0A47CFB0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EE81EA-26D8-0F47-9EAC-9878B863EB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EB4AB-D614-0E48-BC82-3517EAEB4A4F}" type="slidenum">
              <a:rPr lang="en-US" smtClean="0"/>
              <a:t>‹#›</a:t>
            </a:fld>
            <a:endParaRPr lang="en-US"/>
          </a:p>
        </p:txBody>
      </p:sp>
    </p:spTree>
    <p:extLst>
      <p:ext uri="{BB962C8B-B14F-4D97-AF65-F5344CB8AC3E}">
        <p14:creationId xmlns:p14="http://schemas.microsoft.com/office/powerpoint/2010/main" val="2635569499"/>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 id="214748404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cstate="screen">
            <a:extLst>
              <a:ext uri="{28A0092B-C50C-407E-A947-70E740481C1C}">
                <a14:useLocalDpi xmlns:a14="http://schemas.microsoft.com/office/drawing/2010/main"/>
              </a:ext>
            </a:extLst>
          </a:blip>
          <a:srcRect b="-2848"/>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C11C06C-AA6C-ED48-BC75-117C3059AC0F}" type="datetimeFigureOut">
              <a:rPr lang="en-US" smtClean="0"/>
              <a:t>10/13/22</a:t>
            </a:fld>
            <a:endParaRPr lang="en-US"/>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0FCC80D-D55D-0343-96BF-59A199A0261E}" type="slidenum">
              <a:rPr lang="en-US" smtClean="0"/>
              <a:t>‹#›</a:t>
            </a:fld>
            <a:endParaRPr lang="en-US"/>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837927"/>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BF95BF-52DD-7040-BBE0-65305A53ED8F}"/>
              </a:ext>
            </a:extLst>
          </p:cNvPr>
          <p:cNvSpPr/>
          <p:nvPr/>
        </p:nvSpPr>
        <p:spPr>
          <a:xfrm>
            <a:off x="0" y="220663"/>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2" name="Title Placeholder 1">
            <a:extLst>
              <a:ext uri="{FF2B5EF4-FFF2-40B4-BE49-F238E27FC236}">
                <a16:creationId xmlns:a16="http://schemas.microsoft.com/office/drawing/2014/main" id="{154CC057-C9FB-8249-BE44-B93F2594C766}"/>
              </a:ext>
            </a:extLst>
          </p:cNvPr>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8" name="Text Placeholder 2">
            <a:extLst>
              <a:ext uri="{FF2B5EF4-FFF2-40B4-BE49-F238E27FC236}">
                <a16:creationId xmlns:a16="http://schemas.microsoft.com/office/drawing/2014/main" id="{9E46DAB4-0618-EC44-969F-CBC328E9929F}"/>
              </a:ext>
            </a:extLst>
          </p:cNvPr>
          <p:cNvSpPr>
            <a:spLocks noGrp="1"/>
          </p:cNvSpPr>
          <p:nvPr>
            <p:ph type="body" idx="1"/>
          </p:nvPr>
        </p:nvSpPr>
        <p:spPr bwMode="auto">
          <a:xfrm>
            <a:off x="609600" y="1600200"/>
            <a:ext cx="10972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4B54919F-5409-6E45-B80E-25314159942D}"/>
              </a:ext>
            </a:extLst>
          </p:cNvPr>
          <p:cNvSpPr/>
          <p:nvPr/>
        </p:nvSpPr>
        <p:spPr>
          <a:xfrm>
            <a:off x="0" y="1"/>
            <a:ext cx="12192000"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4" name="Date Placeholder 3">
            <a:extLst>
              <a:ext uri="{FF2B5EF4-FFF2-40B4-BE49-F238E27FC236}">
                <a16:creationId xmlns:a16="http://schemas.microsoft.com/office/drawing/2014/main" id="{3541D3B3-9536-7B41-8EAB-F406F1CD9012}"/>
              </a:ext>
            </a:extLst>
          </p:cNvPr>
          <p:cNvSpPr>
            <a:spLocks noGrp="1"/>
          </p:cNvSpPr>
          <p:nvPr>
            <p:ph type="dt" sz="half" idx="2"/>
          </p:nvPr>
        </p:nvSpPr>
        <p:spPr>
          <a:xfrm>
            <a:off x="609600" y="19052"/>
            <a:ext cx="3860800" cy="328613"/>
          </a:xfrm>
          <a:prstGeom prst="rect">
            <a:avLst/>
          </a:prstGeom>
        </p:spPr>
        <p:txBody>
          <a:bodyPr vert="horz" lIns="91440" tIns="45720" rIns="91440" bIns="45720" rtlCol="0" anchor="ctr"/>
          <a:lstStyle>
            <a:lvl1pPr algn="l">
              <a:defRPr sz="1200">
                <a:solidFill>
                  <a:srgbClr val="FFFFFF"/>
                </a:solidFill>
                <a:latin typeface="Book Antiqua" charset="0"/>
                <a:ea typeface="ＭＳ Ｐゴシック" charset="0"/>
                <a:cs typeface="ＭＳ Ｐゴシック" charset="0"/>
              </a:defRPr>
            </a:lvl1pPr>
          </a:lstStyle>
          <a:p>
            <a:pPr>
              <a:defRPr/>
            </a:pPr>
            <a:r>
              <a:rPr lang="en-US"/>
              <a:t>Monday, January 30, 17</a:t>
            </a:r>
            <a:endParaRPr lang="en-US" dirty="0"/>
          </a:p>
        </p:txBody>
      </p:sp>
      <p:sp>
        <p:nvSpPr>
          <p:cNvPr id="5" name="Footer Placeholder 4">
            <a:extLst>
              <a:ext uri="{FF2B5EF4-FFF2-40B4-BE49-F238E27FC236}">
                <a16:creationId xmlns:a16="http://schemas.microsoft.com/office/drawing/2014/main" id="{96BE581D-B9A6-D64C-ABC9-74DDA3CD25AC}"/>
              </a:ext>
            </a:extLst>
          </p:cNvPr>
          <p:cNvSpPr>
            <a:spLocks noGrp="1"/>
          </p:cNvSpPr>
          <p:nvPr>
            <p:ph type="ftr" sz="quarter" idx="3"/>
          </p:nvPr>
        </p:nvSpPr>
        <p:spPr>
          <a:xfrm>
            <a:off x="4572000" y="19052"/>
            <a:ext cx="5486400" cy="328613"/>
          </a:xfrm>
          <a:prstGeom prst="rect">
            <a:avLst/>
          </a:prstGeom>
        </p:spPr>
        <p:txBody>
          <a:bodyPr vert="horz" lIns="91440" tIns="45720" rIns="91440" bIns="45720" rtlCol="0" anchor="ctr"/>
          <a:lstStyle>
            <a:lvl1pPr algn="r">
              <a:defRPr sz="1200">
                <a:solidFill>
                  <a:srgbClr val="FFFFFF"/>
                </a:solidFill>
                <a:latin typeface="Book Antiqua"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E2DD885B-B15E-0B46-9712-27FA12704D23}"/>
              </a:ext>
            </a:extLst>
          </p:cNvPr>
          <p:cNvSpPr>
            <a:spLocks noGrp="1"/>
          </p:cNvSpPr>
          <p:nvPr>
            <p:ph type="sldNum" sz="quarter" idx="4"/>
          </p:nvPr>
        </p:nvSpPr>
        <p:spPr>
          <a:xfrm>
            <a:off x="10160000" y="19052"/>
            <a:ext cx="1422400" cy="328613"/>
          </a:xfrm>
          <a:prstGeom prst="rect">
            <a:avLst/>
          </a:prstGeom>
        </p:spPr>
        <p:txBody>
          <a:bodyPr vert="horz" wrap="square" lIns="91440" tIns="45720" rIns="91440" bIns="45720" numCol="1" anchor="ctr" anchorCtr="0" compatLnSpc="1">
            <a:prstTxWarp prst="textNoShape">
              <a:avLst/>
            </a:prstTxWarp>
          </a:bodyPr>
          <a:lstStyle>
            <a:lvl1pPr>
              <a:defRPr sz="1400" b="1" smtClean="0">
                <a:solidFill>
                  <a:srgbClr val="FFFFFF"/>
                </a:solidFill>
              </a:defRPr>
            </a:lvl1pPr>
          </a:lstStyle>
          <a:p>
            <a:pPr>
              <a:defRPr/>
            </a:pPr>
            <a:fld id="{75740777-AA5D-AC4C-B229-82B7C56FA244}" type="slidenum">
              <a:rPr lang="en-US" altLang="en-US"/>
              <a:pPr>
                <a:defRPr/>
              </a:pPr>
              <a:t>‹#›</a:t>
            </a:fld>
            <a:endParaRPr lang="en-US" altLang="en-US"/>
          </a:p>
        </p:txBody>
      </p:sp>
    </p:spTree>
    <p:extLst>
      <p:ext uri="{BB962C8B-B14F-4D97-AF65-F5344CB8AC3E}">
        <p14:creationId xmlns:p14="http://schemas.microsoft.com/office/powerpoint/2010/main" val="3291851916"/>
      </p:ext>
    </p:extLst>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Lst>
  <p:hf hdr="0" ftr="0" dt="0"/>
  <p:txStyles>
    <p:titleStyle>
      <a:lvl1pPr algn="l" rtl="0" eaLnBrk="0" fontAlgn="base" hangingPunct="0">
        <a:spcBef>
          <a:spcPct val="0"/>
        </a:spcBef>
        <a:spcAft>
          <a:spcPct val="0"/>
        </a:spcAft>
        <a:defRPr sz="4000" kern="1200" spc="-1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5pPr>
      <a:lvl6pPr marL="457189" algn="l" rtl="0" fontAlgn="base">
        <a:spcBef>
          <a:spcPct val="0"/>
        </a:spcBef>
        <a:spcAft>
          <a:spcPct val="0"/>
        </a:spcAft>
        <a:defRPr sz="4000">
          <a:solidFill>
            <a:schemeClr val="tx2"/>
          </a:solidFill>
          <a:latin typeface="Arial" charset="0"/>
          <a:ea typeface="ＭＳ Ｐゴシック" charset="0"/>
          <a:cs typeface="ＭＳ Ｐゴシック" charset="0"/>
        </a:defRPr>
      </a:lvl6pPr>
      <a:lvl7pPr marL="914377" algn="l" rtl="0" fontAlgn="base">
        <a:spcBef>
          <a:spcPct val="0"/>
        </a:spcBef>
        <a:spcAft>
          <a:spcPct val="0"/>
        </a:spcAft>
        <a:defRPr sz="4000">
          <a:solidFill>
            <a:schemeClr val="tx2"/>
          </a:solidFill>
          <a:latin typeface="Arial" charset="0"/>
          <a:ea typeface="ＭＳ Ｐゴシック" charset="0"/>
          <a:cs typeface="ＭＳ Ｐゴシック" charset="0"/>
        </a:defRPr>
      </a:lvl7pPr>
      <a:lvl8pPr marL="1371566" algn="l" rtl="0" fontAlgn="base">
        <a:spcBef>
          <a:spcPct val="0"/>
        </a:spcBef>
        <a:spcAft>
          <a:spcPct val="0"/>
        </a:spcAft>
        <a:defRPr sz="4000">
          <a:solidFill>
            <a:schemeClr val="tx2"/>
          </a:solidFill>
          <a:latin typeface="Arial" charset="0"/>
          <a:ea typeface="ＭＳ Ｐゴシック" charset="0"/>
          <a:cs typeface="ＭＳ Ｐゴシック" charset="0"/>
        </a:defRPr>
      </a:lvl8pPr>
      <a:lvl9pPr marL="1828754" algn="l" rtl="0" fontAlgn="base">
        <a:spcBef>
          <a:spcPct val="0"/>
        </a:spcBef>
        <a:spcAft>
          <a:spcPct val="0"/>
        </a:spcAft>
        <a:defRPr sz="4000">
          <a:solidFill>
            <a:schemeClr val="tx2"/>
          </a:solidFill>
          <a:latin typeface="Arial" charset="0"/>
          <a:ea typeface="ＭＳ Ｐゴシック" charset="0"/>
          <a:cs typeface="ＭＳ Ｐゴシック" charset="0"/>
        </a:defRPr>
      </a:lvl9pPr>
    </p:titleStyle>
    <p:bodyStyle>
      <a:lvl1pPr marL="182558" indent="-182558" algn="l" rtl="0" eaLnBrk="0" fontAlgn="base" hangingPunct="0">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ＭＳ Ｐゴシック" charset="0"/>
          <a:cs typeface="ＭＳ Ｐゴシック" charset="0"/>
        </a:defRPr>
      </a:lvl1pPr>
      <a:lvl2pPr marL="457189" indent="-182558" algn="l" rtl="0" eaLnBrk="0" fontAlgn="base" hangingPunct="0">
        <a:spcBef>
          <a:spcPct val="20000"/>
        </a:spcBef>
        <a:spcAft>
          <a:spcPct val="0"/>
        </a:spcAft>
        <a:buClr>
          <a:schemeClr val="accent1"/>
        </a:buClr>
        <a:buSzPct val="85000"/>
        <a:buFont typeface="Wingdings" pitchFamily="2" charset="2"/>
        <a:buChar char="Ø"/>
        <a:defRPr sz="2000" kern="1200">
          <a:solidFill>
            <a:schemeClr val="tx1"/>
          </a:solidFill>
          <a:latin typeface="+mn-lt"/>
          <a:ea typeface="ＭＳ Ｐゴシック" charset="0"/>
          <a:cs typeface="+mn-cs"/>
        </a:defRPr>
      </a:lvl2pPr>
      <a:lvl3pPr marL="730232" indent="-182558"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ＭＳ Ｐゴシック" charset="0"/>
          <a:cs typeface="+mn-cs"/>
        </a:defRPr>
      </a:lvl3pPr>
      <a:lvl4pPr marL="1004863" indent="-182558" algn="l" rtl="0" eaLnBrk="0" fontAlgn="base" hangingPunct="0">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ＭＳ Ｐゴシック" charset="0"/>
          <a:cs typeface="+mn-cs"/>
        </a:defRPr>
      </a:lvl4pPr>
      <a:lvl5pPr marL="1187421" indent="-136522" algn="l" rtl="0" eaLnBrk="0" fontAlgn="base" hangingPunct="0">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ＭＳ Ｐゴシック" charset="0"/>
          <a:cs typeface="+mn-cs"/>
        </a:defRPr>
      </a:lvl5pPr>
      <a:lvl6pPr marL="1371566" indent="-182875" algn="l" defTabSz="914377"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41" indent="-182875" algn="l" defTabSz="914377"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17" indent="-182875" algn="l" defTabSz="914377"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192" indent="-182875" algn="l" defTabSz="914377"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1981EC-0305-684C-86F3-72902EE5A9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2920DE-5AB9-3B4F-B0A1-33AD7768F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D9DCB8-678B-6749-8AF1-B679C582B6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677978-0B93-2F48-815C-1A68DD40D95E}" type="datetimeFigureOut">
              <a:rPr lang="en-US" smtClean="0"/>
              <a:t>10/13/22</a:t>
            </a:fld>
            <a:endParaRPr lang="en-US"/>
          </a:p>
        </p:txBody>
      </p:sp>
      <p:sp>
        <p:nvSpPr>
          <p:cNvPr id="5" name="Footer Placeholder 4">
            <a:extLst>
              <a:ext uri="{FF2B5EF4-FFF2-40B4-BE49-F238E27FC236}">
                <a16:creationId xmlns:a16="http://schemas.microsoft.com/office/drawing/2014/main" id="{21DF7613-AEBC-A34D-B202-D0A47CFB0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EE81EA-26D8-0F47-9EAC-9878B863EB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EB4AB-D614-0E48-BC82-3517EAEB4A4F}" type="slidenum">
              <a:rPr lang="en-US" smtClean="0"/>
              <a:t>‹#›</a:t>
            </a:fld>
            <a:endParaRPr lang="en-US"/>
          </a:p>
        </p:txBody>
      </p:sp>
    </p:spTree>
    <p:extLst>
      <p:ext uri="{BB962C8B-B14F-4D97-AF65-F5344CB8AC3E}">
        <p14:creationId xmlns:p14="http://schemas.microsoft.com/office/powerpoint/2010/main" val="3672855967"/>
      </p:ext>
    </p:extLst>
  </p:cSld>
  <p:clrMap bg1="lt1" tx1="dk1" bg2="lt2" tx2="dk2" accent1="accent1" accent2="accent2" accent3="accent3" accent4="accent4" accent5="accent5" accent6="accent6" hlink="hlink" folHlink="folHlink"/>
  <p:sldLayoutIdLst>
    <p:sldLayoutId id="2147484058" r:id="rId1"/>
    <p:sldLayoutId id="2147484059" r:id="rId2"/>
    <p:sldLayoutId id="2147484060" r:id="rId3"/>
    <p:sldLayoutId id="2147484061" r:id="rId4"/>
    <p:sldLayoutId id="2147484062" r:id="rId5"/>
    <p:sldLayoutId id="2147484063" r:id="rId6"/>
    <p:sldLayoutId id="2147484064" r:id="rId7"/>
    <p:sldLayoutId id="2147484065" r:id="rId8"/>
    <p:sldLayoutId id="2147484066" r:id="rId9"/>
    <p:sldLayoutId id="2147484067" r:id="rId10"/>
    <p:sldLayoutId id="21474840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914400" y="457200"/>
            <a:ext cx="103632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914400" y="1752600"/>
            <a:ext cx="10363200" cy="3810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2" name="Picture 1" descr="EVRlogo_PPT.png"/>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3251200" y="6086856"/>
            <a:ext cx="5218176" cy="694944"/>
          </a:xfrm>
          <a:prstGeom prst="rect">
            <a:avLst/>
          </a:prstGeom>
        </p:spPr>
      </p:pic>
      <p:sp>
        <p:nvSpPr>
          <p:cNvPr id="7" name="Rectangle 9"/>
          <p:cNvSpPr>
            <a:spLocks noChangeArrowheads="1"/>
          </p:cNvSpPr>
          <p:nvPr userDrawn="1"/>
        </p:nvSpPr>
        <p:spPr bwMode="auto">
          <a:xfrm>
            <a:off x="0" y="0"/>
            <a:ext cx="12192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endParaRPr lang="en-US" sz="1800"/>
          </a:p>
        </p:txBody>
      </p:sp>
      <p:cxnSp>
        <p:nvCxnSpPr>
          <p:cNvPr id="6" name="Straight Connector 5"/>
          <p:cNvCxnSpPr/>
          <p:nvPr userDrawn="1"/>
        </p:nvCxnSpPr>
        <p:spPr bwMode="auto">
          <a:xfrm>
            <a:off x="0" y="6019800"/>
            <a:ext cx="12192000" cy="0"/>
          </a:xfrm>
          <a:prstGeom prst="line">
            <a:avLst/>
          </a:prstGeom>
          <a:solidFill>
            <a:schemeClr val="accent1"/>
          </a:solidFill>
          <a:ln w="9525" cap="flat" cmpd="sng" algn="ctr">
            <a:solidFill>
              <a:srgbClr val="0066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585326930"/>
      </p:ext>
    </p:extLst>
  </p:cSld>
  <p:clrMap bg1="lt1" tx1="dk1" bg2="lt2" tx2="dk2" accent1="accent1" accent2="accent2" accent3="accent3" accent4="accent4" accent5="accent5" accent6="accent6" hlink="hlink" folHlink="folHlink"/>
  <p:sldLayoutIdLst>
    <p:sldLayoutId id="2147484070" r:id="rId1"/>
    <p:sldLayoutId id="2147484071" r:id="rId2"/>
    <p:sldLayoutId id="2147484072" r:id="rId3"/>
    <p:sldLayoutId id="2147484073" r:id="rId4"/>
  </p:sldLayoutIdLst>
  <p:txStyles>
    <p:titleStyle>
      <a:lvl1pPr algn="ctr" rtl="0" eaLnBrk="0" fontAlgn="base" hangingPunct="0">
        <a:spcBef>
          <a:spcPct val="0"/>
        </a:spcBef>
        <a:spcAft>
          <a:spcPct val="0"/>
        </a:spcAft>
        <a:defRPr sz="4000" b="1" i="0" kern="1200">
          <a:solidFill>
            <a:schemeClr val="tx2"/>
          </a:solidFill>
          <a:latin typeface="Myriad Pro"/>
          <a:ea typeface="+mj-ea"/>
          <a:cs typeface="Myriad Pro"/>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explorevr.org/content/research-projects-explorevr"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hyperlink" Target="https://www.jff.org/what-we-do/impact-stories/center-for-apprenticeship-and-work-based-learning/diversity-equity-and-inclusion-apprenticeship-wbl/" TargetMode="Externa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jpe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sv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3.png"/><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commons.wikimedia.org/wiki/File:South_Dakota_State_Capitol_front_with_clouds.jp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flickr.com/photos/normanbleventhalmapcenter/14147308286" TargetMode="External"/><Relationship Id="rId2" Type="http://schemas.openxmlformats.org/officeDocument/2006/relationships/image" Target="../media/image31.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jpeg"/><Relationship Id="rId2" Type="http://schemas.openxmlformats.org/officeDocument/2006/relationships/notesSlide" Target="../notesSlides/notesSlide6.xml"/><Relationship Id="rId1" Type="http://schemas.openxmlformats.org/officeDocument/2006/relationships/slideLayout" Target="../slideLayouts/slideLayout25.xml"/><Relationship Id="rId6" Type="http://schemas.openxmlformats.org/officeDocument/2006/relationships/image" Target="../media/image40.jpg"/><Relationship Id="rId11" Type="http://schemas.openxmlformats.org/officeDocument/2006/relationships/image" Target="../media/image44.jpeg"/><Relationship Id="rId5" Type="http://schemas.openxmlformats.org/officeDocument/2006/relationships/image" Target="../media/image39.png"/><Relationship Id="rId10" Type="http://schemas.openxmlformats.org/officeDocument/2006/relationships/image" Target="../media/image4.png"/><Relationship Id="rId4" Type="http://schemas.openxmlformats.org/officeDocument/2006/relationships/image" Target="../media/image38.png"/><Relationship Id="rId9"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7.jpeg"/></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explorevr.org/toolkits/apprenticeships-toolkit" TargetMode="External"/><Relationship Id="rId2" Type="http://schemas.openxmlformats.org/officeDocument/2006/relationships/notesSlide" Target="../notesSlides/notesSlide7.xml"/><Relationship Id="rId1" Type="http://schemas.openxmlformats.org/officeDocument/2006/relationships/slideLayout" Target="../slideLayouts/slideLayout46.xml"/><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1">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13">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97CB840-3FC5-9B47-919A-AB5D8B6C7BBC}"/>
              </a:ext>
            </a:extLst>
          </p:cNvPr>
          <p:cNvSpPr>
            <a:spLocks noGrp="1"/>
          </p:cNvSpPr>
          <p:nvPr>
            <p:ph type="subTitle" idx="1"/>
          </p:nvPr>
        </p:nvSpPr>
        <p:spPr>
          <a:xfrm>
            <a:off x="793980" y="4466472"/>
            <a:ext cx="9910295" cy="1548632"/>
          </a:xfrm>
        </p:spPr>
        <p:txBody>
          <a:bodyPr anchor="b">
            <a:noAutofit/>
          </a:bodyPr>
          <a:lstStyle/>
          <a:p>
            <a:pPr algn="l">
              <a:lnSpc>
                <a:spcPct val="120000"/>
              </a:lnSpc>
              <a:spcBef>
                <a:spcPts val="0"/>
              </a:spcBef>
            </a:pPr>
            <a:r>
              <a:rPr lang="en-US" sz="2000" b="1" dirty="0"/>
              <a:t>David Hoff</a:t>
            </a:r>
            <a:br>
              <a:rPr lang="en-US" sz="2000" dirty="0"/>
            </a:br>
            <a:r>
              <a:rPr lang="en-US" sz="2000" dirty="0"/>
              <a:t>Institute for Community Inclusion, UMass Boston</a:t>
            </a:r>
            <a:br>
              <a:rPr lang="en-US" sz="2000" dirty="0"/>
            </a:br>
            <a:r>
              <a:rPr lang="en-US" sz="2000" dirty="0" err="1"/>
              <a:t>david.hoff@umb.edu</a:t>
            </a:r>
            <a:endParaRPr lang="en-US" sz="2000" dirty="0"/>
          </a:p>
          <a:p>
            <a:pPr algn="l">
              <a:lnSpc>
                <a:spcPct val="120000"/>
              </a:lnSpc>
              <a:spcBef>
                <a:spcPts val="0"/>
              </a:spcBef>
            </a:pPr>
            <a:r>
              <a:rPr lang="en-US" sz="2000" dirty="0"/>
              <a:t>617-480-9230</a:t>
            </a:r>
          </a:p>
          <a:p>
            <a:pPr algn="l">
              <a:lnSpc>
                <a:spcPct val="120000"/>
              </a:lnSpc>
              <a:spcBef>
                <a:spcPts val="0"/>
              </a:spcBef>
            </a:pPr>
            <a:r>
              <a:rPr lang="en-US" sz="2000" b="1" dirty="0" err="1"/>
              <a:t>www.communityinclusion.org</a:t>
            </a:r>
            <a:endParaRPr lang="en-US" sz="2000" b="1" dirty="0"/>
          </a:p>
          <a:p>
            <a:pPr algn="l">
              <a:lnSpc>
                <a:spcPct val="120000"/>
              </a:lnSpc>
            </a:pPr>
            <a:endParaRPr lang="en-US" dirty="0"/>
          </a:p>
        </p:txBody>
      </p:sp>
      <p:sp>
        <p:nvSpPr>
          <p:cNvPr id="2" name="Title 1">
            <a:extLst>
              <a:ext uri="{FF2B5EF4-FFF2-40B4-BE49-F238E27FC236}">
                <a16:creationId xmlns:a16="http://schemas.microsoft.com/office/drawing/2014/main" id="{E5F3D1BD-4352-B842-BC2C-0CDE71D276D4}"/>
              </a:ext>
            </a:extLst>
          </p:cNvPr>
          <p:cNvSpPr>
            <a:spLocks noGrp="1"/>
          </p:cNvSpPr>
          <p:nvPr>
            <p:ph type="ctrTitle"/>
          </p:nvPr>
        </p:nvSpPr>
        <p:spPr>
          <a:xfrm>
            <a:off x="849149" y="1355834"/>
            <a:ext cx="9910296" cy="2090433"/>
          </a:xfrm>
        </p:spPr>
        <p:txBody>
          <a:bodyPr anchor="t">
            <a:normAutofit fontScale="90000"/>
          </a:bodyPr>
          <a:lstStyle/>
          <a:p>
            <a:pPr algn="l"/>
            <a:r>
              <a:rPr lang="en-US" sz="6700" b="1" i="1" dirty="0"/>
              <a:t>Expanding Apprenticeships for People with Disabilities</a:t>
            </a:r>
            <a:br>
              <a:rPr lang="en-US" sz="8000" b="1" i="1" dirty="0"/>
            </a:br>
            <a:endParaRPr lang="en-US" sz="8000" b="1" i="1" dirty="0"/>
          </a:p>
        </p:txBody>
      </p:sp>
      <p:sp>
        <p:nvSpPr>
          <p:cNvPr id="11" name="Rectangle 15">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Institute for Community Inclusion Logo = Employment, Education, Community Life, Healthcare">
            <a:extLst>
              <a:ext uri="{FF2B5EF4-FFF2-40B4-BE49-F238E27FC236}">
                <a16:creationId xmlns:a16="http://schemas.microsoft.com/office/drawing/2014/main" id="{E55CB00E-1CB4-1349-B246-48067FB915E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145663" y="3868805"/>
            <a:ext cx="1578200" cy="1506926"/>
          </a:xfrm>
          <a:prstGeom prst="rect">
            <a:avLst/>
          </a:prstGeom>
        </p:spPr>
      </p:pic>
      <p:sp>
        <p:nvSpPr>
          <p:cNvPr id="4" name="Slide Number Placeholder 3">
            <a:extLst>
              <a:ext uri="{FF2B5EF4-FFF2-40B4-BE49-F238E27FC236}">
                <a16:creationId xmlns:a16="http://schemas.microsoft.com/office/drawing/2014/main" id="{37D02FE7-24B1-844C-9689-1B7A67008066}"/>
              </a:ext>
            </a:extLst>
          </p:cNvPr>
          <p:cNvSpPr>
            <a:spLocks noGrp="1"/>
          </p:cNvSpPr>
          <p:nvPr>
            <p:ph type="sldNum" sz="quarter" idx="12"/>
          </p:nvPr>
        </p:nvSpPr>
        <p:spPr/>
        <p:txBody>
          <a:bodyPr/>
          <a:lstStyle/>
          <a:p>
            <a:fld id="{98DEB4AB-D614-0E48-BC82-3517EAEB4A4F}" type="slidenum">
              <a:rPr lang="en-US" smtClean="0"/>
              <a:t>1</a:t>
            </a:fld>
            <a:endParaRPr lang="en-US"/>
          </a:p>
        </p:txBody>
      </p:sp>
    </p:spTree>
    <p:extLst>
      <p:ext uri="{BB962C8B-B14F-4D97-AF65-F5344CB8AC3E}">
        <p14:creationId xmlns:p14="http://schemas.microsoft.com/office/powerpoint/2010/main" val="5470991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9AA03935-A845-F443-B40C-2172825C57B2}"/>
              </a:ext>
            </a:extLst>
          </p:cNvPr>
          <p:cNvSpPr>
            <a:spLocks noGrp="1"/>
          </p:cNvSpPr>
          <p:nvPr>
            <p:ph type="title"/>
          </p:nvPr>
        </p:nvSpPr>
        <p:spPr>
          <a:xfrm>
            <a:off x="962127" y="800392"/>
            <a:ext cx="10264697" cy="1212102"/>
          </a:xfrm>
        </p:spPr>
        <p:txBody>
          <a:bodyPr>
            <a:normAutofit/>
          </a:bodyPr>
          <a:lstStyle/>
          <a:p>
            <a:pPr algn="ctr"/>
            <a:r>
              <a:rPr lang="en-US" sz="6000" b="1" i="1" dirty="0">
                <a:solidFill>
                  <a:srgbClr val="FFFFFF"/>
                </a:solidFill>
              </a:rPr>
              <a:t>Handout</a:t>
            </a:r>
            <a:endParaRPr lang="en-US" sz="2700" b="1" dirty="0">
              <a:solidFill>
                <a:schemeClr val="bg1"/>
              </a:solidFill>
            </a:endParaRPr>
          </a:p>
        </p:txBody>
      </p:sp>
      <p:sp>
        <p:nvSpPr>
          <p:cNvPr id="3" name="Content Placeholder 2">
            <a:extLst>
              <a:ext uri="{FF2B5EF4-FFF2-40B4-BE49-F238E27FC236}">
                <a16:creationId xmlns:a16="http://schemas.microsoft.com/office/drawing/2014/main" id="{A804BDEA-0B21-7E40-8963-08322ED4E3AB}"/>
              </a:ext>
            </a:extLst>
          </p:cNvPr>
          <p:cNvSpPr>
            <a:spLocks noGrp="1"/>
          </p:cNvSpPr>
          <p:nvPr>
            <p:ph idx="1"/>
          </p:nvPr>
        </p:nvSpPr>
        <p:spPr>
          <a:xfrm>
            <a:off x="1219038" y="2354089"/>
            <a:ext cx="5231426" cy="3679110"/>
          </a:xfrm>
        </p:spPr>
        <p:txBody>
          <a:bodyPr anchor="ctr">
            <a:noAutofit/>
          </a:bodyPr>
          <a:lstStyle/>
          <a:p>
            <a:r>
              <a:rPr lang="en-US" sz="4800" i="1" dirty="0"/>
              <a:t>Presentation Outline</a:t>
            </a:r>
            <a:br>
              <a:rPr lang="en-US" dirty="0"/>
            </a:br>
            <a:endParaRPr lang="en-US" dirty="0"/>
          </a:p>
        </p:txBody>
      </p:sp>
      <p:sp>
        <p:nvSpPr>
          <p:cNvPr id="4" name="Slide Number Placeholder 3">
            <a:extLst>
              <a:ext uri="{FF2B5EF4-FFF2-40B4-BE49-F238E27FC236}">
                <a16:creationId xmlns:a16="http://schemas.microsoft.com/office/drawing/2014/main" id="{CC037564-D4A8-C14A-86CB-4D46FDBABFD4}"/>
              </a:ext>
            </a:extLst>
          </p:cNvPr>
          <p:cNvSpPr>
            <a:spLocks noGrp="1"/>
          </p:cNvSpPr>
          <p:nvPr>
            <p:ph type="sldNum" sz="quarter" idx="12"/>
          </p:nvPr>
        </p:nvSpPr>
        <p:spPr/>
        <p:txBody>
          <a:bodyPr/>
          <a:lstStyle/>
          <a:p>
            <a:fld id="{98DEB4AB-D614-0E48-BC82-3517EAEB4A4F}" type="slidenum">
              <a:rPr lang="en-US" smtClean="0"/>
              <a:t>2</a:t>
            </a:fld>
            <a:endParaRPr lang="en-US"/>
          </a:p>
        </p:txBody>
      </p:sp>
      <p:pic>
        <p:nvPicPr>
          <p:cNvPr id="9" name="Picture 8">
            <a:extLst>
              <a:ext uri="{FF2B5EF4-FFF2-40B4-BE49-F238E27FC236}">
                <a16:creationId xmlns:a16="http://schemas.microsoft.com/office/drawing/2014/main" id="{13D3AF58-3BF2-2842-A45D-884F8BB310F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81424" y="2462427"/>
            <a:ext cx="3176155" cy="4110318"/>
          </a:xfrm>
          <a:prstGeom prst="rect">
            <a:avLst/>
          </a:prstGeom>
          <a:ln>
            <a:solidFill>
              <a:schemeClr val="accent1"/>
            </a:solidFill>
          </a:ln>
        </p:spPr>
      </p:pic>
    </p:spTree>
    <p:extLst>
      <p:ext uri="{BB962C8B-B14F-4D97-AF65-F5344CB8AC3E}">
        <p14:creationId xmlns:p14="http://schemas.microsoft.com/office/powerpoint/2010/main" val="35432718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825AC39-5F85-4CAA-8A81-A1287086B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95DA4D23-37FC-4B90-8188-F0377C5F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4417162" cy="6858000"/>
          </a:xfrm>
          <a:custGeom>
            <a:avLst/>
            <a:gdLst>
              <a:gd name="connsiteX0" fmla="*/ 0 w 4417162"/>
              <a:gd name="connsiteY0" fmla="*/ 0 h 6858000"/>
              <a:gd name="connsiteX1" fmla="*/ 144378 w 4417162"/>
              <a:gd name="connsiteY1" fmla="*/ 0 h 6858000"/>
              <a:gd name="connsiteX2" fmla="*/ 2310062 w 4417162"/>
              <a:gd name="connsiteY2" fmla="*/ 0 h 6858000"/>
              <a:gd name="connsiteX3" fmla="*/ 4227367 w 4417162"/>
              <a:gd name="connsiteY3" fmla="*/ 0 h 6858000"/>
              <a:gd name="connsiteX4" fmla="*/ 4232407 w 4417162"/>
              <a:gd name="connsiteY4" fmla="*/ 66675 h 6858000"/>
              <a:gd name="connsiteX5" fmla="*/ 4240804 w 4417162"/>
              <a:gd name="connsiteY5" fmla="*/ 122237 h 6858000"/>
              <a:gd name="connsiteX6" fmla="*/ 4250882 w 4417162"/>
              <a:gd name="connsiteY6" fmla="*/ 174625 h 6858000"/>
              <a:gd name="connsiteX7" fmla="*/ 4267678 w 4417162"/>
              <a:gd name="connsiteY7" fmla="*/ 217487 h 6858000"/>
              <a:gd name="connsiteX8" fmla="*/ 4284474 w 4417162"/>
              <a:gd name="connsiteY8" fmla="*/ 260350 h 6858000"/>
              <a:gd name="connsiteX9" fmla="*/ 4304629 w 4417162"/>
              <a:gd name="connsiteY9" fmla="*/ 296862 h 6858000"/>
              <a:gd name="connsiteX10" fmla="*/ 4324784 w 4417162"/>
              <a:gd name="connsiteY10" fmla="*/ 334962 h 6858000"/>
              <a:gd name="connsiteX11" fmla="*/ 4343260 w 4417162"/>
              <a:gd name="connsiteY11" fmla="*/ 369887 h 6858000"/>
              <a:gd name="connsiteX12" fmla="*/ 4361735 w 4417162"/>
              <a:gd name="connsiteY12" fmla="*/ 409575 h 6858000"/>
              <a:gd name="connsiteX13" fmla="*/ 4378531 w 4417162"/>
              <a:gd name="connsiteY13" fmla="*/ 450850 h 6858000"/>
              <a:gd name="connsiteX14" fmla="*/ 4393648 w 4417162"/>
              <a:gd name="connsiteY14" fmla="*/ 496887 h 6858000"/>
              <a:gd name="connsiteX15" fmla="*/ 4405405 w 4417162"/>
              <a:gd name="connsiteY15" fmla="*/ 546100 h 6858000"/>
              <a:gd name="connsiteX16" fmla="*/ 4413803 w 4417162"/>
              <a:gd name="connsiteY16" fmla="*/ 606425 h 6858000"/>
              <a:gd name="connsiteX17" fmla="*/ 4417162 w 4417162"/>
              <a:gd name="connsiteY17" fmla="*/ 673100 h 6858000"/>
              <a:gd name="connsiteX18" fmla="*/ 4413803 w 4417162"/>
              <a:gd name="connsiteY18" fmla="*/ 744537 h 6858000"/>
              <a:gd name="connsiteX19" fmla="*/ 4405405 w 4417162"/>
              <a:gd name="connsiteY19" fmla="*/ 801687 h 6858000"/>
              <a:gd name="connsiteX20" fmla="*/ 4393648 w 4417162"/>
              <a:gd name="connsiteY20" fmla="*/ 854075 h 6858000"/>
              <a:gd name="connsiteX21" fmla="*/ 4378531 w 4417162"/>
              <a:gd name="connsiteY21" fmla="*/ 901700 h 6858000"/>
              <a:gd name="connsiteX22" fmla="*/ 4361735 w 4417162"/>
              <a:gd name="connsiteY22" fmla="*/ 942975 h 6858000"/>
              <a:gd name="connsiteX23" fmla="*/ 4341580 w 4417162"/>
              <a:gd name="connsiteY23" fmla="*/ 981075 h 6858000"/>
              <a:gd name="connsiteX24" fmla="*/ 4321425 w 4417162"/>
              <a:gd name="connsiteY24" fmla="*/ 1017587 h 6858000"/>
              <a:gd name="connsiteX25" fmla="*/ 4301270 w 4417162"/>
              <a:gd name="connsiteY25" fmla="*/ 1055687 h 6858000"/>
              <a:gd name="connsiteX26" fmla="*/ 4282794 w 4417162"/>
              <a:gd name="connsiteY26" fmla="*/ 1095375 h 6858000"/>
              <a:gd name="connsiteX27" fmla="*/ 4264318 w 4417162"/>
              <a:gd name="connsiteY27" fmla="*/ 1136650 h 6858000"/>
              <a:gd name="connsiteX28" fmla="*/ 4249203 w 4417162"/>
              <a:gd name="connsiteY28" fmla="*/ 1182687 h 6858000"/>
              <a:gd name="connsiteX29" fmla="*/ 4239125 w 4417162"/>
              <a:gd name="connsiteY29" fmla="*/ 1235075 h 6858000"/>
              <a:gd name="connsiteX30" fmla="*/ 4229047 w 4417162"/>
              <a:gd name="connsiteY30" fmla="*/ 1295400 h 6858000"/>
              <a:gd name="connsiteX31" fmla="*/ 4227367 w 4417162"/>
              <a:gd name="connsiteY31" fmla="*/ 1363662 h 6858000"/>
              <a:gd name="connsiteX32" fmla="*/ 4229047 w 4417162"/>
              <a:gd name="connsiteY32" fmla="*/ 1431925 h 6858000"/>
              <a:gd name="connsiteX33" fmla="*/ 4239125 w 4417162"/>
              <a:gd name="connsiteY33" fmla="*/ 1492250 h 6858000"/>
              <a:gd name="connsiteX34" fmla="*/ 4249203 w 4417162"/>
              <a:gd name="connsiteY34" fmla="*/ 1544637 h 6858000"/>
              <a:gd name="connsiteX35" fmla="*/ 4264318 w 4417162"/>
              <a:gd name="connsiteY35" fmla="*/ 1589087 h 6858000"/>
              <a:gd name="connsiteX36" fmla="*/ 4282794 w 4417162"/>
              <a:gd name="connsiteY36" fmla="*/ 1631950 h 6858000"/>
              <a:gd name="connsiteX37" fmla="*/ 4301270 w 4417162"/>
              <a:gd name="connsiteY37" fmla="*/ 1671637 h 6858000"/>
              <a:gd name="connsiteX38" fmla="*/ 4321425 w 4417162"/>
              <a:gd name="connsiteY38" fmla="*/ 1708150 h 6858000"/>
              <a:gd name="connsiteX39" fmla="*/ 4341580 w 4417162"/>
              <a:gd name="connsiteY39" fmla="*/ 1743075 h 6858000"/>
              <a:gd name="connsiteX40" fmla="*/ 4361735 w 4417162"/>
              <a:gd name="connsiteY40" fmla="*/ 1782762 h 6858000"/>
              <a:gd name="connsiteX41" fmla="*/ 4378531 w 4417162"/>
              <a:gd name="connsiteY41" fmla="*/ 1824037 h 6858000"/>
              <a:gd name="connsiteX42" fmla="*/ 4393648 w 4417162"/>
              <a:gd name="connsiteY42" fmla="*/ 1870075 h 6858000"/>
              <a:gd name="connsiteX43" fmla="*/ 4405405 w 4417162"/>
              <a:gd name="connsiteY43" fmla="*/ 1922462 h 6858000"/>
              <a:gd name="connsiteX44" fmla="*/ 4413803 w 4417162"/>
              <a:gd name="connsiteY44" fmla="*/ 1982787 h 6858000"/>
              <a:gd name="connsiteX45" fmla="*/ 4417162 w 4417162"/>
              <a:gd name="connsiteY45" fmla="*/ 2051050 h 6858000"/>
              <a:gd name="connsiteX46" fmla="*/ 4413803 w 4417162"/>
              <a:gd name="connsiteY46" fmla="*/ 2119312 h 6858000"/>
              <a:gd name="connsiteX47" fmla="*/ 4405405 w 4417162"/>
              <a:gd name="connsiteY47" fmla="*/ 2179637 h 6858000"/>
              <a:gd name="connsiteX48" fmla="*/ 4393648 w 4417162"/>
              <a:gd name="connsiteY48" fmla="*/ 2232025 h 6858000"/>
              <a:gd name="connsiteX49" fmla="*/ 4378531 w 4417162"/>
              <a:gd name="connsiteY49" fmla="*/ 2278062 h 6858000"/>
              <a:gd name="connsiteX50" fmla="*/ 4361735 w 4417162"/>
              <a:gd name="connsiteY50" fmla="*/ 2319337 h 6858000"/>
              <a:gd name="connsiteX51" fmla="*/ 4341580 w 4417162"/>
              <a:gd name="connsiteY51" fmla="*/ 2359025 h 6858000"/>
              <a:gd name="connsiteX52" fmla="*/ 4321425 w 4417162"/>
              <a:gd name="connsiteY52" fmla="*/ 2395537 h 6858000"/>
              <a:gd name="connsiteX53" fmla="*/ 4301270 w 4417162"/>
              <a:gd name="connsiteY53" fmla="*/ 2433637 h 6858000"/>
              <a:gd name="connsiteX54" fmla="*/ 4282794 w 4417162"/>
              <a:gd name="connsiteY54" fmla="*/ 2471737 h 6858000"/>
              <a:gd name="connsiteX55" fmla="*/ 4264318 w 4417162"/>
              <a:gd name="connsiteY55" fmla="*/ 2513012 h 6858000"/>
              <a:gd name="connsiteX56" fmla="*/ 4249203 w 4417162"/>
              <a:gd name="connsiteY56" fmla="*/ 2560637 h 6858000"/>
              <a:gd name="connsiteX57" fmla="*/ 4239125 w 4417162"/>
              <a:gd name="connsiteY57" fmla="*/ 2613025 h 6858000"/>
              <a:gd name="connsiteX58" fmla="*/ 4229047 w 4417162"/>
              <a:gd name="connsiteY58" fmla="*/ 2671762 h 6858000"/>
              <a:gd name="connsiteX59" fmla="*/ 4227367 w 4417162"/>
              <a:gd name="connsiteY59" fmla="*/ 2741612 h 6858000"/>
              <a:gd name="connsiteX60" fmla="*/ 4229047 w 4417162"/>
              <a:gd name="connsiteY60" fmla="*/ 2809875 h 6858000"/>
              <a:gd name="connsiteX61" fmla="*/ 4239125 w 4417162"/>
              <a:gd name="connsiteY61" fmla="*/ 2868612 h 6858000"/>
              <a:gd name="connsiteX62" fmla="*/ 4249203 w 4417162"/>
              <a:gd name="connsiteY62" fmla="*/ 2922587 h 6858000"/>
              <a:gd name="connsiteX63" fmla="*/ 4264318 w 4417162"/>
              <a:gd name="connsiteY63" fmla="*/ 2967037 h 6858000"/>
              <a:gd name="connsiteX64" fmla="*/ 4282794 w 4417162"/>
              <a:gd name="connsiteY64" fmla="*/ 3009900 h 6858000"/>
              <a:gd name="connsiteX65" fmla="*/ 4301270 w 4417162"/>
              <a:gd name="connsiteY65" fmla="*/ 3046412 h 6858000"/>
              <a:gd name="connsiteX66" fmla="*/ 4321425 w 4417162"/>
              <a:gd name="connsiteY66" fmla="*/ 3084512 h 6858000"/>
              <a:gd name="connsiteX67" fmla="*/ 4341580 w 4417162"/>
              <a:gd name="connsiteY67" fmla="*/ 3121025 h 6858000"/>
              <a:gd name="connsiteX68" fmla="*/ 4361735 w 4417162"/>
              <a:gd name="connsiteY68" fmla="*/ 3160712 h 6858000"/>
              <a:gd name="connsiteX69" fmla="*/ 4378531 w 4417162"/>
              <a:gd name="connsiteY69" fmla="*/ 3201987 h 6858000"/>
              <a:gd name="connsiteX70" fmla="*/ 4393648 w 4417162"/>
              <a:gd name="connsiteY70" fmla="*/ 3248025 h 6858000"/>
              <a:gd name="connsiteX71" fmla="*/ 4405405 w 4417162"/>
              <a:gd name="connsiteY71" fmla="*/ 3300412 h 6858000"/>
              <a:gd name="connsiteX72" fmla="*/ 4413803 w 4417162"/>
              <a:gd name="connsiteY72" fmla="*/ 3360737 h 6858000"/>
              <a:gd name="connsiteX73" fmla="*/ 4417162 w 4417162"/>
              <a:gd name="connsiteY73" fmla="*/ 3427412 h 6858000"/>
              <a:gd name="connsiteX74" fmla="*/ 4413803 w 4417162"/>
              <a:gd name="connsiteY74" fmla="*/ 3497262 h 6858000"/>
              <a:gd name="connsiteX75" fmla="*/ 4405405 w 4417162"/>
              <a:gd name="connsiteY75" fmla="*/ 3557587 h 6858000"/>
              <a:gd name="connsiteX76" fmla="*/ 4393648 w 4417162"/>
              <a:gd name="connsiteY76" fmla="*/ 3609975 h 6858000"/>
              <a:gd name="connsiteX77" fmla="*/ 4378531 w 4417162"/>
              <a:gd name="connsiteY77" fmla="*/ 3656012 h 6858000"/>
              <a:gd name="connsiteX78" fmla="*/ 4361735 w 4417162"/>
              <a:gd name="connsiteY78" fmla="*/ 3697287 h 6858000"/>
              <a:gd name="connsiteX79" fmla="*/ 4341580 w 4417162"/>
              <a:gd name="connsiteY79" fmla="*/ 3736975 h 6858000"/>
              <a:gd name="connsiteX80" fmla="*/ 4301270 w 4417162"/>
              <a:gd name="connsiteY80" fmla="*/ 3811587 h 6858000"/>
              <a:gd name="connsiteX81" fmla="*/ 4282794 w 4417162"/>
              <a:gd name="connsiteY81" fmla="*/ 3848100 h 6858000"/>
              <a:gd name="connsiteX82" fmla="*/ 4264318 w 4417162"/>
              <a:gd name="connsiteY82" fmla="*/ 3890962 h 6858000"/>
              <a:gd name="connsiteX83" fmla="*/ 4249203 w 4417162"/>
              <a:gd name="connsiteY83" fmla="*/ 3935412 h 6858000"/>
              <a:gd name="connsiteX84" fmla="*/ 4239125 w 4417162"/>
              <a:gd name="connsiteY84" fmla="*/ 3987800 h 6858000"/>
              <a:gd name="connsiteX85" fmla="*/ 4229047 w 4417162"/>
              <a:gd name="connsiteY85" fmla="*/ 4048125 h 6858000"/>
              <a:gd name="connsiteX86" fmla="*/ 4227367 w 4417162"/>
              <a:gd name="connsiteY86" fmla="*/ 4116387 h 6858000"/>
              <a:gd name="connsiteX87" fmla="*/ 4229047 w 4417162"/>
              <a:gd name="connsiteY87" fmla="*/ 4186237 h 6858000"/>
              <a:gd name="connsiteX88" fmla="*/ 4239125 w 4417162"/>
              <a:gd name="connsiteY88" fmla="*/ 4244975 h 6858000"/>
              <a:gd name="connsiteX89" fmla="*/ 4249203 w 4417162"/>
              <a:gd name="connsiteY89" fmla="*/ 4297362 h 6858000"/>
              <a:gd name="connsiteX90" fmla="*/ 4264318 w 4417162"/>
              <a:gd name="connsiteY90" fmla="*/ 4343400 h 6858000"/>
              <a:gd name="connsiteX91" fmla="*/ 4282794 w 4417162"/>
              <a:gd name="connsiteY91" fmla="*/ 4386262 h 6858000"/>
              <a:gd name="connsiteX92" fmla="*/ 4301270 w 4417162"/>
              <a:gd name="connsiteY92" fmla="*/ 4424362 h 6858000"/>
              <a:gd name="connsiteX93" fmla="*/ 4341580 w 4417162"/>
              <a:gd name="connsiteY93" fmla="*/ 4498975 h 6858000"/>
              <a:gd name="connsiteX94" fmla="*/ 4361735 w 4417162"/>
              <a:gd name="connsiteY94" fmla="*/ 4537075 h 6858000"/>
              <a:gd name="connsiteX95" fmla="*/ 4378531 w 4417162"/>
              <a:gd name="connsiteY95" fmla="*/ 4579937 h 6858000"/>
              <a:gd name="connsiteX96" fmla="*/ 4393648 w 4417162"/>
              <a:gd name="connsiteY96" fmla="*/ 4625975 h 6858000"/>
              <a:gd name="connsiteX97" fmla="*/ 4405405 w 4417162"/>
              <a:gd name="connsiteY97" fmla="*/ 4678362 h 6858000"/>
              <a:gd name="connsiteX98" fmla="*/ 4413803 w 4417162"/>
              <a:gd name="connsiteY98" fmla="*/ 4738687 h 6858000"/>
              <a:gd name="connsiteX99" fmla="*/ 4417162 w 4417162"/>
              <a:gd name="connsiteY99" fmla="*/ 4806950 h 6858000"/>
              <a:gd name="connsiteX100" fmla="*/ 4413803 w 4417162"/>
              <a:gd name="connsiteY100" fmla="*/ 4875212 h 6858000"/>
              <a:gd name="connsiteX101" fmla="*/ 4405405 w 4417162"/>
              <a:gd name="connsiteY101" fmla="*/ 4935537 h 6858000"/>
              <a:gd name="connsiteX102" fmla="*/ 4393648 w 4417162"/>
              <a:gd name="connsiteY102" fmla="*/ 4987925 h 6858000"/>
              <a:gd name="connsiteX103" fmla="*/ 4378531 w 4417162"/>
              <a:gd name="connsiteY103" fmla="*/ 5033962 h 6858000"/>
              <a:gd name="connsiteX104" fmla="*/ 4361735 w 4417162"/>
              <a:gd name="connsiteY104" fmla="*/ 5075237 h 6858000"/>
              <a:gd name="connsiteX105" fmla="*/ 4341580 w 4417162"/>
              <a:gd name="connsiteY105" fmla="*/ 5114925 h 6858000"/>
              <a:gd name="connsiteX106" fmla="*/ 4321425 w 4417162"/>
              <a:gd name="connsiteY106" fmla="*/ 5149850 h 6858000"/>
              <a:gd name="connsiteX107" fmla="*/ 4301270 w 4417162"/>
              <a:gd name="connsiteY107" fmla="*/ 5186362 h 6858000"/>
              <a:gd name="connsiteX108" fmla="*/ 4282794 w 4417162"/>
              <a:gd name="connsiteY108" fmla="*/ 5226050 h 6858000"/>
              <a:gd name="connsiteX109" fmla="*/ 4264318 w 4417162"/>
              <a:gd name="connsiteY109" fmla="*/ 5268912 h 6858000"/>
              <a:gd name="connsiteX110" fmla="*/ 4249203 w 4417162"/>
              <a:gd name="connsiteY110" fmla="*/ 5313362 h 6858000"/>
              <a:gd name="connsiteX111" fmla="*/ 4239125 w 4417162"/>
              <a:gd name="connsiteY111" fmla="*/ 5365750 h 6858000"/>
              <a:gd name="connsiteX112" fmla="*/ 4229047 w 4417162"/>
              <a:gd name="connsiteY112" fmla="*/ 5426075 h 6858000"/>
              <a:gd name="connsiteX113" fmla="*/ 4227367 w 4417162"/>
              <a:gd name="connsiteY113" fmla="*/ 5494337 h 6858000"/>
              <a:gd name="connsiteX114" fmla="*/ 4229047 w 4417162"/>
              <a:gd name="connsiteY114" fmla="*/ 5562600 h 6858000"/>
              <a:gd name="connsiteX115" fmla="*/ 4239125 w 4417162"/>
              <a:gd name="connsiteY115" fmla="*/ 5622925 h 6858000"/>
              <a:gd name="connsiteX116" fmla="*/ 4249203 w 4417162"/>
              <a:gd name="connsiteY116" fmla="*/ 5675312 h 6858000"/>
              <a:gd name="connsiteX117" fmla="*/ 4264318 w 4417162"/>
              <a:gd name="connsiteY117" fmla="*/ 5721350 h 6858000"/>
              <a:gd name="connsiteX118" fmla="*/ 4282794 w 4417162"/>
              <a:gd name="connsiteY118" fmla="*/ 5762625 h 6858000"/>
              <a:gd name="connsiteX119" fmla="*/ 4301270 w 4417162"/>
              <a:gd name="connsiteY119" fmla="*/ 5802312 h 6858000"/>
              <a:gd name="connsiteX120" fmla="*/ 4321425 w 4417162"/>
              <a:gd name="connsiteY120" fmla="*/ 5840412 h 6858000"/>
              <a:gd name="connsiteX121" fmla="*/ 4341580 w 4417162"/>
              <a:gd name="connsiteY121" fmla="*/ 5876925 h 6858000"/>
              <a:gd name="connsiteX122" fmla="*/ 4361735 w 4417162"/>
              <a:gd name="connsiteY122" fmla="*/ 5915025 h 6858000"/>
              <a:gd name="connsiteX123" fmla="*/ 4378531 w 4417162"/>
              <a:gd name="connsiteY123" fmla="*/ 5956300 h 6858000"/>
              <a:gd name="connsiteX124" fmla="*/ 4393648 w 4417162"/>
              <a:gd name="connsiteY124" fmla="*/ 6003925 h 6858000"/>
              <a:gd name="connsiteX125" fmla="*/ 4405405 w 4417162"/>
              <a:gd name="connsiteY125" fmla="*/ 6056312 h 6858000"/>
              <a:gd name="connsiteX126" fmla="*/ 4413803 w 4417162"/>
              <a:gd name="connsiteY126" fmla="*/ 6113462 h 6858000"/>
              <a:gd name="connsiteX127" fmla="*/ 4417162 w 4417162"/>
              <a:gd name="connsiteY127" fmla="*/ 6183312 h 6858000"/>
              <a:gd name="connsiteX128" fmla="*/ 4413803 w 4417162"/>
              <a:gd name="connsiteY128" fmla="*/ 6251575 h 6858000"/>
              <a:gd name="connsiteX129" fmla="*/ 4405405 w 4417162"/>
              <a:gd name="connsiteY129" fmla="*/ 6311900 h 6858000"/>
              <a:gd name="connsiteX130" fmla="*/ 4393648 w 4417162"/>
              <a:gd name="connsiteY130" fmla="*/ 6361112 h 6858000"/>
              <a:gd name="connsiteX131" fmla="*/ 4378531 w 4417162"/>
              <a:gd name="connsiteY131" fmla="*/ 6407150 h 6858000"/>
              <a:gd name="connsiteX132" fmla="*/ 4361735 w 4417162"/>
              <a:gd name="connsiteY132" fmla="*/ 6448425 h 6858000"/>
              <a:gd name="connsiteX133" fmla="*/ 4343260 w 4417162"/>
              <a:gd name="connsiteY133" fmla="*/ 6488112 h 6858000"/>
              <a:gd name="connsiteX134" fmla="*/ 4324784 w 4417162"/>
              <a:gd name="connsiteY134" fmla="*/ 6523037 h 6858000"/>
              <a:gd name="connsiteX135" fmla="*/ 4304629 w 4417162"/>
              <a:gd name="connsiteY135" fmla="*/ 6561137 h 6858000"/>
              <a:gd name="connsiteX136" fmla="*/ 4284474 w 4417162"/>
              <a:gd name="connsiteY136" fmla="*/ 6597650 h 6858000"/>
              <a:gd name="connsiteX137" fmla="*/ 4267678 w 4417162"/>
              <a:gd name="connsiteY137" fmla="*/ 6640512 h 6858000"/>
              <a:gd name="connsiteX138" fmla="*/ 4250882 w 4417162"/>
              <a:gd name="connsiteY138" fmla="*/ 6683375 h 6858000"/>
              <a:gd name="connsiteX139" fmla="*/ 4240804 w 4417162"/>
              <a:gd name="connsiteY139" fmla="*/ 6735762 h 6858000"/>
              <a:gd name="connsiteX140" fmla="*/ 4232407 w 4417162"/>
              <a:gd name="connsiteY140" fmla="*/ 6791325 h 6858000"/>
              <a:gd name="connsiteX141" fmla="*/ 4227367 w 4417162"/>
              <a:gd name="connsiteY141" fmla="*/ 6858000 h 6858000"/>
              <a:gd name="connsiteX142" fmla="*/ 2310062 w 4417162"/>
              <a:gd name="connsiteY142" fmla="*/ 6858000 h 6858000"/>
              <a:gd name="connsiteX143" fmla="*/ 144378 w 4417162"/>
              <a:gd name="connsiteY143" fmla="*/ 6858000 h 6858000"/>
              <a:gd name="connsiteX144" fmla="*/ 0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0" y="0"/>
                </a:moveTo>
                <a:lnTo>
                  <a:pt x="144378" y="0"/>
                </a:lnTo>
                <a:lnTo>
                  <a:pt x="2310062" y="0"/>
                </a:lnTo>
                <a:lnTo>
                  <a:pt x="4227367" y="0"/>
                </a:lnTo>
                <a:lnTo>
                  <a:pt x="4232407" y="66675"/>
                </a:lnTo>
                <a:lnTo>
                  <a:pt x="4240804" y="122237"/>
                </a:lnTo>
                <a:lnTo>
                  <a:pt x="4250882" y="174625"/>
                </a:lnTo>
                <a:lnTo>
                  <a:pt x="4267678" y="217487"/>
                </a:lnTo>
                <a:lnTo>
                  <a:pt x="4284474" y="260350"/>
                </a:lnTo>
                <a:lnTo>
                  <a:pt x="4304629" y="296862"/>
                </a:lnTo>
                <a:lnTo>
                  <a:pt x="4324784" y="334962"/>
                </a:lnTo>
                <a:lnTo>
                  <a:pt x="4343260" y="369887"/>
                </a:lnTo>
                <a:lnTo>
                  <a:pt x="4361735" y="409575"/>
                </a:lnTo>
                <a:lnTo>
                  <a:pt x="4378531" y="450850"/>
                </a:lnTo>
                <a:lnTo>
                  <a:pt x="4393648" y="496887"/>
                </a:lnTo>
                <a:lnTo>
                  <a:pt x="4405405" y="546100"/>
                </a:lnTo>
                <a:lnTo>
                  <a:pt x="4413803" y="606425"/>
                </a:lnTo>
                <a:lnTo>
                  <a:pt x="4417162" y="673100"/>
                </a:lnTo>
                <a:lnTo>
                  <a:pt x="4413803" y="744537"/>
                </a:lnTo>
                <a:lnTo>
                  <a:pt x="4405405" y="801687"/>
                </a:lnTo>
                <a:lnTo>
                  <a:pt x="4393648" y="854075"/>
                </a:lnTo>
                <a:lnTo>
                  <a:pt x="4378531" y="901700"/>
                </a:lnTo>
                <a:lnTo>
                  <a:pt x="4361735" y="942975"/>
                </a:lnTo>
                <a:lnTo>
                  <a:pt x="4341580" y="981075"/>
                </a:lnTo>
                <a:lnTo>
                  <a:pt x="4321425" y="1017587"/>
                </a:lnTo>
                <a:lnTo>
                  <a:pt x="4301270" y="1055687"/>
                </a:lnTo>
                <a:lnTo>
                  <a:pt x="4282794" y="1095375"/>
                </a:lnTo>
                <a:lnTo>
                  <a:pt x="4264318" y="1136650"/>
                </a:lnTo>
                <a:lnTo>
                  <a:pt x="4249203" y="1182687"/>
                </a:lnTo>
                <a:lnTo>
                  <a:pt x="4239125" y="1235075"/>
                </a:lnTo>
                <a:lnTo>
                  <a:pt x="4229047" y="1295400"/>
                </a:lnTo>
                <a:lnTo>
                  <a:pt x="4227367" y="1363662"/>
                </a:lnTo>
                <a:lnTo>
                  <a:pt x="4229047" y="1431925"/>
                </a:lnTo>
                <a:lnTo>
                  <a:pt x="4239125" y="1492250"/>
                </a:lnTo>
                <a:lnTo>
                  <a:pt x="4249203" y="1544637"/>
                </a:lnTo>
                <a:lnTo>
                  <a:pt x="4264318" y="1589087"/>
                </a:lnTo>
                <a:lnTo>
                  <a:pt x="4282794" y="1631950"/>
                </a:lnTo>
                <a:lnTo>
                  <a:pt x="4301270" y="1671637"/>
                </a:lnTo>
                <a:lnTo>
                  <a:pt x="4321425" y="1708150"/>
                </a:lnTo>
                <a:lnTo>
                  <a:pt x="4341580" y="1743075"/>
                </a:lnTo>
                <a:lnTo>
                  <a:pt x="4361735" y="1782762"/>
                </a:lnTo>
                <a:lnTo>
                  <a:pt x="4378531" y="1824037"/>
                </a:lnTo>
                <a:lnTo>
                  <a:pt x="4393648" y="1870075"/>
                </a:lnTo>
                <a:lnTo>
                  <a:pt x="4405405" y="1922462"/>
                </a:lnTo>
                <a:lnTo>
                  <a:pt x="4413803" y="1982787"/>
                </a:lnTo>
                <a:lnTo>
                  <a:pt x="4417162" y="2051050"/>
                </a:lnTo>
                <a:lnTo>
                  <a:pt x="4413803" y="2119312"/>
                </a:lnTo>
                <a:lnTo>
                  <a:pt x="4405405" y="2179637"/>
                </a:lnTo>
                <a:lnTo>
                  <a:pt x="4393648" y="2232025"/>
                </a:lnTo>
                <a:lnTo>
                  <a:pt x="4378531" y="2278062"/>
                </a:lnTo>
                <a:lnTo>
                  <a:pt x="4361735" y="2319337"/>
                </a:lnTo>
                <a:lnTo>
                  <a:pt x="4341580" y="2359025"/>
                </a:lnTo>
                <a:lnTo>
                  <a:pt x="4321425" y="2395537"/>
                </a:lnTo>
                <a:lnTo>
                  <a:pt x="4301270" y="2433637"/>
                </a:lnTo>
                <a:lnTo>
                  <a:pt x="4282794" y="2471737"/>
                </a:lnTo>
                <a:lnTo>
                  <a:pt x="4264318" y="2513012"/>
                </a:lnTo>
                <a:lnTo>
                  <a:pt x="4249203" y="2560637"/>
                </a:lnTo>
                <a:lnTo>
                  <a:pt x="4239125" y="2613025"/>
                </a:lnTo>
                <a:lnTo>
                  <a:pt x="4229047" y="2671762"/>
                </a:lnTo>
                <a:lnTo>
                  <a:pt x="4227367" y="2741612"/>
                </a:lnTo>
                <a:lnTo>
                  <a:pt x="4229047" y="2809875"/>
                </a:lnTo>
                <a:lnTo>
                  <a:pt x="4239125" y="2868612"/>
                </a:lnTo>
                <a:lnTo>
                  <a:pt x="4249203" y="2922587"/>
                </a:lnTo>
                <a:lnTo>
                  <a:pt x="4264318" y="2967037"/>
                </a:lnTo>
                <a:lnTo>
                  <a:pt x="4282794" y="3009900"/>
                </a:lnTo>
                <a:lnTo>
                  <a:pt x="4301270" y="3046412"/>
                </a:lnTo>
                <a:lnTo>
                  <a:pt x="4321425" y="3084512"/>
                </a:lnTo>
                <a:lnTo>
                  <a:pt x="4341580" y="3121025"/>
                </a:lnTo>
                <a:lnTo>
                  <a:pt x="4361735" y="3160712"/>
                </a:lnTo>
                <a:lnTo>
                  <a:pt x="4378531" y="3201987"/>
                </a:lnTo>
                <a:lnTo>
                  <a:pt x="4393648" y="3248025"/>
                </a:lnTo>
                <a:lnTo>
                  <a:pt x="4405405" y="3300412"/>
                </a:lnTo>
                <a:lnTo>
                  <a:pt x="4413803" y="3360737"/>
                </a:lnTo>
                <a:lnTo>
                  <a:pt x="4417162" y="3427412"/>
                </a:lnTo>
                <a:lnTo>
                  <a:pt x="4413803" y="3497262"/>
                </a:lnTo>
                <a:lnTo>
                  <a:pt x="4405405" y="3557587"/>
                </a:lnTo>
                <a:lnTo>
                  <a:pt x="4393648" y="3609975"/>
                </a:lnTo>
                <a:lnTo>
                  <a:pt x="4378531" y="3656012"/>
                </a:lnTo>
                <a:lnTo>
                  <a:pt x="4361735" y="3697287"/>
                </a:lnTo>
                <a:lnTo>
                  <a:pt x="4341580" y="3736975"/>
                </a:lnTo>
                <a:lnTo>
                  <a:pt x="4301270" y="3811587"/>
                </a:lnTo>
                <a:lnTo>
                  <a:pt x="4282794" y="3848100"/>
                </a:lnTo>
                <a:lnTo>
                  <a:pt x="4264318" y="3890962"/>
                </a:lnTo>
                <a:lnTo>
                  <a:pt x="4249203" y="3935412"/>
                </a:lnTo>
                <a:lnTo>
                  <a:pt x="4239125" y="3987800"/>
                </a:lnTo>
                <a:lnTo>
                  <a:pt x="4229047" y="4048125"/>
                </a:lnTo>
                <a:lnTo>
                  <a:pt x="4227367" y="4116387"/>
                </a:lnTo>
                <a:lnTo>
                  <a:pt x="4229047" y="4186237"/>
                </a:lnTo>
                <a:lnTo>
                  <a:pt x="4239125" y="4244975"/>
                </a:lnTo>
                <a:lnTo>
                  <a:pt x="4249203" y="4297362"/>
                </a:lnTo>
                <a:lnTo>
                  <a:pt x="4264318" y="4343400"/>
                </a:lnTo>
                <a:lnTo>
                  <a:pt x="4282794" y="4386262"/>
                </a:lnTo>
                <a:lnTo>
                  <a:pt x="4301270" y="4424362"/>
                </a:lnTo>
                <a:lnTo>
                  <a:pt x="4341580" y="4498975"/>
                </a:lnTo>
                <a:lnTo>
                  <a:pt x="4361735" y="4537075"/>
                </a:lnTo>
                <a:lnTo>
                  <a:pt x="4378531" y="4579937"/>
                </a:lnTo>
                <a:lnTo>
                  <a:pt x="4393648" y="4625975"/>
                </a:lnTo>
                <a:lnTo>
                  <a:pt x="4405405" y="4678362"/>
                </a:lnTo>
                <a:lnTo>
                  <a:pt x="4413803" y="4738687"/>
                </a:lnTo>
                <a:lnTo>
                  <a:pt x="4417162" y="4806950"/>
                </a:lnTo>
                <a:lnTo>
                  <a:pt x="4413803" y="4875212"/>
                </a:lnTo>
                <a:lnTo>
                  <a:pt x="4405405" y="4935537"/>
                </a:lnTo>
                <a:lnTo>
                  <a:pt x="4393648" y="4987925"/>
                </a:lnTo>
                <a:lnTo>
                  <a:pt x="4378531" y="5033962"/>
                </a:lnTo>
                <a:lnTo>
                  <a:pt x="4361735" y="5075237"/>
                </a:lnTo>
                <a:lnTo>
                  <a:pt x="4341580" y="5114925"/>
                </a:lnTo>
                <a:lnTo>
                  <a:pt x="4321425" y="5149850"/>
                </a:lnTo>
                <a:lnTo>
                  <a:pt x="4301270" y="5186362"/>
                </a:lnTo>
                <a:lnTo>
                  <a:pt x="4282794" y="5226050"/>
                </a:lnTo>
                <a:lnTo>
                  <a:pt x="4264318" y="5268912"/>
                </a:lnTo>
                <a:lnTo>
                  <a:pt x="4249203" y="5313362"/>
                </a:lnTo>
                <a:lnTo>
                  <a:pt x="4239125" y="5365750"/>
                </a:lnTo>
                <a:lnTo>
                  <a:pt x="4229047" y="5426075"/>
                </a:lnTo>
                <a:lnTo>
                  <a:pt x="4227367" y="5494337"/>
                </a:lnTo>
                <a:lnTo>
                  <a:pt x="4229047" y="5562600"/>
                </a:lnTo>
                <a:lnTo>
                  <a:pt x="4239125" y="5622925"/>
                </a:lnTo>
                <a:lnTo>
                  <a:pt x="4249203" y="5675312"/>
                </a:lnTo>
                <a:lnTo>
                  <a:pt x="4264318" y="5721350"/>
                </a:lnTo>
                <a:lnTo>
                  <a:pt x="4282794" y="5762625"/>
                </a:lnTo>
                <a:lnTo>
                  <a:pt x="4301270" y="5802312"/>
                </a:lnTo>
                <a:lnTo>
                  <a:pt x="4321425" y="5840412"/>
                </a:lnTo>
                <a:lnTo>
                  <a:pt x="4341580" y="5876925"/>
                </a:lnTo>
                <a:lnTo>
                  <a:pt x="4361735" y="5915025"/>
                </a:lnTo>
                <a:lnTo>
                  <a:pt x="4378531" y="5956300"/>
                </a:lnTo>
                <a:lnTo>
                  <a:pt x="4393648" y="6003925"/>
                </a:lnTo>
                <a:lnTo>
                  <a:pt x="4405405" y="6056312"/>
                </a:lnTo>
                <a:lnTo>
                  <a:pt x="4413803" y="6113462"/>
                </a:lnTo>
                <a:lnTo>
                  <a:pt x="4417162" y="6183312"/>
                </a:lnTo>
                <a:lnTo>
                  <a:pt x="4413803" y="6251575"/>
                </a:lnTo>
                <a:lnTo>
                  <a:pt x="4405405" y="6311900"/>
                </a:lnTo>
                <a:lnTo>
                  <a:pt x="4393648" y="6361112"/>
                </a:lnTo>
                <a:lnTo>
                  <a:pt x="4378531" y="6407150"/>
                </a:lnTo>
                <a:lnTo>
                  <a:pt x="4361735" y="6448425"/>
                </a:lnTo>
                <a:lnTo>
                  <a:pt x="4343260" y="6488112"/>
                </a:lnTo>
                <a:lnTo>
                  <a:pt x="4324784" y="6523037"/>
                </a:lnTo>
                <a:lnTo>
                  <a:pt x="4304629" y="6561137"/>
                </a:lnTo>
                <a:lnTo>
                  <a:pt x="4284474" y="6597650"/>
                </a:lnTo>
                <a:lnTo>
                  <a:pt x="4267678" y="6640512"/>
                </a:lnTo>
                <a:lnTo>
                  <a:pt x="4250882" y="6683375"/>
                </a:lnTo>
                <a:lnTo>
                  <a:pt x="4240804" y="6735762"/>
                </a:lnTo>
                <a:lnTo>
                  <a:pt x="4232407" y="6791325"/>
                </a:lnTo>
                <a:lnTo>
                  <a:pt x="4227367" y="6858000"/>
                </a:lnTo>
                <a:lnTo>
                  <a:pt x="2310062" y="6858000"/>
                </a:lnTo>
                <a:lnTo>
                  <a:pt x="144378" y="6858000"/>
                </a:lnTo>
                <a:lnTo>
                  <a:pt x="0" y="6858000"/>
                </a:lnTo>
                <a:close/>
              </a:path>
            </a:pathLst>
          </a:custGeom>
          <a:solidFill>
            <a:srgbClr val="FFFFFF"/>
          </a:solidFill>
          <a:ln w="0">
            <a:noFill/>
            <a:prstDash val="solid"/>
            <a:round/>
            <a:headEnd/>
            <a:tailEnd/>
          </a:ln>
        </p:spPr>
      </p:sp>
      <p:sp useBgFill="1">
        <p:nvSpPr>
          <p:cNvPr id="29" name="Freeform: Shape 28">
            <a:extLst>
              <a:ext uri="{FF2B5EF4-FFF2-40B4-BE49-F238E27FC236}">
                <a16:creationId xmlns:a16="http://schemas.microsoft.com/office/drawing/2014/main" id="{A7A4B465-FBCC-4CD4-89A1-82992A7B4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4272784" cy="6858000"/>
          </a:xfrm>
          <a:custGeom>
            <a:avLst/>
            <a:gdLst>
              <a:gd name="connsiteX0" fmla="*/ 0 w 4272784"/>
              <a:gd name="connsiteY0" fmla="*/ 0 h 6858000"/>
              <a:gd name="connsiteX1" fmla="*/ 4082989 w 4272784"/>
              <a:gd name="connsiteY1" fmla="*/ 0 h 6858000"/>
              <a:gd name="connsiteX2" fmla="*/ 4088029 w 4272784"/>
              <a:gd name="connsiteY2" fmla="*/ 66675 h 6858000"/>
              <a:gd name="connsiteX3" fmla="*/ 4096426 w 4272784"/>
              <a:gd name="connsiteY3" fmla="*/ 122237 h 6858000"/>
              <a:gd name="connsiteX4" fmla="*/ 4106504 w 4272784"/>
              <a:gd name="connsiteY4" fmla="*/ 174625 h 6858000"/>
              <a:gd name="connsiteX5" fmla="*/ 4123300 w 4272784"/>
              <a:gd name="connsiteY5" fmla="*/ 217487 h 6858000"/>
              <a:gd name="connsiteX6" fmla="*/ 4140096 w 4272784"/>
              <a:gd name="connsiteY6" fmla="*/ 260350 h 6858000"/>
              <a:gd name="connsiteX7" fmla="*/ 4160251 w 4272784"/>
              <a:gd name="connsiteY7" fmla="*/ 296862 h 6858000"/>
              <a:gd name="connsiteX8" fmla="*/ 4180406 w 4272784"/>
              <a:gd name="connsiteY8" fmla="*/ 334962 h 6858000"/>
              <a:gd name="connsiteX9" fmla="*/ 4198882 w 4272784"/>
              <a:gd name="connsiteY9" fmla="*/ 369887 h 6858000"/>
              <a:gd name="connsiteX10" fmla="*/ 4217357 w 4272784"/>
              <a:gd name="connsiteY10" fmla="*/ 409575 h 6858000"/>
              <a:gd name="connsiteX11" fmla="*/ 4234153 w 4272784"/>
              <a:gd name="connsiteY11" fmla="*/ 450850 h 6858000"/>
              <a:gd name="connsiteX12" fmla="*/ 4249270 w 4272784"/>
              <a:gd name="connsiteY12" fmla="*/ 496887 h 6858000"/>
              <a:gd name="connsiteX13" fmla="*/ 4261027 w 4272784"/>
              <a:gd name="connsiteY13" fmla="*/ 546100 h 6858000"/>
              <a:gd name="connsiteX14" fmla="*/ 4269425 w 4272784"/>
              <a:gd name="connsiteY14" fmla="*/ 606425 h 6858000"/>
              <a:gd name="connsiteX15" fmla="*/ 4272784 w 4272784"/>
              <a:gd name="connsiteY15" fmla="*/ 673100 h 6858000"/>
              <a:gd name="connsiteX16" fmla="*/ 4269425 w 4272784"/>
              <a:gd name="connsiteY16" fmla="*/ 744537 h 6858000"/>
              <a:gd name="connsiteX17" fmla="*/ 4261027 w 4272784"/>
              <a:gd name="connsiteY17" fmla="*/ 801687 h 6858000"/>
              <a:gd name="connsiteX18" fmla="*/ 4249270 w 4272784"/>
              <a:gd name="connsiteY18" fmla="*/ 854075 h 6858000"/>
              <a:gd name="connsiteX19" fmla="*/ 4234153 w 4272784"/>
              <a:gd name="connsiteY19" fmla="*/ 901700 h 6858000"/>
              <a:gd name="connsiteX20" fmla="*/ 4217357 w 4272784"/>
              <a:gd name="connsiteY20" fmla="*/ 942975 h 6858000"/>
              <a:gd name="connsiteX21" fmla="*/ 4197202 w 4272784"/>
              <a:gd name="connsiteY21" fmla="*/ 981075 h 6858000"/>
              <a:gd name="connsiteX22" fmla="*/ 4177047 w 4272784"/>
              <a:gd name="connsiteY22" fmla="*/ 1017587 h 6858000"/>
              <a:gd name="connsiteX23" fmla="*/ 4156892 w 4272784"/>
              <a:gd name="connsiteY23" fmla="*/ 1055687 h 6858000"/>
              <a:gd name="connsiteX24" fmla="*/ 4138416 w 4272784"/>
              <a:gd name="connsiteY24" fmla="*/ 1095375 h 6858000"/>
              <a:gd name="connsiteX25" fmla="*/ 4119940 w 4272784"/>
              <a:gd name="connsiteY25" fmla="*/ 1136650 h 6858000"/>
              <a:gd name="connsiteX26" fmla="*/ 4104825 w 4272784"/>
              <a:gd name="connsiteY26" fmla="*/ 1182687 h 6858000"/>
              <a:gd name="connsiteX27" fmla="*/ 4094747 w 4272784"/>
              <a:gd name="connsiteY27" fmla="*/ 1235075 h 6858000"/>
              <a:gd name="connsiteX28" fmla="*/ 4084669 w 4272784"/>
              <a:gd name="connsiteY28" fmla="*/ 1295400 h 6858000"/>
              <a:gd name="connsiteX29" fmla="*/ 4082989 w 4272784"/>
              <a:gd name="connsiteY29" fmla="*/ 1363662 h 6858000"/>
              <a:gd name="connsiteX30" fmla="*/ 4084669 w 4272784"/>
              <a:gd name="connsiteY30" fmla="*/ 1431925 h 6858000"/>
              <a:gd name="connsiteX31" fmla="*/ 4094747 w 4272784"/>
              <a:gd name="connsiteY31" fmla="*/ 1492250 h 6858000"/>
              <a:gd name="connsiteX32" fmla="*/ 4104825 w 4272784"/>
              <a:gd name="connsiteY32" fmla="*/ 1544637 h 6858000"/>
              <a:gd name="connsiteX33" fmla="*/ 4119940 w 4272784"/>
              <a:gd name="connsiteY33" fmla="*/ 1589087 h 6858000"/>
              <a:gd name="connsiteX34" fmla="*/ 4138416 w 4272784"/>
              <a:gd name="connsiteY34" fmla="*/ 1631950 h 6858000"/>
              <a:gd name="connsiteX35" fmla="*/ 4156892 w 4272784"/>
              <a:gd name="connsiteY35" fmla="*/ 1671637 h 6858000"/>
              <a:gd name="connsiteX36" fmla="*/ 4177047 w 4272784"/>
              <a:gd name="connsiteY36" fmla="*/ 1708150 h 6858000"/>
              <a:gd name="connsiteX37" fmla="*/ 4197202 w 4272784"/>
              <a:gd name="connsiteY37" fmla="*/ 1743075 h 6858000"/>
              <a:gd name="connsiteX38" fmla="*/ 4217357 w 4272784"/>
              <a:gd name="connsiteY38" fmla="*/ 1782762 h 6858000"/>
              <a:gd name="connsiteX39" fmla="*/ 4234153 w 4272784"/>
              <a:gd name="connsiteY39" fmla="*/ 1824037 h 6858000"/>
              <a:gd name="connsiteX40" fmla="*/ 4249270 w 4272784"/>
              <a:gd name="connsiteY40" fmla="*/ 1870075 h 6858000"/>
              <a:gd name="connsiteX41" fmla="*/ 4261027 w 4272784"/>
              <a:gd name="connsiteY41" fmla="*/ 1922462 h 6858000"/>
              <a:gd name="connsiteX42" fmla="*/ 4269425 w 4272784"/>
              <a:gd name="connsiteY42" fmla="*/ 1982787 h 6858000"/>
              <a:gd name="connsiteX43" fmla="*/ 4272784 w 4272784"/>
              <a:gd name="connsiteY43" fmla="*/ 2051050 h 6858000"/>
              <a:gd name="connsiteX44" fmla="*/ 4269425 w 4272784"/>
              <a:gd name="connsiteY44" fmla="*/ 2119312 h 6858000"/>
              <a:gd name="connsiteX45" fmla="*/ 4261027 w 4272784"/>
              <a:gd name="connsiteY45" fmla="*/ 2179637 h 6858000"/>
              <a:gd name="connsiteX46" fmla="*/ 4249270 w 4272784"/>
              <a:gd name="connsiteY46" fmla="*/ 2232025 h 6858000"/>
              <a:gd name="connsiteX47" fmla="*/ 4234153 w 4272784"/>
              <a:gd name="connsiteY47" fmla="*/ 2278062 h 6858000"/>
              <a:gd name="connsiteX48" fmla="*/ 4217357 w 4272784"/>
              <a:gd name="connsiteY48" fmla="*/ 2319337 h 6858000"/>
              <a:gd name="connsiteX49" fmla="*/ 4197202 w 4272784"/>
              <a:gd name="connsiteY49" fmla="*/ 2359025 h 6858000"/>
              <a:gd name="connsiteX50" fmla="*/ 4177047 w 4272784"/>
              <a:gd name="connsiteY50" fmla="*/ 2395537 h 6858000"/>
              <a:gd name="connsiteX51" fmla="*/ 4156892 w 4272784"/>
              <a:gd name="connsiteY51" fmla="*/ 2433637 h 6858000"/>
              <a:gd name="connsiteX52" fmla="*/ 4138416 w 4272784"/>
              <a:gd name="connsiteY52" fmla="*/ 2471737 h 6858000"/>
              <a:gd name="connsiteX53" fmla="*/ 4119940 w 4272784"/>
              <a:gd name="connsiteY53" fmla="*/ 2513012 h 6858000"/>
              <a:gd name="connsiteX54" fmla="*/ 4104825 w 4272784"/>
              <a:gd name="connsiteY54" fmla="*/ 2560637 h 6858000"/>
              <a:gd name="connsiteX55" fmla="*/ 4094747 w 4272784"/>
              <a:gd name="connsiteY55" fmla="*/ 2613025 h 6858000"/>
              <a:gd name="connsiteX56" fmla="*/ 4084669 w 4272784"/>
              <a:gd name="connsiteY56" fmla="*/ 2671762 h 6858000"/>
              <a:gd name="connsiteX57" fmla="*/ 4082989 w 4272784"/>
              <a:gd name="connsiteY57" fmla="*/ 2741612 h 6858000"/>
              <a:gd name="connsiteX58" fmla="*/ 4084669 w 4272784"/>
              <a:gd name="connsiteY58" fmla="*/ 2809875 h 6858000"/>
              <a:gd name="connsiteX59" fmla="*/ 4094747 w 4272784"/>
              <a:gd name="connsiteY59" fmla="*/ 2868612 h 6858000"/>
              <a:gd name="connsiteX60" fmla="*/ 4104825 w 4272784"/>
              <a:gd name="connsiteY60" fmla="*/ 2922587 h 6858000"/>
              <a:gd name="connsiteX61" fmla="*/ 4119940 w 4272784"/>
              <a:gd name="connsiteY61" fmla="*/ 2967037 h 6858000"/>
              <a:gd name="connsiteX62" fmla="*/ 4138416 w 4272784"/>
              <a:gd name="connsiteY62" fmla="*/ 3009900 h 6858000"/>
              <a:gd name="connsiteX63" fmla="*/ 4156892 w 4272784"/>
              <a:gd name="connsiteY63" fmla="*/ 3046412 h 6858000"/>
              <a:gd name="connsiteX64" fmla="*/ 4177047 w 4272784"/>
              <a:gd name="connsiteY64" fmla="*/ 3084512 h 6858000"/>
              <a:gd name="connsiteX65" fmla="*/ 4197202 w 4272784"/>
              <a:gd name="connsiteY65" fmla="*/ 3121025 h 6858000"/>
              <a:gd name="connsiteX66" fmla="*/ 4217357 w 4272784"/>
              <a:gd name="connsiteY66" fmla="*/ 3160712 h 6858000"/>
              <a:gd name="connsiteX67" fmla="*/ 4234153 w 4272784"/>
              <a:gd name="connsiteY67" fmla="*/ 3201987 h 6858000"/>
              <a:gd name="connsiteX68" fmla="*/ 4249270 w 4272784"/>
              <a:gd name="connsiteY68" fmla="*/ 3248025 h 6858000"/>
              <a:gd name="connsiteX69" fmla="*/ 4261027 w 4272784"/>
              <a:gd name="connsiteY69" fmla="*/ 3300412 h 6858000"/>
              <a:gd name="connsiteX70" fmla="*/ 4269425 w 4272784"/>
              <a:gd name="connsiteY70" fmla="*/ 3360737 h 6858000"/>
              <a:gd name="connsiteX71" fmla="*/ 4272784 w 4272784"/>
              <a:gd name="connsiteY71" fmla="*/ 3427412 h 6858000"/>
              <a:gd name="connsiteX72" fmla="*/ 4269425 w 4272784"/>
              <a:gd name="connsiteY72" fmla="*/ 3497262 h 6858000"/>
              <a:gd name="connsiteX73" fmla="*/ 4261027 w 4272784"/>
              <a:gd name="connsiteY73" fmla="*/ 3557587 h 6858000"/>
              <a:gd name="connsiteX74" fmla="*/ 4249270 w 4272784"/>
              <a:gd name="connsiteY74" fmla="*/ 3609975 h 6858000"/>
              <a:gd name="connsiteX75" fmla="*/ 4234153 w 4272784"/>
              <a:gd name="connsiteY75" fmla="*/ 3656012 h 6858000"/>
              <a:gd name="connsiteX76" fmla="*/ 4217357 w 4272784"/>
              <a:gd name="connsiteY76" fmla="*/ 3697287 h 6858000"/>
              <a:gd name="connsiteX77" fmla="*/ 4197202 w 4272784"/>
              <a:gd name="connsiteY77" fmla="*/ 3736975 h 6858000"/>
              <a:gd name="connsiteX78" fmla="*/ 4156892 w 4272784"/>
              <a:gd name="connsiteY78" fmla="*/ 3811587 h 6858000"/>
              <a:gd name="connsiteX79" fmla="*/ 4138416 w 4272784"/>
              <a:gd name="connsiteY79" fmla="*/ 3848100 h 6858000"/>
              <a:gd name="connsiteX80" fmla="*/ 4119940 w 4272784"/>
              <a:gd name="connsiteY80" fmla="*/ 3890962 h 6858000"/>
              <a:gd name="connsiteX81" fmla="*/ 4104825 w 4272784"/>
              <a:gd name="connsiteY81" fmla="*/ 3935412 h 6858000"/>
              <a:gd name="connsiteX82" fmla="*/ 4094747 w 4272784"/>
              <a:gd name="connsiteY82" fmla="*/ 3987800 h 6858000"/>
              <a:gd name="connsiteX83" fmla="*/ 4084669 w 4272784"/>
              <a:gd name="connsiteY83" fmla="*/ 4048125 h 6858000"/>
              <a:gd name="connsiteX84" fmla="*/ 4082989 w 4272784"/>
              <a:gd name="connsiteY84" fmla="*/ 4116387 h 6858000"/>
              <a:gd name="connsiteX85" fmla="*/ 4084669 w 4272784"/>
              <a:gd name="connsiteY85" fmla="*/ 4186237 h 6858000"/>
              <a:gd name="connsiteX86" fmla="*/ 4094747 w 4272784"/>
              <a:gd name="connsiteY86" fmla="*/ 4244975 h 6858000"/>
              <a:gd name="connsiteX87" fmla="*/ 4104825 w 4272784"/>
              <a:gd name="connsiteY87" fmla="*/ 4297362 h 6858000"/>
              <a:gd name="connsiteX88" fmla="*/ 4119940 w 4272784"/>
              <a:gd name="connsiteY88" fmla="*/ 4343400 h 6858000"/>
              <a:gd name="connsiteX89" fmla="*/ 4138416 w 4272784"/>
              <a:gd name="connsiteY89" fmla="*/ 4386262 h 6858000"/>
              <a:gd name="connsiteX90" fmla="*/ 4156892 w 4272784"/>
              <a:gd name="connsiteY90" fmla="*/ 4424362 h 6858000"/>
              <a:gd name="connsiteX91" fmla="*/ 4197202 w 4272784"/>
              <a:gd name="connsiteY91" fmla="*/ 4498975 h 6858000"/>
              <a:gd name="connsiteX92" fmla="*/ 4217357 w 4272784"/>
              <a:gd name="connsiteY92" fmla="*/ 4537075 h 6858000"/>
              <a:gd name="connsiteX93" fmla="*/ 4234153 w 4272784"/>
              <a:gd name="connsiteY93" fmla="*/ 4579937 h 6858000"/>
              <a:gd name="connsiteX94" fmla="*/ 4249270 w 4272784"/>
              <a:gd name="connsiteY94" fmla="*/ 4625975 h 6858000"/>
              <a:gd name="connsiteX95" fmla="*/ 4261027 w 4272784"/>
              <a:gd name="connsiteY95" fmla="*/ 4678362 h 6858000"/>
              <a:gd name="connsiteX96" fmla="*/ 4269425 w 4272784"/>
              <a:gd name="connsiteY96" fmla="*/ 4738687 h 6858000"/>
              <a:gd name="connsiteX97" fmla="*/ 4272784 w 4272784"/>
              <a:gd name="connsiteY97" fmla="*/ 4806950 h 6858000"/>
              <a:gd name="connsiteX98" fmla="*/ 4269425 w 4272784"/>
              <a:gd name="connsiteY98" fmla="*/ 4875212 h 6858000"/>
              <a:gd name="connsiteX99" fmla="*/ 4261027 w 4272784"/>
              <a:gd name="connsiteY99" fmla="*/ 4935537 h 6858000"/>
              <a:gd name="connsiteX100" fmla="*/ 4249270 w 4272784"/>
              <a:gd name="connsiteY100" fmla="*/ 4987925 h 6858000"/>
              <a:gd name="connsiteX101" fmla="*/ 4234153 w 4272784"/>
              <a:gd name="connsiteY101" fmla="*/ 5033962 h 6858000"/>
              <a:gd name="connsiteX102" fmla="*/ 4217357 w 4272784"/>
              <a:gd name="connsiteY102" fmla="*/ 5075237 h 6858000"/>
              <a:gd name="connsiteX103" fmla="*/ 4197202 w 4272784"/>
              <a:gd name="connsiteY103" fmla="*/ 5114925 h 6858000"/>
              <a:gd name="connsiteX104" fmla="*/ 4177047 w 4272784"/>
              <a:gd name="connsiteY104" fmla="*/ 5149850 h 6858000"/>
              <a:gd name="connsiteX105" fmla="*/ 4156892 w 4272784"/>
              <a:gd name="connsiteY105" fmla="*/ 5186362 h 6858000"/>
              <a:gd name="connsiteX106" fmla="*/ 4138416 w 4272784"/>
              <a:gd name="connsiteY106" fmla="*/ 5226050 h 6858000"/>
              <a:gd name="connsiteX107" fmla="*/ 4119940 w 4272784"/>
              <a:gd name="connsiteY107" fmla="*/ 5268912 h 6858000"/>
              <a:gd name="connsiteX108" fmla="*/ 4104825 w 4272784"/>
              <a:gd name="connsiteY108" fmla="*/ 5313362 h 6858000"/>
              <a:gd name="connsiteX109" fmla="*/ 4094747 w 4272784"/>
              <a:gd name="connsiteY109" fmla="*/ 5365750 h 6858000"/>
              <a:gd name="connsiteX110" fmla="*/ 4084669 w 4272784"/>
              <a:gd name="connsiteY110" fmla="*/ 5426075 h 6858000"/>
              <a:gd name="connsiteX111" fmla="*/ 4082989 w 4272784"/>
              <a:gd name="connsiteY111" fmla="*/ 5494337 h 6858000"/>
              <a:gd name="connsiteX112" fmla="*/ 4084669 w 4272784"/>
              <a:gd name="connsiteY112" fmla="*/ 5562600 h 6858000"/>
              <a:gd name="connsiteX113" fmla="*/ 4094747 w 4272784"/>
              <a:gd name="connsiteY113" fmla="*/ 5622925 h 6858000"/>
              <a:gd name="connsiteX114" fmla="*/ 4104825 w 4272784"/>
              <a:gd name="connsiteY114" fmla="*/ 5675312 h 6858000"/>
              <a:gd name="connsiteX115" fmla="*/ 4119940 w 4272784"/>
              <a:gd name="connsiteY115" fmla="*/ 5721350 h 6858000"/>
              <a:gd name="connsiteX116" fmla="*/ 4138416 w 4272784"/>
              <a:gd name="connsiteY116" fmla="*/ 5762625 h 6858000"/>
              <a:gd name="connsiteX117" fmla="*/ 4156892 w 4272784"/>
              <a:gd name="connsiteY117" fmla="*/ 5802312 h 6858000"/>
              <a:gd name="connsiteX118" fmla="*/ 4177047 w 4272784"/>
              <a:gd name="connsiteY118" fmla="*/ 5840412 h 6858000"/>
              <a:gd name="connsiteX119" fmla="*/ 4197202 w 4272784"/>
              <a:gd name="connsiteY119" fmla="*/ 5876925 h 6858000"/>
              <a:gd name="connsiteX120" fmla="*/ 4217357 w 4272784"/>
              <a:gd name="connsiteY120" fmla="*/ 5915025 h 6858000"/>
              <a:gd name="connsiteX121" fmla="*/ 4234153 w 4272784"/>
              <a:gd name="connsiteY121" fmla="*/ 5956300 h 6858000"/>
              <a:gd name="connsiteX122" fmla="*/ 4249270 w 4272784"/>
              <a:gd name="connsiteY122" fmla="*/ 6003925 h 6858000"/>
              <a:gd name="connsiteX123" fmla="*/ 4261027 w 4272784"/>
              <a:gd name="connsiteY123" fmla="*/ 6056312 h 6858000"/>
              <a:gd name="connsiteX124" fmla="*/ 4269425 w 4272784"/>
              <a:gd name="connsiteY124" fmla="*/ 6113462 h 6858000"/>
              <a:gd name="connsiteX125" fmla="*/ 4272784 w 4272784"/>
              <a:gd name="connsiteY125" fmla="*/ 6183312 h 6858000"/>
              <a:gd name="connsiteX126" fmla="*/ 4269425 w 4272784"/>
              <a:gd name="connsiteY126" fmla="*/ 6251575 h 6858000"/>
              <a:gd name="connsiteX127" fmla="*/ 4261027 w 4272784"/>
              <a:gd name="connsiteY127" fmla="*/ 6311900 h 6858000"/>
              <a:gd name="connsiteX128" fmla="*/ 4249270 w 4272784"/>
              <a:gd name="connsiteY128" fmla="*/ 6361112 h 6858000"/>
              <a:gd name="connsiteX129" fmla="*/ 4234153 w 4272784"/>
              <a:gd name="connsiteY129" fmla="*/ 6407150 h 6858000"/>
              <a:gd name="connsiteX130" fmla="*/ 4217357 w 4272784"/>
              <a:gd name="connsiteY130" fmla="*/ 6448425 h 6858000"/>
              <a:gd name="connsiteX131" fmla="*/ 4198882 w 4272784"/>
              <a:gd name="connsiteY131" fmla="*/ 6488112 h 6858000"/>
              <a:gd name="connsiteX132" fmla="*/ 4180406 w 4272784"/>
              <a:gd name="connsiteY132" fmla="*/ 6523037 h 6858000"/>
              <a:gd name="connsiteX133" fmla="*/ 4160251 w 4272784"/>
              <a:gd name="connsiteY133" fmla="*/ 6561137 h 6858000"/>
              <a:gd name="connsiteX134" fmla="*/ 4140096 w 4272784"/>
              <a:gd name="connsiteY134" fmla="*/ 6597650 h 6858000"/>
              <a:gd name="connsiteX135" fmla="*/ 4123300 w 4272784"/>
              <a:gd name="connsiteY135" fmla="*/ 6640512 h 6858000"/>
              <a:gd name="connsiteX136" fmla="*/ 4106504 w 4272784"/>
              <a:gd name="connsiteY136" fmla="*/ 6683375 h 6858000"/>
              <a:gd name="connsiteX137" fmla="*/ 4096426 w 4272784"/>
              <a:gd name="connsiteY137" fmla="*/ 6735762 h 6858000"/>
              <a:gd name="connsiteX138" fmla="*/ 4088029 w 4272784"/>
              <a:gd name="connsiteY138" fmla="*/ 6791325 h 6858000"/>
              <a:gd name="connsiteX139" fmla="*/ 4082989 w 4272784"/>
              <a:gd name="connsiteY139" fmla="*/ 6858000 h 6858000"/>
              <a:gd name="connsiteX140" fmla="*/ 0 w 427278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272784" h="6858000">
                <a:moveTo>
                  <a:pt x="0" y="0"/>
                </a:moveTo>
                <a:lnTo>
                  <a:pt x="4082989" y="0"/>
                </a:lnTo>
                <a:lnTo>
                  <a:pt x="4088029" y="66675"/>
                </a:lnTo>
                <a:lnTo>
                  <a:pt x="4096426" y="122237"/>
                </a:lnTo>
                <a:lnTo>
                  <a:pt x="4106504" y="174625"/>
                </a:lnTo>
                <a:lnTo>
                  <a:pt x="4123300" y="217487"/>
                </a:lnTo>
                <a:lnTo>
                  <a:pt x="4140096" y="260350"/>
                </a:lnTo>
                <a:lnTo>
                  <a:pt x="4160251" y="296862"/>
                </a:lnTo>
                <a:lnTo>
                  <a:pt x="4180406" y="334962"/>
                </a:lnTo>
                <a:lnTo>
                  <a:pt x="4198882" y="369887"/>
                </a:lnTo>
                <a:lnTo>
                  <a:pt x="4217357" y="409575"/>
                </a:lnTo>
                <a:lnTo>
                  <a:pt x="4234153" y="450850"/>
                </a:lnTo>
                <a:lnTo>
                  <a:pt x="4249270" y="496887"/>
                </a:lnTo>
                <a:lnTo>
                  <a:pt x="4261027" y="546100"/>
                </a:lnTo>
                <a:lnTo>
                  <a:pt x="4269425" y="606425"/>
                </a:lnTo>
                <a:lnTo>
                  <a:pt x="4272784" y="673100"/>
                </a:lnTo>
                <a:lnTo>
                  <a:pt x="4269425" y="744537"/>
                </a:lnTo>
                <a:lnTo>
                  <a:pt x="4261027" y="801687"/>
                </a:lnTo>
                <a:lnTo>
                  <a:pt x="4249270" y="854075"/>
                </a:lnTo>
                <a:lnTo>
                  <a:pt x="4234153" y="901700"/>
                </a:lnTo>
                <a:lnTo>
                  <a:pt x="4217357" y="942975"/>
                </a:lnTo>
                <a:lnTo>
                  <a:pt x="4197202" y="981075"/>
                </a:lnTo>
                <a:lnTo>
                  <a:pt x="4177047" y="1017587"/>
                </a:lnTo>
                <a:lnTo>
                  <a:pt x="4156892" y="1055687"/>
                </a:lnTo>
                <a:lnTo>
                  <a:pt x="4138416" y="1095375"/>
                </a:lnTo>
                <a:lnTo>
                  <a:pt x="4119940" y="1136650"/>
                </a:lnTo>
                <a:lnTo>
                  <a:pt x="4104825" y="1182687"/>
                </a:lnTo>
                <a:lnTo>
                  <a:pt x="4094747" y="1235075"/>
                </a:lnTo>
                <a:lnTo>
                  <a:pt x="4084669" y="1295400"/>
                </a:lnTo>
                <a:lnTo>
                  <a:pt x="4082989" y="1363662"/>
                </a:lnTo>
                <a:lnTo>
                  <a:pt x="4084669" y="1431925"/>
                </a:lnTo>
                <a:lnTo>
                  <a:pt x="4094747" y="1492250"/>
                </a:lnTo>
                <a:lnTo>
                  <a:pt x="4104825" y="1544637"/>
                </a:lnTo>
                <a:lnTo>
                  <a:pt x="4119940" y="1589087"/>
                </a:lnTo>
                <a:lnTo>
                  <a:pt x="4138416" y="1631950"/>
                </a:lnTo>
                <a:lnTo>
                  <a:pt x="4156892" y="1671637"/>
                </a:lnTo>
                <a:lnTo>
                  <a:pt x="4177047" y="1708150"/>
                </a:lnTo>
                <a:lnTo>
                  <a:pt x="4197202" y="1743075"/>
                </a:lnTo>
                <a:lnTo>
                  <a:pt x="4217357" y="1782762"/>
                </a:lnTo>
                <a:lnTo>
                  <a:pt x="4234153" y="1824037"/>
                </a:lnTo>
                <a:lnTo>
                  <a:pt x="4249270" y="1870075"/>
                </a:lnTo>
                <a:lnTo>
                  <a:pt x="4261027" y="1922462"/>
                </a:lnTo>
                <a:lnTo>
                  <a:pt x="4269425" y="1982787"/>
                </a:lnTo>
                <a:lnTo>
                  <a:pt x="4272784" y="2051050"/>
                </a:lnTo>
                <a:lnTo>
                  <a:pt x="4269425" y="2119312"/>
                </a:lnTo>
                <a:lnTo>
                  <a:pt x="4261027" y="2179637"/>
                </a:lnTo>
                <a:lnTo>
                  <a:pt x="4249270" y="2232025"/>
                </a:lnTo>
                <a:lnTo>
                  <a:pt x="4234153" y="2278062"/>
                </a:lnTo>
                <a:lnTo>
                  <a:pt x="4217357" y="2319337"/>
                </a:lnTo>
                <a:lnTo>
                  <a:pt x="4197202" y="2359025"/>
                </a:lnTo>
                <a:lnTo>
                  <a:pt x="4177047" y="2395537"/>
                </a:lnTo>
                <a:lnTo>
                  <a:pt x="4156892" y="2433637"/>
                </a:lnTo>
                <a:lnTo>
                  <a:pt x="4138416" y="2471737"/>
                </a:lnTo>
                <a:lnTo>
                  <a:pt x="4119940" y="2513012"/>
                </a:lnTo>
                <a:lnTo>
                  <a:pt x="4104825" y="2560637"/>
                </a:lnTo>
                <a:lnTo>
                  <a:pt x="4094747" y="2613025"/>
                </a:lnTo>
                <a:lnTo>
                  <a:pt x="4084669" y="2671762"/>
                </a:lnTo>
                <a:lnTo>
                  <a:pt x="4082989" y="2741612"/>
                </a:lnTo>
                <a:lnTo>
                  <a:pt x="4084669" y="2809875"/>
                </a:lnTo>
                <a:lnTo>
                  <a:pt x="4094747" y="2868612"/>
                </a:lnTo>
                <a:lnTo>
                  <a:pt x="4104825" y="2922587"/>
                </a:lnTo>
                <a:lnTo>
                  <a:pt x="4119940" y="2967037"/>
                </a:lnTo>
                <a:lnTo>
                  <a:pt x="4138416" y="3009900"/>
                </a:lnTo>
                <a:lnTo>
                  <a:pt x="4156892" y="3046412"/>
                </a:lnTo>
                <a:lnTo>
                  <a:pt x="4177047" y="3084512"/>
                </a:lnTo>
                <a:lnTo>
                  <a:pt x="4197202" y="3121025"/>
                </a:lnTo>
                <a:lnTo>
                  <a:pt x="4217357" y="3160712"/>
                </a:lnTo>
                <a:lnTo>
                  <a:pt x="4234153" y="3201987"/>
                </a:lnTo>
                <a:lnTo>
                  <a:pt x="4249270" y="3248025"/>
                </a:lnTo>
                <a:lnTo>
                  <a:pt x="4261027" y="3300412"/>
                </a:lnTo>
                <a:lnTo>
                  <a:pt x="4269425" y="3360737"/>
                </a:lnTo>
                <a:lnTo>
                  <a:pt x="4272784" y="3427412"/>
                </a:lnTo>
                <a:lnTo>
                  <a:pt x="4269425" y="3497262"/>
                </a:lnTo>
                <a:lnTo>
                  <a:pt x="4261027" y="3557587"/>
                </a:lnTo>
                <a:lnTo>
                  <a:pt x="4249270" y="3609975"/>
                </a:lnTo>
                <a:lnTo>
                  <a:pt x="4234153" y="3656012"/>
                </a:lnTo>
                <a:lnTo>
                  <a:pt x="4217357" y="3697287"/>
                </a:lnTo>
                <a:lnTo>
                  <a:pt x="4197202" y="3736975"/>
                </a:lnTo>
                <a:lnTo>
                  <a:pt x="4156892" y="3811587"/>
                </a:lnTo>
                <a:lnTo>
                  <a:pt x="4138416" y="3848100"/>
                </a:lnTo>
                <a:lnTo>
                  <a:pt x="4119940" y="3890962"/>
                </a:lnTo>
                <a:lnTo>
                  <a:pt x="4104825" y="3935412"/>
                </a:lnTo>
                <a:lnTo>
                  <a:pt x="4094747" y="3987800"/>
                </a:lnTo>
                <a:lnTo>
                  <a:pt x="4084669" y="4048125"/>
                </a:lnTo>
                <a:lnTo>
                  <a:pt x="4082989" y="4116387"/>
                </a:lnTo>
                <a:lnTo>
                  <a:pt x="4084669" y="4186237"/>
                </a:lnTo>
                <a:lnTo>
                  <a:pt x="4094747" y="4244975"/>
                </a:lnTo>
                <a:lnTo>
                  <a:pt x="4104825" y="4297362"/>
                </a:lnTo>
                <a:lnTo>
                  <a:pt x="4119940" y="4343400"/>
                </a:lnTo>
                <a:lnTo>
                  <a:pt x="4138416" y="4386262"/>
                </a:lnTo>
                <a:lnTo>
                  <a:pt x="4156892" y="4424362"/>
                </a:lnTo>
                <a:lnTo>
                  <a:pt x="4197202" y="4498975"/>
                </a:lnTo>
                <a:lnTo>
                  <a:pt x="4217357" y="4537075"/>
                </a:lnTo>
                <a:lnTo>
                  <a:pt x="4234153" y="4579937"/>
                </a:lnTo>
                <a:lnTo>
                  <a:pt x="4249270" y="4625975"/>
                </a:lnTo>
                <a:lnTo>
                  <a:pt x="4261027" y="4678362"/>
                </a:lnTo>
                <a:lnTo>
                  <a:pt x="4269425" y="4738687"/>
                </a:lnTo>
                <a:lnTo>
                  <a:pt x="4272784" y="4806950"/>
                </a:lnTo>
                <a:lnTo>
                  <a:pt x="4269425" y="4875212"/>
                </a:lnTo>
                <a:lnTo>
                  <a:pt x="4261027" y="4935537"/>
                </a:lnTo>
                <a:lnTo>
                  <a:pt x="4249270" y="4987925"/>
                </a:lnTo>
                <a:lnTo>
                  <a:pt x="4234153" y="5033962"/>
                </a:lnTo>
                <a:lnTo>
                  <a:pt x="4217357" y="5075237"/>
                </a:lnTo>
                <a:lnTo>
                  <a:pt x="4197202" y="5114925"/>
                </a:lnTo>
                <a:lnTo>
                  <a:pt x="4177047" y="5149850"/>
                </a:lnTo>
                <a:lnTo>
                  <a:pt x="4156892" y="5186362"/>
                </a:lnTo>
                <a:lnTo>
                  <a:pt x="4138416" y="5226050"/>
                </a:lnTo>
                <a:lnTo>
                  <a:pt x="4119940" y="5268912"/>
                </a:lnTo>
                <a:lnTo>
                  <a:pt x="4104825" y="5313362"/>
                </a:lnTo>
                <a:lnTo>
                  <a:pt x="4094747" y="5365750"/>
                </a:lnTo>
                <a:lnTo>
                  <a:pt x="4084669" y="5426075"/>
                </a:lnTo>
                <a:lnTo>
                  <a:pt x="4082989" y="5494337"/>
                </a:lnTo>
                <a:lnTo>
                  <a:pt x="4084669" y="5562600"/>
                </a:lnTo>
                <a:lnTo>
                  <a:pt x="4094747" y="5622925"/>
                </a:lnTo>
                <a:lnTo>
                  <a:pt x="4104825" y="5675312"/>
                </a:lnTo>
                <a:lnTo>
                  <a:pt x="4119940" y="5721350"/>
                </a:lnTo>
                <a:lnTo>
                  <a:pt x="4138416" y="5762625"/>
                </a:lnTo>
                <a:lnTo>
                  <a:pt x="4156892" y="5802312"/>
                </a:lnTo>
                <a:lnTo>
                  <a:pt x="4177047" y="5840412"/>
                </a:lnTo>
                <a:lnTo>
                  <a:pt x="4197202" y="5876925"/>
                </a:lnTo>
                <a:lnTo>
                  <a:pt x="4217357" y="5915025"/>
                </a:lnTo>
                <a:lnTo>
                  <a:pt x="4234153" y="5956300"/>
                </a:lnTo>
                <a:lnTo>
                  <a:pt x="4249270" y="6003925"/>
                </a:lnTo>
                <a:lnTo>
                  <a:pt x="4261027" y="6056312"/>
                </a:lnTo>
                <a:lnTo>
                  <a:pt x="4269425" y="6113462"/>
                </a:lnTo>
                <a:lnTo>
                  <a:pt x="4272784" y="6183312"/>
                </a:lnTo>
                <a:lnTo>
                  <a:pt x="4269425" y="6251575"/>
                </a:lnTo>
                <a:lnTo>
                  <a:pt x="4261027" y="6311900"/>
                </a:lnTo>
                <a:lnTo>
                  <a:pt x="4249270" y="6361112"/>
                </a:lnTo>
                <a:lnTo>
                  <a:pt x="4234153" y="6407150"/>
                </a:lnTo>
                <a:lnTo>
                  <a:pt x="4217357" y="6448425"/>
                </a:lnTo>
                <a:lnTo>
                  <a:pt x="4198882" y="6488112"/>
                </a:lnTo>
                <a:lnTo>
                  <a:pt x="4180406" y="6523037"/>
                </a:lnTo>
                <a:lnTo>
                  <a:pt x="4160251" y="6561137"/>
                </a:lnTo>
                <a:lnTo>
                  <a:pt x="4140096" y="6597650"/>
                </a:lnTo>
                <a:lnTo>
                  <a:pt x="4123300" y="6640512"/>
                </a:lnTo>
                <a:lnTo>
                  <a:pt x="4106504" y="6683375"/>
                </a:lnTo>
                <a:lnTo>
                  <a:pt x="4096426" y="6735762"/>
                </a:lnTo>
                <a:lnTo>
                  <a:pt x="4088029" y="6791325"/>
                </a:lnTo>
                <a:lnTo>
                  <a:pt x="4082989" y="6858000"/>
                </a:lnTo>
                <a:lnTo>
                  <a:pt x="0" y="6858000"/>
                </a:lnTo>
                <a:close/>
              </a:path>
            </a:pathLst>
          </a:custGeom>
          <a:ln w="0">
            <a:noFill/>
            <a:prstDash val="solid"/>
            <a:round/>
            <a:headEnd/>
            <a:tailEnd/>
          </a:ln>
        </p:spPr>
        <p:txBody>
          <a:bodyPr/>
          <a:lstStyle/>
          <a:p>
            <a:endParaRPr lang="en-US" dirty="0"/>
          </a:p>
        </p:txBody>
      </p:sp>
      <p:sp>
        <p:nvSpPr>
          <p:cNvPr id="31" name="Freeform: Shape 30">
            <a:extLst>
              <a:ext uri="{FF2B5EF4-FFF2-40B4-BE49-F238E27FC236}">
                <a16:creationId xmlns:a16="http://schemas.microsoft.com/office/drawing/2014/main" id="{909E572F-9CDC-4214-9D42-FF0017649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17162" cy="6858000"/>
          </a:xfrm>
          <a:custGeom>
            <a:avLst/>
            <a:gdLst>
              <a:gd name="connsiteX0" fmla="*/ 4417162 w 4417162"/>
              <a:gd name="connsiteY0" fmla="*/ 0 h 6858000"/>
              <a:gd name="connsiteX1" fmla="*/ 334174 w 4417162"/>
              <a:gd name="connsiteY1" fmla="*/ 0 h 6858000"/>
              <a:gd name="connsiteX2" fmla="*/ 334173 w 4417162"/>
              <a:gd name="connsiteY2" fmla="*/ 0 h 6858000"/>
              <a:gd name="connsiteX3" fmla="*/ 189795 w 4417162"/>
              <a:gd name="connsiteY3" fmla="*/ 0 h 6858000"/>
              <a:gd name="connsiteX4" fmla="*/ 184756 w 4417162"/>
              <a:gd name="connsiteY4" fmla="*/ 66675 h 6858000"/>
              <a:gd name="connsiteX5" fmla="*/ 176358 w 4417162"/>
              <a:gd name="connsiteY5" fmla="*/ 122237 h 6858000"/>
              <a:gd name="connsiteX6" fmla="*/ 166281 w 4417162"/>
              <a:gd name="connsiteY6" fmla="*/ 174625 h 6858000"/>
              <a:gd name="connsiteX7" fmla="*/ 149485 w 4417162"/>
              <a:gd name="connsiteY7" fmla="*/ 217487 h 6858000"/>
              <a:gd name="connsiteX8" fmla="*/ 132689 w 4417162"/>
              <a:gd name="connsiteY8" fmla="*/ 260350 h 6858000"/>
              <a:gd name="connsiteX9" fmla="*/ 112534 w 4417162"/>
              <a:gd name="connsiteY9" fmla="*/ 296862 h 6858000"/>
              <a:gd name="connsiteX10" fmla="*/ 92379 w 4417162"/>
              <a:gd name="connsiteY10" fmla="*/ 334962 h 6858000"/>
              <a:gd name="connsiteX11" fmla="*/ 73903 w 4417162"/>
              <a:gd name="connsiteY11" fmla="*/ 369887 h 6858000"/>
              <a:gd name="connsiteX12" fmla="*/ 55427 w 4417162"/>
              <a:gd name="connsiteY12" fmla="*/ 409575 h 6858000"/>
              <a:gd name="connsiteX13" fmla="*/ 38632 w 4417162"/>
              <a:gd name="connsiteY13" fmla="*/ 450850 h 6858000"/>
              <a:gd name="connsiteX14" fmla="*/ 23515 w 4417162"/>
              <a:gd name="connsiteY14" fmla="*/ 496887 h 6858000"/>
              <a:gd name="connsiteX15" fmla="*/ 11758 w 4417162"/>
              <a:gd name="connsiteY15" fmla="*/ 546100 h 6858000"/>
              <a:gd name="connsiteX16" fmla="*/ 3359 w 4417162"/>
              <a:gd name="connsiteY16" fmla="*/ 606425 h 6858000"/>
              <a:gd name="connsiteX17" fmla="*/ 0 w 4417162"/>
              <a:gd name="connsiteY17" fmla="*/ 673100 h 6858000"/>
              <a:gd name="connsiteX18" fmla="*/ 3359 w 4417162"/>
              <a:gd name="connsiteY18" fmla="*/ 744537 h 6858000"/>
              <a:gd name="connsiteX19" fmla="*/ 11758 w 4417162"/>
              <a:gd name="connsiteY19" fmla="*/ 801687 h 6858000"/>
              <a:gd name="connsiteX20" fmla="*/ 23515 w 4417162"/>
              <a:gd name="connsiteY20" fmla="*/ 854075 h 6858000"/>
              <a:gd name="connsiteX21" fmla="*/ 38632 w 4417162"/>
              <a:gd name="connsiteY21" fmla="*/ 901700 h 6858000"/>
              <a:gd name="connsiteX22" fmla="*/ 55427 w 4417162"/>
              <a:gd name="connsiteY22" fmla="*/ 942975 h 6858000"/>
              <a:gd name="connsiteX23" fmla="*/ 75583 w 4417162"/>
              <a:gd name="connsiteY23" fmla="*/ 981075 h 6858000"/>
              <a:gd name="connsiteX24" fmla="*/ 95738 w 4417162"/>
              <a:gd name="connsiteY24" fmla="*/ 1017587 h 6858000"/>
              <a:gd name="connsiteX25" fmla="*/ 115893 w 4417162"/>
              <a:gd name="connsiteY25" fmla="*/ 1055687 h 6858000"/>
              <a:gd name="connsiteX26" fmla="*/ 134368 w 4417162"/>
              <a:gd name="connsiteY26" fmla="*/ 1095375 h 6858000"/>
              <a:gd name="connsiteX27" fmla="*/ 152844 w 4417162"/>
              <a:gd name="connsiteY27" fmla="*/ 1136650 h 6858000"/>
              <a:gd name="connsiteX28" fmla="*/ 167960 w 4417162"/>
              <a:gd name="connsiteY28" fmla="*/ 1182687 h 6858000"/>
              <a:gd name="connsiteX29" fmla="*/ 178038 w 4417162"/>
              <a:gd name="connsiteY29" fmla="*/ 1235075 h 6858000"/>
              <a:gd name="connsiteX30" fmla="*/ 188115 w 4417162"/>
              <a:gd name="connsiteY30" fmla="*/ 1295400 h 6858000"/>
              <a:gd name="connsiteX31" fmla="*/ 189795 w 4417162"/>
              <a:gd name="connsiteY31" fmla="*/ 1363662 h 6858000"/>
              <a:gd name="connsiteX32" fmla="*/ 188115 w 4417162"/>
              <a:gd name="connsiteY32" fmla="*/ 1431925 h 6858000"/>
              <a:gd name="connsiteX33" fmla="*/ 178038 w 4417162"/>
              <a:gd name="connsiteY33" fmla="*/ 1492250 h 6858000"/>
              <a:gd name="connsiteX34" fmla="*/ 167960 w 4417162"/>
              <a:gd name="connsiteY34" fmla="*/ 1544637 h 6858000"/>
              <a:gd name="connsiteX35" fmla="*/ 152844 w 4417162"/>
              <a:gd name="connsiteY35" fmla="*/ 1589087 h 6858000"/>
              <a:gd name="connsiteX36" fmla="*/ 134368 w 4417162"/>
              <a:gd name="connsiteY36" fmla="*/ 1631950 h 6858000"/>
              <a:gd name="connsiteX37" fmla="*/ 115893 w 4417162"/>
              <a:gd name="connsiteY37" fmla="*/ 1671637 h 6858000"/>
              <a:gd name="connsiteX38" fmla="*/ 95738 w 4417162"/>
              <a:gd name="connsiteY38" fmla="*/ 1708150 h 6858000"/>
              <a:gd name="connsiteX39" fmla="*/ 75583 w 4417162"/>
              <a:gd name="connsiteY39" fmla="*/ 1743075 h 6858000"/>
              <a:gd name="connsiteX40" fmla="*/ 55427 w 4417162"/>
              <a:gd name="connsiteY40" fmla="*/ 1782762 h 6858000"/>
              <a:gd name="connsiteX41" fmla="*/ 38632 w 4417162"/>
              <a:gd name="connsiteY41" fmla="*/ 1824037 h 6858000"/>
              <a:gd name="connsiteX42" fmla="*/ 23515 w 4417162"/>
              <a:gd name="connsiteY42" fmla="*/ 1870075 h 6858000"/>
              <a:gd name="connsiteX43" fmla="*/ 11758 w 4417162"/>
              <a:gd name="connsiteY43" fmla="*/ 1922462 h 6858000"/>
              <a:gd name="connsiteX44" fmla="*/ 3359 w 4417162"/>
              <a:gd name="connsiteY44" fmla="*/ 1982787 h 6858000"/>
              <a:gd name="connsiteX45" fmla="*/ 0 w 4417162"/>
              <a:gd name="connsiteY45" fmla="*/ 2051050 h 6858000"/>
              <a:gd name="connsiteX46" fmla="*/ 3359 w 4417162"/>
              <a:gd name="connsiteY46" fmla="*/ 2119312 h 6858000"/>
              <a:gd name="connsiteX47" fmla="*/ 11758 w 4417162"/>
              <a:gd name="connsiteY47" fmla="*/ 2179637 h 6858000"/>
              <a:gd name="connsiteX48" fmla="*/ 23515 w 4417162"/>
              <a:gd name="connsiteY48" fmla="*/ 2232025 h 6858000"/>
              <a:gd name="connsiteX49" fmla="*/ 38632 w 4417162"/>
              <a:gd name="connsiteY49" fmla="*/ 2278062 h 6858000"/>
              <a:gd name="connsiteX50" fmla="*/ 55427 w 4417162"/>
              <a:gd name="connsiteY50" fmla="*/ 2319337 h 6858000"/>
              <a:gd name="connsiteX51" fmla="*/ 75583 w 4417162"/>
              <a:gd name="connsiteY51" fmla="*/ 2359025 h 6858000"/>
              <a:gd name="connsiteX52" fmla="*/ 95738 w 4417162"/>
              <a:gd name="connsiteY52" fmla="*/ 2395537 h 6858000"/>
              <a:gd name="connsiteX53" fmla="*/ 115893 w 4417162"/>
              <a:gd name="connsiteY53" fmla="*/ 2433637 h 6858000"/>
              <a:gd name="connsiteX54" fmla="*/ 134368 w 4417162"/>
              <a:gd name="connsiteY54" fmla="*/ 2471737 h 6858000"/>
              <a:gd name="connsiteX55" fmla="*/ 152844 w 4417162"/>
              <a:gd name="connsiteY55" fmla="*/ 2513012 h 6858000"/>
              <a:gd name="connsiteX56" fmla="*/ 167960 w 4417162"/>
              <a:gd name="connsiteY56" fmla="*/ 2560637 h 6858000"/>
              <a:gd name="connsiteX57" fmla="*/ 178038 w 4417162"/>
              <a:gd name="connsiteY57" fmla="*/ 2613025 h 6858000"/>
              <a:gd name="connsiteX58" fmla="*/ 188115 w 4417162"/>
              <a:gd name="connsiteY58" fmla="*/ 2671762 h 6858000"/>
              <a:gd name="connsiteX59" fmla="*/ 189795 w 4417162"/>
              <a:gd name="connsiteY59" fmla="*/ 2741612 h 6858000"/>
              <a:gd name="connsiteX60" fmla="*/ 188115 w 4417162"/>
              <a:gd name="connsiteY60" fmla="*/ 2809875 h 6858000"/>
              <a:gd name="connsiteX61" fmla="*/ 178038 w 4417162"/>
              <a:gd name="connsiteY61" fmla="*/ 2868612 h 6858000"/>
              <a:gd name="connsiteX62" fmla="*/ 167960 w 4417162"/>
              <a:gd name="connsiteY62" fmla="*/ 2922587 h 6858000"/>
              <a:gd name="connsiteX63" fmla="*/ 152844 w 4417162"/>
              <a:gd name="connsiteY63" fmla="*/ 2967037 h 6858000"/>
              <a:gd name="connsiteX64" fmla="*/ 134368 w 4417162"/>
              <a:gd name="connsiteY64" fmla="*/ 3009900 h 6858000"/>
              <a:gd name="connsiteX65" fmla="*/ 115893 w 4417162"/>
              <a:gd name="connsiteY65" fmla="*/ 3046412 h 6858000"/>
              <a:gd name="connsiteX66" fmla="*/ 95738 w 4417162"/>
              <a:gd name="connsiteY66" fmla="*/ 3084512 h 6858000"/>
              <a:gd name="connsiteX67" fmla="*/ 75583 w 4417162"/>
              <a:gd name="connsiteY67" fmla="*/ 3121025 h 6858000"/>
              <a:gd name="connsiteX68" fmla="*/ 55427 w 4417162"/>
              <a:gd name="connsiteY68" fmla="*/ 3160712 h 6858000"/>
              <a:gd name="connsiteX69" fmla="*/ 38632 w 4417162"/>
              <a:gd name="connsiteY69" fmla="*/ 3201987 h 6858000"/>
              <a:gd name="connsiteX70" fmla="*/ 23515 w 4417162"/>
              <a:gd name="connsiteY70" fmla="*/ 3248025 h 6858000"/>
              <a:gd name="connsiteX71" fmla="*/ 11758 w 4417162"/>
              <a:gd name="connsiteY71" fmla="*/ 3300412 h 6858000"/>
              <a:gd name="connsiteX72" fmla="*/ 3359 w 4417162"/>
              <a:gd name="connsiteY72" fmla="*/ 3360737 h 6858000"/>
              <a:gd name="connsiteX73" fmla="*/ 0 w 4417162"/>
              <a:gd name="connsiteY73" fmla="*/ 3427412 h 6858000"/>
              <a:gd name="connsiteX74" fmla="*/ 3359 w 4417162"/>
              <a:gd name="connsiteY74" fmla="*/ 3497262 h 6858000"/>
              <a:gd name="connsiteX75" fmla="*/ 11758 w 4417162"/>
              <a:gd name="connsiteY75" fmla="*/ 3557587 h 6858000"/>
              <a:gd name="connsiteX76" fmla="*/ 23515 w 4417162"/>
              <a:gd name="connsiteY76" fmla="*/ 3609975 h 6858000"/>
              <a:gd name="connsiteX77" fmla="*/ 38632 w 4417162"/>
              <a:gd name="connsiteY77" fmla="*/ 3656012 h 6858000"/>
              <a:gd name="connsiteX78" fmla="*/ 55427 w 4417162"/>
              <a:gd name="connsiteY78" fmla="*/ 3697287 h 6858000"/>
              <a:gd name="connsiteX79" fmla="*/ 75583 w 4417162"/>
              <a:gd name="connsiteY79" fmla="*/ 3736975 h 6858000"/>
              <a:gd name="connsiteX80" fmla="*/ 115893 w 4417162"/>
              <a:gd name="connsiteY80" fmla="*/ 3811587 h 6858000"/>
              <a:gd name="connsiteX81" fmla="*/ 134368 w 4417162"/>
              <a:gd name="connsiteY81" fmla="*/ 3848100 h 6858000"/>
              <a:gd name="connsiteX82" fmla="*/ 152844 w 4417162"/>
              <a:gd name="connsiteY82" fmla="*/ 3890962 h 6858000"/>
              <a:gd name="connsiteX83" fmla="*/ 167960 w 4417162"/>
              <a:gd name="connsiteY83" fmla="*/ 3935412 h 6858000"/>
              <a:gd name="connsiteX84" fmla="*/ 178038 w 4417162"/>
              <a:gd name="connsiteY84" fmla="*/ 3987800 h 6858000"/>
              <a:gd name="connsiteX85" fmla="*/ 188115 w 4417162"/>
              <a:gd name="connsiteY85" fmla="*/ 4048125 h 6858000"/>
              <a:gd name="connsiteX86" fmla="*/ 189795 w 4417162"/>
              <a:gd name="connsiteY86" fmla="*/ 4116387 h 6858000"/>
              <a:gd name="connsiteX87" fmla="*/ 188115 w 4417162"/>
              <a:gd name="connsiteY87" fmla="*/ 4186237 h 6858000"/>
              <a:gd name="connsiteX88" fmla="*/ 178038 w 4417162"/>
              <a:gd name="connsiteY88" fmla="*/ 4244975 h 6858000"/>
              <a:gd name="connsiteX89" fmla="*/ 167960 w 4417162"/>
              <a:gd name="connsiteY89" fmla="*/ 4297362 h 6858000"/>
              <a:gd name="connsiteX90" fmla="*/ 152844 w 4417162"/>
              <a:gd name="connsiteY90" fmla="*/ 4343400 h 6858000"/>
              <a:gd name="connsiteX91" fmla="*/ 134368 w 4417162"/>
              <a:gd name="connsiteY91" fmla="*/ 4386262 h 6858000"/>
              <a:gd name="connsiteX92" fmla="*/ 115893 w 4417162"/>
              <a:gd name="connsiteY92" fmla="*/ 4424362 h 6858000"/>
              <a:gd name="connsiteX93" fmla="*/ 75583 w 4417162"/>
              <a:gd name="connsiteY93" fmla="*/ 4498975 h 6858000"/>
              <a:gd name="connsiteX94" fmla="*/ 55427 w 4417162"/>
              <a:gd name="connsiteY94" fmla="*/ 4537075 h 6858000"/>
              <a:gd name="connsiteX95" fmla="*/ 38632 w 4417162"/>
              <a:gd name="connsiteY95" fmla="*/ 4579937 h 6858000"/>
              <a:gd name="connsiteX96" fmla="*/ 23515 w 4417162"/>
              <a:gd name="connsiteY96" fmla="*/ 4625975 h 6858000"/>
              <a:gd name="connsiteX97" fmla="*/ 11758 w 4417162"/>
              <a:gd name="connsiteY97" fmla="*/ 4678362 h 6858000"/>
              <a:gd name="connsiteX98" fmla="*/ 3359 w 4417162"/>
              <a:gd name="connsiteY98" fmla="*/ 4738687 h 6858000"/>
              <a:gd name="connsiteX99" fmla="*/ 0 w 4417162"/>
              <a:gd name="connsiteY99" fmla="*/ 4806950 h 6858000"/>
              <a:gd name="connsiteX100" fmla="*/ 3359 w 4417162"/>
              <a:gd name="connsiteY100" fmla="*/ 4875212 h 6858000"/>
              <a:gd name="connsiteX101" fmla="*/ 11758 w 4417162"/>
              <a:gd name="connsiteY101" fmla="*/ 4935537 h 6858000"/>
              <a:gd name="connsiteX102" fmla="*/ 23515 w 4417162"/>
              <a:gd name="connsiteY102" fmla="*/ 4987925 h 6858000"/>
              <a:gd name="connsiteX103" fmla="*/ 38632 w 4417162"/>
              <a:gd name="connsiteY103" fmla="*/ 5033962 h 6858000"/>
              <a:gd name="connsiteX104" fmla="*/ 55427 w 4417162"/>
              <a:gd name="connsiteY104" fmla="*/ 5075237 h 6858000"/>
              <a:gd name="connsiteX105" fmla="*/ 75583 w 4417162"/>
              <a:gd name="connsiteY105" fmla="*/ 5114925 h 6858000"/>
              <a:gd name="connsiteX106" fmla="*/ 95738 w 4417162"/>
              <a:gd name="connsiteY106" fmla="*/ 5149850 h 6858000"/>
              <a:gd name="connsiteX107" fmla="*/ 115893 w 4417162"/>
              <a:gd name="connsiteY107" fmla="*/ 5186362 h 6858000"/>
              <a:gd name="connsiteX108" fmla="*/ 134368 w 4417162"/>
              <a:gd name="connsiteY108" fmla="*/ 5226050 h 6858000"/>
              <a:gd name="connsiteX109" fmla="*/ 152844 w 4417162"/>
              <a:gd name="connsiteY109" fmla="*/ 5268912 h 6858000"/>
              <a:gd name="connsiteX110" fmla="*/ 167960 w 4417162"/>
              <a:gd name="connsiteY110" fmla="*/ 5313362 h 6858000"/>
              <a:gd name="connsiteX111" fmla="*/ 178038 w 4417162"/>
              <a:gd name="connsiteY111" fmla="*/ 5365750 h 6858000"/>
              <a:gd name="connsiteX112" fmla="*/ 188115 w 4417162"/>
              <a:gd name="connsiteY112" fmla="*/ 5426075 h 6858000"/>
              <a:gd name="connsiteX113" fmla="*/ 189795 w 4417162"/>
              <a:gd name="connsiteY113" fmla="*/ 5494337 h 6858000"/>
              <a:gd name="connsiteX114" fmla="*/ 188115 w 4417162"/>
              <a:gd name="connsiteY114" fmla="*/ 5562600 h 6858000"/>
              <a:gd name="connsiteX115" fmla="*/ 178038 w 4417162"/>
              <a:gd name="connsiteY115" fmla="*/ 5622925 h 6858000"/>
              <a:gd name="connsiteX116" fmla="*/ 167960 w 4417162"/>
              <a:gd name="connsiteY116" fmla="*/ 5675312 h 6858000"/>
              <a:gd name="connsiteX117" fmla="*/ 152844 w 4417162"/>
              <a:gd name="connsiteY117" fmla="*/ 5721350 h 6858000"/>
              <a:gd name="connsiteX118" fmla="*/ 134368 w 4417162"/>
              <a:gd name="connsiteY118" fmla="*/ 5762625 h 6858000"/>
              <a:gd name="connsiteX119" fmla="*/ 115893 w 4417162"/>
              <a:gd name="connsiteY119" fmla="*/ 5802312 h 6858000"/>
              <a:gd name="connsiteX120" fmla="*/ 95738 w 4417162"/>
              <a:gd name="connsiteY120" fmla="*/ 5840412 h 6858000"/>
              <a:gd name="connsiteX121" fmla="*/ 75583 w 4417162"/>
              <a:gd name="connsiteY121" fmla="*/ 5876925 h 6858000"/>
              <a:gd name="connsiteX122" fmla="*/ 55427 w 4417162"/>
              <a:gd name="connsiteY122" fmla="*/ 5915025 h 6858000"/>
              <a:gd name="connsiteX123" fmla="*/ 38632 w 4417162"/>
              <a:gd name="connsiteY123" fmla="*/ 5956300 h 6858000"/>
              <a:gd name="connsiteX124" fmla="*/ 23515 w 4417162"/>
              <a:gd name="connsiteY124" fmla="*/ 6003925 h 6858000"/>
              <a:gd name="connsiteX125" fmla="*/ 11758 w 4417162"/>
              <a:gd name="connsiteY125" fmla="*/ 6056312 h 6858000"/>
              <a:gd name="connsiteX126" fmla="*/ 3359 w 4417162"/>
              <a:gd name="connsiteY126" fmla="*/ 6113462 h 6858000"/>
              <a:gd name="connsiteX127" fmla="*/ 0 w 4417162"/>
              <a:gd name="connsiteY127" fmla="*/ 6183312 h 6858000"/>
              <a:gd name="connsiteX128" fmla="*/ 3359 w 4417162"/>
              <a:gd name="connsiteY128" fmla="*/ 6251575 h 6858000"/>
              <a:gd name="connsiteX129" fmla="*/ 11758 w 4417162"/>
              <a:gd name="connsiteY129" fmla="*/ 6311900 h 6858000"/>
              <a:gd name="connsiteX130" fmla="*/ 23515 w 4417162"/>
              <a:gd name="connsiteY130" fmla="*/ 6361112 h 6858000"/>
              <a:gd name="connsiteX131" fmla="*/ 38632 w 4417162"/>
              <a:gd name="connsiteY131" fmla="*/ 6407150 h 6858000"/>
              <a:gd name="connsiteX132" fmla="*/ 55427 w 4417162"/>
              <a:gd name="connsiteY132" fmla="*/ 6448425 h 6858000"/>
              <a:gd name="connsiteX133" fmla="*/ 73903 w 4417162"/>
              <a:gd name="connsiteY133" fmla="*/ 6488112 h 6858000"/>
              <a:gd name="connsiteX134" fmla="*/ 92379 w 4417162"/>
              <a:gd name="connsiteY134" fmla="*/ 6523037 h 6858000"/>
              <a:gd name="connsiteX135" fmla="*/ 112534 w 4417162"/>
              <a:gd name="connsiteY135" fmla="*/ 6561137 h 6858000"/>
              <a:gd name="connsiteX136" fmla="*/ 132689 w 4417162"/>
              <a:gd name="connsiteY136" fmla="*/ 6597650 h 6858000"/>
              <a:gd name="connsiteX137" fmla="*/ 149485 w 4417162"/>
              <a:gd name="connsiteY137" fmla="*/ 6640512 h 6858000"/>
              <a:gd name="connsiteX138" fmla="*/ 166281 w 4417162"/>
              <a:gd name="connsiteY138" fmla="*/ 6683375 h 6858000"/>
              <a:gd name="connsiteX139" fmla="*/ 176358 w 4417162"/>
              <a:gd name="connsiteY139" fmla="*/ 6735762 h 6858000"/>
              <a:gd name="connsiteX140" fmla="*/ 184756 w 4417162"/>
              <a:gd name="connsiteY140" fmla="*/ 6791325 h 6858000"/>
              <a:gd name="connsiteX141" fmla="*/ 189795 w 4417162"/>
              <a:gd name="connsiteY141" fmla="*/ 6858000 h 6858000"/>
              <a:gd name="connsiteX142" fmla="*/ 334173 w 4417162"/>
              <a:gd name="connsiteY142" fmla="*/ 6858000 h 6858000"/>
              <a:gd name="connsiteX143" fmla="*/ 334174 w 4417162"/>
              <a:gd name="connsiteY143" fmla="*/ 6858000 h 6858000"/>
              <a:gd name="connsiteX144" fmla="*/ 4417162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4417162" y="0"/>
                </a:moveTo>
                <a:lnTo>
                  <a:pt x="334174" y="0"/>
                </a:lnTo>
                <a:lnTo>
                  <a:pt x="334173" y="0"/>
                </a:lnTo>
                <a:lnTo>
                  <a:pt x="189795" y="0"/>
                </a:lnTo>
                <a:lnTo>
                  <a:pt x="184756" y="66675"/>
                </a:lnTo>
                <a:lnTo>
                  <a:pt x="176358" y="122237"/>
                </a:lnTo>
                <a:lnTo>
                  <a:pt x="166281" y="174625"/>
                </a:lnTo>
                <a:lnTo>
                  <a:pt x="149485" y="217487"/>
                </a:lnTo>
                <a:lnTo>
                  <a:pt x="132689" y="260350"/>
                </a:lnTo>
                <a:lnTo>
                  <a:pt x="112534" y="296862"/>
                </a:lnTo>
                <a:lnTo>
                  <a:pt x="92379" y="334962"/>
                </a:lnTo>
                <a:lnTo>
                  <a:pt x="73903" y="369887"/>
                </a:lnTo>
                <a:lnTo>
                  <a:pt x="55427" y="409575"/>
                </a:lnTo>
                <a:lnTo>
                  <a:pt x="38632" y="450850"/>
                </a:lnTo>
                <a:lnTo>
                  <a:pt x="23515" y="496887"/>
                </a:lnTo>
                <a:lnTo>
                  <a:pt x="11758" y="546100"/>
                </a:lnTo>
                <a:lnTo>
                  <a:pt x="3359" y="606425"/>
                </a:lnTo>
                <a:lnTo>
                  <a:pt x="0" y="673100"/>
                </a:lnTo>
                <a:lnTo>
                  <a:pt x="3359" y="744537"/>
                </a:lnTo>
                <a:lnTo>
                  <a:pt x="11758" y="801687"/>
                </a:lnTo>
                <a:lnTo>
                  <a:pt x="23515" y="854075"/>
                </a:lnTo>
                <a:lnTo>
                  <a:pt x="38632" y="901700"/>
                </a:lnTo>
                <a:lnTo>
                  <a:pt x="55427" y="942975"/>
                </a:lnTo>
                <a:lnTo>
                  <a:pt x="75583" y="981075"/>
                </a:lnTo>
                <a:lnTo>
                  <a:pt x="95738" y="1017587"/>
                </a:lnTo>
                <a:lnTo>
                  <a:pt x="115893" y="1055687"/>
                </a:lnTo>
                <a:lnTo>
                  <a:pt x="134368" y="1095375"/>
                </a:lnTo>
                <a:lnTo>
                  <a:pt x="152844" y="1136650"/>
                </a:lnTo>
                <a:lnTo>
                  <a:pt x="167960" y="1182687"/>
                </a:lnTo>
                <a:lnTo>
                  <a:pt x="178038" y="1235075"/>
                </a:lnTo>
                <a:lnTo>
                  <a:pt x="188115" y="1295400"/>
                </a:lnTo>
                <a:lnTo>
                  <a:pt x="189795" y="1363662"/>
                </a:lnTo>
                <a:lnTo>
                  <a:pt x="188115" y="1431925"/>
                </a:lnTo>
                <a:lnTo>
                  <a:pt x="178038" y="1492250"/>
                </a:lnTo>
                <a:lnTo>
                  <a:pt x="167960" y="1544637"/>
                </a:lnTo>
                <a:lnTo>
                  <a:pt x="152844" y="1589087"/>
                </a:lnTo>
                <a:lnTo>
                  <a:pt x="134368" y="1631950"/>
                </a:lnTo>
                <a:lnTo>
                  <a:pt x="115893" y="1671637"/>
                </a:lnTo>
                <a:lnTo>
                  <a:pt x="95738" y="1708150"/>
                </a:lnTo>
                <a:lnTo>
                  <a:pt x="75583" y="1743075"/>
                </a:lnTo>
                <a:lnTo>
                  <a:pt x="55427" y="1782762"/>
                </a:lnTo>
                <a:lnTo>
                  <a:pt x="38632" y="1824037"/>
                </a:lnTo>
                <a:lnTo>
                  <a:pt x="23515" y="1870075"/>
                </a:lnTo>
                <a:lnTo>
                  <a:pt x="11758" y="1922462"/>
                </a:lnTo>
                <a:lnTo>
                  <a:pt x="3359" y="1982787"/>
                </a:lnTo>
                <a:lnTo>
                  <a:pt x="0" y="2051050"/>
                </a:lnTo>
                <a:lnTo>
                  <a:pt x="3359" y="2119312"/>
                </a:lnTo>
                <a:lnTo>
                  <a:pt x="11758" y="2179637"/>
                </a:lnTo>
                <a:lnTo>
                  <a:pt x="23515" y="2232025"/>
                </a:lnTo>
                <a:lnTo>
                  <a:pt x="38632" y="2278062"/>
                </a:lnTo>
                <a:lnTo>
                  <a:pt x="55427" y="2319337"/>
                </a:lnTo>
                <a:lnTo>
                  <a:pt x="75583" y="2359025"/>
                </a:lnTo>
                <a:lnTo>
                  <a:pt x="95738" y="2395537"/>
                </a:lnTo>
                <a:lnTo>
                  <a:pt x="115893" y="2433637"/>
                </a:lnTo>
                <a:lnTo>
                  <a:pt x="134368" y="2471737"/>
                </a:lnTo>
                <a:lnTo>
                  <a:pt x="152844" y="2513012"/>
                </a:lnTo>
                <a:lnTo>
                  <a:pt x="167960" y="2560637"/>
                </a:lnTo>
                <a:lnTo>
                  <a:pt x="178038" y="2613025"/>
                </a:lnTo>
                <a:lnTo>
                  <a:pt x="188115" y="2671762"/>
                </a:lnTo>
                <a:lnTo>
                  <a:pt x="189795" y="2741612"/>
                </a:lnTo>
                <a:lnTo>
                  <a:pt x="188115" y="2809875"/>
                </a:lnTo>
                <a:lnTo>
                  <a:pt x="178038" y="2868612"/>
                </a:lnTo>
                <a:lnTo>
                  <a:pt x="167960" y="2922587"/>
                </a:lnTo>
                <a:lnTo>
                  <a:pt x="152844" y="2967037"/>
                </a:lnTo>
                <a:lnTo>
                  <a:pt x="134368" y="3009900"/>
                </a:lnTo>
                <a:lnTo>
                  <a:pt x="115893" y="3046412"/>
                </a:lnTo>
                <a:lnTo>
                  <a:pt x="95738" y="3084512"/>
                </a:lnTo>
                <a:lnTo>
                  <a:pt x="75583" y="3121025"/>
                </a:lnTo>
                <a:lnTo>
                  <a:pt x="55427" y="3160712"/>
                </a:lnTo>
                <a:lnTo>
                  <a:pt x="38632" y="3201987"/>
                </a:lnTo>
                <a:lnTo>
                  <a:pt x="23515" y="3248025"/>
                </a:lnTo>
                <a:lnTo>
                  <a:pt x="11758" y="3300412"/>
                </a:lnTo>
                <a:lnTo>
                  <a:pt x="3359" y="3360737"/>
                </a:lnTo>
                <a:lnTo>
                  <a:pt x="0" y="3427412"/>
                </a:lnTo>
                <a:lnTo>
                  <a:pt x="3359" y="3497262"/>
                </a:lnTo>
                <a:lnTo>
                  <a:pt x="11758" y="3557587"/>
                </a:lnTo>
                <a:lnTo>
                  <a:pt x="23515" y="3609975"/>
                </a:lnTo>
                <a:lnTo>
                  <a:pt x="38632" y="3656012"/>
                </a:lnTo>
                <a:lnTo>
                  <a:pt x="55427" y="3697287"/>
                </a:lnTo>
                <a:lnTo>
                  <a:pt x="75583" y="3736975"/>
                </a:lnTo>
                <a:lnTo>
                  <a:pt x="115893" y="3811587"/>
                </a:lnTo>
                <a:lnTo>
                  <a:pt x="134368" y="3848100"/>
                </a:lnTo>
                <a:lnTo>
                  <a:pt x="152844" y="3890962"/>
                </a:lnTo>
                <a:lnTo>
                  <a:pt x="167960" y="3935412"/>
                </a:lnTo>
                <a:lnTo>
                  <a:pt x="178038" y="3987800"/>
                </a:lnTo>
                <a:lnTo>
                  <a:pt x="188115" y="4048125"/>
                </a:lnTo>
                <a:lnTo>
                  <a:pt x="189795" y="4116387"/>
                </a:lnTo>
                <a:lnTo>
                  <a:pt x="188115" y="4186237"/>
                </a:lnTo>
                <a:lnTo>
                  <a:pt x="178038" y="4244975"/>
                </a:lnTo>
                <a:lnTo>
                  <a:pt x="167960" y="4297362"/>
                </a:lnTo>
                <a:lnTo>
                  <a:pt x="152844" y="4343400"/>
                </a:lnTo>
                <a:lnTo>
                  <a:pt x="134368" y="4386262"/>
                </a:lnTo>
                <a:lnTo>
                  <a:pt x="115893" y="4424362"/>
                </a:lnTo>
                <a:lnTo>
                  <a:pt x="75583" y="4498975"/>
                </a:lnTo>
                <a:lnTo>
                  <a:pt x="55427" y="4537075"/>
                </a:lnTo>
                <a:lnTo>
                  <a:pt x="38632" y="4579937"/>
                </a:lnTo>
                <a:lnTo>
                  <a:pt x="23515" y="4625975"/>
                </a:lnTo>
                <a:lnTo>
                  <a:pt x="11758" y="4678362"/>
                </a:lnTo>
                <a:lnTo>
                  <a:pt x="3359" y="4738687"/>
                </a:lnTo>
                <a:lnTo>
                  <a:pt x="0" y="4806950"/>
                </a:lnTo>
                <a:lnTo>
                  <a:pt x="3359" y="4875212"/>
                </a:lnTo>
                <a:lnTo>
                  <a:pt x="11758" y="4935537"/>
                </a:lnTo>
                <a:lnTo>
                  <a:pt x="23515" y="4987925"/>
                </a:lnTo>
                <a:lnTo>
                  <a:pt x="38632" y="5033962"/>
                </a:lnTo>
                <a:lnTo>
                  <a:pt x="55427" y="5075237"/>
                </a:lnTo>
                <a:lnTo>
                  <a:pt x="75583" y="5114925"/>
                </a:lnTo>
                <a:lnTo>
                  <a:pt x="95738" y="5149850"/>
                </a:lnTo>
                <a:lnTo>
                  <a:pt x="115893" y="5186362"/>
                </a:lnTo>
                <a:lnTo>
                  <a:pt x="134368" y="5226050"/>
                </a:lnTo>
                <a:lnTo>
                  <a:pt x="152844" y="5268912"/>
                </a:lnTo>
                <a:lnTo>
                  <a:pt x="167960" y="5313362"/>
                </a:lnTo>
                <a:lnTo>
                  <a:pt x="178038" y="5365750"/>
                </a:lnTo>
                <a:lnTo>
                  <a:pt x="188115" y="5426075"/>
                </a:lnTo>
                <a:lnTo>
                  <a:pt x="189795" y="5494337"/>
                </a:lnTo>
                <a:lnTo>
                  <a:pt x="188115" y="5562600"/>
                </a:lnTo>
                <a:lnTo>
                  <a:pt x="178038" y="5622925"/>
                </a:lnTo>
                <a:lnTo>
                  <a:pt x="167960" y="5675312"/>
                </a:lnTo>
                <a:lnTo>
                  <a:pt x="152844" y="5721350"/>
                </a:lnTo>
                <a:lnTo>
                  <a:pt x="134368" y="5762625"/>
                </a:lnTo>
                <a:lnTo>
                  <a:pt x="115893" y="5802312"/>
                </a:lnTo>
                <a:lnTo>
                  <a:pt x="95738" y="5840412"/>
                </a:lnTo>
                <a:lnTo>
                  <a:pt x="75583" y="5876925"/>
                </a:lnTo>
                <a:lnTo>
                  <a:pt x="55427" y="5915025"/>
                </a:lnTo>
                <a:lnTo>
                  <a:pt x="38632" y="5956300"/>
                </a:lnTo>
                <a:lnTo>
                  <a:pt x="23515" y="6003925"/>
                </a:lnTo>
                <a:lnTo>
                  <a:pt x="11758" y="6056312"/>
                </a:lnTo>
                <a:lnTo>
                  <a:pt x="3359" y="6113462"/>
                </a:lnTo>
                <a:lnTo>
                  <a:pt x="0" y="6183312"/>
                </a:lnTo>
                <a:lnTo>
                  <a:pt x="3359" y="6251575"/>
                </a:lnTo>
                <a:lnTo>
                  <a:pt x="11758" y="6311900"/>
                </a:lnTo>
                <a:lnTo>
                  <a:pt x="23515" y="6361112"/>
                </a:lnTo>
                <a:lnTo>
                  <a:pt x="38632" y="6407150"/>
                </a:lnTo>
                <a:lnTo>
                  <a:pt x="55427" y="6448425"/>
                </a:lnTo>
                <a:lnTo>
                  <a:pt x="73903" y="6488112"/>
                </a:lnTo>
                <a:lnTo>
                  <a:pt x="92379" y="6523037"/>
                </a:lnTo>
                <a:lnTo>
                  <a:pt x="112534" y="6561137"/>
                </a:lnTo>
                <a:lnTo>
                  <a:pt x="132689" y="6597650"/>
                </a:lnTo>
                <a:lnTo>
                  <a:pt x="149485" y="6640512"/>
                </a:lnTo>
                <a:lnTo>
                  <a:pt x="166281" y="6683375"/>
                </a:lnTo>
                <a:lnTo>
                  <a:pt x="176358" y="6735762"/>
                </a:lnTo>
                <a:lnTo>
                  <a:pt x="184756" y="6791325"/>
                </a:lnTo>
                <a:lnTo>
                  <a:pt x="189795" y="6858000"/>
                </a:lnTo>
                <a:lnTo>
                  <a:pt x="334173" y="6858000"/>
                </a:lnTo>
                <a:lnTo>
                  <a:pt x="334174" y="6858000"/>
                </a:lnTo>
                <a:lnTo>
                  <a:pt x="4417162" y="6858000"/>
                </a:lnTo>
                <a:close/>
              </a:path>
            </a:pathLst>
          </a:custGeom>
          <a:solidFill>
            <a:schemeClr val="accent1">
              <a:lumMod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C33BCFA-E23B-D742-9FEB-C169F17D0303}"/>
              </a:ext>
            </a:extLst>
          </p:cNvPr>
          <p:cNvSpPr>
            <a:spLocks noGrp="1"/>
          </p:cNvSpPr>
          <p:nvPr>
            <p:ph type="title"/>
          </p:nvPr>
        </p:nvSpPr>
        <p:spPr>
          <a:xfrm>
            <a:off x="169637" y="603840"/>
            <a:ext cx="3933510" cy="3829615"/>
          </a:xfrm>
        </p:spPr>
        <p:txBody>
          <a:bodyPr vert="horz" lIns="91440" tIns="45720" rIns="91440" bIns="45720" rtlCol="0" anchor="b">
            <a:noAutofit/>
          </a:bodyPr>
          <a:lstStyle/>
          <a:p>
            <a:pPr algn="ctr"/>
            <a:r>
              <a:rPr lang="en-US" sz="3200" kern="1200" dirty="0">
                <a:solidFill>
                  <a:schemeClr val="tx1"/>
                </a:solidFill>
                <a:latin typeface="+mj-lt"/>
                <a:ea typeface="+mj-ea"/>
                <a:cs typeface="+mj-cs"/>
              </a:rPr>
              <a:t>If you would like copies of the PowerPoint slides, please email </a:t>
            </a:r>
            <a:r>
              <a:rPr lang="en-US" sz="3200" b="1" kern="1200" dirty="0" err="1">
                <a:solidFill>
                  <a:schemeClr val="tx1"/>
                </a:solidFill>
                <a:latin typeface="+mj-lt"/>
                <a:ea typeface="+mj-ea"/>
                <a:cs typeface="+mj-cs"/>
              </a:rPr>
              <a:t>david.hoff@umb.edu</a:t>
            </a:r>
            <a:endParaRPr lang="en-US" sz="3200" b="1" kern="1200" dirty="0">
              <a:solidFill>
                <a:schemeClr val="tx1"/>
              </a:solidFill>
              <a:latin typeface="+mj-lt"/>
              <a:ea typeface="+mj-ea"/>
              <a:cs typeface="+mj-cs"/>
            </a:endParaRPr>
          </a:p>
        </p:txBody>
      </p:sp>
      <p:sp>
        <p:nvSpPr>
          <p:cNvPr id="4" name="Slide Number Placeholder 3">
            <a:extLst>
              <a:ext uri="{FF2B5EF4-FFF2-40B4-BE49-F238E27FC236}">
                <a16:creationId xmlns:a16="http://schemas.microsoft.com/office/drawing/2014/main" id="{85FFF02C-5685-DF48-AEA8-E8FA61DC2945}"/>
              </a:ext>
            </a:extLst>
          </p:cNvPr>
          <p:cNvSpPr>
            <a:spLocks noGrp="1"/>
          </p:cNvSpPr>
          <p:nvPr>
            <p:ph type="sldNum" sz="quarter" idx="12"/>
          </p:nvPr>
        </p:nvSpPr>
        <p:spPr>
          <a:xfrm>
            <a:off x="8610600" y="6356350"/>
            <a:ext cx="2743200" cy="365125"/>
          </a:xfrm>
          <a:prstGeom prst="ellipse">
            <a:avLst/>
          </a:prstGeom>
        </p:spPr>
        <p:txBody>
          <a:bodyPr vert="horz" lIns="91440" tIns="45720" rIns="91440" bIns="45720" rtlCol="0" anchor="ctr">
            <a:normAutofit/>
          </a:bodyPr>
          <a:lstStyle/>
          <a:p>
            <a:pPr>
              <a:lnSpc>
                <a:spcPct val="90000"/>
              </a:lnSpc>
              <a:spcAft>
                <a:spcPts val="600"/>
              </a:spcAft>
            </a:pPr>
            <a:fld id="{98DEB4AB-D614-0E48-BC82-3517EAEB4A4F}" type="slidenum">
              <a:rPr lang="en-US">
                <a:solidFill>
                  <a:srgbClr val="000000">
                    <a:alpha val="60000"/>
                  </a:srgbClr>
                </a:solidFill>
              </a:rPr>
              <a:pPr>
                <a:lnSpc>
                  <a:spcPct val="90000"/>
                </a:lnSpc>
                <a:spcAft>
                  <a:spcPts val="600"/>
                </a:spcAft>
              </a:pPr>
              <a:t>3</a:t>
            </a:fld>
            <a:endParaRPr lang="en-US">
              <a:solidFill>
                <a:srgbClr val="000000">
                  <a:alpha val="60000"/>
                </a:srgbClr>
              </a:solidFill>
            </a:endParaRPr>
          </a:p>
        </p:txBody>
      </p:sp>
      <p:pic>
        <p:nvPicPr>
          <p:cNvPr id="5" name="Picture 4">
            <a:extLst>
              <a:ext uri="{FF2B5EF4-FFF2-40B4-BE49-F238E27FC236}">
                <a16:creationId xmlns:a16="http://schemas.microsoft.com/office/drawing/2014/main" id="{BACC3469-3B8F-464E-9926-F4F61D498E0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854799" y="1681595"/>
            <a:ext cx="6985771" cy="3929496"/>
          </a:xfrm>
          <a:prstGeom prst="rect">
            <a:avLst/>
          </a:prstGeom>
          <a:ln>
            <a:solidFill>
              <a:schemeClr val="accent1"/>
            </a:solidFill>
          </a:ln>
        </p:spPr>
      </p:pic>
    </p:spTree>
    <p:extLst>
      <p:ext uri="{BB962C8B-B14F-4D97-AF65-F5344CB8AC3E}">
        <p14:creationId xmlns:p14="http://schemas.microsoft.com/office/powerpoint/2010/main" val="30376083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6C002859-1B41-1E46-BD77-0B1774B8C748}"/>
              </a:ext>
            </a:extLst>
          </p:cNvPr>
          <p:cNvSpPr>
            <a:spLocks noGrp="1"/>
          </p:cNvSpPr>
          <p:nvPr>
            <p:ph type="title"/>
          </p:nvPr>
        </p:nvSpPr>
        <p:spPr>
          <a:xfrm>
            <a:off x="645064" y="525982"/>
            <a:ext cx="4282983" cy="1200361"/>
          </a:xfrm>
        </p:spPr>
        <p:txBody>
          <a:bodyPr vert="horz" lIns="91440" tIns="45720" rIns="91440" bIns="45720" rtlCol="0" anchor="b">
            <a:normAutofit/>
          </a:bodyPr>
          <a:lstStyle/>
          <a:p>
            <a:pPr algn="ctr"/>
            <a:r>
              <a:rPr lang="en-US" sz="3600" b="1" kern="1200" cap="small" dirty="0">
                <a:solidFill>
                  <a:schemeClr val="tx1"/>
                </a:solidFill>
                <a:latin typeface="+mj-lt"/>
                <a:ea typeface="+mj-ea"/>
                <a:cs typeface="+mj-cs"/>
              </a:rPr>
              <a:t>Apprenticeship </a:t>
            </a:r>
            <a:r>
              <a:rPr lang="en-US" sz="3600" b="1" cap="small" dirty="0"/>
              <a:t>Initiatives</a:t>
            </a:r>
            <a:endParaRPr lang="en-US" sz="3600" b="1" kern="1200" cap="small"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BFC03F8-94DD-51DF-0BEB-B3C92BE64988}"/>
              </a:ext>
            </a:extLst>
          </p:cNvPr>
          <p:cNvSpPr>
            <a:spLocks noGrp="1"/>
          </p:cNvSpPr>
          <p:nvPr>
            <p:ph sz="half" idx="1"/>
          </p:nvPr>
        </p:nvSpPr>
        <p:spPr>
          <a:xfrm>
            <a:off x="221551" y="2109484"/>
            <a:ext cx="5165009" cy="4133255"/>
          </a:xfrm>
        </p:spPr>
        <p:txBody>
          <a:bodyPr vert="horz" lIns="91440" tIns="45720" rIns="91440" bIns="45720" rtlCol="0" anchor="ctr">
            <a:normAutofit fontScale="85000" lnSpcReduction="20000"/>
          </a:bodyPr>
          <a:lstStyle/>
          <a:p>
            <a:pPr lvl="1">
              <a:spcBef>
                <a:spcPts val="1032"/>
              </a:spcBef>
            </a:pPr>
            <a:endParaRPr lang="en-US" sz="1800" dirty="0"/>
          </a:p>
          <a:p>
            <a:pPr marL="342900" lvl="1" indent="-342900">
              <a:lnSpc>
                <a:spcPct val="110000"/>
              </a:lnSpc>
              <a:spcBef>
                <a:spcPts val="0"/>
              </a:spcBef>
              <a:spcAft>
                <a:spcPts val="2400"/>
              </a:spcAft>
            </a:pPr>
            <a:r>
              <a:rPr lang="en-US" sz="2800" dirty="0"/>
              <a:t>The Rural Youth Apprenticeship Development Project (</a:t>
            </a:r>
            <a:r>
              <a:rPr lang="en-US" sz="2800" dirty="0">
                <a:hlinkClick r:id="rId3"/>
              </a:rPr>
              <a:t>RYAD</a:t>
            </a:r>
            <a:r>
              <a:rPr lang="en-US" sz="2800" dirty="0"/>
              <a:t>)</a:t>
            </a:r>
          </a:p>
          <a:p>
            <a:pPr marL="342900" lvl="1" indent="-342900">
              <a:lnSpc>
                <a:spcPct val="110000"/>
              </a:lnSpc>
              <a:spcBef>
                <a:spcPts val="0"/>
              </a:spcBef>
              <a:spcAft>
                <a:spcPts val="2400"/>
              </a:spcAft>
            </a:pPr>
            <a:r>
              <a:rPr lang="en-US" sz="2800" dirty="0"/>
              <a:t>Partner in JFF's </a:t>
            </a:r>
            <a:r>
              <a:rPr lang="en-US" sz="2800" dirty="0">
                <a:hlinkClick r:id="rId4"/>
              </a:rPr>
              <a:t>National Innovation Hub for Diversity, Equity, Inclusion, and Accessibility in Registered Apprenticeship </a:t>
            </a:r>
            <a:endParaRPr lang="en-US" sz="2800" dirty="0"/>
          </a:p>
          <a:p>
            <a:pPr marL="342900" lvl="1" indent="-342900">
              <a:lnSpc>
                <a:spcPct val="110000"/>
              </a:lnSpc>
              <a:spcBef>
                <a:spcPts val="0"/>
              </a:spcBef>
              <a:spcAft>
                <a:spcPts val="2400"/>
              </a:spcAft>
            </a:pPr>
            <a:r>
              <a:rPr lang="en-US" sz="2800" dirty="0"/>
              <a:t>Partner in Massachusetts Diversity and Equity in Apprenticeship Initiative</a:t>
            </a:r>
          </a:p>
          <a:p>
            <a:pPr>
              <a:spcBef>
                <a:spcPts val="1632"/>
              </a:spcBef>
            </a:pPr>
            <a:endParaRPr lang="en-US" sz="1800" dirty="0"/>
          </a:p>
        </p:txBody>
      </p:sp>
      <p:sp>
        <p:nvSpPr>
          <p:cNvPr id="15" name="Rectangle 1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CI Logo - Employment, Education, Community Life, Healthcare">
            <a:extLst>
              <a:ext uri="{FF2B5EF4-FFF2-40B4-BE49-F238E27FC236}">
                <a16:creationId xmlns:a16="http://schemas.microsoft.com/office/drawing/2014/main" id="{B0014C36-910C-3E65-603C-A395184FE992}"/>
              </a:ext>
            </a:extLst>
          </p:cNvPr>
          <p:cNvPicPr>
            <a:picLocks noChangeAspect="1"/>
          </p:cNvPicPr>
          <p:nvPr/>
        </p:nvPicPr>
        <p:blipFill>
          <a:blip r:embed="rId5"/>
          <a:stretch>
            <a:fillRect/>
          </a:stretch>
        </p:blipFill>
        <p:spPr>
          <a:xfrm>
            <a:off x="7628417" y="2262782"/>
            <a:ext cx="2321723" cy="2214235"/>
          </a:xfrm>
          <a:prstGeom prst="rect">
            <a:avLst/>
          </a:prstGeom>
        </p:spPr>
      </p:pic>
    </p:spTree>
    <p:extLst>
      <p:ext uri="{BB962C8B-B14F-4D97-AF65-F5344CB8AC3E}">
        <p14:creationId xmlns:p14="http://schemas.microsoft.com/office/powerpoint/2010/main" val="12669993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215C6C6-E45C-4179-9FC1-E8A4C1D47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564726" y="1890469"/>
            <a:ext cx="5860051" cy="2079143"/>
            <a:chOff x="6081624" y="1998368"/>
            <a:chExt cx="5613457" cy="782175"/>
          </a:xfrm>
          <a:solidFill>
            <a:schemeClr val="accent4"/>
          </a:solidFill>
        </p:grpSpPr>
        <p:sp>
          <p:nvSpPr>
            <p:cNvPr id="14" name="Rectangle 13">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7DED4D5A-C3DA-0443-8910-E61CC9CB0182}"/>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98DEB4AB-D614-0E48-BC82-3517EAEB4A4F}" type="slidenum">
              <a:rPr lang="en-US" smtClean="0"/>
              <a:pPr>
                <a:spcAft>
                  <a:spcPts val="600"/>
                </a:spcAft>
              </a:pPr>
              <a:t>5</a:t>
            </a:fld>
            <a:endParaRPr lang="en-US"/>
          </a:p>
        </p:txBody>
      </p:sp>
      <p:sp>
        <p:nvSpPr>
          <p:cNvPr id="2" name="Title 1">
            <a:extLst>
              <a:ext uri="{FF2B5EF4-FFF2-40B4-BE49-F238E27FC236}">
                <a16:creationId xmlns:a16="http://schemas.microsoft.com/office/drawing/2014/main" id="{444B1B53-07F2-D24C-A504-918959E309F4}"/>
              </a:ext>
            </a:extLst>
          </p:cNvPr>
          <p:cNvSpPr>
            <a:spLocks noGrp="1"/>
          </p:cNvSpPr>
          <p:nvPr>
            <p:ph type="title"/>
          </p:nvPr>
        </p:nvSpPr>
        <p:spPr>
          <a:xfrm>
            <a:off x="350520" y="-1870075"/>
            <a:ext cx="2677160" cy="1325563"/>
          </a:xfrm>
        </p:spPr>
        <p:txBody>
          <a:bodyPr>
            <a:normAutofit/>
          </a:bodyPr>
          <a:lstStyle/>
          <a:p>
            <a:r>
              <a:rPr lang="en-US" sz="2000" dirty="0"/>
              <a:t>Work-Based Learning</a:t>
            </a:r>
          </a:p>
        </p:txBody>
      </p:sp>
      <p:graphicFrame>
        <p:nvGraphicFramePr>
          <p:cNvPr id="6" name="Diagram 5">
            <a:extLst>
              <a:ext uri="{FF2B5EF4-FFF2-40B4-BE49-F238E27FC236}">
                <a16:creationId xmlns:a16="http://schemas.microsoft.com/office/drawing/2014/main" id="{AA16B8D7-C90E-CA4D-BD76-830B6D99ED58}"/>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516896860"/>
              </p:ext>
            </p:extLst>
          </p:nvPr>
        </p:nvGraphicFramePr>
        <p:xfrm>
          <a:off x="2016245" y="358275"/>
          <a:ext cx="8435694" cy="56671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60458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259C3-483F-CD4B-9C13-E6A56A5642F2}"/>
              </a:ext>
            </a:extLst>
          </p:cNvPr>
          <p:cNvSpPr>
            <a:spLocks noGrp="1"/>
          </p:cNvSpPr>
          <p:nvPr>
            <p:ph type="title"/>
          </p:nvPr>
        </p:nvSpPr>
        <p:spPr>
          <a:xfrm>
            <a:off x="1534696" y="510605"/>
            <a:ext cx="9520158" cy="1049235"/>
          </a:xfrm>
        </p:spPr>
        <p:txBody>
          <a:bodyPr>
            <a:normAutofit/>
          </a:bodyPr>
          <a:lstStyle/>
          <a:p>
            <a:r>
              <a:rPr lang="en-US" sz="5400" dirty="0">
                <a:latin typeface="Calibri" panose="020F0502020204030204" pitchFamily="34" charset="0"/>
                <a:cs typeface="Calibri" panose="020F0502020204030204" pitchFamily="34" charset="0"/>
              </a:rPr>
              <a:t>Bringing together two worlds</a:t>
            </a:r>
          </a:p>
        </p:txBody>
      </p:sp>
      <p:pic>
        <p:nvPicPr>
          <p:cNvPr id="7" name="Picture 6">
            <a:extLst>
              <a:ext uri="{FF2B5EF4-FFF2-40B4-BE49-F238E27FC236}">
                <a16:creationId xmlns:a16="http://schemas.microsoft.com/office/drawing/2014/main" id="{43995C16-264E-E74E-B101-DA029496F86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85685" y="2278975"/>
            <a:ext cx="3214800" cy="3214800"/>
          </a:xfrm>
          <a:prstGeom prst="rect">
            <a:avLst/>
          </a:prstGeom>
        </p:spPr>
      </p:pic>
      <p:pic>
        <p:nvPicPr>
          <p:cNvPr id="9" name="Picture 8">
            <a:extLst>
              <a:ext uri="{FF2B5EF4-FFF2-40B4-BE49-F238E27FC236}">
                <a16:creationId xmlns:a16="http://schemas.microsoft.com/office/drawing/2014/main" id="{C28A8474-9C6B-D040-A7D2-7E2FB34D77BA}"/>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12743" y="2389589"/>
            <a:ext cx="2993572" cy="2993572"/>
          </a:xfrm>
          <a:prstGeom prst="rect">
            <a:avLst/>
          </a:prstGeom>
        </p:spPr>
      </p:pic>
      <p:sp>
        <p:nvSpPr>
          <p:cNvPr id="10" name="TextBox 9">
            <a:extLst>
              <a:ext uri="{FF2B5EF4-FFF2-40B4-BE49-F238E27FC236}">
                <a16:creationId xmlns:a16="http://schemas.microsoft.com/office/drawing/2014/main" id="{E3D55805-7BC8-4C44-B33A-D1B2D74E97A8}"/>
              </a:ext>
            </a:extLst>
          </p:cNvPr>
          <p:cNvSpPr txBox="1"/>
          <p:nvPr/>
        </p:nvSpPr>
        <p:spPr>
          <a:xfrm>
            <a:off x="2003324" y="3624764"/>
            <a:ext cx="3097161" cy="584775"/>
          </a:xfrm>
          <a:prstGeom prst="rect">
            <a:avLst/>
          </a:prstGeom>
          <a:solidFill>
            <a:srgbClr val="0070C0"/>
          </a:solidFill>
          <a:scene3d>
            <a:camera prst="orthographicFront"/>
            <a:lightRig rig="threePt" dir="t"/>
          </a:scene3d>
          <a:sp3d>
            <a:bevelT prst="angle"/>
          </a:sp3d>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Disability</a:t>
            </a:r>
          </a:p>
        </p:txBody>
      </p:sp>
      <p:sp>
        <p:nvSpPr>
          <p:cNvPr id="11" name="TextBox 10">
            <a:extLst>
              <a:ext uri="{FF2B5EF4-FFF2-40B4-BE49-F238E27FC236}">
                <a16:creationId xmlns:a16="http://schemas.microsoft.com/office/drawing/2014/main" id="{EAED6AA3-9448-B246-A301-1FE31D4C376A}"/>
              </a:ext>
            </a:extLst>
          </p:cNvPr>
          <p:cNvSpPr txBox="1"/>
          <p:nvPr/>
        </p:nvSpPr>
        <p:spPr>
          <a:xfrm>
            <a:off x="7312743" y="3624765"/>
            <a:ext cx="2934753" cy="584775"/>
          </a:xfrm>
          <a:prstGeom prst="rect">
            <a:avLst/>
          </a:prstGeom>
          <a:solidFill>
            <a:schemeClr val="accent4">
              <a:lumMod val="75000"/>
            </a:schemeClr>
          </a:solidFill>
          <a:scene3d>
            <a:camera prst="orthographicFront"/>
            <a:lightRig rig="threePt" dir="t"/>
          </a:scene3d>
          <a:sp3d>
            <a:bevelT prst="angle"/>
          </a:sp3d>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Apprenticeship</a:t>
            </a:r>
          </a:p>
        </p:txBody>
      </p:sp>
    </p:spTree>
    <p:extLst>
      <p:ext uri="{BB962C8B-B14F-4D97-AF65-F5344CB8AC3E}">
        <p14:creationId xmlns:p14="http://schemas.microsoft.com/office/powerpoint/2010/main" val="22607096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F2E748F-5570-604B-8B16-2979B00801A3}"/>
              </a:ext>
            </a:extLst>
          </p:cNvPr>
          <p:cNvSpPr>
            <a:spLocks noGrp="1"/>
          </p:cNvSpPr>
          <p:nvPr>
            <p:ph type="title"/>
          </p:nvPr>
        </p:nvSpPr>
        <p:spPr>
          <a:xfrm>
            <a:off x="208344" y="668002"/>
            <a:ext cx="4181977" cy="3186367"/>
          </a:xfrm>
        </p:spPr>
        <p:txBody>
          <a:bodyPr vert="horz" lIns="91440" tIns="45720" rIns="91440" bIns="45720" rtlCol="0" anchor="b">
            <a:normAutofit/>
          </a:bodyPr>
          <a:lstStyle/>
          <a:p>
            <a:pPr algn="ctr"/>
            <a:r>
              <a:rPr lang="en-US" sz="4800" b="1" i="1" kern="1200" dirty="0">
                <a:solidFill>
                  <a:schemeClr val="tx1"/>
                </a:solidFill>
                <a:latin typeface="+mj-lt"/>
                <a:ea typeface="+mj-ea"/>
                <a:cs typeface="+mj-cs"/>
              </a:rPr>
              <a:t>What is apprenticeship?</a:t>
            </a:r>
          </a:p>
        </p:txBody>
      </p:sp>
      <p:sp>
        <p:nvSpPr>
          <p:cNvPr id="4" name="Slide Number Placeholder 3">
            <a:extLst>
              <a:ext uri="{FF2B5EF4-FFF2-40B4-BE49-F238E27FC236}">
                <a16:creationId xmlns:a16="http://schemas.microsoft.com/office/drawing/2014/main" id="{21B05B85-5DC4-1C42-8285-A6C912F94F8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98DEB4AB-D614-0E48-BC82-3517EAEB4A4F}" type="slidenum">
              <a:rPr kumimoji="0" lang="en-US" sz="1000" b="0" i="0" u="none" strike="noStrike" cap="none" spc="0" normalizeH="0" baseline="0" noProof="0" smtClean="0">
                <a:ln>
                  <a:noFill/>
                </a:ln>
                <a:effectLst/>
                <a:uLnTx/>
                <a:uFillTx/>
              </a:rPr>
              <a:pPr marR="0" lvl="0" indent="0" fontAlgn="auto">
                <a:spcBef>
                  <a:spcPts val="0"/>
                </a:spcBef>
                <a:spcAft>
                  <a:spcPts val="600"/>
                </a:spcAft>
                <a:buClrTx/>
                <a:buSzTx/>
                <a:buFontTx/>
                <a:buNone/>
                <a:tabLst/>
                <a:defRPr/>
              </a:pPr>
              <a:t>7</a:t>
            </a:fld>
            <a:endParaRPr kumimoji="0" lang="en-US" sz="1000" b="0" i="0" u="none" strike="noStrike" cap="none" spc="0" normalizeH="0" baseline="0" noProof="0">
              <a:ln>
                <a:noFill/>
              </a:ln>
              <a:effectLst/>
              <a:uLnTx/>
              <a:uFillTx/>
            </a:endParaRPr>
          </a:p>
        </p:txBody>
      </p:sp>
      <p:graphicFrame>
        <p:nvGraphicFramePr>
          <p:cNvPr id="6" name="Diagram 5">
            <a:extLst>
              <a:ext uri="{FF2B5EF4-FFF2-40B4-BE49-F238E27FC236}">
                <a16:creationId xmlns:a16="http://schemas.microsoft.com/office/drawing/2014/main" id="{B41BABEF-494A-D244-BA03-B115428D3BE2}"/>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630889600"/>
              </p:ext>
            </p:extLst>
          </p:nvPr>
        </p:nvGraphicFramePr>
        <p:xfrm>
          <a:off x="4047283" y="569007"/>
          <a:ext cx="8568152" cy="58104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21171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7FA1E-62B0-C6D5-D1EA-C74DE1DD0622}"/>
              </a:ext>
            </a:extLst>
          </p:cNvPr>
          <p:cNvSpPr>
            <a:spLocks noGrp="1"/>
          </p:cNvSpPr>
          <p:nvPr>
            <p:ph type="title" idx="4294967295"/>
          </p:nvPr>
        </p:nvSpPr>
        <p:spPr>
          <a:xfrm>
            <a:off x="1524000" y="-1504950"/>
            <a:ext cx="7772400" cy="609600"/>
          </a:xfrm>
          <a:prstGeom prst="rect">
            <a:avLst/>
          </a:prstGeom>
        </p:spPr>
        <p:txBody>
          <a:bodyPr/>
          <a:lstStyle/>
          <a:p>
            <a:pPr algn="l"/>
            <a:r>
              <a:rPr lang="en-US" sz="2000"/>
              <a:t>The core of apprenticeship…</a:t>
            </a:r>
          </a:p>
        </p:txBody>
      </p:sp>
      <p:sp>
        <p:nvSpPr>
          <p:cNvPr id="3" name="Content Placeholder 2">
            <a:extLst>
              <a:ext uri="{FF2B5EF4-FFF2-40B4-BE49-F238E27FC236}">
                <a16:creationId xmlns:a16="http://schemas.microsoft.com/office/drawing/2014/main" id="{9D4175D9-6286-BE56-DE99-608D17C9D31F}"/>
              </a:ext>
            </a:extLst>
          </p:cNvPr>
          <p:cNvSpPr>
            <a:spLocks noGrp="1"/>
          </p:cNvSpPr>
          <p:nvPr>
            <p:ph idx="4294967295"/>
          </p:nvPr>
        </p:nvSpPr>
        <p:spPr>
          <a:xfrm>
            <a:off x="4856602" y="4451024"/>
            <a:ext cx="3614206" cy="1731118"/>
          </a:xfrm>
          <a:prstGeom prst="rect">
            <a:avLst/>
          </a:prstGeom>
          <a:solidFill>
            <a:srgbClr val="006699"/>
          </a:solidFill>
          <a:scene3d>
            <a:camera prst="orthographicFront"/>
            <a:lightRig rig="threePt" dir="t"/>
          </a:scene3d>
          <a:sp3d>
            <a:bevelT prst="angle"/>
          </a:sp3d>
        </p:spPr>
        <p:txBody>
          <a:bodyPr anchor="ctr" anchorCtr="0"/>
          <a:lstStyle/>
          <a:p>
            <a:pPr marL="0" indent="0" algn="ctr">
              <a:buNone/>
            </a:pPr>
            <a:r>
              <a:rPr lang="en-US" b="0" dirty="0">
                <a:solidFill>
                  <a:schemeClr val="bg1"/>
                </a:solidFill>
              </a:rPr>
              <a:t>Individuals are trained based on industry standards </a:t>
            </a:r>
          </a:p>
        </p:txBody>
      </p:sp>
      <p:pic>
        <p:nvPicPr>
          <p:cNvPr id="17" name="Picture 16">
            <a:extLst>
              <a:ext uri="{FF2B5EF4-FFF2-40B4-BE49-F238E27FC236}">
                <a16:creationId xmlns:a16="http://schemas.microsoft.com/office/drawing/2014/main" id="{03E4AF59-E583-41FE-82FE-9481E3C420FF}"/>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13778" y="426274"/>
            <a:ext cx="4526843" cy="3564889"/>
          </a:xfrm>
          <a:prstGeom prst="rect">
            <a:avLst/>
          </a:prstGeom>
        </p:spPr>
      </p:pic>
      <p:sp>
        <p:nvSpPr>
          <p:cNvPr id="23" name="Content Placeholder 2">
            <a:extLst>
              <a:ext uri="{FF2B5EF4-FFF2-40B4-BE49-F238E27FC236}">
                <a16:creationId xmlns:a16="http://schemas.microsoft.com/office/drawing/2014/main" id="{D27572BC-CB72-F802-716E-F12F07FD6146}"/>
              </a:ext>
            </a:extLst>
          </p:cNvPr>
          <p:cNvSpPr txBox="1">
            <a:spLocks/>
          </p:cNvSpPr>
          <p:nvPr/>
        </p:nvSpPr>
        <p:spPr bwMode="auto">
          <a:xfrm>
            <a:off x="704499" y="722360"/>
            <a:ext cx="3752850" cy="2860895"/>
          </a:xfrm>
          <a:prstGeom prst="rect">
            <a:avLst/>
          </a:prstGeom>
          <a:solidFill>
            <a:srgbClr val="FFFF00"/>
          </a:solidFill>
          <a:ln>
            <a:noFill/>
          </a:ln>
          <a:effectLst/>
          <a:scene3d>
            <a:camera prst="orthographicFront"/>
            <a:lightRig rig="threePt" dir="t"/>
          </a:scene3d>
          <a:sp3d>
            <a:bevelT prst="angle"/>
          </a:sp3d>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800" b="0" dirty="0"/>
              <a:t>Highly structured systematic approach to competency development over time resulting in an industry credential</a:t>
            </a:r>
          </a:p>
        </p:txBody>
      </p:sp>
      <p:cxnSp>
        <p:nvCxnSpPr>
          <p:cNvPr id="25" name="Straight Connector 24">
            <a:extLst>
              <a:ext uri="{FF2B5EF4-FFF2-40B4-BE49-F238E27FC236}">
                <a16:creationId xmlns:a16="http://schemas.microsoft.com/office/drawing/2014/main" id="{F4C1CB63-2FC7-26DD-1236-EBA225CB1799}"/>
              </a:ext>
              <a:ext uri="{C183D7F6-B498-43B3-948B-1728B52AA6E4}">
                <adec:decorative xmlns:adec="http://schemas.microsoft.com/office/drawing/2017/decorative" val="1"/>
              </a:ext>
            </a:extLst>
          </p:cNvPr>
          <p:cNvCxnSpPr>
            <a:cxnSpLocks/>
          </p:cNvCxnSpPr>
          <p:nvPr/>
        </p:nvCxnSpPr>
        <p:spPr>
          <a:xfrm>
            <a:off x="0" y="124178"/>
            <a:ext cx="12192000" cy="0"/>
          </a:xfrm>
          <a:prstGeom prst="line">
            <a:avLst/>
          </a:prstGeom>
          <a:ln w="254000"/>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2C1E73E-652C-052C-A4A2-5C2AC8AF4853}"/>
              </a:ext>
              <a:ext uri="{C183D7F6-B498-43B3-948B-1728B52AA6E4}">
                <adec:decorative xmlns:adec="http://schemas.microsoft.com/office/drawing/2017/decorative" val="1"/>
              </a:ext>
            </a:extLst>
          </p:cNvPr>
          <p:cNvCxnSpPr>
            <a:cxnSpLocks/>
          </p:cNvCxnSpPr>
          <p:nvPr/>
        </p:nvCxnSpPr>
        <p:spPr>
          <a:xfrm flipV="1">
            <a:off x="0" y="6756972"/>
            <a:ext cx="12192000" cy="9878"/>
          </a:xfrm>
          <a:prstGeom prst="line">
            <a:avLst/>
          </a:prstGeom>
          <a:ln w="2540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55634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75940E-98C5-894C-9D76-65CB701DCF95}"/>
              </a:ext>
            </a:extLst>
          </p:cNvPr>
          <p:cNvSpPr>
            <a:spLocks noGrp="1"/>
          </p:cNvSpPr>
          <p:nvPr>
            <p:ph type="title"/>
          </p:nvPr>
        </p:nvSpPr>
        <p:spPr>
          <a:xfrm>
            <a:off x="793662" y="386930"/>
            <a:ext cx="10066122" cy="1298448"/>
          </a:xfrm>
        </p:spPr>
        <p:txBody>
          <a:bodyPr anchor="b">
            <a:normAutofit/>
          </a:bodyPr>
          <a:lstStyle/>
          <a:p>
            <a:r>
              <a:rPr lang="en-US" sz="4800" cap="small" dirty="0">
                <a:latin typeface="Arial"/>
                <a:cs typeface="Arial"/>
              </a:rPr>
              <a:t>Apprenticeship Models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E77AFBD-47DF-264C-B9F2-E3CE7C118F6A}"/>
              </a:ext>
            </a:extLst>
          </p:cNvPr>
          <p:cNvSpPr>
            <a:spLocks noGrp="1"/>
          </p:cNvSpPr>
          <p:nvPr>
            <p:ph idx="1"/>
          </p:nvPr>
        </p:nvSpPr>
        <p:spPr>
          <a:xfrm>
            <a:off x="403367" y="2484255"/>
            <a:ext cx="5318861" cy="3639450"/>
          </a:xfrm>
        </p:spPr>
        <p:txBody>
          <a:bodyPr anchor="ctr">
            <a:noAutofit/>
          </a:bodyPr>
          <a:lstStyle/>
          <a:p>
            <a:r>
              <a:rPr lang="en-US" b="1" dirty="0"/>
              <a:t>Pre-Apprenticeship:</a:t>
            </a:r>
            <a:br>
              <a:rPr lang="en-US" b="1" dirty="0"/>
            </a:br>
            <a:r>
              <a:rPr lang="en-US" dirty="0"/>
              <a:t>preparation for apprenticeship</a:t>
            </a:r>
          </a:p>
          <a:p>
            <a:r>
              <a:rPr lang="en-US" b="1" dirty="0"/>
              <a:t>Registered apprenticeship: </a:t>
            </a:r>
            <a:r>
              <a:rPr lang="en-US" dirty="0"/>
              <a:t>apprenticeship registered with US Department of Labor</a:t>
            </a:r>
          </a:p>
          <a:p>
            <a:r>
              <a:rPr lang="en-US" b="1" dirty="0"/>
              <a:t>Industry apprenticeships:</a:t>
            </a:r>
            <a:br>
              <a:rPr lang="en-US" b="1" dirty="0"/>
            </a:br>
            <a:r>
              <a:rPr lang="en-US" dirty="0"/>
              <a:t>use an apprenticeship model, but not registered </a:t>
            </a:r>
          </a:p>
        </p:txBody>
      </p:sp>
      <p:pic>
        <p:nvPicPr>
          <p:cNvPr id="5" name="Picture 4">
            <a:extLst>
              <a:ext uri="{FF2B5EF4-FFF2-40B4-BE49-F238E27FC236}">
                <a16:creationId xmlns:a16="http://schemas.microsoft.com/office/drawing/2014/main" id="{35B99991-9F16-42F1-B79A-255EFAEE13F0}"/>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085078" y="2597435"/>
            <a:ext cx="3428358" cy="3255376"/>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72244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CBC3-21CA-B242-A6AE-2ABC5096B7CE}"/>
              </a:ext>
            </a:extLst>
          </p:cNvPr>
          <p:cNvSpPr>
            <a:spLocks noGrp="1"/>
          </p:cNvSpPr>
          <p:nvPr>
            <p:ph type="title"/>
          </p:nvPr>
        </p:nvSpPr>
        <p:spPr>
          <a:xfrm>
            <a:off x="833119" y="1122363"/>
            <a:ext cx="4497887" cy="2387600"/>
          </a:xfrm>
        </p:spPr>
        <p:txBody>
          <a:bodyPr vert="horz" lIns="91440" tIns="45720" rIns="91440" bIns="45720" rtlCol="0" anchor="b">
            <a:normAutofit/>
          </a:bodyPr>
          <a:lstStyle/>
          <a:p>
            <a:r>
              <a:rPr lang="en-US" sz="5000" b="1" kern="1200" cap="small" dirty="0">
                <a:solidFill>
                  <a:schemeClr val="tx1"/>
                </a:solidFill>
                <a:latin typeface="+mj-lt"/>
                <a:ea typeface="+mj-ea"/>
                <a:cs typeface="+mj-cs"/>
              </a:rPr>
              <a:t>Apprenticeships can be in a diversity of fields</a:t>
            </a:r>
          </a:p>
        </p:txBody>
      </p:sp>
      <p:pic>
        <p:nvPicPr>
          <p:cNvPr id="16" name="Picture 15">
            <a:extLst>
              <a:ext uri="{FF2B5EF4-FFF2-40B4-BE49-F238E27FC236}">
                <a16:creationId xmlns:a16="http://schemas.microsoft.com/office/drawing/2014/main" id="{7C22BEAC-E3B0-7741-8978-C2FFE9AE8F5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99516" y="321732"/>
            <a:ext cx="2432936" cy="1617903"/>
          </a:xfrm>
          <a:prstGeom prst="rect">
            <a:avLst/>
          </a:prstGeom>
        </p:spPr>
      </p:pic>
      <p:pic>
        <p:nvPicPr>
          <p:cNvPr id="28" name="Picture 27">
            <a:extLst>
              <a:ext uri="{FF2B5EF4-FFF2-40B4-BE49-F238E27FC236}">
                <a16:creationId xmlns:a16="http://schemas.microsoft.com/office/drawing/2014/main" id="{201E4FF4-18F2-CA4F-96C8-844EB3B7799B}"/>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1" y="2594945"/>
            <a:ext cx="2439106" cy="1628103"/>
          </a:xfrm>
          <a:prstGeom prst="rect">
            <a:avLst/>
          </a:prstGeom>
        </p:spPr>
      </p:pic>
      <p:pic>
        <p:nvPicPr>
          <p:cNvPr id="6" name="Picture 5">
            <a:extLst>
              <a:ext uri="{FF2B5EF4-FFF2-40B4-BE49-F238E27FC236}">
                <a16:creationId xmlns:a16="http://schemas.microsoft.com/office/drawing/2014/main" id="{5CDD1250-3600-DD46-9853-BAACAD4545CE}"/>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78592" y="2598019"/>
            <a:ext cx="2369932" cy="1581929"/>
          </a:xfrm>
          <a:prstGeom prst="rect">
            <a:avLst/>
          </a:prstGeom>
        </p:spPr>
      </p:pic>
      <p:pic>
        <p:nvPicPr>
          <p:cNvPr id="12" name="Picture 11">
            <a:extLst>
              <a:ext uri="{FF2B5EF4-FFF2-40B4-BE49-F238E27FC236}">
                <a16:creationId xmlns:a16="http://schemas.microsoft.com/office/drawing/2014/main" id="{A3C44D03-313A-9F45-9148-6E4EDF551902}"/>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096000" y="4987513"/>
            <a:ext cx="2439106" cy="1408583"/>
          </a:xfrm>
          <a:prstGeom prst="rect">
            <a:avLst/>
          </a:prstGeom>
        </p:spPr>
      </p:pic>
      <p:cxnSp>
        <p:nvCxnSpPr>
          <p:cNvPr id="35" name="Straight Connector 34">
            <a:extLst>
              <a:ext uri="{FF2B5EF4-FFF2-40B4-BE49-F238E27FC236}">
                <a16:creationId xmlns:a16="http://schemas.microsoft.com/office/drawing/2014/main" id="{DC034BB4-8B50-4484-85C4-0CE4699284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56858" y="0"/>
            <a:ext cx="0" cy="6858000"/>
          </a:xfrm>
          <a:prstGeom prst="line">
            <a:avLst/>
          </a:prstGeom>
          <a:ln w="3810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FF40F687-31C0-8043-ABC8-FAA80B479967}"/>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179859" y="340144"/>
            <a:ext cx="2368665" cy="1581083"/>
          </a:xfrm>
          <a:prstGeom prst="rect">
            <a:avLst/>
          </a:prstGeom>
        </p:spPr>
      </p:pic>
      <p:cxnSp>
        <p:nvCxnSpPr>
          <p:cNvPr id="37" name="Straight Connector 36">
            <a:extLst>
              <a:ext uri="{FF2B5EF4-FFF2-40B4-BE49-F238E27FC236}">
                <a16:creationId xmlns:a16="http://schemas.microsoft.com/office/drawing/2014/main" id="{81B200F7-B57A-4824-BB91-B6624450A5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2228770"/>
            <a:ext cx="60960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A92245C-961F-47D5-9691-272D28692D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36750" y="4581803"/>
            <a:ext cx="605525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31D132A4-0510-6541-A617-F85505BA56E2}"/>
              </a:ext>
            </a:extLst>
          </p:cNvPr>
          <p:cNvSpPr>
            <a:spLocks noGrp="1"/>
          </p:cNvSpPr>
          <p:nvPr>
            <p:ph type="sldNum" sz="quarter" idx="12"/>
          </p:nvPr>
        </p:nvSpPr>
        <p:spPr>
          <a:xfrm>
            <a:off x="10850880" y="6410134"/>
            <a:ext cx="502920" cy="365125"/>
          </a:xfrm>
        </p:spPr>
        <p:txBody>
          <a:bodyPr vert="horz" lIns="91440" tIns="45720" rIns="91440" bIns="45720" rtlCol="0" anchor="ctr">
            <a:normAutofit/>
          </a:bodyPr>
          <a:lstStyle/>
          <a:p>
            <a:pPr>
              <a:spcAft>
                <a:spcPts val="600"/>
              </a:spcAft>
            </a:pPr>
            <a:fld id="{98DEB4AB-D614-0E48-BC82-3517EAEB4A4F}" type="slidenum">
              <a:rPr lang="en-US" sz="1100">
                <a:solidFill>
                  <a:schemeClr val="tx1">
                    <a:lumMod val="75000"/>
                    <a:lumOff val="25000"/>
                  </a:schemeClr>
                </a:solidFill>
              </a:rPr>
              <a:pPr>
                <a:spcAft>
                  <a:spcPts val="600"/>
                </a:spcAft>
              </a:pPr>
              <a:t>10</a:t>
            </a:fld>
            <a:endParaRPr lang="en-US" sz="1100">
              <a:solidFill>
                <a:schemeClr val="tx1">
                  <a:lumMod val="75000"/>
                  <a:lumOff val="25000"/>
                </a:schemeClr>
              </a:solidFill>
            </a:endParaRPr>
          </a:p>
        </p:txBody>
      </p:sp>
      <p:pic>
        <p:nvPicPr>
          <p:cNvPr id="30" name="Picture 29">
            <a:extLst>
              <a:ext uri="{FF2B5EF4-FFF2-40B4-BE49-F238E27FC236}">
                <a16:creationId xmlns:a16="http://schemas.microsoft.com/office/drawing/2014/main" id="{47235D85-02C2-AC43-BB6A-AEC98C676863}"/>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178592" y="4903803"/>
            <a:ext cx="2369932" cy="1576004"/>
          </a:xfrm>
          <a:prstGeom prst="rect">
            <a:avLst/>
          </a:prstGeom>
        </p:spPr>
      </p:pic>
    </p:spTree>
    <p:extLst>
      <p:ext uri="{BB962C8B-B14F-4D97-AF65-F5344CB8AC3E}">
        <p14:creationId xmlns:p14="http://schemas.microsoft.com/office/powerpoint/2010/main" val="1174817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E554B9-25E4-8748-BF9C-E110F8669036}"/>
              </a:ext>
            </a:extLst>
          </p:cNvPr>
          <p:cNvSpPr>
            <a:spLocks noGrp="1"/>
          </p:cNvSpPr>
          <p:nvPr>
            <p:ph type="title"/>
          </p:nvPr>
        </p:nvSpPr>
        <p:spPr>
          <a:xfrm>
            <a:off x="229633" y="1198419"/>
            <a:ext cx="3659509" cy="4450028"/>
          </a:xfrm>
        </p:spPr>
        <p:txBody>
          <a:bodyPr>
            <a:normAutofit/>
          </a:bodyPr>
          <a:lstStyle/>
          <a:p>
            <a:r>
              <a:rPr lang="en-US" cap="small" dirty="0">
                <a:solidFill>
                  <a:srgbClr val="FFFFFF"/>
                </a:solidFill>
              </a:rPr>
              <a:t>Why apprenticeship?</a:t>
            </a:r>
          </a:p>
        </p:txBody>
      </p:sp>
      <p:sp>
        <p:nvSpPr>
          <p:cNvPr id="12"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91167E9-3D3C-8047-90C0-040D55560427}"/>
              </a:ext>
            </a:extLst>
          </p:cNvPr>
          <p:cNvSpPr>
            <a:spLocks noGrp="1"/>
          </p:cNvSpPr>
          <p:nvPr>
            <p:ph idx="1"/>
          </p:nvPr>
        </p:nvSpPr>
        <p:spPr>
          <a:xfrm>
            <a:off x="4447308" y="232529"/>
            <a:ext cx="6906491" cy="5585619"/>
          </a:xfrm>
        </p:spPr>
        <p:txBody>
          <a:bodyPr anchor="ctr">
            <a:normAutofit/>
          </a:bodyPr>
          <a:lstStyle/>
          <a:p>
            <a:pPr marL="342900" marR="0" lvl="0" indent="-342900">
              <a:spcBef>
                <a:spcPts val="0"/>
              </a:spcBef>
              <a:spcAft>
                <a:spcPts val="600"/>
              </a:spcAft>
              <a:buFont typeface="Symbol" pitchFamily="2" charset="2"/>
              <a:buChar char=""/>
            </a:pPr>
            <a:r>
              <a:rPr lang="en-US" b="1" dirty="0">
                <a:effectLst/>
                <a:latin typeface="Calibri" panose="020F0502020204030204" pitchFamily="34" charset="0"/>
                <a:ea typeface="Calibri" panose="020F0502020204030204" pitchFamily="34" charset="0"/>
                <a:cs typeface="Times New Roman" panose="02020603050405020304" pitchFamily="18" charset="0"/>
              </a:rPr>
              <a:t>For individuals: </a:t>
            </a:r>
            <a:r>
              <a:rPr lang="en-US" dirty="0">
                <a:effectLst/>
                <a:latin typeface="Calibri" panose="020F0502020204030204" pitchFamily="34" charset="0"/>
                <a:ea typeface="Calibri" panose="020F0502020204030204" pitchFamily="34" charset="0"/>
                <a:cs typeface="Times New Roman" panose="02020603050405020304" pitchFamily="18" charset="0"/>
              </a:rPr>
              <a:t>highly structured, systematic earn and learn approach resulting in skill development, stable employment, and movement along a career pathway.</a:t>
            </a:r>
            <a:br>
              <a:rPr lang="en-US" dirty="0">
                <a:effectLst/>
                <a:latin typeface="Calibri" panose="020F0502020204030204" pitchFamily="34" charset="0"/>
                <a:ea typeface="Calibri" panose="020F0502020204030204" pitchFamily="34" charset="0"/>
                <a:cs typeface="Times New Roman" panose="02020603050405020304" pitchFamily="18" charset="0"/>
              </a:rPr>
            </a:b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itchFamily="2" charset="2"/>
              <a:buChar char=""/>
            </a:pPr>
            <a:r>
              <a:rPr lang="en-US" b="1" dirty="0">
                <a:effectLst/>
                <a:latin typeface="Calibri" panose="020F0502020204030204" pitchFamily="34" charset="0"/>
                <a:ea typeface="Calibri" panose="020F0502020204030204" pitchFamily="34" charset="0"/>
                <a:cs typeface="Times New Roman" panose="02020603050405020304" pitchFamily="18" charset="0"/>
              </a:rPr>
              <a:t>For employers/businesses: </a:t>
            </a:r>
            <a:r>
              <a:rPr lang="en-US" dirty="0">
                <a:effectLst/>
                <a:latin typeface="Calibri" panose="020F0502020204030204" pitchFamily="34" charset="0"/>
                <a:ea typeface="Calibri" panose="020F0502020204030204" pitchFamily="34" charset="0"/>
                <a:cs typeface="Times New Roman" panose="02020603050405020304" pitchFamily="18" charset="0"/>
              </a:rPr>
              <a:t>opportunity to hire </a:t>
            </a:r>
            <a:r>
              <a:rPr lang="en-US" dirty="0">
                <a:latin typeface="Calibri" panose="020F0502020204030204" pitchFamily="34" charset="0"/>
                <a:ea typeface="Calibri" panose="020F0502020204030204" pitchFamily="34" charset="0"/>
                <a:cs typeface="Times New Roman" panose="02020603050405020304" pitchFamily="18" charset="0"/>
              </a:rPr>
              <a:t>&amp;</a:t>
            </a:r>
            <a:r>
              <a:rPr lang="en-US" dirty="0">
                <a:effectLst/>
                <a:latin typeface="Calibri" panose="020F0502020204030204" pitchFamily="34" charset="0"/>
                <a:ea typeface="Calibri" panose="020F0502020204030204" pitchFamily="34" charset="0"/>
                <a:cs typeface="Times New Roman" panose="02020603050405020304" pitchFamily="18" charset="0"/>
              </a:rPr>
              <a:t> train individuals according to industry standards, and meet workforce needs.</a:t>
            </a:r>
          </a:p>
        </p:txBody>
      </p:sp>
      <p:sp>
        <p:nvSpPr>
          <p:cNvPr id="4" name="Slide Number Placeholder 3">
            <a:extLst>
              <a:ext uri="{FF2B5EF4-FFF2-40B4-BE49-F238E27FC236}">
                <a16:creationId xmlns:a16="http://schemas.microsoft.com/office/drawing/2014/main" id="{6B3B7F08-389E-D54F-8CED-319358D9963F}"/>
              </a:ext>
            </a:extLst>
          </p:cNvPr>
          <p:cNvSpPr>
            <a:spLocks noGrp="1"/>
          </p:cNvSpPr>
          <p:nvPr>
            <p:ph type="sldNum" sz="quarter" idx="12"/>
          </p:nvPr>
        </p:nvSpPr>
        <p:spPr>
          <a:xfrm>
            <a:off x="9541564" y="6356350"/>
            <a:ext cx="1812235" cy="365125"/>
          </a:xfrm>
        </p:spPr>
        <p:txBody>
          <a:bodyPr>
            <a:normAutofit/>
          </a:bodyPr>
          <a:lstStyle/>
          <a:p>
            <a:pPr>
              <a:spcAft>
                <a:spcPts val="600"/>
              </a:spcAft>
            </a:pPr>
            <a:fld id="{98DEB4AB-D614-0E48-BC82-3517EAEB4A4F}" type="slidenum">
              <a:rPr lang="en-US" smtClean="0"/>
              <a:pPr>
                <a:spcAft>
                  <a:spcPts val="600"/>
                </a:spcAft>
              </a:pPr>
              <a:t>11</a:t>
            </a:fld>
            <a:endParaRPr lang="en-US"/>
          </a:p>
        </p:txBody>
      </p:sp>
      <p:pic>
        <p:nvPicPr>
          <p:cNvPr id="17" name="Graphic 16">
            <a:extLst>
              <a:ext uri="{FF2B5EF4-FFF2-40B4-BE49-F238E27FC236}">
                <a16:creationId xmlns:a16="http://schemas.microsoft.com/office/drawing/2014/main" id="{F5E44516-1FFF-754C-BE77-A7A66CFC93A1}"/>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47966" y="1039852"/>
            <a:ext cx="914400" cy="914400"/>
          </a:xfrm>
          <a:prstGeom prst="rect">
            <a:avLst/>
          </a:prstGeom>
        </p:spPr>
      </p:pic>
      <p:pic>
        <p:nvPicPr>
          <p:cNvPr id="19" name="Graphic 18">
            <a:extLst>
              <a:ext uri="{FF2B5EF4-FFF2-40B4-BE49-F238E27FC236}">
                <a16:creationId xmlns:a16="http://schemas.microsoft.com/office/drawing/2014/main" id="{A809500E-6B62-F947-B64B-878B6EBABDE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22217" y="1039852"/>
            <a:ext cx="914400" cy="914400"/>
          </a:xfrm>
          <a:prstGeom prst="rect">
            <a:avLst/>
          </a:prstGeom>
        </p:spPr>
      </p:pic>
      <p:pic>
        <p:nvPicPr>
          <p:cNvPr id="21" name="Picture 20">
            <a:extLst>
              <a:ext uri="{FF2B5EF4-FFF2-40B4-BE49-F238E27FC236}">
                <a16:creationId xmlns:a16="http://schemas.microsoft.com/office/drawing/2014/main" id="{EB787D72-E527-EA44-AA6C-912EE63F6F9C}"/>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439843" y="4710473"/>
            <a:ext cx="2094357" cy="1396239"/>
          </a:xfrm>
          <a:prstGeom prst="rect">
            <a:avLst/>
          </a:prstGeom>
        </p:spPr>
      </p:pic>
      <p:pic>
        <p:nvPicPr>
          <p:cNvPr id="23" name="Picture 22">
            <a:extLst>
              <a:ext uri="{FF2B5EF4-FFF2-40B4-BE49-F238E27FC236}">
                <a16:creationId xmlns:a16="http://schemas.microsoft.com/office/drawing/2014/main" id="{1D0FB13E-4FF4-EB44-AB87-E0CDDC82D149}"/>
              </a:ext>
              <a:ext uri="{C183D7F6-B498-43B3-948B-1728B52AA6E4}">
                <adec:decorative xmlns:adec="http://schemas.microsoft.com/office/drawing/2017/decorative" val="1"/>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5998068" y="4682090"/>
            <a:ext cx="2300494" cy="1413047"/>
          </a:xfrm>
          <a:prstGeom prst="rect">
            <a:avLst/>
          </a:prstGeom>
        </p:spPr>
      </p:pic>
    </p:spTree>
    <p:extLst>
      <p:ext uri="{BB962C8B-B14F-4D97-AF65-F5344CB8AC3E}">
        <p14:creationId xmlns:p14="http://schemas.microsoft.com/office/powerpoint/2010/main" val="33771289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E2F38A6-67F4-0F07-A256-B1AD5C6E8C89}"/>
              </a:ext>
              <a:ext uri="{C183D7F6-B498-43B3-948B-1728B52AA6E4}">
                <adec:decorative xmlns:adec="http://schemas.microsoft.com/office/drawing/2017/decorative" val="1"/>
              </a:ext>
            </a:extLst>
          </p:cNvPr>
          <p:cNvGraphicFramePr/>
          <p:nvPr/>
        </p:nvGraphicFramePr>
        <p:xfrm>
          <a:off x="2896539" y="1662586"/>
          <a:ext cx="7179277" cy="50662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3">
            <a:extLst>
              <a:ext uri="{FF2B5EF4-FFF2-40B4-BE49-F238E27FC236}">
                <a16:creationId xmlns:a16="http://schemas.microsoft.com/office/drawing/2014/main" id="{D02A012D-8FCF-7C4C-8F8F-01BC9969CD83}"/>
              </a:ext>
            </a:extLst>
          </p:cNvPr>
          <p:cNvSpPr>
            <a:spLocks noGrp="1"/>
          </p:cNvSpPr>
          <p:nvPr>
            <p:ph type="title"/>
          </p:nvPr>
        </p:nvSpPr>
        <p:spPr>
          <a:xfrm>
            <a:off x="2714157" y="325449"/>
            <a:ext cx="7179277" cy="1121387"/>
          </a:xfrm>
          <a:scene3d>
            <a:camera prst="orthographicFront"/>
            <a:lightRig rig="threePt" dir="t"/>
          </a:scene3d>
          <a:sp3d>
            <a:bevelT prst="angle"/>
          </a:sp3d>
        </p:spPr>
        <p:style>
          <a:lnRef idx="1">
            <a:schemeClr val="accent3"/>
          </a:lnRef>
          <a:fillRef idx="2">
            <a:schemeClr val="accent3"/>
          </a:fillRef>
          <a:effectRef idx="1">
            <a:schemeClr val="accent3"/>
          </a:effectRef>
          <a:fontRef idx="minor">
            <a:schemeClr val="dk1"/>
          </a:fontRef>
        </p:style>
        <p:txBody>
          <a:bodyPr/>
          <a:lstStyle/>
          <a:p>
            <a:pPr algn="ctr"/>
            <a:r>
              <a:rPr lang="en-US" cap="small" dirty="0"/>
              <a:t>Apprenticeship Structure</a:t>
            </a:r>
          </a:p>
        </p:txBody>
      </p:sp>
      <p:cxnSp>
        <p:nvCxnSpPr>
          <p:cNvPr id="9" name="Straight Connector 8">
            <a:extLst>
              <a:ext uri="{FF2B5EF4-FFF2-40B4-BE49-F238E27FC236}">
                <a16:creationId xmlns:a16="http://schemas.microsoft.com/office/drawing/2014/main" id="{CA78FF9F-1C4B-514B-9252-E455F89951E5}"/>
              </a:ext>
              <a:ext uri="{C183D7F6-B498-43B3-948B-1728B52AA6E4}">
                <adec:decorative xmlns:adec="http://schemas.microsoft.com/office/drawing/2017/decorative" val="1"/>
              </a:ext>
            </a:extLst>
          </p:cNvPr>
          <p:cNvCxnSpPr>
            <a:cxnSpLocks/>
          </p:cNvCxnSpPr>
          <p:nvPr/>
        </p:nvCxnSpPr>
        <p:spPr>
          <a:xfrm flipV="1">
            <a:off x="0" y="6733822"/>
            <a:ext cx="12192000" cy="9878"/>
          </a:xfrm>
          <a:prstGeom prst="line">
            <a:avLst/>
          </a:prstGeom>
          <a:ln w="2540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81266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33130-6F31-5D49-A05A-C21DF15CB0C3}"/>
              </a:ext>
            </a:extLst>
          </p:cNvPr>
          <p:cNvSpPr>
            <a:spLocks noGrp="1"/>
          </p:cNvSpPr>
          <p:nvPr>
            <p:ph type="title"/>
          </p:nvPr>
        </p:nvSpPr>
        <p:spPr>
          <a:xfrm>
            <a:off x="247891" y="249380"/>
            <a:ext cx="3062468" cy="3628140"/>
          </a:xfrm>
          <a:scene3d>
            <a:camera prst="orthographicFront"/>
            <a:lightRig rig="threePt" dir="t"/>
          </a:scene3d>
          <a:sp3d>
            <a:bevelT prst="angle"/>
          </a:sp3d>
        </p:spPr>
        <p:style>
          <a:lnRef idx="1">
            <a:schemeClr val="accent5"/>
          </a:lnRef>
          <a:fillRef idx="2">
            <a:schemeClr val="accent5"/>
          </a:fillRef>
          <a:effectRef idx="1">
            <a:schemeClr val="accent5"/>
          </a:effectRef>
          <a:fontRef idx="minor">
            <a:schemeClr val="dk1"/>
          </a:fontRef>
        </p:style>
        <p:txBody>
          <a:bodyPr anchor="t" anchorCtr="0"/>
          <a:lstStyle/>
          <a:p>
            <a:pPr algn="ctr"/>
            <a:r>
              <a:rPr lang="en-US" b="1" cap="small" dirty="0"/>
              <a:t>Partnership is Key</a:t>
            </a:r>
            <a:br>
              <a:rPr lang="en-US" dirty="0"/>
            </a:br>
            <a:endParaRPr lang="en-US" dirty="0"/>
          </a:p>
        </p:txBody>
      </p:sp>
      <p:sp>
        <p:nvSpPr>
          <p:cNvPr id="3" name="Slide Number Placeholder 2">
            <a:extLst>
              <a:ext uri="{FF2B5EF4-FFF2-40B4-BE49-F238E27FC236}">
                <a16:creationId xmlns:a16="http://schemas.microsoft.com/office/drawing/2014/main" id="{D8AA1D64-D930-7A40-9226-8C97F572FC6E}"/>
              </a:ext>
            </a:extLst>
          </p:cNvPr>
          <p:cNvSpPr>
            <a:spLocks noGrp="1"/>
          </p:cNvSpPr>
          <p:nvPr>
            <p:ph type="sldNum" sz="quarter" idx="12"/>
          </p:nvPr>
        </p:nvSpPr>
        <p:spPr/>
        <p:txBody>
          <a:bodyPr/>
          <a:lstStyle/>
          <a:p>
            <a:fld id="{98DEB4AB-D614-0E48-BC82-3517EAEB4A4F}" type="slidenum">
              <a:rPr lang="en-US" smtClean="0"/>
              <a:t>13</a:t>
            </a:fld>
            <a:endParaRPr lang="en-US"/>
          </a:p>
        </p:txBody>
      </p:sp>
      <p:graphicFrame>
        <p:nvGraphicFramePr>
          <p:cNvPr id="4" name="Diagram 3">
            <a:extLst>
              <a:ext uri="{FF2B5EF4-FFF2-40B4-BE49-F238E27FC236}">
                <a16:creationId xmlns:a16="http://schemas.microsoft.com/office/drawing/2014/main" id="{0D6940D8-1486-0D46-B9E7-150543825428}"/>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814654733"/>
              </p:ext>
            </p:extLst>
          </p:nvPr>
        </p:nvGraphicFramePr>
        <p:xfrm>
          <a:off x="2326512" y="249379"/>
          <a:ext cx="10346802" cy="64720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BA21E59F-ECA7-5F48-9457-7FA6125E71C2}"/>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19569" y="1657283"/>
            <a:ext cx="2319111" cy="2046615"/>
          </a:xfrm>
          <a:prstGeom prst="rect">
            <a:avLst/>
          </a:prstGeom>
        </p:spPr>
      </p:pic>
    </p:spTree>
    <p:extLst>
      <p:ext uri="{BB962C8B-B14F-4D97-AF65-F5344CB8AC3E}">
        <p14:creationId xmlns:p14="http://schemas.microsoft.com/office/powerpoint/2010/main" val="37441897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B04F2C38-35C0-F841-B822-83C27E7ED668}"/>
              </a:ext>
            </a:extLst>
          </p:cNvPr>
          <p:cNvSpPr>
            <a:spLocks noGrp="1"/>
          </p:cNvSpPr>
          <p:nvPr>
            <p:ph type="title"/>
          </p:nvPr>
        </p:nvSpPr>
        <p:spPr>
          <a:xfrm>
            <a:off x="665085" y="437610"/>
            <a:ext cx="4828417" cy="1178890"/>
          </a:xfrm>
        </p:spPr>
        <p:txBody>
          <a:bodyPr anchor="ctr">
            <a:noAutofit/>
          </a:bodyPr>
          <a:lstStyle/>
          <a:p>
            <a:r>
              <a:rPr lang="en-US" sz="4800" b="1" dirty="0">
                <a:ln w="9525">
                  <a:solidFill>
                    <a:schemeClr val="bg1"/>
                  </a:solidFill>
                  <a:prstDash val="solid"/>
                </a:ln>
                <a:effectLst>
                  <a:outerShdw blurRad="12700" dist="38100" dir="2700000" algn="tl" rotWithShape="0">
                    <a:schemeClr val="bg1">
                      <a:lumMod val="50000"/>
                    </a:schemeClr>
                  </a:outerShdw>
                </a:effectLst>
              </a:rPr>
              <a:t>Registered Apprenticeship Requirements</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25B890A9-6318-E64A-812D-15664151AE2B}"/>
              </a:ext>
            </a:extLst>
          </p:cNvPr>
          <p:cNvSpPr>
            <a:spLocks noGrp="1"/>
          </p:cNvSpPr>
          <p:nvPr>
            <p:ph idx="1"/>
          </p:nvPr>
        </p:nvSpPr>
        <p:spPr>
          <a:xfrm>
            <a:off x="496824" y="2357937"/>
            <a:ext cx="4827257" cy="3726065"/>
          </a:xfrm>
        </p:spPr>
        <p:txBody>
          <a:bodyPr anchor="ctr">
            <a:noAutofit/>
          </a:bodyPr>
          <a:lstStyle/>
          <a:p>
            <a:r>
              <a:rPr lang="en-US" dirty="0"/>
              <a:t>Minimum of </a:t>
            </a:r>
            <a:r>
              <a:rPr lang="en-US" b="1" dirty="0"/>
              <a:t>2000</a:t>
            </a:r>
            <a:r>
              <a:rPr lang="en-US" dirty="0"/>
              <a:t> hours of on-the-job training (time-based approach)</a:t>
            </a:r>
          </a:p>
          <a:p>
            <a:pPr lvl="1">
              <a:buFont typeface="Wingdings" pitchFamily="2" charset="2"/>
              <a:buChar char="Ø"/>
            </a:pPr>
            <a:r>
              <a:rPr lang="en-US" sz="2800" i="1" dirty="0"/>
              <a:t>Competency approach also an option</a:t>
            </a:r>
            <a:br>
              <a:rPr lang="en-US" sz="2800" dirty="0"/>
            </a:br>
            <a:endParaRPr lang="en-US" sz="2800" dirty="0"/>
          </a:p>
          <a:p>
            <a:r>
              <a:rPr lang="en-US" dirty="0"/>
              <a:t>Minimum of </a:t>
            </a:r>
            <a:r>
              <a:rPr lang="en-US" b="1" dirty="0"/>
              <a:t>144</a:t>
            </a:r>
            <a:r>
              <a:rPr lang="en-US" dirty="0"/>
              <a:t> hours of related instruction annually (recommended)</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03A80740-980D-2F47-A0D7-283AAFBCACCE}"/>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64"/>
          <a:stretch/>
        </p:blipFill>
        <p:spPr>
          <a:xfrm>
            <a:off x="5953643" y="1291417"/>
            <a:ext cx="5504551" cy="4274530"/>
          </a:xfrm>
          <a:prstGeom prst="rect">
            <a:avLst/>
          </a:prstGeom>
        </p:spPr>
      </p:pic>
      <p:sp>
        <p:nvSpPr>
          <p:cNvPr id="3" name="Slide Number Placeholder 2">
            <a:extLst>
              <a:ext uri="{FF2B5EF4-FFF2-40B4-BE49-F238E27FC236}">
                <a16:creationId xmlns:a16="http://schemas.microsoft.com/office/drawing/2014/main" id="{982175BF-4692-BD4A-9A13-D5C47F6B9040}"/>
              </a:ext>
            </a:extLst>
          </p:cNvPr>
          <p:cNvSpPr>
            <a:spLocks noGrp="1"/>
          </p:cNvSpPr>
          <p:nvPr>
            <p:ph type="sldNum" sz="quarter" idx="12"/>
          </p:nvPr>
        </p:nvSpPr>
        <p:spPr>
          <a:xfrm>
            <a:off x="9385070" y="6492240"/>
            <a:ext cx="105571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98DEB4AB-D614-0E48-BC82-3517EAEB4A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87582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9AE1604-BB93-4F6D-94D6-F2A6021FC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9" name="Group 28">
            <a:extLst>
              <a:ext uri="{FF2B5EF4-FFF2-40B4-BE49-F238E27FC236}">
                <a16:creationId xmlns:a16="http://schemas.microsoft.com/office/drawing/2014/main" id="{A9270323-9616-4384-857D-E86B78272E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8A3838D5-9565-4601-BAC3-D1B5BDB80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3349A4B8-3246-4579-922E-FE1155C7F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3" name="Rectangle 32">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3F94C94-5E36-954A-99B9-58940B8E3736}"/>
              </a:ext>
            </a:extLst>
          </p:cNvPr>
          <p:cNvSpPr>
            <a:spLocks noGrp="1"/>
          </p:cNvSpPr>
          <p:nvPr>
            <p:ph type="title"/>
          </p:nvPr>
        </p:nvSpPr>
        <p:spPr>
          <a:xfrm>
            <a:off x="6593917" y="847827"/>
            <a:ext cx="4709345" cy="1169585"/>
          </a:xfrm>
        </p:spPr>
        <p:txBody>
          <a:bodyPr anchor="b">
            <a:normAutofit/>
          </a:bodyPr>
          <a:lstStyle/>
          <a:p>
            <a:r>
              <a:rPr lang="en-US" sz="3700" b="1" cap="small" dirty="0"/>
              <a:t>Options for Measuring Skill Acquisition</a:t>
            </a:r>
          </a:p>
        </p:txBody>
      </p:sp>
      <p:pic>
        <p:nvPicPr>
          <p:cNvPr id="6" name="Picture 5">
            <a:extLst>
              <a:ext uri="{FF2B5EF4-FFF2-40B4-BE49-F238E27FC236}">
                <a16:creationId xmlns:a16="http://schemas.microsoft.com/office/drawing/2014/main" id="{92FD7E16-8611-5947-A168-B89A4C93690C}"/>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178848" y="1350234"/>
            <a:ext cx="3574375" cy="3836076"/>
          </a:xfrm>
          <a:prstGeom prst="rect">
            <a:avLst/>
          </a:prstGeom>
        </p:spPr>
      </p:pic>
      <p:sp>
        <p:nvSpPr>
          <p:cNvPr id="35" name="Rectangle 34">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34377" y="2188548"/>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61994B4-99BC-814B-9AD9-0C8AAAF5117F}"/>
              </a:ext>
            </a:extLst>
          </p:cNvPr>
          <p:cNvSpPr>
            <a:spLocks noGrp="1"/>
          </p:cNvSpPr>
          <p:nvPr>
            <p:ph idx="1"/>
          </p:nvPr>
        </p:nvSpPr>
        <p:spPr>
          <a:xfrm>
            <a:off x="6574876" y="1812847"/>
            <a:ext cx="5272034" cy="4095212"/>
          </a:xfrm>
        </p:spPr>
        <p:txBody>
          <a:bodyPr anchor="ctr">
            <a:normAutofit/>
          </a:bodyPr>
          <a:lstStyle/>
          <a:p>
            <a:pPr>
              <a:lnSpc>
                <a:spcPct val="100000"/>
              </a:lnSpc>
              <a:spcBef>
                <a:spcPts val="1600"/>
              </a:spcBef>
            </a:pPr>
            <a:r>
              <a:rPr lang="en-US" sz="2200" b="1" dirty="0"/>
              <a:t>Time-Based: </a:t>
            </a:r>
            <a:r>
              <a:rPr lang="en-US" sz="2200" dirty="0"/>
              <a:t>Completion of at least 2,000 hours of on-the-job learning</a:t>
            </a:r>
          </a:p>
          <a:p>
            <a:pPr>
              <a:lnSpc>
                <a:spcPct val="100000"/>
              </a:lnSpc>
              <a:spcBef>
                <a:spcPts val="1600"/>
              </a:spcBef>
            </a:pPr>
            <a:r>
              <a:rPr lang="en-US" sz="2200" b="1" dirty="0"/>
              <a:t>Competency-Based: </a:t>
            </a:r>
            <a:r>
              <a:rPr lang="en-US" sz="2200" dirty="0"/>
              <a:t>Apprentice successfully demonstrates skills and learning acquired through on-the-job learning</a:t>
            </a:r>
          </a:p>
          <a:p>
            <a:pPr>
              <a:lnSpc>
                <a:spcPct val="100000"/>
              </a:lnSpc>
              <a:spcBef>
                <a:spcPts val="1600"/>
              </a:spcBef>
            </a:pPr>
            <a:r>
              <a:rPr lang="en-US" sz="2200" b="1" dirty="0"/>
              <a:t>Hybrid: </a:t>
            </a:r>
            <a:r>
              <a:rPr lang="en-US" sz="2200" dirty="0"/>
              <a:t>Combination of time-based and competency-based</a:t>
            </a:r>
          </a:p>
        </p:txBody>
      </p:sp>
      <p:sp>
        <p:nvSpPr>
          <p:cNvPr id="4" name="Slide Number Placeholder 3">
            <a:extLst>
              <a:ext uri="{FF2B5EF4-FFF2-40B4-BE49-F238E27FC236}">
                <a16:creationId xmlns:a16="http://schemas.microsoft.com/office/drawing/2014/main" id="{26198A49-2149-A145-81E1-72EEA5DEED02}"/>
              </a:ext>
            </a:extLst>
          </p:cNvPr>
          <p:cNvSpPr>
            <a:spLocks noGrp="1"/>
          </p:cNvSpPr>
          <p:nvPr>
            <p:ph type="sldNum" sz="quarter" idx="12"/>
          </p:nvPr>
        </p:nvSpPr>
        <p:spPr>
          <a:xfrm>
            <a:off x="8610600" y="649224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98DEB4AB-D614-0E48-BC82-3517EAEB4A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89FA741C-B87A-4F4C-99B2-B1BF59DD9DD5}"/>
              </a:ext>
            </a:extLst>
          </p:cNvPr>
          <p:cNvSpPr txBox="1"/>
          <p:nvPr/>
        </p:nvSpPr>
        <p:spPr>
          <a:xfrm>
            <a:off x="7009829" y="5617530"/>
            <a:ext cx="3877519" cy="461665"/>
          </a:xfrm>
          <a:prstGeom prst="rect">
            <a:avLst/>
          </a:prstGeom>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Determined by Sponsor</a:t>
            </a:r>
          </a:p>
        </p:txBody>
      </p:sp>
    </p:spTree>
    <p:extLst>
      <p:ext uri="{BB962C8B-B14F-4D97-AF65-F5344CB8AC3E}">
        <p14:creationId xmlns:p14="http://schemas.microsoft.com/office/powerpoint/2010/main" val="133420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0D67EA-5B93-534E-94A5-AE91CED6B8CD}"/>
              </a:ext>
            </a:extLst>
          </p:cNvPr>
          <p:cNvSpPr>
            <a:spLocks noGrp="1"/>
          </p:cNvSpPr>
          <p:nvPr>
            <p:ph type="title"/>
          </p:nvPr>
        </p:nvSpPr>
        <p:spPr>
          <a:xfrm>
            <a:off x="524256" y="491260"/>
            <a:ext cx="6594189" cy="1625210"/>
          </a:xfrm>
        </p:spPr>
        <p:txBody>
          <a:bodyPr>
            <a:normAutofit/>
          </a:bodyPr>
          <a:lstStyle/>
          <a:p>
            <a:r>
              <a:rPr lang="en-US" b="1" cap="small" dirty="0">
                <a:solidFill>
                  <a:srgbClr val="FFFFFF"/>
                </a:solidFill>
              </a:rPr>
              <a:t>Apprenticeships are Highly Structured</a:t>
            </a:r>
          </a:p>
        </p:txBody>
      </p:sp>
      <p:sp>
        <p:nvSpPr>
          <p:cNvPr id="15" name="Rectangle 14">
            <a:extLst>
              <a:ext uri="{FF2B5EF4-FFF2-40B4-BE49-F238E27FC236}">
                <a16:creationId xmlns:a16="http://schemas.microsoft.com/office/drawing/2014/main" id="{33B81349-3A7E-4A66-9ED9-66E6F8E29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3" y="2454901"/>
            <a:ext cx="3441163" cy="4080255"/>
          </a:xfrm>
          <a:prstGeom prst="rect">
            <a:avLst/>
          </a:prstGeom>
          <a:solidFill>
            <a:srgbClr val="7F7F7F">
              <a:alpha val="2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87EFA571-B5B9-814A-9118-3ADB8DA5F4A9}"/>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53389" y="2667954"/>
            <a:ext cx="2809090" cy="3635293"/>
          </a:xfrm>
          <a:prstGeom prst="rect">
            <a:avLst/>
          </a:prstGeom>
          <a:ln>
            <a:solidFill>
              <a:schemeClr val="tx1"/>
            </a:solidFill>
          </a:ln>
        </p:spPr>
      </p:pic>
      <p:sp>
        <p:nvSpPr>
          <p:cNvPr id="17" name="Rectangle 16">
            <a:extLst>
              <a:ext uri="{FF2B5EF4-FFF2-40B4-BE49-F238E27FC236}">
                <a16:creationId xmlns:a16="http://schemas.microsoft.com/office/drawing/2014/main" id="{4A37A7FF-19A5-40D8-8D0C-E780CBD330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1468" y="2454900"/>
            <a:ext cx="3441163" cy="4080255"/>
          </a:xfrm>
          <a:prstGeom prst="rect">
            <a:avLst/>
          </a:prstGeom>
          <a:solidFill>
            <a:srgbClr val="7F7F7F">
              <a:alpha val="2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FD4A5389-242F-9845-9DBC-B5F7F4575F9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68104" y="2667953"/>
            <a:ext cx="2809090" cy="3635294"/>
          </a:xfrm>
          <a:prstGeom prst="rect">
            <a:avLst/>
          </a:prstGeom>
          <a:ln>
            <a:solidFill>
              <a:schemeClr val="tx1"/>
            </a:solidFill>
          </a:ln>
        </p:spPr>
      </p:pic>
      <p:sp>
        <p:nvSpPr>
          <p:cNvPr id="19" name="Rectangle 18">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75" y="321732"/>
            <a:ext cx="431329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4E37602-5895-0849-A902-45E34C0750D5}"/>
              </a:ext>
            </a:extLst>
          </p:cNvPr>
          <p:cNvSpPr>
            <a:spLocks noGrp="1"/>
          </p:cNvSpPr>
          <p:nvPr>
            <p:ph idx="1"/>
          </p:nvPr>
        </p:nvSpPr>
        <p:spPr>
          <a:xfrm>
            <a:off x="7956057" y="762983"/>
            <a:ext cx="3515128" cy="5330923"/>
          </a:xfrm>
        </p:spPr>
        <p:txBody>
          <a:bodyPr anchor="ctr">
            <a:normAutofit/>
          </a:bodyPr>
          <a:lstStyle/>
          <a:p>
            <a:pPr>
              <a:spcBef>
                <a:spcPts val="2200"/>
              </a:spcBef>
              <a:buFont typeface="Wingdings" pitchFamily="2" charset="2"/>
              <a:buChar char="Ø"/>
            </a:pPr>
            <a:r>
              <a:rPr lang="en-US" sz="2400" dirty="0">
                <a:solidFill>
                  <a:srgbClr val="FFFFFF"/>
                </a:solidFill>
              </a:rPr>
              <a:t>Clear standards and requirements</a:t>
            </a:r>
          </a:p>
          <a:p>
            <a:pPr>
              <a:spcBef>
                <a:spcPts val="2200"/>
              </a:spcBef>
              <a:buFont typeface="Wingdings" pitchFamily="2" charset="2"/>
              <a:buChar char="Ø"/>
            </a:pPr>
            <a:r>
              <a:rPr lang="en-US" sz="2400" dirty="0">
                <a:solidFill>
                  <a:srgbClr val="FFFFFF"/>
                </a:solidFill>
              </a:rPr>
              <a:t>Apprenticeships based on industry standards</a:t>
            </a:r>
          </a:p>
          <a:p>
            <a:pPr>
              <a:spcBef>
                <a:spcPts val="2200"/>
              </a:spcBef>
              <a:buFont typeface="Wingdings" pitchFamily="2" charset="2"/>
              <a:buChar char="Ø"/>
            </a:pPr>
            <a:r>
              <a:rPr lang="en-US" sz="2400" dirty="0">
                <a:solidFill>
                  <a:srgbClr val="FFFFFF"/>
                </a:solidFill>
              </a:rPr>
              <a:t>Positions broken down into highly detailed competency requirements</a:t>
            </a:r>
          </a:p>
        </p:txBody>
      </p:sp>
      <p:sp>
        <p:nvSpPr>
          <p:cNvPr id="4" name="Slide Number Placeholder 3">
            <a:extLst>
              <a:ext uri="{FF2B5EF4-FFF2-40B4-BE49-F238E27FC236}">
                <a16:creationId xmlns:a16="http://schemas.microsoft.com/office/drawing/2014/main" id="{2BFF28AC-0F83-B447-94C0-CCF2A5D79969}"/>
              </a:ext>
            </a:extLst>
          </p:cNvPr>
          <p:cNvSpPr>
            <a:spLocks noGrp="1"/>
          </p:cNvSpPr>
          <p:nvPr>
            <p:ph type="sldNum" sz="quarter" idx="12"/>
          </p:nvPr>
        </p:nvSpPr>
        <p:spPr>
          <a:xfrm>
            <a:off x="10830150" y="6535157"/>
            <a:ext cx="641035" cy="274320"/>
          </a:xfrm>
        </p:spPr>
        <p:txBody>
          <a:bodyPr>
            <a:normAutofit/>
          </a:bodyPr>
          <a:lstStyle/>
          <a:p>
            <a:pPr>
              <a:spcAft>
                <a:spcPts val="600"/>
              </a:spcAft>
            </a:pPr>
            <a:fld id="{98DEB4AB-D614-0E48-BC82-3517EAEB4A4F}" type="slidenum">
              <a:rPr lang="en-US" sz="1050">
                <a:solidFill>
                  <a:schemeClr val="tx1">
                    <a:lumMod val="50000"/>
                    <a:lumOff val="50000"/>
                  </a:schemeClr>
                </a:solidFill>
              </a:rPr>
              <a:pPr>
                <a:spcAft>
                  <a:spcPts val="600"/>
                </a:spcAft>
              </a:pPr>
              <a:t>16</a:t>
            </a:fld>
            <a:endParaRPr lang="en-US" sz="1050">
              <a:solidFill>
                <a:schemeClr val="tx1">
                  <a:lumMod val="50000"/>
                  <a:lumOff val="50000"/>
                </a:schemeClr>
              </a:solidFill>
            </a:endParaRPr>
          </a:p>
        </p:txBody>
      </p:sp>
    </p:spTree>
    <p:extLst>
      <p:ext uri="{BB962C8B-B14F-4D97-AF65-F5344CB8AC3E}">
        <p14:creationId xmlns:p14="http://schemas.microsoft.com/office/powerpoint/2010/main" val="18251332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5FA7C47-B7C1-4D2E-AB49-ED23BA34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6">
            <a:extLst>
              <a:ext uri="{FF2B5EF4-FFF2-40B4-BE49-F238E27FC236}">
                <a16:creationId xmlns:a16="http://schemas.microsoft.com/office/drawing/2014/main" id="{596EE156-ABF1-4329-A6BA-03B4254E0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8">
            <a:extLst>
              <a:ext uri="{FF2B5EF4-FFF2-40B4-BE49-F238E27FC236}">
                <a16:creationId xmlns:a16="http://schemas.microsoft.com/office/drawing/2014/main" id="{19B9933F-AAB3-444A-8BB5-9CA194A8B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1370435"/>
            <a:ext cx="527226"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7">
            <a:extLst>
              <a:ext uri="{FF2B5EF4-FFF2-40B4-BE49-F238E27FC236}">
                <a16:creationId xmlns:a16="http://schemas.microsoft.com/office/drawing/2014/main" id="{7D20183A-0B1D-4A1F-89B1-ADBEDBC6E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Rectangle 8">
            <a:extLst>
              <a:ext uri="{FF2B5EF4-FFF2-40B4-BE49-F238E27FC236}">
                <a16:creationId xmlns:a16="http://schemas.microsoft.com/office/drawing/2014/main" id="{131031D3-26CD-4214-A9A4-5857EFA15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EF8AAA1A-9431-0A4C-924E-1DD8C2900FAD}"/>
              </a:ext>
            </a:extLst>
          </p:cNvPr>
          <p:cNvSpPr>
            <a:spLocks noGrp="1"/>
          </p:cNvSpPr>
          <p:nvPr>
            <p:ph type="title"/>
          </p:nvPr>
        </p:nvSpPr>
        <p:spPr>
          <a:xfrm>
            <a:off x="1146879" y="998002"/>
            <a:ext cx="3182940" cy="1471959"/>
          </a:xfrm>
        </p:spPr>
        <p:txBody>
          <a:bodyPr>
            <a:normAutofit/>
          </a:bodyPr>
          <a:lstStyle/>
          <a:p>
            <a:r>
              <a:rPr lang="en-US" sz="3300" b="1" cap="small" dirty="0">
                <a:solidFill>
                  <a:srgbClr val="FFFFFF"/>
                </a:solidFill>
              </a:rPr>
              <a:t>Apprenticeship Administration: </a:t>
            </a:r>
            <a:r>
              <a:rPr lang="en-US" sz="3300" b="1" i="1" cap="small" dirty="0">
                <a:solidFill>
                  <a:srgbClr val="FFFFFF"/>
                </a:solidFill>
              </a:rPr>
              <a:t>Federal</a:t>
            </a:r>
          </a:p>
        </p:txBody>
      </p:sp>
      <p:sp>
        <p:nvSpPr>
          <p:cNvPr id="3" name="Content Placeholder 2">
            <a:extLst>
              <a:ext uri="{FF2B5EF4-FFF2-40B4-BE49-F238E27FC236}">
                <a16:creationId xmlns:a16="http://schemas.microsoft.com/office/drawing/2014/main" id="{82803F59-AB20-724B-8651-B38970B9B3A6}"/>
              </a:ext>
            </a:extLst>
          </p:cNvPr>
          <p:cNvSpPr>
            <a:spLocks noGrp="1"/>
          </p:cNvSpPr>
          <p:nvPr>
            <p:ph idx="1"/>
          </p:nvPr>
        </p:nvSpPr>
        <p:spPr>
          <a:xfrm>
            <a:off x="1139635" y="2546161"/>
            <a:ext cx="3511918" cy="2985929"/>
          </a:xfrm>
        </p:spPr>
        <p:txBody>
          <a:bodyPr anchor="t">
            <a:normAutofit/>
          </a:bodyPr>
          <a:lstStyle/>
          <a:p>
            <a:pPr marL="0" indent="0">
              <a:buNone/>
            </a:pPr>
            <a:r>
              <a:rPr lang="en-US" sz="2400" dirty="0">
                <a:solidFill>
                  <a:srgbClr val="FEFFFF"/>
                </a:solidFill>
              </a:rPr>
              <a:t>USDOL Office of Apprenticeship</a:t>
            </a:r>
          </a:p>
        </p:txBody>
      </p:sp>
      <p:pic>
        <p:nvPicPr>
          <p:cNvPr id="10" name="Picture 9">
            <a:extLst>
              <a:ext uri="{FF2B5EF4-FFF2-40B4-BE49-F238E27FC236}">
                <a16:creationId xmlns:a16="http://schemas.microsoft.com/office/drawing/2014/main" id="{AD00D4F8-910B-074C-A393-567D0BEED294}"/>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998268" y="886697"/>
            <a:ext cx="6539075" cy="4765185"/>
          </a:xfrm>
          <a:prstGeom prst="rect">
            <a:avLst/>
          </a:prstGeom>
          <a:ln>
            <a:solidFill>
              <a:schemeClr val="tx1"/>
            </a:solidFill>
          </a:ln>
        </p:spPr>
      </p:pic>
      <p:sp>
        <p:nvSpPr>
          <p:cNvPr id="4" name="Slide Number Placeholder 3">
            <a:extLst>
              <a:ext uri="{FF2B5EF4-FFF2-40B4-BE49-F238E27FC236}">
                <a16:creationId xmlns:a16="http://schemas.microsoft.com/office/drawing/2014/main" id="{C2B3619B-60E5-0C4E-8E84-680695A7E7F3}"/>
              </a:ext>
            </a:extLst>
          </p:cNvPr>
          <p:cNvSpPr>
            <a:spLocks noGrp="1"/>
          </p:cNvSpPr>
          <p:nvPr>
            <p:ph type="sldNum" sz="quarter" idx="12"/>
          </p:nvPr>
        </p:nvSpPr>
        <p:spPr>
          <a:xfrm>
            <a:off x="10707624" y="6382512"/>
            <a:ext cx="685800" cy="320040"/>
          </a:xfrm>
        </p:spPr>
        <p:txBody>
          <a:bodyPr anchor="ctr">
            <a:normAutofit/>
          </a:bodyPr>
          <a:lstStyle/>
          <a:p>
            <a:pPr>
              <a:spcAft>
                <a:spcPts val="600"/>
              </a:spcAft>
            </a:pPr>
            <a:fld id="{98DEB4AB-D614-0E48-BC82-3517EAEB4A4F}" type="slidenum">
              <a:rPr lang="en-US" sz="1000"/>
              <a:pPr>
                <a:spcAft>
                  <a:spcPts val="600"/>
                </a:spcAft>
              </a:pPr>
              <a:t>17</a:t>
            </a:fld>
            <a:endParaRPr lang="en-US" sz="1000"/>
          </a:p>
        </p:txBody>
      </p:sp>
      <p:sp>
        <p:nvSpPr>
          <p:cNvPr id="11" name="TextBox 10">
            <a:extLst>
              <a:ext uri="{FF2B5EF4-FFF2-40B4-BE49-F238E27FC236}">
                <a16:creationId xmlns:a16="http://schemas.microsoft.com/office/drawing/2014/main" id="{1BA85CDA-D817-544A-A307-144CD6DCA7CB}"/>
              </a:ext>
            </a:extLst>
          </p:cNvPr>
          <p:cNvSpPr txBox="1"/>
          <p:nvPr/>
        </p:nvSpPr>
        <p:spPr>
          <a:xfrm>
            <a:off x="6094476" y="5665195"/>
            <a:ext cx="4340507"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err="1"/>
              <a:t>www.apprenticeship.gov</a:t>
            </a:r>
            <a:endParaRPr lang="en-US" sz="2400" dirty="0"/>
          </a:p>
        </p:txBody>
      </p:sp>
    </p:spTree>
    <p:extLst>
      <p:ext uri="{BB962C8B-B14F-4D97-AF65-F5344CB8AC3E}">
        <p14:creationId xmlns:p14="http://schemas.microsoft.com/office/powerpoint/2010/main" val="34212902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8AAA1A-9431-0A4C-924E-1DD8C2900FAD}"/>
              </a:ext>
            </a:extLst>
          </p:cNvPr>
          <p:cNvSpPr>
            <a:spLocks noGrp="1"/>
          </p:cNvSpPr>
          <p:nvPr>
            <p:ph type="title"/>
          </p:nvPr>
        </p:nvSpPr>
        <p:spPr>
          <a:xfrm>
            <a:off x="157113" y="135843"/>
            <a:ext cx="7088640" cy="721193"/>
          </a:xfrm>
          <a:scene3d>
            <a:camera prst="orthographicFront"/>
            <a:lightRig rig="threePt" dir="t"/>
          </a:scene3d>
          <a:sp3d>
            <a:bevelT prst="angle"/>
          </a:sp3d>
        </p:spPr>
        <p:style>
          <a:lnRef idx="1">
            <a:schemeClr val="accent5"/>
          </a:lnRef>
          <a:fillRef idx="3">
            <a:schemeClr val="accent5"/>
          </a:fillRef>
          <a:effectRef idx="2">
            <a:schemeClr val="accent5"/>
          </a:effectRef>
          <a:fontRef idx="minor">
            <a:schemeClr val="lt1"/>
          </a:fontRef>
        </p:style>
        <p:txBody>
          <a:bodyPr>
            <a:normAutofit fontScale="90000"/>
          </a:bodyPr>
          <a:lstStyle/>
          <a:p>
            <a:r>
              <a:rPr lang="en-US" sz="3600" b="1" cap="small" dirty="0"/>
              <a:t>South Dakota: </a:t>
            </a:r>
            <a:r>
              <a:rPr lang="en-US" sz="3600" cap="small" dirty="0"/>
              <a:t>Apprenticeship Structure</a:t>
            </a:r>
          </a:p>
        </p:txBody>
      </p:sp>
      <p:sp>
        <p:nvSpPr>
          <p:cNvPr id="3" name="Content Placeholder 2">
            <a:extLst>
              <a:ext uri="{FF2B5EF4-FFF2-40B4-BE49-F238E27FC236}">
                <a16:creationId xmlns:a16="http://schemas.microsoft.com/office/drawing/2014/main" id="{82803F59-AB20-724B-8651-B38970B9B3A6}"/>
              </a:ext>
            </a:extLst>
          </p:cNvPr>
          <p:cNvSpPr>
            <a:spLocks noGrp="1"/>
          </p:cNvSpPr>
          <p:nvPr>
            <p:ph idx="1"/>
          </p:nvPr>
        </p:nvSpPr>
        <p:spPr>
          <a:xfrm>
            <a:off x="157112" y="976685"/>
            <a:ext cx="5248265" cy="4393982"/>
          </a:xfrm>
        </p:spPr>
        <p:txBody>
          <a:bodyPr>
            <a:normAutofit/>
          </a:bodyPr>
          <a:lstStyle/>
          <a:p>
            <a:r>
              <a:rPr lang="en-US" sz="2400" dirty="0"/>
              <a:t>In SD, USDOL Office of Apprenticeship registers &amp; oversees programs</a:t>
            </a:r>
          </a:p>
          <a:p>
            <a:r>
              <a:rPr lang="en-US" sz="2400" dirty="0"/>
              <a:t>State administration by SD Department of Labor &amp; Regulation (DLR)</a:t>
            </a:r>
          </a:p>
          <a:p>
            <a:pPr lvl="1">
              <a:buFont typeface="Courier New" panose="02070309020205020404" pitchFamily="49" charset="0"/>
              <a:buChar char="o"/>
            </a:pPr>
            <a:r>
              <a:rPr lang="en-US" sz="2000" dirty="0"/>
              <a:t>DLR staff provide case management to assist in retention</a:t>
            </a:r>
          </a:p>
          <a:p>
            <a:pPr lvl="1">
              <a:buFont typeface="Courier New" panose="02070309020205020404" pitchFamily="49" charset="0"/>
              <a:buChar char="o"/>
            </a:pPr>
            <a:r>
              <a:rPr lang="en-US" sz="2000" dirty="0"/>
              <a:t>One-Stop Career Centers/Job Service Offices are a primary conduit for apprenticeships</a:t>
            </a:r>
          </a:p>
        </p:txBody>
      </p:sp>
      <p:grpSp>
        <p:nvGrpSpPr>
          <p:cNvPr id="15" name="Group 14">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6" name="Isosceles Triangle 1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C80127DF-FA8F-AF47-8221-A13912ABEB30}"/>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832288" y="1505683"/>
            <a:ext cx="5111669" cy="4361892"/>
          </a:xfrm>
          <a:prstGeom prst="rect">
            <a:avLst/>
          </a:prstGeom>
          <a:ln>
            <a:solidFill>
              <a:schemeClr val="tx1"/>
            </a:solidFill>
          </a:ln>
        </p:spPr>
      </p:pic>
      <p:grpSp>
        <p:nvGrpSpPr>
          <p:cNvPr id="19" name="Group 18">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0" name="Rectangle 19">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Slide Number Placeholder 3">
            <a:extLst>
              <a:ext uri="{FF2B5EF4-FFF2-40B4-BE49-F238E27FC236}">
                <a16:creationId xmlns:a16="http://schemas.microsoft.com/office/drawing/2014/main" id="{C2B3619B-60E5-0C4E-8E84-680695A7E7F3}"/>
              </a:ext>
            </a:extLst>
          </p:cNvPr>
          <p:cNvSpPr>
            <a:spLocks noGrp="1"/>
          </p:cNvSpPr>
          <p:nvPr>
            <p:ph type="sldNum" sz="quarter" idx="12"/>
          </p:nvPr>
        </p:nvSpPr>
        <p:spPr>
          <a:xfrm>
            <a:off x="8805333" y="6356350"/>
            <a:ext cx="2743200" cy="365125"/>
          </a:xfrm>
        </p:spPr>
        <p:txBody>
          <a:bodyPr>
            <a:normAutofit/>
          </a:bodyPr>
          <a:lstStyle/>
          <a:p>
            <a:pPr>
              <a:spcAft>
                <a:spcPts val="600"/>
              </a:spcAft>
            </a:pPr>
            <a:fld id="{98DEB4AB-D614-0E48-BC82-3517EAEB4A4F}" type="slidenum">
              <a:rPr lang="en-US" smtClean="0"/>
              <a:pPr>
                <a:spcAft>
                  <a:spcPts val="600"/>
                </a:spcAft>
              </a:pPr>
              <a:t>18</a:t>
            </a:fld>
            <a:endParaRPr lang="en-US"/>
          </a:p>
        </p:txBody>
      </p:sp>
      <p:pic>
        <p:nvPicPr>
          <p:cNvPr id="24" name="Picture 23">
            <a:extLst>
              <a:ext uri="{FF2B5EF4-FFF2-40B4-BE49-F238E27FC236}">
                <a16:creationId xmlns:a16="http://schemas.microsoft.com/office/drawing/2014/main" id="{896F101E-DCB8-2B43-A3EE-267BF5870D72}"/>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1515975" y="4549325"/>
            <a:ext cx="3032341" cy="1708061"/>
          </a:xfrm>
          <a:prstGeom prst="rect">
            <a:avLst/>
          </a:prstGeom>
        </p:spPr>
      </p:pic>
      <p:sp>
        <p:nvSpPr>
          <p:cNvPr id="25" name="TextBox 24">
            <a:extLst>
              <a:ext uri="{FF2B5EF4-FFF2-40B4-BE49-F238E27FC236}">
                <a16:creationId xmlns:a16="http://schemas.microsoft.com/office/drawing/2014/main" id="{178A6B2F-E370-1346-AB56-9AF46ED6EDA6}"/>
              </a:ext>
            </a:extLst>
          </p:cNvPr>
          <p:cNvSpPr txBox="1"/>
          <p:nvPr/>
        </p:nvSpPr>
        <p:spPr>
          <a:xfrm>
            <a:off x="777306" y="6561791"/>
            <a:ext cx="4005068" cy="230832"/>
          </a:xfrm>
          <a:prstGeom prst="rect">
            <a:avLst/>
          </a:prstGeom>
          <a:noFill/>
        </p:spPr>
        <p:txBody>
          <a:bodyPr wrap="square" rtlCol="0">
            <a:spAutoFit/>
          </a:bodyPr>
          <a:lstStyle/>
          <a:p>
            <a:r>
              <a:rPr lang="en-US" sz="900" dirty="0">
                <a:hlinkClick r:id="rId4" tooltip="https://commons.wikimedia.org/wiki/File:South_Dakota_State_Capitol_front_with_clouds.jpg"/>
              </a:rPr>
              <a:t>This Photo</a:t>
            </a:r>
            <a:r>
              <a:rPr lang="en-US" sz="900" dirty="0"/>
              <a:t> by Unknown Author is licensed under </a:t>
            </a:r>
            <a:r>
              <a:rPr lang="en-US" sz="900" dirty="0">
                <a:hlinkClick r:id="rId5" tooltip="https://creativecommons.org/licenses/by-sa/3.0/"/>
              </a:rPr>
              <a:t>CC BY-SA</a:t>
            </a:r>
            <a:endParaRPr lang="en-US" sz="900" dirty="0"/>
          </a:p>
        </p:txBody>
      </p:sp>
      <p:sp>
        <p:nvSpPr>
          <p:cNvPr id="26" name="TextBox 25">
            <a:extLst>
              <a:ext uri="{FF2B5EF4-FFF2-40B4-BE49-F238E27FC236}">
                <a16:creationId xmlns:a16="http://schemas.microsoft.com/office/drawing/2014/main" id="{2FB936DE-6DC7-7343-9248-D8D175A28CC6}"/>
              </a:ext>
            </a:extLst>
          </p:cNvPr>
          <p:cNvSpPr txBox="1"/>
          <p:nvPr/>
        </p:nvSpPr>
        <p:spPr>
          <a:xfrm>
            <a:off x="6375143" y="5859436"/>
            <a:ext cx="416359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sz="2400" dirty="0"/>
              <a:t>Online portal: </a:t>
            </a:r>
            <a:r>
              <a:rPr lang="en-US" sz="2400" dirty="0" err="1"/>
              <a:t>starttodaysd.com</a:t>
            </a:r>
            <a:endParaRPr lang="en-US" sz="2400" dirty="0"/>
          </a:p>
        </p:txBody>
      </p:sp>
    </p:spTree>
    <p:extLst>
      <p:ext uri="{BB962C8B-B14F-4D97-AF65-F5344CB8AC3E}">
        <p14:creationId xmlns:p14="http://schemas.microsoft.com/office/powerpoint/2010/main" val="5737438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5F7030-F288-2149-A5DF-5D6765014B18}"/>
              </a:ext>
            </a:extLst>
          </p:cNvPr>
          <p:cNvSpPr>
            <a:spLocks noGrp="1"/>
          </p:cNvSpPr>
          <p:nvPr>
            <p:ph type="title"/>
          </p:nvPr>
        </p:nvSpPr>
        <p:spPr>
          <a:xfrm>
            <a:off x="600078" y="484753"/>
            <a:ext cx="2842550" cy="1247179"/>
          </a:xfrm>
          <a:scene3d>
            <a:camera prst="orthographicFront"/>
            <a:lightRig rig="threePt" dir="t"/>
          </a:scene3d>
          <a:sp3d>
            <a:bevelT prst="angle"/>
          </a:sp3d>
        </p:spPr>
        <p:style>
          <a:lnRef idx="1">
            <a:schemeClr val="accent3"/>
          </a:lnRef>
          <a:fillRef idx="2">
            <a:schemeClr val="accent3"/>
          </a:fillRef>
          <a:effectRef idx="1">
            <a:schemeClr val="accent3"/>
          </a:effectRef>
          <a:fontRef idx="minor">
            <a:schemeClr val="dk1"/>
          </a:fontRef>
        </p:style>
        <p:txBody>
          <a:bodyPr>
            <a:normAutofit/>
          </a:bodyPr>
          <a:lstStyle/>
          <a:p>
            <a:pPr algn="ctr"/>
            <a:r>
              <a:rPr lang="en-US" sz="3200" dirty="0"/>
              <a:t>Apprenticeship in South Dakota</a:t>
            </a:r>
          </a:p>
        </p:txBody>
      </p:sp>
      <p:sp>
        <p:nvSpPr>
          <p:cNvPr id="3" name="Content Placeholder 2">
            <a:extLst>
              <a:ext uri="{FF2B5EF4-FFF2-40B4-BE49-F238E27FC236}">
                <a16:creationId xmlns:a16="http://schemas.microsoft.com/office/drawing/2014/main" id="{6626D0E0-0031-8A4C-B5B3-9C18ACE93221}"/>
              </a:ext>
            </a:extLst>
          </p:cNvPr>
          <p:cNvSpPr>
            <a:spLocks noGrp="1"/>
          </p:cNvSpPr>
          <p:nvPr>
            <p:ph idx="1"/>
          </p:nvPr>
        </p:nvSpPr>
        <p:spPr>
          <a:xfrm>
            <a:off x="3986770" y="484753"/>
            <a:ext cx="7605152" cy="5957957"/>
          </a:xfrm>
        </p:spPr>
        <p:txBody>
          <a:bodyPr>
            <a:normAutofit lnSpcReduction="10000"/>
          </a:bodyPr>
          <a:lstStyle/>
          <a:p>
            <a:pPr>
              <a:lnSpc>
                <a:spcPct val="100000"/>
              </a:lnSpc>
              <a:spcBef>
                <a:spcPts val="0"/>
              </a:spcBef>
            </a:pPr>
            <a:r>
              <a:rPr lang="en-US" sz="2000" dirty="0">
                <a:effectLst/>
                <a:ea typeface="Times New Roman" panose="02020603050405020304" pitchFamily="18" charset="0"/>
              </a:rPr>
              <a:t>Approximately </a:t>
            </a:r>
            <a:r>
              <a:rPr lang="en-US" sz="2000" b="1" dirty="0">
                <a:effectLst/>
                <a:ea typeface="Times New Roman" panose="02020603050405020304" pitchFamily="18" charset="0"/>
              </a:rPr>
              <a:t>220</a:t>
            </a:r>
            <a:r>
              <a:rPr lang="en-US" sz="2000" dirty="0">
                <a:effectLst/>
                <a:ea typeface="Times New Roman" panose="02020603050405020304" pitchFamily="18" charset="0"/>
              </a:rPr>
              <a:t> registered apprenticeship programs.</a:t>
            </a:r>
          </a:p>
          <a:p>
            <a:pPr lvl="1">
              <a:lnSpc>
                <a:spcPct val="100000"/>
              </a:lnSpc>
              <a:spcBef>
                <a:spcPts val="0"/>
              </a:spcBef>
              <a:spcAft>
                <a:spcPts val="600"/>
              </a:spcAft>
            </a:pPr>
            <a:r>
              <a:rPr lang="en-US" sz="2000" i="1" dirty="0">
                <a:ea typeface="Times New Roman" panose="02020603050405020304" pitchFamily="18" charset="0"/>
              </a:rPr>
              <a:t>Most apprenticeships are currently in </a:t>
            </a:r>
            <a:r>
              <a:rPr lang="en-US" sz="2000" b="1" i="1" dirty="0">
                <a:ea typeface="Times New Roman" panose="02020603050405020304" pitchFamily="18" charset="0"/>
              </a:rPr>
              <a:t>traditional </a:t>
            </a:r>
            <a:r>
              <a:rPr lang="en-US" sz="2000" i="1" dirty="0">
                <a:ea typeface="Times New Roman" panose="02020603050405020304" pitchFamily="18" charset="0"/>
              </a:rPr>
              <a:t>apprenticeship occupations.</a:t>
            </a:r>
            <a:endParaRPr lang="en-US" sz="2000" i="1" dirty="0">
              <a:effectLst/>
              <a:ea typeface="Times New Roman" panose="02020603050405020304" pitchFamily="18" charset="0"/>
            </a:endParaRPr>
          </a:p>
          <a:p>
            <a:pPr>
              <a:lnSpc>
                <a:spcPct val="100000"/>
              </a:lnSpc>
              <a:spcBef>
                <a:spcPts val="1200"/>
              </a:spcBef>
            </a:pPr>
            <a:r>
              <a:rPr lang="en-US" sz="2000" dirty="0">
                <a:effectLst/>
                <a:ea typeface="Times New Roman" panose="02020603050405020304" pitchFamily="18" charset="0"/>
              </a:rPr>
              <a:t>In 2020, DLR implemented </a:t>
            </a:r>
            <a:r>
              <a:rPr lang="en-US" sz="2000" b="1" dirty="0">
                <a:effectLst/>
                <a:ea typeface="Times New Roman" panose="02020603050405020304" pitchFamily="18" charset="0"/>
              </a:rPr>
              <a:t>Registered Apprenticeship Pathways Program</a:t>
            </a:r>
            <a:r>
              <a:rPr lang="en-US" sz="2000" b="1" dirty="0">
                <a:ea typeface="Times New Roman" panose="02020603050405020304" pitchFamily="18" charset="0"/>
              </a:rPr>
              <a:t>.</a:t>
            </a:r>
          </a:p>
          <a:p>
            <a:pPr lvl="1">
              <a:lnSpc>
                <a:spcPct val="100000"/>
              </a:lnSpc>
              <a:spcBef>
                <a:spcPts val="0"/>
              </a:spcBef>
              <a:spcAft>
                <a:spcPts val="600"/>
              </a:spcAft>
              <a:buFont typeface="Courier New" panose="02070309020205020404" pitchFamily="49" charset="0"/>
              <a:buChar char="o"/>
            </a:pPr>
            <a:r>
              <a:rPr lang="en-US" sz="2000" dirty="0">
                <a:ea typeface="Times New Roman" panose="02020603050405020304" pitchFamily="18" charset="0"/>
              </a:rPr>
              <a:t>A</a:t>
            </a:r>
            <a:r>
              <a:rPr lang="en-US" sz="2000" dirty="0">
                <a:effectLst/>
                <a:ea typeface="Times New Roman" panose="02020603050405020304" pitchFamily="18" charset="0"/>
              </a:rPr>
              <a:t>llows high school students to concurrently earn high school credit, Registered Apprenticeship hours, post-secondary credit, and on-the-job experience. </a:t>
            </a:r>
          </a:p>
          <a:p>
            <a:pPr>
              <a:lnSpc>
                <a:spcPct val="100000"/>
              </a:lnSpc>
              <a:spcBef>
                <a:spcPts val="1200"/>
              </a:spcBef>
            </a:pPr>
            <a:r>
              <a:rPr lang="en-US" sz="2000" dirty="0">
                <a:effectLst/>
                <a:ea typeface="Times New Roman" panose="02020603050405020304" pitchFamily="18" charset="0"/>
              </a:rPr>
              <a:t>DLR using federal and state funding to foster relationships between state technical colleges, industry associations and  associations, and businesses to build </a:t>
            </a:r>
            <a:r>
              <a:rPr lang="en-US" sz="2000" b="1" dirty="0">
                <a:effectLst/>
                <a:ea typeface="Times New Roman" panose="02020603050405020304" pitchFamily="18" charset="0"/>
              </a:rPr>
              <a:t>Registered Apprenticeship programs in STEM industries</a:t>
            </a:r>
            <a:r>
              <a:rPr lang="en-US" sz="2000" dirty="0">
                <a:effectLst/>
                <a:ea typeface="Times New Roman" panose="02020603050405020304" pitchFamily="18" charset="0"/>
              </a:rPr>
              <a:t>. </a:t>
            </a:r>
          </a:p>
          <a:p>
            <a:pPr>
              <a:lnSpc>
                <a:spcPct val="100000"/>
              </a:lnSpc>
              <a:spcBef>
                <a:spcPts val="1200"/>
              </a:spcBef>
            </a:pPr>
            <a:r>
              <a:rPr lang="en-US" sz="2000" dirty="0">
                <a:effectLst/>
                <a:ea typeface="Times New Roman" panose="02020603050405020304" pitchFamily="18" charset="0"/>
              </a:rPr>
              <a:t>DLR is creating materials teachers or DLR Career Advisors can use to </a:t>
            </a:r>
            <a:r>
              <a:rPr lang="en-US" sz="2000" b="1" dirty="0">
                <a:effectLst/>
                <a:ea typeface="Times New Roman" panose="02020603050405020304" pitchFamily="18" charset="0"/>
              </a:rPr>
              <a:t>increase student awareness of Registered Apprenticeships </a:t>
            </a:r>
            <a:r>
              <a:rPr lang="en-US" sz="2000" dirty="0">
                <a:effectLst/>
                <a:ea typeface="Times New Roman" panose="02020603050405020304" pitchFamily="18" charset="0"/>
              </a:rPr>
              <a:t>as a post-secondary option.</a:t>
            </a:r>
            <a:endParaRPr lang="en-US" sz="2000" dirty="0">
              <a:ea typeface="Times New Roman" panose="02020603050405020304" pitchFamily="18" charset="0"/>
            </a:endParaRPr>
          </a:p>
          <a:p>
            <a:pPr>
              <a:lnSpc>
                <a:spcPct val="100000"/>
              </a:lnSpc>
              <a:spcBef>
                <a:spcPts val="1200"/>
              </a:spcBef>
            </a:pPr>
            <a:r>
              <a:rPr lang="en-US" sz="2000" dirty="0"/>
              <a:t>DLR has committed to expanding access for under-represented populations, </a:t>
            </a:r>
            <a:r>
              <a:rPr lang="en-US" sz="2000" b="1" dirty="0"/>
              <a:t>including individuals with disabilities</a:t>
            </a:r>
            <a:r>
              <a:rPr lang="en-US" sz="2000" dirty="0"/>
              <a:t>.</a:t>
            </a:r>
          </a:p>
        </p:txBody>
      </p:sp>
      <p:sp>
        <p:nvSpPr>
          <p:cNvPr id="4" name="Slide Number Placeholder 3">
            <a:extLst>
              <a:ext uri="{FF2B5EF4-FFF2-40B4-BE49-F238E27FC236}">
                <a16:creationId xmlns:a16="http://schemas.microsoft.com/office/drawing/2014/main" id="{1CF94AD1-D3A3-D54F-AF0D-F21B7E51688D}"/>
              </a:ext>
            </a:extLst>
          </p:cNvPr>
          <p:cNvSpPr>
            <a:spLocks noGrp="1"/>
          </p:cNvSpPr>
          <p:nvPr>
            <p:ph type="sldNum" sz="quarter" idx="12"/>
          </p:nvPr>
        </p:nvSpPr>
        <p:spPr>
          <a:xfrm>
            <a:off x="8610600" y="6077585"/>
            <a:ext cx="2743200" cy="365125"/>
          </a:xfrm>
        </p:spPr>
        <p:txBody>
          <a:bodyPr>
            <a:normAutofit/>
          </a:bodyPr>
          <a:lstStyle/>
          <a:p>
            <a:pPr>
              <a:spcAft>
                <a:spcPts val="600"/>
              </a:spcAft>
            </a:pPr>
            <a:fld id="{98DEB4AB-D614-0E48-BC82-3517EAEB4A4F}" type="slidenum">
              <a:rPr lang="en-US">
                <a:solidFill>
                  <a:schemeClr val="tx1">
                    <a:lumMod val="75000"/>
                    <a:lumOff val="25000"/>
                  </a:schemeClr>
                </a:solidFill>
              </a:rPr>
              <a:pPr>
                <a:spcAft>
                  <a:spcPts val="600"/>
                </a:spcAft>
              </a:pPr>
              <a:t>19</a:t>
            </a:fld>
            <a:endParaRPr lang="en-US">
              <a:solidFill>
                <a:schemeClr val="tx1">
                  <a:lumMod val="75000"/>
                  <a:lumOff val="25000"/>
                </a:schemeClr>
              </a:solidFill>
            </a:endParaRPr>
          </a:p>
        </p:txBody>
      </p:sp>
      <p:pic>
        <p:nvPicPr>
          <p:cNvPr id="7" name="Picture 6">
            <a:extLst>
              <a:ext uri="{FF2B5EF4-FFF2-40B4-BE49-F238E27FC236}">
                <a16:creationId xmlns:a16="http://schemas.microsoft.com/office/drawing/2014/main" id="{AF0466AB-F578-D941-9CCE-7B898652111B}"/>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421512" y="2017248"/>
            <a:ext cx="3199682" cy="2302020"/>
          </a:xfrm>
          <a:prstGeom prst="rect">
            <a:avLst/>
          </a:prstGeom>
        </p:spPr>
      </p:pic>
      <p:sp>
        <p:nvSpPr>
          <p:cNvPr id="8" name="TextBox 7">
            <a:extLst>
              <a:ext uri="{FF2B5EF4-FFF2-40B4-BE49-F238E27FC236}">
                <a16:creationId xmlns:a16="http://schemas.microsoft.com/office/drawing/2014/main" id="{4D3A60E6-C1A5-D346-8D70-8AF3EEA95A4C}"/>
              </a:ext>
            </a:extLst>
          </p:cNvPr>
          <p:cNvSpPr txBox="1"/>
          <p:nvPr/>
        </p:nvSpPr>
        <p:spPr>
          <a:xfrm>
            <a:off x="381719" y="6262058"/>
            <a:ext cx="3199682" cy="230832"/>
          </a:xfrm>
          <a:prstGeom prst="rect">
            <a:avLst/>
          </a:prstGeom>
          <a:noFill/>
        </p:spPr>
        <p:txBody>
          <a:bodyPr wrap="square" rtlCol="0">
            <a:spAutoFit/>
          </a:bodyPr>
          <a:lstStyle/>
          <a:p>
            <a:r>
              <a:rPr lang="en-US" sz="900" dirty="0">
                <a:hlinkClick r:id="rId3" tooltip="https://www.flickr.com/photos/normanbleventhalmapcenter/14147308286"/>
              </a:rPr>
              <a:t>This Photo</a:t>
            </a:r>
            <a:r>
              <a:rPr lang="en-US" sz="900" dirty="0"/>
              <a:t> by Unknown Author is licensed under </a:t>
            </a:r>
            <a:r>
              <a:rPr lang="en-US" sz="900" dirty="0">
                <a:hlinkClick r:id="rId4" tooltip="https://creativecommons.org/licenses/by/3.0/"/>
              </a:rPr>
              <a:t>CC BY</a:t>
            </a:r>
            <a:endParaRPr lang="en-US" sz="900" dirty="0"/>
          </a:p>
        </p:txBody>
      </p:sp>
    </p:spTree>
    <p:extLst>
      <p:ext uri="{BB962C8B-B14F-4D97-AF65-F5344CB8AC3E}">
        <p14:creationId xmlns:p14="http://schemas.microsoft.com/office/powerpoint/2010/main" val="23308494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94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AFA58B-AFE3-1A4D-BDA0-BAD6ADA4442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200" kern="1200">
                <a:solidFill>
                  <a:srgbClr val="FFFFFF"/>
                </a:solidFill>
                <a:latin typeface="+mj-lt"/>
                <a:ea typeface="+mj-ea"/>
                <a:cs typeface="+mj-cs"/>
              </a:rPr>
              <a:t>SD Apprenticeship Mentorship Toolkit</a:t>
            </a:r>
          </a:p>
        </p:txBody>
      </p:sp>
      <p:pic>
        <p:nvPicPr>
          <p:cNvPr id="6" name="Picture 5">
            <a:extLst>
              <a:ext uri="{FF2B5EF4-FFF2-40B4-BE49-F238E27FC236}">
                <a16:creationId xmlns:a16="http://schemas.microsoft.com/office/drawing/2014/main" id="{CE7C592D-F757-2A41-9E37-92AA1A7205AC}"/>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412036" y="464100"/>
            <a:ext cx="4338960" cy="5892250"/>
          </a:xfrm>
          <a:prstGeom prst="rect">
            <a:avLst/>
          </a:prstGeom>
          <a:ln>
            <a:solidFill>
              <a:schemeClr val="tx1"/>
            </a:solidFill>
          </a:ln>
        </p:spPr>
      </p:pic>
      <p:sp>
        <p:nvSpPr>
          <p:cNvPr id="4" name="Slide Number Placeholder 3">
            <a:extLst>
              <a:ext uri="{FF2B5EF4-FFF2-40B4-BE49-F238E27FC236}">
                <a16:creationId xmlns:a16="http://schemas.microsoft.com/office/drawing/2014/main" id="{646041CF-6F96-4C45-B748-6DFE8E41559E}"/>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98DEB4AB-D614-0E48-BC82-3517EAEB4A4F}" type="slidenum">
              <a:rPr lang="en-US">
                <a:solidFill>
                  <a:srgbClr val="898989"/>
                </a:solidFill>
              </a:rPr>
              <a:pPr>
                <a:spcAft>
                  <a:spcPts val="600"/>
                </a:spcAft>
              </a:pPr>
              <a:t>20</a:t>
            </a:fld>
            <a:endParaRPr lang="en-US">
              <a:solidFill>
                <a:srgbClr val="898989"/>
              </a:solidFill>
            </a:endParaRPr>
          </a:p>
        </p:txBody>
      </p:sp>
    </p:spTree>
    <p:extLst>
      <p:ext uri="{BB962C8B-B14F-4D97-AF65-F5344CB8AC3E}">
        <p14:creationId xmlns:p14="http://schemas.microsoft.com/office/powerpoint/2010/main" val="15324190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17F844-E6A9-644A-9C79-17F0FC4B7D1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3700" b="1" kern="1200" dirty="0">
                <a:solidFill>
                  <a:schemeClr val="tx1"/>
                </a:solidFill>
                <a:latin typeface="+mj-lt"/>
                <a:ea typeface="+mj-ea"/>
                <a:cs typeface="+mj-cs"/>
              </a:rPr>
              <a:t>USDOL Efforts to Increase Participation of People with Disabilities in Apprenticeships</a:t>
            </a:r>
          </a:p>
        </p:txBody>
      </p:sp>
      <p:sp>
        <p:nvSpPr>
          <p:cNvPr id="19" name="Rectangle 1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2DB970B8-2E1D-624F-8B94-AAFECD409BA7}"/>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652596" y="537078"/>
            <a:ext cx="6058375" cy="5554374"/>
          </a:xfrm>
          <a:prstGeom prst="rect">
            <a:avLst/>
          </a:prstGeom>
          <a:ln>
            <a:solidFill>
              <a:schemeClr val="accent3"/>
            </a:solidFill>
          </a:ln>
        </p:spPr>
      </p:pic>
      <p:sp>
        <p:nvSpPr>
          <p:cNvPr id="4" name="Slide Number Placeholder 3">
            <a:extLst>
              <a:ext uri="{FF2B5EF4-FFF2-40B4-BE49-F238E27FC236}">
                <a16:creationId xmlns:a16="http://schemas.microsoft.com/office/drawing/2014/main" id="{8BA8F51E-A517-D443-B33F-75018E803FAB}"/>
              </a:ext>
            </a:extLst>
          </p:cNvPr>
          <p:cNvSpPr>
            <a:spLocks noGrp="1"/>
          </p:cNvSpPr>
          <p:nvPr>
            <p:ph type="sldNum" sz="quarter" idx="12"/>
          </p:nvPr>
        </p:nvSpPr>
        <p:spPr>
          <a:xfrm>
            <a:off x="9847810" y="6356350"/>
            <a:ext cx="1505989" cy="365125"/>
          </a:xfrm>
        </p:spPr>
        <p:txBody>
          <a:bodyPr vert="horz" lIns="91440" tIns="45720" rIns="91440" bIns="45720" rtlCol="0" anchor="ctr">
            <a:normAutofit/>
          </a:bodyPr>
          <a:lstStyle/>
          <a:p>
            <a:pPr>
              <a:spcAft>
                <a:spcPts val="600"/>
              </a:spcAft>
            </a:pPr>
            <a:fld id="{98DEB4AB-D614-0E48-BC82-3517EAEB4A4F}" type="slidenum">
              <a:rPr lang="en-US">
                <a:solidFill>
                  <a:schemeClr val="tx1">
                    <a:lumMod val="50000"/>
                    <a:lumOff val="50000"/>
                  </a:schemeClr>
                </a:solidFill>
              </a:rPr>
              <a:pPr>
                <a:spcAft>
                  <a:spcPts val="600"/>
                </a:spcAft>
              </a:pPr>
              <a:t>21</a:t>
            </a:fld>
            <a:endParaRPr lang="en-US">
              <a:solidFill>
                <a:schemeClr val="tx1">
                  <a:lumMod val="50000"/>
                  <a:lumOff val="50000"/>
                </a:schemeClr>
              </a:solidFill>
            </a:endParaRPr>
          </a:p>
        </p:txBody>
      </p:sp>
    </p:spTree>
    <p:extLst>
      <p:ext uri="{BB962C8B-B14F-4D97-AF65-F5344CB8AC3E}">
        <p14:creationId xmlns:p14="http://schemas.microsoft.com/office/powerpoint/2010/main" val="2166883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465D95A-DFDE-8740-BA60-AEF0C69A68A9}"/>
              </a:ext>
            </a:extLst>
          </p:cNvPr>
          <p:cNvSpPr>
            <a:spLocks noGrp="1"/>
          </p:cNvSpPr>
          <p:nvPr>
            <p:ph type="title"/>
          </p:nvPr>
        </p:nvSpPr>
        <p:spPr>
          <a:xfrm>
            <a:off x="755069" y="239211"/>
            <a:ext cx="4784796" cy="789706"/>
          </a:xfrm>
          <a:scene3d>
            <a:camera prst="orthographicFront"/>
            <a:lightRig rig="threePt" dir="t"/>
          </a:scene3d>
          <a:sp3d>
            <a:bevelT prst="angle"/>
          </a:sp3d>
        </p:spPr>
        <p:style>
          <a:lnRef idx="1">
            <a:schemeClr val="accent3"/>
          </a:lnRef>
          <a:fillRef idx="2">
            <a:schemeClr val="accent3"/>
          </a:fillRef>
          <a:effectRef idx="1">
            <a:schemeClr val="accent3"/>
          </a:effectRef>
          <a:fontRef idx="minor">
            <a:schemeClr val="dk1"/>
          </a:fontRef>
        </p:style>
        <p:txBody>
          <a:bodyPr>
            <a:normAutofit fontScale="90000"/>
          </a:bodyPr>
          <a:lstStyle/>
          <a:p>
            <a:pPr algn="ctr"/>
            <a:r>
              <a:rPr lang="en-US" sz="2800" b="1" cap="small" dirty="0"/>
              <a:t>2016: Updated Apprenticeship EEO Regulations</a:t>
            </a:r>
          </a:p>
        </p:txBody>
      </p:sp>
      <p:sp>
        <p:nvSpPr>
          <p:cNvPr id="3" name="Content Placeholder 2">
            <a:extLst>
              <a:ext uri="{FF2B5EF4-FFF2-40B4-BE49-F238E27FC236}">
                <a16:creationId xmlns:a16="http://schemas.microsoft.com/office/drawing/2014/main" id="{9928CB88-4100-E943-947A-75E15AFE9CE1}"/>
              </a:ext>
            </a:extLst>
          </p:cNvPr>
          <p:cNvSpPr>
            <a:spLocks noGrp="1"/>
          </p:cNvSpPr>
          <p:nvPr>
            <p:ph idx="1"/>
          </p:nvPr>
        </p:nvSpPr>
        <p:spPr>
          <a:xfrm>
            <a:off x="322416" y="1286190"/>
            <a:ext cx="5673269" cy="5571810"/>
          </a:xfrm>
        </p:spPr>
        <p:txBody>
          <a:bodyPr>
            <a:normAutofit/>
          </a:bodyPr>
          <a:lstStyle/>
          <a:p>
            <a:pPr>
              <a:spcBef>
                <a:spcPts val="1600"/>
              </a:spcBef>
            </a:pPr>
            <a:r>
              <a:rPr lang="en-US" sz="2400" b="1" dirty="0"/>
              <a:t>Prohibits discrimination </a:t>
            </a:r>
            <a:r>
              <a:rPr lang="en-US" sz="2400" dirty="0"/>
              <a:t>based on disability, and requires provision of reasonable accommodations.</a:t>
            </a:r>
          </a:p>
          <a:p>
            <a:pPr>
              <a:spcBef>
                <a:spcPts val="1600"/>
              </a:spcBef>
            </a:pPr>
            <a:r>
              <a:rPr lang="en-US" sz="2400" dirty="0"/>
              <a:t>Sponsors must ensure that </a:t>
            </a:r>
            <a:r>
              <a:rPr lang="en-US" sz="2400" b="1" dirty="0"/>
              <a:t>outreach and recruitment </a:t>
            </a:r>
            <a:r>
              <a:rPr lang="en-US" sz="2400" dirty="0"/>
              <a:t>efforts are inclusive of people with disabilities.</a:t>
            </a:r>
          </a:p>
          <a:p>
            <a:pPr>
              <a:spcBef>
                <a:spcPts val="1600"/>
              </a:spcBef>
            </a:pPr>
            <a:r>
              <a:rPr lang="en-US" sz="2400" dirty="0"/>
              <a:t>Establishes an aspirational goal that </a:t>
            </a:r>
            <a:r>
              <a:rPr lang="en-US" sz="2400" b="1" dirty="0"/>
              <a:t>7%</a:t>
            </a:r>
            <a:r>
              <a:rPr lang="en-US" sz="2400" dirty="0"/>
              <a:t> of sponsor’s apprentices in each major occupational group have a disability.</a:t>
            </a:r>
          </a:p>
          <a:p>
            <a:pPr>
              <a:spcBef>
                <a:spcPts val="1600"/>
              </a:spcBef>
            </a:pPr>
            <a:r>
              <a:rPr lang="en-US" sz="2400" dirty="0"/>
              <a:t>Sponsors with 5 or more apprentices must have </a:t>
            </a:r>
            <a:r>
              <a:rPr lang="en-US" sz="2400" b="1" dirty="0"/>
              <a:t>affirmative action plan</a:t>
            </a:r>
            <a:r>
              <a:rPr lang="en-US" sz="2400" dirty="0"/>
              <a:t>, and request </a:t>
            </a:r>
            <a:r>
              <a:rPr lang="en-US" sz="2400" b="1" dirty="0"/>
              <a:t>voluntary disclosure</a:t>
            </a:r>
            <a:r>
              <a:rPr lang="en-US" sz="2400" dirty="0"/>
              <a:t> of disability by applicants and apprentices.</a:t>
            </a:r>
          </a:p>
          <a:p>
            <a:endParaRPr lang="en-US" sz="1600" dirty="0"/>
          </a:p>
        </p:txBody>
      </p:sp>
      <p:pic>
        <p:nvPicPr>
          <p:cNvPr id="8" name="Picture 7">
            <a:extLst>
              <a:ext uri="{FF2B5EF4-FFF2-40B4-BE49-F238E27FC236}">
                <a16:creationId xmlns:a16="http://schemas.microsoft.com/office/drawing/2014/main" id="{F17F9132-3C76-9642-95A0-55499EA8A63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250908" y="455080"/>
            <a:ext cx="4454575" cy="5764745"/>
          </a:xfrm>
          <a:prstGeom prst="rect">
            <a:avLst/>
          </a:prstGeom>
          <a:ln>
            <a:solidFill>
              <a:schemeClr val="tx1"/>
            </a:solidFill>
          </a:ln>
        </p:spPr>
      </p:pic>
      <p:sp>
        <p:nvSpPr>
          <p:cNvPr id="4" name="Slide Number Placeholder 3">
            <a:extLst>
              <a:ext uri="{FF2B5EF4-FFF2-40B4-BE49-F238E27FC236}">
                <a16:creationId xmlns:a16="http://schemas.microsoft.com/office/drawing/2014/main" id="{E2CB848A-664D-A34B-B00D-573FA6753B71}"/>
              </a:ext>
            </a:extLst>
          </p:cNvPr>
          <p:cNvSpPr>
            <a:spLocks noGrp="1"/>
          </p:cNvSpPr>
          <p:nvPr>
            <p:ph type="sldNum" sz="quarter" idx="12"/>
          </p:nvPr>
        </p:nvSpPr>
        <p:spPr>
          <a:xfrm>
            <a:off x="8610600" y="6356350"/>
            <a:ext cx="2743200" cy="365125"/>
          </a:xfrm>
        </p:spPr>
        <p:txBody>
          <a:bodyPr>
            <a:normAutofit/>
          </a:bodyPr>
          <a:lstStyle/>
          <a:p>
            <a:pPr>
              <a:spcAft>
                <a:spcPts val="600"/>
              </a:spcAft>
            </a:pPr>
            <a:fld id="{98DEB4AB-D614-0E48-BC82-3517EAEB4A4F}" type="slidenum">
              <a:rPr lang="en-US" sz="1000"/>
              <a:pPr>
                <a:spcAft>
                  <a:spcPts val="600"/>
                </a:spcAft>
              </a:pPr>
              <a:t>22</a:t>
            </a:fld>
            <a:endParaRPr lang="en-US" sz="1000"/>
          </a:p>
        </p:txBody>
      </p:sp>
    </p:spTree>
    <p:extLst>
      <p:ext uri="{BB962C8B-B14F-4D97-AF65-F5344CB8AC3E}">
        <p14:creationId xmlns:p14="http://schemas.microsoft.com/office/powerpoint/2010/main" val="4441412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06663-B63C-BD49-8B76-DFF1F91FEB5A}"/>
              </a:ext>
            </a:extLst>
          </p:cNvPr>
          <p:cNvSpPr>
            <a:spLocks noGrp="1"/>
          </p:cNvSpPr>
          <p:nvPr>
            <p:ph type="title"/>
          </p:nvPr>
        </p:nvSpPr>
        <p:spPr>
          <a:xfrm>
            <a:off x="1676400" y="787112"/>
            <a:ext cx="8229600" cy="990600"/>
          </a:xfrm>
        </p:spPr>
        <p:txBody>
          <a:bodyPr>
            <a:noAutofit/>
          </a:bodyPr>
          <a:lstStyle/>
          <a:p>
            <a:r>
              <a:rPr lang="en-US" sz="3200" i="1" dirty="0"/>
              <a:t>US Department of Labor</a:t>
            </a:r>
            <a:br>
              <a:rPr lang="en-US" sz="3200" dirty="0"/>
            </a:br>
            <a:r>
              <a:rPr lang="en-US" sz="3200" b="1" dirty="0"/>
              <a:t>Registered Apprenticeship Technical Assistance Centers of Excellence</a:t>
            </a:r>
          </a:p>
        </p:txBody>
      </p:sp>
      <p:sp>
        <p:nvSpPr>
          <p:cNvPr id="3" name="Content Placeholder 2">
            <a:extLst>
              <a:ext uri="{FF2B5EF4-FFF2-40B4-BE49-F238E27FC236}">
                <a16:creationId xmlns:a16="http://schemas.microsoft.com/office/drawing/2014/main" id="{61113D21-EACE-DF40-B708-9F3B2CE7D56F}"/>
              </a:ext>
            </a:extLst>
          </p:cNvPr>
          <p:cNvSpPr>
            <a:spLocks noGrp="1"/>
          </p:cNvSpPr>
          <p:nvPr>
            <p:ph idx="1"/>
          </p:nvPr>
        </p:nvSpPr>
        <p:spPr>
          <a:xfrm>
            <a:off x="1676400" y="2527276"/>
            <a:ext cx="8686800" cy="3820886"/>
          </a:xfrm>
        </p:spPr>
        <p:txBody>
          <a:bodyPr/>
          <a:lstStyle/>
          <a:p>
            <a:pPr>
              <a:spcBef>
                <a:spcPts val="2400"/>
              </a:spcBef>
            </a:pPr>
            <a:r>
              <a:rPr lang="en-US" b="1" dirty="0"/>
              <a:t>Four years: </a:t>
            </a:r>
            <a:r>
              <a:rPr lang="en-US" dirty="0"/>
              <a:t>7/1/21 to 6/30/25</a:t>
            </a:r>
          </a:p>
          <a:p>
            <a:pPr>
              <a:spcBef>
                <a:spcPts val="2400"/>
              </a:spcBef>
            </a:pPr>
            <a:r>
              <a:rPr lang="en-US" b="1" dirty="0"/>
              <a:t>4 Centers</a:t>
            </a:r>
          </a:p>
          <a:p>
            <a:pPr lvl="1">
              <a:spcBef>
                <a:spcPts val="576"/>
              </a:spcBef>
            </a:pPr>
            <a:r>
              <a:rPr lang="en-US" sz="2400" i="1" dirty="0"/>
              <a:t>Diversity and Inclusion</a:t>
            </a:r>
          </a:p>
          <a:p>
            <a:pPr lvl="1">
              <a:spcBef>
                <a:spcPts val="576"/>
              </a:spcBef>
            </a:pPr>
            <a:r>
              <a:rPr lang="en-US" sz="2400" i="1" dirty="0"/>
              <a:t>Strategic Partners &amp; Alignment</a:t>
            </a:r>
          </a:p>
          <a:p>
            <a:pPr lvl="1">
              <a:spcBef>
                <a:spcPts val="576"/>
              </a:spcBef>
            </a:pPr>
            <a:r>
              <a:rPr lang="en-US" sz="2400" i="1" dirty="0"/>
              <a:t>Occupations &amp; Standards</a:t>
            </a:r>
          </a:p>
          <a:p>
            <a:pPr lvl="1">
              <a:spcBef>
                <a:spcPts val="576"/>
              </a:spcBef>
            </a:pPr>
            <a:r>
              <a:rPr lang="en-US" sz="2400" i="1" dirty="0"/>
              <a:t>Data, Performance, Best Practices</a:t>
            </a:r>
          </a:p>
        </p:txBody>
      </p:sp>
      <p:sp>
        <p:nvSpPr>
          <p:cNvPr id="4" name="Slide Number Placeholder 3">
            <a:extLst>
              <a:ext uri="{FF2B5EF4-FFF2-40B4-BE49-F238E27FC236}">
                <a16:creationId xmlns:a16="http://schemas.microsoft.com/office/drawing/2014/main" id="{DCD2A9CD-C6AD-A74B-85AC-147BBA699F0D}"/>
              </a:ext>
            </a:extLst>
          </p:cNvPr>
          <p:cNvSpPr>
            <a:spLocks noGrp="1"/>
          </p:cNvSpPr>
          <p:nvPr>
            <p:ph type="sldNum" sz="quarter" idx="12"/>
          </p:nvPr>
        </p:nvSpPr>
        <p:spPr/>
        <p:txBody>
          <a:bodyPr/>
          <a:lstStyle/>
          <a:p>
            <a:pPr eaLnBrk="0" fontAlgn="base" hangingPunct="0">
              <a:spcBef>
                <a:spcPct val="0"/>
              </a:spcBef>
              <a:spcAft>
                <a:spcPct val="0"/>
              </a:spcAft>
              <a:defRPr/>
            </a:pPr>
            <a:fld id="{6DFFECAE-5558-FC4F-A5D5-814DD6134961}" type="slidenum">
              <a:rPr lang="en-US" altLang="en-US">
                <a:latin typeface="Book Antiqua" panose="02040602050305030304" pitchFamily="18" charset="0"/>
                <a:ea typeface="ＭＳ Ｐゴシック" panose="020B0600070205080204" pitchFamily="34" charset="-128"/>
              </a:rPr>
              <a:pPr eaLnBrk="0" fontAlgn="base" hangingPunct="0">
                <a:spcBef>
                  <a:spcPct val="0"/>
                </a:spcBef>
                <a:spcAft>
                  <a:spcPct val="0"/>
                </a:spcAft>
                <a:defRPr/>
              </a:pPr>
              <a:t>23</a:t>
            </a:fld>
            <a:endParaRPr lang="en-US" altLang="en-US">
              <a:latin typeface="Book Antiqua" panose="02040602050305030304" pitchFamily="18" charset="0"/>
              <a:ea typeface="ＭＳ Ｐゴシック" panose="020B0600070205080204" pitchFamily="34" charset="-128"/>
            </a:endParaRPr>
          </a:p>
        </p:txBody>
      </p:sp>
      <p:pic>
        <p:nvPicPr>
          <p:cNvPr id="7" name="Picture 6">
            <a:extLst>
              <a:ext uri="{FF2B5EF4-FFF2-40B4-BE49-F238E27FC236}">
                <a16:creationId xmlns:a16="http://schemas.microsoft.com/office/drawing/2014/main" id="{0A5656CF-8911-E142-AE12-C3FCF268A4E0}"/>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585866" y="1536676"/>
            <a:ext cx="3148268" cy="2359305"/>
          </a:xfrm>
          <a:prstGeom prst="rect">
            <a:avLst/>
          </a:prstGeom>
        </p:spPr>
      </p:pic>
    </p:spTree>
    <p:extLst>
      <p:ext uri="{BB962C8B-B14F-4D97-AF65-F5344CB8AC3E}">
        <p14:creationId xmlns:p14="http://schemas.microsoft.com/office/powerpoint/2010/main" val="14781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049F0-BDE2-DCDD-1F5F-C2728670134A}"/>
              </a:ext>
            </a:extLst>
          </p:cNvPr>
          <p:cNvSpPr>
            <a:spLocks noGrp="1"/>
          </p:cNvSpPr>
          <p:nvPr>
            <p:ph type="title"/>
          </p:nvPr>
        </p:nvSpPr>
        <p:spPr>
          <a:xfrm>
            <a:off x="838200" y="-1131599"/>
            <a:ext cx="10093036" cy="979199"/>
          </a:xfrm>
        </p:spPr>
        <p:txBody>
          <a:bodyPr>
            <a:normAutofit/>
          </a:bodyPr>
          <a:lstStyle/>
          <a:p>
            <a:r>
              <a:rPr lang="en-US" sz="1800"/>
              <a:t>JFF </a:t>
            </a:r>
            <a:r>
              <a:rPr lang="en-US" sz="1800" b="1"/>
              <a:t>Diversity, Equity, Inclusion, and Accessibility in Apprenticeship &amp; WBL</a:t>
            </a:r>
            <a:br>
              <a:rPr lang="en-US" b="1"/>
            </a:br>
            <a:endParaRPr lang="en-US"/>
          </a:p>
        </p:txBody>
      </p:sp>
      <p:sp>
        <p:nvSpPr>
          <p:cNvPr id="18"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F57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Diversity, Equity, Inclusion, and Accessibility in Apprenticeship &amp; WBL&#10;JFF's National Innovation Hub for Diversity, Equity, Inclusion, and Accessibility in Registered Apprenticeship focuses on expanding access to career pathways in apprenticeship for members of populations that do not currently have access to the full promise of apprenticeship, including women, people of color, people with disabilities, workers who live in rural communities, people who identify as LGBTQ+, and individuals who have had contact with the criminal justice system.">
            <a:extLst>
              <a:ext uri="{FF2B5EF4-FFF2-40B4-BE49-F238E27FC236}">
                <a16:creationId xmlns:a16="http://schemas.microsoft.com/office/drawing/2014/main" id="{520997FC-CF73-7ABB-A05F-2A121E3B3D1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461524" y="1071154"/>
            <a:ext cx="9567856" cy="4715691"/>
          </a:xfrm>
          <a:prstGeom prst="rect">
            <a:avLst/>
          </a:prstGeom>
        </p:spPr>
      </p:pic>
    </p:spTree>
    <p:extLst>
      <p:ext uri="{BB962C8B-B14F-4D97-AF65-F5344CB8AC3E}">
        <p14:creationId xmlns:p14="http://schemas.microsoft.com/office/powerpoint/2010/main" val="33246772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16F24-9F7D-0C4B-A4E4-733F279CAF81}"/>
              </a:ext>
            </a:extLst>
          </p:cNvPr>
          <p:cNvSpPr>
            <a:spLocks noGrp="1"/>
          </p:cNvSpPr>
          <p:nvPr>
            <p:ph type="title"/>
          </p:nvPr>
        </p:nvSpPr>
        <p:spPr>
          <a:xfrm>
            <a:off x="1570600" y="515544"/>
            <a:ext cx="9037330" cy="595109"/>
          </a:xfrm>
        </p:spPr>
        <p:style>
          <a:lnRef idx="0">
            <a:schemeClr val="accent6"/>
          </a:lnRef>
          <a:fillRef idx="3">
            <a:schemeClr val="accent6"/>
          </a:fillRef>
          <a:effectRef idx="3">
            <a:schemeClr val="accent6"/>
          </a:effectRef>
          <a:fontRef idx="minor">
            <a:schemeClr val="lt1"/>
          </a:fontRef>
        </p:style>
        <p:txBody>
          <a:bodyPr>
            <a:normAutofit fontScale="90000"/>
          </a:bodyPr>
          <a:lstStyle/>
          <a:p>
            <a:pPr algn="ctr"/>
            <a:r>
              <a:rPr lang="en-US" sz="3200" dirty="0"/>
              <a:t>Diversity, Equity, Inclusion, &amp; Accessibility  Center Team</a:t>
            </a:r>
          </a:p>
        </p:txBody>
      </p:sp>
      <p:sp>
        <p:nvSpPr>
          <p:cNvPr id="4" name="Slide Number Placeholder 3">
            <a:extLst>
              <a:ext uri="{FF2B5EF4-FFF2-40B4-BE49-F238E27FC236}">
                <a16:creationId xmlns:a16="http://schemas.microsoft.com/office/drawing/2014/main" id="{464C3D27-B16B-984F-B549-84C044B93082}"/>
              </a:ext>
            </a:extLst>
          </p:cNvPr>
          <p:cNvSpPr>
            <a:spLocks noGrp="1"/>
          </p:cNvSpPr>
          <p:nvPr>
            <p:ph type="sldNum" sz="quarter" idx="12"/>
          </p:nvPr>
        </p:nvSpPr>
        <p:spPr/>
        <p:txBody>
          <a:bodyPr/>
          <a:lstStyle/>
          <a:p>
            <a:pPr eaLnBrk="0" fontAlgn="base" hangingPunct="0">
              <a:spcBef>
                <a:spcPct val="0"/>
              </a:spcBef>
              <a:spcAft>
                <a:spcPct val="0"/>
              </a:spcAft>
              <a:defRPr/>
            </a:pPr>
            <a:fld id="{6DFFECAE-5558-FC4F-A5D5-814DD6134961}" type="slidenum">
              <a:rPr lang="en-US" altLang="en-US">
                <a:latin typeface="Book Antiqua" panose="02040602050305030304" pitchFamily="18" charset="0"/>
                <a:ea typeface="ＭＳ Ｐゴシック" panose="020B0600070205080204" pitchFamily="34" charset="-128"/>
              </a:rPr>
              <a:pPr eaLnBrk="0" fontAlgn="base" hangingPunct="0">
                <a:spcBef>
                  <a:spcPct val="0"/>
                </a:spcBef>
                <a:spcAft>
                  <a:spcPct val="0"/>
                </a:spcAft>
                <a:defRPr/>
              </a:pPr>
              <a:t>25</a:t>
            </a:fld>
            <a:endParaRPr lang="en-US" altLang="en-US">
              <a:latin typeface="Book Antiqua" panose="02040602050305030304" pitchFamily="18" charset="0"/>
              <a:ea typeface="ＭＳ Ｐゴシック" panose="020B0600070205080204" pitchFamily="34" charset="-128"/>
            </a:endParaRPr>
          </a:p>
        </p:txBody>
      </p:sp>
      <p:sp>
        <p:nvSpPr>
          <p:cNvPr id="5" name="TextBox 4">
            <a:extLst>
              <a:ext uri="{FF2B5EF4-FFF2-40B4-BE49-F238E27FC236}">
                <a16:creationId xmlns:a16="http://schemas.microsoft.com/office/drawing/2014/main" id="{0277668A-6C07-D247-BA11-D1A9F8E3A901}"/>
              </a:ext>
            </a:extLst>
          </p:cNvPr>
          <p:cNvSpPr txBox="1"/>
          <p:nvPr/>
        </p:nvSpPr>
        <p:spPr>
          <a:xfrm>
            <a:off x="4395927" y="2378710"/>
            <a:ext cx="2362200" cy="307777"/>
          </a:xfrm>
          <a:prstGeom prst="rect">
            <a:avLst/>
          </a:prstGeom>
          <a:noFill/>
        </p:spPr>
        <p:txBody>
          <a:bodyPr wrap="square" rtlCol="0">
            <a:spAutoFit/>
          </a:bodyPr>
          <a:lstStyle/>
          <a:p>
            <a:pPr algn="ctr" eaLnBrk="0" fontAlgn="base" hangingPunct="0">
              <a:spcBef>
                <a:spcPct val="0"/>
              </a:spcBef>
              <a:spcAft>
                <a:spcPct val="0"/>
              </a:spcAft>
            </a:pPr>
            <a:r>
              <a:rPr lang="en-US" sz="1400" dirty="0">
                <a:solidFill>
                  <a:srgbClr val="292934"/>
                </a:solidFill>
                <a:latin typeface="Calibri" panose="020F0502020204030204" pitchFamily="34" charset="0"/>
                <a:ea typeface="ＭＳ Ｐゴシック" panose="020B0600070205080204" pitchFamily="34" charset="-128"/>
                <a:cs typeface="Calibri" panose="020F0502020204030204" pitchFamily="34" charset="0"/>
              </a:rPr>
              <a:t>Jobs for the Future</a:t>
            </a:r>
          </a:p>
        </p:txBody>
      </p:sp>
      <p:sp>
        <p:nvSpPr>
          <p:cNvPr id="6" name="TextBox 5">
            <a:extLst>
              <a:ext uri="{FF2B5EF4-FFF2-40B4-BE49-F238E27FC236}">
                <a16:creationId xmlns:a16="http://schemas.microsoft.com/office/drawing/2014/main" id="{116D3F23-4EFB-7743-ADA3-0153A379DE89}"/>
              </a:ext>
            </a:extLst>
          </p:cNvPr>
          <p:cNvSpPr txBox="1"/>
          <p:nvPr/>
        </p:nvSpPr>
        <p:spPr>
          <a:xfrm>
            <a:off x="8285191" y="5608051"/>
            <a:ext cx="2091314" cy="830997"/>
          </a:xfrm>
          <a:prstGeom prst="rect">
            <a:avLst/>
          </a:prstGeom>
          <a:ln/>
          <a:scene3d>
            <a:camera prst="orthographicFront"/>
            <a:lightRig rig="threePt" dir="t"/>
          </a:scene3d>
          <a:sp3d>
            <a:bevelT prst="angle"/>
          </a:sp3d>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eaLnBrk="0" fontAlgn="base" hangingPunct="0">
              <a:spcBef>
                <a:spcPct val="0"/>
              </a:spcBef>
              <a:spcAft>
                <a:spcPct val="0"/>
              </a:spcAft>
            </a:pPr>
            <a:r>
              <a:rPr lang="en-US" sz="2400" dirty="0">
                <a:solidFill>
                  <a:srgbClr val="FFFFFF"/>
                </a:solidFill>
                <a:latin typeface="Calibri" panose="020F0502020204030204" pitchFamily="34" charset="0"/>
                <a:cs typeface="Calibri" panose="020F0502020204030204" pitchFamily="34" charset="0"/>
              </a:rPr>
              <a:t>Donna </a:t>
            </a:r>
            <a:r>
              <a:rPr lang="en-US" sz="2400" dirty="0" err="1">
                <a:solidFill>
                  <a:srgbClr val="FFFFFF"/>
                </a:solidFill>
                <a:latin typeface="Calibri" panose="020F0502020204030204" pitchFamily="34" charset="0"/>
                <a:cs typeface="Calibri" panose="020F0502020204030204" pitchFamily="34" charset="0"/>
              </a:rPr>
              <a:t>Lenhoff</a:t>
            </a:r>
            <a:r>
              <a:rPr lang="en-US" sz="2400" dirty="0">
                <a:solidFill>
                  <a:srgbClr val="FFFFFF"/>
                </a:solidFill>
                <a:latin typeface="Calibri" panose="020F0502020204030204" pitchFamily="34" charset="0"/>
                <a:cs typeface="Calibri" panose="020F0502020204030204" pitchFamily="34" charset="0"/>
              </a:rPr>
              <a:t>,</a:t>
            </a:r>
          </a:p>
          <a:p>
            <a:pPr algn="ctr" eaLnBrk="0" fontAlgn="base" hangingPunct="0">
              <a:spcBef>
                <a:spcPct val="0"/>
              </a:spcBef>
              <a:spcAft>
                <a:spcPct val="0"/>
              </a:spcAft>
            </a:pPr>
            <a:r>
              <a:rPr lang="en-US" sz="2400" i="1" dirty="0">
                <a:solidFill>
                  <a:srgbClr val="FFFFFF"/>
                </a:solidFill>
                <a:latin typeface="Calibri" panose="020F0502020204030204" pitchFamily="34" charset="0"/>
                <a:cs typeface="Calibri" panose="020F0502020204030204" pitchFamily="34" charset="0"/>
              </a:rPr>
              <a:t>EEO Attorney</a:t>
            </a:r>
          </a:p>
        </p:txBody>
      </p:sp>
      <p:pic>
        <p:nvPicPr>
          <p:cNvPr id="9" name="Picture 8">
            <a:extLst>
              <a:ext uri="{FF2B5EF4-FFF2-40B4-BE49-F238E27FC236}">
                <a16:creationId xmlns:a16="http://schemas.microsoft.com/office/drawing/2014/main" id="{C9AE5AE4-8070-1547-824F-F9385381B6ED}"/>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9464" t="22795" r="10178" b="28566"/>
          <a:stretch/>
        </p:blipFill>
        <p:spPr>
          <a:xfrm>
            <a:off x="4876100" y="1530866"/>
            <a:ext cx="1495146" cy="904982"/>
          </a:xfrm>
          <a:prstGeom prst="rect">
            <a:avLst/>
          </a:prstGeom>
        </p:spPr>
      </p:pic>
      <p:pic>
        <p:nvPicPr>
          <p:cNvPr id="11" name="Picture 10" descr="Unidos US">
            <a:extLst>
              <a:ext uri="{FF2B5EF4-FFF2-40B4-BE49-F238E27FC236}">
                <a16:creationId xmlns:a16="http://schemas.microsoft.com/office/drawing/2014/main" id="{1C88A165-E103-EE45-9DA1-5A292FD707B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60481" y="4557659"/>
            <a:ext cx="2194138" cy="370840"/>
          </a:xfrm>
          <a:prstGeom prst="rect">
            <a:avLst/>
          </a:prstGeom>
        </p:spPr>
      </p:pic>
      <p:pic>
        <p:nvPicPr>
          <p:cNvPr id="13" name="Picture 12" descr="South Carolina Technical College System">
            <a:extLst>
              <a:ext uri="{FF2B5EF4-FFF2-40B4-BE49-F238E27FC236}">
                <a16:creationId xmlns:a16="http://schemas.microsoft.com/office/drawing/2014/main" id="{167E1ED3-6853-3942-A51B-009619DEE9E8}"/>
              </a:ext>
            </a:extLst>
          </p:cNvPr>
          <p:cNvPicPr>
            <a:picLocks noChangeAspect="1"/>
          </p:cNvPicPr>
          <p:nvPr/>
        </p:nvPicPr>
        <p:blipFill>
          <a:blip r:embed="rId5"/>
          <a:stretch>
            <a:fillRect/>
          </a:stretch>
        </p:blipFill>
        <p:spPr>
          <a:xfrm>
            <a:off x="4467394" y="2790205"/>
            <a:ext cx="3971661" cy="986591"/>
          </a:xfrm>
          <a:prstGeom prst="rect">
            <a:avLst/>
          </a:prstGeom>
        </p:spPr>
      </p:pic>
      <p:pic>
        <p:nvPicPr>
          <p:cNvPr id="15" name="Picture 14" descr="One Ten">
            <a:extLst>
              <a:ext uri="{FF2B5EF4-FFF2-40B4-BE49-F238E27FC236}">
                <a16:creationId xmlns:a16="http://schemas.microsoft.com/office/drawing/2014/main" id="{15A26649-1BAB-2E45-A22F-93A783E82F4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99323" y="5313498"/>
            <a:ext cx="1342638" cy="1342638"/>
          </a:xfrm>
          <a:prstGeom prst="rect">
            <a:avLst/>
          </a:prstGeom>
        </p:spPr>
      </p:pic>
      <p:pic>
        <p:nvPicPr>
          <p:cNvPr id="17" name="Picture 16">
            <a:extLst>
              <a:ext uri="{FF2B5EF4-FFF2-40B4-BE49-F238E27FC236}">
                <a16:creationId xmlns:a16="http://schemas.microsoft.com/office/drawing/2014/main" id="{3B6601A2-7C34-924A-BA54-5A6B8E0DED79}"/>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861447" y="3522756"/>
            <a:ext cx="1170429" cy="1170429"/>
          </a:xfrm>
          <a:prstGeom prst="rect">
            <a:avLst/>
          </a:prstGeom>
        </p:spPr>
      </p:pic>
      <p:pic>
        <p:nvPicPr>
          <p:cNvPr id="19" name="Picture 18">
            <a:extLst>
              <a:ext uri="{FF2B5EF4-FFF2-40B4-BE49-F238E27FC236}">
                <a16:creationId xmlns:a16="http://schemas.microsoft.com/office/drawing/2014/main" id="{AC958F40-7DE5-C14D-B797-12A515202263}"/>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3923685" y="5483947"/>
            <a:ext cx="961746" cy="961746"/>
          </a:xfrm>
          <a:prstGeom prst="rect">
            <a:avLst/>
          </a:prstGeom>
        </p:spPr>
      </p:pic>
      <p:pic>
        <p:nvPicPr>
          <p:cNvPr id="23" name="Picture 22">
            <a:extLst>
              <a:ext uri="{FF2B5EF4-FFF2-40B4-BE49-F238E27FC236}">
                <a16:creationId xmlns:a16="http://schemas.microsoft.com/office/drawing/2014/main" id="{77EE3A8A-EC7B-3E4E-A6BC-702C6099D1D2}"/>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052973" y="2851563"/>
            <a:ext cx="986591" cy="986591"/>
          </a:xfrm>
          <a:prstGeom prst="rect">
            <a:avLst/>
          </a:prstGeom>
        </p:spPr>
      </p:pic>
      <p:sp>
        <p:nvSpPr>
          <p:cNvPr id="24" name="TextBox 23">
            <a:extLst>
              <a:ext uri="{FF2B5EF4-FFF2-40B4-BE49-F238E27FC236}">
                <a16:creationId xmlns:a16="http://schemas.microsoft.com/office/drawing/2014/main" id="{F1563A93-3EC3-7544-8D09-63B40ABB87D0}"/>
              </a:ext>
            </a:extLst>
          </p:cNvPr>
          <p:cNvSpPr txBox="1"/>
          <p:nvPr/>
        </p:nvSpPr>
        <p:spPr>
          <a:xfrm>
            <a:off x="3257467" y="6445694"/>
            <a:ext cx="2362200" cy="307777"/>
          </a:xfrm>
          <a:prstGeom prst="rect">
            <a:avLst/>
          </a:prstGeom>
          <a:noFill/>
        </p:spPr>
        <p:txBody>
          <a:bodyPr wrap="square" rtlCol="0">
            <a:spAutoFit/>
          </a:bodyPr>
          <a:lstStyle/>
          <a:p>
            <a:pPr algn="ctr" eaLnBrk="0" fontAlgn="base" hangingPunct="0">
              <a:spcBef>
                <a:spcPct val="0"/>
              </a:spcBef>
              <a:spcAft>
                <a:spcPct val="0"/>
              </a:spcAft>
            </a:pPr>
            <a:r>
              <a:rPr lang="en-US" sz="1400" dirty="0">
                <a:solidFill>
                  <a:srgbClr val="292934"/>
                </a:solidFill>
                <a:latin typeface="Calibri" panose="020F0502020204030204" pitchFamily="34" charset="0"/>
                <a:ea typeface="ＭＳ Ｐゴシック" panose="020B0600070205080204" pitchFamily="34" charset="-128"/>
                <a:cs typeface="Calibri" panose="020F0502020204030204" pitchFamily="34" charset="0"/>
              </a:rPr>
              <a:t>Intelligent Partnerships</a:t>
            </a:r>
          </a:p>
        </p:txBody>
      </p:sp>
      <p:sp>
        <p:nvSpPr>
          <p:cNvPr id="29" name="TextBox 28">
            <a:extLst>
              <a:ext uri="{FF2B5EF4-FFF2-40B4-BE49-F238E27FC236}">
                <a16:creationId xmlns:a16="http://schemas.microsoft.com/office/drawing/2014/main" id="{B765E176-7949-9147-9080-BF673669A527}"/>
              </a:ext>
            </a:extLst>
          </p:cNvPr>
          <p:cNvSpPr txBox="1"/>
          <p:nvPr/>
        </p:nvSpPr>
        <p:spPr>
          <a:xfrm>
            <a:off x="5688048" y="6210984"/>
            <a:ext cx="2362200" cy="523220"/>
          </a:xfrm>
          <a:prstGeom prst="rect">
            <a:avLst/>
          </a:prstGeom>
          <a:noFill/>
        </p:spPr>
        <p:txBody>
          <a:bodyPr wrap="square" rtlCol="0">
            <a:spAutoFit/>
          </a:bodyPr>
          <a:lstStyle/>
          <a:p>
            <a:pPr algn="ctr" eaLnBrk="0" fontAlgn="base" hangingPunct="0">
              <a:spcBef>
                <a:spcPct val="0"/>
              </a:spcBef>
              <a:spcAft>
                <a:spcPct val="0"/>
              </a:spcAft>
            </a:pPr>
            <a:r>
              <a:rPr lang="en-US" sz="1400" dirty="0">
                <a:solidFill>
                  <a:srgbClr val="292934"/>
                </a:solidFill>
                <a:latin typeface="Calibri" panose="020F0502020204030204" pitchFamily="34" charset="0"/>
                <a:ea typeface="ＭＳ Ｐゴシック" panose="020B0600070205080204" pitchFamily="34" charset="-128"/>
                <a:cs typeface="Calibri" panose="020F0502020204030204" pitchFamily="34" charset="0"/>
              </a:rPr>
              <a:t>Institute for Community Inclusion, UMass Boston</a:t>
            </a:r>
          </a:p>
        </p:txBody>
      </p:sp>
      <p:pic>
        <p:nvPicPr>
          <p:cNvPr id="31" name="Picture 30">
            <a:extLst>
              <a:ext uri="{FF2B5EF4-FFF2-40B4-BE49-F238E27FC236}">
                <a16:creationId xmlns:a16="http://schemas.microsoft.com/office/drawing/2014/main" id="{A2E5B428-8EB7-B043-A5CE-AF0A10CA232C}"/>
              </a:ext>
              <a:ext uri="{C183D7F6-B498-43B3-948B-1728B52AA6E4}">
                <adec:decorative xmlns:adec="http://schemas.microsoft.com/office/drawing/2017/decorative" val="1"/>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453224" y="5412108"/>
            <a:ext cx="831848" cy="794281"/>
          </a:xfrm>
          <a:prstGeom prst="rect">
            <a:avLst/>
          </a:prstGeom>
        </p:spPr>
      </p:pic>
      <p:sp>
        <p:nvSpPr>
          <p:cNvPr id="32" name="TextBox 31">
            <a:extLst>
              <a:ext uri="{FF2B5EF4-FFF2-40B4-BE49-F238E27FC236}">
                <a16:creationId xmlns:a16="http://schemas.microsoft.com/office/drawing/2014/main" id="{53203F58-CD70-7A4F-B0EE-16770CD93C9E}"/>
              </a:ext>
            </a:extLst>
          </p:cNvPr>
          <p:cNvSpPr txBox="1"/>
          <p:nvPr/>
        </p:nvSpPr>
        <p:spPr>
          <a:xfrm>
            <a:off x="1419313" y="3846360"/>
            <a:ext cx="2362200" cy="523220"/>
          </a:xfrm>
          <a:prstGeom prst="rect">
            <a:avLst/>
          </a:prstGeom>
          <a:noFill/>
        </p:spPr>
        <p:txBody>
          <a:bodyPr wrap="square" rtlCol="0">
            <a:spAutoFit/>
          </a:bodyPr>
          <a:lstStyle/>
          <a:p>
            <a:pPr algn="ctr" eaLnBrk="0" fontAlgn="base" hangingPunct="0">
              <a:spcBef>
                <a:spcPct val="0"/>
              </a:spcBef>
              <a:spcAft>
                <a:spcPct val="0"/>
              </a:spcAft>
            </a:pPr>
            <a:r>
              <a:rPr lang="en-US" sz="1400" dirty="0">
                <a:solidFill>
                  <a:srgbClr val="292934"/>
                </a:solidFill>
                <a:latin typeface="Calibri" panose="020F0502020204030204" pitchFamily="34" charset="0"/>
                <a:ea typeface="ＭＳ Ｐゴシック" panose="020B0600070205080204" pitchFamily="34" charset="-128"/>
                <a:cs typeface="Calibri" panose="020F0502020204030204" pitchFamily="34" charset="0"/>
              </a:rPr>
              <a:t>Rutgers Center for Minority Serving Institutions</a:t>
            </a:r>
          </a:p>
        </p:txBody>
      </p:sp>
      <p:sp>
        <p:nvSpPr>
          <p:cNvPr id="33" name="TextBox 32">
            <a:extLst>
              <a:ext uri="{FF2B5EF4-FFF2-40B4-BE49-F238E27FC236}">
                <a16:creationId xmlns:a16="http://schemas.microsoft.com/office/drawing/2014/main" id="{DE7238B0-F3FC-FC41-9BDC-BCAC9BA61558}"/>
              </a:ext>
            </a:extLst>
          </p:cNvPr>
          <p:cNvSpPr txBox="1"/>
          <p:nvPr/>
        </p:nvSpPr>
        <p:spPr>
          <a:xfrm>
            <a:off x="8265560" y="4707664"/>
            <a:ext cx="2362200" cy="523220"/>
          </a:xfrm>
          <a:prstGeom prst="rect">
            <a:avLst/>
          </a:prstGeom>
          <a:noFill/>
        </p:spPr>
        <p:txBody>
          <a:bodyPr wrap="square" rtlCol="0">
            <a:spAutoFit/>
          </a:bodyPr>
          <a:lstStyle/>
          <a:p>
            <a:pPr algn="ctr" eaLnBrk="0" fontAlgn="base" hangingPunct="0">
              <a:spcBef>
                <a:spcPct val="0"/>
              </a:spcBef>
              <a:spcAft>
                <a:spcPct val="0"/>
              </a:spcAft>
            </a:pPr>
            <a:r>
              <a:rPr lang="en-US" sz="1400" dirty="0">
                <a:solidFill>
                  <a:srgbClr val="292934"/>
                </a:solidFill>
                <a:latin typeface="Calibri" panose="020F0502020204030204" pitchFamily="34" charset="0"/>
                <a:ea typeface="ＭＳ Ｐゴシック" panose="020B0600070205080204" pitchFamily="34" charset="-128"/>
                <a:cs typeface="Calibri" panose="020F0502020204030204" pitchFamily="34" charset="0"/>
              </a:rPr>
              <a:t>The Apprentice School of Newport News Shipbuilding</a:t>
            </a:r>
          </a:p>
        </p:txBody>
      </p:sp>
      <p:cxnSp>
        <p:nvCxnSpPr>
          <p:cNvPr id="35" name="Straight Connector 34">
            <a:extLst>
              <a:ext uri="{FF2B5EF4-FFF2-40B4-BE49-F238E27FC236}">
                <a16:creationId xmlns:a16="http://schemas.microsoft.com/office/drawing/2014/main" id="{ABA430C1-5639-BA46-90E2-3EC1B4D82063}"/>
              </a:ext>
              <a:ext uri="{C183D7F6-B498-43B3-948B-1728B52AA6E4}">
                <adec:decorative xmlns:adec="http://schemas.microsoft.com/office/drawing/2017/decorative" val="1"/>
              </a:ext>
            </a:extLst>
          </p:cNvPr>
          <p:cNvCxnSpPr>
            <a:cxnSpLocks/>
          </p:cNvCxnSpPr>
          <p:nvPr/>
        </p:nvCxnSpPr>
        <p:spPr>
          <a:xfrm>
            <a:off x="1603252" y="2686487"/>
            <a:ext cx="9037330" cy="40481"/>
          </a:xfrm>
          <a:prstGeom prst="line">
            <a:avLst/>
          </a:prstGeom>
          <a:ln w="31750" cap="rnd"/>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324B0E2-B51F-F148-8BE0-380B4B6AE7E7}"/>
              </a:ext>
            </a:extLst>
          </p:cNvPr>
          <p:cNvSpPr txBox="1"/>
          <p:nvPr/>
        </p:nvSpPr>
        <p:spPr>
          <a:xfrm>
            <a:off x="4972260" y="1080673"/>
            <a:ext cx="1117005" cy="523220"/>
          </a:xfrm>
          <a:prstGeom prst="rect">
            <a:avLst/>
          </a:prstGeom>
          <a:noFill/>
        </p:spPr>
        <p:txBody>
          <a:bodyPr wrap="square" rtlCol="0">
            <a:spAutoFit/>
          </a:bodyPr>
          <a:lstStyle/>
          <a:p>
            <a:pPr algn="ctr" eaLnBrk="0" fontAlgn="base" hangingPunct="0">
              <a:spcBef>
                <a:spcPct val="0"/>
              </a:spcBef>
              <a:spcAft>
                <a:spcPct val="0"/>
              </a:spcAft>
            </a:pPr>
            <a:r>
              <a:rPr lang="en-US" sz="2800" b="1" i="1" dirty="0">
                <a:solidFill>
                  <a:srgbClr val="292934"/>
                </a:solidFill>
                <a:latin typeface="Calibri" panose="020F0502020204030204" pitchFamily="34" charset="0"/>
                <a:ea typeface="ＭＳ Ｐゴシック" panose="020B0600070205080204" pitchFamily="34" charset="-128"/>
                <a:cs typeface="Calibri" panose="020F0502020204030204" pitchFamily="34" charset="0"/>
              </a:rPr>
              <a:t>Lead</a:t>
            </a:r>
          </a:p>
        </p:txBody>
      </p:sp>
      <p:pic>
        <p:nvPicPr>
          <p:cNvPr id="43" name="Picture 42" descr="Chicago Women in Trades">
            <a:extLst>
              <a:ext uri="{FF2B5EF4-FFF2-40B4-BE49-F238E27FC236}">
                <a16:creationId xmlns:a16="http://schemas.microsoft.com/office/drawing/2014/main" id="{C3FB1789-664B-A741-BF0A-F01A92A73F2E}"/>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a:stretch/>
        </p:blipFill>
        <p:spPr>
          <a:xfrm>
            <a:off x="5946781" y="4025952"/>
            <a:ext cx="2084685" cy="1063412"/>
          </a:xfrm>
          <a:prstGeom prst="rect">
            <a:avLst/>
          </a:prstGeom>
        </p:spPr>
      </p:pic>
    </p:spTree>
    <p:extLst>
      <p:ext uri="{BB962C8B-B14F-4D97-AF65-F5344CB8AC3E}">
        <p14:creationId xmlns:p14="http://schemas.microsoft.com/office/powerpoint/2010/main" val="33674918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B2822-665D-1F43-A24A-5EFC8DDE21FE}"/>
              </a:ext>
            </a:extLst>
          </p:cNvPr>
          <p:cNvSpPr>
            <a:spLocks noGrp="1"/>
          </p:cNvSpPr>
          <p:nvPr>
            <p:ph type="title"/>
          </p:nvPr>
        </p:nvSpPr>
        <p:spPr>
          <a:xfrm>
            <a:off x="7173286" y="422523"/>
            <a:ext cx="4375586" cy="1325563"/>
          </a:xfrm>
          <a:solidFill>
            <a:schemeClr val="tx1"/>
          </a:solidFill>
          <a:effectLst>
            <a:glow rad="139700">
              <a:schemeClr val="accent3">
                <a:satMod val="175000"/>
                <a:alpha val="40000"/>
              </a:schemeClr>
            </a:glow>
          </a:effectLst>
          <a:scene3d>
            <a:camera prst="orthographicFront"/>
            <a:lightRig rig="threePt" dir="t"/>
          </a:scene3d>
          <a:sp3d>
            <a:bevelT prst="angle"/>
          </a:sp3d>
        </p:spPr>
        <p:txBody>
          <a:bodyPr>
            <a:normAutofit/>
          </a:bodyPr>
          <a:lstStyle/>
          <a:p>
            <a:pPr algn="ctr"/>
            <a:r>
              <a:rPr lang="en-US" sz="2800" b="1" cap="small" dirty="0">
                <a:solidFill>
                  <a:schemeClr val="bg1"/>
                </a:solidFill>
              </a:rPr>
              <a:t>Opportunities For People with Disabilities in Apprenticeship</a:t>
            </a:r>
          </a:p>
        </p:txBody>
      </p:sp>
      <p:sp>
        <p:nvSpPr>
          <p:cNvPr id="33" name="Freeform: Shape 22">
            <a:extLst>
              <a:ext uri="{FF2B5EF4-FFF2-40B4-BE49-F238E27FC236}">
                <a16:creationId xmlns:a16="http://schemas.microsoft.com/office/drawing/2014/main" id="{0ED52484-C939-4951-85D6-79046BBC6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67397" cy="3481744"/>
          </a:xfrm>
          <a:custGeom>
            <a:avLst/>
            <a:gdLst>
              <a:gd name="connsiteX0" fmla="*/ 0 w 4067397"/>
              <a:gd name="connsiteY0" fmla="*/ 0 h 3481744"/>
              <a:gd name="connsiteX1" fmla="*/ 3741230 w 4067397"/>
              <a:gd name="connsiteY1" fmla="*/ 0 h 3481744"/>
              <a:gd name="connsiteX2" fmla="*/ 3789282 w 4067397"/>
              <a:gd name="connsiteY2" fmla="*/ 79096 h 3481744"/>
              <a:gd name="connsiteX3" fmla="*/ 4067397 w 4067397"/>
              <a:gd name="connsiteY3" fmla="*/ 1177456 h 3481744"/>
              <a:gd name="connsiteX4" fmla="*/ 1763109 w 4067397"/>
              <a:gd name="connsiteY4" fmla="*/ 3481744 h 3481744"/>
              <a:gd name="connsiteX5" fmla="*/ 133731 w 4067397"/>
              <a:gd name="connsiteY5" fmla="*/ 2806834 h 3481744"/>
              <a:gd name="connsiteX6" fmla="*/ 0 w 4067397"/>
              <a:gd name="connsiteY6" fmla="*/ 2659692 h 3481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7397" h="3481744">
                <a:moveTo>
                  <a:pt x="0" y="0"/>
                </a:moveTo>
                <a:lnTo>
                  <a:pt x="3741230" y="0"/>
                </a:lnTo>
                <a:lnTo>
                  <a:pt x="3789282" y="79096"/>
                </a:lnTo>
                <a:cubicBezTo>
                  <a:pt x="3966649" y="405598"/>
                  <a:pt x="4067397" y="779761"/>
                  <a:pt x="4067397" y="1177456"/>
                </a:cubicBezTo>
                <a:cubicBezTo>
                  <a:pt x="4067397" y="2450079"/>
                  <a:pt x="3035732" y="3481744"/>
                  <a:pt x="1763109" y="3481744"/>
                </a:cubicBezTo>
                <a:cubicBezTo>
                  <a:pt x="1126798" y="3481744"/>
                  <a:pt x="550726" y="3223828"/>
                  <a:pt x="133731" y="2806834"/>
                </a:cubicBezTo>
                <a:lnTo>
                  <a:pt x="0" y="2659692"/>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24">
            <a:extLst>
              <a:ext uri="{FF2B5EF4-FFF2-40B4-BE49-F238E27FC236}">
                <a16:creationId xmlns:a16="http://schemas.microsoft.com/office/drawing/2014/main" id="{123AC743-1CAC-4594-8F81-8E5C1E45B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5804" y="452999"/>
            <a:ext cx="2020824" cy="2020824"/>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5CBC7F8F-2132-0144-8F4D-67415BB8010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700396" y="617591"/>
            <a:ext cx="1691640" cy="1691640"/>
          </a:xfrm>
          <a:custGeom>
            <a:avLst/>
            <a:gdLst/>
            <a:ahLst/>
            <a:cxnLst/>
            <a:rect l="l" t="t" r="r" b="b"/>
            <a:pathLst>
              <a:path w="1645920" h="1645920">
                <a:moveTo>
                  <a:pt x="822960" y="0"/>
                </a:moveTo>
                <a:cubicBezTo>
                  <a:pt x="1277468" y="0"/>
                  <a:pt x="1645920" y="368452"/>
                  <a:pt x="1645920" y="822960"/>
                </a:cubicBezTo>
                <a:cubicBezTo>
                  <a:pt x="1645920" y="1277468"/>
                  <a:pt x="1277468" y="1645920"/>
                  <a:pt x="822960" y="1645920"/>
                </a:cubicBezTo>
                <a:cubicBezTo>
                  <a:pt x="368452" y="1645920"/>
                  <a:pt x="0" y="1277468"/>
                  <a:pt x="0" y="822960"/>
                </a:cubicBezTo>
                <a:cubicBezTo>
                  <a:pt x="0" y="368452"/>
                  <a:pt x="368452" y="0"/>
                  <a:pt x="822960" y="0"/>
                </a:cubicBezTo>
                <a:close/>
              </a:path>
            </a:pathLst>
          </a:custGeom>
        </p:spPr>
      </p:pic>
      <p:sp>
        <p:nvSpPr>
          <p:cNvPr id="35" name="Freeform: Shape 26">
            <a:extLst>
              <a:ext uri="{FF2B5EF4-FFF2-40B4-BE49-F238E27FC236}">
                <a16:creationId xmlns:a16="http://schemas.microsoft.com/office/drawing/2014/main" id="{3DF8EA8C-4EAB-49EE-BBAB-78BE910D2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041056"/>
            <a:ext cx="3216344" cy="2816945"/>
          </a:xfrm>
          <a:custGeom>
            <a:avLst/>
            <a:gdLst>
              <a:gd name="connsiteX0" fmla="*/ 1360112 w 3216344"/>
              <a:gd name="connsiteY0" fmla="*/ 0 h 2816945"/>
              <a:gd name="connsiteX1" fmla="*/ 3216344 w 3216344"/>
              <a:gd name="connsiteY1" fmla="*/ 1856232 h 2816945"/>
              <a:gd name="connsiteX2" fmla="*/ 2992307 w 3216344"/>
              <a:gd name="connsiteY2" fmla="*/ 2741023 h 2816945"/>
              <a:gd name="connsiteX3" fmla="*/ 2946183 w 3216344"/>
              <a:gd name="connsiteY3" fmla="*/ 2816945 h 2816945"/>
              <a:gd name="connsiteX4" fmla="*/ 0 w 3216344"/>
              <a:gd name="connsiteY4" fmla="*/ 2816945 h 2816945"/>
              <a:gd name="connsiteX5" fmla="*/ 0 w 3216344"/>
              <a:gd name="connsiteY5" fmla="*/ 596005 h 2816945"/>
              <a:gd name="connsiteX6" fmla="*/ 47558 w 3216344"/>
              <a:gd name="connsiteY6" fmla="*/ 543678 h 2816945"/>
              <a:gd name="connsiteX7" fmla="*/ 1360112 w 3216344"/>
              <a:gd name="connsiteY7" fmla="*/ 0 h 281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6344" h="2816945">
                <a:moveTo>
                  <a:pt x="1360112" y="0"/>
                </a:moveTo>
                <a:cubicBezTo>
                  <a:pt x="2385281" y="0"/>
                  <a:pt x="3216344" y="831063"/>
                  <a:pt x="3216344" y="1856232"/>
                </a:cubicBezTo>
                <a:cubicBezTo>
                  <a:pt x="3216344" y="2176598"/>
                  <a:pt x="3135186" y="2478007"/>
                  <a:pt x="2992307" y="2741023"/>
                </a:cubicBezTo>
                <a:lnTo>
                  <a:pt x="2946183" y="2816945"/>
                </a:lnTo>
                <a:lnTo>
                  <a:pt x="0" y="2816945"/>
                </a:lnTo>
                <a:lnTo>
                  <a:pt x="0" y="596005"/>
                </a:lnTo>
                <a:lnTo>
                  <a:pt x="47558" y="543678"/>
                </a:lnTo>
                <a:cubicBezTo>
                  <a:pt x="383470" y="207766"/>
                  <a:pt x="847528" y="0"/>
                  <a:pt x="136011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Oval 28">
            <a:extLst>
              <a:ext uri="{FF2B5EF4-FFF2-40B4-BE49-F238E27FC236}">
                <a16:creationId xmlns:a16="http://schemas.microsoft.com/office/drawing/2014/main" id="{9973AF05-1CBD-4B57-BB0F-EAEF9F8FB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0935" y="2871982"/>
            <a:ext cx="2834640" cy="2834640"/>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31B11915-0C8A-844A-A30B-316FA3FFE3CC}"/>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45527" y="3036574"/>
            <a:ext cx="2505456" cy="2505456"/>
          </a:xfrm>
          <a:custGeom>
            <a:avLst/>
            <a:gdLst/>
            <a:ahLst/>
            <a:cxnLst/>
            <a:rect l="l" t="t" r="r" b="b"/>
            <a:pathLst>
              <a:path w="2505456" h="2505456">
                <a:moveTo>
                  <a:pt x="1252728" y="0"/>
                </a:moveTo>
                <a:cubicBezTo>
                  <a:pt x="1944591" y="0"/>
                  <a:pt x="2505456" y="560865"/>
                  <a:pt x="2505456" y="1252728"/>
                </a:cubicBezTo>
                <a:cubicBezTo>
                  <a:pt x="2505456" y="1944591"/>
                  <a:pt x="1944591" y="2505456"/>
                  <a:pt x="1252728" y="2505456"/>
                </a:cubicBezTo>
                <a:cubicBezTo>
                  <a:pt x="560865" y="2505456"/>
                  <a:pt x="0" y="1944591"/>
                  <a:pt x="0" y="1252728"/>
                </a:cubicBezTo>
                <a:cubicBezTo>
                  <a:pt x="0" y="560865"/>
                  <a:pt x="560865" y="0"/>
                  <a:pt x="1252728" y="0"/>
                </a:cubicBezTo>
                <a:close/>
              </a:path>
            </a:pathLst>
          </a:custGeom>
        </p:spPr>
      </p:pic>
      <p:pic>
        <p:nvPicPr>
          <p:cNvPr id="18" name="Picture 17">
            <a:extLst>
              <a:ext uri="{FF2B5EF4-FFF2-40B4-BE49-F238E27FC236}">
                <a16:creationId xmlns:a16="http://schemas.microsoft.com/office/drawing/2014/main" id="{C29A6C80-1698-534B-AB5E-6CFA86592368}"/>
              </a:ext>
              <a:ext uri="{C183D7F6-B498-43B3-948B-1728B52AA6E4}">
                <adec:decorative xmlns:adec="http://schemas.microsoft.com/office/drawing/2017/decorative" val="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b="-1"/>
          <a:stretch/>
        </p:blipFill>
        <p:spPr>
          <a:xfrm>
            <a:off x="20" y="10"/>
            <a:ext cx="3904480" cy="3318836"/>
          </a:xfrm>
          <a:custGeom>
            <a:avLst/>
            <a:gdLst/>
            <a:ahLst/>
            <a:cxnLst/>
            <a:rect l="l" t="t" r="r" b="b"/>
            <a:pathLst>
              <a:path w="3904500" h="3318846">
                <a:moveTo>
                  <a:pt x="0" y="0"/>
                </a:moveTo>
                <a:lnTo>
                  <a:pt x="3550823" y="0"/>
                </a:lnTo>
                <a:lnTo>
                  <a:pt x="3646046" y="156742"/>
                </a:lnTo>
                <a:cubicBezTo>
                  <a:pt x="3810874" y="460163"/>
                  <a:pt x="3904500" y="807876"/>
                  <a:pt x="3904500" y="1177456"/>
                </a:cubicBezTo>
                <a:cubicBezTo>
                  <a:pt x="3904500" y="2360113"/>
                  <a:pt x="2945767" y="3318846"/>
                  <a:pt x="1763110" y="3318846"/>
                </a:cubicBezTo>
                <a:cubicBezTo>
                  <a:pt x="1097866" y="3318846"/>
                  <a:pt x="503472" y="3015497"/>
                  <a:pt x="110709" y="2539579"/>
                </a:cubicBezTo>
                <a:lnTo>
                  <a:pt x="0" y="2391530"/>
                </a:lnTo>
                <a:close/>
              </a:path>
            </a:pathLst>
          </a:custGeom>
        </p:spPr>
      </p:pic>
      <p:pic>
        <p:nvPicPr>
          <p:cNvPr id="6" name="Picture 5">
            <a:extLst>
              <a:ext uri="{FF2B5EF4-FFF2-40B4-BE49-F238E27FC236}">
                <a16:creationId xmlns:a16="http://schemas.microsoft.com/office/drawing/2014/main" id="{293A8169-DD9F-3B47-846D-91AFDC502499}"/>
              </a:ext>
              <a:ext uri="{C183D7F6-B498-43B3-948B-1728B52AA6E4}">
                <adec:decorative xmlns:adec="http://schemas.microsoft.com/office/drawing/2017/decorative" val="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 y="4207014"/>
            <a:ext cx="3050387" cy="2654675"/>
          </a:xfrm>
          <a:custGeom>
            <a:avLst/>
            <a:gdLst/>
            <a:ahLst/>
            <a:cxnLst/>
            <a:rect l="l" t="t" r="r" b="b"/>
            <a:pathLst>
              <a:path w="3050387" h="2654675">
                <a:moveTo>
                  <a:pt x="1360112" y="0"/>
                </a:moveTo>
                <a:cubicBezTo>
                  <a:pt x="2293625" y="0"/>
                  <a:pt x="3050387" y="756762"/>
                  <a:pt x="3050387" y="1690275"/>
                </a:cubicBezTo>
                <a:cubicBezTo>
                  <a:pt x="3050387" y="2040343"/>
                  <a:pt x="2943967" y="2365554"/>
                  <a:pt x="2761715" y="2635324"/>
                </a:cubicBezTo>
                <a:lnTo>
                  <a:pt x="2747244" y="2654675"/>
                </a:lnTo>
                <a:lnTo>
                  <a:pt x="0" y="2654675"/>
                </a:lnTo>
                <a:lnTo>
                  <a:pt x="0" y="689742"/>
                </a:lnTo>
                <a:lnTo>
                  <a:pt x="55814" y="615103"/>
                </a:lnTo>
                <a:cubicBezTo>
                  <a:pt x="365835" y="239445"/>
                  <a:pt x="835011" y="0"/>
                  <a:pt x="1360112" y="0"/>
                </a:cubicBezTo>
                <a:close/>
              </a:path>
            </a:pathLst>
          </a:custGeom>
        </p:spPr>
      </p:pic>
      <p:sp>
        <p:nvSpPr>
          <p:cNvPr id="3" name="Content Placeholder 2">
            <a:extLst>
              <a:ext uri="{FF2B5EF4-FFF2-40B4-BE49-F238E27FC236}">
                <a16:creationId xmlns:a16="http://schemas.microsoft.com/office/drawing/2014/main" id="{41F77112-1053-B14A-BF32-5714D2A539C2}"/>
              </a:ext>
            </a:extLst>
          </p:cNvPr>
          <p:cNvSpPr>
            <a:spLocks noGrp="1"/>
          </p:cNvSpPr>
          <p:nvPr>
            <p:ph idx="1"/>
          </p:nvPr>
        </p:nvSpPr>
        <p:spPr>
          <a:xfrm>
            <a:off x="6944011" y="2052561"/>
            <a:ext cx="4908465" cy="3976989"/>
          </a:xfrm>
        </p:spPr>
        <p:txBody>
          <a:bodyPr anchor="t">
            <a:noAutofit/>
          </a:bodyPr>
          <a:lstStyle/>
          <a:p>
            <a:r>
              <a:rPr lang="en-US" sz="2000" dirty="0"/>
              <a:t>Increased opportunities for good jobs at good wages</a:t>
            </a:r>
          </a:p>
          <a:p>
            <a:r>
              <a:rPr lang="en-US" sz="2000" dirty="0"/>
              <a:t>Career pathway for developing skills and increasing wages</a:t>
            </a:r>
          </a:p>
          <a:p>
            <a:r>
              <a:rPr lang="en-US" sz="2000" dirty="0"/>
              <a:t>Systematic approach to competency development</a:t>
            </a:r>
          </a:p>
          <a:p>
            <a:r>
              <a:rPr lang="en-US" sz="2000" dirty="0"/>
              <a:t>Meeting labor market demands</a:t>
            </a:r>
          </a:p>
          <a:p>
            <a:r>
              <a:rPr lang="en-US" sz="2000" dirty="0"/>
              <a:t>Demonstrates capabilities of people with disabilities resulting in increased overall opportunities</a:t>
            </a:r>
          </a:p>
        </p:txBody>
      </p:sp>
      <p:sp>
        <p:nvSpPr>
          <p:cNvPr id="4" name="Slide Number Placeholder 3">
            <a:extLst>
              <a:ext uri="{FF2B5EF4-FFF2-40B4-BE49-F238E27FC236}">
                <a16:creationId xmlns:a16="http://schemas.microsoft.com/office/drawing/2014/main" id="{F02EA126-81F2-DA42-9796-3A0D83A032A5}"/>
              </a:ext>
            </a:extLst>
          </p:cNvPr>
          <p:cNvSpPr>
            <a:spLocks noGrp="1"/>
          </p:cNvSpPr>
          <p:nvPr>
            <p:ph type="sldNum" sz="quarter" idx="12"/>
          </p:nvPr>
        </p:nvSpPr>
        <p:spPr>
          <a:xfrm>
            <a:off x="11000232" y="6108192"/>
            <a:ext cx="548640" cy="548640"/>
          </a:xfrm>
          <a:prstGeom prst="ellipse">
            <a:avLst/>
          </a:prstGeom>
          <a:solidFill>
            <a:srgbClr val="8E5344"/>
          </a:solidFill>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6DFFECAE-5558-FC4F-A5D5-814DD6134961}" type="slidenum">
              <a:rPr kumimoji="0" lang="en-US" altLang="en-US" sz="150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26</a:t>
            </a:fld>
            <a:endParaRPr kumimoji="0" lang="en-US" altLang="en-US" sz="15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98162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05354-E14B-D34E-81DA-7F26CCD94FAF}"/>
              </a:ext>
            </a:extLst>
          </p:cNvPr>
          <p:cNvSpPr>
            <a:spLocks noGrp="1"/>
          </p:cNvSpPr>
          <p:nvPr>
            <p:ph type="title"/>
          </p:nvPr>
        </p:nvSpPr>
        <p:spPr>
          <a:xfrm>
            <a:off x="4965430" y="629268"/>
            <a:ext cx="6586491" cy="1286160"/>
          </a:xfrm>
        </p:spPr>
        <p:txBody>
          <a:bodyPr anchor="b">
            <a:normAutofit/>
          </a:bodyPr>
          <a:lstStyle/>
          <a:p>
            <a:pPr algn="ctr"/>
            <a:r>
              <a:rPr lang="en-US" sz="3400" b="1" cap="small" dirty="0"/>
              <a:t>Potential Challenges for People with Disabilities in Apprenticeships</a:t>
            </a:r>
          </a:p>
        </p:txBody>
      </p:sp>
      <p:sp>
        <p:nvSpPr>
          <p:cNvPr id="3" name="Content Placeholder 2">
            <a:extLst>
              <a:ext uri="{FF2B5EF4-FFF2-40B4-BE49-F238E27FC236}">
                <a16:creationId xmlns:a16="http://schemas.microsoft.com/office/drawing/2014/main" id="{95771BE3-9379-E641-A902-C64EF76E9106}"/>
              </a:ext>
            </a:extLst>
          </p:cNvPr>
          <p:cNvSpPr>
            <a:spLocks noGrp="1"/>
          </p:cNvSpPr>
          <p:nvPr>
            <p:ph idx="1"/>
          </p:nvPr>
        </p:nvSpPr>
        <p:spPr>
          <a:xfrm>
            <a:off x="4965431" y="2438400"/>
            <a:ext cx="7033281" cy="4007005"/>
          </a:xfrm>
        </p:spPr>
        <p:txBody>
          <a:bodyPr>
            <a:normAutofit/>
          </a:bodyPr>
          <a:lstStyle/>
          <a:p>
            <a:r>
              <a:rPr lang="en-US" sz="2400" dirty="0"/>
              <a:t>Highly structured, potentially lacking flexibility that many people with disabilities may need</a:t>
            </a:r>
          </a:p>
          <a:p>
            <a:r>
              <a:rPr lang="en-US" sz="2400" dirty="0"/>
              <a:t>Many apprenticeships are full-time</a:t>
            </a:r>
          </a:p>
          <a:p>
            <a:r>
              <a:rPr lang="en-US" sz="2400" dirty="0"/>
              <a:t>Don’t always fit into “traditional” apprenticeships</a:t>
            </a:r>
          </a:p>
          <a:p>
            <a:r>
              <a:rPr lang="en-US" sz="2400" dirty="0"/>
              <a:t>Need to negotiate for accommodations for application and during apprenticeship</a:t>
            </a:r>
          </a:p>
          <a:p>
            <a:r>
              <a:rPr lang="en-US" sz="2400" dirty="0"/>
              <a:t>Support needs</a:t>
            </a:r>
          </a:p>
          <a:p>
            <a:r>
              <a:rPr lang="en-US" sz="2400" dirty="0"/>
              <a:t>Transportation requirements</a:t>
            </a:r>
          </a:p>
          <a:p>
            <a:r>
              <a:rPr lang="en-US" sz="2400" dirty="0"/>
              <a:t>Other</a:t>
            </a:r>
          </a:p>
        </p:txBody>
      </p:sp>
      <p:pic>
        <p:nvPicPr>
          <p:cNvPr id="6" name="Picture 5">
            <a:extLst>
              <a:ext uri="{FF2B5EF4-FFF2-40B4-BE49-F238E27FC236}">
                <a16:creationId xmlns:a16="http://schemas.microsoft.com/office/drawing/2014/main" id="{9867137E-5B7E-F34B-9714-758EAA4E96AE}"/>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2750"/>
          <a:stretch/>
        </p:blipFill>
        <p:spPr>
          <a:xfrm flipH="1">
            <a:off x="670324" y="2207941"/>
            <a:ext cx="3050866" cy="4513534"/>
          </a:xfrm>
          <a:prstGeom prst="rect">
            <a:avLst/>
          </a:prstGeom>
          <a:effectLst/>
        </p:spPr>
      </p:pic>
      <p:cxnSp>
        <p:nvCxnSpPr>
          <p:cNvPr id="11" name="Straight Connector 10">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00FFFF"/>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58FBFF04-2E34-754E-85AC-2F1033835F4A}"/>
              </a:ext>
            </a:extLst>
          </p:cNvPr>
          <p:cNvSpPr>
            <a:spLocks noGrp="1"/>
          </p:cNvSpPr>
          <p:nvPr>
            <p:ph type="sldNum" sz="quarter" idx="12"/>
          </p:nvPr>
        </p:nvSpPr>
        <p:spPr>
          <a:xfrm>
            <a:off x="10167042" y="6356350"/>
            <a:ext cx="1186758"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DFFECAE-5558-FC4F-A5D5-814DD6134961}"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77315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8" name="Rectangle 1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1" name="Rectangle 2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2669DEA-181B-C44B-90BE-F8B4102E88D6}"/>
              </a:ext>
            </a:extLst>
          </p:cNvPr>
          <p:cNvSpPr>
            <a:spLocks noGrp="1"/>
          </p:cNvSpPr>
          <p:nvPr>
            <p:ph idx="1"/>
          </p:nvPr>
        </p:nvSpPr>
        <p:spPr>
          <a:xfrm>
            <a:off x="496824" y="2434282"/>
            <a:ext cx="4559425" cy="3979585"/>
          </a:xfrm>
        </p:spPr>
        <p:txBody>
          <a:bodyPr anchor="ctr">
            <a:noAutofit/>
          </a:bodyPr>
          <a:lstStyle/>
          <a:p>
            <a:r>
              <a:rPr lang="en-US" sz="3200" dirty="0"/>
              <a:t>Partner</a:t>
            </a:r>
          </a:p>
          <a:p>
            <a:r>
              <a:rPr lang="en-US" sz="3200" dirty="0"/>
              <a:t>Support Services</a:t>
            </a:r>
          </a:p>
          <a:p>
            <a:r>
              <a:rPr lang="en-US" sz="3200" dirty="0"/>
              <a:t>Funding</a:t>
            </a:r>
          </a:p>
          <a:p>
            <a:r>
              <a:rPr lang="en-US" sz="3200" dirty="0"/>
              <a:t>Provider of Related Instruction</a:t>
            </a:r>
          </a:p>
          <a:p>
            <a:r>
              <a:rPr lang="en-US" sz="3200" dirty="0"/>
              <a:t>Sponsor</a:t>
            </a:r>
          </a:p>
          <a:p>
            <a:r>
              <a:rPr lang="en-US" sz="3200" dirty="0"/>
              <a:t>Employer</a:t>
            </a:r>
          </a:p>
          <a:p>
            <a:r>
              <a:rPr lang="en-US" sz="3200" dirty="0"/>
              <a:t>Other</a:t>
            </a:r>
          </a:p>
        </p:txBody>
      </p:sp>
      <p:sp>
        <p:nvSpPr>
          <p:cNvPr id="23" name="Rectangle 2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Potential Roles: Apprenticeship">
            <a:extLst>
              <a:ext uri="{FF2B5EF4-FFF2-40B4-BE49-F238E27FC236}">
                <a16:creationId xmlns:a16="http://schemas.microsoft.com/office/drawing/2014/main" id="{055560DF-CDCF-4447-9268-1A0BCC0A9D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 b="1805"/>
          <a:stretch/>
        </p:blipFill>
        <p:spPr>
          <a:xfrm>
            <a:off x="6041006" y="1133099"/>
            <a:ext cx="4674997" cy="5384800"/>
          </a:xfrm>
          <a:prstGeom prst="rect">
            <a:avLst/>
          </a:prstGeom>
        </p:spPr>
      </p:pic>
      <p:sp>
        <p:nvSpPr>
          <p:cNvPr id="4" name="Slide Number Placeholder 3">
            <a:extLst>
              <a:ext uri="{FF2B5EF4-FFF2-40B4-BE49-F238E27FC236}">
                <a16:creationId xmlns:a16="http://schemas.microsoft.com/office/drawing/2014/main" id="{2738AEE7-6A3E-BA4C-A75D-DE31629CC309}"/>
              </a:ext>
            </a:extLst>
          </p:cNvPr>
          <p:cNvSpPr>
            <a:spLocks noGrp="1"/>
          </p:cNvSpPr>
          <p:nvPr>
            <p:ph type="sldNum" sz="quarter" idx="12"/>
          </p:nvPr>
        </p:nvSpPr>
        <p:spPr>
          <a:xfrm>
            <a:off x="9385070" y="6492240"/>
            <a:ext cx="105571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DFFECAE-5558-FC4F-A5D5-814DD6134961}"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BC5B4F-B21C-8544-92EE-87A97C54F686}"/>
              </a:ext>
            </a:extLst>
          </p:cNvPr>
          <p:cNvSpPr>
            <a:spLocks noGrp="1"/>
          </p:cNvSpPr>
          <p:nvPr>
            <p:ph type="title"/>
          </p:nvPr>
        </p:nvSpPr>
        <p:spPr>
          <a:xfrm>
            <a:off x="5752071" y="259442"/>
            <a:ext cx="4560584" cy="1128068"/>
          </a:xfrm>
        </p:spPr>
        <p:txBody>
          <a:bodyPr anchor="ctr">
            <a:normAutofit/>
          </a:bodyPr>
          <a:lstStyle/>
          <a:p>
            <a:pPr algn="ctr"/>
            <a:r>
              <a:rPr lang="en-US" sz="3700" b="1" cap="small" dirty="0">
                <a:solidFill>
                  <a:srgbClr val="E8A118"/>
                </a:solidFill>
              </a:rPr>
              <a:t>Disability Agencies &amp; Organizations</a:t>
            </a:r>
          </a:p>
        </p:txBody>
      </p:sp>
    </p:spTree>
    <p:extLst>
      <p:ext uri="{BB962C8B-B14F-4D97-AF65-F5344CB8AC3E}">
        <p14:creationId xmlns:p14="http://schemas.microsoft.com/office/powerpoint/2010/main" val="37524888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EE06F24-0B09-ED4A-AA43-F06EA420FBC5}"/>
              </a:ext>
            </a:extLst>
          </p:cNvPr>
          <p:cNvSpPr>
            <a:spLocks noGrp="1"/>
          </p:cNvSpPr>
          <p:nvPr>
            <p:ph type="title"/>
          </p:nvPr>
        </p:nvSpPr>
        <p:spPr>
          <a:xfrm>
            <a:off x="793662" y="386930"/>
            <a:ext cx="10066122" cy="1298448"/>
          </a:xfrm>
        </p:spPr>
        <p:txBody>
          <a:bodyPr anchor="b">
            <a:normAutofit/>
          </a:bodyPr>
          <a:lstStyle/>
          <a:p>
            <a:r>
              <a:rPr lang="en-US" sz="4800" b="1" cap="small"/>
              <a:t>Next Steps</a:t>
            </a:r>
          </a:p>
        </p:txBody>
      </p:sp>
      <p:sp>
        <p:nvSpPr>
          <p:cNvPr id="30" name="Rectangle 2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D0E5C9AD-1F6B-9B44-A3FA-E65432FA1429}"/>
              </a:ext>
            </a:extLst>
          </p:cNvPr>
          <p:cNvSpPr>
            <a:spLocks noGrp="1"/>
          </p:cNvSpPr>
          <p:nvPr>
            <p:ph idx="1"/>
          </p:nvPr>
        </p:nvSpPr>
        <p:spPr>
          <a:xfrm>
            <a:off x="496919" y="2484255"/>
            <a:ext cx="5338969" cy="3639450"/>
          </a:xfrm>
        </p:spPr>
        <p:txBody>
          <a:bodyPr anchor="ctr">
            <a:normAutofit/>
          </a:bodyPr>
          <a:lstStyle/>
          <a:p>
            <a:pPr marL="457200" indent="-457200">
              <a:buFont typeface="+mj-lt"/>
              <a:buAutoNum type="arabicPeriod"/>
            </a:pPr>
            <a:r>
              <a:rPr lang="en-US" sz="2400" dirty="0"/>
              <a:t>Increase knowledge of apprenticeship</a:t>
            </a:r>
          </a:p>
          <a:p>
            <a:pPr marL="457200" indent="-457200">
              <a:buFont typeface="+mj-lt"/>
              <a:buAutoNum type="arabicPeriod"/>
            </a:pPr>
            <a:r>
              <a:rPr lang="en-US" sz="2400" dirty="0"/>
              <a:t>Connect with and build relationships apprenticeship activities and partners in SD</a:t>
            </a:r>
          </a:p>
          <a:p>
            <a:pPr marL="457200" indent="-457200">
              <a:buFont typeface="+mj-lt"/>
              <a:buAutoNum type="arabicPeriod"/>
            </a:pPr>
            <a:r>
              <a:rPr lang="en-US" sz="2400" dirty="0"/>
              <a:t>Attend apprenticeship related events</a:t>
            </a:r>
          </a:p>
          <a:p>
            <a:pPr marL="457200" indent="-457200">
              <a:buFont typeface="+mj-lt"/>
              <a:buAutoNum type="arabicPeriod"/>
            </a:pPr>
            <a:r>
              <a:rPr lang="en-US" sz="2400" dirty="0"/>
              <a:t>Consider potential roles in apprenticeship</a:t>
            </a:r>
          </a:p>
          <a:p>
            <a:pPr marL="457200" indent="-457200">
              <a:buFont typeface="+mj-lt"/>
              <a:buAutoNum type="arabicPeriod"/>
            </a:pPr>
            <a:r>
              <a:rPr lang="en-US" sz="2400" dirty="0"/>
              <a:t>Other</a:t>
            </a:r>
          </a:p>
          <a:p>
            <a:endParaRPr lang="en-US" sz="2000" dirty="0"/>
          </a:p>
        </p:txBody>
      </p:sp>
      <p:pic>
        <p:nvPicPr>
          <p:cNvPr id="10" name="Picture 9" descr="Apprenticeship word cloud: working, earning, learning, advancing, skills, career">
            <a:extLst>
              <a:ext uri="{FF2B5EF4-FFF2-40B4-BE49-F238E27FC236}">
                <a16:creationId xmlns:a16="http://schemas.microsoft.com/office/drawing/2014/main" id="{B297A4B3-F04E-D749-9041-69513C2700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56249" y="2181909"/>
            <a:ext cx="3714244" cy="3714244"/>
          </a:xfrm>
          <a:prstGeom prst="rect">
            <a:avLst/>
          </a:prstGeom>
        </p:spPr>
      </p:pic>
      <p:sp>
        <p:nvSpPr>
          <p:cNvPr id="34" name="Rectangle 3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366D92C4-C6D0-5247-B77A-D141D51F4B54}"/>
              </a:ext>
            </a:extLst>
          </p:cNvPr>
          <p:cNvSpPr>
            <a:spLocks noGrp="1"/>
          </p:cNvSpPr>
          <p:nvPr>
            <p:ph type="sldNum" sz="quarter" idx="12"/>
          </p:nvPr>
        </p:nvSpPr>
        <p:spPr>
          <a:xfrm>
            <a:off x="8610600" y="649224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DFFECAE-5558-FC4F-A5D5-814DD6134961}"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10195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0070C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4BB5085-0A98-2732-6CA7-893BA8CC1CA4}"/>
              </a:ext>
              <a:ext uri="{C183D7F6-B498-43B3-948B-1728B52AA6E4}">
                <adec:decorative xmlns:adec="http://schemas.microsoft.com/office/drawing/2017/decorative" val="1"/>
              </a:ext>
            </a:extLst>
          </p:cNvPr>
          <p:cNvSpPr/>
          <p:nvPr/>
        </p:nvSpPr>
        <p:spPr bwMode="auto">
          <a:xfrm>
            <a:off x="1524000" y="111445"/>
            <a:ext cx="9144000" cy="1151467"/>
          </a:xfrm>
          <a:prstGeom prst="rect">
            <a:avLst/>
          </a:prstGeom>
          <a:solidFill>
            <a:srgbClr val="006699"/>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solidFill>
                <a:srgbClr val="000000"/>
              </a:solidFill>
              <a:latin typeface="Arial" panose="020B0604020202020204" pitchFamily="34" charset="0"/>
              <a:ea typeface="Geneva" panose="020B0503030404040204" pitchFamily="34" charset="0"/>
            </a:endParaRPr>
          </a:p>
        </p:txBody>
      </p:sp>
      <p:pic>
        <p:nvPicPr>
          <p:cNvPr id="8" name="Content Placeholder 7" descr="Explore VR Apprenticeship Toolkit">
            <a:hlinkClick r:id="rId3"/>
            <a:extLst>
              <a:ext uri="{FF2B5EF4-FFF2-40B4-BE49-F238E27FC236}">
                <a16:creationId xmlns:a16="http://schemas.microsoft.com/office/drawing/2014/main" id="{49A22805-750C-625C-3F78-8A10D6C10F3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30"/>
          <a:stretch/>
        </p:blipFill>
        <p:spPr>
          <a:xfrm>
            <a:off x="1524000" y="1302883"/>
            <a:ext cx="9144000" cy="5271243"/>
          </a:xfrm>
          <a:prstGeom prst="rect">
            <a:avLst/>
          </a:prstGeom>
        </p:spPr>
      </p:pic>
      <p:sp>
        <p:nvSpPr>
          <p:cNvPr id="3" name="Title 2">
            <a:extLst>
              <a:ext uri="{FF2B5EF4-FFF2-40B4-BE49-F238E27FC236}">
                <a16:creationId xmlns:a16="http://schemas.microsoft.com/office/drawing/2014/main" id="{08595E35-1283-5175-182A-1141957A4B11}"/>
              </a:ext>
            </a:extLst>
          </p:cNvPr>
          <p:cNvSpPr>
            <a:spLocks noGrp="1"/>
          </p:cNvSpPr>
          <p:nvPr>
            <p:ph type="title"/>
          </p:nvPr>
        </p:nvSpPr>
        <p:spPr>
          <a:xfrm>
            <a:off x="1603874" y="79942"/>
            <a:ext cx="8919989" cy="1143000"/>
          </a:xfrm>
        </p:spPr>
        <p:txBody>
          <a:bodyPr/>
          <a:lstStyle/>
          <a:p>
            <a:r>
              <a:rPr lang="en-US" sz="5400" dirty="0">
                <a:solidFill>
                  <a:schemeClr val="bg1"/>
                </a:solidFill>
              </a:rPr>
              <a:t>Apprenticeship Toolkit</a:t>
            </a:r>
            <a:endParaRPr lang="en-US" sz="2800" dirty="0">
              <a:solidFill>
                <a:schemeClr val="bg1"/>
              </a:solidFill>
            </a:endParaRPr>
          </a:p>
        </p:txBody>
      </p:sp>
    </p:spTree>
    <p:extLst>
      <p:ext uri="{BB962C8B-B14F-4D97-AF65-F5344CB8AC3E}">
        <p14:creationId xmlns:p14="http://schemas.microsoft.com/office/powerpoint/2010/main" val="32372451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9A3CF6E-BC48-A746-B278-225FA2C0DCFC}"/>
              </a:ext>
              <a:ext uri="{C183D7F6-B498-43B3-948B-1728B52AA6E4}">
                <adec:decorative xmlns:adec="http://schemas.microsoft.com/office/drawing/2017/decorative" val="1"/>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1638301" y="-14285"/>
            <a:ext cx="9163048" cy="6872286"/>
          </a:xfrm>
        </p:spPr>
      </p:pic>
      <p:sp>
        <p:nvSpPr>
          <p:cNvPr id="4" name="Slide Number Placeholder 3">
            <a:extLst>
              <a:ext uri="{FF2B5EF4-FFF2-40B4-BE49-F238E27FC236}">
                <a16:creationId xmlns:a16="http://schemas.microsoft.com/office/drawing/2014/main" id="{F33858C4-3EDA-C948-8BE3-57EDCF6A0A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FFECAE-5558-FC4F-A5D5-814DD6134961}"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795122-3A60-2941-9E07-ABD9B2FF12BE}"/>
              </a:ext>
            </a:extLst>
          </p:cNvPr>
          <p:cNvSpPr>
            <a:spLocks noGrp="1"/>
          </p:cNvSpPr>
          <p:nvPr>
            <p:ph type="title"/>
          </p:nvPr>
        </p:nvSpPr>
        <p:spPr>
          <a:xfrm>
            <a:off x="2197099" y="2892425"/>
            <a:ext cx="5689601" cy="1325563"/>
          </a:xfrm>
        </p:spPr>
        <p:txBody>
          <a:bodyPr>
            <a:noAutofit/>
          </a:bodyPr>
          <a:lstStyle/>
          <a:p>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Questions and Discussion</a:t>
            </a:r>
          </a:p>
        </p:txBody>
      </p:sp>
    </p:spTree>
    <p:extLst>
      <p:ext uri="{BB962C8B-B14F-4D97-AF65-F5344CB8AC3E}">
        <p14:creationId xmlns:p14="http://schemas.microsoft.com/office/powerpoint/2010/main" val="14284240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8711" name="Rectangle 32871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D67364-B3FB-1B40-9B69-56BF16AABEF1}"/>
              </a:ext>
            </a:extLst>
          </p:cNvPr>
          <p:cNvSpPr>
            <a:spLocks noGrp="1"/>
          </p:cNvSpPr>
          <p:nvPr>
            <p:ph type="title" idx="4294967295"/>
          </p:nvPr>
        </p:nvSpPr>
        <p:spPr>
          <a:xfrm>
            <a:off x="645064" y="525982"/>
            <a:ext cx="4282983" cy="1200361"/>
          </a:xfrm>
        </p:spPr>
        <p:txBody>
          <a:bodyPr vert="horz" lIns="91440" tIns="45720" rIns="91440" bIns="45720" rtlCol="0" anchor="b">
            <a:normAutofit/>
          </a:bodyPr>
          <a:lstStyle/>
          <a:p>
            <a:pPr marL="571500" indent="-571500"/>
            <a:r>
              <a:rPr lang="en-US" sz="3600" b="1" kern="1200" dirty="0">
                <a:solidFill>
                  <a:schemeClr val="tx1"/>
                </a:solidFill>
                <a:latin typeface="+mj-lt"/>
                <a:ea typeface="+mj-ea"/>
                <a:cs typeface="+mj-cs"/>
              </a:rPr>
              <a:t>Emilie Weight</a:t>
            </a:r>
          </a:p>
        </p:txBody>
      </p:sp>
      <p:sp>
        <p:nvSpPr>
          <p:cNvPr id="328713" name="Rectangle 32871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706" name="Rectangle 2"/>
          <p:cNvSpPr>
            <a:spLocks noChangeArrowheads="1"/>
          </p:cNvSpPr>
          <p:nvPr/>
        </p:nvSpPr>
        <p:spPr bwMode="auto">
          <a:xfrm>
            <a:off x="645066" y="2031101"/>
            <a:ext cx="4662914" cy="3484511"/>
          </a:xfrm>
          <a:prstGeom prst="rect">
            <a:avLst/>
          </a:prstGeom>
          <a:scene3d>
            <a:camera prst="orthographicFront"/>
            <a:lightRig rig="threePt" dir="t"/>
          </a:scene3d>
        </p:spPr>
        <p:txBody>
          <a:bodyPr vert="horz" lIns="91440" tIns="45720" rIns="91440" bIns="45720" rtlCol="0" anchor="ctr" anchorCtr="0">
            <a:normAutofit/>
          </a:bodyPr>
          <a:lstStyle/>
          <a:p>
            <a:pPr marR="0" lvl="0" fontAlgn="auto">
              <a:lnSpc>
                <a:spcPct val="90000"/>
              </a:lnSpc>
              <a:spcBef>
                <a:spcPts val="0"/>
              </a:spcBef>
              <a:spcAft>
                <a:spcPts val="600"/>
              </a:spcAft>
              <a:buClrTx/>
              <a:buSzTx/>
              <a:tabLst/>
              <a:defRPr/>
            </a:pPr>
            <a:r>
              <a:rPr kumimoji="0" lang="en-US" altLang="ja-JP" sz="2800" b="0" i="0" u="none" strike="noStrike" cap="none" spc="0" normalizeH="0" baseline="0" noProof="0" dirty="0">
                <a:ln>
                  <a:noFill/>
                </a:ln>
                <a:effectLst/>
                <a:uLnTx/>
                <a:uFillTx/>
              </a:rPr>
              <a:t>“Better integration of disabled people in our society, might not mean to assimilate them into whatever we deem ‘normal’, but rather to understand how they complete us.</a:t>
            </a:r>
            <a:r>
              <a:rPr kumimoji="0" lang="en-US" sz="2800" b="0" i="0" u="none" strike="noStrike" cap="none" spc="0" normalizeH="0" baseline="0" noProof="0" dirty="0">
                <a:ln>
                  <a:noFill/>
                </a:ln>
                <a:effectLst/>
                <a:uLnTx/>
                <a:uFillTx/>
              </a:rPr>
              <a:t>” </a:t>
            </a:r>
          </a:p>
        </p:txBody>
      </p:sp>
      <p:sp>
        <p:nvSpPr>
          <p:cNvPr id="328715" name="Rectangle 32871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717" name="Rectangle 32871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719" name="Rectangle 3287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374033" y="2149384"/>
            <a:ext cx="3005156" cy="2158081"/>
          </a:xfrm>
          <a:prstGeom prst="rect">
            <a:avLst/>
          </a:prstGeom>
        </p:spPr>
      </p:pic>
      <p:sp>
        <p:nvSpPr>
          <p:cNvPr id="4" name="Slide Number Placeholder 3">
            <a:extLst>
              <a:ext uri="{FF2B5EF4-FFF2-40B4-BE49-F238E27FC236}">
                <a16:creationId xmlns:a16="http://schemas.microsoft.com/office/drawing/2014/main" id="{EE220CEA-8C70-6844-A38D-C6B6D6A8E819}"/>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E26BCF2D-22B4-3949-A1B6-FC66345161F3}" type="slidenum">
              <a:rPr lang="en-US" smtClean="0"/>
              <a:pPr>
                <a:spcAft>
                  <a:spcPts val="600"/>
                </a:spcAft>
              </a:pPr>
              <a:t>32</a:t>
            </a:fld>
            <a:endParaRPr lang="en-US"/>
          </a:p>
        </p:txBody>
      </p:sp>
    </p:spTree>
    <p:extLst>
      <p:ext uri="{BB962C8B-B14F-4D97-AF65-F5344CB8AC3E}">
        <p14:creationId xmlns:p14="http://schemas.microsoft.com/office/powerpoint/2010/main" val="35048619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ppt/theme/theme3.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37</TotalTime>
  <Words>2076</Words>
  <Application>Microsoft Macintosh PowerPoint</Application>
  <PresentationFormat>Widescreen</PresentationFormat>
  <Paragraphs>256</Paragraphs>
  <Slides>32</Slides>
  <Notes>8</Notes>
  <HiddenSlides>0</HiddenSlides>
  <MMClips>0</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32</vt:i4>
      </vt:variant>
    </vt:vector>
  </HeadingPairs>
  <TitlesOfParts>
    <vt:vector size="48" baseType="lpstr">
      <vt:lpstr>Arial</vt:lpstr>
      <vt:lpstr>Book Antiqua</vt:lpstr>
      <vt:lpstr>Calibri</vt:lpstr>
      <vt:lpstr>Calibri Light</vt:lpstr>
      <vt:lpstr>Courier New</vt:lpstr>
      <vt:lpstr>Impact</vt:lpstr>
      <vt:lpstr>Myriad Pro</vt:lpstr>
      <vt:lpstr>Palatino Linotype</vt:lpstr>
      <vt:lpstr>Symbol</vt:lpstr>
      <vt:lpstr>Verdana</vt:lpstr>
      <vt:lpstr>Wingdings</vt:lpstr>
      <vt:lpstr>Office Theme</vt:lpstr>
      <vt:lpstr>Gallery</vt:lpstr>
      <vt:lpstr>Clarity</vt:lpstr>
      <vt:lpstr>1_Office Theme</vt:lpstr>
      <vt:lpstr>Blank Presentation</vt:lpstr>
      <vt:lpstr>Expanding Apprenticeships for People with Disabilities </vt:lpstr>
      <vt:lpstr>Handout</vt:lpstr>
      <vt:lpstr>If you would like copies of the PowerPoint slides, please email david.hoff@umb.edu</vt:lpstr>
      <vt:lpstr>Apprenticeship Initiatives</vt:lpstr>
      <vt:lpstr>Work-Based Learning</vt:lpstr>
      <vt:lpstr>Bringing together two worlds</vt:lpstr>
      <vt:lpstr>What is apprenticeship?</vt:lpstr>
      <vt:lpstr>The core of apprenticeship…</vt:lpstr>
      <vt:lpstr>Apprenticeship Models</vt:lpstr>
      <vt:lpstr>Apprenticeships can be in a diversity of fields</vt:lpstr>
      <vt:lpstr>Why apprenticeship?</vt:lpstr>
      <vt:lpstr>Apprenticeship Structure</vt:lpstr>
      <vt:lpstr>Partnership is Key </vt:lpstr>
      <vt:lpstr>Registered Apprenticeship Requirements</vt:lpstr>
      <vt:lpstr>Options for Measuring Skill Acquisition</vt:lpstr>
      <vt:lpstr>Apprenticeships are Highly Structured</vt:lpstr>
      <vt:lpstr>Apprenticeship Administration: Federal</vt:lpstr>
      <vt:lpstr>South Dakota: Apprenticeship Structure</vt:lpstr>
      <vt:lpstr>Apprenticeship in South Dakota</vt:lpstr>
      <vt:lpstr>SD Apprenticeship Mentorship Toolkit</vt:lpstr>
      <vt:lpstr>USDOL Efforts to Increase Participation of People with Disabilities in Apprenticeships</vt:lpstr>
      <vt:lpstr>2016: Updated Apprenticeship EEO Regulations</vt:lpstr>
      <vt:lpstr>US Department of Labor Registered Apprenticeship Technical Assistance Centers of Excellence</vt:lpstr>
      <vt:lpstr>JFF Diversity, Equity, Inclusion, and Accessibility in Apprenticeship &amp; WBL </vt:lpstr>
      <vt:lpstr>Diversity, Equity, Inclusion, &amp; Accessibility  Center Team</vt:lpstr>
      <vt:lpstr>Opportunities For People with Disabilities in Apprenticeship</vt:lpstr>
      <vt:lpstr>Potential Challenges for People with Disabilities in Apprenticeships</vt:lpstr>
      <vt:lpstr>Disability Agencies &amp; Organizations</vt:lpstr>
      <vt:lpstr>Next Steps</vt:lpstr>
      <vt:lpstr>Apprenticeship Toolkit</vt:lpstr>
      <vt:lpstr>Questions and Discussion</vt:lpstr>
      <vt:lpstr>Emilie Weight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Expanding Apprenticeships for People with Disabilities </dc:title>
  <dc:creator>David Hoff</dc:creator>
  <cp:lastModifiedBy>David Hoff</cp:lastModifiedBy>
  <cp:revision>5</cp:revision>
  <dcterms:created xsi:type="dcterms:W3CDTF">2022-10-12T12:06:38Z</dcterms:created>
  <dcterms:modified xsi:type="dcterms:W3CDTF">2022-10-13T17:20:43Z</dcterms:modified>
</cp:coreProperties>
</file>