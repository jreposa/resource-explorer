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29"/>
  </p:notesMasterIdLst>
  <p:handoutMasterIdLst>
    <p:handoutMasterId r:id="rId30"/>
  </p:handoutMasterIdLst>
  <p:sldIdLst>
    <p:sldId id="281" r:id="rId2"/>
    <p:sldId id="1171" r:id="rId3"/>
    <p:sldId id="282" r:id="rId4"/>
    <p:sldId id="1114" r:id="rId5"/>
    <p:sldId id="1160" r:id="rId6"/>
    <p:sldId id="1162" r:id="rId7"/>
    <p:sldId id="1161" r:id="rId8"/>
    <p:sldId id="1163" r:id="rId9"/>
    <p:sldId id="1164" r:id="rId10"/>
    <p:sldId id="1167" r:id="rId11"/>
    <p:sldId id="1178" r:id="rId12"/>
    <p:sldId id="1177" r:id="rId13"/>
    <p:sldId id="1166" r:id="rId14"/>
    <p:sldId id="1172" r:id="rId15"/>
    <p:sldId id="1175" r:id="rId16"/>
    <p:sldId id="1173" r:id="rId17"/>
    <p:sldId id="1165" r:id="rId18"/>
    <p:sldId id="1168" r:id="rId19"/>
    <p:sldId id="1169" r:id="rId20"/>
    <p:sldId id="1170" r:id="rId21"/>
    <p:sldId id="1174" r:id="rId22"/>
    <p:sldId id="1176" r:id="rId23"/>
    <p:sldId id="900" r:id="rId24"/>
    <p:sldId id="1180" r:id="rId25"/>
    <p:sldId id="1179" r:id="rId26"/>
    <p:sldId id="323" r:id="rId27"/>
    <p:sldId id="1159" r:id="rId2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454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015"/>
    <p:restoredTop sz="93659"/>
  </p:normalViewPr>
  <p:slideViewPr>
    <p:cSldViewPr>
      <p:cViewPr varScale="1">
        <p:scale>
          <a:sx n="136" d="100"/>
          <a:sy n="136" d="100"/>
        </p:scale>
        <p:origin x="379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57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1C5AC1-FDF4-5B4B-943B-E5E85261CB6D}" type="doc">
      <dgm:prSet loTypeId="urn:microsoft.com/office/officeart/2005/8/layout/radial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3B1843-5E4A-084D-B6CB-9DC05B4F576A}">
      <dgm:prSet phldrT="[Text]" custT="1"/>
      <dgm:spPr>
        <a:solidFill>
          <a:srgbClr val="FFFF00"/>
        </a:solidFill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en-US" sz="2400" b="1" dirty="0">
              <a:solidFill>
                <a:schemeClr val="tx1"/>
              </a:solidFill>
            </a:rPr>
            <a:t>Individual</a:t>
          </a:r>
        </a:p>
      </dgm:t>
    </dgm:pt>
    <dgm:pt modelId="{DCF2FAB2-E6D2-AB49-9F0F-1F8AEC130768}" type="parTrans" cxnId="{188ACDB3-510B-7944-AC69-66B36FC019D3}">
      <dgm:prSet/>
      <dgm:spPr/>
      <dgm:t>
        <a:bodyPr/>
        <a:lstStyle/>
        <a:p>
          <a:endParaRPr lang="en-US"/>
        </a:p>
      </dgm:t>
    </dgm:pt>
    <dgm:pt modelId="{803E9B08-7508-CF4B-9E62-1CACC99A9260}" type="sibTrans" cxnId="{188ACDB3-510B-7944-AC69-66B36FC019D3}">
      <dgm:prSet/>
      <dgm:spPr/>
      <dgm:t>
        <a:bodyPr/>
        <a:lstStyle/>
        <a:p>
          <a:endParaRPr lang="en-US"/>
        </a:p>
      </dgm:t>
    </dgm:pt>
    <dgm:pt modelId="{5309ACA6-8ABC-1443-B8C6-3D005CA6F7A7}">
      <dgm:prSet phldrT="[Text]" custT="1"/>
      <dgm:spPr>
        <a:solidFill>
          <a:schemeClr val="tx2"/>
        </a:solidFill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en-US" sz="2400" b="1" dirty="0"/>
            <a:t>Service Provider</a:t>
          </a:r>
        </a:p>
      </dgm:t>
    </dgm:pt>
    <dgm:pt modelId="{7DE8D1CA-A94D-D544-BB0A-509109019B37}" type="parTrans" cxnId="{839C3AC4-5642-6C45-AB3B-1235B026F1A6}">
      <dgm:prSet/>
      <dgm:spPr/>
      <dgm:t>
        <a:bodyPr/>
        <a:lstStyle/>
        <a:p>
          <a:endParaRPr lang="en-US"/>
        </a:p>
      </dgm:t>
    </dgm:pt>
    <dgm:pt modelId="{15BF35FE-BD31-D341-BFD1-7D5B8C619BEF}" type="sibTrans" cxnId="{839C3AC4-5642-6C45-AB3B-1235B026F1A6}">
      <dgm:prSet/>
      <dgm:spPr/>
      <dgm:t>
        <a:bodyPr/>
        <a:lstStyle/>
        <a:p>
          <a:endParaRPr lang="en-US"/>
        </a:p>
      </dgm:t>
    </dgm:pt>
    <dgm:pt modelId="{2417097B-AE30-284F-95ED-CFAB25656230}">
      <dgm:prSet phldrT="[Text]" custT="1"/>
      <dgm:spPr>
        <a:solidFill>
          <a:srgbClr val="0070C0"/>
        </a:solidFill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en-US" sz="2400" b="1" dirty="0"/>
            <a:t>Community</a:t>
          </a:r>
        </a:p>
      </dgm:t>
    </dgm:pt>
    <dgm:pt modelId="{DB968A5D-7F26-8B48-91FE-55F61F756D19}" type="parTrans" cxnId="{AE3FB59B-9012-634E-958C-2C28BE77F582}">
      <dgm:prSet/>
      <dgm:spPr/>
      <dgm:t>
        <a:bodyPr/>
        <a:lstStyle/>
        <a:p>
          <a:endParaRPr lang="en-US"/>
        </a:p>
      </dgm:t>
    </dgm:pt>
    <dgm:pt modelId="{9C1ABDFD-BE61-364A-AED0-BA79BCCE1B40}" type="sibTrans" cxnId="{AE3FB59B-9012-634E-958C-2C28BE77F582}">
      <dgm:prSet/>
      <dgm:spPr/>
      <dgm:t>
        <a:bodyPr/>
        <a:lstStyle/>
        <a:p>
          <a:endParaRPr lang="en-US"/>
        </a:p>
      </dgm:t>
    </dgm:pt>
    <dgm:pt modelId="{7AC4127C-9B3E-2544-A99E-54F9F4B99016}">
      <dgm:prSet phldrT="[Text]" phldr="1"/>
      <dgm:spPr/>
      <dgm:t>
        <a:bodyPr/>
        <a:lstStyle/>
        <a:p>
          <a:endParaRPr lang="en-US" dirty="0"/>
        </a:p>
      </dgm:t>
    </dgm:pt>
    <dgm:pt modelId="{AD0E83D2-79F0-3743-9AA8-665CFB71A165}" type="sibTrans" cxnId="{9042566C-87BA-9846-A1D1-FE9CDD19E335}">
      <dgm:prSet/>
      <dgm:spPr/>
      <dgm:t>
        <a:bodyPr/>
        <a:lstStyle/>
        <a:p>
          <a:endParaRPr lang="en-US"/>
        </a:p>
      </dgm:t>
    </dgm:pt>
    <dgm:pt modelId="{DD883C5F-62BE-BB49-810E-884245D07EE0}" type="parTrans" cxnId="{9042566C-87BA-9846-A1D1-FE9CDD19E335}">
      <dgm:prSet/>
      <dgm:spPr/>
      <dgm:t>
        <a:bodyPr/>
        <a:lstStyle/>
        <a:p>
          <a:endParaRPr lang="en-US"/>
        </a:p>
      </dgm:t>
    </dgm:pt>
    <dgm:pt modelId="{FF9F1A7E-13D1-0542-949C-623FF78F256C}" type="pres">
      <dgm:prSet presAssocID="{9F1C5AC1-FDF4-5B4B-943B-E5E85261CB6D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5826DE5-A1F4-5640-8753-D4BB5531845B}" type="pres">
      <dgm:prSet presAssocID="{7AC4127C-9B3E-2544-A99E-54F9F4B99016}" presName="centerShape" presStyleLbl="node0" presStyleIdx="0" presStyleCnt="1" custScaleX="47171" custScaleY="27543" custLinFactNeighborX="503" custLinFactNeighborY="-10629"/>
      <dgm:spPr/>
    </dgm:pt>
    <dgm:pt modelId="{455F1742-4CE6-0546-9F89-8FE82C5F1797}" type="pres">
      <dgm:prSet presAssocID="{703B1843-5E4A-084D-B6CB-9DC05B4F576A}" presName="node" presStyleLbl="node1" presStyleIdx="0" presStyleCnt="3" custScaleX="179723" custScaleY="100057">
        <dgm:presLayoutVars>
          <dgm:bulletEnabled val="1"/>
        </dgm:presLayoutVars>
      </dgm:prSet>
      <dgm:spPr/>
    </dgm:pt>
    <dgm:pt modelId="{4BDA046A-B6C9-5B43-AC20-18ED837DAF4D}" type="pres">
      <dgm:prSet presAssocID="{703B1843-5E4A-084D-B6CB-9DC05B4F576A}" presName="dummy" presStyleCnt="0"/>
      <dgm:spPr/>
    </dgm:pt>
    <dgm:pt modelId="{B41F2DDE-AC13-E84B-9127-E299C0576190}" type="pres">
      <dgm:prSet presAssocID="{803E9B08-7508-CF4B-9E62-1CACC99A9260}" presName="sibTrans" presStyleLbl="sibTrans2D1" presStyleIdx="0" presStyleCnt="3"/>
      <dgm:spPr/>
    </dgm:pt>
    <dgm:pt modelId="{E4EE0DD7-CB23-C948-9A99-FDE3BB2D03BC}" type="pres">
      <dgm:prSet presAssocID="{5309ACA6-8ABC-1443-B8C6-3D005CA6F7A7}" presName="node" presStyleLbl="node1" presStyleIdx="1" presStyleCnt="3" custScaleX="179864" custScaleY="116593" custRadScaleRad="110817" custRadScaleInc="-127">
        <dgm:presLayoutVars>
          <dgm:bulletEnabled val="1"/>
        </dgm:presLayoutVars>
      </dgm:prSet>
      <dgm:spPr/>
    </dgm:pt>
    <dgm:pt modelId="{406C2E2B-8040-8644-8F81-67CE686FC84C}" type="pres">
      <dgm:prSet presAssocID="{5309ACA6-8ABC-1443-B8C6-3D005CA6F7A7}" presName="dummy" presStyleCnt="0"/>
      <dgm:spPr/>
    </dgm:pt>
    <dgm:pt modelId="{CFA963BB-B52D-0341-89B5-5BA0F5F5FBC6}" type="pres">
      <dgm:prSet presAssocID="{15BF35FE-BD31-D341-BFD1-7D5B8C619BEF}" presName="sibTrans" presStyleLbl="sibTrans2D1" presStyleIdx="1" presStyleCnt="3"/>
      <dgm:spPr/>
    </dgm:pt>
    <dgm:pt modelId="{460974FB-710C-5148-9874-13C594629965}" type="pres">
      <dgm:prSet presAssocID="{2417097B-AE30-284F-95ED-CFAB25656230}" presName="node" presStyleLbl="node1" presStyleIdx="2" presStyleCnt="3" custScaleX="194872" custScaleY="116593" custRadScaleRad="106727" custRadScaleInc="2233">
        <dgm:presLayoutVars>
          <dgm:bulletEnabled val="1"/>
        </dgm:presLayoutVars>
      </dgm:prSet>
      <dgm:spPr/>
    </dgm:pt>
    <dgm:pt modelId="{CAE8B6F5-91BB-7C41-8E09-E5EDD3C6F90E}" type="pres">
      <dgm:prSet presAssocID="{2417097B-AE30-284F-95ED-CFAB25656230}" presName="dummy" presStyleCnt="0"/>
      <dgm:spPr/>
    </dgm:pt>
    <dgm:pt modelId="{40FAE24F-16FB-4D4E-A39E-A54608E676D0}" type="pres">
      <dgm:prSet presAssocID="{9C1ABDFD-BE61-364A-AED0-BA79BCCE1B40}" presName="sibTrans" presStyleLbl="sibTrans2D1" presStyleIdx="2" presStyleCnt="3"/>
      <dgm:spPr/>
    </dgm:pt>
  </dgm:ptLst>
  <dgm:cxnLst>
    <dgm:cxn modelId="{78D06206-0639-C242-8E3D-85C7C197FC26}" type="presOf" srcId="{15BF35FE-BD31-D341-BFD1-7D5B8C619BEF}" destId="{CFA963BB-B52D-0341-89B5-5BA0F5F5FBC6}" srcOrd="0" destOrd="0" presId="urn:microsoft.com/office/officeart/2005/8/layout/radial6"/>
    <dgm:cxn modelId="{602E4210-B781-8C48-AC83-29C8E4865E17}" type="presOf" srcId="{803E9B08-7508-CF4B-9E62-1CACC99A9260}" destId="{B41F2DDE-AC13-E84B-9127-E299C0576190}" srcOrd="0" destOrd="0" presId="urn:microsoft.com/office/officeart/2005/8/layout/radial6"/>
    <dgm:cxn modelId="{F5AC392F-5696-8346-A5E8-1AF761380BD9}" type="presOf" srcId="{9F1C5AC1-FDF4-5B4B-943B-E5E85261CB6D}" destId="{FF9F1A7E-13D1-0542-949C-623FF78F256C}" srcOrd="0" destOrd="0" presId="urn:microsoft.com/office/officeart/2005/8/layout/radial6"/>
    <dgm:cxn modelId="{56E3A241-7FD3-7043-81C9-B0321FE9D3C2}" type="presOf" srcId="{703B1843-5E4A-084D-B6CB-9DC05B4F576A}" destId="{455F1742-4CE6-0546-9F89-8FE82C5F1797}" srcOrd="0" destOrd="0" presId="urn:microsoft.com/office/officeart/2005/8/layout/radial6"/>
    <dgm:cxn modelId="{0AE3F45F-EB60-B547-8483-BE82E6AB7E66}" type="presOf" srcId="{9C1ABDFD-BE61-364A-AED0-BA79BCCE1B40}" destId="{40FAE24F-16FB-4D4E-A39E-A54608E676D0}" srcOrd="0" destOrd="0" presId="urn:microsoft.com/office/officeart/2005/8/layout/radial6"/>
    <dgm:cxn modelId="{9042566C-87BA-9846-A1D1-FE9CDD19E335}" srcId="{9F1C5AC1-FDF4-5B4B-943B-E5E85261CB6D}" destId="{7AC4127C-9B3E-2544-A99E-54F9F4B99016}" srcOrd="0" destOrd="0" parTransId="{DD883C5F-62BE-BB49-810E-884245D07EE0}" sibTransId="{AD0E83D2-79F0-3743-9AA8-665CFB71A165}"/>
    <dgm:cxn modelId="{21777195-6C6D-AB4A-A97A-A591EA2E1D37}" type="presOf" srcId="{2417097B-AE30-284F-95ED-CFAB25656230}" destId="{460974FB-710C-5148-9874-13C594629965}" srcOrd="0" destOrd="0" presId="urn:microsoft.com/office/officeart/2005/8/layout/radial6"/>
    <dgm:cxn modelId="{AE3FB59B-9012-634E-958C-2C28BE77F582}" srcId="{7AC4127C-9B3E-2544-A99E-54F9F4B99016}" destId="{2417097B-AE30-284F-95ED-CFAB25656230}" srcOrd="2" destOrd="0" parTransId="{DB968A5D-7F26-8B48-91FE-55F61F756D19}" sibTransId="{9C1ABDFD-BE61-364A-AED0-BA79BCCE1B40}"/>
    <dgm:cxn modelId="{188ACDB3-510B-7944-AC69-66B36FC019D3}" srcId="{7AC4127C-9B3E-2544-A99E-54F9F4B99016}" destId="{703B1843-5E4A-084D-B6CB-9DC05B4F576A}" srcOrd="0" destOrd="0" parTransId="{DCF2FAB2-E6D2-AB49-9F0F-1F8AEC130768}" sibTransId="{803E9B08-7508-CF4B-9E62-1CACC99A9260}"/>
    <dgm:cxn modelId="{6628F0B6-4A2A-E840-AD94-981CFBD8FBA8}" type="presOf" srcId="{7AC4127C-9B3E-2544-A99E-54F9F4B99016}" destId="{15826DE5-A1F4-5640-8753-D4BB5531845B}" srcOrd="0" destOrd="0" presId="urn:microsoft.com/office/officeart/2005/8/layout/radial6"/>
    <dgm:cxn modelId="{95C3C1BF-BA38-0D4B-9FA9-6013C7DBEBA9}" type="presOf" srcId="{5309ACA6-8ABC-1443-B8C6-3D005CA6F7A7}" destId="{E4EE0DD7-CB23-C948-9A99-FDE3BB2D03BC}" srcOrd="0" destOrd="0" presId="urn:microsoft.com/office/officeart/2005/8/layout/radial6"/>
    <dgm:cxn modelId="{839C3AC4-5642-6C45-AB3B-1235B026F1A6}" srcId="{7AC4127C-9B3E-2544-A99E-54F9F4B99016}" destId="{5309ACA6-8ABC-1443-B8C6-3D005CA6F7A7}" srcOrd="1" destOrd="0" parTransId="{7DE8D1CA-A94D-D544-BB0A-509109019B37}" sibTransId="{15BF35FE-BD31-D341-BFD1-7D5B8C619BEF}"/>
    <dgm:cxn modelId="{EDCC4289-5878-8742-9ED9-ED174CE470E0}" type="presParOf" srcId="{FF9F1A7E-13D1-0542-949C-623FF78F256C}" destId="{15826DE5-A1F4-5640-8753-D4BB5531845B}" srcOrd="0" destOrd="0" presId="urn:microsoft.com/office/officeart/2005/8/layout/radial6"/>
    <dgm:cxn modelId="{DAC95DC5-4475-0046-A374-95226840E2F5}" type="presParOf" srcId="{FF9F1A7E-13D1-0542-949C-623FF78F256C}" destId="{455F1742-4CE6-0546-9F89-8FE82C5F1797}" srcOrd="1" destOrd="0" presId="urn:microsoft.com/office/officeart/2005/8/layout/radial6"/>
    <dgm:cxn modelId="{68E17B81-4321-D849-9160-C4AE246BC55E}" type="presParOf" srcId="{FF9F1A7E-13D1-0542-949C-623FF78F256C}" destId="{4BDA046A-B6C9-5B43-AC20-18ED837DAF4D}" srcOrd="2" destOrd="0" presId="urn:microsoft.com/office/officeart/2005/8/layout/radial6"/>
    <dgm:cxn modelId="{19386F9D-3773-8741-8C89-9E924738A85E}" type="presParOf" srcId="{FF9F1A7E-13D1-0542-949C-623FF78F256C}" destId="{B41F2DDE-AC13-E84B-9127-E299C0576190}" srcOrd="3" destOrd="0" presId="urn:microsoft.com/office/officeart/2005/8/layout/radial6"/>
    <dgm:cxn modelId="{90249C12-4B51-3048-AE2B-D2BC4D916B51}" type="presParOf" srcId="{FF9F1A7E-13D1-0542-949C-623FF78F256C}" destId="{E4EE0DD7-CB23-C948-9A99-FDE3BB2D03BC}" srcOrd="4" destOrd="0" presId="urn:microsoft.com/office/officeart/2005/8/layout/radial6"/>
    <dgm:cxn modelId="{3EDCD463-2C5E-A94B-BD18-94DC63151501}" type="presParOf" srcId="{FF9F1A7E-13D1-0542-949C-623FF78F256C}" destId="{406C2E2B-8040-8644-8F81-67CE686FC84C}" srcOrd="5" destOrd="0" presId="urn:microsoft.com/office/officeart/2005/8/layout/radial6"/>
    <dgm:cxn modelId="{BEBC4929-68B9-B648-BCC3-5797A5674269}" type="presParOf" srcId="{FF9F1A7E-13D1-0542-949C-623FF78F256C}" destId="{CFA963BB-B52D-0341-89B5-5BA0F5F5FBC6}" srcOrd="6" destOrd="0" presId="urn:microsoft.com/office/officeart/2005/8/layout/radial6"/>
    <dgm:cxn modelId="{A4AE70A8-EB86-C546-8BC4-457CC4C7201B}" type="presParOf" srcId="{FF9F1A7E-13D1-0542-949C-623FF78F256C}" destId="{460974FB-710C-5148-9874-13C594629965}" srcOrd="7" destOrd="0" presId="urn:microsoft.com/office/officeart/2005/8/layout/radial6"/>
    <dgm:cxn modelId="{FFC7271E-A88F-214E-B6EA-1FE77E3C51F2}" type="presParOf" srcId="{FF9F1A7E-13D1-0542-949C-623FF78F256C}" destId="{CAE8B6F5-91BB-7C41-8E09-E5EDD3C6F90E}" srcOrd="8" destOrd="0" presId="urn:microsoft.com/office/officeart/2005/8/layout/radial6"/>
    <dgm:cxn modelId="{12E7BC80-F07F-2F45-A6E5-6F4F4715BE81}" type="presParOf" srcId="{FF9F1A7E-13D1-0542-949C-623FF78F256C}" destId="{40FAE24F-16FB-4D4E-A39E-A54608E676D0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046AB2-88A0-B747-AD5A-E2BBCB244E73}" type="doc">
      <dgm:prSet loTypeId="urn:microsoft.com/office/officeart/2005/8/layout/cycle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B7B3C1-7F07-0446-86F4-8D3E3DFD7817}">
      <dgm:prSet phldrT="[Text]"/>
      <dgm:spPr>
        <a:solidFill>
          <a:srgbClr val="0070C0"/>
        </a:solidFill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en-US" b="1" dirty="0"/>
            <a:t>Home &amp; remote</a:t>
          </a:r>
        </a:p>
      </dgm:t>
    </dgm:pt>
    <dgm:pt modelId="{157C6664-76D8-7441-B16B-CAEF404D752D}" type="parTrans" cxnId="{1C49165B-1FDB-7741-B04A-C0997D45E71E}">
      <dgm:prSet/>
      <dgm:spPr/>
      <dgm:t>
        <a:bodyPr/>
        <a:lstStyle/>
        <a:p>
          <a:endParaRPr lang="en-US"/>
        </a:p>
      </dgm:t>
    </dgm:pt>
    <dgm:pt modelId="{3A7E739A-7D99-124E-A6B8-39CD39F44F2B}" type="sibTrans" cxnId="{1C49165B-1FDB-7741-B04A-C0997D45E71E}">
      <dgm:prSet/>
      <dgm:spPr/>
      <dgm:t>
        <a:bodyPr/>
        <a:lstStyle/>
        <a:p>
          <a:endParaRPr lang="en-US"/>
        </a:p>
      </dgm:t>
    </dgm:pt>
    <dgm:pt modelId="{BBE652FF-6F96-2E4E-A06A-29AC84DABF00}">
      <dgm:prSet phldrT="[Text]"/>
      <dgm:spPr>
        <a:solidFill>
          <a:srgbClr val="FFC000"/>
        </a:solidFill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en-US" b="1" dirty="0">
              <a:solidFill>
                <a:schemeClr val="tx1"/>
              </a:solidFill>
            </a:rPr>
            <a:t>Online</a:t>
          </a:r>
        </a:p>
      </dgm:t>
    </dgm:pt>
    <dgm:pt modelId="{EC32409F-290A-7C4F-81C8-B33EA9407B1A}" type="parTrans" cxnId="{68FD77BD-7BCB-F340-BC16-3B1FC3F14CF9}">
      <dgm:prSet/>
      <dgm:spPr/>
      <dgm:t>
        <a:bodyPr/>
        <a:lstStyle/>
        <a:p>
          <a:endParaRPr lang="en-US"/>
        </a:p>
      </dgm:t>
    </dgm:pt>
    <dgm:pt modelId="{B1CD6FD3-5BBB-B643-BFFB-BDBC3241AE2D}" type="sibTrans" cxnId="{68FD77BD-7BCB-F340-BC16-3B1FC3F14CF9}">
      <dgm:prSet/>
      <dgm:spPr/>
      <dgm:t>
        <a:bodyPr/>
        <a:lstStyle/>
        <a:p>
          <a:endParaRPr lang="en-US"/>
        </a:p>
      </dgm:t>
    </dgm:pt>
    <dgm:pt modelId="{DB94C935-69AB-774C-9D33-ECE364B98801}">
      <dgm:prSet phldrT="[Text]"/>
      <dgm:spPr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en-US" b="1" dirty="0"/>
            <a:t>Agency building</a:t>
          </a:r>
        </a:p>
      </dgm:t>
    </dgm:pt>
    <dgm:pt modelId="{B07B64D5-B677-A040-B4BE-93D7A45F09F0}" type="parTrans" cxnId="{BC2E93E5-F255-CD48-8478-90EFDB367A48}">
      <dgm:prSet/>
      <dgm:spPr/>
      <dgm:t>
        <a:bodyPr/>
        <a:lstStyle/>
        <a:p>
          <a:endParaRPr lang="en-US"/>
        </a:p>
      </dgm:t>
    </dgm:pt>
    <dgm:pt modelId="{412C3871-9327-DC41-8892-CC0381093018}" type="sibTrans" cxnId="{BC2E93E5-F255-CD48-8478-90EFDB367A48}">
      <dgm:prSet/>
      <dgm:spPr/>
      <dgm:t>
        <a:bodyPr/>
        <a:lstStyle/>
        <a:p>
          <a:endParaRPr lang="en-US"/>
        </a:p>
      </dgm:t>
    </dgm:pt>
    <dgm:pt modelId="{0B3CEC89-37FB-C54E-B477-5CDBF42AD4BF}">
      <dgm:prSet phldrT="[Text]"/>
      <dgm:spPr>
        <a:solidFill>
          <a:schemeClr val="tx2">
            <a:lumMod val="60000"/>
            <a:lumOff val="40000"/>
          </a:schemeClr>
        </a:solidFill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en-US" b="1" dirty="0">
              <a:solidFill>
                <a:schemeClr val="tx1"/>
              </a:solidFill>
            </a:rPr>
            <a:t>Community</a:t>
          </a:r>
        </a:p>
      </dgm:t>
    </dgm:pt>
    <dgm:pt modelId="{1012474E-FC84-EE45-A587-16E96D9DCD85}" type="parTrans" cxnId="{11B23A6E-F594-FC40-841C-2CA1CAC83339}">
      <dgm:prSet/>
      <dgm:spPr/>
      <dgm:t>
        <a:bodyPr/>
        <a:lstStyle/>
        <a:p>
          <a:endParaRPr lang="en-US"/>
        </a:p>
      </dgm:t>
    </dgm:pt>
    <dgm:pt modelId="{F20A7224-231F-D342-A590-9600EAADEE58}" type="sibTrans" cxnId="{11B23A6E-F594-FC40-841C-2CA1CAC83339}">
      <dgm:prSet/>
      <dgm:spPr/>
      <dgm:t>
        <a:bodyPr/>
        <a:lstStyle/>
        <a:p>
          <a:endParaRPr lang="en-US"/>
        </a:p>
      </dgm:t>
    </dgm:pt>
    <dgm:pt modelId="{A2DD35AC-8972-264B-BA6D-D1862F33358C}" type="pres">
      <dgm:prSet presAssocID="{AE046AB2-88A0-B747-AD5A-E2BBCB244E73}" presName="cycle" presStyleCnt="0">
        <dgm:presLayoutVars>
          <dgm:dir/>
          <dgm:resizeHandles val="exact"/>
        </dgm:presLayoutVars>
      </dgm:prSet>
      <dgm:spPr/>
    </dgm:pt>
    <dgm:pt modelId="{FC8E2698-72B0-0948-BED6-093FA86F6FD3}" type="pres">
      <dgm:prSet presAssocID="{1DB7B3C1-7F07-0446-86F4-8D3E3DFD7817}" presName="node" presStyleLbl="node1" presStyleIdx="0" presStyleCnt="4">
        <dgm:presLayoutVars>
          <dgm:bulletEnabled val="1"/>
        </dgm:presLayoutVars>
      </dgm:prSet>
      <dgm:spPr/>
    </dgm:pt>
    <dgm:pt modelId="{4ED89E18-4398-2A47-9DE3-4432BCA0E918}" type="pres">
      <dgm:prSet presAssocID="{1DB7B3C1-7F07-0446-86F4-8D3E3DFD7817}" presName="spNode" presStyleCnt="0"/>
      <dgm:spPr/>
    </dgm:pt>
    <dgm:pt modelId="{250DDE8A-9F6C-9C47-BC92-7A34B147BAD1}" type="pres">
      <dgm:prSet presAssocID="{3A7E739A-7D99-124E-A6B8-39CD39F44F2B}" presName="sibTrans" presStyleLbl="sibTrans1D1" presStyleIdx="0" presStyleCnt="4"/>
      <dgm:spPr/>
    </dgm:pt>
    <dgm:pt modelId="{39E4FDFA-FE37-3047-99AA-9F065B7C7707}" type="pres">
      <dgm:prSet presAssocID="{BBE652FF-6F96-2E4E-A06A-29AC84DABF00}" presName="node" presStyleLbl="node1" presStyleIdx="1" presStyleCnt="4">
        <dgm:presLayoutVars>
          <dgm:bulletEnabled val="1"/>
        </dgm:presLayoutVars>
      </dgm:prSet>
      <dgm:spPr/>
    </dgm:pt>
    <dgm:pt modelId="{9F0CB65A-DE7E-F14B-BA23-8793227653B2}" type="pres">
      <dgm:prSet presAssocID="{BBE652FF-6F96-2E4E-A06A-29AC84DABF00}" presName="spNode" presStyleCnt="0"/>
      <dgm:spPr/>
    </dgm:pt>
    <dgm:pt modelId="{EF8617CE-AE45-6F49-8D69-2DBD36AABDD5}" type="pres">
      <dgm:prSet presAssocID="{B1CD6FD3-5BBB-B643-BFFB-BDBC3241AE2D}" presName="sibTrans" presStyleLbl="sibTrans1D1" presStyleIdx="1" presStyleCnt="4"/>
      <dgm:spPr/>
    </dgm:pt>
    <dgm:pt modelId="{5DE5B506-B8BC-4F4B-B5FF-284EC50B83DE}" type="pres">
      <dgm:prSet presAssocID="{DB94C935-69AB-774C-9D33-ECE364B98801}" presName="node" presStyleLbl="node1" presStyleIdx="2" presStyleCnt="4">
        <dgm:presLayoutVars>
          <dgm:bulletEnabled val="1"/>
        </dgm:presLayoutVars>
      </dgm:prSet>
      <dgm:spPr/>
    </dgm:pt>
    <dgm:pt modelId="{F7F46460-30FB-F44B-BD01-8F35B52ABE6E}" type="pres">
      <dgm:prSet presAssocID="{DB94C935-69AB-774C-9D33-ECE364B98801}" presName="spNode" presStyleCnt="0"/>
      <dgm:spPr/>
    </dgm:pt>
    <dgm:pt modelId="{BA107067-F2E2-3E4C-9A36-9326E0C6890D}" type="pres">
      <dgm:prSet presAssocID="{412C3871-9327-DC41-8892-CC0381093018}" presName="sibTrans" presStyleLbl="sibTrans1D1" presStyleIdx="2" presStyleCnt="4"/>
      <dgm:spPr/>
    </dgm:pt>
    <dgm:pt modelId="{76402A5A-77C4-1541-BBA6-8007B1C59138}" type="pres">
      <dgm:prSet presAssocID="{0B3CEC89-37FB-C54E-B477-5CDBF42AD4BF}" presName="node" presStyleLbl="node1" presStyleIdx="3" presStyleCnt="4">
        <dgm:presLayoutVars>
          <dgm:bulletEnabled val="1"/>
        </dgm:presLayoutVars>
      </dgm:prSet>
      <dgm:spPr/>
    </dgm:pt>
    <dgm:pt modelId="{AD66BF77-1D10-8C46-948F-D77AA4136E11}" type="pres">
      <dgm:prSet presAssocID="{0B3CEC89-37FB-C54E-B477-5CDBF42AD4BF}" presName="spNode" presStyleCnt="0"/>
      <dgm:spPr/>
    </dgm:pt>
    <dgm:pt modelId="{B595783A-050A-594A-AE42-F5EB00BB8AD8}" type="pres">
      <dgm:prSet presAssocID="{F20A7224-231F-D342-A590-9600EAADEE58}" presName="sibTrans" presStyleLbl="sibTrans1D1" presStyleIdx="3" presStyleCnt="4"/>
      <dgm:spPr/>
    </dgm:pt>
  </dgm:ptLst>
  <dgm:cxnLst>
    <dgm:cxn modelId="{AF3D3A00-0798-7F49-8299-477B99F339A2}" type="presOf" srcId="{1DB7B3C1-7F07-0446-86F4-8D3E3DFD7817}" destId="{FC8E2698-72B0-0948-BED6-093FA86F6FD3}" srcOrd="0" destOrd="0" presId="urn:microsoft.com/office/officeart/2005/8/layout/cycle6"/>
    <dgm:cxn modelId="{1943C350-CAEB-B644-AE08-151B019A71F4}" type="presOf" srcId="{0B3CEC89-37FB-C54E-B477-5CDBF42AD4BF}" destId="{76402A5A-77C4-1541-BBA6-8007B1C59138}" srcOrd="0" destOrd="0" presId="urn:microsoft.com/office/officeart/2005/8/layout/cycle6"/>
    <dgm:cxn modelId="{1C49165B-1FDB-7741-B04A-C0997D45E71E}" srcId="{AE046AB2-88A0-B747-AD5A-E2BBCB244E73}" destId="{1DB7B3C1-7F07-0446-86F4-8D3E3DFD7817}" srcOrd="0" destOrd="0" parTransId="{157C6664-76D8-7441-B16B-CAEF404D752D}" sibTransId="{3A7E739A-7D99-124E-A6B8-39CD39F44F2B}"/>
    <dgm:cxn modelId="{642A1E5E-4175-1F45-A438-C2285C7D1F2E}" type="presOf" srcId="{3A7E739A-7D99-124E-A6B8-39CD39F44F2B}" destId="{250DDE8A-9F6C-9C47-BC92-7A34B147BAD1}" srcOrd="0" destOrd="0" presId="urn:microsoft.com/office/officeart/2005/8/layout/cycle6"/>
    <dgm:cxn modelId="{BBBCBD69-C43B-984E-99F8-62B6D315C0DE}" type="presOf" srcId="{DB94C935-69AB-774C-9D33-ECE364B98801}" destId="{5DE5B506-B8BC-4F4B-B5FF-284EC50B83DE}" srcOrd="0" destOrd="0" presId="urn:microsoft.com/office/officeart/2005/8/layout/cycle6"/>
    <dgm:cxn modelId="{11B23A6E-F594-FC40-841C-2CA1CAC83339}" srcId="{AE046AB2-88A0-B747-AD5A-E2BBCB244E73}" destId="{0B3CEC89-37FB-C54E-B477-5CDBF42AD4BF}" srcOrd="3" destOrd="0" parTransId="{1012474E-FC84-EE45-A587-16E96D9DCD85}" sibTransId="{F20A7224-231F-D342-A590-9600EAADEE58}"/>
    <dgm:cxn modelId="{43D9BC85-D1C3-574B-8EF6-CE84B323A26F}" type="presOf" srcId="{AE046AB2-88A0-B747-AD5A-E2BBCB244E73}" destId="{A2DD35AC-8972-264B-BA6D-D1862F33358C}" srcOrd="0" destOrd="0" presId="urn:microsoft.com/office/officeart/2005/8/layout/cycle6"/>
    <dgm:cxn modelId="{5AD783A2-B5C8-6B4F-8B77-41188E68B81B}" type="presOf" srcId="{B1CD6FD3-5BBB-B643-BFFB-BDBC3241AE2D}" destId="{EF8617CE-AE45-6F49-8D69-2DBD36AABDD5}" srcOrd="0" destOrd="0" presId="urn:microsoft.com/office/officeart/2005/8/layout/cycle6"/>
    <dgm:cxn modelId="{D65D11B6-C695-B34A-900C-B7DCB9BDB8F8}" type="presOf" srcId="{F20A7224-231F-D342-A590-9600EAADEE58}" destId="{B595783A-050A-594A-AE42-F5EB00BB8AD8}" srcOrd="0" destOrd="0" presId="urn:microsoft.com/office/officeart/2005/8/layout/cycle6"/>
    <dgm:cxn modelId="{68FD77BD-7BCB-F340-BC16-3B1FC3F14CF9}" srcId="{AE046AB2-88A0-B747-AD5A-E2BBCB244E73}" destId="{BBE652FF-6F96-2E4E-A06A-29AC84DABF00}" srcOrd="1" destOrd="0" parTransId="{EC32409F-290A-7C4F-81C8-B33EA9407B1A}" sibTransId="{B1CD6FD3-5BBB-B643-BFFB-BDBC3241AE2D}"/>
    <dgm:cxn modelId="{3F515AE5-96D1-4A45-8923-3352BE61673E}" type="presOf" srcId="{BBE652FF-6F96-2E4E-A06A-29AC84DABF00}" destId="{39E4FDFA-FE37-3047-99AA-9F065B7C7707}" srcOrd="0" destOrd="0" presId="urn:microsoft.com/office/officeart/2005/8/layout/cycle6"/>
    <dgm:cxn modelId="{BC2E93E5-F255-CD48-8478-90EFDB367A48}" srcId="{AE046AB2-88A0-B747-AD5A-E2BBCB244E73}" destId="{DB94C935-69AB-774C-9D33-ECE364B98801}" srcOrd="2" destOrd="0" parTransId="{B07B64D5-B677-A040-B4BE-93D7A45F09F0}" sibTransId="{412C3871-9327-DC41-8892-CC0381093018}"/>
    <dgm:cxn modelId="{326C6DF7-B53C-7045-9AFD-38D72E1B7E40}" type="presOf" srcId="{412C3871-9327-DC41-8892-CC0381093018}" destId="{BA107067-F2E2-3E4C-9A36-9326E0C6890D}" srcOrd="0" destOrd="0" presId="urn:microsoft.com/office/officeart/2005/8/layout/cycle6"/>
    <dgm:cxn modelId="{20C8F387-C0A7-A94E-B3D3-BFFE2AF501BB}" type="presParOf" srcId="{A2DD35AC-8972-264B-BA6D-D1862F33358C}" destId="{FC8E2698-72B0-0948-BED6-093FA86F6FD3}" srcOrd="0" destOrd="0" presId="urn:microsoft.com/office/officeart/2005/8/layout/cycle6"/>
    <dgm:cxn modelId="{941D0BE7-2877-0441-8A71-D9B45E4C8E7A}" type="presParOf" srcId="{A2DD35AC-8972-264B-BA6D-D1862F33358C}" destId="{4ED89E18-4398-2A47-9DE3-4432BCA0E918}" srcOrd="1" destOrd="0" presId="urn:microsoft.com/office/officeart/2005/8/layout/cycle6"/>
    <dgm:cxn modelId="{EB69A602-8865-794E-8AEB-0350483AB41B}" type="presParOf" srcId="{A2DD35AC-8972-264B-BA6D-D1862F33358C}" destId="{250DDE8A-9F6C-9C47-BC92-7A34B147BAD1}" srcOrd="2" destOrd="0" presId="urn:microsoft.com/office/officeart/2005/8/layout/cycle6"/>
    <dgm:cxn modelId="{83B8B937-3CD0-084C-8E1B-BEACB9F9AD1E}" type="presParOf" srcId="{A2DD35AC-8972-264B-BA6D-D1862F33358C}" destId="{39E4FDFA-FE37-3047-99AA-9F065B7C7707}" srcOrd="3" destOrd="0" presId="urn:microsoft.com/office/officeart/2005/8/layout/cycle6"/>
    <dgm:cxn modelId="{FC42A8B2-5111-1946-B89C-0FE5F2E4D2BF}" type="presParOf" srcId="{A2DD35AC-8972-264B-BA6D-D1862F33358C}" destId="{9F0CB65A-DE7E-F14B-BA23-8793227653B2}" srcOrd="4" destOrd="0" presId="urn:microsoft.com/office/officeart/2005/8/layout/cycle6"/>
    <dgm:cxn modelId="{D332B3E4-B5FC-F24B-8807-33953E360C6D}" type="presParOf" srcId="{A2DD35AC-8972-264B-BA6D-D1862F33358C}" destId="{EF8617CE-AE45-6F49-8D69-2DBD36AABDD5}" srcOrd="5" destOrd="0" presId="urn:microsoft.com/office/officeart/2005/8/layout/cycle6"/>
    <dgm:cxn modelId="{901A1525-8F86-1F48-AF52-5786EBECF755}" type="presParOf" srcId="{A2DD35AC-8972-264B-BA6D-D1862F33358C}" destId="{5DE5B506-B8BC-4F4B-B5FF-284EC50B83DE}" srcOrd="6" destOrd="0" presId="urn:microsoft.com/office/officeart/2005/8/layout/cycle6"/>
    <dgm:cxn modelId="{A7C334C0-FD56-6947-847F-3FDCFCCFA249}" type="presParOf" srcId="{A2DD35AC-8972-264B-BA6D-D1862F33358C}" destId="{F7F46460-30FB-F44B-BD01-8F35B52ABE6E}" srcOrd="7" destOrd="0" presId="urn:microsoft.com/office/officeart/2005/8/layout/cycle6"/>
    <dgm:cxn modelId="{20E7B8B8-0CDA-1941-83E8-5E1AD616EBD7}" type="presParOf" srcId="{A2DD35AC-8972-264B-BA6D-D1862F33358C}" destId="{BA107067-F2E2-3E4C-9A36-9326E0C6890D}" srcOrd="8" destOrd="0" presId="urn:microsoft.com/office/officeart/2005/8/layout/cycle6"/>
    <dgm:cxn modelId="{98089E0E-51D3-994C-AAE8-B1646D9E1A31}" type="presParOf" srcId="{A2DD35AC-8972-264B-BA6D-D1862F33358C}" destId="{76402A5A-77C4-1541-BBA6-8007B1C59138}" srcOrd="9" destOrd="0" presId="urn:microsoft.com/office/officeart/2005/8/layout/cycle6"/>
    <dgm:cxn modelId="{25E4D724-F895-444D-ADA1-1074F7A174F3}" type="presParOf" srcId="{A2DD35AC-8972-264B-BA6D-D1862F33358C}" destId="{AD66BF77-1D10-8C46-948F-D77AA4136E11}" srcOrd="10" destOrd="0" presId="urn:microsoft.com/office/officeart/2005/8/layout/cycle6"/>
    <dgm:cxn modelId="{BD0EC230-ECA3-994E-BA0E-04E52707006F}" type="presParOf" srcId="{A2DD35AC-8972-264B-BA6D-D1862F33358C}" destId="{B595783A-050A-594A-AE42-F5EB00BB8AD8}" srcOrd="11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FAE24F-16FB-4D4E-A39E-A54608E676D0}">
      <dsp:nvSpPr>
        <dsp:cNvPr id="0" name=""/>
        <dsp:cNvSpPr/>
      </dsp:nvSpPr>
      <dsp:spPr>
        <a:xfrm>
          <a:off x="2045220" y="678793"/>
          <a:ext cx="4578904" cy="4578904"/>
        </a:xfrm>
        <a:prstGeom prst="blockArc">
          <a:avLst>
            <a:gd name="adj1" fmla="val 8910609"/>
            <a:gd name="adj2" fmla="val 16474474"/>
            <a:gd name="adj3" fmla="val 4638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A963BB-B52D-0341-89B5-5BA0F5F5FBC6}">
      <dsp:nvSpPr>
        <dsp:cNvPr id="0" name=""/>
        <dsp:cNvSpPr/>
      </dsp:nvSpPr>
      <dsp:spPr>
        <a:xfrm>
          <a:off x="2267554" y="1163451"/>
          <a:ext cx="4578904" cy="4578904"/>
        </a:xfrm>
        <a:prstGeom prst="blockArc">
          <a:avLst>
            <a:gd name="adj1" fmla="val 1191523"/>
            <a:gd name="adj2" fmla="val 9732236"/>
            <a:gd name="adj3" fmla="val 4638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1F2DDE-AC13-E84B-9127-E299C0576190}">
      <dsp:nvSpPr>
        <dsp:cNvPr id="0" name=""/>
        <dsp:cNvSpPr/>
      </dsp:nvSpPr>
      <dsp:spPr>
        <a:xfrm>
          <a:off x="2521357" y="666004"/>
          <a:ext cx="4578904" cy="4578904"/>
        </a:xfrm>
        <a:prstGeom prst="blockArc">
          <a:avLst>
            <a:gd name="adj1" fmla="val 15740898"/>
            <a:gd name="adj2" fmla="val 2052227"/>
            <a:gd name="adj3" fmla="val 4638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826DE5-A1F4-5640-8753-D4BB5531845B}">
      <dsp:nvSpPr>
        <dsp:cNvPr id="0" name=""/>
        <dsp:cNvSpPr/>
      </dsp:nvSpPr>
      <dsp:spPr>
        <a:xfrm>
          <a:off x="4038597" y="2209805"/>
          <a:ext cx="993873" cy="58031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/>
        </a:p>
      </dsp:txBody>
      <dsp:txXfrm>
        <a:off x="4184146" y="2294791"/>
        <a:ext cx="702775" cy="410347"/>
      </dsp:txXfrm>
    </dsp:sp>
    <dsp:sp modelId="{455F1742-4CE6-0546-9F89-8FE82C5F1797}">
      <dsp:nvSpPr>
        <dsp:cNvPr id="0" name=""/>
        <dsp:cNvSpPr/>
      </dsp:nvSpPr>
      <dsp:spPr>
        <a:xfrm>
          <a:off x="3187695" y="1157"/>
          <a:ext cx="2650683" cy="1475712"/>
        </a:xfrm>
        <a:prstGeom prst="ellipse">
          <a:avLst/>
        </a:prstGeom>
        <a:solidFill>
          <a:srgbClr val="FFFF00"/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</a:rPr>
            <a:t>Individual</a:t>
          </a:r>
        </a:p>
      </dsp:txBody>
      <dsp:txXfrm>
        <a:off x="3575879" y="217270"/>
        <a:ext cx="1874315" cy="1043486"/>
      </dsp:txXfrm>
    </dsp:sp>
    <dsp:sp modelId="{E4EE0DD7-CB23-C948-9A99-FDE3BB2D03BC}">
      <dsp:nvSpPr>
        <dsp:cNvPr id="0" name=""/>
        <dsp:cNvSpPr/>
      </dsp:nvSpPr>
      <dsp:spPr>
        <a:xfrm>
          <a:off x="5333992" y="3352800"/>
          <a:ext cx="2652763" cy="1719597"/>
        </a:xfrm>
        <a:prstGeom prst="ellipse">
          <a:avLst/>
        </a:prstGeom>
        <a:solidFill>
          <a:schemeClr val="tx2"/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Service Provider</a:t>
          </a:r>
        </a:p>
      </dsp:txBody>
      <dsp:txXfrm>
        <a:off x="5722480" y="3604629"/>
        <a:ext cx="1875787" cy="1215939"/>
      </dsp:txXfrm>
    </dsp:sp>
    <dsp:sp modelId="{460974FB-710C-5148-9874-13C594629965}">
      <dsp:nvSpPr>
        <dsp:cNvPr id="0" name=""/>
        <dsp:cNvSpPr/>
      </dsp:nvSpPr>
      <dsp:spPr>
        <a:xfrm>
          <a:off x="990602" y="3276603"/>
          <a:ext cx="2874112" cy="1719597"/>
        </a:xfrm>
        <a:prstGeom prst="ellipse">
          <a:avLst/>
        </a:prstGeom>
        <a:solidFill>
          <a:srgbClr val="0070C0"/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Community</a:t>
          </a:r>
        </a:p>
      </dsp:txBody>
      <dsp:txXfrm>
        <a:off x="1411506" y="3528432"/>
        <a:ext cx="2032304" cy="12159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8E2698-72B0-0948-BED6-093FA86F6FD3}">
      <dsp:nvSpPr>
        <dsp:cNvPr id="0" name=""/>
        <dsp:cNvSpPr/>
      </dsp:nvSpPr>
      <dsp:spPr>
        <a:xfrm>
          <a:off x="2396302" y="3"/>
          <a:ext cx="1507302" cy="979746"/>
        </a:xfrm>
        <a:prstGeom prst="roundRect">
          <a:avLst/>
        </a:prstGeom>
        <a:solidFill>
          <a:srgbClr val="0070C0"/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Home &amp; remote</a:t>
          </a:r>
        </a:p>
      </dsp:txBody>
      <dsp:txXfrm>
        <a:off x="2444129" y="47830"/>
        <a:ext cx="1411648" cy="884092"/>
      </dsp:txXfrm>
    </dsp:sp>
    <dsp:sp modelId="{250DDE8A-9F6C-9C47-BC92-7A34B147BAD1}">
      <dsp:nvSpPr>
        <dsp:cNvPr id="0" name=""/>
        <dsp:cNvSpPr/>
      </dsp:nvSpPr>
      <dsp:spPr>
        <a:xfrm>
          <a:off x="1531630" y="489876"/>
          <a:ext cx="3236647" cy="3236647"/>
        </a:xfrm>
        <a:custGeom>
          <a:avLst/>
          <a:gdLst/>
          <a:ahLst/>
          <a:cxnLst/>
          <a:rect l="0" t="0" r="0" b="0"/>
          <a:pathLst>
            <a:path>
              <a:moveTo>
                <a:pt x="2382827" y="191962"/>
              </a:moveTo>
              <a:arcTo wR="1618323" hR="1618323" stAng="17891430" swAng="2625261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E4FDFA-FE37-3047-99AA-9F065B7C7707}">
      <dsp:nvSpPr>
        <dsp:cNvPr id="0" name=""/>
        <dsp:cNvSpPr/>
      </dsp:nvSpPr>
      <dsp:spPr>
        <a:xfrm>
          <a:off x="4014626" y="1618326"/>
          <a:ext cx="1507302" cy="979746"/>
        </a:xfrm>
        <a:prstGeom prst="roundRect">
          <a:avLst/>
        </a:prstGeom>
        <a:solidFill>
          <a:srgbClr val="FFC000"/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Online</a:t>
          </a:r>
        </a:p>
      </dsp:txBody>
      <dsp:txXfrm>
        <a:off x="4062453" y="1666153"/>
        <a:ext cx="1411648" cy="884092"/>
      </dsp:txXfrm>
    </dsp:sp>
    <dsp:sp modelId="{EF8617CE-AE45-6F49-8D69-2DBD36AABDD5}">
      <dsp:nvSpPr>
        <dsp:cNvPr id="0" name=""/>
        <dsp:cNvSpPr/>
      </dsp:nvSpPr>
      <dsp:spPr>
        <a:xfrm>
          <a:off x="1531630" y="489876"/>
          <a:ext cx="3236647" cy="3236647"/>
        </a:xfrm>
        <a:custGeom>
          <a:avLst/>
          <a:gdLst/>
          <a:ahLst/>
          <a:cxnLst/>
          <a:rect l="0" t="0" r="0" b="0"/>
          <a:pathLst>
            <a:path>
              <a:moveTo>
                <a:pt x="3156958" y="2119894"/>
              </a:moveTo>
              <a:arcTo wR="1618323" hR="1618323" stAng="1083309" swAng="2625261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E5B506-B8BC-4F4B-B5FF-284EC50B83DE}">
      <dsp:nvSpPr>
        <dsp:cNvPr id="0" name=""/>
        <dsp:cNvSpPr/>
      </dsp:nvSpPr>
      <dsp:spPr>
        <a:xfrm>
          <a:off x="2396302" y="3236650"/>
          <a:ext cx="1507302" cy="9797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Agency building</a:t>
          </a:r>
        </a:p>
      </dsp:txBody>
      <dsp:txXfrm>
        <a:off x="2444129" y="3284477"/>
        <a:ext cx="1411648" cy="884092"/>
      </dsp:txXfrm>
    </dsp:sp>
    <dsp:sp modelId="{BA107067-F2E2-3E4C-9A36-9326E0C6890D}">
      <dsp:nvSpPr>
        <dsp:cNvPr id="0" name=""/>
        <dsp:cNvSpPr/>
      </dsp:nvSpPr>
      <dsp:spPr>
        <a:xfrm>
          <a:off x="1531630" y="489876"/>
          <a:ext cx="3236647" cy="3236647"/>
        </a:xfrm>
        <a:custGeom>
          <a:avLst/>
          <a:gdLst/>
          <a:ahLst/>
          <a:cxnLst/>
          <a:rect l="0" t="0" r="0" b="0"/>
          <a:pathLst>
            <a:path>
              <a:moveTo>
                <a:pt x="853820" y="3044684"/>
              </a:moveTo>
              <a:arcTo wR="1618323" hR="1618323" stAng="7091430" swAng="2625261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402A5A-77C4-1541-BBA6-8007B1C59138}">
      <dsp:nvSpPr>
        <dsp:cNvPr id="0" name=""/>
        <dsp:cNvSpPr/>
      </dsp:nvSpPr>
      <dsp:spPr>
        <a:xfrm>
          <a:off x="777979" y="1618326"/>
          <a:ext cx="1507302" cy="979746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Community</a:t>
          </a:r>
        </a:p>
      </dsp:txBody>
      <dsp:txXfrm>
        <a:off x="825806" y="1666153"/>
        <a:ext cx="1411648" cy="884092"/>
      </dsp:txXfrm>
    </dsp:sp>
    <dsp:sp modelId="{B595783A-050A-594A-AE42-F5EB00BB8AD8}">
      <dsp:nvSpPr>
        <dsp:cNvPr id="0" name=""/>
        <dsp:cNvSpPr/>
      </dsp:nvSpPr>
      <dsp:spPr>
        <a:xfrm>
          <a:off x="1531630" y="489876"/>
          <a:ext cx="3236647" cy="3236647"/>
        </a:xfrm>
        <a:custGeom>
          <a:avLst/>
          <a:gdLst/>
          <a:ahLst/>
          <a:cxnLst/>
          <a:rect l="0" t="0" r="0" b="0"/>
          <a:pathLst>
            <a:path>
              <a:moveTo>
                <a:pt x="79688" y="1116752"/>
              </a:moveTo>
              <a:arcTo wR="1618323" hR="1618323" stAng="11883309" swAng="2625261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8D4C6040-3216-AB4A-B101-59D428F3A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28600"/>
            <a:ext cx="5105400" cy="403225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/>
              <a:t>Disability Rights and Law</a:t>
            </a:r>
            <a:r>
              <a:rPr lang="en-US" sz="1000"/>
              <a:t> - David Hoff, Institute for Community Inclusion</a:t>
            </a:r>
            <a:br>
              <a:rPr lang="en-US" sz="1000"/>
            </a:br>
            <a:r>
              <a:rPr lang="en-US" sz="1000"/>
              <a:t>www.communityinclusion.org; 617-287-4308; david.hoff@umb.edu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7D60287-83B3-4549-BE7C-EF7AEEAC336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0BFD21E-EC7C-C345-9FDB-509701D0B05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-107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-107" charset="0"/>
        <a:ea typeface="ＭＳ Ｐゴシック" pitchFamily="-107" charset="-128"/>
        <a:cs typeface="ＭＳ Ｐゴシック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-107" charset="0"/>
        <a:ea typeface="ＭＳ Ｐゴシック" pitchFamily="-107" charset="-128"/>
        <a:cs typeface="ＭＳ Ｐゴシック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-107" charset="0"/>
        <a:ea typeface="ＭＳ Ｐゴシック" pitchFamily="-107" charset="-128"/>
        <a:cs typeface="ＭＳ Ｐゴシック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-107" charset="0"/>
        <a:ea typeface="ＭＳ Ｐゴシック" pitchFamily="-107" charset="-128"/>
        <a:cs typeface="ＭＳ Ｐゴシック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855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774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754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32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CDD5A-FEC8-E74B-8A94-9F0DB1AE95A3}"/>
              </a:ext>
            </a:extLst>
          </p:cNvPr>
          <p:cNvCxnSpPr/>
          <p:nvPr/>
        </p:nvCxnSpPr>
        <p:spPr>
          <a:xfrm>
            <a:off x="685800" y="3398839"/>
            <a:ext cx="78486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1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168660E-8ECE-7144-86DF-87B48A0B8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D8DD584-F5C3-CE41-9506-9FD041074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4B42F7-CD5A-8C47-BD96-0545CF829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F5E16D9-FAD3-8343-A574-279BC8894A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509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CBE16-87FB-024F-8667-128DD81B0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9776A-9A07-4243-88CB-BFF348A2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29894-D723-9B4B-9E60-BE354F05F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FFECAE-5558-FC4F-A5D5-814DD61349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4751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CACA102-DDA1-DC44-A6FC-7A58C154E3F8}"/>
              </a:ext>
            </a:extLst>
          </p:cNvPr>
          <p:cNvCxnSpPr/>
          <p:nvPr/>
        </p:nvCxnSpPr>
        <p:spPr>
          <a:xfrm>
            <a:off x="731838" y="4598989"/>
            <a:ext cx="78486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1"/>
            <a:ext cx="7772400" cy="2200275"/>
          </a:xfrm>
        </p:spPr>
        <p:txBody>
          <a:bodyPr anchor="b"/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5"/>
            <a:ext cx="77724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8BD3862-5F17-CF44-8DB4-162A339F9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B6C0AE4-23CD-D648-B943-B406F109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08E2B5-8975-774E-9099-896EDBE4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851FCD7-60BF-0443-9D82-274D5A41A9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46643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CDF3B8C-B363-B74C-83EE-8A31D6CCB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19E2DE4-AC38-B645-8E19-91AFFA178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6131C8C-84EA-1248-82D0-0B3F51EB4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4FB8D5-209A-354C-A23E-7F23A4B35F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748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5B07ED-3669-4B42-81D8-66BBEF2F7F18}"/>
              </a:ext>
            </a:extLst>
          </p:cNvPr>
          <p:cNvCxnSpPr/>
          <p:nvPr/>
        </p:nvCxnSpPr>
        <p:spPr>
          <a:xfrm rot="5400000">
            <a:off x="2218532" y="4045745"/>
            <a:ext cx="4708525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3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3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99919383-94F9-4647-8290-08165BC82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37189A5C-A5B9-8A4B-8617-C5D6E37E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3D8AA3B-37B7-5444-869E-D674D263F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6CE7853-A0A6-444C-840C-D63A1B5101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5674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BD6B3B7-2557-2A4F-B7FC-0E7459536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C6BEE12-FEEF-0D43-900C-D971C6170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58CFEF7-C9E1-284D-B996-4F8A06FA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079FF-467D-6D41-A1F4-C32363388C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162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9494C39-4D5D-E149-84F3-07A849102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8EDD62F-3058-6740-89FE-D6A8ADE43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686ED7D-0E8A-604C-9FD7-1EB6A03F8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330214-C1B0-274F-B99E-7FB2C72794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395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B7D8BF-4077-8544-897A-A202D01978F9}"/>
              </a:ext>
            </a:extLst>
          </p:cNvPr>
          <p:cNvCxnSpPr/>
          <p:nvPr/>
        </p:nvCxnSpPr>
        <p:spPr>
          <a:xfrm rot="5400000">
            <a:off x="-13494" y="3580607"/>
            <a:ext cx="5578475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4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6A2EF62-737B-3E4C-908A-80A99C943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A7436DC-F284-5949-B7BA-4AA37FD4A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E930B4BC-7EED-8342-A1BD-4A17C5F1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7CFDA24-9594-0E41-8AF7-A187F9F527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0070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50BB1C6-097F-3C42-A33F-1F1B6C36E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4FBA4F0-4D0A-A64B-84AE-1C0E9C7AB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3898FA1-B2FD-DE47-BEB8-CE463510C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FCAA1-8A8A-6A49-B2E5-05A39EBF64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4469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4687A-9899-7845-8A17-8B85C5EAE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35466-830B-4242-B0FD-C47878003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4C0B0-9465-0B4F-A47F-5BAA7BEE0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6F8F63-C206-6F46-8B8A-B5AD3BBB21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3802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6C9E6-01D3-814C-A399-2C11C31B8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DE167-D490-5646-BA44-469DBA765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8A4AC-74A9-3945-A7C0-679F87F0B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04F972-602B-F04A-BF83-2471432BF8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6825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6BF95BF-52DD-7040-BBE0-65305A53ED8F}"/>
              </a:ext>
            </a:extLst>
          </p:cNvPr>
          <p:cNvSpPr/>
          <p:nvPr/>
        </p:nvSpPr>
        <p:spPr>
          <a:xfrm>
            <a:off x="0" y="220663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4CC057-C9FB-8249-BE44-B93F2594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9E46DAB4-0618-EC44-969F-CBC328E9929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54919F-5409-6E45-B80E-25314159942D}"/>
              </a:ext>
            </a:extLst>
          </p:cNvPr>
          <p:cNvSpPr/>
          <p:nvPr/>
        </p:nvSpPr>
        <p:spPr>
          <a:xfrm>
            <a:off x="0" y="0"/>
            <a:ext cx="9144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1D3B3-9536-7B41-8EAB-F406F1CD90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19051"/>
            <a:ext cx="289560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  <a:latin typeface="Book Antiqu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E581D-B9A6-D64C-ABC9-74DDA3CD25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0" y="19051"/>
            <a:ext cx="411480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FFFFF"/>
                </a:solidFill>
                <a:latin typeface="Book Antiqu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D885B-B15E-0B46-9712-27FA12704D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0" y="19051"/>
            <a:ext cx="1066800" cy="3286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400" b="1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5740777-AA5D-AC4C-B229-82B7C56FA2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58" r:id="rId2"/>
    <p:sldLayoutId id="2147483866" r:id="rId3"/>
    <p:sldLayoutId id="2147483859" r:id="rId4"/>
    <p:sldLayoutId id="2147483867" r:id="rId5"/>
    <p:sldLayoutId id="2147483860" r:id="rId6"/>
    <p:sldLayoutId id="2147483861" r:id="rId7"/>
    <p:sldLayoutId id="2147483868" r:id="rId8"/>
    <p:sldLayoutId id="2147483862" r:id="rId9"/>
    <p:sldLayoutId id="2147483863" r:id="rId10"/>
    <p:sldLayoutId id="2147483864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 spc="-1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189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6pPr>
      <a:lvl7pPr marL="914377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7pPr>
      <a:lvl8pPr marL="1371566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8pPr>
      <a:lvl9pPr marL="1828754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182558" indent="-1825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457189" indent="-1825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730232" indent="-1825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004863" indent="-1825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187421" indent="-13652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1371566" indent="-182875" algn="l" defTabSz="914377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41" indent="-182875" algn="l" defTabSz="914377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17" indent="-182875" algn="l" defTabSz="914377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192" indent="-182875" algn="l" defTabSz="914377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david.hoff@um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CEE3BF6E-8403-994A-A732-A43CB0A3C60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3733800"/>
            <a:ext cx="7772400" cy="3048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sz="2800" cap="none" dirty="0">
                <a:ea typeface="+mj-ea"/>
                <a:cs typeface="+mj-cs"/>
              </a:rPr>
            </a:br>
            <a:r>
              <a:rPr lang="en-US" sz="2800" b="1" cap="none" dirty="0">
                <a:solidFill>
                  <a:schemeClr val="tx1"/>
                </a:solidFill>
                <a:ea typeface="+mj-ea"/>
                <a:cs typeface="+mj-cs"/>
              </a:rPr>
              <a:t>David Hoff</a:t>
            </a:r>
            <a:br>
              <a:rPr lang="en-US" sz="2800" b="1" cap="none" dirty="0">
                <a:solidFill>
                  <a:schemeClr val="tx1"/>
                </a:solidFill>
                <a:ea typeface="+mj-ea"/>
                <a:cs typeface="+mj-cs"/>
              </a:rPr>
            </a:br>
            <a:r>
              <a:rPr lang="en-US" sz="2400" cap="none" dirty="0">
                <a:solidFill>
                  <a:schemeClr val="tx1"/>
                </a:solidFill>
                <a:ea typeface="+mj-ea"/>
                <a:cs typeface="+mj-cs"/>
                <a:hlinkClick r:id="rId3"/>
              </a:rPr>
              <a:t>david.hoff@umb.edu</a:t>
            </a:r>
            <a: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  <a:t> – 617-480-9230</a:t>
            </a:r>
            <a:br>
              <a:rPr lang="en-US" sz="2800" b="1" cap="none" dirty="0">
                <a:solidFill>
                  <a:schemeClr val="tx1"/>
                </a:solidFill>
                <a:ea typeface="+mj-ea"/>
                <a:cs typeface="+mj-cs"/>
              </a:rPr>
            </a:br>
            <a:b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</a:br>
            <a: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  <a:t>Institute for Community Inclusion</a:t>
            </a:r>
            <a:b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</a:br>
            <a: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  <a:t>University of Massachusetts, Boston</a:t>
            </a:r>
            <a:b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</a:br>
            <a:r>
              <a:rPr lang="en-US" sz="2000" b="1" cap="none" dirty="0" err="1">
                <a:solidFill>
                  <a:schemeClr val="tx1"/>
                </a:solidFill>
                <a:ea typeface="+mj-ea"/>
                <a:cs typeface="+mj-cs"/>
              </a:rPr>
              <a:t>www.communityinclusion.org</a:t>
            </a:r>
            <a:b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</a:br>
            <a:b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</a:br>
            <a:br>
              <a:rPr lang="en-US" sz="1200" cap="none" dirty="0">
                <a:solidFill>
                  <a:schemeClr val="tx1"/>
                </a:solidFill>
                <a:ea typeface="+mj-ea"/>
                <a:cs typeface="+mj-cs"/>
              </a:rPr>
            </a:br>
            <a: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  <a:t>	</a:t>
            </a:r>
            <a:endParaRPr lang="en-US" cap="none" dirty="0">
              <a:ea typeface="+mj-ea"/>
              <a:cs typeface="+mj-cs"/>
            </a:endParaRPr>
          </a:p>
        </p:txBody>
      </p:sp>
      <p:sp>
        <p:nvSpPr>
          <p:cNvPr id="15363" name="Slide Number Placeholder 1">
            <a:extLst>
              <a:ext uri="{FF2B5EF4-FFF2-40B4-BE49-F238E27FC236}">
                <a16:creationId xmlns:a16="http://schemas.microsoft.com/office/drawing/2014/main" id="{29AF6206-E8DA-FA4D-BAFF-B82E1BBE5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1pPr>
            <a:lvl2pPr marL="742932" indent="-285744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2pPr>
            <a:lvl3pPr marL="1142971" indent="-228594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3pPr>
            <a:lvl4pPr marL="1600160" indent="-228594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349" indent="-228594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fld id="{D13CD3AA-43CE-6C47-8EC8-265ED149D4D2}" type="slidenum">
              <a:rPr lang="en-US" altLang="en-US" sz="1400">
                <a:solidFill>
                  <a:srgbClr val="FFFFFF"/>
                </a:solidFill>
              </a:rPr>
              <a:pPr/>
              <a:t>1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pic>
        <p:nvPicPr>
          <p:cNvPr id="15364" name="Picture 2" descr="Logo of Institute for Community Inclusiong - Employment, Education, Community Life, Health Care&#10;Text: Institute for Community Inclusion, Promoting the Inclusion of People with Disabilities&#10;University of Massachusetts Boston - Boston Children's Hospital">
            <a:extLst>
              <a:ext uri="{FF2B5EF4-FFF2-40B4-BE49-F238E27FC236}">
                <a16:creationId xmlns:a16="http://schemas.microsoft.com/office/drawing/2014/main" id="{128EB381-3A76-7345-A88A-AD849C71D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5638800"/>
            <a:ext cx="3727451" cy="933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CA4083-8BC0-9945-AB3D-9B9B9A717091}"/>
              </a:ext>
            </a:extLst>
          </p:cNvPr>
          <p:cNvSpPr txBox="1"/>
          <p:nvPr/>
        </p:nvSpPr>
        <p:spPr>
          <a:xfrm>
            <a:off x="304800" y="1143000"/>
            <a:ext cx="8534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Providing CBDS Services in the Current Environment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B593CB41-D8BB-8249-B962-4A32F30C03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3893" y="3735120"/>
            <a:ext cx="1270000" cy="12700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AE026-9424-024E-A01C-2F931ACF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526152"/>
            <a:ext cx="2514600" cy="838200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Panelists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C7C5D-73FD-3C47-B35F-871044DB8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699" y="2400300"/>
            <a:ext cx="3962400" cy="2057400"/>
          </a:xfrm>
        </p:spPr>
        <p:txBody>
          <a:bodyPr/>
          <a:lstStyle/>
          <a:p>
            <a:r>
              <a:rPr lang="en-US" dirty="0"/>
              <a:t>James </a:t>
            </a:r>
            <a:r>
              <a:rPr lang="en-US" dirty="0" err="1"/>
              <a:t>Sanon</a:t>
            </a:r>
            <a:endParaRPr lang="en-US" dirty="0"/>
          </a:p>
          <a:p>
            <a:r>
              <a:rPr lang="en-US" dirty="0"/>
              <a:t>Elder Soares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21A40-52BC-BC4C-956D-039F0BCAF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pic>
        <p:nvPicPr>
          <p:cNvPr id="5" name="Picture 4" descr="Image result for nupath">
            <a:extLst>
              <a:ext uri="{FF2B5EF4-FFF2-40B4-BE49-F238E27FC236}">
                <a16:creationId xmlns:a16="http://schemas.microsoft.com/office/drawing/2014/main" id="{AF8F3607-5DB5-6640-9477-160B1EE79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9699" y="3468329"/>
            <a:ext cx="2475824" cy="1226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03E4FAFD-2D7C-6B49-84B6-C4722D22D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054" y="4457700"/>
            <a:ext cx="2133600" cy="1524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CBD5DBE-6413-8F4F-8F5E-D9C491EF8A07}"/>
              </a:ext>
            </a:extLst>
          </p:cNvPr>
          <p:cNvSpPr txBox="1">
            <a:spLocks/>
          </p:cNvSpPr>
          <p:nvPr/>
        </p:nvSpPr>
        <p:spPr bwMode="auto">
          <a:xfrm>
            <a:off x="5869608" y="3447119"/>
            <a:ext cx="3048001" cy="1185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58" indent="-18255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457189" indent="-18255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730232" indent="-18255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04863" indent="-18255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187421" indent="-13652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371566" indent="-182875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41" indent="-182875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17" indent="-182875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192" indent="-182875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LaWan</a:t>
            </a:r>
            <a:r>
              <a:rPr lang="en-US" dirty="0"/>
              <a:t> Swain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70414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D70F1-5EF0-F349-97D8-6B7B093D5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47700"/>
            <a:ext cx="2438400" cy="990600"/>
          </a:xfrm>
          <a:effectLst>
            <a:glow rad="139700">
              <a:schemeClr val="accent6">
                <a:satMod val="175000"/>
                <a:alpha val="40000"/>
              </a:schemeClr>
            </a:glow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 prst="angle"/>
            <a:contourClr>
              <a:schemeClr val="accent6">
                <a:shade val="30000"/>
                <a:satMod val="130000"/>
              </a:schemeClr>
            </a:contourClr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cap="small" dirty="0"/>
              <a:t>Handouts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C2DFD-72A2-4E4E-B1D0-9AEF6B199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86000"/>
            <a:ext cx="4495800" cy="4876800"/>
          </a:xfrm>
        </p:spPr>
        <p:txBody>
          <a:bodyPr/>
          <a:lstStyle/>
          <a:p>
            <a:pPr marL="457200" indent="-457200">
              <a:spcBef>
                <a:spcPts val="1776"/>
              </a:spcBef>
              <a:buFont typeface="+mj-lt"/>
              <a:buAutoNum type="arabicPeriod"/>
            </a:pPr>
            <a:r>
              <a:rPr lang="en-US" dirty="0"/>
              <a:t>CBDS During the Pandemic</a:t>
            </a:r>
          </a:p>
          <a:p>
            <a:pPr marL="457200" indent="-457200">
              <a:spcBef>
                <a:spcPts val="2976"/>
              </a:spcBef>
              <a:buFont typeface="+mj-lt"/>
              <a:buAutoNum type="arabicPeriod"/>
            </a:pPr>
            <a:r>
              <a:rPr lang="en-US" dirty="0"/>
              <a:t>Virtual Community Life Engagement</a:t>
            </a:r>
          </a:p>
          <a:p>
            <a:pPr marL="457200" indent="-457200">
              <a:spcBef>
                <a:spcPts val="2976"/>
              </a:spcBef>
              <a:buFont typeface="+mj-lt"/>
              <a:buAutoNum type="arabicPeriod"/>
            </a:pPr>
            <a:r>
              <a:rPr lang="en-US" dirty="0"/>
              <a:t>Participation of People with Disabilities in Online Groups and Activities</a:t>
            </a:r>
          </a:p>
          <a:p>
            <a:pPr marL="457200" indent="-457200">
              <a:spcBef>
                <a:spcPts val="2976"/>
              </a:spcBef>
              <a:buFont typeface="+mj-lt"/>
              <a:buAutoNum type="arabicPeriod"/>
            </a:pPr>
            <a:r>
              <a:rPr lang="en-US" dirty="0"/>
              <a:t>Resource List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460B5-D79A-0641-92BC-19F3ABB74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BDFCB0-CCB8-D84B-8790-98AF713D4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686" y="1161133"/>
            <a:ext cx="4121728" cy="5334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FC3628-9652-5848-94AD-C0E7417D5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686" y="1114647"/>
            <a:ext cx="4121728" cy="5334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32B8E3-7143-E844-88EB-C813E992BF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620" y="1161132"/>
            <a:ext cx="4246704" cy="54957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333A1E-E826-4C43-90ED-DAFB812C93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202" y="902900"/>
            <a:ext cx="4448972" cy="57574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2032010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558B0-185F-A440-B8A6-7590D2F18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68580" tIns="34291" rIns="68580" bIns="34291" rtlCol="0" anchor="t">
            <a:normAutofit/>
          </a:bodyPr>
          <a:lstStyle/>
          <a:p>
            <a:r>
              <a:rPr lang="en-US" sz="3200" b="1" i="1" dirty="0"/>
              <a:t>ICI COVID-19 Resource Page</a:t>
            </a:r>
            <a:br>
              <a:rPr lang="en-US" sz="3200" b="1" i="1" dirty="0"/>
            </a:br>
            <a:r>
              <a:rPr lang="en-US" sz="2400" dirty="0"/>
              <a:t>https://covid19.communityinclusion.org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63317-A0EB-2A46-8D06-809A2DC9D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057400"/>
            <a:ext cx="4038600" cy="4876800"/>
          </a:xfrm>
        </p:spPr>
        <p:txBody>
          <a:bodyPr/>
          <a:lstStyle/>
          <a:p>
            <a:r>
              <a:rPr lang="en-US" sz="2600" b="1" dirty="0"/>
              <a:t>25 publications</a:t>
            </a:r>
            <a:br>
              <a:rPr lang="en-US" sz="2600" b="1" dirty="0"/>
            </a:br>
            <a:endParaRPr lang="en-US" sz="2600" b="1" dirty="0"/>
          </a:p>
          <a:p>
            <a:r>
              <a:rPr lang="en-US" sz="2600" b="1" dirty="0"/>
              <a:t>Resource listings</a:t>
            </a:r>
          </a:p>
        </p:txBody>
      </p:sp>
      <p:pic>
        <p:nvPicPr>
          <p:cNvPr id="5" name="Picture 4" descr="Picture of Insttitute for Community Inclusion website page on COVID-19">
            <a:extLst>
              <a:ext uri="{FF2B5EF4-FFF2-40B4-BE49-F238E27FC236}">
                <a16:creationId xmlns:a16="http://schemas.microsoft.com/office/drawing/2014/main" id="{6059895D-849D-5E4E-9E3F-7F5B3CE314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079" t="2300" r="30512" b="6466"/>
          <a:stretch/>
        </p:blipFill>
        <p:spPr>
          <a:xfrm>
            <a:off x="4191000" y="1981200"/>
            <a:ext cx="4587095" cy="3962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781110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C0948-045A-0A42-A599-CA9C1C380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457200"/>
            <a:ext cx="3810000" cy="990600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cap="small" dirty="0"/>
              <a:t>Time for a Poll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4D14D-E9B1-9241-B552-8742BB7EC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0" y="2286000"/>
            <a:ext cx="3581400" cy="847394"/>
          </a:xfrm>
        </p:spPr>
        <p:txBody>
          <a:bodyPr/>
          <a:lstStyle/>
          <a:p>
            <a:r>
              <a:rPr lang="en-US" sz="4400" b="1" i="1" dirty="0"/>
              <a:t>Your role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4D01B-4C44-1E46-BDD3-1D54A3B7F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pic>
        <p:nvPicPr>
          <p:cNvPr id="6" name="Picture 5" descr="A picture containing object, holding, computer, dark&#10;&#10;Description automatically generated">
            <a:extLst>
              <a:ext uri="{FF2B5EF4-FFF2-40B4-BE49-F238E27FC236}">
                <a16:creationId xmlns:a16="http://schemas.microsoft.com/office/drawing/2014/main" id="{67E9C3DE-5748-D94A-8C1F-14BBC0095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405" y="1752600"/>
            <a:ext cx="5001437" cy="50014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83299224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03FA5-D762-DB46-9E07-FBE961D84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7400"/>
            <a:ext cx="8229600" cy="2819400"/>
          </a:xfrm>
          <a:ln w="88900" cmpd="tri">
            <a:solidFill>
              <a:schemeClr val="tx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</p:spPr>
        <p:txBody>
          <a:bodyPr>
            <a:normAutofit/>
          </a:bodyPr>
          <a:lstStyle/>
          <a:p>
            <a:pPr algn="ctr"/>
            <a:r>
              <a:rPr lang="en-US" b="1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The Basics of</a:t>
            </a:r>
            <a:br>
              <a:rPr lang="en-US" b="1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r>
              <a:rPr lang="en-US" b="1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Community-Based</a:t>
            </a:r>
            <a:br>
              <a:rPr lang="en-US" b="1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r>
              <a:rPr lang="en-US" b="1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Day Supports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D21A9-FFCB-8044-9E27-01220E8A4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64611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7C472-7BE2-8B40-97CC-F70C190EE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303" y="838200"/>
            <a:ext cx="5069958" cy="5638800"/>
          </a:xfrm>
        </p:spPr>
        <p:txBody>
          <a:bodyPr/>
          <a:lstStyle/>
          <a:p>
            <a:pPr marL="457200" indent="-457200">
              <a:spcBef>
                <a:spcPts val="1776"/>
              </a:spcBef>
              <a:buFont typeface="+mj-lt"/>
              <a:buAutoNum type="arabicPeriod"/>
            </a:pPr>
            <a:r>
              <a:rPr lang="en-US" dirty="0"/>
              <a:t>For those currently working, providing wrap-around supports during non-work hours that enhance benefits of work or allow person to pursue a particular interest. </a:t>
            </a:r>
          </a:p>
          <a:p>
            <a:pPr marL="457200" indent="-457200">
              <a:spcBef>
                <a:spcPts val="1776"/>
              </a:spcBef>
              <a:buFont typeface="+mj-lt"/>
              <a:buAutoNum type="arabicPeriod"/>
            </a:pPr>
            <a:r>
              <a:rPr lang="en-US" dirty="0"/>
              <a:t>For those not working, supporting activities that promote a path to employment. </a:t>
            </a:r>
          </a:p>
          <a:p>
            <a:pPr marL="457200" indent="-457200">
              <a:spcBef>
                <a:spcPts val="1776"/>
              </a:spcBef>
              <a:buFont typeface="+mj-lt"/>
              <a:buAutoNum type="arabicPeriod"/>
            </a:pPr>
            <a:r>
              <a:rPr lang="en-US" dirty="0"/>
              <a:t>For those who are underemployed, supporting activities that promote a path to increased hours and wages. 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067AE-718F-1A4B-9B72-DB4D341A4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C28E1632-3228-D04F-90D5-BDB56A2CD369}"/>
              </a:ext>
            </a:extLst>
          </p:cNvPr>
          <p:cNvSpPr/>
          <p:nvPr/>
        </p:nvSpPr>
        <p:spPr>
          <a:xfrm>
            <a:off x="381000" y="820479"/>
            <a:ext cx="3048000" cy="1619693"/>
          </a:xfrm>
          <a:prstGeom prst="homePlate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cap="small" dirty="0"/>
              <a:t>Who CBDS</a:t>
            </a:r>
            <a:br>
              <a:rPr lang="en-US" sz="3200" cap="small" dirty="0"/>
            </a:br>
            <a:r>
              <a:rPr lang="en-US" sz="3200" cap="small" dirty="0"/>
              <a:t>Is For</a:t>
            </a:r>
          </a:p>
        </p:txBody>
      </p:sp>
      <p:pic>
        <p:nvPicPr>
          <p:cNvPr id="6" name="Picture 5" descr="A picture containing person, holding, dark, ball&#10;&#10;Description automatically generated">
            <a:extLst>
              <a:ext uri="{FF2B5EF4-FFF2-40B4-BE49-F238E27FC236}">
                <a16:creationId xmlns:a16="http://schemas.microsoft.com/office/drawing/2014/main" id="{BF39E17A-CB0B-784E-BD67-0DC4DAC41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25" y="2819400"/>
            <a:ext cx="262255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06101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5EFE3-BA9E-FE4F-8CD2-D951CBD61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62000"/>
            <a:ext cx="2743200" cy="1828800"/>
          </a:xfrm>
          <a:effectLst>
            <a:glow rad="1397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cap="small"/>
              <a:t>Core Values of CBDS</a:t>
            </a:r>
            <a:endParaRPr lang="en-US" cap="smal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2E7F4-9CAE-7247-9697-A0769089E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4702" y="781493"/>
            <a:ext cx="5715000" cy="3657600"/>
          </a:xfrm>
        </p:spPr>
        <p:txBody>
          <a:bodyPr/>
          <a:lstStyle/>
          <a:p>
            <a:pPr>
              <a:spcBef>
                <a:spcPts val="1776"/>
              </a:spcBef>
            </a:pPr>
            <a:r>
              <a:rPr lang="en-US" dirty="0"/>
              <a:t>Goal-oriented activities with a deliberate purpose </a:t>
            </a:r>
          </a:p>
          <a:p>
            <a:pPr>
              <a:spcBef>
                <a:spcPts val="1776"/>
              </a:spcBef>
            </a:pPr>
            <a:r>
              <a:rPr lang="en-US" dirty="0"/>
              <a:t>Flexible supports customized to individual needs </a:t>
            </a:r>
          </a:p>
          <a:p>
            <a:pPr>
              <a:spcBef>
                <a:spcPts val="1776"/>
              </a:spcBef>
            </a:pPr>
            <a:r>
              <a:rPr lang="en-US" dirty="0"/>
              <a:t>Engagement in a rich and diverse group of activities </a:t>
            </a:r>
          </a:p>
          <a:p>
            <a:pPr>
              <a:spcBef>
                <a:spcPts val="1776"/>
              </a:spcBef>
            </a:pPr>
            <a:r>
              <a:rPr lang="en-US" dirty="0"/>
              <a:t>Participation in activities with other community members in ways that are fully inclusive </a:t>
            </a:r>
          </a:p>
          <a:p>
            <a:pPr>
              <a:spcBef>
                <a:spcPts val="1776"/>
              </a:spcBef>
            </a:pPr>
            <a:r>
              <a:rPr lang="en-US" dirty="0"/>
              <a:t>Maximum participation in mainstream, non-disability specific activities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3D9A6-9F53-1946-A234-837737508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6" name="Picture 5" descr="A picture containing light&#10;&#10;Description automatically generated">
            <a:extLst>
              <a:ext uri="{FF2B5EF4-FFF2-40B4-BE49-F238E27FC236}">
                <a16:creationId xmlns:a16="http://schemas.microsoft.com/office/drawing/2014/main" id="{E428DF1F-BB26-9E46-999D-B9593EE53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3130993"/>
            <a:ext cx="2616200" cy="261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84435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C0948-045A-0A42-A599-CA9C1C380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457200"/>
            <a:ext cx="3810000" cy="990600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cap="small" dirty="0"/>
              <a:t>Poll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4D14D-E9B1-9241-B552-8742BB7EC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8186" y="1828800"/>
            <a:ext cx="3581400" cy="847394"/>
          </a:xfrm>
        </p:spPr>
        <p:txBody>
          <a:bodyPr/>
          <a:lstStyle/>
          <a:p>
            <a:r>
              <a:rPr lang="en-US" sz="3600" b="1" i="1" dirty="0"/>
              <a:t>Current Status of CBDS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4D01B-4C44-1E46-BDD3-1D54A3B7F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pic>
        <p:nvPicPr>
          <p:cNvPr id="6" name="Picture 5" descr="A picture containing object, holding, computer, dark&#10;&#10;Description automatically generated">
            <a:extLst>
              <a:ext uri="{FF2B5EF4-FFF2-40B4-BE49-F238E27FC236}">
                <a16:creationId xmlns:a16="http://schemas.microsoft.com/office/drawing/2014/main" id="{67E9C3DE-5748-D94A-8C1F-14BBC0095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856563"/>
            <a:ext cx="5001437" cy="50014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5528727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F2FDD2A-E57D-C34B-9A92-E0C14007BC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7738863"/>
              </p:ext>
            </p:extLst>
          </p:nvPr>
        </p:nvGraphicFramePr>
        <p:xfrm>
          <a:off x="64516" y="762000"/>
          <a:ext cx="8915400" cy="556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98EA9-6A95-8545-858E-CF9861AFB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FAB2C7A6-9644-0E45-81CE-30E7E7C023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5200" y="2425700"/>
            <a:ext cx="2034032" cy="22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44336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C0948-045A-0A42-A599-CA9C1C380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457200"/>
            <a:ext cx="3810000" cy="990600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cap="small" dirty="0"/>
              <a:t>Poll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4D14D-E9B1-9241-B552-8742BB7EC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8186" y="1828800"/>
            <a:ext cx="3581400" cy="847394"/>
          </a:xfrm>
        </p:spPr>
        <p:txBody>
          <a:bodyPr/>
          <a:lstStyle/>
          <a:p>
            <a:r>
              <a:rPr lang="en-US" sz="3600" b="1" i="1" dirty="0"/>
              <a:t>Participation levels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4D01B-4C44-1E46-BDD3-1D54A3B7F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6" name="Picture 5" descr="A picture containing object, holding, computer, dark&#10;&#10;Description automatically generated">
            <a:extLst>
              <a:ext uri="{FF2B5EF4-FFF2-40B4-BE49-F238E27FC236}">
                <a16:creationId xmlns:a16="http://schemas.microsoft.com/office/drawing/2014/main" id="{67E9C3DE-5748-D94A-8C1F-14BBC0095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681088"/>
            <a:ext cx="5001437" cy="50014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4934066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C0948-045A-0A42-A599-CA9C1C380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457200"/>
            <a:ext cx="3810000" cy="990600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cap="small" dirty="0"/>
              <a:t>Poll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4D14D-E9B1-9241-B552-8742BB7EC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8186" y="1828800"/>
            <a:ext cx="3581400" cy="847394"/>
          </a:xfrm>
        </p:spPr>
        <p:txBody>
          <a:bodyPr/>
          <a:lstStyle/>
          <a:p>
            <a:r>
              <a:rPr lang="en-US" sz="3200" b="1" i="1" dirty="0"/>
              <a:t>Impact on settings</a:t>
            </a:r>
            <a:br>
              <a:rPr lang="en-US" sz="3200" b="1" i="1" dirty="0"/>
            </a:br>
            <a:r>
              <a:rPr lang="en-US" sz="3200" b="1" i="1" dirty="0"/>
              <a:t>(2 questions)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4D01B-4C44-1E46-BDD3-1D54A3B7F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6" name="Picture 5" descr="A picture containing object, holding, computer, dark&#10;&#10;Description automatically generated">
            <a:extLst>
              <a:ext uri="{FF2B5EF4-FFF2-40B4-BE49-F238E27FC236}">
                <a16:creationId xmlns:a16="http://schemas.microsoft.com/office/drawing/2014/main" id="{67E9C3DE-5748-D94A-8C1F-14BBC0095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1781507"/>
            <a:ext cx="5382437" cy="4800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33013869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BDA96-65BF-BD43-BCFD-225CBB270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2819400" cy="990600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/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93CC2-C3B7-D048-82F5-8FBCE44DED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2139696"/>
            <a:ext cx="4038600" cy="4718304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What types of CBDS activities are individuals participating in?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 what settings?</a:t>
            </a:r>
          </a:p>
        </p:txBody>
      </p:sp>
      <p:pic>
        <p:nvPicPr>
          <p:cNvPr id="6" name="Picture 5" descr="A picture containing indoor, sitting, desk, computer&#10;&#10;Description automatically generated">
            <a:extLst>
              <a:ext uri="{FF2B5EF4-FFF2-40B4-BE49-F238E27FC236}">
                <a16:creationId xmlns:a16="http://schemas.microsoft.com/office/drawing/2014/main" id="{1E341A42-295D-7B4C-A108-85CAC46E6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71020"/>
            <a:ext cx="4345534" cy="2715959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CD123-50CF-2D45-A353-1EC02A0EF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0" y="19051"/>
            <a:ext cx="1066800" cy="328613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6DFFECAE-5558-FC4F-A5D5-814DD6134961}" type="slidenum">
              <a:rPr lang="en-US" altLang="en-US" smtClean="0"/>
              <a:pPr>
                <a:spcAft>
                  <a:spcPts val="600"/>
                </a:spcAft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1831713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6B419-44EC-C741-978A-BF6EB2767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9400" y="3948111"/>
            <a:ext cx="5791200" cy="2909889"/>
          </a:xfrm>
        </p:spPr>
        <p:txBody>
          <a:bodyPr/>
          <a:lstStyle/>
          <a:p>
            <a:r>
              <a:rPr lang="en-US" sz="3200" dirty="0"/>
              <a:t>Continue </a:t>
            </a:r>
            <a:r>
              <a:rPr lang="en-US" sz="3200" b="1" dirty="0"/>
              <a:t>previous activities </a:t>
            </a:r>
            <a:r>
              <a:rPr lang="en-US" sz="3200" dirty="0"/>
              <a:t>in some form?</a:t>
            </a:r>
            <a:br>
              <a:rPr lang="en-US" sz="3200" dirty="0"/>
            </a:br>
            <a:endParaRPr lang="en-US" sz="3200" dirty="0"/>
          </a:p>
          <a:p>
            <a:r>
              <a:rPr lang="en-US" sz="3200" dirty="0"/>
              <a:t>Options for </a:t>
            </a:r>
            <a:r>
              <a:rPr lang="en-US" sz="3200" b="1" dirty="0"/>
              <a:t>new activities</a:t>
            </a:r>
            <a:r>
              <a:rPr lang="en-US" sz="3200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8BD48-6352-5641-8CB3-D181C566F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pic>
        <p:nvPicPr>
          <p:cNvPr id="5" name="Picture 4" descr="Text, logo&#10;&#10;Description automatically generated">
            <a:extLst>
              <a:ext uri="{FF2B5EF4-FFF2-40B4-BE49-F238E27FC236}">
                <a16:creationId xmlns:a16="http://schemas.microsoft.com/office/drawing/2014/main" id="{0F4102B8-1A95-0244-AC07-77AE88B26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54000"/>
            <a:ext cx="55880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955549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6FCCF-F318-FB48-928E-28CAE99AF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7256"/>
            <a:ext cx="4114800" cy="990600"/>
          </a:xfrm>
          <a:scene3d>
            <a:camera prst="isometricOffAxis1Right"/>
            <a:lightRig rig="threePt" dir="t"/>
          </a:scene3d>
        </p:spPr>
        <p:txBody>
          <a:bodyPr>
            <a:normAutofit fontScale="90000"/>
          </a:bodyPr>
          <a:lstStyle/>
          <a:p>
            <a:r>
              <a:rPr lang="en-US" b="1" cap="small" dirty="0">
                <a:latin typeface="Arial" panose="020B0604020202020204" pitchFamily="34" charset="0"/>
                <a:cs typeface="Arial" panose="020B0604020202020204" pitchFamily="34" charset="0"/>
              </a:rPr>
              <a:t>Possible activities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1DC29-DB7F-5D41-96DC-CF3CE412B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72400" y="117368"/>
            <a:ext cx="1066800" cy="328613"/>
          </a:xfrm>
        </p:spPr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b="0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15</a:t>
            </a:fld>
            <a:endParaRPr lang="en-US" altLang="en-US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823FE2C-676C-0142-A2F7-2F0835E6868A}"/>
              </a:ext>
            </a:extLst>
          </p:cNvPr>
          <p:cNvSpPr/>
          <p:nvPr/>
        </p:nvSpPr>
        <p:spPr>
          <a:xfrm>
            <a:off x="373690" y="1491225"/>
            <a:ext cx="1676400" cy="873208"/>
          </a:xfrm>
          <a:prstGeom prst="roundRect">
            <a:avLst/>
          </a:prstGeom>
          <a:solidFill>
            <a:schemeClr val="accent2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 Narrow" panose="020B0604020202020204" pitchFamily="34" charset="0"/>
                <a:cs typeface="Arial Narrow" panose="020B0604020202020204" pitchFamily="34" charset="0"/>
              </a:rPr>
              <a:t>Training on Technology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48F7CBA-50A8-DB40-9CEE-3F4DFA1F5343}"/>
              </a:ext>
            </a:extLst>
          </p:cNvPr>
          <p:cNvSpPr/>
          <p:nvPr/>
        </p:nvSpPr>
        <p:spPr>
          <a:xfrm>
            <a:off x="3681877" y="1763719"/>
            <a:ext cx="1905000" cy="77737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 Narrow" panose="020B0604020202020204" pitchFamily="34" charset="0"/>
                <a:cs typeface="Arial Narrow" panose="020B0604020202020204" pitchFamily="34" charset="0"/>
              </a:rPr>
              <a:t>Travel Instruction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C8B3BF0-8138-A54F-90E7-0B439CABD040}"/>
              </a:ext>
            </a:extLst>
          </p:cNvPr>
          <p:cNvSpPr/>
          <p:nvPr/>
        </p:nvSpPr>
        <p:spPr>
          <a:xfrm>
            <a:off x="526279" y="3731011"/>
            <a:ext cx="1981200" cy="873208"/>
          </a:xfrm>
          <a:prstGeom prst="roundRect">
            <a:avLst/>
          </a:prstGeom>
          <a:solidFill>
            <a:srgbClr val="00B05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 Narrow" panose="020B0604020202020204" pitchFamily="34" charset="0"/>
                <a:cs typeface="Arial Narrow" panose="020B0604020202020204" pitchFamily="34" charset="0"/>
              </a:rPr>
              <a:t>Money Management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58001CE-F47F-4643-AF0D-35A54B32F745}"/>
              </a:ext>
            </a:extLst>
          </p:cNvPr>
          <p:cNvSpPr/>
          <p:nvPr/>
        </p:nvSpPr>
        <p:spPr>
          <a:xfrm>
            <a:off x="6777366" y="2408548"/>
            <a:ext cx="1676400" cy="873208"/>
          </a:xfrm>
          <a:prstGeom prst="round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 Narrow" panose="020B0604020202020204" pitchFamily="34" charset="0"/>
                <a:cs typeface="Arial Narrow" panose="020B0604020202020204" pitchFamily="34" charset="0"/>
              </a:rPr>
              <a:t>Community Exploration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CBCB41A-6A36-B244-8D24-30F26BE2F47E}"/>
              </a:ext>
            </a:extLst>
          </p:cNvPr>
          <p:cNvSpPr/>
          <p:nvPr/>
        </p:nvSpPr>
        <p:spPr>
          <a:xfrm>
            <a:off x="6451237" y="776363"/>
            <a:ext cx="2214513" cy="803398"/>
          </a:xfrm>
          <a:prstGeom prst="roundRect">
            <a:avLst/>
          </a:prstGeom>
          <a:solidFill>
            <a:srgbClr val="C0000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 Narrow" panose="020B0604020202020204" pitchFamily="34" charset="0"/>
                <a:cs typeface="Arial Narrow" panose="020B0604020202020204" pitchFamily="34" charset="0"/>
              </a:rPr>
              <a:t>Soft &amp; Hard 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kill Development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7CDB777-A284-9645-B1F2-1D2BB0B3080B}"/>
              </a:ext>
            </a:extLst>
          </p:cNvPr>
          <p:cNvSpPr/>
          <p:nvPr/>
        </p:nvSpPr>
        <p:spPr>
          <a:xfrm>
            <a:off x="1414538" y="5402909"/>
            <a:ext cx="1676400" cy="677528"/>
          </a:xfrm>
          <a:prstGeom prst="roundRect">
            <a:avLst/>
          </a:prstGeom>
          <a:solidFill>
            <a:schemeClr val="tx2">
              <a:lumMod val="75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 Narrow" panose="020B0604020202020204" pitchFamily="34" charset="0"/>
                <a:cs typeface="Arial Narrow" panose="020B0604020202020204" pitchFamily="34" charset="0"/>
              </a:rPr>
              <a:t>Self-Advocacy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AA3A2CE-3F9C-6C4D-BD03-5FD766D83D2D}"/>
              </a:ext>
            </a:extLst>
          </p:cNvPr>
          <p:cNvSpPr/>
          <p:nvPr/>
        </p:nvSpPr>
        <p:spPr>
          <a:xfrm>
            <a:off x="4914768" y="5794443"/>
            <a:ext cx="1676400" cy="873208"/>
          </a:xfrm>
          <a:prstGeom prst="roundRect">
            <a:avLst/>
          </a:prstGeom>
          <a:solidFill>
            <a:srgbClr val="FFFF0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Career Exploration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CDB5B40-2CD4-B24A-A0C9-827F0E287268}"/>
              </a:ext>
            </a:extLst>
          </p:cNvPr>
          <p:cNvSpPr/>
          <p:nvPr/>
        </p:nvSpPr>
        <p:spPr>
          <a:xfrm>
            <a:off x="7128931" y="4977002"/>
            <a:ext cx="1770886" cy="1350732"/>
          </a:xfrm>
          <a:prstGeom prst="roundRect">
            <a:avLst/>
          </a:prstGeom>
          <a:solidFill>
            <a:srgbClr val="7030A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 Narrow" panose="020B0604020202020204" pitchFamily="34" charset="0"/>
                <a:cs typeface="Arial Narrow" panose="020B0604020202020204" pitchFamily="34" charset="0"/>
              </a:rPr>
              <a:t>Supporting Individuals Who Have Lost Jobs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740B718C-72CD-FC43-B40D-F03FB11DB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45" y="3352395"/>
            <a:ext cx="568751" cy="861744"/>
          </a:xfrm>
          <a:prstGeom prst="rect">
            <a:avLst/>
          </a:prstGeom>
        </p:spPr>
      </p:pic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DA6FDCBF-4750-034A-B6CE-8BC27E710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1787" y="4787470"/>
            <a:ext cx="1397000" cy="960438"/>
          </a:xfrm>
          <a:prstGeom prst="rect">
            <a:avLst/>
          </a:prstGeom>
        </p:spPr>
      </p:pic>
      <p:pic>
        <p:nvPicPr>
          <p:cNvPr id="17" name="Picture 16" descr="A close up of electronics&#10;&#10;Description automatically generated">
            <a:extLst>
              <a:ext uri="{FF2B5EF4-FFF2-40B4-BE49-F238E27FC236}">
                <a16:creationId xmlns:a16="http://schemas.microsoft.com/office/drawing/2014/main" id="{10294587-3932-2042-81A6-5F84083551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434" y="2091529"/>
            <a:ext cx="1168579" cy="1246484"/>
          </a:xfrm>
          <a:prstGeom prst="rect">
            <a:avLst/>
          </a:prstGeom>
        </p:spPr>
      </p:pic>
      <p:pic>
        <p:nvPicPr>
          <p:cNvPr id="19" name="Picture 18" descr="A picture containing bus, blue, small, night&#10;&#10;Description automatically generated">
            <a:extLst>
              <a:ext uri="{FF2B5EF4-FFF2-40B4-BE49-F238E27FC236}">
                <a16:creationId xmlns:a16="http://schemas.microsoft.com/office/drawing/2014/main" id="{1AE5740A-D287-7B4C-B0BB-189EF36D56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4642" y="1053493"/>
            <a:ext cx="1317863" cy="886263"/>
          </a:xfrm>
          <a:prstGeom prst="rect">
            <a:avLst/>
          </a:prstGeom>
        </p:spPr>
      </p:pic>
      <p:pic>
        <p:nvPicPr>
          <p:cNvPr id="25" name="Picture 24" descr="A picture containing sitting, blue, motorcycle, holding&#10;&#10;Description automatically generated">
            <a:extLst>
              <a:ext uri="{FF2B5EF4-FFF2-40B4-BE49-F238E27FC236}">
                <a16:creationId xmlns:a16="http://schemas.microsoft.com/office/drawing/2014/main" id="{6B96A561-601F-7D48-804D-9F3C31211D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9476" y="3140286"/>
            <a:ext cx="1168579" cy="803397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A67CA6EE-B5EF-3D46-8560-1A3537086E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464" y="6160572"/>
            <a:ext cx="1050930" cy="449798"/>
          </a:xfrm>
          <a:prstGeom prst="rect">
            <a:avLst/>
          </a:prstGeom>
          <a:solidFill>
            <a:srgbClr val="045491"/>
          </a:solidFill>
        </p:spPr>
      </p:pic>
      <p:pic>
        <p:nvPicPr>
          <p:cNvPr id="18" name="Picture 17" descr="A picture containing holding, small, sitting, person&#10;&#10;Description automatically generated">
            <a:extLst>
              <a:ext uri="{FF2B5EF4-FFF2-40B4-BE49-F238E27FC236}">
                <a16:creationId xmlns:a16="http://schemas.microsoft.com/office/drawing/2014/main" id="{CB032281-1BDA-D742-8A1E-80CD6FD370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6786" y="106561"/>
            <a:ext cx="552450" cy="1473200"/>
          </a:xfrm>
          <a:prstGeom prst="rect">
            <a:avLst/>
          </a:prstGeom>
        </p:spPr>
      </p:pic>
      <p:pic>
        <p:nvPicPr>
          <p:cNvPr id="21" name="Picture 20" descr="A picture containing holding, front, sitting, small&#10;&#10;Description automatically generated">
            <a:extLst>
              <a:ext uri="{FF2B5EF4-FFF2-40B4-BE49-F238E27FC236}">
                <a16:creationId xmlns:a16="http://schemas.microsoft.com/office/drawing/2014/main" id="{41C54E54-F7FA-EC4D-9F2C-B4D8FDD290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48700" y="560198"/>
            <a:ext cx="495300" cy="1320800"/>
          </a:xfrm>
          <a:prstGeom prst="rect">
            <a:avLst/>
          </a:prstGeom>
        </p:spPr>
      </p:pic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EB8F707-EBC2-9A4B-A8A2-C7990C8D1C28}"/>
              </a:ext>
            </a:extLst>
          </p:cNvPr>
          <p:cNvSpPr/>
          <p:nvPr/>
        </p:nvSpPr>
        <p:spPr>
          <a:xfrm>
            <a:off x="3818867" y="3943683"/>
            <a:ext cx="1676400" cy="684143"/>
          </a:xfrm>
          <a:prstGeom prst="roundRect">
            <a:avLst/>
          </a:prstGeom>
          <a:solidFill>
            <a:srgbClr val="FFC00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Pandemic Issues</a:t>
            </a:r>
          </a:p>
        </p:txBody>
      </p:sp>
      <p:pic>
        <p:nvPicPr>
          <p:cNvPr id="16" name="Picture 15" descr="A picture containing standing, person, person, dark&#10;&#10;Description automatically generated">
            <a:extLst>
              <a:ext uri="{FF2B5EF4-FFF2-40B4-BE49-F238E27FC236}">
                <a16:creationId xmlns:a16="http://schemas.microsoft.com/office/drawing/2014/main" id="{09703AF9-1AA8-6344-B934-CC6CB3C5DB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81877" y="3069937"/>
            <a:ext cx="1950380" cy="897175"/>
          </a:xfrm>
          <a:prstGeom prst="rect">
            <a:avLst/>
          </a:prstGeom>
        </p:spPr>
      </p:pic>
      <p:pic>
        <p:nvPicPr>
          <p:cNvPr id="23" name="Picture 22" descr="Text&#10;&#10;Description automatically generated">
            <a:extLst>
              <a:ext uri="{FF2B5EF4-FFF2-40B4-BE49-F238E27FC236}">
                <a16:creationId xmlns:a16="http://schemas.microsoft.com/office/drawing/2014/main" id="{7D04DD61-8AD2-5843-96AA-ECC956E37B4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17287" y="6160572"/>
            <a:ext cx="973824" cy="52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645464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AFDB0-21AD-DD44-850F-645101285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0" y="1410435"/>
            <a:ext cx="5181600" cy="2018565"/>
          </a:xfrm>
        </p:spPr>
        <p:txBody>
          <a:bodyPr/>
          <a:lstStyle/>
          <a:p>
            <a:pPr>
              <a:spcBef>
                <a:spcPts val="3168"/>
              </a:spcBef>
            </a:pPr>
            <a:r>
              <a:rPr lang="en-US" sz="3200" dirty="0"/>
              <a:t>Technology availability</a:t>
            </a:r>
          </a:p>
          <a:p>
            <a:pPr>
              <a:spcBef>
                <a:spcPts val="3168"/>
              </a:spcBef>
            </a:pPr>
            <a:r>
              <a:rPr lang="en-US" sz="3200" dirty="0"/>
              <a:t>Capacity of individual</a:t>
            </a:r>
          </a:p>
          <a:p>
            <a:pPr>
              <a:spcBef>
                <a:spcPts val="3168"/>
              </a:spcBef>
            </a:pPr>
            <a:r>
              <a:rPr lang="en-US" sz="3200" dirty="0"/>
              <a:t>Necessary supports available at home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CAD25-E34C-D74A-A1DB-4FA1EE6A4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7C5ABA0E-CED2-9A47-A128-839FA7DB7DF6}"/>
              </a:ext>
            </a:extLst>
          </p:cNvPr>
          <p:cNvSpPr/>
          <p:nvPr/>
        </p:nvSpPr>
        <p:spPr>
          <a:xfrm>
            <a:off x="232528" y="762000"/>
            <a:ext cx="3230252" cy="18288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cap="small" dirty="0"/>
              <a:t>Providing CBDS Services Remotely *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59E70F-CF4D-234A-8B7A-E62F95BEB4C3}"/>
              </a:ext>
            </a:extLst>
          </p:cNvPr>
          <p:cNvSpPr txBox="1"/>
          <p:nvPr/>
        </p:nvSpPr>
        <p:spPr>
          <a:xfrm>
            <a:off x="228600" y="5257800"/>
            <a:ext cx="41148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* Services provided where CBDS staff and individual are in two different locations</a:t>
            </a:r>
          </a:p>
        </p:txBody>
      </p:sp>
      <p:pic>
        <p:nvPicPr>
          <p:cNvPr id="6" name="Picture 5" descr="A picture containing sitting, front, small, computer&#10;&#10;Description automatically generated">
            <a:extLst>
              <a:ext uri="{FF2B5EF4-FFF2-40B4-BE49-F238E27FC236}">
                <a16:creationId xmlns:a16="http://schemas.microsoft.com/office/drawing/2014/main" id="{47B4A5E1-850F-1842-AAE0-67F43AC87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4348931"/>
            <a:ext cx="1496069" cy="226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950083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81BE-8C6A-5845-A88D-C4139A2AE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9" y="457200"/>
            <a:ext cx="8229600" cy="990600"/>
          </a:xfrm>
        </p:spPr>
        <p:txBody>
          <a:bodyPr>
            <a:normAutofit/>
          </a:bodyPr>
          <a:lstStyle/>
          <a:p>
            <a:r>
              <a:rPr lang="en-US" sz="4400" b="1" cap="small" dirty="0"/>
              <a:t>Home-Based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C0FDE-265E-6747-8364-21B6CF57E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98921"/>
            <a:ext cx="3581400" cy="4876800"/>
          </a:xfrm>
        </p:spPr>
        <p:txBody>
          <a:bodyPr/>
          <a:lstStyle/>
          <a:p>
            <a:r>
              <a:rPr lang="en-US" sz="3600" dirty="0"/>
              <a:t>What is appropriate for CBDS?</a:t>
            </a:r>
            <a:br>
              <a:rPr lang="en-US" sz="3600" dirty="0"/>
            </a:br>
            <a:endParaRPr lang="en-US" sz="3600" dirty="0"/>
          </a:p>
          <a:p>
            <a:r>
              <a:rPr lang="en-US" sz="3600" dirty="0"/>
              <a:t>What is </a:t>
            </a:r>
            <a:r>
              <a:rPr lang="en-US" sz="3600" i="1" dirty="0"/>
              <a:t>not </a:t>
            </a:r>
            <a:r>
              <a:rPr lang="en-US" sz="3600" dirty="0"/>
              <a:t>appropriate for CBDS?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58FD9-6100-9B46-A03B-B8FB1A744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pic>
        <p:nvPicPr>
          <p:cNvPr id="8" name="Picture 7" descr="A picture containing shape&#10;&#10;Description automatically generated">
            <a:extLst>
              <a:ext uri="{FF2B5EF4-FFF2-40B4-BE49-F238E27FC236}">
                <a16:creationId xmlns:a16="http://schemas.microsoft.com/office/drawing/2014/main" id="{22BF1761-AEF9-0F43-BA1F-3D092F09E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010" y="2514599"/>
            <a:ext cx="3581400" cy="256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328146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DA629-0E05-3042-AB70-4AB156171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0" y="1371600"/>
            <a:ext cx="3860800" cy="4114800"/>
          </a:xfr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spcBef>
                <a:spcPts val="2376"/>
              </a:spcBef>
            </a:pPr>
            <a:r>
              <a:rPr lang="en-US" dirty="0"/>
              <a:t>Technology availability and support</a:t>
            </a:r>
          </a:p>
          <a:p>
            <a:pPr>
              <a:spcBef>
                <a:spcPts val="2376"/>
              </a:spcBef>
            </a:pPr>
            <a:r>
              <a:rPr lang="en-US" dirty="0"/>
              <a:t>Focus on live activities</a:t>
            </a:r>
          </a:p>
          <a:p>
            <a:pPr>
              <a:spcBef>
                <a:spcPts val="2376"/>
              </a:spcBef>
            </a:pPr>
            <a:r>
              <a:rPr lang="en-US" dirty="0"/>
              <a:t>Local is preferred </a:t>
            </a:r>
          </a:p>
          <a:p>
            <a:pPr>
              <a:spcBef>
                <a:spcPts val="2376"/>
              </a:spcBef>
            </a:pPr>
            <a:r>
              <a:rPr lang="en-US" dirty="0"/>
              <a:t>Non-local activities may have their place</a:t>
            </a:r>
          </a:p>
          <a:p>
            <a:pPr>
              <a:spcBef>
                <a:spcPts val="2376"/>
              </a:spcBef>
            </a:pPr>
            <a:r>
              <a:rPr lang="en-US" dirty="0"/>
              <a:t>Avoid passive activities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873F1-8720-2E40-865E-8CB9E5C9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pic>
        <p:nvPicPr>
          <p:cNvPr id="8" name="Picture 7" descr="A flat screen television&#10;&#10;Description automatically generated">
            <a:extLst>
              <a:ext uri="{FF2B5EF4-FFF2-40B4-BE49-F238E27FC236}">
                <a16:creationId xmlns:a16="http://schemas.microsoft.com/office/drawing/2014/main" id="{FE82F7D9-AA80-A549-B770-1AB3414CE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30" y="838200"/>
            <a:ext cx="3860800" cy="2895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E0A95B-F086-0547-971F-465530EEF27C}"/>
              </a:ext>
            </a:extLst>
          </p:cNvPr>
          <p:cNvSpPr txBox="1"/>
          <p:nvPr/>
        </p:nvSpPr>
        <p:spPr>
          <a:xfrm>
            <a:off x="304800" y="1219200"/>
            <a:ext cx="3429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Online</a:t>
            </a:r>
            <a:br>
              <a:rPr lang="en-US" sz="2800" b="1" dirty="0">
                <a:solidFill>
                  <a:srgbClr val="0070C0"/>
                </a:solidFill>
              </a:rPr>
            </a:br>
            <a:r>
              <a:rPr lang="en-US" sz="2800" b="1" dirty="0">
                <a:solidFill>
                  <a:srgbClr val="0070C0"/>
                </a:solidFill>
              </a:rPr>
              <a:t>Activities: </a:t>
            </a:r>
            <a:r>
              <a:rPr lang="en-US" sz="2800" i="1" dirty="0">
                <a:solidFill>
                  <a:srgbClr val="0070C0"/>
                </a:solidFill>
              </a:rPr>
              <a:t>Considerations</a:t>
            </a:r>
          </a:p>
        </p:txBody>
      </p:sp>
    </p:spTree>
    <p:extLst>
      <p:ext uri="{BB962C8B-B14F-4D97-AF65-F5344CB8AC3E}">
        <p14:creationId xmlns:p14="http://schemas.microsoft.com/office/powerpoint/2010/main" val="2667317526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2F25A-1F2A-6C4A-8721-61AD99082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533400"/>
            <a:ext cx="5105400" cy="990600"/>
          </a:xfrm>
          <a:effectLst>
            <a:glow rad="139700">
              <a:schemeClr val="accent5">
                <a:satMod val="175000"/>
                <a:alpha val="40000"/>
              </a:schemeClr>
            </a:glow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Using Your Building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D9FC7-B43A-C340-A03B-075F59417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2438400"/>
            <a:ext cx="4267200" cy="1219200"/>
          </a:xfrm>
        </p:spPr>
        <p:txBody>
          <a:bodyPr/>
          <a:lstStyle/>
          <a:p>
            <a:r>
              <a:rPr lang="en-US" sz="4000" dirty="0"/>
              <a:t>Issues and considerations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534E1-3EDD-9240-8BFD-8E69EC786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pic>
        <p:nvPicPr>
          <p:cNvPr id="6" name="Picture 5" descr="A large building&#10;&#10;Description automatically generated">
            <a:extLst>
              <a:ext uri="{FF2B5EF4-FFF2-40B4-BE49-F238E27FC236}">
                <a16:creationId xmlns:a16="http://schemas.microsoft.com/office/drawing/2014/main" id="{81D38AD2-121F-7547-AC7F-2713BC31CF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360"/>
          <a:stretch/>
        </p:blipFill>
        <p:spPr>
          <a:xfrm>
            <a:off x="5029200" y="2286000"/>
            <a:ext cx="2799760" cy="375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54524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4EC54-0F32-5D4F-9466-928ADB85E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81000" y="328237"/>
            <a:ext cx="5943600" cy="990600"/>
          </a:xfrm>
        </p:spPr>
        <p:txBody>
          <a:bodyPr/>
          <a:lstStyle/>
          <a:p>
            <a:pPr algn="ctr"/>
            <a:r>
              <a:rPr lang="en-US" b="1" dirty="0"/>
              <a:t>Community Settings</a:t>
            </a:r>
          </a:p>
        </p:txBody>
      </p:sp>
      <p:pic>
        <p:nvPicPr>
          <p:cNvPr id="6" name="Content Placeholder 5" descr="A picture containing object, computer, computer, table&#10;&#10;Description automatically generated">
            <a:extLst>
              <a:ext uri="{FF2B5EF4-FFF2-40B4-BE49-F238E27FC236}">
                <a16:creationId xmlns:a16="http://schemas.microsoft.com/office/drawing/2014/main" id="{B6738505-8694-AF4C-94DB-10A625E3F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9024" y="3657600"/>
            <a:ext cx="5080000" cy="22225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718FF-CCCB-A748-8338-C404C6E25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pic>
        <p:nvPicPr>
          <p:cNvPr id="8" name="Picture 7" descr="A picture containing holding, dark, ball, person&#10;&#10;Description automatically generated">
            <a:extLst>
              <a:ext uri="{FF2B5EF4-FFF2-40B4-BE49-F238E27FC236}">
                <a16:creationId xmlns:a16="http://schemas.microsoft.com/office/drawing/2014/main" id="{406E3EFE-95C7-B844-B256-0FAD9BF02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20561"/>
            <a:ext cx="2575560" cy="33020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ADB0D02-B95F-B74A-A052-3D684602C80B}"/>
              </a:ext>
            </a:extLst>
          </p:cNvPr>
          <p:cNvSpPr txBox="1">
            <a:spLocks/>
          </p:cNvSpPr>
          <p:nvPr/>
        </p:nvSpPr>
        <p:spPr bwMode="auto">
          <a:xfrm>
            <a:off x="1238001" y="1099661"/>
            <a:ext cx="4267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58" indent="-18255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457189" indent="-18255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730232" indent="-18255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04863" indent="-18255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187421" indent="-13652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371566" indent="-182875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41" indent="-182875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17" indent="-182875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192" indent="-182875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/>
              <a:t>Issues and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686129373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9013E-7985-6543-AFFE-E082D10E1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3783" y="2296610"/>
            <a:ext cx="4419600" cy="10668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b="1" dirty="0"/>
              <a:t>“Without Walls”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F939F-D04E-254B-A4D4-F4380CC0F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27D00A1-B69C-A445-BDDD-1C3246626B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68060"/>
              </p:ext>
            </p:extLst>
          </p:nvPr>
        </p:nvGraphicFramePr>
        <p:xfrm>
          <a:off x="-614931" y="2133600"/>
          <a:ext cx="6299908" cy="42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A picture containing sitting, small, table, bed&#10;&#10;Description automatically generated">
            <a:extLst>
              <a:ext uri="{FF2B5EF4-FFF2-40B4-BE49-F238E27FC236}">
                <a16:creationId xmlns:a16="http://schemas.microsoft.com/office/drawing/2014/main" id="{6072CF72-963F-ED49-B8C4-BC66E63744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2674" y="3378920"/>
            <a:ext cx="3001818" cy="24765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5E0DBC-9680-BE4C-9A26-00BB1C58445D}"/>
              </a:ext>
            </a:extLst>
          </p:cNvPr>
          <p:cNvCxnSpPr>
            <a:cxnSpLocks/>
          </p:cNvCxnSpPr>
          <p:nvPr/>
        </p:nvCxnSpPr>
        <p:spPr>
          <a:xfrm>
            <a:off x="6553200" y="3174624"/>
            <a:ext cx="2133600" cy="2669946"/>
          </a:xfrm>
          <a:prstGeom prst="line">
            <a:avLst/>
          </a:prstGeom>
          <a:ln w="8255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6FAC27-4F74-4947-9D92-21B382D925FB}"/>
              </a:ext>
            </a:extLst>
          </p:cNvPr>
          <p:cNvCxnSpPr>
            <a:cxnSpLocks/>
          </p:cNvCxnSpPr>
          <p:nvPr/>
        </p:nvCxnSpPr>
        <p:spPr>
          <a:xfrm flipH="1">
            <a:off x="6488784" y="3135051"/>
            <a:ext cx="1975926" cy="2709519"/>
          </a:xfrm>
          <a:prstGeom prst="line">
            <a:avLst/>
          </a:prstGeom>
          <a:ln w="8255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291C897-DBF3-084F-AEC4-A68D31BE494C}"/>
              </a:ext>
            </a:extLst>
          </p:cNvPr>
          <p:cNvSpPr/>
          <p:nvPr/>
        </p:nvSpPr>
        <p:spPr>
          <a:xfrm>
            <a:off x="1360965" y="3044279"/>
            <a:ext cx="22098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Hybrid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342C4E-558D-9B46-89F6-CF9F334EE1CC}"/>
              </a:ext>
            </a:extLst>
          </p:cNvPr>
          <p:cNvSpPr txBox="1"/>
          <p:nvPr/>
        </p:nvSpPr>
        <p:spPr>
          <a:xfrm>
            <a:off x="304800" y="378301"/>
            <a:ext cx="3810000" cy="646331"/>
          </a:xfrm>
          <a:prstGeom prst="rect">
            <a:avLst/>
          </a:prstGeom>
          <a:effectLst/>
          <a:scene3d>
            <a:camera prst="isometricOffAxis1Righ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cap="small" dirty="0"/>
              <a:t>Possible Models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F8DB10C-8559-B24B-9BC6-D93374C75E47}"/>
              </a:ext>
            </a:extLst>
          </p:cNvPr>
          <p:cNvCxnSpPr>
            <a:cxnSpLocks/>
          </p:cNvCxnSpPr>
          <p:nvPr/>
        </p:nvCxnSpPr>
        <p:spPr>
          <a:xfrm>
            <a:off x="5257800" y="1828800"/>
            <a:ext cx="0" cy="4910579"/>
          </a:xfrm>
          <a:prstGeom prst="line">
            <a:avLst/>
          </a:prstGeom>
          <a:ln w="117475" cap="rnd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8763715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5D5E8-6A32-9043-830C-5DE265D4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pic>
        <p:nvPicPr>
          <p:cNvPr id="6" name="Picture 5" descr="A picture containing sitting, blue, dark, light&#10;&#10;Description automatically generated">
            <a:extLst>
              <a:ext uri="{FF2B5EF4-FFF2-40B4-BE49-F238E27FC236}">
                <a16:creationId xmlns:a16="http://schemas.microsoft.com/office/drawing/2014/main" id="{181E9828-54DF-4546-AE50-8053DE566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295400"/>
            <a:ext cx="3327400" cy="508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59F052-907D-1344-9910-3894AA351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1600200"/>
            <a:ext cx="3327400" cy="2362200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Looking to the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Future</a:t>
            </a:r>
          </a:p>
        </p:txBody>
      </p:sp>
    </p:spTree>
    <p:extLst>
      <p:ext uri="{BB962C8B-B14F-4D97-AF65-F5344CB8AC3E}">
        <p14:creationId xmlns:p14="http://schemas.microsoft.com/office/powerpoint/2010/main" val="3560964040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533400"/>
            <a:ext cx="6782873" cy="4396002"/>
          </a:xfrm>
          <a:ln/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108283" tIns="54142" rIns="108283" bIns="54142" numCol="1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  <a:buFontTx/>
              <a:buNone/>
            </a:pPr>
            <a:r>
              <a:rPr lang="en-US" dirty="0"/>
              <a:t>“</a:t>
            </a:r>
            <a:r>
              <a:rPr lang="en-US" i="1" dirty="0"/>
              <a:t>And once the storm is over, you won’t remember how you made it through,</a:t>
            </a:r>
            <a:br>
              <a:rPr lang="en-US" i="1" dirty="0"/>
            </a:br>
            <a:r>
              <a:rPr lang="en-US" i="1" dirty="0"/>
              <a:t>how you managed to survive.</a:t>
            </a:r>
            <a:br>
              <a:rPr lang="en-US" i="1" dirty="0"/>
            </a:br>
            <a:r>
              <a:rPr lang="en-US" i="1" dirty="0"/>
              <a:t>You won’t even be sure whether</a:t>
            </a:r>
            <a:br>
              <a:rPr lang="en-US" i="1" dirty="0"/>
            </a:br>
            <a:r>
              <a:rPr lang="en-US" i="1" dirty="0"/>
              <a:t>the storm is really over. </a:t>
            </a:r>
            <a:br>
              <a:rPr lang="en-US" i="1" dirty="0"/>
            </a:br>
            <a:r>
              <a:rPr lang="en-US" i="1" dirty="0"/>
              <a:t>But one thing is certain. </a:t>
            </a:r>
          </a:p>
          <a:p>
            <a:pPr algn="ctr">
              <a:lnSpc>
                <a:spcPct val="120000"/>
              </a:lnSpc>
              <a:buFontTx/>
              <a:buNone/>
            </a:pPr>
            <a:r>
              <a:rPr lang="en-US" i="1" dirty="0"/>
              <a:t>When you come out of the storm, you won’t be the same person who walked in.</a:t>
            </a:r>
            <a:br>
              <a:rPr lang="en-US" i="1" dirty="0"/>
            </a:br>
            <a:r>
              <a:rPr lang="en-US" i="1" dirty="0"/>
              <a:t>That’s what this storm’s all about.”</a:t>
            </a: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C873C4-20F1-D545-B0F1-C12A21710E09}"/>
              </a:ext>
            </a:extLst>
          </p:cNvPr>
          <p:cNvSpPr/>
          <p:nvPr/>
        </p:nvSpPr>
        <p:spPr>
          <a:xfrm>
            <a:off x="6019800" y="5696219"/>
            <a:ext cx="2093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Haruki Murakami</a:t>
            </a:r>
          </a:p>
        </p:txBody>
      </p:sp>
      <p:pic>
        <p:nvPicPr>
          <p:cNvPr id="6" name="Picture 5" descr="A picture containing person, indoor, man, sitting&#10;&#10;Description automatically generated">
            <a:extLst>
              <a:ext uri="{FF2B5EF4-FFF2-40B4-BE49-F238E27FC236}">
                <a16:creationId xmlns:a16="http://schemas.microsoft.com/office/drawing/2014/main" id="{D1191319-1111-B54F-A658-D7F84B883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636" y="5052654"/>
            <a:ext cx="1296181" cy="165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697805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05352-E085-CA4E-9A13-F8DBB3FE2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pic>
        <p:nvPicPr>
          <p:cNvPr id="7" name="Picture 6" descr="A picture containing light&#10;&#10;Description automatically generated">
            <a:extLst>
              <a:ext uri="{FF2B5EF4-FFF2-40B4-BE49-F238E27FC236}">
                <a16:creationId xmlns:a16="http://schemas.microsoft.com/office/drawing/2014/main" id="{F890680D-3D78-3D47-BABE-BD8B568D8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232" y="609600"/>
            <a:ext cx="5119218" cy="5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33538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CA35A-4B03-5E41-9417-0BAF6EA31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01001D-EC29-2A41-A0A0-435C10DF7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609" y="762000"/>
            <a:ext cx="459278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03232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FD01-8F5E-2E4D-944E-4AB38BDD0569}" type="slidenum">
              <a:rPr lang="en-US" smtClean="0">
                <a:solidFill>
                  <a:srgbClr val="CEFFB3">
                    <a:shade val="50000"/>
                    <a:satMod val="200000"/>
                  </a:srgbClr>
                </a:solidFill>
                <a:latin typeface="Gill Sans MT"/>
              </a:rPr>
              <a:pPr/>
              <a:t>26</a:t>
            </a:fld>
            <a:endParaRPr lang="en-US">
              <a:solidFill>
                <a:srgbClr val="CEFFB3">
                  <a:shade val="50000"/>
                  <a:satMod val="200000"/>
                </a:srgbClr>
              </a:solidFill>
              <a:latin typeface="Gill Sans MT"/>
            </a:endParaRPr>
          </a:p>
        </p:txBody>
      </p:sp>
      <p:pic>
        <p:nvPicPr>
          <p:cNvPr id="5" name="Picture 4" descr="group_discussion_pc_800_wht_181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528" y="3142315"/>
            <a:ext cx="4105472" cy="2858435"/>
          </a:xfrm>
          <a:prstGeom prst="rect">
            <a:avLst/>
          </a:prstGeom>
        </p:spPr>
      </p:pic>
      <p:pic>
        <p:nvPicPr>
          <p:cNvPr id="6" name="Picture 5" descr="paper_question_mark_1935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201" y="1080087"/>
            <a:ext cx="1976078" cy="1237025"/>
          </a:xfrm>
          <a:prstGeom prst="rect">
            <a:avLst/>
          </a:prstGeom>
        </p:spPr>
      </p:pic>
      <p:pic>
        <p:nvPicPr>
          <p:cNvPr id="11" name="Picture 10" descr="scribbles_pencil_celebration_sign_20166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14400"/>
            <a:ext cx="2797274" cy="319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494448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042A4-C4AB-F746-9EBA-5FBC8A6B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pic>
        <p:nvPicPr>
          <p:cNvPr id="6" name="Picture 5" descr="A picture containing sitting&#10;&#10;Description automatically generated">
            <a:extLst>
              <a:ext uri="{FF2B5EF4-FFF2-40B4-BE49-F238E27FC236}">
                <a16:creationId xmlns:a16="http://schemas.microsoft.com/office/drawing/2014/main" id="{00AD75DA-D3E1-A44B-A04C-F9018C492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447800"/>
            <a:ext cx="3657600" cy="2514600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299FFB04-F152-CF44-8284-FBC1497E1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5257800"/>
            <a:ext cx="1219200" cy="1164139"/>
          </a:xfrm>
          <a:prstGeom prst="rect">
            <a:avLst/>
          </a:prstGeom>
        </p:spPr>
      </p:pic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7904B274-72D3-5841-BCD2-12CFD5723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906942"/>
            <a:ext cx="1625600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95096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Clarity">
    <a:dk1>
      <a:srgbClr val="292934"/>
    </a:dk1>
    <a:lt1>
      <a:srgbClr val="FFFFFF"/>
    </a:lt1>
    <a:dk2>
      <a:srgbClr val="D2533C"/>
    </a:dk2>
    <a:lt2>
      <a:srgbClr val="F3F2DC"/>
    </a:lt2>
    <a:accent1>
      <a:srgbClr val="93A299"/>
    </a:accent1>
    <a:accent2>
      <a:srgbClr val="AD8F67"/>
    </a:accent2>
    <a:accent3>
      <a:srgbClr val="726056"/>
    </a:accent3>
    <a:accent4>
      <a:srgbClr val="4C5A6A"/>
    </a:accent4>
    <a:accent5>
      <a:srgbClr val="808DA0"/>
    </a:accent5>
    <a:accent6>
      <a:srgbClr val="79463D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483</Words>
  <Application>Microsoft Macintosh PowerPoint</Application>
  <PresentationFormat>On-screen Show (4:3)</PresentationFormat>
  <Paragraphs>108</Paragraphs>
  <Slides>27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Arial Narrow</vt:lpstr>
      <vt:lpstr>Book Antiqua</vt:lpstr>
      <vt:lpstr>Gill Sans MT</vt:lpstr>
      <vt:lpstr>Wingdings</vt:lpstr>
      <vt:lpstr>Clarity</vt:lpstr>
      <vt:lpstr> David Hoff david.hoff@umb.edu – 617-480-9230  Institute for Community Inclusion University of Massachusetts, Boston www.communityinclusion.org    </vt:lpstr>
      <vt:lpstr>Panelists</vt:lpstr>
      <vt:lpstr>Handouts</vt:lpstr>
      <vt:lpstr>ICI COVID-19 Resource Page https://covid19.communityinclusion.org</vt:lpstr>
      <vt:lpstr>Time for a Poll</vt:lpstr>
      <vt:lpstr>The Basics of Community-Based Day Supports</vt:lpstr>
      <vt:lpstr>PowerPoint Presentation</vt:lpstr>
      <vt:lpstr>Core Values of CBDS</vt:lpstr>
      <vt:lpstr>Poll</vt:lpstr>
      <vt:lpstr>PowerPoint Presentation</vt:lpstr>
      <vt:lpstr>Poll</vt:lpstr>
      <vt:lpstr>Poll</vt:lpstr>
      <vt:lpstr>Discussion</vt:lpstr>
      <vt:lpstr>PowerPoint Presentation</vt:lpstr>
      <vt:lpstr>Possible activities</vt:lpstr>
      <vt:lpstr>PowerPoint Presentation</vt:lpstr>
      <vt:lpstr>Home-Based Activities</vt:lpstr>
      <vt:lpstr>PowerPoint Presentation</vt:lpstr>
      <vt:lpstr>Using Your Building </vt:lpstr>
      <vt:lpstr>Community Settings</vt:lpstr>
      <vt:lpstr>PowerPoint Presentation</vt:lpstr>
      <vt:lpstr>Looking to the Future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David Hoff david.hoff@umb.edu – 617-480-9230  Institute for Community Inclusion University of Massachusetts, Boston www.communityinclusion.org    </dc:title>
  <dc:creator>David Hoff</dc:creator>
  <cp:lastModifiedBy>David Hoff</cp:lastModifiedBy>
  <cp:revision>26</cp:revision>
  <dcterms:created xsi:type="dcterms:W3CDTF">2020-09-29T02:08:07Z</dcterms:created>
  <dcterms:modified xsi:type="dcterms:W3CDTF">2020-09-29T15:34:14Z</dcterms:modified>
</cp:coreProperties>
</file>