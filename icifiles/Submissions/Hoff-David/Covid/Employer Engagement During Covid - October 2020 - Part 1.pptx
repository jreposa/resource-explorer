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29"/>
  </p:notesMasterIdLst>
  <p:handoutMasterIdLst>
    <p:handoutMasterId r:id="rId30"/>
  </p:handoutMasterIdLst>
  <p:sldIdLst>
    <p:sldId id="281" r:id="rId2"/>
    <p:sldId id="1162" r:id="rId3"/>
    <p:sldId id="282" r:id="rId4"/>
    <p:sldId id="1114" r:id="rId5"/>
    <p:sldId id="1060" r:id="rId6"/>
    <p:sldId id="283" r:id="rId7"/>
    <p:sldId id="1118" r:id="rId8"/>
    <p:sldId id="1119" r:id="rId9"/>
    <p:sldId id="1120" r:id="rId10"/>
    <p:sldId id="1122" r:id="rId11"/>
    <p:sldId id="1123" r:id="rId12"/>
    <p:sldId id="731" r:id="rId13"/>
    <p:sldId id="706" r:id="rId14"/>
    <p:sldId id="1153" r:id="rId15"/>
    <p:sldId id="1121" r:id="rId16"/>
    <p:sldId id="1124" r:id="rId17"/>
    <p:sldId id="1125" r:id="rId18"/>
    <p:sldId id="1129" r:id="rId19"/>
    <p:sldId id="1130" r:id="rId20"/>
    <p:sldId id="1126" r:id="rId21"/>
    <p:sldId id="1127" r:id="rId22"/>
    <p:sldId id="1128" r:id="rId23"/>
    <p:sldId id="1131" r:id="rId24"/>
    <p:sldId id="1132" r:id="rId25"/>
    <p:sldId id="1158" r:id="rId26"/>
    <p:sldId id="1161" r:id="rId27"/>
    <p:sldId id="1160" r:id="rId2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015"/>
    <p:restoredTop sz="93680"/>
  </p:normalViewPr>
  <p:slideViewPr>
    <p:cSldViewPr>
      <p:cViewPr varScale="1">
        <p:scale>
          <a:sx n="116" d="100"/>
          <a:sy n="116" d="100"/>
        </p:scale>
        <p:origin x="228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57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8D4C6040-3216-AB4A-B101-59D428F3A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28600"/>
            <a:ext cx="5105400" cy="403225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/>
              <a:t>Disability Rights and Law</a:t>
            </a:r>
            <a:r>
              <a:rPr lang="en-US" sz="1000"/>
              <a:t> - David Hoff, Institute for Community Inclusion</a:t>
            </a:r>
            <a:br>
              <a:rPr lang="en-US" sz="1000"/>
            </a:br>
            <a:r>
              <a:rPr lang="en-US" sz="1000"/>
              <a:t>www.communityinclusion.org; 617-287-4308; david.hoff@umb.edu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7D60287-83B3-4549-BE7C-EF7AEEAC336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0BFD21E-EC7C-C345-9FDB-509701D0B05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-107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-107" charset="0"/>
        <a:ea typeface="ＭＳ Ｐゴシック" pitchFamily="-107" charset="-128"/>
        <a:cs typeface="ＭＳ Ｐゴシック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-107" charset="0"/>
        <a:ea typeface="ＭＳ Ｐゴシック" pitchFamily="-107" charset="-128"/>
        <a:cs typeface="ＭＳ Ｐゴシック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-107" charset="0"/>
        <a:ea typeface="ＭＳ Ｐゴシック" pitchFamily="-107" charset="-128"/>
        <a:cs typeface="ＭＳ Ｐゴシック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-107" charset="0"/>
        <a:ea typeface="ＭＳ Ｐゴシック" pitchFamily="-107" charset="-128"/>
        <a:cs typeface="ＭＳ Ｐゴシック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3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811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529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5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313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085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CDD5A-FEC8-E74B-8A94-9F0DB1AE95A3}"/>
              </a:ext>
            </a:extLst>
          </p:cNvPr>
          <p:cNvCxnSpPr/>
          <p:nvPr/>
        </p:nvCxnSpPr>
        <p:spPr>
          <a:xfrm>
            <a:off x="685800" y="3398839"/>
            <a:ext cx="78486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1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168660E-8ECE-7144-86DF-87B48A0B8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D8DD584-F5C3-CE41-9506-9FD041074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4B42F7-CD5A-8C47-BD96-0545CF829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F5E16D9-FAD3-8343-A574-279BC8894A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509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CBE16-87FB-024F-8667-128DD81B0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9776A-9A07-4243-88CB-BFF348A2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29894-D723-9B4B-9E60-BE354F05F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FFECAE-5558-FC4F-A5D5-814DD61349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4751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CACA102-DDA1-DC44-A6FC-7A58C154E3F8}"/>
              </a:ext>
            </a:extLst>
          </p:cNvPr>
          <p:cNvCxnSpPr/>
          <p:nvPr/>
        </p:nvCxnSpPr>
        <p:spPr>
          <a:xfrm>
            <a:off x="731838" y="4598989"/>
            <a:ext cx="78486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1"/>
            <a:ext cx="7772400" cy="2200275"/>
          </a:xfrm>
        </p:spPr>
        <p:txBody>
          <a:bodyPr anchor="b"/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5"/>
            <a:ext cx="77724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8BD3862-5F17-CF44-8DB4-162A339F9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B6C0AE4-23CD-D648-B943-B406F109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08E2B5-8975-774E-9099-896EDBE4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851FCD7-60BF-0443-9D82-274D5A41A9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46643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CDF3B8C-B363-B74C-83EE-8A31D6CCB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19E2DE4-AC38-B645-8E19-91AFFA178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6131C8C-84EA-1248-82D0-0B3F51EB4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4FB8D5-209A-354C-A23E-7F23A4B35F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748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5B07ED-3669-4B42-81D8-66BBEF2F7F18}"/>
              </a:ext>
            </a:extLst>
          </p:cNvPr>
          <p:cNvCxnSpPr/>
          <p:nvPr/>
        </p:nvCxnSpPr>
        <p:spPr>
          <a:xfrm rot="5400000">
            <a:off x="2218532" y="4045745"/>
            <a:ext cx="4708525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3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3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99919383-94F9-4647-8290-08165BC82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37189A5C-A5B9-8A4B-8617-C5D6E37E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3D8AA3B-37B7-5444-869E-D674D263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6CE7853-A0A6-444C-840C-D63A1B5101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5674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BD6B3B7-2557-2A4F-B7FC-0E7459536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C6BEE12-FEEF-0D43-900C-D971C617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58CFEF7-C9E1-284D-B996-4F8A06FA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079FF-467D-6D41-A1F4-C32363388C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162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9494C39-4D5D-E149-84F3-07A849102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8EDD62F-3058-6740-89FE-D6A8ADE43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686ED7D-0E8A-604C-9FD7-1EB6A03F8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330214-C1B0-274F-B99E-7FB2C72794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395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B7D8BF-4077-8544-897A-A202D01978F9}"/>
              </a:ext>
            </a:extLst>
          </p:cNvPr>
          <p:cNvCxnSpPr/>
          <p:nvPr/>
        </p:nvCxnSpPr>
        <p:spPr>
          <a:xfrm rot="5400000">
            <a:off x="-13494" y="3580607"/>
            <a:ext cx="5578475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4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6A2EF62-737B-3E4C-908A-80A99C943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A7436DC-F284-5949-B7BA-4AA37FD4A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E930B4BC-7EED-8342-A1BD-4A17C5F1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7CFDA24-9594-0E41-8AF7-A187F9F527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0070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50BB1C6-097F-3C42-A33F-1F1B6C36E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4FBA4F0-4D0A-A64B-84AE-1C0E9C7AB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3898FA1-B2FD-DE47-BEB8-CE463510C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FCAA1-8A8A-6A49-B2E5-05A39EBF64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4469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4687A-9899-7845-8A17-8B85C5EAE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35466-830B-4242-B0FD-C47878003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4C0B0-9465-0B4F-A47F-5BAA7BEE0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F8F63-C206-6F46-8B8A-B5AD3BBB21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3802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6C9E6-01D3-814C-A399-2C11C31B8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DE167-D490-5646-BA44-469DBA765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8A4AC-74A9-3945-A7C0-679F87F0B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04F972-602B-F04A-BF83-2471432BF8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6825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BF95BF-52DD-7040-BBE0-65305A53ED8F}"/>
              </a:ext>
            </a:extLst>
          </p:cNvPr>
          <p:cNvSpPr/>
          <p:nvPr/>
        </p:nvSpPr>
        <p:spPr>
          <a:xfrm>
            <a:off x="0" y="220663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4CC057-C9FB-8249-BE44-B93F2594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9E46DAB4-0618-EC44-969F-CBC328E9929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54919F-5409-6E45-B80E-25314159942D}"/>
              </a:ext>
            </a:extLst>
          </p:cNvPr>
          <p:cNvSpPr/>
          <p:nvPr/>
        </p:nvSpPr>
        <p:spPr>
          <a:xfrm>
            <a:off x="0" y="0"/>
            <a:ext cx="9144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1D3B3-9536-7B41-8EAB-F406F1CD90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19051"/>
            <a:ext cx="28956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E581D-B9A6-D64C-ABC9-74DDA3CD2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0" y="19051"/>
            <a:ext cx="41148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FFFFF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D885B-B15E-0B46-9712-27FA12704D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0" y="19051"/>
            <a:ext cx="1066800" cy="3286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400" b="1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5740777-AA5D-AC4C-B229-82B7C56FA2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58" r:id="rId2"/>
    <p:sldLayoutId id="2147483866" r:id="rId3"/>
    <p:sldLayoutId id="2147483859" r:id="rId4"/>
    <p:sldLayoutId id="2147483867" r:id="rId5"/>
    <p:sldLayoutId id="2147483860" r:id="rId6"/>
    <p:sldLayoutId id="2147483861" r:id="rId7"/>
    <p:sldLayoutId id="2147483868" r:id="rId8"/>
    <p:sldLayoutId id="2147483862" r:id="rId9"/>
    <p:sldLayoutId id="2147483863" r:id="rId10"/>
    <p:sldLayoutId id="2147483864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 spc="-1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189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6pPr>
      <a:lvl7pPr marL="914377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7pPr>
      <a:lvl8pPr marL="1371566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8pPr>
      <a:lvl9pPr marL="1828754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182558" indent="-1825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457189" indent="-1825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730232" indent="-1825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004863" indent="-1825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187421" indent="-13652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1371566" indent="-182875" algn="l" defTabSz="914377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41" indent="-182875" algn="l" defTabSz="914377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17" indent="-182875" algn="l" defTabSz="914377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192" indent="-182875" algn="l" defTabSz="914377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david.hoff@umb.edu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ogressive-charlestown.com/2015/05/aclu-notifies-charlestown-its.html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hyperlink" Target="https://creativecommons.org/licenses/by-sa/3.0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7" Type="http://schemas.openxmlformats.org/officeDocument/2006/relationships/hyperlink" Target="https://desbt.qld.gov.au/training/training-careers/support/disability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g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desbt.qld.gov.au/training/training-careers/support/disability/sds-learners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mailto:david.hoff@umb.edu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CEE3BF6E-8403-994A-A732-A43CB0A3C60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3733800"/>
            <a:ext cx="7772400" cy="3048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sz="2800" cap="none" dirty="0">
                <a:ea typeface="+mj-ea"/>
                <a:cs typeface="+mj-cs"/>
              </a:rPr>
            </a:br>
            <a:r>
              <a:rPr lang="en-US" sz="2800" b="1" cap="none" dirty="0">
                <a:solidFill>
                  <a:schemeClr val="tx1"/>
                </a:solidFill>
                <a:ea typeface="+mj-ea"/>
                <a:cs typeface="+mj-cs"/>
              </a:rPr>
              <a:t>David Hoff</a:t>
            </a:r>
            <a:br>
              <a:rPr lang="en-US" sz="2800" b="1" cap="none" dirty="0">
                <a:solidFill>
                  <a:schemeClr val="tx1"/>
                </a:solidFill>
                <a:ea typeface="+mj-ea"/>
                <a:cs typeface="+mj-cs"/>
              </a:rPr>
            </a:br>
            <a:r>
              <a:rPr lang="en-US" sz="2400" cap="none" dirty="0">
                <a:solidFill>
                  <a:schemeClr val="tx1"/>
                </a:solidFill>
                <a:ea typeface="+mj-ea"/>
                <a:cs typeface="+mj-cs"/>
                <a:hlinkClick r:id="rId2"/>
              </a:rPr>
              <a:t>david.hoff@umb.edu</a:t>
            </a:r>
            <a: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  <a:t> – 617-480-9230</a:t>
            </a:r>
            <a:br>
              <a:rPr lang="en-US" sz="2800" b="1" cap="none" dirty="0">
                <a:solidFill>
                  <a:schemeClr val="tx1"/>
                </a:solidFill>
                <a:ea typeface="+mj-ea"/>
                <a:cs typeface="+mj-cs"/>
              </a:rPr>
            </a:br>
            <a:b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</a:br>
            <a: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  <a:t>Institute for Community Inclusion</a:t>
            </a:r>
            <a:b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</a:br>
            <a: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  <a:t>University of Massachusetts, Boston</a:t>
            </a:r>
            <a:b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</a:br>
            <a:r>
              <a:rPr lang="en-US" sz="2000" b="1" cap="none" dirty="0" err="1">
                <a:solidFill>
                  <a:schemeClr val="tx1"/>
                </a:solidFill>
                <a:ea typeface="+mj-ea"/>
                <a:cs typeface="+mj-cs"/>
              </a:rPr>
              <a:t>www.communityinclusion.org</a:t>
            </a:r>
            <a:b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</a:br>
            <a:b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</a:br>
            <a:br>
              <a:rPr lang="en-US" sz="1200" cap="none" dirty="0">
                <a:solidFill>
                  <a:schemeClr val="tx1"/>
                </a:solidFill>
                <a:ea typeface="+mj-ea"/>
                <a:cs typeface="+mj-cs"/>
              </a:rPr>
            </a:br>
            <a: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  <a:t>	</a:t>
            </a:r>
            <a:endParaRPr lang="en-US" cap="none" dirty="0">
              <a:ea typeface="+mj-ea"/>
              <a:cs typeface="+mj-cs"/>
            </a:endParaRPr>
          </a:p>
        </p:txBody>
      </p:sp>
      <p:sp>
        <p:nvSpPr>
          <p:cNvPr id="15363" name="Slide Number Placeholder 1">
            <a:extLst>
              <a:ext uri="{FF2B5EF4-FFF2-40B4-BE49-F238E27FC236}">
                <a16:creationId xmlns:a16="http://schemas.microsoft.com/office/drawing/2014/main" id="{29AF6206-E8DA-FA4D-BAFF-B82E1BBE5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1pPr>
            <a:lvl2pPr marL="742932" indent="-285744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2pPr>
            <a:lvl3pPr marL="1142971" indent="-228594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3pPr>
            <a:lvl4pPr marL="1600160" indent="-228594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349" indent="-228594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fld id="{D13CD3AA-43CE-6C47-8EC8-265ED149D4D2}" type="slidenum">
              <a:rPr lang="en-US" altLang="en-US" sz="1400">
                <a:solidFill>
                  <a:srgbClr val="FFFFFF"/>
                </a:solidFill>
              </a:rPr>
              <a:pPr/>
              <a:t>1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pic>
        <p:nvPicPr>
          <p:cNvPr id="15364" name="Picture 2" descr="Logo of Institute for Community Inclusiong - Employment, Education, Community Life, Health Care&#10;Text: Institute for Community Inclusion, Promoting the Inclusion of People with Disabilities&#10;University of Massachusetts Boston - Boston Children's Hospital">
            <a:extLst>
              <a:ext uri="{FF2B5EF4-FFF2-40B4-BE49-F238E27FC236}">
                <a16:creationId xmlns:a16="http://schemas.microsoft.com/office/drawing/2014/main" id="{128EB381-3A76-7345-A88A-AD849C71D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5638800"/>
            <a:ext cx="3727451" cy="933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CA4083-8BC0-9945-AB3D-9B9B9A717091}"/>
              </a:ext>
            </a:extLst>
          </p:cNvPr>
          <p:cNvSpPr txBox="1"/>
          <p:nvPr/>
        </p:nvSpPr>
        <p:spPr>
          <a:xfrm>
            <a:off x="304800" y="609600"/>
            <a:ext cx="853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Employer Engagement</a:t>
            </a:r>
            <a:br>
              <a:rPr lang="en-US" sz="4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</a:br>
            <a:r>
              <a:rPr lang="en-US" sz="4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During Challenging Times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67D0AA-64DE-8644-B4B3-71FB75E81F03}"/>
              </a:ext>
            </a:extLst>
          </p:cNvPr>
          <p:cNvSpPr txBox="1"/>
          <p:nvPr/>
        </p:nvSpPr>
        <p:spPr>
          <a:xfrm>
            <a:off x="2667000" y="2667000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Part 1</a:t>
            </a:r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6D3F2556-2AF0-244B-B8C7-2F6EB47F6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893" y="3735120"/>
            <a:ext cx="1270000" cy="12700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5E147-D963-704A-B26B-46DAB6A82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Webinar 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C6B72-BC8F-674C-8D07-8570A4235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166" y="1600200"/>
            <a:ext cx="8229600" cy="4876800"/>
          </a:xfrm>
        </p:spPr>
        <p:txBody>
          <a:bodyPr/>
          <a:lstStyle/>
          <a:p>
            <a:pPr>
              <a:spcBef>
                <a:spcPts val="1176"/>
              </a:spcBef>
            </a:pPr>
            <a:r>
              <a:rPr lang="en-US" dirty="0"/>
              <a:t>Please mute if not speaking</a:t>
            </a:r>
          </a:p>
          <a:p>
            <a:pPr>
              <a:spcBef>
                <a:spcPts val="1776"/>
              </a:spcBef>
            </a:pPr>
            <a:r>
              <a:rPr lang="en-US" dirty="0"/>
              <a:t>Post questions and comments in the chat</a:t>
            </a:r>
          </a:p>
          <a:p>
            <a:pPr>
              <a:spcBef>
                <a:spcPts val="1776"/>
              </a:spcBef>
            </a:pPr>
            <a:r>
              <a:rPr lang="en-US" dirty="0"/>
              <a:t>Raise your hand in the participant area to ask questions and share comments verbally</a:t>
            </a:r>
          </a:p>
          <a:p>
            <a:pPr>
              <a:spcBef>
                <a:spcPts val="1776"/>
              </a:spcBef>
            </a:pPr>
            <a:r>
              <a:rPr lang="en-US" dirty="0"/>
              <a:t>Webinar is being recorded</a:t>
            </a:r>
          </a:p>
          <a:p>
            <a:pPr>
              <a:spcBef>
                <a:spcPts val="1776"/>
              </a:spcBef>
            </a:pPr>
            <a:r>
              <a:rPr lang="en-US" dirty="0"/>
              <a:t>Closed captioning can be activated </a:t>
            </a:r>
            <a:br>
              <a:rPr lang="en-US" dirty="0"/>
            </a:br>
            <a:r>
              <a:rPr lang="en-US" dirty="0"/>
              <a:t>via closed captioning button on screen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DB516-3F83-DE48-BF59-BFA0C26EE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D56A64-BD9D-0D40-AC89-8FF66B1CF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382178"/>
            <a:ext cx="2061972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08076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D70F1-5EF0-F349-97D8-6B7B093D5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47700"/>
            <a:ext cx="2438400" cy="990600"/>
          </a:xfrm>
          <a:effectLst>
            <a:glow rad="139700">
              <a:schemeClr val="accent6">
                <a:satMod val="175000"/>
                <a:alpha val="40000"/>
              </a:schemeClr>
            </a:glow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 prst="angle"/>
            <a:contourClr>
              <a:schemeClr val="accent6">
                <a:shade val="30000"/>
                <a:satMod val="130000"/>
              </a:schemeClr>
            </a:contourClr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cap="small" dirty="0"/>
              <a:t>Handout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C2DFD-72A2-4E4E-B1D0-9AEF6B199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590800"/>
            <a:ext cx="4495800" cy="4876800"/>
          </a:xfrm>
        </p:spPr>
        <p:txBody>
          <a:bodyPr/>
          <a:lstStyle/>
          <a:p>
            <a:r>
              <a:rPr lang="en-US" dirty="0"/>
              <a:t>Employer Engagement Publication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460B5-D79A-0641-92BC-19F3ABB74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pic>
        <p:nvPicPr>
          <p:cNvPr id="8" name="Picture 7" descr="Picture of publication: Tools for Inclusion: Employer Engagement and Job Development During Challenging Times">
            <a:extLst>
              <a:ext uri="{FF2B5EF4-FFF2-40B4-BE49-F238E27FC236}">
                <a16:creationId xmlns:a16="http://schemas.microsoft.com/office/drawing/2014/main" id="{521ED38C-2423-1742-B997-6E5140A93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43002"/>
            <a:ext cx="3886200" cy="50291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2032010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558B0-185F-A440-B8A6-7590D2F18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68580" tIns="34291" rIns="68580" bIns="34291" rtlCol="0" anchor="t">
            <a:normAutofit/>
          </a:bodyPr>
          <a:lstStyle/>
          <a:p>
            <a:r>
              <a:rPr lang="en-US" sz="3200" b="1" i="1" dirty="0"/>
              <a:t>ICI COVID-19 Resource Page</a:t>
            </a:r>
            <a:br>
              <a:rPr lang="en-US" sz="3200" b="1" i="1" dirty="0"/>
            </a:br>
            <a:r>
              <a:rPr lang="en-US" sz="2400" dirty="0"/>
              <a:t>https://covid19.communityinclusion.org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63317-A0EB-2A46-8D06-809A2DC9D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057400"/>
            <a:ext cx="4038600" cy="4876800"/>
          </a:xfrm>
        </p:spPr>
        <p:txBody>
          <a:bodyPr/>
          <a:lstStyle/>
          <a:p>
            <a:r>
              <a:rPr lang="en-US" sz="2600" b="1" dirty="0"/>
              <a:t>24 publications</a:t>
            </a:r>
          </a:p>
          <a:p>
            <a:r>
              <a:rPr lang="en-US" sz="2600" b="1" dirty="0"/>
              <a:t>Resource listings</a:t>
            </a:r>
          </a:p>
        </p:txBody>
      </p:sp>
      <p:pic>
        <p:nvPicPr>
          <p:cNvPr id="5" name="Picture 4" descr="Picture of Insttitute for Community Inclusion website page on COVID-19">
            <a:extLst>
              <a:ext uri="{FF2B5EF4-FFF2-40B4-BE49-F238E27FC236}">
                <a16:creationId xmlns:a16="http://schemas.microsoft.com/office/drawing/2014/main" id="{6059895D-849D-5E4E-9E3F-7F5B3CE314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079" t="2300" r="30512" b="6466"/>
          <a:stretch/>
        </p:blipFill>
        <p:spPr>
          <a:xfrm>
            <a:off x="4495802" y="1981200"/>
            <a:ext cx="4371311" cy="37760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781110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225" y="963420"/>
            <a:ext cx="4659329" cy="4212404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dirty="0"/>
              <a:t>“If you’re always trying to be normal, you’ll never know how amazing</a:t>
            </a:r>
            <a:br>
              <a:rPr lang="en-US" dirty="0"/>
            </a:br>
            <a:r>
              <a:rPr lang="en-US" dirty="0"/>
              <a:t>you’ll be.”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0518C9-3CC7-7448-AD05-3CB269384775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280666" y="5371360"/>
            <a:ext cx="3548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dirty="0"/>
              <a:t>Maya Angelou</a:t>
            </a:r>
            <a:endParaRPr lang="en-US" sz="2800" i="1" dirty="0"/>
          </a:p>
        </p:txBody>
      </p:sp>
      <p:pic>
        <p:nvPicPr>
          <p:cNvPr id="9" name="Picture 8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84C724F0-C392-2F4C-9006-AA9D7B71A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504" y="3916102"/>
            <a:ext cx="3548189" cy="23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52969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8B7E0-EECA-B948-BA1F-6846ED754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0" y="3436088"/>
            <a:ext cx="4796171" cy="2438400"/>
          </a:xfrm>
        </p:spPr>
        <p:txBody>
          <a:bodyPr/>
          <a:lstStyle/>
          <a:p>
            <a:pPr marL="457189" indent="-457189">
              <a:buFont typeface="+mj-lt"/>
              <a:buAutoNum type="arabicPeriod"/>
            </a:pPr>
            <a:r>
              <a:rPr lang="en-US" sz="2800" dirty="0"/>
              <a:t>Hiring trends</a:t>
            </a:r>
            <a:br>
              <a:rPr lang="en-US" sz="2800" dirty="0"/>
            </a:br>
            <a:endParaRPr lang="en-US" sz="2800" dirty="0"/>
          </a:p>
          <a:p>
            <a:pPr marL="457189" indent="-457189">
              <a:buFont typeface="+mj-lt"/>
              <a:buAutoNum type="arabicPeriod"/>
            </a:pPr>
            <a:r>
              <a:rPr lang="en-US" sz="2800" dirty="0"/>
              <a:t>Types of jobs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1C831-3D14-F545-AD38-8A59DC744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9" name="Picture 8" descr="Sign with a check mark and words &quot;Time for a poll&quot;">
            <a:extLst>
              <a:ext uri="{FF2B5EF4-FFF2-40B4-BE49-F238E27FC236}">
                <a16:creationId xmlns:a16="http://schemas.microsoft.com/office/drawing/2014/main" id="{D8E0ED8D-91CE-EA4D-A692-2D4A32A4E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" y="365384"/>
            <a:ext cx="3040663" cy="4054216"/>
          </a:xfrm>
          <a:prstGeom prst="rect">
            <a:avLst/>
          </a:prstGeom>
        </p:spPr>
      </p:pic>
      <p:sp>
        <p:nvSpPr>
          <p:cNvPr id="10" name="Down Arrow Callout 9">
            <a:extLst>
              <a:ext uri="{FF2B5EF4-FFF2-40B4-BE49-F238E27FC236}">
                <a16:creationId xmlns:a16="http://schemas.microsoft.com/office/drawing/2014/main" id="{97102512-E4F0-6C43-86D6-B5885CB100D0}"/>
              </a:ext>
            </a:extLst>
          </p:cNvPr>
          <p:cNvSpPr/>
          <p:nvPr/>
        </p:nvSpPr>
        <p:spPr>
          <a:xfrm>
            <a:off x="4157331" y="735975"/>
            <a:ext cx="3429000" cy="2438400"/>
          </a:xfrm>
          <a:prstGeom prst="downArrowCallou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cap="small" dirty="0"/>
              <a:t>Two Questions</a:t>
            </a:r>
          </a:p>
        </p:txBody>
      </p:sp>
    </p:spTree>
    <p:extLst>
      <p:ext uri="{BB962C8B-B14F-4D97-AF65-F5344CB8AC3E}">
        <p14:creationId xmlns:p14="http://schemas.microsoft.com/office/powerpoint/2010/main" val="2469810997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84538-DCD8-5E4D-BBE7-CDADD9E72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4622800"/>
            <a:ext cx="2743200" cy="1524000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sz="2800" dirty="0">
                <a:latin typeface="Arial Rounded MT Bold" panose="020F0704030504030204" pitchFamily="34" charset="77"/>
              </a:rPr>
              <a:t>Increased unemployment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ACF10-86A9-7347-A595-19797684F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6" name="Picture 5" descr="Plus sign">
            <a:extLst>
              <a:ext uri="{FF2B5EF4-FFF2-40B4-BE49-F238E27FC236}">
                <a16:creationId xmlns:a16="http://schemas.microsoft.com/office/drawing/2014/main" id="{F70D7158-F695-5B4A-8589-530C9258D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4826000"/>
            <a:ext cx="1397000" cy="1397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6637C02-D507-924E-A8D2-87125173DA67}"/>
              </a:ext>
            </a:extLst>
          </p:cNvPr>
          <p:cNvSpPr txBox="1">
            <a:spLocks/>
          </p:cNvSpPr>
          <p:nvPr/>
        </p:nvSpPr>
        <p:spPr>
          <a:xfrm>
            <a:off x="5791200" y="4729127"/>
            <a:ext cx="2971800" cy="14478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 spc="-1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chemeClr val="tx1"/>
                </a:solidFill>
              </a:rPr>
              <a:t>Inability to meet with employers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in person</a:t>
            </a:r>
          </a:p>
        </p:txBody>
      </p:sp>
      <p:pic>
        <p:nvPicPr>
          <p:cNvPr id="10" name="Picture 9" descr="A picture looking over a canyon with words Dual Challenges">
            <a:extLst>
              <a:ext uri="{FF2B5EF4-FFF2-40B4-BE49-F238E27FC236}">
                <a16:creationId xmlns:a16="http://schemas.microsoft.com/office/drawing/2014/main" id="{2A02855A-7C5C-654D-BC5B-57106D9D5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65" y="590551"/>
            <a:ext cx="5988435" cy="33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566756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FB6DB-78A1-1E40-81F5-6C5FB531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527F349-BE3A-9949-A66F-0014F81F0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42302"/>
            <a:ext cx="4876800" cy="587063"/>
          </a:xfrm>
          <a:solidFill>
            <a:schemeClr val="bg1">
              <a:lumMod val="75000"/>
            </a:schemeClr>
          </a:solidFill>
          <a:effectLst>
            <a:glow rad="1397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 fontScale="90000"/>
          </a:bodyPr>
          <a:lstStyle/>
          <a:p>
            <a:pPr algn="ctr"/>
            <a:r>
              <a:rPr lang="en-US" sz="2800" b="1" i="1" dirty="0">
                <a:solidFill>
                  <a:srgbClr val="002060"/>
                </a:solidFill>
              </a:rPr>
              <a:t>We Need to Stick to Our Values</a:t>
            </a:r>
          </a:p>
        </p:txBody>
      </p:sp>
      <p:pic>
        <p:nvPicPr>
          <p:cNvPr id="11" name="Picture 10" descr="Person pointing to a chalkboard">
            <a:extLst>
              <a:ext uri="{FF2B5EF4-FFF2-40B4-BE49-F238E27FC236}">
                <a16:creationId xmlns:a16="http://schemas.microsoft.com/office/drawing/2014/main" id="{E723EE42-D51A-864D-B958-CDAE891C1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1640017"/>
            <a:ext cx="6934200" cy="52179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0B5667-2D25-3042-879F-88DB6FFA131B}"/>
              </a:ext>
            </a:extLst>
          </p:cNvPr>
          <p:cNvSpPr txBox="1"/>
          <p:nvPr/>
        </p:nvSpPr>
        <p:spPr>
          <a:xfrm>
            <a:off x="5448300" y="2209800"/>
            <a:ext cx="24906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halkboard" panose="03050602040202020205" pitchFamily="66" charset="77"/>
              </a:rPr>
              <a:t>People with disabilities</a:t>
            </a:r>
            <a:br>
              <a:rPr lang="en-US" dirty="0">
                <a:solidFill>
                  <a:schemeClr val="bg1"/>
                </a:solidFill>
                <a:latin typeface="Chalkboard" panose="03050602040202020205" pitchFamily="66" charset="77"/>
              </a:rPr>
            </a:br>
            <a:r>
              <a:rPr lang="en-US" dirty="0">
                <a:solidFill>
                  <a:srgbClr val="FFFF00"/>
                </a:solidFill>
                <a:latin typeface="Chalkboard" panose="03050602040202020205" pitchFamily="66" charset="77"/>
              </a:rPr>
              <a:t>can and must </a:t>
            </a:r>
            <a:r>
              <a:rPr lang="en-US" dirty="0">
                <a:solidFill>
                  <a:schemeClr val="bg1"/>
                </a:solidFill>
                <a:latin typeface="Chalkboard" panose="03050602040202020205" pitchFamily="66" charset="77"/>
              </a:rPr>
              <a:t>compete for available job openings!</a:t>
            </a:r>
          </a:p>
        </p:txBody>
      </p:sp>
    </p:spTree>
    <p:extLst>
      <p:ext uri="{BB962C8B-B14F-4D97-AF65-F5344CB8AC3E}">
        <p14:creationId xmlns:p14="http://schemas.microsoft.com/office/powerpoint/2010/main" val="349280733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3C754-826B-3348-95BB-AD190E720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0"/>
            <a:ext cx="8686800" cy="3200400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/>
              <a:t>It’s not about doing things</a:t>
            </a:r>
            <a:br>
              <a:rPr lang="en-US" dirty="0"/>
            </a:br>
            <a:r>
              <a:rPr lang="en-US" b="1" i="1" dirty="0"/>
              <a:t>differently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It’s about doing things</a:t>
            </a:r>
            <a:br>
              <a:rPr lang="en-US" dirty="0"/>
            </a:br>
            <a:r>
              <a:rPr lang="en-US" b="1" i="1" dirty="0"/>
              <a:t>better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3DCFA-3B6F-4646-82E3-A444D9E1A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488033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0B363-EE8E-6041-B57D-13A155AD0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20995"/>
            <a:ext cx="5080000" cy="9906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i="1" cap="small" dirty="0"/>
              <a:t>The Starting Point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6BF53-BA24-7D48-9065-F5C50AF13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6" name="Picture 5" descr="Man with tie on in starting block for running.">
            <a:extLst>
              <a:ext uri="{FF2B5EF4-FFF2-40B4-BE49-F238E27FC236}">
                <a16:creationId xmlns:a16="http://schemas.microsoft.com/office/drawing/2014/main" id="{0521F74D-B895-A149-BEB5-C78C3C05C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6200" y="1892005"/>
            <a:ext cx="5080000" cy="4445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4AA044A-A75B-814E-AB4C-A17F984C38BD}"/>
              </a:ext>
            </a:extLst>
          </p:cNvPr>
          <p:cNvSpPr/>
          <p:nvPr/>
        </p:nvSpPr>
        <p:spPr>
          <a:xfrm>
            <a:off x="4419601" y="3048001"/>
            <a:ext cx="4474302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Maximize</a:t>
            </a:r>
            <a:br>
              <a:rPr 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1187189771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5D942-2359-4346-B56E-8A6541A77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79561"/>
            <a:ext cx="4800600" cy="1447800"/>
          </a:xfrm>
          <a:effectLst/>
        </p:spPr>
        <p:txBody>
          <a:bodyPr>
            <a:normAutofit/>
          </a:bodyPr>
          <a:lstStyle/>
          <a:p>
            <a:pPr marL="914377" indent="-914377" algn="ctr">
              <a:buFont typeface="+mj-lt"/>
              <a:buAutoNum type="arabicPeriod"/>
            </a:pPr>
            <a:r>
              <a:rPr lang="en-US" sz="4800" b="1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Networking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F25FE-CDC1-6C47-97DB-00DC8C1C2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6" name="Picture 5" descr="Person with a marker drawing people in a personal network">
            <a:extLst>
              <a:ext uri="{FF2B5EF4-FFF2-40B4-BE49-F238E27FC236}">
                <a16:creationId xmlns:a16="http://schemas.microsoft.com/office/drawing/2014/main" id="{C4240520-BEF6-E947-AEBA-36910263B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438400"/>
            <a:ext cx="5208181" cy="390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792288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838" y="821861"/>
            <a:ext cx="3928533" cy="762000"/>
          </a:xfrm>
          <a:solidFill>
            <a:srgbClr val="008000"/>
          </a:solidFill>
          <a:scene3d>
            <a:camera prst="isometricOffAxis1Righ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 algn="ctr">
              <a:spcBef>
                <a:spcPts val="1200"/>
              </a:spcBef>
              <a:defRPr/>
            </a:pPr>
            <a:r>
              <a:rPr lang="en-US" sz="3600" dirty="0">
                <a:solidFill>
                  <a:srgbClr val="FFFF00"/>
                </a:solidFill>
              </a:rPr>
              <a:t>More Networking</a:t>
            </a:r>
          </a:p>
        </p:txBody>
      </p:sp>
      <p:pic>
        <p:nvPicPr>
          <p:cNvPr id="50181" name="Picture 3" descr="Picture of personal network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95897"/>
            <a:ext cx="3248851" cy="2175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324264" y="4267200"/>
            <a:ext cx="4051680" cy="990600"/>
          </a:xfrm>
          <a:prstGeom prst="rect">
            <a:avLst/>
          </a:prstGeom>
          <a:solidFill>
            <a:srgbClr val="FF0000"/>
          </a:solidFill>
          <a:ln w="19050" cmpd="sng">
            <a:solidFill>
              <a:srgbClr val="000000"/>
            </a:solidFill>
            <a:miter lim="800000"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  <a:sp3d>
            <a:bevelT w="139700" h="139700" prst="divot"/>
          </a:sp3d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 i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mbria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 i="1">
                <a:solidFill>
                  <a:schemeClr val="bg1"/>
                </a:solidFill>
                <a:latin typeface="Cambria" charset="0"/>
                <a:ea typeface="Osaka" charset="0"/>
                <a:cs typeface="Osaka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 i="1">
                <a:solidFill>
                  <a:schemeClr val="bg1"/>
                </a:solidFill>
                <a:latin typeface="Cambria" charset="0"/>
                <a:ea typeface="Osaka" charset="0"/>
                <a:cs typeface="Osaka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 i="1">
                <a:solidFill>
                  <a:schemeClr val="bg1"/>
                </a:solidFill>
                <a:latin typeface="Cambria" charset="0"/>
                <a:ea typeface="Osaka" charset="0"/>
                <a:cs typeface="Osaka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 i="1">
                <a:solidFill>
                  <a:schemeClr val="bg1"/>
                </a:solidFill>
                <a:latin typeface="Cambria" charset="0"/>
                <a:ea typeface="Osaka" charset="0"/>
                <a:cs typeface="Osaka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charset="0"/>
                <a:cs typeface="Osaka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charset="0"/>
                <a:cs typeface="Osaka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charset="0"/>
                <a:cs typeface="Osaka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charset="0"/>
                <a:cs typeface="Osaka" charset="0"/>
              </a:defRPr>
            </a:lvl9pPr>
          </a:lstStyle>
          <a:p>
            <a:pPr>
              <a:spcBef>
                <a:spcPts val="1200"/>
              </a:spcBef>
              <a:defRPr/>
            </a:pPr>
            <a:r>
              <a:rPr lang="en-US" sz="3600" i="0" dirty="0">
                <a:latin typeface="Futura Condensed Medium"/>
              </a:rPr>
              <a:t>Less Cold Calling </a:t>
            </a:r>
            <a:r>
              <a:rPr lang="en-US" sz="3600" dirty="0">
                <a:latin typeface="Futura Condensed Medium"/>
              </a:rPr>
              <a:t>      </a:t>
            </a:r>
            <a:endParaRPr lang="en-US" sz="3600" dirty="0">
              <a:solidFill>
                <a:srgbClr val="FFFF00"/>
              </a:solidFill>
              <a:latin typeface="Futura Condensed Medium"/>
            </a:endParaRPr>
          </a:p>
        </p:txBody>
      </p:sp>
      <p:pic>
        <p:nvPicPr>
          <p:cNvPr id="6" name="Picture 5" descr="Picture of ice cube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256" y="4876800"/>
            <a:ext cx="1981202" cy="1570720"/>
          </a:xfrm>
          <a:prstGeom prst="rect">
            <a:avLst/>
          </a:prstGeom>
        </p:spPr>
      </p:pic>
      <p:pic>
        <p:nvPicPr>
          <p:cNvPr id="7" name="Picture 6" descr="Drawing of person with phone shouting at them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4876800"/>
            <a:ext cx="1295400" cy="149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09735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0"/>
            <a:ext cx="4724400" cy="1524000"/>
          </a:xfrm>
          <a:scene3d>
            <a:camera prst="isometricOffAxis1Right"/>
            <a:lightRig rig="balanced" dir="t">
              <a:rot lat="0" lon="0" rev="5100000"/>
            </a:lightRig>
          </a:scene3d>
          <a:sp3d contourW="6350">
            <a:bevelT w="29210" h="12700" prst="angle"/>
            <a:contourClr>
              <a:schemeClr val="accent1">
                <a:shade val="30000"/>
                <a:satMod val="130000"/>
              </a:schemeClr>
            </a:contourClr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cap="small" dirty="0"/>
              <a:t>What Job Development Is </a:t>
            </a:r>
            <a:r>
              <a:rPr lang="en-US" b="1" cap="small" dirty="0"/>
              <a:t>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838450"/>
            <a:ext cx="6307137" cy="2819400"/>
          </a:xfrm>
        </p:spPr>
        <p:txBody>
          <a:bodyPr/>
          <a:lstStyle/>
          <a:p>
            <a:pPr>
              <a:defRPr/>
            </a:pPr>
            <a:r>
              <a:rPr lang="en-US" dirty="0"/>
              <a:t>Filling out job applications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Searching for jobs on the internet</a:t>
            </a:r>
          </a:p>
        </p:txBody>
      </p:sp>
      <p:pic>
        <p:nvPicPr>
          <p:cNvPr id="5" name="Picture 4" descr="Picture of job application being filled out.">
            <a:extLst>
              <a:ext uri="{FF2B5EF4-FFF2-40B4-BE49-F238E27FC236}">
                <a16:creationId xmlns:a16="http://schemas.microsoft.com/office/drawing/2014/main" id="{E92049CB-D7BE-5C45-83A0-BE184794E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876800" y="2329190"/>
            <a:ext cx="2286000" cy="15230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742B23-D3BB-4D49-964C-A25B51B781BB}"/>
              </a:ext>
            </a:extLst>
          </p:cNvPr>
          <p:cNvSpPr txBox="1"/>
          <p:nvPr/>
        </p:nvSpPr>
        <p:spPr>
          <a:xfrm>
            <a:off x="4876800" y="3845914"/>
            <a:ext cx="2372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linkClick r:id="rId3" tooltip="http://www.progressive-charlestown.com/2015/05/aclu-notifies-charlestown-its.html"/>
              </a:rPr>
              <a:t>This Photo</a:t>
            </a:r>
            <a:r>
              <a:rPr lang="en-US" sz="900" dirty="0"/>
              <a:t> by Unknown Author is licensed under </a:t>
            </a:r>
            <a:r>
              <a:rPr lang="en-US" sz="900" dirty="0">
                <a:hlinkClick r:id="rId4" tooltip="https://creativecommons.org/licenses/by-sa/3.0/"/>
              </a:rPr>
              <a:t>CC BY-SA</a:t>
            </a:r>
            <a:endParaRPr lang="en-US" sz="900" dirty="0"/>
          </a:p>
        </p:txBody>
      </p:sp>
      <p:pic>
        <p:nvPicPr>
          <p:cNvPr id="12" name="Picture 11" descr="Person on computer looking for jobs">
            <a:extLst>
              <a:ext uri="{FF2B5EF4-FFF2-40B4-BE49-F238E27FC236}">
                <a16:creationId xmlns:a16="http://schemas.microsoft.com/office/drawing/2014/main" id="{729A7D33-64A8-7C49-84B2-C709FA5AC6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4680451"/>
            <a:ext cx="3022600" cy="169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53814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33EAC-1F08-9A49-9F68-CD47C00D9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71600"/>
            <a:ext cx="87630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Networking is not just about</a:t>
            </a:r>
            <a:br>
              <a:rPr lang="en-US" dirty="0"/>
            </a:br>
            <a:r>
              <a:rPr lang="en-US" dirty="0"/>
              <a:t>identifying contacts.</a:t>
            </a:r>
            <a:br>
              <a:rPr lang="en-US" dirty="0"/>
            </a:br>
            <a:br>
              <a:rPr lang="en-US" dirty="0"/>
            </a:br>
            <a:r>
              <a:rPr lang="en-US" b="1" i="1" dirty="0"/>
              <a:t>It’s about knowing how to</a:t>
            </a:r>
            <a:br>
              <a:rPr lang="en-US" b="1" i="1" dirty="0"/>
            </a:br>
            <a:r>
              <a:rPr lang="en-US" b="1" i="1" dirty="0"/>
              <a:t>engage contacts.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66AB2-D5ED-034D-9CD8-FA9251C57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9E3B217F-85B7-4449-BF4D-C502FBAE8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300" y="3733800"/>
            <a:ext cx="508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93714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2B0E7-8F79-464F-9F6A-030DCF6A3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219200"/>
            <a:ext cx="8229600" cy="990600"/>
          </a:xfrm>
        </p:spPr>
        <p:txBody>
          <a:bodyPr>
            <a:noAutofit/>
          </a:bodyPr>
          <a:lstStyle/>
          <a:p>
            <a:pPr marL="742932" indent="-742932" algn="ctr">
              <a:buFont typeface="+mj-lt"/>
              <a:buAutoNum type="arabicPeriod" startAt="2"/>
            </a:pPr>
            <a:r>
              <a:rPr lang="en-US" sz="4400" b="1" dirty="0"/>
              <a:t>Person-Centered Planning for</a:t>
            </a:r>
            <a:br>
              <a:rPr lang="en-US" sz="4400" b="1" dirty="0"/>
            </a:br>
            <a:r>
              <a:rPr lang="en-US" sz="4400" b="1" dirty="0"/>
              <a:t>Strong Job Matches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07107-01E3-4740-BB87-D179D338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6" name="Picture 5" descr="The word &quot;Job&quot; with a door opening on the letter O">
            <a:extLst>
              <a:ext uri="{FF2B5EF4-FFF2-40B4-BE49-F238E27FC236}">
                <a16:creationId xmlns:a16="http://schemas.microsoft.com/office/drawing/2014/main" id="{FC502B59-B418-664C-947C-1272FC8C5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00" y="3535489"/>
            <a:ext cx="4597400" cy="210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426658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B5674-733D-4942-9E0F-02A853892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990600"/>
          </a:xfrm>
        </p:spPr>
        <p:txBody>
          <a:bodyPr>
            <a:normAutofit fontScale="90000"/>
          </a:bodyPr>
          <a:lstStyle/>
          <a:p>
            <a:pPr marL="742932" indent="-742932">
              <a:buFont typeface="+mj-lt"/>
              <a:buAutoNum type="arabicPeriod" startAt="3"/>
            </a:pPr>
            <a:r>
              <a:rPr lang="en-US" b="1" dirty="0">
                <a:latin typeface="American Typewriter" panose="02090604020004020304" pitchFamily="18" charset="77"/>
              </a:rPr>
              <a:t>Prepared candidates who present well to prospective employers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88828-6FCA-7842-A7C1-64C1937EC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6" name="Picture 5" descr="Computer keyboard with key that says Hire Me">
            <a:extLst>
              <a:ext uri="{FF2B5EF4-FFF2-40B4-BE49-F238E27FC236}">
                <a16:creationId xmlns:a16="http://schemas.microsoft.com/office/drawing/2014/main" id="{3D9FE027-FCC5-BE4D-A48A-20D84DD2F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2" y="2819400"/>
            <a:ext cx="5694663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91363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B43FA-8F5A-484E-BD8D-B97F6F89F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pic>
        <p:nvPicPr>
          <p:cNvPr id="6" name="Picture 5" descr="Computer monitor with picture of person holding a picture that says Video Resume">
            <a:extLst>
              <a:ext uri="{FF2B5EF4-FFF2-40B4-BE49-F238E27FC236}">
                <a16:creationId xmlns:a16="http://schemas.microsoft.com/office/drawing/2014/main" id="{9A8F3757-82E9-F74D-8DE0-CCB90B120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08" y="1524000"/>
            <a:ext cx="4410592" cy="3581400"/>
          </a:xfrm>
          <a:prstGeom prst="rect">
            <a:avLst/>
          </a:prstGeom>
        </p:spPr>
      </p:pic>
      <p:pic>
        <p:nvPicPr>
          <p:cNvPr id="10" name="Picture 9" descr="Male and female construction workers holding sign that says Job Tryouts">
            <a:extLst>
              <a:ext uri="{FF2B5EF4-FFF2-40B4-BE49-F238E27FC236}">
                <a16:creationId xmlns:a16="http://schemas.microsoft.com/office/drawing/2014/main" id="{544C3857-161C-4847-89B7-D3B4962BF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698" y="3740151"/>
            <a:ext cx="3465103" cy="27305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F325A76-2187-6F4B-B21F-F3FF460376E9}"/>
              </a:ext>
            </a:extLst>
          </p:cNvPr>
          <p:cNvSpPr/>
          <p:nvPr/>
        </p:nvSpPr>
        <p:spPr>
          <a:xfrm>
            <a:off x="161408" y="533402"/>
            <a:ext cx="616066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Some suggested strategies…</a:t>
            </a:r>
          </a:p>
        </p:txBody>
      </p:sp>
    </p:spTree>
    <p:extLst>
      <p:ext uri="{BB962C8B-B14F-4D97-AF65-F5344CB8AC3E}">
        <p14:creationId xmlns:p14="http://schemas.microsoft.com/office/powerpoint/2010/main" val="3190985243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29E61-74B3-2B43-AE7E-20D11AED3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16732"/>
            <a:ext cx="5410200" cy="1295400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marL="742932" indent="-742932">
              <a:buFont typeface="+mj-lt"/>
              <a:buAutoNum type="arabicPeriod" startAt="4"/>
            </a:pPr>
            <a:r>
              <a:rPr lang="en-US" dirty="0"/>
              <a:t>Systematic analysis of </a:t>
            </a:r>
            <a:br>
              <a:rPr lang="en-US" dirty="0"/>
            </a:br>
            <a:r>
              <a:rPr lang="en-US" b="1" dirty="0"/>
              <a:t>employer needs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148E1-9081-A140-8773-13756C856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pic>
        <p:nvPicPr>
          <p:cNvPr id="6" name="Picture 5" descr="Clipboard with checlist, and person with a pencil. Text: Business objectives, Good employee, Co-worker supports, Growth areas, Biggest challenges">
            <a:extLst>
              <a:ext uri="{FF2B5EF4-FFF2-40B4-BE49-F238E27FC236}">
                <a16:creationId xmlns:a16="http://schemas.microsoft.com/office/drawing/2014/main" id="{10DD2C1D-4A6A-1444-B46E-6926A3DA2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1981200"/>
            <a:ext cx="5219179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563782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DBAB4-8AE1-BB46-8CDB-8A47D94F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46100"/>
            <a:ext cx="8229600" cy="990600"/>
          </a:xfrm>
        </p:spPr>
        <p:txBody>
          <a:bodyPr/>
          <a:lstStyle/>
          <a:p>
            <a:pPr marL="742932" indent="-742932">
              <a:buFont typeface="+mj-lt"/>
              <a:buAutoNum type="arabicPeriod" startAt="5"/>
            </a:pPr>
            <a:r>
              <a:rPr lang="en-US" dirty="0"/>
              <a:t>Make the case &amp; negotiate…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A1889-B056-7C4E-9565-ACDCFABA2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pic>
        <p:nvPicPr>
          <p:cNvPr id="6" name="Picture 5" descr="Man interviewing woman sitting at a desk">
            <a:extLst>
              <a:ext uri="{FF2B5EF4-FFF2-40B4-BE49-F238E27FC236}">
                <a16:creationId xmlns:a16="http://schemas.microsoft.com/office/drawing/2014/main" id="{74E6CB62-C545-274D-ABE4-48E593F9F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057400"/>
            <a:ext cx="3759200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530286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32B93-5FEA-C640-B719-FCFF26B2E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pic>
        <p:nvPicPr>
          <p:cNvPr id="22" name="Picture 21" descr="Person in a wheelchair at a desk in an office cubicle">
            <a:extLst>
              <a:ext uri="{FF2B5EF4-FFF2-40B4-BE49-F238E27FC236}">
                <a16:creationId xmlns:a16="http://schemas.microsoft.com/office/drawing/2014/main" id="{AFE94824-D804-2C43-A80B-D180FEBC3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780" y="3200401"/>
            <a:ext cx="3528373" cy="2090561"/>
          </a:xfrm>
          <a:prstGeom prst="rect">
            <a:avLst/>
          </a:prstGeom>
        </p:spPr>
      </p:pic>
      <p:pic>
        <p:nvPicPr>
          <p:cNvPr id="24" name="Picture 23" descr="Hand holding a smartphone with words &quot;Assistive Technology&quot; and light bulb">
            <a:extLst>
              <a:ext uri="{FF2B5EF4-FFF2-40B4-BE49-F238E27FC236}">
                <a16:creationId xmlns:a16="http://schemas.microsoft.com/office/drawing/2014/main" id="{91E0646F-4D73-DD4E-AA0A-14FDA091C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78" y="829285"/>
            <a:ext cx="3554213" cy="4094716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811E42B5-E30D-5B47-B12F-AAE982FE4BDB}"/>
              </a:ext>
            </a:extLst>
          </p:cNvPr>
          <p:cNvSpPr/>
          <p:nvPr/>
        </p:nvSpPr>
        <p:spPr>
          <a:xfrm>
            <a:off x="369779" y="638771"/>
            <a:ext cx="1146468" cy="923330"/>
          </a:xfrm>
          <a:prstGeom prst="rect">
            <a:avLst/>
          </a:prstGeom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dirty="0">
                <a:ln/>
                <a:solidFill>
                  <a:schemeClr val="bg1"/>
                </a:solidFill>
              </a:rPr>
              <a:t># 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D207B0-5508-2C45-A9A1-4BF81DE9AA1B}"/>
              </a:ext>
            </a:extLst>
          </p:cNvPr>
          <p:cNvSpPr/>
          <p:nvPr/>
        </p:nvSpPr>
        <p:spPr>
          <a:xfrm>
            <a:off x="211640" y="2491922"/>
            <a:ext cx="426110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Accommodations</a:t>
            </a:r>
          </a:p>
        </p:txBody>
      </p:sp>
    </p:spTree>
    <p:extLst>
      <p:ext uri="{BB962C8B-B14F-4D97-AF65-F5344CB8AC3E}">
        <p14:creationId xmlns:p14="http://schemas.microsoft.com/office/powerpoint/2010/main" val="4157358585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32B93-5FEA-C640-B719-FCFF26B2E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pic>
        <p:nvPicPr>
          <p:cNvPr id="8" name="Picture 7" descr="Logo of JAN: Job Accommodation Network">
            <a:extLst>
              <a:ext uri="{FF2B5EF4-FFF2-40B4-BE49-F238E27FC236}">
                <a16:creationId xmlns:a16="http://schemas.microsoft.com/office/drawing/2014/main" id="{B7106A35-C8CA-4D4A-914B-05731CA77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39" y="1899103"/>
            <a:ext cx="2628900" cy="12309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4F7822-DB31-824B-BD6D-720F9315FA32}"/>
              </a:ext>
            </a:extLst>
          </p:cNvPr>
          <p:cNvSpPr txBox="1"/>
          <p:nvPr/>
        </p:nvSpPr>
        <p:spPr>
          <a:xfrm>
            <a:off x="387196" y="303598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askjan.org</a:t>
            </a:r>
            <a:endParaRPr lang="en-US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11" name="Picture 10" descr="Logo of AT3 Center">
            <a:extLst>
              <a:ext uri="{FF2B5EF4-FFF2-40B4-BE49-F238E27FC236}">
                <a16:creationId xmlns:a16="http://schemas.microsoft.com/office/drawing/2014/main" id="{A4B020C6-2717-474D-B535-5DCC9D08A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3787" y="2612053"/>
            <a:ext cx="1270000" cy="711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7B5203-3130-DB41-93CE-AA5C3E26513C}"/>
              </a:ext>
            </a:extLst>
          </p:cNvPr>
          <p:cNvSpPr txBox="1"/>
          <p:nvPr/>
        </p:nvSpPr>
        <p:spPr>
          <a:xfrm>
            <a:off x="5514787" y="3429000"/>
            <a:ext cx="3048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 Narrow" panose="020B0604020202020204" pitchFamily="34" charset="0"/>
                <a:cs typeface="Arial Narrow" panose="020B0604020202020204" pitchFamily="34" charset="0"/>
              </a:rPr>
              <a:t>National Assistive Technology Act Technical Assistance &amp; Training Center</a:t>
            </a:r>
          </a:p>
          <a:p>
            <a:pPr algn="ctr"/>
            <a:r>
              <a:rPr lang="en-US" sz="2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at3center.net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8F5C91D2-9F34-9442-A581-86737ACC8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370" y="502821"/>
            <a:ext cx="8340424" cy="1219161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Accommodation &amp; Assistive Technology </a:t>
            </a:r>
            <a:r>
              <a:rPr lang="en-US" b="1" i="1" dirty="0"/>
              <a:t>Resources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228FDAA9-4944-284A-89C6-96B1D6EBAB0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2080" b="13131"/>
          <a:stretch/>
        </p:blipFill>
        <p:spPr>
          <a:xfrm>
            <a:off x="2314764" y="4237602"/>
            <a:ext cx="2628899" cy="17032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D0D4B31-8956-D143-8502-6AA051DEBE3E}"/>
              </a:ext>
            </a:extLst>
          </p:cNvPr>
          <p:cNvSpPr/>
          <p:nvPr/>
        </p:nvSpPr>
        <p:spPr>
          <a:xfrm>
            <a:off x="2470947" y="5710026"/>
            <a:ext cx="20521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massmatch.org</a:t>
            </a:r>
            <a:endParaRPr lang="en-US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488886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A4841-9B66-0941-A4D2-7FD950A94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85" y="685801"/>
            <a:ext cx="7371169" cy="967563"/>
          </a:xfr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marL="742932" indent="-742932" algn="ctr">
              <a:buFont typeface="+mj-lt"/>
              <a:buAutoNum type="arabicPeriod" startAt="7"/>
            </a:pPr>
            <a:r>
              <a:rPr lang="en-US" b="1" i="1" cap="small" dirty="0"/>
              <a:t>Use Social Media Effectively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DC34F-BB12-BC47-9469-03DDE0B5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pic>
        <p:nvPicPr>
          <p:cNvPr id="6" name="Picture 5" descr="Person standing on wooden box surronded by social media icons">
            <a:extLst>
              <a:ext uri="{FF2B5EF4-FFF2-40B4-BE49-F238E27FC236}">
                <a16:creationId xmlns:a16="http://schemas.microsoft.com/office/drawing/2014/main" id="{D2C2ACB0-DCDE-AF41-8309-7EA5B3B2B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1" y="2286000"/>
            <a:ext cx="3644900" cy="4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93921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D08E4-8DA2-B445-9E04-F472EB415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93" y="418306"/>
            <a:ext cx="6711508" cy="11818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marL="742932" indent="-742932" algn="ctr">
              <a:buFont typeface="+mj-lt"/>
              <a:buAutoNum type="arabicPeriod" startAt="8"/>
            </a:pPr>
            <a:r>
              <a:rPr lang="en-US" b="1" cap="small" dirty="0"/>
              <a:t>Understand the Job Market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CE3C7-6447-B246-A7D4-1BE0B2827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pic>
        <p:nvPicPr>
          <p:cNvPr id="7" name="Picture 6" descr="Picture of market with people standing in front Sign says &quot;The Job Market&quot; and Who's Hiring and Who's Not&quot;">
            <a:extLst>
              <a:ext uri="{FF2B5EF4-FFF2-40B4-BE49-F238E27FC236}">
                <a16:creationId xmlns:a16="http://schemas.microsoft.com/office/drawing/2014/main" id="{D5471AE3-751C-FA4C-971B-CF179CBAA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16" y="1752600"/>
            <a:ext cx="8813168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617680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3C022-9C59-B74B-BEBA-0C08C23CB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67" y="488305"/>
            <a:ext cx="8229600" cy="990600"/>
          </a:xfrm>
        </p:spPr>
        <p:txBody>
          <a:bodyPr>
            <a:normAutofit fontScale="90000"/>
          </a:bodyPr>
          <a:lstStyle/>
          <a:p>
            <a:pPr marL="742950" indent="-742950">
              <a:buFont typeface="+mj-lt"/>
              <a:buAutoNum type="arabicPeriod" startAt="9"/>
            </a:pPr>
            <a:r>
              <a:rPr lang="en-US" b="1" cap="small" dirty="0"/>
              <a:t>Quality Post Placement Supports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60AA7-13D3-614A-913D-60CF3E5EF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pic>
        <p:nvPicPr>
          <p:cNvPr id="6" name="Picture 5" descr="Job coach showing student with a disability a smartphone">
            <a:extLst>
              <a:ext uri="{FF2B5EF4-FFF2-40B4-BE49-F238E27FC236}">
                <a16:creationId xmlns:a16="http://schemas.microsoft.com/office/drawing/2014/main" id="{022E385F-F253-8E4E-8A2D-4DB187F370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105400" y="3567114"/>
            <a:ext cx="3375165" cy="2247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9882C4-B56C-C347-B540-50697AC6D000}"/>
              </a:ext>
            </a:extLst>
          </p:cNvPr>
          <p:cNvSpPr txBox="1"/>
          <p:nvPr/>
        </p:nvSpPr>
        <p:spPr>
          <a:xfrm>
            <a:off x="5105400" y="5867400"/>
            <a:ext cx="33751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linkClick r:id="rId4" tooltip="https://desbt.qld.gov.au/training/training-careers/support/disability/sds-learners"/>
              </a:rPr>
              <a:t>This Photo</a:t>
            </a:r>
            <a:r>
              <a:rPr lang="en-US" sz="900" dirty="0"/>
              <a:t> by Unknown Author is licensed under </a:t>
            </a:r>
            <a:r>
              <a:rPr lang="en-US" sz="900" dirty="0">
                <a:hlinkClick r:id="rId5" tooltip="https://creativecommons.org/licenses/by/3.0/"/>
              </a:rPr>
              <a:t>CC BY</a:t>
            </a:r>
            <a:endParaRPr lang="en-US" sz="900" dirty="0"/>
          </a:p>
        </p:txBody>
      </p:sp>
      <p:pic>
        <p:nvPicPr>
          <p:cNvPr id="9" name="Picture 8" descr="Male and female machine shop workers; male worker is in wheelchair">
            <a:extLst>
              <a:ext uri="{FF2B5EF4-FFF2-40B4-BE49-F238E27FC236}">
                <a16:creationId xmlns:a16="http://schemas.microsoft.com/office/drawing/2014/main" id="{7F8CB39B-C83A-8447-AEA3-CFEEDDBA59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25302" y="1720496"/>
            <a:ext cx="3820965" cy="25373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11AC3C-8F95-A942-8AD5-74A93877AC15}"/>
              </a:ext>
            </a:extLst>
          </p:cNvPr>
          <p:cNvSpPr txBox="1"/>
          <p:nvPr/>
        </p:nvSpPr>
        <p:spPr>
          <a:xfrm>
            <a:off x="425302" y="4247039"/>
            <a:ext cx="7042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linkClick r:id="rId7" tooltip="https://desbt.qld.gov.au/training/training-careers/support/disability"/>
              </a:rPr>
              <a:t>This Photo</a:t>
            </a:r>
            <a:r>
              <a:rPr lang="en-US" sz="900" dirty="0"/>
              <a:t> by Unknown Author is licensed under </a:t>
            </a:r>
            <a:r>
              <a:rPr lang="en-US" sz="900" dirty="0">
                <a:hlinkClick r:id="rId5" tooltip="https://creativecommons.org/licenses/by/3.0/"/>
              </a:rPr>
              <a:t>CC BY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99036013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FD01-8F5E-2E4D-944E-4AB38BDD0569}" type="slidenum">
              <a:rPr lang="en-US" smtClean="0">
                <a:solidFill>
                  <a:srgbClr val="CEFFB3">
                    <a:shade val="50000"/>
                    <a:satMod val="200000"/>
                  </a:srgbClr>
                </a:solidFill>
                <a:latin typeface="Gill Sans MT"/>
              </a:rPr>
              <a:pPr/>
              <a:t>25</a:t>
            </a:fld>
            <a:endParaRPr lang="en-US">
              <a:solidFill>
                <a:srgbClr val="CEFFB3">
                  <a:shade val="50000"/>
                  <a:satMod val="200000"/>
                </a:srgbClr>
              </a:solidFill>
              <a:latin typeface="Gill Sans MT"/>
            </a:endParaRPr>
          </a:p>
        </p:txBody>
      </p:sp>
      <p:pic>
        <p:nvPicPr>
          <p:cNvPr id="5" name="Picture 4" descr="group_discussion_pc_800_wht_181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528" y="3142315"/>
            <a:ext cx="4105472" cy="2858435"/>
          </a:xfrm>
          <a:prstGeom prst="rect">
            <a:avLst/>
          </a:prstGeom>
        </p:spPr>
      </p:pic>
      <p:pic>
        <p:nvPicPr>
          <p:cNvPr id="6" name="Picture 5" descr="paper_question_mark_1935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201" y="1080087"/>
            <a:ext cx="1976078" cy="1237025"/>
          </a:xfrm>
          <a:prstGeom prst="rect">
            <a:avLst/>
          </a:prstGeom>
        </p:spPr>
      </p:pic>
      <p:pic>
        <p:nvPicPr>
          <p:cNvPr id="11" name="Picture 10" descr="scribbles_pencil_celebration_sign_20166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933" y="912740"/>
            <a:ext cx="2797274" cy="319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322423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31708-1D5F-3A4B-B1B1-D7E3D3541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pic>
        <p:nvPicPr>
          <p:cNvPr id="8" name="Picture 7" descr="Calendar&#10;&#10;Description automatically generated">
            <a:extLst>
              <a:ext uri="{FF2B5EF4-FFF2-40B4-BE49-F238E27FC236}">
                <a16:creationId xmlns:a16="http://schemas.microsoft.com/office/drawing/2014/main" id="{3602D346-E013-594E-822A-8F45E80D0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51" y="574436"/>
            <a:ext cx="8337698" cy="5736336"/>
          </a:xfrm>
          <a:prstGeom prst="rect">
            <a:avLst/>
          </a:prstGeom>
        </p:spPr>
      </p:pic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428C98EF-48B9-094C-9444-A88B20177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800" y="5267544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709362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042A4-C4AB-F746-9EBA-5FBC8A6B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ECC0AD-AF7D-E646-BCAD-02BACB7079E9}"/>
              </a:ext>
            </a:extLst>
          </p:cNvPr>
          <p:cNvSpPr/>
          <p:nvPr/>
        </p:nvSpPr>
        <p:spPr>
          <a:xfrm>
            <a:off x="609600" y="4572000"/>
            <a:ext cx="5715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+mn-lt"/>
              </a:rPr>
              <a:t>David Hoff</a:t>
            </a:r>
            <a:br>
              <a:rPr lang="en-US" sz="2800" b="1" dirty="0">
                <a:latin typeface="+mn-lt"/>
              </a:rPr>
            </a:br>
            <a:r>
              <a:rPr lang="en-US" dirty="0">
                <a:latin typeface="+mn-lt"/>
                <a:hlinkClick r:id="rId2"/>
              </a:rPr>
              <a:t>david.hoff@umb.edu</a:t>
            </a:r>
            <a:r>
              <a:rPr lang="en-US" dirty="0">
                <a:latin typeface="+mn-lt"/>
              </a:rPr>
              <a:t> – 617-480-9230</a:t>
            </a: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299FFB04-F152-CF44-8284-FBC1497E1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5264535"/>
            <a:ext cx="1178442" cy="1125222"/>
          </a:xfrm>
          <a:prstGeom prst="rect">
            <a:avLst/>
          </a:prstGeom>
        </p:spPr>
      </p:pic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110DA123-A6CA-354A-845C-F83150A5A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9600"/>
            <a:ext cx="5080000" cy="3175000"/>
          </a:xfrm>
          <a:prstGeom prst="rect">
            <a:avLst/>
          </a:prstGeom>
        </p:spPr>
      </p:pic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0B9156FF-70DB-BE41-9CEF-E1FD928941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3820405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41526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Clarity">
    <a:dk1>
      <a:srgbClr val="292934"/>
    </a:dk1>
    <a:lt1>
      <a:srgbClr val="FFFFFF"/>
    </a:lt1>
    <a:dk2>
      <a:srgbClr val="D2533C"/>
    </a:dk2>
    <a:lt2>
      <a:srgbClr val="F3F2DC"/>
    </a:lt2>
    <a:accent1>
      <a:srgbClr val="93A299"/>
    </a:accent1>
    <a:accent2>
      <a:srgbClr val="AD8F67"/>
    </a:accent2>
    <a:accent3>
      <a:srgbClr val="726056"/>
    </a:accent3>
    <a:accent4>
      <a:srgbClr val="4C5A6A"/>
    </a:accent4>
    <a:accent5>
      <a:srgbClr val="808DA0"/>
    </a:accent5>
    <a:accent6>
      <a:srgbClr val="79463D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5633</TotalTime>
  <Pages>18</Pages>
  <Words>367</Words>
  <Application>Microsoft Macintosh PowerPoint</Application>
  <PresentationFormat>On-screen Show (4:3)</PresentationFormat>
  <Paragraphs>78</Paragraphs>
  <Slides>27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American Typewriter</vt:lpstr>
      <vt:lpstr>Arial</vt:lpstr>
      <vt:lpstr>Arial Narrow</vt:lpstr>
      <vt:lpstr>Arial Rounded MT Bold</vt:lpstr>
      <vt:lpstr>Book Antiqua</vt:lpstr>
      <vt:lpstr>Chalkboard</vt:lpstr>
      <vt:lpstr>Futura Condensed Medium</vt:lpstr>
      <vt:lpstr>Gill Sans MT</vt:lpstr>
      <vt:lpstr>Wingdings</vt:lpstr>
      <vt:lpstr>Clarity</vt:lpstr>
      <vt:lpstr> David Hoff david.hoff@umb.edu – 617-480-9230  Institute for Community Inclusion University of Massachusetts, Boston www.communityinclusion.org    </vt:lpstr>
      <vt:lpstr>Webinar Logistics</vt:lpstr>
      <vt:lpstr>Handout</vt:lpstr>
      <vt:lpstr>ICI COVID-19 Resource Page https://covid19.communityinclusion.org</vt:lpstr>
      <vt:lpstr>“If you’re always trying to be normal, you’ll never know how amazing you’ll be.”</vt:lpstr>
      <vt:lpstr>PowerPoint Presentation</vt:lpstr>
      <vt:lpstr>Increased unemployment</vt:lpstr>
      <vt:lpstr>We Need to Stick to Our Values</vt:lpstr>
      <vt:lpstr>It’s not about doing things differently.  It’s about doing things better.</vt:lpstr>
      <vt:lpstr>The Starting Point</vt:lpstr>
      <vt:lpstr>Networking</vt:lpstr>
      <vt:lpstr>More Networking</vt:lpstr>
      <vt:lpstr>What Job Development Is Not</vt:lpstr>
      <vt:lpstr>Networking is not just about identifying contacts.  It’s about knowing how to engage contacts.</vt:lpstr>
      <vt:lpstr>Person-Centered Planning for Strong Job Matches</vt:lpstr>
      <vt:lpstr>Prepared candidates who present well to prospective employers</vt:lpstr>
      <vt:lpstr>PowerPoint Presentation</vt:lpstr>
      <vt:lpstr>Systematic analysis of  employer needs</vt:lpstr>
      <vt:lpstr>Make the case &amp; negotiate…</vt:lpstr>
      <vt:lpstr>PowerPoint Presentation</vt:lpstr>
      <vt:lpstr>Accommodation &amp; Assistive Technology Resources</vt:lpstr>
      <vt:lpstr>Use Social Media Effectively</vt:lpstr>
      <vt:lpstr>Understand the Job Market</vt:lpstr>
      <vt:lpstr>Quality Post Placement Supports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AMERICAN’S WITH DISBAILITIES ACT (ADA)</dc:title>
  <dc:subject/>
  <dc:creator>Microsoft Select</dc:creator>
  <cp:keywords/>
  <dc:description/>
  <cp:lastModifiedBy>David Hoff</cp:lastModifiedBy>
  <cp:revision>412</cp:revision>
  <cp:lastPrinted>2019-03-21T02:22:29Z</cp:lastPrinted>
  <dcterms:created xsi:type="dcterms:W3CDTF">2009-01-30T12:45:21Z</dcterms:created>
  <dcterms:modified xsi:type="dcterms:W3CDTF">2020-10-07T16:43:45Z</dcterms:modified>
</cp:coreProperties>
</file>