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3" r:id="rId1"/>
  </p:sldMasterIdLst>
  <p:notesMasterIdLst>
    <p:notesMasterId r:id="rId9"/>
  </p:notesMasterIdLst>
  <p:handoutMasterIdLst>
    <p:handoutMasterId r:id="rId10"/>
  </p:handoutMasterIdLst>
  <p:sldIdLst>
    <p:sldId id="308" r:id="rId2"/>
    <p:sldId id="323" r:id="rId3"/>
    <p:sldId id="320" r:id="rId4"/>
    <p:sldId id="315" r:id="rId5"/>
    <p:sldId id="319" r:id="rId6"/>
    <p:sldId id="324" r:id="rId7"/>
    <p:sldId id="32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ryl Mitchell" initials="CM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5" autoAdjust="0"/>
    <p:restoredTop sz="94703" autoAdjust="0"/>
  </p:normalViewPr>
  <p:slideViewPr>
    <p:cSldViewPr>
      <p:cViewPr varScale="1">
        <p:scale>
          <a:sx n="84" d="100"/>
          <a:sy n="84" d="100"/>
        </p:scale>
        <p:origin x="-112" y="-4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99422-E23B-4215-AB8D-0CE167079406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E2B1492E-3D17-4767-A4AB-9758CBDB175F}">
      <dgm:prSet phldrT="[Text]"/>
      <dgm:spPr/>
      <dgm:t>
        <a:bodyPr/>
        <a:lstStyle/>
        <a:p>
          <a:r>
            <a:rPr lang="en-US" dirty="0" smtClean="0"/>
            <a:t>How do we align policy, practice, and funding?</a:t>
          </a:r>
          <a:endParaRPr lang="en-US" dirty="0"/>
        </a:p>
      </dgm:t>
    </dgm:pt>
    <dgm:pt modelId="{FACD85D4-08C8-4260-BC0E-504E7578E2A1}" type="parTrans" cxnId="{8F5A027B-84A7-4DFC-9997-AA0E5F2DD31A}">
      <dgm:prSet/>
      <dgm:spPr/>
      <dgm:t>
        <a:bodyPr/>
        <a:lstStyle/>
        <a:p>
          <a:endParaRPr lang="en-US"/>
        </a:p>
      </dgm:t>
    </dgm:pt>
    <dgm:pt modelId="{D977F0B9-BD34-417F-ACF9-5BEE313393B1}" type="sibTrans" cxnId="{8F5A027B-84A7-4DFC-9997-AA0E5F2DD31A}">
      <dgm:prSet/>
      <dgm:spPr/>
      <dgm:t>
        <a:bodyPr/>
        <a:lstStyle/>
        <a:p>
          <a:endParaRPr lang="en-US"/>
        </a:p>
      </dgm:t>
    </dgm:pt>
    <dgm:pt modelId="{085A426E-A2FC-4B03-9065-D906E552D971}">
      <dgm:prSet phldrT="[Text]"/>
      <dgm:spPr/>
      <dgm:t>
        <a:bodyPr/>
        <a:lstStyle/>
        <a:p>
          <a:r>
            <a:rPr lang="en-US" dirty="0" smtClean="0"/>
            <a:t>How do we build and sustain capacity of our front-line staff?</a:t>
          </a:r>
          <a:endParaRPr lang="en-US" dirty="0"/>
        </a:p>
      </dgm:t>
    </dgm:pt>
    <dgm:pt modelId="{089E00CB-D21F-42FB-AC2B-C933CB0A8344}" type="parTrans" cxnId="{D2E41A4A-08B5-4564-9256-9E5960AABC3E}">
      <dgm:prSet/>
      <dgm:spPr/>
      <dgm:t>
        <a:bodyPr/>
        <a:lstStyle/>
        <a:p>
          <a:endParaRPr lang="en-US"/>
        </a:p>
      </dgm:t>
    </dgm:pt>
    <dgm:pt modelId="{51A38EB3-BCCC-47CB-B013-DED78C8196CB}" type="sibTrans" cxnId="{D2E41A4A-08B5-4564-9256-9E5960AABC3E}">
      <dgm:prSet/>
      <dgm:spPr/>
      <dgm:t>
        <a:bodyPr/>
        <a:lstStyle/>
        <a:p>
          <a:endParaRPr lang="en-US"/>
        </a:p>
      </dgm:t>
    </dgm:pt>
    <dgm:pt modelId="{7B615D27-7FD6-4553-9206-628705B12085}">
      <dgm:prSet phldrT="[Text]"/>
      <dgm:spPr/>
      <dgm:t>
        <a:bodyPr/>
        <a:lstStyle/>
        <a:p>
          <a:r>
            <a:rPr lang="en-US" dirty="0" smtClean="0"/>
            <a:t>What expectations should we place on providers?</a:t>
          </a:r>
        </a:p>
      </dgm:t>
    </dgm:pt>
    <dgm:pt modelId="{48C0BE3F-1ECB-418C-AB0D-AAC5325013D7}" type="parTrans" cxnId="{3A86BF88-7AA8-49D0-AB67-8FA71CE4D4F0}">
      <dgm:prSet/>
      <dgm:spPr/>
      <dgm:t>
        <a:bodyPr/>
        <a:lstStyle/>
        <a:p>
          <a:endParaRPr lang="en-US"/>
        </a:p>
      </dgm:t>
    </dgm:pt>
    <dgm:pt modelId="{88289A14-4F82-4C08-A59C-567F99D1FE76}" type="sibTrans" cxnId="{3A86BF88-7AA8-49D0-AB67-8FA71CE4D4F0}">
      <dgm:prSet/>
      <dgm:spPr/>
      <dgm:t>
        <a:bodyPr/>
        <a:lstStyle/>
        <a:p>
          <a:endParaRPr lang="en-US"/>
        </a:p>
      </dgm:t>
    </dgm:pt>
    <dgm:pt modelId="{A93C6E92-1A05-4EB5-A986-D6105B44E53F}">
      <dgm:prSet phldrT="[Text]"/>
      <dgm:spPr/>
      <dgm:t>
        <a:bodyPr/>
        <a:lstStyle/>
        <a:p>
          <a:r>
            <a:rPr lang="en-US" dirty="0" smtClean="0"/>
            <a:t>How do we measure our progress?</a:t>
          </a:r>
        </a:p>
      </dgm:t>
    </dgm:pt>
    <dgm:pt modelId="{C2ECDC1E-76C7-4E24-8DE3-B3B3EF7C46C0}" type="parTrans" cxnId="{E2EE6113-47F2-4EDD-BC60-DF1C8FD85189}">
      <dgm:prSet/>
      <dgm:spPr/>
      <dgm:t>
        <a:bodyPr/>
        <a:lstStyle/>
        <a:p>
          <a:endParaRPr lang="en-US"/>
        </a:p>
      </dgm:t>
    </dgm:pt>
    <dgm:pt modelId="{B8BC92A1-87A3-4259-83D4-5E5B41E4C39F}" type="sibTrans" cxnId="{E2EE6113-47F2-4EDD-BC60-DF1C8FD85189}">
      <dgm:prSet/>
      <dgm:spPr/>
      <dgm:t>
        <a:bodyPr/>
        <a:lstStyle/>
        <a:p>
          <a:endParaRPr lang="en-US"/>
        </a:p>
      </dgm:t>
    </dgm:pt>
    <dgm:pt modelId="{2539CE91-241A-4649-8769-57603C5A58B4}" type="pres">
      <dgm:prSet presAssocID="{60299422-E23B-4215-AB8D-0CE167079406}" presName="CompostProcess" presStyleCnt="0">
        <dgm:presLayoutVars>
          <dgm:dir/>
          <dgm:resizeHandles val="exact"/>
        </dgm:presLayoutVars>
      </dgm:prSet>
      <dgm:spPr/>
    </dgm:pt>
    <dgm:pt modelId="{46860451-9407-4A7B-800F-54C33B250203}" type="pres">
      <dgm:prSet presAssocID="{60299422-E23B-4215-AB8D-0CE167079406}" presName="arrow" presStyleLbl="bgShp" presStyleIdx="0" presStyleCnt="1"/>
      <dgm:spPr/>
    </dgm:pt>
    <dgm:pt modelId="{96B19466-8805-4EA7-BB84-210218CDD943}" type="pres">
      <dgm:prSet presAssocID="{60299422-E23B-4215-AB8D-0CE167079406}" presName="linearProcess" presStyleCnt="0"/>
      <dgm:spPr/>
    </dgm:pt>
    <dgm:pt modelId="{4807AF05-C8F1-4E59-A42A-8364CA17968B}" type="pres">
      <dgm:prSet presAssocID="{E2B1492E-3D17-4767-A4AB-9758CBDB175F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36EB79-5C47-4C76-BE4E-7823D0EFDDEB}" type="pres">
      <dgm:prSet presAssocID="{D977F0B9-BD34-417F-ACF9-5BEE313393B1}" presName="sibTrans" presStyleCnt="0"/>
      <dgm:spPr/>
    </dgm:pt>
    <dgm:pt modelId="{5FD6A0A7-7DA8-4979-BF92-0518B44920A8}" type="pres">
      <dgm:prSet presAssocID="{085A426E-A2FC-4B03-9065-D906E552D971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9AE533-E7AC-4C28-91AD-5C322D4A0DA0}" type="pres">
      <dgm:prSet presAssocID="{51A38EB3-BCCC-47CB-B013-DED78C8196CB}" presName="sibTrans" presStyleCnt="0"/>
      <dgm:spPr/>
    </dgm:pt>
    <dgm:pt modelId="{9A67F627-1150-4357-BD14-79CA6617B93D}" type="pres">
      <dgm:prSet presAssocID="{7B615D27-7FD6-4553-9206-628705B12085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97DD98-365E-4C73-ABA5-84F1B0CD99E0}" type="pres">
      <dgm:prSet presAssocID="{88289A14-4F82-4C08-A59C-567F99D1FE76}" presName="sibTrans" presStyleCnt="0"/>
      <dgm:spPr/>
    </dgm:pt>
    <dgm:pt modelId="{78601F83-2170-4AE1-BF9B-FC086340F8A6}" type="pres">
      <dgm:prSet presAssocID="{A93C6E92-1A05-4EB5-A986-D6105B44E53F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5A027B-84A7-4DFC-9997-AA0E5F2DD31A}" srcId="{60299422-E23B-4215-AB8D-0CE167079406}" destId="{E2B1492E-3D17-4767-A4AB-9758CBDB175F}" srcOrd="0" destOrd="0" parTransId="{FACD85D4-08C8-4260-BC0E-504E7578E2A1}" sibTransId="{D977F0B9-BD34-417F-ACF9-5BEE313393B1}"/>
    <dgm:cxn modelId="{566BD6BE-3BE1-4C47-BA82-F0D712DFF4FA}" type="presOf" srcId="{085A426E-A2FC-4B03-9065-D906E552D971}" destId="{5FD6A0A7-7DA8-4979-BF92-0518B44920A8}" srcOrd="0" destOrd="0" presId="urn:microsoft.com/office/officeart/2005/8/layout/hProcess9"/>
    <dgm:cxn modelId="{3A86BF88-7AA8-49D0-AB67-8FA71CE4D4F0}" srcId="{60299422-E23B-4215-AB8D-0CE167079406}" destId="{7B615D27-7FD6-4553-9206-628705B12085}" srcOrd="2" destOrd="0" parTransId="{48C0BE3F-1ECB-418C-AB0D-AAC5325013D7}" sibTransId="{88289A14-4F82-4C08-A59C-567F99D1FE76}"/>
    <dgm:cxn modelId="{1E37C7F6-B60D-9247-9E41-4D90E093AE61}" type="presOf" srcId="{60299422-E23B-4215-AB8D-0CE167079406}" destId="{2539CE91-241A-4649-8769-57603C5A58B4}" srcOrd="0" destOrd="0" presId="urn:microsoft.com/office/officeart/2005/8/layout/hProcess9"/>
    <dgm:cxn modelId="{A326350A-3774-0849-ABF9-73A7ED10717D}" type="presOf" srcId="{7B615D27-7FD6-4553-9206-628705B12085}" destId="{9A67F627-1150-4357-BD14-79CA6617B93D}" srcOrd="0" destOrd="0" presId="urn:microsoft.com/office/officeart/2005/8/layout/hProcess9"/>
    <dgm:cxn modelId="{D2E41A4A-08B5-4564-9256-9E5960AABC3E}" srcId="{60299422-E23B-4215-AB8D-0CE167079406}" destId="{085A426E-A2FC-4B03-9065-D906E552D971}" srcOrd="1" destOrd="0" parTransId="{089E00CB-D21F-42FB-AC2B-C933CB0A8344}" sibTransId="{51A38EB3-BCCC-47CB-B013-DED78C8196CB}"/>
    <dgm:cxn modelId="{9F2B5BF8-4C7D-DF47-987D-4C6AF4CAE544}" type="presOf" srcId="{E2B1492E-3D17-4767-A4AB-9758CBDB175F}" destId="{4807AF05-C8F1-4E59-A42A-8364CA17968B}" srcOrd="0" destOrd="0" presId="urn:microsoft.com/office/officeart/2005/8/layout/hProcess9"/>
    <dgm:cxn modelId="{BAE06C96-12CC-E942-9F0A-BE74119E7265}" type="presOf" srcId="{A93C6E92-1A05-4EB5-A986-D6105B44E53F}" destId="{78601F83-2170-4AE1-BF9B-FC086340F8A6}" srcOrd="0" destOrd="0" presId="urn:microsoft.com/office/officeart/2005/8/layout/hProcess9"/>
    <dgm:cxn modelId="{E2EE6113-47F2-4EDD-BC60-DF1C8FD85189}" srcId="{60299422-E23B-4215-AB8D-0CE167079406}" destId="{A93C6E92-1A05-4EB5-A986-D6105B44E53F}" srcOrd="3" destOrd="0" parTransId="{C2ECDC1E-76C7-4E24-8DE3-B3B3EF7C46C0}" sibTransId="{B8BC92A1-87A3-4259-83D4-5E5B41E4C39F}"/>
    <dgm:cxn modelId="{46257A5C-7395-2247-9D10-C144DB62F29D}" type="presParOf" srcId="{2539CE91-241A-4649-8769-57603C5A58B4}" destId="{46860451-9407-4A7B-800F-54C33B250203}" srcOrd="0" destOrd="0" presId="urn:microsoft.com/office/officeart/2005/8/layout/hProcess9"/>
    <dgm:cxn modelId="{419359AC-182B-704D-BE92-7A233E53F1A6}" type="presParOf" srcId="{2539CE91-241A-4649-8769-57603C5A58B4}" destId="{96B19466-8805-4EA7-BB84-210218CDD943}" srcOrd="1" destOrd="0" presId="urn:microsoft.com/office/officeart/2005/8/layout/hProcess9"/>
    <dgm:cxn modelId="{31A61239-B39F-DF4A-84F6-0957EBF1E110}" type="presParOf" srcId="{96B19466-8805-4EA7-BB84-210218CDD943}" destId="{4807AF05-C8F1-4E59-A42A-8364CA17968B}" srcOrd="0" destOrd="0" presId="urn:microsoft.com/office/officeart/2005/8/layout/hProcess9"/>
    <dgm:cxn modelId="{487CF7A5-0959-C44C-9766-2A60FE7ED93C}" type="presParOf" srcId="{96B19466-8805-4EA7-BB84-210218CDD943}" destId="{3336EB79-5C47-4C76-BE4E-7823D0EFDDEB}" srcOrd="1" destOrd="0" presId="urn:microsoft.com/office/officeart/2005/8/layout/hProcess9"/>
    <dgm:cxn modelId="{8F985319-72CB-1041-89A4-E8CB6F73F39E}" type="presParOf" srcId="{96B19466-8805-4EA7-BB84-210218CDD943}" destId="{5FD6A0A7-7DA8-4979-BF92-0518B44920A8}" srcOrd="2" destOrd="0" presId="urn:microsoft.com/office/officeart/2005/8/layout/hProcess9"/>
    <dgm:cxn modelId="{AFD0FDBC-B2F4-8740-9BE8-ECF61A8AFBBA}" type="presParOf" srcId="{96B19466-8805-4EA7-BB84-210218CDD943}" destId="{569AE533-E7AC-4C28-91AD-5C322D4A0DA0}" srcOrd="3" destOrd="0" presId="urn:microsoft.com/office/officeart/2005/8/layout/hProcess9"/>
    <dgm:cxn modelId="{7AEFE3D1-F2E2-E140-86BC-A52440330F96}" type="presParOf" srcId="{96B19466-8805-4EA7-BB84-210218CDD943}" destId="{9A67F627-1150-4357-BD14-79CA6617B93D}" srcOrd="4" destOrd="0" presId="urn:microsoft.com/office/officeart/2005/8/layout/hProcess9"/>
    <dgm:cxn modelId="{CD61FBF4-E56A-3540-AEA5-53F2533C84DA}" type="presParOf" srcId="{96B19466-8805-4EA7-BB84-210218CDD943}" destId="{1E97DD98-365E-4C73-ABA5-84F1B0CD99E0}" srcOrd="5" destOrd="0" presId="urn:microsoft.com/office/officeart/2005/8/layout/hProcess9"/>
    <dgm:cxn modelId="{E8EAEB21-6A4A-7A4D-AAD1-A18F5701D753}" type="presParOf" srcId="{96B19466-8805-4EA7-BB84-210218CDD943}" destId="{78601F83-2170-4AE1-BF9B-FC086340F8A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60451-9407-4A7B-800F-54C33B250203}">
      <dsp:nvSpPr>
        <dsp:cNvPr id="0" name=""/>
        <dsp:cNvSpPr/>
      </dsp:nvSpPr>
      <dsp:spPr>
        <a:xfrm>
          <a:off x="582929" y="0"/>
          <a:ext cx="6606540" cy="4114800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7AF05-C8F1-4E59-A42A-8364CA17968B}">
      <dsp:nvSpPr>
        <dsp:cNvPr id="0" name=""/>
        <dsp:cNvSpPr/>
      </dsp:nvSpPr>
      <dsp:spPr>
        <a:xfrm>
          <a:off x="3889" y="1234440"/>
          <a:ext cx="1870992" cy="1645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How do we align policy, practice, and funding?</a:t>
          </a:r>
          <a:endParaRPr lang="en-US" sz="1900" kern="1200" dirty="0"/>
        </a:p>
      </dsp:txBody>
      <dsp:txXfrm>
        <a:off x="84236" y="1314787"/>
        <a:ext cx="1710298" cy="1485226"/>
      </dsp:txXfrm>
    </dsp:sp>
    <dsp:sp modelId="{5FD6A0A7-7DA8-4979-BF92-0518B44920A8}">
      <dsp:nvSpPr>
        <dsp:cNvPr id="0" name=""/>
        <dsp:cNvSpPr/>
      </dsp:nvSpPr>
      <dsp:spPr>
        <a:xfrm>
          <a:off x="1968432" y="1234440"/>
          <a:ext cx="1870992" cy="1645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How do we build and sustain capacity of our front-line staff?</a:t>
          </a:r>
          <a:endParaRPr lang="en-US" sz="1900" kern="1200" dirty="0"/>
        </a:p>
      </dsp:txBody>
      <dsp:txXfrm>
        <a:off x="2048779" y="1314787"/>
        <a:ext cx="1710298" cy="1485226"/>
      </dsp:txXfrm>
    </dsp:sp>
    <dsp:sp modelId="{9A67F627-1150-4357-BD14-79CA6617B93D}">
      <dsp:nvSpPr>
        <dsp:cNvPr id="0" name=""/>
        <dsp:cNvSpPr/>
      </dsp:nvSpPr>
      <dsp:spPr>
        <a:xfrm>
          <a:off x="3932974" y="1234440"/>
          <a:ext cx="1870992" cy="1645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What expectations should we place on providers?</a:t>
          </a:r>
        </a:p>
      </dsp:txBody>
      <dsp:txXfrm>
        <a:off x="4013321" y="1314787"/>
        <a:ext cx="1710298" cy="1485226"/>
      </dsp:txXfrm>
    </dsp:sp>
    <dsp:sp modelId="{78601F83-2170-4AE1-BF9B-FC086340F8A6}">
      <dsp:nvSpPr>
        <dsp:cNvPr id="0" name=""/>
        <dsp:cNvSpPr/>
      </dsp:nvSpPr>
      <dsp:spPr>
        <a:xfrm>
          <a:off x="5897517" y="1234440"/>
          <a:ext cx="1870992" cy="16459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How do we measure our progress?</a:t>
          </a:r>
        </a:p>
      </dsp:txBody>
      <dsp:txXfrm>
        <a:off x="5977864" y="1314787"/>
        <a:ext cx="1710298" cy="1485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C2EE7-7A57-714F-9609-25C4E1494122}" type="datetimeFigureOut">
              <a:rPr lang="en-US" smtClean="0"/>
              <a:t>5/24/16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42697-7CAC-D44B-8890-F6A6BF022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124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858E-FCD8-4ED7-BED2-9A033A14DA47}" type="datetimeFigureOut">
              <a:rPr lang="en-US" smtClean="0"/>
              <a:t>5/24/16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FB66-5F89-47BC-8A1D-BCED48A2E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916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7FB66-5F89-47BC-8A1D-BCED48A2E1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2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7FB66-5F89-47BC-8A1D-BCED48A2E1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7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3F15-FE18-4AB8-8395-7321E2A6A0AC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37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0440-32AE-4233-9171-3414A8C07213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2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640E5-D70F-4286-9F24-A7EEBA876B60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6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1745-D6BE-431F-A637-1FB94B4CF3F6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0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C195-3DA0-49C3-8EF2-C03346A68AC8}" type="datetime1">
              <a:rPr lang="en-US" smtClean="0"/>
              <a:t>5/24/16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7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551BA-2E42-4860-8CDB-F2F99726121D}" type="datetime1">
              <a:rPr lang="en-US" smtClean="0"/>
              <a:t>5/24/16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7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D398-CC7C-4D73-9FEE-D850BED1686C}" type="datetime1">
              <a:rPr lang="en-US" smtClean="0"/>
              <a:t>5/24/16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8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5B3D13C-22A9-46AF-B61B-2811D6FF5F1B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4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FA4D9-A728-4FD2-90F8-6921F714A2D2}" type="datetime1">
              <a:rPr lang="en-US" smtClean="0"/>
              <a:t>5/24/16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4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7EF0E-F500-4A6A-BF18-52FE7344FE31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3AA-3AFE-40D4-B1A6-2B1B41E93BF3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7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EC153D-22DF-4217-B1D8-A8275C46563C}" type="datetime1">
              <a:rPr lang="en-US" smtClean="0"/>
              <a:t>5/24/16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088E80-DDED-4E0A-A7AA-A3FE6FA3F07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4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928" y="1384599"/>
            <a:ext cx="7183419" cy="3581399"/>
          </a:xfrm>
        </p:spPr>
        <p:txBody>
          <a:bodyPr>
            <a:noAutofit/>
          </a:bodyPr>
          <a:lstStyle/>
          <a:p>
            <a:pPr marL="182880" indent="0" algn="ctr">
              <a:buNone/>
            </a:pPr>
            <a:r>
              <a:rPr lang="en-US" sz="3600" b="1" dirty="0" smtClean="0">
                <a:solidFill>
                  <a:schemeClr val="tx1"/>
                </a:solidFill>
              </a:rPr>
              <a:t>Employment First State Leadership Mentoring Project</a:t>
            </a:r>
            <a:br>
              <a:rPr lang="en-US" sz="3600" b="1" dirty="0" smtClean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/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 smtClean="0">
                <a:solidFill>
                  <a:schemeClr val="tx1"/>
                </a:solidFill>
              </a:rPr>
              <a:t>David Hoff</a:t>
            </a:r>
            <a:br>
              <a:rPr lang="en-US" sz="3600" b="1" dirty="0" smtClean="0">
                <a:solidFill>
                  <a:schemeClr val="tx1"/>
                </a:solidFill>
              </a:rPr>
            </a:br>
            <a:r>
              <a:rPr lang="en-US" sz="2400" b="1" dirty="0" smtClean="0">
                <a:solidFill>
                  <a:schemeClr val="tx1"/>
                </a:solidFill>
              </a:rPr>
              <a:t>Institute for Community Inclusion, </a:t>
            </a:r>
            <a:r>
              <a:rPr lang="en-US" sz="2400" b="1" i="1" dirty="0" smtClean="0">
                <a:solidFill>
                  <a:schemeClr val="tx1"/>
                </a:solidFill>
              </a:rPr>
              <a:t>UMass Boston</a:t>
            </a:r>
            <a:br>
              <a:rPr lang="en-US" sz="2400" b="1" i="1" dirty="0" smtClean="0">
                <a:solidFill>
                  <a:schemeClr val="tx1"/>
                </a:solidFill>
              </a:rPr>
            </a:br>
            <a:r>
              <a:rPr lang="en-US" sz="2400" b="1" dirty="0" smtClean="0">
                <a:solidFill>
                  <a:schemeClr val="tx1"/>
                </a:solidFill>
              </a:rPr>
              <a:t/>
            </a:r>
            <a:br>
              <a:rPr lang="en-US" sz="2400" b="1" dirty="0" smtClean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4572000"/>
            <a:ext cx="8915400" cy="1438865"/>
          </a:xfrm>
        </p:spPr>
        <p:txBody>
          <a:bodyPr>
            <a:norm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May 26, 2016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Image represents ODEP's Employment 1st  " title="Employment 1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25" y="457201"/>
            <a:ext cx="1408298" cy="243861"/>
          </a:xfrm>
          <a:prstGeom prst="rect">
            <a:avLst/>
          </a:prstGeom>
        </p:spPr>
      </p:pic>
      <p:pic>
        <p:nvPicPr>
          <p:cNvPr id="6" name="Picture 5" descr="Image represents ODEP's logo" title="ODEP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29861"/>
            <a:ext cx="1444877" cy="536494"/>
          </a:xfrm>
          <a:prstGeom prst="rect">
            <a:avLst/>
          </a:prstGeom>
        </p:spPr>
      </p:pic>
      <p:pic>
        <p:nvPicPr>
          <p:cNvPr id="7" name="Picture 6" descr="Image represents EconSys' logo&#10;" title="EconSys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43796"/>
            <a:ext cx="1627773" cy="518205"/>
          </a:xfrm>
          <a:prstGeom prst="rect">
            <a:avLst/>
          </a:prstGeom>
        </p:spPr>
      </p:pic>
      <p:pic>
        <p:nvPicPr>
          <p:cNvPr id="5" name="Picture 4" descr="ICI UMass Logo" title="ICI UMass Logo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606502"/>
            <a:ext cx="133117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2924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Issue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202266"/>
          </a:xfrm>
        </p:spPr>
        <p:txBody>
          <a:bodyPr>
            <a:noAutofit/>
          </a:bodyPr>
          <a:lstStyle/>
          <a:p>
            <a:r>
              <a:rPr lang="en-US" sz="4400" dirty="0" smtClean="0"/>
              <a:t>Only 42% of adults with disabilities in Colorado between ages 18 and 64 are employed vs. 79% of adults without disabilities</a:t>
            </a:r>
            <a:endParaRPr lang="en-US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3429000" y="57150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 US Census American Community Survey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EFSLMP:  Helping States Ask the Tough Questions in their Systems Reform Efforts</a:t>
            </a:r>
            <a:endParaRPr lang="en-US" sz="4000" dirty="0"/>
          </a:p>
        </p:txBody>
      </p:sp>
      <p:graphicFrame>
        <p:nvGraphicFramePr>
          <p:cNvPr id="4" name="Content Placeholder 3" descr="Question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888490"/>
              </p:ext>
            </p:extLst>
          </p:nvPr>
        </p:nvGraphicFramePr>
        <p:xfrm>
          <a:off x="457200" y="19812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3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ODEP EFLSMP: What is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26466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</a:t>
            </a:r>
            <a:r>
              <a:rPr lang="en-US" sz="2400" dirty="0" smtClean="0"/>
              <a:t>mployment </a:t>
            </a:r>
            <a:r>
              <a:rPr lang="en-US" sz="2400" b="1" dirty="0" smtClean="0"/>
              <a:t>F</a:t>
            </a:r>
            <a:r>
              <a:rPr lang="en-US" sz="2400" dirty="0" smtClean="0"/>
              <a:t>irst </a:t>
            </a:r>
            <a:r>
              <a:rPr lang="en-US" sz="2400" b="1" dirty="0" smtClean="0"/>
              <a:t>S</a:t>
            </a:r>
            <a:r>
              <a:rPr lang="en-US" sz="2400" dirty="0" smtClean="0"/>
              <a:t>tate </a:t>
            </a:r>
            <a:r>
              <a:rPr lang="en-US" sz="2400" b="1" dirty="0" smtClean="0"/>
              <a:t>L</a:t>
            </a:r>
            <a:r>
              <a:rPr lang="en-US" sz="2400" dirty="0" smtClean="0"/>
              <a:t>eadership </a:t>
            </a:r>
            <a:r>
              <a:rPr lang="en-US" sz="2400" b="1" dirty="0" smtClean="0"/>
              <a:t>M</a:t>
            </a:r>
            <a:r>
              <a:rPr lang="en-US" sz="2400" dirty="0" smtClean="0"/>
              <a:t>entoring </a:t>
            </a:r>
            <a:r>
              <a:rPr lang="en-US" sz="2400" b="1" dirty="0" smtClean="0"/>
              <a:t>P</a:t>
            </a:r>
            <a:r>
              <a:rPr lang="en-US" sz="2400" dirty="0" smtClean="0"/>
              <a:t>rogram</a:t>
            </a:r>
          </a:p>
          <a:p>
            <a:r>
              <a:rPr lang="en-US" sz="2400" dirty="0" smtClean="0"/>
              <a:t>Funding by the US Department of Labor </a:t>
            </a:r>
            <a:r>
              <a:rPr lang="en-US" sz="2400" b="1" dirty="0" smtClean="0"/>
              <a:t>O</a:t>
            </a:r>
            <a:r>
              <a:rPr lang="en-US" sz="2400" dirty="0" smtClean="0"/>
              <a:t>ffice of </a:t>
            </a:r>
            <a:r>
              <a:rPr lang="en-US" sz="2400" b="1" dirty="0" smtClean="0"/>
              <a:t>D</a:t>
            </a:r>
            <a:r>
              <a:rPr lang="en-US" sz="2400" dirty="0" smtClean="0"/>
              <a:t>isability </a:t>
            </a:r>
            <a:r>
              <a:rPr lang="en-US" sz="2400" b="1" dirty="0" smtClean="0"/>
              <a:t>E</a:t>
            </a:r>
            <a:r>
              <a:rPr lang="en-US" sz="2400" dirty="0" smtClean="0"/>
              <a:t>mployment </a:t>
            </a:r>
            <a:r>
              <a:rPr lang="en-US" sz="2400" b="1" dirty="0" smtClean="0"/>
              <a:t>P</a:t>
            </a:r>
            <a:r>
              <a:rPr lang="en-US" sz="2400" dirty="0" smtClean="0"/>
              <a:t>olicy </a:t>
            </a:r>
          </a:p>
          <a:p>
            <a:r>
              <a:rPr lang="en-US" sz="2400" dirty="0" smtClean="0"/>
              <a:t>42+ </a:t>
            </a:r>
            <a:r>
              <a:rPr lang="en-US" sz="2400" dirty="0"/>
              <a:t>states participating in FY </a:t>
            </a:r>
            <a:r>
              <a:rPr lang="en-US" sz="2400" dirty="0" smtClean="0"/>
              <a:t>2016</a:t>
            </a:r>
            <a:endParaRPr lang="en-US" sz="2400" dirty="0"/>
          </a:p>
          <a:p>
            <a:r>
              <a:rPr lang="en-US" sz="2400" dirty="0" smtClean="0"/>
              <a:t>FY 2016 kicked off in December 2015 – ends 9/30/16</a:t>
            </a:r>
          </a:p>
          <a:p>
            <a:r>
              <a:rPr lang="en-US" sz="2400" b="1" dirty="0" smtClean="0"/>
              <a:t>Activities: </a:t>
            </a:r>
          </a:p>
          <a:p>
            <a:pPr lvl="1"/>
            <a:r>
              <a:rPr lang="en-US" sz="2200" dirty="0" smtClean="0"/>
              <a:t>Receive intensive TA for Employment First strategic plan development and implementation</a:t>
            </a:r>
          </a:p>
          <a:p>
            <a:pPr lvl="1"/>
            <a:r>
              <a:rPr lang="en-US" sz="2200" dirty="0" smtClean="0"/>
              <a:t>Participate in ongoing Community of Practice with other states</a:t>
            </a:r>
            <a:endParaRPr lang="en-US" sz="2200" dirty="0"/>
          </a:p>
        </p:txBody>
      </p:sp>
      <p:pic>
        <p:nvPicPr>
          <p:cNvPr id="5" name="Picture 4" descr="Image represents ODEP's logo" title="ODE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"/>
            <a:ext cx="1444877" cy="536494"/>
          </a:xfrm>
          <a:prstGeom prst="rect">
            <a:avLst/>
          </a:prstGeom>
        </p:spPr>
      </p:pic>
      <p:pic>
        <p:nvPicPr>
          <p:cNvPr id="6" name="Picture 5" descr="Image represents ODEP's Employment 1st  " title="Employment 1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81000"/>
            <a:ext cx="1408298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8526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5120640" cy="1450757"/>
          </a:xfrm>
        </p:spPr>
        <p:txBody>
          <a:bodyPr/>
          <a:lstStyle/>
          <a:p>
            <a:r>
              <a:rPr lang="en-US" dirty="0" smtClean="0"/>
              <a:t>EFSLMP Colorado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0"/>
            <a:ext cx="8001000" cy="40233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Increase the number of youth/young adults receiving transition services by at least 15</a:t>
            </a:r>
            <a:r>
              <a:rPr lang="en-US" sz="2800" dirty="0" smtClean="0"/>
              <a:t>%, with emphasis on WIOA Pre-Employment Transition Services.  </a:t>
            </a:r>
            <a:r>
              <a:rPr lang="en-US" sz="2800" dirty="0"/>
              <a:t>Target wages in integrated work experiences at or above the state minimum wage</a:t>
            </a:r>
            <a:r>
              <a:rPr lang="en-US" sz="28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Increase the number of employers hiring people with disabilities by at least 10%.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pic>
        <p:nvPicPr>
          <p:cNvPr id="6" name="Picture 5" descr="Map of the state of Colorado." title="Colorado Map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43" y="130537"/>
            <a:ext cx="2030801" cy="15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6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5349240" cy="1450757"/>
          </a:xfrm>
        </p:spPr>
        <p:txBody>
          <a:bodyPr/>
          <a:lstStyle/>
          <a:p>
            <a:r>
              <a:rPr lang="en-US" dirty="0" smtClean="0"/>
              <a:t>EFLSMP Transition Milestones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1.1.  </a:t>
            </a:r>
            <a:r>
              <a:rPr lang="en-US" sz="2400" dirty="0" smtClean="0"/>
              <a:t>SWOT (Strength, Weakness, Opportunity, Threat) </a:t>
            </a:r>
            <a:r>
              <a:rPr lang="en-US" sz="2400" dirty="0"/>
              <a:t>Analysis of </a:t>
            </a:r>
            <a:r>
              <a:rPr lang="en-US" sz="2400" dirty="0" smtClean="0"/>
              <a:t>current transition efforts, including </a:t>
            </a:r>
            <a:r>
              <a:rPr lang="en-US" sz="2400" dirty="0"/>
              <a:t>School to Work Alliance Program (SWAP)</a:t>
            </a:r>
          </a:p>
          <a:p>
            <a:r>
              <a:rPr lang="en-US" sz="2400" dirty="0"/>
              <a:t>1.2.  Develop any policy or program implementation components related to the SWOT analysis.</a:t>
            </a:r>
          </a:p>
          <a:p>
            <a:r>
              <a:rPr lang="en-US" sz="2400" dirty="0"/>
              <a:t>1.3. Implement  SWOT </a:t>
            </a:r>
            <a:r>
              <a:rPr lang="en-US" sz="2400" dirty="0" smtClean="0"/>
              <a:t>improvements leading to sustained competitive integrated employment options for youth with disabilities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2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EFLSMP Vision Quest Activities and Deliverables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7400"/>
            <a:ext cx="7543801" cy="4023360"/>
          </a:xfrm>
        </p:spPr>
        <p:txBody>
          <a:bodyPr>
            <a:normAutofit fontScale="92500"/>
          </a:bodyPr>
          <a:lstStyle/>
          <a:p>
            <a:r>
              <a:rPr lang="en-US" sz="3200" dirty="0" smtClean="0"/>
              <a:t>Twice monthly conference calls with CO team</a:t>
            </a:r>
          </a:p>
          <a:p>
            <a:r>
              <a:rPr lang="en-US" sz="3200" dirty="0" smtClean="0"/>
              <a:t>Technical assistance support</a:t>
            </a:r>
          </a:p>
          <a:p>
            <a:r>
              <a:rPr lang="en-US" sz="3200" dirty="0" smtClean="0"/>
              <a:t>Quarterly calls with other states focused on workforce development</a:t>
            </a:r>
          </a:p>
          <a:p>
            <a:r>
              <a:rPr lang="en-US" sz="3200" dirty="0" smtClean="0"/>
              <a:t>Policy document(s) created and presented to state leadership by end of September 2016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88E80-DDED-4E0A-A7AA-A3FE6FA3F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329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2154</TotalTime>
  <Words>304</Words>
  <Application>Microsoft Macintosh PowerPoint</Application>
  <PresentationFormat>On-screen Show (4:3)</PresentationFormat>
  <Paragraphs>39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Retrospect</vt:lpstr>
      <vt:lpstr>Employment First State Leadership Mentoring Project  David Hoff Institute for Community Inclusion, UMass Boston  </vt:lpstr>
      <vt:lpstr>THE Issue</vt:lpstr>
      <vt:lpstr>EFSLMP:  Helping States Ask the Tough Questions in their Systems Reform Efforts</vt:lpstr>
      <vt:lpstr>ODEP EFLSMP: What is it?</vt:lpstr>
      <vt:lpstr>EFSLMP Colorado Objectives</vt:lpstr>
      <vt:lpstr>EFLSMP Transition Milestones</vt:lpstr>
      <vt:lpstr>EFLSMP Vision Quest Activities and Deliverables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Obligations and Opportunities: Compliments of the Federal Government</dc:title>
  <dc:creator>lmills67</dc:creator>
  <cp:lastModifiedBy>David Hoff</cp:lastModifiedBy>
  <cp:revision>173</cp:revision>
  <dcterms:created xsi:type="dcterms:W3CDTF">2015-01-26T21:42:42Z</dcterms:created>
  <dcterms:modified xsi:type="dcterms:W3CDTF">2016-05-24T16:48:34Z</dcterms:modified>
</cp:coreProperties>
</file>