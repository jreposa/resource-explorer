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72" r:id="rId3"/>
    <p:sldMasterId id="2147483685" r:id="rId4"/>
    <p:sldMasterId id="2147483734" r:id="rId5"/>
    <p:sldMasterId id="2147483794" r:id="rId6"/>
  </p:sldMasterIdLst>
  <p:notesMasterIdLst>
    <p:notesMasterId r:id="rId65"/>
  </p:notesMasterIdLst>
  <p:sldIdLst>
    <p:sldId id="256" r:id="rId7"/>
    <p:sldId id="257" r:id="rId8"/>
    <p:sldId id="1278" r:id="rId9"/>
    <p:sldId id="1311" r:id="rId10"/>
    <p:sldId id="511" r:id="rId11"/>
    <p:sldId id="512" r:id="rId12"/>
    <p:sldId id="513" r:id="rId13"/>
    <p:sldId id="526" r:id="rId14"/>
    <p:sldId id="510" r:id="rId15"/>
    <p:sldId id="364" r:id="rId16"/>
    <p:sldId id="528" r:id="rId17"/>
    <p:sldId id="378" r:id="rId18"/>
    <p:sldId id="311" r:id="rId19"/>
    <p:sldId id="560" r:id="rId20"/>
    <p:sldId id="619" r:id="rId21"/>
    <p:sldId id="618" r:id="rId22"/>
    <p:sldId id="613" r:id="rId23"/>
    <p:sldId id="614" r:id="rId24"/>
    <p:sldId id="615" r:id="rId25"/>
    <p:sldId id="1304" r:id="rId26"/>
    <p:sldId id="1303" r:id="rId27"/>
    <p:sldId id="1110" r:id="rId28"/>
    <p:sldId id="1259" r:id="rId29"/>
    <p:sldId id="1163" r:id="rId30"/>
    <p:sldId id="1060" r:id="rId31"/>
    <p:sldId id="1273" r:id="rId32"/>
    <p:sldId id="521" r:id="rId33"/>
    <p:sldId id="445" r:id="rId34"/>
    <p:sldId id="1310" r:id="rId35"/>
    <p:sldId id="1307" r:id="rId36"/>
    <p:sldId id="1294" r:id="rId37"/>
    <p:sldId id="1289" r:id="rId38"/>
    <p:sldId id="720" r:id="rId39"/>
    <p:sldId id="1308" r:id="rId40"/>
    <p:sldId id="1126" r:id="rId41"/>
    <p:sldId id="1286" r:id="rId42"/>
    <p:sldId id="1302" r:id="rId43"/>
    <p:sldId id="1301" r:id="rId44"/>
    <p:sldId id="1283" r:id="rId45"/>
    <p:sldId id="1313" r:id="rId46"/>
    <p:sldId id="708" r:id="rId47"/>
    <p:sldId id="1295" r:id="rId48"/>
    <p:sldId id="1282" r:id="rId49"/>
    <p:sldId id="900" r:id="rId50"/>
    <p:sldId id="1115" r:id="rId51"/>
    <p:sldId id="1103" r:id="rId52"/>
    <p:sldId id="1297" r:id="rId53"/>
    <p:sldId id="1292" r:id="rId54"/>
    <p:sldId id="1309" r:id="rId55"/>
    <p:sldId id="1290" r:id="rId56"/>
    <p:sldId id="1296" r:id="rId57"/>
    <p:sldId id="1291" r:id="rId58"/>
    <p:sldId id="1305" r:id="rId59"/>
    <p:sldId id="1306" r:id="rId60"/>
    <p:sldId id="1312" r:id="rId61"/>
    <p:sldId id="1272" r:id="rId62"/>
    <p:sldId id="360" r:id="rId63"/>
    <p:sldId id="1109"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14"/>
    <p:restoredTop sz="86552"/>
  </p:normalViewPr>
  <p:slideViewPr>
    <p:cSldViewPr snapToGrid="0">
      <p:cViewPr varScale="1">
        <p:scale>
          <a:sx n="104" d="100"/>
          <a:sy n="104" d="100"/>
        </p:scale>
        <p:origin x="1208" y="200"/>
      </p:cViewPr>
      <p:guideLst/>
    </p:cSldViewPr>
  </p:slideViewPr>
  <p:outlineViewPr>
    <p:cViewPr>
      <p:scale>
        <a:sx n="33" d="100"/>
        <a:sy n="33" d="100"/>
      </p:scale>
      <p:origin x="0" y="-5632"/>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s>
</file>

<file path=ppt/diagrams/_rels/data4.xml.rels><?xml version="1.0" encoding="UTF-8" standalone="yes"?>
<Relationships xmlns="http://schemas.openxmlformats.org/package/2006/relationships"><Relationship Id="rId8" Type="http://schemas.openxmlformats.org/officeDocument/2006/relationships/image" Target="../media/image87.sv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image" Target="../media/image81.svg"/><Relationship Id="rId1" Type="http://schemas.openxmlformats.org/officeDocument/2006/relationships/image" Target="../media/image80.png"/><Relationship Id="rId6" Type="http://schemas.openxmlformats.org/officeDocument/2006/relationships/image" Target="../media/image85.svg"/><Relationship Id="rId5" Type="http://schemas.openxmlformats.org/officeDocument/2006/relationships/image" Target="../media/image84.png"/><Relationship Id="rId10" Type="http://schemas.openxmlformats.org/officeDocument/2006/relationships/image" Target="../media/image89.svg"/><Relationship Id="rId4" Type="http://schemas.openxmlformats.org/officeDocument/2006/relationships/image" Target="../media/image83.svg"/><Relationship Id="rId9" Type="http://schemas.openxmlformats.org/officeDocument/2006/relationships/image" Target="../media/image88.png"/></Relationships>
</file>

<file path=ppt/diagrams/_rels/drawing4.xml.rels><?xml version="1.0" encoding="UTF-8" standalone="yes"?>
<Relationships xmlns="http://schemas.openxmlformats.org/package/2006/relationships"><Relationship Id="rId8" Type="http://schemas.openxmlformats.org/officeDocument/2006/relationships/image" Target="../media/image87.sv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image" Target="../media/image81.svg"/><Relationship Id="rId1" Type="http://schemas.openxmlformats.org/officeDocument/2006/relationships/image" Target="../media/image80.png"/><Relationship Id="rId6" Type="http://schemas.openxmlformats.org/officeDocument/2006/relationships/image" Target="../media/image85.svg"/><Relationship Id="rId5" Type="http://schemas.openxmlformats.org/officeDocument/2006/relationships/image" Target="../media/image84.png"/><Relationship Id="rId10" Type="http://schemas.openxmlformats.org/officeDocument/2006/relationships/image" Target="../media/image89.svg"/><Relationship Id="rId4" Type="http://schemas.openxmlformats.org/officeDocument/2006/relationships/image" Target="../media/image83.svg"/><Relationship Id="rId9" Type="http://schemas.openxmlformats.org/officeDocument/2006/relationships/image" Target="../media/image88.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B24262D1-91C2-4585-B457-6A8C00CF8F8D}"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A3C64145-92B6-48A6-81B6-E25254ECDF9E}">
      <dgm:prSet custT="1"/>
      <dgm:spPr/>
      <dgm:t>
        <a:bodyPr/>
        <a:lstStyle/>
        <a:p>
          <a:r>
            <a:rPr lang="en-US" sz="3200" i="1" dirty="0"/>
            <a:t>Outdated thinking</a:t>
          </a:r>
        </a:p>
      </dgm:t>
    </dgm:pt>
    <dgm:pt modelId="{2DEE8D38-2170-429B-9EF9-6A72527660D3}" type="parTrans" cxnId="{7DE8FF8B-777C-438F-956F-413DBBB17DB1}">
      <dgm:prSet/>
      <dgm:spPr/>
      <dgm:t>
        <a:bodyPr/>
        <a:lstStyle/>
        <a:p>
          <a:endParaRPr lang="en-US"/>
        </a:p>
      </dgm:t>
    </dgm:pt>
    <dgm:pt modelId="{FFED1715-C8E1-43D0-A656-CFF9F6C3B6AC}" type="sibTrans" cxnId="{7DE8FF8B-777C-438F-956F-413DBBB17DB1}">
      <dgm:prSet/>
      <dgm:spPr/>
      <dgm:t>
        <a:bodyPr/>
        <a:lstStyle/>
        <a:p>
          <a:endParaRPr lang="en-US"/>
        </a:p>
      </dgm:t>
    </dgm:pt>
    <dgm:pt modelId="{234A76F4-D98F-4E5C-B9EE-E3366891CCA0}">
      <dgm:prSet custT="1"/>
      <dgm:spPr/>
      <dgm:t>
        <a:bodyPr/>
        <a:lstStyle/>
        <a:p>
          <a:r>
            <a:rPr lang="en-US" sz="3200" i="1" dirty="0"/>
            <a:t>Lack of knowledge of best practices</a:t>
          </a:r>
        </a:p>
      </dgm:t>
    </dgm:pt>
    <dgm:pt modelId="{2F8C6357-9C6B-445F-A510-DAE7866449D0}" type="parTrans" cxnId="{1BD80F64-6E1D-47A0-AE9F-A085A742FF79}">
      <dgm:prSet/>
      <dgm:spPr/>
      <dgm:t>
        <a:bodyPr/>
        <a:lstStyle/>
        <a:p>
          <a:endParaRPr lang="en-US"/>
        </a:p>
      </dgm:t>
    </dgm:pt>
    <dgm:pt modelId="{16A5AEE6-E8C9-485A-A8E4-82FEA1434951}" type="sibTrans" cxnId="{1BD80F64-6E1D-47A0-AE9F-A085A742FF79}">
      <dgm:prSet/>
      <dgm:spPr/>
      <dgm:t>
        <a:bodyPr/>
        <a:lstStyle/>
        <a:p>
          <a:endParaRPr lang="en-US"/>
        </a:p>
      </dgm:t>
    </dgm:pt>
    <dgm:pt modelId="{D678E12F-CB29-45B4-A5AA-E9E2A265BBEB}">
      <dgm:prSet custT="1"/>
      <dgm:spPr/>
      <dgm:t>
        <a:bodyPr/>
        <a:lstStyle/>
        <a:p>
          <a:r>
            <a:rPr lang="en-US" sz="3200" i="1" dirty="0"/>
            <a:t>Comfort with the way things are</a:t>
          </a:r>
        </a:p>
      </dgm:t>
    </dgm:pt>
    <dgm:pt modelId="{8022D709-51CA-471F-B78A-AED34A16AA6E}" type="parTrans" cxnId="{CC4BE789-3BA0-4BCA-AC07-F8EA1FD0AB05}">
      <dgm:prSet/>
      <dgm:spPr/>
      <dgm:t>
        <a:bodyPr/>
        <a:lstStyle/>
        <a:p>
          <a:endParaRPr lang="en-US"/>
        </a:p>
      </dgm:t>
    </dgm:pt>
    <dgm:pt modelId="{A79D60DF-17F0-4248-B089-D54A7CBEB8B0}" type="sibTrans" cxnId="{CC4BE789-3BA0-4BCA-AC07-F8EA1FD0AB05}">
      <dgm:prSet/>
      <dgm:spPr/>
      <dgm:t>
        <a:bodyPr/>
        <a:lstStyle/>
        <a:p>
          <a:endParaRPr lang="en-US"/>
        </a:p>
      </dgm:t>
    </dgm:pt>
    <dgm:pt modelId="{9384EAF7-95A4-4C4E-986B-EFFD05E666AA}">
      <dgm:prSet custT="1"/>
      <dgm:spPr/>
      <dgm:t>
        <a:bodyPr/>
        <a:lstStyle/>
        <a:p>
          <a:r>
            <a:rPr lang="en-US" sz="3200" i="1" dirty="0"/>
            <a:t>Systems that reinforce traditional services and supports</a:t>
          </a:r>
        </a:p>
      </dgm:t>
    </dgm:pt>
    <dgm:pt modelId="{579BDC77-AADF-48B0-A154-5B7BB5FDA3D4}" type="parTrans" cxnId="{A0B31A12-B8DB-41F8-B1CD-F6682C81786D}">
      <dgm:prSet/>
      <dgm:spPr/>
      <dgm:t>
        <a:bodyPr/>
        <a:lstStyle/>
        <a:p>
          <a:endParaRPr lang="en-US"/>
        </a:p>
      </dgm:t>
    </dgm:pt>
    <dgm:pt modelId="{E91CB059-726C-4D22-AA33-2F69A96D4A52}" type="sibTrans" cxnId="{A0B31A12-B8DB-41F8-B1CD-F6682C81786D}">
      <dgm:prSet/>
      <dgm:spPr/>
      <dgm:t>
        <a:bodyPr/>
        <a:lstStyle/>
        <a:p>
          <a:endParaRPr lang="en-US"/>
        </a:p>
      </dgm:t>
    </dgm:pt>
    <dgm:pt modelId="{84D65D40-33CD-4140-B02E-D62C31EC12E4}">
      <dgm:prSet custT="1"/>
      <dgm:spPr/>
      <dgm:t>
        <a:bodyPr/>
        <a:lstStyle/>
        <a:p>
          <a:r>
            <a:rPr lang="en-US" sz="3200" i="1" dirty="0"/>
            <a:t>A highly ableist society</a:t>
          </a:r>
        </a:p>
      </dgm:t>
    </dgm:pt>
    <dgm:pt modelId="{F656A121-4170-4AE9-92C1-A1C08E1D75A9}" type="parTrans" cxnId="{C6DCF80C-92F5-4D3A-A9DA-1D38F5CE14DC}">
      <dgm:prSet/>
      <dgm:spPr/>
      <dgm:t>
        <a:bodyPr/>
        <a:lstStyle/>
        <a:p>
          <a:endParaRPr lang="en-US"/>
        </a:p>
      </dgm:t>
    </dgm:pt>
    <dgm:pt modelId="{CE91A493-8D2A-423C-8A3E-093B15B4BD4F}" type="sibTrans" cxnId="{C6DCF80C-92F5-4D3A-A9DA-1D38F5CE14DC}">
      <dgm:prSet/>
      <dgm:spPr/>
      <dgm:t>
        <a:bodyPr/>
        <a:lstStyle/>
        <a:p>
          <a:endParaRPr lang="en-US"/>
        </a:p>
      </dgm:t>
    </dgm:pt>
    <dgm:pt modelId="{21CBC589-9E5C-7540-BDF7-B669DE05DEBA}" type="pres">
      <dgm:prSet presAssocID="{B24262D1-91C2-4585-B457-6A8C00CF8F8D}" presName="vert0" presStyleCnt="0">
        <dgm:presLayoutVars>
          <dgm:dir/>
          <dgm:animOne val="branch"/>
          <dgm:animLvl val="lvl"/>
        </dgm:presLayoutVars>
      </dgm:prSet>
      <dgm:spPr/>
    </dgm:pt>
    <dgm:pt modelId="{7F267249-FDB8-AE4C-84B1-00BEF23512D0}" type="pres">
      <dgm:prSet presAssocID="{A3C64145-92B6-48A6-81B6-E25254ECDF9E}" presName="thickLine" presStyleLbl="alignNode1" presStyleIdx="0" presStyleCnt="5"/>
      <dgm:spPr/>
    </dgm:pt>
    <dgm:pt modelId="{AF3780E1-1F24-644E-B288-1F9AE969B2A9}" type="pres">
      <dgm:prSet presAssocID="{A3C64145-92B6-48A6-81B6-E25254ECDF9E}" presName="horz1" presStyleCnt="0"/>
      <dgm:spPr/>
    </dgm:pt>
    <dgm:pt modelId="{8928889C-A76C-5444-AE62-C284666EC43E}" type="pres">
      <dgm:prSet presAssocID="{A3C64145-92B6-48A6-81B6-E25254ECDF9E}" presName="tx1" presStyleLbl="revTx" presStyleIdx="0" presStyleCnt="5"/>
      <dgm:spPr/>
    </dgm:pt>
    <dgm:pt modelId="{7F2B0C88-A608-364B-96B4-3F3B0A18E4A0}" type="pres">
      <dgm:prSet presAssocID="{A3C64145-92B6-48A6-81B6-E25254ECDF9E}" presName="vert1" presStyleCnt="0"/>
      <dgm:spPr/>
    </dgm:pt>
    <dgm:pt modelId="{763DF440-4EB7-B14F-BEDF-19FF7EE6633C}" type="pres">
      <dgm:prSet presAssocID="{234A76F4-D98F-4E5C-B9EE-E3366891CCA0}" presName="thickLine" presStyleLbl="alignNode1" presStyleIdx="1" presStyleCnt="5"/>
      <dgm:spPr/>
    </dgm:pt>
    <dgm:pt modelId="{45773FB6-46A7-F54B-B7B1-72951DBCA48F}" type="pres">
      <dgm:prSet presAssocID="{234A76F4-D98F-4E5C-B9EE-E3366891CCA0}" presName="horz1" presStyleCnt="0"/>
      <dgm:spPr/>
    </dgm:pt>
    <dgm:pt modelId="{21FE00E5-28A3-EC4E-967A-69F793ED71DE}" type="pres">
      <dgm:prSet presAssocID="{234A76F4-D98F-4E5C-B9EE-E3366891CCA0}" presName="tx1" presStyleLbl="revTx" presStyleIdx="1" presStyleCnt="5"/>
      <dgm:spPr/>
    </dgm:pt>
    <dgm:pt modelId="{5ABE7BAF-3AA1-5643-BFB9-D98C6AF5A882}" type="pres">
      <dgm:prSet presAssocID="{234A76F4-D98F-4E5C-B9EE-E3366891CCA0}" presName="vert1" presStyleCnt="0"/>
      <dgm:spPr/>
    </dgm:pt>
    <dgm:pt modelId="{60D47A63-3076-4A48-A27F-3B33057D5A55}" type="pres">
      <dgm:prSet presAssocID="{D678E12F-CB29-45B4-A5AA-E9E2A265BBEB}" presName="thickLine" presStyleLbl="alignNode1" presStyleIdx="2" presStyleCnt="5"/>
      <dgm:spPr/>
    </dgm:pt>
    <dgm:pt modelId="{8AEA832D-CA4A-FB4E-97AD-99B9728C904F}" type="pres">
      <dgm:prSet presAssocID="{D678E12F-CB29-45B4-A5AA-E9E2A265BBEB}" presName="horz1" presStyleCnt="0"/>
      <dgm:spPr/>
    </dgm:pt>
    <dgm:pt modelId="{174B44FE-39CF-D244-BF3A-9C405550E594}" type="pres">
      <dgm:prSet presAssocID="{D678E12F-CB29-45B4-A5AA-E9E2A265BBEB}" presName="tx1" presStyleLbl="revTx" presStyleIdx="2" presStyleCnt="5"/>
      <dgm:spPr/>
    </dgm:pt>
    <dgm:pt modelId="{2C71824A-7685-814D-BB85-C110C87A198B}" type="pres">
      <dgm:prSet presAssocID="{D678E12F-CB29-45B4-A5AA-E9E2A265BBEB}" presName="vert1" presStyleCnt="0"/>
      <dgm:spPr/>
    </dgm:pt>
    <dgm:pt modelId="{C984FA21-62E7-F444-AAD0-B5B18743FA7A}" type="pres">
      <dgm:prSet presAssocID="{9384EAF7-95A4-4C4E-986B-EFFD05E666AA}" presName="thickLine" presStyleLbl="alignNode1" presStyleIdx="3" presStyleCnt="5"/>
      <dgm:spPr/>
    </dgm:pt>
    <dgm:pt modelId="{46CCB3B5-2A8C-434C-8A57-BB1E05987434}" type="pres">
      <dgm:prSet presAssocID="{9384EAF7-95A4-4C4E-986B-EFFD05E666AA}" presName="horz1" presStyleCnt="0"/>
      <dgm:spPr/>
    </dgm:pt>
    <dgm:pt modelId="{B6ACA4FC-7A77-A942-9E51-F965C241BFC6}" type="pres">
      <dgm:prSet presAssocID="{9384EAF7-95A4-4C4E-986B-EFFD05E666AA}" presName="tx1" presStyleLbl="revTx" presStyleIdx="3" presStyleCnt="5"/>
      <dgm:spPr/>
    </dgm:pt>
    <dgm:pt modelId="{73E43A27-1923-3A41-9D07-037620B43226}" type="pres">
      <dgm:prSet presAssocID="{9384EAF7-95A4-4C4E-986B-EFFD05E666AA}" presName="vert1" presStyleCnt="0"/>
      <dgm:spPr/>
    </dgm:pt>
    <dgm:pt modelId="{831A5562-3E80-A248-B68F-9E1EF7305D8E}" type="pres">
      <dgm:prSet presAssocID="{84D65D40-33CD-4140-B02E-D62C31EC12E4}" presName="thickLine" presStyleLbl="alignNode1" presStyleIdx="4" presStyleCnt="5"/>
      <dgm:spPr/>
    </dgm:pt>
    <dgm:pt modelId="{82885A20-295A-CF40-A97F-4A9AC842A5CC}" type="pres">
      <dgm:prSet presAssocID="{84D65D40-33CD-4140-B02E-D62C31EC12E4}" presName="horz1" presStyleCnt="0"/>
      <dgm:spPr/>
    </dgm:pt>
    <dgm:pt modelId="{465CB890-591F-4848-94CD-33CB9B1EB461}" type="pres">
      <dgm:prSet presAssocID="{84D65D40-33CD-4140-B02E-D62C31EC12E4}" presName="tx1" presStyleLbl="revTx" presStyleIdx="4" presStyleCnt="5"/>
      <dgm:spPr/>
    </dgm:pt>
    <dgm:pt modelId="{1CF7805B-BEFA-F049-8B2A-EF4CCE4F92AD}" type="pres">
      <dgm:prSet presAssocID="{84D65D40-33CD-4140-B02E-D62C31EC12E4}" presName="vert1" presStyleCnt="0"/>
      <dgm:spPr/>
    </dgm:pt>
  </dgm:ptLst>
  <dgm:cxnLst>
    <dgm:cxn modelId="{5FA5E806-A4AD-E64F-9B7C-1AD588C09737}" type="presOf" srcId="{84D65D40-33CD-4140-B02E-D62C31EC12E4}" destId="{465CB890-591F-4848-94CD-33CB9B1EB461}" srcOrd="0" destOrd="0" presId="urn:microsoft.com/office/officeart/2008/layout/LinedList"/>
    <dgm:cxn modelId="{C6DCF80C-92F5-4D3A-A9DA-1D38F5CE14DC}" srcId="{B24262D1-91C2-4585-B457-6A8C00CF8F8D}" destId="{84D65D40-33CD-4140-B02E-D62C31EC12E4}" srcOrd="4" destOrd="0" parTransId="{F656A121-4170-4AE9-92C1-A1C08E1D75A9}" sibTransId="{CE91A493-8D2A-423C-8A3E-093B15B4BD4F}"/>
    <dgm:cxn modelId="{8A16E010-0978-2D40-B4FB-A2DB8E3A69C5}" type="presOf" srcId="{9384EAF7-95A4-4C4E-986B-EFFD05E666AA}" destId="{B6ACA4FC-7A77-A942-9E51-F965C241BFC6}" srcOrd="0" destOrd="0" presId="urn:microsoft.com/office/officeart/2008/layout/LinedList"/>
    <dgm:cxn modelId="{A0B31A12-B8DB-41F8-B1CD-F6682C81786D}" srcId="{B24262D1-91C2-4585-B457-6A8C00CF8F8D}" destId="{9384EAF7-95A4-4C4E-986B-EFFD05E666AA}" srcOrd="3" destOrd="0" parTransId="{579BDC77-AADF-48B0-A154-5B7BB5FDA3D4}" sibTransId="{E91CB059-726C-4D22-AA33-2F69A96D4A52}"/>
    <dgm:cxn modelId="{757A7B45-C0FB-9C4D-A5DB-DDF6B31DEC91}" type="presOf" srcId="{A3C64145-92B6-48A6-81B6-E25254ECDF9E}" destId="{8928889C-A76C-5444-AE62-C284666EC43E}" srcOrd="0" destOrd="0" presId="urn:microsoft.com/office/officeart/2008/layout/LinedList"/>
    <dgm:cxn modelId="{1BD80F64-6E1D-47A0-AE9F-A085A742FF79}" srcId="{B24262D1-91C2-4585-B457-6A8C00CF8F8D}" destId="{234A76F4-D98F-4E5C-B9EE-E3366891CCA0}" srcOrd="1" destOrd="0" parTransId="{2F8C6357-9C6B-445F-A510-DAE7866449D0}" sibTransId="{16A5AEE6-E8C9-485A-A8E4-82FEA1434951}"/>
    <dgm:cxn modelId="{CC4BE789-3BA0-4BCA-AC07-F8EA1FD0AB05}" srcId="{B24262D1-91C2-4585-B457-6A8C00CF8F8D}" destId="{D678E12F-CB29-45B4-A5AA-E9E2A265BBEB}" srcOrd="2" destOrd="0" parTransId="{8022D709-51CA-471F-B78A-AED34A16AA6E}" sibTransId="{A79D60DF-17F0-4248-B089-D54A7CBEB8B0}"/>
    <dgm:cxn modelId="{7DE8FF8B-777C-438F-956F-413DBBB17DB1}" srcId="{B24262D1-91C2-4585-B457-6A8C00CF8F8D}" destId="{A3C64145-92B6-48A6-81B6-E25254ECDF9E}" srcOrd="0" destOrd="0" parTransId="{2DEE8D38-2170-429B-9EF9-6A72527660D3}" sibTransId="{FFED1715-C8E1-43D0-A656-CFF9F6C3B6AC}"/>
    <dgm:cxn modelId="{E051768C-BD48-CB41-8E71-DCB441A2D099}" type="presOf" srcId="{D678E12F-CB29-45B4-A5AA-E9E2A265BBEB}" destId="{174B44FE-39CF-D244-BF3A-9C405550E594}" srcOrd="0" destOrd="0" presId="urn:microsoft.com/office/officeart/2008/layout/LinedList"/>
    <dgm:cxn modelId="{F1F7A3B5-C711-B940-944E-8CF22D7F9648}" type="presOf" srcId="{234A76F4-D98F-4E5C-B9EE-E3366891CCA0}" destId="{21FE00E5-28A3-EC4E-967A-69F793ED71DE}" srcOrd="0" destOrd="0" presId="urn:microsoft.com/office/officeart/2008/layout/LinedList"/>
    <dgm:cxn modelId="{6424B4D2-DB72-7F4C-9ABF-059C02ECAD23}" type="presOf" srcId="{B24262D1-91C2-4585-B457-6A8C00CF8F8D}" destId="{21CBC589-9E5C-7540-BDF7-B669DE05DEBA}" srcOrd="0" destOrd="0" presId="urn:microsoft.com/office/officeart/2008/layout/LinedList"/>
    <dgm:cxn modelId="{8C7E11E8-5341-9D49-9490-B9B7F2D8ADCF}" type="presParOf" srcId="{21CBC589-9E5C-7540-BDF7-B669DE05DEBA}" destId="{7F267249-FDB8-AE4C-84B1-00BEF23512D0}" srcOrd="0" destOrd="0" presId="urn:microsoft.com/office/officeart/2008/layout/LinedList"/>
    <dgm:cxn modelId="{83C11C19-27F6-5248-8A10-45778E2CCFB3}" type="presParOf" srcId="{21CBC589-9E5C-7540-BDF7-B669DE05DEBA}" destId="{AF3780E1-1F24-644E-B288-1F9AE969B2A9}" srcOrd="1" destOrd="0" presId="urn:microsoft.com/office/officeart/2008/layout/LinedList"/>
    <dgm:cxn modelId="{00EFD310-9CD8-8545-B33E-5B04E9FE42DB}" type="presParOf" srcId="{AF3780E1-1F24-644E-B288-1F9AE969B2A9}" destId="{8928889C-A76C-5444-AE62-C284666EC43E}" srcOrd="0" destOrd="0" presId="urn:microsoft.com/office/officeart/2008/layout/LinedList"/>
    <dgm:cxn modelId="{60F2C83E-1931-314C-B7C9-B918BCD8BDDA}" type="presParOf" srcId="{AF3780E1-1F24-644E-B288-1F9AE969B2A9}" destId="{7F2B0C88-A608-364B-96B4-3F3B0A18E4A0}" srcOrd="1" destOrd="0" presId="urn:microsoft.com/office/officeart/2008/layout/LinedList"/>
    <dgm:cxn modelId="{8F0A22C0-2170-1D43-8C0F-273C03FF7D36}" type="presParOf" srcId="{21CBC589-9E5C-7540-BDF7-B669DE05DEBA}" destId="{763DF440-4EB7-B14F-BEDF-19FF7EE6633C}" srcOrd="2" destOrd="0" presId="urn:microsoft.com/office/officeart/2008/layout/LinedList"/>
    <dgm:cxn modelId="{182A400D-6167-384E-BC43-49D181770684}" type="presParOf" srcId="{21CBC589-9E5C-7540-BDF7-B669DE05DEBA}" destId="{45773FB6-46A7-F54B-B7B1-72951DBCA48F}" srcOrd="3" destOrd="0" presId="urn:microsoft.com/office/officeart/2008/layout/LinedList"/>
    <dgm:cxn modelId="{D4EF98B6-BC30-5241-BCF8-DC8E31D55DD2}" type="presParOf" srcId="{45773FB6-46A7-F54B-B7B1-72951DBCA48F}" destId="{21FE00E5-28A3-EC4E-967A-69F793ED71DE}" srcOrd="0" destOrd="0" presId="urn:microsoft.com/office/officeart/2008/layout/LinedList"/>
    <dgm:cxn modelId="{E883496B-68AD-3349-9DA7-6A3EB859F608}" type="presParOf" srcId="{45773FB6-46A7-F54B-B7B1-72951DBCA48F}" destId="{5ABE7BAF-3AA1-5643-BFB9-D98C6AF5A882}" srcOrd="1" destOrd="0" presId="urn:microsoft.com/office/officeart/2008/layout/LinedList"/>
    <dgm:cxn modelId="{84D29AFA-75FA-404B-8C06-3FAB7BFF4B34}" type="presParOf" srcId="{21CBC589-9E5C-7540-BDF7-B669DE05DEBA}" destId="{60D47A63-3076-4A48-A27F-3B33057D5A55}" srcOrd="4" destOrd="0" presId="urn:microsoft.com/office/officeart/2008/layout/LinedList"/>
    <dgm:cxn modelId="{752E1BF2-E47F-EA45-AA2A-92043D17969A}" type="presParOf" srcId="{21CBC589-9E5C-7540-BDF7-B669DE05DEBA}" destId="{8AEA832D-CA4A-FB4E-97AD-99B9728C904F}" srcOrd="5" destOrd="0" presId="urn:microsoft.com/office/officeart/2008/layout/LinedList"/>
    <dgm:cxn modelId="{B9B1E4F9-B50F-2141-B2C0-745076788EFA}" type="presParOf" srcId="{8AEA832D-CA4A-FB4E-97AD-99B9728C904F}" destId="{174B44FE-39CF-D244-BF3A-9C405550E594}" srcOrd="0" destOrd="0" presId="urn:microsoft.com/office/officeart/2008/layout/LinedList"/>
    <dgm:cxn modelId="{39C8ADB6-E9E4-3043-8AAC-C98569011D87}" type="presParOf" srcId="{8AEA832D-CA4A-FB4E-97AD-99B9728C904F}" destId="{2C71824A-7685-814D-BB85-C110C87A198B}" srcOrd="1" destOrd="0" presId="urn:microsoft.com/office/officeart/2008/layout/LinedList"/>
    <dgm:cxn modelId="{BE144ED0-55A9-CC41-BDEC-12B6765009F5}" type="presParOf" srcId="{21CBC589-9E5C-7540-BDF7-B669DE05DEBA}" destId="{C984FA21-62E7-F444-AAD0-B5B18743FA7A}" srcOrd="6" destOrd="0" presId="urn:microsoft.com/office/officeart/2008/layout/LinedList"/>
    <dgm:cxn modelId="{E4D21E95-788C-BF45-BEBF-F8237B46C452}" type="presParOf" srcId="{21CBC589-9E5C-7540-BDF7-B669DE05DEBA}" destId="{46CCB3B5-2A8C-434C-8A57-BB1E05987434}" srcOrd="7" destOrd="0" presId="urn:microsoft.com/office/officeart/2008/layout/LinedList"/>
    <dgm:cxn modelId="{11447C0A-5AF8-AE49-8924-D4E9F27D5B73}" type="presParOf" srcId="{46CCB3B5-2A8C-434C-8A57-BB1E05987434}" destId="{B6ACA4FC-7A77-A942-9E51-F965C241BFC6}" srcOrd="0" destOrd="0" presId="urn:microsoft.com/office/officeart/2008/layout/LinedList"/>
    <dgm:cxn modelId="{EE5B9079-B27F-1E4A-BE28-CB8B11DD2BF3}" type="presParOf" srcId="{46CCB3B5-2A8C-434C-8A57-BB1E05987434}" destId="{73E43A27-1923-3A41-9D07-037620B43226}" srcOrd="1" destOrd="0" presId="urn:microsoft.com/office/officeart/2008/layout/LinedList"/>
    <dgm:cxn modelId="{4605231F-28F6-6848-957C-6B0F4727C037}" type="presParOf" srcId="{21CBC589-9E5C-7540-BDF7-B669DE05DEBA}" destId="{831A5562-3E80-A248-B68F-9E1EF7305D8E}" srcOrd="8" destOrd="0" presId="urn:microsoft.com/office/officeart/2008/layout/LinedList"/>
    <dgm:cxn modelId="{40616A03-A450-1242-BEB4-361331A5F382}" type="presParOf" srcId="{21CBC589-9E5C-7540-BDF7-B669DE05DEBA}" destId="{82885A20-295A-CF40-A97F-4A9AC842A5CC}" srcOrd="9" destOrd="0" presId="urn:microsoft.com/office/officeart/2008/layout/LinedList"/>
    <dgm:cxn modelId="{F69F60C1-F262-984D-9F5C-4F8DE3C5DDED}" type="presParOf" srcId="{82885A20-295A-CF40-A97F-4A9AC842A5CC}" destId="{465CB890-591F-4848-94CD-33CB9B1EB461}" srcOrd="0" destOrd="0" presId="urn:microsoft.com/office/officeart/2008/layout/LinedList"/>
    <dgm:cxn modelId="{E65CD23B-9612-AC40-A715-456F7F7D3671}" type="presParOf" srcId="{82885A20-295A-CF40-A97F-4A9AC842A5CC}" destId="{1CF7805B-BEFA-F049-8B2A-EF4CCE4F92A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B6EA609-46E9-4FED-8AE3-D01A23D06D57}"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8390441F-2455-4265-8F2F-26F22A759B96}">
      <dgm:prSet/>
      <dgm:spPr/>
      <dgm:t>
        <a:bodyPr/>
        <a:lstStyle/>
        <a:p>
          <a:r>
            <a:rPr lang="en-US" i="1"/>
            <a:t>People with disabilities need to be seen as full citizens who are automatically ‘in’</a:t>
          </a:r>
          <a:r>
            <a:rPr lang="en-US"/>
            <a:t> </a:t>
          </a:r>
          <a:r>
            <a:rPr lang="en-US" i="1"/>
            <a:t>and have a right to expect to be in, rather than outsiders who need to earn their way in</a:t>
          </a:r>
          <a:endParaRPr lang="en-US"/>
        </a:p>
      </dgm:t>
    </dgm:pt>
    <dgm:pt modelId="{69087E81-5ED3-4DEE-90B7-A5E0B37FDE28}" type="parTrans" cxnId="{1596C536-F5FD-48B1-BEC8-A4B25F89DC1D}">
      <dgm:prSet/>
      <dgm:spPr/>
      <dgm:t>
        <a:bodyPr/>
        <a:lstStyle/>
        <a:p>
          <a:endParaRPr lang="en-US"/>
        </a:p>
      </dgm:t>
    </dgm:pt>
    <dgm:pt modelId="{CA1EA5BA-380B-44E2-BEA7-147690644D6A}" type="sibTrans" cxnId="{1596C536-F5FD-48B1-BEC8-A4B25F89DC1D}">
      <dgm:prSet/>
      <dgm:spPr/>
      <dgm:t>
        <a:bodyPr/>
        <a:lstStyle/>
        <a:p>
          <a:endParaRPr lang="en-US"/>
        </a:p>
      </dgm:t>
    </dgm:pt>
    <dgm:pt modelId="{DF7E21E0-D3AD-48DB-91FB-4D495BB0CDB9}">
      <dgm:prSet/>
      <dgm:spPr/>
      <dgm:t>
        <a:bodyPr/>
        <a:lstStyle/>
        <a:p>
          <a:r>
            <a:rPr lang="en-US" i="1" dirty="0"/>
            <a:t>Habitual othering needs to be</a:t>
          </a:r>
          <a:r>
            <a:rPr lang="en-US" dirty="0"/>
            <a:t> </a:t>
          </a:r>
          <a:r>
            <a:rPr lang="en-US" i="1" dirty="0"/>
            <a:t>challenged and addressed, so people with disabilities become regarded as full and autonomous citizens</a:t>
          </a:r>
          <a:endParaRPr lang="en-US" dirty="0"/>
        </a:p>
      </dgm:t>
    </dgm:pt>
    <dgm:pt modelId="{AAE9BB6D-D485-44ED-B360-83DE18E1570A}" type="parTrans" cxnId="{CE0B2793-A00E-482A-8CDC-71641BB5012F}">
      <dgm:prSet/>
      <dgm:spPr/>
      <dgm:t>
        <a:bodyPr/>
        <a:lstStyle/>
        <a:p>
          <a:endParaRPr lang="en-US"/>
        </a:p>
      </dgm:t>
    </dgm:pt>
    <dgm:pt modelId="{92B34570-1D61-4653-944F-0901C39D3AAE}" type="sibTrans" cxnId="{CE0B2793-A00E-482A-8CDC-71641BB5012F}">
      <dgm:prSet/>
      <dgm:spPr/>
      <dgm:t>
        <a:bodyPr/>
        <a:lstStyle/>
        <a:p>
          <a:endParaRPr lang="en-US"/>
        </a:p>
      </dgm:t>
    </dgm:pt>
    <dgm:pt modelId="{AF0A6112-10CF-8D45-85CC-9778782C0D5C}" type="pres">
      <dgm:prSet presAssocID="{9B6EA609-46E9-4FED-8AE3-D01A23D06D57}" presName="hierChild1" presStyleCnt="0">
        <dgm:presLayoutVars>
          <dgm:chPref val="1"/>
          <dgm:dir/>
          <dgm:animOne val="branch"/>
          <dgm:animLvl val="lvl"/>
          <dgm:resizeHandles/>
        </dgm:presLayoutVars>
      </dgm:prSet>
      <dgm:spPr/>
    </dgm:pt>
    <dgm:pt modelId="{5CD75FF4-7F82-1848-A9D0-83258A416E2B}" type="pres">
      <dgm:prSet presAssocID="{8390441F-2455-4265-8F2F-26F22A759B96}" presName="hierRoot1" presStyleCnt="0"/>
      <dgm:spPr/>
    </dgm:pt>
    <dgm:pt modelId="{C71705C5-DA40-2F4B-9AFF-D1D2E6E5CD2A}" type="pres">
      <dgm:prSet presAssocID="{8390441F-2455-4265-8F2F-26F22A759B96}" presName="composite" presStyleCnt="0"/>
      <dgm:spPr/>
    </dgm:pt>
    <dgm:pt modelId="{E508196D-7A6B-A54C-90A3-3FD174EC7AEE}" type="pres">
      <dgm:prSet presAssocID="{8390441F-2455-4265-8F2F-26F22A759B96}" presName="background" presStyleLbl="node0" presStyleIdx="0" presStyleCnt="2"/>
      <dgm:spPr/>
    </dgm:pt>
    <dgm:pt modelId="{DF1E4FBC-8DD3-4B47-9213-9364A1F00E30}" type="pres">
      <dgm:prSet presAssocID="{8390441F-2455-4265-8F2F-26F22A759B96}" presName="text" presStyleLbl="fgAcc0" presStyleIdx="0" presStyleCnt="2">
        <dgm:presLayoutVars>
          <dgm:chPref val="3"/>
        </dgm:presLayoutVars>
      </dgm:prSet>
      <dgm:spPr/>
    </dgm:pt>
    <dgm:pt modelId="{BEE373CB-7FE1-7A4C-8F66-01ED7996C39B}" type="pres">
      <dgm:prSet presAssocID="{8390441F-2455-4265-8F2F-26F22A759B96}" presName="hierChild2" presStyleCnt="0"/>
      <dgm:spPr/>
    </dgm:pt>
    <dgm:pt modelId="{C4223FB5-8C06-7F4D-94BA-4CB9CAE4C61C}" type="pres">
      <dgm:prSet presAssocID="{DF7E21E0-D3AD-48DB-91FB-4D495BB0CDB9}" presName="hierRoot1" presStyleCnt="0"/>
      <dgm:spPr/>
    </dgm:pt>
    <dgm:pt modelId="{D03B80CE-626A-034D-B8C2-BB4A509C4469}" type="pres">
      <dgm:prSet presAssocID="{DF7E21E0-D3AD-48DB-91FB-4D495BB0CDB9}" presName="composite" presStyleCnt="0"/>
      <dgm:spPr/>
    </dgm:pt>
    <dgm:pt modelId="{BFEE34E8-7F81-3149-91D0-52743C32A06D}" type="pres">
      <dgm:prSet presAssocID="{DF7E21E0-D3AD-48DB-91FB-4D495BB0CDB9}" presName="background" presStyleLbl="node0" presStyleIdx="1" presStyleCnt="2"/>
      <dgm:spPr/>
    </dgm:pt>
    <dgm:pt modelId="{40138F44-40DF-F445-B992-FC8184CD2310}" type="pres">
      <dgm:prSet presAssocID="{DF7E21E0-D3AD-48DB-91FB-4D495BB0CDB9}" presName="text" presStyleLbl="fgAcc0" presStyleIdx="1" presStyleCnt="2">
        <dgm:presLayoutVars>
          <dgm:chPref val="3"/>
        </dgm:presLayoutVars>
      </dgm:prSet>
      <dgm:spPr/>
    </dgm:pt>
    <dgm:pt modelId="{23D4F6C3-7041-5043-B4A6-6BECA33F32D6}" type="pres">
      <dgm:prSet presAssocID="{DF7E21E0-D3AD-48DB-91FB-4D495BB0CDB9}" presName="hierChild2" presStyleCnt="0"/>
      <dgm:spPr/>
    </dgm:pt>
  </dgm:ptLst>
  <dgm:cxnLst>
    <dgm:cxn modelId="{1596C536-F5FD-48B1-BEC8-A4B25F89DC1D}" srcId="{9B6EA609-46E9-4FED-8AE3-D01A23D06D57}" destId="{8390441F-2455-4265-8F2F-26F22A759B96}" srcOrd="0" destOrd="0" parTransId="{69087E81-5ED3-4DEE-90B7-A5E0B37FDE28}" sibTransId="{CA1EA5BA-380B-44E2-BEA7-147690644D6A}"/>
    <dgm:cxn modelId="{4A4B0C43-EC30-F446-BF6C-BF5DC8270F95}" type="presOf" srcId="{9B6EA609-46E9-4FED-8AE3-D01A23D06D57}" destId="{AF0A6112-10CF-8D45-85CC-9778782C0D5C}" srcOrd="0" destOrd="0" presId="urn:microsoft.com/office/officeart/2005/8/layout/hierarchy1"/>
    <dgm:cxn modelId="{CE0B2793-A00E-482A-8CDC-71641BB5012F}" srcId="{9B6EA609-46E9-4FED-8AE3-D01A23D06D57}" destId="{DF7E21E0-D3AD-48DB-91FB-4D495BB0CDB9}" srcOrd="1" destOrd="0" parTransId="{AAE9BB6D-D485-44ED-B360-83DE18E1570A}" sibTransId="{92B34570-1D61-4653-944F-0901C39D3AAE}"/>
    <dgm:cxn modelId="{6C7EB4A5-D0B2-C64F-8D9F-9625E371DB81}" type="presOf" srcId="{8390441F-2455-4265-8F2F-26F22A759B96}" destId="{DF1E4FBC-8DD3-4B47-9213-9364A1F00E30}" srcOrd="0" destOrd="0" presId="urn:microsoft.com/office/officeart/2005/8/layout/hierarchy1"/>
    <dgm:cxn modelId="{5633EABE-A776-7D44-A9DF-B37EC3BCE07D}" type="presOf" srcId="{DF7E21E0-D3AD-48DB-91FB-4D495BB0CDB9}" destId="{40138F44-40DF-F445-B992-FC8184CD2310}" srcOrd="0" destOrd="0" presId="urn:microsoft.com/office/officeart/2005/8/layout/hierarchy1"/>
    <dgm:cxn modelId="{C77AD014-271B-154F-88C5-E0CFFC05920C}" type="presParOf" srcId="{AF0A6112-10CF-8D45-85CC-9778782C0D5C}" destId="{5CD75FF4-7F82-1848-A9D0-83258A416E2B}" srcOrd="0" destOrd="0" presId="urn:microsoft.com/office/officeart/2005/8/layout/hierarchy1"/>
    <dgm:cxn modelId="{9FD36503-4122-A44A-99D7-973AB547877E}" type="presParOf" srcId="{5CD75FF4-7F82-1848-A9D0-83258A416E2B}" destId="{C71705C5-DA40-2F4B-9AFF-D1D2E6E5CD2A}" srcOrd="0" destOrd="0" presId="urn:microsoft.com/office/officeart/2005/8/layout/hierarchy1"/>
    <dgm:cxn modelId="{2C09A798-9626-0D40-ACA3-A42390F5DDE6}" type="presParOf" srcId="{C71705C5-DA40-2F4B-9AFF-D1D2E6E5CD2A}" destId="{E508196D-7A6B-A54C-90A3-3FD174EC7AEE}" srcOrd="0" destOrd="0" presId="urn:microsoft.com/office/officeart/2005/8/layout/hierarchy1"/>
    <dgm:cxn modelId="{1D1732AF-6C37-5E4F-BE63-9206F1583CFB}" type="presParOf" srcId="{C71705C5-DA40-2F4B-9AFF-D1D2E6E5CD2A}" destId="{DF1E4FBC-8DD3-4B47-9213-9364A1F00E30}" srcOrd="1" destOrd="0" presId="urn:microsoft.com/office/officeart/2005/8/layout/hierarchy1"/>
    <dgm:cxn modelId="{609DDD29-782A-7047-8CFE-12D79CBF2FAF}" type="presParOf" srcId="{5CD75FF4-7F82-1848-A9D0-83258A416E2B}" destId="{BEE373CB-7FE1-7A4C-8F66-01ED7996C39B}" srcOrd="1" destOrd="0" presId="urn:microsoft.com/office/officeart/2005/8/layout/hierarchy1"/>
    <dgm:cxn modelId="{1E84FDAD-D20A-5D46-948D-0A3F3483F706}" type="presParOf" srcId="{AF0A6112-10CF-8D45-85CC-9778782C0D5C}" destId="{C4223FB5-8C06-7F4D-94BA-4CB9CAE4C61C}" srcOrd="1" destOrd="0" presId="urn:microsoft.com/office/officeart/2005/8/layout/hierarchy1"/>
    <dgm:cxn modelId="{62C346B0-7CA7-704D-A25A-ABF4DA496347}" type="presParOf" srcId="{C4223FB5-8C06-7F4D-94BA-4CB9CAE4C61C}" destId="{D03B80CE-626A-034D-B8C2-BB4A509C4469}" srcOrd="0" destOrd="0" presId="urn:microsoft.com/office/officeart/2005/8/layout/hierarchy1"/>
    <dgm:cxn modelId="{5C904DEF-7DDE-BE42-B1EA-390E592E97A2}" type="presParOf" srcId="{D03B80CE-626A-034D-B8C2-BB4A509C4469}" destId="{BFEE34E8-7F81-3149-91D0-52743C32A06D}" srcOrd="0" destOrd="0" presId="urn:microsoft.com/office/officeart/2005/8/layout/hierarchy1"/>
    <dgm:cxn modelId="{5D045159-9697-8B4F-A970-288E89386A7E}" type="presParOf" srcId="{D03B80CE-626A-034D-B8C2-BB4A509C4469}" destId="{40138F44-40DF-F445-B992-FC8184CD2310}" srcOrd="1" destOrd="0" presId="urn:microsoft.com/office/officeart/2005/8/layout/hierarchy1"/>
    <dgm:cxn modelId="{07A8DCA5-378E-1542-9662-1456B514CED2}" type="presParOf" srcId="{C4223FB5-8C06-7F4D-94BA-4CB9CAE4C61C}" destId="{23D4F6C3-7041-5043-B4A6-6BECA33F32D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FDD3D2-C98D-4582-8EE7-58350D1FB665}" type="doc">
      <dgm:prSet loTypeId="urn:microsoft.com/office/officeart/2005/8/layout/list1" loCatId="list" qsTypeId="urn:microsoft.com/office/officeart/2005/8/quickstyle/simple1" qsCatId="simple" csTypeId="urn:microsoft.com/office/officeart/2005/8/colors/colorful2" csCatId="colorful"/>
      <dgm:spPr/>
      <dgm:t>
        <a:bodyPr/>
        <a:lstStyle/>
        <a:p>
          <a:endParaRPr lang="en-US"/>
        </a:p>
      </dgm:t>
    </dgm:pt>
    <dgm:pt modelId="{AFA27293-8255-4490-BDEC-E00C93145C81}">
      <dgm:prSet/>
      <dgm:spPr/>
      <dgm:t>
        <a:bodyPr/>
        <a:lstStyle/>
        <a:p>
          <a:r>
            <a:rPr lang="en-US"/>
            <a:t>Not charity</a:t>
          </a:r>
        </a:p>
      </dgm:t>
    </dgm:pt>
    <dgm:pt modelId="{CD79887D-4A1D-4776-BEDB-605BB256DE49}" type="parTrans" cxnId="{CC5DCC5E-677F-4697-BB86-F454A4D16694}">
      <dgm:prSet/>
      <dgm:spPr/>
      <dgm:t>
        <a:bodyPr/>
        <a:lstStyle/>
        <a:p>
          <a:endParaRPr lang="en-US"/>
        </a:p>
      </dgm:t>
    </dgm:pt>
    <dgm:pt modelId="{E4E43EB4-B68C-4D8F-99D1-D652E87D9B33}" type="sibTrans" cxnId="{CC5DCC5E-677F-4697-BB86-F454A4D16694}">
      <dgm:prSet/>
      <dgm:spPr/>
      <dgm:t>
        <a:bodyPr/>
        <a:lstStyle/>
        <a:p>
          <a:endParaRPr lang="en-US"/>
        </a:p>
      </dgm:t>
    </dgm:pt>
    <dgm:pt modelId="{6DD61F7E-6C29-449F-A92F-94CC4E04B2ED}">
      <dgm:prSet/>
      <dgm:spPr/>
      <dgm:t>
        <a:bodyPr/>
        <a:lstStyle/>
        <a:p>
          <a:r>
            <a:rPr lang="en-US" dirty="0"/>
            <a:t>Not “token” jobs</a:t>
          </a:r>
        </a:p>
      </dgm:t>
    </dgm:pt>
    <dgm:pt modelId="{B27207FF-E764-4F52-9531-52E0771790A6}" type="parTrans" cxnId="{51EC46A9-71DE-47E8-89CB-BDED03683FA9}">
      <dgm:prSet/>
      <dgm:spPr/>
      <dgm:t>
        <a:bodyPr/>
        <a:lstStyle/>
        <a:p>
          <a:endParaRPr lang="en-US"/>
        </a:p>
      </dgm:t>
    </dgm:pt>
    <dgm:pt modelId="{E7DC7B5B-C88D-4AC8-B7AE-B02F17A5E31B}" type="sibTrans" cxnId="{51EC46A9-71DE-47E8-89CB-BDED03683FA9}">
      <dgm:prSet/>
      <dgm:spPr/>
      <dgm:t>
        <a:bodyPr/>
        <a:lstStyle/>
        <a:p>
          <a:endParaRPr lang="en-US"/>
        </a:p>
      </dgm:t>
    </dgm:pt>
    <dgm:pt modelId="{C742425B-47FE-4EE1-ACCA-17931E44621A}">
      <dgm:prSet/>
      <dgm:spPr/>
      <dgm:t>
        <a:bodyPr/>
        <a:lstStyle/>
        <a:p>
          <a:r>
            <a:rPr lang="en-US" dirty="0">
              <a:solidFill>
                <a:schemeClr val="tx1"/>
              </a:solidFill>
            </a:rPr>
            <a:t>Not “social responsibility” </a:t>
          </a:r>
        </a:p>
      </dgm:t>
    </dgm:pt>
    <dgm:pt modelId="{F39FC80C-7AC7-4E30-A196-3B0C9B9BA040}" type="parTrans" cxnId="{E78D77FE-EF14-49D2-A771-6E4A08F5516D}">
      <dgm:prSet/>
      <dgm:spPr/>
      <dgm:t>
        <a:bodyPr/>
        <a:lstStyle/>
        <a:p>
          <a:endParaRPr lang="en-US"/>
        </a:p>
      </dgm:t>
    </dgm:pt>
    <dgm:pt modelId="{3D503E69-B481-40BC-8ED7-FB18F5ADC977}" type="sibTrans" cxnId="{E78D77FE-EF14-49D2-A771-6E4A08F5516D}">
      <dgm:prSet/>
      <dgm:spPr/>
      <dgm:t>
        <a:bodyPr/>
        <a:lstStyle/>
        <a:p>
          <a:endParaRPr lang="en-US"/>
        </a:p>
      </dgm:t>
    </dgm:pt>
    <dgm:pt modelId="{58E40518-AFED-2349-A26E-9DDDA2F2B388}" type="pres">
      <dgm:prSet presAssocID="{D0FDD3D2-C98D-4582-8EE7-58350D1FB665}" presName="linear" presStyleCnt="0">
        <dgm:presLayoutVars>
          <dgm:dir/>
          <dgm:animLvl val="lvl"/>
          <dgm:resizeHandles val="exact"/>
        </dgm:presLayoutVars>
      </dgm:prSet>
      <dgm:spPr/>
    </dgm:pt>
    <dgm:pt modelId="{DDD31B97-D7D0-044E-9630-FB5C70306183}" type="pres">
      <dgm:prSet presAssocID="{AFA27293-8255-4490-BDEC-E00C93145C81}" presName="parentLin" presStyleCnt="0"/>
      <dgm:spPr/>
    </dgm:pt>
    <dgm:pt modelId="{4E385754-11DF-C34D-876D-1FEDB690AAC7}" type="pres">
      <dgm:prSet presAssocID="{AFA27293-8255-4490-BDEC-E00C93145C81}" presName="parentLeftMargin" presStyleLbl="node1" presStyleIdx="0" presStyleCnt="3"/>
      <dgm:spPr/>
    </dgm:pt>
    <dgm:pt modelId="{82CDFF2C-B28E-8341-8846-7431038DCDF4}" type="pres">
      <dgm:prSet presAssocID="{AFA27293-8255-4490-BDEC-E00C93145C81}" presName="parentText" presStyleLbl="node1" presStyleIdx="0" presStyleCnt="3">
        <dgm:presLayoutVars>
          <dgm:chMax val="0"/>
          <dgm:bulletEnabled val="1"/>
        </dgm:presLayoutVars>
      </dgm:prSet>
      <dgm:spPr/>
    </dgm:pt>
    <dgm:pt modelId="{A621B56B-EA30-5148-B579-F38E01FDE85E}" type="pres">
      <dgm:prSet presAssocID="{AFA27293-8255-4490-BDEC-E00C93145C81}" presName="negativeSpace" presStyleCnt="0"/>
      <dgm:spPr/>
    </dgm:pt>
    <dgm:pt modelId="{DC337F40-D807-D046-A406-6306B5BBB290}" type="pres">
      <dgm:prSet presAssocID="{AFA27293-8255-4490-BDEC-E00C93145C81}" presName="childText" presStyleLbl="conFgAcc1" presStyleIdx="0" presStyleCnt="3">
        <dgm:presLayoutVars>
          <dgm:bulletEnabled val="1"/>
        </dgm:presLayoutVars>
      </dgm:prSet>
      <dgm:spPr/>
    </dgm:pt>
    <dgm:pt modelId="{F0BD50BC-3F66-C247-87B2-4E88F2DE8E9C}" type="pres">
      <dgm:prSet presAssocID="{E4E43EB4-B68C-4D8F-99D1-D652E87D9B33}" presName="spaceBetweenRectangles" presStyleCnt="0"/>
      <dgm:spPr/>
    </dgm:pt>
    <dgm:pt modelId="{62DFFFB9-98F5-F944-B148-AAE92D2E1CB3}" type="pres">
      <dgm:prSet presAssocID="{6DD61F7E-6C29-449F-A92F-94CC4E04B2ED}" presName="parentLin" presStyleCnt="0"/>
      <dgm:spPr/>
    </dgm:pt>
    <dgm:pt modelId="{9D343606-E7EA-174E-9B0B-8C02B58C6AEA}" type="pres">
      <dgm:prSet presAssocID="{6DD61F7E-6C29-449F-A92F-94CC4E04B2ED}" presName="parentLeftMargin" presStyleLbl="node1" presStyleIdx="0" presStyleCnt="3"/>
      <dgm:spPr/>
    </dgm:pt>
    <dgm:pt modelId="{A68565B7-BF2E-974F-8DA0-58BDDC81B1D8}" type="pres">
      <dgm:prSet presAssocID="{6DD61F7E-6C29-449F-A92F-94CC4E04B2ED}" presName="parentText" presStyleLbl="node1" presStyleIdx="1" presStyleCnt="3">
        <dgm:presLayoutVars>
          <dgm:chMax val="0"/>
          <dgm:bulletEnabled val="1"/>
        </dgm:presLayoutVars>
      </dgm:prSet>
      <dgm:spPr/>
    </dgm:pt>
    <dgm:pt modelId="{B47E6757-95A2-904E-89FB-020D5F21A9D5}" type="pres">
      <dgm:prSet presAssocID="{6DD61F7E-6C29-449F-A92F-94CC4E04B2ED}" presName="negativeSpace" presStyleCnt="0"/>
      <dgm:spPr/>
    </dgm:pt>
    <dgm:pt modelId="{C4AD5A70-6BA6-2949-B365-3A924C0D49B2}" type="pres">
      <dgm:prSet presAssocID="{6DD61F7E-6C29-449F-A92F-94CC4E04B2ED}" presName="childText" presStyleLbl="conFgAcc1" presStyleIdx="1" presStyleCnt="3">
        <dgm:presLayoutVars>
          <dgm:bulletEnabled val="1"/>
        </dgm:presLayoutVars>
      </dgm:prSet>
      <dgm:spPr/>
    </dgm:pt>
    <dgm:pt modelId="{91F70844-2F06-8E49-B235-03BA9BA6B10C}" type="pres">
      <dgm:prSet presAssocID="{E7DC7B5B-C88D-4AC8-B7AE-B02F17A5E31B}" presName="spaceBetweenRectangles" presStyleCnt="0"/>
      <dgm:spPr/>
    </dgm:pt>
    <dgm:pt modelId="{5EF49F0A-8602-8449-8CC4-D46DD23A6C1D}" type="pres">
      <dgm:prSet presAssocID="{C742425B-47FE-4EE1-ACCA-17931E44621A}" presName="parentLin" presStyleCnt="0"/>
      <dgm:spPr/>
    </dgm:pt>
    <dgm:pt modelId="{546D8F31-CD64-DA47-A3BF-B8DDF87898D0}" type="pres">
      <dgm:prSet presAssocID="{C742425B-47FE-4EE1-ACCA-17931E44621A}" presName="parentLeftMargin" presStyleLbl="node1" presStyleIdx="1" presStyleCnt="3"/>
      <dgm:spPr/>
    </dgm:pt>
    <dgm:pt modelId="{5B64EAC4-3E44-1E4C-BB0A-58C81B8DD8D9}" type="pres">
      <dgm:prSet presAssocID="{C742425B-47FE-4EE1-ACCA-17931E44621A}" presName="parentText" presStyleLbl="node1" presStyleIdx="2" presStyleCnt="3">
        <dgm:presLayoutVars>
          <dgm:chMax val="0"/>
          <dgm:bulletEnabled val="1"/>
        </dgm:presLayoutVars>
      </dgm:prSet>
      <dgm:spPr/>
    </dgm:pt>
    <dgm:pt modelId="{E9C6266F-9C57-E346-9612-5919362A4375}" type="pres">
      <dgm:prSet presAssocID="{C742425B-47FE-4EE1-ACCA-17931E44621A}" presName="negativeSpace" presStyleCnt="0"/>
      <dgm:spPr/>
    </dgm:pt>
    <dgm:pt modelId="{E6BC3747-94A2-9A4D-A78D-804B5FFD9941}" type="pres">
      <dgm:prSet presAssocID="{C742425B-47FE-4EE1-ACCA-17931E44621A}" presName="childText" presStyleLbl="conFgAcc1" presStyleIdx="2" presStyleCnt="3">
        <dgm:presLayoutVars>
          <dgm:bulletEnabled val="1"/>
        </dgm:presLayoutVars>
      </dgm:prSet>
      <dgm:spPr/>
    </dgm:pt>
  </dgm:ptLst>
  <dgm:cxnLst>
    <dgm:cxn modelId="{F985071F-3B36-F04C-88CE-03BB65E0E079}" type="presOf" srcId="{AFA27293-8255-4490-BDEC-E00C93145C81}" destId="{4E385754-11DF-C34D-876D-1FEDB690AAC7}" srcOrd="0" destOrd="0" presId="urn:microsoft.com/office/officeart/2005/8/layout/list1"/>
    <dgm:cxn modelId="{A7FEE524-63DD-BC45-8DFD-C49FCA7CD99C}" type="presOf" srcId="{C742425B-47FE-4EE1-ACCA-17931E44621A}" destId="{546D8F31-CD64-DA47-A3BF-B8DDF87898D0}" srcOrd="0" destOrd="0" presId="urn:microsoft.com/office/officeart/2005/8/layout/list1"/>
    <dgm:cxn modelId="{CA588650-8AE7-0D45-BEDF-8D2C16FC4A56}" type="presOf" srcId="{AFA27293-8255-4490-BDEC-E00C93145C81}" destId="{82CDFF2C-B28E-8341-8846-7431038DCDF4}" srcOrd="1" destOrd="0" presId="urn:microsoft.com/office/officeart/2005/8/layout/list1"/>
    <dgm:cxn modelId="{CC5DCC5E-677F-4697-BB86-F454A4D16694}" srcId="{D0FDD3D2-C98D-4582-8EE7-58350D1FB665}" destId="{AFA27293-8255-4490-BDEC-E00C93145C81}" srcOrd="0" destOrd="0" parTransId="{CD79887D-4A1D-4776-BEDB-605BB256DE49}" sibTransId="{E4E43EB4-B68C-4D8F-99D1-D652E87D9B33}"/>
    <dgm:cxn modelId="{D99170A3-C623-D54C-9029-7A258BAEC068}" type="presOf" srcId="{6DD61F7E-6C29-449F-A92F-94CC4E04B2ED}" destId="{A68565B7-BF2E-974F-8DA0-58BDDC81B1D8}" srcOrd="1" destOrd="0" presId="urn:microsoft.com/office/officeart/2005/8/layout/list1"/>
    <dgm:cxn modelId="{51EC46A9-71DE-47E8-89CB-BDED03683FA9}" srcId="{D0FDD3D2-C98D-4582-8EE7-58350D1FB665}" destId="{6DD61F7E-6C29-449F-A92F-94CC4E04B2ED}" srcOrd="1" destOrd="0" parTransId="{B27207FF-E764-4F52-9531-52E0771790A6}" sibTransId="{E7DC7B5B-C88D-4AC8-B7AE-B02F17A5E31B}"/>
    <dgm:cxn modelId="{43767AC1-9D46-6147-B93E-C69A4D4A197C}" type="presOf" srcId="{D0FDD3D2-C98D-4582-8EE7-58350D1FB665}" destId="{58E40518-AFED-2349-A26E-9DDDA2F2B388}" srcOrd="0" destOrd="0" presId="urn:microsoft.com/office/officeart/2005/8/layout/list1"/>
    <dgm:cxn modelId="{82AAA0EA-C5FD-8C44-8E3D-674095544B26}" type="presOf" srcId="{6DD61F7E-6C29-449F-A92F-94CC4E04B2ED}" destId="{9D343606-E7EA-174E-9B0B-8C02B58C6AEA}" srcOrd="0" destOrd="0" presId="urn:microsoft.com/office/officeart/2005/8/layout/list1"/>
    <dgm:cxn modelId="{90C5B9EF-35C3-1348-B21E-F1E503458EDD}" type="presOf" srcId="{C742425B-47FE-4EE1-ACCA-17931E44621A}" destId="{5B64EAC4-3E44-1E4C-BB0A-58C81B8DD8D9}" srcOrd="1" destOrd="0" presId="urn:microsoft.com/office/officeart/2005/8/layout/list1"/>
    <dgm:cxn modelId="{E78D77FE-EF14-49D2-A771-6E4A08F5516D}" srcId="{D0FDD3D2-C98D-4582-8EE7-58350D1FB665}" destId="{C742425B-47FE-4EE1-ACCA-17931E44621A}" srcOrd="2" destOrd="0" parTransId="{F39FC80C-7AC7-4E30-A196-3B0C9B9BA040}" sibTransId="{3D503E69-B481-40BC-8ED7-FB18F5ADC977}"/>
    <dgm:cxn modelId="{B385D7C7-3494-F845-AC2E-FC0EC3366399}" type="presParOf" srcId="{58E40518-AFED-2349-A26E-9DDDA2F2B388}" destId="{DDD31B97-D7D0-044E-9630-FB5C70306183}" srcOrd="0" destOrd="0" presId="urn:microsoft.com/office/officeart/2005/8/layout/list1"/>
    <dgm:cxn modelId="{CAA38C07-BE0A-474C-8415-F4A5112C2626}" type="presParOf" srcId="{DDD31B97-D7D0-044E-9630-FB5C70306183}" destId="{4E385754-11DF-C34D-876D-1FEDB690AAC7}" srcOrd="0" destOrd="0" presId="urn:microsoft.com/office/officeart/2005/8/layout/list1"/>
    <dgm:cxn modelId="{614B1CFE-65B2-2D40-AD99-C6739F5BDBDF}" type="presParOf" srcId="{DDD31B97-D7D0-044E-9630-FB5C70306183}" destId="{82CDFF2C-B28E-8341-8846-7431038DCDF4}" srcOrd="1" destOrd="0" presId="urn:microsoft.com/office/officeart/2005/8/layout/list1"/>
    <dgm:cxn modelId="{75BCEAFE-20C6-D44A-AB41-0987EBB32F72}" type="presParOf" srcId="{58E40518-AFED-2349-A26E-9DDDA2F2B388}" destId="{A621B56B-EA30-5148-B579-F38E01FDE85E}" srcOrd="1" destOrd="0" presId="urn:microsoft.com/office/officeart/2005/8/layout/list1"/>
    <dgm:cxn modelId="{7210078F-2250-434A-BE82-97949F2E08A5}" type="presParOf" srcId="{58E40518-AFED-2349-A26E-9DDDA2F2B388}" destId="{DC337F40-D807-D046-A406-6306B5BBB290}" srcOrd="2" destOrd="0" presId="urn:microsoft.com/office/officeart/2005/8/layout/list1"/>
    <dgm:cxn modelId="{4C994E87-98E5-DB49-86A7-81B5C8AC0614}" type="presParOf" srcId="{58E40518-AFED-2349-A26E-9DDDA2F2B388}" destId="{F0BD50BC-3F66-C247-87B2-4E88F2DE8E9C}" srcOrd="3" destOrd="0" presId="urn:microsoft.com/office/officeart/2005/8/layout/list1"/>
    <dgm:cxn modelId="{77B6E1CB-EB8E-8144-8018-E30751D63A3C}" type="presParOf" srcId="{58E40518-AFED-2349-A26E-9DDDA2F2B388}" destId="{62DFFFB9-98F5-F944-B148-AAE92D2E1CB3}" srcOrd="4" destOrd="0" presId="urn:microsoft.com/office/officeart/2005/8/layout/list1"/>
    <dgm:cxn modelId="{096F1C7D-D177-C942-81A7-BD395AA9F9C8}" type="presParOf" srcId="{62DFFFB9-98F5-F944-B148-AAE92D2E1CB3}" destId="{9D343606-E7EA-174E-9B0B-8C02B58C6AEA}" srcOrd="0" destOrd="0" presId="urn:microsoft.com/office/officeart/2005/8/layout/list1"/>
    <dgm:cxn modelId="{7EF02C0C-8636-5F4F-B8BD-98B54F6EF180}" type="presParOf" srcId="{62DFFFB9-98F5-F944-B148-AAE92D2E1CB3}" destId="{A68565B7-BF2E-974F-8DA0-58BDDC81B1D8}" srcOrd="1" destOrd="0" presId="urn:microsoft.com/office/officeart/2005/8/layout/list1"/>
    <dgm:cxn modelId="{2D02568E-E76C-6E4D-ADDC-E26CF2F15EEA}" type="presParOf" srcId="{58E40518-AFED-2349-A26E-9DDDA2F2B388}" destId="{B47E6757-95A2-904E-89FB-020D5F21A9D5}" srcOrd="5" destOrd="0" presId="urn:microsoft.com/office/officeart/2005/8/layout/list1"/>
    <dgm:cxn modelId="{779C1C93-6597-D74E-9749-C8D36EC2A59E}" type="presParOf" srcId="{58E40518-AFED-2349-A26E-9DDDA2F2B388}" destId="{C4AD5A70-6BA6-2949-B365-3A924C0D49B2}" srcOrd="6" destOrd="0" presId="urn:microsoft.com/office/officeart/2005/8/layout/list1"/>
    <dgm:cxn modelId="{6971BFC8-F05C-F349-B382-80619F0DA971}" type="presParOf" srcId="{58E40518-AFED-2349-A26E-9DDDA2F2B388}" destId="{91F70844-2F06-8E49-B235-03BA9BA6B10C}" srcOrd="7" destOrd="0" presId="urn:microsoft.com/office/officeart/2005/8/layout/list1"/>
    <dgm:cxn modelId="{42E953D3-C3AC-EF44-B210-134DB731F5CA}" type="presParOf" srcId="{58E40518-AFED-2349-A26E-9DDDA2F2B388}" destId="{5EF49F0A-8602-8449-8CC4-D46DD23A6C1D}" srcOrd="8" destOrd="0" presId="urn:microsoft.com/office/officeart/2005/8/layout/list1"/>
    <dgm:cxn modelId="{CB674A56-E4B4-5945-8870-78D24792A2D5}" type="presParOf" srcId="{5EF49F0A-8602-8449-8CC4-D46DD23A6C1D}" destId="{546D8F31-CD64-DA47-A3BF-B8DDF87898D0}" srcOrd="0" destOrd="0" presId="urn:microsoft.com/office/officeart/2005/8/layout/list1"/>
    <dgm:cxn modelId="{9D017B0E-C145-724C-A291-897FAA33EAF4}" type="presParOf" srcId="{5EF49F0A-8602-8449-8CC4-D46DD23A6C1D}" destId="{5B64EAC4-3E44-1E4C-BB0A-58C81B8DD8D9}" srcOrd="1" destOrd="0" presId="urn:microsoft.com/office/officeart/2005/8/layout/list1"/>
    <dgm:cxn modelId="{CAF412B0-BBE7-0B46-9184-0238C415C25E}" type="presParOf" srcId="{58E40518-AFED-2349-A26E-9DDDA2F2B388}" destId="{E9C6266F-9C57-E346-9612-5919362A4375}" srcOrd="9" destOrd="0" presId="urn:microsoft.com/office/officeart/2005/8/layout/list1"/>
    <dgm:cxn modelId="{EB4E85BA-A302-304A-BA4A-C96BC85F1E6A}" type="presParOf" srcId="{58E40518-AFED-2349-A26E-9DDDA2F2B388}" destId="{E6BC3747-94A2-9A4D-A78D-804B5FFD9941}"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4E94DEB-D5EB-4A8D-A20C-08E76D64F79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B3E55F23-F04A-445C-9AEE-9EE09F5726F6}">
      <dgm:prSet custT="1"/>
      <dgm:spPr/>
      <dgm:t>
        <a:bodyPr/>
        <a:lstStyle/>
        <a:p>
          <a:r>
            <a:rPr lang="en-US" sz="2400" dirty="0"/>
            <a:t>Provide information about benefits of working in the community</a:t>
          </a:r>
        </a:p>
      </dgm:t>
    </dgm:pt>
    <dgm:pt modelId="{BC48EB45-793C-451C-8142-238184B73ADB}" type="parTrans" cxnId="{1B662FBE-7430-4897-B80C-9F3508AE8AC4}">
      <dgm:prSet/>
      <dgm:spPr/>
      <dgm:t>
        <a:bodyPr/>
        <a:lstStyle/>
        <a:p>
          <a:endParaRPr lang="en-US"/>
        </a:p>
      </dgm:t>
    </dgm:pt>
    <dgm:pt modelId="{F8A92A17-BE33-4A18-B74F-456E09A6029A}" type="sibTrans" cxnId="{1B662FBE-7430-4897-B80C-9F3508AE8AC4}">
      <dgm:prSet/>
      <dgm:spPr/>
      <dgm:t>
        <a:bodyPr/>
        <a:lstStyle/>
        <a:p>
          <a:endParaRPr lang="en-US"/>
        </a:p>
      </dgm:t>
    </dgm:pt>
    <dgm:pt modelId="{1325BE50-6957-4E0A-A60A-EA9BC73A92CA}">
      <dgm:prSet custT="1"/>
      <dgm:spPr/>
      <dgm:t>
        <a:bodyPr/>
        <a:lstStyle/>
        <a:p>
          <a:r>
            <a:rPr lang="en-US" sz="2400" dirty="0"/>
            <a:t>Facilitate visits or other experiences with employers and businesses</a:t>
          </a:r>
        </a:p>
      </dgm:t>
    </dgm:pt>
    <dgm:pt modelId="{323ABDC7-C102-40A1-8694-A0EFA8EE1FED}" type="parTrans" cxnId="{6DECC078-F4BF-477D-B8E5-1349DF992B65}">
      <dgm:prSet/>
      <dgm:spPr/>
      <dgm:t>
        <a:bodyPr/>
        <a:lstStyle/>
        <a:p>
          <a:endParaRPr lang="en-US"/>
        </a:p>
      </dgm:t>
    </dgm:pt>
    <dgm:pt modelId="{D89E923E-50FC-46A5-B95C-BEAC6E6E2F66}" type="sibTrans" cxnId="{6DECC078-F4BF-477D-B8E5-1349DF992B65}">
      <dgm:prSet/>
      <dgm:spPr/>
      <dgm:t>
        <a:bodyPr/>
        <a:lstStyle/>
        <a:p>
          <a:endParaRPr lang="en-US"/>
        </a:p>
      </dgm:t>
    </dgm:pt>
    <dgm:pt modelId="{29A5DF26-00A8-4CAB-9F7C-0A68F96CF3C7}">
      <dgm:prSet custT="1"/>
      <dgm:spPr/>
      <dgm:t>
        <a:bodyPr/>
        <a:lstStyle/>
        <a:p>
          <a:r>
            <a:rPr lang="en-US" sz="2400" dirty="0"/>
            <a:t>Peer-to-peer discussions</a:t>
          </a:r>
        </a:p>
      </dgm:t>
    </dgm:pt>
    <dgm:pt modelId="{BB81B8D6-DD09-4997-846E-A1D50FD5DEC4}" type="parTrans" cxnId="{982A16CF-B0C5-4FAC-A3C1-0F1A4CDD221B}">
      <dgm:prSet/>
      <dgm:spPr/>
      <dgm:t>
        <a:bodyPr/>
        <a:lstStyle/>
        <a:p>
          <a:endParaRPr lang="en-US"/>
        </a:p>
      </dgm:t>
    </dgm:pt>
    <dgm:pt modelId="{06791DF5-A527-4FDC-9968-B5EA5FA73F3E}" type="sibTrans" cxnId="{982A16CF-B0C5-4FAC-A3C1-0F1A4CDD221B}">
      <dgm:prSet/>
      <dgm:spPr/>
      <dgm:t>
        <a:bodyPr/>
        <a:lstStyle/>
        <a:p>
          <a:endParaRPr lang="en-US"/>
        </a:p>
      </dgm:t>
    </dgm:pt>
    <dgm:pt modelId="{56FFF24E-5932-4A27-951E-93EBC9FEB111}">
      <dgm:prSet custT="1"/>
      <dgm:spPr/>
      <dgm:t>
        <a:bodyPr/>
        <a:lstStyle/>
        <a:p>
          <a:r>
            <a:rPr lang="en-US" sz="2000" dirty="0"/>
            <a:t>Identify &amp; address any concerns or objections raised by individual or relevant decision maker</a:t>
          </a:r>
        </a:p>
      </dgm:t>
    </dgm:pt>
    <dgm:pt modelId="{F0ED9CF1-446C-49B1-8C0C-8AD159E1B37D}" type="parTrans" cxnId="{DAB2908D-5764-4D7B-BD25-91AC4626E7AE}">
      <dgm:prSet/>
      <dgm:spPr/>
      <dgm:t>
        <a:bodyPr/>
        <a:lstStyle/>
        <a:p>
          <a:endParaRPr lang="en-US"/>
        </a:p>
      </dgm:t>
    </dgm:pt>
    <dgm:pt modelId="{71128CEB-1343-476F-A327-2F52D90FB04B}" type="sibTrans" cxnId="{DAB2908D-5764-4D7B-BD25-91AC4626E7AE}">
      <dgm:prSet/>
      <dgm:spPr/>
      <dgm:t>
        <a:bodyPr/>
        <a:lstStyle/>
        <a:p>
          <a:endParaRPr lang="en-US"/>
        </a:p>
      </dgm:t>
    </dgm:pt>
    <dgm:pt modelId="{5D62F274-FE75-4408-9D8F-5FAD8B9C8CA3}">
      <dgm:prSet custT="1"/>
      <dgm:spPr/>
      <dgm:t>
        <a:bodyPr/>
        <a:lstStyle/>
        <a:p>
          <a:r>
            <a:rPr lang="en-US" sz="2400" dirty="0"/>
            <a:t>Regularly revisit decision not to work in the community</a:t>
          </a:r>
        </a:p>
      </dgm:t>
    </dgm:pt>
    <dgm:pt modelId="{D6C50457-2D62-4B0F-BDBA-D2A7EA0F4686}" type="parTrans" cxnId="{D2CEA39B-8264-46E5-BAE1-2D322C9B2882}">
      <dgm:prSet/>
      <dgm:spPr/>
      <dgm:t>
        <a:bodyPr/>
        <a:lstStyle/>
        <a:p>
          <a:endParaRPr lang="en-US"/>
        </a:p>
      </dgm:t>
    </dgm:pt>
    <dgm:pt modelId="{A9355FDD-96F3-42B0-A887-01011C6EE422}" type="sibTrans" cxnId="{D2CEA39B-8264-46E5-BAE1-2D322C9B2882}">
      <dgm:prSet/>
      <dgm:spPr/>
      <dgm:t>
        <a:bodyPr/>
        <a:lstStyle/>
        <a:p>
          <a:endParaRPr lang="en-US"/>
        </a:p>
      </dgm:t>
    </dgm:pt>
    <dgm:pt modelId="{80A2D192-A137-4E27-9ADE-912B9BA59E8B}" type="pres">
      <dgm:prSet presAssocID="{14E94DEB-D5EB-4A8D-A20C-08E76D64F796}" presName="root" presStyleCnt="0">
        <dgm:presLayoutVars>
          <dgm:dir/>
          <dgm:resizeHandles val="exact"/>
        </dgm:presLayoutVars>
      </dgm:prSet>
      <dgm:spPr/>
    </dgm:pt>
    <dgm:pt modelId="{6942106F-564D-4B8B-8D8F-6AC597D4C694}" type="pres">
      <dgm:prSet presAssocID="{B3E55F23-F04A-445C-9AEE-9EE09F5726F6}" presName="compNode" presStyleCnt="0"/>
      <dgm:spPr/>
    </dgm:pt>
    <dgm:pt modelId="{0B2652A9-20B2-4780-9FCD-EC3F762F72A6}" type="pres">
      <dgm:prSet presAssocID="{B3E55F23-F04A-445C-9AEE-9EE09F5726F6}" presName="bgRect" presStyleLbl="bgShp" presStyleIdx="0" presStyleCnt="5"/>
      <dgm:spPr/>
    </dgm:pt>
    <dgm:pt modelId="{4AE97A6C-7F3F-48FC-9674-76BA7B7E8A82}" type="pres">
      <dgm:prSet presAssocID="{B3E55F23-F04A-445C-9AEE-9EE09F5726F6}"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Document"/>
        </a:ext>
      </dgm:extLst>
    </dgm:pt>
    <dgm:pt modelId="{3232DFD8-16DA-45F9-A482-4E11993ABE05}" type="pres">
      <dgm:prSet presAssocID="{B3E55F23-F04A-445C-9AEE-9EE09F5726F6}" presName="spaceRect" presStyleCnt="0"/>
      <dgm:spPr/>
    </dgm:pt>
    <dgm:pt modelId="{8EF2FF7B-1ACE-41E6-A1FD-E1D2B2F742C1}" type="pres">
      <dgm:prSet presAssocID="{B3E55F23-F04A-445C-9AEE-9EE09F5726F6}" presName="parTx" presStyleLbl="revTx" presStyleIdx="0" presStyleCnt="5">
        <dgm:presLayoutVars>
          <dgm:chMax val="0"/>
          <dgm:chPref val="0"/>
        </dgm:presLayoutVars>
      </dgm:prSet>
      <dgm:spPr/>
    </dgm:pt>
    <dgm:pt modelId="{CF533803-0C25-405E-83B4-987F24212D3C}" type="pres">
      <dgm:prSet presAssocID="{F8A92A17-BE33-4A18-B74F-456E09A6029A}" presName="sibTrans" presStyleCnt="0"/>
      <dgm:spPr/>
    </dgm:pt>
    <dgm:pt modelId="{DEB2DBD5-8316-4442-8C94-563E91575428}" type="pres">
      <dgm:prSet presAssocID="{1325BE50-6957-4E0A-A60A-EA9BC73A92CA}" presName="compNode" presStyleCnt="0"/>
      <dgm:spPr/>
    </dgm:pt>
    <dgm:pt modelId="{8F9EBA6B-93CB-45E3-87F8-82DDDBCD66CF}" type="pres">
      <dgm:prSet presAssocID="{1325BE50-6957-4E0A-A60A-EA9BC73A92CA}" presName="bgRect" presStyleLbl="bgShp" presStyleIdx="1" presStyleCnt="5"/>
      <dgm:spPr/>
    </dgm:pt>
    <dgm:pt modelId="{29FFEF88-12E5-4AB5-A7BC-87D69AFCCFF3}" type="pres">
      <dgm:prSet presAssocID="{1325BE50-6957-4E0A-A60A-EA9BC73A92CA}" presName="iconRect" presStyleLbl="node1" presStyleIdx="1" presStyleCnt="5"/>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Kiosk"/>
        </a:ext>
      </dgm:extLst>
    </dgm:pt>
    <dgm:pt modelId="{A53021DE-5359-4B77-8E9A-CC7B9A9302D3}" type="pres">
      <dgm:prSet presAssocID="{1325BE50-6957-4E0A-A60A-EA9BC73A92CA}" presName="spaceRect" presStyleCnt="0"/>
      <dgm:spPr/>
    </dgm:pt>
    <dgm:pt modelId="{54287581-AB4B-405F-9245-0BC4C6CEE6B5}" type="pres">
      <dgm:prSet presAssocID="{1325BE50-6957-4E0A-A60A-EA9BC73A92CA}" presName="parTx" presStyleLbl="revTx" presStyleIdx="1" presStyleCnt="5">
        <dgm:presLayoutVars>
          <dgm:chMax val="0"/>
          <dgm:chPref val="0"/>
        </dgm:presLayoutVars>
      </dgm:prSet>
      <dgm:spPr/>
    </dgm:pt>
    <dgm:pt modelId="{C90938FF-57C5-4F65-AC10-19D75DC02660}" type="pres">
      <dgm:prSet presAssocID="{D89E923E-50FC-46A5-B95C-BEAC6E6E2F66}" presName="sibTrans" presStyleCnt="0"/>
      <dgm:spPr/>
    </dgm:pt>
    <dgm:pt modelId="{0CAA048D-EBD0-49B2-A530-5AC854CF2F49}" type="pres">
      <dgm:prSet presAssocID="{29A5DF26-00A8-4CAB-9F7C-0A68F96CF3C7}" presName="compNode" presStyleCnt="0"/>
      <dgm:spPr/>
    </dgm:pt>
    <dgm:pt modelId="{C330D5CF-D226-4994-8FAE-F42D375A1740}" type="pres">
      <dgm:prSet presAssocID="{29A5DF26-00A8-4CAB-9F7C-0A68F96CF3C7}" presName="bgRect" presStyleLbl="bgShp" presStyleIdx="2" presStyleCnt="5"/>
      <dgm:spPr/>
    </dgm:pt>
    <dgm:pt modelId="{E2E5F161-F76D-49C4-A1DB-45DC4B3D0D7F}" type="pres">
      <dgm:prSet presAssocID="{29A5DF26-00A8-4CAB-9F7C-0A68F96CF3C7}"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ard Room"/>
        </a:ext>
      </dgm:extLst>
    </dgm:pt>
    <dgm:pt modelId="{630FCAFB-A4BB-42CA-A14A-A57C0CFE4627}" type="pres">
      <dgm:prSet presAssocID="{29A5DF26-00A8-4CAB-9F7C-0A68F96CF3C7}" presName="spaceRect" presStyleCnt="0"/>
      <dgm:spPr/>
    </dgm:pt>
    <dgm:pt modelId="{3B60CA07-74F8-4404-ADE3-D31924A899AB}" type="pres">
      <dgm:prSet presAssocID="{29A5DF26-00A8-4CAB-9F7C-0A68F96CF3C7}" presName="parTx" presStyleLbl="revTx" presStyleIdx="2" presStyleCnt="5">
        <dgm:presLayoutVars>
          <dgm:chMax val="0"/>
          <dgm:chPref val="0"/>
        </dgm:presLayoutVars>
      </dgm:prSet>
      <dgm:spPr/>
    </dgm:pt>
    <dgm:pt modelId="{DE5C9566-DCB9-4F8C-AB5A-3A4415527C79}" type="pres">
      <dgm:prSet presAssocID="{06791DF5-A527-4FDC-9968-B5EA5FA73F3E}" presName="sibTrans" presStyleCnt="0"/>
      <dgm:spPr/>
    </dgm:pt>
    <dgm:pt modelId="{368D9F26-461B-4191-974C-5378A1EBC914}" type="pres">
      <dgm:prSet presAssocID="{56FFF24E-5932-4A27-951E-93EBC9FEB111}" presName="compNode" presStyleCnt="0"/>
      <dgm:spPr/>
    </dgm:pt>
    <dgm:pt modelId="{80AED3A0-2644-4B14-B924-8B299400031D}" type="pres">
      <dgm:prSet presAssocID="{56FFF24E-5932-4A27-951E-93EBC9FEB111}" presName="bgRect" presStyleLbl="bgShp" presStyleIdx="3" presStyleCnt="5"/>
      <dgm:spPr/>
    </dgm:pt>
    <dgm:pt modelId="{8C5D0BDB-3EB0-4921-8A0F-60B6F67C577F}" type="pres">
      <dgm:prSet presAssocID="{56FFF24E-5932-4A27-951E-93EBC9FEB111}"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Questions"/>
        </a:ext>
      </dgm:extLst>
    </dgm:pt>
    <dgm:pt modelId="{604DE2A7-6D3B-4408-A9FF-1421BB306515}" type="pres">
      <dgm:prSet presAssocID="{56FFF24E-5932-4A27-951E-93EBC9FEB111}" presName="spaceRect" presStyleCnt="0"/>
      <dgm:spPr/>
    </dgm:pt>
    <dgm:pt modelId="{BE885D77-55F0-4030-A500-25C6006888BB}" type="pres">
      <dgm:prSet presAssocID="{56FFF24E-5932-4A27-951E-93EBC9FEB111}" presName="parTx" presStyleLbl="revTx" presStyleIdx="3" presStyleCnt="5">
        <dgm:presLayoutVars>
          <dgm:chMax val="0"/>
          <dgm:chPref val="0"/>
        </dgm:presLayoutVars>
      </dgm:prSet>
      <dgm:spPr/>
    </dgm:pt>
    <dgm:pt modelId="{13F30BE6-669E-4403-99F9-D28767079EC0}" type="pres">
      <dgm:prSet presAssocID="{71128CEB-1343-476F-A327-2F52D90FB04B}" presName="sibTrans" presStyleCnt="0"/>
      <dgm:spPr/>
    </dgm:pt>
    <dgm:pt modelId="{08F36383-22DC-4029-950C-39A791B8643A}" type="pres">
      <dgm:prSet presAssocID="{5D62F274-FE75-4408-9D8F-5FAD8B9C8CA3}" presName="compNode" presStyleCnt="0"/>
      <dgm:spPr/>
    </dgm:pt>
    <dgm:pt modelId="{5DDA1544-088B-432C-AB71-F8D79894D074}" type="pres">
      <dgm:prSet presAssocID="{5D62F274-FE75-4408-9D8F-5FAD8B9C8CA3}" presName="bgRect" presStyleLbl="bgShp" presStyleIdx="4" presStyleCnt="5"/>
      <dgm:spPr/>
    </dgm:pt>
    <dgm:pt modelId="{AEDB3F82-6BDE-4E66-B4ED-8E1087D7904D}" type="pres">
      <dgm:prSet presAssocID="{5D62F274-FE75-4408-9D8F-5FAD8B9C8CA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Customer review"/>
        </a:ext>
      </dgm:extLst>
    </dgm:pt>
    <dgm:pt modelId="{BDD983E7-CE18-441F-ADCA-BE2F18BB0C4E}" type="pres">
      <dgm:prSet presAssocID="{5D62F274-FE75-4408-9D8F-5FAD8B9C8CA3}" presName="spaceRect" presStyleCnt="0"/>
      <dgm:spPr/>
    </dgm:pt>
    <dgm:pt modelId="{3468D67A-8108-4793-B70B-F244D774569A}" type="pres">
      <dgm:prSet presAssocID="{5D62F274-FE75-4408-9D8F-5FAD8B9C8CA3}" presName="parTx" presStyleLbl="revTx" presStyleIdx="4" presStyleCnt="5">
        <dgm:presLayoutVars>
          <dgm:chMax val="0"/>
          <dgm:chPref val="0"/>
        </dgm:presLayoutVars>
      </dgm:prSet>
      <dgm:spPr/>
    </dgm:pt>
  </dgm:ptLst>
  <dgm:cxnLst>
    <dgm:cxn modelId="{78BA1613-6D41-49FD-9CEC-AD275362DF1D}" type="presOf" srcId="{B3E55F23-F04A-445C-9AEE-9EE09F5726F6}" destId="{8EF2FF7B-1ACE-41E6-A1FD-E1D2B2F742C1}" srcOrd="0" destOrd="0" presId="urn:microsoft.com/office/officeart/2018/2/layout/IconVerticalSolidList"/>
    <dgm:cxn modelId="{B2560145-7A3B-44EF-B063-601FE6A32F98}" type="presOf" srcId="{14E94DEB-D5EB-4A8D-A20C-08E76D64F796}" destId="{80A2D192-A137-4E27-9ADE-912B9BA59E8B}" srcOrd="0" destOrd="0" presId="urn:microsoft.com/office/officeart/2018/2/layout/IconVerticalSolidList"/>
    <dgm:cxn modelId="{D32D5949-C5D9-4FD9-BAC6-FFFA8E5039E3}" type="presOf" srcId="{5D62F274-FE75-4408-9D8F-5FAD8B9C8CA3}" destId="{3468D67A-8108-4793-B70B-F244D774569A}" srcOrd="0" destOrd="0" presId="urn:microsoft.com/office/officeart/2018/2/layout/IconVerticalSolidList"/>
    <dgm:cxn modelId="{6DECC078-F4BF-477D-B8E5-1349DF992B65}" srcId="{14E94DEB-D5EB-4A8D-A20C-08E76D64F796}" destId="{1325BE50-6957-4E0A-A60A-EA9BC73A92CA}" srcOrd="1" destOrd="0" parTransId="{323ABDC7-C102-40A1-8694-A0EFA8EE1FED}" sibTransId="{D89E923E-50FC-46A5-B95C-BEAC6E6E2F66}"/>
    <dgm:cxn modelId="{DAB2908D-5764-4D7B-BD25-91AC4626E7AE}" srcId="{14E94DEB-D5EB-4A8D-A20C-08E76D64F796}" destId="{56FFF24E-5932-4A27-951E-93EBC9FEB111}" srcOrd="3" destOrd="0" parTransId="{F0ED9CF1-446C-49B1-8C0C-8AD159E1B37D}" sibTransId="{71128CEB-1343-476F-A327-2F52D90FB04B}"/>
    <dgm:cxn modelId="{D2CEA39B-8264-46E5-BAE1-2D322C9B2882}" srcId="{14E94DEB-D5EB-4A8D-A20C-08E76D64F796}" destId="{5D62F274-FE75-4408-9D8F-5FAD8B9C8CA3}" srcOrd="4" destOrd="0" parTransId="{D6C50457-2D62-4B0F-BDBA-D2A7EA0F4686}" sibTransId="{A9355FDD-96F3-42B0-A887-01011C6EE422}"/>
    <dgm:cxn modelId="{5DFA61BB-B703-45C6-9CED-C87251450EBB}" type="presOf" srcId="{29A5DF26-00A8-4CAB-9F7C-0A68F96CF3C7}" destId="{3B60CA07-74F8-4404-ADE3-D31924A899AB}" srcOrd="0" destOrd="0" presId="urn:microsoft.com/office/officeart/2018/2/layout/IconVerticalSolidList"/>
    <dgm:cxn modelId="{1B662FBE-7430-4897-B80C-9F3508AE8AC4}" srcId="{14E94DEB-D5EB-4A8D-A20C-08E76D64F796}" destId="{B3E55F23-F04A-445C-9AEE-9EE09F5726F6}" srcOrd="0" destOrd="0" parTransId="{BC48EB45-793C-451C-8142-238184B73ADB}" sibTransId="{F8A92A17-BE33-4A18-B74F-456E09A6029A}"/>
    <dgm:cxn modelId="{982A16CF-B0C5-4FAC-A3C1-0F1A4CDD221B}" srcId="{14E94DEB-D5EB-4A8D-A20C-08E76D64F796}" destId="{29A5DF26-00A8-4CAB-9F7C-0A68F96CF3C7}" srcOrd="2" destOrd="0" parTransId="{BB81B8D6-DD09-4997-846E-A1D50FD5DEC4}" sibTransId="{06791DF5-A527-4FDC-9968-B5EA5FA73F3E}"/>
    <dgm:cxn modelId="{7A756DD2-2A04-4BC8-95A5-0FB90B254277}" type="presOf" srcId="{1325BE50-6957-4E0A-A60A-EA9BC73A92CA}" destId="{54287581-AB4B-405F-9245-0BC4C6CEE6B5}" srcOrd="0" destOrd="0" presId="urn:microsoft.com/office/officeart/2018/2/layout/IconVerticalSolidList"/>
    <dgm:cxn modelId="{4B0900FD-2560-4EDE-B86A-B1B8E555CA85}" type="presOf" srcId="{56FFF24E-5932-4A27-951E-93EBC9FEB111}" destId="{BE885D77-55F0-4030-A500-25C6006888BB}" srcOrd="0" destOrd="0" presId="urn:microsoft.com/office/officeart/2018/2/layout/IconVerticalSolidList"/>
    <dgm:cxn modelId="{CF7B0B44-D687-48B3-B8B5-64C23B951407}" type="presParOf" srcId="{80A2D192-A137-4E27-9ADE-912B9BA59E8B}" destId="{6942106F-564D-4B8B-8D8F-6AC597D4C694}" srcOrd="0" destOrd="0" presId="urn:microsoft.com/office/officeart/2018/2/layout/IconVerticalSolidList"/>
    <dgm:cxn modelId="{EA2623C3-0A3C-46B9-ADB2-FB3B337EA2E9}" type="presParOf" srcId="{6942106F-564D-4B8B-8D8F-6AC597D4C694}" destId="{0B2652A9-20B2-4780-9FCD-EC3F762F72A6}" srcOrd="0" destOrd="0" presId="urn:microsoft.com/office/officeart/2018/2/layout/IconVerticalSolidList"/>
    <dgm:cxn modelId="{026F286E-99C0-43D5-8AFF-DC0788B2688C}" type="presParOf" srcId="{6942106F-564D-4B8B-8D8F-6AC597D4C694}" destId="{4AE97A6C-7F3F-48FC-9674-76BA7B7E8A82}" srcOrd="1" destOrd="0" presId="urn:microsoft.com/office/officeart/2018/2/layout/IconVerticalSolidList"/>
    <dgm:cxn modelId="{E8803D90-CE70-46AE-ADF6-D4D666EA472B}" type="presParOf" srcId="{6942106F-564D-4B8B-8D8F-6AC597D4C694}" destId="{3232DFD8-16DA-45F9-A482-4E11993ABE05}" srcOrd="2" destOrd="0" presId="urn:microsoft.com/office/officeart/2018/2/layout/IconVerticalSolidList"/>
    <dgm:cxn modelId="{B70FC4BC-B684-41EE-B5E3-5060AC6E8263}" type="presParOf" srcId="{6942106F-564D-4B8B-8D8F-6AC597D4C694}" destId="{8EF2FF7B-1ACE-41E6-A1FD-E1D2B2F742C1}" srcOrd="3" destOrd="0" presId="urn:microsoft.com/office/officeart/2018/2/layout/IconVerticalSolidList"/>
    <dgm:cxn modelId="{35B365DF-BBE1-46AD-9797-70835A006B04}" type="presParOf" srcId="{80A2D192-A137-4E27-9ADE-912B9BA59E8B}" destId="{CF533803-0C25-405E-83B4-987F24212D3C}" srcOrd="1" destOrd="0" presId="urn:microsoft.com/office/officeart/2018/2/layout/IconVerticalSolidList"/>
    <dgm:cxn modelId="{459BA196-C6F8-463F-9CF1-A6E6012429B2}" type="presParOf" srcId="{80A2D192-A137-4E27-9ADE-912B9BA59E8B}" destId="{DEB2DBD5-8316-4442-8C94-563E91575428}" srcOrd="2" destOrd="0" presId="urn:microsoft.com/office/officeart/2018/2/layout/IconVerticalSolidList"/>
    <dgm:cxn modelId="{9841F5F8-125A-43CF-8613-0AC39A71CA32}" type="presParOf" srcId="{DEB2DBD5-8316-4442-8C94-563E91575428}" destId="{8F9EBA6B-93CB-45E3-87F8-82DDDBCD66CF}" srcOrd="0" destOrd="0" presId="urn:microsoft.com/office/officeart/2018/2/layout/IconVerticalSolidList"/>
    <dgm:cxn modelId="{7D2E0534-334E-47DE-83BE-88119EF893D8}" type="presParOf" srcId="{DEB2DBD5-8316-4442-8C94-563E91575428}" destId="{29FFEF88-12E5-4AB5-A7BC-87D69AFCCFF3}" srcOrd="1" destOrd="0" presId="urn:microsoft.com/office/officeart/2018/2/layout/IconVerticalSolidList"/>
    <dgm:cxn modelId="{176128EC-543F-4B18-A14E-A555408D4052}" type="presParOf" srcId="{DEB2DBD5-8316-4442-8C94-563E91575428}" destId="{A53021DE-5359-4B77-8E9A-CC7B9A9302D3}" srcOrd="2" destOrd="0" presId="urn:microsoft.com/office/officeart/2018/2/layout/IconVerticalSolidList"/>
    <dgm:cxn modelId="{03D47C96-5FE1-4EC1-AF64-C8A21315603B}" type="presParOf" srcId="{DEB2DBD5-8316-4442-8C94-563E91575428}" destId="{54287581-AB4B-405F-9245-0BC4C6CEE6B5}" srcOrd="3" destOrd="0" presId="urn:microsoft.com/office/officeart/2018/2/layout/IconVerticalSolidList"/>
    <dgm:cxn modelId="{0910A4D5-0E89-4F03-8D2B-6A34F4C11DAA}" type="presParOf" srcId="{80A2D192-A137-4E27-9ADE-912B9BA59E8B}" destId="{C90938FF-57C5-4F65-AC10-19D75DC02660}" srcOrd="3" destOrd="0" presId="urn:microsoft.com/office/officeart/2018/2/layout/IconVerticalSolidList"/>
    <dgm:cxn modelId="{D714DC88-A1C9-47EA-B23B-E5DB09A4C050}" type="presParOf" srcId="{80A2D192-A137-4E27-9ADE-912B9BA59E8B}" destId="{0CAA048D-EBD0-49B2-A530-5AC854CF2F49}" srcOrd="4" destOrd="0" presId="urn:microsoft.com/office/officeart/2018/2/layout/IconVerticalSolidList"/>
    <dgm:cxn modelId="{34369969-43F9-42E9-8520-F91E3CE5CFDD}" type="presParOf" srcId="{0CAA048D-EBD0-49B2-A530-5AC854CF2F49}" destId="{C330D5CF-D226-4994-8FAE-F42D375A1740}" srcOrd="0" destOrd="0" presId="urn:microsoft.com/office/officeart/2018/2/layout/IconVerticalSolidList"/>
    <dgm:cxn modelId="{F12F0B41-CD12-4353-835D-0D8499AF3989}" type="presParOf" srcId="{0CAA048D-EBD0-49B2-A530-5AC854CF2F49}" destId="{E2E5F161-F76D-49C4-A1DB-45DC4B3D0D7F}" srcOrd="1" destOrd="0" presId="urn:microsoft.com/office/officeart/2018/2/layout/IconVerticalSolidList"/>
    <dgm:cxn modelId="{64CB1E05-0A26-41B4-880C-726F64191B58}" type="presParOf" srcId="{0CAA048D-EBD0-49B2-A530-5AC854CF2F49}" destId="{630FCAFB-A4BB-42CA-A14A-A57C0CFE4627}" srcOrd="2" destOrd="0" presId="urn:microsoft.com/office/officeart/2018/2/layout/IconVerticalSolidList"/>
    <dgm:cxn modelId="{02C41B3E-5F7B-4680-8199-2E3B8A4F14B0}" type="presParOf" srcId="{0CAA048D-EBD0-49B2-A530-5AC854CF2F49}" destId="{3B60CA07-74F8-4404-ADE3-D31924A899AB}" srcOrd="3" destOrd="0" presId="urn:microsoft.com/office/officeart/2018/2/layout/IconVerticalSolidList"/>
    <dgm:cxn modelId="{C6920774-A1C7-4027-B785-4F3300B8D301}" type="presParOf" srcId="{80A2D192-A137-4E27-9ADE-912B9BA59E8B}" destId="{DE5C9566-DCB9-4F8C-AB5A-3A4415527C79}" srcOrd="5" destOrd="0" presId="urn:microsoft.com/office/officeart/2018/2/layout/IconVerticalSolidList"/>
    <dgm:cxn modelId="{933620EA-4BDE-4A8B-9098-322A7FCD7C80}" type="presParOf" srcId="{80A2D192-A137-4E27-9ADE-912B9BA59E8B}" destId="{368D9F26-461B-4191-974C-5378A1EBC914}" srcOrd="6" destOrd="0" presId="urn:microsoft.com/office/officeart/2018/2/layout/IconVerticalSolidList"/>
    <dgm:cxn modelId="{BB61744F-1C89-4E5F-897E-03EEDB8E16DD}" type="presParOf" srcId="{368D9F26-461B-4191-974C-5378A1EBC914}" destId="{80AED3A0-2644-4B14-B924-8B299400031D}" srcOrd="0" destOrd="0" presId="urn:microsoft.com/office/officeart/2018/2/layout/IconVerticalSolidList"/>
    <dgm:cxn modelId="{8DD7B14A-61F3-47F0-8E53-5B37B5503581}" type="presParOf" srcId="{368D9F26-461B-4191-974C-5378A1EBC914}" destId="{8C5D0BDB-3EB0-4921-8A0F-60B6F67C577F}" srcOrd="1" destOrd="0" presId="urn:microsoft.com/office/officeart/2018/2/layout/IconVerticalSolidList"/>
    <dgm:cxn modelId="{33C4E621-B0C5-4000-9CE7-8F610CC4107F}" type="presParOf" srcId="{368D9F26-461B-4191-974C-5378A1EBC914}" destId="{604DE2A7-6D3B-4408-A9FF-1421BB306515}" srcOrd="2" destOrd="0" presId="urn:microsoft.com/office/officeart/2018/2/layout/IconVerticalSolidList"/>
    <dgm:cxn modelId="{3C2402B1-0A7C-4885-9C45-2AF7135D1570}" type="presParOf" srcId="{368D9F26-461B-4191-974C-5378A1EBC914}" destId="{BE885D77-55F0-4030-A500-25C6006888BB}" srcOrd="3" destOrd="0" presId="urn:microsoft.com/office/officeart/2018/2/layout/IconVerticalSolidList"/>
    <dgm:cxn modelId="{68D4CD50-04E2-4851-BE23-0652E9C8EA14}" type="presParOf" srcId="{80A2D192-A137-4E27-9ADE-912B9BA59E8B}" destId="{13F30BE6-669E-4403-99F9-D28767079EC0}" srcOrd="7" destOrd="0" presId="urn:microsoft.com/office/officeart/2018/2/layout/IconVerticalSolidList"/>
    <dgm:cxn modelId="{0ED7D924-BF5F-48C9-B3B2-7B09F3FD2B86}" type="presParOf" srcId="{80A2D192-A137-4E27-9ADE-912B9BA59E8B}" destId="{08F36383-22DC-4029-950C-39A791B8643A}" srcOrd="8" destOrd="0" presId="urn:microsoft.com/office/officeart/2018/2/layout/IconVerticalSolidList"/>
    <dgm:cxn modelId="{D98E637E-E26A-4520-97F1-475AF79B459E}" type="presParOf" srcId="{08F36383-22DC-4029-950C-39A791B8643A}" destId="{5DDA1544-088B-432C-AB71-F8D79894D074}" srcOrd="0" destOrd="0" presId="urn:microsoft.com/office/officeart/2018/2/layout/IconVerticalSolidList"/>
    <dgm:cxn modelId="{2B555C44-AF4D-4369-839A-B1ED6F0884DF}" type="presParOf" srcId="{08F36383-22DC-4029-950C-39A791B8643A}" destId="{AEDB3F82-6BDE-4E66-B4ED-8E1087D7904D}" srcOrd="1" destOrd="0" presId="urn:microsoft.com/office/officeart/2018/2/layout/IconVerticalSolidList"/>
    <dgm:cxn modelId="{38C117C0-504D-492B-B3E5-87F98CE547F6}" type="presParOf" srcId="{08F36383-22DC-4029-950C-39A791B8643A}" destId="{BDD983E7-CE18-441F-ADCA-BE2F18BB0C4E}" srcOrd="2" destOrd="0" presId="urn:microsoft.com/office/officeart/2018/2/layout/IconVerticalSolidList"/>
    <dgm:cxn modelId="{890FE77F-3FDC-4531-B05F-8A6E9CB02D58}" type="presParOf" srcId="{08F36383-22DC-4029-950C-39A791B8643A}" destId="{3468D67A-8108-4793-B70B-F244D774569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267249-FDB8-AE4C-84B1-00BEF23512D0}">
      <dsp:nvSpPr>
        <dsp:cNvPr id="0" name=""/>
        <dsp:cNvSpPr/>
      </dsp:nvSpPr>
      <dsp:spPr>
        <a:xfrm>
          <a:off x="0" y="569"/>
          <a:ext cx="1123435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28889C-A76C-5444-AE62-C284666EC43E}">
      <dsp:nvSpPr>
        <dsp:cNvPr id="0" name=""/>
        <dsp:cNvSpPr/>
      </dsp:nvSpPr>
      <dsp:spPr>
        <a:xfrm>
          <a:off x="0" y="569"/>
          <a:ext cx="11234351" cy="933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i="1" kern="1200" dirty="0"/>
            <a:t>Outdated thinking</a:t>
          </a:r>
        </a:p>
      </dsp:txBody>
      <dsp:txXfrm>
        <a:off x="0" y="569"/>
        <a:ext cx="11234351" cy="933222"/>
      </dsp:txXfrm>
    </dsp:sp>
    <dsp:sp modelId="{763DF440-4EB7-B14F-BEDF-19FF7EE6633C}">
      <dsp:nvSpPr>
        <dsp:cNvPr id="0" name=""/>
        <dsp:cNvSpPr/>
      </dsp:nvSpPr>
      <dsp:spPr>
        <a:xfrm>
          <a:off x="0" y="933791"/>
          <a:ext cx="1123435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FE00E5-28A3-EC4E-967A-69F793ED71DE}">
      <dsp:nvSpPr>
        <dsp:cNvPr id="0" name=""/>
        <dsp:cNvSpPr/>
      </dsp:nvSpPr>
      <dsp:spPr>
        <a:xfrm>
          <a:off x="0" y="933791"/>
          <a:ext cx="11234351" cy="933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i="1" kern="1200" dirty="0"/>
            <a:t>Lack of knowledge of best practices</a:t>
          </a:r>
        </a:p>
      </dsp:txBody>
      <dsp:txXfrm>
        <a:off x="0" y="933791"/>
        <a:ext cx="11234351" cy="933222"/>
      </dsp:txXfrm>
    </dsp:sp>
    <dsp:sp modelId="{60D47A63-3076-4A48-A27F-3B33057D5A55}">
      <dsp:nvSpPr>
        <dsp:cNvPr id="0" name=""/>
        <dsp:cNvSpPr/>
      </dsp:nvSpPr>
      <dsp:spPr>
        <a:xfrm>
          <a:off x="0" y="1867013"/>
          <a:ext cx="1123435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4B44FE-39CF-D244-BF3A-9C405550E594}">
      <dsp:nvSpPr>
        <dsp:cNvPr id="0" name=""/>
        <dsp:cNvSpPr/>
      </dsp:nvSpPr>
      <dsp:spPr>
        <a:xfrm>
          <a:off x="0" y="1867013"/>
          <a:ext cx="11234351" cy="933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i="1" kern="1200" dirty="0"/>
            <a:t>Comfort with the way things are</a:t>
          </a:r>
        </a:p>
      </dsp:txBody>
      <dsp:txXfrm>
        <a:off x="0" y="1867013"/>
        <a:ext cx="11234351" cy="933222"/>
      </dsp:txXfrm>
    </dsp:sp>
    <dsp:sp modelId="{C984FA21-62E7-F444-AAD0-B5B18743FA7A}">
      <dsp:nvSpPr>
        <dsp:cNvPr id="0" name=""/>
        <dsp:cNvSpPr/>
      </dsp:nvSpPr>
      <dsp:spPr>
        <a:xfrm>
          <a:off x="0" y="2800236"/>
          <a:ext cx="1123435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ACA4FC-7A77-A942-9E51-F965C241BFC6}">
      <dsp:nvSpPr>
        <dsp:cNvPr id="0" name=""/>
        <dsp:cNvSpPr/>
      </dsp:nvSpPr>
      <dsp:spPr>
        <a:xfrm>
          <a:off x="0" y="2800236"/>
          <a:ext cx="11234351" cy="933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i="1" kern="1200" dirty="0"/>
            <a:t>Systems that reinforce traditional services and supports</a:t>
          </a:r>
        </a:p>
      </dsp:txBody>
      <dsp:txXfrm>
        <a:off x="0" y="2800236"/>
        <a:ext cx="11234351" cy="933222"/>
      </dsp:txXfrm>
    </dsp:sp>
    <dsp:sp modelId="{831A5562-3E80-A248-B68F-9E1EF7305D8E}">
      <dsp:nvSpPr>
        <dsp:cNvPr id="0" name=""/>
        <dsp:cNvSpPr/>
      </dsp:nvSpPr>
      <dsp:spPr>
        <a:xfrm>
          <a:off x="0" y="3733458"/>
          <a:ext cx="1123435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5CB890-591F-4848-94CD-33CB9B1EB461}">
      <dsp:nvSpPr>
        <dsp:cNvPr id="0" name=""/>
        <dsp:cNvSpPr/>
      </dsp:nvSpPr>
      <dsp:spPr>
        <a:xfrm>
          <a:off x="0" y="3733458"/>
          <a:ext cx="11234351" cy="933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i="1" kern="1200" dirty="0"/>
            <a:t>A highly ableist society</a:t>
          </a:r>
        </a:p>
      </dsp:txBody>
      <dsp:txXfrm>
        <a:off x="0" y="3733458"/>
        <a:ext cx="11234351" cy="9332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08196D-7A6B-A54C-90A3-3FD174EC7AEE}">
      <dsp:nvSpPr>
        <dsp:cNvPr id="0" name=""/>
        <dsp:cNvSpPr/>
      </dsp:nvSpPr>
      <dsp:spPr>
        <a:xfrm>
          <a:off x="1333" y="110983"/>
          <a:ext cx="4682211" cy="29732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1E4FBC-8DD3-4B47-9213-9364A1F00E30}">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i="1" kern="1200"/>
            <a:t>People with disabilities need to be seen as full citizens who are automatically ‘in’</a:t>
          </a:r>
          <a:r>
            <a:rPr lang="en-US" sz="2800" kern="1200"/>
            <a:t> </a:t>
          </a:r>
          <a:r>
            <a:rPr lang="en-US" sz="2800" i="1" kern="1200"/>
            <a:t>and have a right to expect to be in, rather than outsiders who need to earn their way in</a:t>
          </a:r>
          <a:endParaRPr lang="en-US" sz="2800" kern="1200"/>
        </a:p>
      </dsp:txBody>
      <dsp:txXfrm>
        <a:off x="608661" y="692298"/>
        <a:ext cx="4508047" cy="2799040"/>
      </dsp:txXfrm>
    </dsp:sp>
    <dsp:sp modelId="{BFEE34E8-7F81-3149-91D0-52743C32A06D}">
      <dsp:nvSpPr>
        <dsp:cNvPr id="0" name=""/>
        <dsp:cNvSpPr/>
      </dsp:nvSpPr>
      <dsp:spPr>
        <a:xfrm>
          <a:off x="5724037" y="110983"/>
          <a:ext cx="4682211" cy="29732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138F44-40DF-F445-B992-FC8184CD2310}">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i="1" kern="1200" dirty="0"/>
            <a:t>Habitual othering needs to be</a:t>
          </a:r>
          <a:r>
            <a:rPr lang="en-US" sz="2800" kern="1200" dirty="0"/>
            <a:t> </a:t>
          </a:r>
          <a:r>
            <a:rPr lang="en-US" sz="2800" i="1" kern="1200" dirty="0"/>
            <a:t>challenged and addressed, so people with disabilities become regarded as full and autonomous citizens</a:t>
          </a:r>
          <a:endParaRPr lang="en-US" sz="2800" kern="1200" dirty="0"/>
        </a:p>
      </dsp:txBody>
      <dsp:txXfrm>
        <a:off x="6331365" y="692298"/>
        <a:ext cx="4508047" cy="27990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337F40-D807-D046-A406-6306B5BBB290}">
      <dsp:nvSpPr>
        <dsp:cNvPr id="0" name=""/>
        <dsp:cNvSpPr/>
      </dsp:nvSpPr>
      <dsp:spPr>
        <a:xfrm>
          <a:off x="0" y="506529"/>
          <a:ext cx="10515600" cy="831599"/>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2CDFF2C-B28E-8341-8846-7431038DCDF4}">
      <dsp:nvSpPr>
        <dsp:cNvPr id="0" name=""/>
        <dsp:cNvSpPr/>
      </dsp:nvSpPr>
      <dsp:spPr>
        <a:xfrm>
          <a:off x="525780" y="19449"/>
          <a:ext cx="7360920" cy="9741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466850">
            <a:lnSpc>
              <a:spcPct val="90000"/>
            </a:lnSpc>
            <a:spcBef>
              <a:spcPct val="0"/>
            </a:spcBef>
            <a:spcAft>
              <a:spcPct val="35000"/>
            </a:spcAft>
            <a:buNone/>
          </a:pPr>
          <a:r>
            <a:rPr lang="en-US" sz="3300" kern="1200"/>
            <a:t>Not charity</a:t>
          </a:r>
        </a:p>
      </dsp:txBody>
      <dsp:txXfrm>
        <a:off x="573335" y="67004"/>
        <a:ext cx="7265810" cy="879050"/>
      </dsp:txXfrm>
    </dsp:sp>
    <dsp:sp modelId="{C4AD5A70-6BA6-2949-B365-3A924C0D49B2}">
      <dsp:nvSpPr>
        <dsp:cNvPr id="0" name=""/>
        <dsp:cNvSpPr/>
      </dsp:nvSpPr>
      <dsp:spPr>
        <a:xfrm>
          <a:off x="0" y="2003409"/>
          <a:ext cx="10515600" cy="831599"/>
        </a:xfrm>
        <a:prstGeom prst="rect">
          <a:avLst/>
        </a:prstGeom>
        <a:solidFill>
          <a:schemeClr val="lt1">
            <a:alpha val="90000"/>
            <a:hueOff val="0"/>
            <a:satOff val="0"/>
            <a:lumOff val="0"/>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8565B7-BF2E-974F-8DA0-58BDDC81B1D8}">
      <dsp:nvSpPr>
        <dsp:cNvPr id="0" name=""/>
        <dsp:cNvSpPr/>
      </dsp:nvSpPr>
      <dsp:spPr>
        <a:xfrm>
          <a:off x="525780" y="1516329"/>
          <a:ext cx="7360920" cy="974160"/>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466850">
            <a:lnSpc>
              <a:spcPct val="90000"/>
            </a:lnSpc>
            <a:spcBef>
              <a:spcPct val="0"/>
            </a:spcBef>
            <a:spcAft>
              <a:spcPct val="35000"/>
            </a:spcAft>
            <a:buNone/>
          </a:pPr>
          <a:r>
            <a:rPr lang="en-US" sz="3300" kern="1200" dirty="0"/>
            <a:t>Not “token” jobs</a:t>
          </a:r>
        </a:p>
      </dsp:txBody>
      <dsp:txXfrm>
        <a:off x="573335" y="1563884"/>
        <a:ext cx="7265810" cy="879050"/>
      </dsp:txXfrm>
    </dsp:sp>
    <dsp:sp modelId="{E6BC3747-94A2-9A4D-A78D-804B5FFD9941}">
      <dsp:nvSpPr>
        <dsp:cNvPr id="0" name=""/>
        <dsp:cNvSpPr/>
      </dsp:nvSpPr>
      <dsp:spPr>
        <a:xfrm>
          <a:off x="0" y="3500289"/>
          <a:ext cx="10515600" cy="831599"/>
        </a:xfrm>
        <a:prstGeom prst="rect">
          <a:avLst/>
        </a:prstGeom>
        <a:solidFill>
          <a:schemeClr val="lt1">
            <a:alpha val="90000"/>
            <a:hueOff val="0"/>
            <a:satOff val="0"/>
            <a:lumOff val="0"/>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dsp:style>
    </dsp:sp>
    <dsp:sp modelId="{5B64EAC4-3E44-1E4C-BB0A-58C81B8DD8D9}">
      <dsp:nvSpPr>
        <dsp:cNvPr id="0" name=""/>
        <dsp:cNvSpPr/>
      </dsp:nvSpPr>
      <dsp:spPr>
        <a:xfrm>
          <a:off x="525780" y="3013209"/>
          <a:ext cx="7360920" cy="97416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466850">
            <a:lnSpc>
              <a:spcPct val="90000"/>
            </a:lnSpc>
            <a:spcBef>
              <a:spcPct val="0"/>
            </a:spcBef>
            <a:spcAft>
              <a:spcPct val="35000"/>
            </a:spcAft>
            <a:buNone/>
          </a:pPr>
          <a:r>
            <a:rPr lang="en-US" sz="3300" kern="1200" dirty="0">
              <a:solidFill>
                <a:schemeClr val="tx1"/>
              </a:solidFill>
            </a:rPr>
            <a:t>Not “social responsibility” </a:t>
          </a:r>
        </a:p>
      </dsp:txBody>
      <dsp:txXfrm>
        <a:off x="573335" y="3060764"/>
        <a:ext cx="7265810" cy="8790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2652A9-20B2-4780-9FCD-EC3F762F72A6}">
      <dsp:nvSpPr>
        <dsp:cNvPr id="0" name=""/>
        <dsp:cNvSpPr/>
      </dsp:nvSpPr>
      <dsp:spPr>
        <a:xfrm>
          <a:off x="0" y="4639"/>
          <a:ext cx="6740769" cy="98811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E97A6C-7F3F-48FC-9674-76BA7B7E8A82}">
      <dsp:nvSpPr>
        <dsp:cNvPr id="0" name=""/>
        <dsp:cNvSpPr/>
      </dsp:nvSpPr>
      <dsp:spPr>
        <a:xfrm>
          <a:off x="298905" y="226965"/>
          <a:ext cx="543464" cy="54346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F2FF7B-1ACE-41E6-A1FD-E1D2B2F742C1}">
      <dsp:nvSpPr>
        <dsp:cNvPr id="0" name=""/>
        <dsp:cNvSpPr/>
      </dsp:nvSpPr>
      <dsp:spPr>
        <a:xfrm>
          <a:off x="1141275" y="4639"/>
          <a:ext cx="5599493" cy="988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576" tIns="104576" rIns="104576" bIns="104576" numCol="1" spcCol="1270" anchor="ctr" anchorCtr="0">
          <a:noAutofit/>
        </a:bodyPr>
        <a:lstStyle/>
        <a:p>
          <a:pPr marL="0" lvl="0" indent="0" algn="l" defTabSz="1066800">
            <a:lnSpc>
              <a:spcPct val="90000"/>
            </a:lnSpc>
            <a:spcBef>
              <a:spcPct val="0"/>
            </a:spcBef>
            <a:spcAft>
              <a:spcPct val="35000"/>
            </a:spcAft>
            <a:buNone/>
          </a:pPr>
          <a:r>
            <a:rPr lang="en-US" sz="2400" kern="1200" dirty="0"/>
            <a:t>Provide information about benefits of working in the community</a:t>
          </a:r>
        </a:p>
      </dsp:txBody>
      <dsp:txXfrm>
        <a:off x="1141275" y="4639"/>
        <a:ext cx="5599493" cy="988117"/>
      </dsp:txXfrm>
    </dsp:sp>
    <dsp:sp modelId="{8F9EBA6B-93CB-45E3-87F8-82DDDBCD66CF}">
      <dsp:nvSpPr>
        <dsp:cNvPr id="0" name=""/>
        <dsp:cNvSpPr/>
      </dsp:nvSpPr>
      <dsp:spPr>
        <a:xfrm>
          <a:off x="0" y="1239785"/>
          <a:ext cx="6740769" cy="98811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FFEF88-12E5-4AB5-A7BC-87D69AFCCFF3}">
      <dsp:nvSpPr>
        <dsp:cNvPr id="0" name=""/>
        <dsp:cNvSpPr/>
      </dsp:nvSpPr>
      <dsp:spPr>
        <a:xfrm>
          <a:off x="298905" y="1462112"/>
          <a:ext cx="543464" cy="543464"/>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287581-AB4B-405F-9245-0BC4C6CEE6B5}">
      <dsp:nvSpPr>
        <dsp:cNvPr id="0" name=""/>
        <dsp:cNvSpPr/>
      </dsp:nvSpPr>
      <dsp:spPr>
        <a:xfrm>
          <a:off x="1141275" y="1239785"/>
          <a:ext cx="5599493" cy="988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576" tIns="104576" rIns="104576" bIns="104576" numCol="1" spcCol="1270" anchor="ctr" anchorCtr="0">
          <a:noAutofit/>
        </a:bodyPr>
        <a:lstStyle/>
        <a:p>
          <a:pPr marL="0" lvl="0" indent="0" algn="l" defTabSz="1066800">
            <a:lnSpc>
              <a:spcPct val="90000"/>
            </a:lnSpc>
            <a:spcBef>
              <a:spcPct val="0"/>
            </a:spcBef>
            <a:spcAft>
              <a:spcPct val="35000"/>
            </a:spcAft>
            <a:buNone/>
          </a:pPr>
          <a:r>
            <a:rPr lang="en-US" sz="2400" kern="1200" dirty="0"/>
            <a:t>Facilitate visits or other experiences with employers and businesses</a:t>
          </a:r>
        </a:p>
      </dsp:txBody>
      <dsp:txXfrm>
        <a:off x="1141275" y="1239785"/>
        <a:ext cx="5599493" cy="988117"/>
      </dsp:txXfrm>
    </dsp:sp>
    <dsp:sp modelId="{C330D5CF-D226-4994-8FAE-F42D375A1740}">
      <dsp:nvSpPr>
        <dsp:cNvPr id="0" name=""/>
        <dsp:cNvSpPr/>
      </dsp:nvSpPr>
      <dsp:spPr>
        <a:xfrm>
          <a:off x="0" y="2474932"/>
          <a:ext cx="6740769" cy="98811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E5F161-F76D-49C4-A1DB-45DC4B3D0D7F}">
      <dsp:nvSpPr>
        <dsp:cNvPr id="0" name=""/>
        <dsp:cNvSpPr/>
      </dsp:nvSpPr>
      <dsp:spPr>
        <a:xfrm>
          <a:off x="298905" y="2697259"/>
          <a:ext cx="543464" cy="54346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B60CA07-74F8-4404-ADE3-D31924A899AB}">
      <dsp:nvSpPr>
        <dsp:cNvPr id="0" name=""/>
        <dsp:cNvSpPr/>
      </dsp:nvSpPr>
      <dsp:spPr>
        <a:xfrm>
          <a:off x="1141275" y="2474932"/>
          <a:ext cx="5599493" cy="988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576" tIns="104576" rIns="104576" bIns="104576" numCol="1" spcCol="1270" anchor="ctr" anchorCtr="0">
          <a:noAutofit/>
        </a:bodyPr>
        <a:lstStyle/>
        <a:p>
          <a:pPr marL="0" lvl="0" indent="0" algn="l" defTabSz="1066800">
            <a:lnSpc>
              <a:spcPct val="90000"/>
            </a:lnSpc>
            <a:spcBef>
              <a:spcPct val="0"/>
            </a:spcBef>
            <a:spcAft>
              <a:spcPct val="35000"/>
            </a:spcAft>
            <a:buNone/>
          </a:pPr>
          <a:r>
            <a:rPr lang="en-US" sz="2400" kern="1200" dirty="0"/>
            <a:t>Peer-to-peer discussions</a:t>
          </a:r>
        </a:p>
      </dsp:txBody>
      <dsp:txXfrm>
        <a:off x="1141275" y="2474932"/>
        <a:ext cx="5599493" cy="988117"/>
      </dsp:txXfrm>
    </dsp:sp>
    <dsp:sp modelId="{80AED3A0-2644-4B14-B924-8B299400031D}">
      <dsp:nvSpPr>
        <dsp:cNvPr id="0" name=""/>
        <dsp:cNvSpPr/>
      </dsp:nvSpPr>
      <dsp:spPr>
        <a:xfrm>
          <a:off x="0" y="3710079"/>
          <a:ext cx="6740769" cy="988117"/>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5D0BDB-3EB0-4921-8A0F-60B6F67C577F}">
      <dsp:nvSpPr>
        <dsp:cNvPr id="0" name=""/>
        <dsp:cNvSpPr/>
      </dsp:nvSpPr>
      <dsp:spPr>
        <a:xfrm>
          <a:off x="298905" y="3932406"/>
          <a:ext cx="543464" cy="54346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E885D77-55F0-4030-A500-25C6006888BB}">
      <dsp:nvSpPr>
        <dsp:cNvPr id="0" name=""/>
        <dsp:cNvSpPr/>
      </dsp:nvSpPr>
      <dsp:spPr>
        <a:xfrm>
          <a:off x="1141275" y="3710079"/>
          <a:ext cx="5599493" cy="988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576" tIns="104576" rIns="104576" bIns="104576" numCol="1" spcCol="1270" anchor="ctr" anchorCtr="0">
          <a:noAutofit/>
        </a:bodyPr>
        <a:lstStyle/>
        <a:p>
          <a:pPr marL="0" lvl="0" indent="0" algn="l" defTabSz="889000">
            <a:lnSpc>
              <a:spcPct val="90000"/>
            </a:lnSpc>
            <a:spcBef>
              <a:spcPct val="0"/>
            </a:spcBef>
            <a:spcAft>
              <a:spcPct val="35000"/>
            </a:spcAft>
            <a:buNone/>
          </a:pPr>
          <a:r>
            <a:rPr lang="en-US" sz="2000" kern="1200" dirty="0"/>
            <a:t>Identify &amp; address any concerns or objections raised by individual or relevant decision maker</a:t>
          </a:r>
        </a:p>
      </dsp:txBody>
      <dsp:txXfrm>
        <a:off x="1141275" y="3710079"/>
        <a:ext cx="5599493" cy="988117"/>
      </dsp:txXfrm>
    </dsp:sp>
    <dsp:sp modelId="{5DDA1544-088B-432C-AB71-F8D79894D074}">
      <dsp:nvSpPr>
        <dsp:cNvPr id="0" name=""/>
        <dsp:cNvSpPr/>
      </dsp:nvSpPr>
      <dsp:spPr>
        <a:xfrm>
          <a:off x="0" y="4945226"/>
          <a:ext cx="6740769" cy="988117"/>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DB3F82-6BDE-4E66-B4ED-8E1087D7904D}">
      <dsp:nvSpPr>
        <dsp:cNvPr id="0" name=""/>
        <dsp:cNvSpPr/>
      </dsp:nvSpPr>
      <dsp:spPr>
        <a:xfrm>
          <a:off x="298905" y="5167552"/>
          <a:ext cx="543464" cy="54346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68D67A-8108-4793-B70B-F244D774569A}">
      <dsp:nvSpPr>
        <dsp:cNvPr id="0" name=""/>
        <dsp:cNvSpPr/>
      </dsp:nvSpPr>
      <dsp:spPr>
        <a:xfrm>
          <a:off x="1141275" y="4945226"/>
          <a:ext cx="5599493" cy="988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576" tIns="104576" rIns="104576" bIns="104576" numCol="1" spcCol="1270" anchor="ctr" anchorCtr="0">
          <a:noAutofit/>
        </a:bodyPr>
        <a:lstStyle/>
        <a:p>
          <a:pPr marL="0" lvl="0" indent="0" algn="l" defTabSz="1066800">
            <a:lnSpc>
              <a:spcPct val="90000"/>
            </a:lnSpc>
            <a:spcBef>
              <a:spcPct val="0"/>
            </a:spcBef>
            <a:spcAft>
              <a:spcPct val="35000"/>
            </a:spcAft>
            <a:buNone/>
          </a:pPr>
          <a:r>
            <a:rPr lang="en-US" sz="2400" kern="1200" dirty="0"/>
            <a:t>Regularly revisit decision not to work in the community</a:t>
          </a:r>
        </a:p>
      </dsp:txBody>
      <dsp:txXfrm>
        <a:off x="1141275" y="4945226"/>
        <a:ext cx="5599493" cy="98811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42CFF5-A785-3F42-8691-F848F18637BF}" type="datetimeFigureOut">
              <a:rPr lang="en-US" smtClean="0"/>
              <a:t>11/7/25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136DAA-7B30-664D-935E-BFB8724B52E2}" type="slidenum">
              <a:rPr lang="en-US" smtClean="0"/>
              <a:t>‹#›</a:t>
            </a:fld>
            <a:endParaRPr lang="en-US"/>
          </a:p>
        </p:txBody>
      </p:sp>
    </p:spTree>
    <p:extLst>
      <p:ext uri="{BB962C8B-B14F-4D97-AF65-F5344CB8AC3E}">
        <p14:creationId xmlns:p14="http://schemas.microsoft.com/office/powerpoint/2010/main" val="2246887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136DAA-7B30-664D-935E-BFB8724B52E2}" type="slidenum">
              <a:rPr lang="en-US" smtClean="0"/>
              <a:t>1</a:t>
            </a:fld>
            <a:endParaRPr lang="en-US"/>
          </a:p>
        </p:txBody>
      </p:sp>
    </p:spTree>
    <p:extLst>
      <p:ext uri="{BB962C8B-B14F-4D97-AF65-F5344CB8AC3E}">
        <p14:creationId xmlns:p14="http://schemas.microsoft.com/office/powerpoint/2010/main" val="1474146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expert, SME, advocate, </a:t>
            </a:r>
            <a:r>
              <a:rPr lang="en-US" dirty="0" err="1"/>
              <a:t>alliy</a:t>
            </a:r>
            <a:r>
              <a:rPr lang="en-US" dirty="0"/>
              <a:t>. Not </a:t>
            </a:r>
            <a:r>
              <a:rPr lang="en-US" dirty="0" err="1"/>
              <a:t>idnenttify</a:t>
            </a:r>
            <a:r>
              <a:rPr lang="en-US" dirty="0"/>
              <a:t> as a PWD. Members of extended family with disabilities, I do not have personal experience as a parent, sibling, or caretake of someone with a disability. Never pretend to speak for or </a:t>
            </a:r>
            <a:r>
              <a:rPr lang="en-US" dirty="0" err="1"/>
              <a:t>represernt</a:t>
            </a:r>
            <a:r>
              <a:rPr lang="en-US" dirty="0"/>
              <a:t> people with disabilities. Immersed in work over 3 decades: direct service, </a:t>
            </a:r>
            <a:r>
              <a:rPr lang="en-US" dirty="0" err="1"/>
              <a:t>admininistrater</a:t>
            </a:r>
            <a:r>
              <a:rPr lang="en-US" dirty="0"/>
              <a:t>, training and TA. Level of discomfort, and that’s okay. Need to challenge ourselves </a:t>
            </a:r>
          </a:p>
        </p:txBody>
      </p:sp>
      <p:sp>
        <p:nvSpPr>
          <p:cNvPr id="4" name="Slide Number Placeholder 3"/>
          <p:cNvSpPr>
            <a:spLocks noGrp="1"/>
          </p:cNvSpPr>
          <p:nvPr>
            <p:ph type="sldNum" sz="quarter" idx="5"/>
          </p:nvPr>
        </p:nvSpPr>
        <p:spPr/>
        <p:txBody>
          <a:bodyPr/>
          <a:lstStyle/>
          <a:p>
            <a:fld id="{A3136DAA-7B30-664D-935E-BFB8724B52E2}" type="slidenum">
              <a:rPr lang="en-US" smtClean="0"/>
              <a:t>2</a:t>
            </a:fld>
            <a:endParaRPr lang="en-US"/>
          </a:p>
        </p:txBody>
      </p:sp>
    </p:spTree>
    <p:extLst>
      <p:ext uri="{BB962C8B-B14F-4D97-AF65-F5344CB8AC3E}">
        <p14:creationId xmlns:p14="http://schemas.microsoft.com/office/powerpoint/2010/main" val="2036928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136DAA-7B30-664D-935E-BFB8724B52E2}" type="slidenum">
              <a:rPr lang="en-US" smtClean="0"/>
              <a:t>3</a:t>
            </a:fld>
            <a:endParaRPr lang="en-US"/>
          </a:p>
        </p:txBody>
      </p:sp>
    </p:spTree>
    <p:extLst>
      <p:ext uri="{BB962C8B-B14F-4D97-AF65-F5344CB8AC3E}">
        <p14:creationId xmlns:p14="http://schemas.microsoft.com/office/powerpoint/2010/main" val="972233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3136DAA-7B30-664D-935E-BFB8724B52E2}" type="slidenum">
              <a:rPr lang="en-US" smtClean="0"/>
              <a:t>9</a:t>
            </a:fld>
            <a:endParaRPr lang="en-US"/>
          </a:p>
        </p:txBody>
      </p:sp>
    </p:spTree>
    <p:extLst>
      <p:ext uri="{BB962C8B-B14F-4D97-AF65-F5344CB8AC3E}">
        <p14:creationId xmlns:p14="http://schemas.microsoft.com/office/powerpoint/2010/main" val="21884930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3136DAA-7B30-664D-935E-BFB8724B52E2}" type="slidenum">
              <a:rPr lang="en-US" smtClean="0"/>
              <a:t>10</a:t>
            </a:fld>
            <a:endParaRPr lang="en-US"/>
          </a:p>
        </p:txBody>
      </p:sp>
    </p:spTree>
    <p:extLst>
      <p:ext uri="{BB962C8B-B14F-4D97-AF65-F5344CB8AC3E}">
        <p14:creationId xmlns:p14="http://schemas.microsoft.com/office/powerpoint/2010/main" val="12616028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3136DAA-7B30-664D-935E-BFB8724B52E2}" type="slidenum">
              <a:rPr lang="en-US" smtClean="0"/>
              <a:t>11</a:t>
            </a:fld>
            <a:endParaRPr lang="en-US"/>
          </a:p>
        </p:txBody>
      </p:sp>
    </p:spTree>
    <p:extLst>
      <p:ext uri="{BB962C8B-B14F-4D97-AF65-F5344CB8AC3E}">
        <p14:creationId xmlns:p14="http://schemas.microsoft.com/office/powerpoint/2010/main" val="2706164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136DAA-7B30-664D-935E-BFB8724B52E2}" type="slidenum">
              <a:rPr lang="en-US" smtClean="0"/>
              <a:t>12</a:t>
            </a:fld>
            <a:endParaRPr lang="en-US"/>
          </a:p>
        </p:txBody>
      </p:sp>
    </p:spTree>
    <p:extLst>
      <p:ext uri="{BB962C8B-B14F-4D97-AF65-F5344CB8AC3E}">
        <p14:creationId xmlns:p14="http://schemas.microsoft.com/office/powerpoint/2010/main" val="4117332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2BD3D05-40DE-804B-B89D-C4C10A74C3BD}" type="slidenum">
              <a:rPr lang="en-US" smtClean="0"/>
              <a:t>13</a:t>
            </a:fld>
            <a:endParaRPr lang="en-US"/>
          </a:p>
        </p:txBody>
      </p:sp>
    </p:spTree>
    <p:extLst>
      <p:ext uri="{BB962C8B-B14F-4D97-AF65-F5344CB8AC3E}">
        <p14:creationId xmlns:p14="http://schemas.microsoft.com/office/powerpoint/2010/main" val="3005829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2BD3D05-40DE-804B-B89D-C4C10A74C3BD}" type="slidenum">
              <a:rPr lang="en-US" smtClean="0"/>
              <a:t>15</a:t>
            </a:fld>
            <a:endParaRPr lang="en-US"/>
          </a:p>
        </p:txBody>
      </p:sp>
    </p:spTree>
    <p:extLst>
      <p:ext uri="{BB962C8B-B14F-4D97-AF65-F5344CB8AC3E}">
        <p14:creationId xmlns:p14="http://schemas.microsoft.com/office/powerpoint/2010/main" val="17539058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2BD3D05-40DE-804B-B89D-C4C10A74C3BD}" type="slidenum">
              <a:rPr lang="en-US" smtClean="0"/>
              <a:t>17</a:t>
            </a:fld>
            <a:endParaRPr lang="en-US"/>
          </a:p>
        </p:txBody>
      </p:sp>
    </p:spTree>
    <p:extLst>
      <p:ext uri="{BB962C8B-B14F-4D97-AF65-F5344CB8AC3E}">
        <p14:creationId xmlns:p14="http://schemas.microsoft.com/office/powerpoint/2010/main" val="32909524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3136DAA-7B30-664D-935E-BFB8724B52E2}" type="slidenum">
              <a:rPr lang="en-US" smtClean="0"/>
              <a:t>18</a:t>
            </a:fld>
            <a:endParaRPr lang="en-US"/>
          </a:p>
        </p:txBody>
      </p:sp>
    </p:spTree>
    <p:extLst>
      <p:ext uri="{BB962C8B-B14F-4D97-AF65-F5344CB8AC3E}">
        <p14:creationId xmlns:p14="http://schemas.microsoft.com/office/powerpoint/2010/main" val="23119290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BD3D05-40DE-804B-B89D-C4C10A74C3BD}" type="slidenum">
              <a:rPr lang="en-US" smtClean="0"/>
              <a:t>19</a:t>
            </a:fld>
            <a:endParaRPr lang="en-US"/>
          </a:p>
        </p:txBody>
      </p:sp>
    </p:spTree>
    <p:extLst>
      <p:ext uri="{BB962C8B-B14F-4D97-AF65-F5344CB8AC3E}">
        <p14:creationId xmlns:p14="http://schemas.microsoft.com/office/powerpoint/2010/main" val="39902019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A58BB-C748-0391-B00F-80FD72D704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39C76-5DEA-919E-F3ED-754324E478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199C6F-FD55-CFE6-0176-BF3EF3D6EA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32B69F-68E5-0112-B693-E2674F7541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136DAA-7B30-664D-935E-BFB8724B52E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29958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136DAA-7B30-664D-935E-BFB8724B52E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392583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A572DD-4720-0A43-B91B-5E856D26567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08014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136DAA-7B30-664D-935E-BFB8724B52E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748530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136DAA-7B30-664D-935E-BFB8724B52E2}" type="slidenum">
              <a:rPr lang="en-US" smtClean="0"/>
              <a:t>27</a:t>
            </a:fld>
            <a:endParaRPr lang="en-US"/>
          </a:p>
        </p:txBody>
      </p:sp>
    </p:spTree>
    <p:extLst>
      <p:ext uri="{BB962C8B-B14F-4D97-AF65-F5344CB8AC3E}">
        <p14:creationId xmlns:p14="http://schemas.microsoft.com/office/powerpoint/2010/main" val="17641272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136DAA-7B30-664D-935E-BFB8724B52E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736413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F0A60-4C37-9AF4-946C-AA6E78C242F5}"/>
            </a:ext>
          </a:extLst>
        </p:cNvPr>
        <p:cNvGrpSpPr/>
        <p:nvPr/>
      </p:nvGrpSpPr>
      <p:grpSpPr>
        <a:xfrm>
          <a:off x="0" y="0"/>
          <a:ext cx="0" cy="0"/>
          <a:chOff x="0" y="0"/>
          <a:chExt cx="0" cy="0"/>
        </a:xfrm>
      </p:grpSpPr>
      <p:sp>
        <p:nvSpPr>
          <p:cNvPr id="16385" name="Rectangle 7">
            <a:extLst>
              <a:ext uri="{FF2B5EF4-FFF2-40B4-BE49-F238E27FC236}">
                <a16:creationId xmlns:a16="http://schemas.microsoft.com/office/drawing/2014/main" id="{C263EA1F-60F7-2527-956D-E5B833352FC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D098AFCB-1C2D-A44A-87A3-B48903D91EF0}" type="slidenum">
              <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44738" name="Rectangle 2">
            <a:extLst>
              <a:ext uri="{FF2B5EF4-FFF2-40B4-BE49-F238E27FC236}">
                <a16:creationId xmlns:a16="http://schemas.microsoft.com/office/drawing/2014/main" id="{D3BD6D93-CBFB-8BD2-D838-EDDE42D542F2}"/>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387" name="Rectangle 3">
            <a:extLst>
              <a:ext uri="{FF2B5EF4-FFF2-40B4-BE49-F238E27FC236}">
                <a16:creationId xmlns:a16="http://schemas.microsoft.com/office/drawing/2014/main" id="{3A8D7AB5-AFE7-F868-1728-7198964ECB9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endParaRPr lang="en-US"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2642264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136DAA-7B30-664D-935E-BFB8724B52E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437929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136DAA-7B30-664D-935E-BFB8724B52E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322608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136DAA-7B30-664D-935E-BFB8724B52E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268894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22791-2661-60CB-B5E6-A663C0482F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C9EFD-EA86-7E96-F449-3508D8BF39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AAA499-8E6B-5A3B-7C16-097EA88AD4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6E3F90-9B4E-644F-8820-E7A12A43C80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136DAA-7B30-664D-935E-BFB8724B52E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222391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136DAA-7B30-664D-935E-BFB8724B52E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970804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92C1AB-7233-C14A-8D12-FA14F83497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09500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136DAA-7B30-664D-935E-BFB8724B52E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585314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EED5A21F-56B5-6D4F-B7B0-375D02B59EC2}"/>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Osaka" panose="020B0600000000000000" pitchFamily="34" charset="-128"/>
              </a:defRPr>
            </a:lvl1pPr>
            <a:lvl2pPr marL="742950" indent="-285750">
              <a:defRPr sz="2400">
                <a:solidFill>
                  <a:schemeClr val="tx1"/>
                </a:solidFill>
                <a:latin typeface="Arial" panose="020B0604020202020204" pitchFamily="34" charset="0"/>
                <a:ea typeface="Osaka" panose="020B0600000000000000" pitchFamily="34" charset="-128"/>
              </a:defRPr>
            </a:lvl2pPr>
            <a:lvl3pPr marL="1143000" indent="-228600">
              <a:defRPr sz="2400">
                <a:solidFill>
                  <a:schemeClr val="tx1"/>
                </a:solidFill>
                <a:latin typeface="Arial" panose="020B0604020202020204" pitchFamily="34" charset="0"/>
                <a:ea typeface="Osaka" panose="020B0600000000000000" pitchFamily="34" charset="-128"/>
              </a:defRPr>
            </a:lvl3pPr>
            <a:lvl4pPr marL="1600200" indent="-228600">
              <a:defRPr sz="2400">
                <a:solidFill>
                  <a:schemeClr val="tx1"/>
                </a:solidFill>
                <a:latin typeface="Arial" panose="020B0604020202020204" pitchFamily="34" charset="0"/>
                <a:ea typeface="Osaka" panose="020B0600000000000000" pitchFamily="34" charset="-128"/>
              </a:defRPr>
            </a:lvl4pPr>
            <a:lvl5pPr marL="2057400" indent="-228600">
              <a:defRPr sz="2400">
                <a:solidFill>
                  <a:schemeClr val="tx1"/>
                </a:solidFill>
                <a:latin typeface="Arial" panose="020B0604020202020204" pitchFamily="34" charset="0"/>
                <a:ea typeface="Osaka" panose="020B0600000000000000"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Osaka" panose="020B0600000000000000"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Osaka" panose="020B0600000000000000"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Osaka" panose="020B0600000000000000"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Osaka" panose="020B0600000000000000" pitchFamily="34" charset="-128"/>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C230B71A-DA67-FE46-8195-233E0086B74E}" type="slidenum">
              <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Osaka" panose="020B0600000000000000" pitchFamily="34" charset="-128"/>
                <a:cs typeface="+mn-cs"/>
              </a:rPr>
              <a:pPr marL="0" marR="0" lvl="0" indent="0" algn="r" defTabSz="457200" rtl="0" eaLnBrk="1" fontAlgn="auto" latinLnBrk="0" hangingPunct="1">
                <a:lnSpc>
                  <a:spcPct val="100000"/>
                </a:lnSpc>
                <a:spcBef>
                  <a:spcPts val="0"/>
                </a:spcBef>
                <a:spcAft>
                  <a:spcPts val="0"/>
                </a:spcAft>
                <a:buClrTx/>
                <a:buSzTx/>
                <a:buFontTx/>
                <a:buNone/>
                <a:tabLst/>
                <a:defRPr/>
              </a:pPr>
              <a:t>57</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Osaka" panose="020B0600000000000000" pitchFamily="34" charset="-128"/>
              <a:cs typeface="+mn-cs"/>
            </a:endParaRPr>
          </a:p>
        </p:txBody>
      </p:sp>
      <p:sp>
        <p:nvSpPr>
          <p:cNvPr id="6146" name="Rectangle 2">
            <a:extLst>
              <a:ext uri="{FF2B5EF4-FFF2-40B4-BE49-F238E27FC236}">
                <a16:creationId xmlns:a16="http://schemas.microsoft.com/office/drawing/2014/main" id="{64A4CEE6-4FCB-7149-9954-2A85805E7293}"/>
              </a:ext>
            </a:extLst>
          </p:cNvPr>
          <p:cNvSpPr>
            <a:spLocks noGrp="1" noRot="1" noChangeAspect="1" noChangeArrowheads="1" noTextEdit="1"/>
          </p:cNvSpPr>
          <p:nvPr>
            <p:ph type="sldImg"/>
          </p:nvPr>
        </p:nvSpPr>
        <p:spPr>
          <a:solidFill>
            <a:srgbClr val="FFFFFF"/>
          </a:solidFill>
          <a:ln/>
        </p:spPr>
      </p:sp>
      <p:sp>
        <p:nvSpPr>
          <p:cNvPr id="6147" name="Rectangle 3">
            <a:extLst>
              <a:ext uri="{FF2B5EF4-FFF2-40B4-BE49-F238E27FC236}">
                <a16:creationId xmlns:a16="http://schemas.microsoft.com/office/drawing/2014/main" id="{23E47FE7-C13B-4348-840A-C3A7273588A2}"/>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p>
        </p:txBody>
      </p:sp>
    </p:spTree>
    <p:extLst>
      <p:ext uri="{BB962C8B-B14F-4D97-AF65-F5344CB8AC3E}">
        <p14:creationId xmlns:p14="http://schemas.microsoft.com/office/powerpoint/2010/main" val="1997438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136DAA-7B30-664D-935E-BFB8724B52E2}" type="slidenum">
              <a:rPr lang="en-US" smtClean="0"/>
              <a:t>58</a:t>
            </a:fld>
            <a:endParaRPr lang="en-US"/>
          </a:p>
        </p:txBody>
      </p:sp>
    </p:spTree>
    <p:extLst>
      <p:ext uri="{BB962C8B-B14F-4D97-AF65-F5344CB8AC3E}">
        <p14:creationId xmlns:p14="http://schemas.microsoft.com/office/powerpoint/2010/main" val="1229485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BD09D-4FDC-2699-12BB-DB39B40F68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FF5C91-F74F-AE85-C605-696C259C16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AD8E957-6456-818D-EA51-2357D867E863}"/>
              </a:ext>
            </a:extLst>
          </p:cNvPr>
          <p:cNvSpPr>
            <a:spLocks noGrp="1"/>
          </p:cNvSpPr>
          <p:nvPr>
            <p:ph type="dt" sz="half" idx="10"/>
          </p:nvPr>
        </p:nvSpPr>
        <p:spPr/>
        <p:txBody>
          <a:bodyPr/>
          <a:lstStyle/>
          <a:p>
            <a:fld id="{596F6C8B-2F6C-A64A-8F1F-7F96803B3225}" type="datetime1">
              <a:rPr lang="en-US" smtClean="0"/>
              <a:t>11/7/25</a:t>
            </a:fld>
            <a:endParaRPr lang="en-US"/>
          </a:p>
        </p:txBody>
      </p:sp>
      <p:sp>
        <p:nvSpPr>
          <p:cNvPr id="5" name="Footer Placeholder 4">
            <a:extLst>
              <a:ext uri="{FF2B5EF4-FFF2-40B4-BE49-F238E27FC236}">
                <a16:creationId xmlns:a16="http://schemas.microsoft.com/office/drawing/2014/main" id="{89634C3D-414E-E2F3-3C9B-3809AD35DE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D38FE4-D90E-9347-1437-07ACE79C6163}"/>
              </a:ext>
            </a:extLst>
          </p:cNvPr>
          <p:cNvSpPr>
            <a:spLocks noGrp="1"/>
          </p:cNvSpPr>
          <p:nvPr>
            <p:ph type="sldNum" sz="quarter" idx="12"/>
          </p:nvPr>
        </p:nvSpPr>
        <p:spPr/>
        <p:txBody>
          <a:bodyPr/>
          <a:lstStyle/>
          <a:p>
            <a:fld id="{15D3461C-907D-DB4D-BF34-34B4CA38BC40}" type="slidenum">
              <a:rPr lang="en-US" smtClean="0"/>
              <a:t>‹#›</a:t>
            </a:fld>
            <a:endParaRPr lang="en-US"/>
          </a:p>
        </p:txBody>
      </p:sp>
    </p:spTree>
    <p:extLst>
      <p:ext uri="{BB962C8B-B14F-4D97-AF65-F5344CB8AC3E}">
        <p14:creationId xmlns:p14="http://schemas.microsoft.com/office/powerpoint/2010/main" val="1081182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C8887-3FEF-33FE-90EB-9950696FF6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9902A9-06FB-42EC-AE79-595D9428A4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E449CA-A656-FA50-5FDE-C93D7D3EDE8B}"/>
              </a:ext>
            </a:extLst>
          </p:cNvPr>
          <p:cNvSpPr>
            <a:spLocks noGrp="1"/>
          </p:cNvSpPr>
          <p:nvPr>
            <p:ph type="dt" sz="half" idx="10"/>
          </p:nvPr>
        </p:nvSpPr>
        <p:spPr/>
        <p:txBody>
          <a:bodyPr/>
          <a:lstStyle/>
          <a:p>
            <a:fld id="{FA2C302D-39A2-F844-872E-F4A3C3A5EA8F}" type="datetime1">
              <a:rPr lang="en-US" smtClean="0"/>
              <a:t>11/7/25</a:t>
            </a:fld>
            <a:endParaRPr lang="en-US"/>
          </a:p>
        </p:txBody>
      </p:sp>
      <p:sp>
        <p:nvSpPr>
          <p:cNvPr id="5" name="Footer Placeholder 4">
            <a:extLst>
              <a:ext uri="{FF2B5EF4-FFF2-40B4-BE49-F238E27FC236}">
                <a16:creationId xmlns:a16="http://schemas.microsoft.com/office/drawing/2014/main" id="{54BBE243-3944-25BF-6E4F-DEE66AD9F3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49776B-7151-C252-7F87-7C52BE97A180}"/>
              </a:ext>
            </a:extLst>
          </p:cNvPr>
          <p:cNvSpPr>
            <a:spLocks noGrp="1"/>
          </p:cNvSpPr>
          <p:nvPr>
            <p:ph type="sldNum" sz="quarter" idx="12"/>
          </p:nvPr>
        </p:nvSpPr>
        <p:spPr/>
        <p:txBody>
          <a:bodyPr/>
          <a:lstStyle/>
          <a:p>
            <a:fld id="{15D3461C-907D-DB4D-BF34-34B4CA38BC40}" type="slidenum">
              <a:rPr lang="en-US" smtClean="0"/>
              <a:t>‹#›</a:t>
            </a:fld>
            <a:endParaRPr lang="en-US"/>
          </a:p>
        </p:txBody>
      </p:sp>
    </p:spTree>
    <p:extLst>
      <p:ext uri="{BB962C8B-B14F-4D97-AF65-F5344CB8AC3E}">
        <p14:creationId xmlns:p14="http://schemas.microsoft.com/office/powerpoint/2010/main" val="1246993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F78F3-1171-6FA4-A94E-1B56CE21E0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3DA0A2-38FD-F7B2-D0C2-04CB9B7DD3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3DE16B-A1FB-3D14-BD1A-6088150C5AE9}"/>
              </a:ext>
            </a:extLst>
          </p:cNvPr>
          <p:cNvSpPr>
            <a:spLocks noGrp="1"/>
          </p:cNvSpPr>
          <p:nvPr>
            <p:ph type="dt" sz="half" idx="10"/>
          </p:nvPr>
        </p:nvSpPr>
        <p:spPr/>
        <p:txBody>
          <a:bodyPr/>
          <a:lstStyle/>
          <a:p>
            <a:fld id="{4ACB6CA4-33E4-EE48-BD49-165A4E4BFBB1}" type="datetime1">
              <a:rPr lang="en-US" smtClean="0"/>
              <a:t>11/7/25</a:t>
            </a:fld>
            <a:endParaRPr lang="en-US"/>
          </a:p>
        </p:txBody>
      </p:sp>
      <p:sp>
        <p:nvSpPr>
          <p:cNvPr id="5" name="Footer Placeholder 4">
            <a:extLst>
              <a:ext uri="{FF2B5EF4-FFF2-40B4-BE49-F238E27FC236}">
                <a16:creationId xmlns:a16="http://schemas.microsoft.com/office/drawing/2014/main" id="{C8D000A0-4683-9533-CE61-CC97D708B1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F5C965-9B57-376F-011D-BEC7A8BDC200}"/>
              </a:ext>
            </a:extLst>
          </p:cNvPr>
          <p:cNvSpPr>
            <a:spLocks noGrp="1"/>
          </p:cNvSpPr>
          <p:nvPr>
            <p:ph type="sldNum" sz="quarter" idx="12"/>
          </p:nvPr>
        </p:nvSpPr>
        <p:spPr/>
        <p:txBody>
          <a:bodyPr/>
          <a:lstStyle/>
          <a:p>
            <a:fld id="{15D3461C-907D-DB4D-BF34-34B4CA38BC40}" type="slidenum">
              <a:rPr lang="en-US" smtClean="0"/>
              <a:t>‹#›</a:t>
            </a:fld>
            <a:endParaRPr lang="en-US"/>
          </a:p>
        </p:txBody>
      </p:sp>
    </p:spTree>
    <p:extLst>
      <p:ext uri="{BB962C8B-B14F-4D97-AF65-F5344CB8AC3E}">
        <p14:creationId xmlns:p14="http://schemas.microsoft.com/office/powerpoint/2010/main" val="684226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9A55-9DDD-E107-1B1A-2C564E8974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C55E61-F6C2-2516-01D1-9B6F1316B2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E3FA46-4FCB-557F-F2AF-BF5ABDA88F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68836B-8840-CA4A-AE50-239FA7EBEFCD}"/>
              </a:ext>
            </a:extLst>
          </p:cNvPr>
          <p:cNvSpPr>
            <a:spLocks noGrp="1"/>
          </p:cNvSpPr>
          <p:nvPr>
            <p:ph type="dt" sz="half" idx="10"/>
          </p:nvPr>
        </p:nvSpPr>
        <p:spPr/>
        <p:txBody>
          <a:bodyPr/>
          <a:lstStyle/>
          <a:p>
            <a:fld id="{82BB88D5-3CAC-BA41-BCFE-320949F3405F}" type="datetime1">
              <a:rPr lang="en-US" smtClean="0"/>
              <a:t>11/7/25</a:t>
            </a:fld>
            <a:endParaRPr lang="en-US"/>
          </a:p>
        </p:txBody>
      </p:sp>
      <p:sp>
        <p:nvSpPr>
          <p:cNvPr id="6" name="Footer Placeholder 5">
            <a:extLst>
              <a:ext uri="{FF2B5EF4-FFF2-40B4-BE49-F238E27FC236}">
                <a16:creationId xmlns:a16="http://schemas.microsoft.com/office/drawing/2014/main" id="{E20675A9-911E-DBFE-44ED-6E29C13DE4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1A8BD8-21C4-C9AF-E543-25380AB260E4}"/>
              </a:ext>
            </a:extLst>
          </p:cNvPr>
          <p:cNvSpPr>
            <a:spLocks noGrp="1"/>
          </p:cNvSpPr>
          <p:nvPr>
            <p:ph type="sldNum" sz="quarter" idx="12"/>
          </p:nvPr>
        </p:nvSpPr>
        <p:spPr/>
        <p:txBody>
          <a:bodyPr/>
          <a:lstStyle/>
          <a:p>
            <a:fld id="{15D3461C-907D-DB4D-BF34-34B4CA38BC40}" type="slidenum">
              <a:rPr lang="en-US" smtClean="0"/>
              <a:t>‹#›</a:t>
            </a:fld>
            <a:endParaRPr lang="en-US"/>
          </a:p>
        </p:txBody>
      </p:sp>
    </p:spTree>
    <p:extLst>
      <p:ext uri="{BB962C8B-B14F-4D97-AF65-F5344CB8AC3E}">
        <p14:creationId xmlns:p14="http://schemas.microsoft.com/office/powerpoint/2010/main" val="3481106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D8186-8D56-E35B-7C88-D38AB252CC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B74FCE4-7446-146B-6FBA-8599C2D442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B7258B-AE14-8A61-7FDE-558142134B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50AD2D-2512-1C07-4B4F-0E429EAD1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705D0B-01F3-C6C7-879E-3018460B5A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02CB30-8841-3E4E-8151-47866346CDDE}"/>
              </a:ext>
            </a:extLst>
          </p:cNvPr>
          <p:cNvSpPr>
            <a:spLocks noGrp="1"/>
          </p:cNvSpPr>
          <p:nvPr>
            <p:ph type="dt" sz="half" idx="10"/>
          </p:nvPr>
        </p:nvSpPr>
        <p:spPr/>
        <p:txBody>
          <a:bodyPr/>
          <a:lstStyle/>
          <a:p>
            <a:fld id="{0BB60299-B536-6449-98F5-33573C44FAC0}" type="datetime1">
              <a:rPr lang="en-US" smtClean="0"/>
              <a:t>11/7/25</a:t>
            </a:fld>
            <a:endParaRPr lang="en-US"/>
          </a:p>
        </p:txBody>
      </p:sp>
      <p:sp>
        <p:nvSpPr>
          <p:cNvPr id="8" name="Footer Placeholder 7">
            <a:extLst>
              <a:ext uri="{FF2B5EF4-FFF2-40B4-BE49-F238E27FC236}">
                <a16:creationId xmlns:a16="http://schemas.microsoft.com/office/drawing/2014/main" id="{EB8A75EB-49BC-5660-1D58-6B10BAFA7E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F28D447-ED6C-B711-4430-0804B67E068C}"/>
              </a:ext>
            </a:extLst>
          </p:cNvPr>
          <p:cNvSpPr>
            <a:spLocks noGrp="1"/>
          </p:cNvSpPr>
          <p:nvPr>
            <p:ph type="sldNum" sz="quarter" idx="12"/>
          </p:nvPr>
        </p:nvSpPr>
        <p:spPr/>
        <p:txBody>
          <a:bodyPr/>
          <a:lstStyle/>
          <a:p>
            <a:fld id="{15D3461C-907D-DB4D-BF34-34B4CA38BC40}" type="slidenum">
              <a:rPr lang="en-US" smtClean="0"/>
              <a:t>‹#›</a:t>
            </a:fld>
            <a:endParaRPr lang="en-US"/>
          </a:p>
        </p:txBody>
      </p:sp>
    </p:spTree>
    <p:extLst>
      <p:ext uri="{BB962C8B-B14F-4D97-AF65-F5344CB8AC3E}">
        <p14:creationId xmlns:p14="http://schemas.microsoft.com/office/powerpoint/2010/main" val="3592635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8C9A3-926E-EBEC-5978-518AED913D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3033B1-13F0-1E3D-9E3D-8C1AC8DD5233}"/>
              </a:ext>
            </a:extLst>
          </p:cNvPr>
          <p:cNvSpPr>
            <a:spLocks noGrp="1"/>
          </p:cNvSpPr>
          <p:nvPr>
            <p:ph type="dt" sz="half" idx="10"/>
          </p:nvPr>
        </p:nvSpPr>
        <p:spPr/>
        <p:txBody>
          <a:bodyPr/>
          <a:lstStyle/>
          <a:p>
            <a:fld id="{C49A86E6-4205-5D4C-B2FF-9870BC67E8B7}" type="datetime1">
              <a:rPr lang="en-US" smtClean="0"/>
              <a:t>11/7/25</a:t>
            </a:fld>
            <a:endParaRPr lang="en-US"/>
          </a:p>
        </p:txBody>
      </p:sp>
      <p:sp>
        <p:nvSpPr>
          <p:cNvPr id="4" name="Footer Placeholder 3">
            <a:extLst>
              <a:ext uri="{FF2B5EF4-FFF2-40B4-BE49-F238E27FC236}">
                <a16:creationId xmlns:a16="http://schemas.microsoft.com/office/drawing/2014/main" id="{09CA4C54-0C73-27CD-9699-566C617A315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855D89-4CBD-DEA9-EBF3-AF7B0A132096}"/>
              </a:ext>
            </a:extLst>
          </p:cNvPr>
          <p:cNvSpPr>
            <a:spLocks noGrp="1"/>
          </p:cNvSpPr>
          <p:nvPr>
            <p:ph type="sldNum" sz="quarter" idx="12"/>
          </p:nvPr>
        </p:nvSpPr>
        <p:spPr/>
        <p:txBody>
          <a:bodyPr/>
          <a:lstStyle/>
          <a:p>
            <a:fld id="{15D3461C-907D-DB4D-BF34-34B4CA38BC40}" type="slidenum">
              <a:rPr lang="en-US" smtClean="0"/>
              <a:t>‹#›</a:t>
            </a:fld>
            <a:endParaRPr lang="en-US"/>
          </a:p>
        </p:txBody>
      </p:sp>
    </p:spTree>
    <p:extLst>
      <p:ext uri="{BB962C8B-B14F-4D97-AF65-F5344CB8AC3E}">
        <p14:creationId xmlns:p14="http://schemas.microsoft.com/office/powerpoint/2010/main" val="829824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387795-0251-EF12-6AF3-0997569F78C8}"/>
              </a:ext>
            </a:extLst>
          </p:cNvPr>
          <p:cNvSpPr>
            <a:spLocks noGrp="1"/>
          </p:cNvSpPr>
          <p:nvPr>
            <p:ph type="dt" sz="half" idx="10"/>
          </p:nvPr>
        </p:nvSpPr>
        <p:spPr/>
        <p:txBody>
          <a:bodyPr/>
          <a:lstStyle/>
          <a:p>
            <a:fld id="{1B736E2A-0F35-2545-AC7C-957C94F9289D}" type="datetime1">
              <a:rPr lang="en-US" smtClean="0"/>
              <a:t>11/7/25</a:t>
            </a:fld>
            <a:endParaRPr lang="en-US"/>
          </a:p>
        </p:txBody>
      </p:sp>
      <p:sp>
        <p:nvSpPr>
          <p:cNvPr id="3" name="Footer Placeholder 2">
            <a:extLst>
              <a:ext uri="{FF2B5EF4-FFF2-40B4-BE49-F238E27FC236}">
                <a16:creationId xmlns:a16="http://schemas.microsoft.com/office/drawing/2014/main" id="{F0FC39D1-7CE9-9941-6AEB-5666D2D6CC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64DE15E-A531-3E06-948B-843BC4FAD719}"/>
              </a:ext>
            </a:extLst>
          </p:cNvPr>
          <p:cNvSpPr>
            <a:spLocks noGrp="1"/>
          </p:cNvSpPr>
          <p:nvPr>
            <p:ph type="sldNum" sz="quarter" idx="12"/>
          </p:nvPr>
        </p:nvSpPr>
        <p:spPr/>
        <p:txBody>
          <a:bodyPr/>
          <a:lstStyle/>
          <a:p>
            <a:fld id="{15D3461C-907D-DB4D-BF34-34B4CA38BC40}" type="slidenum">
              <a:rPr lang="en-US" smtClean="0"/>
              <a:t>‹#›</a:t>
            </a:fld>
            <a:endParaRPr lang="en-US"/>
          </a:p>
        </p:txBody>
      </p:sp>
    </p:spTree>
    <p:extLst>
      <p:ext uri="{BB962C8B-B14F-4D97-AF65-F5344CB8AC3E}">
        <p14:creationId xmlns:p14="http://schemas.microsoft.com/office/powerpoint/2010/main" val="2421936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596E7-3F92-98C3-B2E3-747D08598F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12646DA-0D3C-8F44-85A6-9C9F9D884E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90BC8B-996F-4BAC-FB1D-99AF3F4545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EE0762-1E46-11C7-B612-2CA4F4E2502B}"/>
              </a:ext>
            </a:extLst>
          </p:cNvPr>
          <p:cNvSpPr>
            <a:spLocks noGrp="1"/>
          </p:cNvSpPr>
          <p:nvPr>
            <p:ph type="dt" sz="half" idx="10"/>
          </p:nvPr>
        </p:nvSpPr>
        <p:spPr/>
        <p:txBody>
          <a:bodyPr/>
          <a:lstStyle/>
          <a:p>
            <a:fld id="{BD6901AF-F1B5-5544-AF3F-39BD43647600}" type="datetime1">
              <a:rPr lang="en-US" smtClean="0"/>
              <a:t>11/7/25</a:t>
            </a:fld>
            <a:endParaRPr lang="en-US"/>
          </a:p>
        </p:txBody>
      </p:sp>
      <p:sp>
        <p:nvSpPr>
          <p:cNvPr id="6" name="Footer Placeholder 5">
            <a:extLst>
              <a:ext uri="{FF2B5EF4-FFF2-40B4-BE49-F238E27FC236}">
                <a16:creationId xmlns:a16="http://schemas.microsoft.com/office/drawing/2014/main" id="{59791F28-4972-5511-29A4-3C3AFE26C7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49B9F-9868-C494-C79B-BD9BA70654B1}"/>
              </a:ext>
            </a:extLst>
          </p:cNvPr>
          <p:cNvSpPr>
            <a:spLocks noGrp="1"/>
          </p:cNvSpPr>
          <p:nvPr>
            <p:ph type="sldNum" sz="quarter" idx="12"/>
          </p:nvPr>
        </p:nvSpPr>
        <p:spPr/>
        <p:txBody>
          <a:bodyPr/>
          <a:lstStyle/>
          <a:p>
            <a:fld id="{15D3461C-907D-DB4D-BF34-34B4CA38BC40}" type="slidenum">
              <a:rPr lang="en-US" smtClean="0"/>
              <a:t>‹#›</a:t>
            </a:fld>
            <a:endParaRPr lang="en-US"/>
          </a:p>
        </p:txBody>
      </p:sp>
    </p:spTree>
    <p:extLst>
      <p:ext uri="{BB962C8B-B14F-4D97-AF65-F5344CB8AC3E}">
        <p14:creationId xmlns:p14="http://schemas.microsoft.com/office/powerpoint/2010/main" val="573355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B22AF-C50A-6F09-58ED-31F55C535B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A9AF1A-EB44-4593-2C1A-F39CDC75F7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24C3A4-7565-8631-5E7F-5125F312AB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073606-6696-D4C9-2ADF-226E0FBE0E6B}"/>
              </a:ext>
            </a:extLst>
          </p:cNvPr>
          <p:cNvSpPr>
            <a:spLocks noGrp="1"/>
          </p:cNvSpPr>
          <p:nvPr>
            <p:ph type="dt" sz="half" idx="10"/>
          </p:nvPr>
        </p:nvSpPr>
        <p:spPr/>
        <p:txBody>
          <a:bodyPr/>
          <a:lstStyle/>
          <a:p>
            <a:fld id="{47854708-583B-8944-82DD-D683B782DB5C}" type="datetime1">
              <a:rPr lang="en-US" smtClean="0"/>
              <a:t>11/7/25</a:t>
            </a:fld>
            <a:endParaRPr lang="en-US"/>
          </a:p>
        </p:txBody>
      </p:sp>
      <p:sp>
        <p:nvSpPr>
          <p:cNvPr id="6" name="Footer Placeholder 5">
            <a:extLst>
              <a:ext uri="{FF2B5EF4-FFF2-40B4-BE49-F238E27FC236}">
                <a16:creationId xmlns:a16="http://schemas.microsoft.com/office/drawing/2014/main" id="{20BAA02E-FD43-8435-71EB-9B0EBFB95A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E99291-8F8A-E19A-BDB1-C0928BFD0B20}"/>
              </a:ext>
            </a:extLst>
          </p:cNvPr>
          <p:cNvSpPr>
            <a:spLocks noGrp="1"/>
          </p:cNvSpPr>
          <p:nvPr>
            <p:ph type="sldNum" sz="quarter" idx="12"/>
          </p:nvPr>
        </p:nvSpPr>
        <p:spPr/>
        <p:txBody>
          <a:bodyPr/>
          <a:lstStyle/>
          <a:p>
            <a:fld id="{15D3461C-907D-DB4D-BF34-34B4CA38BC40}" type="slidenum">
              <a:rPr lang="en-US" smtClean="0"/>
              <a:t>‹#›</a:t>
            </a:fld>
            <a:endParaRPr lang="en-US"/>
          </a:p>
        </p:txBody>
      </p:sp>
    </p:spTree>
    <p:extLst>
      <p:ext uri="{BB962C8B-B14F-4D97-AF65-F5344CB8AC3E}">
        <p14:creationId xmlns:p14="http://schemas.microsoft.com/office/powerpoint/2010/main" val="2017204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58401-8F04-E447-5DBC-E2225FDD14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526DE4-DD2C-40D3-E042-2CECC56C3A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BBB9E5-F59C-F039-CE8D-F7D88D6AD3E0}"/>
              </a:ext>
            </a:extLst>
          </p:cNvPr>
          <p:cNvSpPr>
            <a:spLocks noGrp="1"/>
          </p:cNvSpPr>
          <p:nvPr>
            <p:ph type="dt" sz="half" idx="10"/>
          </p:nvPr>
        </p:nvSpPr>
        <p:spPr/>
        <p:txBody>
          <a:bodyPr/>
          <a:lstStyle/>
          <a:p>
            <a:fld id="{19B4C7EE-9B6E-F141-9C66-40C540B8512D}" type="datetime1">
              <a:rPr lang="en-US" smtClean="0"/>
              <a:t>11/7/25</a:t>
            </a:fld>
            <a:endParaRPr lang="en-US"/>
          </a:p>
        </p:txBody>
      </p:sp>
      <p:sp>
        <p:nvSpPr>
          <p:cNvPr id="5" name="Footer Placeholder 4">
            <a:extLst>
              <a:ext uri="{FF2B5EF4-FFF2-40B4-BE49-F238E27FC236}">
                <a16:creationId xmlns:a16="http://schemas.microsoft.com/office/drawing/2014/main" id="{22948B61-2C1A-0182-4C9B-926BDD3175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6F9E99-309D-AFA6-AF7F-7C1978BEFBE1}"/>
              </a:ext>
            </a:extLst>
          </p:cNvPr>
          <p:cNvSpPr>
            <a:spLocks noGrp="1"/>
          </p:cNvSpPr>
          <p:nvPr>
            <p:ph type="sldNum" sz="quarter" idx="12"/>
          </p:nvPr>
        </p:nvSpPr>
        <p:spPr/>
        <p:txBody>
          <a:bodyPr/>
          <a:lstStyle/>
          <a:p>
            <a:fld id="{15D3461C-907D-DB4D-BF34-34B4CA38BC40}" type="slidenum">
              <a:rPr lang="en-US" smtClean="0"/>
              <a:t>‹#›</a:t>
            </a:fld>
            <a:endParaRPr lang="en-US"/>
          </a:p>
        </p:txBody>
      </p:sp>
    </p:spTree>
    <p:extLst>
      <p:ext uri="{BB962C8B-B14F-4D97-AF65-F5344CB8AC3E}">
        <p14:creationId xmlns:p14="http://schemas.microsoft.com/office/powerpoint/2010/main" val="776789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D8B5BC-3F2C-2181-EB3F-9AFD4AA343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B82C07-9FE2-ADA1-EA67-B2D05B10EB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FBBF87-3D03-7C6B-34A7-166EBCBDF552}"/>
              </a:ext>
            </a:extLst>
          </p:cNvPr>
          <p:cNvSpPr>
            <a:spLocks noGrp="1"/>
          </p:cNvSpPr>
          <p:nvPr>
            <p:ph type="dt" sz="half" idx="10"/>
          </p:nvPr>
        </p:nvSpPr>
        <p:spPr/>
        <p:txBody>
          <a:bodyPr/>
          <a:lstStyle/>
          <a:p>
            <a:fld id="{3BC018CF-E777-FD4F-B5C1-960F2B2349F3}" type="datetime1">
              <a:rPr lang="en-US" smtClean="0"/>
              <a:t>11/7/25</a:t>
            </a:fld>
            <a:endParaRPr lang="en-US"/>
          </a:p>
        </p:txBody>
      </p:sp>
      <p:sp>
        <p:nvSpPr>
          <p:cNvPr id="5" name="Footer Placeholder 4">
            <a:extLst>
              <a:ext uri="{FF2B5EF4-FFF2-40B4-BE49-F238E27FC236}">
                <a16:creationId xmlns:a16="http://schemas.microsoft.com/office/drawing/2014/main" id="{A9502B0A-6329-A214-97BB-793215C4C1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585B25-B30E-5960-68E0-7E023BCCA45C}"/>
              </a:ext>
            </a:extLst>
          </p:cNvPr>
          <p:cNvSpPr>
            <a:spLocks noGrp="1"/>
          </p:cNvSpPr>
          <p:nvPr>
            <p:ph type="sldNum" sz="quarter" idx="12"/>
          </p:nvPr>
        </p:nvSpPr>
        <p:spPr/>
        <p:txBody>
          <a:bodyPr/>
          <a:lstStyle/>
          <a:p>
            <a:fld id="{15D3461C-907D-DB4D-BF34-34B4CA38BC40}" type="slidenum">
              <a:rPr lang="en-US" smtClean="0"/>
              <a:t>‹#›</a:t>
            </a:fld>
            <a:endParaRPr lang="en-US"/>
          </a:p>
        </p:txBody>
      </p:sp>
    </p:spTree>
    <p:extLst>
      <p:ext uri="{BB962C8B-B14F-4D97-AF65-F5344CB8AC3E}">
        <p14:creationId xmlns:p14="http://schemas.microsoft.com/office/powerpoint/2010/main" val="4031758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087E89C9-8800-AC43-D2D6-07183BB24DC7}"/>
              </a:ext>
            </a:extLst>
          </p:cNvPr>
          <p:cNvSpPr>
            <a:spLocks noChangeArrowheads="1"/>
          </p:cNvSpPr>
          <p:nvPr userDrawn="1"/>
        </p:nvSpPr>
        <p:spPr bwMode="auto">
          <a:xfrm>
            <a:off x="0" y="5867400"/>
            <a:ext cx="12192000" cy="990600"/>
          </a:xfrm>
          <a:prstGeom prst="rect">
            <a:avLst/>
          </a:prstGeom>
          <a:solidFill>
            <a:srgbClr val="006699"/>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2400">
              <a:solidFill>
                <a:srgbClr val="000000"/>
              </a:solidFill>
            </a:endParaRPr>
          </a:p>
        </p:txBody>
      </p:sp>
      <p:sp>
        <p:nvSpPr>
          <p:cNvPr id="3" name="Rectangle 8">
            <a:extLst>
              <a:ext uri="{FF2B5EF4-FFF2-40B4-BE49-F238E27FC236}">
                <a16:creationId xmlns:a16="http://schemas.microsoft.com/office/drawing/2014/main" id="{3CB3C789-CE6E-C258-7687-200C7363CC2A}"/>
              </a:ext>
            </a:extLst>
          </p:cNvPr>
          <p:cNvSpPr>
            <a:spLocks noChangeArrowheads="1"/>
          </p:cNvSpPr>
          <p:nvPr userDrawn="1"/>
        </p:nvSpPr>
        <p:spPr bwMode="auto">
          <a:xfrm>
            <a:off x="0" y="5867400"/>
            <a:ext cx="12192000" cy="152400"/>
          </a:xfrm>
          <a:prstGeom prst="rect">
            <a:avLst/>
          </a:prstGeom>
          <a:solidFill>
            <a:srgbClr val="0099CC"/>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2400">
              <a:solidFill>
                <a:srgbClr val="000000"/>
              </a:solidFill>
            </a:endParaRPr>
          </a:p>
        </p:txBody>
      </p:sp>
      <p:sp>
        <p:nvSpPr>
          <p:cNvPr id="4" name="Rectangle 9">
            <a:extLst>
              <a:ext uri="{FF2B5EF4-FFF2-40B4-BE49-F238E27FC236}">
                <a16:creationId xmlns:a16="http://schemas.microsoft.com/office/drawing/2014/main" id="{C6A33451-717C-BA8A-8FD4-40CD68B3E533}"/>
              </a:ext>
            </a:extLst>
          </p:cNvPr>
          <p:cNvSpPr>
            <a:spLocks noChangeArrowheads="1"/>
          </p:cNvSpPr>
          <p:nvPr userDrawn="1"/>
        </p:nvSpPr>
        <p:spPr bwMode="auto">
          <a:xfrm>
            <a:off x="0" y="0"/>
            <a:ext cx="12192000" cy="304800"/>
          </a:xfrm>
          <a:prstGeom prst="rect">
            <a:avLst/>
          </a:prstGeom>
          <a:solidFill>
            <a:srgbClr val="006699"/>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2400">
              <a:solidFill>
                <a:srgbClr val="000000"/>
              </a:solidFill>
            </a:endParaRPr>
          </a:p>
        </p:txBody>
      </p:sp>
      <p:pic>
        <p:nvPicPr>
          <p:cNvPr id="5" name="Picture 10" descr="umb_white">
            <a:extLst>
              <a:ext uri="{FF2B5EF4-FFF2-40B4-BE49-F238E27FC236}">
                <a16:creationId xmlns:a16="http://schemas.microsoft.com/office/drawing/2014/main" id="{24859E9B-63B8-D8ED-E348-FA927075936C}"/>
              </a:ext>
            </a:extLst>
          </p:cNvPr>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10699752" y="6172200"/>
            <a:ext cx="577849"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1" descr="iciPPT_BIG">
            <a:extLst>
              <a:ext uri="{FF2B5EF4-FFF2-40B4-BE49-F238E27FC236}">
                <a16:creationId xmlns:a16="http://schemas.microsoft.com/office/drawing/2014/main" id="{D9BBB58A-38AA-E8DB-1EAC-36923E1A1497}"/>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203200" y="6042025"/>
            <a:ext cx="64008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498" name="Rectangle 2"/>
          <p:cNvSpPr>
            <a:spLocks noGrp="1" noChangeArrowheads="1"/>
          </p:cNvSpPr>
          <p:nvPr>
            <p:ph type="ctrTitle"/>
          </p:nvPr>
        </p:nvSpPr>
        <p:spPr>
          <a:xfrm>
            <a:off x="914400" y="2286000"/>
            <a:ext cx="10363200" cy="1143000"/>
          </a:xfrm>
        </p:spPr>
        <p:txBody>
          <a:bodyPr/>
          <a:lstStyle>
            <a:lvl1pPr>
              <a:defRPr/>
            </a:lvl1pPr>
          </a:lstStyle>
          <a:p>
            <a:pPr lvl="0"/>
            <a:r>
              <a:rPr lang="en-US" noProof="0"/>
              <a:t>Click to edit Master title style</a:t>
            </a:r>
          </a:p>
        </p:txBody>
      </p:sp>
      <p:sp>
        <p:nvSpPr>
          <p:cNvPr id="106499"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
        <p:nvSpPr>
          <p:cNvPr id="7" name="Rectangle 4">
            <a:extLst>
              <a:ext uri="{FF2B5EF4-FFF2-40B4-BE49-F238E27FC236}">
                <a16:creationId xmlns:a16="http://schemas.microsoft.com/office/drawing/2014/main" id="{373D3953-7EE3-9A9D-D304-1C68EEB72D35}"/>
              </a:ext>
            </a:extLst>
          </p:cNvPr>
          <p:cNvSpPr>
            <a:spLocks noGrp="1" noChangeArrowheads="1"/>
          </p:cNvSpPr>
          <p:nvPr>
            <p:ph type="dt" sz="half"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a:lvl1pPr>
          </a:lstStyle>
          <a:p>
            <a:pPr>
              <a:defRPr/>
            </a:pPr>
            <a:fld id="{81394877-4FD7-1B43-9114-2D6E768564EE}" type="datetime1">
              <a:rPr lang="en-US" smtClean="0"/>
              <a:t>11/7/25</a:t>
            </a:fld>
            <a:endParaRPr lang="en-US"/>
          </a:p>
        </p:txBody>
      </p:sp>
      <p:sp>
        <p:nvSpPr>
          <p:cNvPr id="8" name="Rectangle 5">
            <a:extLst>
              <a:ext uri="{FF2B5EF4-FFF2-40B4-BE49-F238E27FC236}">
                <a16:creationId xmlns:a16="http://schemas.microsoft.com/office/drawing/2014/main" id="{6A26F727-E73C-47FA-9603-61055CD29CE7}"/>
              </a:ext>
            </a:extLst>
          </p:cNvPr>
          <p:cNvSpPr>
            <a:spLocks noGrp="1" noChangeArrowheads="1"/>
          </p:cNvSpPr>
          <p:nvPr>
            <p:ph type="ftr"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93E01ACB-B77F-8B96-BE8B-E709D0A1F6D9}"/>
              </a:ext>
            </a:extLst>
          </p:cNvPr>
          <p:cNvSpPr>
            <a:spLocks noGrp="1" noChangeArrowheads="1"/>
          </p:cNvSpPr>
          <p:nvPr>
            <p:ph type="sldNum" sz="quarter" idx="12"/>
          </p:nvPr>
        </p:nvSpPr>
        <p:spPr bwMode="auto">
          <a:xfrm>
            <a:off x="8737600" y="6248400"/>
            <a:ext cx="2540000" cy="457200"/>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400">
                <a:solidFill>
                  <a:srgbClr val="000000"/>
                </a:solidFill>
                <a:ea typeface="Osaka" panose="020B0600000000000000" pitchFamily="34" charset="-128"/>
              </a:defRPr>
            </a:lvl1pPr>
          </a:lstStyle>
          <a:p>
            <a:fld id="{12CF382A-8D45-D741-8E1A-2909C61E99E7}" type="slidenum">
              <a:rPr lang="en-US" altLang="en-US"/>
              <a:pPr/>
              <a:t>‹#›</a:t>
            </a:fld>
            <a:endParaRPr lang="en-US" altLang="en-US"/>
          </a:p>
        </p:txBody>
      </p:sp>
    </p:spTree>
    <p:extLst>
      <p:ext uri="{BB962C8B-B14F-4D97-AF65-F5344CB8AC3E}">
        <p14:creationId xmlns:p14="http://schemas.microsoft.com/office/powerpoint/2010/main" val="14472650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2D3CE2C-91E9-704A-9D45-498804C7AB30}"/>
              </a:ext>
            </a:extLst>
          </p:cNvPr>
          <p:cNvSpPr>
            <a:spLocks noGrp="1" noChangeArrowheads="1"/>
          </p:cNvSpPr>
          <p:nvPr>
            <p:ph type="dt" sz="half" idx="10"/>
          </p:nvPr>
        </p:nvSpPr>
        <p:spPr>
          <a:ln/>
        </p:spPr>
        <p:txBody>
          <a:bodyPr/>
          <a:lstStyle>
            <a:lvl1pPr>
              <a:defRPr/>
            </a:lvl1pPr>
          </a:lstStyle>
          <a:p>
            <a:pPr>
              <a:defRPr/>
            </a:pPr>
            <a:fld id="{11894C3C-EAC4-9144-A709-384AFBFEA0EB}" type="datetime1">
              <a:rPr lang="en-US" smtClean="0"/>
              <a:t>11/7/25</a:t>
            </a:fld>
            <a:endParaRPr lang="en-US"/>
          </a:p>
        </p:txBody>
      </p:sp>
      <p:sp>
        <p:nvSpPr>
          <p:cNvPr id="5" name="Rectangle 5">
            <a:extLst>
              <a:ext uri="{FF2B5EF4-FFF2-40B4-BE49-F238E27FC236}">
                <a16:creationId xmlns:a16="http://schemas.microsoft.com/office/drawing/2014/main" id="{108E30CF-4DCB-9AC7-1529-BE7BBAD5279B}"/>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408825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0D2DE4A-2BAA-0CB5-5B13-916DD85E2A07}"/>
              </a:ext>
            </a:extLst>
          </p:cNvPr>
          <p:cNvSpPr>
            <a:spLocks noGrp="1" noChangeArrowheads="1"/>
          </p:cNvSpPr>
          <p:nvPr>
            <p:ph type="dt" sz="half" idx="10"/>
          </p:nvPr>
        </p:nvSpPr>
        <p:spPr>
          <a:ln/>
        </p:spPr>
        <p:txBody>
          <a:bodyPr/>
          <a:lstStyle>
            <a:lvl1pPr>
              <a:defRPr/>
            </a:lvl1pPr>
          </a:lstStyle>
          <a:p>
            <a:pPr>
              <a:defRPr/>
            </a:pPr>
            <a:fld id="{16505F06-6BBD-0340-B9C9-1947FE5AA840}" type="datetime1">
              <a:rPr lang="en-US" smtClean="0"/>
              <a:t>11/7/25</a:t>
            </a:fld>
            <a:endParaRPr lang="en-US"/>
          </a:p>
        </p:txBody>
      </p:sp>
      <p:sp>
        <p:nvSpPr>
          <p:cNvPr id="5" name="Rectangle 5">
            <a:extLst>
              <a:ext uri="{FF2B5EF4-FFF2-40B4-BE49-F238E27FC236}">
                <a16:creationId xmlns:a16="http://schemas.microsoft.com/office/drawing/2014/main" id="{5005BE3D-D953-CCF5-AD46-59F343E17432}"/>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0761830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3EBA111-586B-801A-8A4D-318A1476AA52}"/>
              </a:ext>
            </a:extLst>
          </p:cNvPr>
          <p:cNvSpPr>
            <a:spLocks noGrp="1" noChangeArrowheads="1"/>
          </p:cNvSpPr>
          <p:nvPr>
            <p:ph type="dt" sz="half" idx="10"/>
          </p:nvPr>
        </p:nvSpPr>
        <p:spPr>
          <a:ln/>
        </p:spPr>
        <p:txBody>
          <a:bodyPr/>
          <a:lstStyle>
            <a:lvl1pPr>
              <a:defRPr/>
            </a:lvl1pPr>
          </a:lstStyle>
          <a:p>
            <a:pPr>
              <a:defRPr/>
            </a:pPr>
            <a:fld id="{40403AF6-E7A8-4640-B3CA-EC27640F0F06}" type="datetime1">
              <a:rPr lang="en-US" smtClean="0"/>
              <a:t>11/7/25</a:t>
            </a:fld>
            <a:endParaRPr lang="en-US"/>
          </a:p>
        </p:txBody>
      </p:sp>
      <p:sp>
        <p:nvSpPr>
          <p:cNvPr id="6" name="Rectangle 5">
            <a:extLst>
              <a:ext uri="{FF2B5EF4-FFF2-40B4-BE49-F238E27FC236}">
                <a16:creationId xmlns:a16="http://schemas.microsoft.com/office/drawing/2014/main" id="{97241CB7-CE91-145D-25C9-5EE833B8AC4B}"/>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7402467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53468A04-458C-C73B-4084-99477F932F4A}"/>
              </a:ext>
            </a:extLst>
          </p:cNvPr>
          <p:cNvSpPr>
            <a:spLocks noGrp="1" noChangeArrowheads="1"/>
          </p:cNvSpPr>
          <p:nvPr>
            <p:ph type="dt" sz="half" idx="10"/>
          </p:nvPr>
        </p:nvSpPr>
        <p:spPr>
          <a:ln/>
        </p:spPr>
        <p:txBody>
          <a:bodyPr/>
          <a:lstStyle>
            <a:lvl1pPr>
              <a:defRPr/>
            </a:lvl1pPr>
          </a:lstStyle>
          <a:p>
            <a:pPr>
              <a:defRPr/>
            </a:pPr>
            <a:fld id="{D4611331-7DD9-1347-964A-B77ECC83A9B9}" type="datetime1">
              <a:rPr lang="en-US" smtClean="0"/>
              <a:t>11/7/25</a:t>
            </a:fld>
            <a:endParaRPr lang="en-US"/>
          </a:p>
        </p:txBody>
      </p:sp>
      <p:sp>
        <p:nvSpPr>
          <p:cNvPr id="8" name="Rectangle 5">
            <a:extLst>
              <a:ext uri="{FF2B5EF4-FFF2-40B4-BE49-F238E27FC236}">
                <a16:creationId xmlns:a16="http://schemas.microsoft.com/office/drawing/2014/main" id="{C35F46AA-8B3F-5C75-506B-788D86D61925}"/>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4633889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BDDAC6D8-F3A4-6C19-D1BB-85F2EEF1AD9F}"/>
              </a:ext>
            </a:extLst>
          </p:cNvPr>
          <p:cNvSpPr>
            <a:spLocks noGrp="1" noChangeArrowheads="1"/>
          </p:cNvSpPr>
          <p:nvPr>
            <p:ph type="dt" sz="half" idx="10"/>
          </p:nvPr>
        </p:nvSpPr>
        <p:spPr>
          <a:ln/>
        </p:spPr>
        <p:txBody>
          <a:bodyPr/>
          <a:lstStyle>
            <a:lvl1pPr>
              <a:defRPr/>
            </a:lvl1pPr>
          </a:lstStyle>
          <a:p>
            <a:pPr>
              <a:defRPr/>
            </a:pPr>
            <a:fld id="{3263445B-CC69-F74D-8E1C-646C08C8C3AD}" type="datetime1">
              <a:rPr lang="en-US" smtClean="0"/>
              <a:t>11/7/25</a:t>
            </a:fld>
            <a:endParaRPr lang="en-US"/>
          </a:p>
        </p:txBody>
      </p:sp>
      <p:sp>
        <p:nvSpPr>
          <p:cNvPr id="4" name="Rectangle 5">
            <a:extLst>
              <a:ext uri="{FF2B5EF4-FFF2-40B4-BE49-F238E27FC236}">
                <a16:creationId xmlns:a16="http://schemas.microsoft.com/office/drawing/2014/main" id="{1B9E66A7-840F-CC28-0427-96E3AD91B26A}"/>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4429855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89B2B1D-39C4-5F8A-8538-11E68A920A35}"/>
              </a:ext>
            </a:extLst>
          </p:cNvPr>
          <p:cNvSpPr>
            <a:spLocks noGrp="1" noChangeArrowheads="1"/>
          </p:cNvSpPr>
          <p:nvPr>
            <p:ph type="dt" sz="half" idx="10"/>
          </p:nvPr>
        </p:nvSpPr>
        <p:spPr>
          <a:ln/>
        </p:spPr>
        <p:txBody>
          <a:bodyPr/>
          <a:lstStyle>
            <a:lvl1pPr>
              <a:defRPr/>
            </a:lvl1pPr>
          </a:lstStyle>
          <a:p>
            <a:pPr>
              <a:defRPr/>
            </a:pPr>
            <a:fld id="{088EFC59-A5ED-3847-8AF4-B12BF9BC46A5}" type="datetime1">
              <a:rPr lang="en-US" smtClean="0"/>
              <a:t>11/7/25</a:t>
            </a:fld>
            <a:endParaRPr lang="en-US"/>
          </a:p>
        </p:txBody>
      </p:sp>
      <p:sp>
        <p:nvSpPr>
          <p:cNvPr id="3" name="Rectangle 5">
            <a:extLst>
              <a:ext uri="{FF2B5EF4-FFF2-40B4-BE49-F238E27FC236}">
                <a16:creationId xmlns:a16="http://schemas.microsoft.com/office/drawing/2014/main" id="{29794F58-E93A-E461-C04B-206AEED5660D}"/>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876730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7F8873D-4398-0E27-E697-54B8DCFD70D6}"/>
              </a:ext>
            </a:extLst>
          </p:cNvPr>
          <p:cNvSpPr>
            <a:spLocks noGrp="1" noChangeArrowheads="1"/>
          </p:cNvSpPr>
          <p:nvPr>
            <p:ph type="dt" sz="half" idx="10"/>
          </p:nvPr>
        </p:nvSpPr>
        <p:spPr>
          <a:ln/>
        </p:spPr>
        <p:txBody>
          <a:bodyPr/>
          <a:lstStyle>
            <a:lvl1pPr>
              <a:defRPr/>
            </a:lvl1pPr>
          </a:lstStyle>
          <a:p>
            <a:pPr>
              <a:defRPr/>
            </a:pPr>
            <a:fld id="{EDC1FDB8-4FA2-FC4B-9A96-62F99AEA7A71}" type="datetime1">
              <a:rPr lang="en-US" smtClean="0"/>
              <a:t>11/7/25</a:t>
            </a:fld>
            <a:endParaRPr lang="en-US"/>
          </a:p>
        </p:txBody>
      </p:sp>
      <p:sp>
        <p:nvSpPr>
          <p:cNvPr id="6" name="Rectangle 5">
            <a:extLst>
              <a:ext uri="{FF2B5EF4-FFF2-40B4-BE49-F238E27FC236}">
                <a16:creationId xmlns:a16="http://schemas.microsoft.com/office/drawing/2014/main" id="{DFB9FFA9-3DE4-2969-7978-A39E6AA3B823}"/>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3549299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0D14E8E-7438-BB2F-1AFB-44312ADE00EF}"/>
              </a:ext>
            </a:extLst>
          </p:cNvPr>
          <p:cNvSpPr>
            <a:spLocks noGrp="1" noChangeArrowheads="1"/>
          </p:cNvSpPr>
          <p:nvPr>
            <p:ph type="dt" sz="half" idx="10"/>
          </p:nvPr>
        </p:nvSpPr>
        <p:spPr>
          <a:ln/>
        </p:spPr>
        <p:txBody>
          <a:bodyPr/>
          <a:lstStyle>
            <a:lvl1pPr>
              <a:defRPr/>
            </a:lvl1pPr>
          </a:lstStyle>
          <a:p>
            <a:pPr>
              <a:defRPr/>
            </a:pPr>
            <a:fld id="{EA0F7490-C54F-664D-B485-A8664A03509F}" type="datetime1">
              <a:rPr lang="en-US" smtClean="0"/>
              <a:t>11/7/25</a:t>
            </a:fld>
            <a:endParaRPr lang="en-US"/>
          </a:p>
        </p:txBody>
      </p:sp>
      <p:sp>
        <p:nvSpPr>
          <p:cNvPr id="6" name="Rectangle 5">
            <a:extLst>
              <a:ext uri="{FF2B5EF4-FFF2-40B4-BE49-F238E27FC236}">
                <a16:creationId xmlns:a16="http://schemas.microsoft.com/office/drawing/2014/main" id="{2897FA07-EC1F-BD97-424F-7510C3683FE0}"/>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092578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918644B-2DEB-89F2-4401-873929611372}"/>
              </a:ext>
            </a:extLst>
          </p:cNvPr>
          <p:cNvSpPr>
            <a:spLocks noGrp="1" noChangeArrowheads="1"/>
          </p:cNvSpPr>
          <p:nvPr>
            <p:ph type="dt" sz="half" idx="10"/>
          </p:nvPr>
        </p:nvSpPr>
        <p:spPr>
          <a:ln/>
        </p:spPr>
        <p:txBody>
          <a:bodyPr/>
          <a:lstStyle>
            <a:lvl1pPr>
              <a:defRPr/>
            </a:lvl1pPr>
          </a:lstStyle>
          <a:p>
            <a:pPr>
              <a:defRPr/>
            </a:pPr>
            <a:fld id="{1C885DA2-6FE4-5F45-A55C-6D6AE6965308}" type="datetime1">
              <a:rPr lang="en-US" smtClean="0"/>
              <a:t>11/7/25</a:t>
            </a:fld>
            <a:endParaRPr lang="en-US"/>
          </a:p>
        </p:txBody>
      </p:sp>
      <p:sp>
        <p:nvSpPr>
          <p:cNvPr id="5" name="Rectangle 5">
            <a:extLst>
              <a:ext uri="{FF2B5EF4-FFF2-40B4-BE49-F238E27FC236}">
                <a16:creationId xmlns:a16="http://schemas.microsoft.com/office/drawing/2014/main" id="{9421B206-0689-E465-6110-9332E0BD973D}"/>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138087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7059005-E8C7-C772-E324-053A6A18E6B7}"/>
              </a:ext>
            </a:extLst>
          </p:cNvPr>
          <p:cNvSpPr>
            <a:spLocks noGrp="1" noChangeArrowheads="1"/>
          </p:cNvSpPr>
          <p:nvPr>
            <p:ph type="dt" sz="half" idx="10"/>
          </p:nvPr>
        </p:nvSpPr>
        <p:spPr>
          <a:ln/>
        </p:spPr>
        <p:txBody>
          <a:bodyPr/>
          <a:lstStyle>
            <a:lvl1pPr>
              <a:defRPr/>
            </a:lvl1pPr>
          </a:lstStyle>
          <a:p>
            <a:pPr>
              <a:defRPr/>
            </a:pPr>
            <a:fld id="{2D70E6FF-709D-144C-994D-7A94D441B1EB}" type="datetime1">
              <a:rPr lang="en-US" smtClean="0"/>
              <a:t>11/7/25</a:t>
            </a:fld>
            <a:endParaRPr lang="en-US"/>
          </a:p>
        </p:txBody>
      </p:sp>
      <p:sp>
        <p:nvSpPr>
          <p:cNvPr id="5" name="Rectangle 5">
            <a:extLst>
              <a:ext uri="{FF2B5EF4-FFF2-40B4-BE49-F238E27FC236}">
                <a16:creationId xmlns:a16="http://schemas.microsoft.com/office/drawing/2014/main" id="{053F1AFF-A03C-D5AA-A537-B7512C0C6491}"/>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8461139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079031B6-6BD2-2D4E-9EEE-257F5EB17373}" type="datetime1">
              <a:rPr lang="en-US" smtClean="0"/>
              <a:t>11/7/25</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3DF57DA1-2AD2-FF41-B7A2-1B4F1AD3CC59}" type="slidenum">
              <a:rPr lang="en-US" smtClean="0"/>
              <a:pPr>
                <a:defRPr/>
              </a:pPr>
              <a:t>‹#›</a:t>
            </a:fld>
            <a:endParaRPr lang="en-US" dirty="0"/>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77756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13627726-7C1B-AF45-88C0-AA4BA86BEE75}" type="datetime1">
              <a:rPr lang="en-US" smtClean="0"/>
              <a:t>11/7/25</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DE0518C9-3CC7-7448-AD05-3CB269384775}" type="slidenum">
              <a:rPr lang="en-US" smtClean="0"/>
              <a:pPr>
                <a:defRPr/>
              </a:pPr>
              <a:t>‹#›</a:t>
            </a:fld>
            <a:endParaRPr lang="en-US" dirty="0"/>
          </a:p>
        </p:txBody>
      </p:sp>
    </p:spTree>
    <p:extLst>
      <p:ext uri="{BB962C8B-B14F-4D97-AF65-F5344CB8AC3E}">
        <p14:creationId xmlns:p14="http://schemas.microsoft.com/office/powerpoint/2010/main" val="19187738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FFF5C2DE-EFD2-E544-810B-5D21765760C9}" type="datetime1">
              <a:rPr lang="en-US" smtClean="0"/>
              <a:t>11/7/25</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CA51CDF-7A81-424C-8057-ADAC32C3137F}" type="slidenum">
              <a:rPr lang="en-US" smtClean="0"/>
              <a:pPr>
                <a:defRPr/>
              </a:pPr>
              <a:t>‹#›</a:t>
            </a:fld>
            <a:endParaRPr lang="en-US" dirty="0"/>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5412299"/>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C4E6E126-E188-3C48-AD08-1AAFA8AB74F2}" type="datetime1">
              <a:rPr lang="en-US" smtClean="0"/>
              <a:t>11/7/25</a:t>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914F4CA-897D-214A-8D71-10AFFED61C52}" type="slidenum">
              <a:rPr lang="en-US" smtClean="0"/>
              <a:pPr>
                <a:defRPr/>
              </a:pPr>
              <a:t>‹#›</a:t>
            </a:fld>
            <a:endParaRPr lang="en-US" dirty="0"/>
          </a:p>
        </p:txBody>
      </p:sp>
    </p:spTree>
    <p:extLst>
      <p:ext uri="{BB962C8B-B14F-4D97-AF65-F5344CB8AC3E}">
        <p14:creationId xmlns:p14="http://schemas.microsoft.com/office/powerpoint/2010/main" val="23227570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A53137D4-21D3-A347-B91F-C319D2A25DBA}" type="datetime1">
              <a:rPr lang="en-US" smtClean="0"/>
              <a:t>11/7/25</a:t>
            </a:fld>
            <a:endParaRPr lang="en-US" dirty="0"/>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E495D0EA-5D5D-1948-9829-DE54142719A3}" type="slidenum">
              <a:rPr lang="en-US" smtClean="0"/>
              <a:pPr>
                <a:defRPr/>
              </a:pPr>
              <a:t>‹#›</a:t>
            </a:fld>
            <a:endParaRPr lang="en-US" dirty="0"/>
          </a:p>
        </p:txBody>
      </p:sp>
      <p:cxnSp>
        <p:nvCxnSpPr>
          <p:cNvPr id="11" name="Straight Connector 10"/>
          <p:cNvCxnSpPr/>
          <p:nvPr/>
        </p:nvCxnSpPr>
        <p:spPr>
          <a:xfrm rot="5400000">
            <a:off x="3741949" y="4045691"/>
            <a:ext cx="4709160" cy="1059"/>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50074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FD5954F6-7905-E043-A176-C5D7291EE56E}" type="datetime1">
              <a:rPr lang="en-US" smtClean="0"/>
              <a:t>11/7/25</a:t>
            </a:fld>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EF8BE299-D423-6340-A0CA-3205E805061E}" type="slidenum">
              <a:rPr lang="en-US" smtClean="0"/>
              <a:pPr>
                <a:defRPr/>
              </a:pPr>
              <a:t>‹#›</a:t>
            </a:fld>
            <a:endParaRPr lang="en-US" dirty="0"/>
          </a:p>
        </p:txBody>
      </p:sp>
    </p:spTree>
    <p:extLst>
      <p:ext uri="{BB962C8B-B14F-4D97-AF65-F5344CB8AC3E}">
        <p14:creationId xmlns:p14="http://schemas.microsoft.com/office/powerpoint/2010/main" val="36828415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0AD37782-08EF-294A-B2AB-FBAFD697B894}" type="datetime1">
              <a:rPr lang="en-US" smtClean="0"/>
              <a:t>11/7/25</a:t>
            </a:fld>
            <a:endParaRPr lang="en-US" dirty="0">
              <a:solidFill>
                <a:schemeClr val="bg2">
                  <a:shade val="50000"/>
                </a:schemeClr>
              </a:solidFill>
            </a:endParaRPr>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76D09E21-E3A5-A34B-9A90-0AE5B5561539}" type="slidenum">
              <a:rPr lang="en-US" smtClean="0"/>
              <a:pPr>
                <a:defRPr/>
              </a:pPr>
              <a:t>‹#›</a:t>
            </a:fld>
            <a:endParaRPr lang="en-US" dirty="0">
              <a:solidFill>
                <a:schemeClr val="bg2">
                  <a:shade val="50000"/>
                </a:schemeClr>
              </a:solidFill>
            </a:endParaRPr>
          </a:p>
        </p:txBody>
      </p:sp>
    </p:spTree>
    <p:extLst>
      <p:ext uri="{BB962C8B-B14F-4D97-AF65-F5344CB8AC3E}">
        <p14:creationId xmlns:p14="http://schemas.microsoft.com/office/powerpoint/2010/main" val="9557892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0BEF6F90-DDA6-0C4A-92BB-CBE4D0968F29}" type="datetime1">
              <a:rPr lang="en-US" smtClean="0"/>
              <a:t>11/7/25</a:t>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D9CFF0E2-C4D3-6049-ABA5-9FE4BC468A4B}" type="slidenum">
              <a:rPr lang="en-US" smtClean="0"/>
              <a:pPr>
                <a:defRPr/>
              </a:pPr>
              <a:t>‹#›</a:t>
            </a:fld>
            <a:endParaRPr lang="en-US" dirty="0"/>
          </a:p>
        </p:txBody>
      </p:sp>
      <p:cxnSp>
        <p:nvCxnSpPr>
          <p:cNvPr id="9" name="Straight Connector 8"/>
          <p:cNvCxnSpPr/>
          <p:nvPr/>
        </p:nvCxnSpPr>
        <p:spPr>
          <a:xfrm rot="5400000">
            <a:off x="912152" y="3579942"/>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39353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54167486-550C-C149-AA29-3D214E2D90EA}" type="datetime1">
              <a:rPr lang="en-US" smtClean="0"/>
              <a:t>11/7/25</a:t>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805BEA33-7D7F-DD40-B8BE-D194AD0272E9}" type="slidenum">
              <a:rPr lang="en-US" smtClean="0"/>
              <a:pPr>
                <a:defRPr/>
              </a:pPr>
              <a:t>‹#›</a:t>
            </a:fld>
            <a:endParaRPr lang="en-US" dirty="0"/>
          </a:p>
        </p:txBody>
      </p:sp>
    </p:spTree>
    <p:extLst>
      <p:ext uri="{BB962C8B-B14F-4D97-AF65-F5344CB8AC3E}">
        <p14:creationId xmlns:p14="http://schemas.microsoft.com/office/powerpoint/2010/main" val="31826581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A233DA11-EFEA-1F46-9039-4FF4C637B9F6}" type="datetime1">
              <a:rPr lang="en-US" smtClean="0"/>
              <a:t>11/7/25</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1952A26-B463-2948-AE0D-BDBE007892A0}" type="slidenum">
              <a:rPr lang="en-US" smtClean="0"/>
              <a:pPr>
                <a:defRPr/>
              </a:pPr>
              <a:t>‹#›</a:t>
            </a:fld>
            <a:endParaRPr lang="en-US" dirty="0"/>
          </a:p>
        </p:txBody>
      </p:sp>
    </p:spTree>
    <p:extLst>
      <p:ext uri="{BB962C8B-B14F-4D97-AF65-F5344CB8AC3E}">
        <p14:creationId xmlns:p14="http://schemas.microsoft.com/office/powerpoint/2010/main" val="12636560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A7F9181A-29B4-AE4B-955D-1E098184C429}" type="datetime1">
              <a:rPr lang="en-US" smtClean="0"/>
              <a:t>11/7/25</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B926D39-B112-8545-A064-A5EB9DE8A934}" type="slidenum">
              <a:rPr lang="en-US" smtClean="0"/>
              <a:pPr>
                <a:defRPr/>
              </a:pPr>
              <a:t>‹#›</a:t>
            </a:fld>
            <a:endParaRPr lang="en-US" dirty="0"/>
          </a:p>
        </p:txBody>
      </p:sp>
    </p:spTree>
    <p:extLst>
      <p:ext uri="{BB962C8B-B14F-4D97-AF65-F5344CB8AC3E}">
        <p14:creationId xmlns:p14="http://schemas.microsoft.com/office/powerpoint/2010/main" val="28711800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9" name="Rectangle 8"/>
          <p:cNvSpPr/>
          <p:nvPr userDrawn="1"/>
        </p:nvSpPr>
        <p:spPr>
          <a:xfrm>
            <a:off x="1352552" y="0"/>
            <a:ext cx="10839449"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0" name="Rectangle 9"/>
          <p:cNvSpPr/>
          <p:nvPr/>
        </p:nvSpPr>
        <p:spPr bwMode="invGray">
          <a:xfrm>
            <a:off x="1352551" y="0"/>
            <a:ext cx="97367"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1" name="Picture Placeholder 7"/>
          <p:cNvSpPr>
            <a:spLocks noGrp="1"/>
          </p:cNvSpPr>
          <p:nvPr>
            <p:ph type="pic" sz="quarter" idx="15"/>
          </p:nvPr>
        </p:nvSpPr>
        <p:spPr>
          <a:xfrm>
            <a:off x="1450849" y="948268"/>
            <a:ext cx="1145596" cy="812798"/>
          </a:xfrm>
        </p:spPr>
        <p:txBody>
          <a:bodyPr>
            <a:normAutofit/>
          </a:bodyPr>
          <a:lstStyle>
            <a:lvl1pPr marL="82296" indent="0">
              <a:buNone/>
              <a:defRPr sz="1600"/>
            </a:lvl1pPr>
          </a:lstStyle>
          <a:p>
            <a:pPr lvl="0"/>
            <a:endParaRPr lang="en-US" noProof="0" dirty="0"/>
          </a:p>
        </p:txBody>
      </p:sp>
      <p:sp>
        <p:nvSpPr>
          <p:cNvPr id="18" name="Title 17"/>
          <p:cNvSpPr>
            <a:spLocks noGrp="1"/>
          </p:cNvSpPr>
          <p:nvPr>
            <p:ph type="title"/>
          </p:nvPr>
        </p:nvSpPr>
        <p:spPr>
          <a:xfrm>
            <a:off x="3318932" y="140231"/>
            <a:ext cx="8272047" cy="672571"/>
          </a:xfrm>
        </p:spPr>
        <p:txBody>
          <a:bodyPr vert="horz"/>
          <a:lstStyle>
            <a:lvl1pPr algn="ctr">
              <a:defRPr sz="3200"/>
            </a:lvl1pPr>
          </a:lstStyle>
          <a:p>
            <a:r>
              <a:rPr lang="en-US" dirty="0"/>
              <a:t>Click to edit Master title style</a:t>
            </a:r>
          </a:p>
        </p:txBody>
      </p:sp>
      <p:sp>
        <p:nvSpPr>
          <p:cNvPr id="19" name="Picture Placeholder 7"/>
          <p:cNvSpPr>
            <a:spLocks noGrp="1"/>
          </p:cNvSpPr>
          <p:nvPr>
            <p:ph type="pic" sz="quarter" idx="16"/>
          </p:nvPr>
        </p:nvSpPr>
        <p:spPr>
          <a:xfrm>
            <a:off x="1450849" y="1930399"/>
            <a:ext cx="1145596" cy="812798"/>
          </a:xfrm>
        </p:spPr>
        <p:txBody>
          <a:bodyPr>
            <a:normAutofit/>
          </a:bodyPr>
          <a:lstStyle>
            <a:lvl1pPr marL="82296" indent="0">
              <a:buNone/>
              <a:defRPr sz="1600"/>
            </a:lvl1pPr>
          </a:lstStyle>
          <a:p>
            <a:pPr lvl="0"/>
            <a:endParaRPr lang="en-US" noProof="0" dirty="0"/>
          </a:p>
        </p:txBody>
      </p:sp>
      <p:sp>
        <p:nvSpPr>
          <p:cNvPr id="20" name="Picture Placeholder 7"/>
          <p:cNvSpPr>
            <a:spLocks noGrp="1"/>
          </p:cNvSpPr>
          <p:nvPr>
            <p:ph type="pic" sz="quarter" idx="17"/>
          </p:nvPr>
        </p:nvSpPr>
        <p:spPr>
          <a:xfrm>
            <a:off x="1443623" y="2946401"/>
            <a:ext cx="1145596" cy="812798"/>
          </a:xfrm>
        </p:spPr>
        <p:txBody>
          <a:bodyPr>
            <a:normAutofit/>
          </a:bodyPr>
          <a:lstStyle>
            <a:lvl1pPr marL="82296" indent="0">
              <a:buNone/>
              <a:defRPr sz="1600"/>
            </a:lvl1pPr>
          </a:lstStyle>
          <a:p>
            <a:pPr lvl="0"/>
            <a:endParaRPr lang="en-US" noProof="0" dirty="0"/>
          </a:p>
        </p:txBody>
      </p:sp>
      <p:sp>
        <p:nvSpPr>
          <p:cNvPr id="21" name="Picture Placeholder 7"/>
          <p:cNvSpPr>
            <a:spLocks noGrp="1"/>
          </p:cNvSpPr>
          <p:nvPr>
            <p:ph type="pic" sz="quarter" idx="18"/>
          </p:nvPr>
        </p:nvSpPr>
        <p:spPr>
          <a:xfrm>
            <a:off x="1450849" y="3945468"/>
            <a:ext cx="1145596" cy="812798"/>
          </a:xfrm>
        </p:spPr>
        <p:txBody>
          <a:bodyPr>
            <a:normAutofit/>
          </a:bodyPr>
          <a:lstStyle>
            <a:lvl1pPr marL="82296" indent="0">
              <a:buNone/>
              <a:defRPr sz="1600"/>
            </a:lvl1pPr>
          </a:lstStyle>
          <a:p>
            <a:pPr lvl="0"/>
            <a:endParaRPr lang="en-US" noProof="0" dirty="0"/>
          </a:p>
        </p:txBody>
      </p:sp>
      <p:sp>
        <p:nvSpPr>
          <p:cNvPr id="22" name="Picture Placeholder 7"/>
          <p:cNvSpPr>
            <a:spLocks noGrp="1"/>
          </p:cNvSpPr>
          <p:nvPr>
            <p:ph type="pic" sz="quarter" idx="19"/>
          </p:nvPr>
        </p:nvSpPr>
        <p:spPr>
          <a:xfrm>
            <a:off x="1443623" y="4910668"/>
            <a:ext cx="1145596" cy="812798"/>
          </a:xfrm>
        </p:spPr>
        <p:txBody>
          <a:bodyPr>
            <a:normAutofit/>
          </a:bodyPr>
          <a:lstStyle>
            <a:lvl1pPr marL="82296" indent="0">
              <a:buNone/>
              <a:defRPr sz="1600"/>
            </a:lvl1pPr>
          </a:lstStyle>
          <a:p>
            <a:pPr lvl="0"/>
            <a:endParaRPr lang="en-US" noProof="0" dirty="0"/>
          </a:p>
        </p:txBody>
      </p:sp>
      <p:sp>
        <p:nvSpPr>
          <p:cNvPr id="23" name="Picture Placeholder 7"/>
          <p:cNvSpPr>
            <a:spLocks noGrp="1"/>
          </p:cNvSpPr>
          <p:nvPr>
            <p:ph type="pic" sz="quarter" idx="20"/>
          </p:nvPr>
        </p:nvSpPr>
        <p:spPr>
          <a:xfrm>
            <a:off x="1450849" y="5899151"/>
            <a:ext cx="1145596" cy="812798"/>
          </a:xfrm>
        </p:spPr>
        <p:txBody>
          <a:bodyPr>
            <a:normAutofit/>
          </a:bodyPr>
          <a:lstStyle>
            <a:lvl1pPr marL="82296" indent="0">
              <a:buNone/>
              <a:defRPr sz="1600"/>
            </a:lvl1pPr>
          </a:lstStyle>
          <a:p>
            <a:pPr lvl="0"/>
            <a:endParaRPr lang="en-US" noProof="0" dirty="0"/>
          </a:p>
        </p:txBody>
      </p:sp>
    </p:spTree>
    <p:extLst>
      <p:ext uri="{BB962C8B-B14F-4D97-AF65-F5344CB8AC3E}">
        <p14:creationId xmlns:p14="http://schemas.microsoft.com/office/powerpoint/2010/main" val="313583041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79DF5-5C7C-BA52-2D38-15652E7BFA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E48392-3EA0-BE9F-6A3F-5292A44E57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2462ED-7B5A-364E-48D1-AAF08E38DD06}"/>
              </a:ext>
            </a:extLst>
          </p:cNvPr>
          <p:cNvSpPr>
            <a:spLocks noGrp="1"/>
          </p:cNvSpPr>
          <p:nvPr>
            <p:ph type="dt" sz="half" idx="10"/>
          </p:nvPr>
        </p:nvSpPr>
        <p:spPr/>
        <p:txBody>
          <a:bodyPr/>
          <a:lstStyle/>
          <a:p>
            <a:fld id="{A1BD26E7-F651-F84A-AE1D-A71A5F7453BD}" type="datetime1">
              <a:rPr lang="en-US" smtClean="0"/>
              <a:t>11/7/25</a:t>
            </a:fld>
            <a:endParaRPr lang="en-US"/>
          </a:p>
        </p:txBody>
      </p:sp>
      <p:sp>
        <p:nvSpPr>
          <p:cNvPr id="5" name="Footer Placeholder 4">
            <a:extLst>
              <a:ext uri="{FF2B5EF4-FFF2-40B4-BE49-F238E27FC236}">
                <a16:creationId xmlns:a16="http://schemas.microsoft.com/office/drawing/2014/main" id="{612B986F-1F3A-CBA7-6033-1E328D7278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6C124A-9174-AB4A-3C67-F1DC099B49CF}"/>
              </a:ext>
            </a:extLst>
          </p:cNvPr>
          <p:cNvSpPr>
            <a:spLocks noGrp="1"/>
          </p:cNvSpPr>
          <p:nvPr>
            <p:ph type="sldNum" sz="quarter" idx="12"/>
          </p:nvPr>
        </p:nvSpPr>
        <p:spPr/>
        <p:txBody>
          <a:bodyPr/>
          <a:lstStyle/>
          <a:p>
            <a:fld id="{233426DC-C502-4B46-A878-9D43EE259E4B}" type="slidenum">
              <a:rPr lang="en-US" smtClean="0"/>
              <a:t>‹#›</a:t>
            </a:fld>
            <a:endParaRPr lang="en-US"/>
          </a:p>
        </p:txBody>
      </p:sp>
    </p:spTree>
    <p:extLst>
      <p:ext uri="{BB962C8B-B14F-4D97-AF65-F5344CB8AC3E}">
        <p14:creationId xmlns:p14="http://schemas.microsoft.com/office/powerpoint/2010/main" val="24542451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69D72-CDA5-C18B-CFCD-B1CB3BE6DE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F6CD58-DE4B-D43E-A83B-4110A85674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379886-93CD-CD42-29BF-0442E888EC48}"/>
              </a:ext>
            </a:extLst>
          </p:cNvPr>
          <p:cNvSpPr>
            <a:spLocks noGrp="1"/>
          </p:cNvSpPr>
          <p:nvPr>
            <p:ph type="dt" sz="half" idx="10"/>
          </p:nvPr>
        </p:nvSpPr>
        <p:spPr/>
        <p:txBody>
          <a:bodyPr/>
          <a:lstStyle/>
          <a:p>
            <a:fld id="{004886FE-7F69-B74F-A190-46068712F82F}" type="datetime1">
              <a:rPr lang="en-US" smtClean="0"/>
              <a:t>11/7/25</a:t>
            </a:fld>
            <a:endParaRPr lang="en-US"/>
          </a:p>
        </p:txBody>
      </p:sp>
      <p:sp>
        <p:nvSpPr>
          <p:cNvPr id="5" name="Footer Placeholder 4">
            <a:extLst>
              <a:ext uri="{FF2B5EF4-FFF2-40B4-BE49-F238E27FC236}">
                <a16:creationId xmlns:a16="http://schemas.microsoft.com/office/drawing/2014/main" id="{F4C11E55-DD1C-3DCF-8676-17C514BE05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C4AC9A-173B-B469-6BBB-ADA342616265}"/>
              </a:ext>
            </a:extLst>
          </p:cNvPr>
          <p:cNvSpPr>
            <a:spLocks noGrp="1"/>
          </p:cNvSpPr>
          <p:nvPr>
            <p:ph type="sldNum" sz="quarter" idx="12"/>
          </p:nvPr>
        </p:nvSpPr>
        <p:spPr/>
        <p:txBody>
          <a:bodyPr/>
          <a:lstStyle>
            <a:lvl1pPr>
              <a:defRPr sz="1400"/>
            </a:lvl1pPr>
          </a:lstStyle>
          <a:p>
            <a:fld id="{233426DC-C502-4B46-A878-9D43EE259E4B}" type="slidenum">
              <a:rPr lang="en-US" smtClean="0"/>
              <a:pPr/>
              <a:t>‹#›</a:t>
            </a:fld>
            <a:endParaRPr lang="en-US" sz="1400"/>
          </a:p>
        </p:txBody>
      </p:sp>
    </p:spTree>
    <p:extLst>
      <p:ext uri="{BB962C8B-B14F-4D97-AF65-F5344CB8AC3E}">
        <p14:creationId xmlns:p14="http://schemas.microsoft.com/office/powerpoint/2010/main" val="334069500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52A72-DF5C-859D-E17C-2B249BFC91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A9D45F-ABE5-01A5-5196-A880714A97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13DC5F-6CA4-1262-FF83-29A0B5F4705F}"/>
              </a:ext>
            </a:extLst>
          </p:cNvPr>
          <p:cNvSpPr>
            <a:spLocks noGrp="1"/>
          </p:cNvSpPr>
          <p:nvPr>
            <p:ph type="dt" sz="half" idx="10"/>
          </p:nvPr>
        </p:nvSpPr>
        <p:spPr/>
        <p:txBody>
          <a:bodyPr/>
          <a:lstStyle/>
          <a:p>
            <a:fld id="{94268AE5-2DDA-5142-8C45-7A2484F3FD50}" type="datetime1">
              <a:rPr lang="en-US" smtClean="0"/>
              <a:t>11/7/25</a:t>
            </a:fld>
            <a:endParaRPr lang="en-US"/>
          </a:p>
        </p:txBody>
      </p:sp>
      <p:sp>
        <p:nvSpPr>
          <p:cNvPr id="5" name="Footer Placeholder 4">
            <a:extLst>
              <a:ext uri="{FF2B5EF4-FFF2-40B4-BE49-F238E27FC236}">
                <a16:creationId xmlns:a16="http://schemas.microsoft.com/office/drawing/2014/main" id="{A110BA5A-B23C-C0FB-7D85-5DB1FC80E5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1956D9-029E-90EC-2A4C-F162677A1989}"/>
              </a:ext>
            </a:extLst>
          </p:cNvPr>
          <p:cNvSpPr>
            <a:spLocks noGrp="1"/>
          </p:cNvSpPr>
          <p:nvPr>
            <p:ph type="sldNum" sz="quarter" idx="12"/>
          </p:nvPr>
        </p:nvSpPr>
        <p:spPr/>
        <p:txBody>
          <a:bodyPr/>
          <a:lstStyle/>
          <a:p>
            <a:fld id="{233426DC-C502-4B46-A878-9D43EE259E4B}" type="slidenum">
              <a:rPr lang="en-US" smtClean="0"/>
              <a:t>‹#›</a:t>
            </a:fld>
            <a:endParaRPr lang="en-US"/>
          </a:p>
        </p:txBody>
      </p:sp>
    </p:spTree>
    <p:extLst>
      <p:ext uri="{BB962C8B-B14F-4D97-AF65-F5344CB8AC3E}">
        <p14:creationId xmlns:p14="http://schemas.microsoft.com/office/powerpoint/2010/main" val="33181154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BEC51-02CF-D9F7-53BE-783666468A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4858E3-25DF-3611-7838-82F4FFC349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A58C703-0D37-2D71-67F5-A209AC3C01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7F1463-BD95-DB41-54E2-1010D6D0F2A5}"/>
              </a:ext>
            </a:extLst>
          </p:cNvPr>
          <p:cNvSpPr>
            <a:spLocks noGrp="1"/>
          </p:cNvSpPr>
          <p:nvPr>
            <p:ph type="dt" sz="half" idx="10"/>
          </p:nvPr>
        </p:nvSpPr>
        <p:spPr/>
        <p:txBody>
          <a:bodyPr/>
          <a:lstStyle/>
          <a:p>
            <a:fld id="{87214C51-83CC-BA47-9ED3-915E800E2ACB}" type="datetime1">
              <a:rPr lang="en-US" smtClean="0"/>
              <a:t>11/7/25</a:t>
            </a:fld>
            <a:endParaRPr lang="en-US"/>
          </a:p>
        </p:txBody>
      </p:sp>
      <p:sp>
        <p:nvSpPr>
          <p:cNvPr id="6" name="Footer Placeholder 5">
            <a:extLst>
              <a:ext uri="{FF2B5EF4-FFF2-40B4-BE49-F238E27FC236}">
                <a16:creationId xmlns:a16="http://schemas.microsoft.com/office/drawing/2014/main" id="{4BE7E78F-BD37-9A57-B269-C1709872F8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6FDA3E-30F5-0FA2-4BB8-5EBB5A856815}"/>
              </a:ext>
            </a:extLst>
          </p:cNvPr>
          <p:cNvSpPr>
            <a:spLocks noGrp="1"/>
          </p:cNvSpPr>
          <p:nvPr>
            <p:ph type="sldNum" sz="quarter" idx="12"/>
          </p:nvPr>
        </p:nvSpPr>
        <p:spPr/>
        <p:txBody>
          <a:bodyPr/>
          <a:lstStyle/>
          <a:p>
            <a:fld id="{233426DC-C502-4B46-A878-9D43EE259E4B}" type="slidenum">
              <a:rPr lang="en-US" smtClean="0"/>
              <a:t>‹#›</a:t>
            </a:fld>
            <a:endParaRPr lang="en-US"/>
          </a:p>
        </p:txBody>
      </p:sp>
    </p:spTree>
    <p:extLst>
      <p:ext uri="{BB962C8B-B14F-4D97-AF65-F5344CB8AC3E}">
        <p14:creationId xmlns:p14="http://schemas.microsoft.com/office/powerpoint/2010/main" val="16672812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87202-3B20-8D02-A0B0-463ED38307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BB85C41-4B39-4AEA-11FF-AE1BC1B711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CC1804-DFCD-B66F-845F-D2A4853106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0EF254E-9BFC-C75A-2063-DEE258B230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EA41C8-03A0-3B64-DD94-6DFA654D4D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02521DF-0A86-3BAF-5F08-ACAD37539497}"/>
              </a:ext>
            </a:extLst>
          </p:cNvPr>
          <p:cNvSpPr>
            <a:spLocks noGrp="1"/>
          </p:cNvSpPr>
          <p:nvPr>
            <p:ph type="dt" sz="half" idx="10"/>
          </p:nvPr>
        </p:nvSpPr>
        <p:spPr/>
        <p:txBody>
          <a:bodyPr/>
          <a:lstStyle/>
          <a:p>
            <a:fld id="{C478A85C-0771-D04D-AA40-5A1EF999AE54}" type="datetime1">
              <a:rPr lang="en-US" smtClean="0"/>
              <a:t>11/7/25</a:t>
            </a:fld>
            <a:endParaRPr lang="en-US"/>
          </a:p>
        </p:txBody>
      </p:sp>
      <p:sp>
        <p:nvSpPr>
          <p:cNvPr id="8" name="Footer Placeholder 7">
            <a:extLst>
              <a:ext uri="{FF2B5EF4-FFF2-40B4-BE49-F238E27FC236}">
                <a16:creationId xmlns:a16="http://schemas.microsoft.com/office/drawing/2014/main" id="{4C3BE457-F353-738F-BB42-A403E1206EB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1D70D42-C753-6FB7-BBEA-112BF4780D28}"/>
              </a:ext>
            </a:extLst>
          </p:cNvPr>
          <p:cNvSpPr>
            <a:spLocks noGrp="1"/>
          </p:cNvSpPr>
          <p:nvPr>
            <p:ph type="sldNum" sz="quarter" idx="12"/>
          </p:nvPr>
        </p:nvSpPr>
        <p:spPr/>
        <p:txBody>
          <a:bodyPr/>
          <a:lstStyle/>
          <a:p>
            <a:fld id="{233426DC-C502-4B46-A878-9D43EE259E4B}" type="slidenum">
              <a:rPr lang="en-US" smtClean="0"/>
              <a:t>‹#›</a:t>
            </a:fld>
            <a:endParaRPr lang="en-US"/>
          </a:p>
        </p:txBody>
      </p:sp>
    </p:spTree>
    <p:extLst>
      <p:ext uri="{BB962C8B-B14F-4D97-AF65-F5344CB8AC3E}">
        <p14:creationId xmlns:p14="http://schemas.microsoft.com/office/powerpoint/2010/main" val="7728818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CF8B8-4687-AFD0-2BAE-9B60323DA6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D3B1E-A86B-CD61-E367-F75F47275F1F}"/>
              </a:ext>
            </a:extLst>
          </p:cNvPr>
          <p:cNvSpPr>
            <a:spLocks noGrp="1"/>
          </p:cNvSpPr>
          <p:nvPr>
            <p:ph type="dt" sz="half" idx="10"/>
          </p:nvPr>
        </p:nvSpPr>
        <p:spPr/>
        <p:txBody>
          <a:bodyPr/>
          <a:lstStyle/>
          <a:p>
            <a:fld id="{1B9EF013-5077-C643-9C91-73BE82EA2020}" type="datetime1">
              <a:rPr lang="en-US" smtClean="0"/>
              <a:t>11/7/25</a:t>
            </a:fld>
            <a:endParaRPr lang="en-US"/>
          </a:p>
        </p:txBody>
      </p:sp>
      <p:sp>
        <p:nvSpPr>
          <p:cNvPr id="4" name="Footer Placeholder 3">
            <a:extLst>
              <a:ext uri="{FF2B5EF4-FFF2-40B4-BE49-F238E27FC236}">
                <a16:creationId xmlns:a16="http://schemas.microsoft.com/office/drawing/2014/main" id="{17336B8B-A7EA-BE4C-39BB-6774ED8FBF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E582BA-33B5-1B2C-39D7-E7BCE1C57310}"/>
              </a:ext>
            </a:extLst>
          </p:cNvPr>
          <p:cNvSpPr>
            <a:spLocks noGrp="1"/>
          </p:cNvSpPr>
          <p:nvPr>
            <p:ph type="sldNum" sz="quarter" idx="12"/>
          </p:nvPr>
        </p:nvSpPr>
        <p:spPr/>
        <p:txBody>
          <a:bodyPr/>
          <a:lstStyle/>
          <a:p>
            <a:fld id="{233426DC-C502-4B46-A878-9D43EE259E4B}" type="slidenum">
              <a:rPr lang="en-US" smtClean="0"/>
              <a:t>‹#›</a:t>
            </a:fld>
            <a:endParaRPr lang="en-US"/>
          </a:p>
        </p:txBody>
      </p:sp>
    </p:spTree>
    <p:extLst>
      <p:ext uri="{BB962C8B-B14F-4D97-AF65-F5344CB8AC3E}">
        <p14:creationId xmlns:p14="http://schemas.microsoft.com/office/powerpoint/2010/main" val="108683398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3801FB-3395-9906-695D-502F36A4B717}"/>
              </a:ext>
            </a:extLst>
          </p:cNvPr>
          <p:cNvSpPr>
            <a:spLocks noGrp="1"/>
          </p:cNvSpPr>
          <p:nvPr>
            <p:ph type="dt" sz="half" idx="10"/>
          </p:nvPr>
        </p:nvSpPr>
        <p:spPr/>
        <p:txBody>
          <a:bodyPr/>
          <a:lstStyle/>
          <a:p>
            <a:fld id="{48F7E9A9-111C-9C4F-93F7-C9153DA00732}" type="datetime1">
              <a:rPr lang="en-US" smtClean="0"/>
              <a:t>11/7/25</a:t>
            </a:fld>
            <a:endParaRPr lang="en-US"/>
          </a:p>
        </p:txBody>
      </p:sp>
      <p:sp>
        <p:nvSpPr>
          <p:cNvPr id="3" name="Footer Placeholder 2">
            <a:extLst>
              <a:ext uri="{FF2B5EF4-FFF2-40B4-BE49-F238E27FC236}">
                <a16:creationId xmlns:a16="http://schemas.microsoft.com/office/drawing/2014/main" id="{4C7B425F-7BFC-1B3B-5C6B-01FD0D01D4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5DF1AF1-0D74-C556-71A5-73361CA0436E}"/>
              </a:ext>
            </a:extLst>
          </p:cNvPr>
          <p:cNvSpPr>
            <a:spLocks noGrp="1"/>
          </p:cNvSpPr>
          <p:nvPr>
            <p:ph type="sldNum" sz="quarter" idx="12"/>
          </p:nvPr>
        </p:nvSpPr>
        <p:spPr/>
        <p:txBody>
          <a:bodyPr/>
          <a:lstStyle/>
          <a:p>
            <a:fld id="{233426DC-C502-4B46-A878-9D43EE259E4B}" type="slidenum">
              <a:rPr lang="en-US" smtClean="0"/>
              <a:t>‹#›</a:t>
            </a:fld>
            <a:endParaRPr lang="en-US"/>
          </a:p>
        </p:txBody>
      </p:sp>
    </p:spTree>
    <p:extLst>
      <p:ext uri="{BB962C8B-B14F-4D97-AF65-F5344CB8AC3E}">
        <p14:creationId xmlns:p14="http://schemas.microsoft.com/office/powerpoint/2010/main" val="308311904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5D089-1E5F-9BA3-41C4-07FC0D6BC9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9DDD504-48D2-A3DD-8A04-6C1F64D910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FC2C4D-C4D0-AA3E-1B36-A7C0A291E3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6D2F6A-5669-5FDF-BD71-C41CE09003BF}"/>
              </a:ext>
            </a:extLst>
          </p:cNvPr>
          <p:cNvSpPr>
            <a:spLocks noGrp="1"/>
          </p:cNvSpPr>
          <p:nvPr>
            <p:ph type="dt" sz="half" idx="10"/>
          </p:nvPr>
        </p:nvSpPr>
        <p:spPr/>
        <p:txBody>
          <a:bodyPr/>
          <a:lstStyle/>
          <a:p>
            <a:fld id="{3C54B681-267A-B941-A0A7-D9EE94544CF1}" type="datetime1">
              <a:rPr lang="en-US" smtClean="0"/>
              <a:t>11/7/25</a:t>
            </a:fld>
            <a:endParaRPr lang="en-US"/>
          </a:p>
        </p:txBody>
      </p:sp>
      <p:sp>
        <p:nvSpPr>
          <p:cNvPr id="6" name="Footer Placeholder 5">
            <a:extLst>
              <a:ext uri="{FF2B5EF4-FFF2-40B4-BE49-F238E27FC236}">
                <a16:creationId xmlns:a16="http://schemas.microsoft.com/office/drawing/2014/main" id="{FFAE8067-C2D6-9F9D-4C67-13F716D287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F75494-62AE-181B-888D-6EC43DCFE137}"/>
              </a:ext>
            </a:extLst>
          </p:cNvPr>
          <p:cNvSpPr>
            <a:spLocks noGrp="1"/>
          </p:cNvSpPr>
          <p:nvPr>
            <p:ph type="sldNum" sz="quarter" idx="12"/>
          </p:nvPr>
        </p:nvSpPr>
        <p:spPr/>
        <p:txBody>
          <a:bodyPr/>
          <a:lstStyle/>
          <a:p>
            <a:fld id="{233426DC-C502-4B46-A878-9D43EE259E4B}" type="slidenum">
              <a:rPr lang="en-US" smtClean="0"/>
              <a:t>‹#›</a:t>
            </a:fld>
            <a:endParaRPr lang="en-US"/>
          </a:p>
        </p:txBody>
      </p:sp>
    </p:spTree>
    <p:extLst>
      <p:ext uri="{BB962C8B-B14F-4D97-AF65-F5344CB8AC3E}">
        <p14:creationId xmlns:p14="http://schemas.microsoft.com/office/powerpoint/2010/main" val="20505773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A4044-5F7D-D394-27B4-8B246BB7AE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500F1F-CFC6-E728-48DD-39FADD811E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B25F12-A92C-7FD8-1794-7F4C9F57F3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EF96F9-26E3-5A31-91EA-CD6F4BFAF95B}"/>
              </a:ext>
            </a:extLst>
          </p:cNvPr>
          <p:cNvSpPr>
            <a:spLocks noGrp="1"/>
          </p:cNvSpPr>
          <p:nvPr>
            <p:ph type="dt" sz="half" idx="10"/>
          </p:nvPr>
        </p:nvSpPr>
        <p:spPr/>
        <p:txBody>
          <a:bodyPr/>
          <a:lstStyle/>
          <a:p>
            <a:fld id="{0BA27421-8D8A-0841-97EF-9FBA77D54E3A}" type="datetime1">
              <a:rPr lang="en-US" smtClean="0"/>
              <a:t>11/7/25</a:t>
            </a:fld>
            <a:endParaRPr lang="en-US"/>
          </a:p>
        </p:txBody>
      </p:sp>
      <p:sp>
        <p:nvSpPr>
          <p:cNvPr id="6" name="Footer Placeholder 5">
            <a:extLst>
              <a:ext uri="{FF2B5EF4-FFF2-40B4-BE49-F238E27FC236}">
                <a16:creationId xmlns:a16="http://schemas.microsoft.com/office/drawing/2014/main" id="{9745C527-D6B2-745E-3774-EF6A0DEEFC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806421-B13E-6353-F6B7-1947B7AA2181}"/>
              </a:ext>
            </a:extLst>
          </p:cNvPr>
          <p:cNvSpPr>
            <a:spLocks noGrp="1"/>
          </p:cNvSpPr>
          <p:nvPr>
            <p:ph type="sldNum" sz="quarter" idx="12"/>
          </p:nvPr>
        </p:nvSpPr>
        <p:spPr/>
        <p:txBody>
          <a:bodyPr/>
          <a:lstStyle/>
          <a:p>
            <a:fld id="{233426DC-C502-4B46-A878-9D43EE259E4B}" type="slidenum">
              <a:rPr lang="en-US" smtClean="0"/>
              <a:t>‹#›</a:t>
            </a:fld>
            <a:endParaRPr lang="en-US"/>
          </a:p>
        </p:txBody>
      </p:sp>
    </p:spTree>
    <p:extLst>
      <p:ext uri="{BB962C8B-B14F-4D97-AF65-F5344CB8AC3E}">
        <p14:creationId xmlns:p14="http://schemas.microsoft.com/office/powerpoint/2010/main" val="272346440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CCB7A-ED4E-FD5D-4478-D53B98F7E9C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479189-C5F5-77D9-30C9-1447B42A24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D19623-C120-37B1-CCF6-A92385457173}"/>
              </a:ext>
            </a:extLst>
          </p:cNvPr>
          <p:cNvSpPr>
            <a:spLocks noGrp="1"/>
          </p:cNvSpPr>
          <p:nvPr>
            <p:ph type="dt" sz="half" idx="10"/>
          </p:nvPr>
        </p:nvSpPr>
        <p:spPr/>
        <p:txBody>
          <a:bodyPr/>
          <a:lstStyle/>
          <a:p>
            <a:fld id="{73BCBD0D-8B27-F943-8EA8-5E70D15DF494}" type="datetime1">
              <a:rPr lang="en-US" smtClean="0"/>
              <a:t>11/7/25</a:t>
            </a:fld>
            <a:endParaRPr lang="en-US"/>
          </a:p>
        </p:txBody>
      </p:sp>
      <p:sp>
        <p:nvSpPr>
          <p:cNvPr id="5" name="Footer Placeholder 4">
            <a:extLst>
              <a:ext uri="{FF2B5EF4-FFF2-40B4-BE49-F238E27FC236}">
                <a16:creationId xmlns:a16="http://schemas.microsoft.com/office/drawing/2014/main" id="{DF5A57FA-B841-42D9-2921-BE9DADAE61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B13982-F6DF-8471-4DC1-B852B8A672D2}"/>
              </a:ext>
            </a:extLst>
          </p:cNvPr>
          <p:cNvSpPr>
            <a:spLocks noGrp="1"/>
          </p:cNvSpPr>
          <p:nvPr>
            <p:ph type="sldNum" sz="quarter" idx="12"/>
          </p:nvPr>
        </p:nvSpPr>
        <p:spPr/>
        <p:txBody>
          <a:bodyPr/>
          <a:lstStyle/>
          <a:p>
            <a:fld id="{233426DC-C502-4B46-A878-9D43EE259E4B}" type="slidenum">
              <a:rPr lang="en-US" smtClean="0"/>
              <a:t>‹#›</a:t>
            </a:fld>
            <a:endParaRPr lang="en-US"/>
          </a:p>
        </p:txBody>
      </p:sp>
    </p:spTree>
    <p:extLst>
      <p:ext uri="{BB962C8B-B14F-4D97-AF65-F5344CB8AC3E}">
        <p14:creationId xmlns:p14="http://schemas.microsoft.com/office/powerpoint/2010/main" val="322278210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C48548-CDDC-D788-AC25-28A4C51BBF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039475-F5A2-FA25-B120-FCE1CF7CA0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6103F4-79D0-E6A2-FB14-6E2808E87E2C}"/>
              </a:ext>
            </a:extLst>
          </p:cNvPr>
          <p:cNvSpPr>
            <a:spLocks noGrp="1"/>
          </p:cNvSpPr>
          <p:nvPr>
            <p:ph type="dt" sz="half" idx="10"/>
          </p:nvPr>
        </p:nvSpPr>
        <p:spPr/>
        <p:txBody>
          <a:bodyPr/>
          <a:lstStyle/>
          <a:p>
            <a:fld id="{AA60D8D2-5572-7340-BF9B-80B5CEA87909}" type="datetime1">
              <a:rPr lang="en-US" smtClean="0"/>
              <a:t>11/7/25</a:t>
            </a:fld>
            <a:endParaRPr lang="en-US"/>
          </a:p>
        </p:txBody>
      </p:sp>
      <p:sp>
        <p:nvSpPr>
          <p:cNvPr id="5" name="Footer Placeholder 4">
            <a:extLst>
              <a:ext uri="{FF2B5EF4-FFF2-40B4-BE49-F238E27FC236}">
                <a16:creationId xmlns:a16="http://schemas.microsoft.com/office/drawing/2014/main" id="{D707D0A6-95E0-E73B-EED8-3721D45768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15C348-3384-F152-709E-78244B38D886}"/>
              </a:ext>
            </a:extLst>
          </p:cNvPr>
          <p:cNvSpPr>
            <a:spLocks noGrp="1"/>
          </p:cNvSpPr>
          <p:nvPr>
            <p:ph type="sldNum" sz="quarter" idx="12"/>
          </p:nvPr>
        </p:nvSpPr>
        <p:spPr/>
        <p:txBody>
          <a:bodyPr/>
          <a:lstStyle/>
          <a:p>
            <a:fld id="{233426DC-C502-4B46-A878-9D43EE259E4B}" type="slidenum">
              <a:rPr lang="en-US" smtClean="0"/>
              <a:t>‹#›</a:t>
            </a:fld>
            <a:endParaRPr lang="en-US"/>
          </a:p>
        </p:txBody>
      </p:sp>
    </p:spTree>
    <p:extLst>
      <p:ext uri="{BB962C8B-B14F-4D97-AF65-F5344CB8AC3E}">
        <p14:creationId xmlns:p14="http://schemas.microsoft.com/office/powerpoint/2010/main" val="49254340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C1E07-CFA6-4845-9C14-49B143895F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BDDDA7-1DED-2149-BDE0-87E7B98244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BCB4E6-2446-1141-BD1C-110C332F5A76}"/>
              </a:ext>
            </a:extLst>
          </p:cNvPr>
          <p:cNvSpPr>
            <a:spLocks noGrp="1"/>
          </p:cNvSpPr>
          <p:nvPr>
            <p:ph type="dt" sz="half" idx="10"/>
          </p:nvPr>
        </p:nvSpPr>
        <p:spPr/>
        <p:txBody>
          <a:bodyPr/>
          <a:lstStyle/>
          <a:p>
            <a:fld id="{D108DC77-B379-0E4A-9ECB-C0B89D66F0E8}" type="datetime1">
              <a:rPr lang="en-US" smtClean="0"/>
              <a:t>11/7/25</a:t>
            </a:fld>
            <a:endParaRPr lang="en-US"/>
          </a:p>
        </p:txBody>
      </p:sp>
      <p:sp>
        <p:nvSpPr>
          <p:cNvPr id="5" name="Footer Placeholder 4">
            <a:extLst>
              <a:ext uri="{FF2B5EF4-FFF2-40B4-BE49-F238E27FC236}">
                <a16:creationId xmlns:a16="http://schemas.microsoft.com/office/drawing/2014/main" id="{5D09AA18-DF4E-9F40-A07D-B212DB0C42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4DE001-5BCE-984F-8A6B-E0D97AB51304}"/>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277230512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5640F-6525-5446-B331-92545F7342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D913DC-84F2-814B-8B98-EEAED0B04B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C47D7A-DFBC-DD42-ACF6-2FA5097BA695}"/>
              </a:ext>
            </a:extLst>
          </p:cNvPr>
          <p:cNvSpPr>
            <a:spLocks noGrp="1"/>
          </p:cNvSpPr>
          <p:nvPr>
            <p:ph type="dt" sz="half" idx="10"/>
          </p:nvPr>
        </p:nvSpPr>
        <p:spPr/>
        <p:txBody>
          <a:bodyPr/>
          <a:lstStyle/>
          <a:p>
            <a:fld id="{9C21E7C8-50CC-A747-A2B1-B9940CFE4695}" type="datetime1">
              <a:rPr lang="en-US" smtClean="0"/>
              <a:t>11/7/25</a:t>
            </a:fld>
            <a:endParaRPr lang="en-US"/>
          </a:p>
        </p:txBody>
      </p:sp>
      <p:sp>
        <p:nvSpPr>
          <p:cNvPr id="5" name="Footer Placeholder 4">
            <a:extLst>
              <a:ext uri="{FF2B5EF4-FFF2-40B4-BE49-F238E27FC236}">
                <a16:creationId xmlns:a16="http://schemas.microsoft.com/office/drawing/2014/main" id="{58923CCF-F834-EC44-B3AF-36748303E3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89B629-67F3-DC41-A418-24650F33E43F}"/>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9035368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FC704-5F47-5347-9A9C-A4ECF40571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E95CFC-7070-0E40-8D89-3D23AEB3A0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EA1FE5-0ECE-BA4C-AE1D-813B37141530}"/>
              </a:ext>
            </a:extLst>
          </p:cNvPr>
          <p:cNvSpPr>
            <a:spLocks noGrp="1"/>
          </p:cNvSpPr>
          <p:nvPr>
            <p:ph type="dt" sz="half" idx="10"/>
          </p:nvPr>
        </p:nvSpPr>
        <p:spPr/>
        <p:txBody>
          <a:bodyPr/>
          <a:lstStyle/>
          <a:p>
            <a:fld id="{A63D19D7-211B-8145-AF2A-716F3CD13383}" type="datetime1">
              <a:rPr lang="en-US" smtClean="0"/>
              <a:t>11/7/25</a:t>
            </a:fld>
            <a:endParaRPr lang="en-US"/>
          </a:p>
        </p:txBody>
      </p:sp>
      <p:sp>
        <p:nvSpPr>
          <p:cNvPr id="5" name="Footer Placeholder 4">
            <a:extLst>
              <a:ext uri="{FF2B5EF4-FFF2-40B4-BE49-F238E27FC236}">
                <a16:creationId xmlns:a16="http://schemas.microsoft.com/office/drawing/2014/main" id="{C283AE56-80B9-2940-9B4E-D3A8C1F7D7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9A6944-4791-AD49-BD97-2C4F5F29A69E}"/>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39608156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A832B-1F3B-124D-B645-8040FF9836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EF833C-7332-B84A-AA76-BF4A0970B0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067168-0E8B-A74C-B78F-B2A11F85B1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C82167-B3E9-EC41-AFB1-8A9DDD3008F1}"/>
              </a:ext>
            </a:extLst>
          </p:cNvPr>
          <p:cNvSpPr>
            <a:spLocks noGrp="1"/>
          </p:cNvSpPr>
          <p:nvPr>
            <p:ph type="dt" sz="half" idx="10"/>
          </p:nvPr>
        </p:nvSpPr>
        <p:spPr/>
        <p:txBody>
          <a:bodyPr/>
          <a:lstStyle/>
          <a:p>
            <a:fld id="{36DD36E6-67DA-6B4F-AF96-106BEBD91543}" type="datetime1">
              <a:rPr lang="en-US" smtClean="0"/>
              <a:t>11/7/25</a:t>
            </a:fld>
            <a:endParaRPr lang="en-US"/>
          </a:p>
        </p:txBody>
      </p:sp>
      <p:sp>
        <p:nvSpPr>
          <p:cNvPr id="6" name="Footer Placeholder 5">
            <a:extLst>
              <a:ext uri="{FF2B5EF4-FFF2-40B4-BE49-F238E27FC236}">
                <a16:creationId xmlns:a16="http://schemas.microsoft.com/office/drawing/2014/main" id="{40D71D6F-602E-C448-B98D-B5B6D289B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A8856D-38FF-554C-B78E-A25F78914C60}"/>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283952602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87CF9-58CC-734A-876F-8096A9DD80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F650C0-DF82-C645-9DC9-7D784F5782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DE2A9C-0B75-FB4A-9543-B0188D9A13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5B7715-D85B-7644-BD56-D311FB9ADE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51BB8D-20C0-884B-9D17-1EAF95CBDC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2CDA00-C0E4-AD4F-A6E5-EBAA150FE2AD}"/>
              </a:ext>
            </a:extLst>
          </p:cNvPr>
          <p:cNvSpPr>
            <a:spLocks noGrp="1"/>
          </p:cNvSpPr>
          <p:nvPr>
            <p:ph type="dt" sz="half" idx="10"/>
          </p:nvPr>
        </p:nvSpPr>
        <p:spPr/>
        <p:txBody>
          <a:bodyPr/>
          <a:lstStyle/>
          <a:p>
            <a:fld id="{319F37AF-5459-D34B-BBFD-CA779DA5CA17}" type="datetime1">
              <a:rPr lang="en-US" smtClean="0"/>
              <a:t>11/7/25</a:t>
            </a:fld>
            <a:endParaRPr lang="en-US"/>
          </a:p>
        </p:txBody>
      </p:sp>
      <p:sp>
        <p:nvSpPr>
          <p:cNvPr id="8" name="Footer Placeholder 7">
            <a:extLst>
              <a:ext uri="{FF2B5EF4-FFF2-40B4-BE49-F238E27FC236}">
                <a16:creationId xmlns:a16="http://schemas.microsoft.com/office/drawing/2014/main" id="{98AF9934-B125-6A43-B688-15B92527C2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4BBDEB-3D88-DC4F-9094-E6D2634FAD3B}"/>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284406690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1DC38-A449-7A42-901B-B1614C3F19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FB450F-2BF8-D94A-9B83-ACA198D5B61F}"/>
              </a:ext>
            </a:extLst>
          </p:cNvPr>
          <p:cNvSpPr>
            <a:spLocks noGrp="1"/>
          </p:cNvSpPr>
          <p:nvPr>
            <p:ph type="dt" sz="half" idx="10"/>
          </p:nvPr>
        </p:nvSpPr>
        <p:spPr/>
        <p:txBody>
          <a:bodyPr/>
          <a:lstStyle/>
          <a:p>
            <a:fld id="{7CB13A79-B644-5D47-A0D5-6E5DFE48C95C}" type="datetime1">
              <a:rPr lang="en-US" smtClean="0"/>
              <a:t>11/7/25</a:t>
            </a:fld>
            <a:endParaRPr lang="en-US"/>
          </a:p>
        </p:txBody>
      </p:sp>
      <p:sp>
        <p:nvSpPr>
          <p:cNvPr id="4" name="Footer Placeholder 3">
            <a:extLst>
              <a:ext uri="{FF2B5EF4-FFF2-40B4-BE49-F238E27FC236}">
                <a16:creationId xmlns:a16="http://schemas.microsoft.com/office/drawing/2014/main" id="{696E1943-F920-FD4D-B10F-0783C5E033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CAF4492-2E73-2845-B6F5-48AF992CEB5E}"/>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158065817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F97373-9AA8-9743-9FE7-A973F731E4A4}"/>
              </a:ext>
            </a:extLst>
          </p:cNvPr>
          <p:cNvSpPr>
            <a:spLocks noGrp="1"/>
          </p:cNvSpPr>
          <p:nvPr>
            <p:ph type="dt" sz="half" idx="10"/>
          </p:nvPr>
        </p:nvSpPr>
        <p:spPr/>
        <p:txBody>
          <a:bodyPr/>
          <a:lstStyle/>
          <a:p>
            <a:fld id="{B493F24A-681D-844D-BBEF-ED6EC411A65A}" type="datetime1">
              <a:rPr lang="en-US" smtClean="0"/>
              <a:t>11/7/25</a:t>
            </a:fld>
            <a:endParaRPr lang="en-US"/>
          </a:p>
        </p:txBody>
      </p:sp>
      <p:sp>
        <p:nvSpPr>
          <p:cNvPr id="3" name="Footer Placeholder 2">
            <a:extLst>
              <a:ext uri="{FF2B5EF4-FFF2-40B4-BE49-F238E27FC236}">
                <a16:creationId xmlns:a16="http://schemas.microsoft.com/office/drawing/2014/main" id="{1CD78110-DEE0-CF46-9B73-57457F7D25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940768-1815-D144-8614-37DFBB8078D3}"/>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148863670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FF98B-A116-0449-AADF-6C2AB6B133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451F10C-24E4-0B41-A318-B2ECEFB6FD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40EA7E-7F2F-584C-8BBC-B9B856938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F6763B-A708-1148-BFBA-FB338822980C}"/>
              </a:ext>
            </a:extLst>
          </p:cNvPr>
          <p:cNvSpPr>
            <a:spLocks noGrp="1"/>
          </p:cNvSpPr>
          <p:nvPr>
            <p:ph type="dt" sz="half" idx="10"/>
          </p:nvPr>
        </p:nvSpPr>
        <p:spPr/>
        <p:txBody>
          <a:bodyPr/>
          <a:lstStyle/>
          <a:p>
            <a:fld id="{6600840B-FA4A-3F47-B4B2-287AE5DDD686}" type="datetime1">
              <a:rPr lang="en-US" smtClean="0"/>
              <a:t>11/7/25</a:t>
            </a:fld>
            <a:endParaRPr lang="en-US"/>
          </a:p>
        </p:txBody>
      </p:sp>
      <p:sp>
        <p:nvSpPr>
          <p:cNvPr id="6" name="Footer Placeholder 5">
            <a:extLst>
              <a:ext uri="{FF2B5EF4-FFF2-40B4-BE49-F238E27FC236}">
                <a16:creationId xmlns:a16="http://schemas.microsoft.com/office/drawing/2014/main" id="{649C8849-49C1-AE4A-8055-6D4DDFCA07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086989-0805-5B45-BDE9-8D35856E61F9}"/>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159730760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DC2BB-60BA-E643-9C2A-DB4DF61AE1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B3D2AD-E1BC-3442-9E4F-08359428F7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E815D2-158C-6B49-84C4-12D451E2B9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3A738D-8DE9-5343-9A78-C631E2FB771D}"/>
              </a:ext>
            </a:extLst>
          </p:cNvPr>
          <p:cNvSpPr>
            <a:spLocks noGrp="1"/>
          </p:cNvSpPr>
          <p:nvPr>
            <p:ph type="dt" sz="half" idx="10"/>
          </p:nvPr>
        </p:nvSpPr>
        <p:spPr/>
        <p:txBody>
          <a:bodyPr/>
          <a:lstStyle/>
          <a:p>
            <a:fld id="{6D781F30-1FA8-8240-8DA3-A59BA20E2865}" type="datetime1">
              <a:rPr lang="en-US" smtClean="0"/>
              <a:t>11/7/25</a:t>
            </a:fld>
            <a:endParaRPr lang="en-US"/>
          </a:p>
        </p:txBody>
      </p:sp>
      <p:sp>
        <p:nvSpPr>
          <p:cNvPr id="6" name="Footer Placeholder 5">
            <a:extLst>
              <a:ext uri="{FF2B5EF4-FFF2-40B4-BE49-F238E27FC236}">
                <a16:creationId xmlns:a16="http://schemas.microsoft.com/office/drawing/2014/main" id="{B8704796-F870-844B-A92F-6E26FD697A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1D8D6C-8065-AD48-B4DC-02AB34D14700}"/>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12573278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5F1A5-9FBD-AA41-B701-58F23012E4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73C6DB-FC78-6540-AE38-C48402A317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451E24-604D-5F41-AE28-E81C17770DCB}"/>
              </a:ext>
            </a:extLst>
          </p:cNvPr>
          <p:cNvSpPr>
            <a:spLocks noGrp="1"/>
          </p:cNvSpPr>
          <p:nvPr>
            <p:ph type="dt" sz="half" idx="10"/>
          </p:nvPr>
        </p:nvSpPr>
        <p:spPr/>
        <p:txBody>
          <a:bodyPr/>
          <a:lstStyle/>
          <a:p>
            <a:fld id="{E2F90EEC-1D42-5D40-BFCE-F79C312C480C}" type="datetime1">
              <a:rPr lang="en-US" smtClean="0"/>
              <a:t>11/7/25</a:t>
            </a:fld>
            <a:endParaRPr lang="en-US"/>
          </a:p>
        </p:txBody>
      </p:sp>
      <p:sp>
        <p:nvSpPr>
          <p:cNvPr id="5" name="Footer Placeholder 4">
            <a:extLst>
              <a:ext uri="{FF2B5EF4-FFF2-40B4-BE49-F238E27FC236}">
                <a16:creationId xmlns:a16="http://schemas.microsoft.com/office/drawing/2014/main" id="{665FE96C-9B51-004C-B671-7C66513019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54E4D6-A39A-2242-B129-2C9E150F6A1E}"/>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419084730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9AE8F3-9CBD-2C47-A447-905506348CF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CB8B2F-CB91-8545-8B26-CDD6ADBEB0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964647-85D8-2545-9549-C2304E0145DF}"/>
              </a:ext>
            </a:extLst>
          </p:cNvPr>
          <p:cNvSpPr>
            <a:spLocks noGrp="1"/>
          </p:cNvSpPr>
          <p:nvPr>
            <p:ph type="dt" sz="half" idx="10"/>
          </p:nvPr>
        </p:nvSpPr>
        <p:spPr/>
        <p:txBody>
          <a:bodyPr/>
          <a:lstStyle/>
          <a:p>
            <a:fld id="{F06F2BA5-21C9-E440-B7CB-C37BE89FB96E}" type="datetime1">
              <a:rPr lang="en-US" smtClean="0"/>
              <a:t>11/7/25</a:t>
            </a:fld>
            <a:endParaRPr lang="en-US"/>
          </a:p>
        </p:txBody>
      </p:sp>
      <p:sp>
        <p:nvSpPr>
          <p:cNvPr id="5" name="Footer Placeholder 4">
            <a:extLst>
              <a:ext uri="{FF2B5EF4-FFF2-40B4-BE49-F238E27FC236}">
                <a16:creationId xmlns:a16="http://schemas.microsoft.com/office/drawing/2014/main" id="{A6819A56-97BE-3F4A-9CAC-63124B5C41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579A20-E0C5-5040-8275-EA2372AC5636}"/>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216293971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107FB0C-9DE4-D64F-9412-18E6FC797D5E}" type="datetime1">
              <a:rPr lang="en-US" smtClean="0"/>
              <a:t>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279254785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62DEF6-1AF9-BA4B-8B5F-CF5E8FC007F0}" type="datetime1">
              <a:rPr lang="en-US" smtClean="0"/>
              <a:t>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189379987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115297-0A39-EB4E-913B-A27B0B7745DB}" type="datetime1">
              <a:rPr lang="en-US" smtClean="0"/>
              <a:t>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61453563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3C716C-1619-E745-BC57-16ED4CB6AC89}" type="datetime1">
              <a:rPr lang="en-US" smtClean="0"/>
              <a:t>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25238593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011E71A-434C-9743-8380-E19971C3C449}" type="datetime1">
              <a:rPr lang="en-US" smtClean="0"/>
              <a:t>11/7/25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240432610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3FBE7D-3A01-2E47-937A-231555F042CE}" type="datetime1">
              <a:rPr lang="en-US" smtClean="0"/>
              <a:t>11/7/25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3894897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FA68B5-5F3B-8741-8AEE-F9225400A34E}" type="datetime1">
              <a:rPr lang="en-US" smtClean="0"/>
              <a:t>11/7/25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241456328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5183188" y="987426"/>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3CFE8C7-0A93-0048-BBFB-E5E6D3215A2C}" type="datetime1">
              <a:rPr lang="en-US" smtClean="0"/>
              <a:t>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178790292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4AD5A0F-81FE-9A4E-9D90-02C34973A8CB}" type="datetime1">
              <a:rPr lang="en-US" smtClean="0"/>
              <a:t>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59494582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7548A6-C630-3240-B75F-2B85906FAF6A}" type="datetime1">
              <a:rPr lang="en-US" smtClean="0"/>
              <a:t>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110172595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3E89B6-1E4E-0142-A86D-31517DFCEF49}" type="datetime1">
              <a:rPr lang="en-US" smtClean="0"/>
              <a:t>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1408672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6.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B2AD59-DC7A-36E7-7F16-A1184526CC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569EAA-5447-A4C9-F586-13D24F03E3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ECA8DD-FC7C-0DB8-6CB5-8531FE0944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9BB5BF-721B-5748-88A8-27B62976B902}" type="datetime1">
              <a:rPr lang="en-US" smtClean="0"/>
              <a:t>11/7/25</a:t>
            </a:fld>
            <a:endParaRPr lang="en-US"/>
          </a:p>
        </p:txBody>
      </p:sp>
      <p:sp>
        <p:nvSpPr>
          <p:cNvPr id="5" name="Footer Placeholder 4">
            <a:extLst>
              <a:ext uri="{FF2B5EF4-FFF2-40B4-BE49-F238E27FC236}">
                <a16:creationId xmlns:a16="http://schemas.microsoft.com/office/drawing/2014/main" id="{BAE17345-27B4-86AF-E6B5-BA5F3CF176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E41E99B-1337-CC6A-7996-8940BCC81B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D3461C-907D-DB4D-BF34-34B4CA38BC40}" type="slidenum">
              <a:rPr lang="en-US" smtClean="0"/>
              <a:t>‹#›</a:t>
            </a:fld>
            <a:endParaRPr lang="en-US"/>
          </a:p>
        </p:txBody>
      </p:sp>
    </p:spTree>
    <p:extLst>
      <p:ext uri="{BB962C8B-B14F-4D97-AF65-F5344CB8AC3E}">
        <p14:creationId xmlns:p14="http://schemas.microsoft.com/office/powerpoint/2010/main" val="25723130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04B34D0-1886-1F3D-697F-A43610BC46CA}"/>
              </a:ext>
            </a:extLst>
          </p:cNvPr>
          <p:cNvSpPr>
            <a:spLocks noGrp="1" noChangeArrowheads="1"/>
          </p:cNvSpPr>
          <p:nvPr>
            <p:ph type="title"/>
          </p:nvPr>
        </p:nvSpPr>
        <p:spPr bwMode="auto">
          <a:xfrm>
            <a:off x="914400" y="609600"/>
            <a:ext cx="10363200" cy="1143000"/>
          </a:xfrm>
          <a:prstGeom prst="rect">
            <a:avLst/>
          </a:prstGeom>
          <a:solidFill>
            <a:srgbClr val="006699"/>
          </a:solidFill>
          <a:ln w="19050" cmpd="sng">
            <a:solidFill>
              <a:srgbClr val="000000"/>
            </a:solidFill>
            <a:miter lim="800000"/>
            <a:headEnd/>
            <a:tailEnd/>
          </a:ln>
          <a:effectLst>
            <a:glow rad="63500">
              <a:schemeClr val="accent1">
                <a:satMod val="175000"/>
                <a:alpha val="40000"/>
              </a:schemeClr>
            </a:glow>
          </a:effectLst>
          <a:extLs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5475" name="Rectangle 3">
            <a:extLst>
              <a:ext uri="{FF2B5EF4-FFF2-40B4-BE49-F238E27FC236}">
                <a16:creationId xmlns:a16="http://schemas.microsoft.com/office/drawing/2014/main" id="{D3033BCA-8FC1-8DDD-901C-290ADFFCC863}"/>
              </a:ext>
            </a:extLst>
          </p:cNvPr>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5476" name="Rectangle 4">
            <a:extLst>
              <a:ext uri="{FF2B5EF4-FFF2-40B4-BE49-F238E27FC236}">
                <a16:creationId xmlns:a16="http://schemas.microsoft.com/office/drawing/2014/main" id="{C76F42FC-0E4C-EAF6-FA6A-A845C49A2D02}"/>
              </a:ext>
            </a:extLst>
          </p:cNvPr>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defRPr sz="1400">
                <a:solidFill>
                  <a:srgbClr val="000000"/>
                </a:solidFill>
                <a:latin typeface="Arial" charset="0"/>
                <a:ea typeface="Osaka"/>
                <a:cs typeface="Osaka"/>
              </a:defRPr>
            </a:lvl1pPr>
          </a:lstStyle>
          <a:p>
            <a:pPr>
              <a:defRPr/>
            </a:pPr>
            <a:fld id="{B60788F7-CB85-864B-95F0-F5C00B5E6BD6}" type="datetime1">
              <a:rPr lang="en-US" smtClean="0"/>
              <a:t>11/7/25</a:t>
            </a:fld>
            <a:endParaRPr lang="en-US"/>
          </a:p>
        </p:txBody>
      </p:sp>
      <p:sp>
        <p:nvSpPr>
          <p:cNvPr id="105477" name="Rectangle 5">
            <a:extLst>
              <a:ext uri="{FF2B5EF4-FFF2-40B4-BE49-F238E27FC236}">
                <a16:creationId xmlns:a16="http://schemas.microsoft.com/office/drawing/2014/main" id="{7383825C-E550-79B8-0518-84A90D2399BD}"/>
              </a:ext>
            </a:extLst>
          </p:cNvPr>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ctr">
              <a:defRPr sz="1400">
                <a:solidFill>
                  <a:srgbClr val="000000"/>
                </a:solidFill>
                <a:latin typeface="Arial" charset="0"/>
                <a:ea typeface="Osaka"/>
                <a:cs typeface="Osaka"/>
              </a:defRPr>
            </a:lvl1pPr>
          </a:lstStyle>
          <a:p>
            <a:pPr>
              <a:defRPr/>
            </a:pPr>
            <a:endParaRPr lang="en-US"/>
          </a:p>
        </p:txBody>
      </p:sp>
      <p:pic>
        <p:nvPicPr>
          <p:cNvPr id="1031" name="Picture 8" descr="umb_white">
            <a:extLst>
              <a:ext uri="{FF2B5EF4-FFF2-40B4-BE49-F238E27FC236}">
                <a16:creationId xmlns:a16="http://schemas.microsoft.com/office/drawing/2014/main" id="{D10B440F-1B9F-9035-B782-629084A3D19C}"/>
              </a:ext>
            </a:extLst>
          </p:cNvPr>
          <p:cNvPicPr>
            <a:picLocks noChangeAspect="1" noChangeArrowheads="1"/>
          </p:cNvPicPr>
          <p:nvPr userDrawn="1"/>
        </p:nvPicPr>
        <p:blipFill>
          <a:blip r:embed="rId13">
            <a:extLst>
              <a:ext uri="{28A0092B-C50C-407E-A947-70E740481C1C}">
                <a14:useLocalDpi xmlns:a14="http://schemas.microsoft.com/office/drawing/2010/main"/>
              </a:ext>
            </a:extLst>
          </a:blip>
          <a:srcRect/>
          <a:stretch>
            <a:fillRect/>
          </a:stretch>
        </p:blipFill>
        <p:spPr bwMode="auto">
          <a:xfrm>
            <a:off x="10699752" y="6172200"/>
            <a:ext cx="577849"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9" descr="CHB_reverse_BIG">
            <a:extLst>
              <a:ext uri="{FF2B5EF4-FFF2-40B4-BE49-F238E27FC236}">
                <a16:creationId xmlns:a16="http://schemas.microsoft.com/office/drawing/2014/main" id="{9B62164A-A00C-65AB-F139-15C0DCE3C6B6}"/>
              </a:ext>
            </a:extLst>
          </p:cNvPr>
          <p:cNvPicPr>
            <a:picLocks noChangeAspect="1" noChangeArrowheads="1"/>
          </p:cNvPicPr>
          <p:nvPr userDrawn="1"/>
        </p:nvPicPr>
        <p:blipFill>
          <a:blip r:embed="rId14" cstate="screen">
            <a:extLst>
              <a:ext uri="{28A0092B-C50C-407E-A947-70E740481C1C}">
                <a14:useLocalDpi xmlns:a14="http://schemas.microsoft.com/office/drawing/2010/main"/>
              </a:ext>
            </a:extLst>
          </a:blip>
          <a:srcRect/>
          <a:stretch>
            <a:fillRect/>
          </a:stretch>
        </p:blipFill>
        <p:spPr bwMode="auto">
          <a:xfrm>
            <a:off x="11379200" y="6172200"/>
            <a:ext cx="56091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Rectangle 10">
            <a:extLst>
              <a:ext uri="{FF2B5EF4-FFF2-40B4-BE49-F238E27FC236}">
                <a16:creationId xmlns:a16="http://schemas.microsoft.com/office/drawing/2014/main" id="{BB0C056B-8A86-E6F6-EF72-450C8E20E2F7}"/>
              </a:ext>
            </a:extLst>
          </p:cNvPr>
          <p:cNvSpPr>
            <a:spLocks noChangeArrowheads="1"/>
          </p:cNvSpPr>
          <p:nvPr userDrawn="1"/>
        </p:nvSpPr>
        <p:spPr bwMode="auto">
          <a:xfrm>
            <a:off x="0" y="0"/>
            <a:ext cx="12192000" cy="228600"/>
          </a:xfrm>
          <a:prstGeom prst="rect">
            <a:avLst/>
          </a:prstGeom>
          <a:solidFill>
            <a:srgbClr val="006699"/>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2400">
              <a:solidFill>
                <a:srgbClr val="000000"/>
              </a:solidFill>
            </a:endParaRPr>
          </a:p>
        </p:txBody>
      </p:sp>
      <p:sp>
        <p:nvSpPr>
          <p:cNvPr id="1034" name="Rectangle 11">
            <a:extLst>
              <a:ext uri="{FF2B5EF4-FFF2-40B4-BE49-F238E27FC236}">
                <a16:creationId xmlns:a16="http://schemas.microsoft.com/office/drawing/2014/main" id="{3578366D-883B-03CC-DFEA-D3DA5F1279F5}"/>
              </a:ext>
            </a:extLst>
          </p:cNvPr>
          <p:cNvSpPr>
            <a:spLocks noChangeArrowheads="1"/>
          </p:cNvSpPr>
          <p:nvPr userDrawn="1"/>
        </p:nvSpPr>
        <p:spPr bwMode="auto">
          <a:xfrm>
            <a:off x="0" y="6629400"/>
            <a:ext cx="12192000" cy="228600"/>
          </a:xfrm>
          <a:prstGeom prst="rect">
            <a:avLst/>
          </a:prstGeom>
          <a:solidFill>
            <a:srgbClr val="006699"/>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2400">
              <a:solidFill>
                <a:srgbClr val="000000"/>
              </a:solidFill>
            </a:endParaRPr>
          </a:p>
        </p:txBody>
      </p:sp>
    </p:spTree>
    <p:extLst>
      <p:ext uri="{BB962C8B-B14F-4D97-AF65-F5344CB8AC3E}">
        <p14:creationId xmlns:p14="http://schemas.microsoft.com/office/powerpoint/2010/main" val="42893139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0" fontAlgn="base" hangingPunct="0">
        <a:spcBef>
          <a:spcPct val="0"/>
        </a:spcBef>
        <a:spcAft>
          <a:spcPct val="0"/>
        </a:spcAft>
        <a:defRPr sz="4000" b="1" i="1">
          <a:solidFill>
            <a:schemeClr val="bg1"/>
          </a:solidFill>
          <a:effectLst>
            <a:outerShdw blurRad="50800" dist="38100" dir="2700000" algn="tl" rotWithShape="0">
              <a:prstClr val="black">
                <a:alpha val="40000"/>
              </a:prstClr>
            </a:outerShdw>
          </a:effectLst>
          <a:latin typeface="Cambria"/>
          <a:ea typeface="+mj-ea"/>
          <a:cs typeface="+mj-cs"/>
        </a:defRPr>
      </a:lvl1pPr>
      <a:lvl2pPr algn="ctr" rtl="0" eaLnBrk="0" fontAlgn="base" hangingPunct="0">
        <a:spcBef>
          <a:spcPct val="0"/>
        </a:spcBef>
        <a:spcAft>
          <a:spcPct val="0"/>
        </a:spcAft>
        <a:defRPr sz="4000" b="1" i="1">
          <a:solidFill>
            <a:schemeClr val="bg1"/>
          </a:solidFill>
          <a:latin typeface="Cambria" charset="0"/>
          <a:ea typeface="Osaka" charset="0"/>
          <a:cs typeface="Osaka" charset="0"/>
        </a:defRPr>
      </a:lvl2pPr>
      <a:lvl3pPr algn="ctr" rtl="0" eaLnBrk="0" fontAlgn="base" hangingPunct="0">
        <a:spcBef>
          <a:spcPct val="0"/>
        </a:spcBef>
        <a:spcAft>
          <a:spcPct val="0"/>
        </a:spcAft>
        <a:defRPr sz="4000" b="1" i="1">
          <a:solidFill>
            <a:schemeClr val="bg1"/>
          </a:solidFill>
          <a:latin typeface="Cambria" charset="0"/>
          <a:ea typeface="Osaka" charset="0"/>
          <a:cs typeface="Osaka" charset="0"/>
        </a:defRPr>
      </a:lvl3pPr>
      <a:lvl4pPr algn="ctr" rtl="0" eaLnBrk="0" fontAlgn="base" hangingPunct="0">
        <a:spcBef>
          <a:spcPct val="0"/>
        </a:spcBef>
        <a:spcAft>
          <a:spcPct val="0"/>
        </a:spcAft>
        <a:defRPr sz="4000" b="1" i="1">
          <a:solidFill>
            <a:schemeClr val="bg1"/>
          </a:solidFill>
          <a:latin typeface="Cambria" charset="0"/>
          <a:ea typeface="Osaka" charset="0"/>
          <a:cs typeface="Osaka" charset="0"/>
        </a:defRPr>
      </a:lvl4pPr>
      <a:lvl5pPr algn="ctr" rtl="0" eaLnBrk="0" fontAlgn="base" hangingPunct="0">
        <a:spcBef>
          <a:spcPct val="0"/>
        </a:spcBef>
        <a:spcAft>
          <a:spcPct val="0"/>
        </a:spcAft>
        <a:defRPr sz="4000" b="1" i="1">
          <a:solidFill>
            <a:schemeClr val="bg1"/>
          </a:solidFill>
          <a:latin typeface="Cambria" charset="0"/>
          <a:ea typeface="Osaka" charset="0"/>
          <a:cs typeface="Osaka" charset="0"/>
        </a:defRPr>
      </a:lvl5pPr>
      <a:lvl6pPr marL="457200" algn="ctr" rtl="0" fontAlgn="base">
        <a:spcBef>
          <a:spcPct val="0"/>
        </a:spcBef>
        <a:spcAft>
          <a:spcPct val="0"/>
        </a:spcAft>
        <a:defRPr sz="4400">
          <a:solidFill>
            <a:schemeClr val="tx2"/>
          </a:solidFill>
          <a:latin typeface="Arial" charset="0"/>
          <a:ea typeface="Osaka" charset="0"/>
          <a:cs typeface="Osaka" charset="0"/>
        </a:defRPr>
      </a:lvl6pPr>
      <a:lvl7pPr marL="914400" algn="ctr" rtl="0" fontAlgn="base">
        <a:spcBef>
          <a:spcPct val="0"/>
        </a:spcBef>
        <a:spcAft>
          <a:spcPct val="0"/>
        </a:spcAft>
        <a:defRPr sz="4400">
          <a:solidFill>
            <a:schemeClr val="tx2"/>
          </a:solidFill>
          <a:latin typeface="Arial" charset="0"/>
          <a:ea typeface="Osaka" charset="0"/>
          <a:cs typeface="Osaka" charset="0"/>
        </a:defRPr>
      </a:lvl7pPr>
      <a:lvl8pPr marL="1371600" algn="ctr" rtl="0" fontAlgn="base">
        <a:spcBef>
          <a:spcPct val="0"/>
        </a:spcBef>
        <a:spcAft>
          <a:spcPct val="0"/>
        </a:spcAft>
        <a:defRPr sz="4400">
          <a:solidFill>
            <a:schemeClr val="tx2"/>
          </a:solidFill>
          <a:latin typeface="Arial" charset="0"/>
          <a:ea typeface="Osaka" charset="0"/>
          <a:cs typeface="Osaka" charset="0"/>
        </a:defRPr>
      </a:lvl8pPr>
      <a:lvl9pPr marL="1828800" algn="ctr" rtl="0" fontAlgn="base">
        <a:spcBef>
          <a:spcPct val="0"/>
        </a:spcBef>
        <a:spcAft>
          <a:spcPct val="0"/>
        </a:spcAft>
        <a:defRPr sz="4400">
          <a:solidFill>
            <a:schemeClr val="tx2"/>
          </a:solidFill>
          <a:latin typeface="Arial" charset="0"/>
          <a:ea typeface="Osaka" charset="0"/>
          <a:cs typeface="Osaka" charset="0"/>
        </a:defRPr>
      </a:lvl9pPr>
    </p:titleStyle>
    <p:bodyStyle>
      <a:lvl1pPr marL="342900" indent="-342900" algn="l" rtl="0" eaLnBrk="0" fontAlgn="base" hangingPunct="0">
        <a:spcBef>
          <a:spcPct val="20000"/>
        </a:spcBef>
        <a:spcAft>
          <a:spcPct val="0"/>
        </a:spcAft>
        <a:buClr>
          <a:schemeClr val="accent1"/>
        </a:buClr>
        <a:buChar char="•"/>
        <a:defRPr sz="3200">
          <a:solidFill>
            <a:schemeClr val="tx1"/>
          </a:solidFill>
          <a:latin typeface="Calibri"/>
          <a:ea typeface="+mn-ea"/>
          <a:cs typeface="+mn-cs"/>
        </a:defRPr>
      </a:lvl1pPr>
      <a:lvl2pPr marL="742950" indent="-285750" algn="l" rtl="0" eaLnBrk="0" fontAlgn="base" hangingPunct="0">
        <a:spcBef>
          <a:spcPct val="20000"/>
        </a:spcBef>
        <a:spcAft>
          <a:spcPct val="0"/>
        </a:spcAft>
        <a:buFont typeface="Wingdings" pitchFamily="2" charset="2"/>
        <a:buChar char="Ø"/>
        <a:defRPr sz="28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fontAlgn="base">
        <a:spcBef>
          <a:spcPct val="20000"/>
        </a:spcBef>
        <a:spcAft>
          <a:spcPct val="0"/>
        </a:spcAft>
        <a:buChar char="»"/>
        <a:defRPr sz="2000">
          <a:solidFill>
            <a:schemeClr val="tx1"/>
          </a:solidFill>
          <a:latin typeface="+mn-lt"/>
          <a:ea typeface="+mn-ea"/>
          <a:cs typeface="+mn-cs"/>
        </a:defRPr>
      </a:lvl6pPr>
      <a:lvl7pPr marL="2971800" indent="-228600" algn="l" rtl="0" fontAlgn="base">
        <a:spcBef>
          <a:spcPct val="20000"/>
        </a:spcBef>
        <a:spcAft>
          <a:spcPct val="0"/>
        </a:spcAft>
        <a:buChar char="»"/>
        <a:defRPr sz="2000">
          <a:solidFill>
            <a:schemeClr val="tx1"/>
          </a:solidFill>
          <a:latin typeface="+mn-lt"/>
          <a:ea typeface="+mn-ea"/>
          <a:cs typeface="+mn-cs"/>
        </a:defRPr>
      </a:lvl7pPr>
      <a:lvl8pPr marL="3429000" indent="-228600" algn="l" rtl="0" fontAlgn="base">
        <a:spcBef>
          <a:spcPct val="20000"/>
        </a:spcBef>
        <a:spcAft>
          <a:spcPct val="0"/>
        </a:spcAft>
        <a:buChar char="»"/>
        <a:defRPr sz="2000">
          <a:solidFill>
            <a:schemeClr val="tx1"/>
          </a:solidFill>
          <a:latin typeface="+mn-lt"/>
          <a:ea typeface="+mn-ea"/>
          <a:cs typeface="+mn-cs"/>
        </a:defRPr>
      </a:lvl8pPr>
      <a:lvl9pPr marL="3886200" indent="-228600" algn="l" rtl="0" fontAlgn="base">
        <a:spcBef>
          <a:spcPct val="20000"/>
        </a:spcBef>
        <a:spcAft>
          <a:spcPct val="0"/>
        </a:spcAft>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laceholder 1"/>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pPr>
              <a:defRPr/>
            </a:pPr>
            <a:fld id="{4F621429-728D-FC47-8065-18A99296270F}" type="datetime1">
              <a:rPr lang="en-US" smtClean="0"/>
              <a:t>11/7/25</a:t>
            </a:fld>
            <a:endParaRPr lang="en-US" dirty="0">
              <a:solidFill>
                <a:schemeClr val="bg2">
                  <a:shade val="50000"/>
                </a:schemeClr>
              </a:solidFill>
            </a:endParaRPr>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pPr>
              <a:defRPr/>
            </a:pPr>
            <a:endParaRPr lang="en-US" dirty="0"/>
          </a:p>
        </p:txBody>
      </p:sp>
      <p:sp>
        <p:nvSpPr>
          <p:cNvPr id="6" name="Slide Number Placeholder 5"/>
          <p:cNvSpPr>
            <a:spLocks noGrp="1"/>
          </p:cNvSpPr>
          <p:nvPr>
            <p:ph type="sldNum" sz="quarter" idx="4"/>
          </p:nvPr>
        </p:nvSpPr>
        <p:spPr>
          <a:xfrm>
            <a:off x="10160000" y="18288"/>
            <a:ext cx="1422400" cy="329184"/>
          </a:xfrm>
          <a:prstGeom prst="rect">
            <a:avLst/>
          </a:prstGeom>
        </p:spPr>
        <p:txBody>
          <a:bodyPr vert="horz" lIns="91440" tIns="45720" rIns="91440" bIns="45720" rtlCol="0" anchor="ctr"/>
          <a:lstStyle>
            <a:lvl1pPr algn="l">
              <a:defRPr sz="1400" b="1">
                <a:solidFill>
                  <a:srgbClr val="FFFFFF"/>
                </a:solidFill>
              </a:defRPr>
            </a:lvl1pPr>
          </a:lstStyle>
          <a:p>
            <a:pPr>
              <a:defRPr/>
            </a:pPr>
            <a:fld id="{76D09E21-E3A5-A34B-9A90-0AE5B5561539}" type="slidenum">
              <a:rPr lang="en-US" smtClean="0"/>
              <a:pPr>
                <a:defRPr/>
              </a:pPr>
              <a:t>‹#›</a:t>
            </a:fld>
            <a:endParaRPr lang="en-US" dirty="0">
              <a:solidFill>
                <a:schemeClr val="bg2">
                  <a:shade val="50000"/>
                </a:schemeClr>
              </a:solidFill>
            </a:endParaRPr>
          </a:p>
        </p:txBody>
      </p:sp>
    </p:spTree>
    <p:extLst>
      <p:ext uri="{BB962C8B-B14F-4D97-AF65-F5344CB8AC3E}">
        <p14:creationId xmlns:p14="http://schemas.microsoft.com/office/powerpoint/2010/main" val="26140271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107661-703B-6ED5-F8FB-75698A347C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0FFC71A-E822-02FE-F550-71E8798DCC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904323-F735-1F3B-8972-0745F53877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460BB3-E2DB-324A-BA2E-5C5EEBF29F65}" type="datetime1">
              <a:rPr lang="en-US" smtClean="0"/>
              <a:t>11/7/25</a:t>
            </a:fld>
            <a:endParaRPr lang="en-US"/>
          </a:p>
        </p:txBody>
      </p:sp>
      <p:sp>
        <p:nvSpPr>
          <p:cNvPr id="5" name="Footer Placeholder 4">
            <a:extLst>
              <a:ext uri="{FF2B5EF4-FFF2-40B4-BE49-F238E27FC236}">
                <a16:creationId xmlns:a16="http://schemas.microsoft.com/office/drawing/2014/main" id="{45DCC5F3-A879-E389-D54A-E988AA1394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B2CBECF-C07E-7C18-E2A7-11C42C07B6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3426DC-C502-4B46-A878-9D43EE259E4B}" type="slidenum">
              <a:rPr lang="en-US" smtClean="0"/>
              <a:t>‹#›</a:t>
            </a:fld>
            <a:endParaRPr lang="en-US"/>
          </a:p>
        </p:txBody>
      </p:sp>
    </p:spTree>
    <p:extLst>
      <p:ext uri="{BB962C8B-B14F-4D97-AF65-F5344CB8AC3E}">
        <p14:creationId xmlns:p14="http://schemas.microsoft.com/office/powerpoint/2010/main" val="754237961"/>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1981EC-0305-684C-86F3-72902EE5A9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2920DE-5AB9-3B4F-B0A1-33AD7768F8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D9DCB8-678B-6749-8AF1-B679C582B6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EF0B96-A1CC-6847-B488-A92EE00A8914}" type="datetime1">
              <a:rPr lang="en-US" smtClean="0"/>
              <a:t>11/7/25</a:t>
            </a:fld>
            <a:endParaRPr lang="en-US"/>
          </a:p>
        </p:txBody>
      </p:sp>
      <p:sp>
        <p:nvSpPr>
          <p:cNvPr id="5" name="Footer Placeholder 4">
            <a:extLst>
              <a:ext uri="{FF2B5EF4-FFF2-40B4-BE49-F238E27FC236}">
                <a16:creationId xmlns:a16="http://schemas.microsoft.com/office/drawing/2014/main" id="{21DF7613-AEBC-A34D-B202-D0A47CFB0F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EE81EA-26D8-0F47-9EAC-9878B863EB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DEB4AB-D614-0E48-BC82-3517EAEB4A4F}" type="slidenum">
              <a:rPr lang="en-US" smtClean="0"/>
              <a:t>‹#›</a:t>
            </a:fld>
            <a:endParaRPr lang="en-US"/>
          </a:p>
        </p:txBody>
      </p:sp>
    </p:spTree>
    <p:extLst>
      <p:ext uri="{BB962C8B-B14F-4D97-AF65-F5344CB8AC3E}">
        <p14:creationId xmlns:p14="http://schemas.microsoft.com/office/powerpoint/2010/main" val="4140372163"/>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9EB916E-0325-D944-9D23-27284E951FA8}" type="datetime1">
              <a:rPr lang="en-US" smtClean="0"/>
              <a:t>11/7/25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36471AC-7F5C-CF4F-A0B6-967C6D6622C3}" type="slidenum">
              <a:rPr lang="en-US" smtClean="0"/>
              <a:t>‹#›</a:t>
            </a:fld>
            <a:endParaRPr lang="en-US"/>
          </a:p>
        </p:txBody>
      </p:sp>
    </p:spTree>
    <p:extLst>
      <p:ext uri="{BB962C8B-B14F-4D97-AF65-F5344CB8AC3E}">
        <p14:creationId xmlns:p14="http://schemas.microsoft.com/office/powerpoint/2010/main" val="476503273"/>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david.hoff@umb.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8" Type="http://schemas.openxmlformats.org/officeDocument/2006/relationships/image" Target="../media/image17.jpg"/><Relationship Id="rId3" Type="http://schemas.openxmlformats.org/officeDocument/2006/relationships/hyperlink" Target="https://www.comicbookdaily.com/tag/nostalgia-cycle/" TargetMode="External"/><Relationship Id="rId7" Type="http://schemas.openxmlformats.org/officeDocument/2006/relationships/hyperlink" Target="https://creativecommons.org/licenses/by/3.0/" TargetMode="External"/><Relationship Id="rId2" Type="http://schemas.openxmlformats.org/officeDocument/2006/relationships/image" Target="../media/image15.jpeg"/><Relationship Id="rId1" Type="http://schemas.openxmlformats.org/officeDocument/2006/relationships/slideLayout" Target="../slideLayouts/slideLayout13.xml"/><Relationship Id="rId6" Type="http://schemas.openxmlformats.org/officeDocument/2006/relationships/hyperlink" Target="http://www.teinteresasaber.com/2013/11/delorean-dmc-12-el-vehiculo-con-alas-de.html" TargetMode="External"/><Relationship Id="rId5" Type="http://schemas.openxmlformats.org/officeDocument/2006/relationships/image" Target="../media/image16.jpg"/><Relationship Id="rId10" Type="http://schemas.openxmlformats.org/officeDocument/2006/relationships/hyperlink" Target="https://creativecommons.org/licenses/by-nd/3.0/" TargetMode="External"/><Relationship Id="rId4" Type="http://schemas.openxmlformats.org/officeDocument/2006/relationships/hyperlink" Target="https://creativecommons.org/licenses/by-nc-nd/3.0/" TargetMode="External"/><Relationship Id="rId9" Type="http://schemas.openxmlformats.org/officeDocument/2006/relationships/hyperlink" Target="https://myjourneywithdepression.wordpress.com/tag/random/page/5/"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beingbess.blogspot.com/2012/04/" TargetMode="External"/><Relationship Id="rId2" Type="http://schemas.openxmlformats.org/officeDocument/2006/relationships/image" Target="../media/image18.jpeg"/><Relationship Id="rId1" Type="http://schemas.openxmlformats.org/officeDocument/2006/relationships/slideLayout" Target="../slideLayouts/slideLayout13.xml"/><Relationship Id="rId4" Type="http://schemas.openxmlformats.org/officeDocument/2006/relationships/hyperlink" Target="https://creativecommons.org/licenses/by-nc-nd/3.0/"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23.jpeg"/></Relationships>
</file>

<file path=ppt/slides/_rels/slide11.xml.rels><?xml version="1.0" encoding="UTF-8" standalone="yes"?>
<Relationships xmlns="http://schemas.openxmlformats.org/package/2006/relationships"><Relationship Id="rId3" Type="http://schemas.openxmlformats.org/officeDocument/2006/relationships/image" Target="../media/image24.jpeg"/><Relationship Id="rId7" Type="http://schemas.openxmlformats.org/officeDocument/2006/relationships/image" Target="../media/image28.jpe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s>
</file>

<file path=ppt/slides/_rels/slide1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7.xml"/><Relationship Id="rId1" Type="http://schemas.openxmlformats.org/officeDocument/2006/relationships/slideLayout" Target="../slideLayouts/slideLayout17.xml"/><Relationship Id="rId5" Type="http://schemas.openxmlformats.org/officeDocument/2006/relationships/image" Target="../media/image31.jpg"/><Relationship Id="rId4" Type="http://schemas.openxmlformats.org/officeDocument/2006/relationships/image" Target="../media/image30.jpg"/></Relationships>
</file>

<file path=ppt/slides/_rels/slide1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33.jpeg"/></Relationships>
</file>

<file path=ppt/slides/_rels/slide14.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JP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wmf"/><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s>
</file>

<file path=ppt/slides/_rels/slide18.xml.rels><?xml version="1.0" encoding="UTF-8" standalone="yes"?>
<Relationships xmlns="http://schemas.openxmlformats.org/package/2006/relationships"><Relationship Id="rId8" Type="http://schemas.openxmlformats.org/officeDocument/2006/relationships/image" Target="../media/image48.jpe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46.jpeg"/><Relationship Id="rId5" Type="http://schemas.openxmlformats.org/officeDocument/2006/relationships/image" Target="../media/image45.gif"/><Relationship Id="rId4" Type="http://schemas.openxmlformats.org/officeDocument/2006/relationships/image" Target="../media/image44.jpeg"/><Relationship Id="rId9" Type="http://schemas.openxmlformats.org/officeDocument/2006/relationships/image" Target="../media/image49.png"/></Relationships>
</file>

<file path=ppt/slides/_rels/slide19.xml.rels><?xml version="1.0" encoding="UTF-8" standalone="yes"?>
<Relationships xmlns="http://schemas.openxmlformats.org/package/2006/relationships"><Relationship Id="rId8" Type="http://schemas.openxmlformats.org/officeDocument/2006/relationships/image" Target="../media/image55.jpg"/><Relationship Id="rId3" Type="http://schemas.openxmlformats.org/officeDocument/2006/relationships/image" Target="../media/image50.jpeg"/><Relationship Id="rId7" Type="http://schemas.openxmlformats.org/officeDocument/2006/relationships/image" Target="../media/image54.jpe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53.jpeg"/><Relationship Id="rId5" Type="http://schemas.openxmlformats.org/officeDocument/2006/relationships/image" Target="../media/image52.jpeg"/><Relationship Id="rId4" Type="http://schemas.openxmlformats.org/officeDocument/2006/relationships/image" Target="../media/image51.jpeg"/><Relationship Id="rId9" Type="http://schemas.openxmlformats.org/officeDocument/2006/relationships/image" Target="../media/image56.jpeg"/></Relationships>
</file>

<file path=ppt/slides/_rels/slide20.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57.png"/><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3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5.xml"/><Relationship Id="rId1" Type="http://schemas.openxmlformats.org/officeDocument/2006/relationships/slideLayout" Target="../slideLayouts/slideLayout4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6.xml"/><Relationship Id="rId1" Type="http://schemas.openxmlformats.org/officeDocument/2006/relationships/slideLayout" Target="../slideLayouts/slideLayout24.xml"/><Relationship Id="rId5" Type="http://schemas.openxmlformats.org/officeDocument/2006/relationships/image" Target="../media/image63.png"/><Relationship Id="rId4" Type="http://schemas.openxmlformats.org/officeDocument/2006/relationships/image" Target="../media/image62.png"/></Relationships>
</file>

<file path=ppt/slides/_rels/slide2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7.xml"/><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8.xml"/><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0.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19.xml"/><Relationship Id="rId1" Type="http://schemas.openxmlformats.org/officeDocument/2006/relationships/slideLayout" Target="../slideLayouts/slideLayout4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20.xml"/><Relationship Id="rId1" Type="http://schemas.openxmlformats.org/officeDocument/2006/relationships/slideLayout" Target="../slideLayouts/slideLayout36.xml"/></Relationships>
</file>

<file path=ppt/slides/_rels/slide33.xml.rels><?xml version="1.0" encoding="UTF-8" standalone="yes"?>
<Relationships xmlns="http://schemas.openxmlformats.org/package/2006/relationships"><Relationship Id="rId2" Type="http://schemas.openxmlformats.org/officeDocument/2006/relationships/image" Target="../media/image68.jpg"/><Relationship Id="rId1" Type="http://schemas.openxmlformats.org/officeDocument/2006/relationships/slideLayout" Target="../slideLayouts/slideLayout36.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36.xml"/><Relationship Id="rId4" Type="http://schemas.openxmlformats.org/officeDocument/2006/relationships/image" Target="../media/image7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6.xml"/></Relationships>
</file>

<file path=ppt/slides/_rels/slide37.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22.xml"/><Relationship Id="rId1" Type="http://schemas.openxmlformats.org/officeDocument/2006/relationships/slideLayout" Target="../slideLayouts/slideLayout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3.jpeg"/><Relationship Id="rId1" Type="http://schemas.openxmlformats.org/officeDocument/2006/relationships/slideLayout" Target="../slideLayouts/slideLayout3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slideLayout" Target="../slideLayouts/slideLayout36.xml"/><Relationship Id="rId5" Type="http://schemas.openxmlformats.org/officeDocument/2006/relationships/image" Target="../media/image77.jpeg"/><Relationship Id="rId4" Type="http://schemas.openxmlformats.org/officeDocument/2006/relationships/image" Target="../media/image76.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4.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5.xml"/><Relationship Id="rId1" Type="http://schemas.openxmlformats.org/officeDocument/2006/relationships/slideLayout" Target="../slideLayouts/slideLayout40.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7.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9.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26.xml"/><Relationship Id="rId1" Type="http://schemas.openxmlformats.org/officeDocument/2006/relationships/slideLayout" Target="../slideLayouts/slideLayout36.xml"/></Relationships>
</file>

<file path=ppt/slides/_rels/slide50.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36.xml"/></Relationships>
</file>

<file path=ppt/slides/_rels/slide51.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3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5.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36.xml"/></Relationships>
</file>

<file path=ppt/slides/_rels/slide56.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47.xml"/></Relationships>
</file>

<file path=ppt/slides/_rels/slide57.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27.xml"/><Relationship Id="rId1" Type="http://schemas.openxmlformats.org/officeDocument/2006/relationships/slideLayout" Target="../slideLayouts/slideLayout57.xml"/></Relationships>
</file>

<file path=ppt/slides/_rels/slide58.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28.xml"/><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18F6E8B-15ED-43C7-94BA-91549A651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F1333D-5E68-BBE3-08B3-FE75EAFDB32C}"/>
              </a:ext>
            </a:extLst>
          </p:cNvPr>
          <p:cNvSpPr>
            <a:spLocks noGrp="1"/>
          </p:cNvSpPr>
          <p:nvPr>
            <p:ph type="ctrTitle"/>
          </p:nvPr>
        </p:nvSpPr>
        <p:spPr>
          <a:xfrm>
            <a:off x="1076855" y="3467045"/>
            <a:ext cx="4900144" cy="2736965"/>
          </a:xfrm>
          <a:effectLst>
            <a:glow rad="139700">
              <a:schemeClr val="accent1">
                <a:satMod val="175000"/>
                <a:alpha val="40000"/>
              </a:schemeClr>
            </a:glow>
          </a:effectLst>
          <a:scene3d>
            <a:camera prst="orthographicFront"/>
            <a:lightRig rig="threePt" dir="t"/>
          </a:scene3d>
          <a:sp3d>
            <a:bevelT prst="angle"/>
          </a:sp3d>
        </p:spPr>
        <p:style>
          <a:lnRef idx="1">
            <a:schemeClr val="accent4"/>
          </a:lnRef>
          <a:fillRef idx="3">
            <a:schemeClr val="accent4"/>
          </a:fillRef>
          <a:effectRef idx="2">
            <a:schemeClr val="accent4"/>
          </a:effectRef>
          <a:fontRef idx="minor">
            <a:schemeClr val="lt1"/>
          </a:fontRef>
        </p:style>
        <p:txBody>
          <a:bodyPr anchor="t">
            <a:normAutofit/>
          </a:bodyPr>
          <a:lstStyle/>
          <a:p>
            <a:pPr algn="l">
              <a:lnSpc>
                <a:spcPct val="100000"/>
              </a:lnSpc>
            </a:pPr>
            <a:r>
              <a:rPr lang="en-US" sz="3200" b="1" i="1" dirty="0"/>
              <a:t>Challenging Ourselves: The Evolving Role of Professionals in Employment of People with Disabilities</a:t>
            </a:r>
          </a:p>
        </p:txBody>
      </p:sp>
      <p:sp>
        <p:nvSpPr>
          <p:cNvPr id="3" name="Subtitle 2">
            <a:extLst>
              <a:ext uri="{FF2B5EF4-FFF2-40B4-BE49-F238E27FC236}">
                <a16:creationId xmlns:a16="http://schemas.microsoft.com/office/drawing/2014/main" id="{F7EA56DF-99B0-DD74-DAEB-156C076E3E41}"/>
              </a:ext>
            </a:extLst>
          </p:cNvPr>
          <p:cNvSpPr>
            <a:spLocks noGrp="1"/>
          </p:cNvSpPr>
          <p:nvPr>
            <p:ph type="subTitle" idx="1"/>
          </p:nvPr>
        </p:nvSpPr>
        <p:spPr>
          <a:xfrm>
            <a:off x="944701" y="257770"/>
            <a:ext cx="5298444" cy="2555920"/>
          </a:xfrm>
        </p:spPr>
        <p:txBody>
          <a:bodyPr anchor="b">
            <a:normAutofit fontScale="55000" lnSpcReduction="20000"/>
          </a:bodyPr>
          <a:lstStyle/>
          <a:p>
            <a:pPr algn="l">
              <a:lnSpc>
                <a:spcPct val="120000"/>
              </a:lnSpc>
            </a:pPr>
            <a:r>
              <a:rPr lang="en-US" sz="4400" b="1" dirty="0"/>
              <a:t>David Hoff</a:t>
            </a:r>
          </a:p>
          <a:p>
            <a:pPr algn="l">
              <a:lnSpc>
                <a:spcPct val="120000"/>
              </a:lnSpc>
            </a:pPr>
            <a:r>
              <a:rPr lang="en-US" sz="3400" i="1" dirty="0"/>
              <a:t>Institute for Community Inclusion</a:t>
            </a:r>
            <a:br>
              <a:rPr lang="en-US" sz="3400" i="1" dirty="0"/>
            </a:br>
            <a:r>
              <a:rPr lang="en-US" sz="3400" i="1" dirty="0"/>
              <a:t>UMass Boston</a:t>
            </a:r>
            <a:br>
              <a:rPr lang="en-US" sz="3400" i="1" dirty="0"/>
            </a:br>
            <a:r>
              <a:rPr lang="en-US" sz="3400" dirty="0" err="1"/>
              <a:t>www.communityinclusion.org</a:t>
            </a:r>
            <a:endParaRPr lang="en-US" sz="3400" dirty="0"/>
          </a:p>
          <a:p>
            <a:pPr algn="l">
              <a:lnSpc>
                <a:spcPct val="120000"/>
              </a:lnSpc>
            </a:pPr>
            <a:endParaRPr lang="en-US" sz="3200" i="1" dirty="0"/>
          </a:p>
          <a:p>
            <a:pPr algn="l">
              <a:lnSpc>
                <a:spcPct val="120000"/>
              </a:lnSpc>
            </a:pPr>
            <a:r>
              <a:rPr lang="en-US" sz="3200" dirty="0"/>
              <a:t>617-480-9230</a:t>
            </a:r>
            <a:br>
              <a:rPr lang="en-US" sz="3200" i="1" dirty="0"/>
            </a:br>
            <a:r>
              <a:rPr lang="en-US" sz="3200" dirty="0">
                <a:hlinkClick r:id="rId3"/>
              </a:rPr>
              <a:t>david.hoff@umb.edu</a:t>
            </a:r>
            <a:r>
              <a:rPr lang="en-US" sz="3200" dirty="0"/>
              <a:t> </a:t>
            </a:r>
          </a:p>
        </p:txBody>
      </p:sp>
      <p:pic>
        <p:nvPicPr>
          <p:cNvPr id="7" name="Picture 6" descr="ICI - Employment, Education, Community, Health Care">
            <a:extLst>
              <a:ext uri="{FF2B5EF4-FFF2-40B4-BE49-F238E27FC236}">
                <a16:creationId xmlns:a16="http://schemas.microsoft.com/office/drawing/2014/main" id="{2FDAE36B-2962-54D1-6B87-8B3F41D9320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276625" y="862971"/>
            <a:ext cx="865686" cy="826591"/>
          </a:xfrm>
          <a:prstGeom prst="rect">
            <a:avLst/>
          </a:prstGeom>
        </p:spPr>
      </p:pic>
      <p:grpSp>
        <p:nvGrpSpPr>
          <p:cNvPr id="13" name="Group 12">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48031"/>
            <a:ext cx="731521" cy="673460"/>
            <a:chOff x="3940602" y="308034"/>
            <a:chExt cx="2116791" cy="3428999"/>
          </a:xfrm>
          <a:solidFill>
            <a:schemeClr val="accent4"/>
          </a:solidFill>
        </p:grpSpPr>
        <p:sp>
          <p:nvSpPr>
            <p:cNvPr id="14" name="Rectangle 13">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089A89A-1E9C-4761-9DFF-53C275FBF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257770"/>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3462252"/>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PSE - Employment First, Employment For All">
            <a:extLst>
              <a:ext uri="{FF2B5EF4-FFF2-40B4-BE49-F238E27FC236}">
                <a16:creationId xmlns:a16="http://schemas.microsoft.com/office/drawing/2014/main" id="{EEB32BDE-3E25-53A1-94DD-0875F71F8AAC}"/>
              </a:ext>
            </a:extLst>
          </p:cNvPr>
          <p:cNvPicPr>
            <a:picLocks noChangeAspect="1"/>
          </p:cNvPicPr>
          <p:nvPr/>
        </p:nvPicPr>
        <p:blipFill>
          <a:blip r:embed="rId5"/>
          <a:stretch>
            <a:fillRect/>
          </a:stretch>
        </p:blipFill>
        <p:spPr>
          <a:xfrm>
            <a:off x="7589521" y="426170"/>
            <a:ext cx="3657778" cy="2666794"/>
          </a:xfrm>
          <a:prstGeom prst="rect">
            <a:avLst/>
          </a:prstGeom>
        </p:spPr>
      </p:pic>
      <p:pic>
        <p:nvPicPr>
          <p:cNvPr id="8" name="Picture 7" descr="National APSE Mini Virtual Conference 2025&#10;Established 1988">
            <a:extLst>
              <a:ext uri="{FF2B5EF4-FFF2-40B4-BE49-F238E27FC236}">
                <a16:creationId xmlns:a16="http://schemas.microsoft.com/office/drawing/2014/main" id="{B3EE5D11-365B-0890-8835-F0954FE46FDB}"/>
              </a:ext>
            </a:extLst>
          </p:cNvPr>
          <p:cNvPicPr>
            <a:picLocks noChangeAspect="1"/>
          </p:cNvPicPr>
          <p:nvPr/>
        </p:nvPicPr>
        <p:blipFill>
          <a:blip r:embed="rId6"/>
          <a:stretch>
            <a:fillRect/>
          </a:stretch>
        </p:blipFill>
        <p:spPr>
          <a:xfrm>
            <a:off x="7984591" y="3721491"/>
            <a:ext cx="2398504" cy="2398504"/>
          </a:xfrm>
          <a:prstGeom prst="rect">
            <a:avLst/>
          </a:prstGeom>
        </p:spPr>
      </p:pic>
      <p:sp>
        <p:nvSpPr>
          <p:cNvPr id="4" name="Slide Number Placeholder 3">
            <a:extLst>
              <a:ext uri="{FF2B5EF4-FFF2-40B4-BE49-F238E27FC236}">
                <a16:creationId xmlns:a16="http://schemas.microsoft.com/office/drawing/2014/main" id="{8D4DF71C-5F1C-B272-A296-147B12E7C45D}"/>
              </a:ext>
            </a:extLst>
          </p:cNvPr>
          <p:cNvSpPr>
            <a:spLocks noGrp="1"/>
          </p:cNvSpPr>
          <p:nvPr>
            <p:ph type="sldNum" sz="quarter" idx="12"/>
          </p:nvPr>
        </p:nvSpPr>
        <p:spPr/>
        <p:txBody>
          <a:bodyPr/>
          <a:lstStyle/>
          <a:p>
            <a:fld id="{15D3461C-907D-DB4D-BF34-34B4CA38BC40}" type="slidenum">
              <a:rPr lang="en-US" smtClean="0"/>
              <a:t>1</a:t>
            </a:fld>
            <a:endParaRPr lang="en-US"/>
          </a:p>
        </p:txBody>
      </p:sp>
    </p:spTree>
    <p:extLst>
      <p:ext uri="{BB962C8B-B14F-4D97-AF65-F5344CB8AC3E}">
        <p14:creationId xmlns:p14="http://schemas.microsoft.com/office/powerpoint/2010/main" val="508440599"/>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CAADB6-3CA0-1555-E36B-F4041578075C}"/>
              </a:ext>
            </a:extLst>
          </p:cNvPr>
          <p:cNvSpPr>
            <a:spLocks noGrp="1"/>
          </p:cNvSpPr>
          <p:nvPr>
            <p:ph type="title"/>
          </p:nvPr>
        </p:nvSpPr>
        <p:spPr>
          <a:xfrm>
            <a:off x="4128368" y="4522156"/>
            <a:ext cx="4937937" cy="1363215"/>
          </a:xfrm>
        </p:spPr>
        <p:txBody>
          <a:bodyPr vert="horz" lIns="91440" tIns="45720" rIns="91440" bIns="45720" rtlCol="0" anchor="t">
            <a:normAutofit/>
          </a:bodyPr>
          <a:lstStyle/>
          <a:p>
            <a:pPr algn="ctr"/>
            <a:r>
              <a:rPr lang="en-US" b="1" kern="1200" dirty="0">
                <a:solidFill>
                  <a:schemeClr val="tx1"/>
                </a:solidFill>
                <a:latin typeface="+mj-lt"/>
                <a:ea typeface="+mj-ea"/>
                <a:cs typeface="+mj-cs"/>
              </a:rPr>
              <a:t>About Me</a:t>
            </a:r>
          </a:p>
        </p:txBody>
      </p:sp>
      <p:sp>
        <p:nvSpPr>
          <p:cNvPr id="21" name="Freeform: Shape 20">
            <a:extLst>
              <a:ext uri="{FF2B5EF4-FFF2-40B4-BE49-F238E27FC236}">
                <a16:creationId xmlns:a16="http://schemas.microsoft.com/office/drawing/2014/main" id="{2E2D6188-24E5-426A-BB2A-3FA2D6B9C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8331"/>
            <a:ext cx="3564638" cy="4569668"/>
          </a:xfrm>
          <a:custGeom>
            <a:avLst/>
            <a:gdLst>
              <a:gd name="connsiteX0" fmla="*/ 640080 w 3564638"/>
              <a:gd name="connsiteY0" fmla="*/ 0 h 4569668"/>
              <a:gd name="connsiteX1" fmla="*/ 3564638 w 3564638"/>
              <a:gd name="connsiteY1" fmla="*/ 2924558 h 4569668"/>
              <a:gd name="connsiteX2" fmla="*/ 3065170 w 3564638"/>
              <a:gd name="connsiteY2" fmla="*/ 4559707 h 4569668"/>
              <a:gd name="connsiteX3" fmla="*/ 3057720 w 3564638"/>
              <a:gd name="connsiteY3" fmla="*/ 4569668 h 4569668"/>
              <a:gd name="connsiteX4" fmla="*/ 0 w 3564638"/>
              <a:gd name="connsiteY4" fmla="*/ 4569668 h 4569668"/>
              <a:gd name="connsiteX5" fmla="*/ 0 w 3564638"/>
              <a:gd name="connsiteY5" fmla="*/ 72448 h 4569668"/>
              <a:gd name="connsiteX6" fmla="*/ 50679 w 3564638"/>
              <a:gd name="connsiteY6" fmla="*/ 59417 h 4569668"/>
              <a:gd name="connsiteX7" fmla="*/ 640080 w 3564638"/>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4638" h="4569668">
                <a:moveTo>
                  <a:pt x="640080" y="0"/>
                </a:moveTo>
                <a:cubicBezTo>
                  <a:pt x="2255269" y="0"/>
                  <a:pt x="3564638" y="1309369"/>
                  <a:pt x="3564638" y="2924558"/>
                </a:cubicBezTo>
                <a:cubicBezTo>
                  <a:pt x="3564638" y="3530254"/>
                  <a:pt x="3380508" y="4092944"/>
                  <a:pt x="3065170" y="4559707"/>
                </a:cubicBezTo>
                <a:lnTo>
                  <a:pt x="3057720" y="4569668"/>
                </a:lnTo>
                <a:lnTo>
                  <a:pt x="0" y="4569668"/>
                </a:lnTo>
                <a:lnTo>
                  <a:pt x="0" y="72448"/>
                </a:lnTo>
                <a:lnTo>
                  <a:pt x="50679" y="59417"/>
                </a:lnTo>
                <a:cubicBezTo>
                  <a:pt x="241061" y="20459"/>
                  <a:pt x="438181" y="0"/>
                  <a:pt x="64008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F6E384F5-137A-40B1-97F0-694CC6ECD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22218"/>
            <a:ext cx="3730752" cy="4735782"/>
          </a:xfrm>
          <a:custGeom>
            <a:avLst/>
            <a:gdLst>
              <a:gd name="connsiteX0" fmla="*/ 640080 w 3730752"/>
              <a:gd name="connsiteY0" fmla="*/ 0 h 4735782"/>
              <a:gd name="connsiteX1" fmla="*/ 3730752 w 3730752"/>
              <a:gd name="connsiteY1" fmla="*/ 3090672 h 4735782"/>
              <a:gd name="connsiteX2" fmla="*/ 3357725 w 3730752"/>
              <a:gd name="connsiteY2" fmla="*/ 4563870 h 4735782"/>
              <a:gd name="connsiteX3" fmla="*/ 3253285 w 3730752"/>
              <a:gd name="connsiteY3" fmla="*/ 4735782 h 4735782"/>
              <a:gd name="connsiteX4" fmla="*/ 0 w 3730752"/>
              <a:gd name="connsiteY4" fmla="*/ 4735782 h 4735782"/>
              <a:gd name="connsiteX5" fmla="*/ 0 w 3730752"/>
              <a:gd name="connsiteY5" fmla="*/ 67215 h 4735782"/>
              <a:gd name="connsiteX6" fmla="*/ 17202 w 3730752"/>
              <a:gd name="connsiteY6" fmla="*/ 62792 h 4735782"/>
              <a:gd name="connsiteX7" fmla="*/ 640080 w 3730752"/>
              <a:gd name="connsiteY7" fmla="*/ 0 h 473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752" h="4735782">
                <a:moveTo>
                  <a:pt x="640080" y="0"/>
                </a:moveTo>
                <a:cubicBezTo>
                  <a:pt x="2347011" y="0"/>
                  <a:pt x="3730752" y="1383741"/>
                  <a:pt x="3730752" y="3090672"/>
                </a:cubicBezTo>
                <a:cubicBezTo>
                  <a:pt x="3730752" y="3624088"/>
                  <a:pt x="3595621" y="4125943"/>
                  <a:pt x="3357725" y="4563870"/>
                </a:cubicBezTo>
                <a:lnTo>
                  <a:pt x="3253285" y="4735782"/>
                </a:lnTo>
                <a:lnTo>
                  <a:pt x="0" y="4735782"/>
                </a:lnTo>
                <a:lnTo>
                  <a:pt x="0" y="67215"/>
                </a:lnTo>
                <a:lnTo>
                  <a:pt x="17202" y="62792"/>
                </a:lnTo>
                <a:cubicBezTo>
                  <a:pt x="218397" y="21621"/>
                  <a:pt x="426714" y="0"/>
                  <a:pt x="64008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Freeform: Shape 24">
            <a:extLst>
              <a:ext uri="{FF2B5EF4-FFF2-40B4-BE49-F238E27FC236}">
                <a16:creationId xmlns:a16="http://schemas.microsoft.com/office/drawing/2014/main" id="{9DBC4630-03DA-474F-BBCB-BA3AE6B3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982" y="-4332"/>
            <a:ext cx="4242816" cy="2454158"/>
          </a:xfrm>
          <a:custGeom>
            <a:avLst/>
            <a:gdLst>
              <a:gd name="connsiteX0" fmla="*/ 28633 w 4242816"/>
              <a:gd name="connsiteY0" fmla="*/ 0 h 2454158"/>
              <a:gd name="connsiteX1" fmla="*/ 4214183 w 4242816"/>
              <a:gd name="connsiteY1" fmla="*/ 0 h 2454158"/>
              <a:gd name="connsiteX2" fmla="*/ 4231864 w 4242816"/>
              <a:gd name="connsiteY2" fmla="*/ 115848 h 2454158"/>
              <a:gd name="connsiteX3" fmla="*/ 4242816 w 4242816"/>
              <a:gd name="connsiteY3" fmla="*/ 332750 h 2454158"/>
              <a:gd name="connsiteX4" fmla="*/ 2121408 w 4242816"/>
              <a:gd name="connsiteY4" fmla="*/ 2454158 h 2454158"/>
              <a:gd name="connsiteX5" fmla="*/ 0 w 4242816"/>
              <a:gd name="connsiteY5" fmla="*/ 332750 h 2454158"/>
              <a:gd name="connsiteX6" fmla="*/ 10953 w 4242816"/>
              <a:gd name="connsiteY6" fmla="*/ 115848 h 24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2816" h="2454158">
                <a:moveTo>
                  <a:pt x="28633" y="0"/>
                </a:moveTo>
                <a:lnTo>
                  <a:pt x="4214183" y="0"/>
                </a:lnTo>
                <a:lnTo>
                  <a:pt x="4231864" y="115848"/>
                </a:lnTo>
                <a:cubicBezTo>
                  <a:pt x="4239106" y="187164"/>
                  <a:pt x="4242816" y="259524"/>
                  <a:pt x="4242816" y="332750"/>
                </a:cubicBezTo>
                <a:cubicBezTo>
                  <a:pt x="4242816" y="1504371"/>
                  <a:pt x="3293029" y="2454158"/>
                  <a:pt x="2121408" y="2454158"/>
                </a:cubicBezTo>
                <a:cubicBezTo>
                  <a:pt x="949787" y="2454158"/>
                  <a:pt x="0" y="1504371"/>
                  <a:pt x="0" y="332750"/>
                </a:cubicBezTo>
                <a:cubicBezTo>
                  <a:pt x="0" y="259524"/>
                  <a:pt x="3710" y="187164"/>
                  <a:pt x="10953" y="11584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Freeform: Shape 26">
            <a:extLst>
              <a:ext uri="{FF2B5EF4-FFF2-40B4-BE49-F238E27FC236}">
                <a16:creationId xmlns:a16="http://schemas.microsoft.com/office/drawing/2014/main" id="{1208BC59-C84F-483F-80CD-FAEC74229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573" y="0"/>
            <a:ext cx="3913632" cy="2285234"/>
          </a:xfrm>
          <a:custGeom>
            <a:avLst/>
            <a:gdLst>
              <a:gd name="connsiteX0" fmla="*/ 29691 w 3913632"/>
              <a:gd name="connsiteY0" fmla="*/ 0 h 2285234"/>
              <a:gd name="connsiteX1" fmla="*/ 3883942 w 3913632"/>
              <a:gd name="connsiteY1" fmla="*/ 0 h 2285234"/>
              <a:gd name="connsiteX2" fmla="*/ 3903529 w 3913632"/>
              <a:gd name="connsiteY2" fmla="*/ 128345 h 2285234"/>
              <a:gd name="connsiteX3" fmla="*/ 3913632 w 3913632"/>
              <a:gd name="connsiteY3" fmla="*/ 328418 h 2285234"/>
              <a:gd name="connsiteX4" fmla="*/ 1956816 w 3913632"/>
              <a:gd name="connsiteY4" fmla="*/ 2285234 h 2285234"/>
              <a:gd name="connsiteX5" fmla="*/ 0 w 3913632"/>
              <a:gd name="connsiteY5" fmla="*/ 328418 h 2285234"/>
              <a:gd name="connsiteX6" fmla="*/ 10103 w 3913632"/>
              <a:gd name="connsiteY6" fmla="*/ 128345 h 2285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3632" h="2285234">
                <a:moveTo>
                  <a:pt x="29691" y="0"/>
                </a:moveTo>
                <a:lnTo>
                  <a:pt x="3883942" y="0"/>
                </a:lnTo>
                <a:lnTo>
                  <a:pt x="3903529" y="128345"/>
                </a:lnTo>
                <a:cubicBezTo>
                  <a:pt x="3910210" y="194127"/>
                  <a:pt x="3913632" y="260873"/>
                  <a:pt x="3913632" y="328418"/>
                </a:cubicBezTo>
                <a:cubicBezTo>
                  <a:pt x="3913632" y="1409138"/>
                  <a:pt x="3037536" y="2285234"/>
                  <a:pt x="1956816" y="2285234"/>
                </a:cubicBezTo>
                <a:cubicBezTo>
                  <a:pt x="876096" y="2285234"/>
                  <a:pt x="0" y="1409138"/>
                  <a:pt x="0" y="328418"/>
                </a:cubicBezTo>
                <a:cubicBezTo>
                  <a:pt x="0" y="260873"/>
                  <a:pt x="3422" y="194127"/>
                  <a:pt x="10103" y="12834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6" name="Picture 15">
            <a:extLst>
              <a:ext uri="{FF2B5EF4-FFF2-40B4-BE49-F238E27FC236}">
                <a16:creationId xmlns:a16="http://schemas.microsoft.com/office/drawing/2014/main" id="{333AAF8F-79FD-8BEB-C24D-270072AE254F}"/>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2316480" y="149429"/>
            <a:ext cx="1984057" cy="1794469"/>
          </a:xfrm>
          <a:prstGeom prst="rect">
            <a:avLst/>
          </a:prstGeom>
        </p:spPr>
      </p:pic>
      <p:sp>
        <p:nvSpPr>
          <p:cNvPr id="29" name="Freeform: Shape 28">
            <a:extLst>
              <a:ext uri="{FF2B5EF4-FFF2-40B4-BE49-F238E27FC236}">
                <a16:creationId xmlns:a16="http://schemas.microsoft.com/office/drawing/2014/main" id="{A1DABD52-05DF-4F31-AFB9-B330D8BE46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25559" y="725908"/>
            <a:ext cx="2852928" cy="2852928"/>
          </a:xfrm>
          <a:custGeom>
            <a:avLst/>
            <a:gdLst>
              <a:gd name="connsiteX0" fmla="*/ 1426464 w 2852928"/>
              <a:gd name="connsiteY0" fmla="*/ 0 h 2852928"/>
              <a:gd name="connsiteX1" fmla="*/ 2852928 w 2852928"/>
              <a:gd name="connsiteY1" fmla="*/ 1426464 h 2852928"/>
              <a:gd name="connsiteX2" fmla="*/ 1426464 w 2852928"/>
              <a:gd name="connsiteY2" fmla="*/ 2852928 h 2852928"/>
              <a:gd name="connsiteX3" fmla="*/ 0 w 2852928"/>
              <a:gd name="connsiteY3" fmla="*/ 1426464 h 2852928"/>
              <a:gd name="connsiteX4" fmla="*/ 1426464 w 2852928"/>
              <a:gd name="connsiteY4" fmla="*/ 0 h 2852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2928" h="2852928">
                <a:moveTo>
                  <a:pt x="1426464" y="0"/>
                </a:moveTo>
                <a:cubicBezTo>
                  <a:pt x="2214278" y="0"/>
                  <a:pt x="2852928" y="638650"/>
                  <a:pt x="2852928" y="1426464"/>
                </a:cubicBezTo>
                <a:cubicBezTo>
                  <a:pt x="2852928" y="2214278"/>
                  <a:pt x="2214278" y="2852928"/>
                  <a:pt x="1426464" y="2852928"/>
                </a:cubicBezTo>
                <a:cubicBezTo>
                  <a:pt x="638650" y="2852928"/>
                  <a:pt x="0" y="2214278"/>
                  <a:pt x="0" y="1426464"/>
                </a:cubicBezTo>
                <a:cubicBezTo>
                  <a:pt x="0" y="638650"/>
                  <a:pt x="638650" y="0"/>
                  <a:pt x="142646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Oval 30">
            <a:extLst>
              <a:ext uri="{FF2B5EF4-FFF2-40B4-BE49-F238E27FC236}">
                <a16:creationId xmlns:a16="http://schemas.microsoft.com/office/drawing/2014/main" id="{78418A25-6EAC-4140-BFE6-284E1925B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60967" y="561316"/>
            <a:ext cx="3182112" cy="3182112"/>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6D9459CC-EE7E-8CED-5119-46F970B80551}"/>
              </a:ext>
              <a:ext uri="{C183D7F6-B498-43B3-948B-1728B52AA6E4}">
                <adec:decorative xmlns:adec="http://schemas.microsoft.com/office/drawing/2017/decorative" val="1"/>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rot="5400000">
            <a:off x="5970078" y="1300206"/>
            <a:ext cx="2044659" cy="1644023"/>
          </a:xfrm>
          <a:prstGeom prst="rect">
            <a:avLst/>
          </a:prstGeom>
        </p:spPr>
      </p:pic>
      <p:sp>
        <p:nvSpPr>
          <p:cNvPr id="33" name="Freeform: Shape 32">
            <a:extLst>
              <a:ext uri="{FF2B5EF4-FFF2-40B4-BE49-F238E27FC236}">
                <a16:creationId xmlns:a16="http://schemas.microsoft.com/office/drawing/2014/main" id="{6B9D64DB-4D5C-4A91-B45F-F301E3174F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2568" y="-4332"/>
            <a:ext cx="3439432" cy="3550083"/>
          </a:xfrm>
          <a:custGeom>
            <a:avLst/>
            <a:gdLst>
              <a:gd name="connsiteX0" fmla="*/ 115336 w 3439432"/>
              <a:gd name="connsiteY0" fmla="*/ 0 h 3550083"/>
              <a:gd name="connsiteX1" fmla="*/ 3439432 w 3439432"/>
              <a:gd name="connsiteY1" fmla="*/ 0 h 3550083"/>
              <a:gd name="connsiteX2" fmla="*/ 3439432 w 3439432"/>
              <a:gd name="connsiteY2" fmla="*/ 3462762 h 3550083"/>
              <a:gd name="connsiteX3" fmla="*/ 3318024 w 3439432"/>
              <a:gd name="connsiteY3" fmla="*/ 3493980 h 3550083"/>
              <a:gd name="connsiteX4" fmla="*/ 2761488 w 3439432"/>
              <a:gd name="connsiteY4" fmla="*/ 3550083 h 3550083"/>
              <a:gd name="connsiteX5" fmla="*/ 0 w 3439432"/>
              <a:gd name="connsiteY5" fmla="*/ 788595 h 3550083"/>
              <a:gd name="connsiteX6" fmla="*/ 70713 w 3439432"/>
              <a:gd name="connsiteY6" fmla="*/ 164949 h 355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432" h="3550083">
                <a:moveTo>
                  <a:pt x="115336" y="0"/>
                </a:moveTo>
                <a:lnTo>
                  <a:pt x="3439432" y="0"/>
                </a:lnTo>
                <a:lnTo>
                  <a:pt x="3439432" y="3462762"/>
                </a:lnTo>
                <a:lnTo>
                  <a:pt x="3318024" y="3493980"/>
                </a:lnTo>
                <a:cubicBezTo>
                  <a:pt x="3138258" y="3530765"/>
                  <a:pt x="2952129" y="3550083"/>
                  <a:pt x="2761488" y="3550083"/>
                </a:cubicBezTo>
                <a:cubicBezTo>
                  <a:pt x="1236360" y="3550083"/>
                  <a:pt x="0" y="2313723"/>
                  <a:pt x="0" y="788595"/>
                </a:cubicBezTo>
                <a:cubicBezTo>
                  <a:pt x="0" y="574124"/>
                  <a:pt x="24450" y="365364"/>
                  <a:pt x="70713" y="164949"/>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Freeform: Shape 34">
            <a:extLst>
              <a:ext uri="{FF2B5EF4-FFF2-40B4-BE49-F238E27FC236}">
                <a16:creationId xmlns:a16="http://schemas.microsoft.com/office/drawing/2014/main" id="{8E4F04B5-4D4A-4F70-8549-384AF5351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8761" y="-4330"/>
            <a:ext cx="3273238" cy="3383891"/>
          </a:xfrm>
          <a:custGeom>
            <a:avLst/>
            <a:gdLst>
              <a:gd name="connsiteX0" fmla="*/ 122841 w 3273238"/>
              <a:gd name="connsiteY0" fmla="*/ 0 h 3383891"/>
              <a:gd name="connsiteX1" fmla="*/ 3273238 w 3273238"/>
              <a:gd name="connsiteY1" fmla="*/ 0 h 3383891"/>
              <a:gd name="connsiteX2" fmla="*/ 3273238 w 3273238"/>
              <a:gd name="connsiteY2" fmla="*/ 3291335 h 3383891"/>
              <a:gd name="connsiteX3" fmla="*/ 3118338 w 3273238"/>
              <a:gd name="connsiteY3" fmla="*/ 3331164 h 3383891"/>
              <a:gd name="connsiteX4" fmla="*/ 2595295 w 3273238"/>
              <a:gd name="connsiteY4" fmla="*/ 3383891 h 3383891"/>
              <a:gd name="connsiteX5" fmla="*/ 0 w 3273238"/>
              <a:gd name="connsiteY5" fmla="*/ 788596 h 3383891"/>
              <a:gd name="connsiteX6" fmla="*/ 116679 w 3273238"/>
              <a:gd name="connsiteY6" fmla="*/ 16835 h 338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3238" h="3383891">
                <a:moveTo>
                  <a:pt x="122841" y="0"/>
                </a:moveTo>
                <a:lnTo>
                  <a:pt x="3273238" y="0"/>
                </a:lnTo>
                <a:lnTo>
                  <a:pt x="3273238" y="3291335"/>
                </a:lnTo>
                <a:lnTo>
                  <a:pt x="3118338" y="3331164"/>
                </a:lnTo>
                <a:cubicBezTo>
                  <a:pt x="2949390" y="3365736"/>
                  <a:pt x="2774463" y="3383891"/>
                  <a:pt x="2595295" y="3383891"/>
                </a:cubicBezTo>
                <a:cubicBezTo>
                  <a:pt x="1161953" y="3383891"/>
                  <a:pt x="0" y="2221938"/>
                  <a:pt x="0" y="788596"/>
                </a:cubicBezTo>
                <a:cubicBezTo>
                  <a:pt x="0" y="519845"/>
                  <a:pt x="40850" y="260634"/>
                  <a:pt x="116679" y="1683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a:extLst>
              <a:ext uri="{FF2B5EF4-FFF2-40B4-BE49-F238E27FC236}">
                <a16:creationId xmlns:a16="http://schemas.microsoft.com/office/drawing/2014/main" id="{89768E22-11DC-41A0-E738-53EDA382FA6D}"/>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rot="5400000">
            <a:off x="9700561" y="530033"/>
            <a:ext cx="2210638" cy="1657978"/>
          </a:xfrm>
          <a:prstGeom prst="rect">
            <a:avLst/>
          </a:prstGeom>
        </p:spPr>
      </p:pic>
      <p:sp>
        <p:nvSpPr>
          <p:cNvPr id="37" name="Freeform: Shape 36">
            <a:extLst>
              <a:ext uri="{FF2B5EF4-FFF2-40B4-BE49-F238E27FC236}">
                <a16:creationId xmlns:a16="http://schemas.microsoft.com/office/drawing/2014/main" id="{0D14DB62-3EB3-452E-89EE-30B0CDB0C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63236" y="4071322"/>
            <a:ext cx="2828765" cy="2786678"/>
          </a:xfrm>
          <a:custGeom>
            <a:avLst/>
            <a:gdLst>
              <a:gd name="connsiteX0" fmla="*/ 1888236 w 2828765"/>
              <a:gd name="connsiteY0" fmla="*/ 0 h 2786678"/>
              <a:gd name="connsiteX1" fmla="*/ 2788281 w 2828765"/>
              <a:gd name="connsiteY1" fmla="*/ 227900 h 2786678"/>
              <a:gd name="connsiteX2" fmla="*/ 2828765 w 2828765"/>
              <a:gd name="connsiteY2" fmla="*/ 252495 h 2786678"/>
              <a:gd name="connsiteX3" fmla="*/ 2828765 w 2828765"/>
              <a:gd name="connsiteY3" fmla="*/ 2786678 h 2786678"/>
              <a:gd name="connsiteX4" fmla="*/ 227128 w 2828765"/>
              <a:gd name="connsiteY4" fmla="*/ 2786678 h 2786678"/>
              <a:gd name="connsiteX5" fmla="*/ 148387 w 2828765"/>
              <a:gd name="connsiteY5" fmla="*/ 2623223 h 2786678"/>
              <a:gd name="connsiteX6" fmla="*/ 0 w 2828765"/>
              <a:gd name="connsiteY6" fmla="*/ 1888236 h 2786678"/>
              <a:gd name="connsiteX7" fmla="*/ 1888236 w 2828765"/>
              <a:gd name="connsiteY7" fmla="*/ 0 h 278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28765" h="2786678">
                <a:moveTo>
                  <a:pt x="1888236" y="0"/>
                </a:moveTo>
                <a:cubicBezTo>
                  <a:pt x="2214125" y="0"/>
                  <a:pt x="2520731" y="82558"/>
                  <a:pt x="2788281" y="227900"/>
                </a:cubicBezTo>
                <a:lnTo>
                  <a:pt x="2828765" y="252495"/>
                </a:lnTo>
                <a:lnTo>
                  <a:pt x="2828765" y="2786678"/>
                </a:lnTo>
                <a:lnTo>
                  <a:pt x="227128" y="2786678"/>
                </a:lnTo>
                <a:lnTo>
                  <a:pt x="148387" y="2623223"/>
                </a:lnTo>
                <a:cubicBezTo>
                  <a:pt x="52837" y="2397318"/>
                  <a:pt x="0" y="2148947"/>
                  <a:pt x="0" y="1888236"/>
                </a:cubicBezTo>
                <a:cubicBezTo>
                  <a:pt x="0" y="845392"/>
                  <a:pt x="845392" y="0"/>
                  <a:pt x="1888236"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CB14CE1B-4BC5-4EF2-BE3D-05E4F580B3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99331" y="3907418"/>
            <a:ext cx="2992669" cy="2950582"/>
          </a:xfrm>
          <a:custGeom>
            <a:avLst/>
            <a:gdLst>
              <a:gd name="connsiteX0" fmla="*/ 2052140 w 2992669"/>
              <a:gd name="connsiteY0" fmla="*/ 0 h 2950582"/>
              <a:gd name="connsiteX1" fmla="*/ 2850926 w 2992669"/>
              <a:gd name="connsiteY1" fmla="*/ 161267 h 2950582"/>
              <a:gd name="connsiteX2" fmla="*/ 2992669 w 2992669"/>
              <a:gd name="connsiteY2" fmla="*/ 229549 h 2950582"/>
              <a:gd name="connsiteX3" fmla="*/ 2992669 w 2992669"/>
              <a:gd name="connsiteY3" fmla="*/ 2950582 h 2950582"/>
              <a:gd name="connsiteX4" fmla="*/ 209274 w 2992669"/>
              <a:gd name="connsiteY4" fmla="*/ 2950582 h 2950582"/>
              <a:gd name="connsiteX5" fmla="*/ 161267 w 2992669"/>
              <a:gd name="connsiteY5" fmla="*/ 2850926 h 2950582"/>
              <a:gd name="connsiteX6" fmla="*/ 0 w 2992669"/>
              <a:gd name="connsiteY6" fmla="*/ 2052140 h 2950582"/>
              <a:gd name="connsiteX7" fmla="*/ 2052140 w 2992669"/>
              <a:gd name="connsiteY7" fmla="*/ 0 h 295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92669" h="2950582">
                <a:moveTo>
                  <a:pt x="2052140" y="0"/>
                </a:moveTo>
                <a:cubicBezTo>
                  <a:pt x="2335482" y="0"/>
                  <a:pt x="2605411" y="57424"/>
                  <a:pt x="2850926" y="161267"/>
                </a:cubicBezTo>
                <a:lnTo>
                  <a:pt x="2992669" y="229549"/>
                </a:lnTo>
                <a:lnTo>
                  <a:pt x="2992669" y="2950582"/>
                </a:lnTo>
                <a:lnTo>
                  <a:pt x="209274" y="2950582"/>
                </a:lnTo>
                <a:lnTo>
                  <a:pt x="161267" y="2850926"/>
                </a:lnTo>
                <a:cubicBezTo>
                  <a:pt x="57423" y="2605411"/>
                  <a:pt x="0" y="2335482"/>
                  <a:pt x="0" y="2052140"/>
                </a:cubicBezTo>
                <a:cubicBezTo>
                  <a:pt x="0" y="918774"/>
                  <a:pt x="918774" y="0"/>
                  <a:pt x="205214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4C78DF8A-3787-48AF-9734-F52CA7DA7FDF}"/>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rot="5400000">
            <a:off x="10071850" y="4735304"/>
            <a:ext cx="2152580" cy="1614434"/>
          </a:xfrm>
          <a:prstGeom prst="rect">
            <a:avLst/>
          </a:prstGeom>
        </p:spPr>
      </p:pic>
      <p:pic>
        <p:nvPicPr>
          <p:cNvPr id="5" name="Picture 4">
            <a:extLst>
              <a:ext uri="{FF2B5EF4-FFF2-40B4-BE49-F238E27FC236}">
                <a16:creationId xmlns:a16="http://schemas.microsoft.com/office/drawing/2014/main" id="{529C43E3-802A-2C41-FA55-8E3FF7B56E7C}"/>
              </a:ext>
              <a:ext uri="{C183D7F6-B498-43B3-948B-1728B52AA6E4}">
                <adec:decorative xmlns:adec="http://schemas.microsoft.com/office/drawing/2017/decorative" val="1"/>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469931" y="3204975"/>
            <a:ext cx="1846549" cy="3189812"/>
          </a:xfrm>
          <a:prstGeom prst="rect">
            <a:avLst/>
          </a:prstGeom>
        </p:spPr>
      </p:pic>
      <p:sp>
        <p:nvSpPr>
          <p:cNvPr id="2" name="Slide Number Placeholder 1">
            <a:extLst>
              <a:ext uri="{FF2B5EF4-FFF2-40B4-BE49-F238E27FC236}">
                <a16:creationId xmlns:a16="http://schemas.microsoft.com/office/drawing/2014/main" id="{2EF8283D-421D-02F8-B1A1-28BEFFCA4483}"/>
              </a:ext>
            </a:extLst>
          </p:cNvPr>
          <p:cNvSpPr>
            <a:spLocks noGrp="1"/>
          </p:cNvSpPr>
          <p:nvPr>
            <p:ph type="sldNum" sz="quarter" idx="12"/>
          </p:nvPr>
        </p:nvSpPr>
        <p:spPr>
          <a:xfrm>
            <a:off x="9448801" y="6555843"/>
            <a:ext cx="2743200" cy="365125"/>
          </a:xfrm>
        </p:spPr>
        <p:txBody>
          <a:bodyPr/>
          <a:lstStyle/>
          <a:p>
            <a:fld id="{15D3461C-907D-DB4D-BF34-34B4CA38BC40}" type="slidenum">
              <a:rPr lang="en-US" sz="1400" smtClean="0">
                <a:solidFill>
                  <a:schemeClr val="bg1"/>
                </a:solidFill>
              </a:rPr>
              <a:t>2</a:t>
            </a:fld>
            <a:endParaRPr lang="en-US" sz="1400" dirty="0">
              <a:solidFill>
                <a:schemeClr val="bg1"/>
              </a:solidFill>
            </a:endParaRPr>
          </a:p>
        </p:txBody>
      </p:sp>
    </p:spTree>
    <p:extLst>
      <p:ext uri="{BB962C8B-B14F-4D97-AF65-F5344CB8AC3E}">
        <p14:creationId xmlns:p14="http://schemas.microsoft.com/office/powerpoint/2010/main" val="1208952235"/>
      </p:ext>
    </p:extLst>
  </p:cSld>
  <p:clrMapOvr>
    <a:overrideClrMapping bg1="dk1" tx1="lt1" bg2="dk2" tx2="lt2" accent1="accent1" accent2="accent2" accent3="accent3" accent4="accent4" accent5="accent5" accent6="accent6" hlink="hlink" folHlink="folHlink"/>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BFF719-D5BF-CD54-D19D-F4B1BC540C83}"/>
              </a:ext>
            </a:extLst>
          </p:cNvPr>
          <p:cNvSpPr>
            <a:spLocks noGrp="1"/>
          </p:cNvSpPr>
          <p:nvPr>
            <p:ph type="title"/>
          </p:nvPr>
        </p:nvSpPr>
        <p:spPr>
          <a:xfrm>
            <a:off x="5171638" y="130095"/>
            <a:ext cx="6251110" cy="1783080"/>
          </a:xfrm>
        </p:spPr>
        <p:txBody>
          <a:bodyPr anchor="b">
            <a:normAutofit/>
          </a:bodyPr>
          <a:lstStyle/>
          <a:p>
            <a:r>
              <a:rPr lang="en-US" sz="5400" b="1" dirty="0"/>
              <a:t>Lora </a:t>
            </a:r>
            <a:r>
              <a:rPr lang="en-US" sz="5400" b="1" dirty="0" err="1"/>
              <a:t>Brugnaro</a:t>
            </a:r>
            <a:br>
              <a:rPr lang="en-US" sz="5400" dirty="0"/>
            </a:br>
            <a:r>
              <a:rPr lang="en-US" sz="3600" i="1" dirty="0"/>
              <a:t>National APSE 2024</a:t>
            </a:r>
          </a:p>
        </p:txBody>
      </p:sp>
      <p:pic>
        <p:nvPicPr>
          <p:cNvPr id="5" name="Picture 4">
            <a:extLst>
              <a:ext uri="{FF2B5EF4-FFF2-40B4-BE49-F238E27FC236}">
                <a16:creationId xmlns:a16="http://schemas.microsoft.com/office/drawing/2014/main" id="{5B2817CA-5457-04ED-34F4-058134A06B72}"/>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5"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6226503-0E00-8CB0-1DD0-E976E0A19E6D}"/>
              </a:ext>
            </a:extLst>
          </p:cNvPr>
          <p:cNvSpPr>
            <a:spLocks noGrp="1"/>
          </p:cNvSpPr>
          <p:nvPr>
            <p:ph idx="1"/>
          </p:nvPr>
        </p:nvSpPr>
        <p:spPr>
          <a:xfrm>
            <a:off x="4857041" y="2656540"/>
            <a:ext cx="8165990" cy="4576572"/>
          </a:xfrm>
        </p:spPr>
        <p:txBody>
          <a:bodyPr>
            <a:normAutofit/>
          </a:bodyPr>
          <a:lstStyle/>
          <a:p>
            <a:pPr marL="0" indent="-91440">
              <a:lnSpc>
                <a:spcPct val="100000"/>
              </a:lnSpc>
              <a:spcBef>
                <a:spcPts val="0"/>
              </a:spcBef>
              <a:buNone/>
            </a:pPr>
            <a:r>
              <a:rPr lang="en-US" sz="3000" dirty="0">
                <a:effectLst/>
                <a:latin typeface="Helvetica Neue" panose="02000503000000020004" pitchFamily="2" charset="0"/>
              </a:rPr>
              <a:t>“ You are amazing! I don’t know what</a:t>
            </a:r>
            <a:br>
              <a:rPr lang="en-US" sz="3000" dirty="0">
                <a:effectLst/>
                <a:latin typeface="Helvetica Neue" panose="02000503000000020004" pitchFamily="2" charset="0"/>
              </a:rPr>
            </a:br>
            <a:r>
              <a:rPr lang="en-US" sz="3000" dirty="0">
                <a:effectLst/>
                <a:latin typeface="Helvetica Neue" panose="02000503000000020004" pitchFamily="2" charset="0"/>
              </a:rPr>
              <a:t>   each one of you does but I see your</a:t>
            </a:r>
            <a:br>
              <a:rPr lang="en-US" sz="3000" dirty="0">
                <a:effectLst/>
                <a:latin typeface="Helvetica Neue" panose="02000503000000020004" pitchFamily="2" charset="0"/>
              </a:rPr>
            </a:br>
            <a:r>
              <a:rPr lang="en-US" sz="3000" dirty="0">
                <a:effectLst/>
                <a:latin typeface="Helvetica Neue" panose="02000503000000020004" pitchFamily="2" charset="0"/>
              </a:rPr>
              <a:t>   dedication to my community.</a:t>
            </a:r>
            <a:br>
              <a:rPr lang="en-US" sz="3000" dirty="0">
                <a:effectLst/>
                <a:latin typeface="Helvetica Neue" panose="02000503000000020004" pitchFamily="2" charset="0"/>
              </a:rPr>
            </a:br>
            <a:r>
              <a:rPr lang="en-US" sz="3000" dirty="0">
                <a:effectLst/>
                <a:latin typeface="Helvetica Neue" panose="02000503000000020004" pitchFamily="2" charset="0"/>
              </a:rPr>
              <a:t>   You are</a:t>
            </a:r>
            <a:r>
              <a:rPr lang="en-US" sz="3000" dirty="0">
                <a:latin typeface="Helvetica Neue" panose="02000503000000020004" pitchFamily="2" charset="0"/>
              </a:rPr>
              <a:t> </a:t>
            </a:r>
            <a:r>
              <a:rPr lang="en-US" sz="3000" dirty="0">
                <a:effectLst/>
                <a:latin typeface="Helvetica Neue" panose="02000503000000020004" pitchFamily="2" charset="0"/>
              </a:rPr>
              <a:t>a huge part of</a:t>
            </a:r>
            <a:r>
              <a:rPr lang="en-US" sz="3000" dirty="0">
                <a:latin typeface="Helvetica Neue" panose="02000503000000020004" pitchFamily="2" charset="0"/>
              </a:rPr>
              <a:t> </a:t>
            </a:r>
            <a:r>
              <a:rPr lang="en-US" sz="3000" dirty="0">
                <a:effectLst/>
                <a:latin typeface="Helvetica Neue" panose="02000503000000020004" pitchFamily="2" charset="0"/>
              </a:rPr>
              <a:t>why we, people</a:t>
            </a:r>
            <a:br>
              <a:rPr lang="en-US" sz="3000" dirty="0">
                <a:effectLst/>
                <a:latin typeface="Helvetica Neue" panose="02000503000000020004" pitchFamily="2" charset="0"/>
              </a:rPr>
            </a:br>
            <a:r>
              <a:rPr lang="en-US" sz="3000" dirty="0">
                <a:effectLst/>
                <a:latin typeface="Helvetica Neue" panose="02000503000000020004" pitchFamily="2" charset="0"/>
              </a:rPr>
              <a:t>   with</a:t>
            </a:r>
            <a:r>
              <a:rPr lang="en-US" sz="3000" dirty="0">
                <a:latin typeface="Helvetica Neue" panose="02000503000000020004" pitchFamily="2" charset="0"/>
              </a:rPr>
              <a:t> </a:t>
            </a:r>
            <a:r>
              <a:rPr lang="en-US" sz="3000" dirty="0">
                <a:effectLst/>
                <a:latin typeface="Helvetica Neue" panose="02000503000000020004" pitchFamily="2" charset="0"/>
              </a:rPr>
              <a:t>disabilities, are not</a:t>
            </a:r>
            <a:r>
              <a:rPr lang="en-US" sz="3000" dirty="0">
                <a:latin typeface="Helvetica Neue" panose="02000503000000020004" pitchFamily="2" charset="0"/>
              </a:rPr>
              <a:t> </a:t>
            </a:r>
            <a:r>
              <a:rPr lang="en-US" sz="3000" dirty="0">
                <a:effectLst/>
                <a:latin typeface="Helvetica Neue" panose="02000503000000020004" pitchFamily="2" charset="0"/>
              </a:rPr>
              <a:t>forgotten,</a:t>
            </a:r>
          </a:p>
          <a:p>
            <a:pPr marL="0" indent="-91440">
              <a:lnSpc>
                <a:spcPct val="100000"/>
              </a:lnSpc>
              <a:spcBef>
                <a:spcPts val="0"/>
              </a:spcBef>
              <a:buNone/>
            </a:pPr>
            <a:r>
              <a:rPr lang="en-US" sz="3000" dirty="0">
                <a:latin typeface="Helvetica Neue" panose="02000503000000020004" pitchFamily="2" charset="0"/>
              </a:rPr>
              <a:t>   </a:t>
            </a:r>
            <a:r>
              <a:rPr lang="en-US" sz="3000" dirty="0">
                <a:effectLst/>
                <a:latin typeface="Helvetica Neue" panose="02000503000000020004" pitchFamily="2" charset="0"/>
              </a:rPr>
              <a:t>overlooked and made invisible.</a:t>
            </a:r>
            <a:br>
              <a:rPr lang="en-US" sz="3000" dirty="0">
                <a:effectLst/>
                <a:latin typeface="Helvetica Neue" panose="02000503000000020004" pitchFamily="2" charset="0"/>
              </a:rPr>
            </a:br>
            <a:r>
              <a:rPr lang="en-US" sz="3000" dirty="0">
                <a:effectLst/>
                <a:latin typeface="Helvetica Neue" panose="02000503000000020004" pitchFamily="2" charset="0"/>
              </a:rPr>
              <a:t>   You support our efforts to hold a</a:t>
            </a:r>
            <a:br>
              <a:rPr lang="en-US" sz="3000" dirty="0">
                <a:effectLst/>
                <a:latin typeface="Helvetica Neue" panose="02000503000000020004" pitchFamily="2" charset="0"/>
              </a:rPr>
            </a:br>
            <a:r>
              <a:rPr lang="en-US" sz="3000" dirty="0">
                <a:effectLst/>
                <a:latin typeface="Helvetica Neue" panose="02000503000000020004" pitchFamily="2" charset="0"/>
              </a:rPr>
              <a:t>   productive place in society.”</a:t>
            </a:r>
          </a:p>
          <a:p>
            <a:endParaRPr lang="en-US" sz="2200" dirty="0"/>
          </a:p>
        </p:txBody>
      </p:sp>
      <p:sp>
        <p:nvSpPr>
          <p:cNvPr id="4" name="Slide Number Placeholder 3">
            <a:extLst>
              <a:ext uri="{FF2B5EF4-FFF2-40B4-BE49-F238E27FC236}">
                <a16:creationId xmlns:a16="http://schemas.microsoft.com/office/drawing/2014/main" id="{00C8D1DF-12BC-22C9-A7DC-20570A04F683}"/>
              </a:ext>
            </a:extLst>
          </p:cNvPr>
          <p:cNvSpPr>
            <a:spLocks noGrp="1"/>
          </p:cNvSpPr>
          <p:nvPr>
            <p:ph type="sldNum" sz="quarter" idx="12"/>
          </p:nvPr>
        </p:nvSpPr>
        <p:spPr>
          <a:xfrm>
            <a:off x="9241221" y="6441965"/>
            <a:ext cx="2743200" cy="365125"/>
          </a:xfrm>
        </p:spPr>
        <p:txBody>
          <a:bodyPr/>
          <a:lstStyle/>
          <a:p>
            <a:fld id="{98DEB4AB-D614-0E48-BC82-3517EAEB4A4F}" type="slidenum">
              <a:rPr lang="en-US" sz="1400" smtClean="0">
                <a:solidFill>
                  <a:schemeClr val="tx1"/>
                </a:solidFill>
              </a:rPr>
              <a:t>3</a:t>
            </a:fld>
            <a:endParaRPr lang="en-US" sz="1400" dirty="0">
              <a:solidFill>
                <a:schemeClr val="tx1"/>
              </a:solidFill>
            </a:endParaRPr>
          </a:p>
        </p:txBody>
      </p:sp>
    </p:spTree>
    <p:extLst>
      <p:ext uri="{BB962C8B-B14F-4D97-AF65-F5344CB8AC3E}">
        <p14:creationId xmlns:p14="http://schemas.microsoft.com/office/powerpoint/2010/main" val="1768969865"/>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6AEA8-94BD-1D16-45FD-1230310C6596}"/>
              </a:ext>
            </a:extLst>
          </p:cNvPr>
          <p:cNvSpPr>
            <a:spLocks noGrp="1"/>
          </p:cNvSpPr>
          <p:nvPr>
            <p:ph type="title"/>
          </p:nvPr>
        </p:nvSpPr>
        <p:spPr/>
        <p:txBody>
          <a:bodyPr/>
          <a:lstStyle/>
          <a:p>
            <a:r>
              <a:rPr lang="en-US" dirty="0"/>
              <a:t>History Lesson</a:t>
            </a:r>
          </a:p>
        </p:txBody>
      </p:sp>
      <p:sp>
        <p:nvSpPr>
          <p:cNvPr id="4" name="Slide Number Placeholder 3">
            <a:extLst>
              <a:ext uri="{FF2B5EF4-FFF2-40B4-BE49-F238E27FC236}">
                <a16:creationId xmlns:a16="http://schemas.microsoft.com/office/drawing/2014/main" id="{6692529C-1C1D-B74F-888A-748F4F37536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3426DC-C502-4B46-A878-9D43EE259E4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45789D8D-5273-D957-ABC4-A8F087E86FA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 y="1"/>
            <a:ext cx="12192001" cy="6858000"/>
          </a:xfrm>
          <a:prstGeom prst="rect">
            <a:avLst/>
          </a:prstGeom>
        </p:spPr>
      </p:pic>
    </p:spTree>
    <p:extLst>
      <p:ext uri="{BB962C8B-B14F-4D97-AF65-F5344CB8AC3E}">
        <p14:creationId xmlns:p14="http://schemas.microsoft.com/office/powerpoint/2010/main" val="1765399807"/>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813F4-51C0-E4E3-8026-F4C92D01D2CE}"/>
              </a:ext>
            </a:extLst>
          </p:cNvPr>
          <p:cNvSpPr>
            <a:spLocks noGrp="1"/>
          </p:cNvSpPr>
          <p:nvPr>
            <p:ph type="title"/>
          </p:nvPr>
        </p:nvSpPr>
        <p:spPr>
          <a:xfrm>
            <a:off x="1905000" y="533400"/>
            <a:ext cx="8153400" cy="1447800"/>
          </a:xfrm>
          <a:scene3d>
            <a:camera prst="orthographicFront"/>
            <a:lightRig rig="threePt" dir="t"/>
          </a:scene3d>
          <a:sp3d>
            <a:bevelT w="101600" prst="riblet"/>
          </a:sp3d>
          <a:extLst>
            <a:ext uri="{FAA26D3D-D897-4be2-8F04-BA451C77F1D7}">
              <ma14:placeholderFlag xmlns:ma14="http://schemas.microsoft.com/office/mac/drawingml/2011/main" xmlns="" val="1"/>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3600" dirty="0">
                <a:solidFill>
                  <a:schemeClr val="bg1"/>
                </a:solidFill>
                <a:effectLst>
                  <a:outerShdw blurRad="38100" dist="38100" dir="2700000" algn="tl">
                    <a:srgbClr val="C0C0C0"/>
                  </a:outerShdw>
                </a:effectLst>
                <a:latin typeface="Calibri" panose="020F0502020204030204" pitchFamily="34" charset="0"/>
                <a:ea typeface="Osaka" panose="020B0600000000000000" pitchFamily="34" charset="-128"/>
                <a:cs typeface="Calibri" panose="020F0502020204030204" pitchFamily="34" charset="0"/>
              </a:rPr>
              <a:t>Going Back in Time</a:t>
            </a:r>
            <a:br>
              <a:rPr lang="en-US" altLang="en-US" sz="3600" dirty="0">
                <a:solidFill>
                  <a:schemeClr val="bg1"/>
                </a:solidFill>
                <a:effectLst>
                  <a:outerShdw blurRad="38100" dist="38100" dir="2700000" algn="tl">
                    <a:srgbClr val="C0C0C0"/>
                  </a:outerShdw>
                </a:effectLst>
                <a:latin typeface="Calibri" panose="020F0502020204030204" pitchFamily="34" charset="0"/>
                <a:ea typeface="Osaka" panose="020B0600000000000000" pitchFamily="34" charset="-128"/>
                <a:cs typeface="Calibri" panose="020F0502020204030204" pitchFamily="34" charset="0"/>
              </a:rPr>
            </a:br>
            <a:r>
              <a:rPr lang="en-US" altLang="en-US" sz="3600" i="0" dirty="0">
                <a:solidFill>
                  <a:schemeClr val="bg1"/>
                </a:solidFill>
                <a:effectLst>
                  <a:outerShdw blurRad="38100" dist="38100" dir="2700000" algn="tl">
                    <a:srgbClr val="C0C0C0"/>
                  </a:outerShdw>
                </a:effectLst>
                <a:latin typeface="Calibri" panose="020F0502020204030204" pitchFamily="34" charset="0"/>
                <a:ea typeface="Osaka" panose="020B0600000000000000" pitchFamily="34" charset="-128"/>
                <a:cs typeface="Calibri" panose="020F0502020204030204" pitchFamily="34" charset="0"/>
              </a:rPr>
              <a:t>The Roots of Our Employment System</a:t>
            </a:r>
          </a:p>
        </p:txBody>
      </p:sp>
      <p:pic>
        <p:nvPicPr>
          <p:cNvPr id="17" name="Picture 16">
            <a:extLst>
              <a:ext uri="{FF2B5EF4-FFF2-40B4-BE49-F238E27FC236}">
                <a16:creationId xmlns:a16="http://schemas.microsoft.com/office/drawing/2014/main" id="{4629B4E0-D89F-6D36-71B1-6F3B5F48FCA7}"/>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77450" y="3850641"/>
            <a:ext cx="3841283" cy="2162500"/>
          </a:xfrm>
          <a:prstGeom prst="rect">
            <a:avLst/>
          </a:prstGeom>
        </p:spPr>
      </p:pic>
      <p:sp>
        <p:nvSpPr>
          <p:cNvPr id="18" name="TextBox 17">
            <a:extLst>
              <a:ext uri="{FF2B5EF4-FFF2-40B4-BE49-F238E27FC236}">
                <a16:creationId xmlns:a16="http://schemas.microsoft.com/office/drawing/2014/main" id="{D453B5FC-6299-BDBF-729A-C85768D1ED33}"/>
              </a:ext>
            </a:extLst>
          </p:cNvPr>
          <p:cNvSpPr txBox="1"/>
          <p:nvPr/>
        </p:nvSpPr>
        <p:spPr>
          <a:xfrm>
            <a:off x="30247" y="6325695"/>
            <a:ext cx="7772400" cy="230832"/>
          </a:xfrm>
          <a:prstGeom prst="rect">
            <a:avLst/>
          </a:prstGeom>
          <a:noFill/>
        </p:spPr>
        <p:txBody>
          <a:bodyPr wrap="square" rtlCol="0">
            <a:spAutoFit/>
          </a:bodyPr>
          <a:lstStyle/>
          <a:p>
            <a:r>
              <a:rPr lang="en-US" sz="900" dirty="0">
                <a:hlinkClick r:id="rId3" tooltip="https://www.comicbookdaily.com/tag/nostalgia-cycle/"/>
              </a:rPr>
              <a:t>This Photo</a:t>
            </a:r>
            <a:r>
              <a:rPr lang="en-US" sz="900" dirty="0"/>
              <a:t> by Unknown Author is licensed under </a:t>
            </a:r>
            <a:r>
              <a:rPr lang="en-US" sz="900" dirty="0">
                <a:hlinkClick r:id="rId4" tooltip="https://creativecommons.org/licenses/by-nc-nd/3.0/"/>
              </a:rPr>
              <a:t>CC BY-NC-ND</a:t>
            </a:r>
            <a:endParaRPr lang="en-US" sz="900" dirty="0"/>
          </a:p>
        </p:txBody>
      </p:sp>
      <p:pic>
        <p:nvPicPr>
          <p:cNvPr id="11" name="Picture 10">
            <a:extLst>
              <a:ext uri="{FF2B5EF4-FFF2-40B4-BE49-F238E27FC236}">
                <a16:creationId xmlns:a16="http://schemas.microsoft.com/office/drawing/2014/main" id="{60751328-2FAB-878E-1ECA-F9D7F2E3A8B9}"/>
              </a:ext>
              <a:ext uri="{C183D7F6-B498-43B3-948B-1728B52AA6E4}">
                <adec:decorative xmlns:adec="http://schemas.microsoft.com/office/drawing/2017/decorative" val="1"/>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4263372" y="2168332"/>
            <a:ext cx="3665255" cy="2162500"/>
          </a:xfrm>
          <a:prstGeom prst="rect">
            <a:avLst/>
          </a:prstGeom>
        </p:spPr>
      </p:pic>
      <p:sp>
        <p:nvSpPr>
          <p:cNvPr id="12" name="TextBox 11">
            <a:extLst>
              <a:ext uri="{FF2B5EF4-FFF2-40B4-BE49-F238E27FC236}">
                <a16:creationId xmlns:a16="http://schemas.microsoft.com/office/drawing/2014/main" id="{4721C55A-1B5F-8BA5-F9C3-8206EADAAF1A}"/>
              </a:ext>
            </a:extLst>
          </p:cNvPr>
          <p:cNvSpPr txBox="1"/>
          <p:nvPr/>
        </p:nvSpPr>
        <p:spPr>
          <a:xfrm>
            <a:off x="4488543" y="6343530"/>
            <a:ext cx="3214914" cy="230832"/>
          </a:xfrm>
          <a:prstGeom prst="rect">
            <a:avLst/>
          </a:prstGeom>
          <a:noFill/>
        </p:spPr>
        <p:txBody>
          <a:bodyPr wrap="square" rtlCol="0">
            <a:spAutoFit/>
          </a:bodyPr>
          <a:lstStyle/>
          <a:p>
            <a:r>
              <a:rPr lang="en-US" sz="900" dirty="0">
                <a:hlinkClick r:id="rId6" tooltip="http://www.teinteresasaber.com/2013/11/delorean-dmc-12-el-vehiculo-con-alas-de.html"/>
              </a:rPr>
              <a:t>This Photo</a:t>
            </a:r>
            <a:r>
              <a:rPr lang="en-US" sz="900" dirty="0"/>
              <a:t> by Unknown Author is licensed under </a:t>
            </a:r>
            <a:r>
              <a:rPr lang="en-US" sz="900" dirty="0">
                <a:hlinkClick r:id="rId7" tooltip="https://creativecommons.org/licenses/by/3.0/"/>
              </a:rPr>
              <a:t>CC BY</a:t>
            </a:r>
            <a:endParaRPr lang="en-US" sz="900" dirty="0"/>
          </a:p>
        </p:txBody>
      </p:sp>
      <p:pic>
        <p:nvPicPr>
          <p:cNvPr id="6" name="Picture 5">
            <a:extLst>
              <a:ext uri="{FF2B5EF4-FFF2-40B4-BE49-F238E27FC236}">
                <a16:creationId xmlns:a16="http://schemas.microsoft.com/office/drawing/2014/main" id="{A71231F5-5E13-4582-B351-91A3EA750426}"/>
              </a:ext>
              <a:ext uri="{C183D7F6-B498-43B3-948B-1728B52AA6E4}">
                <adec:decorative xmlns:adec="http://schemas.microsoft.com/office/drawing/2017/decorative" val="1"/>
              </a:ext>
            </a:extLst>
          </p:cNvPr>
          <p:cNvPicPr>
            <a:picLocks noChangeAspect="1"/>
          </p:cNvPicPr>
          <p:nvPr/>
        </p:nvPicPr>
        <p:blipFill>
          <a:blip r:embed="rId8">
            <a:extLst>
              <a:ext uri="{837473B0-CC2E-450A-ABE3-18F120FF3D39}">
                <a1611:picAttrSrcUrl xmlns:a1611="http://schemas.microsoft.com/office/drawing/2016/11/main" r:id="rId9"/>
              </a:ext>
            </a:extLst>
          </a:blip>
          <a:stretch>
            <a:fillRect/>
          </a:stretch>
        </p:blipFill>
        <p:spPr>
          <a:xfrm>
            <a:off x="8339663" y="3601958"/>
            <a:ext cx="3437474" cy="2236649"/>
          </a:xfrm>
          <a:prstGeom prst="rect">
            <a:avLst/>
          </a:prstGeom>
        </p:spPr>
      </p:pic>
      <p:sp>
        <p:nvSpPr>
          <p:cNvPr id="7" name="TextBox 6">
            <a:extLst>
              <a:ext uri="{FF2B5EF4-FFF2-40B4-BE49-F238E27FC236}">
                <a16:creationId xmlns:a16="http://schemas.microsoft.com/office/drawing/2014/main" id="{10D42F4F-1C55-1A67-08F2-815BC1E9AB61}"/>
              </a:ext>
            </a:extLst>
          </p:cNvPr>
          <p:cNvSpPr txBox="1"/>
          <p:nvPr/>
        </p:nvSpPr>
        <p:spPr>
          <a:xfrm>
            <a:off x="8075846" y="6343530"/>
            <a:ext cx="3437474" cy="230832"/>
          </a:xfrm>
          <a:prstGeom prst="rect">
            <a:avLst/>
          </a:prstGeom>
          <a:noFill/>
        </p:spPr>
        <p:txBody>
          <a:bodyPr wrap="square" rtlCol="0">
            <a:spAutoFit/>
          </a:bodyPr>
          <a:lstStyle/>
          <a:p>
            <a:r>
              <a:rPr lang="en-US" sz="900" dirty="0">
                <a:hlinkClick r:id="rId9" tooltip="https://myjourneywithdepression.wordpress.com/tag/random/page/5/"/>
              </a:rPr>
              <a:t>This Photo</a:t>
            </a:r>
            <a:r>
              <a:rPr lang="en-US" sz="900" dirty="0"/>
              <a:t> by Unknown Author is licensed under </a:t>
            </a:r>
            <a:r>
              <a:rPr lang="en-US" sz="900" dirty="0">
                <a:hlinkClick r:id="rId10" tooltip="https://creativecommons.org/licenses/by-nd/3.0/"/>
              </a:rPr>
              <a:t>CC BY-ND</a:t>
            </a:r>
            <a:endParaRPr lang="en-US" sz="900" dirty="0"/>
          </a:p>
        </p:txBody>
      </p:sp>
      <p:sp>
        <p:nvSpPr>
          <p:cNvPr id="3" name="TextBox 2">
            <a:extLst>
              <a:ext uri="{FF2B5EF4-FFF2-40B4-BE49-F238E27FC236}">
                <a16:creationId xmlns:a16="http://schemas.microsoft.com/office/drawing/2014/main" id="{03BC1967-21F0-53E6-39CB-6554F1C0009D}"/>
              </a:ext>
            </a:extLst>
          </p:cNvPr>
          <p:cNvSpPr txBox="1"/>
          <p:nvPr/>
        </p:nvSpPr>
        <p:spPr>
          <a:xfrm>
            <a:off x="11786519" y="6574362"/>
            <a:ext cx="394901" cy="307777"/>
          </a:xfrm>
          <a:prstGeom prst="rect">
            <a:avLst/>
          </a:prstGeom>
          <a:noFill/>
        </p:spPr>
        <p:txBody>
          <a:bodyPr wrap="square" rtlCol="0">
            <a:spAutoFit/>
          </a:bodyPr>
          <a:lstStyle/>
          <a:p>
            <a:r>
              <a:rPr lang="en-US" sz="1400" dirty="0">
                <a:solidFill>
                  <a:schemeClr val="bg1"/>
                </a:solidFill>
              </a:rPr>
              <a:t>6</a:t>
            </a: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E246E1B-6487-BA6F-9234-E822D329E7EC}"/>
              </a:ext>
            </a:extLst>
          </p:cNvPr>
          <p:cNvSpPr>
            <a:spLocks noGrp="1"/>
          </p:cNvSpPr>
          <p:nvPr>
            <p:ph type="title"/>
          </p:nvPr>
        </p:nvSpPr>
        <p:spPr>
          <a:xfrm>
            <a:off x="1723572" y="341784"/>
            <a:ext cx="3810000" cy="3048000"/>
          </a:xfrm>
          <a:scene3d>
            <a:camera prst="orthographicFront"/>
            <a:lightRig rig="threePt" dir="t"/>
          </a:scene3d>
          <a:sp3d>
            <a:bevelT w="139700" h="139700" prst="divot"/>
          </a:sp3d>
          <a:extLst>
            <a:ext uri="{FAA26D3D-D897-4be2-8F04-BA451C77F1D7}">
              <ma14:placeholderFlag xmlns:ma14="http://schemas.microsoft.com/office/mac/drawingml/2011/main" xmlns="" val="1"/>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4000" i="0" dirty="0">
                <a:solidFill>
                  <a:schemeClr val="bg1"/>
                </a:solidFill>
                <a:effectLst>
                  <a:outerShdw blurRad="38100" dist="38100" dir="2700000" algn="tl">
                    <a:srgbClr val="C0C0C0"/>
                  </a:outerShdw>
                </a:effectLst>
                <a:latin typeface="Cambria" panose="02040503050406030204" pitchFamily="18" charset="0"/>
                <a:ea typeface="Osaka" panose="020B0600000000000000" pitchFamily="34" charset="-128"/>
              </a:rPr>
              <a:t>1601</a:t>
            </a:r>
            <a:br>
              <a:rPr lang="en-US" altLang="en-US" sz="4000" dirty="0">
                <a:solidFill>
                  <a:schemeClr val="bg1"/>
                </a:solidFill>
                <a:effectLst>
                  <a:outerShdw blurRad="38100" dist="38100" dir="2700000" algn="tl">
                    <a:srgbClr val="C0C0C0"/>
                  </a:outerShdw>
                </a:effectLst>
                <a:latin typeface="Cambria" panose="02040503050406030204" pitchFamily="18" charset="0"/>
                <a:ea typeface="Osaka" panose="020B0600000000000000" pitchFamily="34" charset="-128"/>
              </a:rPr>
            </a:br>
            <a:r>
              <a:rPr lang="en-US" altLang="en-US" sz="4000" dirty="0">
                <a:solidFill>
                  <a:schemeClr val="bg1"/>
                </a:solidFill>
                <a:effectLst>
                  <a:outerShdw blurRad="38100" dist="38100" dir="2700000" algn="tl">
                    <a:srgbClr val="C0C0C0"/>
                  </a:outerShdw>
                </a:effectLst>
                <a:latin typeface="Cambria" panose="02040503050406030204" pitchFamily="18" charset="0"/>
                <a:ea typeface="Osaka" panose="020B0600000000000000" pitchFamily="34" charset="-128"/>
              </a:rPr>
              <a:t>Elizabethan</a:t>
            </a:r>
            <a:br>
              <a:rPr lang="en-US" altLang="en-US" sz="4000" dirty="0">
                <a:solidFill>
                  <a:schemeClr val="bg1"/>
                </a:solidFill>
                <a:effectLst>
                  <a:outerShdw blurRad="38100" dist="38100" dir="2700000" algn="tl">
                    <a:srgbClr val="C0C0C0"/>
                  </a:outerShdw>
                </a:effectLst>
                <a:latin typeface="Cambria" panose="02040503050406030204" pitchFamily="18" charset="0"/>
                <a:ea typeface="Osaka" panose="020B0600000000000000" pitchFamily="34" charset="-128"/>
              </a:rPr>
            </a:br>
            <a:r>
              <a:rPr lang="en-US" altLang="en-US" sz="4000" dirty="0">
                <a:solidFill>
                  <a:schemeClr val="bg1"/>
                </a:solidFill>
                <a:effectLst>
                  <a:outerShdw blurRad="38100" dist="38100" dir="2700000" algn="tl">
                    <a:srgbClr val="C0C0C0"/>
                  </a:outerShdw>
                </a:effectLst>
                <a:latin typeface="Cambria" panose="02040503050406030204" pitchFamily="18" charset="0"/>
                <a:ea typeface="Osaka" panose="020B0600000000000000" pitchFamily="34" charset="-128"/>
              </a:rPr>
              <a:t>Poor Laws</a:t>
            </a:r>
          </a:p>
        </p:txBody>
      </p:sp>
      <p:pic>
        <p:nvPicPr>
          <p:cNvPr id="7" name="Picture 6">
            <a:extLst>
              <a:ext uri="{FF2B5EF4-FFF2-40B4-BE49-F238E27FC236}">
                <a16:creationId xmlns:a16="http://schemas.microsoft.com/office/drawing/2014/main" id="{12061663-48FD-68B1-F835-DC2911685F29}"/>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2588986" y="3516741"/>
            <a:ext cx="2079171" cy="2641686"/>
          </a:xfrm>
          <a:prstGeom prst="rect">
            <a:avLst/>
          </a:prstGeom>
        </p:spPr>
      </p:pic>
      <p:sp>
        <p:nvSpPr>
          <p:cNvPr id="3" name="Content Placeholder 2">
            <a:extLst>
              <a:ext uri="{FF2B5EF4-FFF2-40B4-BE49-F238E27FC236}">
                <a16:creationId xmlns:a16="http://schemas.microsoft.com/office/drawing/2014/main" id="{2224A9C6-86FA-2474-6355-ECF86FE651F6}"/>
              </a:ext>
            </a:extLst>
          </p:cNvPr>
          <p:cNvSpPr>
            <a:spLocks noGrp="1"/>
          </p:cNvSpPr>
          <p:nvPr>
            <p:ph idx="1"/>
          </p:nvPr>
        </p:nvSpPr>
        <p:spPr>
          <a:xfrm>
            <a:off x="5791200" y="1066800"/>
            <a:ext cx="4495800" cy="5029200"/>
          </a:xfrm>
        </p:spPr>
        <p:txBody>
          <a:bodyPr/>
          <a:lstStyle/>
          <a:p>
            <a:r>
              <a:rPr lang="en-US" altLang="en-US" sz="2800" dirty="0">
                <a:latin typeface="Calibri" panose="020F0502020204030204" pitchFamily="34" charset="0"/>
              </a:rPr>
              <a:t>Enacted to aid </a:t>
            </a:r>
            <a:br>
              <a:rPr lang="en-US" altLang="en-US" sz="2800" dirty="0">
                <a:latin typeface="Calibri" panose="020F0502020204030204" pitchFamily="34" charset="0"/>
              </a:rPr>
            </a:br>
            <a:r>
              <a:rPr lang="en-US" altLang="en-US" sz="2800" dirty="0">
                <a:latin typeface="Calibri" panose="020F0502020204030204" pitchFamily="34" charset="0"/>
              </a:rPr>
              <a:t>“deserving poor, orphaned, and crippled”</a:t>
            </a:r>
            <a:br>
              <a:rPr lang="en-US" altLang="en-US" sz="2800" dirty="0">
                <a:latin typeface="Calibri" panose="020F0502020204030204" pitchFamily="34" charset="0"/>
              </a:rPr>
            </a:br>
            <a:r>
              <a:rPr lang="en-US" altLang="en-US" sz="2800" dirty="0">
                <a:latin typeface="Calibri" panose="020F0502020204030204" pitchFamily="34" charset="0"/>
              </a:rPr>
              <a:t> </a:t>
            </a:r>
          </a:p>
          <a:p>
            <a:r>
              <a:rPr lang="en-US" altLang="en-US" sz="2800" dirty="0">
                <a:latin typeface="Calibri" panose="020F0502020204030204" pitchFamily="34" charset="0"/>
              </a:rPr>
              <a:t>Persons with disabilities labeled as “helpless poor” entitled to money and food from society, paid for through a tax on land owners </a:t>
            </a:r>
          </a:p>
        </p:txBody>
      </p:sp>
      <p:sp>
        <p:nvSpPr>
          <p:cNvPr id="8" name="TextBox 7">
            <a:extLst>
              <a:ext uri="{FF2B5EF4-FFF2-40B4-BE49-F238E27FC236}">
                <a16:creationId xmlns:a16="http://schemas.microsoft.com/office/drawing/2014/main" id="{660030D1-8A3E-6602-50FF-BAF5D5D30825}"/>
              </a:ext>
            </a:extLst>
          </p:cNvPr>
          <p:cNvSpPr txBox="1"/>
          <p:nvPr/>
        </p:nvSpPr>
        <p:spPr>
          <a:xfrm>
            <a:off x="2082800" y="6285384"/>
            <a:ext cx="3708400" cy="230832"/>
          </a:xfrm>
          <a:prstGeom prst="rect">
            <a:avLst/>
          </a:prstGeom>
          <a:noFill/>
        </p:spPr>
        <p:txBody>
          <a:bodyPr wrap="square" rtlCol="0">
            <a:spAutoFit/>
          </a:bodyPr>
          <a:lstStyle/>
          <a:p>
            <a:r>
              <a:rPr lang="en-US" sz="900">
                <a:hlinkClick r:id="rId3" tooltip="https://beingbess.blogspot.com/2012/04/"/>
              </a:rPr>
              <a:t>This Photo</a:t>
            </a:r>
            <a:r>
              <a:rPr lang="en-US" sz="900"/>
              <a:t> by Unknown Author is licensed under </a:t>
            </a:r>
            <a:r>
              <a:rPr lang="en-US" sz="900">
                <a:hlinkClick r:id="rId4" tooltip="https://creativecommons.org/licenses/by-nc-nd/3.0/"/>
              </a:rPr>
              <a:t>CC BY-NC-ND</a:t>
            </a:r>
            <a:endParaRPr lang="en-US" sz="900"/>
          </a:p>
        </p:txBody>
      </p:sp>
      <p:sp>
        <p:nvSpPr>
          <p:cNvPr id="2" name="TextBox 1">
            <a:extLst>
              <a:ext uri="{FF2B5EF4-FFF2-40B4-BE49-F238E27FC236}">
                <a16:creationId xmlns:a16="http://schemas.microsoft.com/office/drawing/2014/main" id="{2EE6DAD4-4A12-8B45-4E3E-EA87ADA57C26}"/>
              </a:ext>
            </a:extLst>
          </p:cNvPr>
          <p:cNvSpPr txBox="1"/>
          <p:nvPr/>
        </p:nvSpPr>
        <p:spPr>
          <a:xfrm>
            <a:off x="11786519" y="6574362"/>
            <a:ext cx="394901" cy="307777"/>
          </a:xfrm>
          <a:prstGeom prst="rect">
            <a:avLst/>
          </a:prstGeom>
          <a:noFill/>
        </p:spPr>
        <p:txBody>
          <a:bodyPr wrap="square" rtlCol="0">
            <a:spAutoFit/>
          </a:bodyPr>
          <a:lstStyle/>
          <a:p>
            <a:r>
              <a:rPr lang="en-US" sz="1400" dirty="0">
                <a:solidFill>
                  <a:schemeClr val="bg1"/>
                </a:solidFill>
              </a:rPr>
              <a:t>7</a:t>
            </a: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C7D1FD-1D7C-C7FB-A5B8-03FBC9449BEE}"/>
              </a:ext>
            </a:extLst>
          </p:cNvPr>
          <p:cNvSpPr>
            <a:spLocks noGrp="1"/>
          </p:cNvSpPr>
          <p:nvPr>
            <p:ph type="title"/>
          </p:nvPr>
        </p:nvSpPr>
        <p:spPr>
          <a:xfrm>
            <a:off x="1071880" y="279400"/>
            <a:ext cx="9718040" cy="1981200"/>
          </a:xfrm>
          <a:scene3d>
            <a:camera prst="orthographicFront"/>
            <a:lightRig rig="threePt" dir="t"/>
          </a:scene3d>
          <a:sp3d>
            <a:bevelT w="139700" h="139700" prst="divot"/>
          </a:sp3d>
          <a:extLst>
            <a:ext uri="{FAA26D3D-D897-4be2-8F04-BA451C77F1D7}">
              <ma14:placeholderFlag xmlns:ma14="http://schemas.microsoft.com/office/mac/drawingml/2011/main" xmlns="" val="1"/>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4000" i="0" dirty="0">
                <a:solidFill>
                  <a:schemeClr val="bg1"/>
                </a:solidFill>
                <a:effectLst>
                  <a:outerShdw blurRad="38100" dist="38100" dir="2700000" algn="tl">
                    <a:srgbClr val="C0C0C0"/>
                  </a:outerShdw>
                </a:effectLst>
                <a:latin typeface="Cambria" panose="02040503050406030204" pitchFamily="18" charset="0"/>
                <a:ea typeface="Osaka" panose="020B0600000000000000" pitchFamily="34" charset="-128"/>
              </a:rPr>
              <a:t>1750</a:t>
            </a:r>
            <a:br>
              <a:rPr lang="en-US" altLang="en-US" sz="4000" dirty="0">
                <a:solidFill>
                  <a:schemeClr val="bg1"/>
                </a:solidFill>
                <a:effectLst>
                  <a:outerShdw blurRad="38100" dist="38100" dir="2700000" algn="tl">
                    <a:srgbClr val="C0C0C0"/>
                  </a:outerShdw>
                </a:effectLst>
                <a:latin typeface="Cambria" panose="02040503050406030204" pitchFamily="18" charset="0"/>
                <a:ea typeface="Osaka" panose="020B0600000000000000" pitchFamily="34" charset="-128"/>
              </a:rPr>
            </a:br>
            <a:r>
              <a:rPr lang="en-US" altLang="en-US" sz="4000" dirty="0">
                <a:solidFill>
                  <a:schemeClr val="bg1"/>
                </a:solidFill>
                <a:effectLst>
                  <a:outerShdw blurRad="38100" dist="38100" dir="2700000" algn="tl">
                    <a:srgbClr val="C0C0C0"/>
                  </a:outerShdw>
                </a:effectLst>
                <a:latin typeface="Cambria" panose="02040503050406030204" pitchFamily="18" charset="0"/>
                <a:ea typeface="Osaka" panose="020B0600000000000000" pitchFamily="34" charset="-128"/>
              </a:rPr>
              <a:t>Act Passed by New England Colony of Connecticut</a:t>
            </a:r>
          </a:p>
        </p:txBody>
      </p:sp>
      <p:sp>
        <p:nvSpPr>
          <p:cNvPr id="3" name="Content Placeholder 2">
            <a:extLst>
              <a:ext uri="{FF2B5EF4-FFF2-40B4-BE49-F238E27FC236}">
                <a16:creationId xmlns:a16="http://schemas.microsoft.com/office/drawing/2014/main" id="{A294D05B-458E-0E0E-FC18-E7238585F13D}"/>
              </a:ext>
            </a:extLst>
          </p:cNvPr>
          <p:cNvSpPr>
            <a:spLocks noGrp="1"/>
          </p:cNvSpPr>
          <p:nvPr>
            <p:ph idx="1"/>
          </p:nvPr>
        </p:nvSpPr>
        <p:spPr>
          <a:xfrm>
            <a:off x="1586864" y="2616200"/>
            <a:ext cx="6040120" cy="3581400"/>
          </a:xfrm>
        </p:spPr>
        <p:txBody>
          <a:bodyPr/>
          <a:lstStyle/>
          <a:p>
            <a:pPr>
              <a:defRPr/>
            </a:pPr>
            <a:r>
              <a:rPr lang="en-US" dirty="0"/>
              <a:t>Persons with disabilities should be cared for by their closest relative.</a:t>
            </a:r>
          </a:p>
          <a:p>
            <a:pPr>
              <a:defRPr/>
            </a:pPr>
            <a:r>
              <a:rPr lang="en-US" dirty="0"/>
              <a:t>If such a person had no relative then the town or the colony itself took direct responsibility.</a:t>
            </a:r>
          </a:p>
        </p:txBody>
      </p:sp>
      <p:pic>
        <p:nvPicPr>
          <p:cNvPr id="32773" name="Picture 1">
            <a:extLst>
              <a:ext uri="{FF2B5EF4-FFF2-40B4-BE49-F238E27FC236}">
                <a16:creationId xmlns:a16="http://schemas.microsoft.com/office/drawing/2014/main" id="{CBEE4AB5-18DE-61A2-28DA-A671361C869C}"/>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8569961" y="2667000"/>
            <a:ext cx="203517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89A22866-0250-3A4C-5115-7554E6FB6032}"/>
              </a:ext>
            </a:extLst>
          </p:cNvPr>
          <p:cNvSpPr txBox="1"/>
          <p:nvPr/>
        </p:nvSpPr>
        <p:spPr>
          <a:xfrm>
            <a:off x="11786519" y="6574362"/>
            <a:ext cx="394901" cy="307777"/>
          </a:xfrm>
          <a:prstGeom prst="rect">
            <a:avLst/>
          </a:prstGeom>
          <a:noFill/>
        </p:spPr>
        <p:txBody>
          <a:bodyPr wrap="square" rtlCol="0">
            <a:spAutoFit/>
          </a:bodyPr>
          <a:lstStyle/>
          <a:p>
            <a:r>
              <a:rPr lang="en-US" sz="1400" dirty="0">
                <a:solidFill>
                  <a:schemeClr val="bg1"/>
                </a:solidFill>
              </a:rPr>
              <a:t>8</a:t>
            </a: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145AD-EC2E-40CB-5491-8D3AE9E53F7F}"/>
              </a:ext>
            </a:extLst>
          </p:cNvPr>
          <p:cNvSpPr>
            <a:spLocks noGrp="1"/>
          </p:cNvSpPr>
          <p:nvPr>
            <p:ph type="title"/>
          </p:nvPr>
        </p:nvSpPr>
        <p:spPr>
          <a:xfrm>
            <a:off x="1524000" y="990600"/>
            <a:ext cx="5638800" cy="1143000"/>
          </a:xfrm>
          <a:scene3d>
            <a:camera prst="isometricOffAxis1Right"/>
            <a:lightRig rig="threePt" dir="t"/>
          </a:scene3d>
          <a:sp3d>
            <a:bevelT w="139700" h="139700" prst="divot"/>
          </a:sp3d>
          <a:extLst>
            <a:ext uri="{FAA26D3D-D897-4be2-8F04-BA451C77F1D7}">
              <ma14:placeholderFlag xmlns:ma14="http://schemas.microsoft.com/office/mac/drawingml/2011/main" xmlns="" val="1"/>
            </a:ext>
          </a:extLst>
        </p:spPr>
        <p:txBody>
          <a:bodyPr/>
          <a:lstStyle/>
          <a:p>
            <a:pPr>
              <a:defRPr/>
            </a:pPr>
            <a:r>
              <a:rPr lang="en-US" sz="4800" dirty="0">
                <a:latin typeface="Calibri"/>
                <a:cs typeface="Calibri"/>
              </a:rPr>
              <a:t>The Old View</a:t>
            </a:r>
          </a:p>
        </p:txBody>
      </p:sp>
      <p:pic>
        <p:nvPicPr>
          <p:cNvPr id="33794" name="Picture 3">
            <a:extLst>
              <a:ext uri="{FF2B5EF4-FFF2-40B4-BE49-F238E27FC236}">
                <a16:creationId xmlns:a16="http://schemas.microsoft.com/office/drawing/2014/main" id="{4E435342-5773-1257-7E45-7FC6908EFA35}"/>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543800" y="1792288"/>
            <a:ext cx="2362200" cy="436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7BD8617F-3B6D-870E-5D68-9A75BB757941}"/>
              </a:ext>
            </a:extLst>
          </p:cNvPr>
          <p:cNvSpPr/>
          <p:nvPr/>
        </p:nvSpPr>
        <p:spPr>
          <a:xfrm>
            <a:off x="2438400" y="2590800"/>
            <a:ext cx="4362158" cy="2123658"/>
          </a:xfrm>
          <a:prstGeom prst="rect">
            <a:avLst/>
          </a:prstGeom>
          <a:noFill/>
        </p:spPr>
        <p:txBody>
          <a:bodyPr>
            <a:spAutoFit/>
          </a:bodyPr>
          <a:lstStyle/>
          <a:p>
            <a:pPr algn="ctr" eaLnBrk="0" fontAlgn="base" hangingPunct="0">
              <a:spcBef>
                <a:spcPct val="0"/>
              </a:spcBef>
              <a:spcAft>
                <a:spcPct val="0"/>
              </a:spcAft>
              <a:defRPr/>
            </a:pPr>
            <a:r>
              <a:rPr lang="en-US" sz="4400" b="1" dirty="0">
                <a:ln w="12700">
                  <a:solidFill>
                    <a:srgbClr val="000000">
                      <a:satMod val="155000"/>
                    </a:srgbClr>
                  </a:solidFill>
                  <a:prstDash val="solid"/>
                </a:ln>
                <a:solidFill>
                  <a:srgbClr val="808080">
                    <a:tint val="85000"/>
                    <a:satMod val="155000"/>
                  </a:srgbClr>
                </a:solidFill>
                <a:effectLst>
                  <a:outerShdw blurRad="41275" dist="20320" dir="1800000" algn="tl" rotWithShape="0">
                    <a:srgbClr val="000000">
                      <a:alpha val="40000"/>
                    </a:srgbClr>
                  </a:outerShdw>
                </a:effectLst>
                <a:latin typeface="Arial" charset="0"/>
                <a:ea typeface="ＭＳ Ｐゴシック" charset="0"/>
                <a:cs typeface="ＭＳ Ｐゴシック" charset="0"/>
              </a:rPr>
              <a:t>Employment of People with Disabilities</a:t>
            </a:r>
          </a:p>
        </p:txBody>
      </p:sp>
      <p:sp>
        <p:nvSpPr>
          <p:cNvPr id="3" name="TextBox 2">
            <a:extLst>
              <a:ext uri="{FF2B5EF4-FFF2-40B4-BE49-F238E27FC236}">
                <a16:creationId xmlns:a16="http://schemas.microsoft.com/office/drawing/2014/main" id="{471BFBF9-C062-6157-4E72-E457E99C660C}"/>
              </a:ext>
            </a:extLst>
          </p:cNvPr>
          <p:cNvSpPr txBox="1"/>
          <p:nvPr/>
        </p:nvSpPr>
        <p:spPr>
          <a:xfrm>
            <a:off x="11786519" y="6574362"/>
            <a:ext cx="394901" cy="307777"/>
          </a:xfrm>
          <a:prstGeom prst="rect">
            <a:avLst/>
          </a:prstGeom>
          <a:noFill/>
        </p:spPr>
        <p:txBody>
          <a:bodyPr wrap="square" rtlCol="0">
            <a:spAutoFit/>
          </a:bodyPr>
          <a:lstStyle/>
          <a:p>
            <a:r>
              <a:rPr lang="en-US" sz="1400" dirty="0">
                <a:solidFill>
                  <a:schemeClr val="bg1"/>
                </a:solidFill>
              </a:rPr>
              <a:t>9</a:t>
            </a: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981A7-DD8A-FE5F-C31A-BD915BB80051}"/>
              </a:ext>
            </a:extLst>
          </p:cNvPr>
          <p:cNvSpPr>
            <a:spLocks noGrp="1"/>
          </p:cNvSpPr>
          <p:nvPr>
            <p:ph type="title"/>
          </p:nvPr>
        </p:nvSpPr>
        <p:spPr>
          <a:xfrm>
            <a:off x="914400" y="-1601972"/>
            <a:ext cx="10363200" cy="1143000"/>
          </a:xfrm>
          <a:noFill/>
          <a:ln>
            <a:noFill/>
          </a:ln>
        </p:spPr>
        <p:txBody>
          <a:bodyPr/>
          <a:lstStyle/>
          <a:p>
            <a:r>
              <a:rPr lang="en-US" sz="1800" dirty="0">
                <a:solidFill>
                  <a:schemeClr val="tx1"/>
                </a:solidFill>
                <a:latin typeface="Arial" panose="020B0604020202020204" pitchFamily="34" charset="0"/>
                <a:cs typeface="Arial" panose="020B0604020202020204" pitchFamily="34" charset="0"/>
              </a:rPr>
              <a:t>Significant</a:t>
            </a:r>
            <a:r>
              <a:rPr lang="en-US" sz="1800" baseline="0" dirty="0">
                <a:solidFill>
                  <a:schemeClr val="tx1"/>
                </a:solidFill>
                <a:latin typeface="Arial" panose="020B0604020202020204" pitchFamily="34" charset="0"/>
                <a:cs typeface="Arial" panose="020B0604020202020204" pitchFamily="34" charset="0"/>
              </a:rPr>
              <a:t> Disability Equals Unemployable in General Workforce</a:t>
            </a:r>
            <a:endParaRPr lang="en-US" sz="1800" dirty="0">
              <a:solidFill>
                <a:schemeClr val="tx1"/>
              </a:solidFill>
              <a:latin typeface="Arial" panose="020B0604020202020204" pitchFamily="34" charset="0"/>
              <a:cs typeface="Arial" panose="020B0604020202020204" pitchFamily="34" charset="0"/>
            </a:endParaRPr>
          </a:p>
        </p:txBody>
      </p:sp>
      <p:sp>
        <p:nvSpPr>
          <p:cNvPr id="34820" name="TextBox 15">
            <a:extLst>
              <a:ext uri="{FF2B5EF4-FFF2-40B4-BE49-F238E27FC236}">
                <a16:creationId xmlns:a16="http://schemas.microsoft.com/office/drawing/2014/main" id="{1B396900-AC84-64CF-3961-FD2089A7AADB}"/>
              </a:ext>
            </a:extLst>
          </p:cNvPr>
          <p:cNvSpPr txBox="1">
            <a:spLocks noChangeArrowheads="1"/>
          </p:cNvSpPr>
          <p:nvPr/>
        </p:nvSpPr>
        <p:spPr bwMode="auto">
          <a:xfrm>
            <a:off x="1752600" y="2286000"/>
            <a:ext cx="34290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sz="4800" b="1">
                <a:solidFill>
                  <a:srgbClr val="000090"/>
                </a:solidFill>
              </a:rPr>
              <a:t>Significant Disability</a:t>
            </a:r>
          </a:p>
        </p:txBody>
      </p:sp>
      <p:sp>
        <p:nvSpPr>
          <p:cNvPr id="34821" name="TextBox 17">
            <a:extLst>
              <a:ext uri="{FF2B5EF4-FFF2-40B4-BE49-F238E27FC236}">
                <a16:creationId xmlns:a16="http://schemas.microsoft.com/office/drawing/2014/main" id="{96EAB1B9-B327-FE05-9F0E-78C581591A6B}"/>
              </a:ext>
            </a:extLst>
          </p:cNvPr>
          <p:cNvSpPr txBox="1">
            <a:spLocks noChangeArrowheads="1"/>
          </p:cNvSpPr>
          <p:nvPr/>
        </p:nvSpPr>
        <p:spPr bwMode="auto">
          <a:xfrm>
            <a:off x="5181600" y="2514601"/>
            <a:ext cx="13716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pPr>
            <a:r>
              <a:rPr lang="en-US" altLang="en-US" sz="6600">
                <a:solidFill>
                  <a:srgbClr val="000000"/>
                </a:solidFill>
              </a:rPr>
              <a:t>=</a:t>
            </a:r>
          </a:p>
        </p:txBody>
      </p:sp>
      <p:pic>
        <p:nvPicPr>
          <p:cNvPr id="34817" name="Picture 5" descr="Unemployable">
            <a:extLst>
              <a:ext uri="{FF2B5EF4-FFF2-40B4-BE49-F238E27FC236}">
                <a16:creationId xmlns:a16="http://schemas.microsoft.com/office/drawing/2014/main" id="{5AC756D3-EEB7-2620-149F-9A4986CAACB9}"/>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6781801" y="2133600"/>
            <a:ext cx="3548063"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19318DF7-4950-A7E9-81AE-0EC3C3836EAF}"/>
              </a:ext>
              <a:ext uri="{C183D7F6-B498-43B3-948B-1728B52AA6E4}">
                <adec:decorative xmlns:adec="http://schemas.microsoft.com/office/drawing/2017/decorative" val="1"/>
              </a:ext>
            </a:extLst>
          </p:cNvPr>
          <p:cNvCxnSpPr/>
          <p:nvPr/>
        </p:nvCxnSpPr>
        <p:spPr bwMode="auto">
          <a:xfrm flipH="1">
            <a:off x="6705600" y="2362200"/>
            <a:ext cx="3276600" cy="1752600"/>
          </a:xfrm>
          <a:prstGeom prst="line">
            <a:avLst/>
          </a:prstGeom>
          <a:solidFill>
            <a:schemeClr val="accent1"/>
          </a:solidFill>
          <a:ln w="762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9" name="Straight Connector 8">
            <a:extLst>
              <a:ext uri="{FF2B5EF4-FFF2-40B4-BE49-F238E27FC236}">
                <a16:creationId xmlns:a16="http://schemas.microsoft.com/office/drawing/2014/main" id="{FB19BC52-61EE-E2E6-2255-CF87737E4222}"/>
              </a:ext>
              <a:ext uri="{C183D7F6-B498-43B3-948B-1728B52AA6E4}">
                <adec:decorative xmlns:adec="http://schemas.microsoft.com/office/drawing/2017/decorative" val="1"/>
              </a:ext>
            </a:extLst>
          </p:cNvPr>
          <p:cNvCxnSpPr/>
          <p:nvPr/>
        </p:nvCxnSpPr>
        <p:spPr bwMode="auto">
          <a:xfrm flipH="1" flipV="1">
            <a:off x="6781800" y="2286000"/>
            <a:ext cx="3352800" cy="1676400"/>
          </a:xfrm>
          <a:prstGeom prst="line">
            <a:avLst/>
          </a:prstGeom>
          <a:solidFill>
            <a:schemeClr val="accent1"/>
          </a:solidFill>
          <a:ln w="762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 name="TextBox 2">
            <a:extLst>
              <a:ext uri="{FF2B5EF4-FFF2-40B4-BE49-F238E27FC236}">
                <a16:creationId xmlns:a16="http://schemas.microsoft.com/office/drawing/2014/main" id="{4874C60D-F148-B864-8CDA-F2A75EE89BE0}"/>
              </a:ext>
            </a:extLst>
          </p:cNvPr>
          <p:cNvSpPr txBox="1"/>
          <p:nvPr/>
        </p:nvSpPr>
        <p:spPr>
          <a:xfrm>
            <a:off x="11786519" y="6574362"/>
            <a:ext cx="394901" cy="307777"/>
          </a:xfrm>
          <a:prstGeom prst="rect">
            <a:avLst/>
          </a:prstGeom>
          <a:noFill/>
        </p:spPr>
        <p:txBody>
          <a:bodyPr wrap="square" rtlCol="0">
            <a:spAutoFit/>
          </a:bodyPr>
          <a:lstStyle/>
          <a:p>
            <a:r>
              <a:rPr lang="en-US" sz="1400" dirty="0">
                <a:solidFill>
                  <a:schemeClr val="bg1"/>
                </a:solidFill>
              </a:rPr>
              <a:t>10</a:t>
            </a:r>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751840"/>
            <a:ext cx="5105400" cy="990600"/>
          </a:xfrm>
          <a:effectLst>
            <a:glow rad="101600">
              <a:schemeClr val="accent4">
                <a:satMod val="175000"/>
                <a:alpha val="40000"/>
              </a:schemeClr>
            </a:glow>
            <a:outerShdw blurRad="40000" dist="23000" dir="5400000" rotWithShape="0">
              <a:srgbClr val="000000">
                <a:alpha val="35000"/>
              </a:srgbClr>
            </a:outerShdw>
          </a:effectLst>
          <a:scene3d>
            <a:camera prst="isometricOffAxis1Right"/>
            <a:lightRig rig="threePt" dir="t"/>
          </a:scene3d>
        </p:spPr>
        <p:style>
          <a:lnRef idx="1">
            <a:schemeClr val="accent4"/>
          </a:lnRef>
          <a:fillRef idx="3">
            <a:schemeClr val="accent4"/>
          </a:fillRef>
          <a:effectRef idx="2">
            <a:schemeClr val="accent4"/>
          </a:effectRef>
          <a:fontRef idx="minor">
            <a:schemeClr val="lt1"/>
          </a:fontRef>
        </p:style>
        <p:txBody>
          <a:bodyPr/>
          <a:lstStyle/>
          <a:p>
            <a:pPr algn="ctr"/>
            <a:r>
              <a:rPr lang="en-US" b="1" dirty="0"/>
              <a:t>Unemployed</a:t>
            </a:r>
          </a:p>
        </p:txBody>
      </p:sp>
      <p:sp>
        <p:nvSpPr>
          <p:cNvPr id="4" name="Slide Number Placeholder 3"/>
          <p:cNvSpPr>
            <a:spLocks noGrp="1"/>
          </p:cNvSpPr>
          <p:nvPr>
            <p:ph type="sldNum" sz="quarter" idx="12"/>
          </p:nvPr>
        </p:nvSpPr>
        <p:spPr>
          <a:xfrm>
            <a:off x="11631448" y="6560346"/>
            <a:ext cx="14224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fld id="{DE0518C9-3CC7-7448-AD05-3CB269384775}" type="slidenum">
              <a:rPr lang="en-US" smtClean="0"/>
              <a:pPr fontAlgn="base">
                <a:spcBef>
                  <a:spcPct val="0"/>
                </a:spcBef>
                <a:spcAft>
                  <a:spcPct val="0"/>
                </a:spcAft>
                <a:defRPr/>
              </a:pPr>
              <a:t>10</a:t>
            </a:fld>
            <a:endParaRPr lang="en-US" dirty="0">
              <a:latin typeface="Gill Sans MT" charset="0"/>
              <a:ea typeface="ＭＳ Ｐゴシック" charset="0"/>
            </a:endParaRPr>
          </a:p>
        </p:txBody>
      </p:sp>
      <p:pic>
        <p:nvPicPr>
          <p:cNvPr id="3" name="Picture 2">
            <a:extLs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419850" y="3638550"/>
            <a:ext cx="3914775" cy="2609850"/>
          </a:xfrm>
          <a:prstGeom prst="rect">
            <a:avLst/>
          </a:prstGeom>
        </p:spPr>
      </p:pic>
      <p:pic>
        <p:nvPicPr>
          <p:cNvPr id="5" name="Picture 4">
            <a:extLs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260600" y="2540000"/>
            <a:ext cx="3492500" cy="2324100"/>
          </a:xfrm>
          <a:prstGeom prst="rect">
            <a:avLst/>
          </a:prstGeom>
        </p:spPr>
      </p:pic>
    </p:spTree>
    <p:extLst>
      <p:ext uri="{BB962C8B-B14F-4D97-AF65-F5344CB8AC3E}">
        <p14:creationId xmlns:p14="http://schemas.microsoft.com/office/powerpoint/2010/main" val="225250070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EAB3-212F-3026-B8B2-795A50B56FC2}"/>
              </a:ext>
            </a:extLst>
          </p:cNvPr>
          <p:cNvSpPr>
            <a:spLocks noGrp="1"/>
          </p:cNvSpPr>
          <p:nvPr>
            <p:ph type="title" idx="4294967295"/>
          </p:nvPr>
        </p:nvSpPr>
        <p:spPr>
          <a:xfrm>
            <a:off x="3462694" y="533400"/>
            <a:ext cx="4433869" cy="3128682"/>
          </a:xfrm>
        </p:spPr>
        <p:style>
          <a:lnRef idx="3">
            <a:schemeClr val="lt1"/>
          </a:lnRef>
          <a:fillRef idx="1">
            <a:schemeClr val="accent4"/>
          </a:fillRef>
          <a:effectRef idx="1">
            <a:schemeClr val="accent4"/>
          </a:effectRef>
          <a:fontRef idx="minor">
            <a:schemeClr val="lt1"/>
          </a:fontRef>
        </p:style>
        <p:txBody>
          <a:bodyPr/>
          <a:lstStyle/>
          <a:p>
            <a:r>
              <a:rPr lang="en-US" sz="2800" dirty="0"/>
              <a:t>Need</a:t>
            </a:r>
            <a:r>
              <a:rPr lang="en-US" sz="2800" baseline="0" dirty="0"/>
              <a:t> Special Places</a:t>
            </a:r>
            <a:br>
              <a:rPr lang="en-US" sz="2800" baseline="0" dirty="0"/>
            </a:br>
            <a:r>
              <a:rPr lang="en-US" sz="2800" baseline="0" dirty="0"/>
              <a:t>and</a:t>
            </a:r>
            <a:br>
              <a:rPr lang="en-US" sz="2800" baseline="0" dirty="0"/>
            </a:br>
            <a:r>
              <a:rPr lang="en-US" sz="2800" baseline="0" dirty="0"/>
              <a:t>Special Programs</a:t>
            </a:r>
            <a:br>
              <a:rPr lang="en-US" sz="2800" baseline="0" dirty="0"/>
            </a:br>
            <a:r>
              <a:rPr lang="en-US" sz="2800" baseline="0" dirty="0"/>
              <a:t>for</a:t>
            </a:r>
            <a:br>
              <a:rPr lang="en-US" sz="2800" baseline="0" dirty="0"/>
            </a:br>
            <a:r>
              <a:rPr lang="en-US" sz="2800" baseline="0" dirty="0"/>
              <a:t>Special People</a:t>
            </a:r>
            <a:endParaRPr lang="en-US" sz="2800" dirty="0"/>
          </a:p>
        </p:txBody>
      </p:sp>
      <p:pic>
        <p:nvPicPr>
          <p:cNvPr id="35844" name="Picture 4" descr="Sheltered workshop building">
            <a:extLst>
              <a:ext uri="{FF2B5EF4-FFF2-40B4-BE49-F238E27FC236}">
                <a16:creationId xmlns:a16="http://schemas.microsoft.com/office/drawing/2014/main" id="{C57365AD-1C4E-4859-AE72-F625E6523CA2}"/>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318844" y="1175721"/>
            <a:ext cx="2582061" cy="1844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6" descr="Person walking in a parking lot with accessible bans">
            <a:extLst>
              <a:ext uri="{FF2B5EF4-FFF2-40B4-BE49-F238E27FC236}">
                <a16:creationId xmlns:a16="http://schemas.microsoft.com/office/drawing/2014/main" id="{99DD4D2A-EBA9-8B27-3C40-46B7DD336655}"/>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72208" y="4450081"/>
            <a:ext cx="2696327" cy="1844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Picture 7" descr="Sheltered workshop-people working">
            <a:extLst>
              <a:ext uri="{FF2B5EF4-FFF2-40B4-BE49-F238E27FC236}">
                <a16:creationId xmlns:a16="http://schemas.microsoft.com/office/drawing/2014/main" id="{F7139377-67B6-5FF0-A67D-A24B0349D23A}"/>
              </a:ext>
              <a:ext uri="{C183D7F6-B498-43B3-948B-1728B52AA6E4}">
                <adec:decorative xmlns:adec="http://schemas.microsoft.com/office/drawing/2017/decorative" val="0"/>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346792" y="560294"/>
            <a:ext cx="3235607" cy="1844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7" name="Picture 8" descr="Piecework">
            <a:extLst>
              <a:ext uri="{FF2B5EF4-FFF2-40B4-BE49-F238E27FC236}">
                <a16:creationId xmlns:a16="http://schemas.microsoft.com/office/drawing/2014/main" id="{B77039AC-8A1E-DAE1-DEAD-FF06416EDB29}"/>
              </a:ext>
            </a:extLst>
          </p:cNvPr>
          <p:cNvPicPr>
            <a:picLocks noChangeAspect="1"/>
          </p:cNvPicPr>
          <p:nvPr/>
        </p:nvPicPr>
        <p:blipFill>
          <a:blip r:embed="rId6">
            <a:extLst>
              <a:ext uri="{28A0092B-C50C-407E-A947-70E740481C1C}">
                <a14:useLocalDpi xmlns:a14="http://schemas.microsoft.com/office/drawing/2010/main"/>
              </a:ext>
            </a:extLst>
          </a:blip>
          <a:srcRect/>
          <a:stretch>
            <a:fillRect/>
          </a:stretch>
        </p:blipFill>
        <p:spPr bwMode="auto">
          <a:xfrm>
            <a:off x="4461570" y="4450081"/>
            <a:ext cx="2436118" cy="1609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8" name="Picture 9" descr="Group employment">
            <a:extLst>
              <a:ext uri="{FF2B5EF4-FFF2-40B4-BE49-F238E27FC236}">
                <a16:creationId xmlns:a16="http://schemas.microsoft.com/office/drawing/2014/main" id="{3688EB2C-279E-9052-2EAF-688A47B16866}"/>
              </a:ext>
            </a:extLst>
          </p:cNvPr>
          <p:cNvPicPr>
            <a:picLocks noChangeAspect="1"/>
          </p:cNvPicPr>
          <p:nvPr/>
        </p:nvPicPr>
        <p:blipFill>
          <a:blip r:embed="rId7">
            <a:extLst>
              <a:ext uri="{28A0092B-C50C-407E-A947-70E740481C1C}">
                <a14:useLocalDpi xmlns:a14="http://schemas.microsoft.com/office/drawing/2010/main"/>
              </a:ext>
            </a:extLst>
          </a:blip>
          <a:srcRect/>
          <a:stretch>
            <a:fillRect/>
          </a:stretch>
        </p:blipFill>
        <p:spPr bwMode="auto">
          <a:xfrm>
            <a:off x="8346792" y="3843658"/>
            <a:ext cx="2926080" cy="1889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833A6AD7-E63A-70C3-4CF0-D099B9A542E0}"/>
              </a:ext>
            </a:extLst>
          </p:cNvPr>
          <p:cNvSpPr txBox="1"/>
          <p:nvPr/>
        </p:nvSpPr>
        <p:spPr>
          <a:xfrm>
            <a:off x="11786519" y="6574362"/>
            <a:ext cx="394901" cy="307777"/>
          </a:xfrm>
          <a:prstGeom prst="rect">
            <a:avLst/>
          </a:prstGeom>
          <a:noFill/>
        </p:spPr>
        <p:txBody>
          <a:bodyPr wrap="square" rtlCol="0">
            <a:spAutoFit/>
          </a:bodyPr>
          <a:lstStyle/>
          <a:p>
            <a:r>
              <a:rPr lang="en-US" sz="1400" dirty="0">
                <a:solidFill>
                  <a:schemeClr val="bg1"/>
                </a:solidFill>
              </a:rPr>
              <a:t>12</a:t>
            </a:r>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FD8FF-4433-46B5-0D07-9578463ECE55}"/>
              </a:ext>
            </a:extLst>
          </p:cNvPr>
          <p:cNvSpPr>
            <a:spLocks noGrp="1"/>
          </p:cNvSpPr>
          <p:nvPr>
            <p:ph type="title"/>
          </p:nvPr>
        </p:nvSpPr>
        <p:spPr>
          <a:xfrm>
            <a:off x="7123138" y="4873199"/>
            <a:ext cx="4481015" cy="1146412"/>
          </a:xfrm>
          <a:effectLst>
            <a:glow rad="228600">
              <a:schemeClr val="accent4">
                <a:satMod val="175000"/>
                <a:alpha val="40000"/>
              </a:schemeClr>
            </a:glow>
          </a:effectLst>
          <a:scene3d>
            <a:camera prst="orthographicFront"/>
            <a:lightRig rig="threePt" dir="t"/>
          </a:scene3d>
          <a:sp3d>
            <a:bevelT prst="angle"/>
          </a:sp3d>
        </p:spPr>
        <p:txBody>
          <a:bodyPr/>
          <a:lstStyle/>
          <a:p>
            <a:r>
              <a:rPr lang="en-US" dirty="0">
                <a:latin typeface="Calibri" panose="020F0502020204030204" pitchFamily="34" charset="0"/>
                <a:cs typeface="Calibri" panose="020F0502020204030204" pitchFamily="34" charset="0"/>
              </a:rPr>
              <a:t>Disability Rights Movement</a:t>
            </a:r>
          </a:p>
        </p:txBody>
      </p:sp>
      <p:pic>
        <p:nvPicPr>
          <p:cNvPr id="29698" name="Picture 3" descr="Individuals with disabilities protesting, holding sign:&#10;“Injiustice anywhere is a threat to justice everywhere.” - Martin Luther King, Jr. ">
            <a:extLst>
              <a:ext uri="{FF2B5EF4-FFF2-40B4-BE49-F238E27FC236}">
                <a16:creationId xmlns:a16="http://schemas.microsoft.com/office/drawing/2014/main" id="{1D03F47B-5ABA-AC4E-AFEC-DD61530C04F6}"/>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2145001" y="492267"/>
            <a:ext cx="3950999"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91359AC5-8F3F-6944-AFC5-A04F9A68EA4B}"/>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09098" y="3698733"/>
            <a:ext cx="4056274" cy="2667000"/>
          </a:xfrm>
          <a:prstGeom prst="rect">
            <a:avLst/>
          </a:prstGeom>
        </p:spPr>
      </p:pic>
      <p:pic>
        <p:nvPicPr>
          <p:cNvPr id="5" name="Picture 4">
            <a:extLst>
              <a:ext uri="{FF2B5EF4-FFF2-40B4-BE49-F238E27FC236}">
                <a16:creationId xmlns:a16="http://schemas.microsoft.com/office/drawing/2014/main" id="{A3F39E75-21FB-444D-BEDF-3B9F5D3099F2}"/>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050350" y="1633636"/>
            <a:ext cx="3951000" cy="2322079"/>
          </a:xfrm>
          <a:prstGeom prst="rect">
            <a:avLst/>
          </a:prstGeom>
        </p:spPr>
      </p:pic>
      <p:sp>
        <p:nvSpPr>
          <p:cNvPr id="29697" name="Slide Number Placeholder 2">
            <a:extLst>
              <a:ext uri="{FF2B5EF4-FFF2-40B4-BE49-F238E27FC236}">
                <a16:creationId xmlns:a16="http://schemas.microsoft.com/office/drawing/2014/main" id="{CF87B600-F02E-344C-8ED0-FFFC8D2FFE0C}"/>
              </a:ext>
            </a:extLst>
          </p:cNvPr>
          <p:cNvSpPr>
            <a:spLocks noGrp="1"/>
          </p:cNvSpPr>
          <p:nvPr>
            <p:ph type="sldNum" sz="quarter" idx="12"/>
          </p:nvPr>
        </p:nvSpPr>
        <p:spPr bwMode="auto">
          <a:xfrm>
            <a:off x="11795967" y="6583711"/>
            <a:ext cx="1066800" cy="3286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l" rtl="0" eaLnBrk="0" fontAlgn="base" hangingPunct="0">
              <a:spcBef>
                <a:spcPct val="0"/>
              </a:spcBef>
              <a:spcAft>
                <a:spcPct val="0"/>
              </a:spcAft>
              <a:defRPr sz="1400" b="1" kern="1200">
                <a:solidFill>
                  <a:srgbClr val="FFFFFF"/>
                </a:solidFill>
                <a:latin typeface="Book Antiqua" panose="0204060205030503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Book Antiqua" panose="0204060205030503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Book Antiqua" panose="0204060205030503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Book Antiqua" panose="0204060205030503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Book Antiqua" panose="0204060205030503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Book Antiqua" panose="0204060205030503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Book Antiqua" panose="0204060205030503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Book Antiqua" panose="0204060205030503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Book Antiqua" panose="02040602050305030304" pitchFamily="18" charset="0"/>
                <a:ea typeface="ＭＳ Ｐゴシック" panose="020B0600070205080204" pitchFamily="34" charset="-128"/>
                <a:cs typeface="+mn-cs"/>
              </a:defRPr>
            </a:lvl9pPr>
          </a:lstStyle>
          <a:p>
            <a:pPr>
              <a:defRPr/>
            </a:pPr>
            <a:fld id="{C52079FF-467D-6D41-A1F4-C32363388CCE}" type="slidenum">
              <a:rPr lang="en-US" altLang="en-US" smtClean="0">
                <a:latin typeface="Calibri" panose="020F0502020204030204" pitchFamily="34" charset="0"/>
                <a:cs typeface="Calibri" panose="020F0502020204030204" pitchFamily="34" charset="0"/>
              </a:rPr>
              <a:pPr>
                <a:defRPr/>
              </a:pPr>
              <a:t>12</a:t>
            </a:fld>
            <a:endParaRPr lang="en-US" altLang="en-US" sz="1400" dirty="0">
              <a:solidFill>
                <a:srgbClr val="FFFFFF"/>
              </a:solidFill>
              <a:latin typeface="Calibri" panose="020F0502020204030204" pitchFamily="34" charset="0"/>
              <a:cs typeface="Calibri" panose="020F0502020204030204" pitchFamily="34" charset="0"/>
            </a:endParaRPr>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4F891F5-8CA8-4B62-E430-F189618B20F8}"/>
              </a:ext>
            </a:extLst>
          </p:cNvPr>
          <p:cNvSpPr>
            <a:spLocks noGrp="1"/>
          </p:cNvSpPr>
          <p:nvPr>
            <p:ph type="title" idx="4294967295"/>
          </p:nvPr>
        </p:nvSpPr>
        <p:spPr>
          <a:xfrm>
            <a:off x="522598" y="-1427980"/>
            <a:ext cx="10972800" cy="990600"/>
          </a:xfrm>
          <a:noFill/>
          <a:ln>
            <a:noFill/>
          </a:ln>
        </p:spPr>
        <p:style>
          <a:lnRef idx="2">
            <a:schemeClr val="dk1"/>
          </a:lnRef>
          <a:fillRef idx="1">
            <a:schemeClr val="lt1"/>
          </a:fillRef>
          <a:effectRef idx="0">
            <a:schemeClr val="dk1"/>
          </a:effectRef>
          <a:fontRef idx="minor">
            <a:schemeClr val="dk1"/>
          </a:fontRef>
        </p:style>
        <p:txBody>
          <a:bodyPr/>
          <a:lstStyle/>
          <a:p>
            <a:r>
              <a:rPr lang="en-US" dirty="0"/>
              <a:t>Try Another Way</a:t>
            </a:r>
          </a:p>
        </p:txBody>
      </p:sp>
      <p:pic>
        <p:nvPicPr>
          <p:cNvPr id="2" name="Picture 1">
            <a:extLs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858000" y="1440180"/>
            <a:ext cx="4378960" cy="3284220"/>
          </a:xfrm>
          <a:prstGeom prst="rect">
            <a:avLst/>
          </a:prstGeom>
        </p:spPr>
      </p:pic>
      <p:pic>
        <p:nvPicPr>
          <p:cNvPr id="3" name="Picture 2" descr="Try Another Way - Training Manual - Marc W. Gold"/>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60203" y="586154"/>
            <a:ext cx="3773798" cy="5382846"/>
          </a:xfrm>
          <a:prstGeom prst="rect">
            <a:avLst/>
          </a:prstGeom>
          <a:ln>
            <a:solidFill>
              <a:schemeClr val="tx1"/>
            </a:solidFill>
          </a:ln>
        </p:spPr>
      </p:pic>
      <p:sp>
        <p:nvSpPr>
          <p:cNvPr id="4" name="Slide Number Placeholder 3"/>
          <p:cNvSpPr>
            <a:spLocks noGrp="1"/>
          </p:cNvSpPr>
          <p:nvPr>
            <p:ph type="sldNum" sz="quarter" idx="12"/>
          </p:nvPr>
        </p:nvSpPr>
        <p:spPr>
          <a:xfrm>
            <a:off x="11768082" y="6608275"/>
            <a:ext cx="14224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fld id="{76D09E21-E3A5-A34B-9A90-0AE5B5561539}" type="slidenum">
              <a:rPr lang="en-US" smtClean="0"/>
              <a:pPr fontAlgn="base">
                <a:spcBef>
                  <a:spcPct val="0"/>
                </a:spcBef>
                <a:spcAft>
                  <a:spcPct val="0"/>
                </a:spcAft>
                <a:defRPr/>
              </a:pPr>
              <a:t>13</a:t>
            </a:fld>
            <a:endParaRPr lang="en-US" dirty="0">
              <a:solidFill>
                <a:srgbClr val="F3F2DC">
                  <a:shade val="50000"/>
                </a:srgbClr>
              </a:solidFill>
              <a:latin typeface="Gill Sans MT" charset="0"/>
              <a:ea typeface="ＭＳ Ｐゴシック" charset="0"/>
            </a:endParaRPr>
          </a:p>
        </p:txBody>
      </p:sp>
    </p:spTree>
    <p:extLst>
      <p:ext uri="{BB962C8B-B14F-4D97-AF65-F5344CB8AC3E}">
        <p14:creationId xmlns:p14="http://schemas.microsoft.com/office/powerpoint/2010/main" val="834590306"/>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6640" y="390496"/>
            <a:ext cx="9814560" cy="990600"/>
          </a:xfrm>
          <a:effectLst>
            <a:glow rad="139700">
              <a:schemeClr val="accent1">
                <a:satMod val="175000"/>
                <a:alpha val="40000"/>
              </a:schemeClr>
            </a:glow>
          </a:effectLst>
          <a:scene3d>
            <a:camera prst="orthographicFront"/>
            <a:lightRig rig="threePt" dir="t"/>
          </a:scene3d>
          <a:sp3d>
            <a:bevelT prst="angle"/>
          </a:sp3d>
        </p:spPr>
        <p:txBody>
          <a:bodyPr anchor="ctr">
            <a:normAutofit/>
          </a:bodyPr>
          <a:lstStyle/>
          <a:p>
            <a:r>
              <a:rPr lang="en-US" dirty="0">
                <a:latin typeface="Calibri" panose="020F0502020204030204" pitchFamily="34" charset="0"/>
                <a:cs typeface="Calibri" panose="020F0502020204030204" pitchFamily="34" charset="0"/>
              </a:rPr>
              <a:t>Supported Employment Emerges</a:t>
            </a:r>
          </a:p>
        </p:txBody>
      </p:sp>
      <p:sp>
        <p:nvSpPr>
          <p:cNvPr id="3" name="Content Placeholder 2"/>
          <p:cNvSpPr>
            <a:spLocks noGrp="1"/>
          </p:cNvSpPr>
          <p:nvPr>
            <p:ph sz="half" idx="1"/>
          </p:nvPr>
        </p:nvSpPr>
        <p:spPr>
          <a:xfrm>
            <a:off x="609600" y="1673352"/>
            <a:ext cx="6136640" cy="4651248"/>
          </a:xfrm>
        </p:spPr>
        <p:txBody>
          <a:bodyPr>
            <a:normAutofit/>
          </a:bodyPr>
          <a:lstStyle/>
          <a:p>
            <a:pPr>
              <a:spcBef>
                <a:spcPts val="1872"/>
              </a:spcBef>
            </a:pPr>
            <a:r>
              <a:rPr lang="en-US" sz="2600" dirty="0"/>
              <a:t>People with significant disabilities can work successfully…</a:t>
            </a:r>
            <a:r>
              <a:rPr lang="en-US" sz="2600" b="1" i="1" dirty="0"/>
              <a:t>but only with significant on-the-job professional supports</a:t>
            </a:r>
          </a:p>
          <a:p>
            <a:pPr>
              <a:spcBef>
                <a:spcPts val="1872"/>
              </a:spcBef>
            </a:pPr>
            <a:r>
              <a:rPr lang="en-US" sz="2600" dirty="0"/>
              <a:t>It’s assumed employers are </a:t>
            </a:r>
            <a:r>
              <a:rPr lang="en-US" sz="2600" b="1" i="1" dirty="0"/>
              <a:t>unwilling and incapable of providing necessary supports</a:t>
            </a:r>
          </a:p>
          <a:p>
            <a:pPr>
              <a:spcBef>
                <a:spcPts val="1872"/>
              </a:spcBef>
            </a:pPr>
            <a:r>
              <a:rPr lang="en-US" sz="2600" b="1" dirty="0"/>
              <a:t>Physical presence </a:t>
            </a:r>
            <a:r>
              <a:rPr lang="en-US" sz="2600" dirty="0"/>
              <a:t>by individual in workplace is deemed sufficient</a:t>
            </a:r>
          </a:p>
        </p:txBody>
      </p:sp>
      <p:pic>
        <p:nvPicPr>
          <p:cNvPr id="4" name="Picture 3" descr="I love the 80's"/>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492036" y="1922585"/>
            <a:ext cx="3203344" cy="3191256"/>
          </a:xfrm>
          <a:prstGeom prst="rect">
            <a:avLst/>
          </a:prstGeom>
          <a:noFill/>
        </p:spPr>
      </p:pic>
      <p:sp>
        <p:nvSpPr>
          <p:cNvPr id="9" name="Slide Number Placeholder 4">
            <a:extLst>
              <a:ext uri="{FF2B5EF4-FFF2-40B4-BE49-F238E27FC236}">
                <a16:creationId xmlns:a16="http://schemas.microsoft.com/office/drawing/2014/main" id="{B086AC47-9D67-4956-C59A-76AB8197D62F}"/>
              </a:ext>
            </a:extLst>
          </p:cNvPr>
          <p:cNvSpPr>
            <a:spLocks noGrp="1"/>
          </p:cNvSpPr>
          <p:nvPr>
            <p:ph type="sldNum" sz="quarter" idx="12"/>
          </p:nvPr>
        </p:nvSpPr>
        <p:spPr>
          <a:xfrm>
            <a:off x="11578897" y="6572471"/>
            <a:ext cx="14224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defRPr/>
            </a:pPr>
            <a:fld id="{7914F4CA-897D-214A-8D71-10AFFED61C52}" type="slidenum">
              <a:rPr lang="en-US" smtClean="0"/>
              <a:pPr>
                <a:spcAft>
                  <a:spcPts val="600"/>
                </a:spcAft>
                <a:defRPr/>
              </a:pPr>
              <a:t>14</a:t>
            </a:fld>
            <a:endParaRPr lang="en-US"/>
          </a:p>
        </p:txBody>
      </p:sp>
    </p:spTree>
    <p:extLst>
      <p:ext uri="{BB962C8B-B14F-4D97-AF65-F5344CB8AC3E}">
        <p14:creationId xmlns:p14="http://schemas.microsoft.com/office/powerpoint/2010/main" val="3776642575"/>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B3E25DD-746E-0374-8104-4859CF59652C}"/>
              </a:ext>
            </a:extLst>
          </p:cNvPr>
          <p:cNvSpPr>
            <a:spLocks noGrp="1"/>
          </p:cNvSpPr>
          <p:nvPr>
            <p:ph type="title"/>
          </p:nvPr>
        </p:nvSpPr>
        <p:spPr>
          <a:xfrm>
            <a:off x="3007359" y="4783223"/>
            <a:ext cx="6549899" cy="990600"/>
          </a:xfrm>
        </p:spPr>
        <p:txBody>
          <a:bodyPr>
            <a:noAutofit/>
          </a:bodyPr>
          <a:lstStyle/>
          <a:p>
            <a:pPr algn="ctr"/>
            <a:r>
              <a:rPr lang="en-US" sz="8000" dirty="0">
                <a:latin typeface="Britannic Bold" panose="020B0903060703020204" pitchFamily="34" charset="77"/>
              </a:rPr>
              <a:t>1972</a:t>
            </a:r>
          </a:p>
        </p:txBody>
      </p:sp>
      <p:sp>
        <p:nvSpPr>
          <p:cNvPr id="2" name="Slide Number Placeholder 1">
            <a:extLst>
              <a:ext uri="{FF2B5EF4-FFF2-40B4-BE49-F238E27FC236}">
                <a16:creationId xmlns:a16="http://schemas.microsoft.com/office/drawing/2014/main" id="{9E10DE72-FFF5-49A7-AE05-8F0F348F46B5}"/>
              </a:ext>
            </a:extLst>
          </p:cNvPr>
          <p:cNvSpPr>
            <a:spLocks noGrp="1"/>
          </p:cNvSpPr>
          <p:nvPr>
            <p:ph type="sldNum" sz="quarter" idx="12"/>
          </p:nvPr>
        </p:nvSpPr>
        <p:spPr>
          <a:xfrm>
            <a:off x="11631448" y="6608274"/>
            <a:ext cx="14224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DE0518C9-3CC7-7448-AD05-3CB269384775}" type="slidenum">
              <a:rPr lang="en-US" smtClean="0"/>
              <a:pPr>
                <a:defRPr/>
              </a:pPr>
              <a:t>15</a:t>
            </a:fld>
            <a:endParaRPr lang="en-US" dirty="0"/>
          </a:p>
        </p:txBody>
      </p:sp>
      <p:pic>
        <p:nvPicPr>
          <p:cNvPr id="3" name="Picture 5">
            <a:extLst>
              <a:ext uri="{FF2B5EF4-FFF2-40B4-BE49-F238E27FC236}">
                <a16:creationId xmlns:a16="http://schemas.microsoft.com/office/drawing/2014/main" id="{6E300518-3F36-75B0-8C8B-8E9E45AC9762}"/>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632306" y="475578"/>
            <a:ext cx="5395863" cy="3975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3129984"/>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06755" y="442965"/>
            <a:ext cx="5167922" cy="1505368"/>
          </a:xfrm>
          <a:scene3d>
            <a:camera prst="orthographicFront"/>
            <a:lightRig rig="threePt" dir="t"/>
          </a:scene3d>
          <a:sp3d>
            <a:bevelT prst="angle"/>
          </a:sp3d>
        </p:spPr>
        <p:txBody>
          <a:bodyPr>
            <a:noAutofit/>
          </a:bodyPr>
          <a:lstStyle/>
          <a:p>
            <a:pPr algn="ctr"/>
            <a:r>
              <a:rPr lang="en-US" sz="4400" b="1" dirty="0">
                <a:latin typeface="Calibri" panose="020F0502020204030204" pitchFamily="34" charset="0"/>
                <a:cs typeface="Calibri" panose="020F0502020204030204" pitchFamily="34" charset="0"/>
              </a:rPr>
              <a:t>Wolf </a:t>
            </a:r>
            <a:r>
              <a:rPr lang="en-US" sz="4400" b="1" dirty="0" err="1">
                <a:latin typeface="Calibri" panose="020F0502020204030204" pitchFamily="34" charset="0"/>
                <a:cs typeface="Calibri" panose="020F0502020204030204" pitchFamily="34" charset="0"/>
              </a:rPr>
              <a:t>Wolfensberger</a:t>
            </a:r>
            <a:endParaRPr lang="en-US" sz="4400" b="1" dirty="0">
              <a:latin typeface="Calibri" panose="020F0502020204030204" pitchFamily="34" charset="0"/>
              <a:cs typeface="Calibri" panose="020F0502020204030204" pitchFamily="34" charset="0"/>
            </a:endParaRPr>
          </a:p>
        </p:txBody>
      </p:sp>
      <p:pic>
        <p:nvPicPr>
          <p:cNvPr id="7" name="Picture 6">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49436" y="2133600"/>
            <a:ext cx="2425700" cy="1610665"/>
          </a:xfrm>
          <a:prstGeom prst="rect">
            <a:avLst/>
          </a:prstGeom>
        </p:spPr>
      </p:pic>
      <p:pic>
        <p:nvPicPr>
          <p:cNvPr id="6" name="Picture 5" descr="Book - Normalization: The principle of normalization in hum services"/>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276599" y="4114799"/>
            <a:ext cx="2426677" cy="2426677"/>
          </a:xfrm>
          <a:prstGeom prst="rect">
            <a:avLst/>
          </a:prstGeom>
        </p:spPr>
      </p:pic>
      <p:sp>
        <p:nvSpPr>
          <p:cNvPr id="3" name="Content Placeholder 2"/>
          <p:cNvSpPr>
            <a:spLocks noGrp="1"/>
          </p:cNvSpPr>
          <p:nvPr>
            <p:ph idx="1"/>
          </p:nvPr>
        </p:nvSpPr>
        <p:spPr>
          <a:xfrm>
            <a:off x="6350001" y="1077265"/>
            <a:ext cx="5535244" cy="5334000"/>
          </a:xfrm>
        </p:spPr>
        <p:txBody>
          <a:bodyPr/>
          <a:lstStyle/>
          <a:p>
            <a:pPr>
              <a:spcBef>
                <a:spcPts val="1272"/>
              </a:spcBef>
            </a:pPr>
            <a:r>
              <a:rPr lang="en-US" sz="2800" dirty="0"/>
              <a:t>Need </a:t>
            </a:r>
            <a:r>
              <a:rPr lang="en-US" sz="2800" i="1" dirty="0"/>
              <a:t>physical integration </a:t>
            </a:r>
            <a:r>
              <a:rPr lang="en-US" sz="2800" dirty="0"/>
              <a:t>for </a:t>
            </a:r>
            <a:r>
              <a:rPr lang="en-US" sz="2800" i="1" dirty="0"/>
              <a:t>social integration</a:t>
            </a:r>
          </a:p>
          <a:p>
            <a:pPr>
              <a:spcBef>
                <a:spcPts val="1272"/>
              </a:spcBef>
            </a:pPr>
            <a:r>
              <a:rPr lang="en-US" sz="2800" dirty="0"/>
              <a:t>However, </a:t>
            </a:r>
            <a:r>
              <a:rPr lang="en-US" sz="2800" i="1" dirty="0"/>
              <a:t>physical integration </a:t>
            </a:r>
            <a:r>
              <a:rPr lang="en-US" sz="2800" dirty="0"/>
              <a:t>is not enough</a:t>
            </a:r>
          </a:p>
          <a:p>
            <a:pPr>
              <a:spcBef>
                <a:spcPts val="1272"/>
              </a:spcBef>
            </a:pPr>
            <a:r>
              <a:rPr lang="en-US" sz="2800" dirty="0"/>
              <a:t>“Ultimately, integration is only meaningful if it is social integration; </a:t>
            </a:r>
            <a:r>
              <a:rPr lang="en-US" sz="2800" i="1" dirty="0"/>
              <a:t>i.e., if it involves social interaction and acceptance, and not merely physical presence.</a:t>
            </a:r>
            <a:r>
              <a:rPr lang="en-US" sz="2800" dirty="0"/>
              <a:t>”</a:t>
            </a:r>
          </a:p>
          <a:p>
            <a:endParaRPr lang="en-US" dirty="0"/>
          </a:p>
        </p:txBody>
      </p:sp>
      <p:sp>
        <p:nvSpPr>
          <p:cNvPr id="2" name="Slide Number Placeholder 1">
            <a:extLst>
              <a:ext uri="{FF2B5EF4-FFF2-40B4-BE49-F238E27FC236}">
                <a16:creationId xmlns:a16="http://schemas.microsoft.com/office/drawing/2014/main" id="{9B2BE9AB-27A9-FFE1-08E4-6B3828CFE8DE}"/>
              </a:ext>
            </a:extLst>
          </p:cNvPr>
          <p:cNvSpPr>
            <a:spLocks noGrp="1"/>
          </p:cNvSpPr>
          <p:nvPr>
            <p:ph type="sldNum" sz="quarter" idx="12"/>
          </p:nvPr>
        </p:nvSpPr>
        <p:spPr>
          <a:xfrm>
            <a:off x="11726041" y="6562496"/>
            <a:ext cx="14224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DE0518C9-3CC7-7448-AD05-3CB269384775}" type="slidenum">
              <a:rPr lang="en-US" smtClean="0"/>
              <a:pPr>
                <a:defRPr/>
              </a:pPr>
              <a:t>16</a:t>
            </a:fld>
            <a:endParaRPr lang="en-US" dirty="0"/>
          </a:p>
        </p:txBody>
      </p:sp>
    </p:spTree>
    <p:extLst>
      <p:ext uri="{BB962C8B-B14F-4D97-AF65-F5344CB8AC3E}">
        <p14:creationId xmlns:p14="http://schemas.microsoft.com/office/powerpoint/2010/main" val="2735411066"/>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F097B-F4C3-9778-6537-B5E177FDFA93}"/>
              </a:ext>
            </a:extLst>
          </p:cNvPr>
          <p:cNvSpPr>
            <a:spLocks noGrp="1"/>
          </p:cNvSpPr>
          <p:nvPr>
            <p:ph type="title"/>
          </p:nvPr>
        </p:nvSpPr>
        <p:spPr>
          <a:xfrm>
            <a:off x="354767" y="-1145318"/>
            <a:ext cx="10972800" cy="990600"/>
          </a:xfrm>
          <a:noFill/>
          <a:ln>
            <a:noFill/>
          </a:ln>
        </p:spPr>
        <p:txBody>
          <a:bodyPr/>
          <a:lstStyle/>
          <a:p>
            <a:r>
              <a:rPr lang="en-US" dirty="0">
                <a:solidFill>
                  <a:schemeClr val="tx1"/>
                </a:solidFill>
              </a:rPr>
              <a:t>I990’s</a:t>
            </a:r>
          </a:p>
        </p:txBody>
      </p:sp>
      <p:pic>
        <p:nvPicPr>
          <p:cNvPr id="6" name="Picture 5" descr="I Love the 90'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36227" y="2285405"/>
            <a:ext cx="2470638" cy="1867343"/>
          </a:xfrm>
          <a:prstGeom prst="rect">
            <a:avLst/>
          </a:prstGeom>
        </p:spPr>
      </p:pic>
      <p:pic>
        <p:nvPicPr>
          <p:cNvPr id="12" name="Picture 11" descr="Two workers working in a mailroom" title="Mailroom workers"/>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42063" y="564135"/>
            <a:ext cx="2736280" cy="1824186"/>
          </a:xfrm>
          <a:prstGeom prst="rect">
            <a:avLst/>
          </a:prstGeom>
        </p:spPr>
      </p:pic>
      <p:sp>
        <p:nvSpPr>
          <p:cNvPr id="11" name="TextBox 10"/>
          <p:cNvSpPr txBox="1"/>
          <p:nvPr/>
        </p:nvSpPr>
        <p:spPr>
          <a:xfrm>
            <a:off x="1414878" y="2472065"/>
            <a:ext cx="2094938" cy="707886"/>
          </a:xfrm>
          <a:prstGeom prst="rect">
            <a:avLst/>
          </a:prstGeom>
          <a:noFill/>
        </p:spPr>
        <p:txBody>
          <a:bodyPr wrap="square" rtlCol="0">
            <a:spAutoFit/>
          </a:bodyPr>
          <a:lstStyle/>
          <a:p>
            <a:pPr algn="ctr" fontAlgn="base">
              <a:spcBef>
                <a:spcPct val="0"/>
              </a:spcBef>
              <a:spcAft>
                <a:spcPct val="0"/>
              </a:spcAft>
            </a:pPr>
            <a:r>
              <a:rPr lang="en-US" sz="2000" b="1" dirty="0">
                <a:solidFill>
                  <a:srgbClr val="292934"/>
                </a:solidFill>
                <a:latin typeface="Comic Sans MS"/>
                <a:ea typeface="ＭＳ Ｐゴシック" charset="0"/>
                <a:cs typeface="Comic Sans MS"/>
              </a:rPr>
              <a:t>Natural Supports</a:t>
            </a:r>
          </a:p>
        </p:txBody>
      </p:sp>
      <p:pic>
        <p:nvPicPr>
          <p:cNvPr id="8" name="Picture 7" descr="Reasonable Accommodations"/>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464749" y="564135"/>
            <a:ext cx="3063698" cy="2252719"/>
          </a:xfrm>
          <a:prstGeom prst="rect">
            <a:avLst/>
          </a:prstGeom>
          <a:ln>
            <a:solidFill>
              <a:schemeClr val="tx1"/>
            </a:solidFill>
          </a:ln>
        </p:spPr>
      </p:pic>
      <p:pic>
        <p:nvPicPr>
          <p:cNvPr id="9" name="Picture 8" descr="Assistive Technology"/>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841500" y="4335814"/>
            <a:ext cx="2598876" cy="1981643"/>
          </a:xfrm>
          <a:prstGeom prst="rect">
            <a:avLst/>
          </a:prstGeom>
        </p:spPr>
      </p:pic>
      <p:pic>
        <p:nvPicPr>
          <p:cNvPr id="10" name="Picture 3" descr="Person-Centered Planning"/>
          <p:cNvPicPr>
            <a:picLocks noChangeAspect="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8582816" y="3629544"/>
            <a:ext cx="2673069" cy="20218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4" name="TextBox 13"/>
          <p:cNvSpPr txBox="1"/>
          <p:nvPr/>
        </p:nvSpPr>
        <p:spPr>
          <a:xfrm>
            <a:off x="8776262" y="5691191"/>
            <a:ext cx="2094938" cy="707886"/>
          </a:xfrm>
          <a:prstGeom prst="rect">
            <a:avLst/>
          </a:prstGeom>
          <a:noFill/>
        </p:spPr>
        <p:txBody>
          <a:bodyPr wrap="square" rtlCol="0">
            <a:spAutoFit/>
          </a:bodyPr>
          <a:lstStyle/>
          <a:p>
            <a:pPr algn="ctr" fontAlgn="base">
              <a:spcBef>
                <a:spcPct val="0"/>
              </a:spcBef>
              <a:spcAft>
                <a:spcPct val="0"/>
              </a:spcAft>
            </a:pPr>
            <a:r>
              <a:rPr lang="en-US" sz="2000" b="1" dirty="0">
                <a:solidFill>
                  <a:srgbClr val="800000"/>
                </a:solidFill>
                <a:latin typeface="Impact"/>
                <a:ea typeface="ＭＳ Ｐゴシック" charset="0"/>
                <a:cs typeface="Impact"/>
              </a:rPr>
              <a:t>Person-Centered Planning</a:t>
            </a:r>
          </a:p>
        </p:txBody>
      </p:sp>
      <p:sp>
        <p:nvSpPr>
          <p:cNvPr id="3" name="Slide Number Placeholder 2"/>
          <p:cNvSpPr>
            <a:spLocks noGrp="1"/>
          </p:cNvSpPr>
          <p:nvPr>
            <p:ph type="sldNum" sz="quarter" idx="12"/>
          </p:nvPr>
        </p:nvSpPr>
        <p:spPr>
          <a:xfrm>
            <a:off x="11778594" y="6608275"/>
            <a:ext cx="14224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fld id="{DE0518C9-3CC7-7448-AD05-3CB269384775}" type="slidenum">
              <a:rPr lang="en-US" smtClean="0"/>
              <a:pPr fontAlgn="base">
                <a:spcBef>
                  <a:spcPct val="0"/>
                </a:spcBef>
                <a:spcAft>
                  <a:spcPct val="0"/>
                </a:spcAft>
                <a:defRPr/>
              </a:pPr>
              <a:t>17</a:t>
            </a:fld>
            <a:endParaRPr lang="en-US" dirty="0">
              <a:latin typeface="Gill Sans MT" charset="0"/>
              <a:ea typeface="ＭＳ Ｐゴシック" charset="0"/>
            </a:endParaRPr>
          </a:p>
        </p:txBody>
      </p:sp>
    </p:spTree>
    <p:extLst>
      <p:ext uri="{BB962C8B-B14F-4D97-AF65-F5344CB8AC3E}">
        <p14:creationId xmlns:p14="http://schemas.microsoft.com/office/powerpoint/2010/main" val="3013928100"/>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279" y="426339"/>
            <a:ext cx="5413512" cy="990600"/>
          </a:xfrm>
          <a:scene3d>
            <a:camera prst="orthographicFront">
              <a:rot lat="0" lon="0" rev="0"/>
            </a:camera>
            <a:lightRig rig="balanced" dir="t">
              <a:rot lat="0" lon="0" rev="5100000"/>
            </a:lightRig>
          </a:scene3d>
          <a:sp3d contourW="6350">
            <a:bevelT w="29210" h="12700" prst="angle"/>
            <a:contourClr>
              <a:schemeClr val="accent6">
                <a:shade val="30000"/>
                <a:satMod val="130000"/>
              </a:schemeClr>
            </a:contourClr>
          </a:sp3d>
        </p:spPr>
        <p:style>
          <a:lnRef idx="0">
            <a:schemeClr val="accent6"/>
          </a:lnRef>
          <a:fillRef idx="3">
            <a:schemeClr val="accent6"/>
          </a:fillRef>
          <a:effectRef idx="3">
            <a:schemeClr val="accent6"/>
          </a:effectRef>
          <a:fontRef idx="minor">
            <a:schemeClr val="lt1"/>
          </a:fontRef>
        </p:style>
        <p:txBody>
          <a:bodyPr/>
          <a:lstStyle/>
          <a:p>
            <a:r>
              <a:rPr lang="en-US" b="1" i="1" dirty="0"/>
              <a:t>Evolving Policies</a:t>
            </a:r>
          </a:p>
        </p:txBody>
      </p:sp>
      <p:pic>
        <p:nvPicPr>
          <p:cNvPr id="5" name="Picture 4" descr="Rehabilitation Act of 197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30932" y="1629582"/>
            <a:ext cx="2374901" cy="2374901"/>
          </a:xfrm>
          <a:prstGeom prst="rect">
            <a:avLst/>
          </a:prstGeom>
        </p:spPr>
      </p:pic>
      <p:pic>
        <p:nvPicPr>
          <p:cNvPr id="4" name="Picture 3" descr="Americans with Disabilities Act - 1990"/>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368098" y="1712783"/>
            <a:ext cx="2495897" cy="2397805"/>
          </a:xfrm>
          <a:prstGeom prst="rect">
            <a:avLst/>
          </a:prstGeom>
          <a:scene3d>
            <a:camera prst="orthographicFront"/>
            <a:lightRig rig="threePt" dir="t"/>
          </a:scene3d>
          <a:sp3d>
            <a:bevelT w="139700" prst="cross"/>
          </a:sp3d>
        </p:spPr>
      </p:pic>
      <p:sp>
        <p:nvSpPr>
          <p:cNvPr id="11" name="TextBox 10"/>
          <p:cNvSpPr txBox="1"/>
          <p:nvPr/>
        </p:nvSpPr>
        <p:spPr>
          <a:xfrm>
            <a:off x="5621511" y="3677347"/>
            <a:ext cx="1420787" cy="373621"/>
          </a:xfrm>
          <a:prstGeom prst="rect">
            <a:avLst/>
          </a:prstGeom>
          <a:noFill/>
        </p:spPr>
        <p:txBody>
          <a:bodyPr wrap="square" rtlCol="0">
            <a:spAutoFit/>
          </a:bodyPr>
          <a:lstStyle/>
          <a:p>
            <a:pPr algn="ctr" fontAlgn="base">
              <a:spcBef>
                <a:spcPct val="0"/>
              </a:spcBef>
              <a:spcAft>
                <a:spcPct val="0"/>
              </a:spcAft>
            </a:pPr>
            <a:r>
              <a:rPr lang="en-US" b="1" dirty="0">
                <a:solidFill>
                  <a:srgbClr val="292934"/>
                </a:solidFill>
                <a:latin typeface="Avenir Book"/>
                <a:ea typeface="ＭＳ Ｐゴシック" charset="0"/>
                <a:cs typeface="Avenir Book"/>
              </a:rPr>
              <a:t>1990</a:t>
            </a:r>
          </a:p>
        </p:txBody>
      </p:sp>
      <p:pic>
        <p:nvPicPr>
          <p:cNvPr id="3" name="Picture 2" descr="Individuals with Disabilities Education Act - 1990"/>
          <p:cNvPicPr>
            <a:picLocks noChangeAspect="1"/>
          </p:cNvPicPr>
          <p:nvPr/>
        </p:nvPicPr>
        <p:blipFill rotWithShape="1">
          <a:blip r:embed="rId5" cstate="screen">
            <a:extLst>
              <a:ext uri="{28A0092B-C50C-407E-A947-70E740481C1C}">
                <a14:useLocalDpi xmlns:a14="http://schemas.microsoft.com/office/drawing/2010/main"/>
              </a:ext>
            </a:extLst>
          </a:blip>
          <a:srcRect b="52690"/>
          <a:stretch/>
        </p:blipFill>
        <p:spPr>
          <a:xfrm>
            <a:off x="1621735" y="4465275"/>
            <a:ext cx="2514600" cy="744451"/>
          </a:xfrm>
          <a:prstGeom prst="rect">
            <a:avLst/>
          </a:prstGeom>
        </p:spPr>
      </p:pic>
      <p:sp>
        <p:nvSpPr>
          <p:cNvPr id="7" name="TextBox 6">
            <a:extLst>
              <a:ext uri="{FF2B5EF4-FFF2-40B4-BE49-F238E27FC236}">
                <a16:creationId xmlns:a16="http://schemas.microsoft.com/office/drawing/2014/main" id="{0F189EB1-E998-5E81-57C1-9C25DFEC74FD}"/>
              </a:ext>
            </a:extLst>
          </p:cNvPr>
          <p:cNvSpPr txBox="1"/>
          <p:nvPr/>
        </p:nvSpPr>
        <p:spPr>
          <a:xfrm>
            <a:off x="1869385" y="5209726"/>
            <a:ext cx="2019300" cy="1200329"/>
          </a:xfrm>
          <a:prstGeom prst="rect">
            <a:avLst/>
          </a:prstGeom>
          <a:noFill/>
        </p:spPr>
        <p:txBody>
          <a:bodyPr wrap="square" rtlCol="0">
            <a:spAutoFit/>
          </a:bodyPr>
          <a:lstStyle/>
          <a:p>
            <a:pPr algn="ctr" fontAlgn="base">
              <a:spcBef>
                <a:spcPct val="0"/>
              </a:spcBef>
              <a:spcAft>
                <a:spcPct val="0"/>
              </a:spcAft>
            </a:pPr>
            <a:r>
              <a:rPr lang="en-US" dirty="0">
                <a:solidFill>
                  <a:srgbClr val="292934"/>
                </a:solidFill>
                <a:latin typeface="Gill Sans MT" charset="0"/>
                <a:ea typeface="ＭＳ Ｐゴシック" charset="0"/>
              </a:rPr>
              <a:t>Individuals with Disabilities Education Act</a:t>
            </a:r>
          </a:p>
          <a:p>
            <a:pPr algn="ctr" fontAlgn="base">
              <a:spcBef>
                <a:spcPct val="0"/>
              </a:spcBef>
              <a:spcAft>
                <a:spcPct val="0"/>
              </a:spcAft>
            </a:pPr>
            <a:r>
              <a:rPr lang="en-US" b="1" dirty="0">
                <a:solidFill>
                  <a:srgbClr val="292934"/>
                </a:solidFill>
                <a:latin typeface="Gill Sans MT" charset="0"/>
                <a:ea typeface="ＭＳ Ｐゴシック" charset="0"/>
              </a:rPr>
              <a:t>1990</a:t>
            </a:r>
          </a:p>
        </p:txBody>
      </p:sp>
      <p:pic>
        <p:nvPicPr>
          <p:cNvPr id="9" name="Picture 8" descr="Lois Curtis">
            <a:extLst>
              <a:ext uri="{FF2B5EF4-FFF2-40B4-BE49-F238E27FC236}">
                <a16:creationId xmlns:a16="http://schemas.microsoft.com/office/drawing/2014/main" id="{714E8D35-B7D0-D4E6-22D1-01D6227C9C7A}"/>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260885" y="730848"/>
            <a:ext cx="1788129" cy="1797467"/>
          </a:xfrm>
          <a:prstGeom prst="rect">
            <a:avLst/>
          </a:prstGeom>
        </p:spPr>
      </p:pic>
      <p:sp>
        <p:nvSpPr>
          <p:cNvPr id="14" name="TextBox 13">
            <a:extLst>
              <a:ext uri="{FF2B5EF4-FFF2-40B4-BE49-F238E27FC236}">
                <a16:creationId xmlns:a16="http://schemas.microsoft.com/office/drawing/2014/main" id="{A66C076D-5175-6776-E2FC-782703AD0768}"/>
              </a:ext>
            </a:extLst>
          </p:cNvPr>
          <p:cNvSpPr txBox="1"/>
          <p:nvPr/>
        </p:nvSpPr>
        <p:spPr>
          <a:xfrm>
            <a:off x="7116885" y="2588519"/>
            <a:ext cx="2019300" cy="646331"/>
          </a:xfrm>
          <a:prstGeom prst="rect">
            <a:avLst/>
          </a:prstGeom>
          <a:noFill/>
        </p:spPr>
        <p:txBody>
          <a:bodyPr wrap="square" rtlCol="0">
            <a:spAutoFit/>
          </a:bodyPr>
          <a:lstStyle/>
          <a:p>
            <a:pPr algn="ctr" fontAlgn="base">
              <a:spcBef>
                <a:spcPct val="0"/>
              </a:spcBef>
              <a:spcAft>
                <a:spcPct val="0"/>
              </a:spcAft>
            </a:pPr>
            <a:r>
              <a:rPr lang="en-US" dirty="0">
                <a:solidFill>
                  <a:srgbClr val="292934"/>
                </a:solidFill>
                <a:latin typeface="Gill Sans MT" charset="0"/>
                <a:ea typeface="ＭＳ Ｐゴシック" charset="0"/>
              </a:rPr>
              <a:t>Olmstead Decision</a:t>
            </a:r>
          </a:p>
          <a:p>
            <a:pPr algn="ctr" fontAlgn="base">
              <a:spcBef>
                <a:spcPct val="0"/>
              </a:spcBef>
              <a:spcAft>
                <a:spcPct val="0"/>
              </a:spcAft>
            </a:pPr>
            <a:r>
              <a:rPr lang="en-US" b="1" dirty="0">
                <a:solidFill>
                  <a:srgbClr val="292934"/>
                </a:solidFill>
                <a:latin typeface="Gill Sans MT" charset="0"/>
                <a:ea typeface="ＭＳ Ｐゴシック" charset="0"/>
              </a:rPr>
              <a:t>1999</a:t>
            </a:r>
          </a:p>
        </p:txBody>
      </p:sp>
      <p:pic>
        <p:nvPicPr>
          <p:cNvPr id="8" name="Picture 1028" descr="Ticket to Work and Work Incentives Improvement Act"/>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9385983" y="425921"/>
            <a:ext cx="2676250" cy="13381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 name="TextBox 11"/>
          <p:cNvSpPr txBox="1"/>
          <p:nvPr/>
        </p:nvSpPr>
        <p:spPr>
          <a:xfrm>
            <a:off x="9540834" y="1604985"/>
            <a:ext cx="2366548" cy="923330"/>
          </a:xfrm>
          <a:prstGeom prst="rect">
            <a:avLst/>
          </a:prstGeom>
          <a:noFill/>
        </p:spPr>
        <p:txBody>
          <a:bodyPr wrap="square" rtlCol="0">
            <a:spAutoFit/>
          </a:bodyPr>
          <a:lstStyle/>
          <a:p>
            <a:pPr algn="ctr" fontAlgn="base">
              <a:spcBef>
                <a:spcPct val="0"/>
              </a:spcBef>
              <a:spcAft>
                <a:spcPct val="0"/>
              </a:spcAft>
            </a:pPr>
            <a:r>
              <a:rPr lang="en-US" b="1" dirty="0">
                <a:solidFill>
                  <a:srgbClr val="292934"/>
                </a:solidFill>
                <a:latin typeface="Gill Sans MT" charset="0"/>
                <a:ea typeface="ＭＳ Ｐゴシック" charset="0"/>
              </a:rPr>
              <a:t>and Work Incentives Improvement Act</a:t>
            </a:r>
          </a:p>
          <a:p>
            <a:pPr algn="ctr" fontAlgn="base">
              <a:spcBef>
                <a:spcPct val="0"/>
              </a:spcBef>
              <a:spcAft>
                <a:spcPct val="0"/>
              </a:spcAft>
            </a:pPr>
            <a:r>
              <a:rPr lang="en-US" b="1" dirty="0">
                <a:solidFill>
                  <a:srgbClr val="292934"/>
                </a:solidFill>
                <a:latin typeface="Avenir Next Condensed Demi Bold"/>
                <a:ea typeface="ＭＳ Ｐゴシック" charset="0"/>
                <a:cs typeface="Avenir Next Condensed Demi Bold"/>
              </a:rPr>
              <a:t>1999</a:t>
            </a:r>
          </a:p>
        </p:txBody>
      </p:sp>
      <p:pic>
        <p:nvPicPr>
          <p:cNvPr id="6" name="Picture 5" descr="Employment First">
            <a:extLst>
              <a:ext uri="{FF2B5EF4-FFF2-40B4-BE49-F238E27FC236}">
                <a16:creationId xmlns:a16="http://schemas.microsoft.com/office/drawing/2014/main" id="{57831A15-1BB3-0107-5C12-E54A9C7288B7}"/>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5079895" y="4490002"/>
            <a:ext cx="2676250" cy="1751128"/>
          </a:xfrm>
          <a:prstGeom prst="rect">
            <a:avLst/>
          </a:prstGeom>
          <a:ln w="12700" cmpd="sng">
            <a:noFill/>
          </a:ln>
        </p:spPr>
      </p:pic>
      <p:pic>
        <p:nvPicPr>
          <p:cNvPr id="15" name="Picture 14">
            <a:extLst>
              <a:ext uri="{FF2B5EF4-FFF2-40B4-BE49-F238E27FC236}">
                <a16:creationId xmlns:a16="http://schemas.microsoft.com/office/drawing/2014/main" id="{FF5824AB-D632-B6D8-9816-DDCB26370F1F}"/>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159642" y="3265273"/>
            <a:ext cx="2821246" cy="2128825"/>
          </a:xfrm>
          <a:prstGeom prst="rect">
            <a:avLst/>
          </a:prstGeom>
        </p:spPr>
      </p:pic>
      <p:sp>
        <p:nvSpPr>
          <p:cNvPr id="16" name="TextBox 15">
            <a:extLst>
              <a:ext uri="{FF2B5EF4-FFF2-40B4-BE49-F238E27FC236}">
                <a16:creationId xmlns:a16="http://schemas.microsoft.com/office/drawing/2014/main" id="{EA5A0C94-69F8-B76C-206D-5FDD3513FEE5}"/>
              </a:ext>
            </a:extLst>
          </p:cNvPr>
          <p:cNvSpPr txBox="1"/>
          <p:nvPr/>
        </p:nvSpPr>
        <p:spPr>
          <a:xfrm>
            <a:off x="9714458" y="5209725"/>
            <a:ext cx="2019300" cy="1200329"/>
          </a:xfrm>
          <a:prstGeom prst="rect">
            <a:avLst/>
          </a:prstGeom>
          <a:noFill/>
        </p:spPr>
        <p:txBody>
          <a:bodyPr wrap="square" rtlCol="0">
            <a:spAutoFit/>
          </a:bodyPr>
          <a:lstStyle/>
          <a:p>
            <a:pPr algn="ctr" fontAlgn="base">
              <a:spcBef>
                <a:spcPct val="0"/>
              </a:spcBef>
              <a:spcAft>
                <a:spcPct val="0"/>
              </a:spcAft>
            </a:pPr>
            <a:r>
              <a:rPr lang="en-US" dirty="0">
                <a:solidFill>
                  <a:srgbClr val="292934"/>
                </a:solidFill>
                <a:latin typeface="Gill Sans MT" charset="0"/>
                <a:ea typeface="ＭＳ Ｐゴシック" charset="0"/>
              </a:rPr>
              <a:t>Workforce Innovation &amp; Opportunity Act</a:t>
            </a:r>
          </a:p>
          <a:p>
            <a:pPr algn="ctr" fontAlgn="base">
              <a:spcBef>
                <a:spcPct val="0"/>
              </a:spcBef>
              <a:spcAft>
                <a:spcPct val="0"/>
              </a:spcAft>
            </a:pPr>
            <a:r>
              <a:rPr lang="en-US" b="1" dirty="0">
                <a:solidFill>
                  <a:srgbClr val="292934"/>
                </a:solidFill>
                <a:latin typeface="Gill Sans MT" charset="0"/>
                <a:ea typeface="ＭＳ Ｐゴシック" charset="0"/>
              </a:rPr>
              <a:t>2014</a:t>
            </a:r>
          </a:p>
        </p:txBody>
      </p:sp>
      <p:sp>
        <p:nvSpPr>
          <p:cNvPr id="13" name="Slide Number Placeholder 12"/>
          <p:cNvSpPr>
            <a:spLocks noGrp="1"/>
          </p:cNvSpPr>
          <p:nvPr>
            <p:ph type="sldNum" sz="quarter" idx="12"/>
          </p:nvPr>
        </p:nvSpPr>
        <p:spPr>
          <a:xfrm>
            <a:off x="11599917" y="6611884"/>
            <a:ext cx="14224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fld id="{DE0518C9-3CC7-7448-AD05-3CB269384775}" type="slidenum">
              <a:rPr lang="en-US" smtClean="0"/>
              <a:pPr fontAlgn="base">
                <a:spcBef>
                  <a:spcPct val="0"/>
                </a:spcBef>
                <a:spcAft>
                  <a:spcPct val="0"/>
                </a:spcAft>
                <a:defRPr/>
              </a:pPr>
              <a:t>18</a:t>
            </a:fld>
            <a:endParaRPr lang="en-US" dirty="0">
              <a:latin typeface="Gill Sans MT" charset="0"/>
              <a:ea typeface="ＭＳ Ｐゴシック" charset="0"/>
            </a:endParaRPr>
          </a:p>
        </p:txBody>
      </p:sp>
    </p:spTree>
    <p:extLst>
      <p:ext uri="{BB962C8B-B14F-4D97-AF65-F5344CB8AC3E}">
        <p14:creationId xmlns:p14="http://schemas.microsoft.com/office/powerpoint/2010/main" val="219426845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E0F8DC9-38AD-CFD0-A81E-594C543B08C2}"/>
              </a:ext>
            </a:extLst>
          </p:cNvPr>
          <p:cNvSpPr>
            <a:spLocks noGrp="1"/>
          </p:cNvSpPr>
          <p:nvPr>
            <p:ph type="title"/>
          </p:nvPr>
        </p:nvSpPr>
        <p:spPr>
          <a:xfrm>
            <a:off x="5015345" y="335390"/>
            <a:ext cx="3920836" cy="1711737"/>
          </a:xfrm>
        </p:spPr>
        <p:txBody>
          <a:bodyPr/>
          <a:lstStyle/>
          <a:p>
            <a:r>
              <a:rPr lang="en-US" sz="3200" cap="small" dirty="0">
                <a:latin typeface="Calibri" panose="020F0502020204030204" pitchFamily="34" charset="0"/>
                <a:cs typeface="Calibri" panose="020F0502020204030204" pitchFamily="34" charset="0"/>
              </a:rPr>
              <a:t>Disability Employment: 21</a:t>
            </a:r>
            <a:r>
              <a:rPr lang="en-US" sz="3200" cap="small" baseline="30000" dirty="0">
                <a:latin typeface="Calibri" panose="020F0502020204030204" pitchFamily="34" charset="0"/>
                <a:cs typeface="Calibri" panose="020F0502020204030204" pitchFamily="34" charset="0"/>
              </a:rPr>
              <a:t>st</a:t>
            </a:r>
            <a:r>
              <a:rPr lang="en-US" sz="3200" cap="small" dirty="0">
                <a:latin typeface="Calibri" panose="020F0502020204030204" pitchFamily="34" charset="0"/>
                <a:cs typeface="Calibri" panose="020F0502020204030204" pitchFamily="34" charset="0"/>
              </a:rPr>
              <a:t> Century View</a:t>
            </a:r>
          </a:p>
        </p:txBody>
      </p:sp>
      <p:pic>
        <p:nvPicPr>
          <p:cNvPr id="11" name="Picture 1">
            <a:extLst>
              <a:ext uri="{FF2B5EF4-FFF2-40B4-BE49-F238E27FC236}">
                <a16:creationId xmlns:a16="http://schemas.microsoft.com/office/drawing/2014/main" id="{BD03E15A-CCDC-7546-01AE-7A08A788931F}"/>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2447739" y="335389"/>
            <a:ext cx="2567606" cy="17117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 name="Content Placeholder 2"/>
          <p:cNvSpPr>
            <a:spLocks noGrp="1"/>
          </p:cNvSpPr>
          <p:nvPr>
            <p:ph idx="1"/>
          </p:nvPr>
        </p:nvSpPr>
        <p:spPr>
          <a:xfrm>
            <a:off x="2059244" y="2312112"/>
            <a:ext cx="9875834" cy="2345086"/>
          </a:xfrm>
        </p:spPr>
        <p:txBody>
          <a:bodyPr>
            <a:noAutofit/>
          </a:bodyPr>
          <a:lstStyle/>
          <a:p>
            <a:pPr>
              <a:spcBef>
                <a:spcPts val="1200"/>
              </a:spcBef>
              <a:defRPr/>
            </a:pPr>
            <a:r>
              <a:rPr lang="en-US" sz="3200" dirty="0"/>
              <a:t>Disability: </a:t>
            </a:r>
            <a:r>
              <a:rPr lang="en-US" sz="3200" b="1" i="1" dirty="0"/>
              <a:t>not a barrier to employment in</a:t>
            </a:r>
            <a:br>
              <a:rPr lang="en-US" sz="3200" b="1" i="1" dirty="0"/>
            </a:br>
            <a:r>
              <a:rPr lang="en-US" sz="3200" b="1" i="1" dirty="0"/>
              <a:t>general workforce</a:t>
            </a:r>
          </a:p>
          <a:p>
            <a:pPr>
              <a:spcBef>
                <a:spcPts val="1200"/>
              </a:spcBef>
              <a:defRPr/>
            </a:pPr>
            <a:r>
              <a:rPr lang="en-US" sz="3200" dirty="0"/>
              <a:t>Right job match and supports </a:t>
            </a:r>
            <a:r>
              <a:rPr lang="en-US" sz="3200" b="1" dirty="0"/>
              <a:t>= </a:t>
            </a:r>
            <a:r>
              <a:rPr lang="en-US" sz="3200" b="1" i="1" dirty="0"/>
              <a:t>job success</a:t>
            </a:r>
          </a:p>
          <a:p>
            <a:pPr>
              <a:spcBef>
                <a:spcPts val="1200"/>
              </a:spcBef>
              <a:defRPr/>
            </a:pPr>
            <a:r>
              <a:rPr lang="en-US" sz="3200" dirty="0"/>
              <a:t>Full integration and inclusion</a:t>
            </a:r>
          </a:p>
        </p:txBody>
      </p:sp>
      <p:pic>
        <p:nvPicPr>
          <p:cNvPr id="7" name="Picture 6" descr="White male in wheelchair with gray sweater working at Y">
            <a:extLst>
              <a:ext uri="{FF2B5EF4-FFF2-40B4-BE49-F238E27FC236}">
                <a16:creationId xmlns:a16="http://schemas.microsoft.com/office/drawing/2014/main" id="{157608FC-92CB-38E5-5BEF-EA89D0548E2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56922" y="2609850"/>
            <a:ext cx="1580354" cy="1638300"/>
          </a:xfrm>
          <a:prstGeom prst="rect">
            <a:avLst/>
          </a:prstGeom>
        </p:spPr>
      </p:pic>
      <p:pic>
        <p:nvPicPr>
          <p:cNvPr id="9" name="Picture 8" descr="Woman standing in front of daycare center where where works">
            <a:extLst>
              <a:ext uri="{FF2B5EF4-FFF2-40B4-BE49-F238E27FC236}">
                <a16:creationId xmlns:a16="http://schemas.microsoft.com/office/drawing/2014/main" id="{83BD54F3-3D47-F3CE-42A4-A9CCF5416D36}"/>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132756" y="2725106"/>
            <a:ext cx="1727404" cy="1519098"/>
          </a:xfrm>
          <a:prstGeom prst="rect">
            <a:avLst/>
          </a:prstGeom>
        </p:spPr>
      </p:pic>
      <p:pic>
        <p:nvPicPr>
          <p:cNvPr id="8" name="Picture 7" descr="White male sitting at computer screen">
            <a:extLst>
              <a:ext uri="{FF2B5EF4-FFF2-40B4-BE49-F238E27FC236}">
                <a16:creationId xmlns:a16="http://schemas.microsoft.com/office/drawing/2014/main" id="{EDDCC4CB-7C16-8525-9D15-4EB0CDF4A6E7}"/>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133547" y="5022630"/>
            <a:ext cx="1740875" cy="1305656"/>
          </a:xfrm>
          <a:prstGeom prst="rect">
            <a:avLst/>
          </a:prstGeom>
        </p:spPr>
      </p:pic>
      <p:pic>
        <p:nvPicPr>
          <p:cNvPr id="17" name="Picture 16" descr="Black male in hospital uniform">
            <a:extLst>
              <a:ext uri="{FF2B5EF4-FFF2-40B4-BE49-F238E27FC236}">
                <a16:creationId xmlns:a16="http://schemas.microsoft.com/office/drawing/2014/main" id="{7391F997-FDD6-9D18-D75E-A8C49DFC3679}"/>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957638" y="4905566"/>
            <a:ext cx="1190462" cy="1617044"/>
          </a:xfrm>
          <a:prstGeom prst="rect">
            <a:avLst/>
          </a:prstGeom>
        </p:spPr>
      </p:pic>
      <p:pic>
        <p:nvPicPr>
          <p:cNvPr id="15" name="Picture 14" descr="White women setting a restaurant table">
            <a:extLst>
              <a:ext uri="{FF2B5EF4-FFF2-40B4-BE49-F238E27FC236}">
                <a16:creationId xmlns:a16="http://schemas.microsoft.com/office/drawing/2014/main" id="{DE60AAF7-8A28-C377-1294-C465A4F7B009}"/>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6619947" y="4956121"/>
            <a:ext cx="2316234" cy="1302882"/>
          </a:xfrm>
          <a:prstGeom prst="rect">
            <a:avLst/>
          </a:prstGeom>
        </p:spPr>
      </p:pic>
      <p:pic>
        <p:nvPicPr>
          <p:cNvPr id="10" name="Picture 9" descr="Back male with a dog on a table at a vet's office">
            <a:extLst>
              <a:ext uri="{FF2B5EF4-FFF2-40B4-BE49-F238E27FC236}">
                <a16:creationId xmlns:a16="http://schemas.microsoft.com/office/drawing/2014/main" id="{9048DF08-898D-9C6B-31A3-47D11805554F}"/>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9987594" y="4953347"/>
            <a:ext cx="1740875" cy="1305656"/>
          </a:xfrm>
          <a:prstGeom prst="rect">
            <a:avLst/>
          </a:prstGeom>
        </p:spPr>
      </p:pic>
      <p:sp>
        <p:nvSpPr>
          <p:cNvPr id="2" name="Slide Number Placeholder 1"/>
          <p:cNvSpPr>
            <a:spLocks noGrp="1"/>
          </p:cNvSpPr>
          <p:nvPr>
            <p:ph type="sldNum" sz="quarter" idx="12"/>
          </p:nvPr>
        </p:nvSpPr>
        <p:spPr>
          <a:xfrm>
            <a:off x="11728469" y="6555152"/>
            <a:ext cx="14224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fld id="{DE0518C9-3CC7-7448-AD05-3CB269384775}" type="slidenum">
              <a:rPr lang="en-US" smtClean="0"/>
              <a:pPr fontAlgn="base">
                <a:spcBef>
                  <a:spcPct val="0"/>
                </a:spcBef>
                <a:spcAft>
                  <a:spcPct val="0"/>
                </a:spcAft>
                <a:defRPr/>
              </a:pPr>
              <a:t>19</a:t>
            </a:fld>
            <a:endParaRPr lang="en-US" dirty="0">
              <a:latin typeface="Gill Sans MT" charset="0"/>
              <a:ea typeface="ＭＳ Ｐゴシック" charset="0"/>
            </a:endParaRPr>
          </a:p>
        </p:txBody>
      </p:sp>
    </p:spTree>
    <p:extLst>
      <p:ext uri="{BB962C8B-B14F-4D97-AF65-F5344CB8AC3E}">
        <p14:creationId xmlns:p14="http://schemas.microsoft.com/office/powerpoint/2010/main" val="4069474130"/>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5219498-D544-41AC-98FE-8F956EF66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F500DBFC-17A9-4E0A-AEE2-A49F9AEEF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F3B5EFD-7C5F-5BAF-2138-523907B5FB8F}"/>
              </a:ext>
            </a:extLst>
          </p:cNvPr>
          <p:cNvSpPr>
            <a:spLocks noGrp="1"/>
          </p:cNvSpPr>
          <p:nvPr>
            <p:ph type="title"/>
          </p:nvPr>
        </p:nvSpPr>
        <p:spPr>
          <a:xfrm>
            <a:off x="480714" y="1011065"/>
            <a:ext cx="4842848" cy="1368880"/>
          </a:xfrm>
        </p:spPr>
        <p:txBody>
          <a:bodyPr vert="horz" lIns="91440" tIns="45720" rIns="91440" bIns="45720" rtlCol="0" anchor="t">
            <a:normAutofit fontScale="90000"/>
          </a:bodyPr>
          <a:lstStyle/>
          <a:p>
            <a:r>
              <a:rPr lang="en-US" sz="4900" b="1" kern="1200" dirty="0">
                <a:solidFill>
                  <a:schemeClr val="tx2"/>
                </a:solidFill>
                <a:latin typeface="+mj-lt"/>
                <a:ea typeface="+mj-ea"/>
                <a:cs typeface="+mj-cs"/>
              </a:rPr>
              <a:t>We should applaud our progress.</a:t>
            </a:r>
            <a:br>
              <a:rPr lang="en-US" sz="4000" b="1" kern="1200" dirty="0">
                <a:solidFill>
                  <a:schemeClr val="tx2"/>
                </a:solidFill>
                <a:latin typeface="+mj-lt"/>
                <a:ea typeface="+mj-ea"/>
                <a:cs typeface="+mj-cs"/>
              </a:rPr>
            </a:br>
            <a:endParaRPr lang="en-US" sz="5400" b="1" i="1" kern="1200" dirty="0">
              <a:latin typeface="Calibri" panose="020F0502020204030204" pitchFamily="34" charset="0"/>
              <a:cs typeface="Calibri" panose="020F0502020204030204" pitchFamily="34" charset="0"/>
            </a:endParaRPr>
          </a:p>
        </p:txBody>
      </p:sp>
      <p:grpSp>
        <p:nvGrpSpPr>
          <p:cNvPr id="15" name="Group 14">
            <a:extLst>
              <a:ext uri="{FF2B5EF4-FFF2-40B4-BE49-F238E27FC236}">
                <a16:creationId xmlns:a16="http://schemas.microsoft.com/office/drawing/2014/main" id="{D74613BB-817C-4C4F-8A24-4936F2F064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1023" y="52996"/>
            <a:ext cx="6093363" cy="6805005"/>
            <a:chOff x="6101023" y="52996"/>
            <a:chExt cx="6093363" cy="6805005"/>
          </a:xfrm>
        </p:grpSpPr>
        <p:sp>
          <p:nvSpPr>
            <p:cNvPr id="16" name="Freeform: Shape 15">
              <a:extLst>
                <a:ext uri="{FF2B5EF4-FFF2-40B4-BE49-F238E27FC236}">
                  <a16:creationId xmlns:a16="http://schemas.microsoft.com/office/drawing/2014/main" id="{926C820D-9A01-44F0-AE18-C2DAB089B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3517682 w 5890490"/>
                <a:gd name="connsiteY0" fmla="*/ 0 h 6578439"/>
                <a:gd name="connsiteX1" fmla="*/ 5849513 w 5890490"/>
                <a:gd name="connsiteY1" fmla="*/ 841730 h 6578439"/>
                <a:gd name="connsiteX2" fmla="*/ 5890490 w 5890490"/>
                <a:gd name="connsiteY2" fmla="*/ 879060 h 6578439"/>
                <a:gd name="connsiteX3" fmla="*/ 5890490 w 5890490"/>
                <a:gd name="connsiteY3" fmla="*/ 1816052 h 6578439"/>
                <a:gd name="connsiteX4" fmla="*/ 5856961 w 5890490"/>
                <a:gd name="connsiteY4" fmla="*/ 1771023 h 6578439"/>
                <a:gd name="connsiteX5" fmla="*/ 5655397 w 5890490"/>
                <a:gd name="connsiteY5" fmla="*/ 1548813 h 6578439"/>
                <a:gd name="connsiteX6" fmla="*/ 3517682 w 5890490"/>
                <a:gd name="connsiteY6" fmla="*/ 658717 h 6578439"/>
                <a:gd name="connsiteX7" fmla="*/ 2395696 w 5890490"/>
                <a:gd name="connsiteY7" fmla="*/ 850721 h 6578439"/>
                <a:gd name="connsiteX8" fmla="*/ 1519955 w 5890490"/>
                <a:gd name="connsiteY8" fmla="*/ 1450441 h 6578439"/>
                <a:gd name="connsiteX9" fmla="*/ 1223630 w 5890490"/>
                <a:gd name="connsiteY9" fmla="*/ 1841430 h 6578439"/>
                <a:gd name="connsiteX10" fmla="*/ 1075857 w 5890490"/>
                <a:gd name="connsiteY10" fmla="*/ 2329343 h 6578439"/>
                <a:gd name="connsiteX11" fmla="*/ 731010 w 5890490"/>
                <a:gd name="connsiteY11" fmla="*/ 3483744 h 6578439"/>
                <a:gd name="connsiteX12" fmla="*/ 741000 w 5890490"/>
                <a:gd name="connsiteY12" fmla="*/ 4479719 h 6578439"/>
                <a:gd name="connsiteX13" fmla="*/ 1315615 w 5890490"/>
                <a:gd name="connsiteY13" fmla="*/ 5443827 h 6578439"/>
                <a:gd name="connsiteX14" fmla="*/ 2277503 w 5890490"/>
                <a:gd name="connsiteY14" fmla="*/ 6259386 h 6578439"/>
                <a:gd name="connsiteX15" fmla="*/ 3439448 w 5890490"/>
                <a:gd name="connsiteY15" fmla="*/ 6551739 h 6578439"/>
                <a:gd name="connsiteX16" fmla="*/ 4408732 w 5890490"/>
                <a:gd name="connsiteY16" fmla="*/ 6255172 h 6578439"/>
                <a:gd name="connsiteX17" fmla="*/ 5343243 w 5890490"/>
                <a:gd name="connsiteY17" fmla="*/ 5442509 h 6578439"/>
                <a:gd name="connsiteX18" fmla="*/ 5745566 w 5890490"/>
                <a:gd name="connsiteY18" fmla="*/ 5056656 h 6578439"/>
                <a:gd name="connsiteX19" fmla="*/ 5890490 w 5890490"/>
                <a:gd name="connsiteY19" fmla="*/ 4920880 h 6578439"/>
                <a:gd name="connsiteX20" fmla="*/ 5890490 w 5890490"/>
                <a:gd name="connsiteY20" fmla="*/ 5821966 h 6578439"/>
                <a:gd name="connsiteX21" fmla="*/ 5802002 w 5890490"/>
                <a:gd name="connsiteY21" fmla="*/ 5907904 h 6578439"/>
                <a:gd name="connsiteX22" fmla="*/ 5294358 w 5890490"/>
                <a:gd name="connsiteY22" fmla="*/ 6397505 h 6578439"/>
                <a:gd name="connsiteX23" fmla="*/ 5077178 w 5890490"/>
                <a:gd name="connsiteY23" fmla="*/ 6578439 h 6578439"/>
                <a:gd name="connsiteX24" fmla="*/ 1567290 w 5890490"/>
                <a:gd name="connsiteY24" fmla="*/ 6578439 h 6578439"/>
                <a:gd name="connsiteX25" fmla="*/ 1508588 w 5890490"/>
                <a:gd name="connsiteY25" fmla="*/ 6535186 h 6578439"/>
                <a:gd name="connsiteX26" fmla="*/ 826498 w 5890490"/>
                <a:gd name="connsiteY26" fmla="*/ 5876034 h 6578439"/>
                <a:gd name="connsiteX27" fmla="*/ 122403 w 5890490"/>
                <a:gd name="connsiteY27" fmla="*/ 3255655 h 6578439"/>
                <a:gd name="connsiteX28" fmla="*/ 1061197 w 5890490"/>
                <a:gd name="connsiteY28" fmla="*/ 984650 h 6578439"/>
                <a:gd name="connsiteX29" fmla="*/ 3517682 w 5890490"/>
                <a:gd name="connsiteY29"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890490" h="6578439">
                  <a:moveTo>
                    <a:pt x="3517682" y="0"/>
                  </a:moveTo>
                  <a:cubicBezTo>
                    <a:pt x="4402016" y="0"/>
                    <a:pt x="5213741" y="315483"/>
                    <a:pt x="5849513" y="841730"/>
                  </a:cubicBezTo>
                  <a:lnTo>
                    <a:pt x="5890490" y="879060"/>
                  </a:lnTo>
                  <a:lnTo>
                    <a:pt x="5890490" y="1816052"/>
                  </a:lnTo>
                  <a:lnTo>
                    <a:pt x="5856961" y="1771023"/>
                  </a:lnTo>
                  <a:cubicBezTo>
                    <a:pt x="5793650" y="1694076"/>
                    <a:pt x="5726429" y="1619959"/>
                    <a:pt x="5655397" y="1548813"/>
                  </a:cubicBezTo>
                  <a:cubicBezTo>
                    <a:pt x="5082208" y="974906"/>
                    <a:pt x="4322973" y="658717"/>
                    <a:pt x="3517682" y="658717"/>
                  </a:cubicBezTo>
                  <a:cubicBezTo>
                    <a:pt x="3085520" y="658717"/>
                    <a:pt x="2718488" y="721533"/>
                    <a:pt x="2395696" y="850721"/>
                  </a:cubicBezTo>
                  <a:cubicBezTo>
                    <a:pt x="2079132" y="977407"/>
                    <a:pt x="1792668" y="1173626"/>
                    <a:pt x="1519955" y="1450441"/>
                  </a:cubicBezTo>
                  <a:cubicBezTo>
                    <a:pt x="1330275" y="1642840"/>
                    <a:pt x="1263719" y="1756094"/>
                    <a:pt x="1223630" y="1841430"/>
                  </a:cubicBezTo>
                  <a:cubicBezTo>
                    <a:pt x="1166545" y="1962981"/>
                    <a:pt x="1128532" y="2116663"/>
                    <a:pt x="1075857" y="2329343"/>
                  </a:cubicBezTo>
                  <a:cubicBezTo>
                    <a:pt x="1008652" y="2601153"/>
                    <a:pt x="916537" y="2973574"/>
                    <a:pt x="731010" y="3483744"/>
                  </a:cubicBezTo>
                  <a:cubicBezTo>
                    <a:pt x="617488" y="3795981"/>
                    <a:pt x="620731" y="4121653"/>
                    <a:pt x="741000" y="4479719"/>
                  </a:cubicBezTo>
                  <a:cubicBezTo>
                    <a:pt x="847257" y="4796172"/>
                    <a:pt x="1045888" y="5129481"/>
                    <a:pt x="1315615" y="5443827"/>
                  </a:cubicBezTo>
                  <a:cubicBezTo>
                    <a:pt x="1630753" y="5810980"/>
                    <a:pt x="1945371" y="6077784"/>
                    <a:pt x="2277503" y="6259386"/>
                  </a:cubicBezTo>
                  <a:cubicBezTo>
                    <a:pt x="2637530" y="6456133"/>
                    <a:pt x="3017536" y="6551739"/>
                    <a:pt x="3439448" y="6551739"/>
                  </a:cubicBezTo>
                  <a:cubicBezTo>
                    <a:pt x="3781571" y="6551739"/>
                    <a:pt x="4089573" y="6457449"/>
                    <a:pt x="4408732" y="6255172"/>
                  </a:cubicBezTo>
                  <a:cubicBezTo>
                    <a:pt x="4738010" y="6046310"/>
                    <a:pt x="5050941" y="5739207"/>
                    <a:pt x="5343243" y="5442509"/>
                  </a:cubicBezTo>
                  <a:cubicBezTo>
                    <a:pt x="5479860" y="5303970"/>
                    <a:pt x="5614918" y="5178206"/>
                    <a:pt x="5745566" y="5056656"/>
                  </a:cubicBezTo>
                  <a:lnTo>
                    <a:pt x="5890490" y="4920880"/>
                  </a:lnTo>
                  <a:lnTo>
                    <a:pt x="5890490" y="5821966"/>
                  </a:lnTo>
                  <a:lnTo>
                    <a:pt x="5802002"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458B604F-996E-4349-B131-E04ED285D8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5"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27CCEAF3-651B-4605-AE58-F96E227036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3"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gs>
                <a:gs pos="16000">
                  <a:schemeClr val="accent6">
                    <a:alpha val="10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Freeform: Shape 18">
              <a:extLst>
                <a:ext uri="{FF2B5EF4-FFF2-40B4-BE49-F238E27FC236}">
                  <a16:creationId xmlns:a16="http://schemas.microsoft.com/office/drawing/2014/main" id="{ED519330-E5F1-4248-B58C-1AA0D9E6D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pic>
        <p:nvPicPr>
          <p:cNvPr id="8" name="Graphic 7">
            <a:extLst>
              <a:ext uri="{FF2B5EF4-FFF2-40B4-BE49-F238E27FC236}">
                <a16:creationId xmlns:a16="http://schemas.microsoft.com/office/drawing/2014/main" id="{52DCFB06-5CA2-82B6-5C58-091B81BD4BED}"/>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29652" y="1859078"/>
            <a:ext cx="3821102" cy="3821102"/>
          </a:xfrm>
          <a:prstGeom prst="rect">
            <a:avLst/>
          </a:prstGeom>
          <a:ln>
            <a:noFill/>
          </a:ln>
        </p:spPr>
      </p:pic>
      <p:sp>
        <p:nvSpPr>
          <p:cNvPr id="4" name="Slide Number Placeholder 3">
            <a:extLst>
              <a:ext uri="{FF2B5EF4-FFF2-40B4-BE49-F238E27FC236}">
                <a16:creationId xmlns:a16="http://schemas.microsoft.com/office/drawing/2014/main" id="{0B7E9E7E-C2A5-FDD3-28D9-3349B01DF5B9}"/>
              </a:ext>
            </a:extLst>
          </p:cNvPr>
          <p:cNvSpPr>
            <a:spLocks noGrp="1"/>
          </p:cNvSpPr>
          <p:nvPr>
            <p:ph type="sldNum" sz="quarter" idx="12"/>
          </p:nvPr>
        </p:nvSpPr>
        <p:spPr>
          <a:xfrm>
            <a:off x="9147704" y="6439878"/>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33426DC-C502-4B46-A878-9D43EE259E4B}" type="slidenum">
              <a:rPr kumimoji="0" lang="en-US" b="0" i="0" u="none" strike="noStrike" kern="1200" cap="none" spc="0" normalizeH="0" baseline="0" noProof="0" smtClean="0">
                <a:ln>
                  <a:noFill/>
                </a:ln>
                <a:solidFill>
                  <a:schemeClr val="tx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20</a:t>
            </a:fld>
            <a:endParaRPr kumimoji="0" lang="en-US"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3" name="Title 1">
            <a:extLst>
              <a:ext uri="{FF2B5EF4-FFF2-40B4-BE49-F238E27FC236}">
                <a16:creationId xmlns:a16="http://schemas.microsoft.com/office/drawing/2014/main" id="{01F40F82-7C25-0ABE-71C1-38A9A38707F3}"/>
              </a:ext>
            </a:extLst>
          </p:cNvPr>
          <p:cNvSpPr txBox="1">
            <a:spLocks/>
          </p:cNvSpPr>
          <p:nvPr/>
        </p:nvSpPr>
        <p:spPr>
          <a:xfrm>
            <a:off x="420280" y="2759707"/>
            <a:ext cx="4842848" cy="3961768"/>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900" b="1" dirty="0">
                <a:solidFill>
                  <a:schemeClr val="tx2"/>
                </a:solidFill>
              </a:rPr>
              <a:t>YET…</a:t>
            </a:r>
            <a:br>
              <a:rPr lang="en-US" sz="4000" b="1" dirty="0">
                <a:solidFill>
                  <a:schemeClr val="tx2"/>
                </a:solidFill>
              </a:rPr>
            </a:br>
            <a:br>
              <a:rPr lang="en-US" sz="4000" b="1" dirty="0">
                <a:solidFill>
                  <a:schemeClr val="tx2"/>
                </a:solidFill>
              </a:rPr>
            </a:br>
            <a:r>
              <a:rPr lang="en-US" sz="5400" b="1" i="1" dirty="0">
                <a:latin typeface="Calibri" panose="020F0502020204030204" pitchFamily="34" charset="0"/>
                <a:cs typeface="Calibri" panose="020F0502020204030204" pitchFamily="34" charset="0"/>
              </a:rPr>
              <a:t>We need to do better</a:t>
            </a:r>
          </a:p>
        </p:txBody>
      </p:sp>
    </p:spTree>
    <p:extLst>
      <p:ext uri="{BB962C8B-B14F-4D97-AF65-F5344CB8AC3E}">
        <p14:creationId xmlns:p14="http://schemas.microsoft.com/office/powerpoint/2010/main" val="250817137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810EF-5770-2AD3-5F72-93E7D969ED6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303F525-AE5B-2B23-09B3-9892B512BE36}"/>
              </a:ext>
            </a:extLst>
          </p:cNvPr>
          <p:cNvSpPr>
            <a:spLocks noGrp="1"/>
          </p:cNvSpPr>
          <p:nvPr>
            <p:ph type="title"/>
          </p:nvPr>
        </p:nvSpPr>
        <p:spPr>
          <a:scene3d>
            <a:camera prst="orthographicFront"/>
            <a:lightRig rig="threePt" dir="t"/>
          </a:scene3d>
          <a:sp3d>
            <a:bevelT prst="angle"/>
          </a:sp3d>
        </p:spPr>
        <p:style>
          <a:lnRef idx="1">
            <a:schemeClr val="accent1"/>
          </a:lnRef>
          <a:fillRef idx="3">
            <a:schemeClr val="accent1"/>
          </a:fillRef>
          <a:effectRef idx="2">
            <a:schemeClr val="accent1"/>
          </a:effectRef>
          <a:fontRef idx="minor">
            <a:schemeClr val="lt1"/>
          </a:fontRef>
        </p:style>
        <p:txBody>
          <a:bodyPr/>
          <a:lstStyle/>
          <a:p>
            <a:r>
              <a:rPr lang="en-US" dirty="0"/>
              <a:t>We are of good intent, BUT we are also victims of….</a:t>
            </a:r>
          </a:p>
        </p:txBody>
      </p:sp>
      <p:graphicFrame>
        <p:nvGraphicFramePr>
          <p:cNvPr id="10" name="Content Placeholder 7">
            <a:extLst>
              <a:ext uri="{FF2B5EF4-FFF2-40B4-BE49-F238E27FC236}">
                <a16:creationId xmlns:a16="http://schemas.microsoft.com/office/drawing/2014/main" id="{8E75E38C-C715-152F-D605-0BFC01C6EC20}"/>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3880232027"/>
              </p:ext>
            </p:extLst>
          </p:nvPr>
        </p:nvGraphicFramePr>
        <p:xfrm>
          <a:off x="838199" y="1825625"/>
          <a:ext cx="11234351" cy="4667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228178F6-F19C-2E01-E4AC-37FDAE42B040}"/>
              </a:ext>
            </a:extLst>
          </p:cNvPr>
          <p:cNvSpPr>
            <a:spLocks noGrp="1"/>
          </p:cNvSpPr>
          <p:nvPr>
            <p:ph type="sldNum" sz="quarter" idx="12"/>
          </p:nvPr>
        </p:nvSpPr>
        <p:spPr>
          <a:xfrm>
            <a:off x="9188669" y="644524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3426DC-C502-4B46-A878-9D43EE259E4B}" type="slidenum">
              <a:rPr kumimoji="0" lang="en-US" b="0" i="0" u="none" strike="noStrike" kern="1200" cap="none" spc="0" normalizeH="0" baseline="0" noProof="0" smtClean="0">
                <a:ln>
                  <a:noFill/>
                </a:ln>
                <a:solidFill>
                  <a:schemeClr val="tx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0812502"/>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B9C17B6-0D73-FA1A-6382-4AF4CCEF3B99}"/>
              </a:ext>
            </a:extLst>
          </p:cNvPr>
          <p:cNvSpPr>
            <a:spLocks noGrp="1"/>
          </p:cNvSpPr>
          <p:nvPr>
            <p:ph type="title"/>
          </p:nvPr>
        </p:nvSpPr>
        <p:spPr>
          <a:xfrm>
            <a:off x="3453570" y="848358"/>
            <a:ext cx="4007522" cy="1217112"/>
          </a:xfrm>
          <a:scene3d>
            <a:camera prst="orthographicFront"/>
            <a:lightRig rig="threePt" dir="t"/>
          </a:scene3d>
          <a:sp3d>
            <a:bevelT prst="angle"/>
          </a:sp3d>
        </p:spPr>
        <p:style>
          <a:lnRef idx="0">
            <a:schemeClr val="accent6"/>
          </a:lnRef>
          <a:fillRef idx="3">
            <a:schemeClr val="accent6"/>
          </a:fillRef>
          <a:effectRef idx="3">
            <a:schemeClr val="accent6"/>
          </a:effectRef>
          <a:fontRef idx="minor">
            <a:schemeClr val="lt1"/>
          </a:fontRef>
        </p:style>
        <p:txBody>
          <a:bodyPr anchor="ctr">
            <a:normAutofit/>
          </a:bodyPr>
          <a:lstStyle/>
          <a:p>
            <a:pPr algn="ctr"/>
            <a:r>
              <a:rPr lang="en-US" sz="7200" dirty="0"/>
              <a:t>Ableism</a:t>
            </a:r>
          </a:p>
        </p:txBody>
      </p:sp>
      <p:sp>
        <p:nvSpPr>
          <p:cNvPr id="3" name="Content Placeholder 2">
            <a:extLst>
              <a:ext uri="{FF2B5EF4-FFF2-40B4-BE49-F238E27FC236}">
                <a16:creationId xmlns:a16="http://schemas.microsoft.com/office/drawing/2014/main" id="{09E5E91B-AC42-7A98-B4B9-1CAB29B0549D}"/>
              </a:ext>
            </a:extLst>
          </p:cNvPr>
          <p:cNvSpPr>
            <a:spLocks noGrp="1"/>
          </p:cNvSpPr>
          <p:nvPr>
            <p:ph idx="1"/>
          </p:nvPr>
        </p:nvSpPr>
        <p:spPr>
          <a:xfrm>
            <a:off x="1285240" y="2581281"/>
            <a:ext cx="8344182" cy="3006719"/>
          </a:xfrm>
        </p:spPr>
        <p:txBody>
          <a:bodyPr anchor="t">
            <a:normAutofit/>
          </a:bodyPr>
          <a:lstStyle/>
          <a:p>
            <a:pPr>
              <a:lnSpc>
                <a:spcPct val="100000"/>
              </a:lnSpc>
              <a:spcBef>
                <a:spcPts val="2200"/>
              </a:spcBef>
            </a:pPr>
            <a:r>
              <a:rPr lang="en-US" dirty="0">
                <a:latin typeface="Proxima Nova"/>
              </a:rPr>
              <a:t>Bi</a:t>
            </a:r>
            <a:r>
              <a:rPr lang="en-US" b="0" i="0" u="none" strike="noStrike" dirty="0">
                <a:effectLst/>
                <a:latin typeface="Proxima Nova"/>
              </a:rPr>
              <a:t>as, prejudice, and discrimination against people with disabilities</a:t>
            </a:r>
          </a:p>
          <a:p>
            <a:pPr>
              <a:lnSpc>
                <a:spcPct val="100000"/>
              </a:lnSpc>
              <a:spcBef>
                <a:spcPts val="2200"/>
              </a:spcBef>
            </a:pPr>
            <a:r>
              <a:rPr lang="en-US" dirty="0">
                <a:latin typeface="Proxima Nova"/>
              </a:rPr>
              <a:t>Based</a:t>
            </a:r>
            <a:r>
              <a:rPr lang="en-US" b="0" i="0" u="none" strike="noStrike" dirty="0">
                <a:effectLst/>
                <a:latin typeface="Proxima Nova"/>
              </a:rPr>
              <a:t> on idea that people with disabilities are less valuable than nondisabled people</a:t>
            </a:r>
          </a:p>
        </p:txBody>
      </p:sp>
      <p:sp>
        <p:nvSpPr>
          <p:cNvPr id="19" name="Slide Number Placeholder 18">
            <a:extLst>
              <a:ext uri="{FF2B5EF4-FFF2-40B4-BE49-F238E27FC236}">
                <a16:creationId xmlns:a16="http://schemas.microsoft.com/office/drawing/2014/main" id="{92538A14-41E3-571E-D53A-EC03961089D4}"/>
              </a:ext>
            </a:extLst>
          </p:cNvPr>
          <p:cNvSpPr>
            <a:spLocks noGrp="1"/>
          </p:cNvSpPr>
          <p:nvPr>
            <p:ph type="sldNum" sz="quarter" idx="12"/>
          </p:nvPr>
        </p:nvSpPr>
        <p:spPr>
          <a:xfrm>
            <a:off x="9020504" y="646286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3426DC-C502-4B46-A878-9D43EE259E4B}" type="slidenum">
              <a:rPr kumimoji="0" lang="en-US" b="0" i="0" u="none" strike="noStrike" kern="1200" cap="none" spc="0" normalizeH="0" baseline="0" noProof="0" smtClean="0">
                <a:ln>
                  <a:noFill/>
                </a:ln>
                <a:solidFill>
                  <a:schemeClr val="tx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4303543"/>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C05CA36-AD6A-4ABF-9A05-52E5A143D2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022214"/>
            <a:ext cx="12192000" cy="2835786"/>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D4331EE8-85A4-4588-8D9E-70E534D47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4022220"/>
            <a:ext cx="8153398" cy="2835780"/>
          </a:xfrm>
          <a:prstGeom prst="rect">
            <a:avLst/>
          </a:prstGeom>
          <a:gradFill>
            <a:gsLst>
              <a:gs pos="0">
                <a:srgbClr val="000000">
                  <a:alpha val="63000"/>
                </a:srgbClr>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49D6C862-61CC-4B46-8080-96583D653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022219"/>
            <a:ext cx="12253472" cy="2835781"/>
          </a:xfrm>
          <a:prstGeom prst="rect">
            <a:avLst/>
          </a:prstGeom>
          <a:gradFill>
            <a:gsLst>
              <a:gs pos="39000">
                <a:schemeClr val="accent1">
                  <a:lumMod val="50000"/>
                  <a:alpha val="0"/>
                </a:schemeClr>
              </a:gs>
              <a:gs pos="100000">
                <a:srgbClr val="000000">
                  <a:alpha val="72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73A9595B-2E15-B43B-4591-1CAC3F878A38}"/>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tretch/>
        </p:blipFill>
        <p:spPr>
          <a:xfrm>
            <a:off x="7059087" y="463404"/>
            <a:ext cx="4192661" cy="5553193"/>
          </a:xfrm>
          <a:prstGeom prst="rect">
            <a:avLst/>
          </a:prstGeom>
        </p:spPr>
      </p:pic>
      <p:sp>
        <p:nvSpPr>
          <p:cNvPr id="17" name="Rectangle 16">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0797"/>
            <a:ext cx="12191998" cy="457203"/>
          </a:xfrm>
          <a:prstGeom prst="rect">
            <a:avLst/>
          </a:prstGeom>
          <a:gradFill>
            <a:gsLst>
              <a:gs pos="0">
                <a:srgbClr val="000000">
                  <a:alpha val="43000"/>
                </a:srgbClr>
              </a:gs>
              <a:gs pos="79000">
                <a:schemeClr val="accent1">
                  <a:lumMod val="75000"/>
                  <a:alpha val="22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85894AF6-EF0C-8E08-EE4D-CE858F375D8E}"/>
              </a:ext>
            </a:extLst>
          </p:cNvPr>
          <p:cNvSpPr txBox="1"/>
          <p:nvPr/>
        </p:nvSpPr>
        <p:spPr>
          <a:xfrm>
            <a:off x="247191" y="374192"/>
            <a:ext cx="6651150" cy="34163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Society is always putting people with disabilities down: </a:t>
            </a:r>
            <a:r>
              <a:rPr kumimoji="0" lang="en-US" sz="2400" b="1" i="1"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‘You can’t do this.’ </a:t>
            </a:r>
            <a:br>
              <a:rPr kumimoji="0" lang="en-US"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r>
              <a:rPr kumimoji="0" lang="en-US" sz="12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br>
              <a:rPr kumimoji="0" lang="en-US"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r>
              <a:rPr kumimoji="0" lang="en-US"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So it impacts people’s thoughts.</a:t>
            </a:r>
            <a:br>
              <a:rPr kumimoji="0" lang="en-US"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r>
              <a:rPr kumimoji="0" lang="en-US"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They start thinking to themselves, </a:t>
            </a:r>
            <a:br>
              <a:rPr kumimoji="0" lang="en-US"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r>
              <a:rPr kumimoji="0" lang="en-US" sz="2400" b="1"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‘Oh, is this what they said true about me?’ </a:t>
            </a:r>
            <a:br>
              <a:rPr kumimoji="0" lang="en-US"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r>
              <a:rPr kumimoji="0" lang="en-US" sz="12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br>
              <a:rPr kumimoji="0" lang="en-US"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r>
              <a:rPr kumimoji="0" lang="en-US"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So that’s why they don’t pursue what they really want to pursue because society leaves a bad taste in their mouth.”</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itle 15">
            <a:extLst>
              <a:ext uri="{FF2B5EF4-FFF2-40B4-BE49-F238E27FC236}">
                <a16:creationId xmlns:a16="http://schemas.microsoft.com/office/drawing/2014/main" id="{84749C93-17A6-3045-9B49-361296660207}"/>
              </a:ext>
            </a:extLst>
          </p:cNvPr>
          <p:cNvSpPr>
            <a:spLocks noGrp="1"/>
          </p:cNvSpPr>
          <p:nvPr>
            <p:ph type="title"/>
          </p:nvPr>
        </p:nvSpPr>
        <p:spPr>
          <a:xfrm>
            <a:off x="542364" y="4412450"/>
            <a:ext cx="10515600" cy="1325563"/>
          </a:xfrm>
        </p:spPr>
        <p:txBody>
          <a:bodyPr/>
          <a:lstStyle/>
          <a:p>
            <a:r>
              <a:rPr lang="en-US" i="1" dirty="0">
                <a:solidFill>
                  <a:schemeClr val="bg1"/>
                </a:solidFill>
                <a:latin typeface="+mn-lt"/>
              </a:rPr>
              <a:t>Kamisha </a:t>
            </a:r>
            <a:r>
              <a:rPr lang="en-US" i="1" dirty="0" err="1">
                <a:solidFill>
                  <a:schemeClr val="bg1"/>
                </a:solidFill>
                <a:latin typeface="+mn-lt"/>
              </a:rPr>
              <a:t>Heriveaux</a:t>
            </a:r>
            <a:endParaRPr lang="en-US" i="1" dirty="0">
              <a:solidFill>
                <a:schemeClr val="bg1"/>
              </a:solidFill>
              <a:latin typeface="+mn-lt"/>
            </a:endParaRPr>
          </a:p>
        </p:txBody>
      </p:sp>
      <p:sp>
        <p:nvSpPr>
          <p:cNvPr id="2" name="Slide Number Placeholder 1">
            <a:extLst>
              <a:ext uri="{FF2B5EF4-FFF2-40B4-BE49-F238E27FC236}">
                <a16:creationId xmlns:a16="http://schemas.microsoft.com/office/drawing/2014/main" id="{F1467686-03C1-0249-B162-BE00A6D61FF1}"/>
              </a:ext>
            </a:extLst>
          </p:cNvPr>
          <p:cNvSpPr>
            <a:spLocks noGrp="1"/>
          </p:cNvSpPr>
          <p:nvPr>
            <p:ph type="sldNum" sz="quarter" idx="12"/>
          </p:nvPr>
        </p:nvSpPr>
        <p:spPr>
          <a:xfrm>
            <a:off x="9020504" y="6337842"/>
            <a:ext cx="2743200" cy="365125"/>
          </a:xfrm>
        </p:spPr>
        <p:txBody>
          <a:bodyPr/>
          <a:lstStyle/>
          <a:p>
            <a:fld id="{98DEB4AB-D614-0E48-BC82-3517EAEB4A4F}" type="slidenum">
              <a:rPr lang="en-US" sz="1400" smtClean="0">
                <a:solidFill>
                  <a:schemeClr val="bg1"/>
                </a:solidFill>
              </a:rPr>
              <a:t>23</a:t>
            </a:fld>
            <a:endParaRPr lang="en-US" sz="1400" dirty="0">
              <a:solidFill>
                <a:schemeClr val="bg1"/>
              </a:solidFill>
            </a:endParaRPr>
          </a:p>
        </p:txBody>
      </p:sp>
    </p:spTree>
    <p:extLst>
      <p:ext uri="{BB962C8B-B14F-4D97-AF65-F5344CB8AC3E}">
        <p14:creationId xmlns:p14="http://schemas.microsoft.com/office/powerpoint/2010/main" val="731849475"/>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11" name="Group 10">
            <a:extLst>
              <a:ext uri="{FF2B5EF4-FFF2-40B4-BE49-F238E27FC236}">
                <a16:creationId xmlns:a16="http://schemas.microsoft.com/office/drawing/2014/main" id="{042BC7E5-76DB-4826-8C07-4A49B6353F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479558"/>
            <a:ext cx="1861854" cy="717514"/>
            <a:chOff x="0" y="1479558"/>
            <a:chExt cx="1861854" cy="717514"/>
          </a:xfrm>
          <a:solidFill>
            <a:schemeClr val="bg1"/>
          </a:solidFill>
        </p:grpSpPr>
        <p:sp>
          <p:nvSpPr>
            <p:cNvPr id="12" name="Freeform: Shape 11">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 name="Freeform: Shape 12">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15" name="Freeform: Shape 14">
            <a:extLst>
              <a:ext uri="{FF2B5EF4-FFF2-40B4-BE49-F238E27FC236}">
                <a16:creationId xmlns:a16="http://schemas.microsoft.com/office/drawing/2014/main" id="{498F8FF6-43B4-494A-AF8F-123A4983E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18992" y="-34538"/>
            <a:ext cx="6655405" cy="6335470"/>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2B06059C-C357-4011-82B9-9C01063013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5194" y="-23905"/>
            <a:ext cx="6705251" cy="6318526"/>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5AFEC601-A132-47EE-B0C2-B38ACD9FC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86886" y="-23905"/>
            <a:ext cx="6705251" cy="6215019"/>
          </a:xfrm>
          <a:custGeom>
            <a:avLst/>
            <a:gdLst>
              <a:gd name="connsiteX0" fmla="*/ 1529549 w 6355652"/>
              <a:gd name="connsiteY0" fmla="*/ 0 h 5890980"/>
              <a:gd name="connsiteX1" fmla="*/ 4826104 w 6355652"/>
              <a:gd name="connsiteY1" fmla="*/ 0 h 5890980"/>
              <a:gd name="connsiteX2" fmla="*/ 4954579 w 6355652"/>
              <a:gd name="connsiteY2" fmla="*/ 78051 h 5890980"/>
              <a:gd name="connsiteX3" fmla="*/ 6355652 w 6355652"/>
              <a:gd name="connsiteY3" fmla="*/ 2713154 h 5890980"/>
              <a:gd name="connsiteX4" fmla="*/ 3177826 w 6355652"/>
              <a:gd name="connsiteY4" fmla="*/ 5890980 h 5890980"/>
              <a:gd name="connsiteX5" fmla="*/ 0 w 6355652"/>
              <a:gd name="connsiteY5" fmla="*/ 2713154 h 5890980"/>
              <a:gd name="connsiteX6" fmla="*/ 1401073 w 6355652"/>
              <a:gd name="connsiteY6" fmla="*/ 78051 h 589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5890980">
                <a:moveTo>
                  <a:pt x="1529549" y="0"/>
                </a:moveTo>
                <a:lnTo>
                  <a:pt x="4826104" y="0"/>
                </a:lnTo>
                <a:lnTo>
                  <a:pt x="4954579" y="78051"/>
                </a:lnTo>
                <a:cubicBezTo>
                  <a:pt x="5799886" y="649129"/>
                  <a:pt x="6355652" y="1616239"/>
                  <a:pt x="6355652" y="2713154"/>
                </a:cubicBezTo>
                <a:cubicBezTo>
                  <a:pt x="6355652" y="4468219"/>
                  <a:pt x="4932891" y="5890980"/>
                  <a:pt x="3177826" y="5890980"/>
                </a:cubicBezTo>
                <a:cubicBezTo>
                  <a:pt x="1422761" y="5890980"/>
                  <a:pt x="0" y="4468219"/>
                  <a:pt x="0" y="2713154"/>
                </a:cubicBezTo>
                <a:cubicBezTo>
                  <a:pt x="0" y="1616239"/>
                  <a:pt x="555766" y="649129"/>
                  <a:pt x="1401073" y="78051"/>
                </a:cubicBezTo>
                <a:close/>
              </a:path>
            </a:pathLst>
          </a:cu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itle 3">
            <a:extLst>
              <a:ext uri="{FF2B5EF4-FFF2-40B4-BE49-F238E27FC236}">
                <a16:creationId xmlns:a16="http://schemas.microsoft.com/office/drawing/2014/main" id="{D0CAADB6-3CA0-1555-E36B-F4041578075C}"/>
              </a:ext>
            </a:extLst>
          </p:cNvPr>
          <p:cNvSpPr>
            <a:spLocks noGrp="1"/>
          </p:cNvSpPr>
          <p:nvPr>
            <p:ph type="title"/>
          </p:nvPr>
        </p:nvSpPr>
        <p:spPr>
          <a:xfrm>
            <a:off x="2242409" y="895483"/>
            <a:ext cx="5786232" cy="3011190"/>
          </a:xfrm>
        </p:spPr>
        <p:txBody>
          <a:bodyPr vert="horz" lIns="91440" tIns="45720" rIns="91440" bIns="45720" rtlCol="0" anchor="b">
            <a:normAutofit/>
          </a:bodyPr>
          <a:lstStyle/>
          <a:p>
            <a:pPr algn="ctr"/>
            <a:r>
              <a:rPr lang="en-US" sz="5400" dirty="0">
                <a:solidFill>
                  <a:schemeClr val="bg1"/>
                </a:solidFill>
              </a:rPr>
              <a:t>We need to be a force for combatting ableism</a:t>
            </a:r>
            <a:endParaRPr lang="en-US" sz="5400" kern="1200" dirty="0">
              <a:solidFill>
                <a:schemeClr val="bg1"/>
              </a:solidFill>
              <a:latin typeface="+mj-lt"/>
              <a:ea typeface="+mj-ea"/>
              <a:cs typeface="+mj-cs"/>
            </a:endParaRPr>
          </a:p>
        </p:txBody>
      </p:sp>
      <p:sp>
        <p:nvSpPr>
          <p:cNvPr id="21" name="Graphic 212">
            <a:extLst>
              <a:ext uri="{FF2B5EF4-FFF2-40B4-BE49-F238E27FC236}">
                <a16:creationId xmlns:a16="http://schemas.microsoft.com/office/drawing/2014/main" id="{279CAF82-0ECF-42BE-8F37-F71941E5D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4716" y="188494"/>
            <a:ext cx="1048371" cy="104837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Graphic 212">
            <a:extLst>
              <a:ext uri="{FF2B5EF4-FFF2-40B4-BE49-F238E27FC236}">
                <a16:creationId xmlns:a16="http://schemas.microsoft.com/office/drawing/2014/main" id="{218E095B-4870-4AD5-9C41-C16D59523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4716" y="188494"/>
            <a:ext cx="1048371" cy="104837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583101" y="3578317"/>
            <a:ext cx="1054466" cy="469689"/>
            <a:chOff x="9841624" y="4115729"/>
            <a:chExt cx="602169" cy="268223"/>
          </a:xfrm>
          <a:solidFill>
            <a:schemeClr val="bg1"/>
          </a:solidFill>
        </p:grpSpPr>
        <p:sp>
          <p:nvSpPr>
            <p:cNvPr id="26" name="Freeform: Shape 25">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7" name="Freeform: Shape 26">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Freeform: Shape 27">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Freeform: Shape 28">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Freeform: Shape 29">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2" name="Oval 31">
            <a:extLst>
              <a:ext uri="{FF2B5EF4-FFF2-40B4-BE49-F238E27FC236}">
                <a16:creationId xmlns:a16="http://schemas.microsoft.com/office/drawing/2014/main" id="{033BC44A-0661-43B4-9C14-FD5963C226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4525" y="4910353"/>
            <a:ext cx="468090" cy="468090"/>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Oval 33">
            <a:extLst>
              <a:ext uri="{FF2B5EF4-FFF2-40B4-BE49-F238E27FC236}">
                <a16:creationId xmlns:a16="http://schemas.microsoft.com/office/drawing/2014/main" id="{BE8CB2F0-2F5A-4EBD-B214-E0309C31F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4525" y="4910353"/>
            <a:ext cx="468090" cy="468090"/>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reeform: Shape 35">
            <a:extLst>
              <a:ext uri="{FF2B5EF4-FFF2-40B4-BE49-F238E27FC236}">
                <a16:creationId xmlns:a16="http://schemas.microsoft.com/office/drawing/2014/main" id="{FFD3887D-244B-4EC4-9208-E304984C5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2467" y="4200769"/>
            <a:ext cx="2769534"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8" name="Freeform: Shape 37">
            <a:extLst>
              <a:ext uri="{FF2B5EF4-FFF2-40B4-BE49-F238E27FC236}">
                <a16:creationId xmlns:a16="http://schemas.microsoft.com/office/drawing/2014/main" id="{97224C31-855E-4593-8A58-5B2B0CC4F5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2467" y="4200769"/>
            <a:ext cx="2769534"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Slide Number Placeholder 1">
            <a:extLst>
              <a:ext uri="{FF2B5EF4-FFF2-40B4-BE49-F238E27FC236}">
                <a16:creationId xmlns:a16="http://schemas.microsoft.com/office/drawing/2014/main" id="{4AF2659A-3AD4-4F13-B395-F1448F8A2B62}"/>
              </a:ext>
            </a:extLst>
          </p:cNvPr>
          <p:cNvSpPr>
            <a:spLocks noGrp="1"/>
          </p:cNvSpPr>
          <p:nvPr>
            <p:ph type="sldNum" sz="quarter" idx="12"/>
          </p:nvPr>
        </p:nvSpPr>
        <p:spPr>
          <a:xfrm>
            <a:off x="9244039" y="6294621"/>
            <a:ext cx="2743200" cy="365125"/>
          </a:xfrm>
        </p:spPr>
        <p:txBody>
          <a:bodyPr/>
          <a:lstStyle/>
          <a:p>
            <a:fld id="{15D3461C-907D-DB4D-BF34-34B4CA38BC40}" type="slidenum">
              <a:rPr lang="en-US" sz="1400" smtClean="0">
                <a:solidFill>
                  <a:schemeClr val="tx1"/>
                </a:solidFill>
              </a:rPr>
              <a:t>24</a:t>
            </a:fld>
            <a:endParaRPr lang="en-US" sz="1400" dirty="0">
              <a:solidFill>
                <a:schemeClr val="tx1"/>
              </a:solidFill>
            </a:endParaRPr>
          </a:p>
        </p:txBody>
      </p:sp>
    </p:spTree>
    <p:extLst>
      <p:ext uri="{BB962C8B-B14F-4D97-AF65-F5344CB8AC3E}">
        <p14:creationId xmlns:p14="http://schemas.microsoft.com/office/powerpoint/2010/main" val="1356631525"/>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0968" y="556367"/>
            <a:ext cx="10058400" cy="4147979"/>
          </a:xfrm>
          <a:scene3d>
            <a:camera prst="orthographicFront">
              <a:rot lat="0" lon="0" rev="0"/>
            </a:camera>
            <a:lightRig rig="balanced" dir="t">
              <a:rot lat="0" lon="0" rev="5100000"/>
            </a:lightRig>
          </a:scene3d>
          <a:sp3d contourW="6350">
            <a:bevelT w="29210" h="12700" prst="angle"/>
            <a:contourClr>
              <a:schemeClr val="accent5">
                <a:shade val="30000"/>
                <a:satMod val="130000"/>
              </a:schemeClr>
            </a:contourClr>
          </a:sp3d>
        </p:spPr>
        <p:style>
          <a:lnRef idx="0">
            <a:schemeClr val="accent5"/>
          </a:lnRef>
          <a:fillRef idx="3">
            <a:schemeClr val="accent5"/>
          </a:fillRef>
          <a:effectRef idx="3">
            <a:schemeClr val="accent5"/>
          </a:effectRef>
          <a:fontRef idx="minor">
            <a:schemeClr val="lt1"/>
          </a:fontRef>
        </p:style>
        <p:txBody>
          <a:bodyPr>
            <a:noAutofit/>
          </a:bodyPr>
          <a:lstStyle/>
          <a:p>
            <a:pPr algn="ctr"/>
            <a:r>
              <a:rPr lang="en-US" sz="2800" dirty="0"/>
              <a:t>“Meaningful and creative shared experiences</a:t>
            </a:r>
            <a:br>
              <a:rPr lang="en-US" sz="2800" dirty="0"/>
            </a:br>
            <a:r>
              <a:rPr lang="en-US" sz="2800" dirty="0"/>
              <a:t>shared between people can be more compelling</a:t>
            </a:r>
            <a:br>
              <a:rPr lang="en-US" sz="2800" dirty="0"/>
            </a:br>
            <a:r>
              <a:rPr lang="en-US" sz="2800" dirty="0"/>
              <a:t>than all of the faiths, fears, concepts, ideologies,</a:t>
            </a:r>
            <a:br>
              <a:rPr lang="en-US" sz="2800" dirty="0"/>
            </a:br>
            <a:r>
              <a:rPr lang="en-US" sz="2800" dirty="0"/>
              <a:t>and prejudices that divide;</a:t>
            </a:r>
            <a:br>
              <a:rPr lang="en-US" sz="2800" dirty="0"/>
            </a:br>
            <a:r>
              <a:rPr lang="en-US" sz="2800" dirty="0"/>
              <a:t>and if these experiences can be multiplied and</a:t>
            </a:r>
            <a:br>
              <a:rPr lang="en-US" sz="2800" dirty="0"/>
            </a:br>
            <a:r>
              <a:rPr lang="en-US" sz="2800" dirty="0"/>
              <a:t>sustained over a sufficient duration of time,</a:t>
            </a:r>
            <a:br>
              <a:rPr lang="en-US" sz="2800" dirty="0"/>
            </a:br>
            <a:r>
              <a:rPr lang="en-US" sz="2800" dirty="0"/>
              <a:t>then any barrier that separates one person from another</a:t>
            </a:r>
            <a:br>
              <a:rPr lang="en-US" sz="2800" dirty="0"/>
            </a:br>
            <a:r>
              <a:rPr lang="en-US" sz="2800" dirty="0"/>
              <a:t>can be undermined and eliminated.”</a:t>
            </a:r>
            <a:endParaRPr lang="en-US" sz="2800" b="1" dirty="0"/>
          </a:p>
        </p:txBody>
      </p:sp>
      <p:sp>
        <p:nvSpPr>
          <p:cNvPr id="7" name="TextBox 6">
            <a:extLst>
              <a:ext uri="{FF2B5EF4-FFF2-40B4-BE49-F238E27FC236}">
                <a16:creationId xmlns:a16="http://schemas.microsoft.com/office/drawing/2014/main" id="{4C015E66-76FD-1F44-89CE-0F70B94153FA}"/>
              </a:ext>
            </a:extLst>
          </p:cNvPr>
          <p:cNvSpPr txBox="1"/>
          <p:nvPr/>
        </p:nvSpPr>
        <p:spPr>
          <a:xfrm>
            <a:off x="7954618" y="5234506"/>
            <a:ext cx="4084983" cy="461665"/>
          </a:xfrm>
          <a:prstGeom prst="rect">
            <a:avLst/>
          </a:prstGeom>
          <a:noFill/>
        </p:spPr>
        <p:txBody>
          <a:bodyPr wrap="square" rtlCol="0">
            <a:spAutoFit/>
          </a:bodyPr>
          <a:lstStyle/>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92934"/>
                </a:solidFill>
                <a:effectLst/>
                <a:uLnTx/>
                <a:uFillTx/>
                <a:latin typeface="Gill Sans MT" charset="0"/>
                <a:ea typeface="ＭＳ Ｐゴシック" charset="0"/>
                <a:cs typeface="+mn-cs"/>
              </a:rPr>
              <a:t>Howard Thurman</a:t>
            </a:r>
            <a:endParaRPr kumimoji="0" lang="en-US" sz="2400" b="0" i="1" u="none" strike="noStrike" kern="1200" cap="none" spc="0" normalizeH="0" baseline="0" noProof="0" dirty="0">
              <a:ln>
                <a:noFill/>
              </a:ln>
              <a:solidFill>
                <a:srgbClr val="292934"/>
              </a:solidFill>
              <a:effectLst/>
              <a:uLnTx/>
              <a:uFillTx/>
              <a:latin typeface="Gill Sans MT" charset="0"/>
              <a:ea typeface="ＭＳ Ｐゴシック" charset="0"/>
              <a:cs typeface="+mn-cs"/>
            </a:endParaRPr>
          </a:p>
        </p:txBody>
      </p:sp>
      <p:pic>
        <p:nvPicPr>
          <p:cNvPr id="4" name="Picture 3">
            <a:extLst>
              <a:ext uri="{FF2B5EF4-FFF2-40B4-BE49-F238E27FC236}">
                <a16:creationId xmlns:a16="http://schemas.microsoft.com/office/drawing/2014/main" id="{089F39A8-55BF-5449-A45E-158BDC95DD59}"/>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109547" y="4994455"/>
            <a:ext cx="1706969" cy="1706969"/>
          </a:xfrm>
          <a:prstGeom prst="rect">
            <a:avLst/>
          </a:prstGeom>
        </p:spPr>
      </p:pic>
      <p:sp>
        <p:nvSpPr>
          <p:cNvPr id="3" name="Slide Number Placeholder 2">
            <a:extLst>
              <a:ext uri="{FF2B5EF4-FFF2-40B4-BE49-F238E27FC236}">
                <a16:creationId xmlns:a16="http://schemas.microsoft.com/office/drawing/2014/main" id="{BFF32D7E-BFF6-5682-5C57-488E7D29A3E0}"/>
              </a:ext>
            </a:extLst>
          </p:cNvPr>
          <p:cNvSpPr>
            <a:spLocks noGrp="1"/>
          </p:cNvSpPr>
          <p:nvPr>
            <p:ph type="sldNum" sz="quarter" idx="12"/>
          </p:nvPr>
        </p:nvSpPr>
        <p:spPr>
          <a:xfrm>
            <a:off x="11599271" y="6372240"/>
            <a:ext cx="1422400" cy="329184"/>
          </a:xfrm>
        </p:spPr>
        <p:txBody>
          <a:bodyPr/>
          <a:lstStyle/>
          <a:p>
            <a:pPr>
              <a:defRPr/>
            </a:pPr>
            <a:fld id="{DE0518C9-3CC7-7448-AD05-3CB269384775}" type="slidenum">
              <a:rPr lang="en-US" smtClean="0">
                <a:solidFill>
                  <a:schemeClr val="tx1"/>
                </a:solidFill>
              </a:rPr>
              <a:pPr>
                <a:defRPr/>
              </a:pPr>
              <a:t>25</a:t>
            </a:fld>
            <a:endParaRPr lang="en-US" dirty="0">
              <a:solidFill>
                <a:schemeClr val="tx1"/>
              </a:solidFill>
            </a:endParaRPr>
          </a:p>
        </p:txBody>
      </p:sp>
    </p:spTree>
    <p:extLst>
      <p:ext uri="{BB962C8B-B14F-4D97-AF65-F5344CB8AC3E}">
        <p14:creationId xmlns:p14="http://schemas.microsoft.com/office/powerpoint/2010/main" val="3049979219"/>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7674" y="2687472"/>
            <a:ext cx="7816652" cy="3667538"/>
          </a:xfrm>
          <a:effectLst>
            <a:glow rad="139700">
              <a:schemeClr val="accent4">
                <a:satMod val="175000"/>
                <a:alpha val="40000"/>
              </a:schemeClr>
            </a:glow>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prst="angle"/>
            <a:contourClr>
              <a:schemeClr val="accent5">
                <a:shade val="30000"/>
                <a:satMod val="130000"/>
              </a:schemeClr>
            </a:contourClr>
          </a:sp3d>
        </p:spPr>
        <p:style>
          <a:lnRef idx="0">
            <a:schemeClr val="accent5"/>
          </a:lnRef>
          <a:fillRef idx="3">
            <a:schemeClr val="accent5"/>
          </a:fillRef>
          <a:effectRef idx="3">
            <a:schemeClr val="accent5"/>
          </a:effectRef>
          <a:fontRef idx="minor">
            <a:schemeClr val="lt1"/>
          </a:fontRef>
        </p:style>
        <p:txBody>
          <a:bodyPr>
            <a:noAutofit/>
          </a:bodyPr>
          <a:lstStyle/>
          <a:p>
            <a:pPr algn="ctr"/>
            <a:r>
              <a:rPr lang="en-US" sz="2800" dirty="0">
                <a:solidFill>
                  <a:schemeClr val="bg1"/>
                </a:solidFill>
                <a:latin typeface="Arial" panose="020B0604020202020204" pitchFamily="34" charset="0"/>
                <a:ea typeface="Calibri" panose="020F0502020204030204" pitchFamily="34" charset="0"/>
                <a:cs typeface="Arial" panose="020B0604020202020204" pitchFamily="34" charset="0"/>
              </a:rPr>
              <a:t>“</a:t>
            </a:r>
            <a:r>
              <a:rPr lang="en-US" sz="2800" dirty="0">
                <a:solidFill>
                  <a:schemeClr val="bg1"/>
                </a:solidFill>
                <a:latin typeface="Arial" panose="020B0604020202020204" pitchFamily="34" charset="0"/>
                <a:cs typeface="Arial" panose="020B0604020202020204" pitchFamily="34" charset="0"/>
              </a:rPr>
              <a:t>Many of these improvements have come thanks to the disabled community’s own growing activism and </a:t>
            </a:r>
            <a:r>
              <a:rPr lang="en-US" sz="2800" b="1" i="1" dirty="0">
                <a:solidFill>
                  <a:schemeClr val="bg1"/>
                </a:solidFill>
                <a:latin typeface="Arial" panose="020B0604020202020204" pitchFamily="34" charset="0"/>
                <a:cs typeface="Arial" panose="020B0604020202020204" pitchFamily="34" charset="0"/>
              </a:rPr>
              <a:t>that of allies more exposed than earlier generations to disabled classmates and colleagues at school and work</a:t>
            </a:r>
            <a:r>
              <a:rPr lang="en-US" sz="2800" dirty="0">
                <a:solidFill>
                  <a:schemeClr val="bg1"/>
                </a:solidFill>
                <a:latin typeface="Arial" panose="020B0604020202020204" pitchFamily="34" charset="0"/>
                <a:cs typeface="Arial" panose="020B0604020202020204" pitchFamily="34" charset="0"/>
              </a:rPr>
              <a:t>, </a:t>
            </a:r>
            <a:br>
              <a:rPr lang="en-US" sz="2800" dirty="0">
                <a:solidFill>
                  <a:schemeClr val="bg1"/>
                </a:solidFill>
                <a:latin typeface="Arial" panose="020B0604020202020204" pitchFamily="34" charset="0"/>
                <a:cs typeface="Arial" panose="020B0604020202020204" pitchFamily="34" charset="0"/>
              </a:rPr>
            </a:br>
            <a:r>
              <a:rPr lang="en-US" sz="2800" dirty="0">
                <a:solidFill>
                  <a:schemeClr val="bg1"/>
                </a:solidFill>
                <a:latin typeface="Arial" panose="020B0604020202020204" pitchFamily="34" charset="0"/>
                <a:cs typeface="Arial" panose="020B0604020202020204" pitchFamily="34" charset="0"/>
              </a:rPr>
              <a:t>and disabled characters in popular culture."</a:t>
            </a:r>
            <a:r>
              <a:rPr lang="en-US" sz="2800" dirty="0">
                <a:solidFill>
                  <a:schemeClr val="bg1"/>
                </a:solidFill>
                <a:latin typeface="Arial" panose="020B0604020202020204" pitchFamily="34" charset="0"/>
                <a:ea typeface="Calibri" panose="020F0502020204030204" pitchFamily="34" charset="0"/>
                <a:cs typeface="Arial" panose="020B0604020202020204" pitchFamily="34" charset="0"/>
              </a:rPr>
              <a:t>  </a:t>
            </a:r>
            <a:endParaRPr lang="en-US" sz="2800" b="1" dirty="0">
              <a:solidFill>
                <a:schemeClr val="bg1"/>
              </a:solidFill>
              <a:latin typeface="Arial" panose="020B0604020202020204" pitchFamily="34" charset="0"/>
              <a:cs typeface="Arial" panose="020B0604020202020204" pitchFamily="34" charset="0"/>
            </a:endParaRPr>
          </a:p>
        </p:txBody>
      </p:sp>
      <p:pic>
        <p:nvPicPr>
          <p:cNvPr id="5" name="Picture 4" descr="The Boston Globe">
            <a:extLst>
              <a:ext uri="{FF2B5EF4-FFF2-40B4-BE49-F238E27FC236}">
                <a16:creationId xmlns:a16="http://schemas.microsoft.com/office/drawing/2014/main" id="{BFC5F3DB-6B0E-E3D4-7621-4C346F8BD687}"/>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592222" y="413538"/>
            <a:ext cx="8593873" cy="600253"/>
          </a:xfrm>
          <a:prstGeom prst="rect">
            <a:avLst/>
          </a:prstGeom>
        </p:spPr>
      </p:pic>
      <p:pic>
        <p:nvPicPr>
          <p:cNvPr id="8" name="Picture 7" descr="Travel Trendsetting: People with disabilities are advocating for more accessibility, and the travel industry is listening.">
            <a:extLst>
              <a:ext uri="{FF2B5EF4-FFF2-40B4-BE49-F238E27FC236}">
                <a16:creationId xmlns:a16="http://schemas.microsoft.com/office/drawing/2014/main" id="{56871BF2-4A07-0FF8-5D2D-3221FDC48B39}"/>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2983351" y="1013791"/>
            <a:ext cx="6060454" cy="1013793"/>
          </a:xfrm>
          <a:prstGeom prst="rect">
            <a:avLst/>
          </a:prstGeom>
        </p:spPr>
      </p:pic>
      <p:pic>
        <p:nvPicPr>
          <p:cNvPr id="9" name="Picture 8" descr="By Jon Marcus, Globe Correspondent, Updated April 4, 2024">
            <a:extLst>
              <a:ext uri="{FF2B5EF4-FFF2-40B4-BE49-F238E27FC236}">
                <a16:creationId xmlns:a16="http://schemas.microsoft.com/office/drawing/2014/main" id="{B83EA47B-7762-8482-22EC-E6AB41CC6120}"/>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3970358" y="2019597"/>
            <a:ext cx="3066319" cy="224362"/>
          </a:xfrm>
          <a:prstGeom prst="rect">
            <a:avLst/>
          </a:prstGeom>
        </p:spPr>
      </p:pic>
      <p:sp>
        <p:nvSpPr>
          <p:cNvPr id="3" name="Slide Number Placeholder 2">
            <a:extLst>
              <a:ext uri="{FF2B5EF4-FFF2-40B4-BE49-F238E27FC236}">
                <a16:creationId xmlns:a16="http://schemas.microsoft.com/office/drawing/2014/main" id="{1457EC37-7CC3-9476-D6AB-112931E7102D}"/>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0518C9-3CC7-7448-AD05-3CB269384775}" type="slidenum">
              <a:rPr kumimoji="0" lang="en-US" sz="14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400" b="1"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740061846"/>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7FAAA7-2CDA-5EC7-6C3B-7B8D7E6480DB}"/>
              </a:ext>
            </a:extLst>
          </p:cNvPr>
          <p:cNvSpPr>
            <a:spLocks noGrp="1"/>
          </p:cNvSpPr>
          <p:nvPr>
            <p:ph type="title"/>
          </p:nvPr>
        </p:nvSpPr>
        <p:spPr>
          <a:xfrm>
            <a:off x="406401" y="-2045765"/>
            <a:ext cx="10515600" cy="1325563"/>
          </a:xfrm>
        </p:spPr>
        <p:txBody>
          <a:bodyPr/>
          <a:lstStyle/>
          <a:p>
            <a:r>
              <a:rPr lang="en-US" dirty="0"/>
              <a:t>Intergroup Contact Theory</a:t>
            </a:r>
          </a:p>
        </p:txBody>
      </p:sp>
      <p:pic>
        <p:nvPicPr>
          <p:cNvPr id="2" name="Picture 1" descr="Pencil graphic pointing at chalkboard which says Intergroup Contact Theory"/>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49014" y="604806"/>
            <a:ext cx="4408730" cy="3482896"/>
          </a:xfrm>
          <a:prstGeom prst="rect">
            <a:avLst/>
          </a:prstGeom>
        </p:spPr>
      </p:pic>
      <p:sp>
        <p:nvSpPr>
          <p:cNvPr id="4" name="Content Placeholder 3"/>
          <p:cNvSpPr>
            <a:spLocks noGrp="1"/>
          </p:cNvSpPr>
          <p:nvPr>
            <p:ph idx="1"/>
          </p:nvPr>
        </p:nvSpPr>
        <p:spPr>
          <a:xfrm>
            <a:off x="5664201" y="1498601"/>
            <a:ext cx="5658764" cy="4483100"/>
          </a:xfrm>
        </p:spPr>
        <p:txBody>
          <a:bodyPr anchor="t">
            <a:normAutofit/>
          </a:bodyPr>
          <a:lstStyle/>
          <a:p>
            <a:pPr>
              <a:spcBef>
                <a:spcPts val="1872"/>
              </a:spcBef>
            </a:pPr>
            <a:r>
              <a:rPr lang="en-US" dirty="0"/>
              <a:t>Developed by Gordon Allport in 1954</a:t>
            </a:r>
          </a:p>
          <a:p>
            <a:pPr>
              <a:spcBef>
                <a:spcPts val="1872"/>
              </a:spcBef>
            </a:pPr>
            <a:r>
              <a:rPr lang="en-US" dirty="0"/>
              <a:t>Personal contact with members of a negatively stereotyped group </a:t>
            </a:r>
            <a:r>
              <a:rPr lang="en-US" b="1" dirty="0"/>
              <a:t>generally improves attitudes </a:t>
            </a:r>
            <a:r>
              <a:rPr lang="en-US" dirty="0"/>
              <a:t>toward group members</a:t>
            </a:r>
          </a:p>
          <a:p>
            <a:pPr>
              <a:spcBef>
                <a:spcPts val="1872"/>
              </a:spcBef>
            </a:pPr>
            <a:r>
              <a:rPr lang="en-US" b="1" dirty="0"/>
              <a:t>Not all </a:t>
            </a:r>
            <a:r>
              <a:rPr lang="en-US" dirty="0"/>
              <a:t>such contact will necessarily have a positive outcome</a:t>
            </a:r>
          </a:p>
          <a:p>
            <a:pPr lvl="1"/>
            <a:r>
              <a:rPr lang="en-US" sz="2800" i="1" dirty="0"/>
              <a:t>Certain optimal conditions needed for the contact situation </a:t>
            </a:r>
          </a:p>
        </p:txBody>
      </p:sp>
      <p:cxnSp>
        <p:nvCxnSpPr>
          <p:cNvPr id="3" name="Straight Connector 2">
            <a:extLst>
              <a:ext uri="{FF2B5EF4-FFF2-40B4-BE49-F238E27FC236}">
                <a16:creationId xmlns:a16="http://schemas.microsoft.com/office/drawing/2014/main" id="{09827736-1352-9724-3BA6-8AC6387A1529}"/>
              </a:ext>
              <a:ext uri="{C183D7F6-B498-43B3-948B-1728B52AA6E4}">
                <adec:decorative xmlns:adec="http://schemas.microsoft.com/office/drawing/2017/decorative" val="1"/>
              </a:ext>
            </a:extLst>
          </p:cNvPr>
          <p:cNvCxnSpPr>
            <a:cxnSpLocks/>
          </p:cNvCxnSpPr>
          <p:nvPr/>
        </p:nvCxnSpPr>
        <p:spPr>
          <a:xfrm>
            <a:off x="0" y="69360"/>
            <a:ext cx="12192000" cy="0"/>
          </a:xfrm>
          <a:prstGeom prst="line">
            <a:avLst/>
          </a:prstGeom>
          <a:ln w="12700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16C73AF9-0D33-5C66-5D79-0D0129904B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0" name="Rectangle 9">
              <a:extLst>
                <a:ext uri="{FF2B5EF4-FFF2-40B4-BE49-F238E27FC236}">
                  <a16:creationId xmlns:a16="http://schemas.microsoft.com/office/drawing/2014/main" id="{ED96FD6F-5EE9-36C7-C200-3111EF6D0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62A39BB2-02C1-8A8B-8021-68446E0474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6" name="Slide Number Placeholder 5">
            <a:extLst>
              <a:ext uri="{FF2B5EF4-FFF2-40B4-BE49-F238E27FC236}">
                <a16:creationId xmlns:a16="http://schemas.microsoft.com/office/drawing/2014/main" id="{9F26C4A2-7748-F07C-CB49-E5ECF3D468DB}"/>
              </a:ext>
            </a:extLst>
          </p:cNvPr>
          <p:cNvSpPr>
            <a:spLocks noGrp="1"/>
          </p:cNvSpPr>
          <p:nvPr>
            <p:ph type="sldNum" sz="quarter" idx="12"/>
          </p:nvPr>
        </p:nvSpPr>
        <p:spPr>
          <a:xfrm>
            <a:off x="9062545" y="6372593"/>
            <a:ext cx="2743200" cy="365125"/>
          </a:xfrm>
        </p:spPr>
        <p:txBody>
          <a:bodyPr/>
          <a:lstStyle/>
          <a:p>
            <a:fld id="{233426DC-C502-4B46-A878-9D43EE259E4B}" type="slidenum">
              <a:rPr lang="en-US" smtClean="0">
                <a:solidFill>
                  <a:schemeClr val="tx1"/>
                </a:solidFill>
              </a:rPr>
              <a:t>27</a:t>
            </a:fld>
            <a:endParaRPr lang="en-US" dirty="0">
              <a:solidFill>
                <a:schemeClr val="tx1"/>
              </a:solidFill>
            </a:endParaRPr>
          </a:p>
        </p:txBody>
      </p:sp>
    </p:spTree>
    <p:extLst>
      <p:ext uri="{BB962C8B-B14F-4D97-AF65-F5344CB8AC3E}">
        <p14:creationId xmlns:p14="http://schemas.microsoft.com/office/powerpoint/2010/main" val="1223114297"/>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40081" y="3713803"/>
            <a:ext cx="11103421" cy="3144197"/>
          </a:xfrm>
        </p:spPr>
        <p:txBody>
          <a:bodyPr numCol="2" spcCol="914400"/>
          <a:lstStyle/>
          <a:p>
            <a:pPr>
              <a:spcBef>
                <a:spcPts val="1680"/>
              </a:spcBef>
            </a:pPr>
            <a:r>
              <a:rPr lang="en-US" sz="2200" dirty="0"/>
              <a:t>Supports or adaptations provided for worker in ways </a:t>
            </a:r>
            <a:r>
              <a:rPr lang="en-US" sz="2200" b="1" i="1" dirty="0"/>
              <a:t>as typical as possible</a:t>
            </a:r>
          </a:p>
          <a:p>
            <a:pPr>
              <a:spcBef>
                <a:spcPts val="1680"/>
              </a:spcBef>
            </a:pPr>
            <a:r>
              <a:rPr lang="en-US" sz="2200" dirty="0"/>
              <a:t>Opportunities for a </a:t>
            </a:r>
            <a:r>
              <a:rPr lang="en-US" sz="2200" b="1" i="1" dirty="0"/>
              <a:t>“normative” quantity </a:t>
            </a:r>
            <a:r>
              <a:rPr lang="en-US" sz="2200" dirty="0"/>
              <a:t>of interactions with non-disabled employees </a:t>
            </a:r>
          </a:p>
          <a:p>
            <a:pPr>
              <a:spcBef>
                <a:spcPts val="1680"/>
              </a:spcBef>
            </a:pPr>
            <a:r>
              <a:rPr lang="en-US" sz="2200" dirty="0"/>
              <a:t>Person is clearly in the role of a </a:t>
            </a:r>
            <a:r>
              <a:rPr lang="en-US" sz="2200" b="1" i="1" dirty="0"/>
              <a:t>valued employee and viewed as competent</a:t>
            </a:r>
          </a:p>
          <a:p>
            <a:pPr>
              <a:spcBef>
                <a:spcPts val="1680"/>
              </a:spcBef>
            </a:pPr>
            <a:r>
              <a:rPr lang="en-US" sz="2200" dirty="0"/>
              <a:t>The particular work responsibilities and place of employment are </a:t>
            </a:r>
            <a:r>
              <a:rPr lang="en-US" sz="2200" b="1" i="1" dirty="0"/>
              <a:t>socially valued</a:t>
            </a:r>
          </a:p>
          <a:p>
            <a:pPr>
              <a:spcBef>
                <a:spcPts val="1680"/>
              </a:spcBef>
            </a:pPr>
            <a:r>
              <a:rPr lang="en-US" sz="2200" dirty="0"/>
              <a:t>If multiple people with disabilities are employed in same business they are in </a:t>
            </a:r>
            <a:r>
              <a:rPr lang="en-US" sz="2200" b="1" i="1" dirty="0"/>
              <a:t>individual,  personalized jobs and not grouped together</a:t>
            </a:r>
          </a:p>
          <a:p>
            <a:endParaRPr lang="en-US" sz="2200" dirty="0"/>
          </a:p>
        </p:txBody>
      </p:sp>
      <p:sp>
        <p:nvSpPr>
          <p:cNvPr id="7" name="Text Box 2"/>
          <p:cNvSpPr txBox="1">
            <a:spLocks noChangeArrowheads="1"/>
          </p:cNvSpPr>
          <p:nvPr/>
        </p:nvSpPr>
        <p:spPr bwMode="auto">
          <a:xfrm>
            <a:off x="8991752" y="253207"/>
            <a:ext cx="3200400" cy="52322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400" b="0" i="0" u="sng" strike="noStrike" kern="1200" cap="none" spc="0" normalizeH="0" baseline="0" noProof="0" dirty="0">
                <a:ln>
                  <a:noFill/>
                </a:ln>
                <a:solidFill>
                  <a:prstClr val="black"/>
                </a:solidFill>
                <a:effectLst/>
                <a:uLnTx/>
                <a:uFillTx/>
                <a:latin typeface="Arial" charset="0"/>
                <a:ea typeface="ＭＳ Ｐゴシック" charset="0"/>
              </a:rPr>
              <a:t>Source</a:t>
            </a: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rPr>
              <a:t>:</a:t>
            </a:r>
            <a:br>
              <a:rPr kumimoji="0" lang="en-US" sz="1400" b="0" i="0" u="none" strike="noStrike" kern="1200" cap="none" spc="0" normalizeH="0" baseline="0" noProof="0" dirty="0">
                <a:ln>
                  <a:noFill/>
                </a:ln>
                <a:solidFill>
                  <a:prstClr val="black"/>
                </a:solidFill>
                <a:effectLst/>
                <a:uLnTx/>
                <a:uFillTx/>
                <a:latin typeface="Arial" charset="0"/>
                <a:ea typeface="ＭＳ Ｐゴシック" charset="0"/>
              </a:rPr>
            </a:br>
            <a:r>
              <a:rPr kumimoji="0" lang="en-US" sz="1400" b="0" i="1" u="none" strike="noStrike" kern="1200" cap="none" spc="0" normalizeH="0" baseline="0" noProof="0" dirty="0">
                <a:ln>
                  <a:noFill/>
                </a:ln>
                <a:solidFill>
                  <a:prstClr val="black"/>
                </a:solidFill>
                <a:effectLst/>
                <a:uLnTx/>
                <a:uFillTx/>
                <a:latin typeface="Arial" charset="0"/>
                <a:ea typeface="ＭＳ Ｐゴシック" charset="0"/>
              </a:rPr>
              <a:t>Tyree, Kendrick, and Block, 2011</a:t>
            </a:r>
          </a:p>
        </p:txBody>
      </p:sp>
      <p:pic>
        <p:nvPicPr>
          <p:cNvPr id="2" name="Picture 1">
            <a:extLs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917439" y="253207"/>
            <a:ext cx="4997003" cy="3591596"/>
          </a:xfrm>
          <a:prstGeom prst="rect">
            <a:avLst/>
          </a:prstGeom>
        </p:spPr>
      </p:pic>
      <p:sp>
        <p:nvSpPr>
          <p:cNvPr id="3" name="Title 2"/>
          <p:cNvSpPr txBox="1">
            <a:spLocks noGrp="1"/>
          </p:cNvSpPr>
          <p:nvPr>
            <p:ph type="title" idx="4294967295"/>
          </p:nvPr>
        </p:nvSpPr>
        <p:spPr>
          <a:xfrm>
            <a:off x="3494621" y="1752128"/>
            <a:ext cx="3429000" cy="83099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660066"/>
                </a:solidFill>
                <a:effectLst/>
                <a:uLnTx/>
                <a:uFillTx/>
                <a:latin typeface="Calibri" panose="020F0502020204030204"/>
                <a:ea typeface="+mn-ea"/>
                <a:cs typeface="+mn-cs"/>
              </a:rPr>
              <a:t>Characteristics of a Socially Valued Employee</a:t>
            </a:r>
          </a:p>
        </p:txBody>
      </p:sp>
      <p:cxnSp>
        <p:nvCxnSpPr>
          <p:cNvPr id="6" name="Straight Connector 5">
            <a:extLst>
              <a:ext uri="{FF2B5EF4-FFF2-40B4-BE49-F238E27FC236}">
                <a16:creationId xmlns:a16="http://schemas.microsoft.com/office/drawing/2014/main" id="{B90EEAC7-7BFD-BEEB-E3F0-037F5544F32B}"/>
              </a:ext>
              <a:ext uri="{C183D7F6-B498-43B3-948B-1728B52AA6E4}">
                <adec:decorative xmlns:adec="http://schemas.microsoft.com/office/drawing/2017/decorative" val="1"/>
              </a:ext>
            </a:extLst>
          </p:cNvPr>
          <p:cNvCxnSpPr>
            <a:cxnSpLocks/>
          </p:cNvCxnSpPr>
          <p:nvPr/>
        </p:nvCxnSpPr>
        <p:spPr>
          <a:xfrm>
            <a:off x="0" y="6806157"/>
            <a:ext cx="12192000" cy="0"/>
          </a:xfrm>
          <a:prstGeom prst="line">
            <a:avLst/>
          </a:prstGeom>
          <a:ln w="1270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2161801-56D6-06B7-0338-D6B0605506E3}"/>
              </a:ext>
              <a:ext uri="{C183D7F6-B498-43B3-948B-1728B52AA6E4}">
                <adec:decorative xmlns:adec="http://schemas.microsoft.com/office/drawing/2017/decorative" val="1"/>
              </a:ext>
            </a:extLst>
          </p:cNvPr>
          <p:cNvCxnSpPr>
            <a:cxnSpLocks/>
          </p:cNvCxnSpPr>
          <p:nvPr/>
        </p:nvCxnSpPr>
        <p:spPr>
          <a:xfrm>
            <a:off x="0" y="69360"/>
            <a:ext cx="12192000" cy="0"/>
          </a:xfrm>
          <a:prstGeom prst="line">
            <a:avLst/>
          </a:prstGeom>
          <a:ln w="127000"/>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152B217B-FE37-8969-4E93-1869524A73B8}"/>
              </a:ext>
            </a:extLst>
          </p:cNvPr>
          <p:cNvSpPr>
            <a:spLocks noGrp="1"/>
          </p:cNvSpPr>
          <p:nvPr>
            <p:ph type="sldNum" sz="quarter" idx="12"/>
          </p:nvPr>
        </p:nvSpPr>
        <p:spPr>
          <a:xfrm>
            <a:off x="9448800" y="6366665"/>
            <a:ext cx="2743200" cy="365125"/>
          </a:xfrm>
        </p:spPr>
        <p:txBody>
          <a:bodyPr/>
          <a:lstStyle/>
          <a:p>
            <a:fld id="{233426DC-C502-4B46-A878-9D43EE259E4B}" type="slidenum">
              <a:rPr lang="en-US" smtClean="0">
                <a:solidFill>
                  <a:schemeClr val="tx1"/>
                </a:solidFill>
              </a:rPr>
              <a:t>28</a:t>
            </a:fld>
            <a:endParaRPr lang="en-US" dirty="0">
              <a:solidFill>
                <a:schemeClr val="tx1"/>
              </a:solidFill>
            </a:endParaRPr>
          </a:p>
        </p:txBody>
      </p:sp>
    </p:spTree>
    <p:extLst>
      <p:ext uri="{BB962C8B-B14F-4D97-AF65-F5344CB8AC3E}">
        <p14:creationId xmlns:p14="http://schemas.microsoft.com/office/powerpoint/2010/main" val="283470440"/>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501F60-0AC7-B246-2287-EA8C8A4156B8}"/>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n-US" sz="5000" kern="1200" dirty="0">
                <a:solidFill>
                  <a:schemeClr val="tx1"/>
                </a:solidFill>
                <a:latin typeface="+mj-lt"/>
                <a:ea typeface="+mj-ea"/>
                <a:cs typeface="+mj-cs"/>
              </a:rPr>
              <a:t>People and organizations do not always know they are thinking or acting in an ableist way</a:t>
            </a:r>
            <a:br>
              <a:rPr lang="en-US" sz="5000" kern="1200" dirty="0">
                <a:solidFill>
                  <a:schemeClr val="tx1"/>
                </a:solidFill>
                <a:latin typeface="+mj-lt"/>
                <a:ea typeface="+mj-ea"/>
                <a:cs typeface="+mj-cs"/>
              </a:rPr>
            </a:br>
            <a:endParaRPr lang="en-US" sz="5000" kern="1200" dirty="0">
              <a:solidFill>
                <a:schemeClr val="tx1"/>
              </a:solidFill>
              <a:latin typeface="+mj-lt"/>
              <a:ea typeface="+mj-ea"/>
              <a:cs typeface="+mj-cs"/>
            </a:endParaRP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3E087EEC-F125-4D58-857F-62FFC84A85AD}"/>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233426DC-C502-4B46-A878-9D43EE259E4B}" type="slidenum">
              <a:rPr lang="en-US" smtClean="0"/>
              <a:pPr>
                <a:spcAft>
                  <a:spcPts val="600"/>
                </a:spcAft>
              </a:pPr>
              <a:t>29</a:t>
            </a:fld>
            <a:endParaRPr lang="en-US"/>
          </a:p>
        </p:txBody>
      </p:sp>
    </p:spTree>
    <p:extLst>
      <p:ext uri="{BB962C8B-B14F-4D97-AF65-F5344CB8AC3E}">
        <p14:creationId xmlns:p14="http://schemas.microsoft.com/office/powerpoint/2010/main" val="137204295"/>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BFAB9C-0365-5251-B75D-FA9D9DECB273}"/>
            </a:ext>
          </a:extLst>
        </p:cNvPr>
        <p:cNvGrpSpPr/>
        <p:nvPr/>
      </p:nvGrpSpPr>
      <p:grpSpPr>
        <a:xfrm>
          <a:off x="0" y="0"/>
          <a:ext cx="0" cy="0"/>
          <a:chOff x="0" y="0"/>
          <a:chExt cx="0" cy="0"/>
        </a:xfrm>
      </p:grpSpPr>
      <p:sp useBgFill="1">
        <p:nvSpPr>
          <p:cNvPr id="243727" name="Rectangle 243726">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3715" name="Rectangle 3">
            <a:extLst>
              <a:ext uri="{FF2B5EF4-FFF2-40B4-BE49-F238E27FC236}">
                <a16:creationId xmlns:a16="http://schemas.microsoft.com/office/drawing/2014/main" id="{2649BADA-88A3-0A6C-D574-6335F73D523A}"/>
              </a:ext>
            </a:extLst>
          </p:cNvPr>
          <p:cNvSpPr>
            <a:spLocks noChangeArrowheads="1"/>
          </p:cNvSpPr>
          <p:nvPr/>
        </p:nvSpPr>
        <p:spPr bwMode="auto">
          <a:xfrm>
            <a:off x="890337" y="640080"/>
            <a:ext cx="6091027" cy="3560734"/>
          </a:xfrm>
          <a:prstGeom prst="rect">
            <a:avLst/>
          </a:prstGeom>
        </p:spPr>
        <p:txBody>
          <a:bodyPr vert="horz" lIns="91440" tIns="45720" rIns="91440" bIns="45720" rtlCol="0" anchor="b">
            <a:no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altLang="ja-JP" sz="5400" b="0" i="0" u="none" strike="noStrike" kern="1200" cap="none" spc="0" normalizeH="0" baseline="0" noProof="0" dirty="0">
                <a:ln>
                  <a:noFill/>
                </a:ln>
                <a:solidFill>
                  <a:prstClr val="black"/>
                </a:solidFill>
                <a:effectLst>
                  <a:outerShdw blurRad="38100" dist="38100" dir="2700000" algn="tl">
                    <a:srgbClr val="000000"/>
                  </a:outerShdw>
                </a:effectLst>
                <a:uLnTx/>
                <a:uFillTx/>
                <a:latin typeface="Calibri Light" panose="020F0302020204030204"/>
                <a:ea typeface="游ゴシック Light" panose="020B0300000000000000" pitchFamily="34" charset="-128"/>
                <a:cs typeface="+mn-cs"/>
              </a:rPr>
              <a:t>“Be the change you</a:t>
            </a:r>
            <a:br>
              <a:rPr kumimoji="0" lang="en-US" altLang="ja-JP" sz="5400" b="0" i="0" u="none" strike="noStrike" kern="1200" cap="none" spc="0" normalizeH="0" baseline="0" noProof="0" dirty="0">
                <a:ln>
                  <a:noFill/>
                </a:ln>
                <a:solidFill>
                  <a:prstClr val="black"/>
                </a:solidFill>
                <a:effectLst>
                  <a:outerShdw blurRad="38100" dist="38100" dir="2700000" algn="tl">
                    <a:srgbClr val="000000"/>
                  </a:outerShdw>
                </a:effectLst>
                <a:uLnTx/>
                <a:uFillTx/>
                <a:latin typeface="Calibri Light" panose="020F0302020204030204"/>
                <a:ea typeface="游ゴシック Light" panose="020B0300000000000000" pitchFamily="34" charset="-128"/>
                <a:cs typeface="+mn-cs"/>
              </a:rPr>
            </a:br>
            <a:r>
              <a:rPr kumimoji="0" lang="en-US" altLang="ja-JP" sz="5400" b="0" i="0" u="none" strike="noStrike" kern="1200" cap="none" spc="0" normalizeH="0" baseline="0" noProof="0" dirty="0">
                <a:ln>
                  <a:noFill/>
                </a:ln>
                <a:solidFill>
                  <a:prstClr val="black"/>
                </a:solidFill>
                <a:effectLst>
                  <a:outerShdw blurRad="38100" dist="38100" dir="2700000" algn="tl">
                    <a:srgbClr val="000000"/>
                  </a:outerShdw>
                </a:effectLst>
                <a:uLnTx/>
                <a:uFillTx/>
                <a:latin typeface="Calibri Light" panose="020F0302020204030204"/>
                <a:ea typeface="游ゴシック Light" panose="020B0300000000000000" pitchFamily="34" charset="-128"/>
                <a:cs typeface="+mn-cs"/>
              </a:rPr>
              <a:t>  want to see in the</a:t>
            </a:r>
            <a:br>
              <a:rPr kumimoji="0" lang="en-US" altLang="ja-JP" sz="5400" b="0" i="0" u="none" strike="noStrike" kern="1200" cap="none" spc="0" normalizeH="0" baseline="0" noProof="0" dirty="0">
                <a:ln>
                  <a:noFill/>
                </a:ln>
                <a:solidFill>
                  <a:prstClr val="black"/>
                </a:solidFill>
                <a:effectLst>
                  <a:outerShdw blurRad="38100" dist="38100" dir="2700000" algn="tl">
                    <a:srgbClr val="000000"/>
                  </a:outerShdw>
                </a:effectLst>
                <a:uLnTx/>
                <a:uFillTx/>
                <a:latin typeface="Calibri Light" panose="020F0302020204030204"/>
                <a:ea typeface="游ゴシック Light" panose="020B0300000000000000" pitchFamily="34" charset="-128"/>
                <a:cs typeface="+mn-cs"/>
              </a:rPr>
            </a:br>
            <a:r>
              <a:rPr kumimoji="0" lang="en-US" altLang="ja-JP" sz="5400" b="0" i="0" u="none" strike="noStrike" kern="1200" cap="none" spc="0" normalizeH="0" baseline="0" noProof="0" dirty="0">
                <a:ln>
                  <a:noFill/>
                </a:ln>
                <a:solidFill>
                  <a:prstClr val="black"/>
                </a:solidFill>
                <a:effectLst>
                  <a:outerShdw blurRad="38100" dist="38100" dir="2700000" algn="tl">
                    <a:srgbClr val="000000"/>
                  </a:outerShdw>
                </a:effectLst>
                <a:uLnTx/>
                <a:uFillTx/>
                <a:latin typeface="Calibri Light" panose="020F0302020204030204"/>
                <a:ea typeface="游ゴシック Light" panose="020B0300000000000000" pitchFamily="34" charset="-128"/>
                <a:cs typeface="+mn-cs"/>
              </a:rPr>
              <a:t>  world.”</a:t>
            </a:r>
          </a:p>
          <a:p>
            <a:pPr marL="0" marR="0" lvl="0" indent="0" algn="l" defTabSz="914400" rtl="0" eaLnBrk="1" fontAlgn="auto" latinLnBrk="0" hangingPunct="1">
              <a:lnSpc>
                <a:spcPct val="90000"/>
              </a:lnSpc>
              <a:spcBef>
                <a:spcPct val="0"/>
              </a:spcBef>
              <a:spcAft>
                <a:spcPts val="600"/>
              </a:spcAft>
              <a:buClrTx/>
              <a:buSzTx/>
              <a:buFontTx/>
              <a:buNone/>
              <a:tabLst/>
              <a:defRPr/>
            </a:pPr>
            <a:endParaRPr kumimoji="0" lang="en-US" altLang="en-US" sz="5400" b="0" i="0" u="none" strike="noStrike" kern="1200" cap="none" spc="0" normalizeH="0" baseline="0" noProof="0" dirty="0">
              <a:ln>
                <a:noFill/>
              </a:ln>
              <a:solidFill>
                <a:prstClr val="black"/>
              </a:solidFill>
              <a:effectLst>
                <a:outerShdw blurRad="38100" dist="38100" dir="2700000" algn="tl">
                  <a:srgbClr val="000000"/>
                </a:outerShdw>
              </a:effectLst>
              <a:uLnTx/>
              <a:uFillTx/>
              <a:latin typeface="Calibri Light" panose="020F0302020204030204"/>
              <a:ea typeface="ＭＳ Ｐゴシック" panose="020B0600070205080204" pitchFamily="34" charset="-128"/>
              <a:cs typeface="+mn-cs"/>
            </a:endParaRPr>
          </a:p>
        </p:txBody>
      </p:sp>
      <p:sp>
        <p:nvSpPr>
          <p:cNvPr id="15361" name="Text Box 2">
            <a:extLst>
              <a:ext uri="{FF2B5EF4-FFF2-40B4-BE49-F238E27FC236}">
                <a16:creationId xmlns:a16="http://schemas.microsoft.com/office/drawing/2014/main" id="{B7B7DAB0-7F6D-5ED8-ADA2-265B91BA778C}"/>
              </a:ext>
            </a:extLst>
          </p:cNvPr>
          <p:cNvSpPr txBox="1">
            <a:spLocks noGrp="1" noChangeArrowheads="1"/>
          </p:cNvSpPr>
          <p:nvPr>
            <p:ph type="title" idx="4294967295"/>
          </p:nvPr>
        </p:nvSpPr>
        <p:spPr bwMode="auto">
          <a:xfrm>
            <a:off x="890339" y="4636008"/>
            <a:ext cx="3734014" cy="1572768"/>
          </a:xfrm>
          <a:prstGeom prst="rect">
            <a:avLst/>
          </a:prstGeom>
          <a:noFill/>
          <a:ln>
            <a:noFill/>
            <a:prstDash/>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Mahatma Gandhi</a:t>
            </a:r>
          </a:p>
        </p:txBody>
      </p:sp>
      <p:sp>
        <p:nvSpPr>
          <p:cNvPr id="243729"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5363" name="Picture 2">
            <a:extLst>
              <a:ext uri="{FF2B5EF4-FFF2-40B4-BE49-F238E27FC236}">
                <a16:creationId xmlns:a16="http://schemas.microsoft.com/office/drawing/2014/main" id="{28E88524-A54C-FB0C-B741-D0B8D3C1DA78}"/>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567647" y="1196015"/>
            <a:ext cx="4035022" cy="402283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6FEB7F4E-42BA-DAAE-07B8-D8B2F96615E4}"/>
              </a:ext>
            </a:extLst>
          </p:cNvPr>
          <p:cNvSpPr>
            <a:spLocks noGrp="1"/>
          </p:cNvSpPr>
          <p:nvPr>
            <p:ph type="sldNum" sz="quarter" idx="12"/>
          </p:nvPr>
        </p:nvSpPr>
        <p:spPr>
          <a:xfrm>
            <a:off x="8999483" y="6314309"/>
            <a:ext cx="2743200" cy="365125"/>
          </a:xfrm>
        </p:spPr>
        <p:txBody>
          <a:bodyPr/>
          <a:lstStyle/>
          <a:p>
            <a:fld id="{233426DC-C502-4B46-A878-9D43EE259E4B}" type="slidenum">
              <a:rPr lang="en-US" sz="1400" smtClean="0">
                <a:solidFill>
                  <a:schemeClr val="tx1"/>
                </a:solidFill>
              </a:rPr>
              <a:t>30</a:t>
            </a:fld>
            <a:endParaRPr lang="en-US" sz="1400">
              <a:solidFill>
                <a:schemeClr val="tx1"/>
              </a:solidFill>
            </a:endParaRPr>
          </a:p>
        </p:txBody>
      </p:sp>
    </p:spTree>
    <p:extLst>
      <p:ext uri="{BB962C8B-B14F-4D97-AF65-F5344CB8AC3E}">
        <p14:creationId xmlns:p14="http://schemas.microsoft.com/office/powerpoint/2010/main" val="2622787821"/>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D12F4A-0082-7225-8D09-DD1A1A5145A0}"/>
              </a:ext>
            </a:extLst>
          </p:cNvPr>
          <p:cNvSpPr>
            <a:spLocks noGrp="1"/>
          </p:cNvSpPr>
          <p:nvPr>
            <p:ph type="title"/>
          </p:nvPr>
        </p:nvSpPr>
        <p:spPr>
          <a:xfrm>
            <a:off x="1523999" y="1137993"/>
            <a:ext cx="9144000" cy="3274592"/>
          </a:xfrm>
        </p:spPr>
        <p:txBody>
          <a:bodyPr vert="horz" lIns="91440" tIns="45720" rIns="91440" bIns="45720" rtlCol="0" anchor="ctr">
            <a:normAutofit fontScale="90000"/>
          </a:bodyPr>
          <a:lstStyle/>
          <a:p>
            <a:pPr algn="ctr"/>
            <a:r>
              <a:rPr lang="en-US" sz="4800" b="1" i="1" kern="1200" dirty="0">
                <a:solidFill>
                  <a:schemeClr val="tx1"/>
                </a:solidFill>
                <a:latin typeface="+mj-lt"/>
                <a:ea typeface="+mj-ea"/>
                <a:cs typeface="+mj-cs"/>
              </a:rPr>
              <a:t>“Key blockages to disability inclusive employment include</a:t>
            </a:r>
            <a:br>
              <a:rPr lang="en-US" sz="4800" b="1" i="1" kern="1200" dirty="0">
                <a:solidFill>
                  <a:schemeClr val="tx1"/>
                </a:solidFill>
                <a:latin typeface="+mj-lt"/>
                <a:ea typeface="+mj-ea"/>
                <a:cs typeface="+mj-cs"/>
              </a:rPr>
            </a:br>
            <a:r>
              <a:rPr lang="en-US" sz="4800" b="1" i="1" kern="1200" dirty="0">
                <a:solidFill>
                  <a:schemeClr val="tx1"/>
                </a:solidFill>
                <a:latin typeface="+mj-lt"/>
                <a:ea typeface="+mj-ea"/>
                <a:cs typeface="+mj-cs"/>
              </a:rPr>
              <a:t>entrenched negative assumptions about disabled</a:t>
            </a:r>
            <a:r>
              <a:rPr lang="en-US" sz="4800" b="1" kern="1200" dirty="0">
                <a:solidFill>
                  <a:schemeClr val="tx1"/>
                </a:solidFill>
                <a:latin typeface="+mj-lt"/>
                <a:ea typeface="+mj-ea"/>
                <a:cs typeface="+mj-cs"/>
              </a:rPr>
              <a:t> </a:t>
            </a:r>
            <a:r>
              <a:rPr lang="en-US" sz="4800" b="1" i="1" kern="1200" dirty="0">
                <a:solidFill>
                  <a:schemeClr val="tx1"/>
                </a:solidFill>
                <a:latin typeface="+mj-lt"/>
                <a:ea typeface="+mj-ea"/>
                <a:cs typeface="+mj-cs"/>
              </a:rPr>
              <a:t>people's entitlement and suitability to work.”</a:t>
            </a:r>
            <a:br>
              <a:rPr lang="en-US" sz="3400" kern="1200" dirty="0">
                <a:solidFill>
                  <a:schemeClr val="tx1"/>
                </a:solidFill>
                <a:latin typeface="+mj-lt"/>
                <a:ea typeface="+mj-ea"/>
                <a:cs typeface="+mj-cs"/>
              </a:rPr>
            </a:br>
            <a:br>
              <a:rPr lang="en-US" sz="3400" kern="1200" dirty="0">
                <a:solidFill>
                  <a:schemeClr val="tx1"/>
                </a:solidFill>
                <a:latin typeface="+mj-lt"/>
                <a:ea typeface="+mj-ea"/>
                <a:cs typeface="+mj-cs"/>
              </a:rPr>
            </a:br>
            <a:endParaRPr lang="en-US" sz="3400" kern="1200" dirty="0">
              <a:solidFill>
                <a:schemeClr val="tx1"/>
              </a:solidFill>
              <a:latin typeface="+mj-lt"/>
              <a:ea typeface="+mj-ea"/>
              <a:cs typeface="+mj-cs"/>
            </a:endParaRPr>
          </a:p>
        </p:txBody>
      </p:sp>
      <p:cxnSp>
        <p:nvCxnSpPr>
          <p:cNvPr id="20" name="Straight Connector 19">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CA704316-FC7A-A927-FEFF-6CC9A0BB7ACD}"/>
              </a:ext>
            </a:extLst>
          </p:cNvPr>
          <p:cNvSpPr>
            <a:spLocks noGrp="1"/>
          </p:cNvSpPr>
          <p:nvPr>
            <p:ph type="sldNum" sz="quarter" idx="12"/>
          </p:nvPr>
        </p:nvSpPr>
        <p:spPr>
          <a:xfrm>
            <a:off x="9041524" y="6423474"/>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33426DC-C502-4B46-A878-9D43EE259E4B}" type="slidenum">
              <a:rPr kumimoji="0" lang="en-US" sz="1400" b="0" i="0" u="none" strike="noStrike" kern="1200" cap="none" spc="0" normalizeH="0" baseline="0" noProof="0" smtClean="0">
                <a:ln>
                  <a:noFill/>
                </a:ln>
                <a:solidFill>
                  <a:schemeClr val="tx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31</a:t>
            </a:fld>
            <a:endPar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637FA601-B770-6D8A-0989-D6D0A3A3162D}"/>
              </a:ext>
            </a:extLst>
          </p:cNvPr>
          <p:cNvSpPr txBox="1"/>
          <p:nvPr/>
        </p:nvSpPr>
        <p:spPr>
          <a:xfrm>
            <a:off x="2197471" y="5528886"/>
            <a:ext cx="886672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Achieving disability inclusive employment – Are the current approaches deep enough?</a:t>
            </a:r>
            <a:b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Institute of Development Studies. 2022</a:t>
            </a:r>
          </a:p>
        </p:txBody>
      </p:sp>
    </p:spTree>
    <p:extLst>
      <p:ext uri="{BB962C8B-B14F-4D97-AF65-F5344CB8AC3E}">
        <p14:creationId xmlns:p14="http://schemas.microsoft.com/office/powerpoint/2010/main" val="3253770586"/>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Oval 23">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5" name="Arc 24">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771A1A7-9FDE-6637-1AF2-BAF321878A6B}"/>
              </a:ext>
            </a:extLst>
          </p:cNvPr>
          <p:cNvSpPr>
            <a:spLocks noGrp="1"/>
          </p:cNvSpPr>
          <p:nvPr>
            <p:ph type="title"/>
          </p:nvPr>
        </p:nvSpPr>
        <p:spPr>
          <a:xfrm>
            <a:off x="4037237" y="1845573"/>
            <a:ext cx="7644627" cy="2751086"/>
          </a:xfrm>
        </p:spPr>
        <p:txBody>
          <a:bodyPr vert="horz" lIns="91440" tIns="45720" rIns="91440" bIns="45720" rtlCol="0" anchor="b">
            <a:normAutofit/>
          </a:bodyPr>
          <a:lstStyle/>
          <a:p>
            <a:pPr algn="r"/>
            <a:r>
              <a:rPr lang="en-US" sz="6000" kern="1200">
                <a:solidFill>
                  <a:schemeClr val="tx1"/>
                </a:solidFill>
                <a:latin typeface="+mj-lt"/>
                <a:ea typeface="+mj-ea"/>
                <a:cs typeface="+mj-cs"/>
              </a:rPr>
              <a:t>Do we automatically view people with disabilities as capable?</a:t>
            </a:r>
          </a:p>
        </p:txBody>
      </p:sp>
      <p:sp>
        <p:nvSpPr>
          <p:cNvPr id="4" name="Slide Number Placeholder 3">
            <a:extLst>
              <a:ext uri="{FF2B5EF4-FFF2-40B4-BE49-F238E27FC236}">
                <a16:creationId xmlns:a16="http://schemas.microsoft.com/office/drawing/2014/main" id="{6598DD49-9EBF-6A98-4E54-5781F360CFE5}"/>
              </a:ext>
            </a:extLst>
          </p:cNvPr>
          <p:cNvSpPr>
            <a:spLocks noGrp="1"/>
          </p:cNvSpPr>
          <p:nvPr>
            <p:ph type="sldNum" sz="quarter" idx="12"/>
          </p:nvPr>
        </p:nvSpPr>
        <p:spPr>
          <a:xfrm>
            <a:off x="9073055" y="6356349"/>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33426DC-C502-4B46-A878-9D43EE259E4B}" type="slidenum">
              <a:rPr kumimoji="0" lang="en-US" sz="1400" b="0" i="0" u="none" strike="noStrike" kern="1200" cap="none" spc="0" normalizeH="0" baseline="0" noProof="0" smtClean="0">
                <a:ln>
                  <a:noFill/>
                </a:ln>
                <a:solidFill>
                  <a:schemeClr val="tx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32</a:t>
            </a:fld>
            <a:endPar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C9FD050-4E0D-E192-209E-C697237A8CAB}"/>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136" y="4272068"/>
            <a:ext cx="3399327" cy="2266844"/>
          </a:xfrm>
          <a:prstGeom prst="rect">
            <a:avLst/>
          </a:prstGeom>
        </p:spPr>
      </p:pic>
    </p:spTree>
    <p:extLst>
      <p:ext uri="{BB962C8B-B14F-4D97-AF65-F5344CB8AC3E}">
        <p14:creationId xmlns:p14="http://schemas.microsoft.com/office/powerpoint/2010/main" val="2121354275"/>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E4556D3F-F9E0-4DD4-A96F-6A8297B924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12188952" cy="3490956"/>
            <a:chOff x="651279" y="598259"/>
            <a:chExt cx="10889442" cy="5680742"/>
          </a:xfrm>
        </p:grpSpPr>
        <p:sp>
          <p:nvSpPr>
            <p:cNvPr id="13" name="Color">
              <a:extLst>
                <a:ext uri="{FF2B5EF4-FFF2-40B4-BE49-F238E27FC236}">
                  <a16:creationId xmlns:a16="http://schemas.microsoft.com/office/drawing/2014/main" id="{86D4FF5D-6473-4BE3-A6EC-40CE250274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Color">
              <a:extLst>
                <a:ext uri="{FF2B5EF4-FFF2-40B4-BE49-F238E27FC236}">
                  <a16:creationId xmlns:a16="http://schemas.microsoft.com/office/drawing/2014/main" id="{993888FB-861F-4B4A-819C-BEB6D558A8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 name="Group 15">
            <a:extLst>
              <a:ext uri="{FF2B5EF4-FFF2-40B4-BE49-F238E27FC236}">
                <a16:creationId xmlns:a16="http://schemas.microsoft.com/office/drawing/2014/main" id="{65EABBED-2B80-4B13-A7A8-1D34C4A027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0" y="0"/>
            <a:chExt cx="12188952" cy="6858000"/>
          </a:xfrm>
        </p:grpSpPr>
        <p:sp>
          <p:nvSpPr>
            <p:cNvPr id="17" name="Freeform: Shape 16">
              <a:extLst>
                <a:ext uri="{FF2B5EF4-FFF2-40B4-BE49-F238E27FC236}">
                  <a16:creationId xmlns:a16="http://schemas.microsoft.com/office/drawing/2014/main" id="{73A7A746-A7C1-443C-9B24-406D22245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D71425D-6031-4121-BA40-815DACCD0E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Freeform: Shape 18">
              <a:extLst>
                <a:ext uri="{FF2B5EF4-FFF2-40B4-BE49-F238E27FC236}">
                  <a16:creationId xmlns:a16="http://schemas.microsoft.com/office/drawing/2014/main" id="{67A43343-A25B-49D5-9967-D5647ADF7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F066E434-22B6-48A1-BC19-A80163E819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Shape 20">
              <a:extLst>
                <a:ext uri="{FF2B5EF4-FFF2-40B4-BE49-F238E27FC236}">
                  <a16:creationId xmlns:a16="http://schemas.microsoft.com/office/drawing/2014/main" id="{35470CE2-E5F8-489C-84E9-775AE8D3E3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12435DD6-F0FB-492A-9267-CE09EC2C5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5B17117C-64EA-4B8B-9DDC-D10E947C46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4" name="Title 3"/>
          <p:cNvSpPr>
            <a:spLocks noGrp="1"/>
          </p:cNvSpPr>
          <p:nvPr>
            <p:ph type="title"/>
          </p:nvPr>
        </p:nvSpPr>
        <p:spPr>
          <a:xfrm>
            <a:off x="785437" y="474531"/>
            <a:ext cx="5633531" cy="2226769"/>
          </a:xfrm>
          <a:scene3d>
            <a:camera prst="isometricOffAxis1Right"/>
            <a:lightRig rig="threePt" dir="t"/>
          </a:scene3d>
        </p:spPr>
        <p:txBody>
          <a:bodyPr vert="horz" lIns="91440" tIns="45720" rIns="91440" bIns="45720" rtlCol="0" anchor="ctr">
            <a:normAutofit/>
          </a:bodyPr>
          <a:lstStyle/>
          <a:p>
            <a:pPr>
              <a:defRPr/>
            </a:pPr>
            <a:r>
              <a:rPr lang="en-US" sz="4800" b="1" dirty="0">
                <a:solidFill>
                  <a:schemeClr val="bg1"/>
                </a:solidFill>
              </a:rPr>
              <a:t>Avoid the employment readiness myth</a:t>
            </a:r>
          </a:p>
        </p:txBody>
      </p:sp>
      <p:sp>
        <p:nvSpPr>
          <p:cNvPr id="5" name="Subtitle 4"/>
          <p:cNvSpPr>
            <a:spLocks noGrp="1"/>
          </p:cNvSpPr>
          <p:nvPr>
            <p:ph idx="1"/>
          </p:nvPr>
        </p:nvSpPr>
        <p:spPr>
          <a:xfrm>
            <a:off x="790764" y="4231971"/>
            <a:ext cx="5631417" cy="2487212"/>
          </a:xfrm>
        </p:spPr>
        <p:txBody>
          <a:bodyPr vert="horz" lIns="91440" tIns="45720" rIns="91440" bIns="45720" rtlCol="0" anchor="t">
            <a:normAutofit/>
          </a:bodyPr>
          <a:lstStyle/>
          <a:p>
            <a:pPr marL="0" indent="0">
              <a:buNone/>
              <a:defRPr/>
            </a:pPr>
            <a:r>
              <a:rPr lang="en-US" sz="3600" b="1" dirty="0">
                <a:solidFill>
                  <a:schemeClr val="tx2"/>
                </a:solidFill>
              </a:rPr>
              <a:t>Employers are expecting perfect employees</a:t>
            </a:r>
          </a:p>
        </p:txBody>
      </p:sp>
      <p:sp>
        <p:nvSpPr>
          <p:cNvPr id="6" name="Slide Number Placeholder 5">
            <a:extLst>
              <a:ext uri="{FF2B5EF4-FFF2-40B4-BE49-F238E27FC236}">
                <a16:creationId xmlns:a16="http://schemas.microsoft.com/office/drawing/2014/main" id="{2143C27E-07C1-904A-780D-6B7303FDF8D8}"/>
              </a:ext>
            </a:extLst>
          </p:cNvPr>
          <p:cNvSpPr>
            <a:spLocks noGrp="1"/>
          </p:cNvSpPr>
          <p:nvPr>
            <p:ph type="sldNum" sz="quarter" idx="12"/>
          </p:nvPr>
        </p:nvSpPr>
        <p:spPr>
          <a:xfrm>
            <a:off x="8978462" y="632800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3426DC-C502-4B46-A878-9D43EE259E4B}" type="slidenum">
              <a:rPr kumimoji="0" lang="en-US" sz="1400" b="0" i="0" u="none" strike="noStrike" kern="1200" cap="none" spc="0" normalizeH="0" baseline="0" noProof="0" smtClean="0">
                <a:ln>
                  <a:noFill/>
                </a:ln>
                <a:solidFill>
                  <a:schemeClr val="tx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pic>
        <p:nvPicPr>
          <p:cNvPr id="3" name="Picture 2" descr="David Hoff">
            <a:extLst>
              <a:ext uri="{FF2B5EF4-FFF2-40B4-BE49-F238E27FC236}">
                <a16:creationId xmlns:a16="http://schemas.microsoft.com/office/drawing/2014/main" id="{1BF9A1A1-2BD6-ED91-926F-5682803D1C61}"/>
              </a:ext>
            </a:extLst>
          </p:cNvPr>
          <p:cNvPicPr>
            <a:picLocks noChangeAspect="1"/>
          </p:cNvPicPr>
          <p:nvPr/>
        </p:nvPicPr>
        <p:blipFill>
          <a:blip r:embed="rId2"/>
          <a:stretch>
            <a:fillRect/>
          </a:stretch>
        </p:blipFill>
        <p:spPr>
          <a:xfrm>
            <a:off x="8103476" y="3918987"/>
            <a:ext cx="2244138" cy="2244138"/>
          </a:xfrm>
          <a:prstGeom prst="rect">
            <a:avLst/>
          </a:prstGeom>
        </p:spPr>
      </p:pic>
    </p:spTree>
    <p:extLst>
      <p:ext uri="{BB962C8B-B14F-4D97-AF65-F5344CB8AC3E}">
        <p14:creationId xmlns:p14="http://schemas.microsoft.com/office/powerpoint/2010/main" val="175380738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8DE9F845-D37C-0485-FE0A-DFA4C094FA04}"/>
              </a:ext>
            </a:extLst>
          </p:cNvPr>
          <p:cNvSpPr>
            <a:spLocks noGrp="1"/>
          </p:cNvSpPr>
          <p:nvPr>
            <p:ph type="sldNum" sz="quarter" idx="12"/>
          </p:nvPr>
        </p:nvSpPr>
        <p:spPr>
          <a:xfrm>
            <a:off x="11704320" y="6455664"/>
            <a:ext cx="44805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33426DC-C502-4B46-A878-9D43EE259E4B}" type="slidenum">
              <a:rPr kumimoji="0" lang="en-US" sz="1400" b="0" i="0" u="none" strike="noStrike" kern="1200" cap="none" spc="0" normalizeH="0" baseline="0" noProof="0">
                <a:ln>
                  <a:noFill/>
                </a:ln>
                <a:solidFill>
                  <a:schemeClr val="tx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34</a:t>
            </a:fld>
            <a:endPar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graphicFrame>
        <p:nvGraphicFramePr>
          <p:cNvPr id="6" name="Content Placeholder 2">
            <a:extLst>
              <a:ext uri="{FF2B5EF4-FFF2-40B4-BE49-F238E27FC236}">
                <a16:creationId xmlns:a16="http://schemas.microsoft.com/office/drawing/2014/main" id="{486743E9-43EE-4BEB-CB06-34E11EE5880E}"/>
              </a:ext>
              <a:ext uri="{C183D7F6-B498-43B3-948B-1728B52AA6E4}">
                <adec:decorative xmlns:adec="http://schemas.microsoft.com/office/drawing/2017/decorative" val="1"/>
              </a:ext>
            </a:extLst>
          </p:cNvPr>
          <p:cNvGraphicFramePr>
            <a:graphicFrameLocks noGrp="1"/>
          </p:cNvGraphicFramePr>
          <p:nvPr>
            <p:ph idx="1"/>
          </p:nvPr>
        </p:nvGraphicFramePr>
        <p:xfrm>
          <a:off x="302346" y="2466221"/>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275FCE12-B002-2FE9-E614-693A4FD53A67}"/>
              </a:ext>
            </a:extLst>
          </p:cNvPr>
          <p:cNvSpPr txBox="1"/>
          <p:nvPr/>
        </p:nvSpPr>
        <p:spPr>
          <a:xfrm>
            <a:off x="381028" y="6211067"/>
            <a:ext cx="8965987"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From: Achieving disability inclusive employment – Are the current approaches deep enough?</a:t>
            </a:r>
            <a:b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Institute of Development Studies, 2022</a:t>
            </a:r>
          </a:p>
        </p:txBody>
      </p:sp>
      <p:sp>
        <p:nvSpPr>
          <p:cNvPr id="2" name="Title 1">
            <a:extLst>
              <a:ext uri="{FF2B5EF4-FFF2-40B4-BE49-F238E27FC236}">
                <a16:creationId xmlns:a16="http://schemas.microsoft.com/office/drawing/2014/main" id="{3311B544-17E3-7261-853C-53BF54915548}"/>
              </a:ext>
            </a:extLst>
          </p:cNvPr>
          <p:cNvSpPr>
            <a:spLocks noGrp="1"/>
          </p:cNvSpPr>
          <p:nvPr>
            <p:ph type="title"/>
          </p:nvPr>
        </p:nvSpPr>
        <p:spPr>
          <a:xfrm>
            <a:off x="302346" y="296792"/>
            <a:ext cx="9718111" cy="1576446"/>
          </a:xfrm>
        </p:spPr>
        <p:txBody>
          <a:bodyPr anchor="ctr">
            <a:normAutofit/>
          </a:bodyPr>
          <a:lstStyle/>
          <a:p>
            <a:r>
              <a:rPr lang="en-US" sz="4800" b="1" dirty="0">
                <a:solidFill>
                  <a:srgbClr val="FFFFFF"/>
                </a:solidFill>
              </a:rPr>
              <a:t>No More “Othering”</a:t>
            </a:r>
          </a:p>
        </p:txBody>
      </p:sp>
    </p:spTree>
    <p:extLst>
      <p:ext uri="{BB962C8B-B14F-4D97-AF65-F5344CB8AC3E}">
        <p14:creationId xmlns:p14="http://schemas.microsoft.com/office/powerpoint/2010/main" val="3672295330"/>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Shape 14">
            <a:extLst>
              <a:ext uri="{FF2B5EF4-FFF2-40B4-BE49-F238E27FC236}">
                <a16:creationId xmlns:a16="http://schemas.microsoft.com/office/drawing/2014/main" id="{041C67D0-A496-4B86-BF61-263FF9EFD7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6068" y="320442"/>
            <a:ext cx="6572492" cy="6212748"/>
          </a:xfrm>
          <a:custGeom>
            <a:avLst/>
            <a:gdLst>
              <a:gd name="connsiteX0" fmla="*/ 0 w 6572492"/>
              <a:gd name="connsiteY0" fmla="*/ 0 h 6212748"/>
              <a:gd name="connsiteX1" fmla="*/ 2248593 w 6572492"/>
              <a:gd name="connsiteY1" fmla="*/ 0 h 6212748"/>
              <a:gd name="connsiteX2" fmla="*/ 2694770 w 6572492"/>
              <a:gd name="connsiteY2" fmla="*/ 0 h 6212748"/>
              <a:gd name="connsiteX3" fmla="*/ 2991094 w 6572492"/>
              <a:gd name="connsiteY3" fmla="*/ 0 h 6212748"/>
              <a:gd name="connsiteX4" fmla="*/ 6572492 w 6572492"/>
              <a:gd name="connsiteY4" fmla="*/ 0 h 6212748"/>
              <a:gd name="connsiteX5" fmla="*/ 6572492 w 6572492"/>
              <a:gd name="connsiteY5" fmla="*/ 2864954 h 6212748"/>
              <a:gd name="connsiteX6" fmla="*/ 3129047 w 6572492"/>
              <a:gd name="connsiteY6" fmla="*/ 6212748 h 6212748"/>
              <a:gd name="connsiteX7" fmla="*/ 2694770 w 6572492"/>
              <a:gd name="connsiteY7" fmla="*/ 6212748 h 6212748"/>
              <a:gd name="connsiteX8" fmla="*/ 2248593 w 6572492"/>
              <a:gd name="connsiteY8" fmla="*/ 6212748 h 6212748"/>
              <a:gd name="connsiteX9" fmla="*/ 0 w 6572492"/>
              <a:gd name="connsiteY9" fmla="*/ 6212748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92" h="6212748">
                <a:moveTo>
                  <a:pt x="0" y="0"/>
                </a:moveTo>
                <a:lnTo>
                  <a:pt x="2248593" y="0"/>
                </a:lnTo>
                <a:lnTo>
                  <a:pt x="2694770" y="0"/>
                </a:lnTo>
                <a:lnTo>
                  <a:pt x="2991094" y="0"/>
                </a:lnTo>
                <a:lnTo>
                  <a:pt x="6572492" y="0"/>
                </a:lnTo>
                <a:lnTo>
                  <a:pt x="6572492" y="2864954"/>
                </a:lnTo>
                <a:lnTo>
                  <a:pt x="3129047" y="6212748"/>
                </a:lnTo>
                <a:lnTo>
                  <a:pt x="2694770" y="6212748"/>
                </a:lnTo>
                <a:lnTo>
                  <a:pt x="2248593"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ight Triangle 21">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4E8D14A-F9E3-B7EE-99FC-877DB01E9E0E}"/>
              </a:ext>
            </a:extLst>
          </p:cNvPr>
          <p:cNvSpPr>
            <a:spLocks noGrp="1"/>
          </p:cNvSpPr>
          <p:nvPr>
            <p:ph type="title"/>
          </p:nvPr>
        </p:nvSpPr>
        <p:spPr>
          <a:xfrm>
            <a:off x="5780700" y="1188637"/>
            <a:ext cx="5327272" cy="1642850"/>
          </a:xfrm>
        </p:spPr>
        <p:txBody>
          <a:bodyPr>
            <a:normAutofit/>
          </a:bodyPr>
          <a:lstStyle/>
          <a:p>
            <a:r>
              <a:rPr lang="en-US" sz="5400" b="1" dirty="0"/>
              <a:t>Marketing and Outreach</a:t>
            </a:r>
          </a:p>
        </p:txBody>
      </p:sp>
      <p:pic>
        <p:nvPicPr>
          <p:cNvPr id="8" name="Picture 7" descr="Billboard: Hire A Skilled and Competent Employee">
            <a:extLst>
              <a:ext uri="{FF2B5EF4-FFF2-40B4-BE49-F238E27FC236}">
                <a16:creationId xmlns:a16="http://schemas.microsoft.com/office/drawing/2014/main" id="{4C0ECE71-E55C-802A-F294-92BEE596F0C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2653" y="283818"/>
            <a:ext cx="3608671" cy="3608671"/>
          </a:xfrm>
          <a:prstGeom prst="rect">
            <a:avLst/>
          </a:prstGeom>
        </p:spPr>
      </p:pic>
      <p:pic>
        <p:nvPicPr>
          <p:cNvPr id="6" name="Picture 5" descr="Billboard: Hire People with Disabilities">
            <a:extLst>
              <a:ext uri="{FF2B5EF4-FFF2-40B4-BE49-F238E27FC236}">
                <a16:creationId xmlns:a16="http://schemas.microsoft.com/office/drawing/2014/main" id="{B1C50A59-9A13-C3CE-4DD1-14E2E59BC44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171202" y="3784228"/>
            <a:ext cx="2969080" cy="2597945"/>
          </a:xfrm>
          <a:prstGeom prst="rect">
            <a:avLst/>
          </a:prstGeom>
        </p:spPr>
      </p:pic>
      <p:sp>
        <p:nvSpPr>
          <p:cNvPr id="3" name="Content Placeholder 2">
            <a:extLst>
              <a:ext uri="{FF2B5EF4-FFF2-40B4-BE49-F238E27FC236}">
                <a16:creationId xmlns:a16="http://schemas.microsoft.com/office/drawing/2014/main" id="{2B229BB5-34BB-C3B1-44FE-25360AD0C2D3}"/>
              </a:ext>
            </a:extLst>
          </p:cNvPr>
          <p:cNvSpPr>
            <a:spLocks noGrp="1"/>
          </p:cNvSpPr>
          <p:nvPr>
            <p:ph idx="1"/>
          </p:nvPr>
        </p:nvSpPr>
        <p:spPr>
          <a:xfrm>
            <a:off x="5780700" y="3086514"/>
            <a:ext cx="4470533" cy="1852490"/>
          </a:xfrm>
        </p:spPr>
        <p:txBody>
          <a:bodyPr anchor="t">
            <a:noAutofit/>
          </a:bodyPr>
          <a:lstStyle/>
          <a:p>
            <a:r>
              <a:rPr lang="en-US" dirty="0"/>
              <a:t>What’s the message?</a:t>
            </a:r>
            <a:br>
              <a:rPr lang="en-US" dirty="0"/>
            </a:br>
            <a:endParaRPr lang="en-US" dirty="0"/>
          </a:p>
          <a:p>
            <a:r>
              <a:rPr lang="en-US" dirty="0"/>
              <a:t>Are we marketing “disability” or “capability”?</a:t>
            </a:r>
          </a:p>
        </p:txBody>
      </p:sp>
      <p:pic>
        <p:nvPicPr>
          <p:cNvPr id="12" name="Picture 11">
            <a:extLst>
              <a:ext uri="{FF2B5EF4-FFF2-40B4-BE49-F238E27FC236}">
                <a16:creationId xmlns:a16="http://schemas.microsoft.com/office/drawing/2014/main" id="{FEA6D80E-6076-C906-A8A2-F5AF98097673}"/>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83179" y="1277956"/>
            <a:ext cx="584046" cy="584046"/>
          </a:xfrm>
          <a:prstGeom prst="rect">
            <a:avLst/>
          </a:prstGeom>
        </p:spPr>
      </p:pic>
      <p:sp>
        <p:nvSpPr>
          <p:cNvPr id="14" name="Slide Number Placeholder 13">
            <a:extLst>
              <a:ext uri="{FF2B5EF4-FFF2-40B4-BE49-F238E27FC236}">
                <a16:creationId xmlns:a16="http://schemas.microsoft.com/office/drawing/2014/main" id="{0A334206-87FD-BB8D-4E87-18726BA5EF86}"/>
              </a:ext>
            </a:extLst>
          </p:cNvPr>
          <p:cNvSpPr>
            <a:spLocks noGrp="1"/>
          </p:cNvSpPr>
          <p:nvPr>
            <p:ph type="sldNum" sz="quarter" idx="12"/>
          </p:nvPr>
        </p:nvSpPr>
        <p:spPr>
          <a:xfrm>
            <a:off x="8803627" y="648148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3426DC-C502-4B46-A878-9D43EE259E4B}" type="slidenum">
              <a:rPr kumimoji="0" lang="en-US" sz="1400" b="0" i="0" u="none" strike="noStrike" kern="1200" cap="none" spc="0" normalizeH="0" baseline="0" noProof="0" smtClean="0">
                <a:ln>
                  <a:noFill/>
                </a:ln>
                <a:solidFill>
                  <a:schemeClr val="tx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4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0202649"/>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23DEFC7-CA1B-A2E4-080F-75E35A1F0D9B}"/>
              </a:ext>
            </a:extLst>
          </p:cNvPr>
          <p:cNvSpPr>
            <a:spLocks noGrp="1"/>
          </p:cNvSpPr>
          <p:nvPr>
            <p:ph type="title"/>
          </p:nvPr>
        </p:nvSpPr>
        <p:spPr>
          <a:xfrm>
            <a:off x="686834" y="1153572"/>
            <a:ext cx="3200400" cy="4461163"/>
          </a:xfrm>
        </p:spPr>
        <p:txBody>
          <a:bodyPr>
            <a:normAutofit/>
          </a:bodyPr>
          <a:lstStyle/>
          <a:p>
            <a:r>
              <a:rPr lang="en-US" b="1">
                <a:solidFill>
                  <a:srgbClr val="FFFFFF"/>
                </a:solidFill>
              </a:rPr>
              <a:t>Ableist employer outreach and job development</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A9AA82F5-8FE4-B598-7F0E-8CD99A4B8BFE}"/>
              </a:ext>
            </a:extLst>
          </p:cNvPr>
          <p:cNvSpPr>
            <a:spLocks noGrp="1"/>
          </p:cNvSpPr>
          <p:nvPr>
            <p:ph idx="1"/>
          </p:nvPr>
        </p:nvSpPr>
        <p:spPr>
          <a:xfrm>
            <a:off x="4447308" y="591344"/>
            <a:ext cx="6906491" cy="5585619"/>
          </a:xfrm>
        </p:spPr>
        <p:txBody>
          <a:bodyPr anchor="ctr">
            <a:normAutofit/>
          </a:bodyPr>
          <a:lstStyle/>
          <a:p>
            <a:pPr>
              <a:lnSpc>
                <a:spcPct val="100000"/>
              </a:lnSpc>
              <a:spcBef>
                <a:spcPts val="2200"/>
              </a:spcBef>
            </a:pPr>
            <a:r>
              <a:rPr lang="en-US" dirty="0"/>
              <a:t>Employees with disabilities are more reliable, compliant, loyal</a:t>
            </a:r>
          </a:p>
          <a:p>
            <a:pPr>
              <a:lnSpc>
                <a:spcPct val="100000"/>
              </a:lnSpc>
              <a:spcBef>
                <a:spcPts val="2200"/>
              </a:spcBef>
            </a:pPr>
            <a:r>
              <a:rPr lang="en-US" dirty="0"/>
              <a:t>Happy doing mundane and repetitive tasks</a:t>
            </a:r>
          </a:p>
          <a:p>
            <a:pPr>
              <a:lnSpc>
                <a:spcPct val="100000"/>
              </a:lnSpc>
              <a:spcBef>
                <a:spcPts val="2200"/>
              </a:spcBef>
            </a:pPr>
            <a:r>
              <a:rPr lang="en-US" dirty="0"/>
              <a:t>People with disabilities are good at certain types of jobs</a:t>
            </a:r>
          </a:p>
          <a:p>
            <a:pPr>
              <a:lnSpc>
                <a:spcPct val="100000"/>
              </a:lnSpc>
              <a:spcBef>
                <a:spcPts val="2200"/>
              </a:spcBef>
            </a:pPr>
            <a:r>
              <a:rPr lang="en-US" dirty="0"/>
              <a:t>Personality traits of people with disabilities make them excellent employees</a:t>
            </a:r>
          </a:p>
          <a:p>
            <a:pPr>
              <a:lnSpc>
                <a:spcPct val="100000"/>
              </a:lnSpc>
              <a:spcBef>
                <a:spcPts val="2200"/>
              </a:spcBef>
            </a:pPr>
            <a:r>
              <a:rPr lang="en-US" dirty="0"/>
              <a:t>Neurodivergent individuals have “super abilities”</a:t>
            </a:r>
          </a:p>
          <a:p>
            <a:pPr marL="0" indent="0">
              <a:lnSpc>
                <a:spcPct val="100000"/>
              </a:lnSpc>
              <a:spcBef>
                <a:spcPts val="2200"/>
              </a:spcBef>
              <a:buNone/>
            </a:pPr>
            <a:endParaRPr lang="en-US" dirty="0"/>
          </a:p>
        </p:txBody>
      </p:sp>
      <p:sp>
        <p:nvSpPr>
          <p:cNvPr id="4" name="Slide Number Placeholder 3">
            <a:extLst>
              <a:ext uri="{FF2B5EF4-FFF2-40B4-BE49-F238E27FC236}">
                <a16:creationId xmlns:a16="http://schemas.microsoft.com/office/drawing/2014/main" id="{E064BA3B-2563-6897-7385-D32FC5B74E36}"/>
              </a:ext>
            </a:extLst>
          </p:cNvPr>
          <p:cNvSpPr>
            <a:spLocks noGrp="1"/>
          </p:cNvSpPr>
          <p:nvPr>
            <p:ph type="sldNum" sz="quarter" idx="12"/>
          </p:nvPr>
        </p:nvSpPr>
        <p:spPr>
          <a:xfrm>
            <a:off x="9541564" y="6356350"/>
            <a:ext cx="1812235"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33426DC-C502-4B46-A878-9D43EE259E4B}" type="slidenum">
              <a:rPr kumimoji="0" lang="en-US" sz="1200" b="0" i="0" u="none" strike="noStrike" kern="1200" cap="none" spc="0" normalizeH="0" baseline="0" noProof="0" smtClean="0">
                <a:ln>
                  <a:noFill/>
                </a:ln>
                <a:solidFill>
                  <a:schemeClr val="tx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36</a:t>
            </a:fld>
            <a:endParaRPr kumimoji="0" lang="en-US" sz="12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7458882"/>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CCC4BA0-1298-4DBD-86F1-B51D8C9D34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2">
            <a:extLst>
              <a:ext uri="{FF2B5EF4-FFF2-40B4-BE49-F238E27FC236}">
                <a16:creationId xmlns:a16="http://schemas.microsoft.com/office/drawing/2014/main" id="{C647CDFE-80B8-764C-DB68-BB22C8F1FE17}"/>
              </a:ext>
            </a:extLst>
          </p:cNvPr>
          <p:cNvSpPr>
            <a:spLocks noGrp="1"/>
          </p:cNvSpPr>
          <p:nvPr>
            <p:ph type="title"/>
          </p:nvPr>
        </p:nvSpPr>
        <p:spPr>
          <a:xfrm>
            <a:off x="1136398" y="502021"/>
            <a:ext cx="5427525" cy="1667997"/>
          </a:xfrm>
        </p:spPr>
        <p:txBody>
          <a:bodyPr anchor="b">
            <a:normAutofit/>
          </a:bodyPr>
          <a:lstStyle/>
          <a:p>
            <a:r>
              <a:rPr lang="en-US" sz="2800" b="1" dirty="0">
                <a:latin typeface="Calibri" charset="0"/>
                <a:ea typeface="MS PGothic" charset="0"/>
              </a:rPr>
              <a:t>Eric Michael Garcia</a:t>
            </a:r>
            <a:br>
              <a:rPr lang="en-US" sz="2800" dirty="0">
                <a:latin typeface="Calibri" charset="0"/>
                <a:ea typeface="MS PGothic" charset="0"/>
              </a:rPr>
            </a:br>
            <a:r>
              <a:rPr lang="en-US" sz="2800" dirty="0">
                <a:latin typeface="Calibri" charset="0"/>
                <a:ea typeface="MS PGothic" charset="0"/>
              </a:rPr>
              <a:t>Author: </a:t>
            </a:r>
            <a:r>
              <a:rPr lang="en-US" sz="2800" i="1" dirty="0">
                <a:latin typeface="Calibri" charset="0"/>
                <a:ea typeface="MS PGothic" charset="0"/>
              </a:rPr>
              <a:t>We’re Not Broken: Changing the Autism Conversation</a:t>
            </a:r>
            <a:br>
              <a:rPr lang="en-US" sz="2800" i="1" dirty="0">
                <a:latin typeface="Calibri" charset="0"/>
                <a:ea typeface="MS PGothic" charset="0"/>
              </a:rPr>
            </a:br>
            <a:endParaRPr lang="en-US" sz="2800" dirty="0"/>
          </a:p>
        </p:txBody>
      </p:sp>
      <p:sp>
        <p:nvSpPr>
          <p:cNvPr id="4" name="Content Placeholder 3">
            <a:extLst>
              <a:ext uri="{FF2B5EF4-FFF2-40B4-BE49-F238E27FC236}">
                <a16:creationId xmlns:a16="http://schemas.microsoft.com/office/drawing/2014/main" id="{8B395512-AD4F-E2B8-00B5-C36931A3DD10}"/>
              </a:ext>
            </a:extLst>
          </p:cNvPr>
          <p:cNvSpPr>
            <a:spLocks noGrp="1"/>
          </p:cNvSpPr>
          <p:nvPr>
            <p:ph idx="1"/>
          </p:nvPr>
        </p:nvSpPr>
        <p:spPr>
          <a:xfrm>
            <a:off x="435357" y="2170018"/>
            <a:ext cx="5911115" cy="3588231"/>
          </a:xfrm>
          <a:scene3d>
            <a:camera prst="orthographicFront"/>
            <a:lightRig rig="threePt" dir="t"/>
          </a:scene3d>
          <a:sp3d>
            <a:bevelT prst="angle"/>
          </a:sp3d>
        </p:spPr>
        <p:style>
          <a:lnRef idx="0">
            <a:schemeClr val="accent1"/>
          </a:lnRef>
          <a:fillRef idx="3">
            <a:schemeClr val="accent1"/>
          </a:fillRef>
          <a:effectRef idx="3">
            <a:schemeClr val="accent1"/>
          </a:effectRef>
          <a:fontRef idx="minor">
            <a:schemeClr val="lt1"/>
          </a:fontRef>
        </p:style>
        <p:txBody>
          <a:bodyPr anchor="t">
            <a:noAutofit/>
          </a:bodyPr>
          <a:lstStyle/>
          <a:p>
            <a:pPr marL="0" indent="0">
              <a:buNone/>
            </a:pPr>
            <a:r>
              <a:rPr lang="ja-JP" altLang="en-US" sz="4000">
                <a:latin typeface="Arial"/>
                <a:cs typeface="Arial"/>
              </a:rPr>
              <a:t>“</a:t>
            </a:r>
            <a:r>
              <a:rPr lang="en-US" sz="4000" dirty="0"/>
              <a:t>I would love to live in a</a:t>
            </a:r>
            <a:br>
              <a:rPr lang="en-US" sz="4000" dirty="0"/>
            </a:br>
            <a:r>
              <a:rPr lang="en-US" sz="4000" dirty="0"/>
              <a:t>  world where autistic </a:t>
            </a:r>
            <a:br>
              <a:rPr lang="en-US" sz="4000" dirty="0"/>
            </a:br>
            <a:r>
              <a:rPr lang="en-US" sz="4000" dirty="0"/>
              <a:t>  people don’t have</a:t>
            </a:r>
            <a:br>
              <a:rPr lang="en-US" sz="4000" dirty="0"/>
            </a:br>
            <a:r>
              <a:rPr lang="en-US" sz="4000" dirty="0"/>
              <a:t>  to count cards to be loved.</a:t>
            </a:r>
            <a:br>
              <a:rPr lang="en-US" sz="4000" dirty="0"/>
            </a:br>
            <a:r>
              <a:rPr lang="en-US" sz="4000" dirty="0"/>
              <a:t>  I would love for us not to</a:t>
            </a:r>
            <a:br>
              <a:rPr lang="en-US" sz="4000" dirty="0"/>
            </a:br>
            <a:r>
              <a:rPr lang="en-US" sz="4000" dirty="0"/>
              <a:t>  have a superpower</a:t>
            </a:r>
            <a:r>
              <a:rPr lang="en-US" sz="4000" dirty="0">
                <a:latin typeface="Arial"/>
                <a:cs typeface="Arial"/>
              </a:rPr>
              <a:t>.”</a:t>
            </a:r>
            <a:endParaRPr lang="en-US" sz="4000" dirty="0"/>
          </a:p>
        </p:txBody>
      </p:sp>
      <p:pic>
        <p:nvPicPr>
          <p:cNvPr id="5" name="Picture 4">
            <a:extLst>
              <a:ext uri="{FF2B5EF4-FFF2-40B4-BE49-F238E27FC236}">
                <a16:creationId xmlns:a16="http://schemas.microsoft.com/office/drawing/2014/main" id="{DD544CCC-F430-D5BB-652C-F9662C04EDB7}"/>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7047513" y="975645"/>
            <a:ext cx="4443447" cy="4443447"/>
          </a:xfrm>
          <a:custGeom>
            <a:avLst/>
            <a:gdLst/>
            <a:ahLst/>
            <a:cxnLst/>
            <a:rect l="l" t="t" r="r" b="b"/>
            <a:pathLst>
              <a:path w="4694238" h="4694238">
                <a:moveTo>
                  <a:pt x="2347119" y="0"/>
                </a:moveTo>
                <a:cubicBezTo>
                  <a:pt x="3643397" y="0"/>
                  <a:pt x="4694238" y="1050841"/>
                  <a:pt x="4694238" y="2347119"/>
                </a:cubicBezTo>
                <a:cubicBezTo>
                  <a:pt x="4694238" y="3643397"/>
                  <a:pt x="3643397" y="4694238"/>
                  <a:pt x="2347119" y="4694238"/>
                </a:cubicBezTo>
                <a:cubicBezTo>
                  <a:pt x="1050841" y="4694238"/>
                  <a:pt x="0" y="3643397"/>
                  <a:pt x="0" y="2347119"/>
                </a:cubicBezTo>
                <a:cubicBezTo>
                  <a:pt x="0" y="1050841"/>
                  <a:pt x="1050841" y="0"/>
                  <a:pt x="2347119" y="0"/>
                </a:cubicBezTo>
                <a:close/>
              </a:path>
            </a:pathLst>
          </a:custGeom>
        </p:spPr>
      </p:pic>
      <p:sp>
        <p:nvSpPr>
          <p:cNvPr id="12" name="Rectangle 11">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Slide Number Placeholder 1">
            <a:extLst>
              <a:ext uri="{FF2B5EF4-FFF2-40B4-BE49-F238E27FC236}">
                <a16:creationId xmlns:a16="http://schemas.microsoft.com/office/drawing/2014/main" id="{726EF4DA-8CF5-F4C0-3094-864A2699BDE9}"/>
              </a:ext>
            </a:extLst>
          </p:cNvPr>
          <p:cNvSpPr>
            <a:spLocks noGrp="1"/>
          </p:cNvSpPr>
          <p:nvPr>
            <p:ph type="sldNum" sz="quarter" idx="12"/>
          </p:nvPr>
        </p:nvSpPr>
        <p:spPr>
          <a:xfrm>
            <a:off x="9083565" y="6394735"/>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DEB4AB-D614-0E48-BC82-3517EAEB4A4F}" type="slidenum">
              <a:rPr kumimoji="0" lang="en-US" sz="1200" b="0" i="0" u="none" strike="noStrike" kern="1200" cap="none" spc="0" normalizeH="0" baseline="0" noProof="0" smtClean="0">
                <a:ln>
                  <a:noFill/>
                </a:ln>
                <a:solidFill>
                  <a:schemeClr val="bg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3984478"/>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E3E5B1-9CE3-2B36-A1B1-D7695124EF5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C9E467-D278-01D4-F282-B47BC1514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D814632F-DD33-0E9B-457C-7F367D9DC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38C70-27A3-B2C9-27C3-4466625D93A3}"/>
              </a:ext>
            </a:extLst>
          </p:cNvPr>
          <p:cNvSpPr>
            <a:spLocks noGrp="1"/>
          </p:cNvSpPr>
          <p:nvPr>
            <p:ph type="title"/>
          </p:nvPr>
        </p:nvSpPr>
        <p:spPr>
          <a:xfrm>
            <a:off x="686834" y="591344"/>
            <a:ext cx="3200400" cy="5585619"/>
          </a:xfrm>
        </p:spPr>
        <p:txBody>
          <a:bodyPr>
            <a:normAutofit/>
          </a:bodyPr>
          <a:lstStyle/>
          <a:p>
            <a:pPr algn="ctr"/>
            <a:r>
              <a:rPr lang="en-US" b="1" dirty="0">
                <a:solidFill>
                  <a:srgbClr val="FFFFFF"/>
                </a:solidFill>
              </a:rPr>
              <a:t>Avoiding </a:t>
            </a:r>
            <a:r>
              <a:rPr lang="en-US" b="1" i="1" dirty="0">
                <a:solidFill>
                  <a:srgbClr val="FFFFFF"/>
                </a:solidFill>
              </a:rPr>
              <a:t>“Disability” </a:t>
            </a:r>
            <a:r>
              <a:rPr lang="en-US" b="1" dirty="0">
                <a:solidFill>
                  <a:srgbClr val="FFFFFF"/>
                </a:solidFill>
              </a:rPr>
              <a:t>Jobs</a:t>
            </a:r>
          </a:p>
        </p:txBody>
      </p:sp>
      <p:sp>
        <p:nvSpPr>
          <p:cNvPr id="4" name="Slide Number Placeholder 3">
            <a:extLst>
              <a:ext uri="{FF2B5EF4-FFF2-40B4-BE49-F238E27FC236}">
                <a16:creationId xmlns:a16="http://schemas.microsoft.com/office/drawing/2014/main" id="{E11437F3-2333-B387-FA2F-E8C355009B31}"/>
              </a:ext>
            </a:extLst>
          </p:cNvPr>
          <p:cNvSpPr>
            <a:spLocks noGrp="1"/>
          </p:cNvSpPr>
          <p:nvPr>
            <p:ph type="sldNum" sz="quarter" idx="12"/>
          </p:nvPr>
        </p:nvSpPr>
        <p:spPr>
          <a:xfrm>
            <a:off x="10099896" y="6378489"/>
            <a:ext cx="1533939"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33426DC-C502-4B46-A878-9D43EE259E4B}" type="slidenum">
              <a:rPr kumimoji="0" lang="en-US" sz="1400" b="0" i="0" u="none" strike="noStrike" kern="1200" cap="none" spc="0" normalizeH="0" baseline="0" noProof="0" smtClean="0">
                <a:ln>
                  <a:noFill/>
                </a:ln>
                <a:solidFill>
                  <a:schemeClr val="tx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38</a:t>
            </a:fld>
            <a:endParaRPr kumimoji="0" lang="en-US" sz="14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13" name="Arc 12">
            <a:extLst>
              <a:ext uri="{FF2B5EF4-FFF2-40B4-BE49-F238E27FC236}">
                <a16:creationId xmlns:a16="http://schemas.microsoft.com/office/drawing/2014/main" id="{5AE291A5-4003-639F-8EDA-C75175088A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0815EEA-752E-F93F-6236-E2EB9EB9414E}"/>
              </a:ext>
            </a:extLst>
          </p:cNvPr>
          <p:cNvSpPr>
            <a:spLocks noGrp="1"/>
          </p:cNvSpPr>
          <p:nvPr>
            <p:ph idx="1"/>
          </p:nvPr>
        </p:nvSpPr>
        <p:spPr>
          <a:xfrm>
            <a:off x="4447308" y="447350"/>
            <a:ext cx="6906491" cy="5585619"/>
          </a:xfrm>
        </p:spPr>
        <p:txBody>
          <a:bodyPr anchor="ctr">
            <a:normAutofit/>
          </a:bodyPr>
          <a:lstStyle/>
          <a:p>
            <a:pPr>
              <a:lnSpc>
                <a:spcPct val="100000"/>
              </a:lnSpc>
              <a:spcBef>
                <a:spcPts val="2200"/>
              </a:spcBef>
            </a:pPr>
            <a:r>
              <a:rPr lang="en-US" dirty="0"/>
              <a:t>Jobs that are deemed “suitable” for people with disabilities based on their impairment, reduces choice and opportunities</a:t>
            </a:r>
            <a:br>
              <a:rPr lang="en-US" dirty="0"/>
            </a:br>
            <a:endParaRPr lang="en-US" dirty="0"/>
          </a:p>
          <a:p>
            <a:r>
              <a:rPr lang="en-US" dirty="0"/>
              <a:t>Instead, jobs should be adapted and adjusted so that people who meet the position qualifications and happen to have various characteristics can do them with appropriate support</a:t>
            </a:r>
          </a:p>
          <a:p>
            <a:pPr marL="0" indent="0">
              <a:buNone/>
            </a:pPr>
            <a:endParaRPr lang="en-US" dirty="0"/>
          </a:p>
        </p:txBody>
      </p:sp>
      <p:sp>
        <p:nvSpPr>
          <p:cNvPr id="8" name="TextBox 7">
            <a:extLst>
              <a:ext uri="{FF2B5EF4-FFF2-40B4-BE49-F238E27FC236}">
                <a16:creationId xmlns:a16="http://schemas.microsoft.com/office/drawing/2014/main" id="{3A25896D-11A6-0DDD-D097-07A7623AF2BD}"/>
              </a:ext>
            </a:extLst>
          </p:cNvPr>
          <p:cNvSpPr txBox="1"/>
          <p:nvPr/>
        </p:nvSpPr>
        <p:spPr>
          <a:xfrm>
            <a:off x="4266062" y="5894685"/>
            <a:ext cx="600860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From: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Achieving disability inclusive employment – Are the current approaches deep enough?</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Institute of Development Studies, 2022</a:t>
            </a:r>
          </a:p>
        </p:txBody>
      </p:sp>
    </p:spTree>
    <p:extLst>
      <p:ext uri="{BB962C8B-B14F-4D97-AF65-F5344CB8AC3E}">
        <p14:creationId xmlns:p14="http://schemas.microsoft.com/office/powerpoint/2010/main" val="3752685025"/>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ACBC03A-573D-F488-71EF-6663BB7F130F}"/>
              </a:ext>
              <a:ext uri="{C183D7F6-B498-43B3-948B-1728B52AA6E4}">
                <adec:decorative xmlns:adec="http://schemas.microsoft.com/office/drawing/2017/decorative" val="1"/>
              </a:ext>
            </a:extLst>
          </p:cNvPr>
          <p:cNvPicPr>
            <a:picLocks noChangeAspect="1"/>
          </p:cNvPicPr>
          <p:nvPr/>
        </p:nvPicPr>
        <p:blipFill>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a:fillRect/>
          </a:stretch>
        </p:blipFill>
        <p:spPr>
          <a:xfrm>
            <a:off x="20" y="-10500"/>
            <a:ext cx="12191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8258887-C4CE-7764-1010-7991170E9E84}"/>
              </a:ext>
            </a:extLst>
          </p:cNvPr>
          <p:cNvSpPr>
            <a:spLocks noGrp="1"/>
          </p:cNvSpPr>
          <p:nvPr>
            <p:ph type="title"/>
          </p:nvPr>
        </p:nvSpPr>
        <p:spPr>
          <a:xfrm>
            <a:off x="838200" y="365125"/>
            <a:ext cx="10515600" cy="1325563"/>
          </a:xfrm>
        </p:spPr>
        <p:txBody>
          <a:bodyPr>
            <a:normAutofit/>
          </a:bodyPr>
          <a:lstStyle/>
          <a:p>
            <a:r>
              <a:rPr lang="en-US" sz="6600" b="1" dirty="0"/>
              <a:t>People hired on merit</a:t>
            </a:r>
          </a:p>
        </p:txBody>
      </p:sp>
      <p:sp>
        <p:nvSpPr>
          <p:cNvPr id="4" name="Slide Number Placeholder 3">
            <a:extLst>
              <a:ext uri="{FF2B5EF4-FFF2-40B4-BE49-F238E27FC236}">
                <a16:creationId xmlns:a16="http://schemas.microsoft.com/office/drawing/2014/main" id="{257F658D-EBA3-5C41-85B9-EF524B730B8D}"/>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33426DC-C502-4B46-A878-9D43EE259E4B}" type="slidenum">
              <a:rPr kumimoji="0" lang="en-US" sz="1400" b="0" i="0" u="none" strike="noStrike" kern="1200" cap="none" spc="0" normalizeH="0" baseline="0" noProof="0" smtClean="0">
                <a:ln>
                  <a:noFill/>
                </a:ln>
                <a:solidFill>
                  <a:schemeClr val="tx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39</a:t>
            </a:fld>
            <a:endPar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graphicFrame>
        <p:nvGraphicFramePr>
          <p:cNvPr id="6" name="Content Placeholder 2">
            <a:extLst>
              <a:ext uri="{FF2B5EF4-FFF2-40B4-BE49-F238E27FC236}">
                <a16:creationId xmlns:a16="http://schemas.microsoft.com/office/drawing/2014/main" id="{35E66205-18EE-21C7-F370-82624C0A7331}"/>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302717594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02464130"/>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6C9ECD1F-1B32-4E48-9736-A1BC9A3237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A2F1707-276D-6158-D685-DB87EFF68A6E}"/>
              </a:ext>
            </a:extLst>
          </p:cNvPr>
          <p:cNvSpPr>
            <a:spLocks noGrp="1"/>
          </p:cNvSpPr>
          <p:nvPr>
            <p:ph type="title"/>
          </p:nvPr>
        </p:nvSpPr>
        <p:spPr>
          <a:xfrm>
            <a:off x="302085" y="2051480"/>
            <a:ext cx="3046715" cy="3014790"/>
          </a:xfrm>
        </p:spPr>
        <p:txBody>
          <a:bodyPr vert="horz" lIns="91440" tIns="45720" rIns="91440" bIns="45720" rtlCol="0" anchor="ctr">
            <a:noAutofit/>
          </a:bodyPr>
          <a:lstStyle/>
          <a:p>
            <a:r>
              <a:rPr lang="en-US" sz="3600" b="1" kern="1200" dirty="0">
                <a:solidFill>
                  <a:schemeClr val="tx1"/>
                </a:solidFill>
                <a:latin typeface="+mj-lt"/>
                <a:ea typeface="+mj-ea"/>
                <a:cs typeface="+mj-cs"/>
              </a:rPr>
              <a:t>Countering employer ableism and perceived skill/ability gaps</a:t>
            </a:r>
          </a:p>
        </p:txBody>
      </p:sp>
      <p:sp>
        <p:nvSpPr>
          <p:cNvPr id="33" name="Rectangle 32">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22480"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042549"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283"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7" name="Picture 16">
            <a:extLst>
              <a:ext uri="{FF2B5EF4-FFF2-40B4-BE49-F238E27FC236}">
                <a16:creationId xmlns:a16="http://schemas.microsoft.com/office/drawing/2014/main" id="{508526F8-8948-D53B-9455-425FA132F948}"/>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4054251" y="883463"/>
            <a:ext cx="3721608" cy="2542032"/>
          </a:xfrm>
          <a:prstGeom prst="rect">
            <a:avLst/>
          </a:prstGeom>
        </p:spPr>
      </p:pic>
      <p:pic>
        <p:nvPicPr>
          <p:cNvPr id="7" name="Picture 6">
            <a:extLst>
              <a:ext uri="{FF2B5EF4-FFF2-40B4-BE49-F238E27FC236}">
                <a16:creationId xmlns:a16="http://schemas.microsoft.com/office/drawing/2014/main" id="{4AC0D64B-C6B9-2142-2B83-3AB84B22D5EB}"/>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7910946" y="883463"/>
            <a:ext cx="3719192" cy="2542032"/>
          </a:xfrm>
          <a:prstGeom prst="rect">
            <a:avLst/>
          </a:prstGeom>
        </p:spPr>
      </p:pic>
      <p:pic>
        <p:nvPicPr>
          <p:cNvPr id="10" name="Picture 9">
            <a:extLst>
              <a:ext uri="{FF2B5EF4-FFF2-40B4-BE49-F238E27FC236}">
                <a16:creationId xmlns:a16="http://schemas.microsoft.com/office/drawing/2014/main" id="{184A515E-2516-EACB-CB45-8691A39EF19E}"/>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4054251" y="3548348"/>
            <a:ext cx="3721608" cy="2542032"/>
          </a:xfrm>
          <a:prstGeom prst="rect">
            <a:avLst/>
          </a:prstGeom>
        </p:spPr>
      </p:pic>
      <p:pic>
        <p:nvPicPr>
          <p:cNvPr id="14" name="Picture 13">
            <a:extLst>
              <a:ext uri="{FF2B5EF4-FFF2-40B4-BE49-F238E27FC236}">
                <a16:creationId xmlns:a16="http://schemas.microsoft.com/office/drawing/2014/main" id="{507D4149-8A64-1A8D-3345-5E74D66A9162}"/>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7916372" y="3548347"/>
            <a:ext cx="3719192" cy="2542032"/>
          </a:xfrm>
          <a:prstGeom prst="rect">
            <a:avLst/>
          </a:prstGeom>
        </p:spPr>
      </p:pic>
      <p:sp>
        <p:nvSpPr>
          <p:cNvPr id="4" name="Slide Number Placeholder 3">
            <a:extLst>
              <a:ext uri="{FF2B5EF4-FFF2-40B4-BE49-F238E27FC236}">
                <a16:creationId xmlns:a16="http://schemas.microsoft.com/office/drawing/2014/main" id="{5EEB8BE0-013B-67A9-C6B8-7A30BEAF26E5}"/>
              </a:ext>
            </a:extLst>
          </p:cNvPr>
          <p:cNvSpPr>
            <a:spLocks noGrp="1"/>
          </p:cNvSpPr>
          <p:nvPr>
            <p:ph type="sldNum" sz="quarter" idx="12"/>
          </p:nvPr>
        </p:nvSpPr>
        <p:spPr>
          <a:xfrm>
            <a:off x="11630138" y="6396812"/>
            <a:ext cx="1673087" cy="365125"/>
          </a:xfrm>
        </p:spPr>
        <p:txBody>
          <a:bodyPr vert="horz" lIns="91440" tIns="45720" rIns="91440" bIns="45720" rtlCol="0"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233426DC-C502-4B46-A878-9D43EE259E4B}" type="slidenum">
              <a:rPr kumimoji="0" lang="en-US" sz="1400" b="0" i="0" u="none" strike="noStrike" kern="1200" cap="none" spc="0" normalizeH="0" baseline="0" noProof="0" smtClean="0">
                <a:ln>
                  <a:noFill/>
                </a:ln>
                <a:solidFill>
                  <a:schemeClr val="tx1"/>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40</a:t>
            </a:fld>
            <a:endPar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6837540"/>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otched Right Arrow 5"/>
          <p:cNvSpPr/>
          <p:nvPr/>
        </p:nvSpPr>
        <p:spPr bwMode="auto">
          <a:xfrm>
            <a:off x="1447800" y="304800"/>
            <a:ext cx="3048000" cy="1854200"/>
          </a:xfrm>
          <a:prstGeom prst="notchedRightArrow">
            <a:avLst/>
          </a:prstGeom>
          <a:solidFill>
            <a:srgbClr val="1534AA"/>
          </a:solidFill>
          <a:ln w="9525" cap="flat" cmpd="sng" algn="ctr">
            <a:solidFill>
              <a:schemeClr val="tx1"/>
            </a:solidFill>
            <a:prstDash val="solid"/>
            <a:round/>
            <a:headEnd type="none" w="med" len="med"/>
            <a:tailEnd type="none" w="med" len="med"/>
          </a:ln>
          <a:effectLst/>
          <a:scene3d>
            <a:camera prst="isometricOffAxis2Left"/>
            <a:lightRig rig="threePt" dir="t"/>
          </a:scene3d>
          <a:sp3d>
            <a:bevelT w="101600" prst="riblet"/>
          </a:sp3d>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rial Narrow"/>
                <a:ea typeface="ＭＳ Ｐゴシック" charset="0"/>
                <a:cs typeface="Arial Narrow"/>
              </a:rPr>
              <a:t>Employer Needs</a:t>
            </a:r>
          </a:p>
        </p:txBody>
      </p:sp>
      <p:sp>
        <p:nvSpPr>
          <p:cNvPr id="7" name="Left Arrow 6"/>
          <p:cNvSpPr/>
          <p:nvPr/>
        </p:nvSpPr>
        <p:spPr bwMode="auto">
          <a:xfrm>
            <a:off x="7848600" y="4191000"/>
            <a:ext cx="3048000" cy="2492188"/>
          </a:xfrm>
          <a:prstGeom prst="leftArrow">
            <a:avLst/>
          </a:prstGeom>
          <a:solidFill>
            <a:srgbClr val="800040"/>
          </a:solidFill>
          <a:ln w="9525" cap="flat" cmpd="sng" algn="ctr">
            <a:solidFill>
              <a:schemeClr val="tx1"/>
            </a:solidFill>
            <a:prstDash val="solid"/>
            <a:round/>
            <a:headEnd type="none" w="med" len="med"/>
            <a:tailEnd type="none" w="med" len="med"/>
          </a:ln>
          <a:effectLst/>
          <a:scene3d>
            <a:camera prst="isometricOffAxis2Left"/>
            <a:lightRig rig="threePt" dir="t"/>
          </a:scene3d>
          <a:sp3d>
            <a:bevelT w="101600" prst="riblet"/>
          </a:sp3d>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rial Narrow"/>
                <a:ea typeface="+mn-ea"/>
                <a:cs typeface="Arial Narrow"/>
              </a:rPr>
              <a:t>Perception of skills &amp; abilities</a:t>
            </a:r>
          </a:p>
        </p:txBody>
      </p:sp>
      <p:sp>
        <p:nvSpPr>
          <p:cNvPr id="9" name="Rounded Rectangle 8"/>
          <p:cNvSpPr/>
          <p:nvPr/>
        </p:nvSpPr>
        <p:spPr bwMode="auto">
          <a:xfrm>
            <a:off x="4495800" y="1143000"/>
            <a:ext cx="3352800" cy="4495800"/>
          </a:xfrm>
          <a:prstGeom prst="roundRect">
            <a:avLst/>
          </a:prstGeom>
          <a:solidFill>
            <a:srgbClr val="FFE53E"/>
          </a:solidFill>
          <a:ln w="57150" cap="flat" cmpd="thickThin"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800000"/>
                </a:solidFill>
                <a:effectLst/>
                <a:uLnTx/>
                <a:uFillTx/>
                <a:latin typeface="Comic Sans MS"/>
                <a:ea typeface="+mn-ea"/>
                <a:cs typeface="Geneva" charset="0"/>
              </a:rPr>
              <a:t>Job Requirements</a:t>
            </a:r>
          </a:p>
        </p:txBody>
      </p:sp>
      <p:sp>
        <p:nvSpPr>
          <p:cNvPr id="10" name="Rounded Rectangle 9">
            <a:extLst>
              <a:ext uri="{C183D7F6-B498-43B3-948B-1728B52AA6E4}">
                <adec:decorative xmlns:adec="http://schemas.microsoft.com/office/drawing/2017/decorative" val="1"/>
              </a:ext>
            </a:extLst>
          </p:cNvPr>
          <p:cNvSpPr/>
          <p:nvPr/>
        </p:nvSpPr>
        <p:spPr bwMode="auto">
          <a:xfrm>
            <a:off x="4450977" y="1143000"/>
            <a:ext cx="3352800" cy="4572000"/>
          </a:xfrm>
          <a:prstGeom prst="roundRect">
            <a:avLst/>
          </a:prstGeom>
          <a:solidFill>
            <a:srgbClr val="FFE53E"/>
          </a:solidFill>
          <a:ln w="57150" cap="flat" cmpd="thickThin"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800000"/>
              </a:solidFill>
              <a:effectLst/>
              <a:uLnTx/>
              <a:uFillTx/>
              <a:latin typeface="Comic Sans MS"/>
              <a:ea typeface="+mn-ea"/>
              <a:cs typeface="Geneva" charset="0"/>
            </a:endParaRPr>
          </a:p>
        </p:txBody>
      </p:sp>
      <p:sp>
        <p:nvSpPr>
          <p:cNvPr id="8" name="Content Placeholder 2"/>
          <p:cNvSpPr>
            <a:spLocks noGrp="1"/>
          </p:cNvSpPr>
          <p:nvPr>
            <p:ph idx="1"/>
          </p:nvPr>
        </p:nvSpPr>
        <p:spPr>
          <a:xfrm>
            <a:off x="4679577" y="1333500"/>
            <a:ext cx="3505200" cy="4191000"/>
          </a:xfrm>
        </p:spPr>
        <p:txBody>
          <a:bodyPr>
            <a:normAutofit lnSpcReduction="10000"/>
          </a:bodyPr>
          <a:lstStyle/>
          <a:p>
            <a:pPr>
              <a:buClr>
                <a:srgbClr val="008000"/>
              </a:buClr>
              <a:defRPr/>
            </a:pPr>
            <a:r>
              <a:rPr lang="en-US" sz="2000" dirty="0">
                <a:solidFill>
                  <a:srgbClr val="800000"/>
                </a:solidFill>
              </a:rPr>
              <a:t>Good job matching</a:t>
            </a:r>
          </a:p>
          <a:p>
            <a:pPr>
              <a:buClr>
                <a:srgbClr val="008000"/>
              </a:buClr>
              <a:defRPr/>
            </a:pPr>
            <a:r>
              <a:rPr lang="en-US" sz="2000" dirty="0">
                <a:solidFill>
                  <a:srgbClr val="800000"/>
                </a:solidFill>
              </a:rPr>
              <a:t>Accommodations</a:t>
            </a:r>
          </a:p>
          <a:p>
            <a:pPr>
              <a:buClr>
                <a:srgbClr val="008000"/>
              </a:buClr>
              <a:defRPr/>
            </a:pPr>
            <a:r>
              <a:rPr lang="en-US" sz="2000" dirty="0">
                <a:solidFill>
                  <a:srgbClr val="800000"/>
                </a:solidFill>
              </a:rPr>
              <a:t>Assistive technology</a:t>
            </a:r>
          </a:p>
          <a:p>
            <a:pPr>
              <a:buClr>
                <a:srgbClr val="008000"/>
              </a:buClr>
              <a:defRPr/>
            </a:pPr>
            <a:r>
              <a:rPr lang="en-US" sz="2000" b="1" dirty="0">
                <a:solidFill>
                  <a:srgbClr val="800000"/>
                </a:solidFill>
              </a:rPr>
              <a:t>Quality</a:t>
            </a:r>
            <a:r>
              <a:rPr lang="en-US" sz="2000" dirty="0">
                <a:solidFill>
                  <a:srgbClr val="800000"/>
                </a:solidFill>
              </a:rPr>
              <a:t> job coaching</a:t>
            </a:r>
          </a:p>
          <a:p>
            <a:pPr>
              <a:buClr>
                <a:srgbClr val="008000"/>
              </a:buClr>
              <a:defRPr/>
            </a:pPr>
            <a:r>
              <a:rPr lang="en-US" sz="2000" dirty="0">
                <a:solidFill>
                  <a:srgbClr val="800000"/>
                </a:solidFill>
              </a:rPr>
              <a:t>Short-term job tryouts/internships</a:t>
            </a:r>
          </a:p>
          <a:p>
            <a:pPr>
              <a:buClr>
                <a:srgbClr val="008000"/>
              </a:buClr>
              <a:defRPr/>
            </a:pPr>
            <a:r>
              <a:rPr lang="en-US" sz="2000" dirty="0">
                <a:solidFill>
                  <a:srgbClr val="800000"/>
                </a:solidFill>
              </a:rPr>
              <a:t>Increasing job skills of job seeker through education</a:t>
            </a:r>
          </a:p>
          <a:p>
            <a:pPr>
              <a:buClr>
                <a:srgbClr val="008000"/>
              </a:buClr>
              <a:defRPr/>
            </a:pPr>
            <a:r>
              <a:rPr lang="en-US" sz="2000" dirty="0">
                <a:solidFill>
                  <a:srgbClr val="800000"/>
                </a:solidFill>
              </a:rPr>
              <a:t>Job creation</a:t>
            </a:r>
          </a:p>
          <a:p>
            <a:pPr>
              <a:buClr>
                <a:srgbClr val="008000"/>
              </a:buClr>
              <a:defRPr/>
            </a:pPr>
            <a:r>
              <a:rPr lang="en-US" sz="2000" dirty="0">
                <a:solidFill>
                  <a:srgbClr val="800000"/>
                </a:solidFill>
              </a:rPr>
              <a:t>Job carving</a:t>
            </a:r>
          </a:p>
          <a:p>
            <a:pPr>
              <a:buClr>
                <a:srgbClr val="008000"/>
              </a:buClr>
              <a:defRPr/>
            </a:pPr>
            <a:r>
              <a:rPr lang="en-US" sz="2000" dirty="0">
                <a:solidFill>
                  <a:srgbClr val="800000"/>
                </a:solidFill>
              </a:rPr>
              <a:t>Business within a business</a:t>
            </a:r>
          </a:p>
          <a:p>
            <a:pPr>
              <a:buClr>
                <a:srgbClr val="008000"/>
              </a:buClr>
              <a:defRPr/>
            </a:pPr>
            <a:r>
              <a:rPr lang="en-US" sz="2000" dirty="0">
                <a:solidFill>
                  <a:srgbClr val="800000"/>
                </a:solidFill>
              </a:rPr>
              <a:t>Others</a:t>
            </a:r>
          </a:p>
          <a:p>
            <a:pPr>
              <a:defRPr/>
            </a:pPr>
            <a:endParaRPr lang="en-US" sz="2000" dirty="0"/>
          </a:p>
        </p:txBody>
      </p:sp>
      <p:sp>
        <p:nvSpPr>
          <p:cNvPr id="11" name="Title 10"/>
          <p:cNvSpPr txBox="1">
            <a:spLocks noGrp="1"/>
          </p:cNvSpPr>
          <p:nvPr>
            <p:ph type="title" idx="4294967295"/>
          </p:nvPr>
        </p:nvSpPr>
        <p:spPr>
          <a:xfrm>
            <a:off x="4648200" y="457200"/>
            <a:ext cx="2895600" cy="400110"/>
          </a:xfrm>
          <a:prstGeom prst="rect">
            <a:avLst/>
          </a:prstGeom>
          <a:solidFill>
            <a:srgbClr val="800000"/>
          </a:solidFill>
          <a:ln w="12700" cap="flat" cmpd="sng" algn="ctr">
            <a:solidFill>
              <a:schemeClr val="accent2"/>
            </a:solidFill>
            <a:prstDash val="solid"/>
            <a:miter lim="800000"/>
          </a:ln>
          <a:effectLst>
            <a:glow rad="139700">
              <a:srgbClr val="800000">
                <a:alpha val="40000"/>
              </a:srgbClr>
            </a:glow>
          </a:effectLst>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opperplate Gothic Bold"/>
                <a:ea typeface="+mn-ea"/>
                <a:cs typeface="Copperplate Gothic Bold"/>
              </a:rPr>
              <a:t>Filling the Gap</a:t>
            </a:r>
          </a:p>
        </p:txBody>
      </p:sp>
      <p:sp>
        <p:nvSpPr>
          <p:cNvPr id="13" name="Notched Right Arrow 12"/>
          <p:cNvSpPr/>
          <p:nvPr/>
        </p:nvSpPr>
        <p:spPr bwMode="auto">
          <a:xfrm>
            <a:off x="1600200" y="2057400"/>
            <a:ext cx="2667000" cy="1625600"/>
          </a:xfrm>
          <a:prstGeom prst="notchedRightArrow">
            <a:avLst/>
          </a:prstGeom>
          <a:solidFill>
            <a:srgbClr val="1534AA"/>
          </a:solidFill>
          <a:ln w="9525" cap="flat" cmpd="sng" algn="ctr">
            <a:solidFill>
              <a:schemeClr val="tx1"/>
            </a:solidFill>
            <a:prstDash val="solid"/>
            <a:round/>
            <a:headEnd type="none" w="med" len="med"/>
            <a:tailEnd type="none" w="med" len="med"/>
          </a:ln>
          <a:effectLst/>
          <a:scene3d>
            <a:camera prst="orthographicFront"/>
            <a:lightRig rig="threePt" dir="t"/>
          </a:scene3d>
          <a:sp3d>
            <a:bevelT w="101600" prst="riblet"/>
          </a:sp3d>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600" b="0" i="0" u="none" strike="noStrike" kern="1200" cap="none" spc="0" normalizeH="0" baseline="0" noProof="0" dirty="0">
                <a:ln>
                  <a:noFill/>
                </a:ln>
                <a:solidFill>
                  <a:prstClr val="white"/>
                </a:solidFill>
                <a:effectLst/>
                <a:uLnTx/>
                <a:uFillTx/>
                <a:latin typeface="Arial Narrow"/>
                <a:ea typeface="ＭＳ Ｐゴシック" charset="0"/>
                <a:cs typeface="Arial Narrow"/>
              </a:rPr>
              <a:t>Employer Needs</a:t>
            </a:r>
          </a:p>
        </p:txBody>
      </p:sp>
      <p:sp>
        <p:nvSpPr>
          <p:cNvPr id="14" name="Left Arrow 13"/>
          <p:cNvSpPr/>
          <p:nvPr/>
        </p:nvSpPr>
        <p:spPr bwMode="auto">
          <a:xfrm>
            <a:off x="8001000" y="1981200"/>
            <a:ext cx="2743200" cy="2133600"/>
          </a:xfrm>
          <a:prstGeom prst="leftArrow">
            <a:avLst/>
          </a:prstGeom>
          <a:solidFill>
            <a:srgbClr val="800040"/>
          </a:solidFill>
          <a:ln w="9525" cap="flat" cmpd="sng" algn="ctr">
            <a:solidFill>
              <a:schemeClr val="tx1"/>
            </a:solidFill>
            <a:prstDash val="solid"/>
            <a:round/>
            <a:headEnd type="none" w="med" len="med"/>
            <a:tailEnd type="none" w="med" len="med"/>
          </a:ln>
          <a:effectLst/>
          <a:scene3d>
            <a:camera prst="orthographicFront"/>
            <a:lightRig rig="threePt" dir="t"/>
          </a:scene3d>
          <a:sp3d>
            <a:bevelT w="101600" prst="riblet"/>
          </a:sp3d>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600" b="0" i="0" u="none" strike="noStrike" kern="1200" cap="none" spc="0" normalizeH="0" baseline="0" noProof="0" dirty="0">
                <a:ln>
                  <a:noFill/>
                </a:ln>
                <a:solidFill>
                  <a:prstClr val="white"/>
                </a:solidFill>
                <a:effectLst/>
                <a:uLnTx/>
                <a:uFillTx/>
                <a:latin typeface="Arial Narrow"/>
                <a:ea typeface="+mn-ea"/>
                <a:cs typeface="Arial Narrow"/>
              </a:rPr>
              <a:t>Perception of skills &amp; abilities</a:t>
            </a:r>
          </a:p>
        </p:txBody>
      </p:sp>
      <p:cxnSp>
        <p:nvCxnSpPr>
          <p:cNvPr id="3" name="Straight Connector 2">
            <a:extLst>
              <a:ext uri="{FF2B5EF4-FFF2-40B4-BE49-F238E27FC236}">
                <a16:creationId xmlns:a16="http://schemas.microsoft.com/office/drawing/2014/main" id="{CF741A97-015E-7249-B0DF-84B2836E89EE}"/>
              </a:ext>
              <a:ext uri="{C183D7F6-B498-43B3-948B-1728B52AA6E4}">
                <adec:decorative xmlns:adec="http://schemas.microsoft.com/office/drawing/2017/decorative" val="1"/>
              </a:ext>
            </a:extLst>
          </p:cNvPr>
          <p:cNvCxnSpPr>
            <a:cxnSpLocks/>
          </p:cNvCxnSpPr>
          <p:nvPr/>
        </p:nvCxnSpPr>
        <p:spPr>
          <a:xfrm flipH="1">
            <a:off x="0" y="0"/>
            <a:ext cx="29497" cy="6858000"/>
          </a:xfrm>
          <a:prstGeom prst="line">
            <a:avLst/>
          </a:prstGeom>
          <a:ln w="127000" cmpd="thinThick">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CDEB992-B6F4-31E0-6602-EB616F318C69}"/>
              </a:ext>
              <a:ext uri="{C183D7F6-B498-43B3-948B-1728B52AA6E4}">
                <adec:decorative xmlns:adec="http://schemas.microsoft.com/office/drawing/2017/decorative" val="1"/>
              </a:ext>
            </a:extLst>
          </p:cNvPr>
          <p:cNvCxnSpPr>
            <a:cxnSpLocks/>
          </p:cNvCxnSpPr>
          <p:nvPr/>
        </p:nvCxnSpPr>
        <p:spPr>
          <a:xfrm flipV="1">
            <a:off x="12192000" y="0"/>
            <a:ext cx="0" cy="6818380"/>
          </a:xfrm>
          <a:prstGeom prst="line">
            <a:avLst/>
          </a:prstGeom>
          <a:ln w="127000" cmpd="thinThick">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Slide Number Placeholder 19">
            <a:extLst>
              <a:ext uri="{FF2B5EF4-FFF2-40B4-BE49-F238E27FC236}">
                <a16:creationId xmlns:a16="http://schemas.microsoft.com/office/drawing/2014/main" id="{6A785F34-73C3-7F2E-116C-EDD5B01BFC57}"/>
              </a:ext>
            </a:extLst>
          </p:cNvPr>
          <p:cNvSpPr>
            <a:spLocks noGrp="1"/>
          </p:cNvSpPr>
          <p:nvPr>
            <p:ph type="sldNum" sz="quarter" idx="12"/>
          </p:nvPr>
        </p:nvSpPr>
        <p:spPr>
          <a:xfrm>
            <a:off x="9125606" y="6394263"/>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3426DC-C502-4B46-A878-9D43EE259E4B}" type="slidenum">
              <a:rPr kumimoji="0" lang="en-US" sz="1400" b="0" i="0" u="none" strike="noStrike" kern="1200" cap="none" spc="0" normalizeH="0" baseline="0" noProof="0" smtClean="0">
                <a:ln>
                  <a:noFill/>
                </a:ln>
                <a:solidFill>
                  <a:schemeClr val="tx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059314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9"/>
                                        </p:tgtEl>
                                        <p:attrNameLst>
                                          <p:attrName>fillcolor</p:attrName>
                                        </p:attrNameLst>
                                      </p:cBhvr>
                                      <p:to>
                                        <a:srgbClr val="553413"/>
                                      </p:to>
                                    </p:animClr>
                                    <p:set>
                                      <p:cBhvr>
                                        <p:cTn id="7" dur="2000" fill="hold"/>
                                        <p:tgtEl>
                                          <p:spTgt spid="9"/>
                                        </p:tgtEl>
                                        <p:attrNameLst>
                                          <p:attrName>fill.type</p:attrName>
                                        </p:attrNameLst>
                                      </p:cBhvr>
                                      <p:to>
                                        <p:strVal val="solid"/>
                                      </p:to>
                                    </p:set>
                                    <p:set>
                                      <p:cBhvr>
                                        <p:cTn id="8" dur="2000" fill="hold"/>
                                        <p:tgtEl>
                                          <p:spTgt spid="9"/>
                                        </p:tgtEl>
                                        <p:attrNameLst>
                                          <p:attrName>fill.on</p:attrName>
                                        </p:attrNameLst>
                                      </p:cBhvr>
                                      <p:to>
                                        <p:strVal val="true"/>
                                      </p:to>
                                    </p:set>
                                  </p:childTnLst>
                                  <p:subTnLst>
                                    <p:set>
                                      <p:cBhvr override="childStyle">
                                        <p:cTn dur="1" fill="hold" display="0" masterRel="sameClick" afterEffect="1">
                                          <p:stCondLst>
                                            <p:cond evt="end" delay="0">
                                              <p:tn val="5"/>
                                            </p:cond>
                                          </p:stCondLst>
                                        </p:cTn>
                                        <p:tgtEl>
                                          <p:spTgt spid="9"/>
                                        </p:tgtEl>
                                        <p:attrNameLst>
                                          <p:attrName>style.visibility</p:attrName>
                                        </p:attrNameLst>
                                      </p:cBhvr>
                                      <p:to>
                                        <p:strVal val="hidden"/>
                                      </p:to>
                                    </p:set>
                                  </p:subTnLst>
                                </p:cTn>
                              </p:par>
                              <p:par>
                                <p:cTn id="9" presetID="9"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dissolve">
                                      <p:cBhvr>
                                        <p:cTn id="11" dur="2000"/>
                                        <p:tgtEl>
                                          <p:spTgt spid="10"/>
                                        </p:tgtEl>
                                      </p:cBhvr>
                                    </p:animEffect>
                                  </p:childTnLst>
                                </p:cTn>
                              </p:par>
                              <p:par>
                                <p:cTn id="12" presetID="5" presetClass="entr" presetSubtype="1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checkerboard(across)">
                                      <p:cBhvr>
                                        <p:cTn id="14" dur="2000"/>
                                        <p:tgtEl>
                                          <p:spTgt spid="11"/>
                                        </p:tgtEl>
                                      </p:cBhvr>
                                    </p:animEffect>
                                  </p:childTnLst>
                                </p:cTn>
                              </p:par>
                            </p:childTnLst>
                          </p:cTn>
                        </p:par>
                        <p:par>
                          <p:cTn id="15" fill="hold">
                            <p:stCondLst>
                              <p:cond delay="2000"/>
                            </p:stCondLst>
                            <p:childTnLst>
                              <p:par>
                                <p:cTn id="16" presetID="1" presetClass="entr" presetSubtype="0" fill="hold" nodeType="afterEffect">
                                  <p:stCondLst>
                                    <p:cond delay="2000"/>
                                  </p:stCondLst>
                                  <p:childTnLst>
                                    <p:set>
                                      <p:cBhvr>
                                        <p:cTn id="17"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8">
                                            <p:txEl>
                                              <p:pRg st="1" end="1"/>
                                            </p:tx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1000"/>
                                  </p:stCondLst>
                                  <p:childTnLst>
                                    <p:set>
                                      <p:cBhvr>
                                        <p:cTn id="24" dur="1" fill="hold">
                                          <p:stCondLst>
                                            <p:cond delay="0"/>
                                          </p:stCondLst>
                                        </p:cTn>
                                        <p:tgtEl>
                                          <p:spTgt spid="8">
                                            <p:txEl>
                                              <p:pRg st="2" end="2"/>
                                            </p:txEl>
                                          </p:spTgt>
                                        </p:tgtEl>
                                        <p:attrNameLst>
                                          <p:attrName>style.visibility</p:attrName>
                                        </p:attrNameLst>
                                      </p:cBhvr>
                                      <p:to>
                                        <p:strVal val="visible"/>
                                      </p:to>
                                    </p:set>
                                  </p:childTnLst>
                                </p:cTn>
                              </p:par>
                            </p:childTnLst>
                          </p:cTn>
                        </p:par>
                        <p:par>
                          <p:cTn id="25" fill="hold">
                            <p:stCondLst>
                              <p:cond delay="1000"/>
                            </p:stCondLst>
                            <p:childTnLst>
                              <p:par>
                                <p:cTn id="26" presetID="0" presetClass="path" presetSubtype="0" accel="50000" decel="50000" fill="hold" grpId="0" nodeType="afterEffect">
                                  <p:stCondLst>
                                    <p:cond delay="0"/>
                                  </p:stCondLst>
                                  <p:childTnLst>
                                    <p:animMotion origin="layout" path="M 3.33333E-6 4.44444E-6 L 3.33333E-6 0.04259 " pathEditMode="relative" rAng="0" ptsTypes="AA">
                                      <p:cBhvr>
                                        <p:cTn id="27" dur="2000" fill="hold"/>
                                        <p:tgtEl>
                                          <p:spTgt spid="6"/>
                                        </p:tgtEl>
                                        <p:attrNameLst>
                                          <p:attrName>ppt_x</p:attrName>
                                          <p:attrName>ppt_y</p:attrName>
                                        </p:attrNameLst>
                                      </p:cBhvr>
                                      <p:rCtr x="0" y="2130"/>
                                    </p:animMotion>
                                  </p:childTnLst>
                                </p:cTn>
                              </p:par>
                              <p:par>
                                <p:cTn id="28" presetID="0" presetClass="path" presetSubtype="0" accel="50000" decel="50000" fill="hold" grpId="0" nodeType="withEffect">
                                  <p:stCondLst>
                                    <p:cond delay="0"/>
                                  </p:stCondLst>
                                  <p:childTnLst>
                                    <p:animMotion origin="layout" path="M 3.33333E-6 1.11111E-6 L 3.33333E-6 -0.1 " pathEditMode="relative" rAng="0" ptsTypes="AA">
                                      <p:cBhvr>
                                        <p:cTn id="29" dur="2000" fill="hold"/>
                                        <p:tgtEl>
                                          <p:spTgt spid="7"/>
                                        </p:tgtEl>
                                        <p:attrNameLst>
                                          <p:attrName>ppt_x</p:attrName>
                                          <p:attrName>ppt_y</p:attrName>
                                        </p:attrNameLst>
                                      </p:cBhvr>
                                      <p:rCtr x="0" y="-5000"/>
                                    </p:animMotion>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8">
                                            <p:txEl>
                                              <p:pRg st="4" end="4"/>
                                            </p:txEl>
                                          </p:spTgt>
                                        </p:tgtEl>
                                        <p:attrNameLst>
                                          <p:attrName>style.visibility</p:attrName>
                                        </p:attrNameLst>
                                      </p:cBhvr>
                                      <p:to>
                                        <p:strVal val="visible"/>
                                      </p:to>
                                    </p:set>
                                  </p:childTnLst>
                                </p:cTn>
                              </p:par>
                            </p:childTnLst>
                          </p:cTn>
                        </p:par>
                        <p:par>
                          <p:cTn id="38" fill="hold">
                            <p:stCondLst>
                              <p:cond delay="0"/>
                            </p:stCondLst>
                            <p:childTnLst>
                              <p:par>
                                <p:cTn id="39" presetID="0" presetClass="path" presetSubtype="0" accel="50000" decel="50000" fill="hold" grpId="1" nodeType="afterEffect">
                                  <p:stCondLst>
                                    <p:cond delay="0"/>
                                  </p:stCondLst>
                                  <p:childTnLst>
                                    <p:animMotion origin="layout" path="M 3.33333E-6 0.04259 L 3.33333E-6 0.09815 " pathEditMode="relative" rAng="0" ptsTypes="AA">
                                      <p:cBhvr>
                                        <p:cTn id="40" dur="2000" fill="hold"/>
                                        <p:tgtEl>
                                          <p:spTgt spid="6"/>
                                        </p:tgtEl>
                                        <p:attrNameLst>
                                          <p:attrName>ppt_x</p:attrName>
                                          <p:attrName>ppt_y</p:attrName>
                                        </p:attrNameLst>
                                      </p:cBhvr>
                                      <p:rCtr x="0" y="2778"/>
                                    </p:animMotion>
                                  </p:childTnLst>
                                </p:cTn>
                              </p:par>
                              <p:par>
                                <p:cTn id="41" presetID="0" presetClass="path" presetSubtype="0" accel="50000" decel="50000" fill="hold" grpId="1" nodeType="withEffect">
                                  <p:stCondLst>
                                    <p:cond delay="0"/>
                                  </p:stCondLst>
                                  <p:childTnLst>
                                    <p:animMotion origin="layout" path="M 3.33333E-6 -0.1 L 3.33333E-6 -0.16667 " pathEditMode="fixed" rAng="0" ptsTypes="AA">
                                      <p:cBhvr>
                                        <p:cTn id="42" dur="2000" fill="hold"/>
                                        <p:tgtEl>
                                          <p:spTgt spid="7"/>
                                        </p:tgtEl>
                                        <p:attrNameLst>
                                          <p:attrName>ppt_x</p:attrName>
                                          <p:attrName>ppt_y</p:attrName>
                                        </p:attrNameLst>
                                      </p:cBhvr>
                                      <p:rCtr x="0" y="-3333"/>
                                    </p:animMotion>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
                                            <p:txEl>
                                              <p:pRg st="6" end="6"/>
                                            </p:txEl>
                                          </p:spTgt>
                                        </p:tgtEl>
                                        <p:attrNameLst>
                                          <p:attrName>style.visibility</p:attrName>
                                        </p:attrNameLst>
                                      </p:cBhvr>
                                      <p:to>
                                        <p:strVal val="visible"/>
                                      </p:to>
                                    </p:set>
                                  </p:childTnLst>
                                </p:cTn>
                              </p:par>
                            </p:childTnLst>
                          </p:cTn>
                        </p:par>
                        <p:par>
                          <p:cTn id="51" fill="hold">
                            <p:stCondLst>
                              <p:cond delay="0"/>
                            </p:stCondLst>
                            <p:childTnLst>
                              <p:par>
                                <p:cTn id="52" presetID="0" presetClass="path" presetSubtype="0" accel="50000" decel="50000" fill="hold" grpId="3" nodeType="afterEffect">
                                  <p:stCondLst>
                                    <p:cond delay="0"/>
                                  </p:stCondLst>
                                  <p:childTnLst>
                                    <p:animMotion origin="layout" path="M 0.00833 0.09815 L 0.00833 0.15185 " pathEditMode="fixed" rAng="0" ptsTypes="AA">
                                      <p:cBhvr>
                                        <p:cTn id="53" dur="2000" fill="hold"/>
                                        <p:tgtEl>
                                          <p:spTgt spid="6"/>
                                        </p:tgtEl>
                                        <p:attrNameLst>
                                          <p:attrName>ppt_x</p:attrName>
                                          <p:attrName>ppt_y</p:attrName>
                                        </p:attrNameLst>
                                      </p:cBhvr>
                                      <p:rCtr x="0" y="2685"/>
                                    </p:animMotion>
                                  </p:childTnLst>
                                </p:cTn>
                              </p:par>
                              <p:par>
                                <p:cTn id="54" presetID="0" presetClass="path" presetSubtype="0" accel="50000" decel="50000" fill="hold" grpId="2" nodeType="withEffect">
                                  <p:stCondLst>
                                    <p:cond delay="0"/>
                                  </p:stCondLst>
                                  <p:childTnLst>
                                    <p:animMotion origin="layout" path="M -3.33333E-6 -0.16667 L -0.00416 -0.23334 " pathEditMode="relative" rAng="0" ptsTypes="AA">
                                      <p:cBhvr>
                                        <p:cTn id="55" dur="2000" fill="hold"/>
                                        <p:tgtEl>
                                          <p:spTgt spid="7"/>
                                        </p:tgtEl>
                                        <p:attrNameLst>
                                          <p:attrName>ppt_x</p:attrName>
                                          <p:attrName>ppt_y</p:attrName>
                                        </p:attrNameLst>
                                      </p:cBhvr>
                                      <p:rCtr x="-208" y="-3333"/>
                                    </p:animMotion>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8">
                                            <p:txEl>
                                              <p:pRg st="8" end="8"/>
                                            </p:txEl>
                                          </p:spTgt>
                                        </p:tgtEl>
                                        <p:attrNameLst>
                                          <p:attrName>style.visibility</p:attrName>
                                        </p:attrNameLst>
                                      </p:cBhvr>
                                      <p:to>
                                        <p:strVal val="visible"/>
                                      </p:to>
                                    </p:set>
                                  </p:childTnLst>
                                </p:cTn>
                              </p:par>
                            </p:childTnLst>
                          </p:cTn>
                        </p:par>
                        <p:par>
                          <p:cTn id="64" fill="hold">
                            <p:stCondLst>
                              <p:cond delay="0"/>
                            </p:stCondLst>
                            <p:childTnLst>
                              <p:par>
                                <p:cTn id="65" presetID="0" presetClass="path" presetSubtype="0" accel="50000" decel="50000" fill="hold" grpId="4" nodeType="afterEffect">
                                  <p:stCondLst>
                                    <p:cond delay="0"/>
                                  </p:stCondLst>
                                  <p:childTnLst>
                                    <p:animMotion origin="layout" path="M 0.00834 0.15185 L 0.00834 0.24259 " pathEditMode="fixed" rAng="0" ptsTypes="AA">
                                      <p:cBhvr>
                                        <p:cTn id="66" dur="2000" fill="hold"/>
                                        <p:tgtEl>
                                          <p:spTgt spid="6"/>
                                        </p:tgtEl>
                                        <p:attrNameLst>
                                          <p:attrName>ppt_x</p:attrName>
                                          <p:attrName>ppt_y</p:attrName>
                                        </p:attrNameLst>
                                      </p:cBhvr>
                                      <p:rCtr x="0" y="4537"/>
                                    </p:animMotion>
                                  </p:childTnLst>
                                </p:cTn>
                              </p:par>
                              <p:par>
                                <p:cTn id="67" presetID="0" presetClass="path" presetSubtype="0" accel="50000" decel="50000" fill="hold" grpId="3" nodeType="withEffect">
                                  <p:stCondLst>
                                    <p:cond delay="0"/>
                                  </p:stCondLst>
                                  <p:childTnLst>
                                    <p:animMotion origin="layout" path="M -0.00416 -0.23334 L -0.00416 -0.28889 " pathEditMode="fixed" rAng="0" ptsTypes="AA">
                                      <p:cBhvr>
                                        <p:cTn id="68" dur="2000" fill="hold"/>
                                        <p:tgtEl>
                                          <p:spTgt spid="7"/>
                                        </p:tgtEl>
                                        <p:attrNameLst>
                                          <p:attrName>ppt_x</p:attrName>
                                          <p:attrName>ppt_y</p:attrName>
                                        </p:attrNameLst>
                                      </p:cBhvr>
                                      <p:rCtr x="0" y="-2778"/>
                                    </p:animMotion>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8">
                                            <p:txEl>
                                              <p:pRg st="9" end="9"/>
                                            </p:txEl>
                                          </p:spTgt>
                                        </p:tgtEl>
                                        <p:attrNameLst>
                                          <p:attrName>style.visibility</p:attrName>
                                        </p:attrNameLst>
                                      </p:cBhvr>
                                      <p:to>
                                        <p:strVal val="visible"/>
                                      </p:to>
                                    </p:set>
                                  </p:childTnLst>
                                </p:cTn>
                              </p:par>
                            </p:childTnLst>
                          </p:cTn>
                        </p:par>
                        <p:par>
                          <p:cTn id="73" fill="hold">
                            <p:stCondLst>
                              <p:cond delay="0"/>
                            </p:stCondLst>
                            <p:childTnLst>
                              <p:par>
                                <p:cTn id="74" presetID="1" presetClass="exit" presetSubtype="0" fill="hold" grpId="2" nodeType="afterEffect">
                                  <p:stCondLst>
                                    <p:cond delay="0"/>
                                  </p:stCondLst>
                                  <p:childTnLst>
                                    <p:set>
                                      <p:cBhvr>
                                        <p:cTn id="75" dur="1" fill="hold">
                                          <p:stCondLst>
                                            <p:cond delay="0"/>
                                          </p:stCondLst>
                                        </p:cTn>
                                        <p:tgtEl>
                                          <p:spTgt spid="6"/>
                                        </p:tgtEl>
                                        <p:attrNameLst>
                                          <p:attrName>style.visibility</p:attrName>
                                        </p:attrNameLst>
                                      </p:cBhvr>
                                      <p:to>
                                        <p:strVal val="hidden"/>
                                      </p:to>
                                    </p:set>
                                  </p:childTnLst>
                                </p:cTn>
                              </p:par>
                              <p:par>
                                <p:cTn id="76" presetID="1" presetClass="entr" presetSubtype="0" fill="hold" grpId="0" nodeType="withEffect">
                                  <p:stCondLst>
                                    <p:cond delay="0"/>
                                  </p:stCondLst>
                                  <p:childTnLst>
                                    <p:set>
                                      <p:cBhvr>
                                        <p:cTn id="77" dur="1" fill="hold">
                                          <p:stCondLst>
                                            <p:cond delay="0"/>
                                          </p:stCondLst>
                                        </p:cTn>
                                        <p:tgtEl>
                                          <p:spTgt spid="13"/>
                                        </p:tgtEl>
                                        <p:attrNameLst>
                                          <p:attrName>style.visibility</p:attrName>
                                        </p:attrNameLst>
                                      </p:cBhvr>
                                      <p:to>
                                        <p:strVal val="visible"/>
                                      </p:to>
                                    </p:set>
                                  </p:childTnLst>
                                </p:cTn>
                              </p:par>
                              <p:par>
                                <p:cTn id="78" presetID="1" presetClass="exit" presetSubtype="0" fill="hold" grpId="4" nodeType="withEffect">
                                  <p:stCondLst>
                                    <p:cond delay="0"/>
                                  </p:stCondLst>
                                  <p:childTnLst>
                                    <p:set>
                                      <p:cBhvr>
                                        <p:cTn id="79" dur="1" fill="hold">
                                          <p:stCondLst>
                                            <p:cond delay="0"/>
                                          </p:stCondLst>
                                        </p:cTn>
                                        <p:tgtEl>
                                          <p:spTgt spid="7"/>
                                        </p:tgtEl>
                                        <p:attrNameLst>
                                          <p:attrName>style.visibility</p:attrName>
                                        </p:attrNameLst>
                                      </p:cBhvr>
                                      <p:to>
                                        <p:strVal val="hidden"/>
                                      </p:to>
                                    </p:set>
                                  </p:childTnLst>
                                </p:cTn>
                              </p:par>
                              <p:par>
                                <p:cTn id="80" presetID="1" presetClass="entr" presetSubtype="0" fill="hold" grpId="0" nodeType="withEffect">
                                  <p:stCondLst>
                                    <p:cond delay="0"/>
                                  </p:stCondLst>
                                  <p:childTnLst>
                                    <p:set>
                                      <p:cBhvr>
                                        <p:cTn id="81"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6" grpId="3" animBg="1"/>
      <p:bldP spid="6" grpId="4" animBg="1"/>
      <p:bldP spid="7" grpId="0" animBg="1"/>
      <p:bldP spid="7" grpId="1" animBg="1"/>
      <p:bldP spid="7" grpId="2" animBg="1"/>
      <p:bldP spid="7" grpId="3" animBg="1"/>
      <p:bldP spid="7" grpId="4" animBg="1"/>
      <p:bldP spid="10" grpId="0" animBg="1"/>
      <p:bldP spid="11" grpId="0" animBg="1"/>
      <p:bldP spid="13" grpId="0" animBg="1"/>
      <p:bldP spid="1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0A1042-169C-6930-6418-0E11D41D439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6038750-9EB9-17DB-BD07-21F3ED6C99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7A2B037-C822-445C-0129-EEE8496F4E04}"/>
              </a:ext>
            </a:extLst>
          </p:cNvPr>
          <p:cNvSpPr>
            <a:spLocks noGrp="1"/>
          </p:cNvSpPr>
          <p:nvPr>
            <p:ph type="title"/>
          </p:nvPr>
        </p:nvSpPr>
        <p:spPr>
          <a:xfrm>
            <a:off x="1932903" y="949325"/>
            <a:ext cx="8071706" cy="2387600"/>
          </a:xfrm>
        </p:spPr>
        <p:txBody>
          <a:bodyPr vert="horz" lIns="91440" tIns="45720" rIns="91440" bIns="45720" rtlCol="0" anchor="b">
            <a:normAutofit/>
          </a:bodyPr>
          <a:lstStyle/>
          <a:p>
            <a:r>
              <a:rPr lang="en-US" sz="4100" kern="1200" dirty="0">
                <a:solidFill>
                  <a:schemeClr val="bg1"/>
                </a:solidFill>
                <a:latin typeface="+mj-lt"/>
                <a:ea typeface="+mj-ea"/>
                <a:cs typeface="+mj-cs"/>
              </a:rPr>
              <a:t>We need to recognize the inherent uneven power dynamics and challenges caused by ableism and our service designs</a:t>
            </a:r>
          </a:p>
        </p:txBody>
      </p:sp>
      <p:cxnSp>
        <p:nvCxnSpPr>
          <p:cNvPr id="11" name="Straight Connector 10">
            <a:extLst>
              <a:ext uri="{FF2B5EF4-FFF2-40B4-BE49-F238E27FC236}">
                <a16:creationId xmlns:a16="http://schemas.microsoft.com/office/drawing/2014/main" id="{8D1FBEBB-569E-4CE3-6362-31ED26A038C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5285"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6A5102E-58A1-663F-1A92-420AAFE766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6252485"/>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AD76C40D-B909-FE99-87D3-EA33179B1985}"/>
              </a:ext>
            </a:extLst>
          </p:cNvPr>
          <p:cNvSpPr>
            <a:spLocks noGrp="1"/>
          </p:cNvSpPr>
          <p:nvPr>
            <p:ph type="sldNum" sz="quarter" idx="12"/>
          </p:nvPr>
        </p:nvSpPr>
        <p:spPr>
          <a:xfrm>
            <a:off x="10196569" y="6372680"/>
            <a:ext cx="1779493"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33426DC-C502-4B46-A878-9D43EE259E4B}" type="slidenum">
              <a:rPr kumimoji="0" lang="en-US" sz="1400" b="0" i="0" u="none" strike="noStrike" kern="1200" cap="none" spc="0" normalizeH="0" baseline="0" noProof="0">
                <a:ln>
                  <a:noFill/>
                </a:ln>
                <a:solidFill>
                  <a:schemeClr val="bg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42</a:t>
            </a:fld>
            <a:endParaRPr kumimoji="0" lang="en-US" sz="14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4570406"/>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D8E54F9-849C-4865-8C5E-FD967B81D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391AE6B3-1D2D-4C67-A4DB-888635B527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54983"/>
          </a:xfrm>
          <a:custGeom>
            <a:avLst/>
            <a:gdLst>
              <a:gd name="connsiteX0" fmla="*/ 6788003 w 12188952"/>
              <a:gd name="connsiteY0" fmla="*/ 5986774 h 6054983"/>
              <a:gd name="connsiteX1" fmla="*/ 6787005 w 12188952"/>
              <a:gd name="connsiteY1" fmla="*/ 5986852 h 6054983"/>
              <a:gd name="connsiteX2" fmla="*/ 6786779 w 12188952"/>
              <a:gd name="connsiteY2" fmla="*/ 5987386 h 6054983"/>
              <a:gd name="connsiteX3" fmla="*/ 0 w 12188952"/>
              <a:gd name="connsiteY3" fmla="*/ 0 h 6054983"/>
              <a:gd name="connsiteX4" fmla="*/ 12188952 w 12188952"/>
              <a:gd name="connsiteY4" fmla="*/ 0 h 6054983"/>
              <a:gd name="connsiteX5" fmla="*/ 12188952 w 12188952"/>
              <a:gd name="connsiteY5" fmla="*/ 5092539 h 6054983"/>
              <a:gd name="connsiteX6" fmla="*/ 12058081 w 12188952"/>
              <a:gd name="connsiteY6" fmla="*/ 5131579 h 6054983"/>
              <a:gd name="connsiteX7" fmla="*/ 11673881 w 12188952"/>
              <a:gd name="connsiteY7" fmla="*/ 5235154 h 6054983"/>
              <a:gd name="connsiteX8" fmla="*/ 10422749 w 12188952"/>
              <a:gd name="connsiteY8" fmla="*/ 5518693 h 6054983"/>
              <a:gd name="connsiteX9" fmla="*/ 9421666 w 12188952"/>
              <a:gd name="connsiteY9" fmla="*/ 5693855 h 6054983"/>
              <a:gd name="connsiteX10" fmla="*/ 8456304 w 12188952"/>
              <a:gd name="connsiteY10" fmla="*/ 5827556 h 6054983"/>
              <a:gd name="connsiteX11" fmla="*/ 7714041 w 12188952"/>
              <a:gd name="connsiteY11" fmla="*/ 5907503 h 6054983"/>
              <a:gd name="connsiteX12" fmla="*/ 6949978 w 12188952"/>
              <a:gd name="connsiteY12" fmla="*/ 5973283 h 6054983"/>
              <a:gd name="connsiteX13" fmla="*/ 6934569 w 12188952"/>
              <a:gd name="connsiteY13" fmla="*/ 5975354 h 6054983"/>
              <a:gd name="connsiteX14" fmla="*/ 6788750 w 12188952"/>
              <a:gd name="connsiteY14" fmla="*/ 5986715 h 6054983"/>
              <a:gd name="connsiteX15" fmla="*/ 6798241 w 12188952"/>
              <a:gd name="connsiteY15" fmla="*/ 5988535 h 6054983"/>
              <a:gd name="connsiteX16" fmla="*/ 6833723 w 12188952"/>
              <a:gd name="connsiteY16" fmla="*/ 5986828 h 6054983"/>
              <a:gd name="connsiteX17" fmla="*/ 6882282 w 12188952"/>
              <a:gd name="connsiteY17" fmla="*/ 5983850 h 6054983"/>
              <a:gd name="connsiteX18" fmla="*/ 7576876 w 12188952"/>
              <a:gd name="connsiteY18" fmla="*/ 5951323 h 6054983"/>
              <a:gd name="connsiteX19" fmla="*/ 8621689 w 12188952"/>
              <a:gd name="connsiteY19" fmla="*/ 5864426 h 6054983"/>
              <a:gd name="connsiteX20" fmla="*/ 9477600 w 12188952"/>
              <a:gd name="connsiteY20" fmla="*/ 5760520 h 6054983"/>
              <a:gd name="connsiteX21" fmla="*/ 10626651 w 12188952"/>
              <a:gd name="connsiteY21" fmla="*/ 5566363 h 6054983"/>
              <a:gd name="connsiteX22" fmla="*/ 11995498 w 12188952"/>
              <a:gd name="connsiteY22" fmla="*/ 5240369 h 6054983"/>
              <a:gd name="connsiteX23" fmla="*/ 12188952 w 12188952"/>
              <a:gd name="connsiteY23" fmla="*/ 5183370 h 6054983"/>
              <a:gd name="connsiteX24" fmla="*/ 12188952 w 12188952"/>
              <a:gd name="connsiteY24" fmla="*/ 5238107 h 6054983"/>
              <a:gd name="connsiteX25" fmla="*/ 11826300 w 12188952"/>
              <a:gd name="connsiteY25" fmla="*/ 5343406 h 6054983"/>
              <a:gd name="connsiteX26" fmla="*/ 10936448 w 12188952"/>
              <a:gd name="connsiteY26" fmla="*/ 5557921 h 6054983"/>
              <a:gd name="connsiteX27" fmla="*/ 9983034 w 12188952"/>
              <a:gd name="connsiteY27" fmla="*/ 5737926 h 6054983"/>
              <a:gd name="connsiteX28" fmla="*/ 9184585 w 12188952"/>
              <a:gd name="connsiteY28" fmla="*/ 5853873 h 6054983"/>
              <a:gd name="connsiteX29" fmla="*/ 8576053 w 12188952"/>
              <a:gd name="connsiteY29" fmla="*/ 5923392 h 6054983"/>
              <a:gd name="connsiteX30" fmla="*/ 7862392 w 12188952"/>
              <a:gd name="connsiteY30" fmla="*/ 5984843 h 6054983"/>
              <a:gd name="connsiteX31" fmla="*/ 6933768 w 12188952"/>
              <a:gd name="connsiteY31" fmla="*/ 6036237 h 6054983"/>
              <a:gd name="connsiteX32" fmla="*/ 6476130 w 12188952"/>
              <a:gd name="connsiteY32" fmla="*/ 6050140 h 6054983"/>
              <a:gd name="connsiteX33" fmla="*/ 6360703 w 12188952"/>
              <a:gd name="connsiteY33" fmla="*/ 6054983 h 6054983"/>
              <a:gd name="connsiteX34" fmla="*/ 6055614 w 12188952"/>
              <a:gd name="connsiteY34" fmla="*/ 6054983 h 6054983"/>
              <a:gd name="connsiteX35" fmla="*/ 5976289 w 12188952"/>
              <a:gd name="connsiteY35" fmla="*/ 6050389 h 6054983"/>
              <a:gd name="connsiteX36" fmla="*/ 5263770 w 12188952"/>
              <a:gd name="connsiteY36" fmla="*/ 6014140 h 6054983"/>
              <a:gd name="connsiteX37" fmla="*/ 4345190 w 12188952"/>
              <a:gd name="connsiteY37" fmla="*/ 5952070 h 6054983"/>
              <a:gd name="connsiteX38" fmla="*/ 3372201 w 12188952"/>
              <a:gd name="connsiteY38" fmla="*/ 5853501 h 6054983"/>
              <a:gd name="connsiteX39" fmla="*/ 2361582 w 12188952"/>
              <a:gd name="connsiteY39" fmla="*/ 5734574 h 6054983"/>
              <a:gd name="connsiteX40" fmla="*/ 1232869 w 12188952"/>
              <a:gd name="connsiteY40" fmla="*/ 5561398 h 6054983"/>
              <a:gd name="connsiteX41" fmla="*/ 68483 w 12188952"/>
              <a:gd name="connsiteY41" fmla="*/ 5321691 h 6054983"/>
              <a:gd name="connsiteX42" fmla="*/ 0 w 12188952"/>
              <a:gd name="connsiteY42" fmla="*/ 5304336 h 6054983"/>
              <a:gd name="connsiteX43" fmla="*/ 0 w 12188952"/>
              <a:gd name="connsiteY43" fmla="*/ 5247847 h 6054983"/>
              <a:gd name="connsiteX44" fmla="*/ 72423 w 12188952"/>
              <a:gd name="connsiteY44" fmla="*/ 5266624 h 6054983"/>
              <a:gd name="connsiteX45" fmla="*/ 600566 w 12188952"/>
              <a:gd name="connsiteY45" fmla="*/ 5384994 h 6054983"/>
              <a:gd name="connsiteX46" fmla="*/ 1769069 w 12188952"/>
              <a:gd name="connsiteY46" fmla="*/ 5595162 h 6054983"/>
              <a:gd name="connsiteX47" fmla="*/ 2612900 w 12188952"/>
              <a:gd name="connsiteY47" fmla="*/ 5712104 h 6054983"/>
              <a:gd name="connsiteX48" fmla="*/ 2580488 w 12188952"/>
              <a:gd name="connsiteY48" fmla="*/ 5702173 h 6054983"/>
              <a:gd name="connsiteX49" fmla="*/ 1112357 w 12188952"/>
              <a:gd name="connsiteY49" fmla="*/ 5369476 h 6054983"/>
              <a:gd name="connsiteX50" fmla="*/ 420307 w 12188952"/>
              <a:gd name="connsiteY50" fmla="*/ 5170043 h 6054983"/>
              <a:gd name="connsiteX51" fmla="*/ 0 w 12188952"/>
              <a:gd name="connsiteY51" fmla="*/ 5031126 h 605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88952" h="6054983">
                <a:moveTo>
                  <a:pt x="6788003" y="5986774"/>
                </a:moveTo>
                <a:lnTo>
                  <a:pt x="6787005" y="5986852"/>
                </a:lnTo>
                <a:lnTo>
                  <a:pt x="6786779" y="5987386"/>
                </a:lnTo>
                <a:close/>
                <a:moveTo>
                  <a:pt x="0" y="0"/>
                </a:moveTo>
                <a:lnTo>
                  <a:pt x="12188952" y="0"/>
                </a:lnTo>
                <a:lnTo>
                  <a:pt x="12188952" y="5092539"/>
                </a:lnTo>
                <a:lnTo>
                  <a:pt x="12058081" y="5131579"/>
                </a:lnTo>
                <a:cubicBezTo>
                  <a:pt x="11930517" y="5167793"/>
                  <a:pt x="11802439" y="5202322"/>
                  <a:pt x="11673881" y="5235154"/>
                </a:cubicBezTo>
                <a:cubicBezTo>
                  <a:pt x="11259973" y="5342661"/>
                  <a:pt x="10842632" y="5436263"/>
                  <a:pt x="10422749" y="5518693"/>
                </a:cubicBezTo>
                <a:cubicBezTo>
                  <a:pt x="10090287" y="5583904"/>
                  <a:pt x="9756593" y="5642301"/>
                  <a:pt x="9421666" y="5693855"/>
                </a:cubicBezTo>
                <a:cubicBezTo>
                  <a:pt x="9100721" y="5743512"/>
                  <a:pt x="8778938" y="5788079"/>
                  <a:pt x="8456304" y="5827556"/>
                </a:cubicBezTo>
                <a:cubicBezTo>
                  <a:pt x="8209307" y="5857722"/>
                  <a:pt x="7961801" y="5883295"/>
                  <a:pt x="7714041" y="5907503"/>
                </a:cubicBezTo>
                <a:lnTo>
                  <a:pt x="6949978" y="5973283"/>
                </a:lnTo>
                <a:lnTo>
                  <a:pt x="6934569" y="5975354"/>
                </a:lnTo>
                <a:lnTo>
                  <a:pt x="6788750" y="5986715"/>
                </a:lnTo>
                <a:lnTo>
                  <a:pt x="6798241" y="5988535"/>
                </a:lnTo>
                <a:cubicBezTo>
                  <a:pt x="6809920" y="5989001"/>
                  <a:pt x="6822028" y="5986828"/>
                  <a:pt x="6833723" y="5986828"/>
                </a:cubicBezTo>
                <a:cubicBezTo>
                  <a:pt x="6849867" y="5986828"/>
                  <a:pt x="6866012" y="5984221"/>
                  <a:pt x="6882282" y="5983850"/>
                </a:cubicBezTo>
                <a:cubicBezTo>
                  <a:pt x="7114026" y="5978388"/>
                  <a:pt x="7345514" y="5966221"/>
                  <a:pt x="7576876" y="5951323"/>
                </a:cubicBezTo>
                <a:cubicBezTo>
                  <a:pt x="7925570" y="5928855"/>
                  <a:pt x="8274011" y="5900676"/>
                  <a:pt x="8621689" y="5864426"/>
                </a:cubicBezTo>
                <a:cubicBezTo>
                  <a:pt x="8907712" y="5835128"/>
                  <a:pt x="9193011" y="5800493"/>
                  <a:pt x="9477600" y="5760520"/>
                </a:cubicBezTo>
                <a:cubicBezTo>
                  <a:pt x="9862435" y="5706146"/>
                  <a:pt x="10245452" y="5641432"/>
                  <a:pt x="10626651" y="5566363"/>
                </a:cubicBezTo>
                <a:cubicBezTo>
                  <a:pt x="11087341" y="5475243"/>
                  <a:pt x="11544088" y="5367737"/>
                  <a:pt x="11995498" y="5240369"/>
                </a:cubicBezTo>
                <a:lnTo>
                  <a:pt x="12188952" y="5183370"/>
                </a:lnTo>
                <a:lnTo>
                  <a:pt x="12188952" y="5238107"/>
                </a:lnTo>
                <a:lnTo>
                  <a:pt x="11826300" y="5343406"/>
                </a:lnTo>
                <a:cubicBezTo>
                  <a:pt x="11531885" y="5423103"/>
                  <a:pt x="11235310" y="5493989"/>
                  <a:pt x="10936448" y="5557921"/>
                </a:cubicBezTo>
                <a:cubicBezTo>
                  <a:pt x="10620168" y="5625703"/>
                  <a:pt x="10302365" y="5685700"/>
                  <a:pt x="9983034" y="5737926"/>
                </a:cubicBezTo>
                <a:cubicBezTo>
                  <a:pt x="9717606" y="5781375"/>
                  <a:pt x="9451451" y="5820020"/>
                  <a:pt x="9184585" y="5853873"/>
                </a:cubicBezTo>
                <a:cubicBezTo>
                  <a:pt x="8981951" y="5879447"/>
                  <a:pt x="8779319" y="5903530"/>
                  <a:pt x="8576053" y="5923392"/>
                </a:cubicBezTo>
                <a:cubicBezTo>
                  <a:pt x="8338462" y="5946112"/>
                  <a:pt x="8100618" y="5967587"/>
                  <a:pt x="7862392" y="5984843"/>
                </a:cubicBezTo>
                <a:cubicBezTo>
                  <a:pt x="7553105" y="6007187"/>
                  <a:pt x="7243690" y="6025065"/>
                  <a:pt x="6933768" y="6036237"/>
                </a:cubicBezTo>
                <a:cubicBezTo>
                  <a:pt x="6781221" y="6041700"/>
                  <a:pt x="6628676" y="6045548"/>
                  <a:pt x="6476130" y="6050140"/>
                </a:cubicBezTo>
                <a:cubicBezTo>
                  <a:pt x="6437585" y="6048056"/>
                  <a:pt x="6398929" y="6049681"/>
                  <a:pt x="6360703" y="6054983"/>
                </a:cubicBezTo>
                <a:lnTo>
                  <a:pt x="6055614" y="6054983"/>
                </a:lnTo>
                <a:lnTo>
                  <a:pt x="5976289" y="6050389"/>
                </a:lnTo>
                <a:cubicBezTo>
                  <a:pt x="5738826" y="6037976"/>
                  <a:pt x="5501363" y="6024197"/>
                  <a:pt x="5263770" y="6014140"/>
                </a:cubicBezTo>
                <a:cubicBezTo>
                  <a:pt x="4957027" y="6001724"/>
                  <a:pt x="4650663" y="5981244"/>
                  <a:pt x="4345190" y="5952070"/>
                </a:cubicBezTo>
                <a:cubicBezTo>
                  <a:pt x="4020648" y="5921158"/>
                  <a:pt x="3696870" y="5886523"/>
                  <a:pt x="3372201" y="5853501"/>
                </a:cubicBezTo>
                <a:cubicBezTo>
                  <a:pt x="3034653" y="5819239"/>
                  <a:pt x="2697781" y="5779600"/>
                  <a:pt x="2361582" y="5734574"/>
                </a:cubicBezTo>
                <a:cubicBezTo>
                  <a:pt x="1984196" y="5684421"/>
                  <a:pt x="1607962" y="5626695"/>
                  <a:pt x="1232869" y="5561398"/>
                </a:cubicBezTo>
                <a:cubicBezTo>
                  <a:pt x="841970" y="5492685"/>
                  <a:pt x="453644" y="5414197"/>
                  <a:pt x="68483" y="5321691"/>
                </a:cubicBezTo>
                <a:lnTo>
                  <a:pt x="0" y="5304336"/>
                </a:lnTo>
                <a:lnTo>
                  <a:pt x="0" y="5247847"/>
                </a:lnTo>
                <a:lnTo>
                  <a:pt x="72423" y="5266624"/>
                </a:lnTo>
                <a:cubicBezTo>
                  <a:pt x="247899" y="5308802"/>
                  <a:pt x="424058" y="5348062"/>
                  <a:pt x="600566" y="5384994"/>
                </a:cubicBezTo>
                <a:cubicBezTo>
                  <a:pt x="988032" y="5465808"/>
                  <a:pt x="1377788" y="5534706"/>
                  <a:pt x="1769069" y="5595162"/>
                </a:cubicBezTo>
                <a:cubicBezTo>
                  <a:pt x="2051913" y="5638738"/>
                  <a:pt x="2335141" y="5678835"/>
                  <a:pt x="2612900" y="5712104"/>
                </a:cubicBezTo>
                <a:cubicBezTo>
                  <a:pt x="2604892" y="5714711"/>
                  <a:pt x="2593962" y="5704655"/>
                  <a:pt x="2580488" y="5702173"/>
                </a:cubicBezTo>
                <a:cubicBezTo>
                  <a:pt x="2086656" y="5610221"/>
                  <a:pt x="1597284" y="5499328"/>
                  <a:pt x="1112357" y="5369476"/>
                </a:cubicBezTo>
                <a:cubicBezTo>
                  <a:pt x="880233" y="5307405"/>
                  <a:pt x="649550" y="5240927"/>
                  <a:pt x="420307" y="5170043"/>
                </a:cubicBezTo>
                <a:lnTo>
                  <a:pt x="0" y="503112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05EDED8-37C5-2692-A7A2-69B22B016DEE}"/>
              </a:ext>
            </a:extLst>
          </p:cNvPr>
          <p:cNvSpPr>
            <a:spLocks noGrp="1"/>
          </p:cNvSpPr>
          <p:nvPr>
            <p:ph type="title"/>
          </p:nvPr>
        </p:nvSpPr>
        <p:spPr>
          <a:xfrm>
            <a:off x="993195" y="161354"/>
            <a:ext cx="10202562" cy="2526738"/>
          </a:xfrm>
        </p:spPr>
        <p:txBody>
          <a:bodyPr vert="horz" lIns="91440" tIns="45720" rIns="91440" bIns="45720" rtlCol="0" anchor="b">
            <a:normAutofit/>
          </a:bodyPr>
          <a:lstStyle/>
          <a:p>
            <a:pPr algn="ctr"/>
            <a:r>
              <a:rPr lang="en-US" sz="6600" b="1" i="1" kern="1200" dirty="0">
                <a:solidFill>
                  <a:srgbClr val="FFFFFF"/>
                </a:solidFill>
                <a:latin typeface="+mj-lt"/>
                <a:ea typeface="+mj-ea"/>
                <a:cs typeface="+mj-cs"/>
              </a:rPr>
              <a:t>Choices and Decision-Making</a:t>
            </a:r>
          </a:p>
        </p:txBody>
      </p:sp>
      <p:sp>
        <p:nvSpPr>
          <p:cNvPr id="4" name="Content Placeholder 3">
            <a:extLst>
              <a:ext uri="{FF2B5EF4-FFF2-40B4-BE49-F238E27FC236}">
                <a16:creationId xmlns:a16="http://schemas.microsoft.com/office/drawing/2014/main" id="{0644E759-A7C1-505F-C646-E05F94AF4274}"/>
              </a:ext>
            </a:extLst>
          </p:cNvPr>
          <p:cNvSpPr>
            <a:spLocks noGrp="1"/>
          </p:cNvSpPr>
          <p:nvPr>
            <p:ph idx="1"/>
          </p:nvPr>
        </p:nvSpPr>
        <p:spPr>
          <a:xfrm>
            <a:off x="1524000" y="3695230"/>
            <a:ext cx="9144000" cy="1626541"/>
          </a:xfrm>
        </p:spPr>
        <p:txBody>
          <a:bodyPr vert="horz" lIns="91440" tIns="45720" rIns="91440" bIns="45720" rtlCol="0">
            <a:normAutofit/>
          </a:bodyPr>
          <a:lstStyle/>
          <a:p>
            <a:pPr marL="0" indent="0" algn="ctr">
              <a:buNone/>
            </a:pPr>
            <a:r>
              <a:rPr lang="en-US" sz="3600" kern="1200" dirty="0">
                <a:solidFill>
                  <a:srgbClr val="FFFFFF"/>
                </a:solidFill>
                <a:latin typeface="+mn-lt"/>
                <a:ea typeface="+mn-ea"/>
                <a:cs typeface="+mn-cs"/>
              </a:rPr>
              <a:t>Are we truly allowing and supporting individuals to make their own choices and decisions?</a:t>
            </a:r>
          </a:p>
        </p:txBody>
      </p:sp>
      <p:sp>
        <p:nvSpPr>
          <p:cNvPr id="13" name="sketch line">
            <a:extLst>
              <a:ext uri="{FF2B5EF4-FFF2-40B4-BE49-F238E27FC236}">
                <a16:creationId xmlns:a16="http://schemas.microsoft.com/office/drawing/2014/main" id="{6D080EC2-42B5-4E04-BBF7-F0BC5CB7C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3566566"/>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CCA63C4F-A5EA-10E7-58DD-B3A23C639A25}"/>
              </a:ext>
            </a:extLst>
          </p:cNvPr>
          <p:cNvSpPr>
            <a:spLocks noGrp="1"/>
          </p:cNvSpPr>
          <p:nvPr>
            <p:ph type="sldNum" sz="quarter" idx="12"/>
          </p:nvPr>
        </p:nvSpPr>
        <p:spPr>
          <a:xfrm>
            <a:off x="9167648" y="637599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33426DC-C502-4B46-A878-9D43EE259E4B}" type="slidenum">
              <a:rPr kumimoji="0" lang="en-US" sz="1400" b="0" i="0" u="none" strike="noStrike" kern="1200" cap="none" spc="0" normalizeH="0" baseline="0" noProof="0" smtClean="0">
                <a:ln>
                  <a:noFill/>
                </a:ln>
                <a:solidFill>
                  <a:schemeClr val="tx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43</a:t>
            </a:fld>
            <a:endParaRPr kumimoji="0" lang="en-US" sz="14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1073858"/>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02F67-8B64-8A19-51C2-25BF161AF74B}"/>
              </a:ext>
            </a:extLst>
          </p:cNvPr>
          <p:cNvSpPr>
            <a:spLocks noGrp="1"/>
          </p:cNvSpPr>
          <p:nvPr>
            <p:ph type="title"/>
          </p:nvPr>
        </p:nvSpPr>
        <p:spPr>
          <a:xfrm>
            <a:off x="6280878" y="5404988"/>
            <a:ext cx="10972800" cy="990600"/>
          </a:xfrm>
        </p:spPr>
        <p:txBody>
          <a:bodyPr>
            <a:normAutofit fontScale="90000"/>
          </a:bodyPr>
          <a:lstStyle/>
          <a:p>
            <a:r>
              <a:rPr lang="en-US" sz="3600" dirty="0" err="1">
                <a:solidFill>
                  <a:srgbClr val="292934"/>
                </a:solidFill>
                <a:latin typeface="Gill Sans MT" charset="0"/>
                <a:ea typeface="ＭＳ Ｐゴシック" charset="0"/>
              </a:rPr>
              <a:t>Andraéa</a:t>
            </a:r>
            <a:r>
              <a:rPr lang="en-US" sz="3600" dirty="0">
                <a:solidFill>
                  <a:srgbClr val="292934"/>
                </a:solidFill>
                <a:latin typeface="Gill Sans MT" charset="0"/>
                <a:ea typeface="ＭＳ Ｐゴシック" charset="0"/>
              </a:rPr>
              <a:t> </a:t>
            </a:r>
            <a:r>
              <a:rPr lang="en-US" sz="3600" dirty="0" err="1">
                <a:solidFill>
                  <a:srgbClr val="292934"/>
                </a:solidFill>
                <a:latin typeface="Gill Sans MT" charset="0"/>
                <a:ea typeface="ＭＳ Ｐゴシック" charset="0"/>
              </a:rPr>
              <a:t>LaVant</a:t>
            </a:r>
            <a:br>
              <a:rPr lang="en-US" sz="4000" dirty="0">
                <a:solidFill>
                  <a:srgbClr val="292934"/>
                </a:solidFill>
                <a:latin typeface="Gill Sans MT" charset="0"/>
                <a:ea typeface="ＭＳ Ｐゴシック" charset="0"/>
              </a:rPr>
            </a:br>
            <a:r>
              <a:rPr lang="en-US" sz="3100" i="1" dirty="0">
                <a:solidFill>
                  <a:srgbClr val="292934"/>
                </a:solidFill>
                <a:latin typeface="Gill Sans MT" charset="0"/>
                <a:ea typeface="ＭＳ Ｐゴシック" charset="0"/>
              </a:rPr>
              <a:t>Impact Producer, Crip Camp</a:t>
            </a:r>
            <a:br>
              <a:rPr lang="en-US" sz="4000" i="1" dirty="0">
                <a:solidFill>
                  <a:srgbClr val="292934"/>
                </a:solidFill>
                <a:latin typeface="Gill Sans MT" charset="0"/>
                <a:ea typeface="ＭＳ Ｐゴシック" charset="0"/>
              </a:rPr>
            </a:br>
            <a:endParaRPr lang="en-US" dirty="0"/>
          </a:p>
        </p:txBody>
      </p:sp>
      <p:sp>
        <p:nvSpPr>
          <p:cNvPr id="6147" name="Rectangle 3"/>
          <p:cNvSpPr>
            <a:spLocks noGrp="1" noChangeArrowheads="1"/>
          </p:cNvSpPr>
          <p:nvPr>
            <p:ph type="body" idx="1"/>
          </p:nvPr>
        </p:nvSpPr>
        <p:spPr bwMode="auto">
          <a:xfrm>
            <a:off x="1873770" y="756912"/>
            <a:ext cx="8814217" cy="3875049"/>
          </a:xfrm>
          <a:ln/>
          <a:scene3d>
            <a:camera prst="orthographicFront"/>
            <a:lightRig rig="threePt" dir="t"/>
          </a:scene3d>
          <a:sp3d>
            <a:bevelT prst="angle"/>
          </a:sp3d>
        </p:spPr>
        <p:style>
          <a:lnRef idx="2">
            <a:schemeClr val="accent4">
              <a:shade val="50000"/>
            </a:schemeClr>
          </a:lnRef>
          <a:fillRef idx="1">
            <a:schemeClr val="accent4"/>
          </a:fillRef>
          <a:effectRef idx="0">
            <a:schemeClr val="accent4"/>
          </a:effectRef>
          <a:fontRef idx="minor">
            <a:schemeClr val="lt1"/>
          </a:fontRef>
        </p:style>
        <p:txBody>
          <a:bodyPr vert="horz" wrap="square" lIns="108283" tIns="54142" rIns="108283" bIns="54142" numCol="1" rtlCol="0" anchor="t" anchorCtr="0" compatLnSpc="1">
            <a:prstTxWarp prst="textNoShape">
              <a:avLst/>
            </a:prstTxWarp>
            <a:noAutofit/>
          </a:bodyPr>
          <a:lstStyle/>
          <a:p>
            <a:pPr algn="ctr">
              <a:lnSpc>
                <a:spcPct val="120000"/>
              </a:lnSpc>
              <a:buFontTx/>
              <a:buNone/>
            </a:pPr>
            <a:r>
              <a:rPr lang="en-US" sz="2800" dirty="0"/>
              <a:t>“Everybody else in life gets the</a:t>
            </a:r>
            <a:br>
              <a:rPr lang="en-US" sz="2800" dirty="0"/>
            </a:br>
            <a:r>
              <a:rPr lang="en-US" sz="2800" dirty="0"/>
              <a:t>opportunity to make mistakes.</a:t>
            </a:r>
          </a:p>
          <a:p>
            <a:pPr algn="ctr">
              <a:lnSpc>
                <a:spcPct val="120000"/>
              </a:lnSpc>
              <a:buFontTx/>
              <a:buNone/>
            </a:pPr>
            <a:r>
              <a:rPr lang="en-US" sz="2800" dirty="0"/>
              <a:t>You go out on your own, but because disabled people are often sheltered and other people are making decisions for us, </a:t>
            </a:r>
            <a:br>
              <a:rPr lang="en-US" sz="2800" dirty="0"/>
            </a:br>
            <a:r>
              <a:rPr lang="en-US" sz="2800" dirty="0"/>
              <a:t>we don't have those opportunities to live completely wholly in that way.”</a:t>
            </a:r>
          </a:p>
        </p:txBody>
      </p:sp>
      <p:pic>
        <p:nvPicPr>
          <p:cNvPr id="3" name="Picture 2">
            <a:extLst>
              <a:ext uri="{FF2B5EF4-FFF2-40B4-BE49-F238E27FC236}">
                <a16:creationId xmlns:a16="http://schemas.microsoft.com/office/drawing/2014/main" id="{DE204E87-3656-2048-8B5E-CB074B0427E8}"/>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019884" y="4987945"/>
            <a:ext cx="1769323" cy="1684703"/>
          </a:xfrm>
          <a:prstGeom prst="rect">
            <a:avLst/>
          </a:prstGeom>
        </p:spPr>
      </p:pic>
      <p:sp>
        <p:nvSpPr>
          <p:cNvPr id="4" name="Slide Number Placeholder 3">
            <a:extLst>
              <a:ext uri="{FF2B5EF4-FFF2-40B4-BE49-F238E27FC236}">
                <a16:creationId xmlns:a16="http://schemas.microsoft.com/office/drawing/2014/main" id="{69D16FF8-938E-8728-D50E-739C2BBF8A65}"/>
              </a:ext>
            </a:extLst>
          </p:cNvPr>
          <p:cNvSpPr>
            <a:spLocks noGrp="1"/>
          </p:cNvSpPr>
          <p:nvPr>
            <p:ph type="sldNum" sz="quarter" idx="12"/>
          </p:nvPr>
        </p:nvSpPr>
        <p:spPr>
          <a:xfrm>
            <a:off x="11620938" y="6395588"/>
            <a:ext cx="1422400" cy="329184"/>
          </a:xfrm>
        </p:spPr>
        <p:txBody>
          <a:bodyPr/>
          <a:lstStyle/>
          <a:p>
            <a:pPr>
              <a:defRPr/>
            </a:pPr>
            <a:fld id="{DE0518C9-3CC7-7448-AD05-3CB269384775}" type="slidenum">
              <a:rPr lang="en-US" smtClean="0">
                <a:solidFill>
                  <a:schemeClr val="tx1"/>
                </a:solidFill>
              </a:rPr>
              <a:pPr>
                <a:defRPr/>
              </a:pPr>
              <a:t>44</a:t>
            </a:fld>
            <a:endParaRPr lang="en-US" dirty="0">
              <a:solidFill>
                <a:schemeClr val="tx1"/>
              </a:solidFill>
            </a:endParaRPr>
          </a:p>
        </p:txBody>
      </p:sp>
    </p:spTree>
    <p:extLst>
      <p:ext uri="{BB962C8B-B14F-4D97-AF65-F5344CB8AC3E}">
        <p14:creationId xmlns:p14="http://schemas.microsoft.com/office/powerpoint/2010/main" val="2356882696"/>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7A5F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2">
            <a:extLst>
              <a:ext uri="{FF2B5EF4-FFF2-40B4-BE49-F238E27FC236}">
                <a16:creationId xmlns:a16="http://schemas.microsoft.com/office/drawing/2014/main" id="{EC0A2278-FD35-FE49-BA25-7489EB3D1180}"/>
              </a:ext>
            </a:extLst>
          </p:cNvPr>
          <p:cNvSpPr>
            <a:spLocks noGrp="1"/>
          </p:cNvSpPr>
          <p:nvPr>
            <p:ph type="title"/>
          </p:nvPr>
        </p:nvSpPr>
        <p:spPr>
          <a:xfrm>
            <a:off x="477012" y="-1189038"/>
            <a:ext cx="10515600" cy="1325563"/>
          </a:xfrm>
        </p:spPr>
        <p:txBody>
          <a:bodyPr/>
          <a:lstStyle/>
          <a:p>
            <a:r>
              <a:rPr lang="en-US" dirty="0"/>
              <a:t>Informed Choice Definition</a:t>
            </a:r>
          </a:p>
        </p:txBody>
      </p:sp>
      <p:pic>
        <p:nvPicPr>
          <p:cNvPr id="6" name="Picture 5" descr="Hands holding book with following words: Informed Choice Definition: the process of choosing from options based on accurate information, knowledge and experiences">
            <a:extLst>
              <a:ext uri="{FF2B5EF4-FFF2-40B4-BE49-F238E27FC236}">
                <a16:creationId xmlns:a16="http://schemas.microsoft.com/office/drawing/2014/main" id="{35B3A505-2385-D942-ABD8-F564B8E9666B}"/>
              </a:ext>
            </a:extLst>
          </p:cNvPr>
          <p:cNvPicPr>
            <a:picLocks noChangeAspect="1"/>
          </p:cNvPicPr>
          <p:nvPr/>
        </p:nvPicPr>
        <p:blipFill>
          <a:blip r:embed="rId3"/>
          <a:stretch>
            <a:fillRect/>
          </a:stretch>
        </p:blipFill>
        <p:spPr>
          <a:xfrm>
            <a:off x="962235" y="682835"/>
            <a:ext cx="10267529" cy="5287776"/>
          </a:xfrm>
          <a:prstGeom prst="rect">
            <a:avLst/>
          </a:prstGeom>
        </p:spPr>
      </p:pic>
      <p:sp>
        <p:nvSpPr>
          <p:cNvPr id="2" name="Slide Number Placeholder 1">
            <a:extLst>
              <a:ext uri="{FF2B5EF4-FFF2-40B4-BE49-F238E27FC236}">
                <a16:creationId xmlns:a16="http://schemas.microsoft.com/office/drawing/2014/main" id="{CE922E64-84E9-C54F-8783-D4725C7866A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DEB4AB-D614-0E48-BC82-3517EAEB4A4F}" type="slidenum">
              <a:rPr kumimoji="0" lang="en-US" sz="1200" b="0" i="0" u="none" strike="noStrike" kern="1200" cap="none" spc="0" normalizeH="0" baseline="0" noProof="0" smtClean="0">
                <a:ln>
                  <a:noFill/>
                </a:ln>
                <a:solidFill>
                  <a:schemeClr val="bg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5353718"/>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8575C10-8187-4AC4-AD72-C754EAFD28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5429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F75511D-8D54-1045-9D33-1454DBE82902}"/>
              </a:ext>
            </a:extLst>
          </p:cNvPr>
          <p:cNvSpPr>
            <a:spLocks noGrp="1"/>
          </p:cNvSpPr>
          <p:nvPr>
            <p:ph type="title"/>
          </p:nvPr>
        </p:nvSpPr>
        <p:spPr>
          <a:xfrm>
            <a:off x="762000" y="559678"/>
            <a:ext cx="3567915" cy="4952492"/>
          </a:xfrm>
        </p:spPr>
        <p:txBody>
          <a:bodyPr>
            <a:normAutofit/>
          </a:bodyPr>
          <a:lstStyle/>
          <a:p>
            <a:r>
              <a:rPr lang="en-US">
                <a:solidFill>
                  <a:schemeClr val="bg1"/>
                </a:solidFill>
              </a:rPr>
              <a:t>Steps for Informed Choice &amp; Employment</a:t>
            </a:r>
          </a:p>
        </p:txBody>
      </p:sp>
      <p:cxnSp>
        <p:nvCxnSpPr>
          <p:cNvPr id="11" name="Straight Connector 10">
            <a:extLst>
              <a:ext uri="{FF2B5EF4-FFF2-40B4-BE49-F238E27FC236}">
                <a16:creationId xmlns:a16="http://schemas.microsoft.com/office/drawing/2014/main" id="{74E776C9-ED67-41B7-B3A3-4DF76EF3AC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99730"/>
            <a:ext cx="429768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DDC82C9-A671-45FC-B517-387FEFF501B3}"/>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2079207486"/>
              </p:ext>
            </p:extLst>
          </p:nvPr>
        </p:nvGraphicFramePr>
        <p:xfrm>
          <a:off x="5181599" y="568325"/>
          <a:ext cx="6740769" cy="59379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57B6B6BD-AFD6-7629-1BF6-9E2798697FB8}"/>
              </a:ext>
            </a:extLst>
          </p:cNvPr>
          <p:cNvSpPr>
            <a:spLocks noGrp="1"/>
          </p:cNvSpPr>
          <p:nvPr>
            <p:ph type="sldNum" sz="quarter" idx="12"/>
          </p:nvPr>
        </p:nvSpPr>
        <p:spPr>
          <a:xfrm>
            <a:off x="9179168" y="6492875"/>
            <a:ext cx="2743200" cy="365125"/>
          </a:xfrm>
        </p:spPr>
        <p:txBody>
          <a:bodyPr/>
          <a:lstStyle/>
          <a:p>
            <a:fld id="{98DEB4AB-D614-0E48-BC82-3517EAEB4A4F}" type="slidenum">
              <a:rPr lang="en-US" smtClean="0"/>
              <a:t>46</a:t>
            </a:fld>
            <a:endParaRPr lang="en-US"/>
          </a:p>
        </p:txBody>
      </p:sp>
    </p:spTree>
    <p:extLst>
      <p:ext uri="{BB962C8B-B14F-4D97-AF65-F5344CB8AC3E}">
        <p14:creationId xmlns:p14="http://schemas.microsoft.com/office/powerpoint/2010/main" val="2204304714"/>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3C373D6-A3D1-A1D0-BA1A-AF5AA67EEEA2}"/>
              </a:ext>
            </a:extLst>
          </p:cNvPr>
          <p:cNvSpPr>
            <a:spLocks noGrp="1"/>
          </p:cNvSpPr>
          <p:nvPr>
            <p:ph type="title"/>
          </p:nvPr>
        </p:nvSpPr>
        <p:spPr>
          <a:xfrm>
            <a:off x="324580" y="224897"/>
            <a:ext cx="3200400" cy="4461163"/>
          </a:xfrm>
        </p:spPr>
        <p:txBody>
          <a:bodyPr>
            <a:normAutofit/>
          </a:bodyPr>
          <a:lstStyle/>
          <a:p>
            <a:r>
              <a:rPr lang="en-US" b="1" dirty="0">
                <a:solidFill>
                  <a:srgbClr val="FFFFFF"/>
                </a:solidFill>
              </a:rPr>
              <a:t>“Nothing</a:t>
            </a:r>
            <a:br>
              <a:rPr lang="en-US" b="1" dirty="0">
                <a:solidFill>
                  <a:srgbClr val="FFFFFF"/>
                </a:solidFill>
              </a:rPr>
            </a:br>
            <a:r>
              <a:rPr lang="en-US" b="1" dirty="0">
                <a:solidFill>
                  <a:srgbClr val="FFFFFF"/>
                </a:solidFill>
              </a:rPr>
              <a:t> About Us</a:t>
            </a:r>
            <a:br>
              <a:rPr lang="en-US" b="1" dirty="0">
                <a:solidFill>
                  <a:srgbClr val="FFFFFF"/>
                </a:solidFill>
              </a:rPr>
            </a:br>
            <a:r>
              <a:rPr lang="en-US" b="1" dirty="0">
                <a:solidFill>
                  <a:srgbClr val="FFFFFF"/>
                </a:solidFill>
              </a:rPr>
              <a:t> Without Us”</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4ACB021-B8DC-9114-D1DF-35A3B31F67A3}"/>
              </a:ext>
            </a:extLst>
          </p:cNvPr>
          <p:cNvSpPr>
            <a:spLocks noGrp="1"/>
          </p:cNvSpPr>
          <p:nvPr>
            <p:ph idx="1"/>
          </p:nvPr>
        </p:nvSpPr>
        <p:spPr>
          <a:xfrm>
            <a:off x="4447308" y="591344"/>
            <a:ext cx="6906491" cy="5585619"/>
          </a:xfrm>
        </p:spPr>
        <p:txBody>
          <a:bodyPr anchor="ctr">
            <a:normAutofit/>
          </a:bodyPr>
          <a:lstStyle/>
          <a:p>
            <a:pPr marL="0" indent="0">
              <a:buNone/>
            </a:pPr>
            <a:r>
              <a:rPr lang="en-US" b="1" dirty="0"/>
              <a:t>We need to constantly challenge themselves:</a:t>
            </a:r>
          </a:p>
          <a:p>
            <a:r>
              <a:rPr lang="en-US" i="1" dirty="0"/>
              <a:t>Are people with disabilities present?</a:t>
            </a:r>
            <a:br>
              <a:rPr lang="en-US" i="1" dirty="0"/>
            </a:br>
            <a:r>
              <a:rPr lang="en-US" i="1" dirty="0"/>
              <a:t>If not, why not?</a:t>
            </a:r>
          </a:p>
          <a:p>
            <a:r>
              <a:rPr lang="en-US" i="1" dirty="0"/>
              <a:t>Are people with disabilities in</a:t>
            </a:r>
            <a:br>
              <a:rPr lang="en-US" i="1" dirty="0"/>
            </a:br>
            <a:r>
              <a:rPr lang="en-US" i="1" dirty="0"/>
              <a:t>decision-making roles?</a:t>
            </a:r>
          </a:p>
          <a:p>
            <a:r>
              <a:rPr lang="en-US" i="1" dirty="0"/>
              <a:t>Are people with disabilities in leadership roles?</a:t>
            </a:r>
          </a:p>
          <a:p>
            <a:r>
              <a:rPr lang="en-US" i="1" dirty="0"/>
              <a:t>Are professional staff “in charge” or are they in support roles? </a:t>
            </a:r>
          </a:p>
        </p:txBody>
      </p:sp>
      <p:sp>
        <p:nvSpPr>
          <p:cNvPr id="4" name="Slide Number Placeholder 3">
            <a:extLst>
              <a:ext uri="{FF2B5EF4-FFF2-40B4-BE49-F238E27FC236}">
                <a16:creationId xmlns:a16="http://schemas.microsoft.com/office/drawing/2014/main" id="{2D763445-7569-619A-0359-16C4AA37EF2F}"/>
              </a:ext>
            </a:extLst>
          </p:cNvPr>
          <p:cNvSpPr>
            <a:spLocks noGrp="1"/>
          </p:cNvSpPr>
          <p:nvPr>
            <p:ph type="sldNum" sz="quarter" idx="12"/>
          </p:nvPr>
        </p:nvSpPr>
        <p:spPr>
          <a:xfrm>
            <a:off x="9541564" y="6356350"/>
            <a:ext cx="1812235"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33426DC-C502-4B46-A878-9D43EE259E4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C20AA004-895F-47A4-3E26-1BD7232FAF4B}"/>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40452" y="4127372"/>
            <a:ext cx="3368656" cy="2245770"/>
          </a:xfrm>
          <a:prstGeom prst="rect">
            <a:avLst/>
          </a:prstGeom>
        </p:spPr>
      </p:pic>
    </p:spTree>
    <p:extLst>
      <p:ext uri="{BB962C8B-B14F-4D97-AF65-F5344CB8AC3E}">
        <p14:creationId xmlns:p14="http://schemas.microsoft.com/office/powerpoint/2010/main" val="413554279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54FB3F9-08A2-B674-8972-95A8D088E696}"/>
              </a:ext>
            </a:extLst>
          </p:cNvPr>
          <p:cNvSpPr>
            <a:spLocks noGrp="1"/>
          </p:cNvSpPr>
          <p:nvPr>
            <p:ph type="title"/>
          </p:nvPr>
        </p:nvSpPr>
        <p:spPr>
          <a:xfrm>
            <a:off x="838200" y="365125"/>
            <a:ext cx="10515600" cy="1325563"/>
          </a:xfrm>
        </p:spPr>
        <p:txBody>
          <a:bodyPr>
            <a:normAutofit/>
          </a:bodyPr>
          <a:lstStyle/>
          <a:p>
            <a:r>
              <a:rPr lang="en-US" sz="4600" dirty="0"/>
              <a:t>Gut Check: </a:t>
            </a:r>
            <a:r>
              <a:rPr lang="en-US" sz="4600" i="1" dirty="0"/>
              <a:t>Nothing About Us Without Us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941514E-6BCC-A976-6F64-B4EBA838413B}"/>
              </a:ext>
            </a:extLst>
          </p:cNvPr>
          <p:cNvSpPr>
            <a:spLocks noGrp="1"/>
          </p:cNvSpPr>
          <p:nvPr>
            <p:ph idx="1"/>
          </p:nvPr>
        </p:nvSpPr>
        <p:spPr>
          <a:xfrm>
            <a:off x="838200" y="1929384"/>
            <a:ext cx="10515600" cy="4251960"/>
          </a:xfrm>
        </p:spPr>
        <p:txBody>
          <a:bodyPr>
            <a:normAutofit/>
          </a:bodyPr>
          <a:lstStyle/>
          <a:p>
            <a:r>
              <a:rPr lang="en-US" sz="2400" dirty="0"/>
              <a:t>Do staff represent people with disabilities to employers only as necessary?</a:t>
            </a:r>
          </a:p>
          <a:p>
            <a:r>
              <a:rPr lang="en-US" sz="2400" dirty="0"/>
              <a:t>Are people with disabilities leading person-centered planning?</a:t>
            </a:r>
          </a:p>
          <a:p>
            <a:r>
              <a:rPr lang="en-US" sz="2400" dirty="0"/>
              <a:t>Are people with disabilities fully engaged in decisions and decision-makers about:</a:t>
            </a:r>
          </a:p>
          <a:p>
            <a:pPr lvl="1"/>
            <a:r>
              <a:rPr lang="en-US" i="1" dirty="0"/>
              <a:t>job exploration/discovery sites?</a:t>
            </a:r>
          </a:p>
          <a:p>
            <a:pPr lvl="1"/>
            <a:r>
              <a:rPr lang="en-US" i="1" dirty="0"/>
              <a:t>positions they are applying for?</a:t>
            </a:r>
          </a:p>
          <a:p>
            <a:pPr lvl="1"/>
            <a:r>
              <a:rPr lang="en-US" i="1" dirty="0"/>
              <a:t>types and level of job supports?</a:t>
            </a:r>
          </a:p>
          <a:p>
            <a:pPr lvl="1"/>
            <a:r>
              <a:rPr lang="en-US" i="1" dirty="0"/>
              <a:t>services they are receiving?</a:t>
            </a:r>
          </a:p>
          <a:p>
            <a:r>
              <a:rPr lang="en-US" sz="2400" dirty="0"/>
              <a:t>Does the organization ”practice what we preach” and employ people with disabilities?</a:t>
            </a:r>
          </a:p>
          <a:p>
            <a:r>
              <a:rPr lang="en-US" sz="2400" dirty="0"/>
              <a:t>Are people with disabilities on the organization’s board?</a:t>
            </a:r>
          </a:p>
          <a:p>
            <a:endParaRPr lang="en-US" sz="2200" dirty="0"/>
          </a:p>
        </p:txBody>
      </p:sp>
      <p:sp>
        <p:nvSpPr>
          <p:cNvPr id="4" name="Slide Number Placeholder 3">
            <a:extLst>
              <a:ext uri="{FF2B5EF4-FFF2-40B4-BE49-F238E27FC236}">
                <a16:creationId xmlns:a16="http://schemas.microsoft.com/office/drawing/2014/main" id="{9DAF0C42-E69D-A676-FBE1-538E1C8BBB3A}"/>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33426DC-C502-4B46-A878-9D43EE259E4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02335448"/>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isability Pride Flag">
            <a:extLst>
              <a:ext uri="{FF2B5EF4-FFF2-40B4-BE49-F238E27FC236}">
                <a16:creationId xmlns:a16="http://schemas.microsoft.com/office/drawing/2014/main" id="{FB305ABF-A436-DD8F-CB22-843DB94FABE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40" y="265070"/>
            <a:ext cx="12182560" cy="6091280"/>
          </a:xfrm>
          <a:prstGeom prst="rect">
            <a:avLst/>
          </a:prstGeom>
        </p:spPr>
      </p:pic>
      <p:sp>
        <p:nvSpPr>
          <p:cNvPr id="2" name="Title 1">
            <a:extLst>
              <a:ext uri="{FF2B5EF4-FFF2-40B4-BE49-F238E27FC236}">
                <a16:creationId xmlns:a16="http://schemas.microsoft.com/office/drawing/2014/main" id="{A0632360-C059-B798-63E6-54717AC9CF4A}"/>
              </a:ext>
            </a:extLst>
          </p:cNvPr>
          <p:cNvSpPr>
            <a:spLocks noGrp="1"/>
          </p:cNvSpPr>
          <p:nvPr>
            <p:ph type="title"/>
          </p:nvPr>
        </p:nvSpPr>
        <p:spPr>
          <a:xfrm>
            <a:off x="858189" y="2490487"/>
            <a:ext cx="10515600" cy="1325563"/>
          </a:xfrm>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a:normAutofit/>
          </a:bodyPr>
          <a:lstStyle/>
          <a:p>
            <a:pPr algn="ctr"/>
            <a:r>
              <a:rPr lang="en-US" sz="4800" dirty="0">
                <a:latin typeface="Impact" panose="020B0806030902050204" pitchFamily="34" charset="0"/>
              </a:rPr>
              <a:t>Supporting a Culture of Disability Pride</a:t>
            </a:r>
          </a:p>
        </p:txBody>
      </p:sp>
      <p:sp>
        <p:nvSpPr>
          <p:cNvPr id="4" name="Slide Number Placeholder 3">
            <a:extLst>
              <a:ext uri="{FF2B5EF4-FFF2-40B4-BE49-F238E27FC236}">
                <a16:creationId xmlns:a16="http://schemas.microsoft.com/office/drawing/2014/main" id="{19787799-9EAA-E5BC-60A4-00260CF9CC1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3426DC-C502-4B46-A878-9D43EE259E4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4094555"/>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319F58A8-A97B-A1F0-49DE-B995320D31DD}"/>
              </a:ext>
              <a:ext uri="{C183D7F6-B498-43B3-948B-1728B52AA6E4}">
                <adec:decorative xmlns:adec="http://schemas.microsoft.com/office/drawing/2017/decorative" val="1"/>
              </a:ext>
            </a:extLst>
          </p:cNvPr>
          <p:cNvPicPr>
            <a:picLocks noChangeAspect="1"/>
          </p:cNvPicPr>
          <p:nvPr/>
        </p:nvPicPr>
        <p:blipFill>
          <a:blip r:embed="rId2" cstate="screen">
            <a:alphaModFix amt="50000"/>
            <a:extLst>
              <a:ext uri="{28A0092B-C50C-407E-A947-70E740481C1C}">
                <a14:useLocalDpi xmlns:a14="http://schemas.microsoft.com/office/drawing/2010/main"/>
              </a:ext>
            </a:extLst>
          </a:blip>
          <a:srcRect t="5192" r="-1" b="4784"/>
          <a:stretch>
            <a:fillRect/>
          </a:stretch>
        </p:blipFill>
        <p:spPr>
          <a:xfrm>
            <a:off x="20" y="10"/>
            <a:ext cx="12188930" cy="6857990"/>
          </a:xfrm>
          <a:prstGeom prst="rect">
            <a:avLst/>
          </a:prstGeom>
        </p:spPr>
      </p:pic>
      <p:sp>
        <p:nvSpPr>
          <p:cNvPr id="2" name="Title 1">
            <a:extLst>
              <a:ext uri="{FF2B5EF4-FFF2-40B4-BE49-F238E27FC236}">
                <a16:creationId xmlns:a16="http://schemas.microsoft.com/office/drawing/2014/main" id="{18B6F903-6213-A8A8-0910-F94B38FB7B29}"/>
              </a:ext>
            </a:extLst>
          </p:cNvPr>
          <p:cNvSpPr>
            <a:spLocks noGrp="1"/>
          </p:cNvSpPr>
          <p:nvPr>
            <p:ph type="title"/>
          </p:nvPr>
        </p:nvSpPr>
        <p:spPr>
          <a:xfrm>
            <a:off x="1524000" y="1122363"/>
            <a:ext cx="9144000" cy="3063240"/>
          </a:xfrm>
        </p:spPr>
        <p:txBody>
          <a:bodyPr vert="horz" lIns="91440" tIns="45720" rIns="91440" bIns="45720" rtlCol="0" anchor="b">
            <a:normAutofit/>
          </a:bodyPr>
          <a:lstStyle/>
          <a:p>
            <a:pPr algn="ctr"/>
            <a:r>
              <a:rPr lang="en-US" sz="6600" dirty="0">
                <a:solidFill>
                  <a:schemeClr val="bg1"/>
                </a:solidFill>
              </a:rPr>
              <a:t>Competitive Integrated Employment is the</a:t>
            </a:r>
            <a:br>
              <a:rPr lang="en-US" sz="6600" dirty="0">
                <a:solidFill>
                  <a:schemeClr val="bg1"/>
                </a:solidFill>
              </a:rPr>
            </a:br>
            <a:r>
              <a:rPr lang="en-US" sz="6600" b="1" dirty="0">
                <a:solidFill>
                  <a:schemeClr val="bg1"/>
                </a:solidFill>
              </a:rPr>
              <a:t>Gold Standard</a:t>
            </a:r>
          </a:p>
        </p:txBody>
      </p:sp>
      <p:sp>
        <p:nvSpPr>
          <p:cNvPr id="4" name="Content Placeholder 3">
            <a:extLst>
              <a:ext uri="{FF2B5EF4-FFF2-40B4-BE49-F238E27FC236}">
                <a16:creationId xmlns:a16="http://schemas.microsoft.com/office/drawing/2014/main" id="{C523AB0D-AC45-C0F2-8AFF-99B31F71FEB6}"/>
              </a:ext>
            </a:extLst>
          </p:cNvPr>
          <p:cNvSpPr>
            <a:spLocks noGrp="1"/>
          </p:cNvSpPr>
          <p:nvPr>
            <p:ph idx="1"/>
          </p:nvPr>
        </p:nvSpPr>
        <p:spPr>
          <a:xfrm>
            <a:off x="1527048" y="4599432"/>
            <a:ext cx="9144000" cy="1536192"/>
          </a:xfrm>
        </p:spPr>
        <p:txBody>
          <a:bodyPr vert="horz" lIns="91440" tIns="45720" rIns="91440" bIns="45720" rtlCol="0">
            <a:normAutofit/>
          </a:bodyPr>
          <a:lstStyle/>
          <a:p>
            <a:pPr marL="0" indent="0" algn="ctr">
              <a:buNone/>
            </a:pPr>
            <a:r>
              <a:rPr lang="en-US" sz="4400" i="1" dirty="0">
                <a:solidFill>
                  <a:schemeClr val="bg1"/>
                </a:solidFill>
              </a:rPr>
              <a:t>Anything that deviates from</a:t>
            </a:r>
            <a:br>
              <a:rPr lang="en-US" sz="4400" i="1" dirty="0">
                <a:solidFill>
                  <a:schemeClr val="bg1"/>
                </a:solidFill>
              </a:rPr>
            </a:br>
            <a:r>
              <a:rPr lang="en-US" sz="4400" i="1" dirty="0">
                <a:solidFill>
                  <a:schemeClr val="bg1"/>
                </a:solidFill>
              </a:rPr>
              <a:t>that may be considered ableist </a:t>
            </a:r>
          </a:p>
        </p:txBody>
      </p:sp>
      <p:sp>
        <p:nvSpPr>
          <p:cNvPr id="13"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256C550D-AF43-608A-E1C8-26EBDB656E3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33426DC-C502-4B46-A878-9D43EE259E4B}" type="slidenum">
              <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50</a:t>
            </a:fld>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4688515"/>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A58D4FB-C323-D519-16B6-09724BE8CB7E}"/>
              </a:ext>
            </a:extLst>
          </p:cNvPr>
          <p:cNvSpPr>
            <a:spLocks noGrp="1"/>
          </p:cNvSpPr>
          <p:nvPr>
            <p:ph type="title"/>
          </p:nvPr>
        </p:nvSpPr>
        <p:spPr>
          <a:xfrm>
            <a:off x="1035564" y="391886"/>
            <a:ext cx="4203302" cy="4321182"/>
          </a:xfrm>
        </p:spPr>
        <p:txBody>
          <a:bodyPr vert="horz" lIns="91440" tIns="45720" rIns="91440" bIns="45720" rtlCol="0" anchor="t">
            <a:noAutofit/>
          </a:bodyPr>
          <a:lstStyle/>
          <a:p>
            <a:r>
              <a:rPr lang="en-US" sz="4000" kern="1200" dirty="0">
                <a:solidFill>
                  <a:schemeClr val="tx1"/>
                </a:solidFill>
                <a:latin typeface="+mj-lt"/>
                <a:ea typeface="+mj-ea"/>
                <a:cs typeface="+mj-cs"/>
              </a:rPr>
              <a:t>Whenever we deviate from the typical non-disabled process in terms of job search, structure/elements of a position, and job supports we should always ask ourselves...</a:t>
            </a:r>
          </a:p>
        </p:txBody>
      </p:sp>
      <p:grpSp>
        <p:nvGrpSpPr>
          <p:cNvPr id="15" name="Group 14">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6" name="Rectangle 15">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0" name="Rectangle 19">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descr="Why">
            <a:extLst>
              <a:ext uri="{FF2B5EF4-FFF2-40B4-BE49-F238E27FC236}">
                <a16:creationId xmlns:a16="http://schemas.microsoft.com/office/drawing/2014/main" id="{9E5E4749-F6B7-A89D-E63B-0A4268488A7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922492" y="1551983"/>
            <a:ext cx="5536001" cy="3695280"/>
          </a:xfrm>
          <a:prstGeom prst="rect">
            <a:avLst/>
          </a:prstGeom>
        </p:spPr>
      </p:pic>
      <p:sp>
        <p:nvSpPr>
          <p:cNvPr id="4" name="Slide Number Placeholder 3">
            <a:extLst>
              <a:ext uri="{FF2B5EF4-FFF2-40B4-BE49-F238E27FC236}">
                <a16:creationId xmlns:a16="http://schemas.microsoft.com/office/drawing/2014/main" id="{FE9419EE-5018-A634-CB42-28EE3682715E}"/>
              </a:ext>
            </a:extLst>
          </p:cNvPr>
          <p:cNvSpPr>
            <a:spLocks noGrp="1"/>
          </p:cNvSpPr>
          <p:nvPr>
            <p:ph type="sldNum" sz="quarter" idx="12"/>
          </p:nvPr>
        </p:nvSpPr>
        <p:spPr>
          <a:xfrm>
            <a:off x="8610600" y="6492240"/>
            <a:ext cx="1871749"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33426DC-C502-4B46-A878-9D43EE259E4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237224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D11C75-6B32-F144-4CEE-A931999BB626}"/>
              </a:ext>
            </a:extLst>
          </p:cNvPr>
          <p:cNvSpPr>
            <a:spLocks noGrp="1"/>
          </p:cNvSpPr>
          <p:nvPr>
            <p:ph type="title"/>
          </p:nvPr>
        </p:nvSpPr>
        <p:spPr>
          <a:xfrm>
            <a:off x="2555631" y="1441938"/>
            <a:ext cx="7080738" cy="3974124"/>
          </a:xfrm>
        </p:spPr>
        <p:txBody>
          <a:bodyPr vert="horz" lIns="91440" tIns="45720" rIns="91440" bIns="45720" rtlCol="0" anchor="ctr">
            <a:noAutofit/>
          </a:bodyPr>
          <a:lstStyle/>
          <a:p>
            <a:pPr algn="ctr"/>
            <a:r>
              <a:rPr lang="en-US" dirty="0">
                <a:solidFill>
                  <a:schemeClr val="bg1">
                    <a:lumMod val="95000"/>
                    <a:lumOff val="5000"/>
                  </a:schemeClr>
                </a:solidFill>
              </a:rPr>
              <a:t>Do</a:t>
            </a:r>
            <a:br>
              <a:rPr lang="en-US" dirty="0">
                <a:solidFill>
                  <a:schemeClr val="bg1">
                    <a:lumMod val="95000"/>
                    <a:lumOff val="5000"/>
                  </a:schemeClr>
                </a:solidFill>
              </a:rPr>
            </a:br>
            <a:r>
              <a:rPr lang="en-US" dirty="0">
                <a:solidFill>
                  <a:schemeClr val="bg1">
                    <a:lumMod val="95000"/>
                    <a:lumOff val="5000"/>
                  </a:schemeClr>
                </a:solidFill>
              </a:rPr>
              <a:t>special employment </a:t>
            </a:r>
            <a:br>
              <a:rPr lang="en-US" dirty="0">
                <a:solidFill>
                  <a:schemeClr val="bg1">
                    <a:lumMod val="95000"/>
                    <a:lumOff val="5000"/>
                  </a:schemeClr>
                </a:solidFill>
              </a:rPr>
            </a:br>
            <a:r>
              <a:rPr lang="en-US" b="1" dirty="0">
                <a:solidFill>
                  <a:schemeClr val="bg1">
                    <a:lumMod val="95000"/>
                    <a:lumOff val="5000"/>
                  </a:schemeClr>
                </a:solidFill>
              </a:rPr>
              <a:t>“programs” </a:t>
            </a:r>
            <a:br>
              <a:rPr lang="en-US" dirty="0">
                <a:solidFill>
                  <a:schemeClr val="bg1">
                    <a:lumMod val="95000"/>
                    <a:lumOff val="5000"/>
                  </a:schemeClr>
                </a:solidFill>
              </a:rPr>
            </a:br>
            <a:r>
              <a:rPr lang="en-US" dirty="0">
                <a:solidFill>
                  <a:schemeClr val="bg1">
                    <a:lumMod val="95000"/>
                    <a:lumOff val="5000"/>
                  </a:schemeClr>
                </a:solidFill>
              </a:rPr>
              <a:t>and</a:t>
            </a:r>
            <a:br>
              <a:rPr lang="en-US" dirty="0">
                <a:solidFill>
                  <a:schemeClr val="bg1">
                    <a:lumMod val="95000"/>
                    <a:lumOff val="5000"/>
                  </a:schemeClr>
                </a:solidFill>
              </a:rPr>
            </a:br>
            <a:r>
              <a:rPr lang="en-US" dirty="0">
                <a:solidFill>
                  <a:schemeClr val="bg1">
                    <a:lumMod val="95000"/>
                    <a:lumOff val="5000"/>
                  </a:schemeClr>
                </a:solidFill>
              </a:rPr>
              <a:t>employer disability</a:t>
            </a:r>
            <a:br>
              <a:rPr lang="en-US" dirty="0">
                <a:solidFill>
                  <a:schemeClr val="bg1">
                    <a:lumMod val="95000"/>
                    <a:lumOff val="5000"/>
                  </a:schemeClr>
                </a:solidFill>
              </a:rPr>
            </a:br>
            <a:r>
              <a:rPr lang="en-US" b="1" dirty="0">
                <a:solidFill>
                  <a:schemeClr val="bg1">
                    <a:lumMod val="95000"/>
                    <a:lumOff val="5000"/>
                  </a:schemeClr>
                </a:solidFill>
              </a:rPr>
              <a:t>“projects”</a:t>
            </a:r>
            <a:br>
              <a:rPr lang="en-US" b="1" dirty="0">
                <a:solidFill>
                  <a:schemeClr val="bg1">
                    <a:lumMod val="95000"/>
                    <a:lumOff val="5000"/>
                  </a:schemeClr>
                </a:solidFill>
              </a:rPr>
            </a:br>
            <a:r>
              <a:rPr lang="en-US" dirty="0">
                <a:solidFill>
                  <a:schemeClr val="bg1">
                    <a:lumMod val="95000"/>
                    <a:lumOff val="5000"/>
                  </a:schemeClr>
                </a:solidFill>
              </a:rPr>
              <a:t>reinforce ableism?</a:t>
            </a:r>
          </a:p>
        </p:txBody>
      </p:sp>
      <p:sp>
        <p:nvSpPr>
          <p:cNvPr id="4" name="Slide Number Placeholder 3">
            <a:extLst>
              <a:ext uri="{FF2B5EF4-FFF2-40B4-BE49-F238E27FC236}">
                <a16:creationId xmlns:a16="http://schemas.microsoft.com/office/drawing/2014/main" id="{6E2EE8A1-48B3-D463-879A-84113A4BCCDE}"/>
              </a:ext>
            </a:extLst>
          </p:cNvPr>
          <p:cNvSpPr>
            <a:spLocks noGrp="1"/>
          </p:cNvSpPr>
          <p:nvPr>
            <p:ph type="sldNum" sz="quarter" idx="12"/>
          </p:nvPr>
        </p:nvSpPr>
        <p:spPr>
          <a:xfrm>
            <a:off x="11000232" y="6108192"/>
            <a:ext cx="548640" cy="548640"/>
          </a:xfrm>
          <a:prstGeom prst="ellipse">
            <a:avLst/>
          </a:prstGeom>
          <a:solidFill>
            <a:srgbClr val="7F7F7F"/>
          </a:solidFill>
        </p:spPr>
        <p:txBody>
          <a:bodyPr vert="horz" lIns="91440" tIns="45720" rIns="91440" bIns="45720" rtlCol="0" anchor="ct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fld id="{233426DC-C502-4B46-A878-9D43EE259E4B}" type="slidenum">
              <a:rPr kumimoji="0" lang="en-US" sz="1500"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ctr" defTabSz="457200" rtl="0" eaLnBrk="1" fontAlgn="auto" latinLnBrk="0" hangingPunct="1">
                <a:lnSpc>
                  <a:spcPct val="100000"/>
                </a:lnSpc>
                <a:spcBef>
                  <a:spcPts val="0"/>
                </a:spcBef>
                <a:spcAft>
                  <a:spcPts val="600"/>
                </a:spcAft>
                <a:buClrTx/>
                <a:buSzTx/>
                <a:buFontTx/>
                <a:buNone/>
                <a:tabLst/>
                <a:defRPr/>
              </a:pPr>
              <a:t>52</a:t>
            </a:fld>
            <a:endParaRPr kumimoji="0" lang="en-US" sz="15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0596581"/>
      </p:ext>
    </p:extLst>
  </p:cSld>
  <p:clrMapOvr>
    <a:overrideClrMapping bg1="dk1" tx1="lt1" bg2="dk2" tx2="lt2" accent1="accent1" accent2="accent2" accent3="accent3" accent4="accent4" accent5="accent5" accent6="accent6" hlink="hlink" folHlink="folHlink"/>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650861-7F61-16C7-F57E-BB6AE60DF837}"/>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A29DDFD-73D6-CC81-DF5B-929DAD82F6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37542C4-EACF-1999-70B1-948EC81D5220}"/>
              </a:ext>
            </a:extLst>
          </p:cNvPr>
          <p:cNvSpPr>
            <a:spLocks noGrp="1"/>
          </p:cNvSpPr>
          <p:nvPr>
            <p:ph type="title"/>
          </p:nvPr>
        </p:nvSpPr>
        <p:spPr>
          <a:xfrm>
            <a:off x="645065" y="1463040"/>
            <a:ext cx="3796306" cy="2690949"/>
          </a:xfrm>
        </p:spPr>
        <p:txBody>
          <a:bodyPr anchor="t">
            <a:normAutofit/>
          </a:bodyPr>
          <a:lstStyle/>
          <a:p>
            <a:r>
              <a:rPr lang="en-US" dirty="0"/>
              <a:t>Social Enterprises:</a:t>
            </a:r>
            <a:br>
              <a:rPr lang="en-US" dirty="0"/>
            </a:br>
            <a:r>
              <a:rPr lang="en-US" i="1" dirty="0"/>
              <a:t>The Ableism Challenge</a:t>
            </a:r>
          </a:p>
        </p:txBody>
      </p:sp>
      <p:grpSp>
        <p:nvGrpSpPr>
          <p:cNvPr id="17" name="Group 16">
            <a:extLst>
              <a:ext uri="{FF2B5EF4-FFF2-40B4-BE49-F238E27FC236}">
                <a16:creationId xmlns:a16="http://schemas.microsoft.com/office/drawing/2014/main" id="{175570F6-CF78-8475-5A71-564EB4A5FF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2" name="Rectangle 11">
              <a:extLst>
                <a:ext uri="{FF2B5EF4-FFF2-40B4-BE49-F238E27FC236}">
                  <a16:creationId xmlns:a16="http://schemas.microsoft.com/office/drawing/2014/main" id="{D9C52AA5-6FB9-FBAE-5754-5E07D6D757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865860B5-E86D-CFBB-16F4-93263A2851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5" name="Rectangle 14">
            <a:extLst>
              <a:ext uri="{FF2B5EF4-FFF2-40B4-BE49-F238E27FC236}">
                <a16:creationId xmlns:a16="http://schemas.microsoft.com/office/drawing/2014/main" id="{25A36248-7E59-6241-F348-398FBC998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FB57DB8-104C-1E9C-DB85-13138A71B126}"/>
              </a:ext>
            </a:extLst>
          </p:cNvPr>
          <p:cNvSpPr>
            <a:spLocks noGrp="1"/>
          </p:cNvSpPr>
          <p:nvPr>
            <p:ph idx="1"/>
          </p:nvPr>
        </p:nvSpPr>
        <p:spPr>
          <a:xfrm>
            <a:off x="5647038" y="790833"/>
            <a:ext cx="5551567" cy="4972654"/>
          </a:xfrm>
        </p:spPr>
        <p:txBody>
          <a:bodyPr anchor="t">
            <a:noAutofit/>
          </a:bodyPr>
          <a:lstStyle/>
          <a:p>
            <a:pPr>
              <a:spcBef>
                <a:spcPts val="1600"/>
              </a:spcBef>
            </a:pPr>
            <a:r>
              <a:rPr lang="en-US" sz="2400" dirty="0"/>
              <a:t>Does the nature of the social enterprise limit views of individual capabilities and employment opportunities…by the individual themselves, family members, service provider, general public?</a:t>
            </a:r>
          </a:p>
          <a:p>
            <a:pPr>
              <a:spcBef>
                <a:spcPts val="1600"/>
              </a:spcBef>
            </a:pPr>
            <a:r>
              <a:rPr lang="en-US" sz="2400" dirty="0"/>
              <a:t>Does it potentially reinforce stereotypes and presumptions about people with disabilities?</a:t>
            </a:r>
          </a:p>
          <a:p>
            <a:pPr>
              <a:spcBef>
                <a:spcPts val="1600"/>
              </a:spcBef>
            </a:pPr>
            <a:r>
              <a:rPr lang="en-US" sz="2400" dirty="0"/>
              <a:t>Why create a social enterprise instead of supporting individuals to find employment in the general workforce?</a:t>
            </a:r>
          </a:p>
        </p:txBody>
      </p:sp>
      <p:sp>
        <p:nvSpPr>
          <p:cNvPr id="4" name="Slide Number Placeholder 3">
            <a:extLst>
              <a:ext uri="{FF2B5EF4-FFF2-40B4-BE49-F238E27FC236}">
                <a16:creationId xmlns:a16="http://schemas.microsoft.com/office/drawing/2014/main" id="{BA53BEC5-CD11-E8CD-B55C-219E76E22589}"/>
              </a:ext>
            </a:extLst>
          </p:cNvPr>
          <p:cNvSpPr>
            <a:spLocks noGrp="1"/>
          </p:cNvSpPr>
          <p:nvPr>
            <p:ph type="sldNum" sz="quarter" idx="12"/>
          </p:nvPr>
        </p:nvSpPr>
        <p:spPr>
          <a:xfrm>
            <a:off x="8610600" y="649224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33426DC-C502-4B46-A878-9D43EE259E4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290319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5946E9-F1F8-6727-67FF-A673A67554C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EE2F9-5C96-A6E6-F16D-E246228A82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 name="Group 10">
            <a:extLst>
              <a:ext uri="{FF2B5EF4-FFF2-40B4-BE49-F238E27FC236}">
                <a16:creationId xmlns:a16="http://schemas.microsoft.com/office/drawing/2014/main" id="{9D4275E2-02E9-F70C-EC3E-EF9AA11D54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ED96A71A-3EF8-C758-D666-27DB3351B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7A23D298-95D5-41AA-70B7-DD1EC8BBC7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8F796C6-D2EB-97E1-0DBD-998057520C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15">
            <a:extLst>
              <a:ext uri="{FF2B5EF4-FFF2-40B4-BE49-F238E27FC236}">
                <a16:creationId xmlns:a16="http://schemas.microsoft.com/office/drawing/2014/main" id="{B1228DA1-FD0A-C3E2-61B1-9A3CA56E6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A99FB55-8734-05AD-8CEC-9F1DD1E67704}"/>
              </a:ext>
            </a:extLst>
          </p:cNvPr>
          <p:cNvSpPr>
            <a:spLocks noGrp="1"/>
          </p:cNvSpPr>
          <p:nvPr>
            <p:ph type="title"/>
          </p:nvPr>
        </p:nvSpPr>
        <p:spPr>
          <a:xfrm>
            <a:off x="1043631" y="809898"/>
            <a:ext cx="9942716" cy="1554480"/>
          </a:xfrm>
        </p:spPr>
        <p:txBody>
          <a:bodyPr anchor="ctr">
            <a:normAutofit/>
          </a:bodyPr>
          <a:lstStyle/>
          <a:p>
            <a:r>
              <a:rPr lang="en-US" sz="4800" b="1" dirty="0"/>
              <a:t>IF</a:t>
            </a:r>
            <a:r>
              <a:rPr lang="en-US" sz="4800" dirty="0"/>
              <a:t> you’re going to have a social enterprise…</a:t>
            </a:r>
          </a:p>
        </p:txBody>
      </p:sp>
      <p:sp>
        <p:nvSpPr>
          <p:cNvPr id="3" name="Content Placeholder 2">
            <a:extLst>
              <a:ext uri="{FF2B5EF4-FFF2-40B4-BE49-F238E27FC236}">
                <a16:creationId xmlns:a16="http://schemas.microsoft.com/office/drawing/2014/main" id="{5E6FCE57-E723-8350-05B7-34C5F0A8A713}"/>
              </a:ext>
            </a:extLst>
          </p:cNvPr>
          <p:cNvSpPr>
            <a:spLocks noGrp="1"/>
          </p:cNvSpPr>
          <p:nvPr>
            <p:ph idx="1"/>
          </p:nvPr>
        </p:nvSpPr>
        <p:spPr>
          <a:xfrm>
            <a:off x="633596" y="2967021"/>
            <a:ext cx="10907487" cy="3030577"/>
          </a:xfrm>
        </p:spPr>
        <p:txBody>
          <a:bodyPr anchor="ctr">
            <a:noAutofit/>
          </a:bodyPr>
          <a:lstStyle/>
          <a:p>
            <a:pPr>
              <a:lnSpc>
                <a:spcPct val="110000"/>
              </a:lnSpc>
            </a:pPr>
            <a:r>
              <a:rPr lang="en-US" sz="2400" dirty="0"/>
              <a:t>Be very clear regarding goals, purpose, target population, and role in career pathway</a:t>
            </a:r>
          </a:p>
          <a:p>
            <a:pPr>
              <a:lnSpc>
                <a:spcPct val="110000"/>
              </a:lnSpc>
            </a:pPr>
            <a:r>
              <a:rPr lang="en-US" sz="2400" dirty="0"/>
              <a:t>Base it on the vision, needs, preferences of individuals </a:t>
            </a:r>
          </a:p>
          <a:p>
            <a:pPr>
              <a:lnSpc>
                <a:spcPct val="110000"/>
              </a:lnSpc>
            </a:pPr>
            <a:r>
              <a:rPr lang="en-US" sz="2400" dirty="0"/>
              <a:t>People with disabilities in leadership, supervisory, and advisory positions</a:t>
            </a:r>
          </a:p>
          <a:p>
            <a:pPr>
              <a:lnSpc>
                <a:spcPct val="110000"/>
              </a:lnSpc>
            </a:pPr>
            <a:r>
              <a:rPr lang="en-US" sz="2400" dirty="0"/>
              <a:t>Opportunities for ownership, equity stake, and profit sharing for people with disabilities</a:t>
            </a:r>
          </a:p>
          <a:p>
            <a:pPr>
              <a:lnSpc>
                <a:spcPct val="110000"/>
              </a:lnSpc>
            </a:pPr>
            <a:r>
              <a:rPr lang="en-US" sz="2400" dirty="0"/>
              <a:t>Avoid business names, signage, and marketing that reinforce an ableist message of charity, pity, ”less than”</a:t>
            </a:r>
          </a:p>
        </p:txBody>
      </p:sp>
      <p:cxnSp>
        <p:nvCxnSpPr>
          <p:cNvPr id="18" name="Straight Connector 17">
            <a:extLst>
              <a:ext uri="{FF2B5EF4-FFF2-40B4-BE49-F238E27FC236}">
                <a16:creationId xmlns:a16="http://schemas.microsoft.com/office/drawing/2014/main" id="{94345356-E05E-3B68-8C49-F0304F41234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61CF3F4A-50BE-F8EC-6EF2-1436B6EBA768}"/>
              </a:ext>
            </a:extLst>
          </p:cNvPr>
          <p:cNvSpPr>
            <a:spLocks noGrp="1"/>
          </p:cNvSpPr>
          <p:nvPr>
            <p:ph type="sldNum" sz="quarter" idx="12"/>
          </p:nvPr>
        </p:nvSpPr>
        <p:spPr>
          <a:xfrm>
            <a:off x="8610600" y="649224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33426DC-C502-4B46-A878-9D43EE259E4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9710390"/>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4B1DB-16CF-1B0B-8532-158D49F04198}"/>
              </a:ext>
            </a:extLst>
          </p:cNvPr>
          <p:cNvSpPr>
            <a:spLocks noGrp="1"/>
          </p:cNvSpPr>
          <p:nvPr>
            <p:ph type="title"/>
          </p:nvPr>
        </p:nvSpPr>
        <p:spPr/>
        <p:txBody>
          <a:bodyPr/>
          <a:lstStyle/>
          <a:p>
            <a:r>
              <a:rPr lang="en-US" dirty="0"/>
              <a:t>Final Thoughts</a:t>
            </a:r>
          </a:p>
        </p:txBody>
      </p:sp>
      <p:sp>
        <p:nvSpPr>
          <p:cNvPr id="4" name="Slide Number Placeholder 3">
            <a:extLst>
              <a:ext uri="{FF2B5EF4-FFF2-40B4-BE49-F238E27FC236}">
                <a16:creationId xmlns:a16="http://schemas.microsoft.com/office/drawing/2014/main" id="{86AAC223-881C-7EB0-B690-AB8D4B3E58AF}"/>
              </a:ext>
            </a:extLst>
          </p:cNvPr>
          <p:cNvSpPr>
            <a:spLocks noGrp="1"/>
          </p:cNvSpPr>
          <p:nvPr>
            <p:ph type="sldNum" sz="quarter" idx="12"/>
          </p:nvPr>
        </p:nvSpPr>
        <p:spPr/>
        <p:txBody>
          <a:bodyPr/>
          <a:lstStyle/>
          <a:p>
            <a:fld id="{233426DC-C502-4B46-A878-9D43EE259E4B}" type="slidenum">
              <a:rPr lang="en-US" smtClean="0"/>
              <a:t>55</a:t>
            </a:fld>
            <a:endParaRPr lang="en-US"/>
          </a:p>
        </p:txBody>
      </p:sp>
      <p:pic>
        <p:nvPicPr>
          <p:cNvPr id="6" name="Picture 5" descr="Final Thoughts">
            <a:extLst>
              <a:ext uri="{FF2B5EF4-FFF2-40B4-BE49-F238E27FC236}">
                <a16:creationId xmlns:a16="http://schemas.microsoft.com/office/drawing/2014/main" id="{D9F8CB0A-859C-1E48-FDAB-77CC2FC2EF0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991358"/>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D0D6D3E-D7F9-4591-9CA9-DDF4DB1F7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14D852F-1F33-A21B-0A85-43D8A88754D2}"/>
              </a:ext>
            </a:extLst>
          </p:cNvPr>
          <p:cNvSpPr>
            <a:spLocks noGrp="1"/>
          </p:cNvSpPr>
          <p:nvPr>
            <p:ph type="title"/>
          </p:nvPr>
        </p:nvSpPr>
        <p:spPr>
          <a:xfrm>
            <a:off x="982639" y="1012536"/>
            <a:ext cx="4949238" cy="4756162"/>
          </a:xfrm>
        </p:spPr>
        <p:txBody>
          <a:bodyPr vert="horz" lIns="91440" tIns="45720" rIns="91440" bIns="45720" rtlCol="0" anchor="t">
            <a:normAutofit fontScale="90000"/>
          </a:bodyPr>
          <a:lstStyle/>
          <a:p>
            <a:pPr>
              <a:lnSpc>
                <a:spcPct val="100000"/>
              </a:lnSpc>
            </a:pPr>
            <a:r>
              <a:rPr lang="en-US" sz="4800" b="1" dirty="0"/>
              <a:t>Liz Weintraub</a:t>
            </a:r>
            <a:r>
              <a:rPr lang="en-US" sz="4800" dirty="0"/>
              <a:t>:</a:t>
            </a:r>
            <a:br>
              <a:rPr lang="en-US" sz="4800" dirty="0"/>
            </a:br>
            <a:br>
              <a:rPr lang="en-US" sz="4800" dirty="0"/>
            </a:br>
            <a:r>
              <a:rPr lang="en-US" sz="4000" i="1" dirty="0">
                <a:latin typeface="+mn-lt"/>
              </a:rPr>
              <a:t>“</a:t>
            </a:r>
            <a:r>
              <a:rPr lang="en-US" sz="4000" i="1" kern="100" dirty="0">
                <a:latin typeface="+mn-lt"/>
                <a:cs typeface="Times New Roman" panose="02020603050405020304" pitchFamily="18" charset="0"/>
              </a:rPr>
              <a:t>People without disabilities</a:t>
            </a:r>
            <a:r>
              <a:rPr lang="en-US" sz="4000" i="1" kern="100" dirty="0">
                <a:effectLst/>
                <a:latin typeface="+mn-lt"/>
                <a:ea typeface="Calibri" panose="020F0502020204030204" pitchFamily="34" charset="0"/>
                <a:cs typeface="Times New Roman" panose="02020603050405020304" pitchFamily="18" charset="0"/>
              </a:rPr>
              <a:t> need to believe in people with disabilities, support their dreams, and believe that people can have jobs.”</a:t>
            </a:r>
            <a:br>
              <a:rPr lang="en-US" sz="4000" i="1" kern="100" dirty="0">
                <a:effectLst/>
                <a:latin typeface="+mn-lt"/>
                <a:ea typeface="Calibri" panose="020F0502020204030204" pitchFamily="34" charset="0"/>
                <a:cs typeface="Times New Roman" panose="02020603050405020304" pitchFamily="18" charset="0"/>
              </a:rPr>
            </a:br>
            <a:endParaRPr lang="en-US" sz="4000" i="1" dirty="0">
              <a:latin typeface="+mn-lt"/>
            </a:endParaRPr>
          </a:p>
        </p:txBody>
      </p:sp>
      <p:sp>
        <p:nvSpPr>
          <p:cNvPr id="11" name="Rectangle 10">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23336" y="-3"/>
            <a:ext cx="4068664" cy="6858000"/>
          </a:xfrm>
          <a:prstGeom prst="rect">
            <a:avLst/>
          </a:prstGeom>
          <a:gradFill>
            <a:gsLst>
              <a:gs pos="26000">
                <a:srgbClr val="000000"/>
              </a:gs>
              <a:gs pos="100000">
                <a:schemeClr val="accent1"/>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23336" y="-3"/>
            <a:ext cx="3611463" cy="6858000"/>
          </a:xfrm>
          <a:prstGeom prst="rect">
            <a:avLst/>
          </a:prstGeom>
          <a:gradFill>
            <a:gsLst>
              <a:gs pos="0">
                <a:schemeClr val="accent1">
                  <a:lumMod val="75000"/>
                  <a:alpha val="56000"/>
                </a:schemeClr>
              </a:gs>
              <a:gs pos="100000">
                <a:srgbClr val="000000">
                  <a:alpha val="52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230721" y="-107390"/>
            <a:ext cx="3853890" cy="4068665"/>
          </a:xfrm>
          <a:prstGeom prst="rect">
            <a:avLst/>
          </a:prstGeom>
          <a:gradFill>
            <a:gsLst>
              <a:gs pos="0">
                <a:srgbClr val="000000">
                  <a:alpha val="34000"/>
                </a:srgbClr>
              </a:gs>
              <a:gs pos="96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303C5FA5-90F0-E234-F772-51BFA5B55E1B}"/>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096000" y="1012536"/>
            <a:ext cx="4756162" cy="4756162"/>
          </a:xfrm>
          <a:custGeom>
            <a:avLst/>
            <a:gdLst/>
            <a:ahLst/>
            <a:cxnLst/>
            <a:rect l="l" t="t" r="r" b="b"/>
            <a:pathLst>
              <a:path w="5031136" h="5031136">
                <a:moveTo>
                  <a:pt x="2515568" y="0"/>
                </a:moveTo>
                <a:cubicBezTo>
                  <a:pt x="3904878" y="0"/>
                  <a:pt x="5031136" y="1126258"/>
                  <a:pt x="5031136" y="2515568"/>
                </a:cubicBezTo>
                <a:cubicBezTo>
                  <a:pt x="5031136" y="3904878"/>
                  <a:pt x="3904878" y="5031136"/>
                  <a:pt x="2515568" y="5031136"/>
                </a:cubicBezTo>
                <a:cubicBezTo>
                  <a:pt x="1126258" y="5031136"/>
                  <a:pt x="0" y="3904878"/>
                  <a:pt x="0" y="2515568"/>
                </a:cubicBezTo>
                <a:cubicBezTo>
                  <a:pt x="0" y="1126258"/>
                  <a:pt x="1126258" y="0"/>
                  <a:pt x="2515568" y="0"/>
                </a:cubicBezTo>
                <a:close/>
              </a:path>
            </a:pathLst>
          </a:custGeom>
        </p:spPr>
      </p:pic>
      <p:sp>
        <p:nvSpPr>
          <p:cNvPr id="3" name="Slide Number Placeholder 2">
            <a:extLst>
              <a:ext uri="{FF2B5EF4-FFF2-40B4-BE49-F238E27FC236}">
                <a16:creationId xmlns:a16="http://schemas.microsoft.com/office/drawing/2014/main" id="{9B724294-AD31-A598-5C27-6E07F98997E6}"/>
              </a:ext>
            </a:extLst>
          </p:cNvPr>
          <p:cNvSpPr>
            <a:spLocks noGrp="1"/>
          </p:cNvSpPr>
          <p:nvPr>
            <p:ph type="sldNum" sz="quarter" idx="12"/>
          </p:nvPr>
        </p:nvSpPr>
        <p:spPr/>
        <p:txBody>
          <a:bodyPr/>
          <a:lstStyle/>
          <a:p>
            <a:fld id="{98DEB4AB-D614-0E48-BC82-3517EAEB4A4F}" type="slidenum">
              <a:rPr lang="en-US" smtClean="0">
                <a:solidFill>
                  <a:schemeClr val="bg1"/>
                </a:solidFill>
              </a:rPr>
              <a:t>56</a:t>
            </a:fld>
            <a:endParaRPr lang="en-US" dirty="0">
              <a:solidFill>
                <a:schemeClr val="bg1"/>
              </a:solidFill>
            </a:endParaRPr>
          </a:p>
        </p:txBody>
      </p:sp>
    </p:spTree>
    <p:extLst>
      <p:ext uri="{BB962C8B-B14F-4D97-AF65-F5344CB8AC3E}">
        <p14:creationId xmlns:p14="http://schemas.microsoft.com/office/powerpoint/2010/main" val="7732214"/>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6" name="Rectangle 5125">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05AB08-304C-1261-62C4-B036CB98A284}"/>
              </a:ext>
            </a:extLst>
          </p:cNvPr>
          <p:cNvSpPr>
            <a:spLocks noGrp="1"/>
          </p:cNvSpPr>
          <p:nvPr>
            <p:ph type="ctrTitle"/>
          </p:nvPr>
        </p:nvSpPr>
        <p:spPr>
          <a:xfrm>
            <a:off x="640080" y="325369"/>
            <a:ext cx="4368602" cy="1956841"/>
          </a:xfrm>
        </p:spPr>
        <p:txBody>
          <a:bodyPr vert="horz" lIns="91440" tIns="45720" rIns="91440" bIns="45720" rtlCol="0" anchor="b">
            <a:normAutofit/>
          </a:bodyPr>
          <a:lstStyle/>
          <a:p>
            <a:pPr marL="571500" indent="-571500" algn="l" defTabSz="914400"/>
            <a:r>
              <a:rPr lang="en-US" sz="5400" b="1"/>
              <a:t>Marca</a:t>
            </a:r>
            <a:r>
              <a:rPr lang="en-US" sz="5400" b="1" baseline="0"/>
              <a:t> Bristo</a:t>
            </a:r>
            <a:endParaRPr lang="en-US" sz="5400" b="1"/>
          </a:p>
        </p:txBody>
      </p:sp>
      <p:sp>
        <p:nvSpPr>
          <p:cNvPr id="5128"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1" name="Rectangle 2">
            <a:extLst>
              <a:ext uri="{FF2B5EF4-FFF2-40B4-BE49-F238E27FC236}">
                <a16:creationId xmlns:a16="http://schemas.microsoft.com/office/drawing/2014/main" id="{972E40D6-0FC8-9B4C-B996-73620D3D2990}"/>
              </a:ext>
            </a:extLst>
          </p:cNvPr>
          <p:cNvSpPr>
            <a:spLocks noGrp="1" noChangeArrowheads="1"/>
          </p:cNvSpPr>
          <p:nvPr>
            <p:ph type="subTitle" idx="1"/>
          </p:nvPr>
        </p:nvSpPr>
        <p:spPr>
          <a:xfrm>
            <a:off x="246937" y="2828286"/>
            <a:ext cx="4913255" cy="4182106"/>
          </a:xfrm>
          <a:scene3d>
            <a:camera prst="orthographicFront"/>
            <a:lightRig rig="threePt" dir="t"/>
          </a:scene3d>
        </p:spPr>
        <p:txBody>
          <a:bodyPr vert="horz" lIns="91440" tIns="45720" rIns="91440" bIns="45720" rtlCol="0" anchorCtr="0">
            <a:noAutofit/>
          </a:bodyPr>
          <a:lstStyle/>
          <a:p>
            <a:pPr algn="l" defTabSz="914400">
              <a:spcBef>
                <a:spcPts val="0"/>
              </a:spcBef>
              <a:spcAft>
                <a:spcPts val="600"/>
              </a:spcAft>
            </a:pPr>
            <a:r>
              <a:rPr lang="en-US" sz="2600" dirty="0"/>
              <a:t>“The change takes place on an individual level and it takes place on a societal level, but it all starts with empowering individuals with disabilities to change the way they think about themselves, to cast away the stereotypes that confine us, to find their voice, and to become actively involved in social change."</a:t>
            </a:r>
          </a:p>
        </p:txBody>
      </p:sp>
      <p:pic>
        <p:nvPicPr>
          <p:cNvPr id="7" name="Picture 6">
            <a:extLst>
              <a:ext uri="{FF2B5EF4-FFF2-40B4-BE49-F238E27FC236}">
                <a16:creationId xmlns:a16="http://schemas.microsoft.com/office/drawing/2014/main" id="{4FA2E0B1-D483-F24A-93CE-9A3F3D43B499}"/>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5313225"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3" name="Slide Number Placeholder 2">
            <a:extLst>
              <a:ext uri="{FF2B5EF4-FFF2-40B4-BE49-F238E27FC236}">
                <a16:creationId xmlns:a16="http://schemas.microsoft.com/office/drawing/2014/main" id="{735AA528-BE67-7326-9AC8-6B92F4576B9C}"/>
              </a:ext>
            </a:extLst>
          </p:cNvPr>
          <p:cNvSpPr>
            <a:spLocks noGrp="1"/>
          </p:cNvSpPr>
          <p:nvPr>
            <p:ph type="sldNum" sz="quarter" idx="12"/>
          </p:nvPr>
        </p:nvSpPr>
        <p:spPr>
          <a:xfrm>
            <a:off x="9283262" y="6386509"/>
            <a:ext cx="2743200" cy="365125"/>
          </a:xfrm>
        </p:spPr>
        <p:txBody>
          <a:bodyPr/>
          <a:lstStyle/>
          <a:p>
            <a:fld id="{336471AC-7F5C-CF4F-A0B6-967C6D6622C3}" type="slidenum">
              <a:rPr lang="en-US" smtClean="0">
                <a:solidFill>
                  <a:schemeClr val="bg1"/>
                </a:solidFill>
              </a:rPr>
              <a:t>57</a:t>
            </a:fld>
            <a:endParaRPr lang="en-US" dirty="0">
              <a:solidFill>
                <a:schemeClr val="bg1"/>
              </a:solidFill>
            </a:endParaRPr>
          </a:p>
        </p:txBody>
      </p:sp>
    </p:spTree>
    <p:extLst>
      <p:ext uri="{BB962C8B-B14F-4D97-AF65-F5344CB8AC3E}">
        <p14:creationId xmlns:p14="http://schemas.microsoft.com/office/powerpoint/2010/main" val="732177622"/>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11">
            <a:extLst>
              <a:ext uri="{FF2B5EF4-FFF2-40B4-BE49-F238E27FC236}">
                <a16:creationId xmlns:a16="http://schemas.microsoft.com/office/drawing/2014/main" id="{0E2F58BF-12E5-4B5A-AD25-4DAAA2742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A69E1F2-AB08-C140-8B6E-59E6A8312A16}"/>
              </a:ext>
              <a:ext uri="{C183D7F6-B498-43B3-948B-1728B52AA6E4}">
                <adec:decorative xmlns:adec="http://schemas.microsoft.com/office/drawing/2017/decorative" val="1"/>
              </a:ext>
            </a:extLst>
          </p:cNvPr>
          <p:cNvSpPr>
            <a:spLocks noGrp="1"/>
          </p:cNvSpPr>
          <p:nvPr>
            <p:ph type="title"/>
          </p:nvPr>
        </p:nvSpPr>
        <p:spPr>
          <a:xfrm>
            <a:off x="477980" y="1122363"/>
            <a:ext cx="6244095" cy="3203490"/>
          </a:xfrm>
          <a:ln/>
          <a:effectLst>
            <a:glow rad="101600">
              <a:schemeClr val="accent2">
                <a:satMod val="175000"/>
                <a:alpha val="40000"/>
              </a:schemeClr>
            </a:glow>
            <a:outerShdw blurRad="57150" dist="19050" dir="5400000" algn="ctr" rotWithShape="0">
              <a:srgbClr val="000000">
                <a:alpha val="63000"/>
              </a:srgbClr>
            </a:outerShdw>
          </a:effectLst>
          <a:scene3d>
            <a:camera prst="orthographicFront"/>
            <a:lightRig rig="threePt" dir="t"/>
          </a:scene3d>
          <a:sp3d>
            <a:bevelT prst="angle"/>
          </a:sp3d>
        </p:spPr>
        <p:style>
          <a:lnRef idx="0">
            <a:schemeClr val="accent3"/>
          </a:lnRef>
          <a:fillRef idx="3">
            <a:schemeClr val="accent3"/>
          </a:fillRef>
          <a:effectRef idx="3">
            <a:schemeClr val="accent3"/>
          </a:effectRef>
          <a:fontRef idx="minor">
            <a:schemeClr val="lt1"/>
          </a:fontRef>
        </p:style>
        <p:txBody>
          <a:bodyPr vert="horz" lIns="91440" tIns="45720" rIns="91440" bIns="45720" rtlCol="0" anchor="b">
            <a:noAutofit/>
          </a:bodyPr>
          <a:lstStyle/>
          <a:p>
            <a:pPr algn="ctr"/>
            <a:r>
              <a:rPr lang="en-US" dirty="0"/>
              <a:t>“Listen to our dreams about having a job.</a:t>
            </a:r>
            <a:br>
              <a:rPr lang="en-US" dirty="0"/>
            </a:br>
            <a:r>
              <a:rPr lang="en-US" dirty="0"/>
              <a:t>We want to work</a:t>
            </a:r>
            <a:br>
              <a:rPr lang="en-US" dirty="0"/>
            </a:br>
            <a:r>
              <a:rPr lang="en-US" dirty="0"/>
              <a:t>just like others.”</a:t>
            </a:r>
            <a:br>
              <a:rPr lang="en-US" dirty="0"/>
            </a:br>
            <a:endParaRPr lang="en-US" dirty="0"/>
          </a:p>
        </p:txBody>
      </p:sp>
      <p:sp>
        <p:nvSpPr>
          <p:cNvPr id="3" name="Content Placeholder 2">
            <a:extLst>
              <a:ext uri="{FF2B5EF4-FFF2-40B4-BE49-F238E27FC236}">
                <a16:creationId xmlns:a16="http://schemas.microsoft.com/office/drawing/2014/main" id="{A6DD98DD-F9C1-A448-823E-488B8F722E37}"/>
              </a:ext>
            </a:extLst>
          </p:cNvPr>
          <p:cNvSpPr>
            <a:spLocks noGrp="1"/>
          </p:cNvSpPr>
          <p:nvPr>
            <p:ph idx="1"/>
          </p:nvPr>
        </p:nvSpPr>
        <p:spPr>
          <a:xfrm>
            <a:off x="477980" y="4872922"/>
            <a:ext cx="5097872" cy="1208141"/>
          </a:xfrm>
        </p:spPr>
        <p:txBody>
          <a:bodyPr vert="horz" lIns="91440" tIns="45720" rIns="91440" bIns="45720" rtlCol="0">
            <a:noAutofit/>
          </a:bodyPr>
          <a:lstStyle/>
          <a:p>
            <a:pPr marL="0" indent="0">
              <a:buNone/>
            </a:pPr>
            <a:r>
              <a:rPr lang="en-US" b="1" dirty="0"/>
              <a:t>Stirling Peebles</a:t>
            </a:r>
          </a:p>
          <a:p>
            <a:pPr marL="0" indent="0">
              <a:buNone/>
            </a:pPr>
            <a:r>
              <a:rPr lang="en-US" i="1" dirty="0"/>
              <a:t>University of Vermont</a:t>
            </a:r>
            <a:br>
              <a:rPr lang="en-US" dirty="0"/>
            </a:br>
            <a:r>
              <a:rPr lang="en-US" i="1" dirty="0"/>
              <a:t>Green Mountain Self-Advocates</a:t>
            </a:r>
          </a:p>
        </p:txBody>
      </p:sp>
      <p:sp>
        <p:nvSpPr>
          <p:cNvPr id="10"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Picture of Stirling Peebles with video camera">
            <a:extLst>
              <a:ext uri="{FF2B5EF4-FFF2-40B4-BE49-F238E27FC236}">
                <a16:creationId xmlns:a16="http://schemas.microsoft.com/office/drawing/2014/main" id="{F91D3B22-A6B3-C146-843C-FEEFB90FCEF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784757" y="1369977"/>
            <a:ext cx="2825579" cy="2645970"/>
          </a:xfrm>
          <a:prstGeom prst="rect">
            <a:avLst/>
          </a:prstGeom>
        </p:spPr>
      </p:pic>
      <p:sp>
        <p:nvSpPr>
          <p:cNvPr id="4" name="Slide Number Placeholder 3">
            <a:extLst>
              <a:ext uri="{FF2B5EF4-FFF2-40B4-BE49-F238E27FC236}">
                <a16:creationId xmlns:a16="http://schemas.microsoft.com/office/drawing/2014/main" id="{EA83C876-B1D7-3825-7D68-6D12D49BC777}"/>
              </a:ext>
            </a:extLst>
          </p:cNvPr>
          <p:cNvSpPr>
            <a:spLocks noGrp="1"/>
          </p:cNvSpPr>
          <p:nvPr>
            <p:ph type="sldNum" sz="quarter" idx="12"/>
          </p:nvPr>
        </p:nvSpPr>
        <p:spPr/>
        <p:txBody>
          <a:bodyPr/>
          <a:lstStyle/>
          <a:p>
            <a:fld id="{98DEB4AB-D614-0E48-BC82-3517EAEB4A4F}" type="slidenum">
              <a:rPr lang="en-US" smtClean="0">
                <a:solidFill>
                  <a:schemeClr val="tx1"/>
                </a:solidFill>
              </a:rPr>
              <a:t>58</a:t>
            </a:fld>
            <a:endParaRPr lang="en-US" dirty="0">
              <a:solidFill>
                <a:schemeClr val="tx1"/>
              </a:solidFill>
            </a:endParaRPr>
          </a:p>
        </p:txBody>
      </p:sp>
    </p:spTree>
    <p:extLst>
      <p:ext uri="{BB962C8B-B14F-4D97-AF65-F5344CB8AC3E}">
        <p14:creationId xmlns:p14="http://schemas.microsoft.com/office/powerpoint/2010/main" val="3959519254"/>
      </p:ext>
    </p:extLst>
  </p:cSld>
  <p:clrMapOvr>
    <a:masterClrMapping/>
  </p:clrMapOvr>
  <p:transition spd="slow">
    <p:wipe/>
  </p:transition>
</p:sld>
</file>

<file path=ppt/theme/_rels/theme3.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Osaka"/>
        <a:cs typeface="Osaka"/>
      </a:majorFont>
      <a:minorFont>
        <a:latin typeface="Arial"/>
        <a:ea typeface="Osaka"/>
        <a:cs typeface="Osak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Genev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Geneva"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2209</TotalTime>
  <Words>2103</Words>
  <Application>Microsoft Macintosh PowerPoint</Application>
  <PresentationFormat>Widescreen</PresentationFormat>
  <Paragraphs>271</Paragraphs>
  <Slides>58</Slides>
  <Notes>28</Notes>
  <HiddenSlides>0</HiddenSlides>
  <MMClips>0</MMClips>
  <ScaleCrop>false</ScaleCrop>
  <HeadingPairs>
    <vt:vector size="6" baseType="variant">
      <vt:variant>
        <vt:lpstr>Fonts Used</vt:lpstr>
      </vt:variant>
      <vt:variant>
        <vt:i4>18</vt:i4>
      </vt:variant>
      <vt:variant>
        <vt:lpstr>Theme</vt:lpstr>
      </vt:variant>
      <vt:variant>
        <vt:i4>6</vt:i4>
      </vt:variant>
      <vt:variant>
        <vt:lpstr>Slide Titles</vt:lpstr>
      </vt:variant>
      <vt:variant>
        <vt:i4>58</vt:i4>
      </vt:variant>
    </vt:vector>
  </HeadingPairs>
  <TitlesOfParts>
    <vt:vector size="82" baseType="lpstr">
      <vt:lpstr>Osaka</vt:lpstr>
      <vt:lpstr>Aptos</vt:lpstr>
      <vt:lpstr>Aptos Display</vt:lpstr>
      <vt:lpstr>Arial</vt:lpstr>
      <vt:lpstr>Arial Narrow</vt:lpstr>
      <vt:lpstr>Avenir Book</vt:lpstr>
      <vt:lpstr>Avenir Next Condensed Demi Bold</vt:lpstr>
      <vt:lpstr>Britannic Bold</vt:lpstr>
      <vt:lpstr>Calibri</vt:lpstr>
      <vt:lpstr>Calibri Light</vt:lpstr>
      <vt:lpstr>Cambria</vt:lpstr>
      <vt:lpstr>Comic Sans MS</vt:lpstr>
      <vt:lpstr>Copperplate Gothic Bold</vt:lpstr>
      <vt:lpstr>Gill Sans MT</vt:lpstr>
      <vt:lpstr>Helvetica Neue</vt:lpstr>
      <vt:lpstr>Impact</vt:lpstr>
      <vt:lpstr>Proxima Nova</vt:lpstr>
      <vt:lpstr>Wingdings</vt:lpstr>
      <vt:lpstr>Office Theme</vt:lpstr>
      <vt:lpstr>1_Blank Presentation</vt:lpstr>
      <vt:lpstr>Clarity</vt:lpstr>
      <vt:lpstr>1_Office Theme</vt:lpstr>
      <vt:lpstr>2_Office Theme</vt:lpstr>
      <vt:lpstr>3_Office Theme</vt:lpstr>
      <vt:lpstr>Challenging Ourselves: The Evolving Role of Professionals in Employment of People with Disabilities</vt:lpstr>
      <vt:lpstr>About Me</vt:lpstr>
      <vt:lpstr>Lora Brugnaro National APSE 2024</vt:lpstr>
      <vt:lpstr>History Lesson</vt:lpstr>
      <vt:lpstr>Going Back in Time The Roots of Our Employment System</vt:lpstr>
      <vt:lpstr>1601 Elizabethan Poor Laws</vt:lpstr>
      <vt:lpstr>1750 Act Passed by New England Colony of Connecticut</vt:lpstr>
      <vt:lpstr>The Old View</vt:lpstr>
      <vt:lpstr>Significant Disability Equals Unemployable in General Workforce</vt:lpstr>
      <vt:lpstr>Unemployed</vt:lpstr>
      <vt:lpstr>Need Special Places and Special Programs for Special People</vt:lpstr>
      <vt:lpstr>Disability Rights Movement</vt:lpstr>
      <vt:lpstr>Try Another Way</vt:lpstr>
      <vt:lpstr>Supported Employment Emerges</vt:lpstr>
      <vt:lpstr>1972</vt:lpstr>
      <vt:lpstr>Wolf Wolfensberger</vt:lpstr>
      <vt:lpstr>I990’s</vt:lpstr>
      <vt:lpstr>Evolving Policies</vt:lpstr>
      <vt:lpstr>Disability Employment: 21st Century View</vt:lpstr>
      <vt:lpstr>We should applaud our progress. </vt:lpstr>
      <vt:lpstr>We are of good intent, BUT we are also victims of….</vt:lpstr>
      <vt:lpstr>Ableism</vt:lpstr>
      <vt:lpstr>Kamisha Heriveaux</vt:lpstr>
      <vt:lpstr>We need to be a force for combatting ableism</vt:lpstr>
      <vt:lpstr>“Meaningful and creative shared experiences shared between people can be more compelling than all of the faiths, fears, concepts, ideologies, and prejudices that divide; and if these experiences can be multiplied and sustained over a sufficient duration of time, then any barrier that separates one person from another can be undermined and eliminated.”</vt:lpstr>
      <vt:lpstr>“Many of these improvements have come thanks to the disabled community’s own growing activism and that of allies more exposed than earlier generations to disabled classmates and colleagues at school and work,  and disabled characters in popular culture."  </vt:lpstr>
      <vt:lpstr>Intergroup Contact Theory</vt:lpstr>
      <vt:lpstr>Characteristics of a Socially Valued Employee</vt:lpstr>
      <vt:lpstr>People and organizations do not always know they are thinking or acting in an ableist way </vt:lpstr>
      <vt:lpstr> Mahatma Gandhi</vt:lpstr>
      <vt:lpstr>“Key blockages to disability inclusive employment include entrenched negative assumptions about disabled people's entitlement and suitability to work.”  </vt:lpstr>
      <vt:lpstr>Do we automatically view people with disabilities as capable?</vt:lpstr>
      <vt:lpstr>Avoid the employment readiness myth</vt:lpstr>
      <vt:lpstr>No More “Othering”</vt:lpstr>
      <vt:lpstr>Marketing and Outreach</vt:lpstr>
      <vt:lpstr>Ableist employer outreach and job development</vt:lpstr>
      <vt:lpstr>Eric Michael Garcia Author: We’re Not Broken: Changing the Autism Conversation </vt:lpstr>
      <vt:lpstr>Avoiding “Disability” Jobs</vt:lpstr>
      <vt:lpstr>People hired on merit</vt:lpstr>
      <vt:lpstr>Countering employer ableism and perceived skill/ability gaps</vt:lpstr>
      <vt:lpstr>Filling the Gap</vt:lpstr>
      <vt:lpstr>We need to recognize the inherent uneven power dynamics and challenges caused by ableism and our service designs</vt:lpstr>
      <vt:lpstr>Choices and Decision-Making</vt:lpstr>
      <vt:lpstr>Andraéa LaVant Impact Producer, Crip Camp </vt:lpstr>
      <vt:lpstr>Informed Choice Definition</vt:lpstr>
      <vt:lpstr>Steps for Informed Choice &amp; Employment</vt:lpstr>
      <vt:lpstr>“Nothing  About Us  Without Us”</vt:lpstr>
      <vt:lpstr>Gut Check: Nothing About Us Without Us</vt:lpstr>
      <vt:lpstr>Supporting a Culture of Disability Pride</vt:lpstr>
      <vt:lpstr>Competitive Integrated Employment is the Gold Standard</vt:lpstr>
      <vt:lpstr>Whenever we deviate from the typical non-disabled process in terms of job search, structure/elements of a position, and job supports we should always ask ourselves...</vt:lpstr>
      <vt:lpstr>Do special employment  “programs”  and employer disability “projects” reinforce ableism?</vt:lpstr>
      <vt:lpstr>Social Enterprises: The Ableism Challenge</vt:lpstr>
      <vt:lpstr>IF you’re going to have a social enterprise…</vt:lpstr>
      <vt:lpstr>Final Thoughts</vt:lpstr>
      <vt:lpstr>Liz Weintraub:  “People without disabilities need to believe in people with disabilities, support their dreams, and believe that people can have jobs.” </vt:lpstr>
      <vt:lpstr>Marca Bristo</vt:lpstr>
      <vt:lpstr>“Listen to our dreams about having a job. We want to work just like others.”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We’ve Been Where We’re At Where We’re Going</dc:title>
  <dc:creator>David Hoff</dc:creator>
  <cp:lastModifiedBy>David Hoff</cp:lastModifiedBy>
  <cp:revision>83</cp:revision>
  <dcterms:created xsi:type="dcterms:W3CDTF">2024-07-05T13:17:36Z</dcterms:created>
  <dcterms:modified xsi:type="dcterms:W3CDTF">2025-11-07T15:40:24Z</dcterms:modified>
</cp:coreProperties>
</file>