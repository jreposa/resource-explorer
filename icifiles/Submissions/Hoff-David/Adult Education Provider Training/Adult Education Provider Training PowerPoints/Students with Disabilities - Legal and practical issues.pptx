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39"/>
  </p:notesMasterIdLst>
  <p:handoutMasterIdLst>
    <p:handoutMasterId r:id="rId40"/>
  </p:handoutMasterIdLst>
  <p:sldIdLst>
    <p:sldId id="281" r:id="rId2"/>
    <p:sldId id="484" r:id="rId3"/>
    <p:sldId id="485" r:id="rId4"/>
    <p:sldId id="480" r:id="rId5"/>
    <p:sldId id="339" r:id="rId6"/>
    <p:sldId id="340" r:id="rId7"/>
    <p:sldId id="343" r:id="rId8"/>
    <p:sldId id="476" r:id="rId9"/>
    <p:sldId id="345" r:id="rId10"/>
    <p:sldId id="354" r:id="rId11"/>
    <p:sldId id="347" r:id="rId12"/>
    <p:sldId id="348" r:id="rId13"/>
    <p:sldId id="501" r:id="rId14"/>
    <p:sldId id="488" r:id="rId15"/>
    <p:sldId id="507" r:id="rId16"/>
    <p:sldId id="505" r:id="rId17"/>
    <p:sldId id="481" r:id="rId18"/>
    <p:sldId id="499" r:id="rId19"/>
    <p:sldId id="500" r:id="rId20"/>
    <p:sldId id="482" r:id="rId21"/>
    <p:sldId id="483" r:id="rId22"/>
    <p:sldId id="491" r:id="rId23"/>
    <p:sldId id="498" r:id="rId24"/>
    <p:sldId id="502" r:id="rId25"/>
    <p:sldId id="490" r:id="rId26"/>
    <p:sldId id="510" r:id="rId27"/>
    <p:sldId id="508" r:id="rId28"/>
    <p:sldId id="492" r:id="rId29"/>
    <p:sldId id="487" r:id="rId30"/>
    <p:sldId id="489" r:id="rId31"/>
    <p:sldId id="494" r:id="rId32"/>
    <p:sldId id="493" r:id="rId33"/>
    <p:sldId id="474" r:id="rId34"/>
    <p:sldId id="497" r:id="rId35"/>
    <p:sldId id="504" r:id="rId36"/>
    <p:sldId id="323" r:id="rId37"/>
    <p:sldId id="360" r:id="rId3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 Antiqua" panose="0204060205030503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vertBarState="minimized">
    <p:restoredLeft sz="8015"/>
    <p:restoredTop sz="93741"/>
  </p:normalViewPr>
  <p:slideViewPr>
    <p:cSldViewPr>
      <p:cViewPr varScale="1">
        <p:scale>
          <a:sx n="112" d="100"/>
          <a:sy n="112" d="100"/>
        </p:scale>
        <p:origin x="175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57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8D4C6040-3216-AB4A-B101-59D428F3A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28600"/>
            <a:ext cx="5105400" cy="403225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/>
              <a:t>Disability Rights and Law</a:t>
            </a:r>
            <a:r>
              <a:rPr lang="en-US" sz="1000"/>
              <a:t> - David Hoff, Institute for Community Inclusion</a:t>
            </a:r>
            <a:br>
              <a:rPr lang="en-US" sz="1000"/>
            </a:br>
            <a:r>
              <a:rPr lang="en-US" sz="1000"/>
              <a:t>www.communityinclusion.org; 617-287-4308; david.hoff@umb.edu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7D60287-83B3-4549-BE7C-EF7AEEAC336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0BFD21E-EC7C-C345-9FDB-509701D0B05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-107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-107" charset="0"/>
        <a:ea typeface="ＭＳ Ｐゴシック" pitchFamily="-107" charset="-128"/>
        <a:cs typeface="ＭＳ Ｐゴシック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-107" charset="0"/>
        <a:ea typeface="ＭＳ Ｐゴシック" pitchFamily="-107" charset="-128"/>
        <a:cs typeface="ＭＳ Ｐゴシック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-107" charset="0"/>
        <a:ea typeface="ＭＳ Ｐゴシック" pitchFamily="-107" charset="-128"/>
        <a:cs typeface="ＭＳ Ｐゴシック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-107" charset="0"/>
        <a:ea typeface="ＭＳ Ｐゴシック" pitchFamily="-107" charset="-128"/>
        <a:cs typeface="ＭＳ Ｐゴシック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Image Placeholder 1">
            <a:extLst>
              <a:ext uri="{FF2B5EF4-FFF2-40B4-BE49-F238E27FC236}">
                <a16:creationId xmlns:a16="http://schemas.microsoft.com/office/drawing/2014/main" id="{8E160A91-65CA-B44D-B609-4EA6BE22A8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4" name="Notes Placeholder 2">
            <a:extLst>
              <a:ext uri="{FF2B5EF4-FFF2-40B4-BE49-F238E27FC236}">
                <a16:creationId xmlns:a16="http://schemas.microsoft.com/office/drawing/2014/main" id="{7DA18075-AF9F-3745-A246-5E33B69535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Book Antiqua" panose="0204060205030503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751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130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355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946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413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056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EED5A21F-56B5-6D4F-B7B0-375D02B59E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Osaka" panose="020B0600000000000000" pitchFamily="34" charset="-128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30B71A-DA67-FE46-8195-233E0086B74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saka" panose="020B0600000000000000" pitchFamily="34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Osaka" panose="020B0600000000000000" pitchFamily="34" charset="-128"/>
              <a:cs typeface="+mn-cs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64A4CEE6-4FCB-7149-9954-2A85805E72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3E47FE7-C13B-4348-840A-C3A7273588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6955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CDD5A-FEC8-E74B-8A94-9F0DB1AE95A3}"/>
              </a:ext>
            </a:extLst>
          </p:cNvPr>
          <p:cNvCxnSpPr/>
          <p:nvPr/>
        </p:nvCxnSpPr>
        <p:spPr>
          <a:xfrm>
            <a:off x="685800" y="3398838"/>
            <a:ext cx="78486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168660E-8ECE-7144-86DF-87B48A0B8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D8DD584-F5C3-CE41-9506-9FD041074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4B42F7-CD5A-8C47-BD96-0545CF829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F5E16D9-FAD3-8343-A574-279BC8894A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509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CBE16-87FB-024F-8667-128DD81B0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9776A-9A07-4243-88CB-BFF348A2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29894-D723-9B4B-9E60-BE354F05F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FFECAE-5558-FC4F-A5D5-814DD61349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4751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CACA102-DDA1-DC44-A6FC-7A58C154E3F8}"/>
              </a:ext>
            </a:extLst>
          </p:cNvPr>
          <p:cNvCxnSpPr/>
          <p:nvPr/>
        </p:nvCxnSpPr>
        <p:spPr>
          <a:xfrm>
            <a:off x="731838" y="4598988"/>
            <a:ext cx="78486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/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8BD3862-5F17-CF44-8DB4-162A339F9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B6C0AE4-23CD-D648-B943-B406F109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08E2B5-8975-774E-9099-896EDBE4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851FCD7-60BF-0443-9D82-274D5A41A9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46643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CDF3B8C-B363-B74C-83EE-8A31D6CCB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19E2DE4-AC38-B645-8E19-91AFFA178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6131C8C-84EA-1248-82D0-0B3F51EB4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4FB8D5-209A-354C-A23E-7F23A4B35F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748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5B07ED-3669-4B42-81D8-66BBEF2F7F18}"/>
              </a:ext>
            </a:extLst>
          </p:cNvPr>
          <p:cNvCxnSpPr/>
          <p:nvPr/>
        </p:nvCxnSpPr>
        <p:spPr>
          <a:xfrm rot="5400000">
            <a:off x="2218531" y="4045744"/>
            <a:ext cx="4708525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99919383-94F9-4647-8290-08165BC82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37189A5C-A5B9-8A4B-8617-C5D6E37E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3D8AA3B-37B7-5444-869E-D674D263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6CE7853-A0A6-444C-840C-D63A1B5101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5674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BD6B3B7-2557-2A4F-B7FC-0E7459536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C6BEE12-FEEF-0D43-900C-D971C617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58CFEF7-C9E1-284D-B996-4F8A06FA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079FF-467D-6D41-A1F4-C32363388C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162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9494C39-4D5D-E149-84F3-07A849102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8EDD62F-3058-6740-89FE-D6A8ADE43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686ED7D-0E8A-604C-9FD7-1EB6A03F8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330214-C1B0-274F-B99E-7FB2C72794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395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B7D8BF-4077-8544-897A-A202D01978F9}"/>
              </a:ext>
            </a:extLst>
          </p:cNvPr>
          <p:cNvCxnSpPr/>
          <p:nvPr/>
        </p:nvCxnSpPr>
        <p:spPr>
          <a:xfrm rot="5400000">
            <a:off x="-13494" y="3580607"/>
            <a:ext cx="5578475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6A2EF62-737B-3E4C-908A-80A99C943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A7436DC-F284-5949-B7BA-4AA37FD4A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E930B4BC-7EED-8342-A1BD-4A17C5F1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7CFDA24-9594-0E41-8AF7-A187F9F527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0070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50BB1C6-097F-3C42-A33F-1F1B6C36E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4FBA4F0-4D0A-A64B-84AE-1C0E9C7AB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3898FA1-B2FD-DE47-BEB8-CE463510C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FCAA1-8A8A-6A49-B2E5-05A39EBF64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4469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4687A-9899-7845-8A17-8B85C5EAE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35466-830B-4242-B0FD-C47878003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4C0B0-9465-0B4F-A47F-5BAA7BEE0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F8F63-C206-6F46-8B8A-B5AD3BBB21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3802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6C9E6-01D3-814C-A399-2C11C31B8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DE167-D490-5646-BA44-469DBA765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8A4AC-74A9-3945-A7C0-679F87F0B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04F972-602B-F04A-BF83-2471432BF8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6825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BF95BF-52DD-7040-BBE0-65305A53ED8F}"/>
              </a:ext>
            </a:extLst>
          </p:cNvPr>
          <p:cNvSpPr/>
          <p:nvPr/>
        </p:nvSpPr>
        <p:spPr>
          <a:xfrm>
            <a:off x="0" y="220663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4CC057-C9FB-8249-BE44-B93F2594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9E46DAB4-0618-EC44-969F-CBC328E9929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54919F-5409-6E45-B80E-25314159942D}"/>
              </a:ext>
            </a:extLst>
          </p:cNvPr>
          <p:cNvSpPr/>
          <p:nvPr/>
        </p:nvSpPr>
        <p:spPr>
          <a:xfrm>
            <a:off x="0" y="0"/>
            <a:ext cx="9144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1D3B3-9536-7B41-8EAB-F406F1CD90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19050"/>
            <a:ext cx="28956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  <a:latin typeface="Book Antiqu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Monday, January 30, 17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E581D-B9A6-D64C-ABC9-74DDA3CD2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0" y="19050"/>
            <a:ext cx="41148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FFFFF"/>
                </a:solidFill>
                <a:latin typeface="Book Antiqu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D885B-B15E-0B46-9712-27FA12704D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0" y="19050"/>
            <a:ext cx="1066800" cy="3286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400" b="1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5740777-AA5D-AC4C-B229-82B7C56FA2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58" r:id="rId2"/>
    <p:sldLayoutId id="2147483866" r:id="rId3"/>
    <p:sldLayoutId id="2147483859" r:id="rId4"/>
    <p:sldLayoutId id="2147483867" r:id="rId5"/>
    <p:sldLayoutId id="2147483860" r:id="rId6"/>
    <p:sldLayoutId id="2147483861" r:id="rId7"/>
    <p:sldLayoutId id="2147483868" r:id="rId8"/>
    <p:sldLayoutId id="2147483862" r:id="rId9"/>
    <p:sldLayoutId id="2147483863" r:id="rId10"/>
    <p:sldLayoutId id="2147483864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 spc="-1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182563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457200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730250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004888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187450" indent="-1365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image" Target="../media/image41.emf"/><Relationship Id="rId7" Type="http://schemas.openxmlformats.org/officeDocument/2006/relationships/image" Target="../media/image45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emf"/><Relationship Id="rId5" Type="http://schemas.openxmlformats.org/officeDocument/2006/relationships/image" Target="../media/image43.emf"/><Relationship Id="rId4" Type="http://schemas.openxmlformats.org/officeDocument/2006/relationships/image" Target="../media/image42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CEE3BF6E-8403-994A-A732-A43CB0A3C60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33400" y="3657600"/>
            <a:ext cx="7772400" cy="3048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sz="2800" cap="none" dirty="0">
                <a:ea typeface="+mj-ea"/>
                <a:cs typeface="+mj-cs"/>
              </a:rPr>
            </a:br>
            <a:r>
              <a:rPr lang="en-US" sz="2800" b="1" cap="none" dirty="0">
                <a:solidFill>
                  <a:schemeClr val="tx1"/>
                </a:solidFill>
                <a:ea typeface="+mj-ea"/>
                <a:cs typeface="+mj-cs"/>
              </a:rPr>
              <a:t>David Hoff</a:t>
            </a:r>
            <a:br>
              <a:rPr lang="en-US" sz="2800" b="1" cap="none" dirty="0">
                <a:solidFill>
                  <a:schemeClr val="tx1"/>
                </a:solidFill>
                <a:ea typeface="+mj-ea"/>
                <a:cs typeface="+mj-cs"/>
              </a:rPr>
            </a:br>
            <a:r>
              <a:rPr lang="en-US" sz="2800" b="1" cap="none" dirty="0">
                <a:solidFill>
                  <a:schemeClr val="tx1"/>
                </a:solidFill>
                <a:ea typeface="+mj-ea"/>
                <a:cs typeface="+mj-cs"/>
              </a:rPr>
              <a:t>Maria </a:t>
            </a:r>
            <a:r>
              <a:rPr lang="en-US" sz="2800" b="1" cap="none" dirty="0" err="1">
                <a:solidFill>
                  <a:schemeClr val="tx1"/>
                </a:solidFill>
                <a:ea typeface="+mj-ea"/>
                <a:cs typeface="+mj-cs"/>
              </a:rPr>
              <a:t>Paiewonsky</a:t>
            </a:r>
            <a:b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</a:br>
            <a: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  <a:t>Institute for Community Inclusion</a:t>
            </a:r>
            <a:b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</a:br>
            <a: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  <a:t>University of Massachusetts, Boston</a:t>
            </a:r>
            <a:b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</a:br>
            <a:r>
              <a:rPr lang="en-US" sz="2400" cap="none" dirty="0" err="1">
                <a:solidFill>
                  <a:schemeClr val="tx1"/>
                </a:solidFill>
                <a:ea typeface="+mj-ea"/>
                <a:cs typeface="+mj-cs"/>
              </a:rPr>
              <a:t>www.communityinclusion.org</a:t>
            </a:r>
            <a:b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</a:br>
            <a:b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</a:br>
            <a:br>
              <a:rPr lang="en-US" sz="1200" cap="none" dirty="0">
                <a:solidFill>
                  <a:schemeClr val="tx1"/>
                </a:solidFill>
                <a:ea typeface="+mj-ea"/>
                <a:cs typeface="+mj-cs"/>
              </a:rPr>
            </a:br>
            <a:r>
              <a:rPr lang="en-US" sz="2400" cap="none" dirty="0">
                <a:solidFill>
                  <a:schemeClr val="tx1"/>
                </a:solidFill>
                <a:ea typeface="+mj-ea"/>
                <a:cs typeface="+mj-cs"/>
              </a:rPr>
              <a:t>	</a:t>
            </a:r>
            <a:endParaRPr lang="en-US" cap="none" dirty="0">
              <a:ea typeface="+mj-ea"/>
              <a:cs typeface="+mj-cs"/>
            </a:endParaRPr>
          </a:p>
        </p:txBody>
      </p:sp>
      <p:sp>
        <p:nvSpPr>
          <p:cNvPr id="15363" name="Slide Number Placeholder 1">
            <a:extLst>
              <a:ext uri="{FF2B5EF4-FFF2-40B4-BE49-F238E27FC236}">
                <a16:creationId xmlns:a16="http://schemas.microsoft.com/office/drawing/2014/main" id="{29AF6206-E8DA-FA4D-BAFF-B82E1BBE5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fld id="{D13CD3AA-43CE-6C47-8EC8-265ED149D4D2}" type="slidenum">
              <a:rPr lang="en-US" altLang="en-US" sz="1400">
                <a:solidFill>
                  <a:srgbClr val="FFFFFF"/>
                </a:solidFill>
              </a:rPr>
              <a:pPr/>
              <a:t>1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pic>
        <p:nvPicPr>
          <p:cNvPr id="15364" name="Picture 2">
            <a:extLst>
              <a:ext uri="{FF2B5EF4-FFF2-40B4-BE49-F238E27FC236}">
                <a16:creationId xmlns:a16="http://schemas.microsoft.com/office/drawing/2014/main" id="{128EB381-3A76-7345-A88A-AD849C71D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9350" y="5562600"/>
            <a:ext cx="372745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48078F-4FB4-F848-9AD3-CAF68258F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926" y="1350918"/>
            <a:ext cx="2224545" cy="14654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CA4083-8BC0-9945-AB3D-9B9B9A717091}"/>
              </a:ext>
            </a:extLst>
          </p:cNvPr>
          <p:cNvSpPr txBox="1"/>
          <p:nvPr/>
        </p:nvSpPr>
        <p:spPr>
          <a:xfrm>
            <a:off x="290053" y="1174025"/>
            <a:ext cx="65308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Students with Disabilities: Legal &amp; Practical Issues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2A449-2E6A-6549-B4B3-352E6EE44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200400"/>
            <a:ext cx="6189864" cy="3489614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Students with Disabilities:</a:t>
            </a:r>
            <a:br>
              <a:rPr lang="en-US" b="1" dirty="0"/>
            </a:br>
            <a:r>
              <a:rPr lang="en-US" b="1" dirty="0"/>
              <a:t>Legal and Practical Issues</a:t>
            </a:r>
            <a:br>
              <a:rPr lang="en-US" b="1" dirty="0"/>
            </a:b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Disability Overview and Etiquette</a:t>
            </a:r>
            <a:br>
              <a:rPr lang="en-US" b="1" dirty="0"/>
            </a:br>
            <a:r>
              <a:rPr lang="en-US" i="1" dirty="0"/>
              <a:t>(January 7th - 3:00 to 4:15)</a:t>
            </a:r>
            <a:br>
              <a:rPr lang="en-US" b="1" dirty="0"/>
            </a:br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Universal Design</a:t>
            </a:r>
            <a:br>
              <a:rPr lang="en-US" b="1" dirty="0"/>
            </a:br>
            <a:r>
              <a:rPr lang="en-US" i="1" dirty="0"/>
              <a:t>(January 22</a:t>
            </a:r>
            <a:r>
              <a:rPr lang="en-US" i="1" baseline="30000" dirty="0"/>
              <a:t>nd</a:t>
            </a:r>
            <a:r>
              <a:rPr lang="en-US" i="1" dirty="0"/>
              <a:t> -  3:00 to 4:15)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36A52-24F4-7E46-9A82-FFDBEA3C7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pic>
        <p:nvPicPr>
          <p:cNvPr id="6" name="Picture 5" descr="A picture containing brush&#10;&#10;Description automatically generated">
            <a:extLst>
              <a:ext uri="{FF2B5EF4-FFF2-40B4-BE49-F238E27FC236}">
                <a16:creationId xmlns:a16="http://schemas.microsoft.com/office/drawing/2014/main" id="{D0E3BE2B-650C-EE49-85E1-956DE4DFF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289084"/>
            <a:ext cx="4377309" cy="32337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C2ED20-AFEC-504D-BA58-DEE095A5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754" y="1219200"/>
            <a:ext cx="3907346" cy="1752600"/>
          </a:xfrm>
        </p:spPr>
        <p:txBody>
          <a:bodyPr>
            <a:normAutofit/>
          </a:bodyPr>
          <a:lstStyle/>
          <a:p>
            <a:pPr algn="ctr"/>
            <a:r>
              <a:rPr lang="en-US" sz="26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Part 1 of a</a:t>
            </a:r>
            <a:br>
              <a:rPr lang="en-US" sz="26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r>
              <a:rPr lang="en-US" sz="26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3-Part Webinar</a:t>
            </a:r>
            <a:br>
              <a:rPr lang="en-US" sz="26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r>
              <a:rPr lang="en-US" sz="26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Series</a:t>
            </a:r>
          </a:p>
        </p:txBody>
      </p:sp>
    </p:spTree>
    <p:extLst>
      <p:ext uri="{BB962C8B-B14F-4D97-AF65-F5344CB8AC3E}">
        <p14:creationId xmlns:p14="http://schemas.microsoft.com/office/powerpoint/2010/main" val="222793906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01739-6544-6548-A4EB-F7369C8E8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0" y="1181100"/>
            <a:ext cx="4724400" cy="5334000"/>
          </a:xfrm>
        </p:spPr>
        <p:txBody>
          <a:bodyPr/>
          <a:lstStyle/>
          <a:p>
            <a:r>
              <a:rPr lang="en-US" dirty="0"/>
              <a:t>What issues have you encountered regarding students with disabilities?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What questions do you have regarding meeting the needs of students with disabilities?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97AA3-6B5F-424B-9CA5-BD8CF1AEE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41FABDAA-9DC3-9D4F-B1BA-9CD0DD4BF6FC}"/>
              </a:ext>
            </a:extLst>
          </p:cNvPr>
          <p:cNvSpPr/>
          <p:nvPr/>
        </p:nvSpPr>
        <p:spPr>
          <a:xfrm>
            <a:off x="481012" y="1066800"/>
            <a:ext cx="3048000" cy="1295400"/>
          </a:xfrm>
          <a:prstGeom prst="homePlate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cap="small" dirty="0"/>
              <a:t>Discussion</a:t>
            </a:r>
          </a:p>
        </p:txBody>
      </p:sp>
      <p:pic>
        <p:nvPicPr>
          <p:cNvPr id="7" name="Picture 6" descr="A picture containing small, toy, standing&#10;&#10;Description automatically generated">
            <a:extLst>
              <a:ext uri="{FF2B5EF4-FFF2-40B4-BE49-F238E27FC236}">
                <a16:creationId xmlns:a16="http://schemas.microsoft.com/office/drawing/2014/main" id="{D4E5CB94-187B-0C46-95D1-71212BDC1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82" y="3429000"/>
            <a:ext cx="3392746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62889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C08D9-A2B2-A34F-8FD8-FDCAABD8F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cap="small" dirty="0"/>
              <a:t>Legal protections for students with disabilities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5EAF5-340C-C44F-8C7C-E18FC4B25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1905000"/>
          </a:xfrm>
        </p:spPr>
        <p:txBody>
          <a:bodyPr/>
          <a:lstStyle/>
          <a:p>
            <a:r>
              <a:rPr lang="en-US" b="1" dirty="0"/>
              <a:t>Americans with Disabilities Act (ADA):</a:t>
            </a:r>
            <a:br>
              <a:rPr lang="en-US" b="1" dirty="0"/>
            </a:br>
            <a:r>
              <a:rPr lang="en-US" dirty="0"/>
              <a:t>applies to any program receiving state or local funds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Section 504 of the Rehabilitation Act:</a:t>
            </a:r>
            <a:br>
              <a:rPr lang="en-US" b="1" dirty="0"/>
            </a:br>
            <a:r>
              <a:rPr lang="en-US" dirty="0"/>
              <a:t>applies to any program receiving federal funds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5FB25-4DA4-6945-8508-46BE9A776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F1283-0AD3-134A-B7F1-16810DF0534B}"/>
              </a:ext>
            </a:extLst>
          </p:cNvPr>
          <p:cNvSpPr txBox="1"/>
          <p:nvPr/>
        </p:nvSpPr>
        <p:spPr>
          <a:xfrm>
            <a:off x="1600200" y="4800600"/>
            <a:ext cx="5638800" cy="954107"/>
          </a:xfrm>
          <a:prstGeom prst="rect">
            <a:avLst/>
          </a:prstGeom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i="1" dirty="0"/>
              <a:t>Requirements are virtually</a:t>
            </a:r>
            <a:br>
              <a:rPr lang="en-US" sz="2800" b="1" i="1" dirty="0"/>
            </a:br>
            <a:r>
              <a:rPr lang="en-US" sz="2800" b="1" i="1" dirty="0"/>
              <a:t>the same under both</a:t>
            </a:r>
          </a:p>
        </p:txBody>
      </p:sp>
    </p:spTree>
    <p:extLst>
      <p:ext uri="{BB962C8B-B14F-4D97-AF65-F5344CB8AC3E}">
        <p14:creationId xmlns:p14="http://schemas.microsoft.com/office/powerpoint/2010/main" val="2679416241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>
            <a:extLst>
              <a:ext uri="{FF2B5EF4-FFF2-40B4-BE49-F238E27FC236}">
                <a16:creationId xmlns:a16="http://schemas.microsoft.com/office/drawing/2014/main" id="{83824476-C7D6-D94D-B055-651240373A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7162800" cy="4343400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000" dirty="0">
              <a:latin typeface="Arial Narrow" charset="0"/>
              <a:cs typeface="Arial Narrow" charset="0"/>
            </a:endParaRPr>
          </a:p>
          <a:p>
            <a:pPr marL="182880" indent="-182880" eaLnBrk="1" fontAlgn="auto" hangingPunct="1">
              <a:spcAft>
                <a:spcPts val="0"/>
              </a:spcAft>
              <a:defRPr/>
            </a:pPr>
            <a:r>
              <a:rPr lang="en-US" sz="2800" dirty="0">
                <a:latin typeface="Arial Narrow" charset="0"/>
                <a:cs typeface="Arial Narrow" charset="0"/>
              </a:rPr>
              <a:t>Guarantee civil rights of people with disabilities</a:t>
            </a:r>
            <a:br>
              <a:rPr lang="en-US" sz="2800" dirty="0">
                <a:latin typeface="Arial Narrow" charset="0"/>
                <a:cs typeface="Arial Narrow" charset="0"/>
              </a:rPr>
            </a:br>
            <a:r>
              <a:rPr lang="en-US" sz="2800" dirty="0">
                <a:latin typeface="Arial Narrow" charset="0"/>
                <a:cs typeface="Arial Narrow" charset="0"/>
              </a:rPr>
              <a:t>by prohibiting discrimination in</a:t>
            </a:r>
          </a:p>
          <a:p>
            <a:pPr marL="457517" lvl="1" indent="-182880" eaLnBrk="1" fontAlgn="auto" hangingPunct="1">
              <a:spcBef>
                <a:spcPts val="1776"/>
              </a:spcBef>
              <a:spcAft>
                <a:spcPts val="0"/>
              </a:spcAft>
              <a:defRPr/>
            </a:pPr>
            <a:r>
              <a:rPr lang="en-US" sz="2400" dirty="0">
                <a:latin typeface="Arial Narrow" charset="0"/>
                <a:cs typeface="Arial Narrow" charset="0"/>
              </a:rPr>
              <a:t>Employment (Title I)</a:t>
            </a:r>
          </a:p>
          <a:p>
            <a:pPr marL="457517" lvl="1" indent="-182880" eaLnBrk="1" fontAlgn="auto" hangingPunct="1">
              <a:spcBef>
                <a:spcPts val="1776"/>
              </a:spcBef>
              <a:spcAft>
                <a:spcPts val="0"/>
              </a:spcAft>
              <a:defRPr/>
            </a:pPr>
            <a:r>
              <a:rPr lang="en-US" sz="2400" dirty="0">
                <a:latin typeface="Arial Narrow" charset="0"/>
                <a:cs typeface="Arial Narrow" charset="0"/>
              </a:rPr>
              <a:t>Public services (Title II)</a:t>
            </a:r>
          </a:p>
          <a:p>
            <a:pPr marL="457517" lvl="1" indent="-182880" eaLnBrk="1" fontAlgn="auto" hangingPunct="1">
              <a:spcBef>
                <a:spcPts val="1776"/>
              </a:spcBef>
              <a:spcAft>
                <a:spcPts val="0"/>
              </a:spcAft>
              <a:defRPr/>
            </a:pPr>
            <a:r>
              <a:rPr lang="en-US" sz="2400" dirty="0">
                <a:latin typeface="Arial Narrow" charset="0"/>
                <a:cs typeface="Arial Narrow" charset="0"/>
              </a:rPr>
              <a:t>Transportation (Title II &amp; III)</a:t>
            </a:r>
          </a:p>
          <a:p>
            <a:pPr marL="457517" lvl="1" indent="-182880" eaLnBrk="1" fontAlgn="auto" hangingPunct="1">
              <a:spcBef>
                <a:spcPts val="1776"/>
              </a:spcBef>
              <a:spcAft>
                <a:spcPts val="0"/>
              </a:spcAft>
              <a:defRPr/>
            </a:pPr>
            <a:r>
              <a:rPr lang="en-US" sz="2400" dirty="0">
                <a:latin typeface="Arial Narrow" charset="0"/>
                <a:cs typeface="Arial Narrow" charset="0"/>
              </a:rPr>
              <a:t>Public accommodations (Title III)</a:t>
            </a:r>
          </a:p>
          <a:p>
            <a:pPr marL="457517" lvl="1" indent="-182880" eaLnBrk="1" fontAlgn="auto" hangingPunct="1">
              <a:spcBef>
                <a:spcPts val="1776"/>
              </a:spcBef>
              <a:spcAft>
                <a:spcPts val="0"/>
              </a:spcAft>
              <a:defRPr/>
            </a:pPr>
            <a:r>
              <a:rPr lang="en-US" sz="2400" dirty="0">
                <a:latin typeface="Arial Narrow" charset="0"/>
                <a:cs typeface="Arial Narrow" charset="0"/>
              </a:rPr>
              <a:t>Telecommunications (Title IV)</a:t>
            </a:r>
          </a:p>
          <a:p>
            <a:pPr lvl="1" indent="-182880" eaLnBrk="1" fontAlgn="auto" hangingPunct="1">
              <a:lnSpc>
                <a:spcPts val="2800"/>
              </a:lnSpc>
              <a:spcAft>
                <a:spcPts val="0"/>
              </a:spcAft>
              <a:buFont typeface="Wingdings" charset="2"/>
              <a:buChar char="Ø"/>
              <a:defRPr/>
            </a:pPr>
            <a:endParaRPr lang="en-US" dirty="0">
              <a:latin typeface="Arial Narrow" charset="0"/>
              <a:cs typeface="Arial Narrow" charset="0"/>
            </a:endParaRPr>
          </a:p>
        </p:txBody>
      </p:sp>
      <p:pic>
        <p:nvPicPr>
          <p:cNvPr id="32770" name="Picture 1" descr="newadalogo.gif">
            <a:extLst>
              <a:ext uri="{FF2B5EF4-FFF2-40B4-BE49-F238E27FC236}">
                <a16:creationId xmlns:a16="http://schemas.microsoft.com/office/drawing/2014/main" id="{C1477D65-0854-5E41-8DFC-FD453911ED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733800"/>
            <a:ext cx="2743200" cy="2674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Slide Number Placeholder 1">
            <a:extLst>
              <a:ext uri="{FF2B5EF4-FFF2-40B4-BE49-F238E27FC236}">
                <a16:creationId xmlns:a16="http://schemas.microsoft.com/office/drawing/2014/main" id="{85A1C389-CC59-D044-9510-95B0ED153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fld id="{27A25909-E1C5-DD43-9420-9EA17124B412}" type="slidenum">
              <a:rPr lang="en-US" altLang="en-US" sz="1400">
                <a:solidFill>
                  <a:srgbClr val="FFFFFF"/>
                </a:solidFill>
              </a:rPr>
              <a:pPr/>
              <a:t>5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D1D852B-82FE-E944-B8C2-F6626F0C0D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wrap="square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altLang="en-US" sz="3600" b="1" i="1" dirty="0">
                <a:ea typeface="ＭＳ Ｐゴシック" panose="020B0600070205080204" pitchFamily="34" charset="-128"/>
              </a:rPr>
              <a:t>Purpose of the ADA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8D42CF21-3FAA-604B-9F6C-9780F55BD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021" y="838200"/>
            <a:ext cx="4835979" cy="5543550"/>
          </a:xfrm>
        </p:spPr>
        <p:txBody>
          <a:bodyPr/>
          <a:lstStyle/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en-US" altLang="en-US" sz="2800" dirty="0">
                <a:ea typeface="ＭＳ Ｐゴシック" panose="020B0600070205080204" pitchFamily="34" charset="-128"/>
              </a:rPr>
              <a:t>A physical or mental impairment that substantially limits one or more </a:t>
            </a:r>
            <a:r>
              <a:rPr lang="en-US" altLang="en-US" sz="2800" b="1" i="1" dirty="0">
                <a:ea typeface="ＭＳ Ｐゴシック" panose="020B0600070205080204" pitchFamily="34" charset="-128"/>
              </a:rPr>
              <a:t>major life activities</a:t>
            </a:r>
          </a:p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en-US" altLang="en-US" sz="2800" dirty="0">
                <a:ea typeface="ＭＳ Ｐゴシック" panose="020B0600070205080204" pitchFamily="34" charset="-128"/>
              </a:rPr>
              <a:t>A record of such an impairment</a:t>
            </a:r>
          </a:p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en-US" altLang="en-US" sz="2800" dirty="0">
                <a:ea typeface="ＭＳ Ｐゴシック" panose="020B0600070205080204" pitchFamily="34" charset="-128"/>
              </a:rPr>
              <a:t>Being regarded as having such an impairment, even when no limitations exist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3795" name="Slide Number Placeholder 1">
            <a:extLst>
              <a:ext uri="{FF2B5EF4-FFF2-40B4-BE49-F238E27FC236}">
                <a16:creationId xmlns:a16="http://schemas.microsoft.com/office/drawing/2014/main" id="{5E4D52A0-A54A-D941-9468-6A770ECA5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fld id="{DFD85E07-134C-3446-B703-EC38792F86BB}" type="slidenum">
              <a:rPr lang="en-US" altLang="en-US" sz="1400">
                <a:solidFill>
                  <a:srgbClr val="FFFFFF"/>
                </a:solidFill>
              </a:rPr>
              <a:pPr/>
              <a:t>6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79707A-6851-434C-9A60-5AB5F7342677}"/>
              </a:ext>
            </a:extLst>
          </p:cNvPr>
          <p:cNvSpPr txBox="1"/>
          <p:nvPr/>
        </p:nvSpPr>
        <p:spPr>
          <a:xfrm>
            <a:off x="381000" y="990600"/>
            <a:ext cx="3050721" cy="1754326"/>
          </a:xfrm>
          <a:prstGeom prst="rect">
            <a:avLst/>
          </a:prstGeom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 prst="angle"/>
            <a:contourClr>
              <a:schemeClr val="accent6">
                <a:shade val="30000"/>
                <a:satMod val="130000"/>
              </a:schemeClr>
            </a:contourClr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b="1" u="sng" dirty="0"/>
              <a:t>Disability</a:t>
            </a:r>
            <a:br>
              <a:rPr lang="en-US" sz="3600" b="1" u="sng" dirty="0"/>
            </a:br>
            <a:r>
              <a:rPr lang="en-US" sz="3600" i="1" dirty="0"/>
              <a:t>as defined by the ADA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4">
            <a:extLst>
              <a:ext uri="{FF2B5EF4-FFF2-40B4-BE49-F238E27FC236}">
                <a16:creationId xmlns:a16="http://schemas.microsoft.com/office/drawing/2014/main" id="{0B4B8AFE-D51A-FB4D-9A6D-647285359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895600"/>
            <a:ext cx="1838325" cy="267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 b="1">
                <a:latin typeface="Helvetica" pitchFamily="2" charset="0"/>
                <a:ea typeface="Osaka" panose="020B0600000000000000" pitchFamily="34" charset="-128"/>
              </a:rPr>
              <a:t> SEE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 b="1">
                <a:latin typeface="Helvetica" pitchFamily="2" charset="0"/>
                <a:ea typeface="Osaka" panose="020B0600000000000000" pitchFamily="34" charset="-128"/>
              </a:rPr>
              <a:t> SPEAK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 b="1">
                <a:latin typeface="Helvetica" pitchFamily="2" charset="0"/>
                <a:ea typeface="Osaka" panose="020B0600000000000000" pitchFamily="34" charset="-128"/>
              </a:rPr>
              <a:t> WALK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 b="1">
                <a:latin typeface="Helvetica" pitchFamily="2" charset="0"/>
                <a:ea typeface="Osaka" panose="020B0600000000000000" pitchFamily="34" charset="-128"/>
              </a:rPr>
              <a:t> TALK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 b="1">
                <a:latin typeface="Helvetica" pitchFamily="2" charset="0"/>
                <a:ea typeface="Osaka" panose="020B0600000000000000" pitchFamily="34" charset="-128"/>
              </a:rPr>
              <a:t> EAT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 b="1">
                <a:latin typeface="Helvetica" pitchFamily="2" charset="0"/>
                <a:ea typeface="Osaka" panose="020B0600000000000000" pitchFamily="34" charset="-128"/>
              </a:rPr>
              <a:t> SLEEP</a:t>
            </a:r>
          </a:p>
        </p:txBody>
      </p:sp>
      <p:sp>
        <p:nvSpPr>
          <p:cNvPr id="35842" name="Rectangle 5">
            <a:extLst>
              <a:ext uri="{FF2B5EF4-FFF2-40B4-BE49-F238E27FC236}">
                <a16:creationId xmlns:a16="http://schemas.microsoft.com/office/drawing/2014/main" id="{CE401C1B-9AD9-9743-B4BD-1C2D89F97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819400"/>
            <a:ext cx="2438400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 b="1">
                <a:latin typeface="Helvetica" pitchFamily="2" charset="0"/>
                <a:ea typeface="Osaka" panose="020B0600000000000000" pitchFamily="34" charset="-128"/>
              </a:rPr>
              <a:t> WORK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 b="1">
                <a:latin typeface="Helvetica" pitchFamily="2" charset="0"/>
                <a:ea typeface="Osaka" panose="020B0600000000000000" pitchFamily="34" charset="-128"/>
              </a:rPr>
              <a:t> PERFORM</a:t>
            </a:r>
            <a:br>
              <a:rPr lang="en-US" altLang="en-US" sz="2000" b="1">
                <a:latin typeface="Helvetica" pitchFamily="2" charset="0"/>
                <a:ea typeface="Osaka" panose="020B0600000000000000" pitchFamily="34" charset="-128"/>
              </a:rPr>
            </a:br>
            <a:r>
              <a:rPr lang="en-US" altLang="en-US" sz="2000" b="1">
                <a:latin typeface="Helvetica" pitchFamily="2" charset="0"/>
                <a:ea typeface="Osaka" panose="020B0600000000000000" pitchFamily="34" charset="-128"/>
              </a:rPr>
              <a:t>  MANUAL TASKS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 b="1">
                <a:latin typeface="Helvetica" pitchFamily="2" charset="0"/>
                <a:ea typeface="Osaka" panose="020B0600000000000000" pitchFamily="34" charset="-128"/>
              </a:rPr>
              <a:t> LIFT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 b="1">
                <a:latin typeface="Helvetica" pitchFamily="2" charset="0"/>
                <a:ea typeface="Osaka" panose="020B0600000000000000" pitchFamily="34" charset="-128"/>
              </a:rPr>
              <a:t> BEND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 b="1">
                <a:latin typeface="Helvetica" pitchFamily="2" charset="0"/>
                <a:ea typeface="Osaka" panose="020B0600000000000000" pitchFamily="34" charset="-128"/>
              </a:rPr>
              <a:t> WALK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 b="1">
                <a:latin typeface="Helvetica" pitchFamily="2" charset="0"/>
                <a:ea typeface="Osaka" panose="020B0600000000000000" pitchFamily="34" charset="-128"/>
              </a:rPr>
              <a:t> STAND</a:t>
            </a:r>
          </a:p>
          <a:p>
            <a:pPr>
              <a:spcBef>
                <a:spcPct val="50000"/>
              </a:spcBef>
            </a:pPr>
            <a:endParaRPr lang="en-US" altLang="en-US" sz="2000" b="1">
              <a:latin typeface="Helvetica" pitchFamily="2" charset="0"/>
              <a:ea typeface="Osaka" panose="020B0600000000000000" pitchFamily="34" charset="-128"/>
            </a:endParaRPr>
          </a:p>
        </p:txBody>
      </p:sp>
      <p:sp>
        <p:nvSpPr>
          <p:cNvPr id="35843" name="Rectangle 5">
            <a:extLst>
              <a:ext uri="{FF2B5EF4-FFF2-40B4-BE49-F238E27FC236}">
                <a16:creationId xmlns:a16="http://schemas.microsoft.com/office/drawing/2014/main" id="{5C8522C4-4365-9640-AB33-E92260A0A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895600"/>
            <a:ext cx="2438400" cy="267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 b="1">
                <a:latin typeface="Helvetica" pitchFamily="2" charset="0"/>
                <a:ea typeface="Osaka" panose="020B0600000000000000" pitchFamily="34" charset="-128"/>
              </a:rPr>
              <a:t> BREATHE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 b="1">
                <a:latin typeface="Helvetica" pitchFamily="2" charset="0"/>
                <a:ea typeface="Osaka" panose="020B0600000000000000" pitchFamily="34" charset="-128"/>
              </a:rPr>
              <a:t> HEAR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 b="1">
                <a:latin typeface="Helvetica" pitchFamily="2" charset="0"/>
                <a:ea typeface="Osaka" panose="020B0600000000000000" pitchFamily="34" charset="-128"/>
              </a:rPr>
              <a:t> LEARN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 b="1">
                <a:latin typeface="Helvetica" pitchFamily="2" charset="0"/>
                <a:ea typeface="Osaka" panose="020B0600000000000000" pitchFamily="34" charset="-128"/>
              </a:rPr>
              <a:t> THINK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 b="1">
                <a:latin typeface="Helvetica" pitchFamily="2" charset="0"/>
                <a:ea typeface="Osaka" panose="020B0600000000000000" pitchFamily="34" charset="-128"/>
              </a:rPr>
              <a:t> READ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000" b="1">
                <a:latin typeface="Helvetica" pitchFamily="2" charset="0"/>
                <a:ea typeface="Osaka" panose="020B0600000000000000" pitchFamily="34" charset="-128"/>
              </a:rPr>
              <a:t> CONCENTRATE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3FDB9B-94B4-F946-97A1-2AF30F74B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6019800"/>
            <a:ext cx="8534400" cy="457200"/>
          </a:xfrm>
          <a:prstGeom prst="rect">
            <a:avLst/>
          </a:prstGeom>
          <a:gradFill rotWithShape="1">
            <a:gsLst>
              <a:gs pos="0">
                <a:srgbClr val="444B47"/>
              </a:gs>
              <a:gs pos="50000">
                <a:schemeClr val="accent1"/>
              </a:gs>
              <a:gs pos="100000">
                <a:srgbClr val="444B47"/>
              </a:gs>
            </a:gsLst>
            <a:lin ang="5400000" scaled="1"/>
          </a:gradFill>
          <a:ln>
            <a:noFill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b="1">
                <a:solidFill>
                  <a:schemeClr val="bg1"/>
                </a:solidFill>
                <a:latin typeface="Times New Roman" charset="0"/>
              </a:rPr>
              <a:t>Expanded under ADA Amendments Act of 2008</a:t>
            </a:r>
          </a:p>
        </p:txBody>
      </p:sp>
      <p:sp>
        <p:nvSpPr>
          <p:cNvPr id="35845" name="Rectangle 6">
            <a:extLst>
              <a:ext uri="{FF2B5EF4-FFF2-40B4-BE49-F238E27FC236}">
                <a16:creationId xmlns:a16="http://schemas.microsoft.com/office/drawing/2014/main" id="{E6DFE009-5D4B-9F4D-B722-0BD0B94A5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905000"/>
            <a:ext cx="6477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>
                <a:latin typeface="Times New Roman" panose="02020603050405020304" pitchFamily="18" charset="0"/>
              </a:rPr>
              <a:t>ANYTHING AN AVERAGE PERSON CAN DO WITH LITTLE OR NO DIFFICULTY, SUCH AS:</a:t>
            </a:r>
          </a:p>
        </p:txBody>
      </p:sp>
      <p:sp>
        <p:nvSpPr>
          <p:cNvPr id="91143" name="Rectangle 7">
            <a:extLst>
              <a:ext uri="{FF2B5EF4-FFF2-40B4-BE49-F238E27FC236}">
                <a16:creationId xmlns:a16="http://schemas.microsoft.com/office/drawing/2014/main" id="{41A15B06-F6E7-3F49-B486-521188554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766763"/>
            <a:ext cx="7772400" cy="1143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 anchor="ctr"/>
          <a:lstStyle>
            <a:lvl1pPr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en-US" altLang="ja-JP" sz="3200" b="1" dirty="0">
                <a:solidFill>
                  <a:srgbClr val="CF120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“MAJOR LIFE ACTIVITY</a:t>
            </a:r>
            <a:r>
              <a:rPr lang="ja-JP" altLang="en-US" sz="3200" b="1">
                <a:solidFill>
                  <a:srgbClr val="CF120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”</a:t>
            </a:r>
            <a:br>
              <a:rPr lang="en-US" altLang="ja-JP" sz="3200" b="1" dirty="0">
                <a:solidFill>
                  <a:srgbClr val="CF120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</a:br>
            <a:r>
              <a:rPr lang="en-US" altLang="ja-JP" sz="3200" b="1" dirty="0">
                <a:solidFill>
                  <a:srgbClr val="CF120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AS DEFINED BY THE ADA</a:t>
            </a:r>
            <a:endParaRPr lang="en-US" altLang="en-US" sz="3200" b="1" dirty="0">
              <a:solidFill>
                <a:srgbClr val="CF120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35847" name="Slide Number Placeholder 1">
            <a:extLst>
              <a:ext uri="{FF2B5EF4-FFF2-40B4-BE49-F238E27FC236}">
                <a16:creationId xmlns:a16="http://schemas.microsoft.com/office/drawing/2014/main" id="{A8F89A6E-C0A2-B648-A56F-FD4556C89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fld id="{69CA2018-A26A-AA43-8976-001771F478DA}" type="slidenum">
              <a:rPr lang="en-US" altLang="en-US" sz="1400">
                <a:solidFill>
                  <a:srgbClr val="FFFFFF"/>
                </a:solidFill>
              </a:rPr>
              <a:pPr/>
              <a:t>7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0B18FC26-ECAC-E448-A9C8-6AD7D31A3A5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52206" y="-152400"/>
            <a:ext cx="6091794" cy="2651351"/>
          </a:xfrm>
        </p:spPr>
        <p:txBody>
          <a:bodyPr wrap="square" numCol="1" anchorCtr="0" compatLnSpc="1">
            <a:prstTxWarp prst="textNoShape">
              <a:avLst/>
            </a:prstTxWarp>
            <a:noAutofit/>
          </a:bodyPr>
          <a:lstStyle/>
          <a:p>
            <a:pPr algn="ctr" eaLnBrk="1" hangingPunct="1">
              <a:defRPr/>
            </a:pPr>
            <a:br>
              <a:rPr lang="en-US" altLang="en-US" sz="3200" b="1" dirty="0">
                <a:solidFill>
                  <a:srgbClr val="C71103"/>
                </a:solidFill>
                <a:latin typeface="Arial Narrow" panose="020B0604020202020204" pitchFamily="34" charset="0"/>
                <a:ea typeface="ＭＳ Ｐゴシック" panose="020B0600070205080204" pitchFamily="34" charset="-128"/>
                <a:cs typeface="Arial Narrow" panose="020B0604020202020204" pitchFamily="34" charset="0"/>
              </a:rPr>
            </a:br>
            <a:br>
              <a:rPr lang="en-US" altLang="en-US" sz="3200" b="1" dirty="0">
                <a:solidFill>
                  <a:srgbClr val="C71103"/>
                </a:solidFill>
                <a:latin typeface="Arial Narrow" panose="020B0604020202020204" pitchFamily="34" charset="0"/>
                <a:ea typeface="ＭＳ Ｐゴシック" panose="020B0600070205080204" pitchFamily="34" charset="-128"/>
                <a:cs typeface="Arial Narrow" panose="020B0604020202020204" pitchFamily="34" charset="0"/>
              </a:rPr>
            </a:br>
            <a:r>
              <a:rPr lang="ja-JP" altLang="en-US" sz="3200" b="1">
                <a:solidFill>
                  <a:srgbClr val="C00000"/>
                </a:solidFill>
                <a:latin typeface="Arial Narrow" panose="020B0604020202020204" pitchFamily="34" charset="0"/>
                <a:ea typeface="ＭＳ Ｐゴシック" panose="020B0600070205080204" pitchFamily="34" charset="-128"/>
                <a:cs typeface="Arial Narrow" panose="020B0604020202020204" pitchFamily="34" charset="0"/>
              </a:rPr>
              <a:t>“</a:t>
            </a:r>
            <a:r>
              <a:rPr lang="en-US" altLang="ja-JP" sz="3200" b="1" dirty="0">
                <a:solidFill>
                  <a:srgbClr val="C00000"/>
                </a:solidFill>
                <a:latin typeface="Arial Narrow" panose="020B0604020202020204" pitchFamily="34" charset="0"/>
                <a:ea typeface="ＭＳ Ｐゴシック" panose="020B0600070205080204" pitchFamily="34" charset="-128"/>
                <a:cs typeface="Arial Narrow" panose="020B0604020202020204" pitchFamily="34" charset="0"/>
              </a:rPr>
              <a:t>Major Life Activity</a:t>
            </a:r>
            <a:r>
              <a:rPr lang="ja-JP" altLang="en-US" sz="3200" b="1">
                <a:solidFill>
                  <a:srgbClr val="C00000"/>
                </a:solidFill>
                <a:latin typeface="Arial Narrow" panose="020B0604020202020204" pitchFamily="34" charset="0"/>
                <a:ea typeface="ＭＳ Ｐゴシック" panose="020B0600070205080204" pitchFamily="34" charset="-128"/>
                <a:cs typeface="Arial Narrow" panose="020B0604020202020204" pitchFamily="34" charset="0"/>
              </a:rPr>
              <a:t>”</a:t>
            </a:r>
            <a:r>
              <a:rPr lang="en-US" altLang="ja-JP" sz="3200" b="1" dirty="0">
                <a:solidFill>
                  <a:srgbClr val="C00000"/>
                </a:solidFill>
                <a:latin typeface="Arial Narrow" panose="020B0604020202020204" pitchFamily="34" charset="0"/>
                <a:ea typeface="ＭＳ Ｐゴシック" panose="020B0600070205080204" pitchFamily="34" charset="-128"/>
                <a:cs typeface="Arial Narrow" panose="020B0604020202020204" pitchFamily="34" charset="0"/>
              </a:rPr>
              <a:t> </a:t>
            </a:r>
            <a:br>
              <a:rPr lang="en-US" altLang="ja-JP" sz="3200" b="1" dirty="0">
                <a:solidFill>
                  <a:srgbClr val="C00000"/>
                </a:solidFill>
                <a:latin typeface="Arial Narrow" panose="020B0604020202020204" pitchFamily="34" charset="0"/>
                <a:ea typeface="ＭＳ Ｐゴシック" panose="020B0600070205080204" pitchFamily="34" charset="-128"/>
                <a:cs typeface="Arial Narrow" panose="020B0604020202020204" pitchFamily="34" charset="0"/>
              </a:rPr>
            </a:br>
            <a:r>
              <a:rPr lang="en-US" altLang="ja-JP" sz="3200" b="1" dirty="0">
                <a:solidFill>
                  <a:schemeClr val="tx1"/>
                </a:solidFill>
                <a:latin typeface="Arial Narrow" panose="020B0604020202020204" pitchFamily="34" charset="0"/>
                <a:ea typeface="ＭＳ Ｐゴシック" panose="020B0600070205080204" pitchFamily="34" charset="-128"/>
                <a:cs typeface="Arial Narrow" panose="020B0604020202020204" pitchFamily="34" charset="0"/>
              </a:rPr>
              <a:t>also includes</a:t>
            </a:r>
            <a:br>
              <a:rPr lang="en-US" altLang="ja-JP" sz="3200" b="1" dirty="0">
                <a:solidFill>
                  <a:schemeClr val="tx1"/>
                </a:solidFill>
                <a:latin typeface="Arial Narrow" panose="020B0604020202020204" pitchFamily="34" charset="0"/>
                <a:ea typeface="ＭＳ Ｐゴシック" panose="020B0600070205080204" pitchFamily="34" charset="-128"/>
                <a:cs typeface="Arial Narrow" panose="020B0604020202020204" pitchFamily="34" charset="0"/>
              </a:rPr>
            </a:br>
            <a:r>
              <a:rPr lang="en-US" altLang="ja-JP" sz="3200" b="1" dirty="0">
                <a:solidFill>
                  <a:schemeClr val="tx1"/>
                </a:solidFill>
                <a:latin typeface="Arial Narrow" panose="020B0604020202020204" pitchFamily="34" charset="0"/>
                <a:ea typeface="ＭＳ Ｐゴシック" panose="020B0600070205080204" pitchFamily="34" charset="-128"/>
                <a:cs typeface="Arial Narrow" panose="020B0604020202020204" pitchFamily="34" charset="0"/>
              </a:rPr>
              <a:t>“</a:t>
            </a:r>
            <a:r>
              <a:rPr lang="en-US" altLang="ja-JP" sz="3200" b="1" i="1" dirty="0">
                <a:solidFill>
                  <a:schemeClr val="tx1"/>
                </a:solidFill>
                <a:latin typeface="Arial Narrow" panose="020B0604020202020204" pitchFamily="34" charset="0"/>
                <a:ea typeface="ＭＳ Ｐゴシック" panose="020B0600070205080204" pitchFamily="34" charset="-128"/>
                <a:cs typeface="Arial Narrow" panose="020B0604020202020204" pitchFamily="34" charset="0"/>
              </a:rPr>
              <a:t>operation of major bodily functions”</a:t>
            </a:r>
            <a:br>
              <a:rPr lang="en-US" altLang="ja-JP" sz="3200" b="1" i="1" dirty="0">
                <a:solidFill>
                  <a:schemeClr val="tx1"/>
                </a:solidFill>
                <a:latin typeface="Arial Narrow" panose="020B0604020202020204" pitchFamily="34" charset="0"/>
                <a:ea typeface="ＭＳ Ｐゴシック" panose="020B0600070205080204" pitchFamily="34" charset="-128"/>
                <a:cs typeface="Arial Narrow" panose="020B0604020202020204" pitchFamily="34" charset="0"/>
              </a:rPr>
            </a:br>
            <a:r>
              <a:rPr lang="en-US" altLang="ja-JP" sz="3200" b="1" dirty="0">
                <a:solidFill>
                  <a:schemeClr val="tx1"/>
                </a:solidFill>
                <a:latin typeface="Arial Narrow" panose="020B0604020202020204" pitchFamily="34" charset="0"/>
                <a:ea typeface="ＭＳ Ｐゴシック" panose="020B0600070205080204" pitchFamily="34" charset="-128"/>
                <a:cs typeface="Arial Narrow" panose="020B0604020202020204" pitchFamily="34" charset="0"/>
              </a:rPr>
              <a:t>such as:</a:t>
            </a:r>
            <a:endParaRPr lang="en-US" altLang="en-US" sz="3200" b="1" dirty="0">
              <a:solidFill>
                <a:schemeClr val="tx1"/>
              </a:solidFill>
              <a:latin typeface="Arial Narrow" panose="020B0604020202020204" pitchFamily="34" charset="0"/>
              <a:ea typeface="ＭＳ Ｐゴシック" panose="020B0600070205080204" pitchFamily="34" charset="-128"/>
              <a:cs typeface="Arial Narrow" panose="020B0604020202020204" pitchFamily="34" charset="0"/>
            </a:endParaRPr>
          </a:p>
        </p:txBody>
      </p:sp>
      <p:sp>
        <p:nvSpPr>
          <p:cNvPr id="36866" name="Slide Number Placeholder 1">
            <a:extLst>
              <a:ext uri="{FF2B5EF4-FFF2-40B4-BE49-F238E27FC236}">
                <a16:creationId xmlns:a16="http://schemas.microsoft.com/office/drawing/2014/main" id="{8681E73B-53D1-4542-925D-B087629FA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fld id="{4511747C-416E-574C-BBCE-2AD63AEE277A}" type="slidenum">
              <a:rPr lang="en-US" altLang="en-US" sz="1400">
                <a:solidFill>
                  <a:srgbClr val="FFFFFF"/>
                </a:solidFill>
              </a:rPr>
              <a:pPr/>
              <a:t>8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0A0B8A42-F76E-994E-8FBF-15256CD4F8C9}"/>
              </a:ext>
            </a:extLst>
          </p:cNvPr>
          <p:cNvSpPr>
            <a:spLocks/>
          </p:cNvSpPr>
          <p:nvPr/>
        </p:nvSpPr>
        <p:spPr bwMode="auto">
          <a:xfrm>
            <a:off x="4572000" y="2802731"/>
            <a:ext cx="3657600" cy="3521869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numCol="1"/>
          <a:lstStyle/>
          <a:p>
            <a:pPr marL="457200" indent="-457200" eaLnBrk="1" hangingPunct="1">
              <a:lnSpc>
                <a:spcPct val="90000"/>
              </a:lnSpc>
              <a:spcBef>
                <a:spcPct val="7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  <a:defRPr/>
            </a:pPr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Neurological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7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  <a:defRPr/>
            </a:pPr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Brain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7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  <a:defRPr/>
            </a:pPr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Respiratory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7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  <a:defRPr/>
            </a:pPr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Circulatory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7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  <a:defRPr/>
            </a:pPr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Reproductive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7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  <a:defRPr/>
            </a:pPr>
            <a:r>
              <a:rPr lang="en-US" sz="2800" dirty="0">
                <a:latin typeface="Arial" charset="0"/>
                <a:ea typeface="ＭＳ Ｐゴシック" charset="0"/>
                <a:cs typeface="ＭＳ Ｐゴシック" charset="0"/>
              </a:rPr>
              <a:t>Immune system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75000"/>
              </a:spcBef>
              <a:buClr>
                <a:schemeClr val="accent1"/>
              </a:buClr>
              <a:buSzPct val="75000"/>
              <a:buFont typeface="Monotype Sorts" charset="0"/>
              <a:buChar char=""/>
              <a:defRPr/>
            </a:pPr>
            <a:endParaRPr lang="en-US" b="1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AE7BBC-B1EB-614A-9692-E64FB8CC7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4" y="2634343"/>
            <a:ext cx="2895600" cy="37472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Pentagon 1">
            <a:extLst>
              <a:ext uri="{FF2B5EF4-FFF2-40B4-BE49-F238E27FC236}">
                <a16:creationId xmlns:a16="http://schemas.microsoft.com/office/drawing/2014/main" id="{143C4717-75E4-C147-9584-39C4C1B8B5E0}"/>
              </a:ext>
            </a:extLst>
          </p:cNvPr>
          <p:cNvSpPr/>
          <p:nvPr/>
        </p:nvSpPr>
        <p:spPr>
          <a:xfrm>
            <a:off x="76200" y="609600"/>
            <a:ext cx="3178629" cy="1519237"/>
          </a:xfrm>
          <a:prstGeom prst="homePlate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Per ADA Amendments Act of 2008</a:t>
            </a:r>
          </a:p>
        </p:txBody>
      </p:sp>
    </p:spTree>
    <p:extLst>
      <p:ext uri="{BB962C8B-B14F-4D97-AF65-F5344CB8AC3E}">
        <p14:creationId xmlns:p14="http://schemas.microsoft.com/office/powerpoint/2010/main" val="2296935529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ontent Placeholder 2">
            <a:extLst>
              <a:ext uri="{FF2B5EF4-FFF2-40B4-BE49-F238E27FC236}">
                <a16:creationId xmlns:a16="http://schemas.microsoft.com/office/drawing/2014/main" id="{6CF76A37-6C01-BD46-899E-FAE37797361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1771" y="2743200"/>
            <a:ext cx="7543800" cy="4267200"/>
          </a:xfrm>
        </p:spPr>
        <p:txBody>
          <a:bodyPr/>
          <a:lstStyle/>
          <a:p>
            <a:pPr marL="342900" indent="-342900" eaLnBrk="1" hangingPunct="1">
              <a:buFont typeface="Monotype Sorts" pitchFamily="2" charset="2"/>
              <a:buNone/>
            </a:pPr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marL="342900" indent="-342900" eaLnBrk="1" hangingPunct="1">
              <a:lnSpc>
                <a:spcPts val="3563"/>
              </a:lnSpc>
              <a:spcBef>
                <a:spcPct val="40000"/>
              </a:spcBef>
            </a:pPr>
            <a:r>
              <a:rPr lang="en-US" altLang="en-US" sz="2800" b="1" dirty="0">
                <a:ea typeface="ＭＳ Ｐゴシック" panose="020B0600070205080204" pitchFamily="34" charset="-128"/>
              </a:rPr>
              <a:t>ADA Amendments Act of 2008:</a:t>
            </a:r>
            <a:br>
              <a:rPr lang="en-US" altLang="en-US" sz="2800" b="1" dirty="0">
                <a:ea typeface="ＭＳ Ｐゴシック" panose="020B0600070205080204" pitchFamily="34" charset="-128"/>
              </a:rPr>
            </a:br>
            <a:r>
              <a:rPr lang="en-US" altLang="en-US" sz="2800" dirty="0">
                <a:ea typeface="ＭＳ Ｐゴシック" panose="020B0600070205080204" pitchFamily="34" charset="-128"/>
              </a:rPr>
              <a:t>narrow definition of disability </a:t>
            </a:r>
            <a:r>
              <a:rPr lang="en-US" altLang="en-US" sz="2800" i="1" dirty="0">
                <a:ea typeface="ＭＳ Ｐゴシック" panose="020B0600070205080204" pitchFamily="34" charset="-128"/>
              </a:rPr>
              <a:t>not permitted</a:t>
            </a:r>
            <a:br>
              <a:rPr lang="en-US" altLang="en-US" sz="2800" i="1" dirty="0">
                <a:ea typeface="ＭＳ Ｐゴシック" panose="020B0600070205080204" pitchFamily="34" charset="-128"/>
              </a:rPr>
            </a:br>
            <a:endParaRPr lang="en-US" altLang="en-US" sz="2800" i="1" dirty="0">
              <a:ea typeface="ＭＳ Ｐゴシック" panose="020B0600070205080204" pitchFamily="34" charset="-128"/>
            </a:endParaRPr>
          </a:p>
          <a:p>
            <a:pPr marL="342900" indent="-342900" eaLnBrk="1" hangingPunct="1">
              <a:lnSpc>
                <a:spcPts val="3563"/>
              </a:lnSpc>
              <a:spcBef>
                <a:spcPct val="40000"/>
              </a:spcBef>
            </a:pPr>
            <a:r>
              <a:rPr lang="en-US" altLang="en-US" sz="2800" dirty="0">
                <a:ea typeface="ＭＳ Ｐゴシック" panose="020B0600070205080204" pitchFamily="34" charset="-128"/>
              </a:rPr>
              <a:t>Definition of disability to be viewed in favor of broad coverage of individuals, to the maximum extent permitted by the ADA</a:t>
            </a:r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37891" name="Slide Number Placeholder 1">
            <a:extLst>
              <a:ext uri="{FF2B5EF4-FFF2-40B4-BE49-F238E27FC236}">
                <a16:creationId xmlns:a16="http://schemas.microsoft.com/office/drawing/2014/main" id="{6966CFE4-B398-B849-8BCE-F1D74313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fld id="{F19EC3D7-2244-2745-840E-1D2FCF74A8C9}" type="slidenum">
              <a:rPr lang="en-US" altLang="en-US" sz="1400">
                <a:solidFill>
                  <a:srgbClr val="FFFFFF"/>
                </a:solidFill>
              </a:rPr>
              <a:pPr/>
              <a:t>9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A2375-990A-A642-A1D7-12EF8730B073}"/>
              </a:ext>
            </a:extLst>
          </p:cNvPr>
          <p:cNvSpPr txBox="1"/>
          <p:nvPr/>
        </p:nvSpPr>
        <p:spPr>
          <a:xfrm flipH="1">
            <a:off x="-228600" y="509172"/>
            <a:ext cx="731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  <a:latin typeface="+mj-lt"/>
              </a:rPr>
              <a:t>Definition of Disability:</a:t>
            </a:r>
            <a:br>
              <a:rPr lang="en-US" sz="4800" b="1" dirty="0">
                <a:solidFill>
                  <a:srgbClr val="C00000"/>
                </a:solidFill>
                <a:latin typeface="+mj-lt"/>
              </a:rPr>
            </a:br>
            <a:r>
              <a:rPr lang="en-US" sz="4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+mj-lt"/>
              </a:rPr>
              <a:t>Broad, </a:t>
            </a:r>
            <a:r>
              <a:rPr lang="en-US" sz="4800" b="1" i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+mj-lt"/>
              </a:rPr>
              <a:t>Not Narrow</a:t>
            </a:r>
            <a:endParaRPr lang="en-US" sz="4800" b="1" i="1" cap="all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47B54E-98BE-5D42-9326-0D41EA7FB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762000"/>
            <a:ext cx="3313812" cy="331381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Content Placeholder 3">
            <a:extLst>
              <a:ext uri="{FF2B5EF4-FFF2-40B4-BE49-F238E27FC236}">
                <a16:creationId xmlns:a16="http://schemas.microsoft.com/office/drawing/2014/main" id="{78B7A24C-6FB8-334E-B342-71EA31BB1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0" y="1143000"/>
            <a:ext cx="5562600" cy="4724400"/>
          </a:xfrm>
        </p:spPr>
        <p:txBody>
          <a:bodyPr/>
          <a:lstStyle/>
          <a:p>
            <a:r>
              <a:rPr lang="en-US" altLang="en-US" sz="4000">
                <a:ea typeface="ＭＳ Ｐゴシック" panose="020B0600070205080204" pitchFamily="34" charset="-128"/>
              </a:rPr>
              <a:t>Changes, modifications, and accommodations must be made </a:t>
            </a:r>
            <a:r>
              <a:rPr lang="en-US" altLang="en-US" sz="4000" i="1">
                <a:ea typeface="ＭＳ Ｐゴシック" panose="020B0600070205080204" pitchFamily="34" charset="-128"/>
              </a:rPr>
              <a:t>unless they will prove to prove to be too difficult due to impact or cost</a:t>
            </a:r>
          </a:p>
        </p:txBody>
      </p:sp>
      <p:sp>
        <p:nvSpPr>
          <p:cNvPr id="38914" name="Slide Number Placeholder 1">
            <a:extLst>
              <a:ext uri="{FF2B5EF4-FFF2-40B4-BE49-F238E27FC236}">
                <a16:creationId xmlns:a16="http://schemas.microsoft.com/office/drawing/2014/main" id="{27B1653C-BE9C-744D-B4F6-4BAA7D29C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fld id="{AF9E674F-BE84-9D43-A56C-4D94458686F7}" type="slidenum">
              <a:rPr lang="en-US" altLang="en-US" sz="1400">
                <a:solidFill>
                  <a:srgbClr val="FFFFFF"/>
                </a:solidFill>
              </a:rPr>
              <a:pPr/>
              <a:t>10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C746C674-EECD-0647-88F9-83D5732B9585}"/>
              </a:ext>
            </a:extLst>
          </p:cNvPr>
          <p:cNvSpPr/>
          <p:nvPr/>
        </p:nvSpPr>
        <p:spPr>
          <a:xfrm>
            <a:off x="381000" y="762000"/>
            <a:ext cx="2667000" cy="1752600"/>
          </a:xfrm>
          <a:prstGeom prst="homePlate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sz="3600" b="1" cap="small" dirty="0"/>
              <a:t>ADA</a:t>
            </a:r>
            <a:br>
              <a:rPr lang="en-US" sz="3600" b="1" cap="small" dirty="0"/>
            </a:br>
            <a:r>
              <a:rPr lang="en-US" sz="3600" b="1" cap="small" dirty="0"/>
              <a:t>General Theme</a:t>
            </a:r>
          </a:p>
        </p:txBody>
      </p:sp>
      <p:pic>
        <p:nvPicPr>
          <p:cNvPr id="38918" name="Picture 1" descr="nmah_ada25.jpg">
            <a:extLst>
              <a:ext uri="{FF2B5EF4-FFF2-40B4-BE49-F238E27FC236}">
                <a16:creationId xmlns:a16="http://schemas.microsoft.com/office/drawing/2014/main" id="{44FA433E-E0B6-AC47-B170-8CCFAADF6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352800"/>
            <a:ext cx="1914525" cy="168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>
            <a:extLst>
              <a:ext uri="{FF2B5EF4-FFF2-40B4-BE49-F238E27FC236}">
                <a16:creationId xmlns:a16="http://schemas.microsoft.com/office/drawing/2014/main" id="{469760B5-FB4F-6C48-8A8F-48D471AD79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14800" y="838200"/>
            <a:ext cx="4846320" cy="5638800"/>
          </a:xfrm>
        </p:spPr>
        <p:txBody>
          <a:bodyPr rtlCol="0">
            <a:noAutofit/>
          </a:bodyPr>
          <a:lstStyle/>
          <a:p>
            <a:pPr marL="233363" indent="-233363" eaLnBrk="1" fontAlgn="auto" hangingPunct="1">
              <a:spcBef>
                <a:spcPts val="1176"/>
              </a:spcBef>
              <a:spcAft>
                <a:spcPts val="0"/>
              </a:spcAft>
              <a:defRPr/>
            </a:pPr>
            <a:r>
              <a:rPr lang="en-US" sz="2800" dirty="0">
                <a:latin typeface="Arial Narrow" panose="020B0604020202020204" pitchFamily="34" charset="0"/>
                <a:ea typeface="+mn-ea"/>
                <a:cs typeface="Arial Narrow" panose="020B0604020202020204" pitchFamily="34" charset="0"/>
              </a:rPr>
              <a:t>Requires </a:t>
            </a:r>
            <a:r>
              <a:rPr lang="en-US" sz="2800" b="1" i="1" dirty="0">
                <a:latin typeface="Arial Narrow" panose="020B0604020202020204" pitchFamily="34" charset="0"/>
                <a:ea typeface="+mn-ea"/>
                <a:cs typeface="Arial Narrow" panose="020B0604020202020204" pitchFamily="34" charset="0"/>
              </a:rPr>
              <a:t>reasonable modifications in policies, practices, and procedures </a:t>
            </a:r>
            <a:r>
              <a:rPr lang="en-US" sz="2800" dirty="0">
                <a:latin typeface="Arial Narrow" panose="020B0604020202020204" pitchFamily="34" charset="0"/>
                <a:ea typeface="+mn-ea"/>
                <a:cs typeface="Arial Narrow" panose="020B0604020202020204" pitchFamily="34" charset="0"/>
              </a:rPr>
              <a:t>to provide accessibility unless fundamental alteration in program would result</a:t>
            </a:r>
          </a:p>
          <a:p>
            <a:pPr marL="233363" indent="-233363" eaLnBrk="1" fontAlgn="auto" hangingPunct="1">
              <a:spcBef>
                <a:spcPts val="1776"/>
              </a:spcBef>
              <a:spcAft>
                <a:spcPts val="0"/>
              </a:spcAft>
              <a:defRPr/>
            </a:pPr>
            <a:r>
              <a:rPr lang="en-US" sz="2800" dirty="0">
                <a:latin typeface="Arial Narrow" panose="020B0604020202020204" pitchFamily="34" charset="0"/>
                <a:ea typeface="+mn-ea"/>
                <a:cs typeface="Arial Narrow" panose="020B0604020202020204" pitchFamily="34" charset="0"/>
              </a:rPr>
              <a:t>Must furnish </a:t>
            </a:r>
            <a:r>
              <a:rPr lang="en-US" sz="2800" b="1" dirty="0">
                <a:latin typeface="Arial Narrow" panose="020B0604020202020204" pitchFamily="34" charset="0"/>
                <a:ea typeface="+mn-ea"/>
                <a:cs typeface="Arial Narrow" panose="020B0604020202020204" pitchFamily="34" charset="0"/>
              </a:rPr>
              <a:t>auxiliary aids and services </a:t>
            </a:r>
            <a:r>
              <a:rPr lang="en-US" sz="2800" dirty="0">
                <a:latin typeface="Arial Narrow" panose="020B0604020202020204" pitchFamily="34" charset="0"/>
                <a:ea typeface="+mn-ea"/>
                <a:cs typeface="Arial Narrow" panose="020B0604020202020204" pitchFamily="34" charset="0"/>
              </a:rPr>
              <a:t>to ensure effective communication, unless undue burden or fundamental alteration would result</a:t>
            </a:r>
          </a:p>
          <a:p>
            <a:pPr marL="233363" indent="-233363" eaLnBrk="1" fontAlgn="auto" hangingPunct="1">
              <a:spcBef>
                <a:spcPts val="1776"/>
              </a:spcBef>
              <a:spcAft>
                <a:spcPts val="0"/>
              </a:spcAft>
              <a:defRPr/>
            </a:pPr>
            <a:r>
              <a:rPr lang="en-US" sz="2800" dirty="0">
                <a:latin typeface="Arial Narrow" panose="020B0604020202020204" pitchFamily="34" charset="0"/>
                <a:ea typeface="+mn-ea"/>
                <a:cs typeface="Arial Narrow" panose="020B0604020202020204" pitchFamily="34" charset="0"/>
              </a:rPr>
              <a:t>No special charges</a:t>
            </a:r>
          </a:p>
        </p:txBody>
      </p:sp>
      <p:sp>
        <p:nvSpPr>
          <p:cNvPr id="44036" name="Slide Number Placeholder 1">
            <a:extLst>
              <a:ext uri="{FF2B5EF4-FFF2-40B4-BE49-F238E27FC236}">
                <a16:creationId xmlns:a16="http://schemas.microsoft.com/office/drawing/2014/main" id="{234AEC4F-4AB7-1648-AFA9-7174E882F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fld id="{11D00378-9DC3-F84D-A806-739D4BDE7380}" type="slidenum">
              <a:rPr lang="en-US" altLang="en-US" sz="1400">
                <a:solidFill>
                  <a:srgbClr val="FFFFFF"/>
                </a:solidFill>
              </a:rPr>
              <a:pPr/>
              <a:t>11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D50103C7-3D76-9D4A-BFF8-1E35D94AE6D6}"/>
              </a:ext>
            </a:extLst>
          </p:cNvPr>
          <p:cNvSpPr/>
          <p:nvPr/>
        </p:nvSpPr>
        <p:spPr>
          <a:xfrm>
            <a:off x="381000" y="838200"/>
            <a:ext cx="3200400" cy="1828800"/>
          </a:xfrm>
          <a:prstGeom prst="homePlate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 prst="angle"/>
            <a:contourClr>
              <a:schemeClr val="accent4">
                <a:shade val="30000"/>
                <a:satMod val="130000"/>
              </a:schemeClr>
            </a:contourClr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ADA: TITLE II</a:t>
            </a:r>
          </a:p>
          <a:p>
            <a:r>
              <a:rPr lang="en-US" sz="2800" cap="small" dirty="0"/>
              <a:t>Public Services</a:t>
            </a:r>
          </a:p>
        </p:txBody>
      </p:sp>
      <p:pic>
        <p:nvPicPr>
          <p:cNvPr id="10" name="Picture 9" descr="A large white building&#10;&#10;Description automatically generated">
            <a:extLst>
              <a:ext uri="{FF2B5EF4-FFF2-40B4-BE49-F238E27FC236}">
                <a16:creationId xmlns:a16="http://schemas.microsoft.com/office/drawing/2014/main" id="{9900AF74-6451-464A-B57F-03B8F0C7D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12" y="3352800"/>
            <a:ext cx="2683376" cy="23622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5FFFE98-5A6D-3948-B7DB-D90E9D6793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9363" y="704764"/>
            <a:ext cx="3394710" cy="1492755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latin typeface="+mn-lt"/>
                <a:ea typeface="+mj-ea"/>
                <a:cs typeface="+mj-cs"/>
              </a:rPr>
              <a:t>ADA: TITLE III </a:t>
            </a:r>
            <a:br>
              <a:rPr lang="en-US" sz="3200" b="1" dirty="0">
                <a:latin typeface="+mn-lt"/>
                <a:ea typeface="+mj-ea"/>
                <a:cs typeface="+mj-cs"/>
              </a:rPr>
            </a:br>
            <a:r>
              <a:rPr lang="en-US" sz="3200" cap="small" dirty="0">
                <a:latin typeface="+mn-lt"/>
                <a:ea typeface="+mj-ea"/>
                <a:cs typeface="+mj-cs"/>
              </a:rPr>
              <a:t>Public Accommodation</a:t>
            </a:r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CDF329FF-AA2D-6A42-9532-63BB5283A2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25409" y="674284"/>
            <a:ext cx="4953000" cy="6410251"/>
          </a:xfrm>
        </p:spPr>
        <p:txBody>
          <a:bodyPr rtlCol="0">
            <a:normAutofit/>
          </a:bodyPr>
          <a:lstStyle/>
          <a:p>
            <a:pPr marL="182880" indent="-182880" eaLnBrk="1" fontAlgn="auto" hangingPunct="1">
              <a:spcBef>
                <a:spcPts val="1872"/>
              </a:spcBef>
              <a:spcAft>
                <a:spcPts val="0"/>
              </a:spcAft>
              <a:defRPr/>
            </a:pPr>
            <a:r>
              <a:rPr lang="en-US" sz="2800" dirty="0">
                <a:latin typeface="Arial Narrow" charset="0"/>
                <a:ea typeface="+mn-ea"/>
                <a:cs typeface="Arial Narrow" charset="0"/>
              </a:rPr>
              <a:t>Applies to broad range of entities engaged in private commerce </a:t>
            </a:r>
            <a:r>
              <a:rPr lang="en-US" sz="2800" b="1" i="1" dirty="0">
                <a:latin typeface="Arial Narrow" charset="0"/>
                <a:ea typeface="+mn-ea"/>
                <a:cs typeface="Arial Narrow" charset="0"/>
              </a:rPr>
              <a:t>including private education programs</a:t>
            </a:r>
          </a:p>
          <a:p>
            <a:pPr marL="182880" indent="-182880" eaLnBrk="1" fontAlgn="auto" hangingPunct="1">
              <a:spcBef>
                <a:spcPts val="1872"/>
              </a:spcBef>
              <a:spcAft>
                <a:spcPts val="0"/>
              </a:spcAft>
              <a:defRPr/>
            </a:pPr>
            <a:r>
              <a:rPr lang="en-US" sz="2800" dirty="0">
                <a:latin typeface="Arial Narrow" charset="0"/>
                <a:ea typeface="+mn-ea"/>
                <a:cs typeface="Arial Narrow" charset="0"/>
              </a:rPr>
              <a:t>Existing facilities must remove architectural barriers to make goods and services usable by people with disabilities,</a:t>
            </a:r>
            <a:br>
              <a:rPr lang="en-US" sz="2800" dirty="0">
                <a:latin typeface="Arial Narrow" charset="0"/>
                <a:ea typeface="+mn-ea"/>
                <a:cs typeface="Arial Narrow" charset="0"/>
              </a:rPr>
            </a:br>
            <a:r>
              <a:rPr lang="en-US" sz="2800" b="1" i="1" dirty="0">
                <a:latin typeface="Arial Narrow" charset="0"/>
                <a:ea typeface="+mn-ea"/>
                <a:cs typeface="Arial Narrow" charset="0"/>
              </a:rPr>
              <a:t>to the extent that it is readily achievable</a:t>
            </a:r>
          </a:p>
          <a:p>
            <a:pPr marL="182880" indent="-182880" eaLnBrk="1" fontAlgn="auto" hangingPunct="1">
              <a:spcBef>
                <a:spcPts val="1872"/>
              </a:spcBef>
              <a:spcAft>
                <a:spcPts val="0"/>
              </a:spcAft>
              <a:defRPr/>
            </a:pPr>
            <a:r>
              <a:rPr lang="en-US" sz="2800" dirty="0">
                <a:latin typeface="Arial Narrow" charset="0"/>
                <a:ea typeface="+mn-ea"/>
                <a:cs typeface="Arial Narrow" charset="0"/>
              </a:rPr>
              <a:t>New construction and alterations of existing facilities must comply with ADA Accessibility Guidelines</a:t>
            </a:r>
          </a:p>
        </p:txBody>
      </p:sp>
      <p:sp>
        <p:nvSpPr>
          <p:cNvPr id="45060" name="Slide Number Placeholder 1">
            <a:extLst>
              <a:ext uri="{FF2B5EF4-FFF2-40B4-BE49-F238E27FC236}">
                <a16:creationId xmlns:a16="http://schemas.microsoft.com/office/drawing/2014/main" id="{4831F312-15D7-3F4B-BA39-DC7D87F1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fld id="{361F1F09-0604-624F-883E-A7A49DE8E48B}" type="slidenum">
              <a:rPr lang="en-US" altLang="en-US" sz="1400">
                <a:solidFill>
                  <a:srgbClr val="FFFFFF"/>
                </a:solidFill>
              </a:rPr>
              <a:pPr/>
              <a:t>12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pic>
        <p:nvPicPr>
          <p:cNvPr id="7" name="Picture 6" descr="A picture containing table, sitting, small, orange&#10;&#10;Description automatically generated">
            <a:extLst>
              <a:ext uri="{FF2B5EF4-FFF2-40B4-BE49-F238E27FC236}">
                <a16:creationId xmlns:a16="http://schemas.microsoft.com/office/drawing/2014/main" id="{550584A1-2725-904E-A34E-5866D655F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748" y="2743200"/>
            <a:ext cx="2513837" cy="1729521"/>
          </a:xfrm>
          <a:prstGeom prst="rect">
            <a:avLst/>
          </a:prstGeom>
        </p:spPr>
      </p:pic>
      <p:pic>
        <p:nvPicPr>
          <p:cNvPr id="9" name="Picture 8" descr="A picture containing indoor, sitting, monitor, front&#10;&#10;Description automatically generated">
            <a:extLst>
              <a:ext uri="{FF2B5EF4-FFF2-40B4-BE49-F238E27FC236}">
                <a16:creationId xmlns:a16="http://schemas.microsoft.com/office/drawing/2014/main" id="{F9A91CFF-CE5E-F741-9B25-B1735A619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181" y="4800600"/>
            <a:ext cx="2389912" cy="179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33596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6D76-FAE3-FE40-ACAA-19ABA2E50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33400"/>
            <a:ext cx="3048000" cy="1981200"/>
          </a:xfrm>
          <a:effectLst>
            <a:glow rad="139700">
              <a:schemeClr val="accent3">
                <a:satMod val="175000"/>
                <a:alpha val="40000"/>
              </a:schemeClr>
            </a:glow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 prst="angle"/>
            <a:contourClr>
              <a:schemeClr val="accent3">
                <a:shade val="30000"/>
                <a:satMod val="130000"/>
              </a:schemeClr>
            </a:contourClr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cap="small" dirty="0"/>
              <a:t>What is accessible?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C8FD9-C3AB-9E45-BAB3-5C47E7CCA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0" y="835343"/>
            <a:ext cx="5486400" cy="3886200"/>
          </a:xfrm>
        </p:spPr>
        <p:txBody>
          <a:bodyPr/>
          <a:lstStyle/>
          <a:p>
            <a:r>
              <a:rPr lang="en-US" dirty="0"/>
              <a:t>An individual with a disability is allowed to:</a:t>
            </a:r>
          </a:p>
          <a:p>
            <a:pPr lvl="1"/>
            <a:r>
              <a:rPr lang="en-US" sz="2400" i="1" dirty="0"/>
              <a:t>receive same information</a:t>
            </a:r>
          </a:p>
          <a:p>
            <a:pPr lvl="1"/>
            <a:r>
              <a:rPr lang="en-US" sz="2400" i="1" dirty="0"/>
              <a:t>participate in same interactions</a:t>
            </a:r>
          </a:p>
          <a:p>
            <a:pPr lvl="1"/>
            <a:r>
              <a:rPr lang="en-US" sz="2400" i="1" dirty="0"/>
              <a:t>have same services</a:t>
            </a:r>
          </a:p>
          <a:p>
            <a:pPr marL="0" indent="0">
              <a:buNone/>
            </a:pPr>
            <a:r>
              <a:rPr lang="en-US" dirty="0"/>
              <a:t> as a person without a disability</a:t>
            </a:r>
            <a:br>
              <a:rPr lang="en-US" dirty="0"/>
            </a:br>
            <a:endParaRPr lang="en-US" dirty="0"/>
          </a:p>
          <a:p>
            <a:r>
              <a:rPr lang="en-US" dirty="0"/>
              <a:t>Participation is carried out in equal and integrative ways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CA3B8-8467-A546-BC3D-F31623CD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pic>
        <p:nvPicPr>
          <p:cNvPr id="8" name="Picture 7" descr="A close up of a decorated cake on a table&#10;&#10;Description automatically generated">
            <a:extLst>
              <a:ext uri="{FF2B5EF4-FFF2-40B4-BE49-F238E27FC236}">
                <a16:creationId xmlns:a16="http://schemas.microsoft.com/office/drawing/2014/main" id="{07E8A115-625A-7148-B133-09F60155C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24412"/>
            <a:ext cx="4648200" cy="203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64076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D5EEA-F9A1-1246-821A-18EBC43C1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0" y="990600"/>
            <a:ext cx="4876800" cy="5105400"/>
          </a:xfrm>
        </p:spPr>
        <p:txBody>
          <a:bodyPr/>
          <a:lstStyle/>
          <a:p>
            <a:pPr>
              <a:lnSpc>
                <a:spcPts val="3280"/>
              </a:lnSpc>
            </a:pPr>
            <a:r>
              <a:rPr lang="en-US" dirty="0"/>
              <a:t>Any adjustment or altering of a task, process, or environment that will allow equal participation for individuals with disabilities </a:t>
            </a:r>
          </a:p>
          <a:p>
            <a:pPr>
              <a:lnSpc>
                <a:spcPts val="3280"/>
              </a:lnSpc>
            </a:pPr>
            <a:endParaRPr lang="en-US" dirty="0"/>
          </a:p>
          <a:p>
            <a:pPr>
              <a:lnSpc>
                <a:spcPts val="3280"/>
              </a:lnSpc>
            </a:pPr>
            <a:r>
              <a:rPr lang="en-US" dirty="0"/>
              <a:t>Must be provided to a </a:t>
            </a:r>
            <a:r>
              <a:rPr lang="en-US" b="1" i="1" dirty="0"/>
              <a:t>qualified individual with a disability </a:t>
            </a:r>
            <a:r>
              <a:rPr lang="en-US" dirty="0"/>
              <a:t>unless program can demonstrate that the accommodation would impose an </a:t>
            </a:r>
            <a:r>
              <a:rPr lang="en-US" b="1" i="1" dirty="0"/>
              <a:t>”undue hardship” </a:t>
            </a:r>
            <a:r>
              <a:rPr lang="en-US" dirty="0"/>
              <a:t>or substantially alter nature of the program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4CF71-A2C5-9A49-A3D8-3B4912DB2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A652C558-0E3F-FA48-8182-134947039240}"/>
              </a:ext>
            </a:extLst>
          </p:cNvPr>
          <p:cNvSpPr/>
          <p:nvPr/>
        </p:nvSpPr>
        <p:spPr>
          <a:xfrm>
            <a:off x="228600" y="762000"/>
            <a:ext cx="3505200" cy="1676400"/>
          </a:xfrm>
          <a:prstGeom prst="homePlate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cap="small" dirty="0"/>
              <a:t>Reasonable Accommodations</a:t>
            </a:r>
          </a:p>
        </p:txBody>
      </p:sp>
    </p:spTree>
    <p:extLst>
      <p:ext uri="{BB962C8B-B14F-4D97-AF65-F5344CB8AC3E}">
        <p14:creationId xmlns:p14="http://schemas.microsoft.com/office/powerpoint/2010/main" val="59143021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BFC7C2-2CD4-0448-88CB-F0745BD4D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330214-C1B0-274F-B99E-7FB2C7279437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82258939-E5D4-CA42-BFA3-9BDF895B1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712470"/>
            <a:ext cx="61722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30798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5F44C-67B3-704E-B9DD-026BBC1F7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D915DEF8-313F-C84B-8B2E-036EBB056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13621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EC08E-5201-5C4F-9D5F-F614D81E8885}"/>
              </a:ext>
            </a:extLst>
          </p:cNvPr>
          <p:cNvSpPr/>
          <p:nvPr/>
        </p:nvSpPr>
        <p:spPr>
          <a:xfrm>
            <a:off x="2971800" y="703868"/>
            <a:ext cx="5486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omic Sans MS" panose="030F0902030302020204" pitchFamily="66" charset="0"/>
              </a:rPr>
              <a:t>Legal Requirements for People with Disabilities:</a:t>
            </a:r>
            <a:br>
              <a:rPr lang="en-US" b="1" dirty="0">
                <a:solidFill>
                  <a:srgbClr val="FF0000"/>
                </a:solidFill>
                <a:latin typeface="Comic Sans MS" panose="030F0902030302020204" pitchFamily="66" charset="0"/>
              </a:rPr>
            </a:br>
            <a:br>
              <a:rPr lang="en-US" b="1" dirty="0">
                <a:solidFill>
                  <a:srgbClr val="FF0000"/>
                </a:solidFill>
                <a:latin typeface="Comic Sans MS" panose="030F0902030302020204" pitchFamily="66" charset="0"/>
              </a:rPr>
            </a:br>
            <a:r>
              <a:rPr lang="en-US" b="1" cap="all" dirty="0">
                <a:solidFill>
                  <a:srgbClr val="0070C0"/>
                </a:solidFill>
                <a:latin typeface="Comic Sans MS" panose="030F0902030302020204" pitchFamily="66" charset="0"/>
              </a:rPr>
              <a:t>Applying Them to Adult Education Programs</a:t>
            </a:r>
          </a:p>
        </p:txBody>
      </p:sp>
    </p:spTree>
    <p:extLst>
      <p:ext uri="{BB962C8B-B14F-4D97-AF65-F5344CB8AC3E}">
        <p14:creationId xmlns:p14="http://schemas.microsoft.com/office/powerpoint/2010/main" val="3470157636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A8793-B691-CC4B-B952-D64B6335B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09755"/>
            <a:ext cx="9144000" cy="990600"/>
          </a:xfrm>
        </p:spPr>
        <p:txBody>
          <a:bodyPr>
            <a:normAutofit/>
          </a:bodyPr>
          <a:lstStyle/>
          <a:p>
            <a:r>
              <a:rPr lang="en-US" sz="3400" b="1" cap="small" dirty="0"/>
              <a:t>Implications for Adult Education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242E4-F46A-8146-A3E1-CAC1FEAEB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May not discriminate against individuals with disabilities regarding:</a:t>
            </a:r>
          </a:p>
          <a:p>
            <a:pPr lvl="1"/>
            <a:r>
              <a:rPr lang="en-US" sz="2400" i="1" dirty="0"/>
              <a:t>Eligibility and admission</a:t>
            </a:r>
          </a:p>
          <a:p>
            <a:pPr lvl="1"/>
            <a:r>
              <a:rPr lang="en-US" sz="2400" i="1" dirty="0"/>
              <a:t>Providing instruction and other services </a:t>
            </a:r>
          </a:p>
          <a:p>
            <a:pPr marL="274637" lvl="1" indent="0">
              <a:buNone/>
            </a:pPr>
            <a:endParaRPr lang="en-US" sz="2400" i="1" dirty="0"/>
          </a:p>
          <a:p>
            <a:r>
              <a:rPr lang="en-US" b="1" dirty="0"/>
              <a:t>Must be both </a:t>
            </a:r>
            <a:r>
              <a:rPr lang="en-US" b="1" i="1" dirty="0"/>
              <a:t>proactive</a:t>
            </a:r>
            <a:r>
              <a:rPr lang="en-US" b="1" dirty="0"/>
              <a:t> and </a:t>
            </a:r>
            <a:r>
              <a:rPr lang="en-US" b="1" i="1" dirty="0"/>
              <a:t>reactive</a:t>
            </a:r>
          </a:p>
          <a:p>
            <a:pPr lvl="1">
              <a:spcBef>
                <a:spcPts val="1680"/>
              </a:spcBef>
            </a:pPr>
            <a:r>
              <a:rPr lang="en-US" sz="2400" u="sng" dirty="0"/>
              <a:t>PROACTIVE</a:t>
            </a:r>
            <a:r>
              <a:rPr lang="en-US" sz="2400" dirty="0"/>
              <a:t>: Programs must be </a:t>
            </a:r>
            <a:r>
              <a:rPr lang="en-US" sz="2400" b="1" i="1" dirty="0"/>
              <a:t>accessible</a:t>
            </a:r>
            <a:r>
              <a:rPr lang="en-US" sz="2400" dirty="0"/>
              <a:t> and </a:t>
            </a:r>
            <a:r>
              <a:rPr lang="en-US" sz="2400" b="1" i="1" dirty="0"/>
              <a:t>barrier free </a:t>
            </a:r>
          </a:p>
          <a:p>
            <a:pPr lvl="1">
              <a:spcBef>
                <a:spcPts val="1680"/>
              </a:spcBef>
            </a:pPr>
            <a:r>
              <a:rPr lang="en-US" sz="2400" u="sng" dirty="0"/>
              <a:t>REACTIVE</a:t>
            </a:r>
            <a:r>
              <a:rPr lang="en-US" sz="2400" dirty="0"/>
              <a:t>: Must offer </a:t>
            </a:r>
            <a:r>
              <a:rPr lang="en-US" sz="2400" b="1" i="1" dirty="0"/>
              <a:t>reasonable accommodations </a:t>
            </a:r>
            <a:r>
              <a:rPr lang="en-US" sz="2400" dirty="0"/>
              <a:t>that will assist individuals with disabilities to have an equal opportunity to participate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D9581-7338-054B-949A-BC0AB7F4A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07256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194B5-5AC1-554D-952B-7640A990F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9287" y="1066288"/>
            <a:ext cx="3127513" cy="2832652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 anchorCtr="0"/>
          <a:lstStyle/>
          <a:p>
            <a:pPr marL="0" indent="0" algn="ctr">
              <a:buNone/>
            </a:pPr>
            <a:r>
              <a:rPr lang="en-US" b="1" i="1" dirty="0"/>
              <a:t>All program components: </a:t>
            </a:r>
            <a:r>
              <a:rPr lang="en-US" dirty="0"/>
              <a:t>application and intake process, courses, examinations, physical space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1D75A-D7A4-E84B-84E9-FE84A7C9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5" name="Right Arrow Callout 4">
            <a:extLst>
              <a:ext uri="{FF2B5EF4-FFF2-40B4-BE49-F238E27FC236}">
                <a16:creationId xmlns:a16="http://schemas.microsoft.com/office/drawing/2014/main" id="{DE22EA55-2B07-7E45-A3DA-D88E2FBABC74}"/>
              </a:ext>
            </a:extLst>
          </p:cNvPr>
          <p:cNvSpPr/>
          <p:nvPr/>
        </p:nvSpPr>
        <p:spPr>
          <a:xfrm>
            <a:off x="457200" y="993377"/>
            <a:ext cx="4495800" cy="2590800"/>
          </a:xfrm>
          <a:prstGeom prst="rightArrowCallou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Requirements for accessibility and reasonable accommodations</a:t>
            </a:r>
          </a:p>
        </p:txBody>
      </p:sp>
      <p:pic>
        <p:nvPicPr>
          <p:cNvPr id="9" name="Picture 8" descr="A picture containing indoor, table, small, cup&#10;&#10;Description automatically generated">
            <a:extLst>
              <a:ext uri="{FF2B5EF4-FFF2-40B4-BE49-F238E27FC236}">
                <a16:creationId xmlns:a16="http://schemas.microsoft.com/office/drawing/2014/main" id="{3F70E055-FEB3-3144-B36E-9274E96C3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397" y="4296579"/>
            <a:ext cx="1719072" cy="2438400"/>
          </a:xfrm>
          <a:prstGeom prst="rect">
            <a:avLst/>
          </a:prstGeom>
        </p:spPr>
      </p:pic>
      <p:pic>
        <p:nvPicPr>
          <p:cNvPr id="11" name="Picture 10" descr="A picture containing indoor, sitting, table, small&#10;&#10;Description automatically generated">
            <a:extLst>
              <a:ext uri="{FF2B5EF4-FFF2-40B4-BE49-F238E27FC236}">
                <a16:creationId xmlns:a16="http://schemas.microsoft.com/office/drawing/2014/main" id="{E48ABA42-17AD-5D40-BD66-67F047CAF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450" y="4265455"/>
            <a:ext cx="2743200" cy="2057400"/>
          </a:xfrm>
          <a:prstGeom prst="rect">
            <a:avLst/>
          </a:prstGeom>
        </p:spPr>
      </p:pic>
      <p:pic>
        <p:nvPicPr>
          <p:cNvPr id="13" name="Picture 12" descr="A picture containing table, small, sitting, lit&#10;&#10;Description automatically generated">
            <a:extLst>
              <a:ext uri="{FF2B5EF4-FFF2-40B4-BE49-F238E27FC236}">
                <a16:creationId xmlns:a16="http://schemas.microsoft.com/office/drawing/2014/main" id="{140480F2-9D55-F849-8249-01454E5B4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265455"/>
            <a:ext cx="2440394" cy="213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066749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2122B-915D-C245-9CF0-7EEC9D5FE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31" y="685800"/>
            <a:ext cx="53340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Don’t Forget About</a:t>
            </a:r>
            <a:br>
              <a:rPr lang="en-US" b="1" dirty="0"/>
            </a:br>
            <a:r>
              <a:rPr lang="en-US" b="1" dirty="0"/>
              <a:t>Web Accessibility and Online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FE8E7-6317-9E49-83C0-A408556B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pic>
        <p:nvPicPr>
          <p:cNvPr id="9" name="Picture 8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27030EF7-2F7A-0B46-994E-24565BF4AE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334" t="14445" r="5555" b="4503"/>
          <a:stretch/>
        </p:blipFill>
        <p:spPr>
          <a:xfrm>
            <a:off x="304800" y="2209800"/>
            <a:ext cx="5908965" cy="439840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6" name="Content Placeholder 5" descr="A picture containing sitting, black, phone, laptop&#10;&#10;Description automatically generated">
            <a:extLst>
              <a:ext uri="{FF2B5EF4-FFF2-40B4-BE49-F238E27FC236}">
                <a16:creationId xmlns:a16="http://schemas.microsoft.com/office/drawing/2014/main" id="{311382A1-068D-A246-83D7-0B50F4381E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96000" y="577403"/>
            <a:ext cx="3427744" cy="2403706"/>
          </a:xfrm>
        </p:spPr>
      </p:pic>
    </p:spTree>
    <p:extLst>
      <p:ext uri="{BB962C8B-B14F-4D97-AF65-F5344CB8AC3E}">
        <p14:creationId xmlns:p14="http://schemas.microsoft.com/office/powerpoint/2010/main" val="1604447136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78A8E-36E5-C04D-BD4F-DCCD3BA0C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469231"/>
            <a:ext cx="8229600" cy="99060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/>
              <a:t>Does this mean lowering standards and requirements?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067BB-EAA6-184B-BE94-9C0FF4616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9400" y="4038600"/>
            <a:ext cx="3733800" cy="990600"/>
          </a:xfrm>
          <a:effectLst>
            <a:glow rad="139700">
              <a:schemeClr val="accent6">
                <a:satMod val="175000"/>
                <a:alpha val="40000"/>
              </a:schemeClr>
            </a:glow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isometricOffAxis1Right"/>
            <a:lightRig rig="balanced" dir="t">
              <a:rot lat="0" lon="0" rev="5100000"/>
            </a:lightRig>
          </a:scene3d>
          <a:sp3d contourW="6350">
            <a:bevelT w="29210" h="12700" prst="angle"/>
            <a:contourClr>
              <a:schemeClr val="accent6">
                <a:shade val="30000"/>
                <a:satMod val="130000"/>
              </a:schemeClr>
            </a:contourClr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0" indent="0" algn="ctr">
              <a:buNone/>
            </a:pPr>
            <a:r>
              <a:rPr lang="en-US" sz="6000" b="1" dirty="0"/>
              <a:t>NO!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239E0-D4D1-6647-9F7C-5303DEC9E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043601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BF243-B04C-3548-A994-1ABB8C0AE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pic>
        <p:nvPicPr>
          <p:cNvPr id="8" name="Picture 7" descr="A screen shot of a computer&#10;&#10;Description automatically generated">
            <a:extLst>
              <a:ext uri="{FF2B5EF4-FFF2-40B4-BE49-F238E27FC236}">
                <a16:creationId xmlns:a16="http://schemas.microsoft.com/office/drawing/2014/main" id="{B7C48C55-FDE0-BC47-A3E6-ED65AEE65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5617"/>
            <a:ext cx="9296400" cy="611238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FC39AD6-364E-EE47-B508-15E0EE128AE4}"/>
              </a:ext>
            </a:extLst>
          </p:cNvPr>
          <p:cNvSpPr/>
          <p:nvPr/>
        </p:nvSpPr>
        <p:spPr>
          <a:xfrm>
            <a:off x="609600" y="1143000"/>
            <a:ext cx="7696200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1176"/>
              </a:spcBef>
            </a:pPr>
            <a:r>
              <a:rPr lang="en-US" sz="2800" dirty="0">
                <a:solidFill>
                  <a:srgbClr val="FFFF00"/>
                </a:solidFill>
                <a:latin typeface="Chalkboard SE" panose="03050602040202020205" pitchFamily="66" charset="77"/>
              </a:rPr>
              <a:t>Adult Learning Programs have right to:</a:t>
            </a:r>
          </a:p>
          <a:p>
            <a:pPr marL="457200" indent="-457200">
              <a:spcBef>
                <a:spcPts val="1176"/>
              </a:spcBef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Chalkboard SE" panose="03050602040202020205" pitchFamily="66" charset="77"/>
              </a:rPr>
              <a:t>Identify and establish abilities, skills and competencies fundamental to academic programs and courses.</a:t>
            </a:r>
          </a:p>
          <a:p>
            <a:pPr marL="457200" indent="-457200">
              <a:spcBef>
                <a:spcPts val="2376"/>
              </a:spcBef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Chalkboard SE" panose="03050602040202020205" pitchFamily="66" charset="77"/>
              </a:rPr>
              <a:t>Evaluate learner capacity.</a:t>
            </a:r>
          </a:p>
          <a:p>
            <a:pPr marL="457200" indent="-457200">
              <a:spcBef>
                <a:spcPts val="2376"/>
              </a:spcBef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Chalkboard SE" panose="03050602040202020205" pitchFamily="66" charset="77"/>
              </a:rPr>
              <a:t>Evaluate each learner’s performance on basis of standards established.</a:t>
            </a:r>
          </a:p>
        </p:txBody>
      </p:sp>
    </p:spTree>
    <p:extLst>
      <p:ext uri="{BB962C8B-B14F-4D97-AF65-F5344CB8AC3E}">
        <p14:creationId xmlns:p14="http://schemas.microsoft.com/office/powerpoint/2010/main" val="3388972334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240F5-0EF3-ED4A-BFF7-DE4A4AA80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9061" y="990600"/>
            <a:ext cx="5181600" cy="5486400"/>
          </a:xfrm>
        </p:spPr>
        <p:txBody>
          <a:bodyPr/>
          <a:lstStyle/>
          <a:p>
            <a:pPr>
              <a:spcBef>
                <a:spcPts val="1776"/>
              </a:spcBef>
            </a:pPr>
            <a:r>
              <a:rPr lang="en-US" dirty="0"/>
              <a:t>Disability information must be kept confidential and stored separately</a:t>
            </a:r>
          </a:p>
          <a:p>
            <a:pPr>
              <a:spcBef>
                <a:spcPts val="1776"/>
              </a:spcBef>
            </a:pPr>
            <a:r>
              <a:rPr lang="en-US" dirty="0"/>
              <a:t>Information cannot be shared with anyone (internally and externally) unless specifically designated in a signed release </a:t>
            </a:r>
          </a:p>
          <a:p>
            <a:pPr>
              <a:spcBef>
                <a:spcPts val="1776"/>
              </a:spcBef>
            </a:pPr>
            <a:r>
              <a:rPr lang="en-US" dirty="0"/>
              <a:t>Programs cannot ask whether an individual has a disability prior to admission</a:t>
            </a:r>
          </a:p>
          <a:p>
            <a:pPr>
              <a:spcBef>
                <a:spcPts val="1776"/>
              </a:spcBef>
            </a:pPr>
            <a:r>
              <a:rPr lang="en-US" dirty="0"/>
              <a:t>However, if individual needs an accommodation, they need to disclose</a:t>
            </a:r>
          </a:p>
          <a:p>
            <a:pPr marL="0" indent="0">
              <a:spcBef>
                <a:spcPts val="1776"/>
              </a:spcBef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9CDFE-4AF5-914B-A9E8-BBD78FEDB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2FC9DBB3-AB9F-C445-95EC-B301EC358621}"/>
              </a:ext>
            </a:extLst>
          </p:cNvPr>
          <p:cNvSpPr/>
          <p:nvPr/>
        </p:nvSpPr>
        <p:spPr>
          <a:xfrm>
            <a:off x="320665" y="685800"/>
            <a:ext cx="2849567" cy="1447800"/>
          </a:xfrm>
          <a:prstGeom prst="homePlate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 prst="angle"/>
            <a:contourClr>
              <a:schemeClr val="accent3">
                <a:shade val="30000"/>
                <a:satMod val="130000"/>
              </a:schemeClr>
            </a:contourClr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cap="small" dirty="0"/>
              <a:t>Disclosure and Privacy</a:t>
            </a:r>
          </a:p>
        </p:txBody>
      </p:sp>
      <p:pic>
        <p:nvPicPr>
          <p:cNvPr id="9" name="Picture 8" descr="A picture containing object, white, light, dark&#10;&#10;Description automatically generated">
            <a:extLst>
              <a:ext uri="{FF2B5EF4-FFF2-40B4-BE49-F238E27FC236}">
                <a16:creationId xmlns:a16="http://schemas.microsoft.com/office/drawing/2014/main" id="{EA9D6FFB-9425-BC40-86AA-B273C8F8E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2591355"/>
            <a:ext cx="1143000" cy="1881481"/>
          </a:xfrm>
          <a:prstGeom prst="rect">
            <a:avLst/>
          </a:prstGeom>
        </p:spPr>
      </p:pic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EB6A1394-7836-974C-BC3E-272079A57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472836"/>
            <a:ext cx="2089404" cy="23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230552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D53D0-9FA8-B34A-977A-64250FA41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407068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After enrollment, inquiries on a confidential basis may be made with goal of determining need for possible program accommodations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5675E-A1FE-F841-8078-FB592FAA4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3012532"/>
            <a:ext cx="8229600" cy="4876800"/>
          </a:xfrm>
        </p:spPr>
        <p:txBody>
          <a:bodyPr/>
          <a:lstStyle/>
          <a:p>
            <a:r>
              <a:rPr lang="en-US" sz="2800" b="1" dirty="0"/>
              <a:t>Possible questions:</a:t>
            </a:r>
          </a:p>
          <a:p>
            <a:pPr lvl="1">
              <a:spcBef>
                <a:spcPts val="1272"/>
              </a:spcBef>
            </a:pPr>
            <a:r>
              <a:rPr lang="en-US" sz="2800" i="1" dirty="0"/>
              <a:t>Have you ever had any special classes or help in school or at work? (If “yes” you may ask what, where, and why.) </a:t>
            </a:r>
          </a:p>
          <a:p>
            <a:pPr lvl="1">
              <a:spcBef>
                <a:spcPts val="1272"/>
              </a:spcBef>
            </a:pPr>
            <a:r>
              <a:rPr lang="en-US" sz="2800" i="1" dirty="0"/>
              <a:t>Do you think you have trouble learning? </a:t>
            </a:r>
          </a:p>
          <a:p>
            <a:pPr lvl="1">
              <a:spcBef>
                <a:spcPts val="1272"/>
              </a:spcBef>
            </a:pPr>
            <a:r>
              <a:rPr lang="en-US" sz="2800" i="1" dirty="0"/>
              <a:t>Have you ever had any accommodations in school or at work?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4F288-DB3B-E842-AEC3-C1263CEBC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5243586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0BF2D-FFD6-134F-BB0B-1648F447D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4280" y="550259"/>
            <a:ext cx="5181600" cy="1143000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cap="small" dirty="0"/>
              <a:t>Screening for Disability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C5EB5-3EF9-6A40-88B3-447492235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981200"/>
            <a:ext cx="5181600" cy="4724400"/>
          </a:xfrm>
        </p:spPr>
        <p:txBody>
          <a:bodyPr/>
          <a:lstStyle/>
          <a:p>
            <a:r>
              <a:rPr lang="en-US" sz="2800" dirty="0"/>
              <a:t>If it is determined there is strong possibility learner has a disability, formal disability assessment may be undertaken</a:t>
            </a:r>
            <a:br>
              <a:rPr lang="en-US" sz="2800" dirty="0"/>
            </a:br>
            <a:endParaRPr lang="en-US" sz="2800" dirty="0"/>
          </a:p>
          <a:p>
            <a:r>
              <a:rPr lang="en-US" sz="2800" dirty="0"/>
              <a:t>Formal assessment </a:t>
            </a:r>
            <a:r>
              <a:rPr lang="en-US" sz="2800" b="1" i="1" dirty="0"/>
              <a:t>must</a:t>
            </a:r>
            <a:r>
              <a:rPr lang="en-US" sz="2800" dirty="0"/>
              <a:t> be administered by a licensed professional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4C84F-D289-884A-AB3E-3BC1D1A69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pic>
        <p:nvPicPr>
          <p:cNvPr id="6" name="Picture 5" descr="A picture containing indoor, table, chair, sitting&#10;&#10;Description automatically generated">
            <a:extLst>
              <a:ext uri="{FF2B5EF4-FFF2-40B4-BE49-F238E27FC236}">
                <a16:creationId xmlns:a16="http://schemas.microsoft.com/office/drawing/2014/main" id="{49028EB8-F725-4B40-A78D-3D610BC7C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895600"/>
            <a:ext cx="3163309" cy="286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496560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777A4-84A7-264B-8AEF-E59A2DBA1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978" y="609600"/>
            <a:ext cx="3574472" cy="2971800"/>
          </a:xfr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sz="3600" cap="small" dirty="0"/>
              <a:t>ADA Standards for Adult and Community Learning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DFA73-D5F5-8E4B-9331-AD8ADC9F9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599" y="838200"/>
            <a:ext cx="4260273" cy="5945332"/>
          </a:xfrm>
        </p:spPr>
        <p:txBody>
          <a:bodyPr/>
          <a:lstStyle/>
          <a:p>
            <a:pPr>
              <a:spcBef>
                <a:spcPts val="1776"/>
              </a:spcBef>
            </a:pPr>
            <a:r>
              <a:rPr lang="en-US" dirty="0"/>
              <a:t>Must have an ADA Coordinator</a:t>
            </a:r>
          </a:p>
          <a:p>
            <a:pPr>
              <a:spcBef>
                <a:spcPts val="1776"/>
              </a:spcBef>
            </a:pPr>
            <a:r>
              <a:rPr lang="en-US" dirty="0"/>
              <a:t>Post public notice of</a:t>
            </a:r>
            <a:br>
              <a:rPr lang="en-US" dirty="0"/>
            </a:br>
            <a:r>
              <a:rPr lang="en-US" dirty="0"/>
              <a:t>non-discrimination</a:t>
            </a:r>
          </a:p>
          <a:p>
            <a:pPr>
              <a:spcBef>
                <a:spcPts val="1776"/>
              </a:spcBef>
            </a:pPr>
            <a:r>
              <a:rPr lang="en-US" dirty="0"/>
              <a:t>Establish and publish a written grievance procedure</a:t>
            </a:r>
          </a:p>
          <a:p>
            <a:pPr>
              <a:spcBef>
                <a:spcPts val="1776"/>
              </a:spcBef>
            </a:pPr>
            <a:r>
              <a:rPr lang="en-US" dirty="0"/>
              <a:t>Must conduct a one-time self-evaluation on accessibility</a:t>
            </a:r>
          </a:p>
          <a:p>
            <a:pPr>
              <a:spcBef>
                <a:spcPts val="1776"/>
              </a:spcBef>
            </a:pPr>
            <a:r>
              <a:rPr lang="en-US" dirty="0"/>
              <a:t>Must have a transition plan for removal of any physical barriers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7381C-22A9-6449-A485-ACB5F076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94BC292C-B88D-CD4A-AAFD-4EF01ED58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78" y="4191000"/>
            <a:ext cx="3153103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83953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D72A8-A4A6-4942-BC6B-7009D49BB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CA5F82A9-B61F-D645-A330-2A8BC2528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066800"/>
            <a:ext cx="5043487" cy="537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347340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2DC9F-D5C6-AC48-A778-08A54B19D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71600"/>
            <a:ext cx="8229600" cy="2362200"/>
          </a:xfr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isometricOffAxis1Right"/>
            <a:lightRig rig="threePt" dir="t"/>
          </a:scene3d>
          <a:sp3d>
            <a:bevelT prst="angle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b="1" dirty="0"/>
              <a:t>Reasonable Accommodations in Adult Education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DF5CD-C7C9-A24C-9C24-89BF153B5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pic>
        <p:nvPicPr>
          <p:cNvPr id="7" name="Picture 6" descr="A picture containing indoor, table, sitting, cake&#10;&#10;Description automatically generated">
            <a:extLst>
              <a:ext uri="{FF2B5EF4-FFF2-40B4-BE49-F238E27FC236}">
                <a16:creationId xmlns:a16="http://schemas.microsoft.com/office/drawing/2014/main" id="{3A9674A1-C0B2-7B45-BF12-63A3E46A1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842" y="2743199"/>
            <a:ext cx="5526157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041140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FDA00-86E9-7D4D-9272-92C4DD3DF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47663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Dealing with accommodation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E8E3B-BF1A-F845-895B-AF224F960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658" y="1338263"/>
            <a:ext cx="8143741" cy="2667000"/>
          </a:xfrm>
        </p:spPr>
        <p:txBody>
          <a:bodyPr/>
          <a:lstStyle/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b="1" dirty="0"/>
              <a:t>Contact ADA coordinator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b="1" dirty="0"/>
              <a:t>Discuss in private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b="1" dirty="0"/>
              <a:t>Use a functional approach:</a:t>
            </a:r>
          </a:p>
          <a:p>
            <a:pPr lvl="2"/>
            <a:r>
              <a:rPr lang="en-US" sz="2000" i="1" dirty="0"/>
              <a:t>What does the student need help with?</a:t>
            </a:r>
          </a:p>
          <a:p>
            <a:pPr lvl="2"/>
            <a:r>
              <a:rPr lang="en-US" sz="2000" i="1" dirty="0"/>
              <a:t>What are possible solutions?</a:t>
            </a:r>
          </a:p>
          <a:p>
            <a:pPr lvl="2"/>
            <a:r>
              <a:rPr lang="en-US" sz="2000" i="1" dirty="0"/>
              <a:t>What has student previously used for accommodations in similar situations?</a:t>
            </a:r>
          </a:p>
          <a:p>
            <a:pPr marL="457200" indent="-457200">
              <a:spcBef>
                <a:spcPts val="1176"/>
              </a:spcBef>
              <a:buFont typeface="+mj-lt"/>
              <a:buAutoNum type="arabicPeriod"/>
            </a:pPr>
            <a:r>
              <a:rPr lang="en-US" b="1" dirty="0"/>
              <a:t>Document using a standard format</a:t>
            </a:r>
          </a:p>
          <a:p>
            <a:pPr marL="457200" indent="-457200">
              <a:spcBef>
                <a:spcPts val="1176"/>
              </a:spcBef>
              <a:buFont typeface="+mj-lt"/>
              <a:buAutoNum type="arabicPeriod"/>
            </a:pPr>
            <a:r>
              <a:rPr lang="en-US" b="1" dirty="0"/>
              <a:t>Don’t presume</a:t>
            </a:r>
          </a:p>
          <a:p>
            <a:pPr marL="457200" indent="-457200">
              <a:spcBef>
                <a:spcPts val="1176"/>
              </a:spcBef>
              <a:buFont typeface="+mj-lt"/>
              <a:buAutoNum type="arabicPeriod"/>
            </a:pPr>
            <a:r>
              <a:rPr lang="en-US" b="1" dirty="0"/>
              <a:t>Consult with external resources as necessary</a:t>
            </a:r>
          </a:p>
          <a:p>
            <a:pPr marL="457200" indent="-457200">
              <a:spcBef>
                <a:spcPts val="1176"/>
              </a:spcBef>
              <a:buFont typeface="+mj-lt"/>
              <a:buAutoNum type="arabicPeriod"/>
            </a:pPr>
            <a:r>
              <a:rPr lang="en-US" b="1" dirty="0"/>
              <a:t>Evaluate and modify accommodation as necessary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D7E29-D69D-5849-B4D7-450D3135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1918138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2720D-DED5-B045-954C-7386D4844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818" y="2284993"/>
            <a:ext cx="4698782" cy="4191000"/>
          </a:xfrm>
        </p:spPr>
        <p:txBody>
          <a:bodyPr/>
          <a:lstStyle/>
          <a:p>
            <a:r>
              <a:rPr lang="en-US" sz="2800" b="1" dirty="0"/>
              <a:t>If needing an accommodation:</a:t>
            </a:r>
          </a:p>
          <a:p>
            <a:pPr lvl="1">
              <a:spcBef>
                <a:spcPts val="1176"/>
              </a:spcBef>
            </a:pPr>
            <a:r>
              <a:rPr lang="en-US" sz="2400" i="1" dirty="0"/>
              <a:t>Identifying themselves as having a disability</a:t>
            </a:r>
          </a:p>
          <a:p>
            <a:pPr lvl="1">
              <a:spcBef>
                <a:spcPts val="1176"/>
              </a:spcBef>
            </a:pPr>
            <a:r>
              <a:rPr lang="en-US" sz="2400" i="1" dirty="0"/>
              <a:t>Providing documentation regarding their disability and need for accommodation</a:t>
            </a:r>
          </a:p>
          <a:p>
            <a:pPr lvl="1">
              <a:spcBef>
                <a:spcPts val="1176"/>
              </a:spcBef>
            </a:pPr>
            <a:r>
              <a:rPr lang="en-US" sz="2400" i="1" dirty="0"/>
              <a:t>Requesting accommodation in a timely fashion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F1DD0-0BD8-E845-A494-74D485E88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pic>
        <p:nvPicPr>
          <p:cNvPr id="9" name="Picture 8" descr="A picture containing holding, table, phone&#10;&#10;Description automatically generated">
            <a:extLst>
              <a:ext uri="{FF2B5EF4-FFF2-40B4-BE49-F238E27FC236}">
                <a16:creationId xmlns:a16="http://schemas.microsoft.com/office/drawing/2014/main" id="{0B2FD19E-8BB9-A143-98EA-9BC5A06FC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340150"/>
            <a:ext cx="4292819" cy="490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011155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C1F2D-7C68-E04C-AA11-2AD3AB8A9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Accommodation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AD176-8C78-FB4C-A424-E1539E8FA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4000"/>
            <a:ext cx="8229600" cy="4876800"/>
          </a:xfrm>
        </p:spPr>
        <p:txBody>
          <a:bodyPr/>
          <a:lstStyle/>
          <a:p>
            <a:pPr>
              <a:lnSpc>
                <a:spcPts val="3280"/>
              </a:lnSpc>
            </a:pPr>
            <a:r>
              <a:rPr lang="en-US" dirty="0"/>
              <a:t>Extra time on tests</a:t>
            </a:r>
          </a:p>
          <a:p>
            <a:pPr>
              <a:lnSpc>
                <a:spcPts val="3280"/>
              </a:lnSpc>
            </a:pPr>
            <a:r>
              <a:rPr lang="en-US" dirty="0"/>
              <a:t>Closed caption videos</a:t>
            </a:r>
          </a:p>
          <a:p>
            <a:pPr>
              <a:lnSpc>
                <a:spcPts val="3280"/>
              </a:lnSpc>
            </a:pPr>
            <a:r>
              <a:rPr lang="en-US" dirty="0"/>
              <a:t>Supervised breaks during testing</a:t>
            </a:r>
          </a:p>
          <a:p>
            <a:pPr>
              <a:lnSpc>
                <a:spcPts val="3280"/>
              </a:lnSpc>
            </a:pPr>
            <a:r>
              <a:rPr lang="en-US" dirty="0"/>
              <a:t>Administering tests verbally instead of in writing</a:t>
            </a:r>
          </a:p>
          <a:p>
            <a:pPr>
              <a:lnSpc>
                <a:spcPts val="3280"/>
              </a:lnSpc>
            </a:pPr>
            <a:r>
              <a:rPr lang="en-US" dirty="0"/>
              <a:t>Materials in alternative formats: Large print, Braille, etc.</a:t>
            </a:r>
          </a:p>
          <a:p>
            <a:pPr>
              <a:lnSpc>
                <a:spcPts val="3280"/>
              </a:lnSpc>
            </a:pPr>
            <a:r>
              <a:rPr lang="en-US" dirty="0"/>
              <a:t>Providing note takers</a:t>
            </a:r>
          </a:p>
          <a:p>
            <a:pPr>
              <a:lnSpc>
                <a:spcPts val="3280"/>
              </a:lnSpc>
            </a:pPr>
            <a:r>
              <a:rPr lang="en-US" dirty="0"/>
              <a:t>Books on tape</a:t>
            </a:r>
          </a:p>
          <a:p>
            <a:pPr>
              <a:lnSpc>
                <a:spcPts val="3280"/>
              </a:lnSpc>
            </a:pPr>
            <a:r>
              <a:rPr lang="en-US" dirty="0"/>
              <a:t>Assisted listening devices</a:t>
            </a:r>
          </a:p>
          <a:p>
            <a:pPr>
              <a:lnSpc>
                <a:spcPts val="3280"/>
              </a:lnSpc>
            </a:pPr>
            <a:r>
              <a:rPr lang="en-US" dirty="0"/>
              <a:t>Assistive technology (low-tech and hi-tech): highlighter,</a:t>
            </a:r>
            <a:br>
              <a:rPr lang="en-US" dirty="0"/>
            </a:br>
            <a:r>
              <a:rPr lang="en-US" dirty="0"/>
              <a:t>calculator, accessible computer, phone apps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B98BE-C3AD-5647-B570-24BB8F512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  <p:pic>
        <p:nvPicPr>
          <p:cNvPr id="5" name="Picture 4" descr="A picture containing green&#10;&#10;Description automatically generated">
            <a:extLst>
              <a:ext uri="{FF2B5EF4-FFF2-40B4-BE49-F238E27FC236}">
                <a16:creationId xmlns:a16="http://schemas.microsoft.com/office/drawing/2014/main" id="{A5A69886-3E0A-6A41-B4ED-4E99C3929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062" y="774074"/>
            <a:ext cx="1964138" cy="149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117316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9C045-97D1-0C4D-9AE4-38E573DB3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8222" y="1087460"/>
            <a:ext cx="4572000" cy="5715000"/>
          </a:xfrm>
        </p:spPr>
        <p:txBody>
          <a:bodyPr/>
          <a:lstStyle/>
          <a:p>
            <a:r>
              <a:rPr lang="en-US" sz="3200" dirty="0"/>
              <a:t>Must ensure that test scores of individuals with disabilities accurately reflect individual’s aptitude or achievement level or whatever skill the exam or test is intended to measure.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D6B77-C4FC-1947-9AEA-071213412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4E4B5BE4-E8F6-4D44-B260-BC9B0B907A9A}"/>
              </a:ext>
            </a:extLst>
          </p:cNvPr>
          <p:cNvSpPr/>
          <p:nvPr/>
        </p:nvSpPr>
        <p:spPr>
          <a:xfrm>
            <a:off x="333778" y="838200"/>
            <a:ext cx="3465490" cy="2057400"/>
          </a:xfrm>
          <a:prstGeom prst="homePlate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/>
              <a:t>USDOJ:</a:t>
            </a:r>
            <a:br>
              <a:rPr lang="en-US" sz="2800" dirty="0"/>
            </a:br>
            <a:r>
              <a:rPr lang="en-US" sz="2800" dirty="0"/>
              <a:t>Test Accommodation Guidelines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95704A-4688-8341-9F20-746A50D54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16" y="3200400"/>
            <a:ext cx="2509258" cy="32472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51277800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DF1D9-9826-BA44-BCF3-388E0A5F3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149" y="557212"/>
            <a:ext cx="7848600" cy="2590800"/>
          </a:xfrm>
          <a:ln w="22225" cmpd="thickThin"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b="1" dirty="0"/>
              <a:t>Student is not entitled to</a:t>
            </a:r>
            <a:br>
              <a:rPr lang="en-US" b="1" dirty="0"/>
            </a:br>
            <a:r>
              <a:rPr lang="en-US" b="1" dirty="0"/>
              <a:t>preferred accommodation,</a:t>
            </a:r>
            <a:br>
              <a:rPr lang="en-US" b="1" dirty="0"/>
            </a:br>
            <a:r>
              <a:rPr lang="en-US" b="1" dirty="0"/>
              <a:t>only an accommodation that </a:t>
            </a:r>
            <a:br>
              <a:rPr lang="en-US" b="1" dirty="0"/>
            </a:br>
            <a:r>
              <a:rPr lang="en-US" b="1" dirty="0"/>
              <a:t>provides equal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C9262-8C6A-8745-9577-93E2CFDA9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657600"/>
            <a:ext cx="8229600" cy="2743200"/>
          </a:xfrm>
        </p:spPr>
        <p:txBody>
          <a:bodyPr/>
          <a:lstStyle/>
          <a:p>
            <a:r>
              <a:rPr lang="en-US" sz="2800" b="1" dirty="0"/>
              <a:t>EXAMPLE: Student says they need a sign language interpreter.</a:t>
            </a:r>
          </a:p>
          <a:p>
            <a:pPr lvl="1"/>
            <a:r>
              <a:rPr lang="en-US" sz="2800" i="1" dirty="0"/>
              <a:t>What is student requesting in terms of need?</a:t>
            </a:r>
          </a:p>
          <a:p>
            <a:pPr lvl="1"/>
            <a:r>
              <a:rPr lang="en-US" sz="2800" i="1" dirty="0"/>
              <a:t>What are possible alternatives?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35179-08F5-1B43-AEE4-A71F34582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  <p:pic>
        <p:nvPicPr>
          <p:cNvPr id="6" name="Graphic 5" descr="Sign Language">
            <a:extLst>
              <a:ext uri="{FF2B5EF4-FFF2-40B4-BE49-F238E27FC236}">
                <a16:creationId xmlns:a16="http://schemas.microsoft.com/office/drawing/2014/main" id="{FDE2C9E9-93B7-644C-B8B2-A0540B82E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9900" y="5238750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659196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0FA5A-750E-3B4C-A8BA-88123D3B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16A2D4-58F0-7F41-A87D-370ED5C8F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634" y="0"/>
            <a:ext cx="58567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263964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A3C3E-959B-944C-837A-A6CFF75AA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458662"/>
            <a:ext cx="2590800" cy="990600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6E26D-EB8A-8641-B5F9-79D928F25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770E5BB-5C6D-694A-B1AA-A1D15969AC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765" t="9412" r="17646" b="-1176"/>
          <a:stretch/>
        </p:blipFill>
        <p:spPr>
          <a:xfrm>
            <a:off x="3072941" y="538400"/>
            <a:ext cx="2590800" cy="21050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490D8883-CCFF-D045-B98D-C0970B0A3B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500" t="8667" r="14166"/>
          <a:stretch/>
        </p:blipFill>
        <p:spPr>
          <a:xfrm>
            <a:off x="5976313" y="547623"/>
            <a:ext cx="2999165" cy="23345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5C8305A6-B343-7543-BD2D-E09E60895F1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833" t="8667" r="18333"/>
          <a:stretch/>
        </p:blipFill>
        <p:spPr>
          <a:xfrm>
            <a:off x="258439" y="1714912"/>
            <a:ext cx="2316080" cy="18664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364EEA79-A9E3-D745-922E-E80D5175874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000" t="10000" r="13333"/>
          <a:stretch/>
        </p:blipFill>
        <p:spPr>
          <a:xfrm>
            <a:off x="4225016" y="2277648"/>
            <a:ext cx="2999165" cy="20657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 descr="A screenshot of a computer&#10;&#10;Description automatically generated">
            <a:extLst>
              <a:ext uri="{FF2B5EF4-FFF2-40B4-BE49-F238E27FC236}">
                <a16:creationId xmlns:a16="http://schemas.microsoft.com/office/drawing/2014/main" id="{070017AC-4EFA-4540-99FC-81E279BB59E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000" t="10000" r="12600"/>
          <a:stretch/>
        </p:blipFill>
        <p:spPr>
          <a:xfrm>
            <a:off x="381001" y="4214575"/>
            <a:ext cx="2763298" cy="20082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5DA7AD35-3EDF-4A40-9B4F-882F21B9681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000" t="11333" r="13333"/>
          <a:stretch/>
        </p:blipFill>
        <p:spPr>
          <a:xfrm>
            <a:off x="3014510" y="4676152"/>
            <a:ext cx="2959468" cy="20082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72768838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303E0-237D-8A49-9E91-FDA74FD2B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53" y="702757"/>
            <a:ext cx="2819400" cy="914400"/>
          </a:xfrm>
          <a:scene3d>
            <a:camera prst="isometricOffAxis1Right"/>
            <a:lightRig rig="balanced" dir="t">
              <a:rot lat="0" lon="0" rev="5100000"/>
            </a:lightRig>
          </a:scene3d>
          <a:sp3d contourW="6350">
            <a:bevelT w="29210" h="12700" prst="angle"/>
            <a:contourClr>
              <a:schemeClr val="accent2">
                <a:shade val="30000"/>
                <a:satMod val="130000"/>
              </a:schemeClr>
            </a:contourClr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b="1" dirty="0"/>
              <a:t>Handouts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78C5F-D008-0241-8B14-A9F15C2C4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60" y="1872067"/>
            <a:ext cx="82296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PowerPoint</a:t>
            </a:r>
          </a:p>
          <a:p>
            <a:pPr marL="457200" indent="-457200">
              <a:spcBef>
                <a:spcPts val="1776"/>
              </a:spcBef>
              <a:buFont typeface="+mj-lt"/>
              <a:buAutoNum type="arabicPeriod"/>
            </a:pPr>
            <a:r>
              <a:rPr lang="en-US" dirty="0"/>
              <a:t>Disability Resources</a:t>
            </a:r>
          </a:p>
          <a:p>
            <a:pPr marL="457200" indent="-457200">
              <a:spcBef>
                <a:spcPts val="1776"/>
              </a:spcBef>
              <a:buFont typeface="+mj-lt"/>
              <a:buAutoNum type="arabicPeriod"/>
            </a:pPr>
            <a:r>
              <a:rPr lang="en-US" dirty="0"/>
              <a:t>DESE Assessment Polices</a:t>
            </a:r>
            <a:br>
              <a:rPr lang="en-US" dirty="0"/>
            </a:br>
            <a:r>
              <a:rPr lang="en-US" dirty="0"/>
              <a:t>on Disability</a:t>
            </a:r>
          </a:p>
          <a:p>
            <a:pPr marL="457200" indent="-457200">
              <a:spcBef>
                <a:spcPts val="1776"/>
              </a:spcBef>
              <a:buFont typeface="+mj-lt"/>
              <a:buAutoNum type="arabicPeriod"/>
            </a:pPr>
            <a:r>
              <a:rPr lang="en-US" dirty="0"/>
              <a:t>DESE ACLS ADA Standards</a:t>
            </a:r>
          </a:p>
          <a:p>
            <a:pPr marL="457200" indent="-457200">
              <a:spcBef>
                <a:spcPts val="1776"/>
              </a:spcBef>
              <a:buFont typeface="+mj-lt"/>
              <a:buAutoNum type="arabicPeriod"/>
            </a:pPr>
            <a:r>
              <a:rPr lang="en-US" dirty="0"/>
              <a:t>USDOJ ADA Requirements:</a:t>
            </a:r>
            <a:br>
              <a:rPr lang="en-US" dirty="0"/>
            </a:br>
            <a:r>
              <a:rPr lang="en-US" dirty="0"/>
              <a:t>Testing Accommodations</a:t>
            </a:r>
          </a:p>
          <a:p>
            <a:pPr marL="457200" indent="-457200">
              <a:spcBef>
                <a:spcPts val="1776"/>
              </a:spcBef>
              <a:buFont typeface="+mj-lt"/>
              <a:buAutoNum type="arabicPeriod"/>
            </a:pPr>
            <a:r>
              <a:rPr lang="en-US" dirty="0"/>
              <a:t>IL Accessibility Checklist</a:t>
            </a:r>
          </a:p>
          <a:p>
            <a:pPr marL="457200" indent="-457200">
              <a:spcBef>
                <a:spcPts val="1776"/>
              </a:spcBef>
              <a:buFont typeface="+mj-lt"/>
              <a:buAutoNum type="arabicPeriod"/>
            </a:pPr>
            <a:r>
              <a:rPr lang="en-US" dirty="0"/>
              <a:t>Pacer Handout: ADA &amp; Section 504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2573E-361E-DE48-A8D2-296D0E712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FFECAE-5558-FC4F-A5D5-814DD6134961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D9DB24-8B54-3B4E-B4A6-1415D390E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456" y="1236839"/>
            <a:ext cx="5031386" cy="3887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CFB3CA-8326-0840-B3B0-7020DA8C6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025" y="856092"/>
            <a:ext cx="4114800" cy="53250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4A213D-4451-654A-B62B-448A8EAC5D2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512" t="9581" r="4338" b="5651"/>
          <a:stretch/>
        </p:blipFill>
        <p:spPr>
          <a:xfrm>
            <a:off x="4724400" y="802805"/>
            <a:ext cx="4279748" cy="51771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0CB6F2-740B-8541-8716-200060508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0042" y="856092"/>
            <a:ext cx="4114800" cy="53250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3BCAF77-EA8E-5D4F-97FF-35AC8A7E92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2818" y="782398"/>
            <a:ext cx="4052099" cy="52438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1B017B9-1E5D-8142-80E3-2C22D09853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1455" y="1120166"/>
            <a:ext cx="3833977" cy="4961617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2B2EA4-43DE-8F45-8355-B270BB5246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0174" y="533400"/>
            <a:ext cx="4298373" cy="5562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3976894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FD01-8F5E-2E4D-944E-4AB38BDD0569}" type="slidenum">
              <a:rPr lang="en-US" smtClean="0">
                <a:solidFill>
                  <a:srgbClr val="CEFFB3">
                    <a:shade val="50000"/>
                    <a:satMod val="200000"/>
                  </a:srgbClr>
                </a:solidFill>
                <a:latin typeface="Gill Sans MT"/>
              </a:rPr>
              <a:pPr/>
              <a:t>36</a:t>
            </a:fld>
            <a:endParaRPr lang="en-US">
              <a:solidFill>
                <a:srgbClr val="CEFFB3">
                  <a:shade val="50000"/>
                  <a:satMod val="200000"/>
                </a:srgbClr>
              </a:solidFill>
              <a:latin typeface="Gill Sans MT"/>
            </a:endParaRPr>
          </a:p>
        </p:txBody>
      </p:sp>
      <p:pic>
        <p:nvPicPr>
          <p:cNvPr id="6" name="Picture 5" descr="paper_question_mark_1935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3279457"/>
            <a:ext cx="3995707" cy="2501313"/>
          </a:xfrm>
          <a:prstGeom prst="rect">
            <a:avLst/>
          </a:prstGeom>
        </p:spPr>
      </p:pic>
      <p:pic>
        <p:nvPicPr>
          <p:cNvPr id="11" name="Picture 10" descr="scribbles_pencil_celebration_sign_20166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990600"/>
            <a:ext cx="2797274" cy="319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09035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972E40D6-0FC8-9B4C-B996-73620D3D2990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81617" y="654982"/>
            <a:ext cx="5772150" cy="5811838"/>
          </a:xfr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lIns="67865" tIns="33338" rIns="67865" bIns="33338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</a:rPr>
              <a:t>“The things we've been advocating are not just for a marginal group of people; they're for the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society as a whole.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Disability affects all of us.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It's time that we normalize and accept it rather than perceive it to be at the margins of our society."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E39856-2251-114F-97EF-EDBF93E14C54}"/>
              </a:ext>
            </a:extLst>
          </p:cNvPr>
          <p:cNvSpPr txBox="1"/>
          <p:nvPr/>
        </p:nvSpPr>
        <p:spPr>
          <a:xfrm>
            <a:off x="6400800" y="5943600"/>
            <a:ext cx="2343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en-US" sz="1800" i="1">
                <a:solidFill>
                  <a:prstClr val="black"/>
                </a:solidFill>
                <a:latin typeface="Calibri" panose="020F0502020204030204"/>
                <a:ea typeface="+mn-ea"/>
              </a:rPr>
              <a:t>- </a:t>
            </a:r>
            <a:r>
              <a:rPr lang="en-US" altLang="en-US" sz="2800">
                <a:solidFill>
                  <a:prstClr val="black"/>
                </a:solidFill>
                <a:latin typeface="Calibri" panose="020F0502020204030204"/>
                <a:ea typeface="+mn-ea"/>
              </a:rPr>
              <a:t>Marca </a:t>
            </a:r>
            <a:r>
              <a:rPr lang="en-US" altLang="en-US" sz="2800" dirty="0" err="1">
                <a:solidFill>
                  <a:prstClr val="black"/>
                </a:solidFill>
                <a:latin typeface="Calibri" panose="020F0502020204030204"/>
                <a:ea typeface="+mn-ea"/>
              </a:rPr>
              <a:t>Bristo</a:t>
            </a:r>
            <a:endParaRPr lang="en-US" altLang="en-US" sz="2800" i="1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pic>
        <p:nvPicPr>
          <p:cNvPr id="3" name="Picture 2" descr="A person holding a sign&#10;&#10;Description automatically generated">
            <a:extLst>
              <a:ext uri="{FF2B5EF4-FFF2-40B4-BE49-F238E27FC236}">
                <a16:creationId xmlns:a16="http://schemas.microsoft.com/office/drawing/2014/main" id="{E4382D30-E810-3145-A61E-2CA727D6C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367" y="3108960"/>
            <a:ext cx="2780016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126888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Clarity">
    <a:dk1>
      <a:srgbClr val="292934"/>
    </a:dk1>
    <a:lt1>
      <a:srgbClr val="FFFFFF"/>
    </a:lt1>
    <a:dk2>
      <a:srgbClr val="D2533C"/>
    </a:dk2>
    <a:lt2>
      <a:srgbClr val="F3F2DC"/>
    </a:lt2>
    <a:accent1>
      <a:srgbClr val="93A299"/>
    </a:accent1>
    <a:accent2>
      <a:srgbClr val="AD8F67"/>
    </a:accent2>
    <a:accent3>
      <a:srgbClr val="726056"/>
    </a:accent3>
    <a:accent4>
      <a:srgbClr val="4C5A6A"/>
    </a:accent4>
    <a:accent5>
      <a:srgbClr val="808DA0"/>
    </a:accent5>
    <a:accent6>
      <a:srgbClr val="79463D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3970</TotalTime>
  <Pages>18</Pages>
  <Words>1322</Words>
  <Application>Microsoft Macintosh PowerPoint</Application>
  <PresentationFormat>On-screen Show (4:3)</PresentationFormat>
  <Paragraphs>197</Paragraphs>
  <Slides>37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9" baseType="lpstr">
      <vt:lpstr>Arial</vt:lpstr>
      <vt:lpstr>Arial Narrow</vt:lpstr>
      <vt:lpstr>Book Antiqua</vt:lpstr>
      <vt:lpstr>Calibri</vt:lpstr>
      <vt:lpstr>Chalkboard SE</vt:lpstr>
      <vt:lpstr>Comic Sans MS</vt:lpstr>
      <vt:lpstr>Gill Sans MT</vt:lpstr>
      <vt:lpstr>Helvetica</vt:lpstr>
      <vt:lpstr>Monotype Sorts</vt:lpstr>
      <vt:lpstr>Times New Roman</vt:lpstr>
      <vt:lpstr>Wingdings</vt:lpstr>
      <vt:lpstr>Clarity</vt:lpstr>
      <vt:lpstr> David Hoff Maria Paiewonsky Institute for Community Inclusion University of Massachusetts, Boston www.communityinclusion.org    </vt:lpstr>
      <vt:lpstr>Part 1 of a 3-Part Webinar Series</vt:lpstr>
      <vt:lpstr>PowerPoint Presentation</vt:lpstr>
      <vt:lpstr>Legal protections for students with disabilities</vt:lpstr>
      <vt:lpstr>Purpose of the ADA</vt:lpstr>
      <vt:lpstr>PowerPoint Presentation</vt:lpstr>
      <vt:lpstr>PowerPoint Presentation</vt:lpstr>
      <vt:lpstr>  “Major Life Activity”  also includes “operation of major bodily functions” such as:</vt:lpstr>
      <vt:lpstr>PowerPoint Presentation</vt:lpstr>
      <vt:lpstr>PowerPoint Presentation</vt:lpstr>
      <vt:lpstr>PowerPoint Presentation</vt:lpstr>
      <vt:lpstr>ADA: TITLE III  Public Accommodation</vt:lpstr>
      <vt:lpstr>What is accessible?</vt:lpstr>
      <vt:lpstr>PowerPoint Presentation</vt:lpstr>
      <vt:lpstr>PowerPoint Presentation</vt:lpstr>
      <vt:lpstr>PowerPoint Presentation</vt:lpstr>
      <vt:lpstr>Implications for Adult Education Programs</vt:lpstr>
      <vt:lpstr>PowerPoint Presentation</vt:lpstr>
      <vt:lpstr>Don’t Forget About Web Accessibility and Online Learning</vt:lpstr>
      <vt:lpstr>Does this mean lowering standards and requirements?</vt:lpstr>
      <vt:lpstr>PowerPoint Presentation</vt:lpstr>
      <vt:lpstr>PowerPoint Presentation</vt:lpstr>
      <vt:lpstr>After enrollment, inquiries on a confidential basis may be made with goal of determining need for possible program accommodations  </vt:lpstr>
      <vt:lpstr>Screening for Disability</vt:lpstr>
      <vt:lpstr>ADA Standards for Adult and Community Learning Services</vt:lpstr>
      <vt:lpstr>PowerPoint Presentation</vt:lpstr>
      <vt:lpstr>Reasonable Accommodations in Adult Education</vt:lpstr>
      <vt:lpstr>Dealing with accommodation requests</vt:lpstr>
      <vt:lpstr>PowerPoint Presentation</vt:lpstr>
      <vt:lpstr>Accommodation Examples</vt:lpstr>
      <vt:lpstr>PowerPoint Presentation</vt:lpstr>
      <vt:lpstr>Student is not entitled to preferred accommodation, only an accommodation that  provides equal access</vt:lpstr>
      <vt:lpstr>PowerPoint Presentation</vt:lpstr>
      <vt:lpstr>Resources</vt:lpstr>
      <vt:lpstr>Handouts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AMERICAN’S WITH DISBAILITIES ACT (ADA)</dc:title>
  <dc:subject/>
  <dc:creator>Microsoft Select</dc:creator>
  <cp:keywords/>
  <dc:description/>
  <cp:lastModifiedBy>David Hoff</cp:lastModifiedBy>
  <cp:revision>285</cp:revision>
  <cp:lastPrinted>2019-03-21T02:22:29Z</cp:lastPrinted>
  <dcterms:created xsi:type="dcterms:W3CDTF">2009-01-30T12:45:21Z</dcterms:created>
  <dcterms:modified xsi:type="dcterms:W3CDTF">2019-12-10T17:35:30Z</dcterms:modified>
</cp:coreProperties>
</file>