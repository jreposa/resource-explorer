
<file path=[Content_Types].xml><?xml version="1.0" encoding="utf-8"?>
<Types xmlns="http://schemas.openxmlformats.org/package/2006/content-types">
  <Default Extension="emf" ContentType="image/x-emf"/>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9" r:id="rId1"/>
  </p:sldMasterIdLst>
  <p:notesMasterIdLst>
    <p:notesMasterId r:id="rId34"/>
  </p:notesMasterIdLst>
  <p:handoutMasterIdLst>
    <p:handoutMasterId r:id="rId35"/>
  </p:handoutMasterIdLst>
  <p:sldIdLst>
    <p:sldId id="281" r:id="rId2"/>
    <p:sldId id="485" r:id="rId3"/>
    <p:sldId id="487" r:id="rId4"/>
    <p:sldId id="268" r:id="rId5"/>
    <p:sldId id="296" r:id="rId6"/>
    <p:sldId id="494" r:id="rId7"/>
    <p:sldId id="297" r:id="rId8"/>
    <p:sldId id="298" r:id="rId9"/>
    <p:sldId id="319" r:id="rId10"/>
    <p:sldId id="304" r:id="rId11"/>
    <p:sldId id="314" r:id="rId12"/>
    <p:sldId id="489" r:id="rId13"/>
    <p:sldId id="302" r:id="rId14"/>
    <p:sldId id="505" r:id="rId15"/>
    <p:sldId id="303" r:id="rId16"/>
    <p:sldId id="305" r:id="rId17"/>
    <p:sldId id="306" r:id="rId18"/>
    <p:sldId id="307" r:id="rId19"/>
    <p:sldId id="308" r:id="rId20"/>
    <p:sldId id="488" r:id="rId21"/>
    <p:sldId id="486" r:id="rId22"/>
    <p:sldId id="310" r:id="rId23"/>
    <p:sldId id="315" r:id="rId24"/>
    <p:sldId id="490" r:id="rId25"/>
    <p:sldId id="491" r:id="rId26"/>
    <p:sldId id="317" r:id="rId27"/>
    <p:sldId id="493" r:id="rId28"/>
    <p:sldId id="311" r:id="rId29"/>
    <p:sldId id="504" r:id="rId30"/>
    <p:sldId id="312" r:id="rId31"/>
    <p:sldId id="1060" r:id="rId32"/>
    <p:sldId id="318" r:id="rId3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clrMru>
    <a:srgbClr val="006699"/>
    <a:srgbClr val="FC2D29"/>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86"/>
    <p:restoredTop sz="99826" autoAdjust="0"/>
  </p:normalViewPr>
  <p:slideViewPr>
    <p:cSldViewPr>
      <p:cViewPr varScale="1">
        <p:scale>
          <a:sx n="124" d="100"/>
          <a:sy n="124" d="100"/>
        </p:scale>
        <p:origin x="536"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136" d="100"/>
          <a:sy n="136" d="100"/>
        </p:scale>
        <p:origin x="-3512"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C20CBC-5D82-3C42-9FF7-2568E6DC7B25}" type="doc">
      <dgm:prSet loTypeId="urn:microsoft.com/office/officeart/2005/8/layout/cycle5" loCatId="" qsTypeId="urn:microsoft.com/office/officeart/2005/8/quickstyle/simple4" qsCatId="simple" csTypeId="urn:microsoft.com/office/officeart/2005/8/colors/accent1_2" csCatId="accent1" phldr="1"/>
      <dgm:spPr/>
      <dgm:t>
        <a:bodyPr/>
        <a:lstStyle/>
        <a:p>
          <a:endParaRPr lang="en-US"/>
        </a:p>
      </dgm:t>
    </dgm:pt>
    <dgm:pt modelId="{8BB9835D-AC34-8843-9044-FB28164C333F}">
      <dgm:prSet phldrT="[Text]"/>
      <dgm:spPr>
        <a:solidFill>
          <a:srgbClr val="006699"/>
        </a:solidFill>
      </dgm:spPr>
      <dgm:t>
        <a:bodyPr/>
        <a:lstStyle/>
        <a:p>
          <a:r>
            <a:rPr lang="en-US" b="1" dirty="0"/>
            <a:t>POLICIES</a:t>
          </a:r>
        </a:p>
      </dgm:t>
    </dgm:pt>
    <dgm:pt modelId="{48B28FF6-3BB4-F140-A288-ECC3230A34F3}" type="parTrans" cxnId="{C9EDD196-F089-B243-9C69-B3F59FABE1B4}">
      <dgm:prSet/>
      <dgm:spPr/>
      <dgm:t>
        <a:bodyPr/>
        <a:lstStyle/>
        <a:p>
          <a:endParaRPr lang="en-US"/>
        </a:p>
      </dgm:t>
    </dgm:pt>
    <dgm:pt modelId="{B5C4953E-A785-6C4A-B749-5A526D093C46}" type="sibTrans" cxnId="{C9EDD196-F089-B243-9C69-B3F59FABE1B4}">
      <dgm:prSet/>
      <dgm:spPr>
        <a:ln w="63500"/>
      </dgm:spPr>
      <dgm:t>
        <a:bodyPr/>
        <a:lstStyle/>
        <a:p>
          <a:endParaRPr lang="en-US"/>
        </a:p>
      </dgm:t>
    </dgm:pt>
    <dgm:pt modelId="{B972221A-69FE-294A-8FBB-A46D25B8FE4C}">
      <dgm:prSet phldrT="[Text]"/>
      <dgm:spPr>
        <a:solidFill>
          <a:srgbClr val="008000"/>
        </a:solidFill>
      </dgm:spPr>
      <dgm:t>
        <a:bodyPr/>
        <a:lstStyle/>
        <a:p>
          <a:r>
            <a:rPr lang="en-US" b="1" dirty="0"/>
            <a:t>PRACTICES</a:t>
          </a:r>
        </a:p>
      </dgm:t>
    </dgm:pt>
    <dgm:pt modelId="{8C45B8DE-B1EB-FA4E-8370-0749758D0205}" type="parTrans" cxnId="{CB1DFE73-243E-8D40-B187-D3AB4AAE99ED}">
      <dgm:prSet/>
      <dgm:spPr/>
      <dgm:t>
        <a:bodyPr/>
        <a:lstStyle/>
        <a:p>
          <a:endParaRPr lang="en-US"/>
        </a:p>
      </dgm:t>
    </dgm:pt>
    <dgm:pt modelId="{206EBCC5-8D2E-7E4E-96A4-6D48AE2B8650}" type="sibTrans" cxnId="{CB1DFE73-243E-8D40-B187-D3AB4AAE99ED}">
      <dgm:prSet/>
      <dgm:spPr>
        <a:ln w="63500"/>
      </dgm:spPr>
      <dgm:t>
        <a:bodyPr/>
        <a:lstStyle/>
        <a:p>
          <a:endParaRPr lang="en-US"/>
        </a:p>
      </dgm:t>
    </dgm:pt>
    <dgm:pt modelId="{04C47342-E022-0F4D-B495-7B406CD070AB}">
      <dgm:prSet phldrT="[Text]"/>
      <dgm:spPr>
        <a:solidFill>
          <a:srgbClr val="FFFF00"/>
        </a:solidFill>
      </dgm:spPr>
      <dgm:t>
        <a:bodyPr/>
        <a:lstStyle/>
        <a:p>
          <a:r>
            <a:rPr lang="en-US" b="1" dirty="0">
              <a:solidFill>
                <a:srgbClr val="000000"/>
              </a:solidFill>
            </a:rPr>
            <a:t>PROCEDURES</a:t>
          </a:r>
        </a:p>
      </dgm:t>
    </dgm:pt>
    <dgm:pt modelId="{B7F0C352-D28A-C244-99B8-336FBDABE55C}" type="parTrans" cxnId="{04793021-D2E2-3B46-A256-7616D6EB6118}">
      <dgm:prSet/>
      <dgm:spPr/>
      <dgm:t>
        <a:bodyPr/>
        <a:lstStyle/>
        <a:p>
          <a:endParaRPr lang="en-US"/>
        </a:p>
      </dgm:t>
    </dgm:pt>
    <dgm:pt modelId="{A0E09194-26D6-EE43-8640-B0D1872BA631}" type="sibTrans" cxnId="{04793021-D2E2-3B46-A256-7616D6EB6118}">
      <dgm:prSet/>
      <dgm:spPr>
        <a:ln w="63500"/>
      </dgm:spPr>
      <dgm:t>
        <a:bodyPr/>
        <a:lstStyle/>
        <a:p>
          <a:endParaRPr lang="en-US"/>
        </a:p>
      </dgm:t>
    </dgm:pt>
    <dgm:pt modelId="{0B8EB744-5398-EA41-BDDE-82C1C2C528E4}" type="pres">
      <dgm:prSet presAssocID="{1EC20CBC-5D82-3C42-9FF7-2568E6DC7B25}" presName="cycle" presStyleCnt="0">
        <dgm:presLayoutVars>
          <dgm:dir/>
          <dgm:resizeHandles val="exact"/>
        </dgm:presLayoutVars>
      </dgm:prSet>
      <dgm:spPr/>
    </dgm:pt>
    <dgm:pt modelId="{B1533B44-B80D-5C42-8E34-44C97968A225}" type="pres">
      <dgm:prSet presAssocID="{8BB9835D-AC34-8843-9044-FB28164C333F}" presName="node" presStyleLbl="node1" presStyleIdx="0" presStyleCnt="3">
        <dgm:presLayoutVars>
          <dgm:bulletEnabled val="1"/>
        </dgm:presLayoutVars>
      </dgm:prSet>
      <dgm:spPr/>
    </dgm:pt>
    <dgm:pt modelId="{0AE67821-3554-D448-BED6-FEFA5A84729F}" type="pres">
      <dgm:prSet presAssocID="{8BB9835D-AC34-8843-9044-FB28164C333F}" presName="spNode" presStyleCnt="0"/>
      <dgm:spPr/>
    </dgm:pt>
    <dgm:pt modelId="{9C1C2715-3CB3-714B-AD90-1E1138FCD85E}" type="pres">
      <dgm:prSet presAssocID="{B5C4953E-A785-6C4A-B749-5A526D093C46}" presName="sibTrans" presStyleLbl="sibTrans1D1" presStyleIdx="0" presStyleCnt="3"/>
      <dgm:spPr/>
    </dgm:pt>
    <dgm:pt modelId="{C74EFFF1-066D-404E-96E8-612241DCE230}" type="pres">
      <dgm:prSet presAssocID="{B972221A-69FE-294A-8FBB-A46D25B8FE4C}" presName="node" presStyleLbl="node1" presStyleIdx="1" presStyleCnt="3">
        <dgm:presLayoutVars>
          <dgm:bulletEnabled val="1"/>
        </dgm:presLayoutVars>
      </dgm:prSet>
      <dgm:spPr/>
    </dgm:pt>
    <dgm:pt modelId="{0A77D89D-99B9-1D49-B700-CF44B6C56363}" type="pres">
      <dgm:prSet presAssocID="{B972221A-69FE-294A-8FBB-A46D25B8FE4C}" presName="spNode" presStyleCnt="0"/>
      <dgm:spPr/>
    </dgm:pt>
    <dgm:pt modelId="{74B65D76-7AB4-EE46-AE5A-CC34E8CE6594}" type="pres">
      <dgm:prSet presAssocID="{206EBCC5-8D2E-7E4E-96A4-6D48AE2B8650}" presName="sibTrans" presStyleLbl="sibTrans1D1" presStyleIdx="1" presStyleCnt="3"/>
      <dgm:spPr/>
    </dgm:pt>
    <dgm:pt modelId="{069DA070-F922-9443-8EA1-1A1876B84091}" type="pres">
      <dgm:prSet presAssocID="{04C47342-E022-0F4D-B495-7B406CD070AB}" presName="node" presStyleLbl="node1" presStyleIdx="2" presStyleCnt="3">
        <dgm:presLayoutVars>
          <dgm:bulletEnabled val="1"/>
        </dgm:presLayoutVars>
      </dgm:prSet>
      <dgm:spPr/>
    </dgm:pt>
    <dgm:pt modelId="{57F3D258-12AC-214A-BF66-3EE04500A1E7}" type="pres">
      <dgm:prSet presAssocID="{04C47342-E022-0F4D-B495-7B406CD070AB}" presName="spNode" presStyleCnt="0"/>
      <dgm:spPr/>
    </dgm:pt>
    <dgm:pt modelId="{DC224618-5BB9-CA4A-80FB-438B47C84FFC}" type="pres">
      <dgm:prSet presAssocID="{A0E09194-26D6-EE43-8640-B0D1872BA631}" presName="sibTrans" presStyleLbl="sibTrans1D1" presStyleIdx="2" presStyleCnt="3"/>
      <dgm:spPr/>
    </dgm:pt>
  </dgm:ptLst>
  <dgm:cxnLst>
    <dgm:cxn modelId="{6983A002-CC28-1C4A-AA45-1A24B8BC7E07}" type="presOf" srcId="{04C47342-E022-0F4D-B495-7B406CD070AB}" destId="{069DA070-F922-9443-8EA1-1A1876B84091}" srcOrd="0" destOrd="0" presId="urn:microsoft.com/office/officeart/2005/8/layout/cycle5"/>
    <dgm:cxn modelId="{F767CF0A-B392-3D47-9501-678FFB8E9763}" type="presOf" srcId="{B972221A-69FE-294A-8FBB-A46D25B8FE4C}" destId="{C74EFFF1-066D-404E-96E8-612241DCE230}" srcOrd="0" destOrd="0" presId="urn:microsoft.com/office/officeart/2005/8/layout/cycle5"/>
    <dgm:cxn modelId="{49258F1A-FC40-B242-9B35-3EB6E8159979}" type="presOf" srcId="{1EC20CBC-5D82-3C42-9FF7-2568E6DC7B25}" destId="{0B8EB744-5398-EA41-BDDE-82C1C2C528E4}" srcOrd="0" destOrd="0" presId="urn:microsoft.com/office/officeart/2005/8/layout/cycle5"/>
    <dgm:cxn modelId="{719FE21C-D710-9440-9B6F-BDCF76E47CA8}" type="presOf" srcId="{206EBCC5-8D2E-7E4E-96A4-6D48AE2B8650}" destId="{74B65D76-7AB4-EE46-AE5A-CC34E8CE6594}" srcOrd="0" destOrd="0" presId="urn:microsoft.com/office/officeart/2005/8/layout/cycle5"/>
    <dgm:cxn modelId="{04793021-D2E2-3B46-A256-7616D6EB6118}" srcId="{1EC20CBC-5D82-3C42-9FF7-2568E6DC7B25}" destId="{04C47342-E022-0F4D-B495-7B406CD070AB}" srcOrd="2" destOrd="0" parTransId="{B7F0C352-D28A-C244-99B8-336FBDABE55C}" sibTransId="{A0E09194-26D6-EE43-8640-B0D1872BA631}"/>
    <dgm:cxn modelId="{E9E2635A-E22E-5D44-8655-441AE7D33A7F}" type="presOf" srcId="{8BB9835D-AC34-8843-9044-FB28164C333F}" destId="{B1533B44-B80D-5C42-8E34-44C97968A225}" srcOrd="0" destOrd="0" presId="urn:microsoft.com/office/officeart/2005/8/layout/cycle5"/>
    <dgm:cxn modelId="{CB1DFE73-243E-8D40-B187-D3AB4AAE99ED}" srcId="{1EC20CBC-5D82-3C42-9FF7-2568E6DC7B25}" destId="{B972221A-69FE-294A-8FBB-A46D25B8FE4C}" srcOrd="1" destOrd="0" parTransId="{8C45B8DE-B1EB-FA4E-8370-0749758D0205}" sibTransId="{206EBCC5-8D2E-7E4E-96A4-6D48AE2B8650}"/>
    <dgm:cxn modelId="{2B2C0A86-99E4-F04D-B633-52F2FEFFDC81}" type="presOf" srcId="{B5C4953E-A785-6C4A-B749-5A526D093C46}" destId="{9C1C2715-3CB3-714B-AD90-1E1138FCD85E}" srcOrd="0" destOrd="0" presId="urn:microsoft.com/office/officeart/2005/8/layout/cycle5"/>
    <dgm:cxn modelId="{C9EDD196-F089-B243-9C69-B3F59FABE1B4}" srcId="{1EC20CBC-5D82-3C42-9FF7-2568E6DC7B25}" destId="{8BB9835D-AC34-8843-9044-FB28164C333F}" srcOrd="0" destOrd="0" parTransId="{48B28FF6-3BB4-F140-A288-ECC3230A34F3}" sibTransId="{B5C4953E-A785-6C4A-B749-5A526D093C46}"/>
    <dgm:cxn modelId="{1655BBFF-2BA1-314F-A3F8-DFDB13726FAD}" type="presOf" srcId="{A0E09194-26D6-EE43-8640-B0D1872BA631}" destId="{DC224618-5BB9-CA4A-80FB-438B47C84FFC}" srcOrd="0" destOrd="0" presId="urn:microsoft.com/office/officeart/2005/8/layout/cycle5"/>
    <dgm:cxn modelId="{AFB401FB-B5B9-8046-BFE6-CD05DB297E19}" type="presParOf" srcId="{0B8EB744-5398-EA41-BDDE-82C1C2C528E4}" destId="{B1533B44-B80D-5C42-8E34-44C97968A225}" srcOrd="0" destOrd="0" presId="urn:microsoft.com/office/officeart/2005/8/layout/cycle5"/>
    <dgm:cxn modelId="{6CC43B46-A270-D946-8BDD-9FBFFFA29F7B}" type="presParOf" srcId="{0B8EB744-5398-EA41-BDDE-82C1C2C528E4}" destId="{0AE67821-3554-D448-BED6-FEFA5A84729F}" srcOrd="1" destOrd="0" presId="urn:microsoft.com/office/officeart/2005/8/layout/cycle5"/>
    <dgm:cxn modelId="{E31D9758-26AA-9E48-811B-E3F99B37BFC8}" type="presParOf" srcId="{0B8EB744-5398-EA41-BDDE-82C1C2C528E4}" destId="{9C1C2715-3CB3-714B-AD90-1E1138FCD85E}" srcOrd="2" destOrd="0" presId="urn:microsoft.com/office/officeart/2005/8/layout/cycle5"/>
    <dgm:cxn modelId="{F1B8DA10-1D01-8D4C-9551-A809169C465C}" type="presParOf" srcId="{0B8EB744-5398-EA41-BDDE-82C1C2C528E4}" destId="{C74EFFF1-066D-404E-96E8-612241DCE230}" srcOrd="3" destOrd="0" presId="urn:microsoft.com/office/officeart/2005/8/layout/cycle5"/>
    <dgm:cxn modelId="{81D6F6BA-0BCA-324B-91B4-F2CE8FC86D2B}" type="presParOf" srcId="{0B8EB744-5398-EA41-BDDE-82C1C2C528E4}" destId="{0A77D89D-99B9-1D49-B700-CF44B6C56363}" srcOrd="4" destOrd="0" presId="urn:microsoft.com/office/officeart/2005/8/layout/cycle5"/>
    <dgm:cxn modelId="{4225DE24-9D3B-ED47-B3A4-F8AF0C863DC9}" type="presParOf" srcId="{0B8EB744-5398-EA41-BDDE-82C1C2C528E4}" destId="{74B65D76-7AB4-EE46-AE5A-CC34E8CE6594}" srcOrd="5" destOrd="0" presId="urn:microsoft.com/office/officeart/2005/8/layout/cycle5"/>
    <dgm:cxn modelId="{AD539DAD-2A52-7348-A972-07F6BDFAEECA}" type="presParOf" srcId="{0B8EB744-5398-EA41-BDDE-82C1C2C528E4}" destId="{069DA070-F922-9443-8EA1-1A1876B84091}" srcOrd="6" destOrd="0" presId="urn:microsoft.com/office/officeart/2005/8/layout/cycle5"/>
    <dgm:cxn modelId="{32620BE9-D39B-1343-8B49-B88055F5CC42}" type="presParOf" srcId="{0B8EB744-5398-EA41-BDDE-82C1C2C528E4}" destId="{57F3D258-12AC-214A-BF66-3EE04500A1E7}" srcOrd="7" destOrd="0" presId="urn:microsoft.com/office/officeart/2005/8/layout/cycle5"/>
    <dgm:cxn modelId="{5B495A9E-D07B-704D-A4DC-ABF600CD93CD}" type="presParOf" srcId="{0B8EB744-5398-EA41-BDDE-82C1C2C528E4}" destId="{DC224618-5BB9-CA4A-80FB-438B47C84FFC}"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533B44-B80D-5C42-8E34-44C97968A225}">
      <dsp:nvSpPr>
        <dsp:cNvPr id="0" name=""/>
        <dsp:cNvSpPr/>
      </dsp:nvSpPr>
      <dsp:spPr>
        <a:xfrm>
          <a:off x="3322513" y="1014"/>
          <a:ext cx="2727573" cy="1772922"/>
        </a:xfrm>
        <a:prstGeom prst="roundRect">
          <a:avLst/>
        </a:prstGeom>
        <a:solidFill>
          <a:srgbClr val="006699"/>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POLICIES</a:t>
          </a:r>
        </a:p>
      </dsp:txBody>
      <dsp:txXfrm>
        <a:off x="3409060" y="87561"/>
        <a:ext cx="2554479" cy="1599828"/>
      </dsp:txXfrm>
    </dsp:sp>
    <dsp:sp modelId="{9C1C2715-3CB3-714B-AD90-1E1138FCD85E}">
      <dsp:nvSpPr>
        <dsp:cNvPr id="0" name=""/>
        <dsp:cNvSpPr/>
      </dsp:nvSpPr>
      <dsp:spPr>
        <a:xfrm>
          <a:off x="2322399" y="887475"/>
          <a:ext cx="4727801" cy="4727801"/>
        </a:xfrm>
        <a:custGeom>
          <a:avLst/>
          <a:gdLst/>
          <a:ahLst/>
          <a:cxnLst/>
          <a:rect l="0" t="0" r="0" b="0"/>
          <a:pathLst>
            <a:path>
              <a:moveTo>
                <a:pt x="4093562" y="752598"/>
              </a:moveTo>
              <a:arcTo wR="2363900" hR="2363900" stAng="19021738" swAng="2301432"/>
            </a:path>
          </a:pathLst>
        </a:custGeom>
        <a:noFill/>
        <a:ln w="6350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sp>
    <dsp:sp modelId="{C74EFFF1-066D-404E-96E8-612241DCE230}">
      <dsp:nvSpPr>
        <dsp:cNvPr id="0" name=""/>
        <dsp:cNvSpPr/>
      </dsp:nvSpPr>
      <dsp:spPr>
        <a:xfrm>
          <a:off x="5369711" y="3546865"/>
          <a:ext cx="2727573" cy="1772922"/>
        </a:xfrm>
        <a:prstGeom prst="roundRect">
          <a:avLst/>
        </a:prstGeom>
        <a:solidFill>
          <a:srgbClr val="00800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PRACTICES</a:t>
          </a:r>
        </a:p>
      </dsp:txBody>
      <dsp:txXfrm>
        <a:off x="5456258" y="3633412"/>
        <a:ext cx="2554479" cy="1599828"/>
      </dsp:txXfrm>
    </dsp:sp>
    <dsp:sp modelId="{74B65D76-7AB4-EE46-AE5A-CC34E8CE6594}">
      <dsp:nvSpPr>
        <dsp:cNvPr id="0" name=""/>
        <dsp:cNvSpPr/>
      </dsp:nvSpPr>
      <dsp:spPr>
        <a:xfrm>
          <a:off x="2322399" y="887475"/>
          <a:ext cx="4727801" cy="4727801"/>
        </a:xfrm>
        <a:custGeom>
          <a:avLst/>
          <a:gdLst/>
          <a:ahLst/>
          <a:cxnLst/>
          <a:rect l="0" t="0" r="0" b="0"/>
          <a:pathLst>
            <a:path>
              <a:moveTo>
                <a:pt x="3088882" y="4613884"/>
              </a:moveTo>
              <a:arcTo wR="2363900" hR="2363900" stAng="4328412" swAng="2143175"/>
            </a:path>
          </a:pathLst>
        </a:custGeom>
        <a:noFill/>
        <a:ln w="6350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sp>
    <dsp:sp modelId="{069DA070-F922-9443-8EA1-1A1876B84091}">
      <dsp:nvSpPr>
        <dsp:cNvPr id="0" name=""/>
        <dsp:cNvSpPr/>
      </dsp:nvSpPr>
      <dsp:spPr>
        <a:xfrm>
          <a:off x="1275315" y="3546865"/>
          <a:ext cx="2727573" cy="1772922"/>
        </a:xfrm>
        <a:prstGeom prst="roundRect">
          <a:avLst/>
        </a:prstGeom>
        <a:solidFill>
          <a:srgbClr val="FFFF0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rgbClr val="000000"/>
              </a:solidFill>
            </a:rPr>
            <a:t>PROCEDURES</a:t>
          </a:r>
        </a:p>
      </dsp:txBody>
      <dsp:txXfrm>
        <a:off x="1361862" y="3633412"/>
        <a:ext cx="2554479" cy="1599828"/>
      </dsp:txXfrm>
    </dsp:sp>
    <dsp:sp modelId="{DC224618-5BB9-CA4A-80FB-438B47C84FFC}">
      <dsp:nvSpPr>
        <dsp:cNvPr id="0" name=""/>
        <dsp:cNvSpPr/>
      </dsp:nvSpPr>
      <dsp:spPr>
        <a:xfrm>
          <a:off x="2322399" y="887475"/>
          <a:ext cx="4727801" cy="4727801"/>
        </a:xfrm>
        <a:custGeom>
          <a:avLst/>
          <a:gdLst/>
          <a:ahLst/>
          <a:cxnLst/>
          <a:rect l="0" t="0" r="0" b="0"/>
          <a:pathLst>
            <a:path>
              <a:moveTo>
                <a:pt x="7660" y="2173749"/>
              </a:moveTo>
              <a:arcTo wR="2363900" hR="2363900" stAng="11076830" swAng="2301432"/>
            </a:path>
          </a:pathLst>
        </a:custGeom>
        <a:noFill/>
        <a:ln w="63500" cap="flat" cmpd="sng" algn="ctr">
          <a:solidFill>
            <a:scrgbClr r="0" g="0" b="0">
              <a:shade val="95000"/>
              <a:satMod val="105000"/>
            </a:scrgb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theme" Target="../theme/theme3.xml"/><Relationship Id="rId4" Type="http://schemas.openxmlformats.org/officeDocument/2006/relationships/image" Target="../media/image2.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6"/>
          <p:cNvSpPr>
            <a:spLocks noChangeArrowheads="1"/>
          </p:cNvSpPr>
          <p:nvPr/>
        </p:nvSpPr>
        <p:spPr bwMode="auto">
          <a:xfrm>
            <a:off x="3200400" y="8588375"/>
            <a:ext cx="28956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ctr"/>
            <a:endParaRPr lang="en-US" sz="1400"/>
          </a:p>
        </p:txBody>
      </p:sp>
      <p:sp>
        <p:nvSpPr>
          <p:cNvPr id="13315" name="Rectangle 7"/>
          <p:cNvSpPr>
            <a:spLocks noChangeArrowheads="1"/>
          </p:cNvSpPr>
          <p:nvPr/>
        </p:nvSpPr>
        <p:spPr bwMode="auto">
          <a:xfrm>
            <a:off x="4800600" y="152400"/>
            <a:ext cx="19050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a:lstStyle/>
          <a:p>
            <a:pPr algn="r"/>
            <a:fld id="{81801E67-BCB0-3A4E-95B0-D9A8B7382E5E}" type="slidenum">
              <a:rPr lang="en-US" sz="1400"/>
              <a:pPr algn="r"/>
              <a:t>‹#›</a:t>
            </a:fld>
            <a:endParaRPr lang="en-US" sz="1400"/>
          </a:p>
        </p:txBody>
      </p:sp>
      <p:pic>
        <p:nvPicPr>
          <p:cNvPr id="13316" name="Picture 11" descr="iciPPT_BI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458200"/>
            <a:ext cx="3048000" cy="488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3317" name="Group 14"/>
          <p:cNvGrpSpPr>
            <a:grpSpLocks/>
          </p:cNvGrpSpPr>
          <p:nvPr/>
        </p:nvGrpSpPr>
        <p:grpSpPr bwMode="auto">
          <a:xfrm>
            <a:off x="5638800" y="8486775"/>
            <a:ext cx="762000" cy="438150"/>
            <a:chOff x="5103" y="5266"/>
            <a:chExt cx="586" cy="336"/>
          </a:xfrm>
        </p:grpSpPr>
        <p:pic>
          <p:nvPicPr>
            <p:cNvPr id="13318" name="Picture 10" descr="umb_whi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3" y="5266"/>
              <a:ext cx="273" cy="3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3319" name="Picture 12" descr="CHB_reverse_BI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4" y="5266"/>
              <a:ext cx="265"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val="25091714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200">
                <a:cs typeface="Geneva" charset="0"/>
              </a:defRPr>
            </a:lvl1pPr>
          </a:lstStyle>
          <a:p>
            <a:pPr>
              <a:defRPr/>
            </a:pPr>
            <a:endParaRPr lang="en-US"/>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200">
                <a:cs typeface="Geneva"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defRPr sz="1200">
                <a:cs typeface="Geneva" charset="0"/>
              </a:defRPr>
            </a:lvl1pPr>
          </a:lstStyle>
          <a:p>
            <a:pPr>
              <a:defRPr/>
            </a:pPr>
            <a:endParaRPr lang="en-US"/>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r">
              <a:defRPr sz="1200">
                <a:cs typeface="Geneva" charset="0"/>
              </a:defRPr>
            </a:lvl1pPr>
          </a:lstStyle>
          <a:p>
            <a:pPr>
              <a:defRPr/>
            </a:pPr>
            <a:fld id="{6C57704F-5C8F-364D-96B4-E8C4A8B3F5E3}" type="slidenum">
              <a:rPr lang="en-US"/>
              <a:pPr>
                <a:defRPr/>
              </a:pPr>
              <a:t>‹#›</a:t>
            </a:fld>
            <a:endParaRPr lang="en-US"/>
          </a:p>
        </p:txBody>
      </p:sp>
    </p:spTree>
    <p:extLst>
      <p:ext uri="{BB962C8B-B14F-4D97-AF65-F5344CB8AC3E}">
        <p14:creationId xmlns:p14="http://schemas.microsoft.com/office/powerpoint/2010/main" val="332595040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Geneva" charset="0"/>
      </a:defRPr>
    </a:lvl1pPr>
    <a:lvl2pPr marL="457200" algn="l" rtl="0" eaLnBrk="0" fontAlgn="base" hangingPunct="0">
      <a:spcBef>
        <a:spcPct val="30000"/>
      </a:spcBef>
      <a:spcAft>
        <a:spcPct val="0"/>
      </a:spcAft>
      <a:defRPr sz="1200" kern="1200">
        <a:solidFill>
          <a:schemeClr val="tx1"/>
        </a:solidFill>
        <a:latin typeface="Arial" charset="0"/>
        <a:ea typeface="Geneva" charset="0"/>
        <a:cs typeface="Geneva" charset="0"/>
      </a:defRPr>
    </a:lvl2pPr>
    <a:lvl3pPr marL="914400" algn="l" rtl="0" eaLnBrk="0" fontAlgn="base" hangingPunct="0">
      <a:spcBef>
        <a:spcPct val="30000"/>
      </a:spcBef>
      <a:spcAft>
        <a:spcPct val="0"/>
      </a:spcAft>
      <a:defRPr sz="1200" kern="1200">
        <a:solidFill>
          <a:schemeClr val="tx1"/>
        </a:solidFill>
        <a:latin typeface="Arial" charset="0"/>
        <a:ea typeface="Geneva" charset="0"/>
        <a:cs typeface="Geneva" charset="0"/>
      </a:defRPr>
    </a:lvl3pPr>
    <a:lvl4pPr marL="1371600" algn="l" rtl="0" eaLnBrk="0" fontAlgn="base" hangingPunct="0">
      <a:spcBef>
        <a:spcPct val="30000"/>
      </a:spcBef>
      <a:spcAft>
        <a:spcPct val="0"/>
      </a:spcAft>
      <a:defRPr sz="1200" kern="1200">
        <a:solidFill>
          <a:schemeClr val="tx1"/>
        </a:solidFill>
        <a:latin typeface="Arial" charset="0"/>
        <a:ea typeface="Geneva" charset="0"/>
        <a:cs typeface="Geneva" charset="0"/>
      </a:defRPr>
    </a:lvl4pPr>
    <a:lvl5pPr marL="1828800" algn="l" rtl="0" eaLnBrk="0" fontAlgn="base" hangingPunct="0">
      <a:spcBef>
        <a:spcPct val="30000"/>
      </a:spcBef>
      <a:spcAft>
        <a:spcPct val="0"/>
      </a:spcAft>
      <a:defRPr sz="1200" kern="1200">
        <a:solidFill>
          <a:schemeClr val="tx1"/>
        </a:solidFill>
        <a:latin typeface="Arial" charset="0"/>
        <a:ea typeface="Geneva" charset="0"/>
        <a:cs typeface="Geneva"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5867400"/>
            <a:ext cx="9144000" cy="9906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5" name="Rectangle 8"/>
          <p:cNvSpPr>
            <a:spLocks noChangeArrowheads="1"/>
          </p:cNvSpPr>
          <p:nvPr userDrawn="1"/>
        </p:nvSpPr>
        <p:spPr bwMode="auto">
          <a:xfrm>
            <a:off x="0" y="5867400"/>
            <a:ext cx="9144000" cy="152400"/>
          </a:xfrm>
          <a:prstGeom prst="rect">
            <a:avLst/>
          </a:prstGeom>
          <a:solidFill>
            <a:srgbClr val="0099CC"/>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6"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sp>
        <p:nvSpPr>
          <p:cNvPr id="61442" name="Rectangle 2"/>
          <p:cNvSpPr>
            <a:spLocks noGrp="1" noChangeArrowheads="1"/>
          </p:cNvSpPr>
          <p:nvPr>
            <p:ph type="ctrTitle"/>
          </p:nvPr>
        </p:nvSpPr>
        <p:spPr>
          <a:xfrm>
            <a:off x="685800" y="2286000"/>
            <a:ext cx="7772400" cy="1143000"/>
          </a:xfrm>
        </p:spPr>
        <p:txBody>
          <a:bodyPr/>
          <a:lstStyle>
            <a:lvl1pPr>
              <a:defRPr/>
            </a:lvl1pPr>
          </a:lstStyle>
          <a:p>
            <a:pPr lvl="0"/>
            <a:r>
              <a:rPr lang="en-US" noProof="0"/>
              <a:t>Click to edit Master title style</a:t>
            </a:r>
          </a:p>
        </p:txBody>
      </p:sp>
      <p:sp>
        <p:nvSpPr>
          <p:cNvPr id="61443"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noProof="0"/>
              <a:t>Click to edit Master subtitle style</a:t>
            </a:r>
          </a:p>
        </p:txBody>
      </p:sp>
      <p:sp>
        <p:nvSpPr>
          <p:cNvPr id="10"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11"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12" name="Rectangle 6"/>
          <p:cNvSpPr>
            <a:spLocks noGrp="1" noChangeArrowheads="1"/>
          </p:cNvSpPr>
          <p:nvPr>
            <p:ph type="sldNum" sz="quarter" idx="12"/>
          </p:nvPr>
        </p:nvSpPr>
        <p:spPr>
          <a:xfrm>
            <a:off x="6294279" y="6248400"/>
            <a:ext cx="1905000" cy="457200"/>
          </a:xfrm>
        </p:spPr>
        <p:txBody>
          <a:bodyPr/>
          <a:lstStyle>
            <a:lvl1pPr>
              <a:defRPr/>
            </a:lvl1pPr>
          </a:lstStyle>
          <a:p>
            <a:pPr>
              <a:defRPr/>
            </a:pPr>
            <a:fld id="{2607A44F-CBF3-044D-A84E-7C7318D24EF0}" type="slidenum">
              <a:rPr lang="en-US"/>
              <a:pPr>
                <a:defRPr/>
              </a:pPr>
              <a:t>‹#›</a:t>
            </a:fld>
            <a:endParaRPr lang="en-US" dirty="0"/>
          </a:p>
        </p:txBody>
      </p:sp>
    </p:spTree>
    <p:extLst>
      <p:ext uri="{BB962C8B-B14F-4D97-AF65-F5344CB8AC3E}">
        <p14:creationId xmlns:p14="http://schemas.microsoft.com/office/powerpoint/2010/main" val="259148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8DFCCDA7-D618-4941-BFD0-9F32B03099BD}" type="slidenum">
              <a:rPr lang="en-US"/>
              <a:pPr>
                <a:defRPr/>
              </a:pPr>
              <a:t>‹#›</a:t>
            </a:fld>
            <a:endParaRPr lang="en-US"/>
          </a:p>
        </p:txBody>
      </p:sp>
    </p:spTree>
    <p:extLst>
      <p:ext uri="{BB962C8B-B14F-4D97-AF65-F5344CB8AC3E}">
        <p14:creationId xmlns:p14="http://schemas.microsoft.com/office/powerpoint/2010/main" val="1050406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66FB56B-17E6-A248-95F7-9F42EE97FB79}" type="slidenum">
              <a:rPr lang="en-US"/>
              <a:pPr>
                <a:defRPr/>
              </a:pPr>
              <a:t>‹#›</a:t>
            </a:fld>
            <a:endParaRPr lang="en-US"/>
          </a:p>
        </p:txBody>
      </p:sp>
    </p:spTree>
    <p:extLst>
      <p:ext uri="{BB962C8B-B14F-4D97-AF65-F5344CB8AC3E}">
        <p14:creationId xmlns:p14="http://schemas.microsoft.com/office/powerpoint/2010/main" val="305714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752600"/>
            <a:ext cx="3810000" cy="3810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52600"/>
            <a:ext cx="3810000" cy="3810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C4B3EDEB-FCE4-4240-BE21-5875B6AAB8AD}" type="slidenum">
              <a:rPr lang="en-US"/>
              <a:pPr>
                <a:defRPr/>
              </a:pPr>
              <a:t>‹#›</a:t>
            </a:fld>
            <a:endParaRPr lang="en-US"/>
          </a:p>
        </p:txBody>
      </p:sp>
    </p:spTree>
    <p:extLst>
      <p:ext uri="{BB962C8B-B14F-4D97-AF65-F5344CB8AC3E}">
        <p14:creationId xmlns:p14="http://schemas.microsoft.com/office/powerpoint/2010/main" val="1879078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8"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1129A3F3-3D2B-1D42-A3CF-959E8C1C191D}" type="slidenum">
              <a:rPr lang="en-US"/>
              <a:pPr>
                <a:defRPr/>
              </a:pPr>
              <a:t>‹#›</a:t>
            </a:fld>
            <a:endParaRPr lang="en-US"/>
          </a:p>
        </p:txBody>
      </p:sp>
    </p:spTree>
    <p:extLst>
      <p:ext uri="{BB962C8B-B14F-4D97-AF65-F5344CB8AC3E}">
        <p14:creationId xmlns:p14="http://schemas.microsoft.com/office/powerpoint/2010/main" val="1519593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BCD94B30-03E1-5E4E-8331-F3C49347F09D}" type="slidenum">
              <a:rPr lang="en-US"/>
              <a:pPr>
                <a:defRPr/>
              </a:pPr>
              <a:t>‹#›</a:t>
            </a:fld>
            <a:endParaRPr lang="en-US"/>
          </a:p>
        </p:txBody>
      </p:sp>
    </p:spTree>
    <p:extLst>
      <p:ext uri="{BB962C8B-B14F-4D97-AF65-F5344CB8AC3E}">
        <p14:creationId xmlns:p14="http://schemas.microsoft.com/office/powerpoint/2010/main" val="1150826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3"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3E013DC7-58F9-B64F-B78B-54BE3030B082}" type="slidenum">
              <a:rPr lang="en-US"/>
              <a:pPr>
                <a:defRPr/>
              </a:pPr>
              <a:t>‹#›</a:t>
            </a:fld>
            <a:endParaRPr lang="en-US"/>
          </a:p>
        </p:txBody>
      </p:sp>
    </p:spTree>
    <p:extLst>
      <p:ext uri="{BB962C8B-B14F-4D97-AF65-F5344CB8AC3E}">
        <p14:creationId xmlns:p14="http://schemas.microsoft.com/office/powerpoint/2010/main" val="2053703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1AEDF5B-CB33-AD42-AC2C-44BF9BFEDCF9}" type="slidenum">
              <a:rPr lang="en-US"/>
              <a:pPr>
                <a:defRPr/>
              </a:pPr>
              <a:t>‹#›</a:t>
            </a:fld>
            <a:endParaRPr lang="en-US"/>
          </a:p>
        </p:txBody>
      </p:sp>
    </p:spTree>
    <p:extLst>
      <p:ext uri="{BB962C8B-B14F-4D97-AF65-F5344CB8AC3E}">
        <p14:creationId xmlns:p14="http://schemas.microsoft.com/office/powerpoint/2010/main" val="3250659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B8401C5E-0713-3047-88F3-6BED1CF1EE66}" type="slidenum">
              <a:rPr lang="en-US"/>
              <a:pPr>
                <a:defRPr/>
              </a:pPr>
              <a:t>‹#›</a:t>
            </a:fld>
            <a:endParaRPr lang="en-US"/>
          </a:p>
        </p:txBody>
      </p:sp>
    </p:spTree>
    <p:extLst>
      <p:ext uri="{BB962C8B-B14F-4D97-AF65-F5344CB8AC3E}">
        <p14:creationId xmlns:p14="http://schemas.microsoft.com/office/powerpoint/2010/main" val="1444869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D048173A-EE49-DC49-870A-19A0DAEE9108}" type="slidenum">
              <a:rPr lang="en-US"/>
              <a:pPr>
                <a:defRPr/>
              </a:pPr>
              <a:t>‹#›</a:t>
            </a:fld>
            <a:endParaRPr lang="en-US"/>
          </a:p>
        </p:txBody>
      </p:sp>
    </p:spTree>
    <p:extLst>
      <p:ext uri="{BB962C8B-B14F-4D97-AF65-F5344CB8AC3E}">
        <p14:creationId xmlns:p14="http://schemas.microsoft.com/office/powerpoint/2010/main" val="330289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457200"/>
            <a:ext cx="1943100"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457200"/>
            <a:ext cx="5676900" cy="5105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685800" y="6248400"/>
            <a:ext cx="1905000" cy="457200"/>
          </a:xfrm>
          <a:prstGeom prst="rect">
            <a:avLst/>
          </a:prstGeom>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8A0B5671-4B6B-B543-A8B3-BA15BED1ACFE}" type="slidenum">
              <a:rPr lang="en-US"/>
              <a:pPr>
                <a:defRPr/>
              </a:pPr>
              <a:t>‹#›</a:t>
            </a:fld>
            <a:endParaRPr lang="en-US"/>
          </a:p>
        </p:txBody>
      </p:sp>
    </p:spTree>
    <p:extLst>
      <p:ext uri="{BB962C8B-B14F-4D97-AF65-F5344CB8AC3E}">
        <p14:creationId xmlns:p14="http://schemas.microsoft.com/office/powerpoint/2010/main" val="214507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bwMode="auto">
          <a:xfrm>
            <a:off x="685800" y="457200"/>
            <a:ext cx="7772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19" name="Rectangle 3"/>
          <p:cNvSpPr>
            <a:spLocks noGrp="1" noChangeArrowheads="1"/>
          </p:cNvSpPr>
          <p:nvPr>
            <p:ph type="body" idx="1"/>
          </p:nvPr>
        </p:nvSpPr>
        <p:spPr bwMode="auto">
          <a:xfrm>
            <a:off x="685800" y="1752600"/>
            <a:ext cx="7772400" cy="381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0422"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400">
                <a:ea typeface="+mn-ea"/>
                <a:cs typeface="+mn-cs"/>
              </a:defRPr>
            </a:lvl1pPr>
          </a:lstStyle>
          <a:p>
            <a:pPr>
              <a:defRPr/>
            </a:pPr>
            <a:fld id="{04E7A661-B663-574C-B86A-566FE8B2252D}" type="slidenum">
              <a:rPr lang="en-US"/>
              <a:pPr>
                <a:defRPr/>
              </a:pPr>
              <a:t>‹#›</a:t>
            </a:fld>
            <a:endParaRPr lang="en-US"/>
          </a:p>
        </p:txBody>
      </p:sp>
      <p:sp>
        <p:nvSpPr>
          <p:cNvPr id="1029" name="Rectangle 9"/>
          <p:cNvSpPr>
            <a:spLocks noChangeArrowheads="1"/>
          </p:cNvSpPr>
          <p:nvPr userDrawn="1"/>
        </p:nvSpPr>
        <p:spPr bwMode="auto">
          <a:xfrm>
            <a:off x="0" y="0"/>
            <a:ext cx="9144000" cy="304800"/>
          </a:xfrm>
          <a:prstGeom prst="rect">
            <a:avLst/>
          </a:prstGeom>
          <a:solidFill>
            <a:srgbClr val="006699"/>
          </a:solidFill>
          <a:ln>
            <a:noFill/>
          </a:ln>
          <a:extLst>
            <a:ext uri="{91240B29-F687-4f45-9708-019B960494DF}">
              <a14:hiddenLine xmlns:a14="http://schemas.microsoft.com/office/drawing/2010/main" xmlns="" w="9525">
                <a:solidFill>
                  <a:schemeClr val="tx1"/>
                </a:solidFill>
                <a:miter lim="800000"/>
                <a:headEnd/>
                <a:tailEnd/>
              </a14:hiddenLine>
            </a:ext>
          </a:extLst>
        </p:spPr>
        <p:txBody>
          <a:bodyPr wrap="none" anchor="ctr"/>
          <a:lstStyle/>
          <a:p>
            <a:endParaRPr lang="en-US"/>
          </a:p>
        </p:txBody>
      </p:sp>
      <p:pic>
        <p:nvPicPr>
          <p:cNvPr id="1030" name="Picture 10" descr="umb_white"/>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024813" y="6172200"/>
            <a:ext cx="433387" cy="520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1" name="Picture 12" descr="CHB_reverse_BIG"/>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534400" y="6172200"/>
            <a:ext cx="420688" cy="533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8" r:id="rId1"/>
    <p:sldLayoutId id="2147483859" r:id="rId2"/>
    <p:sldLayoutId id="2147483860" r:id="rId3"/>
    <p:sldLayoutId id="2147483861" r:id="rId4"/>
    <p:sldLayoutId id="2147483862" r:id="rId5"/>
    <p:sldLayoutId id="2147483863" r:id="rId6"/>
    <p:sldLayoutId id="2147483864" r:id="rId7"/>
    <p:sldLayoutId id="2147483865" r:id="rId8"/>
    <p:sldLayoutId id="2147483866" r:id="rId9"/>
    <p:sldLayoutId id="2147483867" r:id="rId10"/>
    <p:sldLayoutId id="2147483868" r:id="rId11"/>
  </p:sldLayoutIdLst>
  <p:hf hdr="0" ft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charset="0"/>
          <a:ea typeface="Osaka" charset="0"/>
          <a:cs typeface="Osaka" charset="0"/>
        </a:defRPr>
      </a:lvl2pPr>
      <a:lvl3pPr algn="ctr" rtl="0" eaLnBrk="0" fontAlgn="base" hangingPunct="0">
        <a:spcBef>
          <a:spcPct val="0"/>
        </a:spcBef>
        <a:spcAft>
          <a:spcPct val="0"/>
        </a:spcAft>
        <a:defRPr sz="3200" b="1">
          <a:solidFill>
            <a:schemeClr val="tx2"/>
          </a:solidFill>
          <a:latin typeface="Verdana" charset="0"/>
          <a:ea typeface="Osaka" charset="0"/>
          <a:cs typeface="Osaka" charset="0"/>
        </a:defRPr>
      </a:lvl3pPr>
      <a:lvl4pPr algn="ctr" rtl="0" eaLnBrk="0" fontAlgn="base" hangingPunct="0">
        <a:spcBef>
          <a:spcPct val="0"/>
        </a:spcBef>
        <a:spcAft>
          <a:spcPct val="0"/>
        </a:spcAft>
        <a:defRPr sz="3200" b="1">
          <a:solidFill>
            <a:schemeClr val="tx2"/>
          </a:solidFill>
          <a:latin typeface="Verdana" charset="0"/>
          <a:ea typeface="Osaka" charset="0"/>
          <a:cs typeface="Osaka" charset="0"/>
        </a:defRPr>
      </a:lvl4pPr>
      <a:lvl5pPr algn="ctr" rtl="0" eaLnBrk="0" fontAlgn="base" hangingPunct="0">
        <a:spcBef>
          <a:spcPct val="0"/>
        </a:spcBef>
        <a:spcAft>
          <a:spcPct val="0"/>
        </a:spcAft>
        <a:defRPr sz="3200" b="1">
          <a:solidFill>
            <a:schemeClr val="tx2"/>
          </a:solidFill>
          <a:latin typeface="Verdana" charset="0"/>
          <a:ea typeface="Osaka" charset="0"/>
          <a:cs typeface="Osaka" charset="0"/>
        </a:defRPr>
      </a:lvl5pPr>
      <a:lvl6pPr marL="457200" algn="ctr" rtl="0" fontAlgn="base">
        <a:spcBef>
          <a:spcPct val="0"/>
        </a:spcBef>
        <a:spcAft>
          <a:spcPct val="0"/>
        </a:spcAft>
        <a:defRPr sz="3200" b="1">
          <a:solidFill>
            <a:schemeClr val="tx2"/>
          </a:solidFill>
          <a:latin typeface="Verdana" charset="0"/>
          <a:ea typeface="Osaka" charset="0"/>
          <a:cs typeface="Osaka" charset="0"/>
        </a:defRPr>
      </a:lvl6pPr>
      <a:lvl7pPr marL="914400" algn="ctr" rtl="0" fontAlgn="base">
        <a:spcBef>
          <a:spcPct val="0"/>
        </a:spcBef>
        <a:spcAft>
          <a:spcPct val="0"/>
        </a:spcAft>
        <a:defRPr sz="3200" b="1">
          <a:solidFill>
            <a:schemeClr val="tx2"/>
          </a:solidFill>
          <a:latin typeface="Verdana" charset="0"/>
          <a:ea typeface="Osaka" charset="0"/>
          <a:cs typeface="Osaka" charset="0"/>
        </a:defRPr>
      </a:lvl7pPr>
      <a:lvl8pPr marL="1371600" algn="ctr" rtl="0" fontAlgn="base">
        <a:spcBef>
          <a:spcPct val="0"/>
        </a:spcBef>
        <a:spcAft>
          <a:spcPct val="0"/>
        </a:spcAft>
        <a:defRPr sz="3200" b="1">
          <a:solidFill>
            <a:schemeClr val="tx2"/>
          </a:solidFill>
          <a:latin typeface="Verdana" charset="0"/>
          <a:ea typeface="Osaka" charset="0"/>
          <a:cs typeface="Osaka" charset="0"/>
        </a:defRPr>
      </a:lvl8pPr>
      <a:lvl9pPr marL="1828800" algn="ctr" rtl="0" fontAlgn="base">
        <a:spcBef>
          <a:spcPct val="0"/>
        </a:spcBef>
        <a:spcAft>
          <a:spcPct val="0"/>
        </a:spcAft>
        <a:defRPr sz="3200" b="1">
          <a:solidFill>
            <a:schemeClr val="tx2"/>
          </a:solidFill>
          <a:latin typeface="Verdana" charset="0"/>
          <a:ea typeface="Osaka" charset="0"/>
          <a:cs typeface="Osak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b="1">
          <a:solidFill>
            <a:schemeClr val="tx1"/>
          </a:solidFill>
          <a:latin typeface="+mn-lt"/>
          <a:ea typeface="+mn-ea"/>
          <a:cs typeface="+mn-cs"/>
        </a:defRPr>
      </a:lvl6pPr>
      <a:lvl7pPr marL="2971800" indent="-228600" algn="l" rtl="0" fontAlgn="base">
        <a:spcBef>
          <a:spcPct val="20000"/>
        </a:spcBef>
        <a:spcAft>
          <a:spcPct val="0"/>
        </a:spcAft>
        <a:buChar char="»"/>
        <a:defRPr sz="2000" b="1">
          <a:solidFill>
            <a:schemeClr val="tx1"/>
          </a:solidFill>
          <a:latin typeface="+mn-lt"/>
          <a:ea typeface="+mn-ea"/>
          <a:cs typeface="+mn-cs"/>
        </a:defRPr>
      </a:lvl7pPr>
      <a:lvl8pPr marL="3429000" indent="-228600" algn="l" rtl="0" fontAlgn="base">
        <a:spcBef>
          <a:spcPct val="20000"/>
        </a:spcBef>
        <a:spcAft>
          <a:spcPct val="0"/>
        </a:spcAft>
        <a:buChar char="»"/>
        <a:defRPr sz="2000" b="1">
          <a:solidFill>
            <a:schemeClr val="tx1"/>
          </a:solidFill>
          <a:latin typeface="+mn-lt"/>
          <a:ea typeface="+mn-ea"/>
          <a:cs typeface="+mn-cs"/>
        </a:defRPr>
      </a:lvl8pPr>
      <a:lvl9pPr marL="3886200" indent="-228600" algn="l" rtl="0" fontAlgn="base">
        <a:spcBef>
          <a:spcPct val="20000"/>
        </a:spcBef>
        <a:spcAft>
          <a:spcPct val="0"/>
        </a:spcAft>
        <a:buChar char="»"/>
        <a:defRPr sz="2000" b="1">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jpeg"/></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emf"/></Relationships>
</file>

<file path=ppt/slides/_rels/slide3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EE3BF6E-8403-994A-A732-A43CB0A3C60F}"/>
              </a:ext>
            </a:extLst>
          </p:cNvPr>
          <p:cNvSpPr>
            <a:spLocks noGrp="1" noChangeArrowheads="1"/>
          </p:cNvSpPr>
          <p:nvPr>
            <p:ph type="ctrTitle"/>
          </p:nvPr>
        </p:nvSpPr>
        <p:spPr>
          <a:xfrm>
            <a:off x="381000" y="1788023"/>
            <a:ext cx="7772400" cy="3048000"/>
          </a:xfrm>
        </p:spPr>
        <p:txBody>
          <a:bodyPr/>
          <a:lstStyle/>
          <a:p>
            <a:pPr eaLnBrk="1" fontAlgn="auto" hangingPunct="1">
              <a:spcAft>
                <a:spcPts val="0"/>
              </a:spcAft>
              <a:defRPr/>
            </a:pPr>
            <a:br>
              <a:rPr lang="en-US" sz="2800" cap="none" dirty="0">
                <a:ea typeface="+mj-ea"/>
                <a:cs typeface="+mj-cs"/>
              </a:rPr>
            </a:br>
            <a:r>
              <a:rPr lang="en-US" sz="2800" b="1" cap="none" dirty="0">
                <a:solidFill>
                  <a:schemeClr val="tx1"/>
                </a:solidFill>
                <a:ea typeface="+mj-ea"/>
                <a:cs typeface="+mj-cs"/>
              </a:rPr>
              <a:t>David Hoff</a:t>
            </a:r>
            <a:br>
              <a:rPr lang="en-US" sz="2800" b="1" cap="none" dirty="0">
                <a:solidFill>
                  <a:schemeClr val="tx1"/>
                </a:solidFill>
                <a:ea typeface="+mj-ea"/>
                <a:cs typeface="+mj-cs"/>
              </a:rPr>
            </a:br>
            <a:r>
              <a:rPr lang="en-US" sz="2800" b="1" cap="none" dirty="0">
                <a:solidFill>
                  <a:schemeClr val="tx1"/>
                </a:solidFill>
                <a:ea typeface="+mj-ea"/>
                <a:cs typeface="+mj-cs"/>
              </a:rPr>
              <a:t>Maria </a:t>
            </a:r>
            <a:r>
              <a:rPr lang="en-US" sz="2800" b="1" cap="none" dirty="0" err="1">
                <a:solidFill>
                  <a:schemeClr val="tx1"/>
                </a:solidFill>
                <a:ea typeface="+mj-ea"/>
                <a:cs typeface="+mj-cs"/>
              </a:rPr>
              <a:t>Paiewonsky</a:t>
            </a:r>
            <a:br>
              <a:rPr lang="en-US" sz="2800" b="1" cap="none" dirty="0">
                <a:solidFill>
                  <a:schemeClr val="tx1"/>
                </a:solidFill>
                <a:ea typeface="+mj-ea"/>
                <a:cs typeface="+mj-cs"/>
              </a:rPr>
            </a:br>
            <a:br>
              <a:rPr lang="en-US" sz="2400" cap="none" dirty="0">
                <a:solidFill>
                  <a:schemeClr val="tx1"/>
                </a:solidFill>
                <a:ea typeface="+mj-ea"/>
                <a:cs typeface="+mj-cs"/>
              </a:rPr>
            </a:br>
            <a:r>
              <a:rPr lang="en-US" sz="2400" b="0" i="1" cap="none" dirty="0">
                <a:solidFill>
                  <a:schemeClr val="tx1"/>
                </a:solidFill>
                <a:ea typeface="+mj-ea"/>
                <a:cs typeface="+mj-cs"/>
              </a:rPr>
              <a:t>Institute for Community Inclusion</a:t>
            </a:r>
            <a:br>
              <a:rPr lang="en-US" sz="2400" i="1" cap="none" dirty="0">
                <a:solidFill>
                  <a:schemeClr val="tx1"/>
                </a:solidFill>
                <a:ea typeface="+mj-ea"/>
                <a:cs typeface="+mj-cs"/>
              </a:rPr>
            </a:br>
            <a:r>
              <a:rPr lang="en-US" sz="2400" b="0" i="1" cap="none" dirty="0">
                <a:solidFill>
                  <a:schemeClr val="tx1"/>
                </a:solidFill>
                <a:ea typeface="+mj-ea"/>
                <a:cs typeface="+mj-cs"/>
              </a:rPr>
              <a:t>University of Massachusetts, Boston</a:t>
            </a:r>
            <a:br>
              <a:rPr lang="en-US" sz="2400" i="1" cap="none" dirty="0">
                <a:solidFill>
                  <a:schemeClr val="tx1"/>
                </a:solidFill>
                <a:ea typeface="+mj-ea"/>
                <a:cs typeface="+mj-cs"/>
              </a:rPr>
            </a:br>
            <a:r>
              <a:rPr lang="en-US" sz="2400" cap="none" dirty="0" err="1">
                <a:solidFill>
                  <a:schemeClr val="tx1"/>
                </a:solidFill>
                <a:ea typeface="+mj-ea"/>
                <a:cs typeface="+mj-cs"/>
              </a:rPr>
              <a:t>www.communityinclusion.org</a:t>
            </a:r>
            <a:br>
              <a:rPr lang="en-US" sz="2400" cap="none" dirty="0">
                <a:solidFill>
                  <a:schemeClr val="tx1"/>
                </a:solidFill>
                <a:ea typeface="+mj-ea"/>
                <a:cs typeface="+mj-cs"/>
              </a:rPr>
            </a:br>
            <a:br>
              <a:rPr lang="en-US" sz="2400" cap="none" dirty="0">
                <a:solidFill>
                  <a:schemeClr val="tx1"/>
                </a:solidFill>
                <a:ea typeface="+mj-ea"/>
                <a:cs typeface="+mj-cs"/>
              </a:rPr>
            </a:br>
            <a:br>
              <a:rPr lang="en-US" sz="1200" cap="none" dirty="0">
                <a:solidFill>
                  <a:schemeClr val="tx1"/>
                </a:solidFill>
                <a:ea typeface="+mj-ea"/>
                <a:cs typeface="+mj-cs"/>
              </a:rPr>
            </a:br>
            <a:r>
              <a:rPr lang="en-US" sz="2400" cap="none" dirty="0">
                <a:solidFill>
                  <a:schemeClr val="tx1"/>
                </a:solidFill>
                <a:ea typeface="+mj-ea"/>
                <a:cs typeface="+mj-cs"/>
              </a:rPr>
              <a:t>	</a:t>
            </a:r>
            <a:endParaRPr lang="en-US" cap="none" dirty="0">
              <a:ea typeface="+mj-ea"/>
              <a:cs typeface="+mj-cs"/>
            </a:endParaRPr>
          </a:p>
        </p:txBody>
      </p:sp>
      <p:sp>
        <p:nvSpPr>
          <p:cNvPr id="15363" name="Slide Number Placeholder 1">
            <a:extLst>
              <a:ext uri="{FF2B5EF4-FFF2-40B4-BE49-F238E27FC236}">
                <a16:creationId xmlns:a16="http://schemas.microsoft.com/office/drawing/2014/main" id="{29AF6206-E8DA-FA4D-BAFF-B82E1BBE55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Book Antiqua" panose="02040602050305030304" pitchFamily="18" charset="0"/>
                <a:ea typeface="ＭＳ Ｐゴシック" panose="020B0600070205080204" pitchFamily="34" charset="-128"/>
              </a:defRPr>
            </a:lvl1pPr>
            <a:lvl2pPr marL="742950" indent="-285750">
              <a:defRPr sz="2400">
                <a:solidFill>
                  <a:schemeClr val="tx1"/>
                </a:solidFill>
                <a:latin typeface="Book Antiqua" panose="02040602050305030304" pitchFamily="18" charset="0"/>
                <a:ea typeface="ＭＳ Ｐゴシック" panose="020B0600070205080204" pitchFamily="34" charset="-128"/>
              </a:defRPr>
            </a:lvl2pPr>
            <a:lvl3pPr marL="1143000" indent="-228600">
              <a:defRPr sz="2400">
                <a:solidFill>
                  <a:schemeClr val="tx1"/>
                </a:solidFill>
                <a:latin typeface="Book Antiqua" panose="02040602050305030304" pitchFamily="18" charset="0"/>
                <a:ea typeface="ＭＳ Ｐゴシック" panose="020B0600070205080204" pitchFamily="34" charset="-128"/>
              </a:defRPr>
            </a:lvl3pPr>
            <a:lvl4pPr marL="1600200" indent="-228600">
              <a:defRPr sz="2400">
                <a:solidFill>
                  <a:schemeClr val="tx1"/>
                </a:solidFill>
                <a:latin typeface="Book Antiqua" panose="02040602050305030304" pitchFamily="18" charset="0"/>
                <a:ea typeface="ＭＳ Ｐゴシック" panose="020B0600070205080204" pitchFamily="34" charset="-128"/>
              </a:defRPr>
            </a:lvl4pPr>
            <a:lvl5pPr marL="2057400" indent="-228600">
              <a:defRPr sz="24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Book Antiqua" panose="02040602050305030304" pitchFamily="18" charset="0"/>
                <a:ea typeface="ＭＳ Ｐゴシック" panose="020B0600070205080204" pitchFamily="34" charset="-128"/>
              </a:defRPr>
            </a:lvl9pPr>
          </a:lstStyle>
          <a:p>
            <a:fld id="{D13CD3AA-43CE-6C47-8EC8-265ED149D4D2}" type="slidenum">
              <a:rPr lang="en-US" altLang="en-US" sz="1400">
                <a:solidFill>
                  <a:srgbClr val="FFFFFF"/>
                </a:solidFill>
              </a:rPr>
              <a:pPr/>
              <a:t>1</a:t>
            </a:fld>
            <a:endParaRPr lang="en-US" altLang="en-US" sz="1400">
              <a:solidFill>
                <a:srgbClr val="FFFFFF"/>
              </a:solidFill>
            </a:endParaRPr>
          </a:p>
        </p:txBody>
      </p:sp>
      <p:pic>
        <p:nvPicPr>
          <p:cNvPr id="15364" name="Picture 2">
            <a:extLst>
              <a:ext uri="{FF2B5EF4-FFF2-40B4-BE49-F238E27FC236}">
                <a16:creationId xmlns:a16="http://schemas.microsoft.com/office/drawing/2014/main" id="{128EB381-3A76-7345-A88A-AD849C71D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3475" y="4608761"/>
            <a:ext cx="37274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9ACA4083-8BC0-9945-AB3D-9B9B9A717091}"/>
              </a:ext>
            </a:extLst>
          </p:cNvPr>
          <p:cNvSpPr txBox="1"/>
          <p:nvPr/>
        </p:nvSpPr>
        <p:spPr>
          <a:xfrm>
            <a:off x="152400" y="576808"/>
            <a:ext cx="6530873" cy="70788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sz="4000"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Universal Design</a:t>
            </a:r>
          </a:p>
        </p:txBody>
      </p:sp>
    </p:spTree>
    <p:extLst>
      <p:ext uri="{BB962C8B-B14F-4D97-AF65-F5344CB8AC3E}">
        <p14:creationId xmlns:p14="http://schemas.microsoft.com/office/powerpoint/2010/main" val="65232122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B01739-6544-6548-A4EB-F7369C8E8331}"/>
              </a:ext>
            </a:extLst>
          </p:cNvPr>
          <p:cNvSpPr>
            <a:spLocks noGrp="1"/>
          </p:cNvSpPr>
          <p:nvPr>
            <p:ph idx="1"/>
          </p:nvPr>
        </p:nvSpPr>
        <p:spPr>
          <a:xfrm>
            <a:off x="4131856" y="1481080"/>
            <a:ext cx="4724400" cy="5334000"/>
          </a:xfrm>
        </p:spPr>
        <p:txBody>
          <a:bodyPr/>
          <a:lstStyle/>
          <a:p>
            <a:r>
              <a:rPr lang="en-US" sz="3600" dirty="0"/>
              <a:t>How familiar are you with the term and concepts of universal design?</a:t>
            </a:r>
          </a:p>
        </p:txBody>
      </p:sp>
      <p:sp>
        <p:nvSpPr>
          <p:cNvPr id="4" name="Slide Number Placeholder 3">
            <a:extLst>
              <a:ext uri="{FF2B5EF4-FFF2-40B4-BE49-F238E27FC236}">
                <a16:creationId xmlns:a16="http://schemas.microsoft.com/office/drawing/2014/main" id="{AE697AA3-6B5F-424B-9CA5-BD8CF1AEE620}"/>
              </a:ext>
            </a:extLst>
          </p:cNvPr>
          <p:cNvSpPr>
            <a:spLocks noGrp="1"/>
          </p:cNvSpPr>
          <p:nvPr>
            <p:ph type="sldNum" sz="quarter" idx="12"/>
          </p:nvPr>
        </p:nvSpPr>
        <p:spPr/>
        <p:txBody>
          <a:bodyPr/>
          <a:lstStyle/>
          <a:p>
            <a:pPr>
              <a:defRPr/>
            </a:pPr>
            <a:fld id="{6DFFECAE-5558-FC4F-A5D5-814DD6134961}" type="slidenum">
              <a:rPr lang="en-US" altLang="en-US" smtClean="0"/>
              <a:pPr>
                <a:defRPr/>
              </a:pPr>
              <a:t>2</a:t>
            </a:fld>
            <a:endParaRPr lang="en-US" altLang="en-US"/>
          </a:p>
        </p:txBody>
      </p:sp>
      <p:sp>
        <p:nvSpPr>
          <p:cNvPr id="5" name="Pentagon 4">
            <a:extLst>
              <a:ext uri="{FF2B5EF4-FFF2-40B4-BE49-F238E27FC236}">
                <a16:creationId xmlns:a16="http://schemas.microsoft.com/office/drawing/2014/main" id="{41FABDAA-9DC3-9D4F-B1BA-9CD0DD4BF6FC}"/>
              </a:ext>
            </a:extLst>
          </p:cNvPr>
          <p:cNvSpPr/>
          <p:nvPr/>
        </p:nvSpPr>
        <p:spPr>
          <a:xfrm>
            <a:off x="481012" y="1066800"/>
            <a:ext cx="3048000" cy="1295400"/>
          </a:xfrm>
          <a:prstGeom prst="homePlat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3200" b="1" cap="small" dirty="0"/>
              <a:t>Discussion</a:t>
            </a:r>
          </a:p>
        </p:txBody>
      </p:sp>
      <p:pic>
        <p:nvPicPr>
          <p:cNvPr id="7" name="Picture 6" descr="A picture containing small, toy, standing&#10;&#10;Description automatically generated">
            <a:extLst>
              <a:ext uri="{FF2B5EF4-FFF2-40B4-BE49-F238E27FC236}">
                <a16:creationId xmlns:a16="http://schemas.microsoft.com/office/drawing/2014/main" id="{D4E5CB94-187B-0C46-95D1-71212BDC1F24}"/>
              </a:ext>
            </a:extLst>
          </p:cNvPr>
          <p:cNvPicPr>
            <a:picLocks noChangeAspect="1"/>
          </p:cNvPicPr>
          <p:nvPr/>
        </p:nvPicPr>
        <p:blipFill>
          <a:blip r:embed="rId2"/>
          <a:stretch>
            <a:fillRect/>
          </a:stretch>
        </p:blipFill>
        <p:spPr>
          <a:xfrm>
            <a:off x="317182" y="3429000"/>
            <a:ext cx="3392746" cy="2362200"/>
          </a:xfrm>
          <a:prstGeom prst="rect">
            <a:avLst/>
          </a:prstGeom>
        </p:spPr>
      </p:pic>
    </p:spTree>
    <p:extLst>
      <p:ext uri="{BB962C8B-B14F-4D97-AF65-F5344CB8AC3E}">
        <p14:creationId xmlns:p14="http://schemas.microsoft.com/office/powerpoint/2010/main" val="1749775471"/>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95EAA8-D574-E646-A3E1-ACE4B61FC6E5}"/>
              </a:ext>
            </a:extLst>
          </p:cNvPr>
          <p:cNvSpPr>
            <a:spLocks noGrp="1"/>
          </p:cNvSpPr>
          <p:nvPr>
            <p:ph type="sldNum" sz="quarter" idx="12"/>
          </p:nvPr>
        </p:nvSpPr>
        <p:spPr/>
        <p:txBody>
          <a:bodyPr/>
          <a:lstStyle/>
          <a:p>
            <a:pPr>
              <a:defRPr/>
            </a:pPr>
            <a:fld id="{8DFCCDA7-D618-4941-BFD0-9F32B03099BD}" type="slidenum">
              <a:rPr lang="en-US" smtClean="0"/>
              <a:pPr>
                <a:defRPr/>
              </a:pPr>
              <a:t>3</a:t>
            </a:fld>
            <a:endParaRPr lang="en-US"/>
          </a:p>
        </p:txBody>
      </p:sp>
      <p:pic>
        <p:nvPicPr>
          <p:cNvPr id="7" name="Picture 6" descr="A picture containing woman, holding, front, sitting&#10;&#10;Description automatically generated">
            <a:extLst>
              <a:ext uri="{FF2B5EF4-FFF2-40B4-BE49-F238E27FC236}">
                <a16:creationId xmlns:a16="http://schemas.microsoft.com/office/drawing/2014/main" id="{854A19C8-D9A9-8544-9123-9B52A91A79F6}"/>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76659768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3"/>
          <p:cNvSpPr>
            <a:spLocks noGrp="1" noChangeArrowheads="1"/>
          </p:cNvSpPr>
          <p:nvPr>
            <p:ph type="body" idx="1"/>
          </p:nvPr>
        </p:nvSpPr>
        <p:spPr>
          <a:xfrm>
            <a:off x="3352800" y="2286000"/>
            <a:ext cx="4724400" cy="4724400"/>
          </a:xfrm>
        </p:spPr>
        <p:txBody>
          <a:bodyPr/>
          <a:lstStyle/>
          <a:p>
            <a:pPr>
              <a:spcBef>
                <a:spcPct val="50000"/>
              </a:spcBef>
              <a:defRPr/>
            </a:pPr>
            <a:r>
              <a:rPr kumimoji="1" lang="en-US" sz="3600" dirty="0">
                <a:latin typeface="Arial" charset="0"/>
                <a:ea typeface="Osaka" charset="0"/>
                <a:cs typeface="Arial" charset="0"/>
              </a:rPr>
              <a:t>Create environments that are usable by as many people as possible regardless of their age, size, ability, or disability</a:t>
            </a:r>
            <a:br>
              <a:rPr kumimoji="1" lang="en-US" sz="3600" dirty="0">
                <a:latin typeface="Arial" charset="0"/>
                <a:ea typeface="Osaka" charset="0"/>
                <a:cs typeface="Arial" charset="0"/>
              </a:rPr>
            </a:br>
            <a:endParaRPr kumimoji="1" lang="en-US" sz="3600" dirty="0">
              <a:latin typeface="Arial" charset="0"/>
              <a:ea typeface="Osaka" charset="0"/>
              <a:cs typeface="Arial" charset="0"/>
            </a:endParaRPr>
          </a:p>
        </p:txBody>
      </p:sp>
      <p:sp>
        <p:nvSpPr>
          <p:cNvPr id="75778" name="Title 1"/>
          <p:cNvSpPr>
            <a:spLocks noGrp="1"/>
          </p:cNvSpPr>
          <p:nvPr>
            <p:ph type="title"/>
          </p:nvPr>
        </p:nvSpPr>
        <p:spPr>
          <a:xfrm>
            <a:off x="1524000" y="609600"/>
            <a:ext cx="6324600" cy="914400"/>
          </a:xfrm>
        </p:spPr>
        <p:style>
          <a:lnRef idx="1">
            <a:schemeClr val="dk1"/>
          </a:lnRef>
          <a:fillRef idx="2">
            <a:schemeClr val="dk1"/>
          </a:fillRef>
          <a:effectRef idx="1">
            <a:schemeClr val="dk1"/>
          </a:effectRef>
          <a:fontRef idx="minor">
            <a:schemeClr val="dk1"/>
          </a:fontRef>
        </p:style>
        <p:txBody>
          <a:bodyPr/>
          <a:lstStyle/>
          <a:p>
            <a:pPr>
              <a:defRPr/>
            </a:pPr>
            <a:r>
              <a:rPr kumimoji="1" lang="en-US" sz="4000" dirty="0">
                <a:latin typeface="Arial" charset="0"/>
                <a:ea typeface="Osaka" charset="0"/>
                <a:cs typeface="Arial" charset="0"/>
              </a:rPr>
              <a:t>Universal Design</a:t>
            </a:r>
            <a:endParaRPr lang="en-US" sz="4000" dirty="0">
              <a:latin typeface="Arial" charset="0"/>
              <a:ea typeface="Osaka" charset="0"/>
              <a:cs typeface="Arial" charset="0"/>
            </a:endParaRPr>
          </a:p>
        </p:txBody>
      </p:sp>
      <p:sp>
        <p:nvSpPr>
          <p:cNvPr id="75779" name="Slide Number Placeholder 1"/>
          <p:cNvSpPr>
            <a:spLocks noGrp="1"/>
          </p:cNvSpPr>
          <p:nvPr>
            <p:ph type="sldNum" sz="quarter" idx="12"/>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778B8234-8570-8F4F-8CA8-8916879D3F65}" type="slidenum">
              <a:rPr lang="en-US" sz="1400" smtClean="0">
                <a:ea typeface="Osaka" charset="0"/>
                <a:cs typeface="Osaka" charset="0"/>
              </a:rPr>
              <a:pPr>
                <a:defRPr/>
              </a:pPr>
              <a:t>4</a:t>
            </a:fld>
            <a:endParaRPr lang="en-US" sz="1400">
              <a:ea typeface="Osaka" charset="0"/>
              <a:cs typeface="Osaka" charset="0"/>
            </a:endParaRPr>
          </a:p>
        </p:txBody>
      </p:sp>
      <p:pic>
        <p:nvPicPr>
          <p:cNvPr id="17412" name="Picture 1" descr="goal_meter_burst_800_clr_13662.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676400"/>
            <a:ext cx="3246438" cy="541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3733800" y="762000"/>
            <a:ext cx="4876800" cy="3733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b="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b="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b="0">
                <a:solidFill>
                  <a:schemeClr val="tx1"/>
                </a:solidFill>
                <a:latin typeface="+mn-lt"/>
                <a:ea typeface="+mn-ea"/>
                <a:cs typeface="+mn-cs"/>
              </a:defRPr>
            </a:lvl5pPr>
            <a:lvl6pPr marL="2514600" indent="-228600" algn="l" rtl="0" fontAlgn="base">
              <a:spcBef>
                <a:spcPct val="20000"/>
              </a:spcBef>
              <a:spcAft>
                <a:spcPct val="0"/>
              </a:spcAft>
              <a:buChar char="»"/>
              <a:defRPr sz="2000" b="1">
                <a:solidFill>
                  <a:schemeClr val="tx1"/>
                </a:solidFill>
                <a:latin typeface="+mn-lt"/>
                <a:ea typeface="+mn-ea"/>
                <a:cs typeface="+mn-cs"/>
              </a:defRPr>
            </a:lvl6pPr>
            <a:lvl7pPr marL="2971800" indent="-228600" algn="l" rtl="0" fontAlgn="base">
              <a:spcBef>
                <a:spcPct val="20000"/>
              </a:spcBef>
              <a:spcAft>
                <a:spcPct val="0"/>
              </a:spcAft>
              <a:buChar char="»"/>
              <a:defRPr sz="2000" b="1">
                <a:solidFill>
                  <a:schemeClr val="tx1"/>
                </a:solidFill>
                <a:latin typeface="+mn-lt"/>
                <a:ea typeface="+mn-ea"/>
                <a:cs typeface="+mn-cs"/>
              </a:defRPr>
            </a:lvl7pPr>
            <a:lvl8pPr marL="3429000" indent="-228600" algn="l" rtl="0" fontAlgn="base">
              <a:spcBef>
                <a:spcPct val="20000"/>
              </a:spcBef>
              <a:spcAft>
                <a:spcPct val="0"/>
              </a:spcAft>
              <a:buChar char="»"/>
              <a:defRPr sz="2000" b="1">
                <a:solidFill>
                  <a:schemeClr val="tx1"/>
                </a:solidFill>
                <a:latin typeface="+mn-lt"/>
                <a:ea typeface="+mn-ea"/>
                <a:cs typeface="+mn-cs"/>
              </a:defRPr>
            </a:lvl8pPr>
            <a:lvl9pPr marL="3886200" indent="-228600" algn="l" rtl="0" fontAlgn="base">
              <a:spcBef>
                <a:spcPct val="20000"/>
              </a:spcBef>
              <a:spcAft>
                <a:spcPct val="0"/>
              </a:spcAft>
              <a:buChar char="»"/>
              <a:defRPr sz="2000" b="1">
                <a:solidFill>
                  <a:schemeClr val="tx1"/>
                </a:solidFill>
                <a:latin typeface="+mn-lt"/>
                <a:ea typeface="+mn-ea"/>
                <a:cs typeface="+mn-cs"/>
              </a:defRPr>
            </a:lvl9pPr>
          </a:lstStyle>
          <a:p>
            <a:pPr>
              <a:spcBef>
                <a:spcPct val="50000"/>
              </a:spcBef>
              <a:defRPr/>
            </a:pPr>
            <a:r>
              <a:rPr kumimoji="1" lang="en-US" sz="2800" dirty="0">
                <a:latin typeface="Arial" charset="0"/>
                <a:ea typeface="Osaka" charset="0"/>
                <a:cs typeface="Arial" charset="0"/>
              </a:rPr>
              <a:t>Design environment to meet needs of </a:t>
            </a:r>
            <a:r>
              <a:rPr kumimoji="1" lang="en-US" sz="2800" b="1" dirty="0">
                <a:latin typeface="Arial" charset="0"/>
                <a:ea typeface="Osaka" charset="0"/>
                <a:cs typeface="Arial" charset="0"/>
              </a:rPr>
              <a:t>all people </a:t>
            </a:r>
            <a:r>
              <a:rPr kumimoji="1" lang="en-US" sz="2800" dirty="0">
                <a:latin typeface="Arial" charset="0"/>
                <a:ea typeface="Osaka" charset="0"/>
                <a:cs typeface="Arial" charset="0"/>
              </a:rPr>
              <a:t>who wish to use it</a:t>
            </a:r>
          </a:p>
          <a:p>
            <a:pPr>
              <a:spcBef>
                <a:spcPct val="50000"/>
              </a:spcBef>
              <a:defRPr/>
            </a:pPr>
            <a:r>
              <a:rPr kumimoji="1" lang="en-US" sz="2800" b="1" dirty="0">
                <a:latin typeface="Arial" charset="0"/>
                <a:ea typeface="Osaka" charset="0"/>
                <a:cs typeface="Arial" charset="0"/>
              </a:rPr>
              <a:t>Flexibility</a:t>
            </a:r>
            <a:r>
              <a:rPr kumimoji="1" lang="en-US" sz="2800" dirty="0">
                <a:latin typeface="Arial" charset="0"/>
                <a:ea typeface="Osaka" charset="0"/>
                <a:cs typeface="Arial" charset="0"/>
              </a:rPr>
              <a:t> in use </a:t>
            </a:r>
            <a:r>
              <a:rPr kumimoji="1" lang="mr-IN" sz="2800" dirty="0">
                <a:latin typeface="Arial" charset="0"/>
                <a:ea typeface="Osaka" charset="0"/>
                <a:cs typeface="Arial" charset="0"/>
              </a:rPr>
              <a:t>–</a:t>
            </a:r>
            <a:r>
              <a:rPr kumimoji="1" lang="en-US" sz="2800" dirty="0">
                <a:latin typeface="Arial" charset="0"/>
                <a:ea typeface="Osaka" charset="0"/>
                <a:cs typeface="Arial" charset="0"/>
              </a:rPr>
              <a:t> </a:t>
            </a:r>
            <a:r>
              <a:rPr kumimoji="1" lang="en-US" sz="2800" i="1" dirty="0">
                <a:latin typeface="Arial" charset="0"/>
                <a:ea typeface="Osaka" charset="0"/>
                <a:cs typeface="Arial" charset="0"/>
              </a:rPr>
              <a:t>not</a:t>
            </a:r>
            <a:br>
              <a:rPr kumimoji="1" lang="en-US" sz="2800" i="1" dirty="0">
                <a:latin typeface="Arial" charset="0"/>
                <a:ea typeface="Osaka" charset="0"/>
                <a:cs typeface="Arial" charset="0"/>
              </a:rPr>
            </a:br>
            <a:r>
              <a:rPr kumimoji="1" lang="en-US" sz="2800" i="1" dirty="0">
                <a:latin typeface="Arial" charset="0"/>
                <a:ea typeface="Osaka" charset="0"/>
                <a:cs typeface="Arial" charset="0"/>
              </a:rPr>
              <a:t>“one size fits all”</a:t>
            </a:r>
          </a:p>
          <a:p>
            <a:pPr>
              <a:spcBef>
                <a:spcPct val="50000"/>
              </a:spcBef>
              <a:defRPr/>
            </a:pPr>
            <a:r>
              <a:rPr kumimoji="1" lang="en-US" sz="2800" dirty="0">
                <a:latin typeface="Arial" charset="0"/>
                <a:ea typeface="Osaka" charset="0"/>
                <a:cs typeface="Arial" charset="0"/>
              </a:rPr>
              <a:t>Meeting needs of people with disabilities is no longer considered </a:t>
            </a:r>
            <a:r>
              <a:rPr kumimoji="1" lang="ja-JP" altLang="en-US" sz="2800" i="1">
                <a:latin typeface="Arial" charset="0"/>
                <a:ea typeface="Osaka" charset="0"/>
                <a:cs typeface="Arial" charset="0"/>
              </a:rPr>
              <a:t>“</a:t>
            </a:r>
            <a:r>
              <a:rPr kumimoji="1" lang="en-US" altLang="ja-JP" sz="2800" i="1" dirty="0">
                <a:latin typeface="Arial" charset="0"/>
                <a:ea typeface="Osaka" charset="0"/>
                <a:cs typeface="Arial" charset="0"/>
              </a:rPr>
              <a:t>Special</a:t>
            </a:r>
            <a:r>
              <a:rPr kumimoji="1" lang="ja-JP" altLang="en-US" sz="2800" i="1">
                <a:latin typeface="Arial" charset="0"/>
                <a:ea typeface="Osaka" charset="0"/>
                <a:cs typeface="Arial" charset="0"/>
              </a:rPr>
              <a:t>”</a:t>
            </a:r>
            <a:r>
              <a:rPr kumimoji="1" lang="en-US" altLang="ja-JP" sz="2800" i="1" dirty="0">
                <a:latin typeface="Arial" charset="0"/>
                <a:ea typeface="Osaka" charset="0"/>
                <a:cs typeface="Arial" charset="0"/>
              </a:rPr>
              <a:t> </a:t>
            </a:r>
            <a:r>
              <a:rPr kumimoji="1" lang="en-US" altLang="ja-JP" sz="2800" dirty="0">
                <a:latin typeface="Arial" charset="0"/>
                <a:ea typeface="Osaka" charset="0"/>
                <a:cs typeface="Arial" charset="0"/>
              </a:rPr>
              <a:t>or  “</a:t>
            </a:r>
            <a:r>
              <a:rPr kumimoji="1" lang="en-US" altLang="ja-JP" sz="2800" i="1" dirty="0">
                <a:latin typeface="Arial" charset="0"/>
                <a:ea typeface="Osaka" charset="0"/>
                <a:cs typeface="Arial" charset="0"/>
              </a:rPr>
              <a:t>Extra</a:t>
            </a:r>
            <a:r>
              <a:rPr kumimoji="1" lang="ja-JP" altLang="en-US" sz="2800" i="1" dirty="0">
                <a:latin typeface="Arial" charset="0"/>
                <a:ea typeface="Osaka" charset="0"/>
                <a:cs typeface="Arial" charset="0"/>
              </a:rPr>
              <a:t>”</a:t>
            </a:r>
            <a:endParaRPr kumimoji="1" lang="en-US" altLang="ja-JP" sz="2800" i="1" dirty="0">
              <a:latin typeface="Arial" charset="0"/>
              <a:ea typeface="Osaka" charset="0"/>
              <a:cs typeface="Arial" charset="0"/>
            </a:endParaRPr>
          </a:p>
        </p:txBody>
      </p:sp>
      <p:sp>
        <p:nvSpPr>
          <p:cNvPr id="5" name="Pentagon 4"/>
          <p:cNvSpPr/>
          <p:nvPr/>
        </p:nvSpPr>
        <p:spPr bwMode="auto">
          <a:xfrm>
            <a:off x="304800" y="609600"/>
            <a:ext cx="2971800" cy="1828800"/>
          </a:xfrm>
          <a:prstGeom prst="homePlate">
            <a:avLst/>
          </a:prstGeom>
          <a:solidFill>
            <a:schemeClr val="accent1"/>
          </a:solidFill>
          <a:ln w="9525" cap="flat" cmpd="sng" algn="ctr">
            <a:solidFill>
              <a:schemeClr val="tx1"/>
            </a:solidFill>
            <a:prstDash val="solid"/>
            <a:round/>
            <a:headEnd type="none" w="med" len="med"/>
            <a:tailEnd type="none" w="med" len="med"/>
          </a:ln>
          <a:effectLst>
            <a:glow rad="101600">
              <a:schemeClr val="accent4">
                <a:satMod val="175000"/>
                <a:alpha val="40000"/>
              </a:schemeClr>
            </a:glow>
            <a:outerShdw blurRad="63500" dist="38099" dir="2700000" algn="ctr" rotWithShape="0">
              <a:schemeClr val="bg2">
                <a:alpha val="74998"/>
              </a:schemeClr>
            </a:outerShdw>
          </a:effectLst>
        </p:spPr>
        <p:txBody>
          <a:bodyPr anchor="ctr"/>
          <a:lstStyle/>
          <a:p>
            <a:pPr>
              <a:defRPr/>
            </a:pPr>
            <a:r>
              <a:rPr lang="en-US" b="1" cap="small" dirty="0">
                <a:solidFill>
                  <a:srgbClr val="000000"/>
                </a:solidFill>
                <a:cs typeface="Geneva" charset="0"/>
              </a:rPr>
              <a:t>Incorporating Universal Design</a:t>
            </a:r>
          </a:p>
        </p:txBody>
      </p:sp>
      <p:sp>
        <p:nvSpPr>
          <p:cNvPr id="6" name="TextBox 5"/>
          <p:cNvSpPr txBox="1"/>
          <p:nvPr/>
        </p:nvSpPr>
        <p:spPr>
          <a:xfrm>
            <a:off x="609600" y="5486400"/>
            <a:ext cx="8153400" cy="584776"/>
          </a:xfrm>
          <a:prstGeom prst="rect">
            <a:avLst/>
          </a:prstGeom>
          <a:solidFill>
            <a:srgbClr val="006699"/>
          </a:solidFill>
          <a:scene3d>
            <a:camera prst="orthographicFront"/>
            <a:lightRig rig="threePt" dir="t"/>
          </a:scene3d>
          <a:sp3d>
            <a:bevelT w="139700" h="139700" prst="divot"/>
          </a:sp3d>
        </p:spPr>
        <p:txBody>
          <a:bodyPr>
            <a:spAutoFit/>
          </a:bodyPr>
          <a:lstStyle/>
          <a:p>
            <a:pPr algn="ctr">
              <a:defRPr/>
            </a:pPr>
            <a:r>
              <a:rPr lang="en-US" sz="3200" dirty="0">
                <a:solidFill>
                  <a:srgbClr val="FFFFFF"/>
                </a:solidFill>
                <a:latin typeface="Chalkboard"/>
                <a:cs typeface="Chalkboard"/>
              </a:rPr>
              <a:t>Universal Design is Good Design</a:t>
            </a:r>
          </a:p>
        </p:txBody>
      </p:sp>
      <p:sp>
        <p:nvSpPr>
          <p:cNvPr id="2" name="Slide Number Placeholder 1"/>
          <p:cNvSpPr>
            <a:spLocks noGrp="1"/>
          </p:cNvSpPr>
          <p:nvPr>
            <p:ph type="sldNum" sz="quarter" idx="12"/>
          </p:nvPr>
        </p:nvSpPr>
        <p:spPr/>
        <p:txBody>
          <a:bodyPr/>
          <a:lstStyle/>
          <a:p>
            <a:pPr>
              <a:defRPr/>
            </a:pPr>
            <a:fld id="{442EEE93-C773-DC41-9DEA-0FC8CA562DCC}" type="slidenum">
              <a:rPr lang="en-US" smtClean="0"/>
              <a:pPr>
                <a:defRPr/>
              </a:pPr>
              <a:t>5</a:t>
            </a:fld>
            <a:endParaRPr 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08955BE-ACE0-3847-A6CF-231771B8E0EC}"/>
              </a:ext>
            </a:extLst>
          </p:cNvPr>
          <p:cNvSpPr>
            <a:spLocks noGrp="1"/>
          </p:cNvSpPr>
          <p:nvPr>
            <p:ph type="sldNum" sz="quarter" idx="12"/>
          </p:nvPr>
        </p:nvSpPr>
        <p:spPr/>
        <p:txBody>
          <a:bodyPr/>
          <a:lstStyle/>
          <a:p>
            <a:pPr>
              <a:defRPr/>
            </a:pPr>
            <a:fld id="{8DFCCDA7-D618-4941-BFD0-9F32B03099BD}" type="slidenum">
              <a:rPr lang="en-US" smtClean="0"/>
              <a:pPr>
                <a:defRPr/>
              </a:pPr>
              <a:t>6</a:t>
            </a:fld>
            <a:endParaRPr lang="en-US"/>
          </a:p>
        </p:txBody>
      </p:sp>
      <p:pic>
        <p:nvPicPr>
          <p:cNvPr id="6" name="Picture 5" descr="A close up of a device&#10;&#10;Description automatically generated">
            <a:extLst>
              <a:ext uri="{FF2B5EF4-FFF2-40B4-BE49-F238E27FC236}">
                <a16:creationId xmlns:a16="http://schemas.microsoft.com/office/drawing/2014/main" id="{888980B2-2F30-0246-A1A3-0AF8A946B687}"/>
              </a:ext>
            </a:extLst>
          </p:cNvPr>
          <p:cNvPicPr>
            <a:picLocks noChangeAspect="1"/>
          </p:cNvPicPr>
          <p:nvPr/>
        </p:nvPicPr>
        <p:blipFill>
          <a:blip r:embed="rId2"/>
          <a:stretch>
            <a:fillRect/>
          </a:stretch>
        </p:blipFill>
        <p:spPr>
          <a:xfrm>
            <a:off x="194438" y="3054927"/>
            <a:ext cx="3569425" cy="1998878"/>
          </a:xfrm>
          <a:prstGeom prst="rect">
            <a:avLst/>
          </a:prstGeom>
        </p:spPr>
      </p:pic>
      <p:pic>
        <p:nvPicPr>
          <p:cNvPr id="8" name="Picture 7" descr="A close up of a device&#10;&#10;Description automatically generated">
            <a:extLst>
              <a:ext uri="{FF2B5EF4-FFF2-40B4-BE49-F238E27FC236}">
                <a16:creationId xmlns:a16="http://schemas.microsoft.com/office/drawing/2014/main" id="{B9B803EB-4B0E-2846-BE49-898BC8D2D5FB}"/>
              </a:ext>
            </a:extLst>
          </p:cNvPr>
          <p:cNvPicPr>
            <a:picLocks noChangeAspect="1"/>
          </p:cNvPicPr>
          <p:nvPr/>
        </p:nvPicPr>
        <p:blipFill>
          <a:blip r:embed="rId3"/>
          <a:stretch>
            <a:fillRect/>
          </a:stretch>
        </p:blipFill>
        <p:spPr>
          <a:xfrm>
            <a:off x="5105400" y="3096989"/>
            <a:ext cx="3494314" cy="1956816"/>
          </a:xfrm>
          <a:prstGeom prst="rect">
            <a:avLst/>
          </a:prstGeom>
        </p:spPr>
      </p:pic>
      <p:sp>
        <p:nvSpPr>
          <p:cNvPr id="9" name="TextBox 8">
            <a:extLst>
              <a:ext uri="{FF2B5EF4-FFF2-40B4-BE49-F238E27FC236}">
                <a16:creationId xmlns:a16="http://schemas.microsoft.com/office/drawing/2014/main" id="{C5D58FDA-A82E-5147-AC43-69041C275953}"/>
              </a:ext>
            </a:extLst>
          </p:cNvPr>
          <p:cNvSpPr txBox="1"/>
          <p:nvPr/>
        </p:nvSpPr>
        <p:spPr>
          <a:xfrm>
            <a:off x="1066800" y="5816025"/>
            <a:ext cx="7010400" cy="584775"/>
          </a:xfrm>
          <a:prstGeom prst="rect">
            <a:avLst/>
          </a:prstGeom>
          <a:noFill/>
        </p:spPr>
        <p:txBody>
          <a:bodyPr wrap="square" rtlCol="0">
            <a:prstTxWarp prst="textArchUp">
              <a:avLst/>
            </a:prstTxWarp>
            <a:spAutoFit/>
          </a:bodyPr>
          <a:lstStyle/>
          <a:p>
            <a:r>
              <a:rPr lang="en-US" sz="3200" dirty="0">
                <a:solidFill>
                  <a:srgbClr val="006699"/>
                </a:solidFill>
                <a:effectLst>
                  <a:outerShdw blurRad="50800" dist="38100" dir="2700000" algn="tl" rotWithShape="0">
                    <a:prstClr val="black">
                      <a:alpha val="40000"/>
                    </a:prstClr>
                  </a:outerShdw>
                </a:effectLst>
              </a:rPr>
              <a:t>Different Paths </a:t>
            </a:r>
            <a:r>
              <a:rPr lang="en-US" sz="3200" b="1" dirty="0">
                <a:solidFill>
                  <a:srgbClr val="006699"/>
                </a:solidFill>
                <a:effectLst>
                  <a:outerShdw blurRad="50800" dist="38100" dir="2700000" algn="tl" rotWithShape="0">
                    <a:prstClr val="black">
                      <a:alpha val="40000"/>
                    </a:prstClr>
                  </a:outerShdw>
                </a:effectLst>
              </a:rPr>
              <a:t>– </a:t>
            </a:r>
            <a:r>
              <a:rPr lang="en-US" sz="3200" b="1" i="1" dirty="0">
                <a:solidFill>
                  <a:srgbClr val="006699"/>
                </a:solidFill>
                <a:effectLst>
                  <a:outerShdw blurRad="50800" dist="38100" dir="2700000" algn="tl" rotWithShape="0">
                    <a:prstClr val="black">
                      <a:alpha val="40000"/>
                    </a:prstClr>
                  </a:outerShdw>
                </a:effectLst>
              </a:rPr>
              <a:t>Same </a:t>
            </a:r>
            <a:r>
              <a:rPr lang="en-US" sz="3200" b="1" dirty="0">
                <a:solidFill>
                  <a:srgbClr val="006699"/>
                </a:solidFill>
                <a:effectLst>
                  <a:outerShdw blurRad="50800" dist="38100" dir="2700000" algn="tl" rotWithShape="0">
                    <a:prstClr val="black">
                      <a:alpha val="40000"/>
                    </a:prstClr>
                  </a:outerShdw>
                </a:effectLst>
              </a:rPr>
              <a:t>Destination</a:t>
            </a:r>
          </a:p>
        </p:txBody>
      </p:sp>
      <p:pic>
        <p:nvPicPr>
          <p:cNvPr id="12" name="Picture 11" descr="A sign on a pole&#10;&#10;Description automatically generated">
            <a:extLst>
              <a:ext uri="{FF2B5EF4-FFF2-40B4-BE49-F238E27FC236}">
                <a16:creationId xmlns:a16="http://schemas.microsoft.com/office/drawing/2014/main" id="{E96FB0C6-03E2-F147-97CC-24C347FD2722}"/>
              </a:ext>
            </a:extLst>
          </p:cNvPr>
          <p:cNvPicPr>
            <a:picLocks noChangeAspect="1"/>
          </p:cNvPicPr>
          <p:nvPr/>
        </p:nvPicPr>
        <p:blipFill>
          <a:blip r:embed="rId4"/>
          <a:stretch>
            <a:fillRect/>
          </a:stretch>
        </p:blipFill>
        <p:spPr>
          <a:xfrm>
            <a:off x="2133600" y="457200"/>
            <a:ext cx="4600183" cy="4029760"/>
          </a:xfrm>
          <a:prstGeom prst="rect">
            <a:avLst/>
          </a:prstGeom>
        </p:spPr>
      </p:pic>
    </p:spTree>
    <p:extLst>
      <p:ext uri="{BB962C8B-B14F-4D97-AF65-F5344CB8AC3E}">
        <p14:creationId xmlns:p14="http://schemas.microsoft.com/office/powerpoint/2010/main" val="98695635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5943600" cy="4800600"/>
          </a:xfrm>
        </p:spPr>
        <p:txBody>
          <a:bodyPr/>
          <a:lstStyle/>
          <a:p>
            <a:pPr>
              <a:defRPr/>
            </a:pPr>
            <a:r>
              <a:rPr lang="en-US" sz="2400" b="1" dirty="0"/>
              <a:t>Design and composition of environment so that it may be accessed, understood and used:</a:t>
            </a:r>
          </a:p>
          <a:p>
            <a:pPr lvl="1">
              <a:spcBef>
                <a:spcPts val="1080"/>
              </a:spcBef>
              <a:buFont typeface="Wingdings" charset="2"/>
              <a:buChar char="Ø"/>
              <a:defRPr/>
            </a:pPr>
            <a:r>
              <a:rPr lang="en-US" sz="2000" dirty="0"/>
              <a:t>To greatest possible extent</a:t>
            </a:r>
          </a:p>
          <a:p>
            <a:pPr lvl="1">
              <a:spcBef>
                <a:spcPts val="1080"/>
              </a:spcBef>
              <a:buFont typeface="Wingdings" charset="2"/>
              <a:buChar char="Ø"/>
              <a:defRPr/>
            </a:pPr>
            <a:r>
              <a:rPr lang="en-US" sz="2000" dirty="0"/>
              <a:t>In most independent and natural manner possible</a:t>
            </a:r>
          </a:p>
          <a:p>
            <a:pPr lvl="1">
              <a:spcBef>
                <a:spcPts val="1080"/>
              </a:spcBef>
              <a:buFont typeface="Wingdings" charset="2"/>
              <a:buChar char="Ø"/>
              <a:defRPr/>
            </a:pPr>
            <a:r>
              <a:rPr lang="en-US" sz="2000" dirty="0"/>
              <a:t>In widest possible range of situations</a:t>
            </a:r>
          </a:p>
          <a:p>
            <a:pPr lvl="1">
              <a:spcBef>
                <a:spcPts val="1080"/>
              </a:spcBef>
              <a:buFont typeface="Wingdings" charset="2"/>
              <a:buChar char="Ø"/>
              <a:defRPr/>
            </a:pPr>
            <a:r>
              <a:rPr lang="en-US" sz="2000" dirty="0"/>
              <a:t>Without need for adaptation, modification, assistive devices or specialized solutions, by any persons of any age or size or having any particular physical, sensory, mental health or intellectual ability or disability</a:t>
            </a:r>
          </a:p>
          <a:p>
            <a:pPr>
              <a:defRPr/>
            </a:pPr>
            <a:endParaRPr lang="en-US" dirty="0"/>
          </a:p>
        </p:txBody>
      </p:sp>
      <p:pic>
        <p:nvPicPr>
          <p:cNvPr id="19458" name="Picture 3" descr="figure_holding_sign_21415.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38863" y="457200"/>
            <a:ext cx="2668587" cy="312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4E7480DB-AC16-EE44-861B-B936C3AD9320}" type="slidenum">
              <a:rPr lang="en-US" smtClean="0"/>
              <a:pPr>
                <a:defRPr/>
              </a:pPr>
              <a:t>7</a:t>
            </a:fld>
            <a:endParaRPr lang="en-US"/>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e235.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81000"/>
            <a:ext cx="2705100" cy="2705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4" descr="Door-Handle-Installation-and-Repair.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685800"/>
            <a:ext cx="3219450" cy="182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6" descr="Unknown.jpeg"/>
          <p:cNvPicPr>
            <a:picLocks noChangeAspect="1"/>
          </p:cNvPicPr>
          <p:nvPr/>
        </p:nvPicPr>
        <p:blipFill>
          <a:blip r:embed="rId4">
            <a:extLst>
              <a:ext uri="{28A0092B-C50C-407E-A947-70E740481C1C}">
                <a14:useLocalDpi xmlns:a14="http://schemas.microsoft.com/office/drawing/2010/main" val="0"/>
              </a:ext>
            </a:extLst>
          </a:blip>
          <a:srcRect l="18666" t="7843" r="19138" b="13072"/>
          <a:stretch>
            <a:fillRect/>
          </a:stretch>
        </p:blipFill>
        <p:spPr bwMode="auto">
          <a:xfrm>
            <a:off x="1905000" y="3733800"/>
            <a:ext cx="2584450" cy="21875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7" descr="10MS11D-2T.jpg"/>
          <p:cNvPicPr>
            <a:picLocks noChangeAspect="1"/>
          </p:cNvPicPr>
          <p:nvPr/>
        </p:nvPicPr>
        <p:blipFill>
          <a:blip r:embed="rId5">
            <a:extLst>
              <a:ext uri="{28A0092B-C50C-407E-A947-70E740481C1C}">
                <a14:useLocalDpi xmlns:a14="http://schemas.microsoft.com/office/drawing/2010/main" val="0"/>
              </a:ext>
            </a:extLst>
          </a:blip>
          <a:srcRect l="10782" t="6189" r="8612" b="20476"/>
          <a:stretch>
            <a:fillRect/>
          </a:stretch>
        </p:blipFill>
        <p:spPr bwMode="auto">
          <a:xfrm>
            <a:off x="5715000" y="3733800"/>
            <a:ext cx="2133600" cy="2092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99000CAD-4EEA-0746-813A-A0F582F18A3D}" type="slidenum">
              <a:rPr lang="en-US" smtClean="0"/>
              <a:pPr>
                <a:defRPr/>
              </a:pPr>
              <a:t>8</a:t>
            </a:fld>
            <a:endParaRPr 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450px-Clearing_a_pa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372978"/>
            <a:ext cx="6054480" cy="6485022"/>
          </a:xfrm>
          <a:prstGeom prst="rect">
            <a:avLst/>
          </a:prstGeom>
        </p:spPr>
      </p:pic>
    </p:spTree>
    <p:extLst>
      <p:ext uri="{BB962C8B-B14F-4D97-AF65-F5344CB8AC3E}">
        <p14:creationId xmlns:p14="http://schemas.microsoft.com/office/powerpoint/2010/main" val="288627739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3" descr="man_in_wheelchair_working_at_desk_800_clr_19387.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533400"/>
            <a:ext cx="5943600" cy="5943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5546E741-F886-BF4C-A3A9-24D795E75839}" type="slidenum">
              <a:rPr lang="en-US" smtClean="0"/>
              <a:pPr>
                <a:defRPr/>
              </a:pPr>
              <a:t>10</a:t>
            </a:fld>
            <a:endParaRPr lang="en-US"/>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5200" y="762000"/>
            <a:ext cx="7772400" cy="3810000"/>
          </a:xfrm>
        </p:spPr>
        <p:txBody>
          <a:bodyPr/>
          <a:lstStyle/>
          <a:p>
            <a:pPr>
              <a:defRPr/>
            </a:pPr>
            <a:r>
              <a:rPr lang="en-US" dirty="0"/>
              <a:t>Physical environment</a:t>
            </a:r>
          </a:p>
          <a:p>
            <a:pPr>
              <a:defRPr/>
            </a:pPr>
            <a:r>
              <a:rPr lang="en-US" dirty="0"/>
              <a:t>Learning environment</a:t>
            </a:r>
          </a:p>
          <a:p>
            <a:pPr>
              <a:defRPr/>
            </a:pPr>
            <a:r>
              <a:rPr lang="en-US" dirty="0"/>
              <a:t>Service environment</a:t>
            </a:r>
          </a:p>
          <a:p>
            <a:pPr>
              <a:defRPr/>
            </a:pPr>
            <a:endParaRPr lang="en-US" dirty="0"/>
          </a:p>
        </p:txBody>
      </p:sp>
      <p:sp>
        <p:nvSpPr>
          <p:cNvPr id="4" name="Pentagon 3"/>
          <p:cNvSpPr/>
          <p:nvPr/>
        </p:nvSpPr>
        <p:spPr bwMode="auto">
          <a:xfrm>
            <a:off x="304800" y="609600"/>
            <a:ext cx="2971800" cy="1447800"/>
          </a:xfrm>
          <a:prstGeom prst="homePlate">
            <a:avLst/>
          </a:prstGeom>
          <a:ln>
            <a:headEnd type="none" w="med" len="med"/>
            <a:tailEnd type="none" w="med" len="med"/>
          </a:ln>
          <a:effectLst>
            <a:glow rad="139700">
              <a:schemeClr val="accent4">
                <a:satMod val="175000"/>
                <a:alpha val="40000"/>
              </a:schemeClr>
            </a:glow>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anchor="ctr"/>
          <a:lstStyle/>
          <a:p>
            <a:pPr>
              <a:defRPr/>
            </a:pPr>
            <a:r>
              <a:rPr lang="en-US" sz="3200" b="1" cap="small" dirty="0">
                <a:solidFill>
                  <a:srgbClr val="000000"/>
                </a:solidFill>
                <a:latin typeface="Arial" charset="0"/>
                <a:ea typeface="ＭＳ Ｐゴシック" charset="0"/>
                <a:cs typeface="Geneva" charset="0"/>
              </a:rPr>
              <a:t>Universal Design Applies To:</a:t>
            </a:r>
          </a:p>
        </p:txBody>
      </p:sp>
      <p:pic>
        <p:nvPicPr>
          <p:cNvPr id="22536" name="Picture 8" descr="images-3.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5181600"/>
            <a:ext cx="2273300" cy="1512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3DD38B12-8823-0F4B-BE60-91F36C15D474}" type="slidenum">
              <a:rPr lang="en-US" smtClean="0"/>
              <a:pPr>
                <a:defRPr/>
              </a:pPr>
              <a:t>11</a:t>
            </a:fld>
            <a:endParaRPr lang="en-US"/>
          </a:p>
        </p:txBody>
      </p:sp>
      <p:pic>
        <p:nvPicPr>
          <p:cNvPr id="9" name="Picture 8" descr="images.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2971800"/>
            <a:ext cx="2339811" cy="1752600"/>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AAFBAD-1C22-2543-9D1E-F8BCB7CA29C4}"/>
              </a:ext>
            </a:extLst>
          </p:cNvPr>
          <p:cNvSpPr>
            <a:spLocks noGrp="1"/>
          </p:cNvSpPr>
          <p:nvPr>
            <p:ph type="sldNum" sz="quarter" idx="12"/>
          </p:nvPr>
        </p:nvSpPr>
        <p:spPr/>
        <p:txBody>
          <a:bodyPr/>
          <a:lstStyle/>
          <a:p>
            <a:pPr>
              <a:defRPr/>
            </a:pPr>
            <a:fld id="{8DFCCDA7-D618-4941-BFD0-9F32B03099BD}" type="slidenum">
              <a:rPr lang="en-US" smtClean="0"/>
              <a:pPr>
                <a:defRPr/>
              </a:pPr>
              <a:t>12</a:t>
            </a:fld>
            <a:endParaRPr lang="en-US"/>
          </a:p>
        </p:txBody>
      </p:sp>
      <p:sp>
        <p:nvSpPr>
          <p:cNvPr id="5" name="Pentagon 4">
            <a:extLst>
              <a:ext uri="{FF2B5EF4-FFF2-40B4-BE49-F238E27FC236}">
                <a16:creationId xmlns:a16="http://schemas.microsoft.com/office/drawing/2014/main" id="{92AF14D9-23C9-2848-8AD9-8DA65A54468B}"/>
              </a:ext>
            </a:extLst>
          </p:cNvPr>
          <p:cNvSpPr/>
          <p:nvPr/>
        </p:nvSpPr>
        <p:spPr bwMode="auto">
          <a:xfrm>
            <a:off x="609600" y="2628900"/>
            <a:ext cx="3124200" cy="1600200"/>
          </a:xfrm>
          <a:prstGeom prst="homePlate">
            <a:avLst/>
          </a:prstGeom>
          <a:solidFill>
            <a:schemeClr val="accent1"/>
          </a:solidFill>
          <a:ln w="9525" cap="flat" cmpd="sng" algn="ctr">
            <a:solidFill>
              <a:schemeClr val="tx1"/>
            </a:solidFill>
            <a:prstDash val="solid"/>
            <a:round/>
            <a:headEnd type="none" w="med" len="med"/>
            <a:tailEnd type="none" w="med" len="med"/>
          </a:ln>
          <a:effectLst>
            <a:glow rad="139700">
              <a:schemeClr val="accent4">
                <a:satMod val="175000"/>
                <a:alpha val="40000"/>
              </a:schemeClr>
            </a:glow>
          </a:effectLst>
          <a:scene3d>
            <a:camera prst="orthographicFront"/>
            <a:lightRig rig="threePt" dir="t"/>
          </a:scene3d>
          <a:sp3d>
            <a:bevelT prst="angle"/>
          </a:sp3d>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1" i="1" u="none" strike="noStrike" cap="none" normalizeH="0" baseline="0" dirty="0">
                <a:ln>
                  <a:noFill/>
                </a:ln>
                <a:solidFill>
                  <a:srgbClr val="000000"/>
                </a:solidFill>
                <a:effectLst/>
                <a:latin typeface="Arial" charset="0"/>
                <a:ea typeface="ＭＳ Ｐゴシック" charset="0"/>
                <a:cs typeface="Geneva" charset="0"/>
              </a:rPr>
              <a:t>Universal Design</a:t>
            </a:r>
          </a:p>
        </p:txBody>
      </p:sp>
      <p:sp>
        <p:nvSpPr>
          <p:cNvPr id="6" name="TextBox 5">
            <a:extLst>
              <a:ext uri="{FF2B5EF4-FFF2-40B4-BE49-F238E27FC236}">
                <a16:creationId xmlns:a16="http://schemas.microsoft.com/office/drawing/2014/main" id="{309464DF-7323-5F4C-BCD0-48743151EA29}"/>
              </a:ext>
            </a:extLst>
          </p:cNvPr>
          <p:cNvSpPr txBox="1"/>
          <p:nvPr/>
        </p:nvSpPr>
        <p:spPr>
          <a:xfrm>
            <a:off x="4419600" y="2551837"/>
            <a:ext cx="3733800" cy="1754326"/>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3600" dirty="0"/>
              <a:t>Universal Design for Learning</a:t>
            </a:r>
          </a:p>
        </p:txBody>
      </p:sp>
    </p:spTree>
    <p:extLst>
      <p:ext uri="{BB962C8B-B14F-4D97-AF65-F5344CB8AC3E}">
        <p14:creationId xmlns:p14="http://schemas.microsoft.com/office/powerpoint/2010/main" val="261144418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5" descr="UDL_3principles_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371600"/>
            <a:ext cx="4318000" cy="4649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extBox 6"/>
          <p:cNvSpPr txBox="1"/>
          <p:nvPr/>
        </p:nvSpPr>
        <p:spPr>
          <a:xfrm>
            <a:off x="533400" y="533400"/>
            <a:ext cx="8390467" cy="461665"/>
          </a:xfrm>
          <a:prstGeom prst="rect">
            <a:avLst/>
          </a:prstGeom>
          <a:noFill/>
        </p:spPr>
        <p:txBody>
          <a:bodyPr>
            <a:spAutoFit/>
          </a:bodyPr>
          <a:lstStyle/>
          <a:p>
            <a:pPr>
              <a:defRPr/>
            </a:pPr>
            <a:r>
              <a:rPr lang="en-US"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Principles of Universal Design for Learning</a:t>
            </a:r>
          </a:p>
        </p:txBody>
      </p:sp>
      <p:sp>
        <p:nvSpPr>
          <p:cNvPr id="2" name="Slide Number Placeholder 1"/>
          <p:cNvSpPr>
            <a:spLocks noGrp="1"/>
          </p:cNvSpPr>
          <p:nvPr>
            <p:ph type="sldNum" sz="quarter" idx="12"/>
          </p:nvPr>
        </p:nvSpPr>
        <p:spPr/>
        <p:txBody>
          <a:bodyPr/>
          <a:lstStyle/>
          <a:p>
            <a:pPr>
              <a:defRPr/>
            </a:pPr>
            <a:fld id="{FB4C946E-9367-E444-A4A6-CDCDED83867A}" type="slidenum">
              <a:rPr lang="en-US" smtClean="0"/>
              <a:pPr>
                <a:defRPr/>
              </a:pPr>
              <a:t>13</a:t>
            </a:fld>
            <a:endParaRPr lang="en-US"/>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0E19CA1-54E9-4C4E-AA58-2C65EC34878A}"/>
              </a:ext>
            </a:extLst>
          </p:cNvPr>
          <p:cNvSpPr>
            <a:spLocks noGrp="1"/>
          </p:cNvSpPr>
          <p:nvPr>
            <p:ph type="sldNum" sz="quarter" idx="12"/>
          </p:nvPr>
        </p:nvSpPr>
        <p:spPr/>
        <p:txBody>
          <a:bodyPr/>
          <a:lstStyle/>
          <a:p>
            <a:pPr>
              <a:defRPr/>
            </a:pPr>
            <a:fld id="{8DFCCDA7-D618-4941-BFD0-9F32B03099BD}" type="slidenum">
              <a:rPr lang="en-US" smtClean="0"/>
              <a:pPr>
                <a:defRPr/>
              </a:pPr>
              <a:t>14</a:t>
            </a:fld>
            <a:endParaRPr lang="en-US"/>
          </a:p>
        </p:txBody>
      </p:sp>
      <p:pic>
        <p:nvPicPr>
          <p:cNvPr id="6" name="Picture 5" descr="A screenshot of a cell phone&#10;&#10;Description automatically generated">
            <a:extLst>
              <a:ext uri="{FF2B5EF4-FFF2-40B4-BE49-F238E27FC236}">
                <a16:creationId xmlns:a16="http://schemas.microsoft.com/office/drawing/2014/main" id="{6EB6135D-ADA2-FC40-99E2-2D375AAA82B2}"/>
              </a:ext>
            </a:extLst>
          </p:cNvPr>
          <p:cNvPicPr>
            <a:picLocks noChangeAspect="1"/>
          </p:cNvPicPr>
          <p:nvPr/>
        </p:nvPicPr>
        <p:blipFill>
          <a:blip r:embed="rId2"/>
          <a:stretch>
            <a:fillRect/>
          </a:stretch>
        </p:blipFill>
        <p:spPr>
          <a:xfrm>
            <a:off x="479214" y="1047126"/>
            <a:ext cx="7026486" cy="5699039"/>
          </a:xfrm>
          <a:prstGeom prst="rect">
            <a:avLst/>
          </a:prstGeom>
          <a:ln>
            <a:solidFill>
              <a:schemeClr val="accent6">
                <a:shade val="95000"/>
                <a:satMod val="105000"/>
              </a:schemeClr>
            </a:solidFill>
          </a:ln>
        </p:spPr>
      </p:pic>
      <p:sp>
        <p:nvSpPr>
          <p:cNvPr id="7" name="TextBox 6">
            <a:extLst>
              <a:ext uri="{FF2B5EF4-FFF2-40B4-BE49-F238E27FC236}">
                <a16:creationId xmlns:a16="http://schemas.microsoft.com/office/drawing/2014/main" id="{4281E2BE-F60B-264D-84CF-1AE40B754124}"/>
              </a:ext>
            </a:extLst>
          </p:cNvPr>
          <p:cNvSpPr txBox="1"/>
          <p:nvPr/>
        </p:nvSpPr>
        <p:spPr>
          <a:xfrm>
            <a:off x="1981200" y="349844"/>
            <a:ext cx="4418034" cy="461665"/>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dirty="0"/>
              <a:t>UDL Guidelines</a:t>
            </a:r>
          </a:p>
        </p:txBody>
      </p:sp>
      <p:pic>
        <p:nvPicPr>
          <p:cNvPr id="8" name="Picture 7" descr="A picture containing drawing&#10;&#10;Description automatically generated">
            <a:extLst>
              <a:ext uri="{FF2B5EF4-FFF2-40B4-BE49-F238E27FC236}">
                <a16:creationId xmlns:a16="http://schemas.microsoft.com/office/drawing/2014/main" id="{EA7D6573-E251-E946-8805-D1E08BE9D2FE}"/>
              </a:ext>
            </a:extLst>
          </p:cNvPr>
          <p:cNvPicPr>
            <a:picLocks noChangeAspect="1"/>
          </p:cNvPicPr>
          <p:nvPr/>
        </p:nvPicPr>
        <p:blipFill>
          <a:blip r:embed="rId3"/>
          <a:stretch>
            <a:fillRect/>
          </a:stretch>
        </p:blipFill>
        <p:spPr>
          <a:xfrm>
            <a:off x="914400" y="349844"/>
            <a:ext cx="685800" cy="685800"/>
          </a:xfrm>
          <a:prstGeom prst="rect">
            <a:avLst/>
          </a:prstGeom>
        </p:spPr>
      </p:pic>
    </p:spTree>
    <p:extLst>
      <p:ext uri="{BB962C8B-B14F-4D97-AF65-F5344CB8AC3E}">
        <p14:creationId xmlns:p14="http://schemas.microsoft.com/office/powerpoint/2010/main" val="205476648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5" descr="boston-metro-red-line-massachusetts-usa-mbta-stops-alewife-station-cambridge-62659755.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2400" y="609600"/>
            <a:ext cx="4008438" cy="2590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 name="Picture 2" descr="A0VahCKCIAA6l38.jpg"/>
          <p:cNvPicPr>
            <a:picLocks noChangeAspect="1"/>
          </p:cNvPicPr>
          <p:nvPr/>
        </p:nvPicPr>
        <p:blipFill>
          <a:blip r:embed="rId5">
            <a:extLst>
              <a:ext uri="{28A0092B-C50C-407E-A947-70E740481C1C}">
                <a14:useLocalDpi xmlns:a14="http://schemas.microsoft.com/office/drawing/2010/main" val="0"/>
              </a:ext>
            </a:extLst>
          </a:blip>
          <a:srcRect l="10864" t="11295" r="742" b="30556"/>
          <a:stretch>
            <a:fillRect/>
          </a:stretch>
        </p:blipFill>
        <p:spPr bwMode="auto">
          <a:xfrm>
            <a:off x="4419600" y="1600200"/>
            <a:ext cx="4546600" cy="3987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a:defRPr/>
            </a:pPr>
            <a:fld id="{E8938FB2-16E3-344C-9843-92EFF097BD12}" type="slidenum">
              <a:rPr lang="en-US" smtClean="0"/>
              <a:pPr>
                <a:defRPr/>
              </a:pPr>
              <a:t>15</a:t>
            </a:fld>
            <a:endParaRPr lang="en-US"/>
          </a:p>
        </p:txBody>
      </p:sp>
      <p:pic>
        <p:nvPicPr>
          <p:cNvPr id="5" name="20180226 090016.m4a">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2514600" y="4038600"/>
            <a:ext cx="812800" cy="812800"/>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797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5"/>
                    </p:tgtEl>
                  </p:cond>
                </p:stCondLst>
                <p:endSync evt="end" delay="0">
                  <p:rtn val="all"/>
                </p:endSync>
                <p:childTnLst>
                  <p:par>
                    <p:cTn id="16" fill="hold">
                      <p:stCondLst>
                        <p:cond delay="0"/>
                      </p:stCondLst>
                      <p:childTnLst>
                        <p:par>
                          <p:cTn id="17" fill="hold">
                            <p:stCondLst>
                              <p:cond delay="0"/>
                            </p:stCondLst>
                            <p:childTnLst>
                              <p:par>
                                <p:cTn id="18" presetID="1" presetClass="mediacall" presetSubtype="0" fill="hold" nodeType="clickEffect">
                                  <p:stCondLst>
                                    <p:cond delay="0"/>
                                  </p:stCondLst>
                                  <p:childTnLst>
                                    <p:cmd type="call" cmd="playFrom(0.0)">
                                      <p:cBhvr>
                                        <p:cTn id="19" dur="7978" fill="hold"/>
                                        <p:tgtEl>
                                          <p:spTgt spid="5"/>
                                        </p:tgtEl>
                                      </p:cBhvr>
                                    </p:cmd>
                                  </p:childTnLst>
                                </p:cTn>
                              </p:par>
                            </p:childTnLst>
                          </p:cTn>
                        </p:par>
                      </p:childTnLst>
                    </p:cTn>
                  </p:par>
                </p:childTnLst>
              </p:cTn>
              <p:nextCondLst>
                <p:cond evt="onClick" delay="0">
                  <p:tgtEl>
                    <p:spTgt spid="5"/>
                  </p:tgtEl>
                </p:cond>
              </p:nextCondLst>
            </p:seq>
            <p:audio>
              <p:cMediaNode vol="80000" showWhenStopped="0">
                <p:cTn id="20" fill="hold" display="0">
                  <p:stCondLst>
                    <p:cond delay="indefinite"/>
                  </p:stCondLst>
                  <p:endCondLst>
                    <p:cond evt="onStopAudio" delay="0">
                      <p:tgtEl>
                        <p:sldTgt/>
                      </p:tgtEl>
                    </p:cond>
                  </p:endCondLst>
                </p:cTn>
                <p:tgtEl>
                  <p:spTgt spid="5"/>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6" descr="images.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914400"/>
            <a:ext cx="5529263" cy="23479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7650" name="Picture 7" descr="Unknown.jpeg"/>
          <p:cNvPicPr>
            <a:picLocks noChangeAspect="1"/>
          </p:cNvPicPr>
          <p:nvPr/>
        </p:nvPicPr>
        <p:blipFill>
          <a:blip r:embed="rId3">
            <a:extLst>
              <a:ext uri="{28A0092B-C50C-407E-A947-70E740481C1C}">
                <a14:useLocalDpi xmlns:a14="http://schemas.microsoft.com/office/drawing/2010/main" val="0"/>
              </a:ext>
            </a:extLst>
          </a:blip>
          <a:srcRect l="9940" t="20035" r="10545" b="25319"/>
          <a:stretch>
            <a:fillRect/>
          </a:stretch>
        </p:blipFill>
        <p:spPr bwMode="auto">
          <a:xfrm>
            <a:off x="4648200" y="3962400"/>
            <a:ext cx="4110038" cy="1879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57649FA9-6E9C-BD44-8FBD-A908B5A800DF}" type="slidenum">
              <a:rPr lang="en-US" smtClean="0"/>
              <a:pPr>
                <a:defRPr/>
              </a:pPr>
              <a:t>16</a:t>
            </a:fld>
            <a:endParaRPr lang="en-US"/>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153400" cy="1143000"/>
          </a:xfrm>
        </p:spPr>
        <p:txBody>
          <a:bodyPr/>
          <a:lstStyle/>
          <a:p>
            <a:pPr>
              <a:defRPr/>
            </a:pPr>
            <a:r>
              <a:rPr lang="en-US" sz="2800" dirty="0"/>
              <a:t>Public Policies that Support a Person with a Disability Working with</a:t>
            </a:r>
            <a:br>
              <a:rPr lang="en-US" sz="2800" dirty="0"/>
            </a:br>
            <a:r>
              <a:rPr lang="en-US" sz="2800" dirty="0"/>
              <a:t>a Job Coach</a:t>
            </a:r>
          </a:p>
        </p:txBody>
      </p:sp>
      <p:sp>
        <p:nvSpPr>
          <p:cNvPr id="3" name="Content Placeholder 2"/>
          <p:cNvSpPr>
            <a:spLocks noGrp="1"/>
          </p:cNvSpPr>
          <p:nvPr>
            <p:ph idx="1"/>
          </p:nvPr>
        </p:nvSpPr>
        <p:spPr>
          <a:xfrm>
            <a:off x="12700" y="1828800"/>
            <a:ext cx="8915400" cy="4419600"/>
          </a:xfrm>
        </p:spPr>
        <p:txBody>
          <a:bodyPr/>
          <a:lstStyle/>
          <a:p>
            <a:pPr>
              <a:defRPr/>
            </a:pPr>
            <a:r>
              <a:rPr lang="en-US" sz="2000" dirty="0"/>
              <a:t>The Rehabilitation Act of 1973 authorizes public  VR funding for the individual’s job development and placement activities</a:t>
            </a:r>
          </a:p>
          <a:p>
            <a:pPr>
              <a:defRPr/>
            </a:pPr>
            <a:r>
              <a:rPr lang="en-US" sz="2000" dirty="0"/>
              <a:t>CMS Waiver Program provides Medicaid funding for long-term placement supports such as job coaching and other assistance</a:t>
            </a:r>
          </a:p>
          <a:p>
            <a:pPr>
              <a:defRPr/>
            </a:pPr>
            <a:r>
              <a:rPr lang="en-US" sz="2000" dirty="0"/>
              <a:t>The Americans with Disabilities Act provides the right to reasonable accommodation, rights to to non-discrimination in hiring, and requires provision of accessible public transportation</a:t>
            </a:r>
          </a:p>
          <a:p>
            <a:pPr>
              <a:defRPr/>
            </a:pPr>
            <a:r>
              <a:rPr lang="en-US" sz="2000" dirty="0"/>
              <a:t>The Ticket to Work and Work Incentives Improvement Act of 1999 allows the individual to maintain health insurance through the state’s Medicaid buy-in program, and establishes benefit counseling through the Work Incentive Planning &amp; Assistance Program to help individual manage benefits</a:t>
            </a:r>
          </a:p>
        </p:txBody>
      </p:sp>
      <p:sp>
        <p:nvSpPr>
          <p:cNvPr id="4" name="Slide Number Placeholder 3"/>
          <p:cNvSpPr>
            <a:spLocks noGrp="1"/>
          </p:cNvSpPr>
          <p:nvPr>
            <p:ph type="sldNum" sz="quarter" idx="12"/>
          </p:nvPr>
        </p:nvSpPr>
        <p:spPr/>
        <p:txBody>
          <a:bodyPr/>
          <a:lstStyle/>
          <a:p>
            <a:pPr>
              <a:defRPr/>
            </a:pPr>
            <a:fld id="{7E0621CF-856D-9D44-B635-B03AB5BE4BE3}" type="slidenum">
              <a:rPr lang="en-US" smtClean="0"/>
              <a:pPr>
                <a:defRPr/>
              </a:pPr>
              <a:t>17</a:t>
            </a:fld>
            <a:endParaRPr lang="en-US"/>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14400"/>
            <a:ext cx="8534400" cy="472440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pic>
        <p:nvPicPr>
          <p:cNvPr id="29698" name="Picture 4" descr="Janitorial Worker.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752600"/>
            <a:ext cx="2362200" cy="3149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pPr>
              <a:defRPr/>
            </a:pPr>
            <a:fld id="{47540F97-B084-4243-9F40-3A3D1D284F10}" type="slidenum">
              <a:rPr lang="en-US" smtClean="0"/>
              <a:pPr>
                <a:defRPr/>
              </a:pPr>
              <a:t>18</a:t>
            </a:fld>
            <a:endParaRPr lang="en-US"/>
          </a:p>
        </p:txBody>
      </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14"/>
          <p:cNvSpPr/>
          <p:nvPr/>
        </p:nvSpPr>
        <p:spPr bwMode="auto">
          <a:xfrm>
            <a:off x="304800" y="4724400"/>
            <a:ext cx="2819400" cy="1143000"/>
          </a:xfrm>
          <a:prstGeom prst="roundRect">
            <a:avLst/>
          </a:prstGeom>
          <a:ln>
            <a:headEnd type="none" w="med" len="med"/>
            <a:tailEnd type="none" w="med" len="med"/>
          </a:ln>
          <a:scene3d>
            <a:camera prst="orthographicFront"/>
            <a:lightRig rig="threePt" dir="t"/>
          </a:scene3d>
          <a:sp3d>
            <a:bevelT w="139700" h="139700" prst="divot"/>
          </a:sp3d>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US" sz="2000" b="1" dirty="0">
                <a:solidFill>
                  <a:srgbClr val="000000"/>
                </a:solidFill>
                <a:latin typeface="+mj-lt"/>
                <a:ea typeface="ＭＳ Ｐゴシック" charset="0"/>
                <a:cs typeface="Geneva" charset="0"/>
              </a:rPr>
              <a:t>Ticket to Work &amp; Work Incentives Improvement Act</a:t>
            </a:r>
          </a:p>
        </p:txBody>
      </p:sp>
      <p:sp>
        <p:nvSpPr>
          <p:cNvPr id="18" name="Rounded Rectangle 17"/>
          <p:cNvSpPr/>
          <p:nvPr/>
        </p:nvSpPr>
        <p:spPr bwMode="auto">
          <a:xfrm>
            <a:off x="228600" y="457200"/>
            <a:ext cx="2362200" cy="990600"/>
          </a:xfrm>
          <a:prstGeom prst="roundRect">
            <a:avLst/>
          </a:prstGeom>
          <a:solidFill>
            <a:srgbClr val="E94D0C"/>
          </a:solidFill>
          <a:ln w="9525" cap="flat" cmpd="sng" algn="ctr">
            <a:solidFill>
              <a:schemeClr val="tx1"/>
            </a:solidFill>
            <a:prstDash val="solid"/>
            <a:round/>
            <a:headEnd type="none" w="med" len="med"/>
            <a:tailEnd type="none" w="med" len="med"/>
          </a:ln>
          <a:effectLst/>
          <a:scene3d>
            <a:camera prst="orthographicFront"/>
            <a:lightRig rig="threePt" dir="t"/>
          </a:scene3d>
          <a:sp3d>
            <a:bevelT w="139700" h="139700" prst="divot"/>
          </a:sp3d>
        </p:spPr>
        <p:txBody>
          <a:bodyPr anchor="ctr"/>
          <a:lstStyle/>
          <a:p>
            <a:pPr algn="ctr">
              <a:defRPr/>
            </a:pPr>
            <a:r>
              <a:rPr lang="en-US" sz="2000" b="1" dirty="0">
                <a:solidFill>
                  <a:schemeClr val="bg1"/>
                </a:solidFill>
                <a:cs typeface="Geneva" charset="0"/>
              </a:rPr>
              <a:t>Rehabilitation Act</a:t>
            </a:r>
          </a:p>
        </p:txBody>
      </p:sp>
      <p:sp>
        <p:nvSpPr>
          <p:cNvPr id="19" name="Rounded Rectangle 18"/>
          <p:cNvSpPr/>
          <p:nvPr/>
        </p:nvSpPr>
        <p:spPr bwMode="auto">
          <a:xfrm>
            <a:off x="228600" y="1828800"/>
            <a:ext cx="2667000" cy="1066800"/>
          </a:xfrm>
          <a:prstGeom prst="roundRect">
            <a:avLst/>
          </a:prstGeom>
          <a:solidFill>
            <a:srgbClr val="3A8289"/>
          </a:solidFill>
          <a:ln w="9525" cap="flat" cmpd="sng" algn="ctr">
            <a:solidFill>
              <a:schemeClr val="tx1"/>
            </a:solidFill>
            <a:prstDash val="solid"/>
            <a:round/>
            <a:headEnd type="none" w="med" len="med"/>
            <a:tailEnd type="none" w="med" len="med"/>
          </a:ln>
          <a:effectLst/>
          <a:scene3d>
            <a:camera prst="orthographicFront"/>
            <a:lightRig rig="threePt" dir="t"/>
          </a:scene3d>
          <a:sp3d>
            <a:bevelT w="139700" h="139700" prst="divot"/>
          </a:sp3d>
        </p:spPr>
        <p:txBody>
          <a:bodyPr anchor="ctr"/>
          <a:lstStyle/>
          <a:p>
            <a:pPr algn="ctr">
              <a:defRPr/>
            </a:pPr>
            <a:r>
              <a:rPr lang="en-US" sz="2000" b="1" dirty="0">
                <a:solidFill>
                  <a:schemeClr val="accent3"/>
                </a:solidFill>
                <a:cs typeface="Geneva" charset="0"/>
              </a:rPr>
              <a:t>CMS Waiver Program</a:t>
            </a:r>
          </a:p>
        </p:txBody>
      </p:sp>
      <p:sp>
        <p:nvSpPr>
          <p:cNvPr id="29" name="Rounded Rectangle 28"/>
          <p:cNvSpPr/>
          <p:nvPr/>
        </p:nvSpPr>
        <p:spPr bwMode="auto">
          <a:xfrm>
            <a:off x="304800" y="3352800"/>
            <a:ext cx="2514600" cy="914400"/>
          </a:xfrm>
          <a:prstGeom prst="roundRect">
            <a:avLst/>
          </a:prstGeom>
          <a:solidFill>
            <a:srgbClr val="800040"/>
          </a:solidFill>
          <a:ln w="9525" cap="flat" cmpd="sng" algn="ctr">
            <a:solidFill>
              <a:schemeClr val="tx1"/>
            </a:solidFill>
            <a:prstDash val="solid"/>
            <a:round/>
            <a:headEnd type="none" w="med" len="med"/>
            <a:tailEnd type="none" w="med" len="med"/>
          </a:ln>
          <a:effectLst/>
          <a:scene3d>
            <a:camera prst="orthographicFront"/>
            <a:lightRig rig="threePt" dir="t"/>
          </a:scene3d>
          <a:sp3d>
            <a:bevelT w="139700" h="139700" prst="divot"/>
          </a:sp3d>
        </p:spPr>
        <p:txBody>
          <a:bodyPr anchor="ctr"/>
          <a:lstStyle/>
          <a:p>
            <a:pPr algn="ctr">
              <a:defRPr/>
            </a:pPr>
            <a:r>
              <a:rPr lang="en-US" sz="2000" b="1" dirty="0">
                <a:solidFill>
                  <a:schemeClr val="accent3"/>
                </a:solidFill>
                <a:latin typeface="+mn-lt"/>
                <a:cs typeface="Geneva" charset="0"/>
              </a:rPr>
              <a:t>Americans with Disabilities Act</a:t>
            </a:r>
          </a:p>
        </p:txBody>
      </p:sp>
      <p:sp>
        <p:nvSpPr>
          <p:cNvPr id="30733" name="Freeform 132"/>
          <p:cNvSpPr>
            <a:spLocks/>
          </p:cNvSpPr>
          <p:nvPr/>
        </p:nvSpPr>
        <p:spPr bwMode="auto">
          <a:xfrm>
            <a:off x="7721600" y="2159000"/>
            <a:ext cx="112713" cy="1676400"/>
          </a:xfrm>
          <a:custGeom>
            <a:avLst/>
            <a:gdLst>
              <a:gd name="T0" fmla="*/ 0 w 112087"/>
              <a:gd name="T1" fmla="*/ 1676400 h 1676400"/>
              <a:gd name="T2" fmla="*/ 39395 w 112087"/>
              <a:gd name="T3" fmla="*/ 0 h 1676400"/>
              <a:gd name="T4" fmla="*/ 0 60000 65536"/>
              <a:gd name="T5" fmla="*/ 0 60000 65536"/>
            </a:gdLst>
            <a:ahLst/>
            <a:cxnLst>
              <a:cxn ang="T4">
                <a:pos x="T0" y="T1"/>
              </a:cxn>
              <a:cxn ang="T5">
                <a:pos x="T2" y="T3"/>
              </a:cxn>
            </a:cxnLst>
            <a:rect l="0" t="0" r="r" b="b"/>
            <a:pathLst>
              <a:path w="112087" h="1676400">
                <a:moveTo>
                  <a:pt x="0" y="1676400"/>
                </a:moveTo>
                <a:cubicBezTo>
                  <a:pt x="89958" y="1219200"/>
                  <a:pt x="179917" y="762000"/>
                  <a:pt x="38100" y="0"/>
                </a:cubicBez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734" name="Freeform 133"/>
          <p:cNvSpPr>
            <a:spLocks/>
          </p:cNvSpPr>
          <p:nvPr/>
        </p:nvSpPr>
        <p:spPr bwMode="auto">
          <a:xfrm>
            <a:off x="7150100" y="1981200"/>
            <a:ext cx="1282700" cy="1892300"/>
          </a:xfrm>
          <a:custGeom>
            <a:avLst/>
            <a:gdLst>
              <a:gd name="T0" fmla="*/ 558800 w 1282700"/>
              <a:gd name="T1" fmla="*/ 1892300 h 1892300"/>
              <a:gd name="T2" fmla="*/ 558800 w 1282700"/>
              <a:gd name="T3" fmla="*/ 1892300 h 1892300"/>
              <a:gd name="T4" fmla="*/ 469900 w 1282700"/>
              <a:gd name="T5" fmla="*/ 1828800 h 1892300"/>
              <a:gd name="T6" fmla="*/ 419100 w 1282700"/>
              <a:gd name="T7" fmla="*/ 1816100 h 1892300"/>
              <a:gd name="T8" fmla="*/ 381000 w 1282700"/>
              <a:gd name="T9" fmla="*/ 1778000 h 1892300"/>
              <a:gd name="T10" fmla="*/ 342900 w 1282700"/>
              <a:gd name="T11" fmla="*/ 1752600 h 1892300"/>
              <a:gd name="T12" fmla="*/ 317500 w 1282700"/>
              <a:gd name="T13" fmla="*/ 1714500 h 1892300"/>
              <a:gd name="T14" fmla="*/ 266700 w 1282700"/>
              <a:gd name="T15" fmla="*/ 1625600 h 1892300"/>
              <a:gd name="T16" fmla="*/ 228600 w 1282700"/>
              <a:gd name="T17" fmla="*/ 1574800 h 1892300"/>
              <a:gd name="T18" fmla="*/ 190500 w 1282700"/>
              <a:gd name="T19" fmla="*/ 1536700 h 1892300"/>
              <a:gd name="T20" fmla="*/ 165100 w 1282700"/>
              <a:gd name="T21" fmla="*/ 1485900 h 1892300"/>
              <a:gd name="T22" fmla="*/ 50800 w 1282700"/>
              <a:gd name="T23" fmla="*/ 1397000 h 1892300"/>
              <a:gd name="T24" fmla="*/ 0 w 1282700"/>
              <a:gd name="T25" fmla="*/ 1346200 h 1892300"/>
              <a:gd name="T26" fmla="*/ 114300 w 1282700"/>
              <a:gd name="T27" fmla="*/ 1460500 h 1892300"/>
              <a:gd name="T28" fmla="*/ 203200 w 1282700"/>
              <a:gd name="T29" fmla="*/ 1320800 h 1892300"/>
              <a:gd name="T30" fmla="*/ 241300 w 1282700"/>
              <a:gd name="T31" fmla="*/ 1231900 h 1892300"/>
              <a:gd name="T32" fmla="*/ 279400 w 1282700"/>
              <a:gd name="T33" fmla="*/ 1168400 h 1892300"/>
              <a:gd name="T34" fmla="*/ 304800 w 1282700"/>
              <a:gd name="T35" fmla="*/ 1079500 h 1892300"/>
              <a:gd name="T36" fmla="*/ 342900 w 1282700"/>
              <a:gd name="T37" fmla="*/ 990600 h 1892300"/>
              <a:gd name="T38" fmla="*/ 368300 w 1282700"/>
              <a:gd name="T39" fmla="*/ 812800 h 1892300"/>
              <a:gd name="T40" fmla="*/ 393700 w 1282700"/>
              <a:gd name="T41" fmla="*/ 711200 h 1892300"/>
              <a:gd name="T42" fmla="*/ 419100 w 1282700"/>
              <a:gd name="T43" fmla="*/ 647700 h 1892300"/>
              <a:gd name="T44" fmla="*/ 444500 w 1282700"/>
              <a:gd name="T45" fmla="*/ 558800 h 1892300"/>
              <a:gd name="T46" fmla="*/ 457200 w 1282700"/>
              <a:gd name="T47" fmla="*/ 520700 h 1892300"/>
              <a:gd name="T48" fmla="*/ 635000 w 1282700"/>
              <a:gd name="T49" fmla="*/ 317500 h 1892300"/>
              <a:gd name="T50" fmla="*/ 736600 w 1282700"/>
              <a:gd name="T51" fmla="*/ 241300 h 1892300"/>
              <a:gd name="T52" fmla="*/ 838200 w 1282700"/>
              <a:gd name="T53" fmla="*/ 177800 h 1892300"/>
              <a:gd name="T54" fmla="*/ 1066800 w 1282700"/>
              <a:gd name="T55" fmla="*/ 76200 h 1892300"/>
              <a:gd name="T56" fmla="*/ 1155700 w 1282700"/>
              <a:gd name="T57" fmla="*/ 38100 h 1892300"/>
              <a:gd name="T58" fmla="*/ 1282700 w 1282700"/>
              <a:gd name="T59" fmla="*/ 0 h 18923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282700" h="1892300">
                <a:moveTo>
                  <a:pt x="558800" y="1892300"/>
                </a:moveTo>
                <a:lnTo>
                  <a:pt x="558800" y="1892300"/>
                </a:lnTo>
                <a:cubicBezTo>
                  <a:pt x="529167" y="1871133"/>
                  <a:pt x="501870" y="1846238"/>
                  <a:pt x="469900" y="1828800"/>
                </a:cubicBezTo>
                <a:cubicBezTo>
                  <a:pt x="454577" y="1820442"/>
                  <a:pt x="434255" y="1824760"/>
                  <a:pt x="419100" y="1816100"/>
                </a:cubicBezTo>
                <a:cubicBezTo>
                  <a:pt x="403506" y="1807189"/>
                  <a:pt x="394798" y="1789498"/>
                  <a:pt x="381000" y="1778000"/>
                </a:cubicBezTo>
                <a:cubicBezTo>
                  <a:pt x="369274" y="1768229"/>
                  <a:pt x="355600" y="1761067"/>
                  <a:pt x="342900" y="1752600"/>
                </a:cubicBezTo>
                <a:cubicBezTo>
                  <a:pt x="334433" y="1739900"/>
                  <a:pt x="325073" y="1727752"/>
                  <a:pt x="317500" y="1714500"/>
                </a:cubicBezTo>
                <a:cubicBezTo>
                  <a:pt x="274978" y="1640087"/>
                  <a:pt x="310902" y="1687483"/>
                  <a:pt x="266700" y="1625600"/>
                </a:cubicBezTo>
                <a:cubicBezTo>
                  <a:pt x="254397" y="1608376"/>
                  <a:pt x="242375" y="1590871"/>
                  <a:pt x="228600" y="1574800"/>
                </a:cubicBezTo>
                <a:cubicBezTo>
                  <a:pt x="216911" y="1561163"/>
                  <a:pt x="200939" y="1551315"/>
                  <a:pt x="190500" y="1536700"/>
                </a:cubicBezTo>
                <a:cubicBezTo>
                  <a:pt x="179496" y="1521294"/>
                  <a:pt x="178487" y="1499287"/>
                  <a:pt x="165100" y="1485900"/>
                </a:cubicBezTo>
                <a:cubicBezTo>
                  <a:pt x="130970" y="1451770"/>
                  <a:pt x="84930" y="1431130"/>
                  <a:pt x="50800" y="1397000"/>
                </a:cubicBezTo>
                <a:lnTo>
                  <a:pt x="0" y="1346200"/>
                </a:lnTo>
                <a:lnTo>
                  <a:pt x="114300" y="1460500"/>
                </a:lnTo>
                <a:cubicBezTo>
                  <a:pt x="143933" y="1413933"/>
                  <a:pt x="176394" y="1369050"/>
                  <a:pt x="203200" y="1320800"/>
                </a:cubicBezTo>
                <a:cubicBezTo>
                  <a:pt x="218857" y="1292617"/>
                  <a:pt x="226882" y="1260736"/>
                  <a:pt x="241300" y="1231900"/>
                </a:cubicBezTo>
                <a:cubicBezTo>
                  <a:pt x="252339" y="1209822"/>
                  <a:pt x="266700" y="1189567"/>
                  <a:pt x="279400" y="1168400"/>
                </a:cubicBezTo>
                <a:cubicBezTo>
                  <a:pt x="287867" y="1138767"/>
                  <a:pt x="294434" y="1108524"/>
                  <a:pt x="304800" y="1079500"/>
                </a:cubicBezTo>
                <a:cubicBezTo>
                  <a:pt x="315644" y="1049138"/>
                  <a:pt x="333419" y="1021414"/>
                  <a:pt x="342900" y="990600"/>
                </a:cubicBezTo>
                <a:cubicBezTo>
                  <a:pt x="351252" y="963457"/>
                  <a:pt x="365606" y="830308"/>
                  <a:pt x="368300" y="812800"/>
                </a:cubicBezTo>
                <a:cubicBezTo>
                  <a:pt x="374891" y="769960"/>
                  <a:pt x="379591" y="748824"/>
                  <a:pt x="393700" y="711200"/>
                </a:cubicBezTo>
                <a:cubicBezTo>
                  <a:pt x="401705" y="689854"/>
                  <a:pt x="411891" y="669327"/>
                  <a:pt x="419100" y="647700"/>
                </a:cubicBezTo>
                <a:cubicBezTo>
                  <a:pt x="428846" y="618462"/>
                  <a:pt x="435644" y="588319"/>
                  <a:pt x="444500" y="558800"/>
                </a:cubicBezTo>
                <a:cubicBezTo>
                  <a:pt x="448347" y="545978"/>
                  <a:pt x="449419" y="531593"/>
                  <a:pt x="457200" y="520700"/>
                </a:cubicBezTo>
                <a:cubicBezTo>
                  <a:pt x="488475" y="476915"/>
                  <a:pt x="579693" y="364298"/>
                  <a:pt x="635000" y="317500"/>
                </a:cubicBezTo>
                <a:cubicBezTo>
                  <a:pt x="667317" y="290155"/>
                  <a:pt x="701716" y="265283"/>
                  <a:pt x="736600" y="241300"/>
                </a:cubicBezTo>
                <a:cubicBezTo>
                  <a:pt x="769510" y="218674"/>
                  <a:pt x="802479" y="195660"/>
                  <a:pt x="838200" y="177800"/>
                </a:cubicBezTo>
                <a:cubicBezTo>
                  <a:pt x="912784" y="140508"/>
                  <a:pt x="990475" y="109783"/>
                  <a:pt x="1066800" y="76200"/>
                </a:cubicBezTo>
                <a:cubicBezTo>
                  <a:pt x="1096310" y="63216"/>
                  <a:pt x="1124423" y="45919"/>
                  <a:pt x="1155700" y="38100"/>
                </a:cubicBezTo>
                <a:cubicBezTo>
                  <a:pt x="1266483" y="10404"/>
                  <a:pt x="1226076" y="28312"/>
                  <a:pt x="1282700" y="0"/>
                </a:cubicBez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735" name="Freeform 134"/>
          <p:cNvSpPr>
            <a:spLocks/>
          </p:cNvSpPr>
          <p:nvPr/>
        </p:nvSpPr>
        <p:spPr bwMode="auto">
          <a:xfrm>
            <a:off x="6172200" y="2895600"/>
            <a:ext cx="1397000" cy="1549400"/>
          </a:xfrm>
          <a:custGeom>
            <a:avLst/>
            <a:gdLst>
              <a:gd name="T0" fmla="*/ 1397000 w 1397000"/>
              <a:gd name="T1" fmla="*/ 984285 h 1548894"/>
              <a:gd name="T2" fmla="*/ 965200 w 1397000"/>
              <a:gd name="T3" fmla="*/ 907936 h 1548894"/>
              <a:gd name="T4" fmla="*/ 1092200 w 1397000"/>
              <a:gd name="T5" fmla="*/ 1404208 h 1548894"/>
              <a:gd name="T6" fmla="*/ 1016000 w 1397000"/>
              <a:gd name="T7" fmla="*/ 1455108 h 1548894"/>
              <a:gd name="T8" fmla="*/ 431800 w 1397000"/>
              <a:gd name="T9" fmla="*/ 195343 h 1548894"/>
              <a:gd name="T10" fmla="*/ 0 w 1397000"/>
              <a:gd name="T11" fmla="*/ 4465 h 15488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7000" h="1548894">
                <a:moveTo>
                  <a:pt x="1397000" y="982359"/>
                </a:moveTo>
                <a:cubicBezTo>
                  <a:pt x="1206500" y="909334"/>
                  <a:pt x="1016000" y="836309"/>
                  <a:pt x="965200" y="906159"/>
                </a:cubicBezTo>
                <a:cubicBezTo>
                  <a:pt x="914400" y="976009"/>
                  <a:pt x="1083733" y="1310442"/>
                  <a:pt x="1092200" y="1401459"/>
                </a:cubicBezTo>
                <a:cubicBezTo>
                  <a:pt x="1100667" y="1492476"/>
                  <a:pt x="1126067" y="1653342"/>
                  <a:pt x="1016000" y="1452259"/>
                </a:cubicBezTo>
                <a:cubicBezTo>
                  <a:pt x="905933" y="1251176"/>
                  <a:pt x="601133" y="436259"/>
                  <a:pt x="431800" y="194959"/>
                </a:cubicBezTo>
                <a:cubicBezTo>
                  <a:pt x="262467" y="-46341"/>
                  <a:pt x="0" y="4459"/>
                  <a:pt x="0" y="4459"/>
                </a:cubicBez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TextBox 19"/>
          <p:cNvSpPr txBox="1"/>
          <p:nvPr/>
        </p:nvSpPr>
        <p:spPr>
          <a:xfrm>
            <a:off x="4419600" y="457200"/>
            <a:ext cx="3048000" cy="1015663"/>
          </a:xfrm>
          <a:prstGeom prst="rect">
            <a:avLst/>
          </a:prstGeom>
          <a:noFill/>
          <a:ln>
            <a:solidFill>
              <a:schemeClr val="tx1"/>
            </a:solidFill>
          </a:ln>
          <a:effectLst>
            <a:glow rad="63500">
              <a:schemeClr val="accent4">
                <a:satMod val="175000"/>
                <a:alpha val="40000"/>
              </a:schemeClr>
            </a:glow>
          </a:effectLst>
          <a:scene3d>
            <a:camera prst="orthographicFront"/>
            <a:lightRig rig="threePt" dir="t"/>
          </a:scene3d>
          <a:sp3d>
            <a:bevelT w="139700" h="139700" prst="divot"/>
          </a:sp3d>
        </p:spPr>
        <p:txBody>
          <a:bodyPr>
            <a:spAutoFit/>
          </a:bodyPr>
          <a:lstStyle/>
          <a:p>
            <a:pPr algn="ctr">
              <a:defRPr/>
            </a:pPr>
            <a:r>
              <a:rPr lang="en-US" sz="2000" b="1" dirty="0">
                <a:latin typeface="Arial Narrow"/>
                <a:cs typeface="Arial Narrow"/>
              </a:rPr>
              <a:t>Authorizes public VR</a:t>
            </a:r>
            <a:br>
              <a:rPr lang="en-US" sz="2000" b="1" dirty="0">
                <a:latin typeface="Arial Narrow"/>
                <a:cs typeface="Arial Narrow"/>
              </a:rPr>
            </a:br>
            <a:r>
              <a:rPr lang="en-US" sz="2000" b="1" dirty="0">
                <a:latin typeface="Arial Narrow"/>
                <a:cs typeface="Arial Narrow"/>
              </a:rPr>
              <a:t>funding for job development &amp; placement</a:t>
            </a:r>
          </a:p>
        </p:txBody>
      </p:sp>
      <p:sp>
        <p:nvSpPr>
          <p:cNvPr id="46" name="TextBox 45"/>
          <p:cNvSpPr txBox="1"/>
          <p:nvPr/>
        </p:nvSpPr>
        <p:spPr>
          <a:xfrm>
            <a:off x="4495800" y="1981200"/>
            <a:ext cx="3505200" cy="707886"/>
          </a:xfrm>
          <a:prstGeom prst="rect">
            <a:avLst/>
          </a:prstGeom>
          <a:noFill/>
          <a:ln>
            <a:solidFill>
              <a:schemeClr val="tx1"/>
            </a:solidFill>
          </a:ln>
          <a:effectLst>
            <a:glow rad="63500">
              <a:schemeClr val="accent4">
                <a:satMod val="175000"/>
                <a:alpha val="40000"/>
              </a:schemeClr>
            </a:glow>
          </a:effectLst>
          <a:scene3d>
            <a:camera prst="orthographicFront"/>
            <a:lightRig rig="threePt" dir="t"/>
          </a:scene3d>
          <a:sp3d>
            <a:bevelT w="139700" h="139700" prst="divot"/>
          </a:sp3d>
        </p:spPr>
        <p:txBody>
          <a:bodyPr>
            <a:spAutoFit/>
          </a:bodyPr>
          <a:lstStyle/>
          <a:p>
            <a:pPr algn="ctr">
              <a:defRPr/>
            </a:pPr>
            <a:r>
              <a:rPr lang="en-US" sz="2000" b="1" dirty="0">
                <a:latin typeface="Arial Narrow"/>
                <a:cs typeface="Arial Narrow"/>
              </a:rPr>
              <a:t>Medicaid funding for</a:t>
            </a:r>
            <a:br>
              <a:rPr lang="en-US" sz="2000" b="1" dirty="0">
                <a:latin typeface="Arial Narrow"/>
                <a:cs typeface="Arial Narrow"/>
              </a:rPr>
            </a:br>
            <a:r>
              <a:rPr lang="en-US" sz="2000" b="1" dirty="0">
                <a:latin typeface="Arial Narrow"/>
                <a:cs typeface="Arial Narrow"/>
              </a:rPr>
              <a:t>long-term placement supports</a:t>
            </a:r>
          </a:p>
        </p:txBody>
      </p:sp>
      <p:sp>
        <p:nvSpPr>
          <p:cNvPr id="57" name="TextBox 56"/>
          <p:cNvSpPr txBox="1"/>
          <p:nvPr/>
        </p:nvSpPr>
        <p:spPr>
          <a:xfrm>
            <a:off x="4495800" y="3191470"/>
            <a:ext cx="3810000" cy="1032334"/>
          </a:xfrm>
          <a:prstGeom prst="rect">
            <a:avLst/>
          </a:prstGeom>
          <a:noFill/>
          <a:ln>
            <a:solidFill>
              <a:schemeClr val="tx1"/>
            </a:solidFill>
          </a:ln>
          <a:effectLst>
            <a:glow rad="63500">
              <a:schemeClr val="accent4">
                <a:satMod val="175000"/>
                <a:alpha val="40000"/>
              </a:schemeClr>
            </a:glow>
          </a:effectLst>
          <a:scene3d>
            <a:camera prst="orthographicFront"/>
            <a:lightRig rig="threePt" dir="t"/>
          </a:scene3d>
          <a:sp3d>
            <a:bevelT w="139700" h="139700" prst="divot"/>
          </a:sp3d>
        </p:spPr>
        <p:txBody>
          <a:bodyPr>
            <a:spAutoFit/>
          </a:bodyPr>
          <a:lstStyle/>
          <a:p>
            <a:pPr algn="ctr">
              <a:lnSpc>
                <a:spcPts val="2460"/>
              </a:lnSpc>
              <a:defRPr/>
            </a:pPr>
            <a:r>
              <a:rPr lang="en-US" sz="2000" b="1" dirty="0">
                <a:latin typeface="Arial Narrow"/>
                <a:cs typeface="Arial Narrow"/>
              </a:rPr>
              <a:t>1) Right to accommodation</a:t>
            </a:r>
            <a:br>
              <a:rPr lang="en-US" sz="2000" b="1" dirty="0">
                <a:latin typeface="Arial Narrow"/>
                <a:cs typeface="Arial Narrow"/>
              </a:rPr>
            </a:br>
            <a:r>
              <a:rPr lang="en-US" sz="2000" b="1" dirty="0">
                <a:latin typeface="Arial Narrow"/>
                <a:cs typeface="Arial Narrow"/>
              </a:rPr>
              <a:t>2) Non-discrimination in hiring</a:t>
            </a:r>
            <a:br>
              <a:rPr lang="en-US" sz="2000" b="1" dirty="0">
                <a:latin typeface="Arial Narrow"/>
                <a:cs typeface="Arial Narrow"/>
              </a:rPr>
            </a:br>
            <a:r>
              <a:rPr lang="en-US" sz="2000" b="1" dirty="0">
                <a:latin typeface="Arial Narrow"/>
                <a:cs typeface="Arial Narrow"/>
              </a:rPr>
              <a:t> 3) Accessible transportation</a:t>
            </a:r>
          </a:p>
        </p:txBody>
      </p:sp>
      <p:sp>
        <p:nvSpPr>
          <p:cNvPr id="60" name="TextBox 59"/>
          <p:cNvSpPr txBox="1"/>
          <p:nvPr/>
        </p:nvSpPr>
        <p:spPr>
          <a:xfrm>
            <a:off x="4648200" y="4800600"/>
            <a:ext cx="3352800" cy="1000274"/>
          </a:xfrm>
          <a:prstGeom prst="rect">
            <a:avLst/>
          </a:prstGeom>
          <a:noFill/>
          <a:ln>
            <a:solidFill>
              <a:schemeClr val="tx1"/>
            </a:solidFill>
          </a:ln>
          <a:effectLst>
            <a:glow rad="63500">
              <a:schemeClr val="accent4">
                <a:satMod val="175000"/>
                <a:alpha val="40000"/>
              </a:schemeClr>
            </a:glow>
          </a:effectLst>
          <a:scene3d>
            <a:camera prst="orthographicFront"/>
            <a:lightRig rig="threePt" dir="t"/>
          </a:scene3d>
          <a:sp3d>
            <a:bevelT w="139700" h="139700" prst="divot"/>
          </a:sp3d>
        </p:spPr>
        <p:txBody>
          <a:bodyPr>
            <a:spAutoFit/>
          </a:bodyPr>
          <a:lstStyle/>
          <a:p>
            <a:pPr algn="ctr">
              <a:lnSpc>
                <a:spcPts val="2160"/>
              </a:lnSpc>
              <a:defRPr/>
            </a:pPr>
            <a:r>
              <a:rPr lang="en-US" sz="2000" b="1" dirty="0">
                <a:latin typeface="Arial Narrow"/>
                <a:cs typeface="Arial Narrow"/>
              </a:rPr>
              <a:t>1) Maintain health insurance through Medicaid buy-In</a:t>
            </a:r>
          </a:p>
          <a:p>
            <a:pPr algn="ctr">
              <a:lnSpc>
                <a:spcPts val="2160"/>
              </a:lnSpc>
              <a:spcBef>
                <a:spcPts val="600"/>
              </a:spcBef>
              <a:defRPr/>
            </a:pPr>
            <a:r>
              <a:rPr lang="en-US" sz="2000" b="1" dirty="0">
                <a:latin typeface="Arial Narrow"/>
                <a:cs typeface="Arial Narrow"/>
              </a:rPr>
              <a:t>2) Benefits counseling </a:t>
            </a:r>
          </a:p>
        </p:txBody>
      </p:sp>
      <p:cxnSp>
        <p:nvCxnSpPr>
          <p:cNvPr id="51" name="Straight Arrow Connector 50"/>
          <p:cNvCxnSpPr/>
          <p:nvPr/>
        </p:nvCxnSpPr>
        <p:spPr bwMode="auto">
          <a:xfrm>
            <a:off x="2667000" y="838200"/>
            <a:ext cx="1676400" cy="0"/>
          </a:xfrm>
          <a:prstGeom prst="straightConnector1">
            <a:avLst/>
          </a:prstGeom>
          <a:solidFill>
            <a:schemeClr val="accent1"/>
          </a:solidFill>
          <a:ln w="82550"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8" name="Straight Arrow Connector 67"/>
          <p:cNvCxnSpPr/>
          <p:nvPr/>
        </p:nvCxnSpPr>
        <p:spPr bwMode="auto">
          <a:xfrm>
            <a:off x="2971800" y="2362200"/>
            <a:ext cx="1447800" cy="0"/>
          </a:xfrm>
          <a:prstGeom prst="straightConnector1">
            <a:avLst/>
          </a:prstGeom>
          <a:solidFill>
            <a:schemeClr val="accent1"/>
          </a:solidFill>
          <a:ln w="82550"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1" name="Straight Arrow Connector 70"/>
          <p:cNvCxnSpPr/>
          <p:nvPr/>
        </p:nvCxnSpPr>
        <p:spPr bwMode="auto">
          <a:xfrm>
            <a:off x="2895600" y="3657600"/>
            <a:ext cx="1524000" cy="0"/>
          </a:xfrm>
          <a:prstGeom prst="straightConnector1">
            <a:avLst/>
          </a:prstGeom>
          <a:solidFill>
            <a:schemeClr val="accent1"/>
          </a:solidFill>
          <a:ln w="82550"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75" name="Straight Arrow Connector 74"/>
          <p:cNvCxnSpPr/>
          <p:nvPr/>
        </p:nvCxnSpPr>
        <p:spPr bwMode="auto">
          <a:xfrm>
            <a:off x="3200400" y="5181600"/>
            <a:ext cx="1371600" cy="0"/>
          </a:xfrm>
          <a:prstGeom prst="straightConnector1">
            <a:avLst/>
          </a:prstGeom>
          <a:solidFill>
            <a:schemeClr val="accent1"/>
          </a:solidFill>
          <a:ln w="82550" cap="flat" cmpd="sng" algn="ctr">
            <a:solidFill>
              <a:schemeClr val="tx1"/>
            </a:solidFill>
            <a:prstDash val="solid"/>
            <a:round/>
            <a:headEnd type="none" w="med" len="med"/>
            <a:tailEnd type="arrow"/>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 name="Slide Number Placeholder 1"/>
          <p:cNvSpPr>
            <a:spLocks noGrp="1"/>
          </p:cNvSpPr>
          <p:nvPr>
            <p:ph type="sldNum" sz="quarter" idx="12"/>
          </p:nvPr>
        </p:nvSpPr>
        <p:spPr/>
        <p:txBody>
          <a:bodyPr/>
          <a:lstStyle/>
          <a:p>
            <a:pPr>
              <a:defRPr/>
            </a:pPr>
            <a:fld id="{1F905160-2749-CC46-A8C6-30D54CD11739}" type="slidenum">
              <a:rPr lang="en-US" smtClean="0"/>
              <a:pPr>
                <a:defRPr/>
              </a:pPr>
              <a:t>19</a:t>
            </a:fld>
            <a:endParaRPr lang="en-US"/>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9CA3F-A69E-C144-8E22-33A668FCF09C}"/>
              </a:ext>
            </a:extLst>
          </p:cNvPr>
          <p:cNvSpPr>
            <a:spLocks noGrp="1"/>
          </p:cNvSpPr>
          <p:nvPr>
            <p:ph type="title"/>
          </p:nvPr>
        </p:nvSpPr>
        <p:spPr>
          <a:xfrm>
            <a:off x="609600" y="838200"/>
            <a:ext cx="7772400" cy="2286000"/>
          </a:xfrm>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lstStyle/>
          <a:p>
            <a:r>
              <a:rPr lang="en-US" b="0" i="1" dirty="0"/>
              <a:t>Does universal design mean that individual accommodations are</a:t>
            </a:r>
            <a:br>
              <a:rPr lang="en-US" b="0" i="1" dirty="0"/>
            </a:br>
            <a:r>
              <a:rPr lang="en-US" i="1" dirty="0"/>
              <a:t>no longer necessary?</a:t>
            </a:r>
          </a:p>
        </p:txBody>
      </p:sp>
      <p:sp>
        <p:nvSpPr>
          <p:cNvPr id="4" name="Slide Number Placeholder 3">
            <a:extLst>
              <a:ext uri="{FF2B5EF4-FFF2-40B4-BE49-F238E27FC236}">
                <a16:creationId xmlns:a16="http://schemas.microsoft.com/office/drawing/2014/main" id="{E77DF4AD-B4D8-674E-8D74-F15FF365F447}"/>
              </a:ext>
            </a:extLst>
          </p:cNvPr>
          <p:cNvSpPr>
            <a:spLocks noGrp="1"/>
          </p:cNvSpPr>
          <p:nvPr>
            <p:ph type="sldNum" sz="quarter" idx="12"/>
          </p:nvPr>
        </p:nvSpPr>
        <p:spPr/>
        <p:txBody>
          <a:bodyPr/>
          <a:lstStyle/>
          <a:p>
            <a:pPr>
              <a:defRPr/>
            </a:pPr>
            <a:fld id="{8DFCCDA7-D618-4941-BFD0-9F32B03099BD}" type="slidenum">
              <a:rPr lang="en-US" smtClean="0"/>
              <a:pPr>
                <a:defRPr/>
              </a:pPr>
              <a:t>20</a:t>
            </a:fld>
            <a:endParaRPr lang="en-US"/>
          </a:p>
        </p:txBody>
      </p:sp>
      <p:pic>
        <p:nvPicPr>
          <p:cNvPr id="6" name="Picture 5" descr="A picture containing red&#10;&#10;Description automatically generated">
            <a:extLst>
              <a:ext uri="{FF2B5EF4-FFF2-40B4-BE49-F238E27FC236}">
                <a16:creationId xmlns:a16="http://schemas.microsoft.com/office/drawing/2014/main" id="{4162673F-472F-6E41-A2F7-979D6F2D9C44}"/>
              </a:ext>
            </a:extLst>
          </p:cNvPr>
          <p:cNvPicPr>
            <a:picLocks noChangeAspect="1"/>
          </p:cNvPicPr>
          <p:nvPr/>
        </p:nvPicPr>
        <p:blipFill>
          <a:blip r:embed="rId2"/>
          <a:stretch>
            <a:fillRect/>
          </a:stretch>
        </p:blipFill>
        <p:spPr>
          <a:xfrm>
            <a:off x="2514600" y="3657600"/>
            <a:ext cx="3761983" cy="3295497"/>
          </a:xfrm>
          <a:prstGeom prst="rect">
            <a:avLst/>
          </a:prstGeom>
        </p:spPr>
      </p:pic>
    </p:spTree>
    <p:extLst>
      <p:ext uri="{BB962C8B-B14F-4D97-AF65-F5344CB8AC3E}">
        <p14:creationId xmlns:p14="http://schemas.microsoft.com/office/powerpoint/2010/main" val="11280937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09F39-609D-DF4C-BC74-29B55E42422B}"/>
              </a:ext>
            </a:extLst>
          </p:cNvPr>
          <p:cNvSpPr>
            <a:spLocks noGrp="1"/>
          </p:cNvSpPr>
          <p:nvPr>
            <p:ph type="title"/>
          </p:nvPr>
        </p:nvSpPr>
        <p:spPr>
          <a:xfrm>
            <a:off x="396136" y="5702474"/>
            <a:ext cx="7772400" cy="1143000"/>
          </a:xfrm>
        </p:spPr>
        <p:txBody>
          <a:bodyPr/>
          <a:lstStyle/>
          <a:p>
            <a:r>
              <a:rPr lang="en-US" sz="1600" dirty="0"/>
              <a:t>Jacqueline McGinty</a:t>
            </a:r>
            <a:br>
              <a:rPr lang="en-US" sz="1600" dirty="0"/>
            </a:br>
            <a:r>
              <a:rPr lang="en-US" sz="1600" b="0" i="1" dirty="0"/>
              <a:t>Tips for Creating Inclusive and Accessible Instruction for</a:t>
            </a:r>
            <a:br>
              <a:rPr lang="en-US" sz="1600" b="0" i="1" dirty="0"/>
            </a:br>
            <a:r>
              <a:rPr lang="en-US" sz="1600" b="0" i="1" dirty="0"/>
              <a:t>Adult Learners</a:t>
            </a:r>
          </a:p>
        </p:txBody>
      </p:sp>
      <p:sp>
        <p:nvSpPr>
          <p:cNvPr id="3" name="Content Placeholder 2">
            <a:extLst>
              <a:ext uri="{FF2B5EF4-FFF2-40B4-BE49-F238E27FC236}">
                <a16:creationId xmlns:a16="http://schemas.microsoft.com/office/drawing/2014/main" id="{CC1F202D-A4FC-BA4D-B87F-956B8D593A74}"/>
              </a:ext>
            </a:extLst>
          </p:cNvPr>
          <p:cNvSpPr>
            <a:spLocks noGrp="1"/>
          </p:cNvSpPr>
          <p:nvPr>
            <p:ph idx="1"/>
          </p:nvPr>
        </p:nvSpPr>
        <p:spPr>
          <a:xfrm>
            <a:off x="419100" y="520874"/>
            <a:ext cx="8305800" cy="5181600"/>
          </a:xfrm>
          <a:solidFill>
            <a:srgbClr val="0070C0"/>
          </a:solidFill>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anchor="ctr" anchorCtr="0"/>
          <a:lstStyle/>
          <a:p>
            <a:pPr>
              <a:spcBef>
                <a:spcPts val="1368"/>
              </a:spcBef>
            </a:pPr>
            <a:r>
              <a:rPr lang="en-US" sz="2000" dirty="0">
                <a:solidFill>
                  <a:schemeClr val="bg1"/>
                </a:solidFill>
              </a:rPr>
              <a:t>Individuals with disabilities often </a:t>
            </a:r>
            <a:r>
              <a:rPr lang="en-US" sz="2000" b="1" dirty="0">
                <a:solidFill>
                  <a:schemeClr val="bg1"/>
                </a:solidFill>
              </a:rPr>
              <a:t>self-accommodate</a:t>
            </a:r>
            <a:r>
              <a:rPr lang="en-US" sz="2000" dirty="0">
                <a:solidFill>
                  <a:schemeClr val="bg1"/>
                </a:solidFill>
              </a:rPr>
              <a:t> due to issues regarding </a:t>
            </a:r>
            <a:r>
              <a:rPr lang="en-US" sz="2000" b="1" dirty="0">
                <a:solidFill>
                  <a:schemeClr val="bg1"/>
                </a:solidFill>
              </a:rPr>
              <a:t>lack of trust and concern for negative consequence </a:t>
            </a:r>
            <a:r>
              <a:rPr lang="en-US" sz="2000" dirty="0">
                <a:solidFill>
                  <a:schemeClr val="bg1"/>
                </a:solidFill>
              </a:rPr>
              <a:t>of disclosing their disability. </a:t>
            </a:r>
          </a:p>
          <a:p>
            <a:pPr>
              <a:spcBef>
                <a:spcPts val="1368"/>
              </a:spcBef>
            </a:pPr>
            <a:r>
              <a:rPr lang="en-US" sz="2000" dirty="0">
                <a:solidFill>
                  <a:schemeClr val="bg1"/>
                </a:solidFill>
              </a:rPr>
              <a:t>The practice of nondisclosure and self-accommodation does not always offer the </a:t>
            </a:r>
            <a:r>
              <a:rPr lang="en-US" sz="2000" b="1" dirty="0">
                <a:solidFill>
                  <a:schemeClr val="bg1"/>
                </a:solidFill>
              </a:rPr>
              <a:t>full spectrum of accessibility options </a:t>
            </a:r>
            <a:r>
              <a:rPr lang="en-US" sz="2000" dirty="0">
                <a:solidFill>
                  <a:schemeClr val="bg1"/>
                </a:solidFill>
              </a:rPr>
              <a:t>that may be available to the student. </a:t>
            </a:r>
          </a:p>
          <a:p>
            <a:pPr>
              <a:spcBef>
                <a:spcPts val="1368"/>
              </a:spcBef>
            </a:pPr>
            <a:r>
              <a:rPr lang="en-US" sz="2000" dirty="0">
                <a:solidFill>
                  <a:schemeClr val="bg1"/>
                </a:solidFill>
              </a:rPr>
              <a:t>There is </a:t>
            </a:r>
            <a:r>
              <a:rPr lang="en-US" sz="2000" b="1" dirty="0">
                <a:solidFill>
                  <a:schemeClr val="bg1"/>
                </a:solidFill>
              </a:rPr>
              <a:t>considerable effort required in disclosing one’s disability</a:t>
            </a:r>
            <a:r>
              <a:rPr lang="en-US" sz="2000" dirty="0">
                <a:solidFill>
                  <a:schemeClr val="bg1"/>
                </a:solidFill>
              </a:rPr>
              <a:t> and it is viewed as a barrier to full participation because of the effort it takes to report and request assistance within the institution. </a:t>
            </a:r>
          </a:p>
          <a:p>
            <a:pPr>
              <a:spcBef>
                <a:spcPts val="1368"/>
              </a:spcBef>
            </a:pPr>
            <a:r>
              <a:rPr lang="en-US" sz="2000" dirty="0">
                <a:solidFill>
                  <a:schemeClr val="bg1"/>
                </a:solidFill>
              </a:rPr>
              <a:t>Creating a </a:t>
            </a:r>
            <a:r>
              <a:rPr lang="en-US" sz="2000" b="1" dirty="0">
                <a:solidFill>
                  <a:schemeClr val="bg1"/>
                </a:solidFill>
              </a:rPr>
              <a:t>disability-friendly institutional climate </a:t>
            </a:r>
            <a:r>
              <a:rPr lang="en-US" sz="2000" dirty="0">
                <a:solidFill>
                  <a:schemeClr val="bg1"/>
                </a:solidFill>
              </a:rPr>
              <a:t>is one way to improve outcomes for learners with disabilities.</a:t>
            </a:r>
          </a:p>
          <a:p>
            <a:pPr>
              <a:spcBef>
                <a:spcPts val="1368"/>
              </a:spcBef>
            </a:pPr>
            <a:endParaRPr lang="en-US" dirty="0">
              <a:solidFill>
                <a:schemeClr val="bg1"/>
              </a:solidFill>
            </a:endParaRPr>
          </a:p>
        </p:txBody>
      </p:sp>
      <p:sp>
        <p:nvSpPr>
          <p:cNvPr id="4" name="Slide Number Placeholder 3">
            <a:extLst>
              <a:ext uri="{FF2B5EF4-FFF2-40B4-BE49-F238E27FC236}">
                <a16:creationId xmlns:a16="http://schemas.microsoft.com/office/drawing/2014/main" id="{2C0A207A-3308-BC44-B5A6-689A5C0AD354}"/>
              </a:ext>
            </a:extLst>
          </p:cNvPr>
          <p:cNvSpPr>
            <a:spLocks noGrp="1"/>
          </p:cNvSpPr>
          <p:nvPr>
            <p:ph type="sldNum" sz="quarter" idx="12"/>
          </p:nvPr>
        </p:nvSpPr>
        <p:spPr/>
        <p:txBody>
          <a:bodyPr/>
          <a:lstStyle/>
          <a:p>
            <a:pPr>
              <a:defRPr/>
            </a:pPr>
            <a:fld id="{8DFCCDA7-D618-4941-BFD0-9F32B03099BD}" type="slidenum">
              <a:rPr lang="en-US" smtClean="0"/>
              <a:pPr>
                <a:defRPr/>
              </a:pPr>
              <a:t>21</a:t>
            </a:fld>
            <a:endParaRPr lang="en-US"/>
          </a:p>
        </p:txBody>
      </p:sp>
    </p:spTree>
    <p:extLst>
      <p:ext uri="{BB962C8B-B14F-4D97-AF65-F5344CB8AC3E}">
        <p14:creationId xmlns:p14="http://schemas.microsoft.com/office/powerpoint/2010/main" val="82715993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2526" y="457200"/>
            <a:ext cx="6089073" cy="3352800"/>
          </a:xfrm>
        </p:spPr>
        <p:txBody>
          <a:bodyPr/>
          <a:lstStyle/>
          <a:p>
            <a:pPr>
              <a:spcBef>
                <a:spcPts val="1128"/>
              </a:spcBef>
              <a:defRPr/>
            </a:pPr>
            <a:r>
              <a:rPr lang="en-US" sz="2000" b="1" dirty="0"/>
              <a:t>Anticipate</a:t>
            </a:r>
            <a:r>
              <a:rPr lang="en-US" sz="2000" dirty="0"/>
              <a:t> needs</a:t>
            </a:r>
          </a:p>
          <a:p>
            <a:pPr>
              <a:spcBef>
                <a:spcPts val="1128"/>
              </a:spcBef>
              <a:defRPr/>
            </a:pPr>
            <a:r>
              <a:rPr lang="en-US" sz="2000" dirty="0"/>
              <a:t>Information available in </a:t>
            </a:r>
            <a:r>
              <a:rPr lang="en-US" sz="2000" b="1" dirty="0"/>
              <a:t>multiple formats</a:t>
            </a:r>
            <a:endParaRPr lang="en-US" sz="2000" b="1" u="sng" dirty="0"/>
          </a:p>
          <a:p>
            <a:pPr>
              <a:spcBef>
                <a:spcPts val="1128"/>
              </a:spcBef>
              <a:defRPr/>
            </a:pPr>
            <a:r>
              <a:rPr lang="en-US" sz="2000" b="1" dirty="0"/>
              <a:t>Stress goal </a:t>
            </a:r>
            <a:r>
              <a:rPr lang="en-US" sz="2000" dirty="0"/>
              <a:t>of universal access to students</a:t>
            </a:r>
          </a:p>
          <a:p>
            <a:pPr>
              <a:spcBef>
                <a:spcPts val="1128"/>
              </a:spcBef>
              <a:defRPr/>
            </a:pPr>
            <a:r>
              <a:rPr lang="en-US" sz="2000" b="1" dirty="0"/>
              <a:t>Avoid presumptions</a:t>
            </a:r>
          </a:p>
          <a:p>
            <a:pPr>
              <a:spcBef>
                <a:spcPts val="1128"/>
              </a:spcBef>
              <a:defRPr/>
            </a:pPr>
            <a:r>
              <a:rPr lang="en-US" sz="2000" b="1" dirty="0"/>
              <a:t>All students </a:t>
            </a:r>
            <a:r>
              <a:rPr lang="en-US" sz="2000" dirty="0"/>
              <a:t>asked about support and accommodation needs</a:t>
            </a:r>
          </a:p>
          <a:p>
            <a:pPr>
              <a:spcBef>
                <a:spcPts val="1128"/>
              </a:spcBef>
              <a:defRPr/>
            </a:pPr>
            <a:r>
              <a:rPr lang="en-US" sz="2000" dirty="0"/>
              <a:t>Disability-specific information to </a:t>
            </a:r>
            <a:r>
              <a:rPr lang="en-US" sz="2000" b="1" dirty="0"/>
              <a:t>all</a:t>
            </a:r>
            <a:r>
              <a:rPr lang="en-US" sz="2000" dirty="0"/>
              <a:t> students</a:t>
            </a:r>
          </a:p>
          <a:p>
            <a:pPr>
              <a:spcBef>
                <a:spcPts val="1128"/>
              </a:spcBef>
              <a:defRPr/>
            </a:pPr>
            <a:r>
              <a:rPr lang="en-US" sz="2000" dirty="0"/>
              <a:t>Provide a </a:t>
            </a:r>
            <a:r>
              <a:rPr lang="en-US" sz="2000" b="1" dirty="0"/>
              <a:t>list</a:t>
            </a:r>
            <a:r>
              <a:rPr lang="en-US" sz="2000" dirty="0"/>
              <a:t> of possible accommodations</a:t>
            </a:r>
          </a:p>
          <a:p>
            <a:pPr>
              <a:spcBef>
                <a:spcPts val="1128"/>
              </a:spcBef>
              <a:defRPr/>
            </a:pPr>
            <a:r>
              <a:rPr lang="en-US" sz="2000" dirty="0"/>
              <a:t>Maintain and respect </a:t>
            </a:r>
            <a:r>
              <a:rPr lang="en-US" sz="2000" b="1" dirty="0"/>
              <a:t>confidentiality</a:t>
            </a:r>
          </a:p>
          <a:p>
            <a:pPr>
              <a:spcBef>
                <a:spcPts val="1128"/>
              </a:spcBef>
              <a:defRPr/>
            </a:pPr>
            <a:r>
              <a:rPr lang="en-US" sz="2000" dirty="0"/>
              <a:t>Incorporate feedback on universal access in </a:t>
            </a:r>
            <a:r>
              <a:rPr lang="en-US" sz="2000" b="1" dirty="0"/>
              <a:t>evaluation</a:t>
            </a:r>
          </a:p>
          <a:p>
            <a:pPr>
              <a:spcBef>
                <a:spcPts val="1128"/>
              </a:spcBef>
              <a:defRPr/>
            </a:pPr>
            <a:r>
              <a:rPr lang="en-US" sz="2000" b="1" dirty="0"/>
              <a:t>In-person and online</a:t>
            </a:r>
          </a:p>
          <a:p>
            <a:pPr>
              <a:spcBef>
                <a:spcPts val="1128"/>
              </a:spcBef>
              <a:defRPr/>
            </a:pPr>
            <a:r>
              <a:rPr lang="en-US" sz="2000" b="1" dirty="0"/>
              <a:t>Process never ends</a:t>
            </a:r>
          </a:p>
        </p:txBody>
      </p:sp>
      <p:sp>
        <p:nvSpPr>
          <p:cNvPr id="2" name="Slide Number Placeholder 1"/>
          <p:cNvSpPr>
            <a:spLocks noGrp="1"/>
          </p:cNvSpPr>
          <p:nvPr>
            <p:ph type="sldNum" sz="quarter" idx="12"/>
          </p:nvPr>
        </p:nvSpPr>
        <p:spPr>
          <a:xfrm>
            <a:off x="6858000" y="6324600"/>
            <a:ext cx="1905000" cy="457200"/>
          </a:xfrm>
        </p:spPr>
        <p:txBody>
          <a:bodyPr/>
          <a:lstStyle/>
          <a:p>
            <a:pPr>
              <a:defRPr/>
            </a:pPr>
            <a:fld id="{2225F44D-2D25-B44C-98CF-5737D49B721C}" type="slidenum">
              <a:rPr lang="en-US" smtClean="0"/>
              <a:pPr>
                <a:defRPr/>
              </a:pPr>
              <a:t>22</a:t>
            </a:fld>
            <a:endParaRPr lang="en-US" dirty="0"/>
          </a:p>
        </p:txBody>
      </p:sp>
      <p:pic>
        <p:nvPicPr>
          <p:cNvPr id="6" name="Picture 5" descr="A picture containing sitting, table&#10;&#10;Description automatically generated">
            <a:extLst>
              <a:ext uri="{FF2B5EF4-FFF2-40B4-BE49-F238E27FC236}">
                <a16:creationId xmlns:a16="http://schemas.microsoft.com/office/drawing/2014/main" id="{899021FF-E64F-7343-A007-9B48A9AD880B}"/>
              </a:ext>
            </a:extLst>
          </p:cNvPr>
          <p:cNvPicPr>
            <a:picLocks noChangeAspect="1"/>
          </p:cNvPicPr>
          <p:nvPr/>
        </p:nvPicPr>
        <p:blipFill>
          <a:blip r:embed="rId2"/>
          <a:stretch>
            <a:fillRect/>
          </a:stretch>
        </p:blipFill>
        <p:spPr>
          <a:xfrm>
            <a:off x="-173183" y="453736"/>
            <a:ext cx="3048000" cy="2286000"/>
          </a:xfrm>
          <a:prstGeom prst="rect">
            <a:avLst/>
          </a:prstGeom>
        </p:spPr>
      </p:pic>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669" y="609600"/>
            <a:ext cx="2286000" cy="1600200"/>
          </a:xfrm>
        </p:spPr>
        <p:txBody>
          <a:bodyPr/>
          <a:lstStyle/>
          <a:p>
            <a:r>
              <a:rPr lang="en-US" sz="2800" i="1" dirty="0">
                <a:latin typeface="Arial Narrow"/>
                <a:cs typeface="Arial Narrow"/>
              </a:rPr>
              <a:t>Brainstorming on UD Strategies</a:t>
            </a:r>
          </a:p>
        </p:txBody>
      </p:sp>
      <p:sp>
        <p:nvSpPr>
          <p:cNvPr id="4" name="Slide Number Placeholder 3"/>
          <p:cNvSpPr>
            <a:spLocks noGrp="1"/>
          </p:cNvSpPr>
          <p:nvPr>
            <p:ph type="sldNum" sz="quarter" idx="12"/>
          </p:nvPr>
        </p:nvSpPr>
        <p:spPr>
          <a:xfrm>
            <a:off x="7086600" y="6362700"/>
            <a:ext cx="1905000" cy="457200"/>
          </a:xfrm>
        </p:spPr>
        <p:txBody>
          <a:bodyPr/>
          <a:lstStyle/>
          <a:p>
            <a:pPr>
              <a:defRPr/>
            </a:pPr>
            <a:fld id="{8DFCCDA7-D618-4941-BFD0-9F32B03099BD}" type="slidenum">
              <a:rPr lang="en-US" smtClean="0"/>
              <a:pPr>
                <a:defRPr/>
              </a:pPr>
              <a:t>23</a:t>
            </a:fld>
            <a:endParaRPr lang="en-US" dirty="0"/>
          </a:p>
        </p:txBody>
      </p:sp>
      <p:pic>
        <p:nvPicPr>
          <p:cNvPr id="6" name="Picture 5" descr="brainstorming_idea_pc_800_clr_128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35" y="2209800"/>
            <a:ext cx="2325434" cy="2971800"/>
          </a:xfrm>
          <a:prstGeom prst="rect">
            <a:avLst/>
          </a:prstGeom>
        </p:spPr>
      </p:pic>
      <p:pic>
        <p:nvPicPr>
          <p:cNvPr id="12" name="Picture 11" descr="2016_10_20_OneStopCareerCenter_01-1024x683.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9400" y="457200"/>
            <a:ext cx="2856106" cy="1905000"/>
          </a:xfrm>
          <a:prstGeom prst="rect">
            <a:avLst/>
          </a:prstGeom>
        </p:spPr>
      </p:pic>
      <p:sp>
        <p:nvSpPr>
          <p:cNvPr id="13" name="TextBox 12"/>
          <p:cNvSpPr txBox="1"/>
          <p:nvPr/>
        </p:nvSpPr>
        <p:spPr>
          <a:xfrm>
            <a:off x="2971800" y="2362200"/>
            <a:ext cx="2438400" cy="400110"/>
          </a:xfrm>
          <a:prstGeom prst="rect">
            <a:avLst/>
          </a:prstGeom>
          <a:scene3d>
            <a:camera prst="orthographicFront"/>
            <a:lightRig rig="threePt" dir="t"/>
          </a:scene3d>
          <a:sp3d>
            <a:bevelT w="165100" prst="coolSlant"/>
          </a:sp3d>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000" dirty="0">
                <a:latin typeface="Arial Narrow"/>
                <a:cs typeface="Arial Narrow"/>
              </a:rPr>
              <a:t>Environment</a:t>
            </a:r>
          </a:p>
        </p:txBody>
      </p:sp>
      <p:sp>
        <p:nvSpPr>
          <p:cNvPr id="14" name="TextBox 13"/>
          <p:cNvSpPr txBox="1"/>
          <p:nvPr/>
        </p:nvSpPr>
        <p:spPr>
          <a:xfrm>
            <a:off x="6217227" y="2422285"/>
            <a:ext cx="2743200" cy="400110"/>
          </a:xfrm>
          <a:prstGeom prst="rect">
            <a:avLst/>
          </a:prstGeom>
          <a:solidFill>
            <a:srgbClr val="008000"/>
          </a:solidFill>
          <a:ln>
            <a:solidFill>
              <a:schemeClr val="tx1"/>
            </a:solidFill>
          </a:ln>
          <a:scene3d>
            <a:camera prst="orthographicFront"/>
            <a:lightRig rig="threePt" dir="t"/>
          </a:scene3d>
          <a:sp3d>
            <a:bevelT w="165100" prst="coolSlant"/>
          </a:sp3d>
        </p:spPr>
        <p:txBody>
          <a:bodyPr wrap="square" rtlCol="0">
            <a:spAutoFit/>
          </a:bodyPr>
          <a:lstStyle/>
          <a:p>
            <a:pPr algn="ctr"/>
            <a:r>
              <a:rPr lang="en-US" sz="2000" dirty="0">
                <a:solidFill>
                  <a:schemeClr val="bg1"/>
                </a:solidFill>
                <a:latin typeface="Arial Narrow"/>
                <a:cs typeface="Arial Narrow"/>
              </a:rPr>
              <a:t>Curriculum</a:t>
            </a:r>
          </a:p>
        </p:txBody>
      </p:sp>
      <p:sp>
        <p:nvSpPr>
          <p:cNvPr id="15" name="TextBox 14"/>
          <p:cNvSpPr txBox="1"/>
          <p:nvPr/>
        </p:nvSpPr>
        <p:spPr>
          <a:xfrm>
            <a:off x="2857184" y="5792036"/>
            <a:ext cx="2590800" cy="400110"/>
          </a:xfrm>
          <a:prstGeom prst="rect">
            <a:avLst/>
          </a:prstGeom>
          <a:scene3d>
            <a:camera prst="orthographicFront"/>
            <a:lightRig rig="threePt" dir="t"/>
          </a:scene3d>
          <a:sp3d>
            <a:bevelT w="165100" prst="coolSlant"/>
          </a:sp3d>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2000" dirty="0">
                <a:latin typeface="Arial Narrow"/>
                <a:cs typeface="Arial Narrow"/>
              </a:rPr>
              <a:t>Instruction</a:t>
            </a:r>
          </a:p>
        </p:txBody>
      </p:sp>
      <p:sp>
        <p:nvSpPr>
          <p:cNvPr id="16" name="TextBox 15"/>
          <p:cNvSpPr txBox="1"/>
          <p:nvPr/>
        </p:nvSpPr>
        <p:spPr>
          <a:xfrm>
            <a:off x="6102927" y="5792036"/>
            <a:ext cx="2667000" cy="400110"/>
          </a:xfrm>
          <a:prstGeom prst="rect">
            <a:avLst/>
          </a:prstGeom>
          <a:solidFill>
            <a:srgbClr val="FFFF00"/>
          </a:solidFill>
          <a:ln>
            <a:solidFill>
              <a:schemeClr val="tx1"/>
            </a:solidFill>
          </a:ln>
          <a:scene3d>
            <a:camera prst="orthographicFront"/>
            <a:lightRig rig="threePt" dir="t"/>
          </a:scene3d>
          <a:sp3d>
            <a:bevelT w="165100" prst="coolSlant"/>
          </a:sp3d>
        </p:spPr>
        <p:txBody>
          <a:bodyPr wrap="square" rtlCol="0">
            <a:spAutoFit/>
          </a:bodyPr>
          <a:lstStyle/>
          <a:p>
            <a:pPr algn="ctr"/>
            <a:r>
              <a:rPr lang="en-US" sz="2000" dirty="0">
                <a:latin typeface="Arial Narrow"/>
                <a:cs typeface="Arial Narrow"/>
              </a:rPr>
              <a:t>Assessment </a:t>
            </a:r>
          </a:p>
        </p:txBody>
      </p:sp>
      <p:pic>
        <p:nvPicPr>
          <p:cNvPr id="5" name="Picture 4" descr="A person wearing a black dress&#10;&#10;Description automatically generated">
            <a:extLst>
              <a:ext uri="{FF2B5EF4-FFF2-40B4-BE49-F238E27FC236}">
                <a16:creationId xmlns:a16="http://schemas.microsoft.com/office/drawing/2014/main" id="{A6391518-D36D-A141-9F53-15591AD9E2DC}"/>
              </a:ext>
            </a:extLst>
          </p:cNvPr>
          <p:cNvPicPr>
            <a:picLocks noChangeAspect="1"/>
          </p:cNvPicPr>
          <p:nvPr/>
        </p:nvPicPr>
        <p:blipFill>
          <a:blip r:embed="rId4"/>
          <a:stretch>
            <a:fillRect/>
          </a:stretch>
        </p:blipFill>
        <p:spPr>
          <a:xfrm>
            <a:off x="3041074" y="3499332"/>
            <a:ext cx="1751966" cy="2335955"/>
          </a:xfrm>
          <a:prstGeom prst="rect">
            <a:avLst/>
          </a:prstGeom>
        </p:spPr>
      </p:pic>
      <p:pic>
        <p:nvPicPr>
          <p:cNvPr id="8" name="Picture 7" descr="A close up of a sign&#10;&#10;Description automatically generated">
            <a:extLst>
              <a:ext uri="{FF2B5EF4-FFF2-40B4-BE49-F238E27FC236}">
                <a16:creationId xmlns:a16="http://schemas.microsoft.com/office/drawing/2014/main" id="{520E8325-1B97-8E4B-BE0C-2DA9F16B6366}"/>
              </a:ext>
            </a:extLst>
          </p:cNvPr>
          <p:cNvPicPr>
            <a:picLocks noChangeAspect="1"/>
          </p:cNvPicPr>
          <p:nvPr/>
        </p:nvPicPr>
        <p:blipFill>
          <a:blip r:embed="rId5"/>
          <a:stretch>
            <a:fillRect/>
          </a:stretch>
        </p:blipFill>
        <p:spPr>
          <a:xfrm>
            <a:off x="6258158" y="356225"/>
            <a:ext cx="2356538" cy="2064327"/>
          </a:xfrm>
          <a:prstGeom prst="rect">
            <a:avLst/>
          </a:prstGeom>
        </p:spPr>
      </p:pic>
      <p:pic>
        <p:nvPicPr>
          <p:cNvPr id="17" name="Picture 16" descr="A picture containing indoor, table, small, cup&#10;&#10;Description automatically generated">
            <a:extLst>
              <a:ext uri="{FF2B5EF4-FFF2-40B4-BE49-F238E27FC236}">
                <a16:creationId xmlns:a16="http://schemas.microsoft.com/office/drawing/2014/main" id="{DF0FA331-2FE2-2840-97A9-866B8EB897C4}"/>
              </a:ext>
            </a:extLst>
          </p:cNvPr>
          <p:cNvPicPr>
            <a:picLocks noChangeAspect="1"/>
          </p:cNvPicPr>
          <p:nvPr/>
        </p:nvPicPr>
        <p:blipFill>
          <a:blip r:embed="rId6"/>
          <a:stretch>
            <a:fillRect/>
          </a:stretch>
        </p:blipFill>
        <p:spPr>
          <a:xfrm>
            <a:off x="6683038" y="3581400"/>
            <a:ext cx="1588990" cy="2253887"/>
          </a:xfrm>
          <a:prstGeom prst="rect">
            <a:avLst/>
          </a:prstGeom>
        </p:spPr>
      </p:pic>
    </p:spTree>
    <p:extLst>
      <p:ext uri="{BB962C8B-B14F-4D97-AF65-F5344CB8AC3E}">
        <p14:creationId xmlns:p14="http://schemas.microsoft.com/office/powerpoint/2010/main" val="28276795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21001-5BD7-FE4A-BE67-E35D82162892}"/>
              </a:ext>
            </a:extLst>
          </p:cNvPr>
          <p:cNvSpPr>
            <a:spLocks noGrp="1"/>
          </p:cNvSpPr>
          <p:nvPr>
            <p:ph idx="1"/>
          </p:nvPr>
        </p:nvSpPr>
        <p:spPr>
          <a:xfrm>
            <a:off x="4191000" y="2171700"/>
            <a:ext cx="4724400" cy="3733800"/>
          </a:xfrm>
        </p:spPr>
        <p:txBody>
          <a:bodyPr/>
          <a:lstStyle/>
          <a:p>
            <a:pPr>
              <a:spcBef>
                <a:spcPts val="1872"/>
              </a:spcBef>
            </a:pPr>
            <a:r>
              <a:rPr lang="en-US" sz="2800" dirty="0"/>
              <a:t>Closed caption video</a:t>
            </a:r>
          </a:p>
          <a:p>
            <a:pPr>
              <a:spcBef>
                <a:spcPts val="1872"/>
              </a:spcBef>
            </a:pPr>
            <a:r>
              <a:rPr lang="en-US" sz="2800" dirty="0"/>
              <a:t>Images with alternate text</a:t>
            </a:r>
          </a:p>
          <a:p>
            <a:pPr>
              <a:spcBef>
                <a:spcPts val="1872"/>
              </a:spcBef>
            </a:pPr>
            <a:r>
              <a:rPr lang="en-US" sz="2800" dirty="0"/>
              <a:t>Compatibility with screen reader</a:t>
            </a:r>
          </a:p>
          <a:p>
            <a:pPr>
              <a:spcBef>
                <a:spcPts val="1872"/>
              </a:spcBef>
            </a:pPr>
            <a:r>
              <a:rPr lang="en-US" sz="2800" dirty="0"/>
              <a:t>Easy navigation</a:t>
            </a:r>
          </a:p>
        </p:txBody>
      </p:sp>
      <p:sp>
        <p:nvSpPr>
          <p:cNvPr id="4" name="Slide Number Placeholder 3">
            <a:extLst>
              <a:ext uri="{FF2B5EF4-FFF2-40B4-BE49-F238E27FC236}">
                <a16:creationId xmlns:a16="http://schemas.microsoft.com/office/drawing/2014/main" id="{BB516C3F-A058-4345-AB6D-BCB4C94721F8}"/>
              </a:ext>
            </a:extLst>
          </p:cNvPr>
          <p:cNvSpPr>
            <a:spLocks noGrp="1"/>
          </p:cNvSpPr>
          <p:nvPr>
            <p:ph type="sldNum" sz="quarter" idx="12"/>
          </p:nvPr>
        </p:nvSpPr>
        <p:spPr/>
        <p:txBody>
          <a:bodyPr/>
          <a:lstStyle/>
          <a:p>
            <a:pPr>
              <a:defRPr/>
            </a:pPr>
            <a:fld id="{8DFCCDA7-D618-4941-BFD0-9F32B03099BD}" type="slidenum">
              <a:rPr lang="en-US" smtClean="0"/>
              <a:pPr>
                <a:defRPr/>
              </a:pPr>
              <a:t>24</a:t>
            </a:fld>
            <a:endParaRPr lang="en-US"/>
          </a:p>
        </p:txBody>
      </p:sp>
      <p:sp>
        <p:nvSpPr>
          <p:cNvPr id="5" name="Pentagon 4">
            <a:extLst>
              <a:ext uri="{FF2B5EF4-FFF2-40B4-BE49-F238E27FC236}">
                <a16:creationId xmlns:a16="http://schemas.microsoft.com/office/drawing/2014/main" id="{2CFF1BC9-2E62-2C43-A3B9-35759C20E442}"/>
              </a:ext>
            </a:extLst>
          </p:cNvPr>
          <p:cNvSpPr/>
          <p:nvPr/>
        </p:nvSpPr>
        <p:spPr bwMode="auto">
          <a:xfrm>
            <a:off x="914400" y="2012373"/>
            <a:ext cx="2667000" cy="1219200"/>
          </a:xfrm>
          <a:prstGeom prst="homePlate">
            <a:avLst/>
          </a:prstGeom>
          <a:solidFill>
            <a:schemeClr val="accent1"/>
          </a:solidFill>
          <a:ln w="9525" cap="flat" cmpd="sng" algn="ctr">
            <a:solidFill>
              <a:schemeClr val="tx1"/>
            </a:solidFill>
            <a:prstDash val="solid"/>
            <a:round/>
            <a:headEnd type="none" w="med" len="med"/>
            <a:tailEnd type="none" w="med" len="med"/>
          </a:ln>
          <a:effectLst>
            <a:glow rad="139700">
              <a:schemeClr val="accent4">
                <a:satMod val="175000"/>
                <a:alpha val="40000"/>
              </a:schemeClr>
            </a:glow>
          </a:effectLst>
          <a:scene3d>
            <a:camera prst="orthographicFront"/>
            <a:lightRig rig="threePt" dir="t"/>
          </a:scene3d>
          <a:sp3d>
            <a:bevelT prst="angle"/>
          </a:sp3d>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3200" b="1" i="1" u="none" strike="noStrike" cap="none" normalizeH="0" baseline="0" dirty="0">
                <a:ln>
                  <a:noFill/>
                </a:ln>
                <a:solidFill>
                  <a:srgbClr val="000000"/>
                </a:solidFill>
                <a:effectLst/>
                <a:latin typeface="Arial" charset="0"/>
                <a:ea typeface="ＭＳ Ｐゴシック" charset="0"/>
                <a:cs typeface="Geneva" charset="0"/>
              </a:rPr>
              <a:t>Examples</a:t>
            </a:r>
          </a:p>
        </p:txBody>
      </p:sp>
      <p:pic>
        <p:nvPicPr>
          <p:cNvPr id="7" name="Picture 6" descr="A desktop computer sitting on top of a table&#10;&#10;Description automatically generated">
            <a:extLst>
              <a:ext uri="{FF2B5EF4-FFF2-40B4-BE49-F238E27FC236}">
                <a16:creationId xmlns:a16="http://schemas.microsoft.com/office/drawing/2014/main" id="{59E80DA7-FEFA-FC41-ADB1-41EED44EA6C8}"/>
              </a:ext>
            </a:extLst>
          </p:cNvPr>
          <p:cNvPicPr>
            <a:picLocks noChangeAspect="1"/>
          </p:cNvPicPr>
          <p:nvPr/>
        </p:nvPicPr>
        <p:blipFill>
          <a:blip r:embed="rId2"/>
          <a:stretch>
            <a:fillRect/>
          </a:stretch>
        </p:blipFill>
        <p:spPr>
          <a:xfrm>
            <a:off x="274453" y="3847162"/>
            <a:ext cx="3558502" cy="2668876"/>
          </a:xfrm>
          <a:prstGeom prst="rect">
            <a:avLst/>
          </a:prstGeom>
        </p:spPr>
      </p:pic>
      <p:sp>
        <p:nvSpPr>
          <p:cNvPr id="9" name="Rectangle 8">
            <a:extLst>
              <a:ext uri="{FF2B5EF4-FFF2-40B4-BE49-F238E27FC236}">
                <a16:creationId xmlns:a16="http://schemas.microsoft.com/office/drawing/2014/main" id="{82DCCA3F-62F7-4949-A9FB-23EFC984C9E7}"/>
              </a:ext>
            </a:extLst>
          </p:cNvPr>
          <p:cNvSpPr/>
          <p:nvPr/>
        </p:nvSpPr>
        <p:spPr>
          <a:xfrm>
            <a:off x="253905" y="304800"/>
            <a:ext cx="8204295" cy="1446550"/>
          </a:xfrm>
          <a:prstGeom prst="rect">
            <a:avLst/>
          </a:prstGeom>
          <a:noFill/>
        </p:spPr>
        <p:txBody>
          <a:bodyPr wrap="square" lIns="91440" tIns="45720" rIns="91440" bIns="45720">
            <a:spAutoFit/>
          </a:bodyPr>
          <a:lstStyle/>
          <a:p>
            <a:pPr algn="ctr"/>
            <a:r>
              <a:rPr lang="en-US" sz="4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Don’t Forget About UD Digitally and Online</a:t>
            </a:r>
          </a:p>
        </p:txBody>
      </p:sp>
    </p:spTree>
    <p:extLst>
      <p:ext uri="{BB962C8B-B14F-4D97-AF65-F5344CB8AC3E}">
        <p14:creationId xmlns:p14="http://schemas.microsoft.com/office/powerpoint/2010/main" val="1291849081"/>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B61549-A1F3-9546-BD11-08C54188B963}"/>
              </a:ext>
            </a:extLst>
          </p:cNvPr>
          <p:cNvSpPr>
            <a:spLocks noGrp="1"/>
          </p:cNvSpPr>
          <p:nvPr>
            <p:ph type="sldNum" sz="quarter" idx="12"/>
          </p:nvPr>
        </p:nvSpPr>
        <p:spPr/>
        <p:txBody>
          <a:bodyPr/>
          <a:lstStyle/>
          <a:p>
            <a:pPr>
              <a:defRPr/>
            </a:pPr>
            <a:fld id="{8DFCCDA7-D618-4941-BFD0-9F32B03099BD}" type="slidenum">
              <a:rPr lang="en-US" smtClean="0"/>
              <a:pPr>
                <a:defRPr/>
              </a:pPr>
              <a:t>25</a:t>
            </a:fld>
            <a:endParaRPr lang="en-US"/>
          </a:p>
        </p:txBody>
      </p:sp>
      <p:pic>
        <p:nvPicPr>
          <p:cNvPr id="6" name="Picture 5" descr="A picture containing young, holding, black, little&#10;&#10;Description automatically generated">
            <a:extLst>
              <a:ext uri="{FF2B5EF4-FFF2-40B4-BE49-F238E27FC236}">
                <a16:creationId xmlns:a16="http://schemas.microsoft.com/office/drawing/2014/main" id="{AD2D9423-4E83-0B46-9016-B590B1CD7678}"/>
              </a:ext>
            </a:extLst>
          </p:cNvPr>
          <p:cNvPicPr>
            <a:picLocks noChangeAspect="1"/>
          </p:cNvPicPr>
          <p:nvPr/>
        </p:nvPicPr>
        <p:blipFill>
          <a:blip r:embed="rId2"/>
          <a:stretch>
            <a:fillRect/>
          </a:stretch>
        </p:blipFill>
        <p:spPr>
          <a:xfrm>
            <a:off x="304800" y="2362200"/>
            <a:ext cx="2312595" cy="1905000"/>
          </a:xfrm>
          <a:prstGeom prst="rect">
            <a:avLst/>
          </a:prstGeom>
        </p:spPr>
      </p:pic>
      <p:pic>
        <p:nvPicPr>
          <p:cNvPr id="8" name="Picture 7" descr="A screenshot of a social media post&#10;&#10;Description automatically generated">
            <a:extLst>
              <a:ext uri="{FF2B5EF4-FFF2-40B4-BE49-F238E27FC236}">
                <a16:creationId xmlns:a16="http://schemas.microsoft.com/office/drawing/2014/main" id="{9EE26027-7B8A-964C-98FC-23CFF6AEF304}"/>
              </a:ext>
            </a:extLst>
          </p:cNvPr>
          <p:cNvPicPr>
            <a:picLocks noChangeAspect="1"/>
          </p:cNvPicPr>
          <p:nvPr/>
        </p:nvPicPr>
        <p:blipFill rotWithShape="1">
          <a:blip r:embed="rId3"/>
          <a:srcRect l="2889" t="2222" r="2000"/>
          <a:stretch/>
        </p:blipFill>
        <p:spPr>
          <a:xfrm>
            <a:off x="2802332" y="685800"/>
            <a:ext cx="6186920" cy="5088308"/>
          </a:xfrm>
          <a:prstGeom prst="rect">
            <a:avLst/>
          </a:prstGeom>
          <a:ln>
            <a:solidFill>
              <a:schemeClr val="tx1"/>
            </a:solidFill>
          </a:ln>
        </p:spPr>
      </p:pic>
    </p:spTree>
    <p:extLst>
      <p:ext uri="{BB962C8B-B14F-4D97-AF65-F5344CB8AC3E}">
        <p14:creationId xmlns:p14="http://schemas.microsoft.com/office/powerpoint/2010/main" val="312103498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086600" y="6324600"/>
            <a:ext cx="1905000" cy="457200"/>
          </a:xfrm>
        </p:spPr>
        <p:txBody>
          <a:bodyPr/>
          <a:lstStyle/>
          <a:p>
            <a:pPr>
              <a:defRPr/>
            </a:pPr>
            <a:fld id="{8DFCCDA7-D618-4941-BFD0-9F32B03099BD}" type="slidenum">
              <a:rPr lang="en-US" smtClean="0"/>
              <a:pPr>
                <a:defRPr/>
              </a:pPr>
              <a:t>26</a:t>
            </a:fld>
            <a:endParaRPr lang="en-US" dirty="0"/>
          </a:p>
        </p:txBody>
      </p:sp>
      <p:graphicFrame>
        <p:nvGraphicFramePr>
          <p:cNvPr id="5" name="Diagram 4"/>
          <p:cNvGraphicFramePr/>
          <p:nvPr>
            <p:extLst>
              <p:ext uri="{D42A27DB-BD31-4B8C-83A1-F6EECF244321}">
                <p14:modId xmlns:p14="http://schemas.microsoft.com/office/powerpoint/2010/main" val="2183367578"/>
              </p:ext>
            </p:extLst>
          </p:nvPr>
        </p:nvGraphicFramePr>
        <p:xfrm>
          <a:off x="-152400" y="609600"/>
          <a:ext cx="9372600" cy="5943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2819400" y="3124200"/>
            <a:ext cx="3352800" cy="523220"/>
          </a:xfrm>
          <a:prstGeom prst="rect">
            <a:avLst/>
          </a:prstGeom>
          <a:effectLst>
            <a:glow rad="139700">
              <a:schemeClr val="accent4">
                <a:satMod val="175000"/>
                <a:alpha val="40000"/>
              </a:schemeClr>
            </a:glow>
            <a:outerShdw blurRad="40000" dist="20000" dir="5400000" rotWithShape="0">
              <a:srgbClr val="000000">
                <a:alpha val="38000"/>
              </a:srgbClr>
            </a:outerShdw>
          </a:effectLst>
          <a:scene3d>
            <a:camera prst="orthographicFront"/>
            <a:lightRig rig="threePt" dir="t"/>
          </a:scene3d>
          <a:sp3d>
            <a:bevelT w="165100" prst="coolSlant"/>
          </a:sp3d>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2800" dirty="0"/>
              <a:t>Universal Design</a:t>
            </a:r>
          </a:p>
        </p:txBody>
      </p:sp>
    </p:spTree>
    <p:extLst>
      <p:ext uri="{BB962C8B-B14F-4D97-AF65-F5344CB8AC3E}">
        <p14:creationId xmlns:p14="http://schemas.microsoft.com/office/powerpoint/2010/main" val="637000447"/>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13362-49AE-DC43-AC40-F648EED88BE4}"/>
              </a:ext>
            </a:extLst>
          </p:cNvPr>
          <p:cNvSpPr>
            <a:spLocks noGrp="1"/>
          </p:cNvSpPr>
          <p:nvPr>
            <p:ph type="title"/>
          </p:nvPr>
        </p:nvSpPr>
        <p:spPr>
          <a:xfrm>
            <a:off x="228600" y="349827"/>
            <a:ext cx="2802082" cy="1278082"/>
          </a:xfrm>
        </p:spPr>
        <p:style>
          <a:lnRef idx="3">
            <a:schemeClr val="lt1"/>
          </a:lnRef>
          <a:fillRef idx="1">
            <a:schemeClr val="accent2"/>
          </a:fillRef>
          <a:effectRef idx="1">
            <a:schemeClr val="accent2"/>
          </a:effectRef>
          <a:fontRef idx="minor">
            <a:schemeClr val="lt1"/>
          </a:fontRef>
        </p:style>
        <p:txBody>
          <a:bodyPr/>
          <a:lstStyle/>
          <a:p>
            <a:r>
              <a:rPr lang="en-US" sz="2800" dirty="0"/>
              <a:t>UDL</a:t>
            </a:r>
            <a:br>
              <a:rPr lang="en-US" sz="2800" dirty="0"/>
            </a:br>
            <a:r>
              <a:rPr lang="en-US" sz="2800" dirty="0"/>
              <a:t>Resources</a:t>
            </a:r>
          </a:p>
        </p:txBody>
      </p:sp>
      <p:sp>
        <p:nvSpPr>
          <p:cNvPr id="4" name="Slide Number Placeholder 3">
            <a:extLst>
              <a:ext uri="{FF2B5EF4-FFF2-40B4-BE49-F238E27FC236}">
                <a16:creationId xmlns:a16="http://schemas.microsoft.com/office/drawing/2014/main" id="{95FE4F83-36E1-2E44-9D4E-BB3EA246A4CA}"/>
              </a:ext>
            </a:extLst>
          </p:cNvPr>
          <p:cNvSpPr>
            <a:spLocks noGrp="1"/>
          </p:cNvSpPr>
          <p:nvPr>
            <p:ph type="sldNum" sz="quarter" idx="12"/>
          </p:nvPr>
        </p:nvSpPr>
        <p:spPr>
          <a:xfrm>
            <a:off x="7235536" y="6414655"/>
            <a:ext cx="1905000" cy="457200"/>
          </a:xfrm>
        </p:spPr>
        <p:txBody>
          <a:bodyPr/>
          <a:lstStyle/>
          <a:p>
            <a:pPr>
              <a:defRPr/>
            </a:pPr>
            <a:fld id="{8DFCCDA7-D618-4941-BFD0-9F32B03099BD}" type="slidenum">
              <a:rPr lang="en-US" smtClean="0"/>
              <a:pPr>
                <a:defRPr/>
              </a:pPr>
              <a:t>27</a:t>
            </a:fld>
            <a:endParaRPr lang="en-US" dirty="0"/>
          </a:p>
        </p:txBody>
      </p:sp>
      <p:pic>
        <p:nvPicPr>
          <p:cNvPr id="6" name="Picture 5" descr="A screenshot of a computer&#10;&#10;Description automatically generated">
            <a:extLst>
              <a:ext uri="{FF2B5EF4-FFF2-40B4-BE49-F238E27FC236}">
                <a16:creationId xmlns:a16="http://schemas.microsoft.com/office/drawing/2014/main" id="{8F9242FD-8095-AA4B-BA5B-F16610BC9955}"/>
              </a:ext>
            </a:extLst>
          </p:cNvPr>
          <p:cNvPicPr>
            <a:picLocks noChangeAspect="1"/>
          </p:cNvPicPr>
          <p:nvPr/>
        </p:nvPicPr>
        <p:blipFill rotWithShape="1">
          <a:blip r:embed="rId2"/>
          <a:srcRect l="2889" t="8888" r="1111"/>
          <a:stretch/>
        </p:blipFill>
        <p:spPr>
          <a:xfrm>
            <a:off x="5410200" y="3733800"/>
            <a:ext cx="3438990" cy="2611085"/>
          </a:xfrm>
          <a:prstGeom prst="rect">
            <a:avLst/>
          </a:prstGeom>
          <a:ln>
            <a:solidFill>
              <a:schemeClr val="accent6">
                <a:shade val="95000"/>
                <a:satMod val="105000"/>
              </a:schemeClr>
            </a:solidFill>
          </a:ln>
        </p:spPr>
      </p:pic>
      <p:pic>
        <p:nvPicPr>
          <p:cNvPr id="8" name="Picture 7" descr="A screenshot of a computer&#10;&#10;Description automatically generated">
            <a:extLst>
              <a:ext uri="{FF2B5EF4-FFF2-40B4-BE49-F238E27FC236}">
                <a16:creationId xmlns:a16="http://schemas.microsoft.com/office/drawing/2014/main" id="{C4072CFB-149F-FA46-A7B3-7E2EB669AC45}"/>
              </a:ext>
            </a:extLst>
          </p:cNvPr>
          <p:cNvPicPr>
            <a:picLocks noChangeAspect="1"/>
          </p:cNvPicPr>
          <p:nvPr/>
        </p:nvPicPr>
        <p:blipFill rotWithShape="1">
          <a:blip r:embed="rId3"/>
          <a:srcRect l="4667" t="8889"/>
          <a:stretch/>
        </p:blipFill>
        <p:spPr>
          <a:xfrm>
            <a:off x="4242354" y="387061"/>
            <a:ext cx="3741932" cy="2860964"/>
          </a:xfrm>
          <a:prstGeom prst="rect">
            <a:avLst/>
          </a:prstGeom>
          <a:ln>
            <a:solidFill>
              <a:schemeClr val="accent6">
                <a:shade val="95000"/>
                <a:satMod val="105000"/>
              </a:schemeClr>
            </a:solidFill>
          </a:ln>
        </p:spPr>
      </p:pic>
      <p:pic>
        <p:nvPicPr>
          <p:cNvPr id="10" name="Picture 9" descr="A screenshot of a cell phone&#10;&#10;Description automatically generated">
            <a:extLst>
              <a:ext uri="{FF2B5EF4-FFF2-40B4-BE49-F238E27FC236}">
                <a16:creationId xmlns:a16="http://schemas.microsoft.com/office/drawing/2014/main" id="{D0371A94-959C-A540-A34C-8D08587E314C}"/>
              </a:ext>
            </a:extLst>
          </p:cNvPr>
          <p:cNvPicPr>
            <a:picLocks noChangeAspect="1"/>
          </p:cNvPicPr>
          <p:nvPr/>
        </p:nvPicPr>
        <p:blipFill rotWithShape="1">
          <a:blip r:embed="rId4"/>
          <a:srcRect l="4667" t="8889"/>
          <a:stretch/>
        </p:blipFill>
        <p:spPr>
          <a:xfrm>
            <a:off x="418354" y="3809997"/>
            <a:ext cx="3315447" cy="2534887"/>
          </a:xfrm>
          <a:prstGeom prst="rect">
            <a:avLst/>
          </a:prstGeom>
          <a:ln>
            <a:solidFill>
              <a:schemeClr val="accent6">
                <a:shade val="95000"/>
                <a:satMod val="105000"/>
              </a:schemeClr>
            </a:solidFill>
          </a:ln>
        </p:spPr>
      </p:pic>
      <p:pic>
        <p:nvPicPr>
          <p:cNvPr id="12" name="Picture 11" descr="A picture containing drawing&#10;&#10;Description automatically generated">
            <a:extLst>
              <a:ext uri="{FF2B5EF4-FFF2-40B4-BE49-F238E27FC236}">
                <a16:creationId xmlns:a16="http://schemas.microsoft.com/office/drawing/2014/main" id="{5DA99F18-8FFC-CB4B-B111-D50D178F4387}"/>
              </a:ext>
            </a:extLst>
          </p:cNvPr>
          <p:cNvPicPr>
            <a:picLocks noChangeAspect="1"/>
          </p:cNvPicPr>
          <p:nvPr/>
        </p:nvPicPr>
        <p:blipFill>
          <a:blip r:embed="rId5"/>
          <a:stretch>
            <a:fillRect/>
          </a:stretch>
        </p:blipFill>
        <p:spPr>
          <a:xfrm>
            <a:off x="762000" y="1814079"/>
            <a:ext cx="1504950" cy="1504950"/>
          </a:xfrm>
          <a:prstGeom prst="rect">
            <a:avLst/>
          </a:prstGeom>
        </p:spPr>
      </p:pic>
    </p:spTree>
    <p:extLst>
      <p:ext uri="{BB962C8B-B14F-4D97-AF65-F5344CB8AC3E}">
        <p14:creationId xmlns:p14="http://schemas.microsoft.com/office/powerpoint/2010/main" val="323103223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152400" y="381000"/>
            <a:ext cx="3172495" cy="954107"/>
          </a:xfrm>
          <a:prstGeom prst="rect">
            <a:avLst/>
          </a:prstGeom>
          <a:scene3d>
            <a:camera prst="orthographicFront"/>
            <a:lightRig rig="threePt" dir="t"/>
          </a:scene3d>
          <a:sp3d>
            <a:bevelT prst="angle"/>
          </a:sp3d>
        </p:spPr>
        <p:style>
          <a:lnRef idx="1">
            <a:schemeClr val="accent6"/>
          </a:lnRef>
          <a:fillRef idx="2">
            <a:schemeClr val="accent6"/>
          </a:fillRef>
          <a:effectRef idx="1">
            <a:schemeClr val="accent6"/>
          </a:effectRef>
          <a:fontRef idx="minor">
            <a:schemeClr val="dk1"/>
          </a:fontRef>
        </p:style>
        <p:txBody>
          <a:bodyPr wrap="square">
            <a:spAutoFit/>
          </a:bodyPr>
          <a:lstStyle/>
          <a:p>
            <a:pPr algn="ctr">
              <a:defRPr/>
            </a:pPr>
            <a:r>
              <a:rPr lang="en-US" sz="2800" b="1" i="1" dirty="0">
                <a:solidFill>
                  <a:schemeClr val="tx1"/>
                </a:solidFill>
              </a:rPr>
              <a:t>Additional UD Resources</a:t>
            </a:r>
          </a:p>
        </p:txBody>
      </p:sp>
      <p:sp>
        <p:nvSpPr>
          <p:cNvPr id="2" name="Slide Number Placeholder 1"/>
          <p:cNvSpPr>
            <a:spLocks noGrp="1"/>
          </p:cNvSpPr>
          <p:nvPr>
            <p:ph type="sldNum" sz="quarter" idx="12"/>
          </p:nvPr>
        </p:nvSpPr>
        <p:spPr/>
        <p:txBody>
          <a:bodyPr/>
          <a:lstStyle/>
          <a:p>
            <a:pPr>
              <a:defRPr/>
            </a:pPr>
            <a:fld id="{6FD8D33E-168D-2544-8E6A-DA4CF708B5A9}" type="slidenum">
              <a:rPr lang="en-US" smtClean="0"/>
              <a:pPr>
                <a:defRPr/>
              </a:pPr>
              <a:t>28</a:t>
            </a:fld>
            <a:endParaRPr lang="en-US"/>
          </a:p>
        </p:txBody>
      </p:sp>
      <p:pic>
        <p:nvPicPr>
          <p:cNvPr id="4" name="Picture 3" descr="A screenshot of a cell phone&#10;&#10;Description automatically generated">
            <a:extLst>
              <a:ext uri="{FF2B5EF4-FFF2-40B4-BE49-F238E27FC236}">
                <a16:creationId xmlns:a16="http://schemas.microsoft.com/office/drawing/2014/main" id="{96F3F7A0-B89A-094A-8958-574FE2DE088E}"/>
              </a:ext>
            </a:extLst>
          </p:cNvPr>
          <p:cNvPicPr>
            <a:picLocks noChangeAspect="1"/>
          </p:cNvPicPr>
          <p:nvPr/>
        </p:nvPicPr>
        <p:blipFill rotWithShape="1">
          <a:blip r:embed="rId2"/>
          <a:srcRect l="9111" t="8889" r="4667"/>
          <a:stretch/>
        </p:blipFill>
        <p:spPr>
          <a:xfrm>
            <a:off x="471152" y="1572990"/>
            <a:ext cx="3172495" cy="2681903"/>
          </a:xfrm>
          <a:prstGeom prst="rect">
            <a:avLst/>
          </a:prstGeom>
          <a:ln>
            <a:solidFill>
              <a:schemeClr val="accent6">
                <a:shade val="95000"/>
                <a:satMod val="105000"/>
              </a:schemeClr>
            </a:solidFill>
          </a:ln>
        </p:spPr>
      </p:pic>
      <p:pic>
        <p:nvPicPr>
          <p:cNvPr id="6" name="Picture 5" descr="A screenshot of a social media post&#10;&#10;Description automatically generated">
            <a:extLst>
              <a:ext uri="{FF2B5EF4-FFF2-40B4-BE49-F238E27FC236}">
                <a16:creationId xmlns:a16="http://schemas.microsoft.com/office/drawing/2014/main" id="{8709C3E6-1210-3F47-ADFB-EB588FA3E4EC}"/>
              </a:ext>
            </a:extLst>
          </p:cNvPr>
          <p:cNvPicPr>
            <a:picLocks noChangeAspect="1"/>
          </p:cNvPicPr>
          <p:nvPr/>
        </p:nvPicPr>
        <p:blipFill rotWithShape="1">
          <a:blip r:embed="rId3"/>
          <a:srcRect l="2889" t="8889" r="1111" b="8889"/>
          <a:stretch/>
        </p:blipFill>
        <p:spPr>
          <a:xfrm>
            <a:off x="4725725" y="501179"/>
            <a:ext cx="4113475" cy="2818492"/>
          </a:xfrm>
          <a:prstGeom prst="rect">
            <a:avLst/>
          </a:prstGeom>
          <a:ln>
            <a:solidFill>
              <a:schemeClr val="accent6">
                <a:shade val="95000"/>
                <a:satMod val="105000"/>
              </a:schemeClr>
            </a:solidFill>
          </a:ln>
        </p:spPr>
      </p:pic>
      <p:pic>
        <p:nvPicPr>
          <p:cNvPr id="16" name="Picture 15" descr="A screenshot of a computer&#10;&#10;Description automatically generated">
            <a:extLst>
              <a:ext uri="{FF2B5EF4-FFF2-40B4-BE49-F238E27FC236}">
                <a16:creationId xmlns:a16="http://schemas.microsoft.com/office/drawing/2014/main" id="{0FAF6762-67CE-1B45-B35A-E3567B041CAB}"/>
              </a:ext>
            </a:extLst>
          </p:cNvPr>
          <p:cNvPicPr>
            <a:picLocks noChangeAspect="1"/>
          </p:cNvPicPr>
          <p:nvPr/>
        </p:nvPicPr>
        <p:blipFill rotWithShape="1">
          <a:blip r:embed="rId4"/>
          <a:srcRect l="10000" t="10000" r="12600"/>
          <a:stretch/>
        </p:blipFill>
        <p:spPr>
          <a:xfrm>
            <a:off x="2452162" y="4492776"/>
            <a:ext cx="3048000" cy="2215115"/>
          </a:xfrm>
          <a:prstGeom prst="rect">
            <a:avLst/>
          </a:prstGeom>
          <a:ln>
            <a:solidFill>
              <a:schemeClr val="tx1"/>
            </a:solidFill>
          </a:ln>
        </p:spPr>
      </p:pic>
      <p:pic>
        <p:nvPicPr>
          <p:cNvPr id="17" name="Picture 16" descr="A screenshot of a computer&#10;&#10;Description automatically generated">
            <a:extLst>
              <a:ext uri="{FF2B5EF4-FFF2-40B4-BE49-F238E27FC236}">
                <a16:creationId xmlns:a16="http://schemas.microsoft.com/office/drawing/2014/main" id="{457EB09C-C88F-C647-9A7E-650F8FC7D7E8}"/>
              </a:ext>
            </a:extLst>
          </p:cNvPr>
          <p:cNvPicPr>
            <a:picLocks noChangeAspect="1"/>
          </p:cNvPicPr>
          <p:nvPr/>
        </p:nvPicPr>
        <p:blipFill rotWithShape="1">
          <a:blip r:embed="rId5"/>
          <a:srcRect l="5000" t="11333" r="13333"/>
          <a:stretch/>
        </p:blipFill>
        <p:spPr>
          <a:xfrm>
            <a:off x="5403066" y="4434503"/>
            <a:ext cx="3436134" cy="2331662"/>
          </a:xfrm>
          <a:prstGeom prst="rect">
            <a:avLst/>
          </a:prstGeom>
          <a:ln>
            <a:solidFill>
              <a:schemeClr val="tx1"/>
            </a:solidFill>
          </a:ln>
        </p:spPr>
      </p:pic>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303E0-237D-8A49-9E91-FDA74FD2B6BA}"/>
              </a:ext>
            </a:extLst>
          </p:cNvPr>
          <p:cNvSpPr>
            <a:spLocks noGrp="1"/>
          </p:cNvSpPr>
          <p:nvPr>
            <p:ph type="title"/>
          </p:nvPr>
        </p:nvSpPr>
        <p:spPr>
          <a:xfrm>
            <a:off x="185453" y="702757"/>
            <a:ext cx="2819400" cy="914400"/>
          </a:xfrm>
          <a:scene3d>
            <a:camera prst="isometricOffAxis1Right"/>
            <a:lightRig rig="balanced" dir="t">
              <a:rot lat="0" lon="0" rev="5100000"/>
            </a:lightRig>
          </a:scene3d>
          <a:sp3d contourW="6350">
            <a:bevelT w="29210" h="12700" prst="angle"/>
            <a:contourClr>
              <a:schemeClr val="accent2">
                <a:shade val="30000"/>
                <a:satMod val="130000"/>
              </a:schemeClr>
            </a:contourClr>
          </a:sp3d>
        </p:spPr>
        <p:style>
          <a:lnRef idx="0">
            <a:schemeClr val="accent2"/>
          </a:lnRef>
          <a:fillRef idx="3">
            <a:schemeClr val="accent2"/>
          </a:fillRef>
          <a:effectRef idx="3">
            <a:schemeClr val="accent2"/>
          </a:effectRef>
          <a:fontRef idx="minor">
            <a:schemeClr val="lt1"/>
          </a:fontRef>
        </p:style>
        <p:txBody>
          <a:bodyPr/>
          <a:lstStyle/>
          <a:p>
            <a:pPr algn="ctr"/>
            <a:r>
              <a:rPr lang="en-US" b="1" dirty="0"/>
              <a:t>Handouts</a:t>
            </a:r>
          </a:p>
        </p:txBody>
      </p:sp>
      <p:sp>
        <p:nvSpPr>
          <p:cNvPr id="3" name="Content Placeholder 2">
            <a:extLst>
              <a:ext uri="{FF2B5EF4-FFF2-40B4-BE49-F238E27FC236}">
                <a16:creationId xmlns:a16="http://schemas.microsoft.com/office/drawing/2014/main" id="{D7978C5F-D008-0241-8B14-A9F15C2C4145}"/>
              </a:ext>
            </a:extLst>
          </p:cNvPr>
          <p:cNvSpPr>
            <a:spLocks noGrp="1"/>
          </p:cNvSpPr>
          <p:nvPr>
            <p:ph idx="1"/>
          </p:nvPr>
        </p:nvSpPr>
        <p:spPr>
          <a:xfrm>
            <a:off x="28460" y="2196152"/>
            <a:ext cx="4848340" cy="4876800"/>
          </a:xfrm>
        </p:spPr>
        <p:txBody>
          <a:bodyPr/>
          <a:lstStyle/>
          <a:p>
            <a:pPr marL="457200" indent="-457200">
              <a:buFont typeface="+mj-lt"/>
              <a:buAutoNum type="arabicPeriod"/>
            </a:pPr>
            <a:r>
              <a:rPr lang="en-US" sz="2400" b="1" dirty="0"/>
              <a:t>PowerPoint</a:t>
            </a:r>
          </a:p>
          <a:p>
            <a:pPr marL="457200" indent="-457200">
              <a:spcBef>
                <a:spcPts val="1776"/>
              </a:spcBef>
              <a:buFont typeface="+mj-lt"/>
              <a:buAutoNum type="arabicPeriod"/>
            </a:pPr>
            <a:r>
              <a:rPr lang="en-US" sz="2400" b="1" dirty="0"/>
              <a:t>UD Resources</a:t>
            </a:r>
          </a:p>
          <a:p>
            <a:pPr marL="457200" indent="-457200">
              <a:spcBef>
                <a:spcPts val="1776"/>
              </a:spcBef>
              <a:buFont typeface="+mj-lt"/>
              <a:buAutoNum type="arabicPeriod"/>
            </a:pPr>
            <a:r>
              <a:rPr lang="en-US" sz="2400" b="1" dirty="0"/>
              <a:t>Article:</a:t>
            </a:r>
            <a:r>
              <a:rPr lang="en-US" sz="2400" i="1" dirty="0"/>
              <a:t> Tips for Creating Inclusive and Accessible Instruction for Adult Learners </a:t>
            </a:r>
          </a:p>
          <a:p>
            <a:pPr marL="457200" indent="-457200">
              <a:spcBef>
                <a:spcPts val="1776"/>
              </a:spcBef>
              <a:buFont typeface="+mj-lt"/>
              <a:buAutoNum type="arabicPeriod"/>
            </a:pPr>
            <a:r>
              <a:rPr lang="en-US" sz="2400" b="1" dirty="0"/>
              <a:t>Article: </a:t>
            </a:r>
            <a:r>
              <a:rPr lang="en-US" sz="2400" i="1" dirty="0"/>
              <a:t>Universal Design for Learning – Guideline for Accessible Online Instruction</a:t>
            </a:r>
          </a:p>
          <a:p>
            <a:pPr marL="457200" indent="-457200">
              <a:spcBef>
                <a:spcPts val="1776"/>
              </a:spcBef>
              <a:buFont typeface="+mj-lt"/>
              <a:buAutoNum type="arabicPeriod"/>
            </a:pPr>
            <a:endParaRPr lang="en-US" sz="2400" dirty="0"/>
          </a:p>
        </p:txBody>
      </p:sp>
      <p:sp>
        <p:nvSpPr>
          <p:cNvPr id="4" name="Slide Number Placeholder 3">
            <a:extLst>
              <a:ext uri="{FF2B5EF4-FFF2-40B4-BE49-F238E27FC236}">
                <a16:creationId xmlns:a16="http://schemas.microsoft.com/office/drawing/2014/main" id="{5CA2573E-361E-DE48-A8D2-296D0E712447}"/>
              </a:ext>
            </a:extLst>
          </p:cNvPr>
          <p:cNvSpPr>
            <a:spLocks noGrp="1"/>
          </p:cNvSpPr>
          <p:nvPr>
            <p:ph type="sldNum" sz="quarter" idx="12"/>
          </p:nvPr>
        </p:nvSpPr>
        <p:spPr/>
        <p:txBody>
          <a:bodyPr/>
          <a:lstStyle/>
          <a:p>
            <a:pPr>
              <a:defRPr/>
            </a:pPr>
            <a:fld id="{6DFFECAE-5558-FC4F-A5D5-814DD6134961}" type="slidenum">
              <a:rPr lang="en-US" altLang="en-US" smtClean="0"/>
              <a:pPr>
                <a:defRPr/>
              </a:pPr>
              <a:t>29</a:t>
            </a:fld>
            <a:endParaRPr lang="en-US" altLang="en-US"/>
          </a:p>
        </p:txBody>
      </p:sp>
      <p:pic>
        <p:nvPicPr>
          <p:cNvPr id="6" name="Picture 5">
            <a:extLst>
              <a:ext uri="{FF2B5EF4-FFF2-40B4-BE49-F238E27FC236}">
                <a16:creationId xmlns:a16="http://schemas.microsoft.com/office/drawing/2014/main" id="{6AA551F9-56A3-2C42-8374-646F0675E7DA}"/>
              </a:ext>
            </a:extLst>
          </p:cNvPr>
          <p:cNvPicPr>
            <a:picLocks noChangeAspect="1"/>
          </p:cNvPicPr>
          <p:nvPr/>
        </p:nvPicPr>
        <p:blipFill>
          <a:blip r:embed="rId2"/>
          <a:stretch>
            <a:fillRect/>
          </a:stretch>
        </p:blipFill>
        <p:spPr>
          <a:xfrm>
            <a:off x="4933666" y="2175680"/>
            <a:ext cx="3951157" cy="3053167"/>
          </a:xfrm>
          <a:prstGeom prst="rect">
            <a:avLst/>
          </a:prstGeom>
          <a:ln>
            <a:solidFill>
              <a:schemeClr val="accent2">
                <a:shade val="50000"/>
              </a:schemeClr>
            </a:solidFill>
          </a:ln>
        </p:spPr>
      </p:pic>
      <p:pic>
        <p:nvPicPr>
          <p:cNvPr id="8" name="Picture 7">
            <a:extLst>
              <a:ext uri="{FF2B5EF4-FFF2-40B4-BE49-F238E27FC236}">
                <a16:creationId xmlns:a16="http://schemas.microsoft.com/office/drawing/2014/main" id="{A0211B17-5392-E04C-8672-0AC54227F8C8}"/>
              </a:ext>
            </a:extLst>
          </p:cNvPr>
          <p:cNvPicPr>
            <a:picLocks noChangeAspect="1"/>
          </p:cNvPicPr>
          <p:nvPr/>
        </p:nvPicPr>
        <p:blipFill>
          <a:blip r:embed="rId3"/>
          <a:stretch>
            <a:fillRect/>
          </a:stretch>
        </p:blipFill>
        <p:spPr>
          <a:xfrm>
            <a:off x="4876800" y="990600"/>
            <a:ext cx="3951157" cy="5113262"/>
          </a:xfrm>
          <a:prstGeom prst="rect">
            <a:avLst/>
          </a:prstGeom>
          <a:ln>
            <a:solidFill>
              <a:schemeClr val="accent2">
                <a:shade val="50000"/>
              </a:schemeClr>
            </a:solidFill>
          </a:ln>
        </p:spPr>
      </p:pic>
      <p:pic>
        <p:nvPicPr>
          <p:cNvPr id="10" name="Picture 9">
            <a:extLst>
              <a:ext uri="{FF2B5EF4-FFF2-40B4-BE49-F238E27FC236}">
                <a16:creationId xmlns:a16="http://schemas.microsoft.com/office/drawing/2014/main" id="{F8C2ACA8-C599-DD4A-A9EB-2E4848B13197}"/>
              </a:ext>
            </a:extLst>
          </p:cNvPr>
          <p:cNvPicPr>
            <a:picLocks noChangeAspect="1"/>
          </p:cNvPicPr>
          <p:nvPr/>
        </p:nvPicPr>
        <p:blipFill>
          <a:blip r:embed="rId4"/>
          <a:stretch>
            <a:fillRect/>
          </a:stretch>
        </p:blipFill>
        <p:spPr>
          <a:xfrm>
            <a:off x="5126504" y="673857"/>
            <a:ext cx="3565479" cy="5510286"/>
          </a:xfrm>
          <a:prstGeom prst="rect">
            <a:avLst/>
          </a:prstGeom>
          <a:ln>
            <a:solidFill>
              <a:schemeClr val="accent2">
                <a:shade val="50000"/>
              </a:schemeClr>
            </a:solidFill>
          </a:ln>
        </p:spPr>
      </p:pic>
      <p:pic>
        <p:nvPicPr>
          <p:cNvPr id="12" name="Picture 11" descr="A picture containing drawing&#10;&#10;Description automatically generated">
            <a:extLst>
              <a:ext uri="{FF2B5EF4-FFF2-40B4-BE49-F238E27FC236}">
                <a16:creationId xmlns:a16="http://schemas.microsoft.com/office/drawing/2014/main" id="{BE34D8BC-3608-B74D-B08B-6CF081DCBAB5}"/>
              </a:ext>
            </a:extLst>
          </p:cNvPr>
          <p:cNvPicPr>
            <a:picLocks noChangeAspect="1"/>
          </p:cNvPicPr>
          <p:nvPr/>
        </p:nvPicPr>
        <p:blipFill>
          <a:blip r:embed="rId5"/>
          <a:stretch>
            <a:fillRect/>
          </a:stretch>
        </p:blipFill>
        <p:spPr>
          <a:xfrm>
            <a:off x="4990530" y="1254546"/>
            <a:ext cx="3619284" cy="4701462"/>
          </a:xfrm>
          <a:prstGeom prst="rect">
            <a:avLst/>
          </a:prstGeom>
          <a:ln>
            <a:solidFill>
              <a:schemeClr val="accent2">
                <a:shade val="50000"/>
              </a:schemeClr>
            </a:solidFill>
          </a:ln>
        </p:spPr>
      </p:pic>
    </p:spTree>
    <p:extLst>
      <p:ext uri="{BB962C8B-B14F-4D97-AF65-F5344CB8AC3E}">
        <p14:creationId xmlns:p14="http://schemas.microsoft.com/office/powerpoint/2010/main" val="144541080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53" presetClass="entr" presetSubtype="16"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 calcmode="lin" valueType="num">
                                      <p:cBhvr>
                                        <p:cTn id="9" dur="500" fill="hold"/>
                                        <p:tgtEl>
                                          <p:spTgt spid="6"/>
                                        </p:tgtEl>
                                        <p:attrNameLst>
                                          <p:attrName>ppt_w</p:attrName>
                                        </p:attrNameLst>
                                      </p:cBhvr>
                                      <p:tavLst>
                                        <p:tav tm="0">
                                          <p:val>
                                            <p:fltVal val="0"/>
                                          </p:val>
                                        </p:tav>
                                        <p:tav tm="100000">
                                          <p:val>
                                            <p:strVal val="#ppt_w"/>
                                          </p:val>
                                        </p:tav>
                                      </p:tavLst>
                                    </p:anim>
                                    <p:anim calcmode="lin" valueType="num">
                                      <p:cBhvr>
                                        <p:cTn id="10" dur="500" fill="hold"/>
                                        <p:tgtEl>
                                          <p:spTgt spid="6"/>
                                        </p:tgtEl>
                                        <p:attrNameLst>
                                          <p:attrName>ppt_h</p:attrName>
                                        </p:attrNameLst>
                                      </p:cBhvr>
                                      <p:tavLst>
                                        <p:tav tm="0">
                                          <p:val>
                                            <p:fltVal val="0"/>
                                          </p:val>
                                        </p:tav>
                                        <p:tav tm="100000">
                                          <p:val>
                                            <p:strVal val="#ppt_h"/>
                                          </p:val>
                                        </p:tav>
                                      </p:tavLst>
                                    </p:anim>
                                    <p:animEffect transition="in" filter="fade">
                                      <p:cBhvr>
                                        <p:cTn id="11"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par>
                                <p:cTn id="16" presetID="53" presetClass="entr" presetSubtype="16"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p:cTn id="18" dur="500" fill="hold"/>
                                        <p:tgtEl>
                                          <p:spTgt spid="8"/>
                                        </p:tgtEl>
                                        <p:attrNameLst>
                                          <p:attrName>ppt_w</p:attrName>
                                        </p:attrNameLst>
                                      </p:cBhvr>
                                      <p:tavLst>
                                        <p:tav tm="0">
                                          <p:val>
                                            <p:fltVal val="0"/>
                                          </p:val>
                                        </p:tav>
                                        <p:tav tm="100000">
                                          <p:val>
                                            <p:strVal val="#ppt_w"/>
                                          </p:val>
                                        </p:tav>
                                      </p:tavLst>
                                    </p:anim>
                                    <p:anim calcmode="lin" valueType="num">
                                      <p:cBhvr>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par>
                                <p:cTn id="25" presetID="53" presetClass="entr" presetSubtype="16"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p:cTn id="36" dur="500" fill="hold"/>
                                        <p:tgtEl>
                                          <p:spTgt spid="12"/>
                                        </p:tgtEl>
                                        <p:attrNameLst>
                                          <p:attrName>ppt_w</p:attrName>
                                        </p:attrNameLst>
                                      </p:cBhvr>
                                      <p:tavLst>
                                        <p:tav tm="0">
                                          <p:val>
                                            <p:fltVal val="0"/>
                                          </p:val>
                                        </p:tav>
                                        <p:tav tm="100000">
                                          <p:val>
                                            <p:strVal val="#ppt_w"/>
                                          </p:val>
                                        </p:tav>
                                      </p:tavLst>
                                    </p:anim>
                                    <p:anim calcmode="lin" valueType="num">
                                      <p:cBhvr>
                                        <p:cTn id="37" dur="500" fill="hold"/>
                                        <p:tgtEl>
                                          <p:spTgt spid="12"/>
                                        </p:tgtEl>
                                        <p:attrNameLst>
                                          <p:attrName>ppt_h</p:attrName>
                                        </p:attrNameLst>
                                      </p:cBhvr>
                                      <p:tavLst>
                                        <p:tav tm="0">
                                          <p:val>
                                            <p:fltVal val="0"/>
                                          </p:val>
                                        </p:tav>
                                        <p:tav tm="100000">
                                          <p:val>
                                            <p:strVal val="#ppt_h"/>
                                          </p:val>
                                        </p:tav>
                                      </p:tavLst>
                                    </p:anim>
                                    <p:animEffect transition="in" filter="fade">
                                      <p:cBhvr>
                                        <p:cTn id="3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685800" y="609600"/>
            <a:ext cx="7772400" cy="1143000"/>
          </a:xfrm>
          <a:solidFill>
            <a:srgbClr val="006699"/>
          </a:solidFill>
          <a:scene3d>
            <a:camera prst="orthographicFront"/>
            <a:lightRig rig="threePt" dir="t"/>
          </a:scene3d>
          <a:sp3d>
            <a:bevelT w="139700" h="139700" prst="divot"/>
          </a:sp3d>
        </p:spPr>
        <p:txBody>
          <a:bodyPr/>
          <a:lstStyle/>
          <a:p>
            <a:pPr eaLnBrk="1" hangingPunct="1">
              <a:defRPr/>
            </a:pPr>
            <a:r>
              <a:rPr lang="en-US" dirty="0">
                <a:solidFill>
                  <a:srgbClr val="FFFFFF"/>
                </a:solidFill>
              </a:rPr>
              <a:t>Questions, Comments</a:t>
            </a:r>
          </a:p>
        </p:txBody>
      </p:sp>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624138"/>
            <a:ext cx="3048000" cy="21764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5845" name="Picture 5" descr="1194984513646717809chat_icon_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3733800"/>
            <a:ext cx="2667000" cy="2667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a:xfrm>
            <a:off x="7010400" y="6324600"/>
            <a:ext cx="1905000" cy="457200"/>
          </a:xfrm>
        </p:spPr>
        <p:txBody>
          <a:bodyPr/>
          <a:lstStyle/>
          <a:p>
            <a:pPr>
              <a:defRPr/>
            </a:pPr>
            <a:fld id="{9409278C-3FA7-7845-A8F1-E8479B58F9AA}" type="slidenum">
              <a:rPr lang="en-US" smtClean="0"/>
              <a:pPr>
                <a:defRPr/>
              </a:pPr>
              <a:t>30</a:t>
            </a:fld>
            <a:endParaRPr lang="en-US" dirty="0"/>
          </a:p>
        </p:txBody>
      </p:sp>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845" y="529407"/>
            <a:ext cx="8229600" cy="3720534"/>
          </a:xfrm>
          <a:scene3d>
            <a:camera prst="orthographicFront"/>
            <a:lightRig rig="threePt" dir="t"/>
          </a:scene3d>
          <a:sp3d>
            <a:bevelT prst="angle"/>
          </a:sp3d>
        </p:spPr>
        <p:style>
          <a:lnRef idx="1">
            <a:schemeClr val="accent4"/>
          </a:lnRef>
          <a:fillRef idx="2">
            <a:schemeClr val="accent4"/>
          </a:fillRef>
          <a:effectRef idx="1">
            <a:schemeClr val="accent4"/>
          </a:effectRef>
          <a:fontRef idx="minor">
            <a:schemeClr val="dk1"/>
          </a:fontRef>
        </p:style>
        <p:txBody>
          <a:bodyPr>
            <a:normAutofit/>
          </a:bodyPr>
          <a:lstStyle/>
          <a:p>
            <a:pPr algn="ctr">
              <a:spcBef>
                <a:spcPts val="1800"/>
              </a:spcBef>
            </a:pPr>
            <a:r>
              <a:rPr lang="en-US" sz="6000" i="1" dirty="0"/>
              <a:t>“Attitudes are caught,</a:t>
            </a:r>
            <a:br>
              <a:rPr lang="en-US" sz="6000" i="1" dirty="0"/>
            </a:br>
            <a:r>
              <a:rPr lang="en-US" sz="3600" i="1" dirty="0"/>
              <a:t>  </a:t>
            </a:r>
            <a:r>
              <a:rPr lang="en-US" sz="6000" i="1" dirty="0"/>
              <a:t>not taught.”</a:t>
            </a:r>
          </a:p>
        </p:txBody>
      </p:sp>
      <p:sp>
        <p:nvSpPr>
          <p:cNvPr id="4" name="Slide Number Placeholder 3"/>
          <p:cNvSpPr>
            <a:spLocks noGrp="1"/>
          </p:cNvSpPr>
          <p:nvPr>
            <p:ph type="sldNum" sz="quarter" idx="12"/>
          </p:nvPr>
        </p:nvSpPr>
        <p:spPr/>
        <p:txBody>
          <a:bodyPr/>
          <a:lstStyle/>
          <a:p>
            <a:pPr>
              <a:defRPr/>
            </a:pPr>
            <a:fld id="{DE0518C9-3CC7-7448-AD05-3CB269384775}" type="slidenum">
              <a:rPr lang="en-US" smtClean="0"/>
              <a:pPr>
                <a:defRPr/>
              </a:pPr>
              <a:t>31</a:t>
            </a:fld>
            <a:endParaRPr lang="en-US" dirty="0"/>
          </a:p>
        </p:txBody>
      </p:sp>
      <p:sp>
        <p:nvSpPr>
          <p:cNvPr id="6" name="TextBox 5"/>
          <p:cNvSpPr txBox="1"/>
          <p:nvPr/>
        </p:nvSpPr>
        <p:spPr>
          <a:xfrm>
            <a:off x="1389013" y="5238920"/>
            <a:ext cx="3490859" cy="707886"/>
          </a:xfrm>
          <a:prstGeom prst="rect">
            <a:avLst/>
          </a:prstGeom>
          <a:noFill/>
        </p:spPr>
        <p:txBody>
          <a:bodyPr wrap="square" rtlCol="0">
            <a:spAutoFit/>
          </a:bodyPr>
          <a:lstStyle/>
          <a:p>
            <a:pPr marL="285750" indent="-285750">
              <a:buFont typeface="Arial"/>
              <a:buChar char="•"/>
            </a:pPr>
            <a:r>
              <a:rPr lang="en-US" sz="4000" dirty="0"/>
              <a:t>Fred Rogers</a:t>
            </a:r>
            <a:endParaRPr lang="en-US" sz="4000" i="1" dirty="0"/>
          </a:p>
        </p:txBody>
      </p:sp>
      <p:pic>
        <p:nvPicPr>
          <p:cNvPr id="5" name="Picture 4" descr="A person wearing a suit and tie smiling at the camera&#10;&#10;Description automatically generated">
            <a:extLst>
              <a:ext uri="{FF2B5EF4-FFF2-40B4-BE49-F238E27FC236}">
                <a16:creationId xmlns:a16="http://schemas.microsoft.com/office/drawing/2014/main" id="{C6E3F6E9-16AF-4A4B-9DD3-7080FF2D9E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9558" y="4743829"/>
            <a:ext cx="2547101" cy="1698068"/>
          </a:xfrm>
          <a:prstGeom prst="rect">
            <a:avLst/>
          </a:prstGeom>
        </p:spPr>
      </p:pic>
    </p:spTree>
    <p:extLst>
      <p:ext uri="{BB962C8B-B14F-4D97-AF65-F5344CB8AC3E}">
        <p14:creationId xmlns:p14="http://schemas.microsoft.com/office/powerpoint/2010/main" val="356090088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food, drawing&#10;&#10;Description automatically generated">
            <a:extLst>
              <a:ext uri="{FF2B5EF4-FFF2-40B4-BE49-F238E27FC236}">
                <a16:creationId xmlns:a16="http://schemas.microsoft.com/office/drawing/2014/main" id="{DEA31C9C-0591-774F-A16C-E4DD96EA387D}"/>
              </a:ext>
            </a:extLst>
          </p:cNvPr>
          <p:cNvPicPr>
            <a:picLocks noChangeAspect="1"/>
          </p:cNvPicPr>
          <p:nvPr/>
        </p:nvPicPr>
        <p:blipFill>
          <a:blip r:embed="rId2"/>
          <a:stretch>
            <a:fillRect/>
          </a:stretch>
        </p:blipFill>
        <p:spPr>
          <a:xfrm>
            <a:off x="7696200" y="5090595"/>
            <a:ext cx="1047750" cy="1397000"/>
          </a:xfrm>
          <a:prstGeom prst="rect">
            <a:avLst/>
          </a:prstGeom>
        </p:spPr>
      </p:pic>
      <p:pic>
        <p:nvPicPr>
          <p:cNvPr id="8" name="Picture 7" descr="A close up of a sign&#10;&#10;Description automatically generated">
            <a:extLst>
              <a:ext uri="{FF2B5EF4-FFF2-40B4-BE49-F238E27FC236}">
                <a16:creationId xmlns:a16="http://schemas.microsoft.com/office/drawing/2014/main" id="{F533AFC3-887E-1A4B-8711-45172EB3DE72}"/>
              </a:ext>
            </a:extLst>
          </p:cNvPr>
          <p:cNvPicPr>
            <a:picLocks noChangeAspect="1"/>
          </p:cNvPicPr>
          <p:nvPr/>
        </p:nvPicPr>
        <p:blipFill>
          <a:blip r:embed="rId3"/>
          <a:stretch>
            <a:fillRect/>
          </a:stretch>
        </p:blipFill>
        <p:spPr>
          <a:xfrm>
            <a:off x="533400" y="609600"/>
            <a:ext cx="1968500" cy="1879600"/>
          </a:xfrm>
          <a:prstGeom prst="rect">
            <a:avLst/>
          </a:prstGeom>
        </p:spPr>
      </p:pic>
      <p:pic>
        <p:nvPicPr>
          <p:cNvPr id="18" name="Picture 17" descr="A close up of a sign&#10;&#10;Description automatically generated">
            <a:extLst>
              <a:ext uri="{FF2B5EF4-FFF2-40B4-BE49-F238E27FC236}">
                <a16:creationId xmlns:a16="http://schemas.microsoft.com/office/drawing/2014/main" id="{05CC0C4C-4A8E-F14F-8588-A37674AFDEA4}"/>
              </a:ext>
            </a:extLst>
          </p:cNvPr>
          <p:cNvPicPr>
            <a:picLocks noChangeAspect="1"/>
          </p:cNvPicPr>
          <p:nvPr/>
        </p:nvPicPr>
        <p:blipFill>
          <a:blip r:embed="rId4"/>
          <a:stretch>
            <a:fillRect/>
          </a:stretch>
        </p:blipFill>
        <p:spPr>
          <a:xfrm>
            <a:off x="2590800" y="2442039"/>
            <a:ext cx="4572000" cy="2857500"/>
          </a:xfrm>
          <a:prstGeom prst="rect">
            <a:avLst/>
          </a:prstGeom>
        </p:spPr>
      </p:pic>
    </p:spTree>
    <p:extLst>
      <p:ext uri="{BB962C8B-B14F-4D97-AF65-F5344CB8AC3E}">
        <p14:creationId xmlns:p14="http://schemas.microsoft.com/office/powerpoint/2010/main" val="2018055207"/>
      </p:ext>
    </p:extLst>
  </p:cSld>
  <p:clrMapOvr>
    <a:masterClrMapping/>
  </p:clrMapOvr>
  <p:transition spd="slow">
    <p:wipe/>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Verdana"/>
        <a:ea typeface="Osaka"/>
        <a:cs typeface="Osaka"/>
      </a:majorFont>
      <a:minorFont>
        <a:latin typeface="Verdana"/>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Genev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Geneva"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1077</TotalTime>
  <Words>686</Words>
  <Application>Microsoft Macintosh PowerPoint</Application>
  <PresentationFormat>On-screen Show (4:3)</PresentationFormat>
  <Paragraphs>111</Paragraphs>
  <Slides>32</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Arial Narrow</vt:lpstr>
      <vt:lpstr>Book Antiqua</vt:lpstr>
      <vt:lpstr>Chalkboard</vt:lpstr>
      <vt:lpstr>Verdana</vt:lpstr>
      <vt:lpstr>Wingdings</vt:lpstr>
      <vt:lpstr>Blank Presentation</vt:lpstr>
      <vt:lpstr> David Hoff Maria Paiewonsky  Institute for Community Inclusion University of Massachusetts, Boston www.communityinclusion.org    </vt:lpstr>
      <vt:lpstr>PowerPoint Presentation</vt:lpstr>
      <vt:lpstr>PowerPoint Presentation</vt:lpstr>
      <vt:lpstr>Universal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Public Policies that Support a Person with a Disability Working with a Job Coach</vt:lpstr>
      <vt:lpstr>PowerPoint Presentation</vt:lpstr>
      <vt:lpstr>PowerPoint Presentation</vt:lpstr>
      <vt:lpstr>Does universal design mean that individual accommodations are no longer necessary?</vt:lpstr>
      <vt:lpstr>Jacqueline McGinty Tips for Creating Inclusive and Accessible Instruction for Adult Learners</vt:lpstr>
      <vt:lpstr>PowerPoint Presentation</vt:lpstr>
      <vt:lpstr>Brainstorming on UD Strategies</vt:lpstr>
      <vt:lpstr>PowerPoint Presentation</vt:lpstr>
      <vt:lpstr>PowerPoint Presentation</vt:lpstr>
      <vt:lpstr>PowerPoint Presentation</vt:lpstr>
      <vt:lpstr>UDL Resources</vt:lpstr>
      <vt:lpstr>PowerPoint Presentation</vt:lpstr>
      <vt:lpstr>Handouts</vt:lpstr>
      <vt:lpstr>Questions, Comments</vt:lpstr>
      <vt:lpstr>“Attitudes are caught,   not taught.”</vt:lpstr>
      <vt:lpstr>PowerPoint Presentation</vt:lpstr>
    </vt:vector>
  </TitlesOfParts>
  <Company>UMass Boston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ICI</dc:creator>
  <cp:lastModifiedBy>David Hoff</cp:lastModifiedBy>
  <cp:revision>105</cp:revision>
  <cp:lastPrinted>2018-02-26T16:40:30Z</cp:lastPrinted>
  <dcterms:created xsi:type="dcterms:W3CDTF">2006-09-27T14:52:23Z</dcterms:created>
  <dcterms:modified xsi:type="dcterms:W3CDTF">2020-01-22T19:10:00Z</dcterms:modified>
</cp:coreProperties>
</file>