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46"/>
  </p:notesMasterIdLst>
  <p:handoutMasterIdLst>
    <p:handoutMasterId r:id="rId47"/>
  </p:handoutMasterIdLst>
  <p:sldIdLst>
    <p:sldId id="281" r:id="rId2"/>
    <p:sldId id="532" r:id="rId3"/>
    <p:sldId id="536" r:id="rId4"/>
    <p:sldId id="537" r:id="rId5"/>
    <p:sldId id="524" r:id="rId6"/>
    <p:sldId id="538" r:id="rId7"/>
    <p:sldId id="539" r:id="rId8"/>
    <p:sldId id="526" r:id="rId9"/>
    <p:sldId id="525" r:id="rId10"/>
    <p:sldId id="485" r:id="rId11"/>
    <p:sldId id="516" r:id="rId12"/>
    <p:sldId id="511" r:id="rId13"/>
    <p:sldId id="268" r:id="rId14"/>
    <p:sldId id="296" r:id="rId15"/>
    <p:sldId id="512" r:id="rId16"/>
    <p:sldId id="302" r:id="rId17"/>
    <p:sldId id="513" r:id="rId18"/>
    <p:sldId id="527" r:id="rId19"/>
    <p:sldId id="528" r:id="rId20"/>
    <p:sldId id="514" r:id="rId21"/>
    <p:sldId id="311" r:id="rId22"/>
    <p:sldId id="515" r:id="rId23"/>
    <p:sldId id="533" r:id="rId24"/>
    <p:sldId id="534" r:id="rId25"/>
    <p:sldId id="520" r:id="rId26"/>
    <p:sldId id="480" r:id="rId27"/>
    <p:sldId id="340" r:id="rId28"/>
    <p:sldId id="501" r:id="rId29"/>
    <p:sldId id="488" r:id="rId30"/>
    <p:sldId id="481" r:id="rId31"/>
    <p:sldId id="490" r:id="rId32"/>
    <p:sldId id="521" r:id="rId33"/>
    <p:sldId id="517" r:id="rId34"/>
    <p:sldId id="518" r:id="rId35"/>
    <p:sldId id="519" r:id="rId36"/>
    <p:sldId id="540" r:id="rId37"/>
    <p:sldId id="497" r:id="rId38"/>
    <p:sldId id="535" r:id="rId39"/>
    <p:sldId id="523" r:id="rId40"/>
    <p:sldId id="522" r:id="rId41"/>
    <p:sldId id="529" r:id="rId42"/>
    <p:sldId id="530" r:id="rId43"/>
    <p:sldId id="312" r:id="rId44"/>
    <p:sldId id="318" r:id="rId45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1pPr>
    <a:lvl2pPr marL="342900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2pPr>
    <a:lvl3pPr marL="685800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3pPr>
    <a:lvl4pPr marL="1028700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4pPr>
    <a:lvl5pPr marL="1371600" algn="l" rtl="0" eaLnBrk="0" fontAlgn="base" hangingPunct="0">
      <a:spcBef>
        <a:spcPct val="0"/>
      </a:spcBef>
      <a:spcAft>
        <a:spcPct val="0"/>
      </a:spcAft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5pPr>
    <a:lvl6pPr marL="1714500" algn="l" defTabSz="685800" rtl="0" eaLnBrk="1" latinLnBrk="0" hangingPunct="1"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6pPr>
    <a:lvl7pPr marL="2057400" algn="l" defTabSz="685800" rtl="0" eaLnBrk="1" latinLnBrk="0" hangingPunct="1"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7pPr>
    <a:lvl8pPr marL="2400300" algn="l" defTabSz="685800" rtl="0" eaLnBrk="1" latinLnBrk="0" hangingPunct="1"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8pPr>
    <a:lvl9pPr marL="2743200" algn="l" defTabSz="685800" rtl="0" eaLnBrk="1" latinLnBrk="0" hangingPunct="1">
      <a:defRPr sz="18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015"/>
    <p:restoredTop sz="93750"/>
  </p:normalViewPr>
  <p:slideViewPr>
    <p:cSldViewPr>
      <p:cViewPr varScale="1">
        <p:scale>
          <a:sx n="151" d="100"/>
          <a:sy n="151" d="100"/>
        </p:scale>
        <p:origin x="153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5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image" Target="../media/image43.svg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image" Target="../media/image43.svg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0D8A35-3AB9-4B22-AD28-05E22C0D9E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69A7909-B577-426C-9249-EC179A249976}">
      <dgm:prSet/>
      <dgm:spPr/>
      <dgm:t>
        <a:bodyPr/>
        <a:lstStyle/>
        <a:p>
          <a:r>
            <a:rPr lang="en-US"/>
            <a:t>Ask student how they best learn and learning preferences</a:t>
          </a:r>
        </a:p>
      </dgm:t>
    </dgm:pt>
    <dgm:pt modelId="{46669219-072B-4461-8AAA-A2BB88ED3763}" type="parTrans" cxnId="{F4BAB781-6CF9-4B12-9026-557C47247EA2}">
      <dgm:prSet/>
      <dgm:spPr/>
      <dgm:t>
        <a:bodyPr/>
        <a:lstStyle/>
        <a:p>
          <a:endParaRPr lang="en-US"/>
        </a:p>
      </dgm:t>
    </dgm:pt>
    <dgm:pt modelId="{3AF4DB4D-7248-4249-B589-3D411F20B45C}" type="sibTrans" cxnId="{F4BAB781-6CF9-4B12-9026-557C47247EA2}">
      <dgm:prSet/>
      <dgm:spPr/>
      <dgm:t>
        <a:bodyPr/>
        <a:lstStyle/>
        <a:p>
          <a:endParaRPr lang="en-US"/>
        </a:p>
      </dgm:t>
    </dgm:pt>
    <dgm:pt modelId="{E239EAD8-0EF9-478E-ADE4-6E91C5C79D12}">
      <dgm:prSet/>
      <dgm:spPr/>
      <dgm:t>
        <a:bodyPr/>
        <a:lstStyle/>
        <a:p>
          <a:r>
            <a:rPr lang="en-US"/>
            <a:t>Previous experience in online learning: successes and challenges</a:t>
          </a:r>
        </a:p>
      </dgm:t>
    </dgm:pt>
    <dgm:pt modelId="{B1C548FB-4718-47DF-8668-64EEF67B6CD4}" type="parTrans" cxnId="{D533112D-1846-41FC-A2B8-83F4D7D5D483}">
      <dgm:prSet/>
      <dgm:spPr/>
      <dgm:t>
        <a:bodyPr/>
        <a:lstStyle/>
        <a:p>
          <a:endParaRPr lang="en-US"/>
        </a:p>
      </dgm:t>
    </dgm:pt>
    <dgm:pt modelId="{F1A883E4-CB0E-4AE7-B5ED-584B4D1A2C60}" type="sibTrans" cxnId="{D533112D-1846-41FC-A2B8-83F4D7D5D483}">
      <dgm:prSet/>
      <dgm:spPr/>
      <dgm:t>
        <a:bodyPr/>
        <a:lstStyle/>
        <a:p>
          <a:endParaRPr lang="en-US"/>
        </a:p>
      </dgm:t>
    </dgm:pt>
    <dgm:pt modelId="{12DA8313-345E-43A0-96C4-F85827991C7A}">
      <dgm:prSet/>
      <dgm:spPr/>
      <dgm:t>
        <a:bodyPr/>
        <a:lstStyle/>
        <a:p>
          <a:r>
            <a:rPr lang="en-US"/>
            <a:t>What tools and strategies have worked best for them</a:t>
          </a:r>
        </a:p>
      </dgm:t>
    </dgm:pt>
    <dgm:pt modelId="{52F7BE07-535C-415E-8B9F-3C1DA4F3C8DA}" type="parTrans" cxnId="{941A1372-64EC-46F9-955F-241FA95B1C23}">
      <dgm:prSet/>
      <dgm:spPr/>
      <dgm:t>
        <a:bodyPr/>
        <a:lstStyle/>
        <a:p>
          <a:endParaRPr lang="en-US"/>
        </a:p>
      </dgm:t>
    </dgm:pt>
    <dgm:pt modelId="{E50134F3-4E7E-4D1D-83B6-FFAE653920A1}" type="sibTrans" cxnId="{941A1372-64EC-46F9-955F-241FA95B1C23}">
      <dgm:prSet/>
      <dgm:spPr/>
      <dgm:t>
        <a:bodyPr/>
        <a:lstStyle/>
        <a:p>
          <a:endParaRPr lang="en-US"/>
        </a:p>
      </dgm:t>
    </dgm:pt>
    <dgm:pt modelId="{BC6CDE23-0CF2-4F9B-ADC0-F9B8A3852C5F}">
      <dgm:prSet/>
      <dgm:spPr/>
      <dgm:t>
        <a:bodyPr/>
        <a:lstStyle/>
        <a:p>
          <a:r>
            <a:rPr lang="en-US"/>
            <a:t>Supports needed to succeed</a:t>
          </a:r>
        </a:p>
      </dgm:t>
    </dgm:pt>
    <dgm:pt modelId="{DDF40C3C-DED4-442E-AF6A-64BAD8F65A0B}" type="parTrans" cxnId="{93669862-6A21-4D2B-B1E5-5F7E1AFBECB6}">
      <dgm:prSet/>
      <dgm:spPr/>
      <dgm:t>
        <a:bodyPr/>
        <a:lstStyle/>
        <a:p>
          <a:endParaRPr lang="en-US"/>
        </a:p>
      </dgm:t>
    </dgm:pt>
    <dgm:pt modelId="{1B6B92BE-DD53-4DA9-8D53-36CE9B5E07CE}" type="sibTrans" cxnId="{93669862-6A21-4D2B-B1E5-5F7E1AFBECB6}">
      <dgm:prSet/>
      <dgm:spPr/>
      <dgm:t>
        <a:bodyPr/>
        <a:lstStyle/>
        <a:p>
          <a:endParaRPr lang="en-US"/>
        </a:p>
      </dgm:t>
    </dgm:pt>
    <dgm:pt modelId="{599F5D10-9DB2-4124-AB5E-C14ECA647CDF}">
      <dgm:prSet/>
      <dgm:spPr/>
      <dgm:t>
        <a:bodyPr/>
        <a:lstStyle/>
        <a:p>
          <a:r>
            <a:rPr lang="en-US"/>
            <a:t>Have student develop list of which online learning strategies best support their strengths and needs</a:t>
          </a:r>
        </a:p>
      </dgm:t>
    </dgm:pt>
    <dgm:pt modelId="{5EA8E053-D219-4939-9928-92B28F56888B}" type="parTrans" cxnId="{C984B46C-D778-4CDD-BEF3-0E6F8902CEF5}">
      <dgm:prSet/>
      <dgm:spPr/>
      <dgm:t>
        <a:bodyPr/>
        <a:lstStyle/>
        <a:p>
          <a:endParaRPr lang="en-US"/>
        </a:p>
      </dgm:t>
    </dgm:pt>
    <dgm:pt modelId="{1ED6E153-B70F-4395-92CE-1F5CF552FA13}" type="sibTrans" cxnId="{C984B46C-D778-4CDD-BEF3-0E6F8902CEF5}">
      <dgm:prSet/>
      <dgm:spPr/>
      <dgm:t>
        <a:bodyPr/>
        <a:lstStyle/>
        <a:p>
          <a:endParaRPr lang="en-US"/>
        </a:p>
      </dgm:t>
    </dgm:pt>
    <dgm:pt modelId="{ED4112C6-A265-4FBF-93B4-35EB0732623B}">
      <dgm:prSet/>
      <dgm:spPr/>
      <dgm:t>
        <a:bodyPr/>
        <a:lstStyle/>
        <a:p>
          <a:r>
            <a:rPr lang="en-US"/>
            <a:t>Partner with student to co-create strategies for online learning</a:t>
          </a:r>
        </a:p>
      </dgm:t>
    </dgm:pt>
    <dgm:pt modelId="{0A2F6CBD-B687-4E77-9F1E-9D9C5DF1042E}" type="parTrans" cxnId="{A2D4240B-B081-4BED-95C0-D3170E5708F1}">
      <dgm:prSet/>
      <dgm:spPr/>
      <dgm:t>
        <a:bodyPr/>
        <a:lstStyle/>
        <a:p>
          <a:endParaRPr lang="en-US"/>
        </a:p>
      </dgm:t>
    </dgm:pt>
    <dgm:pt modelId="{1C9D6E9F-AC85-4E7E-AA2E-4443CDFE694D}" type="sibTrans" cxnId="{A2D4240B-B081-4BED-95C0-D3170E5708F1}">
      <dgm:prSet/>
      <dgm:spPr/>
      <dgm:t>
        <a:bodyPr/>
        <a:lstStyle/>
        <a:p>
          <a:endParaRPr lang="en-US"/>
        </a:p>
      </dgm:t>
    </dgm:pt>
    <dgm:pt modelId="{F0177715-98E2-4F71-B8A7-98F46DF16CDF}" type="pres">
      <dgm:prSet presAssocID="{570D8A35-3AB9-4B22-AD28-05E22C0D9E67}" presName="root" presStyleCnt="0">
        <dgm:presLayoutVars>
          <dgm:dir/>
          <dgm:resizeHandles val="exact"/>
        </dgm:presLayoutVars>
      </dgm:prSet>
      <dgm:spPr/>
    </dgm:pt>
    <dgm:pt modelId="{006BD386-C204-4BFF-A8D7-4D12CA6265E2}" type="pres">
      <dgm:prSet presAssocID="{069A7909-B577-426C-9249-EC179A249976}" presName="compNode" presStyleCnt="0"/>
      <dgm:spPr/>
    </dgm:pt>
    <dgm:pt modelId="{C592B5E4-611F-4C6A-89A3-83E7E454AB73}" type="pres">
      <dgm:prSet presAssocID="{069A7909-B577-426C-9249-EC179A249976}" presName="bgRect" presStyleLbl="bgShp" presStyleIdx="0" presStyleCnt="6"/>
      <dgm:spPr/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2A3D953F-4F09-4ED4-B2CA-89EDBDA32731}" type="pres">
      <dgm:prSet presAssocID="{069A7909-B577-426C-9249-EC179A24997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C17765-EC9B-484E-9F2C-CC3062A749BC}" type="pres">
      <dgm:prSet presAssocID="{069A7909-B577-426C-9249-EC179A249976}" presName="spaceRect" presStyleCnt="0"/>
      <dgm:spPr/>
    </dgm:pt>
    <dgm:pt modelId="{A92272EE-5046-4138-A2C0-26F3D7F74274}" type="pres">
      <dgm:prSet presAssocID="{069A7909-B577-426C-9249-EC179A249976}" presName="parTx" presStyleLbl="revTx" presStyleIdx="0" presStyleCnt="6">
        <dgm:presLayoutVars>
          <dgm:chMax val="0"/>
          <dgm:chPref val="0"/>
        </dgm:presLayoutVars>
      </dgm:prSet>
      <dgm:spPr/>
    </dgm:pt>
    <dgm:pt modelId="{6D5C0997-135A-481F-B0D8-65104A0791AD}" type="pres">
      <dgm:prSet presAssocID="{3AF4DB4D-7248-4249-B589-3D411F20B45C}" presName="sibTrans" presStyleCnt="0"/>
      <dgm:spPr/>
    </dgm:pt>
    <dgm:pt modelId="{6977D292-2C85-41D3-8517-3437F593E880}" type="pres">
      <dgm:prSet presAssocID="{E239EAD8-0EF9-478E-ADE4-6E91C5C79D12}" presName="compNode" presStyleCnt="0"/>
      <dgm:spPr/>
    </dgm:pt>
    <dgm:pt modelId="{FBDE29DF-6950-4060-8BCA-D55919BF817C}" type="pres">
      <dgm:prSet presAssocID="{E239EAD8-0EF9-478E-ADE4-6E91C5C79D12}" presName="bgRect" presStyleLbl="bgShp" presStyleIdx="1" presStyleCnt="6"/>
      <dgm:spPr/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D306C73A-6441-487C-88B2-7E794DB48994}" type="pres">
      <dgm:prSet presAssocID="{E239EAD8-0EF9-478E-ADE4-6E91C5C79D1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oting star"/>
        </a:ext>
      </dgm:extLst>
    </dgm:pt>
    <dgm:pt modelId="{7EB257E6-7D19-48FD-B13F-3D7216E4EB18}" type="pres">
      <dgm:prSet presAssocID="{E239EAD8-0EF9-478E-ADE4-6E91C5C79D12}" presName="spaceRect" presStyleCnt="0"/>
      <dgm:spPr/>
    </dgm:pt>
    <dgm:pt modelId="{66810800-AA70-4DF8-A1F4-6A15F0084123}" type="pres">
      <dgm:prSet presAssocID="{E239EAD8-0EF9-478E-ADE4-6E91C5C79D12}" presName="parTx" presStyleLbl="revTx" presStyleIdx="1" presStyleCnt="6">
        <dgm:presLayoutVars>
          <dgm:chMax val="0"/>
          <dgm:chPref val="0"/>
        </dgm:presLayoutVars>
      </dgm:prSet>
      <dgm:spPr/>
    </dgm:pt>
    <dgm:pt modelId="{711F6BBB-FD2A-4F27-BE80-391C4AB17FAB}" type="pres">
      <dgm:prSet presAssocID="{F1A883E4-CB0E-4AE7-B5ED-584B4D1A2C60}" presName="sibTrans" presStyleCnt="0"/>
      <dgm:spPr/>
    </dgm:pt>
    <dgm:pt modelId="{8354BAC6-9F22-4E88-BA67-36D34CB89EE0}" type="pres">
      <dgm:prSet presAssocID="{12DA8313-345E-43A0-96C4-F85827991C7A}" presName="compNode" presStyleCnt="0"/>
      <dgm:spPr/>
    </dgm:pt>
    <dgm:pt modelId="{8F8CA959-5886-4892-B010-4908BED693AC}" type="pres">
      <dgm:prSet presAssocID="{12DA8313-345E-43A0-96C4-F85827991C7A}" presName="bgRect" presStyleLbl="bgShp" presStyleIdx="2" presStyleCnt="6"/>
      <dgm:spPr/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2C846151-F036-4A93-9FA0-2AEAD0033CD7}" type="pres">
      <dgm:prSet presAssocID="{12DA8313-345E-43A0-96C4-F85827991C7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013DB04-330E-4125-BA5D-CEDBB698B44D}" type="pres">
      <dgm:prSet presAssocID="{12DA8313-345E-43A0-96C4-F85827991C7A}" presName="spaceRect" presStyleCnt="0"/>
      <dgm:spPr/>
    </dgm:pt>
    <dgm:pt modelId="{93B8A3F6-800C-4B55-B3B2-89EC9488487F}" type="pres">
      <dgm:prSet presAssocID="{12DA8313-345E-43A0-96C4-F85827991C7A}" presName="parTx" presStyleLbl="revTx" presStyleIdx="2" presStyleCnt="6">
        <dgm:presLayoutVars>
          <dgm:chMax val="0"/>
          <dgm:chPref val="0"/>
        </dgm:presLayoutVars>
      </dgm:prSet>
      <dgm:spPr/>
    </dgm:pt>
    <dgm:pt modelId="{30A3D825-079F-48BC-AD36-B698CD196FC3}" type="pres">
      <dgm:prSet presAssocID="{E50134F3-4E7E-4D1D-83B6-FFAE653920A1}" presName="sibTrans" presStyleCnt="0"/>
      <dgm:spPr/>
    </dgm:pt>
    <dgm:pt modelId="{3DCFD6B2-F326-4A7F-9E7B-70B109EF619C}" type="pres">
      <dgm:prSet presAssocID="{BC6CDE23-0CF2-4F9B-ADC0-F9B8A3852C5F}" presName="compNode" presStyleCnt="0"/>
      <dgm:spPr/>
    </dgm:pt>
    <dgm:pt modelId="{A2E6709E-CBD6-457E-8AB7-6A61C57484A0}" type="pres">
      <dgm:prSet presAssocID="{BC6CDE23-0CF2-4F9B-ADC0-F9B8A3852C5F}" presName="bgRect" presStyleLbl="bgShp" presStyleIdx="3" presStyleCnt="6"/>
      <dgm:spPr/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B6611FD8-1C88-48D3-98DC-9E310AB26CD6}" type="pres">
      <dgm:prSet presAssocID="{BC6CDE23-0CF2-4F9B-ADC0-F9B8A3852C5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6D42799-F439-43F5-A912-52BBB2BEBC76}" type="pres">
      <dgm:prSet presAssocID="{BC6CDE23-0CF2-4F9B-ADC0-F9B8A3852C5F}" presName="spaceRect" presStyleCnt="0"/>
      <dgm:spPr/>
    </dgm:pt>
    <dgm:pt modelId="{78CD760B-F398-4654-A7B6-F12E3F7430ED}" type="pres">
      <dgm:prSet presAssocID="{BC6CDE23-0CF2-4F9B-ADC0-F9B8A3852C5F}" presName="parTx" presStyleLbl="revTx" presStyleIdx="3" presStyleCnt="6">
        <dgm:presLayoutVars>
          <dgm:chMax val="0"/>
          <dgm:chPref val="0"/>
        </dgm:presLayoutVars>
      </dgm:prSet>
      <dgm:spPr/>
    </dgm:pt>
    <dgm:pt modelId="{E7155219-42A8-4938-BCD6-2CB0E150F904}" type="pres">
      <dgm:prSet presAssocID="{1B6B92BE-DD53-4DA9-8D53-36CE9B5E07CE}" presName="sibTrans" presStyleCnt="0"/>
      <dgm:spPr/>
    </dgm:pt>
    <dgm:pt modelId="{479ED4DC-1C83-4848-95AE-D00696D70A3C}" type="pres">
      <dgm:prSet presAssocID="{599F5D10-9DB2-4124-AB5E-C14ECA647CDF}" presName="compNode" presStyleCnt="0"/>
      <dgm:spPr/>
    </dgm:pt>
    <dgm:pt modelId="{E8A27CBD-88F2-4424-AEE0-BEB64650F34A}" type="pres">
      <dgm:prSet presAssocID="{599F5D10-9DB2-4124-AB5E-C14ECA647CDF}" presName="bgRect" presStyleLbl="bgShp" presStyleIdx="4" presStyleCnt="6"/>
      <dgm:spPr/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4768D4CB-3216-44ED-9F2F-3E92836837DA}" type="pres">
      <dgm:prSet presAssocID="{599F5D10-9DB2-4124-AB5E-C14ECA647CD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AB95FA0-B580-4F6A-AE45-FD27112A7D99}" type="pres">
      <dgm:prSet presAssocID="{599F5D10-9DB2-4124-AB5E-C14ECA647CDF}" presName="spaceRect" presStyleCnt="0"/>
      <dgm:spPr/>
    </dgm:pt>
    <dgm:pt modelId="{906C5C92-6B9F-4EDF-82CB-C8D7B90A9C2D}" type="pres">
      <dgm:prSet presAssocID="{599F5D10-9DB2-4124-AB5E-C14ECA647CDF}" presName="parTx" presStyleLbl="revTx" presStyleIdx="4" presStyleCnt="6">
        <dgm:presLayoutVars>
          <dgm:chMax val="0"/>
          <dgm:chPref val="0"/>
        </dgm:presLayoutVars>
      </dgm:prSet>
      <dgm:spPr/>
    </dgm:pt>
    <dgm:pt modelId="{8E745EE9-6038-4F73-8544-688B056C81D8}" type="pres">
      <dgm:prSet presAssocID="{1ED6E153-B70F-4395-92CE-1F5CF552FA13}" presName="sibTrans" presStyleCnt="0"/>
      <dgm:spPr/>
    </dgm:pt>
    <dgm:pt modelId="{3638C150-BA8C-4BDF-85F4-E07D235E72F0}" type="pres">
      <dgm:prSet presAssocID="{ED4112C6-A265-4FBF-93B4-35EB0732623B}" presName="compNode" presStyleCnt="0"/>
      <dgm:spPr/>
    </dgm:pt>
    <dgm:pt modelId="{40311DEF-F641-4EB2-8994-6EA52E2E3D95}" type="pres">
      <dgm:prSet presAssocID="{ED4112C6-A265-4FBF-93B4-35EB0732623B}" presName="bgRect" presStyleLbl="bgShp" presStyleIdx="5" presStyleCnt="6"/>
      <dgm:spPr/>
      <dgm:extLst>
        <a:ext uri="{E40237B7-FDA0-4F09-8148-C483321AD2D9}">
          <dgm14:cNvPr xmlns:dgm14="http://schemas.microsoft.com/office/drawing/2010/diagram" id="0" name="">
            <a:extLst>
              <a:ext uri="{C183D7F6-B498-43B3-948B-1728B52AA6E4}">
                <adec:decorative xmlns:adec="http://schemas.microsoft.com/office/drawing/2017/decorative" val="1"/>
              </a:ext>
            </a:extLst>
          </dgm14:cNvPr>
        </a:ext>
      </dgm:extLst>
    </dgm:pt>
    <dgm:pt modelId="{3EFC6DFF-B18A-4F95-9C87-D4C5440FA2E2}" type="pres">
      <dgm:prSet presAssocID="{ED4112C6-A265-4FBF-93B4-35EB0732623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5F4EBDF-EFD5-44E3-BA04-3AD8496F0FE3}" type="pres">
      <dgm:prSet presAssocID="{ED4112C6-A265-4FBF-93B4-35EB0732623B}" presName="spaceRect" presStyleCnt="0"/>
      <dgm:spPr/>
    </dgm:pt>
    <dgm:pt modelId="{84881A51-C303-4C2A-96D4-630C41E584FA}" type="pres">
      <dgm:prSet presAssocID="{ED4112C6-A265-4FBF-93B4-35EB0732623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2D4240B-B081-4BED-95C0-D3170E5708F1}" srcId="{570D8A35-3AB9-4B22-AD28-05E22C0D9E67}" destId="{ED4112C6-A265-4FBF-93B4-35EB0732623B}" srcOrd="5" destOrd="0" parTransId="{0A2F6CBD-B687-4E77-9F1E-9D9C5DF1042E}" sibTransId="{1C9D6E9F-AC85-4E7E-AA2E-4443CDFE694D}"/>
    <dgm:cxn modelId="{D533112D-1846-41FC-A2B8-83F4D7D5D483}" srcId="{570D8A35-3AB9-4B22-AD28-05E22C0D9E67}" destId="{E239EAD8-0EF9-478E-ADE4-6E91C5C79D12}" srcOrd="1" destOrd="0" parTransId="{B1C548FB-4718-47DF-8668-64EEF67B6CD4}" sibTransId="{F1A883E4-CB0E-4AE7-B5ED-584B4D1A2C60}"/>
    <dgm:cxn modelId="{05A80A62-FB4B-47FC-9C64-4D8E56BBD851}" type="presOf" srcId="{570D8A35-3AB9-4B22-AD28-05E22C0D9E67}" destId="{F0177715-98E2-4F71-B8A7-98F46DF16CDF}" srcOrd="0" destOrd="0" presId="urn:microsoft.com/office/officeart/2018/2/layout/IconVerticalSolidList"/>
    <dgm:cxn modelId="{93669862-6A21-4D2B-B1E5-5F7E1AFBECB6}" srcId="{570D8A35-3AB9-4B22-AD28-05E22C0D9E67}" destId="{BC6CDE23-0CF2-4F9B-ADC0-F9B8A3852C5F}" srcOrd="3" destOrd="0" parTransId="{DDF40C3C-DED4-442E-AF6A-64BAD8F65A0B}" sibTransId="{1B6B92BE-DD53-4DA9-8D53-36CE9B5E07CE}"/>
    <dgm:cxn modelId="{C984B46C-D778-4CDD-BEF3-0E6F8902CEF5}" srcId="{570D8A35-3AB9-4B22-AD28-05E22C0D9E67}" destId="{599F5D10-9DB2-4124-AB5E-C14ECA647CDF}" srcOrd="4" destOrd="0" parTransId="{5EA8E053-D219-4939-9928-92B28F56888B}" sibTransId="{1ED6E153-B70F-4395-92CE-1F5CF552FA13}"/>
    <dgm:cxn modelId="{4315146E-F85B-4E4E-98A8-5EBE1606958B}" type="presOf" srcId="{599F5D10-9DB2-4124-AB5E-C14ECA647CDF}" destId="{906C5C92-6B9F-4EDF-82CB-C8D7B90A9C2D}" srcOrd="0" destOrd="0" presId="urn:microsoft.com/office/officeart/2018/2/layout/IconVerticalSolidList"/>
    <dgm:cxn modelId="{941A1372-64EC-46F9-955F-241FA95B1C23}" srcId="{570D8A35-3AB9-4B22-AD28-05E22C0D9E67}" destId="{12DA8313-345E-43A0-96C4-F85827991C7A}" srcOrd="2" destOrd="0" parTransId="{52F7BE07-535C-415E-8B9F-3C1DA4F3C8DA}" sibTransId="{E50134F3-4E7E-4D1D-83B6-FFAE653920A1}"/>
    <dgm:cxn modelId="{F4BAB781-6CF9-4B12-9026-557C47247EA2}" srcId="{570D8A35-3AB9-4B22-AD28-05E22C0D9E67}" destId="{069A7909-B577-426C-9249-EC179A249976}" srcOrd="0" destOrd="0" parTransId="{46669219-072B-4461-8AAA-A2BB88ED3763}" sibTransId="{3AF4DB4D-7248-4249-B589-3D411F20B45C}"/>
    <dgm:cxn modelId="{5603999B-9580-49F5-91F8-87A77B20B9BA}" type="presOf" srcId="{BC6CDE23-0CF2-4F9B-ADC0-F9B8A3852C5F}" destId="{78CD760B-F398-4654-A7B6-F12E3F7430ED}" srcOrd="0" destOrd="0" presId="urn:microsoft.com/office/officeart/2018/2/layout/IconVerticalSolidList"/>
    <dgm:cxn modelId="{DC9726BD-D1BD-4F96-B6DE-AAD04EA36E95}" type="presOf" srcId="{12DA8313-345E-43A0-96C4-F85827991C7A}" destId="{93B8A3F6-800C-4B55-B3B2-89EC9488487F}" srcOrd="0" destOrd="0" presId="urn:microsoft.com/office/officeart/2018/2/layout/IconVerticalSolidList"/>
    <dgm:cxn modelId="{32A53FBD-8AE9-4373-8A8A-BE5E4A26DDA0}" type="presOf" srcId="{ED4112C6-A265-4FBF-93B4-35EB0732623B}" destId="{84881A51-C303-4C2A-96D4-630C41E584FA}" srcOrd="0" destOrd="0" presId="urn:microsoft.com/office/officeart/2018/2/layout/IconVerticalSolidList"/>
    <dgm:cxn modelId="{890CCDC8-4CBB-4F47-9FC4-1F48E7FD0706}" type="presOf" srcId="{E239EAD8-0EF9-478E-ADE4-6E91C5C79D12}" destId="{66810800-AA70-4DF8-A1F4-6A15F0084123}" srcOrd="0" destOrd="0" presId="urn:microsoft.com/office/officeart/2018/2/layout/IconVerticalSolidList"/>
    <dgm:cxn modelId="{795DAAFE-2029-4819-BF4E-B126928692BC}" type="presOf" srcId="{069A7909-B577-426C-9249-EC179A249976}" destId="{A92272EE-5046-4138-A2C0-26F3D7F74274}" srcOrd="0" destOrd="0" presId="urn:microsoft.com/office/officeart/2018/2/layout/IconVerticalSolidList"/>
    <dgm:cxn modelId="{EB3EFC4C-6A82-426A-AADF-E0B4BD2794CD}" type="presParOf" srcId="{F0177715-98E2-4F71-B8A7-98F46DF16CDF}" destId="{006BD386-C204-4BFF-A8D7-4D12CA6265E2}" srcOrd="0" destOrd="0" presId="urn:microsoft.com/office/officeart/2018/2/layout/IconVerticalSolidList"/>
    <dgm:cxn modelId="{C20014B8-88CC-4B68-BA10-E381432EA970}" type="presParOf" srcId="{006BD386-C204-4BFF-A8D7-4D12CA6265E2}" destId="{C592B5E4-611F-4C6A-89A3-83E7E454AB73}" srcOrd="0" destOrd="0" presId="urn:microsoft.com/office/officeart/2018/2/layout/IconVerticalSolidList"/>
    <dgm:cxn modelId="{5689187D-FDBA-4BE2-9E4D-3AA42B4E184A}" type="presParOf" srcId="{006BD386-C204-4BFF-A8D7-4D12CA6265E2}" destId="{2A3D953F-4F09-4ED4-B2CA-89EDBDA32731}" srcOrd="1" destOrd="0" presId="urn:microsoft.com/office/officeart/2018/2/layout/IconVerticalSolidList"/>
    <dgm:cxn modelId="{3E21ADB7-C762-47FD-8B95-193F9E936D7F}" type="presParOf" srcId="{006BD386-C204-4BFF-A8D7-4D12CA6265E2}" destId="{02C17765-EC9B-484E-9F2C-CC3062A749BC}" srcOrd="2" destOrd="0" presId="urn:microsoft.com/office/officeart/2018/2/layout/IconVerticalSolidList"/>
    <dgm:cxn modelId="{8684FBF0-EF68-4682-B038-80563F0F9740}" type="presParOf" srcId="{006BD386-C204-4BFF-A8D7-4D12CA6265E2}" destId="{A92272EE-5046-4138-A2C0-26F3D7F74274}" srcOrd="3" destOrd="0" presId="urn:microsoft.com/office/officeart/2018/2/layout/IconVerticalSolidList"/>
    <dgm:cxn modelId="{E08BF775-09F4-462C-986C-9BC0B275E0B9}" type="presParOf" srcId="{F0177715-98E2-4F71-B8A7-98F46DF16CDF}" destId="{6D5C0997-135A-481F-B0D8-65104A0791AD}" srcOrd="1" destOrd="0" presId="urn:microsoft.com/office/officeart/2018/2/layout/IconVerticalSolidList"/>
    <dgm:cxn modelId="{1229DD79-3CA2-44D0-80C8-C52C663069EE}" type="presParOf" srcId="{F0177715-98E2-4F71-B8A7-98F46DF16CDF}" destId="{6977D292-2C85-41D3-8517-3437F593E880}" srcOrd="2" destOrd="0" presId="urn:microsoft.com/office/officeart/2018/2/layout/IconVerticalSolidList"/>
    <dgm:cxn modelId="{E2211DD4-D9A4-42C3-8EA4-9D82C13708D3}" type="presParOf" srcId="{6977D292-2C85-41D3-8517-3437F593E880}" destId="{FBDE29DF-6950-4060-8BCA-D55919BF817C}" srcOrd="0" destOrd="0" presId="urn:microsoft.com/office/officeart/2018/2/layout/IconVerticalSolidList"/>
    <dgm:cxn modelId="{779C91A3-718C-42D6-B35F-0548A7416696}" type="presParOf" srcId="{6977D292-2C85-41D3-8517-3437F593E880}" destId="{D306C73A-6441-487C-88B2-7E794DB48994}" srcOrd="1" destOrd="0" presId="urn:microsoft.com/office/officeart/2018/2/layout/IconVerticalSolidList"/>
    <dgm:cxn modelId="{4DF9F2FC-35ED-447B-AA91-631270418707}" type="presParOf" srcId="{6977D292-2C85-41D3-8517-3437F593E880}" destId="{7EB257E6-7D19-48FD-B13F-3D7216E4EB18}" srcOrd="2" destOrd="0" presId="urn:microsoft.com/office/officeart/2018/2/layout/IconVerticalSolidList"/>
    <dgm:cxn modelId="{4C226EA9-04F7-49E0-973C-5F37A3362238}" type="presParOf" srcId="{6977D292-2C85-41D3-8517-3437F593E880}" destId="{66810800-AA70-4DF8-A1F4-6A15F0084123}" srcOrd="3" destOrd="0" presId="urn:microsoft.com/office/officeart/2018/2/layout/IconVerticalSolidList"/>
    <dgm:cxn modelId="{D9C4AAD2-3ACE-4D34-BF9A-44E8EFE52D0D}" type="presParOf" srcId="{F0177715-98E2-4F71-B8A7-98F46DF16CDF}" destId="{711F6BBB-FD2A-4F27-BE80-391C4AB17FAB}" srcOrd="3" destOrd="0" presId="urn:microsoft.com/office/officeart/2018/2/layout/IconVerticalSolidList"/>
    <dgm:cxn modelId="{E7DA3078-B0F9-4717-86F2-A935C179F0FD}" type="presParOf" srcId="{F0177715-98E2-4F71-B8A7-98F46DF16CDF}" destId="{8354BAC6-9F22-4E88-BA67-36D34CB89EE0}" srcOrd="4" destOrd="0" presId="urn:microsoft.com/office/officeart/2018/2/layout/IconVerticalSolidList"/>
    <dgm:cxn modelId="{569DBD03-A3CB-4A15-9E9A-9920D622292F}" type="presParOf" srcId="{8354BAC6-9F22-4E88-BA67-36D34CB89EE0}" destId="{8F8CA959-5886-4892-B010-4908BED693AC}" srcOrd="0" destOrd="0" presId="urn:microsoft.com/office/officeart/2018/2/layout/IconVerticalSolidList"/>
    <dgm:cxn modelId="{151CC57B-60BA-4385-A1F4-EFFF33ED2FA4}" type="presParOf" srcId="{8354BAC6-9F22-4E88-BA67-36D34CB89EE0}" destId="{2C846151-F036-4A93-9FA0-2AEAD0033CD7}" srcOrd="1" destOrd="0" presId="urn:microsoft.com/office/officeart/2018/2/layout/IconVerticalSolidList"/>
    <dgm:cxn modelId="{1FD1FC3B-2FBD-4FFA-A9B4-93BCB978218B}" type="presParOf" srcId="{8354BAC6-9F22-4E88-BA67-36D34CB89EE0}" destId="{E013DB04-330E-4125-BA5D-CEDBB698B44D}" srcOrd="2" destOrd="0" presId="urn:microsoft.com/office/officeart/2018/2/layout/IconVerticalSolidList"/>
    <dgm:cxn modelId="{E33A82F3-D679-4162-9B20-959A53055D5A}" type="presParOf" srcId="{8354BAC6-9F22-4E88-BA67-36D34CB89EE0}" destId="{93B8A3F6-800C-4B55-B3B2-89EC9488487F}" srcOrd="3" destOrd="0" presId="urn:microsoft.com/office/officeart/2018/2/layout/IconVerticalSolidList"/>
    <dgm:cxn modelId="{3C09231D-E0EB-4B35-BF39-F5351194E8A5}" type="presParOf" srcId="{F0177715-98E2-4F71-B8A7-98F46DF16CDF}" destId="{30A3D825-079F-48BC-AD36-B698CD196FC3}" srcOrd="5" destOrd="0" presId="urn:microsoft.com/office/officeart/2018/2/layout/IconVerticalSolidList"/>
    <dgm:cxn modelId="{A44DDDF3-8D8E-440A-BF2E-C36B98DEACA5}" type="presParOf" srcId="{F0177715-98E2-4F71-B8A7-98F46DF16CDF}" destId="{3DCFD6B2-F326-4A7F-9E7B-70B109EF619C}" srcOrd="6" destOrd="0" presId="urn:microsoft.com/office/officeart/2018/2/layout/IconVerticalSolidList"/>
    <dgm:cxn modelId="{64518EB9-6D13-4A99-A09C-A0477CD3287A}" type="presParOf" srcId="{3DCFD6B2-F326-4A7F-9E7B-70B109EF619C}" destId="{A2E6709E-CBD6-457E-8AB7-6A61C57484A0}" srcOrd="0" destOrd="0" presId="urn:microsoft.com/office/officeart/2018/2/layout/IconVerticalSolidList"/>
    <dgm:cxn modelId="{BCCDA053-EC55-40AC-B4B0-752138D30B1F}" type="presParOf" srcId="{3DCFD6B2-F326-4A7F-9E7B-70B109EF619C}" destId="{B6611FD8-1C88-48D3-98DC-9E310AB26CD6}" srcOrd="1" destOrd="0" presId="urn:microsoft.com/office/officeart/2018/2/layout/IconVerticalSolidList"/>
    <dgm:cxn modelId="{8F2A2661-5C79-45A7-9896-3513CB5B5D86}" type="presParOf" srcId="{3DCFD6B2-F326-4A7F-9E7B-70B109EF619C}" destId="{56D42799-F439-43F5-A912-52BBB2BEBC76}" srcOrd="2" destOrd="0" presId="urn:microsoft.com/office/officeart/2018/2/layout/IconVerticalSolidList"/>
    <dgm:cxn modelId="{CE4998F5-4B0D-4ACD-A8C9-233E21CB5BFC}" type="presParOf" srcId="{3DCFD6B2-F326-4A7F-9E7B-70B109EF619C}" destId="{78CD760B-F398-4654-A7B6-F12E3F7430ED}" srcOrd="3" destOrd="0" presId="urn:microsoft.com/office/officeart/2018/2/layout/IconVerticalSolidList"/>
    <dgm:cxn modelId="{3B690143-4363-4F53-A8F3-EAEE54084BF6}" type="presParOf" srcId="{F0177715-98E2-4F71-B8A7-98F46DF16CDF}" destId="{E7155219-42A8-4938-BCD6-2CB0E150F904}" srcOrd="7" destOrd="0" presId="urn:microsoft.com/office/officeart/2018/2/layout/IconVerticalSolidList"/>
    <dgm:cxn modelId="{C77126BE-57A2-4B5A-82C8-A85E3B2B14EA}" type="presParOf" srcId="{F0177715-98E2-4F71-B8A7-98F46DF16CDF}" destId="{479ED4DC-1C83-4848-95AE-D00696D70A3C}" srcOrd="8" destOrd="0" presId="urn:microsoft.com/office/officeart/2018/2/layout/IconVerticalSolidList"/>
    <dgm:cxn modelId="{69816C82-EFBD-4B36-A619-470C9AB944C1}" type="presParOf" srcId="{479ED4DC-1C83-4848-95AE-D00696D70A3C}" destId="{E8A27CBD-88F2-4424-AEE0-BEB64650F34A}" srcOrd="0" destOrd="0" presId="urn:microsoft.com/office/officeart/2018/2/layout/IconVerticalSolidList"/>
    <dgm:cxn modelId="{59E95054-97D1-44D2-97DC-FC11D59D97EA}" type="presParOf" srcId="{479ED4DC-1C83-4848-95AE-D00696D70A3C}" destId="{4768D4CB-3216-44ED-9F2F-3E92836837DA}" srcOrd="1" destOrd="0" presId="urn:microsoft.com/office/officeart/2018/2/layout/IconVerticalSolidList"/>
    <dgm:cxn modelId="{3AD41E5D-0473-4D63-8A91-671FF49D9440}" type="presParOf" srcId="{479ED4DC-1C83-4848-95AE-D00696D70A3C}" destId="{FAB95FA0-B580-4F6A-AE45-FD27112A7D99}" srcOrd="2" destOrd="0" presId="urn:microsoft.com/office/officeart/2018/2/layout/IconVerticalSolidList"/>
    <dgm:cxn modelId="{0907E0C4-6125-468E-817C-BFE9C8C7B677}" type="presParOf" srcId="{479ED4DC-1C83-4848-95AE-D00696D70A3C}" destId="{906C5C92-6B9F-4EDF-82CB-C8D7B90A9C2D}" srcOrd="3" destOrd="0" presId="urn:microsoft.com/office/officeart/2018/2/layout/IconVerticalSolidList"/>
    <dgm:cxn modelId="{A4A6C22B-9C37-4ED5-8A1D-7DA291FF8947}" type="presParOf" srcId="{F0177715-98E2-4F71-B8A7-98F46DF16CDF}" destId="{8E745EE9-6038-4F73-8544-688B056C81D8}" srcOrd="9" destOrd="0" presId="urn:microsoft.com/office/officeart/2018/2/layout/IconVerticalSolidList"/>
    <dgm:cxn modelId="{418E646E-7013-4C5E-90D5-9B9E26B071B7}" type="presParOf" srcId="{F0177715-98E2-4F71-B8A7-98F46DF16CDF}" destId="{3638C150-BA8C-4BDF-85F4-E07D235E72F0}" srcOrd="10" destOrd="0" presId="urn:microsoft.com/office/officeart/2018/2/layout/IconVerticalSolidList"/>
    <dgm:cxn modelId="{A83BD934-592B-4C6A-A33E-E42F06B5E9BF}" type="presParOf" srcId="{3638C150-BA8C-4BDF-85F4-E07D235E72F0}" destId="{40311DEF-F641-4EB2-8994-6EA52E2E3D95}" srcOrd="0" destOrd="0" presId="urn:microsoft.com/office/officeart/2018/2/layout/IconVerticalSolidList"/>
    <dgm:cxn modelId="{221C0878-A45C-4F28-9193-88CFDBC57F2E}" type="presParOf" srcId="{3638C150-BA8C-4BDF-85F4-E07D235E72F0}" destId="{3EFC6DFF-B18A-4F95-9C87-D4C5440FA2E2}" srcOrd="1" destOrd="0" presId="urn:microsoft.com/office/officeart/2018/2/layout/IconVerticalSolidList"/>
    <dgm:cxn modelId="{4CE64AA4-1C88-464C-B759-014CC26987DD}" type="presParOf" srcId="{3638C150-BA8C-4BDF-85F4-E07D235E72F0}" destId="{45F4EBDF-EFD5-44E3-BA04-3AD8496F0FE3}" srcOrd="2" destOrd="0" presId="urn:microsoft.com/office/officeart/2018/2/layout/IconVerticalSolidList"/>
    <dgm:cxn modelId="{392DC60A-AACC-4629-907C-97756AF34124}" type="presParOf" srcId="{3638C150-BA8C-4BDF-85F4-E07D235E72F0}" destId="{84881A51-C303-4C2A-96D4-630C41E584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2B5E4-611F-4C6A-89A3-83E7E454AB73}">
      <dsp:nvSpPr>
        <dsp:cNvPr id="0" name=""/>
        <dsp:cNvSpPr/>
      </dsp:nvSpPr>
      <dsp:spPr>
        <a:xfrm>
          <a:off x="0" y="1183"/>
          <a:ext cx="8229600" cy="5041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3D953F-4F09-4ED4-B2CA-89EDBDA32731}">
      <dsp:nvSpPr>
        <dsp:cNvPr id="0" name=""/>
        <dsp:cNvSpPr/>
      </dsp:nvSpPr>
      <dsp:spPr>
        <a:xfrm>
          <a:off x="152511" y="114621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64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272EE-5046-4138-A2C0-26F3D7F74274}">
      <dsp:nvSpPr>
        <dsp:cNvPr id="0" name=""/>
        <dsp:cNvSpPr/>
      </dsp:nvSpPr>
      <dsp:spPr>
        <a:xfrm>
          <a:off x="582316" y="1183"/>
          <a:ext cx="76472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Ask student how they best learn and learning preferences</a:t>
          </a:r>
        </a:p>
      </dsp:txBody>
      <dsp:txXfrm>
        <a:off x="582316" y="1183"/>
        <a:ext cx="7647283" cy="504170"/>
      </dsp:txXfrm>
    </dsp:sp>
    <dsp:sp modelId="{FBDE29DF-6950-4060-8BCA-D55919BF817C}">
      <dsp:nvSpPr>
        <dsp:cNvPr id="0" name=""/>
        <dsp:cNvSpPr/>
      </dsp:nvSpPr>
      <dsp:spPr>
        <a:xfrm>
          <a:off x="0" y="631395"/>
          <a:ext cx="8229600" cy="5041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6C73A-6441-487C-88B2-7E794DB48994}">
      <dsp:nvSpPr>
        <dsp:cNvPr id="0" name=""/>
        <dsp:cNvSpPr/>
      </dsp:nvSpPr>
      <dsp:spPr>
        <a:xfrm>
          <a:off x="152511" y="744834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64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10800-AA70-4DF8-A1F4-6A15F0084123}">
      <dsp:nvSpPr>
        <dsp:cNvPr id="0" name=""/>
        <dsp:cNvSpPr/>
      </dsp:nvSpPr>
      <dsp:spPr>
        <a:xfrm>
          <a:off x="582316" y="631395"/>
          <a:ext cx="76472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Previous experience in online learning: successes and challenges</a:t>
          </a:r>
        </a:p>
      </dsp:txBody>
      <dsp:txXfrm>
        <a:off x="582316" y="631395"/>
        <a:ext cx="7647283" cy="504170"/>
      </dsp:txXfrm>
    </dsp:sp>
    <dsp:sp modelId="{8F8CA959-5886-4892-B010-4908BED693AC}">
      <dsp:nvSpPr>
        <dsp:cNvPr id="0" name=""/>
        <dsp:cNvSpPr/>
      </dsp:nvSpPr>
      <dsp:spPr>
        <a:xfrm>
          <a:off x="0" y="1261608"/>
          <a:ext cx="8229600" cy="5041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46151-F036-4A93-9FA0-2AEAD0033CD7}">
      <dsp:nvSpPr>
        <dsp:cNvPr id="0" name=""/>
        <dsp:cNvSpPr/>
      </dsp:nvSpPr>
      <dsp:spPr>
        <a:xfrm>
          <a:off x="152511" y="1375046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64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8A3F6-800C-4B55-B3B2-89EC9488487F}">
      <dsp:nvSpPr>
        <dsp:cNvPr id="0" name=""/>
        <dsp:cNvSpPr/>
      </dsp:nvSpPr>
      <dsp:spPr>
        <a:xfrm>
          <a:off x="582316" y="1261608"/>
          <a:ext cx="76472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What tools and strategies have worked best for them</a:t>
          </a:r>
        </a:p>
      </dsp:txBody>
      <dsp:txXfrm>
        <a:off x="582316" y="1261608"/>
        <a:ext cx="7647283" cy="504170"/>
      </dsp:txXfrm>
    </dsp:sp>
    <dsp:sp modelId="{A2E6709E-CBD6-457E-8AB7-6A61C57484A0}">
      <dsp:nvSpPr>
        <dsp:cNvPr id="0" name=""/>
        <dsp:cNvSpPr/>
      </dsp:nvSpPr>
      <dsp:spPr>
        <a:xfrm>
          <a:off x="0" y="1891821"/>
          <a:ext cx="8229600" cy="5041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11FD8-1C88-48D3-98DC-9E310AB26CD6}">
      <dsp:nvSpPr>
        <dsp:cNvPr id="0" name=""/>
        <dsp:cNvSpPr/>
      </dsp:nvSpPr>
      <dsp:spPr>
        <a:xfrm>
          <a:off x="152511" y="2005259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64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D760B-F398-4654-A7B6-F12E3F7430ED}">
      <dsp:nvSpPr>
        <dsp:cNvPr id="0" name=""/>
        <dsp:cNvSpPr/>
      </dsp:nvSpPr>
      <dsp:spPr>
        <a:xfrm>
          <a:off x="582316" y="1891821"/>
          <a:ext cx="76472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Supports needed to succeed</a:t>
          </a:r>
        </a:p>
      </dsp:txBody>
      <dsp:txXfrm>
        <a:off x="582316" y="1891821"/>
        <a:ext cx="7647283" cy="504170"/>
      </dsp:txXfrm>
    </dsp:sp>
    <dsp:sp modelId="{E8A27CBD-88F2-4424-AEE0-BEB64650F34A}">
      <dsp:nvSpPr>
        <dsp:cNvPr id="0" name=""/>
        <dsp:cNvSpPr/>
      </dsp:nvSpPr>
      <dsp:spPr>
        <a:xfrm>
          <a:off x="0" y="2522033"/>
          <a:ext cx="8229600" cy="5041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8D4CB-3216-44ED-9F2F-3E92836837DA}">
      <dsp:nvSpPr>
        <dsp:cNvPr id="0" name=""/>
        <dsp:cNvSpPr/>
      </dsp:nvSpPr>
      <dsp:spPr>
        <a:xfrm>
          <a:off x="152511" y="2635472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64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C5C92-6B9F-4EDF-82CB-C8D7B90A9C2D}">
      <dsp:nvSpPr>
        <dsp:cNvPr id="0" name=""/>
        <dsp:cNvSpPr/>
      </dsp:nvSpPr>
      <dsp:spPr>
        <a:xfrm>
          <a:off x="582316" y="2522033"/>
          <a:ext cx="76472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Have student develop list of which online learning strategies best support their strengths and needs</a:t>
          </a:r>
        </a:p>
      </dsp:txBody>
      <dsp:txXfrm>
        <a:off x="582316" y="2522033"/>
        <a:ext cx="7647283" cy="504170"/>
      </dsp:txXfrm>
    </dsp:sp>
    <dsp:sp modelId="{40311DEF-F641-4EB2-8994-6EA52E2E3D95}">
      <dsp:nvSpPr>
        <dsp:cNvPr id="0" name=""/>
        <dsp:cNvSpPr/>
      </dsp:nvSpPr>
      <dsp:spPr>
        <a:xfrm>
          <a:off x="0" y="3152246"/>
          <a:ext cx="8229600" cy="5041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C6DFF-B18A-4F95-9C87-D4C5440FA2E2}">
      <dsp:nvSpPr>
        <dsp:cNvPr id="0" name=""/>
        <dsp:cNvSpPr/>
      </dsp:nvSpPr>
      <dsp:spPr>
        <a:xfrm>
          <a:off x="152511" y="3265684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642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81A51-C303-4C2A-96D4-630C41E584FA}">
      <dsp:nvSpPr>
        <dsp:cNvPr id="0" name=""/>
        <dsp:cNvSpPr/>
      </dsp:nvSpPr>
      <dsp:spPr>
        <a:xfrm>
          <a:off x="582316" y="3152246"/>
          <a:ext cx="76472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Partner with student to co-create strategies for online learning</a:t>
          </a:r>
        </a:p>
      </dsp:txBody>
      <dsp:txXfrm>
        <a:off x="582316" y="3152246"/>
        <a:ext cx="7647283" cy="504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8D4C6040-3216-AB4A-B101-59D428F3A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5105400" cy="4032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/>
              <a:t>Disability Rights and Law</a:t>
            </a:r>
            <a:r>
              <a:rPr lang="en-US" sz="1000"/>
              <a:t> - David Hoff, Institute for Community Inclusion</a:t>
            </a:r>
            <a:br>
              <a:rPr lang="en-US" sz="1000"/>
            </a:br>
            <a:r>
              <a:rPr lang="en-US" sz="1000"/>
              <a:t>www.communityinclusion.org; 617-287-4308; david.hoff@umb.edu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7D60287-83B3-4549-BE7C-EF7AEEAC33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0BFD21E-EC7C-C345-9FDB-509701D0B05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Book Antiqua" pitchFamily="-107" charset="0"/>
        <a:ea typeface="ＭＳ Ｐゴシック" charset="0"/>
        <a:cs typeface="ＭＳ Ｐゴシック" charset="0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48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53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378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94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418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64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CDD5A-FEC8-E74B-8A94-9F0DB1AE95A3}"/>
              </a:ext>
            </a:extLst>
          </p:cNvPr>
          <p:cNvCxnSpPr/>
          <p:nvPr/>
        </p:nvCxnSpPr>
        <p:spPr>
          <a:xfrm>
            <a:off x="685800" y="2549130"/>
            <a:ext cx="7848600" cy="119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1"/>
            <a:ext cx="7848600" cy="1445419"/>
          </a:xfrm>
        </p:spPr>
        <p:txBody>
          <a:bodyPr anchor="b">
            <a:noAutofit/>
          </a:bodyPr>
          <a:lstStyle>
            <a:lvl1pPr>
              <a:defRPr sz="405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68660E-8ECE-7144-86DF-87B48A0B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D8DD584-F5C3-CE41-9506-9FD04107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4B42F7-CD5A-8C47-BD96-0545CF8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5E16D9-FAD3-8343-A574-279BC8894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09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BE16-87FB-024F-8667-128DD81B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776A-9A07-4243-88CB-BFF348A2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9894-D723-9B4B-9E60-BE354F05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FECAE-5558-FC4F-A5D5-814DD6134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75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ACA102-DDA1-DC44-A6FC-7A58C154E3F8}"/>
              </a:ext>
            </a:extLst>
          </p:cNvPr>
          <p:cNvCxnSpPr/>
          <p:nvPr/>
        </p:nvCxnSpPr>
        <p:spPr>
          <a:xfrm>
            <a:off x="731838" y="3449242"/>
            <a:ext cx="7848600" cy="119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BD3862-5F17-CF44-8DB4-162A339F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6C0AE4-23CD-D648-B943-B406F109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08E2B5-8975-774E-9099-896EDBE4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851FCD7-60BF-0443-9D82-274D5A41A9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6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DF3B8C-B363-B74C-83EE-8A31D6CC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9E2DE4-AC38-B645-8E19-91AFFA17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131C8C-84EA-1248-82D0-0B3F51EB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FB8D5-209A-354C-A23E-7F23A4B35F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48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B07ED-3669-4B42-81D8-66BBEF2F7F18}"/>
              </a:ext>
            </a:extLst>
          </p:cNvPr>
          <p:cNvCxnSpPr/>
          <p:nvPr/>
        </p:nvCxnSpPr>
        <p:spPr>
          <a:xfrm rot="5400000">
            <a:off x="2807097" y="3034110"/>
            <a:ext cx="353139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9919383-94F9-4647-8290-08165BC8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37189A5C-A5B9-8A4B-8617-C5D6E37E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3D8AA3B-37B7-5444-869E-D674D263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CE7853-A0A6-444C-840C-D63A1B510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67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D6B3B7-2557-2A4F-B7FC-0E745953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6BEE12-FEEF-0D43-900C-D971C617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8CFEF7-C9E1-284D-B996-4F8A06FA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079FF-467D-6D41-A1F4-C32363388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62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494C39-4D5D-E149-84F3-07A84910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8EDD62F-3058-6740-89FE-D6A8ADE4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86ED7D-0E8A-604C-9FD7-1EB6A03F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30214-C1B0-274F-B99E-7FB2C72794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9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B7D8BF-4077-8544-897A-A202D01978F9}"/>
              </a:ext>
            </a:extLst>
          </p:cNvPr>
          <p:cNvCxnSpPr/>
          <p:nvPr/>
        </p:nvCxnSpPr>
        <p:spPr>
          <a:xfrm rot="5400000">
            <a:off x="683816" y="2685258"/>
            <a:ext cx="4183856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6A2EF62-737B-3E4C-908A-80A99C94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A7436DC-F284-5949-B7BA-4AA37FD4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930B4BC-7EED-8342-A1BD-4A17C5F1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CFDA24-9594-0E41-8AF7-A187F9F52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07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4360"/>
            <a:ext cx="2142680" cy="94869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0BB1C6-097F-3C42-A33F-1F1B6C36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FBA4F0-4D0A-A64B-84AE-1C0E9C7A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898FA1-B2FD-DE47-BEB8-CE463510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CAA1-8A8A-6A49-B2E5-05A39EBF64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46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4687A-9899-7845-8A17-8B85C5EA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35466-830B-4242-B0FD-C4787800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C0B0-9465-0B4F-A47F-5BAA7BEE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F8F63-C206-6F46-8B8A-B5AD3BBB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80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6C9E6-01D3-814C-A399-2C11C31B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E167-D490-5646-BA44-469DBA76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8A4AC-74A9-3945-A7C0-679F87F0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4F972-602B-F04A-BF83-2471432BF8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82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BF95BF-52DD-7040-BBE0-65305A53ED8F}"/>
              </a:ext>
            </a:extLst>
          </p:cNvPr>
          <p:cNvSpPr/>
          <p:nvPr/>
        </p:nvSpPr>
        <p:spPr>
          <a:xfrm>
            <a:off x="0" y="165497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CC057-C9FB-8249-BE44-B93F259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9E46DAB4-0618-EC44-969F-CBC328E992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4919F-5409-6E45-B80E-25314159942D}"/>
              </a:ext>
            </a:extLst>
          </p:cNvPr>
          <p:cNvSpPr/>
          <p:nvPr/>
        </p:nvSpPr>
        <p:spPr>
          <a:xfrm>
            <a:off x="0" y="1"/>
            <a:ext cx="9144000" cy="2738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1D3B3-9536-7B41-8EAB-F406F1CD9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14289"/>
            <a:ext cx="2895600" cy="2464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E581D-B9A6-D64C-ABC9-74DDA3CD2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0" y="14289"/>
            <a:ext cx="4114800" cy="2464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D885B-B15E-0B46-9712-27FA12704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0" y="14289"/>
            <a:ext cx="1066800" cy="24646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5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740777-AA5D-AC4C-B229-82B7C56FA2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58" r:id="rId2"/>
    <p:sldLayoutId id="2147483866" r:id="rId3"/>
    <p:sldLayoutId id="2147483859" r:id="rId4"/>
    <p:sldLayoutId id="2147483867" r:id="rId5"/>
    <p:sldLayoutId id="2147483860" r:id="rId6"/>
    <p:sldLayoutId id="2147483861" r:id="rId7"/>
    <p:sldLayoutId id="2147483868" r:id="rId8"/>
    <p:sldLayoutId id="2147483862" r:id="rId9"/>
    <p:sldLayoutId id="2147483863" r:id="rId10"/>
    <p:sldLayoutId id="21474838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spc="-75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36922" indent="-13692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42900" indent="-13692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itchFamily="2" charset="2"/>
        <a:buChar char="Ø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47688" indent="-13692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53666" indent="-13692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890588" indent="-1023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16586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inkcollege.net/think-college-learn/universal-design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EE3BF6E-8403-994A-A732-A43CB0A3C6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95600" y="2743200"/>
            <a:ext cx="3886200" cy="2286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en-US" sz="2100" cap="none" dirty="0">
                <a:ea typeface="+mj-ea"/>
                <a:cs typeface="+mj-cs"/>
              </a:rPr>
            </a:br>
            <a:br>
              <a:rPr lang="en-US" sz="18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 err="1">
                <a:solidFill>
                  <a:schemeClr val="tx1"/>
                </a:solidFill>
                <a:ea typeface="+mj-ea"/>
                <a:cs typeface="+mj-cs"/>
              </a:rPr>
              <a:t>www.communityinclusion.org</a:t>
            </a:r>
            <a:br>
              <a:rPr lang="en-US" sz="18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18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9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1800" cap="none" dirty="0">
                <a:solidFill>
                  <a:schemeClr val="tx1"/>
                </a:solidFill>
                <a:ea typeface="+mj-ea"/>
                <a:cs typeface="+mj-cs"/>
              </a:rPr>
              <a:t>	</a:t>
            </a:r>
            <a:endParaRPr lang="en-US" cap="none" dirty="0">
              <a:ea typeface="+mj-ea"/>
              <a:cs typeface="+mj-cs"/>
            </a:endParaRPr>
          </a:p>
        </p:txBody>
      </p:sp>
      <p:sp>
        <p:nvSpPr>
          <p:cNvPr id="15363" name="Slide Number Placeholder 1">
            <a:extLst>
              <a:ext uri="{FF2B5EF4-FFF2-40B4-BE49-F238E27FC236}">
                <a16:creationId xmlns:a16="http://schemas.microsoft.com/office/drawing/2014/main" id="{29AF6206-E8DA-FA4D-BAFF-B82E1BBE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D13CD3AA-43CE-6C47-8EC8-265ED149D4D2}" type="slidenum">
              <a:rPr lang="en-US" altLang="en-US" sz="1050">
                <a:solidFill>
                  <a:srgbClr val="FFFFFF"/>
                </a:solidFill>
              </a:rPr>
              <a:pPr/>
              <a:t>1</a:t>
            </a:fld>
            <a:endParaRPr lang="en-US" altLang="en-US" sz="1050">
              <a:solidFill>
                <a:srgbClr val="FFFFFF"/>
              </a:solidFill>
            </a:endParaRPr>
          </a:p>
        </p:txBody>
      </p:sp>
      <p:pic>
        <p:nvPicPr>
          <p:cNvPr id="15364" name="Picture 2" descr="ICI Logo - Institute for Community Inclusion; Promoting the Inclusion of People with Disabilities; University of Massachusetts Boston; Boston Children's Hospital. &#10;ICI surronded by Employment, Education, Community Life, Health Care">
            <a:extLst>
              <a:ext uri="{FF2B5EF4-FFF2-40B4-BE49-F238E27FC236}">
                <a16:creationId xmlns:a16="http://schemas.microsoft.com/office/drawing/2014/main" id="{128EB381-3A76-7345-A88A-AD849C71D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906" y="2876550"/>
            <a:ext cx="2795588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A4083-8BC0-9945-AB3D-9B9B9A717091}"/>
              </a:ext>
            </a:extLst>
          </p:cNvPr>
          <p:cNvSpPr txBox="1"/>
          <p:nvPr/>
        </p:nvSpPr>
        <p:spPr>
          <a:xfrm>
            <a:off x="621506" y="457200"/>
            <a:ext cx="4953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Online Learning:</a:t>
            </a:r>
            <a:br>
              <a:rPr lang="en-US" sz="3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br>
              <a:rPr lang="en-US" sz="3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r>
              <a:rPr lang="en-US" sz="3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Addressing the Needs of All Students</a:t>
            </a:r>
          </a:p>
        </p:txBody>
      </p:sp>
      <p:pic>
        <p:nvPicPr>
          <p:cNvPr id="8" name="Picture 7" descr="Picture of laptop with bookshelf on screen with individual putting books onto shelf; represents online learning">
            <a:extLst>
              <a:ext uri="{FF2B5EF4-FFF2-40B4-BE49-F238E27FC236}">
                <a16:creationId xmlns:a16="http://schemas.microsoft.com/office/drawing/2014/main" id="{367276EF-EB91-0F4F-8EA3-7C005AC5F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57200"/>
            <a:ext cx="2590800" cy="19431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6ADBD-9D2B-1641-8CBF-B5EBAEDE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6" name="Picture 5" descr="Picture of chalkboard">
            <a:extLst>
              <a:ext uri="{FF2B5EF4-FFF2-40B4-BE49-F238E27FC236}">
                <a16:creationId xmlns:a16="http://schemas.microsoft.com/office/drawing/2014/main" id="{60F9EC4B-84CA-4046-BB1E-A610D938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749"/>
            <a:ext cx="7543800" cy="51863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9D0251-68E0-1C4D-A349-CA8B9A4097FD}"/>
              </a:ext>
            </a:extLst>
          </p:cNvPr>
          <p:cNvSpPr txBox="1"/>
          <p:nvPr/>
        </p:nvSpPr>
        <p:spPr>
          <a:xfrm>
            <a:off x="2438400" y="971550"/>
            <a:ext cx="4572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Chalkboard" panose="03050602040202020205" pitchFamily="66" charset="77"/>
              </a:rPr>
              <a:t>Today’s Webinar: Topics</a:t>
            </a:r>
            <a:br>
              <a:rPr lang="en-US" dirty="0">
                <a:solidFill>
                  <a:srgbClr val="FFFF00"/>
                </a:solidFill>
                <a:latin typeface="Chalkboard" panose="03050602040202020205" pitchFamily="66" charset="77"/>
              </a:rPr>
            </a:br>
            <a:endParaRPr lang="en-US" dirty="0">
              <a:solidFill>
                <a:srgbClr val="FFFF00"/>
              </a:solidFill>
              <a:latin typeface="Chalkboard" panose="03050602040202020205" pitchFamily="66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halkboard" panose="03050602040202020205" pitchFamily="66" charset="77"/>
              </a:rPr>
              <a:t>Universal Design and Universal Design for Learning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halkboard" panose="03050602040202020205" pitchFamily="66" charset="77"/>
              </a:rPr>
              <a:t>Legal requirements for accessibility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halkboard" panose="03050602040202020205" pitchFamily="66" charset="77"/>
              </a:rPr>
              <a:t>Basic strategies for online learning</a:t>
            </a:r>
          </a:p>
          <a:p>
            <a:endParaRPr lang="en-US" dirty="0">
              <a:latin typeface="Chalkboard" panose="03050602040202020205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650405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8C8C8-3872-AA48-9DF7-E8257D9D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950"/>
            <a:ext cx="2514600" cy="742950"/>
          </a:xfrm>
        </p:spPr>
        <p:txBody>
          <a:bodyPr/>
          <a:lstStyle/>
          <a:p>
            <a:pPr algn="ctr"/>
            <a:r>
              <a:rPr lang="en-US" b="1" cap="small" dirty="0"/>
              <a:t>Webinar # 2</a:t>
            </a:r>
            <a:endParaRPr lang="en-US" cap="smal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701F8-1967-F045-958A-D6F6ACA27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0" y="1701537"/>
            <a:ext cx="3550257" cy="3458320"/>
          </a:xfrm>
        </p:spPr>
        <p:txBody>
          <a:bodyPr/>
          <a:lstStyle/>
          <a:p>
            <a:r>
              <a:rPr lang="en-US" dirty="0"/>
              <a:t>Student access &amp; competency with technology</a:t>
            </a:r>
          </a:p>
          <a:p>
            <a:pPr>
              <a:spcBef>
                <a:spcPts val="1632"/>
              </a:spcBef>
            </a:pPr>
            <a:r>
              <a:rPr lang="en-US" dirty="0"/>
              <a:t>Maximizing universal access in online platforms</a:t>
            </a:r>
          </a:p>
          <a:p>
            <a:pPr>
              <a:spcBef>
                <a:spcPts val="1632"/>
              </a:spcBef>
            </a:pPr>
            <a:r>
              <a:rPr lang="en-US" dirty="0"/>
              <a:t>Ensuring materials used online are fully accessible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2DF87-3483-ED47-B560-15DC12B0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30214-C1B0-274F-B99E-7FB2C727943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5" name="Picture 4" descr="Calendar: Tuesday, March 16th - 1:30 TO 3:00 PM - Use of Technology in Online Learning">
            <a:extLst>
              <a:ext uri="{FF2B5EF4-FFF2-40B4-BE49-F238E27FC236}">
                <a16:creationId xmlns:a16="http://schemas.microsoft.com/office/drawing/2014/main" id="{2A8B01CD-FF9E-2C4F-BA4E-C45C33AB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817" y="1734833"/>
            <a:ext cx="4495800" cy="30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8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8C8C8-3872-AA48-9DF7-E8257D9D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14350"/>
            <a:ext cx="3352800" cy="742950"/>
          </a:xfrm>
        </p:spPr>
        <p:txBody>
          <a:bodyPr>
            <a:noAutofit/>
          </a:bodyPr>
          <a:lstStyle/>
          <a:p>
            <a:pPr algn="ctr"/>
            <a:r>
              <a:rPr lang="en-US" sz="3200" b="1" cap="small" dirty="0"/>
              <a:t>Webinar # 3</a:t>
            </a:r>
            <a:endParaRPr lang="en-US" sz="3200" cap="smal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701F8-1967-F045-958A-D6F6ACA27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0" y="1460899"/>
            <a:ext cx="3956437" cy="3238500"/>
          </a:xfrm>
        </p:spPr>
        <p:txBody>
          <a:bodyPr/>
          <a:lstStyle/>
          <a:p>
            <a:r>
              <a:rPr lang="en-US" sz="2400" dirty="0"/>
              <a:t>Review and demonstration of a variety of a variety of tools to support students in online learning</a:t>
            </a:r>
          </a:p>
          <a:p>
            <a:pPr>
              <a:spcBef>
                <a:spcPts val="1632"/>
              </a:spcBef>
            </a:pPr>
            <a:r>
              <a:rPr lang="en-US" sz="2400" dirty="0"/>
              <a:t>Criteria for determining best tools for content and learner needs.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2DF87-3483-ED47-B560-15DC12B0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30214-C1B0-274F-B99E-7FB2C727943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8" name="Picture 7" descr="Calendar: Thursday April 8th, 1:30 to 3:00 PM - Online Learning: Tools &amp; Strategies for Students with Disabilities">
            <a:extLst>
              <a:ext uri="{FF2B5EF4-FFF2-40B4-BE49-F238E27FC236}">
                <a16:creationId xmlns:a16="http://schemas.microsoft.com/office/drawing/2014/main" id="{C2258376-C084-3A4A-A35F-34179F23C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432"/>
            <a:ext cx="4391451" cy="302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9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1F9F-B3C6-C249-9A8B-E901D9775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90550"/>
            <a:ext cx="3429000" cy="16002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Discussion:</a:t>
            </a:r>
            <a:br>
              <a:rPr lang="en-US" sz="2800" b="1" dirty="0"/>
            </a:br>
            <a:r>
              <a:rPr lang="en-US" sz="2800" dirty="0"/>
              <a:t>What do we mean by</a:t>
            </a:r>
            <a:br>
              <a:rPr lang="en-US" sz="2800" dirty="0"/>
            </a:br>
            <a:r>
              <a:rPr lang="en-US" sz="2800" dirty="0"/>
              <a:t>“online learning”?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FE138-E2EA-1D47-82DB-BB1D0E18E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1504950"/>
            <a:ext cx="5029200" cy="2133600"/>
          </a:xfrm>
        </p:spPr>
        <p:txBody>
          <a:bodyPr/>
          <a:lstStyle/>
          <a:p>
            <a:pPr>
              <a:spcBef>
                <a:spcPts val="1872"/>
              </a:spcBef>
            </a:pPr>
            <a:r>
              <a:rPr lang="en-US" sz="2800" dirty="0"/>
              <a:t>Courses taught live online</a:t>
            </a:r>
          </a:p>
          <a:p>
            <a:pPr>
              <a:spcBef>
                <a:spcPts val="1872"/>
              </a:spcBef>
            </a:pPr>
            <a:r>
              <a:rPr lang="en-US" sz="2800" dirty="0"/>
              <a:t>Pre-recorded course content</a:t>
            </a:r>
          </a:p>
          <a:p>
            <a:pPr>
              <a:spcBef>
                <a:spcPts val="1872"/>
              </a:spcBef>
            </a:pPr>
            <a:r>
              <a:rPr lang="en-US" sz="2800" dirty="0"/>
              <a:t>Self-paced online learning platforms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8822E-D0C5-DD48-B316-2F09A61B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 descr="Woman at a computer screen">
            <a:extLst>
              <a:ext uri="{FF2B5EF4-FFF2-40B4-BE49-F238E27FC236}">
                <a16:creationId xmlns:a16="http://schemas.microsoft.com/office/drawing/2014/main" id="{E3396060-6E7C-2C48-AC52-5B7FDD59B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00350"/>
            <a:ext cx="2133601" cy="213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4118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85C8-8E8D-0B41-A839-6FD6E9A8D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14350"/>
            <a:ext cx="2971800" cy="27051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/>
              <a:t>Poll # 1:</a:t>
            </a:r>
            <a:br>
              <a:rPr lang="en-US" b="1" dirty="0"/>
            </a:br>
            <a:br>
              <a:rPr lang="en-US" b="1" dirty="0"/>
            </a:br>
            <a:r>
              <a:rPr lang="en-US" i="1" dirty="0"/>
              <a:t>What platforms are you using for online learning?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E6C50-499A-0042-8E7D-534B6663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5" name="Picture 4" descr="Man with pen checking boxes">
            <a:extLst>
              <a:ext uri="{FF2B5EF4-FFF2-40B4-BE49-F238E27FC236}">
                <a16:creationId xmlns:a16="http://schemas.microsoft.com/office/drawing/2014/main" id="{3E4930A7-4783-6B43-AB1C-9A4E06BF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9421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0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66E1B3-13E7-6747-948F-46CAF065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079FF-467D-6D41-A1F4-C32363388CC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5" name="Picture 4" descr="Picture of computer monitor">
            <a:extLst>
              <a:ext uri="{FF2B5EF4-FFF2-40B4-BE49-F238E27FC236}">
                <a16:creationId xmlns:a16="http://schemas.microsoft.com/office/drawing/2014/main" id="{4E22EF3F-8FD4-6C48-A30E-766445DE5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60749"/>
            <a:ext cx="6731000" cy="504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0904AE-FB9B-1748-A9B2-64C6684F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514350"/>
            <a:ext cx="4114800" cy="2933700"/>
          </a:xfrm>
        </p:spPr>
        <p:txBody>
          <a:bodyPr>
            <a:normAutofit/>
          </a:bodyPr>
          <a:lstStyle/>
          <a:p>
            <a:pPr algn="ctr"/>
            <a:r>
              <a:rPr lang="en-US" sz="2400" b="1" i="1" dirty="0">
                <a:solidFill>
                  <a:schemeClr val="bg1"/>
                </a:solidFill>
              </a:rPr>
              <a:t>Poll # 2:</a:t>
            </a:r>
            <a:br>
              <a:rPr lang="en-US" sz="2400" b="1" i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What issues have you encountered regarding delivering content online? </a:t>
            </a:r>
          </a:p>
        </p:txBody>
      </p:sp>
    </p:spTree>
    <p:extLst>
      <p:ext uri="{BB962C8B-B14F-4D97-AF65-F5344CB8AC3E}">
        <p14:creationId xmlns:p14="http://schemas.microsoft.com/office/powerpoint/2010/main" val="326648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C12B-DD8B-D041-9A49-AF485117D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971550"/>
            <a:ext cx="4419600" cy="4038600"/>
          </a:xfrm>
        </p:spPr>
        <p:txBody>
          <a:bodyPr/>
          <a:lstStyle/>
          <a:p>
            <a:pPr>
              <a:spcBef>
                <a:spcPts val="1776"/>
              </a:spcBef>
            </a:pPr>
            <a:r>
              <a:rPr lang="en-US" sz="2400" dirty="0"/>
              <a:t>Increased student access</a:t>
            </a:r>
          </a:p>
          <a:p>
            <a:pPr>
              <a:spcBef>
                <a:spcPts val="1776"/>
              </a:spcBef>
            </a:pPr>
            <a:r>
              <a:rPr lang="en-US" sz="2400" dirty="0"/>
              <a:t>Reduced facility costs</a:t>
            </a:r>
          </a:p>
          <a:p>
            <a:pPr>
              <a:spcBef>
                <a:spcPts val="1776"/>
              </a:spcBef>
            </a:pPr>
            <a:r>
              <a:rPr lang="en-US" sz="2400" dirty="0"/>
              <a:t>Use of online platform tools</a:t>
            </a:r>
          </a:p>
          <a:p>
            <a:pPr>
              <a:spcBef>
                <a:spcPts val="1776"/>
              </a:spcBef>
            </a:pPr>
            <a:r>
              <a:rPr lang="en-US" sz="2400" dirty="0"/>
              <a:t>Others</a:t>
            </a:r>
          </a:p>
          <a:p>
            <a:pPr>
              <a:spcBef>
                <a:spcPts val="1776"/>
              </a:spcBef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5DC15-E0AC-1A43-9E58-99FBE88A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B1BFA3F9-B200-9140-8BBA-A86C83A48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00" y="666750"/>
            <a:ext cx="2971800" cy="914400"/>
          </a:xfrm>
          <a:prstGeom prst="homePlate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2">
                <a:shade val="30000"/>
                <a:satMod val="13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Strengths of Online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38D38-A2D2-984D-BBF1-761721EFE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2254251"/>
            <a:ext cx="2298699" cy="229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372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F7DB-ECBA-3D48-AD4E-CF3324297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552450"/>
            <a:ext cx="4724400" cy="4038600"/>
          </a:xfrm>
        </p:spPr>
        <p:txBody>
          <a:bodyPr/>
          <a:lstStyle/>
          <a:p>
            <a:pPr>
              <a:spcBef>
                <a:spcPts val="1632"/>
              </a:spcBef>
            </a:pPr>
            <a:r>
              <a:rPr lang="en-US" sz="2000" dirty="0"/>
              <a:t>Access to technology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Skills in using technology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Reliability of technology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Maintaining student engagement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Monitoring student engagement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Challenge of peer-to-peer learning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Challenge of hands-on learning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Challenge of assessment/testing</a:t>
            </a:r>
          </a:p>
          <a:p>
            <a:pPr>
              <a:spcBef>
                <a:spcPts val="1632"/>
              </a:spcBef>
            </a:pPr>
            <a:r>
              <a:rPr lang="en-US" sz="2000" dirty="0"/>
              <a:t>Other</a:t>
            </a:r>
          </a:p>
          <a:p>
            <a:pPr>
              <a:spcBef>
                <a:spcPts val="1632"/>
              </a:spcBef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7A691-429A-FA41-B289-D67C7B08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12E8F20B-5602-C746-9F4B-65C6F2FF8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569495"/>
            <a:ext cx="2819400" cy="1219200"/>
          </a:xfrm>
          <a:prstGeom prst="homePlat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Issues with Online Learning</a:t>
            </a:r>
          </a:p>
        </p:txBody>
      </p:sp>
      <p:pic>
        <p:nvPicPr>
          <p:cNvPr id="9" name="Picture 8" descr="Computer mouse with word Learn above it, representing online learning">
            <a:extLst>
              <a:ext uri="{FF2B5EF4-FFF2-40B4-BE49-F238E27FC236}">
                <a16:creationId xmlns:a16="http://schemas.microsoft.com/office/drawing/2014/main" id="{081B129D-CCD9-EB47-9C3D-1E96FE1BE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96816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682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1739-6544-6548-A4EB-F7369C8E8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52550"/>
            <a:ext cx="4327274" cy="1524000"/>
          </a:xfrm>
        </p:spPr>
        <p:txBody>
          <a:bodyPr/>
          <a:lstStyle/>
          <a:p>
            <a:r>
              <a:rPr lang="en-US" sz="2400" dirty="0"/>
              <a:t>What questions do you have regarding specifically meeting the needs of students with disabilities in online courses?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97AA3-6B5F-424B-9CA5-BD8CF1AE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41FABDAA-9DC3-9D4F-B1BA-9CD0DD4BF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66750"/>
            <a:ext cx="2604634" cy="1085850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cap="small" dirty="0"/>
              <a:t>Discussion</a:t>
            </a:r>
          </a:p>
        </p:txBody>
      </p:sp>
      <p:pic>
        <p:nvPicPr>
          <p:cNvPr id="7" name="Picture 6" descr="Picture of people chatting">
            <a:extLst>
              <a:ext uri="{FF2B5EF4-FFF2-40B4-BE49-F238E27FC236}">
                <a16:creationId xmlns:a16="http://schemas.microsoft.com/office/drawing/2014/main" id="{D4E5CB94-187B-0C46-95D1-71212BDC1F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90750"/>
            <a:ext cx="3124200" cy="217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2889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96F51D-800C-5D42-9FBA-4AE87911D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1504950"/>
            <a:ext cx="4419600" cy="20574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3600" dirty="0"/>
              <a:t>Core Strategy:</a:t>
            </a:r>
            <a:br>
              <a:rPr lang="en-US" sz="3600" dirty="0"/>
            </a:br>
            <a:br>
              <a:rPr lang="en-US" sz="3600" dirty="0"/>
            </a:br>
            <a:r>
              <a:rPr lang="en-US" sz="3600" b="1" i="1" dirty="0"/>
              <a:t>Universal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1DBA8-C7E5-C64D-80E6-468AD088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8556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5EAA8-D574-E646-A3E1-ACE4B61F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CCDA7-D618-4941-BFD0-9F32B03099B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 descr="Male and female construction worker holding sign: Universal Design isn't about disability. It's about Everybody.">
            <a:extLst>
              <a:ext uri="{FF2B5EF4-FFF2-40B4-BE49-F238E27FC236}">
                <a16:creationId xmlns:a16="http://schemas.microsoft.com/office/drawing/2014/main" id="{854A19C8-D9A9-8544-9123-9B52A91A7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6425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1809750"/>
            <a:ext cx="4267200" cy="3543300"/>
          </a:xfrm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kumimoji="1" lang="en-US" sz="2700" dirty="0">
                <a:latin typeface="Arial" charset="0"/>
                <a:ea typeface="Osaka" charset="0"/>
                <a:cs typeface="Arial" charset="0"/>
              </a:rPr>
              <a:t>Create environments that are usable by as many people as possible regardless of their age, size, ability, or disability</a:t>
            </a:r>
            <a:br>
              <a:rPr kumimoji="1" lang="en-US" sz="2700" dirty="0">
                <a:latin typeface="Arial" charset="0"/>
                <a:ea typeface="Osaka" charset="0"/>
                <a:cs typeface="Arial" charset="0"/>
              </a:rPr>
            </a:br>
            <a:endParaRPr kumimoji="1" lang="en-US" sz="2700" dirty="0">
              <a:latin typeface="Arial" charset="0"/>
              <a:ea typeface="Osaka" charset="0"/>
              <a:cs typeface="Arial" charset="0"/>
            </a:endParaRPr>
          </a:p>
        </p:txBody>
      </p:sp>
      <p:sp>
        <p:nvSpPr>
          <p:cNvPr id="75778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57200"/>
            <a:ext cx="4743450" cy="6858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kumimoji="1" lang="en-US" cap="small" dirty="0">
                <a:latin typeface="Arial" charset="0"/>
                <a:ea typeface="Osaka" charset="0"/>
                <a:cs typeface="Arial" charset="0"/>
              </a:rPr>
              <a:t>Universal Design</a:t>
            </a:r>
            <a:endParaRPr lang="en-US" cap="small" dirty="0">
              <a:latin typeface="Arial" charset="0"/>
              <a:ea typeface="Osaka" charset="0"/>
              <a:cs typeface="Arial" charset="0"/>
            </a:endParaRPr>
          </a:p>
        </p:txBody>
      </p:sp>
      <p:sp>
        <p:nvSpPr>
          <p:cNvPr id="75779" name="Slide Number Placeholder 1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fld id="{778B8234-8570-8F4F-8CA8-8916879D3F65}" type="slidenum">
              <a:rPr lang="en-US" sz="1050">
                <a:ea typeface="Osaka" charset="0"/>
                <a:cs typeface="Osaka" charset="0"/>
              </a:rPr>
              <a:pPr>
                <a:defRPr/>
              </a:pPr>
              <a:t>13</a:t>
            </a:fld>
            <a:endParaRPr lang="en-US" sz="1050">
              <a:ea typeface="Osaka" charset="0"/>
              <a:cs typeface="Osaka" charset="0"/>
            </a:endParaRPr>
          </a:p>
        </p:txBody>
      </p:sp>
      <p:pic>
        <p:nvPicPr>
          <p:cNvPr id="17412" name="Picture 1" descr="Thermometer with word Goal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04950"/>
            <a:ext cx="2126189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94274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57600" y="900783"/>
            <a:ext cx="52578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1" lang="en-US" sz="2100" dirty="0">
                <a:latin typeface="Arial" charset="0"/>
                <a:ea typeface="Osaka" charset="0"/>
                <a:cs typeface="Arial" charset="0"/>
              </a:rPr>
              <a:t>Design environment to meet needs of </a:t>
            </a:r>
            <a:r>
              <a:rPr kumimoji="1" lang="en-US" sz="2100" b="1" dirty="0">
                <a:latin typeface="Arial" charset="0"/>
                <a:ea typeface="Osaka" charset="0"/>
                <a:cs typeface="Arial" charset="0"/>
              </a:rPr>
              <a:t>all people </a:t>
            </a:r>
            <a:r>
              <a:rPr kumimoji="1" lang="en-US" sz="2100" dirty="0">
                <a:latin typeface="Arial" charset="0"/>
                <a:ea typeface="Osaka" charset="0"/>
                <a:cs typeface="Arial" charset="0"/>
              </a:rPr>
              <a:t>who wish to use it</a:t>
            </a:r>
          </a:p>
          <a:p>
            <a:pPr>
              <a:spcBef>
                <a:spcPct val="50000"/>
              </a:spcBef>
              <a:defRPr/>
            </a:pPr>
            <a:r>
              <a:rPr kumimoji="1" lang="en-US" sz="2100" b="1" dirty="0">
                <a:latin typeface="Arial" charset="0"/>
                <a:ea typeface="Osaka" charset="0"/>
                <a:cs typeface="Arial" charset="0"/>
              </a:rPr>
              <a:t>Flexibility</a:t>
            </a:r>
            <a:r>
              <a:rPr kumimoji="1" lang="en-US" sz="2100" dirty="0">
                <a:latin typeface="Arial" charset="0"/>
                <a:ea typeface="Osaka" charset="0"/>
                <a:cs typeface="Arial" charset="0"/>
              </a:rPr>
              <a:t> in use </a:t>
            </a:r>
            <a:r>
              <a:rPr kumimoji="1" lang="mr-IN" sz="2100" dirty="0">
                <a:latin typeface="Arial" charset="0"/>
                <a:ea typeface="Osaka" charset="0"/>
                <a:cs typeface="Arial" charset="0"/>
              </a:rPr>
              <a:t>–</a:t>
            </a:r>
            <a:r>
              <a:rPr kumimoji="1" lang="en-US" sz="2100" dirty="0">
                <a:latin typeface="Arial" charset="0"/>
                <a:ea typeface="Osaka" charset="0"/>
                <a:cs typeface="Arial" charset="0"/>
              </a:rPr>
              <a:t> </a:t>
            </a:r>
            <a:r>
              <a:rPr kumimoji="1" lang="en-US" sz="2100" i="1" dirty="0">
                <a:latin typeface="Arial" charset="0"/>
                <a:ea typeface="Osaka" charset="0"/>
                <a:cs typeface="Arial" charset="0"/>
              </a:rPr>
              <a:t>not “one size fits all”</a:t>
            </a:r>
          </a:p>
          <a:p>
            <a:pPr>
              <a:spcBef>
                <a:spcPct val="50000"/>
              </a:spcBef>
              <a:defRPr/>
            </a:pPr>
            <a:r>
              <a:rPr kumimoji="1" lang="en-US" sz="2100" dirty="0">
                <a:latin typeface="Arial" charset="0"/>
                <a:ea typeface="Osaka" charset="0"/>
                <a:cs typeface="Arial" charset="0"/>
              </a:rPr>
              <a:t>Meeting needs of people with disabilities is no longer considered </a:t>
            </a:r>
            <a:r>
              <a:rPr kumimoji="1" lang="ja-JP" altLang="en-US" sz="2100" i="1">
                <a:latin typeface="Arial" charset="0"/>
                <a:ea typeface="Osaka" charset="0"/>
                <a:cs typeface="Arial" charset="0"/>
              </a:rPr>
              <a:t>“</a:t>
            </a:r>
            <a:r>
              <a:rPr kumimoji="1" lang="en-US" altLang="ja-JP" sz="2100" i="1" dirty="0">
                <a:latin typeface="Arial" charset="0"/>
                <a:ea typeface="Osaka" charset="0"/>
                <a:cs typeface="Arial" charset="0"/>
              </a:rPr>
              <a:t>Special</a:t>
            </a:r>
            <a:r>
              <a:rPr kumimoji="1" lang="ja-JP" altLang="en-US" sz="2100" i="1">
                <a:latin typeface="Arial" charset="0"/>
                <a:ea typeface="Osaka" charset="0"/>
                <a:cs typeface="Arial" charset="0"/>
              </a:rPr>
              <a:t>”</a:t>
            </a:r>
            <a:r>
              <a:rPr kumimoji="1" lang="en-US" altLang="ja-JP" sz="2100" i="1" dirty="0">
                <a:latin typeface="Arial" charset="0"/>
                <a:ea typeface="Osaka" charset="0"/>
                <a:cs typeface="Arial" charset="0"/>
              </a:rPr>
              <a:t> </a:t>
            </a:r>
            <a:r>
              <a:rPr kumimoji="1" lang="en-US" altLang="ja-JP" sz="2100" dirty="0">
                <a:latin typeface="Arial" charset="0"/>
                <a:ea typeface="Osaka" charset="0"/>
                <a:cs typeface="Arial" charset="0"/>
              </a:rPr>
              <a:t>or  “</a:t>
            </a:r>
            <a:r>
              <a:rPr kumimoji="1" lang="en-US" altLang="ja-JP" sz="2100" i="1" dirty="0">
                <a:latin typeface="Arial" charset="0"/>
                <a:ea typeface="Osaka" charset="0"/>
                <a:cs typeface="Arial" charset="0"/>
              </a:rPr>
              <a:t>Extra</a:t>
            </a:r>
            <a:r>
              <a:rPr kumimoji="1" lang="ja-JP" altLang="en-US" sz="2100" i="1" dirty="0">
                <a:latin typeface="Arial" charset="0"/>
                <a:ea typeface="Osaka" charset="0"/>
                <a:cs typeface="Arial" charset="0"/>
              </a:rPr>
              <a:t>”</a:t>
            </a:r>
            <a:endParaRPr kumimoji="1" lang="en-US" altLang="ja-JP" sz="2100" i="1" dirty="0">
              <a:latin typeface="Arial" charset="0"/>
              <a:ea typeface="Osaka" charset="0"/>
              <a:cs typeface="Arial" charset="0"/>
            </a:endParaRPr>
          </a:p>
        </p:txBody>
      </p:sp>
      <p:sp>
        <p:nvSpPr>
          <p:cNvPr id="5" name="Pentagon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28600" y="514350"/>
            <a:ext cx="3219450" cy="137160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2800" cap="small" dirty="0">
                <a:solidFill>
                  <a:srgbClr val="000000"/>
                </a:solidFill>
                <a:latin typeface="+mn-lt"/>
                <a:cs typeface="Geneva" charset="0"/>
              </a:rPr>
              <a:t>Incorporating Universal Design</a:t>
            </a:r>
          </a:p>
        </p:txBody>
      </p:sp>
      <p:sp>
        <p:nvSpPr>
          <p:cNvPr id="6" name="TextBox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676400" y="4341167"/>
            <a:ext cx="6115050" cy="461665"/>
          </a:xfrm>
          <a:prstGeom prst="rect">
            <a:avLst/>
          </a:prstGeom>
          <a:solidFill>
            <a:srgbClr val="006699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FFFF"/>
                </a:solidFill>
                <a:latin typeface="Chalkboard"/>
                <a:cs typeface="Chalkboard"/>
              </a:rPr>
              <a:t>Universal Design is Good Design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2EEE93-C773-DC41-9DEA-0FC8CA562DC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300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FBAD-1C22-2543-9D1E-F8BCB7CA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CCDA7-D618-4941-BFD0-9F32B03099B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92AF14D9-23C9-2848-8AD9-8DA65A544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90601" y="1897201"/>
            <a:ext cx="3124200" cy="1666875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US" sz="3600" b="1" i="1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Universal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464DF-7323-5F4C-BCD0-48743151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029201" y="1926521"/>
            <a:ext cx="2743200" cy="1754326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Impact" panose="020B0806030902050204" pitchFamily="34" charset="0"/>
              </a:rPr>
              <a:t>Universal Design for Learning</a:t>
            </a:r>
          </a:p>
        </p:txBody>
      </p:sp>
    </p:spTree>
    <p:extLst>
      <p:ext uri="{BB962C8B-B14F-4D97-AF65-F5344CB8AC3E}">
        <p14:creationId xmlns:p14="http://schemas.microsoft.com/office/powerpoint/2010/main" val="69492077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650020" y="304218"/>
            <a:ext cx="6292850" cy="9541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+mj-lt"/>
              </a:rPr>
              <a:t>Principles of Universal Design for Learning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4C946E-9367-E444-A4A6-CDCDED83867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E9DB9-E080-BA47-B752-8CADB1DA3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61804" y="1575739"/>
            <a:ext cx="4180067" cy="83099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I. </a:t>
            </a:r>
            <a:r>
              <a:rPr lang="en-US" sz="2400" dirty="0">
                <a:latin typeface="+mj-lt"/>
              </a:rPr>
              <a:t>Provide Multiple Means of </a:t>
            </a:r>
            <a:r>
              <a:rPr lang="en-US" sz="2400" b="1" dirty="0">
                <a:latin typeface="+mj-lt"/>
              </a:rPr>
              <a:t>Engagement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01AC7-531B-8546-BA84-2C061E070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68430" y="2724150"/>
            <a:ext cx="4180067" cy="8309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II. Provide Multiple Means of </a:t>
            </a:r>
            <a:r>
              <a:rPr lang="en-US" sz="2400" b="1" dirty="0">
                <a:latin typeface="+mj-lt"/>
              </a:rPr>
              <a:t>Representation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DFC65-3212-714E-9AE1-4EC34F5E2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68431" y="4015188"/>
            <a:ext cx="4180067" cy="8309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III. Provide Multiple Means of </a:t>
            </a:r>
            <a:r>
              <a:rPr lang="en-US" sz="2400" b="1" dirty="0">
                <a:latin typeface="+mj-lt"/>
              </a:rPr>
              <a:t>Action &amp; Expression</a:t>
            </a:r>
          </a:p>
        </p:txBody>
      </p:sp>
      <p:pic>
        <p:nvPicPr>
          <p:cNvPr id="5" name="Picture 4" descr="Person with pointer">
            <a:extLst>
              <a:ext uri="{FF2B5EF4-FFF2-40B4-BE49-F238E27FC236}">
                <a16:creationId xmlns:a16="http://schemas.microsoft.com/office/drawing/2014/main" id="{4DE56F1B-3501-D946-9BDC-A2581F5A3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14550"/>
            <a:ext cx="1770956" cy="2023950"/>
          </a:xfrm>
          <a:prstGeom prst="rect">
            <a:avLst/>
          </a:prstGeom>
        </p:spPr>
      </p:pic>
      <p:pic>
        <p:nvPicPr>
          <p:cNvPr id="9" name="Picture 8" descr="CAST logo">
            <a:extLst>
              <a:ext uri="{FF2B5EF4-FFF2-40B4-BE49-F238E27FC236}">
                <a16:creationId xmlns:a16="http://schemas.microsoft.com/office/drawing/2014/main" id="{D83212DD-8293-D245-A5CC-1381EB4BF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835" y="4041147"/>
            <a:ext cx="8509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8151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19CA1-54E9-4C4E-AA58-2C65EC34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CCDA7-D618-4941-BFD0-9F32B03099B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Picture 5" descr="Screenshot of CAST Universal Design for Learning Guidelines available at https://udlguidelines.cast.org&#10;">
            <a:extLst>
              <a:ext uri="{FF2B5EF4-FFF2-40B4-BE49-F238E27FC236}">
                <a16:creationId xmlns:a16="http://schemas.microsoft.com/office/drawing/2014/main" id="{6EB6135D-ADA2-FC40-99E2-2D375AAA8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10" y="785345"/>
            <a:ext cx="5269865" cy="4274279"/>
          </a:xfrm>
          <a:prstGeom prst="rect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81E2BE-F60B-264D-84CF-1AE40B754124}"/>
              </a:ext>
            </a:extLst>
          </p:cNvPr>
          <p:cNvSpPr txBox="1"/>
          <p:nvPr/>
        </p:nvSpPr>
        <p:spPr>
          <a:xfrm>
            <a:off x="2667000" y="330916"/>
            <a:ext cx="3313526" cy="30008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UDL Guidelines</a:t>
            </a:r>
          </a:p>
        </p:txBody>
      </p:sp>
      <p:pic>
        <p:nvPicPr>
          <p:cNvPr id="8" name="Picture 7" descr="CAST logo">
            <a:extLst>
              <a:ext uri="{FF2B5EF4-FFF2-40B4-BE49-F238E27FC236}">
                <a16:creationId xmlns:a16="http://schemas.microsoft.com/office/drawing/2014/main" id="{EA7D6573-E251-E946-8805-D1E08BE9D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71007"/>
            <a:ext cx="514350" cy="514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9F9F85-950C-E945-8F8B-4114F623D7F9}"/>
              </a:ext>
            </a:extLst>
          </p:cNvPr>
          <p:cNvSpPr txBox="1"/>
          <p:nvPr/>
        </p:nvSpPr>
        <p:spPr>
          <a:xfrm>
            <a:off x="7010400" y="4552950"/>
            <a:ext cx="20574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udlguidelines.cast.org</a:t>
            </a:r>
            <a:endParaRPr lang="en-US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1103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AF14A-467D-5A49-AE34-26BAA3E6E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38150"/>
            <a:ext cx="3003884" cy="1856809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Cultural relevance as part of UDL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DB10-4F34-AC45-B982-D67AB1ACE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1143000"/>
            <a:ext cx="4800600" cy="3714750"/>
          </a:xfrm>
        </p:spPr>
        <p:txBody>
          <a:bodyPr/>
          <a:lstStyle/>
          <a:p>
            <a:pPr>
              <a:spcBef>
                <a:spcPts val="1632"/>
              </a:spcBef>
            </a:pPr>
            <a:r>
              <a:rPr lang="en-US" sz="2400" dirty="0"/>
              <a:t>Make materials, exercises, examples, and assignments relevant to learner’s cultures, interests, and backgrounds</a:t>
            </a:r>
            <a:br>
              <a:rPr lang="en-US" sz="2400" dirty="0"/>
            </a:br>
            <a:endParaRPr lang="en-US" sz="2400" dirty="0"/>
          </a:p>
          <a:p>
            <a:pPr>
              <a:spcBef>
                <a:spcPts val="1632"/>
              </a:spcBef>
            </a:pPr>
            <a:r>
              <a:rPr lang="en-US" sz="2400" dirty="0"/>
              <a:t>Words and images</a:t>
            </a:r>
          </a:p>
          <a:p>
            <a:pPr>
              <a:spcBef>
                <a:spcPts val="1632"/>
              </a:spcBef>
            </a:pPr>
            <a:endParaRPr lang="en-US" sz="2400" dirty="0"/>
          </a:p>
          <a:p>
            <a:pPr>
              <a:spcBef>
                <a:spcPts val="1632"/>
              </a:spcBef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9FC8C-E050-C94F-A3C7-0ADF1639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6" name="Picture 5" descr="Magnifying glass with diverse individuals">
            <a:extLst>
              <a:ext uri="{FF2B5EF4-FFF2-40B4-BE49-F238E27FC236}">
                <a16:creationId xmlns:a16="http://schemas.microsoft.com/office/drawing/2014/main" id="{BABDC705-71B7-9045-88F1-1D8EDBFC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22550"/>
            <a:ext cx="22352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2464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E68FB4-3A48-C342-80CB-5087951C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1778"/>
            <a:ext cx="8229600" cy="742950"/>
          </a:xfrm>
        </p:spPr>
        <p:txBody>
          <a:bodyPr/>
          <a:lstStyle/>
          <a:p>
            <a:pPr algn="ctr"/>
            <a:r>
              <a:rPr lang="en-US" dirty="0"/>
              <a:t>Achieving UDL is a never-ending journey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6466B-0F16-B145-8CBB-799F4F2C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30214-C1B0-274F-B99E-7FB2C727943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5" name="Picture 4" descr="Man with briefcase at beginning of long road">
            <a:extLst>
              <a:ext uri="{FF2B5EF4-FFF2-40B4-BE49-F238E27FC236}">
                <a16:creationId xmlns:a16="http://schemas.microsoft.com/office/drawing/2014/main" id="{69EB65C5-6F2E-5C45-8549-1D46B79B4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185038" y="2322127"/>
            <a:ext cx="3537857" cy="1981200"/>
          </a:xfrm>
          <a:prstGeom prst="rect">
            <a:avLst/>
          </a:prstGeom>
        </p:spPr>
      </p:pic>
      <p:pic>
        <p:nvPicPr>
          <p:cNvPr id="7" name="Picture 6" descr="Women with briefcase at beginning of long road">
            <a:extLst>
              <a:ext uri="{FF2B5EF4-FFF2-40B4-BE49-F238E27FC236}">
                <a16:creationId xmlns:a16="http://schemas.microsoft.com/office/drawing/2014/main" id="{2F213B47-A89E-2F47-B962-038E40B6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2190750"/>
            <a:ext cx="4007061" cy="224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965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61549-A1F3-9546-BD11-08C54188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CCDA7-D618-4941-BFD0-9F32B03099B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6" name="Picture 5" descr="Group of people with one person pointing">
            <a:extLst>
              <a:ext uri="{FF2B5EF4-FFF2-40B4-BE49-F238E27FC236}">
                <a16:creationId xmlns:a16="http://schemas.microsoft.com/office/drawing/2014/main" id="{AD2D9423-4E83-0B46-9016-B590B1CD7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5950"/>
            <a:ext cx="2057400" cy="1694783"/>
          </a:xfrm>
          <a:prstGeom prst="rect">
            <a:avLst/>
          </a:prstGeom>
        </p:spPr>
      </p:pic>
      <p:pic>
        <p:nvPicPr>
          <p:cNvPr id="8" name="Picture 7" descr="Screenshot of Think College Learn University Design Course: https://thinkcollege.net/think-college-learn/universal-design &#10;">
            <a:extLst>
              <a:ext uri="{FF2B5EF4-FFF2-40B4-BE49-F238E27FC236}">
                <a16:creationId xmlns:a16="http://schemas.microsoft.com/office/drawing/2014/main" id="{9EE26027-7B8A-964C-98FC-23CFF6AEF3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9" t="2222" r="2000"/>
          <a:stretch/>
        </p:blipFill>
        <p:spPr>
          <a:xfrm>
            <a:off x="3048000" y="361951"/>
            <a:ext cx="5288136" cy="43491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C8CE54-A76D-E746-BE71-D3505B312AF8}"/>
              </a:ext>
            </a:extLst>
          </p:cNvPr>
          <p:cNvSpPr txBox="1"/>
          <p:nvPr/>
        </p:nvSpPr>
        <p:spPr>
          <a:xfrm>
            <a:off x="3200400" y="4743498"/>
            <a:ext cx="528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  <a:hlinkClick r:id="rId4"/>
              </a:rPr>
              <a:t>https://thinkcollege.net/think-college-learn/universal-design</a:t>
            </a: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789427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1914" y="375884"/>
            <a:ext cx="2379371" cy="41549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00" b="1" i="1" dirty="0">
                <a:solidFill>
                  <a:schemeClr val="tx1"/>
                </a:solidFill>
              </a:rPr>
              <a:t>UD Resources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D8D33E-168D-2544-8E6A-DA4CF708B5A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4" name="Picture 3" descr="Screenshot of Centre for Excellence in Universal Design website">
            <a:extLst>
              <a:ext uri="{FF2B5EF4-FFF2-40B4-BE49-F238E27FC236}">
                <a16:creationId xmlns:a16="http://schemas.microsoft.com/office/drawing/2014/main" id="{96F3F7A0-B89A-094A-8958-574FE2DE08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11" t="8889" r="4667"/>
          <a:stretch/>
        </p:blipFill>
        <p:spPr>
          <a:xfrm>
            <a:off x="914400" y="1200150"/>
            <a:ext cx="2379371" cy="2011427"/>
          </a:xfrm>
          <a:prstGeom prst="rect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</a:ln>
        </p:spPr>
      </p:pic>
      <p:pic>
        <p:nvPicPr>
          <p:cNvPr id="6" name="Picture 5" descr="Screenshot of Institute for Human Centered Design website">
            <a:extLst>
              <a:ext uri="{FF2B5EF4-FFF2-40B4-BE49-F238E27FC236}">
                <a16:creationId xmlns:a16="http://schemas.microsoft.com/office/drawing/2014/main" id="{8709C3E6-1210-3F47-ADFB-EB588FA3E4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89" t="8889" r="1111" b="8889"/>
          <a:stretch/>
        </p:blipFill>
        <p:spPr>
          <a:xfrm>
            <a:off x="4687294" y="375884"/>
            <a:ext cx="3085106" cy="2113869"/>
          </a:xfrm>
          <a:prstGeom prst="rect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</a:ln>
        </p:spPr>
      </p:pic>
      <p:pic>
        <p:nvPicPr>
          <p:cNvPr id="16" name="Picture 15" descr="Screenshot of WebAIM website">
            <a:extLst>
              <a:ext uri="{FF2B5EF4-FFF2-40B4-BE49-F238E27FC236}">
                <a16:creationId xmlns:a16="http://schemas.microsoft.com/office/drawing/2014/main" id="{0FAF6762-67CE-1B45-B35A-E3567B041C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000" t="10000" r="12600"/>
          <a:stretch/>
        </p:blipFill>
        <p:spPr>
          <a:xfrm>
            <a:off x="2792256" y="3088555"/>
            <a:ext cx="2577101" cy="18728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 descr="Screenshot of W#C Web Accessibility Initiative website">
            <a:extLst>
              <a:ext uri="{FF2B5EF4-FFF2-40B4-BE49-F238E27FC236}">
                <a16:creationId xmlns:a16="http://schemas.microsoft.com/office/drawing/2014/main" id="{457EB09C-C88F-C647-9A7E-650F8FC7D7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00" t="11333" r="13333"/>
          <a:stretch/>
        </p:blipFill>
        <p:spPr>
          <a:xfrm>
            <a:off x="5295015" y="2337203"/>
            <a:ext cx="2964208" cy="20114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4477028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3362-49AE-DC43-AC40-F648EED88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0936"/>
            <a:ext cx="2057400" cy="102892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2800" dirty="0"/>
              <a:t>UDL</a:t>
            </a:r>
            <a:br>
              <a:rPr lang="en-US" sz="2800" dirty="0"/>
            </a:br>
            <a:r>
              <a:rPr lang="en-US" sz="2800" dirty="0"/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E4F83-36E1-2E44-9D4E-BB3EA246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9652" y="4810991"/>
            <a:ext cx="1428750" cy="342900"/>
          </a:xfrm>
        </p:spPr>
        <p:txBody>
          <a:bodyPr/>
          <a:lstStyle/>
          <a:p>
            <a:pPr>
              <a:defRPr/>
            </a:pPr>
            <a:fld id="{8DFCCDA7-D618-4941-BFD0-9F32B03099BD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6" name="Picture 5" descr="Screenshot of CAST UDL on campus website">
            <a:extLst>
              <a:ext uri="{FF2B5EF4-FFF2-40B4-BE49-F238E27FC236}">
                <a16:creationId xmlns:a16="http://schemas.microsoft.com/office/drawing/2014/main" id="{8F9242FD-8095-AA4B-BA5B-F16610BC99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9" t="8888" r="1111"/>
          <a:stretch/>
        </p:blipFill>
        <p:spPr>
          <a:xfrm>
            <a:off x="5537617" y="2997056"/>
            <a:ext cx="2579243" cy="1958314"/>
          </a:xfrm>
          <a:prstGeom prst="rect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</a:ln>
        </p:spPr>
      </p:pic>
      <p:pic>
        <p:nvPicPr>
          <p:cNvPr id="8" name="Picture 7" descr="Screensbot of CAST website">
            <a:extLst>
              <a:ext uri="{FF2B5EF4-FFF2-40B4-BE49-F238E27FC236}">
                <a16:creationId xmlns:a16="http://schemas.microsoft.com/office/drawing/2014/main" id="{C4072CFB-149F-FA46-A7B3-7E2EB669AC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67" t="8889"/>
          <a:stretch/>
        </p:blipFill>
        <p:spPr>
          <a:xfrm>
            <a:off x="3276600" y="489724"/>
            <a:ext cx="2806449" cy="2145723"/>
          </a:xfrm>
          <a:prstGeom prst="rect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</a:ln>
        </p:spPr>
      </p:pic>
      <p:pic>
        <p:nvPicPr>
          <p:cNvPr id="10" name="Picture 9" descr="Screenshot of CAST Universal Design for Learning website">
            <a:extLst>
              <a:ext uri="{FF2B5EF4-FFF2-40B4-BE49-F238E27FC236}">
                <a16:creationId xmlns:a16="http://schemas.microsoft.com/office/drawing/2014/main" id="{D0371A94-959C-A540-A34C-8D08587E31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67" t="8889"/>
          <a:stretch/>
        </p:blipFill>
        <p:spPr>
          <a:xfrm>
            <a:off x="248653" y="2763382"/>
            <a:ext cx="2658034" cy="2032250"/>
          </a:xfrm>
          <a:prstGeom prst="rect">
            <a:avLst/>
          </a:prstGeom>
          <a:ln>
            <a:solidFill>
              <a:schemeClr val="accent6">
                <a:shade val="95000"/>
                <a:satMod val="105000"/>
              </a:schemeClr>
            </a:solidFill>
          </a:ln>
        </p:spPr>
      </p:pic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5DA99F18-8FFC-CB4B-B111-D50D178F4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477658"/>
            <a:ext cx="1128713" cy="112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2489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A33F4E-1B36-2F42-B210-89551D4B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61950"/>
            <a:ext cx="3124200" cy="5334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2400" dirty="0"/>
              <a:t>https://</a:t>
            </a:r>
            <a:r>
              <a:rPr lang="en-US" sz="2400" dirty="0" err="1"/>
              <a:t>aem.cast.org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E83DF-A515-F548-BA81-6B50A356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6" name="Picture 5" descr="Screenshot of National Center on Accessible Educational Materials website">
            <a:extLst>
              <a:ext uri="{FF2B5EF4-FFF2-40B4-BE49-F238E27FC236}">
                <a16:creationId xmlns:a16="http://schemas.microsoft.com/office/drawing/2014/main" id="{AC611172-63D6-A549-B6A4-75F175049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t="10000" r="19167" b="8282"/>
          <a:stretch/>
        </p:blipFill>
        <p:spPr>
          <a:xfrm>
            <a:off x="1752600" y="1123950"/>
            <a:ext cx="5410200" cy="3825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CAST Logo">
            <a:extLst>
              <a:ext uri="{FF2B5EF4-FFF2-40B4-BE49-F238E27FC236}">
                <a16:creationId xmlns:a16="http://schemas.microsoft.com/office/drawing/2014/main" id="{D55115E0-173B-0342-A763-FD2562B2C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3994546"/>
            <a:ext cx="747713" cy="74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5311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CE5B-8317-0646-95BA-A03AA6C7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66750"/>
            <a:ext cx="4572000" cy="1485900"/>
          </a:xfrm>
        </p:spPr>
        <p:txBody>
          <a:bodyPr/>
          <a:lstStyle/>
          <a:p>
            <a:r>
              <a:rPr lang="en-US" dirty="0"/>
              <a:t>Universal Design Resources Handout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CBDEB-8B7F-F74E-81AF-7485F35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079FF-467D-6D41-A1F4-C32363388CCE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5" name="Picture 4" descr="Picture of Universal Design Resources handout">
            <a:extLst>
              <a:ext uri="{FF2B5EF4-FFF2-40B4-BE49-F238E27FC236}">
                <a16:creationId xmlns:a16="http://schemas.microsoft.com/office/drawing/2014/main" id="{2F8C63A6-2771-5B4D-851E-BD3FB6A88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19150"/>
            <a:ext cx="3141154" cy="4065022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72592385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A81B84-A041-A649-A3D8-ED2F003C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895350"/>
            <a:ext cx="5486400" cy="26289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cap="small" dirty="0"/>
              <a:t>Legal Requirements and Accommodations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91301-3C5D-EC46-9112-F8BAC36B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6" name="Picture 5" descr="Law book with gavel on top">
            <a:extLst>
              <a:ext uri="{FF2B5EF4-FFF2-40B4-BE49-F238E27FC236}">
                <a16:creationId xmlns:a16="http://schemas.microsoft.com/office/drawing/2014/main" id="{A9AD9003-1F14-414D-AC86-5CA7D41DF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975" y="3524250"/>
            <a:ext cx="2224545" cy="146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1712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08D9-A2B2-A34F-8FD8-FDCAABD8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cap="small" dirty="0"/>
              <a:t>Legal protections for students with disabilities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EAF5-340C-C44F-8C7C-E18FC4B25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428750"/>
            <a:ext cx="6172200" cy="1428750"/>
          </a:xfrm>
        </p:spPr>
        <p:txBody>
          <a:bodyPr/>
          <a:lstStyle/>
          <a:p>
            <a:r>
              <a:rPr lang="en-US" b="1" dirty="0"/>
              <a:t>Americans with Disabilities Act (ADA):</a:t>
            </a:r>
            <a:br>
              <a:rPr lang="en-US" b="1" dirty="0"/>
            </a:br>
            <a:r>
              <a:rPr lang="en-US" dirty="0"/>
              <a:t>applies to any program receiving state or local funds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Section 504 of the Rehabilitation Act:</a:t>
            </a:r>
            <a:br>
              <a:rPr lang="en-US" b="1" dirty="0"/>
            </a:br>
            <a:r>
              <a:rPr lang="en-US" dirty="0"/>
              <a:t>applies to any program receiving federal funds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FB25-4DA4-6945-8508-46BE9A77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F1283-0AD3-134A-B7F1-16810DF05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43150" y="3600451"/>
            <a:ext cx="4229100" cy="738664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b="1" i="1" dirty="0"/>
              <a:t>Requirements are virtually</a:t>
            </a:r>
            <a:br>
              <a:rPr lang="en-US" sz="2100" b="1" i="1" dirty="0"/>
            </a:br>
            <a:r>
              <a:rPr lang="en-US" sz="2100" b="1" i="1" dirty="0"/>
              <a:t>the same under both</a:t>
            </a:r>
          </a:p>
        </p:txBody>
      </p:sp>
    </p:spTree>
    <p:extLst>
      <p:ext uri="{BB962C8B-B14F-4D97-AF65-F5344CB8AC3E}">
        <p14:creationId xmlns:p14="http://schemas.microsoft.com/office/powerpoint/2010/main" val="267941624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8D42CF21-3FAA-604B-9F6C-9780F55B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217" y="742950"/>
            <a:ext cx="4465183" cy="4157663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A physical or mental impairment that substantially limits one or more </a:t>
            </a:r>
            <a:r>
              <a:rPr lang="en-US" altLang="en-US" sz="2100" b="1" i="1" dirty="0">
                <a:ea typeface="ＭＳ Ｐゴシック" panose="020B0600070205080204" pitchFamily="34" charset="-128"/>
              </a:rPr>
              <a:t>major life activities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A record of such an impairment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Being regarded as having such an impairment, even when no limitations exist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1">
            <a:extLst>
              <a:ext uri="{FF2B5EF4-FFF2-40B4-BE49-F238E27FC236}">
                <a16:creationId xmlns:a16="http://schemas.microsoft.com/office/drawing/2014/main" id="{5E4D52A0-A54A-D941-9468-6A770ECA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DFD85E07-134C-3446-B703-EC38792F86BB}" type="slidenum">
              <a:rPr lang="en-US" altLang="en-US" sz="1050">
                <a:solidFill>
                  <a:srgbClr val="FFFFFF"/>
                </a:solidFill>
              </a:rPr>
              <a:pPr/>
              <a:t>27</a:t>
            </a:fld>
            <a:endParaRPr lang="en-US" altLang="en-US" sz="105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9707A-6851-434C-9A60-5AB5F734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33400" y="742950"/>
            <a:ext cx="2288041" cy="1338828"/>
          </a:xfrm>
          <a:prstGeom prst="rect">
            <a:avLst/>
          </a:prstGeom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6">
                <a:shade val="30000"/>
                <a:satMod val="130000"/>
              </a:schemeClr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700" b="1" u="sng" dirty="0"/>
              <a:t>Disability</a:t>
            </a:r>
            <a:br>
              <a:rPr lang="en-US" sz="2700" b="1" u="sng" dirty="0"/>
            </a:br>
            <a:r>
              <a:rPr lang="en-US" sz="2700" i="1" dirty="0"/>
              <a:t>as defined by the ADA</a:t>
            </a:r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6D76-FAE3-FE40-ACAA-19ABA2E50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14350"/>
            <a:ext cx="2286000" cy="1485900"/>
          </a:xfrm>
          <a:effectLst>
            <a:glow rad="139700">
              <a:schemeClr val="accent3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3">
                <a:shade val="30000"/>
                <a:satMod val="130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cap="small" dirty="0"/>
              <a:t>What is accessible?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8FD9-C3AB-9E45-BAB3-5C47E7CC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971550"/>
            <a:ext cx="4724400" cy="2914650"/>
          </a:xfrm>
        </p:spPr>
        <p:txBody>
          <a:bodyPr/>
          <a:lstStyle/>
          <a:p>
            <a:r>
              <a:rPr lang="en-US" dirty="0"/>
              <a:t>An individual with a disability is allowed to:</a:t>
            </a:r>
          </a:p>
          <a:p>
            <a:pPr lvl="1"/>
            <a:r>
              <a:rPr lang="en-US" sz="1800" i="1" dirty="0"/>
              <a:t>receive same information</a:t>
            </a:r>
          </a:p>
          <a:p>
            <a:pPr lvl="1"/>
            <a:r>
              <a:rPr lang="en-US" sz="1800" i="1" dirty="0"/>
              <a:t>participate in same interactions</a:t>
            </a:r>
          </a:p>
          <a:p>
            <a:pPr lvl="1"/>
            <a:r>
              <a:rPr lang="en-US" sz="1800" i="1" dirty="0"/>
              <a:t>have same services</a:t>
            </a:r>
          </a:p>
          <a:p>
            <a:pPr marL="0" indent="0">
              <a:buNone/>
            </a:pPr>
            <a:r>
              <a:rPr lang="en-US" dirty="0"/>
              <a:t> as a person without a disability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Participation is carried out in equal and integrative ways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CA3B8-8467-A546-BC3D-F31623CD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6" name="Picture 5" descr="Person sitting in chair at conputer screen">
            <a:extLst>
              <a:ext uri="{FF2B5EF4-FFF2-40B4-BE49-F238E27FC236}">
                <a16:creationId xmlns:a16="http://schemas.microsoft.com/office/drawing/2014/main" id="{93319A8C-30F7-D248-BC49-B140FF0CB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8200" y="2190750"/>
            <a:ext cx="1730020" cy="262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4076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5EEA-F9A1-1246-821A-18EBC43C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950" y="742950"/>
            <a:ext cx="4362450" cy="3829050"/>
          </a:xfrm>
        </p:spPr>
        <p:txBody>
          <a:bodyPr/>
          <a:lstStyle/>
          <a:p>
            <a:pPr>
              <a:lnSpc>
                <a:spcPts val="2460"/>
              </a:lnSpc>
            </a:pPr>
            <a:r>
              <a:rPr lang="en-US" dirty="0"/>
              <a:t>Any adjustment or altering of a task, process, or environment that will allow equal participation for individuals with disabilities </a:t>
            </a:r>
          </a:p>
          <a:p>
            <a:pPr>
              <a:lnSpc>
                <a:spcPts val="2460"/>
              </a:lnSpc>
            </a:pPr>
            <a:endParaRPr lang="en-US" dirty="0"/>
          </a:p>
          <a:p>
            <a:pPr>
              <a:lnSpc>
                <a:spcPts val="2460"/>
              </a:lnSpc>
            </a:pPr>
            <a:r>
              <a:rPr lang="en-US" dirty="0"/>
              <a:t>Must be provided to a </a:t>
            </a:r>
            <a:r>
              <a:rPr lang="en-US" b="1" i="1" dirty="0"/>
              <a:t>qualified individual with a disability </a:t>
            </a:r>
            <a:r>
              <a:rPr lang="en-US" dirty="0"/>
              <a:t>unless program can demonstrate that the accommodation would impose an </a:t>
            </a:r>
            <a:r>
              <a:rPr lang="en-US" b="1" i="1" dirty="0"/>
              <a:t>”undue hardship” </a:t>
            </a:r>
            <a:r>
              <a:rPr lang="en-US" dirty="0"/>
              <a:t>or substantially alter nature of the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4CF71-A2C5-9A49-A3D8-3B4912D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A652C558-0E3F-FA48-8182-134947039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590550"/>
            <a:ext cx="2857500" cy="1257300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100" b="1" cap="small" dirty="0"/>
              <a:t>Reasonable Accommodations</a:t>
            </a:r>
          </a:p>
        </p:txBody>
      </p:sp>
    </p:spTree>
    <p:extLst>
      <p:ext uri="{BB962C8B-B14F-4D97-AF65-F5344CB8AC3E}">
        <p14:creationId xmlns:p14="http://schemas.microsoft.com/office/powerpoint/2010/main" val="3070934440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8793-B691-CC4B-B952-D64B6335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382316"/>
            <a:ext cx="6858000" cy="742950"/>
          </a:xfrm>
        </p:spPr>
        <p:txBody>
          <a:bodyPr>
            <a:normAutofit/>
          </a:bodyPr>
          <a:lstStyle/>
          <a:p>
            <a:r>
              <a:rPr lang="en-US" sz="2550" b="1" cap="small" dirty="0"/>
              <a:t>Implications for Adult Education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242E4-F46A-8146-A3E1-CAC1FEAEB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May not discriminate against individuals with disabilities regarding:</a:t>
            </a:r>
          </a:p>
          <a:p>
            <a:pPr lvl="1"/>
            <a:r>
              <a:rPr lang="en-US" sz="1800" i="1" dirty="0"/>
              <a:t>Eligibility and admission</a:t>
            </a:r>
          </a:p>
          <a:p>
            <a:pPr lvl="1"/>
            <a:r>
              <a:rPr lang="en-US" sz="1800" i="1" dirty="0"/>
              <a:t>Providing instruction and other services </a:t>
            </a:r>
          </a:p>
          <a:p>
            <a:pPr marL="205978" lvl="1" indent="0">
              <a:buNone/>
            </a:pPr>
            <a:endParaRPr lang="en-US" sz="1800" i="1" dirty="0"/>
          </a:p>
          <a:p>
            <a:r>
              <a:rPr lang="en-US" b="1" dirty="0"/>
              <a:t>Must be both </a:t>
            </a:r>
            <a:r>
              <a:rPr lang="en-US" b="1" i="1" dirty="0"/>
              <a:t>proactive</a:t>
            </a:r>
            <a:r>
              <a:rPr lang="en-US" b="1" dirty="0"/>
              <a:t> and </a:t>
            </a:r>
            <a:r>
              <a:rPr lang="en-US" b="1" i="1" dirty="0"/>
              <a:t>reactive</a:t>
            </a:r>
          </a:p>
          <a:p>
            <a:pPr lvl="1">
              <a:spcBef>
                <a:spcPts val="1260"/>
              </a:spcBef>
            </a:pPr>
            <a:r>
              <a:rPr lang="en-US" sz="1800" u="sng" dirty="0"/>
              <a:t>PROACTIVE</a:t>
            </a:r>
            <a:r>
              <a:rPr lang="en-US" sz="1800" dirty="0"/>
              <a:t>: Programs must be </a:t>
            </a:r>
            <a:r>
              <a:rPr lang="en-US" sz="1800" b="1" i="1" dirty="0"/>
              <a:t>accessible</a:t>
            </a:r>
            <a:r>
              <a:rPr lang="en-US" sz="1800" dirty="0"/>
              <a:t> and </a:t>
            </a:r>
            <a:r>
              <a:rPr lang="en-US" sz="1800" b="1" i="1" dirty="0"/>
              <a:t>barrier free </a:t>
            </a:r>
          </a:p>
          <a:p>
            <a:pPr lvl="1">
              <a:spcBef>
                <a:spcPts val="1260"/>
              </a:spcBef>
            </a:pPr>
            <a:r>
              <a:rPr lang="en-US" sz="1800" u="sng" dirty="0"/>
              <a:t>REACTIVE</a:t>
            </a:r>
            <a:r>
              <a:rPr lang="en-US" sz="1800" dirty="0"/>
              <a:t>: Must offer </a:t>
            </a:r>
            <a:r>
              <a:rPr lang="en-US" sz="1800" b="1" i="1" dirty="0"/>
              <a:t>reasonable accommodations </a:t>
            </a:r>
            <a:r>
              <a:rPr lang="en-US" sz="1800" dirty="0"/>
              <a:t>that will assist individuals with disabilities to have an equal opportunity to participate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9581-7338-054B-949A-BC0AB7F4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82502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77A4-84A7-264B-8AEF-E59A2DBA1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984" y="457200"/>
            <a:ext cx="2680854" cy="222885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2700" cap="small" dirty="0"/>
              <a:t>ADA Standards for Adult and Community Learning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FA73-D5F5-8E4B-9331-AD8ADC9F9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628650"/>
            <a:ext cx="4305300" cy="4458999"/>
          </a:xfrm>
        </p:spPr>
        <p:txBody>
          <a:bodyPr/>
          <a:lstStyle/>
          <a:p>
            <a:pPr>
              <a:spcBef>
                <a:spcPts val="1332"/>
              </a:spcBef>
            </a:pPr>
            <a:r>
              <a:rPr lang="en-US" dirty="0"/>
              <a:t>Must have an ADA Coordinator</a:t>
            </a:r>
          </a:p>
          <a:p>
            <a:pPr>
              <a:spcBef>
                <a:spcPts val="1332"/>
              </a:spcBef>
            </a:pPr>
            <a:r>
              <a:rPr lang="en-US" dirty="0"/>
              <a:t>Post public notice of</a:t>
            </a:r>
            <a:br>
              <a:rPr lang="en-US" dirty="0"/>
            </a:br>
            <a:r>
              <a:rPr lang="en-US" dirty="0"/>
              <a:t>non-discrimination</a:t>
            </a:r>
          </a:p>
          <a:p>
            <a:pPr>
              <a:spcBef>
                <a:spcPts val="1332"/>
              </a:spcBef>
            </a:pPr>
            <a:r>
              <a:rPr lang="en-US" dirty="0"/>
              <a:t>Establish and publish a written grievance procedure</a:t>
            </a:r>
          </a:p>
          <a:p>
            <a:pPr>
              <a:spcBef>
                <a:spcPts val="1332"/>
              </a:spcBef>
            </a:pPr>
            <a:r>
              <a:rPr lang="en-US" dirty="0"/>
              <a:t>Must conduct a one-time self-evaluation on accessibility</a:t>
            </a:r>
          </a:p>
          <a:p>
            <a:pPr>
              <a:spcBef>
                <a:spcPts val="1332"/>
              </a:spcBef>
            </a:pPr>
            <a:r>
              <a:rPr lang="en-US" dirty="0"/>
              <a:t>Must have a transition plan for removal of any physical barriers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7381C-22A9-6449-A485-ACB5F076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pic>
        <p:nvPicPr>
          <p:cNvPr id="6" name="Picture 5" descr="Logo of Massachusetts Department of Elementary &amp; Secondary Education">
            <a:extLst>
              <a:ext uri="{FF2B5EF4-FFF2-40B4-BE49-F238E27FC236}">
                <a16:creationId xmlns:a16="http://schemas.microsoft.com/office/drawing/2014/main" id="{94BC292C-B88D-CD4A-AAFD-4EF01ED58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85" y="3143250"/>
            <a:ext cx="236482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55542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C205-AE83-9F4C-A52C-A58A14F7B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2900"/>
            <a:ext cx="2590800" cy="17907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Proactive Approach to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CE38-1254-0F47-AB4F-16DA4607E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0" y="400050"/>
            <a:ext cx="5791200" cy="1676400"/>
          </a:xfrm>
        </p:spPr>
        <p:txBody>
          <a:bodyPr/>
          <a:lstStyle/>
          <a:p>
            <a:pPr>
              <a:spcBef>
                <a:spcPts val="1032"/>
              </a:spcBef>
            </a:pPr>
            <a:r>
              <a:rPr lang="en-US" sz="2000" dirty="0"/>
              <a:t>Emphasize goal of meeting needs of all learners and full accessibility for all</a:t>
            </a:r>
          </a:p>
          <a:p>
            <a:pPr>
              <a:spcBef>
                <a:spcPts val="1032"/>
              </a:spcBef>
            </a:pPr>
            <a:r>
              <a:rPr lang="en-US" sz="2000" dirty="0"/>
              <a:t>Universal awareness of right to accommodation and how to request</a:t>
            </a:r>
          </a:p>
          <a:p>
            <a:pPr>
              <a:spcBef>
                <a:spcPts val="1032"/>
              </a:spcBef>
            </a:pPr>
            <a:r>
              <a:rPr lang="en-US" sz="2000" dirty="0"/>
              <a:t>Accommodation request procedures: simple, clear, emphasis on privacy</a:t>
            </a:r>
          </a:p>
          <a:p>
            <a:pPr>
              <a:spcBef>
                <a:spcPts val="1032"/>
              </a:spcBef>
            </a:pPr>
            <a:r>
              <a:rPr lang="en-US" sz="2000" dirty="0"/>
              <a:t>Provide name and contact for ADA Coordinator</a:t>
            </a:r>
          </a:p>
          <a:p>
            <a:pPr>
              <a:spcBef>
                <a:spcPts val="1032"/>
              </a:spcBef>
            </a:pPr>
            <a:r>
              <a:rPr lang="en-US" sz="2000" dirty="0"/>
              <a:t>Include information in:</a:t>
            </a:r>
          </a:p>
          <a:p>
            <a:pPr lvl="1"/>
            <a:r>
              <a:rPr lang="en-US" sz="2000" i="1" dirty="0"/>
              <a:t>Course information &amp; registration materials</a:t>
            </a:r>
          </a:p>
          <a:p>
            <a:pPr lvl="1"/>
            <a:r>
              <a:rPr lang="en-US" sz="2000" i="1" dirty="0"/>
              <a:t>Syllabus</a:t>
            </a:r>
          </a:p>
          <a:p>
            <a:pPr lvl="1"/>
            <a:r>
              <a:rPr lang="en-US" sz="2000" i="1" dirty="0"/>
              <a:t>Orientation</a:t>
            </a:r>
          </a:p>
          <a:p>
            <a:pPr lvl="1"/>
            <a:r>
              <a:rPr lang="en-US" sz="2000" i="1" dirty="0"/>
              <a:t>First class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B0BC8-7EA7-334A-8621-6CCA9962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823833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DC9F-D5C6-AC48-A778-08A54B19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1028700"/>
            <a:ext cx="6172200" cy="1771650"/>
          </a:xfr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Reasonable Accommodations in Adult Education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DF5CD-C7C9-A24C-9C24-89BF153B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9674A1-C0B2-7B45-BF12-63A3E46A1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383" y="2057400"/>
            <a:ext cx="4144618" cy="29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60882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DA00-86E9-7D4D-9272-92C4DD3D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260747"/>
            <a:ext cx="6172200" cy="7429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Dealing with accommodation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E8E3B-BF1A-F845-895B-AF224F96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745" y="1003697"/>
            <a:ext cx="6107806" cy="2000250"/>
          </a:xfrm>
        </p:spPr>
        <p:txBody>
          <a:bodyPr/>
          <a:lstStyle/>
          <a:p>
            <a:pPr marL="342900" indent="-342900">
              <a:spcBef>
                <a:spcPts val="900"/>
              </a:spcBef>
              <a:buFont typeface="+mj-lt"/>
              <a:buAutoNum type="arabicPeriod"/>
            </a:pPr>
            <a:r>
              <a:rPr lang="en-US" b="1" dirty="0"/>
              <a:t>Contact ADA coordinator</a:t>
            </a:r>
          </a:p>
          <a:p>
            <a:pPr marL="342900" indent="-342900">
              <a:spcBef>
                <a:spcPts val="900"/>
              </a:spcBef>
              <a:buFont typeface="+mj-lt"/>
              <a:buAutoNum type="arabicPeriod"/>
            </a:pPr>
            <a:r>
              <a:rPr lang="en-US" b="1" dirty="0"/>
              <a:t>Discuss in private</a:t>
            </a:r>
          </a:p>
          <a:p>
            <a:pPr marL="342900" indent="-342900">
              <a:spcBef>
                <a:spcPts val="900"/>
              </a:spcBef>
              <a:buFont typeface="+mj-lt"/>
              <a:buAutoNum type="arabicPeriod"/>
            </a:pPr>
            <a:r>
              <a:rPr lang="en-US" b="1" dirty="0"/>
              <a:t>Use a functional approach:</a:t>
            </a:r>
          </a:p>
          <a:p>
            <a:pPr lvl="2"/>
            <a:r>
              <a:rPr lang="en-US" sz="1500" i="1" dirty="0"/>
              <a:t>What does the student need help with?</a:t>
            </a:r>
          </a:p>
          <a:p>
            <a:pPr lvl="2"/>
            <a:r>
              <a:rPr lang="en-US" sz="1500" i="1" dirty="0"/>
              <a:t>What are possible solutions?</a:t>
            </a:r>
          </a:p>
          <a:p>
            <a:pPr lvl="2"/>
            <a:r>
              <a:rPr lang="en-US" sz="1500" i="1" dirty="0"/>
              <a:t>What has student previously used for accommodations in similar situations?</a:t>
            </a:r>
          </a:p>
          <a:p>
            <a:pPr marL="342900" indent="-342900">
              <a:spcBef>
                <a:spcPts val="882"/>
              </a:spcBef>
              <a:buFont typeface="+mj-lt"/>
              <a:buAutoNum type="arabicPeriod"/>
            </a:pPr>
            <a:r>
              <a:rPr lang="en-US" b="1" dirty="0"/>
              <a:t>Document using a standard format</a:t>
            </a:r>
          </a:p>
          <a:p>
            <a:pPr marL="342900" indent="-342900">
              <a:spcBef>
                <a:spcPts val="882"/>
              </a:spcBef>
              <a:buFont typeface="+mj-lt"/>
              <a:buAutoNum type="arabicPeriod"/>
            </a:pPr>
            <a:r>
              <a:rPr lang="en-US" b="1" dirty="0"/>
              <a:t>Don’t presume</a:t>
            </a:r>
          </a:p>
          <a:p>
            <a:pPr marL="342900" indent="-342900">
              <a:spcBef>
                <a:spcPts val="882"/>
              </a:spcBef>
              <a:buFont typeface="+mj-lt"/>
              <a:buAutoNum type="arabicPeriod"/>
            </a:pPr>
            <a:r>
              <a:rPr lang="en-US" b="1" dirty="0"/>
              <a:t>Consult with external resources as necessary</a:t>
            </a:r>
          </a:p>
          <a:p>
            <a:pPr marL="342900" indent="-342900">
              <a:spcBef>
                <a:spcPts val="882"/>
              </a:spcBef>
              <a:buFont typeface="+mj-lt"/>
              <a:buAutoNum type="arabicPeriod"/>
            </a:pPr>
            <a:r>
              <a:rPr lang="en-US" b="1" dirty="0"/>
              <a:t>Evaluate and modify accommodation as necessary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D7E29-D69D-5849-B4D7-450D3135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238986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720D-DED5-B045-954C-7386D4844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367" y="1200150"/>
            <a:ext cx="4036433" cy="3143250"/>
          </a:xfrm>
        </p:spPr>
        <p:txBody>
          <a:bodyPr/>
          <a:lstStyle/>
          <a:p>
            <a:r>
              <a:rPr lang="en-US" sz="2100" b="1" dirty="0"/>
              <a:t>If needing an accommodation:</a:t>
            </a:r>
          </a:p>
          <a:p>
            <a:pPr lvl="1">
              <a:spcBef>
                <a:spcPts val="882"/>
              </a:spcBef>
            </a:pPr>
            <a:r>
              <a:rPr lang="en-US" sz="1800" i="1" dirty="0"/>
              <a:t>Identifying themselves as having a disability</a:t>
            </a:r>
          </a:p>
          <a:p>
            <a:pPr lvl="1">
              <a:spcBef>
                <a:spcPts val="882"/>
              </a:spcBef>
            </a:pPr>
            <a:r>
              <a:rPr lang="en-US" sz="1800" i="1" dirty="0"/>
              <a:t>Providing documentation regarding their disability and need for accommodation</a:t>
            </a:r>
          </a:p>
          <a:p>
            <a:pPr lvl="1">
              <a:spcBef>
                <a:spcPts val="882"/>
              </a:spcBef>
            </a:pPr>
            <a:r>
              <a:rPr lang="en-US" sz="1800" i="1" dirty="0"/>
              <a:t>Requesting accommodation in a timely fashion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F1DD0-0BD8-E845-A494-74D485E8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9" name="Picture 8" descr="Pencil sitting in school chair holding sign: Responsibilities of Students with Disabilities">
            <a:extLst>
              <a:ext uri="{FF2B5EF4-FFF2-40B4-BE49-F238E27FC236}">
                <a16:creationId xmlns:a16="http://schemas.microsoft.com/office/drawing/2014/main" id="{0B2FD19E-8BB9-A143-98EA-9BC5A06FC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1" y="255112"/>
            <a:ext cx="3219614" cy="367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66215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C7A3-DF7C-1044-A77C-084437AB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1950"/>
            <a:ext cx="2286000" cy="742950"/>
          </a:xfrm>
        </p:spPr>
        <p:txBody>
          <a:bodyPr/>
          <a:lstStyle/>
          <a:p>
            <a:r>
              <a:rPr lang="en-US" b="1" i="1" dirty="0"/>
              <a:t>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719D7-79C2-E64F-89AB-B9D06782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pic>
        <p:nvPicPr>
          <p:cNvPr id="6" name="Picture 5" descr="Person sittting at laptop computer keyboard with words on screen: Examples of Accommodations for Online Learning">
            <a:extLst>
              <a:ext uri="{FF2B5EF4-FFF2-40B4-BE49-F238E27FC236}">
                <a16:creationId xmlns:a16="http://schemas.microsoft.com/office/drawing/2014/main" id="{6B2307BA-46DE-224B-BF86-8F33BDC3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6350"/>
            <a:ext cx="63500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40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3C3E-959B-944C-837A-A6CFF75AA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5" y="352198"/>
            <a:ext cx="3257550" cy="875195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/>
              <a:t>ADA &amp; Accessibility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6E26D-EB8A-8641-B5F9-79D928F2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6" name="Picture 5" descr="Screenshot of ADA.Gov website">
            <a:extLst>
              <a:ext uri="{FF2B5EF4-FFF2-40B4-BE49-F238E27FC236}">
                <a16:creationId xmlns:a16="http://schemas.microsoft.com/office/drawing/2014/main" id="{2770E5BB-5C6D-694A-B1AA-A1D15969AC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65" t="9412" r="17646" b="-1176"/>
          <a:stretch/>
        </p:blipFill>
        <p:spPr>
          <a:xfrm>
            <a:off x="3719988" y="934640"/>
            <a:ext cx="1943100" cy="15787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Screenshot of New England ADA Center">
            <a:extLst>
              <a:ext uri="{FF2B5EF4-FFF2-40B4-BE49-F238E27FC236}">
                <a16:creationId xmlns:a16="http://schemas.microsoft.com/office/drawing/2014/main" id="{490D8883-CCFF-D045-B98D-C0970B0A3B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500" t="8667" r="14166"/>
          <a:stretch/>
        </p:blipFill>
        <p:spPr>
          <a:xfrm>
            <a:off x="4191000" y="3257550"/>
            <a:ext cx="2172944" cy="16914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Screenshot of National Center on Educational Outomces website">
            <a:extLst>
              <a:ext uri="{FF2B5EF4-FFF2-40B4-BE49-F238E27FC236}">
                <a16:creationId xmlns:a16="http://schemas.microsoft.com/office/drawing/2014/main" id="{5C8305A6-B343-7543-BD2D-E09E60895F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33" t="8667" r="18333"/>
          <a:stretch/>
        </p:blipFill>
        <p:spPr>
          <a:xfrm>
            <a:off x="468803" y="1520297"/>
            <a:ext cx="1848413" cy="1489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 descr="Screenshot of Job Acconmmodation Network website">
            <a:extLst>
              <a:ext uri="{FF2B5EF4-FFF2-40B4-BE49-F238E27FC236}">
                <a16:creationId xmlns:a16="http://schemas.microsoft.com/office/drawing/2014/main" id="{364EEA79-A9E3-D745-922E-E80D517587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000" t="10000" r="13333"/>
          <a:stretch/>
        </p:blipFill>
        <p:spPr>
          <a:xfrm>
            <a:off x="1828800" y="2282143"/>
            <a:ext cx="2249374" cy="15493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Picture of Disability Resources -  Accessibnility, Accommodations and Assistive Technology handout">
            <a:extLst>
              <a:ext uri="{FF2B5EF4-FFF2-40B4-BE49-F238E27FC236}">
                <a16:creationId xmlns:a16="http://schemas.microsoft.com/office/drawing/2014/main" id="{9D0B4C25-4228-074A-ACBA-E2DAAFAF6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200" y="1285875"/>
            <a:ext cx="1987262" cy="2571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542728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FDB48A-EDA4-2B41-A19E-3E3B72E98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1845845"/>
            <a:ext cx="4343400" cy="742950"/>
          </a:xfrm>
          <a:scene3d>
            <a:camera prst="isometricOffAxis1Right"/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3">
                <a:shade val="30000"/>
                <a:satMod val="130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4800" dirty="0"/>
              <a:t>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9988D-0343-2D45-A73E-1DD80BB8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760686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8B66-6675-114E-8DB9-E577B5AF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</p:spPr>
        <p:txBody>
          <a:bodyPr anchor="ctr">
            <a:normAutofit/>
          </a:bodyPr>
          <a:lstStyle/>
          <a:p>
            <a:r>
              <a:rPr lang="en-US" dirty="0"/>
              <a:t>Individualized Student-Centered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198D7-5BEA-254E-AE3B-45B4B2E0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4289"/>
            <a:ext cx="1066800" cy="24646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6DFFECAE-5558-FC4F-A5D5-814DD6134961}" type="slidenum">
              <a:rPr lang="en-US" altLang="en-US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39</a:t>
            </a:fld>
            <a:endParaRPr lang="en-US" alt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8E56F20-29D4-4E2F-8559-F6494E75E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437402"/>
              </p:ext>
            </p:extLst>
          </p:nvPr>
        </p:nvGraphicFramePr>
        <p:xfrm>
          <a:off x="457200" y="1200150"/>
          <a:ext cx="82296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3481180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7387D-D1BD-964D-A44A-8E750629D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1163053"/>
            <a:ext cx="5486400" cy="3505200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Get ongoing feedback from students about your virtual instruction: what’s working, areas for improvement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Use surveys, rubrics, or journaling to give students chance to assess their own learning and provide feedback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8C6FD-5AD5-4347-8C8A-64F6474D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D6DB6A14-9816-7C48-9F03-3DCFFC83A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00" y="590550"/>
            <a:ext cx="2133600" cy="11430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Ongoing feedback &amp; evaluation</a:t>
            </a:r>
          </a:p>
        </p:txBody>
      </p:sp>
      <p:pic>
        <p:nvPicPr>
          <p:cNvPr id="9" name="Graphic 8" descr="Circles with arrows with solid fill">
            <a:extLst>
              <a:ext uri="{FF2B5EF4-FFF2-40B4-BE49-F238E27FC236}">
                <a16:creationId xmlns:a16="http://schemas.microsoft.com/office/drawing/2014/main" id="{4EC94ED6-D8DC-F44F-83A3-FE1DE3ABE0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" y="1809750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79237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59EB-C4C0-FD41-9008-8690EBC21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" y="289825"/>
            <a:ext cx="4648200" cy="587575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Basics of Online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5003-0B17-A840-9C00-B03CDEEFA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47750"/>
            <a:ext cx="8229600" cy="3657600"/>
          </a:xfrm>
        </p:spPr>
        <p:txBody>
          <a:bodyPr/>
          <a:lstStyle/>
          <a:p>
            <a:r>
              <a:rPr lang="en-US" sz="2000" dirty="0"/>
              <a:t>Review technology features at beginning of each lesson</a:t>
            </a:r>
          </a:p>
          <a:p>
            <a:pPr>
              <a:spcBef>
                <a:spcPts val="1080"/>
              </a:spcBef>
            </a:pPr>
            <a:r>
              <a:rPr lang="en-US" sz="2000" dirty="0"/>
              <a:t>Empower students to customize to individual needs</a:t>
            </a:r>
          </a:p>
          <a:p>
            <a:pPr lvl="1"/>
            <a:r>
              <a:rPr lang="en-US" sz="2000" i="1" dirty="0"/>
              <a:t>Video: on or off?</a:t>
            </a:r>
          </a:p>
          <a:p>
            <a:pPr>
              <a:spcBef>
                <a:spcPts val="1080"/>
              </a:spcBef>
            </a:pPr>
            <a:r>
              <a:rPr lang="en-US" sz="2000" dirty="0"/>
              <a:t>Use variety of methods for presenting/learning/engagement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Slides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Video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Websites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Polls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Breakout rooms</a:t>
            </a:r>
          </a:p>
          <a:p>
            <a:pPr>
              <a:spcBef>
                <a:spcPts val="1080"/>
              </a:spcBef>
            </a:pPr>
            <a:r>
              <a:rPr lang="en-US" sz="2000" dirty="0"/>
              <a:t>Have visuals on-screen only as necessary</a:t>
            </a:r>
          </a:p>
          <a:p>
            <a:pPr>
              <a:spcBef>
                <a:spcPts val="1080"/>
              </a:spcBef>
            </a:pPr>
            <a:r>
              <a:rPr lang="en-US" sz="2000" dirty="0"/>
              <a:t>Provide breaks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D743D-7ACB-684C-A7FD-94F12462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EF209-5FC6-8949-8539-C5D12AE30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12" y="3180989"/>
            <a:ext cx="2231125" cy="18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08693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B928-6F2B-8041-88C8-7A65F8BB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98591"/>
            <a:ext cx="2286000" cy="74295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7FD7C-CDDD-2748-BCE4-4E093284B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269460"/>
            <a:ext cx="6096000" cy="3575449"/>
          </a:xfrm>
        </p:spPr>
        <p:txBody>
          <a:bodyPr/>
          <a:lstStyle/>
          <a:p>
            <a:r>
              <a:rPr lang="en-US" sz="2800" dirty="0"/>
              <a:t>Ideas for maintaining ongoing engagement online employing principles of UDL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50CDF-8A82-EF48-8558-4E9979B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6" name="Picture 5" descr="A group of people sitting in chairs&#10;">
            <a:extLst>
              <a:ext uri="{FF2B5EF4-FFF2-40B4-BE49-F238E27FC236}">
                <a16:creationId xmlns:a16="http://schemas.microsoft.com/office/drawing/2014/main" id="{91F64D92-8154-AE49-860A-D7FADBF4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724150"/>
            <a:ext cx="4105442" cy="256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97036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7350" y="457200"/>
            <a:ext cx="5829300" cy="857250"/>
          </a:xfrm>
          <a:solidFill>
            <a:srgbClr val="006699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FFFFFF"/>
                </a:solidFill>
              </a:rPr>
              <a:t>Questions, Comments</a:t>
            </a:r>
          </a:p>
        </p:txBody>
      </p:sp>
      <p:pic>
        <p:nvPicPr>
          <p:cNvPr id="35844" name="Picture 4" descr="Picture of quesiton ma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1968103"/>
            <a:ext cx="2286000" cy="163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 descr="Graphic of two people tal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2800350"/>
            <a:ext cx="20002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00800" y="4743450"/>
            <a:ext cx="1428750" cy="342900"/>
          </a:xfrm>
        </p:spPr>
        <p:txBody>
          <a:bodyPr/>
          <a:lstStyle/>
          <a:p>
            <a:pPr>
              <a:defRPr/>
            </a:pPr>
            <a:fld id="{9409278C-3FA7-7845-A8F1-E8479B58F9A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47644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Mass Boston Logo">
            <a:extLst>
              <a:ext uri="{FF2B5EF4-FFF2-40B4-BE49-F238E27FC236}">
                <a16:creationId xmlns:a16="http://schemas.microsoft.com/office/drawing/2014/main" id="{DEA31C9C-0591-774F-A16C-E4DD96EA3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3817946"/>
            <a:ext cx="785813" cy="1047750"/>
          </a:xfrm>
          <a:prstGeom prst="rect">
            <a:avLst/>
          </a:prstGeom>
        </p:spPr>
      </p:pic>
      <p:pic>
        <p:nvPicPr>
          <p:cNvPr id="8" name="Picture 7" descr="ICI Logo: Employment, Education, Community Life, Health Care">
            <a:extLst>
              <a:ext uri="{FF2B5EF4-FFF2-40B4-BE49-F238E27FC236}">
                <a16:creationId xmlns:a16="http://schemas.microsoft.com/office/drawing/2014/main" id="{F533AFC3-887E-1A4B-8711-45172EB3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457200"/>
            <a:ext cx="1476375" cy="1409700"/>
          </a:xfrm>
          <a:prstGeom prst="rect">
            <a:avLst/>
          </a:prstGeom>
        </p:spPr>
      </p:pic>
      <p:pic>
        <p:nvPicPr>
          <p:cNvPr id="18" name="Picture 17" descr="Sign: Thank you!">
            <a:extLst>
              <a:ext uri="{FF2B5EF4-FFF2-40B4-BE49-F238E27FC236}">
                <a16:creationId xmlns:a16="http://schemas.microsoft.com/office/drawing/2014/main" id="{05CC0C4C-4A8E-F14F-8588-A37674AFD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1831529"/>
            <a:ext cx="3429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4182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4986</TotalTime>
  <Pages>18</Pages>
  <Words>1044</Words>
  <Application>Microsoft Macintosh PowerPoint</Application>
  <PresentationFormat>On-screen Show (16:9)</PresentationFormat>
  <Paragraphs>193</Paragraphs>
  <Slides>44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ＭＳ Ｐゴシック</vt:lpstr>
      <vt:lpstr>Osaka</vt:lpstr>
      <vt:lpstr>Arial</vt:lpstr>
      <vt:lpstr>Arial Narrow</vt:lpstr>
      <vt:lpstr>Book Antiqua</vt:lpstr>
      <vt:lpstr>Chalkboard</vt:lpstr>
      <vt:lpstr>Impact</vt:lpstr>
      <vt:lpstr>Wingdings</vt:lpstr>
      <vt:lpstr>Clarity</vt:lpstr>
      <vt:lpstr>  www.communityinclusion.org    </vt:lpstr>
      <vt:lpstr>PowerPoint Presentation</vt:lpstr>
      <vt:lpstr>Webinar # 2</vt:lpstr>
      <vt:lpstr>Webinar # 3</vt:lpstr>
      <vt:lpstr>Discussion: What do we mean by “online learning”?</vt:lpstr>
      <vt:lpstr>Poll # 1:  What platforms are you using for online learning?</vt:lpstr>
      <vt:lpstr>Poll # 2:  What issues have you encountered regarding delivering content online? </vt:lpstr>
      <vt:lpstr>PowerPoint Presentation</vt:lpstr>
      <vt:lpstr>PowerPoint Presentation</vt:lpstr>
      <vt:lpstr>PowerPoint Presentation</vt:lpstr>
      <vt:lpstr>Core Strategy:  Universal Design</vt:lpstr>
      <vt:lpstr>PowerPoint Presentation</vt:lpstr>
      <vt:lpstr>Universal Design</vt:lpstr>
      <vt:lpstr>PowerPoint Presentation</vt:lpstr>
      <vt:lpstr>PowerPoint Presentation</vt:lpstr>
      <vt:lpstr>PowerPoint Presentation</vt:lpstr>
      <vt:lpstr>PowerPoint Presentation</vt:lpstr>
      <vt:lpstr>Cultural relevance as part of UDL</vt:lpstr>
      <vt:lpstr>Achieving UDL is a never-ending journey</vt:lpstr>
      <vt:lpstr>PowerPoint Presentation</vt:lpstr>
      <vt:lpstr>PowerPoint Presentation</vt:lpstr>
      <vt:lpstr>UDL Resources</vt:lpstr>
      <vt:lpstr>https://aem.cast.org</vt:lpstr>
      <vt:lpstr>Universal Design Resources Handout</vt:lpstr>
      <vt:lpstr>Legal Requirements and Accommodations</vt:lpstr>
      <vt:lpstr>Legal protections for students with disabilities</vt:lpstr>
      <vt:lpstr>PowerPoint Presentation</vt:lpstr>
      <vt:lpstr>What is accessible?</vt:lpstr>
      <vt:lpstr>PowerPoint Presentation</vt:lpstr>
      <vt:lpstr>Implications for Adult Education Programs</vt:lpstr>
      <vt:lpstr>ADA Standards for Adult and Community Learning Services</vt:lpstr>
      <vt:lpstr>Proactive Approach to Accessibility</vt:lpstr>
      <vt:lpstr>Reasonable Accommodations in Adult Education</vt:lpstr>
      <vt:lpstr>Dealing with accommodation requests</vt:lpstr>
      <vt:lpstr>PowerPoint Presentation</vt:lpstr>
      <vt:lpstr>Discussion</vt:lpstr>
      <vt:lpstr>ADA &amp; Accessibility Resources</vt:lpstr>
      <vt:lpstr>Strategies</vt:lpstr>
      <vt:lpstr>Individualized Student-Centered Approach</vt:lpstr>
      <vt:lpstr>PowerPoint Presentation</vt:lpstr>
      <vt:lpstr>Basics of Online Classes</vt:lpstr>
      <vt:lpstr>Discussion</vt:lpstr>
      <vt:lpstr>Questions, Comments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AMERICAN’S WITH DISBAILITIES ACT (ADA)</dc:title>
  <dc:subject/>
  <dc:creator>Microsoft Select</dc:creator>
  <cp:keywords/>
  <dc:description/>
  <cp:lastModifiedBy>David Hoff</cp:lastModifiedBy>
  <cp:revision>328</cp:revision>
  <cp:lastPrinted>2019-03-21T02:22:29Z</cp:lastPrinted>
  <dcterms:created xsi:type="dcterms:W3CDTF">2009-01-30T12:45:21Z</dcterms:created>
  <dcterms:modified xsi:type="dcterms:W3CDTF">2026-04-30T20:55:18Z</dcterms:modified>
</cp:coreProperties>
</file>