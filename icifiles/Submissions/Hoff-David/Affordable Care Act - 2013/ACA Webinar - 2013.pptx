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43"/>
  </p:notesMasterIdLst>
  <p:sldIdLst>
    <p:sldId id="257" r:id="rId4"/>
    <p:sldId id="258" r:id="rId5"/>
    <p:sldId id="259" r:id="rId6"/>
    <p:sldId id="284" r:id="rId7"/>
    <p:sldId id="285" r:id="rId8"/>
    <p:sldId id="297" r:id="rId9"/>
    <p:sldId id="262" r:id="rId10"/>
    <p:sldId id="264" r:id="rId11"/>
    <p:sldId id="261" r:id="rId12"/>
    <p:sldId id="270" r:id="rId13"/>
    <p:sldId id="271" r:id="rId14"/>
    <p:sldId id="272" r:id="rId15"/>
    <p:sldId id="266" r:id="rId16"/>
    <p:sldId id="268" r:id="rId17"/>
    <p:sldId id="265" r:id="rId18"/>
    <p:sldId id="295" r:id="rId19"/>
    <p:sldId id="267" r:id="rId20"/>
    <p:sldId id="263" r:id="rId21"/>
    <p:sldId id="269" r:id="rId22"/>
    <p:sldId id="273" r:id="rId23"/>
    <p:sldId id="276" r:id="rId24"/>
    <p:sldId id="293" r:id="rId25"/>
    <p:sldId id="292" r:id="rId26"/>
    <p:sldId id="290" r:id="rId27"/>
    <p:sldId id="277" r:id="rId28"/>
    <p:sldId id="274" r:id="rId29"/>
    <p:sldId id="260" r:id="rId30"/>
    <p:sldId id="275" r:id="rId31"/>
    <p:sldId id="280" r:id="rId32"/>
    <p:sldId id="281" r:id="rId33"/>
    <p:sldId id="278" r:id="rId34"/>
    <p:sldId id="279" r:id="rId35"/>
    <p:sldId id="289" r:id="rId36"/>
    <p:sldId id="286" r:id="rId37"/>
    <p:sldId id="288" r:id="rId38"/>
    <p:sldId id="287" r:id="rId39"/>
    <p:sldId id="294" r:id="rId40"/>
    <p:sldId id="298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858" autoAdjust="0"/>
  </p:normalViewPr>
  <p:slideViewPr>
    <p:cSldViewPr snapToGrid="0" snapToObjects="1">
      <p:cViewPr varScale="1">
        <p:scale>
          <a:sx n="93" d="100"/>
          <a:sy n="93" d="100"/>
        </p:scale>
        <p:origin x="-96" y="-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9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9EC8B-7351-D847-95DA-12DCFDFB5462}" type="datetimeFigureOut">
              <a:rPr lang="en-US" smtClean="0"/>
              <a:t>12/6/13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090E7-7FCE-D74C-AE91-968F07A40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12/6/13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0356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370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2745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4496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7529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1816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184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5854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5422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96920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9808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885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5856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60419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103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07245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35288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36023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4253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2496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99357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378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t>12/6/13</a:t>
            </a:fld>
            <a:endParaRPr lang="en-US" sz="12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t>‹#›</a:t>
            </a:fld>
            <a:endParaRPr kumimoji="0"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F060CDC9-E8D8-C648-8415-43E2DD90E580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0143DDC7-0E51-7F4A-BCCF-A96D8EA6ECB1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6654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AA6743D4-EBE3-3249-B1EB-D2B4E308360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12/6/13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34144400-F41D-E543-B103-9001CFEA39A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109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Relationship Id="rId3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2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wmf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008911" y="83091"/>
            <a:ext cx="8007601" cy="2116659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3200" b="1" dirty="0">
                <a:effectLst/>
              </a:rPr>
              <a:t>The Affordable Care </a:t>
            </a:r>
            <a:r>
              <a:rPr lang="en-US" sz="3200" b="1" dirty="0" smtClean="0">
                <a:effectLst/>
              </a:rPr>
              <a:t>Act</a:t>
            </a:r>
            <a:br>
              <a:rPr lang="en-US" sz="3200" b="1" dirty="0" smtClean="0">
                <a:effectLst/>
              </a:rPr>
            </a:br>
            <a:r>
              <a:rPr lang="en-US" sz="3200" dirty="0" smtClean="0">
                <a:effectLst/>
              </a:rPr>
              <a:t>(aka Obamacare)</a:t>
            </a:r>
            <a:r>
              <a:rPr lang="en-US" sz="3200" b="1" dirty="0" smtClean="0">
                <a:effectLst/>
              </a:rPr>
              <a:t>:</a:t>
            </a:r>
            <a:br>
              <a:rPr lang="en-US" sz="3200" b="1" dirty="0" smtClean="0">
                <a:effectLst/>
              </a:rPr>
            </a:br>
            <a:r>
              <a:rPr lang="en-US" sz="3200" b="1" dirty="0" smtClean="0">
                <a:effectLst/>
              </a:rPr>
              <a:t>Yes </a:t>
            </a:r>
            <a:r>
              <a:rPr lang="en-US" sz="3200" b="1" dirty="0">
                <a:effectLst/>
              </a:rPr>
              <a:t>It Is a Good Thing – </a:t>
            </a:r>
            <a:r>
              <a:rPr lang="en-US" sz="3200" b="1" i="1" dirty="0">
                <a:effectLst/>
              </a:rPr>
              <a:t>Particularly for People with Disabilities!</a:t>
            </a:r>
            <a:r>
              <a:rPr lang="en-US" sz="3200" i="1" dirty="0">
                <a:effectLst/>
              </a:rPr>
              <a:t> </a:t>
            </a:r>
            <a:endParaRPr lang="en-US" sz="3200" i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38037" y="2825504"/>
            <a:ext cx="7406640" cy="3689709"/>
          </a:xfrm>
        </p:spPr>
        <p:txBody>
          <a:bodyPr>
            <a:normAutofit lnSpcReduction="10000"/>
          </a:bodyPr>
          <a:lstStyle/>
          <a:p>
            <a:r>
              <a:rPr lang="en-US" sz="3200" b="1" dirty="0" smtClean="0"/>
              <a:t>David Hoff</a:t>
            </a:r>
          </a:p>
          <a:p>
            <a:endParaRPr lang="en-US" dirty="0" smtClean="0"/>
          </a:p>
          <a:p>
            <a:r>
              <a:rPr lang="en-US" dirty="0" smtClean="0"/>
              <a:t>Board President</a:t>
            </a:r>
          </a:p>
          <a:p>
            <a:r>
              <a:rPr lang="en-US" i="1" dirty="0" smtClean="0"/>
              <a:t>APSE</a:t>
            </a:r>
          </a:p>
          <a:p>
            <a:endParaRPr lang="en-US" dirty="0"/>
          </a:p>
          <a:p>
            <a:r>
              <a:rPr lang="en-US" dirty="0" smtClean="0"/>
              <a:t>Project Director</a:t>
            </a:r>
          </a:p>
          <a:p>
            <a:r>
              <a:rPr lang="en-US" i="1" dirty="0" smtClean="0"/>
              <a:t>Institute for Community Inclusion</a:t>
            </a:r>
            <a:br>
              <a:rPr lang="en-US" i="1" dirty="0" smtClean="0"/>
            </a:br>
            <a:r>
              <a:rPr lang="en-US" i="1" dirty="0" smtClean="0"/>
              <a:t>UMass Boston</a:t>
            </a:r>
            <a:endParaRPr lang="en-US" i="1" dirty="0"/>
          </a:p>
        </p:txBody>
      </p:sp>
      <p:pic>
        <p:nvPicPr>
          <p:cNvPr id="6" name="Picture 5" descr="New APSE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905" y="3869681"/>
            <a:ext cx="1530411" cy="933785"/>
          </a:xfrm>
          <a:prstGeom prst="rect">
            <a:avLst/>
          </a:prstGeom>
        </p:spPr>
      </p:pic>
      <p:pic>
        <p:nvPicPr>
          <p:cNvPr id="7" name="Picture 6" descr="ICI_UMB_blu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405" y="5555247"/>
            <a:ext cx="1662695" cy="87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0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ACA in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825" y="1417638"/>
            <a:ext cx="7498080" cy="480060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b="1" i="1" dirty="0" smtClean="0"/>
              <a:t>The ACA is an improvement but…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the world’s developed countries, U.S. is still one of the only countries without universal coverage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At 17.6% of GDP, U.S. healthcare spending is</a:t>
            </a:r>
            <a:br>
              <a:rPr lang="en-US" dirty="0" smtClean="0"/>
            </a:br>
            <a:r>
              <a:rPr lang="en-US" b="1" i="1" dirty="0" smtClean="0"/>
              <a:t>1 ½ times higher </a:t>
            </a:r>
            <a:r>
              <a:rPr lang="en-US" dirty="0" smtClean="0"/>
              <a:t>than any other country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Average per capita spending on health care:</a:t>
            </a:r>
          </a:p>
          <a:p>
            <a:pPr lvl="1"/>
            <a:r>
              <a:rPr lang="en-US" dirty="0" smtClean="0"/>
              <a:t>U.S.: </a:t>
            </a:r>
            <a:r>
              <a:rPr lang="en-US" b="1" i="1" dirty="0" smtClean="0"/>
              <a:t>$8,508</a:t>
            </a:r>
          </a:p>
          <a:p>
            <a:pPr lvl="1"/>
            <a:r>
              <a:rPr lang="en-US" dirty="0" smtClean="0"/>
              <a:t>OECD - 34 countries:</a:t>
            </a:r>
            <a:r>
              <a:rPr lang="en-US" dirty="0"/>
              <a:t> </a:t>
            </a:r>
            <a:r>
              <a:rPr lang="en-US" b="1" i="1" dirty="0" smtClean="0"/>
              <a:t>$3,322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7404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7455" y="90592"/>
            <a:ext cx="3540683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ACA: The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451" y="145805"/>
            <a:ext cx="4325549" cy="6453100"/>
          </a:xfrm>
        </p:spPr>
        <p:txBody>
          <a:bodyPr>
            <a:normAutofit lnSpcReduction="10000"/>
          </a:bodyPr>
          <a:lstStyle/>
          <a:p>
            <a:pPr>
              <a:spcBef>
                <a:spcPts val="1800"/>
              </a:spcBef>
            </a:pPr>
            <a:r>
              <a:rPr lang="en-US" dirty="0"/>
              <a:t>Comprehensive &amp; complicated</a:t>
            </a:r>
          </a:p>
          <a:p>
            <a:pPr>
              <a:spcBef>
                <a:spcPts val="1800"/>
              </a:spcBef>
            </a:pPr>
            <a:r>
              <a:rPr lang="en-US" dirty="0"/>
              <a:t>Media </a:t>
            </a:r>
            <a:r>
              <a:rPr lang="en-US" dirty="0" smtClean="0"/>
              <a:t>focus: primarily </a:t>
            </a:r>
            <a:r>
              <a:rPr lang="en-US" dirty="0"/>
              <a:t>on </a:t>
            </a:r>
            <a:r>
              <a:rPr lang="en-US" dirty="0" smtClean="0"/>
              <a:t>important but small portions of the law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ACA established both new requirements and programs, while also expanding existing programs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Today’s webinar: </a:t>
            </a:r>
            <a:r>
              <a:rPr lang="en-US" dirty="0" smtClean="0"/>
              <a:t>focus on aspects with greatest impact on people with disabilities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health-care-bil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55" y="2061797"/>
            <a:ext cx="3363396" cy="246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2712" y="2976705"/>
            <a:ext cx="4696014" cy="3267762"/>
          </a:xfrm>
        </p:spPr>
        <p:txBody>
          <a:bodyPr>
            <a:normAutofit/>
          </a:bodyPr>
          <a:lstStyle/>
          <a:p>
            <a:r>
              <a:rPr lang="en-US" dirty="0" smtClean="0"/>
              <a:t>Easier and better access to health care coverage</a:t>
            </a:r>
          </a:p>
          <a:p>
            <a:r>
              <a:rPr lang="en-US" dirty="0" smtClean="0"/>
              <a:t>Major increases in health care coverage options</a:t>
            </a:r>
          </a:p>
          <a:p>
            <a:r>
              <a:rPr lang="en-US" dirty="0" smtClean="0"/>
              <a:t>Major increases in individual rights to obtain and maintain coverage</a:t>
            </a:r>
          </a:p>
        </p:txBody>
      </p:sp>
      <p:sp>
        <p:nvSpPr>
          <p:cNvPr id="4" name="Pentagon 3"/>
          <p:cNvSpPr/>
          <p:nvPr/>
        </p:nvSpPr>
        <p:spPr>
          <a:xfrm>
            <a:off x="1084713" y="158756"/>
            <a:ext cx="4338854" cy="2817949"/>
          </a:xfrm>
          <a:prstGeom prst="homePlat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/>
              <a:t>The ACA</a:t>
            </a:r>
            <a:br>
              <a:rPr lang="en-US" sz="3200" b="1" dirty="0" smtClean="0"/>
            </a:br>
            <a:r>
              <a:rPr lang="en-US" sz="3200" b="1" dirty="0" smtClean="0"/>
              <a:t>Bottom Line:</a:t>
            </a:r>
            <a:br>
              <a:rPr lang="en-US" sz="3200" b="1" dirty="0" smtClean="0"/>
            </a:br>
            <a:r>
              <a:rPr lang="en-US" sz="3200" dirty="0" smtClean="0"/>
              <a:t>Increased health care coverage for</a:t>
            </a:r>
            <a:br>
              <a:rPr lang="en-US" sz="3200" dirty="0" smtClean="0"/>
            </a:br>
            <a:r>
              <a:rPr lang="en-US" sz="3200" i="1" dirty="0" smtClean="0"/>
              <a:t>all</a:t>
            </a:r>
            <a:r>
              <a:rPr lang="en-US" sz="3200" dirty="0" smtClean="0"/>
              <a:t> Americans</a:t>
            </a:r>
            <a:endParaRPr lang="en-US" sz="3200" dirty="0"/>
          </a:p>
        </p:txBody>
      </p:sp>
      <p:pic>
        <p:nvPicPr>
          <p:cNvPr id="6" name="Picture 5" descr="MP90044846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797" y="3617800"/>
            <a:ext cx="1983195" cy="290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2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3732" y="992235"/>
            <a:ext cx="4369956" cy="567951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dirty="0" smtClean="0"/>
              <a:t>People with disabilities will be healthier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Reduced fear of loss of health care coverage when going to work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Increased options for supports and services to be successfully employed </a:t>
            </a:r>
            <a:endParaRPr lang="en-US" dirty="0"/>
          </a:p>
        </p:txBody>
      </p:sp>
      <p:sp>
        <p:nvSpPr>
          <p:cNvPr id="4" name="Pentagon 3"/>
          <p:cNvSpPr/>
          <p:nvPr/>
        </p:nvSpPr>
        <p:spPr>
          <a:xfrm>
            <a:off x="1084713" y="158757"/>
            <a:ext cx="3333509" cy="2262298"/>
          </a:xfrm>
          <a:prstGeom prst="homePlat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/>
              <a:t>ACA</a:t>
            </a:r>
            <a:r>
              <a:rPr lang="en-US" sz="3200" b="1" dirty="0"/>
              <a:t> </a:t>
            </a:r>
            <a:r>
              <a:rPr lang="en-US" sz="3200" b="1" dirty="0" smtClean="0"/>
              <a:t>and People with Disabilities</a:t>
            </a:r>
            <a:endParaRPr lang="en-US" sz="3200" dirty="0"/>
          </a:p>
        </p:txBody>
      </p:sp>
      <p:pic>
        <p:nvPicPr>
          <p:cNvPr id="6" name="Picture 5" descr="MC900436131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535" y="3184685"/>
            <a:ext cx="2428630" cy="24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6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30582" y="522886"/>
            <a:ext cx="4451661" cy="590931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H4C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582" y="522887"/>
            <a:ext cx="4451661" cy="18821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0789" y="2841960"/>
            <a:ext cx="4055655" cy="2062103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</a:ln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Comic Sans MS"/>
              </a:rPr>
              <a:t>The Affordable Care Act and People with Disabilities</a:t>
            </a:r>
            <a:endParaRPr lang="en-US" sz="3200" b="1" dirty="0">
              <a:solidFill>
                <a:srgbClr val="FF0000"/>
              </a:solidFill>
              <a:latin typeface="Comic Sans MS"/>
            </a:endParaRPr>
          </a:p>
        </p:txBody>
      </p:sp>
      <p:pic>
        <p:nvPicPr>
          <p:cNvPr id="18" name="Picture 17" descr="MC900229907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678" y="4904063"/>
            <a:ext cx="991766" cy="1432551"/>
          </a:xfrm>
          <a:prstGeom prst="rect">
            <a:avLst/>
          </a:prstGeom>
        </p:spPr>
      </p:pic>
      <p:pic>
        <p:nvPicPr>
          <p:cNvPr id="19" name="Picture 18" descr="Unknown-1.jpe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222" y="5154074"/>
            <a:ext cx="846611" cy="108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9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58414" y="1284836"/>
            <a:ext cx="7498080" cy="2983183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smtClean="0"/>
              <a:t>Unless otherwise indicated, all aspects of the law discussed during the webinar are either in effect or go into effect by January 1,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2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004239"/>
            <a:ext cx="7498080" cy="4631657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ACA HIGHLIGHT # 1: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Under the ACA, individuals no longer need to be concerned about loss of coverage due to chronic health conditions or</a:t>
            </a:r>
            <a:br>
              <a:rPr lang="en-US" dirty="0" smtClean="0"/>
            </a:br>
            <a:r>
              <a:rPr lang="en-US" dirty="0" smtClean="0"/>
              <a:t>high health care costs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7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49803"/>
            <a:ext cx="7498080" cy="604945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b="1" dirty="0" smtClean="0"/>
              <a:t>No more annual or lifetime limits </a:t>
            </a:r>
            <a:r>
              <a:rPr lang="en-US" dirty="0" smtClean="0"/>
              <a:t>on benefits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Coverage cannot be denied </a:t>
            </a:r>
            <a:r>
              <a:rPr lang="en-US" dirty="0" smtClean="0"/>
              <a:t>due to preexisting conditions or health status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Renewability of coverage is guaranteed </a:t>
            </a:r>
            <a:r>
              <a:rPr lang="en-US" dirty="0" smtClean="0"/>
              <a:t>and coverage cannot be rescinded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Insurer must offer coverage to everyone </a:t>
            </a:r>
            <a:r>
              <a:rPr lang="en-US" dirty="0" smtClean="0"/>
              <a:t>who applies; eligibility rules based on health status are not allowed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Maximum of 90 day waiting period </a:t>
            </a:r>
            <a:r>
              <a:rPr lang="en-US" dirty="0" smtClean="0"/>
              <a:t>to receive coverage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Insurers required to have </a:t>
            </a:r>
            <a:r>
              <a:rPr lang="en-US" b="1" dirty="0" smtClean="0"/>
              <a:t>internal &amp; external appeal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927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004240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2: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Mandatory Coverage Requirement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6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84581" y="1417638"/>
            <a:ext cx="7601337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2800" b="1" dirty="0" smtClean="0"/>
              <a:t>March 31,  2014:  </a:t>
            </a:r>
            <a:r>
              <a:rPr lang="en-US" sz="2800" dirty="0" smtClean="0"/>
              <a:t>All </a:t>
            </a:r>
            <a:r>
              <a:rPr lang="en-US" sz="2800" dirty="0"/>
              <a:t>residents of </a:t>
            </a:r>
            <a:r>
              <a:rPr lang="en-US" sz="2800" dirty="0" smtClean="0"/>
              <a:t>U.S. required </a:t>
            </a:r>
            <a:r>
              <a:rPr lang="en-US" sz="2800" dirty="0"/>
              <a:t>to maintain minimum essential health care </a:t>
            </a:r>
            <a:r>
              <a:rPr lang="en-US" sz="2800" dirty="0" smtClean="0"/>
              <a:t>coverage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2800" dirty="0" smtClean="0"/>
              <a:t>Failure </a:t>
            </a:r>
            <a:r>
              <a:rPr lang="en-US" sz="2800" dirty="0"/>
              <a:t>to maintain coverage will result in a financial </a:t>
            </a:r>
            <a:r>
              <a:rPr lang="en-US" sz="2800" dirty="0" smtClean="0"/>
              <a:t>penalty</a:t>
            </a:r>
          </a:p>
          <a:p>
            <a:pPr marL="285750" indent="-285750">
              <a:spcBef>
                <a:spcPts val="1200"/>
              </a:spcBef>
              <a:buFont typeface="Arial"/>
              <a:buChar char="•"/>
            </a:pPr>
            <a:r>
              <a:rPr lang="en-US" sz="2800" b="1" dirty="0" smtClean="0"/>
              <a:t>Exemptions: </a:t>
            </a:r>
          </a:p>
          <a:p>
            <a:pPr marL="742950" lvl="1" indent="-285750">
              <a:buFont typeface="Arial"/>
              <a:buChar char="•"/>
            </a:pPr>
            <a:r>
              <a:rPr lang="en-US" sz="2800" dirty="0" smtClean="0"/>
              <a:t>Taxpayers </a:t>
            </a:r>
            <a:r>
              <a:rPr lang="en-US" sz="2800" dirty="0"/>
              <a:t>with income below </a:t>
            </a:r>
            <a:r>
              <a:rPr lang="en-US" sz="2800" dirty="0" smtClean="0"/>
              <a:t>filing threshold ($10,000 for an individual)</a:t>
            </a:r>
          </a:p>
          <a:p>
            <a:pPr marL="742950" lvl="1" indent="-285750">
              <a:buFont typeface="Arial"/>
              <a:buChar char="•"/>
            </a:pPr>
            <a:r>
              <a:rPr lang="en-US" sz="2800" dirty="0"/>
              <a:t>M</a:t>
            </a:r>
            <a:r>
              <a:rPr lang="en-US" sz="2800" dirty="0" smtClean="0"/>
              <a:t>embers </a:t>
            </a:r>
            <a:r>
              <a:rPr lang="en-US" sz="2800" dirty="0"/>
              <a:t>of Indian </a:t>
            </a:r>
            <a:r>
              <a:rPr lang="en-US" sz="2800" dirty="0" smtClean="0"/>
              <a:t>tribes</a:t>
            </a:r>
            <a:endParaRPr lang="en-US" sz="2800" dirty="0"/>
          </a:p>
          <a:p>
            <a:pPr marL="742950" lvl="1" indent="-285750">
              <a:buFont typeface="Arial"/>
              <a:buChar char="•"/>
            </a:pPr>
            <a:r>
              <a:rPr lang="en-US" sz="2800" i="1" dirty="0" smtClean="0"/>
              <a:t>Hardship waiver </a:t>
            </a:r>
            <a:r>
              <a:rPr lang="en-US" sz="2800" dirty="0" smtClean="0"/>
              <a:t>- premiums exceed 8% of income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Mandate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84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114" y="274638"/>
            <a:ext cx="3351536" cy="1749864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Employer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8050" y="-1430"/>
            <a:ext cx="4133291" cy="6306925"/>
          </a:xfrm>
        </p:spPr>
        <p:txBody>
          <a:bodyPr>
            <a:normAutofit/>
          </a:bodyPr>
          <a:lstStyle/>
          <a:p>
            <a:pPr marL="82296" indent="0">
              <a:buNone/>
            </a:pPr>
            <a:endParaRPr lang="en-US" dirty="0" smtClean="0"/>
          </a:p>
          <a:p>
            <a:r>
              <a:rPr lang="en-US" dirty="0" smtClean="0"/>
              <a:t>Employers required to notify workers about health insurance exchanges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January 2, 2015: </a:t>
            </a:r>
            <a:r>
              <a:rPr lang="en-US" dirty="0" smtClean="0"/>
              <a:t>Employers with 50 or more full-time employees (FTEs) are required to provide affordable coverage or pay a penalty of $2,000 to $3,000 per employee</a:t>
            </a:r>
            <a:endParaRPr lang="en-US" dirty="0"/>
          </a:p>
        </p:txBody>
      </p:sp>
      <p:pic>
        <p:nvPicPr>
          <p:cNvPr id="4" name="Picture 3" descr="MC900289941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114" y="2784841"/>
            <a:ext cx="29845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1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507317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3: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Expanded availability of health care coverage under the ACA</a:t>
            </a:r>
            <a:endParaRPr lang="en-US" dirty="0"/>
          </a:p>
        </p:txBody>
      </p:sp>
      <p:pic>
        <p:nvPicPr>
          <p:cNvPr id="3" name="Picture 2" descr="MC900056125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122" y="4231692"/>
            <a:ext cx="2154615" cy="21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22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369" y="386496"/>
            <a:ext cx="2993982" cy="2042906"/>
          </a:xfrm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139700" h="139700" prst="divot"/>
            <a:contourClr>
              <a:schemeClr val="accent5">
                <a:shade val="80000"/>
              </a:schemeClr>
            </a:contourClr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b="1" dirty="0" smtClean="0"/>
              <a:t>Health Insurance Exchanges:</a:t>
            </a:r>
            <a:br>
              <a:rPr lang="en-US" sz="3200" b="1" dirty="0" smtClean="0"/>
            </a:br>
            <a:r>
              <a:rPr lang="en-US" sz="3200" dirty="0" smtClean="0"/>
              <a:t>Who They ‘re For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038" y="210164"/>
            <a:ext cx="4442221" cy="6174781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eople </a:t>
            </a:r>
            <a:r>
              <a:rPr lang="en-US" dirty="0"/>
              <a:t>without health </a:t>
            </a:r>
            <a:r>
              <a:rPr lang="en-US" dirty="0" smtClean="0"/>
              <a:t>insurance</a:t>
            </a:r>
            <a:endParaRPr lang="en-US" dirty="0"/>
          </a:p>
          <a:p>
            <a:r>
              <a:rPr lang="en-US" dirty="0" smtClean="0"/>
              <a:t>Individuals </a:t>
            </a:r>
            <a:r>
              <a:rPr lang="en-US" dirty="0"/>
              <a:t>who might qualify for financial assistance (subsidies or tax credits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O</a:t>
            </a:r>
            <a:r>
              <a:rPr lang="en-US" dirty="0" smtClean="0"/>
              <a:t>wners </a:t>
            </a:r>
            <a:r>
              <a:rPr lang="en-US" dirty="0"/>
              <a:t>of small </a:t>
            </a:r>
            <a:r>
              <a:rPr lang="en-US" dirty="0" smtClean="0"/>
              <a:t>businesses</a:t>
            </a:r>
            <a:endParaRPr lang="en-US" dirty="0"/>
          </a:p>
          <a:p>
            <a:r>
              <a:rPr lang="en-US" dirty="0" smtClean="0"/>
              <a:t>People </a:t>
            </a:r>
            <a:r>
              <a:rPr lang="en-US" dirty="0"/>
              <a:t>who buy their own insurance</a:t>
            </a:r>
          </a:p>
        </p:txBody>
      </p:sp>
      <p:pic>
        <p:nvPicPr>
          <p:cNvPr id="4" name="Picture 3" descr="CA-Health-Care-Exchang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369" y="4582734"/>
            <a:ext cx="3491175" cy="211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68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990" y="93318"/>
            <a:ext cx="7498080" cy="885688"/>
          </a:xfrm>
        </p:spPr>
        <p:txBody>
          <a:bodyPr/>
          <a:lstStyle/>
          <a:p>
            <a:r>
              <a:rPr lang="en-US" dirty="0" smtClean="0"/>
              <a:t>Health Insurance Exchanges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990" y="974910"/>
            <a:ext cx="7498080" cy="5631724"/>
          </a:xfrm>
        </p:spPr>
        <p:txBody>
          <a:bodyPr>
            <a:normAutofit/>
          </a:bodyPr>
          <a:lstStyle/>
          <a:p>
            <a:r>
              <a:rPr lang="en-US" dirty="0" smtClean="0"/>
              <a:t>Individuals and businesses can compare and purchase health care coverage via state</a:t>
            </a:r>
            <a:br>
              <a:rPr lang="en-US" dirty="0" smtClean="0"/>
            </a:br>
            <a:r>
              <a:rPr lang="en-US" dirty="0" smtClean="0"/>
              <a:t>Health Insurance Exchanges</a:t>
            </a:r>
          </a:p>
          <a:p>
            <a:r>
              <a:rPr lang="en-US" dirty="0" smtClean="0"/>
              <a:t>17 states operate their own health care exchange marketplaces; remainder are run by federal government</a:t>
            </a:r>
          </a:p>
          <a:p>
            <a:r>
              <a:rPr lang="en-US" dirty="0" smtClean="0"/>
              <a:t>Health insurance exchanges provide access to both private insurance and Medicaid/CHIP</a:t>
            </a:r>
          </a:p>
          <a:p>
            <a:r>
              <a:rPr lang="en-US" dirty="0"/>
              <a:t>Open enrollment through March 31, 2014</a:t>
            </a:r>
          </a:p>
          <a:p>
            <a:r>
              <a:rPr lang="en-US" dirty="0"/>
              <a:t>Future years: enrollment is Nov. 15 to Jan. </a:t>
            </a:r>
            <a:r>
              <a:rPr lang="en-US" dirty="0" smtClean="0"/>
              <a:t>15</a:t>
            </a:r>
          </a:p>
          <a:p>
            <a:r>
              <a:rPr lang="en-US" dirty="0" smtClean="0"/>
              <a:t>All health insurance exchanges can be accessed via healthcare.gov</a:t>
            </a:r>
          </a:p>
        </p:txBody>
      </p:sp>
    </p:spTree>
    <p:extLst>
      <p:ext uri="{BB962C8B-B14F-4D97-AF65-F5344CB8AC3E}">
        <p14:creationId xmlns:p14="http://schemas.microsoft.com/office/powerpoint/2010/main" val="382020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3-12-06 at 11.15.04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" t="7330" r="1106" b="8175"/>
          <a:stretch/>
        </p:blipFill>
        <p:spPr>
          <a:xfrm>
            <a:off x="39684" y="119071"/>
            <a:ext cx="9030788" cy="64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29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131" y="12911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Health Insurance Exchanges:</a:t>
            </a:r>
            <a:br>
              <a:rPr lang="en-US" b="1" dirty="0" smtClean="0"/>
            </a:br>
            <a:r>
              <a:rPr lang="en-US" dirty="0" smtClean="0"/>
              <a:t>By the Numbers - Latest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tate-based marketplaces:</a:t>
            </a:r>
          </a:p>
          <a:p>
            <a:pPr lvl="1"/>
            <a:r>
              <a:rPr lang="en-US" dirty="0" smtClean="0"/>
              <a:t>217,000 have selected a marketplace plan</a:t>
            </a:r>
          </a:p>
          <a:p>
            <a:pPr lvl="1"/>
            <a:r>
              <a:rPr lang="en-US" dirty="0" smtClean="0"/>
              <a:t>384,000 have been determined eligible for Medicaid/CHIP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Federally-operated marketplaces:</a:t>
            </a:r>
            <a:endParaRPr lang="en-US" dirty="0"/>
          </a:p>
          <a:p>
            <a:pPr lvl="1"/>
            <a:r>
              <a:rPr lang="en-US" dirty="0" smtClean="0"/>
              <a:t>27,000 </a:t>
            </a:r>
            <a:r>
              <a:rPr lang="en-US" dirty="0"/>
              <a:t>have selected a marketplace plan</a:t>
            </a:r>
          </a:p>
          <a:p>
            <a:pPr lvl="1"/>
            <a:r>
              <a:rPr lang="en-US" dirty="0" smtClean="0"/>
              <a:t>183,000 </a:t>
            </a:r>
            <a:r>
              <a:rPr lang="en-US" dirty="0"/>
              <a:t>have been determined eligible for Medicaid/CHIP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01019" y="5879068"/>
            <a:ext cx="5832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i="1" dirty="0" smtClean="0"/>
              <a:t>Source: Kaiser Family Foundation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821689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Expansion of Dependent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</a:t>
            </a:r>
            <a:r>
              <a:rPr lang="en-US" dirty="0"/>
              <a:t>plans offering dependent coverage are required to allow children to remain on their parents’ health insurance until age </a:t>
            </a:r>
            <a:r>
              <a:rPr lang="en-US" dirty="0" smtClean="0"/>
              <a:t>26</a:t>
            </a:r>
            <a:endParaRPr lang="en-US" dirty="0"/>
          </a:p>
        </p:txBody>
      </p:sp>
      <p:pic>
        <p:nvPicPr>
          <p:cNvPr id="4" name="Picture 3" descr="MP9004425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286" y="3644103"/>
            <a:ext cx="4292943" cy="28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94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Expanded Availability of Medicaid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States have </a:t>
            </a:r>
            <a:r>
              <a:rPr lang="en-US" b="1" dirty="0" smtClean="0"/>
              <a:t>option</a:t>
            </a:r>
            <a:r>
              <a:rPr lang="en-US" dirty="0" smtClean="0"/>
              <a:t> of expanding Medicaid to individuals at 133% of federal poverty level ($15,282 for family of one) </a:t>
            </a:r>
            <a:endParaRPr lang="en-US" dirty="0"/>
          </a:p>
        </p:txBody>
      </p:sp>
      <p:pic>
        <p:nvPicPr>
          <p:cNvPr id="4" name="Picture 3" descr="medicai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703152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urrent-status-of-the-medicaid-expansion-decision-healthrefor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58" y="103378"/>
            <a:ext cx="8805862" cy="660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780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004240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4: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Essential Benefit Requirements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05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413" y="1914815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H</a:t>
            </a:r>
            <a:r>
              <a:rPr lang="en-US" dirty="0" smtClean="0"/>
              <a:t>ealth </a:t>
            </a:r>
            <a:r>
              <a:rPr lang="en-US" dirty="0"/>
              <a:t>plans offered </a:t>
            </a:r>
            <a:r>
              <a:rPr lang="en-US" dirty="0" smtClean="0"/>
              <a:t>in </a:t>
            </a:r>
            <a:r>
              <a:rPr lang="en-US" dirty="0"/>
              <a:t>individual and small group </a:t>
            </a:r>
            <a:r>
              <a:rPr lang="en-US" dirty="0" smtClean="0"/>
              <a:t>markets are required to offer </a:t>
            </a:r>
            <a:r>
              <a:rPr lang="en-US" dirty="0"/>
              <a:t>a comprehensive package of </a:t>
            </a:r>
            <a:r>
              <a:rPr lang="en-US" dirty="0" smtClean="0"/>
              <a:t>benefits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105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7122" y="11219"/>
            <a:ext cx="7498080" cy="1143000"/>
          </a:xfrm>
        </p:spPr>
        <p:txBody>
          <a:bodyPr/>
          <a:lstStyle/>
          <a:p>
            <a:r>
              <a:rPr lang="en-US" dirty="0" smtClean="0"/>
              <a:t>Essential Benefits Required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17122" y="1154219"/>
            <a:ext cx="7727168" cy="550920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Outpatient </a:t>
            </a:r>
            <a:r>
              <a:rPr lang="en-US" dirty="0" smtClean="0"/>
              <a:t>care</a:t>
            </a:r>
          </a:p>
          <a:p>
            <a:r>
              <a:rPr lang="en-US" dirty="0" smtClean="0"/>
              <a:t>Emergency care</a:t>
            </a:r>
          </a:p>
          <a:p>
            <a:r>
              <a:rPr lang="en-US" dirty="0" smtClean="0"/>
              <a:t>Inpatient </a:t>
            </a:r>
            <a:r>
              <a:rPr lang="en-US" dirty="0"/>
              <a:t>hospital </a:t>
            </a:r>
            <a:r>
              <a:rPr lang="en-US" dirty="0" smtClean="0"/>
              <a:t>care</a:t>
            </a:r>
          </a:p>
          <a:p>
            <a:r>
              <a:rPr lang="en-US" dirty="0" smtClean="0"/>
              <a:t>Prenatal </a:t>
            </a:r>
            <a:r>
              <a:rPr lang="en-US" dirty="0"/>
              <a:t>and newborn </a:t>
            </a:r>
            <a:r>
              <a:rPr lang="en-US" dirty="0" smtClean="0"/>
              <a:t>care</a:t>
            </a:r>
          </a:p>
          <a:p>
            <a:r>
              <a:rPr lang="en-US" dirty="0" smtClean="0"/>
              <a:t>Mental </a:t>
            </a:r>
            <a:r>
              <a:rPr lang="en-US" dirty="0"/>
              <a:t>health and substance abuse </a:t>
            </a:r>
            <a:r>
              <a:rPr lang="en-US" dirty="0" smtClean="0"/>
              <a:t>treatment</a:t>
            </a:r>
          </a:p>
          <a:p>
            <a:r>
              <a:rPr lang="en-US" dirty="0" smtClean="0"/>
              <a:t>Prescription drugs</a:t>
            </a:r>
          </a:p>
          <a:p>
            <a:r>
              <a:rPr lang="en-US" dirty="0" smtClean="0"/>
              <a:t>Rehabilitative &amp; habilitative </a:t>
            </a:r>
            <a:r>
              <a:rPr lang="en-US" dirty="0"/>
              <a:t>services and devices including physical and occupational therapy, speech-language pathology, psychiatric rehabilitation, and </a:t>
            </a:r>
            <a:r>
              <a:rPr lang="en-US" dirty="0" smtClean="0"/>
              <a:t>more</a:t>
            </a:r>
          </a:p>
          <a:p>
            <a:r>
              <a:rPr lang="en-US" dirty="0" smtClean="0"/>
              <a:t>Lab tests</a:t>
            </a:r>
          </a:p>
          <a:p>
            <a:r>
              <a:rPr lang="en-US" dirty="0" smtClean="0"/>
              <a:t>Preventive </a:t>
            </a:r>
            <a:r>
              <a:rPr lang="en-US" dirty="0"/>
              <a:t>services including counseling, screenings and </a:t>
            </a:r>
            <a:r>
              <a:rPr lang="en-US" dirty="0" smtClean="0"/>
              <a:t>vaccines</a:t>
            </a:r>
            <a:endParaRPr lang="en-US" dirty="0"/>
          </a:p>
          <a:p>
            <a:r>
              <a:rPr lang="en-US" dirty="0"/>
              <a:t>C</a:t>
            </a:r>
            <a:r>
              <a:rPr lang="en-US" dirty="0" smtClean="0"/>
              <a:t>hronic </a:t>
            </a:r>
            <a:r>
              <a:rPr lang="en-US" dirty="0"/>
              <a:t>disease </a:t>
            </a:r>
            <a:r>
              <a:rPr lang="en-US" dirty="0" smtClean="0"/>
              <a:t>management</a:t>
            </a:r>
          </a:p>
          <a:p>
            <a:r>
              <a:rPr lang="en-US" dirty="0" smtClean="0"/>
              <a:t>Pediatric </a:t>
            </a:r>
            <a:r>
              <a:rPr lang="en-US" dirty="0"/>
              <a:t>services, including oral and vision care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10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323271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5: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Streamlined Enrollment and Availability of Guidance &amp; Assistance</a:t>
            </a:r>
            <a:endParaRPr lang="en-US" dirty="0"/>
          </a:p>
        </p:txBody>
      </p:sp>
      <p:pic>
        <p:nvPicPr>
          <p:cNvPr id="4" name="Picture 3" descr="MP90044849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36" y="4338659"/>
            <a:ext cx="3069476" cy="204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644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10729" y="349725"/>
            <a:ext cx="7652172" cy="5841823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b="1" dirty="0" smtClean="0"/>
              <a:t>Streamlined enrollment </a:t>
            </a:r>
            <a:r>
              <a:rPr lang="en-US" dirty="0" smtClean="0"/>
              <a:t>with single points of access for exchanges, Medicaid &amp; CHIP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Requirements for </a:t>
            </a:r>
            <a:r>
              <a:rPr lang="en-US" b="1" dirty="0" smtClean="0"/>
              <a:t>uniform language </a:t>
            </a:r>
            <a:r>
              <a:rPr lang="en-US" dirty="0" smtClean="0"/>
              <a:t>in insurance coverage documents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Funding for health insurance </a:t>
            </a:r>
            <a:r>
              <a:rPr lang="en-US" b="1" dirty="0" smtClean="0"/>
              <a:t>consumer information offices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Expansion of </a:t>
            </a:r>
            <a:r>
              <a:rPr lang="en-US" b="1" dirty="0" smtClean="0"/>
              <a:t>Aging and Disability Resource Centers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Navigators</a:t>
            </a:r>
            <a:r>
              <a:rPr lang="en-US" dirty="0" smtClean="0"/>
              <a:t> to educate the public about health plans and help individuals overcome barriers to health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26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004240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6: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Expanded long-term support options under the ACA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809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413" y="376186"/>
            <a:ext cx="7625716" cy="6278406"/>
          </a:xfrm>
        </p:spPr>
        <p:txBody>
          <a:bodyPr>
            <a:normAutofit/>
          </a:bodyPr>
          <a:lstStyle/>
          <a:p>
            <a:r>
              <a:rPr lang="en-US" b="1" dirty="0" smtClean="0"/>
              <a:t>Community First Choice - 1915(k) </a:t>
            </a:r>
            <a:r>
              <a:rPr lang="en-US" dirty="0" smtClean="0"/>
              <a:t>- Medicaid state </a:t>
            </a:r>
            <a:r>
              <a:rPr lang="en-US" dirty="0"/>
              <a:t>plan option that enables states to provide community-based attendant care services and supports through the Medicaid State </a:t>
            </a:r>
            <a:r>
              <a:rPr lang="en-US" dirty="0" smtClean="0"/>
              <a:t>Plan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1915(</a:t>
            </a:r>
            <a:r>
              <a:rPr lang="en-US" b="1" dirty="0" err="1" smtClean="0"/>
              <a:t>i</a:t>
            </a:r>
            <a:r>
              <a:rPr lang="en-US" b="1" dirty="0" smtClean="0"/>
              <a:t>) Option for Home &amp; Community Based Care </a:t>
            </a:r>
            <a:r>
              <a:rPr lang="en-US" dirty="0" smtClean="0"/>
              <a:t>- Expanded availability under the ACA for states that participate</a:t>
            </a:r>
          </a:p>
          <a:p>
            <a:pPr>
              <a:spcBef>
                <a:spcPts val="1800"/>
              </a:spcBef>
            </a:pPr>
            <a:r>
              <a:rPr lang="en-US" b="1" dirty="0" smtClean="0"/>
              <a:t>Money </a:t>
            </a:r>
            <a:r>
              <a:rPr lang="en-US" b="1" dirty="0"/>
              <a:t>Follows the Person Rebalancing Demonstration Project</a:t>
            </a:r>
            <a:r>
              <a:rPr lang="en-US" dirty="0"/>
              <a:t>, designed to increase </a:t>
            </a:r>
            <a:r>
              <a:rPr lang="en-US" dirty="0" smtClean="0"/>
              <a:t>use </a:t>
            </a:r>
            <a:r>
              <a:rPr lang="en-US" dirty="0"/>
              <a:t>of home and community-based long-term care services, rather than institutional services, </a:t>
            </a:r>
            <a:r>
              <a:rPr lang="en-US" dirty="0" smtClean="0"/>
              <a:t>extended  through September 2016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13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846138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CLASS</a:t>
            </a:r>
            <a:r>
              <a:rPr lang="en-US" dirty="0" smtClean="0"/>
              <a:t> - National voluntary insurance program for purchasing community living assistance and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6680" y="2831178"/>
            <a:ext cx="7677008" cy="3417222"/>
          </a:xfrm>
        </p:spPr>
        <p:txBody>
          <a:bodyPr/>
          <a:lstStyle/>
          <a:p>
            <a:r>
              <a:rPr lang="en-US" dirty="0" smtClean="0"/>
              <a:t>Put on hold due </a:t>
            </a:r>
            <a:r>
              <a:rPr lang="en-US" dirty="0"/>
              <a:t>to </a:t>
            </a:r>
            <a:r>
              <a:rPr lang="en-US" dirty="0" smtClean="0"/>
              <a:t>inability </a:t>
            </a:r>
            <a:r>
              <a:rPr lang="en-US" dirty="0"/>
              <a:t>to develop </a:t>
            </a:r>
            <a:r>
              <a:rPr lang="en-US" dirty="0" smtClean="0"/>
              <a:t>funding </a:t>
            </a:r>
            <a:r>
              <a:rPr lang="en-US" dirty="0"/>
              <a:t>mechanism that would result in </a:t>
            </a:r>
            <a:r>
              <a:rPr lang="en-US" dirty="0" smtClean="0"/>
              <a:t>program </a:t>
            </a:r>
            <a:r>
              <a:rPr lang="en-US" dirty="0"/>
              <a:t>being fiscally </a:t>
            </a:r>
            <a:r>
              <a:rPr lang="en-US" dirty="0" smtClean="0"/>
              <a:t>viable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502733"/>
            <a:ext cx="7498080" cy="3750519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7: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Strengthened coordination for individuals on both</a:t>
            </a:r>
            <a:br>
              <a:rPr lang="en-US" dirty="0" smtClean="0"/>
            </a:br>
            <a:r>
              <a:rPr lang="en-US" dirty="0" smtClean="0"/>
              <a:t>Medicare and Medicaid </a:t>
            </a:r>
            <a:endParaRPr lang="en-US" dirty="0"/>
          </a:p>
        </p:txBody>
      </p:sp>
      <p:pic>
        <p:nvPicPr>
          <p:cNvPr id="3" name="Picture 2" descr="medicai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511" y="4758057"/>
            <a:ext cx="2304024" cy="1728018"/>
          </a:xfrm>
          <a:prstGeom prst="rect">
            <a:avLst/>
          </a:prstGeom>
        </p:spPr>
      </p:pic>
      <p:pic>
        <p:nvPicPr>
          <p:cNvPr id="4" name="Picture 3" descr="Unknown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875" y="4758058"/>
            <a:ext cx="2306992" cy="172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11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35608" y="-24565"/>
            <a:ext cx="7498080" cy="1143000"/>
          </a:xfrm>
        </p:spPr>
        <p:txBody>
          <a:bodyPr/>
          <a:lstStyle/>
          <a:p>
            <a:r>
              <a:rPr lang="en-US" dirty="0" smtClean="0"/>
              <a:t>Dual </a:t>
            </a:r>
            <a:r>
              <a:rPr lang="en-US" dirty="0" err="1" smtClean="0"/>
              <a:t>Eligibles</a:t>
            </a:r>
            <a:r>
              <a:rPr lang="en-US" dirty="0" smtClean="0"/>
              <a:t> Initiatives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14716" y="987686"/>
            <a:ext cx="7498080" cy="4800600"/>
          </a:xfrm>
        </p:spPr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ederal </a:t>
            </a:r>
            <a:r>
              <a:rPr lang="en-US" dirty="0"/>
              <a:t>Coordinated Health Care Office </a:t>
            </a:r>
            <a:r>
              <a:rPr lang="en-US" dirty="0" smtClean="0"/>
              <a:t>established </a:t>
            </a:r>
            <a:r>
              <a:rPr lang="en-US" dirty="0"/>
              <a:t>to improve coordination </a:t>
            </a:r>
            <a:r>
              <a:rPr lang="en-US" dirty="0" smtClean="0"/>
              <a:t>for </a:t>
            </a:r>
            <a:r>
              <a:rPr lang="en-US" dirty="0"/>
              <a:t>individuals who are dually eligible for both Medicare and </a:t>
            </a:r>
            <a:r>
              <a:rPr lang="en-US" dirty="0" smtClean="0"/>
              <a:t>Medicaid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15 states undertaking demonstration projects: CA, CO, CT, MA, MI, MN, NY, NC, OK, OR, SC, TN,  VT,  WA,  WI</a:t>
            </a:r>
            <a:endParaRPr lang="en-US" dirty="0"/>
          </a:p>
        </p:txBody>
      </p:sp>
      <p:pic>
        <p:nvPicPr>
          <p:cNvPr id="2" name="Picture 1" descr="medicaid-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65" y="4439330"/>
            <a:ext cx="3264131" cy="19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32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004240"/>
            <a:ext cx="7498080" cy="3249012"/>
          </a:xfrm>
          <a:effectLst>
            <a:glow rad="2286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/>
              <a:t>ACA HIGHLIGHT # </a:t>
            </a:r>
            <a:r>
              <a:rPr lang="en-US" b="1" dirty="0" smtClean="0"/>
              <a:t>8: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dirty="0" smtClean="0"/>
              <a:t>Numerous provisions for strengthening health care workforce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41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1085" y="288313"/>
            <a:ext cx="2816558" cy="169465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Benefits to People with Disabilities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70573" y="840450"/>
            <a:ext cx="4681521" cy="4800600"/>
          </a:xfrm>
        </p:spPr>
        <p:txBody>
          <a:bodyPr/>
          <a:lstStyle/>
          <a:p>
            <a:r>
              <a:rPr lang="en-US" dirty="0" smtClean="0"/>
              <a:t>Strengthens quality of health care workforce to meet their needs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Opportunities to receive training and support for employment in the health care field</a:t>
            </a:r>
            <a:endParaRPr lang="en-US" dirty="0"/>
          </a:p>
        </p:txBody>
      </p:sp>
      <p:pic>
        <p:nvPicPr>
          <p:cNvPr id="2" name="Picture 1" descr="MP90040094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22" y="4018727"/>
            <a:ext cx="2997544" cy="23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21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647" y="1428817"/>
            <a:ext cx="7498080" cy="2043875"/>
          </a:xfrm>
          <a:effectLst>
            <a:glow rad="63500">
              <a:schemeClr val="accent2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isometricOffAxis1Right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Impact"/>
              </a:rPr>
              <a:t>ACA Action Steps</a:t>
            </a:r>
            <a:endParaRPr lang="en-US" sz="6000" dirty="0">
              <a:latin typeface="Impact"/>
            </a:endParaRPr>
          </a:p>
        </p:txBody>
      </p:sp>
      <p:pic>
        <p:nvPicPr>
          <p:cNvPr id="3" name="Picture 2" descr="Unknown-1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514" y="4012194"/>
            <a:ext cx="1893187" cy="242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28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990" y="142340"/>
            <a:ext cx="7498080" cy="651448"/>
          </a:xfrm>
        </p:spPr>
        <p:txBody>
          <a:bodyPr>
            <a:normAutofit/>
          </a:bodyPr>
          <a:lstStyle/>
          <a:p>
            <a:r>
              <a:rPr lang="en-US" sz="3200" b="1" i="1" dirty="0" smtClean="0"/>
              <a:t>ACA Action Steps:  </a:t>
            </a:r>
            <a:r>
              <a:rPr lang="en-US" sz="3200" dirty="0" smtClean="0"/>
              <a:t>Awareness &amp; Education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272" y="918606"/>
            <a:ext cx="7749416" cy="5762445"/>
          </a:xfrm>
        </p:spPr>
        <p:txBody>
          <a:bodyPr>
            <a:normAutofit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dirty="0"/>
              <a:t>N</a:t>
            </a:r>
            <a:r>
              <a:rPr lang="en-US" dirty="0" smtClean="0"/>
              <a:t>ew rights to coverage, and rights to appeal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I</a:t>
            </a:r>
            <a:r>
              <a:rPr lang="en-US" dirty="0" smtClean="0"/>
              <a:t>ndividual mandate requirements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E</a:t>
            </a:r>
            <a:r>
              <a:rPr lang="en-US" dirty="0" smtClean="0"/>
              <a:t>mployer requirements</a:t>
            </a:r>
            <a:endParaRPr lang="en-US" dirty="0"/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N</a:t>
            </a:r>
            <a:r>
              <a:rPr lang="en-US" dirty="0" smtClean="0"/>
              <a:t>ew coverage options and ways to access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dirty="0" smtClean="0"/>
              <a:t>esources to provide guidance and assistance in understanding health care options, and coordination of health care services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E</a:t>
            </a:r>
            <a:r>
              <a:rPr lang="en-US" dirty="0" smtClean="0"/>
              <a:t>fforts for coordinated care under Medicare and Medicaid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C</a:t>
            </a:r>
            <a:r>
              <a:rPr lang="en-US" dirty="0" smtClean="0"/>
              <a:t>urrent availability of Medicaid long-term support options in your state 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Health care workforce development efforts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19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272" y="168800"/>
            <a:ext cx="7498080" cy="651448"/>
          </a:xfrm>
        </p:spPr>
        <p:txBody>
          <a:bodyPr>
            <a:normAutofit/>
          </a:bodyPr>
          <a:lstStyle/>
          <a:p>
            <a:r>
              <a:rPr lang="en-US" sz="3200" b="1" i="1" dirty="0" smtClean="0"/>
              <a:t>ACA Action Steps:  </a:t>
            </a:r>
            <a:r>
              <a:rPr lang="en-US" sz="3200" dirty="0" smtClean="0"/>
              <a:t>Advocacy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272" y="918606"/>
            <a:ext cx="7749416" cy="5762445"/>
          </a:xfrm>
        </p:spPr>
        <p:txBody>
          <a:bodyPr>
            <a:normAutofit lnSpcReduction="10000"/>
          </a:bodyPr>
          <a:lstStyle/>
          <a:p>
            <a:pPr marL="596646" indent="-514350">
              <a:buFont typeface="+mj-lt"/>
              <a:buAutoNum type="arabicPeriod"/>
            </a:pPr>
            <a:r>
              <a:rPr lang="en-US" dirty="0" smtClean="0"/>
              <a:t>New rights to coverage are enforced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Dual </a:t>
            </a:r>
            <a:r>
              <a:rPr lang="en-US" dirty="0" err="1" smtClean="0"/>
              <a:t>eligibles</a:t>
            </a:r>
            <a:r>
              <a:rPr lang="en-US" dirty="0" smtClean="0"/>
              <a:t> -  Medicare and Medicaid - improved care, not just cost savings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Medicaid expansion, if state is not participating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/>
              <a:t>E</a:t>
            </a:r>
            <a:r>
              <a:rPr lang="en-US" dirty="0" smtClean="0"/>
              <a:t>xpansion of Medicaid long-term support options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Participation of people with disabilities in health care workforce training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Partnering on on health care workforce development projects and grant applications</a:t>
            </a:r>
          </a:p>
          <a:p>
            <a:pPr marL="596646" indent="-514350">
              <a:buFont typeface="+mj-lt"/>
              <a:buAutoNum type="arabicPeriod"/>
            </a:pPr>
            <a:r>
              <a:rPr lang="en-US" dirty="0" smtClean="0"/>
              <a:t>Ensure people with disabilities are at the table as decisions are made about ACA implementation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86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0654" y="274637"/>
            <a:ext cx="2961067" cy="2320405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sz="3200" b="1" i="1" dirty="0" smtClean="0"/>
              <a:t>ACA Action Steps: </a:t>
            </a:r>
            <a:r>
              <a:rPr lang="en-US" sz="3200" dirty="0" smtClean="0"/>
              <a:t>Connecting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9428" y="533732"/>
            <a:ext cx="4534260" cy="6147319"/>
          </a:xfrm>
        </p:spPr>
        <p:txBody>
          <a:bodyPr>
            <a:normAutofit/>
          </a:bodyPr>
          <a:lstStyle/>
          <a:p>
            <a:r>
              <a:rPr lang="en-US" dirty="0" smtClean="0"/>
              <a:t>Ensure understanding of new health care options by work incentive assistance programs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Ensure linkage with resources and experts (e.g., health care navigators, ADRCs)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MC900320732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654" y="3294416"/>
            <a:ext cx="2961067" cy="248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13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29" y="515328"/>
            <a:ext cx="3043785" cy="1233105"/>
          </a:xfrm>
          <a:scene3d>
            <a:camera prst="isometricOffAxis1Right"/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accent5"/>
            </a:contourClr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4800" b="1" dirty="0" smtClean="0"/>
              <a:t>Wrap-Up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4518" y="662565"/>
            <a:ext cx="4410008" cy="59078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b="1" dirty="0" smtClean="0"/>
              <a:t>Separate ACA myth from fact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Use resources to educate yourself and others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Find out what’s happening in your state</a:t>
            </a:r>
          </a:p>
          <a:p>
            <a:pPr>
              <a:spcBef>
                <a:spcPts val="1200"/>
              </a:spcBef>
            </a:pPr>
            <a:r>
              <a:rPr lang="en-US" b="1" dirty="0" smtClean="0"/>
              <a:t>Look for and create opportunities to educate, collaborate, and advocate</a:t>
            </a:r>
          </a:p>
        </p:txBody>
      </p:sp>
      <p:pic>
        <p:nvPicPr>
          <p:cNvPr id="4" name="Picture 3" descr="HealthcareRefor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9" y="2481288"/>
            <a:ext cx="3388631" cy="261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60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2893155" cy="1143000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Handouts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763" y="288709"/>
            <a:ext cx="4205865" cy="2169112"/>
          </a:xfrm>
        </p:spPr>
        <p:txBody>
          <a:bodyPr/>
          <a:lstStyle/>
          <a:p>
            <a:r>
              <a:rPr lang="en-US" dirty="0" smtClean="0"/>
              <a:t>ACA Resource List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Medicaid Long-Term Care Options</a:t>
            </a:r>
          </a:p>
          <a:p>
            <a:endParaRPr lang="en-US" dirty="0"/>
          </a:p>
        </p:txBody>
      </p:sp>
      <p:pic>
        <p:nvPicPr>
          <p:cNvPr id="4" name="Picture 3" descr="Affordable Care Act Resource List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08" y="3044967"/>
            <a:ext cx="2743323" cy="35501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Medicaid Long-Term Support Option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682" y="3032316"/>
            <a:ext cx="2779478" cy="35969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1843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345" y="626228"/>
            <a:ext cx="7772400" cy="1143000"/>
          </a:xfrm>
          <a:scene3d>
            <a:camera prst="isometricOffAxis1Righ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>
              <a:defRPr/>
            </a:pPr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37890" name="TextBox 4"/>
          <p:cNvSpPr txBox="1">
            <a:spLocks noChangeArrowheads="1"/>
          </p:cNvSpPr>
          <p:nvPr/>
        </p:nvSpPr>
        <p:spPr bwMode="auto">
          <a:xfrm>
            <a:off x="1447800" y="2514600"/>
            <a:ext cx="63246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b="1">
                <a:latin typeface="Comic Sans MS" charset="0"/>
                <a:cs typeface="Comic Sans MS" charset="0"/>
              </a:rPr>
              <a:t>David Hoff</a:t>
            </a:r>
          </a:p>
          <a:p>
            <a:pPr algn="ctr"/>
            <a:endParaRPr lang="en-US">
              <a:cs typeface="Arial" charset="0"/>
            </a:endParaRPr>
          </a:p>
          <a:p>
            <a:pPr algn="ctr"/>
            <a:r>
              <a:rPr lang="en-US">
                <a:cs typeface="Arial" charset="0"/>
              </a:rPr>
              <a:t>617-287-4308</a:t>
            </a:r>
          </a:p>
          <a:p>
            <a:pPr algn="ctr"/>
            <a:r>
              <a:rPr lang="en-US">
                <a:cs typeface="Arial" charset="0"/>
              </a:rPr>
              <a:t>david.hoff@umb.edu</a:t>
            </a:r>
          </a:p>
          <a:p>
            <a:pPr algn="ctr"/>
            <a:endParaRPr lang="en-US">
              <a:latin typeface="Century Gothic" charset="0"/>
              <a:cs typeface="Century Gothic" charset="0"/>
            </a:endParaRPr>
          </a:p>
          <a:p>
            <a:pPr algn="ctr"/>
            <a:r>
              <a:rPr lang="en-US" b="1">
                <a:latin typeface="Century Gothic" charset="0"/>
                <a:cs typeface="Century Gothic" charset="0"/>
              </a:rPr>
              <a:t>www.communityinclusion.org</a:t>
            </a:r>
          </a:p>
          <a:p>
            <a:pPr algn="ctr"/>
            <a:endParaRPr lang="en-US">
              <a:latin typeface="Century Gothic" charset="0"/>
              <a:cs typeface="Century Gothic" charset="0"/>
            </a:endParaRPr>
          </a:p>
          <a:p>
            <a:pPr algn="ctr"/>
            <a:r>
              <a:rPr lang="en-US" b="1">
                <a:latin typeface="Century Gothic" charset="0"/>
                <a:cs typeface="Century Gothic" charset="0"/>
              </a:rPr>
              <a:t>www.apse.org</a:t>
            </a:r>
          </a:p>
        </p:txBody>
      </p:sp>
      <p:pic>
        <p:nvPicPr>
          <p:cNvPr id="37891" name="Picture 8" descr="New APSE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621109"/>
            <a:ext cx="18446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 descr="MC900433861-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3210983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4" descr="MC900019332-1.W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356" y="1791493"/>
            <a:ext cx="1716088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ICI_UMB_blu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4148827"/>
            <a:ext cx="1662695" cy="87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4261"/>
      </p:ext>
    </p:extLst>
  </p:cSld>
  <p:clrMapOvr>
    <a:masterClrMapping/>
  </p:clrMapOvr>
  <p:transition xmlns:p14="http://schemas.microsoft.com/office/powerpoint/2010/main" spd="slow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1443</TotalTime>
  <Words>974</Words>
  <Application>Microsoft Macintosh PowerPoint</Application>
  <PresentationFormat>On-screen Show (4:3)</PresentationFormat>
  <Paragraphs>167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Solstice</vt:lpstr>
      <vt:lpstr>Office Theme</vt:lpstr>
      <vt:lpstr>1_Office Theme</vt:lpstr>
      <vt:lpstr>The Affordable Care Act (aka Obamacare): Yes It Is a Good Thing – Particularly for People with Disabilities! </vt:lpstr>
      <vt:lpstr>The ACA in Context</vt:lpstr>
      <vt:lpstr>ACA: The Law</vt:lpstr>
      <vt:lpstr>PowerPoint Presentation</vt:lpstr>
      <vt:lpstr>PowerPoint Presentation</vt:lpstr>
      <vt:lpstr>PowerPoint Presentation</vt:lpstr>
      <vt:lpstr>Unless otherwise indicated, all aspects of the law discussed during the webinar are either in effect or go into effect by January 1, 2014</vt:lpstr>
      <vt:lpstr>ACA HIGHLIGHT # 1:  Under the ACA, individuals no longer need to be concerned about loss of coverage due to chronic health conditions or high health care costs</vt:lpstr>
      <vt:lpstr>PowerPoint Presentation</vt:lpstr>
      <vt:lpstr>ACA HIGHLIGHT # 2:  Mandatory Coverage Requirement</vt:lpstr>
      <vt:lpstr>Individual Mandate</vt:lpstr>
      <vt:lpstr>Employer Requirements</vt:lpstr>
      <vt:lpstr>ACA HIGHLIGHT # 3:  Expanded availability of health care coverage under the ACA</vt:lpstr>
      <vt:lpstr>Health Insurance Exchanges: Who They ‘re For</vt:lpstr>
      <vt:lpstr>Health Insurance Exchanges</vt:lpstr>
      <vt:lpstr>PowerPoint Presentation</vt:lpstr>
      <vt:lpstr>Health Insurance Exchanges: By the Numbers - Latest Data</vt:lpstr>
      <vt:lpstr>Expansion of Dependent Coverage</vt:lpstr>
      <vt:lpstr>Expanded Availability of Medicaid</vt:lpstr>
      <vt:lpstr>PowerPoint Presentation</vt:lpstr>
      <vt:lpstr>ACA HIGHLIGHT # 4:  Essential Benefit Requirements</vt:lpstr>
      <vt:lpstr>Health plans offered in individual and small group markets are required to offer a comprehensive package of benefits</vt:lpstr>
      <vt:lpstr>Essential Benefits Required</vt:lpstr>
      <vt:lpstr>ACA HIGHLIGHT # 5:  Streamlined Enrollment and Availability of Guidance &amp; Assistance</vt:lpstr>
      <vt:lpstr>PowerPoint Presentation</vt:lpstr>
      <vt:lpstr>ACA HIGHLIGHT # 6:  Expanded long-term support options under the ACA</vt:lpstr>
      <vt:lpstr>PowerPoint Presentation</vt:lpstr>
      <vt:lpstr>CLASS - National voluntary insurance program for purchasing community living assistance and support</vt:lpstr>
      <vt:lpstr>ACA HIGHLIGHT # 7:   Strengthened coordination for individuals on both Medicare and Medicaid </vt:lpstr>
      <vt:lpstr>Dual Eligibles Initiatives</vt:lpstr>
      <vt:lpstr>ACA HIGHLIGHT # 8:  Numerous provisions for strengthening health care workforce</vt:lpstr>
      <vt:lpstr>Benefits to People with Disabilities</vt:lpstr>
      <vt:lpstr>ACA Action Steps</vt:lpstr>
      <vt:lpstr>ACA Action Steps:  Awareness &amp; Education</vt:lpstr>
      <vt:lpstr>ACA Action Steps:  Advocacy</vt:lpstr>
      <vt:lpstr>ACA Action Steps: Connecting</vt:lpstr>
      <vt:lpstr>Wrap-Up</vt:lpstr>
      <vt:lpstr>Handouts</vt:lpstr>
      <vt:lpstr>Contact Information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APSE Board Orientation</dc:title>
  <dc:creator>David  Hoff</dc:creator>
  <cp:lastModifiedBy>David  Hoff</cp:lastModifiedBy>
  <cp:revision>116</cp:revision>
  <dcterms:created xsi:type="dcterms:W3CDTF">2012-06-25T01:24:00Z</dcterms:created>
  <dcterms:modified xsi:type="dcterms:W3CDTF">2013-12-06T18:27:23Z</dcterms:modified>
</cp:coreProperties>
</file>