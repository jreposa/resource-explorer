
<file path=[Content_Types].xml><?xml version="1.0" encoding="utf-8"?>
<Types xmlns="http://schemas.openxmlformats.org/package/2006/content-types">
  <Default Extension="xml" ContentType="application/xml"/>
  <Default Extension="wmf" ContentType="image/x-wmf"/>
  <Default Extension="jpeg" ContentType="image/jpeg"/>
  <Default Extension="jpg" ContentType="image/jpeg"/>
  <Default Extension="emf" ContentType="image/x-emf"/>
  <Default Extension="rels" ContentType="application/vnd.openxmlformats-package.relationships+xml"/>
  <Default Extension="gif" ContentType="image/gi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Lst>
  <p:notesMasterIdLst>
    <p:notesMasterId r:id="rId83"/>
  </p:notesMasterIdLst>
  <p:handoutMasterIdLst>
    <p:handoutMasterId r:id="rId84"/>
  </p:handoutMasterIdLst>
  <p:sldIdLst>
    <p:sldId id="256" r:id="rId2"/>
    <p:sldId id="321" r:id="rId3"/>
    <p:sldId id="363" r:id="rId4"/>
    <p:sldId id="308" r:id="rId5"/>
    <p:sldId id="309" r:id="rId6"/>
    <p:sldId id="364" r:id="rId7"/>
    <p:sldId id="370" r:id="rId8"/>
    <p:sldId id="368" r:id="rId9"/>
    <p:sldId id="369" r:id="rId10"/>
    <p:sldId id="329" r:id="rId11"/>
    <p:sldId id="422" r:id="rId12"/>
    <p:sldId id="423" r:id="rId13"/>
    <p:sldId id="311" r:id="rId14"/>
    <p:sldId id="312" r:id="rId15"/>
    <p:sldId id="366" r:id="rId16"/>
    <p:sldId id="399" r:id="rId17"/>
    <p:sldId id="372" r:id="rId18"/>
    <p:sldId id="373" r:id="rId19"/>
    <p:sldId id="376" r:id="rId20"/>
    <p:sldId id="447" r:id="rId21"/>
    <p:sldId id="377" r:id="rId22"/>
    <p:sldId id="280" r:id="rId23"/>
    <p:sldId id="450" r:id="rId24"/>
    <p:sldId id="378" r:id="rId25"/>
    <p:sldId id="380" r:id="rId26"/>
    <p:sldId id="381" r:id="rId27"/>
    <p:sldId id="382" r:id="rId28"/>
    <p:sldId id="461" r:id="rId29"/>
    <p:sldId id="418" r:id="rId30"/>
    <p:sldId id="424" r:id="rId31"/>
    <p:sldId id="454" r:id="rId32"/>
    <p:sldId id="453" r:id="rId33"/>
    <p:sldId id="455" r:id="rId34"/>
    <p:sldId id="387" r:id="rId35"/>
    <p:sldId id="316" r:id="rId36"/>
    <p:sldId id="385" r:id="rId37"/>
    <p:sldId id="393" r:id="rId38"/>
    <p:sldId id="394" r:id="rId39"/>
    <p:sldId id="336" r:id="rId40"/>
    <p:sldId id="386" r:id="rId41"/>
    <p:sldId id="390" r:id="rId42"/>
    <p:sldId id="460" r:id="rId43"/>
    <p:sldId id="344" r:id="rId44"/>
    <p:sldId id="345" r:id="rId45"/>
    <p:sldId id="426" r:id="rId46"/>
    <p:sldId id="346" r:id="rId47"/>
    <p:sldId id="441" r:id="rId48"/>
    <p:sldId id="347" r:id="rId49"/>
    <p:sldId id="357" r:id="rId50"/>
    <p:sldId id="348" r:id="rId51"/>
    <p:sldId id="349" r:id="rId52"/>
    <p:sldId id="350" r:id="rId53"/>
    <p:sldId id="356" r:id="rId54"/>
    <p:sldId id="436" r:id="rId55"/>
    <p:sldId id="437" r:id="rId56"/>
    <p:sldId id="438" r:id="rId57"/>
    <p:sldId id="439" r:id="rId58"/>
    <p:sldId id="440" r:id="rId59"/>
    <p:sldId id="276" r:id="rId60"/>
    <p:sldId id="318" r:id="rId61"/>
    <p:sldId id="319" r:id="rId62"/>
    <p:sldId id="320" r:id="rId63"/>
    <p:sldId id="270" r:id="rId64"/>
    <p:sldId id="432" r:id="rId65"/>
    <p:sldId id="457" r:id="rId66"/>
    <p:sldId id="458" r:id="rId67"/>
    <p:sldId id="459" r:id="rId68"/>
    <p:sldId id="421" r:id="rId69"/>
    <p:sldId id="428" r:id="rId70"/>
    <p:sldId id="427" r:id="rId71"/>
    <p:sldId id="430" r:id="rId72"/>
    <p:sldId id="442" r:id="rId73"/>
    <p:sldId id="433" r:id="rId74"/>
    <p:sldId id="431" r:id="rId75"/>
    <p:sldId id="443" r:id="rId76"/>
    <p:sldId id="456" r:id="rId77"/>
    <p:sldId id="400" r:id="rId78"/>
    <p:sldId id="302" r:id="rId79"/>
    <p:sldId id="307" r:id="rId80"/>
    <p:sldId id="435" r:id="rId81"/>
    <p:sldId id="287" r:id="rId8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Gill Sans MT"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Gill Sans MT"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Gill Sans MT"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Gill Sans MT"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Gill Sans MT" charset="0"/>
        <a:ea typeface="ＭＳ Ｐゴシック" charset="0"/>
        <a:cs typeface="ＭＳ Ｐゴシック" charset="0"/>
      </a:defRPr>
    </a:lvl5pPr>
    <a:lvl6pPr marL="2286000" algn="l" defTabSz="457200" rtl="0" eaLnBrk="1" latinLnBrk="0" hangingPunct="1">
      <a:defRPr kern="1200">
        <a:solidFill>
          <a:schemeClr val="tx1"/>
        </a:solidFill>
        <a:latin typeface="Gill Sans MT" charset="0"/>
        <a:ea typeface="ＭＳ Ｐゴシック" charset="0"/>
        <a:cs typeface="ＭＳ Ｐゴシック" charset="0"/>
      </a:defRPr>
    </a:lvl6pPr>
    <a:lvl7pPr marL="2743200" algn="l" defTabSz="457200" rtl="0" eaLnBrk="1" latinLnBrk="0" hangingPunct="1">
      <a:defRPr kern="1200">
        <a:solidFill>
          <a:schemeClr val="tx1"/>
        </a:solidFill>
        <a:latin typeface="Gill Sans MT" charset="0"/>
        <a:ea typeface="ＭＳ Ｐゴシック" charset="0"/>
        <a:cs typeface="ＭＳ Ｐゴシック" charset="0"/>
      </a:defRPr>
    </a:lvl7pPr>
    <a:lvl8pPr marL="3200400" algn="l" defTabSz="457200" rtl="0" eaLnBrk="1" latinLnBrk="0" hangingPunct="1">
      <a:defRPr kern="1200">
        <a:solidFill>
          <a:schemeClr val="tx1"/>
        </a:solidFill>
        <a:latin typeface="Gill Sans MT" charset="0"/>
        <a:ea typeface="ＭＳ Ｐゴシック" charset="0"/>
        <a:cs typeface="ＭＳ Ｐゴシック" charset="0"/>
      </a:defRPr>
    </a:lvl8pPr>
    <a:lvl9pPr marL="3657600" algn="l" defTabSz="457200" rtl="0" eaLnBrk="1" latinLnBrk="0" hangingPunct="1">
      <a:defRPr kern="1200">
        <a:solidFill>
          <a:schemeClr val="tx1"/>
        </a:solidFill>
        <a:latin typeface="Gill Sans MT" charset="0"/>
        <a:ea typeface="ＭＳ Ｐゴシック" charset="0"/>
        <a:cs typeface="ＭＳ Ｐゴシック"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9837" autoAdjust="0"/>
  </p:normalViewPr>
  <p:slideViewPr>
    <p:cSldViewPr snapToGrid="0" snapToObjects="1">
      <p:cViewPr varScale="1">
        <p:scale>
          <a:sx n="85" d="100"/>
          <a:sy n="85" d="100"/>
        </p:scale>
        <p:origin x="-472" y="-11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64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handoutMaster" Target="handoutMasters/handoutMaster1.xml"/><Relationship Id="rId85" Type="http://schemas.openxmlformats.org/officeDocument/2006/relationships/printerSettings" Target="printerSettings/printerSettings1.bin"/><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B41166-B9CA-2B4E-98C2-16A56EF185AC}" type="doc">
      <dgm:prSet loTypeId="urn:microsoft.com/office/officeart/2005/8/layout/radial4" loCatId="" qsTypeId="urn:microsoft.com/office/officeart/2005/8/quickstyle/simple4" qsCatId="simple" csTypeId="urn:microsoft.com/office/officeart/2005/8/colors/accent1_2" csCatId="accent1" phldr="1"/>
      <dgm:spPr/>
      <dgm:t>
        <a:bodyPr/>
        <a:lstStyle/>
        <a:p>
          <a:endParaRPr lang="en-US"/>
        </a:p>
      </dgm:t>
    </dgm:pt>
    <dgm:pt modelId="{5DED28B0-6922-A645-BD72-226BF12F8A28}">
      <dgm:prSet phldrT="[Text]" custT="1"/>
      <dgm:spPr>
        <a:solidFill>
          <a:srgbClr val="FF0000"/>
        </a:solidFill>
        <a:effectLst>
          <a:glow rad="228600">
            <a:schemeClr val="accent6">
              <a:satMod val="175000"/>
              <a:alpha val="40000"/>
            </a:schemeClr>
          </a:glow>
        </a:effectLst>
      </dgm:spPr>
      <dgm:t>
        <a:bodyPr/>
        <a:lstStyle/>
        <a:p>
          <a:r>
            <a:rPr lang="en-US" sz="3000" dirty="0" smtClean="0"/>
            <a:t>Employment</a:t>
          </a:r>
          <a:endParaRPr lang="en-US" sz="3000" dirty="0"/>
        </a:p>
      </dgm:t>
    </dgm:pt>
    <dgm:pt modelId="{D1DBEAD4-84AC-4346-83E9-7558CE718717}" type="parTrans" cxnId="{9C6E241F-5164-9046-958B-1588A1AFCB99}">
      <dgm:prSet/>
      <dgm:spPr/>
      <dgm:t>
        <a:bodyPr/>
        <a:lstStyle/>
        <a:p>
          <a:endParaRPr lang="en-US"/>
        </a:p>
      </dgm:t>
    </dgm:pt>
    <dgm:pt modelId="{FBC9FB06-EC2E-CF46-9F7C-E73CFF97AB27}" type="sibTrans" cxnId="{9C6E241F-5164-9046-958B-1588A1AFCB99}">
      <dgm:prSet/>
      <dgm:spPr/>
      <dgm:t>
        <a:bodyPr/>
        <a:lstStyle/>
        <a:p>
          <a:endParaRPr lang="en-US"/>
        </a:p>
      </dgm:t>
    </dgm:pt>
    <dgm:pt modelId="{E5625AE9-B2EF-EC48-8DA4-FC0ED90C29DA}">
      <dgm:prSet phldrT="[Text]"/>
      <dgm:spPr>
        <a:solidFill>
          <a:srgbClr val="000090"/>
        </a:solidFill>
        <a:scene3d>
          <a:camera prst="orthographicFront"/>
          <a:lightRig rig="threePt" dir="t"/>
        </a:scene3d>
        <a:sp3d>
          <a:bevelT w="139700" h="139700" prst="divot"/>
        </a:sp3d>
      </dgm:spPr>
      <dgm:t>
        <a:bodyPr/>
        <a:lstStyle/>
        <a:p>
          <a:r>
            <a:rPr lang="en-US" dirty="0" smtClean="0"/>
            <a:t>Policies</a:t>
          </a:r>
          <a:endParaRPr lang="en-US" dirty="0"/>
        </a:p>
      </dgm:t>
    </dgm:pt>
    <dgm:pt modelId="{0A9432C9-07E3-B84E-BA59-200F55144219}" type="parTrans" cxnId="{57F38890-04FD-4C49-AA7C-24866B61A032}">
      <dgm:prSet/>
      <dgm:spPr>
        <a:solidFill>
          <a:schemeClr val="tx1"/>
        </a:solidFill>
      </dgm:spPr>
      <dgm:t>
        <a:bodyPr/>
        <a:lstStyle/>
        <a:p>
          <a:endParaRPr lang="en-US"/>
        </a:p>
      </dgm:t>
    </dgm:pt>
    <dgm:pt modelId="{1E12674D-42A7-214E-9341-62EEAF456052}" type="sibTrans" cxnId="{57F38890-04FD-4C49-AA7C-24866B61A032}">
      <dgm:prSet/>
      <dgm:spPr/>
      <dgm:t>
        <a:bodyPr/>
        <a:lstStyle/>
        <a:p>
          <a:endParaRPr lang="en-US"/>
        </a:p>
      </dgm:t>
    </dgm:pt>
    <dgm:pt modelId="{DBEF9CC0-E955-2346-B868-F81251B3F465}">
      <dgm:prSet phldrT="[Text]"/>
      <dgm:spPr>
        <a:solidFill>
          <a:schemeClr val="accent6">
            <a:lumMod val="75000"/>
          </a:schemeClr>
        </a:solidFill>
        <a:scene3d>
          <a:camera prst="orthographicFront"/>
          <a:lightRig rig="threePt" dir="t"/>
        </a:scene3d>
        <a:sp3d>
          <a:bevelT w="139700" h="139700" prst="divot"/>
        </a:sp3d>
      </dgm:spPr>
      <dgm:t>
        <a:bodyPr/>
        <a:lstStyle/>
        <a:p>
          <a:r>
            <a:rPr lang="en-US" dirty="0" smtClean="0"/>
            <a:t>Practices</a:t>
          </a:r>
          <a:endParaRPr lang="en-US" dirty="0"/>
        </a:p>
      </dgm:t>
    </dgm:pt>
    <dgm:pt modelId="{6DC82D9B-5510-0146-9B49-028C66F8C697}" type="parTrans" cxnId="{4A3E4FC7-3D1E-1D48-83C9-35E543B4E63E}">
      <dgm:prSet/>
      <dgm:spPr>
        <a:solidFill>
          <a:schemeClr val="tx1"/>
        </a:solidFill>
      </dgm:spPr>
      <dgm:t>
        <a:bodyPr/>
        <a:lstStyle/>
        <a:p>
          <a:endParaRPr lang="en-US"/>
        </a:p>
      </dgm:t>
    </dgm:pt>
    <dgm:pt modelId="{F71AA9FC-8338-BB46-8C29-83A4E090F4B1}" type="sibTrans" cxnId="{4A3E4FC7-3D1E-1D48-83C9-35E543B4E63E}">
      <dgm:prSet/>
      <dgm:spPr/>
      <dgm:t>
        <a:bodyPr/>
        <a:lstStyle/>
        <a:p>
          <a:endParaRPr lang="en-US"/>
        </a:p>
      </dgm:t>
    </dgm:pt>
    <dgm:pt modelId="{FFA28256-4CD9-394D-BBA6-2EF1D94D7135}">
      <dgm:prSet phldrT="[Text]"/>
      <dgm:spPr>
        <a:solidFill>
          <a:srgbClr val="008000"/>
        </a:solidFill>
        <a:scene3d>
          <a:camera prst="orthographicFront"/>
          <a:lightRig rig="threePt" dir="t"/>
        </a:scene3d>
        <a:sp3d>
          <a:bevelT w="139700" h="139700" prst="divot"/>
        </a:sp3d>
      </dgm:spPr>
      <dgm:t>
        <a:bodyPr/>
        <a:lstStyle/>
        <a:p>
          <a:r>
            <a:rPr lang="en-US" dirty="0" smtClean="0"/>
            <a:t>Resources</a:t>
          </a:r>
          <a:endParaRPr lang="en-US" dirty="0"/>
        </a:p>
      </dgm:t>
    </dgm:pt>
    <dgm:pt modelId="{AFFC003C-22C7-234B-8741-27B13B657728}" type="parTrans" cxnId="{7E8E0807-FA00-7646-B89B-407FA29603E8}">
      <dgm:prSet/>
      <dgm:spPr>
        <a:solidFill>
          <a:schemeClr val="tx1"/>
        </a:solidFill>
      </dgm:spPr>
      <dgm:t>
        <a:bodyPr/>
        <a:lstStyle/>
        <a:p>
          <a:endParaRPr lang="en-US"/>
        </a:p>
      </dgm:t>
    </dgm:pt>
    <dgm:pt modelId="{9412F695-BC8F-D544-934E-8F33C4D1C852}" type="sibTrans" cxnId="{7E8E0807-FA00-7646-B89B-407FA29603E8}">
      <dgm:prSet/>
      <dgm:spPr/>
      <dgm:t>
        <a:bodyPr/>
        <a:lstStyle/>
        <a:p>
          <a:endParaRPr lang="en-US"/>
        </a:p>
      </dgm:t>
    </dgm:pt>
    <dgm:pt modelId="{5259E3DB-E748-F646-8589-200DCC05B322}" type="pres">
      <dgm:prSet presAssocID="{97B41166-B9CA-2B4E-98C2-16A56EF185AC}" presName="cycle" presStyleCnt="0">
        <dgm:presLayoutVars>
          <dgm:chMax val="1"/>
          <dgm:dir/>
          <dgm:animLvl val="ctr"/>
          <dgm:resizeHandles val="exact"/>
        </dgm:presLayoutVars>
      </dgm:prSet>
      <dgm:spPr/>
      <dgm:t>
        <a:bodyPr/>
        <a:lstStyle/>
        <a:p>
          <a:endParaRPr lang="en-US"/>
        </a:p>
      </dgm:t>
    </dgm:pt>
    <dgm:pt modelId="{AD022CC8-CB22-4A4F-ABF2-B96C5D2C3B33}" type="pres">
      <dgm:prSet presAssocID="{5DED28B0-6922-A645-BD72-226BF12F8A28}" presName="centerShape" presStyleLbl="node0" presStyleIdx="0" presStyleCnt="1" custScaleX="119803" custScaleY="111036"/>
      <dgm:spPr/>
      <dgm:t>
        <a:bodyPr/>
        <a:lstStyle/>
        <a:p>
          <a:endParaRPr lang="en-US"/>
        </a:p>
      </dgm:t>
    </dgm:pt>
    <dgm:pt modelId="{51B577EB-EBE1-914B-984A-07146D1629B7}" type="pres">
      <dgm:prSet presAssocID="{0A9432C9-07E3-B84E-BA59-200F55144219}" presName="parTrans" presStyleLbl="bgSibTrans2D1" presStyleIdx="0" presStyleCnt="3"/>
      <dgm:spPr/>
      <dgm:t>
        <a:bodyPr/>
        <a:lstStyle/>
        <a:p>
          <a:endParaRPr lang="en-US"/>
        </a:p>
      </dgm:t>
    </dgm:pt>
    <dgm:pt modelId="{6A95FB64-77E3-2C4F-8541-9FA9595A5899}" type="pres">
      <dgm:prSet presAssocID="{E5625AE9-B2EF-EC48-8DA4-FC0ED90C29DA}" presName="node" presStyleLbl="node1" presStyleIdx="0" presStyleCnt="3" custScaleX="78003" custScaleY="87547">
        <dgm:presLayoutVars>
          <dgm:bulletEnabled val="1"/>
        </dgm:presLayoutVars>
      </dgm:prSet>
      <dgm:spPr/>
      <dgm:t>
        <a:bodyPr/>
        <a:lstStyle/>
        <a:p>
          <a:endParaRPr lang="en-US"/>
        </a:p>
      </dgm:t>
    </dgm:pt>
    <dgm:pt modelId="{6357023B-4513-1D42-AB50-E3BE1BCAA97A}" type="pres">
      <dgm:prSet presAssocID="{6DC82D9B-5510-0146-9B49-028C66F8C697}" presName="parTrans" presStyleLbl="bgSibTrans2D1" presStyleIdx="1" presStyleCnt="3"/>
      <dgm:spPr/>
      <dgm:t>
        <a:bodyPr/>
        <a:lstStyle/>
        <a:p>
          <a:endParaRPr lang="en-US"/>
        </a:p>
      </dgm:t>
    </dgm:pt>
    <dgm:pt modelId="{30AF1431-73EB-774B-94D8-8B7AD6AF450C}" type="pres">
      <dgm:prSet presAssocID="{DBEF9CC0-E955-2346-B868-F81251B3F465}" presName="node" presStyleLbl="node1" presStyleIdx="1" presStyleCnt="3" custScaleX="84770" custScaleY="83047">
        <dgm:presLayoutVars>
          <dgm:bulletEnabled val="1"/>
        </dgm:presLayoutVars>
      </dgm:prSet>
      <dgm:spPr/>
      <dgm:t>
        <a:bodyPr/>
        <a:lstStyle/>
        <a:p>
          <a:endParaRPr lang="en-US"/>
        </a:p>
      </dgm:t>
    </dgm:pt>
    <dgm:pt modelId="{FB06FD31-FFBF-3640-B78D-FECA267CA5E7}" type="pres">
      <dgm:prSet presAssocID="{AFFC003C-22C7-234B-8741-27B13B657728}" presName="parTrans" presStyleLbl="bgSibTrans2D1" presStyleIdx="2" presStyleCnt="3"/>
      <dgm:spPr/>
      <dgm:t>
        <a:bodyPr/>
        <a:lstStyle/>
        <a:p>
          <a:endParaRPr lang="en-US"/>
        </a:p>
      </dgm:t>
    </dgm:pt>
    <dgm:pt modelId="{F70FD2D8-028C-F443-AF9F-32DEF9AE6D35}" type="pres">
      <dgm:prSet presAssocID="{FFA28256-4CD9-394D-BBA6-2EF1D94D7135}" presName="node" presStyleLbl="node1" presStyleIdx="2" presStyleCnt="3" custScaleX="84329" custScaleY="83993">
        <dgm:presLayoutVars>
          <dgm:bulletEnabled val="1"/>
        </dgm:presLayoutVars>
      </dgm:prSet>
      <dgm:spPr/>
      <dgm:t>
        <a:bodyPr/>
        <a:lstStyle/>
        <a:p>
          <a:endParaRPr lang="en-US"/>
        </a:p>
      </dgm:t>
    </dgm:pt>
  </dgm:ptLst>
  <dgm:cxnLst>
    <dgm:cxn modelId="{B38278D5-CD3E-E647-BA86-0FE3E9DF891C}" type="presOf" srcId="{FFA28256-4CD9-394D-BBA6-2EF1D94D7135}" destId="{F70FD2D8-028C-F443-AF9F-32DEF9AE6D35}" srcOrd="0" destOrd="0" presId="urn:microsoft.com/office/officeart/2005/8/layout/radial4"/>
    <dgm:cxn modelId="{E0245DA7-CBA1-5A45-9188-26AD87F69595}" type="presOf" srcId="{6DC82D9B-5510-0146-9B49-028C66F8C697}" destId="{6357023B-4513-1D42-AB50-E3BE1BCAA97A}" srcOrd="0" destOrd="0" presId="urn:microsoft.com/office/officeart/2005/8/layout/radial4"/>
    <dgm:cxn modelId="{9C6E241F-5164-9046-958B-1588A1AFCB99}" srcId="{97B41166-B9CA-2B4E-98C2-16A56EF185AC}" destId="{5DED28B0-6922-A645-BD72-226BF12F8A28}" srcOrd="0" destOrd="0" parTransId="{D1DBEAD4-84AC-4346-83E9-7558CE718717}" sibTransId="{FBC9FB06-EC2E-CF46-9F7C-E73CFF97AB27}"/>
    <dgm:cxn modelId="{57F38890-04FD-4C49-AA7C-24866B61A032}" srcId="{5DED28B0-6922-A645-BD72-226BF12F8A28}" destId="{E5625AE9-B2EF-EC48-8DA4-FC0ED90C29DA}" srcOrd="0" destOrd="0" parTransId="{0A9432C9-07E3-B84E-BA59-200F55144219}" sibTransId="{1E12674D-42A7-214E-9341-62EEAF456052}"/>
    <dgm:cxn modelId="{551B0EEB-3B26-154B-B6B4-9DA5D6E36A4C}" type="presOf" srcId="{DBEF9CC0-E955-2346-B868-F81251B3F465}" destId="{30AF1431-73EB-774B-94D8-8B7AD6AF450C}" srcOrd="0" destOrd="0" presId="urn:microsoft.com/office/officeart/2005/8/layout/radial4"/>
    <dgm:cxn modelId="{7E8E0807-FA00-7646-B89B-407FA29603E8}" srcId="{5DED28B0-6922-A645-BD72-226BF12F8A28}" destId="{FFA28256-4CD9-394D-BBA6-2EF1D94D7135}" srcOrd="2" destOrd="0" parTransId="{AFFC003C-22C7-234B-8741-27B13B657728}" sibTransId="{9412F695-BC8F-D544-934E-8F33C4D1C852}"/>
    <dgm:cxn modelId="{0696FA12-2672-9149-8E48-DC1A34C9DA5F}" type="presOf" srcId="{AFFC003C-22C7-234B-8741-27B13B657728}" destId="{FB06FD31-FFBF-3640-B78D-FECA267CA5E7}" srcOrd="0" destOrd="0" presId="urn:microsoft.com/office/officeart/2005/8/layout/radial4"/>
    <dgm:cxn modelId="{16D55B5E-F43F-0F45-9026-F65112865909}" type="presOf" srcId="{E5625AE9-B2EF-EC48-8DA4-FC0ED90C29DA}" destId="{6A95FB64-77E3-2C4F-8541-9FA9595A5899}" srcOrd="0" destOrd="0" presId="urn:microsoft.com/office/officeart/2005/8/layout/radial4"/>
    <dgm:cxn modelId="{902A6C4B-C640-174B-AADD-20EE71B93054}" type="presOf" srcId="{97B41166-B9CA-2B4E-98C2-16A56EF185AC}" destId="{5259E3DB-E748-F646-8589-200DCC05B322}" srcOrd="0" destOrd="0" presId="urn:microsoft.com/office/officeart/2005/8/layout/radial4"/>
    <dgm:cxn modelId="{DE875C51-9A76-B345-B53C-D9A1588D0A67}" type="presOf" srcId="{0A9432C9-07E3-B84E-BA59-200F55144219}" destId="{51B577EB-EBE1-914B-984A-07146D1629B7}" srcOrd="0" destOrd="0" presId="urn:microsoft.com/office/officeart/2005/8/layout/radial4"/>
    <dgm:cxn modelId="{9E6A58EE-9369-1641-93C6-9A888DE7F4E6}" type="presOf" srcId="{5DED28B0-6922-A645-BD72-226BF12F8A28}" destId="{AD022CC8-CB22-4A4F-ABF2-B96C5D2C3B33}" srcOrd="0" destOrd="0" presId="urn:microsoft.com/office/officeart/2005/8/layout/radial4"/>
    <dgm:cxn modelId="{4A3E4FC7-3D1E-1D48-83C9-35E543B4E63E}" srcId="{5DED28B0-6922-A645-BD72-226BF12F8A28}" destId="{DBEF9CC0-E955-2346-B868-F81251B3F465}" srcOrd="1" destOrd="0" parTransId="{6DC82D9B-5510-0146-9B49-028C66F8C697}" sibTransId="{F71AA9FC-8338-BB46-8C29-83A4E090F4B1}"/>
    <dgm:cxn modelId="{1418D741-D860-F046-A96A-5DBC644DF632}" type="presParOf" srcId="{5259E3DB-E748-F646-8589-200DCC05B322}" destId="{AD022CC8-CB22-4A4F-ABF2-B96C5D2C3B33}" srcOrd="0" destOrd="0" presId="urn:microsoft.com/office/officeart/2005/8/layout/radial4"/>
    <dgm:cxn modelId="{2CCE2362-0E2F-D648-B5E9-5812E7B45998}" type="presParOf" srcId="{5259E3DB-E748-F646-8589-200DCC05B322}" destId="{51B577EB-EBE1-914B-984A-07146D1629B7}" srcOrd="1" destOrd="0" presId="urn:microsoft.com/office/officeart/2005/8/layout/radial4"/>
    <dgm:cxn modelId="{3F57B09B-B45E-7845-9535-7659F888A5E4}" type="presParOf" srcId="{5259E3DB-E748-F646-8589-200DCC05B322}" destId="{6A95FB64-77E3-2C4F-8541-9FA9595A5899}" srcOrd="2" destOrd="0" presId="urn:microsoft.com/office/officeart/2005/8/layout/radial4"/>
    <dgm:cxn modelId="{5B659E6C-28DE-204F-B0D5-096FF5B94E1F}" type="presParOf" srcId="{5259E3DB-E748-F646-8589-200DCC05B322}" destId="{6357023B-4513-1D42-AB50-E3BE1BCAA97A}" srcOrd="3" destOrd="0" presId="urn:microsoft.com/office/officeart/2005/8/layout/radial4"/>
    <dgm:cxn modelId="{7457FA62-D4D1-9746-9F65-FC31A7D80AC1}" type="presParOf" srcId="{5259E3DB-E748-F646-8589-200DCC05B322}" destId="{30AF1431-73EB-774B-94D8-8B7AD6AF450C}" srcOrd="4" destOrd="0" presId="urn:microsoft.com/office/officeart/2005/8/layout/radial4"/>
    <dgm:cxn modelId="{B2956EA6-4D84-F547-B070-0140109D0ACD}" type="presParOf" srcId="{5259E3DB-E748-F646-8589-200DCC05B322}" destId="{FB06FD31-FFBF-3640-B78D-FECA267CA5E7}" srcOrd="5" destOrd="0" presId="urn:microsoft.com/office/officeart/2005/8/layout/radial4"/>
    <dgm:cxn modelId="{40C4C3EF-673F-874B-A958-74FB449C1198}" type="presParOf" srcId="{5259E3DB-E748-F646-8589-200DCC05B322}" destId="{F70FD2D8-028C-F443-AF9F-32DEF9AE6D35}"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EB1893-7C66-EB42-8328-10E3C4B21DD9}" type="doc">
      <dgm:prSet loTypeId="urn:microsoft.com/office/officeart/2005/8/layout/arrow5" loCatId="" qsTypeId="urn:microsoft.com/office/officeart/2005/8/quickstyle/simple4" qsCatId="simple" csTypeId="urn:microsoft.com/office/officeart/2005/8/colors/accent1_2" csCatId="accent1" phldr="1"/>
      <dgm:spPr/>
      <dgm:t>
        <a:bodyPr/>
        <a:lstStyle/>
        <a:p>
          <a:endParaRPr lang="en-US"/>
        </a:p>
      </dgm:t>
    </dgm:pt>
    <dgm:pt modelId="{42C93384-88CA-9E4B-A1F0-3CFB65B38D86}">
      <dgm:prSet phldrT="[Text]"/>
      <dgm:spPr>
        <a:solidFill>
          <a:srgbClr val="000090"/>
        </a:solidFill>
      </dgm:spPr>
      <dgm:t>
        <a:bodyPr/>
        <a:lstStyle/>
        <a:p>
          <a:r>
            <a:rPr lang="en-US" dirty="0" smtClean="0"/>
            <a:t>Peer</a:t>
          </a:r>
          <a:endParaRPr lang="en-US" dirty="0"/>
        </a:p>
      </dgm:t>
    </dgm:pt>
    <dgm:pt modelId="{C32784EE-3991-9249-890B-F271D0A156FE}" type="parTrans" cxnId="{CDF0C1A3-D105-E642-B1BA-85DDF754E27A}">
      <dgm:prSet/>
      <dgm:spPr/>
      <dgm:t>
        <a:bodyPr/>
        <a:lstStyle/>
        <a:p>
          <a:endParaRPr lang="en-US"/>
        </a:p>
      </dgm:t>
    </dgm:pt>
    <dgm:pt modelId="{5A72676D-81FD-2E49-B379-274582C357BB}" type="sibTrans" cxnId="{CDF0C1A3-D105-E642-B1BA-85DDF754E27A}">
      <dgm:prSet/>
      <dgm:spPr/>
      <dgm:t>
        <a:bodyPr/>
        <a:lstStyle/>
        <a:p>
          <a:endParaRPr lang="en-US"/>
        </a:p>
      </dgm:t>
    </dgm:pt>
    <dgm:pt modelId="{32540C3A-B0DF-A648-B3E1-0B2006356ED9}">
      <dgm:prSet phldrT="[Text]"/>
      <dgm:spPr>
        <a:solidFill>
          <a:srgbClr val="008000"/>
        </a:solidFill>
      </dgm:spPr>
      <dgm:t>
        <a:bodyPr/>
        <a:lstStyle/>
        <a:p>
          <a:r>
            <a:rPr lang="en-US" dirty="0" smtClean="0"/>
            <a:t>Peer	</a:t>
          </a:r>
          <a:endParaRPr lang="en-US" dirty="0"/>
        </a:p>
      </dgm:t>
    </dgm:pt>
    <dgm:pt modelId="{B8B9CA46-3DE6-C245-BE5C-8B778F2D293F}" type="sibTrans" cxnId="{5841CDBB-C576-0842-9F79-CE467AB12C46}">
      <dgm:prSet/>
      <dgm:spPr/>
      <dgm:t>
        <a:bodyPr/>
        <a:lstStyle/>
        <a:p>
          <a:endParaRPr lang="en-US"/>
        </a:p>
      </dgm:t>
    </dgm:pt>
    <dgm:pt modelId="{0494BFC4-F25E-AF4B-8FB4-365C6D3B3856}" type="parTrans" cxnId="{5841CDBB-C576-0842-9F79-CE467AB12C46}">
      <dgm:prSet/>
      <dgm:spPr/>
      <dgm:t>
        <a:bodyPr/>
        <a:lstStyle/>
        <a:p>
          <a:endParaRPr lang="en-US"/>
        </a:p>
      </dgm:t>
    </dgm:pt>
    <dgm:pt modelId="{DB3A285F-2793-594A-8432-498A02F2A13B}" type="pres">
      <dgm:prSet presAssocID="{6BEB1893-7C66-EB42-8328-10E3C4B21DD9}" presName="diagram" presStyleCnt="0">
        <dgm:presLayoutVars>
          <dgm:dir/>
          <dgm:resizeHandles val="exact"/>
        </dgm:presLayoutVars>
      </dgm:prSet>
      <dgm:spPr/>
      <dgm:t>
        <a:bodyPr/>
        <a:lstStyle/>
        <a:p>
          <a:endParaRPr lang="en-US"/>
        </a:p>
      </dgm:t>
    </dgm:pt>
    <dgm:pt modelId="{5C796955-4A5E-ED48-92E2-4D0F37DAB885}" type="pres">
      <dgm:prSet presAssocID="{32540C3A-B0DF-A648-B3E1-0B2006356ED9}" presName="arrow" presStyleLbl="node1" presStyleIdx="0" presStyleCnt="2">
        <dgm:presLayoutVars>
          <dgm:bulletEnabled val="1"/>
        </dgm:presLayoutVars>
      </dgm:prSet>
      <dgm:spPr/>
      <dgm:t>
        <a:bodyPr/>
        <a:lstStyle/>
        <a:p>
          <a:endParaRPr lang="en-US"/>
        </a:p>
      </dgm:t>
    </dgm:pt>
    <dgm:pt modelId="{DDE499C9-76D5-5E49-9097-66EFEDB4274B}" type="pres">
      <dgm:prSet presAssocID="{42C93384-88CA-9E4B-A1F0-3CFB65B38D86}" presName="arrow" presStyleLbl="node1" presStyleIdx="1" presStyleCnt="2">
        <dgm:presLayoutVars>
          <dgm:bulletEnabled val="1"/>
        </dgm:presLayoutVars>
      </dgm:prSet>
      <dgm:spPr/>
      <dgm:t>
        <a:bodyPr/>
        <a:lstStyle/>
        <a:p>
          <a:endParaRPr lang="en-US"/>
        </a:p>
      </dgm:t>
    </dgm:pt>
  </dgm:ptLst>
  <dgm:cxnLst>
    <dgm:cxn modelId="{5841CDBB-C576-0842-9F79-CE467AB12C46}" srcId="{6BEB1893-7C66-EB42-8328-10E3C4B21DD9}" destId="{32540C3A-B0DF-A648-B3E1-0B2006356ED9}" srcOrd="0" destOrd="0" parTransId="{0494BFC4-F25E-AF4B-8FB4-365C6D3B3856}" sibTransId="{B8B9CA46-3DE6-C245-BE5C-8B778F2D293F}"/>
    <dgm:cxn modelId="{274C3BB0-2E04-6F4A-982F-FB53A3FEE9D1}" type="presOf" srcId="{32540C3A-B0DF-A648-B3E1-0B2006356ED9}" destId="{5C796955-4A5E-ED48-92E2-4D0F37DAB885}" srcOrd="0" destOrd="0" presId="urn:microsoft.com/office/officeart/2005/8/layout/arrow5"/>
    <dgm:cxn modelId="{CDF0C1A3-D105-E642-B1BA-85DDF754E27A}" srcId="{6BEB1893-7C66-EB42-8328-10E3C4B21DD9}" destId="{42C93384-88CA-9E4B-A1F0-3CFB65B38D86}" srcOrd="1" destOrd="0" parTransId="{C32784EE-3991-9249-890B-F271D0A156FE}" sibTransId="{5A72676D-81FD-2E49-B379-274582C357BB}"/>
    <dgm:cxn modelId="{6042841B-5692-0C4C-B19F-3F9598C553B0}" type="presOf" srcId="{42C93384-88CA-9E4B-A1F0-3CFB65B38D86}" destId="{DDE499C9-76D5-5E49-9097-66EFEDB4274B}" srcOrd="0" destOrd="0" presId="urn:microsoft.com/office/officeart/2005/8/layout/arrow5"/>
    <dgm:cxn modelId="{B8921A46-1B66-D142-8AA6-346BEFFA6A74}" type="presOf" srcId="{6BEB1893-7C66-EB42-8328-10E3C4B21DD9}" destId="{DB3A285F-2793-594A-8432-498A02F2A13B}" srcOrd="0" destOrd="0" presId="urn:microsoft.com/office/officeart/2005/8/layout/arrow5"/>
    <dgm:cxn modelId="{607FFD0F-2CAC-4246-9E3D-279E60164C6E}" type="presParOf" srcId="{DB3A285F-2793-594A-8432-498A02F2A13B}" destId="{5C796955-4A5E-ED48-92E2-4D0F37DAB885}" srcOrd="0" destOrd="0" presId="urn:microsoft.com/office/officeart/2005/8/layout/arrow5"/>
    <dgm:cxn modelId="{3F071AA7-006C-3F46-973B-DF481B842F0D}" type="presParOf" srcId="{DB3A285F-2793-594A-8432-498A02F2A13B}" destId="{DDE499C9-76D5-5E49-9097-66EFEDB4274B}"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022CC8-CB22-4A4F-ABF2-B96C5D2C3B33}">
      <dsp:nvSpPr>
        <dsp:cNvPr id="0" name=""/>
        <dsp:cNvSpPr/>
      </dsp:nvSpPr>
      <dsp:spPr>
        <a:xfrm>
          <a:off x="2694842" y="3154771"/>
          <a:ext cx="3327944" cy="3084410"/>
        </a:xfrm>
        <a:prstGeom prst="ellipse">
          <a:avLst/>
        </a:prstGeom>
        <a:solidFill>
          <a:srgbClr val="FF0000"/>
        </a:solidFill>
        <a:ln>
          <a:noFill/>
        </a:ln>
        <a:effectLst>
          <a:glow rad="228600">
            <a:schemeClr val="accent6">
              <a:satMod val="175000"/>
              <a:alpha val="40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1333500">
            <a:lnSpc>
              <a:spcPct val="90000"/>
            </a:lnSpc>
            <a:spcBef>
              <a:spcPct val="0"/>
            </a:spcBef>
            <a:spcAft>
              <a:spcPct val="35000"/>
            </a:spcAft>
          </a:pPr>
          <a:r>
            <a:rPr lang="en-US" sz="3000" kern="1200" dirty="0" smtClean="0"/>
            <a:t>Employment</a:t>
          </a:r>
          <a:endParaRPr lang="en-US" sz="3000" kern="1200" dirty="0"/>
        </a:p>
      </dsp:txBody>
      <dsp:txXfrm>
        <a:off x="3182208" y="3606472"/>
        <a:ext cx="2353212" cy="2181008"/>
      </dsp:txXfrm>
    </dsp:sp>
    <dsp:sp modelId="{51B577EB-EBE1-914B-984A-07146D1629B7}">
      <dsp:nvSpPr>
        <dsp:cNvPr id="0" name=""/>
        <dsp:cNvSpPr/>
      </dsp:nvSpPr>
      <dsp:spPr>
        <a:xfrm rot="12900000">
          <a:off x="1095708" y="2724145"/>
          <a:ext cx="2021869" cy="791686"/>
        </a:xfrm>
        <a:prstGeom prst="leftArrow">
          <a:avLst>
            <a:gd name="adj1" fmla="val 60000"/>
            <a:gd name="adj2" fmla="val 50000"/>
          </a:avLst>
        </a:prstGeom>
        <a:solidFill>
          <a:schemeClr val="tx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6A95FB64-77E3-2C4F-8541-9FA9595A5899}">
      <dsp:nvSpPr>
        <dsp:cNvPr id="0" name=""/>
        <dsp:cNvSpPr/>
      </dsp:nvSpPr>
      <dsp:spPr>
        <a:xfrm>
          <a:off x="249302" y="1616010"/>
          <a:ext cx="2058463" cy="1848260"/>
        </a:xfrm>
        <a:prstGeom prst="roundRect">
          <a:avLst>
            <a:gd name="adj" fmla="val 10000"/>
          </a:avLst>
        </a:prstGeom>
        <a:solidFill>
          <a:srgbClr val="000090"/>
        </a:solidFill>
        <a:ln>
          <a:noFill/>
        </a:ln>
        <a:effectLst>
          <a:outerShdw blurRad="38100" dist="25400" dir="2700000" algn="br" rotWithShape="0">
            <a:srgbClr val="000000">
              <a:alpha val="60000"/>
            </a:srgbClr>
          </a:outerShdw>
        </a:effectLst>
        <a:scene3d>
          <a:camera prst="orthographicFront"/>
          <a:lightRig rig="threePt" dir="t"/>
        </a:scene3d>
        <a:sp3d>
          <a:bevelT w="139700" h="139700" prst="divo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1422400">
            <a:lnSpc>
              <a:spcPct val="90000"/>
            </a:lnSpc>
            <a:spcBef>
              <a:spcPct val="0"/>
            </a:spcBef>
            <a:spcAft>
              <a:spcPct val="35000"/>
            </a:spcAft>
          </a:pPr>
          <a:r>
            <a:rPr lang="en-US" sz="3200" kern="1200" dirty="0" smtClean="0"/>
            <a:t>Policies</a:t>
          </a:r>
          <a:endParaRPr lang="en-US" sz="3200" kern="1200" dirty="0"/>
        </a:p>
      </dsp:txBody>
      <dsp:txXfrm>
        <a:off x="303436" y="1670144"/>
        <a:ext cx="1950195" cy="1739992"/>
      </dsp:txXfrm>
    </dsp:sp>
    <dsp:sp modelId="{6357023B-4513-1D42-AB50-E3BE1BCAA97A}">
      <dsp:nvSpPr>
        <dsp:cNvPr id="0" name=""/>
        <dsp:cNvSpPr/>
      </dsp:nvSpPr>
      <dsp:spPr>
        <a:xfrm rot="16200000">
          <a:off x="3310751" y="1588867"/>
          <a:ext cx="2096126" cy="791686"/>
        </a:xfrm>
        <a:prstGeom prst="leftArrow">
          <a:avLst>
            <a:gd name="adj1" fmla="val 60000"/>
            <a:gd name="adj2" fmla="val 50000"/>
          </a:avLst>
        </a:prstGeom>
        <a:solidFill>
          <a:schemeClr val="tx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30AF1431-73EB-774B-94D8-8B7AD6AF450C}">
      <dsp:nvSpPr>
        <dsp:cNvPr id="0" name=""/>
        <dsp:cNvSpPr/>
      </dsp:nvSpPr>
      <dsp:spPr>
        <a:xfrm>
          <a:off x="3240293" y="60018"/>
          <a:ext cx="2237042" cy="1753258"/>
        </a:xfrm>
        <a:prstGeom prst="roundRect">
          <a:avLst>
            <a:gd name="adj" fmla="val 10000"/>
          </a:avLst>
        </a:prstGeom>
        <a:solidFill>
          <a:schemeClr val="accent6">
            <a:lumMod val="75000"/>
          </a:schemeClr>
        </a:solidFill>
        <a:ln>
          <a:noFill/>
        </a:ln>
        <a:effectLst>
          <a:outerShdw blurRad="38100" dist="25400" dir="2700000" algn="br" rotWithShape="0">
            <a:srgbClr val="000000">
              <a:alpha val="60000"/>
            </a:srgbClr>
          </a:outerShdw>
        </a:effectLst>
        <a:scene3d>
          <a:camera prst="orthographicFront"/>
          <a:lightRig rig="threePt" dir="t"/>
        </a:scene3d>
        <a:sp3d>
          <a:bevelT w="139700" h="139700" prst="divo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1422400">
            <a:lnSpc>
              <a:spcPct val="90000"/>
            </a:lnSpc>
            <a:spcBef>
              <a:spcPct val="0"/>
            </a:spcBef>
            <a:spcAft>
              <a:spcPct val="35000"/>
            </a:spcAft>
          </a:pPr>
          <a:r>
            <a:rPr lang="en-US" sz="3200" kern="1200" dirty="0" smtClean="0"/>
            <a:t>Practices</a:t>
          </a:r>
          <a:endParaRPr lang="en-US" sz="3200" kern="1200" dirty="0"/>
        </a:p>
      </dsp:txBody>
      <dsp:txXfrm>
        <a:off x="3291644" y="111369"/>
        <a:ext cx="2134340" cy="1650556"/>
      </dsp:txXfrm>
    </dsp:sp>
    <dsp:sp modelId="{FB06FD31-FFBF-3640-B78D-FECA267CA5E7}">
      <dsp:nvSpPr>
        <dsp:cNvPr id="0" name=""/>
        <dsp:cNvSpPr/>
      </dsp:nvSpPr>
      <dsp:spPr>
        <a:xfrm rot="19500000">
          <a:off x="5600051" y="2724145"/>
          <a:ext cx="2021869" cy="791686"/>
        </a:xfrm>
        <a:prstGeom prst="leftArrow">
          <a:avLst>
            <a:gd name="adj1" fmla="val 60000"/>
            <a:gd name="adj2" fmla="val 50000"/>
          </a:avLst>
        </a:prstGeom>
        <a:solidFill>
          <a:schemeClr val="tx1"/>
        </a:soli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sp>
    <dsp:sp modelId="{F70FD2D8-028C-F443-AF9F-32DEF9AE6D35}">
      <dsp:nvSpPr>
        <dsp:cNvPr id="0" name=""/>
        <dsp:cNvSpPr/>
      </dsp:nvSpPr>
      <dsp:spPr>
        <a:xfrm>
          <a:off x="6326393" y="1653525"/>
          <a:ext cx="2225404" cy="1773229"/>
        </a:xfrm>
        <a:prstGeom prst="roundRect">
          <a:avLst>
            <a:gd name="adj" fmla="val 10000"/>
          </a:avLst>
        </a:prstGeom>
        <a:solidFill>
          <a:srgbClr val="008000"/>
        </a:solidFill>
        <a:ln>
          <a:noFill/>
        </a:ln>
        <a:effectLst>
          <a:outerShdw blurRad="38100" dist="25400" dir="2700000" algn="br" rotWithShape="0">
            <a:srgbClr val="000000">
              <a:alpha val="60000"/>
            </a:srgbClr>
          </a:outerShdw>
        </a:effectLst>
        <a:scene3d>
          <a:camera prst="orthographicFront"/>
          <a:lightRig rig="threePt" dir="t"/>
        </a:scene3d>
        <a:sp3d>
          <a:bevelT w="139700" h="139700" prst="divo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1422400">
            <a:lnSpc>
              <a:spcPct val="90000"/>
            </a:lnSpc>
            <a:spcBef>
              <a:spcPct val="0"/>
            </a:spcBef>
            <a:spcAft>
              <a:spcPct val="35000"/>
            </a:spcAft>
          </a:pPr>
          <a:r>
            <a:rPr lang="en-US" sz="3200" kern="1200" dirty="0" smtClean="0"/>
            <a:t>Resources</a:t>
          </a:r>
          <a:endParaRPr lang="en-US" sz="3200" kern="1200" dirty="0"/>
        </a:p>
      </dsp:txBody>
      <dsp:txXfrm>
        <a:off x="6378329" y="1705461"/>
        <a:ext cx="2121532" cy="16693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AFE7DC6-6026-BB42-B6EB-788B93203781}" type="datetimeFigureOut">
              <a:rPr lang="en-US" smtClean="0"/>
              <a:t>3/22/17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6057DF6-B22F-4941-A967-CC21BF89C38D}" type="slidenum">
              <a:rPr lang="en-US" smtClean="0"/>
              <a:t>‹#›</a:t>
            </a:fld>
            <a:endParaRPr lang="en-US"/>
          </a:p>
        </p:txBody>
      </p:sp>
    </p:spTree>
    <p:extLst>
      <p:ext uri="{BB962C8B-B14F-4D97-AF65-F5344CB8AC3E}">
        <p14:creationId xmlns:p14="http://schemas.microsoft.com/office/powerpoint/2010/main" val="280522623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713D73DC-65C6-364A-AFAF-9F832EDC56F9}" type="datetimeFigureOut">
              <a:rPr lang="en-US"/>
              <a:pPr>
                <a:defRPr/>
              </a:pPr>
              <a:t>3/22/17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17189C35-E998-F94C-9BFA-E6D0077E8FEB}" type="slidenum">
              <a:rPr lang="en-US"/>
              <a:pPr>
                <a:defRPr/>
              </a:pPr>
              <a:t>‹#›</a:t>
            </a:fld>
            <a:endParaRPr lang="en-US"/>
          </a:p>
        </p:txBody>
      </p:sp>
    </p:spTree>
    <p:extLst>
      <p:ext uri="{BB962C8B-B14F-4D97-AF65-F5344CB8AC3E}">
        <p14:creationId xmlns:p14="http://schemas.microsoft.com/office/powerpoint/2010/main" val="2613891965"/>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16386" name="Notes Placeholder 2"/>
          <p:cNvSpPr>
            <a:spLocks noGrp="1"/>
          </p:cNvSpPr>
          <p:nvPr>
            <p:ph type="body" idx="1"/>
          </p:nvPr>
        </p:nvSpPr>
        <p:spPr>
          <a:noFill/>
        </p:spPr>
        <p:txBody>
          <a:bodyPr/>
          <a:lstStyle/>
          <a:p>
            <a:endParaRPr lang="en-US"/>
          </a:p>
        </p:txBody>
      </p:sp>
      <p:sp>
        <p:nvSpPr>
          <p:cNvPr id="16387" name="Slide Number Placeholder 3"/>
          <p:cNvSpPr>
            <a:spLocks noGrp="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DD7A626A-FBFF-0B47-A908-560A99B88B93}" type="slidenum">
              <a:rPr lang="en-US" sz="1200">
                <a:cs typeface="Geneva" charset="0"/>
              </a:rPr>
              <a:pPr/>
              <a:t>22</a:t>
            </a:fld>
            <a:endParaRPr lang="en-US" sz="1200">
              <a:cs typeface="Geneva"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C25E1B8D-0D01-764A-8C8A-B1428A005ACE}" type="slidenum">
              <a:rPr lang="en-US" sz="1200">
                <a:cs typeface="Geneva" charset="0"/>
              </a:rPr>
              <a:pPr/>
              <a:t>29</a:t>
            </a:fld>
            <a:endParaRPr lang="en-US" sz="1200">
              <a:cs typeface="Geneva" charset="0"/>
            </a:endParaRPr>
          </a:p>
        </p:txBody>
      </p:sp>
      <p:sp>
        <p:nvSpPr>
          <p:cNvPr id="2447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16387" name="Rectangle 3"/>
          <p:cNvSpPr>
            <a:spLocks noGrp="1" noChangeArrowheads="1"/>
          </p:cNvSpPr>
          <p:nvPr>
            <p:ph type="body" idx="1"/>
          </p:nvPr>
        </p:nvSpPr>
        <p:spPr>
          <a:noFill/>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F43BCD22-29AD-F24C-A5E3-E03DD639FDCF}" type="slidenum">
              <a:rPr lang="en-US" sz="1200">
                <a:cs typeface="Geneva" charset="0"/>
              </a:rPr>
              <a:pPr/>
              <a:t>31</a:t>
            </a:fld>
            <a:endParaRPr lang="en-US" sz="1200">
              <a:cs typeface="Geneva" charset="0"/>
            </a:endParaRPr>
          </a:p>
        </p:txBody>
      </p:sp>
      <p:sp>
        <p:nvSpPr>
          <p:cNvPr id="376834" name="Rectangle 2"/>
          <p:cNvSpPr>
            <a:spLocks noGrp="1" noRot="1" noChangeAspect="1" noChangeArrowheads="1" noTextEdit="1"/>
          </p:cNvSpPr>
          <p:nvPr>
            <p:ph type="sldImg"/>
          </p:nvPr>
        </p:nvSpPr>
        <p:spPr>
          <a:xfrm>
            <a:off x="1152525" y="692150"/>
            <a:ext cx="4554538" cy="3416300"/>
          </a:xfrm>
          <a:solidFill>
            <a:srgbClr val="FFFFFF"/>
          </a:solidFill>
          <a:ln/>
          <a:extLst>
            <a:ext uri="{FAA26D3D-D897-4be2-8F04-BA451C77F1D7}">
              <ma14:placeholderFlag xmlns:ma14="http://schemas.microsoft.com/office/mac/drawingml/2011/main" val="1"/>
            </a:ext>
          </a:extLst>
        </p:spPr>
      </p:sp>
      <p:sp>
        <p:nvSpPr>
          <p:cNvPr id="27651" name="Rectangle 3"/>
          <p:cNvSpPr>
            <a:spLocks noGrp="1" noChangeArrowheads="1"/>
          </p:cNvSpPr>
          <p:nvPr>
            <p:ph type="body" idx="1"/>
          </p:nvPr>
        </p:nvSpPr>
        <p:spPr>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962633-C50D-674B-8227-2DC0D2BAA462}" type="slidenum">
              <a:rPr lang="en-US"/>
              <a:pPr/>
              <a:t>41</a:t>
            </a:fld>
            <a:endParaRPr lang="en-US"/>
          </a:p>
        </p:txBody>
      </p:sp>
      <p:sp>
        <p:nvSpPr>
          <p:cNvPr id="38912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3891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val="1"/>
            </a:ext>
          </a:extLst>
        </p:spPr>
      </p:sp>
      <p:sp>
        <p:nvSpPr>
          <p:cNvPr id="75778" name="Rectangle 3"/>
          <p:cNvSpPr>
            <a:spLocks noGrp="1" noChangeArrowheads="1"/>
          </p:cNvSpPr>
          <p:nvPr>
            <p:ph type="body" idx="1"/>
          </p:nvPr>
        </p:nvSpPr>
        <p:spPr>
          <a:solidFill>
            <a:srgbClr val="FFFFFF"/>
          </a:solidFill>
          <a:ln>
            <a:solidFill>
              <a:srgbClr val="000000"/>
            </a:solidFill>
            <a:miter lim="800000"/>
            <a:headEnd/>
            <a:tailEnd/>
          </a:ln>
        </p:spPr>
        <p:txBody>
          <a:bodyPr/>
          <a:lstStyle/>
          <a:p>
            <a:endParaRPr lang="en-US">
              <a:latin typeface="Trebuchet MS" charset="0"/>
              <a:cs typeface="ＭＳ Ｐゴシック"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F54496-4C56-FB48-905C-1B404C24F836}" type="slidenum">
              <a:rPr lang="en-US"/>
              <a:pPr/>
              <a:t>77</a:t>
            </a:fld>
            <a:endParaRPr lang="en-US"/>
          </a:p>
        </p:txBody>
      </p:sp>
      <p:sp>
        <p:nvSpPr>
          <p:cNvPr id="1239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12390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a:defRPr/>
            </a:pPr>
            <a:fld id="{8585571D-3740-684B-B90A-5F48F63FF740}" type="datetime1">
              <a:rPr lang="en-US" smtClean="0"/>
              <a:t>3/22/17</a:t>
            </a:fld>
            <a:endParaRPr lang="en-US" dirty="0"/>
          </a:p>
        </p:txBody>
      </p:sp>
      <p:sp>
        <p:nvSpPr>
          <p:cNvPr id="5" name="Footer Placeholder 4"/>
          <p:cNvSpPr>
            <a:spLocks noGrp="1"/>
          </p:cNvSpPr>
          <p:nvPr>
            <p:ph type="ftr" sz="quarter" idx="11"/>
          </p:nvPr>
        </p:nvSpPr>
        <p:spPr/>
        <p:txBody>
          <a:bodyPr/>
          <a:lstStyle/>
          <a:p>
            <a:pPr>
              <a:defRPr/>
            </a:pPr>
            <a:r>
              <a:rPr lang="en-US" smtClean="0"/>
              <a:t>#APSE2014</a:t>
            </a:r>
            <a:endParaRPr lang="en-US" dirty="0"/>
          </a:p>
        </p:txBody>
      </p:sp>
      <p:sp>
        <p:nvSpPr>
          <p:cNvPr id="6" name="Slide Number Placeholder 5"/>
          <p:cNvSpPr>
            <a:spLocks noGrp="1"/>
          </p:cNvSpPr>
          <p:nvPr>
            <p:ph type="sldNum" sz="quarter" idx="12"/>
          </p:nvPr>
        </p:nvSpPr>
        <p:spPr/>
        <p:txBody>
          <a:bodyPr/>
          <a:lstStyle/>
          <a:p>
            <a:pPr>
              <a:defRPr/>
            </a:pPr>
            <a:fld id="{3DF57DA1-2AD2-FF41-B7A2-1B4F1AD3CC59}" type="slidenum">
              <a:rPr lang="en-US" smtClean="0"/>
              <a:pPr>
                <a:defRPr/>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2888A65E-015C-9747-88E9-46B0F8EE710E}" type="datetime1">
              <a:rPr lang="en-US" smtClean="0"/>
              <a:t>3/22/17</a:t>
            </a:fld>
            <a:endParaRPr lang="en-US" dirty="0"/>
          </a:p>
        </p:txBody>
      </p:sp>
      <p:sp>
        <p:nvSpPr>
          <p:cNvPr id="5" name="Footer Placeholder 4"/>
          <p:cNvSpPr>
            <a:spLocks noGrp="1"/>
          </p:cNvSpPr>
          <p:nvPr>
            <p:ph type="ftr" sz="quarter" idx="11"/>
          </p:nvPr>
        </p:nvSpPr>
        <p:spPr/>
        <p:txBody>
          <a:bodyPr/>
          <a:lstStyle/>
          <a:p>
            <a:pPr>
              <a:defRPr/>
            </a:pPr>
            <a:r>
              <a:rPr lang="en-US" smtClean="0"/>
              <a:t>#APSE2014</a:t>
            </a:r>
            <a:endParaRPr lang="en-US" dirty="0"/>
          </a:p>
        </p:txBody>
      </p:sp>
      <p:sp>
        <p:nvSpPr>
          <p:cNvPr id="6" name="Slide Number Placeholder 5"/>
          <p:cNvSpPr>
            <a:spLocks noGrp="1"/>
          </p:cNvSpPr>
          <p:nvPr>
            <p:ph type="sldNum" sz="quarter" idx="12"/>
          </p:nvPr>
        </p:nvSpPr>
        <p:spPr/>
        <p:txBody>
          <a:bodyPr/>
          <a:lstStyle/>
          <a:p>
            <a:pPr>
              <a:defRPr/>
            </a:pPr>
            <a:fld id="{DE0518C9-3CC7-7448-AD05-3CB269384775}"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A8DF2415-4E45-A147-9AF5-D1AC74D2B22C}" type="datetime1">
              <a:rPr lang="en-US" smtClean="0"/>
              <a:t>3/22/17</a:t>
            </a:fld>
            <a:endParaRPr lang="en-US" dirty="0"/>
          </a:p>
        </p:txBody>
      </p:sp>
      <p:sp>
        <p:nvSpPr>
          <p:cNvPr id="5" name="Footer Placeholder 4"/>
          <p:cNvSpPr>
            <a:spLocks noGrp="1"/>
          </p:cNvSpPr>
          <p:nvPr>
            <p:ph type="ftr" sz="quarter" idx="11"/>
          </p:nvPr>
        </p:nvSpPr>
        <p:spPr/>
        <p:txBody>
          <a:bodyPr/>
          <a:lstStyle/>
          <a:p>
            <a:pPr>
              <a:defRPr/>
            </a:pPr>
            <a:r>
              <a:rPr lang="en-US" smtClean="0"/>
              <a:t>#APSE2014</a:t>
            </a:r>
            <a:endParaRPr lang="en-US"/>
          </a:p>
        </p:txBody>
      </p:sp>
      <p:sp>
        <p:nvSpPr>
          <p:cNvPr id="6" name="Slide Number Placeholder 5"/>
          <p:cNvSpPr>
            <a:spLocks noGrp="1"/>
          </p:cNvSpPr>
          <p:nvPr>
            <p:ph type="sldNum" sz="quarter" idx="12"/>
          </p:nvPr>
        </p:nvSpPr>
        <p:spPr/>
        <p:txBody>
          <a:bodyPr/>
          <a:lstStyle/>
          <a:p>
            <a:pPr>
              <a:defRPr/>
            </a:pPr>
            <a:fld id="{DCA51CDF-7A81-424C-8057-ADAC32C3137F}" type="slidenum">
              <a:rPr lang="en-US" smtClean="0"/>
              <a:pPr>
                <a:defRPr/>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fld id="{F1F14E38-791B-304B-ABDC-A3FB8B6010D5}" type="datetime1">
              <a:rPr lang="en-US" smtClean="0"/>
              <a:t>3/22/17</a:t>
            </a:fld>
            <a:endParaRPr lang="en-US" dirty="0"/>
          </a:p>
        </p:txBody>
      </p:sp>
      <p:sp>
        <p:nvSpPr>
          <p:cNvPr id="6" name="Footer Placeholder 5"/>
          <p:cNvSpPr>
            <a:spLocks noGrp="1"/>
          </p:cNvSpPr>
          <p:nvPr>
            <p:ph type="ftr" sz="quarter" idx="11"/>
          </p:nvPr>
        </p:nvSpPr>
        <p:spPr/>
        <p:txBody>
          <a:bodyPr/>
          <a:lstStyle/>
          <a:p>
            <a:pPr>
              <a:defRPr/>
            </a:pPr>
            <a:r>
              <a:rPr lang="en-US" smtClean="0"/>
              <a:t>#APSE2014</a:t>
            </a:r>
            <a:endParaRPr lang="en-US"/>
          </a:p>
        </p:txBody>
      </p:sp>
      <p:sp>
        <p:nvSpPr>
          <p:cNvPr id="7" name="Slide Number Placeholder 6"/>
          <p:cNvSpPr>
            <a:spLocks noGrp="1"/>
          </p:cNvSpPr>
          <p:nvPr>
            <p:ph type="sldNum" sz="quarter" idx="12"/>
          </p:nvPr>
        </p:nvSpPr>
        <p:spPr/>
        <p:txBody>
          <a:bodyPr/>
          <a:lstStyle/>
          <a:p>
            <a:pPr>
              <a:defRPr/>
            </a:pPr>
            <a:fld id="{7914F4CA-897D-214A-8D71-10AFFED61C52}"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78204D89-A684-3248-B127-FAE4BF63580E}" type="datetime1">
              <a:rPr lang="en-US" smtClean="0"/>
              <a:t>3/22/17</a:t>
            </a:fld>
            <a:endParaRPr lang="en-US" dirty="0"/>
          </a:p>
        </p:txBody>
      </p:sp>
      <p:sp>
        <p:nvSpPr>
          <p:cNvPr id="8" name="Footer Placeholder 7"/>
          <p:cNvSpPr>
            <a:spLocks noGrp="1"/>
          </p:cNvSpPr>
          <p:nvPr>
            <p:ph type="ftr" sz="quarter" idx="11"/>
          </p:nvPr>
        </p:nvSpPr>
        <p:spPr/>
        <p:txBody>
          <a:bodyPr/>
          <a:lstStyle/>
          <a:p>
            <a:pPr>
              <a:defRPr/>
            </a:pPr>
            <a:r>
              <a:rPr lang="en-US" smtClean="0"/>
              <a:t>#APSE2014</a:t>
            </a:r>
            <a:endParaRPr lang="en-US"/>
          </a:p>
        </p:txBody>
      </p:sp>
      <p:sp>
        <p:nvSpPr>
          <p:cNvPr id="9" name="Slide Number Placeholder 8"/>
          <p:cNvSpPr>
            <a:spLocks noGrp="1"/>
          </p:cNvSpPr>
          <p:nvPr>
            <p:ph type="sldNum" sz="quarter" idx="12"/>
          </p:nvPr>
        </p:nvSpPr>
        <p:spPr/>
        <p:txBody>
          <a:bodyPr/>
          <a:lstStyle/>
          <a:p>
            <a:pPr>
              <a:defRPr/>
            </a:pPr>
            <a:fld id="{E495D0EA-5D5D-1948-9829-DE54142719A3}" type="slidenum">
              <a:rPr lang="en-US" smtClean="0"/>
              <a:pPr>
                <a:defRPr/>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fld id="{8139C52D-3D30-E94B-9895-4AFE1C287AB7}" type="datetime1">
              <a:rPr lang="en-US" smtClean="0"/>
              <a:t>3/22/17</a:t>
            </a:fld>
            <a:endParaRPr lang="en-US" dirty="0"/>
          </a:p>
        </p:txBody>
      </p:sp>
      <p:sp>
        <p:nvSpPr>
          <p:cNvPr id="4" name="Footer Placeholder 3"/>
          <p:cNvSpPr>
            <a:spLocks noGrp="1"/>
          </p:cNvSpPr>
          <p:nvPr>
            <p:ph type="ftr" sz="quarter" idx="11"/>
          </p:nvPr>
        </p:nvSpPr>
        <p:spPr/>
        <p:txBody>
          <a:bodyPr/>
          <a:lstStyle/>
          <a:p>
            <a:pPr>
              <a:defRPr/>
            </a:pPr>
            <a:r>
              <a:rPr lang="en-US" smtClean="0"/>
              <a:t>#APSE2014</a:t>
            </a:r>
            <a:endParaRPr lang="en-US"/>
          </a:p>
        </p:txBody>
      </p:sp>
      <p:sp>
        <p:nvSpPr>
          <p:cNvPr id="5" name="Slide Number Placeholder 4"/>
          <p:cNvSpPr>
            <a:spLocks noGrp="1"/>
          </p:cNvSpPr>
          <p:nvPr>
            <p:ph type="sldNum" sz="quarter" idx="12"/>
          </p:nvPr>
        </p:nvSpPr>
        <p:spPr/>
        <p:txBody>
          <a:bodyPr/>
          <a:lstStyle/>
          <a:p>
            <a:pPr>
              <a:defRPr/>
            </a:pPr>
            <a:fld id="{EF8BE299-D423-6340-A0CA-3205E805061E}" type="slidenum">
              <a:rPr lang="en-US" smtClean="0"/>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502A3226-9FBF-844F-8DC2-15B9CDD92F12}" type="datetime1">
              <a:rPr lang="en-US" smtClean="0"/>
              <a:t>3/22/17</a:t>
            </a:fld>
            <a:endParaRPr lang="en-US" dirty="0">
              <a:solidFill>
                <a:schemeClr val="bg2">
                  <a:shade val="50000"/>
                </a:schemeClr>
              </a:solidFill>
            </a:endParaRPr>
          </a:p>
        </p:txBody>
      </p:sp>
      <p:sp>
        <p:nvSpPr>
          <p:cNvPr id="3" name="Footer Placeholder 2"/>
          <p:cNvSpPr>
            <a:spLocks noGrp="1"/>
          </p:cNvSpPr>
          <p:nvPr>
            <p:ph type="ftr" sz="quarter" idx="11"/>
          </p:nvPr>
        </p:nvSpPr>
        <p:spPr/>
        <p:txBody>
          <a:bodyPr/>
          <a:lstStyle/>
          <a:p>
            <a:pPr>
              <a:defRPr/>
            </a:pPr>
            <a:r>
              <a:rPr lang="en-US" smtClean="0"/>
              <a:t>#APSE2014</a:t>
            </a:r>
            <a:endParaRPr lang="en-US" dirty="0"/>
          </a:p>
        </p:txBody>
      </p:sp>
      <p:sp>
        <p:nvSpPr>
          <p:cNvPr id="4" name="Slide Number Placeholder 3"/>
          <p:cNvSpPr>
            <a:spLocks noGrp="1"/>
          </p:cNvSpPr>
          <p:nvPr>
            <p:ph type="sldNum" sz="quarter" idx="12"/>
          </p:nvPr>
        </p:nvSpPr>
        <p:spPr/>
        <p:txBody>
          <a:bodyPr/>
          <a:lstStyle/>
          <a:p>
            <a:pPr>
              <a:defRPr/>
            </a:pPr>
            <a:fld id="{76D09E21-E3A5-A34B-9A90-0AE5B5561539}" type="slidenum">
              <a:rPr lang="en-US" smtClean="0"/>
              <a:pPr>
                <a:defRPr/>
              </a:pPr>
              <a:t>‹#›</a:t>
            </a:fld>
            <a:endParaRPr lang="en-US" dirty="0">
              <a:solidFill>
                <a:schemeClr val="bg2">
                  <a:shade val="50000"/>
                </a:scheme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98C36477-8031-794A-9392-FB2FBF28DF8E}" type="datetime1">
              <a:rPr lang="en-US" smtClean="0"/>
              <a:t>3/22/17</a:t>
            </a:fld>
            <a:endParaRPr lang="en-US" dirty="0"/>
          </a:p>
        </p:txBody>
      </p:sp>
      <p:sp>
        <p:nvSpPr>
          <p:cNvPr id="6" name="Footer Placeholder 5"/>
          <p:cNvSpPr>
            <a:spLocks noGrp="1"/>
          </p:cNvSpPr>
          <p:nvPr>
            <p:ph type="ftr" sz="quarter" idx="11"/>
          </p:nvPr>
        </p:nvSpPr>
        <p:spPr/>
        <p:txBody>
          <a:bodyPr/>
          <a:lstStyle/>
          <a:p>
            <a:pPr>
              <a:defRPr/>
            </a:pPr>
            <a:r>
              <a:rPr lang="en-US" smtClean="0"/>
              <a:t>#APSE2014</a:t>
            </a:r>
            <a:endParaRPr lang="en-US"/>
          </a:p>
        </p:txBody>
      </p:sp>
      <p:sp>
        <p:nvSpPr>
          <p:cNvPr id="7" name="Slide Number Placeholder 6"/>
          <p:cNvSpPr>
            <a:spLocks noGrp="1"/>
          </p:cNvSpPr>
          <p:nvPr>
            <p:ph type="sldNum" sz="quarter" idx="12"/>
          </p:nvPr>
        </p:nvSpPr>
        <p:spPr/>
        <p:txBody>
          <a:bodyPr/>
          <a:lstStyle/>
          <a:p>
            <a:pPr>
              <a:defRPr/>
            </a:pPr>
            <a:fld id="{D9CFF0E2-C4D3-6049-ABA5-9FE4BC468A4B}" type="slidenum">
              <a:rPr lang="en-US" smtClean="0"/>
              <a:pPr>
                <a:defRPr/>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F12584E7-9DC0-3947-B9C0-0986961ABFD2}" type="datetime1">
              <a:rPr lang="en-US" smtClean="0"/>
              <a:t>3/22/17</a:t>
            </a:fld>
            <a:endParaRPr lang="en-US" dirty="0"/>
          </a:p>
        </p:txBody>
      </p:sp>
      <p:sp>
        <p:nvSpPr>
          <p:cNvPr id="6" name="Footer Placeholder 5"/>
          <p:cNvSpPr>
            <a:spLocks noGrp="1"/>
          </p:cNvSpPr>
          <p:nvPr>
            <p:ph type="ftr" sz="quarter" idx="11"/>
          </p:nvPr>
        </p:nvSpPr>
        <p:spPr/>
        <p:txBody>
          <a:bodyPr/>
          <a:lstStyle/>
          <a:p>
            <a:pPr>
              <a:defRPr/>
            </a:pPr>
            <a:r>
              <a:rPr lang="en-US" smtClean="0"/>
              <a:t>#APSE2014</a:t>
            </a:r>
            <a:endParaRPr lang="en-US"/>
          </a:p>
        </p:txBody>
      </p:sp>
      <p:sp>
        <p:nvSpPr>
          <p:cNvPr id="7" name="Slide Number Placeholder 6"/>
          <p:cNvSpPr>
            <a:spLocks noGrp="1"/>
          </p:cNvSpPr>
          <p:nvPr>
            <p:ph type="sldNum" sz="quarter" idx="12"/>
          </p:nvPr>
        </p:nvSpPr>
        <p:spPr/>
        <p:txBody>
          <a:bodyPr/>
          <a:lstStyle/>
          <a:p>
            <a:pPr>
              <a:defRPr/>
            </a:pPr>
            <a:fld id="{805BEA33-7D7F-DD40-B8BE-D194AD0272E9}"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332AFF85-47D2-2841-9AB4-A4689B5F7D4D}" type="datetime1">
              <a:rPr lang="en-US" smtClean="0"/>
              <a:t>3/22/17</a:t>
            </a:fld>
            <a:endParaRPr lang="en-US" dirty="0"/>
          </a:p>
        </p:txBody>
      </p:sp>
      <p:sp>
        <p:nvSpPr>
          <p:cNvPr id="5" name="Footer Placeholder 4"/>
          <p:cNvSpPr>
            <a:spLocks noGrp="1"/>
          </p:cNvSpPr>
          <p:nvPr>
            <p:ph type="ftr" sz="quarter" idx="11"/>
          </p:nvPr>
        </p:nvSpPr>
        <p:spPr/>
        <p:txBody>
          <a:bodyPr/>
          <a:lstStyle/>
          <a:p>
            <a:pPr>
              <a:defRPr/>
            </a:pPr>
            <a:r>
              <a:rPr lang="en-US" smtClean="0"/>
              <a:t>#APSE2014</a:t>
            </a:r>
            <a:endParaRPr lang="en-US"/>
          </a:p>
        </p:txBody>
      </p:sp>
      <p:sp>
        <p:nvSpPr>
          <p:cNvPr id="6" name="Slide Number Placeholder 5"/>
          <p:cNvSpPr>
            <a:spLocks noGrp="1"/>
          </p:cNvSpPr>
          <p:nvPr>
            <p:ph type="sldNum" sz="quarter" idx="12"/>
          </p:nvPr>
        </p:nvSpPr>
        <p:spPr/>
        <p:txBody>
          <a:bodyPr/>
          <a:lstStyle/>
          <a:p>
            <a:pPr>
              <a:defRPr/>
            </a:pPr>
            <a:fld id="{31952A26-B463-2948-AE0D-BDBE007892A0}"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328E421C-A042-E844-A74F-56DCD1F872ED}" type="datetime1">
              <a:rPr lang="en-US" smtClean="0"/>
              <a:t>3/22/17</a:t>
            </a:fld>
            <a:endParaRPr lang="en-US" dirty="0"/>
          </a:p>
        </p:txBody>
      </p:sp>
      <p:sp>
        <p:nvSpPr>
          <p:cNvPr id="5" name="Footer Placeholder 4"/>
          <p:cNvSpPr>
            <a:spLocks noGrp="1"/>
          </p:cNvSpPr>
          <p:nvPr>
            <p:ph type="ftr" sz="quarter" idx="11"/>
          </p:nvPr>
        </p:nvSpPr>
        <p:spPr/>
        <p:txBody>
          <a:bodyPr/>
          <a:lstStyle/>
          <a:p>
            <a:pPr>
              <a:defRPr/>
            </a:pPr>
            <a:r>
              <a:rPr lang="en-US" smtClean="0"/>
              <a:t>#APSE2014</a:t>
            </a:r>
            <a:endParaRPr lang="en-US"/>
          </a:p>
        </p:txBody>
      </p:sp>
      <p:sp>
        <p:nvSpPr>
          <p:cNvPr id="6" name="Slide Number Placeholder 5"/>
          <p:cNvSpPr>
            <a:spLocks noGrp="1"/>
          </p:cNvSpPr>
          <p:nvPr>
            <p:ph type="sldNum" sz="quarter" idx="12"/>
          </p:nvPr>
        </p:nvSpPr>
        <p:spPr/>
        <p:txBody>
          <a:bodyPr/>
          <a:lstStyle/>
          <a:p>
            <a:pPr>
              <a:defRPr/>
            </a:pPr>
            <a:fld id="{DB926D39-B112-8545-A064-A5EB9DE8A934}" type="slidenum">
              <a:rPr lang="en-US" smtClean="0"/>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9" name="Rectangle 8"/>
          <p:cNvSpPr/>
          <p:nvPr userDrawn="1"/>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 name="Rectangle 9"/>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 name="Picture Placeholder 7"/>
          <p:cNvSpPr>
            <a:spLocks noGrp="1"/>
          </p:cNvSpPr>
          <p:nvPr>
            <p:ph type="pic" sz="quarter" idx="15"/>
          </p:nvPr>
        </p:nvSpPr>
        <p:spPr>
          <a:xfrm>
            <a:off x="1088136" y="948268"/>
            <a:ext cx="859197" cy="812798"/>
          </a:xfrm>
        </p:spPr>
        <p:txBody>
          <a:bodyPr>
            <a:normAutofit/>
          </a:bodyPr>
          <a:lstStyle>
            <a:lvl1pPr marL="82296" indent="0">
              <a:buNone/>
              <a:defRPr sz="1600"/>
            </a:lvl1pPr>
          </a:lstStyle>
          <a:p>
            <a:pPr lvl="0"/>
            <a:endParaRPr lang="en-US" noProof="0" dirty="0"/>
          </a:p>
        </p:txBody>
      </p:sp>
      <p:sp>
        <p:nvSpPr>
          <p:cNvPr id="18" name="Title 17"/>
          <p:cNvSpPr>
            <a:spLocks noGrp="1"/>
          </p:cNvSpPr>
          <p:nvPr>
            <p:ph type="title"/>
          </p:nvPr>
        </p:nvSpPr>
        <p:spPr>
          <a:xfrm>
            <a:off x="2489199" y="140230"/>
            <a:ext cx="6204035" cy="672571"/>
          </a:xfrm>
        </p:spPr>
        <p:txBody>
          <a:bodyPr vert="horz"/>
          <a:lstStyle>
            <a:lvl1pPr algn="ctr">
              <a:defRPr sz="3200"/>
            </a:lvl1pPr>
          </a:lstStyle>
          <a:p>
            <a:r>
              <a:rPr lang="en-US" dirty="0" smtClean="0"/>
              <a:t>Click to edit Master title style</a:t>
            </a:r>
            <a:endParaRPr lang="en-US" dirty="0"/>
          </a:p>
        </p:txBody>
      </p:sp>
      <p:sp>
        <p:nvSpPr>
          <p:cNvPr id="19" name="Picture Placeholder 7"/>
          <p:cNvSpPr>
            <a:spLocks noGrp="1"/>
          </p:cNvSpPr>
          <p:nvPr>
            <p:ph type="pic" sz="quarter" idx="16"/>
          </p:nvPr>
        </p:nvSpPr>
        <p:spPr>
          <a:xfrm>
            <a:off x="1088136" y="1930399"/>
            <a:ext cx="859197" cy="812798"/>
          </a:xfrm>
        </p:spPr>
        <p:txBody>
          <a:bodyPr>
            <a:normAutofit/>
          </a:bodyPr>
          <a:lstStyle>
            <a:lvl1pPr marL="82296" indent="0">
              <a:buNone/>
              <a:defRPr sz="1600"/>
            </a:lvl1pPr>
          </a:lstStyle>
          <a:p>
            <a:pPr lvl="0"/>
            <a:endParaRPr lang="en-US" noProof="0" dirty="0"/>
          </a:p>
        </p:txBody>
      </p:sp>
      <p:sp>
        <p:nvSpPr>
          <p:cNvPr id="20" name="Picture Placeholder 7"/>
          <p:cNvSpPr>
            <a:spLocks noGrp="1"/>
          </p:cNvSpPr>
          <p:nvPr>
            <p:ph type="pic" sz="quarter" idx="17"/>
          </p:nvPr>
        </p:nvSpPr>
        <p:spPr>
          <a:xfrm>
            <a:off x="1082717" y="2946401"/>
            <a:ext cx="859197" cy="812798"/>
          </a:xfrm>
        </p:spPr>
        <p:txBody>
          <a:bodyPr>
            <a:normAutofit/>
          </a:bodyPr>
          <a:lstStyle>
            <a:lvl1pPr marL="82296" indent="0">
              <a:buNone/>
              <a:defRPr sz="1600"/>
            </a:lvl1pPr>
          </a:lstStyle>
          <a:p>
            <a:pPr lvl="0"/>
            <a:endParaRPr lang="en-US" noProof="0" dirty="0"/>
          </a:p>
        </p:txBody>
      </p:sp>
      <p:sp>
        <p:nvSpPr>
          <p:cNvPr id="21" name="Picture Placeholder 7"/>
          <p:cNvSpPr>
            <a:spLocks noGrp="1"/>
          </p:cNvSpPr>
          <p:nvPr>
            <p:ph type="pic" sz="quarter" idx="18"/>
          </p:nvPr>
        </p:nvSpPr>
        <p:spPr>
          <a:xfrm>
            <a:off x="1088136" y="3945468"/>
            <a:ext cx="859197" cy="812798"/>
          </a:xfrm>
        </p:spPr>
        <p:txBody>
          <a:bodyPr>
            <a:normAutofit/>
          </a:bodyPr>
          <a:lstStyle>
            <a:lvl1pPr marL="82296" indent="0">
              <a:buNone/>
              <a:defRPr sz="1600"/>
            </a:lvl1pPr>
          </a:lstStyle>
          <a:p>
            <a:pPr lvl="0"/>
            <a:endParaRPr lang="en-US" noProof="0" dirty="0"/>
          </a:p>
        </p:txBody>
      </p:sp>
      <p:sp>
        <p:nvSpPr>
          <p:cNvPr id="22" name="Picture Placeholder 7"/>
          <p:cNvSpPr>
            <a:spLocks noGrp="1"/>
          </p:cNvSpPr>
          <p:nvPr>
            <p:ph type="pic" sz="quarter" idx="19"/>
          </p:nvPr>
        </p:nvSpPr>
        <p:spPr>
          <a:xfrm>
            <a:off x="1082717" y="4910668"/>
            <a:ext cx="859197" cy="812798"/>
          </a:xfrm>
        </p:spPr>
        <p:txBody>
          <a:bodyPr>
            <a:normAutofit/>
          </a:bodyPr>
          <a:lstStyle>
            <a:lvl1pPr marL="82296" indent="0">
              <a:buNone/>
              <a:defRPr sz="1600"/>
            </a:lvl1pPr>
          </a:lstStyle>
          <a:p>
            <a:pPr lvl="0"/>
            <a:endParaRPr lang="en-US" noProof="0" dirty="0"/>
          </a:p>
        </p:txBody>
      </p:sp>
      <p:sp>
        <p:nvSpPr>
          <p:cNvPr id="23" name="Picture Placeholder 7"/>
          <p:cNvSpPr>
            <a:spLocks noGrp="1"/>
          </p:cNvSpPr>
          <p:nvPr>
            <p:ph type="pic" sz="quarter" idx="20"/>
          </p:nvPr>
        </p:nvSpPr>
        <p:spPr>
          <a:xfrm>
            <a:off x="1088136" y="5899151"/>
            <a:ext cx="859197" cy="812798"/>
          </a:xfrm>
        </p:spPr>
        <p:txBody>
          <a:bodyPr>
            <a:normAutofit/>
          </a:bodyPr>
          <a:lstStyle>
            <a:lvl1pPr marL="82296" indent="0">
              <a:buNone/>
              <a:defRPr sz="1600"/>
            </a:lvl1pPr>
          </a:lstStyle>
          <a:p>
            <a:pPr lvl="0"/>
            <a:endParaRPr lang="en-US" noProof="0" dirty="0"/>
          </a:p>
        </p:txBody>
      </p:sp>
    </p:spTree>
    <p:extLst>
      <p:ext uri="{BB962C8B-B14F-4D97-AF65-F5344CB8AC3E}">
        <p14:creationId xmlns:p14="http://schemas.microsoft.com/office/powerpoint/2010/main" val="328720578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pPr>
              <a:defRPr/>
            </a:pPr>
            <a:fld id="{3CFF39C7-8701-684B-ACD5-0089C88F504D}" type="datetime1">
              <a:rPr lang="en-US" smtClean="0"/>
              <a:t>3/22/17</a:t>
            </a:fld>
            <a:endParaRPr lang="en-US" dirty="0">
              <a:solidFill>
                <a:schemeClr val="bg2">
                  <a:shade val="50000"/>
                </a:schemeClr>
              </a:solidFill>
            </a:endParaRPr>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pPr>
              <a:defRPr/>
            </a:pPr>
            <a:r>
              <a:rPr lang="en-US" smtClean="0"/>
              <a:t>#APSE2014</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pPr>
              <a:defRPr/>
            </a:pPr>
            <a:fld id="{76D09E21-E3A5-A34B-9A90-0AE5B5561539}" type="slidenum">
              <a:rPr lang="en-US" smtClean="0"/>
              <a:pPr>
                <a:defRPr/>
              </a:pPr>
              <a:t>‹#›</a:t>
            </a:fld>
            <a:endParaRPr lang="en-US" dirty="0">
              <a:solidFill>
                <a:schemeClr val="bg2">
                  <a:shade val="50000"/>
                </a:schemeClr>
              </a:solidFill>
            </a:endParaRPr>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11" r:id="rId12"/>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 Id="rId3"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1" Type="http://schemas.openxmlformats.org/officeDocument/2006/relationships/slideLayout" Target="../slideLayouts/slideLayout7.xml"/><Relationship Id="rId2" Type="http://schemas.openxmlformats.org/officeDocument/2006/relationships/image" Target="../media/image1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eg"/><Relationship Id="rId3" Type="http://schemas.openxmlformats.org/officeDocument/2006/relationships/image" Target="../media/image1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jpeg"/><Relationship Id="rId3" Type="http://schemas.openxmlformats.org/officeDocument/2006/relationships/image" Target="../media/image1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image" Target="../media/image26.jpeg"/><Relationship Id="rId7" Type="http://schemas.openxmlformats.org/officeDocument/2006/relationships/image" Target="../media/image27.jpeg"/><Relationship Id="rId8" Type="http://schemas.openxmlformats.org/officeDocument/2006/relationships/image" Target="../media/image28.wmf"/><Relationship Id="rId1" Type="http://schemas.openxmlformats.org/officeDocument/2006/relationships/slideLayout" Target="../slideLayouts/slideLayout2.xml"/><Relationship Id="rId2" Type="http://schemas.openxmlformats.org/officeDocument/2006/relationships/image" Target="../media/image22.jpe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gif"/><Relationship Id="rId1" Type="http://schemas.openxmlformats.org/officeDocument/2006/relationships/slideLayout" Target="../slideLayouts/slideLayout2.xml"/><Relationship Id="rId2" Type="http://schemas.openxmlformats.org/officeDocument/2006/relationships/image" Target="../media/image2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eg"/><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jpeg"/><Relationship Id="rId3" Type="http://schemas.openxmlformats.org/officeDocument/2006/relationships/image" Target="../media/image40.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41.jpeg"/><Relationship Id="rId1" Type="http://schemas.openxmlformats.org/officeDocument/2006/relationships/slideLayout" Target="../slideLayouts/slideLayout2.xml"/><Relationship Id="rId2" Type="http://schemas.openxmlformats.org/officeDocument/2006/relationships/diagramData" Target="../diagrams/data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WMF"/><Relationship Id="rId3" Type="http://schemas.openxmlformats.org/officeDocument/2006/relationships/image" Target="../media/image44.jpeg"/></Relationships>
</file>

<file path=ppt/slides/_rels/slide26.xml.rels><?xml version="1.0" encoding="UTF-8" standalone="yes"?>
<Relationships xmlns="http://schemas.openxmlformats.org/package/2006/relationships"><Relationship Id="rId3" Type="http://schemas.openxmlformats.org/officeDocument/2006/relationships/image" Target="../media/image46.emf"/><Relationship Id="rId4" Type="http://schemas.openxmlformats.org/officeDocument/2006/relationships/image" Target="../media/image47.emf"/><Relationship Id="rId5" Type="http://schemas.openxmlformats.org/officeDocument/2006/relationships/image" Target="../media/image48.png"/><Relationship Id="rId6" Type="http://schemas.openxmlformats.org/officeDocument/2006/relationships/image" Target="../media/image49.emf"/><Relationship Id="rId7" Type="http://schemas.openxmlformats.org/officeDocument/2006/relationships/image" Target="../media/image50.jpeg"/><Relationship Id="rId1" Type="http://schemas.openxmlformats.org/officeDocument/2006/relationships/slideLayout" Target="../slideLayouts/slideLayout2.xml"/><Relationship Id="rId2" Type="http://schemas.openxmlformats.org/officeDocument/2006/relationships/image" Target="../media/image45.emf"/></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jpeg"/><Relationship Id="rId6" Type="http://schemas.openxmlformats.org/officeDocument/2006/relationships/image" Target="../media/image55.jpeg"/><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6.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8.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jpg"/><Relationship Id="rId3" Type="http://schemas.openxmlformats.org/officeDocument/2006/relationships/image" Target="../media/image6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63.jpeg"/><Relationship Id="rId4" Type="http://schemas.openxmlformats.org/officeDocument/2006/relationships/image" Target="../media/image64.jpeg"/><Relationship Id="rId5" Type="http://schemas.openxmlformats.org/officeDocument/2006/relationships/image" Target="../media/image65.jpeg"/><Relationship Id="rId6" Type="http://schemas.openxmlformats.org/officeDocument/2006/relationships/image" Target="../media/image66.jpeg"/><Relationship Id="rId7" Type="http://schemas.openxmlformats.org/officeDocument/2006/relationships/image" Target="../media/image67.jpeg"/><Relationship Id="rId8" Type="http://schemas.openxmlformats.org/officeDocument/2006/relationships/image" Target="../media/image68.jpeg"/><Relationship Id="rId1" Type="http://schemas.openxmlformats.org/officeDocument/2006/relationships/slideLayout" Target="../slideLayouts/slideLayout6.xml"/><Relationship Id="rId2" Type="http://schemas.openxmlformats.org/officeDocument/2006/relationships/image" Target="../media/image62.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 Id="rId3" Type="http://schemas.openxmlformats.org/officeDocument/2006/relationships/image" Target="../media/image70.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jpg"/><Relationship Id="rId3" Type="http://schemas.openxmlformats.org/officeDocument/2006/relationships/image" Target="../media/image72.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jpeg"/></Relationships>
</file>

<file path=ppt/slides/_rels/slide46.xml.rels><?xml version="1.0" encoding="UTF-8" standalone="yes"?>
<Relationships xmlns="http://schemas.openxmlformats.org/package/2006/relationships"><Relationship Id="rId3" Type="http://schemas.openxmlformats.org/officeDocument/2006/relationships/image" Target="../media/image75.png"/><Relationship Id="rId4" Type="http://schemas.openxmlformats.org/officeDocument/2006/relationships/image" Target="../media/image76.jpeg"/><Relationship Id="rId5" Type="http://schemas.openxmlformats.org/officeDocument/2006/relationships/image" Target="../media/image77.jpeg"/><Relationship Id="rId6" Type="http://schemas.openxmlformats.org/officeDocument/2006/relationships/image" Target="../media/image78.jpeg"/><Relationship Id="rId7" Type="http://schemas.openxmlformats.org/officeDocument/2006/relationships/image" Target="../media/image79.png"/><Relationship Id="rId8" Type="http://schemas.openxmlformats.org/officeDocument/2006/relationships/image" Target="../media/image80.jpeg"/><Relationship Id="rId1" Type="http://schemas.openxmlformats.org/officeDocument/2006/relationships/slideLayout" Target="../slideLayouts/slideLayout6.xml"/><Relationship Id="rId2" Type="http://schemas.openxmlformats.org/officeDocument/2006/relationships/image" Target="../media/image7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jpeg"/><Relationship Id="rId3" Type="http://schemas.openxmlformats.org/officeDocument/2006/relationships/image" Target="../media/image83.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wmf"/><Relationship Id="rId3" Type="http://schemas.openxmlformats.org/officeDocument/2006/relationships/image" Target="../media/image86.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s>
</file>

<file path=ppt/slides/_rels/slide52.xml.rels><?xml version="1.0" encoding="UTF-8" standalone="yes"?>
<Relationships xmlns="http://schemas.openxmlformats.org/package/2006/relationships"><Relationship Id="rId3" Type="http://schemas.openxmlformats.org/officeDocument/2006/relationships/image" Target="../media/image89.png"/><Relationship Id="rId4" Type="http://schemas.openxmlformats.org/officeDocument/2006/relationships/image" Target="../media/image90.png"/><Relationship Id="rId1" Type="http://schemas.openxmlformats.org/officeDocument/2006/relationships/slideLayout" Target="../slideLayouts/slideLayout2.xml"/><Relationship Id="rId2" Type="http://schemas.openxmlformats.org/officeDocument/2006/relationships/image" Target="../media/image88.png"/></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7" Type="http://schemas.openxmlformats.org/officeDocument/2006/relationships/image" Target="../media/image91.WMF"/><Relationship Id="rId1" Type="http://schemas.openxmlformats.org/officeDocument/2006/relationships/slideLayout" Target="../slideLayouts/slideLayout2.xml"/><Relationship Id="rId2" Type="http://schemas.openxmlformats.org/officeDocument/2006/relationships/diagramData" Target="../diagrams/data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jpeg"/><Relationship Id="rId3" Type="http://schemas.openxmlformats.org/officeDocument/2006/relationships/image" Target="../media/image93.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4.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5.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emf"/><Relationship Id="rId3" Type="http://schemas.openxmlformats.org/officeDocument/2006/relationships/image" Target="../media/image97.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8.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9.jpeg"/><Relationship Id="rId3" Type="http://schemas.openxmlformats.org/officeDocument/2006/relationships/image" Target="../media/image10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1.png"/><Relationship Id="rId3" Type="http://schemas.openxmlformats.org/officeDocument/2006/relationships/image" Target="../media/image102.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3.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4.jpg"/></Relationships>
</file>

<file path=ppt/slides/_rels/slide64.xml.rels><?xml version="1.0" encoding="UTF-8" standalone="yes"?>
<Relationships xmlns="http://schemas.openxmlformats.org/package/2006/relationships"><Relationship Id="rId3" Type="http://schemas.openxmlformats.org/officeDocument/2006/relationships/image" Target="../media/image106.jpeg"/><Relationship Id="rId4" Type="http://schemas.openxmlformats.org/officeDocument/2006/relationships/image" Target="../media/image107.jpeg"/><Relationship Id="rId5" Type="http://schemas.openxmlformats.org/officeDocument/2006/relationships/image" Target="../media/image108.jpeg"/><Relationship Id="rId6" Type="http://schemas.openxmlformats.org/officeDocument/2006/relationships/image" Target="../media/image109.jpeg"/><Relationship Id="rId1" Type="http://schemas.openxmlformats.org/officeDocument/2006/relationships/slideLayout" Target="../slideLayouts/slideLayout2.xml"/><Relationship Id="rId2" Type="http://schemas.openxmlformats.org/officeDocument/2006/relationships/image" Target="../media/image105.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0.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1.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2.jpeg"/></Relationships>
</file>

<file path=ppt/slides/_rels/slide68.xml.rels><?xml version="1.0" encoding="UTF-8" standalone="yes"?>
<Relationships xmlns="http://schemas.openxmlformats.org/package/2006/relationships"><Relationship Id="rId3" Type="http://schemas.openxmlformats.org/officeDocument/2006/relationships/image" Target="../media/image114.jpeg"/><Relationship Id="rId4" Type="http://schemas.openxmlformats.org/officeDocument/2006/relationships/image" Target="../media/image115.png"/><Relationship Id="rId1" Type="http://schemas.openxmlformats.org/officeDocument/2006/relationships/slideLayout" Target="../slideLayouts/slideLayout2.xml"/><Relationship Id="rId2" Type="http://schemas.openxmlformats.org/officeDocument/2006/relationships/image" Target="../media/image113.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6.jpeg"/><Relationship Id="rId3" Type="http://schemas.openxmlformats.org/officeDocument/2006/relationships/image" Target="../media/image117.jpeg"/></Relationships>
</file>

<file path=ppt/slides/_rels/slide70.xml.rels><?xml version="1.0" encoding="UTF-8" standalone="yes"?>
<Relationships xmlns="http://schemas.openxmlformats.org/package/2006/relationships"><Relationship Id="rId3" Type="http://schemas.openxmlformats.org/officeDocument/2006/relationships/image" Target="../media/image119.png"/><Relationship Id="rId4" Type="http://schemas.openxmlformats.org/officeDocument/2006/relationships/image" Target="../media/image120.jpeg"/><Relationship Id="rId5" Type="http://schemas.openxmlformats.org/officeDocument/2006/relationships/image" Target="../media/image121.jpeg"/><Relationship Id="rId6" Type="http://schemas.openxmlformats.org/officeDocument/2006/relationships/image" Target="../media/image122.jpeg"/><Relationship Id="rId7" Type="http://schemas.openxmlformats.org/officeDocument/2006/relationships/image" Target="../media/image123.jpeg"/><Relationship Id="rId8" Type="http://schemas.openxmlformats.org/officeDocument/2006/relationships/image" Target="../media/image124.png"/><Relationship Id="rId1" Type="http://schemas.openxmlformats.org/officeDocument/2006/relationships/slideLayout" Target="../slideLayouts/slideLayout2.xml"/><Relationship Id="rId2" Type="http://schemas.openxmlformats.org/officeDocument/2006/relationships/image" Target="../media/image118.wmf"/></Relationships>
</file>

<file path=ppt/slides/_rels/slide71.xml.rels><?xml version="1.0" encoding="UTF-8" standalone="yes"?>
<Relationships xmlns="http://schemas.openxmlformats.org/package/2006/relationships"><Relationship Id="rId3" Type="http://schemas.openxmlformats.org/officeDocument/2006/relationships/image" Target="../media/image126.jpeg"/><Relationship Id="rId4" Type="http://schemas.openxmlformats.org/officeDocument/2006/relationships/image" Target="../media/image127.jpeg"/><Relationship Id="rId5" Type="http://schemas.openxmlformats.org/officeDocument/2006/relationships/image" Target="../media/image128.jpeg"/><Relationship Id="rId6" Type="http://schemas.openxmlformats.org/officeDocument/2006/relationships/image" Target="../media/image129.jpeg"/><Relationship Id="rId1" Type="http://schemas.openxmlformats.org/officeDocument/2006/relationships/slideLayout" Target="../slideLayouts/slideLayout2.xml"/><Relationship Id="rId2" Type="http://schemas.openxmlformats.org/officeDocument/2006/relationships/image" Target="../media/image125.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0.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2.png"/><Relationship Id="rId3" Type="http://schemas.openxmlformats.org/officeDocument/2006/relationships/image" Target="../media/image133.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4.jpeg"/><Relationship Id="rId3" Type="http://schemas.openxmlformats.org/officeDocument/2006/relationships/image" Target="../media/image135.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7.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8.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9.jpeg"/></Relationships>
</file>

<file path=ppt/slides/_rels/slide80.xml.rels><?xml version="1.0" encoding="UTF-8" standalone="yes"?>
<Relationships xmlns="http://schemas.openxmlformats.org/package/2006/relationships"><Relationship Id="rId11" Type="http://schemas.openxmlformats.org/officeDocument/2006/relationships/image" Target="../media/image149.jpeg"/><Relationship Id="rId12" Type="http://schemas.openxmlformats.org/officeDocument/2006/relationships/image" Target="../media/image150.jpeg"/><Relationship Id="rId1" Type="http://schemas.openxmlformats.org/officeDocument/2006/relationships/slideLayout" Target="../slideLayouts/slideLayout2.xml"/><Relationship Id="rId2" Type="http://schemas.openxmlformats.org/officeDocument/2006/relationships/image" Target="../media/image140.jpeg"/><Relationship Id="rId3" Type="http://schemas.openxmlformats.org/officeDocument/2006/relationships/image" Target="../media/image141.jpeg"/><Relationship Id="rId4" Type="http://schemas.openxmlformats.org/officeDocument/2006/relationships/image" Target="../media/image142.jpeg"/><Relationship Id="rId5" Type="http://schemas.openxmlformats.org/officeDocument/2006/relationships/image" Target="../media/image143.jpeg"/><Relationship Id="rId6" Type="http://schemas.openxmlformats.org/officeDocument/2006/relationships/image" Target="../media/image144.jpeg"/><Relationship Id="rId7" Type="http://schemas.openxmlformats.org/officeDocument/2006/relationships/image" Target="../media/image145.jpeg"/><Relationship Id="rId8" Type="http://schemas.openxmlformats.org/officeDocument/2006/relationships/image" Target="../media/image146.jpeg"/><Relationship Id="rId9" Type="http://schemas.openxmlformats.org/officeDocument/2006/relationships/image" Target="../media/image147.jpeg"/><Relationship Id="rId10" Type="http://schemas.openxmlformats.org/officeDocument/2006/relationships/image" Target="../media/image148.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1.WMF"/><Relationship Id="rId3" Type="http://schemas.openxmlformats.org/officeDocument/2006/relationships/image" Target="../media/image15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848600" cy="2384425"/>
          </a:xfrm>
        </p:spPr>
        <p:style>
          <a:lnRef idx="2">
            <a:schemeClr val="accent6">
              <a:shade val="50000"/>
            </a:schemeClr>
          </a:lnRef>
          <a:fillRef idx="1">
            <a:schemeClr val="accent6"/>
          </a:fillRef>
          <a:effectRef idx="0">
            <a:schemeClr val="accent6"/>
          </a:effectRef>
          <a:fontRef idx="minor">
            <a:schemeClr val="lt1"/>
          </a:fontRef>
        </p:style>
        <p:txBody>
          <a:bodyPr/>
          <a:lstStyle/>
          <a:p>
            <a:r>
              <a:rPr lang="en-US" sz="4400" b="1" dirty="0" smtClean="0"/>
              <a:t>Employment First:</a:t>
            </a:r>
            <a:r>
              <a:rPr lang="en-US" sz="4400" dirty="0" smtClean="0"/>
              <a:t/>
            </a:r>
            <a:br>
              <a:rPr lang="en-US" sz="4400" dirty="0" smtClean="0"/>
            </a:br>
            <a:r>
              <a:rPr lang="en-US" sz="4400" i="1" dirty="0" smtClean="0"/>
              <a:t>Maintaining the Momentum</a:t>
            </a:r>
            <a:endParaRPr lang="en-US" sz="4400" i="1" dirty="0"/>
          </a:p>
        </p:txBody>
      </p:sp>
      <p:sp>
        <p:nvSpPr>
          <p:cNvPr id="3" name="Subtitle 2"/>
          <p:cNvSpPr>
            <a:spLocks noGrp="1"/>
          </p:cNvSpPr>
          <p:nvPr>
            <p:ph type="subTitle" idx="1"/>
          </p:nvPr>
        </p:nvSpPr>
        <p:spPr>
          <a:xfrm>
            <a:off x="429260" y="4618664"/>
            <a:ext cx="7406640" cy="1752600"/>
          </a:xfrm>
        </p:spPr>
        <p:txBody>
          <a:bodyPr>
            <a:normAutofit fontScale="70000" lnSpcReduction="20000"/>
          </a:bodyPr>
          <a:lstStyle/>
          <a:p>
            <a:r>
              <a:rPr lang="en-US" sz="3200" b="1" dirty="0" smtClean="0"/>
              <a:t>David Hoff</a:t>
            </a:r>
          </a:p>
          <a:p>
            <a:r>
              <a:rPr lang="en-US" dirty="0" smtClean="0"/>
              <a:t/>
            </a:r>
            <a:br>
              <a:rPr lang="en-US" dirty="0" smtClean="0"/>
            </a:br>
            <a:r>
              <a:rPr lang="en-US" dirty="0" smtClean="0"/>
              <a:t>Institute for Community Inclusion</a:t>
            </a:r>
            <a:br>
              <a:rPr lang="en-US" dirty="0" smtClean="0"/>
            </a:br>
            <a:r>
              <a:rPr lang="en-US" dirty="0" smtClean="0"/>
              <a:t>UMass Boston</a:t>
            </a:r>
            <a:br>
              <a:rPr lang="en-US" dirty="0" smtClean="0"/>
            </a:br>
            <a:endParaRPr lang="en-US" dirty="0" smtClean="0"/>
          </a:p>
          <a:p>
            <a:pPr>
              <a:spcBef>
                <a:spcPts val="0"/>
              </a:spcBef>
            </a:pPr>
            <a:r>
              <a:rPr lang="en-US" dirty="0" smtClean="0"/>
              <a:t>617-287-4308; </a:t>
            </a:r>
            <a:r>
              <a:rPr lang="en-US" dirty="0" err="1" smtClean="0"/>
              <a:t>david.hoff@umb.edu</a:t>
            </a:r>
            <a:endParaRPr lang="en-US" dirty="0" smtClean="0"/>
          </a:p>
          <a:p>
            <a:pPr>
              <a:spcBef>
                <a:spcPts val="0"/>
              </a:spcBef>
            </a:pPr>
            <a:r>
              <a:rPr lang="en-US" dirty="0" err="1" smtClean="0"/>
              <a:t>www.communityinclusion.org</a:t>
            </a:r>
            <a:endParaRPr lang="en-US" dirty="0"/>
          </a:p>
        </p:txBody>
      </p:sp>
      <p:pic>
        <p:nvPicPr>
          <p:cNvPr id="5" name="Picture 4" descr="ICI_UMB_BLACK.pn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954837" y="3666164"/>
            <a:ext cx="1579563"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3DF57DA1-2AD2-FF41-B7A2-1B4F1AD3CC59}" type="slidenum">
              <a:rPr lang="en-US" smtClean="0"/>
              <a:pPr>
                <a:defRPr/>
              </a:pPr>
              <a:t>1</a:t>
            </a:fld>
            <a:endParaRPr lang="en-US" dirty="0"/>
          </a:p>
        </p:txBody>
      </p:sp>
      <p:pic>
        <p:nvPicPr>
          <p:cNvPr id="6" name="Picture 5" descr="University-of-Massachusetts-Boston.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911724" y="4796465"/>
            <a:ext cx="3533776" cy="1884680"/>
          </a:xfrm>
          <a:prstGeom prst="rect">
            <a:avLst/>
          </a:prstGeom>
        </p:spPr>
      </p:pic>
    </p:spTree>
    <p:extLst>
      <p:ext uri="{BB962C8B-B14F-4D97-AF65-F5344CB8AC3E}">
        <p14:creationId xmlns:p14="http://schemas.microsoft.com/office/powerpoint/2010/main" val="1255125370"/>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ctrTitle" idx="4294967295"/>
          </p:nvPr>
        </p:nvSpPr>
        <p:spPr>
          <a:xfrm>
            <a:off x="457200" y="533400"/>
            <a:ext cx="8229600" cy="3962400"/>
          </a:xfrm>
        </p:spPr>
        <p:style>
          <a:lnRef idx="1">
            <a:schemeClr val="dk1"/>
          </a:lnRef>
          <a:fillRef idx="2">
            <a:schemeClr val="dk1"/>
          </a:fillRef>
          <a:effectRef idx="1">
            <a:schemeClr val="dk1"/>
          </a:effectRef>
          <a:fontRef idx="minor">
            <a:schemeClr val="dk1"/>
          </a:fontRef>
        </p:style>
        <p:txBody>
          <a:bodyPr>
            <a:noAutofit/>
          </a:bodyPr>
          <a:lstStyle/>
          <a:p>
            <a:r>
              <a:rPr lang="ja-JP" altLang="en-US" sz="3200" b="1" dirty="0">
                <a:solidFill>
                  <a:srgbClr val="800000"/>
                </a:solidFill>
                <a:latin typeface="+mn-lt"/>
              </a:rPr>
              <a:t>“</a:t>
            </a:r>
            <a:r>
              <a:rPr lang="en-US" sz="3200" b="1" dirty="0">
                <a:solidFill>
                  <a:srgbClr val="800000"/>
                </a:solidFill>
                <a:latin typeface="+mn-lt"/>
              </a:rPr>
              <a:t>There are 3 essential commandments:</a:t>
            </a:r>
            <a:br>
              <a:rPr lang="en-US" sz="3200" b="1" dirty="0">
                <a:solidFill>
                  <a:srgbClr val="800000"/>
                </a:solidFill>
                <a:latin typeface="+mn-lt"/>
              </a:rPr>
            </a:br>
            <a:r>
              <a:rPr lang="en-US" sz="3200" b="1" dirty="0">
                <a:solidFill>
                  <a:srgbClr val="800000"/>
                </a:solidFill>
                <a:latin typeface="+mn-lt"/>
              </a:rPr>
              <a:t/>
            </a:r>
            <a:br>
              <a:rPr lang="en-US" sz="3200" b="1" dirty="0">
                <a:solidFill>
                  <a:srgbClr val="800000"/>
                </a:solidFill>
                <a:latin typeface="+mn-lt"/>
              </a:rPr>
            </a:br>
            <a:r>
              <a:rPr lang="en-US" sz="3200" b="1" dirty="0" smtClean="0">
                <a:solidFill>
                  <a:srgbClr val="800000"/>
                </a:solidFill>
                <a:latin typeface="+mn-lt"/>
              </a:rPr>
              <a:t>   Respect </a:t>
            </a:r>
            <a:r>
              <a:rPr lang="en-US" sz="3200" b="1" dirty="0">
                <a:solidFill>
                  <a:srgbClr val="800000"/>
                </a:solidFill>
                <a:latin typeface="+mn-lt"/>
              </a:rPr>
              <a:t>the elders.</a:t>
            </a:r>
            <a:br>
              <a:rPr lang="en-US" sz="3200" b="1" dirty="0">
                <a:solidFill>
                  <a:srgbClr val="800000"/>
                </a:solidFill>
                <a:latin typeface="+mn-lt"/>
              </a:rPr>
            </a:br>
            <a:r>
              <a:rPr lang="en-US" sz="3200" b="1" dirty="0">
                <a:solidFill>
                  <a:srgbClr val="800000"/>
                </a:solidFill>
                <a:latin typeface="+mn-lt"/>
              </a:rPr>
              <a:t/>
            </a:r>
            <a:br>
              <a:rPr lang="en-US" sz="3200" b="1" dirty="0">
                <a:solidFill>
                  <a:srgbClr val="800000"/>
                </a:solidFill>
                <a:latin typeface="+mn-lt"/>
              </a:rPr>
            </a:br>
            <a:r>
              <a:rPr lang="en-US" sz="3200" b="1" dirty="0" smtClean="0">
                <a:solidFill>
                  <a:srgbClr val="800000"/>
                </a:solidFill>
                <a:latin typeface="+mn-lt"/>
              </a:rPr>
              <a:t>   Embrace </a:t>
            </a:r>
            <a:r>
              <a:rPr lang="en-US" sz="3200" b="1" dirty="0">
                <a:solidFill>
                  <a:srgbClr val="800000"/>
                </a:solidFill>
                <a:latin typeface="+mn-lt"/>
              </a:rPr>
              <a:t>the new.</a:t>
            </a:r>
            <a:br>
              <a:rPr lang="en-US" sz="3200" b="1" dirty="0">
                <a:solidFill>
                  <a:srgbClr val="800000"/>
                </a:solidFill>
                <a:latin typeface="+mn-lt"/>
              </a:rPr>
            </a:br>
            <a:r>
              <a:rPr lang="en-US" sz="3200" b="1" dirty="0">
                <a:solidFill>
                  <a:srgbClr val="800000"/>
                </a:solidFill>
                <a:latin typeface="+mn-lt"/>
              </a:rPr>
              <a:t/>
            </a:r>
            <a:br>
              <a:rPr lang="en-US" sz="3200" b="1" dirty="0">
                <a:solidFill>
                  <a:srgbClr val="800000"/>
                </a:solidFill>
                <a:latin typeface="+mn-lt"/>
              </a:rPr>
            </a:br>
            <a:r>
              <a:rPr lang="en-US" sz="3200" b="1" dirty="0" smtClean="0">
                <a:solidFill>
                  <a:srgbClr val="800000"/>
                </a:solidFill>
                <a:latin typeface="+mn-lt"/>
              </a:rPr>
              <a:t>   Encourage </a:t>
            </a:r>
            <a:r>
              <a:rPr lang="en-US" sz="3200" b="1" dirty="0">
                <a:solidFill>
                  <a:srgbClr val="800000"/>
                </a:solidFill>
                <a:latin typeface="+mn-lt"/>
              </a:rPr>
              <a:t>the impractical and </a:t>
            </a:r>
            <a:r>
              <a:rPr lang="en-US" sz="3200" b="1" dirty="0" smtClean="0">
                <a:solidFill>
                  <a:srgbClr val="800000"/>
                </a:solidFill>
                <a:latin typeface="+mn-lt"/>
              </a:rPr>
              <a:t>improbable</a:t>
            </a:r>
            <a:br>
              <a:rPr lang="en-US" sz="3200" b="1" dirty="0" smtClean="0">
                <a:solidFill>
                  <a:srgbClr val="800000"/>
                </a:solidFill>
                <a:latin typeface="+mn-lt"/>
              </a:rPr>
            </a:br>
            <a:r>
              <a:rPr lang="en-US" sz="3200" b="1" dirty="0" smtClean="0">
                <a:solidFill>
                  <a:srgbClr val="800000"/>
                </a:solidFill>
                <a:latin typeface="+mn-lt"/>
              </a:rPr>
              <a:t>   without </a:t>
            </a:r>
            <a:r>
              <a:rPr lang="en-US" sz="3200" b="1" dirty="0">
                <a:solidFill>
                  <a:srgbClr val="800000"/>
                </a:solidFill>
                <a:latin typeface="+mn-lt"/>
              </a:rPr>
              <a:t>bias.</a:t>
            </a:r>
            <a:r>
              <a:rPr lang="ja-JP" altLang="en-US" sz="3200" b="1" dirty="0">
                <a:solidFill>
                  <a:srgbClr val="800000"/>
                </a:solidFill>
                <a:latin typeface="+mn-lt"/>
              </a:rPr>
              <a:t>”</a:t>
            </a:r>
            <a:endParaRPr lang="en-US" sz="3200" b="1" dirty="0">
              <a:solidFill>
                <a:srgbClr val="800000"/>
              </a:solidFill>
              <a:latin typeface="+mn-lt"/>
            </a:endParaRPr>
          </a:p>
        </p:txBody>
      </p:sp>
      <p:sp>
        <p:nvSpPr>
          <p:cNvPr id="171011" name="Rectangle 3"/>
          <p:cNvSpPr>
            <a:spLocks noGrp="1" noChangeArrowheads="1"/>
          </p:cNvSpPr>
          <p:nvPr>
            <p:ph type="subTitle" idx="4294967295"/>
          </p:nvPr>
        </p:nvSpPr>
        <p:spPr>
          <a:xfrm>
            <a:off x="0" y="5486400"/>
            <a:ext cx="6400800" cy="685800"/>
          </a:xfrm>
        </p:spPr>
        <p:txBody>
          <a:bodyPr/>
          <a:lstStyle/>
          <a:p>
            <a:pPr algn="r"/>
            <a:r>
              <a:rPr lang="en-US" i="1" dirty="0" smtClean="0"/>
              <a:t>David </a:t>
            </a:r>
            <a:r>
              <a:rPr lang="en-US" i="1" dirty="0"/>
              <a:t>Fricke</a:t>
            </a:r>
          </a:p>
        </p:txBody>
      </p:sp>
      <p:pic>
        <p:nvPicPr>
          <p:cNvPr id="2" name="Picture 1" descr="Unknown.jpeg"/>
          <p:cNvPicPr>
            <a:picLocks noChangeAspect="1"/>
          </p:cNvPicPr>
          <p:nvPr/>
        </p:nvPicPr>
        <p:blipFill rotWithShape="1">
          <a:blip r:embed="rId2">
            <a:extLst>
              <a:ext uri="{28A0092B-C50C-407E-A947-70E740481C1C}">
                <a14:useLocalDpi xmlns:a14="http://schemas.microsoft.com/office/drawing/2010/main" val="0"/>
              </a:ext>
            </a:extLst>
          </a:blip>
          <a:srcRect l="13115" t="7463" b="29397"/>
          <a:stretch/>
        </p:blipFill>
        <p:spPr>
          <a:xfrm>
            <a:off x="7010400" y="4648200"/>
            <a:ext cx="1602092" cy="1788198"/>
          </a:xfrm>
          <a:prstGeom prst="rect">
            <a:avLst/>
          </a:prstGeom>
        </p:spPr>
      </p:pic>
      <p:sp>
        <p:nvSpPr>
          <p:cNvPr id="3" name="Slide Number Placeholder 2"/>
          <p:cNvSpPr>
            <a:spLocks noGrp="1"/>
          </p:cNvSpPr>
          <p:nvPr>
            <p:ph type="sldNum" sz="quarter" idx="12"/>
          </p:nvPr>
        </p:nvSpPr>
        <p:spPr/>
        <p:txBody>
          <a:bodyPr/>
          <a:lstStyle/>
          <a:p>
            <a:pPr>
              <a:defRPr/>
            </a:pPr>
            <a:fld id="{76D09E21-E3A5-A34B-9A90-0AE5B5561539}" type="slidenum">
              <a:rPr lang="en-US" smtClean="0"/>
              <a:pPr>
                <a:defRPr/>
              </a:pPr>
              <a:t>2</a:t>
            </a:fld>
            <a:endParaRPr lang="en-US" dirty="0">
              <a:solidFill>
                <a:schemeClr val="bg2">
                  <a:shade val="50000"/>
                </a:schemeClr>
              </a:solidFill>
            </a:endParaRPr>
          </a:p>
        </p:txBody>
      </p:sp>
    </p:spTree>
    <p:extLst>
      <p:ext uri="{BB962C8B-B14F-4D97-AF65-F5344CB8AC3E}">
        <p14:creationId xmlns:p14="http://schemas.microsoft.com/office/powerpoint/2010/main" val="830818989"/>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ree_with_roots_800_wht_10083.jpg"/>
          <p:cNvPicPr>
            <a:picLocks noGrp="1" noChangeAspect="1"/>
          </p:cNvPicPr>
          <p:nvPr>
            <p:ph idx="1"/>
          </p:nvPr>
        </p:nvPicPr>
        <p:blipFill rotWithShape="1">
          <a:blip r:embed="rId2" cstate="email">
            <a:extLst>
              <a:ext uri="{28A0092B-C50C-407E-A947-70E740481C1C}">
                <a14:useLocalDpi xmlns:a14="http://schemas.microsoft.com/office/drawing/2010/main" val="0"/>
              </a:ext>
            </a:extLst>
          </a:blip>
          <a:srcRect t="4819" b="2890"/>
          <a:stretch/>
        </p:blipFill>
        <p:spPr>
          <a:xfrm>
            <a:off x="2451100" y="545491"/>
            <a:ext cx="3924300" cy="6312509"/>
          </a:xfrm>
        </p:spPr>
      </p:pic>
      <p:sp>
        <p:nvSpPr>
          <p:cNvPr id="2" name="Title 1"/>
          <p:cNvSpPr>
            <a:spLocks noGrp="1"/>
          </p:cNvSpPr>
          <p:nvPr>
            <p:ph type="title"/>
          </p:nvPr>
        </p:nvSpPr>
        <p:spPr>
          <a:xfrm>
            <a:off x="3073400" y="1384300"/>
            <a:ext cx="2451100" cy="1308100"/>
          </a:xfrm>
        </p:spPr>
        <p:txBody>
          <a:bodyPr>
            <a:normAutofit/>
          </a:bodyPr>
          <a:lstStyle/>
          <a:p>
            <a:pPr algn="ctr"/>
            <a:r>
              <a:rPr lang="en-US" sz="3200" dirty="0" smtClean="0">
                <a:solidFill>
                  <a:srgbClr val="FFFF00"/>
                </a:solidFill>
              </a:rPr>
              <a:t>Employment First</a:t>
            </a:r>
            <a:endParaRPr lang="en-US" sz="3200" dirty="0">
              <a:solidFill>
                <a:srgbClr val="FFFF00"/>
              </a:solidFill>
            </a:endParaRPr>
          </a:p>
        </p:txBody>
      </p:sp>
      <p:sp>
        <p:nvSpPr>
          <p:cNvPr id="3" name="Slide Number Placeholder 2"/>
          <p:cNvSpPr>
            <a:spLocks noGrp="1"/>
          </p:cNvSpPr>
          <p:nvPr>
            <p:ph type="sldNum" sz="quarter" idx="12"/>
          </p:nvPr>
        </p:nvSpPr>
        <p:spPr/>
        <p:txBody>
          <a:bodyPr/>
          <a:lstStyle/>
          <a:p>
            <a:pPr>
              <a:defRPr/>
            </a:pPr>
            <a:fld id="{DE0518C9-3CC7-7448-AD05-3CB269384775}" type="slidenum">
              <a:rPr lang="en-US" smtClean="0"/>
              <a:pPr>
                <a:defRPr/>
              </a:pPr>
              <a:t>3</a:t>
            </a:fld>
            <a:endParaRPr lang="en-US" dirty="0"/>
          </a:p>
        </p:txBody>
      </p:sp>
    </p:spTree>
    <p:extLst>
      <p:ext uri="{BB962C8B-B14F-4D97-AF65-F5344CB8AC3E}">
        <p14:creationId xmlns:p14="http://schemas.microsoft.com/office/powerpoint/2010/main" val="363973848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mmon-Core-History-Lessons.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914400"/>
            <a:ext cx="6781800" cy="4521200"/>
          </a:xfrm>
          <a:prstGeom prst="rect">
            <a:avLst/>
          </a:prstGeom>
        </p:spPr>
      </p:pic>
      <p:sp>
        <p:nvSpPr>
          <p:cNvPr id="2" name="Slide Number Placeholder 1"/>
          <p:cNvSpPr>
            <a:spLocks noGrp="1"/>
          </p:cNvSpPr>
          <p:nvPr>
            <p:ph type="sldNum" sz="quarter" idx="12"/>
          </p:nvPr>
        </p:nvSpPr>
        <p:spPr/>
        <p:txBody>
          <a:bodyPr/>
          <a:lstStyle/>
          <a:p>
            <a:pPr>
              <a:defRPr/>
            </a:pPr>
            <a:fld id="{76D09E21-E3A5-A34B-9A90-0AE5B5561539}" type="slidenum">
              <a:rPr lang="en-US" smtClean="0"/>
              <a:pPr>
                <a:defRPr/>
              </a:pPr>
              <a:t>4</a:t>
            </a:fld>
            <a:endParaRPr lang="en-US" dirty="0">
              <a:solidFill>
                <a:schemeClr val="bg2">
                  <a:shade val="50000"/>
                </a:schemeClr>
              </a:solidFill>
            </a:endParaRPr>
          </a:p>
        </p:txBody>
      </p:sp>
    </p:spTree>
    <p:extLst>
      <p:ext uri="{BB962C8B-B14F-4D97-AF65-F5344CB8AC3E}">
        <p14:creationId xmlns:p14="http://schemas.microsoft.com/office/powerpoint/2010/main" val="4395918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5" descr="images.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2260430"/>
            <a:ext cx="3319463" cy="1841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p:cNvCxnSpPr/>
          <p:nvPr/>
        </p:nvCxnSpPr>
        <p:spPr bwMode="auto">
          <a:xfrm flipH="1">
            <a:off x="5486400" y="2362200"/>
            <a:ext cx="3276600" cy="1752600"/>
          </a:xfrm>
          <a:prstGeom prst="line">
            <a:avLst/>
          </a:prstGeom>
          <a:solidFill>
            <a:schemeClr val="accent1"/>
          </a:solidFill>
          <a:ln w="762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 name="Straight Connector 8"/>
          <p:cNvCxnSpPr/>
          <p:nvPr/>
        </p:nvCxnSpPr>
        <p:spPr bwMode="auto">
          <a:xfrm flipH="1" flipV="1">
            <a:off x="5486400" y="2286000"/>
            <a:ext cx="3352800" cy="1676400"/>
          </a:xfrm>
          <a:prstGeom prst="line">
            <a:avLst/>
          </a:prstGeom>
          <a:solidFill>
            <a:schemeClr val="accent1"/>
          </a:solidFill>
          <a:ln w="762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4820" name="TextBox 15"/>
          <p:cNvSpPr txBox="1">
            <a:spLocks noChangeArrowheads="1"/>
          </p:cNvSpPr>
          <p:nvPr/>
        </p:nvSpPr>
        <p:spPr bwMode="auto">
          <a:xfrm>
            <a:off x="990600" y="2286000"/>
            <a:ext cx="3429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4800" b="1" dirty="0">
                <a:solidFill>
                  <a:srgbClr val="000090"/>
                </a:solidFill>
              </a:rPr>
              <a:t>Significant Disability</a:t>
            </a:r>
          </a:p>
        </p:txBody>
      </p:sp>
      <p:sp>
        <p:nvSpPr>
          <p:cNvPr id="34821" name="TextBox 17"/>
          <p:cNvSpPr txBox="1">
            <a:spLocks noChangeArrowheads="1"/>
          </p:cNvSpPr>
          <p:nvPr/>
        </p:nvSpPr>
        <p:spPr bwMode="auto">
          <a:xfrm>
            <a:off x="4038600" y="2514600"/>
            <a:ext cx="13716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6600" dirty="0"/>
              <a:t>=</a:t>
            </a:r>
          </a:p>
        </p:txBody>
      </p:sp>
      <p:sp>
        <p:nvSpPr>
          <p:cNvPr id="2" name="Slide Number Placeholder 1"/>
          <p:cNvSpPr>
            <a:spLocks noGrp="1"/>
          </p:cNvSpPr>
          <p:nvPr>
            <p:ph type="sldNum" sz="quarter" idx="12"/>
          </p:nvPr>
        </p:nvSpPr>
        <p:spPr/>
        <p:txBody>
          <a:bodyPr/>
          <a:lstStyle/>
          <a:p>
            <a:pPr>
              <a:defRPr/>
            </a:pPr>
            <a:fld id="{DE0518C9-3CC7-7448-AD05-3CB269384775}" type="slidenum">
              <a:rPr lang="en-US" smtClean="0"/>
              <a:pPr>
                <a:defRPr/>
              </a:pPr>
              <a:t>5</a:t>
            </a:fld>
            <a:endParaRPr lang="en-US" dirty="0"/>
          </a:p>
        </p:txBody>
      </p:sp>
    </p:spTree>
    <p:extLst>
      <p:ext uri="{BB962C8B-B14F-4D97-AF65-F5344CB8AC3E}">
        <p14:creationId xmlns:p14="http://schemas.microsoft.com/office/powerpoint/2010/main" val="687080623"/>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914400"/>
            <a:ext cx="5105400" cy="990600"/>
          </a:xfrm>
          <a:effectLst>
            <a:glow rad="228600">
              <a:schemeClr val="accent6">
                <a:satMod val="175000"/>
                <a:alpha val="40000"/>
              </a:schemeClr>
            </a:glow>
          </a:effectLst>
          <a:scene3d>
            <a:camera prst="isometricOffAxis1Right"/>
            <a:lightRig rig="threePt" dir="t"/>
          </a:scene3d>
        </p:spPr>
        <p:style>
          <a:lnRef idx="2">
            <a:schemeClr val="accent3">
              <a:shade val="50000"/>
            </a:schemeClr>
          </a:lnRef>
          <a:fillRef idx="1">
            <a:schemeClr val="accent3"/>
          </a:fillRef>
          <a:effectRef idx="0">
            <a:schemeClr val="accent3"/>
          </a:effectRef>
          <a:fontRef idx="minor">
            <a:schemeClr val="lt1"/>
          </a:fontRef>
        </p:style>
        <p:txBody>
          <a:bodyPr/>
          <a:lstStyle/>
          <a:p>
            <a:pPr algn="ctr"/>
            <a:r>
              <a:rPr lang="en-US" b="1" dirty="0" smtClean="0"/>
              <a:t>Unemployed</a:t>
            </a:r>
            <a:endParaRPr lang="en-US" b="1" dirty="0"/>
          </a:p>
        </p:txBody>
      </p:sp>
      <p:sp>
        <p:nvSpPr>
          <p:cNvPr id="4" name="Slide Number Placeholder 3"/>
          <p:cNvSpPr>
            <a:spLocks noGrp="1"/>
          </p:cNvSpPr>
          <p:nvPr>
            <p:ph type="sldNum" sz="quarter" idx="12"/>
          </p:nvPr>
        </p:nvSpPr>
        <p:spPr/>
        <p:txBody>
          <a:bodyPr/>
          <a:lstStyle/>
          <a:p>
            <a:pPr>
              <a:defRPr/>
            </a:pPr>
            <a:fld id="{CB41E0BA-DFE8-AC44-A799-3CFCF62077C1}" type="slidenum">
              <a:rPr lang="en-US" smtClean="0"/>
              <a:pPr>
                <a:defRPr/>
              </a:pPr>
              <a:t>6</a:t>
            </a:fld>
            <a:endParaRPr lang="en-US"/>
          </a:p>
        </p:txBody>
      </p:sp>
      <p:pic>
        <p:nvPicPr>
          <p:cNvPr id="3" name="Picture 2" descr="Play_home-but-not-less1.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895849" y="3638550"/>
            <a:ext cx="3914775" cy="2609850"/>
          </a:xfrm>
          <a:prstGeom prst="rect">
            <a:avLst/>
          </a:prstGeom>
        </p:spPr>
      </p:pic>
      <p:pic>
        <p:nvPicPr>
          <p:cNvPr id="5" name="Picture 4" descr="images.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600" y="2540000"/>
            <a:ext cx="3492500" cy="2324100"/>
          </a:xfrm>
          <a:prstGeom prst="rect">
            <a:avLst/>
          </a:prstGeom>
        </p:spPr>
      </p:pic>
    </p:spTree>
    <p:extLst>
      <p:ext uri="{BB962C8B-B14F-4D97-AF65-F5344CB8AC3E}">
        <p14:creationId xmlns:p14="http://schemas.microsoft.com/office/powerpoint/2010/main" val="2389257009"/>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685800"/>
            <a:ext cx="5257800" cy="5863145"/>
          </a:xfrm>
          <a:prstGeom prst="rect">
            <a:avLst/>
          </a:prstGeom>
          <a:effectLst>
            <a:glow rad="101600">
              <a:schemeClr val="accent4">
                <a:satMod val="175000"/>
                <a:alpha val="40000"/>
              </a:schemeClr>
            </a:glow>
            <a:outerShdw blurRad="40000" dist="20000" dir="5400000" rotWithShape="0">
              <a:srgbClr val="000000">
                <a:alpha val="38000"/>
              </a:srgbClr>
            </a:outerShdw>
          </a:effectLst>
          <a:scene3d>
            <a:camera prst="orthographicFront"/>
            <a:lightRig rig="threePt" dir="t"/>
          </a:scene3d>
          <a:sp3d>
            <a:bevelT w="139700" h="139700" prst="divot"/>
          </a:sp3d>
        </p:spPr>
        <p:style>
          <a:lnRef idx="3">
            <a:schemeClr val="lt1"/>
          </a:lnRef>
          <a:fillRef idx="1">
            <a:schemeClr val="accent4"/>
          </a:fillRef>
          <a:effectRef idx="1">
            <a:schemeClr val="accent4"/>
          </a:effectRef>
          <a:fontRef idx="minor">
            <a:schemeClr val="lt1"/>
          </a:fontRef>
        </p:style>
        <p:txBody>
          <a:bodyPr wrap="square">
            <a:spAutoFit/>
          </a:bodyPr>
          <a:lstStyle/>
          <a:p>
            <a:pPr algn="ctr">
              <a:lnSpc>
                <a:spcPct val="150000"/>
              </a:lnSpc>
              <a:defRPr/>
            </a:pPr>
            <a:r>
              <a:rPr lang="en-US" sz="3600" dirty="0"/>
              <a:t>Need</a:t>
            </a:r>
            <a:br>
              <a:rPr lang="en-US" sz="3600" dirty="0"/>
            </a:br>
            <a:r>
              <a:rPr lang="en-US" sz="3600" dirty="0"/>
              <a:t> </a:t>
            </a:r>
            <a:r>
              <a:rPr lang="en-US" sz="3600" b="1" i="1" dirty="0"/>
              <a:t>Special Places</a:t>
            </a:r>
            <a:br>
              <a:rPr lang="en-US" sz="3600" b="1" i="1" dirty="0"/>
            </a:br>
            <a:r>
              <a:rPr lang="en-US" sz="3600" dirty="0"/>
              <a:t>and</a:t>
            </a:r>
            <a:br>
              <a:rPr lang="en-US" sz="3600" dirty="0"/>
            </a:br>
            <a:r>
              <a:rPr lang="en-US" sz="3600" b="1" i="1" dirty="0"/>
              <a:t>Special </a:t>
            </a:r>
            <a:r>
              <a:rPr lang="en-US" sz="3600" b="1" i="1" dirty="0" smtClean="0"/>
              <a:t>Programs</a:t>
            </a:r>
          </a:p>
          <a:p>
            <a:pPr algn="ctr">
              <a:lnSpc>
                <a:spcPct val="150000"/>
              </a:lnSpc>
              <a:defRPr/>
            </a:pPr>
            <a:r>
              <a:rPr lang="en-US" sz="3600" b="1" i="1" dirty="0"/>
              <a:t>P</a:t>
            </a:r>
            <a:r>
              <a:rPr lang="en-US" sz="3600" b="1" i="1" dirty="0" smtClean="0"/>
              <a:t>aying Special Wages</a:t>
            </a:r>
          </a:p>
          <a:p>
            <a:pPr algn="ctr">
              <a:lnSpc>
                <a:spcPct val="150000"/>
              </a:lnSpc>
              <a:defRPr/>
            </a:pPr>
            <a:r>
              <a:rPr lang="en-US" sz="3600" dirty="0"/>
              <a:t>F</a:t>
            </a:r>
            <a:r>
              <a:rPr lang="en-US" sz="3600" dirty="0" smtClean="0"/>
              <a:t>or</a:t>
            </a:r>
            <a:endParaRPr lang="en-US" sz="3600" dirty="0"/>
          </a:p>
          <a:p>
            <a:pPr algn="ctr">
              <a:lnSpc>
                <a:spcPct val="150000"/>
              </a:lnSpc>
              <a:defRPr/>
            </a:pPr>
            <a:r>
              <a:rPr lang="en-US" sz="3600" b="1" i="1" dirty="0" smtClean="0"/>
              <a:t>Special People</a:t>
            </a:r>
          </a:p>
        </p:txBody>
      </p:sp>
      <p:sp>
        <p:nvSpPr>
          <p:cNvPr id="2" name="Slide Number Placeholder 1"/>
          <p:cNvSpPr>
            <a:spLocks noGrp="1"/>
          </p:cNvSpPr>
          <p:nvPr>
            <p:ph type="sldNum" sz="quarter" idx="12"/>
          </p:nvPr>
        </p:nvSpPr>
        <p:spPr/>
        <p:txBody>
          <a:bodyPr/>
          <a:lstStyle/>
          <a:p>
            <a:pPr>
              <a:defRPr/>
            </a:pPr>
            <a:fld id="{8EFE7809-DC62-174B-8786-5B0B6D551990}" type="slidenum">
              <a:rPr lang="en-US" smtClean="0"/>
              <a:pPr>
                <a:defRPr/>
              </a:pPr>
              <a:t>7</a:t>
            </a:fld>
            <a:endParaRPr lang="en-US"/>
          </a:p>
        </p:txBody>
      </p:sp>
    </p:spTree>
    <p:extLst>
      <p:ext uri="{BB962C8B-B14F-4D97-AF65-F5344CB8AC3E}">
        <p14:creationId xmlns:p14="http://schemas.microsoft.com/office/powerpoint/2010/main" val="215767504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sheltered+workshop+pic.JP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81000" y="609600"/>
            <a:ext cx="3414296"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descr="120109_CentralMOContracting_01__t_w600_h3000.jpg"/>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572000" y="609600"/>
            <a:ext cx="36576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8EFE7809-DC62-174B-8786-5B0B6D551990}" type="slidenum">
              <a:rPr lang="en-US" smtClean="0"/>
              <a:pPr>
                <a:defRPr/>
              </a:pPr>
              <a:t>8</a:t>
            </a:fld>
            <a:endParaRPr lang="en-US"/>
          </a:p>
        </p:txBody>
      </p:sp>
      <p:pic>
        <p:nvPicPr>
          <p:cNvPr id="5" name="Picture 4" descr="images.jpe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3429000"/>
            <a:ext cx="2831987" cy="2819400"/>
          </a:xfrm>
          <a:prstGeom prst="rect">
            <a:avLst/>
          </a:prstGeom>
        </p:spPr>
      </p:pic>
      <p:pic>
        <p:nvPicPr>
          <p:cNvPr id="6" name="Picture 6" descr="forsaken1_parkingLot1.jpg"/>
          <p:cNvPicPr>
            <a:picLocks noChangeAspect="1"/>
          </p:cNvPicPr>
          <p:nvPr/>
        </p:nvPicPr>
        <p:blipFill rotWithShape="1">
          <a:blip r:embed="rId5" cstate="email">
            <a:extLst>
              <a:ext uri="{28A0092B-C50C-407E-A947-70E740481C1C}">
                <a14:useLocalDpi xmlns:a14="http://schemas.microsoft.com/office/drawing/2010/main" val="0"/>
              </a:ext>
            </a:extLst>
          </a:blip>
          <a:srcRect l="21585" t="-1266" r="32507" b="1266"/>
          <a:stretch/>
        </p:blipFill>
        <p:spPr bwMode="auto">
          <a:xfrm>
            <a:off x="5499100" y="3429000"/>
            <a:ext cx="1937552" cy="288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474583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9" descr="images-1.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733800"/>
            <a:ext cx="4129548"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handy-crew.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130130" y="685800"/>
            <a:ext cx="3734428" cy="2819400"/>
          </a:xfrm>
          <a:prstGeom prst="rect">
            <a:avLst/>
          </a:prstGeom>
        </p:spPr>
      </p:pic>
      <p:sp>
        <p:nvSpPr>
          <p:cNvPr id="2" name="Slide Number Placeholder 1"/>
          <p:cNvSpPr>
            <a:spLocks noGrp="1"/>
          </p:cNvSpPr>
          <p:nvPr>
            <p:ph type="sldNum" sz="quarter" idx="12"/>
          </p:nvPr>
        </p:nvSpPr>
        <p:spPr/>
        <p:txBody>
          <a:bodyPr/>
          <a:lstStyle/>
          <a:p>
            <a:pPr>
              <a:defRPr/>
            </a:pPr>
            <a:fld id="{8EFE7809-DC62-174B-8786-5B0B6D551990}" type="slidenum">
              <a:rPr lang="en-US" smtClean="0"/>
              <a:pPr>
                <a:defRPr/>
              </a:pPr>
              <a:t>9</a:t>
            </a:fld>
            <a:endParaRPr lang="en-US"/>
          </a:p>
        </p:txBody>
      </p:sp>
    </p:spTree>
    <p:extLst>
      <p:ext uri="{BB962C8B-B14F-4D97-AF65-F5344CB8AC3E}">
        <p14:creationId xmlns:p14="http://schemas.microsoft.com/office/powerpoint/2010/main" val="4251461720"/>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838200"/>
            <a:ext cx="5410200" cy="990600"/>
          </a:xfrm>
          <a:effectLst>
            <a:glow rad="139700">
              <a:schemeClr val="accent3">
                <a:satMod val="175000"/>
                <a:alpha val="40000"/>
              </a:schemeClr>
            </a:glow>
          </a:effectLst>
          <a:scene3d>
            <a:camera prst="isometricOffAxis1Right"/>
            <a:lightRig rig="threePt" dir="t"/>
          </a:scene3d>
        </p:spPr>
        <p:style>
          <a:lnRef idx="2">
            <a:schemeClr val="accent3">
              <a:shade val="50000"/>
            </a:schemeClr>
          </a:lnRef>
          <a:fillRef idx="1">
            <a:schemeClr val="accent3"/>
          </a:fillRef>
          <a:effectRef idx="0">
            <a:schemeClr val="accent3"/>
          </a:effectRef>
          <a:fontRef idx="minor">
            <a:schemeClr val="lt1"/>
          </a:fontRef>
        </p:style>
        <p:txBody>
          <a:bodyPr>
            <a:normAutofit/>
          </a:bodyPr>
          <a:lstStyle/>
          <a:p>
            <a:pPr algn="ctr"/>
            <a:r>
              <a:rPr lang="en-US" b="1" dirty="0" smtClean="0"/>
              <a:t>What’s The Issue?</a:t>
            </a:r>
            <a:endParaRPr lang="en-US" b="1" dirty="0"/>
          </a:p>
        </p:txBody>
      </p:sp>
      <p:pic>
        <p:nvPicPr>
          <p:cNvPr id="3" name="Picture 2" descr="line_figure_questions_800_clr_9771.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743200" y="2209800"/>
            <a:ext cx="3473006" cy="4495800"/>
          </a:xfrm>
          <a:prstGeom prst="rect">
            <a:avLst/>
          </a:prstGeom>
        </p:spPr>
      </p:pic>
      <p:sp>
        <p:nvSpPr>
          <p:cNvPr id="4" name="Slide Number Placeholder 3"/>
          <p:cNvSpPr>
            <a:spLocks noGrp="1"/>
          </p:cNvSpPr>
          <p:nvPr>
            <p:ph type="sldNum" sz="quarter" idx="12"/>
          </p:nvPr>
        </p:nvSpPr>
        <p:spPr/>
        <p:txBody>
          <a:bodyPr/>
          <a:lstStyle/>
          <a:p>
            <a:pPr>
              <a:defRPr/>
            </a:pPr>
            <a:fld id="{CDBFC529-F0D0-3A4E-A87F-88B0D8920096}" type="slidenum">
              <a:rPr lang="en-US" smtClean="0"/>
              <a:pPr>
                <a:defRPr/>
              </a:pPr>
              <a:t>10</a:t>
            </a:fld>
            <a:endParaRPr lang="en-US"/>
          </a:p>
        </p:txBody>
      </p:sp>
    </p:spTree>
    <p:extLst>
      <p:ext uri="{BB962C8B-B14F-4D97-AF65-F5344CB8AC3E}">
        <p14:creationId xmlns:p14="http://schemas.microsoft.com/office/powerpoint/2010/main" val="124570530"/>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638300" y="1199960"/>
            <a:ext cx="5832288" cy="1239838"/>
          </a:xfrm>
          <a:prstGeom prst="rect">
            <a:avLst/>
          </a:prstGeom>
          <a:scene3d>
            <a:camera prst="orthographicFront"/>
            <a:lightRig rig="threePt" dir="t"/>
          </a:scene3d>
          <a:sp3d>
            <a:bevelT w="139700" h="139700" prst="divot"/>
          </a:sp3d>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sz="3600" b="1" dirty="0"/>
              <a:t>Medical-Functional Model</a:t>
            </a:r>
          </a:p>
        </p:txBody>
      </p:sp>
      <p:sp>
        <p:nvSpPr>
          <p:cNvPr id="7" name="Rectangle 6"/>
          <p:cNvSpPr/>
          <p:nvPr/>
        </p:nvSpPr>
        <p:spPr>
          <a:xfrm>
            <a:off x="1537674" y="1291650"/>
            <a:ext cx="6082326" cy="1066800"/>
          </a:xfrm>
          <a:prstGeom prst="rect">
            <a:avLst/>
          </a:prstGeom>
          <a:scene3d>
            <a:camera prst="orthographicFront">
              <a:rot lat="0" lon="0" rev="0"/>
            </a:camera>
            <a:lightRig rig="balanced" dir="t">
              <a:rot lat="0" lon="0" rev="5100000"/>
            </a:lightRig>
          </a:scene3d>
          <a:sp3d contourW="6350">
            <a:bevelT w="29210" h="12700" prst="divot"/>
            <a:contourClr>
              <a:schemeClr val="accent6">
                <a:shade val="30000"/>
                <a:satMod val="130000"/>
              </a:schemeClr>
            </a:contourClr>
          </a:sp3d>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3600" dirty="0" smtClean="0"/>
              <a:t>Social-Rights</a:t>
            </a:r>
            <a:r>
              <a:rPr lang="en-US" sz="3600" dirty="0"/>
              <a:t> </a:t>
            </a:r>
            <a:r>
              <a:rPr lang="en-US" sz="3600" dirty="0" smtClean="0"/>
              <a:t>Model</a:t>
            </a:r>
            <a:endParaRPr lang="en-US" sz="3600" dirty="0"/>
          </a:p>
        </p:txBody>
      </p:sp>
      <p:sp>
        <p:nvSpPr>
          <p:cNvPr id="9" name="TextBox 8"/>
          <p:cNvSpPr txBox="1">
            <a:spLocks noChangeArrowheads="1"/>
          </p:cNvSpPr>
          <p:nvPr/>
        </p:nvSpPr>
        <p:spPr bwMode="auto">
          <a:xfrm>
            <a:off x="898332" y="2844109"/>
            <a:ext cx="751190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Book Antiqua" charset="0"/>
                <a:ea typeface="ＭＳ Ｐゴシック" charset="0"/>
                <a:cs typeface="ＭＳ Ｐゴシック" charset="0"/>
              </a:defRPr>
            </a:lvl1pPr>
            <a:lvl2pPr marL="742950" indent="-285750">
              <a:defRPr sz="2400">
                <a:solidFill>
                  <a:schemeClr val="tx1"/>
                </a:solidFill>
                <a:latin typeface="Book Antiqua" charset="0"/>
                <a:ea typeface="ＭＳ Ｐゴシック" charset="0"/>
              </a:defRPr>
            </a:lvl2pPr>
            <a:lvl3pPr marL="1143000" indent="-228600">
              <a:defRPr sz="2400">
                <a:solidFill>
                  <a:schemeClr val="tx1"/>
                </a:solidFill>
                <a:latin typeface="Book Antiqua" charset="0"/>
                <a:ea typeface="ＭＳ Ｐゴシック" charset="0"/>
              </a:defRPr>
            </a:lvl3pPr>
            <a:lvl4pPr marL="1600200" indent="-228600">
              <a:defRPr sz="2400">
                <a:solidFill>
                  <a:schemeClr val="tx1"/>
                </a:solidFill>
                <a:latin typeface="Book Antiqua" charset="0"/>
                <a:ea typeface="ＭＳ Ｐゴシック" charset="0"/>
              </a:defRPr>
            </a:lvl4pPr>
            <a:lvl5pPr marL="2057400" indent="-228600">
              <a:defRPr sz="2400">
                <a:solidFill>
                  <a:schemeClr val="tx1"/>
                </a:solidFill>
                <a:latin typeface="Book Antiqua" charset="0"/>
                <a:ea typeface="ＭＳ Ｐゴシック" charset="0"/>
              </a:defRPr>
            </a:lvl5pPr>
            <a:lvl6pPr marL="2514600" indent="-228600" eaLnBrk="0" fontAlgn="base" hangingPunct="0">
              <a:spcBef>
                <a:spcPct val="0"/>
              </a:spcBef>
              <a:spcAft>
                <a:spcPct val="0"/>
              </a:spcAft>
              <a:defRPr sz="2400">
                <a:solidFill>
                  <a:schemeClr val="tx1"/>
                </a:solidFill>
                <a:latin typeface="Book Antiqua" charset="0"/>
                <a:ea typeface="ＭＳ Ｐゴシック" charset="0"/>
              </a:defRPr>
            </a:lvl6pPr>
            <a:lvl7pPr marL="2971800" indent="-228600" eaLnBrk="0" fontAlgn="base" hangingPunct="0">
              <a:spcBef>
                <a:spcPct val="0"/>
              </a:spcBef>
              <a:spcAft>
                <a:spcPct val="0"/>
              </a:spcAft>
              <a:defRPr sz="2400">
                <a:solidFill>
                  <a:schemeClr val="tx1"/>
                </a:solidFill>
                <a:latin typeface="Book Antiqua" charset="0"/>
                <a:ea typeface="ＭＳ Ｐゴシック" charset="0"/>
              </a:defRPr>
            </a:lvl7pPr>
            <a:lvl8pPr marL="3429000" indent="-228600" eaLnBrk="0" fontAlgn="base" hangingPunct="0">
              <a:spcBef>
                <a:spcPct val="0"/>
              </a:spcBef>
              <a:spcAft>
                <a:spcPct val="0"/>
              </a:spcAft>
              <a:defRPr sz="2400">
                <a:solidFill>
                  <a:schemeClr val="tx1"/>
                </a:solidFill>
                <a:latin typeface="Book Antiqua" charset="0"/>
                <a:ea typeface="ＭＳ Ｐゴシック" charset="0"/>
              </a:defRPr>
            </a:lvl8pPr>
            <a:lvl9pPr marL="3886200" indent="-228600" eaLnBrk="0" fontAlgn="base" hangingPunct="0">
              <a:spcBef>
                <a:spcPct val="0"/>
              </a:spcBef>
              <a:spcAft>
                <a:spcPct val="0"/>
              </a:spcAft>
              <a:defRPr sz="2400">
                <a:solidFill>
                  <a:schemeClr val="tx1"/>
                </a:solidFill>
                <a:latin typeface="Book Antiqua" charset="0"/>
                <a:ea typeface="ＭＳ Ｐゴシック" charset="0"/>
              </a:defRPr>
            </a:lvl9pPr>
          </a:lstStyle>
          <a:p>
            <a:pPr marL="571500" indent="-571500">
              <a:buFont typeface="Arial"/>
              <a:buChar char="•"/>
            </a:pPr>
            <a:r>
              <a:rPr lang="en-US" sz="3600" b="1" dirty="0">
                <a:solidFill>
                  <a:srgbClr val="A2810C"/>
                </a:solidFill>
                <a:latin typeface="Arial Narrow" charset="0"/>
                <a:cs typeface="Arial Narrow" charset="0"/>
              </a:rPr>
              <a:t>Disability is to be treated and cured by </a:t>
            </a:r>
            <a:r>
              <a:rPr lang="en-US" sz="3600" b="1" dirty="0" smtClean="0">
                <a:solidFill>
                  <a:srgbClr val="A2810C"/>
                </a:solidFill>
                <a:latin typeface="Arial Narrow" charset="0"/>
                <a:cs typeface="Arial Narrow" charset="0"/>
              </a:rPr>
              <a:t>professionals.</a:t>
            </a:r>
            <a:br>
              <a:rPr lang="en-US" sz="3600" b="1" dirty="0" smtClean="0">
                <a:solidFill>
                  <a:srgbClr val="A2810C"/>
                </a:solidFill>
                <a:latin typeface="Arial Narrow" charset="0"/>
                <a:cs typeface="Arial Narrow" charset="0"/>
              </a:rPr>
            </a:br>
            <a:endParaRPr lang="en-US" sz="3600" b="1" dirty="0" smtClean="0">
              <a:solidFill>
                <a:srgbClr val="A2810C"/>
              </a:solidFill>
              <a:latin typeface="Arial Narrow" charset="0"/>
              <a:cs typeface="Arial Narrow" charset="0"/>
            </a:endParaRPr>
          </a:p>
          <a:p>
            <a:pPr marL="571500" indent="-571500">
              <a:buFont typeface="Arial"/>
              <a:buChar char="•"/>
            </a:pPr>
            <a:r>
              <a:rPr lang="en-US" sz="3600" b="1" dirty="0" smtClean="0">
                <a:solidFill>
                  <a:srgbClr val="A2810C"/>
                </a:solidFill>
                <a:latin typeface="Arial Narrow" charset="0"/>
                <a:cs typeface="Arial Narrow" charset="0"/>
              </a:rPr>
              <a:t>Impact </a:t>
            </a:r>
            <a:r>
              <a:rPr lang="en-US" sz="3600" b="1" dirty="0">
                <a:solidFill>
                  <a:srgbClr val="A2810C"/>
                </a:solidFill>
                <a:latin typeface="Arial Narrow" charset="0"/>
                <a:cs typeface="Arial Narrow" charset="0"/>
              </a:rPr>
              <a:t>of disability limits impact to fully participate in society.</a:t>
            </a:r>
            <a:endParaRPr lang="en-US" sz="3600" b="1" dirty="0">
              <a:solidFill>
                <a:srgbClr val="A2810C"/>
              </a:solidFill>
            </a:endParaRPr>
          </a:p>
        </p:txBody>
      </p:sp>
      <p:sp>
        <p:nvSpPr>
          <p:cNvPr id="10" name="TextBox 9"/>
          <p:cNvSpPr txBox="1"/>
          <p:nvPr/>
        </p:nvSpPr>
        <p:spPr>
          <a:xfrm>
            <a:off x="1309220" y="5258176"/>
            <a:ext cx="7246471" cy="1384995"/>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0" lvl="1" algn="ctr">
              <a:defRPr/>
            </a:pPr>
            <a:r>
              <a:rPr lang="en-US" sz="2800" b="1" dirty="0">
                <a:latin typeface="Times New Roman"/>
                <a:cs typeface="Times New Roman"/>
              </a:rPr>
              <a:t>Elizabethan Poor Laws (1601)</a:t>
            </a:r>
            <a:r>
              <a:rPr lang="en-US" sz="2800" b="1" dirty="0" smtClean="0">
                <a:latin typeface="Times New Roman"/>
                <a:cs typeface="Times New Roman"/>
              </a:rPr>
              <a:t>:</a:t>
            </a:r>
            <a:br>
              <a:rPr lang="en-US" sz="2800" b="1" dirty="0" smtClean="0">
                <a:latin typeface="Times New Roman"/>
                <a:cs typeface="Times New Roman"/>
              </a:rPr>
            </a:br>
            <a:r>
              <a:rPr lang="en-US" sz="2800" dirty="0" smtClean="0">
                <a:latin typeface="Times New Roman"/>
                <a:cs typeface="Times New Roman"/>
              </a:rPr>
              <a:t>disabled </a:t>
            </a:r>
            <a:r>
              <a:rPr lang="en-US" sz="2800" dirty="0">
                <a:latin typeface="Times New Roman"/>
                <a:cs typeface="Times New Roman"/>
              </a:rPr>
              <a:t>or “crippled” people are helpless poor entitled to money and </a:t>
            </a:r>
            <a:r>
              <a:rPr lang="en-US" sz="2800" dirty="0" smtClean="0">
                <a:latin typeface="Times New Roman"/>
                <a:cs typeface="Times New Roman"/>
              </a:rPr>
              <a:t>food from </a:t>
            </a:r>
            <a:r>
              <a:rPr lang="en-US" sz="2800" dirty="0">
                <a:latin typeface="Times New Roman"/>
                <a:cs typeface="Times New Roman"/>
              </a:rPr>
              <a:t>society</a:t>
            </a:r>
          </a:p>
        </p:txBody>
      </p:sp>
      <p:sp>
        <p:nvSpPr>
          <p:cNvPr id="12" name="Title 1"/>
          <p:cNvSpPr>
            <a:spLocks noGrp="1"/>
          </p:cNvSpPr>
          <p:nvPr>
            <p:ph type="title"/>
          </p:nvPr>
        </p:nvSpPr>
        <p:spPr>
          <a:xfrm>
            <a:off x="1537674" y="3048913"/>
            <a:ext cx="6717942" cy="838200"/>
          </a:xfrm>
          <a:ln w="57150" cmpd="thickThin">
            <a:noFill/>
          </a:ln>
          <a:scene3d>
            <a:camera prst="isometricOffAxis1Right"/>
            <a:lightRig rig="threePt" dir="t"/>
          </a:scene3d>
        </p:spPr>
        <p:txBody>
          <a:bodyPr>
            <a:noAutofit/>
          </a:bodyPr>
          <a:lstStyle/>
          <a:p>
            <a:pPr algn="ctr" eaLnBrk="1" fontAlgn="auto" hangingPunct="1">
              <a:spcAft>
                <a:spcPts val="0"/>
              </a:spcAft>
              <a:defRPr/>
            </a:pPr>
            <a:r>
              <a:rPr lang="en-US" sz="6000" b="1" dirty="0" smtClean="0">
                <a:effectLst>
                  <a:reflection blurRad="6350" stA="55000" endA="300" endPos="45500" dir="5400000" sy="-100000" algn="bl" rotWithShape="0"/>
                </a:effectLst>
                <a:ea typeface="+mj-ea"/>
                <a:cs typeface="+mj-cs"/>
              </a:rPr>
              <a:t>Evolution of</a:t>
            </a:r>
            <a:br>
              <a:rPr lang="en-US" sz="6000" b="1" dirty="0" smtClean="0">
                <a:effectLst>
                  <a:reflection blurRad="6350" stA="55000" endA="300" endPos="45500" dir="5400000" sy="-100000" algn="bl" rotWithShape="0"/>
                </a:effectLst>
                <a:ea typeface="+mj-ea"/>
                <a:cs typeface="+mj-cs"/>
              </a:rPr>
            </a:br>
            <a:r>
              <a:rPr lang="en-US" sz="6000" b="1" dirty="0" smtClean="0">
                <a:effectLst>
                  <a:reflection blurRad="6350" stA="55000" endA="300" endPos="45500" dir="5400000" sy="-100000" algn="bl" rotWithShape="0"/>
                </a:effectLst>
                <a:ea typeface="+mj-ea"/>
                <a:cs typeface="+mj-cs"/>
              </a:rPr>
              <a:t/>
            </a:r>
            <a:br>
              <a:rPr lang="en-US" sz="6000" b="1" dirty="0" smtClean="0">
                <a:effectLst>
                  <a:reflection blurRad="6350" stA="55000" endA="300" endPos="45500" dir="5400000" sy="-100000" algn="bl" rotWithShape="0"/>
                </a:effectLst>
                <a:ea typeface="+mj-ea"/>
                <a:cs typeface="+mj-cs"/>
              </a:rPr>
            </a:br>
            <a:r>
              <a:rPr lang="en-US" sz="6000" b="1" dirty="0" smtClean="0">
                <a:effectLst>
                  <a:reflection blurRad="6350" stA="55000" endA="300" endPos="45500" dir="5400000" sy="-100000" algn="bl" rotWithShape="0"/>
                </a:effectLst>
                <a:ea typeface="+mj-ea"/>
                <a:cs typeface="+mj-cs"/>
              </a:rPr>
              <a:t>Disability Models</a:t>
            </a:r>
            <a:endParaRPr lang="en-US" sz="6000" b="1" dirty="0">
              <a:effectLst>
                <a:reflection blurRad="6350" stA="55000" endA="300" endPos="45500" dir="5400000" sy="-100000" algn="bl" rotWithShape="0"/>
              </a:effectLst>
              <a:ea typeface="+mj-ea"/>
              <a:cs typeface="+mj-cs"/>
            </a:endParaRPr>
          </a:p>
        </p:txBody>
      </p:sp>
      <p:sp>
        <p:nvSpPr>
          <p:cNvPr id="14" name="TextBox 13"/>
          <p:cNvSpPr txBox="1">
            <a:spLocks noChangeArrowheads="1"/>
          </p:cNvSpPr>
          <p:nvPr/>
        </p:nvSpPr>
        <p:spPr bwMode="auto">
          <a:xfrm>
            <a:off x="725733" y="2578336"/>
            <a:ext cx="8023021"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90488" indent="-90488">
              <a:defRPr sz="2400">
                <a:solidFill>
                  <a:schemeClr val="tx1"/>
                </a:solidFill>
                <a:latin typeface="Book Antiqua" charset="0"/>
                <a:ea typeface="ＭＳ Ｐゴシック" charset="0"/>
                <a:cs typeface="ＭＳ Ｐゴシック" charset="0"/>
              </a:defRPr>
            </a:lvl1pPr>
            <a:lvl2pPr marL="742950" indent="-285750">
              <a:defRPr sz="2400">
                <a:solidFill>
                  <a:schemeClr val="tx1"/>
                </a:solidFill>
                <a:latin typeface="Book Antiqua" charset="0"/>
                <a:ea typeface="ＭＳ Ｐゴシック" charset="0"/>
              </a:defRPr>
            </a:lvl2pPr>
            <a:lvl3pPr marL="1143000" indent="-228600">
              <a:defRPr sz="2400">
                <a:solidFill>
                  <a:schemeClr val="tx1"/>
                </a:solidFill>
                <a:latin typeface="Book Antiqua" charset="0"/>
                <a:ea typeface="ＭＳ Ｐゴシック" charset="0"/>
              </a:defRPr>
            </a:lvl3pPr>
            <a:lvl4pPr marL="1600200" indent="-228600">
              <a:defRPr sz="2400">
                <a:solidFill>
                  <a:schemeClr val="tx1"/>
                </a:solidFill>
                <a:latin typeface="Book Antiqua" charset="0"/>
                <a:ea typeface="ＭＳ Ｐゴシック" charset="0"/>
              </a:defRPr>
            </a:lvl4pPr>
            <a:lvl5pPr marL="2057400" indent="-228600">
              <a:defRPr sz="2400">
                <a:solidFill>
                  <a:schemeClr val="tx1"/>
                </a:solidFill>
                <a:latin typeface="Book Antiqua" charset="0"/>
                <a:ea typeface="ＭＳ Ｐゴシック" charset="0"/>
              </a:defRPr>
            </a:lvl5pPr>
            <a:lvl6pPr marL="2514600" indent="-228600" eaLnBrk="0" fontAlgn="base" hangingPunct="0">
              <a:spcBef>
                <a:spcPct val="0"/>
              </a:spcBef>
              <a:spcAft>
                <a:spcPct val="0"/>
              </a:spcAft>
              <a:defRPr sz="2400">
                <a:solidFill>
                  <a:schemeClr val="tx1"/>
                </a:solidFill>
                <a:latin typeface="Book Antiqua" charset="0"/>
                <a:ea typeface="ＭＳ Ｐゴシック" charset="0"/>
              </a:defRPr>
            </a:lvl6pPr>
            <a:lvl7pPr marL="2971800" indent="-228600" eaLnBrk="0" fontAlgn="base" hangingPunct="0">
              <a:spcBef>
                <a:spcPct val="0"/>
              </a:spcBef>
              <a:spcAft>
                <a:spcPct val="0"/>
              </a:spcAft>
              <a:defRPr sz="2400">
                <a:solidFill>
                  <a:schemeClr val="tx1"/>
                </a:solidFill>
                <a:latin typeface="Book Antiqua" charset="0"/>
                <a:ea typeface="ＭＳ Ｐゴシック" charset="0"/>
              </a:defRPr>
            </a:lvl7pPr>
            <a:lvl8pPr marL="3429000" indent="-228600" eaLnBrk="0" fontAlgn="base" hangingPunct="0">
              <a:spcBef>
                <a:spcPct val="0"/>
              </a:spcBef>
              <a:spcAft>
                <a:spcPct val="0"/>
              </a:spcAft>
              <a:defRPr sz="2400">
                <a:solidFill>
                  <a:schemeClr val="tx1"/>
                </a:solidFill>
                <a:latin typeface="Book Antiqua" charset="0"/>
                <a:ea typeface="ＭＳ Ｐゴシック" charset="0"/>
              </a:defRPr>
            </a:lvl8pPr>
            <a:lvl9pPr marL="3886200" indent="-228600" eaLnBrk="0" fontAlgn="base" hangingPunct="0">
              <a:spcBef>
                <a:spcPct val="0"/>
              </a:spcBef>
              <a:spcAft>
                <a:spcPct val="0"/>
              </a:spcAft>
              <a:defRPr sz="2400">
                <a:solidFill>
                  <a:schemeClr val="tx1"/>
                </a:solidFill>
                <a:latin typeface="Book Antiqua" charset="0"/>
                <a:ea typeface="ＭＳ Ｐゴシック" charset="0"/>
              </a:defRPr>
            </a:lvl9pPr>
          </a:lstStyle>
          <a:p>
            <a:pPr>
              <a:buFont typeface="Arial" charset="0"/>
              <a:buChar char="•"/>
              <a:defRPr/>
            </a:pPr>
            <a:r>
              <a:rPr lang="en-US" sz="3600" b="1" dirty="0" smtClean="0">
                <a:solidFill>
                  <a:schemeClr val="accent6"/>
                </a:solidFill>
                <a:latin typeface="Arial Narrow" charset="0"/>
                <a:cs typeface="Arial Narrow" charset="0"/>
              </a:rPr>
              <a:t>Disability is component of diverse tapestry of society</a:t>
            </a:r>
            <a:br>
              <a:rPr lang="en-US" sz="3600" b="1" dirty="0" smtClean="0">
                <a:solidFill>
                  <a:schemeClr val="accent6"/>
                </a:solidFill>
                <a:latin typeface="Arial Narrow" charset="0"/>
                <a:cs typeface="Arial Narrow" charset="0"/>
              </a:rPr>
            </a:br>
            <a:endParaRPr lang="en-US" sz="3600" b="1" dirty="0" smtClean="0">
              <a:solidFill>
                <a:schemeClr val="accent6"/>
              </a:solidFill>
              <a:latin typeface="Arial Narrow" charset="0"/>
              <a:cs typeface="Arial Narrow" charset="0"/>
            </a:endParaRPr>
          </a:p>
          <a:p>
            <a:pPr>
              <a:buFont typeface="Arial" charset="0"/>
              <a:buChar char="•"/>
              <a:defRPr/>
            </a:pPr>
            <a:r>
              <a:rPr lang="en-US" sz="3600" b="1" dirty="0" smtClean="0">
                <a:solidFill>
                  <a:schemeClr val="accent6"/>
                </a:solidFill>
                <a:latin typeface="Arial Narrow" charset="0"/>
                <a:cs typeface="Arial Narrow" charset="0"/>
              </a:rPr>
              <a:t>Challenges faced by people with disabilities arise primarily from social and societal forces rather than individual pathology </a:t>
            </a:r>
          </a:p>
        </p:txBody>
      </p:sp>
      <p:sp>
        <p:nvSpPr>
          <p:cNvPr id="16405" name="Slide Number Placeholder 2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Book Antiqua" charset="0"/>
                <a:ea typeface="ＭＳ Ｐゴシック" charset="0"/>
                <a:cs typeface="ＭＳ Ｐゴシック" charset="0"/>
              </a:defRPr>
            </a:lvl1pPr>
            <a:lvl2pPr marL="742950" indent="-285750">
              <a:defRPr sz="2400">
                <a:solidFill>
                  <a:schemeClr val="tx1"/>
                </a:solidFill>
                <a:latin typeface="Book Antiqua" charset="0"/>
                <a:ea typeface="ＭＳ Ｐゴシック" charset="0"/>
              </a:defRPr>
            </a:lvl2pPr>
            <a:lvl3pPr marL="1143000" indent="-228600">
              <a:defRPr sz="2400">
                <a:solidFill>
                  <a:schemeClr val="tx1"/>
                </a:solidFill>
                <a:latin typeface="Book Antiqua" charset="0"/>
                <a:ea typeface="ＭＳ Ｐゴシック" charset="0"/>
              </a:defRPr>
            </a:lvl3pPr>
            <a:lvl4pPr marL="1600200" indent="-228600">
              <a:defRPr sz="2400">
                <a:solidFill>
                  <a:schemeClr val="tx1"/>
                </a:solidFill>
                <a:latin typeface="Book Antiqua" charset="0"/>
                <a:ea typeface="ＭＳ Ｐゴシック" charset="0"/>
              </a:defRPr>
            </a:lvl4pPr>
            <a:lvl5pPr marL="2057400" indent="-228600">
              <a:defRPr sz="2400">
                <a:solidFill>
                  <a:schemeClr val="tx1"/>
                </a:solidFill>
                <a:latin typeface="Book Antiqua" charset="0"/>
                <a:ea typeface="ＭＳ Ｐゴシック" charset="0"/>
              </a:defRPr>
            </a:lvl5pPr>
            <a:lvl6pPr marL="2514600" indent="-228600" eaLnBrk="0" fontAlgn="base" hangingPunct="0">
              <a:spcBef>
                <a:spcPct val="0"/>
              </a:spcBef>
              <a:spcAft>
                <a:spcPct val="0"/>
              </a:spcAft>
              <a:defRPr sz="2400">
                <a:solidFill>
                  <a:schemeClr val="tx1"/>
                </a:solidFill>
                <a:latin typeface="Book Antiqua" charset="0"/>
                <a:ea typeface="ＭＳ Ｐゴシック" charset="0"/>
              </a:defRPr>
            </a:lvl6pPr>
            <a:lvl7pPr marL="2971800" indent="-228600" eaLnBrk="0" fontAlgn="base" hangingPunct="0">
              <a:spcBef>
                <a:spcPct val="0"/>
              </a:spcBef>
              <a:spcAft>
                <a:spcPct val="0"/>
              </a:spcAft>
              <a:defRPr sz="2400">
                <a:solidFill>
                  <a:schemeClr val="tx1"/>
                </a:solidFill>
                <a:latin typeface="Book Antiqua" charset="0"/>
                <a:ea typeface="ＭＳ Ｐゴシック" charset="0"/>
              </a:defRPr>
            </a:lvl7pPr>
            <a:lvl8pPr marL="3429000" indent="-228600" eaLnBrk="0" fontAlgn="base" hangingPunct="0">
              <a:spcBef>
                <a:spcPct val="0"/>
              </a:spcBef>
              <a:spcAft>
                <a:spcPct val="0"/>
              </a:spcAft>
              <a:defRPr sz="2400">
                <a:solidFill>
                  <a:schemeClr val="tx1"/>
                </a:solidFill>
                <a:latin typeface="Book Antiqua" charset="0"/>
                <a:ea typeface="ＭＳ Ｐゴシック" charset="0"/>
              </a:defRPr>
            </a:lvl8pPr>
            <a:lvl9pPr marL="3886200" indent="-228600" eaLnBrk="0" fontAlgn="base" hangingPunct="0">
              <a:spcBef>
                <a:spcPct val="0"/>
              </a:spcBef>
              <a:spcAft>
                <a:spcPct val="0"/>
              </a:spcAft>
              <a:defRPr sz="2400">
                <a:solidFill>
                  <a:schemeClr val="tx1"/>
                </a:solidFill>
                <a:latin typeface="Book Antiqua" charset="0"/>
                <a:ea typeface="ＭＳ Ｐゴシック" charset="0"/>
              </a:defRPr>
            </a:lvl9pPr>
          </a:lstStyle>
          <a:p>
            <a:fld id="{4E539F56-568D-C64A-94BB-1DC390918346}" type="slidenum">
              <a:rPr lang="en-US" sz="1400">
                <a:solidFill>
                  <a:srgbClr val="FFFFFF"/>
                </a:solidFill>
              </a:rPr>
              <a:pPr/>
              <a:t>11</a:t>
            </a:fld>
            <a:endParaRPr lang="en-US" sz="1400">
              <a:solidFill>
                <a:srgbClr val="FFFFFF"/>
              </a:solidFill>
            </a:endParaRPr>
          </a:p>
        </p:txBody>
      </p:sp>
      <p:sp>
        <p:nvSpPr>
          <p:cNvPr id="16" name="Rectangle 15"/>
          <p:cNvSpPr/>
          <p:nvPr/>
        </p:nvSpPr>
        <p:spPr>
          <a:xfrm>
            <a:off x="1632832" y="1168980"/>
            <a:ext cx="5832288" cy="1143000"/>
          </a:xfrm>
          <a:prstGeom prst="rect">
            <a:avLst/>
          </a:prstGeom>
          <a:scene3d>
            <a:camera prst="orthographicFront"/>
            <a:lightRig rig="threePt" dir="t"/>
          </a:scene3d>
          <a:sp3d>
            <a:bevelT w="139700" h="139700" prst="divot"/>
          </a:sp3d>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sz="3600" b="1" dirty="0"/>
              <a:t>Tragedy-Charity Model</a:t>
            </a:r>
          </a:p>
        </p:txBody>
      </p:sp>
      <p:sp>
        <p:nvSpPr>
          <p:cNvPr id="19" name="TextBox 18"/>
          <p:cNvSpPr txBox="1">
            <a:spLocks noChangeArrowheads="1"/>
          </p:cNvSpPr>
          <p:nvPr/>
        </p:nvSpPr>
        <p:spPr bwMode="auto">
          <a:xfrm>
            <a:off x="1537674" y="3076450"/>
            <a:ext cx="6385609" cy="1754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Book Antiqua" charset="0"/>
                <a:ea typeface="ＭＳ Ｐゴシック" charset="0"/>
                <a:cs typeface="ＭＳ Ｐゴシック" charset="0"/>
              </a:defRPr>
            </a:lvl1pPr>
            <a:lvl2pPr marL="742950" indent="-285750">
              <a:defRPr sz="2400">
                <a:solidFill>
                  <a:schemeClr val="tx1"/>
                </a:solidFill>
                <a:latin typeface="Book Antiqua" charset="0"/>
                <a:ea typeface="ＭＳ Ｐゴシック" charset="0"/>
              </a:defRPr>
            </a:lvl2pPr>
            <a:lvl3pPr marL="1143000" indent="-228600">
              <a:defRPr sz="2400">
                <a:solidFill>
                  <a:schemeClr val="tx1"/>
                </a:solidFill>
                <a:latin typeface="Book Antiqua" charset="0"/>
                <a:ea typeface="ＭＳ Ｐゴシック" charset="0"/>
              </a:defRPr>
            </a:lvl3pPr>
            <a:lvl4pPr marL="1600200" indent="-228600">
              <a:defRPr sz="2400">
                <a:solidFill>
                  <a:schemeClr val="tx1"/>
                </a:solidFill>
                <a:latin typeface="Book Antiqua" charset="0"/>
                <a:ea typeface="ＭＳ Ｐゴシック" charset="0"/>
              </a:defRPr>
            </a:lvl4pPr>
            <a:lvl5pPr marL="2057400" indent="-228600">
              <a:defRPr sz="2400">
                <a:solidFill>
                  <a:schemeClr val="tx1"/>
                </a:solidFill>
                <a:latin typeface="Book Antiqua" charset="0"/>
                <a:ea typeface="ＭＳ Ｐゴシック" charset="0"/>
              </a:defRPr>
            </a:lvl5pPr>
            <a:lvl6pPr marL="2514600" indent="-228600" eaLnBrk="0" fontAlgn="base" hangingPunct="0">
              <a:spcBef>
                <a:spcPct val="0"/>
              </a:spcBef>
              <a:spcAft>
                <a:spcPct val="0"/>
              </a:spcAft>
              <a:defRPr sz="2400">
                <a:solidFill>
                  <a:schemeClr val="tx1"/>
                </a:solidFill>
                <a:latin typeface="Book Antiqua" charset="0"/>
                <a:ea typeface="ＭＳ Ｐゴシック" charset="0"/>
              </a:defRPr>
            </a:lvl6pPr>
            <a:lvl7pPr marL="2971800" indent="-228600" eaLnBrk="0" fontAlgn="base" hangingPunct="0">
              <a:spcBef>
                <a:spcPct val="0"/>
              </a:spcBef>
              <a:spcAft>
                <a:spcPct val="0"/>
              </a:spcAft>
              <a:defRPr sz="2400">
                <a:solidFill>
                  <a:schemeClr val="tx1"/>
                </a:solidFill>
                <a:latin typeface="Book Antiqua" charset="0"/>
                <a:ea typeface="ＭＳ Ｐゴシック" charset="0"/>
              </a:defRPr>
            </a:lvl7pPr>
            <a:lvl8pPr marL="3429000" indent="-228600" eaLnBrk="0" fontAlgn="base" hangingPunct="0">
              <a:spcBef>
                <a:spcPct val="0"/>
              </a:spcBef>
              <a:spcAft>
                <a:spcPct val="0"/>
              </a:spcAft>
              <a:defRPr sz="2400">
                <a:solidFill>
                  <a:schemeClr val="tx1"/>
                </a:solidFill>
                <a:latin typeface="Book Antiqua" charset="0"/>
                <a:ea typeface="ＭＳ Ｐゴシック" charset="0"/>
              </a:defRPr>
            </a:lvl8pPr>
            <a:lvl9pPr marL="3886200" indent="-228600" eaLnBrk="0" fontAlgn="base" hangingPunct="0">
              <a:spcBef>
                <a:spcPct val="0"/>
              </a:spcBef>
              <a:spcAft>
                <a:spcPct val="0"/>
              </a:spcAft>
              <a:defRPr sz="2400">
                <a:solidFill>
                  <a:schemeClr val="tx1"/>
                </a:solidFill>
                <a:latin typeface="Book Antiqua" charset="0"/>
                <a:ea typeface="ＭＳ Ｐゴシック" charset="0"/>
              </a:defRPr>
            </a:lvl9pPr>
          </a:lstStyle>
          <a:p>
            <a:pPr algn="ctr">
              <a:defRPr/>
            </a:pPr>
            <a:r>
              <a:rPr lang="en-US" sz="3600" b="1" dirty="0" smtClean="0">
                <a:solidFill>
                  <a:schemeClr val="accent4"/>
                </a:solidFill>
                <a:latin typeface="Arial Narrow" charset="0"/>
                <a:cs typeface="Arial Narrow" charset="0"/>
              </a:rPr>
              <a:t>Disability:</a:t>
            </a:r>
            <a:r>
              <a:rPr lang="en-US" sz="3600" b="1" dirty="0">
                <a:solidFill>
                  <a:schemeClr val="accent4"/>
                </a:solidFill>
                <a:latin typeface="Arial Narrow" charset="0"/>
                <a:cs typeface="Arial Narrow" charset="0"/>
              </a:rPr>
              <a:t/>
            </a:r>
            <a:br>
              <a:rPr lang="en-US" sz="3600" b="1" dirty="0">
                <a:solidFill>
                  <a:schemeClr val="accent4"/>
                </a:solidFill>
                <a:latin typeface="Arial Narrow" charset="0"/>
                <a:cs typeface="Arial Narrow" charset="0"/>
              </a:rPr>
            </a:br>
            <a:r>
              <a:rPr lang="en-US" sz="3600" b="1" dirty="0" smtClean="0">
                <a:solidFill>
                  <a:schemeClr val="accent4"/>
                </a:solidFill>
                <a:latin typeface="Arial Narrow" charset="0"/>
                <a:cs typeface="Arial Narrow" charset="0"/>
              </a:rPr>
              <a:t>victim of circumstance, deserving of pity and charity</a:t>
            </a:r>
            <a:endParaRPr lang="en-US" sz="3600" b="1" dirty="0" smtClean="0">
              <a:solidFill>
                <a:schemeClr val="accent4"/>
              </a:solidFill>
            </a:endParaRPr>
          </a:p>
        </p:txBody>
      </p:sp>
      <p:pic>
        <p:nvPicPr>
          <p:cNvPr id="13" name="Picture 4" descr="portrait_queen_elizabeth_1533__h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0698" y="5265024"/>
            <a:ext cx="943236" cy="1274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3126023"/>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9"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dissolv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xit" presetSubtype="0" fill="hold" grpId="1" nodeType="clickEffect">
                                  <p:stCondLst>
                                    <p:cond delay="0"/>
                                  </p:stCondLst>
                                  <p:childTnLst>
                                    <p:animEffect transition="out" filter="dissolve">
                                      <p:cBhvr>
                                        <p:cTn id="19" dur="500"/>
                                        <p:tgtEl>
                                          <p:spTgt spid="16"/>
                                        </p:tgtEl>
                                      </p:cBhvr>
                                    </p:animEffect>
                                    <p:set>
                                      <p:cBhvr>
                                        <p:cTn id="20" dur="1" fill="hold">
                                          <p:stCondLst>
                                            <p:cond delay="499"/>
                                          </p:stCondLst>
                                        </p:cTn>
                                        <p:tgtEl>
                                          <p:spTgt spid="16"/>
                                        </p:tgtEl>
                                        <p:attrNameLst>
                                          <p:attrName>style.visibility</p:attrName>
                                        </p:attrNameLst>
                                      </p:cBhvr>
                                      <p:to>
                                        <p:strVal val="hidden"/>
                                      </p:to>
                                    </p:set>
                                  </p:childTnLst>
                                </p:cTn>
                              </p:par>
                              <p:par>
                                <p:cTn id="21" presetID="9" presetClass="exit" presetSubtype="0" fill="hold" grpId="1" nodeType="withEffect">
                                  <p:stCondLst>
                                    <p:cond delay="0"/>
                                  </p:stCondLst>
                                  <p:childTnLst>
                                    <p:animEffect transition="out" filter="dissolve">
                                      <p:cBhvr>
                                        <p:cTn id="22" dur="500"/>
                                        <p:tgtEl>
                                          <p:spTgt spid="19"/>
                                        </p:tgtEl>
                                      </p:cBhvr>
                                    </p:animEffect>
                                    <p:set>
                                      <p:cBhvr>
                                        <p:cTn id="23" dur="1" fill="hold">
                                          <p:stCondLst>
                                            <p:cond delay="499"/>
                                          </p:stCondLst>
                                        </p:cTn>
                                        <p:tgtEl>
                                          <p:spTgt spid="19"/>
                                        </p:tgtEl>
                                        <p:attrNameLst>
                                          <p:attrName>style.visibility</p:attrName>
                                        </p:attrNameLst>
                                      </p:cBhvr>
                                      <p:to>
                                        <p:strVal val="hidden"/>
                                      </p:to>
                                    </p:set>
                                  </p:childTnLst>
                                </p:cTn>
                              </p:par>
                              <p:par>
                                <p:cTn id="24" presetID="9" presetClass="exit" presetSubtype="0" fill="hold" grpId="1" nodeType="withEffect">
                                  <p:stCondLst>
                                    <p:cond delay="0"/>
                                  </p:stCondLst>
                                  <p:childTnLst>
                                    <p:animEffect transition="out" filter="dissolve">
                                      <p:cBhvr>
                                        <p:cTn id="25" dur="500"/>
                                        <p:tgtEl>
                                          <p:spTgt spid="10"/>
                                        </p:tgtEl>
                                      </p:cBhvr>
                                    </p:animEffect>
                                    <p:set>
                                      <p:cBhvr>
                                        <p:cTn id="26" dur="1" fill="hold">
                                          <p:stCondLst>
                                            <p:cond delay="499"/>
                                          </p:stCondLst>
                                        </p:cTn>
                                        <p:tgtEl>
                                          <p:spTgt spid="10"/>
                                        </p:tgtEl>
                                        <p:attrNameLst>
                                          <p:attrName>style.visibility</p:attrName>
                                        </p:attrNameLst>
                                      </p:cBhvr>
                                      <p:to>
                                        <p:strVal val="hidden"/>
                                      </p:to>
                                    </p:set>
                                  </p:childTnLst>
                                </p:cTn>
                              </p:par>
                              <p:par>
                                <p:cTn id="27" presetID="9" presetClass="exit" presetSubtype="0" fill="hold" nodeType="withEffect">
                                  <p:stCondLst>
                                    <p:cond delay="0"/>
                                  </p:stCondLst>
                                  <p:childTnLst>
                                    <p:animEffect transition="out" filter="dissolve">
                                      <p:cBhvr>
                                        <p:cTn id="28" dur="500"/>
                                        <p:tgtEl>
                                          <p:spTgt spid="13"/>
                                        </p:tgtEl>
                                      </p:cBhvr>
                                    </p:animEffect>
                                    <p:set>
                                      <p:cBhvr>
                                        <p:cTn id="29" dur="1" fill="hold">
                                          <p:stCondLst>
                                            <p:cond delay="499"/>
                                          </p:stCondLst>
                                        </p:cTn>
                                        <p:tgtEl>
                                          <p:spTgt spid="13"/>
                                        </p:tgtEl>
                                        <p:attrNameLst>
                                          <p:attrName>style.visibility</p:attrName>
                                        </p:attrNameLst>
                                      </p:cBhvr>
                                      <p:to>
                                        <p:strVal val="hidden"/>
                                      </p:to>
                                    </p:set>
                                  </p:childTnLst>
                                </p:cTn>
                              </p:par>
                              <p:par>
                                <p:cTn id="30" presetID="1"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9" presetClass="exit" presetSubtype="0" fill="hold" grpId="1" nodeType="clickEffect">
                                  <p:stCondLst>
                                    <p:cond delay="0"/>
                                  </p:stCondLst>
                                  <p:childTnLst>
                                    <p:animEffect transition="out" filter="dissolve">
                                      <p:cBhvr>
                                        <p:cTn id="37" dur="500"/>
                                        <p:tgtEl>
                                          <p:spTgt spid="6"/>
                                        </p:tgtEl>
                                      </p:cBhvr>
                                    </p:animEffect>
                                    <p:set>
                                      <p:cBhvr>
                                        <p:cTn id="38" dur="1" fill="hold">
                                          <p:stCondLst>
                                            <p:cond delay="499"/>
                                          </p:stCondLst>
                                        </p:cTn>
                                        <p:tgtEl>
                                          <p:spTgt spid="6"/>
                                        </p:tgtEl>
                                        <p:attrNameLst>
                                          <p:attrName>style.visibility</p:attrName>
                                        </p:attrNameLst>
                                      </p:cBhvr>
                                      <p:to>
                                        <p:strVal val="hidden"/>
                                      </p:to>
                                    </p:set>
                                  </p:childTnLst>
                                </p:cTn>
                              </p:par>
                              <p:par>
                                <p:cTn id="39" presetID="9" presetClass="exit" presetSubtype="0" fill="hold" grpId="1" nodeType="withEffect">
                                  <p:stCondLst>
                                    <p:cond delay="0"/>
                                  </p:stCondLst>
                                  <p:childTnLst>
                                    <p:animEffect transition="out" filter="dissolve">
                                      <p:cBhvr>
                                        <p:cTn id="40" dur="500"/>
                                        <p:tgtEl>
                                          <p:spTgt spid="9"/>
                                        </p:tgtEl>
                                      </p:cBhvr>
                                    </p:animEffect>
                                    <p:set>
                                      <p:cBhvr>
                                        <p:cTn id="41" dur="1" fill="hold">
                                          <p:stCondLst>
                                            <p:cond delay="499"/>
                                          </p:stCondLst>
                                        </p:cTn>
                                        <p:tgtEl>
                                          <p:spTgt spid="9"/>
                                        </p:tgtEl>
                                        <p:attrNameLst>
                                          <p:attrName>style.visibility</p:attrName>
                                        </p:attrNameLst>
                                      </p:cBhvr>
                                      <p:to>
                                        <p:strVal val="hidden"/>
                                      </p:to>
                                    </p:set>
                                  </p:childTnLst>
                                </p:cTn>
                              </p:par>
                              <p:par>
                                <p:cTn id="42" presetID="1" presetClass="entr" presetSubtype="0" fill="hold" grpId="0" nodeType="withEffect">
                                  <p:stCondLst>
                                    <p:cond delay="0"/>
                                  </p:stCondLst>
                                  <p:childTnLst>
                                    <p:set>
                                      <p:cBhvr>
                                        <p:cTn id="43" dur="1" fill="hold">
                                          <p:stCondLst>
                                            <p:cond delay="0"/>
                                          </p:stCondLst>
                                        </p:cTn>
                                        <p:tgtEl>
                                          <p:spTgt spid="7"/>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9" grpId="0"/>
      <p:bldP spid="9" grpId="1"/>
      <p:bldP spid="10" grpId="0" animBg="1"/>
      <p:bldP spid="10" grpId="1" animBg="1"/>
      <p:bldP spid="12" grpId="0"/>
      <p:bldP spid="14" grpId="0"/>
      <p:bldP spid="16" grpId="0" animBg="1"/>
      <p:bldP spid="16" grpId="1" animBg="1"/>
      <p:bldP spid="19" grpId="0"/>
      <p:bldP spid="19"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Book Antiqua" charset="0"/>
                <a:ea typeface="ＭＳ Ｐゴシック" charset="0"/>
                <a:cs typeface="ＭＳ Ｐゴシック" charset="0"/>
              </a:defRPr>
            </a:lvl1pPr>
            <a:lvl2pPr marL="742950" indent="-285750">
              <a:defRPr sz="2400">
                <a:solidFill>
                  <a:schemeClr val="tx1"/>
                </a:solidFill>
                <a:latin typeface="Book Antiqua" charset="0"/>
                <a:ea typeface="ＭＳ Ｐゴシック" charset="0"/>
              </a:defRPr>
            </a:lvl2pPr>
            <a:lvl3pPr marL="1143000" indent="-228600">
              <a:defRPr sz="2400">
                <a:solidFill>
                  <a:schemeClr val="tx1"/>
                </a:solidFill>
                <a:latin typeface="Book Antiqua" charset="0"/>
                <a:ea typeface="ＭＳ Ｐゴシック" charset="0"/>
              </a:defRPr>
            </a:lvl3pPr>
            <a:lvl4pPr marL="1600200" indent="-228600">
              <a:defRPr sz="2400">
                <a:solidFill>
                  <a:schemeClr val="tx1"/>
                </a:solidFill>
                <a:latin typeface="Book Antiqua" charset="0"/>
                <a:ea typeface="ＭＳ Ｐゴシック" charset="0"/>
              </a:defRPr>
            </a:lvl4pPr>
            <a:lvl5pPr marL="2057400" indent="-228600">
              <a:defRPr sz="2400">
                <a:solidFill>
                  <a:schemeClr val="tx1"/>
                </a:solidFill>
                <a:latin typeface="Book Antiqua" charset="0"/>
                <a:ea typeface="ＭＳ Ｐゴシック" charset="0"/>
              </a:defRPr>
            </a:lvl5pPr>
            <a:lvl6pPr marL="2514600" indent="-228600" eaLnBrk="0" fontAlgn="base" hangingPunct="0">
              <a:spcBef>
                <a:spcPct val="0"/>
              </a:spcBef>
              <a:spcAft>
                <a:spcPct val="0"/>
              </a:spcAft>
              <a:defRPr sz="2400">
                <a:solidFill>
                  <a:schemeClr val="tx1"/>
                </a:solidFill>
                <a:latin typeface="Book Antiqua" charset="0"/>
                <a:ea typeface="ＭＳ Ｐゴシック" charset="0"/>
              </a:defRPr>
            </a:lvl6pPr>
            <a:lvl7pPr marL="2971800" indent="-228600" eaLnBrk="0" fontAlgn="base" hangingPunct="0">
              <a:spcBef>
                <a:spcPct val="0"/>
              </a:spcBef>
              <a:spcAft>
                <a:spcPct val="0"/>
              </a:spcAft>
              <a:defRPr sz="2400">
                <a:solidFill>
                  <a:schemeClr val="tx1"/>
                </a:solidFill>
                <a:latin typeface="Book Antiqua" charset="0"/>
                <a:ea typeface="ＭＳ Ｐゴシック" charset="0"/>
              </a:defRPr>
            </a:lvl7pPr>
            <a:lvl8pPr marL="3429000" indent="-228600" eaLnBrk="0" fontAlgn="base" hangingPunct="0">
              <a:spcBef>
                <a:spcPct val="0"/>
              </a:spcBef>
              <a:spcAft>
                <a:spcPct val="0"/>
              </a:spcAft>
              <a:defRPr sz="2400">
                <a:solidFill>
                  <a:schemeClr val="tx1"/>
                </a:solidFill>
                <a:latin typeface="Book Antiqua" charset="0"/>
                <a:ea typeface="ＭＳ Ｐゴシック" charset="0"/>
              </a:defRPr>
            </a:lvl8pPr>
            <a:lvl9pPr marL="3886200" indent="-228600" eaLnBrk="0" fontAlgn="base" hangingPunct="0">
              <a:spcBef>
                <a:spcPct val="0"/>
              </a:spcBef>
              <a:spcAft>
                <a:spcPct val="0"/>
              </a:spcAft>
              <a:defRPr sz="2400">
                <a:solidFill>
                  <a:schemeClr val="tx1"/>
                </a:solidFill>
                <a:latin typeface="Book Antiqua" charset="0"/>
                <a:ea typeface="ＭＳ Ｐゴシック" charset="0"/>
              </a:defRPr>
            </a:lvl9pPr>
          </a:lstStyle>
          <a:p>
            <a:fld id="{BDD0E589-4867-BB48-B0BA-68FF2C033630}" type="slidenum">
              <a:rPr lang="en-US" sz="1400">
                <a:solidFill>
                  <a:srgbClr val="FFFFFF"/>
                </a:solidFill>
              </a:rPr>
              <a:pPr/>
              <a:t>12</a:t>
            </a:fld>
            <a:endParaRPr lang="en-US" sz="1400">
              <a:solidFill>
                <a:srgbClr val="FFFFFF"/>
              </a:solidFill>
            </a:endParaRPr>
          </a:p>
        </p:txBody>
      </p:sp>
      <p:pic>
        <p:nvPicPr>
          <p:cNvPr id="32770" name="Picture 3" descr="ada25years.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3214" y="495300"/>
            <a:ext cx="5305628"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descr="ADA25_nothing.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766130" y="3478444"/>
            <a:ext cx="2920670" cy="2998555"/>
          </a:xfrm>
          <a:prstGeom prst="rect">
            <a:avLst/>
          </a:prstGeom>
        </p:spPr>
      </p:pic>
    </p:spTree>
    <p:extLst>
      <p:ext uri="{BB962C8B-B14F-4D97-AF65-F5344CB8AC3E}">
        <p14:creationId xmlns:p14="http://schemas.microsoft.com/office/powerpoint/2010/main" val="3845060330"/>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qdefault.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334000" y="2286000"/>
            <a:ext cx="3251200" cy="2438400"/>
          </a:xfrm>
          <a:prstGeom prst="rect">
            <a:avLst/>
          </a:prstGeom>
        </p:spPr>
      </p:pic>
      <p:pic>
        <p:nvPicPr>
          <p:cNvPr id="3" name="Picture 2" descr="try-another-way.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600200" y="1752600"/>
            <a:ext cx="2884798" cy="4114800"/>
          </a:xfrm>
          <a:prstGeom prst="rect">
            <a:avLst/>
          </a:prstGeom>
          <a:ln>
            <a:solidFill>
              <a:schemeClr val="tx1"/>
            </a:solidFill>
          </a:ln>
        </p:spPr>
      </p:pic>
      <p:sp>
        <p:nvSpPr>
          <p:cNvPr id="4" name="Slide Number Placeholder 3"/>
          <p:cNvSpPr>
            <a:spLocks noGrp="1"/>
          </p:cNvSpPr>
          <p:nvPr>
            <p:ph type="sldNum" sz="quarter" idx="12"/>
          </p:nvPr>
        </p:nvSpPr>
        <p:spPr/>
        <p:txBody>
          <a:bodyPr/>
          <a:lstStyle/>
          <a:p>
            <a:pPr>
              <a:defRPr/>
            </a:pPr>
            <a:fld id="{76D09E21-E3A5-A34B-9A90-0AE5B5561539}" type="slidenum">
              <a:rPr lang="en-US" smtClean="0"/>
              <a:pPr>
                <a:defRPr/>
              </a:pPr>
              <a:t>13</a:t>
            </a:fld>
            <a:endParaRPr lang="en-US" dirty="0">
              <a:solidFill>
                <a:schemeClr val="bg2">
                  <a:shade val="50000"/>
                </a:schemeClr>
              </a:solidFill>
            </a:endParaRPr>
          </a:p>
        </p:txBody>
      </p:sp>
    </p:spTree>
    <p:extLst>
      <p:ext uri="{BB962C8B-B14F-4D97-AF65-F5344CB8AC3E}">
        <p14:creationId xmlns:p14="http://schemas.microsoft.com/office/powerpoint/2010/main" val="83459030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488651"/>
            <a:ext cx="3048000" cy="965201"/>
          </a:xfrm>
        </p:spPr>
        <p:txBody>
          <a:bodyPr>
            <a:normAutofit/>
          </a:bodyPr>
          <a:lstStyle/>
          <a:p>
            <a:pPr algn="ctr"/>
            <a:r>
              <a:rPr lang="en-US" sz="2400" b="1" dirty="0" smtClean="0"/>
              <a:t>Supported Employment</a:t>
            </a:r>
            <a:endParaRPr lang="en-US" sz="2400" b="1" dirty="0"/>
          </a:p>
        </p:txBody>
      </p:sp>
      <p:pic>
        <p:nvPicPr>
          <p:cNvPr id="4" name="Picture 3" descr="1306216-i_love_the_80s_lowres.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22250" y="374650"/>
            <a:ext cx="1987550" cy="1980050"/>
          </a:xfrm>
          <a:prstGeom prst="rect">
            <a:avLst/>
          </a:prstGeom>
        </p:spPr>
      </p:pic>
      <p:pic>
        <p:nvPicPr>
          <p:cNvPr id="6" name="Picture 5" descr="Unknown-2.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266889" y="641350"/>
            <a:ext cx="2108200" cy="1593407"/>
          </a:xfrm>
          <a:prstGeom prst="rect">
            <a:avLst/>
          </a:prstGeom>
        </p:spPr>
      </p:pic>
      <p:pic>
        <p:nvPicPr>
          <p:cNvPr id="8" name="Picture 7" descr="ReasAcc-340x250.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527342" y="2604095"/>
            <a:ext cx="2400300" cy="1764926"/>
          </a:xfrm>
          <a:prstGeom prst="rect">
            <a:avLst/>
          </a:prstGeom>
          <a:ln>
            <a:solidFill>
              <a:schemeClr val="tx1"/>
            </a:solidFill>
          </a:ln>
        </p:spPr>
      </p:pic>
      <p:pic>
        <p:nvPicPr>
          <p:cNvPr id="9" name="Picture 8" descr="Assitive Tech.jp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048000" y="1993678"/>
            <a:ext cx="2598876" cy="1981643"/>
          </a:xfrm>
          <a:prstGeom prst="rect">
            <a:avLst/>
          </a:prstGeom>
        </p:spPr>
      </p:pic>
      <p:sp>
        <p:nvSpPr>
          <p:cNvPr id="11" name="TextBox 10"/>
          <p:cNvSpPr txBox="1"/>
          <p:nvPr/>
        </p:nvSpPr>
        <p:spPr>
          <a:xfrm>
            <a:off x="4025058" y="6136372"/>
            <a:ext cx="2094938" cy="369332"/>
          </a:xfrm>
          <a:prstGeom prst="rect">
            <a:avLst/>
          </a:prstGeom>
          <a:noFill/>
        </p:spPr>
        <p:txBody>
          <a:bodyPr wrap="square" rtlCol="0">
            <a:spAutoFit/>
          </a:bodyPr>
          <a:lstStyle/>
          <a:p>
            <a:pPr algn="ctr"/>
            <a:r>
              <a:rPr lang="en-US" b="1" dirty="0" smtClean="0">
                <a:latin typeface="Comic Sans MS"/>
                <a:cs typeface="Comic Sans MS"/>
              </a:rPr>
              <a:t>Natural Supports</a:t>
            </a:r>
            <a:endParaRPr lang="en-US" b="1" dirty="0">
              <a:latin typeface="Comic Sans MS"/>
              <a:cs typeface="Comic Sans MS"/>
            </a:endParaRPr>
          </a:p>
        </p:txBody>
      </p:sp>
      <p:pic>
        <p:nvPicPr>
          <p:cNvPr id="12" name="Picture 11" descr="Two workers working in a mailroom" title="Mailroom workers"/>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3872326" y="4544418"/>
            <a:ext cx="2387932" cy="1591954"/>
          </a:xfrm>
          <a:prstGeom prst="rect">
            <a:avLst/>
          </a:prstGeom>
        </p:spPr>
      </p:pic>
      <p:pic>
        <p:nvPicPr>
          <p:cNvPr id="13" name="Picture 4" descr="Janitorial Worker.jpg"/>
          <p:cNvPicPr>
            <a:picLocks noChangeAspect="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635000" y="3289078"/>
            <a:ext cx="1727200" cy="2302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Meeting.WMF"/>
          <p:cNvPicPr>
            <a:picLocks noChangeAspect="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7034998" y="4664911"/>
            <a:ext cx="1727120" cy="1306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p:cNvSpPr txBox="1"/>
          <p:nvPr/>
        </p:nvSpPr>
        <p:spPr>
          <a:xfrm>
            <a:off x="6807200" y="5980539"/>
            <a:ext cx="2094938" cy="646331"/>
          </a:xfrm>
          <a:prstGeom prst="rect">
            <a:avLst/>
          </a:prstGeom>
          <a:noFill/>
        </p:spPr>
        <p:txBody>
          <a:bodyPr wrap="square" rtlCol="0">
            <a:spAutoFit/>
          </a:bodyPr>
          <a:lstStyle/>
          <a:p>
            <a:pPr algn="ctr"/>
            <a:r>
              <a:rPr lang="en-US" b="1" dirty="0" smtClean="0">
                <a:solidFill>
                  <a:srgbClr val="800000"/>
                </a:solidFill>
                <a:latin typeface="Impact"/>
                <a:cs typeface="Impact"/>
              </a:rPr>
              <a:t>Person-Centered Planning</a:t>
            </a:r>
            <a:endParaRPr lang="en-US" b="1" dirty="0">
              <a:solidFill>
                <a:srgbClr val="800000"/>
              </a:solidFill>
              <a:latin typeface="Impact"/>
              <a:cs typeface="Impact"/>
            </a:endParaRPr>
          </a:p>
        </p:txBody>
      </p:sp>
      <p:sp>
        <p:nvSpPr>
          <p:cNvPr id="3" name="Slide Number Placeholder 2"/>
          <p:cNvSpPr>
            <a:spLocks noGrp="1"/>
          </p:cNvSpPr>
          <p:nvPr>
            <p:ph type="sldNum" sz="quarter" idx="12"/>
          </p:nvPr>
        </p:nvSpPr>
        <p:spPr/>
        <p:txBody>
          <a:bodyPr/>
          <a:lstStyle/>
          <a:p>
            <a:pPr>
              <a:defRPr/>
            </a:pPr>
            <a:fld id="{DE0518C9-3CC7-7448-AD05-3CB269384775}" type="slidenum">
              <a:rPr lang="en-US" smtClean="0"/>
              <a:pPr>
                <a:defRPr/>
              </a:pPr>
              <a:t>14</a:t>
            </a:fld>
            <a:endParaRPr lang="en-US" dirty="0"/>
          </a:p>
        </p:txBody>
      </p:sp>
    </p:spTree>
    <p:extLst>
      <p:ext uri="{BB962C8B-B14F-4D97-AF65-F5344CB8AC3E}">
        <p14:creationId xmlns:p14="http://schemas.microsoft.com/office/powerpoint/2010/main" val="1478543743"/>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000" y="381000"/>
            <a:ext cx="8229600" cy="990600"/>
          </a:xfrm>
        </p:spPr>
        <p:txBody>
          <a:bodyPr/>
          <a:lstStyle/>
          <a:p>
            <a:r>
              <a:rPr lang="en-US" b="1" i="1" dirty="0" smtClean="0"/>
              <a:t>Evolving Policy Framework</a:t>
            </a:r>
            <a:endParaRPr lang="en-US" b="1" i="1" dirty="0"/>
          </a:p>
        </p:txBody>
      </p:sp>
      <p:pic>
        <p:nvPicPr>
          <p:cNvPr id="4" name="Picture 3" descr="Unknown.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4403" y="4213897"/>
            <a:ext cx="2495897" cy="2397805"/>
          </a:xfrm>
          <a:prstGeom prst="rect">
            <a:avLst/>
          </a:prstGeom>
          <a:scene3d>
            <a:camera prst="orthographicFront"/>
            <a:lightRig rig="threePt" dir="t"/>
          </a:scene3d>
          <a:sp3d>
            <a:bevelT w="139700" prst="cross"/>
          </a:sp3d>
        </p:spPr>
      </p:pic>
      <p:pic>
        <p:nvPicPr>
          <p:cNvPr id="5" name="Picture 4" descr="sec-504-300x300.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96899" y="1523636"/>
            <a:ext cx="2374901" cy="2374901"/>
          </a:xfrm>
          <a:prstGeom prst="rect">
            <a:avLst/>
          </a:prstGeom>
        </p:spPr>
      </p:pic>
      <p:pic>
        <p:nvPicPr>
          <p:cNvPr id="8" name="Picture 1028" descr="ticket_log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138276" y="3735334"/>
            <a:ext cx="2676250" cy="1338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5283200" y="2906905"/>
            <a:ext cx="1346200" cy="369332"/>
          </a:xfrm>
          <a:prstGeom prst="rect">
            <a:avLst/>
          </a:prstGeom>
          <a:noFill/>
        </p:spPr>
        <p:txBody>
          <a:bodyPr wrap="square" rtlCol="0">
            <a:spAutoFit/>
          </a:bodyPr>
          <a:lstStyle/>
          <a:p>
            <a:pPr algn="ctr"/>
            <a:r>
              <a:rPr lang="en-US" dirty="0" smtClean="0"/>
              <a:t>1990</a:t>
            </a:r>
            <a:endParaRPr lang="en-US" dirty="0"/>
          </a:p>
        </p:txBody>
      </p:sp>
      <p:sp>
        <p:nvSpPr>
          <p:cNvPr id="11" name="TextBox 10"/>
          <p:cNvSpPr txBox="1"/>
          <p:nvPr/>
        </p:nvSpPr>
        <p:spPr>
          <a:xfrm>
            <a:off x="3683000" y="6094092"/>
            <a:ext cx="1346200" cy="369332"/>
          </a:xfrm>
          <a:prstGeom prst="rect">
            <a:avLst/>
          </a:prstGeom>
          <a:noFill/>
        </p:spPr>
        <p:txBody>
          <a:bodyPr wrap="square" rtlCol="0">
            <a:spAutoFit/>
          </a:bodyPr>
          <a:lstStyle/>
          <a:p>
            <a:pPr algn="ctr"/>
            <a:r>
              <a:rPr lang="en-US" dirty="0" smtClean="0">
                <a:latin typeface="Avenir Book"/>
                <a:cs typeface="Avenir Book"/>
              </a:rPr>
              <a:t>1990</a:t>
            </a:r>
            <a:endParaRPr lang="en-US" dirty="0">
              <a:latin typeface="Avenir Book"/>
              <a:cs typeface="Avenir Book"/>
            </a:endParaRPr>
          </a:p>
        </p:txBody>
      </p:sp>
      <p:sp>
        <p:nvSpPr>
          <p:cNvPr id="12" name="TextBox 11"/>
          <p:cNvSpPr txBox="1"/>
          <p:nvPr/>
        </p:nvSpPr>
        <p:spPr>
          <a:xfrm>
            <a:off x="6290676" y="4834728"/>
            <a:ext cx="2366548" cy="923330"/>
          </a:xfrm>
          <a:prstGeom prst="rect">
            <a:avLst/>
          </a:prstGeom>
          <a:noFill/>
        </p:spPr>
        <p:txBody>
          <a:bodyPr wrap="square" rtlCol="0">
            <a:spAutoFit/>
          </a:bodyPr>
          <a:lstStyle/>
          <a:p>
            <a:pPr algn="ctr"/>
            <a:r>
              <a:rPr lang="en-US" b="1" dirty="0"/>
              <a:t>a</a:t>
            </a:r>
            <a:r>
              <a:rPr lang="en-US" b="1" dirty="0" smtClean="0"/>
              <a:t>nd Work Incentives Improvement Act</a:t>
            </a:r>
          </a:p>
          <a:p>
            <a:pPr algn="ctr"/>
            <a:r>
              <a:rPr lang="en-US" b="1" dirty="0" smtClean="0">
                <a:latin typeface="Avenir Next Condensed Demi Bold"/>
                <a:cs typeface="Avenir Next Condensed Demi Bold"/>
              </a:rPr>
              <a:t>1999</a:t>
            </a:r>
            <a:endParaRPr lang="en-US" b="1" dirty="0">
              <a:latin typeface="Avenir Next Condensed Demi Bold"/>
              <a:cs typeface="Avenir Next Condensed Demi Bold"/>
            </a:endParaRPr>
          </a:p>
        </p:txBody>
      </p:sp>
      <p:sp>
        <p:nvSpPr>
          <p:cNvPr id="13" name="Slide Number Placeholder 12"/>
          <p:cNvSpPr>
            <a:spLocks noGrp="1"/>
          </p:cNvSpPr>
          <p:nvPr>
            <p:ph type="sldNum" sz="quarter" idx="12"/>
          </p:nvPr>
        </p:nvSpPr>
        <p:spPr/>
        <p:txBody>
          <a:bodyPr/>
          <a:lstStyle/>
          <a:p>
            <a:pPr>
              <a:defRPr/>
            </a:pPr>
            <a:fld id="{DE0518C9-3CC7-7448-AD05-3CB269384775}" type="slidenum">
              <a:rPr lang="en-US" smtClean="0"/>
              <a:pPr>
                <a:defRPr/>
              </a:pPr>
              <a:t>15</a:t>
            </a:fld>
            <a:endParaRPr lang="en-US" dirty="0"/>
          </a:p>
        </p:txBody>
      </p:sp>
      <p:pic>
        <p:nvPicPr>
          <p:cNvPr id="3" name="Picture 2" descr="idea.gif"/>
          <p:cNvPicPr>
            <a:picLocks noChangeAspect="1"/>
          </p:cNvPicPr>
          <p:nvPr/>
        </p:nvPicPr>
        <p:blipFill rotWithShape="1">
          <a:blip r:embed="rId5">
            <a:extLst>
              <a:ext uri="{28A0092B-C50C-407E-A947-70E740481C1C}">
                <a14:useLocalDpi xmlns:a14="http://schemas.microsoft.com/office/drawing/2010/main" val="0"/>
              </a:ext>
            </a:extLst>
          </a:blip>
          <a:srcRect b="6047"/>
          <a:stretch/>
        </p:blipFill>
        <p:spPr>
          <a:xfrm>
            <a:off x="4775200" y="1531505"/>
            <a:ext cx="2514600" cy="1478395"/>
          </a:xfrm>
          <a:prstGeom prst="rect">
            <a:avLst/>
          </a:prstGeom>
        </p:spPr>
      </p:pic>
    </p:spTree>
    <p:extLst>
      <p:ext uri="{BB962C8B-B14F-4D97-AF65-F5344CB8AC3E}">
        <p14:creationId xmlns:p14="http://schemas.microsoft.com/office/powerpoint/2010/main" val="80240797"/>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0" y="1447800"/>
            <a:ext cx="5181600" cy="2895600"/>
          </a:xfrm>
        </p:spPr>
        <p:txBody>
          <a:bodyPr>
            <a:noAutofit/>
          </a:bodyPr>
          <a:lstStyle/>
          <a:p>
            <a:pPr>
              <a:spcBef>
                <a:spcPts val="1800"/>
              </a:spcBef>
              <a:defRPr/>
            </a:pPr>
            <a:r>
              <a:rPr lang="en-US" sz="3200" dirty="0" smtClean="0"/>
              <a:t>Disability:</a:t>
            </a:r>
            <a:br>
              <a:rPr lang="en-US" sz="3200" dirty="0" smtClean="0"/>
            </a:br>
            <a:r>
              <a:rPr lang="en-US" sz="3200" b="1" i="1" dirty="0" smtClean="0"/>
              <a:t>not a barrier to employment</a:t>
            </a:r>
          </a:p>
          <a:p>
            <a:pPr>
              <a:spcBef>
                <a:spcPts val="3600"/>
              </a:spcBef>
              <a:defRPr/>
            </a:pPr>
            <a:r>
              <a:rPr lang="en-US" sz="3200" dirty="0"/>
              <a:t>R</a:t>
            </a:r>
            <a:r>
              <a:rPr lang="en-US" sz="3200" dirty="0" smtClean="0"/>
              <a:t>ight job match and supports</a:t>
            </a:r>
            <a:br>
              <a:rPr lang="en-US" sz="3200" dirty="0" smtClean="0"/>
            </a:br>
            <a:r>
              <a:rPr lang="en-US" sz="3200" b="1" dirty="0" smtClean="0"/>
              <a:t>= </a:t>
            </a:r>
            <a:r>
              <a:rPr lang="en-US" sz="3200" b="1" i="1" dirty="0" smtClean="0"/>
              <a:t>job success</a:t>
            </a:r>
          </a:p>
          <a:p>
            <a:pPr>
              <a:spcBef>
                <a:spcPts val="3600"/>
              </a:spcBef>
              <a:defRPr/>
            </a:pPr>
            <a:r>
              <a:rPr lang="en-US" sz="3200" dirty="0" smtClean="0"/>
              <a:t>Full integration and inclusion</a:t>
            </a:r>
          </a:p>
        </p:txBody>
      </p:sp>
      <p:sp>
        <p:nvSpPr>
          <p:cNvPr id="4" name="Pentagon 3"/>
          <p:cNvSpPr/>
          <p:nvPr/>
        </p:nvSpPr>
        <p:spPr bwMode="auto">
          <a:xfrm>
            <a:off x="152400" y="469900"/>
            <a:ext cx="3581400" cy="2209800"/>
          </a:xfrm>
          <a:prstGeom prst="homePlate">
            <a:avLst/>
          </a:prstGeom>
          <a:solidFill>
            <a:srgbClr val="0000FF"/>
          </a:solidFill>
          <a:ln>
            <a:headEnd type="none" w="med" len="med"/>
            <a:tailEnd type="none" w="med" len="med"/>
          </a:ln>
          <a:scene3d>
            <a:camera prst="orthographicFront"/>
            <a:lightRig rig="threePt" dir="t"/>
          </a:scene3d>
          <a:sp3d>
            <a:bevelT w="139700" h="139700" prst="divot"/>
          </a:sp3d>
          <a:extLst/>
        </p:spPr>
        <p:style>
          <a:lnRef idx="3">
            <a:schemeClr val="lt1"/>
          </a:lnRef>
          <a:fillRef idx="1">
            <a:schemeClr val="accent6"/>
          </a:fillRef>
          <a:effectRef idx="1">
            <a:schemeClr val="accent6"/>
          </a:effectRef>
          <a:fontRef idx="minor">
            <a:schemeClr val="lt1"/>
          </a:fontRef>
        </p:style>
        <p:txBody>
          <a:bodyPr anchor="ctr"/>
          <a:lstStyle/>
          <a:p>
            <a:pPr>
              <a:defRPr/>
            </a:pPr>
            <a:r>
              <a:rPr lang="en-US" sz="3200" dirty="0" smtClean="0">
                <a:solidFill>
                  <a:schemeClr val="bg1"/>
                </a:solidFill>
                <a:latin typeface="Arial" charset="0"/>
                <a:ea typeface="ＭＳ Ｐゴシック" charset="0"/>
                <a:cs typeface="Geneva" charset="0"/>
              </a:rPr>
              <a:t>Disability Employment:</a:t>
            </a:r>
            <a:r>
              <a:rPr lang="en-US" sz="3200" cap="small" dirty="0">
                <a:solidFill>
                  <a:schemeClr val="bg1"/>
                </a:solidFill>
                <a:latin typeface="Arial" charset="0"/>
                <a:ea typeface="ＭＳ Ｐゴシック" charset="0"/>
                <a:cs typeface="Geneva" charset="0"/>
              </a:rPr>
              <a:t/>
            </a:r>
            <a:br>
              <a:rPr lang="en-US" sz="3200" cap="small" dirty="0">
                <a:solidFill>
                  <a:schemeClr val="bg1"/>
                </a:solidFill>
                <a:latin typeface="Arial" charset="0"/>
                <a:ea typeface="ＭＳ Ｐゴシック" charset="0"/>
                <a:cs typeface="Geneva" charset="0"/>
              </a:rPr>
            </a:br>
            <a:r>
              <a:rPr lang="en-US" sz="3200" cap="small" dirty="0">
                <a:solidFill>
                  <a:schemeClr val="bg1"/>
                </a:solidFill>
                <a:latin typeface="Arial" charset="0"/>
                <a:ea typeface="ＭＳ Ｐゴシック" charset="0"/>
                <a:cs typeface="Geneva" charset="0"/>
              </a:rPr>
              <a:t>21</a:t>
            </a:r>
            <a:r>
              <a:rPr lang="en-US" sz="3200" cap="small" baseline="30000" dirty="0">
                <a:solidFill>
                  <a:schemeClr val="bg1"/>
                </a:solidFill>
                <a:latin typeface="Arial" charset="0"/>
                <a:ea typeface="ＭＳ Ｐゴシック" charset="0"/>
                <a:cs typeface="Geneva" charset="0"/>
              </a:rPr>
              <a:t>st</a:t>
            </a:r>
            <a:r>
              <a:rPr lang="en-US" sz="3200" cap="small" dirty="0">
                <a:solidFill>
                  <a:schemeClr val="bg1"/>
                </a:solidFill>
                <a:latin typeface="Arial" charset="0"/>
                <a:ea typeface="ＭＳ Ｐゴシック" charset="0"/>
                <a:cs typeface="Geneva" charset="0"/>
              </a:rPr>
              <a:t> Century View</a:t>
            </a:r>
          </a:p>
        </p:txBody>
      </p:sp>
      <p:pic>
        <p:nvPicPr>
          <p:cNvPr id="29699" name="Picture 1" descr="Hubble_01.jp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28600" y="3048000"/>
            <a:ext cx="32004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CB41E0BA-DFE8-AC44-A799-3CFCF62077C1}" type="slidenum">
              <a:rPr lang="en-US" smtClean="0"/>
              <a:pPr>
                <a:defRPr/>
              </a:pPr>
              <a:t>16</a:t>
            </a:fld>
            <a:endParaRPr lang="en-US"/>
          </a:p>
        </p:txBody>
      </p:sp>
    </p:spTree>
    <p:extLst>
      <p:ext uri="{BB962C8B-B14F-4D97-AF65-F5344CB8AC3E}">
        <p14:creationId xmlns:p14="http://schemas.microsoft.com/office/powerpoint/2010/main" val="216017006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0300" y="4999038"/>
            <a:ext cx="7499350" cy="1143000"/>
          </a:xfrm>
        </p:spPr>
        <p:txBody>
          <a:bodyPr/>
          <a:lstStyle/>
          <a:p>
            <a:pPr algn="ctr"/>
            <a:r>
              <a:rPr lang="en-US" dirty="0" smtClean="0"/>
              <a:t>We have the technology</a:t>
            </a:r>
            <a:endParaRPr lang="en-US" dirty="0"/>
          </a:p>
        </p:txBody>
      </p:sp>
      <p:pic>
        <p:nvPicPr>
          <p:cNvPr id="3" name="Picture 2" descr="Unknown-1.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4118" y="719277"/>
            <a:ext cx="5338882" cy="4292461"/>
          </a:xfrm>
          <a:prstGeom prst="rect">
            <a:avLst/>
          </a:prstGeom>
        </p:spPr>
      </p:pic>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17</a:t>
            </a:fld>
            <a:endParaRPr lang="en-US" dirty="0"/>
          </a:p>
        </p:txBody>
      </p:sp>
    </p:spTree>
    <p:extLst>
      <p:ext uri="{BB962C8B-B14F-4D97-AF65-F5344CB8AC3E}">
        <p14:creationId xmlns:p14="http://schemas.microsoft.com/office/powerpoint/2010/main" val="28571598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Focus on changing service providers</a:t>
            </a:r>
            <a:endParaRPr lang="en-US" b="1" dirty="0"/>
          </a:p>
        </p:txBody>
      </p:sp>
      <p:pic>
        <p:nvPicPr>
          <p:cNvPr id="4" name="Picture 3" descr="1990s.jpg"/>
          <p:cNvPicPr>
            <a:picLocks noChangeAspect="1"/>
          </p:cNvPicPr>
          <p:nvPr/>
        </p:nvPicPr>
        <p:blipFill rotWithShape="1">
          <a:blip r:embed="rId2">
            <a:extLst>
              <a:ext uri="{28A0092B-C50C-407E-A947-70E740481C1C}">
                <a14:useLocalDpi xmlns:a14="http://schemas.microsoft.com/office/drawing/2010/main" val="0"/>
              </a:ext>
            </a:extLst>
          </a:blip>
          <a:srcRect b="10000"/>
          <a:stretch/>
        </p:blipFill>
        <p:spPr>
          <a:xfrm>
            <a:off x="2057400" y="1729740"/>
            <a:ext cx="5232400" cy="4709160"/>
          </a:xfrm>
          <a:prstGeom prst="rect">
            <a:avLst/>
          </a:prstGeom>
        </p:spPr>
      </p:pic>
      <p:sp>
        <p:nvSpPr>
          <p:cNvPr id="3" name="Slide Number Placeholder 2"/>
          <p:cNvSpPr>
            <a:spLocks noGrp="1"/>
          </p:cNvSpPr>
          <p:nvPr>
            <p:ph type="sldNum" sz="quarter" idx="12"/>
          </p:nvPr>
        </p:nvSpPr>
        <p:spPr/>
        <p:txBody>
          <a:bodyPr/>
          <a:lstStyle/>
          <a:p>
            <a:pPr>
              <a:defRPr/>
            </a:pPr>
            <a:fld id="{DE0518C9-3CC7-7448-AD05-3CB269384775}" type="slidenum">
              <a:rPr lang="en-US" smtClean="0"/>
              <a:pPr>
                <a:defRPr/>
              </a:pPr>
              <a:t>18</a:t>
            </a:fld>
            <a:endParaRPr lang="en-US" dirty="0"/>
          </a:p>
        </p:txBody>
      </p:sp>
    </p:spTree>
    <p:extLst>
      <p:ext uri="{BB962C8B-B14F-4D97-AF65-F5344CB8AC3E}">
        <p14:creationId xmlns:p14="http://schemas.microsoft.com/office/powerpoint/2010/main" val="2118551189"/>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566418"/>
            <a:ext cx="2844800" cy="855982"/>
          </a:xfrm>
          <a:ln w="28575" cmpd="sng">
            <a:solidFill>
              <a:schemeClr val="tx1"/>
            </a:solidFill>
          </a:ln>
        </p:spPr>
        <p:txBody>
          <a:bodyPr>
            <a:normAutofit fontScale="90000"/>
          </a:bodyPr>
          <a:lstStyle/>
          <a:p>
            <a:pPr algn="ctr"/>
            <a:r>
              <a:rPr lang="en-US" dirty="0" smtClean="0"/>
              <a:t>Day Program</a:t>
            </a:r>
            <a:endParaRPr lang="en-US" dirty="0"/>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19</a:t>
            </a:fld>
            <a:endParaRPr lang="en-US" dirty="0"/>
          </a:p>
        </p:txBody>
      </p:sp>
      <p:pic>
        <p:nvPicPr>
          <p:cNvPr id="6" name="Picture 5" descr="city_apartment_building_800_wht_17059.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79400" y="1694180"/>
            <a:ext cx="3124200" cy="4998720"/>
          </a:xfrm>
          <a:prstGeom prst="rect">
            <a:avLst/>
          </a:prstGeom>
        </p:spPr>
      </p:pic>
      <p:pic>
        <p:nvPicPr>
          <p:cNvPr id="8" name="Picture 7" descr="corner_store_text_11249.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181600" y="3653434"/>
            <a:ext cx="3505200" cy="2201265"/>
          </a:xfrm>
          <a:prstGeom prst="rect">
            <a:avLst/>
          </a:prstGeom>
        </p:spPr>
      </p:pic>
      <p:cxnSp>
        <p:nvCxnSpPr>
          <p:cNvPr id="10" name="Straight Connector 9"/>
          <p:cNvCxnSpPr/>
          <p:nvPr/>
        </p:nvCxnSpPr>
        <p:spPr>
          <a:xfrm>
            <a:off x="1016000" y="1422400"/>
            <a:ext cx="0" cy="271780"/>
          </a:xfrm>
          <a:prstGeom prst="line">
            <a:avLst/>
          </a:prstGeom>
          <a:ln w="38100" cmpd="sng">
            <a:solidFill>
              <a:srgbClr val="292934"/>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2933700" y="1422400"/>
            <a:ext cx="0" cy="271780"/>
          </a:xfrm>
          <a:prstGeom prst="line">
            <a:avLst/>
          </a:prstGeom>
          <a:ln w="38100" cmpd="sng">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351275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all_graphic.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0170" y="1377778"/>
            <a:ext cx="9144002" cy="5715001"/>
          </a:xfrm>
          <a:prstGeom prst="rect">
            <a:avLst/>
          </a:prstGeom>
        </p:spPr>
      </p:pic>
      <p:sp>
        <p:nvSpPr>
          <p:cNvPr id="5" name="TextBox 4"/>
          <p:cNvSpPr txBox="1"/>
          <p:nvPr/>
        </p:nvSpPr>
        <p:spPr>
          <a:xfrm>
            <a:off x="1955800" y="474471"/>
            <a:ext cx="5181600" cy="954107"/>
          </a:xfrm>
          <a:prstGeom prst="rect">
            <a:avLst/>
          </a:prstGeom>
          <a:effectLst>
            <a:glow rad="139700">
              <a:schemeClr val="accent3">
                <a:satMod val="175000"/>
                <a:alpha val="40000"/>
              </a:schemeClr>
            </a:glow>
          </a:effectLst>
          <a:scene3d>
            <a:camera prst="orthographicFront"/>
            <a:lightRig rig="threePt" dir="t"/>
          </a:scene3d>
          <a:sp3d>
            <a:bevelT w="139700" h="139700" prst="divot"/>
          </a:sp3d>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sz="2800" dirty="0" smtClean="0"/>
              <a:t>Comprehensive Systemic Approach</a:t>
            </a:r>
            <a:endParaRPr lang="en-US" sz="2800" dirty="0"/>
          </a:p>
        </p:txBody>
      </p:sp>
      <p:sp>
        <p:nvSpPr>
          <p:cNvPr id="2" name="Slide Number Placeholder 1"/>
          <p:cNvSpPr>
            <a:spLocks noGrp="1"/>
          </p:cNvSpPr>
          <p:nvPr>
            <p:ph type="sldNum" sz="quarter" idx="12"/>
          </p:nvPr>
        </p:nvSpPr>
        <p:spPr/>
        <p:txBody>
          <a:bodyPr/>
          <a:lstStyle/>
          <a:p>
            <a:pPr>
              <a:defRPr/>
            </a:pPr>
            <a:fld id="{CB41E0BA-DFE8-AC44-A799-3CFCF62077C1}" type="slidenum">
              <a:rPr lang="en-US" smtClean="0"/>
              <a:pPr>
                <a:defRPr/>
              </a:pPr>
              <a:t>20</a:t>
            </a:fld>
            <a:endParaRPr lang="en-US"/>
          </a:p>
        </p:txBody>
      </p:sp>
    </p:spTree>
    <p:extLst>
      <p:ext uri="{BB962C8B-B14F-4D97-AF65-F5344CB8AC3E}">
        <p14:creationId xmlns:p14="http://schemas.microsoft.com/office/powerpoint/2010/main" val="1009534501"/>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70000"/>
            <a:ext cx="8229600" cy="990600"/>
          </a:xfrm>
        </p:spPr>
        <p:txBody>
          <a:bodyPr>
            <a:normAutofit fontScale="90000"/>
          </a:bodyPr>
          <a:lstStyle/>
          <a:p>
            <a:pPr algn="ctr"/>
            <a:r>
              <a:rPr lang="en-US" dirty="0" smtClean="0"/>
              <a:t>Employment in the general workforce</a:t>
            </a:r>
            <a:br>
              <a:rPr lang="en-US" dirty="0" smtClean="0"/>
            </a:br>
            <a:r>
              <a:rPr lang="en-US" dirty="0" smtClean="0"/>
              <a:t> as a </a:t>
            </a:r>
            <a:r>
              <a:rPr lang="en-US" b="1" dirty="0" smtClean="0"/>
              <a:t>core component </a:t>
            </a:r>
            <a:r>
              <a:rPr lang="en-US" dirty="0" smtClean="0"/>
              <a:t>and </a:t>
            </a:r>
            <a:r>
              <a:rPr lang="en-US" b="1" dirty="0" smtClean="0"/>
              <a:t>expectation</a:t>
            </a:r>
            <a:r>
              <a:rPr lang="en-US" dirty="0" smtClean="0"/>
              <a:t/>
            </a:r>
            <a:br>
              <a:rPr lang="en-US" dirty="0" smtClean="0"/>
            </a:br>
            <a:r>
              <a:rPr lang="en-US" dirty="0" smtClean="0"/>
              <a:t>on an </a:t>
            </a:r>
            <a:r>
              <a:rPr lang="en-US" b="1" i="1" dirty="0" smtClean="0"/>
              <a:t>individual </a:t>
            </a:r>
            <a:r>
              <a:rPr lang="en-US" dirty="0" smtClean="0"/>
              <a:t/>
            </a:r>
            <a:br>
              <a:rPr lang="en-US" dirty="0" smtClean="0"/>
            </a:br>
            <a:r>
              <a:rPr lang="en-US" dirty="0" smtClean="0"/>
              <a:t>and </a:t>
            </a:r>
            <a:r>
              <a:rPr lang="en-US" b="1" i="1" dirty="0" smtClean="0"/>
              <a:t>system</a:t>
            </a:r>
            <a:r>
              <a:rPr lang="en-US" dirty="0" smtClean="0"/>
              <a:t> level </a:t>
            </a:r>
            <a:endParaRPr lang="en-US" dirty="0"/>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21</a:t>
            </a:fld>
            <a:endParaRPr lang="en-US" dirty="0"/>
          </a:p>
        </p:txBody>
      </p:sp>
      <p:pic>
        <p:nvPicPr>
          <p:cNvPr id="7" name="Picture 6" descr="stick_figure_interviewing_women_800_wht_12437.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57200" y="3086100"/>
            <a:ext cx="3251200" cy="3251200"/>
          </a:xfrm>
          <a:prstGeom prst="rect">
            <a:avLst/>
          </a:prstGeom>
        </p:spPr>
      </p:pic>
      <p:pic>
        <p:nvPicPr>
          <p:cNvPr id="9" name="Picture 8" descr="businessmen_jobs_800_wht_18310.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540500" y="3003550"/>
            <a:ext cx="1851025" cy="3702050"/>
          </a:xfrm>
          <a:prstGeom prst="rect">
            <a:avLst/>
          </a:prstGeom>
        </p:spPr>
      </p:pic>
    </p:spTree>
    <p:extLst>
      <p:ext uri="{BB962C8B-B14F-4D97-AF65-F5344CB8AC3E}">
        <p14:creationId xmlns:p14="http://schemas.microsoft.com/office/powerpoint/2010/main" val="110967710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304800" y="381000"/>
            <a:ext cx="7772400" cy="762000"/>
          </a:xfrm>
          <a:scene3d>
            <a:camera prst="orthographicFront"/>
            <a:lightRig rig="threePt" dir="t"/>
          </a:scene3d>
          <a:sp3d>
            <a:bevelT w="139700" h="139700" prst="divot"/>
          </a:sp3d>
        </p:spPr>
        <p:txBody>
          <a:bodyPr/>
          <a:lstStyle/>
          <a:p>
            <a:pPr>
              <a:defRPr/>
            </a:pPr>
            <a:r>
              <a:rPr lang="en-US" sz="3600" b="1" i="0" dirty="0">
                <a:latin typeface="Cambria" charset="0"/>
                <a:ea typeface="Osaka" charset="0"/>
                <a:cs typeface="Osaka" charset="0"/>
              </a:rPr>
              <a:t>Employment First: </a:t>
            </a:r>
            <a:r>
              <a:rPr lang="en-US" sz="3600" b="1" i="1" dirty="0">
                <a:latin typeface="Cambria" charset="0"/>
                <a:ea typeface="Osaka" charset="0"/>
                <a:cs typeface="Osaka" charset="0"/>
              </a:rPr>
              <a:t>What Is It?</a:t>
            </a:r>
          </a:p>
        </p:txBody>
      </p:sp>
      <p:sp>
        <p:nvSpPr>
          <p:cNvPr id="3" name="Content Placeholder 2"/>
          <p:cNvSpPr>
            <a:spLocks noGrp="1"/>
          </p:cNvSpPr>
          <p:nvPr>
            <p:ph idx="1"/>
          </p:nvPr>
        </p:nvSpPr>
        <p:spPr>
          <a:xfrm>
            <a:off x="914400" y="1244600"/>
            <a:ext cx="8229600" cy="1295400"/>
          </a:xfrm>
        </p:spPr>
        <p:txBody>
          <a:bodyPr>
            <a:normAutofit lnSpcReduction="10000"/>
          </a:bodyPr>
          <a:lstStyle/>
          <a:p>
            <a:pPr>
              <a:defRPr/>
            </a:pPr>
            <a:r>
              <a:rPr lang="en-US" sz="2800" b="1" dirty="0"/>
              <a:t>General </a:t>
            </a:r>
            <a:r>
              <a:rPr lang="en-US" sz="2800" b="1" dirty="0" smtClean="0"/>
              <a:t>theme:</a:t>
            </a:r>
            <a:r>
              <a:rPr lang="en-US" sz="2800" dirty="0"/>
              <a:t/>
            </a:r>
            <a:br>
              <a:rPr lang="en-US" sz="2800" dirty="0"/>
            </a:br>
            <a:r>
              <a:rPr lang="en-US" sz="2800" dirty="0" smtClean="0"/>
              <a:t>Employment </a:t>
            </a:r>
            <a:r>
              <a:rPr lang="en-US" sz="2800" dirty="0"/>
              <a:t>in the community is the first/primary service option for individuals with disabilities</a:t>
            </a:r>
          </a:p>
          <a:p>
            <a:pPr marL="114300" indent="0">
              <a:buFontTx/>
              <a:buNone/>
              <a:defRPr/>
            </a:pPr>
            <a:endParaRPr lang="en-US" dirty="0" smtClean="0"/>
          </a:p>
          <a:p>
            <a:pPr>
              <a:defRPr/>
            </a:pPr>
            <a:endParaRPr lang="en-US" dirty="0" smtClean="0"/>
          </a:p>
          <a:p>
            <a:pPr>
              <a:defRPr/>
            </a:pPr>
            <a:endParaRPr lang="en-US" dirty="0"/>
          </a:p>
        </p:txBody>
      </p:sp>
      <p:sp>
        <p:nvSpPr>
          <p:cNvPr id="6" name="Horizontal Scroll 5"/>
          <p:cNvSpPr/>
          <p:nvPr/>
        </p:nvSpPr>
        <p:spPr bwMode="auto">
          <a:xfrm>
            <a:off x="152400" y="2882900"/>
            <a:ext cx="8839200" cy="3581400"/>
          </a:xfrm>
          <a:prstGeom prst="horizontalScroll">
            <a:avLst/>
          </a:prstGeom>
          <a:solidFill>
            <a:srgbClr val="333399"/>
          </a:solidFill>
          <a:ln w="9525" cap="flat" cmpd="sng" algn="ctr">
            <a:solidFill>
              <a:schemeClr val="tx1"/>
            </a:solidFill>
            <a:prstDash val="solid"/>
            <a:round/>
            <a:headEnd type="none" w="med" len="med"/>
            <a:tailEnd type="none" w="med" len="med"/>
          </a:ln>
          <a:effectLst/>
          <a:extLst/>
        </p:spPr>
        <p:txBody>
          <a:bodyPr/>
          <a:lstStyle/>
          <a:p>
            <a:pPr marL="114300" algn="ctr">
              <a:defRPr/>
            </a:pPr>
            <a:r>
              <a:rPr lang="en-US" sz="2800" b="1" dirty="0">
                <a:solidFill>
                  <a:schemeClr val="bg1"/>
                </a:solidFill>
                <a:latin typeface="Capitals"/>
                <a:cs typeface="Capitals"/>
              </a:rPr>
              <a:t>APSE Statement on Employment First</a:t>
            </a:r>
            <a:br>
              <a:rPr lang="en-US" sz="2800" b="1" dirty="0">
                <a:solidFill>
                  <a:schemeClr val="bg1"/>
                </a:solidFill>
                <a:latin typeface="Capitals"/>
                <a:cs typeface="Capitals"/>
              </a:rPr>
            </a:br>
            <a:endParaRPr lang="en-US" sz="2800" b="1" dirty="0">
              <a:solidFill>
                <a:schemeClr val="bg1"/>
              </a:solidFill>
              <a:latin typeface="Capitals"/>
              <a:cs typeface="Capitals"/>
            </a:endParaRPr>
          </a:p>
          <a:p>
            <a:pPr algn="ctr">
              <a:defRPr/>
            </a:pPr>
            <a:r>
              <a:rPr lang="en-US" sz="2800" dirty="0">
                <a:solidFill>
                  <a:schemeClr val="bg1"/>
                </a:solidFill>
              </a:rPr>
              <a:t>Employment in the general workforce is the </a:t>
            </a:r>
            <a:r>
              <a:rPr lang="en-US" sz="2800" b="1" dirty="0">
                <a:solidFill>
                  <a:schemeClr val="bg1"/>
                </a:solidFill>
              </a:rPr>
              <a:t>first and preferred outcome</a:t>
            </a:r>
            <a:r>
              <a:rPr lang="en-US" sz="2800" dirty="0">
                <a:solidFill>
                  <a:schemeClr val="bg1"/>
                </a:solidFill>
              </a:rPr>
              <a:t> in the provision of </a:t>
            </a:r>
            <a:r>
              <a:rPr lang="en-US" sz="2800" b="1" dirty="0">
                <a:solidFill>
                  <a:schemeClr val="bg1"/>
                </a:solidFill>
              </a:rPr>
              <a:t>publicly funded services</a:t>
            </a:r>
            <a:r>
              <a:rPr lang="en-US" sz="2800" dirty="0">
                <a:solidFill>
                  <a:schemeClr val="bg1"/>
                </a:solidFill>
              </a:rPr>
              <a:t> for </a:t>
            </a:r>
            <a:r>
              <a:rPr lang="en-US" sz="2800" u="sng" dirty="0">
                <a:solidFill>
                  <a:schemeClr val="bg1"/>
                </a:solidFill>
              </a:rPr>
              <a:t>all</a:t>
            </a:r>
            <a:r>
              <a:rPr lang="en-US" sz="2800" dirty="0">
                <a:solidFill>
                  <a:schemeClr val="bg1"/>
                </a:solidFill>
              </a:rPr>
              <a:t> working age citizens with disabilities, regardless of level of disability.</a:t>
            </a:r>
          </a:p>
        </p:txBody>
      </p:sp>
      <p:sp>
        <p:nvSpPr>
          <p:cNvPr id="2" name="Slide Number Placeholder 1"/>
          <p:cNvSpPr>
            <a:spLocks noGrp="1"/>
          </p:cNvSpPr>
          <p:nvPr>
            <p:ph type="sldNum" sz="quarter" idx="12"/>
          </p:nvPr>
        </p:nvSpPr>
        <p:spPr/>
        <p:txBody>
          <a:bodyPr/>
          <a:lstStyle/>
          <a:p>
            <a:pPr>
              <a:defRPr/>
            </a:pPr>
            <a:fld id="{DE0518C9-3CC7-7448-AD05-3CB269384775}" type="slidenum">
              <a:rPr lang="en-US" smtClean="0"/>
              <a:pPr>
                <a:defRPr/>
              </a:pPr>
              <a:t>22</a:t>
            </a:fld>
            <a:endParaRPr lang="en-US" dirty="0"/>
          </a:p>
        </p:txBody>
      </p:sp>
    </p:spTree>
    <p:extLst>
      <p:ext uri="{BB962C8B-B14F-4D97-AF65-F5344CB8AC3E}">
        <p14:creationId xmlns:p14="http://schemas.microsoft.com/office/powerpoint/2010/main" val="1760582227"/>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23</a:t>
            </a:fld>
            <a:endParaRPr lang="en-US" dirty="0"/>
          </a:p>
        </p:txBody>
      </p:sp>
      <p:graphicFrame>
        <p:nvGraphicFramePr>
          <p:cNvPr id="5" name="Diagram 4"/>
          <p:cNvGraphicFramePr/>
          <p:nvPr>
            <p:extLst>
              <p:ext uri="{D42A27DB-BD31-4B8C-83A1-F6EECF244321}">
                <p14:modId xmlns:p14="http://schemas.microsoft.com/office/powerpoint/2010/main" val="2425313746"/>
              </p:ext>
            </p:extLst>
          </p:nvPr>
        </p:nvGraphicFramePr>
        <p:xfrm>
          <a:off x="203200" y="571500"/>
          <a:ext cx="8801100" cy="629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descr="newspaper_check_jobs_800_wht_12083.jpg"/>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0" y="5143500"/>
            <a:ext cx="2032000" cy="1714500"/>
          </a:xfrm>
          <a:prstGeom prst="rect">
            <a:avLst/>
          </a:prstGeom>
        </p:spPr>
      </p:pic>
    </p:spTree>
    <p:extLst>
      <p:ext uri="{BB962C8B-B14F-4D97-AF65-F5344CB8AC3E}">
        <p14:creationId xmlns:p14="http://schemas.microsoft.com/office/powerpoint/2010/main" val="1745527481"/>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65100" y="381000"/>
            <a:ext cx="6019800" cy="4800600"/>
          </a:xfrm>
          <a:scene3d>
            <a:camera prst="orthographicFront"/>
            <a:lightRig rig="threePt" dir="t"/>
          </a:scene3d>
          <a:sp3d>
            <a:bevelT w="139700" h="139700" prst="divot"/>
          </a:sp3d>
        </p:spPr>
        <p:txBody>
          <a:bodyPr/>
          <a:lstStyle/>
          <a:p>
            <a:pPr>
              <a:defRPr/>
            </a:pPr>
            <a:r>
              <a:rPr lang="en-US" sz="4800" i="0" dirty="0"/>
              <a:t>“Any darn fool can make something </a:t>
            </a:r>
            <a:r>
              <a:rPr lang="en-US" sz="4800" i="0" dirty="0" smtClean="0"/>
              <a:t>complicated;</a:t>
            </a:r>
            <a:br>
              <a:rPr lang="en-US" sz="4800" i="0" dirty="0" smtClean="0"/>
            </a:br>
            <a:r>
              <a:rPr lang="en-US" sz="4800" i="0" dirty="0" smtClean="0"/>
              <a:t>it takes </a:t>
            </a:r>
            <a:r>
              <a:rPr lang="en-US" sz="4800" i="0" dirty="0"/>
              <a:t>genius to </a:t>
            </a:r>
            <a:r>
              <a:rPr lang="en-US" sz="4800" i="0" dirty="0" smtClean="0"/>
              <a:t>achieve simplicity.</a:t>
            </a:r>
            <a:r>
              <a:rPr lang="en-US" sz="4800" i="0" dirty="0"/>
              <a:t>” </a:t>
            </a:r>
            <a:endParaRPr lang="en-US" sz="4800" i="0" dirty="0">
              <a:latin typeface="Comic Sans MS"/>
            </a:endParaRPr>
          </a:p>
        </p:txBody>
      </p:sp>
      <p:sp>
        <p:nvSpPr>
          <p:cNvPr id="3" name="Subtitle 2"/>
          <p:cNvSpPr>
            <a:spLocks noGrp="1"/>
          </p:cNvSpPr>
          <p:nvPr>
            <p:ph type="subTitle" idx="4294967295"/>
          </p:nvPr>
        </p:nvSpPr>
        <p:spPr>
          <a:xfrm>
            <a:off x="4419600" y="5257800"/>
            <a:ext cx="4724400" cy="914400"/>
          </a:xfrm>
        </p:spPr>
        <p:txBody>
          <a:bodyPr/>
          <a:lstStyle/>
          <a:p>
            <a:pPr>
              <a:defRPr/>
            </a:pPr>
            <a:r>
              <a:rPr lang="en-US" dirty="0" smtClean="0"/>
              <a:t>Woody Guthrie</a:t>
            </a:r>
            <a:endParaRPr lang="en-US" dirty="0"/>
          </a:p>
        </p:txBody>
      </p:sp>
      <p:pic>
        <p:nvPicPr>
          <p:cNvPr id="27653" name="Picture 3" descr="woody.jpe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943600" y="1828800"/>
            <a:ext cx="3054350" cy="24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76D09E21-E3A5-A34B-9A90-0AE5B5561539}" type="slidenum">
              <a:rPr lang="en-US" smtClean="0"/>
              <a:pPr>
                <a:defRPr/>
              </a:pPr>
              <a:t>24</a:t>
            </a:fld>
            <a:endParaRPr lang="en-US" dirty="0">
              <a:solidFill>
                <a:schemeClr val="bg2">
                  <a:shade val="50000"/>
                </a:schemeClr>
              </a:solidFill>
            </a:endParaRPr>
          </a:p>
        </p:txBody>
      </p:sp>
    </p:spTree>
    <p:extLst>
      <p:ext uri="{BB962C8B-B14F-4D97-AF65-F5344CB8AC3E}">
        <p14:creationId xmlns:p14="http://schemas.microsoft.com/office/powerpoint/2010/main" val="236456267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3937000" y="2362200"/>
            <a:ext cx="1320800" cy="1219200"/>
          </a:xfrm>
          <a:prstGeom prst="ellipse">
            <a:avLst/>
          </a:prstGeom>
          <a:solidFill>
            <a:schemeClr val="tx2"/>
          </a:solidFill>
          <a:ln>
            <a:solidFill>
              <a:schemeClr val="tx2"/>
            </a:solidFill>
          </a:ln>
          <a:effectLst>
            <a:glow rad="228600">
              <a:schemeClr val="accent6">
                <a:satMod val="175000"/>
                <a:alpha val="40000"/>
              </a:schemeClr>
            </a:glow>
            <a:outerShdw blurRad="38100" dist="25400" dir="2700000" algn="br" rotWithShape="0">
              <a:srgbClr val="000000">
                <a:alpha val="6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2">
                  <a:lumMod val="75000"/>
                </a:schemeClr>
              </a:solidFill>
            </a:endParaRPr>
          </a:p>
        </p:txBody>
      </p:sp>
      <p:sp>
        <p:nvSpPr>
          <p:cNvPr id="6" name="TextBox 5"/>
          <p:cNvSpPr txBox="1"/>
          <p:nvPr/>
        </p:nvSpPr>
        <p:spPr>
          <a:xfrm>
            <a:off x="228600" y="3846719"/>
            <a:ext cx="3517900" cy="954107"/>
          </a:xfrm>
          <a:prstGeom prst="rect">
            <a:avLst/>
          </a:prstGeom>
          <a:effectLst>
            <a:glow rad="101600">
              <a:schemeClr val="accent6">
                <a:satMod val="175000"/>
                <a:alpha val="40000"/>
              </a:schemeClr>
            </a:glow>
          </a:effectLst>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defRPr/>
            </a:pPr>
            <a:r>
              <a:rPr lang="en-US" sz="2800" dirty="0" smtClean="0"/>
              <a:t>30</a:t>
            </a:r>
            <a:r>
              <a:rPr lang="en-US" sz="2800" dirty="0"/>
              <a:t>+ S</a:t>
            </a:r>
            <a:r>
              <a:rPr lang="en-US" sz="2800" dirty="0" smtClean="0"/>
              <a:t>tates </a:t>
            </a:r>
            <a:r>
              <a:rPr lang="en-US" sz="2800" dirty="0"/>
              <a:t>W</a:t>
            </a:r>
            <a:r>
              <a:rPr lang="en-US" sz="2800" dirty="0" smtClean="0"/>
              <a:t>ith </a:t>
            </a:r>
            <a:r>
              <a:rPr lang="en-US" sz="2800" dirty="0"/>
              <a:t>an</a:t>
            </a:r>
            <a:br>
              <a:rPr lang="en-US" sz="2800" dirty="0"/>
            </a:br>
            <a:r>
              <a:rPr lang="en-US" sz="2800" dirty="0"/>
              <a:t>Official </a:t>
            </a:r>
            <a:r>
              <a:rPr lang="en-US" sz="2800" dirty="0" smtClean="0"/>
              <a:t>Policy</a:t>
            </a:r>
            <a:endParaRPr lang="en-US" sz="2800" dirty="0"/>
          </a:p>
        </p:txBody>
      </p:sp>
      <p:pic>
        <p:nvPicPr>
          <p:cNvPr id="7" name="Picture 6" descr="MC900349411.WM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4000" y="2520373"/>
            <a:ext cx="4622800" cy="3588327"/>
          </a:xfrm>
          <a:prstGeom prst="rect">
            <a:avLst/>
          </a:prstGeom>
        </p:spPr>
      </p:pic>
      <p:pic>
        <p:nvPicPr>
          <p:cNvPr id="8" name="Picture 7" descr="employment_first_emp_now.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803900" y="4064000"/>
            <a:ext cx="1551597" cy="1176415"/>
          </a:xfrm>
          <a:prstGeom prst="rect">
            <a:avLst/>
          </a:prstGeom>
          <a:ln w="12700" cmpd="sng">
            <a:solidFill>
              <a:srgbClr val="0000FF"/>
            </a:solidFill>
          </a:ln>
        </p:spPr>
      </p:pic>
      <p:sp>
        <p:nvSpPr>
          <p:cNvPr id="2" name="Title 1"/>
          <p:cNvSpPr>
            <a:spLocks noGrp="1"/>
          </p:cNvSpPr>
          <p:nvPr>
            <p:ph type="title"/>
          </p:nvPr>
        </p:nvSpPr>
        <p:spPr>
          <a:xfrm>
            <a:off x="228600" y="762000"/>
            <a:ext cx="5791200" cy="685800"/>
          </a:xfrm>
          <a:effectLst>
            <a:glow rad="228600">
              <a:schemeClr val="accent2">
                <a:satMod val="175000"/>
                <a:alpha val="40000"/>
              </a:schemeClr>
            </a:glow>
          </a:effectLst>
          <a:scene3d>
            <a:camera prst="isometricOffAxis1Right"/>
            <a:lightRig rig="threePt" dir="t"/>
          </a:scene3d>
        </p:spPr>
        <p:txBody>
          <a:bodyPr/>
          <a:lstStyle/>
          <a:p>
            <a:r>
              <a:rPr lang="en-US" sz="3600" b="1" dirty="0" smtClean="0"/>
              <a:t>A NATIONAL MOVEMENT</a:t>
            </a:r>
            <a:endParaRPr lang="en-US" sz="3600" b="1" dirty="0"/>
          </a:p>
        </p:txBody>
      </p:sp>
      <p:sp>
        <p:nvSpPr>
          <p:cNvPr id="3" name="Slide Number Placeholder 2"/>
          <p:cNvSpPr>
            <a:spLocks noGrp="1"/>
          </p:cNvSpPr>
          <p:nvPr>
            <p:ph type="sldNum" sz="quarter" idx="12"/>
          </p:nvPr>
        </p:nvSpPr>
        <p:spPr/>
        <p:txBody>
          <a:bodyPr/>
          <a:lstStyle/>
          <a:p>
            <a:pPr>
              <a:defRPr/>
            </a:pPr>
            <a:fld id="{DE0518C9-3CC7-7448-AD05-3CB269384775}" type="slidenum">
              <a:rPr lang="en-US" smtClean="0"/>
              <a:pPr>
                <a:defRPr/>
              </a:pPr>
              <a:t>25</a:t>
            </a:fld>
            <a:endParaRPr lang="en-US" dirty="0"/>
          </a:p>
        </p:txBody>
      </p:sp>
      <p:sp>
        <p:nvSpPr>
          <p:cNvPr id="10" name="TextBox 9"/>
          <p:cNvSpPr txBox="1"/>
          <p:nvPr/>
        </p:nvSpPr>
        <p:spPr>
          <a:xfrm>
            <a:off x="5435600" y="2032000"/>
            <a:ext cx="3251200" cy="830997"/>
          </a:xfrm>
          <a:prstGeom prst="rect">
            <a:avLst/>
          </a:prstGeom>
          <a:noFill/>
        </p:spPr>
        <p:txBody>
          <a:bodyPr wrap="square" rtlCol="0">
            <a:spAutoFit/>
          </a:bodyPr>
          <a:lstStyle/>
          <a:p>
            <a:r>
              <a:rPr lang="en-US" sz="2400" b="1" i="1" dirty="0" smtClean="0"/>
              <a:t>Legislation passed</a:t>
            </a:r>
          </a:p>
          <a:p>
            <a:r>
              <a:rPr lang="en-US" sz="2400" b="1" i="1" dirty="0" smtClean="0"/>
              <a:t>in 2014</a:t>
            </a:r>
            <a:endParaRPr lang="en-US" sz="2400" b="1" i="1" dirty="0"/>
          </a:p>
        </p:txBody>
      </p:sp>
    </p:spTree>
    <p:extLst>
      <p:ext uri="{BB962C8B-B14F-4D97-AF65-F5344CB8AC3E}">
        <p14:creationId xmlns:p14="http://schemas.microsoft.com/office/powerpoint/2010/main" val="756418019"/>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par>
                                <p:cTn id="7" presetID="9" presetClass="entr" presetSubtype="0" fill="hold" nodeType="withEffect">
                                  <p:stCondLst>
                                    <p:cond delay="3000"/>
                                  </p:stCondLst>
                                  <p:childTnLst>
                                    <p:set>
                                      <p:cBhvr>
                                        <p:cTn id="8" dur="1" fill="hold">
                                          <p:stCondLst>
                                            <p:cond delay="0"/>
                                          </p:stCondLst>
                                        </p:cTn>
                                        <p:tgtEl>
                                          <p:spTgt spid="6"/>
                                        </p:tgtEl>
                                        <p:attrNameLst>
                                          <p:attrName>style.visibility</p:attrName>
                                        </p:attrNameLst>
                                      </p:cBhvr>
                                      <p:to>
                                        <p:strVal val="visible"/>
                                      </p:to>
                                    </p:set>
                                    <p:animEffect transition="in" filter="dissolve">
                                      <p:cBhvr>
                                        <p:cTn id="9" dur="1000"/>
                                        <p:tgtEl>
                                          <p:spTgt spid="6"/>
                                        </p:tgtEl>
                                      </p:cBhvr>
                                    </p:animEffect>
                                  </p:childTnLst>
                                </p:cTn>
                              </p:par>
                              <p:par>
                                <p:cTn id="10" presetID="9" presetClass="entr" presetSubtype="0" fill="hold" nodeType="withEffect">
                                  <p:stCondLst>
                                    <p:cond delay="300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1000"/>
                                        <p:tgtEl>
                                          <p:spTgt spid="7"/>
                                        </p:tgtEl>
                                      </p:cBhvr>
                                    </p:animEffect>
                                  </p:childTnLst>
                                </p:cTn>
                              </p:par>
                              <p:par>
                                <p:cTn id="13" presetID="9" presetClass="entr" presetSubtype="0" fill="hold" nodeType="withEffect">
                                  <p:stCondLst>
                                    <p:cond delay="300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10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par>
                                <p:cTn id="20" presetID="35" presetClass="emph" presetSubtype="0" repeatCount="5000" fill="hold" grpId="1" nodeType="withEffect">
                                  <p:stCondLst>
                                    <p:cond delay="0"/>
                                  </p:stCondLst>
                                  <p:childTnLst>
                                    <p:anim calcmode="discrete" valueType="str">
                                      <p:cBhvr>
                                        <p:cTn id="21" dur="1000" fill="hold"/>
                                        <p:tgtEl>
                                          <p:spTgt spid="5"/>
                                        </p:tgtEl>
                                        <p:attrNameLst>
                                          <p:attrName>style.visibility</p:attrName>
                                        </p:attrNameLst>
                                      </p:cBhvr>
                                      <p:tavLst>
                                        <p:tav tm="0">
                                          <p:val>
                                            <p:strVal val="hidden"/>
                                          </p:val>
                                        </p:tav>
                                        <p:tav tm="50000">
                                          <p:val>
                                            <p:strVal val="visible"/>
                                          </p:val>
                                        </p:tav>
                                      </p:tavLst>
                                    </p:anim>
                                  </p:childTnLst>
                                </p:cTn>
                              </p:par>
                              <p:par>
                                <p:cTn id="22" presetID="1" presetClass="entr" presetSubtype="0" fill="hold" grpId="0" nodeType="withEffect">
                                  <p:stCondLst>
                                    <p:cond delay="500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2" grpId="0" animBg="1"/>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laska Legislation Final copy.pdf"/>
          <p:cNvPicPr>
            <a:picLocks noGrp="1" noChangeAspect="1"/>
          </p:cNvPicPr>
          <p:nvPr>
            <p:ph idx="1"/>
          </p:nvPr>
        </p:nvPicPr>
        <p:blipFill rotWithShape="1">
          <a:blip r:embed="rId2" cstate="email">
            <a:extLst>
              <a:ext uri="{28A0092B-C50C-407E-A947-70E740481C1C}">
                <a14:useLocalDpi xmlns:a14="http://schemas.microsoft.com/office/drawing/2010/main" val="0"/>
              </a:ext>
            </a:extLst>
          </a:blip>
          <a:srcRect t="-253" b="-758"/>
          <a:stretch/>
        </p:blipFill>
        <p:spPr>
          <a:xfrm>
            <a:off x="1562100" y="554070"/>
            <a:ext cx="4635500" cy="6059478"/>
          </a:xfrm>
          <a:ln>
            <a:solidFill>
              <a:schemeClr val="tx1"/>
            </a:solidFill>
          </a:ln>
        </p:spPr>
      </p:pic>
      <p:pic>
        <p:nvPicPr>
          <p:cNvPr id="7" name="Picture 6" descr="Alaska Legislation Final copy 2.pdf"/>
          <p:cNvPicPr>
            <a:picLocks noChangeAspect="1"/>
          </p:cNvPicPr>
          <p:nvPr/>
        </p:nvPicPr>
        <p:blipFill rotWithShape="1">
          <a:blip r:embed="rId3" cstate="email">
            <a:extLst>
              <a:ext uri="{28A0092B-C50C-407E-A947-70E740481C1C}">
                <a14:useLocalDpi xmlns:a14="http://schemas.microsoft.com/office/drawing/2010/main" val="0"/>
              </a:ext>
            </a:extLst>
          </a:blip>
          <a:srcRect l="15403" t="74074" r="5032" b="7037"/>
          <a:stretch/>
        </p:blipFill>
        <p:spPr>
          <a:xfrm>
            <a:off x="1479550" y="2909371"/>
            <a:ext cx="5390029" cy="1655973"/>
          </a:xfrm>
          <a:prstGeom prst="rect">
            <a:avLst/>
          </a:prstGeom>
          <a:ln w="28575" cap="rnd" cmpd="sng">
            <a:solidFill>
              <a:schemeClr val="tx1"/>
            </a:solidFill>
            <a:prstDash val="sysDot"/>
          </a:ln>
        </p:spPr>
      </p:pic>
      <p:sp>
        <p:nvSpPr>
          <p:cNvPr id="2" name="Slide Number Placeholder 1"/>
          <p:cNvSpPr>
            <a:spLocks noGrp="1"/>
          </p:cNvSpPr>
          <p:nvPr>
            <p:ph type="sldNum" sz="quarter" idx="12"/>
          </p:nvPr>
        </p:nvSpPr>
        <p:spPr/>
        <p:txBody>
          <a:bodyPr/>
          <a:lstStyle/>
          <a:p>
            <a:pPr>
              <a:defRPr/>
            </a:pPr>
            <a:fld id="{DE0518C9-3CC7-7448-AD05-3CB269384775}" type="slidenum">
              <a:rPr lang="en-US" smtClean="0"/>
              <a:pPr>
                <a:defRPr/>
              </a:pPr>
              <a:t>26</a:t>
            </a:fld>
            <a:endParaRPr lang="en-US" dirty="0"/>
          </a:p>
        </p:txBody>
      </p:sp>
      <p:pic>
        <p:nvPicPr>
          <p:cNvPr id="5" name="Picture 4" descr="Alaska Legislation Final copy 2.pdf"/>
          <p:cNvPicPr>
            <a:picLocks noChangeAspect="1"/>
          </p:cNvPicPr>
          <p:nvPr/>
        </p:nvPicPr>
        <p:blipFill rotWithShape="1">
          <a:blip r:embed="rId4" cstate="email">
            <a:extLst>
              <a:ext uri="{28A0092B-C50C-407E-A947-70E740481C1C}">
                <a14:useLocalDpi xmlns:a14="http://schemas.microsoft.com/office/drawing/2010/main" val="0"/>
              </a:ext>
            </a:extLst>
          </a:blip>
          <a:srcRect l="16056" t="19074" r="9171" b="64629"/>
          <a:stretch/>
        </p:blipFill>
        <p:spPr>
          <a:xfrm>
            <a:off x="1365250" y="914400"/>
            <a:ext cx="4457700" cy="1257300"/>
          </a:xfrm>
          <a:prstGeom prst="rect">
            <a:avLst/>
          </a:prstGeom>
          <a:ln w="28575" cmpd="sng">
            <a:solidFill>
              <a:schemeClr val="tx1"/>
            </a:solidFill>
            <a:prstDash val="sysDot"/>
          </a:ln>
        </p:spPr>
      </p:pic>
      <p:pic>
        <p:nvPicPr>
          <p:cNvPr id="6" name="Picture 5" descr="Screenshot 2017-03-21 09.53.22.png"/>
          <p:cNvPicPr>
            <a:picLocks noChangeAspect="1"/>
          </p:cNvPicPr>
          <p:nvPr/>
        </p:nvPicPr>
        <p:blipFill rotWithShape="1">
          <a:blip r:embed="rId5" cstate="email">
            <a:extLst>
              <a:ext uri="{28A0092B-C50C-407E-A947-70E740481C1C}">
                <a14:useLocalDpi xmlns:a14="http://schemas.microsoft.com/office/drawing/2010/main" val="0"/>
              </a:ext>
            </a:extLst>
          </a:blip>
          <a:srcRect l="17222" t="11347" r="52361" b="76222"/>
          <a:stretch/>
        </p:blipFill>
        <p:spPr>
          <a:xfrm>
            <a:off x="5524499" y="2717800"/>
            <a:ext cx="3430499" cy="876300"/>
          </a:xfrm>
          <a:prstGeom prst="rect">
            <a:avLst/>
          </a:prstGeom>
        </p:spPr>
      </p:pic>
      <p:pic>
        <p:nvPicPr>
          <p:cNvPr id="8" name="Picture 7" descr="Alaska Legislation Final copy 2.pdf"/>
          <p:cNvPicPr>
            <a:picLocks noChangeAspect="1"/>
          </p:cNvPicPr>
          <p:nvPr/>
        </p:nvPicPr>
        <p:blipFill rotWithShape="1">
          <a:blip r:embed="rId6" cstate="email">
            <a:extLst>
              <a:ext uri="{28A0092B-C50C-407E-A947-70E740481C1C}">
                <a14:useLocalDpi xmlns:a14="http://schemas.microsoft.com/office/drawing/2010/main" val="0"/>
              </a:ext>
            </a:extLst>
          </a:blip>
          <a:srcRect l="16297" t="24074" r="8933" b="59259"/>
          <a:stretch/>
        </p:blipFill>
        <p:spPr>
          <a:xfrm>
            <a:off x="1365250" y="4343399"/>
            <a:ext cx="4356100" cy="1256567"/>
          </a:xfrm>
          <a:prstGeom prst="rect">
            <a:avLst/>
          </a:prstGeom>
          <a:ln w="28575" cmpd="sng">
            <a:solidFill>
              <a:schemeClr val="tx1"/>
            </a:solidFill>
            <a:prstDash val="sysDot"/>
          </a:ln>
        </p:spPr>
      </p:pic>
      <p:pic>
        <p:nvPicPr>
          <p:cNvPr id="9" name="Picture 8" descr="Header_DHSS.jpg"/>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5219699" y="6082849"/>
            <a:ext cx="3725333" cy="661302"/>
          </a:xfrm>
          <a:prstGeom prst="rect">
            <a:avLst/>
          </a:prstGeom>
        </p:spPr>
      </p:pic>
    </p:spTree>
    <p:extLst>
      <p:ext uri="{BB962C8B-B14F-4D97-AF65-F5344CB8AC3E}">
        <p14:creationId xmlns:p14="http://schemas.microsoft.com/office/powerpoint/2010/main" val="52989363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000" fill="hold"/>
                                        <p:tgtEl>
                                          <p:spTgt spid="7"/>
                                        </p:tgtEl>
                                        <p:attrNameLst>
                                          <p:attrName>ppt_w</p:attrName>
                                        </p:attrNameLst>
                                      </p:cBhvr>
                                      <p:tavLst>
                                        <p:tav tm="0">
                                          <p:val>
                                            <p:fltVal val="0"/>
                                          </p:val>
                                        </p:tav>
                                        <p:tav tm="100000">
                                          <p:val>
                                            <p:strVal val="#ppt_w"/>
                                          </p:val>
                                        </p:tav>
                                      </p:tavLst>
                                    </p:anim>
                                    <p:anim calcmode="lin" valueType="num">
                                      <p:cBhvr>
                                        <p:cTn id="8" dur="2000" fill="hold"/>
                                        <p:tgtEl>
                                          <p:spTgt spid="7"/>
                                        </p:tgtEl>
                                        <p:attrNameLst>
                                          <p:attrName>ppt_h</p:attrName>
                                        </p:attrNameLst>
                                      </p:cBhvr>
                                      <p:tavLst>
                                        <p:tav tm="0">
                                          <p:val>
                                            <p:fltVal val="0"/>
                                          </p:val>
                                        </p:tav>
                                        <p:tav tm="100000">
                                          <p:val>
                                            <p:strVal val="#ppt_h"/>
                                          </p:val>
                                        </p:tav>
                                      </p:tavLst>
                                    </p:anim>
                                    <p:animEffect transition="in" filter="fade">
                                      <p:cBhvr>
                                        <p:cTn id="9" dur="2000"/>
                                        <p:tgtEl>
                                          <p:spTgt spid="7"/>
                                        </p:tgtEl>
                                      </p:cBhvr>
                                    </p:animEffect>
                                  </p:childTnLst>
                                </p:cTn>
                              </p:par>
                              <p:par>
                                <p:cTn id="10" presetID="53" presetClass="exit" presetSubtype="32" fill="hold" nodeType="withEffect">
                                  <p:stCondLst>
                                    <p:cond delay="1000"/>
                                  </p:stCondLst>
                                  <p:childTnLst>
                                    <p:anim calcmode="lin" valueType="num">
                                      <p:cBhvr>
                                        <p:cTn id="11" dur="2000"/>
                                        <p:tgtEl>
                                          <p:spTgt spid="4"/>
                                        </p:tgtEl>
                                        <p:attrNameLst>
                                          <p:attrName>ppt_w</p:attrName>
                                        </p:attrNameLst>
                                      </p:cBhvr>
                                      <p:tavLst>
                                        <p:tav tm="0">
                                          <p:val>
                                            <p:strVal val="ppt_w"/>
                                          </p:val>
                                        </p:tav>
                                        <p:tav tm="100000">
                                          <p:val>
                                            <p:fltVal val="0"/>
                                          </p:val>
                                        </p:tav>
                                      </p:tavLst>
                                    </p:anim>
                                    <p:anim calcmode="lin" valueType="num">
                                      <p:cBhvr>
                                        <p:cTn id="12" dur="2000"/>
                                        <p:tgtEl>
                                          <p:spTgt spid="4"/>
                                        </p:tgtEl>
                                        <p:attrNameLst>
                                          <p:attrName>ppt_h</p:attrName>
                                        </p:attrNameLst>
                                      </p:cBhvr>
                                      <p:tavLst>
                                        <p:tav tm="0">
                                          <p:val>
                                            <p:strVal val="ppt_h"/>
                                          </p:val>
                                        </p:tav>
                                        <p:tav tm="100000">
                                          <p:val>
                                            <p:fltVal val="0"/>
                                          </p:val>
                                        </p:tav>
                                      </p:tavLst>
                                    </p:anim>
                                    <p:animEffect transition="out" filter="fade">
                                      <p:cBhvr>
                                        <p:cTn id="13" dur="2000"/>
                                        <p:tgtEl>
                                          <p:spTgt spid="4"/>
                                        </p:tgtEl>
                                      </p:cBhvr>
                                    </p:animEffect>
                                    <p:set>
                                      <p:cBhvr>
                                        <p:cTn id="14" dur="1" fill="hold">
                                          <p:stCondLst>
                                            <p:cond delay="1999"/>
                                          </p:stCondLst>
                                        </p:cTn>
                                        <p:tgtEl>
                                          <p:spTgt spid="4"/>
                                        </p:tgtEl>
                                        <p:attrNameLst>
                                          <p:attrName>style.visibility</p:attrName>
                                        </p:attrNameLst>
                                      </p:cBhvr>
                                      <p:to>
                                        <p:strVal val="hidden"/>
                                      </p:to>
                                    </p:set>
                                  </p:childTnLst>
                                </p:cTn>
                              </p:par>
                              <p:par>
                                <p:cTn id="15" presetID="6" presetClass="emph" presetSubtype="0" fill="hold" nodeType="withEffect">
                                  <p:stCondLst>
                                    <p:cond delay="0"/>
                                  </p:stCondLst>
                                  <p:childTnLst>
                                    <p:animScale>
                                      <p:cBhvr>
                                        <p:cTn id="16" dur="2000" fill="hold"/>
                                        <p:tgtEl>
                                          <p:spTgt spid="7"/>
                                        </p:tgtEl>
                                      </p:cBhvr>
                                      <p:by x="150000" y="150000"/>
                                    </p:animScale>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2000"/>
                                        <p:tgtEl>
                                          <p:spTgt spid="7"/>
                                        </p:tgtEl>
                                      </p:cBhvr>
                                    </p:animEffect>
                                    <p:set>
                                      <p:cBhvr>
                                        <p:cTn id="21" dur="1" fill="hold">
                                          <p:stCondLst>
                                            <p:cond delay="1999"/>
                                          </p:stCondLst>
                                        </p:cTn>
                                        <p:tgtEl>
                                          <p:spTgt spid="7"/>
                                        </p:tgtEl>
                                        <p:attrNameLst>
                                          <p:attrName>style.visibility</p:attrName>
                                        </p:attrNameLst>
                                      </p:cBhvr>
                                      <p:to>
                                        <p:strVal val="hidden"/>
                                      </p:to>
                                    </p:set>
                                  </p:childTnLst>
                                </p:cTn>
                              </p:par>
                              <p:par>
                                <p:cTn id="22" presetID="53" presetClass="entr" presetSubtype="16"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2000" fill="hold"/>
                                        <p:tgtEl>
                                          <p:spTgt spid="4"/>
                                        </p:tgtEl>
                                        <p:attrNameLst>
                                          <p:attrName>ppt_w</p:attrName>
                                        </p:attrNameLst>
                                      </p:cBhvr>
                                      <p:tavLst>
                                        <p:tav tm="0">
                                          <p:val>
                                            <p:fltVal val="0"/>
                                          </p:val>
                                        </p:tav>
                                        <p:tav tm="100000">
                                          <p:val>
                                            <p:strVal val="#ppt_w"/>
                                          </p:val>
                                        </p:tav>
                                      </p:tavLst>
                                    </p:anim>
                                    <p:anim calcmode="lin" valueType="num">
                                      <p:cBhvr>
                                        <p:cTn id="25" dur="2000" fill="hold"/>
                                        <p:tgtEl>
                                          <p:spTgt spid="4"/>
                                        </p:tgtEl>
                                        <p:attrNameLst>
                                          <p:attrName>ppt_h</p:attrName>
                                        </p:attrNameLst>
                                      </p:cBhvr>
                                      <p:tavLst>
                                        <p:tav tm="0">
                                          <p:val>
                                            <p:fltVal val="0"/>
                                          </p:val>
                                        </p:tav>
                                        <p:tav tm="100000">
                                          <p:val>
                                            <p:strVal val="#ppt_h"/>
                                          </p:val>
                                        </p:tav>
                                      </p:tavLst>
                                    </p:anim>
                                    <p:animEffect transition="in" filter="fade">
                                      <p:cBhvr>
                                        <p:cTn id="26" dur="20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53" presetClass="exit" presetSubtype="32" fill="hold" nodeType="clickEffect">
                                  <p:stCondLst>
                                    <p:cond delay="1000"/>
                                  </p:stCondLst>
                                  <p:childTnLst>
                                    <p:anim calcmode="lin" valueType="num">
                                      <p:cBhvr>
                                        <p:cTn id="30" dur="2000"/>
                                        <p:tgtEl>
                                          <p:spTgt spid="4"/>
                                        </p:tgtEl>
                                        <p:attrNameLst>
                                          <p:attrName>ppt_w</p:attrName>
                                        </p:attrNameLst>
                                      </p:cBhvr>
                                      <p:tavLst>
                                        <p:tav tm="0">
                                          <p:val>
                                            <p:strVal val="ppt_w"/>
                                          </p:val>
                                        </p:tav>
                                        <p:tav tm="100000">
                                          <p:val>
                                            <p:fltVal val="0"/>
                                          </p:val>
                                        </p:tav>
                                      </p:tavLst>
                                    </p:anim>
                                    <p:anim calcmode="lin" valueType="num">
                                      <p:cBhvr>
                                        <p:cTn id="31" dur="2000"/>
                                        <p:tgtEl>
                                          <p:spTgt spid="4"/>
                                        </p:tgtEl>
                                        <p:attrNameLst>
                                          <p:attrName>ppt_h</p:attrName>
                                        </p:attrNameLst>
                                      </p:cBhvr>
                                      <p:tavLst>
                                        <p:tav tm="0">
                                          <p:val>
                                            <p:strVal val="ppt_h"/>
                                          </p:val>
                                        </p:tav>
                                        <p:tav tm="100000">
                                          <p:val>
                                            <p:fltVal val="0"/>
                                          </p:val>
                                        </p:tav>
                                      </p:tavLst>
                                    </p:anim>
                                    <p:animEffect transition="out" filter="fade">
                                      <p:cBhvr>
                                        <p:cTn id="32" dur="2000"/>
                                        <p:tgtEl>
                                          <p:spTgt spid="4"/>
                                        </p:tgtEl>
                                      </p:cBhvr>
                                    </p:animEffect>
                                    <p:set>
                                      <p:cBhvr>
                                        <p:cTn id="33" dur="1" fill="hold">
                                          <p:stCondLst>
                                            <p:cond delay="1999"/>
                                          </p:stCondLst>
                                        </p:cTn>
                                        <p:tgtEl>
                                          <p:spTgt spid="4"/>
                                        </p:tgtEl>
                                        <p:attrNameLst>
                                          <p:attrName>style.visibility</p:attrName>
                                        </p:attrNameLst>
                                      </p:cBhvr>
                                      <p:to>
                                        <p:strVal val="hidden"/>
                                      </p:to>
                                    </p:set>
                                  </p:childTnLst>
                                </p:cTn>
                              </p:par>
                              <p:par>
                                <p:cTn id="34" presetID="53" presetClass="entr" presetSubtype="16" fill="hold" nodeType="with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p:cTn id="36" dur="2000" fill="hold"/>
                                        <p:tgtEl>
                                          <p:spTgt spid="5"/>
                                        </p:tgtEl>
                                        <p:attrNameLst>
                                          <p:attrName>ppt_w</p:attrName>
                                        </p:attrNameLst>
                                      </p:cBhvr>
                                      <p:tavLst>
                                        <p:tav tm="0">
                                          <p:val>
                                            <p:fltVal val="0"/>
                                          </p:val>
                                        </p:tav>
                                        <p:tav tm="100000">
                                          <p:val>
                                            <p:strVal val="#ppt_w"/>
                                          </p:val>
                                        </p:tav>
                                      </p:tavLst>
                                    </p:anim>
                                    <p:anim calcmode="lin" valueType="num">
                                      <p:cBhvr>
                                        <p:cTn id="37" dur="2000" fill="hold"/>
                                        <p:tgtEl>
                                          <p:spTgt spid="5"/>
                                        </p:tgtEl>
                                        <p:attrNameLst>
                                          <p:attrName>ppt_h</p:attrName>
                                        </p:attrNameLst>
                                      </p:cBhvr>
                                      <p:tavLst>
                                        <p:tav tm="0">
                                          <p:val>
                                            <p:fltVal val="0"/>
                                          </p:val>
                                        </p:tav>
                                        <p:tav tm="100000">
                                          <p:val>
                                            <p:strVal val="#ppt_h"/>
                                          </p:val>
                                        </p:tav>
                                      </p:tavLst>
                                    </p:anim>
                                    <p:animEffect transition="in" filter="fade">
                                      <p:cBhvr>
                                        <p:cTn id="38" dur="2000"/>
                                        <p:tgtEl>
                                          <p:spTgt spid="5"/>
                                        </p:tgtEl>
                                      </p:cBhvr>
                                    </p:animEffect>
                                  </p:childTnLst>
                                </p:cTn>
                              </p:par>
                              <p:par>
                                <p:cTn id="39" presetID="6" presetClass="emph" presetSubtype="0" fill="hold" nodeType="withEffect">
                                  <p:stCondLst>
                                    <p:cond delay="0"/>
                                  </p:stCondLst>
                                  <p:childTnLst>
                                    <p:animScale>
                                      <p:cBhvr>
                                        <p:cTn id="40" dur="2000" fill="hold"/>
                                        <p:tgtEl>
                                          <p:spTgt spid="5"/>
                                        </p:tgtEl>
                                      </p:cBhvr>
                                      <p:by x="150000" y="150000"/>
                                    </p:animScale>
                                  </p:childTnLst>
                                </p:cTn>
                              </p:par>
                              <p:par>
                                <p:cTn id="41" presetID="53" presetClass="entr" presetSubtype="16" fill="hold" nodeType="with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p:cTn id="43" dur="2000" fill="hold"/>
                                        <p:tgtEl>
                                          <p:spTgt spid="6"/>
                                        </p:tgtEl>
                                        <p:attrNameLst>
                                          <p:attrName>ppt_w</p:attrName>
                                        </p:attrNameLst>
                                      </p:cBhvr>
                                      <p:tavLst>
                                        <p:tav tm="0">
                                          <p:val>
                                            <p:fltVal val="0"/>
                                          </p:val>
                                        </p:tav>
                                        <p:tav tm="100000">
                                          <p:val>
                                            <p:strVal val="#ppt_w"/>
                                          </p:val>
                                        </p:tav>
                                      </p:tavLst>
                                    </p:anim>
                                    <p:anim calcmode="lin" valueType="num">
                                      <p:cBhvr>
                                        <p:cTn id="44" dur="2000" fill="hold"/>
                                        <p:tgtEl>
                                          <p:spTgt spid="6"/>
                                        </p:tgtEl>
                                        <p:attrNameLst>
                                          <p:attrName>ppt_h</p:attrName>
                                        </p:attrNameLst>
                                      </p:cBhvr>
                                      <p:tavLst>
                                        <p:tav tm="0">
                                          <p:val>
                                            <p:fltVal val="0"/>
                                          </p:val>
                                        </p:tav>
                                        <p:tav tm="100000">
                                          <p:val>
                                            <p:strVal val="#ppt_h"/>
                                          </p:val>
                                        </p:tav>
                                      </p:tavLst>
                                    </p:anim>
                                    <p:animEffect transition="in" filter="fade">
                                      <p:cBhvr>
                                        <p:cTn id="45" dur="20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 calcmode="lin" valueType="num">
                                      <p:cBhvr>
                                        <p:cTn id="50" dur="2000" fill="hold"/>
                                        <p:tgtEl>
                                          <p:spTgt spid="8"/>
                                        </p:tgtEl>
                                        <p:attrNameLst>
                                          <p:attrName>ppt_w</p:attrName>
                                        </p:attrNameLst>
                                      </p:cBhvr>
                                      <p:tavLst>
                                        <p:tav tm="0">
                                          <p:val>
                                            <p:fltVal val="0"/>
                                          </p:val>
                                        </p:tav>
                                        <p:tav tm="100000">
                                          <p:val>
                                            <p:strVal val="#ppt_w"/>
                                          </p:val>
                                        </p:tav>
                                      </p:tavLst>
                                    </p:anim>
                                    <p:anim calcmode="lin" valueType="num">
                                      <p:cBhvr>
                                        <p:cTn id="51" dur="2000" fill="hold"/>
                                        <p:tgtEl>
                                          <p:spTgt spid="8"/>
                                        </p:tgtEl>
                                        <p:attrNameLst>
                                          <p:attrName>ppt_h</p:attrName>
                                        </p:attrNameLst>
                                      </p:cBhvr>
                                      <p:tavLst>
                                        <p:tav tm="0">
                                          <p:val>
                                            <p:fltVal val="0"/>
                                          </p:val>
                                        </p:tav>
                                        <p:tav tm="100000">
                                          <p:val>
                                            <p:strVal val="#ppt_h"/>
                                          </p:val>
                                        </p:tav>
                                      </p:tavLst>
                                    </p:anim>
                                    <p:animEffect transition="in" filter="fade">
                                      <p:cBhvr>
                                        <p:cTn id="52" dur="2000"/>
                                        <p:tgtEl>
                                          <p:spTgt spid="8"/>
                                        </p:tgtEl>
                                      </p:cBhvr>
                                    </p:animEffect>
                                  </p:childTnLst>
                                </p:cTn>
                              </p:par>
                              <p:par>
                                <p:cTn id="53" presetID="6" presetClass="emph" presetSubtype="0" fill="hold" nodeType="withEffect">
                                  <p:stCondLst>
                                    <p:cond delay="0"/>
                                  </p:stCondLst>
                                  <p:childTnLst>
                                    <p:animScale>
                                      <p:cBhvr>
                                        <p:cTn id="54" dur="2000" fill="hold"/>
                                        <p:tgtEl>
                                          <p:spTgt spid="8"/>
                                        </p:tgtEl>
                                      </p:cBhvr>
                                      <p:by x="150000" y="150000"/>
                                    </p:animScale>
                                  </p:childTnLst>
                                </p:cTn>
                              </p:par>
                              <p:par>
                                <p:cTn id="55" presetID="53" presetClass="entr" presetSubtype="16" fill="hold" nodeType="withEffect">
                                  <p:stCondLst>
                                    <p:cond delay="0"/>
                                  </p:stCondLst>
                                  <p:childTnLst>
                                    <p:set>
                                      <p:cBhvr>
                                        <p:cTn id="56" dur="1" fill="hold">
                                          <p:stCondLst>
                                            <p:cond delay="0"/>
                                          </p:stCondLst>
                                        </p:cTn>
                                        <p:tgtEl>
                                          <p:spTgt spid="9"/>
                                        </p:tgtEl>
                                        <p:attrNameLst>
                                          <p:attrName>style.visibility</p:attrName>
                                        </p:attrNameLst>
                                      </p:cBhvr>
                                      <p:to>
                                        <p:strVal val="visible"/>
                                      </p:to>
                                    </p:set>
                                    <p:anim calcmode="lin" valueType="num">
                                      <p:cBhvr>
                                        <p:cTn id="57" dur="2000" fill="hold"/>
                                        <p:tgtEl>
                                          <p:spTgt spid="9"/>
                                        </p:tgtEl>
                                        <p:attrNameLst>
                                          <p:attrName>ppt_w</p:attrName>
                                        </p:attrNameLst>
                                      </p:cBhvr>
                                      <p:tavLst>
                                        <p:tav tm="0">
                                          <p:val>
                                            <p:fltVal val="0"/>
                                          </p:val>
                                        </p:tav>
                                        <p:tav tm="100000">
                                          <p:val>
                                            <p:strVal val="#ppt_w"/>
                                          </p:val>
                                        </p:tav>
                                      </p:tavLst>
                                    </p:anim>
                                    <p:anim calcmode="lin" valueType="num">
                                      <p:cBhvr>
                                        <p:cTn id="58" dur="2000" fill="hold"/>
                                        <p:tgtEl>
                                          <p:spTgt spid="9"/>
                                        </p:tgtEl>
                                        <p:attrNameLst>
                                          <p:attrName>ppt_h</p:attrName>
                                        </p:attrNameLst>
                                      </p:cBhvr>
                                      <p:tavLst>
                                        <p:tav tm="0">
                                          <p:val>
                                            <p:fltVal val="0"/>
                                          </p:val>
                                        </p:tav>
                                        <p:tav tm="100000">
                                          <p:val>
                                            <p:strVal val="#ppt_h"/>
                                          </p:val>
                                        </p:tav>
                                      </p:tavLst>
                                    </p:anim>
                                    <p:animEffect transition="in" filter="fade">
                                      <p:cBhvr>
                                        <p:cTn id="59"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500" y="5041900"/>
            <a:ext cx="5029200" cy="1467982"/>
          </a:xfrm>
        </p:spPr>
        <p:txBody>
          <a:bodyPr>
            <a:noAutofit/>
          </a:bodyPr>
          <a:lstStyle/>
          <a:p>
            <a:r>
              <a:rPr lang="en-US" sz="3200" dirty="0" smtClean="0"/>
              <a:t>May 29, 2014</a:t>
            </a:r>
            <a:br>
              <a:rPr lang="en-US" sz="3200" dirty="0" smtClean="0"/>
            </a:br>
            <a:r>
              <a:rPr lang="en-US" sz="3200" b="1" i="1" dirty="0" smtClean="0"/>
              <a:t>Alaska Employment First Legislation Signed </a:t>
            </a:r>
            <a:endParaRPr lang="en-US" sz="3200" b="1" i="1" dirty="0"/>
          </a:p>
        </p:txBody>
      </p:sp>
      <p:pic>
        <p:nvPicPr>
          <p:cNvPr id="4" name="Content Placeholder 3" descr="Millett's Bill Making Alaska an &quot;Employment First State&quot; Signed Into Law (HB211) - Alaska Business Monthly - May 2014 - Anchorage, AK.pdf"/>
          <p:cNvPicPr>
            <a:picLocks noGrp="1" noChangeAspect="1"/>
          </p:cNvPicPr>
          <p:nvPr>
            <p:ph idx="1"/>
          </p:nvPr>
        </p:nvPicPr>
        <p:blipFill rotWithShape="1">
          <a:blip r:embed="rId2" cstate="email">
            <a:extLst>
              <a:ext uri="{28A0092B-C50C-407E-A947-70E740481C1C}">
                <a14:useLocalDpi xmlns:a14="http://schemas.microsoft.com/office/drawing/2010/main" val="0"/>
              </a:ext>
            </a:extLst>
          </a:blip>
          <a:srcRect t="34380" r="35195" b="8052"/>
          <a:stretch/>
        </p:blipFill>
        <p:spPr>
          <a:xfrm>
            <a:off x="190500" y="3284082"/>
            <a:ext cx="2971800" cy="3416300"/>
          </a:xfrm>
          <a:ln>
            <a:solidFill>
              <a:schemeClr val="tx1"/>
            </a:solidFill>
          </a:ln>
        </p:spPr>
      </p:pic>
      <p:pic>
        <p:nvPicPr>
          <p:cNvPr id="5" name="Content Placeholder 3" descr="Millett's Bill Making Alaska an &quot;Employment First State&quot; Signed Into Law (HB211) - Alaska Business Monthly - May 2014 - Anchorage, AK.pdf"/>
          <p:cNvPicPr>
            <a:picLocks noChangeAspect="1"/>
          </p:cNvPicPr>
          <p:nvPr/>
        </p:nvPicPr>
        <p:blipFill rotWithShape="1">
          <a:blip r:embed="rId3" cstate="email">
            <a:extLst>
              <a:ext uri="{28A0092B-C50C-407E-A947-70E740481C1C}">
                <a14:useLocalDpi xmlns:a14="http://schemas.microsoft.com/office/drawing/2010/main" val="0"/>
              </a:ext>
            </a:extLst>
          </a:blip>
          <a:srcRect t="4420" r="35195" b="83382"/>
          <a:stretch/>
        </p:blipFill>
        <p:spPr>
          <a:xfrm>
            <a:off x="190500" y="2552700"/>
            <a:ext cx="2971800" cy="723900"/>
          </a:xfrm>
          <a:prstGeom prst="rect">
            <a:avLst/>
          </a:prstGeom>
          <a:ln>
            <a:solidFill>
              <a:schemeClr val="tx1"/>
            </a:solidFill>
          </a:ln>
        </p:spPr>
      </p:pic>
      <p:pic>
        <p:nvPicPr>
          <p:cNvPr id="6" name="Picture 5" descr="HB 211 boosts employment opportunities for those with disabilities | KTVA 11.pdf"/>
          <p:cNvPicPr>
            <a:picLocks noChangeAspect="1"/>
          </p:cNvPicPr>
          <p:nvPr/>
        </p:nvPicPr>
        <p:blipFill rotWithShape="1">
          <a:blip r:embed="rId4" cstate="email">
            <a:extLst>
              <a:ext uri="{28A0092B-C50C-407E-A947-70E740481C1C}">
                <a14:useLocalDpi xmlns:a14="http://schemas.microsoft.com/office/drawing/2010/main" val="0"/>
              </a:ext>
            </a:extLst>
          </a:blip>
          <a:srcRect l="6471" t="18333" r="7495" b="12037"/>
          <a:stretch/>
        </p:blipFill>
        <p:spPr>
          <a:xfrm>
            <a:off x="5019895" y="692150"/>
            <a:ext cx="3933605" cy="4119876"/>
          </a:xfrm>
          <a:prstGeom prst="rect">
            <a:avLst/>
          </a:prstGeom>
          <a:ln>
            <a:solidFill>
              <a:schemeClr val="tx1"/>
            </a:solidFill>
          </a:ln>
        </p:spPr>
      </p:pic>
      <p:pic>
        <p:nvPicPr>
          <p:cNvPr id="7" name="Picture 6" descr="Unknown.jpeg"/>
          <p:cNvPicPr>
            <a:picLocks noChangeAspect="1"/>
          </p:cNvPicPr>
          <p:nvPr/>
        </p:nvPicPr>
        <p:blipFill rotWithShape="1">
          <a:blip r:embed="rId5" cstate="email">
            <a:extLst>
              <a:ext uri="{28A0092B-C50C-407E-A947-70E740481C1C}">
                <a14:useLocalDpi xmlns:a14="http://schemas.microsoft.com/office/drawing/2010/main" val="0"/>
              </a:ext>
            </a:extLst>
          </a:blip>
          <a:srcRect t="17742" b="12903"/>
          <a:stretch/>
        </p:blipFill>
        <p:spPr>
          <a:xfrm>
            <a:off x="8166100" y="742950"/>
            <a:ext cx="787400" cy="546100"/>
          </a:xfrm>
          <a:prstGeom prst="rect">
            <a:avLst/>
          </a:prstGeom>
        </p:spPr>
      </p:pic>
      <p:pic>
        <p:nvPicPr>
          <p:cNvPr id="8" name="Picture 7" descr="parnell-signs-hb211.jpg"/>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190500" y="481720"/>
            <a:ext cx="3238500" cy="1824462"/>
          </a:xfrm>
          <a:prstGeom prst="rect">
            <a:avLst/>
          </a:prstGeom>
        </p:spPr>
      </p:pic>
      <p:sp>
        <p:nvSpPr>
          <p:cNvPr id="3" name="Slide Number Placeholder 2"/>
          <p:cNvSpPr>
            <a:spLocks noGrp="1"/>
          </p:cNvSpPr>
          <p:nvPr>
            <p:ph type="sldNum" sz="quarter" idx="12"/>
          </p:nvPr>
        </p:nvSpPr>
        <p:spPr/>
        <p:txBody>
          <a:bodyPr/>
          <a:lstStyle/>
          <a:p>
            <a:pPr>
              <a:defRPr/>
            </a:pPr>
            <a:fld id="{DE0518C9-3CC7-7448-AD05-3CB269384775}" type="slidenum">
              <a:rPr lang="en-US" smtClean="0"/>
              <a:pPr>
                <a:defRPr/>
              </a:pPr>
              <a:t>27</a:t>
            </a:fld>
            <a:endParaRPr lang="en-US" dirty="0"/>
          </a:p>
        </p:txBody>
      </p:sp>
    </p:spTree>
    <p:extLst>
      <p:ext uri="{BB962C8B-B14F-4D97-AF65-F5344CB8AC3E}">
        <p14:creationId xmlns:p14="http://schemas.microsoft.com/office/powerpoint/2010/main" val="261949624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118" y="2176928"/>
            <a:ext cx="8417859" cy="2350247"/>
          </a:xfrm>
        </p:spPr>
        <p:style>
          <a:lnRef idx="2">
            <a:schemeClr val="accent6">
              <a:shade val="50000"/>
            </a:schemeClr>
          </a:lnRef>
          <a:fillRef idx="1">
            <a:schemeClr val="accent6"/>
          </a:fillRef>
          <a:effectRef idx="0">
            <a:schemeClr val="accent6"/>
          </a:effectRef>
          <a:fontRef idx="minor">
            <a:schemeClr val="lt1"/>
          </a:fontRef>
        </p:style>
        <p:txBody>
          <a:bodyPr>
            <a:normAutofit/>
          </a:bodyPr>
          <a:lstStyle/>
          <a:p>
            <a:pPr algn="ctr"/>
            <a:r>
              <a:rPr lang="en-US" b="1" dirty="0" smtClean="0"/>
              <a:t>Employment First:</a:t>
            </a:r>
            <a:br>
              <a:rPr lang="en-US" b="1" dirty="0" smtClean="0"/>
            </a:br>
            <a:r>
              <a:rPr lang="en-US" dirty="0" smtClean="0"/>
              <a:t/>
            </a:r>
            <a:br>
              <a:rPr lang="en-US" dirty="0" smtClean="0"/>
            </a:br>
            <a:r>
              <a:rPr lang="en-US" b="1" i="1" dirty="0" smtClean="0"/>
              <a:t>It’s not just for policymakers</a:t>
            </a:r>
            <a:endParaRPr lang="en-US" b="1" i="1" dirty="0"/>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28</a:t>
            </a:fld>
            <a:endParaRPr lang="en-US" dirty="0"/>
          </a:p>
        </p:txBody>
      </p:sp>
    </p:spTree>
    <p:extLst>
      <p:ext uri="{BB962C8B-B14F-4D97-AF65-F5344CB8AC3E}">
        <p14:creationId xmlns:p14="http://schemas.microsoft.com/office/powerpoint/2010/main" val="3386842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2"/>
          <p:cNvSpPr txBox="1">
            <a:spLocks noChangeArrowheads="1"/>
          </p:cNvSpPr>
          <p:nvPr/>
        </p:nvSpPr>
        <p:spPr bwMode="auto">
          <a:xfrm>
            <a:off x="4038600" y="4876800"/>
            <a:ext cx="4267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buFontTx/>
              <a:buChar char="•"/>
            </a:pPr>
            <a:r>
              <a:rPr lang="en-US"/>
              <a:t> </a:t>
            </a:r>
            <a:r>
              <a:rPr lang="en-US" sz="2800"/>
              <a:t>Mahatma Gandhi</a:t>
            </a:r>
          </a:p>
        </p:txBody>
      </p:sp>
      <p:sp>
        <p:nvSpPr>
          <p:cNvPr id="243715" name="Rectangle 3"/>
          <p:cNvSpPr>
            <a:spLocks noChangeArrowheads="1"/>
          </p:cNvSpPr>
          <p:nvPr/>
        </p:nvSpPr>
        <p:spPr bwMode="auto">
          <a:xfrm>
            <a:off x="381000" y="520700"/>
            <a:ext cx="8229600" cy="3659188"/>
          </a:xfrm>
          <a:prstGeom prst="rect">
            <a:avLst/>
          </a:prstGeom>
          <a:ln>
            <a:headEnd/>
            <a:tailEnd/>
          </a:ln>
        </p:spPr>
        <p:style>
          <a:lnRef idx="2">
            <a:schemeClr val="dk1">
              <a:shade val="50000"/>
            </a:schemeClr>
          </a:lnRef>
          <a:fillRef idx="1">
            <a:schemeClr val="dk1"/>
          </a:fillRef>
          <a:effectRef idx="0">
            <a:schemeClr val="dk1"/>
          </a:effectRef>
          <a:fontRef idx="minor">
            <a:schemeClr val="lt1"/>
          </a:fontRef>
        </p:style>
        <p:txBody>
          <a:bodyPr>
            <a:spAutoFit/>
          </a:bodyPr>
          <a:lstStyle/>
          <a:p>
            <a:pPr algn="ctr">
              <a:lnSpc>
                <a:spcPct val="120000"/>
              </a:lnSpc>
              <a:defRPr/>
            </a:pPr>
            <a:r>
              <a:rPr lang="ja-JP" altLang="en-US" sz="5400" dirty="0">
                <a:solidFill>
                  <a:schemeClr val="bg1"/>
                </a:solidFill>
                <a:effectLst>
                  <a:outerShdw blurRad="38100" dist="38100" dir="2700000" algn="tl">
                    <a:srgbClr val="000000"/>
                  </a:outerShdw>
                </a:effectLst>
              </a:rPr>
              <a:t>“</a:t>
            </a:r>
            <a:r>
              <a:rPr lang="en-US" sz="5400" dirty="0">
                <a:solidFill>
                  <a:schemeClr val="bg1"/>
                </a:solidFill>
                <a:effectLst>
                  <a:outerShdw blurRad="38100" dist="38100" dir="2700000" algn="tl">
                    <a:srgbClr val="000000"/>
                  </a:outerShdw>
                </a:effectLst>
              </a:rPr>
              <a:t>What you do may seem insignificant, but it is most important that you do it.</a:t>
            </a:r>
            <a:r>
              <a:rPr lang="ja-JP" altLang="en-US" sz="5400" dirty="0">
                <a:solidFill>
                  <a:schemeClr val="bg1"/>
                </a:solidFill>
                <a:effectLst>
                  <a:outerShdw blurRad="38100" dist="38100" dir="2700000" algn="tl">
                    <a:srgbClr val="000000"/>
                  </a:outerShdw>
                </a:effectLst>
              </a:rPr>
              <a:t>”</a:t>
            </a:r>
            <a:endParaRPr lang="en-US" sz="5400" dirty="0">
              <a:solidFill>
                <a:schemeClr val="bg1"/>
              </a:solidFill>
              <a:effectLst>
                <a:outerShdw blurRad="38100" dist="38100" dir="2700000" algn="tl">
                  <a:srgbClr val="000000"/>
                </a:outerShdw>
              </a:effectLst>
            </a:endParaRPr>
          </a:p>
          <a:p>
            <a:pPr algn="ctr">
              <a:lnSpc>
                <a:spcPct val="120000"/>
              </a:lnSpc>
              <a:defRPr/>
            </a:pPr>
            <a:endParaRPr lang="en-US" sz="3200" dirty="0">
              <a:solidFill>
                <a:schemeClr val="bg1"/>
              </a:solidFill>
              <a:effectLst>
                <a:outerShdw blurRad="38100" dist="38100" dir="2700000" algn="tl">
                  <a:srgbClr val="000000"/>
                </a:outerShdw>
              </a:effectLst>
            </a:endParaRPr>
          </a:p>
        </p:txBody>
      </p:sp>
      <p:pic>
        <p:nvPicPr>
          <p:cNvPr id="15363" name="Picture 2" descr="mahatma-gandhi-1.jpg"/>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43000" y="3810000"/>
            <a:ext cx="2438400" cy="203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pPr>
              <a:defRPr/>
            </a:pPr>
            <a:fld id="{76D09E21-E3A5-A34B-9A90-0AE5B5561539}" type="slidenum">
              <a:rPr lang="en-US" smtClean="0"/>
              <a:pPr>
                <a:defRPr/>
              </a:pPr>
              <a:t>29</a:t>
            </a:fld>
            <a:endParaRPr lang="en-US" dirty="0">
              <a:solidFill>
                <a:schemeClr val="bg2">
                  <a:shade val="50000"/>
                </a:schemeClr>
              </a:solidFill>
            </a:endParaRPr>
          </a:p>
        </p:txBody>
      </p:sp>
    </p:spTree>
    <p:extLst>
      <p:ext uri="{BB962C8B-B14F-4D97-AF65-F5344CB8AC3E}">
        <p14:creationId xmlns:p14="http://schemas.microsoft.com/office/powerpoint/2010/main" val="30351570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048000" y="5029200"/>
            <a:ext cx="2912836" cy="952500"/>
          </a:xfrm>
          <a:noFill/>
          <a:ln>
            <a:noFill/>
          </a:ln>
        </p:spPr>
        <p:txBody>
          <a:bodyPr/>
          <a:lstStyle/>
          <a:p>
            <a:pPr algn="r">
              <a:defRPr/>
            </a:pPr>
            <a:r>
              <a:rPr lang="en-US" sz="3200" dirty="0" smtClean="0">
                <a:solidFill>
                  <a:schemeClr val="tx1"/>
                </a:solidFill>
              </a:rPr>
              <a:t>- Jerry Garcia</a:t>
            </a:r>
            <a:endParaRPr lang="en-US" sz="3200" dirty="0">
              <a:solidFill>
                <a:schemeClr val="tx1"/>
              </a:solidFill>
            </a:endParaRPr>
          </a:p>
        </p:txBody>
      </p:sp>
      <p:sp>
        <p:nvSpPr>
          <p:cNvPr id="4099" name="Rectangle 3"/>
          <p:cNvSpPr>
            <a:spLocks noGrp="1" noChangeArrowheads="1"/>
          </p:cNvSpPr>
          <p:nvPr>
            <p:ph type="body" idx="1"/>
          </p:nvPr>
        </p:nvSpPr>
        <p:spPr>
          <a:xfrm>
            <a:off x="152400" y="457200"/>
            <a:ext cx="7620000" cy="3200400"/>
          </a:xfrm>
        </p:spPr>
        <p:style>
          <a:lnRef idx="2">
            <a:schemeClr val="accent3">
              <a:shade val="50000"/>
            </a:schemeClr>
          </a:lnRef>
          <a:fillRef idx="1">
            <a:schemeClr val="accent3"/>
          </a:fillRef>
          <a:effectRef idx="0">
            <a:schemeClr val="accent3"/>
          </a:effectRef>
          <a:fontRef idx="minor">
            <a:schemeClr val="lt1"/>
          </a:fontRef>
        </p:style>
        <p:txBody>
          <a:bodyPr>
            <a:normAutofit/>
          </a:bodyPr>
          <a:lstStyle/>
          <a:p>
            <a:pPr algn="ctr">
              <a:buFont typeface="Monotype Sorts" charset="0"/>
              <a:buNone/>
              <a:defRPr/>
            </a:pPr>
            <a:r>
              <a:rPr lang="ja-JP" altLang="en-US" sz="4800" dirty="0" smtClean="0">
                <a:solidFill>
                  <a:schemeClr val="bg1"/>
                </a:solidFill>
                <a:latin typeface="Comic Sans MS"/>
                <a:cs typeface="Comic Sans MS"/>
              </a:rPr>
              <a:t>“</a:t>
            </a:r>
            <a:r>
              <a:rPr lang="en-US" sz="4800" dirty="0" smtClean="0">
                <a:solidFill>
                  <a:schemeClr val="bg1"/>
                </a:solidFill>
                <a:latin typeface="Comic Sans MS"/>
                <a:cs typeface="Comic Sans MS"/>
              </a:rPr>
              <a:t>Somebody has to do something, and it’s just incredibly pathetic</a:t>
            </a:r>
            <a:br>
              <a:rPr lang="en-US" sz="4800" dirty="0" smtClean="0">
                <a:solidFill>
                  <a:schemeClr val="bg1"/>
                </a:solidFill>
                <a:latin typeface="Comic Sans MS"/>
                <a:cs typeface="Comic Sans MS"/>
              </a:rPr>
            </a:br>
            <a:r>
              <a:rPr lang="en-US" sz="4800" dirty="0" smtClean="0">
                <a:solidFill>
                  <a:schemeClr val="bg1"/>
                </a:solidFill>
                <a:latin typeface="Comic Sans MS"/>
                <a:cs typeface="Comic Sans MS"/>
              </a:rPr>
              <a:t>it has to be us.”</a:t>
            </a:r>
            <a:endParaRPr lang="en-US" sz="4800" dirty="0">
              <a:solidFill>
                <a:schemeClr val="bg1"/>
              </a:solidFill>
              <a:latin typeface="Comic Sans MS"/>
              <a:cs typeface="Comic Sans MS"/>
            </a:endParaRPr>
          </a:p>
        </p:txBody>
      </p:sp>
      <p:pic>
        <p:nvPicPr>
          <p:cNvPr id="45063" name="Picture 1" descr="Unknown.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3352800"/>
            <a:ext cx="25273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43221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6626" name="Rectangle 2"/>
          <p:cNvSpPr>
            <a:spLocks noGrp="1" noChangeArrowheads="1"/>
          </p:cNvSpPr>
          <p:nvPr>
            <p:ph type="body" idx="4294967295"/>
          </p:nvPr>
        </p:nvSpPr>
        <p:spPr>
          <a:xfrm>
            <a:off x="609600" y="609600"/>
            <a:ext cx="7239000" cy="3657600"/>
          </a:xfrm>
          <a:solidFill>
            <a:srgbClr val="000090"/>
          </a:solidFill>
          <a:effectLst>
            <a:glow rad="101600">
              <a:schemeClr val="accent3">
                <a:satMod val="175000"/>
                <a:alpha val="40000"/>
              </a:schemeClr>
            </a:glow>
          </a:effectLst>
          <a:scene3d>
            <a:camera prst="orthographicFront"/>
            <a:lightRig rig="threePt" dir="t"/>
          </a:scene3d>
          <a:sp3d>
            <a:bevelT w="139700" h="139700" prst="divot"/>
          </a:sp3d>
        </p:spPr>
        <p:txBody>
          <a:bodyPr lIns="90488" tIns="44450" rIns="90488" bIns="44450"/>
          <a:lstStyle/>
          <a:p>
            <a:pPr marL="285750" indent="-285750" algn="ctr">
              <a:lnSpc>
                <a:spcPct val="105000"/>
              </a:lnSpc>
              <a:buFont typeface="Times" charset="0"/>
              <a:buNone/>
              <a:defRPr/>
            </a:pPr>
            <a:r>
              <a:rPr lang="ja-JP" altLang="en-US" sz="4000" dirty="0">
                <a:solidFill>
                  <a:schemeClr val="bg1"/>
                </a:solidFill>
                <a:latin typeface="Century Gothic" charset="0"/>
              </a:rPr>
              <a:t>“</a:t>
            </a:r>
            <a:r>
              <a:rPr lang="en-US" sz="4000" dirty="0">
                <a:solidFill>
                  <a:schemeClr val="bg1"/>
                </a:solidFill>
                <a:latin typeface="Century Gothic" charset="0"/>
              </a:rPr>
              <a:t>It is nearly impossible to make your own future,</a:t>
            </a:r>
            <a:br>
              <a:rPr lang="en-US" sz="4000" dirty="0">
                <a:solidFill>
                  <a:schemeClr val="bg1"/>
                </a:solidFill>
                <a:latin typeface="Century Gothic" charset="0"/>
              </a:rPr>
            </a:br>
            <a:r>
              <a:rPr lang="en-US" sz="4000" dirty="0">
                <a:solidFill>
                  <a:schemeClr val="bg1"/>
                </a:solidFill>
                <a:latin typeface="Century Gothic" charset="0"/>
              </a:rPr>
              <a:t>when you are not part of the economic fabric</a:t>
            </a:r>
            <a:br>
              <a:rPr lang="en-US" sz="4000" dirty="0">
                <a:solidFill>
                  <a:schemeClr val="bg1"/>
                </a:solidFill>
                <a:latin typeface="Century Gothic" charset="0"/>
              </a:rPr>
            </a:br>
            <a:r>
              <a:rPr lang="en-US" sz="4000" dirty="0">
                <a:solidFill>
                  <a:schemeClr val="bg1"/>
                </a:solidFill>
                <a:latin typeface="Century Gothic" charset="0"/>
              </a:rPr>
              <a:t>of the culture you live in.</a:t>
            </a:r>
            <a:r>
              <a:rPr lang="ja-JP" altLang="en-US" sz="4000" dirty="0">
                <a:solidFill>
                  <a:schemeClr val="bg1"/>
                </a:solidFill>
                <a:latin typeface="Century Gothic" charset="0"/>
              </a:rPr>
              <a:t>”</a:t>
            </a:r>
            <a:endParaRPr lang="en-US" sz="4000" dirty="0">
              <a:solidFill>
                <a:schemeClr val="bg1"/>
              </a:solidFill>
              <a:latin typeface="Century Gothic" charset="0"/>
            </a:endParaRPr>
          </a:p>
          <a:p>
            <a:pPr marL="285750" indent="-285750" algn="ctr">
              <a:lnSpc>
                <a:spcPct val="80000"/>
              </a:lnSpc>
              <a:buFont typeface="Times" charset="0"/>
              <a:buNone/>
              <a:defRPr/>
            </a:pPr>
            <a:endParaRPr lang="en-US" sz="3600" dirty="0">
              <a:solidFill>
                <a:schemeClr val="bg1"/>
              </a:solidFill>
              <a:effectLst>
                <a:outerShdw blurRad="38100" dist="38100" dir="2700000" algn="tl">
                  <a:srgbClr val="DDDDDD"/>
                </a:outerShdw>
              </a:effectLst>
            </a:endParaRPr>
          </a:p>
        </p:txBody>
      </p:sp>
      <p:sp>
        <p:nvSpPr>
          <p:cNvPr id="26628" name="TextBox 1"/>
          <p:cNvSpPr txBox="1">
            <a:spLocks noChangeArrowheads="1"/>
          </p:cNvSpPr>
          <p:nvPr/>
        </p:nvSpPr>
        <p:spPr bwMode="auto">
          <a:xfrm>
            <a:off x="3886200" y="4953000"/>
            <a:ext cx="3429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b="1"/>
              <a:t>-</a:t>
            </a:r>
            <a:r>
              <a:rPr lang="en-US"/>
              <a:t> </a:t>
            </a:r>
            <a:r>
              <a:rPr lang="en-US" i="1"/>
              <a:t>Patricia Deegan</a:t>
            </a:r>
          </a:p>
        </p:txBody>
      </p:sp>
      <p:pic>
        <p:nvPicPr>
          <p:cNvPr id="26629" name="Picture 2" descr="pat_deegan_smile-200x200.jpg"/>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10400" y="4495800"/>
            <a:ext cx="1778000"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8EFE7809-DC62-174B-8786-5B0B6D551990}" type="slidenum">
              <a:rPr lang="en-US" smtClean="0"/>
              <a:pPr>
                <a:defRPr/>
              </a:pPr>
              <a:t>31</a:t>
            </a:fld>
            <a:endParaRPr lang="en-US"/>
          </a:p>
        </p:txBody>
      </p:sp>
    </p:spTree>
    <p:extLst>
      <p:ext uri="{BB962C8B-B14F-4D97-AF65-F5344CB8AC3E}">
        <p14:creationId xmlns:p14="http://schemas.microsoft.com/office/powerpoint/2010/main" val="2314625398"/>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C900379495.WM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0300" y="978078"/>
            <a:ext cx="4914900" cy="3746322"/>
          </a:xfrm>
          <a:prstGeom prst="rect">
            <a:avLst/>
          </a:prstGeom>
        </p:spPr>
      </p:pic>
      <p:sp>
        <p:nvSpPr>
          <p:cNvPr id="2" name="Slide Number Placeholder 1"/>
          <p:cNvSpPr>
            <a:spLocks noGrp="1"/>
          </p:cNvSpPr>
          <p:nvPr>
            <p:ph type="sldNum" sz="quarter" idx="12"/>
          </p:nvPr>
        </p:nvSpPr>
        <p:spPr/>
        <p:txBody>
          <a:bodyPr/>
          <a:lstStyle/>
          <a:p>
            <a:pPr>
              <a:defRPr/>
            </a:pPr>
            <a:fld id="{DE0518C9-3CC7-7448-AD05-3CB269384775}" type="slidenum">
              <a:rPr lang="en-US" smtClean="0"/>
              <a:pPr>
                <a:defRPr/>
              </a:pPr>
              <a:t>32</a:t>
            </a:fld>
            <a:endParaRPr lang="en-US" dirty="0"/>
          </a:p>
        </p:txBody>
      </p:sp>
      <p:sp>
        <p:nvSpPr>
          <p:cNvPr id="4" name="TextBox 3"/>
          <p:cNvSpPr txBox="1"/>
          <p:nvPr/>
        </p:nvSpPr>
        <p:spPr>
          <a:xfrm>
            <a:off x="1524000" y="5435600"/>
            <a:ext cx="6604000" cy="646331"/>
          </a:xfrm>
          <a:prstGeom prst="rect">
            <a:avLst/>
          </a:prstGeom>
          <a:solidFill>
            <a:srgbClr val="008000"/>
          </a:solidFill>
          <a:effectLst>
            <a:glow rad="101600">
              <a:schemeClr val="accent3">
                <a:satMod val="175000"/>
                <a:alpha val="40000"/>
              </a:schemeClr>
            </a:glow>
          </a:effectLst>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sz="3600" dirty="0" smtClean="0"/>
              <a:t>Paychecks are not enough</a:t>
            </a:r>
            <a:endParaRPr lang="en-US" sz="3600" dirty="0"/>
          </a:p>
        </p:txBody>
      </p:sp>
    </p:spTree>
    <p:extLst>
      <p:ext uri="{BB962C8B-B14F-4D97-AF65-F5344CB8AC3E}">
        <p14:creationId xmlns:p14="http://schemas.microsoft.com/office/powerpoint/2010/main" val="3402396353"/>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60400" y="533400"/>
            <a:ext cx="3962400" cy="1143000"/>
          </a:xfrm>
        </p:spPr>
        <p:txBody>
          <a:bodyPr>
            <a:normAutofit fontScale="90000"/>
          </a:bodyPr>
          <a:lstStyle/>
          <a:p>
            <a:pPr algn="ctr"/>
            <a:r>
              <a:rPr lang="en-US" dirty="0" smtClean="0"/>
              <a:t>Wolf </a:t>
            </a:r>
            <a:r>
              <a:rPr lang="en-US" dirty="0" err="1" smtClean="0"/>
              <a:t>Wolfensberger</a:t>
            </a:r>
            <a:endParaRPr lang="en-US" dirty="0"/>
          </a:p>
        </p:txBody>
      </p:sp>
      <p:sp>
        <p:nvSpPr>
          <p:cNvPr id="3" name="Content Placeholder 2"/>
          <p:cNvSpPr>
            <a:spLocks noGrp="1"/>
          </p:cNvSpPr>
          <p:nvPr>
            <p:ph idx="1"/>
          </p:nvPr>
        </p:nvSpPr>
        <p:spPr>
          <a:xfrm>
            <a:off x="4953000" y="1077265"/>
            <a:ext cx="3992563" cy="5334000"/>
          </a:xfrm>
        </p:spPr>
        <p:txBody>
          <a:bodyPr/>
          <a:lstStyle/>
          <a:p>
            <a:pPr>
              <a:spcBef>
                <a:spcPts val="1272"/>
              </a:spcBef>
            </a:pPr>
            <a:r>
              <a:rPr lang="en-US" dirty="0" smtClean="0"/>
              <a:t>Physical </a:t>
            </a:r>
            <a:r>
              <a:rPr lang="en-US" dirty="0"/>
              <a:t>integration is a precondition for the attainment of social </a:t>
            </a:r>
            <a:r>
              <a:rPr lang="en-US" dirty="0" smtClean="0"/>
              <a:t>integration</a:t>
            </a:r>
            <a:br>
              <a:rPr lang="en-US" dirty="0" smtClean="0"/>
            </a:br>
            <a:endParaRPr lang="en-US" dirty="0" smtClean="0"/>
          </a:p>
          <a:p>
            <a:pPr>
              <a:spcBef>
                <a:spcPts val="1272"/>
              </a:spcBef>
            </a:pPr>
            <a:r>
              <a:rPr lang="en-US" dirty="0" smtClean="0"/>
              <a:t>“Ultimately</a:t>
            </a:r>
            <a:r>
              <a:rPr lang="en-US" dirty="0"/>
              <a:t>, integration is only meaningful if it is social </a:t>
            </a:r>
            <a:r>
              <a:rPr lang="en-US" dirty="0" smtClean="0"/>
              <a:t>integration</a:t>
            </a:r>
            <a:r>
              <a:rPr lang="en-US" dirty="0"/>
              <a:t> </a:t>
            </a:r>
            <a:r>
              <a:rPr lang="en-US" dirty="0" smtClean="0"/>
              <a:t>– </a:t>
            </a:r>
            <a:r>
              <a:rPr lang="en-US" b="1" dirty="0" smtClean="0"/>
              <a:t/>
            </a:r>
            <a:br>
              <a:rPr lang="en-US" b="1" dirty="0" smtClean="0"/>
            </a:br>
            <a:r>
              <a:rPr lang="en-US" b="1" i="1" dirty="0" smtClean="0"/>
              <a:t>if </a:t>
            </a:r>
            <a:r>
              <a:rPr lang="en-US" b="1" i="1" dirty="0"/>
              <a:t>it involves social interaction and acceptance, and not merely physical </a:t>
            </a:r>
            <a:r>
              <a:rPr lang="en-US" b="1" i="1" dirty="0" smtClean="0"/>
              <a:t>presence.</a:t>
            </a:r>
            <a:r>
              <a:rPr lang="en-US" b="1" dirty="0" smtClean="0"/>
              <a:t>”</a:t>
            </a:r>
            <a:endParaRPr lang="en-US" b="1" dirty="0"/>
          </a:p>
          <a:p>
            <a:endParaRPr lang="en-US" b="1" dirty="0"/>
          </a:p>
        </p:txBody>
      </p:sp>
      <p:pic>
        <p:nvPicPr>
          <p:cNvPr id="6" name="Picture 5" descr="51sEmduUmZL._AC_US160_.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4114800"/>
            <a:ext cx="2362200" cy="2362200"/>
          </a:xfrm>
          <a:prstGeom prst="rect">
            <a:avLst/>
          </a:prstGeom>
        </p:spPr>
      </p:pic>
      <p:pic>
        <p:nvPicPr>
          <p:cNvPr id="7" name="Picture 6" descr="250_2010_04_21_8925.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2133600"/>
            <a:ext cx="2425700" cy="1610665"/>
          </a:xfrm>
          <a:prstGeom prst="rect">
            <a:avLst/>
          </a:prstGeom>
        </p:spPr>
      </p:pic>
      <p:sp>
        <p:nvSpPr>
          <p:cNvPr id="2" name="Slide Number Placeholder 1"/>
          <p:cNvSpPr>
            <a:spLocks noGrp="1"/>
          </p:cNvSpPr>
          <p:nvPr>
            <p:ph type="sldNum" sz="quarter" idx="12"/>
          </p:nvPr>
        </p:nvSpPr>
        <p:spPr/>
        <p:txBody>
          <a:bodyPr/>
          <a:lstStyle/>
          <a:p>
            <a:pPr>
              <a:defRPr/>
            </a:pPr>
            <a:fld id="{DE0518C9-3CC7-7448-AD05-3CB269384775}" type="slidenum">
              <a:rPr lang="en-US" smtClean="0"/>
              <a:pPr>
                <a:defRPr/>
              </a:pPr>
              <a:t>33</a:t>
            </a:fld>
            <a:endParaRPr lang="en-US" dirty="0"/>
          </a:p>
        </p:txBody>
      </p:sp>
    </p:spTree>
    <p:extLst>
      <p:ext uri="{BB962C8B-B14F-4D97-AF65-F5344CB8AC3E}">
        <p14:creationId xmlns:p14="http://schemas.microsoft.com/office/powerpoint/2010/main" val="240686575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500" y="1320800"/>
            <a:ext cx="6750050" cy="3568700"/>
          </a:xfrm>
          <a:solidFill>
            <a:srgbClr val="0000FF"/>
          </a:solidFill>
          <a:effectLst>
            <a:glow rad="139700">
              <a:schemeClr val="accent5">
                <a:satMod val="175000"/>
                <a:alpha val="40000"/>
              </a:schemeClr>
            </a:glow>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139700" h="139700" prst="divot"/>
            <a:contourClr>
              <a:schemeClr val="accent5">
                <a:shade val="80000"/>
              </a:schemeClr>
            </a:contourClr>
          </a:sp3d>
        </p:spPr>
        <p:style>
          <a:lnRef idx="1">
            <a:schemeClr val="accent5"/>
          </a:lnRef>
          <a:fillRef idx="3">
            <a:schemeClr val="accent5"/>
          </a:fillRef>
          <a:effectRef idx="2">
            <a:schemeClr val="accent5"/>
          </a:effectRef>
          <a:fontRef idx="minor">
            <a:schemeClr val="lt1"/>
          </a:fontRef>
        </p:style>
        <p:txBody>
          <a:bodyPr>
            <a:normAutofit/>
          </a:bodyPr>
          <a:lstStyle/>
          <a:p>
            <a:pPr algn="ctr"/>
            <a:r>
              <a:rPr lang="en-US" sz="5300" i="1" dirty="0" smtClean="0"/>
              <a:t>Employment First</a:t>
            </a:r>
            <a:br>
              <a:rPr lang="en-US" sz="5300" i="1" dirty="0" smtClean="0"/>
            </a:br>
            <a:r>
              <a:rPr lang="en-US" sz="5300" i="1" dirty="0" smtClean="0"/>
              <a:t>is a social justice and social change movement</a:t>
            </a:r>
            <a:endParaRPr lang="en-US" sz="5300" i="1" dirty="0"/>
          </a:p>
        </p:txBody>
      </p:sp>
      <p:sp>
        <p:nvSpPr>
          <p:cNvPr id="3" name="Slide Number Placeholder 2"/>
          <p:cNvSpPr>
            <a:spLocks noGrp="1"/>
          </p:cNvSpPr>
          <p:nvPr>
            <p:ph type="sldNum" sz="quarter" idx="12"/>
          </p:nvPr>
        </p:nvSpPr>
        <p:spPr/>
        <p:txBody>
          <a:bodyPr/>
          <a:lstStyle/>
          <a:p>
            <a:pPr>
              <a:defRPr/>
            </a:pPr>
            <a:fld id="{DE0518C9-3CC7-7448-AD05-3CB269384775}" type="slidenum">
              <a:rPr lang="en-US" smtClean="0"/>
              <a:pPr>
                <a:defRPr/>
              </a:pPr>
              <a:t>34</a:t>
            </a:fld>
            <a:endParaRPr lang="en-US" dirty="0"/>
          </a:p>
        </p:txBody>
      </p:sp>
    </p:spTree>
    <p:extLst>
      <p:ext uri="{BB962C8B-B14F-4D97-AF65-F5344CB8AC3E}">
        <p14:creationId xmlns:p14="http://schemas.microsoft.com/office/powerpoint/2010/main" val="146785293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r>
              <a:rPr lang="en-US" sz="3200" b="1" i="1">
                <a:latin typeface="Arial" charset="0"/>
                <a:ea typeface="ＭＳ Ｐゴシック" charset="0"/>
              </a:rPr>
              <a:t>The Changing Role of the Professional</a:t>
            </a:r>
          </a:p>
        </p:txBody>
      </p:sp>
      <p:sp>
        <p:nvSpPr>
          <p:cNvPr id="7" name="Pentagon 6"/>
          <p:cNvSpPr/>
          <p:nvPr/>
        </p:nvSpPr>
        <p:spPr bwMode="auto">
          <a:xfrm>
            <a:off x="1219200" y="2743200"/>
            <a:ext cx="3124200" cy="2286000"/>
          </a:xfrm>
          <a:prstGeom prst="homePlate">
            <a:avLst/>
          </a:prstGeom>
          <a:ln>
            <a:headEnd type="none" w="med" len="med"/>
            <a:tailEnd type="none" w="med" len="med"/>
          </a:ln>
          <a:extLst/>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r>
              <a:rPr lang="en-US" sz="2800" b="0" dirty="0">
                <a:solidFill>
                  <a:schemeClr val="bg1"/>
                </a:solidFill>
                <a:latin typeface="Calibri"/>
                <a:cs typeface="Calibri"/>
              </a:rPr>
              <a:t>FROM</a:t>
            </a:r>
          </a:p>
          <a:p>
            <a:pPr marL="457200" indent="-457200">
              <a:buFont typeface="Arial"/>
              <a:buChar char="•"/>
              <a:defRPr/>
            </a:pPr>
            <a:r>
              <a:rPr lang="en-US" sz="2800" b="0" dirty="0">
                <a:solidFill>
                  <a:schemeClr val="bg1"/>
                </a:solidFill>
                <a:latin typeface="Calibri"/>
                <a:cs typeface="Calibri"/>
              </a:rPr>
              <a:t>Caretaker</a:t>
            </a:r>
          </a:p>
          <a:p>
            <a:pPr marL="457200" indent="-457200">
              <a:buFont typeface="Arial"/>
              <a:buChar char="•"/>
              <a:defRPr/>
            </a:pPr>
            <a:r>
              <a:rPr lang="en-US" sz="2800" b="0" dirty="0">
                <a:solidFill>
                  <a:schemeClr val="bg1"/>
                </a:solidFill>
                <a:latin typeface="Calibri"/>
                <a:cs typeface="Calibri"/>
              </a:rPr>
              <a:t>Trainer</a:t>
            </a:r>
          </a:p>
          <a:p>
            <a:pPr marL="457200" indent="-457200">
              <a:buFont typeface="Arial"/>
              <a:buChar char="•"/>
              <a:defRPr/>
            </a:pPr>
            <a:r>
              <a:rPr lang="en-US" sz="2800" b="0" dirty="0">
                <a:solidFill>
                  <a:schemeClr val="bg1"/>
                </a:solidFill>
                <a:latin typeface="Calibri"/>
                <a:cs typeface="Calibri"/>
              </a:rPr>
              <a:t>Authoritative figure</a:t>
            </a:r>
          </a:p>
        </p:txBody>
      </p:sp>
      <p:sp>
        <p:nvSpPr>
          <p:cNvPr id="8" name="Rectangle 7"/>
          <p:cNvSpPr/>
          <p:nvPr/>
        </p:nvSpPr>
        <p:spPr bwMode="auto">
          <a:xfrm>
            <a:off x="4724400" y="2743200"/>
            <a:ext cx="4038600" cy="3048000"/>
          </a:xfrm>
          <a:prstGeom prst="rect">
            <a:avLst/>
          </a:prstGeom>
          <a:ln>
            <a:headEnd type="none" w="med" len="med"/>
            <a:tailEnd type="none" w="med" len="med"/>
          </a:ln>
          <a:extLst/>
        </p:spPr>
        <p:style>
          <a:lnRef idx="1">
            <a:schemeClr val="accent2"/>
          </a:lnRef>
          <a:fillRef idx="2">
            <a:schemeClr val="accent2"/>
          </a:fillRef>
          <a:effectRef idx="1">
            <a:schemeClr val="accent2"/>
          </a:effectRef>
          <a:fontRef idx="minor">
            <a:schemeClr val="dk1"/>
          </a:fontRef>
        </p:style>
        <p:txBody>
          <a:bodyPr anchor="ctr"/>
          <a:lstStyle/>
          <a:p>
            <a:pPr>
              <a:defRPr/>
            </a:pPr>
            <a:r>
              <a:rPr lang="en-US" sz="2800" dirty="0">
                <a:solidFill>
                  <a:srgbClr val="000000"/>
                </a:solidFill>
                <a:latin typeface="Calibri"/>
                <a:ea typeface="ＭＳ Ｐゴシック" charset="0"/>
                <a:cs typeface="Calibri"/>
              </a:rPr>
              <a:t>TO</a:t>
            </a:r>
          </a:p>
          <a:p>
            <a:pPr marL="342900" indent="-342900">
              <a:spcBef>
                <a:spcPts val="600"/>
              </a:spcBef>
              <a:buFont typeface="Arial"/>
              <a:buChar char="•"/>
              <a:defRPr/>
            </a:pPr>
            <a:r>
              <a:rPr lang="en-US" sz="2800" dirty="0">
                <a:solidFill>
                  <a:srgbClr val="000000"/>
                </a:solidFill>
                <a:latin typeface="Calibri"/>
                <a:ea typeface="ＭＳ Ｐゴシック" charset="0"/>
                <a:cs typeface="Calibri"/>
              </a:rPr>
              <a:t>Facilitator of inclusion</a:t>
            </a:r>
          </a:p>
          <a:p>
            <a:pPr marL="342900" indent="-342900">
              <a:spcBef>
                <a:spcPts val="600"/>
              </a:spcBef>
              <a:buFont typeface="Arial"/>
              <a:buChar char="•"/>
              <a:defRPr/>
            </a:pPr>
            <a:r>
              <a:rPr lang="en-US" sz="2800" dirty="0">
                <a:solidFill>
                  <a:srgbClr val="000000"/>
                </a:solidFill>
                <a:latin typeface="Calibri"/>
                <a:ea typeface="ＭＳ Ｐゴシック" charset="0"/>
                <a:cs typeface="Calibri"/>
              </a:rPr>
              <a:t>Facilitator of community supports</a:t>
            </a:r>
          </a:p>
          <a:p>
            <a:pPr marL="342900" indent="-342900">
              <a:spcBef>
                <a:spcPts val="600"/>
              </a:spcBef>
              <a:buFont typeface="Arial"/>
              <a:buChar char="•"/>
              <a:defRPr/>
            </a:pPr>
            <a:r>
              <a:rPr lang="en-US" sz="2800" dirty="0">
                <a:solidFill>
                  <a:srgbClr val="000000"/>
                </a:solidFill>
                <a:latin typeface="Calibri"/>
                <a:ea typeface="ＭＳ Ｐゴシック" charset="0"/>
                <a:cs typeface="Calibri"/>
              </a:rPr>
              <a:t>Support </a:t>
            </a:r>
            <a:r>
              <a:rPr lang="en-US" sz="2800" dirty="0" smtClean="0">
                <a:solidFill>
                  <a:srgbClr val="000000"/>
                </a:solidFill>
                <a:latin typeface="Calibri"/>
                <a:ea typeface="ＭＳ Ｐゴシック" charset="0"/>
                <a:cs typeface="Calibri"/>
              </a:rPr>
              <a:t>professional</a:t>
            </a:r>
          </a:p>
          <a:p>
            <a:pPr marL="342900" indent="-342900">
              <a:spcBef>
                <a:spcPts val="600"/>
              </a:spcBef>
              <a:buFont typeface="Arial"/>
              <a:buChar char="•"/>
              <a:defRPr/>
            </a:pPr>
            <a:r>
              <a:rPr lang="en-US" sz="2800" dirty="0" smtClean="0">
                <a:solidFill>
                  <a:srgbClr val="000000"/>
                </a:solidFill>
                <a:latin typeface="Calibri"/>
                <a:ea typeface="ＭＳ Ｐゴシック" charset="0"/>
                <a:cs typeface="Calibri"/>
              </a:rPr>
              <a:t>Social </a:t>
            </a:r>
            <a:r>
              <a:rPr lang="en-US" sz="2800" dirty="0">
                <a:solidFill>
                  <a:srgbClr val="000000"/>
                </a:solidFill>
                <a:latin typeface="Calibri"/>
                <a:ea typeface="ＭＳ Ｐゴシック" charset="0"/>
                <a:cs typeface="Calibri"/>
              </a:rPr>
              <a:t>change </a:t>
            </a:r>
            <a:r>
              <a:rPr lang="en-US" sz="2800" dirty="0" smtClean="0">
                <a:solidFill>
                  <a:srgbClr val="000000"/>
                </a:solidFill>
                <a:latin typeface="Calibri"/>
                <a:ea typeface="ＭＳ Ｐゴシック" charset="0"/>
                <a:cs typeface="Calibri"/>
              </a:rPr>
              <a:t>agent</a:t>
            </a:r>
            <a:endParaRPr lang="en-US" sz="2800" dirty="0">
              <a:solidFill>
                <a:srgbClr val="000000"/>
              </a:solidFill>
              <a:latin typeface="Calibri"/>
              <a:ea typeface="ＭＳ Ｐゴシック" charset="0"/>
              <a:cs typeface="Calibri"/>
            </a:endParaRPr>
          </a:p>
        </p:txBody>
      </p:sp>
      <p:sp>
        <p:nvSpPr>
          <p:cNvPr id="2" name="Slide Number Placeholder 1"/>
          <p:cNvSpPr>
            <a:spLocks noGrp="1"/>
          </p:cNvSpPr>
          <p:nvPr>
            <p:ph type="sldNum" sz="quarter" idx="12"/>
          </p:nvPr>
        </p:nvSpPr>
        <p:spPr/>
        <p:txBody>
          <a:bodyPr/>
          <a:lstStyle/>
          <a:p>
            <a:pPr>
              <a:defRPr/>
            </a:pPr>
            <a:fld id="{7914F4CA-897D-214A-8D71-10AFFED61C52}" type="slidenum">
              <a:rPr lang="en-US" smtClean="0"/>
              <a:pPr>
                <a:defRPr/>
              </a:pPr>
              <a:t>35</a:t>
            </a:fld>
            <a:endParaRPr lang="en-US" dirty="0"/>
          </a:p>
        </p:txBody>
      </p:sp>
    </p:spTree>
    <p:extLst>
      <p:ext uri="{BB962C8B-B14F-4D97-AF65-F5344CB8AC3E}">
        <p14:creationId xmlns:p14="http://schemas.microsoft.com/office/powerpoint/2010/main" val="1037225498"/>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ownload-365x260.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23900" y="571500"/>
            <a:ext cx="2291861" cy="1632559"/>
          </a:xfrm>
          <a:prstGeom prst="rect">
            <a:avLst/>
          </a:prstGeom>
        </p:spPr>
      </p:pic>
      <p:pic>
        <p:nvPicPr>
          <p:cNvPr id="8" name="Picture 7" descr="Unknown.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39700" y="5181600"/>
            <a:ext cx="1524000" cy="1524000"/>
          </a:xfrm>
          <a:prstGeom prst="rect">
            <a:avLst/>
          </a:prstGeom>
        </p:spPr>
      </p:pic>
      <p:pic>
        <p:nvPicPr>
          <p:cNvPr id="11" name="Picture 10" descr="SABE-board-20151.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637726" y="5181600"/>
            <a:ext cx="2441948" cy="1295400"/>
          </a:xfrm>
          <a:prstGeom prst="rect">
            <a:avLst/>
          </a:prstGeom>
        </p:spPr>
      </p:pic>
      <p:pic>
        <p:nvPicPr>
          <p:cNvPr id="12" name="Picture 11" descr="2014-03-30-CesarChavez.jp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553200" y="5181600"/>
            <a:ext cx="2084517" cy="1397277"/>
          </a:xfrm>
          <a:prstGeom prst="rect">
            <a:avLst/>
          </a:prstGeom>
        </p:spPr>
      </p:pic>
      <p:sp>
        <p:nvSpPr>
          <p:cNvPr id="14" name="Title 13"/>
          <p:cNvSpPr>
            <a:spLocks noGrp="1"/>
          </p:cNvSpPr>
          <p:nvPr>
            <p:ph type="title"/>
          </p:nvPr>
        </p:nvSpPr>
        <p:spPr>
          <a:xfrm>
            <a:off x="1447800" y="2336800"/>
            <a:ext cx="6172200" cy="1066800"/>
          </a:xfrm>
          <a:solidFill>
            <a:srgbClr val="FFFF00"/>
          </a:solidFill>
          <a:effectLst>
            <a:glow rad="228600">
              <a:schemeClr val="accent4">
                <a:satMod val="175000"/>
                <a:alpha val="40000"/>
              </a:schemeClr>
            </a:glow>
          </a:effectLst>
          <a:scene3d>
            <a:camera prst="isometricOffAxis1Right"/>
            <a:lightRig rig="threePt" dir="t"/>
          </a:scene3d>
        </p:spPr>
        <p:txBody>
          <a:bodyPr/>
          <a:lstStyle/>
          <a:p>
            <a:pPr algn="ctr"/>
            <a:r>
              <a:rPr lang="en-US" b="1" dirty="0" smtClean="0"/>
              <a:t>Civil Rights Worker</a:t>
            </a:r>
            <a:endParaRPr lang="en-US" b="1" dirty="0"/>
          </a:p>
        </p:txBody>
      </p:sp>
      <p:pic>
        <p:nvPicPr>
          <p:cNvPr id="13" name="Picture 12" descr="Rosa-Parks-2107541x1.jpg"/>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1536700" y="3987960"/>
            <a:ext cx="2101026" cy="1401778"/>
          </a:xfrm>
          <a:prstGeom prst="rect">
            <a:avLst/>
          </a:prstGeom>
        </p:spPr>
      </p:pic>
      <p:pic>
        <p:nvPicPr>
          <p:cNvPr id="7" name="Picture 6" descr="gty_martin_luther_king_jr_ll_130115_wmain.jpg"/>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5943600" y="431800"/>
            <a:ext cx="2768600" cy="1557338"/>
          </a:xfrm>
          <a:prstGeom prst="rect">
            <a:avLst/>
          </a:prstGeom>
        </p:spPr>
      </p:pic>
      <p:sp>
        <p:nvSpPr>
          <p:cNvPr id="2" name="Slide Number Placeholder 1"/>
          <p:cNvSpPr>
            <a:spLocks noGrp="1"/>
          </p:cNvSpPr>
          <p:nvPr>
            <p:ph type="sldNum" sz="quarter" idx="12"/>
          </p:nvPr>
        </p:nvSpPr>
        <p:spPr/>
        <p:txBody>
          <a:bodyPr/>
          <a:lstStyle/>
          <a:p>
            <a:pPr>
              <a:defRPr/>
            </a:pPr>
            <a:fld id="{EF8BE299-D423-6340-A0CA-3205E805061E}" type="slidenum">
              <a:rPr lang="en-US" smtClean="0"/>
              <a:pPr>
                <a:defRPr/>
              </a:pPr>
              <a:t>36</a:t>
            </a:fld>
            <a:endParaRPr lang="en-US" dirty="0"/>
          </a:p>
        </p:txBody>
      </p:sp>
      <p:pic>
        <p:nvPicPr>
          <p:cNvPr id="3" name="Picture 2" descr="504.jpg"/>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6416675" y="3277037"/>
            <a:ext cx="2406650" cy="1603807"/>
          </a:xfrm>
          <a:prstGeom prst="rect">
            <a:avLst/>
          </a:prstGeom>
        </p:spPr>
      </p:pic>
    </p:spTree>
    <p:extLst>
      <p:ext uri="{BB962C8B-B14F-4D97-AF65-F5344CB8AC3E}">
        <p14:creationId xmlns:p14="http://schemas.microsoft.com/office/powerpoint/2010/main" val="721662707"/>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p:cNvSpPr/>
          <p:nvPr/>
        </p:nvSpPr>
        <p:spPr>
          <a:xfrm>
            <a:off x="1168400" y="215900"/>
            <a:ext cx="7823200" cy="6451600"/>
          </a:xfrm>
          <a:prstGeom prst="cloud">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smtClean="0">
                <a:solidFill>
                  <a:schemeClr val="tx1"/>
                </a:solidFill>
              </a:rPr>
              <a:t>Jobs and Community</a:t>
            </a:r>
            <a:endParaRPr lang="en-US" sz="3200" b="1" dirty="0">
              <a:solidFill>
                <a:schemeClr val="tx1"/>
              </a:solidFill>
            </a:endParaRPr>
          </a:p>
        </p:txBody>
      </p:sp>
      <p:sp>
        <p:nvSpPr>
          <p:cNvPr id="4" name="Rectangle 3"/>
          <p:cNvSpPr/>
          <p:nvPr/>
        </p:nvSpPr>
        <p:spPr>
          <a:xfrm>
            <a:off x="2806700" y="2038350"/>
            <a:ext cx="3987800" cy="2730500"/>
          </a:xfrm>
          <a:prstGeom prst="rect">
            <a:avLst/>
          </a:prstGeom>
          <a:solidFill>
            <a:srgbClr val="0000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smtClean="0"/>
              <a:t>Jobs and Community</a:t>
            </a:r>
            <a:endParaRPr lang="en-US" sz="3200" dirty="0"/>
          </a:p>
        </p:txBody>
      </p:sp>
      <p:sp>
        <p:nvSpPr>
          <p:cNvPr id="3" name="Slide Number Placeholder 2"/>
          <p:cNvSpPr>
            <a:spLocks noGrp="1"/>
          </p:cNvSpPr>
          <p:nvPr>
            <p:ph type="sldNum" sz="quarter" idx="12"/>
          </p:nvPr>
        </p:nvSpPr>
        <p:spPr/>
        <p:txBody>
          <a:bodyPr/>
          <a:lstStyle/>
          <a:p>
            <a:pPr>
              <a:defRPr/>
            </a:pPr>
            <a:fld id="{DE0518C9-3CC7-7448-AD05-3CB269384775}" type="slidenum">
              <a:rPr lang="en-US" smtClean="0"/>
              <a:pPr>
                <a:defRPr/>
              </a:pPr>
              <a:t>37</a:t>
            </a:fld>
            <a:endParaRPr lang="en-US" dirty="0"/>
          </a:p>
        </p:txBody>
      </p:sp>
    </p:spTree>
    <p:extLst>
      <p:ext uri="{BB962C8B-B14F-4D97-AF65-F5344CB8AC3E}">
        <p14:creationId xmlns:p14="http://schemas.microsoft.com/office/powerpoint/2010/main" val="110347060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4"/>
                                        </p:tgtEl>
                                      </p:cBhvr>
                                      <p:by x="150000" y="150000"/>
                                    </p:animScale>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par>
                          <p:cTn id="7" fill="hold">
                            <p:stCondLst>
                              <p:cond delay="2000"/>
                            </p:stCondLst>
                            <p:childTnLst>
                              <p:par>
                                <p:cTn id="8" presetID="9" presetClass="exit" presetSubtype="0" fill="hold" grpId="1" nodeType="afterEffect">
                                  <p:stCondLst>
                                    <p:cond delay="0"/>
                                  </p:stCondLst>
                                  <p:childTnLst>
                                    <p:animEffect transition="out" filter="dissolve">
                                      <p:cBhvr>
                                        <p:cTn id="9" dur="2000"/>
                                        <p:tgtEl>
                                          <p:spTgt spid="4"/>
                                        </p:tgtEl>
                                      </p:cBhvr>
                                    </p:animEffect>
                                    <p:set>
                                      <p:cBhvr>
                                        <p:cTn id="10" dur="1" fill="hold">
                                          <p:stCondLst>
                                            <p:cond delay="1999"/>
                                          </p:stCondLst>
                                        </p:cTn>
                                        <p:tgtEl>
                                          <p:spTgt spid="4"/>
                                        </p:tgtEl>
                                        <p:attrNameLst>
                                          <p:attrName>style.visibility</p:attrName>
                                        </p:attrNameLst>
                                      </p:cBhvr>
                                      <p:to>
                                        <p:strVal val="hidden"/>
                                      </p:to>
                                    </p:set>
                                  </p:childTnLst>
                                </p:cTn>
                              </p:par>
                              <p:par>
                                <p:cTn id="11" presetID="9"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4"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6500" y="638176"/>
            <a:ext cx="7499350" cy="1143000"/>
          </a:xfrm>
        </p:spPr>
        <p:txBody>
          <a:bodyPr>
            <a:normAutofit fontScale="90000"/>
          </a:bodyPr>
          <a:lstStyle/>
          <a:p>
            <a:pPr algn="ctr"/>
            <a:r>
              <a:rPr lang="en-US" dirty="0" smtClean="0"/>
              <a:t>It’s not just about changing individual lives.</a:t>
            </a:r>
            <a:endParaRPr lang="en-US" dirty="0"/>
          </a:p>
        </p:txBody>
      </p:sp>
      <p:pic>
        <p:nvPicPr>
          <p:cNvPr id="4" name="Picture 3"/>
          <p:cNvPicPr>
            <a:picLocks noChangeAspect="1"/>
          </p:cNvPicPr>
          <p:nvPr/>
        </p:nvPicPr>
        <p:blipFill>
          <a:blip r:embed="rId2"/>
          <a:stretch>
            <a:fillRect/>
          </a:stretch>
        </p:blipFill>
        <p:spPr>
          <a:xfrm>
            <a:off x="5753100" y="2908300"/>
            <a:ext cx="2537056" cy="2537056"/>
          </a:xfrm>
          <a:prstGeom prst="rect">
            <a:avLst/>
          </a:prstGeom>
        </p:spPr>
      </p:pic>
      <p:pic>
        <p:nvPicPr>
          <p:cNvPr id="6" name="Picture 5" descr="MC900036771.WM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3146656"/>
            <a:ext cx="2988310" cy="2298700"/>
          </a:xfrm>
          <a:prstGeom prst="rect">
            <a:avLst/>
          </a:prstGeom>
        </p:spPr>
      </p:pic>
      <p:sp>
        <p:nvSpPr>
          <p:cNvPr id="3" name="Slide Number Placeholder 2"/>
          <p:cNvSpPr>
            <a:spLocks noGrp="1"/>
          </p:cNvSpPr>
          <p:nvPr>
            <p:ph type="sldNum" sz="quarter" idx="12"/>
          </p:nvPr>
        </p:nvSpPr>
        <p:spPr/>
        <p:txBody>
          <a:bodyPr/>
          <a:lstStyle/>
          <a:p>
            <a:pPr>
              <a:defRPr/>
            </a:pPr>
            <a:fld id="{DE0518C9-3CC7-7448-AD05-3CB269384775}" type="slidenum">
              <a:rPr lang="en-US" smtClean="0"/>
              <a:pPr>
                <a:defRPr/>
              </a:pPr>
              <a:t>38</a:t>
            </a:fld>
            <a:endParaRPr lang="en-US" dirty="0"/>
          </a:p>
        </p:txBody>
      </p:sp>
    </p:spTree>
    <p:extLst>
      <p:ext uri="{BB962C8B-B14F-4D97-AF65-F5344CB8AC3E}">
        <p14:creationId xmlns:p14="http://schemas.microsoft.com/office/powerpoint/2010/main" val="2178576738"/>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685800"/>
            <a:ext cx="8305800" cy="4114800"/>
          </a:xfrm>
          <a:scene3d>
            <a:camera prst="orthographicFront"/>
            <a:lightRig rig="threePt" dir="t"/>
          </a:scene3d>
          <a:sp3d>
            <a:bevelT w="139700" h="139700" prst="divot"/>
          </a:sp3d>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US" dirty="0" smtClean="0">
                <a:solidFill>
                  <a:schemeClr val="tx1"/>
                </a:solidFill>
              </a:rPr>
              <a:t>“ I have come to understand that the</a:t>
            </a:r>
            <a:br>
              <a:rPr lang="en-US" dirty="0" smtClean="0">
                <a:solidFill>
                  <a:schemeClr val="tx1"/>
                </a:solidFill>
              </a:rPr>
            </a:br>
            <a:r>
              <a:rPr lang="en-US" dirty="0" smtClean="0">
                <a:solidFill>
                  <a:schemeClr val="tx1"/>
                </a:solidFill>
              </a:rPr>
              <a:t>  way we respond to people</a:t>
            </a:r>
            <a:br>
              <a:rPr lang="en-US" dirty="0" smtClean="0">
                <a:solidFill>
                  <a:schemeClr val="tx1"/>
                </a:solidFill>
              </a:rPr>
            </a:br>
            <a:r>
              <a:rPr lang="en-US" dirty="0" smtClean="0">
                <a:solidFill>
                  <a:schemeClr val="tx1"/>
                </a:solidFill>
              </a:rPr>
              <a:t>who are</a:t>
            </a:r>
            <a:br>
              <a:rPr lang="en-US" dirty="0" smtClean="0">
                <a:solidFill>
                  <a:schemeClr val="tx1"/>
                </a:solidFill>
              </a:rPr>
            </a:br>
            <a:r>
              <a:rPr lang="en-US" dirty="0" smtClean="0">
                <a:solidFill>
                  <a:schemeClr val="tx1"/>
                </a:solidFill>
              </a:rPr>
              <a:t>  different in any way,</a:t>
            </a:r>
            <a:br>
              <a:rPr lang="en-US" dirty="0" smtClean="0">
                <a:solidFill>
                  <a:schemeClr val="tx1"/>
                </a:solidFill>
              </a:rPr>
            </a:br>
            <a:r>
              <a:rPr lang="en-US" dirty="0" smtClean="0">
                <a:solidFill>
                  <a:schemeClr val="tx1"/>
                </a:solidFill>
              </a:rPr>
              <a:t>clearly reflects</a:t>
            </a:r>
            <a:r>
              <a:rPr lang="en-US" dirty="0">
                <a:solidFill>
                  <a:schemeClr val="tx1"/>
                </a:solidFill>
              </a:rPr>
              <a:t> </a:t>
            </a:r>
            <a:r>
              <a:rPr lang="en-US" dirty="0" smtClean="0">
                <a:solidFill>
                  <a:schemeClr val="tx1"/>
                </a:solidFill>
              </a:rPr>
              <a:t>our own willingness</a:t>
            </a:r>
            <a:br>
              <a:rPr lang="en-US" dirty="0" smtClean="0">
                <a:solidFill>
                  <a:schemeClr val="tx1"/>
                </a:solidFill>
              </a:rPr>
            </a:br>
            <a:r>
              <a:rPr lang="en-US" dirty="0" smtClean="0">
                <a:solidFill>
                  <a:schemeClr val="tx1"/>
                </a:solidFill>
              </a:rPr>
              <a:t>to either expand</a:t>
            </a:r>
            <a:r>
              <a:rPr lang="en-US" dirty="0">
                <a:solidFill>
                  <a:schemeClr val="tx1"/>
                </a:solidFill>
              </a:rPr>
              <a:t> </a:t>
            </a:r>
            <a:r>
              <a:rPr lang="en-US" dirty="0" smtClean="0">
                <a:solidFill>
                  <a:schemeClr val="tx1"/>
                </a:solidFill>
              </a:rPr>
              <a:t>our horizons</a:t>
            </a:r>
            <a:br>
              <a:rPr lang="en-US" dirty="0" smtClean="0">
                <a:solidFill>
                  <a:schemeClr val="tx1"/>
                </a:solidFill>
              </a:rPr>
            </a:br>
            <a:r>
              <a:rPr lang="en-US" dirty="0" smtClean="0">
                <a:solidFill>
                  <a:schemeClr val="tx1"/>
                </a:solidFill>
              </a:rPr>
              <a:t>or shrink back in fear.”</a:t>
            </a:r>
            <a:endParaRPr lang="en-US" dirty="0">
              <a:solidFill>
                <a:schemeClr val="tx1"/>
              </a:solidFill>
            </a:endParaRPr>
          </a:p>
        </p:txBody>
      </p:sp>
      <p:sp>
        <p:nvSpPr>
          <p:cNvPr id="4" name="Content Placeholder 3"/>
          <p:cNvSpPr>
            <a:spLocks noGrp="1"/>
          </p:cNvSpPr>
          <p:nvPr>
            <p:ph idx="1"/>
          </p:nvPr>
        </p:nvSpPr>
        <p:spPr>
          <a:xfrm>
            <a:off x="2286000" y="5410200"/>
            <a:ext cx="6477000" cy="1075083"/>
          </a:xfrm>
        </p:spPr>
        <p:txBody>
          <a:bodyPr/>
          <a:lstStyle/>
          <a:p>
            <a:r>
              <a:rPr lang="en-US" dirty="0" smtClean="0"/>
              <a:t>Kay </a:t>
            </a:r>
            <a:r>
              <a:rPr lang="en-US" dirty="0" err="1" smtClean="0"/>
              <a:t>Drais</a:t>
            </a:r>
            <a:r>
              <a:rPr lang="en-US" dirty="0" smtClean="0"/>
              <a:t>, </a:t>
            </a:r>
            <a:r>
              <a:rPr lang="en-US" i="1" dirty="0" smtClean="0"/>
              <a:t>Parent of a Child with a Disability</a:t>
            </a:r>
            <a:endParaRPr lang="en-US" i="1" dirty="0"/>
          </a:p>
        </p:txBody>
      </p:sp>
      <p:sp>
        <p:nvSpPr>
          <p:cNvPr id="2" name="Slide Number Placeholder 1"/>
          <p:cNvSpPr>
            <a:spLocks noGrp="1"/>
          </p:cNvSpPr>
          <p:nvPr>
            <p:ph type="sldNum" sz="quarter" idx="12"/>
          </p:nvPr>
        </p:nvSpPr>
        <p:spPr/>
        <p:txBody>
          <a:bodyPr/>
          <a:lstStyle/>
          <a:p>
            <a:pPr>
              <a:defRPr/>
            </a:pPr>
            <a:fld id="{8EFE7809-DC62-174B-8786-5B0B6D551990}" type="slidenum">
              <a:rPr lang="en-US" smtClean="0"/>
              <a:pPr>
                <a:defRPr/>
              </a:pPr>
              <a:t>39</a:t>
            </a:fld>
            <a:endParaRPr lang="en-US"/>
          </a:p>
        </p:txBody>
      </p:sp>
    </p:spTree>
    <p:extLst>
      <p:ext uri="{BB962C8B-B14F-4D97-AF65-F5344CB8AC3E}">
        <p14:creationId xmlns:p14="http://schemas.microsoft.com/office/powerpoint/2010/main" val="364299093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9500" y="1849438"/>
            <a:ext cx="1549400" cy="1782762"/>
          </a:xfrm>
          <a:ln/>
          <a:effectLst>
            <a:glow rad="228600">
              <a:schemeClr val="accent6">
                <a:satMod val="175000"/>
                <a:alpha val="40000"/>
              </a:schemeClr>
            </a:glow>
            <a:outerShdw blurRad="63500" dist="25400" dir="5400000" rotWithShape="0">
              <a:srgbClr val="000000">
                <a:alpha val="43137"/>
              </a:srgbClr>
            </a:outerShdw>
          </a:effectLst>
        </p:spPr>
        <p:style>
          <a:lnRef idx="1">
            <a:schemeClr val="accent6"/>
          </a:lnRef>
          <a:fillRef idx="2">
            <a:schemeClr val="accent6"/>
          </a:fillRef>
          <a:effectRef idx="1">
            <a:schemeClr val="accent6"/>
          </a:effectRef>
          <a:fontRef idx="minor">
            <a:schemeClr val="dk1"/>
          </a:fontRef>
        </p:style>
        <p:txBody>
          <a:bodyPr>
            <a:noAutofit/>
          </a:bodyPr>
          <a:lstStyle/>
          <a:p>
            <a:pPr algn="ctr"/>
            <a:r>
              <a:rPr lang="en-US" sz="2200" b="1" dirty="0" smtClean="0">
                <a:latin typeface="Arial Narrow"/>
                <a:cs typeface="Arial Narrow"/>
              </a:rPr>
              <a:t>Typical employment in the general workforce</a:t>
            </a:r>
            <a:endParaRPr lang="en-US" sz="2200" b="1" dirty="0">
              <a:latin typeface="Arial Narrow"/>
              <a:cs typeface="Arial Narrow"/>
            </a:endParaRPr>
          </a:p>
        </p:txBody>
      </p:sp>
      <p:cxnSp>
        <p:nvCxnSpPr>
          <p:cNvPr id="10" name="Straight Connector 9"/>
          <p:cNvCxnSpPr/>
          <p:nvPr/>
        </p:nvCxnSpPr>
        <p:spPr>
          <a:xfrm flipV="1">
            <a:off x="3632200" y="3055940"/>
            <a:ext cx="0" cy="1312860"/>
          </a:xfrm>
          <a:prstGeom prst="line">
            <a:avLst/>
          </a:prstGeom>
          <a:ln w="76200" cmpd="sng">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4648200" y="1409700"/>
            <a:ext cx="25400" cy="1316039"/>
          </a:xfrm>
          <a:prstGeom prst="line">
            <a:avLst/>
          </a:prstGeom>
          <a:ln w="76200" cmpd="sng">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V="1">
            <a:off x="5676900" y="3030539"/>
            <a:ext cx="0" cy="1312860"/>
          </a:xfrm>
          <a:prstGeom prst="line">
            <a:avLst/>
          </a:prstGeom>
          <a:ln w="76200" cmpd="sng">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2743200" y="1653988"/>
            <a:ext cx="25400" cy="1033652"/>
          </a:xfrm>
          <a:prstGeom prst="line">
            <a:avLst/>
          </a:prstGeom>
          <a:ln w="76200" cmpd="sng">
            <a:solidFill>
              <a:srgbClr val="0000FF"/>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2984500" y="4369832"/>
            <a:ext cx="1409700" cy="1015663"/>
          </a:xfrm>
          <a:prstGeom prst="rect">
            <a:avLst/>
          </a:prstGeom>
          <a:noFill/>
        </p:spPr>
        <p:txBody>
          <a:bodyPr wrap="square" rtlCol="0">
            <a:spAutoFit/>
          </a:bodyPr>
          <a:lstStyle/>
          <a:p>
            <a:pPr algn="ctr"/>
            <a:r>
              <a:rPr lang="en-US" sz="2000" dirty="0" smtClean="0"/>
              <a:t>Start an agency business</a:t>
            </a:r>
            <a:endParaRPr lang="en-US" sz="2000" dirty="0"/>
          </a:p>
        </p:txBody>
      </p:sp>
      <p:sp>
        <p:nvSpPr>
          <p:cNvPr id="9" name="TextBox 8"/>
          <p:cNvSpPr txBox="1"/>
          <p:nvPr/>
        </p:nvSpPr>
        <p:spPr>
          <a:xfrm>
            <a:off x="3943350" y="636370"/>
            <a:ext cx="1409700" cy="707886"/>
          </a:xfrm>
          <a:prstGeom prst="rect">
            <a:avLst/>
          </a:prstGeom>
          <a:noFill/>
        </p:spPr>
        <p:txBody>
          <a:bodyPr wrap="square" rtlCol="0">
            <a:spAutoFit/>
          </a:bodyPr>
          <a:lstStyle/>
          <a:p>
            <a:pPr algn="ctr"/>
            <a:r>
              <a:rPr lang="en-US" sz="2000" dirty="0" smtClean="0"/>
              <a:t>Create an enclave</a:t>
            </a:r>
            <a:endParaRPr lang="en-US" sz="2000" dirty="0"/>
          </a:p>
        </p:txBody>
      </p:sp>
      <p:sp>
        <p:nvSpPr>
          <p:cNvPr id="11" name="TextBox 10"/>
          <p:cNvSpPr txBox="1"/>
          <p:nvPr/>
        </p:nvSpPr>
        <p:spPr>
          <a:xfrm>
            <a:off x="1920875" y="308571"/>
            <a:ext cx="1644650" cy="1015663"/>
          </a:xfrm>
          <a:prstGeom prst="rect">
            <a:avLst/>
          </a:prstGeom>
          <a:noFill/>
        </p:spPr>
        <p:txBody>
          <a:bodyPr wrap="square" rtlCol="0">
            <a:spAutoFit/>
          </a:bodyPr>
          <a:lstStyle/>
          <a:p>
            <a:pPr algn="ctr"/>
            <a:r>
              <a:rPr lang="en-US" sz="2000" dirty="0" smtClean="0"/>
              <a:t>Create a</a:t>
            </a:r>
            <a:br>
              <a:rPr lang="en-US" sz="2000" dirty="0" smtClean="0"/>
            </a:br>
            <a:r>
              <a:rPr lang="en-US" sz="2000" dirty="0" smtClean="0"/>
              <a:t>pre-vocational “program” </a:t>
            </a:r>
            <a:endParaRPr lang="en-US" sz="2000" dirty="0"/>
          </a:p>
        </p:txBody>
      </p:sp>
      <p:sp>
        <p:nvSpPr>
          <p:cNvPr id="13" name="TextBox 12"/>
          <p:cNvSpPr txBox="1"/>
          <p:nvPr/>
        </p:nvSpPr>
        <p:spPr>
          <a:xfrm>
            <a:off x="4984750" y="4354394"/>
            <a:ext cx="1409700" cy="1015663"/>
          </a:xfrm>
          <a:prstGeom prst="rect">
            <a:avLst/>
          </a:prstGeom>
          <a:noFill/>
        </p:spPr>
        <p:txBody>
          <a:bodyPr wrap="square" rtlCol="0">
            <a:spAutoFit/>
          </a:bodyPr>
          <a:lstStyle/>
          <a:p>
            <a:pPr algn="ctr"/>
            <a:r>
              <a:rPr lang="en-US" sz="2000" dirty="0" smtClean="0"/>
              <a:t>Create a non-work “program”</a:t>
            </a:r>
            <a:endParaRPr lang="en-US" sz="2000" dirty="0"/>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40</a:t>
            </a:fld>
            <a:endParaRPr lang="en-US" dirty="0"/>
          </a:p>
        </p:txBody>
      </p:sp>
      <p:sp>
        <p:nvSpPr>
          <p:cNvPr id="6" name="Right Arrow 5"/>
          <p:cNvSpPr/>
          <p:nvPr/>
        </p:nvSpPr>
        <p:spPr>
          <a:xfrm>
            <a:off x="1219200" y="2497140"/>
            <a:ext cx="6070600" cy="7112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1717951"/>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par>
                          <p:cTn id="27" fill="hold">
                            <p:stCondLst>
                              <p:cond delay="0"/>
                            </p:stCondLst>
                            <p:childTnLst>
                              <p:par>
                                <p:cTn id="28" presetID="1" presetClass="exit" presetSubtype="0" fill="hold" grpId="0" nodeType="afterEffect">
                                  <p:stCondLst>
                                    <p:cond delay="4000"/>
                                  </p:stCondLst>
                                  <p:childTnLst>
                                    <p:set>
                                      <p:cBhvr>
                                        <p:cTn id="29"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9" grpId="0"/>
      <p:bldP spid="11" grpId="0"/>
      <p:bldP spid="1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ChangeArrowheads="1"/>
          </p:cNvSpPr>
          <p:nvPr/>
        </p:nvSpPr>
        <p:spPr bwMode="auto">
          <a:xfrm>
            <a:off x="1206500" y="698500"/>
            <a:ext cx="7467600" cy="4154983"/>
          </a:xfrm>
          <a:prstGeom prst="rect">
            <a:avLst/>
          </a:prstGeom>
          <a:solidFill>
            <a:srgbClr val="0000FF"/>
          </a:solidFill>
          <a:ln/>
        </p:spPr>
        <p:style>
          <a:lnRef idx="0">
            <a:schemeClr val="accent5"/>
          </a:lnRef>
          <a:fillRef idx="3">
            <a:schemeClr val="accent5"/>
          </a:fillRef>
          <a:effectRef idx="3">
            <a:schemeClr val="accent5"/>
          </a:effectRef>
          <a:fontRef idx="minor">
            <a:schemeClr val="lt1"/>
          </a:fontRef>
        </p:style>
        <p:txBody>
          <a:bodyPr>
            <a:spAutoFit/>
          </a:bodyPr>
          <a:lstStyle/>
          <a:p>
            <a:pPr algn="ctr"/>
            <a:r>
              <a:rPr lang="ja-JP" altLang="en-US" sz="4400" b="1" dirty="0" smtClean="0">
                <a:solidFill>
                  <a:schemeClr val="bg1"/>
                </a:solidFill>
                <a:latin typeface="Century Gothic" charset="0"/>
              </a:rPr>
              <a:t>“</a:t>
            </a:r>
            <a:r>
              <a:rPr lang="en-US" sz="4400" b="1" dirty="0" smtClean="0">
                <a:solidFill>
                  <a:schemeClr val="bg1"/>
                </a:solidFill>
              </a:rPr>
              <a:t>There </a:t>
            </a:r>
            <a:r>
              <a:rPr lang="en-US" sz="4400" b="1" dirty="0">
                <a:solidFill>
                  <a:schemeClr val="bg1"/>
                </a:solidFill>
              </a:rPr>
              <a:t>are </a:t>
            </a:r>
            <a:r>
              <a:rPr lang="en-US" sz="4400" b="1" dirty="0" smtClean="0">
                <a:solidFill>
                  <a:schemeClr val="bg1"/>
                </a:solidFill>
              </a:rPr>
              <a:t>always</a:t>
            </a:r>
            <a:br>
              <a:rPr lang="en-US" sz="4400" b="1" dirty="0" smtClean="0">
                <a:solidFill>
                  <a:schemeClr val="bg1"/>
                </a:solidFill>
              </a:rPr>
            </a:br>
            <a:r>
              <a:rPr lang="en-US" sz="4400" b="1" dirty="0" smtClean="0">
                <a:solidFill>
                  <a:schemeClr val="bg1"/>
                </a:solidFill>
              </a:rPr>
              <a:t>two </a:t>
            </a:r>
            <a:r>
              <a:rPr lang="en-US" sz="4400" b="1" dirty="0">
                <a:solidFill>
                  <a:schemeClr val="bg1"/>
                </a:solidFill>
              </a:rPr>
              <a:t>choices.</a:t>
            </a:r>
            <a:br>
              <a:rPr lang="en-US" sz="4400" b="1" dirty="0">
                <a:solidFill>
                  <a:schemeClr val="bg1"/>
                </a:solidFill>
              </a:rPr>
            </a:br>
            <a:r>
              <a:rPr lang="en-US" sz="4400" b="1" dirty="0">
                <a:solidFill>
                  <a:schemeClr val="bg1"/>
                </a:solidFill>
              </a:rPr>
              <a:t>Two paths to take.</a:t>
            </a:r>
            <a:br>
              <a:rPr lang="en-US" sz="4400" b="1" dirty="0">
                <a:solidFill>
                  <a:schemeClr val="bg1"/>
                </a:solidFill>
              </a:rPr>
            </a:br>
            <a:r>
              <a:rPr lang="en-US" sz="4400" b="1" dirty="0">
                <a:solidFill>
                  <a:schemeClr val="bg1"/>
                </a:solidFill>
              </a:rPr>
              <a:t>One is easy.</a:t>
            </a:r>
            <a:br>
              <a:rPr lang="en-US" sz="4400" b="1" dirty="0">
                <a:solidFill>
                  <a:schemeClr val="bg1"/>
                </a:solidFill>
              </a:rPr>
            </a:br>
            <a:r>
              <a:rPr lang="en-US" sz="4400" b="1" dirty="0">
                <a:solidFill>
                  <a:schemeClr val="bg1"/>
                </a:solidFill>
              </a:rPr>
              <a:t>And its only reward is</a:t>
            </a:r>
            <a:br>
              <a:rPr lang="en-US" sz="4400" b="1" dirty="0">
                <a:solidFill>
                  <a:schemeClr val="bg1"/>
                </a:solidFill>
              </a:rPr>
            </a:br>
            <a:r>
              <a:rPr lang="en-US" sz="4400" b="1" dirty="0">
                <a:solidFill>
                  <a:schemeClr val="bg1"/>
                </a:solidFill>
              </a:rPr>
              <a:t>that </a:t>
            </a:r>
            <a:r>
              <a:rPr lang="en-US" sz="4400" b="1" dirty="0" smtClean="0">
                <a:solidFill>
                  <a:schemeClr val="bg1"/>
                </a:solidFill>
              </a:rPr>
              <a:t>it‘s </a:t>
            </a:r>
            <a:r>
              <a:rPr lang="en-US" sz="4400" b="1" dirty="0">
                <a:solidFill>
                  <a:schemeClr val="bg1"/>
                </a:solidFill>
              </a:rPr>
              <a:t>easy</a:t>
            </a:r>
            <a:r>
              <a:rPr lang="en-US" sz="4400" b="1" dirty="0">
                <a:solidFill>
                  <a:schemeClr val="bg1"/>
                </a:solidFill>
                <a:latin typeface="Century Gothic" charset="0"/>
              </a:rPr>
              <a:t>.</a:t>
            </a:r>
            <a:r>
              <a:rPr lang="ja-JP" altLang="en-US" sz="4400" b="1" dirty="0" smtClean="0">
                <a:solidFill>
                  <a:schemeClr val="bg1"/>
                </a:solidFill>
                <a:latin typeface="Century Gothic" charset="0"/>
              </a:rPr>
              <a:t>”</a:t>
            </a:r>
            <a:endParaRPr lang="en-US" sz="4400" b="1" dirty="0">
              <a:solidFill>
                <a:schemeClr val="bg1"/>
              </a:solidFill>
              <a:latin typeface="Century Gothic" charset="0"/>
            </a:endParaRPr>
          </a:p>
        </p:txBody>
      </p:sp>
      <p:sp>
        <p:nvSpPr>
          <p:cNvPr id="2" name="Slide Number Placeholder 1"/>
          <p:cNvSpPr>
            <a:spLocks noGrp="1"/>
          </p:cNvSpPr>
          <p:nvPr>
            <p:ph type="sldNum" sz="quarter" idx="12"/>
          </p:nvPr>
        </p:nvSpPr>
        <p:spPr/>
        <p:txBody>
          <a:bodyPr/>
          <a:lstStyle/>
          <a:p>
            <a:pPr>
              <a:defRPr/>
            </a:pPr>
            <a:fld id="{76D09E21-E3A5-A34B-9A90-0AE5B5561539}" type="slidenum">
              <a:rPr lang="en-US" smtClean="0"/>
              <a:pPr>
                <a:defRPr/>
              </a:pPr>
              <a:t>41</a:t>
            </a:fld>
            <a:endParaRPr lang="en-US" dirty="0">
              <a:solidFill>
                <a:schemeClr val="bg2">
                  <a:shade val="50000"/>
                </a:schemeClr>
              </a:solidFill>
            </a:endParaRPr>
          </a:p>
        </p:txBody>
      </p:sp>
    </p:spTree>
    <p:extLst>
      <p:ext uri="{BB962C8B-B14F-4D97-AF65-F5344CB8AC3E}">
        <p14:creationId xmlns:p14="http://schemas.microsoft.com/office/powerpoint/2010/main" val="4225436043"/>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5300" y="3467100"/>
            <a:ext cx="6362700" cy="2032000"/>
          </a:xfrm>
          <a:effectLst>
            <a:glow rad="228600">
              <a:schemeClr val="accent5">
                <a:satMod val="175000"/>
                <a:alpha val="40000"/>
              </a:schemeClr>
            </a:glow>
          </a:effectLst>
        </p:spPr>
        <p:style>
          <a:lnRef idx="2">
            <a:schemeClr val="accent6">
              <a:shade val="50000"/>
            </a:schemeClr>
          </a:lnRef>
          <a:fillRef idx="1">
            <a:schemeClr val="accent6"/>
          </a:fillRef>
          <a:effectRef idx="0">
            <a:schemeClr val="accent6"/>
          </a:effectRef>
          <a:fontRef idx="minor">
            <a:schemeClr val="lt1"/>
          </a:fontRef>
        </p:style>
        <p:txBody>
          <a:bodyPr>
            <a:normAutofit/>
          </a:bodyPr>
          <a:lstStyle/>
          <a:p>
            <a:pPr algn="ctr"/>
            <a:r>
              <a:rPr lang="en-US" dirty="0" smtClean="0"/>
              <a:t>More Real Lives</a:t>
            </a:r>
            <a:endParaRPr lang="en-US" dirty="0"/>
          </a:p>
        </p:txBody>
      </p:sp>
      <p:sp>
        <p:nvSpPr>
          <p:cNvPr id="3" name="Title 1"/>
          <p:cNvSpPr txBox="1">
            <a:spLocks/>
          </p:cNvSpPr>
          <p:nvPr/>
        </p:nvSpPr>
        <p:spPr>
          <a:xfrm>
            <a:off x="1765300" y="858838"/>
            <a:ext cx="6362700" cy="1757362"/>
          </a:xfrm>
          <a:prstGeom prst="rect">
            <a:avLst/>
          </a:prstGeom>
        </p:spPr>
        <p:style>
          <a:lnRef idx="3">
            <a:schemeClr val="lt1"/>
          </a:lnRef>
          <a:fillRef idx="1">
            <a:schemeClr val="dk1"/>
          </a:fillRef>
          <a:effectRef idx="1">
            <a:schemeClr val="dk1"/>
          </a:effectRef>
          <a:fontRef idx="minor">
            <a:schemeClr val="lt1"/>
          </a:fontRef>
        </p:style>
        <p:txBody>
          <a:bodyPr anchor="ctr">
            <a:normAutofit/>
          </a:bodyPr>
          <a:lstStyle>
            <a:lvl1pPr algn="l" rtl="0" eaLnBrk="0" fontAlgn="base" hangingPunct="0">
              <a:spcBef>
                <a:spcPct val="0"/>
              </a:spcBef>
              <a:spcAft>
                <a:spcPct val="0"/>
              </a:spcAft>
              <a:defRPr sz="4300" kern="1200">
                <a:solidFill>
                  <a:srgbClr val="41536B"/>
                </a:solidFill>
                <a:effectLst>
                  <a:outerShdw blurRad="50000" dist="30000" dir="5400000" algn="tl" rotWithShape="0">
                    <a:srgbClr val="000000">
                      <a:alpha val="30000"/>
                    </a:srgbClr>
                  </a:outerShdw>
                </a:effectLst>
                <a:latin typeface="+mj-lt"/>
                <a:ea typeface="ＭＳ Ｐゴシック" charset="0"/>
                <a:cs typeface="ＭＳ Ｐゴシック" charset="0"/>
              </a:defRPr>
            </a:lvl1pPr>
            <a:lvl2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2pPr>
            <a:lvl3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3pPr>
            <a:lvl4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4pPr>
            <a:lvl5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5pPr>
            <a:lvl6pPr marL="457200" algn="l" rtl="0" fontAlgn="base">
              <a:spcBef>
                <a:spcPct val="0"/>
              </a:spcBef>
              <a:spcAft>
                <a:spcPct val="0"/>
              </a:spcAft>
              <a:defRPr sz="4300">
                <a:solidFill>
                  <a:srgbClr val="41536B"/>
                </a:solidFill>
                <a:latin typeface="Gill Sans MT" charset="0"/>
                <a:ea typeface="ＭＳ Ｐゴシック" charset="0"/>
                <a:cs typeface="ＭＳ Ｐゴシック" charset="0"/>
              </a:defRPr>
            </a:lvl6pPr>
            <a:lvl7pPr marL="914400" algn="l" rtl="0" fontAlgn="base">
              <a:spcBef>
                <a:spcPct val="0"/>
              </a:spcBef>
              <a:spcAft>
                <a:spcPct val="0"/>
              </a:spcAft>
              <a:defRPr sz="4300">
                <a:solidFill>
                  <a:srgbClr val="41536B"/>
                </a:solidFill>
                <a:latin typeface="Gill Sans MT" charset="0"/>
                <a:ea typeface="ＭＳ Ｐゴシック" charset="0"/>
                <a:cs typeface="ＭＳ Ｐゴシック" charset="0"/>
              </a:defRPr>
            </a:lvl7pPr>
            <a:lvl8pPr marL="1371600" algn="l" rtl="0" fontAlgn="base">
              <a:spcBef>
                <a:spcPct val="0"/>
              </a:spcBef>
              <a:spcAft>
                <a:spcPct val="0"/>
              </a:spcAft>
              <a:defRPr sz="4300">
                <a:solidFill>
                  <a:srgbClr val="41536B"/>
                </a:solidFill>
                <a:latin typeface="Gill Sans MT" charset="0"/>
                <a:ea typeface="ＭＳ Ｐゴシック" charset="0"/>
                <a:cs typeface="ＭＳ Ｐゴシック" charset="0"/>
              </a:defRPr>
            </a:lvl8pPr>
            <a:lvl9pPr marL="1828800" algn="l" rtl="0" fontAlgn="base">
              <a:spcBef>
                <a:spcPct val="0"/>
              </a:spcBef>
              <a:spcAft>
                <a:spcPct val="0"/>
              </a:spcAft>
              <a:defRPr sz="4300">
                <a:solidFill>
                  <a:srgbClr val="41536B"/>
                </a:solidFill>
                <a:latin typeface="Gill Sans MT" charset="0"/>
                <a:ea typeface="ＭＳ Ｐゴシック" charset="0"/>
                <a:cs typeface="ＭＳ Ｐゴシック" charset="0"/>
              </a:defRPr>
            </a:lvl9pPr>
            <a:extLst/>
          </a:lstStyle>
          <a:p>
            <a:pPr algn="ctr"/>
            <a:r>
              <a:rPr lang="en-US" dirty="0" smtClean="0">
                <a:solidFill>
                  <a:schemeClr val="bg1"/>
                </a:solidFill>
              </a:rPr>
              <a:t>Less Programs</a:t>
            </a:r>
            <a:endParaRPr lang="en-US" dirty="0">
              <a:solidFill>
                <a:schemeClr val="bg1"/>
              </a:solidFill>
            </a:endParaRPr>
          </a:p>
        </p:txBody>
      </p:sp>
    </p:spTree>
    <p:extLst>
      <p:ext uri="{BB962C8B-B14F-4D97-AF65-F5344CB8AC3E}">
        <p14:creationId xmlns:p14="http://schemas.microsoft.com/office/powerpoint/2010/main" val="336072220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09600"/>
            <a:ext cx="4419600" cy="5410200"/>
          </a:xfrm>
          <a:scene3d>
            <a:camera prst="orthographicFront"/>
            <a:lightRig rig="threePt" dir="t"/>
          </a:scene3d>
          <a:sp3d>
            <a:bevelT w="139700" h="139700" prst="divot"/>
          </a:sp3d>
        </p:spPr>
        <p:style>
          <a:lnRef idx="3">
            <a:schemeClr val="lt1"/>
          </a:lnRef>
          <a:fillRef idx="1">
            <a:schemeClr val="accent3"/>
          </a:fillRef>
          <a:effectRef idx="1">
            <a:schemeClr val="accent3"/>
          </a:effectRef>
          <a:fontRef idx="minor">
            <a:schemeClr val="lt1"/>
          </a:fontRef>
        </p:style>
        <p:txBody>
          <a:bodyPr/>
          <a:lstStyle/>
          <a:p>
            <a:pPr algn="ctr">
              <a:defRPr/>
            </a:pPr>
            <a:r>
              <a:rPr lang="en-US" dirty="0" smtClean="0"/>
              <a:t>Persons with disabilities succeed on the job and in careers for the same reasons as other individuals</a:t>
            </a:r>
            <a:endParaRPr lang="en-US" dirty="0"/>
          </a:p>
        </p:txBody>
      </p:sp>
      <p:sp>
        <p:nvSpPr>
          <p:cNvPr id="3" name="Slide Number Placeholder 2"/>
          <p:cNvSpPr>
            <a:spLocks noGrp="1"/>
          </p:cNvSpPr>
          <p:nvPr>
            <p:ph type="sldNum" sz="quarter" idx="12"/>
          </p:nvPr>
        </p:nvSpPr>
        <p:spPr/>
        <p:txBody>
          <a:bodyPr/>
          <a:lstStyle/>
          <a:p>
            <a:pPr>
              <a:defRPr/>
            </a:pPr>
            <a:fld id="{CDBFC529-F0D0-3A4E-A87F-88B0D8920096}" type="slidenum">
              <a:rPr lang="en-US" smtClean="0"/>
              <a:pPr>
                <a:defRPr/>
              </a:pPr>
              <a:t>43</a:t>
            </a:fld>
            <a:endParaRPr lang="en-US"/>
          </a:p>
        </p:txBody>
      </p:sp>
      <p:pic>
        <p:nvPicPr>
          <p:cNvPr id="5" name="Picture Placeholder 5" descr="Laura Martinez.jpg"/>
          <p:cNvPicPr>
            <a:picLocks noChangeAspect="1"/>
          </p:cNvPicPr>
          <p:nvPr/>
        </p:nvPicPr>
        <p:blipFill>
          <a:blip r:embed="rId2">
            <a:extLst>
              <a:ext uri="{28A0092B-C50C-407E-A947-70E740481C1C}">
                <a14:useLocalDpi xmlns:a14="http://schemas.microsoft.com/office/drawing/2010/main" val="0"/>
              </a:ext>
            </a:extLst>
          </a:blip>
          <a:srcRect l="12412" r="12412"/>
          <a:stretch>
            <a:fillRect/>
          </a:stretch>
        </p:blipFill>
        <p:spPr>
          <a:xfrm>
            <a:off x="6096000" y="685800"/>
            <a:ext cx="2057400" cy="2736312"/>
          </a:xfrm>
          <a:prstGeom prst="rect">
            <a:avLst/>
          </a:prstGeom>
        </p:spPr>
      </p:pic>
      <p:pic>
        <p:nvPicPr>
          <p:cNvPr id="6" name="Picture Placeholder 2" descr="Andy.jpg"/>
          <p:cNvPicPr>
            <a:picLocks noChangeAspect="1"/>
          </p:cNvPicPr>
          <p:nvPr/>
        </p:nvPicPr>
        <p:blipFill>
          <a:blip r:embed="rId3" cstate="email">
            <a:extLst>
              <a:ext uri="{28A0092B-C50C-407E-A947-70E740481C1C}">
                <a14:useLocalDpi xmlns:a14="http://schemas.microsoft.com/office/drawing/2010/main" val="0"/>
              </a:ext>
            </a:extLst>
          </a:blip>
          <a:srcRect l="24519" r="24519"/>
          <a:stretch>
            <a:fillRect/>
          </a:stretch>
        </p:blipFill>
        <p:spPr>
          <a:xfrm>
            <a:off x="6096000" y="3657600"/>
            <a:ext cx="2257955" cy="2701253"/>
          </a:xfrm>
          <a:prstGeom prst="rect">
            <a:avLst/>
          </a:prstGeom>
        </p:spPr>
      </p:pic>
    </p:spTree>
    <p:extLst>
      <p:ext uri="{BB962C8B-B14F-4D97-AF65-F5344CB8AC3E}">
        <p14:creationId xmlns:p14="http://schemas.microsoft.com/office/powerpoint/2010/main" val="427573324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838200"/>
            <a:ext cx="4419600" cy="5410200"/>
          </a:xfrm>
          <a:scene3d>
            <a:camera prst="orthographicFront"/>
            <a:lightRig rig="threePt" dir="t"/>
          </a:scene3d>
          <a:sp3d>
            <a:bevelT w="139700" h="139700" prst="divot"/>
          </a:sp3d>
        </p:spPr>
        <p:style>
          <a:lnRef idx="2">
            <a:schemeClr val="accent4">
              <a:shade val="50000"/>
            </a:schemeClr>
          </a:lnRef>
          <a:fillRef idx="1">
            <a:schemeClr val="accent4"/>
          </a:fillRef>
          <a:effectRef idx="0">
            <a:schemeClr val="accent4"/>
          </a:effectRef>
          <a:fontRef idx="minor">
            <a:schemeClr val="lt1"/>
          </a:fontRef>
        </p:style>
        <p:txBody>
          <a:bodyPr/>
          <a:lstStyle/>
          <a:p>
            <a:pPr algn="ctr">
              <a:defRPr/>
            </a:pPr>
            <a:r>
              <a:rPr lang="en-US" dirty="0" smtClean="0"/>
              <a:t>Persons with disabilities are unemployed for many of the same reasons as any other individual</a:t>
            </a:r>
            <a:endParaRPr lang="en-US" dirty="0"/>
          </a:p>
        </p:txBody>
      </p:sp>
      <p:sp>
        <p:nvSpPr>
          <p:cNvPr id="3" name="Slide Number Placeholder 2"/>
          <p:cNvSpPr>
            <a:spLocks noGrp="1"/>
          </p:cNvSpPr>
          <p:nvPr>
            <p:ph type="sldNum" sz="quarter" idx="12"/>
          </p:nvPr>
        </p:nvSpPr>
        <p:spPr/>
        <p:txBody>
          <a:bodyPr/>
          <a:lstStyle/>
          <a:p>
            <a:pPr>
              <a:defRPr/>
            </a:pPr>
            <a:fld id="{CDBFC529-F0D0-3A4E-A87F-88B0D8920096}" type="slidenum">
              <a:rPr lang="en-US" smtClean="0"/>
              <a:pPr>
                <a:defRPr/>
              </a:pPr>
              <a:t>44</a:t>
            </a:fld>
            <a:endParaRPr lang="en-US"/>
          </a:p>
        </p:txBody>
      </p:sp>
      <p:sp>
        <p:nvSpPr>
          <p:cNvPr id="4" name="Oval 3"/>
          <p:cNvSpPr/>
          <p:nvPr/>
        </p:nvSpPr>
        <p:spPr>
          <a:xfrm>
            <a:off x="7086600" y="1752600"/>
            <a:ext cx="1905000" cy="1676400"/>
          </a:xfrm>
          <a:prstGeom prst="ellipse">
            <a:avLst/>
          </a:prstGeom>
          <a:effectLst>
            <a:glow rad="101600">
              <a:schemeClr val="accent3">
                <a:satMod val="175000"/>
                <a:alpha val="40000"/>
              </a:schemeClr>
            </a:glow>
            <a:outerShdw blurRad="38100" dist="25400" dir="2700000" algn="br" rotWithShape="0">
              <a:srgbClr val="000000">
                <a:alpha val="60000"/>
              </a:srgbClr>
            </a:outerShdw>
          </a:effectLst>
        </p:spPr>
        <p:style>
          <a:lnRef idx="1">
            <a:schemeClr val="dk1"/>
          </a:lnRef>
          <a:fillRef idx="3">
            <a:schemeClr val="dk1"/>
          </a:fillRef>
          <a:effectRef idx="2">
            <a:schemeClr val="dk1"/>
          </a:effectRef>
          <a:fontRef idx="minor">
            <a:schemeClr val="lt1"/>
          </a:fontRef>
        </p:style>
        <p:txBody>
          <a:bodyPr rtlCol="0" anchor="ctr"/>
          <a:lstStyle/>
          <a:p>
            <a:pPr algn="ctr"/>
            <a:r>
              <a:rPr lang="en-US" sz="2000" b="1" dirty="0" smtClean="0"/>
              <a:t>Lack of skills</a:t>
            </a:r>
            <a:endParaRPr lang="en-US" sz="2000" b="1" dirty="0"/>
          </a:p>
        </p:txBody>
      </p:sp>
      <p:sp>
        <p:nvSpPr>
          <p:cNvPr id="6" name="Oval 5"/>
          <p:cNvSpPr/>
          <p:nvPr/>
        </p:nvSpPr>
        <p:spPr>
          <a:xfrm>
            <a:off x="4800600" y="685800"/>
            <a:ext cx="2286000" cy="1752600"/>
          </a:xfrm>
          <a:prstGeom prst="ellipse">
            <a:avLst/>
          </a:prstGeom>
          <a:effectLst>
            <a:glow rad="101600">
              <a:schemeClr val="accent6">
                <a:satMod val="175000"/>
                <a:alpha val="40000"/>
              </a:schemeClr>
            </a:glow>
            <a:outerShdw blurRad="38100" dist="25400" dir="2700000" algn="br" rotWithShape="0">
              <a:srgbClr val="000000">
                <a:alpha val="60000"/>
              </a:srgbClr>
            </a:outerShdw>
          </a:effectLst>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dirty="0" smtClean="0">
                <a:solidFill>
                  <a:srgbClr val="FFFF00"/>
                </a:solidFill>
              </a:rPr>
              <a:t>Lack of education</a:t>
            </a:r>
            <a:endParaRPr lang="en-US" sz="2000" b="1" dirty="0">
              <a:solidFill>
                <a:srgbClr val="FFFF00"/>
              </a:solidFill>
            </a:endParaRPr>
          </a:p>
        </p:txBody>
      </p:sp>
      <p:sp>
        <p:nvSpPr>
          <p:cNvPr id="7" name="Oval 6"/>
          <p:cNvSpPr/>
          <p:nvPr/>
        </p:nvSpPr>
        <p:spPr>
          <a:xfrm>
            <a:off x="4800600" y="3200400"/>
            <a:ext cx="2209800" cy="1752600"/>
          </a:xfrm>
          <a:prstGeom prst="ellipse">
            <a:avLst/>
          </a:prstGeom>
          <a:effectLst>
            <a:glow rad="139700">
              <a:schemeClr val="accent3">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000" b="1" dirty="0" smtClean="0">
                <a:solidFill>
                  <a:srgbClr val="660066"/>
                </a:solidFill>
              </a:rPr>
              <a:t>Poor personal networks</a:t>
            </a:r>
            <a:endParaRPr lang="en-US" sz="2000" b="1" dirty="0">
              <a:solidFill>
                <a:srgbClr val="660066"/>
              </a:solidFill>
            </a:endParaRPr>
          </a:p>
        </p:txBody>
      </p:sp>
      <p:sp>
        <p:nvSpPr>
          <p:cNvPr id="8" name="Oval 7"/>
          <p:cNvSpPr/>
          <p:nvPr/>
        </p:nvSpPr>
        <p:spPr>
          <a:xfrm>
            <a:off x="6096000" y="4953000"/>
            <a:ext cx="2895600" cy="1752600"/>
          </a:xfrm>
          <a:prstGeom prst="ellipse">
            <a:avLst/>
          </a:prstGeom>
          <a:effectLst>
            <a:glow rad="139700">
              <a:schemeClr val="accent2">
                <a:satMod val="175000"/>
                <a:alpha val="40000"/>
              </a:schemeClr>
            </a:glow>
            <a:outerShdw blurRad="38100" dist="25400" dir="2700000" algn="br" rotWithShape="0">
              <a:srgbClr val="000000">
                <a:alpha val="60000"/>
              </a:srgb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000" b="1" dirty="0" smtClean="0"/>
              <a:t>Cultural expectations</a:t>
            </a:r>
            <a:endParaRPr lang="en-US" sz="2000" b="1" dirty="0"/>
          </a:p>
        </p:txBody>
      </p:sp>
    </p:spTree>
    <p:extLst>
      <p:ext uri="{BB962C8B-B14F-4D97-AF65-F5344CB8AC3E}">
        <p14:creationId xmlns:p14="http://schemas.microsoft.com/office/powerpoint/2010/main" val="4147642293"/>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295400"/>
            <a:ext cx="8229600" cy="2438400"/>
          </a:xfrm>
          <a:effectLst>
            <a:glow rad="101600">
              <a:schemeClr val="accent3">
                <a:satMod val="175000"/>
                <a:alpha val="40000"/>
              </a:schemeClr>
            </a:glow>
            <a:outerShdw blurRad="38100" dist="25400" dir="2700000" algn="br" rotWithShape="0">
              <a:srgbClr val="000000">
                <a:alpha val="60000"/>
              </a:srgbClr>
            </a:outerShdw>
          </a:effectLst>
          <a:sp3d contourW="6350">
            <a:bevelT w="29210" h="12700" prst="divot"/>
            <a:contourClr>
              <a:schemeClr val="accent6">
                <a:shade val="30000"/>
                <a:satMod val="130000"/>
              </a:schemeClr>
            </a:contourClr>
          </a:sp3d>
        </p:spPr>
        <p:style>
          <a:lnRef idx="0">
            <a:schemeClr val="accent6"/>
          </a:lnRef>
          <a:fillRef idx="3">
            <a:schemeClr val="accent6"/>
          </a:fillRef>
          <a:effectRef idx="3">
            <a:schemeClr val="accent6"/>
          </a:effectRef>
          <a:fontRef idx="minor">
            <a:schemeClr val="lt1"/>
          </a:fontRef>
        </p:style>
        <p:txBody>
          <a:bodyPr>
            <a:normAutofit fontScale="90000"/>
          </a:bodyPr>
          <a:lstStyle/>
          <a:p>
            <a:pPr algn="ctr">
              <a:defRPr/>
            </a:pPr>
            <a:r>
              <a:rPr lang="en-US" dirty="0" smtClean="0"/>
              <a:t>“My </a:t>
            </a:r>
            <a:r>
              <a:rPr lang="en-US" dirty="0"/>
              <a:t>disability </a:t>
            </a:r>
            <a:r>
              <a:rPr lang="en-US" dirty="0" smtClean="0"/>
              <a:t>exists</a:t>
            </a:r>
            <a:br>
              <a:rPr lang="en-US" dirty="0" smtClean="0"/>
            </a:br>
            <a:r>
              <a:rPr lang="en-US" dirty="0" smtClean="0"/>
              <a:t>not </a:t>
            </a:r>
            <a:r>
              <a:rPr lang="en-US" dirty="0"/>
              <a:t>because I use a wheelchair</a:t>
            </a:r>
            <a:r>
              <a:rPr lang="en-US" dirty="0" smtClean="0"/>
              <a:t>,</a:t>
            </a:r>
            <a:br>
              <a:rPr lang="en-US" dirty="0" smtClean="0"/>
            </a:br>
            <a:r>
              <a:rPr lang="en-US" dirty="0" smtClean="0"/>
              <a:t>but </a:t>
            </a:r>
            <a:r>
              <a:rPr lang="en-US" dirty="0"/>
              <a:t>because the broader environment </a:t>
            </a:r>
            <a:r>
              <a:rPr lang="en-US" dirty="0" smtClean="0"/>
              <a:t/>
            </a:r>
            <a:br>
              <a:rPr lang="en-US" dirty="0" smtClean="0"/>
            </a:br>
            <a:r>
              <a:rPr lang="en-US" dirty="0" smtClean="0"/>
              <a:t>isn't </a:t>
            </a:r>
            <a:r>
              <a:rPr lang="en-US" dirty="0"/>
              <a:t>accessible</a:t>
            </a:r>
            <a:r>
              <a:rPr lang="en-US" dirty="0" smtClean="0"/>
              <a:t>.”</a:t>
            </a:r>
            <a:endParaRPr lang="en-US" dirty="0"/>
          </a:p>
        </p:txBody>
      </p:sp>
      <p:sp>
        <p:nvSpPr>
          <p:cNvPr id="22532" name="Content Placeholder 2"/>
          <p:cNvSpPr>
            <a:spLocks noGrp="1"/>
          </p:cNvSpPr>
          <p:nvPr>
            <p:ph idx="1"/>
          </p:nvPr>
        </p:nvSpPr>
        <p:spPr>
          <a:xfrm>
            <a:off x="6019800" y="5562600"/>
            <a:ext cx="2362200" cy="685800"/>
          </a:xfrm>
        </p:spPr>
        <p:txBody>
          <a:bodyPr/>
          <a:lstStyle/>
          <a:p>
            <a:r>
              <a:rPr lang="en-US">
                <a:latin typeface="Arial" charset="0"/>
              </a:rPr>
              <a:t>Stella Young</a:t>
            </a:r>
          </a:p>
        </p:txBody>
      </p:sp>
      <p:sp>
        <p:nvSpPr>
          <p:cNvPr id="2253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Book Antiqua" charset="0"/>
                <a:ea typeface="ＭＳ Ｐゴシック" charset="0"/>
                <a:cs typeface="ＭＳ Ｐゴシック" charset="0"/>
              </a:defRPr>
            </a:lvl1pPr>
            <a:lvl2pPr marL="742950" indent="-285750">
              <a:defRPr sz="2400">
                <a:solidFill>
                  <a:schemeClr val="tx1"/>
                </a:solidFill>
                <a:latin typeface="Book Antiqua" charset="0"/>
                <a:ea typeface="ＭＳ Ｐゴシック" charset="0"/>
              </a:defRPr>
            </a:lvl2pPr>
            <a:lvl3pPr marL="1143000" indent="-228600">
              <a:defRPr sz="2400">
                <a:solidFill>
                  <a:schemeClr val="tx1"/>
                </a:solidFill>
                <a:latin typeface="Book Antiqua" charset="0"/>
                <a:ea typeface="ＭＳ Ｐゴシック" charset="0"/>
              </a:defRPr>
            </a:lvl3pPr>
            <a:lvl4pPr marL="1600200" indent="-228600">
              <a:defRPr sz="2400">
                <a:solidFill>
                  <a:schemeClr val="tx1"/>
                </a:solidFill>
                <a:latin typeface="Book Antiqua" charset="0"/>
                <a:ea typeface="ＭＳ Ｐゴシック" charset="0"/>
              </a:defRPr>
            </a:lvl4pPr>
            <a:lvl5pPr marL="2057400" indent="-228600">
              <a:defRPr sz="2400">
                <a:solidFill>
                  <a:schemeClr val="tx1"/>
                </a:solidFill>
                <a:latin typeface="Book Antiqua" charset="0"/>
                <a:ea typeface="ＭＳ Ｐゴシック" charset="0"/>
              </a:defRPr>
            </a:lvl5pPr>
            <a:lvl6pPr marL="2514600" indent="-228600" eaLnBrk="0" fontAlgn="base" hangingPunct="0">
              <a:spcBef>
                <a:spcPct val="0"/>
              </a:spcBef>
              <a:spcAft>
                <a:spcPct val="0"/>
              </a:spcAft>
              <a:defRPr sz="2400">
                <a:solidFill>
                  <a:schemeClr val="tx1"/>
                </a:solidFill>
                <a:latin typeface="Book Antiqua" charset="0"/>
                <a:ea typeface="ＭＳ Ｐゴシック" charset="0"/>
              </a:defRPr>
            </a:lvl6pPr>
            <a:lvl7pPr marL="2971800" indent="-228600" eaLnBrk="0" fontAlgn="base" hangingPunct="0">
              <a:spcBef>
                <a:spcPct val="0"/>
              </a:spcBef>
              <a:spcAft>
                <a:spcPct val="0"/>
              </a:spcAft>
              <a:defRPr sz="2400">
                <a:solidFill>
                  <a:schemeClr val="tx1"/>
                </a:solidFill>
                <a:latin typeface="Book Antiqua" charset="0"/>
                <a:ea typeface="ＭＳ Ｐゴシック" charset="0"/>
              </a:defRPr>
            </a:lvl7pPr>
            <a:lvl8pPr marL="3429000" indent="-228600" eaLnBrk="0" fontAlgn="base" hangingPunct="0">
              <a:spcBef>
                <a:spcPct val="0"/>
              </a:spcBef>
              <a:spcAft>
                <a:spcPct val="0"/>
              </a:spcAft>
              <a:defRPr sz="2400">
                <a:solidFill>
                  <a:schemeClr val="tx1"/>
                </a:solidFill>
                <a:latin typeface="Book Antiqua" charset="0"/>
                <a:ea typeface="ＭＳ Ｐゴシック" charset="0"/>
              </a:defRPr>
            </a:lvl8pPr>
            <a:lvl9pPr marL="3886200" indent="-228600" eaLnBrk="0" fontAlgn="base" hangingPunct="0">
              <a:spcBef>
                <a:spcPct val="0"/>
              </a:spcBef>
              <a:spcAft>
                <a:spcPct val="0"/>
              </a:spcAft>
              <a:defRPr sz="2400">
                <a:solidFill>
                  <a:schemeClr val="tx1"/>
                </a:solidFill>
                <a:latin typeface="Book Antiqua" charset="0"/>
                <a:ea typeface="ＭＳ Ｐゴシック" charset="0"/>
              </a:defRPr>
            </a:lvl9pPr>
          </a:lstStyle>
          <a:p>
            <a:fld id="{B483B067-9454-494D-BC57-B8EF41D4C5EA}" type="slidenum">
              <a:rPr lang="en-US" sz="1400">
                <a:solidFill>
                  <a:srgbClr val="FFFFFF"/>
                </a:solidFill>
              </a:rPr>
              <a:pPr/>
              <a:t>45</a:t>
            </a:fld>
            <a:endParaRPr lang="en-US" sz="1400">
              <a:solidFill>
                <a:srgbClr val="FFFFFF"/>
              </a:solidFill>
            </a:endParaRPr>
          </a:p>
        </p:txBody>
      </p:sp>
      <p:pic>
        <p:nvPicPr>
          <p:cNvPr id="22534" name="Picture 5" descr="Unknown.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343400"/>
            <a:ext cx="37973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666478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305800" cy="2438400"/>
          </a:xfrm>
          <a:scene3d>
            <a:camera prst="orthographicFront"/>
            <a:lightRig rig="threePt" dir="t"/>
          </a:scene3d>
          <a:sp3d>
            <a:bevelT w="139700" h="139700" prst="divot"/>
          </a:sp3d>
        </p:spPr>
        <p:style>
          <a:lnRef idx="1">
            <a:schemeClr val="accent6"/>
          </a:lnRef>
          <a:fillRef idx="2">
            <a:schemeClr val="accent6"/>
          </a:fillRef>
          <a:effectRef idx="1">
            <a:schemeClr val="accent6"/>
          </a:effectRef>
          <a:fontRef idx="minor">
            <a:schemeClr val="dk1"/>
          </a:fontRef>
        </p:style>
        <p:txBody>
          <a:bodyPr>
            <a:normAutofit fontScale="90000"/>
          </a:bodyPr>
          <a:lstStyle/>
          <a:p>
            <a:pPr lvl="0" algn="ctr"/>
            <a:r>
              <a:rPr lang="en-US" dirty="0"/>
              <a:t>Employment </a:t>
            </a:r>
            <a:r>
              <a:rPr lang="en-US" dirty="0" smtClean="0"/>
              <a:t>experience</a:t>
            </a:r>
            <a:br>
              <a:rPr lang="en-US" dirty="0" smtClean="0"/>
            </a:br>
            <a:r>
              <a:rPr lang="en-US" dirty="0" smtClean="0"/>
              <a:t>(including employment search process)</a:t>
            </a:r>
            <a:br>
              <a:rPr lang="en-US" dirty="0" smtClean="0"/>
            </a:br>
            <a:r>
              <a:rPr lang="en-US" dirty="0" smtClean="0"/>
              <a:t>as similar as possible</a:t>
            </a:r>
            <a:br>
              <a:rPr lang="en-US" dirty="0" smtClean="0"/>
            </a:br>
            <a:r>
              <a:rPr lang="en-US" dirty="0" smtClean="0"/>
              <a:t>to those without disabilities</a:t>
            </a:r>
            <a:endParaRPr lang="en-US" dirty="0"/>
          </a:p>
        </p:txBody>
      </p:sp>
      <p:pic>
        <p:nvPicPr>
          <p:cNvPr id="7" name="Picture 6" descr="figure_wheelchair_cubicle_800_clr_13448.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28600" y="3581400"/>
            <a:ext cx="2310063" cy="1371600"/>
          </a:xfrm>
          <a:prstGeom prst="rect">
            <a:avLst/>
          </a:prstGeom>
        </p:spPr>
      </p:pic>
      <p:pic>
        <p:nvPicPr>
          <p:cNvPr id="8" name="Picture 7" descr="woman_stick_figure_sweeping_800_clr_12743.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239000" y="5235450"/>
            <a:ext cx="1480185" cy="1600200"/>
          </a:xfrm>
          <a:prstGeom prst="rect">
            <a:avLst/>
          </a:prstGeom>
        </p:spPr>
      </p:pic>
      <p:pic>
        <p:nvPicPr>
          <p:cNvPr id="9" name="Picture 8" descr="unloading_dock_boxes_800_wht_14240.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914400" y="5167915"/>
            <a:ext cx="1676400" cy="1676400"/>
          </a:xfrm>
          <a:prstGeom prst="rect">
            <a:avLst/>
          </a:prstGeom>
        </p:spPr>
      </p:pic>
      <p:pic>
        <p:nvPicPr>
          <p:cNvPr id="10" name="Picture 9" descr="fix_it_guy_hold_wrench_800_wht_12796 copy.jp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543800" y="3124200"/>
            <a:ext cx="1057275" cy="1879600"/>
          </a:xfrm>
          <a:prstGeom prst="rect">
            <a:avLst/>
          </a:prstGeom>
        </p:spPr>
      </p:pic>
      <p:pic>
        <p:nvPicPr>
          <p:cNvPr id="13" name="Picture 12" descr="woman_interview_hand_shake_800_wht_12435.jpg"/>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2971800" y="3200400"/>
            <a:ext cx="2286000" cy="2286000"/>
          </a:xfrm>
          <a:prstGeom prst="rect">
            <a:avLst/>
          </a:prstGeom>
        </p:spPr>
      </p:pic>
      <p:sp>
        <p:nvSpPr>
          <p:cNvPr id="14" name="Slide Number Placeholder 13"/>
          <p:cNvSpPr>
            <a:spLocks noGrp="1"/>
          </p:cNvSpPr>
          <p:nvPr>
            <p:ph type="sldNum" sz="quarter" idx="12"/>
          </p:nvPr>
        </p:nvSpPr>
        <p:spPr/>
        <p:txBody>
          <a:bodyPr/>
          <a:lstStyle/>
          <a:p>
            <a:pPr>
              <a:defRPr/>
            </a:pPr>
            <a:fld id="{CDBFC529-F0D0-3A4E-A87F-88B0D8920096}" type="slidenum">
              <a:rPr lang="en-US" smtClean="0"/>
              <a:pPr>
                <a:defRPr/>
              </a:pPr>
              <a:t>46</a:t>
            </a:fld>
            <a:endParaRPr lang="en-US"/>
          </a:p>
        </p:txBody>
      </p:sp>
      <p:pic>
        <p:nvPicPr>
          <p:cNvPr id="4" name="Picture 3" descr="service_dog_walking_with_owner_800_clr_8435.png"/>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4648200" y="5227750"/>
            <a:ext cx="1514475" cy="1615440"/>
          </a:xfrm>
          <a:prstGeom prst="rect">
            <a:avLst/>
          </a:prstGeom>
        </p:spPr>
      </p:pic>
      <p:pic>
        <p:nvPicPr>
          <p:cNvPr id="3" name="Picture 2" descr="farmer_hoeing_plants_800_wht_5087.jpg"/>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5257800" y="3429000"/>
            <a:ext cx="2032000" cy="1524000"/>
          </a:xfrm>
          <a:prstGeom prst="rect">
            <a:avLst/>
          </a:prstGeom>
        </p:spPr>
      </p:pic>
    </p:spTree>
    <p:extLst>
      <p:ext uri="{BB962C8B-B14F-4D97-AF65-F5344CB8AC3E}">
        <p14:creationId xmlns:p14="http://schemas.microsoft.com/office/powerpoint/2010/main" val="375778663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EF8BE299-D423-6340-A0CA-3205E805061E}" type="slidenum">
              <a:rPr lang="en-US" smtClean="0"/>
              <a:pPr>
                <a:defRPr/>
              </a:pPr>
              <a:t>47</a:t>
            </a:fld>
            <a:endParaRPr lang="en-US" dirty="0"/>
          </a:p>
        </p:txBody>
      </p:sp>
      <p:pic>
        <p:nvPicPr>
          <p:cNvPr id="4" name="Picture 3" descr="glass_store_front_800_wht_14529.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1" y="1689100"/>
            <a:ext cx="9189155" cy="5168900"/>
          </a:xfrm>
          <a:prstGeom prst="rect">
            <a:avLst/>
          </a:prstGeom>
        </p:spPr>
      </p:pic>
      <p:sp>
        <p:nvSpPr>
          <p:cNvPr id="5" name="TextBox 4"/>
          <p:cNvSpPr txBox="1"/>
          <p:nvPr/>
        </p:nvSpPr>
        <p:spPr>
          <a:xfrm>
            <a:off x="2451100" y="2271067"/>
            <a:ext cx="4064000" cy="52322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sz="2800" dirty="0" smtClean="0"/>
              <a:t>FULL LABOR MARKET</a:t>
            </a:r>
            <a:endParaRPr lang="en-US" sz="2800" dirty="0"/>
          </a:p>
        </p:txBody>
      </p:sp>
      <p:sp>
        <p:nvSpPr>
          <p:cNvPr id="2" name="Title 1"/>
          <p:cNvSpPr>
            <a:spLocks noGrp="1"/>
          </p:cNvSpPr>
          <p:nvPr>
            <p:ph type="title"/>
          </p:nvPr>
        </p:nvSpPr>
        <p:spPr>
          <a:xfrm>
            <a:off x="1155700" y="3429000"/>
            <a:ext cx="1422400" cy="1955800"/>
          </a:xfrm>
          <a:ln>
            <a:noFill/>
          </a:ln>
        </p:spPr>
        <p:txBody>
          <a:bodyPr>
            <a:noAutofit/>
          </a:bodyPr>
          <a:lstStyle/>
          <a:p>
            <a:pPr algn="ctr"/>
            <a:r>
              <a:rPr lang="en-US" sz="2800" dirty="0" smtClean="0">
                <a:solidFill>
                  <a:srgbClr val="FF0000"/>
                </a:solidFill>
                <a:latin typeface="Comic Sans MS"/>
                <a:cs typeface="Comic Sans MS"/>
              </a:rPr>
              <a:t>All types of jobs</a:t>
            </a:r>
            <a:endParaRPr lang="en-US" sz="2800" dirty="0">
              <a:solidFill>
                <a:srgbClr val="FF0000"/>
              </a:solidFill>
              <a:latin typeface="Comic Sans MS"/>
              <a:cs typeface="Comic Sans MS"/>
            </a:endParaRPr>
          </a:p>
        </p:txBody>
      </p:sp>
      <p:sp>
        <p:nvSpPr>
          <p:cNvPr id="6" name="Title 1"/>
          <p:cNvSpPr txBox="1">
            <a:spLocks/>
          </p:cNvSpPr>
          <p:nvPr/>
        </p:nvSpPr>
        <p:spPr>
          <a:xfrm>
            <a:off x="6515100" y="3429000"/>
            <a:ext cx="1422400" cy="1955800"/>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algn="ctr"/>
            <a:r>
              <a:rPr lang="en-US" sz="2400" dirty="0" smtClean="0">
                <a:solidFill>
                  <a:srgbClr val="000090"/>
                </a:solidFill>
                <a:latin typeface="Comic Sans MS"/>
                <a:cs typeface="Chalkboard"/>
              </a:rPr>
              <a:t>No special disability jobs</a:t>
            </a:r>
            <a:endParaRPr lang="en-US" sz="2400" dirty="0">
              <a:solidFill>
                <a:srgbClr val="000090"/>
              </a:solidFill>
              <a:latin typeface="Comic Sans MS"/>
              <a:cs typeface="Chalkboard"/>
            </a:endParaRPr>
          </a:p>
        </p:txBody>
      </p:sp>
    </p:spTree>
    <p:extLst>
      <p:ext uri="{BB962C8B-B14F-4D97-AF65-F5344CB8AC3E}">
        <p14:creationId xmlns:p14="http://schemas.microsoft.com/office/powerpoint/2010/main" val="1415757021"/>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066800"/>
            <a:ext cx="8229600" cy="2514600"/>
          </a:xfrm>
          <a:scene3d>
            <a:camera prst="isometricOffAxis1Right"/>
            <a:lightRig rig="threePt" dir="t"/>
          </a:scene3d>
          <a:sp3d>
            <a:bevelT w="139700" h="139700" prst="divot"/>
          </a:sp3d>
        </p:spPr>
        <p:style>
          <a:lnRef idx="2">
            <a:schemeClr val="dk1">
              <a:shade val="50000"/>
            </a:schemeClr>
          </a:lnRef>
          <a:fillRef idx="1">
            <a:schemeClr val="dk1"/>
          </a:fillRef>
          <a:effectRef idx="0">
            <a:schemeClr val="dk1"/>
          </a:effectRef>
          <a:fontRef idx="minor">
            <a:schemeClr val="lt1"/>
          </a:fontRef>
        </p:style>
        <p:txBody>
          <a:bodyPr>
            <a:normAutofit/>
          </a:bodyPr>
          <a:lstStyle/>
          <a:p>
            <a:pPr lvl="0" algn="ctr"/>
            <a:r>
              <a:rPr lang="en-US" dirty="0" smtClean="0"/>
              <a:t>Deviate </a:t>
            </a:r>
            <a:r>
              <a:rPr lang="en-US" dirty="0"/>
              <a:t>from typical employment process - </a:t>
            </a:r>
            <a:r>
              <a:rPr lang="en-US" b="1" i="1" dirty="0"/>
              <a:t>only as necessary</a:t>
            </a:r>
            <a:r>
              <a:rPr lang="en-US" dirty="0"/>
              <a:t/>
            </a:r>
            <a:br>
              <a:rPr lang="en-US" dirty="0"/>
            </a:br>
            <a:r>
              <a:rPr lang="en-US" dirty="0" smtClean="0"/>
              <a:t>(but sometimes it’s necessary.)</a:t>
            </a:r>
            <a:endParaRPr lang="en-US" dirty="0"/>
          </a:p>
        </p:txBody>
      </p:sp>
      <p:pic>
        <p:nvPicPr>
          <p:cNvPr id="3" name="Picture 4" descr="Janitorial Worker.jp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438400" y="4495800"/>
            <a:ext cx="16002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jd23.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562600" y="3810000"/>
            <a:ext cx="2340148" cy="1752600"/>
          </a:xfrm>
          <a:prstGeom prst="rect">
            <a:avLst/>
          </a:prstGeom>
        </p:spPr>
      </p:pic>
      <p:sp>
        <p:nvSpPr>
          <p:cNvPr id="6" name="Slide Number Placeholder 5"/>
          <p:cNvSpPr>
            <a:spLocks noGrp="1"/>
          </p:cNvSpPr>
          <p:nvPr>
            <p:ph type="sldNum" sz="quarter" idx="12"/>
          </p:nvPr>
        </p:nvSpPr>
        <p:spPr/>
        <p:txBody>
          <a:bodyPr/>
          <a:lstStyle/>
          <a:p>
            <a:pPr>
              <a:defRPr/>
            </a:pPr>
            <a:fld id="{CDBFC529-F0D0-3A4E-A87F-88B0D8920096}" type="slidenum">
              <a:rPr lang="en-US" smtClean="0"/>
              <a:pPr>
                <a:defRPr/>
              </a:pPr>
              <a:t>48</a:t>
            </a:fld>
            <a:endParaRPr lang="en-US"/>
          </a:p>
        </p:txBody>
      </p:sp>
    </p:spTree>
    <p:extLst>
      <p:ext uri="{BB962C8B-B14F-4D97-AF65-F5344CB8AC3E}">
        <p14:creationId xmlns:p14="http://schemas.microsoft.com/office/powerpoint/2010/main" val="291103447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62000"/>
            <a:ext cx="8229600" cy="990600"/>
          </a:xfrm>
        </p:spPr>
        <p:txBody>
          <a:bodyPr>
            <a:normAutofit fontScale="90000"/>
          </a:bodyPr>
          <a:lstStyle/>
          <a:p>
            <a:pPr algn="ctr"/>
            <a:r>
              <a:rPr lang="en-US" b="1" dirty="0" smtClean="0"/>
              <a:t>People with disabilities don’t go to the back of the line</a:t>
            </a:r>
            <a:endParaRPr lang="en-US" b="1" dirty="0"/>
          </a:p>
        </p:txBody>
      </p:sp>
      <p:pic>
        <p:nvPicPr>
          <p:cNvPr id="3" name="Picture 2" descr="business_people_line_door_800_clr_9932.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676400" y="2667000"/>
            <a:ext cx="5506915" cy="4474369"/>
          </a:xfrm>
          <a:prstGeom prst="rect">
            <a:avLst/>
          </a:prstGeom>
        </p:spPr>
      </p:pic>
      <p:sp>
        <p:nvSpPr>
          <p:cNvPr id="5" name="Slide Number Placeholder 4"/>
          <p:cNvSpPr>
            <a:spLocks noGrp="1"/>
          </p:cNvSpPr>
          <p:nvPr>
            <p:ph type="sldNum" sz="quarter" idx="12"/>
          </p:nvPr>
        </p:nvSpPr>
        <p:spPr/>
        <p:txBody>
          <a:bodyPr/>
          <a:lstStyle/>
          <a:p>
            <a:pPr>
              <a:defRPr/>
            </a:pPr>
            <a:fld id="{CDBFC529-F0D0-3A4E-A87F-88B0D8920096}" type="slidenum">
              <a:rPr lang="en-US" smtClean="0"/>
              <a:pPr>
                <a:defRPr/>
              </a:pPr>
              <a:t>49</a:t>
            </a:fld>
            <a:endParaRPr lang="en-US"/>
          </a:p>
        </p:txBody>
      </p:sp>
    </p:spTree>
    <p:extLst>
      <p:ext uri="{BB962C8B-B14F-4D97-AF65-F5344CB8AC3E}">
        <p14:creationId xmlns:p14="http://schemas.microsoft.com/office/powerpoint/2010/main" val="177774531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14600"/>
            <a:ext cx="8229600" cy="2133600"/>
          </a:xfrm>
        </p:spPr>
        <p:style>
          <a:lnRef idx="1">
            <a:schemeClr val="accent4"/>
          </a:lnRef>
          <a:fillRef idx="3">
            <a:schemeClr val="accent4"/>
          </a:fillRef>
          <a:effectRef idx="2">
            <a:schemeClr val="accent4"/>
          </a:effectRef>
          <a:fontRef idx="minor">
            <a:schemeClr val="lt1"/>
          </a:fontRef>
        </p:style>
        <p:txBody>
          <a:bodyPr>
            <a:normAutofit/>
          </a:bodyPr>
          <a:lstStyle/>
          <a:p>
            <a:pPr algn="ctr"/>
            <a:r>
              <a:rPr lang="en-US" dirty="0" smtClean="0"/>
              <a:t>Early employment expectations</a:t>
            </a:r>
            <a:br>
              <a:rPr lang="en-US" dirty="0" smtClean="0"/>
            </a:br>
            <a:r>
              <a:rPr lang="en-US" dirty="0" smtClean="0"/>
              <a:t>and experiences</a:t>
            </a:r>
            <a:endParaRPr lang="en-US" dirty="0"/>
          </a:p>
        </p:txBody>
      </p:sp>
      <p:sp>
        <p:nvSpPr>
          <p:cNvPr id="5" name="Slide Number Placeholder 4"/>
          <p:cNvSpPr>
            <a:spLocks noGrp="1"/>
          </p:cNvSpPr>
          <p:nvPr>
            <p:ph type="sldNum" sz="quarter" idx="12"/>
          </p:nvPr>
        </p:nvSpPr>
        <p:spPr/>
        <p:txBody>
          <a:bodyPr/>
          <a:lstStyle/>
          <a:p>
            <a:pPr>
              <a:defRPr/>
            </a:pPr>
            <a:fld id="{CDBFC529-F0D0-3A4E-A87F-88B0D8920096}" type="slidenum">
              <a:rPr lang="en-US" smtClean="0"/>
              <a:pPr>
                <a:defRPr/>
              </a:pPr>
              <a:t>50</a:t>
            </a:fld>
            <a:endParaRPr lang="en-US"/>
          </a:p>
        </p:txBody>
      </p:sp>
      <p:pic>
        <p:nvPicPr>
          <p:cNvPr id="4" name="Picture 5" descr="MC900297549.WMF"/>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040270" y="520700"/>
            <a:ext cx="1646530"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MC900060317.WMF"/>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57200" y="4944181"/>
            <a:ext cx="1701800" cy="158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1934637"/>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3429000" cy="3124200"/>
          </a:xfrm>
          <a:solidFill>
            <a:srgbClr val="000090"/>
          </a:solidFill>
          <a:scene3d>
            <a:camera prst="orthographicFront"/>
            <a:lightRig rig="threePt" dir="t"/>
          </a:scene3d>
          <a:sp3d>
            <a:bevelT w="139700" h="139700" prst="divot"/>
          </a:sp3d>
        </p:spPr>
        <p:style>
          <a:lnRef idx="2">
            <a:schemeClr val="accent4">
              <a:shade val="50000"/>
            </a:schemeClr>
          </a:lnRef>
          <a:fillRef idx="1">
            <a:schemeClr val="accent4"/>
          </a:fillRef>
          <a:effectRef idx="0">
            <a:schemeClr val="accent4"/>
          </a:effectRef>
          <a:fontRef idx="minor">
            <a:schemeClr val="lt1"/>
          </a:fontRef>
        </p:style>
        <p:txBody>
          <a:bodyPr>
            <a:normAutofit/>
          </a:bodyPr>
          <a:lstStyle/>
          <a:p>
            <a:pPr algn="ctr"/>
            <a:r>
              <a:rPr lang="en-US" cap="small" dirty="0" smtClean="0"/>
              <a:t>Same career development strategies as other individuals</a:t>
            </a:r>
            <a:endParaRPr lang="en-US" cap="small" dirty="0"/>
          </a:p>
        </p:txBody>
      </p:sp>
      <p:pic>
        <p:nvPicPr>
          <p:cNvPr id="3" name="Picture 2" descr="stairs_of_opportunity_11033.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505200" y="533400"/>
            <a:ext cx="5791200" cy="5791200"/>
          </a:xfrm>
          <a:prstGeom prst="rect">
            <a:avLst/>
          </a:prstGeom>
        </p:spPr>
      </p:pic>
      <p:sp>
        <p:nvSpPr>
          <p:cNvPr id="4" name="Slide Number Placeholder 3"/>
          <p:cNvSpPr>
            <a:spLocks noGrp="1"/>
          </p:cNvSpPr>
          <p:nvPr>
            <p:ph type="sldNum" sz="quarter" idx="12"/>
          </p:nvPr>
        </p:nvSpPr>
        <p:spPr/>
        <p:txBody>
          <a:bodyPr/>
          <a:lstStyle/>
          <a:p>
            <a:pPr>
              <a:defRPr/>
            </a:pPr>
            <a:fld id="{CDBFC529-F0D0-3A4E-A87F-88B0D8920096}" type="slidenum">
              <a:rPr lang="en-US" smtClean="0"/>
              <a:pPr>
                <a:defRPr/>
              </a:pPr>
              <a:t>51</a:t>
            </a:fld>
            <a:endParaRPr lang="en-US"/>
          </a:p>
        </p:txBody>
      </p:sp>
    </p:spTree>
    <p:extLst>
      <p:ext uri="{BB962C8B-B14F-4D97-AF65-F5344CB8AC3E}">
        <p14:creationId xmlns:p14="http://schemas.microsoft.com/office/powerpoint/2010/main" val="2016471090"/>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6705600" cy="990600"/>
          </a:xfrm>
          <a:scene3d>
            <a:camera prst="isometricOffAxis1Right"/>
            <a:lightRig rig="threePt" dir="t"/>
          </a:scene3d>
        </p:spPr>
        <p:txBody>
          <a:bodyPr>
            <a:noAutofit/>
          </a:bodyPr>
          <a:lstStyle/>
          <a:p>
            <a:r>
              <a:rPr lang="en-US" sz="4400" b="1" dirty="0" smtClean="0">
                <a:solidFill>
                  <a:schemeClr val="tx1"/>
                </a:solidFill>
                <a:effectLst>
                  <a:reflection blurRad="6350" stA="55000" endA="300" endPos="45500" dir="5400000" sy="-100000" algn="bl" rotWithShape="0"/>
                </a:effectLst>
              </a:rPr>
              <a:t>Consistent Messages</a:t>
            </a:r>
            <a:endParaRPr lang="en-US" sz="4400" b="1" dirty="0">
              <a:solidFill>
                <a:schemeClr val="tx1"/>
              </a:solidFill>
              <a:effectLst>
                <a:reflection blurRad="6350" stA="55000" endA="300" endPos="45500" dir="5400000" sy="-100000" algn="bl" rotWithShape="0"/>
              </a:effectLst>
            </a:endParaRPr>
          </a:p>
        </p:txBody>
      </p:sp>
      <p:pic>
        <p:nvPicPr>
          <p:cNvPr id="4" name="Picture 3" descr="business_people_sign_custom_18061-2.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657600" y="1905000"/>
            <a:ext cx="2919832" cy="3733800"/>
          </a:xfrm>
          <a:prstGeom prst="rect">
            <a:avLst/>
          </a:prstGeom>
        </p:spPr>
      </p:pic>
      <p:pic>
        <p:nvPicPr>
          <p:cNvPr id="6" name="Picture 5" descr="young_business_man_hold_sign_17219.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934200" y="2691414"/>
            <a:ext cx="1905000" cy="4623786"/>
          </a:xfrm>
          <a:prstGeom prst="rect">
            <a:avLst/>
          </a:prstGeom>
        </p:spPr>
      </p:pic>
      <p:pic>
        <p:nvPicPr>
          <p:cNvPr id="9" name="Picture 8" descr="old_billboard_on_brick_wall_17793-2.png"/>
          <p:cNvPicPr>
            <a:picLocks noChangeAspect="1"/>
          </p:cNvPicPr>
          <p:nvPr/>
        </p:nvPicPr>
        <p:blipFill rotWithShape="1">
          <a:blip r:embed="rId4" cstate="email">
            <a:extLst>
              <a:ext uri="{28A0092B-C50C-407E-A947-70E740481C1C}">
                <a14:useLocalDpi xmlns:a14="http://schemas.microsoft.com/office/drawing/2010/main" val="0"/>
              </a:ext>
            </a:extLst>
          </a:blip>
          <a:srcRect l="15688" t="7238" r="14741" b="2612"/>
          <a:stretch/>
        </p:blipFill>
        <p:spPr>
          <a:xfrm>
            <a:off x="304800" y="4114800"/>
            <a:ext cx="3070944" cy="2236391"/>
          </a:xfrm>
          <a:prstGeom prst="rect">
            <a:avLst/>
          </a:prstGeom>
        </p:spPr>
      </p:pic>
      <p:sp>
        <p:nvSpPr>
          <p:cNvPr id="10" name="Slide Number Placeholder 9"/>
          <p:cNvSpPr>
            <a:spLocks noGrp="1"/>
          </p:cNvSpPr>
          <p:nvPr>
            <p:ph type="sldNum" sz="quarter" idx="12"/>
          </p:nvPr>
        </p:nvSpPr>
        <p:spPr/>
        <p:txBody>
          <a:bodyPr/>
          <a:lstStyle/>
          <a:p>
            <a:pPr>
              <a:defRPr/>
            </a:pPr>
            <a:fld id="{CB41E0BA-DFE8-AC44-A799-3CFCF62077C1}" type="slidenum">
              <a:rPr lang="en-US" smtClean="0"/>
              <a:pPr>
                <a:defRPr/>
              </a:pPr>
              <a:t>52</a:t>
            </a:fld>
            <a:endParaRPr lang="en-US"/>
          </a:p>
        </p:txBody>
      </p:sp>
    </p:spTree>
    <p:extLst>
      <p:ext uri="{BB962C8B-B14F-4D97-AF65-F5344CB8AC3E}">
        <p14:creationId xmlns:p14="http://schemas.microsoft.com/office/powerpoint/2010/main" val="373981837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899072945"/>
              </p:ext>
            </p:extLst>
          </p:nvPr>
        </p:nvGraphicFramePr>
        <p:xfrm>
          <a:off x="1778000" y="4318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8" descr="MC900297567.WM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76541" y="4445000"/>
            <a:ext cx="3729059" cy="1955800"/>
          </a:xfrm>
          <a:prstGeom prst="rect">
            <a:avLst/>
          </a:prstGeom>
        </p:spPr>
      </p:pic>
      <p:sp>
        <p:nvSpPr>
          <p:cNvPr id="2" name="Slide Number Placeholder 1"/>
          <p:cNvSpPr>
            <a:spLocks noGrp="1"/>
          </p:cNvSpPr>
          <p:nvPr>
            <p:ph type="sldNum" sz="quarter" idx="12"/>
          </p:nvPr>
        </p:nvSpPr>
        <p:spPr/>
        <p:txBody>
          <a:bodyPr/>
          <a:lstStyle/>
          <a:p>
            <a:pPr>
              <a:defRPr/>
            </a:pPr>
            <a:fld id="{CB41E0BA-DFE8-AC44-A799-3CFCF62077C1}" type="slidenum">
              <a:rPr lang="en-US" smtClean="0"/>
              <a:pPr>
                <a:defRPr/>
              </a:pPr>
              <a:t>53</a:t>
            </a:fld>
            <a:endParaRPr lang="en-US"/>
          </a:p>
        </p:txBody>
      </p:sp>
    </p:spTree>
    <p:extLst>
      <p:ext uri="{BB962C8B-B14F-4D97-AF65-F5344CB8AC3E}">
        <p14:creationId xmlns:p14="http://schemas.microsoft.com/office/powerpoint/2010/main" val="4304409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subTitle" idx="4294967295"/>
          </p:nvPr>
        </p:nvSpPr>
        <p:spPr>
          <a:xfrm>
            <a:off x="1155700" y="4648200"/>
            <a:ext cx="6172200" cy="914400"/>
          </a:xfrm>
        </p:spPr>
        <p:txBody>
          <a:bodyPr>
            <a:normAutofit/>
          </a:bodyPr>
          <a:lstStyle/>
          <a:p>
            <a:pPr algn="r">
              <a:buFontTx/>
              <a:buChar char="-"/>
              <a:defRPr/>
            </a:pPr>
            <a:r>
              <a:rPr lang="en-US" sz="3200" dirty="0"/>
              <a:t>H.L. Mencken</a:t>
            </a:r>
          </a:p>
        </p:txBody>
      </p:sp>
      <p:sp>
        <p:nvSpPr>
          <p:cNvPr id="143372" name="Rectangle 12"/>
          <p:cNvSpPr>
            <a:spLocks noGrp="1" noChangeArrowheads="1"/>
          </p:cNvSpPr>
          <p:nvPr>
            <p:ph type="ctrTitle" idx="4294967295"/>
          </p:nvPr>
        </p:nvSpPr>
        <p:spPr>
          <a:xfrm>
            <a:off x="381000" y="838200"/>
            <a:ext cx="8153400" cy="2743200"/>
          </a:xfrm>
        </p:spPr>
        <p:style>
          <a:lnRef idx="2">
            <a:schemeClr val="accent6">
              <a:shade val="50000"/>
            </a:schemeClr>
          </a:lnRef>
          <a:fillRef idx="1">
            <a:schemeClr val="accent6"/>
          </a:fillRef>
          <a:effectRef idx="0">
            <a:schemeClr val="accent6"/>
          </a:effectRef>
          <a:fontRef idx="minor">
            <a:schemeClr val="lt1"/>
          </a:fontRef>
        </p:style>
        <p:txBody>
          <a:bodyPr/>
          <a:lstStyle/>
          <a:p>
            <a:pPr algn="ctr">
              <a:lnSpc>
                <a:spcPct val="110000"/>
              </a:lnSpc>
              <a:defRPr/>
            </a:pPr>
            <a:r>
              <a:rPr lang="ja-JP" altLang="en-US" sz="4400" dirty="0" smtClean="0"/>
              <a:t>“</a:t>
            </a:r>
            <a:r>
              <a:rPr lang="en-US" sz="4400" dirty="0" smtClean="0"/>
              <a:t>When somebody say it’s not</a:t>
            </a:r>
            <a:br>
              <a:rPr lang="en-US" sz="4400" dirty="0" smtClean="0"/>
            </a:br>
            <a:r>
              <a:rPr lang="en-US" sz="4400" dirty="0" smtClean="0"/>
              <a:t>  about the money,</a:t>
            </a:r>
            <a:br>
              <a:rPr lang="en-US" sz="4400" dirty="0" smtClean="0"/>
            </a:br>
            <a:r>
              <a:rPr lang="en-US" sz="4400" dirty="0" smtClean="0"/>
              <a:t>  it’s about the money.</a:t>
            </a:r>
            <a:r>
              <a:rPr lang="ja-JP" altLang="en-US" sz="4400" dirty="0"/>
              <a:t>”</a:t>
            </a:r>
            <a:endParaRPr lang="en-US" sz="4800" dirty="0"/>
          </a:p>
        </p:txBody>
      </p:sp>
      <p:pic>
        <p:nvPicPr>
          <p:cNvPr id="78853" name="Picture 14" descr="h-l-mencken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67600" y="4038600"/>
            <a:ext cx="1223963" cy="163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76D09E21-E3A5-A34B-9A90-0AE5B5561539}" type="slidenum">
              <a:rPr lang="en-US" smtClean="0"/>
              <a:pPr>
                <a:defRPr/>
              </a:pPr>
              <a:t>54</a:t>
            </a:fld>
            <a:endParaRPr lang="en-US" dirty="0">
              <a:solidFill>
                <a:schemeClr val="bg2">
                  <a:shade val="50000"/>
                </a:schemeClr>
              </a:solidFill>
            </a:endParaRPr>
          </a:p>
        </p:txBody>
      </p:sp>
      <p:pic>
        <p:nvPicPr>
          <p:cNvPr id="6" name="Picture 5"/>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11200" y="4038600"/>
            <a:ext cx="2171700" cy="2197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245901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ChangeArrowheads="1"/>
          </p:cNvSpPr>
          <p:nvPr/>
        </p:nvSpPr>
        <p:spPr bwMode="auto">
          <a:xfrm>
            <a:off x="838200" y="533400"/>
            <a:ext cx="7467600" cy="3886200"/>
          </a:xfrm>
          <a:prstGeom prst="rect">
            <a:avLst/>
          </a:prstGeom>
          <a:ln/>
          <a:extLst/>
        </p:spPr>
        <p:style>
          <a:lnRef idx="2">
            <a:schemeClr val="accent4">
              <a:shade val="50000"/>
            </a:schemeClr>
          </a:lnRef>
          <a:fillRef idx="1">
            <a:schemeClr val="accent4"/>
          </a:fillRef>
          <a:effectRef idx="0">
            <a:schemeClr val="accent4"/>
          </a:effectRef>
          <a:fontRef idx="minor">
            <a:schemeClr val="lt1"/>
          </a:fontRef>
        </p:style>
        <p:txBody>
          <a:bodyPr>
            <a:spAutoFit/>
          </a:bodyPr>
          <a:lstStyle/>
          <a:p>
            <a:pPr algn="ctr">
              <a:lnSpc>
                <a:spcPct val="125000"/>
              </a:lnSpc>
            </a:pPr>
            <a:r>
              <a:rPr lang="ja-JP" altLang="en-US" sz="5400" b="1" dirty="0">
                <a:solidFill>
                  <a:schemeClr val="bg1"/>
                </a:solidFill>
                <a:latin typeface="Century Gothic" charset="0"/>
              </a:rPr>
              <a:t>“</a:t>
            </a:r>
            <a:r>
              <a:rPr lang="en-US" altLang="ja-JP" sz="5400" b="1" dirty="0">
                <a:solidFill>
                  <a:schemeClr val="bg1"/>
                </a:solidFill>
                <a:latin typeface="Century Gothic" charset="0"/>
              </a:rPr>
              <a:t>If you can</a:t>
            </a:r>
            <a:r>
              <a:rPr lang="ja-JP" altLang="en-US" sz="5400" b="1" dirty="0">
                <a:solidFill>
                  <a:schemeClr val="bg1"/>
                </a:solidFill>
                <a:latin typeface="Century Gothic" charset="0"/>
              </a:rPr>
              <a:t>’</a:t>
            </a:r>
            <a:r>
              <a:rPr lang="en-US" altLang="ja-JP" sz="5400" b="1" dirty="0">
                <a:solidFill>
                  <a:schemeClr val="bg1"/>
                </a:solidFill>
                <a:latin typeface="Century Gothic" charset="0"/>
              </a:rPr>
              <a:t>t</a:t>
            </a:r>
            <a:br>
              <a:rPr lang="en-US" altLang="ja-JP" sz="5400" b="1" dirty="0">
                <a:solidFill>
                  <a:schemeClr val="bg1"/>
                </a:solidFill>
                <a:latin typeface="Century Gothic" charset="0"/>
              </a:rPr>
            </a:br>
            <a:r>
              <a:rPr lang="en-US" altLang="ja-JP" sz="5400" b="1" dirty="0">
                <a:solidFill>
                  <a:schemeClr val="bg1"/>
                </a:solidFill>
                <a:latin typeface="Century Gothic" charset="0"/>
              </a:rPr>
              <a:t>measure it,</a:t>
            </a:r>
            <a:br>
              <a:rPr lang="en-US" altLang="ja-JP" sz="5400" b="1" dirty="0">
                <a:solidFill>
                  <a:schemeClr val="bg1"/>
                </a:solidFill>
                <a:latin typeface="Century Gothic" charset="0"/>
              </a:rPr>
            </a:br>
            <a:r>
              <a:rPr lang="en-US" altLang="ja-JP" sz="5400" b="1" dirty="0">
                <a:solidFill>
                  <a:schemeClr val="bg1"/>
                </a:solidFill>
                <a:latin typeface="Century Gothic" charset="0"/>
              </a:rPr>
              <a:t>I</a:t>
            </a:r>
            <a:r>
              <a:rPr lang="ja-JP" altLang="en-US" sz="5400" b="1" dirty="0">
                <a:solidFill>
                  <a:schemeClr val="bg1"/>
                </a:solidFill>
                <a:latin typeface="Century Gothic" charset="0"/>
              </a:rPr>
              <a:t>’</a:t>
            </a:r>
            <a:r>
              <a:rPr lang="en-US" altLang="ja-JP" sz="5400" b="1" dirty="0">
                <a:solidFill>
                  <a:schemeClr val="bg1"/>
                </a:solidFill>
                <a:latin typeface="Century Gothic" charset="0"/>
              </a:rPr>
              <a:t>m not interested.</a:t>
            </a:r>
            <a:r>
              <a:rPr lang="ja-JP" altLang="en-US" sz="5400" b="1" dirty="0">
                <a:solidFill>
                  <a:schemeClr val="bg1"/>
                </a:solidFill>
                <a:latin typeface="Century Gothic" charset="0"/>
              </a:rPr>
              <a:t>”</a:t>
            </a:r>
            <a:endParaRPr lang="en-US" altLang="ja-JP" sz="4800" b="1" dirty="0">
              <a:latin typeface="Century Gothic" charset="0"/>
            </a:endParaRPr>
          </a:p>
          <a:p>
            <a:pPr algn="ctr"/>
            <a:r>
              <a:rPr lang="en-US" sz="4400" b="1" i="1" dirty="0">
                <a:solidFill>
                  <a:schemeClr val="tx2"/>
                </a:solidFill>
                <a:latin typeface="Century Gothic" charset="0"/>
              </a:rPr>
              <a:t>             </a:t>
            </a:r>
          </a:p>
        </p:txBody>
      </p:sp>
      <p:pic>
        <p:nvPicPr>
          <p:cNvPr id="74754" name="Picture 3" descr="Laurence_Pe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206875"/>
            <a:ext cx="1797050"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5" name="TextBox 1"/>
          <p:cNvSpPr txBox="1">
            <a:spLocks noChangeArrowheads="1"/>
          </p:cNvSpPr>
          <p:nvPr/>
        </p:nvSpPr>
        <p:spPr bwMode="auto">
          <a:xfrm>
            <a:off x="3505200" y="4953000"/>
            <a:ext cx="426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cs typeface="ＭＳ Ｐゴシック" charset="0"/>
              </a:defRPr>
            </a:lvl2pPr>
            <a:lvl3pPr marL="1143000" indent="-228600">
              <a:defRPr sz="2400">
                <a:solidFill>
                  <a:schemeClr val="tx1"/>
                </a:solidFill>
                <a:latin typeface="Arial" charset="0"/>
                <a:ea typeface="ＭＳ Ｐゴシック" charset="0"/>
                <a:cs typeface="ＭＳ Ｐゴシック" charset="0"/>
              </a:defRPr>
            </a:lvl3pPr>
            <a:lvl4pPr marL="1600200" indent="-228600">
              <a:defRPr sz="2400">
                <a:solidFill>
                  <a:schemeClr val="tx1"/>
                </a:solidFill>
                <a:latin typeface="Arial" charset="0"/>
                <a:ea typeface="ＭＳ Ｐゴシック" charset="0"/>
                <a:cs typeface="ＭＳ Ｐゴシック" charset="0"/>
              </a:defRPr>
            </a:lvl4pPr>
            <a:lvl5pPr marL="2057400" indent="-228600">
              <a:defRPr sz="2400">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cs typeface="ＭＳ Ｐゴシック" charset="0"/>
              </a:defRPr>
            </a:lvl9pPr>
          </a:lstStyle>
          <a:p>
            <a:pPr>
              <a:buClr>
                <a:srgbClr val="0099CC"/>
              </a:buClr>
              <a:buFont typeface="Arial" charset="0"/>
              <a:buChar char="•"/>
            </a:pPr>
            <a:r>
              <a:rPr lang="en-US" sz="2800" i="1" dirty="0"/>
              <a:t>Laurence J. Peter</a:t>
            </a:r>
          </a:p>
        </p:txBody>
      </p:sp>
    </p:spTree>
    <p:extLst>
      <p:ext uri="{BB962C8B-B14F-4D97-AF65-F5344CB8AC3E}">
        <p14:creationId xmlns:p14="http://schemas.microsoft.com/office/powerpoint/2010/main" val="4120145318"/>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06500" y="825500"/>
            <a:ext cx="7162800" cy="3022600"/>
          </a:xfrm>
          <a:effectLst>
            <a:glow rad="139700">
              <a:schemeClr val="accent6">
                <a:satMod val="175000"/>
                <a:alpha val="40000"/>
              </a:schemeClr>
            </a:glow>
          </a:effectLst>
          <a:scene3d>
            <a:camera prst="orthographicFront"/>
            <a:lightRig rig="threePt" dir="t"/>
          </a:scene3d>
          <a:sp3d>
            <a:bevelT w="139700" h="139700" prst="divot"/>
          </a:sp3d>
        </p:spPr>
        <p:style>
          <a:lnRef idx="3">
            <a:schemeClr val="lt1"/>
          </a:lnRef>
          <a:fillRef idx="1">
            <a:schemeClr val="accent6"/>
          </a:fillRef>
          <a:effectRef idx="1">
            <a:schemeClr val="accent6"/>
          </a:effectRef>
          <a:fontRef idx="minor">
            <a:schemeClr val="lt1"/>
          </a:fontRef>
        </p:style>
        <p:txBody>
          <a:bodyPr>
            <a:normAutofit/>
          </a:bodyPr>
          <a:lstStyle/>
          <a:p>
            <a:pPr algn="ctr"/>
            <a:r>
              <a:rPr lang="en-US" dirty="0" smtClean="0"/>
              <a:t>Collecting data</a:t>
            </a:r>
            <a:br>
              <a:rPr lang="en-US" dirty="0" smtClean="0"/>
            </a:br>
            <a:r>
              <a:rPr lang="en-US" dirty="0" smtClean="0"/>
              <a:t>without using it</a:t>
            </a:r>
            <a:br>
              <a:rPr lang="en-US" dirty="0" smtClean="0"/>
            </a:br>
            <a:r>
              <a:rPr lang="en-US" dirty="0" smtClean="0"/>
              <a:t/>
            </a:r>
            <a:br>
              <a:rPr lang="en-US" dirty="0" smtClean="0"/>
            </a:br>
            <a:r>
              <a:rPr lang="en-US" sz="6600" b="1" i="1" dirty="0" smtClean="0"/>
              <a:t>is useless</a:t>
            </a:r>
            <a:r>
              <a:rPr lang="en-US" sz="6600" dirty="0" smtClean="0"/>
              <a:t>.</a:t>
            </a:r>
            <a:endParaRPr lang="en-US" sz="6600" dirty="0"/>
          </a:p>
        </p:txBody>
      </p:sp>
      <p:sp>
        <p:nvSpPr>
          <p:cNvPr id="2" name="Slide Number Placeholder 1"/>
          <p:cNvSpPr>
            <a:spLocks noGrp="1"/>
          </p:cNvSpPr>
          <p:nvPr>
            <p:ph type="sldNum" sz="quarter" idx="12"/>
          </p:nvPr>
        </p:nvSpPr>
        <p:spPr/>
        <p:txBody>
          <a:bodyPr/>
          <a:lstStyle/>
          <a:p>
            <a:pPr>
              <a:defRPr/>
            </a:pPr>
            <a:fld id="{76D09E21-E3A5-A34B-9A90-0AE5B5561539}" type="slidenum">
              <a:rPr lang="en-US" smtClean="0"/>
              <a:pPr>
                <a:defRPr/>
              </a:pPr>
              <a:t>56</a:t>
            </a:fld>
            <a:endParaRPr lang="en-US" dirty="0">
              <a:solidFill>
                <a:schemeClr val="bg2">
                  <a:shade val="50000"/>
                </a:schemeClr>
              </a:solidFill>
            </a:endParaRP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754" y="4297147"/>
            <a:ext cx="3586646" cy="2230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810631"/>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9852" y="906018"/>
            <a:ext cx="6149848" cy="5880100"/>
          </a:xfrm>
        </p:spPr>
        <p:txBody>
          <a:bodyPr>
            <a:normAutofit/>
          </a:bodyPr>
          <a:lstStyle/>
          <a:p>
            <a:pPr>
              <a:spcBef>
                <a:spcPts val="1872"/>
              </a:spcBef>
            </a:pPr>
            <a:r>
              <a:rPr lang="en-US" sz="2800" dirty="0" smtClean="0"/>
              <a:t>Collected and and used at </a:t>
            </a:r>
            <a:r>
              <a:rPr lang="en-US" sz="2800" u="sng" dirty="0" smtClean="0"/>
              <a:t>all</a:t>
            </a:r>
            <a:r>
              <a:rPr lang="en-US" sz="2800" dirty="0" smtClean="0"/>
              <a:t> levels:</a:t>
            </a:r>
            <a:br>
              <a:rPr lang="en-US" sz="2800" dirty="0" smtClean="0"/>
            </a:br>
            <a:r>
              <a:rPr lang="en-US" sz="2800" b="1" i="1" dirty="0"/>
              <a:t>I</a:t>
            </a:r>
            <a:r>
              <a:rPr lang="en-US" sz="2800" b="1" i="1" dirty="0" smtClean="0"/>
              <a:t>ndividual, Program, School, System</a:t>
            </a:r>
          </a:p>
          <a:p>
            <a:pPr>
              <a:spcBef>
                <a:spcPts val="1872"/>
              </a:spcBef>
            </a:pPr>
            <a:r>
              <a:rPr lang="en-US" sz="2800" b="1" dirty="0" smtClean="0"/>
              <a:t>Readily available</a:t>
            </a:r>
          </a:p>
          <a:p>
            <a:pPr>
              <a:spcBef>
                <a:spcPts val="1872"/>
              </a:spcBef>
            </a:pPr>
            <a:r>
              <a:rPr lang="en-US" sz="2800" b="1" dirty="0"/>
              <a:t>T</a:t>
            </a:r>
            <a:r>
              <a:rPr lang="en-US" sz="2800" b="1" dirty="0" smtClean="0"/>
              <a:t>ransparent</a:t>
            </a:r>
            <a:endParaRPr lang="en-US" sz="2800" b="1" dirty="0"/>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57</a:t>
            </a:fld>
            <a:endParaRPr lang="en-US" dirty="0"/>
          </a:p>
        </p:txBody>
      </p:sp>
      <p:pic>
        <p:nvPicPr>
          <p:cNvPr id="6" name="Picture 5"/>
          <p:cNvPicPr>
            <a:picLocks noChangeAspect="1"/>
          </p:cNvPicPr>
          <p:nvPr/>
        </p:nvPicPr>
        <p:blipFill>
          <a:blip r:embed="rId2"/>
          <a:stretch>
            <a:fillRect/>
          </a:stretch>
        </p:blipFill>
        <p:spPr>
          <a:xfrm>
            <a:off x="342900" y="3846068"/>
            <a:ext cx="3121152" cy="2465832"/>
          </a:xfrm>
          <a:prstGeom prst="rect">
            <a:avLst/>
          </a:prstGeom>
        </p:spPr>
      </p:pic>
      <p:sp>
        <p:nvSpPr>
          <p:cNvPr id="7" name="Pentagon 6"/>
          <p:cNvSpPr/>
          <p:nvPr/>
        </p:nvSpPr>
        <p:spPr>
          <a:xfrm>
            <a:off x="254000" y="723900"/>
            <a:ext cx="2159000" cy="1168400"/>
          </a:xfrm>
          <a:prstGeom prst="homePlate">
            <a:avLst/>
          </a:prstGeom>
          <a:effectLst>
            <a:glow rad="139700">
              <a:schemeClr val="accent4">
                <a:satMod val="175000"/>
                <a:alpha val="40000"/>
              </a:schemeClr>
            </a:glow>
            <a:outerShdw blurRad="38100" dist="25400" dir="2700000" algn="br" rotWithShape="0">
              <a:srgbClr val="000000">
                <a:alpha val="60000"/>
              </a:srgbClr>
            </a:outerShdw>
          </a:effectLst>
          <a:scene3d>
            <a:camera prst="orthographicFront"/>
            <a:lightRig rig="threePt" dir="t"/>
          </a:scene3d>
          <a:sp3d>
            <a:bevelT w="139700" h="139700" prst="divot"/>
          </a:sp3d>
        </p:spPr>
        <p:style>
          <a:lnRef idx="1">
            <a:schemeClr val="accent4"/>
          </a:lnRef>
          <a:fillRef idx="3">
            <a:schemeClr val="accent4"/>
          </a:fillRef>
          <a:effectRef idx="2">
            <a:schemeClr val="accent4"/>
          </a:effectRef>
          <a:fontRef idx="minor">
            <a:schemeClr val="lt1"/>
          </a:fontRef>
        </p:style>
        <p:txBody>
          <a:bodyPr rtlCol="0" anchor="ctr"/>
          <a:lstStyle/>
          <a:p>
            <a:r>
              <a:rPr lang="en-US" sz="3600" dirty="0" smtClean="0"/>
              <a:t>DATA</a:t>
            </a:r>
            <a:endParaRPr lang="en-US" sz="3600" dirty="0"/>
          </a:p>
        </p:txBody>
      </p:sp>
    </p:spTree>
    <p:extLst>
      <p:ext uri="{BB962C8B-B14F-4D97-AF65-F5344CB8AC3E}">
        <p14:creationId xmlns:p14="http://schemas.microsoft.com/office/powerpoint/2010/main" val="2584041827"/>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par>
                          <p:cTn id="15" fill="hold">
                            <p:stCondLst>
                              <p:cond delay="0"/>
                            </p:stCondLst>
                            <p:childTnLst>
                              <p:par>
                                <p:cTn id="16" presetID="9" presetClass="emph" presetSubtype="0" nodeType="afterEffect">
                                  <p:stCondLst>
                                    <p:cond delay="3000"/>
                                  </p:stCondLst>
                                  <p:childTnLst>
                                    <p:set>
                                      <p:cBhvr rctx="PPT">
                                        <p:cTn id="17" dur="indefinite"/>
                                        <p:tgtEl>
                                          <p:spTgt spid="3">
                                            <p:txEl>
                                              <p:pRg st="2" end="2"/>
                                            </p:txEl>
                                          </p:spTgt>
                                        </p:tgtEl>
                                        <p:attrNameLst>
                                          <p:attrName>style.opacity</p:attrName>
                                        </p:attrNameLst>
                                      </p:cBhvr>
                                      <p:to>
                                        <p:strVal val="0.5"/>
                                      </p:to>
                                    </p:set>
                                    <p:animEffect filter="image" prLst="opacity: 0.5">
                                      <p:cBhvr rctx="IE">
                                        <p:cTn id="18" dur="indefinite"/>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7800" y="1587500"/>
            <a:ext cx="3568700" cy="1663700"/>
          </a:xfrm>
        </p:spPr>
        <p:txBody>
          <a:bodyPr>
            <a:normAutofit fontScale="90000"/>
          </a:bodyPr>
          <a:lstStyle/>
          <a:p>
            <a:pPr algn="ctr"/>
            <a:r>
              <a:rPr lang="en-US" b="1" dirty="0" smtClean="0"/>
              <a:t>Progress reports</a:t>
            </a:r>
            <a:r>
              <a:rPr lang="en-US" dirty="0" smtClean="0"/>
              <a:t> from each department </a:t>
            </a:r>
            <a:r>
              <a:rPr lang="en-US" b="1" i="1" dirty="0" smtClean="0"/>
              <a:t>due annually</a:t>
            </a:r>
            <a:r>
              <a:rPr lang="en-US" b="1" dirty="0" smtClean="0"/>
              <a:t/>
            </a:r>
            <a:br>
              <a:rPr lang="en-US" b="1" dirty="0" smtClean="0"/>
            </a:br>
            <a:r>
              <a:rPr lang="en-US" dirty="0" smtClean="0"/>
              <a:t>to the Alaska Mental Health Trust Authority</a:t>
            </a:r>
            <a:endParaRPr lang="en-US" dirty="0"/>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58</a:t>
            </a:fld>
            <a:endParaRPr lang="en-US" dirty="0"/>
          </a:p>
        </p:txBody>
      </p:sp>
      <p:pic>
        <p:nvPicPr>
          <p:cNvPr id="5" name="Content Placeholder 3" descr="Alaska Legislation Final copy.pdf"/>
          <p:cNvPicPr>
            <a:picLocks noGrp="1" noChangeAspect="1"/>
          </p:cNvPicPr>
          <p:nvPr>
            <p:ph idx="1"/>
          </p:nvPr>
        </p:nvPicPr>
        <p:blipFill rotWithShape="1">
          <a:blip r:embed="rId2" cstate="email">
            <a:extLst>
              <a:ext uri="{28A0092B-C50C-407E-A947-70E740481C1C}">
                <a14:useLocalDpi xmlns:a14="http://schemas.microsoft.com/office/drawing/2010/main" val="0"/>
              </a:ext>
            </a:extLst>
          </a:blip>
          <a:srcRect t="-253" b="-758"/>
          <a:stretch/>
        </p:blipFill>
        <p:spPr>
          <a:xfrm>
            <a:off x="342900" y="541370"/>
            <a:ext cx="4635500" cy="6059478"/>
          </a:xfrm>
          <a:ln>
            <a:solidFill>
              <a:schemeClr val="tx1"/>
            </a:solidFill>
          </a:ln>
        </p:spPr>
      </p:pic>
      <p:pic>
        <p:nvPicPr>
          <p:cNvPr id="7" name="Picture 6" descr="Unknown-1.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8900" y="4543448"/>
            <a:ext cx="3886200" cy="2032000"/>
          </a:xfrm>
          <a:prstGeom prst="rect">
            <a:avLst/>
          </a:prstGeom>
        </p:spPr>
      </p:pic>
    </p:spTree>
    <p:extLst>
      <p:ext uri="{BB962C8B-B14F-4D97-AF65-F5344CB8AC3E}">
        <p14:creationId xmlns:p14="http://schemas.microsoft.com/office/powerpoint/2010/main" val="2762395230"/>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500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nodeType="withEffect">
                                  <p:stCondLst>
                                    <p:cond delay="500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2900" y="2370138"/>
            <a:ext cx="4889500" cy="2646362"/>
          </a:xfrm>
          <a:solidFill>
            <a:srgbClr val="0000FF"/>
          </a:solidFill>
          <a:scene3d>
            <a:camera prst="orthographicFront"/>
            <a:lightRig rig="threePt" dir="t"/>
          </a:scene3d>
          <a:sp3d>
            <a:bevelT w="139700" h="139700" prst="divot"/>
          </a:sp3d>
        </p:spPr>
        <p:style>
          <a:lnRef idx="2">
            <a:schemeClr val="accent3">
              <a:shade val="50000"/>
            </a:schemeClr>
          </a:lnRef>
          <a:fillRef idx="1">
            <a:schemeClr val="accent3"/>
          </a:fillRef>
          <a:effectRef idx="0">
            <a:schemeClr val="accent3"/>
          </a:effectRef>
          <a:fontRef idx="minor">
            <a:schemeClr val="lt1"/>
          </a:fontRef>
        </p:style>
        <p:txBody>
          <a:bodyPr>
            <a:normAutofit/>
          </a:bodyPr>
          <a:lstStyle/>
          <a:p>
            <a:pPr algn="ctr"/>
            <a:r>
              <a:rPr lang="en-US" b="1" dirty="0" smtClean="0"/>
              <a:t>The</a:t>
            </a:r>
            <a:br>
              <a:rPr lang="en-US" b="1" dirty="0" smtClean="0"/>
            </a:br>
            <a:r>
              <a:rPr lang="en-US" b="1" dirty="0" smtClean="0"/>
              <a:t>“Choice”</a:t>
            </a:r>
            <a:br>
              <a:rPr lang="en-US" b="1" dirty="0" smtClean="0"/>
            </a:br>
            <a:r>
              <a:rPr lang="en-US" b="1" dirty="0" smtClean="0"/>
              <a:t>Issue</a:t>
            </a:r>
            <a:endParaRPr lang="en-US" b="1" dirty="0"/>
          </a:p>
        </p:txBody>
      </p:sp>
      <p:pic>
        <p:nvPicPr>
          <p:cNvPr id="3" name="Picture 2" descr="Choice.WM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8706" y="482600"/>
            <a:ext cx="1950794" cy="2734759"/>
          </a:xfrm>
          <a:prstGeom prst="rect">
            <a:avLst/>
          </a:prstGeom>
        </p:spPr>
      </p:pic>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59</a:t>
            </a:fld>
            <a:endParaRPr lang="en-US" dirty="0"/>
          </a:p>
        </p:txBody>
      </p:sp>
    </p:spTree>
    <p:extLst>
      <p:ext uri="{BB962C8B-B14F-4D97-AF65-F5344CB8AC3E}">
        <p14:creationId xmlns:p14="http://schemas.microsoft.com/office/powerpoint/2010/main" val="373299224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Picture 14" descr="Speech balloon pointing right.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609600"/>
            <a:ext cx="3505200" cy="294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2" name="TextBox 4"/>
          <p:cNvSpPr txBox="1">
            <a:spLocks noChangeArrowheads="1"/>
          </p:cNvSpPr>
          <p:nvPr/>
        </p:nvSpPr>
        <p:spPr bwMode="auto">
          <a:xfrm>
            <a:off x="2057400" y="990600"/>
            <a:ext cx="2057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b="1"/>
              <a:t>Do you want to work in the community?</a:t>
            </a:r>
          </a:p>
        </p:txBody>
      </p:sp>
      <p:pic>
        <p:nvPicPr>
          <p:cNvPr id="35843" name="Picture 1" descr="interview clipart.gif"/>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876800" y="3200400"/>
            <a:ext cx="4065588"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p:nvPr/>
        </p:nvSpPr>
        <p:spPr>
          <a:xfrm rot="21060000">
            <a:off x="1633965" y="2803882"/>
            <a:ext cx="6773674" cy="1938992"/>
          </a:xfrm>
          <a:prstGeom prst="rect">
            <a:avLst/>
          </a:prstGeom>
          <a:solidFill>
            <a:srgbClr val="000090"/>
          </a:solidFill>
          <a:scene3d>
            <a:camera prst="orthographicFront"/>
            <a:lightRig rig="threePt" dir="t"/>
          </a:scene3d>
          <a:sp3d>
            <a:bevelT w="139700" h="139700" prst="divot"/>
          </a:sp3d>
        </p:spPr>
        <p:txBody>
          <a:bodyPr>
            <a:spAutoFit/>
          </a:bodyPr>
          <a:lstStyle/>
          <a:p>
            <a:pPr algn="ctr" eaLnBrk="0" hangingPunct="0">
              <a:defRPr/>
            </a:pPr>
            <a:r>
              <a:rPr lang="en-US" sz="6000" dirty="0">
                <a:solidFill>
                  <a:srgbClr val="FFF028"/>
                </a:solidFill>
                <a:latin typeface="Impact"/>
              </a:rPr>
              <a:t>NOT INFORMED CHOICE</a:t>
            </a:r>
          </a:p>
        </p:txBody>
      </p:sp>
      <p:sp>
        <p:nvSpPr>
          <p:cNvPr id="2" name="Slide Number Placeholder 1"/>
          <p:cNvSpPr>
            <a:spLocks noGrp="1"/>
          </p:cNvSpPr>
          <p:nvPr>
            <p:ph type="sldNum" sz="quarter" idx="12"/>
          </p:nvPr>
        </p:nvSpPr>
        <p:spPr/>
        <p:txBody>
          <a:bodyPr/>
          <a:lstStyle/>
          <a:p>
            <a:pPr>
              <a:defRPr/>
            </a:pPr>
            <a:fld id="{DE0518C9-3CC7-7448-AD05-3CB269384775}" type="slidenum">
              <a:rPr lang="en-US" smtClean="0"/>
              <a:pPr>
                <a:defRPr/>
              </a:pPr>
              <a:t>60</a:t>
            </a:fld>
            <a:endParaRPr lang="en-US" dirty="0"/>
          </a:p>
        </p:txBody>
      </p:sp>
    </p:spTree>
    <p:extLst>
      <p:ext uri="{BB962C8B-B14F-4D97-AF65-F5344CB8AC3E}">
        <p14:creationId xmlns:p14="http://schemas.microsoft.com/office/powerpoint/2010/main" val="260377582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81000"/>
            <a:ext cx="4495800" cy="1143000"/>
          </a:xfrm>
          <a:scene3d>
            <a:camera prst="orthographicFront"/>
            <a:lightRig rig="threePt" dir="t"/>
          </a:scene3d>
          <a:sp3d>
            <a:bevelT w="139700" h="139700" prst="divot"/>
          </a:sp3d>
        </p:spPr>
        <p:txBody>
          <a:bodyPr>
            <a:normAutofit fontScale="90000"/>
          </a:bodyPr>
          <a:lstStyle/>
          <a:p>
            <a:pPr>
              <a:defRPr/>
            </a:pPr>
            <a:r>
              <a:rPr lang="en-US" b="1" dirty="0" smtClean="0"/>
              <a:t>Olmstead Guidance</a:t>
            </a:r>
            <a:endParaRPr lang="en-US" b="1" dirty="0"/>
          </a:p>
        </p:txBody>
      </p:sp>
      <p:sp>
        <p:nvSpPr>
          <p:cNvPr id="3" name="Content Placeholder 2"/>
          <p:cNvSpPr>
            <a:spLocks noGrp="1"/>
          </p:cNvSpPr>
          <p:nvPr>
            <p:ph idx="1"/>
          </p:nvPr>
        </p:nvSpPr>
        <p:spPr>
          <a:xfrm>
            <a:off x="685800" y="3124200"/>
            <a:ext cx="7772400" cy="3276600"/>
          </a:xfrm>
        </p:spPr>
        <p:txBody>
          <a:bodyPr/>
          <a:lstStyle/>
          <a:p>
            <a:pPr>
              <a:defRPr/>
            </a:pPr>
            <a:r>
              <a:rPr lang="en-US" sz="4000" dirty="0" smtClean="0"/>
              <a:t>“Individuals</a:t>
            </a:r>
            <a:r>
              <a:rPr lang="en-US" sz="4000" dirty="0"/>
              <a:t>’ and their families’ initial response when offered integrated options may be reluctance or </a:t>
            </a:r>
            <a:r>
              <a:rPr lang="en-US" sz="4000" dirty="0" smtClean="0"/>
              <a:t>hesitancy.”</a:t>
            </a:r>
            <a:endParaRPr lang="en-US" sz="4000" dirty="0"/>
          </a:p>
        </p:txBody>
      </p:sp>
      <p:pic>
        <p:nvPicPr>
          <p:cNvPr id="36869" name="Picture 5" descr="elaine_wilson_and_lois_curtis.pn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386638" y="457200"/>
            <a:ext cx="1604962" cy="2136775"/>
          </a:xfrm>
          <a:prstGeom prst="rect">
            <a:avLst/>
          </a:prstGeom>
          <a:noFill/>
          <a:ln w="9525">
            <a:solidFill>
              <a:srgbClr val="000090"/>
            </a:solidFill>
            <a:miter lim="800000"/>
            <a:headEnd/>
            <a:tailEnd/>
          </a:ln>
          <a:extLst>
            <a:ext uri="{909E8E84-426E-40dd-AFC4-6F175D3DCCD1}">
              <a14:hiddenFill xmlns:a14="http://schemas.microsoft.com/office/drawing/2010/main">
                <a:solidFill>
                  <a:srgbClr val="FFFFFF"/>
                </a:solidFill>
              </a14:hiddenFill>
            </a:ext>
          </a:extLst>
        </p:spPr>
      </p:pic>
      <p:pic>
        <p:nvPicPr>
          <p:cNvPr id="36870" name="Picture 6" descr="doj.jpeg"/>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953000" y="533400"/>
            <a:ext cx="22352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61</a:t>
            </a:fld>
            <a:endParaRPr lang="en-US" dirty="0"/>
          </a:p>
        </p:txBody>
      </p:sp>
    </p:spTree>
    <p:extLst>
      <p:ext uri="{BB962C8B-B14F-4D97-AF65-F5344CB8AC3E}">
        <p14:creationId xmlns:p14="http://schemas.microsoft.com/office/powerpoint/2010/main" val="1318944317"/>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7772400" cy="762000"/>
          </a:xfrm>
        </p:spPr>
        <p:txBody>
          <a:bodyPr>
            <a:normAutofit fontScale="90000"/>
          </a:bodyPr>
          <a:lstStyle/>
          <a:p>
            <a:pPr>
              <a:defRPr/>
            </a:pPr>
            <a:r>
              <a:rPr lang="en-US" sz="3600" b="1" cap="small" dirty="0" smtClean="0"/>
              <a:t>USDOJ: </a:t>
            </a:r>
            <a:r>
              <a:rPr lang="en-US" sz="3600" cap="small" dirty="0" smtClean="0"/>
              <a:t>Informed Choice Requirements</a:t>
            </a:r>
            <a:endParaRPr lang="en-US" sz="3600" cap="small" dirty="0"/>
          </a:p>
        </p:txBody>
      </p:sp>
      <p:sp>
        <p:nvSpPr>
          <p:cNvPr id="3" name="Content Placeholder 2"/>
          <p:cNvSpPr>
            <a:spLocks noGrp="1"/>
          </p:cNvSpPr>
          <p:nvPr>
            <p:ph idx="1"/>
          </p:nvPr>
        </p:nvSpPr>
        <p:spPr>
          <a:xfrm>
            <a:off x="152400" y="2628900"/>
            <a:ext cx="8902700" cy="4114800"/>
          </a:xfrm>
        </p:spPr>
        <p:txBody>
          <a:bodyPr>
            <a:noAutofit/>
          </a:bodyPr>
          <a:lstStyle/>
          <a:p>
            <a:pPr marL="457200" indent="-457200">
              <a:spcBef>
                <a:spcPts val="2328"/>
              </a:spcBef>
              <a:buClrTx/>
              <a:buFontTx/>
              <a:buAutoNum type="arabicPeriod"/>
              <a:defRPr/>
            </a:pPr>
            <a:r>
              <a:rPr lang="en-US" sz="2200" dirty="0">
                <a:latin typeface="Calibri" charset="0"/>
                <a:ea typeface="Osaka" charset="0"/>
                <a:cs typeface="Osaka" charset="0"/>
              </a:rPr>
              <a:t>Providing information about the </a:t>
            </a:r>
            <a:r>
              <a:rPr lang="en-US" sz="2200" b="1" dirty="0">
                <a:latin typeface="Calibri" charset="0"/>
                <a:ea typeface="Osaka" charset="0"/>
                <a:cs typeface="Osaka" charset="0"/>
              </a:rPr>
              <a:t>benefits of </a:t>
            </a:r>
            <a:r>
              <a:rPr lang="en-US" sz="2200" b="1" dirty="0" smtClean="0">
                <a:latin typeface="Calibri" charset="0"/>
                <a:ea typeface="Osaka" charset="0"/>
                <a:cs typeface="Osaka" charset="0"/>
              </a:rPr>
              <a:t>working</a:t>
            </a:r>
            <a:br>
              <a:rPr lang="en-US" sz="2200" b="1" dirty="0" smtClean="0">
                <a:latin typeface="Calibri" charset="0"/>
                <a:ea typeface="Osaka" charset="0"/>
                <a:cs typeface="Osaka" charset="0"/>
              </a:rPr>
            </a:br>
            <a:r>
              <a:rPr lang="en-US" sz="2200" dirty="0" smtClean="0">
                <a:latin typeface="Calibri" charset="0"/>
                <a:ea typeface="Osaka" charset="0"/>
                <a:cs typeface="Osaka" charset="0"/>
              </a:rPr>
              <a:t>in </a:t>
            </a:r>
            <a:r>
              <a:rPr lang="en-US" sz="2200" dirty="0">
                <a:latin typeface="Calibri" charset="0"/>
                <a:ea typeface="Osaka" charset="0"/>
                <a:cs typeface="Osaka" charset="0"/>
              </a:rPr>
              <a:t>integrated settings.</a:t>
            </a:r>
          </a:p>
          <a:p>
            <a:pPr marL="457200" indent="-457200">
              <a:spcBef>
                <a:spcPts val="2328"/>
              </a:spcBef>
              <a:buClrTx/>
              <a:buFontTx/>
              <a:buAutoNum type="arabicPeriod"/>
              <a:defRPr/>
            </a:pPr>
            <a:r>
              <a:rPr lang="en-US" sz="2200" dirty="0">
                <a:latin typeface="Calibri" charset="0"/>
                <a:ea typeface="Osaka" charset="0"/>
                <a:cs typeface="Osaka" charset="0"/>
              </a:rPr>
              <a:t>Facilitating</a:t>
            </a:r>
            <a:r>
              <a:rPr lang="en-US" sz="2200" b="1" dirty="0">
                <a:latin typeface="Calibri" charset="0"/>
                <a:ea typeface="Osaka" charset="0"/>
                <a:cs typeface="Osaka" charset="0"/>
              </a:rPr>
              <a:t> visits or other experiences </a:t>
            </a:r>
            <a:r>
              <a:rPr lang="en-US" sz="2200" dirty="0">
                <a:latin typeface="Calibri" charset="0"/>
                <a:ea typeface="Osaka" charset="0"/>
                <a:cs typeface="Osaka" charset="0"/>
              </a:rPr>
              <a:t>in such settings: </a:t>
            </a:r>
            <a:r>
              <a:rPr lang="en-US" sz="2200" i="1" dirty="0">
                <a:latin typeface="Calibri" charset="0"/>
                <a:ea typeface="Osaka" charset="0"/>
                <a:cs typeface="Osaka" charset="0"/>
              </a:rPr>
              <a:t>situational assessment, informational interviews, job shadowing, job tours, etc.</a:t>
            </a:r>
          </a:p>
          <a:p>
            <a:pPr marL="457200" indent="-457200">
              <a:spcBef>
                <a:spcPts val="2328"/>
              </a:spcBef>
              <a:buClrTx/>
              <a:buFontTx/>
              <a:buAutoNum type="arabicPeriod"/>
              <a:defRPr/>
            </a:pPr>
            <a:r>
              <a:rPr lang="en-US" sz="2200" dirty="0">
                <a:latin typeface="Calibri" charset="0"/>
                <a:ea typeface="Osaka" charset="0"/>
                <a:cs typeface="Osaka" charset="0"/>
              </a:rPr>
              <a:t>Peer-to-Peer </a:t>
            </a:r>
            <a:r>
              <a:rPr lang="en-US" sz="2200" dirty="0" smtClean="0">
                <a:latin typeface="Calibri" charset="0"/>
                <a:ea typeface="Osaka" charset="0"/>
                <a:cs typeface="Osaka" charset="0"/>
              </a:rPr>
              <a:t>Opportunities:</a:t>
            </a:r>
            <a:r>
              <a:rPr lang="en-US" sz="2200" dirty="0">
                <a:latin typeface="Calibri" charset="0"/>
                <a:ea typeface="Osaka" charset="0"/>
                <a:cs typeface="Osaka" charset="0"/>
              </a:rPr>
              <a:t> </a:t>
            </a:r>
            <a:r>
              <a:rPr lang="en-US" sz="2200" b="1" dirty="0" smtClean="0">
                <a:latin typeface="Calibri" charset="0"/>
                <a:ea typeface="Osaka" charset="0"/>
                <a:cs typeface="Osaka" charset="0"/>
              </a:rPr>
              <a:t>Individuals </a:t>
            </a:r>
            <a:r>
              <a:rPr lang="en-US" sz="2200" b="1" dirty="0">
                <a:latin typeface="Calibri" charset="0"/>
                <a:ea typeface="Osaka" charset="0"/>
                <a:cs typeface="Osaka" charset="0"/>
              </a:rPr>
              <a:t>with disabilities </a:t>
            </a:r>
            <a:r>
              <a:rPr lang="en-US" sz="2200" dirty="0">
                <a:latin typeface="Calibri" charset="0"/>
                <a:ea typeface="Osaka" charset="0"/>
                <a:cs typeface="Osaka" charset="0"/>
              </a:rPr>
              <a:t>&amp;</a:t>
            </a:r>
            <a:r>
              <a:rPr lang="en-US" sz="2200" dirty="0" smtClean="0">
                <a:latin typeface="Calibri" charset="0"/>
                <a:ea typeface="Osaka" charset="0"/>
                <a:cs typeface="Osaka" charset="0"/>
              </a:rPr>
              <a:t> </a:t>
            </a:r>
            <a:r>
              <a:rPr lang="en-US" sz="2200" b="1" dirty="0" smtClean="0">
                <a:latin typeface="Calibri" charset="0"/>
                <a:ea typeface="Osaka" charset="0"/>
                <a:cs typeface="Osaka" charset="0"/>
              </a:rPr>
              <a:t>families.</a:t>
            </a:r>
          </a:p>
          <a:p>
            <a:pPr marL="457200" indent="-457200">
              <a:spcBef>
                <a:spcPts val="2328"/>
              </a:spcBef>
              <a:buClrTx/>
              <a:buFontTx/>
              <a:buAutoNum type="arabicPeriod"/>
              <a:defRPr/>
            </a:pPr>
            <a:r>
              <a:rPr lang="en-US" sz="2200" b="1" dirty="0" smtClean="0">
                <a:latin typeface="Calibri" charset="0"/>
                <a:ea typeface="Osaka" charset="0"/>
                <a:cs typeface="Osaka" charset="0"/>
              </a:rPr>
              <a:t>Identify </a:t>
            </a:r>
            <a:r>
              <a:rPr lang="en-US" sz="2200" b="1" dirty="0">
                <a:latin typeface="Calibri" charset="0"/>
                <a:ea typeface="Osaka" charset="0"/>
                <a:cs typeface="Osaka" charset="0"/>
              </a:rPr>
              <a:t>and address any concerns or objections </a:t>
            </a:r>
            <a:r>
              <a:rPr lang="en-US" sz="2200" dirty="0">
                <a:latin typeface="Calibri" charset="0"/>
                <a:ea typeface="Osaka" charset="0"/>
                <a:cs typeface="Osaka" charset="0"/>
              </a:rPr>
              <a:t>raised by individual or relevant decision-maker.</a:t>
            </a:r>
          </a:p>
        </p:txBody>
      </p:sp>
      <p:pic>
        <p:nvPicPr>
          <p:cNvPr id="4" name="Picture 3" descr="Logo of U.S. Department of Justice" title="US DOJ Logo"/>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924800" y="393700"/>
            <a:ext cx="965200" cy="965200"/>
          </a:xfrm>
          <a:prstGeom prst="rect">
            <a:avLst/>
          </a:prstGeom>
        </p:spPr>
      </p:pic>
      <p:sp>
        <p:nvSpPr>
          <p:cNvPr id="37894" name="TextBox 5"/>
          <p:cNvSpPr txBox="1">
            <a:spLocks noChangeArrowheads="1"/>
          </p:cNvSpPr>
          <p:nvPr/>
        </p:nvSpPr>
        <p:spPr bwMode="auto">
          <a:xfrm>
            <a:off x="304800" y="1143000"/>
            <a:ext cx="8077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b="1">
                <a:latin typeface="Arial Narrow" charset="0"/>
                <a:cs typeface="Arial Narrow" charset="0"/>
              </a:rPr>
              <a:t>Affirmative steps must be taken to ensure individuals have an opportunity to make an informed choice about working in integrated settings.</a:t>
            </a:r>
          </a:p>
        </p:txBody>
      </p:sp>
      <p:sp>
        <p:nvSpPr>
          <p:cNvPr id="5" name="Slide Number Placeholder 4"/>
          <p:cNvSpPr>
            <a:spLocks noGrp="1"/>
          </p:cNvSpPr>
          <p:nvPr>
            <p:ph type="sldNum" sz="quarter" idx="12"/>
          </p:nvPr>
        </p:nvSpPr>
        <p:spPr/>
        <p:txBody>
          <a:bodyPr/>
          <a:lstStyle/>
          <a:p>
            <a:pPr>
              <a:defRPr/>
            </a:pPr>
            <a:fld id="{DE0518C9-3CC7-7448-AD05-3CB269384775}" type="slidenum">
              <a:rPr lang="en-US" smtClean="0"/>
              <a:pPr>
                <a:defRPr/>
              </a:pPr>
              <a:t>62</a:t>
            </a:fld>
            <a:endParaRPr lang="en-US" dirty="0"/>
          </a:p>
        </p:txBody>
      </p:sp>
    </p:spTree>
    <p:extLst>
      <p:ext uri="{BB962C8B-B14F-4D97-AF65-F5344CB8AC3E}">
        <p14:creationId xmlns:p14="http://schemas.microsoft.com/office/powerpoint/2010/main" val="3476730047"/>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2800" y="528638"/>
            <a:ext cx="5676900" cy="2671762"/>
          </a:xfrm>
        </p:spPr>
        <p:txBody>
          <a:bodyPr>
            <a:normAutofit/>
          </a:bodyPr>
          <a:lstStyle/>
          <a:p>
            <a:pPr algn="ctr"/>
            <a:r>
              <a:rPr lang="en-US" dirty="0" smtClean="0"/>
              <a:t>Continuous investment and raising of standards for direct service personnel</a:t>
            </a:r>
            <a:endParaRPr lang="en-US" dirty="0"/>
          </a:p>
        </p:txBody>
      </p:sp>
      <p:pic>
        <p:nvPicPr>
          <p:cNvPr id="7" name="Picture 6" descr="16socialworker460x276.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1166" y="3340100"/>
            <a:ext cx="4677833" cy="2806700"/>
          </a:xfrm>
          <a:prstGeom prst="rect">
            <a:avLst/>
          </a:prstGeom>
        </p:spPr>
      </p:pic>
      <p:sp>
        <p:nvSpPr>
          <p:cNvPr id="3" name="Slide Number Placeholder 2"/>
          <p:cNvSpPr>
            <a:spLocks noGrp="1"/>
          </p:cNvSpPr>
          <p:nvPr>
            <p:ph type="sldNum" sz="quarter" idx="12"/>
          </p:nvPr>
        </p:nvSpPr>
        <p:spPr/>
        <p:txBody>
          <a:bodyPr/>
          <a:lstStyle/>
          <a:p>
            <a:pPr>
              <a:defRPr/>
            </a:pPr>
            <a:fld id="{DE0518C9-3CC7-7448-AD05-3CB269384775}" type="slidenum">
              <a:rPr lang="en-US" smtClean="0"/>
              <a:pPr>
                <a:defRPr/>
              </a:pPr>
              <a:t>63</a:t>
            </a:fld>
            <a:endParaRPr lang="en-US" dirty="0"/>
          </a:p>
        </p:txBody>
      </p:sp>
    </p:spTree>
    <p:extLst>
      <p:ext uri="{BB962C8B-B14F-4D97-AF65-F5344CB8AC3E}">
        <p14:creationId xmlns:p14="http://schemas.microsoft.com/office/powerpoint/2010/main" val="98409458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Advocate, advocate, advocate….</a:t>
            </a:r>
            <a:endParaRPr lang="en-US" dirty="0"/>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64</a:t>
            </a:fld>
            <a:endParaRPr lang="en-US" dirty="0"/>
          </a:p>
        </p:txBody>
      </p:sp>
      <p:pic>
        <p:nvPicPr>
          <p:cNvPr id="6" name="Picture 5" descr="Legislative.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705600" y="1703883"/>
            <a:ext cx="2209800" cy="1661160"/>
          </a:xfrm>
          <a:prstGeom prst="rect">
            <a:avLst/>
          </a:prstGeom>
        </p:spPr>
      </p:pic>
      <p:pic>
        <p:nvPicPr>
          <p:cNvPr id="7" name="Picture 6" descr="Tonko.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04800" y="4588629"/>
            <a:ext cx="2998109" cy="1998739"/>
          </a:xfrm>
          <a:prstGeom prst="rect">
            <a:avLst/>
          </a:prstGeom>
        </p:spPr>
      </p:pic>
      <p:pic>
        <p:nvPicPr>
          <p:cNvPr id="3" name="Picture 2" descr="iep.mtg.sm.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5435600" y="4671059"/>
            <a:ext cx="3390900" cy="1976605"/>
          </a:xfrm>
          <a:prstGeom prst="rect">
            <a:avLst/>
          </a:prstGeom>
        </p:spPr>
      </p:pic>
      <p:pic>
        <p:nvPicPr>
          <p:cNvPr id="8" name="Picture 7" descr="13141050.jp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442608" y="2863596"/>
            <a:ext cx="2970891" cy="1725033"/>
          </a:xfrm>
          <a:prstGeom prst="rect">
            <a:avLst/>
          </a:prstGeom>
        </p:spPr>
      </p:pic>
      <p:pic>
        <p:nvPicPr>
          <p:cNvPr id="10" name="Picture 9" descr="aIMG_0079-720x340.jpg"/>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156299" y="1879144"/>
            <a:ext cx="3146610" cy="1485899"/>
          </a:xfrm>
          <a:prstGeom prst="rect">
            <a:avLst/>
          </a:prstGeom>
        </p:spPr>
      </p:pic>
    </p:spTree>
    <p:extLst>
      <p:ext uri="{BB962C8B-B14F-4D97-AF65-F5344CB8AC3E}">
        <p14:creationId xmlns:p14="http://schemas.microsoft.com/office/powerpoint/2010/main" val="208180064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276" y="245872"/>
            <a:ext cx="7499350" cy="993776"/>
          </a:xfrm>
        </p:spPr>
        <p:txBody>
          <a:bodyPr/>
          <a:lstStyle/>
          <a:p>
            <a:r>
              <a:rPr lang="en-US" b="1" dirty="0" smtClean="0"/>
              <a:t>What’s your response?</a:t>
            </a:r>
            <a:endParaRPr lang="en-US" b="1" dirty="0"/>
          </a:p>
        </p:txBody>
      </p:sp>
      <p:sp>
        <p:nvSpPr>
          <p:cNvPr id="3" name="Content Placeholder 2"/>
          <p:cNvSpPr>
            <a:spLocks noGrp="1"/>
          </p:cNvSpPr>
          <p:nvPr>
            <p:ph idx="1"/>
          </p:nvPr>
        </p:nvSpPr>
        <p:spPr>
          <a:xfrm>
            <a:off x="1905000" y="1239648"/>
            <a:ext cx="7188200" cy="5410200"/>
          </a:xfrm>
        </p:spPr>
        <p:txBody>
          <a:bodyPr>
            <a:normAutofit fontScale="92500" lnSpcReduction="20000"/>
          </a:bodyPr>
          <a:lstStyle/>
          <a:p>
            <a:pPr>
              <a:spcBef>
                <a:spcPts val="2400"/>
              </a:spcBef>
            </a:pPr>
            <a:r>
              <a:rPr lang="en-US" sz="3600" dirty="0"/>
              <a:t>D</a:t>
            </a:r>
            <a:r>
              <a:rPr lang="en-US" sz="3600" dirty="0" smtClean="0"/>
              <a:t>on’t want to work</a:t>
            </a:r>
          </a:p>
          <a:p>
            <a:pPr>
              <a:spcBef>
                <a:spcPts val="2400"/>
              </a:spcBef>
            </a:pPr>
            <a:r>
              <a:rPr lang="en-US" sz="3600" dirty="0"/>
              <a:t>O</a:t>
            </a:r>
            <a:r>
              <a:rPr lang="en-US" sz="3600" dirty="0" smtClean="0"/>
              <a:t>nly want to work a few hours</a:t>
            </a:r>
          </a:p>
          <a:p>
            <a:pPr>
              <a:spcBef>
                <a:spcPts val="2400"/>
              </a:spcBef>
            </a:pPr>
            <a:r>
              <a:rPr lang="en-US" sz="3600" dirty="0"/>
              <a:t>C</a:t>
            </a:r>
            <a:r>
              <a:rPr lang="en-US" sz="3600" dirty="0" smtClean="0"/>
              <a:t>an’t work because of benefits</a:t>
            </a:r>
          </a:p>
          <a:p>
            <a:pPr>
              <a:spcBef>
                <a:spcPts val="2400"/>
              </a:spcBef>
            </a:pPr>
            <a:r>
              <a:rPr lang="en-US" sz="3600" dirty="0"/>
              <a:t>B</a:t>
            </a:r>
            <a:r>
              <a:rPr lang="en-US" sz="3600" dirty="0" smtClean="0"/>
              <a:t>etter off in a day program</a:t>
            </a:r>
          </a:p>
          <a:p>
            <a:pPr>
              <a:spcBef>
                <a:spcPts val="2400"/>
              </a:spcBef>
            </a:pPr>
            <a:r>
              <a:rPr lang="en-US" sz="3600" dirty="0"/>
              <a:t>H</a:t>
            </a:r>
            <a:r>
              <a:rPr lang="en-US" sz="3600" dirty="0" smtClean="0"/>
              <a:t>appy in sheltered work</a:t>
            </a:r>
          </a:p>
          <a:p>
            <a:pPr>
              <a:spcBef>
                <a:spcPts val="2400"/>
              </a:spcBef>
            </a:pPr>
            <a:r>
              <a:rPr lang="en-US" sz="3600" dirty="0" smtClean="0"/>
              <a:t>Not work ready</a:t>
            </a:r>
          </a:p>
          <a:p>
            <a:pPr>
              <a:spcBef>
                <a:spcPts val="2400"/>
              </a:spcBef>
            </a:pPr>
            <a:r>
              <a:rPr lang="en-US" sz="3600" dirty="0" smtClean="0"/>
              <a:t>I don</a:t>
            </a:r>
            <a:r>
              <a:rPr lang="fr-FR" sz="3600" dirty="0" smtClean="0"/>
              <a:t>’</a:t>
            </a:r>
            <a:r>
              <a:rPr lang="en-US" sz="3600" dirty="0" smtClean="0"/>
              <a:t>t want my family member to work</a:t>
            </a:r>
          </a:p>
        </p:txBody>
      </p:sp>
      <p:pic>
        <p:nvPicPr>
          <p:cNvPr id="5" name="Picture 4" descr="MC900078622.WMF"/>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8276" y="3327400"/>
            <a:ext cx="1412724" cy="3048000"/>
          </a:xfrm>
          <a:prstGeom prst="rect">
            <a:avLst/>
          </a:prstGeom>
        </p:spPr>
      </p:pic>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65</a:t>
            </a:fld>
            <a:endParaRPr lang="en-US" dirty="0"/>
          </a:p>
        </p:txBody>
      </p:sp>
    </p:spTree>
    <p:extLst>
      <p:ext uri="{BB962C8B-B14F-4D97-AF65-F5344CB8AC3E}">
        <p14:creationId xmlns:p14="http://schemas.microsoft.com/office/powerpoint/2010/main" val="133114559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subTnLst>
                                    <p:set>
                                      <p:cBhvr override="childStyle">
                                        <p:cTn dur="1" fill="hold" display="0" masterRel="nextClick" afterEffect="1"/>
                                        <p:tgtEl>
                                          <p:spTgt spid="3">
                                            <p:txEl>
                                              <p:pRg st="0" end="0"/>
                                            </p:txEl>
                                          </p:spTgt>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subTnLst>
                                    <p:set>
                                      <p:cBhvr override="childStyle">
                                        <p:cTn dur="1" fill="hold" display="0" masterRel="nextClick" afterEffect="1"/>
                                        <p:tgtEl>
                                          <p:spTgt spid="3">
                                            <p:txEl>
                                              <p:pRg st="1" end="1"/>
                                            </p:txEl>
                                          </p:spTgt>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set>
                                      <p:cBhvr override="childStyle">
                                        <p:cTn dur="1" fill="hold" display="0" masterRel="nextClick" afterEffect="1"/>
                                        <p:tgtEl>
                                          <p:spTgt spid="3">
                                            <p:txEl>
                                              <p:pRg st="2" end="2"/>
                                            </p:txEl>
                                          </p:spTgt>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subTnLst>
                                    <p:set>
                                      <p:cBhvr override="childStyle">
                                        <p:cTn dur="1" fill="hold" display="0" masterRel="nextClick" afterEffect="1"/>
                                        <p:tgtEl>
                                          <p:spTgt spid="3">
                                            <p:txEl>
                                              <p:pRg st="3" end="3"/>
                                            </p:txEl>
                                          </p:spTgt>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subTnLst>
                                    <p:set>
                                      <p:cBhvr override="childStyle">
                                        <p:cTn dur="1" fill="hold" display="0" masterRel="nextClick" afterEffect="1"/>
                                        <p:tgtEl>
                                          <p:spTgt spid="3">
                                            <p:txEl>
                                              <p:pRg st="4" end="4"/>
                                            </p:txEl>
                                          </p:spTgt>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subTnLst>
                                    <p:set>
                                      <p:cBhvr override="childStyle">
                                        <p:cTn dur="1" fill="hold" display="0" masterRel="nextClick" afterEffect="1"/>
                                        <p:tgtEl>
                                          <p:spTgt spid="3">
                                            <p:txEl>
                                              <p:pRg st="5" end="5"/>
                                            </p:txEl>
                                          </p:spTgt>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650" y="187328"/>
            <a:ext cx="7499350" cy="993776"/>
          </a:xfrm>
        </p:spPr>
        <p:txBody>
          <a:bodyPr/>
          <a:lstStyle/>
          <a:p>
            <a:r>
              <a:rPr lang="en-US" b="1" dirty="0" smtClean="0"/>
              <a:t>What’s your response?</a:t>
            </a:r>
            <a:endParaRPr lang="en-US" b="1" dirty="0"/>
          </a:p>
        </p:txBody>
      </p:sp>
      <p:sp>
        <p:nvSpPr>
          <p:cNvPr id="3" name="Content Placeholder 2"/>
          <p:cNvSpPr>
            <a:spLocks noGrp="1"/>
          </p:cNvSpPr>
          <p:nvPr>
            <p:ph idx="1"/>
          </p:nvPr>
        </p:nvSpPr>
        <p:spPr>
          <a:xfrm>
            <a:off x="952500" y="1038228"/>
            <a:ext cx="8001000" cy="5527672"/>
          </a:xfrm>
        </p:spPr>
        <p:txBody>
          <a:bodyPr>
            <a:normAutofit fontScale="92500"/>
          </a:bodyPr>
          <a:lstStyle/>
          <a:p>
            <a:r>
              <a:rPr lang="en-US" sz="3600" dirty="0" smtClean="0"/>
              <a:t>Not appropriate for employment</a:t>
            </a:r>
          </a:p>
          <a:p>
            <a:pPr>
              <a:spcBef>
                <a:spcPts val="1800"/>
              </a:spcBef>
            </a:pPr>
            <a:r>
              <a:rPr lang="en-US" sz="3600" dirty="0" smtClean="0"/>
              <a:t>Service provider: let’s start a business</a:t>
            </a:r>
          </a:p>
          <a:p>
            <a:pPr>
              <a:spcBef>
                <a:spcPts val="1800"/>
              </a:spcBef>
            </a:pPr>
            <a:r>
              <a:rPr lang="en-US" sz="3600" dirty="0" smtClean="0"/>
              <a:t>Let’s create an enclave</a:t>
            </a:r>
          </a:p>
          <a:p>
            <a:pPr>
              <a:spcBef>
                <a:spcPts val="1800"/>
              </a:spcBef>
            </a:pPr>
            <a:r>
              <a:rPr lang="en-US" sz="3600" dirty="0"/>
              <a:t>N</a:t>
            </a:r>
            <a:r>
              <a:rPr lang="en-US" sz="3600" dirty="0" smtClean="0"/>
              <a:t>o jobs</a:t>
            </a:r>
          </a:p>
          <a:p>
            <a:pPr>
              <a:spcBef>
                <a:spcPts val="1800"/>
              </a:spcBef>
            </a:pPr>
            <a:r>
              <a:rPr lang="en-US" sz="3600" dirty="0" smtClean="0"/>
              <a:t>Business:  We have no openings</a:t>
            </a:r>
          </a:p>
          <a:p>
            <a:pPr>
              <a:spcBef>
                <a:spcPts val="1800"/>
              </a:spcBef>
            </a:pPr>
            <a:r>
              <a:rPr lang="en-US" sz="3600" dirty="0" smtClean="0"/>
              <a:t>Service system:</a:t>
            </a:r>
            <a:br>
              <a:rPr lang="en-US" sz="3600" dirty="0" smtClean="0"/>
            </a:br>
            <a:r>
              <a:rPr lang="en-US" sz="3600" dirty="0" smtClean="0"/>
              <a:t>provider not finding jobs</a:t>
            </a:r>
          </a:p>
          <a:p>
            <a:pPr>
              <a:spcBef>
                <a:spcPts val="1800"/>
              </a:spcBef>
            </a:pPr>
            <a:r>
              <a:rPr lang="en-US" sz="3600" dirty="0" smtClean="0"/>
              <a:t>Too disabled to work</a:t>
            </a:r>
          </a:p>
          <a:p>
            <a:endParaRPr lang="en-US" dirty="0"/>
          </a:p>
        </p:txBody>
      </p:sp>
      <p:pic>
        <p:nvPicPr>
          <p:cNvPr id="7" name="Picture 6" descr="MC900078711.WMF"/>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894934" y="3873500"/>
            <a:ext cx="1103016" cy="2692400"/>
          </a:xfrm>
          <a:prstGeom prst="rect">
            <a:avLst/>
          </a:prstGeom>
        </p:spPr>
      </p:pic>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66</a:t>
            </a:fld>
            <a:endParaRPr lang="en-US" dirty="0"/>
          </a:p>
        </p:txBody>
      </p:sp>
    </p:spTree>
    <p:extLst>
      <p:ext uri="{BB962C8B-B14F-4D97-AF65-F5344CB8AC3E}">
        <p14:creationId xmlns:p14="http://schemas.microsoft.com/office/powerpoint/2010/main" val="62896542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subTnLst>
                                    <p:set>
                                      <p:cBhvr override="childStyle">
                                        <p:cTn dur="1" fill="hold" display="0" masterRel="nextClick" afterEffect="1"/>
                                        <p:tgtEl>
                                          <p:spTgt spid="3">
                                            <p:txEl>
                                              <p:pRg st="0" end="0"/>
                                            </p:txEl>
                                          </p:spTgt>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subTnLst>
                                    <p:set>
                                      <p:cBhvr override="childStyle">
                                        <p:cTn dur="1" fill="hold" display="0" masterRel="nextClick" afterEffect="1"/>
                                        <p:tgtEl>
                                          <p:spTgt spid="3">
                                            <p:txEl>
                                              <p:pRg st="1" end="1"/>
                                            </p:txEl>
                                          </p:spTgt>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set>
                                      <p:cBhvr override="childStyle">
                                        <p:cTn dur="1" fill="hold" display="0" masterRel="nextClick" afterEffect="1"/>
                                        <p:tgtEl>
                                          <p:spTgt spid="3">
                                            <p:txEl>
                                              <p:pRg st="2" end="2"/>
                                            </p:txEl>
                                          </p:spTgt>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subTnLst>
                                    <p:set>
                                      <p:cBhvr override="childStyle">
                                        <p:cTn dur="1" fill="hold" display="0" masterRel="nextClick" afterEffect="1"/>
                                        <p:tgtEl>
                                          <p:spTgt spid="3">
                                            <p:txEl>
                                              <p:pRg st="3" end="3"/>
                                            </p:txEl>
                                          </p:spTgt>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subTnLst>
                                    <p:set>
                                      <p:cBhvr override="childStyle">
                                        <p:cTn dur="1" fill="hold" display="0" masterRel="nextClick" afterEffect="1"/>
                                        <p:tgtEl>
                                          <p:spTgt spid="3">
                                            <p:txEl>
                                              <p:pRg st="4" end="4"/>
                                            </p:txEl>
                                          </p:spTgt>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subTnLst>
                                    <p:set>
                                      <p:cBhvr override="childStyle">
                                        <p:cTn dur="1" fill="hold" display="0" masterRel="nextClick" afterEffect="1"/>
                                        <p:tgtEl>
                                          <p:spTgt spid="3">
                                            <p:txEl>
                                              <p:pRg st="5" end="5"/>
                                            </p:txEl>
                                          </p:spTgt>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863600" y="469900"/>
            <a:ext cx="7620000" cy="4483100"/>
          </a:xfrm>
          <a:solidFill>
            <a:srgbClr val="0000FF"/>
          </a:solidFill>
          <a:scene3d>
            <a:camera prst="orthographicFront"/>
            <a:lightRig rig="threePt" dir="t"/>
          </a:scene3d>
          <a:sp3d>
            <a:bevelT w="139700" h="139700" prst="divot"/>
          </a:sp3d>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eaLnBrk="1" hangingPunct="1">
              <a:lnSpc>
                <a:spcPts val="4260"/>
              </a:lnSpc>
              <a:defRPr/>
            </a:pPr>
            <a:r>
              <a:rPr lang="ja-JP" altLang="en-US" sz="2800" b="0" i="1" dirty="0" smtClean="0">
                <a:solidFill>
                  <a:schemeClr val="bg1"/>
                </a:solidFill>
                <a:latin typeface="Arial"/>
                <a:cs typeface="Arial Narrow"/>
              </a:rPr>
              <a:t>“</a:t>
            </a:r>
            <a:r>
              <a:rPr lang="en-US" altLang="ja-JP" sz="2800" dirty="0" smtClean="0">
                <a:solidFill>
                  <a:schemeClr val="bg1"/>
                </a:solidFill>
                <a:latin typeface="Arial"/>
                <a:cs typeface="Arial Narrow"/>
              </a:rPr>
              <a:t>What drives me up the wall is the intentional teaching of</a:t>
            </a:r>
            <a:br>
              <a:rPr lang="en-US" altLang="ja-JP" sz="2800" dirty="0" smtClean="0">
                <a:solidFill>
                  <a:schemeClr val="bg1"/>
                </a:solidFill>
                <a:latin typeface="Arial"/>
                <a:cs typeface="Arial Narrow"/>
              </a:rPr>
            </a:br>
            <a:r>
              <a:rPr lang="en-US" altLang="ja-JP" sz="2800" dirty="0" smtClean="0">
                <a:solidFill>
                  <a:schemeClr val="bg1"/>
                </a:solidFill>
                <a:latin typeface="Arial"/>
                <a:cs typeface="Arial Narrow"/>
              </a:rPr>
              <a:t>fear of having any kind of meaningful life because ‘You will decompensate’ or</a:t>
            </a:r>
            <a:br>
              <a:rPr lang="en-US" altLang="ja-JP" sz="2800" dirty="0" smtClean="0">
                <a:solidFill>
                  <a:schemeClr val="bg1"/>
                </a:solidFill>
                <a:latin typeface="Arial"/>
                <a:cs typeface="Arial Narrow"/>
              </a:rPr>
            </a:br>
            <a:r>
              <a:rPr lang="en-US" altLang="ja-JP" sz="2800" dirty="0" smtClean="0">
                <a:solidFill>
                  <a:schemeClr val="bg1"/>
                </a:solidFill>
                <a:latin typeface="Arial"/>
                <a:cs typeface="Arial Narrow"/>
              </a:rPr>
              <a:t>‘You are stress sensitive’.</a:t>
            </a:r>
            <a:br>
              <a:rPr lang="en-US" altLang="ja-JP" sz="2800" dirty="0" smtClean="0">
                <a:solidFill>
                  <a:schemeClr val="bg1"/>
                </a:solidFill>
                <a:latin typeface="Arial"/>
                <a:cs typeface="Arial Narrow"/>
              </a:rPr>
            </a:br>
            <a:r>
              <a:rPr lang="en-US" altLang="ja-JP" sz="2800" dirty="0" smtClean="0">
                <a:solidFill>
                  <a:schemeClr val="bg1"/>
                </a:solidFill>
                <a:latin typeface="Arial"/>
                <a:cs typeface="Arial Narrow"/>
              </a:rPr>
              <a:t>The most stressful thing in the world is being a couch potato with nothing to do, nowhere to go, and no one to talk to.”</a:t>
            </a:r>
            <a:endParaRPr lang="en-US" sz="2800" dirty="0" smtClean="0">
              <a:solidFill>
                <a:schemeClr val="bg1"/>
              </a:solidFill>
              <a:latin typeface="Arial"/>
              <a:cs typeface="Arial Narrow"/>
            </a:endParaRPr>
          </a:p>
        </p:txBody>
      </p:sp>
      <p:sp>
        <p:nvSpPr>
          <p:cNvPr id="5124" name="TextBox 1"/>
          <p:cNvSpPr txBox="1">
            <a:spLocks noChangeArrowheads="1"/>
          </p:cNvSpPr>
          <p:nvPr/>
        </p:nvSpPr>
        <p:spPr bwMode="auto">
          <a:xfrm>
            <a:off x="5816600" y="5778500"/>
            <a:ext cx="289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buFont typeface="Arial" charset="0"/>
              <a:buChar char="•"/>
            </a:pPr>
            <a:r>
              <a:rPr lang="en-US" i="1" dirty="0"/>
              <a:t>Ed Knight, Ph.D.</a:t>
            </a:r>
          </a:p>
        </p:txBody>
      </p:sp>
      <p:pic>
        <p:nvPicPr>
          <p:cNvPr id="5125" name="Picture 2" descr="image_mini.jpe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572000" y="5092700"/>
            <a:ext cx="101758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DE0518C9-3CC7-7448-AD05-3CB269384775}" type="slidenum">
              <a:rPr lang="en-US" smtClean="0"/>
              <a:pPr>
                <a:defRPr/>
              </a:pPr>
              <a:t>67</a:t>
            </a:fld>
            <a:endParaRPr lang="en-US" dirty="0"/>
          </a:p>
        </p:txBody>
      </p:sp>
    </p:spTree>
    <p:extLst>
      <p:ext uri="{BB962C8B-B14F-4D97-AF65-F5344CB8AC3E}">
        <p14:creationId xmlns:p14="http://schemas.microsoft.com/office/powerpoint/2010/main" val="354238615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68</a:t>
            </a:fld>
            <a:endParaRPr lang="en-US" dirty="0"/>
          </a:p>
        </p:txBody>
      </p:sp>
      <p:pic>
        <p:nvPicPr>
          <p:cNvPr id="5" name="Picture 4" descr="busniess_man_telescope_800_wht_12212.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397183" y="1701730"/>
            <a:ext cx="3276410" cy="4622800"/>
          </a:xfrm>
          <a:prstGeom prst="rect">
            <a:avLst/>
          </a:prstGeom>
        </p:spPr>
      </p:pic>
      <p:pic>
        <p:nvPicPr>
          <p:cNvPr id="6" name="Picture 5" descr="crystal_ball_fortune_800_wht_5900.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28600" y="347472"/>
            <a:ext cx="2405588" cy="3665658"/>
          </a:xfrm>
          <a:prstGeom prst="rect">
            <a:avLst/>
          </a:prstGeom>
        </p:spPr>
      </p:pic>
      <p:sp>
        <p:nvSpPr>
          <p:cNvPr id="7" name="TextBox 6"/>
          <p:cNvSpPr txBox="1"/>
          <p:nvPr/>
        </p:nvSpPr>
        <p:spPr>
          <a:xfrm>
            <a:off x="622300" y="825500"/>
            <a:ext cx="1739900" cy="1200328"/>
          </a:xfrm>
          <a:prstGeom prst="rect">
            <a:avLst/>
          </a:prstGeom>
          <a:noFill/>
        </p:spPr>
        <p:txBody>
          <a:bodyPr wrap="square" rtlCol="0">
            <a:spAutoFit/>
          </a:bodyPr>
          <a:lstStyle/>
          <a:p>
            <a:pPr algn="ctr"/>
            <a:r>
              <a:rPr lang="en-US" sz="2400" dirty="0" smtClean="0">
                <a:solidFill>
                  <a:srgbClr val="FFFF00"/>
                </a:solidFill>
              </a:rPr>
              <a:t>Future of Employment First</a:t>
            </a:r>
            <a:endParaRPr lang="en-US" sz="2400" dirty="0">
              <a:solidFill>
                <a:srgbClr val="FFFF00"/>
              </a:solidFill>
            </a:endParaRPr>
          </a:p>
        </p:txBody>
      </p:sp>
      <p:pic>
        <p:nvPicPr>
          <p:cNvPr id="8" name="Picture 7" descr="custom_text_gap_12244.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06412" y="4406900"/>
            <a:ext cx="4361388" cy="2451100"/>
          </a:xfrm>
          <a:prstGeom prst="rect">
            <a:avLst/>
          </a:prstGeom>
        </p:spPr>
      </p:pic>
      <p:sp>
        <p:nvSpPr>
          <p:cNvPr id="10" name="Rectangle 9"/>
          <p:cNvSpPr/>
          <p:nvPr/>
        </p:nvSpPr>
        <p:spPr>
          <a:xfrm>
            <a:off x="4035388" y="935335"/>
            <a:ext cx="4756230" cy="923330"/>
          </a:xfrm>
          <a:prstGeom prst="rect">
            <a:avLst/>
          </a:prstGeom>
          <a:noFill/>
          <a:scene3d>
            <a:camera prst="isometricOffAxis2Left"/>
            <a:lightRig rig="threePt" dir="t"/>
          </a:scene3d>
        </p:spPr>
        <p:txBody>
          <a:bodyPr wrap="none" lIns="91440" tIns="45720" rIns="91440" bIns="45720">
            <a:spAutoFit/>
          </a:bodyPr>
          <a:lstStyle/>
          <a:p>
            <a:pPr algn="ctr"/>
            <a:r>
              <a:rPr lang="en-US" sz="5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Opportunities</a:t>
            </a:r>
            <a:endPar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214711551"/>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APPS:</a:t>
            </a:r>
            <a:br>
              <a:rPr lang="en-US" b="1" dirty="0" smtClean="0"/>
            </a:br>
            <a:r>
              <a:rPr lang="en-US" dirty="0" smtClean="0"/>
              <a:t>The New Revolution in Job Supports</a:t>
            </a:r>
            <a:endParaRPr lang="en-US" dirty="0"/>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69</a:t>
            </a:fld>
            <a:endParaRPr lang="en-US" dirty="0"/>
          </a:p>
        </p:txBody>
      </p:sp>
      <p:pic>
        <p:nvPicPr>
          <p:cNvPr id="5" name="Picture 4" descr="mobile-apps-pile-ss-1920.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143500" y="2197099"/>
            <a:ext cx="3124200" cy="1757363"/>
          </a:xfrm>
          <a:prstGeom prst="rect">
            <a:avLst/>
          </a:prstGeom>
        </p:spPr>
      </p:pic>
      <p:pic>
        <p:nvPicPr>
          <p:cNvPr id="6" name="Picture 5" descr="smartphones.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96848" y="3581399"/>
            <a:ext cx="3492504" cy="2222501"/>
          </a:xfrm>
          <a:prstGeom prst="rect">
            <a:avLst/>
          </a:prstGeom>
        </p:spPr>
      </p:pic>
    </p:spTree>
    <p:extLst>
      <p:ext uri="{BB962C8B-B14F-4D97-AF65-F5344CB8AC3E}">
        <p14:creationId xmlns:p14="http://schemas.microsoft.com/office/powerpoint/2010/main" val="2049025207"/>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“Pro-Employment”</a:t>
            </a:r>
            <a:r>
              <a:rPr lang="en-US" dirty="0"/>
              <a:t> </a:t>
            </a:r>
            <a:r>
              <a:rPr lang="en-US" dirty="0" smtClean="0"/>
              <a:t>Benefits Counseling </a:t>
            </a:r>
            <a:r>
              <a:rPr lang="en-US" b="1" dirty="0" smtClean="0"/>
              <a:t>on Demand</a:t>
            </a:r>
            <a:endParaRPr lang="en-US" b="1" dirty="0"/>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70</a:t>
            </a:fld>
            <a:endParaRPr lang="en-US" dirty="0"/>
          </a:p>
        </p:txBody>
      </p:sp>
      <p:pic>
        <p:nvPicPr>
          <p:cNvPr id="5" name="Picture 1" descr="MC900060144.WM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4762716"/>
            <a:ext cx="2120900" cy="1482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SSA_3_Biggest_Myths_Flyer-Final-2.pdf"/>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672945" y="2450720"/>
            <a:ext cx="2511955" cy="325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MPj04223920000[1]"/>
          <p:cNvPicPr>
            <a:picLocks noChangeAspect="1" noChangeArrowheads="1"/>
          </p:cNvPicPr>
          <p:nvPr/>
        </p:nvPicPr>
        <p:blipFill>
          <a:blip r:embed="rId4" cstate="print"/>
          <a:srcRect/>
          <a:stretch>
            <a:fillRect/>
          </a:stretch>
        </p:blipFill>
        <p:spPr>
          <a:xfrm rot="5400000">
            <a:off x="683245" y="1546844"/>
            <a:ext cx="1364010" cy="2044700"/>
          </a:xfrm>
          <a:prstGeom prst="rect">
            <a:avLst/>
          </a:prstGeom>
        </p:spPr>
      </p:pic>
      <p:pic>
        <p:nvPicPr>
          <p:cNvPr id="9" name="Picture 4" descr="Unknown-1.jpeg"/>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1365250" y="3402419"/>
            <a:ext cx="2044700" cy="1531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Unknown-6.jpeg"/>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342900" y="5010150"/>
            <a:ext cx="19558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p:cNvPicPr>
            <a:picLocks noChangeAspect="1"/>
          </p:cNvPicPr>
          <p:nvPr/>
        </p:nvPicPr>
        <p:blipFill>
          <a:blip r:embed="rId7"/>
          <a:stretch>
            <a:fillRect/>
          </a:stretch>
        </p:blipFill>
        <p:spPr>
          <a:xfrm>
            <a:off x="6449269" y="2945316"/>
            <a:ext cx="2341462" cy="1541463"/>
          </a:xfrm>
          <a:prstGeom prst="rect">
            <a:avLst/>
          </a:prstGeom>
        </p:spPr>
      </p:pic>
      <p:pic>
        <p:nvPicPr>
          <p:cNvPr id="13" name="Picture 2" descr="MC900433861-1.PNG"/>
          <p:cNvPicPr>
            <a:picLocks noChangeAspect="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7016750" y="1573008"/>
            <a:ext cx="12065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0704327"/>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200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889250"/>
            <a:ext cx="8229600" cy="990600"/>
          </a:xfrm>
        </p:spPr>
        <p:txBody>
          <a:bodyPr>
            <a:normAutofit fontScale="90000"/>
          </a:bodyPr>
          <a:lstStyle/>
          <a:p>
            <a:pPr algn="ctr"/>
            <a:r>
              <a:rPr lang="en-US" dirty="0" smtClean="0"/>
              <a:t>Expand Boundaries of Industry-Based Credential Training for Skill Enhancement</a:t>
            </a:r>
            <a:endParaRPr lang="en-US" dirty="0"/>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71</a:t>
            </a:fld>
            <a:endParaRPr lang="en-US" dirty="0"/>
          </a:p>
        </p:txBody>
      </p:sp>
      <p:pic>
        <p:nvPicPr>
          <p:cNvPr id="5" name="Picture 4" descr="Classroom-Landing-Combo-Pic.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107267" y="552450"/>
            <a:ext cx="2861733" cy="2146300"/>
          </a:xfrm>
          <a:prstGeom prst="rect">
            <a:avLst/>
          </a:prstGeom>
        </p:spPr>
      </p:pic>
      <p:pic>
        <p:nvPicPr>
          <p:cNvPr id="7" name="Picture 6" descr="handywoman_jack_of_all_trades_800_wht_17789.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46050" y="4381500"/>
            <a:ext cx="1581150" cy="2108200"/>
          </a:xfrm>
          <a:prstGeom prst="rect">
            <a:avLst/>
          </a:prstGeom>
        </p:spPr>
      </p:pic>
      <p:pic>
        <p:nvPicPr>
          <p:cNvPr id="8" name="Picture 7" descr="too_many_cooks_800_wht_5294.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7073900" y="4273550"/>
            <a:ext cx="1612900" cy="1612900"/>
          </a:xfrm>
          <a:prstGeom prst="rect">
            <a:avLst/>
          </a:prstGeom>
        </p:spPr>
      </p:pic>
      <p:pic>
        <p:nvPicPr>
          <p:cNvPr id="9" name="Picture 8" descr="mechanic_tire_tools_800_wht_4824.jp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876800" y="4927600"/>
            <a:ext cx="1651000" cy="1651000"/>
          </a:xfrm>
          <a:prstGeom prst="rect">
            <a:avLst/>
          </a:prstGeom>
        </p:spPr>
      </p:pic>
      <p:pic>
        <p:nvPicPr>
          <p:cNvPr id="10" name="Picture 9" descr="female_nurse_arms_folded_800_wht_17725.jpg"/>
          <p:cNvPicPr>
            <a:picLocks noChangeAspect="1"/>
          </p:cNvPicPr>
          <p:nvPr/>
        </p:nvPicPr>
        <p:blipFill rotWithShape="1">
          <a:blip r:embed="rId6" cstate="email">
            <a:extLst>
              <a:ext uri="{28A0092B-C50C-407E-A947-70E740481C1C}">
                <a14:useLocalDpi xmlns:a14="http://schemas.microsoft.com/office/drawing/2010/main" val="0"/>
              </a:ext>
            </a:extLst>
          </a:blip>
          <a:srcRect b="58240"/>
          <a:stretch/>
        </p:blipFill>
        <p:spPr>
          <a:xfrm>
            <a:off x="2685772" y="4381500"/>
            <a:ext cx="1670328" cy="1971812"/>
          </a:xfrm>
          <a:prstGeom prst="rect">
            <a:avLst/>
          </a:prstGeom>
        </p:spPr>
      </p:pic>
    </p:spTree>
    <p:extLst>
      <p:ext uri="{BB962C8B-B14F-4D97-AF65-F5344CB8AC3E}">
        <p14:creationId xmlns:p14="http://schemas.microsoft.com/office/powerpoint/2010/main" val="1770785038"/>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558800"/>
            <a:ext cx="8229600" cy="685800"/>
          </a:xfrm>
        </p:spPr>
        <p:txBody>
          <a:bodyPr>
            <a:normAutofit fontScale="90000"/>
          </a:bodyPr>
          <a:lstStyle/>
          <a:p>
            <a:r>
              <a:rPr lang="en-US" dirty="0" smtClean="0"/>
              <a:t>New support models: </a:t>
            </a:r>
            <a:br>
              <a:rPr lang="en-US" dirty="0" smtClean="0"/>
            </a:br>
            <a:endParaRPr lang="en-US" dirty="0"/>
          </a:p>
        </p:txBody>
      </p:sp>
      <p:sp>
        <p:nvSpPr>
          <p:cNvPr id="3" name="Content Placeholder 2"/>
          <p:cNvSpPr>
            <a:spLocks noGrp="1"/>
          </p:cNvSpPr>
          <p:nvPr>
            <p:ph idx="1"/>
          </p:nvPr>
        </p:nvSpPr>
        <p:spPr>
          <a:xfrm>
            <a:off x="457200" y="1079500"/>
            <a:ext cx="6731000" cy="4876800"/>
          </a:xfrm>
        </p:spPr>
        <p:txBody>
          <a:bodyPr/>
          <a:lstStyle/>
          <a:p>
            <a:r>
              <a:rPr lang="en-US" dirty="0" smtClean="0"/>
              <a:t>Embedded job coaches</a:t>
            </a:r>
            <a:br>
              <a:rPr lang="en-US" dirty="0" smtClean="0"/>
            </a:br>
            <a:endParaRPr lang="en-US" dirty="0" smtClean="0"/>
          </a:p>
          <a:p>
            <a:r>
              <a:rPr lang="en-US" dirty="0" smtClean="0"/>
              <a:t>Compensating employers for supports</a:t>
            </a:r>
            <a:endParaRPr lang="en-US" dirty="0"/>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72</a:t>
            </a:fld>
            <a:endParaRPr lang="en-US" dirty="0"/>
          </a:p>
        </p:txBody>
      </p:sp>
      <p:pic>
        <p:nvPicPr>
          <p:cNvPr id="5" name="Picture 4" descr="submin2-work-v2-art0-gnqcnq8a-1submin-10-crr4-jpg.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0745" y="2764542"/>
            <a:ext cx="5750455" cy="3663168"/>
          </a:xfrm>
          <a:prstGeom prst="rect">
            <a:avLst/>
          </a:prstGeom>
        </p:spPr>
      </p:pic>
    </p:spTree>
    <p:extLst>
      <p:ext uri="{BB962C8B-B14F-4D97-AF65-F5344CB8AC3E}">
        <p14:creationId xmlns:p14="http://schemas.microsoft.com/office/powerpoint/2010/main" val="1480021410"/>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89100"/>
            <a:ext cx="8229600" cy="990600"/>
          </a:xfrm>
        </p:spPr>
        <p:txBody>
          <a:bodyPr>
            <a:normAutofit fontScale="90000"/>
          </a:bodyPr>
          <a:lstStyle/>
          <a:p>
            <a:pPr algn="ctr"/>
            <a:r>
              <a:rPr lang="en-US" b="1" dirty="0" smtClean="0"/>
              <a:t>WIOA:</a:t>
            </a:r>
            <a:br>
              <a:rPr lang="en-US" b="1" dirty="0" smtClean="0"/>
            </a:br>
            <a:r>
              <a:rPr lang="en-US" dirty="0" smtClean="0"/>
              <a:t>Workforce Innovation and Opportunity Act</a:t>
            </a:r>
            <a:endParaRPr lang="en-US" dirty="0"/>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73</a:t>
            </a:fld>
            <a:endParaRPr lang="en-US" dirty="0"/>
          </a:p>
        </p:txBody>
      </p:sp>
      <p:pic>
        <p:nvPicPr>
          <p:cNvPr id="5" name="Picture 4" descr="slider-wioa.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0000" y="3225799"/>
            <a:ext cx="4394200" cy="3315727"/>
          </a:xfrm>
          <a:prstGeom prst="rect">
            <a:avLst/>
          </a:prstGeom>
        </p:spPr>
      </p:pic>
    </p:spTree>
    <p:extLst>
      <p:ext uri="{BB962C8B-B14F-4D97-AF65-F5344CB8AC3E}">
        <p14:creationId xmlns:p14="http://schemas.microsoft.com/office/powerpoint/2010/main" val="1648427413"/>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bridge_of_uncertainty_800_clr_19669.png"/>
          <p:cNvPicPr>
            <a:picLocks noGrp="1" noChangeAspect="1"/>
          </p:cNvPicPr>
          <p:nvPr>
            <p:ph idx="1"/>
          </p:nvPr>
        </p:nvPicPr>
        <p:blipFill>
          <a:blip r:embed="rId2" cstate="email">
            <a:extLst>
              <a:ext uri="{28A0092B-C50C-407E-A947-70E740481C1C}">
                <a14:useLocalDpi xmlns:a14="http://schemas.microsoft.com/office/drawing/2010/main" val="0"/>
              </a:ext>
            </a:extLst>
          </a:blip>
          <a:srcRect t="1115" b="1115"/>
          <a:stretch>
            <a:fillRect/>
          </a:stretch>
        </p:blipFill>
        <p:spPr>
          <a:xfrm>
            <a:off x="3225800" y="3342739"/>
            <a:ext cx="5699056" cy="3134261"/>
          </a:xfrm>
        </p:spPr>
      </p:pic>
      <p:pic>
        <p:nvPicPr>
          <p:cNvPr id="6" name="Picture 5" descr="US_Capitol_from_NW.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15899" y="520699"/>
            <a:ext cx="3657601" cy="2743201"/>
          </a:xfrm>
          <a:prstGeom prst="rect">
            <a:avLst/>
          </a:prstGeom>
        </p:spPr>
      </p:pic>
    </p:spTree>
    <p:extLst>
      <p:ext uri="{BB962C8B-B14F-4D97-AF65-F5344CB8AC3E}">
        <p14:creationId xmlns:p14="http://schemas.microsoft.com/office/powerpoint/2010/main" val="1070794982"/>
      </p:ext>
    </p:extLst>
  </p:cSld>
  <p:clrMapOvr>
    <a:masterClrMapping/>
  </p:clrMapOvr>
  <p:transition xmlns:p14="http://schemas.microsoft.com/office/powerpoint/2010/main" spd="slow" advTm="20476">
    <p:wipe/>
  </p:transition>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75</a:t>
            </a:fld>
            <a:endParaRPr lang="en-US" dirty="0"/>
          </a:p>
        </p:txBody>
      </p:sp>
      <p:pic>
        <p:nvPicPr>
          <p:cNvPr id="5" name="Picture 4" descr="medicaid-logo-1.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912013" y="898681"/>
            <a:ext cx="5389070" cy="3034182"/>
          </a:xfrm>
          <a:prstGeom prst="rect">
            <a:avLst/>
          </a:prstGeom>
        </p:spPr>
      </p:pic>
      <p:pic>
        <p:nvPicPr>
          <p:cNvPr id="6" name="Picture 5"/>
          <p:cNvPicPr>
            <a:picLocks noChangeAspect="1"/>
          </p:cNvPicPr>
          <p:nvPr/>
        </p:nvPicPr>
        <p:blipFill>
          <a:blip r:embed="rId3"/>
          <a:stretch>
            <a:fillRect/>
          </a:stretch>
        </p:blipFill>
        <p:spPr>
          <a:xfrm>
            <a:off x="2933700" y="3822700"/>
            <a:ext cx="3657600" cy="2609088"/>
          </a:xfrm>
          <a:prstGeom prst="rect">
            <a:avLst/>
          </a:prstGeom>
        </p:spPr>
      </p:pic>
    </p:spTree>
    <p:extLst>
      <p:ext uri="{BB962C8B-B14F-4D97-AF65-F5344CB8AC3E}">
        <p14:creationId xmlns:p14="http://schemas.microsoft.com/office/powerpoint/2010/main" val="3271473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76</a:t>
            </a:fld>
            <a:endParaRPr lang="en-US" dirty="0"/>
          </a:p>
        </p:txBody>
      </p:sp>
      <p:pic>
        <p:nvPicPr>
          <p:cNvPr id="5" name="Picture 4" descr="scribbles_pointing_at_board_20189.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2800" y="1072260"/>
            <a:ext cx="7195113" cy="5684139"/>
          </a:xfrm>
          <a:prstGeom prst="rect">
            <a:avLst/>
          </a:prstGeom>
        </p:spPr>
      </p:pic>
    </p:spTree>
    <p:extLst>
      <p:ext uri="{BB962C8B-B14F-4D97-AF65-F5344CB8AC3E}">
        <p14:creationId xmlns:p14="http://schemas.microsoft.com/office/powerpoint/2010/main" val="319051227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ctrTitle" idx="4294967295"/>
          </p:nvPr>
        </p:nvSpPr>
        <p:spPr>
          <a:xfrm>
            <a:off x="685800" y="609600"/>
            <a:ext cx="7924800" cy="3429000"/>
          </a:xfrm>
          <a:effectLst>
            <a:glow rad="139700">
              <a:schemeClr val="accent3">
                <a:satMod val="175000"/>
                <a:alpha val="40000"/>
              </a:schemeClr>
            </a:glow>
            <a:outerShdw blurRad="38100" dist="25400" dir="2700000" algn="br" rotWithShape="0">
              <a:srgbClr val="000000">
                <a:alpha val="60000"/>
              </a:srgbClr>
            </a:outerShdw>
          </a:effectLst>
          <a:scene3d>
            <a:camera prst="orthographicFront"/>
            <a:lightRig rig="threePt" dir="t"/>
          </a:scene3d>
          <a:sp3d>
            <a:bevelT w="139700" h="139700" prst="divot"/>
          </a:sp3d>
        </p:spPr>
        <p:style>
          <a:lnRef idx="1">
            <a:schemeClr val="accent6"/>
          </a:lnRef>
          <a:fillRef idx="3">
            <a:schemeClr val="accent6"/>
          </a:fillRef>
          <a:effectRef idx="2">
            <a:schemeClr val="accent6"/>
          </a:effectRef>
          <a:fontRef idx="minor">
            <a:schemeClr val="lt1"/>
          </a:fontRef>
        </p:style>
        <p:txBody>
          <a:bodyPr/>
          <a:lstStyle/>
          <a:p>
            <a:pPr algn="ctr"/>
            <a:r>
              <a:rPr lang="en-US" sz="4900" dirty="0" smtClean="0">
                <a:solidFill>
                  <a:schemeClr val="bg1"/>
                </a:solidFill>
              </a:rPr>
              <a:t>“Be yourself.</a:t>
            </a:r>
            <a:br>
              <a:rPr lang="en-US" sz="4900" dirty="0" smtClean="0">
                <a:solidFill>
                  <a:schemeClr val="bg1"/>
                </a:solidFill>
              </a:rPr>
            </a:br>
            <a:r>
              <a:rPr lang="en-US" sz="4900" dirty="0" smtClean="0">
                <a:solidFill>
                  <a:schemeClr val="bg1"/>
                </a:solidFill>
              </a:rPr>
              <a:t>Everyone else</a:t>
            </a:r>
            <a:br>
              <a:rPr lang="en-US" sz="4900" dirty="0" smtClean="0">
                <a:solidFill>
                  <a:schemeClr val="bg1"/>
                </a:solidFill>
              </a:rPr>
            </a:br>
            <a:r>
              <a:rPr lang="en-US" sz="4900" dirty="0" smtClean="0">
                <a:solidFill>
                  <a:schemeClr val="bg1"/>
                </a:solidFill>
              </a:rPr>
              <a:t>is already taken.”</a:t>
            </a:r>
            <a:endParaRPr lang="en-US" sz="4900" dirty="0">
              <a:solidFill>
                <a:schemeClr val="bg1"/>
              </a:solidFill>
              <a:latin typeface="Capitals" charset="0"/>
            </a:endParaRPr>
          </a:p>
        </p:txBody>
      </p:sp>
      <p:sp>
        <p:nvSpPr>
          <p:cNvPr id="119811" name="Rectangle 3"/>
          <p:cNvSpPr>
            <a:spLocks noGrp="1" noChangeArrowheads="1"/>
          </p:cNvSpPr>
          <p:nvPr>
            <p:ph type="subTitle" idx="4294967295"/>
          </p:nvPr>
        </p:nvSpPr>
        <p:spPr>
          <a:xfrm>
            <a:off x="3838388" y="5024718"/>
            <a:ext cx="4495800" cy="838200"/>
          </a:xfrm>
        </p:spPr>
        <p:txBody>
          <a:bodyPr>
            <a:normAutofit/>
          </a:bodyPr>
          <a:lstStyle/>
          <a:p>
            <a:pPr algn="r"/>
            <a:r>
              <a:rPr lang="en-US" sz="3600" i="1" dirty="0" smtClean="0"/>
              <a:t>Oscar </a:t>
            </a:r>
            <a:r>
              <a:rPr lang="en-US" sz="3600" i="1" dirty="0"/>
              <a:t>Wilde</a:t>
            </a:r>
          </a:p>
        </p:txBody>
      </p:sp>
      <p:pic>
        <p:nvPicPr>
          <p:cNvPr id="119815" name="Picture 7" descr="imag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495800"/>
            <a:ext cx="1290638" cy="184046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pPr>
              <a:defRPr/>
            </a:pPr>
            <a:fld id="{76D09E21-E3A5-A34B-9A90-0AE5B5561539}" type="slidenum">
              <a:rPr lang="en-US" smtClean="0"/>
              <a:pPr>
                <a:defRPr/>
              </a:pPr>
              <a:t>77</a:t>
            </a:fld>
            <a:endParaRPr lang="en-US" dirty="0">
              <a:solidFill>
                <a:schemeClr val="bg2">
                  <a:shade val="50000"/>
                </a:schemeClr>
              </a:solidFill>
            </a:endParaRPr>
          </a:p>
        </p:txBody>
      </p:sp>
    </p:spTree>
    <p:extLst>
      <p:ext uri="{BB962C8B-B14F-4D97-AF65-F5344CB8AC3E}">
        <p14:creationId xmlns:p14="http://schemas.microsoft.com/office/powerpoint/2010/main" val="180376977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600" y="685800"/>
            <a:ext cx="8382000" cy="4419600"/>
          </a:xfrm>
          <a:ln/>
          <a:scene3d>
            <a:camera prst="orthographicFront">
              <a:rot lat="0" lon="0" rev="0"/>
            </a:camera>
            <a:lightRig rig="balanced" dir="t">
              <a:rot lat="0" lon="0" rev="5100000"/>
            </a:lightRig>
          </a:scene3d>
          <a:sp3d contourW="6350">
            <a:bevelT w="29210" h="12700" prst="divot"/>
            <a:contourClr>
              <a:schemeClr val="accent2">
                <a:shade val="30000"/>
                <a:satMod val="130000"/>
              </a:schemeClr>
            </a:contourClr>
          </a:sp3d>
        </p:spPr>
        <p:style>
          <a:lnRef idx="0">
            <a:schemeClr val="accent2"/>
          </a:lnRef>
          <a:fillRef idx="3">
            <a:schemeClr val="accent2"/>
          </a:fillRef>
          <a:effectRef idx="3">
            <a:schemeClr val="accent2"/>
          </a:effectRef>
          <a:fontRef idx="minor">
            <a:schemeClr val="lt1"/>
          </a:fontRef>
        </p:style>
        <p:txBody>
          <a:bodyPr>
            <a:normAutofit/>
          </a:bodyPr>
          <a:lstStyle/>
          <a:p>
            <a:pPr algn="ctr">
              <a:defRPr/>
            </a:pPr>
            <a:r>
              <a:rPr lang="ja-JP" altLang="en-US" dirty="0" smtClean="0">
                <a:latin typeface="Arial"/>
                <a:cs typeface="Arial"/>
              </a:rPr>
              <a:t>“</a:t>
            </a:r>
            <a:r>
              <a:rPr lang="en-US" dirty="0">
                <a:latin typeface="Arial"/>
                <a:cs typeface="Arial"/>
              </a:rPr>
              <a:t>Humanity has advanced</a:t>
            </a:r>
            <a:r>
              <a:rPr lang="en-US" dirty="0" smtClean="0">
                <a:latin typeface="Arial"/>
                <a:cs typeface="Arial"/>
              </a:rPr>
              <a:t>,</a:t>
            </a:r>
            <a:br>
              <a:rPr lang="en-US" dirty="0" smtClean="0">
                <a:latin typeface="Arial"/>
                <a:cs typeface="Arial"/>
              </a:rPr>
            </a:br>
            <a:r>
              <a:rPr lang="en-US" dirty="0" smtClean="0">
                <a:latin typeface="Arial"/>
                <a:cs typeface="Arial"/>
              </a:rPr>
              <a:t>when </a:t>
            </a:r>
            <a:r>
              <a:rPr lang="en-US" dirty="0">
                <a:latin typeface="Arial"/>
                <a:cs typeface="Arial"/>
              </a:rPr>
              <a:t>it has advanced</a:t>
            </a:r>
            <a:r>
              <a:rPr lang="en-US" dirty="0" smtClean="0">
                <a:latin typeface="Arial"/>
                <a:cs typeface="Arial"/>
              </a:rPr>
              <a:t>,</a:t>
            </a:r>
            <a:br>
              <a:rPr lang="en-US" dirty="0" smtClean="0">
                <a:latin typeface="Arial"/>
                <a:cs typeface="Arial"/>
              </a:rPr>
            </a:br>
            <a:r>
              <a:rPr lang="en-US" dirty="0" smtClean="0">
                <a:latin typeface="Arial"/>
                <a:cs typeface="Arial"/>
              </a:rPr>
              <a:t>not </a:t>
            </a:r>
            <a:r>
              <a:rPr lang="en-US" dirty="0">
                <a:latin typeface="Arial"/>
                <a:cs typeface="Arial"/>
              </a:rPr>
              <a:t>because it has been sober, responsible, and cautious</a:t>
            </a:r>
            <a:r>
              <a:rPr lang="en-US" dirty="0" smtClean="0">
                <a:latin typeface="Arial"/>
                <a:cs typeface="Arial"/>
              </a:rPr>
              <a:t>,</a:t>
            </a:r>
            <a:br>
              <a:rPr lang="en-US" dirty="0" smtClean="0">
                <a:latin typeface="Arial"/>
                <a:cs typeface="Arial"/>
              </a:rPr>
            </a:br>
            <a:r>
              <a:rPr lang="en-US" dirty="0" smtClean="0">
                <a:latin typeface="Arial"/>
                <a:cs typeface="Arial"/>
              </a:rPr>
              <a:t>but </a:t>
            </a:r>
            <a:r>
              <a:rPr lang="en-US" dirty="0">
                <a:latin typeface="Arial"/>
                <a:cs typeface="Arial"/>
              </a:rPr>
              <a:t>because it has been playful, rebellious, and </a:t>
            </a:r>
            <a:r>
              <a:rPr lang="en-US" dirty="0" smtClean="0">
                <a:latin typeface="Arial"/>
                <a:cs typeface="Arial"/>
              </a:rPr>
              <a:t>immature.”</a:t>
            </a:r>
            <a:br>
              <a:rPr lang="en-US" dirty="0" smtClean="0">
                <a:latin typeface="Arial"/>
                <a:cs typeface="Arial"/>
              </a:rPr>
            </a:br>
            <a:endParaRPr lang="en-US" dirty="0">
              <a:latin typeface="Arial"/>
              <a:cs typeface="Arial"/>
            </a:endParaRPr>
          </a:p>
        </p:txBody>
      </p:sp>
      <p:sp>
        <p:nvSpPr>
          <p:cNvPr id="101377" name="Rectangle 3"/>
          <p:cNvSpPr>
            <a:spLocks noGrp="1" noChangeArrowheads="1"/>
          </p:cNvSpPr>
          <p:nvPr>
            <p:ph idx="1"/>
          </p:nvPr>
        </p:nvSpPr>
        <p:spPr>
          <a:xfrm>
            <a:off x="2819400" y="4724400"/>
            <a:ext cx="4343400" cy="1295400"/>
          </a:xfrm>
          <a:extLst>
            <a:ext uri="{91240B29-F687-4f45-9708-019B960494DF}">
              <a14:hiddenLine xmlns:a14="http://schemas.microsoft.com/office/drawing/2010/main" w="12700">
                <a:solidFill>
                  <a:schemeClr val="tx1"/>
                </a:solidFill>
                <a:miter lim="800000"/>
                <a:headEnd/>
                <a:tailEnd/>
              </a14:hiddenLine>
            </a:ext>
          </a:extLst>
        </p:spPr>
        <p:txBody>
          <a:bodyPr lIns="90487" tIns="44450" rIns="90487" bIns="44450"/>
          <a:lstStyle/>
          <a:p>
            <a:pPr>
              <a:lnSpc>
                <a:spcPct val="90000"/>
              </a:lnSpc>
              <a:buFont typeface="Times" charset="0"/>
              <a:buNone/>
            </a:pPr>
            <a:endParaRPr lang="en-US" sz="3600">
              <a:latin typeface="Calibri" charset="0"/>
              <a:ea typeface="MS PGothic" charset="0"/>
            </a:endParaRPr>
          </a:p>
          <a:p>
            <a:pPr>
              <a:lnSpc>
                <a:spcPct val="90000"/>
              </a:lnSpc>
              <a:buFont typeface="Times" charset="0"/>
              <a:buNone/>
            </a:pPr>
            <a:r>
              <a:rPr lang="en-US" sz="3600">
                <a:latin typeface="Calibri" charset="0"/>
                <a:ea typeface="MS PGothic" charset="0"/>
              </a:rPr>
              <a:t>- Tom Robbins</a:t>
            </a:r>
          </a:p>
        </p:txBody>
      </p:sp>
      <p:pic>
        <p:nvPicPr>
          <p:cNvPr id="101379" name="Picture 2" descr="tom-robbins[1].jp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67600" y="4933950"/>
            <a:ext cx="1282700" cy="1609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pPr>
              <a:defRPr/>
            </a:pPr>
            <a:fld id="{DE0518C9-3CC7-7448-AD05-3CB269384775}" type="slidenum">
              <a:rPr lang="en-US" smtClean="0"/>
              <a:pPr>
                <a:defRPr/>
              </a:pPr>
              <a:t>78</a:t>
            </a:fld>
            <a:endParaRPr lang="en-US" dirty="0"/>
          </a:p>
        </p:txBody>
      </p:sp>
    </p:spTree>
    <p:extLst>
      <p:ext uri="{BB962C8B-B14F-4D97-AF65-F5344CB8AC3E}">
        <p14:creationId xmlns:p14="http://schemas.microsoft.com/office/powerpoint/2010/main" val="44682299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SE NAtional Conferencre 292 copy.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72769" y="711200"/>
            <a:ext cx="7602118" cy="5054600"/>
          </a:xfrm>
          <a:prstGeom prst="rect">
            <a:avLst/>
          </a:prstGeom>
        </p:spPr>
      </p:pic>
      <p:sp>
        <p:nvSpPr>
          <p:cNvPr id="2" name="Slide Number Placeholder 1"/>
          <p:cNvSpPr>
            <a:spLocks noGrp="1"/>
          </p:cNvSpPr>
          <p:nvPr>
            <p:ph type="sldNum" sz="quarter" idx="12"/>
          </p:nvPr>
        </p:nvSpPr>
        <p:spPr/>
        <p:txBody>
          <a:bodyPr/>
          <a:lstStyle/>
          <a:p>
            <a:pPr>
              <a:defRPr/>
            </a:pPr>
            <a:fld id="{DE0518C9-3CC7-7448-AD05-3CB269384775}" type="slidenum">
              <a:rPr lang="en-US" smtClean="0"/>
              <a:pPr>
                <a:defRPr/>
              </a:pPr>
              <a:t>79</a:t>
            </a:fld>
            <a:endParaRPr lang="en-US" dirty="0"/>
          </a:p>
        </p:txBody>
      </p:sp>
    </p:spTree>
    <p:extLst>
      <p:ext uri="{BB962C8B-B14F-4D97-AF65-F5344CB8AC3E}">
        <p14:creationId xmlns:p14="http://schemas.microsoft.com/office/powerpoint/2010/main" val="81188622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725" y="2580014"/>
            <a:ext cx="8229600" cy="990600"/>
          </a:xfrm>
        </p:spPr>
        <p:txBody>
          <a:bodyPr>
            <a:normAutofit fontScale="90000"/>
          </a:bodyPr>
          <a:lstStyle/>
          <a:p>
            <a:pPr algn="ctr"/>
            <a:r>
              <a:rPr lang="en-US" dirty="0" smtClean="0">
                <a:solidFill>
                  <a:schemeClr val="tx1"/>
                </a:solidFill>
              </a:rPr>
              <a:t>Let’s make employment for</a:t>
            </a:r>
            <a:br>
              <a:rPr lang="en-US" dirty="0" smtClean="0">
                <a:solidFill>
                  <a:schemeClr val="tx1"/>
                </a:solidFill>
              </a:rPr>
            </a:br>
            <a:r>
              <a:rPr lang="en-US" dirty="0" smtClean="0">
                <a:solidFill>
                  <a:schemeClr val="tx1"/>
                </a:solidFill>
              </a:rPr>
              <a:t>people with disabilities</a:t>
            </a:r>
            <a:br>
              <a:rPr lang="en-US" dirty="0" smtClean="0">
                <a:solidFill>
                  <a:schemeClr val="tx1"/>
                </a:solidFill>
              </a:rPr>
            </a:br>
            <a:endParaRPr lang="en-US" sz="5300" dirty="0">
              <a:solidFill>
                <a:schemeClr val="tx1"/>
              </a:solidFill>
            </a:endParaRPr>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80</a:t>
            </a:fld>
            <a:endParaRPr lang="en-US" dirty="0"/>
          </a:p>
        </p:txBody>
      </p:sp>
      <p:pic>
        <p:nvPicPr>
          <p:cNvPr id="5" name="Picture 4" descr="Project-SEARCH-3_mini.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305300" y="5454650"/>
            <a:ext cx="1962150" cy="1143000"/>
          </a:xfrm>
          <a:prstGeom prst="rect">
            <a:avLst/>
          </a:prstGeom>
        </p:spPr>
      </p:pic>
      <p:pic>
        <p:nvPicPr>
          <p:cNvPr id="6" name="Picture 5" descr="cody1.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946" y="520700"/>
            <a:ext cx="1580354" cy="1638300"/>
          </a:xfrm>
          <a:prstGeom prst="rect">
            <a:avLst/>
          </a:prstGeom>
        </p:spPr>
      </p:pic>
      <p:pic>
        <p:nvPicPr>
          <p:cNvPr id="7" name="Picture 6" descr="matt.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7466081" y="3232150"/>
            <a:ext cx="1408044" cy="1714500"/>
          </a:xfrm>
          <a:prstGeom prst="rect">
            <a:avLst/>
          </a:prstGeom>
        </p:spPr>
      </p:pic>
      <p:pic>
        <p:nvPicPr>
          <p:cNvPr id="9" name="Picture 8" descr="brian_dj.jp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620000" y="782472"/>
            <a:ext cx="1066800" cy="1420977"/>
          </a:xfrm>
          <a:prstGeom prst="rect">
            <a:avLst/>
          </a:prstGeom>
        </p:spPr>
      </p:pic>
      <p:pic>
        <p:nvPicPr>
          <p:cNvPr id="10" name="Picture 9" descr="Nicole.jpg"/>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457200" y="520700"/>
            <a:ext cx="1562100" cy="1373729"/>
          </a:xfrm>
          <a:prstGeom prst="rect">
            <a:avLst/>
          </a:prstGeom>
        </p:spPr>
      </p:pic>
      <p:pic>
        <p:nvPicPr>
          <p:cNvPr id="11" name="Picture 10" descr="frankie.jpg"/>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173567" y="5213350"/>
            <a:ext cx="1845733" cy="1384300"/>
          </a:xfrm>
          <a:prstGeom prst="rect">
            <a:avLst/>
          </a:prstGeom>
        </p:spPr>
      </p:pic>
      <p:pic>
        <p:nvPicPr>
          <p:cNvPr id="12" name="Picture 11" descr="Zachary_photo.jpg"/>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2128046" y="4946650"/>
            <a:ext cx="1828800" cy="1371600"/>
          </a:xfrm>
          <a:prstGeom prst="rect">
            <a:avLst/>
          </a:prstGeom>
        </p:spPr>
      </p:pic>
      <p:pic>
        <p:nvPicPr>
          <p:cNvPr id="13" name="Picture Placeholder 5" descr="Laura Martinez.jpg"/>
          <p:cNvPicPr>
            <a:picLocks noChangeAspect="1"/>
          </p:cNvPicPr>
          <p:nvPr/>
        </p:nvPicPr>
        <p:blipFill>
          <a:blip r:embed="rId9" cstate="email">
            <a:extLst>
              <a:ext uri="{28A0092B-C50C-407E-A947-70E740481C1C}">
                <a14:useLocalDpi xmlns:a14="http://schemas.microsoft.com/office/drawing/2010/main" val="0"/>
              </a:ext>
            </a:extLst>
          </a:blip>
          <a:srcRect l="12412" r="12412"/>
          <a:stretch>
            <a:fillRect/>
          </a:stretch>
        </p:blipFill>
        <p:spPr>
          <a:xfrm>
            <a:off x="457200" y="3496328"/>
            <a:ext cx="1142999" cy="1520172"/>
          </a:xfrm>
          <a:prstGeom prst="rect">
            <a:avLst/>
          </a:prstGeom>
        </p:spPr>
      </p:pic>
      <p:pic>
        <p:nvPicPr>
          <p:cNvPr id="14" name="Picture 3" descr="AchieveAus_038.jpg"/>
          <p:cNvPicPr>
            <a:picLocks noChangeAspect="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6826250" y="5232400"/>
            <a:ext cx="21717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brian.jpg"/>
          <p:cNvPicPr>
            <a:picLocks noChangeAspect="1"/>
          </p:cNvPicPr>
          <p:nvPr/>
        </p:nvPicPr>
        <p:blipFill>
          <a:blip r:embed="rId11" cstate="email">
            <a:extLst>
              <a:ext uri="{28A0092B-C50C-407E-A947-70E740481C1C}">
                <a14:useLocalDpi xmlns:a14="http://schemas.microsoft.com/office/drawing/2010/main" val="0"/>
              </a:ext>
            </a:extLst>
          </a:blip>
          <a:stretch>
            <a:fillRect/>
          </a:stretch>
        </p:blipFill>
        <p:spPr>
          <a:xfrm>
            <a:off x="4731472" y="4058444"/>
            <a:ext cx="1616075" cy="1212056"/>
          </a:xfrm>
          <a:prstGeom prst="rect">
            <a:avLst/>
          </a:prstGeom>
        </p:spPr>
      </p:pic>
      <p:pic>
        <p:nvPicPr>
          <p:cNvPr id="16" name="Picture 15" descr="zumba-800.jpg"/>
          <p:cNvPicPr>
            <a:picLocks noChangeAspect="1"/>
          </p:cNvPicPr>
          <p:nvPr/>
        </p:nvPicPr>
        <p:blipFill>
          <a:blip r:embed="rId12" cstate="email">
            <a:extLst>
              <a:ext uri="{28A0092B-C50C-407E-A947-70E740481C1C}">
                <a14:useLocalDpi xmlns:a14="http://schemas.microsoft.com/office/drawing/2010/main" val="0"/>
              </a:ext>
            </a:extLst>
          </a:blip>
          <a:stretch>
            <a:fillRect/>
          </a:stretch>
        </p:blipFill>
        <p:spPr>
          <a:xfrm>
            <a:off x="4731472" y="639510"/>
            <a:ext cx="1856653" cy="1392490"/>
          </a:xfrm>
          <a:prstGeom prst="rect">
            <a:avLst/>
          </a:prstGeom>
        </p:spPr>
      </p:pic>
      <p:sp>
        <p:nvSpPr>
          <p:cNvPr id="17" name="Title 1"/>
          <p:cNvSpPr txBox="1">
            <a:spLocks/>
          </p:cNvSpPr>
          <p:nvPr/>
        </p:nvSpPr>
        <p:spPr>
          <a:xfrm>
            <a:off x="375446" y="2567314"/>
            <a:ext cx="8460579" cy="132967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algn="ctr"/>
            <a:r>
              <a:rPr lang="en-US" sz="4400" dirty="0" smtClean="0"/>
              <a:t/>
            </a:r>
            <a:br>
              <a:rPr lang="en-US" sz="4400" dirty="0" smtClean="0"/>
            </a:br>
            <a:r>
              <a:rPr lang="en-US" sz="4400" b="1" i="1" dirty="0" smtClean="0"/>
              <a:t>NOTHING SPECIAL</a:t>
            </a:r>
            <a:endParaRPr lang="en-US" sz="4400" dirty="0"/>
          </a:p>
        </p:txBody>
      </p:sp>
    </p:spTree>
    <p:extLst>
      <p:ext uri="{BB962C8B-B14F-4D97-AF65-F5344CB8AC3E}">
        <p14:creationId xmlns:p14="http://schemas.microsoft.com/office/powerpoint/2010/main" val="341022521"/>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3000"/>
                                  </p:stCondLst>
                                  <p:childTnLst>
                                    <p:set>
                                      <p:cBhvr>
                                        <p:cTn id="8" dur="1" fill="hold">
                                          <p:stCondLst>
                                            <p:cond delay="0"/>
                                          </p:stCondLst>
                                        </p:cTn>
                                        <p:tgtEl>
                                          <p:spTgt spid="17"/>
                                        </p:tgtEl>
                                        <p:attrNameLst>
                                          <p:attrName>style.visibility</p:attrName>
                                        </p:attrNameLst>
                                      </p:cBhvr>
                                      <p:to>
                                        <p:strVal val="visible"/>
                                      </p:to>
                                    </p:set>
                                  </p:childTnLst>
                                </p:cTn>
                              </p:par>
                            </p:childTnLst>
                          </p:cTn>
                        </p:par>
                        <p:par>
                          <p:cTn id="9" fill="hold">
                            <p:stCondLst>
                              <p:cond delay="3000"/>
                            </p:stCondLst>
                            <p:childTnLst>
                              <p:par>
                                <p:cTn id="10" presetID="1" presetClass="entr" presetSubtype="0" fill="hold" nodeType="afterEffect">
                                  <p:stCondLst>
                                    <p:cond delay="1000"/>
                                  </p:stCondLst>
                                  <p:childTnLst>
                                    <p:set>
                                      <p:cBhvr>
                                        <p:cTn id="11" dur="1" fill="hold">
                                          <p:stCondLst>
                                            <p:cond delay="0"/>
                                          </p:stCondLst>
                                        </p:cTn>
                                        <p:tgtEl>
                                          <p:spTgt spid="15"/>
                                        </p:tgtEl>
                                        <p:attrNameLst>
                                          <p:attrName>style.visibility</p:attrName>
                                        </p:attrNameLst>
                                      </p:cBhvr>
                                      <p:to>
                                        <p:strVal val="visible"/>
                                      </p:to>
                                    </p:set>
                                  </p:childTnLst>
                                </p:cTn>
                              </p:par>
                              <p:par>
                                <p:cTn id="12" presetID="1" presetClass="entr" presetSubtype="0" fill="hold" nodeType="withEffect">
                                  <p:stCondLst>
                                    <p:cond delay="1000"/>
                                  </p:stCondLst>
                                  <p:childTnLst>
                                    <p:set>
                                      <p:cBhvr>
                                        <p:cTn id="13" dur="1" fill="hold">
                                          <p:stCondLst>
                                            <p:cond delay="0"/>
                                          </p:stCondLst>
                                        </p:cTn>
                                        <p:tgtEl>
                                          <p:spTgt spid="6"/>
                                        </p:tgtEl>
                                        <p:attrNameLst>
                                          <p:attrName>style.visibility</p:attrName>
                                        </p:attrNameLst>
                                      </p:cBhvr>
                                      <p:to>
                                        <p:strVal val="visible"/>
                                      </p:to>
                                    </p:set>
                                  </p:childTnLst>
                                </p:cTn>
                              </p:par>
                            </p:childTnLst>
                          </p:cTn>
                        </p:par>
                        <p:par>
                          <p:cTn id="14" fill="hold">
                            <p:stCondLst>
                              <p:cond delay="4000"/>
                            </p:stCondLst>
                            <p:childTnLst>
                              <p:par>
                                <p:cTn id="15" presetID="1" presetClass="entr" presetSubtype="0" fill="hold" nodeType="afterEffect">
                                  <p:stCondLst>
                                    <p:cond delay="100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3000"/>
                                  </p:stCondLst>
                                  <p:childTnLst>
                                    <p:set>
                                      <p:cBhvr>
                                        <p:cTn id="18" dur="1" fill="hold">
                                          <p:stCondLst>
                                            <p:cond delay="0"/>
                                          </p:stCondLst>
                                        </p:cTn>
                                        <p:tgtEl>
                                          <p:spTgt spid="13"/>
                                        </p:tgtEl>
                                        <p:attrNameLst>
                                          <p:attrName>style.visibility</p:attrName>
                                        </p:attrNameLst>
                                      </p:cBhvr>
                                      <p:to>
                                        <p:strVal val="visible"/>
                                      </p:to>
                                    </p:set>
                                  </p:childTnLst>
                                </p:cTn>
                              </p:par>
                            </p:childTnLst>
                          </p:cTn>
                        </p:par>
                        <p:par>
                          <p:cTn id="19" fill="hold">
                            <p:stCondLst>
                              <p:cond delay="7000"/>
                            </p:stCondLst>
                            <p:childTnLst>
                              <p:par>
                                <p:cTn id="20" presetID="1" presetClass="entr" presetSubtype="0"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nodeType="withEffect">
                                  <p:stCondLst>
                                    <p:cond delay="1000"/>
                                  </p:stCondLst>
                                  <p:childTnLst>
                                    <p:set>
                                      <p:cBhvr>
                                        <p:cTn id="23" dur="1" fill="hold">
                                          <p:stCondLst>
                                            <p:cond delay="0"/>
                                          </p:stCondLst>
                                        </p:cTn>
                                        <p:tgtEl>
                                          <p:spTgt spid="10"/>
                                        </p:tgtEl>
                                        <p:attrNameLst>
                                          <p:attrName>style.visibility</p:attrName>
                                        </p:attrNameLst>
                                      </p:cBhvr>
                                      <p:to>
                                        <p:strVal val="visible"/>
                                      </p:to>
                                    </p:set>
                                  </p:childTnLst>
                                </p:cTn>
                              </p:par>
                            </p:childTnLst>
                          </p:cTn>
                        </p:par>
                        <p:par>
                          <p:cTn id="24" fill="hold">
                            <p:stCondLst>
                              <p:cond delay="8000"/>
                            </p:stCondLst>
                            <p:childTnLst>
                              <p:par>
                                <p:cTn id="25" presetID="1" presetClass="entr" presetSubtype="0"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1000"/>
                                  </p:stCondLst>
                                  <p:childTnLst>
                                    <p:set>
                                      <p:cBhvr>
                                        <p:cTn id="28" dur="1" fill="hold">
                                          <p:stCondLst>
                                            <p:cond delay="0"/>
                                          </p:stCondLst>
                                        </p:cTn>
                                        <p:tgtEl>
                                          <p:spTgt spid="7"/>
                                        </p:tgtEl>
                                        <p:attrNameLst>
                                          <p:attrName>style.visibility</p:attrName>
                                        </p:attrNameLst>
                                      </p:cBhvr>
                                      <p:to>
                                        <p:strVal val="visible"/>
                                      </p:to>
                                    </p:set>
                                  </p:childTnLst>
                                </p:cTn>
                              </p:par>
                            </p:childTnLst>
                          </p:cTn>
                        </p:par>
                        <p:par>
                          <p:cTn id="29" fill="hold">
                            <p:stCondLst>
                              <p:cond delay="9000"/>
                            </p:stCondLst>
                            <p:childTnLst>
                              <p:par>
                                <p:cTn id="30" presetID="1" presetClass="entr" presetSubtype="0"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childTnLst>
                                </p:cTn>
                              </p:par>
                              <p:par>
                                <p:cTn id="32" presetID="1" presetClass="entr" presetSubtype="0" fill="hold" nodeType="withEffect">
                                  <p:stCondLst>
                                    <p:cond delay="1000"/>
                                  </p:stCondLst>
                                  <p:childTnLst>
                                    <p:set>
                                      <p:cBhvr>
                                        <p:cTn id="33" dur="1" fill="hold">
                                          <p:stCondLst>
                                            <p:cond delay="0"/>
                                          </p:stCondLst>
                                        </p:cTn>
                                        <p:tgtEl>
                                          <p:spTgt spid="12"/>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9900" y="676276"/>
            <a:ext cx="5499100" cy="1143000"/>
          </a:xfrm>
        </p:spPr>
        <p:style>
          <a:lnRef idx="1">
            <a:schemeClr val="accent6"/>
          </a:lnRef>
          <a:fillRef idx="2">
            <a:schemeClr val="accent6"/>
          </a:fillRef>
          <a:effectRef idx="1">
            <a:schemeClr val="accent6"/>
          </a:effectRef>
          <a:fontRef idx="minor">
            <a:schemeClr val="dk1"/>
          </a:fontRef>
        </p:style>
        <p:txBody>
          <a:bodyPr/>
          <a:lstStyle/>
          <a:p>
            <a:pPr algn="ctr"/>
            <a:r>
              <a:rPr lang="en-US" dirty="0" smtClean="0"/>
              <a:t>Thanks!</a:t>
            </a:r>
            <a:endParaRPr lang="en-US" dirty="0"/>
          </a:p>
        </p:txBody>
      </p:sp>
      <p:pic>
        <p:nvPicPr>
          <p:cNvPr id="4" name="Picture 3" descr="MC900078773.WMF"/>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041400" y="2108981"/>
            <a:ext cx="3835400" cy="3101853"/>
          </a:xfrm>
          <a:prstGeom prst="rect">
            <a:avLst/>
          </a:prstGeom>
        </p:spPr>
      </p:pic>
      <p:sp>
        <p:nvSpPr>
          <p:cNvPr id="3" name="Slide Number Placeholder 2"/>
          <p:cNvSpPr>
            <a:spLocks noGrp="1"/>
          </p:cNvSpPr>
          <p:nvPr>
            <p:ph type="sldNum" sz="quarter" idx="12"/>
          </p:nvPr>
        </p:nvSpPr>
        <p:spPr/>
        <p:txBody>
          <a:bodyPr/>
          <a:lstStyle/>
          <a:p>
            <a:pPr>
              <a:defRPr/>
            </a:pPr>
            <a:fld id="{DE0518C9-3CC7-7448-AD05-3CB269384775}" type="slidenum">
              <a:rPr lang="en-US" smtClean="0"/>
              <a:pPr>
                <a:defRPr/>
              </a:pPr>
              <a:t>81</a:t>
            </a:fld>
            <a:endParaRPr lang="en-US" dirty="0"/>
          </a:p>
        </p:txBody>
      </p:sp>
      <p:pic>
        <p:nvPicPr>
          <p:cNvPr id="5" name="Picture 4" descr="alaska-state-map.jp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876800" y="3659908"/>
            <a:ext cx="3886200" cy="2944091"/>
          </a:xfrm>
          <a:prstGeom prst="rect">
            <a:avLst/>
          </a:prstGeom>
        </p:spPr>
      </p:pic>
    </p:spTree>
    <p:extLst>
      <p:ext uri="{BB962C8B-B14F-4D97-AF65-F5344CB8AC3E}">
        <p14:creationId xmlns:p14="http://schemas.microsoft.com/office/powerpoint/2010/main" val="394510976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Clarity.thmx</Template>
  <TotalTime>3349</TotalTime>
  <Words>762</Words>
  <Application>Microsoft Macintosh PowerPoint</Application>
  <PresentationFormat>On-screen Show (4:3)</PresentationFormat>
  <Paragraphs>255</Paragraphs>
  <Slides>81</Slides>
  <Notes>6</Notes>
  <HiddenSlides>0</HiddenSlides>
  <MMClips>0</MMClips>
  <ScaleCrop>false</ScaleCrop>
  <HeadingPairs>
    <vt:vector size="4" baseType="variant">
      <vt:variant>
        <vt:lpstr>Theme</vt:lpstr>
      </vt:variant>
      <vt:variant>
        <vt:i4>1</vt:i4>
      </vt:variant>
      <vt:variant>
        <vt:lpstr>Slide Titles</vt:lpstr>
      </vt:variant>
      <vt:variant>
        <vt:i4>81</vt:i4>
      </vt:variant>
    </vt:vector>
  </HeadingPairs>
  <TitlesOfParts>
    <vt:vector size="82" baseType="lpstr">
      <vt:lpstr>Clarity</vt:lpstr>
      <vt:lpstr>Employment First: Maintaining the Momentum</vt:lpstr>
      <vt:lpstr>“There are 3 essential commandments:     Respect the elders.     Embrace the new.     Encourage the impractical and improbable    without bias.”</vt:lpstr>
      <vt:lpstr>Employment First</vt:lpstr>
      <vt:lpstr>PowerPoint Presentation</vt:lpstr>
      <vt:lpstr>PowerPoint Presentation</vt:lpstr>
      <vt:lpstr>Unemployed</vt:lpstr>
      <vt:lpstr>PowerPoint Presentation</vt:lpstr>
      <vt:lpstr>PowerPoint Presentation</vt:lpstr>
      <vt:lpstr>PowerPoint Presentation</vt:lpstr>
      <vt:lpstr>What’s The Issue?</vt:lpstr>
      <vt:lpstr>Evolution of  Disability Models</vt:lpstr>
      <vt:lpstr>PowerPoint Presentation</vt:lpstr>
      <vt:lpstr>PowerPoint Presentation</vt:lpstr>
      <vt:lpstr>Supported Employment</vt:lpstr>
      <vt:lpstr>Evolving Policy Framework</vt:lpstr>
      <vt:lpstr>PowerPoint Presentation</vt:lpstr>
      <vt:lpstr>We have the technology</vt:lpstr>
      <vt:lpstr>Focus on changing service providers</vt:lpstr>
      <vt:lpstr>Day Program</vt:lpstr>
      <vt:lpstr>PowerPoint Presentation</vt:lpstr>
      <vt:lpstr>Employment in the general workforce  as a core component and expectation on an individual  and system level </vt:lpstr>
      <vt:lpstr>Employment First: What Is It?</vt:lpstr>
      <vt:lpstr>PowerPoint Presentation</vt:lpstr>
      <vt:lpstr>“Any darn fool can make something complicated; it takes genius to achieve simplicity.” </vt:lpstr>
      <vt:lpstr>A NATIONAL MOVEMENT</vt:lpstr>
      <vt:lpstr>PowerPoint Presentation</vt:lpstr>
      <vt:lpstr>May 29, 2014 Alaska Employment First Legislation Signed </vt:lpstr>
      <vt:lpstr>Employment First:  It’s not just for policymakers</vt:lpstr>
      <vt:lpstr>PowerPoint Presentation</vt:lpstr>
      <vt:lpstr>- Jerry Garcia</vt:lpstr>
      <vt:lpstr>PowerPoint Presentation</vt:lpstr>
      <vt:lpstr>PowerPoint Presentation</vt:lpstr>
      <vt:lpstr>Wolf Wolfensberger</vt:lpstr>
      <vt:lpstr>Employment First is a social justice and social change movement</vt:lpstr>
      <vt:lpstr>The Changing Role of the Professional</vt:lpstr>
      <vt:lpstr>Civil Rights Worker</vt:lpstr>
      <vt:lpstr>PowerPoint Presentation</vt:lpstr>
      <vt:lpstr>It’s not just about changing individual lives.</vt:lpstr>
      <vt:lpstr>“ I have come to understand that the   way we respond to people who are   different in any way, clearly reflects our own willingness to either expand our horizons or shrink back in fear.”</vt:lpstr>
      <vt:lpstr>Typical employment in the general workforce</vt:lpstr>
      <vt:lpstr>PowerPoint Presentation</vt:lpstr>
      <vt:lpstr>More Real Lives</vt:lpstr>
      <vt:lpstr>Persons with disabilities succeed on the job and in careers for the same reasons as other individuals</vt:lpstr>
      <vt:lpstr>Persons with disabilities are unemployed for many of the same reasons as any other individual</vt:lpstr>
      <vt:lpstr>“My disability exists not because I use a wheelchair, but because the broader environment  isn't accessible.”</vt:lpstr>
      <vt:lpstr>Employment experience (including employment search process) as similar as possible to those without disabilities</vt:lpstr>
      <vt:lpstr>All types of jobs</vt:lpstr>
      <vt:lpstr>Deviate from typical employment process - only as necessary (but sometimes it’s necessary.)</vt:lpstr>
      <vt:lpstr>People with disabilities don’t go to the back of the line</vt:lpstr>
      <vt:lpstr>Early employment expectations and experiences</vt:lpstr>
      <vt:lpstr>Same career development strategies as other individuals</vt:lpstr>
      <vt:lpstr>Consistent Messages</vt:lpstr>
      <vt:lpstr>PowerPoint Presentation</vt:lpstr>
      <vt:lpstr>“When somebody say it’s not   about the money,   it’s about the money.”</vt:lpstr>
      <vt:lpstr>PowerPoint Presentation</vt:lpstr>
      <vt:lpstr>Collecting data without using it  is useless.</vt:lpstr>
      <vt:lpstr>PowerPoint Presentation</vt:lpstr>
      <vt:lpstr>Progress reports from each department due annually to the Alaska Mental Health Trust Authority</vt:lpstr>
      <vt:lpstr>The “Choice” Issue</vt:lpstr>
      <vt:lpstr>PowerPoint Presentation</vt:lpstr>
      <vt:lpstr>Olmstead Guidance</vt:lpstr>
      <vt:lpstr>USDOJ: Informed Choice Requirements</vt:lpstr>
      <vt:lpstr>Continuous investment and raising of standards for direct service personnel</vt:lpstr>
      <vt:lpstr>Advocate, advocate, advocate….</vt:lpstr>
      <vt:lpstr>What’s your response?</vt:lpstr>
      <vt:lpstr>What’s your response?</vt:lpstr>
      <vt:lpstr>“What drives me up the wall is the intentional teaching of fear of having any kind of meaningful life because ‘You will decompensate’ or ‘You are stress sensitive’. The most stressful thing in the world is being a couch potato with nothing to do, nowhere to go, and no one to talk to.”</vt:lpstr>
      <vt:lpstr>PowerPoint Presentation</vt:lpstr>
      <vt:lpstr>APPS: The New Revolution in Job Supports</vt:lpstr>
      <vt:lpstr>“Pro-Employment” Benefits Counseling on Demand</vt:lpstr>
      <vt:lpstr>Expand Boundaries of Industry-Based Credential Training for Skill Enhancement</vt:lpstr>
      <vt:lpstr>New support models:  </vt:lpstr>
      <vt:lpstr>WIOA: Workforce Innovation and Opportunity Act</vt:lpstr>
      <vt:lpstr>PowerPoint Presentation</vt:lpstr>
      <vt:lpstr>PowerPoint Presentation</vt:lpstr>
      <vt:lpstr>PowerPoint Presentation</vt:lpstr>
      <vt:lpstr>“Be yourself. Everyone else is already taken.”</vt:lpstr>
      <vt:lpstr>“Humanity has advanced, when it has advanced, not because it has been sober, responsible, and cautious, but because it has been playful, rebellious, and immature.” </vt:lpstr>
      <vt:lpstr>PowerPoint Presentation</vt:lpstr>
      <vt:lpstr>Let’s make employment for people with disabilities </vt:lpstr>
      <vt:lpstr>Thanks!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APSE Board Orientation</dc:title>
  <dc:creator>David  Hoff</dc:creator>
  <cp:lastModifiedBy>David Hoff</cp:lastModifiedBy>
  <cp:revision>342</cp:revision>
  <dcterms:created xsi:type="dcterms:W3CDTF">2012-06-25T01:24:00Z</dcterms:created>
  <dcterms:modified xsi:type="dcterms:W3CDTF">2017-03-22T13:40:57Z</dcterms:modified>
</cp:coreProperties>
</file>