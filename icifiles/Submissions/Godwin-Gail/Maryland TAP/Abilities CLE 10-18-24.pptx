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1312" r:id="rId2"/>
    <p:sldId id="1345" r:id="rId3"/>
    <p:sldId id="262" r:id="rId4"/>
    <p:sldId id="1336" r:id="rId5"/>
    <p:sldId id="1337" r:id="rId6"/>
    <p:sldId id="1338" r:id="rId7"/>
    <p:sldId id="1334" r:id="rId8"/>
    <p:sldId id="1339" r:id="rId9"/>
    <p:sldId id="1335" r:id="rId10"/>
    <p:sldId id="134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45176-3D81-4EFE-BC48-1A43B5AF7C67}" type="datetimeFigureOut">
              <a:t>12/20/2024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56DED-9A1E-4957-AC94-45811578FC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89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Staci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6EAF8F-0920-7444-BF36-95ABB4CBBBE1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823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262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edata.thinkwork.org/mdda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109B7BDA-A8F7-2C83-3889-423692386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716" y="210296"/>
            <a:ext cx="2261556" cy="29211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D15AD2-3B04-346F-EB36-C02BFC63CD10}"/>
              </a:ext>
            </a:extLst>
          </p:cNvPr>
          <p:cNvSpPr txBox="1"/>
          <p:nvPr/>
        </p:nvSpPr>
        <p:spPr>
          <a:xfrm>
            <a:off x="308400" y="1903913"/>
            <a:ext cx="23686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  <a:hlinkClick r:id="" action="ppaction://noaction"/>
              </a:rPr>
              <a:t>Data from May 2024: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B700B-CDAF-13C5-3CD5-68B9EB8A678C}"/>
              </a:ext>
            </a:extLst>
          </p:cNvPr>
          <p:cNvSpPr txBox="1"/>
          <p:nvPr/>
        </p:nvSpPr>
        <p:spPr>
          <a:xfrm>
            <a:off x="190500" y="207170"/>
            <a:ext cx="1157036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latin typeface="+mj-lt"/>
                <a:ea typeface="+mj-ea"/>
                <a:cs typeface="Calibri Light"/>
              </a:rPr>
              <a:t>What's happening at Abilities?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BB7B6A-9C3B-8B02-9B7A-34C35384A692}"/>
              </a:ext>
            </a:extLst>
          </p:cNvPr>
          <p:cNvSpPr txBox="1"/>
          <p:nvPr/>
        </p:nvSpPr>
        <p:spPr>
          <a:xfrm>
            <a:off x="2697079" y="1900530"/>
            <a:ext cx="65572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  <a:hlinkClick r:id="rId3"/>
              </a:rPr>
              <a:t>https://statedata.thinkwork.org/mdda/</a:t>
            </a:r>
            <a:endParaRPr lang="en-US"/>
          </a:p>
        </p:txBody>
      </p:sp>
      <p:pic>
        <p:nvPicPr>
          <p:cNvPr id="12" name="Picture 11" descr="A table with numbers and words&#10;&#10;Description automatically generated">
            <a:extLst>
              <a:ext uri="{FF2B5EF4-FFF2-40B4-BE49-F238E27FC236}">
                <a16:creationId xmlns:a16="http://schemas.microsoft.com/office/drawing/2014/main" id="{6A8C9F9C-6B16-3533-0CCE-DD0638C36F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24" t="11330" r="1054" b="34483"/>
          <a:stretch/>
        </p:blipFill>
        <p:spPr>
          <a:xfrm>
            <a:off x="312145" y="3426407"/>
            <a:ext cx="11329026" cy="2022573"/>
          </a:xfrm>
          <a:prstGeom prst="rect">
            <a:avLst/>
          </a:prstGeom>
        </p:spPr>
      </p:pic>
      <p:sp>
        <p:nvSpPr>
          <p:cNvPr id="13" name="Arrow: Up 12">
            <a:extLst>
              <a:ext uri="{FF2B5EF4-FFF2-40B4-BE49-F238E27FC236}">
                <a16:creationId xmlns:a16="http://schemas.microsoft.com/office/drawing/2014/main" id="{176662C3-0C02-CA9C-AD29-CEC2B44515CC}"/>
              </a:ext>
            </a:extLst>
          </p:cNvPr>
          <p:cNvSpPr/>
          <p:nvPr/>
        </p:nvSpPr>
        <p:spPr>
          <a:xfrm>
            <a:off x="6792044" y="5453591"/>
            <a:ext cx="621631" cy="89234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64CBE776-E5D7-3F00-A0DE-2544D1F3B15A}"/>
              </a:ext>
            </a:extLst>
          </p:cNvPr>
          <p:cNvSpPr/>
          <p:nvPr/>
        </p:nvSpPr>
        <p:spPr>
          <a:xfrm>
            <a:off x="9858405" y="5453590"/>
            <a:ext cx="621631" cy="89234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894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document&#10;&#10;Description automatically generated">
            <a:extLst>
              <a:ext uri="{FF2B5EF4-FFF2-40B4-BE49-F238E27FC236}">
                <a16:creationId xmlns:a16="http://schemas.microsoft.com/office/drawing/2014/main" id="{0BF305F5-BF23-DF64-2293-C947C4F1C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166" y="0"/>
            <a:ext cx="6127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16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green logo&#10;&#10;Description automatically generated">
            <a:extLst>
              <a:ext uri="{FF2B5EF4-FFF2-40B4-BE49-F238E27FC236}">
                <a16:creationId xmlns:a16="http://schemas.microsoft.com/office/drawing/2014/main" id="{F8DC7AFE-06F8-7033-66B8-95A672F0C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7" y="6305894"/>
            <a:ext cx="1743075" cy="323850"/>
          </a:xfrm>
          <a:prstGeom prst="rect">
            <a:avLst/>
          </a:prstGeom>
        </p:spPr>
      </p:pic>
      <p:pic>
        <p:nvPicPr>
          <p:cNvPr id="7" name="Picture 6" descr="A blue and red logo&#10;&#10;Description automatically generated">
            <a:extLst>
              <a:ext uri="{FF2B5EF4-FFF2-40B4-BE49-F238E27FC236}">
                <a16:creationId xmlns:a16="http://schemas.microsoft.com/office/drawing/2014/main" id="{E61870E9-FC07-6498-71FF-1107DE8DD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950" y="6263032"/>
            <a:ext cx="1695450" cy="40957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0F1141-FE8B-017D-9C79-74C960CDC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796544"/>
              </p:ext>
            </p:extLst>
          </p:nvPr>
        </p:nvGraphicFramePr>
        <p:xfrm>
          <a:off x="1404650" y="293782"/>
          <a:ext cx="9394651" cy="5938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609">
                  <a:extLst>
                    <a:ext uri="{9D8B030D-6E8A-4147-A177-3AD203B41FA5}">
                      <a16:colId xmlns:a16="http://schemas.microsoft.com/office/drawing/2014/main" val="2161192518"/>
                    </a:ext>
                  </a:extLst>
                </a:gridCol>
                <a:gridCol w="1861908">
                  <a:extLst>
                    <a:ext uri="{9D8B030D-6E8A-4147-A177-3AD203B41FA5}">
                      <a16:colId xmlns:a16="http://schemas.microsoft.com/office/drawing/2014/main" val="3994150268"/>
                    </a:ext>
                  </a:extLst>
                </a:gridCol>
                <a:gridCol w="2032134">
                  <a:extLst>
                    <a:ext uri="{9D8B030D-6E8A-4147-A177-3AD203B41FA5}">
                      <a16:colId xmlns:a16="http://schemas.microsoft.com/office/drawing/2014/main" val="2955527072"/>
                    </a:ext>
                  </a:extLst>
                </a:gridCol>
              </a:tblGrid>
              <a:tr h="1092868">
                <a:tc gridSpan="3">
                  <a:txBody>
                    <a:bodyPr/>
                    <a:lstStyle/>
                    <a:p>
                      <a:r>
                        <a:rPr lang="en-US" dirty="0"/>
                        <a:t>Part I: Organizational Values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560333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r>
                        <a:rPr lang="en-US" b="1" dirty="0"/>
                        <a:t>My organization...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# of submissions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1" dirty="0"/>
                        <a:t>Average score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911723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r>
                        <a:rPr lang="en-US" dirty="0"/>
                        <a:t>Makes sure all working-age individuals have opportunities to explore employment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4.3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73889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Ensures </a:t>
                      </a:r>
                      <a:r>
                        <a:rPr lang="en-US" b="1" dirty="0"/>
                        <a:t>families</a:t>
                      </a:r>
                      <a:r>
                        <a:rPr lang="en-US" dirty="0"/>
                        <a:t> are aware of the organization's emphasis on individualized, person-centered, community-based supports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4.3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29985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Ensures all </a:t>
                      </a:r>
                      <a:r>
                        <a:rPr lang="en-US" b="1" dirty="0"/>
                        <a:t>staff </a:t>
                      </a:r>
                      <a:r>
                        <a:rPr lang="en-US" dirty="0"/>
                        <a:t>are aware of the organization's emphasis on individualized, person-centered community-based supports.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4.4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421950"/>
                  </a:ext>
                </a:extLst>
              </a:tr>
              <a:tr h="777071"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Section total average for Part I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Score Range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3-6 = Low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7-11 = Medium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highlight>
                            <a:srgbClr val="FFFF00"/>
                          </a:highlight>
                          <a:latin typeface="Aptos"/>
                        </a:rPr>
                        <a:t>12-15 = High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91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13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A37BE5-46BC-84AA-1E8B-B3B95CC62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292143"/>
              </p:ext>
            </p:extLst>
          </p:nvPr>
        </p:nvGraphicFramePr>
        <p:xfrm>
          <a:off x="682756" y="123334"/>
          <a:ext cx="10631088" cy="6200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8420">
                  <a:extLst>
                    <a:ext uri="{9D8B030D-6E8A-4147-A177-3AD203B41FA5}">
                      <a16:colId xmlns:a16="http://schemas.microsoft.com/office/drawing/2014/main" val="2161192518"/>
                    </a:ext>
                  </a:extLst>
                </a:gridCol>
                <a:gridCol w="1523996">
                  <a:extLst>
                    <a:ext uri="{9D8B030D-6E8A-4147-A177-3AD203B41FA5}">
                      <a16:colId xmlns:a16="http://schemas.microsoft.com/office/drawing/2014/main" val="3994150268"/>
                    </a:ext>
                  </a:extLst>
                </a:gridCol>
                <a:gridCol w="2088672">
                  <a:extLst>
                    <a:ext uri="{9D8B030D-6E8A-4147-A177-3AD203B41FA5}">
                      <a16:colId xmlns:a16="http://schemas.microsoft.com/office/drawing/2014/main" val="2955527072"/>
                    </a:ext>
                  </a:extLst>
                </a:gridCol>
              </a:tblGrid>
              <a:tr h="421105">
                <a:tc gridSpan="3">
                  <a:txBody>
                    <a:bodyPr/>
                    <a:lstStyle/>
                    <a:p>
                      <a:r>
                        <a:rPr lang="en-US" dirty="0"/>
                        <a:t>Part 2: Person-Centered Supports 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560333"/>
                  </a:ext>
                </a:extLst>
              </a:tr>
              <a:tr h="511342">
                <a:tc>
                  <a:txBody>
                    <a:bodyPr/>
                    <a:lstStyle/>
                    <a:p>
                      <a:r>
                        <a:rPr lang="en-US" sz="1400" b="1" dirty="0"/>
                        <a:t>My organization...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# of submissions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dirty="0"/>
                        <a:t>Average score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911723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r>
                        <a:rPr lang="en-US" dirty="0"/>
                        <a:t>Offers training to staff in person-centered planning or thinking approaches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3.5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73889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Engages the individual throughout the person-centered planning process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4.2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29985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Offers training to individuals on self-advocacy and self-determination skills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3.1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421950"/>
                  </a:ext>
                </a:extLst>
              </a:tr>
              <a:tr h="777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Frequently reviews and updates each individual's person-centered plan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3.2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43939"/>
                  </a:ext>
                </a:extLst>
              </a:tr>
              <a:tr h="4612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Supports individuals to develop and plan for life goals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3.5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553141"/>
                  </a:ext>
                </a:extLst>
              </a:tr>
              <a:tr h="777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Is aware of and responsive to individual cultural background (race, ethnicity, religion, language, age,  sexual orientation, etc.)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3.3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125771"/>
                  </a:ext>
                </a:extLst>
              </a:tr>
              <a:tr h="777071"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Section total average for Part 2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Score Range 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6-12 = Low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13-23 = Medium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 24-30 = High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20.8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91394"/>
                  </a:ext>
                </a:extLst>
              </a:tr>
            </a:tbl>
          </a:graphicData>
        </a:graphic>
      </p:graphicFrame>
      <p:pic>
        <p:nvPicPr>
          <p:cNvPr id="5" name="Picture 4" descr="A blue and green logo&#10;&#10;Description automatically generated">
            <a:extLst>
              <a:ext uri="{FF2B5EF4-FFF2-40B4-BE49-F238E27FC236}">
                <a16:creationId xmlns:a16="http://schemas.microsoft.com/office/drawing/2014/main" id="{56C3A572-9E0E-7939-D947-66F1F6CFD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7" y="6305894"/>
            <a:ext cx="1743075" cy="323850"/>
          </a:xfrm>
          <a:prstGeom prst="rect">
            <a:avLst/>
          </a:prstGeom>
        </p:spPr>
      </p:pic>
      <p:pic>
        <p:nvPicPr>
          <p:cNvPr id="7" name="Picture 6" descr="A blue and red logo&#10;&#10;Description automatically generated">
            <a:extLst>
              <a:ext uri="{FF2B5EF4-FFF2-40B4-BE49-F238E27FC236}">
                <a16:creationId xmlns:a16="http://schemas.microsoft.com/office/drawing/2014/main" id="{A095F60D-5E8D-3C66-B7B4-DA4CE9FBB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950" y="6263032"/>
            <a:ext cx="16954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31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A37BE5-46BC-84AA-1E8B-B3B95CC62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053139"/>
              </p:ext>
            </p:extLst>
          </p:nvPr>
        </p:nvGraphicFramePr>
        <p:xfrm>
          <a:off x="682756" y="123334"/>
          <a:ext cx="10631088" cy="6200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8420">
                  <a:extLst>
                    <a:ext uri="{9D8B030D-6E8A-4147-A177-3AD203B41FA5}">
                      <a16:colId xmlns:a16="http://schemas.microsoft.com/office/drawing/2014/main" val="2161192518"/>
                    </a:ext>
                  </a:extLst>
                </a:gridCol>
                <a:gridCol w="1523996">
                  <a:extLst>
                    <a:ext uri="{9D8B030D-6E8A-4147-A177-3AD203B41FA5}">
                      <a16:colId xmlns:a16="http://schemas.microsoft.com/office/drawing/2014/main" val="3994150268"/>
                    </a:ext>
                  </a:extLst>
                </a:gridCol>
                <a:gridCol w="2088672">
                  <a:extLst>
                    <a:ext uri="{9D8B030D-6E8A-4147-A177-3AD203B41FA5}">
                      <a16:colId xmlns:a16="http://schemas.microsoft.com/office/drawing/2014/main" val="2955527072"/>
                    </a:ext>
                  </a:extLst>
                </a:gridCol>
              </a:tblGrid>
              <a:tr h="421105">
                <a:tc gridSpan="3">
                  <a:txBody>
                    <a:bodyPr/>
                    <a:lstStyle/>
                    <a:p>
                      <a:r>
                        <a:rPr lang="en-US" dirty="0"/>
                        <a:t>Part 3: Social and Community Connections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560333"/>
                  </a:ext>
                </a:extLst>
              </a:tr>
              <a:tr h="511342">
                <a:tc>
                  <a:txBody>
                    <a:bodyPr/>
                    <a:lstStyle/>
                    <a:p>
                      <a:r>
                        <a:rPr lang="en-US" sz="1400" b="1" dirty="0"/>
                        <a:t>My organization...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# of submissions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dirty="0"/>
                        <a:t>Average score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911723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r>
                        <a:rPr lang="en-US" dirty="0"/>
                        <a:t>Provides training to staff on how to identify and build natural supports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2.5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73889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Emphasizes building networks of support from family, friends and community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10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3.4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29985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Trains staff on how to minimize their presence in order to encourage natural interactions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10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2.8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421950"/>
                  </a:ext>
                </a:extLst>
              </a:tr>
              <a:tr h="777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Supports individuals to form friendships with people outside the IDD system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10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3.5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43939"/>
                  </a:ext>
                </a:extLst>
              </a:tr>
              <a:tr h="4612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Gives individuals a say about which peers they spend their time with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10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4.5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553141"/>
                  </a:ext>
                </a:extLst>
              </a:tr>
              <a:tr h="777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Tailors community participation to the individual's desired level of social interaction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4.3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125771"/>
                  </a:ext>
                </a:extLst>
              </a:tr>
              <a:tr h="777071"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Section total average for Part 3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Score Range 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6-12 = Low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</a:rPr>
                        <a:t>13-23 = Medium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 24-30 = High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21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91394"/>
                  </a:ext>
                </a:extLst>
              </a:tr>
            </a:tbl>
          </a:graphicData>
        </a:graphic>
      </p:graphicFrame>
      <p:pic>
        <p:nvPicPr>
          <p:cNvPr id="5" name="Picture 4" descr="A blue and green logo&#10;&#10;Description automatically generated">
            <a:extLst>
              <a:ext uri="{FF2B5EF4-FFF2-40B4-BE49-F238E27FC236}">
                <a16:creationId xmlns:a16="http://schemas.microsoft.com/office/drawing/2014/main" id="{56C3A572-9E0E-7939-D947-66F1F6CFD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7" y="6305894"/>
            <a:ext cx="1743075" cy="323850"/>
          </a:xfrm>
          <a:prstGeom prst="rect">
            <a:avLst/>
          </a:prstGeom>
        </p:spPr>
      </p:pic>
      <p:pic>
        <p:nvPicPr>
          <p:cNvPr id="7" name="Picture 6" descr="A blue and red logo&#10;&#10;Description automatically generated">
            <a:extLst>
              <a:ext uri="{FF2B5EF4-FFF2-40B4-BE49-F238E27FC236}">
                <a16:creationId xmlns:a16="http://schemas.microsoft.com/office/drawing/2014/main" id="{A095F60D-5E8D-3C66-B7B4-DA4CE9FBB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950" y="6263032"/>
            <a:ext cx="16954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35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A37BE5-46BC-84AA-1E8B-B3B95CC62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752632"/>
              </p:ext>
            </p:extLst>
          </p:nvPr>
        </p:nvGraphicFramePr>
        <p:xfrm>
          <a:off x="361914" y="825176"/>
          <a:ext cx="10631088" cy="4228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8420">
                  <a:extLst>
                    <a:ext uri="{9D8B030D-6E8A-4147-A177-3AD203B41FA5}">
                      <a16:colId xmlns:a16="http://schemas.microsoft.com/office/drawing/2014/main" val="2161192518"/>
                    </a:ext>
                  </a:extLst>
                </a:gridCol>
                <a:gridCol w="1523996">
                  <a:extLst>
                    <a:ext uri="{9D8B030D-6E8A-4147-A177-3AD203B41FA5}">
                      <a16:colId xmlns:a16="http://schemas.microsoft.com/office/drawing/2014/main" val="3994150268"/>
                    </a:ext>
                  </a:extLst>
                </a:gridCol>
                <a:gridCol w="2088672">
                  <a:extLst>
                    <a:ext uri="{9D8B030D-6E8A-4147-A177-3AD203B41FA5}">
                      <a16:colId xmlns:a16="http://schemas.microsoft.com/office/drawing/2014/main" val="2955527072"/>
                    </a:ext>
                  </a:extLst>
                </a:gridCol>
              </a:tblGrid>
              <a:tr h="421105">
                <a:tc gridSpan="3">
                  <a:txBody>
                    <a:bodyPr/>
                    <a:lstStyle/>
                    <a:p>
                      <a:r>
                        <a:rPr lang="en-US" dirty="0"/>
                        <a:t>Part 4: Continuous Quality Improvement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560333"/>
                  </a:ext>
                </a:extLst>
              </a:tr>
              <a:tr h="561473">
                <a:tc>
                  <a:txBody>
                    <a:bodyPr/>
                    <a:lstStyle/>
                    <a:p>
                      <a:r>
                        <a:rPr lang="en-US" sz="1400" b="1" dirty="0"/>
                        <a:t>My organization...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# of submissions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dirty="0"/>
                        <a:t>Average score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911723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r>
                        <a:rPr lang="en-US" dirty="0"/>
                        <a:t>Regularly reviews data and feedback collected and uses them to improve supports at the individual level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4.1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73889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Regularly reviews data and feedback collected and uses them to improve supports at the organizational level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3.5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29985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Collects feedback from individuals on whether they are supported to achieve the goals they set for themselves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3.8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421950"/>
                  </a:ext>
                </a:extLst>
              </a:tr>
              <a:tr h="777071"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Section total average for Part 4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Score Range 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3-6 = Low 7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ptos"/>
                        </a:rPr>
                        <a:t>-11 = Medium 12-15 = High</a:t>
                      </a:r>
                      <a:endParaRPr lang="en-US" dirty="0">
                        <a:highlight>
                          <a:srgbClr val="FFFF00"/>
                        </a:highlight>
                        <a:latin typeface="Apto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91394"/>
                  </a:ext>
                </a:extLst>
              </a:tr>
            </a:tbl>
          </a:graphicData>
        </a:graphic>
      </p:graphicFrame>
      <p:pic>
        <p:nvPicPr>
          <p:cNvPr id="5" name="Picture 4" descr="A blue and green logo&#10;&#10;Description automatically generated">
            <a:extLst>
              <a:ext uri="{FF2B5EF4-FFF2-40B4-BE49-F238E27FC236}">
                <a16:creationId xmlns:a16="http://schemas.microsoft.com/office/drawing/2014/main" id="{56C3A572-9E0E-7939-D947-66F1F6CFD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7" y="6305894"/>
            <a:ext cx="1743075" cy="323850"/>
          </a:xfrm>
          <a:prstGeom prst="rect">
            <a:avLst/>
          </a:prstGeom>
        </p:spPr>
      </p:pic>
      <p:pic>
        <p:nvPicPr>
          <p:cNvPr id="7" name="Picture 6" descr="A blue and red logo&#10;&#10;Description automatically generated">
            <a:extLst>
              <a:ext uri="{FF2B5EF4-FFF2-40B4-BE49-F238E27FC236}">
                <a16:creationId xmlns:a16="http://schemas.microsoft.com/office/drawing/2014/main" id="{A095F60D-5E8D-3C66-B7B4-DA4CE9FBB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950" y="6263032"/>
            <a:ext cx="16954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47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9B70-23F1-0B09-6986-73CC9034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Thoughts or takeaways?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4126-89C1-5570-8E8E-AAD245870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Any surprises? </a:t>
            </a:r>
          </a:p>
        </p:txBody>
      </p:sp>
      <p:pic>
        <p:nvPicPr>
          <p:cNvPr id="5" name="Picture 4" descr="A blue and green logo&#10;&#10;Description automatically generated">
            <a:extLst>
              <a:ext uri="{FF2B5EF4-FFF2-40B4-BE49-F238E27FC236}">
                <a16:creationId xmlns:a16="http://schemas.microsoft.com/office/drawing/2014/main" id="{F8DC7AFE-06F8-7033-66B8-95A672F0C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7" y="6305894"/>
            <a:ext cx="1743075" cy="323850"/>
          </a:xfrm>
          <a:prstGeom prst="rect">
            <a:avLst/>
          </a:prstGeom>
        </p:spPr>
      </p:pic>
      <p:pic>
        <p:nvPicPr>
          <p:cNvPr id="7" name="Picture 6" descr="A blue and red logo&#10;&#10;Description automatically generated">
            <a:extLst>
              <a:ext uri="{FF2B5EF4-FFF2-40B4-BE49-F238E27FC236}">
                <a16:creationId xmlns:a16="http://schemas.microsoft.com/office/drawing/2014/main" id="{E61870E9-FC07-6498-71FF-1107DE8DD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950" y="6263032"/>
            <a:ext cx="16954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56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9B70-23F1-0B09-6986-73CC9034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themes...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4126-89C1-5570-8E8E-AAD245870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779" y="1825625"/>
            <a:ext cx="1067602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Values are consistently strong</a:t>
            </a:r>
          </a:p>
          <a:p>
            <a:r>
              <a:rPr lang="en-US" dirty="0"/>
              <a:t>Less consistency related to types of specific staff training to reinforce desired outcomes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Building relationships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Building networks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Natural supports</a:t>
            </a:r>
          </a:p>
          <a:p>
            <a:r>
              <a:rPr lang="en-US" dirty="0"/>
              <a:t>Less consistency related to how data is collected/used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blue and green logo&#10;&#10;Description automatically generated">
            <a:extLst>
              <a:ext uri="{FF2B5EF4-FFF2-40B4-BE49-F238E27FC236}">
                <a16:creationId xmlns:a16="http://schemas.microsoft.com/office/drawing/2014/main" id="{F8DC7AFE-06F8-7033-66B8-95A672F0C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7" y="6305894"/>
            <a:ext cx="1743075" cy="323850"/>
          </a:xfrm>
          <a:prstGeom prst="rect">
            <a:avLst/>
          </a:prstGeom>
        </p:spPr>
      </p:pic>
      <p:pic>
        <p:nvPicPr>
          <p:cNvPr id="7" name="Picture 6" descr="A blue and red logo&#10;&#10;Description automatically generated">
            <a:extLst>
              <a:ext uri="{FF2B5EF4-FFF2-40B4-BE49-F238E27FC236}">
                <a16:creationId xmlns:a16="http://schemas.microsoft.com/office/drawing/2014/main" id="{E61870E9-FC07-6498-71FF-1107DE8DD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950" y="6263032"/>
            <a:ext cx="16954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69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9B70-23F1-0B09-6986-73CC9034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your current strengths?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4126-89C1-5570-8E8E-AAD245870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blue and green logo&#10;&#10;Description automatically generated">
            <a:extLst>
              <a:ext uri="{FF2B5EF4-FFF2-40B4-BE49-F238E27FC236}">
                <a16:creationId xmlns:a16="http://schemas.microsoft.com/office/drawing/2014/main" id="{F8DC7AFE-06F8-7033-66B8-95A672F0C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7" y="6305894"/>
            <a:ext cx="1743075" cy="323850"/>
          </a:xfrm>
          <a:prstGeom prst="rect">
            <a:avLst/>
          </a:prstGeom>
        </p:spPr>
      </p:pic>
      <p:pic>
        <p:nvPicPr>
          <p:cNvPr id="7" name="Picture 6" descr="A blue and red logo&#10;&#10;Description automatically generated">
            <a:extLst>
              <a:ext uri="{FF2B5EF4-FFF2-40B4-BE49-F238E27FC236}">
                <a16:creationId xmlns:a16="http://schemas.microsoft.com/office/drawing/2014/main" id="{E61870E9-FC07-6498-71FF-1107DE8DD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950" y="6263032"/>
            <a:ext cx="16954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30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9B70-23F1-0B09-6986-73CC9034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your current challenges?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4126-89C1-5570-8E8E-AAD245870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blue and green logo&#10;&#10;Description automatically generated">
            <a:extLst>
              <a:ext uri="{FF2B5EF4-FFF2-40B4-BE49-F238E27FC236}">
                <a16:creationId xmlns:a16="http://schemas.microsoft.com/office/drawing/2014/main" id="{F8DC7AFE-06F8-7033-66B8-95A672F0C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87" y="6305894"/>
            <a:ext cx="1743075" cy="323850"/>
          </a:xfrm>
          <a:prstGeom prst="rect">
            <a:avLst/>
          </a:prstGeom>
        </p:spPr>
      </p:pic>
      <p:pic>
        <p:nvPicPr>
          <p:cNvPr id="7" name="Picture 6" descr="A blue and red logo&#10;&#10;Description automatically generated">
            <a:extLst>
              <a:ext uri="{FF2B5EF4-FFF2-40B4-BE49-F238E27FC236}">
                <a16:creationId xmlns:a16="http://schemas.microsoft.com/office/drawing/2014/main" id="{E61870E9-FC07-6498-71FF-1107DE8DD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950" y="6263032"/>
            <a:ext cx="16954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73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471</Words>
  <Application>Microsoft Office PowerPoint</Application>
  <PresentationFormat>Widescreen</PresentationFormat>
  <Paragraphs>104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Thoughts or takeaways? </vt:lpstr>
      <vt:lpstr>A few themes...</vt:lpstr>
      <vt:lpstr>What are your current strengths?</vt:lpstr>
      <vt:lpstr>What are your current challenges?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Staci Jones</dc:creator>
  <cp:lastModifiedBy>Staci Jones</cp:lastModifiedBy>
  <cp:revision>520</cp:revision>
  <dcterms:created xsi:type="dcterms:W3CDTF">2024-10-17T19:12:27Z</dcterms:created>
  <dcterms:modified xsi:type="dcterms:W3CDTF">2024-12-20T12:40:34Z</dcterms:modified>
</cp:coreProperties>
</file>