
<file path=[Content_Types].xml><?xml version="1.0" encoding="utf-8"?>
<Types xmlns="http://schemas.openxmlformats.org/package/2006/content-types">
  <Default Extension="eps" ContentType="image/ep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02" r:id="rId4"/>
  </p:sldMasterIdLst>
  <p:notesMasterIdLst>
    <p:notesMasterId r:id="rId22"/>
  </p:notesMasterIdLst>
  <p:sldIdLst>
    <p:sldId id="256" r:id="rId5"/>
    <p:sldId id="3561" r:id="rId6"/>
    <p:sldId id="3563" r:id="rId7"/>
    <p:sldId id="497" r:id="rId8"/>
    <p:sldId id="277" r:id="rId9"/>
    <p:sldId id="515" r:id="rId10"/>
    <p:sldId id="516" r:id="rId11"/>
    <p:sldId id="3560" r:id="rId12"/>
    <p:sldId id="1323" r:id="rId13"/>
    <p:sldId id="518" r:id="rId14"/>
    <p:sldId id="1318" r:id="rId15"/>
    <p:sldId id="322" r:id="rId16"/>
    <p:sldId id="521" r:id="rId17"/>
    <p:sldId id="522" r:id="rId18"/>
    <p:sldId id="502" r:id="rId19"/>
    <p:sldId id="506" r:id="rId20"/>
    <p:sldId id="356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3F384E5-CB3D-C24D-A06B-6FC5F0C85919}">
          <p14:sldIdLst>
            <p14:sldId id="256"/>
            <p14:sldId id="3561"/>
            <p14:sldId id="3563"/>
            <p14:sldId id="497"/>
            <p14:sldId id="277"/>
            <p14:sldId id="515"/>
            <p14:sldId id="516"/>
            <p14:sldId id="3560"/>
            <p14:sldId id="1323"/>
            <p14:sldId id="518"/>
            <p14:sldId id="1318"/>
            <p14:sldId id="322"/>
          </p14:sldIdLst>
        </p14:section>
        <p14:section name="Untitled Section" id="{FB007EE1-944F-B142-BB6F-47E954C70203}">
          <p14:sldIdLst>
            <p14:sldId id="521"/>
            <p14:sldId id="522"/>
            <p14:sldId id="502"/>
            <p14:sldId id="506"/>
            <p14:sldId id="356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B8DB296-7C7E-1E12-318A-15E1F6169068}" name="Bryn Peterson" initials="BP" userId="S::bryn.peterson@umb.edu::fd16c8ef-faa2-4aae-bb46-064735fd85d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19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CA7AEA-FEAC-FE94-61F1-6AB67BCD029B}" v="1" dt="2026-03-03T20:26:52.4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aci Jones" userId="S::staci.jones@umb.edu::8493031c-935c-4567-bcd9-185995e08a61" providerId="AD" clId="Web-{3CCA7AEA-FEAC-FE94-61F1-6AB67BCD029B}"/>
    <pc:docChg chg="modSld">
      <pc:chgData name="Staci Jones" userId="S::staci.jones@umb.edu::8493031c-935c-4567-bcd9-185995e08a61" providerId="AD" clId="Web-{3CCA7AEA-FEAC-FE94-61F1-6AB67BCD029B}" dt="2026-03-03T20:26:52.496" v="0" actId="1076"/>
      <pc:docMkLst>
        <pc:docMk/>
      </pc:docMkLst>
      <pc:sldChg chg="modSp">
        <pc:chgData name="Staci Jones" userId="S::staci.jones@umb.edu::8493031c-935c-4567-bcd9-185995e08a61" providerId="AD" clId="Web-{3CCA7AEA-FEAC-FE94-61F1-6AB67BCD029B}" dt="2026-03-03T20:26:52.496" v="0" actId="1076"/>
        <pc:sldMkLst>
          <pc:docMk/>
          <pc:sldMk cId="1193219763" sldId="502"/>
        </pc:sldMkLst>
        <pc:spChg chg="mod">
          <ac:chgData name="Staci Jones" userId="S::staci.jones@umb.edu::8493031c-935c-4567-bcd9-185995e08a61" providerId="AD" clId="Web-{3CCA7AEA-FEAC-FE94-61F1-6AB67BCD029B}" dt="2026-03-03T20:26:52.496" v="0" actId="1076"/>
          <ac:spMkLst>
            <pc:docMk/>
            <pc:sldMk cId="1193219763" sldId="502"/>
            <ac:spMk id="3" creationId="{3D6A0ACA-84DB-9333-C212-9D80AAF09C87}"/>
          </ac:spMkLst>
        </pc:spChg>
      </pc:sldChg>
    </pc:docChg>
  </pc:docChgLst>
  <pc:docChgLst>
    <pc:chgData name="Bryn Peterson" userId="S::bryn.peterson@umb.edu::fd16c8ef-faa2-4aae-bb46-064735fd85dc" providerId="AD" clId="Web-{C1C94E50-F72B-7942-90C6-3C1B426D3DB4}"/>
    <pc:docChg chg="modSld">
      <pc:chgData name="Bryn Peterson" userId="S::bryn.peterson@umb.edu::fd16c8ef-faa2-4aae-bb46-064735fd85dc" providerId="AD" clId="Web-{C1C94E50-F72B-7942-90C6-3C1B426D3DB4}" dt="2026-02-26T19:01:25.017" v="119"/>
      <pc:docMkLst>
        <pc:docMk/>
      </pc:docMkLst>
      <pc:sldChg chg="modSp">
        <pc:chgData name="Bryn Peterson" userId="S::bryn.peterson@umb.edu::fd16c8ef-faa2-4aae-bb46-064735fd85dc" providerId="AD" clId="Web-{C1C94E50-F72B-7942-90C6-3C1B426D3DB4}" dt="2026-02-26T19:00:13.641" v="113" actId="20577"/>
        <pc:sldMkLst>
          <pc:docMk/>
          <pc:sldMk cId="2532510343" sldId="1323"/>
        </pc:sldMkLst>
        <pc:spChg chg="mod">
          <ac:chgData name="Bryn Peterson" userId="S::bryn.peterson@umb.edu::fd16c8ef-faa2-4aae-bb46-064735fd85dc" providerId="AD" clId="Web-{C1C94E50-F72B-7942-90C6-3C1B426D3DB4}" dt="2026-02-26T18:54:40.422" v="43" actId="1076"/>
          <ac:spMkLst>
            <pc:docMk/>
            <pc:sldMk cId="2532510343" sldId="1323"/>
            <ac:spMk id="2" creationId="{E9B14F9A-BDD2-A0BB-41BD-CABB7C59E096}"/>
          </ac:spMkLst>
        </pc:spChg>
        <pc:spChg chg="mod">
          <ac:chgData name="Bryn Peterson" userId="S::bryn.peterson@umb.edu::fd16c8ef-faa2-4aae-bb46-064735fd85dc" providerId="AD" clId="Web-{C1C94E50-F72B-7942-90C6-3C1B426D3DB4}" dt="2026-02-26T18:59:23.594" v="82" actId="20577"/>
          <ac:spMkLst>
            <pc:docMk/>
            <pc:sldMk cId="2532510343" sldId="1323"/>
            <ac:spMk id="3" creationId="{D7DF2286-06DE-ED3E-B16F-30EA045227F4}"/>
          </ac:spMkLst>
        </pc:spChg>
        <pc:spChg chg="mod">
          <ac:chgData name="Bryn Peterson" userId="S::bryn.peterson@umb.edu::fd16c8ef-faa2-4aae-bb46-064735fd85dc" providerId="AD" clId="Web-{C1C94E50-F72B-7942-90C6-3C1B426D3DB4}" dt="2026-02-26T18:54:32.953" v="41" actId="1076"/>
          <ac:spMkLst>
            <pc:docMk/>
            <pc:sldMk cId="2532510343" sldId="1323"/>
            <ac:spMk id="4" creationId="{9E6ABFB2-523B-2DFD-F65C-82DC92B42D0E}"/>
          </ac:spMkLst>
        </pc:spChg>
        <pc:spChg chg="mod">
          <ac:chgData name="Bryn Peterson" userId="S::bryn.peterson@umb.edu::fd16c8ef-faa2-4aae-bb46-064735fd85dc" providerId="AD" clId="Web-{C1C94E50-F72B-7942-90C6-3C1B426D3DB4}" dt="2026-02-26T18:54:37.562" v="42" actId="1076"/>
          <ac:spMkLst>
            <pc:docMk/>
            <pc:sldMk cId="2532510343" sldId="1323"/>
            <ac:spMk id="6" creationId="{F02C5561-1B74-DBD2-7727-90E289585968}"/>
          </ac:spMkLst>
        </pc:spChg>
        <pc:spChg chg="mod">
          <ac:chgData name="Bryn Peterson" userId="S::bryn.peterson@umb.edu::fd16c8ef-faa2-4aae-bb46-064735fd85dc" providerId="AD" clId="Web-{C1C94E50-F72B-7942-90C6-3C1B426D3DB4}" dt="2026-02-26T19:00:13.641" v="113" actId="20577"/>
          <ac:spMkLst>
            <pc:docMk/>
            <pc:sldMk cId="2532510343" sldId="1323"/>
            <ac:spMk id="7" creationId="{B648AA1F-D945-E511-AAC0-69B54E5864A2}"/>
          </ac:spMkLst>
        </pc:spChg>
      </pc:sldChg>
      <pc:sldChg chg="addSp delSp modSp">
        <pc:chgData name="Bryn Peterson" userId="S::bryn.peterson@umb.edu::fd16c8ef-faa2-4aae-bb46-064735fd85dc" providerId="AD" clId="Web-{C1C94E50-F72B-7942-90C6-3C1B426D3DB4}" dt="2026-02-26T19:01:25.017" v="119"/>
        <pc:sldMkLst>
          <pc:docMk/>
          <pc:sldMk cId="1028640204" sldId="3561"/>
        </pc:sldMkLst>
      </pc:sldChg>
    </pc:docChg>
  </pc:docChgLst>
  <pc:docChgLst>
    <pc:chgData name="Heather N Smith" userId="S::heather.smith@umb.edu::ab23827b-a15c-4464-9b5c-8b53efc512a0" providerId="AD" clId="Web-{B0BE1FCB-5D20-8AFB-E5FF-66279BE9C894}"/>
    <pc:docChg chg="modSld">
      <pc:chgData name="Heather N Smith" userId="S::heather.smith@umb.edu::ab23827b-a15c-4464-9b5c-8b53efc512a0" providerId="AD" clId="Web-{B0BE1FCB-5D20-8AFB-E5FF-66279BE9C894}" dt="2026-02-26T21:09:28.705" v="12"/>
      <pc:docMkLst>
        <pc:docMk/>
      </pc:docMkLst>
      <pc:sldChg chg="addSp delSp modSp">
        <pc:chgData name="Heather N Smith" userId="S::heather.smith@umb.edu::ab23827b-a15c-4464-9b5c-8b53efc512a0" providerId="AD" clId="Web-{B0BE1FCB-5D20-8AFB-E5FF-66279BE9C894}" dt="2026-02-26T21:09:28.705" v="12"/>
        <pc:sldMkLst>
          <pc:docMk/>
          <pc:sldMk cId="1028640204" sldId="3561"/>
        </pc:sldMkLst>
        <pc:spChg chg="mod">
          <ac:chgData name="Heather N Smith" userId="S::heather.smith@umb.edu::ab23827b-a15c-4464-9b5c-8b53efc512a0" providerId="AD" clId="Web-{B0BE1FCB-5D20-8AFB-E5FF-66279BE9C894}" dt="2026-02-26T21:08:33.221" v="6" actId="1076"/>
          <ac:spMkLst>
            <pc:docMk/>
            <pc:sldMk cId="1028640204" sldId="3561"/>
            <ac:spMk id="7" creationId="{7793D627-A841-545A-D0D9-945CF0C2D2F0}"/>
          </ac:spMkLst>
        </pc:spChg>
        <pc:spChg chg="mod">
          <ac:chgData name="Heather N Smith" userId="S::heather.smith@umb.edu::ab23827b-a15c-4464-9b5c-8b53efc512a0" providerId="AD" clId="Web-{B0BE1FCB-5D20-8AFB-E5FF-66279BE9C894}" dt="2026-02-26T21:08:39.612" v="8" actId="1076"/>
          <ac:spMkLst>
            <pc:docMk/>
            <pc:sldMk cId="1028640204" sldId="3561"/>
            <ac:spMk id="10" creationId="{F49F0FCF-4D6F-724D-D4E0-FF4F107950D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EB54D7-D621-483C-A84E-6074B50A7E19}"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AE37FE82-56B3-4E38-88DE-5F5FF17D72D7}">
      <dgm:prSet/>
      <dgm:spPr/>
      <dgm:t>
        <a:bodyPr/>
        <a:lstStyle/>
        <a:p>
          <a:r>
            <a:rPr lang="en-US"/>
            <a:t>Course Modules:</a:t>
          </a:r>
        </a:p>
      </dgm:t>
    </dgm:pt>
    <dgm:pt modelId="{56706AFB-E480-41CF-9AD8-93423A8C7D55}" type="parTrans" cxnId="{366C4709-87C0-40AC-B78D-F4B81E505048}">
      <dgm:prSet/>
      <dgm:spPr/>
      <dgm:t>
        <a:bodyPr/>
        <a:lstStyle/>
        <a:p>
          <a:endParaRPr lang="en-US"/>
        </a:p>
      </dgm:t>
    </dgm:pt>
    <dgm:pt modelId="{380805CD-38AA-40E9-BA47-93249C489930}" type="sibTrans" cxnId="{366C4709-87C0-40AC-B78D-F4B81E505048}">
      <dgm:prSet/>
      <dgm:spPr/>
      <dgm:t>
        <a:bodyPr/>
        <a:lstStyle/>
        <a:p>
          <a:endParaRPr lang="en-US"/>
        </a:p>
      </dgm:t>
    </dgm:pt>
    <dgm:pt modelId="{2CC3325D-F26F-4169-A8F2-E9724DD9BF3E}">
      <dgm:prSet custT="1"/>
      <dgm:spPr/>
      <dgm:t>
        <a:bodyPr/>
        <a:lstStyle/>
        <a:p>
          <a:pPr rtl="0"/>
          <a:r>
            <a:rPr lang="en-US" sz="2200">
              <a:latin typeface="Calibri Light" panose="020F0302020204030204"/>
            </a:rPr>
            <a:t>#1: </a:t>
          </a:r>
          <a:r>
            <a:rPr lang="en-US" sz="2400">
              <a:latin typeface="Calibri Light" panose="020F0302020204030204"/>
            </a:rPr>
            <a:t>Course Orientation</a:t>
          </a:r>
          <a:endParaRPr lang="en-US" sz="2400"/>
        </a:p>
      </dgm:t>
    </dgm:pt>
    <dgm:pt modelId="{9F603017-AB6C-41A1-8370-359C4BAC0CDC}" type="parTrans" cxnId="{2040243A-CCBA-46F9-84AC-C440FEC0FABB}">
      <dgm:prSet/>
      <dgm:spPr/>
      <dgm:t>
        <a:bodyPr/>
        <a:lstStyle/>
        <a:p>
          <a:endParaRPr lang="en-US"/>
        </a:p>
      </dgm:t>
    </dgm:pt>
    <dgm:pt modelId="{7FB06108-F248-494E-9927-E529CB72C1A3}" type="sibTrans" cxnId="{2040243A-CCBA-46F9-84AC-C440FEC0FABB}">
      <dgm:prSet/>
      <dgm:spPr/>
      <dgm:t>
        <a:bodyPr/>
        <a:lstStyle/>
        <a:p>
          <a:endParaRPr lang="en-US"/>
        </a:p>
      </dgm:t>
    </dgm:pt>
    <dgm:pt modelId="{14A7E1AD-2AF7-45A4-8820-BB21B55E80B3}">
      <dgm:prSet custT="1"/>
      <dgm:spPr/>
      <dgm:t>
        <a:bodyPr/>
        <a:lstStyle/>
        <a:p>
          <a:pPr rtl="0"/>
          <a:r>
            <a:rPr lang="en-US" sz="2200">
              <a:latin typeface="Calibri Light" panose="020F0302020204030204"/>
            </a:rPr>
            <a:t>#2</a:t>
          </a:r>
          <a:r>
            <a:rPr lang="en-US" sz="2400">
              <a:latin typeface="Calibri Light" panose="020F0302020204030204"/>
            </a:rPr>
            <a:t>: Leadership</a:t>
          </a:r>
          <a:endParaRPr lang="en-US" sz="2400"/>
        </a:p>
      </dgm:t>
    </dgm:pt>
    <dgm:pt modelId="{17C9D00A-B296-4759-9DA6-F7B2D6755959}" type="parTrans" cxnId="{0A7EEEC7-D7C0-49BA-B739-32F518706FC7}">
      <dgm:prSet/>
      <dgm:spPr/>
      <dgm:t>
        <a:bodyPr/>
        <a:lstStyle/>
        <a:p>
          <a:endParaRPr lang="en-US"/>
        </a:p>
      </dgm:t>
    </dgm:pt>
    <dgm:pt modelId="{15B74401-03F9-405F-A3DD-DAFB79E4FF58}" type="sibTrans" cxnId="{0A7EEEC7-D7C0-49BA-B739-32F518706FC7}">
      <dgm:prSet/>
      <dgm:spPr/>
      <dgm:t>
        <a:bodyPr/>
        <a:lstStyle/>
        <a:p>
          <a:endParaRPr lang="en-US"/>
        </a:p>
      </dgm:t>
    </dgm:pt>
    <dgm:pt modelId="{085967A5-ED1D-4EBA-9005-7D51DCECA4E9}">
      <dgm:prSet custT="1"/>
      <dgm:spPr/>
      <dgm:t>
        <a:bodyPr/>
        <a:lstStyle/>
        <a:p>
          <a:pPr rtl="0"/>
          <a:r>
            <a:rPr lang="en-US" sz="2200">
              <a:latin typeface="Calibri Light" panose="020F0302020204030204"/>
            </a:rPr>
            <a:t>#3: </a:t>
          </a:r>
          <a:r>
            <a:rPr lang="en-US" sz="2400">
              <a:latin typeface="Calibri Light" panose="020F0302020204030204"/>
            </a:rPr>
            <a:t>Federal &amp; State Policy</a:t>
          </a:r>
          <a:endParaRPr lang="en-US" sz="2400"/>
        </a:p>
      </dgm:t>
    </dgm:pt>
    <dgm:pt modelId="{36C3DF61-826E-4171-BE3E-FD9A86745338}" type="parTrans" cxnId="{1309E725-CC5E-4132-84A8-BF2AA161CB98}">
      <dgm:prSet/>
      <dgm:spPr/>
      <dgm:t>
        <a:bodyPr/>
        <a:lstStyle/>
        <a:p>
          <a:endParaRPr lang="en-US"/>
        </a:p>
      </dgm:t>
    </dgm:pt>
    <dgm:pt modelId="{49A8EB24-0A6A-4DE2-8CD1-52FD2EAC7C77}" type="sibTrans" cxnId="{1309E725-CC5E-4132-84A8-BF2AA161CB98}">
      <dgm:prSet/>
      <dgm:spPr/>
      <dgm:t>
        <a:bodyPr/>
        <a:lstStyle/>
        <a:p>
          <a:endParaRPr lang="en-US"/>
        </a:p>
      </dgm:t>
    </dgm:pt>
    <dgm:pt modelId="{F7169AE5-6A52-44B5-960C-5CB238FCB3AF}">
      <dgm:prSet custT="1"/>
      <dgm:spPr/>
      <dgm:t>
        <a:bodyPr/>
        <a:lstStyle/>
        <a:p>
          <a:pPr rtl="0"/>
          <a:r>
            <a:rPr lang="en-US" sz="2500">
              <a:latin typeface="Calibri Light" panose="020F0302020204030204"/>
            </a:rPr>
            <a:t>#4: </a:t>
          </a:r>
          <a:r>
            <a:rPr lang="en-US" sz="2400">
              <a:latin typeface="Calibri Light" panose="020F0302020204030204"/>
            </a:rPr>
            <a:t>Aligning Mission, Vision and Values with Resources</a:t>
          </a:r>
          <a:endParaRPr lang="en-US" sz="2400"/>
        </a:p>
      </dgm:t>
    </dgm:pt>
    <dgm:pt modelId="{0F58CACE-73C4-4F24-959A-092D3DA1CCD8}" type="parTrans" cxnId="{FF5A95AB-2B87-428B-AA57-0EC1FF16D6D9}">
      <dgm:prSet/>
      <dgm:spPr/>
      <dgm:t>
        <a:bodyPr/>
        <a:lstStyle/>
        <a:p>
          <a:endParaRPr lang="en-US"/>
        </a:p>
      </dgm:t>
    </dgm:pt>
    <dgm:pt modelId="{5DF89232-F171-4899-B941-DEE49094AF51}" type="sibTrans" cxnId="{FF5A95AB-2B87-428B-AA57-0EC1FF16D6D9}">
      <dgm:prSet/>
      <dgm:spPr/>
      <dgm:t>
        <a:bodyPr/>
        <a:lstStyle/>
        <a:p>
          <a:endParaRPr lang="en-US"/>
        </a:p>
      </dgm:t>
    </dgm:pt>
    <dgm:pt modelId="{C42E9AED-CD48-4910-95F9-12030A6D1FC3}">
      <dgm:prSet custT="1"/>
      <dgm:spPr/>
      <dgm:t>
        <a:bodyPr/>
        <a:lstStyle/>
        <a:p>
          <a:pPr rtl="0"/>
          <a:r>
            <a:rPr lang="en-US" sz="2500">
              <a:latin typeface="Calibri Light" panose="020F0302020204030204"/>
            </a:rPr>
            <a:t>#5: </a:t>
          </a:r>
          <a:r>
            <a:rPr lang="en-US" sz="2400">
              <a:latin typeface="Calibri Light" panose="020F0302020204030204"/>
            </a:rPr>
            <a:t>Best Practices in Employment &amp; Day Services</a:t>
          </a:r>
          <a:endParaRPr lang="en-US" sz="2400"/>
        </a:p>
      </dgm:t>
    </dgm:pt>
    <dgm:pt modelId="{5CBD10CB-050E-46D3-A1AF-88A5DB69B196}" type="parTrans" cxnId="{559E8641-E56D-4934-960F-10E35B73DA58}">
      <dgm:prSet/>
      <dgm:spPr/>
      <dgm:t>
        <a:bodyPr/>
        <a:lstStyle/>
        <a:p>
          <a:endParaRPr lang="en-US"/>
        </a:p>
      </dgm:t>
    </dgm:pt>
    <dgm:pt modelId="{54D077E8-9E81-4DD3-908B-88AAD500F035}" type="sibTrans" cxnId="{559E8641-E56D-4934-960F-10E35B73DA58}">
      <dgm:prSet/>
      <dgm:spPr/>
      <dgm:t>
        <a:bodyPr/>
        <a:lstStyle/>
        <a:p>
          <a:endParaRPr lang="en-US"/>
        </a:p>
      </dgm:t>
    </dgm:pt>
    <dgm:pt modelId="{E19FB72E-CA60-4CE7-98BA-98B7EB7D7C61}">
      <dgm:prSet custT="1"/>
      <dgm:spPr/>
      <dgm:t>
        <a:bodyPr/>
        <a:lstStyle/>
        <a:p>
          <a:pPr rtl="0"/>
          <a:r>
            <a:rPr lang="en-US" sz="2500">
              <a:latin typeface="Calibri Light" panose="020F0302020204030204"/>
            </a:rPr>
            <a:t>#6: Organizational </a:t>
          </a:r>
          <a:r>
            <a:rPr lang="en-US" sz="2400">
              <a:latin typeface="Calibri Light" panose="020F0302020204030204"/>
            </a:rPr>
            <a:t>Transformation (change)</a:t>
          </a:r>
          <a:endParaRPr lang="en-US" sz="2400"/>
        </a:p>
      </dgm:t>
    </dgm:pt>
    <dgm:pt modelId="{A809591A-D3C2-4531-BBC1-3EDAE659FF06}" type="parTrans" cxnId="{70718F7A-31A0-44D9-9607-D2671F219546}">
      <dgm:prSet/>
      <dgm:spPr/>
      <dgm:t>
        <a:bodyPr/>
        <a:lstStyle/>
        <a:p>
          <a:endParaRPr lang="en-US"/>
        </a:p>
      </dgm:t>
    </dgm:pt>
    <dgm:pt modelId="{C4B282E2-4EB6-4AF9-8B3E-6F015A6CBC55}" type="sibTrans" cxnId="{70718F7A-31A0-44D9-9607-D2671F219546}">
      <dgm:prSet/>
      <dgm:spPr/>
      <dgm:t>
        <a:bodyPr/>
        <a:lstStyle/>
        <a:p>
          <a:endParaRPr lang="en-US"/>
        </a:p>
      </dgm:t>
    </dgm:pt>
    <dgm:pt modelId="{97695662-BAF3-4E1F-8297-856421E58B48}">
      <dgm:prSet custT="1"/>
      <dgm:spPr/>
      <dgm:t>
        <a:bodyPr/>
        <a:lstStyle/>
        <a:p>
          <a:pPr rtl="0"/>
          <a:r>
            <a:rPr lang="en-US" sz="2500">
              <a:latin typeface="Calibri Light" panose="020F0302020204030204"/>
            </a:rPr>
            <a:t>#7: </a:t>
          </a:r>
          <a:r>
            <a:rPr lang="en-US" sz="2400">
              <a:latin typeface="Calibri Light" panose="020F0302020204030204"/>
            </a:rPr>
            <a:t>Managing Through Change</a:t>
          </a:r>
          <a:endParaRPr lang="en-US" sz="2400"/>
        </a:p>
      </dgm:t>
    </dgm:pt>
    <dgm:pt modelId="{E1093A03-81D7-485A-BA2D-C079441AE6D3}" type="parTrans" cxnId="{727D08C6-5296-4532-8DFF-674B86CDBA42}">
      <dgm:prSet/>
      <dgm:spPr/>
      <dgm:t>
        <a:bodyPr/>
        <a:lstStyle/>
        <a:p>
          <a:endParaRPr lang="en-US"/>
        </a:p>
      </dgm:t>
    </dgm:pt>
    <dgm:pt modelId="{509960BB-4DBE-45D0-9B35-6890D22B38E4}" type="sibTrans" cxnId="{727D08C6-5296-4532-8DFF-674B86CDBA42}">
      <dgm:prSet/>
      <dgm:spPr/>
      <dgm:t>
        <a:bodyPr/>
        <a:lstStyle/>
        <a:p>
          <a:endParaRPr lang="en-US"/>
        </a:p>
      </dgm:t>
    </dgm:pt>
    <dgm:pt modelId="{F108ABD9-A924-4BB7-BFF2-605D8C1FF3FA}">
      <dgm:prSet custT="1"/>
      <dgm:spPr/>
      <dgm:t>
        <a:bodyPr/>
        <a:lstStyle/>
        <a:p>
          <a:pPr rtl="0"/>
          <a:r>
            <a:rPr lang="en-US" sz="2500">
              <a:latin typeface="Calibri Light" panose="020F0302020204030204"/>
            </a:rPr>
            <a:t>#8: </a:t>
          </a:r>
          <a:r>
            <a:rPr lang="en-US" sz="2400">
              <a:latin typeface="Calibri Light" panose="020F0302020204030204"/>
            </a:rPr>
            <a:t>Creating Systems for Quality Improvement</a:t>
          </a:r>
          <a:endParaRPr lang="en-US" sz="2400"/>
        </a:p>
      </dgm:t>
    </dgm:pt>
    <dgm:pt modelId="{ABFB948A-EBA6-466A-A7F3-A0B3B9605F80}" type="parTrans" cxnId="{C7EADB62-3832-425A-98E4-844FEA4DE3A4}">
      <dgm:prSet/>
      <dgm:spPr/>
      <dgm:t>
        <a:bodyPr/>
        <a:lstStyle/>
        <a:p>
          <a:endParaRPr lang="en-US"/>
        </a:p>
      </dgm:t>
    </dgm:pt>
    <dgm:pt modelId="{279F1544-58CD-4866-9D40-76552FD05F3D}" type="sibTrans" cxnId="{C7EADB62-3832-425A-98E4-844FEA4DE3A4}">
      <dgm:prSet/>
      <dgm:spPr/>
      <dgm:t>
        <a:bodyPr/>
        <a:lstStyle/>
        <a:p>
          <a:endParaRPr lang="en-US"/>
        </a:p>
      </dgm:t>
    </dgm:pt>
    <dgm:pt modelId="{370C5362-52EE-4A65-BD5B-6E96E1C312CA}" type="pres">
      <dgm:prSet presAssocID="{EDEB54D7-D621-483C-A84E-6074B50A7E19}" presName="vert0" presStyleCnt="0">
        <dgm:presLayoutVars>
          <dgm:dir/>
          <dgm:animOne val="branch"/>
          <dgm:animLvl val="lvl"/>
        </dgm:presLayoutVars>
      </dgm:prSet>
      <dgm:spPr/>
    </dgm:pt>
    <dgm:pt modelId="{71A6FFB3-8E4E-4E97-910C-C4CE9E85E9B5}" type="pres">
      <dgm:prSet presAssocID="{AE37FE82-56B3-4E38-88DE-5F5FF17D72D7}" presName="thickLine" presStyleLbl="alignNode1" presStyleIdx="0" presStyleCnt="1"/>
      <dgm:spPr/>
    </dgm:pt>
    <dgm:pt modelId="{27545458-E6AE-4EE5-B013-79572758E3B1}" type="pres">
      <dgm:prSet presAssocID="{AE37FE82-56B3-4E38-88DE-5F5FF17D72D7}" presName="horz1" presStyleCnt="0"/>
      <dgm:spPr/>
    </dgm:pt>
    <dgm:pt modelId="{5A8621F6-F0DF-4D30-B852-0D804578573A}" type="pres">
      <dgm:prSet presAssocID="{AE37FE82-56B3-4E38-88DE-5F5FF17D72D7}" presName="tx1" presStyleLbl="revTx" presStyleIdx="0" presStyleCnt="9"/>
      <dgm:spPr/>
    </dgm:pt>
    <dgm:pt modelId="{6C11AFC2-EC79-4BB8-A8DD-3A0AEA41D99F}" type="pres">
      <dgm:prSet presAssocID="{AE37FE82-56B3-4E38-88DE-5F5FF17D72D7}" presName="vert1" presStyleCnt="0"/>
      <dgm:spPr/>
    </dgm:pt>
    <dgm:pt modelId="{E9D7CAF6-93FB-4827-9C0B-822C03D798C1}" type="pres">
      <dgm:prSet presAssocID="{2CC3325D-F26F-4169-A8F2-E9724DD9BF3E}" presName="vertSpace2a" presStyleCnt="0"/>
      <dgm:spPr/>
    </dgm:pt>
    <dgm:pt modelId="{7950C0E4-6CCC-4231-981A-55D246474F65}" type="pres">
      <dgm:prSet presAssocID="{2CC3325D-F26F-4169-A8F2-E9724DD9BF3E}" presName="horz2" presStyleCnt="0"/>
      <dgm:spPr/>
    </dgm:pt>
    <dgm:pt modelId="{CA02B8A8-2BE4-49D4-8B4E-E186CC6CC69F}" type="pres">
      <dgm:prSet presAssocID="{2CC3325D-F26F-4169-A8F2-E9724DD9BF3E}" presName="horzSpace2" presStyleCnt="0"/>
      <dgm:spPr/>
    </dgm:pt>
    <dgm:pt modelId="{C5AD1EBC-771A-4521-9948-1B7625793B5E}" type="pres">
      <dgm:prSet presAssocID="{2CC3325D-F26F-4169-A8F2-E9724DD9BF3E}" presName="tx2" presStyleLbl="revTx" presStyleIdx="1" presStyleCnt="9"/>
      <dgm:spPr/>
    </dgm:pt>
    <dgm:pt modelId="{297F4D50-2455-415F-88C7-7FE529E5B2AC}" type="pres">
      <dgm:prSet presAssocID="{2CC3325D-F26F-4169-A8F2-E9724DD9BF3E}" presName="vert2" presStyleCnt="0"/>
      <dgm:spPr/>
    </dgm:pt>
    <dgm:pt modelId="{E43311EA-4DCE-488B-90E1-3B4D700F7498}" type="pres">
      <dgm:prSet presAssocID="{2CC3325D-F26F-4169-A8F2-E9724DD9BF3E}" presName="thinLine2b" presStyleLbl="callout" presStyleIdx="0" presStyleCnt="8"/>
      <dgm:spPr/>
    </dgm:pt>
    <dgm:pt modelId="{E58777EE-98EC-4652-8C24-FA72D0FEEA4C}" type="pres">
      <dgm:prSet presAssocID="{2CC3325D-F26F-4169-A8F2-E9724DD9BF3E}" presName="vertSpace2b" presStyleCnt="0"/>
      <dgm:spPr/>
    </dgm:pt>
    <dgm:pt modelId="{C1E2EA42-1E0B-4024-BD05-CF4059DA9E26}" type="pres">
      <dgm:prSet presAssocID="{14A7E1AD-2AF7-45A4-8820-BB21B55E80B3}" presName="horz2" presStyleCnt="0"/>
      <dgm:spPr/>
    </dgm:pt>
    <dgm:pt modelId="{75F0EB88-1B35-48A0-96ED-D5EBD92C108E}" type="pres">
      <dgm:prSet presAssocID="{14A7E1AD-2AF7-45A4-8820-BB21B55E80B3}" presName="horzSpace2" presStyleCnt="0"/>
      <dgm:spPr/>
    </dgm:pt>
    <dgm:pt modelId="{DF88638A-DF95-4A29-BEC7-71D9DC124D5D}" type="pres">
      <dgm:prSet presAssocID="{14A7E1AD-2AF7-45A4-8820-BB21B55E80B3}" presName="tx2" presStyleLbl="revTx" presStyleIdx="2" presStyleCnt="9"/>
      <dgm:spPr/>
    </dgm:pt>
    <dgm:pt modelId="{FE7E1F30-E6DB-404F-B1E7-DEE869C51ACB}" type="pres">
      <dgm:prSet presAssocID="{14A7E1AD-2AF7-45A4-8820-BB21B55E80B3}" presName="vert2" presStyleCnt="0"/>
      <dgm:spPr/>
    </dgm:pt>
    <dgm:pt modelId="{A3AA8138-E6E3-4901-B40F-AE22A8B80BDC}" type="pres">
      <dgm:prSet presAssocID="{14A7E1AD-2AF7-45A4-8820-BB21B55E80B3}" presName="thinLine2b" presStyleLbl="callout" presStyleIdx="1" presStyleCnt="8"/>
      <dgm:spPr/>
    </dgm:pt>
    <dgm:pt modelId="{FA25DA58-C114-48B4-A758-A4FEC190B55E}" type="pres">
      <dgm:prSet presAssocID="{14A7E1AD-2AF7-45A4-8820-BB21B55E80B3}" presName="vertSpace2b" presStyleCnt="0"/>
      <dgm:spPr/>
    </dgm:pt>
    <dgm:pt modelId="{A33F0341-0C1A-4ABF-84D8-ADC88E4F2B8F}" type="pres">
      <dgm:prSet presAssocID="{085967A5-ED1D-4EBA-9005-7D51DCECA4E9}" presName="horz2" presStyleCnt="0"/>
      <dgm:spPr/>
    </dgm:pt>
    <dgm:pt modelId="{359547D2-7764-4AD8-ACA6-AD7F3ACC2536}" type="pres">
      <dgm:prSet presAssocID="{085967A5-ED1D-4EBA-9005-7D51DCECA4E9}" presName="horzSpace2" presStyleCnt="0"/>
      <dgm:spPr/>
    </dgm:pt>
    <dgm:pt modelId="{8BF7B697-25E5-4012-9002-E1FDD58BE25E}" type="pres">
      <dgm:prSet presAssocID="{085967A5-ED1D-4EBA-9005-7D51DCECA4E9}" presName="tx2" presStyleLbl="revTx" presStyleIdx="3" presStyleCnt="9"/>
      <dgm:spPr/>
    </dgm:pt>
    <dgm:pt modelId="{5154C1F5-B1B1-4788-8250-34D36A850B97}" type="pres">
      <dgm:prSet presAssocID="{085967A5-ED1D-4EBA-9005-7D51DCECA4E9}" presName="vert2" presStyleCnt="0"/>
      <dgm:spPr/>
    </dgm:pt>
    <dgm:pt modelId="{9298CD09-4D7B-4D86-A0BE-EEB62C682110}" type="pres">
      <dgm:prSet presAssocID="{085967A5-ED1D-4EBA-9005-7D51DCECA4E9}" presName="thinLine2b" presStyleLbl="callout" presStyleIdx="2" presStyleCnt="8"/>
      <dgm:spPr/>
    </dgm:pt>
    <dgm:pt modelId="{9779F477-60AB-4537-86C1-5AA9E51F9703}" type="pres">
      <dgm:prSet presAssocID="{085967A5-ED1D-4EBA-9005-7D51DCECA4E9}" presName="vertSpace2b" presStyleCnt="0"/>
      <dgm:spPr/>
    </dgm:pt>
    <dgm:pt modelId="{501BF210-7C45-41B3-8085-D3D5F944CF4B}" type="pres">
      <dgm:prSet presAssocID="{F7169AE5-6A52-44B5-960C-5CB238FCB3AF}" presName="horz2" presStyleCnt="0"/>
      <dgm:spPr/>
    </dgm:pt>
    <dgm:pt modelId="{360FBA9D-6A30-4772-90BB-A1C6B3B03D43}" type="pres">
      <dgm:prSet presAssocID="{F7169AE5-6A52-44B5-960C-5CB238FCB3AF}" presName="horzSpace2" presStyleCnt="0"/>
      <dgm:spPr/>
    </dgm:pt>
    <dgm:pt modelId="{DC97B774-ED6A-4A03-AEBF-E0292D3FDE3C}" type="pres">
      <dgm:prSet presAssocID="{F7169AE5-6A52-44B5-960C-5CB238FCB3AF}" presName="tx2" presStyleLbl="revTx" presStyleIdx="4" presStyleCnt="9"/>
      <dgm:spPr/>
    </dgm:pt>
    <dgm:pt modelId="{E2FAE91C-6539-46F2-A2FD-EA5BDB92FD7E}" type="pres">
      <dgm:prSet presAssocID="{F7169AE5-6A52-44B5-960C-5CB238FCB3AF}" presName="vert2" presStyleCnt="0"/>
      <dgm:spPr/>
    </dgm:pt>
    <dgm:pt modelId="{5BC40D12-9011-433A-A04B-9BCA131DBE28}" type="pres">
      <dgm:prSet presAssocID="{F7169AE5-6A52-44B5-960C-5CB238FCB3AF}" presName="thinLine2b" presStyleLbl="callout" presStyleIdx="3" presStyleCnt="8"/>
      <dgm:spPr/>
    </dgm:pt>
    <dgm:pt modelId="{6F772D7D-4981-43DD-9D9A-5D529C1D48FA}" type="pres">
      <dgm:prSet presAssocID="{F7169AE5-6A52-44B5-960C-5CB238FCB3AF}" presName="vertSpace2b" presStyleCnt="0"/>
      <dgm:spPr/>
    </dgm:pt>
    <dgm:pt modelId="{B66C60BA-E89F-4CB3-BFBA-9895F9DF138E}" type="pres">
      <dgm:prSet presAssocID="{C42E9AED-CD48-4910-95F9-12030A6D1FC3}" presName="horz2" presStyleCnt="0"/>
      <dgm:spPr/>
    </dgm:pt>
    <dgm:pt modelId="{74D00BD3-1DAB-4F77-98F8-081289B8DE9B}" type="pres">
      <dgm:prSet presAssocID="{C42E9AED-CD48-4910-95F9-12030A6D1FC3}" presName="horzSpace2" presStyleCnt="0"/>
      <dgm:spPr/>
    </dgm:pt>
    <dgm:pt modelId="{F4A29DCF-D071-4E47-8BDD-A2005B33D97A}" type="pres">
      <dgm:prSet presAssocID="{C42E9AED-CD48-4910-95F9-12030A6D1FC3}" presName="tx2" presStyleLbl="revTx" presStyleIdx="5" presStyleCnt="9"/>
      <dgm:spPr/>
    </dgm:pt>
    <dgm:pt modelId="{00C7C469-9C8C-420D-800E-B58112412F15}" type="pres">
      <dgm:prSet presAssocID="{C42E9AED-CD48-4910-95F9-12030A6D1FC3}" presName="vert2" presStyleCnt="0"/>
      <dgm:spPr/>
    </dgm:pt>
    <dgm:pt modelId="{FEB5D30D-6345-4889-942B-10DA9BBA28B5}" type="pres">
      <dgm:prSet presAssocID="{C42E9AED-CD48-4910-95F9-12030A6D1FC3}" presName="thinLine2b" presStyleLbl="callout" presStyleIdx="4" presStyleCnt="8"/>
      <dgm:spPr/>
    </dgm:pt>
    <dgm:pt modelId="{A0C70EDB-F19B-421E-AF59-076ED368725F}" type="pres">
      <dgm:prSet presAssocID="{C42E9AED-CD48-4910-95F9-12030A6D1FC3}" presName="vertSpace2b" presStyleCnt="0"/>
      <dgm:spPr/>
    </dgm:pt>
    <dgm:pt modelId="{D0FD235A-D80F-4E37-83D7-431143692211}" type="pres">
      <dgm:prSet presAssocID="{E19FB72E-CA60-4CE7-98BA-98B7EB7D7C61}" presName="horz2" presStyleCnt="0"/>
      <dgm:spPr/>
    </dgm:pt>
    <dgm:pt modelId="{22CBC0D1-0130-42D6-B313-8BEB42A6D999}" type="pres">
      <dgm:prSet presAssocID="{E19FB72E-CA60-4CE7-98BA-98B7EB7D7C61}" presName="horzSpace2" presStyleCnt="0"/>
      <dgm:spPr/>
    </dgm:pt>
    <dgm:pt modelId="{5500D156-BE92-45ED-B514-3C35D130B940}" type="pres">
      <dgm:prSet presAssocID="{E19FB72E-CA60-4CE7-98BA-98B7EB7D7C61}" presName="tx2" presStyleLbl="revTx" presStyleIdx="6" presStyleCnt="9"/>
      <dgm:spPr/>
    </dgm:pt>
    <dgm:pt modelId="{17442750-B26B-4AC8-97B6-EB158226363F}" type="pres">
      <dgm:prSet presAssocID="{E19FB72E-CA60-4CE7-98BA-98B7EB7D7C61}" presName="vert2" presStyleCnt="0"/>
      <dgm:spPr/>
    </dgm:pt>
    <dgm:pt modelId="{31EE367D-11F2-4896-AE78-A89224D35716}" type="pres">
      <dgm:prSet presAssocID="{E19FB72E-CA60-4CE7-98BA-98B7EB7D7C61}" presName="thinLine2b" presStyleLbl="callout" presStyleIdx="5" presStyleCnt="8"/>
      <dgm:spPr/>
    </dgm:pt>
    <dgm:pt modelId="{A7241EE9-0E53-47C3-9691-38582D3634C4}" type="pres">
      <dgm:prSet presAssocID="{E19FB72E-CA60-4CE7-98BA-98B7EB7D7C61}" presName="vertSpace2b" presStyleCnt="0"/>
      <dgm:spPr/>
    </dgm:pt>
    <dgm:pt modelId="{A04C08B5-13F5-42B2-B572-E371F7DDA2F6}" type="pres">
      <dgm:prSet presAssocID="{97695662-BAF3-4E1F-8297-856421E58B48}" presName="horz2" presStyleCnt="0"/>
      <dgm:spPr/>
    </dgm:pt>
    <dgm:pt modelId="{163EE321-C741-40A2-965E-E0B0159235CE}" type="pres">
      <dgm:prSet presAssocID="{97695662-BAF3-4E1F-8297-856421E58B48}" presName="horzSpace2" presStyleCnt="0"/>
      <dgm:spPr/>
    </dgm:pt>
    <dgm:pt modelId="{07C958B4-D4CB-4F2C-ACA7-9FC2252BB31B}" type="pres">
      <dgm:prSet presAssocID="{97695662-BAF3-4E1F-8297-856421E58B48}" presName="tx2" presStyleLbl="revTx" presStyleIdx="7" presStyleCnt="9"/>
      <dgm:spPr/>
    </dgm:pt>
    <dgm:pt modelId="{4358DD4F-1AF4-4E4A-8C5E-9BC47ACC5CA3}" type="pres">
      <dgm:prSet presAssocID="{97695662-BAF3-4E1F-8297-856421E58B48}" presName="vert2" presStyleCnt="0"/>
      <dgm:spPr/>
    </dgm:pt>
    <dgm:pt modelId="{673488E1-7417-4C5A-91C8-59E80D8BEF85}" type="pres">
      <dgm:prSet presAssocID="{97695662-BAF3-4E1F-8297-856421E58B48}" presName="thinLine2b" presStyleLbl="callout" presStyleIdx="6" presStyleCnt="8"/>
      <dgm:spPr/>
    </dgm:pt>
    <dgm:pt modelId="{770E0B5B-F499-4354-B3C5-957D7426A058}" type="pres">
      <dgm:prSet presAssocID="{97695662-BAF3-4E1F-8297-856421E58B48}" presName="vertSpace2b" presStyleCnt="0"/>
      <dgm:spPr/>
    </dgm:pt>
    <dgm:pt modelId="{EF81F41C-FA12-4F87-BB94-85DA5569CC8A}" type="pres">
      <dgm:prSet presAssocID="{F108ABD9-A924-4BB7-BFF2-605D8C1FF3FA}" presName="horz2" presStyleCnt="0"/>
      <dgm:spPr/>
    </dgm:pt>
    <dgm:pt modelId="{3F966176-B381-47D0-8823-428D8C106C8B}" type="pres">
      <dgm:prSet presAssocID="{F108ABD9-A924-4BB7-BFF2-605D8C1FF3FA}" presName="horzSpace2" presStyleCnt="0"/>
      <dgm:spPr/>
    </dgm:pt>
    <dgm:pt modelId="{7A75A819-A64D-4F4D-96D8-B22078B63A4C}" type="pres">
      <dgm:prSet presAssocID="{F108ABD9-A924-4BB7-BFF2-605D8C1FF3FA}" presName="tx2" presStyleLbl="revTx" presStyleIdx="8" presStyleCnt="9"/>
      <dgm:spPr/>
    </dgm:pt>
    <dgm:pt modelId="{486DA54C-0039-4953-8C22-B5576B39F59C}" type="pres">
      <dgm:prSet presAssocID="{F108ABD9-A924-4BB7-BFF2-605D8C1FF3FA}" presName="vert2" presStyleCnt="0"/>
      <dgm:spPr/>
    </dgm:pt>
    <dgm:pt modelId="{547B8CFE-C1F6-4718-AFAD-3674CDE53DB2}" type="pres">
      <dgm:prSet presAssocID="{F108ABD9-A924-4BB7-BFF2-605D8C1FF3FA}" presName="thinLine2b" presStyleLbl="callout" presStyleIdx="7" presStyleCnt="8"/>
      <dgm:spPr/>
    </dgm:pt>
    <dgm:pt modelId="{A04433FE-0CDB-48CD-8A88-B12EE4124E14}" type="pres">
      <dgm:prSet presAssocID="{F108ABD9-A924-4BB7-BFF2-605D8C1FF3FA}" presName="vertSpace2b" presStyleCnt="0"/>
      <dgm:spPr/>
    </dgm:pt>
  </dgm:ptLst>
  <dgm:cxnLst>
    <dgm:cxn modelId="{366C4709-87C0-40AC-B78D-F4B81E505048}" srcId="{EDEB54D7-D621-483C-A84E-6074B50A7E19}" destId="{AE37FE82-56B3-4E38-88DE-5F5FF17D72D7}" srcOrd="0" destOrd="0" parTransId="{56706AFB-E480-41CF-9AD8-93423A8C7D55}" sibTransId="{380805CD-38AA-40E9-BA47-93249C489930}"/>
    <dgm:cxn modelId="{7C556712-C173-4C85-ADFE-D541CC45755E}" type="presOf" srcId="{2CC3325D-F26F-4169-A8F2-E9724DD9BF3E}" destId="{C5AD1EBC-771A-4521-9948-1B7625793B5E}" srcOrd="0" destOrd="0" presId="urn:microsoft.com/office/officeart/2008/layout/LinedList"/>
    <dgm:cxn modelId="{1309E725-CC5E-4132-84A8-BF2AA161CB98}" srcId="{AE37FE82-56B3-4E38-88DE-5F5FF17D72D7}" destId="{085967A5-ED1D-4EBA-9005-7D51DCECA4E9}" srcOrd="2" destOrd="0" parTransId="{36C3DF61-826E-4171-BE3E-FD9A86745338}" sibTransId="{49A8EB24-0A6A-4DE2-8CD1-52FD2EAC7C77}"/>
    <dgm:cxn modelId="{738FEE2E-122C-471E-B050-EFBB6F742273}" type="presOf" srcId="{F7169AE5-6A52-44B5-960C-5CB238FCB3AF}" destId="{DC97B774-ED6A-4A03-AEBF-E0292D3FDE3C}" srcOrd="0" destOrd="0" presId="urn:microsoft.com/office/officeart/2008/layout/LinedList"/>
    <dgm:cxn modelId="{5827502F-BE1E-4144-AECA-CFFD9F46646E}" type="presOf" srcId="{14A7E1AD-2AF7-45A4-8820-BB21B55E80B3}" destId="{DF88638A-DF95-4A29-BEC7-71D9DC124D5D}" srcOrd="0" destOrd="0" presId="urn:microsoft.com/office/officeart/2008/layout/LinedList"/>
    <dgm:cxn modelId="{2040243A-CCBA-46F9-84AC-C440FEC0FABB}" srcId="{AE37FE82-56B3-4E38-88DE-5F5FF17D72D7}" destId="{2CC3325D-F26F-4169-A8F2-E9724DD9BF3E}" srcOrd="0" destOrd="0" parTransId="{9F603017-AB6C-41A1-8370-359C4BAC0CDC}" sibTransId="{7FB06108-F248-494E-9927-E529CB72C1A3}"/>
    <dgm:cxn modelId="{559E8641-E56D-4934-960F-10E35B73DA58}" srcId="{AE37FE82-56B3-4E38-88DE-5F5FF17D72D7}" destId="{C42E9AED-CD48-4910-95F9-12030A6D1FC3}" srcOrd="4" destOrd="0" parTransId="{5CBD10CB-050E-46D3-A1AF-88A5DB69B196}" sibTransId="{54D077E8-9E81-4DD3-908B-88AAD500F035}"/>
    <dgm:cxn modelId="{C7EADB62-3832-425A-98E4-844FEA4DE3A4}" srcId="{AE37FE82-56B3-4E38-88DE-5F5FF17D72D7}" destId="{F108ABD9-A924-4BB7-BFF2-605D8C1FF3FA}" srcOrd="7" destOrd="0" parTransId="{ABFB948A-EBA6-466A-A7F3-A0B3B9605F80}" sibTransId="{279F1544-58CD-4866-9D40-76552FD05F3D}"/>
    <dgm:cxn modelId="{49316865-E63D-4947-8019-EDCEB93DC2C5}" type="presOf" srcId="{E19FB72E-CA60-4CE7-98BA-98B7EB7D7C61}" destId="{5500D156-BE92-45ED-B514-3C35D130B940}" srcOrd="0" destOrd="0" presId="urn:microsoft.com/office/officeart/2008/layout/LinedList"/>
    <dgm:cxn modelId="{70718F7A-31A0-44D9-9607-D2671F219546}" srcId="{AE37FE82-56B3-4E38-88DE-5F5FF17D72D7}" destId="{E19FB72E-CA60-4CE7-98BA-98B7EB7D7C61}" srcOrd="5" destOrd="0" parTransId="{A809591A-D3C2-4531-BBC1-3EDAE659FF06}" sibTransId="{C4B282E2-4EB6-4AF9-8B3E-6F015A6CBC55}"/>
    <dgm:cxn modelId="{DF42677B-3FB4-46C2-A813-0B67047FDB2E}" type="presOf" srcId="{EDEB54D7-D621-483C-A84E-6074B50A7E19}" destId="{370C5362-52EE-4A65-BD5B-6E96E1C312CA}" srcOrd="0" destOrd="0" presId="urn:microsoft.com/office/officeart/2008/layout/LinedList"/>
    <dgm:cxn modelId="{9600428A-6B47-4ECA-AE2B-A9FD074F420B}" type="presOf" srcId="{AE37FE82-56B3-4E38-88DE-5F5FF17D72D7}" destId="{5A8621F6-F0DF-4D30-B852-0D804578573A}" srcOrd="0" destOrd="0" presId="urn:microsoft.com/office/officeart/2008/layout/LinedList"/>
    <dgm:cxn modelId="{200FD1A8-501C-471D-839C-364F283236B8}" type="presOf" srcId="{085967A5-ED1D-4EBA-9005-7D51DCECA4E9}" destId="{8BF7B697-25E5-4012-9002-E1FDD58BE25E}" srcOrd="0" destOrd="0" presId="urn:microsoft.com/office/officeart/2008/layout/LinedList"/>
    <dgm:cxn modelId="{FF5A95AB-2B87-428B-AA57-0EC1FF16D6D9}" srcId="{AE37FE82-56B3-4E38-88DE-5F5FF17D72D7}" destId="{F7169AE5-6A52-44B5-960C-5CB238FCB3AF}" srcOrd="3" destOrd="0" parTransId="{0F58CACE-73C4-4F24-959A-092D3DA1CCD8}" sibTransId="{5DF89232-F171-4899-B941-DEE49094AF51}"/>
    <dgm:cxn modelId="{E19524B1-7C73-4ACB-BF1F-9E23980E2E41}" type="presOf" srcId="{C42E9AED-CD48-4910-95F9-12030A6D1FC3}" destId="{F4A29DCF-D071-4E47-8BDD-A2005B33D97A}" srcOrd="0" destOrd="0" presId="urn:microsoft.com/office/officeart/2008/layout/LinedList"/>
    <dgm:cxn modelId="{727D08C6-5296-4532-8DFF-674B86CDBA42}" srcId="{AE37FE82-56B3-4E38-88DE-5F5FF17D72D7}" destId="{97695662-BAF3-4E1F-8297-856421E58B48}" srcOrd="6" destOrd="0" parTransId="{E1093A03-81D7-485A-BA2D-C079441AE6D3}" sibTransId="{509960BB-4DBE-45D0-9B35-6890D22B38E4}"/>
    <dgm:cxn modelId="{0A7EEEC7-D7C0-49BA-B739-32F518706FC7}" srcId="{AE37FE82-56B3-4E38-88DE-5F5FF17D72D7}" destId="{14A7E1AD-2AF7-45A4-8820-BB21B55E80B3}" srcOrd="1" destOrd="0" parTransId="{17C9D00A-B296-4759-9DA6-F7B2D6755959}" sibTransId="{15B74401-03F9-405F-A3DD-DAFB79E4FF58}"/>
    <dgm:cxn modelId="{C2184AF4-BEF8-4977-AB7C-F1A4352B95E9}" type="presOf" srcId="{F108ABD9-A924-4BB7-BFF2-605D8C1FF3FA}" destId="{7A75A819-A64D-4F4D-96D8-B22078B63A4C}" srcOrd="0" destOrd="0" presId="urn:microsoft.com/office/officeart/2008/layout/LinedList"/>
    <dgm:cxn modelId="{ABA7B7F9-8741-4437-9A39-4EF409833C16}" type="presOf" srcId="{97695662-BAF3-4E1F-8297-856421E58B48}" destId="{07C958B4-D4CB-4F2C-ACA7-9FC2252BB31B}" srcOrd="0" destOrd="0" presId="urn:microsoft.com/office/officeart/2008/layout/LinedList"/>
    <dgm:cxn modelId="{F094ECD3-F51E-4E1A-A7AE-829E5279DA16}" type="presParOf" srcId="{370C5362-52EE-4A65-BD5B-6E96E1C312CA}" destId="{71A6FFB3-8E4E-4E97-910C-C4CE9E85E9B5}" srcOrd="0" destOrd="0" presId="urn:microsoft.com/office/officeart/2008/layout/LinedList"/>
    <dgm:cxn modelId="{0B9759BD-5DD7-435B-A0C8-C1EB2B9D6617}" type="presParOf" srcId="{370C5362-52EE-4A65-BD5B-6E96E1C312CA}" destId="{27545458-E6AE-4EE5-B013-79572758E3B1}" srcOrd="1" destOrd="0" presId="urn:microsoft.com/office/officeart/2008/layout/LinedList"/>
    <dgm:cxn modelId="{739534F1-6F00-4FE0-937E-A4F102B601BA}" type="presParOf" srcId="{27545458-E6AE-4EE5-B013-79572758E3B1}" destId="{5A8621F6-F0DF-4D30-B852-0D804578573A}" srcOrd="0" destOrd="0" presId="urn:microsoft.com/office/officeart/2008/layout/LinedList"/>
    <dgm:cxn modelId="{C577284A-A551-4A72-9D98-7DE27A439D73}" type="presParOf" srcId="{27545458-E6AE-4EE5-B013-79572758E3B1}" destId="{6C11AFC2-EC79-4BB8-A8DD-3A0AEA41D99F}" srcOrd="1" destOrd="0" presId="urn:microsoft.com/office/officeart/2008/layout/LinedList"/>
    <dgm:cxn modelId="{F75718A4-EA7D-4336-ADD7-A4308B8E0535}" type="presParOf" srcId="{6C11AFC2-EC79-4BB8-A8DD-3A0AEA41D99F}" destId="{E9D7CAF6-93FB-4827-9C0B-822C03D798C1}" srcOrd="0" destOrd="0" presId="urn:microsoft.com/office/officeart/2008/layout/LinedList"/>
    <dgm:cxn modelId="{55AB524D-1DF2-4118-87B9-BEA5D2F2D75A}" type="presParOf" srcId="{6C11AFC2-EC79-4BB8-A8DD-3A0AEA41D99F}" destId="{7950C0E4-6CCC-4231-981A-55D246474F65}" srcOrd="1" destOrd="0" presId="urn:microsoft.com/office/officeart/2008/layout/LinedList"/>
    <dgm:cxn modelId="{00763D25-2D81-4437-922A-B398D556A1C4}" type="presParOf" srcId="{7950C0E4-6CCC-4231-981A-55D246474F65}" destId="{CA02B8A8-2BE4-49D4-8B4E-E186CC6CC69F}" srcOrd="0" destOrd="0" presId="urn:microsoft.com/office/officeart/2008/layout/LinedList"/>
    <dgm:cxn modelId="{E3B45FC9-DD26-4FA2-AB44-9D3F4396C64D}" type="presParOf" srcId="{7950C0E4-6CCC-4231-981A-55D246474F65}" destId="{C5AD1EBC-771A-4521-9948-1B7625793B5E}" srcOrd="1" destOrd="0" presId="urn:microsoft.com/office/officeart/2008/layout/LinedList"/>
    <dgm:cxn modelId="{AE5AF21D-D5F1-467D-88B1-02ABA38851F4}" type="presParOf" srcId="{7950C0E4-6CCC-4231-981A-55D246474F65}" destId="{297F4D50-2455-415F-88C7-7FE529E5B2AC}" srcOrd="2" destOrd="0" presId="urn:microsoft.com/office/officeart/2008/layout/LinedList"/>
    <dgm:cxn modelId="{965FE2EF-A50F-400D-839B-55BF5ACFEA4E}" type="presParOf" srcId="{6C11AFC2-EC79-4BB8-A8DD-3A0AEA41D99F}" destId="{E43311EA-4DCE-488B-90E1-3B4D700F7498}" srcOrd="2" destOrd="0" presId="urn:microsoft.com/office/officeart/2008/layout/LinedList"/>
    <dgm:cxn modelId="{CA17861E-DDF2-4E1E-94B2-8982A55CD929}" type="presParOf" srcId="{6C11AFC2-EC79-4BB8-A8DD-3A0AEA41D99F}" destId="{E58777EE-98EC-4652-8C24-FA72D0FEEA4C}" srcOrd="3" destOrd="0" presId="urn:microsoft.com/office/officeart/2008/layout/LinedList"/>
    <dgm:cxn modelId="{D02AC6A8-06B3-4250-9EAF-5D64EFF27C87}" type="presParOf" srcId="{6C11AFC2-EC79-4BB8-A8DD-3A0AEA41D99F}" destId="{C1E2EA42-1E0B-4024-BD05-CF4059DA9E26}" srcOrd="4" destOrd="0" presId="urn:microsoft.com/office/officeart/2008/layout/LinedList"/>
    <dgm:cxn modelId="{B0C4FB09-F2DB-4276-A4F6-70F28E17AB8F}" type="presParOf" srcId="{C1E2EA42-1E0B-4024-BD05-CF4059DA9E26}" destId="{75F0EB88-1B35-48A0-96ED-D5EBD92C108E}" srcOrd="0" destOrd="0" presId="urn:microsoft.com/office/officeart/2008/layout/LinedList"/>
    <dgm:cxn modelId="{06C52B77-1286-4E55-896D-F3675B1B3621}" type="presParOf" srcId="{C1E2EA42-1E0B-4024-BD05-CF4059DA9E26}" destId="{DF88638A-DF95-4A29-BEC7-71D9DC124D5D}" srcOrd="1" destOrd="0" presId="urn:microsoft.com/office/officeart/2008/layout/LinedList"/>
    <dgm:cxn modelId="{BBD3F4A1-E57B-4BB3-AD6C-B1B36E9D2D7A}" type="presParOf" srcId="{C1E2EA42-1E0B-4024-BD05-CF4059DA9E26}" destId="{FE7E1F30-E6DB-404F-B1E7-DEE869C51ACB}" srcOrd="2" destOrd="0" presId="urn:microsoft.com/office/officeart/2008/layout/LinedList"/>
    <dgm:cxn modelId="{517783B2-9DC9-4374-BEEF-06CC209ADC89}" type="presParOf" srcId="{6C11AFC2-EC79-4BB8-A8DD-3A0AEA41D99F}" destId="{A3AA8138-E6E3-4901-B40F-AE22A8B80BDC}" srcOrd="5" destOrd="0" presId="urn:microsoft.com/office/officeart/2008/layout/LinedList"/>
    <dgm:cxn modelId="{F717244F-3FFE-47F6-903A-5A3F15482997}" type="presParOf" srcId="{6C11AFC2-EC79-4BB8-A8DD-3A0AEA41D99F}" destId="{FA25DA58-C114-48B4-A758-A4FEC190B55E}" srcOrd="6" destOrd="0" presId="urn:microsoft.com/office/officeart/2008/layout/LinedList"/>
    <dgm:cxn modelId="{F8D911E2-9F5E-4043-B829-6CB703DDC0F2}" type="presParOf" srcId="{6C11AFC2-EC79-4BB8-A8DD-3A0AEA41D99F}" destId="{A33F0341-0C1A-4ABF-84D8-ADC88E4F2B8F}" srcOrd="7" destOrd="0" presId="urn:microsoft.com/office/officeart/2008/layout/LinedList"/>
    <dgm:cxn modelId="{0768D8CB-13EC-40EC-8D02-ECA539DED59B}" type="presParOf" srcId="{A33F0341-0C1A-4ABF-84D8-ADC88E4F2B8F}" destId="{359547D2-7764-4AD8-ACA6-AD7F3ACC2536}" srcOrd="0" destOrd="0" presId="urn:microsoft.com/office/officeart/2008/layout/LinedList"/>
    <dgm:cxn modelId="{7273719F-7046-4A65-8B6B-AE0ADEC3E57A}" type="presParOf" srcId="{A33F0341-0C1A-4ABF-84D8-ADC88E4F2B8F}" destId="{8BF7B697-25E5-4012-9002-E1FDD58BE25E}" srcOrd="1" destOrd="0" presId="urn:microsoft.com/office/officeart/2008/layout/LinedList"/>
    <dgm:cxn modelId="{FF4CB19D-C375-4935-9903-686CF45FEF75}" type="presParOf" srcId="{A33F0341-0C1A-4ABF-84D8-ADC88E4F2B8F}" destId="{5154C1F5-B1B1-4788-8250-34D36A850B97}" srcOrd="2" destOrd="0" presId="urn:microsoft.com/office/officeart/2008/layout/LinedList"/>
    <dgm:cxn modelId="{BBF49E84-8602-43F1-BDBB-D4C74D233380}" type="presParOf" srcId="{6C11AFC2-EC79-4BB8-A8DD-3A0AEA41D99F}" destId="{9298CD09-4D7B-4D86-A0BE-EEB62C682110}" srcOrd="8" destOrd="0" presId="urn:microsoft.com/office/officeart/2008/layout/LinedList"/>
    <dgm:cxn modelId="{8826E52B-7B07-4055-8F46-0E811894C963}" type="presParOf" srcId="{6C11AFC2-EC79-4BB8-A8DD-3A0AEA41D99F}" destId="{9779F477-60AB-4537-86C1-5AA9E51F9703}" srcOrd="9" destOrd="0" presId="urn:microsoft.com/office/officeart/2008/layout/LinedList"/>
    <dgm:cxn modelId="{9A11F827-85FD-4FAA-8A97-DC108AECF47E}" type="presParOf" srcId="{6C11AFC2-EC79-4BB8-A8DD-3A0AEA41D99F}" destId="{501BF210-7C45-41B3-8085-D3D5F944CF4B}" srcOrd="10" destOrd="0" presId="urn:microsoft.com/office/officeart/2008/layout/LinedList"/>
    <dgm:cxn modelId="{BB9ACAD2-15A9-4DB6-B21D-D4A8A8F2CC93}" type="presParOf" srcId="{501BF210-7C45-41B3-8085-D3D5F944CF4B}" destId="{360FBA9D-6A30-4772-90BB-A1C6B3B03D43}" srcOrd="0" destOrd="0" presId="urn:microsoft.com/office/officeart/2008/layout/LinedList"/>
    <dgm:cxn modelId="{5B280273-78D4-46A5-9475-C06BECC05A20}" type="presParOf" srcId="{501BF210-7C45-41B3-8085-D3D5F944CF4B}" destId="{DC97B774-ED6A-4A03-AEBF-E0292D3FDE3C}" srcOrd="1" destOrd="0" presId="urn:microsoft.com/office/officeart/2008/layout/LinedList"/>
    <dgm:cxn modelId="{FDB5EFD7-C0C8-4D55-A288-D28D81C3BA7B}" type="presParOf" srcId="{501BF210-7C45-41B3-8085-D3D5F944CF4B}" destId="{E2FAE91C-6539-46F2-A2FD-EA5BDB92FD7E}" srcOrd="2" destOrd="0" presId="urn:microsoft.com/office/officeart/2008/layout/LinedList"/>
    <dgm:cxn modelId="{207D5E9A-A441-4ABA-AAD6-BE2C77DF3C30}" type="presParOf" srcId="{6C11AFC2-EC79-4BB8-A8DD-3A0AEA41D99F}" destId="{5BC40D12-9011-433A-A04B-9BCA131DBE28}" srcOrd="11" destOrd="0" presId="urn:microsoft.com/office/officeart/2008/layout/LinedList"/>
    <dgm:cxn modelId="{E2D3AF90-38A1-4833-9844-5551E349D65D}" type="presParOf" srcId="{6C11AFC2-EC79-4BB8-A8DD-3A0AEA41D99F}" destId="{6F772D7D-4981-43DD-9D9A-5D529C1D48FA}" srcOrd="12" destOrd="0" presId="urn:microsoft.com/office/officeart/2008/layout/LinedList"/>
    <dgm:cxn modelId="{5F1A1C4E-6AE5-4156-B1CC-4F2D976C70B4}" type="presParOf" srcId="{6C11AFC2-EC79-4BB8-A8DD-3A0AEA41D99F}" destId="{B66C60BA-E89F-4CB3-BFBA-9895F9DF138E}" srcOrd="13" destOrd="0" presId="urn:microsoft.com/office/officeart/2008/layout/LinedList"/>
    <dgm:cxn modelId="{2B0E244D-1EE2-4DFA-8BB5-67D21335510A}" type="presParOf" srcId="{B66C60BA-E89F-4CB3-BFBA-9895F9DF138E}" destId="{74D00BD3-1DAB-4F77-98F8-081289B8DE9B}" srcOrd="0" destOrd="0" presId="urn:microsoft.com/office/officeart/2008/layout/LinedList"/>
    <dgm:cxn modelId="{AB3EBE23-2F9A-4A18-9D3B-3CF3011850F5}" type="presParOf" srcId="{B66C60BA-E89F-4CB3-BFBA-9895F9DF138E}" destId="{F4A29DCF-D071-4E47-8BDD-A2005B33D97A}" srcOrd="1" destOrd="0" presId="urn:microsoft.com/office/officeart/2008/layout/LinedList"/>
    <dgm:cxn modelId="{EA57A214-ED58-4138-8DCC-20037DD2104A}" type="presParOf" srcId="{B66C60BA-E89F-4CB3-BFBA-9895F9DF138E}" destId="{00C7C469-9C8C-420D-800E-B58112412F15}" srcOrd="2" destOrd="0" presId="urn:microsoft.com/office/officeart/2008/layout/LinedList"/>
    <dgm:cxn modelId="{5B6810B2-785F-4E4A-9490-1042A9CCA983}" type="presParOf" srcId="{6C11AFC2-EC79-4BB8-A8DD-3A0AEA41D99F}" destId="{FEB5D30D-6345-4889-942B-10DA9BBA28B5}" srcOrd="14" destOrd="0" presId="urn:microsoft.com/office/officeart/2008/layout/LinedList"/>
    <dgm:cxn modelId="{04AFAFE0-3C4D-4FF4-BC37-3A702480CB5F}" type="presParOf" srcId="{6C11AFC2-EC79-4BB8-A8DD-3A0AEA41D99F}" destId="{A0C70EDB-F19B-421E-AF59-076ED368725F}" srcOrd="15" destOrd="0" presId="urn:microsoft.com/office/officeart/2008/layout/LinedList"/>
    <dgm:cxn modelId="{DE1F6646-9411-43FC-B73F-6D4920F0FAE7}" type="presParOf" srcId="{6C11AFC2-EC79-4BB8-A8DD-3A0AEA41D99F}" destId="{D0FD235A-D80F-4E37-83D7-431143692211}" srcOrd="16" destOrd="0" presId="urn:microsoft.com/office/officeart/2008/layout/LinedList"/>
    <dgm:cxn modelId="{5AE52AD2-D309-4235-B4E6-36309DA41511}" type="presParOf" srcId="{D0FD235A-D80F-4E37-83D7-431143692211}" destId="{22CBC0D1-0130-42D6-B313-8BEB42A6D999}" srcOrd="0" destOrd="0" presId="urn:microsoft.com/office/officeart/2008/layout/LinedList"/>
    <dgm:cxn modelId="{A7081F61-93CD-47AD-89C3-9460BF031230}" type="presParOf" srcId="{D0FD235A-D80F-4E37-83D7-431143692211}" destId="{5500D156-BE92-45ED-B514-3C35D130B940}" srcOrd="1" destOrd="0" presId="urn:microsoft.com/office/officeart/2008/layout/LinedList"/>
    <dgm:cxn modelId="{B3F912D2-6218-4A07-9918-D95872AE3086}" type="presParOf" srcId="{D0FD235A-D80F-4E37-83D7-431143692211}" destId="{17442750-B26B-4AC8-97B6-EB158226363F}" srcOrd="2" destOrd="0" presId="urn:microsoft.com/office/officeart/2008/layout/LinedList"/>
    <dgm:cxn modelId="{42CF2C6C-23F0-45C8-A7AF-7CB4EA928E91}" type="presParOf" srcId="{6C11AFC2-EC79-4BB8-A8DD-3A0AEA41D99F}" destId="{31EE367D-11F2-4896-AE78-A89224D35716}" srcOrd="17" destOrd="0" presId="urn:microsoft.com/office/officeart/2008/layout/LinedList"/>
    <dgm:cxn modelId="{AEEA249D-9F1F-4B65-8307-97AC81607057}" type="presParOf" srcId="{6C11AFC2-EC79-4BB8-A8DD-3A0AEA41D99F}" destId="{A7241EE9-0E53-47C3-9691-38582D3634C4}" srcOrd="18" destOrd="0" presId="urn:microsoft.com/office/officeart/2008/layout/LinedList"/>
    <dgm:cxn modelId="{2E818608-57DC-47AE-8C5E-405057A5BA46}" type="presParOf" srcId="{6C11AFC2-EC79-4BB8-A8DD-3A0AEA41D99F}" destId="{A04C08B5-13F5-42B2-B572-E371F7DDA2F6}" srcOrd="19" destOrd="0" presId="urn:microsoft.com/office/officeart/2008/layout/LinedList"/>
    <dgm:cxn modelId="{C4F1CF27-0450-46BF-9E28-CEC715B15401}" type="presParOf" srcId="{A04C08B5-13F5-42B2-B572-E371F7DDA2F6}" destId="{163EE321-C741-40A2-965E-E0B0159235CE}" srcOrd="0" destOrd="0" presId="urn:microsoft.com/office/officeart/2008/layout/LinedList"/>
    <dgm:cxn modelId="{FDB9BF77-7040-42A9-85B8-A2A8A5D98589}" type="presParOf" srcId="{A04C08B5-13F5-42B2-B572-E371F7DDA2F6}" destId="{07C958B4-D4CB-4F2C-ACA7-9FC2252BB31B}" srcOrd="1" destOrd="0" presId="urn:microsoft.com/office/officeart/2008/layout/LinedList"/>
    <dgm:cxn modelId="{12DA8843-81F1-4C8F-B480-72C0456234A4}" type="presParOf" srcId="{A04C08B5-13F5-42B2-B572-E371F7DDA2F6}" destId="{4358DD4F-1AF4-4E4A-8C5E-9BC47ACC5CA3}" srcOrd="2" destOrd="0" presId="urn:microsoft.com/office/officeart/2008/layout/LinedList"/>
    <dgm:cxn modelId="{28B9EEE4-A30C-4C79-891E-A94696B5EF80}" type="presParOf" srcId="{6C11AFC2-EC79-4BB8-A8DD-3A0AEA41D99F}" destId="{673488E1-7417-4C5A-91C8-59E80D8BEF85}" srcOrd="20" destOrd="0" presId="urn:microsoft.com/office/officeart/2008/layout/LinedList"/>
    <dgm:cxn modelId="{4ACB109E-EBAB-4C61-8492-1ABA632D11F3}" type="presParOf" srcId="{6C11AFC2-EC79-4BB8-A8DD-3A0AEA41D99F}" destId="{770E0B5B-F499-4354-B3C5-957D7426A058}" srcOrd="21" destOrd="0" presId="urn:microsoft.com/office/officeart/2008/layout/LinedList"/>
    <dgm:cxn modelId="{AB5A22EF-694A-443D-89F8-379793DC9A10}" type="presParOf" srcId="{6C11AFC2-EC79-4BB8-A8DD-3A0AEA41D99F}" destId="{EF81F41C-FA12-4F87-BB94-85DA5569CC8A}" srcOrd="22" destOrd="0" presId="urn:microsoft.com/office/officeart/2008/layout/LinedList"/>
    <dgm:cxn modelId="{97F85CF5-B3C0-4DEC-821A-CBA7A147F0DE}" type="presParOf" srcId="{EF81F41C-FA12-4F87-BB94-85DA5569CC8A}" destId="{3F966176-B381-47D0-8823-428D8C106C8B}" srcOrd="0" destOrd="0" presId="urn:microsoft.com/office/officeart/2008/layout/LinedList"/>
    <dgm:cxn modelId="{80B737F9-7C6D-4379-9E2B-68AC9BA7626D}" type="presParOf" srcId="{EF81F41C-FA12-4F87-BB94-85DA5569CC8A}" destId="{7A75A819-A64D-4F4D-96D8-B22078B63A4C}" srcOrd="1" destOrd="0" presId="urn:microsoft.com/office/officeart/2008/layout/LinedList"/>
    <dgm:cxn modelId="{122AA5D0-BB4D-4702-A92D-27D3C3C1947D}" type="presParOf" srcId="{EF81F41C-FA12-4F87-BB94-85DA5569CC8A}" destId="{486DA54C-0039-4953-8C22-B5576B39F59C}" srcOrd="2" destOrd="0" presId="urn:microsoft.com/office/officeart/2008/layout/LinedList"/>
    <dgm:cxn modelId="{90CD89E4-E2AF-4D2F-90EB-E9E4E4B64996}" type="presParOf" srcId="{6C11AFC2-EC79-4BB8-A8DD-3A0AEA41D99F}" destId="{547B8CFE-C1F6-4718-AFAD-3674CDE53DB2}" srcOrd="23" destOrd="0" presId="urn:microsoft.com/office/officeart/2008/layout/LinedList"/>
    <dgm:cxn modelId="{A0E6C8B9-977E-4776-B650-69795178669D}" type="presParOf" srcId="{6C11AFC2-EC79-4BB8-A8DD-3A0AEA41D99F}" destId="{A04433FE-0CDB-48CD-8A88-B12EE4124E14}" srcOrd="24"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9E839B1-A2CC-405F-AFAD-71BED5615ED3}"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685A0A24-9C21-428C-BFD8-3D3CB324C4B5}">
      <dgm:prSet/>
      <dgm:spPr/>
      <dgm:t>
        <a:bodyPr/>
        <a:lstStyle/>
        <a:p>
          <a:r>
            <a:rPr lang="en-US" b="1"/>
            <a:t>What you said:</a:t>
          </a:r>
          <a:endParaRPr lang="en-US"/>
        </a:p>
      </dgm:t>
    </dgm:pt>
    <dgm:pt modelId="{FE953E99-5D94-47BA-83A0-246501CC099C}" type="parTrans" cxnId="{438704AB-3E07-4FD9-A123-EAB1F4D2F951}">
      <dgm:prSet/>
      <dgm:spPr/>
      <dgm:t>
        <a:bodyPr/>
        <a:lstStyle/>
        <a:p>
          <a:endParaRPr lang="en-US"/>
        </a:p>
      </dgm:t>
    </dgm:pt>
    <dgm:pt modelId="{D45037E1-BDDF-4FC4-9AD7-3574E81A4DC1}" type="sibTrans" cxnId="{438704AB-3E07-4FD9-A123-EAB1F4D2F951}">
      <dgm:prSet/>
      <dgm:spPr/>
      <dgm:t>
        <a:bodyPr/>
        <a:lstStyle/>
        <a:p>
          <a:endParaRPr lang="en-US"/>
        </a:p>
      </dgm:t>
    </dgm:pt>
    <dgm:pt modelId="{45432734-AAE0-4B7B-BC47-52B5704D819A}">
      <dgm:prSet phldr="0"/>
      <dgm:spPr/>
      <dgm:t>
        <a:bodyPr/>
        <a:lstStyle/>
        <a:p>
          <a:pPr rtl="0"/>
          <a:r>
            <a:rPr lang="en-US">
              <a:latin typeface="Calibri Light" panose="020F0302020204030204"/>
            </a:rPr>
            <a:t>Staff shortages</a:t>
          </a:r>
          <a:endParaRPr lang="en-US"/>
        </a:p>
      </dgm:t>
    </dgm:pt>
    <dgm:pt modelId="{8B361DDF-6058-4F67-8318-DFAC8459C779}" type="parTrans" cxnId="{3245A7B8-523B-4D79-B9AC-E0C7C101B328}">
      <dgm:prSet/>
      <dgm:spPr/>
      <dgm:t>
        <a:bodyPr/>
        <a:lstStyle/>
        <a:p>
          <a:endParaRPr lang="en-US"/>
        </a:p>
      </dgm:t>
    </dgm:pt>
    <dgm:pt modelId="{45456A7E-1855-4949-A7C6-A1958DFE65D0}" type="sibTrans" cxnId="{3245A7B8-523B-4D79-B9AC-E0C7C101B328}">
      <dgm:prSet/>
      <dgm:spPr/>
      <dgm:t>
        <a:bodyPr/>
        <a:lstStyle/>
        <a:p>
          <a:endParaRPr lang="en-US"/>
        </a:p>
      </dgm:t>
    </dgm:pt>
    <dgm:pt modelId="{9D3F36B1-50ED-452C-9D80-AC4778B38269}">
      <dgm:prSet phldr="0"/>
      <dgm:spPr/>
      <dgm:t>
        <a:bodyPr/>
        <a:lstStyle/>
        <a:p>
          <a:pPr rtl="0"/>
          <a:r>
            <a:rPr lang="en-US">
              <a:latin typeface="Calibri Light" panose="020F0302020204030204"/>
            </a:rPr>
            <a:t>Time for training</a:t>
          </a:r>
          <a:endParaRPr lang="en-US"/>
        </a:p>
      </dgm:t>
    </dgm:pt>
    <dgm:pt modelId="{A861CC77-639F-4C16-8595-6CB971DD609D}" type="parTrans" cxnId="{39DB14B0-7713-4390-910D-F5BE3051B6D5}">
      <dgm:prSet/>
      <dgm:spPr/>
      <dgm:t>
        <a:bodyPr/>
        <a:lstStyle/>
        <a:p>
          <a:endParaRPr lang="en-US"/>
        </a:p>
      </dgm:t>
    </dgm:pt>
    <dgm:pt modelId="{443EA1E8-CCE2-449F-9CDD-79CA13CB36C3}" type="sibTrans" cxnId="{39DB14B0-7713-4390-910D-F5BE3051B6D5}">
      <dgm:prSet/>
      <dgm:spPr/>
      <dgm:t>
        <a:bodyPr/>
        <a:lstStyle/>
        <a:p>
          <a:endParaRPr lang="en-US"/>
        </a:p>
      </dgm:t>
    </dgm:pt>
    <dgm:pt modelId="{DC5D3174-B964-4CDD-A644-FA85B59CD811}">
      <dgm:prSet phldr="0"/>
      <dgm:spPr/>
      <dgm:t>
        <a:bodyPr/>
        <a:lstStyle/>
        <a:p>
          <a:pPr rtl="0"/>
          <a:r>
            <a:rPr lang="en-US">
              <a:latin typeface="Calibri Light" panose="020F0302020204030204"/>
            </a:rPr>
            <a:t>Lack of resources</a:t>
          </a:r>
        </a:p>
      </dgm:t>
    </dgm:pt>
    <dgm:pt modelId="{9F21620B-C4E7-4D9B-8F26-FA7A54A5EAF2}" type="parTrans" cxnId="{2354924A-5582-424A-907D-90102D78F1D8}">
      <dgm:prSet/>
      <dgm:spPr/>
      <dgm:t>
        <a:bodyPr/>
        <a:lstStyle/>
        <a:p>
          <a:endParaRPr lang="en-US"/>
        </a:p>
      </dgm:t>
    </dgm:pt>
    <dgm:pt modelId="{A9608043-34C1-486E-BA73-18DE8903D9EC}" type="sibTrans" cxnId="{2354924A-5582-424A-907D-90102D78F1D8}">
      <dgm:prSet/>
      <dgm:spPr/>
      <dgm:t>
        <a:bodyPr/>
        <a:lstStyle/>
        <a:p>
          <a:endParaRPr lang="en-US"/>
        </a:p>
      </dgm:t>
    </dgm:pt>
    <dgm:pt modelId="{14D6CBDE-F230-439D-9D4A-D03460182A9F}">
      <dgm:prSet phldr="0" custT="1"/>
      <dgm:spPr/>
      <dgm:t>
        <a:bodyPr/>
        <a:lstStyle/>
        <a:p>
          <a:pPr rtl="0"/>
          <a:r>
            <a:rPr lang="en-US" sz="4000" dirty="0">
              <a:latin typeface="Calibri Light" panose="020F0302020204030204"/>
            </a:rPr>
            <a:t>Wearing </a:t>
          </a:r>
          <a:r>
            <a:rPr lang="en-US" sz="3600" dirty="0">
              <a:latin typeface="Calibri Light" panose="020F0302020204030204"/>
            </a:rPr>
            <a:t>multiple</a:t>
          </a:r>
          <a:r>
            <a:rPr lang="en-US" sz="4000" dirty="0">
              <a:latin typeface="Calibri Light" panose="020F0302020204030204"/>
            </a:rPr>
            <a:t> hats</a:t>
          </a:r>
          <a:endParaRPr lang="en-US" sz="4000" dirty="0"/>
        </a:p>
      </dgm:t>
    </dgm:pt>
    <dgm:pt modelId="{DF7F5395-8477-4AEA-8C6E-F38C2878FA5F}" type="parTrans" cxnId="{8E387BD2-4D5F-486C-BF43-D09854DA2121}">
      <dgm:prSet/>
      <dgm:spPr/>
      <dgm:t>
        <a:bodyPr/>
        <a:lstStyle/>
        <a:p>
          <a:endParaRPr lang="en-US"/>
        </a:p>
      </dgm:t>
    </dgm:pt>
    <dgm:pt modelId="{BF8063A6-2927-44E4-B326-0F2E8DADD144}" type="sibTrans" cxnId="{8E387BD2-4D5F-486C-BF43-D09854DA2121}">
      <dgm:prSet/>
      <dgm:spPr/>
      <dgm:t>
        <a:bodyPr/>
        <a:lstStyle/>
        <a:p>
          <a:endParaRPr lang="en-US"/>
        </a:p>
      </dgm:t>
    </dgm:pt>
    <dgm:pt modelId="{604539A4-E9B0-43C0-9D2F-5A0DFA0D3304}" type="pres">
      <dgm:prSet presAssocID="{B9E839B1-A2CC-405F-AFAD-71BED5615ED3}" presName="vert0" presStyleCnt="0">
        <dgm:presLayoutVars>
          <dgm:dir/>
          <dgm:animOne val="branch"/>
          <dgm:animLvl val="lvl"/>
        </dgm:presLayoutVars>
      </dgm:prSet>
      <dgm:spPr/>
    </dgm:pt>
    <dgm:pt modelId="{A86171B4-00CD-4695-8CB1-C8C77BCF1C0E}" type="pres">
      <dgm:prSet presAssocID="{685A0A24-9C21-428C-BFD8-3D3CB324C4B5}" presName="thickLine" presStyleLbl="alignNode1" presStyleIdx="0" presStyleCnt="1"/>
      <dgm:spPr/>
    </dgm:pt>
    <dgm:pt modelId="{F40719B4-1465-4173-92BA-F427E8E8D15C}" type="pres">
      <dgm:prSet presAssocID="{685A0A24-9C21-428C-BFD8-3D3CB324C4B5}" presName="horz1" presStyleCnt="0"/>
      <dgm:spPr/>
    </dgm:pt>
    <dgm:pt modelId="{00CEE0B4-635C-48DD-8139-41F8E62B735B}" type="pres">
      <dgm:prSet presAssocID="{685A0A24-9C21-428C-BFD8-3D3CB324C4B5}" presName="tx1" presStyleLbl="revTx" presStyleIdx="0" presStyleCnt="5"/>
      <dgm:spPr/>
    </dgm:pt>
    <dgm:pt modelId="{1BED10CB-E46C-495D-A4DE-6BA3E74170C0}" type="pres">
      <dgm:prSet presAssocID="{685A0A24-9C21-428C-BFD8-3D3CB324C4B5}" presName="vert1" presStyleCnt="0"/>
      <dgm:spPr/>
    </dgm:pt>
    <dgm:pt modelId="{D615F2BB-646C-4D07-89B2-29989DD51AA4}" type="pres">
      <dgm:prSet presAssocID="{45432734-AAE0-4B7B-BC47-52B5704D819A}" presName="vertSpace2a" presStyleCnt="0"/>
      <dgm:spPr/>
    </dgm:pt>
    <dgm:pt modelId="{C0732AC5-E51C-47B0-956A-F7782ACCB16E}" type="pres">
      <dgm:prSet presAssocID="{45432734-AAE0-4B7B-BC47-52B5704D819A}" presName="horz2" presStyleCnt="0"/>
      <dgm:spPr/>
    </dgm:pt>
    <dgm:pt modelId="{27ABE303-0E3E-403A-8020-9E068F9F368B}" type="pres">
      <dgm:prSet presAssocID="{45432734-AAE0-4B7B-BC47-52B5704D819A}" presName="horzSpace2" presStyleCnt="0"/>
      <dgm:spPr/>
    </dgm:pt>
    <dgm:pt modelId="{209D7F8A-0D59-4DCB-BAFB-CB915C091B68}" type="pres">
      <dgm:prSet presAssocID="{45432734-AAE0-4B7B-BC47-52B5704D819A}" presName="tx2" presStyleLbl="revTx" presStyleIdx="1" presStyleCnt="5"/>
      <dgm:spPr/>
    </dgm:pt>
    <dgm:pt modelId="{9D8E7937-E41E-4818-9CE3-BAA1F4143E21}" type="pres">
      <dgm:prSet presAssocID="{45432734-AAE0-4B7B-BC47-52B5704D819A}" presName="vert2" presStyleCnt="0"/>
      <dgm:spPr/>
    </dgm:pt>
    <dgm:pt modelId="{C2BF7012-82A9-4BFA-8D0D-7AA98730DB17}" type="pres">
      <dgm:prSet presAssocID="{45432734-AAE0-4B7B-BC47-52B5704D819A}" presName="thinLine2b" presStyleLbl="callout" presStyleIdx="0" presStyleCnt="4"/>
      <dgm:spPr/>
    </dgm:pt>
    <dgm:pt modelId="{4E50E773-EDAD-41E8-8D73-2B619FD100ED}" type="pres">
      <dgm:prSet presAssocID="{45432734-AAE0-4B7B-BC47-52B5704D819A}" presName="vertSpace2b" presStyleCnt="0"/>
      <dgm:spPr/>
    </dgm:pt>
    <dgm:pt modelId="{5C03322C-235B-4A5E-8994-0A008A34021C}" type="pres">
      <dgm:prSet presAssocID="{9D3F36B1-50ED-452C-9D80-AC4778B38269}" presName="horz2" presStyleCnt="0"/>
      <dgm:spPr/>
    </dgm:pt>
    <dgm:pt modelId="{1EBD7F36-F6F6-48E0-BD41-D931BB81D610}" type="pres">
      <dgm:prSet presAssocID="{9D3F36B1-50ED-452C-9D80-AC4778B38269}" presName="horzSpace2" presStyleCnt="0"/>
      <dgm:spPr/>
    </dgm:pt>
    <dgm:pt modelId="{E606CE68-B86B-4DCD-B9AE-81EE942D0EA3}" type="pres">
      <dgm:prSet presAssocID="{9D3F36B1-50ED-452C-9D80-AC4778B38269}" presName="tx2" presStyleLbl="revTx" presStyleIdx="2" presStyleCnt="5"/>
      <dgm:spPr/>
    </dgm:pt>
    <dgm:pt modelId="{BDF8B0BC-9245-472C-89CA-77D6950D6A72}" type="pres">
      <dgm:prSet presAssocID="{9D3F36B1-50ED-452C-9D80-AC4778B38269}" presName="vert2" presStyleCnt="0"/>
      <dgm:spPr/>
    </dgm:pt>
    <dgm:pt modelId="{2A1C261D-1884-4D3B-99A7-C675FA3AFB75}" type="pres">
      <dgm:prSet presAssocID="{9D3F36B1-50ED-452C-9D80-AC4778B38269}" presName="thinLine2b" presStyleLbl="callout" presStyleIdx="1" presStyleCnt="4"/>
      <dgm:spPr/>
    </dgm:pt>
    <dgm:pt modelId="{0353B072-BBD4-47B0-A22B-46AC09126296}" type="pres">
      <dgm:prSet presAssocID="{9D3F36B1-50ED-452C-9D80-AC4778B38269}" presName="vertSpace2b" presStyleCnt="0"/>
      <dgm:spPr/>
    </dgm:pt>
    <dgm:pt modelId="{9E3A563B-3979-4B0B-9AEE-A5D2F130AA3F}" type="pres">
      <dgm:prSet presAssocID="{DC5D3174-B964-4CDD-A644-FA85B59CD811}" presName="horz2" presStyleCnt="0"/>
      <dgm:spPr/>
    </dgm:pt>
    <dgm:pt modelId="{A7B6BB83-52EA-4924-A61E-8D57B41438E9}" type="pres">
      <dgm:prSet presAssocID="{DC5D3174-B964-4CDD-A644-FA85B59CD811}" presName="horzSpace2" presStyleCnt="0"/>
      <dgm:spPr/>
    </dgm:pt>
    <dgm:pt modelId="{4A866E02-F6AD-478C-B62A-CDA10A587ABE}" type="pres">
      <dgm:prSet presAssocID="{DC5D3174-B964-4CDD-A644-FA85B59CD811}" presName="tx2" presStyleLbl="revTx" presStyleIdx="3" presStyleCnt="5"/>
      <dgm:spPr/>
    </dgm:pt>
    <dgm:pt modelId="{727FA7B5-5D68-4E3F-8F89-F8550162EE1F}" type="pres">
      <dgm:prSet presAssocID="{DC5D3174-B964-4CDD-A644-FA85B59CD811}" presName="vert2" presStyleCnt="0"/>
      <dgm:spPr/>
    </dgm:pt>
    <dgm:pt modelId="{A02398EA-F460-45F5-BD13-59AA177C72EF}" type="pres">
      <dgm:prSet presAssocID="{DC5D3174-B964-4CDD-A644-FA85B59CD811}" presName="thinLine2b" presStyleLbl="callout" presStyleIdx="2" presStyleCnt="4"/>
      <dgm:spPr/>
    </dgm:pt>
    <dgm:pt modelId="{48E51E21-C068-4C79-9B55-EC7B1F24F5EF}" type="pres">
      <dgm:prSet presAssocID="{DC5D3174-B964-4CDD-A644-FA85B59CD811}" presName="vertSpace2b" presStyleCnt="0"/>
      <dgm:spPr/>
    </dgm:pt>
    <dgm:pt modelId="{A9737EB7-825A-4CE7-A59A-2133BEC7630C}" type="pres">
      <dgm:prSet presAssocID="{14D6CBDE-F230-439D-9D4A-D03460182A9F}" presName="horz2" presStyleCnt="0"/>
      <dgm:spPr/>
    </dgm:pt>
    <dgm:pt modelId="{07DE3BDC-734D-4142-8AE9-4ECB5C51279A}" type="pres">
      <dgm:prSet presAssocID="{14D6CBDE-F230-439D-9D4A-D03460182A9F}" presName="horzSpace2" presStyleCnt="0"/>
      <dgm:spPr/>
    </dgm:pt>
    <dgm:pt modelId="{EC8EBC00-9192-4EF3-B69D-221F158E581F}" type="pres">
      <dgm:prSet presAssocID="{14D6CBDE-F230-439D-9D4A-D03460182A9F}" presName="tx2" presStyleLbl="revTx" presStyleIdx="4" presStyleCnt="5"/>
      <dgm:spPr/>
    </dgm:pt>
    <dgm:pt modelId="{940FD135-5D02-4A5B-97DB-F1383F78AB21}" type="pres">
      <dgm:prSet presAssocID="{14D6CBDE-F230-439D-9D4A-D03460182A9F}" presName="vert2" presStyleCnt="0"/>
      <dgm:spPr/>
    </dgm:pt>
    <dgm:pt modelId="{148482C4-D5B5-4258-A836-E0612595D68E}" type="pres">
      <dgm:prSet presAssocID="{14D6CBDE-F230-439D-9D4A-D03460182A9F}" presName="thinLine2b" presStyleLbl="callout" presStyleIdx="3" presStyleCnt="4"/>
      <dgm:spPr/>
    </dgm:pt>
    <dgm:pt modelId="{292E87D3-213D-4247-922D-EA0612FCAB0D}" type="pres">
      <dgm:prSet presAssocID="{14D6CBDE-F230-439D-9D4A-D03460182A9F}" presName="vertSpace2b" presStyleCnt="0"/>
      <dgm:spPr/>
    </dgm:pt>
  </dgm:ptLst>
  <dgm:cxnLst>
    <dgm:cxn modelId="{3082C824-71D7-4922-92A6-6A1CC001DF54}" type="presOf" srcId="{9D3F36B1-50ED-452C-9D80-AC4778B38269}" destId="{E606CE68-B86B-4DCD-B9AE-81EE942D0EA3}" srcOrd="0" destOrd="0" presId="urn:microsoft.com/office/officeart/2008/layout/LinedList"/>
    <dgm:cxn modelId="{2354924A-5582-424A-907D-90102D78F1D8}" srcId="{685A0A24-9C21-428C-BFD8-3D3CB324C4B5}" destId="{DC5D3174-B964-4CDD-A644-FA85B59CD811}" srcOrd="2" destOrd="0" parTransId="{9F21620B-C4E7-4D9B-8F26-FA7A54A5EAF2}" sibTransId="{A9608043-34C1-486E-BA73-18DE8903D9EC}"/>
    <dgm:cxn modelId="{EB62D76C-88B8-4C1D-B5DC-985AE438E1E1}" type="presOf" srcId="{14D6CBDE-F230-439D-9D4A-D03460182A9F}" destId="{EC8EBC00-9192-4EF3-B69D-221F158E581F}" srcOrd="0" destOrd="0" presId="urn:microsoft.com/office/officeart/2008/layout/LinedList"/>
    <dgm:cxn modelId="{B26AE1A5-7A25-4094-A7EB-5E0642F1727B}" type="presOf" srcId="{45432734-AAE0-4B7B-BC47-52B5704D819A}" destId="{209D7F8A-0D59-4DCB-BAFB-CB915C091B68}" srcOrd="0" destOrd="0" presId="urn:microsoft.com/office/officeart/2008/layout/LinedList"/>
    <dgm:cxn modelId="{438704AB-3E07-4FD9-A123-EAB1F4D2F951}" srcId="{B9E839B1-A2CC-405F-AFAD-71BED5615ED3}" destId="{685A0A24-9C21-428C-BFD8-3D3CB324C4B5}" srcOrd="0" destOrd="0" parTransId="{FE953E99-5D94-47BA-83A0-246501CC099C}" sibTransId="{D45037E1-BDDF-4FC4-9AD7-3574E81A4DC1}"/>
    <dgm:cxn modelId="{0241BBAE-125D-45F4-9565-20471B73F1BB}" type="presOf" srcId="{DC5D3174-B964-4CDD-A644-FA85B59CD811}" destId="{4A866E02-F6AD-478C-B62A-CDA10A587ABE}" srcOrd="0" destOrd="0" presId="urn:microsoft.com/office/officeart/2008/layout/LinedList"/>
    <dgm:cxn modelId="{39DB14B0-7713-4390-910D-F5BE3051B6D5}" srcId="{685A0A24-9C21-428C-BFD8-3D3CB324C4B5}" destId="{9D3F36B1-50ED-452C-9D80-AC4778B38269}" srcOrd="1" destOrd="0" parTransId="{A861CC77-639F-4C16-8595-6CB971DD609D}" sibTransId="{443EA1E8-CCE2-449F-9CDD-79CA13CB36C3}"/>
    <dgm:cxn modelId="{3245A7B8-523B-4D79-B9AC-E0C7C101B328}" srcId="{685A0A24-9C21-428C-BFD8-3D3CB324C4B5}" destId="{45432734-AAE0-4B7B-BC47-52B5704D819A}" srcOrd="0" destOrd="0" parTransId="{8B361DDF-6058-4F67-8318-DFAC8459C779}" sibTransId="{45456A7E-1855-4949-A7C6-A1958DFE65D0}"/>
    <dgm:cxn modelId="{42F2EAC8-E2D0-4AC2-9F1D-CABB72931DD8}" type="presOf" srcId="{685A0A24-9C21-428C-BFD8-3D3CB324C4B5}" destId="{00CEE0B4-635C-48DD-8139-41F8E62B735B}" srcOrd="0" destOrd="0" presId="urn:microsoft.com/office/officeart/2008/layout/LinedList"/>
    <dgm:cxn modelId="{8E387BD2-4D5F-486C-BF43-D09854DA2121}" srcId="{685A0A24-9C21-428C-BFD8-3D3CB324C4B5}" destId="{14D6CBDE-F230-439D-9D4A-D03460182A9F}" srcOrd="3" destOrd="0" parTransId="{DF7F5395-8477-4AEA-8C6E-F38C2878FA5F}" sibTransId="{BF8063A6-2927-44E4-B326-0F2E8DADD144}"/>
    <dgm:cxn modelId="{89DFBBE5-2D31-4275-B0C1-BEEED9B5B95C}" type="presOf" srcId="{B9E839B1-A2CC-405F-AFAD-71BED5615ED3}" destId="{604539A4-E9B0-43C0-9D2F-5A0DFA0D3304}" srcOrd="0" destOrd="0" presId="urn:microsoft.com/office/officeart/2008/layout/LinedList"/>
    <dgm:cxn modelId="{CA733C8C-1A14-4309-AC5F-79A99CC7ED38}" type="presParOf" srcId="{604539A4-E9B0-43C0-9D2F-5A0DFA0D3304}" destId="{A86171B4-00CD-4695-8CB1-C8C77BCF1C0E}" srcOrd="0" destOrd="0" presId="urn:microsoft.com/office/officeart/2008/layout/LinedList"/>
    <dgm:cxn modelId="{7495D0AB-B41F-4A3E-999C-8C3BED95D1C7}" type="presParOf" srcId="{604539A4-E9B0-43C0-9D2F-5A0DFA0D3304}" destId="{F40719B4-1465-4173-92BA-F427E8E8D15C}" srcOrd="1" destOrd="0" presId="urn:microsoft.com/office/officeart/2008/layout/LinedList"/>
    <dgm:cxn modelId="{EDBE6FA4-7F91-435F-8AEF-A51C3ACA1586}" type="presParOf" srcId="{F40719B4-1465-4173-92BA-F427E8E8D15C}" destId="{00CEE0B4-635C-48DD-8139-41F8E62B735B}" srcOrd="0" destOrd="0" presId="urn:microsoft.com/office/officeart/2008/layout/LinedList"/>
    <dgm:cxn modelId="{4A748092-A493-4320-AE64-CC976295B56E}" type="presParOf" srcId="{F40719B4-1465-4173-92BA-F427E8E8D15C}" destId="{1BED10CB-E46C-495D-A4DE-6BA3E74170C0}" srcOrd="1" destOrd="0" presId="urn:microsoft.com/office/officeart/2008/layout/LinedList"/>
    <dgm:cxn modelId="{62590E27-9174-4B44-ABBF-FA1EBC460429}" type="presParOf" srcId="{1BED10CB-E46C-495D-A4DE-6BA3E74170C0}" destId="{D615F2BB-646C-4D07-89B2-29989DD51AA4}" srcOrd="0" destOrd="0" presId="urn:microsoft.com/office/officeart/2008/layout/LinedList"/>
    <dgm:cxn modelId="{651AE3B3-4C70-41D5-9659-4ED0CBB481C8}" type="presParOf" srcId="{1BED10CB-E46C-495D-A4DE-6BA3E74170C0}" destId="{C0732AC5-E51C-47B0-956A-F7782ACCB16E}" srcOrd="1" destOrd="0" presId="urn:microsoft.com/office/officeart/2008/layout/LinedList"/>
    <dgm:cxn modelId="{84A897BA-5226-4312-B169-943D69B9AA55}" type="presParOf" srcId="{C0732AC5-E51C-47B0-956A-F7782ACCB16E}" destId="{27ABE303-0E3E-403A-8020-9E068F9F368B}" srcOrd="0" destOrd="0" presId="urn:microsoft.com/office/officeart/2008/layout/LinedList"/>
    <dgm:cxn modelId="{0C5E915C-365F-4CD7-9BA4-70BAD12F6800}" type="presParOf" srcId="{C0732AC5-E51C-47B0-956A-F7782ACCB16E}" destId="{209D7F8A-0D59-4DCB-BAFB-CB915C091B68}" srcOrd="1" destOrd="0" presId="urn:microsoft.com/office/officeart/2008/layout/LinedList"/>
    <dgm:cxn modelId="{B2239FFE-6AAB-45D6-AA87-4997942007AE}" type="presParOf" srcId="{C0732AC5-E51C-47B0-956A-F7782ACCB16E}" destId="{9D8E7937-E41E-4818-9CE3-BAA1F4143E21}" srcOrd="2" destOrd="0" presId="urn:microsoft.com/office/officeart/2008/layout/LinedList"/>
    <dgm:cxn modelId="{E35B5D44-51F1-4BBE-AF26-3F0F0A572477}" type="presParOf" srcId="{1BED10CB-E46C-495D-A4DE-6BA3E74170C0}" destId="{C2BF7012-82A9-4BFA-8D0D-7AA98730DB17}" srcOrd="2" destOrd="0" presId="urn:microsoft.com/office/officeart/2008/layout/LinedList"/>
    <dgm:cxn modelId="{0559FC44-260A-4E35-8301-2E94BDB1486E}" type="presParOf" srcId="{1BED10CB-E46C-495D-A4DE-6BA3E74170C0}" destId="{4E50E773-EDAD-41E8-8D73-2B619FD100ED}" srcOrd="3" destOrd="0" presId="urn:microsoft.com/office/officeart/2008/layout/LinedList"/>
    <dgm:cxn modelId="{6A795C5F-E430-4871-BAEC-B3288C556613}" type="presParOf" srcId="{1BED10CB-E46C-495D-A4DE-6BA3E74170C0}" destId="{5C03322C-235B-4A5E-8994-0A008A34021C}" srcOrd="4" destOrd="0" presId="urn:microsoft.com/office/officeart/2008/layout/LinedList"/>
    <dgm:cxn modelId="{8B508825-1EB7-49D0-B45C-6C97E04343F1}" type="presParOf" srcId="{5C03322C-235B-4A5E-8994-0A008A34021C}" destId="{1EBD7F36-F6F6-48E0-BD41-D931BB81D610}" srcOrd="0" destOrd="0" presId="urn:microsoft.com/office/officeart/2008/layout/LinedList"/>
    <dgm:cxn modelId="{DD380756-E944-4F87-AB99-821A276EE79C}" type="presParOf" srcId="{5C03322C-235B-4A5E-8994-0A008A34021C}" destId="{E606CE68-B86B-4DCD-B9AE-81EE942D0EA3}" srcOrd="1" destOrd="0" presId="urn:microsoft.com/office/officeart/2008/layout/LinedList"/>
    <dgm:cxn modelId="{84BA6937-A2D5-4901-B943-7758471F9C0C}" type="presParOf" srcId="{5C03322C-235B-4A5E-8994-0A008A34021C}" destId="{BDF8B0BC-9245-472C-89CA-77D6950D6A72}" srcOrd="2" destOrd="0" presId="urn:microsoft.com/office/officeart/2008/layout/LinedList"/>
    <dgm:cxn modelId="{DF094783-920F-4C01-93FA-D2A2081F44FE}" type="presParOf" srcId="{1BED10CB-E46C-495D-A4DE-6BA3E74170C0}" destId="{2A1C261D-1884-4D3B-99A7-C675FA3AFB75}" srcOrd="5" destOrd="0" presId="urn:microsoft.com/office/officeart/2008/layout/LinedList"/>
    <dgm:cxn modelId="{0E6BB0D6-9580-459E-9153-C4168FDE6F17}" type="presParOf" srcId="{1BED10CB-E46C-495D-A4DE-6BA3E74170C0}" destId="{0353B072-BBD4-47B0-A22B-46AC09126296}" srcOrd="6" destOrd="0" presId="urn:microsoft.com/office/officeart/2008/layout/LinedList"/>
    <dgm:cxn modelId="{DCD7CD56-BF00-489D-A6ED-2718FE328105}" type="presParOf" srcId="{1BED10CB-E46C-495D-A4DE-6BA3E74170C0}" destId="{9E3A563B-3979-4B0B-9AEE-A5D2F130AA3F}" srcOrd="7" destOrd="0" presId="urn:microsoft.com/office/officeart/2008/layout/LinedList"/>
    <dgm:cxn modelId="{7193F097-4F31-4831-87ED-3E196BD3FD09}" type="presParOf" srcId="{9E3A563B-3979-4B0B-9AEE-A5D2F130AA3F}" destId="{A7B6BB83-52EA-4924-A61E-8D57B41438E9}" srcOrd="0" destOrd="0" presId="urn:microsoft.com/office/officeart/2008/layout/LinedList"/>
    <dgm:cxn modelId="{8EFBEDB6-32CA-4172-AA8B-2665446D33D3}" type="presParOf" srcId="{9E3A563B-3979-4B0B-9AEE-A5D2F130AA3F}" destId="{4A866E02-F6AD-478C-B62A-CDA10A587ABE}" srcOrd="1" destOrd="0" presId="urn:microsoft.com/office/officeart/2008/layout/LinedList"/>
    <dgm:cxn modelId="{79F28672-859D-4A05-BFEE-6B4AFDE2BEFE}" type="presParOf" srcId="{9E3A563B-3979-4B0B-9AEE-A5D2F130AA3F}" destId="{727FA7B5-5D68-4E3F-8F89-F8550162EE1F}" srcOrd="2" destOrd="0" presId="urn:microsoft.com/office/officeart/2008/layout/LinedList"/>
    <dgm:cxn modelId="{97C3B8AF-7494-4F15-808A-E019DE82CADB}" type="presParOf" srcId="{1BED10CB-E46C-495D-A4DE-6BA3E74170C0}" destId="{A02398EA-F460-45F5-BD13-59AA177C72EF}" srcOrd="8" destOrd="0" presId="urn:microsoft.com/office/officeart/2008/layout/LinedList"/>
    <dgm:cxn modelId="{B5EE96C3-0074-4046-9B1B-9A7AB25D9E52}" type="presParOf" srcId="{1BED10CB-E46C-495D-A4DE-6BA3E74170C0}" destId="{48E51E21-C068-4C79-9B55-EC7B1F24F5EF}" srcOrd="9" destOrd="0" presId="urn:microsoft.com/office/officeart/2008/layout/LinedList"/>
    <dgm:cxn modelId="{3F6680DD-D048-47F0-9B90-8F19A170E849}" type="presParOf" srcId="{1BED10CB-E46C-495D-A4DE-6BA3E74170C0}" destId="{A9737EB7-825A-4CE7-A59A-2133BEC7630C}" srcOrd="10" destOrd="0" presId="urn:microsoft.com/office/officeart/2008/layout/LinedList"/>
    <dgm:cxn modelId="{5E15A531-A492-43D5-B457-2C4A7BCBD23D}" type="presParOf" srcId="{A9737EB7-825A-4CE7-A59A-2133BEC7630C}" destId="{07DE3BDC-734D-4142-8AE9-4ECB5C51279A}" srcOrd="0" destOrd="0" presId="urn:microsoft.com/office/officeart/2008/layout/LinedList"/>
    <dgm:cxn modelId="{1AA5C048-C469-47DD-BEC1-CFBEF674D046}" type="presParOf" srcId="{A9737EB7-825A-4CE7-A59A-2133BEC7630C}" destId="{EC8EBC00-9192-4EF3-B69D-221F158E581F}" srcOrd="1" destOrd="0" presId="urn:microsoft.com/office/officeart/2008/layout/LinedList"/>
    <dgm:cxn modelId="{4C1DAA1E-1AF7-4341-821C-D258999E8733}" type="presParOf" srcId="{A9737EB7-825A-4CE7-A59A-2133BEC7630C}" destId="{940FD135-5D02-4A5B-97DB-F1383F78AB21}" srcOrd="2" destOrd="0" presId="urn:microsoft.com/office/officeart/2008/layout/LinedList"/>
    <dgm:cxn modelId="{EE595CDF-25C6-445F-84DA-6043E6F1242C}" type="presParOf" srcId="{1BED10CB-E46C-495D-A4DE-6BA3E74170C0}" destId="{148482C4-D5B5-4258-A836-E0612595D68E}" srcOrd="11" destOrd="0" presId="urn:microsoft.com/office/officeart/2008/layout/LinedList"/>
    <dgm:cxn modelId="{D477634F-BD15-4F39-8E84-AF9EACA103A9}" type="presParOf" srcId="{1BED10CB-E46C-495D-A4DE-6BA3E74170C0}" destId="{292E87D3-213D-4247-922D-EA0612FCAB0D}" srcOrd="12"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A6FFB3-8E4E-4E97-910C-C4CE9E85E9B5}">
      <dsp:nvSpPr>
        <dsp:cNvPr id="0" name=""/>
        <dsp:cNvSpPr/>
      </dsp:nvSpPr>
      <dsp:spPr>
        <a:xfrm>
          <a:off x="0" y="0"/>
          <a:ext cx="1065749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8621F6-F0DF-4D30-B852-0D804578573A}">
      <dsp:nvSpPr>
        <dsp:cNvPr id="0" name=""/>
        <dsp:cNvSpPr/>
      </dsp:nvSpPr>
      <dsp:spPr>
        <a:xfrm>
          <a:off x="0" y="0"/>
          <a:ext cx="2131498" cy="5164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Course Modules:</a:t>
          </a:r>
        </a:p>
      </dsp:txBody>
      <dsp:txXfrm>
        <a:off x="0" y="0"/>
        <a:ext cx="2131498" cy="5164560"/>
      </dsp:txXfrm>
    </dsp:sp>
    <dsp:sp modelId="{C5AD1EBC-771A-4521-9948-1B7625793B5E}">
      <dsp:nvSpPr>
        <dsp:cNvPr id="0" name=""/>
        <dsp:cNvSpPr/>
      </dsp:nvSpPr>
      <dsp:spPr>
        <a:xfrm>
          <a:off x="2291360" y="30544"/>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a:latin typeface="Calibri Light" panose="020F0302020204030204"/>
            </a:rPr>
            <a:t>#1: </a:t>
          </a:r>
          <a:r>
            <a:rPr lang="en-US" sz="2400" kern="1200">
              <a:latin typeface="Calibri Light" panose="020F0302020204030204"/>
            </a:rPr>
            <a:t>Course Orientation</a:t>
          </a:r>
          <a:endParaRPr lang="en-US" sz="2400" kern="1200"/>
        </a:p>
      </dsp:txBody>
      <dsp:txXfrm>
        <a:off x="2291360" y="30544"/>
        <a:ext cx="8366129" cy="610895"/>
      </dsp:txXfrm>
    </dsp:sp>
    <dsp:sp modelId="{E43311EA-4DCE-488B-90E1-3B4D700F7498}">
      <dsp:nvSpPr>
        <dsp:cNvPr id="0" name=""/>
        <dsp:cNvSpPr/>
      </dsp:nvSpPr>
      <dsp:spPr>
        <a:xfrm>
          <a:off x="2131498" y="641440"/>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F88638A-DF95-4A29-BEC7-71D9DC124D5D}">
      <dsp:nvSpPr>
        <dsp:cNvPr id="0" name=""/>
        <dsp:cNvSpPr/>
      </dsp:nvSpPr>
      <dsp:spPr>
        <a:xfrm>
          <a:off x="2291360" y="671985"/>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a:latin typeface="Calibri Light" panose="020F0302020204030204"/>
            </a:rPr>
            <a:t>#2</a:t>
          </a:r>
          <a:r>
            <a:rPr lang="en-US" sz="2400" kern="1200">
              <a:latin typeface="Calibri Light" panose="020F0302020204030204"/>
            </a:rPr>
            <a:t>: Leadership</a:t>
          </a:r>
          <a:endParaRPr lang="en-US" sz="2400" kern="1200"/>
        </a:p>
      </dsp:txBody>
      <dsp:txXfrm>
        <a:off x="2291360" y="671985"/>
        <a:ext cx="8366129" cy="610895"/>
      </dsp:txXfrm>
    </dsp:sp>
    <dsp:sp modelId="{A3AA8138-E6E3-4901-B40F-AE22A8B80BDC}">
      <dsp:nvSpPr>
        <dsp:cNvPr id="0" name=""/>
        <dsp:cNvSpPr/>
      </dsp:nvSpPr>
      <dsp:spPr>
        <a:xfrm>
          <a:off x="2131498" y="1282881"/>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BF7B697-25E5-4012-9002-E1FDD58BE25E}">
      <dsp:nvSpPr>
        <dsp:cNvPr id="0" name=""/>
        <dsp:cNvSpPr/>
      </dsp:nvSpPr>
      <dsp:spPr>
        <a:xfrm>
          <a:off x="2291360" y="1313426"/>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a:latin typeface="Calibri Light" panose="020F0302020204030204"/>
            </a:rPr>
            <a:t>#3: </a:t>
          </a:r>
          <a:r>
            <a:rPr lang="en-US" sz="2400" kern="1200">
              <a:latin typeface="Calibri Light" panose="020F0302020204030204"/>
            </a:rPr>
            <a:t>Federal &amp; State Policy</a:t>
          </a:r>
          <a:endParaRPr lang="en-US" sz="2400" kern="1200"/>
        </a:p>
      </dsp:txBody>
      <dsp:txXfrm>
        <a:off x="2291360" y="1313426"/>
        <a:ext cx="8366129" cy="610895"/>
      </dsp:txXfrm>
    </dsp:sp>
    <dsp:sp modelId="{9298CD09-4D7B-4D86-A0BE-EEB62C682110}">
      <dsp:nvSpPr>
        <dsp:cNvPr id="0" name=""/>
        <dsp:cNvSpPr/>
      </dsp:nvSpPr>
      <dsp:spPr>
        <a:xfrm>
          <a:off x="2131498" y="1924321"/>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C97B774-ED6A-4A03-AEBF-E0292D3FDE3C}">
      <dsp:nvSpPr>
        <dsp:cNvPr id="0" name=""/>
        <dsp:cNvSpPr/>
      </dsp:nvSpPr>
      <dsp:spPr>
        <a:xfrm>
          <a:off x="2291360" y="1954866"/>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a:latin typeface="Calibri Light" panose="020F0302020204030204"/>
            </a:rPr>
            <a:t>#4: </a:t>
          </a:r>
          <a:r>
            <a:rPr lang="en-US" sz="2400" kern="1200">
              <a:latin typeface="Calibri Light" panose="020F0302020204030204"/>
            </a:rPr>
            <a:t>Aligning Mission, Vision and Values with Resources</a:t>
          </a:r>
          <a:endParaRPr lang="en-US" sz="2400" kern="1200"/>
        </a:p>
      </dsp:txBody>
      <dsp:txXfrm>
        <a:off x="2291360" y="1954866"/>
        <a:ext cx="8366129" cy="610895"/>
      </dsp:txXfrm>
    </dsp:sp>
    <dsp:sp modelId="{5BC40D12-9011-433A-A04B-9BCA131DBE28}">
      <dsp:nvSpPr>
        <dsp:cNvPr id="0" name=""/>
        <dsp:cNvSpPr/>
      </dsp:nvSpPr>
      <dsp:spPr>
        <a:xfrm>
          <a:off x="2131498" y="2565762"/>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4A29DCF-D071-4E47-8BDD-A2005B33D97A}">
      <dsp:nvSpPr>
        <dsp:cNvPr id="0" name=""/>
        <dsp:cNvSpPr/>
      </dsp:nvSpPr>
      <dsp:spPr>
        <a:xfrm>
          <a:off x="2291360" y="2596307"/>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a:latin typeface="Calibri Light" panose="020F0302020204030204"/>
            </a:rPr>
            <a:t>#5: </a:t>
          </a:r>
          <a:r>
            <a:rPr lang="en-US" sz="2400" kern="1200">
              <a:latin typeface="Calibri Light" panose="020F0302020204030204"/>
            </a:rPr>
            <a:t>Best Practices in Employment &amp; Day Services</a:t>
          </a:r>
          <a:endParaRPr lang="en-US" sz="2400" kern="1200"/>
        </a:p>
      </dsp:txBody>
      <dsp:txXfrm>
        <a:off x="2291360" y="2596307"/>
        <a:ext cx="8366129" cy="610895"/>
      </dsp:txXfrm>
    </dsp:sp>
    <dsp:sp modelId="{FEB5D30D-6345-4889-942B-10DA9BBA28B5}">
      <dsp:nvSpPr>
        <dsp:cNvPr id="0" name=""/>
        <dsp:cNvSpPr/>
      </dsp:nvSpPr>
      <dsp:spPr>
        <a:xfrm>
          <a:off x="2131498" y="3207203"/>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500D156-BE92-45ED-B514-3C35D130B940}">
      <dsp:nvSpPr>
        <dsp:cNvPr id="0" name=""/>
        <dsp:cNvSpPr/>
      </dsp:nvSpPr>
      <dsp:spPr>
        <a:xfrm>
          <a:off x="2291360" y="3237747"/>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a:latin typeface="Calibri Light" panose="020F0302020204030204"/>
            </a:rPr>
            <a:t>#6: Organizational </a:t>
          </a:r>
          <a:r>
            <a:rPr lang="en-US" sz="2400" kern="1200">
              <a:latin typeface="Calibri Light" panose="020F0302020204030204"/>
            </a:rPr>
            <a:t>Transformation (change)</a:t>
          </a:r>
          <a:endParaRPr lang="en-US" sz="2400" kern="1200"/>
        </a:p>
      </dsp:txBody>
      <dsp:txXfrm>
        <a:off x="2291360" y="3237747"/>
        <a:ext cx="8366129" cy="610895"/>
      </dsp:txXfrm>
    </dsp:sp>
    <dsp:sp modelId="{31EE367D-11F2-4896-AE78-A89224D35716}">
      <dsp:nvSpPr>
        <dsp:cNvPr id="0" name=""/>
        <dsp:cNvSpPr/>
      </dsp:nvSpPr>
      <dsp:spPr>
        <a:xfrm>
          <a:off x="2131498" y="3848643"/>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7C958B4-D4CB-4F2C-ACA7-9FC2252BB31B}">
      <dsp:nvSpPr>
        <dsp:cNvPr id="0" name=""/>
        <dsp:cNvSpPr/>
      </dsp:nvSpPr>
      <dsp:spPr>
        <a:xfrm>
          <a:off x="2291360" y="3879188"/>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a:latin typeface="Calibri Light" panose="020F0302020204030204"/>
            </a:rPr>
            <a:t>#7: </a:t>
          </a:r>
          <a:r>
            <a:rPr lang="en-US" sz="2400" kern="1200">
              <a:latin typeface="Calibri Light" panose="020F0302020204030204"/>
            </a:rPr>
            <a:t>Managing Through Change</a:t>
          </a:r>
          <a:endParaRPr lang="en-US" sz="2400" kern="1200"/>
        </a:p>
      </dsp:txBody>
      <dsp:txXfrm>
        <a:off x="2291360" y="3879188"/>
        <a:ext cx="8366129" cy="610895"/>
      </dsp:txXfrm>
    </dsp:sp>
    <dsp:sp modelId="{673488E1-7417-4C5A-91C8-59E80D8BEF85}">
      <dsp:nvSpPr>
        <dsp:cNvPr id="0" name=""/>
        <dsp:cNvSpPr/>
      </dsp:nvSpPr>
      <dsp:spPr>
        <a:xfrm>
          <a:off x="2131498" y="4490084"/>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A75A819-A64D-4F4D-96D8-B22078B63A4C}">
      <dsp:nvSpPr>
        <dsp:cNvPr id="0" name=""/>
        <dsp:cNvSpPr/>
      </dsp:nvSpPr>
      <dsp:spPr>
        <a:xfrm>
          <a:off x="2291360" y="4520629"/>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a:latin typeface="Calibri Light" panose="020F0302020204030204"/>
            </a:rPr>
            <a:t>#8: </a:t>
          </a:r>
          <a:r>
            <a:rPr lang="en-US" sz="2400" kern="1200">
              <a:latin typeface="Calibri Light" panose="020F0302020204030204"/>
            </a:rPr>
            <a:t>Creating Systems for Quality Improvement</a:t>
          </a:r>
          <a:endParaRPr lang="en-US" sz="2400" kern="1200"/>
        </a:p>
      </dsp:txBody>
      <dsp:txXfrm>
        <a:off x="2291360" y="4520629"/>
        <a:ext cx="8366129" cy="610895"/>
      </dsp:txXfrm>
    </dsp:sp>
    <dsp:sp modelId="{547B8CFE-C1F6-4718-AFAD-3674CDE53DB2}">
      <dsp:nvSpPr>
        <dsp:cNvPr id="0" name=""/>
        <dsp:cNvSpPr/>
      </dsp:nvSpPr>
      <dsp:spPr>
        <a:xfrm>
          <a:off x="2131498" y="5131524"/>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6171B4-00CD-4695-8CB1-C8C77BCF1C0E}">
      <dsp:nvSpPr>
        <dsp:cNvPr id="0" name=""/>
        <dsp:cNvSpPr/>
      </dsp:nvSpPr>
      <dsp:spPr>
        <a:xfrm>
          <a:off x="0" y="0"/>
          <a:ext cx="6104853"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CEE0B4-635C-48DD-8139-41F8E62B735B}">
      <dsp:nvSpPr>
        <dsp:cNvPr id="0" name=""/>
        <dsp:cNvSpPr/>
      </dsp:nvSpPr>
      <dsp:spPr>
        <a:xfrm>
          <a:off x="0" y="0"/>
          <a:ext cx="1220970" cy="44012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b="1" kern="1200"/>
            <a:t>What you said:</a:t>
          </a:r>
          <a:endParaRPr lang="en-US" sz="3100" kern="1200"/>
        </a:p>
      </dsp:txBody>
      <dsp:txXfrm>
        <a:off x="0" y="0"/>
        <a:ext cx="1220970" cy="4401205"/>
      </dsp:txXfrm>
    </dsp:sp>
    <dsp:sp modelId="{209D7F8A-0D59-4DCB-BAFB-CB915C091B68}">
      <dsp:nvSpPr>
        <dsp:cNvPr id="0" name=""/>
        <dsp:cNvSpPr/>
      </dsp:nvSpPr>
      <dsp:spPr>
        <a:xfrm>
          <a:off x="1312543" y="51737"/>
          <a:ext cx="4792309" cy="1034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070" tIns="179070" rIns="179070" bIns="179070" numCol="1" spcCol="1270" anchor="t" anchorCtr="0">
          <a:noAutofit/>
        </a:bodyPr>
        <a:lstStyle/>
        <a:p>
          <a:pPr marL="0" lvl="0" indent="0" algn="l" defTabSz="2089150" rtl="0">
            <a:lnSpc>
              <a:spcPct val="90000"/>
            </a:lnSpc>
            <a:spcBef>
              <a:spcPct val="0"/>
            </a:spcBef>
            <a:spcAft>
              <a:spcPct val="35000"/>
            </a:spcAft>
            <a:buNone/>
          </a:pPr>
          <a:r>
            <a:rPr lang="en-US" sz="4700" kern="1200">
              <a:latin typeface="Calibri Light" panose="020F0302020204030204"/>
            </a:rPr>
            <a:t>Staff shortages</a:t>
          </a:r>
          <a:endParaRPr lang="en-US" sz="4700" kern="1200"/>
        </a:p>
      </dsp:txBody>
      <dsp:txXfrm>
        <a:off x="1312543" y="51737"/>
        <a:ext cx="4792309" cy="1034755"/>
      </dsp:txXfrm>
    </dsp:sp>
    <dsp:sp modelId="{C2BF7012-82A9-4BFA-8D0D-7AA98730DB17}">
      <dsp:nvSpPr>
        <dsp:cNvPr id="0" name=""/>
        <dsp:cNvSpPr/>
      </dsp:nvSpPr>
      <dsp:spPr>
        <a:xfrm>
          <a:off x="1220970" y="1086493"/>
          <a:ext cx="488388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606CE68-B86B-4DCD-B9AE-81EE942D0EA3}">
      <dsp:nvSpPr>
        <dsp:cNvPr id="0" name=""/>
        <dsp:cNvSpPr/>
      </dsp:nvSpPr>
      <dsp:spPr>
        <a:xfrm>
          <a:off x="1312543" y="1138231"/>
          <a:ext cx="4792309" cy="1034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070" tIns="179070" rIns="179070" bIns="179070" numCol="1" spcCol="1270" anchor="t" anchorCtr="0">
          <a:noAutofit/>
        </a:bodyPr>
        <a:lstStyle/>
        <a:p>
          <a:pPr marL="0" lvl="0" indent="0" algn="l" defTabSz="2089150" rtl="0">
            <a:lnSpc>
              <a:spcPct val="90000"/>
            </a:lnSpc>
            <a:spcBef>
              <a:spcPct val="0"/>
            </a:spcBef>
            <a:spcAft>
              <a:spcPct val="35000"/>
            </a:spcAft>
            <a:buNone/>
          </a:pPr>
          <a:r>
            <a:rPr lang="en-US" sz="4700" kern="1200">
              <a:latin typeface="Calibri Light" panose="020F0302020204030204"/>
            </a:rPr>
            <a:t>Time for training</a:t>
          </a:r>
          <a:endParaRPr lang="en-US" sz="4700" kern="1200"/>
        </a:p>
      </dsp:txBody>
      <dsp:txXfrm>
        <a:off x="1312543" y="1138231"/>
        <a:ext cx="4792309" cy="1034755"/>
      </dsp:txXfrm>
    </dsp:sp>
    <dsp:sp modelId="{2A1C261D-1884-4D3B-99A7-C675FA3AFB75}">
      <dsp:nvSpPr>
        <dsp:cNvPr id="0" name=""/>
        <dsp:cNvSpPr/>
      </dsp:nvSpPr>
      <dsp:spPr>
        <a:xfrm>
          <a:off x="1220970" y="2172987"/>
          <a:ext cx="488388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A866E02-F6AD-478C-B62A-CDA10A587ABE}">
      <dsp:nvSpPr>
        <dsp:cNvPr id="0" name=""/>
        <dsp:cNvSpPr/>
      </dsp:nvSpPr>
      <dsp:spPr>
        <a:xfrm>
          <a:off x="1312543" y="2224725"/>
          <a:ext cx="4792309" cy="1034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070" tIns="179070" rIns="179070" bIns="179070" numCol="1" spcCol="1270" anchor="t" anchorCtr="0">
          <a:noAutofit/>
        </a:bodyPr>
        <a:lstStyle/>
        <a:p>
          <a:pPr marL="0" lvl="0" indent="0" algn="l" defTabSz="2089150" rtl="0">
            <a:lnSpc>
              <a:spcPct val="90000"/>
            </a:lnSpc>
            <a:spcBef>
              <a:spcPct val="0"/>
            </a:spcBef>
            <a:spcAft>
              <a:spcPct val="35000"/>
            </a:spcAft>
            <a:buNone/>
          </a:pPr>
          <a:r>
            <a:rPr lang="en-US" sz="4700" kern="1200">
              <a:latin typeface="Calibri Light" panose="020F0302020204030204"/>
            </a:rPr>
            <a:t>Lack of resources</a:t>
          </a:r>
        </a:p>
      </dsp:txBody>
      <dsp:txXfrm>
        <a:off x="1312543" y="2224725"/>
        <a:ext cx="4792309" cy="1034755"/>
      </dsp:txXfrm>
    </dsp:sp>
    <dsp:sp modelId="{A02398EA-F460-45F5-BD13-59AA177C72EF}">
      <dsp:nvSpPr>
        <dsp:cNvPr id="0" name=""/>
        <dsp:cNvSpPr/>
      </dsp:nvSpPr>
      <dsp:spPr>
        <a:xfrm>
          <a:off x="1220970" y="3259481"/>
          <a:ext cx="488388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C8EBC00-9192-4EF3-B69D-221F158E581F}">
      <dsp:nvSpPr>
        <dsp:cNvPr id="0" name=""/>
        <dsp:cNvSpPr/>
      </dsp:nvSpPr>
      <dsp:spPr>
        <a:xfrm>
          <a:off x="1312543" y="3311219"/>
          <a:ext cx="4792309" cy="1034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rtl="0">
            <a:lnSpc>
              <a:spcPct val="90000"/>
            </a:lnSpc>
            <a:spcBef>
              <a:spcPct val="0"/>
            </a:spcBef>
            <a:spcAft>
              <a:spcPct val="35000"/>
            </a:spcAft>
            <a:buNone/>
          </a:pPr>
          <a:r>
            <a:rPr lang="en-US" sz="4000" kern="1200" dirty="0">
              <a:latin typeface="Calibri Light" panose="020F0302020204030204"/>
            </a:rPr>
            <a:t>Wearing </a:t>
          </a:r>
          <a:r>
            <a:rPr lang="en-US" sz="3600" kern="1200" dirty="0">
              <a:latin typeface="Calibri Light" panose="020F0302020204030204"/>
            </a:rPr>
            <a:t>multiple</a:t>
          </a:r>
          <a:r>
            <a:rPr lang="en-US" sz="4000" kern="1200" dirty="0">
              <a:latin typeface="Calibri Light" panose="020F0302020204030204"/>
            </a:rPr>
            <a:t> hats</a:t>
          </a:r>
          <a:endParaRPr lang="en-US" sz="4000" kern="1200" dirty="0"/>
        </a:p>
      </dsp:txBody>
      <dsp:txXfrm>
        <a:off x="1312543" y="3311219"/>
        <a:ext cx="4792309" cy="1034755"/>
      </dsp:txXfrm>
    </dsp:sp>
    <dsp:sp modelId="{148482C4-D5B5-4258-A836-E0612595D68E}">
      <dsp:nvSpPr>
        <dsp:cNvPr id="0" name=""/>
        <dsp:cNvSpPr/>
      </dsp:nvSpPr>
      <dsp:spPr>
        <a:xfrm>
          <a:off x="1220970" y="4345975"/>
          <a:ext cx="488388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FA9DB5-70C7-E94D-9548-16899A1C10C6}" type="datetimeFigureOut">
              <a:rPr lang="en-US" smtClean="0"/>
              <a:t>3/3/2026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90D89B-D770-F648-BD56-FFC69AC3D72B}" type="slidenum">
              <a:rPr lang="en-US" smtClean="0"/>
              <a:t>‹#›</a:t>
            </a:fld>
            <a:endParaRPr lang="en-US"/>
          </a:p>
        </p:txBody>
      </p:sp>
    </p:spTree>
    <p:extLst>
      <p:ext uri="{BB962C8B-B14F-4D97-AF65-F5344CB8AC3E}">
        <p14:creationId xmlns:p14="http://schemas.microsoft.com/office/powerpoint/2010/main" val="1914390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Here is an overview of the course modules. We are passing the halfway point here in the course. Today we talking about best practices in employment and day services. How they work with and connect to each other, how each services can be delivered in community settings with quality. </a:t>
            </a:r>
          </a:p>
        </p:txBody>
      </p:sp>
      <p:sp>
        <p:nvSpPr>
          <p:cNvPr id="4" name="Slide Number Placeholder 3"/>
          <p:cNvSpPr>
            <a:spLocks noGrp="1"/>
          </p:cNvSpPr>
          <p:nvPr>
            <p:ph type="sldNum" sz="quarter" idx="5"/>
          </p:nvPr>
        </p:nvSpPr>
        <p:spPr/>
        <p:txBody>
          <a:bodyPr/>
          <a:lstStyle/>
          <a:p>
            <a:fld id="{61E78B0C-5300-7A44-AA13-8B2C0E818EC7}" type="slidenum">
              <a:rPr lang="en-US" smtClean="0"/>
              <a:t>4</a:t>
            </a:fld>
            <a:endParaRPr lang="en-US"/>
          </a:p>
        </p:txBody>
      </p:sp>
    </p:spTree>
    <p:extLst>
      <p:ext uri="{BB962C8B-B14F-4D97-AF65-F5344CB8AC3E}">
        <p14:creationId xmlns:p14="http://schemas.microsoft.com/office/powerpoint/2010/main" val="40893838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I won't really discuss these in detail, but what you can scan through here is the learning objectives for the online course learning you are currently working on or already completed this month. If you have completed what is here.....it is fresh in your mind for our discussions today...... If you have not started this can get you thinking and give you an idea of what to look forward to......... Hopefully today we get a chance to pause on a couple of those details and discuss together how this applies to leaders like yourselves whether you are directly assigned to employment or not. </a:t>
            </a:r>
            <a:endParaRPr lang="en-US" err="1">
              <a:cs typeface="Calibri"/>
            </a:endParaRPr>
          </a:p>
        </p:txBody>
      </p:sp>
      <p:sp>
        <p:nvSpPr>
          <p:cNvPr id="4" name="Slide Number Placeholder 3"/>
          <p:cNvSpPr>
            <a:spLocks noGrp="1"/>
          </p:cNvSpPr>
          <p:nvPr>
            <p:ph type="sldNum" sz="quarter" idx="5"/>
          </p:nvPr>
        </p:nvSpPr>
        <p:spPr/>
        <p:txBody>
          <a:bodyPr/>
          <a:lstStyle/>
          <a:p>
            <a:fld id="{61E78B0C-5300-7A44-AA13-8B2C0E818EC7}" type="slidenum">
              <a:rPr lang="en-US" smtClean="0"/>
              <a:t>5</a:t>
            </a:fld>
            <a:endParaRPr lang="en-US"/>
          </a:p>
        </p:txBody>
      </p:sp>
    </p:spTree>
    <p:extLst>
      <p:ext uri="{BB962C8B-B14F-4D97-AF65-F5344CB8AC3E}">
        <p14:creationId xmlns:p14="http://schemas.microsoft.com/office/powerpoint/2010/main" val="2700594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UPDATE this slide with previous month's poll answers.</a:t>
            </a:r>
          </a:p>
        </p:txBody>
      </p:sp>
      <p:sp>
        <p:nvSpPr>
          <p:cNvPr id="4" name="Slide Number Placeholder 3"/>
          <p:cNvSpPr>
            <a:spLocks noGrp="1"/>
          </p:cNvSpPr>
          <p:nvPr>
            <p:ph type="sldNum" sz="quarter" idx="5"/>
          </p:nvPr>
        </p:nvSpPr>
        <p:spPr/>
        <p:txBody>
          <a:bodyPr/>
          <a:lstStyle/>
          <a:p>
            <a:fld id="{CB90D89B-D770-F648-BD56-FFC69AC3D72B}" type="slidenum">
              <a:rPr lang="en-US" smtClean="0"/>
              <a:t>6</a:t>
            </a:fld>
            <a:endParaRPr lang="en-US"/>
          </a:p>
        </p:txBody>
      </p:sp>
    </p:spTree>
    <p:extLst>
      <p:ext uri="{BB962C8B-B14F-4D97-AF65-F5344CB8AC3E}">
        <p14:creationId xmlns:p14="http://schemas.microsoft.com/office/powerpoint/2010/main" val="570188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Bryn</a:t>
            </a:r>
            <a:endParaRPr lang="en-US"/>
          </a:p>
          <a:p>
            <a:r>
              <a:rPr lang="en-US">
                <a:cs typeface="Calibri"/>
              </a:rPr>
              <a:t>I have been looking forward to this session and module today. We have laid the foundation over the last few months why we are making these changes, how you are directly involved as middle managers and leaders, today we start to look at application. An important component of leadership and being a leader (regardless of role and really regardless of what industry you are in) is YOU........ helping to connect the dots........create alignment between best practices we are talking about today and in this course and  </a:t>
            </a:r>
            <a:r>
              <a:rPr lang="en-US" err="1">
                <a:cs typeface="Calibri"/>
              </a:rPr>
              <a:t>and</a:t>
            </a:r>
            <a:r>
              <a:rPr lang="en-US">
                <a:cs typeface="Calibri"/>
              </a:rPr>
              <a:t> the practices of your organization right now... where they are at.... where they might need to go...  </a:t>
            </a:r>
            <a:endParaRPr lang="en-US"/>
          </a:p>
        </p:txBody>
      </p:sp>
      <p:sp>
        <p:nvSpPr>
          <p:cNvPr id="4" name="Slide Number Placeholder 3"/>
          <p:cNvSpPr>
            <a:spLocks noGrp="1"/>
          </p:cNvSpPr>
          <p:nvPr>
            <p:ph type="sldNum" sz="quarter" idx="5"/>
          </p:nvPr>
        </p:nvSpPr>
        <p:spPr/>
        <p:txBody>
          <a:bodyPr/>
          <a:lstStyle/>
          <a:p>
            <a:fld id="{CB90D89B-D770-F648-BD56-FFC69AC3D72B}" type="slidenum">
              <a:rPr lang="en-US" smtClean="0"/>
              <a:t>7</a:t>
            </a:fld>
            <a:endParaRPr lang="en-US"/>
          </a:p>
        </p:txBody>
      </p:sp>
    </p:spTree>
    <p:extLst>
      <p:ext uri="{BB962C8B-B14F-4D97-AF65-F5344CB8AC3E}">
        <p14:creationId xmlns:p14="http://schemas.microsoft.com/office/powerpoint/2010/main" val="3120219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0D931-3364-3768-3245-B4201C882F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4104EE-EE27-7949-D4CF-704DB43AD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26C2BB-E5C8-5B2A-847A-51B4F2964FB2}"/>
              </a:ext>
            </a:extLst>
          </p:cNvPr>
          <p:cNvSpPr>
            <a:spLocks noGrp="1"/>
          </p:cNvSpPr>
          <p:nvPr>
            <p:ph type="body" idx="1"/>
          </p:nvPr>
        </p:nvSpPr>
        <p:spPr/>
        <p:txBody>
          <a:bodyPr/>
          <a:lstStyle/>
          <a:p>
            <a:r>
              <a:rPr lang="en-US" dirty="0"/>
              <a:t>Layout &lt; Picture no border left half</a:t>
            </a:r>
          </a:p>
          <a:p>
            <a:endParaRPr lang="en-US" dirty="0"/>
          </a:p>
        </p:txBody>
      </p:sp>
      <p:sp>
        <p:nvSpPr>
          <p:cNvPr id="4" name="Slide Number Placeholder 3">
            <a:extLst>
              <a:ext uri="{FF2B5EF4-FFF2-40B4-BE49-F238E27FC236}">
                <a16:creationId xmlns:a16="http://schemas.microsoft.com/office/drawing/2014/main" id="{74A17748-A7C0-AE85-9419-DFC0CE105D4C}"/>
              </a:ext>
            </a:extLst>
          </p:cNvPr>
          <p:cNvSpPr>
            <a:spLocks noGrp="1"/>
          </p:cNvSpPr>
          <p:nvPr>
            <p:ph type="sldNum" sz="quarter" idx="5"/>
          </p:nvPr>
        </p:nvSpPr>
        <p:spPr/>
        <p:txBody>
          <a:bodyPr/>
          <a:lstStyle/>
          <a:p>
            <a:fld id="{9BBFE854-72EE-4CDD-9AD9-F65BCCFE1B6E}" type="slidenum">
              <a:rPr lang="en-US" smtClean="0"/>
              <a:pPr/>
              <a:t>8</a:t>
            </a:fld>
            <a:endParaRPr lang="en-US" dirty="0"/>
          </a:p>
        </p:txBody>
      </p:sp>
    </p:spTree>
    <p:extLst>
      <p:ext uri="{BB962C8B-B14F-4D97-AF65-F5344CB8AC3E}">
        <p14:creationId xmlns:p14="http://schemas.microsoft.com/office/powerpoint/2010/main" val="2676877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I will let you do the deep dive, but this slide is just a quick reminder of some of the takeaways from the lesson on Employment and Day Services this month. Hopefully. You can see alignment, overlap and how Day Services, and other services can support and maintain quality employment outcomes, and how employment can improve quality of life, lead to community and allow greater access to that community. Note here what steps are similar between the two. As you seek to learn about jobseekers one person at time you are going to gather information about them that helps focus activities around goal, explore work and non-work interests and bring meaning to their life at a level and in a way they want. Maybe just a comment on best practice from experience, even a bit of vulnerability. I tended to at times be too focused on using time wisely and being productive. None of us are working on goals all the time, though I thought for a long time that is what I was supposed to do as a staff.  You and I choose what kind of employees we want to be or how long/much we want to be in the community. Person-centered best practices include creating ideal conditions that lead to positive experiences and outcomes for the person.          </a:t>
            </a:r>
          </a:p>
        </p:txBody>
      </p:sp>
      <p:sp>
        <p:nvSpPr>
          <p:cNvPr id="4" name="Slide Number Placeholder 3"/>
          <p:cNvSpPr>
            <a:spLocks noGrp="1"/>
          </p:cNvSpPr>
          <p:nvPr>
            <p:ph type="sldNum" sz="quarter" idx="5"/>
          </p:nvPr>
        </p:nvSpPr>
        <p:spPr/>
        <p:txBody>
          <a:bodyPr/>
          <a:lstStyle/>
          <a:p>
            <a:fld id="{CB90D89B-D770-F648-BD56-FFC69AC3D72B}" type="slidenum">
              <a:rPr lang="en-US" smtClean="0"/>
              <a:t>9</a:t>
            </a:fld>
            <a:endParaRPr lang="en-US"/>
          </a:p>
        </p:txBody>
      </p:sp>
    </p:spTree>
    <p:extLst>
      <p:ext uri="{BB962C8B-B14F-4D97-AF65-F5344CB8AC3E}">
        <p14:creationId xmlns:p14="http://schemas.microsoft.com/office/powerpoint/2010/main" val="33499671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Alright now we are going to get into some poll questions. First question: "My organization currently utilizes Best Practices (Individualized Job Placement Process) to help people with disabilities get competitive integrated jobs, one person at a time."  </a:t>
            </a:r>
          </a:p>
          <a:p>
            <a:endParaRPr lang="en-US">
              <a:ea typeface="Calibri"/>
              <a:cs typeface="Calibri"/>
            </a:endParaRPr>
          </a:p>
          <a:p>
            <a:endParaRPr lang="en-US">
              <a:ea typeface="Calibri"/>
              <a:cs typeface="Calibri"/>
            </a:endParaRPr>
          </a:p>
          <a:p>
            <a:r>
              <a:rPr lang="en-US">
                <a:ea typeface="Calibri"/>
                <a:cs typeface="Calibri"/>
              </a:rPr>
              <a:t>Who said I'm not sure? That's ok....where would you need to go to get that information? Can you ask someone else?</a:t>
            </a:r>
          </a:p>
          <a:p>
            <a:r>
              <a:rPr lang="en-US"/>
              <a:t>Who said Yes? Describe that process?</a:t>
            </a:r>
          </a:p>
          <a:p>
            <a:r>
              <a:rPr lang="en-US">
                <a:ea typeface="Calibri"/>
                <a:cs typeface="Calibri"/>
              </a:rPr>
              <a:t>Who said sometimes, for some people? Tell us more about that?</a:t>
            </a:r>
          </a:p>
          <a:p>
            <a:r>
              <a:rPr lang="en-US">
                <a:ea typeface="Calibri"/>
                <a:cs typeface="Calibri"/>
              </a:rPr>
              <a:t>Who said no?  </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CB90D89B-D770-F648-BD56-FFC69AC3D72B}" type="slidenum">
              <a:rPr lang="en-US" smtClean="0"/>
              <a:t>10</a:t>
            </a:fld>
            <a:endParaRPr lang="en-US"/>
          </a:p>
        </p:txBody>
      </p:sp>
    </p:spTree>
    <p:extLst>
      <p:ext uri="{BB962C8B-B14F-4D97-AF65-F5344CB8AC3E}">
        <p14:creationId xmlns:p14="http://schemas.microsoft.com/office/powerpoint/2010/main" val="28290848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This is from a colleague who is here today. Don Lavin. You may have already seen it in another meeting. I use it here because it accurately shows some of the ways that the practices that in the past we might have said are things we only do in employment, help us not just to get out and be physically in the comment, but to find our place and role as part of the community. You can look at this in more detail later if you are interested, it is here just to lay the groundwork for our discussion in a few minutes. I will note just a few of my </a:t>
            </a:r>
            <a:r>
              <a:rPr lang="en-US" err="1">
                <a:ea typeface="Calibri"/>
                <a:cs typeface="Calibri"/>
              </a:rPr>
              <a:t>takeways</a:t>
            </a:r>
            <a:r>
              <a:rPr lang="en-US">
                <a:ea typeface="Calibri"/>
                <a:cs typeface="Calibri"/>
              </a:rPr>
              <a:t>. We are going to take a person-centered thinking and planning approach to getting involved in the community in the same way we might start a Discovery process in customized employment, we get to know the jobseeker well, we understand their interests and we find community opportunities like volunteering or events that fit within those interests. If we don’t know the person well enough, or they have not had that hands-on exposure to know what their interests are we start exploration to develop interests. Truthfully when you start exploration an interest, many times you don't know at the start if it will be a job, just a hobby, a volunteer opportunity or something else in the future.    </a:t>
            </a:r>
          </a:p>
        </p:txBody>
      </p:sp>
      <p:sp>
        <p:nvSpPr>
          <p:cNvPr id="4" name="Slide Number Placeholder 3"/>
          <p:cNvSpPr>
            <a:spLocks noGrp="1"/>
          </p:cNvSpPr>
          <p:nvPr>
            <p:ph type="sldNum" sz="quarter" idx="5"/>
          </p:nvPr>
        </p:nvSpPr>
        <p:spPr/>
        <p:txBody>
          <a:bodyPr/>
          <a:lstStyle/>
          <a:p>
            <a:fld id="{F6EB93DE-B61C-486E-B689-254C1C319709}" type="slidenum">
              <a:rPr lang="en-US" smtClean="0"/>
              <a:t>11</a:t>
            </a:fld>
            <a:endParaRPr lang="en-US"/>
          </a:p>
        </p:txBody>
      </p:sp>
    </p:spTree>
    <p:extLst>
      <p:ext uri="{BB962C8B-B14F-4D97-AF65-F5344CB8AC3E}">
        <p14:creationId xmlns:p14="http://schemas.microsoft.com/office/powerpoint/2010/main" val="3570651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libri"/>
              <a:ea typeface="Calibri"/>
              <a:cs typeface="Calibri"/>
            </a:endParaRPr>
          </a:p>
          <a:p>
            <a:r>
              <a:rPr lang="en-US"/>
              <a:t>A second example here on the previous slide and this one is the  connection between job development and community membership...Building relationships in the community, building the persons network and your network as a leader benefits future work opportunities and those valued social roles and community membership. Work by itself gives us community in one way, holistic community membership though includes work and all other engagement the person chooses.  </a:t>
            </a:r>
            <a:endParaRPr lang="en-US">
              <a:ea typeface="Calibri"/>
              <a:cs typeface="Calibri"/>
            </a:endParaRPr>
          </a:p>
          <a:p>
            <a:endParaRPr lang="en-US">
              <a:latin typeface="Calibri"/>
              <a:ea typeface="Calibri"/>
              <a:cs typeface="Calibri"/>
            </a:endParaRPr>
          </a:p>
          <a:p>
            <a:r>
              <a:rPr lang="en-US"/>
              <a:t>For organizations that support day services or any other service, it is true that you might not be the main team responsible to support a successful job,  but you are critical to keep momentum moving toward work. One of the more simple examples in day services are the steps organizations take to shift focus away from a culture of center-based activities and outings and instead on supporting more individualized community based membership opportunities, relationship and skill building with the goal of promoting independence and fading paid supports. That becomes so easier if community membership is based on share mutual interests, as the relationships get stronger, many times that staff support is not needed in the same way.    </a:t>
            </a:r>
            <a:endParaRPr lang="en-US">
              <a:ea typeface="Calibri"/>
              <a:cs typeface="Calibri"/>
            </a:endParaRPr>
          </a:p>
        </p:txBody>
      </p:sp>
      <p:sp>
        <p:nvSpPr>
          <p:cNvPr id="4" name="Slide Number Placeholder 3"/>
          <p:cNvSpPr>
            <a:spLocks noGrp="1"/>
          </p:cNvSpPr>
          <p:nvPr>
            <p:ph type="sldNum" sz="quarter" idx="5"/>
          </p:nvPr>
        </p:nvSpPr>
        <p:spPr/>
        <p:txBody>
          <a:bodyPr/>
          <a:lstStyle/>
          <a:p>
            <a:fld id="{AA66B766-5C45-4899-B719-22BA409C4ED8}" type="slidenum">
              <a:rPr lang="en-US" smtClean="0"/>
              <a:t>12</a:t>
            </a:fld>
            <a:endParaRPr lang="en-US"/>
          </a:p>
        </p:txBody>
      </p:sp>
    </p:spTree>
    <p:extLst>
      <p:ext uri="{BB962C8B-B14F-4D97-AF65-F5344CB8AC3E}">
        <p14:creationId xmlns:p14="http://schemas.microsoft.com/office/powerpoint/2010/main" val="3211284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Question 3: "</a:t>
            </a:r>
            <a:r>
              <a:rPr lang="en-US"/>
              <a:t>My organization provides training to staff on how to identify and build natural supports in non-work community settings?" </a:t>
            </a:r>
          </a:p>
        </p:txBody>
      </p:sp>
      <p:sp>
        <p:nvSpPr>
          <p:cNvPr id="4" name="Slide Number Placeholder 3"/>
          <p:cNvSpPr>
            <a:spLocks noGrp="1"/>
          </p:cNvSpPr>
          <p:nvPr>
            <p:ph type="sldNum" sz="quarter" idx="5"/>
          </p:nvPr>
        </p:nvSpPr>
        <p:spPr/>
        <p:txBody>
          <a:bodyPr/>
          <a:lstStyle/>
          <a:p>
            <a:fld id="{CB90D89B-D770-F648-BD56-FFC69AC3D72B}" type="slidenum">
              <a:rPr lang="en-US" smtClean="0"/>
              <a:t>14</a:t>
            </a:fld>
            <a:endParaRPr lang="en-US"/>
          </a:p>
        </p:txBody>
      </p:sp>
    </p:spTree>
    <p:extLst>
      <p:ext uri="{BB962C8B-B14F-4D97-AF65-F5344CB8AC3E}">
        <p14:creationId xmlns:p14="http://schemas.microsoft.com/office/powerpoint/2010/main" val="13092626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a:p>
            <a:endParaRPr lang="en-US">
              <a:ea typeface="Calibri"/>
              <a:cs typeface="Calibri"/>
            </a:endParaRPr>
          </a:p>
          <a:p>
            <a:r>
              <a:rPr lang="en-US">
                <a:ea typeface="Calibri"/>
                <a:cs typeface="Calibri"/>
              </a:rPr>
              <a:t>Question 1: Cassy</a:t>
            </a:r>
          </a:p>
          <a:p>
            <a:r>
              <a:rPr lang="en-US">
                <a:ea typeface="Calibri"/>
                <a:cs typeface="Calibri"/>
              </a:rPr>
              <a:t>Question 2: Staci </a:t>
            </a:r>
          </a:p>
          <a:p>
            <a:endParaRPr lang="en-US">
              <a:ea typeface="Calibri"/>
              <a:cs typeface="Calibri"/>
            </a:endParaRPr>
          </a:p>
          <a:p>
            <a:endParaRPr lang="en-US">
              <a:ea typeface="Calibri"/>
              <a:cs typeface="Calibri"/>
            </a:endParaRPr>
          </a:p>
          <a:p>
            <a:r>
              <a:rPr lang="en-US">
                <a:ea typeface="Calibri"/>
                <a:cs typeface="Calibri"/>
              </a:rPr>
              <a:t>With the time we have left we want to have a group discussion. We have a few question prompts, feel free to answer them separately or together. They are what best practices in employment or day services would you like to see in your organization.... what best practices could your organization benefit from or do better.... And what is your role in supporting and making that happen... </a:t>
            </a:r>
            <a:endParaRPr lang="en-US"/>
          </a:p>
        </p:txBody>
      </p:sp>
      <p:sp>
        <p:nvSpPr>
          <p:cNvPr id="4" name="Slide Number Placeholder 3"/>
          <p:cNvSpPr>
            <a:spLocks noGrp="1"/>
          </p:cNvSpPr>
          <p:nvPr>
            <p:ph type="sldNum" sz="quarter" idx="5"/>
          </p:nvPr>
        </p:nvSpPr>
        <p:spPr/>
        <p:txBody>
          <a:bodyPr/>
          <a:lstStyle/>
          <a:p>
            <a:fld id="{CB90D89B-D770-F648-BD56-FFC69AC3D72B}" type="slidenum">
              <a:rPr lang="en-US" smtClean="0"/>
              <a:t>15</a:t>
            </a:fld>
            <a:endParaRPr lang="en-US"/>
          </a:p>
        </p:txBody>
      </p:sp>
    </p:spTree>
    <p:extLst>
      <p:ext uri="{BB962C8B-B14F-4D97-AF65-F5344CB8AC3E}">
        <p14:creationId xmlns:p14="http://schemas.microsoft.com/office/powerpoint/2010/main" val="41681874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5E314-0EB5-3E76-CFBD-A36C1E83CC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8EB1ACD-C61F-E726-F786-8C194048F4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0DBE39-3656-7D9E-C1EF-EC75E7DD6E4B}"/>
              </a:ext>
            </a:extLst>
          </p:cNvPr>
          <p:cNvSpPr>
            <a:spLocks noGrp="1"/>
          </p:cNvSpPr>
          <p:nvPr>
            <p:ph type="dt" sz="half" idx="10"/>
          </p:nvPr>
        </p:nvSpPr>
        <p:spPr>
          <a:xfrm>
            <a:off x="838200" y="6356350"/>
            <a:ext cx="2743200" cy="365125"/>
          </a:xfrm>
          <a:prstGeom prst="rect">
            <a:avLst/>
          </a:prstGeom>
        </p:spPr>
        <p:txBody>
          <a:bodyPr/>
          <a:lstStyle/>
          <a:p>
            <a:fld id="{53BEF823-48A5-43FC-BE03-E79964288B41}" type="datetimeFigureOut">
              <a:rPr lang="en-US" smtClean="0"/>
              <a:t>3/3/2026</a:t>
            </a:fld>
            <a:endParaRPr lang="en-US"/>
          </a:p>
        </p:txBody>
      </p:sp>
      <p:sp>
        <p:nvSpPr>
          <p:cNvPr id="5" name="Footer Placeholder 4">
            <a:extLst>
              <a:ext uri="{FF2B5EF4-FFF2-40B4-BE49-F238E27FC236}">
                <a16:creationId xmlns:a16="http://schemas.microsoft.com/office/drawing/2014/main" id="{4B488711-D6E8-DEF8-17D8-0ADD3B2A36C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9EC744D-4C10-7EE7-4BE8-C10182DEA3A1}"/>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9" name="Picture 8">
            <a:extLst>
              <a:ext uri="{FF2B5EF4-FFF2-40B4-BE49-F238E27FC236}">
                <a16:creationId xmlns:a16="http://schemas.microsoft.com/office/drawing/2014/main" id="{FD436B64-CE55-59AA-7233-ADD26AB71569}"/>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116626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D0760-CE73-55AD-3FC7-4901BE3A9B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0A4647-1574-BD61-3C55-60F25F7707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415779-CF89-6520-AED6-65D1FED84CD9}"/>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3/3/2026</a:t>
            </a:fld>
            <a:endParaRPr lang="en-US"/>
          </a:p>
        </p:txBody>
      </p:sp>
      <p:sp>
        <p:nvSpPr>
          <p:cNvPr id="5" name="Footer Placeholder 4">
            <a:extLst>
              <a:ext uri="{FF2B5EF4-FFF2-40B4-BE49-F238E27FC236}">
                <a16:creationId xmlns:a16="http://schemas.microsoft.com/office/drawing/2014/main" id="{D8F7731F-4BCB-5DE2-04D5-E2A9F0BEA132}"/>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6" name="Slide Number Placeholder 5">
            <a:extLst>
              <a:ext uri="{FF2B5EF4-FFF2-40B4-BE49-F238E27FC236}">
                <a16:creationId xmlns:a16="http://schemas.microsoft.com/office/drawing/2014/main" id="{1B5F5FA6-52FD-8AD6-05C7-3049208FD356}"/>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8" name="Picture 7">
            <a:extLst>
              <a:ext uri="{FF2B5EF4-FFF2-40B4-BE49-F238E27FC236}">
                <a16:creationId xmlns:a16="http://schemas.microsoft.com/office/drawing/2014/main" id="{4FA3F1FE-E984-3B20-D3C4-684441A4DA35}"/>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526692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8B283-D171-269D-AFA1-55AB89B80A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BB1955-E1AB-A77F-DBFD-898BEB4529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61B299-70A6-CA15-C347-3EB470D3B4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3820BE5-B765-6B06-CC08-7BD62EE87899}"/>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3/3/2026</a:t>
            </a:fld>
            <a:endParaRPr lang="en-US"/>
          </a:p>
        </p:txBody>
      </p:sp>
      <p:sp>
        <p:nvSpPr>
          <p:cNvPr id="6" name="Footer Placeholder 5">
            <a:extLst>
              <a:ext uri="{FF2B5EF4-FFF2-40B4-BE49-F238E27FC236}">
                <a16:creationId xmlns:a16="http://schemas.microsoft.com/office/drawing/2014/main" id="{D1F78A8F-51E6-C89A-6F75-8D72461BC16E}"/>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7" name="Slide Number Placeholder 6">
            <a:extLst>
              <a:ext uri="{FF2B5EF4-FFF2-40B4-BE49-F238E27FC236}">
                <a16:creationId xmlns:a16="http://schemas.microsoft.com/office/drawing/2014/main" id="{35DA067F-7E9F-381F-9CB3-FD9A26CE3694}"/>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9" name="Picture 8">
            <a:extLst>
              <a:ext uri="{FF2B5EF4-FFF2-40B4-BE49-F238E27FC236}">
                <a16:creationId xmlns:a16="http://schemas.microsoft.com/office/drawing/2014/main" id="{10AF01B5-FD7D-7FA5-F805-0F2FCF274CA4}"/>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301285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142C1-2CA8-4658-B998-00B9080E453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087D8B-1113-BD3E-6A7E-CD51D393E4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DA2535-4DC5-035D-6D67-4E4B015B08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0A0E81-D1FE-9638-A58A-5A77911B39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D26EF0-A42C-04B6-F3B0-BCC3BB5CA6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05D005-8FF8-2F28-1C11-6832C7EF297A}"/>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3/3/2026</a:t>
            </a:fld>
            <a:endParaRPr lang="en-US"/>
          </a:p>
        </p:txBody>
      </p:sp>
      <p:sp>
        <p:nvSpPr>
          <p:cNvPr id="8" name="Footer Placeholder 7">
            <a:extLst>
              <a:ext uri="{FF2B5EF4-FFF2-40B4-BE49-F238E27FC236}">
                <a16:creationId xmlns:a16="http://schemas.microsoft.com/office/drawing/2014/main" id="{D8B206F2-2C43-E0D6-792F-3278C4675609}"/>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9" name="Slide Number Placeholder 8">
            <a:extLst>
              <a:ext uri="{FF2B5EF4-FFF2-40B4-BE49-F238E27FC236}">
                <a16:creationId xmlns:a16="http://schemas.microsoft.com/office/drawing/2014/main" id="{4D91EB66-DD42-CFCF-72C0-8C92190BF7D9}"/>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11" name="Picture 10">
            <a:extLst>
              <a:ext uri="{FF2B5EF4-FFF2-40B4-BE49-F238E27FC236}">
                <a16:creationId xmlns:a16="http://schemas.microsoft.com/office/drawing/2014/main" id="{E10B9CAD-EF0C-0CB2-EF81-E419B5DA9AA4}"/>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1890219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714D7-DFF2-676D-9EB5-488B525CFC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71FE1C-BA44-F269-4382-C3B7EF89290A}"/>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3/3/2026</a:t>
            </a:fld>
            <a:endParaRPr lang="en-US"/>
          </a:p>
        </p:txBody>
      </p:sp>
      <p:sp>
        <p:nvSpPr>
          <p:cNvPr id="4" name="Footer Placeholder 3">
            <a:extLst>
              <a:ext uri="{FF2B5EF4-FFF2-40B4-BE49-F238E27FC236}">
                <a16:creationId xmlns:a16="http://schemas.microsoft.com/office/drawing/2014/main" id="{3E037DDA-E9D3-B6D3-ADCD-3FFA385AE25D}"/>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5" name="Slide Number Placeholder 4">
            <a:extLst>
              <a:ext uri="{FF2B5EF4-FFF2-40B4-BE49-F238E27FC236}">
                <a16:creationId xmlns:a16="http://schemas.microsoft.com/office/drawing/2014/main" id="{21F35C99-0411-5521-B1E8-B87886B048DA}"/>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7" name="Picture 6">
            <a:extLst>
              <a:ext uri="{FF2B5EF4-FFF2-40B4-BE49-F238E27FC236}">
                <a16:creationId xmlns:a16="http://schemas.microsoft.com/office/drawing/2014/main" id="{40FC3ED7-E7E5-D674-8A95-938E8800CA02}"/>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4060718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9"/>
        <p:cNvGrpSpPr/>
        <p:nvPr/>
      </p:nvGrpSpPr>
      <p:grpSpPr>
        <a:xfrm>
          <a:off x="0" y="0"/>
          <a:ext cx="0" cy="0"/>
          <a:chOff x="0" y="0"/>
          <a:chExt cx="0" cy="0"/>
        </a:xfrm>
      </p:grpSpPr>
      <p:sp>
        <p:nvSpPr>
          <p:cNvPr id="4" name="Rectangle 3">
            <a:extLst>
              <a:ext uri="{FF2B5EF4-FFF2-40B4-BE49-F238E27FC236}">
                <a16:creationId xmlns:a16="http://schemas.microsoft.com/office/drawing/2014/main" id="{C1DF4BD5-3B5F-635C-0AA7-D36104799185}"/>
              </a:ext>
            </a:extLst>
          </p:cNvPr>
          <p:cNvSpPr/>
          <p:nvPr/>
        </p:nvSpPr>
        <p:spPr>
          <a:xfrm>
            <a:off x="0" y="6223249"/>
            <a:ext cx="12192000" cy="6347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5"/>
          <p:cNvSpPr>
            <a:spLocks noGrp="1"/>
          </p:cNvSpPr>
          <p:nvPr>
            <p:ph type="body" sz="quarter" idx="10"/>
          </p:nvPr>
        </p:nvSpPr>
        <p:spPr>
          <a:xfrm>
            <a:off x="6324602" y="1054100"/>
            <a:ext cx="5562598" cy="4991100"/>
          </a:xfrm>
          <a:prstGeom prst="rect">
            <a:avLst/>
          </a:prstGeom>
        </p:spPr>
        <p:txBody>
          <a:bodyPr>
            <a:normAutofit/>
          </a:bodyPr>
          <a:lstStyle>
            <a:lvl1pPr marL="152396" indent="0">
              <a:spcAft>
                <a:spcPts val="400"/>
              </a:spcAft>
              <a:buFontTx/>
              <a:buNone/>
              <a:defRPr sz="2800">
                <a:latin typeface="Open Sans" panose="020B0606030504020204" pitchFamily="34" charset="0"/>
                <a:ea typeface="Open Sans" panose="020B0606030504020204" pitchFamily="34" charset="0"/>
                <a:cs typeface="Open Sans" panose="020B0606030504020204" pitchFamily="34" charset="0"/>
              </a:defRPr>
            </a:lvl1pPr>
            <a:lvl2pPr marL="685783" indent="-304792">
              <a:spcBef>
                <a:spcPts val="400"/>
              </a:spcBef>
              <a:spcAft>
                <a:spcPts val="400"/>
              </a:spcAft>
              <a:buFont typeface="Arial" charset="0"/>
              <a:buChar char="•"/>
              <a:tabLst/>
              <a:defRPr sz="2800">
                <a:latin typeface="Open Sans" panose="020B0606030504020204" pitchFamily="34" charset="0"/>
                <a:ea typeface="Open Sans" panose="020B0606030504020204" pitchFamily="34" charset="0"/>
                <a:cs typeface="Open Sans" panose="020B0606030504020204" pitchFamily="34" charset="0"/>
              </a:defRPr>
            </a:lvl2pPr>
            <a:lvl3pPr marL="1221287" indent="-383108">
              <a:spcBef>
                <a:spcPts val="400"/>
              </a:spcBef>
              <a:spcAft>
                <a:spcPts val="400"/>
              </a:spcAft>
              <a:tabLst/>
              <a:defRPr sz="2800">
                <a:latin typeface="Open Sans" panose="020B0606030504020204" pitchFamily="34" charset="0"/>
                <a:ea typeface="Open Sans" panose="020B0606030504020204" pitchFamily="34" charset="0"/>
                <a:cs typeface="Open Sans" panose="020B0606030504020204" pitchFamily="34" charset="0"/>
              </a:defRPr>
            </a:lvl3pPr>
            <a:lvl4pPr marL="1907070" indent="-380990">
              <a:spcBef>
                <a:spcPts val="400"/>
              </a:spcBef>
              <a:spcAft>
                <a:spcPts val="400"/>
              </a:spcAft>
              <a:buSzPct val="100000"/>
              <a:buFont typeface="ArialMT" charset="0"/>
              <a:buChar char="»"/>
              <a:tabLst/>
              <a:defRPr sz="2800">
                <a:latin typeface="Open Sans" panose="020B0606030504020204" pitchFamily="34" charset="0"/>
                <a:ea typeface="Open Sans" panose="020B0606030504020204" pitchFamily="34" charset="0"/>
                <a:cs typeface="Open Sans" panose="020B0606030504020204" pitchFamily="34" charset="0"/>
              </a:defRPr>
            </a:lvl4pPr>
            <a:lvl5pPr marL="2366374" indent="-306910">
              <a:spcBef>
                <a:spcPts val="400"/>
              </a:spcBef>
              <a:spcAft>
                <a:spcPts val="400"/>
              </a:spcAft>
              <a:tabLst/>
              <a:defRPr sz="28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5218FECC-B578-CFD9-C7B9-78F9177C1AD6}"/>
              </a:ext>
            </a:extLst>
          </p:cNvPr>
          <p:cNvSpPr>
            <a:spLocks noGrp="1"/>
          </p:cNvSpPr>
          <p:nvPr>
            <p:ph type="pic" sz="quarter" idx="11"/>
          </p:nvPr>
        </p:nvSpPr>
        <p:spPr>
          <a:xfrm>
            <a:off x="0" y="0"/>
            <a:ext cx="5867400" cy="6858000"/>
          </a:xfrm>
        </p:spPr>
        <p:txBody>
          <a:bodyPr/>
          <a:lstStyle/>
          <a:p>
            <a:r>
              <a:rPr lang="en-US"/>
              <a:t>Click icon to add picture</a:t>
            </a:r>
          </a:p>
        </p:txBody>
      </p:sp>
      <p:pic>
        <p:nvPicPr>
          <p:cNvPr id="3" name="Picture 2">
            <a:extLst>
              <a:ext uri="{FF2B5EF4-FFF2-40B4-BE49-F238E27FC236}">
                <a16:creationId xmlns:a16="http://schemas.microsoft.com/office/drawing/2014/main" id="{82A08CF5-3E9F-5B5E-9A0A-3DD222C949FF}"/>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4352888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block with full picture block on left">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B46D7986-4560-C024-D635-6E64368AD44A}"/>
              </a:ext>
            </a:extLst>
          </p:cNvPr>
          <p:cNvSpPr>
            <a:spLocks noGrp="1" noChangeAspect="1"/>
          </p:cNvSpPr>
          <p:nvPr>
            <p:ph type="pic" sz="quarter" idx="20"/>
          </p:nvPr>
        </p:nvSpPr>
        <p:spPr>
          <a:xfrm>
            <a:off x="0" y="0"/>
            <a:ext cx="6769419" cy="6858000"/>
          </a:xfrm>
          <a:noFill/>
        </p:spPr>
        <p:txBody>
          <a:bodyPr anchor="ctr" anchorCtr="0">
            <a:normAutofit/>
          </a:bodyPr>
          <a:lstStyle/>
          <a:p>
            <a:r>
              <a:rPr lang="en-US"/>
              <a:t>Click icon to add picture</a:t>
            </a:r>
          </a:p>
        </p:txBody>
      </p:sp>
      <p:sp>
        <p:nvSpPr>
          <p:cNvPr id="6" name="Text Placeholder 2">
            <a:extLst>
              <a:ext uri="{FF2B5EF4-FFF2-40B4-BE49-F238E27FC236}">
                <a16:creationId xmlns:a16="http://schemas.microsoft.com/office/drawing/2014/main" id="{740D7550-10B8-25C8-F5EB-1B7A2C19650F}"/>
              </a:ext>
            </a:extLst>
          </p:cNvPr>
          <p:cNvSpPr>
            <a:spLocks noGrp="1"/>
          </p:cNvSpPr>
          <p:nvPr>
            <p:ph type="body" idx="21"/>
          </p:nvPr>
        </p:nvSpPr>
        <p:spPr>
          <a:xfrm>
            <a:off x="7412547" y="5369794"/>
            <a:ext cx="4182046" cy="392922"/>
          </a:xfrm>
          <a:noFill/>
        </p:spPr>
        <p:txBody>
          <a:bodyPr lIns="0" tIns="0" rIns="0" bIns="0" anchor="ctr">
            <a:normAutofit/>
          </a:bodyPr>
          <a:lstStyle>
            <a:lvl1pPr marL="0" indent="0">
              <a:buNone/>
              <a:defRPr sz="120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D52E4ACD-E01C-7699-66CF-79924E9F2A08}"/>
              </a:ext>
            </a:extLst>
          </p:cNvPr>
          <p:cNvSpPr>
            <a:spLocks noGrp="1"/>
          </p:cNvSpPr>
          <p:nvPr>
            <p:ph type="title"/>
          </p:nvPr>
        </p:nvSpPr>
        <p:spPr>
          <a:xfrm>
            <a:off x="7412547" y="1704848"/>
            <a:ext cx="4182046" cy="2743200"/>
          </a:xfrm>
        </p:spPr>
        <p:txBody>
          <a:bodyPr>
            <a:normAutofit/>
          </a:bodyPr>
          <a:lstStyle>
            <a:lvl1pPr>
              <a:defRPr sz="3600"/>
            </a:lvl1pPr>
          </a:lstStyle>
          <a:p>
            <a:r>
              <a:rPr lang="en-US"/>
              <a:t>Click to edit Master title style</a:t>
            </a:r>
            <a:endParaRPr lang="en-US" dirty="0"/>
          </a:p>
        </p:txBody>
      </p:sp>
      <p:sp>
        <p:nvSpPr>
          <p:cNvPr id="5" name="Rectangle 4">
            <a:extLst>
              <a:ext uri="{FF2B5EF4-FFF2-40B4-BE49-F238E27FC236}">
                <a16:creationId xmlns:a16="http://schemas.microsoft.com/office/drawing/2014/main" id="{7F06C1AB-C470-CFA3-1ED7-BAA644D97CA8}"/>
              </a:ext>
            </a:extLst>
          </p:cNvPr>
          <p:cNvSpPr/>
          <p:nvPr/>
        </p:nvSpPr>
        <p:spPr>
          <a:xfrm>
            <a:off x="0" y="6223249"/>
            <a:ext cx="12192000" cy="6347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10BF51F5-5533-CA7C-BA9E-F558F439A06A}"/>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400323342"/>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4E3335-324B-6B97-7E89-94C4DE7E5BB3}"/>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3/3/2026</a:t>
            </a:fld>
            <a:endParaRPr lang="en-US"/>
          </a:p>
        </p:txBody>
      </p:sp>
      <p:sp>
        <p:nvSpPr>
          <p:cNvPr id="3" name="Footer Placeholder 2">
            <a:extLst>
              <a:ext uri="{FF2B5EF4-FFF2-40B4-BE49-F238E27FC236}">
                <a16:creationId xmlns:a16="http://schemas.microsoft.com/office/drawing/2014/main" id="{99727ED7-07D8-DDBA-5FE7-3E011B76B51B}"/>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4" name="Slide Number Placeholder 3">
            <a:extLst>
              <a:ext uri="{FF2B5EF4-FFF2-40B4-BE49-F238E27FC236}">
                <a16:creationId xmlns:a16="http://schemas.microsoft.com/office/drawing/2014/main" id="{A68C0E7F-DE0B-8714-3E58-F9A778E21F2D}"/>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1995438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0BC05-3EE9-18C6-69F1-8618A4CFCB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A92E1D-D6F3-3C94-94AA-004EB8B24F3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E8801C-5159-EF96-1B67-30FCF4CF1B3A}"/>
              </a:ext>
            </a:extLst>
          </p:cNvPr>
          <p:cNvSpPr>
            <a:spLocks noGrp="1"/>
          </p:cNvSpPr>
          <p:nvPr>
            <p:ph type="dt" sz="half" idx="10"/>
          </p:nvPr>
        </p:nvSpPr>
        <p:spPr>
          <a:xfrm>
            <a:off x="838200" y="6356350"/>
            <a:ext cx="2743200" cy="365125"/>
          </a:xfrm>
          <a:prstGeom prst="rect">
            <a:avLst/>
          </a:prstGeom>
        </p:spPr>
        <p:txBody>
          <a:bodyPr/>
          <a:lstStyle/>
          <a:p>
            <a:pPr>
              <a:defRPr/>
            </a:pPr>
            <a:fld id="{C84F54DC-3EC3-43B7-A330-47B5B8BF08D2}" type="datetime1">
              <a:rPr lang="en-US" smtClean="0"/>
              <a:pPr>
                <a:defRPr/>
              </a:pPr>
              <a:t>3/3/2026</a:t>
            </a:fld>
            <a:endParaRPr lang="en-US"/>
          </a:p>
        </p:txBody>
      </p:sp>
      <p:sp>
        <p:nvSpPr>
          <p:cNvPr id="5" name="Footer Placeholder 4">
            <a:extLst>
              <a:ext uri="{FF2B5EF4-FFF2-40B4-BE49-F238E27FC236}">
                <a16:creationId xmlns:a16="http://schemas.microsoft.com/office/drawing/2014/main" id="{E9970B42-E5C3-C716-DE05-B27035B93B11}"/>
              </a:ext>
            </a:extLst>
          </p:cNvPr>
          <p:cNvSpPr>
            <a:spLocks noGrp="1"/>
          </p:cNvSpPr>
          <p:nvPr>
            <p:ph type="ftr" sz="quarter" idx="11"/>
          </p:nvPr>
        </p:nvSpPr>
        <p:spPr>
          <a:xfrm>
            <a:off x="4038600" y="6356350"/>
            <a:ext cx="4114800" cy="365125"/>
          </a:xfrm>
          <a:prstGeom prst="rect">
            <a:avLst/>
          </a:prstGeom>
        </p:spPr>
        <p:txBody>
          <a:bodyPr/>
          <a:lstStyle/>
          <a:p>
            <a:pPr>
              <a:defRPr/>
            </a:pPr>
            <a:endParaRPr lang="en-US"/>
          </a:p>
        </p:txBody>
      </p:sp>
      <p:sp>
        <p:nvSpPr>
          <p:cNvPr id="6" name="Slide Number Placeholder 5">
            <a:extLst>
              <a:ext uri="{FF2B5EF4-FFF2-40B4-BE49-F238E27FC236}">
                <a16:creationId xmlns:a16="http://schemas.microsoft.com/office/drawing/2014/main" id="{10537C52-DDB0-E9D2-D508-1D042C3B8944}"/>
              </a:ext>
            </a:extLst>
          </p:cNvPr>
          <p:cNvSpPr>
            <a:spLocks noGrp="1"/>
          </p:cNvSpPr>
          <p:nvPr>
            <p:ph type="sldNum" sz="quarter" idx="12"/>
          </p:nvPr>
        </p:nvSpPr>
        <p:spPr>
          <a:xfrm>
            <a:off x="8610600" y="6356350"/>
            <a:ext cx="2743200" cy="365125"/>
          </a:xfrm>
          <a:prstGeom prst="rect">
            <a:avLst/>
          </a:prstGeom>
        </p:spPr>
        <p:txBody>
          <a:bodyPr/>
          <a:lstStyle/>
          <a:p>
            <a:pPr>
              <a:defRPr/>
            </a:pPr>
            <a:fld id="{1C3F3DB4-4F1F-49A5-A547-7D832AE3D1F8}" type="slidenum">
              <a:rPr lang="en-US" smtClean="0"/>
              <a:pPr>
                <a:defRPr/>
              </a:pPr>
              <a:t>‹#›</a:t>
            </a:fld>
            <a:endParaRPr lang="en-US"/>
          </a:p>
        </p:txBody>
      </p:sp>
      <p:pic>
        <p:nvPicPr>
          <p:cNvPr id="7" name="Picture 6" descr="A yellow and white background&#10;&#10;AI-generated content may be incorrect.">
            <a:extLst>
              <a:ext uri="{FF2B5EF4-FFF2-40B4-BE49-F238E27FC236}">
                <a16:creationId xmlns:a16="http://schemas.microsoft.com/office/drawing/2014/main" id="{18580108-B377-73C3-CA9A-C348C4FF55B7}"/>
              </a:ext>
            </a:extLst>
          </p:cNvPr>
          <p:cNvPicPr>
            <a:picLocks noChangeAspect="1"/>
          </p:cNvPicPr>
          <p:nvPr/>
        </p:nvPicPr>
        <p:blipFill>
          <a:blip r:embed="rId2"/>
          <a:stretch>
            <a:fillRect/>
          </a:stretch>
        </p:blipFill>
        <p:spPr>
          <a:xfrm>
            <a:off x="0" y="0"/>
            <a:ext cx="12561797" cy="7083719"/>
          </a:xfrm>
          <a:prstGeom prst="rect">
            <a:avLst/>
          </a:prstGeom>
        </p:spPr>
      </p:pic>
      <p:pic>
        <p:nvPicPr>
          <p:cNvPr id="10" name="Picture 9" descr="A black background with red text&#10;&#10;AI-generated content may be incorrect.">
            <a:extLst>
              <a:ext uri="{FF2B5EF4-FFF2-40B4-BE49-F238E27FC236}">
                <a16:creationId xmlns:a16="http://schemas.microsoft.com/office/drawing/2014/main" id="{38812962-0CCC-177F-8D45-267E8A4E271C}"/>
              </a:ext>
            </a:extLst>
          </p:cNvPr>
          <p:cNvPicPr>
            <a:picLocks noChangeAspect="1"/>
          </p:cNvPicPr>
          <p:nvPr/>
        </p:nvPicPr>
        <p:blipFill>
          <a:blip r:embed="rId3"/>
          <a:stretch>
            <a:fillRect/>
          </a:stretch>
        </p:blipFill>
        <p:spPr>
          <a:xfrm>
            <a:off x="9350829" y="431130"/>
            <a:ext cx="2612571" cy="1293923"/>
          </a:xfrm>
          <a:prstGeom prst="rect">
            <a:avLst/>
          </a:prstGeom>
        </p:spPr>
      </p:pic>
    </p:spTree>
    <p:extLst>
      <p:ext uri="{BB962C8B-B14F-4D97-AF65-F5344CB8AC3E}">
        <p14:creationId xmlns:p14="http://schemas.microsoft.com/office/powerpoint/2010/main" val="91593966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4E3335-324B-6B97-7E89-94C4DE7E5BB3}"/>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3/3/2026</a:t>
            </a:fld>
            <a:endParaRPr lang="en-US"/>
          </a:p>
        </p:txBody>
      </p:sp>
      <p:sp>
        <p:nvSpPr>
          <p:cNvPr id="3" name="Footer Placeholder 2">
            <a:extLst>
              <a:ext uri="{FF2B5EF4-FFF2-40B4-BE49-F238E27FC236}">
                <a16:creationId xmlns:a16="http://schemas.microsoft.com/office/drawing/2014/main" id="{99727ED7-07D8-DDBA-5FE7-3E011B76B51B}"/>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4" name="Slide Number Placeholder 3">
            <a:extLst>
              <a:ext uri="{FF2B5EF4-FFF2-40B4-BE49-F238E27FC236}">
                <a16:creationId xmlns:a16="http://schemas.microsoft.com/office/drawing/2014/main" id="{A68C0E7F-DE0B-8714-3E58-F9A778E21F2D}"/>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5" name="Picture 4" descr="A yellow and white background&#10;&#10;AI-generated content may be incorrect.">
            <a:extLst>
              <a:ext uri="{FF2B5EF4-FFF2-40B4-BE49-F238E27FC236}">
                <a16:creationId xmlns:a16="http://schemas.microsoft.com/office/drawing/2014/main" id="{01ED2E54-91CD-5365-043C-99B4BB4C83E8}"/>
              </a:ext>
            </a:extLst>
          </p:cNvPr>
          <p:cNvPicPr>
            <a:picLocks noChangeAspect="1"/>
          </p:cNvPicPr>
          <p:nvPr/>
        </p:nvPicPr>
        <p:blipFill>
          <a:blip r:embed="rId2"/>
          <a:srcRect l="9035" t="59729" r="6889"/>
          <a:stretch>
            <a:fillRect/>
          </a:stretch>
        </p:blipFill>
        <p:spPr>
          <a:xfrm rot="21168264">
            <a:off x="-427716" y="-1051066"/>
            <a:ext cx="12635069" cy="3412839"/>
          </a:xfrm>
          <a:prstGeom prst="rect">
            <a:avLst/>
          </a:prstGeom>
        </p:spPr>
      </p:pic>
      <p:pic>
        <p:nvPicPr>
          <p:cNvPr id="6" name="Picture 5" descr="A yellow and white background&#10;&#10;AI-generated content may be incorrect.">
            <a:extLst>
              <a:ext uri="{FF2B5EF4-FFF2-40B4-BE49-F238E27FC236}">
                <a16:creationId xmlns:a16="http://schemas.microsoft.com/office/drawing/2014/main" id="{A7F3C620-552E-4C67-9582-5FAEA956CADD}"/>
              </a:ext>
            </a:extLst>
          </p:cNvPr>
          <p:cNvPicPr>
            <a:picLocks noChangeAspect="1"/>
          </p:cNvPicPr>
          <p:nvPr/>
        </p:nvPicPr>
        <p:blipFill>
          <a:blip r:embed="rId2"/>
          <a:srcRect l="5033" r="10548" b="71670"/>
          <a:stretch>
            <a:fillRect/>
          </a:stretch>
        </p:blipFill>
        <p:spPr>
          <a:xfrm rot="21168264">
            <a:off x="-137042" y="5341669"/>
            <a:ext cx="12686758" cy="2400824"/>
          </a:xfrm>
          <a:prstGeom prst="rect">
            <a:avLst/>
          </a:prstGeom>
        </p:spPr>
      </p:pic>
    </p:spTree>
    <p:extLst>
      <p:ext uri="{BB962C8B-B14F-4D97-AF65-F5344CB8AC3E}">
        <p14:creationId xmlns:p14="http://schemas.microsoft.com/office/powerpoint/2010/main" val="2480008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90936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4314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C7ADF6-9144-80FF-84E0-FDE269AB31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9647F33-37B0-2FA6-07B7-026A1DE562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22055920"/>
      </p:ext>
    </p:extLst>
  </p:cSld>
  <p:clrMap bg1="lt1" tx1="dk1" bg2="lt2" tx2="dk2" accent1="accent1" accent2="accent2" accent3="accent3" accent4="accent4" accent5="accent5" accent6="accent6" hlink="hlink" folHlink="folHlink"/>
  <p:sldLayoutIdLst>
    <p:sldLayoutId id="2147483903" r:id="rId1"/>
    <p:sldLayoutId id="2147483904" r:id="rId2"/>
    <p:sldLayoutId id="2147483905" r:id="rId3"/>
    <p:sldLayoutId id="2147483906" r:id="rId4"/>
    <p:sldLayoutId id="2147483907" r:id="rId5"/>
    <p:sldLayoutId id="2147483908" r:id="rId6"/>
    <p:sldLayoutId id="2147483909" r:id="rId7"/>
    <p:sldLayoutId id="2147483910" r:id="rId8"/>
    <p:sldLayoutId id="2147483911" r:id="rId9"/>
    <p:sldLayoutId id="2147483912" r:id="rId10"/>
    <p:sldLayoutId id="2147483900" r:id="rId11"/>
    <p:sldLayoutId id="2147483890" r:id="rId12"/>
  </p:sldLayoutIdLst>
  <p:txStyles>
    <p:titleStyle>
      <a:lvl1pPr algn="l" defTabSz="914400" rtl="0" eaLnBrk="1" latinLnBrk="0" hangingPunct="1">
        <a:lnSpc>
          <a:spcPct val="90000"/>
        </a:lnSpc>
        <a:spcBef>
          <a:spcPct val="0"/>
        </a:spcBef>
        <a:buNone/>
        <a:defRPr sz="44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7.pn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hyperlink" Target="http://www.CLEtoolkit.communityinclusion.org" TargetMode="Externa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ack background with red text&#10;&#10;AI-generated content may be incorrect.">
            <a:extLst>
              <a:ext uri="{FF2B5EF4-FFF2-40B4-BE49-F238E27FC236}">
                <a16:creationId xmlns:a16="http://schemas.microsoft.com/office/drawing/2014/main" id="{84C054D1-6A39-3B31-1848-277A1036D3D9}"/>
              </a:ext>
            </a:extLst>
          </p:cNvPr>
          <p:cNvPicPr>
            <a:picLocks noChangeAspect="1"/>
          </p:cNvPicPr>
          <p:nvPr/>
        </p:nvPicPr>
        <p:blipFill>
          <a:blip r:embed="rId2"/>
          <a:stretch>
            <a:fillRect/>
          </a:stretch>
        </p:blipFill>
        <p:spPr>
          <a:xfrm>
            <a:off x="2971798" y="1658083"/>
            <a:ext cx="7151345" cy="3541833"/>
          </a:xfrm>
          <a:prstGeom prst="rect">
            <a:avLst/>
          </a:prstGeom>
        </p:spPr>
      </p:pic>
      <p:pic>
        <p:nvPicPr>
          <p:cNvPr id="9" name="Picture 8">
            <a:extLst>
              <a:ext uri="{FF2B5EF4-FFF2-40B4-BE49-F238E27FC236}">
                <a16:creationId xmlns:a16="http://schemas.microsoft.com/office/drawing/2014/main" id="{099E605A-0F17-6924-B586-B1171892851A}"/>
              </a:ext>
            </a:extLst>
          </p:cNvPr>
          <p:cNvPicPr>
            <a:picLocks noChangeAspect="1"/>
          </p:cNvPicPr>
          <p:nvPr/>
        </p:nvPicPr>
        <p:blipFill>
          <a:blip r:embed="rId3"/>
          <a:stretch>
            <a:fillRect/>
          </a:stretch>
        </p:blipFill>
        <p:spPr>
          <a:xfrm>
            <a:off x="6096000" y="3429000"/>
            <a:ext cx="0" cy="0"/>
          </a:xfrm>
          <a:prstGeom prst="rect">
            <a:avLst/>
          </a:prstGeom>
        </p:spPr>
      </p:pic>
    </p:spTree>
    <p:extLst>
      <p:ext uri="{BB962C8B-B14F-4D97-AF65-F5344CB8AC3E}">
        <p14:creationId xmlns:p14="http://schemas.microsoft.com/office/powerpoint/2010/main" val="3377308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793D627-A841-545A-D0D9-945CF0C2D2F0}"/>
              </a:ext>
            </a:extLst>
          </p:cNvPr>
          <p:cNvSpPr txBox="1">
            <a:spLocks/>
          </p:cNvSpPr>
          <p:nvPr/>
        </p:nvSpPr>
        <p:spPr>
          <a:xfrm>
            <a:off x="742330" y="1107149"/>
            <a:ext cx="10705099" cy="192143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4400" b="1" dirty="0"/>
              <a:t>Leadership Essentials  for Middle Managers: Guiding Change from Within</a:t>
            </a:r>
            <a:endParaRPr lang="en-US" sz="4400" b="1" i="1" dirty="0"/>
          </a:p>
        </p:txBody>
      </p:sp>
      <p:sp>
        <p:nvSpPr>
          <p:cNvPr id="10" name="TextBox 9">
            <a:extLst>
              <a:ext uri="{FF2B5EF4-FFF2-40B4-BE49-F238E27FC236}">
                <a16:creationId xmlns:a16="http://schemas.microsoft.com/office/drawing/2014/main" id="{F49F0FCF-4D6F-724D-D4E0-FF4F107950D8}"/>
              </a:ext>
            </a:extLst>
          </p:cNvPr>
          <p:cNvSpPr txBox="1"/>
          <p:nvPr/>
        </p:nvSpPr>
        <p:spPr>
          <a:xfrm>
            <a:off x="825964" y="3799641"/>
            <a:ext cx="10257523" cy="584775"/>
          </a:xfrm>
          <a:prstGeom prst="rect">
            <a:avLst/>
          </a:prstGeom>
          <a:noFill/>
        </p:spPr>
        <p:txBody>
          <a:bodyPr wrap="square" lIns="91440" tIns="45720" rIns="91440" bIns="45720" rtlCol="0" anchor="t">
            <a:spAutoFit/>
          </a:bodyPr>
          <a:lstStyle/>
          <a:p>
            <a:r>
              <a:rPr lang="en-US" sz="3200" i="1" dirty="0"/>
              <a:t>Module #5 Best Practices in Employment &amp; Day Services</a:t>
            </a:r>
            <a:endParaRPr lang="en-US" sz="3200" dirty="0">
              <a:ea typeface="Calibri" panose="020F0502020204030204"/>
              <a:cs typeface="Calibri" panose="020F0502020204030204"/>
            </a:endParaRPr>
          </a:p>
        </p:txBody>
      </p:sp>
      <p:sp>
        <p:nvSpPr>
          <p:cNvPr id="2" name="Text Placeholder 2">
            <a:extLst>
              <a:ext uri="{FF2B5EF4-FFF2-40B4-BE49-F238E27FC236}">
                <a16:creationId xmlns:a16="http://schemas.microsoft.com/office/drawing/2014/main" id="{25A31087-ABB3-833F-99E0-26BB30F2D313}"/>
              </a:ext>
            </a:extLst>
          </p:cNvPr>
          <p:cNvSpPr txBox="1">
            <a:spLocks/>
          </p:cNvSpPr>
          <p:nvPr/>
        </p:nvSpPr>
        <p:spPr>
          <a:xfrm>
            <a:off x="831850" y="5345972"/>
            <a:ext cx="3220197" cy="678132"/>
          </a:xfrm>
          <a:prstGeom prst="rect">
            <a:avLst/>
          </a:prstGeom>
        </p:spPr>
        <p:txBody>
          <a:bodyPr vert="horz" lIns="91440" tIns="45720" rIns="91440" bIns="45720" rtlCol="0">
            <a:normAutofit fontScale="8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Presenter </a:t>
            </a:r>
          </a:p>
          <a:p>
            <a:r>
              <a:rPr lang="en-US" dirty="0">
                <a:solidFill>
                  <a:schemeClr val="tx1"/>
                </a:solidFill>
              </a:rPr>
              <a:t>Credentials/organization</a:t>
            </a:r>
          </a:p>
        </p:txBody>
      </p:sp>
      <p:sp>
        <p:nvSpPr>
          <p:cNvPr id="3" name="Text Placeholder 2">
            <a:extLst>
              <a:ext uri="{FF2B5EF4-FFF2-40B4-BE49-F238E27FC236}">
                <a16:creationId xmlns:a16="http://schemas.microsoft.com/office/drawing/2014/main" id="{1E4F7E48-B2A8-C744-F9EB-4844F7864CC1}"/>
              </a:ext>
            </a:extLst>
          </p:cNvPr>
          <p:cNvSpPr txBox="1">
            <a:spLocks/>
          </p:cNvSpPr>
          <p:nvPr/>
        </p:nvSpPr>
        <p:spPr>
          <a:xfrm>
            <a:off x="4052047" y="5345972"/>
            <a:ext cx="3220197" cy="678132"/>
          </a:xfrm>
          <a:prstGeom prst="rect">
            <a:avLst/>
          </a:prstGeom>
        </p:spPr>
        <p:txBody>
          <a:bodyPr vert="horz" lIns="91440" tIns="45720" rIns="91440" bIns="45720" rtlCol="0">
            <a:normAutofit fontScale="8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Presenter </a:t>
            </a:r>
          </a:p>
          <a:p>
            <a:r>
              <a:rPr lang="en-US" dirty="0">
                <a:solidFill>
                  <a:schemeClr val="tx1"/>
                </a:solidFill>
              </a:rPr>
              <a:t>Credentials/organization</a:t>
            </a:r>
          </a:p>
        </p:txBody>
      </p:sp>
      <p:sp>
        <p:nvSpPr>
          <p:cNvPr id="4" name="Text Placeholder 2">
            <a:extLst>
              <a:ext uri="{FF2B5EF4-FFF2-40B4-BE49-F238E27FC236}">
                <a16:creationId xmlns:a16="http://schemas.microsoft.com/office/drawing/2014/main" id="{E0059C18-2424-C2F7-D20D-A77B7585C8E8}"/>
              </a:ext>
            </a:extLst>
          </p:cNvPr>
          <p:cNvSpPr txBox="1">
            <a:spLocks/>
          </p:cNvSpPr>
          <p:nvPr/>
        </p:nvSpPr>
        <p:spPr>
          <a:xfrm>
            <a:off x="7863290" y="5345972"/>
            <a:ext cx="3220197" cy="678132"/>
          </a:xfrm>
          <a:prstGeom prst="rect">
            <a:avLst/>
          </a:prstGeom>
        </p:spPr>
        <p:txBody>
          <a:bodyPr vert="horz" lIns="91440" tIns="45720" rIns="91440" bIns="45720" rtlCol="0">
            <a:normAutofit fontScale="8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Presenter </a:t>
            </a:r>
          </a:p>
          <a:p>
            <a:r>
              <a:rPr lang="en-US" dirty="0">
                <a:solidFill>
                  <a:schemeClr val="tx1"/>
                </a:solidFill>
              </a:rPr>
              <a:t>Credentials/organization</a:t>
            </a:r>
          </a:p>
        </p:txBody>
      </p:sp>
      <p:sp>
        <p:nvSpPr>
          <p:cNvPr id="5" name="Text Placeholder 2">
            <a:extLst>
              <a:ext uri="{FF2B5EF4-FFF2-40B4-BE49-F238E27FC236}">
                <a16:creationId xmlns:a16="http://schemas.microsoft.com/office/drawing/2014/main" id="{3A12F362-F391-46B1-9BC8-E342C012A17E}"/>
              </a:ext>
            </a:extLst>
          </p:cNvPr>
          <p:cNvSpPr>
            <a:spLocks noGrp="1"/>
          </p:cNvSpPr>
          <p:nvPr>
            <p:ph type="body" idx="1"/>
          </p:nvPr>
        </p:nvSpPr>
        <p:spPr>
          <a:xfrm>
            <a:off x="837079" y="3028582"/>
            <a:ext cx="10515600" cy="678132"/>
          </a:xfrm>
        </p:spPr>
        <p:txBody>
          <a:bodyPr/>
          <a:lstStyle/>
          <a:p>
            <a:r>
              <a:rPr lang="en-US" dirty="0">
                <a:solidFill>
                  <a:schemeClr val="tx1"/>
                </a:solidFill>
              </a:rPr>
              <a:t>Date here</a:t>
            </a:r>
          </a:p>
        </p:txBody>
      </p:sp>
    </p:spTree>
    <p:extLst>
      <p:ext uri="{BB962C8B-B14F-4D97-AF65-F5344CB8AC3E}">
        <p14:creationId xmlns:p14="http://schemas.microsoft.com/office/powerpoint/2010/main" val="1028640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0A93E-20D7-971A-D825-36C684ADB1E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36CBF90-796B-27AA-EC84-3FB35AC1B542}"/>
              </a:ext>
            </a:extLst>
          </p:cNvPr>
          <p:cNvSpPr>
            <a:spLocks noGrp="1"/>
          </p:cNvSpPr>
          <p:nvPr>
            <p:ph type="body" sz="quarter" idx="10"/>
          </p:nvPr>
        </p:nvSpPr>
        <p:spPr>
          <a:xfrm>
            <a:off x="1571789" y="3068879"/>
            <a:ext cx="9062631" cy="2459711"/>
          </a:xfrm>
        </p:spPr>
        <p:txBody>
          <a:bodyPr vert="horz" lIns="91440" tIns="45720" rIns="91440" bIns="45720" rtlCol="0" anchor="t">
            <a:normAutofit/>
          </a:bodyPr>
          <a:lstStyle/>
          <a:p>
            <a:pPr marL="151765" algn="ctr"/>
            <a:r>
              <a:rPr lang="en-US" sz="3200" dirty="0">
                <a:solidFill>
                  <a:srgbClr val="242424"/>
                </a:solidFill>
                <a:highlight>
                  <a:srgbClr val="FFFFFF"/>
                </a:highlight>
                <a:latin typeface="Aptos Narrow"/>
                <a:ea typeface="Open Sans"/>
                <a:cs typeface="Open Sans"/>
              </a:rPr>
              <a:t>MTI works with partners across Minnesota’s employment systems to build capacity, improve and align systems, and implement practices to set competitive integrated employment as the standard for Minnesotans with disabilities.</a:t>
            </a:r>
            <a:endParaRPr lang="en-US" sz="3200" dirty="0">
              <a:ea typeface="Open Sans"/>
              <a:cs typeface="Open Sans"/>
            </a:endParaRPr>
          </a:p>
        </p:txBody>
      </p:sp>
      <p:pic>
        <p:nvPicPr>
          <p:cNvPr id="10" name="Picture 9" descr="Logo&#10;&#10;Description automatically generated with medium confidence">
            <a:extLst>
              <a:ext uri="{FF2B5EF4-FFF2-40B4-BE49-F238E27FC236}">
                <a16:creationId xmlns:a16="http://schemas.microsoft.com/office/drawing/2014/main" id="{D4850765-DC48-3E67-5C2F-2A07EEB9C74A}"/>
              </a:ext>
            </a:extLst>
          </p:cNvPr>
          <p:cNvPicPr>
            <a:picLocks noChangeAspect="1"/>
          </p:cNvPicPr>
          <p:nvPr/>
        </p:nvPicPr>
        <p:blipFill>
          <a:blip r:embed="rId2"/>
          <a:stretch>
            <a:fillRect/>
          </a:stretch>
        </p:blipFill>
        <p:spPr>
          <a:xfrm>
            <a:off x="4164121" y="829678"/>
            <a:ext cx="3865301" cy="1861497"/>
          </a:xfrm>
          <a:prstGeom prst="rect">
            <a:avLst/>
          </a:prstGeom>
        </p:spPr>
      </p:pic>
      <p:sp>
        <p:nvSpPr>
          <p:cNvPr id="11" name="Rectangle: Rounded Corners 10">
            <a:extLst>
              <a:ext uri="{FF2B5EF4-FFF2-40B4-BE49-F238E27FC236}">
                <a16:creationId xmlns:a16="http://schemas.microsoft.com/office/drawing/2014/main" id="{0FF77FCB-1474-6C70-C333-B31345E9E125}"/>
              </a:ext>
            </a:extLst>
          </p:cNvPr>
          <p:cNvSpPr/>
          <p:nvPr/>
        </p:nvSpPr>
        <p:spPr>
          <a:xfrm>
            <a:off x="1200478" y="426674"/>
            <a:ext cx="9813903" cy="5529921"/>
          </a:xfrm>
          <a:prstGeom prst="round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7333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5" name="TextBox 1">
            <a:extLst>
              <a:ext uri="{FF2B5EF4-FFF2-40B4-BE49-F238E27FC236}">
                <a16:creationId xmlns:a16="http://schemas.microsoft.com/office/drawing/2014/main" id="{C54E6779-BD8C-0D69-C859-FBE329E8E760}"/>
              </a:ext>
            </a:extLst>
          </p:cNvPr>
          <p:cNvGraphicFramePr/>
          <p:nvPr/>
        </p:nvGraphicFramePr>
        <p:xfrm>
          <a:off x="717331" y="1066597"/>
          <a:ext cx="10657490" cy="5164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6" name="Arrow: Left 45">
            <a:extLst>
              <a:ext uri="{FF2B5EF4-FFF2-40B4-BE49-F238E27FC236}">
                <a16:creationId xmlns:a16="http://schemas.microsoft.com/office/drawing/2014/main" id="{B0C558F9-150E-2071-5D9F-12C73E91969B}"/>
              </a:ext>
            </a:extLst>
          </p:cNvPr>
          <p:cNvSpPr/>
          <p:nvPr/>
        </p:nvSpPr>
        <p:spPr>
          <a:xfrm>
            <a:off x="9563149" y="3651773"/>
            <a:ext cx="2091624" cy="61439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b="1">
                <a:ea typeface="Calibri"/>
                <a:cs typeface="Calibri"/>
              </a:rPr>
              <a:t>We are here!</a:t>
            </a:r>
          </a:p>
        </p:txBody>
      </p:sp>
    </p:spTree>
    <p:extLst>
      <p:ext uri="{BB962C8B-B14F-4D97-AF65-F5344CB8AC3E}">
        <p14:creationId xmlns:p14="http://schemas.microsoft.com/office/powerpoint/2010/main" val="37739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4277D-B06B-8641-88EE-0E42FB9102CE}"/>
              </a:ext>
            </a:extLst>
          </p:cNvPr>
          <p:cNvSpPr>
            <a:spLocks noGrp="1"/>
          </p:cNvSpPr>
          <p:nvPr>
            <p:ph type="title"/>
          </p:nvPr>
        </p:nvSpPr>
        <p:spPr>
          <a:xfrm>
            <a:off x="758952" y="420625"/>
            <a:ext cx="10667998" cy="1326814"/>
          </a:xfrm>
        </p:spPr>
        <p:txBody>
          <a:bodyPr anchor="ctr">
            <a:normAutofit/>
          </a:bodyPr>
          <a:lstStyle/>
          <a:p>
            <a:r>
              <a:rPr lang="en-US">
                <a:solidFill>
                  <a:schemeClr val="bg1"/>
                </a:solidFill>
              </a:rPr>
              <a:t>Learning Objectives</a:t>
            </a:r>
          </a:p>
        </p:txBody>
      </p:sp>
      <p:sp>
        <p:nvSpPr>
          <p:cNvPr id="3" name="TextBox 2">
            <a:extLst>
              <a:ext uri="{FF2B5EF4-FFF2-40B4-BE49-F238E27FC236}">
                <a16:creationId xmlns:a16="http://schemas.microsoft.com/office/drawing/2014/main" id="{1A259715-785F-47EC-65FA-167F4E90F936}"/>
              </a:ext>
            </a:extLst>
          </p:cNvPr>
          <p:cNvSpPr txBox="1"/>
          <p:nvPr/>
        </p:nvSpPr>
        <p:spPr>
          <a:xfrm>
            <a:off x="227746" y="-759814"/>
            <a:ext cx="11392754" cy="2123658"/>
          </a:xfrm>
          <a:prstGeom prst="rect">
            <a:avLst/>
          </a:prstGeom>
          <a:noFill/>
        </p:spPr>
        <p:txBody>
          <a:bodyPr wrap="square" lIns="91440" tIns="45720" rIns="91440" bIns="45720" rtlCol="0" anchor="t">
            <a:spAutoFit/>
          </a:bodyPr>
          <a:lstStyle/>
          <a:p>
            <a:pPr algn="ctr"/>
            <a:endParaRPr lang="en-US" sz="6600">
              <a:cs typeface="Calibri"/>
            </a:endParaRPr>
          </a:p>
          <a:p>
            <a:pPr algn="ctr"/>
            <a:r>
              <a:rPr lang="en-US" sz="6600"/>
              <a:t>Module #5 Learning Objectives</a:t>
            </a:r>
            <a:r>
              <a:rPr lang="en-US" sz="3200"/>
              <a:t> </a:t>
            </a:r>
            <a:endParaRPr lang="en-US" sz="3200">
              <a:ea typeface="Calibri"/>
              <a:cs typeface="Calibri"/>
            </a:endParaRPr>
          </a:p>
        </p:txBody>
      </p:sp>
      <p:sp>
        <p:nvSpPr>
          <p:cNvPr id="5" name="TextBox 4">
            <a:extLst>
              <a:ext uri="{FF2B5EF4-FFF2-40B4-BE49-F238E27FC236}">
                <a16:creationId xmlns:a16="http://schemas.microsoft.com/office/drawing/2014/main" id="{78EA12A7-2A2A-BF95-B32F-C8361754D81C}"/>
              </a:ext>
            </a:extLst>
          </p:cNvPr>
          <p:cNvSpPr txBox="1"/>
          <p:nvPr/>
        </p:nvSpPr>
        <p:spPr>
          <a:xfrm>
            <a:off x="624416" y="1576916"/>
            <a:ext cx="7429499"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a:cs typeface="Calibri" panose="020F0502020204030204"/>
              </a:rPr>
              <a:t>Better understand what best practices in Employment and Day Services. </a:t>
            </a:r>
          </a:p>
          <a:p>
            <a:pPr marL="285750" indent="-285750">
              <a:buFont typeface="Arial"/>
              <a:buChar char="•"/>
            </a:pPr>
            <a:endParaRPr lang="en-US" sz="2000">
              <a:cs typeface="Calibri" panose="020F0502020204030204"/>
            </a:endParaRPr>
          </a:p>
          <a:p>
            <a:pPr marL="285750" indent="-285750">
              <a:buFont typeface="Arial"/>
              <a:buChar char="•"/>
            </a:pPr>
            <a:r>
              <a:rPr lang="en-US" sz="2000">
                <a:cs typeface="Calibri" panose="020F0502020204030204"/>
              </a:rPr>
              <a:t>Describe best practices of an individualized employment process for a job seeker with disabilities</a:t>
            </a:r>
          </a:p>
          <a:p>
            <a:pPr marL="285750" indent="-285750">
              <a:buFont typeface="Arial"/>
              <a:buChar char="•"/>
            </a:pPr>
            <a:endParaRPr lang="en-US" sz="2000">
              <a:cs typeface="Calibri" panose="020F0502020204030204"/>
            </a:endParaRPr>
          </a:p>
          <a:p>
            <a:pPr marL="285750" indent="-285750">
              <a:buFont typeface="Arial"/>
              <a:buChar char="•"/>
            </a:pPr>
            <a:r>
              <a:rPr lang="en-US" sz="2000">
                <a:cs typeface="Calibri" panose="020F0502020204030204"/>
              </a:rPr>
              <a:t>Describe the purpose of Discovery and informational interviews</a:t>
            </a:r>
          </a:p>
          <a:p>
            <a:pPr marL="285750" indent="-285750">
              <a:buFont typeface="Arial"/>
              <a:buChar char="•"/>
            </a:pPr>
            <a:endParaRPr lang="en-US" sz="2000">
              <a:cs typeface="Calibri" panose="020F0502020204030204"/>
            </a:endParaRPr>
          </a:p>
          <a:p>
            <a:pPr marL="285750" indent="-285750">
              <a:buFont typeface="Arial"/>
              <a:buChar char="•"/>
            </a:pPr>
            <a:r>
              <a:rPr lang="en-US" sz="2000">
                <a:cs typeface="Calibri" panose="020F0502020204030204"/>
              </a:rPr>
              <a:t>How Customized Employment differs from other historic models</a:t>
            </a:r>
          </a:p>
          <a:p>
            <a:pPr marL="285750" indent="-285750">
              <a:buFont typeface="Arial"/>
              <a:buChar char="•"/>
            </a:pPr>
            <a:endParaRPr lang="en-US" sz="2000">
              <a:cs typeface="Calibri" panose="020F0502020204030204"/>
            </a:endParaRPr>
          </a:p>
          <a:p>
            <a:pPr marL="285750" indent="-285750">
              <a:buFont typeface="Arial"/>
              <a:buChar char="•"/>
            </a:pPr>
            <a:r>
              <a:rPr lang="en-US" sz="2000">
                <a:cs typeface="Calibri" panose="020F0502020204030204"/>
              </a:rPr>
              <a:t>Describe Community Life Engagement and the 4 guideposts </a:t>
            </a:r>
            <a:endParaRPr lang="en-US" sz="2000">
              <a:ea typeface="Calibri"/>
              <a:cs typeface="Calibri" panose="020F0502020204030204"/>
            </a:endParaRPr>
          </a:p>
          <a:p>
            <a:pPr marL="285750" indent="-285750">
              <a:buFont typeface="Arial"/>
              <a:buChar char="•"/>
            </a:pPr>
            <a:endParaRPr lang="en-US" sz="2000">
              <a:cs typeface="Calibri" panose="020F0502020204030204"/>
            </a:endParaRPr>
          </a:p>
          <a:p>
            <a:pPr marL="285750" indent="-285750">
              <a:buFont typeface="Arial"/>
              <a:buChar char="•"/>
            </a:pPr>
            <a:r>
              <a:rPr lang="en-US" sz="2000">
                <a:cs typeface="Calibri" panose="020F0502020204030204"/>
              </a:rPr>
              <a:t>Describe how Community Life Engagement can be used to support a person's path to employment</a:t>
            </a:r>
          </a:p>
        </p:txBody>
      </p:sp>
      <p:pic>
        <p:nvPicPr>
          <p:cNvPr id="6" name="Picture 5" descr="A clipboard with a pencil and a checklist&#10;&#10;Description automatically generated">
            <a:extLst>
              <a:ext uri="{FF2B5EF4-FFF2-40B4-BE49-F238E27FC236}">
                <a16:creationId xmlns:a16="http://schemas.microsoft.com/office/drawing/2014/main" id="{C72910E6-7D82-5979-9ADE-963065D91EC6}"/>
              </a:ext>
            </a:extLst>
          </p:cNvPr>
          <p:cNvPicPr>
            <a:picLocks noChangeAspect="1"/>
          </p:cNvPicPr>
          <p:nvPr/>
        </p:nvPicPr>
        <p:blipFill>
          <a:blip r:embed="rId3"/>
          <a:stretch>
            <a:fillRect/>
          </a:stretch>
        </p:blipFill>
        <p:spPr>
          <a:xfrm>
            <a:off x="8480954" y="2346325"/>
            <a:ext cx="2447925" cy="1847850"/>
          </a:xfrm>
          <a:prstGeom prst="rect">
            <a:avLst/>
          </a:prstGeom>
        </p:spPr>
      </p:pic>
    </p:spTree>
    <p:extLst>
      <p:ext uri="{BB962C8B-B14F-4D97-AF65-F5344CB8AC3E}">
        <p14:creationId xmlns:p14="http://schemas.microsoft.com/office/powerpoint/2010/main" val="2118181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82B29-01F2-90D9-155B-1A8FE2846611}"/>
              </a:ext>
            </a:extLst>
          </p:cNvPr>
          <p:cNvSpPr>
            <a:spLocks noGrp="1"/>
          </p:cNvSpPr>
          <p:nvPr>
            <p:ph type="title"/>
          </p:nvPr>
        </p:nvSpPr>
        <p:spPr>
          <a:xfrm>
            <a:off x="46015" y="-221132"/>
            <a:ext cx="10515600" cy="1239838"/>
          </a:xfrm>
        </p:spPr>
        <p:txBody>
          <a:bodyPr/>
          <a:lstStyle/>
          <a:p>
            <a:r>
              <a:rPr lang="en-US" b="1">
                <a:ea typeface="Calibri Light" panose="020F0302020204030204"/>
                <a:cs typeface="Calibri Light" panose="020F0302020204030204"/>
              </a:rPr>
              <a:t>Session 2 Recap and Comments </a:t>
            </a:r>
          </a:p>
        </p:txBody>
      </p:sp>
      <p:sp>
        <p:nvSpPr>
          <p:cNvPr id="5" name="TextBox 4">
            <a:extLst>
              <a:ext uri="{FF2B5EF4-FFF2-40B4-BE49-F238E27FC236}">
                <a16:creationId xmlns:a16="http://schemas.microsoft.com/office/drawing/2014/main" id="{4EDA328A-EA61-C301-D6F6-F9819C35AC3F}"/>
              </a:ext>
            </a:extLst>
          </p:cNvPr>
          <p:cNvSpPr txBox="1"/>
          <p:nvPr/>
        </p:nvSpPr>
        <p:spPr>
          <a:xfrm>
            <a:off x="247516" y="900715"/>
            <a:ext cx="9538415"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ea typeface="Calibri"/>
                <a:cs typeface="Calibri"/>
              </a:rPr>
              <a:t>In November we discussed: "what was stopping you from being a more effective leader?" </a:t>
            </a:r>
          </a:p>
        </p:txBody>
      </p:sp>
      <p:pic>
        <p:nvPicPr>
          <p:cNvPr id="3" name="Picture 2" descr="A black line with dots&#10;&#10;Description automatically generated">
            <a:extLst>
              <a:ext uri="{FF2B5EF4-FFF2-40B4-BE49-F238E27FC236}">
                <a16:creationId xmlns:a16="http://schemas.microsoft.com/office/drawing/2014/main" id="{1F1E2D39-B06A-B3BE-3AB6-5CCE086E0C86}"/>
              </a:ext>
            </a:extLst>
          </p:cNvPr>
          <p:cNvPicPr>
            <a:picLocks noChangeAspect="1"/>
          </p:cNvPicPr>
          <p:nvPr/>
        </p:nvPicPr>
        <p:blipFill>
          <a:blip r:embed="rId3"/>
          <a:stretch>
            <a:fillRect/>
          </a:stretch>
        </p:blipFill>
        <p:spPr>
          <a:xfrm>
            <a:off x="8662825" y="3875940"/>
            <a:ext cx="2921194" cy="1972759"/>
          </a:xfrm>
          <a:prstGeom prst="rect">
            <a:avLst/>
          </a:prstGeom>
        </p:spPr>
      </p:pic>
      <p:graphicFrame>
        <p:nvGraphicFramePr>
          <p:cNvPr id="10" name="TextBox 5">
            <a:extLst>
              <a:ext uri="{FF2B5EF4-FFF2-40B4-BE49-F238E27FC236}">
                <a16:creationId xmlns:a16="http://schemas.microsoft.com/office/drawing/2014/main" id="{E0F021AA-5BC1-739E-1CBA-F47933FE9157}"/>
              </a:ext>
            </a:extLst>
          </p:cNvPr>
          <p:cNvGraphicFramePr/>
          <p:nvPr>
            <p:extLst>
              <p:ext uri="{D42A27DB-BD31-4B8C-83A1-F6EECF244321}">
                <p14:modId xmlns:p14="http://schemas.microsoft.com/office/powerpoint/2010/main" val="3247985599"/>
              </p:ext>
            </p:extLst>
          </p:nvPr>
        </p:nvGraphicFramePr>
        <p:xfrm>
          <a:off x="246998" y="1928509"/>
          <a:ext cx="6104853" cy="44012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Arrow: Right 7">
            <a:extLst>
              <a:ext uri="{FF2B5EF4-FFF2-40B4-BE49-F238E27FC236}">
                <a16:creationId xmlns:a16="http://schemas.microsoft.com/office/drawing/2014/main" id="{0266FD6D-F4BD-6E88-0ACC-F528328D4F41}"/>
              </a:ext>
            </a:extLst>
          </p:cNvPr>
          <p:cNvSpPr/>
          <p:nvPr/>
        </p:nvSpPr>
        <p:spPr>
          <a:xfrm rot="1800000">
            <a:off x="6650930" y="1924175"/>
            <a:ext cx="2720757" cy="1927416"/>
          </a:xfrm>
          <a:prstGeom prst="rightArrow">
            <a:avLst/>
          </a:prstGeom>
          <a:solidFill>
            <a:srgbClr val="8D191B"/>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ea typeface="Calibri"/>
                <a:cs typeface="Calibri"/>
              </a:rPr>
              <a:t>We want to help you connect the dots</a:t>
            </a:r>
            <a:endParaRPr lang="en-US" sz="2000" b="1">
              <a:cs typeface="Calibri"/>
            </a:endParaRPr>
          </a:p>
        </p:txBody>
      </p:sp>
      <p:sp>
        <p:nvSpPr>
          <p:cNvPr id="7" name="Content Placeholder 6">
            <a:extLst>
              <a:ext uri="{FF2B5EF4-FFF2-40B4-BE49-F238E27FC236}">
                <a16:creationId xmlns:a16="http://schemas.microsoft.com/office/drawing/2014/main" id="{235AD09B-8D73-2633-C8C2-CED1BEFCE975}"/>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883594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1A0C03-7C85-2643-56CC-2FF38431EBFB}"/>
              </a:ext>
            </a:extLst>
          </p:cNvPr>
          <p:cNvPicPr>
            <a:picLocks noChangeAspect="1"/>
          </p:cNvPicPr>
          <p:nvPr/>
        </p:nvPicPr>
        <p:blipFill rotWithShape="1">
          <a:blip r:embed="rId3"/>
          <a:srcRect t="29671" r="-2" b="-2"/>
          <a:stretch/>
        </p:blipFill>
        <p:spPr>
          <a:xfrm>
            <a:off x="20" y="10"/>
            <a:ext cx="12191980" cy="6177333"/>
          </a:xfrm>
          <a:prstGeom prst="rect">
            <a:avLst/>
          </a:prstGeom>
        </p:spPr>
      </p:pic>
      <p:sp>
        <p:nvSpPr>
          <p:cNvPr id="2" name="Title 1">
            <a:extLst>
              <a:ext uri="{FF2B5EF4-FFF2-40B4-BE49-F238E27FC236}">
                <a16:creationId xmlns:a16="http://schemas.microsoft.com/office/drawing/2014/main" id="{AA343869-1422-EDEC-E7E3-CA0E8B4223F5}"/>
              </a:ext>
            </a:extLst>
          </p:cNvPr>
          <p:cNvSpPr>
            <a:spLocks noGrp="1"/>
          </p:cNvSpPr>
          <p:nvPr>
            <p:ph type="title"/>
          </p:nvPr>
        </p:nvSpPr>
        <p:spPr>
          <a:xfrm>
            <a:off x="173737" y="4274824"/>
            <a:ext cx="5349240" cy="744836"/>
          </a:xfrm>
        </p:spPr>
        <p:txBody>
          <a:bodyPr vert="horz" lIns="91440" tIns="45720" rIns="91440" bIns="45720" rtlCol="0" anchor="ctr">
            <a:normAutofit fontScale="90000"/>
          </a:bodyPr>
          <a:lstStyle/>
          <a:p>
            <a:r>
              <a:rPr lang="en-US" sz="3600" b="1" i="1" dirty="0">
                <a:solidFill>
                  <a:schemeClr val="tx1">
                    <a:lumMod val="85000"/>
                    <a:lumOff val="15000"/>
                  </a:schemeClr>
                </a:solidFill>
              </a:rPr>
              <a:t>Leadership</a:t>
            </a:r>
            <a:r>
              <a:rPr lang="en-US" sz="3600" dirty="0">
                <a:solidFill>
                  <a:schemeClr val="tx1">
                    <a:lumMod val="85000"/>
                    <a:lumOff val="15000"/>
                  </a:schemeClr>
                </a:solidFill>
              </a:rPr>
              <a:t> is about</a:t>
            </a:r>
            <a:br>
              <a:rPr lang="en-US" sz="3600" dirty="0">
                <a:solidFill>
                  <a:schemeClr val="tx1">
                    <a:lumMod val="85000"/>
                    <a:lumOff val="15000"/>
                  </a:schemeClr>
                </a:solidFill>
              </a:rPr>
            </a:br>
            <a:r>
              <a:rPr lang="en-US" sz="3600" dirty="0">
                <a:solidFill>
                  <a:schemeClr val="tx1">
                    <a:lumMod val="85000"/>
                    <a:lumOff val="15000"/>
                  </a:schemeClr>
                </a:solidFill>
              </a:rPr>
              <a:t>connecting the dots....</a:t>
            </a:r>
          </a:p>
        </p:txBody>
      </p:sp>
    </p:spTree>
    <p:extLst>
      <p:ext uri="{BB962C8B-B14F-4D97-AF65-F5344CB8AC3E}">
        <p14:creationId xmlns:p14="http://schemas.microsoft.com/office/powerpoint/2010/main" val="3866583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BA683-7E29-B53D-805F-D2DFBCFE2024}"/>
            </a:ext>
          </a:extLst>
        </p:cNvPr>
        <p:cNvGrpSpPr/>
        <p:nvPr/>
      </p:nvGrpSpPr>
      <p:grpSpPr>
        <a:xfrm>
          <a:off x="0" y="0"/>
          <a:ext cx="0" cy="0"/>
          <a:chOff x="0" y="0"/>
          <a:chExt cx="0" cy="0"/>
        </a:xfrm>
      </p:grpSpPr>
      <p:pic>
        <p:nvPicPr>
          <p:cNvPr id="5" name="Picture 4" descr="A diagram of a company&amp;#39;s life cycle&#10;&#10;AI-generated content may be incorrect.">
            <a:extLst>
              <a:ext uri="{FF2B5EF4-FFF2-40B4-BE49-F238E27FC236}">
                <a16:creationId xmlns:a16="http://schemas.microsoft.com/office/drawing/2014/main" id="{C5FE3D6D-E0F2-1231-120F-93665CE9DF44}"/>
              </a:ext>
            </a:extLst>
          </p:cNvPr>
          <p:cNvPicPr>
            <a:picLocks noChangeAspect="1"/>
          </p:cNvPicPr>
          <p:nvPr/>
        </p:nvPicPr>
        <p:blipFill>
          <a:blip r:embed="rId3"/>
          <a:stretch>
            <a:fillRect/>
          </a:stretch>
        </p:blipFill>
        <p:spPr>
          <a:xfrm>
            <a:off x="392043" y="125903"/>
            <a:ext cx="11407914" cy="6156236"/>
          </a:xfrm>
          <a:prstGeom prst="rect">
            <a:avLst/>
          </a:prstGeom>
        </p:spPr>
      </p:pic>
    </p:spTree>
    <p:extLst>
      <p:ext uri="{BB962C8B-B14F-4D97-AF65-F5344CB8AC3E}">
        <p14:creationId xmlns:p14="http://schemas.microsoft.com/office/powerpoint/2010/main" val="1530167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C0AE43-4CFA-FFD3-60CA-CD784601A8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B14F9A-BDD2-A0BB-41BD-CABB7C59E096}"/>
              </a:ext>
            </a:extLst>
          </p:cNvPr>
          <p:cNvSpPr>
            <a:spLocks noGrp="1"/>
          </p:cNvSpPr>
          <p:nvPr>
            <p:ph type="title"/>
          </p:nvPr>
        </p:nvSpPr>
        <p:spPr>
          <a:xfrm>
            <a:off x="820415" y="119735"/>
            <a:ext cx="10515600" cy="1325563"/>
          </a:xfrm>
        </p:spPr>
        <p:txBody>
          <a:bodyPr>
            <a:normAutofit/>
          </a:bodyPr>
          <a:lstStyle/>
          <a:p>
            <a:r>
              <a:rPr lang="en-US" sz="5400">
                <a:ea typeface="Calibri Light"/>
                <a:cs typeface="Calibri Light"/>
              </a:rPr>
              <a:t>Quick Summary of Best Practices</a:t>
            </a:r>
          </a:p>
        </p:txBody>
      </p:sp>
      <p:sp>
        <p:nvSpPr>
          <p:cNvPr id="4" name="Text Placeholder 3">
            <a:extLst>
              <a:ext uri="{FF2B5EF4-FFF2-40B4-BE49-F238E27FC236}">
                <a16:creationId xmlns:a16="http://schemas.microsoft.com/office/drawing/2014/main" id="{9E6ABFB2-523B-2DFD-F65C-82DC92B42D0E}"/>
              </a:ext>
            </a:extLst>
          </p:cNvPr>
          <p:cNvSpPr>
            <a:spLocks noGrp="1"/>
          </p:cNvSpPr>
          <p:nvPr>
            <p:ph type="body" idx="1"/>
          </p:nvPr>
        </p:nvSpPr>
        <p:spPr>
          <a:xfrm>
            <a:off x="820416" y="1029586"/>
            <a:ext cx="5157787" cy="823912"/>
          </a:xfrm>
        </p:spPr>
        <p:txBody>
          <a:bodyPr/>
          <a:lstStyle/>
          <a:p>
            <a:r>
              <a:rPr lang="en-US" u="sng">
                <a:ea typeface="Calibri"/>
                <a:cs typeface="Calibri"/>
              </a:rPr>
              <a:t>Employment Services</a:t>
            </a:r>
          </a:p>
        </p:txBody>
      </p:sp>
      <p:sp>
        <p:nvSpPr>
          <p:cNvPr id="3" name="Content Placeholder 2">
            <a:extLst>
              <a:ext uri="{FF2B5EF4-FFF2-40B4-BE49-F238E27FC236}">
                <a16:creationId xmlns:a16="http://schemas.microsoft.com/office/drawing/2014/main" id="{D7DF2286-06DE-ED3E-B16F-30EA045227F4}"/>
              </a:ext>
            </a:extLst>
          </p:cNvPr>
          <p:cNvSpPr>
            <a:spLocks noGrp="1"/>
          </p:cNvSpPr>
          <p:nvPr>
            <p:ph sz="half" idx="2"/>
          </p:nvPr>
        </p:nvSpPr>
        <p:spPr>
          <a:xfrm>
            <a:off x="813958" y="1858534"/>
            <a:ext cx="5164581" cy="4094088"/>
          </a:xfrm>
        </p:spPr>
        <p:txBody>
          <a:bodyPr vert="horz" lIns="91440" tIns="45720" rIns="91440" bIns="45720" rtlCol="0" anchor="t">
            <a:noAutofit/>
          </a:bodyPr>
          <a:lstStyle/>
          <a:p>
            <a:pPr marL="285750" indent="-285750">
              <a:buFont typeface="Arial"/>
            </a:pPr>
            <a:r>
              <a:rPr lang="en-US" sz="1700">
                <a:latin typeface="Open Sans Light"/>
                <a:ea typeface="Calibri"/>
                <a:cs typeface="Calibri"/>
              </a:rPr>
              <a:t>Employment First- Everyone who wants to work has a contribution to make to the workforce</a:t>
            </a:r>
            <a:endParaRPr lang="en-US" sz="1700"/>
          </a:p>
          <a:p>
            <a:pPr marL="342900" lvl="1" indent="0">
              <a:buFont typeface="Courier New" panose="020B0604020202020204" pitchFamily="34" charset="0"/>
              <a:buChar char="o"/>
            </a:pPr>
            <a:r>
              <a:rPr lang="en-US" sz="1700">
                <a:latin typeface="Open Sans Light"/>
                <a:ea typeface="Calibri"/>
                <a:cs typeface="Calibri"/>
              </a:rPr>
              <a:t>Employment First Minnesota (E1MN)</a:t>
            </a:r>
            <a:endParaRPr lang="en-US" sz="1700">
              <a:ea typeface="Calibri"/>
              <a:cs typeface="Calibri"/>
            </a:endParaRPr>
          </a:p>
          <a:p>
            <a:pPr marL="0" indent="-114300"/>
            <a:r>
              <a:rPr lang="en-US" sz="1700">
                <a:latin typeface="Open Sans Light"/>
                <a:ea typeface="Calibri"/>
                <a:cs typeface="Calibri"/>
              </a:rPr>
              <a:t>Person-Centered, individualized approach to CIE</a:t>
            </a:r>
            <a:endParaRPr lang="en-US" sz="1700">
              <a:ea typeface="Calibri"/>
              <a:cs typeface="Calibri"/>
            </a:endParaRPr>
          </a:p>
          <a:p>
            <a:pPr marL="0" indent="0"/>
            <a:r>
              <a:rPr lang="en-US" sz="1700">
                <a:latin typeface="Open Sans Light"/>
                <a:ea typeface="Calibri"/>
                <a:cs typeface="Calibri"/>
              </a:rPr>
              <a:t>Customized Employment </a:t>
            </a:r>
          </a:p>
          <a:p>
            <a:pPr marL="342900" lvl="1" indent="0">
              <a:buFont typeface="Courier New" panose="020B0604020202020204" pitchFamily="34" charset="0"/>
              <a:buChar char="o"/>
            </a:pPr>
            <a:r>
              <a:rPr lang="en-US" sz="1700">
                <a:latin typeface="Open Sans Light"/>
                <a:ea typeface="Calibri"/>
                <a:cs typeface="Calibri"/>
              </a:rPr>
              <a:t>Exploration</a:t>
            </a:r>
          </a:p>
          <a:p>
            <a:pPr marL="342900" lvl="1" indent="0">
              <a:buFont typeface="Courier New" panose="020B0604020202020204" pitchFamily="34" charset="0"/>
              <a:buChar char="o"/>
            </a:pPr>
            <a:r>
              <a:rPr lang="en-US" sz="1700">
                <a:latin typeface="Open Sans Light"/>
                <a:ea typeface="Calibri"/>
                <a:cs typeface="Calibri"/>
              </a:rPr>
              <a:t>Discovery</a:t>
            </a:r>
          </a:p>
          <a:p>
            <a:pPr marL="342900" lvl="1" indent="0">
              <a:buFont typeface="Courier New" panose="020B0604020202020204" pitchFamily="34" charset="0"/>
              <a:buChar char="o"/>
            </a:pPr>
            <a:r>
              <a:rPr lang="en-US" sz="1700">
                <a:latin typeface="Open Sans Light"/>
                <a:ea typeface="Calibri"/>
                <a:cs typeface="Calibri"/>
              </a:rPr>
              <a:t>Customized Position- employee strengths meets needs of business</a:t>
            </a:r>
          </a:p>
          <a:p>
            <a:pPr marL="0" indent="-114300"/>
            <a:r>
              <a:rPr lang="en-US" sz="1700">
                <a:latin typeface="Open Sans Light"/>
                <a:ea typeface="Calibri"/>
                <a:cs typeface="Calibri"/>
              </a:rPr>
              <a:t>Job Carving </a:t>
            </a:r>
            <a:endParaRPr lang="en-US" sz="1700">
              <a:latin typeface="Open Sans Light"/>
              <a:ea typeface="Open Sans Light"/>
              <a:cs typeface="Open Sans Light"/>
            </a:endParaRPr>
          </a:p>
          <a:p>
            <a:pPr marL="0" indent="-114300"/>
            <a:r>
              <a:rPr lang="en-US" sz="1700">
                <a:latin typeface="Open Sans Light"/>
                <a:ea typeface="Calibri"/>
                <a:cs typeface="Calibri"/>
              </a:rPr>
              <a:t>Networking/Collaboration</a:t>
            </a:r>
            <a:endParaRPr lang="en-US" sz="1700"/>
          </a:p>
          <a:p>
            <a:pPr marL="0" indent="-114300"/>
            <a:r>
              <a:rPr lang="en-US" sz="1700">
                <a:latin typeface="Open Sans Light"/>
                <a:ea typeface="Calibri"/>
                <a:cs typeface="Calibri"/>
              </a:rPr>
              <a:t>Systematic Instruction</a:t>
            </a:r>
            <a:endParaRPr lang="en-US" sz="1700">
              <a:latin typeface="Open Sans Light"/>
            </a:endParaRPr>
          </a:p>
          <a:p>
            <a:pPr marL="0" indent="-114300"/>
            <a:r>
              <a:rPr lang="en-US" sz="1700">
                <a:latin typeface="Open Sans Light"/>
                <a:ea typeface="Calibri"/>
                <a:cs typeface="Calibri"/>
              </a:rPr>
              <a:t>"Try another way"</a:t>
            </a:r>
          </a:p>
        </p:txBody>
      </p:sp>
      <p:sp>
        <p:nvSpPr>
          <p:cNvPr id="6" name="Text Placeholder 5">
            <a:extLst>
              <a:ext uri="{FF2B5EF4-FFF2-40B4-BE49-F238E27FC236}">
                <a16:creationId xmlns:a16="http://schemas.microsoft.com/office/drawing/2014/main" id="{F02C5561-1B74-DBD2-7727-90E289585968}"/>
              </a:ext>
            </a:extLst>
          </p:cNvPr>
          <p:cNvSpPr>
            <a:spLocks noGrp="1"/>
          </p:cNvSpPr>
          <p:nvPr>
            <p:ph type="body" sz="quarter" idx="3"/>
          </p:nvPr>
        </p:nvSpPr>
        <p:spPr>
          <a:xfrm>
            <a:off x="6172200" y="1028943"/>
            <a:ext cx="5183188" cy="823912"/>
          </a:xfrm>
        </p:spPr>
        <p:txBody>
          <a:bodyPr/>
          <a:lstStyle/>
          <a:p>
            <a:r>
              <a:rPr lang="en-US" u="sng">
                <a:ea typeface="Calibri"/>
                <a:cs typeface="Calibri"/>
              </a:rPr>
              <a:t>Day Services</a:t>
            </a:r>
          </a:p>
        </p:txBody>
      </p:sp>
      <p:sp>
        <p:nvSpPr>
          <p:cNvPr id="7" name="Content Placeholder 6">
            <a:extLst>
              <a:ext uri="{FF2B5EF4-FFF2-40B4-BE49-F238E27FC236}">
                <a16:creationId xmlns:a16="http://schemas.microsoft.com/office/drawing/2014/main" id="{B648AA1F-D945-E511-AAC0-69B54E5864A2}"/>
              </a:ext>
            </a:extLst>
          </p:cNvPr>
          <p:cNvSpPr>
            <a:spLocks noGrp="1"/>
          </p:cNvSpPr>
          <p:nvPr>
            <p:ph sz="quarter" idx="4"/>
          </p:nvPr>
        </p:nvSpPr>
        <p:spPr>
          <a:xfrm>
            <a:off x="6138816" y="1857850"/>
            <a:ext cx="5411764" cy="3504018"/>
          </a:xfrm>
        </p:spPr>
        <p:txBody>
          <a:bodyPr vert="horz" lIns="91440" tIns="45720" rIns="91440" bIns="45720" rtlCol="0" anchor="t">
            <a:noAutofit/>
          </a:bodyPr>
          <a:lstStyle/>
          <a:p>
            <a:r>
              <a:rPr lang="en-US" sz="1700">
                <a:latin typeface="Open Sans Light"/>
                <a:ea typeface="Open Sans Light"/>
                <a:cs typeface="Open Sans Light"/>
              </a:rPr>
              <a:t>Support full participation and community life engagement</a:t>
            </a:r>
          </a:p>
          <a:p>
            <a:r>
              <a:rPr lang="en-US" sz="1700">
                <a:latin typeface="Open Sans Light"/>
                <a:ea typeface="Open Sans Light"/>
                <a:cs typeface="Open Sans Light"/>
              </a:rPr>
              <a:t>Employment is everyone's responsibility</a:t>
            </a:r>
          </a:p>
          <a:p>
            <a:pPr lvl="1">
              <a:buFont typeface="Courier New" panose="020B0604020202020204" pitchFamily="34" charset="0"/>
              <a:buChar char="o"/>
            </a:pPr>
            <a:r>
              <a:rPr lang="en-US" sz="1700">
                <a:latin typeface="Open Sans Light"/>
                <a:ea typeface="Open Sans Light"/>
                <a:cs typeface="Open Sans Light"/>
              </a:rPr>
              <a:t>Day services can be a place to explore learn and experience work and community</a:t>
            </a:r>
          </a:p>
          <a:p>
            <a:r>
              <a:rPr lang="en-US" sz="1700">
                <a:latin typeface="Open Sans Light"/>
                <a:ea typeface="Open Sans Light"/>
                <a:cs typeface="Open Sans Light"/>
              </a:rPr>
              <a:t>Use generic, typical resources available to all</a:t>
            </a:r>
          </a:p>
          <a:p>
            <a:r>
              <a:rPr lang="en-US" sz="1700">
                <a:latin typeface="Open Sans Light"/>
                <a:ea typeface="Open Sans Light"/>
                <a:cs typeface="Open Sans Light"/>
              </a:rPr>
              <a:t>Occur in typical community settings, in small groups</a:t>
            </a:r>
          </a:p>
          <a:p>
            <a:r>
              <a:rPr lang="en-US" sz="1700">
                <a:latin typeface="Open Sans Light"/>
                <a:ea typeface="Open Sans Light"/>
                <a:cs typeface="Open Sans Light"/>
              </a:rPr>
              <a:t>View staff as facilitators of inclusion </a:t>
            </a:r>
          </a:p>
          <a:p>
            <a:r>
              <a:rPr lang="en-US" sz="1700">
                <a:latin typeface="Open Sans Light"/>
                <a:ea typeface="Open Sans Light"/>
                <a:cs typeface="Open Sans Light"/>
              </a:rPr>
              <a:t>Avoid activities that reinforce stereotypes</a:t>
            </a:r>
          </a:p>
          <a:p>
            <a:r>
              <a:rPr lang="en-US" sz="1700">
                <a:latin typeface="Open Sans Light"/>
                <a:ea typeface="Open Sans Light"/>
                <a:cs typeface="Open Sans Light"/>
              </a:rPr>
              <a:t>Avoid activities that segregate</a:t>
            </a:r>
          </a:p>
          <a:p>
            <a:r>
              <a:rPr lang="en-US" sz="1700">
                <a:latin typeface="Open Sans Light"/>
                <a:ea typeface="Open Sans Light"/>
                <a:cs typeface="Open Sans Light"/>
              </a:rPr>
              <a:t>Support self-advocacy </a:t>
            </a:r>
          </a:p>
          <a:p>
            <a:r>
              <a:rPr lang="en-US" sz="1700">
                <a:latin typeface="Open Sans Light"/>
                <a:ea typeface="Open Sans Light"/>
                <a:cs typeface="Open Sans Light"/>
              </a:rPr>
              <a:t>Support a path to employment</a:t>
            </a:r>
          </a:p>
        </p:txBody>
      </p:sp>
    </p:spTree>
    <p:extLst>
      <p:ext uri="{BB962C8B-B14F-4D97-AF65-F5344CB8AC3E}">
        <p14:creationId xmlns:p14="http://schemas.microsoft.com/office/powerpoint/2010/main" val="2532510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9D692-E624-8D62-4228-79317451FB2F}"/>
              </a:ext>
            </a:extLst>
          </p:cNvPr>
          <p:cNvSpPr>
            <a:spLocks noGrp="1"/>
          </p:cNvSpPr>
          <p:nvPr>
            <p:ph type="title"/>
          </p:nvPr>
        </p:nvSpPr>
        <p:spPr/>
        <p:txBody>
          <a:bodyPr>
            <a:normAutofit/>
          </a:bodyPr>
          <a:lstStyle/>
          <a:p>
            <a:r>
              <a:rPr lang="en-US" sz="5400">
                <a:cs typeface="Calibri Light"/>
              </a:rPr>
              <a:t>Poll Question #1</a:t>
            </a:r>
          </a:p>
        </p:txBody>
      </p:sp>
      <p:sp>
        <p:nvSpPr>
          <p:cNvPr id="3" name="Content Placeholder 2">
            <a:extLst>
              <a:ext uri="{FF2B5EF4-FFF2-40B4-BE49-F238E27FC236}">
                <a16:creationId xmlns:a16="http://schemas.microsoft.com/office/drawing/2014/main" id="{DACE1CFC-D551-C181-34BC-0080E785F832}"/>
              </a:ext>
            </a:extLst>
          </p:cNvPr>
          <p:cNvSpPr>
            <a:spLocks noGrp="1"/>
          </p:cNvSpPr>
          <p:nvPr>
            <p:ph idx="1"/>
          </p:nvPr>
        </p:nvSpPr>
        <p:spPr>
          <a:xfrm>
            <a:off x="838200" y="1929384"/>
            <a:ext cx="10684933" cy="4251960"/>
          </a:xfrm>
        </p:spPr>
        <p:txBody>
          <a:bodyPr vert="horz" lIns="91440" tIns="45720" rIns="91440" bIns="45720" rtlCol="0" anchor="t">
            <a:normAutofit/>
          </a:bodyPr>
          <a:lstStyle/>
          <a:p>
            <a:pPr marL="0" indent="0">
              <a:buNone/>
            </a:pPr>
            <a:r>
              <a:rPr lang="en-US" sz="2200">
                <a:cs typeface="Calibri"/>
              </a:rPr>
              <a:t>My organization currently utilizes best practices to help people with disabilities get competitive integrated jobs, one person at a time. </a:t>
            </a:r>
          </a:p>
          <a:p>
            <a:pPr marL="0" indent="0">
              <a:buNone/>
            </a:pPr>
            <a:endParaRPr lang="en-US" sz="2200">
              <a:cs typeface="Calibri"/>
            </a:endParaRPr>
          </a:p>
          <a:p>
            <a:r>
              <a:rPr lang="en-US" sz="2200">
                <a:cs typeface="Calibri"/>
              </a:rPr>
              <a:t>Yes</a:t>
            </a:r>
          </a:p>
          <a:p>
            <a:r>
              <a:rPr lang="en-US" sz="2200">
                <a:cs typeface="Calibri"/>
              </a:rPr>
              <a:t>No</a:t>
            </a:r>
          </a:p>
          <a:p>
            <a:r>
              <a:rPr lang="en-US" sz="2200">
                <a:cs typeface="Calibri"/>
              </a:rPr>
              <a:t>Sometimes, for some people</a:t>
            </a:r>
          </a:p>
          <a:p>
            <a:r>
              <a:rPr lang="en-US" sz="2200">
                <a:cs typeface="Calibri"/>
              </a:rPr>
              <a:t>I'm not sure </a:t>
            </a:r>
            <a:endParaRPr lang="en-US" sz="2200">
              <a:ea typeface="Calibri"/>
              <a:cs typeface="Calibri"/>
            </a:endParaRPr>
          </a:p>
        </p:txBody>
      </p:sp>
    </p:spTree>
    <p:extLst>
      <p:ext uri="{BB962C8B-B14F-4D97-AF65-F5344CB8AC3E}">
        <p14:creationId xmlns:p14="http://schemas.microsoft.com/office/powerpoint/2010/main" val="1974461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98AFF38-502D-F782-5716-05E8C70E8E8E}"/>
              </a:ext>
            </a:extLst>
          </p:cNvPr>
          <p:cNvGraphicFramePr>
            <a:graphicFrameLocks noGrp="1"/>
          </p:cNvGraphicFramePr>
          <p:nvPr>
            <p:extLst>
              <p:ext uri="{D42A27DB-BD31-4B8C-83A1-F6EECF244321}">
                <p14:modId xmlns:p14="http://schemas.microsoft.com/office/powerpoint/2010/main" val="1251803072"/>
              </p:ext>
            </p:extLst>
          </p:nvPr>
        </p:nvGraphicFramePr>
        <p:xfrm>
          <a:off x="4556423" y="99550"/>
          <a:ext cx="7261776" cy="6017015"/>
        </p:xfrm>
        <a:graphic>
          <a:graphicData uri="http://schemas.openxmlformats.org/drawingml/2006/table">
            <a:tbl>
              <a:tblPr firstRow="1" firstCol="1" bandRow="1">
                <a:tableStyleId>{5C22544A-7EE6-4342-B048-85BDC9FD1C3A}</a:tableStyleId>
              </a:tblPr>
              <a:tblGrid>
                <a:gridCol w="2420074">
                  <a:extLst>
                    <a:ext uri="{9D8B030D-6E8A-4147-A177-3AD203B41FA5}">
                      <a16:colId xmlns:a16="http://schemas.microsoft.com/office/drawing/2014/main" val="1565836828"/>
                    </a:ext>
                  </a:extLst>
                </a:gridCol>
                <a:gridCol w="2420851">
                  <a:extLst>
                    <a:ext uri="{9D8B030D-6E8A-4147-A177-3AD203B41FA5}">
                      <a16:colId xmlns:a16="http://schemas.microsoft.com/office/drawing/2014/main" val="185761713"/>
                    </a:ext>
                  </a:extLst>
                </a:gridCol>
                <a:gridCol w="2420851">
                  <a:extLst>
                    <a:ext uri="{9D8B030D-6E8A-4147-A177-3AD203B41FA5}">
                      <a16:colId xmlns:a16="http://schemas.microsoft.com/office/drawing/2014/main" val="881489648"/>
                    </a:ext>
                  </a:extLst>
                </a:gridCol>
              </a:tblGrid>
              <a:tr h="206830">
                <a:tc>
                  <a:txBody>
                    <a:bodyPr/>
                    <a:lstStyle/>
                    <a:p>
                      <a:pPr marL="0" marR="0" algn="just">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solidFill>
                  </a:tcPr>
                </a:tc>
                <a:tc>
                  <a:txBody>
                    <a:bodyPr/>
                    <a:lstStyle/>
                    <a:p>
                      <a:pPr marL="0" marR="0" algn="ctr">
                        <a:lnSpc>
                          <a:spcPct val="107000"/>
                        </a:lnSpc>
                        <a:spcBef>
                          <a:spcPts val="0"/>
                        </a:spcBef>
                        <a:spcAft>
                          <a:spcPts val="0"/>
                        </a:spcAft>
                      </a:pPr>
                      <a:r>
                        <a:rPr lang="en-US" sz="1400" kern="100">
                          <a:effectLst/>
                        </a:rPr>
                        <a:t>Point of Engagement</a:t>
                      </a:r>
                    </a:p>
                  </a:txBody>
                  <a:tcPr marL="68580" marR="68580" marT="0" marB="0">
                    <a:solidFill>
                      <a:schemeClr val="accent2">
                        <a:lumMod val="75000"/>
                      </a:schemeClr>
                    </a:solidFill>
                  </a:tcPr>
                </a:tc>
                <a:tc>
                  <a:txBody>
                    <a:bodyPr/>
                    <a:lstStyle/>
                    <a:p>
                      <a:pPr marL="0" marR="0" algn="just">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solidFill>
                  </a:tcPr>
                </a:tc>
                <a:extLst>
                  <a:ext uri="{0D108BD9-81ED-4DB2-BD59-A6C34878D82A}">
                    <a16:rowId xmlns:a16="http://schemas.microsoft.com/office/drawing/2014/main" val="2080438060"/>
                  </a:ext>
                </a:extLst>
              </a:tr>
              <a:tr h="848638">
                <a:tc>
                  <a:txBody>
                    <a:bodyPr/>
                    <a:lstStyle/>
                    <a:p>
                      <a:pPr marL="0" marR="0" algn="just">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400" b="1" kern="100">
                          <a:effectLst/>
                        </a:rPr>
                        <a:t>Person-Centered Thinking, Discovery, Assessment and Planning</a:t>
                      </a:r>
                      <a:endParaRPr lang="en-US"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22015653"/>
                  </a:ext>
                </a:extLst>
              </a:tr>
              <a:tr h="361431">
                <a:tc>
                  <a:txBody>
                    <a:bodyPr/>
                    <a:lstStyle/>
                    <a:p>
                      <a:pPr marL="0" marR="0" algn="just">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400" b="1" kern="100">
                          <a:solidFill>
                            <a:schemeClr val="tx1"/>
                          </a:solidFill>
                          <a:effectLst/>
                        </a:rPr>
                        <a:t>Individual Service Plan</a:t>
                      </a:r>
                    </a:p>
                    <a:p>
                      <a:pPr marL="0" marR="0" algn="just">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64204148"/>
                  </a:ext>
                </a:extLst>
              </a:tr>
              <a:tr h="420448">
                <a:tc>
                  <a:txBody>
                    <a:bodyPr/>
                    <a:lstStyle/>
                    <a:p>
                      <a:pPr marL="0" marR="0" algn="ctr">
                        <a:lnSpc>
                          <a:spcPct val="107000"/>
                        </a:lnSpc>
                        <a:spcBef>
                          <a:spcPts val="0"/>
                        </a:spcBef>
                        <a:spcAft>
                          <a:spcPts val="0"/>
                        </a:spcAft>
                      </a:pPr>
                      <a:r>
                        <a:rPr lang="en-US" sz="1400" kern="100">
                          <a:effectLst/>
                        </a:rPr>
                        <a:t>Practices </a:t>
                      </a:r>
                      <a:r>
                        <a:rPr lang="en-US" sz="1400" kern="100">
                          <a:effectLst/>
                          <a:sym typeface="Wingdings" panose="05000000000000000000" pitchFamily="2" charset="2"/>
                        </a:rPr>
                        <a:t> CIE Outcomes</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400" b="1" kern="100">
                          <a:effectLst/>
                        </a:rPr>
                        <a:t>Practices </a:t>
                      </a:r>
                      <a:r>
                        <a:rPr lang="en-US" sz="1400" b="1" kern="100">
                          <a:effectLst/>
                          <a:sym typeface="Wingdings" panose="05000000000000000000" pitchFamily="2" charset="2"/>
                        </a:rPr>
                        <a:t> CLE Outcomes</a:t>
                      </a:r>
                      <a:endParaRPr lang="en-US"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69072038"/>
                  </a:ext>
                </a:extLst>
              </a:tr>
              <a:tr h="197639">
                <a:tc>
                  <a:txBody>
                    <a:bodyPr/>
                    <a:lstStyle/>
                    <a:p>
                      <a:pPr marL="0" marR="0">
                        <a:lnSpc>
                          <a:spcPct val="107000"/>
                        </a:lnSpc>
                        <a:spcBef>
                          <a:spcPts val="0"/>
                        </a:spcBef>
                        <a:spcAft>
                          <a:spcPts val="0"/>
                        </a:spcAft>
                      </a:pPr>
                      <a:r>
                        <a:rPr lang="en-US" sz="1200" kern="100">
                          <a:effectLst/>
                        </a:rPr>
                        <a:t>CIE Exploration</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CLE Exploration</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19058261"/>
                  </a:ext>
                </a:extLst>
              </a:tr>
              <a:tr h="197639">
                <a:tc>
                  <a:txBody>
                    <a:bodyPr/>
                    <a:lstStyle/>
                    <a:p>
                      <a:pPr marL="0" marR="0">
                        <a:lnSpc>
                          <a:spcPct val="107000"/>
                        </a:lnSpc>
                        <a:spcBef>
                          <a:spcPts val="0"/>
                        </a:spcBef>
                        <a:spcAft>
                          <a:spcPts val="0"/>
                        </a:spcAft>
                      </a:pPr>
                      <a:r>
                        <a:rPr lang="en-US" sz="1200" kern="100">
                          <a:effectLst/>
                        </a:rPr>
                        <a:t>CIE Themes and Goals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CLE Themes and Goals</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71870736"/>
                  </a:ext>
                </a:extLst>
              </a:tr>
              <a:tr h="197639">
                <a:tc>
                  <a:txBody>
                    <a:bodyPr/>
                    <a:lstStyle/>
                    <a:p>
                      <a:pPr marL="0" marR="0">
                        <a:lnSpc>
                          <a:spcPct val="107000"/>
                        </a:lnSpc>
                        <a:spcBef>
                          <a:spcPts val="0"/>
                        </a:spcBef>
                        <a:spcAft>
                          <a:spcPts val="0"/>
                        </a:spcAft>
                      </a:pPr>
                      <a:r>
                        <a:rPr lang="en-US" sz="1200" kern="100">
                          <a:effectLst/>
                        </a:rPr>
                        <a:t>CIE Plan</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CLE Plan</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8276583"/>
                  </a:ext>
                </a:extLst>
              </a:tr>
              <a:tr h="402788">
                <a:tc>
                  <a:txBody>
                    <a:bodyPr/>
                    <a:lstStyle/>
                    <a:p>
                      <a:pPr marL="0" marR="0">
                        <a:lnSpc>
                          <a:spcPct val="107000"/>
                        </a:lnSpc>
                        <a:spcBef>
                          <a:spcPts val="0"/>
                        </a:spcBef>
                        <a:spcAft>
                          <a:spcPts val="0"/>
                        </a:spcAft>
                      </a:pPr>
                      <a:r>
                        <a:rPr lang="en-US" sz="1200" kern="100">
                          <a:effectLst/>
                        </a:rPr>
                        <a:t>Employment Development:</a:t>
                      </a:r>
                    </a:p>
                    <a:p>
                      <a:pPr marL="0" marR="0">
                        <a:lnSpc>
                          <a:spcPct val="107000"/>
                        </a:lnSpc>
                        <a:spcBef>
                          <a:spcPts val="0"/>
                        </a:spcBef>
                        <a:spcAft>
                          <a:spcPts val="0"/>
                        </a:spcAft>
                      </a:pPr>
                      <a:r>
                        <a:rPr lang="en-US" sz="1200" kern="100">
                          <a:effectLst/>
                        </a:rPr>
                        <a:t>Conventional/Customized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Community Development:</a:t>
                      </a:r>
                    </a:p>
                    <a:p>
                      <a:pPr marL="0" marR="0">
                        <a:lnSpc>
                          <a:spcPct val="107000"/>
                        </a:lnSpc>
                        <a:spcBef>
                          <a:spcPts val="0"/>
                        </a:spcBef>
                        <a:spcAft>
                          <a:spcPts val="0"/>
                        </a:spcAft>
                      </a:pPr>
                      <a:r>
                        <a:rPr lang="en-US" sz="1200" b="1" kern="100">
                          <a:effectLst/>
                        </a:rPr>
                        <a:t>Conventional/Customized</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93638040"/>
                  </a:ext>
                </a:extLst>
              </a:tr>
              <a:tr h="402788">
                <a:tc>
                  <a:txBody>
                    <a:bodyPr/>
                    <a:lstStyle/>
                    <a:p>
                      <a:pPr marL="0" marR="0">
                        <a:lnSpc>
                          <a:spcPct val="107000"/>
                        </a:lnSpc>
                        <a:spcBef>
                          <a:spcPts val="0"/>
                        </a:spcBef>
                        <a:spcAft>
                          <a:spcPts val="0"/>
                        </a:spcAft>
                      </a:pPr>
                      <a:r>
                        <a:rPr lang="en-US" sz="1200" kern="100">
                          <a:effectLst/>
                        </a:rPr>
                        <a:t>Accommodations and Assistive Technologies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Accommodations and Assistive Technologies</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53074530"/>
                  </a:ext>
                </a:extLst>
              </a:tr>
              <a:tr h="197639">
                <a:tc>
                  <a:txBody>
                    <a:bodyPr/>
                    <a:lstStyle/>
                    <a:p>
                      <a:pPr marL="0" marR="0">
                        <a:lnSpc>
                          <a:spcPct val="107000"/>
                        </a:lnSpc>
                        <a:spcBef>
                          <a:spcPts val="0"/>
                        </a:spcBef>
                        <a:spcAft>
                          <a:spcPts val="0"/>
                        </a:spcAft>
                      </a:pPr>
                      <a:r>
                        <a:rPr lang="en-US" sz="1200" kern="100">
                          <a:effectLst/>
                        </a:rPr>
                        <a:t>Transportation Planning</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Transportation Planning</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9897778"/>
                  </a:ext>
                </a:extLst>
              </a:tr>
              <a:tr h="402788">
                <a:tc>
                  <a:txBody>
                    <a:bodyPr/>
                    <a:lstStyle/>
                    <a:p>
                      <a:pPr marL="0" marR="0">
                        <a:lnSpc>
                          <a:spcPct val="107000"/>
                        </a:lnSpc>
                        <a:spcBef>
                          <a:spcPts val="0"/>
                        </a:spcBef>
                        <a:spcAft>
                          <a:spcPts val="0"/>
                        </a:spcAft>
                      </a:pPr>
                      <a:r>
                        <a:rPr lang="en-US" sz="1200" kern="100">
                          <a:effectLst/>
                        </a:rPr>
                        <a:t>Disability Benefits and Healthcare Planning</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dirty="0">
                          <a:effectLst/>
                        </a:rPr>
                        <a:t>Wellness and Physical Fitness Planning</a:t>
                      </a:r>
                      <a:endParaRPr lang="en-US" sz="12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97900443"/>
                  </a:ext>
                </a:extLst>
              </a:tr>
              <a:tr h="402788">
                <a:tc>
                  <a:txBody>
                    <a:bodyPr/>
                    <a:lstStyle/>
                    <a:p>
                      <a:pPr marL="0" marR="0">
                        <a:lnSpc>
                          <a:spcPct val="107000"/>
                        </a:lnSpc>
                        <a:spcBef>
                          <a:spcPts val="0"/>
                        </a:spcBef>
                        <a:spcAft>
                          <a:spcPts val="0"/>
                        </a:spcAft>
                      </a:pPr>
                      <a:r>
                        <a:rPr lang="en-US" sz="1200" kern="100">
                          <a:effectLst/>
                        </a:rPr>
                        <a:t>Job Skills Training and Job Coaching</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Life Skills Training and Activities Coaching</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93773256"/>
                  </a:ext>
                </a:extLst>
              </a:tr>
              <a:tr h="197639">
                <a:tc>
                  <a:txBody>
                    <a:bodyPr/>
                    <a:lstStyle/>
                    <a:p>
                      <a:pPr marL="0" marR="0">
                        <a:lnSpc>
                          <a:spcPct val="107000"/>
                        </a:lnSpc>
                        <a:spcBef>
                          <a:spcPts val="0"/>
                        </a:spcBef>
                        <a:spcAft>
                          <a:spcPts val="0"/>
                        </a:spcAft>
                      </a:pPr>
                      <a:r>
                        <a:rPr lang="en-US" sz="1200" kern="100">
                          <a:effectLst/>
                        </a:rPr>
                        <a:t>Natural CIE Supports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Natural CLE Supports</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83570124"/>
                  </a:ext>
                </a:extLst>
              </a:tr>
              <a:tr h="197639">
                <a:tc>
                  <a:txBody>
                    <a:bodyPr/>
                    <a:lstStyle/>
                    <a:p>
                      <a:pPr marL="0" marR="0">
                        <a:lnSpc>
                          <a:spcPct val="107000"/>
                        </a:lnSpc>
                        <a:spcBef>
                          <a:spcPts val="0"/>
                        </a:spcBef>
                        <a:spcAft>
                          <a:spcPts val="0"/>
                        </a:spcAft>
                      </a:pPr>
                      <a:r>
                        <a:rPr lang="en-US" sz="1200" kern="100">
                          <a:effectLst/>
                        </a:rPr>
                        <a:t>Work Schedule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Non-Work Schedule</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16403225"/>
                  </a:ext>
                </a:extLst>
              </a:tr>
              <a:tr h="360359">
                <a:tc>
                  <a:txBody>
                    <a:bodyPr/>
                    <a:lstStyle/>
                    <a:p>
                      <a:pPr marL="0" marR="0">
                        <a:lnSpc>
                          <a:spcPct val="107000"/>
                        </a:lnSpc>
                        <a:spcBef>
                          <a:spcPts val="0"/>
                        </a:spcBef>
                        <a:spcAft>
                          <a:spcPts val="0"/>
                        </a:spcAft>
                      </a:pPr>
                      <a:r>
                        <a:rPr lang="en-US" sz="1200" kern="100">
                          <a:effectLst/>
                        </a:rPr>
                        <a:t>CIE Follow-Up</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Community Inclusion Follow-Up</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2404715"/>
                  </a:ext>
                </a:extLst>
              </a:tr>
              <a:tr h="197639">
                <a:tc>
                  <a:txBody>
                    <a:bodyPr/>
                    <a:lstStyle/>
                    <a:p>
                      <a:pPr marL="0" marR="0">
                        <a:lnSpc>
                          <a:spcPct val="107000"/>
                        </a:lnSpc>
                        <a:spcBef>
                          <a:spcPts val="0"/>
                        </a:spcBef>
                        <a:spcAft>
                          <a:spcPts val="0"/>
                        </a:spcAft>
                      </a:pPr>
                      <a:r>
                        <a:rPr lang="en-US" sz="1200" kern="100">
                          <a:effectLst/>
                        </a:rPr>
                        <a:t>Supported Employment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Ongoing CLE Supports</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81838184"/>
                  </a:ext>
                </a:extLst>
              </a:tr>
              <a:tr h="360359">
                <a:tc>
                  <a:txBody>
                    <a:bodyPr/>
                    <a:lstStyle/>
                    <a:p>
                      <a:pPr marL="0" marR="0">
                        <a:lnSpc>
                          <a:spcPct val="107000"/>
                        </a:lnSpc>
                        <a:spcBef>
                          <a:spcPts val="0"/>
                        </a:spcBef>
                        <a:spcAft>
                          <a:spcPts val="0"/>
                        </a:spcAft>
                      </a:pPr>
                      <a:r>
                        <a:rPr lang="en-US" sz="1200" kern="100">
                          <a:effectLst/>
                        </a:rPr>
                        <a:t>Job Growth and Progression</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a:effectLst/>
                        </a:rPr>
                        <a:t>Individual Growth and Expression</a:t>
                      </a:r>
                      <a:endParaRPr lang="en-US"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46996064"/>
                  </a:ext>
                </a:extLst>
              </a:tr>
              <a:tr h="402788">
                <a:tc>
                  <a:txBody>
                    <a:bodyPr/>
                    <a:lstStyle/>
                    <a:p>
                      <a:pPr marL="0" marR="0">
                        <a:lnSpc>
                          <a:spcPct val="107000"/>
                        </a:lnSpc>
                        <a:spcBef>
                          <a:spcPts val="0"/>
                        </a:spcBef>
                        <a:spcAft>
                          <a:spcPts val="0"/>
                        </a:spcAft>
                      </a:pPr>
                      <a:r>
                        <a:rPr lang="en-US" sz="1200" kern="100">
                          <a:effectLst/>
                        </a:rPr>
                        <a:t>Referral and Coordination with CLE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00" kern="100">
                          <a:effectLst/>
                        </a:rPr>
                        <a:t>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b="1" kern="100" dirty="0">
                          <a:effectLst/>
                        </a:rPr>
                        <a:t>Referral and Coordination with CIE</a:t>
                      </a:r>
                      <a:endParaRPr lang="en-US" sz="12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1642346"/>
                  </a:ext>
                </a:extLst>
              </a:tr>
            </a:tbl>
          </a:graphicData>
        </a:graphic>
      </p:graphicFrame>
      <p:sp>
        <p:nvSpPr>
          <p:cNvPr id="6" name="Rectangle 2">
            <a:extLst>
              <a:ext uri="{FF2B5EF4-FFF2-40B4-BE49-F238E27FC236}">
                <a16:creationId xmlns:a16="http://schemas.microsoft.com/office/drawing/2014/main" id="{CACC9577-B511-8627-8A9D-7EA7A2A4F9F6}"/>
              </a:ext>
            </a:extLst>
          </p:cNvPr>
          <p:cNvSpPr>
            <a:spLocks noChangeArrowheads="1"/>
          </p:cNvSpPr>
          <p:nvPr/>
        </p:nvSpPr>
        <p:spPr bwMode="auto">
          <a:xfrm>
            <a:off x="4192500" y="236403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cxnSp>
        <p:nvCxnSpPr>
          <p:cNvPr id="8" name="Straight Arrow Connector 7">
            <a:extLst>
              <a:ext uri="{FF2B5EF4-FFF2-40B4-BE49-F238E27FC236}">
                <a16:creationId xmlns:a16="http://schemas.microsoft.com/office/drawing/2014/main" id="{1D35270A-9D62-431D-B8B2-D258BC1403AA}"/>
              </a:ext>
            </a:extLst>
          </p:cNvPr>
          <p:cNvCxnSpPr>
            <a:cxnSpLocks/>
          </p:cNvCxnSpPr>
          <p:nvPr/>
        </p:nvCxnSpPr>
        <p:spPr>
          <a:xfrm>
            <a:off x="8209503" y="1306285"/>
            <a:ext cx="1155561" cy="271306"/>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4D07F386-36AE-01F8-40D9-AFE939B5594E}"/>
              </a:ext>
            </a:extLst>
          </p:cNvPr>
          <p:cNvCxnSpPr>
            <a:cxnSpLocks/>
          </p:cNvCxnSpPr>
          <p:nvPr/>
        </p:nvCxnSpPr>
        <p:spPr>
          <a:xfrm flipH="1">
            <a:off x="7053943" y="1306285"/>
            <a:ext cx="1155560" cy="271306"/>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6" name="Speech Bubble: Rectangle with Corners Rounded 15">
            <a:extLst>
              <a:ext uri="{FF2B5EF4-FFF2-40B4-BE49-F238E27FC236}">
                <a16:creationId xmlns:a16="http://schemas.microsoft.com/office/drawing/2014/main" id="{7DCF783C-BB9B-4393-2D48-5DC5AFDC3422}"/>
              </a:ext>
            </a:extLst>
          </p:cNvPr>
          <p:cNvSpPr/>
          <p:nvPr/>
        </p:nvSpPr>
        <p:spPr>
          <a:xfrm>
            <a:off x="432581" y="1145669"/>
            <a:ext cx="3636336" cy="2893925"/>
          </a:xfrm>
          <a:prstGeom prst="wedgeRoundRectCallou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solidFill>
                  <a:schemeClr val="bg1"/>
                </a:solidFill>
              </a:rPr>
              <a:t>Person-Centered Practices that Support an Inclusive Working Life</a:t>
            </a:r>
          </a:p>
        </p:txBody>
      </p:sp>
      <p:sp>
        <p:nvSpPr>
          <p:cNvPr id="18" name="TextBox 17">
            <a:extLst>
              <a:ext uri="{FF2B5EF4-FFF2-40B4-BE49-F238E27FC236}">
                <a16:creationId xmlns:a16="http://schemas.microsoft.com/office/drawing/2014/main" id="{22AFA721-98F3-D622-3CB3-0D89BA620E68}"/>
              </a:ext>
            </a:extLst>
          </p:cNvPr>
          <p:cNvSpPr txBox="1"/>
          <p:nvPr/>
        </p:nvSpPr>
        <p:spPr>
          <a:xfrm>
            <a:off x="373801" y="4977813"/>
            <a:ext cx="3753896" cy="1077218"/>
          </a:xfrm>
          <a:prstGeom prst="rect">
            <a:avLst/>
          </a:prstGeom>
          <a:noFill/>
        </p:spPr>
        <p:txBody>
          <a:bodyPr wrap="square" lIns="91440" tIns="45720" rIns="91440" bIns="45720" anchor="t">
            <a:spAutoFit/>
          </a:bodyPr>
          <a:lstStyle/>
          <a:p>
            <a:r>
              <a:rPr lang="en-US" sz="1600" b="1" dirty="0"/>
              <a:t>Source: The Death of Rehabilitation, or Lighting New Pathways to an Inclusive Working Life, Cambridge Scholars Publishing, 2025</a:t>
            </a:r>
          </a:p>
        </p:txBody>
      </p:sp>
      <p:sp>
        <p:nvSpPr>
          <p:cNvPr id="2" name="Arrow: Left-Right 1">
            <a:extLst>
              <a:ext uri="{FF2B5EF4-FFF2-40B4-BE49-F238E27FC236}">
                <a16:creationId xmlns:a16="http://schemas.microsoft.com/office/drawing/2014/main" id="{4FA20EE1-9324-1398-664A-05904FE49B9E}"/>
              </a:ext>
            </a:extLst>
          </p:cNvPr>
          <p:cNvSpPr/>
          <p:nvPr/>
        </p:nvSpPr>
        <p:spPr>
          <a:xfrm>
            <a:off x="7430755" y="5814201"/>
            <a:ext cx="1557495" cy="180870"/>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0800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30357-4C90-A91A-CEDB-036B86D5648E}"/>
              </a:ext>
            </a:extLst>
          </p:cNvPr>
          <p:cNvSpPr>
            <a:spLocks noGrp="1"/>
          </p:cNvSpPr>
          <p:nvPr>
            <p:ph type="title"/>
          </p:nvPr>
        </p:nvSpPr>
        <p:spPr>
          <a:xfrm>
            <a:off x="6447619" y="144788"/>
            <a:ext cx="5589912" cy="1463260"/>
          </a:xfrm>
        </p:spPr>
        <p:txBody>
          <a:bodyPr vert="horz" lIns="91440" tIns="45720" rIns="91440" bIns="45720" rtlCol="0" anchor="ctr">
            <a:normAutofit fontScale="90000"/>
          </a:bodyPr>
          <a:lstStyle/>
          <a:p>
            <a:r>
              <a:rPr lang="en-US" sz="5200"/>
              <a:t>CLE: momentum toward employment</a:t>
            </a:r>
          </a:p>
        </p:txBody>
      </p:sp>
      <p:pic>
        <p:nvPicPr>
          <p:cNvPr id="5" name="Picture 4" descr="Solo journey">
            <a:extLst>
              <a:ext uri="{FF2B5EF4-FFF2-40B4-BE49-F238E27FC236}">
                <a16:creationId xmlns:a16="http://schemas.microsoft.com/office/drawing/2014/main" id="{BFB897C4-C569-D25D-2973-98BA53B528C0}"/>
              </a:ext>
            </a:extLst>
          </p:cNvPr>
          <p:cNvPicPr>
            <a:picLocks noChangeAspect="1"/>
          </p:cNvPicPr>
          <p:nvPr/>
        </p:nvPicPr>
        <p:blipFill rotWithShape="1">
          <a:blip r:embed="rId3"/>
          <a:srcRect l="15661" r="5726" b="4"/>
          <a:stretch/>
        </p:blipFill>
        <p:spPr>
          <a:xfrm>
            <a:off x="20" y="10"/>
            <a:ext cx="5411429" cy="5953296"/>
          </a:xfrm>
          <a:prstGeom prst="rect">
            <a:avLst/>
          </a:prstGeom>
        </p:spPr>
      </p:pic>
      <p:sp>
        <p:nvSpPr>
          <p:cNvPr id="4" name="TextBox 3">
            <a:extLst>
              <a:ext uri="{FF2B5EF4-FFF2-40B4-BE49-F238E27FC236}">
                <a16:creationId xmlns:a16="http://schemas.microsoft.com/office/drawing/2014/main" id="{EB706571-E786-D759-A894-CF86DBA3A396}"/>
              </a:ext>
            </a:extLst>
          </p:cNvPr>
          <p:cNvSpPr txBox="1"/>
          <p:nvPr/>
        </p:nvSpPr>
        <p:spPr>
          <a:xfrm>
            <a:off x="6591758" y="1854505"/>
            <a:ext cx="5278915"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ea typeface="Calibri" panose="020F0502020204030204"/>
              <a:cs typeface="Calibri" panose="020F0502020204030204"/>
            </a:endParaRPr>
          </a:p>
          <a:p>
            <a:pPr marL="285750" indent="-285750">
              <a:buFont typeface="Arial"/>
              <a:buChar char="•"/>
            </a:pPr>
            <a:r>
              <a:rPr lang="en-US"/>
              <a:t>CLE Guideposts:</a:t>
            </a:r>
          </a:p>
          <a:p>
            <a:pPr marL="742950" lvl="1" indent="-285750">
              <a:buFont typeface="Courier New"/>
              <a:buChar char="o"/>
            </a:pPr>
            <a:r>
              <a:rPr lang="en-US"/>
              <a:t>Individualized</a:t>
            </a:r>
          </a:p>
          <a:p>
            <a:pPr marL="742950" lvl="1" indent="-285750">
              <a:buFont typeface="Courier New"/>
              <a:buChar char="o"/>
            </a:pPr>
            <a:r>
              <a:rPr lang="en-US"/>
              <a:t>Promote community membership</a:t>
            </a:r>
          </a:p>
          <a:p>
            <a:pPr marL="742950" lvl="1" indent="-285750">
              <a:buFont typeface="Courier New"/>
              <a:buChar char="o"/>
            </a:pPr>
            <a:r>
              <a:rPr lang="en-US"/>
              <a:t>Increase skills and relationships</a:t>
            </a:r>
          </a:p>
          <a:p>
            <a:pPr marL="742950" lvl="1" indent="-285750">
              <a:buFont typeface="Courier New"/>
              <a:buChar char="o"/>
            </a:pPr>
            <a:r>
              <a:rPr lang="en-US"/>
              <a:t>Focus on individual goals </a:t>
            </a:r>
          </a:p>
        </p:txBody>
      </p:sp>
      <p:pic>
        <p:nvPicPr>
          <p:cNvPr id="6" name="Picture 5" descr="A black and red sign with blue text&#10;&#10;Description automatically generated">
            <a:extLst>
              <a:ext uri="{FF2B5EF4-FFF2-40B4-BE49-F238E27FC236}">
                <a16:creationId xmlns:a16="http://schemas.microsoft.com/office/drawing/2014/main" id="{C32D6C7D-6052-306C-7FF9-0DDC44801416}"/>
              </a:ext>
            </a:extLst>
          </p:cNvPr>
          <p:cNvPicPr>
            <a:picLocks noChangeAspect="1"/>
          </p:cNvPicPr>
          <p:nvPr/>
        </p:nvPicPr>
        <p:blipFill>
          <a:blip r:embed="rId4"/>
          <a:stretch>
            <a:fillRect/>
          </a:stretch>
        </p:blipFill>
        <p:spPr>
          <a:xfrm>
            <a:off x="7637787" y="4327620"/>
            <a:ext cx="3196040" cy="1498639"/>
          </a:xfrm>
          <a:prstGeom prst="rect">
            <a:avLst/>
          </a:prstGeom>
        </p:spPr>
      </p:pic>
      <p:sp>
        <p:nvSpPr>
          <p:cNvPr id="7" name="TextBox 6">
            <a:extLst>
              <a:ext uri="{FF2B5EF4-FFF2-40B4-BE49-F238E27FC236}">
                <a16:creationId xmlns:a16="http://schemas.microsoft.com/office/drawing/2014/main" id="{7E1D17A8-D5BD-A508-F218-D9F5F7AC7A57}"/>
              </a:ext>
            </a:extLst>
          </p:cNvPr>
          <p:cNvSpPr txBox="1"/>
          <p:nvPr/>
        </p:nvSpPr>
        <p:spPr>
          <a:xfrm>
            <a:off x="6244796" y="5776926"/>
            <a:ext cx="425067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hlinkClick r:id="rId5"/>
              </a:rPr>
              <a:t>www.CLEtoolkit.communityinclusion.org</a:t>
            </a:r>
            <a:r>
              <a:rPr lang="en-US"/>
              <a:t>   </a:t>
            </a:r>
          </a:p>
        </p:txBody>
      </p:sp>
    </p:spTree>
    <p:extLst>
      <p:ext uri="{BB962C8B-B14F-4D97-AF65-F5344CB8AC3E}">
        <p14:creationId xmlns:p14="http://schemas.microsoft.com/office/powerpoint/2010/main" val="376982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9D692-E624-8D62-4228-79317451FB2F}"/>
              </a:ext>
            </a:extLst>
          </p:cNvPr>
          <p:cNvSpPr>
            <a:spLocks noGrp="1"/>
          </p:cNvSpPr>
          <p:nvPr>
            <p:ph type="title"/>
          </p:nvPr>
        </p:nvSpPr>
        <p:spPr/>
        <p:txBody>
          <a:bodyPr>
            <a:normAutofit/>
          </a:bodyPr>
          <a:lstStyle/>
          <a:p>
            <a:r>
              <a:rPr lang="en-US" sz="5400">
                <a:cs typeface="Calibri Light"/>
              </a:rPr>
              <a:t>Poll Question #2</a:t>
            </a:r>
          </a:p>
        </p:txBody>
      </p:sp>
      <p:sp>
        <p:nvSpPr>
          <p:cNvPr id="3" name="Content Placeholder 2">
            <a:extLst>
              <a:ext uri="{FF2B5EF4-FFF2-40B4-BE49-F238E27FC236}">
                <a16:creationId xmlns:a16="http://schemas.microsoft.com/office/drawing/2014/main" id="{DACE1CFC-D551-C181-34BC-0080E785F832}"/>
              </a:ext>
            </a:extLst>
          </p:cNvPr>
          <p:cNvSpPr>
            <a:spLocks noGrp="1"/>
          </p:cNvSpPr>
          <p:nvPr>
            <p:ph idx="1"/>
          </p:nvPr>
        </p:nvSpPr>
        <p:spPr>
          <a:xfrm>
            <a:off x="838200" y="1929384"/>
            <a:ext cx="10684933" cy="4251960"/>
          </a:xfrm>
        </p:spPr>
        <p:txBody>
          <a:bodyPr vert="horz" lIns="91440" tIns="45720" rIns="91440" bIns="45720" rtlCol="0" anchor="t">
            <a:normAutofit/>
          </a:bodyPr>
          <a:lstStyle/>
          <a:p>
            <a:pPr marL="0" indent="0">
              <a:buNone/>
            </a:pPr>
            <a:r>
              <a:rPr lang="en-US" sz="2200">
                <a:cs typeface="Calibri"/>
              </a:rPr>
              <a:t>My organization uses community-based discovery or exploration to identify interests, talents preferences, ideal conditions for employment or community? </a:t>
            </a:r>
            <a:endParaRPr lang="en-US" sz="2200">
              <a:ea typeface="Calibri"/>
              <a:cs typeface="Calibri"/>
            </a:endParaRPr>
          </a:p>
          <a:p>
            <a:pPr marL="0" indent="0">
              <a:buNone/>
            </a:pPr>
            <a:endParaRPr lang="en-US" sz="2200">
              <a:cs typeface="Calibri"/>
            </a:endParaRPr>
          </a:p>
          <a:p>
            <a:r>
              <a:rPr lang="en-US" sz="2200">
                <a:cs typeface="Calibri"/>
              </a:rPr>
              <a:t>Yes</a:t>
            </a:r>
            <a:endParaRPr lang="en-US" sz="2200">
              <a:ea typeface="Calibri"/>
              <a:cs typeface="Calibri"/>
            </a:endParaRPr>
          </a:p>
          <a:p>
            <a:r>
              <a:rPr lang="en-US" sz="2200">
                <a:cs typeface="Calibri"/>
              </a:rPr>
              <a:t>No</a:t>
            </a:r>
            <a:endParaRPr lang="en-US" sz="2200">
              <a:ea typeface="Calibri"/>
              <a:cs typeface="Calibri"/>
            </a:endParaRPr>
          </a:p>
          <a:p>
            <a:r>
              <a:rPr lang="en-US" sz="2200">
                <a:cs typeface="Calibri"/>
              </a:rPr>
              <a:t>Sometimes, for some people</a:t>
            </a:r>
            <a:endParaRPr lang="en-US" sz="2200">
              <a:ea typeface="Calibri"/>
              <a:cs typeface="Calibri"/>
            </a:endParaRPr>
          </a:p>
          <a:p>
            <a:r>
              <a:rPr lang="en-US" sz="2200">
                <a:cs typeface="Calibri"/>
              </a:rPr>
              <a:t>I'm not sure </a:t>
            </a:r>
            <a:endParaRPr lang="en-US" sz="2200">
              <a:ea typeface="Calibri"/>
              <a:cs typeface="Calibri"/>
            </a:endParaRPr>
          </a:p>
        </p:txBody>
      </p:sp>
    </p:spTree>
    <p:extLst>
      <p:ext uri="{BB962C8B-B14F-4D97-AF65-F5344CB8AC3E}">
        <p14:creationId xmlns:p14="http://schemas.microsoft.com/office/powerpoint/2010/main" val="1965686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9D692-E624-8D62-4228-79317451FB2F}"/>
              </a:ext>
            </a:extLst>
          </p:cNvPr>
          <p:cNvSpPr>
            <a:spLocks noGrp="1"/>
          </p:cNvSpPr>
          <p:nvPr>
            <p:ph type="title"/>
          </p:nvPr>
        </p:nvSpPr>
        <p:spPr/>
        <p:txBody>
          <a:bodyPr>
            <a:normAutofit/>
          </a:bodyPr>
          <a:lstStyle/>
          <a:p>
            <a:r>
              <a:rPr lang="en-US" sz="5400">
                <a:cs typeface="Calibri Light"/>
              </a:rPr>
              <a:t>Poll Question #3</a:t>
            </a:r>
            <a:endParaRPr lang="en-US"/>
          </a:p>
        </p:txBody>
      </p:sp>
      <p:sp>
        <p:nvSpPr>
          <p:cNvPr id="3" name="Content Placeholder 2">
            <a:extLst>
              <a:ext uri="{FF2B5EF4-FFF2-40B4-BE49-F238E27FC236}">
                <a16:creationId xmlns:a16="http://schemas.microsoft.com/office/drawing/2014/main" id="{DACE1CFC-D551-C181-34BC-0080E785F832}"/>
              </a:ext>
            </a:extLst>
          </p:cNvPr>
          <p:cNvSpPr>
            <a:spLocks noGrp="1"/>
          </p:cNvSpPr>
          <p:nvPr>
            <p:ph idx="1"/>
          </p:nvPr>
        </p:nvSpPr>
        <p:spPr>
          <a:xfrm>
            <a:off x="838200" y="1929384"/>
            <a:ext cx="10684933" cy="4251960"/>
          </a:xfrm>
        </p:spPr>
        <p:txBody>
          <a:bodyPr vert="horz" lIns="91440" tIns="45720" rIns="91440" bIns="45720" rtlCol="0" anchor="t">
            <a:normAutofit/>
          </a:bodyPr>
          <a:lstStyle/>
          <a:p>
            <a:pPr marL="0" indent="0">
              <a:buNone/>
            </a:pPr>
            <a:r>
              <a:rPr lang="en-US" sz="2200">
                <a:cs typeface="Calibri"/>
              </a:rPr>
              <a:t>My organization provides training to staff on how to identify and build natural supports in non-work community settings.</a:t>
            </a:r>
          </a:p>
          <a:p>
            <a:pPr marL="0" indent="0">
              <a:buNone/>
            </a:pPr>
            <a:endParaRPr lang="en-US" sz="2200">
              <a:cs typeface="Calibri"/>
            </a:endParaRPr>
          </a:p>
          <a:p>
            <a:r>
              <a:rPr lang="en-US" sz="2200">
                <a:cs typeface="Calibri"/>
              </a:rPr>
              <a:t>Yes</a:t>
            </a:r>
          </a:p>
          <a:p>
            <a:r>
              <a:rPr lang="en-US" sz="2200">
                <a:cs typeface="Calibri"/>
              </a:rPr>
              <a:t>No</a:t>
            </a:r>
          </a:p>
          <a:p>
            <a:r>
              <a:rPr lang="en-US" sz="2200">
                <a:cs typeface="Calibri"/>
              </a:rPr>
              <a:t>Sometimes, for some people</a:t>
            </a:r>
          </a:p>
          <a:p>
            <a:r>
              <a:rPr lang="en-US" sz="2200">
                <a:cs typeface="Calibri"/>
              </a:rPr>
              <a:t>I'm not sure </a:t>
            </a:r>
            <a:endParaRPr lang="en-US" sz="2200">
              <a:ea typeface="Calibri"/>
              <a:cs typeface="Calibri"/>
            </a:endParaRPr>
          </a:p>
        </p:txBody>
      </p:sp>
    </p:spTree>
    <p:extLst>
      <p:ext uri="{BB962C8B-B14F-4D97-AF65-F5344CB8AC3E}">
        <p14:creationId xmlns:p14="http://schemas.microsoft.com/office/powerpoint/2010/main" val="1275640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E94D-7E51-E77E-C2DE-F6DE09C60836}"/>
              </a:ext>
            </a:extLst>
          </p:cNvPr>
          <p:cNvSpPr>
            <a:spLocks noGrp="1"/>
          </p:cNvSpPr>
          <p:nvPr>
            <p:ph type="title"/>
          </p:nvPr>
        </p:nvSpPr>
        <p:spPr>
          <a:xfrm>
            <a:off x="812299" y="-127933"/>
            <a:ext cx="4597747" cy="1616203"/>
          </a:xfrm>
        </p:spPr>
        <p:txBody>
          <a:bodyPr anchor="b">
            <a:normAutofit/>
          </a:bodyPr>
          <a:lstStyle/>
          <a:p>
            <a:r>
              <a:rPr lang="en-US" sz="3200" b="1">
                <a:cs typeface="Calibri Light"/>
              </a:rPr>
              <a:t> Discussion</a:t>
            </a:r>
            <a:endParaRPr lang="en-US" sz="3200" b="1"/>
          </a:p>
        </p:txBody>
      </p:sp>
      <p:sp>
        <p:nvSpPr>
          <p:cNvPr id="3" name="Content Placeholder 2">
            <a:extLst>
              <a:ext uri="{FF2B5EF4-FFF2-40B4-BE49-F238E27FC236}">
                <a16:creationId xmlns:a16="http://schemas.microsoft.com/office/drawing/2014/main" id="{3D6A0ACA-84DB-9333-C212-9D80AAF09C87}"/>
              </a:ext>
            </a:extLst>
          </p:cNvPr>
          <p:cNvSpPr>
            <a:spLocks noGrp="1"/>
          </p:cNvSpPr>
          <p:nvPr>
            <p:ph idx="1"/>
          </p:nvPr>
        </p:nvSpPr>
        <p:spPr>
          <a:xfrm>
            <a:off x="409566" y="1482551"/>
            <a:ext cx="8117938" cy="4716296"/>
          </a:xfrm>
        </p:spPr>
        <p:txBody>
          <a:bodyPr vert="horz" lIns="91440" tIns="45720" rIns="91440" bIns="45720" rtlCol="0" anchor="t">
            <a:normAutofit/>
          </a:bodyPr>
          <a:lstStyle/>
          <a:p>
            <a:pPr marL="0" indent="0">
              <a:buNone/>
            </a:pPr>
            <a:endParaRPr lang="en-US" sz="2000" b="1"/>
          </a:p>
          <a:p>
            <a:r>
              <a:rPr lang="en-US">
                <a:ea typeface="Calibri"/>
                <a:cs typeface="Calibri" panose="020F0502020204030204"/>
              </a:rPr>
              <a:t>What best practice(s)would you like to see your organization </a:t>
            </a:r>
            <a:r>
              <a:rPr lang="en-US" b="1">
                <a:ea typeface="Calibri"/>
                <a:cs typeface="Calibri" panose="020F0502020204030204"/>
              </a:rPr>
              <a:t>use</a:t>
            </a:r>
            <a:r>
              <a:rPr lang="en-US">
                <a:ea typeface="Calibri"/>
                <a:cs typeface="Calibri" panose="020F0502020204030204"/>
              </a:rPr>
              <a:t> or </a:t>
            </a:r>
            <a:r>
              <a:rPr lang="en-US" b="1">
                <a:ea typeface="Calibri"/>
                <a:cs typeface="Calibri" panose="020F0502020204030204"/>
              </a:rPr>
              <a:t>expand</a:t>
            </a:r>
            <a:r>
              <a:rPr lang="en-US">
                <a:ea typeface="Calibri"/>
                <a:cs typeface="Calibri" panose="020F0502020204030204"/>
              </a:rPr>
              <a:t> in employment and/or day services?</a:t>
            </a:r>
          </a:p>
          <a:p>
            <a:pPr marL="457200" lvl="1" indent="0">
              <a:buNone/>
            </a:pPr>
            <a:endParaRPr lang="en-US">
              <a:ea typeface="Calibri"/>
              <a:cs typeface="Calibri" panose="020F0502020204030204"/>
            </a:endParaRPr>
          </a:p>
          <a:p>
            <a:pPr marL="457200" lvl="1" indent="0">
              <a:buNone/>
            </a:pPr>
            <a:endParaRPr lang="en-US" sz="2000">
              <a:ea typeface="Calibri"/>
              <a:cs typeface="Calibri" panose="020F0502020204030204"/>
            </a:endParaRPr>
          </a:p>
          <a:p>
            <a:r>
              <a:rPr lang="en-US">
                <a:ea typeface="Calibri"/>
                <a:cs typeface="Calibri" panose="020F0502020204030204"/>
              </a:rPr>
              <a:t>Identify how </a:t>
            </a:r>
            <a:r>
              <a:rPr lang="en-US" b="1">
                <a:ea typeface="Calibri"/>
                <a:cs typeface="Calibri" panose="020F0502020204030204"/>
              </a:rPr>
              <a:t>you might</a:t>
            </a:r>
            <a:r>
              <a:rPr lang="en-US">
                <a:ea typeface="Calibri"/>
                <a:cs typeface="Calibri" panose="020F0502020204030204"/>
              </a:rPr>
              <a:t> support bringing these to your organization? </a:t>
            </a:r>
          </a:p>
          <a:p>
            <a:pPr lvl="1">
              <a:buFont typeface="Courier New" panose="020B0604020202020204" pitchFamily="34" charset="0"/>
              <a:buChar char="o"/>
            </a:pPr>
            <a:r>
              <a:rPr lang="en-US">
                <a:ea typeface="Calibri"/>
                <a:cs typeface="Calibri" panose="020F0502020204030204"/>
              </a:rPr>
              <a:t>Who might you talk to?</a:t>
            </a:r>
          </a:p>
          <a:p>
            <a:pPr lvl="1">
              <a:buFont typeface="Courier New" panose="020B0604020202020204" pitchFamily="34" charset="0"/>
              <a:buChar char="o"/>
            </a:pPr>
            <a:r>
              <a:rPr lang="en-US">
                <a:ea typeface="Calibri"/>
                <a:cs typeface="Calibri" panose="020F0502020204030204"/>
              </a:rPr>
              <a:t>What might you do? </a:t>
            </a:r>
          </a:p>
          <a:p>
            <a:pPr lvl="1">
              <a:buFont typeface="Courier New" panose="020B0604020202020204" pitchFamily="34" charset="0"/>
              <a:buChar char="o"/>
            </a:pPr>
            <a:r>
              <a:rPr lang="en-US">
                <a:ea typeface="Calibri"/>
                <a:cs typeface="Calibri" panose="020F0502020204030204"/>
              </a:rPr>
              <a:t>What support might you need? </a:t>
            </a:r>
          </a:p>
          <a:p>
            <a:pPr marL="0" indent="0">
              <a:buNone/>
            </a:pPr>
            <a:endParaRPr lang="en-US" sz="2000">
              <a:ea typeface="Calibri"/>
              <a:cs typeface="Calibri" panose="020F0502020204030204"/>
            </a:endParaRPr>
          </a:p>
          <a:p>
            <a:endParaRPr lang="en-US" sz="2000" b="1">
              <a:ea typeface="Calibri" panose="020F0502020204030204"/>
              <a:cs typeface="Calibri" panose="020F0502020204030204"/>
            </a:endParaRPr>
          </a:p>
          <a:p>
            <a:endParaRPr lang="en-US" sz="2000" b="1">
              <a:ea typeface="Calibri" panose="020F0502020204030204"/>
              <a:cs typeface="Calibri" panose="020F0502020204030204"/>
            </a:endParaRPr>
          </a:p>
          <a:p>
            <a:endParaRPr lang="en-US" sz="2000">
              <a:ea typeface="Calibri" panose="020F0502020204030204"/>
              <a:cs typeface="Calibri" panose="020F0502020204030204"/>
            </a:endParaRPr>
          </a:p>
          <a:p>
            <a:pPr marL="0" indent="0">
              <a:buNone/>
            </a:pPr>
            <a:endParaRPr lang="en-US" sz="2000">
              <a:ea typeface="Calibri" panose="020F0502020204030204"/>
              <a:cs typeface="Calibri" panose="020F0502020204030204"/>
            </a:endParaRPr>
          </a:p>
          <a:p>
            <a:pPr marL="0" indent="0">
              <a:buNone/>
            </a:pPr>
            <a:endParaRPr lang="en-US" sz="2000">
              <a:ea typeface="Calibri" panose="020F0502020204030204"/>
              <a:cs typeface="Calibri" panose="020F0502020204030204"/>
            </a:endParaRPr>
          </a:p>
          <a:p>
            <a:pPr marL="0" indent="0">
              <a:buNone/>
            </a:pPr>
            <a:endParaRPr lang="en-US" sz="2000">
              <a:ea typeface="Calibri" panose="020F0502020204030204"/>
              <a:cs typeface="Calibri" panose="020F0502020204030204"/>
            </a:endParaRPr>
          </a:p>
          <a:p>
            <a:pPr marL="0" indent="0">
              <a:buNone/>
            </a:pPr>
            <a:endParaRPr lang="en-US" sz="2000">
              <a:ea typeface="Calibri" panose="020F0502020204030204"/>
              <a:cs typeface="Calibri" panose="020F0502020204030204"/>
            </a:endParaRPr>
          </a:p>
        </p:txBody>
      </p:sp>
      <p:pic>
        <p:nvPicPr>
          <p:cNvPr id="5" name="Picture 4" descr="Yellow paper aeroplane flying the opposite way as many grey paper aeroplanes">
            <a:extLst>
              <a:ext uri="{FF2B5EF4-FFF2-40B4-BE49-F238E27FC236}">
                <a16:creationId xmlns:a16="http://schemas.microsoft.com/office/drawing/2014/main" id="{F53937BC-45E9-0C6B-2C07-86971A09653E}"/>
              </a:ext>
            </a:extLst>
          </p:cNvPr>
          <p:cNvPicPr>
            <a:picLocks noChangeAspect="1"/>
          </p:cNvPicPr>
          <p:nvPr/>
        </p:nvPicPr>
        <p:blipFill rotWithShape="1">
          <a:blip r:embed="rId3"/>
          <a:srcRect l="5379" r="27767" b="-3"/>
          <a:stretch/>
        </p:blipFill>
        <p:spPr>
          <a:xfrm>
            <a:off x="8829883" y="1618331"/>
            <a:ext cx="3076380" cy="3068664"/>
          </a:xfrm>
          <a:prstGeom prst="rect">
            <a:avLst/>
          </a:prstGeom>
        </p:spPr>
      </p:pic>
    </p:spTree>
    <p:extLst>
      <p:ext uri="{BB962C8B-B14F-4D97-AF65-F5344CB8AC3E}">
        <p14:creationId xmlns:p14="http://schemas.microsoft.com/office/powerpoint/2010/main" val="11932197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Question marks in a line and one question mark is lit">
            <a:extLst>
              <a:ext uri="{FF2B5EF4-FFF2-40B4-BE49-F238E27FC236}">
                <a16:creationId xmlns:a16="http://schemas.microsoft.com/office/drawing/2014/main" id="{20B21813-F6CA-5BFB-DDAC-16596B8FD5B9}"/>
              </a:ext>
            </a:extLst>
          </p:cNvPr>
          <p:cNvPicPr>
            <a:picLocks noChangeAspect="1"/>
          </p:cNvPicPr>
          <p:nvPr/>
        </p:nvPicPr>
        <p:blipFill rotWithShape="1">
          <a:blip r:embed="rId2"/>
          <a:srcRect t="22118" r="9085" b="8021"/>
          <a:stretch>
            <a:fillRect/>
          </a:stretch>
        </p:blipFill>
        <p:spPr>
          <a:xfrm>
            <a:off x="0" y="12817"/>
            <a:ext cx="12307261" cy="6232535"/>
          </a:xfrm>
          <a:prstGeom prst="rect">
            <a:avLst/>
          </a:prstGeom>
        </p:spPr>
      </p:pic>
      <p:sp>
        <p:nvSpPr>
          <p:cNvPr id="2" name="Title 1">
            <a:extLst>
              <a:ext uri="{FF2B5EF4-FFF2-40B4-BE49-F238E27FC236}">
                <a16:creationId xmlns:a16="http://schemas.microsoft.com/office/drawing/2014/main" id="{FF04AE4A-126C-194B-411C-3782B253D82E}"/>
              </a:ext>
            </a:extLst>
          </p:cNvPr>
          <p:cNvSpPr>
            <a:spLocks noGrp="1"/>
          </p:cNvSpPr>
          <p:nvPr>
            <p:ph type="title"/>
          </p:nvPr>
        </p:nvSpPr>
        <p:spPr>
          <a:xfrm>
            <a:off x="404553" y="3091928"/>
            <a:ext cx="11198073" cy="2387600"/>
          </a:xfrm>
        </p:spPr>
        <p:txBody>
          <a:bodyPr vert="horz" lIns="91440" tIns="45720" rIns="91440" bIns="45720" rtlCol="0" anchor="b">
            <a:normAutofit/>
          </a:bodyPr>
          <a:lstStyle/>
          <a:p>
            <a:r>
              <a:rPr lang="en-US" sz="6600" dirty="0">
                <a:solidFill>
                  <a:schemeClr val="bg1"/>
                </a:solidFill>
              </a:rPr>
              <a:t>Questions + Announcements</a:t>
            </a:r>
            <a:endParaRPr lang="en-US" sz="6600" dirty="0">
              <a:solidFill>
                <a:schemeClr val="bg1"/>
              </a:solidFill>
              <a:ea typeface="Calibri Light"/>
              <a:cs typeface="Calibri Light"/>
            </a:endParaRPr>
          </a:p>
        </p:txBody>
      </p:sp>
    </p:spTree>
    <p:extLst>
      <p:ext uri="{BB962C8B-B14F-4D97-AF65-F5344CB8AC3E}">
        <p14:creationId xmlns:p14="http://schemas.microsoft.com/office/powerpoint/2010/main" val="3893300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D23A5-6954-CE5F-FF15-D6EC25C976F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01D97DB-D7EC-B493-0866-8214821EC26C}"/>
              </a:ext>
            </a:extLst>
          </p:cNvPr>
          <p:cNvSpPr>
            <a:spLocks noGrp="1"/>
          </p:cNvSpPr>
          <p:nvPr>
            <p:ph type="body" sz="quarter" idx="10"/>
          </p:nvPr>
        </p:nvSpPr>
        <p:spPr/>
        <p:txBody>
          <a:bodyPr vert="horz" lIns="91440" tIns="45720" rIns="91440" bIns="45720" rtlCol="0" anchor="ctr">
            <a:normAutofit/>
          </a:bodyPr>
          <a:lstStyle/>
          <a:p>
            <a:pPr marL="151765" algn="ctr"/>
            <a:r>
              <a:rPr lang="en-US" dirty="0">
                <a:highlight>
                  <a:srgbClr val="FFFF00"/>
                </a:highlight>
                <a:latin typeface="Open Sans"/>
                <a:ea typeface="Open Sans"/>
                <a:cs typeface="Open Sans"/>
              </a:rPr>
              <a:t>Insert QR code here</a:t>
            </a:r>
            <a:endParaRPr lang="en-US" dirty="0">
              <a:highlight>
                <a:srgbClr val="FFFF00"/>
              </a:highlight>
            </a:endParaRPr>
          </a:p>
        </p:txBody>
      </p:sp>
      <p:sp>
        <p:nvSpPr>
          <p:cNvPr id="3" name="Picture Placeholder 2">
            <a:extLst>
              <a:ext uri="{FF2B5EF4-FFF2-40B4-BE49-F238E27FC236}">
                <a16:creationId xmlns:a16="http://schemas.microsoft.com/office/drawing/2014/main" id="{651B4699-63D6-E83B-2128-98D9D0A9ECFB}"/>
              </a:ext>
            </a:extLst>
          </p:cNvPr>
          <p:cNvSpPr>
            <a:spLocks noGrp="1"/>
          </p:cNvSpPr>
          <p:nvPr>
            <p:ph type="pic" sz="quarter" idx="11"/>
          </p:nvPr>
        </p:nvSpPr>
        <p:spPr/>
        <p:txBody>
          <a:bodyPr/>
          <a:lstStyle/>
          <a:p>
            <a:endParaRPr lang="en-US"/>
          </a:p>
        </p:txBody>
      </p:sp>
      <p:sp>
        <p:nvSpPr>
          <p:cNvPr id="4"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Down Arrow 7">
            <a:extLst>
              <a:ext uri="{FF2B5EF4-FFF2-40B4-BE49-F238E27FC236}">
                <a16:creationId xmlns:a16="http://schemas.microsoft.com/office/drawing/2014/main" id="{0631530A-BDFC-9C5C-1DA0-0F64261CE7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rot="16200000">
            <a:off x="800100" y="1491343"/>
            <a:ext cx="3333749" cy="3499103"/>
          </a:xfrm>
          <a:prstGeom prst="downArrow">
            <a:avLst>
              <a:gd name="adj1" fmla="val 100000"/>
              <a:gd name="adj2" fmla="val 15788"/>
            </a:avLst>
          </a:prstGeom>
          <a:solidFill>
            <a:srgbClr val="C00000"/>
          </a:solidFill>
          <a:ln w="539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TextBox 5">
            <a:extLst>
              <a:ext uri="{FF2B5EF4-FFF2-40B4-BE49-F238E27FC236}">
                <a16:creationId xmlns:a16="http://schemas.microsoft.com/office/drawing/2014/main" id="{65A76B99-8A73-29D0-9F22-E4949BA51F8B}"/>
              </a:ext>
            </a:extLst>
          </p:cNvPr>
          <p:cNvSpPr txBox="1"/>
          <p:nvPr/>
        </p:nvSpPr>
        <p:spPr>
          <a:xfrm>
            <a:off x="830572" y="2480075"/>
            <a:ext cx="298684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800" dirty="0">
                <a:solidFill>
                  <a:schemeClr val="bg1"/>
                </a:solidFill>
              </a:rPr>
              <a:t>Session Evaluation</a:t>
            </a:r>
            <a:endParaRPr lang="en-US" sz="4800">
              <a:solidFill>
                <a:schemeClr val="bg1"/>
              </a:solidFill>
            </a:endParaRPr>
          </a:p>
        </p:txBody>
      </p:sp>
    </p:spTree>
    <p:extLst>
      <p:ext uri="{BB962C8B-B14F-4D97-AF65-F5344CB8AC3E}">
        <p14:creationId xmlns:p14="http://schemas.microsoft.com/office/powerpoint/2010/main" val="612838264"/>
      </p:ext>
    </p:extLst>
  </p:cSld>
  <p:clrMapOvr>
    <a:masterClrMapping/>
  </p:clrMapOvr>
</p:sld>
</file>

<file path=ppt/theme/theme1.xml><?xml version="1.0" encoding="utf-8"?>
<a:theme xmlns:a="http://schemas.openxmlformats.org/drawingml/2006/main" name="MTI_presentation template Feb 2026">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TI_presentation template Feb 2026" id="{7B630847-0ED3-4BB4-9400-A2393253C8A9}" vid="{696E90F8-2036-4576-8D73-CC01D280794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BB2021F6-6390-E548-8788-9CFEED8332EB}">
  <we:reference id="wa104380907" version="3.0.0.0" store="en-US" storeType="OMEX"/>
  <we:alternateReferences>
    <we:reference id="wa104380907" version="3.0.0.0" store="WA104380907"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3655ED7C-C660-D44E-950F-73565E84B7DF}">
  <we:reference id="wa104380050" version="3.1.0.0" store="en-US" storeType="OMEX"/>
  <we:alternateReferences>
    <we:reference id="WA104380050" version="3.1.0.0"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a97ef7e-529a-4920-85ff-23e7e8b7df0a">
      <Terms xmlns="http://schemas.microsoft.com/office/infopath/2007/PartnerControls"/>
    </lcf76f155ced4ddcb4097134ff3c332f>
    <SharedWithUsers xmlns="65478fcb-3d94-40df-a0a2-f6a419610bdf">
      <UserInfo>
        <DisplayName/>
        <AccountId xsi:nil="true"/>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1B21FC9B7AC984AA00C441920861789" ma:contentTypeVersion="14" ma:contentTypeDescription="Create a new document." ma:contentTypeScope="" ma:versionID="721bff8729961bdf26432d404ad0f7b8">
  <xsd:schema xmlns:xsd="http://www.w3.org/2001/XMLSchema" xmlns:xs="http://www.w3.org/2001/XMLSchema" xmlns:p="http://schemas.microsoft.com/office/2006/metadata/properties" xmlns:ns2="ca97ef7e-529a-4920-85ff-23e7e8b7df0a" xmlns:ns3="65478fcb-3d94-40df-a0a2-f6a419610bdf" targetNamespace="http://schemas.microsoft.com/office/2006/metadata/properties" ma:root="true" ma:fieldsID="fec60b3e7c48bed252daabe4e1c35c90" ns2:_="" ns3:_="">
    <xsd:import namespace="ca97ef7e-529a-4920-85ff-23e7e8b7df0a"/>
    <xsd:import namespace="65478fcb-3d94-40df-a0a2-f6a419610bd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ObjectDetectorVersions" minOccurs="0"/>
                <xsd:element ref="ns2:lcf76f155ced4ddcb4097134ff3c332f" minOccurs="0"/>
                <xsd:element ref="ns2:MediaServiceOCR" minOccurs="0"/>
                <xsd:element ref="ns2:MediaServiceGenerationTime" minOccurs="0"/>
                <xsd:element ref="ns2:MediaServiceEventHashCode" minOccurs="0"/>
                <xsd:element ref="ns2:MediaServiceSearchPropertie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97ef7e-529a-4920-85ff-23e7e8b7df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bb1ab42-7277-4699-bffd-c4f8fd762ea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5478fcb-3d94-40df-a0a2-f6a419610bdf"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2EB53E4-0001-4157-A0BF-772E8FE36E62}">
  <ds:schemaRefs>
    <ds:schemaRef ds:uri="65478fcb-3d94-40df-a0a2-f6a419610bdf"/>
    <ds:schemaRef ds:uri="ca97ef7e-529a-4920-85ff-23e7e8b7df0a"/>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CB33AB6-9FD5-4D88-8D79-74AA13947DD8}">
  <ds:schemaRefs>
    <ds:schemaRef ds:uri="65478fcb-3d94-40df-a0a2-f6a419610bdf"/>
    <ds:schemaRef ds:uri="ca97ef7e-529a-4920-85ff-23e7e8b7df0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C753850-86F2-4118-B4E5-08C866EA802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MTI_presentation template Feb 2026</Template>
  <TotalTime>1</TotalTime>
  <Words>1940</Words>
  <Application>Microsoft Office PowerPoint</Application>
  <PresentationFormat>Widescreen</PresentationFormat>
  <Paragraphs>210</Paragraphs>
  <Slides>17</Slides>
  <Notes>11</Notes>
  <HiddenSlides>1</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MTI_presentation template Feb 2026</vt:lpstr>
      <vt:lpstr>PowerPoint Presentation</vt:lpstr>
      <vt:lpstr>PowerPoint Presentation</vt:lpstr>
      <vt:lpstr>PowerPoint Presentation</vt:lpstr>
      <vt:lpstr>PowerPoint Presentation</vt:lpstr>
      <vt:lpstr>Learning Objectives</vt:lpstr>
      <vt:lpstr>Session 2 Recap and Comments </vt:lpstr>
      <vt:lpstr>Leadership is about connecting the dots....</vt:lpstr>
      <vt:lpstr>PowerPoint Presentation</vt:lpstr>
      <vt:lpstr>Quick Summary of Best Practices</vt:lpstr>
      <vt:lpstr>Poll Question #1</vt:lpstr>
      <vt:lpstr>PowerPoint Presentation</vt:lpstr>
      <vt:lpstr>CLE: momentum toward employment</vt:lpstr>
      <vt:lpstr>Poll Question #2</vt:lpstr>
      <vt:lpstr>Poll Question #3</vt:lpstr>
      <vt:lpstr> Discussion</vt:lpstr>
      <vt:lpstr>Questions + Announcements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Best Practices in Community and Employment Serices</dc:title>
  <dc:creator>Karen Flippo</dc:creator>
  <cp:lastModifiedBy>Heather N Smith</cp:lastModifiedBy>
  <cp:revision>64</cp:revision>
  <dcterms:created xsi:type="dcterms:W3CDTF">2021-01-26T19:37:34Z</dcterms:created>
  <dcterms:modified xsi:type="dcterms:W3CDTF">2026-03-03T20:26:52Z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0x01010001B21FC9B7AC984AA00C441920861789</vt:lpwstr>
  </property>
  <property fmtid="{D5CDD505-2E9C-101B-9397-08002B2CF9AE}" pid="3" name="MediaServiceImageTags">
    <vt:lpwstr/>
  </property>
  <property fmtid="{D5CDD505-2E9C-101B-9397-08002B2CF9AE}" pid="4" name="Order">
    <vt:r8>28200</vt:r8>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_ExtendedDescription">
    <vt:lpwstr/>
  </property>
  <property fmtid="{D5CDD505-2E9C-101B-9397-08002B2CF9AE}" pid="9" name="_activity">
    <vt:lpwstr>{"FileActivityType":"9","FileActivityTimeStamp":"2025-03-17T17:48:51.130Z","FileActivityUsersOnPage":[{"DisplayName":"Bryn Peterson","Id":"bryn.peterson@umb.edu"},{"DisplayName":"Staci Jones","Id":"staci.jones@umb.edu"},{"DisplayName":"Bryn Peterson","Id":"bryn.peterson@umb.edu"}],"FileActivityNavigationId":null}</vt:lpwstr>
  </property>
  <property fmtid="{D5CDD505-2E9C-101B-9397-08002B2CF9AE}" pid="10" name="TriggerFlowInfo">
    <vt:lpwstr/>
  </property>
</Properties>
</file>