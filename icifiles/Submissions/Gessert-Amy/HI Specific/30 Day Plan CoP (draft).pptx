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Lst>
  <p:sldSz cx="18288000" cy="10287000"/>
  <p:notesSz cx="6858000" cy="9144000"/>
  <p:embeddedFontLst>
    <p:embeddedFont>
      <p:font typeface="Codec Pro ExtraBold" panose="020B0604020202020204" charset="0"/>
      <p:regular r:id="rId15"/>
    </p:embeddedFont>
    <p:embeddedFont>
      <p:font typeface="Montserrat Light" panose="00000400000000000000" pitchFamily="2" charset="0"/>
      <p:regular r:id="rId16"/>
      <p:italic r:id="rId17"/>
    </p:embeddedFont>
    <p:embeddedFont>
      <p:font typeface="Myriad Pro" panose="020B0604020202020204" charset="0"/>
      <p:regular r:id="rId18"/>
    </p:embeddedFont>
    <p:embeddedFont>
      <p:font typeface="Open Sauce" panose="020B0604020202020204" charset="0"/>
      <p:regular r:id="rId19"/>
    </p:embeddedFont>
    <p:embeddedFont>
      <p:font typeface="Open Sauce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FA38D-4D55-07CF-151E-A50B66F31902}" v="88" dt="2024-03-08T16:50:12.3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y C Gessert" userId="S::amy.gessert@umb.edu::959649af-45c5-487c-aa74-829e1b24d524" providerId="AD" clId="Web-{FCFFA38D-4D55-07CF-151E-A50B66F31902}"/>
    <pc:docChg chg="modSld">
      <pc:chgData name="Amy C Gessert" userId="S::amy.gessert@umb.edu::959649af-45c5-487c-aa74-829e1b24d524" providerId="AD" clId="Web-{FCFFA38D-4D55-07CF-151E-A50B66F31902}" dt="2024-03-08T16:50:12.361" v="87"/>
      <pc:docMkLst>
        <pc:docMk/>
      </pc:docMkLst>
      <pc:sldChg chg="modSp">
        <pc:chgData name="Amy C Gessert" userId="S::amy.gessert@umb.edu::959649af-45c5-487c-aa74-829e1b24d524" providerId="AD" clId="Web-{FCFFA38D-4D55-07CF-151E-A50B66F31902}" dt="2024-03-08T16:50:12.361" v="87"/>
        <pc:sldMkLst>
          <pc:docMk/>
          <pc:sldMk cId="0" sldId="265"/>
        </pc:sldMkLst>
        <pc:spChg chg="mod">
          <ac:chgData name="Amy C Gessert" userId="S::amy.gessert@umb.edu::959649af-45c5-487c-aa74-829e1b24d524" providerId="AD" clId="Web-{FCFFA38D-4D55-07CF-151E-A50B66F31902}" dt="2024-03-08T16:49:31.391" v="54" actId="1076"/>
          <ac:spMkLst>
            <pc:docMk/>
            <pc:sldMk cId="0" sldId="265"/>
            <ac:spMk id="27" creationId="{00000000-0000-0000-0000-000000000000}"/>
          </ac:spMkLst>
        </pc:spChg>
        <pc:spChg chg="ord">
          <ac:chgData name="Amy C Gessert" userId="S::amy.gessert@umb.edu::959649af-45c5-487c-aa74-829e1b24d524" providerId="AD" clId="Web-{FCFFA38D-4D55-07CF-151E-A50B66F31902}" dt="2024-03-08T16:50:12.361" v="87"/>
          <ac:spMkLst>
            <pc:docMk/>
            <pc:sldMk cId="0" sldId="265"/>
            <ac:spMk id="28" creationId="{00000000-0000-0000-0000-000000000000}"/>
          </ac:spMkLst>
        </pc:spChg>
        <pc:spChg chg="mod">
          <ac:chgData name="Amy C Gessert" userId="S::amy.gessert@umb.edu::959649af-45c5-487c-aa74-829e1b24d524" providerId="AD" clId="Web-{FCFFA38D-4D55-07CF-151E-A50B66F31902}" dt="2024-03-08T16:49:44.157" v="61" actId="1076"/>
          <ac:spMkLst>
            <pc:docMk/>
            <pc:sldMk cId="0" sldId="265"/>
            <ac:spMk id="31" creationId="{00000000-0000-0000-0000-000000000000}"/>
          </ac:spMkLst>
        </pc:spChg>
        <pc:spChg chg="mod">
          <ac:chgData name="Amy C Gessert" userId="S::amy.gessert@umb.edu::959649af-45c5-487c-aa74-829e1b24d524" providerId="AD" clId="Web-{FCFFA38D-4D55-07CF-151E-A50B66F31902}" dt="2024-03-08T16:49:50.001" v="66" actId="1076"/>
          <ac:spMkLst>
            <pc:docMk/>
            <pc:sldMk cId="0" sldId="265"/>
            <ac:spMk id="32" creationId="{00000000-0000-0000-0000-000000000000}"/>
          </ac:spMkLst>
        </pc:spChg>
        <pc:spChg chg="mod">
          <ac:chgData name="Amy C Gessert" userId="S::amy.gessert@umb.edu::959649af-45c5-487c-aa74-829e1b24d524" providerId="AD" clId="Web-{FCFFA38D-4D55-07CF-151E-A50B66F31902}" dt="2024-03-08T16:50:03.658" v="85" actId="1076"/>
          <ac:spMkLst>
            <pc:docMk/>
            <pc:sldMk cId="0" sldId="265"/>
            <ac:spMk id="33" creationId="{00000000-0000-0000-0000-000000000000}"/>
          </ac:spMkLst>
        </pc:spChg>
        <pc:spChg chg="mod">
          <ac:chgData name="Amy C Gessert" userId="S::amy.gessert@umb.edu::959649af-45c5-487c-aa74-829e1b24d524" providerId="AD" clId="Web-{FCFFA38D-4D55-07CF-151E-A50B66F31902}" dt="2024-03-08T16:49:31.407" v="55" actId="1076"/>
          <ac:spMkLst>
            <pc:docMk/>
            <pc:sldMk cId="0" sldId="265"/>
            <ac:spMk id="34" creationId="{00000000-0000-0000-0000-000000000000}"/>
          </ac:spMkLst>
        </pc:spChg>
        <pc:spChg chg="mod">
          <ac:chgData name="Amy C Gessert" userId="S::amy.gessert@umb.edu::959649af-45c5-487c-aa74-829e1b24d524" providerId="AD" clId="Web-{FCFFA38D-4D55-07CF-151E-A50B66F31902}" dt="2024-03-08T16:49:44.173" v="62" actId="1076"/>
          <ac:spMkLst>
            <pc:docMk/>
            <pc:sldMk cId="0" sldId="265"/>
            <ac:spMk id="35" creationId="{00000000-0000-0000-0000-000000000000}"/>
          </ac:spMkLst>
        </pc:spChg>
        <pc:spChg chg="mod">
          <ac:chgData name="Amy C Gessert" userId="S::amy.gessert@umb.edu::959649af-45c5-487c-aa74-829e1b24d524" providerId="AD" clId="Web-{FCFFA38D-4D55-07CF-151E-A50B66F31902}" dt="2024-03-08T16:49:50.017" v="67" actId="1076"/>
          <ac:spMkLst>
            <pc:docMk/>
            <pc:sldMk cId="0" sldId="265"/>
            <ac:spMk id="36" creationId="{00000000-0000-0000-0000-000000000000}"/>
          </ac:spMkLst>
        </pc:spChg>
        <pc:spChg chg="mod">
          <ac:chgData name="Amy C Gessert" userId="S::amy.gessert@umb.edu::959649af-45c5-487c-aa74-829e1b24d524" providerId="AD" clId="Web-{FCFFA38D-4D55-07CF-151E-A50B66F31902}" dt="2024-03-08T16:50:03.673" v="86" actId="1076"/>
          <ac:spMkLst>
            <pc:docMk/>
            <pc:sldMk cId="0" sldId="265"/>
            <ac:spMk id="37" creationId="{00000000-0000-0000-0000-000000000000}"/>
          </ac:spMkLst>
        </pc:spChg>
        <pc:spChg chg="mod">
          <ac:chgData name="Amy C Gessert" userId="S::amy.gessert@umb.edu::959649af-45c5-487c-aa74-829e1b24d524" providerId="AD" clId="Web-{FCFFA38D-4D55-07CF-151E-A50B66F31902}" dt="2024-03-08T16:49:31.422" v="56" actId="1076"/>
          <ac:spMkLst>
            <pc:docMk/>
            <pc:sldMk cId="0" sldId="265"/>
            <ac:spMk id="38" creationId="{00000000-0000-0000-0000-000000000000}"/>
          </ac:spMkLst>
        </pc:spChg>
        <pc:spChg chg="mod">
          <ac:chgData name="Amy C Gessert" userId="S::amy.gessert@umb.edu::959649af-45c5-487c-aa74-829e1b24d524" providerId="AD" clId="Web-{FCFFA38D-4D55-07CF-151E-A50B66F31902}" dt="2024-03-08T16:49:44.188" v="63" actId="1076"/>
          <ac:spMkLst>
            <pc:docMk/>
            <pc:sldMk cId="0" sldId="265"/>
            <ac:spMk id="39" creationId="{00000000-0000-0000-0000-000000000000}"/>
          </ac:spMkLst>
        </pc:spChg>
        <pc:spChg chg="mod">
          <ac:chgData name="Amy C Gessert" userId="S::amy.gessert@umb.edu::959649af-45c5-487c-aa74-829e1b24d524" providerId="AD" clId="Web-{FCFFA38D-4D55-07CF-151E-A50B66F31902}" dt="2024-03-08T16:49:50.032" v="68" actId="1076"/>
          <ac:spMkLst>
            <pc:docMk/>
            <pc:sldMk cId="0" sldId="265"/>
            <ac:spMk id="40" creationId="{00000000-0000-0000-0000-000000000000}"/>
          </ac:spMkLst>
        </pc:spChg>
        <pc:spChg chg="mod">
          <ac:chgData name="Amy C Gessert" userId="S::amy.gessert@umb.edu::959649af-45c5-487c-aa74-829e1b24d524" providerId="AD" clId="Web-{FCFFA38D-4D55-07CF-151E-A50B66F31902}" dt="2024-03-08T16:50:03.611" v="82" actId="1076"/>
          <ac:spMkLst>
            <pc:docMk/>
            <pc:sldMk cId="0" sldId="265"/>
            <ac:spMk id="41" creationId="{00000000-0000-0000-0000-000000000000}"/>
          </ac:spMkLst>
        </pc:spChg>
        <pc:grpChg chg="mod">
          <ac:chgData name="Amy C Gessert" userId="S::amy.gessert@umb.edu::959649af-45c5-487c-aa74-829e1b24d524" providerId="AD" clId="Web-{FCFFA38D-4D55-07CF-151E-A50B66F31902}" dt="2024-03-08T16:49:31.329" v="51" actId="1076"/>
          <ac:grpSpMkLst>
            <pc:docMk/>
            <pc:sldMk cId="0" sldId="265"/>
            <ac:grpSpMk id="2" creationId="{00000000-0000-0000-0000-000000000000}"/>
          </ac:grpSpMkLst>
        </pc:grpChg>
        <pc:grpChg chg="mod">
          <ac:chgData name="Amy C Gessert" userId="S::amy.gessert@umb.edu::959649af-45c5-487c-aa74-829e1b24d524" providerId="AD" clId="Web-{FCFFA38D-4D55-07CF-151E-A50B66F31902}" dt="2024-03-08T16:49:37.829" v="58" actId="1076"/>
          <ac:grpSpMkLst>
            <pc:docMk/>
            <pc:sldMk cId="0" sldId="265"/>
            <ac:grpSpMk id="5" creationId="{00000000-0000-0000-0000-000000000000}"/>
          </ac:grpSpMkLst>
        </pc:grpChg>
        <pc:grpChg chg="mod">
          <ac:chgData name="Amy C Gessert" userId="S::amy.gessert@umb.edu::959649af-45c5-487c-aa74-829e1b24d524" providerId="AD" clId="Web-{FCFFA38D-4D55-07CF-151E-A50B66F31902}" dt="2024-03-08T16:49:35.501" v="57" actId="1076"/>
          <ac:grpSpMkLst>
            <pc:docMk/>
            <pc:sldMk cId="0" sldId="265"/>
            <ac:grpSpMk id="8" creationId="{00000000-0000-0000-0000-000000000000}"/>
          </ac:grpSpMkLst>
        </pc:grpChg>
        <pc:grpChg chg="mod">
          <ac:chgData name="Amy C Gessert" userId="S::amy.gessert@umb.edu::959649af-45c5-487c-aa74-829e1b24d524" providerId="AD" clId="Web-{FCFFA38D-4D55-07CF-151E-A50B66F31902}" dt="2024-03-08T16:50:03.627" v="83" actId="1076"/>
          <ac:grpSpMkLst>
            <pc:docMk/>
            <pc:sldMk cId="0" sldId="265"/>
            <ac:grpSpMk id="11" creationId="{00000000-0000-0000-0000-000000000000}"/>
          </ac:grpSpMkLst>
        </pc:grpChg>
        <pc:grpChg chg="mod">
          <ac:chgData name="Amy C Gessert" userId="S::amy.gessert@umb.edu::959649af-45c5-487c-aa74-829e1b24d524" providerId="AD" clId="Web-{FCFFA38D-4D55-07CF-151E-A50B66F31902}" dt="2024-03-08T16:50:03.642" v="84" actId="1076"/>
          <ac:grpSpMkLst>
            <pc:docMk/>
            <pc:sldMk cId="0" sldId="265"/>
            <ac:grpSpMk id="13" creationId="{00000000-0000-0000-0000-000000000000}"/>
          </ac:grpSpMkLst>
        </pc:grpChg>
        <pc:grpChg chg="mod">
          <ac:chgData name="Amy C Gessert" userId="S::amy.gessert@umb.edu::959649af-45c5-487c-aa74-829e1b24d524" providerId="AD" clId="Web-{FCFFA38D-4D55-07CF-151E-A50B66F31902}" dt="2024-03-08T16:49:49.970" v="64" actId="1076"/>
          <ac:grpSpMkLst>
            <pc:docMk/>
            <pc:sldMk cId="0" sldId="265"/>
            <ac:grpSpMk id="15" creationId="{00000000-0000-0000-0000-000000000000}"/>
          </ac:grpSpMkLst>
        </pc:grpChg>
        <pc:grpChg chg="mod">
          <ac:chgData name="Amy C Gessert" userId="S::amy.gessert@umb.edu::959649af-45c5-487c-aa74-829e1b24d524" providerId="AD" clId="Web-{FCFFA38D-4D55-07CF-151E-A50B66F31902}" dt="2024-03-08T16:49:49.985" v="65" actId="1076"/>
          <ac:grpSpMkLst>
            <pc:docMk/>
            <pc:sldMk cId="0" sldId="265"/>
            <ac:grpSpMk id="17" creationId="{00000000-0000-0000-0000-000000000000}"/>
          </ac:grpSpMkLst>
        </pc:grpChg>
        <pc:grpChg chg="mod">
          <ac:chgData name="Amy C Gessert" userId="S::amy.gessert@umb.edu::959649af-45c5-487c-aa74-829e1b24d524" providerId="AD" clId="Web-{FCFFA38D-4D55-07CF-151E-A50B66F31902}" dt="2024-03-08T16:49:44.126" v="59" actId="1076"/>
          <ac:grpSpMkLst>
            <pc:docMk/>
            <pc:sldMk cId="0" sldId="265"/>
            <ac:grpSpMk id="19" creationId="{00000000-0000-0000-0000-000000000000}"/>
          </ac:grpSpMkLst>
        </pc:grpChg>
        <pc:grpChg chg="mod">
          <ac:chgData name="Amy C Gessert" userId="S::amy.gessert@umb.edu::959649af-45c5-487c-aa74-829e1b24d524" providerId="AD" clId="Web-{FCFFA38D-4D55-07CF-151E-A50B66F31902}" dt="2024-03-08T16:49:44.141" v="60" actId="1076"/>
          <ac:grpSpMkLst>
            <pc:docMk/>
            <pc:sldMk cId="0" sldId="265"/>
            <ac:grpSpMk id="21" creationId="{00000000-0000-0000-0000-000000000000}"/>
          </ac:grpSpMkLst>
        </pc:grpChg>
        <pc:grpChg chg="mod">
          <ac:chgData name="Amy C Gessert" userId="S::amy.gessert@umb.edu::959649af-45c5-487c-aa74-829e1b24d524" providerId="AD" clId="Web-{FCFFA38D-4D55-07CF-151E-A50B66F31902}" dt="2024-03-08T16:49:31.344" v="52" actId="1076"/>
          <ac:grpSpMkLst>
            <pc:docMk/>
            <pc:sldMk cId="0" sldId="265"/>
            <ac:grpSpMk id="23" creationId="{00000000-0000-0000-0000-000000000000}"/>
          </ac:grpSpMkLst>
        </pc:grpChg>
        <pc:grpChg chg="mod">
          <ac:chgData name="Amy C Gessert" userId="S::amy.gessert@umb.edu::959649af-45c5-487c-aa74-829e1b24d524" providerId="AD" clId="Web-{FCFFA38D-4D55-07CF-151E-A50B66F31902}" dt="2024-03-08T16:49:31.375" v="53" actId="1076"/>
          <ac:grpSpMkLst>
            <pc:docMk/>
            <pc:sldMk cId="0" sldId="265"/>
            <ac:grpSpMk id="25" creationId="{00000000-0000-0000-0000-000000000000}"/>
          </ac:grpSpMkLst>
        </pc:grpChg>
      </pc:sldChg>
    </pc:docChg>
  </pc:docChgLst>
  <pc:docChgLst>
    <pc:chgData name="Amy C Gessert" userId="S::amy.gessert@umb.edu::959649af-45c5-487c-aa74-829e1b24d524" providerId="AD" clId="Web-{982F937A-2DF9-4C5E-B58A-160B29CB5CF0}"/>
    <pc:docChg chg="modSld">
      <pc:chgData name="Amy C Gessert" userId="S::amy.gessert@umb.edu::959649af-45c5-487c-aa74-829e1b24d524" providerId="AD" clId="Web-{982F937A-2DF9-4C5E-B58A-160B29CB5CF0}" dt="2023-11-21T15:46:24.165" v="2" actId="1076"/>
      <pc:docMkLst>
        <pc:docMk/>
      </pc:docMkLst>
      <pc:sldChg chg="modSp">
        <pc:chgData name="Amy C Gessert" userId="S::amy.gessert@umb.edu::959649af-45c5-487c-aa74-829e1b24d524" providerId="AD" clId="Web-{982F937A-2DF9-4C5E-B58A-160B29CB5CF0}" dt="2023-11-21T15:46:24.165" v="2" actId="1076"/>
        <pc:sldMkLst>
          <pc:docMk/>
          <pc:sldMk cId="0" sldId="258"/>
        </pc:sldMkLst>
        <pc:spChg chg="mod">
          <ac:chgData name="Amy C Gessert" userId="S::amy.gessert@umb.edu::959649af-45c5-487c-aa74-829e1b24d524" providerId="AD" clId="Web-{982F937A-2DF9-4C5E-B58A-160B29CB5CF0}" dt="2023-11-21T15:46:24.165" v="2" actId="1076"/>
          <ac:spMkLst>
            <pc:docMk/>
            <pc:sldMk cId="0" sldId="258"/>
            <ac:spMk id="7" creationId="{00000000-0000-0000-0000-000000000000}"/>
          </ac:spMkLst>
        </pc:spChg>
        <pc:spChg chg="mod">
          <ac:chgData name="Amy C Gessert" userId="S::amy.gessert@umb.edu::959649af-45c5-487c-aa74-829e1b24d524" providerId="AD" clId="Web-{982F937A-2DF9-4C5E-B58A-160B29CB5CF0}" dt="2023-11-21T15:46:20.540" v="1" actId="20577"/>
          <ac:spMkLst>
            <pc:docMk/>
            <pc:sldMk cId="0" sldId="258"/>
            <ac:spMk id="8"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hyperlink" Target="https://scholarworks.umb.edu/cgi/viewcontent.cgi?referer=&amp;httpsredir=1&amp;article=1007&amp;context=ici_institutebrief" TargetMode="External"/><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3.sv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22.png"/><Relationship Id="rId5" Type="http://schemas.openxmlformats.org/officeDocument/2006/relationships/image" Target="../media/image18.png"/><Relationship Id="rId10" Type="http://schemas.openxmlformats.org/officeDocument/2006/relationships/image" Target="../media/image11.svg"/><Relationship Id="rId4" Type="http://schemas.openxmlformats.org/officeDocument/2006/relationships/image" Target="../media/image17.sv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hyperlink" Target="https://scholarworks.umb.edu/cgi/viewcontent.cgi?referer=&amp;httpsredir=1&amp;article=1007&amp;context=ici_institutebrief" TargetMode="External"/><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3.sv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22.png"/><Relationship Id="rId5" Type="http://schemas.openxmlformats.org/officeDocument/2006/relationships/image" Target="../media/image18.png"/><Relationship Id="rId10" Type="http://schemas.openxmlformats.org/officeDocument/2006/relationships/image" Target="../media/image11.svg"/><Relationship Id="rId4" Type="http://schemas.openxmlformats.org/officeDocument/2006/relationships/image" Target="../media/image17.sv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hyperlink" Target="https://scholarworks.umb.edu/cgi/viewcontent.cgi?referer=&amp;httpsredir=1&amp;article=1007&amp;context=ici_institutebrief" TargetMode="External"/><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3.sv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22.png"/><Relationship Id="rId5" Type="http://schemas.openxmlformats.org/officeDocument/2006/relationships/image" Target="../media/image18.png"/><Relationship Id="rId10" Type="http://schemas.openxmlformats.org/officeDocument/2006/relationships/image" Target="../media/image11.svg"/><Relationship Id="rId4" Type="http://schemas.openxmlformats.org/officeDocument/2006/relationships/image" Target="../media/image17.sv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hyperlink" Target="https://scholarworks.umb.edu/cgi/viewcontent.cgi?referer=&amp;httpsredir=1&amp;article=1007&amp;context=ici_institutebrief" TargetMode="External"/><Relationship Id="rId3" Type="http://schemas.openxmlformats.org/officeDocument/2006/relationships/image" Target="../media/image18.png"/><Relationship Id="rId7" Type="http://schemas.openxmlformats.org/officeDocument/2006/relationships/image" Target="../media/image10.png"/><Relationship Id="rId12" Type="http://schemas.openxmlformats.org/officeDocument/2006/relationships/image" Target="../media/image25.sv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21.svg"/><Relationship Id="rId11" Type="http://schemas.openxmlformats.org/officeDocument/2006/relationships/image" Target="../media/image24.png"/><Relationship Id="rId5" Type="http://schemas.openxmlformats.org/officeDocument/2006/relationships/image" Target="../media/image20.png"/><Relationship Id="rId10" Type="http://schemas.openxmlformats.org/officeDocument/2006/relationships/image" Target="../media/image23.svg"/><Relationship Id="rId4" Type="http://schemas.openxmlformats.org/officeDocument/2006/relationships/image" Target="../media/image19.sv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26.png"/><Relationship Id="rId3" Type="http://schemas.openxmlformats.org/officeDocument/2006/relationships/image" Target="../media/image18.png"/><Relationship Id="rId7" Type="http://schemas.openxmlformats.org/officeDocument/2006/relationships/image" Target="../media/image10.png"/><Relationship Id="rId12" Type="http://schemas.openxmlformats.org/officeDocument/2006/relationships/image" Target="../media/image25.sv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21.svg"/><Relationship Id="rId11" Type="http://schemas.openxmlformats.org/officeDocument/2006/relationships/image" Target="../media/image24.png"/><Relationship Id="rId5" Type="http://schemas.openxmlformats.org/officeDocument/2006/relationships/image" Target="../media/image20.png"/><Relationship Id="rId15" Type="http://schemas.openxmlformats.org/officeDocument/2006/relationships/hyperlink" Target="https://scholarworks.umb.edu/cgi/viewcontent.cgi?referer=&amp;httpsredir=1&amp;article=1007&amp;context=ici_institutebrief" TargetMode="External"/><Relationship Id="rId10" Type="http://schemas.openxmlformats.org/officeDocument/2006/relationships/image" Target="../media/image23.svg"/><Relationship Id="rId4" Type="http://schemas.openxmlformats.org/officeDocument/2006/relationships/image" Target="../media/image19.svg"/><Relationship Id="rId9" Type="http://schemas.openxmlformats.org/officeDocument/2006/relationships/image" Target="../media/image22.png"/><Relationship Id="rId14" Type="http://schemas.openxmlformats.org/officeDocument/2006/relationships/image" Target="../media/image27.svg"/></Relationships>
</file>

<file path=ppt/slides/_rels/slide9.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25.svg"/><Relationship Id="rId3" Type="http://schemas.openxmlformats.org/officeDocument/2006/relationships/image" Target="../media/image18.png"/><Relationship Id="rId7" Type="http://schemas.openxmlformats.org/officeDocument/2006/relationships/image" Target="../media/image10.png"/><Relationship Id="rId12" Type="http://schemas.openxmlformats.org/officeDocument/2006/relationships/image" Target="../media/image24.png"/><Relationship Id="rId17" Type="http://schemas.openxmlformats.org/officeDocument/2006/relationships/image" Target="../media/image29.svg"/><Relationship Id="rId2" Type="http://schemas.openxmlformats.org/officeDocument/2006/relationships/image" Target="../media/image15.jpeg"/><Relationship Id="rId16"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21.svg"/><Relationship Id="rId11" Type="http://schemas.openxmlformats.org/officeDocument/2006/relationships/hyperlink" Target="https://scholarworks.umb.edu/cgi/viewcontent.cgi?referer=&amp;httpsredir=1&amp;article=1007&amp;context=ici_institutebrief" TargetMode="External"/><Relationship Id="rId5" Type="http://schemas.openxmlformats.org/officeDocument/2006/relationships/image" Target="../media/image20.png"/><Relationship Id="rId15" Type="http://schemas.openxmlformats.org/officeDocument/2006/relationships/image" Target="../media/image27.svg"/><Relationship Id="rId10" Type="http://schemas.openxmlformats.org/officeDocument/2006/relationships/image" Target="../media/image23.svg"/><Relationship Id="rId4" Type="http://schemas.openxmlformats.org/officeDocument/2006/relationships/image" Target="../media/image19.svg"/><Relationship Id="rId9" Type="http://schemas.openxmlformats.org/officeDocument/2006/relationships/image" Target="../media/image22.png"/><Relationship Id="rId14"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10.png"/><Relationship Id="rId12" Type="http://schemas.openxmlformats.org/officeDocument/2006/relationships/image" Target="../media/image25.svg"/><Relationship Id="rId17" Type="http://schemas.openxmlformats.org/officeDocument/2006/relationships/hyperlink" Target="https://scholarworks.umb.edu/cgi/viewcontent.cgi?referer=&amp;httpsredir=1&amp;article=1007&amp;context=ici_institutebrief" TargetMode="External"/><Relationship Id="rId2" Type="http://schemas.openxmlformats.org/officeDocument/2006/relationships/image" Target="../media/image20.png"/><Relationship Id="rId16"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5.jpeg"/><Relationship Id="rId9" Type="http://schemas.openxmlformats.org/officeDocument/2006/relationships/image" Target="../media/image22.png"/><Relationship Id="rId1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974764" y="-207071"/>
            <a:ext cx="3086100" cy="11299900"/>
            <a:chOff x="0" y="0"/>
            <a:chExt cx="812800" cy="2976105"/>
          </a:xfrm>
        </p:grpSpPr>
        <p:sp>
          <p:nvSpPr>
            <p:cNvPr id="3" name="Freeform 3"/>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0C629F"/>
            </a:solidFill>
          </p:spPr>
        </p:sp>
        <p:sp>
          <p:nvSpPr>
            <p:cNvPr id="4" name="TextBox 4"/>
            <p:cNvSpPr txBox="1"/>
            <p:nvPr/>
          </p:nvSpPr>
          <p:spPr>
            <a:xfrm>
              <a:off x="0" y="-19050"/>
              <a:ext cx="812800" cy="2995155"/>
            </a:xfrm>
            <a:prstGeom prst="rect">
              <a:avLst/>
            </a:prstGeom>
          </p:spPr>
          <p:txBody>
            <a:bodyPr lIns="50800" tIns="50800" rIns="50800" bIns="50800" rtlCol="0" anchor="ctr"/>
            <a:lstStyle/>
            <a:p>
              <a:pPr algn="ctr">
                <a:lnSpc>
                  <a:spcPts val="2859"/>
                </a:lnSpc>
              </a:pPr>
              <a:endParaRPr/>
            </a:p>
          </p:txBody>
        </p:sp>
      </p:grpSp>
      <p:sp>
        <p:nvSpPr>
          <p:cNvPr id="5" name="Freeform 5"/>
          <p:cNvSpPr/>
          <p:nvPr/>
        </p:nvSpPr>
        <p:spPr>
          <a:xfrm>
            <a:off x="16384715" y="9009597"/>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1776329" y="580047"/>
            <a:ext cx="5482971" cy="9023371"/>
          </a:xfrm>
          <a:custGeom>
            <a:avLst/>
            <a:gdLst/>
            <a:ahLst/>
            <a:cxnLst/>
            <a:rect l="l" t="t" r="r" b="b"/>
            <a:pathLst>
              <a:path w="5482971" h="9023371">
                <a:moveTo>
                  <a:pt x="0" y="0"/>
                </a:moveTo>
                <a:lnTo>
                  <a:pt x="5482971" y="0"/>
                </a:lnTo>
                <a:lnTo>
                  <a:pt x="5482971" y="9023371"/>
                </a:lnTo>
                <a:lnTo>
                  <a:pt x="0" y="9023371"/>
                </a:lnTo>
                <a:lnTo>
                  <a:pt x="0" y="0"/>
                </a:lnTo>
                <a:close/>
              </a:path>
            </a:pathLst>
          </a:custGeom>
          <a:blipFill>
            <a:blip r:embed="rId4"/>
            <a:stretch>
              <a:fillRect l="-40932" r="-106077"/>
            </a:stretch>
          </a:blipFill>
        </p:spPr>
      </p:sp>
      <p:grpSp>
        <p:nvGrpSpPr>
          <p:cNvPr id="7" name="Group 7"/>
          <p:cNvGrpSpPr/>
          <p:nvPr/>
        </p:nvGrpSpPr>
        <p:grpSpPr>
          <a:xfrm>
            <a:off x="-1543050" y="-558218"/>
            <a:ext cx="3086100" cy="11299900"/>
            <a:chOff x="0" y="0"/>
            <a:chExt cx="812800" cy="2976105"/>
          </a:xfrm>
        </p:grpSpPr>
        <p:sp>
          <p:nvSpPr>
            <p:cNvPr id="8" name="Freeform 8"/>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0C629F"/>
            </a:solidFill>
          </p:spPr>
        </p:sp>
        <p:sp>
          <p:nvSpPr>
            <p:cNvPr id="9" name="TextBox 9"/>
            <p:cNvSpPr txBox="1"/>
            <p:nvPr/>
          </p:nvSpPr>
          <p:spPr>
            <a:xfrm>
              <a:off x="0" y="-19050"/>
              <a:ext cx="812800" cy="2995155"/>
            </a:xfrm>
            <a:prstGeom prst="rect">
              <a:avLst/>
            </a:prstGeom>
          </p:spPr>
          <p:txBody>
            <a:bodyPr lIns="50800" tIns="50800" rIns="50800" bIns="50800" rtlCol="0" anchor="ctr"/>
            <a:lstStyle/>
            <a:p>
              <a:pPr algn="ctr">
                <a:lnSpc>
                  <a:spcPts val="2859"/>
                </a:lnSpc>
              </a:pPr>
              <a:endParaRPr/>
            </a:p>
          </p:txBody>
        </p:sp>
      </p:grpSp>
      <p:grpSp>
        <p:nvGrpSpPr>
          <p:cNvPr id="10" name="Group 10"/>
          <p:cNvGrpSpPr/>
          <p:nvPr/>
        </p:nvGrpSpPr>
        <p:grpSpPr>
          <a:xfrm>
            <a:off x="1227773" y="4163622"/>
            <a:ext cx="110236" cy="2818996"/>
            <a:chOff x="0" y="0"/>
            <a:chExt cx="26312" cy="672855"/>
          </a:xfrm>
        </p:grpSpPr>
        <p:sp>
          <p:nvSpPr>
            <p:cNvPr id="11" name="Freeform 11"/>
            <p:cNvSpPr/>
            <p:nvPr/>
          </p:nvSpPr>
          <p:spPr>
            <a:xfrm>
              <a:off x="0" y="0"/>
              <a:ext cx="26312" cy="672855"/>
            </a:xfrm>
            <a:custGeom>
              <a:avLst/>
              <a:gdLst/>
              <a:ahLst/>
              <a:cxnLst/>
              <a:rect l="l" t="t" r="r" b="b"/>
              <a:pathLst>
                <a:path w="26312" h="672855">
                  <a:moveTo>
                    <a:pt x="0" y="0"/>
                  </a:moveTo>
                  <a:lnTo>
                    <a:pt x="26312" y="0"/>
                  </a:lnTo>
                  <a:lnTo>
                    <a:pt x="26312" y="672855"/>
                  </a:lnTo>
                  <a:lnTo>
                    <a:pt x="0" y="672855"/>
                  </a:lnTo>
                  <a:close/>
                </a:path>
              </a:pathLst>
            </a:custGeom>
            <a:solidFill>
              <a:srgbClr val="CDCDCE"/>
            </a:solidFill>
          </p:spPr>
        </p:sp>
        <p:sp>
          <p:nvSpPr>
            <p:cNvPr id="12" name="TextBox 12"/>
            <p:cNvSpPr txBox="1"/>
            <p:nvPr/>
          </p:nvSpPr>
          <p:spPr>
            <a:xfrm>
              <a:off x="0" y="-19050"/>
              <a:ext cx="26312" cy="691905"/>
            </a:xfrm>
            <a:prstGeom prst="rect">
              <a:avLst/>
            </a:prstGeom>
          </p:spPr>
          <p:txBody>
            <a:bodyPr lIns="50800" tIns="50800" rIns="50800" bIns="50800" rtlCol="0" anchor="ctr"/>
            <a:lstStyle/>
            <a:p>
              <a:pPr algn="ctr">
                <a:lnSpc>
                  <a:spcPts val="2859"/>
                </a:lnSpc>
              </a:pPr>
              <a:endParaRPr/>
            </a:p>
          </p:txBody>
        </p:sp>
      </p:grpSp>
      <p:grpSp>
        <p:nvGrpSpPr>
          <p:cNvPr id="13" name="Group 13"/>
          <p:cNvGrpSpPr/>
          <p:nvPr/>
        </p:nvGrpSpPr>
        <p:grpSpPr>
          <a:xfrm>
            <a:off x="1752928" y="3206708"/>
            <a:ext cx="6412076" cy="976954"/>
            <a:chOff x="0" y="0"/>
            <a:chExt cx="1530473" cy="233185"/>
          </a:xfrm>
        </p:grpSpPr>
        <p:sp>
          <p:nvSpPr>
            <p:cNvPr id="14" name="Freeform 14"/>
            <p:cNvSpPr/>
            <p:nvPr/>
          </p:nvSpPr>
          <p:spPr>
            <a:xfrm>
              <a:off x="0" y="0"/>
              <a:ext cx="1530473" cy="233185"/>
            </a:xfrm>
            <a:custGeom>
              <a:avLst/>
              <a:gdLst/>
              <a:ahLst/>
              <a:cxnLst/>
              <a:rect l="l" t="t" r="r" b="b"/>
              <a:pathLst>
                <a:path w="1530473" h="233185">
                  <a:moveTo>
                    <a:pt x="21733" y="0"/>
                  </a:moveTo>
                  <a:lnTo>
                    <a:pt x="1508739" y="0"/>
                  </a:lnTo>
                  <a:cubicBezTo>
                    <a:pt x="1520742" y="0"/>
                    <a:pt x="1530473" y="9730"/>
                    <a:pt x="1530473" y="21733"/>
                  </a:cubicBezTo>
                  <a:lnTo>
                    <a:pt x="1530473" y="211452"/>
                  </a:lnTo>
                  <a:cubicBezTo>
                    <a:pt x="1530473" y="223455"/>
                    <a:pt x="1520742" y="233185"/>
                    <a:pt x="1508739" y="233185"/>
                  </a:cubicBezTo>
                  <a:lnTo>
                    <a:pt x="21733" y="233185"/>
                  </a:lnTo>
                  <a:cubicBezTo>
                    <a:pt x="9730" y="233185"/>
                    <a:pt x="0" y="223455"/>
                    <a:pt x="0" y="211452"/>
                  </a:cubicBezTo>
                  <a:lnTo>
                    <a:pt x="0" y="21733"/>
                  </a:lnTo>
                  <a:cubicBezTo>
                    <a:pt x="0" y="9730"/>
                    <a:pt x="9730" y="0"/>
                    <a:pt x="21733" y="0"/>
                  </a:cubicBezTo>
                  <a:close/>
                </a:path>
              </a:pathLst>
            </a:custGeom>
            <a:solidFill>
              <a:srgbClr val="0C629F"/>
            </a:solidFill>
          </p:spPr>
        </p:sp>
        <p:sp>
          <p:nvSpPr>
            <p:cNvPr id="15" name="TextBox 15"/>
            <p:cNvSpPr txBox="1"/>
            <p:nvPr/>
          </p:nvSpPr>
          <p:spPr>
            <a:xfrm>
              <a:off x="0" y="-38100"/>
              <a:ext cx="1530473" cy="271285"/>
            </a:xfrm>
            <a:prstGeom prst="rect">
              <a:avLst/>
            </a:prstGeom>
          </p:spPr>
          <p:txBody>
            <a:bodyPr lIns="56055" tIns="56055" rIns="56055" bIns="56055" rtlCol="0" anchor="ctr"/>
            <a:lstStyle/>
            <a:p>
              <a:pPr algn="ctr">
                <a:lnSpc>
                  <a:spcPts val="5849"/>
                </a:lnSpc>
              </a:pPr>
              <a:r>
                <a:rPr lang="en-US" sz="4499">
                  <a:solidFill>
                    <a:srgbClr val="FCF784"/>
                  </a:solidFill>
                  <a:latin typeface="Montserrat Light"/>
                </a:rPr>
                <a:t>December 2023</a:t>
              </a:r>
            </a:p>
          </p:txBody>
        </p:sp>
      </p:grpSp>
      <p:sp>
        <p:nvSpPr>
          <p:cNvPr id="16" name="Freeform 16"/>
          <p:cNvSpPr/>
          <p:nvPr/>
        </p:nvSpPr>
        <p:spPr>
          <a:xfrm>
            <a:off x="-2777871" y="-207071"/>
            <a:ext cx="3806571" cy="2083232"/>
          </a:xfrm>
          <a:custGeom>
            <a:avLst/>
            <a:gdLst/>
            <a:ahLst/>
            <a:cxnLst/>
            <a:rect l="l" t="t" r="r" b="b"/>
            <a:pathLst>
              <a:path w="3806571" h="2083232">
                <a:moveTo>
                  <a:pt x="0" y="0"/>
                </a:moveTo>
                <a:lnTo>
                  <a:pt x="3806571" y="0"/>
                </a:lnTo>
                <a:lnTo>
                  <a:pt x="3806571" y="2083233"/>
                </a:lnTo>
                <a:lnTo>
                  <a:pt x="0" y="20832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1889959" y="8298083"/>
            <a:ext cx="1845400" cy="1753130"/>
          </a:xfrm>
          <a:custGeom>
            <a:avLst/>
            <a:gdLst/>
            <a:ahLst/>
            <a:cxnLst/>
            <a:rect l="l" t="t" r="r" b="b"/>
            <a:pathLst>
              <a:path w="1845400" h="1753130">
                <a:moveTo>
                  <a:pt x="0" y="0"/>
                </a:moveTo>
                <a:lnTo>
                  <a:pt x="1845400" y="0"/>
                </a:lnTo>
                <a:lnTo>
                  <a:pt x="1845400" y="1753130"/>
                </a:lnTo>
                <a:lnTo>
                  <a:pt x="0" y="1753130"/>
                </a:lnTo>
                <a:lnTo>
                  <a:pt x="0" y="0"/>
                </a:lnTo>
                <a:close/>
              </a:path>
            </a:pathLst>
          </a:custGeom>
          <a:blipFill>
            <a:blip r:embed="rId7"/>
            <a:stretch>
              <a:fillRect/>
            </a:stretch>
          </a:blipFill>
        </p:spPr>
      </p:sp>
      <p:sp>
        <p:nvSpPr>
          <p:cNvPr id="18" name="TextBox 18"/>
          <p:cNvSpPr txBox="1"/>
          <p:nvPr/>
        </p:nvSpPr>
        <p:spPr>
          <a:xfrm>
            <a:off x="1752928" y="5219700"/>
            <a:ext cx="10756200" cy="2196297"/>
          </a:xfrm>
          <a:prstGeom prst="rect">
            <a:avLst/>
          </a:prstGeom>
        </p:spPr>
        <p:txBody>
          <a:bodyPr lIns="0" tIns="0" rIns="0" bIns="0" rtlCol="0" anchor="t">
            <a:spAutoFit/>
          </a:bodyPr>
          <a:lstStyle/>
          <a:p>
            <a:pPr>
              <a:lnSpc>
                <a:spcPts val="7974"/>
              </a:lnSpc>
            </a:pPr>
            <a:r>
              <a:rPr lang="en-US" sz="8307">
                <a:solidFill>
                  <a:srgbClr val="0C629F"/>
                </a:solidFill>
                <a:latin typeface="Codec Pro ExtraBold"/>
              </a:rPr>
              <a:t>DCP : 30-DAY PLACEMENT PLAN</a:t>
            </a:r>
          </a:p>
        </p:txBody>
      </p:sp>
      <p:sp>
        <p:nvSpPr>
          <p:cNvPr id="19" name="TextBox 19"/>
          <p:cNvSpPr txBox="1"/>
          <p:nvPr/>
        </p:nvSpPr>
        <p:spPr>
          <a:xfrm>
            <a:off x="1752928" y="1962650"/>
            <a:ext cx="5378100" cy="1144661"/>
          </a:xfrm>
          <a:prstGeom prst="rect">
            <a:avLst/>
          </a:prstGeom>
        </p:spPr>
        <p:txBody>
          <a:bodyPr lIns="0" tIns="0" rIns="0" bIns="0" rtlCol="0" anchor="t">
            <a:spAutoFit/>
          </a:bodyPr>
          <a:lstStyle/>
          <a:p>
            <a:pPr>
              <a:lnSpc>
                <a:spcPts val="4633"/>
              </a:lnSpc>
            </a:pPr>
            <a:r>
              <a:rPr lang="en-US" sz="3309" spc="165">
                <a:solidFill>
                  <a:srgbClr val="0C629F"/>
                </a:solidFill>
                <a:latin typeface="Open Sauce"/>
              </a:rPr>
              <a:t>Hawaii Transformation Initiative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1917840" y="2426803"/>
            <a:ext cx="1742241" cy="5272436"/>
            <a:chOff x="0" y="0"/>
            <a:chExt cx="368852" cy="1116234"/>
          </a:xfrm>
        </p:grpSpPr>
        <p:sp>
          <p:nvSpPr>
            <p:cNvPr id="3" name="Freeform 3"/>
            <p:cNvSpPr/>
            <p:nvPr/>
          </p:nvSpPr>
          <p:spPr>
            <a:xfrm>
              <a:off x="0" y="0"/>
              <a:ext cx="368852" cy="1116234"/>
            </a:xfrm>
            <a:custGeom>
              <a:avLst/>
              <a:gdLst/>
              <a:ahLst/>
              <a:cxnLst/>
              <a:rect l="l" t="t" r="r" b="b"/>
              <a:pathLst>
                <a:path w="368852" h="1116234">
                  <a:moveTo>
                    <a:pt x="0" y="0"/>
                  </a:moveTo>
                  <a:lnTo>
                    <a:pt x="368852" y="0"/>
                  </a:lnTo>
                  <a:lnTo>
                    <a:pt x="368852" y="1116234"/>
                  </a:lnTo>
                  <a:lnTo>
                    <a:pt x="0" y="1116234"/>
                  </a:lnTo>
                  <a:close/>
                </a:path>
              </a:pathLst>
            </a:custGeom>
            <a:solidFill>
              <a:srgbClr val="0C629F"/>
            </a:solidFill>
            <a:ln cap="sq">
              <a:noFill/>
              <a:prstDash val="solid"/>
              <a:miter/>
            </a:ln>
          </p:spPr>
        </p:sp>
        <p:sp>
          <p:nvSpPr>
            <p:cNvPr id="4" name="TextBox 4"/>
            <p:cNvSpPr txBox="1"/>
            <p:nvPr/>
          </p:nvSpPr>
          <p:spPr>
            <a:xfrm>
              <a:off x="0" y="-19050"/>
              <a:ext cx="368852" cy="1135284"/>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5" name="Group 5"/>
          <p:cNvGrpSpPr/>
          <p:nvPr/>
        </p:nvGrpSpPr>
        <p:grpSpPr>
          <a:xfrm>
            <a:off x="-1543050" y="-558218"/>
            <a:ext cx="3086100" cy="11299900"/>
            <a:chOff x="0" y="0"/>
            <a:chExt cx="812800" cy="2976105"/>
          </a:xfrm>
        </p:grpSpPr>
        <p:sp>
          <p:nvSpPr>
            <p:cNvPr id="6" name="Freeform 6"/>
            <p:cNvSpPr/>
            <p:nvPr/>
          </p:nvSpPr>
          <p:spPr>
            <a:xfrm>
              <a:off x="0" y="0"/>
              <a:ext cx="812800" cy="2976105"/>
            </a:xfrm>
            <a:custGeom>
              <a:avLst/>
              <a:gdLst/>
              <a:ahLst/>
              <a:cxnLst/>
              <a:rect l="l" t="t" r="r" b="b"/>
              <a:pathLst>
                <a:path w="812800" h="2976105">
                  <a:moveTo>
                    <a:pt x="0" y="0"/>
                  </a:moveTo>
                  <a:lnTo>
                    <a:pt x="812800" y="0"/>
                  </a:lnTo>
                  <a:lnTo>
                    <a:pt x="812800" y="2976105"/>
                  </a:lnTo>
                  <a:lnTo>
                    <a:pt x="0" y="2976105"/>
                  </a:lnTo>
                  <a:close/>
                </a:path>
              </a:pathLst>
            </a:custGeom>
            <a:solidFill>
              <a:srgbClr val="0C629F"/>
            </a:solidFill>
          </p:spPr>
        </p:sp>
        <p:sp>
          <p:nvSpPr>
            <p:cNvPr id="7" name="TextBox 7"/>
            <p:cNvSpPr txBox="1"/>
            <p:nvPr/>
          </p:nvSpPr>
          <p:spPr>
            <a:xfrm>
              <a:off x="0" y="-19050"/>
              <a:ext cx="812800" cy="2995155"/>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a:off x="12193216" y="1415447"/>
            <a:ext cx="5408984" cy="7979428"/>
            <a:chOff x="0" y="0"/>
            <a:chExt cx="1424588" cy="2101578"/>
          </a:xfrm>
        </p:grpSpPr>
        <p:sp>
          <p:nvSpPr>
            <p:cNvPr id="9" name="Freeform 9"/>
            <p:cNvSpPr/>
            <p:nvPr/>
          </p:nvSpPr>
          <p:spPr>
            <a:xfrm>
              <a:off x="0" y="0"/>
              <a:ext cx="1424588" cy="2101578"/>
            </a:xfrm>
            <a:custGeom>
              <a:avLst/>
              <a:gdLst/>
              <a:ahLst/>
              <a:cxnLst/>
              <a:rect l="l" t="t" r="r" b="b"/>
              <a:pathLst>
                <a:path w="1424588" h="2101578">
                  <a:moveTo>
                    <a:pt x="0" y="0"/>
                  </a:moveTo>
                  <a:lnTo>
                    <a:pt x="1424588" y="0"/>
                  </a:lnTo>
                  <a:lnTo>
                    <a:pt x="1424588" y="2101578"/>
                  </a:lnTo>
                  <a:lnTo>
                    <a:pt x="0" y="2101578"/>
                  </a:lnTo>
                  <a:close/>
                </a:path>
              </a:pathLst>
            </a:custGeom>
            <a:solidFill>
              <a:srgbClr val="0C629F"/>
            </a:solidFill>
          </p:spPr>
        </p:sp>
        <p:sp>
          <p:nvSpPr>
            <p:cNvPr id="10" name="TextBox 10"/>
            <p:cNvSpPr txBox="1"/>
            <p:nvPr/>
          </p:nvSpPr>
          <p:spPr>
            <a:xfrm>
              <a:off x="0" y="-19050"/>
              <a:ext cx="1424588" cy="2120628"/>
            </a:xfrm>
            <a:prstGeom prst="rect">
              <a:avLst/>
            </a:prstGeom>
          </p:spPr>
          <p:txBody>
            <a:bodyPr lIns="50800" tIns="50800" rIns="50800" bIns="50800" rtlCol="0" anchor="ctr"/>
            <a:lstStyle/>
            <a:p>
              <a:pPr algn="ctr">
                <a:lnSpc>
                  <a:spcPts val="2859"/>
                </a:lnSpc>
              </a:pPr>
              <a:endParaRPr/>
            </a:p>
          </p:txBody>
        </p:sp>
      </p:grpSp>
      <p:sp>
        <p:nvSpPr>
          <p:cNvPr id="11" name="Freeform 11"/>
          <p:cNvSpPr/>
          <p:nvPr/>
        </p:nvSpPr>
        <p:spPr>
          <a:xfrm>
            <a:off x="15698915" y="8697813"/>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1772900" y="1028700"/>
            <a:ext cx="5486400" cy="7980897"/>
          </a:xfrm>
          <a:custGeom>
            <a:avLst/>
            <a:gdLst/>
            <a:ahLst/>
            <a:cxnLst/>
            <a:rect l="l" t="t" r="r" b="b"/>
            <a:pathLst>
              <a:path w="5486400" h="7980897">
                <a:moveTo>
                  <a:pt x="0" y="0"/>
                </a:moveTo>
                <a:lnTo>
                  <a:pt x="5486400" y="0"/>
                </a:lnTo>
                <a:lnTo>
                  <a:pt x="5486400" y="7980897"/>
                </a:lnTo>
                <a:lnTo>
                  <a:pt x="0" y="7980897"/>
                </a:lnTo>
                <a:lnTo>
                  <a:pt x="0" y="0"/>
                </a:lnTo>
                <a:close/>
              </a:path>
            </a:pathLst>
          </a:custGeom>
          <a:blipFill>
            <a:blip r:embed="rId4"/>
            <a:stretch>
              <a:fillRect l="-58963" r="-58963"/>
            </a:stretch>
          </a:blipFill>
        </p:spPr>
      </p:sp>
      <p:sp>
        <p:nvSpPr>
          <p:cNvPr id="13" name="TextBox 13"/>
          <p:cNvSpPr txBox="1"/>
          <p:nvPr/>
        </p:nvSpPr>
        <p:spPr>
          <a:xfrm>
            <a:off x="5213112" y="1316966"/>
            <a:ext cx="5661991" cy="1439372"/>
          </a:xfrm>
          <a:prstGeom prst="rect">
            <a:avLst/>
          </a:prstGeom>
        </p:spPr>
        <p:txBody>
          <a:bodyPr lIns="0" tIns="0" rIns="0" bIns="0" rtlCol="0" anchor="t">
            <a:spAutoFit/>
          </a:bodyPr>
          <a:lstStyle/>
          <a:p>
            <a:pPr>
              <a:lnSpc>
                <a:spcPts val="10858"/>
              </a:lnSpc>
            </a:pPr>
            <a:r>
              <a:rPr lang="en-US" sz="7868" spc="771">
                <a:solidFill>
                  <a:srgbClr val="231F20"/>
                </a:solidFill>
                <a:latin typeface="Codec Pro ExtraBold"/>
              </a:rPr>
              <a:t>Content</a:t>
            </a:r>
          </a:p>
        </p:txBody>
      </p:sp>
      <p:sp>
        <p:nvSpPr>
          <p:cNvPr id="14" name="TextBox 14"/>
          <p:cNvSpPr txBox="1"/>
          <p:nvPr/>
        </p:nvSpPr>
        <p:spPr>
          <a:xfrm>
            <a:off x="2205999" y="2976481"/>
            <a:ext cx="1165925" cy="881956"/>
          </a:xfrm>
          <a:prstGeom prst="rect">
            <a:avLst/>
          </a:prstGeom>
        </p:spPr>
        <p:txBody>
          <a:bodyPr lIns="0" tIns="0" rIns="0" bIns="0" rtlCol="0" anchor="t">
            <a:spAutoFit/>
          </a:bodyPr>
          <a:lstStyle/>
          <a:p>
            <a:pPr algn="ctr">
              <a:lnSpc>
                <a:spcPts val="6377"/>
              </a:lnSpc>
            </a:pPr>
            <a:r>
              <a:rPr lang="en-US" sz="5314" spc="435">
                <a:solidFill>
                  <a:srgbClr val="FFFFFF"/>
                </a:solidFill>
                <a:latin typeface="Codec Pro ExtraBold Italics"/>
              </a:rPr>
              <a:t>01</a:t>
            </a:r>
          </a:p>
        </p:txBody>
      </p:sp>
      <p:sp>
        <p:nvSpPr>
          <p:cNvPr id="15" name="TextBox 15"/>
          <p:cNvSpPr txBox="1"/>
          <p:nvPr/>
        </p:nvSpPr>
        <p:spPr>
          <a:xfrm>
            <a:off x="2205999" y="4600991"/>
            <a:ext cx="1165925" cy="881956"/>
          </a:xfrm>
          <a:prstGeom prst="rect">
            <a:avLst/>
          </a:prstGeom>
        </p:spPr>
        <p:txBody>
          <a:bodyPr lIns="0" tIns="0" rIns="0" bIns="0" rtlCol="0" anchor="t">
            <a:spAutoFit/>
          </a:bodyPr>
          <a:lstStyle/>
          <a:p>
            <a:pPr algn="ctr">
              <a:lnSpc>
                <a:spcPts val="6377"/>
              </a:lnSpc>
            </a:pPr>
            <a:r>
              <a:rPr lang="en-US" sz="5314" spc="435">
                <a:solidFill>
                  <a:srgbClr val="FFFFFF"/>
                </a:solidFill>
                <a:latin typeface="Codec Pro ExtraBold Italics"/>
              </a:rPr>
              <a:t>02</a:t>
            </a:r>
          </a:p>
        </p:txBody>
      </p:sp>
      <p:sp>
        <p:nvSpPr>
          <p:cNvPr id="16" name="TextBox 16"/>
          <p:cNvSpPr txBox="1"/>
          <p:nvPr/>
        </p:nvSpPr>
        <p:spPr>
          <a:xfrm>
            <a:off x="2205999" y="6225501"/>
            <a:ext cx="1165925" cy="881956"/>
          </a:xfrm>
          <a:prstGeom prst="rect">
            <a:avLst/>
          </a:prstGeom>
        </p:spPr>
        <p:txBody>
          <a:bodyPr lIns="0" tIns="0" rIns="0" bIns="0" rtlCol="0" anchor="t">
            <a:spAutoFit/>
          </a:bodyPr>
          <a:lstStyle/>
          <a:p>
            <a:pPr algn="ctr">
              <a:lnSpc>
                <a:spcPts val="6377"/>
              </a:lnSpc>
            </a:pPr>
            <a:r>
              <a:rPr lang="en-US" sz="5314" spc="435">
                <a:solidFill>
                  <a:srgbClr val="FFFFFF"/>
                </a:solidFill>
                <a:latin typeface="Codec Pro ExtraBold Italics"/>
              </a:rPr>
              <a:t>03</a:t>
            </a:r>
          </a:p>
        </p:txBody>
      </p:sp>
      <p:sp>
        <p:nvSpPr>
          <p:cNvPr id="17" name="TextBox 17"/>
          <p:cNvSpPr txBox="1"/>
          <p:nvPr/>
        </p:nvSpPr>
        <p:spPr>
          <a:xfrm>
            <a:off x="3917876" y="3165375"/>
            <a:ext cx="7203542" cy="530438"/>
          </a:xfrm>
          <a:prstGeom prst="rect">
            <a:avLst/>
          </a:prstGeom>
        </p:spPr>
        <p:txBody>
          <a:bodyPr lIns="0" tIns="0" rIns="0" bIns="0" rtlCol="0" anchor="t">
            <a:spAutoFit/>
          </a:bodyPr>
          <a:lstStyle/>
          <a:p>
            <a:pPr>
              <a:lnSpc>
                <a:spcPts val="4333"/>
              </a:lnSpc>
            </a:pPr>
            <a:r>
              <a:rPr lang="en-US" sz="3140" spc="307">
                <a:solidFill>
                  <a:srgbClr val="231F20"/>
                </a:solidFill>
                <a:latin typeface="Open Sauce"/>
              </a:rPr>
              <a:t>Waiver Standard</a:t>
            </a:r>
          </a:p>
        </p:txBody>
      </p:sp>
      <p:sp>
        <p:nvSpPr>
          <p:cNvPr id="18" name="TextBox 18"/>
          <p:cNvSpPr txBox="1"/>
          <p:nvPr/>
        </p:nvSpPr>
        <p:spPr>
          <a:xfrm>
            <a:off x="3917876" y="4408871"/>
            <a:ext cx="7559490" cy="1075508"/>
          </a:xfrm>
          <a:prstGeom prst="rect">
            <a:avLst/>
          </a:prstGeom>
        </p:spPr>
        <p:txBody>
          <a:bodyPr lIns="0" tIns="0" rIns="0" bIns="0" rtlCol="0" anchor="t">
            <a:spAutoFit/>
          </a:bodyPr>
          <a:lstStyle/>
          <a:p>
            <a:pPr>
              <a:lnSpc>
                <a:spcPts val="4333"/>
              </a:lnSpc>
            </a:pPr>
            <a:r>
              <a:rPr lang="en-US" sz="3140" spc="307">
                <a:solidFill>
                  <a:srgbClr val="231F20"/>
                </a:solidFill>
                <a:latin typeface="Open Sauce"/>
              </a:rPr>
              <a:t>What is a 30-Day Placement Plan?</a:t>
            </a:r>
          </a:p>
        </p:txBody>
      </p:sp>
      <p:sp>
        <p:nvSpPr>
          <p:cNvPr id="19" name="TextBox 19"/>
          <p:cNvSpPr txBox="1"/>
          <p:nvPr/>
        </p:nvSpPr>
        <p:spPr>
          <a:xfrm>
            <a:off x="3917876" y="6244551"/>
            <a:ext cx="7203542" cy="1075508"/>
          </a:xfrm>
          <a:prstGeom prst="rect">
            <a:avLst/>
          </a:prstGeom>
        </p:spPr>
        <p:txBody>
          <a:bodyPr lIns="0" tIns="0" rIns="0" bIns="0" rtlCol="0" anchor="t">
            <a:spAutoFit/>
          </a:bodyPr>
          <a:lstStyle/>
          <a:p>
            <a:pPr marL="0" lvl="0" indent="0" algn="l">
              <a:lnSpc>
                <a:spcPts val="4333"/>
              </a:lnSpc>
              <a:spcBef>
                <a:spcPct val="0"/>
              </a:spcBef>
            </a:pPr>
            <a:r>
              <a:rPr lang="en-US" sz="3140" spc="307">
                <a:solidFill>
                  <a:srgbClr val="231F20"/>
                </a:solidFill>
                <a:latin typeface="Open Sauce"/>
              </a:rPr>
              <a:t>30-Day Placement Plan Elements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a:off x="16384715" y="9009597"/>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882076" y="-20574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104385" y="-196772"/>
            <a:ext cx="9652659" cy="9652659"/>
          </a:xfrm>
          <a:custGeom>
            <a:avLst/>
            <a:gdLst/>
            <a:ahLst/>
            <a:cxnLst/>
            <a:rect l="l" t="t" r="r" b="b"/>
            <a:pathLst>
              <a:path w="9652659" h="9652659">
                <a:moveTo>
                  <a:pt x="0" y="0"/>
                </a:moveTo>
                <a:lnTo>
                  <a:pt x="9652659" y="0"/>
                </a:lnTo>
                <a:lnTo>
                  <a:pt x="9652659" y="9652659"/>
                </a:lnTo>
                <a:lnTo>
                  <a:pt x="0" y="96526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5" name="Group 5"/>
          <p:cNvGrpSpPr/>
          <p:nvPr/>
        </p:nvGrpSpPr>
        <p:grpSpPr>
          <a:xfrm>
            <a:off x="0" y="249519"/>
            <a:ext cx="5021436" cy="8760078"/>
            <a:chOff x="0" y="0"/>
            <a:chExt cx="6695248" cy="11680105"/>
          </a:xfrm>
        </p:grpSpPr>
        <p:pic>
          <p:nvPicPr>
            <p:cNvPr id="6" name="Picture 6"/>
            <p:cNvPicPr>
              <a:picLocks noChangeAspect="1"/>
            </p:cNvPicPr>
            <p:nvPr/>
          </p:nvPicPr>
          <p:blipFill>
            <a:blip r:embed="rId8"/>
            <a:srcRect l="11998" r="11998"/>
            <a:stretch>
              <a:fillRect/>
            </a:stretch>
          </p:blipFill>
          <p:spPr>
            <a:xfrm>
              <a:off x="0" y="0"/>
              <a:ext cx="6695248" cy="11680105"/>
            </a:xfrm>
            <a:prstGeom prst="rect">
              <a:avLst/>
            </a:prstGeom>
          </p:spPr>
        </p:pic>
      </p:grpSp>
      <p:sp>
        <p:nvSpPr>
          <p:cNvPr id="7" name="Freeform 7"/>
          <p:cNvSpPr/>
          <p:nvPr/>
        </p:nvSpPr>
        <p:spPr>
          <a:xfrm>
            <a:off x="9890125" y="8641176"/>
            <a:ext cx="3702111" cy="740422"/>
          </a:xfrm>
          <a:custGeom>
            <a:avLst/>
            <a:gdLst/>
            <a:ahLst/>
            <a:cxnLst/>
            <a:rect l="l" t="t" r="r" b="b"/>
            <a:pathLst>
              <a:path w="3702111" h="740422">
                <a:moveTo>
                  <a:pt x="0" y="0"/>
                </a:moveTo>
                <a:lnTo>
                  <a:pt x="3702111" y="0"/>
                </a:lnTo>
                <a:lnTo>
                  <a:pt x="3702111" y="740423"/>
                </a:lnTo>
                <a:lnTo>
                  <a:pt x="0" y="74042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6444080" y="2983512"/>
            <a:ext cx="8557004" cy="6875087"/>
          </a:xfrm>
          <a:prstGeom prst="rect">
            <a:avLst/>
          </a:prstGeom>
        </p:spPr>
        <p:txBody>
          <a:bodyPr lIns="0" tIns="0" rIns="0" bIns="0" rtlCol="0" anchor="t">
            <a:spAutoFit/>
          </a:bodyPr>
          <a:lstStyle/>
          <a:p>
            <a:pPr>
              <a:lnSpc>
                <a:spcPts val="4477"/>
              </a:lnSpc>
            </a:pPr>
            <a:r>
              <a:rPr lang="en-US" sz="3200" spc="317">
                <a:solidFill>
                  <a:srgbClr val="231F20"/>
                </a:solidFill>
                <a:latin typeface="Open Sauce"/>
              </a:rPr>
              <a:t>“Discovery &amp; Career Planning (DCP) combines elements of traditional prevocational services with career planning in order to provide supports that the participant may use to develop skills and interests toward becoming employed for the first time or at different stages of the participant’s work career to develop </a:t>
            </a:r>
            <a:r>
              <a:rPr lang="en-US" sz="3200" spc="317">
                <a:solidFill>
                  <a:srgbClr val="231F20"/>
                </a:solidFill>
                <a:latin typeface="Open Sauce Bold"/>
              </a:rPr>
              <a:t>skills and interests</a:t>
            </a:r>
            <a:r>
              <a:rPr lang="en-US" sz="3200" spc="317">
                <a:solidFill>
                  <a:srgbClr val="231F20"/>
                </a:solidFill>
                <a:latin typeface="Open Sauce"/>
              </a:rPr>
              <a:t> for advancement or a change in the participant’s </a:t>
            </a:r>
            <a:r>
              <a:rPr lang="en-US" sz="3200" spc="317">
                <a:solidFill>
                  <a:srgbClr val="231F20"/>
                </a:solidFill>
                <a:latin typeface="Open Sauce Bold"/>
              </a:rPr>
              <a:t>career plan</a:t>
            </a:r>
            <a:r>
              <a:rPr lang="en-US" sz="3200" spc="317" dirty="0">
                <a:solidFill>
                  <a:srgbClr val="231F20"/>
                </a:solidFill>
                <a:latin typeface="Open Sauce Bold"/>
              </a:rPr>
              <a:t>.</a:t>
            </a:r>
            <a:r>
              <a:rPr lang="en-US" sz="3200" spc="317" dirty="0">
                <a:solidFill>
                  <a:srgbClr val="231F20"/>
                </a:solidFill>
                <a:latin typeface="Open Sauce"/>
              </a:rPr>
              <a:t>”</a:t>
            </a:r>
          </a:p>
        </p:txBody>
      </p:sp>
      <p:sp>
        <p:nvSpPr>
          <p:cNvPr id="9" name="TextBox 9"/>
          <p:cNvSpPr txBox="1"/>
          <p:nvPr/>
        </p:nvSpPr>
        <p:spPr>
          <a:xfrm>
            <a:off x="6288272" y="1888815"/>
            <a:ext cx="6714150" cy="957087"/>
          </a:xfrm>
          <a:prstGeom prst="rect">
            <a:avLst/>
          </a:prstGeom>
        </p:spPr>
        <p:txBody>
          <a:bodyPr lIns="0" tIns="0" rIns="0" bIns="0" rtlCol="0" anchor="t">
            <a:spAutoFit/>
          </a:bodyPr>
          <a:lstStyle/>
          <a:p>
            <a:pPr>
              <a:lnSpc>
                <a:spcPts val="6405"/>
              </a:lnSpc>
            </a:pPr>
            <a:r>
              <a:rPr lang="en-US" sz="6470" spc="226">
                <a:solidFill>
                  <a:srgbClr val="040506"/>
                </a:solidFill>
                <a:latin typeface="Codec Pro ExtraBold"/>
              </a:rPr>
              <a:t>Service Manual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9551719" cy="5372843"/>
            <a:chOff x="0" y="0"/>
            <a:chExt cx="6089457" cy="3425320"/>
          </a:xfrm>
        </p:grpSpPr>
        <p:sp>
          <p:nvSpPr>
            <p:cNvPr id="3" name="Freeform 3"/>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solidFill>
              <a:srgbClr val="F9D549"/>
            </a:solidFill>
          </p:spPr>
        </p:sp>
        <p:sp>
          <p:nvSpPr>
            <p:cNvPr id="4" name="Freeform 4"/>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blipFill>
              <a:blip r:embed="rId2"/>
              <a:stretch>
                <a:fillRect t="-83416" b="-83416"/>
              </a:stretch>
            </a:blipFill>
          </p:spPr>
        </p:sp>
      </p:grpSp>
      <p:grpSp>
        <p:nvGrpSpPr>
          <p:cNvPr id="5" name="Group 5"/>
          <p:cNvGrpSpPr/>
          <p:nvPr/>
        </p:nvGrpSpPr>
        <p:grpSpPr>
          <a:xfrm rot="-1660488">
            <a:off x="-4233206" y="5189176"/>
            <a:ext cx="8282376" cy="404757"/>
            <a:chOff x="0" y="0"/>
            <a:chExt cx="2181367" cy="106603"/>
          </a:xfrm>
        </p:grpSpPr>
        <p:sp>
          <p:nvSpPr>
            <p:cNvPr id="6" name="Freeform 6"/>
            <p:cNvSpPr/>
            <p:nvPr/>
          </p:nvSpPr>
          <p:spPr>
            <a:xfrm>
              <a:off x="0" y="0"/>
              <a:ext cx="2181366" cy="106603"/>
            </a:xfrm>
            <a:custGeom>
              <a:avLst/>
              <a:gdLst/>
              <a:ahLst/>
              <a:cxnLst/>
              <a:rect l="l" t="t" r="r" b="b"/>
              <a:pathLst>
                <a:path w="2181366" h="106603">
                  <a:moveTo>
                    <a:pt x="0" y="0"/>
                  </a:moveTo>
                  <a:lnTo>
                    <a:pt x="2181366" y="0"/>
                  </a:lnTo>
                  <a:lnTo>
                    <a:pt x="2181366" y="106603"/>
                  </a:lnTo>
                  <a:lnTo>
                    <a:pt x="0" y="106603"/>
                  </a:lnTo>
                  <a:close/>
                </a:path>
              </a:pathLst>
            </a:custGeom>
            <a:solidFill>
              <a:srgbClr val="0C629F"/>
            </a:solidFill>
          </p:spPr>
        </p:sp>
        <p:sp>
          <p:nvSpPr>
            <p:cNvPr id="7" name="TextBox 7"/>
            <p:cNvSpPr txBox="1"/>
            <p:nvPr/>
          </p:nvSpPr>
          <p:spPr>
            <a:xfrm>
              <a:off x="0" y="-19050"/>
              <a:ext cx="2181367" cy="125653"/>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rot="-1747322">
            <a:off x="3921959" y="1003562"/>
            <a:ext cx="8282376" cy="111180"/>
            <a:chOff x="0" y="0"/>
            <a:chExt cx="2181367" cy="29282"/>
          </a:xfrm>
        </p:grpSpPr>
        <p:sp>
          <p:nvSpPr>
            <p:cNvPr id="9" name="Freeform 9"/>
            <p:cNvSpPr/>
            <p:nvPr/>
          </p:nvSpPr>
          <p:spPr>
            <a:xfrm>
              <a:off x="0" y="0"/>
              <a:ext cx="2181366" cy="29282"/>
            </a:xfrm>
            <a:custGeom>
              <a:avLst/>
              <a:gdLst/>
              <a:ahLst/>
              <a:cxnLst/>
              <a:rect l="l" t="t" r="r" b="b"/>
              <a:pathLst>
                <a:path w="2181366" h="29282">
                  <a:moveTo>
                    <a:pt x="0" y="0"/>
                  </a:moveTo>
                  <a:lnTo>
                    <a:pt x="2181366" y="0"/>
                  </a:lnTo>
                  <a:lnTo>
                    <a:pt x="2181366" y="29282"/>
                  </a:lnTo>
                  <a:lnTo>
                    <a:pt x="0" y="29282"/>
                  </a:lnTo>
                  <a:close/>
                </a:path>
              </a:pathLst>
            </a:custGeom>
            <a:solidFill>
              <a:srgbClr val="0C629F"/>
            </a:solidFill>
          </p:spPr>
        </p:sp>
        <p:sp>
          <p:nvSpPr>
            <p:cNvPr id="10" name="TextBox 10"/>
            <p:cNvSpPr txBox="1"/>
            <p:nvPr/>
          </p:nvSpPr>
          <p:spPr>
            <a:xfrm>
              <a:off x="0" y="-19050"/>
              <a:ext cx="2181367" cy="48332"/>
            </a:xfrm>
            <a:prstGeom prst="rect">
              <a:avLst/>
            </a:prstGeom>
          </p:spPr>
          <p:txBody>
            <a:bodyPr lIns="50800" tIns="50800" rIns="50800" bIns="50800" rtlCol="0" anchor="ctr"/>
            <a:lstStyle/>
            <a:p>
              <a:pPr algn="ctr">
                <a:lnSpc>
                  <a:spcPts val="2859"/>
                </a:lnSpc>
              </a:pPr>
              <a:endParaRPr/>
            </a:p>
          </p:txBody>
        </p:sp>
      </p:grpSp>
      <p:sp>
        <p:nvSpPr>
          <p:cNvPr id="11" name="Freeform 11"/>
          <p:cNvSpPr/>
          <p:nvPr/>
        </p:nvSpPr>
        <p:spPr>
          <a:xfrm>
            <a:off x="8675865" y="5794043"/>
            <a:ext cx="1029692" cy="892261"/>
          </a:xfrm>
          <a:custGeom>
            <a:avLst/>
            <a:gdLst/>
            <a:ahLst/>
            <a:cxnLst/>
            <a:rect l="l" t="t" r="r" b="b"/>
            <a:pathLst>
              <a:path w="1029692" h="892261">
                <a:moveTo>
                  <a:pt x="0" y="0"/>
                </a:moveTo>
                <a:lnTo>
                  <a:pt x="1029692" y="0"/>
                </a:lnTo>
                <a:lnTo>
                  <a:pt x="1029692" y="892261"/>
                </a:lnTo>
                <a:lnTo>
                  <a:pt x="0" y="892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7007481" y="7667300"/>
            <a:ext cx="724731" cy="1065909"/>
          </a:xfrm>
          <a:custGeom>
            <a:avLst/>
            <a:gdLst/>
            <a:ahLst/>
            <a:cxnLst/>
            <a:rect l="l" t="t" r="r" b="b"/>
            <a:pathLst>
              <a:path w="724731" h="1065909">
                <a:moveTo>
                  <a:pt x="0" y="0"/>
                </a:moveTo>
                <a:lnTo>
                  <a:pt x="724731" y="0"/>
                </a:lnTo>
                <a:lnTo>
                  <a:pt x="724731" y="1065908"/>
                </a:lnTo>
                <a:lnTo>
                  <a:pt x="0" y="10659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TextBox 13"/>
          <p:cNvSpPr txBox="1"/>
          <p:nvPr/>
        </p:nvSpPr>
        <p:spPr>
          <a:xfrm>
            <a:off x="10692930" y="613899"/>
            <a:ext cx="6567499" cy="1551793"/>
          </a:xfrm>
          <a:prstGeom prst="rect">
            <a:avLst/>
          </a:prstGeom>
        </p:spPr>
        <p:txBody>
          <a:bodyPr lIns="0" tIns="0" rIns="0" bIns="0" rtlCol="0" anchor="t">
            <a:spAutoFit/>
          </a:bodyPr>
          <a:lstStyle/>
          <a:p>
            <a:pPr>
              <a:lnSpc>
                <a:spcPts val="5628"/>
              </a:lnSpc>
            </a:pPr>
            <a:r>
              <a:rPr lang="en-US" sz="5684" spc="198">
                <a:solidFill>
                  <a:srgbClr val="040506"/>
                </a:solidFill>
                <a:latin typeface="Codec Pro ExtraBold"/>
              </a:rPr>
              <a:t>30-Day Placement Plan</a:t>
            </a:r>
          </a:p>
        </p:txBody>
      </p:sp>
      <p:sp>
        <p:nvSpPr>
          <p:cNvPr id="14" name="TextBox 14"/>
          <p:cNvSpPr txBox="1"/>
          <p:nvPr/>
        </p:nvSpPr>
        <p:spPr>
          <a:xfrm>
            <a:off x="4418413" y="3382326"/>
            <a:ext cx="12985488" cy="6365115"/>
          </a:xfrm>
          <a:prstGeom prst="rect">
            <a:avLst/>
          </a:prstGeom>
        </p:spPr>
        <p:txBody>
          <a:bodyPr lIns="0" tIns="0" rIns="0" bIns="0" rtlCol="0" anchor="t">
            <a:spAutoFit/>
          </a:bodyPr>
          <a:lstStyle/>
          <a:p>
            <a:pPr>
              <a:lnSpc>
                <a:spcPts val="5029"/>
              </a:lnSpc>
            </a:pPr>
            <a:r>
              <a:rPr lang="en-US" sz="3644" spc="357">
                <a:solidFill>
                  <a:srgbClr val="231F20"/>
                </a:solidFill>
                <a:latin typeface="Open Sauce"/>
              </a:rPr>
              <a:t>A 30-Day Placement Plan is a month-long plan geared towards finding a job. It includes tasks to be accomplished that month, due dates for each task, and the names of people who are responsible for completing those tasks. Every 30 days the plan is updated. The job seeker, their employment specialist, and others in their support network (including family, friends, and employment professionals) can all be involved in writing and implementing the plan.</a:t>
            </a:r>
          </a:p>
        </p:txBody>
      </p:sp>
      <p:sp>
        <p:nvSpPr>
          <p:cNvPr id="15" name="Freeform 15"/>
          <p:cNvSpPr/>
          <p:nvPr/>
        </p:nvSpPr>
        <p:spPr>
          <a:xfrm>
            <a:off x="16879605" y="9360589"/>
            <a:ext cx="2590875" cy="1417915"/>
          </a:xfrm>
          <a:custGeom>
            <a:avLst/>
            <a:gdLst/>
            <a:ahLst/>
            <a:cxnLst/>
            <a:rect l="l" t="t" r="r" b="b"/>
            <a:pathLst>
              <a:path w="2590875" h="1417915">
                <a:moveTo>
                  <a:pt x="0" y="0"/>
                </a:moveTo>
                <a:lnTo>
                  <a:pt x="2590875" y="0"/>
                </a:lnTo>
                <a:lnTo>
                  <a:pt x="2590875" y="1417915"/>
                </a:lnTo>
                <a:lnTo>
                  <a:pt x="0" y="141791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 name="Freeform 16"/>
          <p:cNvSpPr/>
          <p:nvPr/>
        </p:nvSpPr>
        <p:spPr>
          <a:xfrm>
            <a:off x="779698" y="6974662"/>
            <a:ext cx="2889706" cy="2889706"/>
          </a:xfrm>
          <a:custGeom>
            <a:avLst/>
            <a:gdLst/>
            <a:ahLst/>
            <a:cxnLst/>
            <a:rect l="l" t="t" r="r" b="b"/>
            <a:pathLst>
              <a:path w="2889706" h="2889706">
                <a:moveTo>
                  <a:pt x="0" y="0"/>
                </a:moveTo>
                <a:lnTo>
                  <a:pt x="2889707" y="0"/>
                </a:lnTo>
                <a:lnTo>
                  <a:pt x="2889707" y="2889706"/>
                </a:lnTo>
                <a:lnTo>
                  <a:pt x="0" y="288970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7" name="Freeform 17"/>
          <p:cNvSpPr/>
          <p:nvPr/>
        </p:nvSpPr>
        <p:spPr>
          <a:xfrm>
            <a:off x="972197" y="7308621"/>
            <a:ext cx="2504710" cy="2247977"/>
          </a:xfrm>
          <a:custGeom>
            <a:avLst/>
            <a:gdLst/>
            <a:ahLst/>
            <a:cxnLst/>
            <a:rect l="l" t="t" r="r" b="b"/>
            <a:pathLst>
              <a:path w="2504710" h="2247977">
                <a:moveTo>
                  <a:pt x="0" y="0"/>
                </a:moveTo>
                <a:lnTo>
                  <a:pt x="2504709" y="0"/>
                </a:lnTo>
                <a:lnTo>
                  <a:pt x="2504709" y="2247977"/>
                </a:lnTo>
                <a:lnTo>
                  <a:pt x="0" y="224797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8" name="TextBox 18"/>
          <p:cNvSpPr txBox="1"/>
          <p:nvPr/>
        </p:nvSpPr>
        <p:spPr>
          <a:xfrm>
            <a:off x="1292244" y="8820972"/>
            <a:ext cx="1864614" cy="510908"/>
          </a:xfrm>
          <a:prstGeom prst="rect">
            <a:avLst/>
          </a:prstGeom>
        </p:spPr>
        <p:txBody>
          <a:bodyPr lIns="0" tIns="0" rIns="0" bIns="0" rtlCol="0" anchor="t">
            <a:spAutoFit/>
          </a:bodyPr>
          <a:lstStyle/>
          <a:p>
            <a:pPr algn="ctr">
              <a:lnSpc>
                <a:spcPts val="1950"/>
              </a:lnSpc>
            </a:pPr>
            <a:r>
              <a:rPr lang="en-US" sz="1393" u="sng">
                <a:solidFill>
                  <a:srgbClr val="000000"/>
                </a:solidFill>
                <a:latin typeface="Myriad Pro"/>
                <a:hlinkClick r:id="rId13" tooltip="https://scholarworks.umb.edu/cgi/viewcontent.cgi?referer=&amp;httpsredir=1&amp;article=1007&amp;context=ici_institutebrief"/>
              </a:rPr>
              <a:t>30-Day Placement Plan</a:t>
            </a:r>
          </a:p>
          <a:p>
            <a:pPr algn="ctr">
              <a:lnSpc>
                <a:spcPts val="1950"/>
              </a:lnSpc>
            </a:pPr>
            <a:r>
              <a:rPr lang="en-US" sz="1393" u="sng">
                <a:solidFill>
                  <a:srgbClr val="000000"/>
                </a:solidFill>
                <a:latin typeface="Myriad Pro"/>
              </a:rPr>
              <a:t>Brief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9551719" cy="5372843"/>
            <a:chOff x="0" y="0"/>
            <a:chExt cx="6089457" cy="3425320"/>
          </a:xfrm>
        </p:grpSpPr>
        <p:sp>
          <p:nvSpPr>
            <p:cNvPr id="3" name="Freeform 3"/>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solidFill>
              <a:srgbClr val="F9D549"/>
            </a:solidFill>
          </p:spPr>
        </p:sp>
        <p:sp>
          <p:nvSpPr>
            <p:cNvPr id="4" name="Freeform 4"/>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blipFill>
              <a:blip r:embed="rId2"/>
              <a:stretch>
                <a:fillRect t="-83416" b="-83416"/>
              </a:stretch>
            </a:blipFill>
          </p:spPr>
        </p:sp>
      </p:grpSp>
      <p:grpSp>
        <p:nvGrpSpPr>
          <p:cNvPr id="5" name="Group 5"/>
          <p:cNvGrpSpPr/>
          <p:nvPr/>
        </p:nvGrpSpPr>
        <p:grpSpPr>
          <a:xfrm rot="-1660488">
            <a:off x="-4233206" y="5189176"/>
            <a:ext cx="8282376" cy="404757"/>
            <a:chOff x="0" y="0"/>
            <a:chExt cx="2181367" cy="106603"/>
          </a:xfrm>
        </p:grpSpPr>
        <p:sp>
          <p:nvSpPr>
            <p:cNvPr id="6" name="Freeform 6"/>
            <p:cNvSpPr/>
            <p:nvPr/>
          </p:nvSpPr>
          <p:spPr>
            <a:xfrm>
              <a:off x="0" y="0"/>
              <a:ext cx="2181366" cy="106603"/>
            </a:xfrm>
            <a:custGeom>
              <a:avLst/>
              <a:gdLst/>
              <a:ahLst/>
              <a:cxnLst/>
              <a:rect l="l" t="t" r="r" b="b"/>
              <a:pathLst>
                <a:path w="2181366" h="106603">
                  <a:moveTo>
                    <a:pt x="0" y="0"/>
                  </a:moveTo>
                  <a:lnTo>
                    <a:pt x="2181366" y="0"/>
                  </a:lnTo>
                  <a:lnTo>
                    <a:pt x="2181366" y="106603"/>
                  </a:lnTo>
                  <a:lnTo>
                    <a:pt x="0" y="106603"/>
                  </a:lnTo>
                  <a:close/>
                </a:path>
              </a:pathLst>
            </a:custGeom>
            <a:solidFill>
              <a:srgbClr val="0C629F"/>
            </a:solidFill>
          </p:spPr>
        </p:sp>
        <p:sp>
          <p:nvSpPr>
            <p:cNvPr id="7" name="TextBox 7"/>
            <p:cNvSpPr txBox="1"/>
            <p:nvPr/>
          </p:nvSpPr>
          <p:spPr>
            <a:xfrm>
              <a:off x="0" y="-19050"/>
              <a:ext cx="2181367" cy="125653"/>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rot="-1747322">
            <a:off x="3921959" y="1003562"/>
            <a:ext cx="8282376" cy="111180"/>
            <a:chOff x="0" y="0"/>
            <a:chExt cx="2181367" cy="29282"/>
          </a:xfrm>
        </p:grpSpPr>
        <p:sp>
          <p:nvSpPr>
            <p:cNvPr id="9" name="Freeform 9"/>
            <p:cNvSpPr/>
            <p:nvPr/>
          </p:nvSpPr>
          <p:spPr>
            <a:xfrm>
              <a:off x="0" y="0"/>
              <a:ext cx="2181366" cy="29282"/>
            </a:xfrm>
            <a:custGeom>
              <a:avLst/>
              <a:gdLst/>
              <a:ahLst/>
              <a:cxnLst/>
              <a:rect l="l" t="t" r="r" b="b"/>
              <a:pathLst>
                <a:path w="2181366" h="29282">
                  <a:moveTo>
                    <a:pt x="0" y="0"/>
                  </a:moveTo>
                  <a:lnTo>
                    <a:pt x="2181366" y="0"/>
                  </a:lnTo>
                  <a:lnTo>
                    <a:pt x="2181366" y="29282"/>
                  </a:lnTo>
                  <a:lnTo>
                    <a:pt x="0" y="29282"/>
                  </a:lnTo>
                  <a:close/>
                </a:path>
              </a:pathLst>
            </a:custGeom>
            <a:solidFill>
              <a:srgbClr val="0C629F"/>
            </a:solidFill>
          </p:spPr>
        </p:sp>
        <p:sp>
          <p:nvSpPr>
            <p:cNvPr id="10" name="TextBox 10"/>
            <p:cNvSpPr txBox="1"/>
            <p:nvPr/>
          </p:nvSpPr>
          <p:spPr>
            <a:xfrm>
              <a:off x="0" y="-19050"/>
              <a:ext cx="2181367" cy="48332"/>
            </a:xfrm>
            <a:prstGeom prst="rect">
              <a:avLst/>
            </a:prstGeom>
          </p:spPr>
          <p:txBody>
            <a:bodyPr lIns="50800" tIns="50800" rIns="50800" bIns="50800" rtlCol="0" anchor="ctr"/>
            <a:lstStyle/>
            <a:p>
              <a:pPr algn="ctr">
                <a:lnSpc>
                  <a:spcPts val="2859"/>
                </a:lnSpc>
              </a:pPr>
              <a:endParaRPr/>
            </a:p>
          </p:txBody>
        </p:sp>
      </p:grpSp>
      <p:sp>
        <p:nvSpPr>
          <p:cNvPr id="11" name="Freeform 11"/>
          <p:cNvSpPr/>
          <p:nvPr/>
        </p:nvSpPr>
        <p:spPr>
          <a:xfrm>
            <a:off x="8675865" y="5794043"/>
            <a:ext cx="1029692" cy="892261"/>
          </a:xfrm>
          <a:custGeom>
            <a:avLst/>
            <a:gdLst/>
            <a:ahLst/>
            <a:cxnLst/>
            <a:rect l="l" t="t" r="r" b="b"/>
            <a:pathLst>
              <a:path w="1029692" h="892261">
                <a:moveTo>
                  <a:pt x="0" y="0"/>
                </a:moveTo>
                <a:lnTo>
                  <a:pt x="1029692" y="0"/>
                </a:lnTo>
                <a:lnTo>
                  <a:pt x="1029692" y="892261"/>
                </a:lnTo>
                <a:lnTo>
                  <a:pt x="0" y="892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7007481" y="7667300"/>
            <a:ext cx="724731" cy="1065909"/>
          </a:xfrm>
          <a:custGeom>
            <a:avLst/>
            <a:gdLst/>
            <a:ahLst/>
            <a:cxnLst/>
            <a:rect l="l" t="t" r="r" b="b"/>
            <a:pathLst>
              <a:path w="724731" h="1065909">
                <a:moveTo>
                  <a:pt x="0" y="0"/>
                </a:moveTo>
                <a:lnTo>
                  <a:pt x="724731" y="0"/>
                </a:lnTo>
                <a:lnTo>
                  <a:pt x="724731" y="1065908"/>
                </a:lnTo>
                <a:lnTo>
                  <a:pt x="0" y="10659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TextBox 13"/>
          <p:cNvSpPr txBox="1"/>
          <p:nvPr/>
        </p:nvSpPr>
        <p:spPr>
          <a:xfrm>
            <a:off x="10692930" y="613899"/>
            <a:ext cx="6567499" cy="1551793"/>
          </a:xfrm>
          <a:prstGeom prst="rect">
            <a:avLst/>
          </a:prstGeom>
        </p:spPr>
        <p:txBody>
          <a:bodyPr lIns="0" tIns="0" rIns="0" bIns="0" rtlCol="0" anchor="t">
            <a:spAutoFit/>
          </a:bodyPr>
          <a:lstStyle/>
          <a:p>
            <a:pPr>
              <a:lnSpc>
                <a:spcPts val="5628"/>
              </a:lnSpc>
            </a:pPr>
            <a:r>
              <a:rPr lang="en-US" sz="5684" spc="198">
                <a:solidFill>
                  <a:srgbClr val="040506"/>
                </a:solidFill>
                <a:latin typeface="Codec Pro ExtraBold"/>
              </a:rPr>
              <a:t>30-Day Placement Plan</a:t>
            </a:r>
          </a:p>
        </p:txBody>
      </p:sp>
      <p:sp>
        <p:nvSpPr>
          <p:cNvPr id="14" name="TextBox 14"/>
          <p:cNvSpPr txBox="1"/>
          <p:nvPr/>
        </p:nvSpPr>
        <p:spPr>
          <a:xfrm>
            <a:off x="4418413" y="3372801"/>
            <a:ext cx="12985488" cy="5772660"/>
          </a:xfrm>
          <a:prstGeom prst="rect">
            <a:avLst/>
          </a:prstGeom>
        </p:spPr>
        <p:txBody>
          <a:bodyPr lIns="0" tIns="0" rIns="0" bIns="0" rtlCol="0" anchor="t">
            <a:spAutoFit/>
          </a:bodyPr>
          <a:lstStyle/>
          <a:p>
            <a:pPr marL="894764" lvl="1" indent="-447382">
              <a:lnSpc>
                <a:spcPts val="5719"/>
              </a:lnSpc>
              <a:buFont typeface="Arial"/>
              <a:buChar char="•"/>
            </a:pPr>
            <a:r>
              <a:rPr lang="en-US" sz="4144" spc="406">
                <a:solidFill>
                  <a:srgbClr val="231F20"/>
                </a:solidFill>
                <a:latin typeface="Open Sauce"/>
              </a:rPr>
              <a:t>Creates a sense of urgency.</a:t>
            </a:r>
          </a:p>
          <a:p>
            <a:pPr marL="894764" lvl="1" indent="-447382">
              <a:lnSpc>
                <a:spcPts val="5719"/>
              </a:lnSpc>
              <a:buFont typeface="Arial"/>
              <a:buChar char="•"/>
            </a:pPr>
            <a:r>
              <a:rPr lang="en-US" sz="4144" spc="406">
                <a:solidFill>
                  <a:srgbClr val="231F20"/>
                </a:solidFill>
                <a:latin typeface="Open Sauce"/>
              </a:rPr>
              <a:t>Keeps key members of the team engaged. </a:t>
            </a:r>
          </a:p>
          <a:p>
            <a:pPr marL="894764" lvl="1" indent="-447382">
              <a:lnSpc>
                <a:spcPts val="5719"/>
              </a:lnSpc>
              <a:buFont typeface="Arial"/>
              <a:buChar char="•"/>
            </a:pPr>
            <a:r>
              <a:rPr lang="en-US" sz="4144" spc="406">
                <a:solidFill>
                  <a:srgbClr val="231F20"/>
                </a:solidFill>
                <a:latin typeface="Open Sauce"/>
              </a:rPr>
              <a:t>Allows for short-term accountability.</a:t>
            </a:r>
          </a:p>
          <a:p>
            <a:pPr marL="894764" lvl="1" indent="-447382">
              <a:lnSpc>
                <a:spcPts val="5719"/>
              </a:lnSpc>
              <a:buFont typeface="Arial"/>
              <a:buChar char="•"/>
            </a:pPr>
            <a:r>
              <a:rPr lang="en-US" sz="4144" spc="406">
                <a:solidFill>
                  <a:srgbClr val="231F20"/>
                </a:solidFill>
                <a:latin typeface="Open Sauce"/>
              </a:rPr>
              <a:t>Makes space for natural supports to have monthly tasks</a:t>
            </a:r>
          </a:p>
          <a:p>
            <a:pPr marL="894764" lvl="1" indent="-447382">
              <a:lnSpc>
                <a:spcPts val="5719"/>
              </a:lnSpc>
              <a:buFont typeface="Arial"/>
              <a:buChar char="•"/>
            </a:pPr>
            <a:r>
              <a:rPr lang="en-US" sz="4144" spc="406">
                <a:solidFill>
                  <a:srgbClr val="231F20"/>
                </a:solidFill>
                <a:latin typeface="Open Sauce"/>
              </a:rPr>
              <a:t>Intended to be reviewed and updated by the support network monthly.</a:t>
            </a:r>
          </a:p>
        </p:txBody>
      </p:sp>
      <p:sp>
        <p:nvSpPr>
          <p:cNvPr id="15" name="Freeform 15"/>
          <p:cNvSpPr/>
          <p:nvPr/>
        </p:nvSpPr>
        <p:spPr>
          <a:xfrm>
            <a:off x="16879605" y="9360589"/>
            <a:ext cx="2590875" cy="1417915"/>
          </a:xfrm>
          <a:custGeom>
            <a:avLst/>
            <a:gdLst/>
            <a:ahLst/>
            <a:cxnLst/>
            <a:rect l="l" t="t" r="r" b="b"/>
            <a:pathLst>
              <a:path w="2590875" h="1417915">
                <a:moveTo>
                  <a:pt x="0" y="0"/>
                </a:moveTo>
                <a:lnTo>
                  <a:pt x="2590875" y="0"/>
                </a:lnTo>
                <a:lnTo>
                  <a:pt x="2590875" y="1417915"/>
                </a:lnTo>
                <a:lnTo>
                  <a:pt x="0" y="141791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 name="Freeform 16"/>
          <p:cNvSpPr/>
          <p:nvPr/>
        </p:nvSpPr>
        <p:spPr>
          <a:xfrm>
            <a:off x="779698" y="6974662"/>
            <a:ext cx="2889706" cy="2889706"/>
          </a:xfrm>
          <a:custGeom>
            <a:avLst/>
            <a:gdLst/>
            <a:ahLst/>
            <a:cxnLst/>
            <a:rect l="l" t="t" r="r" b="b"/>
            <a:pathLst>
              <a:path w="2889706" h="2889706">
                <a:moveTo>
                  <a:pt x="0" y="0"/>
                </a:moveTo>
                <a:lnTo>
                  <a:pt x="2889707" y="0"/>
                </a:lnTo>
                <a:lnTo>
                  <a:pt x="2889707" y="2889706"/>
                </a:lnTo>
                <a:lnTo>
                  <a:pt x="0" y="288970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7" name="Freeform 17"/>
          <p:cNvSpPr/>
          <p:nvPr/>
        </p:nvSpPr>
        <p:spPr>
          <a:xfrm>
            <a:off x="972197" y="7308621"/>
            <a:ext cx="2504710" cy="2247977"/>
          </a:xfrm>
          <a:custGeom>
            <a:avLst/>
            <a:gdLst/>
            <a:ahLst/>
            <a:cxnLst/>
            <a:rect l="l" t="t" r="r" b="b"/>
            <a:pathLst>
              <a:path w="2504710" h="2247977">
                <a:moveTo>
                  <a:pt x="0" y="0"/>
                </a:moveTo>
                <a:lnTo>
                  <a:pt x="2504709" y="0"/>
                </a:lnTo>
                <a:lnTo>
                  <a:pt x="2504709" y="2247977"/>
                </a:lnTo>
                <a:lnTo>
                  <a:pt x="0" y="224797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8" name="TextBox 18"/>
          <p:cNvSpPr txBox="1"/>
          <p:nvPr/>
        </p:nvSpPr>
        <p:spPr>
          <a:xfrm>
            <a:off x="1292244" y="8820972"/>
            <a:ext cx="1864614" cy="510908"/>
          </a:xfrm>
          <a:prstGeom prst="rect">
            <a:avLst/>
          </a:prstGeom>
        </p:spPr>
        <p:txBody>
          <a:bodyPr lIns="0" tIns="0" rIns="0" bIns="0" rtlCol="0" anchor="t">
            <a:spAutoFit/>
          </a:bodyPr>
          <a:lstStyle/>
          <a:p>
            <a:pPr algn="ctr">
              <a:lnSpc>
                <a:spcPts val="1950"/>
              </a:lnSpc>
            </a:pPr>
            <a:r>
              <a:rPr lang="en-US" sz="1393" u="sng">
                <a:solidFill>
                  <a:srgbClr val="000000"/>
                </a:solidFill>
                <a:latin typeface="Myriad Pro"/>
                <a:hlinkClick r:id="rId13" tooltip="https://scholarworks.umb.edu/cgi/viewcontent.cgi?referer=&amp;httpsredir=1&amp;article=1007&amp;context=ici_institutebrief"/>
              </a:rPr>
              <a:t>30-Day Placement Plan</a:t>
            </a:r>
          </a:p>
          <a:p>
            <a:pPr algn="ctr">
              <a:lnSpc>
                <a:spcPts val="1950"/>
              </a:lnSpc>
            </a:pPr>
            <a:r>
              <a:rPr lang="en-US" sz="1393" u="sng">
                <a:solidFill>
                  <a:srgbClr val="000000"/>
                </a:solidFill>
                <a:latin typeface="Myriad Pro"/>
              </a:rPr>
              <a:t>Brief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9551719" cy="5372843"/>
            <a:chOff x="0" y="0"/>
            <a:chExt cx="6089457" cy="3425320"/>
          </a:xfrm>
        </p:grpSpPr>
        <p:sp>
          <p:nvSpPr>
            <p:cNvPr id="3" name="Freeform 3"/>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solidFill>
              <a:srgbClr val="F9D549"/>
            </a:solidFill>
          </p:spPr>
        </p:sp>
        <p:sp>
          <p:nvSpPr>
            <p:cNvPr id="4" name="Freeform 4"/>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blipFill>
              <a:blip r:embed="rId2"/>
              <a:stretch>
                <a:fillRect t="-83416" b="-83416"/>
              </a:stretch>
            </a:blipFill>
          </p:spPr>
        </p:sp>
      </p:grpSp>
      <p:grpSp>
        <p:nvGrpSpPr>
          <p:cNvPr id="5" name="Group 5"/>
          <p:cNvGrpSpPr/>
          <p:nvPr/>
        </p:nvGrpSpPr>
        <p:grpSpPr>
          <a:xfrm rot="-1660488">
            <a:off x="-4233206" y="5189176"/>
            <a:ext cx="8282376" cy="404757"/>
            <a:chOff x="0" y="0"/>
            <a:chExt cx="2181367" cy="106603"/>
          </a:xfrm>
        </p:grpSpPr>
        <p:sp>
          <p:nvSpPr>
            <p:cNvPr id="6" name="Freeform 6"/>
            <p:cNvSpPr/>
            <p:nvPr/>
          </p:nvSpPr>
          <p:spPr>
            <a:xfrm>
              <a:off x="0" y="0"/>
              <a:ext cx="2181366" cy="106603"/>
            </a:xfrm>
            <a:custGeom>
              <a:avLst/>
              <a:gdLst/>
              <a:ahLst/>
              <a:cxnLst/>
              <a:rect l="l" t="t" r="r" b="b"/>
              <a:pathLst>
                <a:path w="2181366" h="106603">
                  <a:moveTo>
                    <a:pt x="0" y="0"/>
                  </a:moveTo>
                  <a:lnTo>
                    <a:pt x="2181366" y="0"/>
                  </a:lnTo>
                  <a:lnTo>
                    <a:pt x="2181366" y="106603"/>
                  </a:lnTo>
                  <a:lnTo>
                    <a:pt x="0" y="106603"/>
                  </a:lnTo>
                  <a:close/>
                </a:path>
              </a:pathLst>
            </a:custGeom>
            <a:solidFill>
              <a:srgbClr val="0C629F"/>
            </a:solidFill>
          </p:spPr>
        </p:sp>
        <p:sp>
          <p:nvSpPr>
            <p:cNvPr id="7" name="TextBox 7"/>
            <p:cNvSpPr txBox="1"/>
            <p:nvPr/>
          </p:nvSpPr>
          <p:spPr>
            <a:xfrm>
              <a:off x="0" y="-19050"/>
              <a:ext cx="2181367" cy="125653"/>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rot="-1747322">
            <a:off x="3921959" y="1003562"/>
            <a:ext cx="8282376" cy="111180"/>
            <a:chOff x="0" y="0"/>
            <a:chExt cx="2181367" cy="29282"/>
          </a:xfrm>
        </p:grpSpPr>
        <p:sp>
          <p:nvSpPr>
            <p:cNvPr id="9" name="Freeform 9"/>
            <p:cNvSpPr/>
            <p:nvPr/>
          </p:nvSpPr>
          <p:spPr>
            <a:xfrm>
              <a:off x="0" y="0"/>
              <a:ext cx="2181366" cy="29282"/>
            </a:xfrm>
            <a:custGeom>
              <a:avLst/>
              <a:gdLst/>
              <a:ahLst/>
              <a:cxnLst/>
              <a:rect l="l" t="t" r="r" b="b"/>
              <a:pathLst>
                <a:path w="2181366" h="29282">
                  <a:moveTo>
                    <a:pt x="0" y="0"/>
                  </a:moveTo>
                  <a:lnTo>
                    <a:pt x="2181366" y="0"/>
                  </a:lnTo>
                  <a:lnTo>
                    <a:pt x="2181366" y="29282"/>
                  </a:lnTo>
                  <a:lnTo>
                    <a:pt x="0" y="29282"/>
                  </a:lnTo>
                  <a:close/>
                </a:path>
              </a:pathLst>
            </a:custGeom>
            <a:solidFill>
              <a:srgbClr val="0C629F"/>
            </a:solidFill>
          </p:spPr>
        </p:sp>
        <p:sp>
          <p:nvSpPr>
            <p:cNvPr id="10" name="TextBox 10"/>
            <p:cNvSpPr txBox="1"/>
            <p:nvPr/>
          </p:nvSpPr>
          <p:spPr>
            <a:xfrm>
              <a:off x="0" y="-19050"/>
              <a:ext cx="2181367" cy="48332"/>
            </a:xfrm>
            <a:prstGeom prst="rect">
              <a:avLst/>
            </a:prstGeom>
          </p:spPr>
          <p:txBody>
            <a:bodyPr lIns="50800" tIns="50800" rIns="50800" bIns="50800" rtlCol="0" anchor="ctr"/>
            <a:lstStyle/>
            <a:p>
              <a:pPr algn="ctr">
                <a:lnSpc>
                  <a:spcPts val="2859"/>
                </a:lnSpc>
              </a:pPr>
              <a:endParaRPr/>
            </a:p>
          </p:txBody>
        </p:sp>
      </p:grpSp>
      <p:grpSp>
        <p:nvGrpSpPr>
          <p:cNvPr id="11" name="Group 11"/>
          <p:cNvGrpSpPr/>
          <p:nvPr/>
        </p:nvGrpSpPr>
        <p:grpSpPr>
          <a:xfrm>
            <a:off x="1616931" y="6686304"/>
            <a:ext cx="9652899" cy="3428579"/>
            <a:chOff x="0" y="0"/>
            <a:chExt cx="4074480" cy="1447200"/>
          </a:xfrm>
        </p:grpSpPr>
        <p:sp>
          <p:nvSpPr>
            <p:cNvPr id="12" name="Freeform 12"/>
            <p:cNvSpPr/>
            <p:nvPr/>
          </p:nvSpPr>
          <p:spPr>
            <a:xfrm>
              <a:off x="0" y="0"/>
              <a:ext cx="4074414" cy="1447165"/>
            </a:xfrm>
            <a:custGeom>
              <a:avLst/>
              <a:gdLst/>
              <a:ahLst/>
              <a:cxnLst/>
              <a:rect l="l" t="t" r="r" b="b"/>
              <a:pathLst>
                <a:path w="4074414" h="1447165">
                  <a:moveTo>
                    <a:pt x="3350387" y="0"/>
                  </a:moveTo>
                  <a:cubicBezTo>
                    <a:pt x="0" y="0"/>
                    <a:pt x="0" y="0"/>
                    <a:pt x="0" y="0"/>
                  </a:cubicBezTo>
                  <a:cubicBezTo>
                    <a:pt x="0" y="1447165"/>
                    <a:pt x="0" y="1447165"/>
                    <a:pt x="0" y="1447165"/>
                  </a:cubicBezTo>
                  <a:cubicBezTo>
                    <a:pt x="3350387" y="1447165"/>
                    <a:pt x="3350387" y="1447165"/>
                    <a:pt x="3350387" y="1447165"/>
                  </a:cubicBezTo>
                  <a:cubicBezTo>
                    <a:pt x="3749294" y="1447165"/>
                    <a:pt x="4074414" y="1122172"/>
                    <a:pt x="4074414" y="723519"/>
                  </a:cubicBezTo>
                  <a:cubicBezTo>
                    <a:pt x="4074414" y="324866"/>
                    <a:pt x="3749294" y="0"/>
                    <a:pt x="3350387" y="0"/>
                  </a:cubicBezTo>
                  <a:close/>
                </a:path>
              </a:pathLst>
            </a:custGeom>
            <a:solidFill>
              <a:srgbClr val="F2F2F2"/>
            </a:solidFill>
          </p:spPr>
        </p:sp>
      </p:grpSp>
      <p:grpSp>
        <p:nvGrpSpPr>
          <p:cNvPr id="13" name="Group 13"/>
          <p:cNvGrpSpPr/>
          <p:nvPr/>
        </p:nvGrpSpPr>
        <p:grpSpPr>
          <a:xfrm>
            <a:off x="1616931" y="6992530"/>
            <a:ext cx="2263391" cy="2265770"/>
            <a:chOff x="0" y="0"/>
            <a:chExt cx="2054880" cy="2057040"/>
          </a:xfrm>
        </p:grpSpPr>
        <p:sp>
          <p:nvSpPr>
            <p:cNvPr id="14" name="Freeform 14"/>
            <p:cNvSpPr/>
            <p:nvPr/>
          </p:nvSpPr>
          <p:spPr>
            <a:xfrm>
              <a:off x="0" y="0"/>
              <a:ext cx="2054860" cy="2057146"/>
            </a:xfrm>
            <a:custGeom>
              <a:avLst/>
              <a:gdLst/>
              <a:ahLst/>
              <a:cxnLst/>
              <a:rect l="l" t="t" r="r" b="b"/>
              <a:pathLst>
                <a:path w="2054860" h="2057146">
                  <a:moveTo>
                    <a:pt x="0" y="1028573"/>
                  </a:moveTo>
                  <a:cubicBezTo>
                    <a:pt x="0" y="460502"/>
                    <a:pt x="459994" y="0"/>
                    <a:pt x="1027430" y="0"/>
                  </a:cubicBezTo>
                  <a:cubicBezTo>
                    <a:pt x="1594866" y="0"/>
                    <a:pt x="2054860" y="460502"/>
                    <a:pt x="2054860" y="1028573"/>
                  </a:cubicBezTo>
                  <a:cubicBezTo>
                    <a:pt x="2054860" y="1596644"/>
                    <a:pt x="1594866" y="2057146"/>
                    <a:pt x="1027430" y="2057146"/>
                  </a:cubicBezTo>
                  <a:cubicBezTo>
                    <a:pt x="459994" y="2057146"/>
                    <a:pt x="0" y="1596517"/>
                    <a:pt x="0" y="1028573"/>
                  </a:cubicBezTo>
                  <a:close/>
                </a:path>
              </a:pathLst>
            </a:custGeom>
            <a:solidFill>
              <a:srgbClr val="0C629F"/>
            </a:solidFill>
          </p:spPr>
        </p:sp>
      </p:grpSp>
      <p:sp>
        <p:nvSpPr>
          <p:cNvPr id="15" name="TextBox 15"/>
          <p:cNvSpPr txBox="1"/>
          <p:nvPr/>
        </p:nvSpPr>
        <p:spPr>
          <a:xfrm>
            <a:off x="4612521" y="7217587"/>
            <a:ext cx="5877513" cy="851537"/>
          </a:xfrm>
          <a:prstGeom prst="rect">
            <a:avLst/>
          </a:prstGeom>
        </p:spPr>
        <p:txBody>
          <a:bodyPr lIns="0" tIns="0" rIns="0" bIns="0" rtlCol="0" anchor="t">
            <a:spAutoFit/>
          </a:bodyPr>
          <a:lstStyle/>
          <a:p>
            <a:pPr>
              <a:lnSpc>
                <a:spcPts val="6949"/>
              </a:lnSpc>
            </a:pPr>
            <a:r>
              <a:rPr lang="en-US" sz="5036" spc="493">
                <a:solidFill>
                  <a:srgbClr val="231F20"/>
                </a:solidFill>
                <a:latin typeface="Open Sauce Bold"/>
              </a:rPr>
              <a:t>Identify Tasks</a:t>
            </a:r>
          </a:p>
        </p:txBody>
      </p:sp>
      <p:sp>
        <p:nvSpPr>
          <p:cNvPr id="16" name="Freeform 16"/>
          <p:cNvSpPr/>
          <p:nvPr/>
        </p:nvSpPr>
        <p:spPr>
          <a:xfrm>
            <a:off x="8675865" y="5794043"/>
            <a:ext cx="1029692" cy="892261"/>
          </a:xfrm>
          <a:custGeom>
            <a:avLst/>
            <a:gdLst/>
            <a:ahLst/>
            <a:cxnLst/>
            <a:rect l="l" t="t" r="r" b="b"/>
            <a:pathLst>
              <a:path w="1029692" h="892261">
                <a:moveTo>
                  <a:pt x="0" y="0"/>
                </a:moveTo>
                <a:lnTo>
                  <a:pt x="1029692" y="0"/>
                </a:lnTo>
                <a:lnTo>
                  <a:pt x="1029692" y="892261"/>
                </a:lnTo>
                <a:lnTo>
                  <a:pt x="0" y="892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a:off x="2386261" y="7592461"/>
            <a:ext cx="724731" cy="1065909"/>
          </a:xfrm>
          <a:custGeom>
            <a:avLst/>
            <a:gdLst/>
            <a:ahLst/>
            <a:cxnLst/>
            <a:rect l="l" t="t" r="r" b="b"/>
            <a:pathLst>
              <a:path w="724731" h="1065909">
                <a:moveTo>
                  <a:pt x="0" y="0"/>
                </a:moveTo>
                <a:lnTo>
                  <a:pt x="724731" y="0"/>
                </a:lnTo>
                <a:lnTo>
                  <a:pt x="724731" y="1065908"/>
                </a:lnTo>
                <a:lnTo>
                  <a:pt x="0" y="10659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nvSpPr>
        <p:spPr>
          <a:xfrm>
            <a:off x="4612521" y="8169747"/>
            <a:ext cx="6370741" cy="1328127"/>
          </a:xfrm>
          <a:prstGeom prst="rect">
            <a:avLst/>
          </a:prstGeom>
        </p:spPr>
        <p:txBody>
          <a:bodyPr lIns="0" tIns="0" rIns="0" bIns="0" rtlCol="0" anchor="t">
            <a:spAutoFit/>
          </a:bodyPr>
          <a:lstStyle/>
          <a:p>
            <a:pPr>
              <a:lnSpc>
                <a:spcPts val="5474"/>
              </a:lnSpc>
            </a:pPr>
            <a:r>
              <a:rPr lang="en-US" sz="3967" spc="388">
                <a:solidFill>
                  <a:srgbClr val="231F20"/>
                </a:solidFill>
                <a:latin typeface="Open Sauce"/>
              </a:rPr>
              <a:t>List the tasks to be completed.</a:t>
            </a:r>
          </a:p>
        </p:txBody>
      </p:sp>
      <p:sp>
        <p:nvSpPr>
          <p:cNvPr id="19" name="Freeform 19"/>
          <p:cNvSpPr/>
          <p:nvPr/>
        </p:nvSpPr>
        <p:spPr>
          <a:xfrm>
            <a:off x="16384715" y="9009597"/>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Freeform 20"/>
          <p:cNvSpPr/>
          <p:nvPr/>
        </p:nvSpPr>
        <p:spPr>
          <a:xfrm>
            <a:off x="14674292" y="7161507"/>
            <a:ext cx="2889706" cy="2889706"/>
          </a:xfrm>
          <a:custGeom>
            <a:avLst/>
            <a:gdLst/>
            <a:ahLst/>
            <a:cxnLst/>
            <a:rect l="l" t="t" r="r" b="b"/>
            <a:pathLst>
              <a:path w="2889706" h="2889706">
                <a:moveTo>
                  <a:pt x="0" y="0"/>
                </a:moveTo>
                <a:lnTo>
                  <a:pt x="2889706" y="0"/>
                </a:lnTo>
                <a:lnTo>
                  <a:pt x="2889706" y="2889706"/>
                </a:lnTo>
                <a:lnTo>
                  <a:pt x="0" y="288970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1" name="Freeform 21"/>
          <p:cNvSpPr/>
          <p:nvPr/>
        </p:nvSpPr>
        <p:spPr>
          <a:xfrm>
            <a:off x="14866790" y="7495467"/>
            <a:ext cx="2504710" cy="2247977"/>
          </a:xfrm>
          <a:custGeom>
            <a:avLst/>
            <a:gdLst/>
            <a:ahLst/>
            <a:cxnLst/>
            <a:rect l="l" t="t" r="r" b="b"/>
            <a:pathLst>
              <a:path w="2504710" h="2247977">
                <a:moveTo>
                  <a:pt x="0" y="0"/>
                </a:moveTo>
                <a:lnTo>
                  <a:pt x="2504710" y="0"/>
                </a:lnTo>
                <a:lnTo>
                  <a:pt x="2504710" y="2247977"/>
                </a:lnTo>
                <a:lnTo>
                  <a:pt x="0" y="224797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2" name="TextBox 22"/>
          <p:cNvSpPr txBox="1"/>
          <p:nvPr/>
        </p:nvSpPr>
        <p:spPr>
          <a:xfrm>
            <a:off x="15186838" y="9007818"/>
            <a:ext cx="1864614" cy="510908"/>
          </a:xfrm>
          <a:prstGeom prst="rect">
            <a:avLst/>
          </a:prstGeom>
        </p:spPr>
        <p:txBody>
          <a:bodyPr lIns="0" tIns="0" rIns="0" bIns="0" rtlCol="0" anchor="t">
            <a:spAutoFit/>
          </a:bodyPr>
          <a:lstStyle/>
          <a:p>
            <a:pPr algn="ctr">
              <a:lnSpc>
                <a:spcPts val="1950"/>
              </a:lnSpc>
            </a:pPr>
            <a:r>
              <a:rPr lang="en-US" sz="1393" u="sng">
                <a:solidFill>
                  <a:srgbClr val="000000"/>
                </a:solidFill>
                <a:latin typeface="Myriad Pro"/>
                <a:hlinkClick r:id="rId13" tooltip="https://scholarworks.umb.edu/cgi/viewcontent.cgi?referer=&amp;httpsredir=1&amp;article=1007&amp;context=ici_institutebrief"/>
              </a:rPr>
              <a:t>30-Day Placement Plan</a:t>
            </a:r>
          </a:p>
          <a:p>
            <a:pPr algn="ctr">
              <a:lnSpc>
                <a:spcPts val="1950"/>
              </a:lnSpc>
            </a:pPr>
            <a:r>
              <a:rPr lang="en-US" sz="1393" u="sng">
                <a:solidFill>
                  <a:srgbClr val="000000"/>
                </a:solidFill>
                <a:latin typeface="Myriad Pro"/>
              </a:rPr>
              <a:t>Brief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9551719" cy="5372843"/>
            <a:chOff x="0" y="0"/>
            <a:chExt cx="6089457" cy="3425320"/>
          </a:xfrm>
        </p:grpSpPr>
        <p:sp>
          <p:nvSpPr>
            <p:cNvPr id="3" name="Freeform 3"/>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solidFill>
              <a:srgbClr val="F9D549"/>
            </a:solidFill>
          </p:spPr>
        </p:sp>
        <p:sp>
          <p:nvSpPr>
            <p:cNvPr id="4" name="Freeform 4"/>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blipFill>
              <a:blip r:embed="rId2"/>
              <a:stretch>
                <a:fillRect t="-83416" b="-83416"/>
              </a:stretch>
            </a:blipFill>
          </p:spPr>
        </p:sp>
      </p:grpSp>
      <p:grpSp>
        <p:nvGrpSpPr>
          <p:cNvPr id="5" name="Group 5"/>
          <p:cNvGrpSpPr/>
          <p:nvPr/>
        </p:nvGrpSpPr>
        <p:grpSpPr>
          <a:xfrm rot="-1660488">
            <a:off x="-4233206" y="5189176"/>
            <a:ext cx="8282376" cy="404757"/>
            <a:chOff x="0" y="0"/>
            <a:chExt cx="2181367" cy="106603"/>
          </a:xfrm>
        </p:grpSpPr>
        <p:sp>
          <p:nvSpPr>
            <p:cNvPr id="6" name="Freeform 6"/>
            <p:cNvSpPr/>
            <p:nvPr/>
          </p:nvSpPr>
          <p:spPr>
            <a:xfrm>
              <a:off x="0" y="0"/>
              <a:ext cx="2181366" cy="106603"/>
            </a:xfrm>
            <a:custGeom>
              <a:avLst/>
              <a:gdLst/>
              <a:ahLst/>
              <a:cxnLst/>
              <a:rect l="l" t="t" r="r" b="b"/>
              <a:pathLst>
                <a:path w="2181366" h="106603">
                  <a:moveTo>
                    <a:pt x="0" y="0"/>
                  </a:moveTo>
                  <a:lnTo>
                    <a:pt x="2181366" y="0"/>
                  </a:lnTo>
                  <a:lnTo>
                    <a:pt x="2181366" y="106603"/>
                  </a:lnTo>
                  <a:lnTo>
                    <a:pt x="0" y="106603"/>
                  </a:lnTo>
                  <a:close/>
                </a:path>
              </a:pathLst>
            </a:custGeom>
            <a:solidFill>
              <a:srgbClr val="0C629F"/>
            </a:solidFill>
          </p:spPr>
        </p:sp>
        <p:sp>
          <p:nvSpPr>
            <p:cNvPr id="7" name="TextBox 7"/>
            <p:cNvSpPr txBox="1"/>
            <p:nvPr/>
          </p:nvSpPr>
          <p:spPr>
            <a:xfrm>
              <a:off x="0" y="-19050"/>
              <a:ext cx="2181367" cy="125653"/>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rot="-1747322">
            <a:off x="3921959" y="1003562"/>
            <a:ext cx="8282376" cy="111180"/>
            <a:chOff x="0" y="0"/>
            <a:chExt cx="2181367" cy="29282"/>
          </a:xfrm>
        </p:grpSpPr>
        <p:sp>
          <p:nvSpPr>
            <p:cNvPr id="9" name="Freeform 9"/>
            <p:cNvSpPr/>
            <p:nvPr/>
          </p:nvSpPr>
          <p:spPr>
            <a:xfrm>
              <a:off x="0" y="0"/>
              <a:ext cx="2181366" cy="29282"/>
            </a:xfrm>
            <a:custGeom>
              <a:avLst/>
              <a:gdLst/>
              <a:ahLst/>
              <a:cxnLst/>
              <a:rect l="l" t="t" r="r" b="b"/>
              <a:pathLst>
                <a:path w="2181366" h="29282">
                  <a:moveTo>
                    <a:pt x="0" y="0"/>
                  </a:moveTo>
                  <a:lnTo>
                    <a:pt x="2181366" y="0"/>
                  </a:lnTo>
                  <a:lnTo>
                    <a:pt x="2181366" y="29282"/>
                  </a:lnTo>
                  <a:lnTo>
                    <a:pt x="0" y="29282"/>
                  </a:lnTo>
                  <a:close/>
                </a:path>
              </a:pathLst>
            </a:custGeom>
            <a:solidFill>
              <a:srgbClr val="0C629F"/>
            </a:solidFill>
          </p:spPr>
        </p:sp>
        <p:sp>
          <p:nvSpPr>
            <p:cNvPr id="10" name="TextBox 10"/>
            <p:cNvSpPr txBox="1"/>
            <p:nvPr/>
          </p:nvSpPr>
          <p:spPr>
            <a:xfrm>
              <a:off x="0" y="-19050"/>
              <a:ext cx="2181367" cy="48332"/>
            </a:xfrm>
            <a:prstGeom prst="rect">
              <a:avLst/>
            </a:prstGeom>
          </p:spPr>
          <p:txBody>
            <a:bodyPr lIns="50800" tIns="50800" rIns="50800" bIns="50800" rtlCol="0" anchor="ctr"/>
            <a:lstStyle/>
            <a:p>
              <a:pPr algn="ctr">
                <a:lnSpc>
                  <a:spcPts val="2859"/>
                </a:lnSpc>
              </a:pPr>
              <a:endParaRPr/>
            </a:p>
          </p:txBody>
        </p:sp>
      </p:grpSp>
      <p:grpSp>
        <p:nvGrpSpPr>
          <p:cNvPr id="11" name="Group 11"/>
          <p:cNvGrpSpPr/>
          <p:nvPr/>
        </p:nvGrpSpPr>
        <p:grpSpPr>
          <a:xfrm>
            <a:off x="5766349" y="4672421"/>
            <a:ext cx="7913870" cy="2811304"/>
            <a:chOff x="0" y="0"/>
            <a:chExt cx="4075920" cy="1447920"/>
          </a:xfrm>
        </p:grpSpPr>
        <p:sp>
          <p:nvSpPr>
            <p:cNvPr id="12" name="Freeform 12"/>
            <p:cNvSpPr/>
            <p:nvPr/>
          </p:nvSpPr>
          <p:spPr>
            <a:xfrm>
              <a:off x="0" y="0"/>
              <a:ext cx="4075811" cy="1447927"/>
            </a:xfrm>
            <a:custGeom>
              <a:avLst/>
              <a:gdLst/>
              <a:ahLst/>
              <a:cxnLst/>
              <a:rect l="l" t="t" r="r" b="b"/>
              <a:pathLst>
                <a:path w="4075811" h="1447927">
                  <a:moveTo>
                    <a:pt x="3351530" y="0"/>
                  </a:moveTo>
                  <a:cubicBezTo>
                    <a:pt x="0" y="0"/>
                    <a:pt x="0" y="0"/>
                    <a:pt x="0" y="0"/>
                  </a:cubicBezTo>
                  <a:cubicBezTo>
                    <a:pt x="0" y="1447927"/>
                    <a:pt x="0" y="1447927"/>
                    <a:pt x="0" y="1447927"/>
                  </a:cubicBezTo>
                  <a:cubicBezTo>
                    <a:pt x="3351530" y="1447927"/>
                    <a:pt x="3351530" y="1447927"/>
                    <a:pt x="3351530" y="1447927"/>
                  </a:cubicBezTo>
                  <a:cubicBezTo>
                    <a:pt x="3750564" y="1447927"/>
                    <a:pt x="4075811" y="1122807"/>
                    <a:pt x="4075811" y="724027"/>
                  </a:cubicBezTo>
                  <a:cubicBezTo>
                    <a:pt x="4075811" y="325247"/>
                    <a:pt x="3750564" y="0"/>
                    <a:pt x="3351530" y="0"/>
                  </a:cubicBezTo>
                  <a:close/>
                </a:path>
              </a:pathLst>
            </a:custGeom>
            <a:solidFill>
              <a:srgbClr val="F2F2F2"/>
            </a:solidFill>
          </p:spPr>
        </p:sp>
      </p:grpSp>
      <p:grpSp>
        <p:nvGrpSpPr>
          <p:cNvPr id="13" name="Group 13"/>
          <p:cNvGrpSpPr/>
          <p:nvPr/>
        </p:nvGrpSpPr>
        <p:grpSpPr>
          <a:xfrm>
            <a:off x="3669405" y="3488346"/>
            <a:ext cx="3991185" cy="3991185"/>
            <a:chOff x="0" y="0"/>
            <a:chExt cx="2055600" cy="2055600"/>
          </a:xfrm>
        </p:grpSpPr>
        <p:sp>
          <p:nvSpPr>
            <p:cNvPr id="14" name="Freeform 14"/>
            <p:cNvSpPr/>
            <p:nvPr/>
          </p:nvSpPr>
          <p:spPr>
            <a:xfrm>
              <a:off x="0" y="0"/>
              <a:ext cx="2055622" cy="2055622"/>
            </a:xfrm>
            <a:custGeom>
              <a:avLst/>
              <a:gdLst/>
              <a:ahLst/>
              <a:cxnLst/>
              <a:rect l="l" t="t" r="r" b="b"/>
              <a:pathLst>
                <a:path w="2055622" h="2055622">
                  <a:moveTo>
                    <a:pt x="0" y="1027811"/>
                  </a:moveTo>
                  <a:cubicBezTo>
                    <a:pt x="0" y="460121"/>
                    <a:pt x="460121" y="0"/>
                    <a:pt x="1027811" y="0"/>
                  </a:cubicBezTo>
                  <a:cubicBezTo>
                    <a:pt x="1595501" y="0"/>
                    <a:pt x="2055622" y="460121"/>
                    <a:pt x="2055622" y="1027811"/>
                  </a:cubicBezTo>
                  <a:cubicBezTo>
                    <a:pt x="2055622" y="1595501"/>
                    <a:pt x="1595501" y="2055622"/>
                    <a:pt x="1027811" y="2055622"/>
                  </a:cubicBezTo>
                  <a:cubicBezTo>
                    <a:pt x="460121" y="2055622"/>
                    <a:pt x="0" y="1595501"/>
                    <a:pt x="0" y="1027811"/>
                  </a:cubicBezTo>
                  <a:close/>
                </a:path>
              </a:pathLst>
            </a:custGeom>
            <a:solidFill>
              <a:srgbClr val="0C629F"/>
            </a:solidFill>
          </p:spPr>
        </p:sp>
      </p:grpSp>
      <p:grpSp>
        <p:nvGrpSpPr>
          <p:cNvPr id="15" name="Group 15"/>
          <p:cNvGrpSpPr/>
          <p:nvPr/>
        </p:nvGrpSpPr>
        <p:grpSpPr>
          <a:xfrm>
            <a:off x="7353193" y="7739090"/>
            <a:ext cx="4487922" cy="1594049"/>
            <a:chOff x="0" y="0"/>
            <a:chExt cx="4074480" cy="1447200"/>
          </a:xfrm>
        </p:grpSpPr>
        <p:sp>
          <p:nvSpPr>
            <p:cNvPr id="16" name="Freeform 16"/>
            <p:cNvSpPr/>
            <p:nvPr/>
          </p:nvSpPr>
          <p:spPr>
            <a:xfrm>
              <a:off x="0" y="0"/>
              <a:ext cx="4074414" cy="1447165"/>
            </a:xfrm>
            <a:custGeom>
              <a:avLst/>
              <a:gdLst/>
              <a:ahLst/>
              <a:cxnLst/>
              <a:rect l="l" t="t" r="r" b="b"/>
              <a:pathLst>
                <a:path w="4074414" h="1447165">
                  <a:moveTo>
                    <a:pt x="3350387" y="0"/>
                  </a:moveTo>
                  <a:cubicBezTo>
                    <a:pt x="0" y="0"/>
                    <a:pt x="0" y="0"/>
                    <a:pt x="0" y="0"/>
                  </a:cubicBezTo>
                  <a:cubicBezTo>
                    <a:pt x="0" y="1447165"/>
                    <a:pt x="0" y="1447165"/>
                    <a:pt x="0" y="1447165"/>
                  </a:cubicBezTo>
                  <a:cubicBezTo>
                    <a:pt x="3350387" y="1447165"/>
                    <a:pt x="3350387" y="1447165"/>
                    <a:pt x="3350387" y="1447165"/>
                  </a:cubicBezTo>
                  <a:cubicBezTo>
                    <a:pt x="3749294" y="1447165"/>
                    <a:pt x="4074414" y="1122172"/>
                    <a:pt x="4074414" y="723519"/>
                  </a:cubicBezTo>
                  <a:cubicBezTo>
                    <a:pt x="4074414" y="324866"/>
                    <a:pt x="3749294" y="0"/>
                    <a:pt x="3350387" y="0"/>
                  </a:cubicBezTo>
                  <a:close/>
                </a:path>
              </a:pathLst>
            </a:custGeom>
            <a:solidFill>
              <a:srgbClr val="F2F2F2"/>
            </a:solidFill>
          </p:spPr>
        </p:sp>
      </p:grpSp>
      <p:grpSp>
        <p:nvGrpSpPr>
          <p:cNvPr id="17" name="Group 17"/>
          <p:cNvGrpSpPr/>
          <p:nvPr/>
        </p:nvGrpSpPr>
        <p:grpSpPr>
          <a:xfrm>
            <a:off x="6238151" y="7067369"/>
            <a:ext cx="2263391" cy="2265770"/>
            <a:chOff x="0" y="0"/>
            <a:chExt cx="2054880" cy="2057040"/>
          </a:xfrm>
        </p:grpSpPr>
        <p:sp>
          <p:nvSpPr>
            <p:cNvPr id="18" name="Freeform 18"/>
            <p:cNvSpPr/>
            <p:nvPr/>
          </p:nvSpPr>
          <p:spPr>
            <a:xfrm>
              <a:off x="0" y="0"/>
              <a:ext cx="2054860" cy="2057146"/>
            </a:xfrm>
            <a:custGeom>
              <a:avLst/>
              <a:gdLst/>
              <a:ahLst/>
              <a:cxnLst/>
              <a:rect l="l" t="t" r="r" b="b"/>
              <a:pathLst>
                <a:path w="2054860" h="2057146">
                  <a:moveTo>
                    <a:pt x="0" y="1028573"/>
                  </a:moveTo>
                  <a:cubicBezTo>
                    <a:pt x="0" y="460502"/>
                    <a:pt x="459994" y="0"/>
                    <a:pt x="1027430" y="0"/>
                  </a:cubicBezTo>
                  <a:cubicBezTo>
                    <a:pt x="1594866" y="0"/>
                    <a:pt x="2054860" y="460502"/>
                    <a:pt x="2054860" y="1028573"/>
                  </a:cubicBezTo>
                  <a:cubicBezTo>
                    <a:pt x="2054860" y="1596644"/>
                    <a:pt x="1594866" y="2057146"/>
                    <a:pt x="1027430" y="2057146"/>
                  </a:cubicBezTo>
                  <a:cubicBezTo>
                    <a:pt x="459994" y="2057146"/>
                    <a:pt x="0" y="1596517"/>
                    <a:pt x="0" y="1028573"/>
                  </a:cubicBezTo>
                  <a:close/>
                </a:path>
              </a:pathLst>
            </a:custGeom>
            <a:solidFill>
              <a:srgbClr val="0C629F"/>
            </a:solidFill>
          </p:spPr>
        </p:sp>
      </p:grpSp>
      <p:sp>
        <p:nvSpPr>
          <p:cNvPr id="19" name="Freeform 19"/>
          <p:cNvSpPr/>
          <p:nvPr/>
        </p:nvSpPr>
        <p:spPr>
          <a:xfrm>
            <a:off x="7007481" y="7667300"/>
            <a:ext cx="724731" cy="1065909"/>
          </a:xfrm>
          <a:custGeom>
            <a:avLst/>
            <a:gdLst/>
            <a:ahLst/>
            <a:cxnLst/>
            <a:rect l="l" t="t" r="r" b="b"/>
            <a:pathLst>
              <a:path w="724731" h="1065909">
                <a:moveTo>
                  <a:pt x="0" y="0"/>
                </a:moveTo>
                <a:lnTo>
                  <a:pt x="724731" y="0"/>
                </a:lnTo>
                <a:lnTo>
                  <a:pt x="724731" y="1065908"/>
                </a:lnTo>
                <a:lnTo>
                  <a:pt x="0" y="10659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a:off x="16384715" y="9009597"/>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779698" y="6974662"/>
            <a:ext cx="2889706" cy="2889706"/>
          </a:xfrm>
          <a:custGeom>
            <a:avLst/>
            <a:gdLst/>
            <a:ahLst/>
            <a:cxnLst/>
            <a:rect l="l" t="t" r="r" b="b"/>
            <a:pathLst>
              <a:path w="2889706" h="2889706">
                <a:moveTo>
                  <a:pt x="0" y="0"/>
                </a:moveTo>
                <a:lnTo>
                  <a:pt x="2889707" y="0"/>
                </a:lnTo>
                <a:lnTo>
                  <a:pt x="2889707" y="2889706"/>
                </a:lnTo>
                <a:lnTo>
                  <a:pt x="0" y="28897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2" name="Freeform 22"/>
          <p:cNvSpPr/>
          <p:nvPr/>
        </p:nvSpPr>
        <p:spPr>
          <a:xfrm>
            <a:off x="972197" y="7308621"/>
            <a:ext cx="2504710" cy="2247977"/>
          </a:xfrm>
          <a:custGeom>
            <a:avLst/>
            <a:gdLst/>
            <a:ahLst/>
            <a:cxnLst/>
            <a:rect l="l" t="t" r="r" b="b"/>
            <a:pathLst>
              <a:path w="2504710" h="2247977">
                <a:moveTo>
                  <a:pt x="0" y="0"/>
                </a:moveTo>
                <a:lnTo>
                  <a:pt x="2504709" y="0"/>
                </a:lnTo>
                <a:lnTo>
                  <a:pt x="2504709" y="2247977"/>
                </a:lnTo>
                <a:lnTo>
                  <a:pt x="0" y="22479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3" name="Freeform 23"/>
          <p:cNvSpPr/>
          <p:nvPr/>
        </p:nvSpPr>
        <p:spPr>
          <a:xfrm>
            <a:off x="4671763" y="4214388"/>
            <a:ext cx="1986468" cy="2354332"/>
          </a:xfrm>
          <a:custGeom>
            <a:avLst/>
            <a:gdLst/>
            <a:ahLst/>
            <a:cxnLst/>
            <a:rect l="l" t="t" r="r" b="b"/>
            <a:pathLst>
              <a:path w="1986468" h="2354332">
                <a:moveTo>
                  <a:pt x="0" y="0"/>
                </a:moveTo>
                <a:lnTo>
                  <a:pt x="1986468" y="0"/>
                </a:lnTo>
                <a:lnTo>
                  <a:pt x="1986468" y="2354332"/>
                </a:lnTo>
                <a:lnTo>
                  <a:pt x="0" y="23543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4" name="TextBox 24"/>
          <p:cNvSpPr txBox="1"/>
          <p:nvPr/>
        </p:nvSpPr>
        <p:spPr>
          <a:xfrm>
            <a:off x="8745932" y="7987856"/>
            <a:ext cx="2732632" cy="394149"/>
          </a:xfrm>
          <a:prstGeom prst="rect">
            <a:avLst/>
          </a:prstGeom>
        </p:spPr>
        <p:txBody>
          <a:bodyPr lIns="0" tIns="0" rIns="0" bIns="0" rtlCol="0" anchor="t">
            <a:spAutoFit/>
          </a:bodyPr>
          <a:lstStyle/>
          <a:p>
            <a:pPr>
              <a:lnSpc>
                <a:spcPts val="3231"/>
              </a:lnSpc>
            </a:pPr>
            <a:r>
              <a:rPr lang="en-US" sz="2341" spc="229">
                <a:solidFill>
                  <a:srgbClr val="231F20"/>
                </a:solidFill>
                <a:latin typeface="Open Sauce Bold"/>
              </a:rPr>
              <a:t>Identify Tasks</a:t>
            </a:r>
          </a:p>
        </p:txBody>
      </p:sp>
      <p:sp>
        <p:nvSpPr>
          <p:cNvPr id="25" name="TextBox 25"/>
          <p:cNvSpPr txBox="1"/>
          <p:nvPr/>
        </p:nvSpPr>
        <p:spPr>
          <a:xfrm>
            <a:off x="8083451" y="5161442"/>
            <a:ext cx="4816941" cy="688493"/>
          </a:xfrm>
          <a:prstGeom prst="rect">
            <a:avLst/>
          </a:prstGeom>
        </p:spPr>
        <p:txBody>
          <a:bodyPr lIns="0" tIns="0" rIns="0" bIns="0" rtlCol="0" anchor="t">
            <a:spAutoFit/>
          </a:bodyPr>
          <a:lstStyle/>
          <a:p>
            <a:pPr marL="0" lvl="1" indent="0" algn="l">
              <a:lnSpc>
                <a:spcPts val="5695"/>
              </a:lnSpc>
              <a:spcBef>
                <a:spcPct val="0"/>
              </a:spcBef>
            </a:pPr>
            <a:r>
              <a:rPr lang="en-US" sz="4127" spc="404">
                <a:solidFill>
                  <a:srgbClr val="231F20"/>
                </a:solidFill>
                <a:latin typeface="Open Sauce Bold"/>
              </a:rPr>
              <a:t>Responsibility</a:t>
            </a:r>
          </a:p>
        </p:txBody>
      </p:sp>
      <p:sp>
        <p:nvSpPr>
          <p:cNvPr id="26" name="TextBox 26"/>
          <p:cNvSpPr txBox="1"/>
          <p:nvPr/>
        </p:nvSpPr>
        <p:spPr>
          <a:xfrm>
            <a:off x="8745932" y="8431212"/>
            <a:ext cx="2961949" cy="615062"/>
          </a:xfrm>
          <a:prstGeom prst="rect">
            <a:avLst/>
          </a:prstGeom>
        </p:spPr>
        <p:txBody>
          <a:bodyPr lIns="0" tIns="0" rIns="0" bIns="0" rtlCol="0" anchor="t">
            <a:spAutoFit/>
          </a:bodyPr>
          <a:lstStyle/>
          <a:p>
            <a:pPr>
              <a:lnSpc>
                <a:spcPts val="2545"/>
              </a:lnSpc>
            </a:pPr>
            <a:r>
              <a:rPr lang="en-US" sz="1844" spc="180">
                <a:solidFill>
                  <a:srgbClr val="231F20"/>
                </a:solidFill>
                <a:latin typeface="Open Sauce"/>
              </a:rPr>
              <a:t>List the tasks to be completed.</a:t>
            </a:r>
          </a:p>
        </p:txBody>
      </p:sp>
      <p:sp>
        <p:nvSpPr>
          <p:cNvPr id="27" name="TextBox 27"/>
          <p:cNvSpPr txBox="1"/>
          <p:nvPr/>
        </p:nvSpPr>
        <p:spPr>
          <a:xfrm>
            <a:off x="8083451" y="5906728"/>
            <a:ext cx="5221168" cy="1395765"/>
          </a:xfrm>
          <a:prstGeom prst="rect">
            <a:avLst/>
          </a:prstGeom>
        </p:spPr>
        <p:txBody>
          <a:bodyPr lIns="0" tIns="0" rIns="0" bIns="0" rtlCol="0" anchor="t">
            <a:spAutoFit/>
          </a:bodyPr>
          <a:lstStyle/>
          <a:p>
            <a:pPr>
              <a:lnSpc>
                <a:spcPts val="3756"/>
              </a:lnSpc>
            </a:pPr>
            <a:r>
              <a:rPr lang="en-US" sz="2722" spc="266">
                <a:solidFill>
                  <a:srgbClr val="231F20"/>
                </a:solidFill>
                <a:latin typeface="Open Sauce"/>
              </a:rPr>
              <a:t>Determine and list who will be responsible for each task</a:t>
            </a:r>
          </a:p>
        </p:txBody>
      </p:sp>
      <p:sp>
        <p:nvSpPr>
          <p:cNvPr id="28" name="TextBox 28"/>
          <p:cNvSpPr txBox="1"/>
          <p:nvPr/>
        </p:nvSpPr>
        <p:spPr>
          <a:xfrm>
            <a:off x="1292244" y="8820972"/>
            <a:ext cx="1864614" cy="510908"/>
          </a:xfrm>
          <a:prstGeom prst="rect">
            <a:avLst/>
          </a:prstGeom>
        </p:spPr>
        <p:txBody>
          <a:bodyPr lIns="0" tIns="0" rIns="0" bIns="0" rtlCol="0" anchor="t">
            <a:spAutoFit/>
          </a:bodyPr>
          <a:lstStyle/>
          <a:p>
            <a:pPr algn="ctr">
              <a:lnSpc>
                <a:spcPts val="1950"/>
              </a:lnSpc>
            </a:pPr>
            <a:r>
              <a:rPr lang="en-US" sz="1393" u="sng">
                <a:solidFill>
                  <a:srgbClr val="000000"/>
                </a:solidFill>
                <a:latin typeface="Myriad Pro"/>
                <a:hlinkClick r:id="rId13" tooltip="https://scholarworks.umb.edu/cgi/viewcontent.cgi?referer=&amp;httpsredir=1&amp;article=1007&amp;context=ici_institutebrief"/>
              </a:rPr>
              <a:t>30-Day Placement Plan</a:t>
            </a:r>
          </a:p>
          <a:p>
            <a:pPr algn="ctr">
              <a:lnSpc>
                <a:spcPts val="1950"/>
              </a:lnSpc>
            </a:pPr>
            <a:r>
              <a:rPr lang="en-US" sz="1393" u="sng">
                <a:solidFill>
                  <a:srgbClr val="000000"/>
                </a:solidFill>
                <a:latin typeface="Myriad Pro"/>
              </a:rPr>
              <a:t>Brief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9551719" cy="5372843"/>
            <a:chOff x="0" y="0"/>
            <a:chExt cx="6089457" cy="3425320"/>
          </a:xfrm>
        </p:grpSpPr>
        <p:sp>
          <p:nvSpPr>
            <p:cNvPr id="3" name="Freeform 3"/>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solidFill>
              <a:srgbClr val="F9D549"/>
            </a:solidFill>
          </p:spPr>
        </p:sp>
        <p:sp>
          <p:nvSpPr>
            <p:cNvPr id="4" name="Freeform 4"/>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blipFill>
              <a:blip r:embed="rId2"/>
              <a:stretch>
                <a:fillRect t="-83416" b="-83416"/>
              </a:stretch>
            </a:blipFill>
          </p:spPr>
        </p:sp>
      </p:grpSp>
      <p:grpSp>
        <p:nvGrpSpPr>
          <p:cNvPr id="5" name="Group 5"/>
          <p:cNvGrpSpPr/>
          <p:nvPr/>
        </p:nvGrpSpPr>
        <p:grpSpPr>
          <a:xfrm rot="-1660488">
            <a:off x="-4233206" y="5189176"/>
            <a:ext cx="8282376" cy="404757"/>
            <a:chOff x="0" y="0"/>
            <a:chExt cx="2181367" cy="106603"/>
          </a:xfrm>
        </p:grpSpPr>
        <p:sp>
          <p:nvSpPr>
            <p:cNvPr id="6" name="Freeform 6"/>
            <p:cNvSpPr/>
            <p:nvPr/>
          </p:nvSpPr>
          <p:spPr>
            <a:xfrm>
              <a:off x="0" y="0"/>
              <a:ext cx="2181366" cy="106603"/>
            </a:xfrm>
            <a:custGeom>
              <a:avLst/>
              <a:gdLst/>
              <a:ahLst/>
              <a:cxnLst/>
              <a:rect l="l" t="t" r="r" b="b"/>
              <a:pathLst>
                <a:path w="2181366" h="106603">
                  <a:moveTo>
                    <a:pt x="0" y="0"/>
                  </a:moveTo>
                  <a:lnTo>
                    <a:pt x="2181366" y="0"/>
                  </a:lnTo>
                  <a:lnTo>
                    <a:pt x="2181366" y="106603"/>
                  </a:lnTo>
                  <a:lnTo>
                    <a:pt x="0" y="106603"/>
                  </a:lnTo>
                  <a:close/>
                </a:path>
              </a:pathLst>
            </a:custGeom>
            <a:solidFill>
              <a:srgbClr val="0C629F"/>
            </a:solidFill>
          </p:spPr>
        </p:sp>
        <p:sp>
          <p:nvSpPr>
            <p:cNvPr id="7" name="TextBox 7"/>
            <p:cNvSpPr txBox="1"/>
            <p:nvPr/>
          </p:nvSpPr>
          <p:spPr>
            <a:xfrm>
              <a:off x="0" y="-19050"/>
              <a:ext cx="2181367" cy="125653"/>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rot="-1747322">
            <a:off x="3921959" y="1003562"/>
            <a:ext cx="8282376" cy="111180"/>
            <a:chOff x="0" y="0"/>
            <a:chExt cx="2181367" cy="29282"/>
          </a:xfrm>
        </p:grpSpPr>
        <p:sp>
          <p:nvSpPr>
            <p:cNvPr id="9" name="Freeform 9"/>
            <p:cNvSpPr/>
            <p:nvPr/>
          </p:nvSpPr>
          <p:spPr>
            <a:xfrm>
              <a:off x="0" y="0"/>
              <a:ext cx="2181366" cy="29282"/>
            </a:xfrm>
            <a:custGeom>
              <a:avLst/>
              <a:gdLst/>
              <a:ahLst/>
              <a:cxnLst/>
              <a:rect l="l" t="t" r="r" b="b"/>
              <a:pathLst>
                <a:path w="2181366" h="29282">
                  <a:moveTo>
                    <a:pt x="0" y="0"/>
                  </a:moveTo>
                  <a:lnTo>
                    <a:pt x="2181366" y="0"/>
                  </a:lnTo>
                  <a:lnTo>
                    <a:pt x="2181366" y="29282"/>
                  </a:lnTo>
                  <a:lnTo>
                    <a:pt x="0" y="29282"/>
                  </a:lnTo>
                  <a:close/>
                </a:path>
              </a:pathLst>
            </a:custGeom>
            <a:solidFill>
              <a:srgbClr val="0C629F"/>
            </a:solidFill>
          </p:spPr>
        </p:sp>
        <p:sp>
          <p:nvSpPr>
            <p:cNvPr id="10" name="TextBox 10"/>
            <p:cNvSpPr txBox="1"/>
            <p:nvPr/>
          </p:nvSpPr>
          <p:spPr>
            <a:xfrm>
              <a:off x="0" y="-19050"/>
              <a:ext cx="2181367" cy="48332"/>
            </a:xfrm>
            <a:prstGeom prst="rect">
              <a:avLst/>
            </a:prstGeom>
          </p:spPr>
          <p:txBody>
            <a:bodyPr lIns="50800" tIns="50800" rIns="50800" bIns="50800" rtlCol="0" anchor="ctr"/>
            <a:lstStyle/>
            <a:p>
              <a:pPr algn="ctr">
                <a:lnSpc>
                  <a:spcPts val="2859"/>
                </a:lnSpc>
              </a:pPr>
              <a:endParaRPr/>
            </a:p>
          </p:txBody>
        </p:sp>
      </p:grpSp>
      <p:grpSp>
        <p:nvGrpSpPr>
          <p:cNvPr id="11" name="Group 11"/>
          <p:cNvGrpSpPr/>
          <p:nvPr/>
        </p:nvGrpSpPr>
        <p:grpSpPr>
          <a:xfrm>
            <a:off x="8948489" y="2469470"/>
            <a:ext cx="6710416" cy="2385741"/>
            <a:chOff x="0" y="0"/>
            <a:chExt cx="4076640" cy="1449360"/>
          </a:xfrm>
        </p:grpSpPr>
        <p:sp>
          <p:nvSpPr>
            <p:cNvPr id="12" name="Freeform 12"/>
            <p:cNvSpPr/>
            <p:nvPr/>
          </p:nvSpPr>
          <p:spPr>
            <a:xfrm>
              <a:off x="0" y="0"/>
              <a:ext cx="4076573" cy="1449324"/>
            </a:xfrm>
            <a:custGeom>
              <a:avLst/>
              <a:gdLst/>
              <a:ahLst/>
              <a:cxnLst/>
              <a:rect l="l" t="t" r="r" b="b"/>
              <a:pathLst>
                <a:path w="4076573" h="1449324">
                  <a:moveTo>
                    <a:pt x="3352165" y="0"/>
                  </a:moveTo>
                  <a:cubicBezTo>
                    <a:pt x="0" y="0"/>
                    <a:pt x="0" y="0"/>
                    <a:pt x="0" y="0"/>
                  </a:cubicBezTo>
                  <a:cubicBezTo>
                    <a:pt x="0" y="1449324"/>
                    <a:pt x="0" y="1449324"/>
                    <a:pt x="0" y="1449324"/>
                  </a:cubicBezTo>
                  <a:cubicBezTo>
                    <a:pt x="3352165" y="1449324"/>
                    <a:pt x="3352165" y="1449324"/>
                    <a:pt x="3352165" y="1449324"/>
                  </a:cubicBezTo>
                  <a:cubicBezTo>
                    <a:pt x="3751199" y="1449324"/>
                    <a:pt x="4076573" y="1123823"/>
                    <a:pt x="4076573" y="724662"/>
                  </a:cubicBezTo>
                  <a:cubicBezTo>
                    <a:pt x="4076573" y="325501"/>
                    <a:pt x="3751199" y="0"/>
                    <a:pt x="3352165" y="0"/>
                  </a:cubicBezTo>
                  <a:close/>
                </a:path>
              </a:pathLst>
            </a:custGeom>
            <a:solidFill>
              <a:srgbClr val="F2F2F2"/>
            </a:solidFill>
          </p:spPr>
        </p:sp>
      </p:grpSp>
      <p:grpSp>
        <p:nvGrpSpPr>
          <p:cNvPr id="13" name="Group 13"/>
          <p:cNvGrpSpPr/>
          <p:nvPr/>
        </p:nvGrpSpPr>
        <p:grpSpPr>
          <a:xfrm>
            <a:off x="7369847" y="1469189"/>
            <a:ext cx="3388393" cy="3386022"/>
            <a:chOff x="0" y="0"/>
            <a:chExt cx="2058480" cy="2057040"/>
          </a:xfrm>
        </p:grpSpPr>
        <p:sp>
          <p:nvSpPr>
            <p:cNvPr id="14" name="Freeform 14"/>
            <p:cNvSpPr/>
            <p:nvPr/>
          </p:nvSpPr>
          <p:spPr>
            <a:xfrm>
              <a:off x="0" y="0"/>
              <a:ext cx="2058416" cy="2057146"/>
            </a:xfrm>
            <a:custGeom>
              <a:avLst/>
              <a:gdLst/>
              <a:ahLst/>
              <a:cxnLst/>
              <a:rect l="l" t="t" r="r" b="b"/>
              <a:pathLst>
                <a:path w="2058416" h="2057146">
                  <a:moveTo>
                    <a:pt x="0" y="1028573"/>
                  </a:moveTo>
                  <a:cubicBezTo>
                    <a:pt x="0" y="460502"/>
                    <a:pt x="460756" y="0"/>
                    <a:pt x="1029208" y="0"/>
                  </a:cubicBezTo>
                  <a:cubicBezTo>
                    <a:pt x="1597660" y="0"/>
                    <a:pt x="2058416" y="460502"/>
                    <a:pt x="2058416" y="1028573"/>
                  </a:cubicBezTo>
                  <a:cubicBezTo>
                    <a:pt x="2058416" y="1596644"/>
                    <a:pt x="1597660" y="2057146"/>
                    <a:pt x="1029208" y="2057146"/>
                  </a:cubicBezTo>
                  <a:cubicBezTo>
                    <a:pt x="460756" y="2057146"/>
                    <a:pt x="0" y="1596517"/>
                    <a:pt x="0" y="1028573"/>
                  </a:cubicBezTo>
                  <a:close/>
                </a:path>
              </a:pathLst>
            </a:custGeom>
            <a:solidFill>
              <a:srgbClr val="0C629F"/>
            </a:solidFill>
          </p:spPr>
        </p:sp>
      </p:grpSp>
      <p:grpSp>
        <p:nvGrpSpPr>
          <p:cNvPr id="15" name="Group 15"/>
          <p:cNvGrpSpPr/>
          <p:nvPr/>
        </p:nvGrpSpPr>
        <p:grpSpPr>
          <a:xfrm>
            <a:off x="9190711" y="5888883"/>
            <a:ext cx="4489509" cy="1594842"/>
            <a:chOff x="0" y="0"/>
            <a:chExt cx="4075920" cy="1447920"/>
          </a:xfrm>
        </p:grpSpPr>
        <p:sp>
          <p:nvSpPr>
            <p:cNvPr id="16" name="Freeform 16"/>
            <p:cNvSpPr/>
            <p:nvPr/>
          </p:nvSpPr>
          <p:spPr>
            <a:xfrm>
              <a:off x="0" y="0"/>
              <a:ext cx="4075811" cy="1447927"/>
            </a:xfrm>
            <a:custGeom>
              <a:avLst/>
              <a:gdLst/>
              <a:ahLst/>
              <a:cxnLst/>
              <a:rect l="l" t="t" r="r" b="b"/>
              <a:pathLst>
                <a:path w="4075811" h="1447927">
                  <a:moveTo>
                    <a:pt x="3351530" y="0"/>
                  </a:moveTo>
                  <a:cubicBezTo>
                    <a:pt x="0" y="0"/>
                    <a:pt x="0" y="0"/>
                    <a:pt x="0" y="0"/>
                  </a:cubicBezTo>
                  <a:cubicBezTo>
                    <a:pt x="0" y="1447927"/>
                    <a:pt x="0" y="1447927"/>
                    <a:pt x="0" y="1447927"/>
                  </a:cubicBezTo>
                  <a:cubicBezTo>
                    <a:pt x="3351530" y="1447927"/>
                    <a:pt x="3351530" y="1447927"/>
                    <a:pt x="3351530" y="1447927"/>
                  </a:cubicBezTo>
                  <a:cubicBezTo>
                    <a:pt x="3750564" y="1447927"/>
                    <a:pt x="4075811" y="1122807"/>
                    <a:pt x="4075811" y="724027"/>
                  </a:cubicBezTo>
                  <a:cubicBezTo>
                    <a:pt x="4075811" y="325247"/>
                    <a:pt x="3750564" y="0"/>
                    <a:pt x="3351530" y="0"/>
                  </a:cubicBezTo>
                  <a:close/>
                </a:path>
              </a:pathLst>
            </a:custGeom>
            <a:solidFill>
              <a:srgbClr val="F2F2F2"/>
            </a:solidFill>
          </p:spPr>
        </p:sp>
      </p:grpSp>
      <p:grpSp>
        <p:nvGrpSpPr>
          <p:cNvPr id="17" name="Group 17"/>
          <p:cNvGrpSpPr/>
          <p:nvPr/>
        </p:nvGrpSpPr>
        <p:grpSpPr>
          <a:xfrm>
            <a:off x="8001122" y="5217162"/>
            <a:ext cx="2264184" cy="2264184"/>
            <a:chOff x="0" y="0"/>
            <a:chExt cx="2055600" cy="2055600"/>
          </a:xfrm>
        </p:grpSpPr>
        <p:sp>
          <p:nvSpPr>
            <p:cNvPr id="18" name="Freeform 18"/>
            <p:cNvSpPr/>
            <p:nvPr/>
          </p:nvSpPr>
          <p:spPr>
            <a:xfrm>
              <a:off x="0" y="0"/>
              <a:ext cx="2055622" cy="2055622"/>
            </a:xfrm>
            <a:custGeom>
              <a:avLst/>
              <a:gdLst/>
              <a:ahLst/>
              <a:cxnLst/>
              <a:rect l="l" t="t" r="r" b="b"/>
              <a:pathLst>
                <a:path w="2055622" h="2055622">
                  <a:moveTo>
                    <a:pt x="0" y="1027811"/>
                  </a:moveTo>
                  <a:cubicBezTo>
                    <a:pt x="0" y="460121"/>
                    <a:pt x="460121" y="0"/>
                    <a:pt x="1027811" y="0"/>
                  </a:cubicBezTo>
                  <a:cubicBezTo>
                    <a:pt x="1595501" y="0"/>
                    <a:pt x="2055622" y="460121"/>
                    <a:pt x="2055622" y="1027811"/>
                  </a:cubicBezTo>
                  <a:cubicBezTo>
                    <a:pt x="2055622" y="1595501"/>
                    <a:pt x="1595501" y="2055622"/>
                    <a:pt x="1027811" y="2055622"/>
                  </a:cubicBezTo>
                  <a:cubicBezTo>
                    <a:pt x="460121" y="2055622"/>
                    <a:pt x="0" y="1595501"/>
                    <a:pt x="0" y="1027811"/>
                  </a:cubicBezTo>
                  <a:close/>
                </a:path>
              </a:pathLst>
            </a:custGeom>
            <a:solidFill>
              <a:srgbClr val="0C629F"/>
            </a:solidFill>
          </p:spPr>
        </p:sp>
      </p:grpSp>
      <p:grpSp>
        <p:nvGrpSpPr>
          <p:cNvPr id="19" name="Group 19"/>
          <p:cNvGrpSpPr/>
          <p:nvPr/>
        </p:nvGrpSpPr>
        <p:grpSpPr>
          <a:xfrm>
            <a:off x="7353193" y="7739090"/>
            <a:ext cx="4487922" cy="1594049"/>
            <a:chOff x="0" y="0"/>
            <a:chExt cx="4074480" cy="1447200"/>
          </a:xfrm>
        </p:grpSpPr>
        <p:sp>
          <p:nvSpPr>
            <p:cNvPr id="20" name="Freeform 20"/>
            <p:cNvSpPr/>
            <p:nvPr/>
          </p:nvSpPr>
          <p:spPr>
            <a:xfrm>
              <a:off x="0" y="0"/>
              <a:ext cx="4074414" cy="1447165"/>
            </a:xfrm>
            <a:custGeom>
              <a:avLst/>
              <a:gdLst/>
              <a:ahLst/>
              <a:cxnLst/>
              <a:rect l="l" t="t" r="r" b="b"/>
              <a:pathLst>
                <a:path w="4074414" h="1447165">
                  <a:moveTo>
                    <a:pt x="3350387" y="0"/>
                  </a:moveTo>
                  <a:cubicBezTo>
                    <a:pt x="0" y="0"/>
                    <a:pt x="0" y="0"/>
                    <a:pt x="0" y="0"/>
                  </a:cubicBezTo>
                  <a:cubicBezTo>
                    <a:pt x="0" y="1447165"/>
                    <a:pt x="0" y="1447165"/>
                    <a:pt x="0" y="1447165"/>
                  </a:cubicBezTo>
                  <a:cubicBezTo>
                    <a:pt x="3350387" y="1447165"/>
                    <a:pt x="3350387" y="1447165"/>
                    <a:pt x="3350387" y="1447165"/>
                  </a:cubicBezTo>
                  <a:cubicBezTo>
                    <a:pt x="3749294" y="1447165"/>
                    <a:pt x="4074414" y="1122172"/>
                    <a:pt x="4074414" y="723519"/>
                  </a:cubicBezTo>
                  <a:cubicBezTo>
                    <a:pt x="4074414" y="324866"/>
                    <a:pt x="3749294" y="0"/>
                    <a:pt x="3350387" y="0"/>
                  </a:cubicBezTo>
                  <a:close/>
                </a:path>
              </a:pathLst>
            </a:custGeom>
            <a:solidFill>
              <a:srgbClr val="F2F2F2"/>
            </a:solidFill>
          </p:spPr>
        </p:sp>
      </p:grpSp>
      <p:grpSp>
        <p:nvGrpSpPr>
          <p:cNvPr id="21" name="Group 21"/>
          <p:cNvGrpSpPr/>
          <p:nvPr/>
        </p:nvGrpSpPr>
        <p:grpSpPr>
          <a:xfrm>
            <a:off x="6238151" y="7067369"/>
            <a:ext cx="2263391" cy="2265770"/>
            <a:chOff x="0" y="0"/>
            <a:chExt cx="2054880" cy="2057040"/>
          </a:xfrm>
        </p:grpSpPr>
        <p:sp>
          <p:nvSpPr>
            <p:cNvPr id="22" name="Freeform 22"/>
            <p:cNvSpPr/>
            <p:nvPr/>
          </p:nvSpPr>
          <p:spPr>
            <a:xfrm>
              <a:off x="0" y="0"/>
              <a:ext cx="2054860" cy="2057146"/>
            </a:xfrm>
            <a:custGeom>
              <a:avLst/>
              <a:gdLst/>
              <a:ahLst/>
              <a:cxnLst/>
              <a:rect l="l" t="t" r="r" b="b"/>
              <a:pathLst>
                <a:path w="2054860" h="2057146">
                  <a:moveTo>
                    <a:pt x="0" y="1028573"/>
                  </a:moveTo>
                  <a:cubicBezTo>
                    <a:pt x="0" y="460502"/>
                    <a:pt x="459994" y="0"/>
                    <a:pt x="1027430" y="0"/>
                  </a:cubicBezTo>
                  <a:cubicBezTo>
                    <a:pt x="1594866" y="0"/>
                    <a:pt x="2054860" y="460502"/>
                    <a:pt x="2054860" y="1028573"/>
                  </a:cubicBezTo>
                  <a:cubicBezTo>
                    <a:pt x="2054860" y="1596644"/>
                    <a:pt x="1594866" y="2057146"/>
                    <a:pt x="1027430" y="2057146"/>
                  </a:cubicBezTo>
                  <a:cubicBezTo>
                    <a:pt x="459994" y="2057146"/>
                    <a:pt x="0" y="1596517"/>
                    <a:pt x="0" y="1028573"/>
                  </a:cubicBezTo>
                  <a:close/>
                </a:path>
              </a:pathLst>
            </a:custGeom>
            <a:solidFill>
              <a:srgbClr val="0C629F"/>
            </a:solidFill>
          </p:spPr>
        </p:sp>
      </p:grpSp>
      <p:sp>
        <p:nvSpPr>
          <p:cNvPr id="23" name="Freeform 23"/>
          <p:cNvSpPr/>
          <p:nvPr/>
        </p:nvSpPr>
        <p:spPr>
          <a:xfrm>
            <a:off x="7007481" y="7667300"/>
            <a:ext cx="724731" cy="1065909"/>
          </a:xfrm>
          <a:custGeom>
            <a:avLst/>
            <a:gdLst/>
            <a:ahLst/>
            <a:cxnLst/>
            <a:rect l="l" t="t" r="r" b="b"/>
            <a:pathLst>
              <a:path w="724731" h="1065909">
                <a:moveTo>
                  <a:pt x="0" y="0"/>
                </a:moveTo>
                <a:lnTo>
                  <a:pt x="724731" y="0"/>
                </a:lnTo>
                <a:lnTo>
                  <a:pt x="724731" y="1065908"/>
                </a:lnTo>
                <a:lnTo>
                  <a:pt x="0" y="10659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4" name="Freeform 24"/>
          <p:cNvSpPr/>
          <p:nvPr/>
        </p:nvSpPr>
        <p:spPr>
          <a:xfrm>
            <a:off x="16384715" y="9009597"/>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5" name="Freeform 25"/>
          <p:cNvSpPr/>
          <p:nvPr/>
        </p:nvSpPr>
        <p:spPr>
          <a:xfrm>
            <a:off x="779698" y="6974662"/>
            <a:ext cx="2889706" cy="2889706"/>
          </a:xfrm>
          <a:custGeom>
            <a:avLst/>
            <a:gdLst/>
            <a:ahLst/>
            <a:cxnLst/>
            <a:rect l="l" t="t" r="r" b="b"/>
            <a:pathLst>
              <a:path w="2889706" h="2889706">
                <a:moveTo>
                  <a:pt x="0" y="0"/>
                </a:moveTo>
                <a:lnTo>
                  <a:pt x="2889707" y="0"/>
                </a:lnTo>
                <a:lnTo>
                  <a:pt x="2889707" y="2889706"/>
                </a:lnTo>
                <a:lnTo>
                  <a:pt x="0" y="28897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6" name="Freeform 26"/>
          <p:cNvSpPr/>
          <p:nvPr/>
        </p:nvSpPr>
        <p:spPr>
          <a:xfrm>
            <a:off x="972197" y="7308621"/>
            <a:ext cx="2504710" cy="2247977"/>
          </a:xfrm>
          <a:custGeom>
            <a:avLst/>
            <a:gdLst/>
            <a:ahLst/>
            <a:cxnLst/>
            <a:rect l="l" t="t" r="r" b="b"/>
            <a:pathLst>
              <a:path w="2504710" h="2247977">
                <a:moveTo>
                  <a:pt x="0" y="0"/>
                </a:moveTo>
                <a:lnTo>
                  <a:pt x="2504709" y="0"/>
                </a:lnTo>
                <a:lnTo>
                  <a:pt x="2504709" y="2247977"/>
                </a:lnTo>
                <a:lnTo>
                  <a:pt x="0" y="22479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7" name="Freeform 27"/>
          <p:cNvSpPr/>
          <p:nvPr/>
        </p:nvSpPr>
        <p:spPr>
          <a:xfrm>
            <a:off x="8670738" y="5643225"/>
            <a:ext cx="946523" cy="1121805"/>
          </a:xfrm>
          <a:custGeom>
            <a:avLst/>
            <a:gdLst/>
            <a:ahLst/>
            <a:cxnLst/>
            <a:rect l="l" t="t" r="r" b="b"/>
            <a:pathLst>
              <a:path w="946523" h="1121805">
                <a:moveTo>
                  <a:pt x="0" y="0"/>
                </a:moveTo>
                <a:lnTo>
                  <a:pt x="946524" y="0"/>
                </a:lnTo>
                <a:lnTo>
                  <a:pt x="946524" y="1121805"/>
                </a:lnTo>
                <a:lnTo>
                  <a:pt x="0" y="11218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8" name="Freeform 28"/>
          <p:cNvSpPr/>
          <p:nvPr/>
        </p:nvSpPr>
        <p:spPr>
          <a:xfrm>
            <a:off x="8169262" y="2225257"/>
            <a:ext cx="1789562" cy="1873887"/>
          </a:xfrm>
          <a:custGeom>
            <a:avLst/>
            <a:gdLst/>
            <a:ahLst/>
            <a:cxnLst/>
            <a:rect l="l" t="t" r="r" b="b"/>
            <a:pathLst>
              <a:path w="1789562" h="1873887">
                <a:moveTo>
                  <a:pt x="0" y="0"/>
                </a:moveTo>
                <a:lnTo>
                  <a:pt x="1789562" y="0"/>
                </a:lnTo>
                <a:lnTo>
                  <a:pt x="1789562" y="1873887"/>
                </a:lnTo>
                <a:lnTo>
                  <a:pt x="0" y="187388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9" name="TextBox 29"/>
          <p:cNvSpPr txBox="1"/>
          <p:nvPr/>
        </p:nvSpPr>
        <p:spPr>
          <a:xfrm>
            <a:off x="8745932" y="7987856"/>
            <a:ext cx="2732632" cy="394149"/>
          </a:xfrm>
          <a:prstGeom prst="rect">
            <a:avLst/>
          </a:prstGeom>
        </p:spPr>
        <p:txBody>
          <a:bodyPr lIns="0" tIns="0" rIns="0" bIns="0" rtlCol="0" anchor="t">
            <a:spAutoFit/>
          </a:bodyPr>
          <a:lstStyle/>
          <a:p>
            <a:pPr>
              <a:lnSpc>
                <a:spcPts val="3231"/>
              </a:lnSpc>
            </a:pPr>
            <a:r>
              <a:rPr lang="en-US" sz="2341" spc="229">
                <a:solidFill>
                  <a:srgbClr val="231F20"/>
                </a:solidFill>
                <a:latin typeface="Open Sauce Bold"/>
              </a:rPr>
              <a:t>Identify Tasks</a:t>
            </a:r>
          </a:p>
        </p:txBody>
      </p:sp>
      <p:sp>
        <p:nvSpPr>
          <p:cNvPr id="30" name="TextBox 30"/>
          <p:cNvSpPr txBox="1"/>
          <p:nvPr/>
        </p:nvSpPr>
        <p:spPr>
          <a:xfrm>
            <a:off x="10505194" y="6166027"/>
            <a:ext cx="2732632" cy="390855"/>
          </a:xfrm>
          <a:prstGeom prst="rect">
            <a:avLst/>
          </a:prstGeom>
        </p:spPr>
        <p:txBody>
          <a:bodyPr lIns="0" tIns="0" rIns="0" bIns="0" rtlCol="0" anchor="t">
            <a:spAutoFit/>
          </a:bodyPr>
          <a:lstStyle/>
          <a:p>
            <a:pPr marL="0" lvl="1" indent="0" algn="l">
              <a:lnSpc>
                <a:spcPts val="3231"/>
              </a:lnSpc>
              <a:spcBef>
                <a:spcPct val="0"/>
              </a:spcBef>
            </a:pPr>
            <a:r>
              <a:rPr lang="en-US" sz="2341" spc="229">
                <a:solidFill>
                  <a:srgbClr val="231F20"/>
                </a:solidFill>
                <a:latin typeface="Open Sauce Bold"/>
              </a:rPr>
              <a:t>Responsibility</a:t>
            </a:r>
          </a:p>
        </p:txBody>
      </p:sp>
      <p:sp>
        <p:nvSpPr>
          <p:cNvPr id="31" name="TextBox 31"/>
          <p:cNvSpPr txBox="1"/>
          <p:nvPr/>
        </p:nvSpPr>
        <p:spPr>
          <a:xfrm>
            <a:off x="11114099" y="2893853"/>
            <a:ext cx="4083712" cy="593841"/>
          </a:xfrm>
          <a:prstGeom prst="rect">
            <a:avLst/>
          </a:prstGeom>
        </p:spPr>
        <p:txBody>
          <a:bodyPr lIns="0" tIns="0" rIns="0" bIns="0" rtlCol="0" anchor="t">
            <a:spAutoFit/>
          </a:bodyPr>
          <a:lstStyle/>
          <a:p>
            <a:pPr marL="0" lvl="1" indent="0" algn="l">
              <a:lnSpc>
                <a:spcPts val="4828"/>
              </a:lnSpc>
              <a:spcBef>
                <a:spcPct val="0"/>
              </a:spcBef>
            </a:pPr>
            <a:r>
              <a:rPr lang="en-US" sz="3499" spc="342">
                <a:solidFill>
                  <a:srgbClr val="231F20"/>
                </a:solidFill>
                <a:latin typeface="Open Sauce Bold"/>
              </a:rPr>
              <a:t>Due Date</a:t>
            </a:r>
          </a:p>
        </p:txBody>
      </p:sp>
      <p:sp>
        <p:nvSpPr>
          <p:cNvPr id="32" name="TextBox 32"/>
          <p:cNvSpPr txBox="1"/>
          <p:nvPr/>
        </p:nvSpPr>
        <p:spPr>
          <a:xfrm>
            <a:off x="8745932" y="8431212"/>
            <a:ext cx="2961949" cy="615062"/>
          </a:xfrm>
          <a:prstGeom prst="rect">
            <a:avLst/>
          </a:prstGeom>
        </p:spPr>
        <p:txBody>
          <a:bodyPr lIns="0" tIns="0" rIns="0" bIns="0" rtlCol="0" anchor="t">
            <a:spAutoFit/>
          </a:bodyPr>
          <a:lstStyle/>
          <a:p>
            <a:pPr>
              <a:lnSpc>
                <a:spcPts val="2545"/>
              </a:lnSpc>
            </a:pPr>
            <a:r>
              <a:rPr lang="en-US" sz="1844" spc="180">
                <a:solidFill>
                  <a:srgbClr val="231F20"/>
                </a:solidFill>
                <a:latin typeface="Open Sauce"/>
              </a:rPr>
              <a:t>List the tasks to be completed.</a:t>
            </a:r>
          </a:p>
        </p:txBody>
      </p:sp>
      <p:sp>
        <p:nvSpPr>
          <p:cNvPr id="33" name="TextBox 33"/>
          <p:cNvSpPr txBox="1"/>
          <p:nvPr/>
        </p:nvSpPr>
        <p:spPr>
          <a:xfrm>
            <a:off x="10505194" y="6587543"/>
            <a:ext cx="2961949" cy="793370"/>
          </a:xfrm>
          <a:prstGeom prst="rect">
            <a:avLst/>
          </a:prstGeom>
        </p:spPr>
        <p:txBody>
          <a:bodyPr lIns="0" tIns="0" rIns="0" bIns="0" rtlCol="0" anchor="t">
            <a:spAutoFit/>
          </a:bodyPr>
          <a:lstStyle/>
          <a:p>
            <a:pPr>
              <a:lnSpc>
                <a:spcPts val="2131"/>
              </a:lnSpc>
            </a:pPr>
            <a:r>
              <a:rPr lang="en-US" sz="1544" spc="151">
                <a:solidFill>
                  <a:srgbClr val="231F20"/>
                </a:solidFill>
                <a:latin typeface="Open Sauce"/>
              </a:rPr>
              <a:t>Determine and list who will be responsible for each task</a:t>
            </a:r>
          </a:p>
        </p:txBody>
      </p:sp>
      <p:sp>
        <p:nvSpPr>
          <p:cNvPr id="34" name="TextBox 34"/>
          <p:cNvSpPr txBox="1"/>
          <p:nvPr/>
        </p:nvSpPr>
        <p:spPr>
          <a:xfrm>
            <a:off x="11114099" y="3375811"/>
            <a:ext cx="4426408" cy="933610"/>
          </a:xfrm>
          <a:prstGeom prst="rect">
            <a:avLst/>
          </a:prstGeom>
        </p:spPr>
        <p:txBody>
          <a:bodyPr lIns="0" tIns="0" rIns="0" bIns="0" rtlCol="0" anchor="t">
            <a:spAutoFit/>
          </a:bodyPr>
          <a:lstStyle/>
          <a:p>
            <a:pPr>
              <a:lnSpc>
                <a:spcPts val="3803"/>
              </a:lnSpc>
            </a:pPr>
            <a:r>
              <a:rPr lang="en-US" sz="2756" spc="270">
                <a:solidFill>
                  <a:srgbClr val="231F20"/>
                </a:solidFill>
                <a:latin typeface="Open Sauce"/>
              </a:rPr>
              <a:t>Establish due dates for each task</a:t>
            </a:r>
          </a:p>
        </p:txBody>
      </p:sp>
      <p:sp>
        <p:nvSpPr>
          <p:cNvPr id="35" name="TextBox 35"/>
          <p:cNvSpPr txBox="1"/>
          <p:nvPr/>
        </p:nvSpPr>
        <p:spPr>
          <a:xfrm>
            <a:off x="1292244" y="8820972"/>
            <a:ext cx="1864614" cy="510908"/>
          </a:xfrm>
          <a:prstGeom prst="rect">
            <a:avLst/>
          </a:prstGeom>
        </p:spPr>
        <p:txBody>
          <a:bodyPr lIns="0" tIns="0" rIns="0" bIns="0" rtlCol="0" anchor="t">
            <a:spAutoFit/>
          </a:bodyPr>
          <a:lstStyle/>
          <a:p>
            <a:pPr algn="ctr">
              <a:lnSpc>
                <a:spcPts val="1950"/>
              </a:lnSpc>
            </a:pPr>
            <a:r>
              <a:rPr lang="en-US" sz="1393" u="sng">
                <a:solidFill>
                  <a:srgbClr val="000000"/>
                </a:solidFill>
                <a:latin typeface="Myriad Pro"/>
                <a:hlinkClick r:id="rId15" tooltip="https://scholarworks.umb.edu/cgi/viewcontent.cgi?referer=&amp;httpsredir=1&amp;article=1007&amp;context=ici_institutebrief"/>
              </a:rPr>
              <a:t>30-Day Placement Plan</a:t>
            </a:r>
          </a:p>
          <a:p>
            <a:pPr algn="ctr">
              <a:lnSpc>
                <a:spcPts val="1950"/>
              </a:lnSpc>
            </a:pPr>
            <a:r>
              <a:rPr lang="en-US" sz="1393" u="sng">
                <a:solidFill>
                  <a:srgbClr val="000000"/>
                </a:solidFill>
                <a:latin typeface="Myriad Pro"/>
              </a:rPr>
              <a:t>Brief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9551719" cy="5372843"/>
            <a:chOff x="0" y="0"/>
            <a:chExt cx="6089457" cy="3425320"/>
          </a:xfrm>
        </p:grpSpPr>
        <p:sp>
          <p:nvSpPr>
            <p:cNvPr id="3" name="Freeform 3"/>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solidFill>
              <a:srgbClr val="F9D549"/>
            </a:solidFill>
          </p:spPr>
        </p:sp>
        <p:sp>
          <p:nvSpPr>
            <p:cNvPr id="4" name="Freeform 4"/>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blipFill>
              <a:blip r:embed="rId2"/>
              <a:stretch>
                <a:fillRect t="-83416" b="-83416"/>
              </a:stretch>
            </a:blipFill>
          </p:spPr>
        </p:sp>
      </p:grpSp>
      <p:grpSp>
        <p:nvGrpSpPr>
          <p:cNvPr id="5" name="Group 5"/>
          <p:cNvGrpSpPr/>
          <p:nvPr/>
        </p:nvGrpSpPr>
        <p:grpSpPr>
          <a:xfrm rot="-1660488">
            <a:off x="-4233206" y="5189176"/>
            <a:ext cx="8282376" cy="404757"/>
            <a:chOff x="0" y="0"/>
            <a:chExt cx="2181367" cy="106603"/>
          </a:xfrm>
        </p:grpSpPr>
        <p:sp>
          <p:nvSpPr>
            <p:cNvPr id="6" name="Freeform 6"/>
            <p:cNvSpPr/>
            <p:nvPr/>
          </p:nvSpPr>
          <p:spPr>
            <a:xfrm>
              <a:off x="0" y="0"/>
              <a:ext cx="2181366" cy="106603"/>
            </a:xfrm>
            <a:custGeom>
              <a:avLst/>
              <a:gdLst/>
              <a:ahLst/>
              <a:cxnLst/>
              <a:rect l="l" t="t" r="r" b="b"/>
              <a:pathLst>
                <a:path w="2181366" h="106603">
                  <a:moveTo>
                    <a:pt x="0" y="0"/>
                  </a:moveTo>
                  <a:lnTo>
                    <a:pt x="2181366" y="0"/>
                  </a:lnTo>
                  <a:lnTo>
                    <a:pt x="2181366" y="106603"/>
                  </a:lnTo>
                  <a:lnTo>
                    <a:pt x="0" y="106603"/>
                  </a:lnTo>
                  <a:close/>
                </a:path>
              </a:pathLst>
            </a:custGeom>
            <a:solidFill>
              <a:srgbClr val="0C629F"/>
            </a:solidFill>
          </p:spPr>
        </p:sp>
        <p:sp>
          <p:nvSpPr>
            <p:cNvPr id="7" name="TextBox 7"/>
            <p:cNvSpPr txBox="1"/>
            <p:nvPr/>
          </p:nvSpPr>
          <p:spPr>
            <a:xfrm>
              <a:off x="0" y="-19050"/>
              <a:ext cx="2181367" cy="125653"/>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rot="-1747322">
            <a:off x="3921959" y="1003562"/>
            <a:ext cx="8282376" cy="111180"/>
            <a:chOff x="0" y="0"/>
            <a:chExt cx="2181367" cy="29282"/>
          </a:xfrm>
        </p:grpSpPr>
        <p:sp>
          <p:nvSpPr>
            <p:cNvPr id="9" name="Freeform 9"/>
            <p:cNvSpPr/>
            <p:nvPr/>
          </p:nvSpPr>
          <p:spPr>
            <a:xfrm>
              <a:off x="0" y="0"/>
              <a:ext cx="2181366" cy="29282"/>
            </a:xfrm>
            <a:custGeom>
              <a:avLst/>
              <a:gdLst/>
              <a:ahLst/>
              <a:cxnLst/>
              <a:rect l="l" t="t" r="r" b="b"/>
              <a:pathLst>
                <a:path w="2181366" h="29282">
                  <a:moveTo>
                    <a:pt x="0" y="0"/>
                  </a:moveTo>
                  <a:lnTo>
                    <a:pt x="2181366" y="0"/>
                  </a:lnTo>
                  <a:lnTo>
                    <a:pt x="2181366" y="29282"/>
                  </a:lnTo>
                  <a:lnTo>
                    <a:pt x="0" y="29282"/>
                  </a:lnTo>
                  <a:close/>
                </a:path>
              </a:pathLst>
            </a:custGeom>
            <a:solidFill>
              <a:srgbClr val="0C629F"/>
            </a:solidFill>
          </p:spPr>
        </p:sp>
        <p:sp>
          <p:nvSpPr>
            <p:cNvPr id="10" name="TextBox 10"/>
            <p:cNvSpPr txBox="1"/>
            <p:nvPr/>
          </p:nvSpPr>
          <p:spPr>
            <a:xfrm>
              <a:off x="0" y="-19050"/>
              <a:ext cx="2181367" cy="48332"/>
            </a:xfrm>
            <a:prstGeom prst="rect">
              <a:avLst/>
            </a:prstGeom>
          </p:spPr>
          <p:txBody>
            <a:bodyPr lIns="50800" tIns="50800" rIns="50800" bIns="50800" rtlCol="0" anchor="ctr"/>
            <a:lstStyle/>
            <a:p>
              <a:pPr algn="ctr">
                <a:lnSpc>
                  <a:spcPts val="2859"/>
                </a:lnSpc>
              </a:pPr>
              <a:endParaRPr/>
            </a:p>
          </p:txBody>
        </p:sp>
      </p:grpSp>
      <p:grpSp>
        <p:nvGrpSpPr>
          <p:cNvPr id="11" name="Group 11"/>
          <p:cNvGrpSpPr/>
          <p:nvPr/>
        </p:nvGrpSpPr>
        <p:grpSpPr>
          <a:xfrm>
            <a:off x="11040166" y="866906"/>
            <a:ext cx="6340468" cy="2252844"/>
            <a:chOff x="0" y="0"/>
            <a:chExt cx="4073040" cy="1447200"/>
          </a:xfrm>
        </p:grpSpPr>
        <p:sp>
          <p:nvSpPr>
            <p:cNvPr id="12" name="Freeform 12"/>
            <p:cNvSpPr/>
            <p:nvPr/>
          </p:nvSpPr>
          <p:spPr>
            <a:xfrm>
              <a:off x="0" y="0"/>
              <a:ext cx="4073017" cy="1447165"/>
            </a:xfrm>
            <a:custGeom>
              <a:avLst/>
              <a:gdLst/>
              <a:ahLst/>
              <a:cxnLst/>
              <a:rect l="l" t="t" r="r" b="b"/>
              <a:pathLst>
                <a:path w="4073017" h="1447165">
                  <a:moveTo>
                    <a:pt x="3349244" y="0"/>
                  </a:moveTo>
                  <a:cubicBezTo>
                    <a:pt x="0" y="0"/>
                    <a:pt x="0" y="0"/>
                    <a:pt x="0" y="0"/>
                  </a:cubicBezTo>
                  <a:cubicBezTo>
                    <a:pt x="0" y="1447165"/>
                    <a:pt x="0" y="1447165"/>
                    <a:pt x="0" y="1447165"/>
                  </a:cubicBezTo>
                  <a:cubicBezTo>
                    <a:pt x="3349244" y="1447165"/>
                    <a:pt x="3349244" y="1447165"/>
                    <a:pt x="3349244" y="1447165"/>
                  </a:cubicBezTo>
                  <a:cubicBezTo>
                    <a:pt x="3747897" y="1447165"/>
                    <a:pt x="4073017" y="1122172"/>
                    <a:pt x="4073017" y="723519"/>
                  </a:cubicBezTo>
                  <a:cubicBezTo>
                    <a:pt x="4073017" y="324866"/>
                    <a:pt x="3747897" y="0"/>
                    <a:pt x="3349244" y="0"/>
                  </a:cubicBezTo>
                  <a:close/>
                </a:path>
              </a:pathLst>
            </a:custGeom>
            <a:solidFill>
              <a:srgbClr val="F2F2F2"/>
            </a:solidFill>
          </p:spPr>
        </p:sp>
      </p:grpSp>
      <p:grpSp>
        <p:nvGrpSpPr>
          <p:cNvPr id="13" name="Group 13"/>
          <p:cNvGrpSpPr/>
          <p:nvPr/>
        </p:nvGrpSpPr>
        <p:grpSpPr>
          <a:xfrm>
            <a:off x="9551719" y="-75702"/>
            <a:ext cx="3201057" cy="3198815"/>
            <a:chOff x="0" y="0"/>
            <a:chExt cx="2056320" cy="2054880"/>
          </a:xfrm>
        </p:grpSpPr>
        <p:sp>
          <p:nvSpPr>
            <p:cNvPr id="14" name="Freeform 14"/>
            <p:cNvSpPr/>
            <p:nvPr/>
          </p:nvSpPr>
          <p:spPr>
            <a:xfrm>
              <a:off x="0" y="0"/>
              <a:ext cx="2056384" cy="2054860"/>
            </a:xfrm>
            <a:custGeom>
              <a:avLst/>
              <a:gdLst/>
              <a:ahLst/>
              <a:cxnLst/>
              <a:rect l="l" t="t" r="r" b="b"/>
              <a:pathLst>
                <a:path w="2056384" h="2054860">
                  <a:moveTo>
                    <a:pt x="0" y="1027430"/>
                  </a:moveTo>
                  <a:cubicBezTo>
                    <a:pt x="0" y="459994"/>
                    <a:pt x="460375" y="0"/>
                    <a:pt x="1028192" y="0"/>
                  </a:cubicBezTo>
                  <a:cubicBezTo>
                    <a:pt x="1596009" y="0"/>
                    <a:pt x="2056384" y="459994"/>
                    <a:pt x="2056384" y="1027430"/>
                  </a:cubicBezTo>
                  <a:cubicBezTo>
                    <a:pt x="2056384" y="1594866"/>
                    <a:pt x="1596009" y="2054860"/>
                    <a:pt x="1028192" y="2054860"/>
                  </a:cubicBezTo>
                  <a:cubicBezTo>
                    <a:pt x="460375" y="2054860"/>
                    <a:pt x="0" y="1594866"/>
                    <a:pt x="0" y="1027430"/>
                  </a:cubicBezTo>
                  <a:close/>
                </a:path>
              </a:pathLst>
            </a:custGeom>
            <a:solidFill>
              <a:srgbClr val="0C629F"/>
            </a:solidFill>
          </p:spPr>
        </p:sp>
      </p:grpSp>
      <p:grpSp>
        <p:nvGrpSpPr>
          <p:cNvPr id="15" name="Group 15"/>
          <p:cNvGrpSpPr/>
          <p:nvPr/>
        </p:nvGrpSpPr>
        <p:grpSpPr>
          <a:xfrm>
            <a:off x="10928304" y="4033124"/>
            <a:ext cx="4490302" cy="1596428"/>
            <a:chOff x="0" y="0"/>
            <a:chExt cx="4076640" cy="1449360"/>
          </a:xfrm>
        </p:grpSpPr>
        <p:sp>
          <p:nvSpPr>
            <p:cNvPr id="16" name="Freeform 16"/>
            <p:cNvSpPr/>
            <p:nvPr/>
          </p:nvSpPr>
          <p:spPr>
            <a:xfrm>
              <a:off x="0" y="0"/>
              <a:ext cx="4076573" cy="1449324"/>
            </a:xfrm>
            <a:custGeom>
              <a:avLst/>
              <a:gdLst/>
              <a:ahLst/>
              <a:cxnLst/>
              <a:rect l="l" t="t" r="r" b="b"/>
              <a:pathLst>
                <a:path w="4076573" h="1449324">
                  <a:moveTo>
                    <a:pt x="3352165" y="0"/>
                  </a:moveTo>
                  <a:cubicBezTo>
                    <a:pt x="0" y="0"/>
                    <a:pt x="0" y="0"/>
                    <a:pt x="0" y="0"/>
                  </a:cubicBezTo>
                  <a:cubicBezTo>
                    <a:pt x="0" y="1449324"/>
                    <a:pt x="0" y="1449324"/>
                    <a:pt x="0" y="1449324"/>
                  </a:cubicBezTo>
                  <a:cubicBezTo>
                    <a:pt x="3352165" y="1449324"/>
                    <a:pt x="3352165" y="1449324"/>
                    <a:pt x="3352165" y="1449324"/>
                  </a:cubicBezTo>
                  <a:cubicBezTo>
                    <a:pt x="3751199" y="1449324"/>
                    <a:pt x="4076573" y="1123823"/>
                    <a:pt x="4076573" y="724662"/>
                  </a:cubicBezTo>
                  <a:cubicBezTo>
                    <a:pt x="4076573" y="325501"/>
                    <a:pt x="3751199" y="0"/>
                    <a:pt x="3352165" y="0"/>
                  </a:cubicBezTo>
                  <a:close/>
                </a:path>
              </a:pathLst>
            </a:custGeom>
            <a:solidFill>
              <a:srgbClr val="F2F2F2"/>
            </a:solidFill>
          </p:spPr>
        </p:sp>
      </p:grpSp>
      <p:grpSp>
        <p:nvGrpSpPr>
          <p:cNvPr id="17" name="Group 17"/>
          <p:cNvGrpSpPr/>
          <p:nvPr/>
        </p:nvGrpSpPr>
        <p:grpSpPr>
          <a:xfrm>
            <a:off x="9871949" y="3363782"/>
            <a:ext cx="2267356" cy="2265770"/>
            <a:chOff x="0" y="0"/>
            <a:chExt cx="2058480" cy="2057040"/>
          </a:xfrm>
        </p:grpSpPr>
        <p:sp>
          <p:nvSpPr>
            <p:cNvPr id="18" name="Freeform 18"/>
            <p:cNvSpPr/>
            <p:nvPr/>
          </p:nvSpPr>
          <p:spPr>
            <a:xfrm>
              <a:off x="0" y="0"/>
              <a:ext cx="2058416" cy="2057146"/>
            </a:xfrm>
            <a:custGeom>
              <a:avLst/>
              <a:gdLst/>
              <a:ahLst/>
              <a:cxnLst/>
              <a:rect l="l" t="t" r="r" b="b"/>
              <a:pathLst>
                <a:path w="2058416" h="2057146">
                  <a:moveTo>
                    <a:pt x="0" y="1028573"/>
                  </a:moveTo>
                  <a:cubicBezTo>
                    <a:pt x="0" y="460502"/>
                    <a:pt x="460756" y="0"/>
                    <a:pt x="1029208" y="0"/>
                  </a:cubicBezTo>
                  <a:cubicBezTo>
                    <a:pt x="1597660" y="0"/>
                    <a:pt x="2058416" y="460502"/>
                    <a:pt x="2058416" y="1028573"/>
                  </a:cubicBezTo>
                  <a:cubicBezTo>
                    <a:pt x="2058416" y="1596644"/>
                    <a:pt x="1597660" y="2057146"/>
                    <a:pt x="1029208" y="2057146"/>
                  </a:cubicBezTo>
                  <a:cubicBezTo>
                    <a:pt x="460756" y="2057146"/>
                    <a:pt x="0" y="1596517"/>
                    <a:pt x="0" y="1028573"/>
                  </a:cubicBezTo>
                  <a:close/>
                </a:path>
              </a:pathLst>
            </a:custGeom>
            <a:solidFill>
              <a:srgbClr val="0C629F"/>
            </a:solidFill>
          </p:spPr>
        </p:sp>
      </p:grpSp>
      <p:grpSp>
        <p:nvGrpSpPr>
          <p:cNvPr id="19" name="Group 19"/>
          <p:cNvGrpSpPr/>
          <p:nvPr/>
        </p:nvGrpSpPr>
        <p:grpSpPr>
          <a:xfrm>
            <a:off x="9190711" y="5888883"/>
            <a:ext cx="4489509" cy="1594842"/>
            <a:chOff x="0" y="0"/>
            <a:chExt cx="4075920" cy="1447920"/>
          </a:xfrm>
        </p:grpSpPr>
        <p:sp>
          <p:nvSpPr>
            <p:cNvPr id="20" name="Freeform 20"/>
            <p:cNvSpPr/>
            <p:nvPr/>
          </p:nvSpPr>
          <p:spPr>
            <a:xfrm>
              <a:off x="0" y="0"/>
              <a:ext cx="4075811" cy="1447927"/>
            </a:xfrm>
            <a:custGeom>
              <a:avLst/>
              <a:gdLst/>
              <a:ahLst/>
              <a:cxnLst/>
              <a:rect l="l" t="t" r="r" b="b"/>
              <a:pathLst>
                <a:path w="4075811" h="1447927">
                  <a:moveTo>
                    <a:pt x="3351530" y="0"/>
                  </a:moveTo>
                  <a:cubicBezTo>
                    <a:pt x="0" y="0"/>
                    <a:pt x="0" y="0"/>
                    <a:pt x="0" y="0"/>
                  </a:cubicBezTo>
                  <a:cubicBezTo>
                    <a:pt x="0" y="1447927"/>
                    <a:pt x="0" y="1447927"/>
                    <a:pt x="0" y="1447927"/>
                  </a:cubicBezTo>
                  <a:cubicBezTo>
                    <a:pt x="3351530" y="1447927"/>
                    <a:pt x="3351530" y="1447927"/>
                    <a:pt x="3351530" y="1447927"/>
                  </a:cubicBezTo>
                  <a:cubicBezTo>
                    <a:pt x="3750564" y="1447927"/>
                    <a:pt x="4075811" y="1122807"/>
                    <a:pt x="4075811" y="724027"/>
                  </a:cubicBezTo>
                  <a:cubicBezTo>
                    <a:pt x="4075811" y="325247"/>
                    <a:pt x="3750564" y="0"/>
                    <a:pt x="3351530" y="0"/>
                  </a:cubicBezTo>
                  <a:close/>
                </a:path>
              </a:pathLst>
            </a:custGeom>
            <a:solidFill>
              <a:srgbClr val="F2F2F2"/>
            </a:solidFill>
          </p:spPr>
        </p:sp>
      </p:grpSp>
      <p:grpSp>
        <p:nvGrpSpPr>
          <p:cNvPr id="21" name="Group 21"/>
          <p:cNvGrpSpPr/>
          <p:nvPr/>
        </p:nvGrpSpPr>
        <p:grpSpPr>
          <a:xfrm>
            <a:off x="8001122" y="5217162"/>
            <a:ext cx="2264184" cy="2264184"/>
            <a:chOff x="0" y="0"/>
            <a:chExt cx="2055600" cy="2055600"/>
          </a:xfrm>
        </p:grpSpPr>
        <p:sp>
          <p:nvSpPr>
            <p:cNvPr id="22" name="Freeform 22"/>
            <p:cNvSpPr/>
            <p:nvPr/>
          </p:nvSpPr>
          <p:spPr>
            <a:xfrm>
              <a:off x="0" y="0"/>
              <a:ext cx="2055622" cy="2055622"/>
            </a:xfrm>
            <a:custGeom>
              <a:avLst/>
              <a:gdLst/>
              <a:ahLst/>
              <a:cxnLst/>
              <a:rect l="l" t="t" r="r" b="b"/>
              <a:pathLst>
                <a:path w="2055622" h="2055622">
                  <a:moveTo>
                    <a:pt x="0" y="1027811"/>
                  </a:moveTo>
                  <a:cubicBezTo>
                    <a:pt x="0" y="460121"/>
                    <a:pt x="460121" y="0"/>
                    <a:pt x="1027811" y="0"/>
                  </a:cubicBezTo>
                  <a:cubicBezTo>
                    <a:pt x="1595501" y="0"/>
                    <a:pt x="2055622" y="460121"/>
                    <a:pt x="2055622" y="1027811"/>
                  </a:cubicBezTo>
                  <a:cubicBezTo>
                    <a:pt x="2055622" y="1595501"/>
                    <a:pt x="1595501" y="2055622"/>
                    <a:pt x="1027811" y="2055622"/>
                  </a:cubicBezTo>
                  <a:cubicBezTo>
                    <a:pt x="460121" y="2055622"/>
                    <a:pt x="0" y="1595501"/>
                    <a:pt x="0" y="1027811"/>
                  </a:cubicBezTo>
                  <a:close/>
                </a:path>
              </a:pathLst>
            </a:custGeom>
            <a:solidFill>
              <a:srgbClr val="0C629F"/>
            </a:solidFill>
          </p:spPr>
        </p:sp>
      </p:grpSp>
      <p:grpSp>
        <p:nvGrpSpPr>
          <p:cNvPr id="23" name="Group 23"/>
          <p:cNvGrpSpPr/>
          <p:nvPr/>
        </p:nvGrpSpPr>
        <p:grpSpPr>
          <a:xfrm>
            <a:off x="7353193" y="7739090"/>
            <a:ext cx="4487922" cy="1594049"/>
            <a:chOff x="0" y="0"/>
            <a:chExt cx="4074480" cy="1447200"/>
          </a:xfrm>
        </p:grpSpPr>
        <p:sp>
          <p:nvSpPr>
            <p:cNvPr id="24" name="Freeform 24"/>
            <p:cNvSpPr/>
            <p:nvPr/>
          </p:nvSpPr>
          <p:spPr>
            <a:xfrm>
              <a:off x="0" y="0"/>
              <a:ext cx="4074414" cy="1447165"/>
            </a:xfrm>
            <a:custGeom>
              <a:avLst/>
              <a:gdLst/>
              <a:ahLst/>
              <a:cxnLst/>
              <a:rect l="l" t="t" r="r" b="b"/>
              <a:pathLst>
                <a:path w="4074414" h="1447165">
                  <a:moveTo>
                    <a:pt x="3350387" y="0"/>
                  </a:moveTo>
                  <a:cubicBezTo>
                    <a:pt x="0" y="0"/>
                    <a:pt x="0" y="0"/>
                    <a:pt x="0" y="0"/>
                  </a:cubicBezTo>
                  <a:cubicBezTo>
                    <a:pt x="0" y="1447165"/>
                    <a:pt x="0" y="1447165"/>
                    <a:pt x="0" y="1447165"/>
                  </a:cubicBezTo>
                  <a:cubicBezTo>
                    <a:pt x="3350387" y="1447165"/>
                    <a:pt x="3350387" y="1447165"/>
                    <a:pt x="3350387" y="1447165"/>
                  </a:cubicBezTo>
                  <a:cubicBezTo>
                    <a:pt x="3749294" y="1447165"/>
                    <a:pt x="4074414" y="1122172"/>
                    <a:pt x="4074414" y="723519"/>
                  </a:cubicBezTo>
                  <a:cubicBezTo>
                    <a:pt x="4074414" y="324866"/>
                    <a:pt x="3749294" y="0"/>
                    <a:pt x="3350387" y="0"/>
                  </a:cubicBezTo>
                  <a:close/>
                </a:path>
              </a:pathLst>
            </a:custGeom>
            <a:solidFill>
              <a:srgbClr val="F2F2F2"/>
            </a:solidFill>
          </p:spPr>
        </p:sp>
      </p:grpSp>
      <p:grpSp>
        <p:nvGrpSpPr>
          <p:cNvPr id="25" name="Group 25"/>
          <p:cNvGrpSpPr/>
          <p:nvPr/>
        </p:nvGrpSpPr>
        <p:grpSpPr>
          <a:xfrm>
            <a:off x="6238151" y="7067369"/>
            <a:ext cx="2263391" cy="2265770"/>
            <a:chOff x="0" y="0"/>
            <a:chExt cx="2054880" cy="2057040"/>
          </a:xfrm>
        </p:grpSpPr>
        <p:sp>
          <p:nvSpPr>
            <p:cNvPr id="26" name="Freeform 26"/>
            <p:cNvSpPr/>
            <p:nvPr/>
          </p:nvSpPr>
          <p:spPr>
            <a:xfrm>
              <a:off x="0" y="0"/>
              <a:ext cx="2054860" cy="2057146"/>
            </a:xfrm>
            <a:custGeom>
              <a:avLst/>
              <a:gdLst/>
              <a:ahLst/>
              <a:cxnLst/>
              <a:rect l="l" t="t" r="r" b="b"/>
              <a:pathLst>
                <a:path w="2054860" h="2057146">
                  <a:moveTo>
                    <a:pt x="0" y="1028573"/>
                  </a:moveTo>
                  <a:cubicBezTo>
                    <a:pt x="0" y="460502"/>
                    <a:pt x="459994" y="0"/>
                    <a:pt x="1027430" y="0"/>
                  </a:cubicBezTo>
                  <a:cubicBezTo>
                    <a:pt x="1594866" y="0"/>
                    <a:pt x="2054860" y="460502"/>
                    <a:pt x="2054860" y="1028573"/>
                  </a:cubicBezTo>
                  <a:cubicBezTo>
                    <a:pt x="2054860" y="1596644"/>
                    <a:pt x="1594866" y="2057146"/>
                    <a:pt x="1027430" y="2057146"/>
                  </a:cubicBezTo>
                  <a:cubicBezTo>
                    <a:pt x="459994" y="2057146"/>
                    <a:pt x="0" y="1596517"/>
                    <a:pt x="0" y="1028573"/>
                  </a:cubicBezTo>
                  <a:close/>
                </a:path>
              </a:pathLst>
            </a:custGeom>
            <a:solidFill>
              <a:srgbClr val="0C629F"/>
            </a:solidFill>
          </p:spPr>
        </p:sp>
      </p:grpSp>
      <p:sp>
        <p:nvSpPr>
          <p:cNvPr id="27" name="TextBox 27"/>
          <p:cNvSpPr txBox="1"/>
          <p:nvPr/>
        </p:nvSpPr>
        <p:spPr>
          <a:xfrm>
            <a:off x="8745932" y="7987856"/>
            <a:ext cx="2732632" cy="394149"/>
          </a:xfrm>
          <a:prstGeom prst="rect">
            <a:avLst/>
          </a:prstGeom>
        </p:spPr>
        <p:txBody>
          <a:bodyPr lIns="0" tIns="0" rIns="0" bIns="0" rtlCol="0" anchor="t">
            <a:spAutoFit/>
          </a:bodyPr>
          <a:lstStyle/>
          <a:p>
            <a:pPr>
              <a:lnSpc>
                <a:spcPts val="3231"/>
              </a:lnSpc>
            </a:pPr>
            <a:r>
              <a:rPr lang="en-US" sz="2341" spc="229">
                <a:solidFill>
                  <a:srgbClr val="231F20"/>
                </a:solidFill>
                <a:latin typeface="Open Sauce Bold"/>
              </a:rPr>
              <a:t>Identify Tasks</a:t>
            </a:r>
          </a:p>
        </p:txBody>
      </p:sp>
      <p:sp>
        <p:nvSpPr>
          <p:cNvPr id="28" name="Freeform 28"/>
          <p:cNvSpPr/>
          <p:nvPr/>
        </p:nvSpPr>
        <p:spPr>
          <a:xfrm>
            <a:off x="7007481" y="7667300"/>
            <a:ext cx="724731" cy="1065909"/>
          </a:xfrm>
          <a:custGeom>
            <a:avLst/>
            <a:gdLst/>
            <a:ahLst/>
            <a:cxnLst/>
            <a:rect l="l" t="t" r="r" b="b"/>
            <a:pathLst>
              <a:path w="724731" h="1065909">
                <a:moveTo>
                  <a:pt x="0" y="0"/>
                </a:moveTo>
                <a:lnTo>
                  <a:pt x="724731" y="0"/>
                </a:lnTo>
                <a:lnTo>
                  <a:pt x="724731" y="1065908"/>
                </a:lnTo>
                <a:lnTo>
                  <a:pt x="0" y="10659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10505194" y="6166027"/>
            <a:ext cx="2732632" cy="390855"/>
          </a:xfrm>
          <a:prstGeom prst="rect">
            <a:avLst/>
          </a:prstGeom>
        </p:spPr>
        <p:txBody>
          <a:bodyPr lIns="0" tIns="0" rIns="0" bIns="0" rtlCol="0" anchor="t">
            <a:spAutoFit/>
          </a:bodyPr>
          <a:lstStyle/>
          <a:p>
            <a:pPr marL="0" lvl="1" indent="0" algn="l">
              <a:lnSpc>
                <a:spcPts val="3231"/>
              </a:lnSpc>
              <a:spcBef>
                <a:spcPct val="0"/>
              </a:spcBef>
            </a:pPr>
            <a:r>
              <a:rPr lang="en-US" sz="2341" spc="229">
                <a:solidFill>
                  <a:srgbClr val="231F20"/>
                </a:solidFill>
                <a:latin typeface="Open Sauce Bold"/>
              </a:rPr>
              <a:t>Responsibility</a:t>
            </a:r>
          </a:p>
        </p:txBody>
      </p:sp>
      <p:sp>
        <p:nvSpPr>
          <p:cNvPr id="30" name="TextBox 30"/>
          <p:cNvSpPr txBox="1"/>
          <p:nvPr/>
        </p:nvSpPr>
        <p:spPr>
          <a:xfrm>
            <a:off x="12377430" y="4323617"/>
            <a:ext cx="2732632" cy="390855"/>
          </a:xfrm>
          <a:prstGeom prst="rect">
            <a:avLst/>
          </a:prstGeom>
        </p:spPr>
        <p:txBody>
          <a:bodyPr lIns="0" tIns="0" rIns="0" bIns="0" rtlCol="0" anchor="t">
            <a:spAutoFit/>
          </a:bodyPr>
          <a:lstStyle/>
          <a:p>
            <a:pPr marL="0" lvl="1" indent="0" algn="l">
              <a:lnSpc>
                <a:spcPts val="3231"/>
              </a:lnSpc>
              <a:spcBef>
                <a:spcPct val="0"/>
              </a:spcBef>
            </a:pPr>
            <a:r>
              <a:rPr lang="en-US" sz="2341" spc="229">
                <a:solidFill>
                  <a:srgbClr val="231F20"/>
                </a:solidFill>
                <a:latin typeface="Open Sauce Bold"/>
              </a:rPr>
              <a:t>Due Date</a:t>
            </a:r>
          </a:p>
        </p:txBody>
      </p:sp>
      <p:sp>
        <p:nvSpPr>
          <p:cNvPr id="31" name="TextBox 31"/>
          <p:cNvSpPr txBox="1"/>
          <p:nvPr/>
        </p:nvSpPr>
        <p:spPr>
          <a:xfrm>
            <a:off x="12963666" y="1282442"/>
            <a:ext cx="3861986" cy="555693"/>
          </a:xfrm>
          <a:prstGeom prst="rect">
            <a:avLst/>
          </a:prstGeom>
        </p:spPr>
        <p:txBody>
          <a:bodyPr lIns="0" tIns="0" rIns="0" bIns="0" rtlCol="0" anchor="t">
            <a:spAutoFit/>
          </a:bodyPr>
          <a:lstStyle/>
          <a:p>
            <a:pPr marL="0" lvl="1" indent="0" algn="l">
              <a:lnSpc>
                <a:spcPts val="4566"/>
              </a:lnSpc>
              <a:spcBef>
                <a:spcPct val="0"/>
              </a:spcBef>
            </a:pPr>
            <a:r>
              <a:rPr lang="en-US" sz="3309" spc="324">
                <a:solidFill>
                  <a:srgbClr val="231F20"/>
                </a:solidFill>
                <a:latin typeface="Open Sauce Bold"/>
              </a:rPr>
              <a:t>Make it Official</a:t>
            </a:r>
          </a:p>
        </p:txBody>
      </p:sp>
      <p:sp>
        <p:nvSpPr>
          <p:cNvPr id="32" name="TextBox 32"/>
          <p:cNvSpPr txBox="1"/>
          <p:nvPr/>
        </p:nvSpPr>
        <p:spPr>
          <a:xfrm>
            <a:off x="8745932" y="8431212"/>
            <a:ext cx="2961949" cy="615062"/>
          </a:xfrm>
          <a:prstGeom prst="rect">
            <a:avLst/>
          </a:prstGeom>
        </p:spPr>
        <p:txBody>
          <a:bodyPr lIns="0" tIns="0" rIns="0" bIns="0" rtlCol="0" anchor="t">
            <a:spAutoFit/>
          </a:bodyPr>
          <a:lstStyle/>
          <a:p>
            <a:pPr>
              <a:lnSpc>
                <a:spcPts val="2545"/>
              </a:lnSpc>
            </a:pPr>
            <a:r>
              <a:rPr lang="en-US" sz="1844" spc="180">
                <a:solidFill>
                  <a:srgbClr val="231F20"/>
                </a:solidFill>
                <a:latin typeface="Open Sauce"/>
              </a:rPr>
              <a:t>List the tasks to be completed.</a:t>
            </a:r>
          </a:p>
        </p:txBody>
      </p:sp>
      <p:sp>
        <p:nvSpPr>
          <p:cNvPr id="33" name="TextBox 33"/>
          <p:cNvSpPr txBox="1"/>
          <p:nvPr/>
        </p:nvSpPr>
        <p:spPr>
          <a:xfrm>
            <a:off x="10505194" y="6587543"/>
            <a:ext cx="2961949" cy="793370"/>
          </a:xfrm>
          <a:prstGeom prst="rect">
            <a:avLst/>
          </a:prstGeom>
        </p:spPr>
        <p:txBody>
          <a:bodyPr lIns="0" tIns="0" rIns="0" bIns="0" rtlCol="0" anchor="t">
            <a:spAutoFit/>
          </a:bodyPr>
          <a:lstStyle/>
          <a:p>
            <a:pPr>
              <a:lnSpc>
                <a:spcPts val="2131"/>
              </a:lnSpc>
            </a:pPr>
            <a:r>
              <a:rPr lang="en-US" sz="1544" spc="151">
                <a:solidFill>
                  <a:srgbClr val="231F20"/>
                </a:solidFill>
                <a:latin typeface="Open Sauce"/>
              </a:rPr>
              <a:t>Determine and list who will be responsible for each task</a:t>
            </a:r>
          </a:p>
        </p:txBody>
      </p:sp>
      <p:sp>
        <p:nvSpPr>
          <p:cNvPr id="34" name="TextBox 34"/>
          <p:cNvSpPr txBox="1"/>
          <p:nvPr/>
        </p:nvSpPr>
        <p:spPr>
          <a:xfrm>
            <a:off x="12377430" y="4649273"/>
            <a:ext cx="2961949" cy="615062"/>
          </a:xfrm>
          <a:prstGeom prst="rect">
            <a:avLst/>
          </a:prstGeom>
        </p:spPr>
        <p:txBody>
          <a:bodyPr lIns="0" tIns="0" rIns="0" bIns="0" rtlCol="0" anchor="t">
            <a:spAutoFit/>
          </a:bodyPr>
          <a:lstStyle/>
          <a:p>
            <a:pPr>
              <a:lnSpc>
                <a:spcPts val="2545"/>
              </a:lnSpc>
            </a:pPr>
            <a:r>
              <a:rPr lang="en-US" sz="1844" spc="180">
                <a:solidFill>
                  <a:srgbClr val="231F20"/>
                </a:solidFill>
                <a:latin typeface="Open Sauce"/>
              </a:rPr>
              <a:t>Establish due dates for each task</a:t>
            </a:r>
          </a:p>
        </p:txBody>
      </p:sp>
      <p:sp>
        <p:nvSpPr>
          <p:cNvPr id="35" name="TextBox 35"/>
          <p:cNvSpPr txBox="1"/>
          <p:nvPr/>
        </p:nvSpPr>
        <p:spPr>
          <a:xfrm>
            <a:off x="12963666" y="1836483"/>
            <a:ext cx="4186075" cy="857448"/>
          </a:xfrm>
          <a:prstGeom prst="rect">
            <a:avLst/>
          </a:prstGeom>
        </p:spPr>
        <p:txBody>
          <a:bodyPr lIns="0" tIns="0" rIns="0" bIns="0" rtlCol="0" anchor="t">
            <a:spAutoFit/>
          </a:bodyPr>
          <a:lstStyle/>
          <a:p>
            <a:pPr>
              <a:lnSpc>
                <a:spcPts val="3597"/>
              </a:lnSpc>
            </a:pPr>
            <a:r>
              <a:rPr lang="en-US" sz="2606" spc="255">
                <a:solidFill>
                  <a:srgbClr val="231F20"/>
                </a:solidFill>
                <a:latin typeface="Open Sauce"/>
              </a:rPr>
              <a:t>Sign the plan and take a copy</a:t>
            </a:r>
          </a:p>
        </p:txBody>
      </p:sp>
      <p:sp>
        <p:nvSpPr>
          <p:cNvPr id="36" name="Freeform 36"/>
          <p:cNvSpPr/>
          <p:nvPr/>
        </p:nvSpPr>
        <p:spPr>
          <a:xfrm>
            <a:off x="16384715" y="9009597"/>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7" name="Freeform 37"/>
          <p:cNvSpPr/>
          <p:nvPr/>
        </p:nvSpPr>
        <p:spPr>
          <a:xfrm>
            <a:off x="779698" y="6974662"/>
            <a:ext cx="2889706" cy="2889706"/>
          </a:xfrm>
          <a:custGeom>
            <a:avLst/>
            <a:gdLst/>
            <a:ahLst/>
            <a:cxnLst/>
            <a:rect l="l" t="t" r="r" b="b"/>
            <a:pathLst>
              <a:path w="2889706" h="2889706">
                <a:moveTo>
                  <a:pt x="0" y="0"/>
                </a:moveTo>
                <a:lnTo>
                  <a:pt x="2889707" y="0"/>
                </a:lnTo>
                <a:lnTo>
                  <a:pt x="2889707" y="2889706"/>
                </a:lnTo>
                <a:lnTo>
                  <a:pt x="0" y="28897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8" name="Freeform 38"/>
          <p:cNvSpPr/>
          <p:nvPr/>
        </p:nvSpPr>
        <p:spPr>
          <a:xfrm>
            <a:off x="972197" y="7308621"/>
            <a:ext cx="2504710" cy="2247977"/>
          </a:xfrm>
          <a:custGeom>
            <a:avLst/>
            <a:gdLst/>
            <a:ahLst/>
            <a:cxnLst/>
            <a:rect l="l" t="t" r="r" b="b"/>
            <a:pathLst>
              <a:path w="2504710" h="2247977">
                <a:moveTo>
                  <a:pt x="0" y="0"/>
                </a:moveTo>
                <a:lnTo>
                  <a:pt x="2504709" y="0"/>
                </a:lnTo>
                <a:lnTo>
                  <a:pt x="2504709" y="2247977"/>
                </a:lnTo>
                <a:lnTo>
                  <a:pt x="0" y="22479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9" name="TextBox 39"/>
          <p:cNvSpPr txBox="1"/>
          <p:nvPr/>
        </p:nvSpPr>
        <p:spPr>
          <a:xfrm>
            <a:off x="1292244" y="8820972"/>
            <a:ext cx="1864614" cy="510908"/>
          </a:xfrm>
          <a:prstGeom prst="rect">
            <a:avLst/>
          </a:prstGeom>
        </p:spPr>
        <p:txBody>
          <a:bodyPr lIns="0" tIns="0" rIns="0" bIns="0" rtlCol="0" anchor="t">
            <a:spAutoFit/>
          </a:bodyPr>
          <a:lstStyle/>
          <a:p>
            <a:pPr algn="ctr">
              <a:lnSpc>
                <a:spcPts val="1950"/>
              </a:lnSpc>
            </a:pPr>
            <a:r>
              <a:rPr lang="en-US" sz="1393" u="sng">
                <a:solidFill>
                  <a:srgbClr val="000000"/>
                </a:solidFill>
                <a:latin typeface="Myriad Pro"/>
                <a:hlinkClick r:id="rId11" tooltip="https://scholarworks.umb.edu/cgi/viewcontent.cgi?referer=&amp;httpsredir=1&amp;article=1007&amp;context=ici_institutebrief"/>
              </a:rPr>
              <a:t>30-Day Placement Plan</a:t>
            </a:r>
          </a:p>
          <a:p>
            <a:pPr algn="ctr">
              <a:lnSpc>
                <a:spcPts val="1950"/>
              </a:lnSpc>
            </a:pPr>
            <a:r>
              <a:rPr lang="en-US" sz="1393" u="sng">
                <a:solidFill>
                  <a:srgbClr val="000000"/>
                </a:solidFill>
                <a:latin typeface="Myriad Pro"/>
              </a:rPr>
              <a:t>Brief</a:t>
            </a:r>
          </a:p>
        </p:txBody>
      </p:sp>
      <p:sp>
        <p:nvSpPr>
          <p:cNvPr id="40" name="Freeform 40"/>
          <p:cNvSpPr/>
          <p:nvPr/>
        </p:nvSpPr>
        <p:spPr>
          <a:xfrm>
            <a:off x="8670738" y="5643225"/>
            <a:ext cx="946523" cy="1121805"/>
          </a:xfrm>
          <a:custGeom>
            <a:avLst/>
            <a:gdLst/>
            <a:ahLst/>
            <a:cxnLst/>
            <a:rect l="l" t="t" r="r" b="b"/>
            <a:pathLst>
              <a:path w="946523" h="1121805">
                <a:moveTo>
                  <a:pt x="0" y="0"/>
                </a:moveTo>
                <a:lnTo>
                  <a:pt x="946524" y="0"/>
                </a:lnTo>
                <a:lnTo>
                  <a:pt x="946524" y="1121805"/>
                </a:lnTo>
                <a:lnTo>
                  <a:pt x="0" y="112180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41" name="Freeform 41"/>
          <p:cNvSpPr/>
          <p:nvPr/>
        </p:nvSpPr>
        <p:spPr>
          <a:xfrm>
            <a:off x="10348937" y="3793584"/>
            <a:ext cx="1382457" cy="1447599"/>
          </a:xfrm>
          <a:custGeom>
            <a:avLst/>
            <a:gdLst/>
            <a:ahLst/>
            <a:cxnLst/>
            <a:rect l="l" t="t" r="r" b="b"/>
            <a:pathLst>
              <a:path w="1382457" h="1447599">
                <a:moveTo>
                  <a:pt x="0" y="0"/>
                </a:moveTo>
                <a:lnTo>
                  <a:pt x="1382457" y="0"/>
                </a:lnTo>
                <a:lnTo>
                  <a:pt x="1382457" y="1447599"/>
                </a:lnTo>
                <a:lnTo>
                  <a:pt x="0" y="144759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42" name="Freeform 42"/>
          <p:cNvSpPr/>
          <p:nvPr/>
        </p:nvSpPr>
        <p:spPr>
          <a:xfrm>
            <a:off x="10096672" y="642438"/>
            <a:ext cx="1889496" cy="1851706"/>
          </a:xfrm>
          <a:custGeom>
            <a:avLst/>
            <a:gdLst/>
            <a:ahLst/>
            <a:cxnLst/>
            <a:rect l="l" t="t" r="r" b="b"/>
            <a:pathLst>
              <a:path w="1889496" h="1851706">
                <a:moveTo>
                  <a:pt x="0" y="0"/>
                </a:moveTo>
                <a:lnTo>
                  <a:pt x="1889496" y="0"/>
                </a:lnTo>
                <a:lnTo>
                  <a:pt x="1889496" y="1851706"/>
                </a:lnTo>
                <a:lnTo>
                  <a:pt x="0" y="185170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8" name="Freeform 28"/>
          <p:cNvSpPr/>
          <p:nvPr/>
        </p:nvSpPr>
        <p:spPr>
          <a:xfrm>
            <a:off x="16384715" y="9009597"/>
            <a:ext cx="3806571" cy="2083232"/>
          </a:xfrm>
          <a:custGeom>
            <a:avLst/>
            <a:gdLst/>
            <a:ahLst/>
            <a:cxnLst/>
            <a:rect l="l" t="t" r="r" b="b"/>
            <a:pathLst>
              <a:path w="3806571" h="2083232">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a:grpSpLocks noChangeAspect="1"/>
          </p:cNvGrpSpPr>
          <p:nvPr/>
        </p:nvGrpSpPr>
        <p:grpSpPr>
          <a:xfrm>
            <a:off x="0" y="-202790"/>
            <a:ext cx="9551719" cy="5372843"/>
            <a:chOff x="0" y="0"/>
            <a:chExt cx="6089457" cy="3425320"/>
          </a:xfrm>
        </p:grpSpPr>
        <p:sp>
          <p:nvSpPr>
            <p:cNvPr id="3" name="Freeform 3"/>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solidFill>
              <a:srgbClr val="F9D549"/>
            </a:solidFill>
          </p:spPr>
        </p:sp>
        <p:sp>
          <p:nvSpPr>
            <p:cNvPr id="4" name="Freeform 4"/>
            <p:cNvSpPr/>
            <p:nvPr/>
          </p:nvSpPr>
          <p:spPr>
            <a:xfrm>
              <a:off x="0" y="0"/>
              <a:ext cx="6089457" cy="3425320"/>
            </a:xfrm>
            <a:custGeom>
              <a:avLst/>
              <a:gdLst/>
              <a:ahLst/>
              <a:cxnLst/>
              <a:rect l="l" t="t" r="r" b="b"/>
              <a:pathLst>
                <a:path w="6089457" h="3425320">
                  <a:moveTo>
                    <a:pt x="0" y="3425320"/>
                  </a:moveTo>
                  <a:lnTo>
                    <a:pt x="0" y="0"/>
                  </a:lnTo>
                  <a:lnTo>
                    <a:pt x="6089457" y="0"/>
                  </a:lnTo>
                  <a:cubicBezTo>
                    <a:pt x="4059638" y="1141773"/>
                    <a:pt x="2029819" y="2283546"/>
                    <a:pt x="0" y="3425320"/>
                  </a:cubicBezTo>
                  <a:close/>
                </a:path>
              </a:pathLst>
            </a:custGeom>
            <a:blipFill>
              <a:blip r:embed="rId4"/>
              <a:stretch>
                <a:fillRect t="-83416" b="-83416"/>
              </a:stretch>
            </a:blipFill>
          </p:spPr>
        </p:sp>
      </p:grpSp>
      <p:grpSp>
        <p:nvGrpSpPr>
          <p:cNvPr id="5" name="Group 5"/>
          <p:cNvGrpSpPr/>
          <p:nvPr/>
        </p:nvGrpSpPr>
        <p:grpSpPr>
          <a:xfrm rot="19939512">
            <a:off x="-4233206" y="4949515"/>
            <a:ext cx="8282376" cy="404757"/>
            <a:chOff x="0" y="0"/>
            <a:chExt cx="2181367" cy="106603"/>
          </a:xfrm>
        </p:grpSpPr>
        <p:sp>
          <p:nvSpPr>
            <p:cNvPr id="6" name="Freeform 6"/>
            <p:cNvSpPr/>
            <p:nvPr/>
          </p:nvSpPr>
          <p:spPr>
            <a:xfrm>
              <a:off x="0" y="0"/>
              <a:ext cx="2181366" cy="106603"/>
            </a:xfrm>
            <a:custGeom>
              <a:avLst/>
              <a:gdLst/>
              <a:ahLst/>
              <a:cxnLst/>
              <a:rect l="l" t="t" r="r" b="b"/>
              <a:pathLst>
                <a:path w="2181366" h="106603">
                  <a:moveTo>
                    <a:pt x="0" y="0"/>
                  </a:moveTo>
                  <a:lnTo>
                    <a:pt x="2181366" y="0"/>
                  </a:lnTo>
                  <a:lnTo>
                    <a:pt x="2181366" y="106603"/>
                  </a:lnTo>
                  <a:lnTo>
                    <a:pt x="0" y="106603"/>
                  </a:lnTo>
                  <a:close/>
                </a:path>
              </a:pathLst>
            </a:custGeom>
            <a:solidFill>
              <a:srgbClr val="0C629F"/>
            </a:solidFill>
          </p:spPr>
        </p:sp>
        <p:sp>
          <p:nvSpPr>
            <p:cNvPr id="7" name="TextBox 7"/>
            <p:cNvSpPr txBox="1"/>
            <p:nvPr/>
          </p:nvSpPr>
          <p:spPr>
            <a:xfrm>
              <a:off x="0" y="-19050"/>
              <a:ext cx="2181367" cy="125653"/>
            </a:xfrm>
            <a:prstGeom prst="rect">
              <a:avLst/>
            </a:prstGeom>
          </p:spPr>
          <p:txBody>
            <a:bodyPr lIns="50800" tIns="50800" rIns="50800" bIns="50800" rtlCol="0" anchor="ctr"/>
            <a:lstStyle/>
            <a:p>
              <a:pPr algn="ctr">
                <a:lnSpc>
                  <a:spcPts val="2859"/>
                </a:lnSpc>
              </a:pPr>
              <a:endParaRPr/>
            </a:p>
          </p:txBody>
        </p:sp>
      </p:grpSp>
      <p:grpSp>
        <p:nvGrpSpPr>
          <p:cNvPr id="8" name="Group 8"/>
          <p:cNvGrpSpPr/>
          <p:nvPr/>
        </p:nvGrpSpPr>
        <p:grpSpPr>
          <a:xfrm rot="19852678">
            <a:off x="3811346" y="671723"/>
            <a:ext cx="8282376" cy="111180"/>
            <a:chOff x="0" y="0"/>
            <a:chExt cx="2181367" cy="29282"/>
          </a:xfrm>
        </p:grpSpPr>
        <p:sp>
          <p:nvSpPr>
            <p:cNvPr id="9" name="Freeform 9"/>
            <p:cNvSpPr/>
            <p:nvPr/>
          </p:nvSpPr>
          <p:spPr>
            <a:xfrm>
              <a:off x="0" y="0"/>
              <a:ext cx="2181366" cy="29282"/>
            </a:xfrm>
            <a:custGeom>
              <a:avLst/>
              <a:gdLst/>
              <a:ahLst/>
              <a:cxnLst/>
              <a:rect l="l" t="t" r="r" b="b"/>
              <a:pathLst>
                <a:path w="2181366" h="29282">
                  <a:moveTo>
                    <a:pt x="0" y="0"/>
                  </a:moveTo>
                  <a:lnTo>
                    <a:pt x="2181366" y="0"/>
                  </a:lnTo>
                  <a:lnTo>
                    <a:pt x="2181366" y="29282"/>
                  </a:lnTo>
                  <a:lnTo>
                    <a:pt x="0" y="29282"/>
                  </a:lnTo>
                  <a:close/>
                </a:path>
              </a:pathLst>
            </a:custGeom>
            <a:solidFill>
              <a:srgbClr val="0C629F"/>
            </a:solidFill>
          </p:spPr>
        </p:sp>
        <p:sp>
          <p:nvSpPr>
            <p:cNvPr id="10" name="TextBox 10"/>
            <p:cNvSpPr txBox="1"/>
            <p:nvPr/>
          </p:nvSpPr>
          <p:spPr>
            <a:xfrm>
              <a:off x="0" y="-19050"/>
              <a:ext cx="2181367" cy="48332"/>
            </a:xfrm>
            <a:prstGeom prst="rect">
              <a:avLst/>
            </a:prstGeom>
          </p:spPr>
          <p:txBody>
            <a:bodyPr lIns="50800" tIns="50800" rIns="50800" bIns="50800" rtlCol="0" anchor="ctr"/>
            <a:lstStyle/>
            <a:p>
              <a:pPr algn="ctr">
                <a:lnSpc>
                  <a:spcPts val="2859"/>
                </a:lnSpc>
              </a:pPr>
              <a:endParaRPr/>
            </a:p>
          </p:txBody>
        </p:sp>
      </p:grpSp>
      <p:grpSp>
        <p:nvGrpSpPr>
          <p:cNvPr id="11" name="Group 11"/>
          <p:cNvGrpSpPr/>
          <p:nvPr/>
        </p:nvGrpSpPr>
        <p:grpSpPr>
          <a:xfrm>
            <a:off x="12138444" y="8527165"/>
            <a:ext cx="4486336" cy="1594049"/>
            <a:chOff x="0" y="0"/>
            <a:chExt cx="4073040" cy="1447200"/>
          </a:xfrm>
        </p:grpSpPr>
        <p:sp>
          <p:nvSpPr>
            <p:cNvPr id="12" name="Freeform 12"/>
            <p:cNvSpPr/>
            <p:nvPr/>
          </p:nvSpPr>
          <p:spPr>
            <a:xfrm>
              <a:off x="0" y="0"/>
              <a:ext cx="4073017" cy="1447165"/>
            </a:xfrm>
            <a:custGeom>
              <a:avLst/>
              <a:gdLst/>
              <a:ahLst/>
              <a:cxnLst/>
              <a:rect l="l" t="t" r="r" b="b"/>
              <a:pathLst>
                <a:path w="4073017" h="1447165">
                  <a:moveTo>
                    <a:pt x="3349244" y="0"/>
                  </a:moveTo>
                  <a:cubicBezTo>
                    <a:pt x="0" y="0"/>
                    <a:pt x="0" y="0"/>
                    <a:pt x="0" y="0"/>
                  </a:cubicBezTo>
                  <a:cubicBezTo>
                    <a:pt x="0" y="1447165"/>
                    <a:pt x="0" y="1447165"/>
                    <a:pt x="0" y="1447165"/>
                  </a:cubicBezTo>
                  <a:cubicBezTo>
                    <a:pt x="3349244" y="1447165"/>
                    <a:pt x="3349244" y="1447165"/>
                    <a:pt x="3349244" y="1447165"/>
                  </a:cubicBezTo>
                  <a:cubicBezTo>
                    <a:pt x="3747897" y="1447165"/>
                    <a:pt x="4073017" y="1122172"/>
                    <a:pt x="4073017" y="723519"/>
                  </a:cubicBezTo>
                  <a:cubicBezTo>
                    <a:pt x="4073017" y="324866"/>
                    <a:pt x="3747897" y="0"/>
                    <a:pt x="3349244" y="0"/>
                  </a:cubicBezTo>
                  <a:close/>
                </a:path>
              </a:pathLst>
            </a:custGeom>
            <a:solidFill>
              <a:srgbClr val="F2F2F2"/>
            </a:solidFill>
          </p:spPr>
        </p:sp>
      </p:grpSp>
      <p:grpSp>
        <p:nvGrpSpPr>
          <p:cNvPr id="13" name="Group 13"/>
          <p:cNvGrpSpPr/>
          <p:nvPr/>
        </p:nvGrpSpPr>
        <p:grpSpPr>
          <a:xfrm>
            <a:off x="11085261" y="7860202"/>
            <a:ext cx="2264977" cy="2263391"/>
            <a:chOff x="0" y="0"/>
            <a:chExt cx="2056320" cy="2054880"/>
          </a:xfrm>
        </p:grpSpPr>
        <p:sp>
          <p:nvSpPr>
            <p:cNvPr id="14" name="Freeform 14"/>
            <p:cNvSpPr/>
            <p:nvPr/>
          </p:nvSpPr>
          <p:spPr>
            <a:xfrm>
              <a:off x="0" y="0"/>
              <a:ext cx="2056384" cy="2054860"/>
            </a:xfrm>
            <a:custGeom>
              <a:avLst/>
              <a:gdLst/>
              <a:ahLst/>
              <a:cxnLst/>
              <a:rect l="l" t="t" r="r" b="b"/>
              <a:pathLst>
                <a:path w="2056384" h="2054860">
                  <a:moveTo>
                    <a:pt x="0" y="1027430"/>
                  </a:moveTo>
                  <a:cubicBezTo>
                    <a:pt x="0" y="459994"/>
                    <a:pt x="460375" y="0"/>
                    <a:pt x="1028192" y="0"/>
                  </a:cubicBezTo>
                  <a:cubicBezTo>
                    <a:pt x="1596009" y="0"/>
                    <a:pt x="2056384" y="459994"/>
                    <a:pt x="2056384" y="1027430"/>
                  </a:cubicBezTo>
                  <a:cubicBezTo>
                    <a:pt x="2056384" y="1594866"/>
                    <a:pt x="1596009" y="2054860"/>
                    <a:pt x="1028192" y="2054860"/>
                  </a:cubicBezTo>
                  <a:cubicBezTo>
                    <a:pt x="460375" y="2054860"/>
                    <a:pt x="0" y="1594866"/>
                    <a:pt x="0" y="1027430"/>
                  </a:cubicBezTo>
                  <a:close/>
                </a:path>
              </a:pathLst>
            </a:custGeom>
            <a:solidFill>
              <a:srgbClr val="0C629F"/>
            </a:solidFill>
          </p:spPr>
        </p:sp>
      </p:grpSp>
      <p:grpSp>
        <p:nvGrpSpPr>
          <p:cNvPr id="15" name="Group 15"/>
          <p:cNvGrpSpPr/>
          <p:nvPr/>
        </p:nvGrpSpPr>
        <p:grpSpPr>
          <a:xfrm>
            <a:off x="10412111" y="6282253"/>
            <a:ext cx="4490302" cy="1596428"/>
            <a:chOff x="0" y="0"/>
            <a:chExt cx="4076640" cy="1449360"/>
          </a:xfrm>
        </p:grpSpPr>
        <p:sp>
          <p:nvSpPr>
            <p:cNvPr id="16" name="Freeform 16"/>
            <p:cNvSpPr/>
            <p:nvPr/>
          </p:nvSpPr>
          <p:spPr>
            <a:xfrm>
              <a:off x="0" y="0"/>
              <a:ext cx="4076573" cy="1449324"/>
            </a:xfrm>
            <a:custGeom>
              <a:avLst/>
              <a:gdLst/>
              <a:ahLst/>
              <a:cxnLst/>
              <a:rect l="l" t="t" r="r" b="b"/>
              <a:pathLst>
                <a:path w="4076573" h="1449324">
                  <a:moveTo>
                    <a:pt x="3352165" y="0"/>
                  </a:moveTo>
                  <a:cubicBezTo>
                    <a:pt x="0" y="0"/>
                    <a:pt x="0" y="0"/>
                    <a:pt x="0" y="0"/>
                  </a:cubicBezTo>
                  <a:cubicBezTo>
                    <a:pt x="0" y="1449324"/>
                    <a:pt x="0" y="1449324"/>
                    <a:pt x="0" y="1449324"/>
                  </a:cubicBezTo>
                  <a:cubicBezTo>
                    <a:pt x="3352165" y="1449324"/>
                    <a:pt x="3352165" y="1449324"/>
                    <a:pt x="3352165" y="1449324"/>
                  </a:cubicBezTo>
                  <a:cubicBezTo>
                    <a:pt x="3751199" y="1449324"/>
                    <a:pt x="4076573" y="1123823"/>
                    <a:pt x="4076573" y="724662"/>
                  </a:cubicBezTo>
                  <a:cubicBezTo>
                    <a:pt x="4076573" y="325501"/>
                    <a:pt x="3751199" y="0"/>
                    <a:pt x="3352165" y="0"/>
                  </a:cubicBezTo>
                  <a:close/>
                </a:path>
              </a:pathLst>
            </a:custGeom>
            <a:solidFill>
              <a:srgbClr val="F2F2F2"/>
            </a:solidFill>
          </p:spPr>
        </p:sp>
      </p:grpSp>
      <p:grpSp>
        <p:nvGrpSpPr>
          <p:cNvPr id="17" name="Group 17"/>
          <p:cNvGrpSpPr/>
          <p:nvPr/>
        </p:nvGrpSpPr>
        <p:grpSpPr>
          <a:xfrm>
            <a:off x="9355755" y="5612911"/>
            <a:ext cx="2267356" cy="2265770"/>
            <a:chOff x="0" y="0"/>
            <a:chExt cx="2058480" cy="2057040"/>
          </a:xfrm>
        </p:grpSpPr>
        <p:sp>
          <p:nvSpPr>
            <p:cNvPr id="18" name="Freeform 18"/>
            <p:cNvSpPr/>
            <p:nvPr/>
          </p:nvSpPr>
          <p:spPr>
            <a:xfrm>
              <a:off x="0" y="0"/>
              <a:ext cx="2058416" cy="2057146"/>
            </a:xfrm>
            <a:custGeom>
              <a:avLst/>
              <a:gdLst/>
              <a:ahLst/>
              <a:cxnLst/>
              <a:rect l="l" t="t" r="r" b="b"/>
              <a:pathLst>
                <a:path w="2058416" h="2057146">
                  <a:moveTo>
                    <a:pt x="0" y="1028573"/>
                  </a:moveTo>
                  <a:cubicBezTo>
                    <a:pt x="0" y="460502"/>
                    <a:pt x="460756" y="0"/>
                    <a:pt x="1029208" y="0"/>
                  </a:cubicBezTo>
                  <a:cubicBezTo>
                    <a:pt x="1597660" y="0"/>
                    <a:pt x="2058416" y="460502"/>
                    <a:pt x="2058416" y="1028573"/>
                  </a:cubicBezTo>
                  <a:cubicBezTo>
                    <a:pt x="2058416" y="1596644"/>
                    <a:pt x="1597660" y="2057146"/>
                    <a:pt x="1029208" y="2057146"/>
                  </a:cubicBezTo>
                  <a:cubicBezTo>
                    <a:pt x="460756" y="2057146"/>
                    <a:pt x="0" y="1596517"/>
                    <a:pt x="0" y="1028573"/>
                  </a:cubicBezTo>
                  <a:close/>
                </a:path>
              </a:pathLst>
            </a:custGeom>
            <a:solidFill>
              <a:srgbClr val="0C629F"/>
            </a:solidFill>
          </p:spPr>
        </p:sp>
      </p:grpSp>
      <p:grpSp>
        <p:nvGrpSpPr>
          <p:cNvPr id="19" name="Group 19"/>
          <p:cNvGrpSpPr/>
          <p:nvPr/>
        </p:nvGrpSpPr>
        <p:grpSpPr>
          <a:xfrm>
            <a:off x="9356630" y="3990028"/>
            <a:ext cx="4489509" cy="1594842"/>
            <a:chOff x="0" y="0"/>
            <a:chExt cx="4075920" cy="1447920"/>
          </a:xfrm>
        </p:grpSpPr>
        <p:sp>
          <p:nvSpPr>
            <p:cNvPr id="20" name="Freeform 20"/>
            <p:cNvSpPr/>
            <p:nvPr/>
          </p:nvSpPr>
          <p:spPr>
            <a:xfrm>
              <a:off x="0" y="0"/>
              <a:ext cx="4075811" cy="1447927"/>
            </a:xfrm>
            <a:custGeom>
              <a:avLst/>
              <a:gdLst/>
              <a:ahLst/>
              <a:cxnLst/>
              <a:rect l="l" t="t" r="r" b="b"/>
              <a:pathLst>
                <a:path w="4075811" h="1447927">
                  <a:moveTo>
                    <a:pt x="3351530" y="0"/>
                  </a:moveTo>
                  <a:cubicBezTo>
                    <a:pt x="0" y="0"/>
                    <a:pt x="0" y="0"/>
                    <a:pt x="0" y="0"/>
                  </a:cubicBezTo>
                  <a:cubicBezTo>
                    <a:pt x="0" y="1447927"/>
                    <a:pt x="0" y="1447927"/>
                    <a:pt x="0" y="1447927"/>
                  </a:cubicBezTo>
                  <a:cubicBezTo>
                    <a:pt x="3351530" y="1447927"/>
                    <a:pt x="3351530" y="1447927"/>
                    <a:pt x="3351530" y="1447927"/>
                  </a:cubicBezTo>
                  <a:cubicBezTo>
                    <a:pt x="3750564" y="1447927"/>
                    <a:pt x="4075811" y="1122807"/>
                    <a:pt x="4075811" y="724027"/>
                  </a:cubicBezTo>
                  <a:cubicBezTo>
                    <a:pt x="4075811" y="325247"/>
                    <a:pt x="3750564" y="0"/>
                    <a:pt x="3351530" y="0"/>
                  </a:cubicBezTo>
                  <a:close/>
                </a:path>
              </a:pathLst>
            </a:custGeom>
            <a:solidFill>
              <a:srgbClr val="F2F2F2"/>
            </a:solidFill>
          </p:spPr>
        </p:sp>
      </p:grpSp>
      <p:grpSp>
        <p:nvGrpSpPr>
          <p:cNvPr id="21" name="Group 21"/>
          <p:cNvGrpSpPr/>
          <p:nvPr/>
        </p:nvGrpSpPr>
        <p:grpSpPr>
          <a:xfrm>
            <a:off x="8167041" y="3318307"/>
            <a:ext cx="2264184" cy="2264184"/>
            <a:chOff x="0" y="0"/>
            <a:chExt cx="2055600" cy="2055600"/>
          </a:xfrm>
        </p:grpSpPr>
        <p:sp>
          <p:nvSpPr>
            <p:cNvPr id="22" name="Freeform 22"/>
            <p:cNvSpPr/>
            <p:nvPr/>
          </p:nvSpPr>
          <p:spPr>
            <a:xfrm>
              <a:off x="0" y="0"/>
              <a:ext cx="2055622" cy="2055622"/>
            </a:xfrm>
            <a:custGeom>
              <a:avLst/>
              <a:gdLst/>
              <a:ahLst/>
              <a:cxnLst/>
              <a:rect l="l" t="t" r="r" b="b"/>
              <a:pathLst>
                <a:path w="2055622" h="2055622">
                  <a:moveTo>
                    <a:pt x="0" y="1027811"/>
                  </a:moveTo>
                  <a:cubicBezTo>
                    <a:pt x="0" y="460121"/>
                    <a:pt x="460121" y="0"/>
                    <a:pt x="1027811" y="0"/>
                  </a:cubicBezTo>
                  <a:cubicBezTo>
                    <a:pt x="1595501" y="0"/>
                    <a:pt x="2055622" y="460121"/>
                    <a:pt x="2055622" y="1027811"/>
                  </a:cubicBezTo>
                  <a:cubicBezTo>
                    <a:pt x="2055622" y="1595501"/>
                    <a:pt x="1595501" y="2055622"/>
                    <a:pt x="1027811" y="2055622"/>
                  </a:cubicBezTo>
                  <a:cubicBezTo>
                    <a:pt x="460121" y="2055622"/>
                    <a:pt x="0" y="1595501"/>
                    <a:pt x="0" y="1027811"/>
                  </a:cubicBezTo>
                  <a:close/>
                </a:path>
              </a:pathLst>
            </a:custGeom>
            <a:solidFill>
              <a:srgbClr val="0C629F"/>
            </a:solidFill>
          </p:spPr>
        </p:sp>
      </p:grpSp>
      <p:grpSp>
        <p:nvGrpSpPr>
          <p:cNvPr id="23" name="Group 23"/>
          <p:cNvGrpSpPr/>
          <p:nvPr/>
        </p:nvGrpSpPr>
        <p:grpSpPr>
          <a:xfrm>
            <a:off x="8182790" y="1655381"/>
            <a:ext cx="4487922" cy="1594049"/>
            <a:chOff x="0" y="0"/>
            <a:chExt cx="4074480" cy="1447200"/>
          </a:xfrm>
        </p:grpSpPr>
        <p:sp>
          <p:nvSpPr>
            <p:cNvPr id="24" name="Freeform 24"/>
            <p:cNvSpPr/>
            <p:nvPr/>
          </p:nvSpPr>
          <p:spPr>
            <a:xfrm>
              <a:off x="0" y="0"/>
              <a:ext cx="4074414" cy="1447165"/>
            </a:xfrm>
            <a:custGeom>
              <a:avLst/>
              <a:gdLst/>
              <a:ahLst/>
              <a:cxnLst/>
              <a:rect l="l" t="t" r="r" b="b"/>
              <a:pathLst>
                <a:path w="4074414" h="1447165">
                  <a:moveTo>
                    <a:pt x="3350387" y="0"/>
                  </a:moveTo>
                  <a:cubicBezTo>
                    <a:pt x="0" y="0"/>
                    <a:pt x="0" y="0"/>
                    <a:pt x="0" y="0"/>
                  </a:cubicBezTo>
                  <a:cubicBezTo>
                    <a:pt x="0" y="1447165"/>
                    <a:pt x="0" y="1447165"/>
                    <a:pt x="0" y="1447165"/>
                  </a:cubicBezTo>
                  <a:cubicBezTo>
                    <a:pt x="3350387" y="1447165"/>
                    <a:pt x="3350387" y="1447165"/>
                    <a:pt x="3350387" y="1447165"/>
                  </a:cubicBezTo>
                  <a:cubicBezTo>
                    <a:pt x="3749294" y="1447165"/>
                    <a:pt x="4074414" y="1122172"/>
                    <a:pt x="4074414" y="723519"/>
                  </a:cubicBezTo>
                  <a:cubicBezTo>
                    <a:pt x="4074414" y="324866"/>
                    <a:pt x="3749294" y="0"/>
                    <a:pt x="3350387" y="0"/>
                  </a:cubicBezTo>
                  <a:close/>
                </a:path>
              </a:pathLst>
            </a:custGeom>
            <a:solidFill>
              <a:srgbClr val="F2F2F2"/>
            </a:solidFill>
          </p:spPr>
        </p:sp>
      </p:grpSp>
      <p:grpSp>
        <p:nvGrpSpPr>
          <p:cNvPr id="25" name="Group 25"/>
          <p:cNvGrpSpPr/>
          <p:nvPr/>
        </p:nvGrpSpPr>
        <p:grpSpPr>
          <a:xfrm>
            <a:off x="7067748" y="983660"/>
            <a:ext cx="2263391" cy="2265770"/>
            <a:chOff x="0" y="0"/>
            <a:chExt cx="2054880" cy="2057040"/>
          </a:xfrm>
        </p:grpSpPr>
        <p:sp>
          <p:nvSpPr>
            <p:cNvPr id="26" name="Freeform 26"/>
            <p:cNvSpPr/>
            <p:nvPr/>
          </p:nvSpPr>
          <p:spPr>
            <a:xfrm>
              <a:off x="0" y="0"/>
              <a:ext cx="2054860" cy="2057146"/>
            </a:xfrm>
            <a:custGeom>
              <a:avLst/>
              <a:gdLst/>
              <a:ahLst/>
              <a:cxnLst/>
              <a:rect l="l" t="t" r="r" b="b"/>
              <a:pathLst>
                <a:path w="2054860" h="2057146">
                  <a:moveTo>
                    <a:pt x="0" y="1028573"/>
                  </a:moveTo>
                  <a:cubicBezTo>
                    <a:pt x="0" y="460502"/>
                    <a:pt x="459994" y="0"/>
                    <a:pt x="1027430" y="0"/>
                  </a:cubicBezTo>
                  <a:cubicBezTo>
                    <a:pt x="1594866" y="0"/>
                    <a:pt x="2054860" y="460502"/>
                    <a:pt x="2054860" y="1028573"/>
                  </a:cubicBezTo>
                  <a:cubicBezTo>
                    <a:pt x="2054860" y="1596644"/>
                    <a:pt x="1594866" y="2057146"/>
                    <a:pt x="1027430" y="2057146"/>
                  </a:cubicBezTo>
                  <a:cubicBezTo>
                    <a:pt x="459994" y="2057146"/>
                    <a:pt x="0" y="1596517"/>
                    <a:pt x="0" y="1028573"/>
                  </a:cubicBezTo>
                  <a:close/>
                </a:path>
              </a:pathLst>
            </a:custGeom>
            <a:solidFill>
              <a:srgbClr val="0C629F"/>
            </a:solidFill>
          </p:spPr>
        </p:sp>
      </p:grpSp>
      <p:sp>
        <p:nvSpPr>
          <p:cNvPr id="27" name="Freeform 27"/>
          <p:cNvSpPr/>
          <p:nvPr/>
        </p:nvSpPr>
        <p:spPr>
          <a:xfrm>
            <a:off x="7837078" y="1583591"/>
            <a:ext cx="724731" cy="1065909"/>
          </a:xfrm>
          <a:custGeom>
            <a:avLst/>
            <a:gdLst/>
            <a:ahLst/>
            <a:cxnLst/>
            <a:rect l="l" t="t" r="r" b="b"/>
            <a:pathLst>
              <a:path w="724731" h="1065909">
                <a:moveTo>
                  <a:pt x="0" y="0"/>
                </a:moveTo>
                <a:lnTo>
                  <a:pt x="724731" y="0"/>
                </a:lnTo>
                <a:lnTo>
                  <a:pt x="724731" y="1065908"/>
                </a:lnTo>
                <a:lnTo>
                  <a:pt x="0" y="10659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9" name="Freeform 29"/>
          <p:cNvSpPr/>
          <p:nvPr/>
        </p:nvSpPr>
        <p:spPr>
          <a:xfrm>
            <a:off x="779698" y="6974662"/>
            <a:ext cx="2889706" cy="2889706"/>
          </a:xfrm>
          <a:custGeom>
            <a:avLst/>
            <a:gdLst/>
            <a:ahLst/>
            <a:cxnLst/>
            <a:rect l="l" t="t" r="r" b="b"/>
            <a:pathLst>
              <a:path w="2889706" h="2889706">
                <a:moveTo>
                  <a:pt x="0" y="0"/>
                </a:moveTo>
                <a:lnTo>
                  <a:pt x="2889707" y="0"/>
                </a:lnTo>
                <a:lnTo>
                  <a:pt x="2889707" y="2889706"/>
                </a:lnTo>
                <a:lnTo>
                  <a:pt x="0" y="28897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0" name="Freeform 30"/>
          <p:cNvSpPr/>
          <p:nvPr/>
        </p:nvSpPr>
        <p:spPr>
          <a:xfrm>
            <a:off x="972197" y="7308621"/>
            <a:ext cx="2504710" cy="2247977"/>
          </a:xfrm>
          <a:custGeom>
            <a:avLst/>
            <a:gdLst/>
            <a:ahLst/>
            <a:cxnLst/>
            <a:rect l="l" t="t" r="r" b="b"/>
            <a:pathLst>
              <a:path w="2504710" h="2247977">
                <a:moveTo>
                  <a:pt x="0" y="0"/>
                </a:moveTo>
                <a:lnTo>
                  <a:pt x="2504709" y="0"/>
                </a:lnTo>
                <a:lnTo>
                  <a:pt x="2504709" y="2247977"/>
                </a:lnTo>
                <a:lnTo>
                  <a:pt x="0" y="22479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1" name="Freeform 31"/>
          <p:cNvSpPr/>
          <p:nvPr/>
        </p:nvSpPr>
        <p:spPr>
          <a:xfrm>
            <a:off x="8836657" y="3744370"/>
            <a:ext cx="946523" cy="1121805"/>
          </a:xfrm>
          <a:custGeom>
            <a:avLst/>
            <a:gdLst/>
            <a:ahLst/>
            <a:cxnLst/>
            <a:rect l="l" t="t" r="r" b="b"/>
            <a:pathLst>
              <a:path w="946523" h="1121805">
                <a:moveTo>
                  <a:pt x="0" y="0"/>
                </a:moveTo>
                <a:lnTo>
                  <a:pt x="946524" y="0"/>
                </a:lnTo>
                <a:lnTo>
                  <a:pt x="946524" y="1121805"/>
                </a:lnTo>
                <a:lnTo>
                  <a:pt x="0" y="11218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2" name="Freeform 32"/>
          <p:cNvSpPr/>
          <p:nvPr/>
        </p:nvSpPr>
        <p:spPr>
          <a:xfrm>
            <a:off x="9855008" y="5992964"/>
            <a:ext cx="1336680" cy="1399665"/>
          </a:xfrm>
          <a:custGeom>
            <a:avLst/>
            <a:gdLst/>
            <a:ahLst/>
            <a:cxnLst/>
            <a:rect l="l" t="t" r="r" b="b"/>
            <a:pathLst>
              <a:path w="1336680" h="1399665">
                <a:moveTo>
                  <a:pt x="0" y="0"/>
                </a:moveTo>
                <a:lnTo>
                  <a:pt x="1336680" y="0"/>
                </a:lnTo>
                <a:lnTo>
                  <a:pt x="1336680" y="1399665"/>
                </a:lnTo>
                <a:lnTo>
                  <a:pt x="0" y="139966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3" name="Freeform 33"/>
          <p:cNvSpPr/>
          <p:nvPr/>
        </p:nvSpPr>
        <p:spPr>
          <a:xfrm>
            <a:off x="11548353" y="8335890"/>
            <a:ext cx="1338793" cy="1312017"/>
          </a:xfrm>
          <a:custGeom>
            <a:avLst/>
            <a:gdLst/>
            <a:ahLst/>
            <a:cxnLst/>
            <a:rect l="l" t="t" r="r" b="b"/>
            <a:pathLst>
              <a:path w="1338793" h="1312017">
                <a:moveTo>
                  <a:pt x="0" y="0"/>
                </a:moveTo>
                <a:lnTo>
                  <a:pt x="1338793" y="0"/>
                </a:lnTo>
                <a:lnTo>
                  <a:pt x="1338793" y="1312017"/>
                </a:lnTo>
                <a:lnTo>
                  <a:pt x="0" y="131201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4" name="TextBox 34"/>
          <p:cNvSpPr txBox="1"/>
          <p:nvPr/>
        </p:nvSpPr>
        <p:spPr>
          <a:xfrm>
            <a:off x="9575529" y="1885711"/>
            <a:ext cx="2732632" cy="376834"/>
          </a:xfrm>
          <a:prstGeom prst="rect">
            <a:avLst/>
          </a:prstGeom>
        </p:spPr>
        <p:txBody>
          <a:bodyPr wrap="square" lIns="0" tIns="0" rIns="0" bIns="0" rtlCol="0" anchor="t">
            <a:spAutoFit/>
          </a:bodyPr>
          <a:lstStyle/>
          <a:p>
            <a:pPr>
              <a:lnSpc>
                <a:spcPts val="3231"/>
              </a:lnSpc>
            </a:pPr>
            <a:r>
              <a:rPr lang="en-US" sz="2341" spc="229">
                <a:solidFill>
                  <a:srgbClr val="231F20"/>
                </a:solidFill>
                <a:latin typeface="Open Sauce Bold"/>
              </a:rPr>
              <a:t>Identify Tasks</a:t>
            </a:r>
          </a:p>
        </p:txBody>
      </p:sp>
      <p:sp>
        <p:nvSpPr>
          <p:cNvPr id="35" name="TextBox 35"/>
          <p:cNvSpPr txBox="1"/>
          <p:nvPr/>
        </p:nvSpPr>
        <p:spPr>
          <a:xfrm>
            <a:off x="10671113" y="4267172"/>
            <a:ext cx="2732632" cy="390855"/>
          </a:xfrm>
          <a:prstGeom prst="rect">
            <a:avLst/>
          </a:prstGeom>
        </p:spPr>
        <p:txBody>
          <a:bodyPr lIns="0" tIns="0" rIns="0" bIns="0" rtlCol="0" anchor="t">
            <a:spAutoFit/>
          </a:bodyPr>
          <a:lstStyle/>
          <a:p>
            <a:pPr marL="0" lvl="1" indent="0" algn="l">
              <a:lnSpc>
                <a:spcPts val="3231"/>
              </a:lnSpc>
              <a:spcBef>
                <a:spcPct val="0"/>
              </a:spcBef>
            </a:pPr>
            <a:r>
              <a:rPr lang="en-US" sz="2341" spc="229">
                <a:solidFill>
                  <a:srgbClr val="231F20"/>
                </a:solidFill>
                <a:latin typeface="Open Sauce Bold"/>
              </a:rPr>
              <a:t>Responsibility</a:t>
            </a:r>
          </a:p>
        </p:txBody>
      </p:sp>
      <p:sp>
        <p:nvSpPr>
          <p:cNvPr id="36" name="TextBox 36"/>
          <p:cNvSpPr txBox="1"/>
          <p:nvPr/>
        </p:nvSpPr>
        <p:spPr>
          <a:xfrm>
            <a:off x="11861237" y="6572746"/>
            <a:ext cx="2732632" cy="390855"/>
          </a:xfrm>
          <a:prstGeom prst="rect">
            <a:avLst/>
          </a:prstGeom>
        </p:spPr>
        <p:txBody>
          <a:bodyPr lIns="0" tIns="0" rIns="0" bIns="0" rtlCol="0" anchor="t">
            <a:spAutoFit/>
          </a:bodyPr>
          <a:lstStyle/>
          <a:p>
            <a:pPr marL="0" lvl="1" indent="0" algn="l">
              <a:lnSpc>
                <a:spcPts val="3231"/>
              </a:lnSpc>
              <a:spcBef>
                <a:spcPct val="0"/>
              </a:spcBef>
            </a:pPr>
            <a:r>
              <a:rPr lang="en-US" sz="2341" spc="229">
                <a:solidFill>
                  <a:srgbClr val="231F20"/>
                </a:solidFill>
                <a:latin typeface="Open Sauce Bold"/>
              </a:rPr>
              <a:t>Due Date</a:t>
            </a:r>
          </a:p>
        </p:txBody>
      </p:sp>
      <p:sp>
        <p:nvSpPr>
          <p:cNvPr id="37" name="TextBox 37"/>
          <p:cNvSpPr txBox="1"/>
          <p:nvPr/>
        </p:nvSpPr>
        <p:spPr>
          <a:xfrm>
            <a:off x="13517894" y="8823525"/>
            <a:ext cx="2732632" cy="390855"/>
          </a:xfrm>
          <a:prstGeom prst="rect">
            <a:avLst/>
          </a:prstGeom>
        </p:spPr>
        <p:txBody>
          <a:bodyPr lIns="0" tIns="0" rIns="0" bIns="0" rtlCol="0" anchor="t">
            <a:spAutoFit/>
          </a:bodyPr>
          <a:lstStyle/>
          <a:p>
            <a:pPr marL="0" lvl="1" indent="0" algn="l">
              <a:lnSpc>
                <a:spcPts val="3231"/>
              </a:lnSpc>
              <a:spcBef>
                <a:spcPct val="0"/>
              </a:spcBef>
            </a:pPr>
            <a:r>
              <a:rPr lang="en-US" sz="2341" spc="229">
                <a:solidFill>
                  <a:srgbClr val="231F20"/>
                </a:solidFill>
                <a:latin typeface="Open Sauce Bold"/>
              </a:rPr>
              <a:t>Make it Official</a:t>
            </a:r>
          </a:p>
        </p:txBody>
      </p:sp>
      <p:sp>
        <p:nvSpPr>
          <p:cNvPr id="38" name="TextBox 38"/>
          <p:cNvSpPr txBox="1"/>
          <p:nvPr/>
        </p:nvSpPr>
        <p:spPr>
          <a:xfrm>
            <a:off x="9575529" y="2329067"/>
            <a:ext cx="2961949" cy="615062"/>
          </a:xfrm>
          <a:prstGeom prst="rect">
            <a:avLst/>
          </a:prstGeom>
        </p:spPr>
        <p:txBody>
          <a:bodyPr wrap="square" lIns="0" tIns="0" rIns="0" bIns="0" rtlCol="0" anchor="t">
            <a:spAutoFit/>
          </a:bodyPr>
          <a:lstStyle/>
          <a:p>
            <a:pPr>
              <a:lnSpc>
                <a:spcPts val="2545"/>
              </a:lnSpc>
            </a:pPr>
            <a:r>
              <a:rPr lang="en-US" sz="1844" spc="180">
                <a:solidFill>
                  <a:srgbClr val="231F20"/>
                </a:solidFill>
                <a:latin typeface="Open Sauce"/>
              </a:rPr>
              <a:t>List the tasks to be completed.</a:t>
            </a:r>
          </a:p>
        </p:txBody>
      </p:sp>
      <p:sp>
        <p:nvSpPr>
          <p:cNvPr id="39" name="TextBox 39"/>
          <p:cNvSpPr txBox="1"/>
          <p:nvPr/>
        </p:nvSpPr>
        <p:spPr>
          <a:xfrm>
            <a:off x="10671113" y="4688688"/>
            <a:ext cx="2961949" cy="793370"/>
          </a:xfrm>
          <a:prstGeom prst="rect">
            <a:avLst/>
          </a:prstGeom>
        </p:spPr>
        <p:txBody>
          <a:bodyPr lIns="0" tIns="0" rIns="0" bIns="0" rtlCol="0" anchor="t">
            <a:spAutoFit/>
          </a:bodyPr>
          <a:lstStyle/>
          <a:p>
            <a:pPr>
              <a:lnSpc>
                <a:spcPts val="2131"/>
              </a:lnSpc>
            </a:pPr>
            <a:r>
              <a:rPr lang="en-US" sz="1544" spc="151">
                <a:solidFill>
                  <a:srgbClr val="231F20"/>
                </a:solidFill>
                <a:latin typeface="Open Sauce"/>
              </a:rPr>
              <a:t>Determine and list who will be responsible for each task</a:t>
            </a:r>
          </a:p>
        </p:txBody>
      </p:sp>
      <p:sp>
        <p:nvSpPr>
          <p:cNvPr id="40" name="TextBox 40"/>
          <p:cNvSpPr txBox="1"/>
          <p:nvPr/>
        </p:nvSpPr>
        <p:spPr>
          <a:xfrm>
            <a:off x="11861237" y="6898402"/>
            <a:ext cx="2961949" cy="615062"/>
          </a:xfrm>
          <a:prstGeom prst="rect">
            <a:avLst/>
          </a:prstGeom>
        </p:spPr>
        <p:txBody>
          <a:bodyPr lIns="0" tIns="0" rIns="0" bIns="0" rtlCol="0" anchor="t">
            <a:spAutoFit/>
          </a:bodyPr>
          <a:lstStyle/>
          <a:p>
            <a:pPr>
              <a:lnSpc>
                <a:spcPts val="2545"/>
              </a:lnSpc>
            </a:pPr>
            <a:r>
              <a:rPr lang="en-US" sz="1844" spc="180">
                <a:solidFill>
                  <a:srgbClr val="231F20"/>
                </a:solidFill>
                <a:latin typeface="Open Sauce"/>
              </a:rPr>
              <a:t>Establish due dates for each task</a:t>
            </a:r>
          </a:p>
        </p:txBody>
      </p:sp>
      <p:sp>
        <p:nvSpPr>
          <p:cNvPr id="41" name="TextBox 41"/>
          <p:cNvSpPr txBox="1"/>
          <p:nvPr/>
        </p:nvSpPr>
        <p:spPr>
          <a:xfrm>
            <a:off x="13517894" y="9204855"/>
            <a:ext cx="2961949" cy="615062"/>
          </a:xfrm>
          <a:prstGeom prst="rect">
            <a:avLst/>
          </a:prstGeom>
        </p:spPr>
        <p:txBody>
          <a:bodyPr lIns="0" tIns="0" rIns="0" bIns="0" rtlCol="0" anchor="t">
            <a:spAutoFit/>
          </a:bodyPr>
          <a:lstStyle/>
          <a:p>
            <a:pPr>
              <a:lnSpc>
                <a:spcPts val="2545"/>
              </a:lnSpc>
            </a:pPr>
            <a:r>
              <a:rPr lang="en-US" sz="1844" spc="180">
                <a:solidFill>
                  <a:srgbClr val="231F20"/>
                </a:solidFill>
                <a:latin typeface="Open Sauce"/>
              </a:rPr>
              <a:t>Sign the plan and take a copy</a:t>
            </a:r>
          </a:p>
        </p:txBody>
      </p:sp>
      <p:sp>
        <p:nvSpPr>
          <p:cNvPr id="42" name="TextBox 42"/>
          <p:cNvSpPr txBox="1"/>
          <p:nvPr/>
        </p:nvSpPr>
        <p:spPr>
          <a:xfrm>
            <a:off x="1292244" y="8820972"/>
            <a:ext cx="1864614" cy="510908"/>
          </a:xfrm>
          <a:prstGeom prst="rect">
            <a:avLst/>
          </a:prstGeom>
        </p:spPr>
        <p:txBody>
          <a:bodyPr lIns="0" tIns="0" rIns="0" bIns="0" rtlCol="0" anchor="t">
            <a:spAutoFit/>
          </a:bodyPr>
          <a:lstStyle/>
          <a:p>
            <a:pPr algn="ctr">
              <a:lnSpc>
                <a:spcPts val="1950"/>
              </a:lnSpc>
            </a:pPr>
            <a:r>
              <a:rPr lang="en-US" sz="1393" u="sng">
                <a:solidFill>
                  <a:srgbClr val="000000"/>
                </a:solidFill>
                <a:latin typeface="Myriad Pro"/>
                <a:hlinkClick r:id="rId17" tooltip="https://scholarworks.umb.edu/cgi/viewcontent.cgi?referer=&amp;httpsredir=1&amp;article=1007&amp;context=ici_institutebrief"/>
              </a:rPr>
              <a:t>30-Day Placement Plan</a:t>
            </a:r>
          </a:p>
          <a:p>
            <a:pPr algn="ctr">
              <a:lnSpc>
                <a:spcPts val="1950"/>
              </a:lnSpc>
            </a:pPr>
            <a:r>
              <a:rPr lang="en-US" sz="1393" u="sng">
                <a:solidFill>
                  <a:srgbClr val="000000"/>
                </a:solidFill>
                <a:latin typeface="Myriad Pro"/>
              </a:rPr>
              <a:t>Brief</a:t>
            </a:r>
          </a:p>
        </p:txBody>
      </p:sp>
      <p:sp>
        <p:nvSpPr>
          <p:cNvPr id="43" name="TextBox 43"/>
          <p:cNvSpPr txBox="1"/>
          <p:nvPr/>
        </p:nvSpPr>
        <p:spPr>
          <a:xfrm>
            <a:off x="11540940" y="249543"/>
            <a:ext cx="5130304" cy="605790"/>
          </a:xfrm>
          <a:prstGeom prst="rect">
            <a:avLst/>
          </a:prstGeom>
        </p:spPr>
        <p:txBody>
          <a:bodyPr lIns="0" tIns="0" rIns="0" bIns="0" rtlCol="0" anchor="t">
            <a:spAutoFit/>
          </a:bodyPr>
          <a:lstStyle/>
          <a:p>
            <a:pPr algn="ctr">
              <a:lnSpc>
                <a:spcPts val="4409"/>
              </a:lnSpc>
            </a:pPr>
            <a:r>
              <a:rPr lang="en-US" sz="3150">
                <a:solidFill>
                  <a:srgbClr val="000000"/>
                </a:solidFill>
                <a:latin typeface="Myriad Pro"/>
              </a:rPr>
              <a:t>Review and update monthly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A8F3A2E7F68747928B4D6B67EB9807" ma:contentTypeVersion="12" ma:contentTypeDescription="Create a new document." ma:contentTypeScope="" ma:versionID="eefec1cf1df08675b4add5fb22cb8dab">
  <xsd:schema xmlns:xsd="http://www.w3.org/2001/XMLSchema" xmlns:xs="http://www.w3.org/2001/XMLSchema" xmlns:p="http://schemas.microsoft.com/office/2006/metadata/properties" xmlns:ns2="218189da-cc44-4b6c-9f63-83ae0464560d" xmlns:ns3="a8225de8-9dbb-40fa-b368-c7b6e2bd6ccd" targetNamespace="http://schemas.microsoft.com/office/2006/metadata/properties" ma:root="true" ma:fieldsID="a3c2addd228ea7b4c5b39e8906f654a5" ns2:_="" ns3:_="">
    <xsd:import namespace="218189da-cc44-4b6c-9f63-83ae0464560d"/>
    <xsd:import namespace="a8225de8-9dbb-40fa-b368-c7b6e2bd6cc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8189da-cc44-4b6c-9f63-83ae046456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8225de8-9dbb-40fa-b368-c7b6e2bd6cc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4a6c88-11e5-44cd-9900-9bfaf37410b7}" ma:internalName="TaxCatchAll" ma:showField="CatchAllData" ma:web="a8225de8-9dbb-40fa-b368-c7b6e2bd6c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18189da-cc44-4b6c-9f63-83ae0464560d">
      <Terms xmlns="http://schemas.microsoft.com/office/infopath/2007/PartnerControls"/>
    </lcf76f155ced4ddcb4097134ff3c332f>
    <TaxCatchAll xmlns="a8225de8-9dbb-40fa-b368-c7b6e2bd6ccd" xsi:nil="true"/>
  </documentManagement>
</p:properties>
</file>

<file path=customXml/itemProps1.xml><?xml version="1.0" encoding="utf-8"?>
<ds:datastoreItem xmlns:ds="http://schemas.openxmlformats.org/officeDocument/2006/customXml" ds:itemID="{9C59B1A4-3983-482F-AFF7-75BAD0FE7F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8189da-cc44-4b6c-9f63-83ae0464560d"/>
    <ds:schemaRef ds:uri="a8225de8-9dbb-40fa-b368-c7b6e2bd6c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9515009-605C-423F-BFBB-D2DF4FD10807}">
  <ds:schemaRefs>
    <ds:schemaRef ds:uri="http://schemas.microsoft.com/sharepoint/v3/contenttype/forms"/>
  </ds:schemaRefs>
</ds:datastoreItem>
</file>

<file path=customXml/itemProps3.xml><?xml version="1.0" encoding="utf-8"?>
<ds:datastoreItem xmlns:ds="http://schemas.openxmlformats.org/officeDocument/2006/customXml" ds:itemID="{DD7E84E8-286F-4C9F-AC2F-1F6636C35391}">
  <ds:schemaRefs>
    <ds:schemaRef ds:uri="http://schemas.microsoft.com/office/2006/metadata/properties"/>
    <ds:schemaRef ds:uri="http://schemas.microsoft.com/office/infopath/2007/PartnerControls"/>
    <ds:schemaRef ds:uri="218189da-cc44-4b6c-9f63-83ae0464560d"/>
    <ds:schemaRef ds:uri="a8225de8-9dbb-40fa-b368-c7b6e2bd6ccd"/>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30 Day Plan CoP</dc:title>
  <cp:revision>18</cp:revision>
  <dcterms:created xsi:type="dcterms:W3CDTF">2006-08-16T00:00:00Z</dcterms:created>
  <dcterms:modified xsi:type="dcterms:W3CDTF">2024-03-08T16:50:18Z</dcterms:modified>
  <dc:identifier>DAF0z7fx5eE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0x010100B1A8F3A2E7F68747928B4D6B67EB9807</vt:lpwstr>
  </property>
  <property fmtid="{D5CDD505-2E9C-101B-9397-08002B2CF9AE}" pid="3" name="MediaServiceImageTags">
    <vt:lpwstr/>
  </property>
</Properties>
</file>