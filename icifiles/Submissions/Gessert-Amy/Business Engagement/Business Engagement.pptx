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Glacial Indifference" panose="020B0604020202020204" charset="0"/>
      <p:regular r:id="rId9"/>
    </p:embeddedFont>
    <p:embeddedFont>
      <p:font typeface="Glacial Indifference Bold" panose="020B0604020202020204" charset="0"/>
      <p:regular r:id="rId10"/>
    </p:embeddedFont>
    <p:embeddedFont>
      <p:font typeface="Glacial Indifference Italics" panose="020B0604020202020204" charset="0"/>
      <p:regular r:id="rId11"/>
    </p:embeddedFont>
    <p:embeddedFont>
      <p:font typeface="League Spartan" panose="020B0604020202020204" charset="0"/>
      <p:regular r:id="rId12"/>
    </p:embeddedFont>
    <p:embeddedFont>
      <p:font typeface="Myriad Pro"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65242" autoAdjust="0"/>
  </p:normalViewPr>
  <p:slideViewPr>
    <p:cSldViewPr>
      <p:cViewPr varScale="1">
        <p:scale>
          <a:sx n="27" d="100"/>
          <a:sy n="27" d="100"/>
        </p:scale>
        <p:origin x="166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EAA4F9-71C0-4CDF-8C2A-0BF6F68EB48D}" type="datetimeFigureOut">
              <a:rPr lang="en-US" smtClean="0"/>
              <a:t>2/21/2025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79135A-E58F-415C-8CE3-369BE60D5FBA}" type="slidenum">
              <a:rPr lang="en-US" smtClean="0"/>
              <a:t>‹#›</a:t>
            </a:fld>
            <a:endParaRPr lang="en-US"/>
          </a:p>
        </p:txBody>
      </p:sp>
    </p:spTree>
    <p:extLst>
      <p:ext uri="{BB962C8B-B14F-4D97-AF65-F5344CB8AC3E}">
        <p14:creationId xmlns:p14="http://schemas.microsoft.com/office/powerpoint/2010/main" val="2412033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engagement is all about building strong, mutually beneficial relationships between disability service providers and employers. The goal is to create inclusive workplaces where individuals with disabilities can thrive while also meeting business needs. </a:t>
            </a:r>
          </a:p>
          <a:p>
            <a:r>
              <a:rPr lang="en-US" b="1" dirty="0"/>
              <a:t>Building Relationships</a:t>
            </a:r>
          </a:p>
          <a:p>
            <a:r>
              <a:rPr lang="en-US" i="1" dirty="0"/>
              <a:t>"At its core, business engagement is about relationships. Employers need to trust that we understand their business, their hiring needs, and their challenges. By taking the time to listen, provide value, and offer solutions, we build long-term partnerships rather than just one-time placements."</a:t>
            </a:r>
            <a:endParaRPr lang="en-US" dirty="0"/>
          </a:p>
          <a:p>
            <a:r>
              <a:rPr lang="en-US" b="1" dirty="0"/>
              <a:t>Providing Support &amp; Resources</a:t>
            </a:r>
          </a:p>
          <a:p>
            <a:r>
              <a:rPr lang="en-US" i="1" dirty="0"/>
              <a:t>"Employers may want to hire people with disabilities but feel uncertain about how to do it effectively. That’s where we come in. We provide resources such as disability awareness training, workplace accessibility guidance, and best practices for inclusive hiring. By offering this support, we make the hiring process easier and more successful."</a:t>
            </a:r>
            <a:endParaRPr lang="en-US" dirty="0"/>
          </a:p>
          <a:p>
            <a:r>
              <a:rPr lang="en-US" b="1" dirty="0"/>
              <a:t>Connecting Businesses with Talent</a:t>
            </a:r>
          </a:p>
          <a:p>
            <a:r>
              <a:rPr lang="en-US" i="1" dirty="0"/>
              <a:t>"A key part of business engagement is making the right match between employers and job seekers. We work to understand employer needs, then connect them with qualified candidates who have the skills to succeed. We also provide job coaching and ongoing support to ensure a smooth transition."</a:t>
            </a:r>
            <a:endParaRPr lang="en-US" dirty="0"/>
          </a:p>
          <a:p>
            <a:r>
              <a:rPr lang="en-US" b="1" dirty="0"/>
              <a:t>Educating &amp; Raising Awareness</a:t>
            </a:r>
          </a:p>
          <a:p>
            <a:r>
              <a:rPr lang="en-US" i="1" dirty="0"/>
              <a:t>"Many employers have never worked with a person with a disability or may have misconceptions about accommodations or job performance. Through workshops, presentations, and one-on-one conversations, we educate businesses on the benefits of disability inclusion and help them shift their perspectives."</a:t>
            </a:r>
            <a:endParaRPr lang="en-US" dirty="0"/>
          </a:p>
          <a:p>
            <a:r>
              <a:rPr lang="en-US" b="1" dirty="0"/>
              <a:t>Offering Incentives &amp; Solutions</a:t>
            </a:r>
          </a:p>
          <a:p>
            <a:r>
              <a:rPr lang="en-US" i="1" dirty="0"/>
              <a:t>"Hiring people with disabilities isn’t just the right thing to do—it’s also good for business. We help employers take advantage of tax incentives, funding for accommodations, and other resources that make hiring easier and more cost-effective. By positioning disability hiring as a solution to workforce needs, we create more buy-in from businesses."</a:t>
            </a:r>
            <a:endParaRPr lang="en-US" dirty="0"/>
          </a:p>
          <a:p>
            <a:r>
              <a:rPr lang="en-US" b="1" dirty="0"/>
              <a:t>Creating Long-Term Partnerships</a:t>
            </a:r>
          </a:p>
          <a:p>
            <a:r>
              <a:rPr lang="en-US" i="1" dirty="0"/>
              <a:t>"Finally, business engagement is not a one-time effort—it’s about sustaining relationships over time. We stay connected, provide ongoing support, and celebrate success stories. By doing this, we help businesses grow into champions of disability inclusion and build a culture where hiring people with disabilities becomes a standard practice."</a:t>
            </a:r>
            <a:endParaRPr lang="en-US" dirty="0"/>
          </a:p>
          <a:p>
            <a:r>
              <a:rPr lang="en-US" b="1" dirty="0"/>
              <a:t>Closing:</a:t>
            </a:r>
            <a:br>
              <a:rPr lang="en-US" dirty="0"/>
            </a:br>
            <a:r>
              <a:rPr lang="en-US" i="1" dirty="0"/>
              <a:t>"When we engage businesses effectively, we create win-win situations: people with disabilities gain meaningful employment, and businesses benefit from dedicated, skilled employees. That’s the power of true business engagement."</a:t>
            </a:r>
            <a:endParaRPr lang="en-US" dirty="0"/>
          </a:p>
        </p:txBody>
      </p:sp>
      <p:sp>
        <p:nvSpPr>
          <p:cNvPr id="4" name="Slide Number Placeholder 3"/>
          <p:cNvSpPr>
            <a:spLocks noGrp="1"/>
          </p:cNvSpPr>
          <p:nvPr>
            <p:ph type="sldNum" sz="quarter" idx="5"/>
          </p:nvPr>
        </p:nvSpPr>
        <p:spPr/>
        <p:txBody>
          <a:bodyPr/>
          <a:lstStyle/>
          <a:p>
            <a:fld id="{A979135A-E58F-415C-8CE3-369BE60D5FBA}" type="slidenum">
              <a:rPr lang="en-US" smtClean="0"/>
              <a:t>2</a:t>
            </a:fld>
            <a:endParaRPr lang="en-US"/>
          </a:p>
        </p:txBody>
      </p:sp>
    </p:spTree>
    <p:extLst>
      <p:ext uri="{BB962C8B-B14F-4D97-AF65-F5344CB8AC3E}">
        <p14:creationId xmlns:p14="http://schemas.microsoft.com/office/powerpoint/2010/main" val="3811600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Focus on Mutual Benefits</a:t>
            </a:r>
          </a:p>
          <a:p>
            <a:r>
              <a:rPr lang="en-US" dirty="0"/>
              <a:t>Instead of framing disability hiring as charity, highlight how it can help businesses:</a:t>
            </a:r>
          </a:p>
          <a:p>
            <a:pPr>
              <a:buFont typeface="Arial" panose="020B0604020202020204" pitchFamily="34" charset="0"/>
              <a:buChar char="•"/>
            </a:pPr>
            <a:r>
              <a:rPr lang="en-US" dirty="0"/>
              <a:t>Address workforce shortages: We know it’s a struggle to find good, quality employees right now.  Use this to your advantage! Businesses are looking, fill that need. </a:t>
            </a:r>
          </a:p>
          <a:p>
            <a:pPr>
              <a:buFont typeface="Arial" panose="020B0604020202020204" pitchFamily="34" charset="0"/>
              <a:buChar char="•"/>
            </a:pPr>
            <a:r>
              <a:rPr lang="en-US" dirty="0"/>
              <a:t>Improve retention rates: A 2018 study by Accenture found that companies with inclusive hiring practices saw </a:t>
            </a:r>
            <a:r>
              <a:rPr lang="en-US" b="1" dirty="0"/>
              <a:t>30% lower turnover rates</a:t>
            </a:r>
            <a:r>
              <a:rPr lang="en-US" dirty="0"/>
              <a:t>.</a:t>
            </a:r>
          </a:p>
          <a:p>
            <a:pPr>
              <a:buFont typeface="Arial" panose="020B0604020202020204" pitchFamily="34" charset="0"/>
              <a:buChar char="•"/>
            </a:pPr>
            <a:r>
              <a:rPr lang="en-US" dirty="0"/>
              <a:t>Boost brand reputation and customer loyalty: People with disabilities, along with their families and allies, represent a </a:t>
            </a:r>
            <a:r>
              <a:rPr lang="en-US" b="1" dirty="0"/>
              <a:t>huge consumer base</a:t>
            </a:r>
            <a:r>
              <a:rPr lang="en-US" dirty="0"/>
              <a:t>. In the U.S. alone, the disability community influences over </a:t>
            </a:r>
            <a:r>
              <a:rPr lang="en-US" b="1" dirty="0"/>
              <a:t>$13 trillion in annual disposable income</a:t>
            </a:r>
            <a:r>
              <a:rPr lang="en-US" dirty="0"/>
              <a:t> worldwide. Customers are more likely to support businesses that align with their values, fostering </a:t>
            </a:r>
            <a:r>
              <a:rPr lang="en-US" b="1" dirty="0"/>
              <a:t>brand loyalty and repeat business</a:t>
            </a:r>
            <a:r>
              <a:rPr lang="en-US" dirty="0"/>
              <a:t>.</a:t>
            </a:r>
          </a:p>
          <a:p>
            <a:pPr>
              <a:buFont typeface="Arial" panose="020B0604020202020204" pitchFamily="34" charset="0"/>
              <a:buNone/>
            </a:pPr>
            <a:r>
              <a:rPr lang="en-US" dirty="0"/>
              <a:t>Understanding a business’s goals and challenges allows you to tailor your approach to their needs.</a:t>
            </a:r>
          </a:p>
          <a:p>
            <a:endParaRPr lang="en-US" dirty="0"/>
          </a:p>
        </p:txBody>
      </p:sp>
      <p:sp>
        <p:nvSpPr>
          <p:cNvPr id="4" name="Slide Number Placeholder 3"/>
          <p:cNvSpPr>
            <a:spLocks noGrp="1"/>
          </p:cNvSpPr>
          <p:nvPr>
            <p:ph type="sldNum" sz="quarter" idx="5"/>
          </p:nvPr>
        </p:nvSpPr>
        <p:spPr/>
        <p:txBody>
          <a:bodyPr/>
          <a:lstStyle/>
          <a:p>
            <a:fld id="{A979135A-E58F-415C-8CE3-369BE60D5FBA}" type="slidenum">
              <a:rPr lang="en-US" smtClean="0"/>
              <a:t>3</a:t>
            </a:fld>
            <a:endParaRPr lang="en-US"/>
          </a:p>
        </p:txBody>
      </p:sp>
    </p:spTree>
    <p:extLst>
      <p:ext uri="{BB962C8B-B14F-4D97-AF65-F5344CB8AC3E}">
        <p14:creationId xmlns:p14="http://schemas.microsoft.com/office/powerpoint/2010/main" val="2202505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Employers want solutions, not just candidates. Position yourself as a go-to resource by:</a:t>
            </a:r>
          </a:p>
          <a:p>
            <a:pPr>
              <a:buFont typeface="Arial" panose="020B0604020202020204" pitchFamily="34" charset="0"/>
              <a:buChar char="•"/>
            </a:pPr>
            <a:r>
              <a:rPr lang="en-US" dirty="0"/>
              <a:t>Providing expertise on disability inclusion, accommodations, and workplace accessibility. Leverage resources like the Job Accommodation Network (JAN)</a:t>
            </a:r>
          </a:p>
          <a:p>
            <a:pPr>
              <a:buFont typeface="Arial" panose="020B0604020202020204" pitchFamily="34" charset="0"/>
              <a:buChar char="•"/>
            </a:pPr>
            <a:r>
              <a:rPr lang="en-US" dirty="0"/>
              <a:t>Offering training to hiring managers and staff</a:t>
            </a:r>
          </a:p>
          <a:p>
            <a:pPr>
              <a:buFont typeface="Arial" panose="020B0604020202020204" pitchFamily="34" charset="0"/>
              <a:buChar char="•"/>
            </a:pPr>
            <a:r>
              <a:rPr lang="en-US" dirty="0"/>
              <a:t>Sharing industry best practices and success stories.</a:t>
            </a:r>
          </a:p>
          <a:p>
            <a:pPr>
              <a:buFont typeface="Arial" panose="020B0604020202020204" pitchFamily="34" charset="0"/>
              <a:buChar char="•"/>
            </a:pPr>
            <a:r>
              <a:rPr lang="en-US" dirty="0"/>
              <a:t>Assisting with problem-solving when challenges arise</a:t>
            </a:r>
          </a:p>
          <a:p>
            <a:endParaRPr lang="en-US" dirty="0"/>
          </a:p>
        </p:txBody>
      </p:sp>
      <p:sp>
        <p:nvSpPr>
          <p:cNvPr id="4" name="Slide Number Placeholder 3"/>
          <p:cNvSpPr>
            <a:spLocks noGrp="1"/>
          </p:cNvSpPr>
          <p:nvPr>
            <p:ph type="sldNum" sz="quarter" idx="5"/>
          </p:nvPr>
        </p:nvSpPr>
        <p:spPr/>
        <p:txBody>
          <a:bodyPr/>
          <a:lstStyle/>
          <a:p>
            <a:fld id="{A979135A-E58F-415C-8CE3-369BE60D5FBA}" type="slidenum">
              <a:rPr lang="en-US" smtClean="0"/>
              <a:t>4</a:t>
            </a:fld>
            <a:endParaRPr lang="en-US"/>
          </a:p>
        </p:txBody>
      </p:sp>
    </p:spTree>
    <p:extLst>
      <p:ext uri="{BB962C8B-B14F-4D97-AF65-F5344CB8AC3E}">
        <p14:creationId xmlns:p14="http://schemas.microsoft.com/office/powerpoint/2010/main" val="3713440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Maintain Consistent and Meaningful Communication</a:t>
            </a:r>
          </a:p>
          <a:p>
            <a:r>
              <a:rPr lang="en-US" dirty="0"/>
              <a:t>Strong partnerships require regular check-ins and engagement. Consider these approaches:</a:t>
            </a:r>
          </a:p>
          <a:p>
            <a:pPr>
              <a:buFont typeface="Arial" panose="020B0604020202020204" pitchFamily="34" charset="0"/>
              <a:buChar char="•"/>
            </a:pPr>
            <a:r>
              <a:rPr lang="en-US" b="1" dirty="0"/>
              <a:t>Initial Meetings:</a:t>
            </a:r>
            <a:r>
              <a:rPr lang="en-US" dirty="0"/>
              <a:t> Listen first. Ask about their hiring needs, culture, and workforce challenges.</a:t>
            </a:r>
          </a:p>
          <a:p>
            <a:pPr>
              <a:buFont typeface="Arial" panose="020B0604020202020204" pitchFamily="34" charset="0"/>
              <a:buChar char="•"/>
            </a:pPr>
            <a:r>
              <a:rPr lang="en-US" b="1" dirty="0"/>
              <a:t>Ongoing Follow-Ups:</a:t>
            </a:r>
            <a:r>
              <a:rPr lang="en-US" dirty="0"/>
              <a:t> Provide updates, success stories, and resources. Check in even when they aren’t actively hiring.</a:t>
            </a:r>
          </a:p>
          <a:p>
            <a:pPr>
              <a:buFont typeface="Arial" panose="020B0604020202020204" pitchFamily="34" charset="0"/>
              <a:buChar char="•"/>
            </a:pPr>
            <a:r>
              <a:rPr lang="en-US" b="1" dirty="0"/>
              <a:t>Varied Engagement:</a:t>
            </a:r>
            <a:r>
              <a:rPr lang="en-US" dirty="0"/>
              <a:t> Use emails, calls, in-person meetings, and social media to stay connected.</a:t>
            </a:r>
          </a:p>
          <a:p>
            <a:r>
              <a:rPr lang="en-US" dirty="0"/>
              <a:t>Don't just reach out when you need something—keep the relationship warm year-round.</a:t>
            </a:r>
          </a:p>
          <a:p>
            <a:r>
              <a:rPr lang="en-US" b="1" dirty="0"/>
              <a:t>Start Small and Build Trust</a:t>
            </a:r>
          </a:p>
          <a:p>
            <a:r>
              <a:rPr lang="en-US" dirty="0"/>
              <a:t>If a business is hesitant, encourage them to start with:</a:t>
            </a:r>
          </a:p>
          <a:p>
            <a:pPr>
              <a:buFont typeface="Arial" panose="020B0604020202020204" pitchFamily="34" charset="0"/>
              <a:buChar char="•"/>
            </a:pPr>
            <a:r>
              <a:rPr lang="en-US" b="1" dirty="0"/>
              <a:t>Job shadowing</a:t>
            </a:r>
            <a:r>
              <a:rPr lang="en-US" dirty="0"/>
              <a:t> or </a:t>
            </a:r>
            <a:r>
              <a:rPr lang="en-US" b="1" dirty="0"/>
              <a:t>internships</a:t>
            </a:r>
            <a:r>
              <a:rPr lang="en-US" dirty="0"/>
              <a:t> to build comfort with disability inclusion.</a:t>
            </a:r>
          </a:p>
          <a:p>
            <a:pPr>
              <a:buFont typeface="Arial" panose="020B0604020202020204" pitchFamily="34" charset="0"/>
              <a:buChar char="•"/>
            </a:pPr>
            <a:r>
              <a:rPr lang="en-US" dirty="0"/>
              <a:t>A </a:t>
            </a:r>
            <a:r>
              <a:rPr lang="en-US" b="1" dirty="0"/>
              <a:t>pilot hire</a:t>
            </a:r>
            <a:r>
              <a:rPr lang="en-US" dirty="0"/>
              <a:t> before committing to a large-scale initiative.</a:t>
            </a:r>
          </a:p>
          <a:p>
            <a:pPr>
              <a:buFont typeface="Arial" panose="020B0604020202020204" pitchFamily="34" charset="0"/>
              <a:buChar char="•"/>
            </a:pPr>
            <a:r>
              <a:rPr lang="en-US" dirty="0"/>
              <a:t>Attending an </a:t>
            </a:r>
            <a:r>
              <a:rPr lang="en-US" b="1" dirty="0"/>
              <a:t>employer roundtable</a:t>
            </a:r>
            <a:r>
              <a:rPr lang="en-US" dirty="0"/>
              <a:t> to learn from peers.</a:t>
            </a:r>
          </a:p>
          <a:p>
            <a:r>
              <a:rPr lang="en-US" dirty="0"/>
              <a:t>Success with one placement can open the door for more opportunities.</a:t>
            </a:r>
          </a:p>
          <a:p>
            <a:r>
              <a:rPr lang="en-US" b="1" dirty="0"/>
              <a:t>Offer Continuous Support</a:t>
            </a:r>
          </a:p>
          <a:p>
            <a:r>
              <a:rPr lang="en-US" dirty="0"/>
              <a:t>Relationships shouldn’t end once a hire is made. Strengthen partnerships by:</a:t>
            </a:r>
          </a:p>
          <a:p>
            <a:pPr>
              <a:buFont typeface="Arial" panose="020B0604020202020204" pitchFamily="34" charset="0"/>
              <a:buChar char="•"/>
            </a:pPr>
            <a:r>
              <a:rPr lang="en-US" dirty="0"/>
              <a:t>Checking in regularly to ensure employer and employee success.</a:t>
            </a:r>
          </a:p>
          <a:p>
            <a:pPr>
              <a:buFont typeface="Arial" panose="020B0604020202020204" pitchFamily="34" charset="0"/>
              <a:buChar char="•"/>
            </a:pPr>
            <a:r>
              <a:rPr lang="en-US" dirty="0"/>
              <a:t>Providing guidance on workplace accommodations and problem-solving.</a:t>
            </a:r>
          </a:p>
          <a:p>
            <a:pPr>
              <a:buFont typeface="Arial" panose="020B0604020202020204" pitchFamily="34" charset="0"/>
              <a:buChar char="•"/>
            </a:pPr>
            <a:r>
              <a:rPr lang="en-US" dirty="0"/>
              <a:t>Offering training refreshers or leadership development on disability inclusion.</a:t>
            </a:r>
          </a:p>
          <a:p>
            <a:r>
              <a:rPr lang="en-US" dirty="0"/>
              <a:t>Employers will value you more if they know they can rely on you beyond the initial hiring process.</a:t>
            </a:r>
          </a:p>
          <a:p>
            <a:endParaRPr lang="en-US" dirty="0"/>
          </a:p>
        </p:txBody>
      </p:sp>
      <p:sp>
        <p:nvSpPr>
          <p:cNvPr id="4" name="Slide Number Placeholder 3"/>
          <p:cNvSpPr>
            <a:spLocks noGrp="1"/>
          </p:cNvSpPr>
          <p:nvPr>
            <p:ph type="sldNum" sz="quarter" idx="5"/>
          </p:nvPr>
        </p:nvSpPr>
        <p:spPr/>
        <p:txBody>
          <a:bodyPr/>
          <a:lstStyle/>
          <a:p>
            <a:fld id="{A979135A-E58F-415C-8CE3-369BE60D5FBA}" type="slidenum">
              <a:rPr lang="en-US" smtClean="0"/>
              <a:t>5</a:t>
            </a:fld>
            <a:endParaRPr lang="en-US"/>
          </a:p>
        </p:txBody>
      </p:sp>
    </p:spTree>
    <p:extLst>
      <p:ext uri="{BB962C8B-B14F-4D97-AF65-F5344CB8AC3E}">
        <p14:creationId xmlns:p14="http://schemas.microsoft.com/office/powerpoint/2010/main" val="722570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Leverage Peer Influence and Recognition</a:t>
            </a:r>
          </a:p>
          <a:p>
            <a:r>
              <a:rPr lang="en-US" dirty="0"/>
              <a:t>Employers trust other employers. Strengthen relationships by:</a:t>
            </a:r>
          </a:p>
          <a:p>
            <a:pPr>
              <a:buFont typeface="Arial" panose="020B0604020202020204" pitchFamily="34" charset="0"/>
              <a:buChar char="•"/>
            </a:pPr>
            <a:r>
              <a:rPr lang="en-US" dirty="0"/>
              <a:t>Introducing them to other businesses that have successfully hired people with disabilities.</a:t>
            </a:r>
          </a:p>
          <a:p>
            <a:pPr>
              <a:buFont typeface="Arial" panose="020B0604020202020204" pitchFamily="34" charset="0"/>
              <a:buChar char="•"/>
            </a:pPr>
            <a:r>
              <a:rPr lang="en-US" dirty="0"/>
              <a:t>Creating an </a:t>
            </a:r>
            <a:r>
              <a:rPr lang="en-US" b="1" dirty="0"/>
              <a:t>Employer Champion Network</a:t>
            </a:r>
            <a:r>
              <a:rPr lang="en-US" dirty="0"/>
              <a:t> where companies share best practices.</a:t>
            </a:r>
          </a:p>
          <a:p>
            <a:pPr>
              <a:buFont typeface="Arial" panose="020B0604020202020204" pitchFamily="34" charset="0"/>
              <a:buChar char="•"/>
            </a:pPr>
            <a:r>
              <a:rPr lang="en-US" dirty="0"/>
              <a:t>Recognizing their efforts publicly through awards, social media, or press features.</a:t>
            </a:r>
          </a:p>
          <a:p>
            <a:r>
              <a:rPr lang="en-US" dirty="0"/>
              <a:t>Business leaders often feel more confident in hiring when they see others in their industry doing it successfully.</a:t>
            </a:r>
          </a:p>
          <a:p>
            <a:r>
              <a:rPr lang="en-US" b="1" dirty="0"/>
              <a:t>Get Involved in Business Networks</a:t>
            </a:r>
          </a:p>
          <a:p>
            <a:r>
              <a:rPr lang="en-US" dirty="0"/>
              <a:t>Go where business leaders are already engaged:</a:t>
            </a:r>
          </a:p>
          <a:p>
            <a:pPr>
              <a:buFont typeface="Arial" panose="020B0604020202020204" pitchFamily="34" charset="0"/>
              <a:buChar char="•"/>
            </a:pPr>
            <a:r>
              <a:rPr lang="en-US" b="1" dirty="0"/>
              <a:t>Chambers of Commerce</a:t>
            </a:r>
            <a:endParaRPr lang="en-US" dirty="0"/>
          </a:p>
          <a:p>
            <a:pPr>
              <a:buFont typeface="Arial" panose="020B0604020202020204" pitchFamily="34" charset="0"/>
              <a:buChar char="•"/>
            </a:pPr>
            <a:r>
              <a:rPr lang="en-US" b="1" dirty="0"/>
              <a:t>Industry Associations</a:t>
            </a:r>
            <a:endParaRPr lang="en-US" dirty="0"/>
          </a:p>
          <a:p>
            <a:pPr>
              <a:buFont typeface="Arial" panose="020B0604020202020204" pitchFamily="34" charset="0"/>
              <a:buChar char="•"/>
            </a:pPr>
            <a:r>
              <a:rPr lang="en-US" b="1" dirty="0"/>
              <a:t>Local Workforce Development Boards</a:t>
            </a:r>
            <a:endParaRPr lang="en-US" dirty="0"/>
          </a:p>
          <a:p>
            <a:r>
              <a:rPr lang="en-US" dirty="0"/>
              <a:t>Attend networking events, present at industry conferences, and position yourself as a valuable resource in their professional circles.</a:t>
            </a:r>
          </a:p>
          <a:p>
            <a:r>
              <a:rPr lang="en-US" b="1" dirty="0"/>
              <a:t>Celebrate Success and Show Gratitude</a:t>
            </a:r>
          </a:p>
          <a:p>
            <a:pPr>
              <a:buFont typeface="Arial" panose="020B0604020202020204" pitchFamily="34" charset="0"/>
              <a:buChar char="•"/>
            </a:pPr>
            <a:r>
              <a:rPr lang="en-US" dirty="0"/>
              <a:t>A simple </a:t>
            </a:r>
            <a:r>
              <a:rPr lang="en-US" b="1" dirty="0"/>
              <a:t>thank-you note</a:t>
            </a:r>
            <a:r>
              <a:rPr lang="en-US" dirty="0"/>
              <a:t> or </a:t>
            </a:r>
            <a:r>
              <a:rPr lang="en-US" b="1" dirty="0"/>
              <a:t>shoutout</a:t>
            </a:r>
            <a:r>
              <a:rPr lang="en-US" dirty="0"/>
              <a:t> on LinkedIn can go a long way.</a:t>
            </a:r>
          </a:p>
          <a:p>
            <a:pPr>
              <a:buFont typeface="Arial" panose="020B0604020202020204" pitchFamily="34" charset="0"/>
              <a:buChar char="•"/>
            </a:pPr>
            <a:r>
              <a:rPr lang="en-US" dirty="0"/>
              <a:t>Share success stories that highlight their positive impact.</a:t>
            </a:r>
          </a:p>
          <a:p>
            <a:r>
              <a:rPr lang="en-US" dirty="0"/>
              <a:t>Acknowledging their efforts strengthens the relationship and encourages them to do more.</a:t>
            </a:r>
          </a:p>
          <a:p>
            <a:endParaRPr lang="en-US" dirty="0"/>
          </a:p>
          <a:p>
            <a:endParaRPr lang="en-US" dirty="0"/>
          </a:p>
        </p:txBody>
      </p:sp>
      <p:sp>
        <p:nvSpPr>
          <p:cNvPr id="4" name="Slide Number Placeholder 3"/>
          <p:cNvSpPr>
            <a:spLocks noGrp="1"/>
          </p:cNvSpPr>
          <p:nvPr>
            <p:ph type="sldNum" sz="quarter" idx="5"/>
          </p:nvPr>
        </p:nvSpPr>
        <p:spPr/>
        <p:txBody>
          <a:bodyPr/>
          <a:lstStyle/>
          <a:p>
            <a:fld id="{A979135A-E58F-415C-8CE3-369BE60D5FBA}" type="slidenum">
              <a:rPr lang="en-US" smtClean="0"/>
              <a:t>6</a:t>
            </a:fld>
            <a:endParaRPr lang="en-US"/>
          </a:p>
        </p:txBody>
      </p:sp>
    </p:spTree>
    <p:extLst>
      <p:ext uri="{BB962C8B-B14F-4D97-AF65-F5344CB8AC3E}">
        <p14:creationId xmlns:p14="http://schemas.microsoft.com/office/powerpoint/2010/main" val="2909956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528869" y="-544892"/>
            <a:ext cx="3096042" cy="3147184"/>
          </a:xfrm>
          <a:custGeom>
            <a:avLst/>
            <a:gdLst/>
            <a:ahLst/>
            <a:cxnLst/>
            <a:rect l="l" t="t" r="r" b="b"/>
            <a:pathLst>
              <a:path w="3096042" h="3147184">
                <a:moveTo>
                  <a:pt x="0" y="0"/>
                </a:moveTo>
                <a:lnTo>
                  <a:pt x="3096043" y="0"/>
                </a:lnTo>
                <a:lnTo>
                  <a:pt x="3096043" y="3147184"/>
                </a:lnTo>
                <a:lnTo>
                  <a:pt x="0" y="31471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rot="-2574853">
            <a:off x="1788046" y="8795148"/>
            <a:ext cx="3674757" cy="3674757"/>
          </a:xfrm>
          <a:custGeom>
            <a:avLst/>
            <a:gdLst/>
            <a:ahLst/>
            <a:cxnLst/>
            <a:rect l="l" t="t" r="r" b="b"/>
            <a:pathLst>
              <a:path w="3674757" h="3674757">
                <a:moveTo>
                  <a:pt x="0" y="0"/>
                </a:moveTo>
                <a:lnTo>
                  <a:pt x="3674757" y="0"/>
                </a:lnTo>
                <a:lnTo>
                  <a:pt x="3674757" y="3674757"/>
                </a:lnTo>
                <a:lnTo>
                  <a:pt x="0" y="36747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856011" y="5388364"/>
            <a:ext cx="2057400" cy="2057400"/>
          </a:xfrm>
          <a:custGeom>
            <a:avLst/>
            <a:gdLst/>
            <a:ahLst/>
            <a:cxnLst/>
            <a:rect l="l" t="t" r="r" b="b"/>
            <a:pathLst>
              <a:path w="2057400" h="2057400">
                <a:moveTo>
                  <a:pt x="0" y="0"/>
                </a:moveTo>
                <a:lnTo>
                  <a:pt x="2057400" y="0"/>
                </a:lnTo>
                <a:lnTo>
                  <a:pt x="2057400"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TextBox 5"/>
          <p:cNvSpPr txBox="1"/>
          <p:nvPr/>
        </p:nvSpPr>
        <p:spPr>
          <a:xfrm>
            <a:off x="2900632" y="3043017"/>
            <a:ext cx="12486737" cy="3847664"/>
          </a:xfrm>
          <a:prstGeom prst="rect">
            <a:avLst/>
          </a:prstGeom>
        </p:spPr>
        <p:txBody>
          <a:bodyPr lIns="0" tIns="0" rIns="0" bIns="0" rtlCol="0" anchor="t">
            <a:spAutoFit/>
          </a:bodyPr>
          <a:lstStyle/>
          <a:p>
            <a:pPr algn="ctr">
              <a:lnSpc>
                <a:spcPts val="15125"/>
              </a:lnSpc>
            </a:pPr>
            <a:r>
              <a:rPr lang="en-US" sz="13039">
                <a:solidFill>
                  <a:srgbClr val="26459B"/>
                </a:solidFill>
                <a:latin typeface="League Spartan"/>
                <a:ea typeface="League Spartan"/>
                <a:cs typeface="League Spartan"/>
                <a:sym typeface="League Spartan"/>
              </a:rPr>
              <a:t>BUSINESS ENGAGEMENT</a:t>
            </a:r>
          </a:p>
        </p:txBody>
      </p:sp>
      <p:sp>
        <p:nvSpPr>
          <p:cNvPr id="6" name="Freeform 6"/>
          <p:cNvSpPr/>
          <p:nvPr/>
        </p:nvSpPr>
        <p:spPr>
          <a:xfrm rot="8681927">
            <a:off x="-1222647" y="6778861"/>
            <a:ext cx="4848071" cy="4114800"/>
          </a:xfrm>
          <a:custGeom>
            <a:avLst/>
            <a:gdLst/>
            <a:ahLst/>
            <a:cxnLst/>
            <a:rect l="l" t="t" r="r" b="b"/>
            <a:pathLst>
              <a:path w="4848071" h="4114800">
                <a:moveTo>
                  <a:pt x="0" y="0"/>
                </a:moveTo>
                <a:lnTo>
                  <a:pt x="4848071" y="0"/>
                </a:lnTo>
                <a:lnTo>
                  <a:pt x="4848071"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7" name="TextBox 7"/>
          <p:cNvSpPr txBox="1"/>
          <p:nvPr/>
        </p:nvSpPr>
        <p:spPr>
          <a:xfrm>
            <a:off x="3796308" y="6555493"/>
            <a:ext cx="10695384" cy="890272"/>
          </a:xfrm>
          <a:prstGeom prst="rect">
            <a:avLst/>
          </a:prstGeom>
        </p:spPr>
        <p:txBody>
          <a:bodyPr lIns="0" tIns="0" rIns="0" bIns="0" rtlCol="0" anchor="t">
            <a:spAutoFit/>
          </a:bodyPr>
          <a:lstStyle/>
          <a:p>
            <a:pPr algn="ctr">
              <a:lnSpc>
                <a:spcPts val="6579"/>
              </a:lnSpc>
            </a:pPr>
            <a:r>
              <a:rPr lang="en-US" sz="4699">
                <a:solidFill>
                  <a:srgbClr val="26459B"/>
                </a:solidFill>
                <a:latin typeface="Myriad Pro"/>
                <a:ea typeface="Myriad Pro"/>
                <a:cs typeface="Myriad Pro"/>
                <a:sym typeface="Myriad Pro"/>
              </a:rPr>
              <a:t>Building Relationships, not Transactions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013278" y="8660721"/>
            <a:ext cx="6246022" cy="597579"/>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3272"/>
            </a:solidFill>
          </p:spPr>
          <p:txBody>
            <a:bodyPr/>
            <a:lstStyle/>
            <a:p>
              <a:endParaRPr lang="en-US"/>
            </a:p>
          </p:txBody>
        </p:sp>
      </p:grpSp>
      <p:grpSp>
        <p:nvGrpSpPr>
          <p:cNvPr id="4" name="Group 4"/>
          <p:cNvGrpSpPr/>
          <p:nvPr/>
        </p:nvGrpSpPr>
        <p:grpSpPr>
          <a:xfrm rot="-5400000">
            <a:off x="1724714" y="-2211898"/>
            <a:ext cx="8057351" cy="14270107"/>
            <a:chOff x="0" y="0"/>
            <a:chExt cx="2354580" cy="4170119"/>
          </a:xfrm>
        </p:grpSpPr>
        <p:sp>
          <p:nvSpPr>
            <p:cNvPr id="5" name="Freeform 5"/>
            <p:cNvSpPr/>
            <p:nvPr/>
          </p:nvSpPr>
          <p:spPr>
            <a:xfrm>
              <a:off x="0" y="0"/>
              <a:ext cx="2353310" cy="4170119"/>
            </a:xfrm>
            <a:custGeom>
              <a:avLst/>
              <a:gdLst/>
              <a:ahLst/>
              <a:cxnLst/>
              <a:rect l="l" t="t" r="r" b="b"/>
              <a:pathLst>
                <a:path w="2353310" h="4170119">
                  <a:moveTo>
                    <a:pt x="784860" y="4102809"/>
                  </a:moveTo>
                  <a:cubicBezTo>
                    <a:pt x="905510" y="4143449"/>
                    <a:pt x="1042670" y="4170119"/>
                    <a:pt x="1177290" y="4170119"/>
                  </a:cubicBezTo>
                  <a:cubicBezTo>
                    <a:pt x="1311910" y="4170119"/>
                    <a:pt x="1441450" y="4147259"/>
                    <a:pt x="1560830" y="4106619"/>
                  </a:cubicBezTo>
                  <a:cubicBezTo>
                    <a:pt x="1563370" y="4105349"/>
                    <a:pt x="1565910" y="4105349"/>
                    <a:pt x="1568450" y="4104079"/>
                  </a:cubicBezTo>
                  <a:cubicBezTo>
                    <a:pt x="2016760" y="3941519"/>
                    <a:pt x="2346960" y="3512259"/>
                    <a:pt x="2353310" y="3006605"/>
                  </a:cubicBezTo>
                  <a:lnTo>
                    <a:pt x="2353310" y="0"/>
                  </a:lnTo>
                  <a:lnTo>
                    <a:pt x="0" y="0"/>
                  </a:lnTo>
                  <a:lnTo>
                    <a:pt x="0" y="3004334"/>
                  </a:lnTo>
                  <a:cubicBezTo>
                    <a:pt x="6350" y="3514799"/>
                    <a:pt x="331470" y="3944059"/>
                    <a:pt x="784860" y="4102809"/>
                  </a:cubicBezTo>
                  <a:close/>
                </a:path>
              </a:pathLst>
            </a:custGeom>
            <a:solidFill>
              <a:srgbClr val="FFFFFF">
                <a:alpha val="53725"/>
              </a:srgbClr>
            </a:solidFill>
          </p:spPr>
          <p:txBody>
            <a:bodyPr/>
            <a:lstStyle/>
            <a:p>
              <a:endParaRPr lang="en-US"/>
            </a:p>
          </p:txBody>
        </p:sp>
      </p:grpSp>
      <p:sp>
        <p:nvSpPr>
          <p:cNvPr id="6" name="Freeform 6"/>
          <p:cNvSpPr/>
          <p:nvPr/>
        </p:nvSpPr>
        <p:spPr>
          <a:xfrm rot="-5400000" flipH="1">
            <a:off x="15244337" y="286005"/>
            <a:ext cx="2633016" cy="2676509"/>
          </a:xfrm>
          <a:custGeom>
            <a:avLst/>
            <a:gdLst/>
            <a:ahLst/>
            <a:cxnLst/>
            <a:rect l="l" t="t" r="r" b="b"/>
            <a:pathLst>
              <a:path w="2633016" h="2676509">
                <a:moveTo>
                  <a:pt x="2633016" y="0"/>
                </a:moveTo>
                <a:lnTo>
                  <a:pt x="0" y="0"/>
                </a:lnTo>
                <a:lnTo>
                  <a:pt x="0" y="2676509"/>
                </a:lnTo>
                <a:lnTo>
                  <a:pt x="2633016" y="2676509"/>
                </a:lnTo>
                <a:lnTo>
                  <a:pt x="2633016"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7" name="Freeform 7"/>
          <p:cNvSpPr/>
          <p:nvPr/>
        </p:nvSpPr>
        <p:spPr>
          <a:xfrm>
            <a:off x="11188735" y="3380708"/>
            <a:ext cx="5611937" cy="5571123"/>
          </a:xfrm>
          <a:custGeom>
            <a:avLst/>
            <a:gdLst/>
            <a:ahLst/>
            <a:cxnLst/>
            <a:rect l="l" t="t" r="r" b="b"/>
            <a:pathLst>
              <a:path w="5611937" h="5571123">
                <a:moveTo>
                  <a:pt x="0" y="0"/>
                </a:moveTo>
                <a:lnTo>
                  <a:pt x="5611937" y="0"/>
                </a:lnTo>
                <a:lnTo>
                  <a:pt x="5611937" y="5571123"/>
                </a:lnTo>
                <a:lnTo>
                  <a:pt x="0" y="557112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 name="TextBox 8"/>
          <p:cNvSpPr txBox="1"/>
          <p:nvPr/>
        </p:nvSpPr>
        <p:spPr>
          <a:xfrm>
            <a:off x="1230381" y="1595709"/>
            <a:ext cx="8378960" cy="2228215"/>
          </a:xfrm>
          <a:prstGeom prst="rect">
            <a:avLst/>
          </a:prstGeom>
        </p:spPr>
        <p:txBody>
          <a:bodyPr lIns="0" tIns="0" rIns="0" bIns="0" rtlCol="0" anchor="t">
            <a:spAutoFit/>
          </a:bodyPr>
          <a:lstStyle/>
          <a:p>
            <a:pPr algn="l">
              <a:lnSpc>
                <a:spcPts val="8959"/>
              </a:lnSpc>
            </a:pPr>
            <a:r>
              <a:rPr lang="en-US" sz="6399">
                <a:solidFill>
                  <a:srgbClr val="26459B"/>
                </a:solidFill>
                <a:latin typeface="League Spartan"/>
                <a:ea typeface="League Spartan"/>
                <a:cs typeface="League Spartan"/>
                <a:sym typeface="League Spartan"/>
              </a:rPr>
              <a:t>What is Business Engagement?</a:t>
            </a:r>
          </a:p>
        </p:txBody>
      </p:sp>
      <p:sp>
        <p:nvSpPr>
          <p:cNvPr id="9" name="TextBox 9"/>
          <p:cNvSpPr txBox="1"/>
          <p:nvPr/>
        </p:nvSpPr>
        <p:spPr>
          <a:xfrm>
            <a:off x="1230381" y="4179801"/>
            <a:ext cx="9127232" cy="4138422"/>
          </a:xfrm>
          <a:prstGeom prst="rect">
            <a:avLst/>
          </a:prstGeom>
        </p:spPr>
        <p:txBody>
          <a:bodyPr lIns="0" tIns="0" rIns="0" bIns="0" rtlCol="0" anchor="t">
            <a:spAutoFit/>
          </a:bodyPr>
          <a:lstStyle/>
          <a:p>
            <a:pPr algn="l">
              <a:lnSpc>
                <a:spcPts val="5423"/>
              </a:lnSpc>
              <a:spcBef>
                <a:spcPct val="0"/>
              </a:spcBef>
            </a:pPr>
            <a:r>
              <a:rPr lang="en-US" sz="4799" dirty="0">
                <a:solidFill>
                  <a:srgbClr val="000000"/>
                </a:solidFill>
                <a:latin typeface="Glacial Indifference"/>
                <a:ea typeface="Glacial Indifference"/>
                <a:cs typeface="Glacial Indifference"/>
                <a:sym typeface="Glacial Indifference"/>
              </a:rPr>
              <a:t>Building Relationships</a:t>
            </a:r>
          </a:p>
          <a:p>
            <a:pPr algn="l">
              <a:lnSpc>
                <a:spcPts val="5423"/>
              </a:lnSpc>
              <a:spcBef>
                <a:spcPct val="0"/>
              </a:spcBef>
            </a:pPr>
            <a:r>
              <a:rPr lang="en-US" sz="4799" dirty="0">
                <a:solidFill>
                  <a:srgbClr val="000000"/>
                </a:solidFill>
                <a:latin typeface="Glacial Indifference"/>
                <a:ea typeface="Glacial Indifference"/>
                <a:cs typeface="Glacial Indifference"/>
                <a:sym typeface="Glacial Indifference"/>
              </a:rPr>
              <a:t>Providing Support &amp; Resources </a:t>
            </a:r>
          </a:p>
          <a:p>
            <a:pPr algn="l">
              <a:lnSpc>
                <a:spcPts val="5423"/>
              </a:lnSpc>
              <a:spcBef>
                <a:spcPct val="0"/>
              </a:spcBef>
            </a:pPr>
            <a:r>
              <a:rPr lang="en-US" sz="4799" dirty="0">
                <a:solidFill>
                  <a:srgbClr val="000000"/>
                </a:solidFill>
                <a:latin typeface="Glacial Indifference"/>
                <a:ea typeface="Glacial Indifference"/>
                <a:cs typeface="Glacial Indifference"/>
                <a:sym typeface="Glacial Indifference"/>
              </a:rPr>
              <a:t>Connecting Businesses with Talent </a:t>
            </a:r>
          </a:p>
          <a:p>
            <a:pPr algn="l">
              <a:lnSpc>
                <a:spcPts val="5423"/>
              </a:lnSpc>
              <a:spcBef>
                <a:spcPct val="0"/>
              </a:spcBef>
            </a:pPr>
            <a:r>
              <a:rPr lang="en-US" sz="4799" dirty="0">
                <a:solidFill>
                  <a:srgbClr val="000000"/>
                </a:solidFill>
                <a:latin typeface="Glacial Indifference"/>
                <a:ea typeface="Glacial Indifference"/>
                <a:cs typeface="Glacial Indifference"/>
                <a:sym typeface="Glacial Indifference"/>
              </a:rPr>
              <a:t>Educating &amp; Raising Awareness </a:t>
            </a:r>
          </a:p>
          <a:p>
            <a:pPr algn="l">
              <a:lnSpc>
                <a:spcPts val="5423"/>
              </a:lnSpc>
              <a:spcBef>
                <a:spcPct val="0"/>
              </a:spcBef>
            </a:pPr>
            <a:r>
              <a:rPr lang="en-US" sz="4799" dirty="0">
                <a:solidFill>
                  <a:srgbClr val="000000"/>
                </a:solidFill>
                <a:latin typeface="Glacial Indifference"/>
                <a:ea typeface="Glacial Indifference"/>
                <a:cs typeface="Glacial Indifference"/>
                <a:sym typeface="Glacial Indifference"/>
              </a:rPr>
              <a:t>Offering Incentives &amp; Solutions </a:t>
            </a:r>
          </a:p>
          <a:p>
            <a:pPr algn="l">
              <a:lnSpc>
                <a:spcPts val="5423"/>
              </a:lnSpc>
              <a:spcBef>
                <a:spcPct val="0"/>
              </a:spcBef>
            </a:pPr>
            <a:r>
              <a:rPr lang="en-US" sz="4799" dirty="0">
                <a:solidFill>
                  <a:srgbClr val="000000"/>
                </a:solidFill>
                <a:latin typeface="Glacial Indifference"/>
                <a:ea typeface="Glacial Indifference"/>
                <a:cs typeface="Glacial Indifference"/>
                <a:sym typeface="Glacial Indifference"/>
              </a:rPr>
              <a:t>Creating Long-Term Partnerships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20502" y="853361"/>
            <a:ext cx="6208056" cy="4808421"/>
          </a:xfrm>
          <a:custGeom>
            <a:avLst/>
            <a:gdLst/>
            <a:ahLst/>
            <a:cxnLst/>
            <a:rect l="l" t="t" r="r" b="b"/>
            <a:pathLst>
              <a:path w="6208056" h="4808421">
                <a:moveTo>
                  <a:pt x="0" y="0"/>
                </a:moveTo>
                <a:lnTo>
                  <a:pt x="6208056" y="0"/>
                </a:lnTo>
                <a:lnTo>
                  <a:pt x="6208056" y="4808421"/>
                </a:lnTo>
                <a:lnTo>
                  <a:pt x="0" y="48084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3" name="Group 3"/>
          <p:cNvGrpSpPr/>
          <p:nvPr/>
        </p:nvGrpSpPr>
        <p:grpSpPr>
          <a:xfrm>
            <a:off x="9848607" y="-372960"/>
            <a:ext cx="10656852" cy="11909670"/>
            <a:chOff x="0" y="0"/>
            <a:chExt cx="3887649" cy="4344680"/>
          </a:xfrm>
        </p:grpSpPr>
        <p:sp>
          <p:nvSpPr>
            <p:cNvPr id="4" name="Freeform 4"/>
            <p:cNvSpPr/>
            <p:nvPr/>
          </p:nvSpPr>
          <p:spPr>
            <a:xfrm>
              <a:off x="0" y="0"/>
              <a:ext cx="3887649" cy="4344680"/>
            </a:xfrm>
            <a:custGeom>
              <a:avLst/>
              <a:gdLst/>
              <a:ahLst/>
              <a:cxnLst/>
              <a:rect l="l" t="t" r="r" b="b"/>
              <a:pathLst>
                <a:path w="3887649" h="4344680">
                  <a:moveTo>
                    <a:pt x="0" y="0"/>
                  </a:moveTo>
                  <a:lnTo>
                    <a:pt x="3887649" y="0"/>
                  </a:lnTo>
                  <a:lnTo>
                    <a:pt x="3887649" y="4344680"/>
                  </a:lnTo>
                  <a:lnTo>
                    <a:pt x="0" y="4344680"/>
                  </a:lnTo>
                  <a:close/>
                </a:path>
              </a:pathLst>
            </a:custGeom>
            <a:solidFill>
              <a:srgbClr val="5C73B2"/>
            </a:solidFill>
          </p:spPr>
          <p:txBody>
            <a:bodyPr/>
            <a:lstStyle/>
            <a:p>
              <a:endParaRPr lang="en-US"/>
            </a:p>
          </p:txBody>
        </p:sp>
      </p:grpSp>
      <p:grpSp>
        <p:nvGrpSpPr>
          <p:cNvPr id="5" name="Group 5"/>
          <p:cNvGrpSpPr/>
          <p:nvPr/>
        </p:nvGrpSpPr>
        <p:grpSpPr>
          <a:xfrm rot="-5400000">
            <a:off x="12893087" y="-1144182"/>
            <a:ext cx="1762125" cy="6970302"/>
            <a:chOff x="0" y="0"/>
            <a:chExt cx="2354580" cy="9313831"/>
          </a:xfrm>
        </p:grpSpPr>
        <p:sp>
          <p:nvSpPr>
            <p:cNvPr id="6" name="Freeform 6"/>
            <p:cNvSpPr/>
            <p:nvPr/>
          </p:nvSpPr>
          <p:spPr>
            <a:xfrm>
              <a:off x="0" y="0"/>
              <a:ext cx="2353310" cy="9313831"/>
            </a:xfrm>
            <a:custGeom>
              <a:avLst/>
              <a:gdLst/>
              <a:ahLst/>
              <a:cxnLst/>
              <a:rect l="l" t="t" r="r" b="b"/>
              <a:pathLst>
                <a:path w="2353310" h="9313831">
                  <a:moveTo>
                    <a:pt x="784860" y="9246522"/>
                  </a:moveTo>
                  <a:cubicBezTo>
                    <a:pt x="905510" y="9287161"/>
                    <a:pt x="1042670" y="9313831"/>
                    <a:pt x="1177290" y="9313831"/>
                  </a:cubicBezTo>
                  <a:cubicBezTo>
                    <a:pt x="1311910" y="9313831"/>
                    <a:pt x="1441450" y="9290972"/>
                    <a:pt x="1560830" y="9250331"/>
                  </a:cubicBezTo>
                  <a:cubicBezTo>
                    <a:pt x="1563370" y="9249061"/>
                    <a:pt x="1565910" y="9249061"/>
                    <a:pt x="1568450" y="9247791"/>
                  </a:cubicBezTo>
                  <a:cubicBezTo>
                    <a:pt x="2016760" y="9085231"/>
                    <a:pt x="2346960" y="8655972"/>
                    <a:pt x="2353310" y="8134491"/>
                  </a:cubicBezTo>
                  <a:lnTo>
                    <a:pt x="2353310" y="0"/>
                  </a:lnTo>
                  <a:lnTo>
                    <a:pt x="0" y="0"/>
                  </a:lnTo>
                  <a:lnTo>
                    <a:pt x="0" y="8128264"/>
                  </a:lnTo>
                  <a:cubicBezTo>
                    <a:pt x="6350" y="8658511"/>
                    <a:pt x="331470" y="9087772"/>
                    <a:pt x="784860" y="9246522"/>
                  </a:cubicBezTo>
                  <a:close/>
                </a:path>
              </a:pathLst>
            </a:custGeom>
            <a:solidFill>
              <a:srgbClr val="FFFFFF"/>
            </a:solidFill>
          </p:spPr>
          <p:txBody>
            <a:bodyPr/>
            <a:lstStyle/>
            <a:p>
              <a:endParaRPr lang="en-US"/>
            </a:p>
          </p:txBody>
        </p:sp>
      </p:grpSp>
      <p:grpSp>
        <p:nvGrpSpPr>
          <p:cNvPr id="7" name="Group 7"/>
          <p:cNvGrpSpPr/>
          <p:nvPr/>
        </p:nvGrpSpPr>
        <p:grpSpPr>
          <a:xfrm rot="-5400000">
            <a:off x="12893087" y="1658349"/>
            <a:ext cx="1762125" cy="6970302"/>
            <a:chOff x="0" y="0"/>
            <a:chExt cx="2354580" cy="9313831"/>
          </a:xfrm>
        </p:grpSpPr>
        <p:sp>
          <p:nvSpPr>
            <p:cNvPr id="8" name="Freeform 8"/>
            <p:cNvSpPr/>
            <p:nvPr/>
          </p:nvSpPr>
          <p:spPr>
            <a:xfrm>
              <a:off x="0" y="0"/>
              <a:ext cx="2353310" cy="9313831"/>
            </a:xfrm>
            <a:custGeom>
              <a:avLst/>
              <a:gdLst/>
              <a:ahLst/>
              <a:cxnLst/>
              <a:rect l="l" t="t" r="r" b="b"/>
              <a:pathLst>
                <a:path w="2353310" h="9313831">
                  <a:moveTo>
                    <a:pt x="784860" y="9246522"/>
                  </a:moveTo>
                  <a:cubicBezTo>
                    <a:pt x="905510" y="9287161"/>
                    <a:pt x="1042670" y="9313831"/>
                    <a:pt x="1177290" y="9313831"/>
                  </a:cubicBezTo>
                  <a:cubicBezTo>
                    <a:pt x="1311910" y="9313831"/>
                    <a:pt x="1441450" y="9290972"/>
                    <a:pt x="1560830" y="9250331"/>
                  </a:cubicBezTo>
                  <a:cubicBezTo>
                    <a:pt x="1563370" y="9249061"/>
                    <a:pt x="1565910" y="9249061"/>
                    <a:pt x="1568450" y="9247791"/>
                  </a:cubicBezTo>
                  <a:cubicBezTo>
                    <a:pt x="2016760" y="9085231"/>
                    <a:pt x="2346960" y="8655972"/>
                    <a:pt x="2353310" y="8134491"/>
                  </a:cubicBezTo>
                  <a:lnTo>
                    <a:pt x="2353310" y="0"/>
                  </a:lnTo>
                  <a:lnTo>
                    <a:pt x="0" y="0"/>
                  </a:lnTo>
                  <a:lnTo>
                    <a:pt x="0" y="8128264"/>
                  </a:lnTo>
                  <a:cubicBezTo>
                    <a:pt x="6350" y="8658511"/>
                    <a:pt x="331470" y="9087772"/>
                    <a:pt x="784860" y="9246522"/>
                  </a:cubicBezTo>
                  <a:close/>
                </a:path>
              </a:pathLst>
            </a:custGeom>
            <a:solidFill>
              <a:srgbClr val="FFFFFF"/>
            </a:solidFill>
          </p:spPr>
          <p:txBody>
            <a:bodyPr/>
            <a:lstStyle/>
            <a:p>
              <a:endParaRPr lang="en-US"/>
            </a:p>
          </p:txBody>
        </p:sp>
      </p:grpSp>
      <p:grpSp>
        <p:nvGrpSpPr>
          <p:cNvPr id="9" name="Group 9"/>
          <p:cNvGrpSpPr/>
          <p:nvPr/>
        </p:nvGrpSpPr>
        <p:grpSpPr>
          <a:xfrm rot="-5400000">
            <a:off x="12893087" y="4514918"/>
            <a:ext cx="1762125" cy="6970302"/>
            <a:chOff x="0" y="0"/>
            <a:chExt cx="2354580" cy="9313831"/>
          </a:xfrm>
        </p:grpSpPr>
        <p:sp>
          <p:nvSpPr>
            <p:cNvPr id="10" name="Freeform 10"/>
            <p:cNvSpPr/>
            <p:nvPr/>
          </p:nvSpPr>
          <p:spPr>
            <a:xfrm>
              <a:off x="0" y="0"/>
              <a:ext cx="2353310" cy="9313831"/>
            </a:xfrm>
            <a:custGeom>
              <a:avLst/>
              <a:gdLst/>
              <a:ahLst/>
              <a:cxnLst/>
              <a:rect l="l" t="t" r="r" b="b"/>
              <a:pathLst>
                <a:path w="2353310" h="9313831">
                  <a:moveTo>
                    <a:pt x="784860" y="9246522"/>
                  </a:moveTo>
                  <a:cubicBezTo>
                    <a:pt x="905510" y="9287161"/>
                    <a:pt x="1042670" y="9313831"/>
                    <a:pt x="1177290" y="9313831"/>
                  </a:cubicBezTo>
                  <a:cubicBezTo>
                    <a:pt x="1311910" y="9313831"/>
                    <a:pt x="1441450" y="9290972"/>
                    <a:pt x="1560830" y="9250331"/>
                  </a:cubicBezTo>
                  <a:cubicBezTo>
                    <a:pt x="1563370" y="9249061"/>
                    <a:pt x="1565910" y="9249061"/>
                    <a:pt x="1568450" y="9247791"/>
                  </a:cubicBezTo>
                  <a:cubicBezTo>
                    <a:pt x="2016760" y="9085231"/>
                    <a:pt x="2346960" y="8655972"/>
                    <a:pt x="2353310" y="8134491"/>
                  </a:cubicBezTo>
                  <a:lnTo>
                    <a:pt x="2353310" y="0"/>
                  </a:lnTo>
                  <a:lnTo>
                    <a:pt x="0" y="0"/>
                  </a:lnTo>
                  <a:lnTo>
                    <a:pt x="0" y="8128264"/>
                  </a:lnTo>
                  <a:cubicBezTo>
                    <a:pt x="6350" y="8658511"/>
                    <a:pt x="331470" y="9087772"/>
                    <a:pt x="784860" y="9246522"/>
                  </a:cubicBezTo>
                  <a:close/>
                </a:path>
              </a:pathLst>
            </a:custGeom>
            <a:solidFill>
              <a:srgbClr val="FFFFFF"/>
            </a:solidFill>
          </p:spPr>
          <p:txBody>
            <a:bodyPr/>
            <a:lstStyle/>
            <a:p>
              <a:endParaRPr lang="en-US"/>
            </a:p>
          </p:txBody>
        </p:sp>
      </p:grpSp>
      <p:grpSp>
        <p:nvGrpSpPr>
          <p:cNvPr id="11" name="Group 11"/>
          <p:cNvGrpSpPr/>
          <p:nvPr/>
        </p:nvGrpSpPr>
        <p:grpSpPr>
          <a:xfrm>
            <a:off x="8827771" y="1320133"/>
            <a:ext cx="2041672" cy="2041672"/>
            <a:chOff x="0" y="0"/>
            <a:chExt cx="6350000" cy="6350000"/>
          </a:xfrm>
        </p:grpSpPr>
        <p:sp>
          <p:nvSpPr>
            <p:cNvPr id="12" name="Freeform 1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5C73B2"/>
            </a:solidFill>
          </p:spPr>
          <p:txBody>
            <a:bodyPr/>
            <a:lstStyle/>
            <a:p>
              <a:endParaRPr lang="en-US"/>
            </a:p>
          </p:txBody>
        </p:sp>
      </p:grpSp>
      <p:grpSp>
        <p:nvGrpSpPr>
          <p:cNvPr id="13" name="Group 13"/>
          <p:cNvGrpSpPr/>
          <p:nvPr/>
        </p:nvGrpSpPr>
        <p:grpSpPr>
          <a:xfrm>
            <a:off x="8827771" y="4122664"/>
            <a:ext cx="2041672" cy="2041672"/>
            <a:chOff x="0" y="0"/>
            <a:chExt cx="6350000" cy="6350000"/>
          </a:xfrm>
        </p:grpSpPr>
        <p:sp>
          <p:nvSpPr>
            <p:cNvPr id="14" name="Freeform 1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5C73B2"/>
            </a:solidFill>
          </p:spPr>
          <p:txBody>
            <a:bodyPr/>
            <a:lstStyle/>
            <a:p>
              <a:endParaRPr lang="en-US"/>
            </a:p>
          </p:txBody>
        </p:sp>
      </p:grpSp>
      <p:grpSp>
        <p:nvGrpSpPr>
          <p:cNvPr id="15" name="Group 15"/>
          <p:cNvGrpSpPr/>
          <p:nvPr/>
        </p:nvGrpSpPr>
        <p:grpSpPr>
          <a:xfrm>
            <a:off x="8827771" y="6979232"/>
            <a:ext cx="2041672" cy="2041672"/>
            <a:chOff x="0" y="0"/>
            <a:chExt cx="6350000" cy="6350000"/>
          </a:xfrm>
        </p:grpSpPr>
        <p:sp>
          <p:nvSpPr>
            <p:cNvPr id="16" name="Freeform 1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5C73B2"/>
            </a:solidFill>
          </p:spPr>
          <p:txBody>
            <a:bodyPr/>
            <a:lstStyle/>
            <a:p>
              <a:endParaRPr lang="en-US"/>
            </a:p>
          </p:txBody>
        </p:sp>
      </p:grpSp>
      <p:grpSp>
        <p:nvGrpSpPr>
          <p:cNvPr id="17" name="Group 17"/>
          <p:cNvGrpSpPr/>
          <p:nvPr/>
        </p:nvGrpSpPr>
        <p:grpSpPr>
          <a:xfrm>
            <a:off x="9066844" y="1559206"/>
            <a:ext cx="1563526" cy="1563526"/>
            <a:chOff x="0" y="0"/>
            <a:chExt cx="6350000" cy="6350000"/>
          </a:xfrm>
        </p:grpSpPr>
        <p:sp>
          <p:nvSpPr>
            <p:cNvPr id="18" name="Freeform 1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7941D"/>
            </a:solidFill>
          </p:spPr>
          <p:txBody>
            <a:bodyPr/>
            <a:lstStyle/>
            <a:p>
              <a:endParaRPr lang="en-US"/>
            </a:p>
          </p:txBody>
        </p:sp>
      </p:grpSp>
      <p:grpSp>
        <p:nvGrpSpPr>
          <p:cNvPr id="19" name="Group 19"/>
          <p:cNvGrpSpPr/>
          <p:nvPr/>
        </p:nvGrpSpPr>
        <p:grpSpPr>
          <a:xfrm>
            <a:off x="9066844" y="4361737"/>
            <a:ext cx="1563526" cy="1563526"/>
            <a:chOff x="0" y="0"/>
            <a:chExt cx="6350000" cy="6350000"/>
          </a:xfrm>
        </p:grpSpPr>
        <p:sp>
          <p:nvSpPr>
            <p:cNvPr id="20" name="Freeform 20"/>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7941D"/>
            </a:solidFill>
          </p:spPr>
          <p:txBody>
            <a:bodyPr/>
            <a:lstStyle/>
            <a:p>
              <a:endParaRPr lang="en-US"/>
            </a:p>
          </p:txBody>
        </p:sp>
      </p:grpSp>
      <p:grpSp>
        <p:nvGrpSpPr>
          <p:cNvPr id="21" name="Group 21"/>
          <p:cNvGrpSpPr/>
          <p:nvPr/>
        </p:nvGrpSpPr>
        <p:grpSpPr>
          <a:xfrm>
            <a:off x="9066844" y="7218306"/>
            <a:ext cx="1563526" cy="1563526"/>
            <a:chOff x="0" y="0"/>
            <a:chExt cx="6350000" cy="6350000"/>
          </a:xfrm>
        </p:grpSpPr>
        <p:sp>
          <p:nvSpPr>
            <p:cNvPr id="22" name="Freeform 22"/>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7941D"/>
            </a:solidFill>
          </p:spPr>
          <p:txBody>
            <a:bodyPr/>
            <a:lstStyle/>
            <a:p>
              <a:endParaRPr lang="en-US"/>
            </a:p>
          </p:txBody>
        </p:sp>
      </p:grpSp>
      <p:sp>
        <p:nvSpPr>
          <p:cNvPr id="23" name="Freeform 23"/>
          <p:cNvSpPr/>
          <p:nvPr/>
        </p:nvSpPr>
        <p:spPr>
          <a:xfrm>
            <a:off x="9339061" y="1822687"/>
            <a:ext cx="1019094" cy="1036564"/>
          </a:xfrm>
          <a:custGeom>
            <a:avLst/>
            <a:gdLst/>
            <a:ahLst/>
            <a:cxnLst/>
            <a:rect l="l" t="t" r="r" b="b"/>
            <a:pathLst>
              <a:path w="1019094" h="1036564">
                <a:moveTo>
                  <a:pt x="0" y="0"/>
                </a:moveTo>
                <a:lnTo>
                  <a:pt x="1019093" y="0"/>
                </a:lnTo>
                <a:lnTo>
                  <a:pt x="1019093" y="1036564"/>
                </a:lnTo>
                <a:lnTo>
                  <a:pt x="0" y="103656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4" name="Freeform 24"/>
          <p:cNvSpPr/>
          <p:nvPr/>
        </p:nvSpPr>
        <p:spPr>
          <a:xfrm>
            <a:off x="9339061" y="4625218"/>
            <a:ext cx="1019094" cy="1036564"/>
          </a:xfrm>
          <a:custGeom>
            <a:avLst/>
            <a:gdLst/>
            <a:ahLst/>
            <a:cxnLst/>
            <a:rect l="l" t="t" r="r" b="b"/>
            <a:pathLst>
              <a:path w="1019094" h="1036564">
                <a:moveTo>
                  <a:pt x="0" y="0"/>
                </a:moveTo>
                <a:lnTo>
                  <a:pt x="1019093" y="0"/>
                </a:lnTo>
                <a:lnTo>
                  <a:pt x="1019093" y="1036564"/>
                </a:lnTo>
                <a:lnTo>
                  <a:pt x="0" y="103656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5" name="Freeform 25"/>
          <p:cNvSpPr/>
          <p:nvPr/>
        </p:nvSpPr>
        <p:spPr>
          <a:xfrm>
            <a:off x="9339061" y="7456826"/>
            <a:ext cx="1019094" cy="1036564"/>
          </a:xfrm>
          <a:custGeom>
            <a:avLst/>
            <a:gdLst/>
            <a:ahLst/>
            <a:cxnLst/>
            <a:rect l="l" t="t" r="r" b="b"/>
            <a:pathLst>
              <a:path w="1019094" h="1036564">
                <a:moveTo>
                  <a:pt x="0" y="0"/>
                </a:moveTo>
                <a:lnTo>
                  <a:pt x="1019093" y="0"/>
                </a:lnTo>
                <a:lnTo>
                  <a:pt x="1019093" y="1036564"/>
                </a:lnTo>
                <a:lnTo>
                  <a:pt x="0" y="103656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6" name="TextBox 26"/>
          <p:cNvSpPr txBox="1"/>
          <p:nvPr/>
        </p:nvSpPr>
        <p:spPr>
          <a:xfrm>
            <a:off x="1028700" y="6260926"/>
            <a:ext cx="6391660" cy="1094740"/>
          </a:xfrm>
          <a:prstGeom prst="rect">
            <a:avLst/>
          </a:prstGeom>
        </p:spPr>
        <p:txBody>
          <a:bodyPr lIns="0" tIns="0" rIns="0" bIns="0" rtlCol="0" anchor="t">
            <a:spAutoFit/>
          </a:bodyPr>
          <a:lstStyle/>
          <a:p>
            <a:pPr algn="l">
              <a:lnSpc>
                <a:spcPts val="8959"/>
              </a:lnSpc>
            </a:pPr>
            <a:r>
              <a:rPr lang="en-US" sz="6399">
                <a:solidFill>
                  <a:srgbClr val="26459B"/>
                </a:solidFill>
                <a:latin typeface="League Spartan"/>
                <a:ea typeface="League Spartan"/>
                <a:cs typeface="League Spartan"/>
                <a:sym typeface="League Spartan"/>
              </a:rPr>
              <a:t>Mutual Benefit</a:t>
            </a:r>
          </a:p>
        </p:txBody>
      </p:sp>
      <p:sp>
        <p:nvSpPr>
          <p:cNvPr id="27" name="TextBox 27"/>
          <p:cNvSpPr txBox="1"/>
          <p:nvPr/>
        </p:nvSpPr>
        <p:spPr>
          <a:xfrm>
            <a:off x="1028700" y="7288991"/>
            <a:ext cx="7504782" cy="1057275"/>
          </a:xfrm>
          <a:prstGeom prst="rect">
            <a:avLst/>
          </a:prstGeom>
        </p:spPr>
        <p:txBody>
          <a:bodyPr lIns="0" tIns="0" rIns="0" bIns="0" rtlCol="0" anchor="t">
            <a:spAutoFit/>
          </a:bodyPr>
          <a:lstStyle/>
          <a:p>
            <a:pPr algn="l">
              <a:lnSpc>
                <a:spcPts val="4200"/>
              </a:lnSpc>
            </a:pPr>
            <a:r>
              <a:rPr lang="en-US" sz="3000">
                <a:solidFill>
                  <a:srgbClr val="13224B"/>
                </a:solidFill>
                <a:latin typeface="Glacial Indifference"/>
                <a:ea typeface="Glacial Indifference"/>
                <a:cs typeface="Glacial Indifference"/>
                <a:sym typeface="Glacial Indifference"/>
              </a:rPr>
              <a:t>Instead of framing disability hiring as charity, highlight how it can help businesses. </a:t>
            </a:r>
          </a:p>
        </p:txBody>
      </p:sp>
      <p:sp>
        <p:nvSpPr>
          <p:cNvPr id="28" name="TextBox 28"/>
          <p:cNvSpPr txBox="1"/>
          <p:nvPr/>
        </p:nvSpPr>
        <p:spPr>
          <a:xfrm>
            <a:off x="11049365" y="2045694"/>
            <a:ext cx="4374759" cy="523875"/>
          </a:xfrm>
          <a:prstGeom prst="rect">
            <a:avLst/>
          </a:prstGeom>
        </p:spPr>
        <p:txBody>
          <a:bodyPr lIns="0" tIns="0" rIns="0" bIns="0" rtlCol="0" anchor="t">
            <a:spAutoFit/>
          </a:bodyPr>
          <a:lstStyle/>
          <a:p>
            <a:pPr algn="l">
              <a:lnSpc>
                <a:spcPts val="4200"/>
              </a:lnSpc>
            </a:pPr>
            <a:r>
              <a:rPr lang="en-US" sz="3000" b="1">
                <a:solidFill>
                  <a:srgbClr val="1A3272"/>
                </a:solidFill>
                <a:latin typeface="Glacial Indifference Bold"/>
                <a:ea typeface="Glacial Indifference Bold"/>
                <a:cs typeface="Glacial Indifference Bold"/>
                <a:sym typeface="Glacial Indifference Bold"/>
              </a:rPr>
              <a:t>Workforce Shortages</a:t>
            </a:r>
          </a:p>
        </p:txBody>
      </p:sp>
      <p:sp>
        <p:nvSpPr>
          <p:cNvPr id="29" name="TextBox 29"/>
          <p:cNvSpPr txBox="1"/>
          <p:nvPr/>
        </p:nvSpPr>
        <p:spPr>
          <a:xfrm>
            <a:off x="11049365" y="4848225"/>
            <a:ext cx="4813134" cy="523875"/>
          </a:xfrm>
          <a:prstGeom prst="rect">
            <a:avLst/>
          </a:prstGeom>
        </p:spPr>
        <p:txBody>
          <a:bodyPr lIns="0" tIns="0" rIns="0" bIns="0" rtlCol="0" anchor="t">
            <a:spAutoFit/>
          </a:bodyPr>
          <a:lstStyle/>
          <a:p>
            <a:pPr algn="l">
              <a:lnSpc>
                <a:spcPts val="4200"/>
              </a:lnSpc>
            </a:pPr>
            <a:r>
              <a:rPr lang="en-US" sz="3000" b="1">
                <a:solidFill>
                  <a:srgbClr val="1A3272"/>
                </a:solidFill>
                <a:latin typeface="Glacial Indifference Bold"/>
                <a:ea typeface="Glacial Indifference Bold"/>
                <a:cs typeface="Glacial Indifference Bold"/>
                <a:sym typeface="Glacial Indifference Bold"/>
              </a:rPr>
              <a:t>Retention Rates</a:t>
            </a:r>
          </a:p>
        </p:txBody>
      </p:sp>
      <p:sp>
        <p:nvSpPr>
          <p:cNvPr id="30" name="TextBox 30"/>
          <p:cNvSpPr txBox="1"/>
          <p:nvPr/>
        </p:nvSpPr>
        <p:spPr>
          <a:xfrm>
            <a:off x="11049365" y="7736666"/>
            <a:ext cx="5272067" cy="523875"/>
          </a:xfrm>
          <a:prstGeom prst="rect">
            <a:avLst/>
          </a:prstGeom>
        </p:spPr>
        <p:txBody>
          <a:bodyPr lIns="0" tIns="0" rIns="0" bIns="0" rtlCol="0" anchor="t">
            <a:spAutoFit/>
          </a:bodyPr>
          <a:lstStyle/>
          <a:p>
            <a:pPr algn="l">
              <a:lnSpc>
                <a:spcPts val="4200"/>
              </a:lnSpc>
            </a:pPr>
            <a:r>
              <a:rPr lang="en-US" sz="3000" b="1">
                <a:solidFill>
                  <a:srgbClr val="1A3272"/>
                </a:solidFill>
                <a:latin typeface="Glacial Indifference Bold"/>
                <a:ea typeface="Glacial Indifference Bold"/>
                <a:cs typeface="Glacial Indifference Bold"/>
                <a:sym typeface="Glacial Indifference Bold"/>
              </a:rPr>
              <a:t>Brand Reputation and Loyalty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077019" y="4393877"/>
            <a:ext cx="6948481" cy="4143821"/>
          </a:xfrm>
          <a:custGeom>
            <a:avLst/>
            <a:gdLst/>
            <a:ahLst/>
            <a:cxnLst/>
            <a:rect l="l" t="t" r="r" b="b"/>
            <a:pathLst>
              <a:path w="6948481" h="4143821">
                <a:moveTo>
                  <a:pt x="0" y="0"/>
                </a:moveTo>
                <a:lnTo>
                  <a:pt x="6948481" y="0"/>
                </a:lnTo>
                <a:lnTo>
                  <a:pt x="6948481" y="4143821"/>
                </a:lnTo>
                <a:lnTo>
                  <a:pt x="0" y="41438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3" name="Group 3"/>
          <p:cNvGrpSpPr/>
          <p:nvPr/>
        </p:nvGrpSpPr>
        <p:grpSpPr>
          <a:xfrm>
            <a:off x="1028700" y="3113134"/>
            <a:ext cx="1475295" cy="1475295"/>
            <a:chOff x="0" y="0"/>
            <a:chExt cx="6350000" cy="6350000"/>
          </a:xfrm>
        </p:grpSpPr>
        <p:sp>
          <p:nvSpPr>
            <p:cNvPr id="4" name="Freeform 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7941D"/>
            </a:solidFill>
          </p:spPr>
          <p:txBody>
            <a:bodyPr/>
            <a:lstStyle/>
            <a:p>
              <a:endParaRPr lang="en-US"/>
            </a:p>
          </p:txBody>
        </p:sp>
      </p:grpSp>
      <p:grpSp>
        <p:nvGrpSpPr>
          <p:cNvPr id="5" name="Group 5"/>
          <p:cNvGrpSpPr/>
          <p:nvPr/>
        </p:nvGrpSpPr>
        <p:grpSpPr>
          <a:xfrm>
            <a:off x="1028700" y="5185045"/>
            <a:ext cx="1475295" cy="1475295"/>
            <a:chOff x="0" y="0"/>
            <a:chExt cx="6350000" cy="6350000"/>
          </a:xfrm>
        </p:grpSpPr>
        <p:sp>
          <p:nvSpPr>
            <p:cNvPr id="6" name="Freeform 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7941D"/>
            </a:solidFill>
          </p:spPr>
          <p:txBody>
            <a:bodyPr/>
            <a:lstStyle/>
            <a:p>
              <a:endParaRPr lang="en-US"/>
            </a:p>
          </p:txBody>
        </p:sp>
      </p:grpSp>
      <p:grpSp>
        <p:nvGrpSpPr>
          <p:cNvPr id="7" name="Group 7"/>
          <p:cNvGrpSpPr/>
          <p:nvPr/>
        </p:nvGrpSpPr>
        <p:grpSpPr>
          <a:xfrm>
            <a:off x="1031098" y="7256955"/>
            <a:ext cx="1475295" cy="1475295"/>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7941D"/>
            </a:solidFill>
          </p:spPr>
          <p:txBody>
            <a:bodyPr/>
            <a:lstStyle/>
            <a:p>
              <a:endParaRPr lang="en-US"/>
            </a:p>
          </p:txBody>
        </p:sp>
      </p:grpSp>
      <p:sp>
        <p:nvSpPr>
          <p:cNvPr id="9" name="Freeform 9"/>
          <p:cNvSpPr/>
          <p:nvPr/>
        </p:nvSpPr>
        <p:spPr>
          <a:xfrm>
            <a:off x="1321339" y="5406332"/>
            <a:ext cx="890016" cy="1032719"/>
          </a:xfrm>
          <a:custGeom>
            <a:avLst/>
            <a:gdLst/>
            <a:ahLst/>
            <a:cxnLst/>
            <a:rect l="l" t="t" r="r" b="b"/>
            <a:pathLst>
              <a:path w="890016" h="1032719">
                <a:moveTo>
                  <a:pt x="0" y="0"/>
                </a:moveTo>
                <a:lnTo>
                  <a:pt x="890016" y="0"/>
                </a:lnTo>
                <a:lnTo>
                  <a:pt x="890016" y="1032720"/>
                </a:lnTo>
                <a:lnTo>
                  <a:pt x="0" y="103272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Freeform 10"/>
          <p:cNvSpPr/>
          <p:nvPr/>
        </p:nvSpPr>
        <p:spPr>
          <a:xfrm>
            <a:off x="1358945" y="7541659"/>
            <a:ext cx="819600" cy="910667"/>
          </a:xfrm>
          <a:custGeom>
            <a:avLst/>
            <a:gdLst/>
            <a:ahLst/>
            <a:cxnLst/>
            <a:rect l="l" t="t" r="r" b="b"/>
            <a:pathLst>
              <a:path w="819600" h="910667">
                <a:moveTo>
                  <a:pt x="0" y="0"/>
                </a:moveTo>
                <a:lnTo>
                  <a:pt x="819600" y="0"/>
                </a:lnTo>
                <a:lnTo>
                  <a:pt x="819600" y="910667"/>
                </a:lnTo>
                <a:lnTo>
                  <a:pt x="0" y="91066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1" name="Freeform 11"/>
          <p:cNvSpPr/>
          <p:nvPr/>
        </p:nvSpPr>
        <p:spPr>
          <a:xfrm>
            <a:off x="1321339" y="3485027"/>
            <a:ext cx="894812" cy="731509"/>
          </a:xfrm>
          <a:custGeom>
            <a:avLst/>
            <a:gdLst/>
            <a:ahLst/>
            <a:cxnLst/>
            <a:rect l="l" t="t" r="r" b="b"/>
            <a:pathLst>
              <a:path w="894812" h="731509">
                <a:moveTo>
                  <a:pt x="0" y="0"/>
                </a:moveTo>
                <a:lnTo>
                  <a:pt x="894812" y="0"/>
                </a:lnTo>
                <a:lnTo>
                  <a:pt x="894812" y="731509"/>
                </a:lnTo>
                <a:lnTo>
                  <a:pt x="0" y="73150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2" name="TextBox 12"/>
          <p:cNvSpPr txBox="1"/>
          <p:nvPr/>
        </p:nvSpPr>
        <p:spPr>
          <a:xfrm>
            <a:off x="10262148" y="658510"/>
            <a:ext cx="7241757" cy="3316732"/>
          </a:xfrm>
          <a:prstGeom prst="rect">
            <a:avLst/>
          </a:prstGeom>
        </p:spPr>
        <p:txBody>
          <a:bodyPr lIns="0" tIns="0" rIns="0" bIns="0" rtlCol="0" anchor="t">
            <a:spAutoFit/>
          </a:bodyPr>
          <a:lstStyle/>
          <a:p>
            <a:pPr algn="l">
              <a:lnSpc>
                <a:spcPts val="6463"/>
              </a:lnSpc>
            </a:pPr>
            <a:r>
              <a:rPr lang="en-US" sz="6399">
                <a:solidFill>
                  <a:srgbClr val="26459B"/>
                </a:solidFill>
                <a:latin typeface="League Spartan"/>
                <a:ea typeface="League Spartan"/>
                <a:cs typeface="League Spartan"/>
                <a:sym typeface="League Spartan"/>
              </a:rPr>
              <a:t>Be a Trusted Advisor, not just a Service Provider</a:t>
            </a:r>
          </a:p>
        </p:txBody>
      </p:sp>
      <p:grpSp>
        <p:nvGrpSpPr>
          <p:cNvPr id="13" name="Group 13"/>
          <p:cNvGrpSpPr/>
          <p:nvPr/>
        </p:nvGrpSpPr>
        <p:grpSpPr>
          <a:xfrm>
            <a:off x="9144000" y="-928492"/>
            <a:ext cx="375198" cy="2129871"/>
            <a:chOff x="0" y="0"/>
            <a:chExt cx="2354580" cy="13366166"/>
          </a:xfrm>
        </p:grpSpPr>
        <p:sp>
          <p:nvSpPr>
            <p:cNvPr id="14" name="Freeform 14"/>
            <p:cNvSpPr/>
            <p:nvPr/>
          </p:nvSpPr>
          <p:spPr>
            <a:xfrm>
              <a:off x="0" y="0"/>
              <a:ext cx="2353310" cy="13366166"/>
            </a:xfrm>
            <a:custGeom>
              <a:avLst/>
              <a:gdLst/>
              <a:ahLst/>
              <a:cxnLst/>
              <a:rect l="l" t="t" r="r" b="b"/>
              <a:pathLst>
                <a:path w="2353310" h="13366166">
                  <a:moveTo>
                    <a:pt x="784860" y="13298856"/>
                  </a:moveTo>
                  <a:cubicBezTo>
                    <a:pt x="905510" y="13339496"/>
                    <a:pt x="1042670" y="13366166"/>
                    <a:pt x="1177290" y="13366166"/>
                  </a:cubicBezTo>
                  <a:cubicBezTo>
                    <a:pt x="1311910" y="13366166"/>
                    <a:pt x="1441450" y="13343306"/>
                    <a:pt x="1560830" y="13302666"/>
                  </a:cubicBezTo>
                  <a:cubicBezTo>
                    <a:pt x="1563370" y="13301396"/>
                    <a:pt x="1565910" y="13301396"/>
                    <a:pt x="1568450" y="13300126"/>
                  </a:cubicBezTo>
                  <a:cubicBezTo>
                    <a:pt x="2016760" y="13137566"/>
                    <a:pt x="2346960" y="12708306"/>
                    <a:pt x="2353310" y="12174358"/>
                  </a:cubicBezTo>
                  <a:lnTo>
                    <a:pt x="2353310" y="0"/>
                  </a:lnTo>
                  <a:lnTo>
                    <a:pt x="0" y="0"/>
                  </a:lnTo>
                  <a:lnTo>
                    <a:pt x="0" y="12165012"/>
                  </a:lnTo>
                  <a:cubicBezTo>
                    <a:pt x="6350" y="12710846"/>
                    <a:pt x="331470" y="13140106"/>
                    <a:pt x="784860" y="13298856"/>
                  </a:cubicBezTo>
                  <a:close/>
                </a:path>
              </a:pathLst>
            </a:custGeom>
            <a:solidFill>
              <a:srgbClr val="5C73B2"/>
            </a:solidFill>
          </p:spPr>
          <p:txBody>
            <a:bodyPr/>
            <a:lstStyle/>
            <a:p>
              <a:endParaRPr lang="en-US"/>
            </a:p>
          </p:txBody>
        </p:sp>
      </p:grpSp>
      <p:grpSp>
        <p:nvGrpSpPr>
          <p:cNvPr id="15" name="Group 15"/>
          <p:cNvGrpSpPr/>
          <p:nvPr/>
        </p:nvGrpSpPr>
        <p:grpSpPr>
          <a:xfrm rot="-10800000">
            <a:off x="9144000" y="9258300"/>
            <a:ext cx="375198" cy="2129871"/>
            <a:chOff x="0" y="0"/>
            <a:chExt cx="2354580" cy="13366166"/>
          </a:xfrm>
        </p:grpSpPr>
        <p:sp>
          <p:nvSpPr>
            <p:cNvPr id="16" name="Freeform 16"/>
            <p:cNvSpPr/>
            <p:nvPr/>
          </p:nvSpPr>
          <p:spPr>
            <a:xfrm>
              <a:off x="0" y="0"/>
              <a:ext cx="2353310" cy="13366166"/>
            </a:xfrm>
            <a:custGeom>
              <a:avLst/>
              <a:gdLst/>
              <a:ahLst/>
              <a:cxnLst/>
              <a:rect l="l" t="t" r="r" b="b"/>
              <a:pathLst>
                <a:path w="2353310" h="13366166">
                  <a:moveTo>
                    <a:pt x="784860" y="13298856"/>
                  </a:moveTo>
                  <a:cubicBezTo>
                    <a:pt x="905510" y="13339496"/>
                    <a:pt x="1042670" y="13366166"/>
                    <a:pt x="1177290" y="13366166"/>
                  </a:cubicBezTo>
                  <a:cubicBezTo>
                    <a:pt x="1311910" y="13366166"/>
                    <a:pt x="1441450" y="13343306"/>
                    <a:pt x="1560830" y="13302666"/>
                  </a:cubicBezTo>
                  <a:cubicBezTo>
                    <a:pt x="1563370" y="13301396"/>
                    <a:pt x="1565910" y="13301396"/>
                    <a:pt x="1568450" y="13300126"/>
                  </a:cubicBezTo>
                  <a:cubicBezTo>
                    <a:pt x="2016760" y="13137566"/>
                    <a:pt x="2346960" y="12708306"/>
                    <a:pt x="2353310" y="12174358"/>
                  </a:cubicBezTo>
                  <a:lnTo>
                    <a:pt x="2353310" y="0"/>
                  </a:lnTo>
                  <a:lnTo>
                    <a:pt x="0" y="0"/>
                  </a:lnTo>
                  <a:lnTo>
                    <a:pt x="0" y="12165012"/>
                  </a:lnTo>
                  <a:cubicBezTo>
                    <a:pt x="6350" y="12710846"/>
                    <a:pt x="331470" y="13140106"/>
                    <a:pt x="784860" y="13298856"/>
                  </a:cubicBezTo>
                  <a:close/>
                </a:path>
              </a:pathLst>
            </a:custGeom>
            <a:solidFill>
              <a:srgbClr val="5C73B2"/>
            </a:solidFill>
          </p:spPr>
          <p:txBody>
            <a:bodyPr/>
            <a:lstStyle/>
            <a:p>
              <a:endParaRPr lang="en-US"/>
            </a:p>
          </p:txBody>
        </p:sp>
      </p:grpSp>
      <p:sp>
        <p:nvSpPr>
          <p:cNvPr id="17" name="TextBox 17"/>
          <p:cNvSpPr txBox="1"/>
          <p:nvPr/>
        </p:nvSpPr>
        <p:spPr>
          <a:xfrm>
            <a:off x="2960751" y="3046459"/>
            <a:ext cx="3792766" cy="523875"/>
          </a:xfrm>
          <a:prstGeom prst="rect">
            <a:avLst/>
          </a:prstGeom>
        </p:spPr>
        <p:txBody>
          <a:bodyPr lIns="0" tIns="0" rIns="0" bIns="0" rtlCol="0" anchor="t">
            <a:spAutoFit/>
          </a:bodyPr>
          <a:lstStyle/>
          <a:p>
            <a:pPr algn="l">
              <a:lnSpc>
                <a:spcPts val="4200"/>
              </a:lnSpc>
            </a:pPr>
            <a:r>
              <a:rPr lang="en-US" sz="3000" b="1">
                <a:solidFill>
                  <a:srgbClr val="1A3272"/>
                </a:solidFill>
                <a:latin typeface="Glacial Indifference Bold"/>
                <a:ea typeface="Glacial Indifference Bold"/>
                <a:cs typeface="Glacial Indifference Bold"/>
                <a:sym typeface="Glacial Indifference Bold"/>
              </a:rPr>
              <a:t>Provide Expertise</a:t>
            </a:r>
          </a:p>
        </p:txBody>
      </p:sp>
      <p:sp>
        <p:nvSpPr>
          <p:cNvPr id="18" name="TextBox 18"/>
          <p:cNvSpPr txBox="1"/>
          <p:nvPr/>
        </p:nvSpPr>
        <p:spPr>
          <a:xfrm>
            <a:off x="2960751" y="5118370"/>
            <a:ext cx="3792766" cy="523875"/>
          </a:xfrm>
          <a:prstGeom prst="rect">
            <a:avLst/>
          </a:prstGeom>
        </p:spPr>
        <p:txBody>
          <a:bodyPr lIns="0" tIns="0" rIns="0" bIns="0" rtlCol="0" anchor="t">
            <a:spAutoFit/>
          </a:bodyPr>
          <a:lstStyle/>
          <a:p>
            <a:pPr algn="l">
              <a:lnSpc>
                <a:spcPts val="4200"/>
              </a:lnSpc>
            </a:pPr>
            <a:r>
              <a:rPr lang="en-US" sz="3000" b="1">
                <a:solidFill>
                  <a:srgbClr val="1A3272"/>
                </a:solidFill>
                <a:latin typeface="Glacial Indifference Bold"/>
                <a:ea typeface="Glacial Indifference Bold"/>
                <a:cs typeface="Glacial Indifference Bold"/>
                <a:sym typeface="Glacial Indifference Bold"/>
              </a:rPr>
              <a:t>Offer Training</a:t>
            </a:r>
          </a:p>
        </p:txBody>
      </p:sp>
      <p:sp>
        <p:nvSpPr>
          <p:cNvPr id="19" name="TextBox 19"/>
          <p:cNvSpPr txBox="1"/>
          <p:nvPr/>
        </p:nvSpPr>
        <p:spPr>
          <a:xfrm>
            <a:off x="2963402" y="7073643"/>
            <a:ext cx="3792766" cy="523875"/>
          </a:xfrm>
          <a:prstGeom prst="rect">
            <a:avLst/>
          </a:prstGeom>
        </p:spPr>
        <p:txBody>
          <a:bodyPr lIns="0" tIns="0" rIns="0" bIns="0" rtlCol="0" anchor="t">
            <a:spAutoFit/>
          </a:bodyPr>
          <a:lstStyle/>
          <a:p>
            <a:pPr algn="l">
              <a:lnSpc>
                <a:spcPts val="4200"/>
              </a:lnSpc>
            </a:pPr>
            <a:r>
              <a:rPr lang="en-US" sz="3000" b="1">
                <a:solidFill>
                  <a:srgbClr val="1A3272"/>
                </a:solidFill>
                <a:latin typeface="Glacial Indifference Bold"/>
                <a:ea typeface="Glacial Indifference Bold"/>
                <a:cs typeface="Glacial Indifference Bold"/>
                <a:sym typeface="Glacial Indifference Bold"/>
              </a:rPr>
              <a:t>Help Problem Solve</a:t>
            </a:r>
          </a:p>
        </p:txBody>
      </p:sp>
      <p:sp>
        <p:nvSpPr>
          <p:cNvPr id="20" name="TextBox 20"/>
          <p:cNvSpPr txBox="1"/>
          <p:nvPr/>
        </p:nvSpPr>
        <p:spPr>
          <a:xfrm>
            <a:off x="2960751" y="3630466"/>
            <a:ext cx="6119890" cy="849630"/>
          </a:xfrm>
          <a:prstGeom prst="rect">
            <a:avLst/>
          </a:prstGeom>
        </p:spPr>
        <p:txBody>
          <a:bodyPr lIns="0" tIns="0" rIns="0" bIns="0" rtlCol="0" anchor="t">
            <a:spAutoFit/>
          </a:bodyPr>
          <a:lstStyle/>
          <a:p>
            <a:pPr algn="l">
              <a:lnSpc>
                <a:spcPts val="3360"/>
              </a:lnSpc>
            </a:pPr>
            <a:r>
              <a:rPr lang="en-US" sz="3000">
                <a:solidFill>
                  <a:srgbClr val="13224B"/>
                </a:solidFill>
                <a:latin typeface="Glacial Indifference"/>
                <a:ea typeface="Glacial Indifference"/>
                <a:cs typeface="Glacial Indifference"/>
                <a:sym typeface="Glacial Indifference"/>
              </a:rPr>
              <a:t>on inclusion, accommodations, and workplace accessibility</a:t>
            </a:r>
          </a:p>
        </p:txBody>
      </p:sp>
      <p:sp>
        <p:nvSpPr>
          <p:cNvPr id="21" name="TextBox 21"/>
          <p:cNvSpPr txBox="1"/>
          <p:nvPr/>
        </p:nvSpPr>
        <p:spPr>
          <a:xfrm>
            <a:off x="2960751" y="5702377"/>
            <a:ext cx="6119890" cy="430530"/>
          </a:xfrm>
          <a:prstGeom prst="rect">
            <a:avLst/>
          </a:prstGeom>
        </p:spPr>
        <p:txBody>
          <a:bodyPr lIns="0" tIns="0" rIns="0" bIns="0" rtlCol="0" anchor="t">
            <a:spAutoFit/>
          </a:bodyPr>
          <a:lstStyle/>
          <a:p>
            <a:pPr algn="l">
              <a:lnSpc>
                <a:spcPts val="3360"/>
              </a:lnSpc>
            </a:pPr>
            <a:r>
              <a:rPr lang="en-US" sz="3000">
                <a:solidFill>
                  <a:srgbClr val="13224B"/>
                </a:solidFill>
                <a:latin typeface="Glacial Indifference"/>
                <a:ea typeface="Glacial Indifference"/>
                <a:cs typeface="Glacial Indifference"/>
                <a:sym typeface="Glacial Indifference"/>
              </a:rPr>
              <a:t>to hiring managers and staff</a:t>
            </a:r>
          </a:p>
        </p:txBody>
      </p:sp>
      <p:sp>
        <p:nvSpPr>
          <p:cNvPr id="22" name="TextBox 22"/>
          <p:cNvSpPr txBox="1"/>
          <p:nvPr/>
        </p:nvSpPr>
        <p:spPr>
          <a:xfrm>
            <a:off x="2963402" y="7657650"/>
            <a:ext cx="6119890" cy="430530"/>
          </a:xfrm>
          <a:prstGeom prst="rect">
            <a:avLst/>
          </a:prstGeom>
        </p:spPr>
        <p:txBody>
          <a:bodyPr lIns="0" tIns="0" rIns="0" bIns="0" rtlCol="0" anchor="t">
            <a:spAutoFit/>
          </a:bodyPr>
          <a:lstStyle/>
          <a:p>
            <a:pPr algn="l">
              <a:lnSpc>
                <a:spcPts val="3360"/>
              </a:lnSpc>
            </a:pPr>
            <a:r>
              <a:rPr lang="en-US" sz="3000">
                <a:solidFill>
                  <a:srgbClr val="13224B"/>
                </a:solidFill>
                <a:latin typeface="Glacial Indifference"/>
                <a:ea typeface="Glacial Indifference"/>
                <a:cs typeface="Glacial Indifference"/>
                <a:sym typeface="Glacial Indifference"/>
              </a:rPr>
              <a:t>when issues arise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996531" y="619550"/>
            <a:ext cx="5954026" cy="4319375"/>
          </a:xfrm>
          <a:custGeom>
            <a:avLst/>
            <a:gdLst/>
            <a:ahLst/>
            <a:cxnLst/>
            <a:rect l="l" t="t" r="r" b="b"/>
            <a:pathLst>
              <a:path w="5954026" h="4319375">
                <a:moveTo>
                  <a:pt x="0" y="0"/>
                </a:moveTo>
                <a:lnTo>
                  <a:pt x="5954026" y="0"/>
                </a:lnTo>
                <a:lnTo>
                  <a:pt x="5954026" y="4319375"/>
                </a:lnTo>
                <a:lnTo>
                  <a:pt x="0" y="431937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3" name="Group 3"/>
          <p:cNvGrpSpPr/>
          <p:nvPr/>
        </p:nvGrpSpPr>
        <p:grpSpPr>
          <a:xfrm>
            <a:off x="-1695267" y="5559715"/>
            <a:ext cx="23574302" cy="5567845"/>
            <a:chOff x="0" y="0"/>
            <a:chExt cx="8599969" cy="2031165"/>
          </a:xfrm>
        </p:grpSpPr>
        <p:sp>
          <p:nvSpPr>
            <p:cNvPr id="4" name="Freeform 4"/>
            <p:cNvSpPr/>
            <p:nvPr/>
          </p:nvSpPr>
          <p:spPr>
            <a:xfrm>
              <a:off x="0" y="0"/>
              <a:ext cx="8599970" cy="2031165"/>
            </a:xfrm>
            <a:custGeom>
              <a:avLst/>
              <a:gdLst/>
              <a:ahLst/>
              <a:cxnLst/>
              <a:rect l="l" t="t" r="r" b="b"/>
              <a:pathLst>
                <a:path w="8599970" h="2031165">
                  <a:moveTo>
                    <a:pt x="0" y="0"/>
                  </a:moveTo>
                  <a:lnTo>
                    <a:pt x="8599970" y="0"/>
                  </a:lnTo>
                  <a:lnTo>
                    <a:pt x="8599970" y="2031165"/>
                  </a:lnTo>
                  <a:lnTo>
                    <a:pt x="0" y="2031165"/>
                  </a:lnTo>
                  <a:close/>
                </a:path>
              </a:pathLst>
            </a:custGeom>
            <a:solidFill>
              <a:srgbClr val="5C73B2"/>
            </a:solidFill>
          </p:spPr>
          <p:txBody>
            <a:bodyPr/>
            <a:lstStyle/>
            <a:p>
              <a:endParaRPr lang="en-US"/>
            </a:p>
          </p:txBody>
        </p:sp>
      </p:grpSp>
      <p:sp>
        <p:nvSpPr>
          <p:cNvPr id="5" name="TextBox 5"/>
          <p:cNvSpPr txBox="1"/>
          <p:nvPr/>
        </p:nvSpPr>
        <p:spPr>
          <a:xfrm>
            <a:off x="1337443" y="2502430"/>
            <a:ext cx="7241757" cy="1704341"/>
          </a:xfrm>
          <a:prstGeom prst="rect">
            <a:avLst/>
          </a:prstGeom>
        </p:spPr>
        <p:txBody>
          <a:bodyPr lIns="0" tIns="0" rIns="0" bIns="0" rtlCol="0" anchor="t">
            <a:spAutoFit/>
          </a:bodyPr>
          <a:lstStyle/>
          <a:p>
            <a:pPr algn="l">
              <a:lnSpc>
                <a:spcPts val="6859"/>
              </a:lnSpc>
            </a:pPr>
            <a:r>
              <a:rPr lang="en-US" sz="4899">
                <a:solidFill>
                  <a:srgbClr val="13224B"/>
                </a:solidFill>
                <a:latin typeface="Glacial Indifference"/>
                <a:ea typeface="Glacial Indifference"/>
                <a:cs typeface="Glacial Indifference"/>
                <a:sym typeface="Glacial Indifference"/>
              </a:rPr>
              <a:t>Build </a:t>
            </a:r>
            <a:r>
              <a:rPr lang="en-US" sz="4899" i="1">
                <a:solidFill>
                  <a:srgbClr val="13224B"/>
                </a:solidFill>
                <a:latin typeface="Glacial Indifference Italics"/>
                <a:ea typeface="Glacial Indifference Italics"/>
                <a:cs typeface="Glacial Indifference Italics"/>
                <a:sym typeface="Glacial Indifference Italics"/>
              </a:rPr>
              <a:t>relationships</a:t>
            </a:r>
            <a:r>
              <a:rPr lang="en-US" sz="4899">
                <a:solidFill>
                  <a:srgbClr val="13224B"/>
                </a:solidFill>
                <a:latin typeface="Glacial Indifference"/>
                <a:ea typeface="Glacial Indifference"/>
                <a:cs typeface="Glacial Indifference"/>
                <a:sym typeface="Glacial Indifference"/>
              </a:rPr>
              <a:t>, not </a:t>
            </a:r>
            <a:r>
              <a:rPr lang="en-US" sz="4899" i="1">
                <a:solidFill>
                  <a:srgbClr val="13224B"/>
                </a:solidFill>
                <a:latin typeface="Glacial Indifference Italics"/>
                <a:ea typeface="Glacial Indifference Italics"/>
                <a:cs typeface="Glacial Indifference Italics"/>
                <a:sym typeface="Glacial Indifference Italics"/>
              </a:rPr>
              <a:t>transactions</a:t>
            </a:r>
            <a:r>
              <a:rPr lang="en-US" sz="4899">
                <a:solidFill>
                  <a:srgbClr val="13224B"/>
                </a:solidFill>
                <a:latin typeface="Glacial Indifference"/>
                <a:ea typeface="Glacial Indifference"/>
                <a:cs typeface="Glacial Indifference"/>
                <a:sym typeface="Glacial Indifference"/>
              </a:rPr>
              <a:t>!</a:t>
            </a:r>
          </a:p>
        </p:txBody>
      </p:sp>
      <p:sp>
        <p:nvSpPr>
          <p:cNvPr id="6" name="Freeform 6"/>
          <p:cNvSpPr/>
          <p:nvPr/>
        </p:nvSpPr>
        <p:spPr>
          <a:xfrm>
            <a:off x="1028700" y="6458427"/>
            <a:ext cx="4884526" cy="1373773"/>
          </a:xfrm>
          <a:custGeom>
            <a:avLst/>
            <a:gdLst/>
            <a:ahLst/>
            <a:cxnLst/>
            <a:rect l="l" t="t" r="r" b="b"/>
            <a:pathLst>
              <a:path w="4884526" h="1373773">
                <a:moveTo>
                  <a:pt x="0" y="0"/>
                </a:moveTo>
                <a:lnTo>
                  <a:pt x="4884526" y="0"/>
                </a:lnTo>
                <a:lnTo>
                  <a:pt x="4884526" y="1373773"/>
                </a:lnTo>
                <a:lnTo>
                  <a:pt x="0" y="137377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Freeform 7"/>
          <p:cNvSpPr/>
          <p:nvPr/>
        </p:nvSpPr>
        <p:spPr>
          <a:xfrm>
            <a:off x="6701737" y="6458427"/>
            <a:ext cx="4884526" cy="1373773"/>
          </a:xfrm>
          <a:custGeom>
            <a:avLst/>
            <a:gdLst/>
            <a:ahLst/>
            <a:cxnLst/>
            <a:rect l="l" t="t" r="r" b="b"/>
            <a:pathLst>
              <a:path w="4884526" h="1373773">
                <a:moveTo>
                  <a:pt x="0" y="0"/>
                </a:moveTo>
                <a:lnTo>
                  <a:pt x="4884526" y="0"/>
                </a:lnTo>
                <a:lnTo>
                  <a:pt x="4884526" y="1373773"/>
                </a:lnTo>
                <a:lnTo>
                  <a:pt x="0" y="137377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8" name="Freeform 8"/>
          <p:cNvSpPr/>
          <p:nvPr/>
        </p:nvSpPr>
        <p:spPr>
          <a:xfrm>
            <a:off x="12374774" y="6458427"/>
            <a:ext cx="4884526" cy="1373773"/>
          </a:xfrm>
          <a:custGeom>
            <a:avLst/>
            <a:gdLst/>
            <a:ahLst/>
            <a:cxnLst/>
            <a:rect l="l" t="t" r="r" b="b"/>
            <a:pathLst>
              <a:path w="4884526" h="1373773">
                <a:moveTo>
                  <a:pt x="0" y="0"/>
                </a:moveTo>
                <a:lnTo>
                  <a:pt x="4884526" y="0"/>
                </a:lnTo>
                <a:lnTo>
                  <a:pt x="4884526" y="1373773"/>
                </a:lnTo>
                <a:lnTo>
                  <a:pt x="0" y="137377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TextBox 9"/>
          <p:cNvSpPr txBox="1"/>
          <p:nvPr/>
        </p:nvSpPr>
        <p:spPr>
          <a:xfrm>
            <a:off x="1337443" y="1217945"/>
            <a:ext cx="8074972" cy="1094740"/>
          </a:xfrm>
          <a:prstGeom prst="rect">
            <a:avLst/>
          </a:prstGeom>
        </p:spPr>
        <p:txBody>
          <a:bodyPr lIns="0" tIns="0" rIns="0" bIns="0" rtlCol="0" anchor="t">
            <a:spAutoFit/>
          </a:bodyPr>
          <a:lstStyle/>
          <a:p>
            <a:pPr algn="l">
              <a:lnSpc>
                <a:spcPts val="8959"/>
              </a:lnSpc>
            </a:pPr>
            <a:r>
              <a:rPr lang="en-US" sz="6399">
                <a:solidFill>
                  <a:srgbClr val="26459B"/>
                </a:solidFill>
                <a:latin typeface="League Spartan"/>
                <a:ea typeface="League Spartan"/>
                <a:cs typeface="League Spartan"/>
                <a:sym typeface="League Spartan"/>
              </a:rPr>
              <a:t>Build Relationships</a:t>
            </a:r>
          </a:p>
        </p:txBody>
      </p:sp>
      <p:sp>
        <p:nvSpPr>
          <p:cNvPr id="10" name="TextBox 10"/>
          <p:cNvSpPr txBox="1"/>
          <p:nvPr/>
        </p:nvSpPr>
        <p:spPr>
          <a:xfrm>
            <a:off x="2766646" y="6853086"/>
            <a:ext cx="3118084" cy="698755"/>
          </a:xfrm>
          <a:prstGeom prst="rect">
            <a:avLst/>
          </a:prstGeom>
        </p:spPr>
        <p:txBody>
          <a:bodyPr lIns="0" tIns="0" rIns="0" bIns="0" rtlCol="0" anchor="t">
            <a:spAutoFit/>
          </a:bodyPr>
          <a:lstStyle/>
          <a:p>
            <a:pPr algn="l">
              <a:lnSpc>
                <a:spcPts val="2688"/>
              </a:lnSpc>
            </a:pPr>
            <a:r>
              <a:rPr lang="en-US" sz="3200" b="1">
                <a:solidFill>
                  <a:srgbClr val="1A3272"/>
                </a:solidFill>
                <a:latin typeface="Glacial Indifference Bold"/>
                <a:ea typeface="Glacial Indifference Bold"/>
                <a:cs typeface="Glacial Indifference Bold"/>
                <a:sym typeface="Glacial Indifference Bold"/>
              </a:rPr>
              <a:t>Maintain Communication</a:t>
            </a:r>
          </a:p>
        </p:txBody>
      </p:sp>
      <p:sp>
        <p:nvSpPr>
          <p:cNvPr id="11" name="TextBox 11"/>
          <p:cNvSpPr txBox="1"/>
          <p:nvPr/>
        </p:nvSpPr>
        <p:spPr>
          <a:xfrm>
            <a:off x="1028700" y="6526506"/>
            <a:ext cx="1335359" cy="1104265"/>
          </a:xfrm>
          <a:prstGeom prst="rect">
            <a:avLst/>
          </a:prstGeom>
        </p:spPr>
        <p:txBody>
          <a:bodyPr lIns="0" tIns="0" rIns="0" bIns="0" rtlCol="0" anchor="t">
            <a:spAutoFit/>
          </a:bodyPr>
          <a:lstStyle/>
          <a:p>
            <a:pPr algn="ctr">
              <a:lnSpc>
                <a:spcPts val="8959"/>
              </a:lnSpc>
            </a:pPr>
            <a:r>
              <a:rPr lang="en-US" sz="6399" b="1">
                <a:solidFill>
                  <a:srgbClr val="1A3272"/>
                </a:solidFill>
                <a:latin typeface="Glacial Indifference Bold"/>
                <a:ea typeface="Glacial Indifference Bold"/>
                <a:cs typeface="Glacial Indifference Bold"/>
                <a:sym typeface="Glacial Indifference Bold"/>
              </a:rPr>
              <a:t>01</a:t>
            </a:r>
          </a:p>
        </p:txBody>
      </p:sp>
      <p:sp>
        <p:nvSpPr>
          <p:cNvPr id="12" name="TextBox 12"/>
          <p:cNvSpPr txBox="1"/>
          <p:nvPr/>
        </p:nvSpPr>
        <p:spPr>
          <a:xfrm>
            <a:off x="6675305" y="6526506"/>
            <a:ext cx="1510709" cy="1104265"/>
          </a:xfrm>
          <a:prstGeom prst="rect">
            <a:avLst/>
          </a:prstGeom>
        </p:spPr>
        <p:txBody>
          <a:bodyPr lIns="0" tIns="0" rIns="0" bIns="0" rtlCol="0" anchor="t">
            <a:spAutoFit/>
          </a:bodyPr>
          <a:lstStyle/>
          <a:p>
            <a:pPr algn="ctr">
              <a:lnSpc>
                <a:spcPts val="8959"/>
              </a:lnSpc>
            </a:pPr>
            <a:r>
              <a:rPr lang="en-US" sz="6399" b="1">
                <a:solidFill>
                  <a:srgbClr val="1A3272"/>
                </a:solidFill>
                <a:latin typeface="Glacial Indifference Bold"/>
                <a:ea typeface="Glacial Indifference Bold"/>
                <a:cs typeface="Glacial Indifference Bold"/>
                <a:sym typeface="Glacial Indifference Bold"/>
              </a:rPr>
              <a:t>02</a:t>
            </a:r>
          </a:p>
        </p:txBody>
      </p:sp>
      <p:sp>
        <p:nvSpPr>
          <p:cNvPr id="13" name="TextBox 13"/>
          <p:cNvSpPr txBox="1"/>
          <p:nvPr/>
        </p:nvSpPr>
        <p:spPr>
          <a:xfrm>
            <a:off x="12374774" y="6526506"/>
            <a:ext cx="1510709" cy="1104265"/>
          </a:xfrm>
          <a:prstGeom prst="rect">
            <a:avLst/>
          </a:prstGeom>
        </p:spPr>
        <p:txBody>
          <a:bodyPr lIns="0" tIns="0" rIns="0" bIns="0" rtlCol="0" anchor="t">
            <a:spAutoFit/>
          </a:bodyPr>
          <a:lstStyle/>
          <a:p>
            <a:pPr algn="ctr">
              <a:lnSpc>
                <a:spcPts val="8959"/>
              </a:lnSpc>
            </a:pPr>
            <a:r>
              <a:rPr lang="en-US" sz="6399" b="1">
                <a:solidFill>
                  <a:srgbClr val="1A3272"/>
                </a:solidFill>
                <a:latin typeface="Glacial Indifference Bold"/>
                <a:ea typeface="Glacial Indifference Bold"/>
                <a:cs typeface="Glacial Indifference Bold"/>
                <a:sym typeface="Glacial Indifference Bold"/>
              </a:rPr>
              <a:t>03</a:t>
            </a:r>
          </a:p>
        </p:txBody>
      </p:sp>
      <p:sp>
        <p:nvSpPr>
          <p:cNvPr id="14" name="TextBox 14"/>
          <p:cNvSpPr txBox="1"/>
          <p:nvPr/>
        </p:nvSpPr>
        <p:spPr>
          <a:xfrm>
            <a:off x="8468180" y="6566829"/>
            <a:ext cx="3118084" cy="1099820"/>
          </a:xfrm>
          <a:prstGeom prst="rect">
            <a:avLst/>
          </a:prstGeom>
        </p:spPr>
        <p:txBody>
          <a:bodyPr lIns="0" tIns="0" rIns="0" bIns="0" rtlCol="0" anchor="t">
            <a:spAutoFit/>
          </a:bodyPr>
          <a:lstStyle/>
          <a:p>
            <a:pPr algn="l">
              <a:lnSpc>
                <a:spcPts val="4480"/>
              </a:lnSpc>
            </a:pPr>
            <a:r>
              <a:rPr lang="en-US" sz="3200" b="1">
                <a:solidFill>
                  <a:srgbClr val="1A3272"/>
                </a:solidFill>
                <a:latin typeface="Glacial Indifference Bold"/>
                <a:ea typeface="Glacial Indifference Bold"/>
                <a:cs typeface="Glacial Indifference Bold"/>
                <a:sym typeface="Glacial Indifference Bold"/>
              </a:rPr>
              <a:t>Start Small &amp; Build Trust</a:t>
            </a:r>
          </a:p>
        </p:txBody>
      </p:sp>
      <p:sp>
        <p:nvSpPr>
          <p:cNvPr id="15" name="TextBox 15"/>
          <p:cNvSpPr txBox="1"/>
          <p:nvPr/>
        </p:nvSpPr>
        <p:spPr>
          <a:xfrm>
            <a:off x="14285532" y="6530951"/>
            <a:ext cx="3118084" cy="1099820"/>
          </a:xfrm>
          <a:prstGeom prst="rect">
            <a:avLst/>
          </a:prstGeom>
        </p:spPr>
        <p:txBody>
          <a:bodyPr lIns="0" tIns="0" rIns="0" bIns="0" rtlCol="0" anchor="t">
            <a:spAutoFit/>
          </a:bodyPr>
          <a:lstStyle/>
          <a:p>
            <a:pPr algn="l">
              <a:lnSpc>
                <a:spcPts val="4480"/>
              </a:lnSpc>
            </a:pPr>
            <a:r>
              <a:rPr lang="en-US" sz="3200" b="1">
                <a:solidFill>
                  <a:srgbClr val="1A3272"/>
                </a:solidFill>
                <a:latin typeface="Glacial Indifference Bold"/>
                <a:ea typeface="Glacial Indifference Bold"/>
                <a:cs typeface="Glacial Indifference Bold"/>
                <a:sym typeface="Glacial Indifference Bold"/>
              </a:rPr>
              <a:t>Ongoing Support</a:t>
            </a:r>
          </a:p>
        </p:txBody>
      </p:sp>
      <p:sp>
        <p:nvSpPr>
          <p:cNvPr id="16" name="TextBox 16"/>
          <p:cNvSpPr txBox="1"/>
          <p:nvPr/>
        </p:nvSpPr>
        <p:spPr>
          <a:xfrm>
            <a:off x="1696379" y="8153877"/>
            <a:ext cx="4352890" cy="1293495"/>
          </a:xfrm>
          <a:prstGeom prst="rect">
            <a:avLst/>
          </a:prstGeom>
        </p:spPr>
        <p:txBody>
          <a:bodyPr lIns="0" tIns="0" rIns="0" bIns="0" rtlCol="0" anchor="t">
            <a:spAutoFit/>
          </a:bodyPr>
          <a:lstStyle/>
          <a:p>
            <a:pPr algn="ctr">
              <a:lnSpc>
                <a:spcPts val="3390"/>
              </a:lnSpc>
            </a:pPr>
            <a:r>
              <a:rPr lang="en-US" sz="3000">
                <a:solidFill>
                  <a:srgbClr val="FFFFFF"/>
                </a:solidFill>
                <a:latin typeface="Glacial Indifference"/>
                <a:ea typeface="Glacial Indifference"/>
                <a:cs typeface="Glacial Indifference"/>
                <a:sym typeface="Glacial Indifference"/>
              </a:rPr>
              <a:t>Strong partnerships require regular check-ins and engagement.</a:t>
            </a:r>
          </a:p>
        </p:txBody>
      </p:sp>
      <p:sp>
        <p:nvSpPr>
          <p:cNvPr id="17" name="TextBox 17"/>
          <p:cNvSpPr txBox="1"/>
          <p:nvPr/>
        </p:nvSpPr>
        <p:spPr>
          <a:xfrm>
            <a:off x="6967555" y="8153877"/>
            <a:ext cx="4352890" cy="1722120"/>
          </a:xfrm>
          <a:prstGeom prst="rect">
            <a:avLst/>
          </a:prstGeom>
        </p:spPr>
        <p:txBody>
          <a:bodyPr lIns="0" tIns="0" rIns="0" bIns="0" rtlCol="0" anchor="t">
            <a:spAutoFit/>
          </a:bodyPr>
          <a:lstStyle/>
          <a:p>
            <a:pPr algn="ctr">
              <a:lnSpc>
                <a:spcPts val="3390"/>
              </a:lnSpc>
            </a:pPr>
            <a:r>
              <a:rPr lang="en-US" sz="3000">
                <a:solidFill>
                  <a:srgbClr val="FFFFFF"/>
                </a:solidFill>
                <a:latin typeface="Glacial Indifference"/>
                <a:ea typeface="Glacial Indifference"/>
                <a:cs typeface="Glacial Indifference"/>
                <a:sym typeface="Glacial Indifference"/>
              </a:rPr>
              <a:t>Success with one placement can open the door for more opportunities.</a:t>
            </a:r>
          </a:p>
        </p:txBody>
      </p:sp>
      <p:sp>
        <p:nvSpPr>
          <p:cNvPr id="18" name="TextBox 18"/>
          <p:cNvSpPr txBox="1"/>
          <p:nvPr/>
        </p:nvSpPr>
        <p:spPr>
          <a:xfrm>
            <a:off x="12776635" y="8153877"/>
            <a:ext cx="4352890" cy="1722120"/>
          </a:xfrm>
          <a:prstGeom prst="rect">
            <a:avLst/>
          </a:prstGeom>
        </p:spPr>
        <p:txBody>
          <a:bodyPr lIns="0" tIns="0" rIns="0" bIns="0" rtlCol="0" anchor="t">
            <a:spAutoFit/>
          </a:bodyPr>
          <a:lstStyle/>
          <a:p>
            <a:pPr algn="ctr">
              <a:lnSpc>
                <a:spcPts val="3390"/>
              </a:lnSpc>
            </a:pPr>
            <a:r>
              <a:rPr lang="en-US" sz="3000">
                <a:solidFill>
                  <a:srgbClr val="FFFFFF"/>
                </a:solidFill>
                <a:latin typeface="Glacial Indifference"/>
                <a:ea typeface="Glacial Indifference"/>
                <a:cs typeface="Glacial Indifference"/>
                <a:sym typeface="Glacial Indifference"/>
              </a:rPr>
              <a:t>Employers will value you more if they know they can rely on you beyond the initial hiring process.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95267" y="7165358"/>
            <a:ext cx="23574302" cy="3962202"/>
            <a:chOff x="0" y="0"/>
            <a:chExt cx="8599969" cy="1445422"/>
          </a:xfrm>
        </p:grpSpPr>
        <p:sp>
          <p:nvSpPr>
            <p:cNvPr id="3" name="Freeform 3"/>
            <p:cNvSpPr/>
            <p:nvPr/>
          </p:nvSpPr>
          <p:spPr>
            <a:xfrm>
              <a:off x="0" y="0"/>
              <a:ext cx="8599970" cy="1445422"/>
            </a:xfrm>
            <a:custGeom>
              <a:avLst/>
              <a:gdLst/>
              <a:ahLst/>
              <a:cxnLst/>
              <a:rect l="l" t="t" r="r" b="b"/>
              <a:pathLst>
                <a:path w="8599970" h="1445422">
                  <a:moveTo>
                    <a:pt x="0" y="0"/>
                  </a:moveTo>
                  <a:lnTo>
                    <a:pt x="8599970" y="0"/>
                  </a:lnTo>
                  <a:lnTo>
                    <a:pt x="8599970" y="1445422"/>
                  </a:lnTo>
                  <a:lnTo>
                    <a:pt x="0" y="1445422"/>
                  </a:lnTo>
                  <a:close/>
                </a:path>
              </a:pathLst>
            </a:custGeom>
            <a:solidFill>
              <a:srgbClr val="5C73B2"/>
            </a:solidFill>
          </p:spPr>
          <p:txBody>
            <a:bodyPr/>
            <a:lstStyle/>
            <a:p>
              <a:endParaRPr lang="en-US"/>
            </a:p>
          </p:txBody>
        </p:sp>
      </p:grpSp>
      <p:grpSp>
        <p:nvGrpSpPr>
          <p:cNvPr id="4" name="Group 4"/>
          <p:cNvGrpSpPr>
            <a:grpSpLocks noChangeAspect="1"/>
          </p:cNvGrpSpPr>
          <p:nvPr/>
        </p:nvGrpSpPr>
        <p:grpSpPr>
          <a:xfrm>
            <a:off x="9144000" y="1211045"/>
            <a:ext cx="3967707" cy="7935414"/>
            <a:chOff x="0" y="0"/>
            <a:chExt cx="3175000" cy="6350000"/>
          </a:xfrm>
        </p:grpSpPr>
        <p:sp>
          <p:nvSpPr>
            <p:cNvPr id="5" name="Freeform 5"/>
            <p:cNvSpPr/>
            <p:nvPr/>
          </p:nvSpPr>
          <p:spPr>
            <a:xfrm>
              <a:off x="0" y="0"/>
              <a:ext cx="3175000" cy="6350000"/>
            </a:xfrm>
            <a:custGeom>
              <a:avLst/>
              <a:gdLst/>
              <a:ahLst/>
              <a:cxnLst/>
              <a:rect l="l" t="t" r="r" b="b"/>
              <a:pathLst>
                <a:path w="3175000" h="6350000">
                  <a:moveTo>
                    <a:pt x="1587500" y="6350000"/>
                  </a:moveTo>
                  <a:lnTo>
                    <a:pt x="1587500" y="6350000"/>
                  </a:lnTo>
                  <a:cubicBezTo>
                    <a:pt x="711200" y="6350000"/>
                    <a:pt x="0" y="5638800"/>
                    <a:pt x="0" y="4762500"/>
                  </a:cubicBezTo>
                  <a:lnTo>
                    <a:pt x="0" y="1587500"/>
                  </a:lnTo>
                  <a:cubicBezTo>
                    <a:pt x="0" y="711200"/>
                    <a:pt x="711200" y="0"/>
                    <a:pt x="1587500" y="0"/>
                  </a:cubicBezTo>
                  <a:lnTo>
                    <a:pt x="1587500" y="0"/>
                  </a:lnTo>
                  <a:cubicBezTo>
                    <a:pt x="2463800" y="0"/>
                    <a:pt x="3175000" y="711200"/>
                    <a:pt x="3175000" y="1587500"/>
                  </a:cubicBezTo>
                  <a:lnTo>
                    <a:pt x="3175000" y="4762500"/>
                  </a:lnTo>
                  <a:cubicBezTo>
                    <a:pt x="3175000" y="5638800"/>
                    <a:pt x="2463800" y="6350000"/>
                    <a:pt x="1587500" y="6350000"/>
                  </a:cubicBezTo>
                  <a:close/>
                </a:path>
              </a:pathLst>
            </a:custGeom>
            <a:blipFill>
              <a:blip r:embed="rId3"/>
              <a:stretch>
                <a:fillRect l="-48651" r="-151535"/>
              </a:stretch>
            </a:blipFill>
          </p:spPr>
          <p:txBody>
            <a:bodyPr/>
            <a:lstStyle/>
            <a:p>
              <a:endParaRPr lang="en-US"/>
            </a:p>
          </p:txBody>
        </p:sp>
        <p:sp>
          <p:nvSpPr>
            <p:cNvPr id="6" name="Freeform 6"/>
            <p:cNvSpPr/>
            <p:nvPr/>
          </p:nvSpPr>
          <p:spPr>
            <a:xfrm>
              <a:off x="0" y="0"/>
              <a:ext cx="3175000" cy="6350000"/>
            </a:xfrm>
            <a:custGeom>
              <a:avLst/>
              <a:gdLst/>
              <a:ahLst/>
              <a:cxnLst/>
              <a:rect l="l" t="t" r="r" b="b"/>
              <a:pathLst>
                <a:path w="3175000" h="6350000">
                  <a:moveTo>
                    <a:pt x="1587500" y="19050"/>
                  </a:moveTo>
                  <a:cubicBezTo>
                    <a:pt x="2452370" y="19050"/>
                    <a:pt x="3155950" y="722630"/>
                    <a:pt x="3155950" y="1587500"/>
                  </a:cubicBezTo>
                  <a:lnTo>
                    <a:pt x="3155950" y="4762500"/>
                  </a:lnTo>
                  <a:cubicBezTo>
                    <a:pt x="3155950" y="5627370"/>
                    <a:pt x="2452370" y="6330950"/>
                    <a:pt x="1587500" y="6330950"/>
                  </a:cubicBezTo>
                  <a:cubicBezTo>
                    <a:pt x="722630" y="6330950"/>
                    <a:pt x="19050" y="5627370"/>
                    <a:pt x="19050" y="4762500"/>
                  </a:cubicBezTo>
                  <a:lnTo>
                    <a:pt x="19050" y="1587500"/>
                  </a:lnTo>
                  <a:cubicBezTo>
                    <a:pt x="19050" y="722630"/>
                    <a:pt x="722630" y="19050"/>
                    <a:pt x="1587500" y="19050"/>
                  </a:cubicBezTo>
                  <a:moveTo>
                    <a:pt x="1587500" y="0"/>
                  </a:moveTo>
                  <a:cubicBezTo>
                    <a:pt x="711200" y="0"/>
                    <a:pt x="0" y="711200"/>
                    <a:pt x="0" y="1587500"/>
                  </a:cubicBezTo>
                  <a:lnTo>
                    <a:pt x="0" y="4762500"/>
                  </a:lnTo>
                  <a:cubicBezTo>
                    <a:pt x="0" y="5638800"/>
                    <a:pt x="711200" y="6350000"/>
                    <a:pt x="1587500" y="6350000"/>
                  </a:cubicBezTo>
                  <a:cubicBezTo>
                    <a:pt x="2463800" y="6350000"/>
                    <a:pt x="3175000" y="5638800"/>
                    <a:pt x="3175000" y="4762500"/>
                  </a:cubicBezTo>
                  <a:lnTo>
                    <a:pt x="3175000" y="1587500"/>
                  </a:lnTo>
                  <a:cubicBezTo>
                    <a:pt x="3175000" y="711200"/>
                    <a:pt x="2463800" y="0"/>
                    <a:pt x="1587500" y="0"/>
                  </a:cubicBezTo>
                  <a:lnTo>
                    <a:pt x="1587500" y="0"/>
                  </a:lnTo>
                  <a:close/>
                </a:path>
              </a:pathLst>
            </a:custGeom>
            <a:solidFill>
              <a:srgbClr val="1A3272"/>
            </a:solidFill>
          </p:spPr>
          <p:txBody>
            <a:bodyPr/>
            <a:lstStyle/>
            <a:p>
              <a:endParaRPr lang="en-US"/>
            </a:p>
          </p:txBody>
        </p:sp>
      </p:grpSp>
      <p:grpSp>
        <p:nvGrpSpPr>
          <p:cNvPr id="7" name="Group 7"/>
          <p:cNvGrpSpPr>
            <a:grpSpLocks noChangeAspect="1"/>
          </p:cNvGrpSpPr>
          <p:nvPr/>
        </p:nvGrpSpPr>
        <p:grpSpPr>
          <a:xfrm>
            <a:off x="13520193" y="1322886"/>
            <a:ext cx="3967707" cy="7935414"/>
            <a:chOff x="0" y="0"/>
            <a:chExt cx="3175000" cy="6350000"/>
          </a:xfrm>
        </p:grpSpPr>
        <p:sp>
          <p:nvSpPr>
            <p:cNvPr id="8" name="Freeform 8"/>
            <p:cNvSpPr/>
            <p:nvPr/>
          </p:nvSpPr>
          <p:spPr>
            <a:xfrm>
              <a:off x="0" y="0"/>
              <a:ext cx="3175000" cy="6350000"/>
            </a:xfrm>
            <a:custGeom>
              <a:avLst/>
              <a:gdLst/>
              <a:ahLst/>
              <a:cxnLst/>
              <a:rect l="l" t="t" r="r" b="b"/>
              <a:pathLst>
                <a:path w="3175000" h="6350000">
                  <a:moveTo>
                    <a:pt x="1587500" y="6350000"/>
                  </a:moveTo>
                  <a:lnTo>
                    <a:pt x="1587500" y="6350000"/>
                  </a:lnTo>
                  <a:cubicBezTo>
                    <a:pt x="711200" y="6350000"/>
                    <a:pt x="0" y="5638800"/>
                    <a:pt x="0" y="4762500"/>
                  </a:cubicBezTo>
                  <a:lnTo>
                    <a:pt x="0" y="1587500"/>
                  </a:lnTo>
                  <a:cubicBezTo>
                    <a:pt x="0" y="711200"/>
                    <a:pt x="711200" y="0"/>
                    <a:pt x="1587500" y="0"/>
                  </a:cubicBezTo>
                  <a:lnTo>
                    <a:pt x="1587500" y="0"/>
                  </a:lnTo>
                  <a:cubicBezTo>
                    <a:pt x="2463800" y="0"/>
                    <a:pt x="3175000" y="711200"/>
                    <a:pt x="3175000" y="1587500"/>
                  </a:cubicBezTo>
                  <a:lnTo>
                    <a:pt x="3175000" y="4762500"/>
                  </a:lnTo>
                  <a:cubicBezTo>
                    <a:pt x="3175000" y="5638800"/>
                    <a:pt x="2463800" y="6350000"/>
                    <a:pt x="1587500" y="6350000"/>
                  </a:cubicBezTo>
                  <a:close/>
                </a:path>
              </a:pathLst>
            </a:custGeom>
            <a:blipFill>
              <a:blip r:embed="rId4"/>
              <a:stretch>
                <a:fillRect l="-16625" r="-16625"/>
              </a:stretch>
            </a:blipFill>
          </p:spPr>
          <p:txBody>
            <a:bodyPr/>
            <a:lstStyle/>
            <a:p>
              <a:endParaRPr lang="en-US"/>
            </a:p>
          </p:txBody>
        </p:sp>
        <p:sp>
          <p:nvSpPr>
            <p:cNvPr id="9" name="Freeform 9"/>
            <p:cNvSpPr/>
            <p:nvPr/>
          </p:nvSpPr>
          <p:spPr>
            <a:xfrm>
              <a:off x="0" y="0"/>
              <a:ext cx="3175000" cy="6350000"/>
            </a:xfrm>
            <a:custGeom>
              <a:avLst/>
              <a:gdLst/>
              <a:ahLst/>
              <a:cxnLst/>
              <a:rect l="l" t="t" r="r" b="b"/>
              <a:pathLst>
                <a:path w="3175000" h="6350000">
                  <a:moveTo>
                    <a:pt x="1587500" y="19050"/>
                  </a:moveTo>
                  <a:cubicBezTo>
                    <a:pt x="2452370" y="19050"/>
                    <a:pt x="3155950" y="722630"/>
                    <a:pt x="3155950" y="1587500"/>
                  </a:cubicBezTo>
                  <a:lnTo>
                    <a:pt x="3155950" y="4762500"/>
                  </a:lnTo>
                  <a:cubicBezTo>
                    <a:pt x="3155950" y="5627370"/>
                    <a:pt x="2452370" y="6330950"/>
                    <a:pt x="1587500" y="6330950"/>
                  </a:cubicBezTo>
                  <a:cubicBezTo>
                    <a:pt x="722630" y="6330950"/>
                    <a:pt x="19050" y="5627370"/>
                    <a:pt x="19050" y="4762500"/>
                  </a:cubicBezTo>
                  <a:lnTo>
                    <a:pt x="19050" y="1587500"/>
                  </a:lnTo>
                  <a:cubicBezTo>
                    <a:pt x="19050" y="722630"/>
                    <a:pt x="722630" y="19050"/>
                    <a:pt x="1587500" y="19050"/>
                  </a:cubicBezTo>
                  <a:moveTo>
                    <a:pt x="1587500" y="0"/>
                  </a:moveTo>
                  <a:cubicBezTo>
                    <a:pt x="711200" y="0"/>
                    <a:pt x="0" y="711200"/>
                    <a:pt x="0" y="1587500"/>
                  </a:cubicBezTo>
                  <a:lnTo>
                    <a:pt x="0" y="4762500"/>
                  </a:lnTo>
                  <a:cubicBezTo>
                    <a:pt x="0" y="5638800"/>
                    <a:pt x="711200" y="6350000"/>
                    <a:pt x="1587500" y="6350000"/>
                  </a:cubicBezTo>
                  <a:cubicBezTo>
                    <a:pt x="2463800" y="6350000"/>
                    <a:pt x="3175000" y="5638800"/>
                    <a:pt x="3175000" y="4762500"/>
                  </a:cubicBezTo>
                  <a:lnTo>
                    <a:pt x="3175000" y="1587500"/>
                  </a:lnTo>
                  <a:cubicBezTo>
                    <a:pt x="3175000" y="711200"/>
                    <a:pt x="2463800" y="0"/>
                    <a:pt x="1587500" y="0"/>
                  </a:cubicBezTo>
                  <a:lnTo>
                    <a:pt x="1587500" y="0"/>
                  </a:lnTo>
                  <a:close/>
                </a:path>
              </a:pathLst>
            </a:custGeom>
            <a:solidFill>
              <a:srgbClr val="1A3272"/>
            </a:solidFill>
          </p:spPr>
          <p:txBody>
            <a:bodyPr/>
            <a:lstStyle/>
            <a:p>
              <a:endParaRPr lang="en-US"/>
            </a:p>
          </p:txBody>
        </p:sp>
      </p:grpSp>
      <p:sp>
        <p:nvSpPr>
          <p:cNvPr id="10" name="TextBox 10"/>
          <p:cNvSpPr txBox="1"/>
          <p:nvPr/>
        </p:nvSpPr>
        <p:spPr>
          <a:xfrm>
            <a:off x="1028700" y="1970648"/>
            <a:ext cx="7212039" cy="1034542"/>
          </a:xfrm>
          <a:prstGeom prst="rect">
            <a:avLst/>
          </a:prstGeom>
        </p:spPr>
        <p:txBody>
          <a:bodyPr lIns="0" tIns="0" rIns="0" bIns="0" rtlCol="0" anchor="t">
            <a:spAutoFit/>
          </a:bodyPr>
          <a:lstStyle/>
          <a:p>
            <a:pPr algn="l">
              <a:lnSpc>
                <a:spcPts val="8383"/>
              </a:lnSpc>
            </a:pPr>
            <a:r>
              <a:rPr lang="en-US" sz="6399">
                <a:solidFill>
                  <a:srgbClr val="26459B"/>
                </a:solidFill>
                <a:latin typeface="League Spartan"/>
                <a:ea typeface="League Spartan"/>
                <a:cs typeface="League Spartan"/>
                <a:sym typeface="League Spartan"/>
              </a:rPr>
              <a:t>Build Coalitions</a:t>
            </a:r>
          </a:p>
        </p:txBody>
      </p:sp>
      <p:sp>
        <p:nvSpPr>
          <p:cNvPr id="11" name="TextBox 11"/>
          <p:cNvSpPr txBox="1"/>
          <p:nvPr/>
        </p:nvSpPr>
        <p:spPr>
          <a:xfrm>
            <a:off x="1028700" y="2938515"/>
            <a:ext cx="7705725" cy="2124075"/>
          </a:xfrm>
          <a:prstGeom prst="rect">
            <a:avLst/>
          </a:prstGeom>
        </p:spPr>
        <p:txBody>
          <a:bodyPr lIns="0" tIns="0" rIns="0" bIns="0" rtlCol="0" anchor="t">
            <a:spAutoFit/>
          </a:bodyPr>
          <a:lstStyle/>
          <a:p>
            <a:pPr algn="l">
              <a:lnSpc>
                <a:spcPts val="4200"/>
              </a:lnSpc>
            </a:pPr>
            <a:r>
              <a:rPr lang="en-US" sz="3000">
                <a:solidFill>
                  <a:srgbClr val="13224B"/>
                </a:solidFill>
                <a:latin typeface="Glacial Indifference"/>
                <a:ea typeface="Glacial Indifference"/>
                <a:cs typeface="Glacial Indifference"/>
                <a:sym typeface="Glacial Indifference"/>
              </a:rPr>
              <a:t>Employers trust other employers! Business leaders often feel more confident in hiring when they see others in their industry doing it successfully.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4674</TotalTime>
  <Words>1193</Words>
  <Application>Microsoft Office PowerPoint</Application>
  <PresentationFormat>Custom</PresentationFormat>
  <Paragraphs>98</Paragraphs>
  <Slides>6</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vt:i4>
      </vt:variant>
    </vt:vector>
  </HeadingPairs>
  <TitlesOfParts>
    <vt:vector size="15" baseType="lpstr">
      <vt:lpstr>Glacial Indifference</vt:lpstr>
      <vt:lpstr>League Spartan</vt:lpstr>
      <vt:lpstr>Calibri</vt:lpstr>
      <vt:lpstr>Aptos</vt:lpstr>
      <vt:lpstr>Glacial Indifference Italics</vt:lpstr>
      <vt:lpstr>Myriad Pro</vt:lpstr>
      <vt:lpstr>Arial</vt:lpstr>
      <vt:lpstr>Glacial Indifference 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Engagement</dc:title>
  <dc:creator>Amy Gessert</dc:creator>
  <cp:lastModifiedBy>Amy C Gessert</cp:lastModifiedBy>
  <cp:revision>2</cp:revision>
  <dcterms:created xsi:type="dcterms:W3CDTF">2006-08-16T00:00:00Z</dcterms:created>
  <dcterms:modified xsi:type="dcterms:W3CDTF">2025-02-24T20:17:50Z</dcterms:modified>
  <dc:identifier>DAGfvZB6tn4</dc:identifier>
</cp:coreProperties>
</file>