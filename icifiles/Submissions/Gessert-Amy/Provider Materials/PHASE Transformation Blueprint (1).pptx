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4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6BBF68-1003-B7F0-CEAC-326C00DC50B1}" name="Don Lavin" initials="DL" userId="S::strengthsatwork_gmail.com#ext#@liveumb.onmicrosoft.com::83d6a1c4-513e-4dc7-8cf5-7a0b479f1b48" providerId="AD"/>
  <p188:author id="{A8AC5C95-D64A-574C-B916-E4A2CC8E2F12}" name="Amy C Gessert" initials="AG" userId="S::amy.gessert@umb.edu::959649af-45c5-487c-aa74-829e1b24d52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D2D8"/>
    <a:srgbClr val="AEAEAE"/>
    <a:srgbClr val="393A3C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BF3F61-F1F9-7E05-2C9B-51804D54B546}" v="2" dt="2026-06-03T15:28:26.4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C Woolery" userId="S::william.woolery@umb.edu::055f88f7-3fd3-40f6-8c1f-3d890ab1d394" providerId="AD" clId="Web-{33BF3F61-F1F9-7E05-2C9B-51804D54B546}"/>
    <pc:docChg chg="modSld">
      <pc:chgData name="William C Woolery" userId="S::william.woolery@umb.edu::055f88f7-3fd3-40f6-8c1f-3d890ab1d394" providerId="AD" clId="Web-{33BF3F61-F1F9-7E05-2C9B-51804D54B546}" dt="2026-06-03T15:28:26.467" v="1"/>
      <pc:docMkLst>
        <pc:docMk/>
      </pc:docMkLst>
      <pc:sldChg chg="modSp">
        <pc:chgData name="William C Woolery" userId="S::william.woolery@umb.edu::055f88f7-3fd3-40f6-8c1f-3d890ab1d394" providerId="AD" clId="Web-{33BF3F61-F1F9-7E05-2C9B-51804D54B546}" dt="2026-06-03T15:28:26.467" v="1"/>
        <pc:sldMkLst>
          <pc:docMk/>
          <pc:sldMk cId="989967111" sldId="263"/>
        </pc:sldMkLst>
        <pc:graphicFrameChg chg="modGraphic">
          <ac:chgData name="William C Woolery" userId="S::william.woolery@umb.edu::055f88f7-3fd3-40f6-8c1f-3d890ab1d394" providerId="AD" clId="Web-{33BF3F61-F1F9-7E05-2C9B-51804D54B546}" dt="2026-06-03T15:28:26.467" v="1"/>
          <ac:graphicFrameMkLst>
            <pc:docMk/>
            <pc:sldMk cId="989967111" sldId="263"/>
            <ac:graphicFrameMk id="5" creationId="{1EC17BC2-D7FA-D461-BEDC-71A42E023303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4DB1C2-7F11-4C66-A3AC-D44093281FD2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F0ABA278-58C1-4471-924E-7ED1F6F2B096}">
      <dgm:prSet phldrT="[Text]" phldr="0"/>
      <dgm:spPr/>
      <dgm:t>
        <a:bodyPr/>
        <a:lstStyle/>
        <a:p>
          <a:pPr rtl="0"/>
          <a:r>
            <a:rPr lang="en-US">
              <a:latin typeface="Calibri Light"/>
              <a:ea typeface="Calibri Light"/>
              <a:cs typeface="Calibri Light"/>
            </a:rPr>
            <a:t>Infrastructure Focused Changes</a:t>
          </a:r>
        </a:p>
      </dgm:t>
    </dgm:pt>
    <dgm:pt modelId="{1CEFFBE1-FD7B-4B25-925D-EB2C644CF700}" type="parTrans" cxnId="{EDA07ADB-3EC5-4038-A8E9-DBC51357853F}">
      <dgm:prSet/>
      <dgm:spPr/>
    </dgm:pt>
    <dgm:pt modelId="{6BA95330-4527-4CCD-A049-05DF45476A47}" type="sibTrans" cxnId="{EDA07ADB-3EC5-4038-A8E9-DBC51357853F}">
      <dgm:prSet/>
      <dgm:spPr/>
      <dgm:t>
        <a:bodyPr/>
        <a:lstStyle/>
        <a:p>
          <a:endParaRPr lang="en-US"/>
        </a:p>
      </dgm:t>
    </dgm:pt>
    <dgm:pt modelId="{1CE267CA-48DD-49EC-A1C5-EC14C616A518}">
      <dgm:prSet phldrT="[Text]" phldr="0"/>
      <dgm:spPr/>
      <dgm:t>
        <a:bodyPr/>
        <a:lstStyle/>
        <a:p>
          <a:pPr rtl="0"/>
          <a:r>
            <a:rPr lang="en-US">
              <a:latin typeface="Calibri Light"/>
              <a:ea typeface="Calibri Light"/>
              <a:cs typeface="Calibri Light"/>
            </a:rPr>
            <a:t>Staff Focus </a:t>
          </a:r>
        </a:p>
      </dgm:t>
    </dgm:pt>
    <dgm:pt modelId="{E6042546-38A4-4B37-8B55-9236F806B96C}" type="parTrans" cxnId="{637B059F-74F7-42AD-BDCA-6A875ADD9627}">
      <dgm:prSet/>
      <dgm:spPr/>
    </dgm:pt>
    <dgm:pt modelId="{CD8D32D8-5609-4284-8001-8792DB385560}" type="sibTrans" cxnId="{637B059F-74F7-42AD-BDCA-6A875ADD9627}">
      <dgm:prSet/>
      <dgm:spPr/>
      <dgm:t>
        <a:bodyPr/>
        <a:lstStyle/>
        <a:p>
          <a:endParaRPr lang="en-US"/>
        </a:p>
      </dgm:t>
    </dgm:pt>
    <dgm:pt modelId="{6C1571A9-F162-46AE-9404-4887EDDD450A}">
      <dgm:prSet phldr="0"/>
      <dgm:spPr/>
      <dgm:t>
        <a:bodyPr/>
        <a:lstStyle/>
        <a:p>
          <a:pPr rtl="0"/>
          <a:r>
            <a:rPr lang="en-US">
              <a:latin typeface="Calibri Light"/>
              <a:ea typeface="Calibri Light"/>
              <a:cs typeface="Calibri Light"/>
            </a:rPr>
            <a:t>Communication Planning</a:t>
          </a:r>
        </a:p>
      </dgm:t>
    </dgm:pt>
    <dgm:pt modelId="{299933B8-C7DE-44A4-AED4-F274388BAD78}" type="parTrans" cxnId="{6F430C27-F434-425C-8BB6-46A65168F19A}">
      <dgm:prSet/>
      <dgm:spPr/>
    </dgm:pt>
    <dgm:pt modelId="{95806222-8D6C-4C4E-8954-F86E71072B5F}" type="sibTrans" cxnId="{6F430C27-F434-425C-8BB6-46A65168F19A}">
      <dgm:prSet/>
      <dgm:spPr/>
      <dgm:t>
        <a:bodyPr/>
        <a:lstStyle/>
        <a:p>
          <a:endParaRPr lang="en-US"/>
        </a:p>
      </dgm:t>
    </dgm:pt>
    <dgm:pt modelId="{B23B8E01-416D-484F-B082-C6227A68B9E2}">
      <dgm:prSet phldr="0"/>
      <dgm:spPr/>
      <dgm:t>
        <a:bodyPr/>
        <a:lstStyle/>
        <a:p>
          <a:pPr rtl="0"/>
          <a:r>
            <a:rPr lang="en-US">
              <a:latin typeface="Calibri Light"/>
              <a:ea typeface="Calibri Light"/>
              <a:cs typeface="Calibri Light"/>
            </a:rPr>
            <a:t>PHASE's "Why"</a:t>
          </a:r>
          <a:endParaRPr lang="en-US"/>
        </a:p>
      </dgm:t>
    </dgm:pt>
    <dgm:pt modelId="{A5FA77C8-C12D-4800-ABAE-9E4D32460502}" type="parTrans" cxnId="{9C65B148-A56B-4456-9D6F-AC8738D87D8C}">
      <dgm:prSet/>
      <dgm:spPr/>
    </dgm:pt>
    <dgm:pt modelId="{ABC79455-C9E9-4CF5-85AD-D42E0518BCEF}" type="sibTrans" cxnId="{9C65B148-A56B-4456-9D6F-AC8738D87D8C}">
      <dgm:prSet/>
      <dgm:spPr/>
    </dgm:pt>
    <dgm:pt modelId="{AD65F64D-3254-4887-A11C-9CA92A1AB051}" type="pres">
      <dgm:prSet presAssocID="{EA4DB1C2-7F11-4C66-A3AC-D44093281FD2}" presName="arrowDiagram" presStyleCnt="0">
        <dgm:presLayoutVars>
          <dgm:chMax val="5"/>
          <dgm:dir/>
          <dgm:resizeHandles val="exact"/>
        </dgm:presLayoutVars>
      </dgm:prSet>
      <dgm:spPr/>
    </dgm:pt>
    <dgm:pt modelId="{7AABE5F4-F886-44F9-ABBC-F3ECE5B733E9}" type="pres">
      <dgm:prSet presAssocID="{EA4DB1C2-7F11-4C66-A3AC-D44093281FD2}" presName="arrow" presStyleLbl="bgShp" presStyleIdx="0" presStyleCnt="1"/>
      <dgm:spPr/>
    </dgm:pt>
    <dgm:pt modelId="{1835C416-9B59-4EB7-8589-B81EA239C178}" type="pres">
      <dgm:prSet presAssocID="{EA4DB1C2-7F11-4C66-A3AC-D44093281FD2}" presName="arrowDiagram4" presStyleCnt="0"/>
      <dgm:spPr/>
    </dgm:pt>
    <dgm:pt modelId="{DBB96D2C-75AC-401B-AF2B-4F7016E44D29}" type="pres">
      <dgm:prSet presAssocID="{B23B8E01-416D-484F-B082-C6227A68B9E2}" presName="bullet4a" presStyleLbl="node1" presStyleIdx="0" presStyleCnt="4"/>
      <dgm:spPr/>
    </dgm:pt>
    <dgm:pt modelId="{CC1A2DD3-1916-4F93-91FF-C81C41BED456}" type="pres">
      <dgm:prSet presAssocID="{B23B8E01-416D-484F-B082-C6227A68B9E2}" presName="textBox4a" presStyleLbl="revTx" presStyleIdx="0" presStyleCnt="4">
        <dgm:presLayoutVars>
          <dgm:bulletEnabled val="1"/>
        </dgm:presLayoutVars>
      </dgm:prSet>
      <dgm:spPr/>
    </dgm:pt>
    <dgm:pt modelId="{A48E2373-B282-4950-A75C-F86DE61FB80D}" type="pres">
      <dgm:prSet presAssocID="{6C1571A9-F162-46AE-9404-4887EDDD450A}" presName="bullet4b" presStyleLbl="node1" presStyleIdx="1" presStyleCnt="4"/>
      <dgm:spPr/>
    </dgm:pt>
    <dgm:pt modelId="{F915141F-FF4D-4C25-B156-E610093CE703}" type="pres">
      <dgm:prSet presAssocID="{6C1571A9-F162-46AE-9404-4887EDDD450A}" presName="textBox4b" presStyleLbl="revTx" presStyleIdx="1" presStyleCnt="4">
        <dgm:presLayoutVars>
          <dgm:bulletEnabled val="1"/>
        </dgm:presLayoutVars>
      </dgm:prSet>
      <dgm:spPr/>
    </dgm:pt>
    <dgm:pt modelId="{952C3CB1-D72D-4DE7-A2C5-BE8E6C993ABE}" type="pres">
      <dgm:prSet presAssocID="{F0ABA278-58C1-4471-924E-7ED1F6F2B096}" presName="bullet4c" presStyleLbl="node1" presStyleIdx="2" presStyleCnt="4"/>
      <dgm:spPr/>
    </dgm:pt>
    <dgm:pt modelId="{8143D12E-9C3C-4671-87E8-9D9F58871F5E}" type="pres">
      <dgm:prSet presAssocID="{F0ABA278-58C1-4471-924E-7ED1F6F2B096}" presName="textBox4c" presStyleLbl="revTx" presStyleIdx="2" presStyleCnt="4">
        <dgm:presLayoutVars>
          <dgm:bulletEnabled val="1"/>
        </dgm:presLayoutVars>
      </dgm:prSet>
      <dgm:spPr/>
    </dgm:pt>
    <dgm:pt modelId="{FBC5BC1E-AF6C-4D81-B41E-9CCABDC7A52B}" type="pres">
      <dgm:prSet presAssocID="{1CE267CA-48DD-49EC-A1C5-EC14C616A518}" presName="bullet4d" presStyleLbl="node1" presStyleIdx="3" presStyleCnt="4"/>
      <dgm:spPr/>
    </dgm:pt>
    <dgm:pt modelId="{533D99EF-4B9B-4C51-848A-A66626751EFE}" type="pres">
      <dgm:prSet presAssocID="{1CE267CA-48DD-49EC-A1C5-EC14C616A518}" presName="textBox4d" presStyleLbl="revTx" presStyleIdx="3" presStyleCnt="4">
        <dgm:presLayoutVars>
          <dgm:bulletEnabled val="1"/>
        </dgm:presLayoutVars>
      </dgm:prSet>
      <dgm:spPr/>
    </dgm:pt>
  </dgm:ptLst>
  <dgm:cxnLst>
    <dgm:cxn modelId="{DD9D8F1E-7B82-413D-A775-48381B61AFDE}" type="presOf" srcId="{B23B8E01-416D-484F-B082-C6227A68B9E2}" destId="{CC1A2DD3-1916-4F93-91FF-C81C41BED456}" srcOrd="0" destOrd="0" presId="urn:microsoft.com/office/officeart/2005/8/layout/arrow2"/>
    <dgm:cxn modelId="{EC217C23-912D-42E0-A842-13B3374D2C3B}" type="presOf" srcId="{6C1571A9-F162-46AE-9404-4887EDDD450A}" destId="{F915141F-FF4D-4C25-B156-E610093CE703}" srcOrd="0" destOrd="0" presId="urn:microsoft.com/office/officeart/2005/8/layout/arrow2"/>
    <dgm:cxn modelId="{6F430C27-F434-425C-8BB6-46A65168F19A}" srcId="{EA4DB1C2-7F11-4C66-A3AC-D44093281FD2}" destId="{6C1571A9-F162-46AE-9404-4887EDDD450A}" srcOrd="1" destOrd="0" parTransId="{299933B8-C7DE-44A4-AED4-F274388BAD78}" sibTransId="{95806222-8D6C-4C4E-8954-F86E71072B5F}"/>
    <dgm:cxn modelId="{61449B2B-0623-4D7F-BF30-42091413C78C}" type="presOf" srcId="{F0ABA278-58C1-4471-924E-7ED1F6F2B096}" destId="{8143D12E-9C3C-4671-87E8-9D9F58871F5E}" srcOrd="0" destOrd="0" presId="urn:microsoft.com/office/officeart/2005/8/layout/arrow2"/>
    <dgm:cxn modelId="{9C65B148-A56B-4456-9D6F-AC8738D87D8C}" srcId="{EA4DB1C2-7F11-4C66-A3AC-D44093281FD2}" destId="{B23B8E01-416D-484F-B082-C6227A68B9E2}" srcOrd="0" destOrd="0" parTransId="{A5FA77C8-C12D-4800-ABAE-9E4D32460502}" sibTransId="{ABC79455-C9E9-4CF5-85AD-D42E0518BCEF}"/>
    <dgm:cxn modelId="{637B059F-74F7-42AD-BDCA-6A875ADD9627}" srcId="{EA4DB1C2-7F11-4C66-A3AC-D44093281FD2}" destId="{1CE267CA-48DD-49EC-A1C5-EC14C616A518}" srcOrd="3" destOrd="0" parTransId="{E6042546-38A4-4B37-8B55-9236F806B96C}" sibTransId="{CD8D32D8-5609-4284-8001-8792DB385560}"/>
    <dgm:cxn modelId="{EDA07ADB-3EC5-4038-A8E9-DBC51357853F}" srcId="{EA4DB1C2-7F11-4C66-A3AC-D44093281FD2}" destId="{F0ABA278-58C1-4471-924E-7ED1F6F2B096}" srcOrd="2" destOrd="0" parTransId="{1CEFFBE1-FD7B-4B25-925D-EB2C644CF700}" sibTransId="{6BA95330-4527-4CCD-A049-05DF45476A47}"/>
    <dgm:cxn modelId="{24A6DEF3-4911-4BBD-837E-4F6EC42A2C4F}" type="presOf" srcId="{EA4DB1C2-7F11-4C66-A3AC-D44093281FD2}" destId="{AD65F64D-3254-4887-A11C-9CA92A1AB051}" srcOrd="0" destOrd="0" presId="urn:microsoft.com/office/officeart/2005/8/layout/arrow2"/>
    <dgm:cxn modelId="{C6BF74FC-E06D-4DEA-934B-ACF6C53080FA}" type="presOf" srcId="{1CE267CA-48DD-49EC-A1C5-EC14C616A518}" destId="{533D99EF-4B9B-4C51-848A-A66626751EFE}" srcOrd="0" destOrd="0" presId="urn:microsoft.com/office/officeart/2005/8/layout/arrow2"/>
    <dgm:cxn modelId="{5D8F0B79-2FB3-4CB6-BB5E-1D70FB70D6B1}" type="presParOf" srcId="{AD65F64D-3254-4887-A11C-9CA92A1AB051}" destId="{7AABE5F4-F886-44F9-ABBC-F3ECE5B733E9}" srcOrd="0" destOrd="0" presId="urn:microsoft.com/office/officeart/2005/8/layout/arrow2"/>
    <dgm:cxn modelId="{18022B32-4750-4351-B9F6-252B3AFBF2FC}" type="presParOf" srcId="{AD65F64D-3254-4887-A11C-9CA92A1AB051}" destId="{1835C416-9B59-4EB7-8589-B81EA239C178}" srcOrd="1" destOrd="0" presId="urn:microsoft.com/office/officeart/2005/8/layout/arrow2"/>
    <dgm:cxn modelId="{60123955-BE24-4C5B-B76C-2B516B9AAD81}" type="presParOf" srcId="{1835C416-9B59-4EB7-8589-B81EA239C178}" destId="{DBB96D2C-75AC-401B-AF2B-4F7016E44D29}" srcOrd="0" destOrd="0" presId="urn:microsoft.com/office/officeart/2005/8/layout/arrow2"/>
    <dgm:cxn modelId="{0AF8ED42-F6C8-48A6-B886-208FDD32DECA}" type="presParOf" srcId="{1835C416-9B59-4EB7-8589-B81EA239C178}" destId="{CC1A2DD3-1916-4F93-91FF-C81C41BED456}" srcOrd="1" destOrd="0" presId="urn:microsoft.com/office/officeart/2005/8/layout/arrow2"/>
    <dgm:cxn modelId="{48496DBE-BE96-41E3-A3BC-0B0EF46AA6E5}" type="presParOf" srcId="{1835C416-9B59-4EB7-8589-B81EA239C178}" destId="{A48E2373-B282-4950-A75C-F86DE61FB80D}" srcOrd="2" destOrd="0" presId="urn:microsoft.com/office/officeart/2005/8/layout/arrow2"/>
    <dgm:cxn modelId="{792A176C-8E14-43F3-8E60-02991927153F}" type="presParOf" srcId="{1835C416-9B59-4EB7-8589-B81EA239C178}" destId="{F915141F-FF4D-4C25-B156-E610093CE703}" srcOrd="3" destOrd="0" presId="urn:microsoft.com/office/officeart/2005/8/layout/arrow2"/>
    <dgm:cxn modelId="{AB40D6EB-FD23-4F54-BFF5-C612EF2152CA}" type="presParOf" srcId="{1835C416-9B59-4EB7-8589-B81EA239C178}" destId="{952C3CB1-D72D-4DE7-A2C5-BE8E6C993ABE}" srcOrd="4" destOrd="0" presId="urn:microsoft.com/office/officeart/2005/8/layout/arrow2"/>
    <dgm:cxn modelId="{622ABD7D-1A92-4CFE-A600-B74EECE29A59}" type="presParOf" srcId="{1835C416-9B59-4EB7-8589-B81EA239C178}" destId="{8143D12E-9C3C-4671-87E8-9D9F58871F5E}" srcOrd="5" destOrd="0" presId="urn:microsoft.com/office/officeart/2005/8/layout/arrow2"/>
    <dgm:cxn modelId="{37D44DC5-8942-4F52-8CA5-94C33C270E50}" type="presParOf" srcId="{1835C416-9B59-4EB7-8589-B81EA239C178}" destId="{FBC5BC1E-AF6C-4D81-B41E-9CCABDC7A52B}" srcOrd="6" destOrd="0" presId="urn:microsoft.com/office/officeart/2005/8/layout/arrow2"/>
    <dgm:cxn modelId="{2A659D21-192E-425B-A655-ED0F1A128F34}" type="presParOf" srcId="{1835C416-9B59-4EB7-8589-B81EA239C178}" destId="{533D99EF-4B9B-4C51-848A-A66626751EFE}" srcOrd="7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ABE5F4-F886-44F9-ABBC-F3ECE5B733E9}">
      <dsp:nvSpPr>
        <dsp:cNvPr id="0" name=""/>
        <dsp:cNvSpPr/>
      </dsp:nvSpPr>
      <dsp:spPr>
        <a:xfrm>
          <a:off x="0" y="182861"/>
          <a:ext cx="7900203" cy="4937626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B96D2C-75AC-401B-AF2B-4F7016E44D29}">
      <dsp:nvSpPr>
        <dsp:cNvPr id="0" name=""/>
        <dsp:cNvSpPr/>
      </dsp:nvSpPr>
      <dsp:spPr>
        <a:xfrm>
          <a:off x="778169" y="3854480"/>
          <a:ext cx="181704" cy="1817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1A2DD3-1916-4F93-91FF-C81C41BED456}">
      <dsp:nvSpPr>
        <dsp:cNvPr id="0" name=""/>
        <dsp:cNvSpPr/>
      </dsp:nvSpPr>
      <dsp:spPr>
        <a:xfrm>
          <a:off x="869022" y="3945332"/>
          <a:ext cx="1350934" cy="1175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282" tIns="0" rIns="0" bIns="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 Light"/>
              <a:ea typeface="Calibri Light"/>
              <a:cs typeface="Calibri Light"/>
            </a:rPr>
            <a:t>PHASE's "Why"</a:t>
          </a:r>
          <a:endParaRPr lang="en-US" sz="1800" kern="1200"/>
        </a:p>
      </dsp:txBody>
      <dsp:txXfrm>
        <a:off x="869022" y="3945332"/>
        <a:ext cx="1350934" cy="1175155"/>
      </dsp:txXfrm>
    </dsp:sp>
    <dsp:sp modelId="{A48E2373-B282-4950-A75C-F86DE61FB80D}">
      <dsp:nvSpPr>
        <dsp:cNvPr id="0" name=""/>
        <dsp:cNvSpPr/>
      </dsp:nvSpPr>
      <dsp:spPr>
        <a:xfrm>
          <a:off x="2061952" y="2705988"/>
          <a:ext cx="316008" cy="3160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5141F-FF4D-4C25-B156-E610093CE703}">
      <dsp:nvSpPr>
        <dsp:cNvPr id="0" name=""/>
        <dsp:cNvSpPr/>
      </dsp:nvSpPr>
      <dsp:spPr>
        <a:xfrm>
          <a:off x="2219957" y="2863992"/>
          <a:ext cx="1659042" cy="2256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446" tIns="0" rIns="0" bIns="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 Light"/>
              <a:ea typeface="Calibri Light"/>
              <a:cs typeface="Calibri Light"/>
            </a:rPr>
            <a:t>Communication Planning</a:t>
          </a:r>
        </a:p>
      </dsp:txBody>
      <dsp:txXfrm>
        <a:off x="2219957" y="2863992"/>
        <a:ext cx="1659042" cy="2256495"/>
      </dsp:txXfrm>
    </dsp:sp>
    <dsp:sp modelId="{952C3CB1-D72D-4DE7-A2C5-BE8E6C993ABE}">
      <dsp:nvSpPr>
        <dsp:cNvPr id="0" name=""/>
        <dsp:cNvSpPr/>
      </dsp:nvSpPr>
      <dsp:spPr>
        <a:xfrm>
          <a:off x="3701245" y="1859679"/>
          <a:ext cx="418710" cy="4187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43D12E-9C3C-4671-87E8-9D9F58871F5E}">
      <dsp:nvSpPr>
        <dsp:cNvPr id="0" name=""/>
        <dsp:cNvSpPr/>
      </dsp:nvSpPr>
      <dsp:spPr>
        <a:xfrm>
          <a:off x="3910600" y="2069034"/>
          <a:ext cx="1659042" cy="3051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1866" tIns="0" rIns="0" bIns="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 Light"/>
              <a:ea typeface="Calibri Light"/>
              <a:cs typeface="Calibri Light"/>
            </a:rPr>
            <a:t>Infrastructure Focused Changes</a:t>
          </a:r>
        </a:p>
      </dsp:txBody>
      <dsp:txXfrm>
        <a:off x="3910600" y="2069034"/>
        <a:ext cx="1659042" cy="3051453"/>
      </dsp:txXfrm>
    </dsp:sp>
    <dsp:sp modelId="{FBC5BC1E-AF6C-4D81-B41E-9CCABDC7A52B}">
      <dsp:nvSpPr>
        <dsp:cNvPr id="0" name=""/>
        <dsp:cNvSpPr/>
      </dsp:nvSpPr>
      <dsp:spPr>
        <a:xfrm>
          <a:off x="5486690" y="1299752"/>
          <a:ext cx="560914" cy="560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3D99EF-4B9B-4C51-848A-A66626751EFE}">
      <dsp:nvSpPr>
        <dsp:cNvPr id="0" name=""/>
        <dsp:cNvSpPr/>
      </dsp:nvSpPr>
      <dsp:spPr>
        <a:xfrm>
          <a:off x="5767148" y="1580209"/>
          <a:ext cx="1659042" cy="3540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7217" tIns="0" rIns="0" bIns="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 Light"/>
              <a:ea typeface="Calibri Light"/>
              <a:cs typeface="Calibri Light"/>
            </a:rPr>
            <a:t>Staff Focus </a:t>
          </a:r>
        </a:p>
      </dsp:txBody>
      <dsp:txXfrm>
        <a:off x="5767148" y="1580209"/>
        <a:ext cx="1659042" cy="35402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D2934-B0ED-430F-8C9F-58F27E1CA93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24D1C-8AE3-4049-A6EF-D4D450A33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88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24D1C-8AE3-4049-A6EF-D4D450A335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02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D80E8-EBEC-E4F2-63FB-B0998F754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D8B5B-2F96-F11E-C506-5C7A054BE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75E05-5DF7-6298-80A9-025AFF6A5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15F67-B3E9-5766-FA2B-48F275C25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EB6F5-C11D-A6CB-A928-F1208DB27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25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FF88-BC2F-6C31-3D68-A56D00281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F49E-1A5A-CA46-8DC4-835C7DF13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AA841-B37C-DB95-7177-DB31E26E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AC51F-D246-E349-81A8-7BAF185F4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F128C-83B5-48E3-DCEF-ADF217632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14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2D3BC-2BFE-6CAA-79E8-DC630CEEC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9F5CB-3EAC-FE03-B332-EF6187457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8C4BF-ACC3-874F-54F4-FCA270A93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F0CD9-19D3-13B3-D371-6EFB52A81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F508B-F4B5-B4D8-7EFB-75269A8FE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61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9CD07-1380-BAB8-3ED5-A20E0CCF0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6D06D-C6BE-546D-5E17-CC66F64C4E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E6EB1F-9864-6C30-08E7-EB60D96E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E92FF-1D6A-A5CE-FF16-D50321EE9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CDFD7-EF8D-C117-60C9-135B5C718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CFACD-34D9-713D-D14C-325EA3A8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380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DAA73-9745-8157-72F0-440295067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2E421-764A-95F4-6ABA-47FCB5CBA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B73C7-0B10-8152-0A21-EC75F3CE2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C44355-3431-A2D1-7770-812B1D5C42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EF3BCC-B0B8-ED66-9E8C-0439120F90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F02BE4-F730-EFE0-3D83-2C3D8974D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D1B3AF-19C6-B35D-A6C0-45FD33DB8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733D00-6316-8125-8D82-215B92C4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20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85136-89DC-8AA7-2003-794E36A0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78A16D-5B4D-E7D4-6FF1-F5AE24FF8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918BB9-15AB-CDB5-74A6-76CC78D01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03D903-AB39-7F58-0B22-ABBB9ACA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489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4627AD-4FC6-5CAD-0E19-06A40B793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36AB4B-AEE4-4E00-0589-EB9F958D9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FBF02-E9AC-29A8-28BA-6D9FDB9E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836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0477F-4339-5E7A-2296-6BEE53027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A6872-C50D-8915-BFDA-A6B537395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80B1C-BB8F-5E2B-33B0-DBD9C4C54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03C5A-7DAB-04D6-A81E-E2A0F5F85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750D8-3279-6A05-53B6-2F2EC5FCA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D2EF1-0E89-0225-1A7C-DA71E44E5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885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11DB-4457-4D34-8A97-4AE3BB1F8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77FFA-819A-1C99-A5C0-1DA6E4BAB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D2591-ADF8-BB06-0EED-FFCE8AB04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C7B57-B600-4017-C557-3EFAC1150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0562A-5BE6-C3E4-3117-12064A94F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87C6C-477A-6442-CB84-5CC751DDB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20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0487-FCAD-1C14-A190-0C3B232CA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E5622-E933-5BE5-CACF-6EB0C24AC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6ECA4-55AC-0D60-0659-3E25BF05C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16795-FFDC-2B28-BA54-E571973FD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BCF06-A538-98D3-4466-0E4B77518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973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AA2C51-33BA-2C70-FDD2-A68DD8C68F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8ADE0-740B-3548-3027-F08DB3305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138A5-626B-AB38-A933-E6E26152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A11D4-DF34-62DF-97D1-F405F4297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09B2E-25A4-62C5-F7A0-6393AB6C6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3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090251-A956-91B5-A91B-E0A2B5EE3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43ABA-A99F-131C-3C27-EDB29E565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272A8-E6E5-A8C3-7643-9FF47CBB5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3101E-7306-47E4-90EE-5E03F9FF3821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BFB85-8D34-4417-D824-B2EF32E0A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5987E-78BA-E785-0723-27C0492F3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705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1E6157-C699-27B4-6686-D0C123833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115" y="1901956"/>
            <a:ext cx="3323832" cy="3071906"/>
          </a:xfrm>
        </p:spPr>
        <p:txBody>
          <a:bodyPr anchor="t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PHASE </a:t>
            </a:r>
            <a:br>
              <a:rPr lang="en-US" sz="3600">
                <a:solidFill>
                  <a:srgbClr val="FFFFFF"/>
                </a:solidFill>
              </a:rPr>
            </a:br>
            <a:r>
              <a:rPr lang="en-US" sz="3600">
                <a:solidFill>
                  <a:srgbClr val="FFFFFF"/>
                </a:solidFill>
              </a:rPr>
              <a:t>Blueprint</a:t>
            </a:r>
            <a:br>
              <a:rPr lang="en-US" sz="3600">
                <a:solidFill>
                  <a:srgbClr val="FFFFFF"/>
                </a:solidFill>
              </a:rPr>
            </a:br>
            <a:r>
              <a:rPr lang="en-US" sz="3600">
                <a:solidFill>
                  <a:srgbClr val="FFFFFF"/>
                </a:solidFill>
              </a:rPr>
              <a:t>for Transformational Change</a:t>
            </a:r>
          </a:p>
        </p:txBody>
      </p:sp>
      <p:pic>
        <p:nvPicPr>
          <p:cNvPr id="2050" name="Picture 2" descr="Logo&#10;&#10;Description automatically generated with medium confidence">
            <a:extLst>
              <a:ext uri="{FF2B5EF4-FFF2-40B4-BE49-F238E27FC236}">
                <a16:creationId xmlns:a16="http://schemas.microsoft.com/office/drawing/2014/main" id="{A9408BD3-BE85-E3E2-F643-B26AEE6BB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2427" y="1275765"/>
            <a:ext cx="7225748" cy="3578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1DBA83-77BF-1AE3-F09E-30DCFD458E2C}"/>
              </a:ext>
            </a:extLst>
          </p:cNvPr>
          <p:cNvSpPr txBox="1"/>
          <p:nvPr/>
        </p:nvSpPr>
        <p:spPr>
          <a:xfrm>
            <a:off x="5179360" y="5826972"/>
            <a:ext cx="64329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/>
              <a:t>A Technical Assistance 2.0 Progress Report</a:t>
            </a:r>
            <a:endParaRPr lang="en-US" sz="2400" b="1">
              <a:solidFill>
                <a:srgbClr val="FFFFFF"/>
              </a:solidFill>
            </a:endParaRPr>
          </a:p>
          <a:p>
            <a:pPr algn="l"/>
            <a:r>
              <a:rPr lang="en-US" sz="1800">
                <a:solidFill>
                  <a:srgbClr val="FFFFFF"/>
                </a:solidFill>
              </a:rPr>
              <a:t>Where are we?</a:t>
            </a:r>
          </a:p>
        </p:txBody>
      </p:sp>
    </p:spTree>
    <p:extLst>
      <p:ext uri="{BB962C8B-B14F-4D97-AF65-F5344CB8AC3E}">
        <p14:creationId xmlns:p14="http://schemas.microsoft.com/office/powerpoint/2010/main" val="904396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diagram of a company&amp;#39;s life cycle&#10;&#10;AI-generated content may be incorrect.">
            <a:extLst>
              <a:ext uri="{FF2B5EF4-FFF2-40B4-BE49-F238E27FC236}">
                <a16:creationId xmlns:a16="http://schemas.microsoft.com/office/drawing/2014/main" id="{461916E4-5F03-C9DA-0677-F708A4133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07620"/>
            <a:ext cx="11897497" cy="643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1598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BEFD29-8641-DF82-051A-94FF831ECF47}"/>
              </a:ext>
            </a:extLst>
          </p:cNvPr>
          <p:cNvSpPr txBox="1"/>
          <p:nvPr/>
        </p:nvSpPr>
        <p:spPr>
          <a:xfrm>
            <a:off x="1400783" y="2969567"/>
            <a:ext cx="40077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Clear &amp; Consistent Goals</a:t>
            </a:r>
          </a:p>
          <a:p>
            <a:endParaRPr lang="en-US"/>
          </a:p>
          <a:p>
            <a:r>
              <a:rPr lang="en-US"/>
              <a:t>Company Culture Supports Inclusion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578A92-2798-84E1-79D9-A84F84F9877F}"/>
              </a:ext>
            </a:extLst>
          </p:cNvPr>
          <p:cNvSpPr/>
          <p:nvPr/>
        </p:nvSpPr>
        <p:spPr>
          <a:xfrm>
            <a:off x="836579" y="1440872"/>
            <a:ext cx="4747097" cy="306303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black"/>
                </a:solidFill>
                <a:latin typeface="Aptos" panose="02110004020202020204"/>
              </a:rPr>
              <a:t>Clear and Consistent Goals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black"/>
                </a:solidFill>
                <a:latin typeface="Aptos" panose="02110004020202020204"/>
              </a:rPr>
              <a:t>Strong Company Culture Supporting Inclusion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ACE038-1842-DF5C-74C6-4ADF68D570D7}"/>
              </a:ext>
            </a:extLst>
          </p:cNvPr>
          <p:cNvSpPr txBox="1"/>
          <p:nvPr/>
        </p:nvSpPr>
        <p:spPr>
          <a:xfrm>
            <a:off x="1452883" y="1560044"/>
            <a:ext cx="3514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chemeClr val="accent4">
                    <a:lumMod val="75000"/>
                  </a:schemeClr>
                </a:solidFill>
              </a:rPr>
              <a:t>Focus &amp; Values</a:t>
            </a:r>
            <a:endParaRPr lang="en-US" sz="360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46B5E-8964-9C4F-CA4F-16BA1D6C9617}"/>
              </a:ext>
            </a:extLst>
          </p:cNvPr>
          <p:cNvSpPr/>
          <p:nvPr/>
        </p:nvSpPr>
        <p:spPr>
          <a:xfrm>
            <a:off x="7447136" y="1595329"/>
            <a:ext cx="4143375" cy="39810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B3E785-BB8C-5AEA-86AB-18ABC56C2902}"/>
              </a:ext>
            </a:extLst>
          </p:cNvPr>
          <p:cNvSpPr txBox="1"/>
          <p:nvPr/>
        </p:nvSpPr>
        <p:spPr>
          <a:xfrm>
            <a:off x="7455357" y="1601116"/>
            <a:ext cx="4140013" cy="39703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Transformation Business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MTI TA 1.0 Plan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“Closed door policy” implemented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PHASE drops 14 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Company-wide retreats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Written “Why”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PHASE Video “Why Change?”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MTI TA Plan 2.0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Staff Training on Mission &amp; Values, Transformation, &amp; Code of Ethics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BHAG: 100 Jobs by 2026—broken down by location and quarter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40 Mentors trained by 2026</a:t>
            </a:r>
          </a:p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F02CBE-F2C9-A6EB-9E8B-B8E2CFCAC24A}"/>
              </a:ext>
            </a:extLst>
          </p:cNvPr>
          <p:cNvSpPr txBox="1"/>
          <p:nvPr/>
        </p:nvSpPr>
        <p:spPr>
          <a:xfrm>
            <a:off x="1492163" y="5109271"/>
            <a:ext cx="34359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>
                <a:solidFill>
                  <a:schemeClr val="accent4">
                    <a:lumMod val="75000"/>
                  </a:schemeClr>
                </a:solidFill>
              </a:rPr>
              <a:t>Bucket 1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314879A-C4BE-169B-E9F8-7AA214021A3D}"/>
              </a:ext>
            </a:extLst>
          </p:cNvPr>
          <p:cNvCxnSpPr>
            <a:cxnSpLocks/>
          </p:cNvCxnSpPr>
          <p:nvPr/>
        </p:nvCxnSpPr>
        <p:spPr>
          <a:xfrm>
            <a:off x="5555566" y="2972389"/>
            <a:ext cx="16472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9E22F72-9EDA-395C-D737-19BBDD9D6BEC}"/>
              </a:ext>
            </a:extLst>
          </p:cNvPr>
          <p:cNvSpPr txBox="1"/>
          <p:nvPr/>
        </p:nvSpPr>
        <p:spPr>
          <a:xfrm>
            <a:off x="7143329" y="1081798"/>
            <a:ext cx="4767649" cy="471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accent4">
                    <a:lumMod val="75000"/>
                  </a:schemeClr>
                </a:solidFill>
              </a:rPr>
              <a:t>PHASE Transformation Activities</a:t>
            </a:r>
          </a:p>
        </p:txBody>
      </p:sp>
    </p:spTree>
    <p:extLst>
      <p:ext uri="{BB962C8B-B14F-4D97-AF65-F5344CB8AC3E}">
        <p14:creationId xmlns:p14="http://schemas.microsoft.com/office/powerpoint/2010/main" val="1002497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C29A88-F288-50EE-8C50-B9AD20D29A93}"/>
              </a:ext>
            </a:extLst>
          </p:cNvPr>
          <p:cNvSpPr/>
          <p:nvPr/>
        </p:nvSpPr>
        <p:spPr>
          <a:xfrm>
            <a:off x="554182" y="592799"/>
            <a:ext cx="4618182" cy="46181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175648-038B-AE38-D0B6-D7B4A8AB75DC}"/>
              </a:ext>
            </a:extLst>
          </p:cNvPr>
          <p:cNvSpPr txBox="1"/>
          <p:nvPr/>
        </p:nvSpPr>
        <p:spPr>
          <a:xfrm>
            <a:off x="1071796" y="725264"/>
            <a:ext cx="3582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>
                <a:solidFill>
                  <a:schemeClr val="accent4">
                    <a:lumMod val="75000"/>
                  </a:schemeClr>
                </a:solidFill>
              </a:rPr>
              <a:t>Infrastructure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9BB6E4-FEC4-5530-B015-680D28FB3D69}"/>
              </a:ext>
            </a:extLst>
          </p:cNvPr>
          <p:cNvSpPr txBox="1"/>
          <p:nvPr/>
        </p:nvSpPr>
        <p:spPr>
          <a:xfrm>
            <a:off x="881495" y="1463657"/>
            <a:ext cx="420254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Reallocated, Restructured Resources</a:t>
            </a:r>
          </a:p>
          <a:p>
            <a:endParaRPr lang="en-US"/>
          </a:p>
          <a:p>
            <a:endParaRPr lang="en-US" sz="1800"/>
          </a:p>
          <a:p>
            <a:r>
              <a:rPr lang="en-US" sz="1800"/>
              <a:t>Strong Communication Plan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Ongoing Staff Development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Performance Measurement &amp; QA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Community Partnerships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318287-8BE4-1B8C-50E8-0FBC0ABE1FC8}"/>
              </a:ext>
            </a:extLst>
          </p:cNvPr>
          <p:cNvSpPr txBox="1"/>
          <p:nvPr/>
        </p:nvSpPr>
        <p:spPr>
          <a:xfrm>
            <a:off x="120073" y="5526307"/>
            <a:ext cx="49876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>
                <a:solidFill>
                  <a:schemeClr val="accent4">
                    <a:lumMod val="75000"/>
                  </a:schemeClr>
                </a:solidFill>
              </a:rPr>
              <a:t>Bucket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5073A9-264C-9150-8501-60B866363429}"/>
              </a:ext>
            </a:extLst>
          </p:cNvPr>
          <p:cNvSpPr/>
          <p:nvPr/>
        </p:nvSpPr>
        <p:spPr>
          <a:xfrm>
            <a:off x="6192039" y="645179"/>
            <a:ext cx="5477164" cy="16299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Transformational, Strategic Business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Organizational Merger with Advance Opportunities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Restructuring of Management &amp; Staffing Roles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Breaking down Employment &amp; Day Service Silos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Reallocating Financial &amp; Staff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Reformatted Job Description and Tiers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2B5F1A-8C6D-B9AD-D61B-63BC7711CB99}"/>
              </a:ext>
            </a:extLst>
          </p:cNvPr>
          <p:cNvSpPr txBox="1"/>
          <p:nvPr/>
        </p:nvSpPr>
        <p:spPr>
          <a:xfrm>
            <a:off x="5763491" y="16533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accent4">
                    <a:lumMod val="75000"/>
                  </a:schemeClr>
                </a:solidFill>
              </a:rPr>
              <a:t>PHASE Transformation Activities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3E2F75-2337-F265-2BA7-ED2D889A636A}"/>
              </a:ext>
            </a:extLst>
          </p:cNvPr>
          <p:cNvSpPr/>
          <p:nvPr/>
        </p:nvSpPr>
        <p:spPr>
          <a:xfrm>
            <a:off x="6192039" y="2372224"/>
            <a:ext cx="5477164" cy="394294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Rebranding &amp; New Company Communication Plan</a:t>
            </a:r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FB7097-E75F-8528-3E41-7F397DD08D2A}"/>
              </a:ext>
            </a:extLst>
          </p:cNvPr>
          <p:cNvSpPr/>
          <p:nvPr/>
        </p:nvSpPr>
        <p:spPr>
          <a:xfrm>
            <a:off x="6205893" y="2854384"/>
            <a:ext cx="5463310" cy="14063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Pathways to Competency: Staff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Develo</a:t>
            </a:r>
            <a:r>
              <a:rPr lang="en-US" err="1">
                <a:solidFill>
                  <a:prstClr val="black"/>
                </a:solidFill>
                <a:latin typeface="Aptos" panose="02110004020202020204"/>
              </a:rPr>
              <a:t>pment</a:t>
            </a:r>
            <a:r>
              <a:rPr lang="en-US">
                <a:solidFill>
                  <a:prstClr val="black"/>
                </a:solidFill>
                <a:latin typeface="Aptos" panose="02110004020202020204"/>
              </a:rPr>
              <a:t> Plan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Internal Staff Development Program--Denise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Innovations Grant Mentoring Program--DHS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Ongoing CoP &amp; Quarterly Trainings—Topical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solidFill>
                  <a:prstClr val="black"/>
                </a:solidFill>
                <a:latin typeface="Aptos" panose="02110004020202020204"/>
              </a:rPr>
              <a:t>Middle-Manager Training (L &amp; M course)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30F7FB-0E69-139C-FE14-21C00B729783}"/>
              </a:ext>
            </a:extLst>
          </p:cNvPr>
          <p:cNvSpPr/>
          <p:nvPr/>
        </p:nvSpPr>
        <p:spPr>
          <a:xfrm>
            <a:off x="6219749" y="4357488"/>
            <a:ext cx="5514108" cy="914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Purchase of </a:t>
            </a:r>
            <a:r>
              <a:rPr lang="en-US" err="1">
                <a:solidFill>
                  <a:schemeClr val="tx1"/>
                </a:solidFill>
              </a:rPr>
              <a:t>SETWorks</a:t>
            </a:r>
            <a:r>
              <a:rPr lang="en-US">
                <a:solidFill>
                  <a:schemeClr val="tx1"/>
                </a:solidFill>
              </a:rPr>
              <a:t> Data Management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New Data Collection &amp; Outcome Process: Collaboration with MN MAD/PHASE/MTI 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6AC1C6-FB04-E438-1EBA-5713EF1D8AC1}"/>
              </a:ext>
            </a:extLst>
          </p:cNvPr>
          <p:cNvSpPr/>
          <p:nvPr/>
        </p:nvSpPr>
        <p:spPr>
          <a:xfrm>
            <a:off x="6243121" y="5362070"/>
            <a:ext cx="5502422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Grand Reopening Event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New &amp; Refreshed Business Partnerships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New &amp; Refreshed Community Partnerships (CLE)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F072121-3F33-CE22-20B2-F53035ECC9B3}"/>
              </a:ext>
            </a:extLst>
          </p:cNvPr>
          <p:cNvCxnSpPr>
            <a:cxnSpLocks/>
          </p:cNvCxnSpPr>
          <p:nvPr/>
        </p:nvCxnSpPr>
        <p:spPr>
          <a:xfrm flipV="1">
            <a:off x="4801091" y="1490732"/>
            <a:ext cx="1294909" cy="154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702A81E-F0A3-C8BD-F4BE-27E122A88FAD}"/>
              </a:ext>
            </a:extLst>
          </p:cNvPr>
          <p:cNvCxnSpPr>
            <a:cxnSpLocks/>
          </p:cNvCxnSpPr>
          <p:nvPr/>
        </p:nvCxnSpPr>
        <p:spPr>
          <a:xfrm>
            <a:off x="4022154" y="2482282"/>
            <a:ext cx="20738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FF526E6-65C0-3A1E-9DA5-742A4FC33AC0}"/>
              </a:ext>
            </a:extLst>
          </p:cNvPr>
          <p:cNvCxnSpPr>
            <a:cxnSpLocks/>
          </p:cNvCxnSpPr>
          <p:nvPr/>
        </p:nvCxnSpPr>
        <p:spPr>
          <a:xfrm>
            <a:off x="4022154" y="3293706"/>
            <a:ext cx="2169885" cy="135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DAB6989-6A55-6C94-6E6E-EE6AA5507BF9}"/>
              </a:ext>
            </a:extLst>
          </p:cNvPr>
          <p:cNvCxnSpPr>
            <a:cxnSpLocks/>
          </p:cNvCxnSpPr>
          <p:nvPr/>
        </p:nvCxnSpPr>
        <p:spPr>
          <a:xfrm>
            <a:off x="4361550" y="4195374"/>
            <a:ext cx="1734450" cy="395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2ECAEF3-3EBC-9E68-36D0-3174CEE9CDD1}"/>
              </a:ext>
            </a:extLst>
          </p:cNvPr>
          <p:cNvCxnSpPr>
            <a:cxnSpLocks/>
          </p:cNvCxnSpPr>
          <p:nvPr/>
        </p:nvCxnSpPr>
        <p:spPr>
          <a:xfrm>
            <a:off x="3648269" y="5017287"/>
            <a:ext cx="2475145" cy="823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755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B70E53-928C-DAA1-2B8B-3862ED1D26C0}"/>
              </a:ext>
            </a:extLst>
          </p:cNvPr>
          <p:cNvSpPr/>
          <p:nvPr/>
        </p:nvSpPr>
        <p:spPr>
          <a:xfrm>
            <a:off x="410547" y="802433"/>
            <a:ext cx="5066522" cy="41707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endParaRPr lang="en-US" sz="2400" b="1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endParaRPr lang="en-US" sz="2400" b="1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en-US" sz="2400" b="1">
                <a:solidFill>
                  <a:schemeClr val="accent4">
                    <a:lumMod val="75000"/>
                  </a:schemeClr>
                </a:solidFill>
              </a:rPr>
              <a:t>Employment &amp; Community Life Engagement Practices</a:t>
            </a:r>
            <a:endParaRPr lang="en-US" sz="2400" b="1"/>
          </a:p>
          <a:p>
            <a:pPr algn="ctr"/>
            <a:endParaRPr lang="en-US"/>
          </a:p>
          <a:p>
            <a:endParaRPr lang="en-US"/>
          </a:p>
          <a:p>
            <a:r>
              <a:rPr lang="en-US" b="1">
                <a:solidFill>
                  <a:schemeClr val="tx1"/>
                </a:solidFill>
              </a:rPr>
              <a:t>Customer Focus &amp; Engagement</a:t>
            </a:r>
          </a:p>
          <a:p>
            <a:endParaRPr lang="en-US" b="1">
              <a:solidFill>
                <a:schemeClr val="tx1"/>
              </a:solidFill>
            </a:endParaRPr>
          </a:p>
          <a:p>
            <a:endParaRPr lang="en-US" b="1">
              <a:solidFill>
                <a:schemeClr val="tx1"/>
              </a:solidFill>
            </a:endParaRPr>
          </a:p>
          <a:p>
            <a:r>
              <a:rPr lang="en-US" b="1">
                <a:solidFill>
                  <a:schemeClr val="tx1"/>
                </a:solidFill>
              </a:rPr>
              <a:t>A Holistic Service Approach  </a:t>
            </a:r>
          </a:p>
          <a:p>
            <a:endParaRPr lang="en-US" b="1">
              <a:solidFill>
                <a:schemeClr val="tx1"/>
              </a:solidFill>
            </a:endParaRPr>
          </a:p>
          <a:p>
            <a:endParaRPr lang="en-US" b="1">
              <a:solidFill>
                <a:schemeClr val="tx1"/>
              </a:solidFill>
            </a:endParaRPr>
          </a:p>
          <a:p>
            <a:r>
              <a:rPr lang="en-US" b="1">
                <a:solidFill>
                  <a:schemeClr val="tx1"/>
                </a:solidFill>
              </a:rPr>
              <a:t>Active, Person-Centered Employment Development</a:t>
            </a:r>
          </a:p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917F9F-A100-C174-E28C-0ACA6CFB2A32}"/>
              </a:ext>
            </a:extLst>
          </p:cNvPr>
          <p:cNvSpPr/>
          <p:nvPr/>
        </p:nvSpPr>
        <p:spPr>
          <a:xfrm>
            <a:off x="6095999" y="435037"/>
            <a:ext cx="5529943" cy="20496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Rebranding of Communication Messaging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Community of Transformation Business Plan with All Key Stakeholders (BODs, Staff, Business Leaders, Funding Agencies, others)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Updating of contract agreements with governmental agencies, business leaders, others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254FD6-B06C-0111-FA49-46DB1790951E}"/>
              </a:ext>
            </a:extLst>
          </p:cNvPr>
          <p:cNvSpPr txBox="1"/>
          <p:nvPr/>
        </p:nvSpPr>
        <p:spPr>
          <a:xfrm>
            <a:off x="53952" y="5716120"/>
            <a:ext cx="46093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>
                <a:solidFill>
                  <a:schemeClr val="accent4">
                    <a:lumMod val="75000"/>
                  </a:schemeClr>
                </a:solidFill>
              </a:rPr>
              <a:t>Bucket 3</a:t>
            </a:r>
            <a:endParaRPr lang="en-US" sz="1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38009E-54EF-DAD7-B8A6-C4828FE8A336}"/>
              </a:ext>
            </a:extLst>
          </p:cNvPr>
          <p:cNvSpPr/>
          <p:nvPr/>
        </p:nvSpPr>
        <p:spPr>
          <a:xfrm>
            <a:off x="6095998" y="2529239"/>
            <a:ext cx="5529943" cy="1912772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Adoption of Person-Centered Planning Tools, Practices (e.g., Discovery, Other)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Implementation of E1MN Engagement Practices (CIE Exploration &amp; Informed Choice)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Adoption &amp; Integration of CIE and CLE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Implementation of High Support Needs Pilot (HSN)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Community Life Engagement CoP participation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7CBE74-9FC5-9A01-086C-A87AD64F4534}"/>
              </a:ext>
            </a:extLst>
          </p:cNvPr>
          <p:cNvSpPr/>
          <p:nvPr/>
        </p:nvSpPr>
        <p:spPr>
          <a:xfrm>
            <a:off x="6095998" y="4474669"/>
            <a:ext cx="5529943" cy="231399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Restructuring of Staff Roles, Duties, &amp; Expectations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Increasing staff skills and capacities to deliver CIE/CLE outcomes at all 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Robust staff development training (Employee onboarding, Internal Mentor Grant Objectives, MTI, online training—</a:t>
            </a:r>
            <a:r>
              <a:rPr lang="en-US" err="1">
                <a:solidFill>
                  <a:schemeClr val="tx1"/>
                </a:solidFill>
              </a:rPr>
              <a:t>DirectCourse</a:t>
            </a:r>
            <a:r>
              <a:rPr lang="en-US">
                <a:solidFill>
                  <a:schemeClr val="tx1"/>
                </a:solidFill>
              </a:rPr>
              <a:t>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Advanced training to develop CIE (i.e., certification in Discovery &amp; Customized Employment, CESP)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0289C7-83EE-333D-B17A-A83BEAF58EAD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3900196" y="1459883"/>
            <a:ext cx="2195803" cy="738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D3565B-9C19-D94F-4182-EA78D1947B72}"/>
              </a:ext>
            </a:extLst>
          </p:cNvPr>
          <p:cNvCxnSpPr>
            <a:cxnSpLocks/>
          </p:cNvCxnSpPr>
          <p:nvPr/>
        </p:nvCxnSpPr>
        <p:spPr>
          <a:xfrm>
            <a:off x="3900196" y="3097764"/>
            <a:ext cx="21740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7CBDBD-2E44-123D-91BD-CC59C0EA1909}"/>
              </a:ext>
            </a:extLst>
          </p:cNvPr>
          <p:cNvCxnSpPr>
            <a:cxnSpLocks/>
          </p:cNvCxnSpPr>
          <p:nvPr/>
        </p:nvCxnSpPr>
        <p:spPr>
          <a:xfrm>
            <a:off x="4124131" y="4170784"/>
            <a:ext cx="1884783" cy="1119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42F339F-5A13-9D77-3725-40D735E84786}"/>
              </a:ext>
            </a:extLst>
          </p:cNvPr>
          <p:cNvSpPr txBox="1"/>
          <p:nvPr/>
        </p:nvSpPr>
        <p:spPr>
          <a:xfrm>
            <a:off x="5784200" y="37968"/>
            <a:ext cx="609755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PHASE Transformation Activities</a:t>
            </a:r>
          </a:p>
        </p:txBody>
      </p:sp>
      <p:pic>
        <p:nvPicPr>
          <p:cNvPr id="6" name="Picture 2" descr="A diagram of a company&amp;#39;s life cycle&#10;&#10;AI-generated content may be incorrect.">
            <a:extLst>
              <a:ext uri="{FF2B5EF4-FFF2-40B4-BE49-F238E27FC236}">
                <a16:creationId xmlns:a16="http://schemas.microsoft.com/office/drawing/2014/main" id="{68C128F7-20F4-F278-39A3-94CB178338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7" b="14882"/>
          <a:stretch/>
        </p:blipFill>
        <p:spPr bwMode="auto">
          <a:xfrm>
            <a:off x="4008099" y="4403128"/>
            <a:ext cx="1310350" cy="177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9278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A33756-5D1C-231C-C931-C129D5DD9B12}"/>
              </a:ext>
            </a:extLst>
          </p:cNvPr>
          <p:cNvSpPr txBox="1"/>
          <p:nvPr/>
        </p:nvSpPr>
        <p:spPr>
          <a:xfrm>
            <a:off x="7496268" y="5533436"/>
            <a:ext cx="588160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Now: Focus on Outcomes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3DD578-84AA-2A0D-D578-6E96B525E747}"/>
              </a:ext>
            </a:extLst>
          </p:cNvPr>
          <p:cNvSpPr txBox="1"/>
          <p:nvPr/>
        </p:nvSpPr>
        <p:spPr>
          <a:xfrm>
            <a:off x="7512993" y="5855764"/>
            <a:ext cx="412233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Refine infrastructure pieces that connect directly to outcomes and do the work!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28B2E9-58E2-AF67-E2C6-ACADC62BD3DB}"/>
              </a:ext>
            </a:extLst>
          </p:cNvPr>
          <p:cNvSpPr/>
          <p:nvPr/>
        </p:nvSpPr>
        <p:spPr>
          <a:xfrm>
            <a:off x="7498577" y="466801"/>
            <a:ext cx="3636816" cy="3244271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>
                <a:solidFill>
                  <a:schemeClr val="tx1"/>
                </a:solidFill>
                <a:cs typeface="Calibri"/>
              </a:rPr>
              <a:t>Outcomes</a:t>
            </a:r>
            <a:endParaRPr lang="en-US" sz="2800" b="1">
              <a:cs typeface="Calibri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00DAC64-03D6-6A2F-165F-8ACC4E840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490417"/>
              </p:ext>
            </p:extLst>
          </p:nvPr>
        </p:nvGraphicFramePr>
        <p:xfrm>
          <a:off x="146676" y="879068"/>
          <a:ext cx="7900203" cy="53033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FD8338AC-F717-5BAC-208A-C955DCBCC44F}"/>
              </a:ext>
            </a:extLst>
          </p:cNvPr>
          <p:cNvSpPr/>
          <p:nvPr/>
        </p:nvSpPr>
        <p:spPr>
          <a:xfrm>
            <a:off x="7498578" y="4468314"/>
            <a:ext cx="3638065" cy="1074976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>
                <a:solidFill>
                  <a:schemeClr val="tx1"/>
                </a:solidFill>
                <a:cs typeface="Calibri"/>
              </a:rPr>
              <a:t>Jobs and connections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A4EED436-105D-4580-9EE5-8DE434F99406}"/>
              </a:ext>
            </a:extLst>
          </p:cNvPr>
          <p:cNvSpPr/>
          <p:nvPr/>
        </p:nvSpPr>
        <p:spPr>
          <a:xfrm>
            <a:off x="9034123" y="3426806"/>
            <a:ext cx="565727" cy="1073725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80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B353CC0-D3CC-D8AF-B123-6F7DCF561115}"/>
              </a:ext>
            </a:extLst>
          </p:cNvPr>
          <p:cNvSpPr txBox="1"/>
          <p:nvPr/>
        </p:nvSpPr>
        <p:spPr>
          <a:xfrm>
            <a:off x="420130" y="5537887"/>
            <a:ext cx="64399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Then: Build Infrastructure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E5C1BF4-D787-37E5-FC3B-1D80F77A34D2}"/>
              </a:ext>
            </a:extLst>
          </p:cNvPr>
          <p:cNvSpPr txBox="1"/>
          <p:nvPr/>
        </p:nvSpPr>
        <p:spPr>
          <a:xfrm>
            <a:off x="142104" y="70022"/>
            <a:ext cx="699598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chemeClr val="accent1"/>
                </a:solidFill>
              </a:rPr>
              <a:t>A Snapshot: PHASE-Industries' Transformational Journey So Far</a:t>
            </a:r>
            <a:endParaRPr lang="en-US" sz="36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243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988FFC-E419-5B1E-45A8-0BE5B1B1B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8" y="0"/>
            <a:ext cx="121333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300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3565F6AF-7BA8-BDDD-E467-1724DD76200E}"/>
              </a:ext>
            </a:extLst>
          </p:cNvPr>
          <p:cNvSpPr/>
          <p:nvPr/>
        </p:nvSpPr>
        <p:spPr>
          <a:xfrm>
            <a:off x="524340" y="214080"/>
            <a:ext cx="3636816" cy="3244271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>
                <a:solidFill>
                  <a:schemeClr val="tx1"/>
                </a:solidFill>
                <a:cs typeface="Calibri"/>
              </a:rPr>
              <a:t>Outcomes</a:t>
            </a:r>
            <a:endParaRPr lang="en-US" sz="2800" b="1"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BA123C-E2E4-C3CC-77CF-FF50B2783EF6}"/>
              </a:ext>
            </a:extLst>
          </p:cNvPr>
          <p:cNvSpPr/>
          <p:nvPr/>
        </p:nvSpPr>
        <p:spPr>
          <a:xfrm>
            <a:off x="524341" y="4390649"/>
            <a:ext cx="3648362" cy="184727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>
                <a:solidFill>
                  <a:schemeClr val="tx1"/>
                </a:solidFill>
                <a:cs typeface="Calibri"/>
              </a:rPr>
              <a:t>Jobs &amp; Connections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F2B79057-9740-24C6-4A79-06D2F8387FC0}"/>
              </a:ext>
            </a:extLst>
          </p:cNvPr>
          <p:cNvSpPr/>
          <p:nvPr/>
        </p:nvSpPr>
        <p:spPr>
          <a:xfrm>
            <a:off x="2059886" y="3400626"/>
            <a:ext cx="565727" cy="1073725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684DDD-4275-A85D-DDBB-A299A86C63A1}"/>
              </a:ext>
            </a:extLst>
          </p:cNvPr>
          <p:cNvSpPr txBox="1"/>
          <p:nvPr/>
        </p:nvSpPr>
        <p:spPr>
          <a:xfrm>
            <a:off x="3919442" y="209733"/>
            <a:ext cx="775396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/>
              <a:t>In this Quarter</a:t>
            </a:r>
            <a:r>
              <a:rPr lang="en-US" sz="3600"/>
              <a:t> (</a:t>
            </a:r>
            <a:r>
              <a:rPr lang="en-US" sz="3600" i="1"/>
              <a:t>April 1-June 30, 2025</a:t>
            </a:r>
            <a:r>
              <a:rPr lang="en-US" sz="3600"/>
              <a:t>)</a:t>
            </a:r>
          </a:p>
          <a:p>
            <a:endParaRPr lang="en-US" sz="36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6B0DDB-5084-A093-AC8E-415F301E4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133600"/>
              </p:ext>
            </p:extLst>
          </p:nvPr>
        </p:nvGraphicFramePr>
        <p:xfrm>
          <a:off x="4911810" y="930637"/>
          <a:ext cx="6487290" cy="559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822">
                  <a:extLst>
                    <a:ext uri="{9D8B030D-6E8A-4147-A177-3AD203B41FA5}">
                      <a16:colId xmlns:a16="http://schemas.microsoft.com/office/drawing/2014/main" val="2934828156"/>
                    </a:ext>
                  </a:extLst>
                </a:gridCol>
                <a:gridCol w="1621822">
                  <a:extLst>
                    <a:ext uri="{9D8B030D-6E8A-4147-A177-3AD203B41FA5}">
                      <a16:colId xmlns:a16="http://schemas.microsoft.com/office/drawing/2014/main" val="376502030"/>
                    </a:ext>
                  </a:extLst>
                </a:gridCol>
                <a:gridCol w="1621823">
                  <a:extLst>
                    <a:ext uri="{9D8B030D-6E8A-4147-A177-3AD203B41FA5}">
                      <a16:colId xmlns:a16="http://schemas.microsoft.com/office/drawing/2014/main" val="3880949516"/>
                    </a:ext>
                  </a:extLst>
                </a:gridCol>
                <a:gridCol w="1621823">
                  <a:extLst>
                    <a:ext uri="{9D8B030D-6E8A-4147-A177-3AD203B41FA5}">
                      <a16:colId xmlns:a16="http://schemas.microsoft.com/office/drawing/2014/main" val="716507633"/>
                    </a:ext>
                  </a:extLst>
                </a:gridCol>
              </a:tblGrid>
              <a:tr h="370702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 Jobs by June 30, 2026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609760"/>
                  </a:ext>
                </a:extLst>
              </a:tr>
              <a:tr h="370702">
                <a:tc gridSpan="2"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Quarter Ending Mar 31, 2025: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CD2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Quarter Ending June 30, 2025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CD2D8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824807"/>
                  </a:ext>
                </a:extLst>
              </a:tr>
              <a:tr h="37070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Total: 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Goal: 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/>
                        <a:t>Total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Goal: 14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341662"/>
                  </a:ext>
                </a:extLst>
              </a:tr>
              <a:tr h="37070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Mora: 0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pto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Pine City: 1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pto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Cambridge: 3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pto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Sandstone: 1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pto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Marshall: 2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pto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Mora: 1</a:t>
                      </a:r>
                      <a:endParaRPr lang="en-US" dirty="0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Pine City: 1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Cambridge: 3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Sandstone: 1</a:t>
                      </a:r>
                      <a:endParaRPr lang="en-US" dirty="0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Marshall: 2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Mora: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dirty="0"/>
                        <a:t>Pine City: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dirty="0"/>
                        <a:t>Cambridge: 2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Sandstone: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Marshall: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Mora: 2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Pine City: 3 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Cambridge: 4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Sandstone: 2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Marshall: 3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761806"/>
                  </a:ext>
                </a:extLst>
              </a:tr>
              <a:tr h="370702">
                <a:tc gridSpan="4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Running Totals: June 1, 2025- June 30, 2025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771509"/>
                  </a:ext>
                </a:extLst>
              </a:tr>
              <a:tr h="37070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Total: 21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ptos"/>
                        </a:rPr>
                        <a:t>Goals: 32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ptos"/>
                        </a:rPr>
                        <a:t>33?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dirty="0"/>
                        <a:t>Variance</a:t>
                      </a:r>
                      <a:r>
                        <a:rPr lang="en-US" b="1" dirty="0"/>
                        <a:t>: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% of BHAG Achieved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031664"/>
                  </a:ext>
                </a:extLst>
              </a:tr>
              <a:tr h="37070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Mora: 2</a:t>
                      </a:r>
                      <a:endParaRPr lang="en-US" dirty="0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Pine City: 2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Cambridge: 9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Sandstone: 1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Marshall: 7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Mora: 3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ptos"/>
                        </a:rPr>
                        <a:t>(4)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Pine City: 3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ptos"/>
                        </a:rPr>
                        <a:t>(4)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Cambridge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: 12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ptos"/>
                        </a:rPr>
                        <a:t>(13)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Sandstone: 4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ptos"/>
                        </a:rPr>
                        <a:t>(3)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Marshall: 10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pto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Mora:</a:t>
                      </a:r>
                      <a:endParaRPr lang="en-US" dirty="0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Pine City:  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Cambridge:  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Sandstone: 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Marshall: 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4400" b="1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21%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410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9172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86EAA-7008-08DF-BDD2-B8EC16862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2AA701A1-37EC-453A-EAB0-6AB90544C821}"/>
              </a:ext>
            </a:extLst>
          </p:cNvPr>
          <p:cNvSpPr/>
          <p:nvPr/>
        </p:nvSpPr>
        <p:spPr>
          <a:xfrm>
            <a:off x="524340" y="214080"/>
            <a:ext cx="3636816" cy="3244271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>
                <a:solidFill>
                  <a:schemeClr val="tx1"/>
                </a:solidFill>
                <a:cs typeface="Calibri"/>
              </a:rPr>
              <a:t>Outcomes</a:t>
            </a:r>
            <a:endParaRPr lang="en-US" sz="2800" b="1"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612B94-313B-3B87-A851-865746124462}"/>
              </a:ext>
            </a:extLst>
          </p:cNvPr>
          <p:cNvSpPr/>
          <p:nvPr/>
        </p:nvSpPr>
        <p:spPr>
          <a:xfrm>
            <a:off x="524341" y="4390649"/>
            <a:ext cx="3648362" cy="184727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>
                <a:solidFill>
                  <a:schemeClr val="tx1"/>
                </a:solidFill>
                <a:cs typeface="Calibri"/>
              </a:rPr>
              <a:t>Jobs &amp; Connections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A0461A66-D17D-0398-4A35-BBB81C6BF23B}"/>
              </a:ext>
            </a:extLst>
          </p:cNvPr>
          <p:cNvSpPr/>
          <p:nvPr/>
        </p:nvSpPr>
        <p:spPr>
          <a:xfrm>
            <a:off x="2059886" y="3400626"/>
            <a:ext cx="565727" cy="1073725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C2F16C-BCF7-AA93-A95A-9743563B698E}"/>
              </a:ext>
            </a:extLst>
          </p:cNvPr>
          <p:cNvSpPr txBox="1"/>
          <p:nvPr/>
        </p:nvSpPr>
        <p:spPr>
          <a:xfrm>
            <a:off x="3919442" y="209733"/>
            <a:ext cx="775396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/>
              <a:t>In this Quarter</a:t>
            </a:r>
            <a:r>
              <a:rPr lang="en-US" sz="3600"/>
              <a:t> (</a:t>
            </a:r>
            <a:r>
              <a:rPr lang="en-US" sz="3600" i="1"/>
              <a:t>April 1-June 30, 2025</a:t>
            </a:r>
            <a:r>
              <a:rPr lang="en-US" sz="3600"/>
              <a:t>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68C02C-2F10-6C47-C966-9677E9145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792570"/>
              </p:ext>
            </p:extLst>
          </p:nvPr>
        </p:nvGraphicFramePr>
        <p:xfrm>
          <a:off x="4823411" y="3712095"/>
          <a:ext cx="6487292" cy="3031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824">
                  <a:extLst>
                    <a:ext uri="{9D8B030D-6E8A-4147-A177-3AD203B41FA5}">
                      <a16:colId xmlns:a16="http://schemas.microsoft.com/office/drawing/2014/main" val="2934828156"/>
                    </a:ext>
                  </a:extLst>
                </a:gridCol>
                <a:gridCol w="1621824">
                  <a:extLst>
                    <a:ext uri="{9D8B030D-6E8A-4147-A177-3AD203B41FA5}">
                      <a16:colId xmlns:a16="http://schemas.microsoft.com/office/drawing/2014/main" val="3019263832"/>
                    </a:ext>
                  </a:extLst>
                </a:gridCol>
                <a:gridCol w="1621822">
                  <a:extLst>
                    <a:ext uri="{9D8B030D-6E8A-4147-A177-3AD203B41FA5}">
                      <a16:colId xmlns:a16="http://schemas.microsoft.com/office/drawing/2014/main" val="3880949516"/>
                    </a:ext>
                  </a:extLst>
                </a:gridCol>
                <a:gridCol w="1621822">
                  <a:extLst>
                    <a:ext uri="{9D8B030D-6E8A-4147-A177-3AD203B41FA5}">
                      <a16:colId xmlns:a16="http://schemas.microsoft.com/office/drawing/2014/main" val="716507633"/>
                    </a:ext>
                  </a:extLst>
                </a:gridCol>
              </a:tblGrid>
              <a:tr h="648729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 staff completing the Mentor Program by June 30, 2026</a:t>
                      </a:r>
                    </a:p>
                    <a:p>
                      <a:pPr lvl="0" algn="ctr">
                        <a:buNone/>
                      </a:pPr>
                      <a:r>
                        <a:rPr lang="en-US" dirty="0"/>
                        <a:t>(Completion of program takes 8-10 weeks)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609760"/>
                  </a:ext>
                </a:extLst>
              </a:tr>
              <a:tr h="370702">
                <a:tc gridSpan="2"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Quarter ending March 2025: 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Quarter ending June 2025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824807"/>
                  </a:ext>
                </a:extLst>
              </a:tr>
              <a:tr h="37070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Mora: 0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Pine City: 0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Cambridge: 0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Sandstone: 0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Marshall: 0 </a:t>
                      </a: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Total: 0</a:t>
                      </a:r>
                      <a:endParaRPr 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Goal: Complete development of curriculum and metrics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Mora: 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Pine City: 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Cambridge: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Sandstone: 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Marshall: 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b="1" dirty="0"/>
                        <a:t>Total: </a:t>
                      </a:r>
                    </a:p>
                    <a:p>
                      <a:pPr lvl="0">
                        <a:buNone/>
                      </a:pPr>
                      <a:endParaRPr lang="en-US" b="1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Mora: 1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Pine City: 1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Cambridge: 1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Sandstone: 1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Marshall: 1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Goal: 5</a:t>
                      </a:r>
                      <a:endParaRPr lang="en-US" sz="1000" b="1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76180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EC17BC2-D7FA-D461-BEDC-71A42E023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528768"/>
              </p:ext>
            </p:extLst>
          </p:nvPr>
        </p:nvGraphicFramePr>
        <p:xfrm>
          <a:off x="4818184" y="820615"/>
          <a:ext cx="6438900" cy="2825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725">
                  <a:extLst>
                    <a:ext uri="{9D8B030D-6E8A-4147-A177-3AD203B41FA5}">
                      <a16:colId xmlns:a16="http://schemas.microsoft.com/office/drawing/2014/main" val="4156759289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3463391777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1628535807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2772944065"/>
                    </a:ext>
                  </a:extLst>
                </a:gridCol>
              </a:tblGrid>
              <a:tr h="664175">
                <a:tc gridSpan="4"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180 Completed Discovery Profiles with realized CLE outcomes by </a:t>
                      </a:r>
                      <a:r>
                        <a:rPr lang="en-US" sz="1800" b="1" i="1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June 30, 2026 (30 per quarter=150)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588292"/>
                  </a:ext>
                </a:extLst>
              </a:tr>
              <a:tr h="400050">
                <a:tc gridSpan="2"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Aptos"/>
                        </a:rPr>
                        <a:t>Quarter ending Mar 31, 2025</a:t>
                      </a:r>
                      <a:endParaRPr lang="en-US" dirty="0">
                        <a:effectLst/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EA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Aptos"/>
                        </a:rPr>
                        <a:t>Quarter ending June 30, 2025</a:t>
                      </a:r>
                      <a:endParaRPr lang="en-US" dirty="0">
                        <a:effectLst/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662069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Aptos"/>
                        </a:rPr>
                        <a:t>Mora:</a:t>
                      </a:r>
                      <a:endParaRPr lang="en-US" dirty="0">
                        <a:effectLst/>
                        <a:latin typeface="Aptos"/>
                      </a:endParaRPr>
                    </a:p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Aptos"/>
                        </a:rPr>
                        <a:t>Pine City:</a:t>
                      </a:r>
                      <a:endParaRPr lang="en-US" dirty="0">
                        <a:effectLst/>
                        <a:latin typeface="Aptos"/>
                      </a:endParaRPr>
                    </a:p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ptos"/>
                        </a:rPr>
                        <a:t>Cambridge:</a:t>
                      </a:r>
                      <a:endParaRPr lang="en-US" dirty="0">
                        <a:effectLst/>
                        <a:latin typeface="Aptos"/>
                      </a:endParaRPr>
                    </a:p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Aptos"/>
                        </a:rPr>
                        <a:t>Sandstone:</a:t>
                      </a:r>
                      <a:endParaRPr lang="en-US" dirty="0">
                        <a:effectLst/>
                        <a:latin typeface="Aptos"/>
                      </a:endParaRPr>
                    </a:p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Aptos"/>
                        </a:rPr>
                        <a:t>Marshall:</a:t>
                      </a:r>
                      <a:endParaRPr lang="en-US" dirty="0">
                        <a:effectLst/>
                        <a:latin typeface="Aptos"/>
                      </a:endParaRPr>
                    </a:p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Aptos"/>
                        </a:rPr>
                        <a:t>Total: __</a:t>
                      </a:r>
                      <a:endParaRPr lang="en-US" dirty="0">
                        <a:effectLst/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Aptos"/>
                        </a:rPr>
                        <a:t>Goal: </a:t>
                      </a:r>
                      <a:endParaRPr lang="en-US" dirty="0">
                        <a:effectLst/>
                        <a:latin typeface="Aptos"/>
                      </a:endParaRPr>
                    </a:p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Aptos"/>
                        </a:rPr>
                        <a:t>Complete </a:t>
                      </a:r>
                      <a:endParaRPr lang="en-US" dirty="0">
                        <a:effectLst/>
                        <a:latin typeface="Aptos"/>
                      </a:endParaRPr>
                    </a:p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Aptos"/>
                        </a:rPr>
                        <a:t>process for </a:t>
                      </a:r>
                      <a:endParaRPr lang="en-US">
                        <a:effectLst/>
                        <a:latin typeface="Aptos"/>
                      </a:endParaRPr>
                    </a:p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effectLst/>
                          <a:latin typeface="Aptos"/>
                        </a:rPr>
                        <a:t>completing </a:t>
                      </a:r>
                      <a:endParaRPr lang="en-US">
                        <a:effectLst/>
                        <a:latin typeface="Aptos"/>
                      </a:endParaRPr>
                    </a:p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Aptos"/>
                        </a:rPr>
                        <a:t>Discovery </a:t>
                      </a:r>
                      <a:endParaRPr lang="en-US" dirty="0">
                        <a:effectLst/>
                        <a:latin typeface="Aptos"/>
                      </a:endParaRPr>
                    </a:p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Aptos"/>
                        </a:rPr>
                        <a:t>Profile</a:t>
                      </a:r>
                      <a:endParaRPr lang="en-US" dirty="0">
                        <a:effectLst/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Aptos"/>
                        </a:rPr>
                        <a:t>Mora: </a:t>
                      </a:r>
                      <a:endParaRPr lang="en-US" dirty="0">
                        <a:effectLst/>
                        <a:latin typeface="Aptos"/>
                      </a:endParaRPr>
                    </a:p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Aptos"/>
                        </a:rPr>
                        <a:t>Pine City: </a:t>
                      </a:r>
                      <a:endParaRPr lang="en-US" dirty="0">
                        <a:effectLst/>
                        <a:latin typeface="Aptos"/>
                      </a:endParaRPr>
                    </a:p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ptos"/>
                        </a:rPr>
                        <a:t>Cambridge:</a:t>
                      </a:r>
                      <a:r>
                        <a:rPr lang="en-US" sz="1800" dirty="0">
                          <a:effectLst/>
                          <a:latin typeface="Aptos"/>
                        </a:rPr>
                        <a:t> </a:t>
                      </a:r>
                      <a:endParaRPr lang="en-US" dirty="0">
                        <a:effectLst/>
                        <a:latin typeface="Aptos"/>
                      </a:endParaRPr>
                    </a:p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Aptos"/>
                        </a:rPr>
                        <a:t>Sandstone: </a:t>
                      </a:r>
                      <a:endParaRPr lang="en-US" dirty="0">
                        <a:effectLst/>
                        <a:latin typeface="Aptos"/>
                      </a:endParaRPr>
                    </a:p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Aptos"/>
                        </a:rPr>
                        <a:t>Marshall: </a:t>
                      </a:r>
                      <a:endParaRPr lang="en-US" dirty="0">
                        <a:effectLst/>
                        <a:latin typeface="Aptos"/>
                      </a:endParaRPr>
                    </a:p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Aptos"/>
                        </a:rPr>
                        <a:t>Total: </a:t>
                      </a:r>
                      <a:endParaRPr lang="en-US" dirty="0">
                        <a:effectLst/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Aptos"/>
                        </a:rPr>
                        <a:t>Mora: 6</a:t>
                      </a:r>
                      <a:endParaRPr lang="en-US" dirty="0">
                        <a:effectLst/>
                        <a:latin typeface="Aptos"/>
                      </a:endParaRPr>
                    </a:p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Aptos"/>
                        </a:rPr>
                        <a:t>Pine City: 6</a:t>
                      </a:r>
                      <a:endParaRPr lang="en-US" dirty="0">
                        <a:effectLst/>
                        <a:latin typeface="Aptos"/>
                      </a:endParaRPr>
                    </a:p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ptos"/>
                        </a:rPr>
                        <a:t>Cambridge:</a:t>
                      </a:r>
                      <a:r>
                        <a:rPr lang="en-US" sz="1800" dirty="0">
                          <a:effectLst/>
                          <a:latin typeface="Aptos"/>
                        </a:rPr>
                        <a:t> 6</a:t>
                      </a:r>
                      <a:endParaRPr lang="en-US" dirty="0">
                        <a:effectLst/>
                        <a:latin typeface="Aptos"/>
                      </a:endParaRPr>
                    </a:p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Aptos"/>
                        </a:rPr>
                        <a:t>Sandstone: 6</a:t>
                      </a:r>
                      <a:endParaRPr lang="en-US" dirty="0">
                        <a:effectLst/>
                        <a:latin typeface="Aptos"/>
                      </a:endParaRPr>
                    </a:p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Aptos"/>
                        </a:rPr>
                        <a:t>Marshall: 6</a:t>
                      </a:r>
                      <a:endParaRPr lang="en-US" dirty="0">
                        <a:effectLst/>
                        <a:latin typeface="Aptos"/>
                      </a:endParaRPr>
                    </a:p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Aptos"/>
                        </a:rPr>
                        <a:t>Goal: 30</a:t>
                      </a:r>
                      <a:endParaRPr lang="en-US" dirty="0">
                        <a:effectLst/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223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9967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70A6BDCF9EDE429F30368D7F34C74C" ma:contentTypeVersion="8" ma:contentTypeDescription="Create a new document." ma:contentTypeScope="" ma:versionID="90e2959f7ede8bf6ad6e7ec9bccdd909">
  <xsd:schema xmlns:xsd="http://www.w3.org/2001/XMLSchema" xmlns:xs="http://www.w3.org/2001/XMLSchema" xmlns:p="http://schemas.microsoft.com/office/2006/metadata/properties" xmlns:ns2="2ba670d5-100b-44a8-b60c-b9ae61acdd03" xmlns:ns3="97ef7c57-f98b-4bbf-abe5-0dccd9ed8267" targetNamespace="http://schemas.microsoft.com/office/2006/metadata/properties" ma:root="true" ma:fieldsID="c7705e0506eb033bd23cd490c837d094" ns2:_="" ns3:_="">
    <xsd:import namespace="2ba670d5-100b-44a8-b60c-b9ae61acdd03"/>
    <xsd:import namespace="97ef7c57-f98b-4bbf-abe5-0dccd9ed82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a670d5-100b-44a8-b60c-b9ae61acdd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ef7c57-f98b-4bbf-abe5-0dccd9ed826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97ef7c57-f98b-4bbf-abe5-0dccd9ed8267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16147EC1-6EBA-40F4-BE22-2F24FD9717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a670d5-100b-44a8-b60c-b9ae61acdd03"/>
    <ds:schemaRef ds:uri="97ef7c57-f98b-4bbf-abe5-0dccd9ed82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C89B41-DEA8-4E3F-9FF8-92D7A30C82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3F27F0-9788-4EBE-8EC7-4482037C570C}">
  <ds:schemaRefs>
    <ds:schemaRef ds:uri="http://schemas.microsoft.com/office/2006/metadata/properties"/>
    <ds:schemaRef ds:uri="http://schemas.microsoft.com/office/infopath/2007/PartnerControls"/>
    <ds:schemaRef ds:uri="97ef7c57-f98b-4bbf-abe5-0dccd9ed826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PHASE  Blueprint for Transformational Change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 Lavin</dc:creator>
  <cp:revision>192</cp:revision>
  <dcterms:created xsi:type="dcterms:W3CDTF">2025-03-11T18:24:00Z</dcterms:created>
  <dcterms:modified xsi:type="dcterms:W3CDTF">2026-06-03T15:28:26Z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0x0101008270A6BDCF9EDE429F30368D7F34C74C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