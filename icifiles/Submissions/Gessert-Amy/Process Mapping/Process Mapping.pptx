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3"/>
  </p:notesMasterIdLst>
  <p:sldIdLst>
    <p:sldId id="256" r:id="rId5"/>
    <p:sldId id="257" r:id="rId6"/>
    <p:sldId id="258" r:id="rId7"/>
    <p:sldId id="259" r:id="rId8"/>
    <p:sldId id="260" r:id="rId9"/>
    <p:sldId id="261" r:id="rId10"/>
    <p:sldId id="262" r:id="rId11"/>
    <p:sldId id="263" r:id="rId12"/>
  </p:sldIdLst>
  <p:sldSz cx="18288000" cy="10287000"/>
  <p:notesSz cx="6858000" cy="9144000"/>
  <p:embeddedFontLst>
    <p:embeddedFont>
      <p:font typeface="Klein" panose="020B0604020202020204" charset="0"/>
      <p:regular r:id="rId14"/>
    </p:embeddedFont>
    <p:embeddedFont>
      <p:font typeface="Klein Bold" panose="020B0604020202020204" charset="0"/>
      <p:regular r:id="rId15"/>
    </p:embeddedFont>
    <p:embeddedFont>
      <p:font typeface="Klein Heavy"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59972" autoAdjust="0"/>
  </p:normalViewPr>
  <p:slideViewPr>
    <p:cSldViewPr>
      <p:cViewPr varScale="1">
        <p:scale>
          <a:sx n="25" d="100"/>
          <a:sy n="25" d="100"/>
        </p:scale>
        <p:origin x="1740"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font" Target="fonts/font2.fntdata"/><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1.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y C Gessert" userId="S::amy.gessert@umb.edu::959649af-45c5-487c-aa74-829e1b24d524" providerId="AD" clId="Web-{EC12AEAE-9C87-F7B7-637B-C3F8BD5B9977}"/>
    <pc:docChg chg="modSld">
      <pc:chgData name="Amy C Gessert" userId="S::amy.gessert@umb.edu::959649af-45c5-487c-aa74-829e1b24d524" providerId="AD" clId="Web-{EC12AEAE-9C87-F7B7-637B-C3F8BD5B9977}" dt="2025-01-07T14:43:32.238" v="1"/>
      <pc:docMkLst>
        <pc:docMk/>
      </pc:docMkLst>
      <pc:sldChg chg="modNotes">
        <pc:chgData name="Amy C Gessert" userId="S::amy.gessert@umb.edu::959649af-45c5-487c-aa74-829e1b24d524" providerId="AD" clId="Web-{EC12AEAE-9C87-F7B7-637B-C3F8BD5B9977}" dt="2025-01-07T14:43:32.238" v="1"/>
        <pc:sldMkLst>
          <pc:docMk/>
          <pc:sldMk cId="0" sldId="26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53631-EB24-432A-8C38-070177F802F4}" type="datetimeFigureOut">
              <a:rPr lang="en-US" smtClean="0"/>
              <a:t>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0429A2-2283-4744-96B6-3F67F1C96BB0}" type="slidenum">
              <a:rPr lang="en-US" smtClean="0"/>
              <a:t>‹#›</a:t>
            </a:fld>
            <a:endParaRPr lang="en-US"/>
          </a:p>
        </p:txBody>
      </p:sp>
    </p:spTree>
    <p:extLst>
      <p:ext uri="{BB962C8B-B14F-4D97-AF65-F5344CB8AC3E}">
        <p14:creationId xmlns:p14="http://schemas.microsoft.com/office/powerpoint/2010/main" val="42299592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0429A2-2283-4744-96B6-3F67F1C96BB0}" type="slidenum">
              <a:rPr lang="en-US" smtClean="0"/>
              <a:t>1</a:t>
            </a:fld>
            <a:endParaRPr lang="en-US"/>
          </a:p>
        </p:txBody>
      </p:sp>
    </p:spTree>
    <p:extLst>
      <p:ext uri="{BB962C8B-B14F-4D97-AF65-F5344CB8AC3E}">
        <p14:creationId xmlns:p14="http://schemas.microsoft.com/office/powerpoint/2010/main" val="29608199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begin, what exactly is process mapping? Simply put, it is a visual representation of workflows that outlines how tasks, decisions, and responsibilities move through a system. The goal is to analyze, understand, and improve processes. The example I shared with you last month is a good example of how straightforward yet impactful process mapping can be."</a:t>
            </a:r>
          </a:p>
        </p:txBody>
      </p:sp>
      <p:sp>
        <p:nvSpPr>
          <p:cNvPr id="4" name="Slide Number Placeholder 3"/>
          <p:cNvSpPr>
            <a:spLocks noGrp="1"/>
          </p:cNvSpPr>
          <p:nvPr>
            <p:ph type="sldNum" sz="quarter" idx="5"/>
          </p:nvPr>
        </p:nvSpPr>
        <p:spPr/>
        <p:txBody>
          <a:bodyPr/>
          <a:lstStyle/>
          <a:p>
            <a:fld id="{D70429A2-2283-4744-96B6-3F67F1C96BB0}" type="slidenum">
              <a:rPr lang="en-US" smtClean="0"/>
              <a:t>2</a:t>
            </a:fld>
            <a:endParaRPr lang="en-US"/>
          </a:p>
        </p:txBody>
      </p:sp>
    </p:spTree>
    <p:extLst>
      <p:ext uri="{BB962C8B-B14F-4D97-AF65-F5344CB8AC3E}">
        <p14:creationId xmlns:p14="http://schemas.microsoft.com/office/powerpoint/2010/main" val="40909663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the benefits of process mapping. First, it brings clarity by making complex processes easier to understand. It boosts efficiency by identifying bottlenecks and redundancies. It ensures standardization across teams, fostering consistency. Additionally, it encourages collaboration by engaging stakeholders and helps in meeting regulatory and quality standards. The icons here represent these key benefits at a glance."</a:t>
            </a:r>
          </a:p>
        </p:txBody>
      </p:sp>
      <p:sp>
        <p:nvSpPr>
          <p:cNvPr id="4" name="Slide Number Placeholder 3"/>
          <p:cNvSpPr>
            <a:spLocks noGrp="1"/>
          </p:cNvSpPr>
          <p:nvPr>
            <p:ph type="sldNum" sz="quarter" idx="5"/>
          </p:nvPr>
        </p:nvSpPr>
        <p:spPr/>
        <p:txBody>
          <a:bodyPr/>
          <a:lstStyle/>
          <a:p>
            <a:fld id="{D70429A2-2283-4744-96B6-3F67F1C96BB0}" type="slidenum">
              <a:rPr lang="en-US" smtClean="0"/>
              <a:t>3</a:t>
            </a:fld>
            <a:endParaRPr lang="en-US"/>
          </a:p>
        </p:txBody>
      </p:sp>
    </p:spTree>
    <p:extLst>
      <p:ext uri="{BB962C8B-B14F-4D97-AF65-F5344CB8AC3E}">
        <p14:creationId xmlns:p14="http://schemas.microsoft.com/office/powerpoint/2010/main" val="40685803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let’s talk about the components of a process map. Every map has start and end points to define its boundaries. Tasks or steps are represented by rectangles, while decision points use diamonds. Arrows illustrate the flow of tasks, and roles or actors show who is responsible for each step. The diagram here highlights these elements, making it easier to follow the flow."</a:t>
            </a:r>
          </a:p>
        </p:txBody>
      </p:sp>
      <p:sp>
        <p:nvSpPr>
          <p:cNvPr id="4" name="Slide Number Placeholder 3"/>
          <p:cNvSpPr>
            <a:spLocks noGrp="1"/>
          </p:cNvSpPr>
          <p:nvPr>
            <p:ph type="sldNum" sz="quarter" idx="5"/>
          </p:nvPr>
        </p:nvSpPr>
        <p:spPr/>
        <p:txBody>
          <a:bodyPr/>
          <a:lstStyle/>
          <a:p>
            <a:fld id="{D70429A2-2283-4744-96B6-3F67F1C96BB0}" type="slidenum">
              <a:rPr lang="en-US" smtClean="0"/>
              <a:t>4</a:t>
            </a:fld>
            <a:endParaRPr lang="en-US"/>
          </a:p>
        </p:txBody>
      </p:sp>
    </p:spTree>
    <p:extLst>
      <p:ext uri="{BB962C8B-B14F-4D97-AF65-F5344CB8AC3E}">
        <p14:creationId xmlns:p14="http://schemas.microsoft.com/office/powerpoint/2010/main" val="3408129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 process map involves several steps. First, define your objectives—what are you hoping to achieve? Next, gather information by interviewing stakeholders and observing workflows. Outline the steps, listing all tasks, decisions, and inputs. Choose a format that suits your needs, then draw the map using software or simple tools. Validate the map by reviewing it with stakeholders, and finally, analyze it to identify areas for improvement. This checklist will guide you through the process effectively."</a:t>
            </a:r>
          </a:p>
        </p:txBody>
      </p:sp>
      <p:sp>
        <p:nvSpPr>
          <p:cNvPr id="4" name="Slide Number Placeholder 3"/>
          <p:cNvSpPr>
            <a:spLocks noGrp="1"/>
          </p:cNvSpPr>
          <p:nvPr>
            <p:ph type="sldNum" sz="quarter" idx="5"/>
          </p:nvPr>
        </p:nvSpPr>
        <p:spPr/>
        <p:txBody>
          <a:bodyPr/>
          <a:lstStyle/>
          <a:p>
            <a:fld id="{D70429A2-2283-4744-96B6-3F67F1C96BB0}" type="slidenum">
              <a:rPr lang="en-US" smtClean="0"/>
              <a:t>5</a:t>
            </a:fld>
            <a:endParaRPr lang="en-US"/>
          </a:p>
        </p:txBody>
      </p:sp>
    </p:spTree>
    <p:extLst>
      <p:ext uri="{BB962C8B-B14F-4D97-AF65-F5344CB8AC3E}">
        <p14:creationId xmlns:p14="http://schemas.microsoft.com/office/powerpoint/2010/main" val="2117422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process mapping can be transformative, there are some common pitfalls to watch out for. Avoid overcomplicating the map by focusing only on key details. Lack of collaboration can lead to incomplete maps, so involve all relevant stakeholders. Don’t skip validation—it’s essential for accuracy. And finally, remember to update your maps regularly to keep up with process changes. </a:t>
            </a:r>
          </a:p>
        </p:txBody>
      </p:sp>
      <p:sp>
        <p:nvSpPr>
          <p:cNvPr id="4" name="Slide Number Placeholder 3"/>
          <p:cNvSpPr>
            <a:spLocks noGrp="1"/>
          </p:cNvSpPr>
          <p:nvPr>
            <p:ph type="sldNum" sz="quarter" idx="5"/>
          </p:nvPr>
        </p:nvSpPr>
        <p:spPr/>
        <p:txBody>
          <a:bodyPr/>
          <a:lstStyle/>
          <a:p>
            <a:fld id="{D70429A2-2283-4744-96B6-3F67F1C96BB0}" type="slidenum">
              <a:rPr lang="en-US" smtClean="0"/>
              <a:t>6</a:t>
            </a:fld>
            <a:endParaRPr lang="en-US"/>
          </a:p>
        </p:txBody>
      </p:sp>
    </p:spTree>
    <p:extLst>
      <p:ext uri="{BB962C8B-B14F-4D97-AF65-F5344CB8AC3E}">
        <p14:creationId xmlns:p14="http://schemas.microsoft.com/office/powerpoint/2010/main" val="2669748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process mapping is an essential tool for understanding and improving workflows. It drives efficiency, collaboration, and consistency while keeping processes aligned with organizational goals. Remember, regular updates and stakeholder involvement are crucial for success. </a:t>
            </a:r>
          </a:p>
        </p:txBody>
      </p:sp>
      <p:sp>
        <p:nvSpPr>
          <p:cNvPr id="4" name="Slide Number Placeholder 3"/>
          <p:cNvSpPr>
            <a:spLocks noGrp="1"/>
          </p:cNvSpPr>
          <p:nvPr>
            <p:ph type="sldNum" sz="quarter" idx="5"/>
          </p:nvPr>
        </p:nvSpPr>
        <p:spPr/>
        <p:txBody>
          <a:bodyPr/>
          <a:lstStyle/>
          <a:p>
            <a:fld id="{D70429A2-2283-4744-96B6-3F67F1C96BB0}" type="slidenum">
              <a:rPr lang="en-US" smtClean="0"/>
              <a:t>7</a:t>
            </a:fld>
            <a:endParaRPr lang="en-US"/>
          </a:p>
        </p:txBody>
      </p:sp>
    </p:spTree>
    <p:extLst>
      <p:ext uri="{BB962C8B-B14F-4D97-AF65-F5344CB8AC3E}">
        <p14:creationId xmlns:p14="http://schemas.microsoft.com/office/powerpoint/2010/main" val="6874373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it’s your turn! Let’s discuss any questions you have or share your thoughts on process mapping. I’m excited to hear your insights and ideas."</a:t>
            </a:r>
          </a:p>
        </p:txBody>
      </p:sp>
      <p:sp>
        <p:nvSpPr>
          <p:cNvPr id="4" name="Slide Number Placeholder 3"/>
          <p:cNvSpPr>
            <a:spLocks noGrp="1"/>
          </p:cNvSpPr>
          <p:nvPr>
            <p:ph type="sldNum" sz="quarter" idx="5"/>
          </p:nvPr>
        </p:nvSpPr>
        <p:spPr/>
        <p:txBody>
          <a:bodyPr/>
          <a:lstStyle/>
          <a:p>
            <a:fld id="{D70429A2-2283-4744-96B6-3F67F1C96BB0}" type="slidenum">
              <a:rPr lang="en-US" smtClean="0"/>
              <a:t>8</a:t>
            </a:fld>
            <a:endParaRPr lang="en-US"/>
          </a:p>
        </p:txBody>
      </p:sp>
    </p:spTree>
    <p:extLst>
      <p:ext uri="{BB962C8B-B14F-4D97-AF65-F5344CB8AC3E}">
        <p14:creationId xmlns:p14="http://schemas.microsoft.com/office/powerpoint/2010/main" val="17146726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2.svg"/><Relationship Id="rId9" Type="http://schemas.openxmlformats.org/officeDocument/2006/relationships/image" Target="../media/image15.jpeg"/></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6.svg"/></Relationships>
</file>

<file path=ppt/slides/_rels/slide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042386" y="0"/>
            <a:ext cx="6433829" cy="4761033"/>
          </a:xfrm>
          <a:custGeom>
            <a:avLst/>
            <a:gdLst/>
            <a:ahLst/>
            <a:cxnLst/>
            <a:rect l="l" t="t" r="r" b="b"/>
            <a:pathLst>
              <a:path w="6433829" h="4761033">
                <a:moveTo>
                  <a:pt x="0" y="0"/>
                </a:moveTo>
                <a:lnTo>
                  <a:pt x="6433828" y="0"/>
                </a:lnTo>
                <a:lnTo>
                  <a:pt x="6433828" y="4761033"/>
                </a:lnTo>
                <a:lnTo>
                  <a:pt x="0" y="47610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6933239">
            <a:off x="-750303" y="-2409185"/>
            <a:ext cx="3558007" cy="5136230"/>
          </a:xfrm>
          <a:custGeom>
            <a:avLst/>
            <a:gdLst/>
            <a:ahLst/>
            <a:cxnLst/>
            <a:rect l="l" t="t" r="r" b="b"/>
            <a:pathLst>
              <a:path w="3558007" h="5136230">
                <a:moveTo>
                  <a:pt x="0" y="0"/>
                </a:moveTo>
                <a:lnTo>
                  <a:pt x="3558006" y="0"/>
                </a:lnTo>
                <a:lnTo>
                  <a:pt x="3558006" y="5136230"/>
                </a:lnTo>
                <a:lnTo>
                  <a:pt x="0" y="513623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rot="-6933239">
            <a:off x="9128742" y="6438877"/>
            <a:ext cx="5190455" cy="7492782"/>
          </a:xfrm>
          <a:custGeom>
            <a:avLst/>
            <a:gdLst/>
            <a:ahLst/>
            <a:cxnLst/>
            <a:rect l="l" t="t" r="r" b="b"/>
            <a:pathLst>
              <a:path w="5190455" h="7492782">
                <a:moveTo>
                  <a:pt x="0" y="0"/>
                </a:moveTo>
                <a:lnTo>
                  <a:pt x="5190455" y="0"/>
                </a:lnTo>
                <a:lnTo>
                  <a:pt x="5190455" y="7492783"/>
                </a:lnTo>
                <a:lnTo>
                  <a:pt x="0" y="749278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5" name="Freeform 5"/>
          <p:cNvSpPr/>
          <p:nvPr/>
        </p:nvSpPr>
        <p:spPr>
          <a:xfrm rot="-5769533">
            <a:off x="3550744" y="-1055420"/>
            <a:ext cx="1628220" cy="3109449"/>
          </a:xfrm>
          <a:custGeom>
            <a:avLst/>
            <a:gdLst/>
            <a:ahLst/>
            <a:cxnLst/>
            <a:rect l="l" t="t" r="r" b="b"/>
            <a:pathLst>
              <a:path w="1628220" h="3109449">
                <a:moveTo>
                  <a:pt x="0" y="0"/>
                </a:moveTo>
                <a:lnTo>
                  <a:pt x="1628220" y="0"/>
                </a:lnTo>
                <a:lnTo>
                  <a:pt x="1628220" y="3109448"/>
                </a:lnTo>
                <a:lnTo>
                  <a:pt x="0" y="3109448"/>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grpSp>
        <p:nvGrpSpPr>
          <p:cNvPr id="6" name="Group 6"/>
          <p:cNvGrpSpPr/>
          <p:nvPr/>
        </p:nvGrpSpPr>
        <p:grpSpPr>
          <a:xfrm>
            <a:off x="10308866" y="975048"/>
            <a:ext cx="7337635" cy="8690799"/>
            <a:chOff x="0" y="0"/>
            <a:chExt cx="5314442" cy="6294501"/>
          </a:xfrm>
        </p:grpSpPr>
        <p:sp>
          <p:nvSpPr>
            <p:cNvPr id="7" name="Freeform 7"/>
            <p:cNvSpPr/>
            <p:nvPr/>
          </p:nvSpPr>
          <p:spPr>
            <a:xfrm>
              <a:off x="-29083" y="-27432"/>
              <a:ext cx="5343525" cy="6321933"/>
            </a:xfrm>
            <a:custGeom>
              <a:avLst/>
              <a:gdLst/>
              <a:ahLst/>
              <a:cxnLst/>
              <a:rect l="l" t="t" r="r" b="b"/>
              <a:pathLst>
                <a:path w="5343525" h="6321933">
                  <a:moveTo>
                    <a:pt x="5058156" y="756285"/>
                  </a:moveTo>
                  <a:cubicBezTo>
                    <a:pt x="5215128" y="790448"/>
                    <a:pt x="5343525" y="949833"/>
                    <a:pt x="5343525" y="1110488"/>
                  </a:cubicBezTo>
                  <a:lnTo>
                    <a:pt x="5343525" y="6029833"/>
                  </a:lnTo>
                  <a:cubicBezTo>
                    <a:pt x="5343525" y="6190488"/>
                    <a:pt x="5212080" y="6321933"/>
                    <a:pt x="5051425" y="6321933"/>
                  </a:cubicBezTo>
                  <a:lnTo>
                    <a:pt x="262128" y="6321933"/>
                  </a:lnTo>
                  <a:cubicBezTo>
                    <a:pt x="101473" y="6321933"/>
                    <a:pt x="0" y="6193917"/>
                    <a:pt x="36576" y="6037580"/>
                  </a:cubicBezTo>
                  <a:lnTo>
                    <a:pt x="1389888" y="256413"/>
                  </a:lnTo>
                  <a:cubicBezTo>
                    <a:pt x="1426464" y="99949"/>
                    <a:pt x="1584960" y="0"/>
                    <a:pt x="1741932" y="34163"/>
                  </a:cubicBezTo>
                  <a:lnTo>
                    <a:pt x="5058156" y="756285"/>
                  </a:lnTo>
                  <a:close/>
                </a:path>
              </a:pathLst>
            </a:custGeom>
            <a:blipFill>
              <a:blip r:embed="rId11"/>
              <a:stretch>
                <a:fillRect l="-52342" r="-25431"/>
              </a:stretch>
            </a:blipFill>
          </p:spPr>
          <p:txBody>
            <a:bodyPr/>
            <a:lstStyle/>
            <a:p>
              <a:endParaRPr lang="en-US"/>
            </a:p>
          </p:txBody>
        </p:sp>
      </p:grpSp>
      <p:sp>
        <p:nvSpPr>
          <p:cNvPr id="8" name="Freeform 8"/>
          <p:cNvSpPr/>
          <p:nvPr/>
        </p:nvSpPr>
        <p:spPr>
          <a:xfrm>
            <a:off x="231593" y="8004687"/>
            <a:ext cx="2100958" cy="2000776"/>
          </a:xfrm>
          <a:custGeom>
            <a:avLst/>
            <a:gdLst/>
            <a:ahLst/>
            <a:cxnLst/>
            <a:rect l="l" t="t" r="r" b="b"/>
            <a:pathLst>
              <a:path w="2100958" h="2000776">
                <a:moveTo>
                  <a:pt x="0" y="0"/>
                </a:moveTo>
                <a:lnTo>
                  <a:pt x="2100958" y="0"/>
                </a:lnTo>
                <a:lnTo>
                  <a:pt x="2100958" y="2000776"/>
                </a:lnTo>
                <a:lnTo>
                  <a:pt x="0" y="2000776"/>
                </a:lnTo>
                <a:lnTo>
                  <a:pt x="0" y="0"/>
                </a:lnTo>
                <a:close/>
              </a:path>
            </a:pathLst>
          </a:custGeom>
          <a:blipFill>
            <a:blip r:embed="rId12"/>
            <a:stretch>
              <a:fillRect/>
            </a:stretch>
          </a:blipFill>
        </p:spPr>
        <p:txBody>
          <a:bodyPr/>
          <a:lstStyle/>
          <a:p>
            <a:endParaRPr lang="en-US"/>
          </a:p>
        </p:txBody>
      </p:sp>
      <p:grpSp>
        <p:nvGrpSpPr>
          <p:cNvPr id="9" name="Group 9"/>
          <p:cNvGrpSpPr/>
          <p:nvPr/>
        </p:nvGrpSpPr>
        <p:grpSpPr>
          <a:xfrm>
            <a:off x="1282072" y="2282313"/>
            <a:ext cx="8443749" cy="5722375"/>
            <a:chOff x="0" y="0"/>
            <a:chExt cx="11258331" cy="7629833"/>
          </a:xfrm>
        </p:grpSpPr>
        <p:sp>
          <p:nvSpPr>
            <p:cNvPr id="10" name="TextBox 10"/>
            <p:cNvSpPr txBox="1"/>
            <p:nvPr/>
          </p:nvSpPr>
          <p:spPr>
            <a:xfrm>
              <a:off x="0" y="85725"/>
              <a:ext cx="11258331" cy="5646208"/>
            </a:xfrm>
            <a:prstGeom prst="rect">
              <a:avLst/>
            </a:prstGeom>
          </p:spPr>
          <p:txBody>
            <a:bodyPr lIns="0" tIns="0" rIns="0" bIns="0" rtlCol="0" anchor="t">
              <a:spAutoFit/>
            </a:bodyPr>
            <a:lstStyle/>
            <a:p>
              <a:pPr marL="0" lvl="0" indent="0" algn="ctr">
                <a:lnSpc>
                  <a:spcPts val="10999"/>
                </a:lnSpc>
              </a:pPr>
              <a:r>
                <a:rPr lang="en-US" sz="9999" b="1">
                  <a:solidFill>
                    <a:srgbClr val="001E22"/>
                  </a:solidFill>
                  <a:latin typeface="Klein Bold"/>
                  <a:ea typeface="Klein Bold"/>
                  <a:cs typeface="Klein Bold"/>
                  <a:sym typeface="Klein Bold"/>
                </a:rPr>
                <a:t>Process Mapping Overview</a:t>
              </a:r>
            </a:p>
          </p:txBody>
        </p:sp>
        <p:sp>
          <p:nvSpPr>
            <p:cNvPr id="11" name="TextBox 11"/>
            <p:cNvSpPr txBox="1"/>
            <p:nvPr/>
          </p:nvSpPr>
          <p:spPr>
            <a:xfrm>
              <a:off x="0" y="6232833"/>
              <a:ext cx="11258331" cy="1397000"/>
            </a:xfrm>
            <a:prstGeom prst="rect">
              <a:avLst/>
            </a:prstGeom>
          </p:spPr>
          <p:txBody>
            <a:bodyPr lIns="0" tIns="0" rIns="0" bIns="0" rtlCol="0" anchor="t">
              <a:spAutoFit/>
            </a:bodyPr>
            <a:lstStyle/>
            <a:p>
              <a:pPr marL="0" lvl="0" indent="0" algn="ctr">
                <a:lnSpc>
                  <a:spcPts val="4200"/>
                </a:lnSpc>
                <a:spcBef>
                  <a:spcPct val="0"/>
                </a:spcBef>
              </a:pPr>
              <a:r>
                <a:rPr lang="en-US" sz="3000" b="1">
                  <a:solidFill>
                    <a:srgbClr val="001E22"/>
                  </a:solidFill>
                  <a:latin typeface="Klein Heavy"/>
                  <a:ea typeface="Klein Heavy"/>
                  <a:cs typeface="Klein Heavy"/>
                  <a:sym typeface="Klein Heavy"/>
                </a:rPr>
                <a:t>Visualizing Workflows for Efficiency and Clarity</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9D6E4"/>
        </a:solidFill>
        <a:effectLst/>
      </p:bgPr>
    </p:bg>
    <p:spTree>
      <p:nvGrpSpPr>
        <p:cNvPr id="1" name=""/>
        <p:cNvGrpSpPr/>
        <p:nvPr/>
      </p:nvGrpSpPr>
      <p:grpSpPr>
        <a:xfrm>
          <a:off x="0" y="0"/>
          <a:ext cx="0" cy="0"/>
          <a:chOff x="0" y="0"/>
          <a:chExt cx="0" cy="0"/>
        </a:xfrm>
      </p:grpSpPr>
      <p:sp>
        <p:nvSpPr>
          <p:cNvPr id="2" name="Freeform 2"/>
          <p:cNvSpPr/>
          <p:nvPr/>
        </p:nvSpPr>
        <p:spPr>
          <a:xfrm rot="2254691">
            <a:off x="13999395" y="6662131"/>
            <a:ext cx="4935546" cy="6086435"/>
          </a:xfrm>
          <a:custGeom>
            <a:avLst/>
            <a:gdLst/>
            <a:ahLst/>
            <a:cxnLst/>
            <a:rect l="l" t="t" r="r" b="b"/>
            <a:pathLst>
              <a:path w="4935546" h="6086435">
                <a:moveTo>
                  <a:pt x="0" y="0"/>
                </a:moveTo>
                <a:lnTo>
                  <a:pt x="4935546" y="0"/>
                </a:lnTo>
                <a:lnTo>
                  <a:pt x="4935546" y="6086435"/>
                </a:lnTo>
                <a:lnTo>
                  <a:pt x="0" y="608643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8136324" y="-442502"/>
            <a:ext cx="5516585" cy="4082273"/>
          </a:xfrm>
          <a:custGeom>
            <a:avLst/>
            <a:gdLst/>
            <a:ahLst/>
            <a:cxnLst/>
            <a:rect l="l" t="t" r="r" b="b"/>
            <a:pathLst>
              <a:path w="5516585" h="4082273">
                <a:moveTo>
                  <a:pt x="0" y="0"/>
                </a:moveTo>
                <a:lnTo>
                  <a:pt x="5516584" y="0"/>
                </a:lnTo>
                <a:lnTo>
                  <a:pt x="5516584" y="4082273"/>
                </a:lnTo>
                <a:lnTo>
                  <a:pt x="0" y="408227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rot="-5591604">
            <a:off x="11994047" y="9429560"/>
            <a:ext cx="1668110" cy="1714879"/>
          </a:xfrm>
          <a:custGeom>
            <a:avLst/>
            <a:gdLst/>
            <a:ahLst/>
            <a:cxnLst/>
            <a:rect l="l" t="t" r="r" b="b"/>
            <a:pathLst>
              <a:path w="1668110" h="1714879">
                <a:moveTo>
                  <a:pt x="0" y="0"/>
                </a:moveTo>
                <a:lnTo>
                  <a:pt x="1668110" y="0"/>
                </a:lnTo>
                <a:lnTo>
                  <a:pt x="1668110" y="1714880"/>
                </a:lnTo>
                <a:lnTo>
                  <a:pt x="0" y="17148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5" name="Group 5"/>
          <p:cNvGrpSpPr/>
          <p:nvPr/>
        </p:nvGrpSpPr>
        <p:grpSpPr>
          <a:xfrm>
            <a:off x="10175986" y="713034"/>
            <a:ext cx="7411829" cy="8992315"/>
            <a:chOff x="0" y="0"/>
            <a:chExt cx="5188077" cy="6294374"/>
          </a:xfrm>
        </p:grpSpPr>
        <p:sp>
          <p:nvSpPr>
            <p:cNvPr id="6" name="Freeform 6"/>
            <p:cNvSpPr/>
            <p:nvPr/>
          </p:nvSpPr>
          <p:spPr>
            <a:xfrm>
              <a:off x="-29972" y="0"/>
              <a:ext cx="5218049" cy="6322060"/>
            </a:xfrm>
            <a:custGeom>
              <a:avLst/>
              <a:gdLst/>
              <a:ahLst/>
              <a:cxnLst/>
              <a:rect l="l" t="t" r="r" b="b"/>
              <a:pathLst>
                <a:path w="5218049" h="6322060">
                  <a:moveTo>
                    <a:pt x="4925949" y="0"/>
                  </a:moveTo>
                  <a:cubicBezTo>
                    <a:pt x="5086604" y="0"/>
                    <a:pt x="5218049" y="131445"/>
                    <a:pt x="5218049" y="292100"/>
                  </a:cubicBezTo>
                  <a:lnTo>
                    <a:pt x="5218049" y="6057900"/>
                  </a:lnTo>
                  <a:cubicBezTo>
                    <a:pt x="5218049" y="6218555"/>
                    <a:pt x="5089652" y="6322060"/>
                    <a:pt x="4932680" y="6287897"/>
                  </a:cubicBezTo>
                  <a:lnTo>
                    <a:pt x="1595755" y="5561457"/>
                  </a:lnTo>
                  <a:cubicBezTo>
                    <a:pt x="1438783" y="5527294"/>
                    <a:pt x="1279144" y="5371592"/>
                    <a:pt x="1241171" y="5215509"/>
                  </a:cubicBezTo>
                  <a:lnTo>
                    <a:pt x="38100" y="283718"/>
                  </a:lnTo>
                  <a:cubicBezTo>
                    <a:pt x="0" y="127762"/>
                    <a:pt x="100203" y="0"/>
                    <a:pt x="260858" y="0"/>
                  </a:cubicBezTo>
                  <a:lnTo>
                    <a:pt x="4925949" y="0"/>
                  </a:lnTo>
                  <a:close/>
                </a:path>
              </a:pathLst>
            </a:custGeom>
            <a:blipFill>
              <a:blip r:embed="rId9"/>
              <a:stretch>
                <a:fillRect l="-39374" r="-39374"/>
              </a:stretch>
            </a:blipFill>
          </p:spPr>
          <p:txBody>
            <a:bodyPr/>
            <a:lstStyle/>
            <a:p>
              <a:endParaRPr lang="en-US"/>
            </a:p>
          </p:txBody>
        </p:sp>
      </p:grpSp>
      <p:grpSp>
        <p:nvGrpSpPr>
          <p:cNvPr id="7" name="Group 7"/>
          <p:cNvGrpSpPr/>
          <p:nvPr/>
        </p:nvGrpSpPr>
        <p:grpSpPr>
          <a:xfrm>
            <a:off x="1270693" y="710833"/>
            <a:ext cx="7595850" cy="8865334"/>
            <a:chOff x="0" y="0"/>
            <a:chExt cx="10127800" cy="11820445"/>
          </a:xfrm>
        </p:grpSpPr>
        <p:sp>
          <p:nvSpPr>
            <p:cNvPr id="8" name="TextBox 8"/>
            <p:cNvSpPr txBox="1"/>
            <p:nvPr/>
          </p:nvSpPr>
          <p:spPr>
            <a:xfrm>
              <a:off x="0" y="-19050"/>
              <a:ext cx="10127800" cy="4591050"/>
            </a:xfrm>
            <a:prstGeom prst="rect">
              <a:avLst/>
            </a:prstGeom>
          </p:spPr>
          <p:txBody>
            <a:bodyPr lIns="0" tIns="0" rIns="0" bIns="0" rtlCol="0" anchor="t">
              <a:spAutoFit/>
            </a:bodyPr>
            <a:lstStyle/>
            <a:p>
              <a:pPr marL="0" lvl="0" indent="0" algn="l">
                <a:lnSpc>
                  <a:spcPts val="9000"/>
                </a:lnSpc>
              </a:pPr>
              <a:r>
                <a:rPr lang="en-US" sz="7500" b="1">
                  <a:solidFill>
                    <a:srgbClr val="001E22"/>
                  </a:solidFill>
                  <a:latin typeface="Klein Bold"/>
                  <a:ea typeface="Klein Bold"/>
                  <a:cs typeface="Klein Bold"/>
                  <a:sym typeface="Klein Bold"/>
                </a:rPr>
                <a:t>What is PROCESS MAPPING?</a:t>
              </a:r>
            </a:p>
          </p:txBody>
        </p:sp>
        <p:sp>
          <p:nvSpPr>
            <p:cNvPr id="9" name="TextBox 9"/>
            <p:cNvSpPr txBox="1"/>
            <p:nvPr/>
          </p:nvSpPr>
          <p:spPr>
            <a:xfrm>
              <a:off x="0" y="5051345"/>
              <a:ext cx="10103246" cy="6769100"/>
            </a:xfrm>
            <a:prstGeom prst="rect">
              <a:avLst/>
            </a:prstGeom>
          </p:spPr>
          <p:txBody>
            <a:bodyPr lIns="0" tIns="0" rIns="0" bIns="0" rtlCol="0" anchor="t">
              <a:spAutoFit/>
            </a:bodyPr>
            <a:lstStyle/>
            <a:p>
              <a:pPr marL="755647" lvl="1" indent="-377824" algn="l">
                <a:lnSpc>
                  <a:spcPts val="4199"/>
                </a:lnSpc>
                <a:buFont typeface="Arial"/>
                <a:buChar char="•"/>
              </a:pPr>
              <a:r>
                <a:rPr lang="en-US" sz="3499" b="1">
                  <a:solidFill>
                    <a:srgbClr val="001E22"/>
                  </a:solidFill>
                  <a:latin typeface="Klein Bold"/>
                  <a:ea typeface="Klein Bold"/>
                  <a:cs typeface="Klein Bold"/>
                  <a:sym typeface="Klein Bold"/>
                </a:rPr>
                <a:t>Definition</a:t>
              </a:r>
              <a:r>
                <a:rPr lang="en-US" sz="3499">
                  <a:solidFill>
                    <a:srgbClr val="001E22"/>
                  </a:solidFill>
                  <a:latin typeface="Klein"/>
                  <a:ea typeface="Klein"/>
                  <a:cs typeface="Klein"/>
                  <a:sym typeface="Klein"/>
                </a:rPr>
                <a:t>: Process mapping is a visual representation of workflows, showing how tasks, decisions, and responsibilities move through a system.</a:t>
              </a:r>
            </a:p>
            <a:p>
              <a:pPr marL="755647" lvl="1" indent="-377824" algn="l">
                <a:lnSpc>
                  <a:spcPts val="4199"/>
                </a:lnSpc>
                <a:buFont typeface="Arial"/>
                <a:buChar char="•"/>
              </a:pPr>
              <a:r>
                <a:rPr lang="en-US" sz="3499" b="1">
                  <a:solidFill>
                    <a:srgbClr val="001E22"/>
                  </a:solidFill>
                  <a:latin typeface="Klein Bold"/>
                  <a:ea typeface="Klein Bold"/>
                  <a:cs typeface="Klein Bold"/>
                  <a:sym typeface="Klein Bold"/>
                </a:rPr>
                <a:t>Purpose</a:t>
              </a:r>
              <a:r>
                <a:rPr lang="en-US" sz="3499">
                  <a:solidFill>
                    <a:srgbClr val="001E22"/>
                  </a:solidFill>
                  <a:latin typeface="Klein"/>
                  <a:ea typeface="Klein"/>
                  <a:cs typeface="Klein"/>
                  <a:sym typeface="Klein"/>
                </a:rPr>
                <a:t>: To analyze, understand, and improve processes.</a:t>
              </a:r>
            </a:p>
            <a:p>
              <a:pPr marL="0" lvl="0" indent="0" algn="l">
                <a:lnSpc>
                  <a:spcPts val="2880"/>
                </a:lnSpc>
              </a:pPr>
              <a:endParaRPr lang="en-US" sz="3499">
                <a:solidFill>
                  <a:srgbClr val="001E22"/>
                </a:solidFill>
                <a:latin typeface="Klein"/>
                <a:ea typeface="Klein"/>
                <a:cs typeface="Klein"/>
                <a:sym typeface="Klein"/>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79351" y="5262977"/>
            <a:ext cx="19605781" cy="0"/>
          </a:xfrm>
          <a:prstGeom prst="line">
            <a:avLst/>
          </a:prstGeom>
          <a:ln w="9525" cap="rnd">
            <a:solidFill>
              <a:srgbClr val="6DBAC8"/>
            </a:solidFill>
            <a:prstDash val="solid"/>
            <a:headEnd type="none" w="sm" len="sm"/>
            <a:tailEnd type="none" w="sm" len="sm"/>
          </a:ln>
        </p:spPr>
        <p:txBody>
          <a:bodyPr/>
          <a:lstStyle/>
          <a:p>
            <a:endParaRPr lang="en-US"/>
          </a:p>
        </p:txBody>
      </p:sp>
      <p:sp>
        <p:nvSpPr>
          <p:cNvPr id="3" name="Freeform 3"/>
          <p:cNvSpPr/>
          <p:nvPr/>
        </p:nvSpPr>
        <p:spPr>
          <a:xfrm>
            <a:off x="1007993" y="4977610"/>
            <a:ext cx="610889" cy="589785"/>
          </a:xfrm>
          <a:custGeom>
            <a:avLst/>
            <a:gdLst/>
            <a:ahLst/>
            <a:cxnLst/>
            <a:rect l="l" t="t" r="r" b="b"/>
            <a:pathLst>
              <a:path w="610889" h="589785">
                <a:moveTo>
                  <a:pt x="0" y="0"/>
                </a:moveTo>
                <a:lnTo>
                  <a:pt x="610889" y="0"/>
                </a:lnTo>
                <a:lnTo>
                  <a:pt x="610889" y="589785"/>
                </a:lnTo>
                <a:lnTo>
                  <a:pt x="0" y="5897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5263800" y="4968085"/>
            <a:ext cx="610889" cy="589785"/>
          </a:xfrm>
          <a:custGeom>
            <a:avLst/>
            <a:gdLst/>
            <a:ahLst/>
            <a:cxnLst/>
            <a:rect l="l" t="t" r="r" b="b"/>
            <a:pathLst>
              <a:path w="610889" h="589785">
                <a:moveTo>
                  <a:pt x="0" y="0"/>
                </a:moveTo>
                <a:lnTo>
                  <a:pt x="610889" y="0"/>
                </a:lnTo>
                <a:lnTo>
                  <a:pt x="610889" y="589785"/>
                </a:lnTo>
                <a:lnTo>
                  <a:pt x="0" y="5897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5" name="Freeform 5"/>
          <p:cNvSpPr/>
          <p:nvPr/>
        </p:nvSpPr>
        <p:spPr>
          <a:xfrm>
            <a:off x="9519606" y="4977610"/>
            <a:ext cx="610889" cy="589785"/>
          </a:xfrm>
          <a:custGeom>
            <a:avLst/>
            <a:gdLst/>
            <a:ahLst/>
            <a:cxnLst/>
            <a:rect l="l" t="t" r="r" b="b"/>
            <a:pathLst>
              <a:path w="610889" h="589785">
                <a:moveTo>
                  <a:pt x="0" y="0"/>
                </a:moveTo>
                <a:lnTo>
                  <a:pt x="610889" y="0"/>
                </a:lnTo>
                <a:lnTo>
                  <a:pt x="610889" y="589785"/>
                </a:lnTo>
                <a:lnTo>
                  <a:pt x="0" y="5897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3775413" y="4977610"/>
            <a:ext cx="610889" cy="589785"/>
          </a:xfrm>
          <a:custGeom>
            <a:avLst/>
            <a:gdLst/>
            <a:ahLst/>
            <a:cxnLst/>
            <a:rect l="l" t="t" r="r" b="b"/>
            <a:pathLst>
              <a:path w="610889" h="589785">
                <a:moveTo>
                  <a:pt x="0" y="0"/>
                </a:moveTo>
                <a:lnTo>
                  <a:pt x="610888" y="0"/>
                </a:lnTo>
                <a:lnTo>
                  <a:pt x="610888" y="589785"/>
                </a:lnTo>
                <a:lnTo>
                  <a:pt x="0" y="58978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1028700" y="1785320"/>
            <a:ext cx="15448918" cy="1000125"/>
          </a:xfrm>
          <a:prstGeom prst="rect">
            <a:avLst/>
          </a:prstGeom>
        </p:spPr>
        <p:txBody>
          <a:bodyPr lIns="0" tIns="0" rIns="0" bIns="0" rtlCol="0" anchor="t">
            <a:spAutoFit/>
          </a:bodyPr>
          <a:lstStyle/>
          <a:p>
            <a:pPr marL="0" lvl="0" indent="0" algn="l">
              <a:lnSpc>
                <a:spcPts val="7800"/>
              </a:lnSpc>
              <a:spcBef>
                <a:spcPct val="0"/>
              </a:spcBef>
            </a:pPr>
            <a:r>
              <a:rPr lang="en-US" sz="6500" b="1">
                <a:solidFill>
                  <a:srgbClr val="001E22"/>
                </a:solidFill>
                <a:latin typeface="Klein Heavy"/>
                <a:ea typeface="Klein Heavy"/>
                <a:cs typeface="Klein Heavy"/>
                <a:sym typeface="Klein Heavy"/>
              </a:rPr>
              <a:t>Unlocking</a:t>
            </a:r>
            <a:r>
              <a:rPr lang="en-US" sz="6500">
                <a:solidFill>
                  <a:srgbClr val="001E22"/>
                </a:solidFill>
                <a:latin typeface="Klein"/>
                <a:ea typeface="Klein"/>
                <a:cs typeface="Klein"/>
                <a:sym typeface="Klein"/>
              </a:rPr>
              <a:t> Process Mapping Benefits</a:t>
            </a:r>
          </a:p>
        </p:txBody>
      </p:sp>
      <p:grpSp>
        <p:nvGrpSpPr>
          <p:cNvPr id="8" name="Group 8"/>
          <p:cNvGrpSpPr/>
          <p:nvPr/>
        </p:nvGrpSpPr>
        <p:grpSpPr>
          <a:xfrm>
            <a:off x="1007993" y="6120766"/>
            <a:ext cx="3463181" cy="2148905"/>
            <a:chOff x="0" y="0"/>
            <a:chExt cx="4617574" cy="2865206"/>
          </a:xfrm>
        </p:grpSpPr>
        <p:sp>
          <p:nvSpPr>
            <p:cNvPr id="9" name="TextBox 9"/>
            <p:cNvSpPr txBox="1"/>
            <p:nvPr/>
          </p:nvSpPr>
          <p:spPr>
            <a:xfrm>
              <a:off x="0" y="-9525"/>
              <a:ext cx="4617574" cy="1127125"/>
            </a:xfrm>
            <a:prstGeom prst="rect">
              <a:avLst/>
            </a:prstGeom>
          </p:spPr>
          <p:txBody>
            <a:bodyPr lIns="0" tIns="0" rIns="0" bIns="0" rtlCol="0" anchor="t">
              <a:spAutoFit/>
            </a:bodyPr>
            <a:lstStyle/>
            <a:p>
              <a:pPr marL="0" lvl="0" indent="0" algn="l">
                <a:lnSpc>
                  <a:spcPts val="3359"/>
                </a:lnSpc>
                <a:spcBef>
                  <a:spcPct val="0"/>
                </a:spcBef>
              </a:pPr>
              <a:r>
                <a:rPr lang="en-US" sz="2799" b="1" u="none">
                  <a:solidFill>
                    <a:srgbClr val="001E22"/>
                  </a:solidFill>
                  <a:latin typeface="Klein Bold"/>
                  <a:ea typeface="Klein Bold"/>
                  <a:cs typeface="Klein Bold"/>
                  <a:sym typeface="Klein Bold"/>
                </a:rPr>
                <a:t>Enhanced Team Communication</a:t>
              </a:r>
            </a:p>
          </p:txBody>
        </p:sp>
        <p:sp>
          <p:nvSpPr>
            <p:cNvPr id="10" name="TextBox 10"/>
            <p:cNvSpPr txBox="1"/>
            <p:nvPr/>
          </p:nvSpPr>
          <p:spPr>
            <a:xfrm>
              <a:off x="0" y="1329988"/>
              <a:ext cx="4617574" cy="1535218"/>
            </a:xfrm>
            <a:prstGeom prst="rect">
              <a:avLst/>
            </a:prstGeom>
          </p:spPr>
          <p:txBody>
            <a:bodyPr lIns="0" tIns="0" rIns="0" bIns="0" rtlCol="0" anchor="t">
              <a:spAutoFit/>
            </a:bodyPr>
            <a:lstStyle/>
            <a:p>
              <a:pPr marL="0" lvl="0" indent="0" algn="l">
                <a:lnSpc>
                  <a:spcPts val="3080"/>
                </a:lnSpc>
                <a:spcBef>
                  <a:spcPct val="0"/>
                </a:spcBef>
              </a:pPr>
              <a:r>
                <a:rPr lang="en-US" sz="2200" b="1" u="none">
                  <a:solidFill>
                    <a:srgbClr val="001E22"/>
                  </a:solidFill>
                  <a:latin typeface="Klein Heavy"/>
                  <a:ea typeface="Klein Heavy"/>
                  <a:cs typeface="Klein Heavy"/>
                  <a:sym typeface="Klein Heavy"/>
                </a:rPr>
                <a:t>Improves clarity</a:t>
              </a:r>
              <a:r>
                <a:rPr lang="en-US" sz="2200" u="none">
                  <a:solidFill>
                    <a:srgbClr val="001E22"/>
                  </a:solidFill>
                  <a:latin typeface="Klein"/>
                  <a:ea typeface="Klein"/>
                  <a:cs typeface="Klein"/>
                  <a:sym typeface="Klein"/>
                </a:rPr>
                <a:t> and reduces misunderstandings</a:t>
              </a:r>
            </a:p>
          </p:txBody>
        </p:sp>
      </p:grpSp>
      <p:grpSp>
        <p:nvGrpSpPr>
          <p:cNvPr id="11" name="Group 11"/>
          <p:cNvGrpSpPr/>
          <p:nvPr/>
        </p:nvGrpSpPr>
        <p:grpSpPr>
          <a:xfrm>
            <a:off x="5263800" y="6120766"/>
            <a:ext cx="3463181" cy="2177480"/>
            <a:chOff x="0" y="0"/>
            <a:chExt cx="4617574" cy="2903306"/>
          </a:xfrm>
        </p:grpSpPr>
        <p:sp>
          <p:nvSpPr>
            <p:cNvPr id="12" name="TextBox 12"/>
            <p:cNvSpPr txBox="1"/>
            <p:nvPr/>
          </p:nvSpPr>
          <p:spPr>
            <a:xfrm>
              <a:off x="0" y="-9525"/>
              <a:ext cx="4617574" cy="1685925"/>
            </a:xfrm>
            <a:prstGeom prst="rect">
              <a:avLst/>
            </a:prstGeom>
          </p:spPr>
          <p:txBody>
            <a:bodyPr lIns="0" tIns="0" rIns="0" bIns="0" rtlCol="0" anchor="t">
              <a:spAutoFit/>
            </a:bodyPr>
            <a:lstStyle/>
            <a:p>
              <a:pPr marL="0" lvl="0" indent="0" algn="l">
                <a:lnSpc>
                  <a:spcPts val="3359"/>
                </a:lnSpc>
                <a:spcBef>
                  <a:spcPct val="0"/>
                </a:spcBef>
              </a:pPr>
              <a:r>
                <a:rPr lang="en-US" sz="2799" b="1" u="none">
                  <a:solidFill>
                    <a:srgbClr val="001E22"/>
                  </a:solidFill>
                  <a:latin typeface="Klein Bold"/>
                  <a:ea typeface="Klein Bold"/>
                  <a:cs typeface="Klein Bold"/>
                  <a:sym typeface="Klein Bold"/>
                </a:rPr>
                <a:t>Increased Operational Efficiency</a:t>
              </a:r>
            </a:p>
          </p:txBody>
        </p:sp>
        <p:sp>
          <p:nvSpPr>
            <p:cNvPr id="13" name="TextBox 13"/>
            <p:cNvSpPr txBox="1"/>
            <p:nvPr/>
          </p:nvSpPr>
          <p:spPr>
            <a:xfrm>
              <a:off x="0" y="1888788"/>
              <a:ext cx="4617574" cy="1014518"/>
            </a:xfrm>
            <a:prstGeom prst="rect">
              <a:avLst/>
            </a:prstGeom>
          </p:spPr>
          <p:txBody>
            <a:bodyPr lIns="0" tIns="0" rIns="0" bIns="0" rtlCol="0" anchor="t">
              <a:spAutoFit/>
            </a:bodyPr>
            <a:lstStyle/>
            <a:p>
              <a:pPr marL="0" lvl="0" indent="0" algn="l">
                <a:lnSpc>
                  <a:spcPts val="3080"/>
                </a:lnSpc>
                <a:spcBef>
                  <a:spcPct val="0"/>
                </a:spcBef>
              </a:pPr>
              <a:r>
                <a:rPr lang="en-US" sz="2200" b="1" u="none">
                  <a:solidFill>
                    <a:srgbClr val="001E22"/>
                  </a:solidFill>
                  <a:latin typeface="Klein Heavy"/>
                  <a:ea typeface="Klein Heavy"/>
                  <a:cs typeface="Klein Heavy"/>
                  <a:sym typeface="Klein Heavy"/>
                </a:rPr>
                <a:t>Streamlines workflows</a:t>
              </a:r>
              <a:r>
                <a:rPr lang="en-US" sz="2200" u="none">
                  <a:solidFill>
                    <a:srgbClr val="001E22"/>
                  </a:solidFill>
                  <a:latin typeface="Klein"/>
                  <a:ea typeface="Klein"/>
                  <a:cs typeface="Klein"/>
                  <a:sym typeface="Klein"/>
                </a:rPr>
                <a:t> and saves time</a:t>
              </a:r>
            </a:p>
          </p:txBody>
        </p:sp>
      </p:grpSp>
      <p:grpSp>
        <p:nvGrpSpPr>
          <p:cNvPr id="14" name="Group 14"/>
          <p:cNvGrpSpPr/>
          <p:nvPr/>
        </p:nvGrpSpPr>
        <p:grpSpPr>
          <a:xfrm>
            <a:off x="9519606" y="6120766"/>
            <a:ext cx="3463181" cy="1758380"/>
            <a:chOff x="0" y="0"/>
            <a:chExt cx="4617574" cy="2344506"/>
          </a:xfrm>
        </p:grpSpPr>
        <p:sp>
          <p:nvSpPr>
            <p:cNvPr id="15" name="TextBox 15"/>
            <p:cNvSpPr txBox="1"/>
            <p:nvPr/>
          </p:nvSpPr>
          <p:spPr>
            <a:xfrm>
              <a:off x="0" y="-9525"/>
              <a:ext cx="4617574" cy="1127125"/>
            </a:xfrm>
            <a:prstGeom prst="rect">
              <a:avLst/>
            </a:prstGeom>
          </p:spPr>
          <p:txBody>
            <a:bodyPr lIns="0" tIns="0" rIns="0" bIns="0" rtlCol="0" anchor="t">
              <a:spAutoFit/>
            </a:bodyPr>
            <a:lstStyle/>
            <a:p>
              <a:pPr marL="0" lvl="0" indent="0" algn="l">
                <a:lnSpc>
                  <a:spcPts val="3359"/>
                </a:lnSpc>
                <a:spcBef>
                  <a:spcPct val="0"/>
                </a:spcBef>
              </a:pPr>
              <a:r>
                <a:rPr lang="en-US" sz="2799" b="1" u="none">
                  <a:solidFill>
                    <a:srgbClr val="001E22"/>
                  </a:solidFill>
                  <a:latin typeface="Klein Bold"/>
                  <a:ea typeface="Klein Bold"/>
                  <a:cs typeface="Klein Bold"/>
                  <a:sym typeface="Klein Bold"/>
                </a:rPr>
                <a:t>Better Regulatory Compliance</a:t>
              </a:r>
            </a:p>
          </p:txBody>
        </p:sp>
        <p:sp>
          <p:nvSpPr>
            <p:cNvPr id="16" name="TextBox 16"/>
            <p:cNvSpPr txBox="1"/>
            <p:nvPr/>
          </p:nvSpPr>
          <p:spPr>
            <a:xfrm>
              <a:off x="0" y="1329988"/>
              <a:ext cx="4617574" cy="1014518"/>
            </a:xfrm>
            <a:prstGeom prst="rect">
              <a:avLst/>
            </a:prstGeom>
          </p:spPr>
          <p:txBody>
            <a:bodyPr lIns="0" tIns="0" rIns="0" bIns="0" rtlCol="0" anchor="t">
              <a:spAutoFit/>
            </a:bodyPr>
            <a:lstStyle/>
            <a:p>
              <a:pPr marL="0" lvl="0" indent="0" algn="l">
                <a:lnSpc>
                  <a:spcPts val="3080"/>
                </a:lnSpc>
                <a:spcBef>
                  <a:spcPct val="0"/>
                </a:spcBef>
              </a:pPr>
              <a:r>
                <a:rPr lang="en-US" sz="2200" b="1" u="none">
                  <a:solidFill>
                    <a:srgbClr val="001E22"/>
                  </a:solidFill>
                  <a:latin typeface="Klein Heavy"/>
                  <a:ea typeface="Klein Heavy"/>
                  <a:cs typeface="Klein Heavy"/>
                  <a:sym typeface="Klein Heavy"/>
                </a:rPr>
                <a:t>Ensures adherence</a:t>
              </a:r>
              <a:r>
                <a:rPr lang="en-US" sz="2200" u="none">
                  <a:solidFill>
                    <a:srgbClr val="001E22"/>
                  </a:solidFill>
                  <a:latin typeface="Klein"/>
                  <a:ea typeface="Klein"/>
                  <a:cs typeface="Klein"/>
                  <a:sym typeface="Klein"/>
                </a:rPr>
                <a:t> to necessary standards</a:t>
              </a:r>
            </a:p>
          </p:txBody>
        </p:sp>
      </p:grpSp>
      <p:grpSp>
        <p:nvGrpSpPr>
          <p:cNvPr id="17" name="Group 17"/>
          <p:cNvGrpSpPr/>
          <p:nvPr/>
        </p:nvGrpSpPr>
        <p:grpSpPr>
          <a:xfrm>
            <a:off x="13775413" y="6120766"/>
            <a:ext cx="3463181" cy="2568005"/>
            <a:chOff x="0" y="0"/>
            <a:chExt cx="4617574" cy="3424006"/>
          </a:xfrm>
        </p:grpSpPr>
        <p:sp>
          <p:nvSpPr>
            <p:cNvPr id="18" name="TextBox 18"/>
            <p:cNvSpPr txBox="1"/>
            <p:nvPr/>
          </p:nvSpPr>
          <p:spPr>
            <a:xfrm>
              <a:off x="0" y="-9525"/>
              <a:ext cx="4617574" cy="1685925"/>
            </a:xfrm>
            <a:prstGeom prst="rect">
              <a:avLst/>
            </a:prstGeom>
          </p:spPr>
          <p:txBody>
            <a:bodyPr lIns="0" tIns="0" rIns="0" bIns="0" rtlCol="0" anchor="t">
              <a:spAutoFit/>
            </a:bodyPr>
            <a:lstStyle/>
            <a:p>
              <a:pPr marL="0" lvl="0" indent="0" algn="l">
                <a:lnSpc>
                  <a:spcPts val="3359"/>
                </a:lnSpc>
                <a:spcBef>
                  <a:spcPct val="0"/>
                </a:spcBef>
              </a:pPr>
              <a:r>
                <a:rPr lang="en-US" sz="2799" b="1" u="none">
                  <a:solidFill>
                    <a:srgbClr val="001E22"/>
                  </a:solidFill>
                  <a:latin typeface="Klein Bold"/>
                  <a:ea typeface="Klein Bold"/>
                  <a:cs typeface="Klein Bold"/>
                  <a:sym typeface="Klein Bold"/>
                </a:rPr>
                <a:t>Continuous Process Improvement</a:t>
              </a:r>
            </a:p>
          </p:txBody>
        </p:sp>
        <p:sp>
          <p:nvSpPr>
            <p:cNvPr id="19" name="TextBox 19"/>
            <p:cNvSpPr txBox="1"/>
            <p:nvPr/>
          </p:nvSpPr>
          <p:spPr>
            <a:xfrm>
              <a:off x="0" y="1888788"/>
              <a:ext cx="4617574" cy="1535218"/>
            </a:xfrm>
            <a:prstGeom prst="rect">
              <a:avLst/>
            </a:prstGeom>
          </p:spPr>
          <p:txBody>
            <a:bodyPr lIns="0" tIns="0" rIns="0" bIns="0" rtlCol="0" anchor="t">
              <a:spAutoFit/>
            </a:bodyPr>
            <a:lstStyle/>
            <a:p>
              <a:pPr marL="0" lvl="0" indent="0" algn="l">
                <a:lnSpc>
                  <a:spcPts val="3080"/>
                </a:lnSpc>
                <a:spcBef>
                  <a:spcPct val="0"/>
                </a:spcBef>
              </a:pPr>
              <a:r>
                <a:rPr lang="en-US" sz="2200" b="1" u="none">
                  <a:solidFill>
                    <a:srgbClr val="001E22"/>
                  </a:solidFill>
                  <a:latin typeface="Klein Heavy"/>
                  <a:ea typeface="Klein Heavy"/>
                  <a:cs typeface="Klein Heavy"/>
                  <a:sym typeface="Klein Heavy"/>
                </a:rPr>
                <a:t>Drives ongoing</a:t>
              </a:r>
              <a:r>
                <a:rPr lang="en-US" sz="2200" u="none">
                  <a:solidFill>
                    <a:srgbClr val="001E22"/>
                  </a:solidFill>
                  <a:latin typeface="Klein"/>
                  <a:ea typeface="Klein"/>
                  <a:cs typeface="Klein"/>
                  <a:sym typeface="Klein"/>
                </a:rPr>
                <a:t> enhancements and innovation</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5928" y="5143500"/>
            <a:ext cx="9165649" cy="4445340"/>
          </a:xfrm>
          <a:custGeom>
            <a:avLst/>
            <a:gdLst/>
            <a:ahLst/>
            <a:cxnLst/>
            <a:rect l="l" t="t" r="r" b="b"/>
            <a:pathLst>
              <a:path w="9165649" h="4445340">
                <a:moveTo>
                  <a:pt x="0" y="0"/>
                </a:moveTo>
                <a:lnTo>
                  <a:pt x="9165648" y="0"/>
                </a:lnTo>
                <a:lnTo>
                  <a:pt x="9165648" y="4445340"/>
                </a:lnTo>
                <a:lnTo>
                  <a:pt x="0" y="4445340"/>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594918" y="732290"/>
            <a:ext cx="6427667" cy="3971925"/>
          </a:xfrm>
          <a:prstGeom prst="rect">
            <a:avLst/>
          </a:prstGeom>
        </p:spPr>
        <p:txBody>
          <a:bodyPr lIns="0" tIns="0" rIns="0" bIns="0" rtlCol="0" anchor="t">
            <a:spAutoFit/>
          </a:bodyPr>
          <a:lstStyle/>
          <a:p>
            <a:pPr marL="0" lvl="0" indent="0" algn="l">
              <a:lnSpc>
                <a:spcPts val="7800"/>
              </a:lnSpc>
            </a:pPr>
            <a:r>
              <a:rPr lang="en-US" sz="6500" b="1">
                <a:solidFill>
                  <a:srgbClr val="001E22"/>
                </a:solidFill>
                <a:latin typeface="Klein Bold"/>
                <a:ea typeface="Klein Bold"/>
                <a:cs typeface="Klein Bold"/>
                <a:sym typeface="Klein Bold"/>
              </a:rPr>
              <a:t>Key Components </a:t>
            </a:r>
            <a:r>
              <a:rPr lang="en-US" sz="6500">
                <a:solidFill>
                  <a:srgbClr val="001E22"/>
                </a:solidFill>
                <a:latin typeface="Klein"/>
                <a:ea typeface="Klein"/>
                <a:cs typeface="Klein"/>
                <a:sym typeface="Klein"/>
              </a:rPr>
              <a:t>of a process map</a:t>
            </a:r>
          </a:p>
        </p:txBody>
      </p:sp>
      <p:sp>
        <p:nvSpPr>
          <p:cNvPr id="4" name="TextBox 4"/>
          <p:cNvSpPr txBox="1"/>
          <p:nvPr/>
        </p:nvSpPr>
        <p:spPr>
          <a:xfrm>
            <a:off x="9614803" y="1668821"/>
            <a:ext cx="7644497" cy="7211061"/>
          </a:xfrm>
          <a:prstGeom prst="rect">
            <a:avLst/>
          </a:prstGeom>
        </p:spPr>
        <p:txBody>
          <a:bodyPr lIns="0" tIns="0" rIns="0" bIns="0" rtlCol="0" anchor="t">
            <a:spAutoFit/>
          </a:bodyPr>
          <a:lstStyle/>
          <a:p>
            <a:pPr algn="l">
              <a:lnSpc>
                <a:spcPts val="5739"/>
              </a:lnSpc>
              <a:spcBef>
                <a:spcPct val="0"/>
              </a:spcBef>
            </a:pPr>
            <a:r>
              <a:rPr lang="en-US" sz="4099" b="1">
                <a:solidFill>
                  <a:srgbClr val="001E22"/>
                </a:solidFill>
                <a:latin typeface="Klein Bold"/>
                <a:ea typeface="Klein Bold"/>
                <a:cs typeface="Klein Bold"/>
                <a:sym typeface="Klein Bold"/>
              </a:rPr>
              <a:t>Start/End Points: </a:t>
            </a:r>
            <a:r>
              <a:rPr lang="en-US" sz="4099">
                <a:solidFill>
                  <a:srgbClr val="001E22"/>
                </a:solidFill>
                <a:latin typeface="Klein"/>
                <a:ea typeface="Klein"/>
                <a:cs typeface="Klein"/>
                <a:sym typeface="Klein"/>
              </a:rPr>
              <a:t>Define process boundaries.</a:t>
            </a:r>
          </a:p>
          <a:p>
            <a:pPr algn="l">
              <a:lnSpc>
                <a:spcPts val="5739"/>
              </a:lnSpc>
              <a:spcBef>
                <a:spcPct val="0"/>
              </a:spcBef>
            </a:pPr>
            <a:r>
              <a:rPr lang="en-US" sz="4099" b="1">
                <a:solidFill>
                  <a:srgbClr val="001E22"/>
                </a:solidFill>
                <a:latin typeface="Klein Bold"/>
                <a:ea typeface="Klein Bold"/>
                <a:cs typeface="Klein Bold"/>
                <a:sym typeface="Klein Bold"/>
              </a:rPr>
              <a:t>Tasks/Steps: </a:t>
            </a:r>
            <a:r>
              <a:rPr lang="en-US" sz="4099">
                <a:solidFill>
                  <a:srgbClr val="001E22"/>
                </a:solidFill>
                <a:latin typeface="Klein"/>
                <a:ea typeface="Klein"/>
                <a:cs typeface="Klein"/>
                <a:sym typeface="Klein"/>
              </a:rPr>
              <a:t>Represented by rectangles.</a:t>
            </a:r>
          </a:p>
          <a:p>
            <a:pPr algn="l">
              <a:lnSpc>
                <a:spcPts val="5739"/>
              </a:lnSpc>
              <a:spcBef>
                <a:spcPct val="0"/>
              </a:spcBef>
            </a:pPr>
            <a:r>
              <a:rPr lang="en-US" sz="4099" b="1">
                <a:solidFill>
                  <a:srgbClr val="001E22"/>
                </a:solidFill>
                <a:latin typeface="Klein Bold"/>
                <a:ea typeface="Klein Bold"/>
                <a:cs typeface="Klein Bold"/>
                <a:sym typeface="Klein Bold"/>
              </a:rPr>
              <a:t>Decision Points: </a:t>
            </a:r>
            <a:r>
              <a:rPr lang="en-US" sz="4099">
                <a:solidFill>
                  <a:srgbClr val="001E22"/>
                </a:solidFill>
                <a:latin typeface="Klein"/>
                <a:ea typeface="Klein"/>
                <a:cs typeface="Klein"/>
                <a:sym typeface="Klein"/>
              </a:rPr>
              <a:t>Represented by diamonds.</a:t>
            </a:r>
          </a:p>
          <a:p>
            <a:pPr algn="l">
              <a:lnSpc>
                <a:spcPts val="5739"/>
              </a:lnSpc>
              <a:spcBef>
                <a:spcPct val="0"/>
              </a:spcBef>
            </a:pPr>
            <a:r>
              <a:rPr lang="en-US" sz="4099" b="1">
                <a:solidFill>
                  <a:srgbClr val="001E22"/>
                </a:solidFill>
                <a:latin typeface="Klein Bold"/>
                <a:ea typeface="Klein Bold"/>
                <a:cs typeface="Klein Bold"/>
                <a:sym typeface="Klein Bold"/>
              </a:rPr>
              <a:t>Arrows</a:t>
            </a:r>
            <a:r>
              <a:rPr lang="en-US" sz="4099">
                <a:solidFill>
                  <a:srgbClr val="001E22"/>
                </a:solidFill>
                <a:latin typeface="Klein"/>
                <a:ea typeface="Klein"/>
                <a:cs typeface="Klein"/>
                <a:sym typeface="Klein"/>
              </a:rPr>
              <a:t>: Show the flow of tasks.</a:t>
            </a:r>
          </a:p>
          <a:p>
            <a:pPr algn="l">
              <a:lnSpc>
                <a:spcPts val="5739"/>
              </a:lnSpc>
              <a:spcBef>
                <a:spcPct val="0"/>
              </a:spcBef>
            </a:pPr>
            <a:r>
              <a:rPr lang="en-US" sz="4099" b="1">
                <a:solidFill>
                  <a:srgbClr val="001E22"/>
                </a:solidFill>
                <a:latin typeface="Klein Bold"/>
                <a:ea typeface="Klein Bold"/>
                <a:cs typeface="Klein Bold"/>
                <a:sym typeface="Klein Bold"/>
              </a:rPr>
              <a:t>Roles/Actors:</a:t>
            </a:r>
            <a:r>
              <a:rPr lang="en-US" sz="4099">
                <a:solidFill>
                  <a:srgbClr val="001E22"/>
                </a:solidFill>
                <a:latin typeface="Klein"/>
                <a:ea typeface="Klein"/>
                <a:cs typeface="Klein"/>
                <a:sym typeface="Klein"/>
              </a:rPr>
              <a:t> Who performs each step.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3060256">
            <a:off x="10564322" y="1474599"/>
            <a:ext cx="5348243" cy="7003652"/>
          </a:xfrm>
          <a:custGeom>
            <a:avLst/>
            <a:gdLst/>
            <a:ahLst/>
            <a:cxnLst/>
            <a:rect l="l" t="t" r="r" b="b"/>
            <a:pathLst>
              <a:path w="5348243" h="7003652">
                <a:moveTo>
                  <a:pt x="0" y="0"/>
                </a:moveTo>
                <a:lnTo>
                  <a:pt x="5348243" y="0"/>
                </a:lnTo>
                <a:lnTo>
                  <a:pt x="5348243" y="7003651"/>
                </a:lnTo>
                <a:lnTo>
                  <a:pt x="0" y="70036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4640253">
            <a:off x="13933282" y="6040110"/>
            <a:ext cx="1283788" cy="2451679"/>
          </a:xfrm>
          <a:custGeom>
            <a:avLst/>
            <a:gdLst/>
            <a:ahLst/>
            <a:cxnLst/>
            <a:rect l="l" t="t" r="r" b="b"/>
            <a:pathLst>
              <a:path w="1283788" h="2451679">
                <a:moveTo>
                  <a:pt x="0" y="0"/>
                </a:moveTo>
                <a:lnTo>
                  <a:pt x="1283788" y="0"/>
                </a:lnTo>
                <a:lnTo>
                  <a:pt x="1283788" y="2451679"/>
                </a:lnTo>
                <a:lnTo>
                  <a:pt x="0" y="245167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14137432" y="1723806"/>
            <a:ext cx="1608780" cy="1623539"/>
          </a:xfrm>
          <a:custGeom>
            <a:avLst/>
            <a:gdLst/>
            <a:ahLst/>
            <a:cxnLst/>
            <a:rect l="l" t="t" r="r" b="b"/>
            <a:pathLst>
              <a:path w="1608780" h="1623539">
                <a:moveTo>
                  <a:pt x="0" y="0"/>
                </a:moveTo>
                <a:lnTo>
                  <a:pt x="1608780" y="0"/>
                </a:lnTo>
                <a:lnTo>
                  <a:pt x="1608780" y="1623539"/>
                </a:lnTo>
                <a:lnTo>
                  <a:pt x="0" y="162353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grpSp>
        <p:nvGrpSpPr>
          <p:cNvPr id="5" name="Group 5"/>
          <p:cNvGrpSpPr/>
          <p:nvPr/>
        </p:nvGrpSpPr>
        <p:grpSpPr>
          <a:xfrm>
            <a:off x="1505800" y="1742634"/>
            <a:ext cx="7433046" cy="2255383"/>
            <a:chOff x="0" y="0"/>
            <a:chExt cx="9910728" cy="3007177"/>
          </a:xfrm>
        </p:grpSpPr>
        <p:sp>
          <p:nvSpPr>
            <p:cNvPr id="6" name="TextBox 6"/>
            <p:cNvSpPr txBox="1"/>
            <p:nvPr/>
          </p:nvSpPr>
          <p:spPr>
            <a:xfrm>
              <a:off x="0" y="2603952"/>
              <a:ext cx="9910728" cy="403225"/>
            </a:xfrm>
            <a:prstGeom prst="rect">
              <a:avLst/>
            </a:prstGeom>
          </p:spPr>
          <p:txBody>
            <a:bodyPr lIns="0" tIns="0" rIns="0" bIns="0" rtlCol="0" anchor="t">
              <a:spAutoFit/>
            </a:bodyPr>
            <a:lstStyle/>
            <a:p>
              <a:pPr marL="0" lvl="0" indent="0" algn="l">
                <a:lnSpc>
                  <a:spcPts val="2351"/>
                </a:lnSpc>
              </a:pPr>
              <a:endParaRPr/>
            </a:p>
          </p:txBody>
        </p:sp>
        <p:sp>
          <p:nvSpPr>
            <p:cNvPr id="7" name="TextBox 7"/>
            <p:cNvSpPr txBox="1"/>
            <p:nvPr/>
          </p:nvSpPr>
          <p:spPr>
            <a:xfrm>
              <a:off x="0" y="-9525"/>
              <a:ext cx="9910728" cy="2143125"/>
            </a:xfrm>
            <a:prstGeom prst="rect">
              <a:avLst/>
            </a:prstGeom>
          </p:spPr>
          <p:txBody>
            <a:bodyPr lIns="0" tIns="0" rIns="0" bIns="0" rtlCol="0" anchor="t">
              <a:spAutoFit/>
            </a:bodyPr>
            <a:lstStyle/>
            <a:p>
              <a:pPr marL="0" lvl="0" indent="0" algn="l">
                <a:lnSpc>
                  <a:spcPts val="6369"/>
                </a:lnSpc>
                <a:spcBef>
                  <a:spcPct val="0"/>
                </a:spcBef>
              </a:pPr>
              <a:r>
                <a:rPr lang="en-US" sz="5307" b="1">
                  <a:solidFill>
                    <a:srgbClr val="001E22"/>
                  </a:solidFill>
                  <a:latin typeface="Klein Bold"/>
                  <a:ea typeface="Klein Bold"/>
                  <a:cs typeface="Klein Bold"/>
                  <a:sym typeface="Klein Bold"/>
                </a:rPr>
                <a:t>Steps </a:t>
              </a:r>
              <a:r>
                <a:rPr lang="en-US" sz="5307">
                  <a:solidFill>
                    <a:srgbClr val="001E22"/>
                  </a:solidFill>
                  <a:latin typeface="Klein"/>
                  <a:ea typeface="Klein"/>
                  <a:cs typeface="Klein"/>
                  <a:sym typeface="Klein"/>
                </a:rPr>
                <a:t>to create a process map</a:t>
              </a:r>
            </a:p>
          </p:txBody>
        </p:sp>
      </p:grpSp>
      <p:sp>
        <p:nvSpPr>
          <p:cNvPr id="8" name="TextBox 8"/>
          <p:cNvSpPr txBox="1"/>
          <p:nvPr/>
        </p:nvSpPr>
        <p:spPr>
          <a:xfrm>
            <a:off x="1505800" y="3928109"/>
            <a:ext cx="14768116" cy="4901342"/>
          </a:xfrm>
          <a:prstGeom prst="rect">
            <a:avLst/>
          </a:prstGeom>
        </p:spPr>
        <p:txBody>
          <a:bodyPr lIns="0" tIns="0" rIns="0" bIns="0" rtlCol="0" anchor="t">
            <a:spAutoFit/>
          </a:bodyPr>
          <a:lstStyle/>
          <a:p>
            <a:pPr algn="l">
              <a:lnSpc>
                <a:spcPts val="4759"/>
              </a:lnSpc>
              <a:spcBef>
                <a:spcPct val="0"/>
              </a:spcBef>
            </a:pPr>
            <a:r>
              <a:rPr lang="en-US" sz="4000" b="1" dirty="0">
                <a:solidFill>
                  <a:srgbClr val="001E22"/>
                </a:solidFill>
                <a:latin typeface="Klein Bold"/>
                <a:ea typeface="Klein Bold"/>
                <a:cs typeface="Klein Bold"/>
                <a:sym typeface="Klein Bold"/>
              </a:rPr>
              <a:t>□ </a:t>
            </a:r>
            <a:r>
              <a:rPr lang="en-US" sz="3399" b="1" dirty="0">
                <a:solidFill>
                  <a:srgbClr val="001E22"/>
                </a:solidFill>
                <a:latin typeface="Klein Bold"/>
                <a:ea typeface="Klein Bold"/>
                <a:cs typeface="Klein Bold"/>
                <a:sym typeface="Klein Bold"/>
              </a:rPr>
              <a:t>Define Objectives</a:t>
            </a:r>
            <a:r>
              <a:rPr lang="en-US" sz="3399" dirty="0">
                <a:solidFill>
                  <a:srgbClr val="001E22"/>
                </a:solidFill>
                <a:latin typeface="Klein"/>
                <a:ea typeface="Klein"/>
                <a:cs typeface="Klein"/>
                <a:sym typeface="Klein"/>
              </a:rPr>
              <a:t>: Understand the purpose of mapping.</a:t>
            </a:r>
          </a:p>
          <a:p>
            <a:pPr algn="l">
              <a:lnSpc>
                <a:spcPts val="4759"/>
              </a:lnSpc>
              <a:spcBef>
                <a:spcPct val="0"/>
              </a:spcBef>
            </a:pPr>
            <a:r>
              <a:rPr lang="en-US" sz="3600" b="1" dirty="0">
                <a:solidFill>
                  <a:srgbClr val="001E22"/>
                </a:solidFill>
                <a:latin typeface="Klein Bold"/>
                <a:ea typeface="Klein Bold"/>
                <a:cs typeface="Klein Bold"/>
                <a:sym typeface="Klein Bold"/>
              </a:rPr>
              <a:t>□ </a:t>
            </a:r>
            <a:r>
              <a:rPr lang="en-US" sz="3399" b="1" dirty="0">
                <a:solidFill>
                  <a:srgbClr val="001E22"/>
                </a:solidFill>
                <a:latin typeface="Klein Bold"/>
                <a:ea typeface="Klein Bold"/>
                <a:cs typeface="Klein Bold"/>
                <a:sym typeface="Klein Bold"/>
              </a:rPr>
              <a:t>Gather Information</a:t>
            </a:r>
            <a:r>
              <a:rPr lang="en-US" sz="3399" dirty="0">
                <a:solidFill>
                  <a:srgbClr val="001E22"/>
                </a:solidFill>
                <a:latin typeface="Klein"/>
                <a:ea typeface="Klein"/>
                <a:cs typeface="Klein"/>
                <a:sym typeface="Klein"/>
              </a:rPr>
              <a:t>: Interview stakeholders and observe workflows.</a:t>
            </a:r>
          </a:p>
          <a:p>
            <a:pPr algn="l">
              <a:lnSpc>
                <a:spcPts val="4759"/>
              </a:lnSpc>
              <a:spcBef>
                <a:spcPct val="0"/>
              </a:spcBef>
            </a:pPr>
            <a:r>
              <a:rPr lang="en-US" sz="3600" b="1" dirty="0">
                <a:solidFill>
                  <a:srgbClr val="001E22"/>
                </a:solidFill>
                <a:latin typeface="Klein Bold"/>
                <a:ea typeface="Klein Bold"/>
                <a:cs typeface="Klein Bold"/>
                <a:sym typeface="Klein Bold"/>
              </a:rPr>
              <a:t>□ </a:t>
            </a:r>
            <a:r>
              <a:rPr lang="en-US" sz="3399" b="1" dirty="0">
                <a:solidFill>
                  <a:srgbClr val="001E22"/>
                </a:solidFill>
                <a:latin typeface="Klein Bold"/>
                <a:ea typeface="Klein Bold"/>
                <a:cs typeface="Klein Bold"/>
                <a:sym typeface="Klein Bold"/>
              </a:rPr>
              <a:t>Outline Steps</a:t>
            </a:r>
            <a:r>
              <a:rPr lang="en-US" sz="3399" dirty="0">
                <a:solidFill>
                  <a:srgbClr val="001E22"/>
                </a:solidFill>
                <a:latin typeface="Klein"/>
                <a:ea typeface="Klein"/>
                <a:cs typeface="Klein"/>
                <a:sym typeface="Klein"/>
              </a:rPr>
              <a:t>: List all tasks, decisions, and inputs.</a:t>
            </a:r>
          </a:p>
          <a:p>
            <a:pPr algn="l">
              <a:lnSpc>
                <a:spcPts val="4759"/>
              </a:lnSpc>
              <a:spcBef>
                <a:spcPct val="0"/>
              </a:spcBef>
            </a:pPr>
            <a:r>
              <a:rPr lang="en-US" sz="3600" b="1" dirty="0">
                <a:solidFill>
                  <a:srgbClr val="001E22"/>
                </a:solidFill>
                <a:latin typeface="Klein Bold"/>
                <a:ea typeface="Klein Bold"/>
                <a:cs typeface="Klein Bold"/>
                <a:sym typeface="Klein Bold"/>
              </a:rPr>
              <a:t>□ </a:t>
            </a:r>
            <a:r>
              <a:rPr lang="en-US" sz="3399" b="1" dirty="0">
                <a:solidFill>
                  <a:srgbClr val="001E22"/>
                </a:solidFill>
                <a:latin typeface="Klein Bold"/>
                <a:ea typeface="Klein Bold"/>
                <a:cs typeface="Klein Bold"/>
                <a:sym typeface="Klein Bold"/>
              </a:rPr>
              <a:t>Choose a Format</a:t>
            </a:r>
            <a:r>
              <a:rPr lang="en-US" sz="3399" dirty="0">
                <a:solidFill>
                  <a:srgbClr val="001E22"/>
                </a:solidFill>
                <a:latin typeface="Klein"/>
                <a:ea typeface="Klein"/>
                <a:cs typeface="Klein"/>
                <a:sym typeface="Klein"/>
              </a:rPr>
              <a:t>: Select the appropriate type of process map.</a:t>
            </a:r>
          </a:p>
          <a:p>
            <a:pPr algn="l">
              <a:lnSpc>
                <a:spcPts val="4759"/>
              </a:lnSpc>
              <a:spcBef>
                <a:spcPct val="0"/>
              </a:spcBef>
            </a:pPr>
            <a:r>
              <a:rPr lang="en-US" sz="3600" b="1" dirty="0">
                <a:solidFill>
                  <a:srgbClr val="001E22"/>
                </a:solidFill>
                <a:latin typeface="Klein Bold"/>
                <a:ea typeface="Klein Bold"/>
                <a:cs typeface="Klein Bold"/>
                <a:sym typeface="Klein Bold"/>
              </a:rPr>
              <a:t>□ </a:t>
            </a:r>
            <a:r>
              <a:rPr lang="en-US" sz="3399" b="1" dirty="0">
                <a:solidFill>
                  <a:srgbClr val="001E22"/>
                </a:solidFill>
                <a:latin typeface="Klein Bold"/>
                <a:ea typeface="Klein Bold"/>
                <a:cs typeface="Klein Bold"/>
                <a:sym typeface="Klein Bold"/>
              </a:rPr>
              <a:t>Draw the Map</a:t>
            </a:r>
            <a:r>
              <a:rPr lang="en-US" sz="3399" dirty="0">
                <a:solidFill>
                  <a:srgbClr val="001E22"/>
                </a:solidFill>
                <a:latin typeface="Klein"/>
                <a:ea typeface="Klein"/>
                <a:cs typeface="Klein"/>
                <a:sym typeface="Klein"/>
              </a:rPr>
              <a:t>: Use software or pen and paper.</a:t>
            </a:r>
          </a:p>
          <a:p>
            <a:pPr algn="l">
              <a:lnSpc>
                <a:spcPts val="4759"/>
              </a:lnSpc>
              <a:spcBef>
                <a:spcPct val="0"/>
              </a:spcBef>
            </a:pPr>
            <a:r>
              <a:rPr lang="en-US" sz="3600" b="1" dirty="0">
                <a:solidFill>
                  <a:srgbClr val="001E22"/>
                </a:solidFill>
                <a:latin typeface="Klein Bold"/>
                <a:ea typeface="Klein Bold"/>
                <a:cs typeface="Klein Bold"/>
                <a:sym typeface="Klein Bold"/>
              </a:rPr>
              <a:t>□ </a:t>
            </a:r>
            <a:r>
              <a:rPr lang="en-US" sz="3399" b="1" dirty="0">
                <a:solidFill>
                  <a:srgbClr val="001E22"/>
                </a:solidFill>
                <a:latin typeface="Klein Bold"/>
                <a:ea typeface="Klein Bold"/>
                <a:cs typeface="Klein Bold"/>
                <a:sym typeface="Klein Bold"/>
              </a:rPr>
              <a:t>Validate</a:t>
            </a:r>
            <a:r>
              <a:rPr lang="en-US" sz="3399" dirty="0">
                <a:solidFill>
                  <a:srgbClr val="001E22"/>
                </a:solidFill>
                <a:latin typeface="Klein"/>
                <a:ea typeface="Klein"/>
                <a:cs typeface="Klein"/>
                <a:sym typeface="Klein"/>
              </a:rPr>
              <a:t>: Review with stakeholders for accuracy.</a:t>
            </a:r>
          </a:p>
          <a:p>
            <a:pPr algn="l">
              <a:lnSpc>
                <a:spcPts val="4759"/>
              </a:lnSpc>
              <a:spcBef>
                <a:spcPct val="0"/>
              </a:spcBef>
            </a:pPr>
            <a:r>
              <a:rPr lang="en-US" sz="3600" b="1" dirty="0">
                <a:solidFill>
                  <a:srgbClr val="001E22"/>
                </a:solidFill>
                <a:latin typeface="Klein Bold"/>
                <a:ea typeface="Klein Bold"/>
                <a:cs typeface="Klein Bold"/>
                <a:sym typeface="Klein Bold"/>
              </a:rPr>
              <a:t>□ </a:t>
            </a:r>
            <a:r>
              <a:rPr lang="en-US" sz="3399" b="1" dirty="0">
                <a:solidFill>
                  <a:srgbClr val="001E22"/>
                </a:solidFill>
                <a:latin typeface="Klein Bold"/>
                <a:ea typeface="Klein Bold"/>
                <a:cs typeface="Klein Bold"/>
                <a:sym typeface="Klein Bold"/>
              </a:rPr>
              <a:t>Analyze and Improve</a:t>
            </a:r>
            <a:r>
              <a:rPr lang="en-US" sz="3399" dirty="0">
                <a:solidFill>
                  <a:srgbClr val="001E22"/>
                </a:solidFill>
                <a:latin typeface="Klein"/>
                <a:ea typeface="Klein"/>
                <a:cs typeface="Klein"/>
                <a:sym typeface="Klein"/>
              </a:rPr>
              <a:t>: Identify areas for optimization.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3826179">
            <a:off x="13279473" y="5093858"/>
            <a:ext cx="5684130" cy="10386285"/>
          </a:xfrm>
          <a:custGeom>
            <a:avLst/>
            <a:gdLst/>
            <a:ahLst/>
            <a:cxnLst/>
            <a:rect l="l" t="t" r="r" b="b"/>
            <a:pathLst>
              <a:path w="5684130" h="10386285">
                <a:moveTo>
                  <a:pt x="0" y="0"/>
                </a:moveTo>
                <a:lnTo>
                  <a:pt x="5684130" y="0"/>
                </a:lnTo>
                <a:lnTo>
                  <a:pt x="5684130" y="10386284"/>
                </a:lnTo>
                <a:lnTo>
                  <a:pt x="0" y="1038628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5572544">
            <a:off x="13983171" y="6968668"/>
            <a:ext cx="1272620" cy="2430351"/>
          </a:xfrm>
          <a:custGeom>
            <a:avLst/>
            <a:gdLst/>
            <a:ahLst/>
            <a:cxnLst/>
            <a:rect l="l" t="t" r="r" b="b"/>
            <a:pathLst>
              <a:path w="1272620" h="2430351">
                <a:moveTo>
                  <a:pt x="0" y="0"/>
                </a:moveTo>
                <a:lnTo>
                  <a:pt x="1272620" y="0"/>
                </a:lnTo>
                <a:lnTo>
                  <a:pt x="1272620" y="2430351"/>
                </a:lnTo>
                <a:lnTo>
                  <a:pt x="0" y="2430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TextBox 4"/>
          <p:cNvSpPr txBox="1"/>
          <p:nvPr/>
        </p:nvSpPr>
        <p:spPr>
          <a:xfrm>
            <a:off x="1028700" y="1019175"/>
            <a:ext cx="12917454" cy="1143000"/>
          </a:xfrm>
          <a:prstGeom prst="rect">
            <a:avLst/>
          </a:prstGeom>
        </p:spPr>
        <p:txBody>
          <a:bodyPr lIns="0" tIns="0" rIns="0" bIns="0" rtlCol="0" anchor="t">
            <a:spAutoFit/>
          </a:bodyPr>
          <a:lstStyle/>
          <a:p>
            <a:pPr marL="0" lvl="0" indent="0" algn="l">
              <a:lnSpc>
                <a:spcPts val="8999"/>
              </a:lnSpc>
              <a:spcBef>
                <a:spcPct val="0"/>
              </a:spcBef>
            </a:pPr>
            <a:r>
              <a:rPr lang="en-US" sz="7499" b="1">
                <a:solidFill>
                  <a:srgbClr val="001E22"/>
                </a:solidFill>
                <a:latin typeface="Klein Bold"/>
                <a:ea typeface="Klein Bold"/>
                <a:cs typeface="Klein Bold"/>
                <a:sym typeface="Klein Bold"/>
              </a:rPr>
              <a:t>Common Pitfalls </a:t>
            </a:r>
            <a:r>
              <a:rPr lang="en-US" sz="7499">
                <a:solidFill>
                  <a:srgbClr val="001E22"/>
                </a:solidFill>
                <a:latin typeface="Klein"/>
                <a:ea typeface="Klein"/>
                <a:cs typeface="Klein"/>
                <a:sym typeface="Klein"/>
              </a:rPr>
              <a:t>to avoid</a:t>
            </a:r>
          </a:p>
        </p:txBody>
      </p:sp>
      <p:sp>
        <p:nvSpPr>
          <p:cNvPr id="5" name="TextBox 5"/>
          <p:cNvSpPr txBox="1"/>
          <p:nvPr/>
        </p:nvSpPr>
        <p:spPr>
          <a:xfrm>
            <a:off x="1028700" y="4256773"/>
            <a:ext cx="14361163" cy="3714750"/>
          </a:xfrm>
          <a:prstGeom prst="rect">
            <a:avLst/>
          </a:prstGeom>
        </p:spPr>
        <p:txBody>
          <a:bodyPr lIns="0" tIns="0" rIns="0" bIns="0" rtlCol="0" anchor="t">
            <a:spAutoFit/>
          </a:bodyPr>
          <a:lstStyle/>
          <a:p>
            <a:pPr marL="885184" lvl="1" indent="-442592" algn="l">
              <a:lnSpc>
                <a:spcPts val="4919"/>
              </a:lnSpc>
              <a:buFont typeface="Arial"/>
              <a:buChar char="•"/>
            </a:pPr>
            <a:r>
              <a:rPr lang="en-US" sz="4099" b="1">
                <a:solidFill>
                  <a:srgbClr val="001E22"/>
                </a:solidFill>
                <a:latin typeface="Klein Bold"/>
                <a:ea typeface="Klein Bold"/>
                <a:cs typeface="Klein Bold"/>
                <a:sym typeface="Klein Bold"/>
              </a:rPr>
              <a:t>Overcomplicating the Map: </a:t>
            </a:r>
            <a:r>
              <a:rPr lang="en-US" sz="4099">
                <a:solidFill>
                  <a:srgbClr val="001E22"/>
                </a:solidFill>
                <a:latin typeface="Klein"/>
                <a:ea typeface="Klein"/>
                <a:cs typeface="Klein"/>
                <a:sym typeface="Klein"/>
              </a:rPr>
              <a:t>Stick to key details.</a:t>
            </a:r>
          </a:p>
          <a:p>
            <a:pPr marL="885184" lvl="1" indent="-442592" algn="l">
              <a:lnSpc>
                <a:spcPts val="4919"/>
              </a:lnSpc>
              <a:buFont typeface="Arial"/>
              <a:buChar char="•"/>
            </a:pPr>
            <a:r>
              <a:rPr lang="en-US" sz="4099" b="1">
                <a:solidFill>
                  <a:srgbClr val="001E22"/>
                </a:solidFill>
                <a:latin typeface="Klein Bold"/>
                <a:ea typeface="Klein Bold"/>
                <a:cs typeface="Klein Bold"/>
                <a:sym typeface="Klein Bold"/>
              </a:rPr>
              <a:t>Lack of Collaboration: </a:t>
            </a:r>
            <a:r>
              <a:rPr lang="en-US" sz="4099">
                <a:solidFill>
                  <a:srgbClr val="001E22"/>
                </a:solidFill>
                <a:latin typeface="Klein"/>
                <a:ea typeface="Klein"/>
                <a:cs typeface="Klein"/>
                <a:sym typeface="Klein"/>
              </a:rPr>
              <a:t>Involve all relevant stakeholders.</a:t>
            </a:r>
          </a:p>
          <a:p>
            <a:pPr marL="885184" lvl="1" indent="-442592" algn="l">
              <a:lnSpc>
                <a:spcPts val="4919"/>
              </a:lnSpc>
              <a:buFont typeface="Arial"/>
              <a:buChar char="•"/>
            </a:pPr>
            <a:r>
              <a:rPr lang="en-US" sz="4099" b="1">
                <a:solidFill>
                  <a:srgbClr val="001E22"/>
                </a:solidFill>
                <a:latin typeface="Klein Bold"/>
                <a:ea typeface="Klein Bold"/>
                <a:cs typeface="Klein Bold"/>
                <a:sym typeface="Klein Bold"/>
              </a:rPr>
              <a:t>Skipping Validation: </a:t>
            </a:r>
            <a:r>
              <a:rPr lang="en-US" sz="4099">
                <a:solidFill>
                  <a:srgbClr val="001E22"/>
                </a:solidFill>
                <a:latin typeface="Klein"/>
                <a:ea typeface="Klein"/>
                <a:cs typeface="Klein"/>
                <a:sym typeface="Klein"/>
              </a:rPr>
              <a:t>Ensure accuracy with reviews.</a:t>
            </a:r>
          </a:p>
          <a:p>
            <a:pPr marL="885184" lvl="1" indent="-442592" algn="l">
              <a:lnSpc>
                <a:spcPts val="4919"/>
              </a:lnSpc>
              <a:buFont typeface="Arial"/>
              <a:buChar char="•"/>
            </a:pPr>
            <a:r>
              <a:rPr lang="en-US" sz="4099" b="1">
                <a:solidFill>
                  <a:srgbClr val="001E22"/>
                </a:solidFill>
                <a:latin typeface="Klein Bold"/>
                <a:ea typeface="Klein Bold"/>
                <a:cs typeface="Klein Bold"/>
                <a:sym typeface="Klein Bold"/>
              </a:rPr>
              <a:t>Ignoring Updates:</a:t>
            </a:r>
            <a:r>
              <a:rPr lang="en-US" sz="4099">
                <a:solidFill>
                  <a:srgbClr val="001E22"/>
                </a:solidFill>
                <a:latin typeface="Klein"/>
                <a:ea typeface="Klein"/>
                <a:cs typeface="Klein"/>
                <a:sym typeface="Klein"/>
              </a:rPr>
              <a:t> Regularly update maps as processes evolve.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3564845"/>
            <a:ext cx="8115300" cy="5406819"/>
          </a:xfrm>
          <a:custGeom>
            <a:avLst/>
            <a:gdLst/>
            <a:ahLst/>
            <a:cxnLst/>
            <a:rect l="l" t="t" r="r" b="b"/>
            <a:pathLst>
              <a:path w="8115300" h="5406819">
                <a:moveTo>
                  <a:pt x="0" y="0"/>
                </a:moveTo>
                <a:lnTo>
                  <a:pt x="8115300" y="0"/>
                </a:lnTo>
                <a:lnTo>
                  <a:pt x="8115300" y="5406819"/>
                </a:lnTo>
                <a:lnTo>
                  <a:pt x="0" y="5406819"/>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1594918" y="2218190"/>
            <a:ext cx="6427667" cy="1000125"/>
          </a:xfrm>
          <a:prstGeom prst="rect">
            <a:avLst/>
          </a:prstGeom>
        </p:spPr>
        <p:txBody>
          <a:bodyPr lIns="0" tIns="0" rIns="0" bIns="0" rtlCol="0" anchor="t">
            <a:spAutoFit/>
          </a:bodyPr>
          <a:lstStyle/>
          <a:p>
            <a:pPr marL="0" lvl="0" indent="0" algn="l">
              <a:lnSpc>
                <a:spcPts val="7800"/>
              </a:lnSpc>
            </a:pPr>
            <a:r>
              <a:rPr lang="en-US" sz="6500" b="1">
                <a:solidFill>
                  <a:srgbClr val="001E22"/>
                </a:solidFill>
                <a:latin typeface="Klein Bold"/>
                <a:ea typeface="Klein Bold"/>
                <a:cs typeface="Klein Bold"/>
                <a:sym typeface="Klein Bold"/>
              </a:rPr>
              <a:t>Key Takaways</a:t>
            </a:r>
          </a:p>
        </p:txBody>
      </p:sp>
      <p:sp>
        <p:nvSpPr>
          <p:cNvPr id="4" name="TextBox 4"/>
          <p:cNvSpPr txBox="1"/>
          <p:nvPr/>
        </p:nvSpPr>
        <p:spPr>
          <a:xfrm>
            <a:off x="9614803" y="1668821"/>
            <a:ext cx="7644497" cy="7934961"/>
          </a:xfrm>
          <a:prstGeom prst="rect">
            <a:avLst/>
          </a:prstGeom>
        </p:spPr>
        <p:txBody>
          <a:bodyPr lIns="0" tIns="0" rIns="0" bIns="0" rtlCol="0" anchor="t">
            <a:spAutoFit/>
          </a:bodyPr>
          <a:lstStyle/>
          <a:p>
            <a:pPr marL="885181" lvl="1" indent="-442590" algn="l">
              <a:lnSpc>
                <a:spcPts val="5739"/>
              </a:lnSpc>
              <a:spcBef>
                <a:spcPct val="0"/>
              </a:spcBef>
              <a:buFont typeface="Arial"/>
              <a:buChar char="•"/>
            </a:pPr>
            <a:r>
              <a:rPr lang="en-US" sz="4099" b="1">
                <a:solidFill>
                  <a:srgbClr val="001E22"/>
                </a:solidFill>
                <a:latin typeface="Klein Bold"/>
                <a:ea typeface="Klein Bold"/>
                <a:cs typeface="Klein Bold"/>
                <a:sym typeface="Klein Bold"/>
              </a:rPr>
              <a:t>Process mapping is essential for understanding and improving workflows.</a:t>
            </a:r>
          </a:p>
          <a:p>
            <a:pPr marL="885181" lvl="1" indent="-442590" algn="l">
              <a:lnSpc>
                <a:spcPts val="5739"/>
              </a:lnSpc>
              <a:spcBef>
                <a:spcPct val="0"/>
              </a:spcBef>
              <a:buFont typeface="Arial"/>
              <a:buChar char="•"/>
            </a:pPr>
            <a:r>
              <a:rPr lang="en-US" sz="4099" b="1">
                <a:solidFill>
                  <a:srgbClr val="001E22"/>
                </a:solidFill>
                <a:latin typeface="Klein Bold"/>
                <a:ea typeface="Klein Bold"/>
                <a:cs typeface="Klein Bold"/>
                <a:sym typeface="Klein Bold"/>
              </a:rPr>
              <a:t>It supports efficiency, collaboration, and consistency.</a:t>
            </a:r>
          </a:p>
          <a:p>
            <a:pPr marL="885181" lvl="1" indent="-442590" algn="l">
              <a:lnSpc>
                <a:spcPts val="5739"/>
              </a:lnSpc>
              <a:spcBef>
                <a:spcPct val="0"/>
              </a:spcBef>
              <a:buFont typeface="Arial"/>
              <a:buChar char="•"/>
            </a:pPr>
            <a:r>
              <a:rPr lang="en-US" sz="4099" b="1">
                <a:solidFill>
                  <a:srgbClr val="001E22"/>
                </a:solidFill>
                <a:latin typeface="Klein Bold"/>
                <a:ea typeface="Klein Bold"/>
                <a:cs typeface="Klein Bold"/>
                <a:sym typeface="Klein Bold"/>
              </a:rPr>
              <a:t>Regular updates and stakeholder involvement are crucial.</a:t>
            </a:r>
          </a:p>
          <a:p>
            <a:pPr algn="l">
              <a:lnSpc>
                <a:spcPts val="5739"/>
              </a:lnSpc>
              <a:spcBef>
                <a:spcPct val="0"/>
              </a:spcBef>
            </a:pPr>
            <a:endParaRPr lang="en-US" sz="4099" b="1">
              <a:solidFill>
                <a:srgbClr val="001E22"/>
              </a:solidFill>
              <a:latin typeface="Klein Bold"/>
              <a:ea typeface="Klein Bold"/>
              <a:cs typeface="Klein Bold"/>
              <a:sym typeface="Klein Bo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4459875">
            <a:off x="5582338" y="-1203562"/>
            <a:ext cx="6742324" cy="13057318"/>
          </a:xfrm>
          <a:custGeom>
            <a:avLst/>
            <a:gdLst/>
            <a:ahLst/>
            <a:cxnLst/>
            <a:rect l="l" t="t" r="r" b="b"/>
            <a:pathLst>
              <a:path w="6742324" h="13057318">
                <a:moveTo>
                  <a:pt x="0" y="0"/>
                </a:moveTo>
                <a:lnTo>
                  <a:pt x="6742324" y="0"/>
                </a:lnTo>
                <a:lnTo>
                  <a:pt x="6742324" y="13057318"/>
                </a:lnTo>
                <a:lnTo>
                  <a:pt x="0" y="1305731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rot="2294320">
            <a:off x="3668119" y="2382878"/>
            <a:ext cx="2319912" cy="1615502"/>
          </a:xfrm>
          <a:custGeom>
            <a:avLst/>
            <a:gdLst/>
            <a:ahLst/>
            <a:cxnLst/>
            <a:rect l="l" t="t" r="r" b="b"/>
            <a:pathLst>
              <a:path w="2319912" h="1615502">
                <a:moveTo>
                  <a:pt x="0" y="0"/>
                </a:moveTo>
                <a:lnTo>
                  <a:pt x="2319912" y="0"/>
                </a:lnTo>
                <a:lnTo>
                  <a:pt x="2319912" y="1615502"/>
                </a:lnTo>
                <a:lnTo>
                  <a:pt x="0" y="16155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TextBox 4"/>
          <p:cNvSpPr txBox="1"/>
          <p:nvPr/>
        </p:nvSpPr>
        <p:spPr>
          <a:xfrm>
            <a:off x="5074102" y="4567237"/>
            <a:ext cx="8139797" cy="1143000"/>
          </a:xfrm>
          <a:prstGeom prst="rect">
            <a:avLst/>
          </a:prstGeom>
        </p:spPr>
        <p:txBody>
          <a:bodyPr lIns="0" tIns="0" rIns="0" bIns="0" rtlCol="0" anchor="t">
            <a:spAutoFit/>
          </a:bodyPr>
          <a:lstStyle/>
          <a:p>
            <a:pPr marL="0" lvl="0" indent="0" algn="ctr">
              <a:lnSpc>
                <a:spcPts val="8999"/>
              </a:lnSpc>
              <a:spcBef>
                <a:spcPct val="0"/>
              </a:spcBef>
            </a:pPr>
            <a:r>
              <a:rPr lang="en-US" sz="7499" b="1">
                <a:solidFill>
                  <a:srgbClr val="001E22"/>
                </a:solidFill>
                <a:latin typeface="Klein Bold"/>
                <a:ea typeface="Klein Bold"/>
                <a:cs typeface="Klein Bold"/>
                <a:sym typeface="Klein Bold"/>
              </a:rPr>
              <a:t>LET’S TALK</a:t>
            </a:r>
          </a:p>
        </p:txBody>
      </p:sp>
      <p:sp>
        <p:nvSpPr>
          <p:cNvPr id="5" name="TextBox 5"/>
          <p:cNvSpPr txBox="1"/>
          <p:nvPr/>
        </p:nvSpPr>
        <p:spPr>
          <a:xfrm>
            <a:off x="3970464" y="5748338"/>
            <a:ext cx="9966071" cy="619125"/>
          </a:xfrm>
          <a:prstGeom prst="rect">
            <a:avLst/>
          </a:prstGeom>
        </p:spPr>
        <p:txBody>
          <a:bodyPr lIns="0" tIns="0" rIns="0" bIns="0" rtlCol="0" anchor="t">
            <a:spAutoFit/>
          </a:bodyPr>
          <a:lstStyle/>
          <a:p>
            <a:pPr algn="l">
              <a:lnSpc>
                <a:spcPts val="4919"/>
              </a:lnSpc>
            </a:pPr>
            <a:r>
              <a:rPr lang="en-US" sz="4099" b="1">
                <a:solidFill>
                  <a:srgbClr val="001E22"/>
                </a:solidFill>
                <a:latin typeface="Klein Bold"/>
                <a:ea typeface="Klein Bold"/>
                <a:cs typeface="Klein Bold"/>
                <a:sym typeface="Klein Bold"/>
              </a:rPr>
              <a:t>Share your thoughts or ask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1A8F3A2E7F68747928B4D6B67EB9807" ma:contentTypeVersion="13" ma:contentTypeDescription="Create a new document." ma:contentTypeScope="" ma:versionID="60258e606efd246ebd8747f52ab1c6ee">
  <xsd:schema xmlns:xsd="http://www.w3.org/2001/XMLSchema" xmlns:xs="http://www.w3.org/2001/XMLSchema" xmlns:p="http://schemas.microsoft.com/office/2006/metadata/properties" xmlns:ns2="218189da-cc44-4b6c-9f63-83ae0464560d" xmlns:ns3="a8225de8-9dbb-40fa-b368-c7b6e2bd6ccd" targetNamespace="http://schemas.microsoft.com/office/2006/metadata/properties" ma:root="true" ma:fieldsID="e21a5700db754454aebcf101ffb69e45" ns2:_="" ns3:_="">
    <xsd:import namespace="218189da-cc44-4b6c-9f63-83ae0464560d"/>
    <xsd:import namespace="a8225de8-9dbb-40fa-b368-c7b6e2bd6cc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8189da-cc44-4b6c-9f63-83ae046456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bb1ab42-7277-4699-bffd-c4f8fd762ea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8225de8-9dbb-40fa-b368-c7b6e2bd6ccd"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4a6c88-11e5-44cd-9900-9bfaf37410b7}" ma:internalName="TaxCatchAll" ma:showField="CatchAllData" ma:web="a8225de8-9dbb-40fa-b368-c7b6e2bd6cc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18189da-cc44-4b6c-9f63-83ae0464560d">
      <Terms xmlns="http://schemas.microsoft.com/office/infopath/2007/PartnerControls"/>
    </lcf76f155ced4ddcb4097134ff3c332f>
    <TaxCatchAll xmlns="a8225de8-9dbb-40fa-b368-c7b6e2bd6ccd" xsi:nil="true"/>
  </documentManagement>
</p:properties>
</file>

<file path=customXml/itemProps1.xml><?xml version="1.0" encoding="utf-8"?>
<ds:datastoreItem xmlns:ds="http://schemas.openxmlformats.org/officeDocument/2006/customXml" ds:itemID="{8C89774C-3D1D-49FD-B49C-2134EDA6221E}">
  <ds:schemaRefs>
    <ds:schemaRef ds:uri="http://schemas.microsoft.com/sharepoint/v3/contenttype/forms"/>
  </ds:schemaRefs>
</ds:datastoreItem>
</file>

<file path=customXml/itemProps2.xml><?xml version="1.0" encoding="utf-8"?>
<ds:datastoreItem xmlns:ds="http://schemas.openxmlformats.org/officeDocument/2006/customXml" ds:itemID="{9D57B367-E22B-4565-BEB4-2D239AF227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8189da-cc44-4b6c-9f63-83ae0464560d"/>
    <ds:schemaRef ds:uri="a8225de8-9dbb-40fa-b368-c7b6e2bd6c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8381801-2F65-4BFE-908F-D6DBC6FD0478}">
  <ds:schemaRefs>
    <ds:schemaRef ds:uri="http://schemas.microsoft.com/office/2006/documentManagement/types"/>
    <ds:schemaRef ds:uri="http://schemas.microsoft.com/office/infopath/2007/PartnerControls"/>
    <ds:schemaRef ds:uri="http://schemas.openxmlformats.org/package/2006/metadata/core-properties"/>
    <ds:schemaRef ds:uri="http://purl.org/dc/dcmitype/"/>
    <ds:schemaRef ds:uri="http://purl.org/dc/terms/"/>
    <ds:schemaRef ds:uri="http://www.w3.org/XML/1998/namespace"/>
    <ds:schemaRef ds:uri="http://purl.org/dc/elements/1.1/"/>
    <ds:schemaRef ds:uri="a8225de8-9dbb-40fa-b368-c7b6e2bd6ccd"/>
    <ds:schemaRef ds:uri="218189da-cc44-4b6c-9f63-83ae0464560d"/>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otalTime>9</TotalTime>
  <Words>753</Words>
  <Application>Microsoft Office PowerPoint</Application>
  <PresentationFormat>Custom</PresentationFormat>
  <Paragraphs>54</Paragraphs>
  <Slides>8</Slides>
  <Notes>8</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Visualizing Workflows for Efficiency and Clarity</dc:title>
  <cp:lastModifiedBy>Amy C Gessert</cp:lastModifiedBy>
  <cp:revision>4</cp:revision>
  <dcterms:created xsi:type="dcterms:W3CDTF">2006-08-16T00:00:00Z</dcterms:created>
  <dcterms:modified xsi:type="dcterms:W3CDTF">2025-01-07T14:43:33Z</dcterms:modified>
  <dc:identifier>DAGZqjXlOTQ</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0x010100B1A8F3A2E7F68747928B4D6B67EB9807</vt:lpwstr>
  </property>
  <property fmtid="{D5CDD505-2E9C-101B-9397-08002B2CF9AE}" pid="3" name="MediaServiceImageTags">
    <vt:lpwstr/>
  </property>
</Properties>
</file>