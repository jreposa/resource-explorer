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9" r:id="rId4"/>
    <p:sldMasterId id="2147483681" r:id="rId5"/>
    <p:sldMasterId id="2147483660" r:id="rId6"/>
    <p:sldMasterId id="2147483648" r:id="rId7"/>
  </p:sldMasterIdLst>
  <p:notesMasterIdLst>
    <p:notesMasterId r:id="rId39"/>
  </p:notesMasterIdLst>
  <p:handoutMasterIdLst>
    <p:handoutMasterId r:id="rId40"/>
  </p:handoutMasterIdLst>
  <p:sldIdLst>
    <p:sldId id="847" r:id="rId8"/>
    <p:sldId id="259" r:id="rId9"/>
    <p:sldId id="979" r:id="rId10"/>
    <p:sldId id="1013" r:id="rId11"/>
    <p:sldId id="1300" r:id="rId12"/>
    <p:sldId id="1301" r:id="rId13"/>
    <p:sldId id="1252" r:id="rId14"/>
    <p:sldId id="1303" r:id="rId15"/>
    <p:sldId id="1304" r:id="rId16"/>
    <p:sldId id="1255" r:id="rId17"/>
    <p:sldId id="1256" r:id="rId18"/>
    <p:sldId id="1257" r:id="rId19"/>
    <p:sldId id="1324" r:id="rId20"/>
    <p:sldId id="1307" r:id="rId21"/>
    <p:sldId id="1308" r:id="rId22"/>
    <p:sldId id="1309" r:id="rId23"/>
    <p:sldId id="1310" r:id="rId24"/>
    <p:sldId id="1311" r:id="rId25"/>
    <p:sldId id="1312" r:id="rId26"/>
    <p:sldId id="1313" r:id="rId27"/>
    <p:sldId id="1314" r:id="rId28"/>
    <p:sldId id="1315" r:id="rId29"/>
    <p:sldId id="1316" r:id="rId30"/>
    <p:sldId id="1317" r:id="rId31"/>
    <p:sldId id="1318" r:id="rId32"/>
    <p:sldId id="1319" r:id="rId33"/>
    <p:sldId id="1320" r:id="rId34"/>
    <p:sldId id="263" r:id="rId35"/>
    <p:sldId id="1299" r:id="rId36"/>
    <p:sldId id="1323" r:id="rId37"/>
    <p:sldId id="1298"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John Butterworth" initials="JB [5]" lastIdx="1" clrIdx="6"/>
  <p:cmAuthor id="1" name="Allison" initials="A" lastIdx="2" clrIdx="0"/>
  <p:cmAuthor id="8" name="John Butterworth" initials="JB [6]" lastIdx="1" clrIdx="7"/>
  <p:cmAuthor id="2" name="John Butterworth" initials="JB" lastIdx="1" clrIdx="1"/>
  <p:cmAuthor id="9" name="John Butterworth" initials="JB [7]" lastIdx="1" clrIdx="8"/>
  <p:cmAuthor id="3" name="John Butterworth" initials="JB [2]" lastIdx="1" clrIdx="2"/>
  <p:cmAuthor id="4" name="John Butterworth" initials="JB [3]" lastIdx="1" clrIdx="3"/>
  <p:cmAuthor id="5" name="John Butterworth" initials="JB [3] [2]" lastIdx="1" clrIdx="4"/>
  <p:cmAuthor id="6" name="John Butterworth" initials="JB [4]" lastIdx="1" clrIdx="5"/>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9"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5298"/>
    <a:srgbClr val="1560A0"/>
    <a:srgbClr val="FFFFFF"/>
    <a:srgbClr val="5D9732"/>
    <a:srgbClr val="2678B0"/>
    <a:srgbClr val="8000FF"/>
    <a:srgbClr val="800080"/>
    <a:srgbClr val="F7FF60"/>
    <a:srgbClr val="33D8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669E8A-5504-39A6-C1E7-B7F3BC73AD2B}" v="3" dt="2023-02-15T23:29:17.617"/>
    <p1510:client id="{AF81E5B7-DDC7-405D-9484-BCE6537F343E}" v="4" dt="2023-02-16T17:55:11.261"/>
    <p1510:client id="{CAD693BD-273B-4F92-A22C-B243122B9279}" v="5" dt="2023-02-16T18:05:17.5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0756" autoAdjust="0"/>
  </p:normalViewPr>
  <p:slideViewPr>
    <p:cSldViewPr snapToGrid="0">
      <p:cViewPr varScale="1">
        <p:scale>
          <a:sx n="27" d="100"/>
          <a:sy n="27" d="100"/>
        </p:scale>
        <p:origin x="2420" y="36"/>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microsoft.com/office/2016/11/relationships/changesInfo" Target="changesInfos/changesInfo1.xml"/><Relationship Id="rId20" Type="http://schemas.openxmlformats.org/officeDocument/2006/relationships/slide" Target="slides/slide13.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ci Jones" userId="8493031c-935c-4567-bcd9-185995e08a61" providerId="ADAL" clId="{AF81E5B7-DDC7-405D-9484-BCE6537F343E}"/>
    <pc:docChg chg="custSel addSld delSld modSld">
      <pc:chgData name="Staci Jones" userId="8493031c-935c-4567-bcd9-185995e08a61" providerId="ADAL" clId="{AF81E5B7-DDC7-405D-9484-BCE6537F343E}" dt="2023-02-16T17:55:20.675" v="7" actId="47"/>
      <pc:docMkLst>
        <pc:docMk/>
      </pc:docMkLst>
      <pc:sldChg chg="delSp add setBg delDesignElem">
        <pc:chgData name="Staci Jones" userId="8493031c-935c-4567-bcd9-185995e08a61" providerId="ADAL" clId="{AF81E5B7-DDC7-405D-9484-BCE6537F343E}" dt="2023-02-15T23:38:16.854" v="3"/>
        <pc:sldMkLst>
          <pc:docMk/>
          <pc:sldMk cId="3530263494" sldId="263"/>
        </pc:sldMkLst>
        <pc:spChg chg="del">
          <ac:chgData name="Staci Jones" userId="8493031c-935c-4567-bcd9-185995e08a61" providerId="ADAL" clId="{AF81E5B7-DDC7-405D-9484-BCE6537F343E}" dt="2023-02-15T23:38:16.854" v="3"/>
          <ac:spMkLst>
            <pc:docMk/>
            <pc:sldMk cId="3530263494" sldId="263"/>
            <ac:spMk id="18" creationId="{9F4444CE-BC8D-4D61-B303-4C05614E62AB}"/>
          </ac:spMkLst>
        </pc:spChg>
        <pc:spChg chg="del">
          <ac:chgData name="Staci Jones" userId="8493031c-935c-4567-bcd9-185995e08a61" providerId="ADAL" clId="{AF81E5B7-DDC7-405D-9484-BCE6537F343E}" dt="2023-02-15T23:38:16.854" v="3"/>
          <ac:spMkLst>
            <pc:docMk/>
            <pc:sldMk cId="3530263494" sldId="263"/>
            <ac:spMk id="20" creationId="{73772B81-181F-48B7-8826-4D9686D15DF5}"/>
          </ac:spMkLst>
        </pc:spChg>
        <pc:spChg chg="del">
          <ac:chgData name="Staci Jones" userId="8493031c-935c-4567-bcd9-185995e08a61" providerId="ADAL" clId="{AF81E5B7-DDC7-405D-9484-BCE6537F343E}" dt="2023-02-15T23:38:16.854" v="3"/>
          <ac:spMkLst>
            <pc:docMk/>
            <pc:sldMk cId="3530263494" sldId="263"/>
            <ac:spMk id="22" creationId="{B2205F6E-03C6-4E92-877C-E2482F6599AA}"/>
          </ac:spMkLst>
        </pc:spChg>
      </pc:sldChg>
      <pc:sldChg chg="del">
        <pc:chgData name="Staci Jones" userId="8493031c-935c-4567-bcd9-185995e08a61" providerId="ADAL" clId="{AF81E5B7-DDC7-405D-9484-BCE6537F343E}" dt="2023-02-16T17:55:20.675" v="7" actId="47"/>
        <pc:sldMkLst>
          <pc:docMk/>
          <pc:sldMk cId="679245356" sldId="1305"/>
        </pc:sldMkLst>
      </pc:sldChg>
      <pc:sldChg chg="modSp mod">
        <pc:chgData name="Staci Jones" userId="8493031c-935c-4567-bcd9-185995e08a61" providerId="ADAL" clId="{AF81E5B7-DDC7-405D-9484-BCE6537F343E}" dt="2023-02-15T23:38:16.921" v="5" actId="27636"/>
        <pc:sldMkLst>
          <pc:docMk/>
          <pc:sldMk cId="2782604684" sldId="1313"/>
        </pc:sldMkLst>
        <pc:spChg chg="mod">
          <ac:chgData name="Staci Jones" userId="8493031c-935c-4567-bcd9-185995e08a61" providerId="ADAL" clId="{AF81E5B7-DDC7-405D-9484-BCE6537F343E}" dt="2023-02-15T23:38:16.921" v="5" actId="27636"/>
          <ac:spMkLst>
            <pc:docMk/>
            <pc:sldMk cId="2782604684" sldId="1313"/>
            <ac:spMk id="3" creationId="{8E929131-E1A3-5ED8-CEDF-C0B7334E4F9D}"/>
          </ac:spMkLst>
        </pc:spChg>
      </pc:sldChg>
      <pc:sldChg chg="del">
        <pc:chgData name="Staci Jones" userId="8493031c-935c-4567-bcd9-185995e08a61" providerId="ADAL" clId="{AF81E5B7-DDC7-405D-9484-BCE6537F343E}" dt="2023-02-15T23:38:02.283" v="0" actId="47"/>
        <pc:sldMkLst>
          <pc:docMk/>
          <pc:sldMk cId="3620393438" sldId="1321"/>
        </pc:sldMkLst>
      </pc:sldChg>
      <pc:sldChg chg="del">
        <pc:chgData name="Staci Jones" userId="8493031c-935c-4567-bcd9-185995e08a61" providerId="ADAL" clId="{AF81E5B7-DDC7-405D-9484-BCE6537F343E}" dt="2023-02-16T17:55:19.576" v="6" actId="47"/>
        <pc:sldMkLst>
          <pc:docMk/>
          <pc:sldMk cId="3436441791" sldId="1322"/>
        </pc:sldMkLst>
      </pc:sldChg>
      <pc:sldChg chg="modSp mod">
        <pc:chgData name="Staci Jones" userId="8493031c-935c-4567-bcd9-185995e08a61" providerId="ADAL" clId="{AF81E5B7-DDC7-405D-9484-BCE6537F343E}" dt="2023-02-15T23:38:16.913" v="4" actId="27636"/>
        <pc:sldMkLst>
          <pc:docMk/>
          <pc:sldMk cId="742372281" sldId="1324"/>
        </pc:sldMkLst>
        <pc:spChg chg="mod">
          <ac:chgData name="Staci Jones" userId="8493031c-935c-4567-bcd9-185995e08a61" providerId="ADAL" clId="{AF81E5B7-DDC7-405D-9484-BCE6537F343E}" dt="2023-02-15T23:38:16.913" v="4" actId="27636"/>
          <ac:spMkLst>
            <pc:docMk/>
            <pc:sldMk cId="742372281" sldId="1324"/>
            <ac:spMk id="3" creationId="{DC30B684-102B-AFD0-60F9-D41B615362C0}"/>
          </ac:spMkLst>
        </pc:spChg>
      </pc:sldChg>
      <pc:sldChg chg="del">
        <pc:chgData name="Staci Jones" userId="8493031c-935c-4567-bcd9-185995e08a61" providerId="ADAL" clId="{AF81E5B7-DDC7-405D-9484-BCE6537F343E}" dt="2023-02-15T23:38:03.341" v="1" actId="47"/>
        <pc:sldMkLst>
          <pc:docMk/>
          <pc:sldMk cId="1994469925" sldId="1325"/>
        </pc:sldMkLst>
      </pc:sldChg>
    </pc:docChg>
  </pc:docChgLst>
  <pc:docChgLst>
    <pc:chgData name="Staci Jones" userId="8493031c-935c-4567-bcd9-185995e08a61" providerId="ADAL" clId="{CAD693BD-273B-4F92-A22C-B243122B9279}"/>
    <pc:docChg chg="custSel modSld">
      <pc:chgData name="Staci Jones" userId="8493031c-935c-4567-bcd9-185995e08a61" providerId="ADAL" clId="{CAD693BD-273B-4F92-A22C-B243122B9279}" dt="2023-02-16T18:28:06.982" v="981" actId="20577"/>
      <pc:docMkLst>
        <pc:docMk/>
      </pc:docMkLst>
      <pc:sldChg chg="modNotesTx">
        <pc:chgData name="Staci Jones" userId="8493031c-935c-4567-bcd9-185995e08a61" providerId="ADAL" clId="{CAD693BD-273B-4F92-A22C-B243122B9279}" dt="2023-02-16T18:27:41.367" v="952" actId="20577"/>
        <pc:sldMkLst>
          <pc:docMk/>
          <pc:sldMk cId="0" sldId="259"/>
        </pc:sldMkLst>
      </pc:sldChg>
      <pc:sldChg chg="modNotesTx">
        <pc:chgData name="Staci Jones" userId="8493031c-935c-4567-bcd9-185995e08a61" providerId="ADAL" clId="{CAD693BD-273B-4F92-A22C-B243122B9279}" dt="2023-02-16T18:28:06.982" v="981" actId="20577"/>
        <pc:sldMkLst>
          <pc:docMk/>
          <pc:sldMk cId="1149286859" sldId="847"/>
        </pc:sldMkLst>
      </pc:sldChg>
      <pc:sldChg chg="addSp modSp">
        <pc:chgData name="Staci Jones" userId="8493031c-935c-4567-bcd9-185995e08a61" providerId="ADAL" clId="{CAD693BD-273B-4F92-A22C-B243122B9279}" dt="2023-02-16T18:05:10.406" v="4"/>
        <pc:sldMkLst>
          <pc:docMk/>
          <pc:sldMk cId="996287050" sldId="1255"/>
        </pc:sldMkLst>
        <pc:picChg chg="add mod">
          <ac:chgData name="Staci Jones" userId="8493031c-935c-4567-bcd9-185995e08a61" providerId="ADAL" clId="{CAD693BD-273B-4F92-A22C-B243122B9279}" dt="2023-02-16T18:05:10.406" v="4"/>
          <ac:picMkLst>
            <pc:docMk/>
            <pc:sldMk cId="996287050" sldId="1255"/>
            <ac:picMk id="8" creationId="{EF80FBF9-B905-D7BE-A2CC-579AE27BBEBA}"/>
          </ac:picMkLst>
        </pc:picChg>
      </pc:sldChg>
      <pc:sldChg chg="addSp modSp">
        <pc:chgData name="Staci Jones" userId="8493031c-935c-4567-bcd9-185995e08a61" providerId="ADAL" clId="{CAD693BD-273B-4F92-A22C-B243122B9279}" dt="2023-02-16T18:05:14.122" v="5"/>
        <pc:sldMkLst>
          <pc:docMk/>
          <pc:sldMk cId="2333991317" sldId="1256"/>
        </pc:sldMkLst>
        <pc:picChg chg="add mod">
          <ac:chgData name="Staci Jones" userId="8493031c-935c-4567-bcd9-185995e08a61" providerId="ADAL" clId="{CAD693BD-273B-4F92-A22C-B243122B9279}" dt="2023-02-16T18:05:14.122" v="5"/>
          <ac:picMkLst>
            <pc:docMk/>
            <pc:sldMk cId="2333991317" sldId="1256"/>
            <ac:picMk id="4" creationId="{1266B9C3-CC4E-577D-6210-A5C49FE5203D}"/>
          </ac:picMkLst>
        </pc:picChg>
      </pc:sldChg>
      <pc:sldChg chg="addSp modSp">
        <pc:chgData name="Staci Jones" userId="8493031c-935c-4567-bcd9-185995e08a61" providerId="ADAL" clId="{CAD693BD-273B-4F92-A22C-B243122B9279}" dt="2023-02-16T18:05:17.526" v="6"/>
        <pc:sldMkLst>
          <pc:docMk/>
          <pc:sldMk cId="2155691723" sldId="1257"/>
        </pc:sldMkLst>
        <pc:picChg chg="add mod">
          <ac:chgData name="Staci Jones" userId="8493031c-935c-4567-bcd9-185995e08a61" providerId="ADAL" clId="{CAD693BD-273B-4F92-A22C-B243122B9279}" dt="2023-02-16T18:05:17.526" v="6"/>
          <ac:picMkLst>
            <pc:docMk/>
            <pc:sldMk cId="2155691723" sldId="1257"/>
            <ac:picMk id="4" creationId="{EE0C4A19-CC48-DC74-3ACD-FA4349A6CA6D}"/>
          </ac:picMkLst>
        </pc:picChg>
      </pc:sldChg>
      <pc:sldChg chg="modSp mod">
        <pc:chgData name="Staci Jones" userId="8493031c-935c-4567-bcd9-185995e08a61" providerId="ADAL" clId="{CAD693BD-273B-4F92-A22C-B243122B9279}" dt="2023-02-16T18:03:01.404" v="3" actId="1076"/>
        <pc:sldMkLst>
          <pc:docMk/>
          <pc:sldMk cId="3141611329" sldId="1307"/>
        </pc:sldMkLst>
        <pc:spChg chg="mod">
          <ac:chgData name="Staci Jones" userId="8493031c-935c-4567-bcd9-185995e08a61" providerId="ADAL" clId="{CAD693BD-273B-4F92-A22C-B243122B9279}" dt="2023-02-16T18:03:01.404" v="3" actId="1076"/>
          <ac:spMkLst>
            <pc:docMk/>
            <pc:sldMk cId="3141611329" sldId="1307"/>
            <ac:spMk id="6" creationId="{1934ADA9-A238-1067-2869-342CC6B8FE2E}"/>
          </ac:spMkLst>
        </pc:spChg>
        <pc:spChg chg="mod">
          <ac:chgData name="Staci Jones" userId="8493031c-935c-4567-bcd9-185995e08a61" providerId="ADAL" clId="{CAD693BD-273B-4F92-A22C-B243122B9279}" dt="2023-02-16T18:02:59.026" v="2" actId="1076"/>
          <ac:spMkLst>
            <pc:docMk/>
            <pc:sldMk cId="3141611329" sldId="1307"/>
            <ac:spMk id="7" creationId="{6157750F-F061-5B4F-96C2-F66773A8A22C}"/>
          </ac:spMkLst>
        </pc:spChg>
        <pc:graphicFrameChg chg="mod">
          <ac:chgData name="Staci Jones" userId="8493031c-935c-4567-bcd9-185995e08a61" providerId="ADAL" clId="{CAD693BD-273B-4F92-A22C-B243122B9279}" dt="2023-02-16T18:02:52.377" v="1" actId="255"/>
          <ac:graphicFrameMkLst>
            <pc:docMk/>
            <pc:sldMk cId="3141611329" sldId="1307"/>
            <ac:graphicFrameMk id="4" creationId="{C467A11E-C935-5CCE-66F7-13C96CF47B47}"/>
          </ac:graphicFrameMkLst>
        </pc:graphicFrame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ata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7105D2-CA81-48F2-B06D-232541ABA64F}" type="doc">
      <dgm:prSet loTypeId="urn:microsoft.com/office/officeart/2009/layout/CircleArrowProcess" loCatId="process" qsTypeId="urn:microsoft.com/office/officeart/2005/8/quickstyle/simple1" qsCatId="simple" csTypeId="urn:microsoft.com/office/officeart/2005/8/colors/accent1_2" csCatId="accent1" phldr="1"/>
      <dgm:spPr/>
      <dgm:t>
        <a:bodyPr/>
        <a:lstStyle/>
        <a:p>
          <a:endParaRPr lang="en-US"/>
        </a:p>
      </dgm:t>
    </dgm:pt>
    <dgm:pt modelId="{5CE5A247-DDA7-45B5-9B49-BA8E9A8656B2}">
      <dgm:prSet phldrT="[Text]" custT="1"/>
      <dgm:spPr/>
      <dgm:t>
        <a:bodyPr/>
        <a:lstStyle/>
        <a:p>
          <a:r>
            <a:rPr lang="en-US" sz="1600" dirty="0"/>
            <a:t>Rehabilitation program </a:t>
          </a:r>
        </a:p>
        <a:p>
          <a:r>
            <a:rPr lang="en-US" sz="1600" dirty="0"/>
            <a:t>for veterans/Polio victims </a:t>
          </a:r>
        </a:p>
      </dgm:t>
    </dgm:pt>
    <dgm:pt modelId="{3CAC2E64-0043-4A3B-AAD6-7811AE0E5196}" type="parTrans" cxnId="{EE8CDD00-109D-4F99-9A88-64815DF8239B}">
      <dgm:prSet/>
      <dgm:spPr/>
      <dgm:t>
        <a:bodyPr/>
        <a:lstStyle/>
        <a:p>
          <a:endParaRPr lang="en-US"/>
        </a:p>
      </dgm:t>
    </dgm:pt>
    <dgm:pt modelId="{34CD4E8D-317D-43FC-B456-766FCD371203}" type="sibTrans" cxnId="{EE8CDD00-109D-4F99-9A88-64815DF8239B}">
      <dgm:prSet/>
      <dgm:spPr/>
      <dgm:t>
        <a:bodyPr/>
        <a:lstStyle/>
        <a:p>
          <a:endParaRPr lang="en-US"/>
        </a:p>
      </dgm:t>
    </dgm:pt>
    <dgm:pt modelId="{23076750-FB20-4933-B50E-8340B3ADD835}">
      <dgm:prSet phldrT="[Text]" custT="1"/>
      <dgm:spPr/>
      <dgm:t>
        <a:bodyPr/>
        <a:lstStyle/>
        <a:p>
          <a:r>
            <a:rPr lang="en-US" sz="2200" dirty="0"/>
            <a:t>Center-based employment begins</a:t>
          </a:r>
        </a:p>
      </dgm:t>
    </dgm:pt>
    <dgm:pt modelId="{645E750A-7136-4DFB-A489-BB070AAB2646}" type="parTrans" cxnId="{B83C1B03-C54E-490F-840C-7AFCB285E3E2}">
      <dgm:prSet/>
      <dgm:spPr/>
      <dgm:t>
        <a:bodyPr/>
        <a:lstStyle/>
        <a:p>
          <a:endParaRPr lang="en-US"/>
        </a:p>
      </dgm:t>
    </dgm:pt>
    <dgm:pt modelId="{5EE1DAA2-FC5D-46DC-B2BF-B9AC0E3D51E1}" type="sibTrans" cxnId="{B83C1B03-C54E-490F-840C-7AFCB285E3E2}">
      <dgm:prSet/>
      <dgm:spPr/>
      <dgm:t>
        <a:bodyPr/>
        <a:lstStyle/>
        <a:p>
          <a:endParaRPr lang="en-US"/>
        </a:p>
      </dgm:t>
    </dgm:pt>
    <dgm:pt modelId="{7580E861-D918-4A29-A6B8-A1C7C90BC8B2}">
      <dgm:prSet phldrT="[Text]" custT="1"/>
      <dgm:spPr/>
      <dgm:t>
        <a:bodyPr/>
        <a:lstStyle/>
        <a:p>
          <a:r>
            <a:rPr lang="en-US" sz="2000" dirty="0"/>
            <a:t>Community employment</a:t>
          </a:r>
        </a:p>
        <a:p>
          <a:r>
            <a:rPr lang="en-US" sz="2000" dirty="0"/>
            <a:t>begins</a:t>
          </a:r>
        </a:p>
      </dgm:t>
    </dgm:pt>
    <dgm:pt modelId="{728B9D4C-66CA-4125-91A0-C49059BB73E1}" type="parTrans" cxnId="{8DE2D887-7219-4E13-96CC-3669F931CBE5}">
      <dgm:prSet/>
      <dgm:spPr/>
      <dgm:t>
        <a:bodyPr/>
        <a:lstStyle/>
        <a:p>
          <a:endParaRPr lang="en-US"/>
        </a:p>
      </dgm:t>
    </dgm:pt>
    <dgm:pt modelId="{EEB1181E-FDC5-4DC9-B5B9-B87044A77196}" type="sibTrans" cxnId="{8DE2D887-7219-4E13-96CC-3669F931CBE5}">
      <dgm:prSet/>
      <dgm:spPr/>
      <dgm:t>
        <a:bodyPr/>
        <a:lstStyle/>
        <a:p>
          <a:endParaRPr lang="en-US"/>
        </a:p>
      </dgm:t>
    </dgm:pt>
    <dgm:pt modelId="{E35403BC-1B4F-49AE-BFE8-540E12A79030}" type="pres">
      <dgm:prSet presAssocID="{897105D2-CA81-48F2-B06D-232541ABA64F}" presName="Name0" presStyleCnt="0">
        <dgm:presLayoutVars>
          <dgm:chMax val="7"/>
          <dgm:chPref val="7"/>
          <dgm:dir/>
          <dgm:animLvl val="lvl"/>
        </dgm:presLayoutVars>
      </dgm:prSet>
      <dgm:spPr/>
    </dgm:pt>
    <dgm:pt modelId="{1D8CAFA6-F9F5-442F-A65F-0EC4ECBBDF28}" type="pres">
      <dgm:prSet presAssocID="{5CE5A247-DDA7-45B5-9B49-BA8E9A8656B2}" presName="Accent1" presStyleCnt="0"/>
      <dgm:spPr/>
    </dgm:pt>
    <dgm:pt modelId="{5363AE96-89B3-42C7-9469-710424D098F6}" type="pres">
      <dgm:prSet presAssocID="{5CE5A247-DDA7-45B5-9B49-BA8E9A8656B2}" presName="Accent" presStyleLbl="node1" presStyleIdx="0" presStyleCnt="3"/>
      <dgm:spPr/>
    </dgm:pt>
    <dgm:pt modelId="{48CB300E-2D23-4D46-9941-846EF8617F3C}" type="pres">
      <dgm:prSet presAssocID="{5CE5A247-DDA7-45B5-9B49-BA8E9A8656B2}" presName="Parent1" presStyleLbl="revTx" presStyleIdx="0" presStyleCnt="3" custScaleX="238495" custScaleY="188384" custLinFactX="-100000" custLinFactNeighborX="-122415" custLinFactNeighborY="-4744">
        <dgm:presLayoutVars>
          <dgm:chMax val="1"/>
          <dgm:chPref val="1"/>
          <dgm:bulletEnabled val="1"/>
        </dgm:presLayoutVars>
      </dgm:prSet>
      <dgm:spPr/>
    </dgm:pt>
    <dgm:pt modelId="{DAF5B238-CAA2-4591-9205-9DD43EAD5A3F}" type="pres">
      <dgm:prSet presAssocID="{23076750-FB20-4933-B50E-8340B3ADD835}" presName="Accent2" presStyleCnt="0"/>
      <dgm:spPr/>
    </dgm:pt>
    <dgm:pt modelId="{70933F95-A8E7-4BE8-BC5A-6C0E4B19A27C}" type="pres">
      <dgm:prSet presAssocID="{23076750-FB20-4933-B50E-8340B3ADD835}" presName="Accent" presStyleLbl="node1" presStyleIdx="1" presStyleCnt="3"/>
      <dgm:spPr/>
    </dgm:pt>
    <dgm:pt modelId="{A9A8C450-CBA5-470F-A273-2EB94DF6DEE5}" type="pres">
      <dgm:prSet presAssocID="{23076750-FB20-4933-B50E-8340B3ADD835}" presName="Parent2" presStyleLbl="revTx" presStyleIdx="1" presStyleCnt="3" custScaleX="320489" custScaleY="244457" custLinFactX="100000" custLinFactNeighborX="158756" custLinFactNeighborY="0">
        <dgm:presLayoutVars>
          <dgm:chMax val="1"/>
          <dgm:chPref val="1"/>
          <dgm:bulletEnabled val="1"/>
        </dgm:presLayoutVars>
      </dgm:prSet>
      <dgm:spPr/>
    </dgm:pt>
    <dgm:pt modelId="{72C4C61A-65D0-4D4C-8D84-FEB048C784F5}" type="pres">
      <dgm:prSet presAssocID="{7580E861-D918-4A29-A6B8-A1C7C90BC8B2}" presName="Accent3" presStyleCnt="0"/>
      <dgm:spPr/>
    </dgm:pt>
    <dgm:pt modelId="{3937D185-D2FF-4375-A2B2-149992594DC4}" type="pres">
      <dgm:prSet presAssocID="{7580E861-D918-4A29-A6B8-A1C7C90BC8B2}" presName="Accent" presStyleLbl="node1" presStyleIdx="2" presStyleCnt="3"/>
      <dgm:spPr/>
    </dgm:pt>
    <dgm:pt modelId="{EE6A9D90-E2AC-4960-B49E-CC13F89D92CD}" type="pres">
      <dgm:prSet presAssocID="{7580E861-D918-4A29-A6B8-A1C7C90BC8B2}" presName="Parent3" presStyleLbl="revTx" presStyleIdx="2" presStyleCnt="3" custScaleX="247029" custScaleY="126496" custLinFactX="-98335" custLinFactNeighborX="-100000" custLinFactNeighborY="-2628">
        <dgm:presLayoutVars>
          <dgm:chMax val="1"/>
          <dgm:chPref val="1"/>
          <dgm:bulletEnabled val="1"/>
        </dgm:presLayoutVars>
      </dgm:prSet>
      <dgm:spPr/>
    </dgm:pt>
  </dgm:ptLst>
  <dgm:cxnLst>
    <dgm:cxn modelId="{EE8CDD00-109D-4F99-9A88-64815DF8239B}" srcId="{897105D2-CA81-48F2-B06D-232541ABA64F}" destId="{5CE5A247-DDA7-45B5-9B49-BA8E9A8656B2}" srcOrd="0" destOrd="0" parTransId="{3CAC2E64-0043-4A3B-AAD6-7811AE0E5196}" sibTransId="{34CD4E8D-317D-43FC-B456-766FCD371203}"/>
    <dgm:cxn modelId="{B83C1B03-C54E-490F-840C-7AFCB285E3E2}" srcId="{897105D2-CA81-48F2-B06D-232541ABA64F}" destId="{23076750-FB20-4933-B50E-8340B3ADD835}" srcOrd="1" destOrd="0" parTransId="{645E750A-7136-4DFB-A489-BB070AAB2646}" sibTransId="{5EE1DAA2-FC5D-46DC-B2BF-B9AC0E3D51E1}"/>
    <dgm:cxn modelId="{EB10CC7E-6CBE-4D22-863C-E103504F70D1}" type="presOf" srcId="{897105D2-CA81-48F2-B06D-232541ABA64F}" destId="{E35403BC-1B4F-49AE-BFE8-540E12A79030}" srcOrd="0" destOrd="0" presId="urn:microsoft.com/office/officeart/2009/layout/CircleArrowProcess"/>
    <dgm:cxn modelId="{2BDBEE7E-65BC-4183-A04A-F02B5843E120}" type="presOf" srcId="{7580E861-D918-4A29-A6B8-A1C7C90BC8B2}" destId="{EE6A9D90-E2AC-4960-B49E-CC13F89D92CD}" srcOrd="0" destOrd="0" presId="urn:microsoft.com/office/officeart/2009/layout/CircleArrowProcess"/>
    <dgm:cxn modelId="{8DE2D887-7219-4E13-96CC-3669F931CBE5}" srcId="{897105D2-CA81-48F2-B06D-232541ABA64F}" destId="{7580E861-D918-4A29-A6B8-A1C7C90BC8B2}" srcOrd="2" destOrd="0" parTransId="{728B9D4C-66CA-4125-91A0-C49059BB73E1}" sibTransId="{EEB1181E-FDC5-4DC9-B5B9-B87044A77196}"/>
    <dgm:cxn modelId="{66AEB79E-0808-4D48-ABC3-CFE49E99DD37}" type="presOf" srcId="{23076750-FB20-4933-B50E-8340B3ADD835}" destId="{A9A8C450-CBA5-470F-A273-2EB94DF6DEE5}" srcOrd="0" destOrd="0" presId="urn:microsoft.com/office/officeart/2009/layout/CircleArrowProcess"/>
    <dgm:cxn modelId="{747F47E5-437B-446D-AF73-FF19D1AF330E}" type="presOf" srcId="{5CE5A247-DDA7-45B5-9B49-BA8E9A8656B2}" destId="{48CB300E-2D23-4D46-9941-846EF8617F3C}" srcOrd="0" destOrd="0" presId="urn:microsoft.com/office/officeart/2009/layout/CircleArrowProcess"/>
    <dgm:cxn modelId="{B69DC5A8-2029-4E25-9AD7-9243308E8C21}" type="presParOf" srcId="{E35403BC-1B4F-49AE-BFE8-540E12A79030}" destId="{1D8CAFA6-F9F5-442F-A65F-0EC4ECBBDF28}" srcOrd="0" destOrd="0" presId="urn:microsoft.com/office/officeart/2009/layout/CircleArrowProcess"/>
    <dgm:cxn modelId="{1E1903DE-F208-4189-9678-A063003E3C42}" type="presParOf" srcId="{1D8CAFA6-F9F5-442F-A65F-0EC4ECBBDF28}" destId="{5363AE96-89B3-42C7-9469-710424D098F6}" srcOrd="0" destOrd="0" presId="urn:microsoft.com/office/officeart/2009/layout/CircleArrowProcess"/>
    <dgm:cxn modelId="{8949B4A0-9934-44F0-A037-8EE6326ACBAC}" type="presParOf" srcId="{E35403BC-1B4F-49AE-BFE8-540E12A79030}" destId="{48CB300E-2D23-4D46-9941-846EF8617F3C}" srcOrd="1" destOrd="0" presId="urn:microsoft.com/office/officeart/2009/layout/CircleArrowProcess"/>
    <dgm:cxn modelId="{C4338ACB-256F-4830-A8D0-F210B062F41D}" type="presParOf" srcId="{E35403BC-1B4F-49AE-BFE8-540E12A79030}" destId="{DAF5B238-CAA2-4591-9205-9DD43EAD5A3F}" srcOrd="2" destOrd="0" presId="urn:microsoft.com/office/officeart/2009/layout/CircleArrowProcess"/>
    <dgm:cxn modelId="{5B7756BE-009B-41C8-807C-E113BB56464A}" type="presParOf" srcId="{DAF5B238-CAA2-4591-9205-9DD43EAD5A3F}" destId="{70933F95-A8E7-4BE8-BC5A-6C0E4B19A27C}" srcOrd="0" destOrd="0" presId="urn:microsoft.com/office/officeart/2009/layout/CircleArrowProcess"/>
    <dgm:cxn modelId="{E8446F0E-F08B-44A9-9390-41DEA3B7B689}" type="presParOf" srcId="{E35403BC-1B4F-49AE-BFE8-540E12A79030}" destId="{A9A8C450-CBA5-470F-A273-2EB94DF6DEE5}" srcOrd="3" destOrd="0" presId="urn:microsoft.com/office/officeart/2009/layout/CircleArrowProcess"/>
    <dgm:cxn modelId="{21A754E8-DB56-4934-A75A-DBC83BB7C76A}" type="presParOf" srcId="{E35403BC-1B4F-49AE-BFE8-540E12A79030}" destId="{72C4C61A-65D0-4D4C-8D84-FEB048C784F5}" srcOrd="4" destOrd="0" presId="urn:microsoft.com/office/officeart/2009/layout/CircleArrowProcess"/>
    <dgm:cxn modelId="{268EC7E6-E1B5-4F7B-8C85-DE872AF52CC2}" type="presParOf" srcId="{72C4C61A-65D0-4D4C-8D84-FEB048C784F5}" destId="{3937D185-D2FF-4375-A2B2-149992594DC4}" srcOrd="0" destOrd="0" presId="urn:microsoft.com/office/officeart/2009/layout/CircleArrowProcess"/>
    <dgm:cxn modelId="{2E7CDCF8-3DA7-41A9-9DF3-B410D5D3053F}" type="presParOf" srcId="{E35403BC-1B4F-49AE-BFE8-540E12A79030}" destId="{EE6A9D90-E2AC-4960-B49E-CC13F89D92CD}" srcOrd="5"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977B66-2B53-4FEF-A5F1-5D8AE82DEFAF}" type="doc">
      <dgm:prSet loTypeId="urn:microsoft.com/office/officeart/2005/8/layout/list1" loCatId="list" qsTypeId="urn:microsoft.com/office/officeart/2005/8/quickstyle/simple4" qsCatId="simple" csTypeId="urn:microsoft.com/office/officeart/2005/8/colors/colorful1" csCatId="colorful"/>
      <dgm:spPr/>
      <dgm:t>
        <a:bodyPr/>
        <a:lstStyle/>
        <a:p>
          <a:endParaRPr lang="en-US"/>
        </a:p>
      </dgm:t>
    </dgm:pt>
    <dgm:pt modelId="{FA01AFB6-BBC9-46C0-87C4-3BE5CA0FCB9F}">
      <dgm:prSet/>
      <dgm:spPr/>
      <dgm:t>
        <a:bodyPr/>
        <a:lstStyle/>
        <a:p>
          <a:r>
            <a:rPr lang="en-US"/>
            <a:t>Self-Direction Programs</a:t>
          </a:r>
        </a:p>
      </dgm:t>
    </dgm:pt>
    <dgm:pt modelId="{278BCD55-C9BC-4EDF-A78D-A36DE248CF0A}" type="parTrans" cxnId="{AC0C25DE-D46F-4F89-A1E9-06A23AA402B1}">
      <dgm:prSet/>
      <dgm:spPr/>
      <dgm:t>
        <a:bodyPr/>
        <a:lstStyle/>
        <a:p>
          <a:endParaRPr lang="en-US"/>
        </a:p>
      </dgm:t>
    </dgm:pt>
    <dgm:pt modelId="{880C47CC-701B-4404-AFDA-C29AE6CB0CF2}" type="sibTrans" cxnId="{AC0C25DE-D46F-4F89-A1E9-06A23AA402B1}">
      <dgm:prSet/>
      <dgm:spPr/>
      <dgm:t>
        <a:bodyPr/>
        <a:lstStyle/>
        <a:p>
          <a:endParaRPr lang="en-US"/>
        </a:p>
      </dgm:t>
    </dgm:pt>
    <dgm:pt modelId="{6CA5FAE6-275F-428A-90B1-E1220B42108B}">
      <dgm:prSet/>
      <dgm:spPr/>
      <dgm:t>
        <a:bodyPr/>
        <a:lstStyle/>
        <a:p>
          <a:r>
            <a:rPr lang="en-US"/>
            <a:t>Day Service Programs</a:t>
          </a:r>
        </a:p>
      </dgm:t>
    </dgm:pt>
    <dgm:pt modelId="{03CB05AB-ED3E-4164-A877-45C4C3D1885F}" type="parTrans" cxnId="{82B6E466-A7A9-4066-8314-DC0DE6BC63E1}">
      <dgm:prSet/>
      <dgm:spPr/>
      <dgm:t>
        <a:bodyPr/>
        <a:lstStyle/>
        <a:p>
          <a:endParaRPr lang="en-US"/>
        </a:p>
      </dgm:t>
    </dgm:pt>
    <dgm:pt modelId="{76DCC61E-2CC6-4854-84D7-9E476732087C}" type="sibTrans" cxnId="{82B6E466-A7A9-4066-8314-DC0DE6BC63E1}">
      <dgm:prSet/>
      <dgm:spPr/>
      <dgm:t>
        <a:bodyPr/>
        <a:lstStyle/>
        <a:p>
          <a:endParaRPr lang="en-US"/>
        </a:p>
      </dgm:t>
    </dgm:pt>
    <dgm:pt modelId="{AFBC4E03-26DE-4376-931D-DBD7BA092BC5}">
      <dgm:prSet/>
      <dgm:spPr/>
      <dgm:t>
        <a:bodyPr/>
        <a:lstStyle/>
        <a:p>
          <a:r>
            <a:rPr lang="en-US"/>
            <a:t>Employment Services</a:t>
          </a:r>
        </a:p>
      </dgm:t>
    </dgm:pt>
    <dgm:pt modelId="{C22D03DE-190E-49A1-88EF-ACA41137B92E}" type="parTrans" cxnId="{ACC2CDDE-8E23-498A-8B4A-3FC999F1FF32}">
      <dgm:prSet/>
      <dgm:spPr/>
      <dgm:t>
        <a:bodyPr/>
        <a:lstStyle/>
        <a:p>
          <a:endParaRPr lang="en-US"/>
        </a:p>
      </dgm:t>
    </dgm:pt>
    <dgm:pt modelId="{0371152A-9CC0-4372-858A-D44A01A90D44}" type="sibTrans" cxnId="{ACC2CDDE-8E23-498A-8B4A-3FC999F1FF32}">
      <dgm:prSet/>
      <dgm:spPr/>
      <dgm:t>
        <a:bodyPr/>
        <a:lstStyle/>
        <a:p>
          <a:endParaRPr lang="en-US"/>
        </a:p>
      </dgm:t>
    </dgm:pt>
    <dgm:pt modelId="{6F18D39F-2FC4-4CCC-9FCD-E9D70CC5C15E}" type="pres">
      <dgm:prSet presAssocID="{16977B66-2B53-4FEF-A5F1-5D8AE82DEFAF}" presName="linear" presStyleCnt="0">
        <dgm:presLayoutVars>
          <dgm:dir/>
          <dgm:animLvl val="lvl"/>
          <dgm:resizeHandles val="exact"/>
        </dgm:presLayoutVars>
      </dgm:prSet>
      <dgm:spPr/>
    </dgm:pt>
    <dgm:pt modelId="{B3D3AAA7-8891-4123-B931-2700181F7178}" type="pres">
      <dgm:prSet presAssocID="{FA01AFB6-BBC9-46C0-87C4-3BE5CA0FCB9F}" presName="parentLin" presStyleCnt="0"/>
      <dgm:spPr/>
    </dgm:pt>
    <dgm:pt modelId="{37548F0E-C05D-405C-933B-EE4819432E6C}" type="pres">
      <dgm:prSet presAssocID="{FA01AFB6-BBC9-46C0-87C4-3BE5CA0FCB9F}" presName="parentLeftMargin" presStyleLbl="node1" presStyleIdx="0" presStyleCnt="3"/>
      <dgm:spPr/>
    </dgm:pt>
    <dgm:pt modelId="{38FDCA0E-FB92-4FCD-AD5D-293908D8D112}" type="pres">
      <dgm:prSet presAssocID="{FA01AFB6-BBC9-46C0-87C4-3BE5CA0FCB9F}" presName="parentText" presStyleLbl="node1" presStyleIdx="0" presStyleCnt="3">
        <dgm:presLayoutVars>
          <dgm:chMax val="0"/>
          <dgm:bulletEnabled val="1"/>
        </dgm:presLayoutVars>
      </dgm:prSet>
      <dgm:spPr/>
    </dgm:pt>
    <dgm:pt modelId="{F02E4B73-E7F6-4B1D-884B-65F322035C0D}" type="pres">
      <dgm:prSet presAssocID="{FA01AFB6-BBC9-46C0-87C4-3BE5CA0FCB9F}" presName="negativeSpace" presStyleCnt="0"/>
      <dgm:spPr/>
    </dgm:pt>
    <dgm:pt modelId="{B7D3AC46-9374-4A56-9A5B-50D38EDCE207}" type="pres">
      <dgm:prSet presAssocID="{FA01AFB6-BBC9-46C0-87C4-3BE5CA0FCB9F}" presName="childText" presStyleLbl="conFgAcc1" presStyleIdx="0" presStyleCnt="3">
        <dgm:presLayoutVars>
          <dgm:bulletEnabled val="1"/>
        </dgm:presLayoutVars>
      </dgm:prSet>
      <dgm:spPr/>
    </dgm:pt>
    <dgm:pt modelId="{A7046B98-B697-4B8B-A2F8-C480D0BD9189}" type="pres">
      <dgm:prSet presAssocID="{880C47CC-701B-4404-AFDA-C29AE6CB0CF2}" presName="spaceBetweenRectangles" presStyleCnt="0"/>
      <dgm:spPr/>
    </dgm:pt>
    <dgm:pt modelId="{D8BEE8F6-365D-4EF8-A6DC-CD4656590082}" type="pres">
      <dgm:prSet presAssocID="{6CA5FAE6-275F-428A-90B1-E1220B42108B}" presName="parentLin" presStyleCnt="0"/>
      <dgm:spPr/>
    </dgm:pt>
    <dgm:pt modelId="{EEDE72C8-36B7-4C38-99F8-2B3F6C3953CB}" type="pres">
      <dgm:prSet presAssocID="{6CA5FAE6-275F-428A-90B1-E1220B42108B}" presName="parentLeftMargin" presStyleLbl="node1" presStyleIdx="0" presStyleCnt="3"/>
      <dgm:spPr/>
    </dgm:pt>
    <dgm:pt modelId="{1F163889-507A-403A-BC64-ED87751D2991}" type="pres">
      <dgm:prSet presAssocID="{6CA5FAE6-275F-428A-90B1-E1220B42108B}" presName="parentText" presStyleLbl="node1" presStyleIdx="1" presStyleCnt="3">
        <dgm:presLayoutVars>
          <dgm:chMax val="0"/>
          <dgm:bulletEnabled val="1"/>
        </dgm:presLayoutVars>
      </dgm:prSet>
      <dgm:spPr/>
    </dgm:pt>
    <dgm:pt modelId="{8B5B3475-BCBE-4CAD-9638-130D4180DE01}" type="pres">
      <dgm:prSet presAssocID="{6CA5FAE6-275F-428A-90B1-E1220B42108B}" presName="negativeSpace" presStyleCnt="0"/>
      <dgm:spPr/>
    </dgm:pt>
    <dgm:pt modelId="{B4F61A4B-854F-4B11-BFD8-7E3770F38763}" type="pres">
      <dgm:prSet presAssocID="{6CA5FAE6-275F-428A-90B1-E1220B42108B}" presName="childText" presStyleLbl="conFgAcc1" presStyleIdx="1" presStyleCnt="3">
        <dgm:presLayoutVars>
          <dgm:bulletEnabled val="1"/>
        </dgm:presLayoutVars>
      </dgm:prSet>
      <dgm:spPr/>
    </dgm:pt>
    <dgm:pt modelId="{A4FA7E79-F1EC-4FC3-A489-1DA2FF2C6919}" type="pres">
      <dgm:prSet presAssocID="{76DCC61E-2CC6-4854-84D7-9E476732087C}" presName="spaceBetweenRectangles" presStyleCnt="0"/>
      <dgm:spPr/>
    </dgm:pt>
    <dgm:pt modelId="{E5B291FF-AB4A-4A26-B0E0-6FB88572A770}" type="pres">
      <dgm:prSet presAssocID="{AFBC4E03-26DE-4376-931D-DBD7BA092BC5}" presName="parentLin" presStyleCnt="0"/>
      <dgm:spPr/>
    </dgm:pt>
    <dgm:pt modelId="{FE7786DE-1621-4EF0-B893-55874A6E15B0}" type="pres">
      <dgm:prSet presAssocID="{AFBC4E03-26DE-4376-931D-DBD7BA092BC5}" presName="parentLeftMargin" presStyleLbl="node1" presStyleIdx="1" presStyleCnt="3"/>
      <dgm:spPr/>
    </dgm:pt>
    <dgm:pt modelId="{6023E43F-E0A2-4DE4-AA5F-843D1021485D}" type="pres">
      <dgm:prSet presAssocID="{AFBC4E03-26DE-4376-931D-DBD7BA092BC5}" presName="parentText" presStyleLbl="node1" presStyleIdx="2" presStyleCnt="3">
        <dgm:presLayoutVars>
          <dgm:chMax val="0"/>
          <dgm:bulletEnabled val="1"/>
        </dgm:presLayoutVars>
      </dgm:prSet>
      <dgm:spPr/>
    </dgm:pt>
    <dgm:pt modelId="{334DA903-04D6-425E-A8DA-01F2BB7D2814}" type="pres">
      <dgm:prSet presAssocID="{AFBC4E03-26DE-4376-931D-DBD7BA092BC5}" presName="negativeSpace" presStyleCnt="0"/>
      <dgm:spPr/>
    </dgm:pt>
    <dgm:pt modelId="{D145A6F2-7B54-4815-A067-B80291269824}" type="pres">
      <dgm:prSet presAssocID="{AFBC4E03-26DE-4376-931D-DBD7BA092BC5}" presName="childText" presStyleLbl="conFgAcc1" presStyleIdx="2" presStyleCnt="3">
        <dgm:presLayoutVars>
          <dgm:bulletEnabled val="1"/>
        </dgm:presLayoutVars>
      </dgm:prSet>
      <dgm:spPr/>
    </dgm:pt>
  </dgm:ptLst>
  <dgm:cxnLst>
    <dgm:cxn modelId="{A5CA1A0E-F689-4FEC-B1B0-DC0B3ECA6C2E}" type="presOf" srcId="{FA01AFB6-BBC9-46C0-87C4-3BE5CA0FCB9F}" destId="{38FDCA0E-FB92-4FCD-AD5D-293908D8D112}" srcOrd="1" destOrd="0" presId="urn:microsoft.com/office/officeart/2005/8/layout/list1"/>
    <dgm:cxn modelId="{5C3CEF14-1EC5-46BF-8A90-DBC98364CF72}" type="presOf" srcId="{AFBC4E03-26DE-4376-931D-DBD7BA092BC5}" destId="{FE7786DE-1621-4EF0-B893-55874A6E15B0}" srcOrd="0" destOrd="0" presId="urn:microsoft.com/office/officeart/2005/8/layout/list1"/>
    <dgm:cxn modelId="{254CAA22-883A-4879-B4E8-6ACFC668AFFB}" type="presOf" srcId="{16977B66-2B53-4FEF-A5F1-5D8AE82DEFAF}" destId="{6F18D39F-2FC4-4CCC-9FCD-E9D70CC5C15E}" srcOrd="0" destOrd="0" presId="urn:microsoft.com/office/officeart/2005/8/layout/list1"/>
    <dgm:cxn modelId="{1C72BD5E-D0E2-46A3-9EE2-AA7C83BFEAE3}" type="presOf" srcId="{6CA5FAE6-275F-428A-90B1-E1220B42108B}" destId="{1F163889-507A-403A-BC64-ED87751D2991}" srcOrd="1" destOrd="0" presId="urn:microsoft.com/office/officeart/2005/8/layout/list1"/>
    <dgm:cxn modelId="{0251E662-657F-43E7-8FDD-C8C499C5D045}" type="presOf" srcId="{6CA5FAE6-275F-428A-90B1-E1220B42108B}" destId="{EEDE72C8-36B7-4C38-99F8-2B3F6C3953CB}" srcOrd="0" destOrd="0" presId="urn:microsoft.com/office/officeart/2005/8/layout/list1"/>
    <dgm:cxn modelId="{82B6E466-A7A9-4066-8314-DC0DE6BC63E1}" srcId="{16977B66-2B53-4FEF-A5F1-5D8AE82DEFAF}" destId="{6CA5FAE6-275F-428A-90B1-E1220B42108B}" srcOrd="1" destOrd="0" parTransId="{03CB05AB-ED3E-4164-A877-45C4C3D1885F}" sibTransId="{76DCC61E-2CC6-4854-84D7-9E476732087C}"/>
    <dgm:cxn modelId="{E8974F4F-B702-42BE-97B2-10A7BDB08C4D}" type="presOf" srcId="{FA01AFB6-BBC9-46C0-87C4-3BE5CA0FCB9F}" destId="{37548F0E-C05D-405C-933B-EE4819432E6C}" srcOrd="0" destOrd="0" presId="urn:microsoft.com/office/officeart/2005/8/layout/list1"/>
    <dgm:cxn modelId="{AE7E7F86-2AD7-44F9-9684-84D965B192E9}" type="presOf" srcId="{AFBC4E03-26DE-4376-931D-DBD7BA092BC5}" destId="{6023E43F-E0A2-4DE4-AA5F-843D1021485D}" srcOrd="1" destOrd="0" presId="urn:microsoft.com/office/officeart/2005/8/layout/list1"/>
    <dgm:cxn modelId="{AC0C25DE-D46F-4F89-A1E9-06A23AA402B1}" srcId="{16977B66-2B53-4FEF-A5F1-5D8AE82DEFAF}" destId="{FA01AFB6-BBC9-46C0-87C4-3BE5CA0FCB9F}" srcOrd="0" destOrd="0" parTransId="{278BCD55-C9BC-4EDF-A78D-A36DE248CF0A}" sibTransId="{880C47CC-701B-4404-AFDA-C29AE6CB0CF2}"/>
    <dgm:cxn modelId="{ACC2CDDE-8E23-498A-8B4A-3FC999F1FF32}" srcId="{16977B66-2B53-4FEF-A5F1-5D8AE82DEFAF}" destId="{AFBC4E03-26DE-4376-931D-DBD7BA092BC5}" srcOrd="2" destOrd="0" parTransId="{C22D03DE-190E-49A1-88EF-ACA41137B92E}" sibTransId="{0371152A-9CC0-4372-858A-D44A01A90D44}"/>
    <dgm:cxn modelId="{291D89FC-E3D3-4B0F-8CAE-B371DED2163F}" type="presParOf" srcId="{6F18D39F-2FC4-4CCC-9FCD-E9D70CC5C15E}" destId="{B3D3AAA7-8891-4123-B931-2700181F7178}" srcOrd="0" destOrd="0" presId="urn:microsoft.com/office/officeart/2005/8/layout/list1"/>
    <dgm:cxn modelId="{5E3A3A10-8CD4-4C77-9603-62C9C1F017E7}" type="presParOf" srcId="{B3D3AAA7-8891-4123-B931-2700181F7178}" destId="{37548F0E-C05D-405C-933B-EE4819432E6C}" srcOrd="0" destOrd="0" presId="urn:microsoft.com/office/officeart/2005/8/layout/list1"/>
    <dgm:cxn modelId="{145A6FFE-ED16-4B29-9A41-D71A906DE115}" type="presParOf" srcId="{B3D3AAA7-8891-4123-B931-2700181F7178}" destId="{38FDCA0E-FB92-4FCD-AD5D-293908D8D112}" srcOrd="1" destOrd="0" presId="urn:microsoft.com/office/officeart/2005/8/layout/list1"/>
    <dgm:cxn modelId="{AED40B4E-EB99-4481-85DB-00C9B54B2AE6}" type="presParOf" srcId="{6F18D39F-2FC4-4CCC-9FCD-E9D70CC5C15E}" destId="{F02E4B73-E7F6-4B1D-884B-65F322035C0D}" srcOrd="1" destOrd="0" presId="urn:microsoft.com/office/officeart/2005/8/layout/list1"/>
    <dgm:cxn modelId="{7538EC02-F34C-44C2-BF73-A510AAE54E0C}" type="presParOf" srcId="{6F18D39F-2FC4-4CCC-9FCD-E9D70CC5C15E}" destId="{B7D3AC46-9374-4A56-9A5B-50D38EDCE207}" srcOrd="2" destOrd="0" presId="urn:microsoft.com/office/officeart/2005/8/layout/list1"/>
    <dgm:cxn modelId="{5361EFA1-9C26-416A-8EE3-5D6D0C295877}" type="presParOf" srcId="{6F18D39F-2FC4-4CCC-9FCD-E9D70CC5C15E}" destId="{A7046B98-B697-4B8B-A2F8-C480D0BD9189}" srcOrd="3" destOrd="0" presId="urn:microsoft.com/office/officeart/2005/8/layout/list1"/>
    <dgm:cxn modelId="{70269582-5248-4B5F-A232-AD314084D697}" type="presParOf" srcId="{6F18D39F-2FC4-4CCC-9FCD-E9D70CC5C15E}" destId="{D8BEE8F6-365D-4EF8-A6DC-CD4656590082}" srcOrd="4" destOrd="0" presId="urn:microsoft.com/office/officeart/2005/8/layout/list1"/>
    <dgm:cxn modelId="{E4710D47-C79F-4CD7-AD96-E6D27649FD12}" type="presParOf" srcId="{D8BEE8F6-365D-4EF8-A6DC-CD4656590082}" destId="{EEDE72C8-36B7-4C38-99F8-2B3F6C3953CB}" srcOrd="0" destOrd="0" presId="urn:microsoft.com/office/officeart/2005/8/layout/list1"/>
    <dgm:cxn modelId="{8DB57CB6-14D3-4FDB-BD35-D886A2660CD8}" type="presParOf" srcId="{D8BEE8F6-365D-4EF8-A6DC-CD4656590082}" destId="{1F163889-507A-403A-BC64-ED87751D2991}" srcOrd="1" destOrd="0" presId="urn:microsoft.com/office/officeart/2005/8/layout/list1"/>
    <dgm:cxn modelId="{CCB77BBF-9C12-41E1-8488-AA9B08262479}" type="presParOf" srcId="{6F18D39F-2FC4-4CCC-9FCD-E9D70CC5C15E}" destId="{8B5B3475-BCBE-4CAD-9638-130D4180DE01}" srcOrd="5" destOrd="0" presId="urn:microsoft.com/office/officeart/2005/8/layout/list1"/>
    <dgm:cxn modelId="{4A0C4184-DCB8-4EAA-9294-866C07BD1F98}" type="presParOf" srcId="{6F18D39F-2FC4-4CCC-9FCD-E9D70CC5C15E}" destId="{B4F61A4B-854F-4B11-BFD8-7E3770F38763}" srcOrd="6" destOrd="0" presId="urn:microsoft.com/office/officeart/2005/8/layout/list1"/>
    <dgm:cxn modelId="{8379E64A-6E65-4920-B894-4DCD69F180E6}" type="presParOf" srcId="{6F18D39F-2FC4-4CCC-9FCD-E9D70CC5C15E}" destId="{A4FA7E79-F1EC-4FC3-A489-1DA2FF2C6919}" srcOrd="7" destOrd="0" presId="urn:microsoft.com/office/officeart/2005/8/layout/list1"/>
    <dgm:cxn modelId="{44DBD16A-5D0E-4B61-BB5E-D91DA1BB77C0}" type="presParOf" srcId="{6F18D39F-2FC4-4CCC-9FCD-E9D70CC5C15E}" destId="{E5B291FF-AB4A-4A26-B0E0-6FB88572A770}" srcOrd="8" destOrd="0" presId="urn:microsoft.com/office/officeart/2005/8/layout/list1"/>
    <dgm:cxn modelId="{A1A5F95A-306B-4CD5-8289-6EC85BB9A53A}" type="presParOf" srcId="{E5B291FF-AB4A-4A26-B0E0-6FB88572A770}" destId="{FE7786DE-1621-4EF0-B893-55874A6E15B0}" srcOrd="0" destOrd="0" presId="urn:microsoft.com/office/officeart/2005/8/layout/list1"/>
    <dgm:cxn modelId="{3FE0DE7A-C05F-45CF-8B88-1DC1DFBD80D4}" type="presParOf" srcId="{E5B291FF-AB4A-4A26-B0E0-6FB88572A770}" destId="{6023E43F-E0A2-4DE4-AA5F-843D1021485D}" srcOrd="1" destOrd="0" presId="urn:microsoft.com/office/officeart/2005/8/layout/list1"/>
    <dgm:cxn modelId="{02D98FC5-03B8-48AE-8169-D902655B44A1}" type="presParOf" srcId="{6F18D39F-2FC4-4CCC-9FCD-E9D70CC5C15E}" destId="{334DA903-04D6-425E-A8DA-01F2BB7D2814}" srcOrd="9" destOrd="0" presId="urn:microsoft.com/office/officeart/2005/8/layout/list1"/>
    <dgm:cxn modelId="{BB2512F1-056D-4A30-BFCD-995D56EB7C35}" type="presParOf" srcId="{6F18D39F-2FC4-4CCC-9FCD-E9D70CC5C15E}" destId="{D145A6F2-7B54-4815-A067-B80291269824}"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80DE60-7187-4D5D-8615-DE4E3DA834D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5EC7160-E5B8-42C6-A447-C281BFDB7DEF}">
      <dgm:prSet/>
      <dgm:spPr/>
      <dgm:t>
        <a:bodyPr/>
        <a:lstStyle/>
        <a:p>
          <a:pPr>
            <a:defRPr cap="all"/>
          </a:pPr>
          <a:r>
            <a:rPr lang="en-US"/>
            <a:t>7 times…</a:t>
          </a:r>
        </a:p>
      </dgm:t>
    </dgm:pt>
    <dgm:pt modelId="{BA2CA520-336E-4B7A-8BDF-1ECB004E3B11}" type="parTrans" cxnId="{15D3732C-F62E-4597-89AB-296402993595}">
      <dgm:prSet/>
      <dgm:spPr/>
      <dgm:t>
        <a:bodyPr/>
        <a:lstStyle/>
        <a:p>
          <a:endParaRPr lang="en-US"/>
        </a:p>
      </dgm:t>
    </dgm:pt>
    <dgm:pt modelId="{3678B686-E353-46B6-B5E7-66670B5B86DC}" type="sibTrans" cxnId="{15D3732C-F62E-4597-89AB-296402993595}">
      <dgm:prSet/>
      <dgm:spPr/>
      <dgm:t>
        <a:bodyPr/>
        <a:lstStyle/>
        <a:p>
          <a:endParaRPr lang="en-US"/>
        </a:p>
      </dgm:t>
    </dgm:pt>
    <dgm:pt modelId="{85DF3E16-B47F-482D-9563-7AE0347546C0}">
      <dgm:prSet/>
      <dgm:spPr/>
      <dgm:t>
        <a:bodyPr/>
        <a:lstStyle/>
        <a:p>
          <a:pPr>
            <a:defRPr cap="all"/>
          </a:pPr>
          <a:r>
            <a:rPr lang="en-US"/>
            <a:t>In 7 ways</a:t>
          </a:r>
        </a:p>
      </dgm:t>
    </dgm:pt>
    <dgm:pt modelId="{AF995889-7B99-42EE-9C79-6E0590252D9C}" type="parTrans" cxnId="{46BD6B98-3293-41C2-8C57-CD4862C96529}">
      <dgm:prSet/>
      <dgm:spPr/>
      <dgm:t>
        <a:bodyPr/>
        <a:lstStyle/>
        <a:p>
          <a:endParaRPr lang="en-US"/>
        </a:p>
      </dgm:t>
    </dgm:pt>
    <dgm:pt modelId="{A1EB0622-8FA2-46B5-8B36-DEF1FDE3092D}" type="sibTrans" cxnId="{46BD6B98-3293-41C2-8C57-CD4862C96529}">
      <dgm:prSet/>
      <dgm:spPr/>
      <dgm:t>
        <a:bodyPr/>
        <a:lstStyle/>
        <a:p>
          <a:endParaRPr lang="en-US"/>
        </a:p>
      </dgm:t>
    </dgm:pt>
    <dgm:pt modelId="{C53C94E5-2BBF-4345-819E-389BE7A8D379}" type="pres">
      <dgm:prSet presAssocID="{5580DE60-7187-4D5D-8615-DE4E3DA834D9}" presName="root" presStyleCnt="0">
        <dgm:presLayoutVars>
          <dgm:dir/>
          <dgm:resizeHandles val="exact"/>
        </dgm:presLayoutVars>
      </dgm:prSet>
      <dgm:spPr/>
    </dgm:pt>
    <dgm:pt modelId="{4D1AD967-6E94-43EA-BBF2-E363AFAD2214}" type="pres">
      <dgm:prSet presAssocID="{85EC7160-E5B8-42C6-A447-C281BFDB7DEF}" presName="compNode" presStyleCnt="0"/>
      <dgm:spPr/>
    </dgm:pt>
    <dgm:pt modelId="{3D0E6FAD-565E-4334-9E54-35483194EAE3}" type="pres">
      <dgm:prSet presAssocID="{85EC7160-E5B8-42C6-A447-C281BFDB7DEF}" presName="iconBgRect" presStyleLbl="bgShp" presStyleIdx="0" presStyleCnt="2"/>
      <dgm:spPr/>
    </dgm:pt>
    <dgm:pt modelId="{76626D69-40F8-496A-8F40-822DDD3F9091}" type="pres">
      <dgm:prSet presAssocID="{85EC7160-E5B8-42C6-A447-C281BFDB7DE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A20B5DD9-1234-4D61-8254-1BAD18F56CCE}" type="pres">
      <dgm:prSet presAssocID="{85EC7160-E5B8-42C6-A447-C281BFDB7DEF}" presName="spaceRect" presStyleCnt="0"/>
      <dgm:spPr/>
    </dgm:pt>
    <dgm:pt modelId="{459053EC-AFC9-4483-BEF1-60C98089CFE4}" type="pres">
      <dgm:prSet presAssocID="{85EC7160-E5B8-42C6-A447-C281BFDB7DEF}" presName="textRect" presStyleLbl="revTx" presStyleIdx="0" presStyleCnt="2">
        <dgm:presLayoutVars>
          <dgm:chMax val="1"/>
          <dgm:chPref val="1"/>
        </dgm:presLayoutVars>
      </dgm:prSet>
      <dgm:spPr/>
    </dgm:pt>
    <dgm:pt modelId="{6BFEBF77-0446-4458-9D94-75F42840374F}" type="pres">
      <dgm:prSet presAssocID="{3678B686-E353-46B6-B5E7-66670B5B86DC}" presName="sibTrans" presStyleCnt="0"/>
      <dgm:spPr/>
    </dgm:pt>
    <dgm:pt modelId="{362BCC71-6F28-4516-A147-1D289B639658}" type="pres">
      <dgm:prSet presAssocID="{85DF3E16-B47F-482D-9563-7AE0347546C0}" presName="compNode" presStyleCnt="0"/>
      <dgm:spPr/>
    </dgm:pt>
    <dgm:pt modelId="{C2156E99-6E08-485F-A206-A352173159DE}" type="pres">
      <dgm:prSet presAssocID="{85DF3E16-B47F-482D-9563-7AE0347546C0}" presName="iconBgRect" presStyleLbl="bgShp" presStyleIdx="1" presStyleCnt="2"/>
      <dgm:spPr/>
    </dgm:pt>
    <dgm:pt modelId="{F92E61E7-25DD-42B5-B3DA-C350AF0E3C11}" type="pres">
      <dgm:prSet presAssocID="{85DF3E16-B47F-482D-9563-7AE0347546C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36E8C3A0-E34A-4822-9C9B-96F9FB1796A2}" type="pres">
      <dgm:prSet presAssocID="{85DF3E16-B47F-482D-9563-7AE0347546C0}" presName="spaceRect" presStyleCnt="0"/>
      <dgm:spPr/>
    </dgm:pt>
    <dgm:pt modelId="{D0B120BE-2F05-4CEE-ACE9-44B94759E386}" type="pres">
      <dgm:prSet presAssocID="{85DF3E16-B47F-482D-9563-7AE0347546C0}" presName="textRect" presStyleLbl="revTx" presStyleIdx="1" presStyleCnt="2">
        <dgm:presLayoutVars>
          <dgm:chMax val="1"/>
          <dgm:chPref val="1"/>
        </dgm:presLayoutVars>
      </dgm:prSet>
      <dgm:spPr/>
    </dgm:pt>
  </dgm:ptLst>
  <dgm:cxnLst>
    <dgm:cxn modelId="{15D3732C-F62E-4597-89AB-296402993595}" srcId="{5580DE60-7187-4D5D-8615-DE4E3DA834D9}" destId="{85EC7160-E5B8-42C6-A447-C281BFDB7DEF}" srcOrd="0" destOrd="0" parTransId="{BA2CA520-336E-4B7A-8BDF-1ECB004E3B11}" sibTransId="{3678B686-E353-46B6-B5E7-66670B5B86DC}"/>
    <dgm:cxn modelId="{46BD6B98-3293-41C2-8C57-CD4862C96529}" srcId="{5580DE60-7187-4D5D-8615-DE4E3DA834D9}" destId="{85DF3E16-B47F-482D-9563-7AE0347546C0}" srcOrd="1" destOrd="0" parTransId="{AF995889-7B99-42EE-9C79-6E0590252D9C}" sibTransId="{A1EB0622-8FA2-46B5-8B36-DEF1FDE3092D}"/>
    <dgm:cxn modelId="{7AF6F5AD-6E35-44E2-9FCD-DB9C78B5D1DB}" type="presOf" srcId="{85DF3E16-B47F-482D-9563-7AE0347546C0}" destId="{D0B120BE-2F05-4CEE-ACE9-44B94759E386}" srcOrd="0" destOrd="0" presId="urn:microsoft.com/office/officeart/2018/5/layout/IconCircleLabelList"/>
    <dgm:cxn modelId="{2EBA96C6-88EB-45B2-ACC4-563CCCDB7E19}" type="presOf" srcId="{85EC7160-E5B8-42C6-A447-C281BFDB7DEF}" destId="{459053EC-AFC9-4483-BEF1-60C98089CFE4}" srcOrd="0" destOrd="0" presId="urn:microsoft.com/office/officeart/2018/5/layout/IconCircleLabelList"/>
    <dgm:cxn modelId="{D004F2F6-A0BD-45E0-9743-5A94E62A1576}" type="presOf" srcId="{5580DE60-7187-4D5D-8615-DE4E3DA834D9}" destId="{C53C94E5-2BBF-4345-819E-389BE7A8D379}" srcOrd="0" destOrd="0" presId="urn:microsoft.com/office/officeart/2018/5/layout/IconCircleLabelList"/>
    <dgm:cxn modelId="{03D55D74-B9BA-4D39-BBCD-2394EA740224}" type="presParOf" srcId="{C53C94E5-2BBF-4345-819E-389BE7A8D379}" destId="{4D1AD967-6E94-43EA-BBF2-E363AFAD2214}" srcOrd="0" destOrd="0" presId="urn:microsoft.com/office/officeart/2018/5/layout/IconCircleLabelList"/>
    <dgm:cxn modelId="{C02D31B3-DB8E-484F-B363-5E8C76D5CE20}" type="presParOf" srcId="{4D1AD967-6E94-43EA-BBF2-E363AFAD2214}" destId="{3D0E6FAD-565E-4334-9E54-35483194EAE3}" srcOrd="0" destOrd="0" presId="urn:microsoft.com/office/officeart/2018/5/layout/IconCircleLabelList"/>
    <dgm:cxn modelId="{D10DD5DB-FD33-4D81-A45E-3F0D7D102174}" type="presParOf" srcId="{4D1AD967-6E94-43EA-BBF2-E363AFAD2214}" destId="{76626D69-40F8-496A-8F40-822DDD3F9091}" srcOrd="1" destOrd="0" presId="urn:microsoft.com/office/officeart/2018/5/layout/IconCircleLabelList"/>
    <dgm:cxn modelId="{3CBD727A-C258-4BD2-B2C2-C74DBC576CF6}" type="presParOf" srcId="{4D1AD967-6E94-43EA-BBF2-E363AFAD2214}" destId="{A20B5DD9-1234-4D61-8254-1BAD18F56CCE}" srcOrd="2" destOrd="0" presId="urn:microsoft.com/office/officeart/2018/5/layout/IconCircleLabelList"/>
    <dgm:cxn modelId="{E1A523C2-E8D3-4A17-8E48-43BDEC170A21}" type="presParOf" srcId="{4D1AD967-6E94-43EA-BBF2-E363AFAD2214}" destId="{459053EC-AFC9-4483-BEF1-60C98089CFE4}" srcOrd="3" destOrd="0" presId="urn:microsoft.com/office/officeart/2018/5/layout/IconCircleLabelList"/>
    <dgm:cxn modelId="{B4C46BC0-637F-4C93-BB10-C56FEF31A474}" type="presParOf" srcId="{C53C94E5-2BBF-4345-819E-389BE7A8D379}" destId="{6BFEBF77-0446-4458-9D94-75F42840374F}" srcOrd="1" destOrd="0" presId="urn:microsoft.com/office/officeart/2018/5/layout/IconCircleLabelList"/>
    <dgm:cxn modelId="{BFFFBD8B-16D3-4DF7-AC8F-97809AEC9618}" type="presParOf" srcId="{C53C94E5-2BBF-4345-819E-389BE7A8D379}" destId="{362BCC71-6F28-4516-A147-1D289B639658}" srcOrd="2" destOrd="0" presId="urn:microsoft.com/office/officeart/2018/5/layout/IconCircleLabelList"/>
    <dgm:cxn modelId="{19A61283-7ED4-4B81-9981-E509608ABA57}" type="presParOf" srcId="{362BCC71-6F28-4516-A147-1D289B639658}" destId="{C2156E99-6E08-485F-A206-A352173159DE}" srcOrd="0" destOrd="0" presId="urn:microsoft.com/office/officeart/2018/5/layout/IconCircleLabelList"/>
    <dgm:cxn modelId="{1C239629-B958-4A71-B51B-97DAACC62345}" type="presParOf" srcId="{362BCC71-6F28-4516-A147-1D289B639658}" destId="{F92E61E7-25DD-42B5-B3DA-C350AF0E3C11}" srcOrd="1" destOrd="0" presId="urn:microsoft.com/office/officeart/2018/5/layout/IconCircleLabelList"/>
    <dgm:cxn modelId="{DF19E1EB-D7F1-413C-8DC4-274A9589A77C}" type="presParOf" srcId="{362BCC71-6F28-4516-A147-1D289B639658}" destId="{36E8C3A0-E34A-4822-9C9B-96F9FB1796A2}" srcOrd="2" destOrd="0" presId="urn:microsoft.com/office/officeart/2018/5/layout/IconCircleLabelList"/>
    <dgm:cxn modelId="{015CC85E-4954-4A0C-B3C0-BA4F2F663EC1}" type="presParOf" srcId="{362BCC71-6F28-4516-A147-1D289B639658}" destId="{D0B120BE-2F05-4CEE-ACE9-44B94759E386}"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2257160-06EA-47E3-912D-5344B8262A2A}"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4A622F2-D13A-4E78-95D2-B3D174640A3E}">
      <dgm:prSet/>
      <dgm:spPr/>
      <dgm:t>
        <a:bodyPr/>
        <a:lstStyle/>
        <a:p>
          <a:pPr>
            <a:lnSpc>
              <a:spcPct val="100000"/>
            </a:lnSpc>
          </a:pPr>
          <a:r>
            <a:rPr lang="en-US"/>
            <a:t>Email: treuter@mymrci.org</a:t>
          </a:r>
        </a:p>
      </dgm:t>
    </dgm:pt>
    <dgm:pt modelId="{BA4357C2-BC58-4880-9E39-4CCF4E72972A}" type="parTrans" cxnId="{37401C1B-0550-4383-A09F-DAD124104D64}">
      <dgm:prSet/>
      <dgm:spPr/>
      <dgm:t>
        <a:bodyPr/>
        <a:lstStyle/>
        <a:p>
          <a:endParaRPr lang="en-US"/>
        </a:p>
      </dgm:t>
    </dgm:pt>
    <dgm:pt modelId="{EF16D806-F21C-477B-A0E7-BD32C2416B20}" type="sibTrans" cxnId="{37401C1B-0550-4383-A09F-DAD124104D64}">
      <dgm:prSet/>
      <dgm:spPr/>
      <dgm:t>
        <a:bodyPr/>
        <a:lstStyle/>
        <a:p>
          <a:pPr>
            <a:lnSpc>
              <a:spcPct val="100000"/>
            </a:lnSpc>
          </a:pPr>
          <a:endParaRPr lang="en-US"/>
        </a:p>
      </dgm:t>
    </dgm:pt>
    <dgm:pt modelId="{ED1232D7-34C1-49C5-82C6-8F3F034F5AA1}">
      <dgm:prSet/>
      <dgm:spPr/>
      <dgm:t>
        <a:bodyPr/>
        <a:lstStyle/>
        <a:p>
          <a:pPr>
            <a:lnSpc>
              <a:spcPct val="100000"/>
            </a:lnSpc>
          </a:pPr>
          <a:r>
            <a:rPr lang="en-US"/>
            <a:t>Phone: 507-386-5656</a:t>
          </a:r>
        </a:p>
      </dgm:t>
    </dgm:pt>
    <dgm:pt modelId="{861970F5-57D1-4612-B87C-442B1EA7DA89}" type="parTrans" cxnId="{991D6809-3A10-496C-9923-3C3754074318}">
      <dgm:prSet/>
      <dgm:spPr/>
      <dgm:t>
        <a:bodyPr/>
        <a:lstStyle/>
        <a:p>
          <a:endParaRPr lang="en-US"/>
        </a:p>
      </dgm:t>
    </dgm:pt>
    <dgm:pt modelId="{47CE2935-12AC-4E4E-950D-3CE8CF944AF0}" type="sibTrans" cxnId="{991D6809-3A10-496C-9923-3C3754074318}">
      <dgm:prSet/>
      <dgm:spPr/>
      <dgm:t>
        <a:bodyPr/>
        <a:lstStyle/>
        <a:p>
          <a:pPr>
            <a:lnSpc>
              <a:spcPct val="100000"/>
            </a:lnSpc>
          </a:pPr>
          <a:endParaRPr lang="en-US"/>
        </a:p>
      </dgm:t>
    </dgm:pt>
    <dgm:pt modelId="{17124684-F4B6-4783-82D0-FEA9253CF204}">
      <dgm:prSet/>
      <dgm:spPr/>
      <dgm:t>
        <a:bodyPr/>
        <a:lstStyle/>
        <a:p>
          <a:pPr>
            <a:lnSpc>
              <a:spcPct val="100000"/>
            </a:lnSpc>
          </a:pPr>
          <a:r>
            <a:rPr lang="en-US" dirty="0"/>
            <a:t>Email: nLotton@mymrci.org</a:t>
          </a:r>
        </a:p>
      </dgm:t>
    </dgm:pt>
    <dgm:pt modelId="{17B96C08-7703-4634-B45C-49DEECFA5C8B}" type="parTrans" cxnId="{B2030EF6-0F27-4D13-83B8-76499E37616D}">
      <dgm:prSet/>
      <dgm:spPr/>
      <dgm:t>
        <a:bodyPr/>
        <a:lstStyle/>
        <a:p>
          <a:endParaRPr lang="en-US"/>
        </a:p>
      </dgm:t>
    </dgm:pt>
    <dgm:pt modelId="{BDF4F5A0-9E64-4E4E-9250-C5B9DCA9A500}" type="sibTrans" cxnId="{B2030EF6-0F27-4D13-83B8-76499E37616D}">
      <dgm:prSet/>
      <dgm:spPr/>
      <dgm:t>
        <a:bodyPr/>
        <a:lstStyle/>
        <a:p>
          <a:pPr>
            <a:lnSpc>
              <a:spcPct val="100000"/>
            </a:lnSpc>
          </a:pPr>
          <a:endParaRPr lang="en-US"/>
        </a:p>
      </dgm:t>
    </dgm:pt>
    <dgm:pt modelId="{872AB966-AA07-400B-95D0-0CB3DF772BED}">
      <dgm:prSet/>
      <dgm:spPr/>
      <dgm:t>
        <a:bodyPr/>
        <a:lstStyle/>
        <a:p>
          <a:pPr>
            <a:lnSpc>
              <a:spcPct val="100000"/>
            </a:lnSpc>
          </a:pPr>
          <a:r>
            <a:rPr lang="en-US"/>
            <a:t>Phone: 507-386-5636</a:t>
          </a:r>
        </a:p>
      </dgm:t>
    </dgm:pt>
    <dgm:pt modelId="{DE3506FA-9826-4782-B229-C1E7B67E1B10}" type="parTrans" cxnId="{12E3A96B-BFF7-4C5B-A983-E02189AAEA4F}">
      <dgm:prSet/>
      <dgm:spPr/>
      <dgm:t>
        <a:bodyPr/>
        <a:lstStyle/>
        <a:p>
          <a:endParaRPr lang="en-US"/>
        </a:p>
      </dgm:t>
    </dgm:pt>
    <dgm:pt modelId="{6297EB8A-F4EB-4FF7-BA90-CD3F67AE3068}" type="sibTrans" cxnId="{12E3A96B-BFF7-4C5B-A983-E02189AAEA4F}">
      <dgm:prSet/>
      <dgm:spPr/>
      <dgm:t>
        <a:bodyPr/>
        <a:lstStyle/>
        <a:p>
          <a:endParaRPr lang="en-US"/>
        </a:p>
      </dgm:t>
    </dgm:pt>
    <dgm:pt modelId="{B247ED47-E9CC-4583-AAA9-3B3379F6C69E}" type="pres">
      <dgm:prSet presAssocID="{12257160-06EA-47E3-912D-5344B8262A2A}" presName="root" presStyleCnt="0">
        <dgm:presLayoutVars>
          <dgm:dir/>
          <dgm:resizeHandles val="exact"/>
        </dgm:presLayoutVars>
      </dgm:prSet>
      <dgm:spPr/>
    </dgm:pt>
    <dgm:pt modelId="{E7C1A5BA-9B35-4867-80BC-A10ED3AF5453}" type="pres">
      <dgm:prSet presAssocID="{12257160-06EA-47E3-912D-5344B8262A2A}" presName="container" presStyleCnt="0">
        <dgm:presLayoutVars>
          <dgm:dir/>
          <dgm:resizeHandles val="exact"/>
        </dgm:presLayoutVars>
      </dgm:prSet>
      <dgm:spPr/>
    </dgm:pt>
    <dgm:pt modelId="{F9A5CF2B-C683-4CF7-AF75-1878AD91963C}" type="pres">
      <dgm:prSet presAssocID="{C4A622F2-D13A-4E78-95D2-B3D174640A3E}" presName="compNode" presStyleCnt="0"/>
      <dgm:spPr/>
    </dgm:pt>
    <dgm:pt modelId="{F03456CE-BAB9-4DC6-ACAB-93D7CB5C2E8A}" type="pres">
      <dgm:prSet presAssocID="{C4A622F2-D13A-4E78-95D2-B3D174640A3E}" presName="iconBgRect" presStyleLbl="bgShp" presStyleIdx="0" presStyleCnt="4"/>
      <dgm:spPr/>
    </dgm:pt>
    <dgm:pt modelId="{64960F30-56FD-47BE-8532-A2D20A0F6599}" type="pres">
      <dgm:prSet presAssocID="{C4A622F2-D13A-4E78-95D2-B3D174640A3E}" presName="iconRect" presStyleLbl="node1" presStyleIdx="0" presStyleCnt="4"/>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end"/>
        </a:ext>
      </dgm:extLst>
    </dgm:pt>
    <dgm:pt modelId="{D1BCB3E5-7FBA-4D11-BB0B-69B7989DC975}" type="pres">
      <dgm:prSet presAssocID="{C4A622F2-D13A-4E78-95D2-B3D174640A3E}" presName="spaceRect" presStyleCnt="0"/>
      <dgm:spPr/>
    </dgm:pt>
    <dgm:pt modelId="{D1B8ABDC-0DE7-47D2-8DEA-F1F191A9AB18}" type="pres">
      <dgm:prSet presAssocID="{C4A622F2-D13A-4E78-95D2-B3D174640A3E}" presName="textRect" presStyleLbl="revTx" presStyleIdx="0" presStyleCnt="4">
        <dgm:presLayoutVars>
          <dgm:chMax val="1"/>
          <dgm:chPref val="1"/>
        </dgm:presLayoutVars>
      </dgm:prSet>
      <dgm:spPr/>
    </dgm:pt>
    <dgm:pt modelId="{06B6C222-EB8C-46B4-B688-699EAEED0FA7}" type="pres">
      <dgm:prSet presAssocID="{EF16D806-F21C-477B-A0E7-BD32C2416B20}" presName="sibTrans" presStyleLbl="sibTrans2D1" presStyleIdx="0" presStyleCnt="0"/>
      <dgm:spPr/>
    </dgm:pt>
    <dgm:pt modelId="{6192442B-7FCD-40BA-B656-36F99809041C}" type="pres">
      <dgm:prSet presAssocID="{ED1232D7-34C1-49C5-82C6-8F3F034F5AA1}" presName="compNode" presStyleCnt="0"/>
      <dgm:spPr/>
    </dgm:pt>
    <dgm:pt modelId="{7F6ADC6A-ADA9-420A-AA31-3C6662A73984}" type="pres">
      <dgm:prSet presAssocID="{ED1232D7-34C1-49C5-82C6-8F3F034F5AA1}" presName="iconBgRect" presStyleLbl="bgShp" presStyleIdx="1" presStyleCnt="4"/>
      <dgm:spPr/>
    </dgm:pt>
    <dgm:pt modelId="{D47BA1CD-F994-4F4C-8418-D1F9B4856DEB}" type="pres">
      <dgm:prSet presAssocID="{ED1232D7-34C1-49C5-82C6-8F3F034F5AA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aker Phone"/>
        </a:ext>
      </dgm:extLst>
    </dgm:pt>
    <dgm:pt modelId="{E1825E05-2725-4B30-B411-4AC1A41193DE}" type="pres">
      <dgm:prSet presAssocID="{ED1232D7-34C1-49C5-82C6-8F3F034F5AA1}" presName="spaceRect" presStyleCnt="0"/>
      <dgm:spPr/>
    </dgm:pt>
    <dgm:pt modelId="{9DD673C2-734E-4099-8015-9E5BF1D775EF}" type="pres">
      <dgm:prSet presAssocID="{ED1232D7-34C1-49C5-82C6-8F3F034F5AA1}" presName="textRect" presStyleLbl="revTx" presStyleIdx="1" presStyleCnt="4">
        <dgm:presLayoutVars>
          <dgm:chMax val="1"/>
          <dgm:chPref val="1"/>
        </dgm:presLayoutVars>
      </dgm:prSet>
      <dgm:spPr/>
    </dgm:pt>
    <dgm:pt modelId="{F68F3C57-5CE4-482C-886B-B1E98B2C4BC7}" type="pres">
      <dgm:prSet presAssocID="{47CE2935-12AC-4E4E-950D-3CE8CF944AF0}" presName="sibTrans" presStyleLbl="sibTrans2D1" presStyleIdx="0" presStyleCnt="0"/>
      <dgm:spPr/>
    </dgm:pt>
    <dgm:pt modelId="{288F1329-78BF-4C63-AC6A-E9C319738D20}" type="pres">
      <dgm:prSet presAssocID="{17124684-F4B6-4783-82D0-FEA9253CF204}" presName="compNode" presStyleCnt="0"/>
      <dgm:spPr/>
    </dgm:pt>
    <dgm:pt modelId="{0A338586-9390-47D6-BA8B-633A4E930E54}" type="pres">
      <dgm:prSet presAssocID="{17124684-F4B6-4783-82D0-FEA9253CF204}" presName="iconBgRect" presStyleLbl="bgShp" presStyleIdx="2" presStyleCnt="4"/>
      <dgm:spPr/>
    </dgm:pt>
    <dgm:pt modelId="{117BB0DD-8491-4C15-BD9E-5027D5572076}" type="pres">
      <dgm:prSet presAssocID="{17124684-F4B6-4783-82D0-FEA9253CF204}" presName="iconRect" presStyleLbl="node1" presStyleIdx="2"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ail"/>
        </a:ext>
      </dgm:extLst>
    </dgm:pt>
    <dgm:pt modelId="{3ED5BF12-DA54-48C1-9C80-0D766ED10A35}" type="pres">
      <dgm:prSet presAssocID="{17124684-F4B6-4783-82D0-FEA9253CF204}" presName="spaceRect" presStyleCnt="0"/>
      <dgm:spPr/>
    </dgm:pt>
    <dgm:pt modelId="{EABE314F-C442-4886-B5C2-E6C1B29FB7AB}" type="pres">
      <dgm:prSet presAssocID="{17124684-F4B6-4783-82D0-FEA9253CF204}" presName="textRect" presStyleLbl="revTx" presStyleIdx="2" presStyleCnt="4">
        <dgm:presLayoutVars>
          <dgm:chMax val="1"/>
          <dgm:chPref val="1"/>
        </dgm:presLayoutVars>
      </dgm:prSet>
      <dgm:spPr/>
    </dgm:pt>
    <dgm:pt modelId="{400BE9FC-2184-4092-88C3-2E762ADB6194}" type="pres">
      <dgm:prSet presAssocID="{BDF4F5A0-9E64-4E4E-9250-C5B9DCA9A500}" presName="sibTrans" presStyleLbl="sibTrans2D1" presStyleIdx="0" presStyleCnt="0"/>
      <dgm:spPr/>
    </dgm:pt>
    <dgm:pt modelId="{BA075039-B62D-41F7-8E10-439BD6207931}" type="pres">
      <dgm:prSet presAssocID="{872AB966-AA07-400B-95D0-0CB3DF772BED}" presName="compNode" presStyleCnt="0"/>
      <dgm:spPr/>
    </dgm:pt>
    <dgm:pt modelId="{6D60CF26-FB90-49C8-9BE7-A60BE9EE6534}" type="pres">
      <dgm:prSet presAssocID="{872AB966-AA07-400B-95D0-0CB3DF772BED}" presName="iconBgRect" presStyleLbl="bgShp" presStyleIdx="3" presStyleCnt="4"/>
      <dgm:spPr/>
    </dgm:pt>
    <dgm:pt modelId="{D9089A8D-4DB0-4048-AFA3-9E95941F7401}" type="pres">
      <dgm:prSet presAssocID="{872AB966-AA07-400B-95D0-0CB3DF772BED}" presName="iconRect" presStyleLbl="node1" presStyleIdx="3"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ceiver"/>
        </a:ext>
      </dgm:extLst>
    </dgm:pt>
    <dgm:pt modelId="{FCD5B21B-AE35-4246-A233-FA34D1E5DE3F}" type="pres">
      <dgm:prSet presAssocID="{872AB966-AA07-400B-95D0-0CB3DF772BED}" presName="spaceRect" presStyleCnt="0"/>
      <dgm:spPr/>
    </dgm:pt>
    <dgm:pt modelId="{8EB0D22C-AAA2-4A32-9762-1F4B4EF6E0C3}" type="pres">
      <dgm:prSet presAssocID="{872AB966-AA07-400B-95D0-0CB3DF772BED}" presName="textRect" presStyleLbl="revTx" presStyleIdx="3" presStyleCnt="4">
        <dgm:presLayoutVars>
          <dgm:chMax val="1"/>
          <dgm:chPref val="1"/>
        </dgm:presLayoutVars>
      </dgm:prSet>
      <dgm:spPr/>
    </dgm:pt>
  </dgm:ptLst>
  <dgm:cxnLst>
    <dgm:cxn modelId="{68F45A03-3995-4D1F-89AD-E01FE636E074}" type="presOf" srcId="{872AB966-AA07-400B-95D0-0CB3DF772BED}" destId="{8EB0D22C-AAA2-4A32-9762-1F4B4EF6E0C3}" srcOrd="0" destOrd="0" presId="urn:microsoft.com/office/officeart/2018/2/layout/IconCircleList"/>
    <dgm:cxn modelId="{991D6809-3A10-496C-9923-3C3754074318}" srcId="{12257160-06EA-47E3-912D-5344B8262A2A}" destId="{ED1232D7-34C1-49C5-82C6-8F3F034F5AA1}" srcOrd="1" destOrd="0" parTransId="{861970F5-57D1-4612-B87C-442B1EA7DA89}" sibTransId="{47CE2935-12AC-4E4E-950D-3CE8CF944AF0}"/>
    <dgm:cxn modelId="{37401C1B-0550-4383-A09F-DAD124104D64}" srcId="{12257160-06EA-47E3-912D-5344B8262A2A}" destId="{C4A622F2-D13A-4E78-95D2-B3D174640A3E}" srcOrd="0" destOrd="0" parTransId="{BA4357C2-BC58-4880-9E39-4CCF4E72972A}" sibTransId="{EF16D806-F21C-477B-A0E7-BD32C2416B20}"/>
    <dgm:cxn modelId="{1EBD1A39-262B-476A-AD85-4E8449C06BB6}" type="presOf" srcId="{C4A622F2-D13A-4E78-95D2-B3D174640A3E}" destId="{D1B8ABDC-0DE7-47D2-8DEA-F1F191A9AB18}" srcOrd="0" destOrd="0" presId="urn:microsoft.com/office/officeart/2018/2/layout/IconCircleList"/>
    <dgm:cxn modelId="{07FC7246-92F4-48E5-816E-4ABF0028BEDB}" type="presOf" srcId="{ED1232D7-34C1-49C5-82C6-8F3F034F5AA1}" destId="{9DD673C2-734E-4099-8015-9E5BF1D775EF}" srcOrd="0" destOrd="0" presId="urn:microsoft.com/office/officeart/2018/2/layout/IconCircleList"/>
    <dgm:cxn modelId="{12E3A96B-BFF7-4C5B-A983-E02189AAEA4F}" srcId="{12257160-06EA-47E3-912D-5344B8262A2A}" destId="{872AB966-AA07-400B-95D0-0CB3DF772BED}" srcOrd="3" destOrd="0" parTransId="{DE3506FA-9826-4782-B229-C1E7B67E1B10}" sibTransId="{6297EB8A-F4EB-4FF7-BA90-CD3F67AE3068}"/>
    <dgm:cxn modelId="{C44A58A1-CB93-4D2B-B825-A6491D83CC4B}" type="presOf" srcId="{BDF4F5A0-9E64-4E4E-9250-C5B9DCA9A500}" destId="{400BE9FC-2184-4092-88C3-2E762ADB6194}" srcOrd="0" destOrd="0" presId="urn:microsoft.com/office/officeart/2018/2/layout/IconCircleList"/>
    <dgm:cxn modelId="{911970B5-2127-4637-9B0D-DB0D74593B0F}" type="presOf" srcId="{17124684-F4B6-4783-82D0-FEA9253CF204}" destId="{EABE314F-C442-4886-B5C2-E6C1B29FB7AB}" srcOrd="0" destOrd="0" presId="urn:microsoft.com/office/officeart/2018/2/layout/IconCircleList"/>
    <dgm:cxn modelId="{DF9788B7-11FC-497A-9872-435ACBD47694}" type="presOf" srcId="{EF16D806-F21C-477B-A0E7-BD32C2416B20}" destId="{06B6C222-EB8C-46B4-B688-699EAEED0FA7}" srcOrd="0" destOrd="0" presId="urn:microsoft.com/office/officeart/2018/2/layout/IconCircleList"/>
    <dgm:cxn modelId="{4B670CCE-F0BE-4FC6-825D-FCC725745D99}" type="presOf" srcId="{12257160-06EA-47E3-912D-5344B8262A2A}" destId="{B247ED47-E9CC-4583-AAA9-3B3379F6C69E}" srcOrd="0" destOrd="0" presId="urn:microsoft.com/office/officeart/2018/2/layout/IconCircleList"/>
    <dgm:cxn modelId="{F833A0E1-49DE-4619-B79D-A53820D7401E}" type="presOf" srcId="{47CE2935-12AC-4E4E-950D-3CE8CF944AF0}" destId="{F68F3C57-5CE4-482C-886B-B1E98B2C4BC7}" srcOrd="0" destOrd="0" presId="urn:microsoft.com/office/officeart/2018/2/layout/IconCircleList"/>
    <dgm:cxn modelId="{B2030EF6-0F27-4D13-83B8-76499E37616D}" srcId="{12257160-06EA-47E3-912D-5344B8262A2A}" destId="{17124684-F4B6-4783-82D0-FEA9253CF204}" srcOrd="2" destOrd="0" parTransId="{17B96C08-7703-4634-B45C-49DEECFA5C8B}" sibTransId="{BDF4F5A0-9E64-4E4E-9250-C5B9DCA9A500}"/>
    <dgm:cxn modelId="{92926E83-91FA-49A0-A689-4544C5B5BF57}" type="presParOf" srcId="{B247ED47-E9CC-4583-AAA9-3B3379F6C69E}" destId="{E7C1A5BA-9B35-4867-80BC-A10ED3AF5453}" srcOrd="0" destOrd="0" presId="urn:microsoft.com/office/officeart/2018/2/layout/IconCircleList"/>
    <dgm:cxn modelId="{BB8746D3-3C7D-4D25-B142-9CF6E796BC98}" type="presParOf" srcId="{E7C1A5BA-9B35-4867-80BC-A10ED3AF5453}" destId="{F9A5CF2B-C683-4CF7-AF75-1878AD91963C}" srcOrd="0" destOrd="0" presId="urn:microsoft.com/office/officeart/2018/2/layout/IconCircleList"/>
    <dgm:cxn modelId="{FC989C43-0CD7-4DFE-91BC-C34AA5129642}" type="presParOf" srcId="{F9A5CF2B-C683-4CF7-AF75-1878AD91963C}" destId="{F03456CE-BAB9-4DC6-ACAB-93D7CB5C2E8A}" srcOrd="0" destOrd="0" presId="urn:microsoft.com/office/officeart/2018/2/layout/IconCircleList"/>
    <dgm:cxn modelId="{21F2B9C7-797E-46D7-8FC9-69841F0D3BE0}" type="presParOf" srcId="{F9A5CF2B-C683-4CF7-AF75-1878AD91963C}" destId="{64960F30-56FD-47BE-8532-A2D20A0F6599}" srcOrd="1" destOrd="0" presId="urn:microsoft.com/office/officeart/2018/2/layout/IconCircleList"/>
    <dgm:cxn modelId="{7E31ACEA-41A5-4217-8CA6-D57FC4D290D8}" type="presParOf" srcId="{F9A5CF2B-C683-4CF7-AF75-1878AD91963C}" destId="{D1BCB3E5-7FBA-4D11-BB0B-69B7989DC975}" srcOrd="2" destOrd="0" presId="urn:microsoft.com/office/officeart/2018/2/layout/IconCircleList"/>
    <dgm:cxn modelId="{DB893B0F-FD7E-4420-B393-F2E3A823AF49}" type="presParOf" srcId="{F9A5CF2B-C683-4CF7-AF75-1878AD91963C}" destId="{D1B8ABDC-0DE7-47D2-8DEA-F1F191A9AB18}" srcOrd="3" destOrd="0" presId="urn:microsoft.com/office/officeart/2018/2/layout/IconCircleList"/>
    <dgm:cxn modelId="{346C1BE7-02A9-4837-A415-9482C2D94668}" type="presParOf" srcId="{E7C1A5BA-9B35-4867-80BC-A10ED3AF5453}" destId="{06B6C222-EB8C-46B4-B688-699EAEED0FA7}" srcOrd="1" destOrd="0" presId="urn:microsoft.com/office/officeart/2018/2/layout/IconCircleList"/>
    <dgm:cxn modelId="{24C94AB9-C5C6-49FB-8273-0537A865A870}" type="presParOf" srcId="{E7C1A5BA-9B35-4867-80BC-A10ED3AF5453}" destId="{6192442B-7FCD-40BA-B656-36F99809041C}" srcOrd="2" destOrd="0" presId="urn:microsoft.com/office/officeart/2018/2/layout/IconCircleList"/>
    <dgm:cxn modelId="{712C094B-FF00-4B61-A228-C2172F0DED3D}" type="presParOf" srcId="{6192442B-7FCD-40BA-B656-36F99809041C}" destId="{7F6ADC6A-ADA9-420A-AA31-3C6662A73984}" srcOrd="0" destOrd="0" presId="urn:microsoft.com/office/officeart/2018/2/layout/IconCircleList"/>
    <dgm:cxn modelId="{D57E8FA0-12E7-4A54-8925-F5E4CD1625DD}" type="presParOf" srcId="{6192442B-7FCD-40BA-B656-36F99809041C}" destId="{D47BA1CD-F994-4F4C-8418-D1F9B4856DEB}" srcOrd="1" destOrd="0" presId="urn:microsoft.com/office/officeart/2018/2/layout/IconCircleList"/>
    <dgm:cxn modelId="{25D0F425-6F29-458C-AEE1-828617ACE674}" type="presParOf" srcId="{6192442B-7FCD-40BA-B656-36F99809041C}" destId="{E1825E05-2725-4B30-B411-4AC1A41193DE}" srcOrd="2" destOrd="0" presId="urn:microsoft.com/office/officeart/2018/2/layout/IconCircleList"/>
    <dgm:cxn modelId="{9E56E2F7-DB5E-4588-83EA-8D729CD6C1E0}" type="presParOf" srcId="{6192442B-7FCD-40BA-B656-36F99809041C}" destId="{9DD673C2-734E-4099-8015-9E5BF1D775EF}" srcOrd="3" destOrd="0" presId="urn:microsoft.com/office/officeart/2018/2/layout/IconCircleList"/>
    <dgm:cxn modelId="{DD00576D-BF3C-4850-9552-6A3418DC7199}" type="presParOf" srcId="{E7C1A5BA-9B35-4867-80BC-A10ED3AF5453}" destId="{F68F3C57-5CE4-482C-886B-B1E98B2C4BC7}" srcOrd="3" destOrd="0" presId="urn:microsoft.com/office/officeart/2018/2/layout/IconCircleList"/>
    <dgm:cxn modelId="{25C9912C-B12A-4EEC-97E5-FFDDB4025FEF}" type="presParOf" srcId="{E7C1A5BA-9B35-4867-80BC-A10ED3AF5453}" destId="{288F1329-78BF-4C63-AC6A-E9C319738D20}" srcOrd="4" destOrd="0" presId="urn:microsoft.com/office/officeart/2018/2/layout/IconCircleList"/>
    <dgm:cxn modelId="{810962BC-EC48-472B-94F5-188126DF7127}" type="presParOf" srcId="{288F1329-78BF-4C63-AC6A-E9C319738D20}" destId="{0A338586-9390-47D6-BA8B-633A4E930E54}" srcOrd="0" destOrd="0" presId="urn:microsoft.com/office/officeart/2018/2/layout/IconCircleList"/>
    <dgm:cxn modelId="{935698CE-7DCF-4F0C-8B5F-90F2AB51E6BD}" type="presParOf" srcId="{288F1329-78BF-4C63-AC6A-E9C319738D20}" destId="{117BB0DD-8491-4C15-BD9E-5027D5572076}" srcOrd="1" destOrd="0" presId="urn:microsoft.com/office/officeart/2018/2/layout/IconCircleList"/>
    <dgm:cxn modelId="{60A9E081-9B5D-4934-AA24-11B4647362EE}" type="presParOf" srcId="{288F1329-78BF-4C63-AC6A-E9C319738D20}" destId="{3ED5BF12-DA54-48C1-9C80-0D766ED10A35}" srcOrd="2" destOrd="0" presId="urn:microsoft.com/office/officeart/2018/2/layout/IconCircleList"/>
    <dgm:cxn modelId="{C325F94A-6DE0-4E71-88B5-C24A3146B99F}" type="presParOf" srcId="{288F1329-78BF-4C63-AC6A-E9C319738D20}" destId="{EABE314F-C442-4886-B5C2-E6C1B29FB7AB}" srcOrd="3" destOrd="0" presId="urn:microsoft.com/office/officeart/2018/2/layout/IconCircleList"/>
    <dgm:cxn modelId="{7D3997AF-9D4D-4374-A7A1-BD5034679B30}" type="presParOf" srcId="{E7C1A5BA-9B35-4867-80BC-A10ED3AF5453}" destId="{400BE9FC-2184-4092-88C3-2E762ADB6194}" srcOrd="5" destOrd="0" presId="urn:microsoft.com/office/officeart/2018/2/layout/IconCircleList"/>
    <dgm:cxn modelId="{68662C43-9074-4E97-8065-5F6536B9934C}" type="presParOf" srcId="{E7C1A5BA-9B35-4867-80BC-A10ED3AF5453}" destId="{BA075039-B62D-41F7-8E10-439BD6207931}" srcOrd="6" destOrd="0" presId="urn:microsoft.com/office/officeart/2018/2/layout/IconCircleList"/>
    <dgm:cxn modelId="{24309E8B-AFC7-49EB-A03A-810A77B833F7}" type="presParOf" srcId="{BA075039-B62D-41F7-8E10-439BD6207931}" destId="{6D60CF26-FB90-49C8-9BE7-A60BE9EE6534}" srcOrd="0" destOrd="0" presId="urn:microsoft.com/office/officeart/2018/2/layout/IconCircleList"/>
    <dgm:cxn modelId="{C0817356-B1F4-4A1A-A3A5-E8AEBB3011BD}" type="presParOf" srcId="{BA075039-B62D-41F7-8E10-439BD6207931}" destId="{D9089A8D-4DB0-4048-AFA3-9E95941F7401}" srcOrd="1" destOrd="0" presId="urn:microsoft.com/office/officeart/2018/2/layout/IconCircleList"/>
    <dgm:cxn modelId="{BA5825F1-9912-4157-A8FA-1ED514E57016}" type="presParOf" srcId="{BA075039-B62D-41F7-8E10-439BD6207931}" destId="{FCD5B21B-AE35-4246-A233-FA34D1E5DE3F}" srcOrd="2" destOrd="0" presId="urn:microsoft.com/office/officeart/2018/2/layout/IconCircleList"/>
    <dgm:cxn modelId="{ED9A4FA8-97C0-4924-8D88-5FC52A0AAE06}" type="presParOf" srcId="{BA075039-B62D-41F7-8E10-439BD6207931}" destId="{8EB0D22C-AAA2-4A32-9762-1F4B4EF6E0C3}"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63AE96-89B3-42C7-9469-710424D098F6}">
      <dsp:nvSpPr>
        <dsp:cNvPr id="0" name=""/>
        <dsp:cNvSpPr/>
      </dsp:nvSpPr>
      <dsp:spPr>
        <a:xfrm>
          <a:off x="3861201" y="0"/>
          <a:ext cx="1323977" cy="1324179"/>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CB300E-2D23-4D46-9941-846EF8617F3C}">
      <dsp:nvSpPr>
        <dsp:cNvPr id="0" name=""/>
        <dsp:cNvSpPr/>
      </dsp:nvSpPr>
      <dsp:spPr>
        <a:xfrm>
          <a:off x="2008056" y="298098"/>
          <a:ext cx="1754629" cy="692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Rehabilitation program </a:t>
          </a:r>
        </a:p>
        <a:p>
          <a:pPr marL="0" lvl="0" indent="0" algn="ctr" defTabSz="711200">
            <a:lnSpc>
              <a:spcPct val="90000"/>
            </a:lnSpc>
            <a:spcBef>
              <a:spcPct val="0"/>
            </a:spcBef>
            <a:spcAft>
              <a:spcPct val="35000"/>
            </a:spcAft>
            <a:buNone/>
          </a:pPr>
          <a:r>
            <a:rPr lang="en-US" sz="1600" kern="1200" dirty="0"/>
            <a:t>for veterans/Polio victims </a:t>
          </a:r>
        </a:p>
      </dsp:txBody>
      <dsp:txXfrm>
        <a:off x="2008056" y="298098"/>
        <a:ext cx="1754629" cy="692813"/>
      </dsp:txXfrm>
    </dsp:sp>
    <dsp:sp modelId="{70933F95-A8E7-4BE8-BC5A-6C0E4B19A27C}">
      <dsp:nvSpPr>
        <dsp:cNvPr id="0" name=""/>
        <dsp:cNvSpPr/>
      </dsp:nvSpPr>
      <dsp:spPr>
        <a:xfrm>
          <a:off x="3493471" y="760839"/>
          <a:ext cx="1323977" cy="1324179"/>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A8C450-CBA5-470F-A273-2EB94DF6DEE5}">
      <dsp:nvSpPr>
        <dsp:cNvPr id="0" name=""/>
        <dsp:cNvSpPr/>
      </dsp:nvSpPr>
      <dsp:spPr>
        <a:xfrm>
          <a:off x="4880217" y="977676"/>
          <a:ext cx="2357866" cy="899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Center-based employment begins</a:t>
          </a:r>
        </a:p>
      </dsp:txBody>
      <dsp:txXfrm>
        <a:off x="4880217" y="977676"/>
        <a:ext cx="2357866" cy="899030"/>
      </dsp:txXfrm>
    </dsp:sp>
    <dsp:sp modelId="{3937D185-D2FF-4375-A2B2-149992594DC4}">
      <dsp:nvSpPr>
        <dsp:cNvPr id="0" name=""/>
        <dsp:cNvSpPr/>
      </dsp:nvSpPr>
      <dsp:spPr>
        <a:xfrm>
          <a:off x="3955433" y="1612726"/>
          <a:ext cx="1137502" cy="1137957"/>
        </a:xfrm>
        <a:prstGeom prst="blockArc">
          <a:avLst>
            <a:gd name="adj1" fmla="val 13500000"/>
            <a:gd name="adj2" fmla="val 10800000"/>
            <a:gd name="adj3" fmla="val 1274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6A9D90-E2AC-4960-B49E-CC13F89D92CD}">
      <dsp:nvSpPr>
        <dsp:cNvPr id="0" name=""/>
        <dsp:cNvSpPr/>
      </dsp:nvSpPr>
      <dsp:spPr>
        <a:xfrm>
          <a:off x="2155563" y="1951263"/>
          <a:ext cx="1817414" cy="465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Community employment</a:t>
          </a:r>
        </a:p>
        <a:p>
          <a:pPr marL="0" lvl="0" indent="0" algn="ctr" defTabSz="889000">
            <a:lnSpc>
              <a:spcPct val="90000"/>
            </a:lnSpc>
            <a:spcBef>
              <a:spcPct val="0"/>
            </a:spcBef>
            <a:spcAft>
              <a:spcPct val="35000"/>
            </a:spcAft>
            <a:buNone/>
          </a:pPr>
          <a:r>
            <a:rPr lang="en-US" sz="2000" kern="1200" dirty="0"/>
            <a:t>begins</a:t>
          </a:r>
        </a:p>
      </dsp:txBody>
      <dsp:txXfrm>
        <a:off x="2155563" y="1951263"/>
        <a:ext cx="1817414" cy="4652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D3AC46-9374-4A56-9A5B-50D38EDCE207}">
      <dsp:nvSpPr>
        <dsp:cNvPr id="0" name=""/>
        <dsp:cNvSpPr/>
      </dsp:nvSpPr>
      <dsp:spPr>
        <a:xfrm>
          <a:off x="0" y="451102"/>
          <a:ext cx="4971603" cy="705600"/>
        </a:xfrm>
        <a:prstGeom prst="rect">
          <a:avLst/>
        </a:prstGeom>
        <a:solidFill>
          <a:schemeClr val="lt1">
            <a:alpha val="90000"/>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8FDCA0E-FB92-4FCD-AD5D-293908D8D112}">
      <dsp:nvSpPr>
        <dsp:cNvPr id="0" name=""/>
        <dsp:cNvSpPr/>
      </dsp:nvSpPr>
      <dsp:spPr>
        <a:xfrm>
          <a:off x="248580" y="37822"/>
          <a:ext cx="3480122" cy="82656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1540" tIns="0" rIns="131540" bIns="0" numCol="1" spcCol="1270" anchor="ctr" anchorCtr="0">
          <a:noAutofit/>
        </a:bodyPr>
        <a:lstStyle/>
        <a:p>
          <a:pPr marL="0" lvl="0" indent="0" algn="l" defTabSz="1244600">
            <a:lnSpc>
              <a:spcPct val="90000"/>
            </a:lnSpc>
            <a:spcBef>
              <a:spcPct val="0"/>
            </a:spcBef>
            <a:spcAft>
              <a:spcPct val="35000"/>
            </a:spcAft>
            <a:buNone/>
          </a:pPr>
          <a:r>
            <a:rPr lang="en-US" sz="2800" kern="1200"/>
            <a:t>Self-Direction Programs</a:t>
          </a:r>
        </a:p>
      </dsp:txBody>
      <dsp:txXfrm>
        <a:off x="288929" y="78171"/>
        <a:ext cx="3399424" cy="745862"/>
      </dsp:txXfrm>
    </dsp:sp>
    <dsp:sp modelId="{B4F61A4B-854F-4B11-BFD8-7E3770F38763}">
      <dsp:nvSpPr>
        <dsp:cNvPr id="0" name=""/>
        <dsp:cNvSpPr/>
      </dsp:nvSpPr>
      <dsp:spPr>
        <a:xfrm>
          <a:off x="0" y="1721183"/>
          <a:ext cx="4971603" cy="705600"/>
        </a:xfrm>
        <a:prstGeom prst="rect">
          <a:avLst/>
        </a:prstGeom>
        <a:solidFill>
          <a:schemeClr val="lt1">
            <a:alpha val="90000"/>
            <a:hueOff val="0"/>
            <a:satOff val="0"/>
            <a:lumOff val="0"/>
            <a:alphaOff val="0"/>
          </a:schemeClr>
        </a:solidFill>
        <a:ln w="12700"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F163889-507A-403A-BC64-ED87751D2991}">
      <dsp:nvSpPr>
        <dsp:cNvPr id="0" name=""/>
        <dsp:cNvSpPr/>
      </dsp:nvSpPr>
      <dsp:spPr>
        <a:xfrm>
          <a:off x="248580" y="1307902"/>
          <a:ext cx="3480122" cy="826560"/>
        </a:xfrm>
        <a:prstGeom prst="roundRec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1540" tIns="0" rIns="131540" bIns="0" numCol="1" spcCol="1270" anchor="ctr" anchorCtr="0">
          <a:noAutofit/>
        </a:bodyPr>
        <a:lstStyle/>
        <a:p>
          <a:pPr marL="0" lvl="0" indent="0" algn="l" defTabSz="1244600">
            <a:lnSpc>
              <a:spcPct val="90000"/>
            </a:lnSpc>
            <a:spcBef>
              <a:spcPct val="0"/>
            </a:spcBef>
            <a:spcAft>
              <a:spcPct val="35000"/>
            </a:spcAft>
            <a:buNone/>
          </a:pPr>
          <a:r>
            <a:rPr lang="en-US" sz="2800" kern="1200"/>
            <a:t>Day Service Programs</a:t>
          </a:r>
        </a:p>
      </dsp:txBody>
      <dsp:txXfrm>
        <a:off x="288929" y="1348251"/>
        <a:ext cx="3399424" cy="745862"/>
      </dsp:txXfrm>
    </dsp:sp>
    <dsp:sp modelId="{D145A6F2-7B54-4815-A067-B80291269824}">
      <dsp:nvSpPr>
        <dsp:cNvPr id="0" name=""/>
        <dsp:cNvSpPr/>
      </dsp:nvSpPr>
      <dsp:spPr>
        <a:xfrm>
          <a:off x="0" y="2991263"/>
          <a:ext cx="4971603" cy="705600"/>
        </a:xfrm>
        <a:prstGeom prst="rect">
          <a:avLst/>
        </a:prstGeom>
        <a:solidFill>
          <a:schemeClr val="lt1">
            <a:alpha val="90000"/>
            <a:hueOff val="0"/>
            <a:satOff val="0"/>
            <a:lumOff val="0"/>
            <a:alphaOff val="0"/>
          </a:schemeClr>
        </a:solidFill>
        <a:ln w="12700" cap="rnd"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023E43F-E0A2-4DE4-AA5F-843D1021485D}">
      <dsp:nvSpPr>
        <dsp:cNvPr id="0" name=""/>
        <dsp:cNvSpPr/>
      </dsp:nvSpPr>
      <dsp:spPr>
        <a:xfrm>
          <a:off x="248580" y="2577983"/>
          <a:ext cx="3480122" cy="826560"/>
        </a:xfrm>
        <a:prstGeom prst="roundRec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1540" tIns="0" rIns="131540" bIns="0" numCol="1" spcCol="1270" anchor="ctr" anchorCtr="0">
          <a:noAutofit/>
        </a:bodyPr>
        <a:lstStyle/>
        <a:p>
          <a:pPr marL="0" lvl="0" indent="0" algn="l" defTabSz="1244600">
            <a:lnSpc>
              <a:spcPct val="90000"/>
            </a:lnSpc>
            <a:spcBef>
              <a:spcPct val="0"/>
            </a:spcBef>
            <a:spcAft>
              <a:spcPct val="35000"/>
            </a:spcAft>
            <a:buNone/>
          </a:pPr>
          <a:r>
            <a:rPr lang="en-US" sz="2800" kern="1200"/>
            <a:t>Employment Services</a:t>
          </a:r>
        </a:p>
      </dsp:txBody>
      <dsp:txXfrm>
        <a:off x="288929" y="2618332"/>
        <a:ext cx="3399424" cy="745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0E6FAD-565E-4334-9E54-35483194EAE3}">
      <dsp:nvSpPr>
        <dsp:cNvPr id="0" name=""/>
        <dsp:cNvSpPr/>
      </dsp:nvSpPr>
      <dsp:spPr>
        <a:xfrm>
          <a:off x="996237" y="5055"/>
          <a:ext cx="1784250" cy="178425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626D69-40F8-496A-8F40-822DDD3F9091}">
      <dsp:nvSpPr>
        <dsp:cNvPr id="0" name=""/>
        <dsp:cNvSpPr/>
      </dsp:nvSpPr>
      <dsp:spPr>
        <a:xfrm>
          <a:off x="1376487" y="385305"/>
          <a:ext cx="1023750" cy="10237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59053EC-AFC9-4483-BEF1-60C98089CFE4}">
      <dsp:nvSpPr>
        <dsp:cNvPr id="0" name=""/>
        <dsp:cNvSpPr/>
      </dsp:nvSpPr>
      <dsp:spPr>
        <a:xfrm>
          <a:off x="425862" y="2345056"/>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955800">
            <a:lnSpc>
              <a:spcPct val="90000"/>
            </a:lnSpc>
            <a:spcBef>
              <a:spcPct val="0"/>
            </a:spcBef>
            <a:spcAft>
              <a:spcPct val="35000"/>
            </a:spcAft>
            <a:buNone/>
            <a:defRPr cap="all"/>
          </a:pPr>
          <a:r>
            <a:rPr lang="en-US" sz="4400" kern="1200"/>
            <a:t>7 times…</a:t>
          </a:r>
        </a:p>
      </dsp:txBody>
      <dsp:txXfrm>
        <a:off x="425862" y="2345056"/>
        <a:ext cx="2925000" cy="720000"/>
      </dsp:txXfrm>
    </dsp:sp>
    <dsp:sp modelId="{C2156E99-6E08-485F-A206-A352173159DE}">
      <dsp:nvSpPr>
        <dsp:cNvPr id="0" name=""/>
        <dsp:cNvSpPr/>
      </dsp:nvSpPr>
      <dsp:spPr>
        <a:xfrm>
          <a:off x="4433112" y="5055"/>
          <a:ext cx="1784250" cy="178425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E61E7-25DD-42B5-B3DA-C350AF0E3C11}">
      <dsp:nvSpPr>
        <dsp:cNvPr id="0" name=""/>
        <dsp:cNvSpPr/>
      </dsp:nvSpPr>
      <dsp:spPr>
        <a:xfrm>
          <a:off x="4813362" y="385305"/>
          <a:ext cx="1023750" cy="10237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0B120BE-2F05-4CEE-ACE9-44B94759E386}">
      <dsp:nvSpPr>
        <dsp:cNvPr id="0" name=""/>
        <dsp:cNvSpPr/>
      </dsp:nvSpPr>
      <dsp:spPr>
        <a:xfrm>
          <a:off x="3862737" y="2345056"/>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955800">
            <a:lnSpc>
              <a:spcPct val="90000"/>
            </a:lnSpc>
            <a:spcBef>
              <a:spcPct val="0"/>
            </a:spcBef>
            <a:spcAft>
              <a:spcPct val="35000"/>
            </a:spcAft>
            <a:buNone/>
            <a:defRPr cap="all"/>
          </a:pPr>
          <a:r>
            <a:rPr lang="en-US" sz="4400" kern="1200"/>
            <a:t>In 7 ways</a:t>
          </a:r>
        </a:p>
      </dsp:txBody>
      <dsp:txXfrm>
        <a:off x="3862737" y="2345056"/>
        <a:ext cx="2925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3456CE-BAB9-4DC6-ACAB-93D7CB5C2E8A}">
      <dsp:nvSpPr>
        <dsp:cNvPr id="0" name=""/>
        <dsp:cNvSpPr/>
      </dsp:nvSpPr>
      <dsp:spPr>
        <a:xfrm>
          <a:off x="153560" y="359763"/>
          <a:ext cx="914333" cy="91433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960F30-56FD-47BE-8532-A2D20A0F6599}">
      <dsp:nvSpPr>
        <dsp:cNvPr id="0" name=""/>
        <dsp:cNvSpPr/>
      </dsp:nvSpPr>
      <dsp:spPr>
        <a:xfrm>
          <a:off x="345570" y="551773"/>
          <a:ext cx="530313" cy="530313"/>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1B8ABDC-0DE7-47D2-8DEA-F1F191A9AB18}">
      <dsp:nvSpPr>
        <dsp:cNvPr id="0" name=""/>
        <dsp:cNvSpPr/>
      </dsp:nvSpPr>
      <dsp:spPr>
        <a:xfrm>
          <a:off x="1263821" y="359763"/>
          <a:ext cx="2155213" cy="914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Email: treuter@mymrci.org</a:t>
          </a:r>
        </a:p>
      </dsp:txBody>
      <dsp:txXfrm>
        <a:off x="1263821" y="359763"/>
        <a:ext cx="2155213" cy="914333"/>
      </dsp:txXfrm>
    </dsp:sp>
    <dsp:sp modelId="{7F6ADC6A-ADA9-420A-AA31-3C6662A73984}">
      <dsp:nvSpPr>
        <dsp:cNvPr id="0" name=""/>
        <dsp:cNvSpPr/>
      </dsp:nvSpPr>
      <dsp:spPr>
        <a:xfrm>
          <a:off x="3794564" y="359763"/>
          <a:ext cx="914333" cy="91433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7BA1CD-F994-4F4C-8418-D1F9B4856DEB}">
      <dsp:nvSpPr>
        <dsp:cNvPr id="0" name=""/>
        <dsp:cNvSpPr/>
      </dsp:nvSpPr>
      <dsp:spPr>
        <a:xfrm>
          <a:off x="3986574" y="551773"/>
          <a:ext cx="530313" cy="5303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DD673C2-734E-4099-8015-9E5BF1D775EF}">
      <dsp:nvSpPr>
        <dsp:cNvPr id="0" name=""/>
        <dsp:cNvSpPr/>
      </dsp:nvSpPr>
      <dsp:spPr>
        <a:xfrm>
          <a:off x="4904826" y="359763"/>
          <a:ext cx="2155213" cy="914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Phone: 507-386-5656</a:t>
          </a:r>
        </a:p>
      </dsp:txBody>
      <dsp:txXfrm>
        <a:off x="4904826" y="359763"/>
        <a:ext cx="2155213" cy="914333"/>
      </dsp:txXfrm>
    </dsp:sp>
    <dsp:sp modelId="{0A338586-9390-47D6-BA8B-633A4E930E54}">
      <dsp:nvSpPr>
        <dsp:cNvPr id="0" name=""/>
        <dsp:cNvSpPr/>
      </dsp:nvSpPr>
      <dsp:spPr>
        <a:xfrm>
          <a:off x="153560" y="1796015"/>
          <a:ext cx="914333" cy="91433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7BB0DD-8491-4C15-BD9E-5027D5572076}">
      <dsp:nvSpPr>
        <dsp:cNvPr id="0" name=""/>
        <dsp:cNvSpPr/>
      </dsp:nvSpPr>
      <dsp:spPr>
        <a:xfrm>
          <a:off x="345570" y="1988025"/>
          <a:ext cx="530313" cy="5303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ABE314F-C442-4886-B5C2-E6C1B29FB7AB}">
      <dsp:nvSpPr>
        <dsp:cNvPr id="0" name=""/>
        <dsp:cNvSpPr/>
      </dsp:nvSpPr>
      <dsp:spPr>
        <a:xfrm>
          <a:off x="1263821" y="1796015"/>
          <a:ext cx="2155213" cy="914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Email: nLotton@mymrci.org</a:t>
          </a:r>
        </a:p>
      </dsp:txBody>
      <dsp:txXfrm>
        <a:off x="1263821" y="1796015"/>
        <a:ext cx="2155213" cy="914333"/>
      </dsp:txXfrm>
    </dsp:sp>
    <dsp:sp modelId="{6D60CF26-FB90-49C8-9BE7-A60BE9EE6534}">
      <dsp:nvSpPr>
        <dsp:cNvPr id="0" name=""/>
        <dsp:cNvSpPr/>
      </dsp:nvSpPr>
      <dsp:spPr>
        <a:xfrm>
          <a:off x="3794564" y="1796015"/>
          <a:ext cx="914333" cy="91433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089A8D-4DB0-4048-AFA3-9E95941F7401}">
      <dsp:nvSpPr>
        <dsp:cNvPr id="0" name=""/>
        <dsp:cNvSpPr/>
      </dsp:nvSpPr>
      <dsp:spPr>
        <a:xfrm>
          <a:off x="3986574" y="1988025"/>
          <a:ext cx="530313" cy="5303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EB0D22C-AAA2-4A32-9762-1F4B4EF6E0C3}">
      <dsp:nvSpPr>
        <dsp:cNvPr id="0" name=""/>
        <dsp:cNvSpPr/>
      </dsp:nvSpPr>
      <dsp:spPr>
        <a:xfrm>
          <a:off x="4904826" y="1796015"/>
          <a:ext cx="2155213" cy="914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Phone: 507-386-5636</a:t>
          </a:r>
        </a:p>
      </dsp:txBody>
      <dsp:txXfrm>
        <a:off x="4904826" y="1796015"/>
        <a:ext cx="2155213" cy="914333"/>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5010" y="0"/>
            <a:ext cx="2971800" cy="457200"/>
          </a:xfrm>
          <a:prstGeom prst="rect">
            <a:avLst/>
          </a:prstGeom>
        </p:spPr>
        <p:txBody>
          <a:bodyPr vert="horz" lIns="91440" tIns="45720" rIns="91440" bIns="45720" rtlCol="0"/>
          <a:lstStyle>
            <a:lvl1pPr algn="r">
              <a:defRPr sz="1200"/>
            </a:lvl1pPr>
          </a:lstStyle>
          <a:p>
            <a:fld id="{D0DF88FD-B61C-A642-80F6-31EA39FEA265}" type="datetimeFigureOut">
              <a:rPr lang="en-US" smtClean="0"/>
              <a:pPr/>
              <a:t>2/16/2023</a:t>
            </a:fld>
            <a:endParaRPr lang="en-US"/>
          </a:p>
        </p:txBody>
      </p:sp>
      <p:sp>
        <p:nvSpPr>
          <p:cNvPr id="4" name="Footer Placeholder 3"/>
          <p:cNvSpPr>
            <a:spLocks noGrp="1"/>
          </p:cNvSpPr>
          <p:nvPr>
            <p:ph type="ftr" sz="quarter" idx="2"/>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5010" y="8684684"/>
            <a:ext cx="2971800" cy="457200"/>
          </a:xfrm>
          <a:prstGeom prst="rect">
            <a:avLst/>
          </a:prstGeom>
        </p:spPr>
        <p:txBody>
          <a:bodyPr vert="horz" lIns="91440" tIns="45720" rIns="91440" bIns="45720" rtlCol="0" anchor="b"/>
          <a:lstStyle>
            <a:lvl1pPr algn="r">
              <a:defRPr sz="1200"/>
            </a:lvl1pPr>
          </a:lstStyle>
          <a:p>
            <a:fld id="{E65EE7CB-706F-CF4A-B868-CC1CE05948F2}" type="slidenum">
              <a:rPr lang="en-US" smtClean="0"/>
              <a:pPr/>
              <a:t>‹#›</a:t>
            </a:fld>
            <a:endParaRPr lang="en-US"/>
          </a:p>
        </p:txBody>
      </p:sp>
    </p:spTree>
    <p:extLst>
      <p:ext uri="{BB962C8B-B14F-4D97-AF65-F5344CB8AC3E}">
        <p14:creationId xmlns:p14="http://schemas.microsoft.com/office/powerpoint/2010/main" val="3440782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17101F8A-6F1C-974E-8384-8717327E6772}" type="datetimeFigureOut">
              <a:rPr lang="en-US" smtClean="0"/>
              <a:pPr/>
              <a:t>2/16/2023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C81CCF30-75E7-4047-B971-189668F28995}" type="slidenum">
              <a:rPr lang="en-US" smtClean="0"/>
              <a:pPr/>
              <a:t>‹#›</a:t>
            </a:fld>
            <a:endParaRPr lang="en-US"/>
          </a:p>
        </p:txBody>
      </p:sp>
    </p:spTree>
    <p:extLst>
      <p:ext uri="{BB962C8B-B14F-4D97-AF65-F5344CB8AC3E}">
        <p14:creationId xmlns:p14="http://schemas.microsoft.com/office/powerpoint/2010/main" val="258464634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Arial" charset="0"/>
                <a:ea typeface="ヒラギノ角ゴ Pro W3" charset="0"/>
                <a:cs typeface="ヒラギノ角ゴ Pro W3" charset="0"/>
              </a:defRPr>
            </a:lvl1pPr>
            <a:lvl2pPr marL="742950" indent="-285750">
              <a:defRPr sz="2000">
                <a:solidFill>
                  <a:schemeClr val="tx1"/>
                </a:solidFill>
                <a:latin typeface="Arial" charset="0"/>
                <a:ea typeface="ヒラギノ角ゴ Pro W3" charset="0"/>
              </a:defRPr>
            </a:lvl2pPr>
            <a:lvl3pPr marL="1143000" indent="-228600">
              <a:defRPr sz="2000">
                <a:solidFill>
                  <a:schemeClr val="tx1"/>
                </a:solidFill>
                <a:latin typeface="Arial" charset="0"/>
                <a:ea typeface="ヒラギノ角ゴ Pro W3" charset="0"/>
              </a:defRPr>
            </a:lvl3pPr>
            <a:lvl4pPr marL="1600200" indent="-228600">
              <a:defRPr sz="2000">
                <a:solidFill>
                  <a:schemeClr val="tx1"/>
                </a:solidFill>
                <a:latin typeface="Arial" charset="0"/>
                <a:ea typeface="ヒラギノ角ゴ Pro W3" charset="0"/>
              </a:defRPr>
            </a:lvl4pPr>
            <a:lvl5pPr marL="2057400" indent="-228600">
              <a:defRPr sz="2000">
                <a:solidFill>
                  <a:schemeClr val="tx1"/>
                </a:solidFill>
                <a:latin typeface="Arial" charset="0"/>
                <a:ea typeface="ヒラギノ角ゴ Pro W3" charset="0"/>
              </a:defRPr>
            </a:lvl5pPr>
            <a:lvl6pPr marL="2514600" indent="-228600" eaLnBrk="0" fontAlgn="base" hangingPunct="0">
              <a:spcBef>
                <a:spcPct val="0"/>
              </a:spcBef>
              <a:spcAft>
                <a:spcPct val="0"/>
              </a:spcAft>
              <a:defRPr sz="2000">
                <a:solidFill>
                  <a:schemeClr val="tx1"/>
                </a:solidFill>
                <a:latin typeface="Arial" charset="0"/>
                <a:ea typeface="ヒラギノ角ゴ Pro W3" charset="0"/>
              </a:defRPr>
            </a:lvl6pPr>
            <a:lvl7pPr marL="2971800" indent="-228600" eaLnBrk="0" fontAlgn="base" hangingPunct="0">
              <a:spcBef>
                <a:spcPct val="0"/>
              </a:spcBef>
              <a:spcAft>
                <a:spcPct val="0"/>
              </a:spcAft>
              <a:defRPr sz="2000">
                <a:solidFill>
                  <a:schemeClr val="tx1"/>
                </a:solidFill>
                <a:latin typeface="Arial" charset="0"/>
                <a:ea typeface="ヒラギノ角ゴ Pro W3" charset="0"/>
              </a:defRPr>
            </a:lvl7pPr>
            <a:lvl8pPr marL="3429000" indent="-228600" eaLnBrk="0" fontAlgn="base" hangingPunct="0">
              <a:spcBef>
                <a:spcPct val="0"/>
              </a:spcBef>
              <a:spcAft>
                <a:spcPct val="0"/>
              </a:spcAft>
              <a:defRPr sz="2000">
                <a:solidFill>
                  <a:schemeClr val="tx1"/>
                </a:solidFill>
                <a:latin typeface="Arial" charset="0"/>
                <a:ea typeface="ヒラギノ角ゴ Pro W3" charset="0"/>
              </a:defRPr>
            </a:lvl8pPr>
            <a:lvl9pPr marL="3886200" indent="-228600" eaLnBrk="0" fontAlgn="base" hangingPunct="0">
              <a:spcBef>
                <a:spcPct val="0"/>
              </a:spcBef>
              <a:spcAft>
                <a:spcPct val="0"/>
              </a:spcAft>
              <a:defRPr sz="2000">
                <a:solidFill>
                  <a:schemeClr val="tx1"/>
                </a:solidFill>
                <a:latin typeface="Arial" charset="0"/>
                <a:ea typeface="ヒラギノ角ゴ Pro W3" charset="0"/>
              </a:defRPr>
            </a:lvl9pPr>
          </a:lstStyle>
          <a:p>
            <a:fld id="{A41601A5-C9E7-A247-A72F-F4CC89B63294}" type="slidenum">
              <a:rPr lang="en-US" sz="1200"/>
              <a:pPr/>
              <a:t>1</a:t>
            </a:fld>
            <a:endParaRPr lang="en-US" sz="1200"/>
          </a:p>
        </p:txBody>
      </p:sp>
      <p:sp>
        <p:nvSpPr>
          <p:cNvPr id="18435" name="Rectangle 2"/>
          <p:cNvSpPr>
            <a:spLocks noGrp="1" noRot="1" noChangeAspect="1" noChangeArrowheads="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r>
              <a:rPr lang="en-US" dirty="0"/>
              <a:t>Staci </a:t>
            </a:r>
          </a:p>
          <a:p>
            <a:endParaRPr lang="en-US" dirty="0"/>
          </a:p>
          <a:p>
            <a:r>
              <a:rPr lang="en-US" dirty="0"/>
              <a:t>Good afternoon, welcome to everyone that has joined us this afternoon.</a:t>
            </a:r>
          </a:p>
          <a:p>
            <a:endParaRPr lang="en-US" dirty="0"/>
          </a:p>
          <a:p>
            <a:r>
              <a:rPr lang="en-US" dirty="0"/>
              <a:t>This is the first quarterly training of 2023 of the Minnesota Transformation Initiative. Today's topic is Managing Through Change. </a:t>
            </a:r>
          </a:p>
          <a:p>
            <a:r>
              <a:rPr lang="en-US" dirty="0">
                <a:solidFill>
                  <a:srgbClr val="000000"/>
                </a:solidFill>
                <a:cs typeface="Calibri"/>
              </a:rPr>
              <a:t>My name is Staci jones, an associate with the institute for community inclusion at University of Massachusetts </a:t>
            </a:r>
            <a:r>
              <a:rPr lang="en-US" dirty="0" err="1">
                <a:solidFill>
                  <a:srgbClr val="000000"/>
                </a:solidFill>
                <a:cs typeface="Calibri"/>
              </a:rPr>
              <a:t>boston</a:t>
            </a:r>
            <a:r>
              <a:rPr lang="en-US" dirty="0">
                <a:solidFill>
                  <a:srgbClr val="000000"/>
                </a:solidFill>
                <a:cs typeface="Calibri"/>
              </a:rPr>
              <a:t>. (or ICI </a:t>
            </a:r>
            <a:r>
              <a:rPr lang="en-US" dirty="0" err="1">
                <a:solidFill>
                  <a:srgbClr val="000000"/>
                </a:solidFill>
                <a:cs typeface="Calibri"/>
              </a:rPr>
              <a:t>umass</a:t>
            </a:r>
            <a:r>
              <a:rPr lang="en-US" dirty="0">
                <a:solidFill>
                  <a:srgbClr val="000000"/>
                </a:solidFill>
                <a:cs typeface="Calibri"/>
              </a:rPr>
              <a:t> for short)</a:t>
            </a:r>
          </a:p>
          <a:p>
            <a:r>
              <a:rPr lang="en-US" dirty="0">
                <a:solidFill>
                  <a:srgbClr val="FF0000"/>
                </a:solidFill>
              </a:rPr>
              <a:t>Before we kick things off, just a few </a:t>
            </a:r>
            <a:r>
              <a:rPr lang="en-US">
                <a:solidFill>
                  <a:srgbClr val="FF0000"/>
                </a:solidFill>
              </a:rPr>
              <a:t>housekeeping items. </a:t>
            </a:r>
            <a:r>
              <a:rPr lang="en-US" dirty="0">
                <a:solidFill>
                  <a:srgbClr val="FF0000"/>
                </a:solidFill>
              </a:rPr>
              <a:t>We ask that all participants remain on mute throughout the presentation, in order to reduce background noise.  </a:t>
            </a:r>
          </a:p>
          <a:p>
            <a:endParaRPr lang="en-US" dirty="0">
              <a:solidFill>
                <a:srgbClr val="FF0000"/>
              </a:solidFill>
            </a:endParaRPr>
          </a:p>
          <a:p>
            <a:r>
              <a:rPr lang="en-US" dirty="0">
                <a:solidFill>
                  <a:srgbClr val="FF0000"/>
                </a:solidFill>
              </a:rPr>
              <a:t>We will have team members monitoring the chat for any questions that may arise. You are welcome to type questions in the chat at anytime, and will be reading out questions to our guest presenters today will be taking time to answer questions at the end instead of taking questions throughout the presentation.  </a:t>
            </a:r>
            <a:endParaRPr lang="en-US" dirty="0">
              <a:solidFill>
                <a:srgbClr val="FF0000"/>
              </a:solidFill>
              <a:cs typeface="Calibri"/>
            </a:endParaRPr>
          </a:p>
          <a:p>
            <a:endParaRPr lang="en-US" dirty="0">
              <a:solidFill>
                <a:srgbClr val="FF0000"/>
              </a:solidFill>
            </a:endParaRPr>
          </a:p>
          <a:p>
            <a:r>
              <a:rPr lang="en-US" dirty="0">
                <a:solidFill>
                  <a:srgbClr val="FF0000"/>
                </a:solidFill>
              </a:rPr>
              <a:t>Today’s session is being recorded and that recording, along with the presentation slide deck will be sent out via email to anyone that registered for this webinar.  You will also find a copy of the today's PPT in the chat box available for immediate download. </a:t>
            </a:r>
            <a:endParaRPr lang="en-US" dirty="0">
              <a:solidFill>
                <a:srgbClr val="FF0000"/>
              </a:solidFill>
              <a:cs typeface="Calibri"/>
            </a:endParaRPr>
          </a:p>
        </p:txBody>
      </p:sp>
    </p:spTree>
    <p:extLst>
      <p:ext uri="{BB962C8B-B14F-4D97-AF65-F5344CB8AC3E}">
        <p14:creationId xmlns:p14="http://schemas.microsoft.com/office/powerpoint/2010/main" val="1596318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3aeb6740f1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g13aeb6740f1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buSzPts val="1400"/>
            </a:pPr>
            <a:r>
              <a:rPr lang="en-US" dirty="0">
                <a:cs typeface="Calibri"/>
              </a:rPr>
              <a:t>For anyone just joining us for the first time, Just a quick reminder that the Minnesota Transformation Initiative is made possible through a grant from the Minnesota Department of Human Services and is in partnership with Institute on Community Integration at University of Minnesota as well as ICI at Umass Boston, Strengths at Work, LLC, the Arc of Minnesota and Quillo.  This initiative is designed to help organizations move away from supporting employment that pays subminimum wage and expand competitive integrated employment and community life engagement outcomes.  </a:t>
            </a:r>
          </a:p>
          <a:p>
            <a:pPr>
              <a:buSzPts val="1400"/>
            </a:pPr>
            <a:endParaRPr lang="en-US" dirty="0">
              <a:cs typeface="Calibri"/>
            </a:endParaRPr>
          </a:p>
          <a:p>
            <a:pPr>
              <a:buSzPts val="1400"/>
            </a:pPr>
            <a:r>
              <a:rPr lang="en-US" dirty="0">
                <a:cs typeface="Calibri"/>
              </a:rPr>
              <a:t>Part of the MTI project includes the opportunity to put on these quarterly trainings, where we focus on themes related to organizational transformation and best practices in employment and community services.  This webinar series is also brought to you in partnership with Minnesota MOHR. </a:t>
            </a:r>
          </a:p>
          <a:p>
            <a:pPr>
              <a:buSzPts val="1400"/>
            </a:pPr>
            <a:endParaRPr lang="en-US" dirty="0">
              <a:cs typeface="Calibri"/>
            </a:endParaRPr>
          </a:p>
          <a:p>
            <a:pPr>
              <a:buSzPts val="1400"/>
            </a:pPr>
            <a:r>
              <a:rPr lang="en-US" dirty="0">
                <a:cs typeface="Calibri"/>
              </a:rPr>
              <a:t>And also want to point out that the MTI project has a web-based landing page, and you can access that landing page at the web address on the screen.  The PDF of the PPT includes a hyperlink that you can click on. On that landing page you'll find more information about the project as well as resources, you can register for upcoming trainings and recordings of past trainings.  I’m going to turn things over to my colleague Brian to take things from here. </a:t>
            </a:r>
          </a:p>
          <a:p>
            <a:pPr>
              <a:buSzPts val="1400"/>
            </a:pPr>
            <a:endParaRPr lang="en-US" dirty="0"/>
          </a:p>
          <a:p>
            <a:pPr marL="0" lvl="0" indent="0" algn="l" rtl="0">
              <a:lnSpc>
                <a:spcPct val="100000"/>
              </a:lnSpc>
              <a:spcBef>
                <a:spcPts val="0"/>
              </a:spcBef>
              <a:spcAft>
                <a:spcPts val="0"/>
              </a:spcAft>
              <a:buSzPts val="1400"/>
              <a:buNone/>
            </a:pPr>
            <a:endParaRPr lang="en-US" dirty="0">
              <a:cs typeface="Calibri"/>
            </a:endParaRPr>
          </a:p>
        </p:txBody>
      </p:sp>
      <p:sp>
        <p:nvSpPr>
          <p:cNvPr id="106" name="Google Shape;106;g13aeb6740f1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Arial" charset="0"/>
                <a:ea typeface="ヒラギノ角ゴ Pro W3" charset="0"/>
                <a:cs typeface="ヒラギノ角ゴ Pro W3" charset="0"/>
              </a:defRPr>
            </a:lvl1pPr>
            <a:lvl2pPr marL="742950" indent="-285750">
              <a:defRPr sz="2000">
                <a:solidFill>
                  <a:schemeClr val="tx1"/>
                </a:solidFill>
                <a:latin typeface="Arial" charset="0"/>
                <a:ea typeface="ヒラギノ角ゴ Pro W3" charset="0"/>
              </a:defRPr>
            </a:lvl2pPr>
            <a:lvl3pPr marL="1143000" indent="-228600">
              <a:defRPr sz="2000">
                <a:solidFill>
                  <a:schemeClr val="tx1"/>
                </a:solidFill>
                <a:latin typeface="Arial" charset="0"/>
                <a:ea typeface="ヒラギノ角ゴ Pro W3" charset="0"/>
              </a:defRPr>
            </a:lvl3pPr>
            <a:lvl4pPr marL="1600200" indent="-228600">
              <a:defRPr sz="2000">
                <a:solidFill>
                  <a:schemeClr val="tx1"/>
                </a:solidFill>
                <a:latin typeface="Arial" charset="0"/>
                <a:ea typeface="ヒラギノ角ゴ Pro W3" charset="0"/>
              </a:defRPr>
            </a:lvl4pPr>
            <a:lvl5pPr marL="2057400" indent="-228600">
              <a:defRPr sz="2000">
                <a:solidFill>
                  <a:schemeClr val="tx1"/>
                </a:solidFill>
                <a:latin typeface="Arial" charset="0"/>
                <a:ea typeface="ヒラギノ角ゴ Pro W3" charset="0"/>
              </a:defRPr>
            </a:lvl5pPr>
            <a:lvl6pPr marL="2514600" indent="-228600" eaLnBrk="0" fontAlgn="base" hangingPunct="0">
              <a:spcBef>
                <a:spcPct val="0"/>
              </a:spcBef>
              <a:spcAft>
                <a:spcPct val="0"/>
              </a:spcAft>
              <a:defRPr sz="2000">
                <a:solidFill>
                  <a:schemeClr val="tx1"/>
                </a:solidFill>
                <a:latin typeface="Arial" charset="0"/>
                <a:ea typeface="ヒラギノ角ゴ Pro W3" charset="0"/>
              </a:defRPr>
            </a:lvl6pPr>
            <a:lvl7pPr marL="2971800" indent="-228600" eaLnBrk="0" fontAlgn="base" hangingPunct="0">
              <a:spcBef>
                <a:spcPct val="0"/>
              </a:spcBef>
              <a:spcAft>
                <a:spcPct val="0"/>
              </a:spcAft>
              <a:defRPr sz="2000">
                <a:solidFill>
                  <a:schemeClr val="tx1"/>
                </a:solidFill>
                <a:latin typeface="Arial" charset="0"/>
                <a:ea typeface="ヒラギノ角ゴ Pro W3" charset="0"/>
              </a:defRPr>
            </a:lvl7pPr>
            <a:lvl8pPr marL="3429000" indent="-228600" eaLnBrk="0" fontAlgn="base" hangingPunct="0">
              <a:spcBef>
                <a:spcPct val="0"/>
              </a:spcBef>
              <a:spcAft>
                <a:spcPct val="0"/>
              </a:spcAft>
              <a:defRPr sz="2000">
                <a:solidFill>
                  <a:schemeClr val="tx1"/>
                </a:solidFill>
                <a:latin typeface="Arial" charset="0"/>
                <a:ea typeface="ヒラギノ角ゴ Pro W3" charset="0"/>
              </a:defRPr>
            </a:lvl8pPr>
            <a:lvl9pPr marL="3886200" indent="-228600" eaLnBrk="0" fontAlgn="base" hangingPunct="0">
              <a:spcBef>
                <a:spcPct val="0"/>
              </a:spcBef>
              <a:spcAft>
                <a:spcPct val="0"/>
              </a:spcAft>
              <a:defRPr sz="2000">
                <a:solidFill>
                  <a:schemeClr val="tx1"/>
                </a:solidFill>
                <a:latin typeface="Arial" charset="0"/>
                <a:ea typeface="ヒラギノ角ゴ Pro W3" charset="0"/>
              </a:defRPr>
            </a:lvl9pPr>
          </a:lstStyle>
          <a:p>
            <a:pPr>
              <a:defRPr/>
            </a:pPr>
            <a:fld id="{E4A18A36-1BFC-1346-881B-371B77C93F58}" type="slidenum">
              <a:rPr lang="en-US" sz="1200"/>
              <a:pPr>
                <a:defRPr/>
              </a:pPr>
              <a:t>3</a:t>
            </a:fld>
            <a:endParaRPr lang="en-US" sz="1200"/>
          </a:p>
        </p:txBody>
      </p:sp>
      <p:sp>
        <p:nvSpPr>
          <p:cNvPr id="18435" name="Rectangle 2"/>
          <p:cNvSpPr>
            <a:spLocks noGrp="1" noRot="1" noChangeAspect="1" noChangeArrowheads="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p>
          <a:p>
            <a:pPr>
              <a:defRPr/>
            </a:pPr>
            <a:r>
              <a:rPr lang="en-US" dirty="0"/>
              <a:t> Brian</a:t>
            </a:r>
            <a:endParaRPr lang="en-US" dirty="0">
              <a:cs typeface="Calibri"/>
            </a:endParaRPr>
          </a:p>
          <a:p>
            <a:pPr>
              <a:defRPr/>
            </a:pPr>
            <a:endParaRPr lang="en-US" dirty="0">
              <a:cs typeface="Calibri"/>
            </a:endParaRPr>
          </a:p>
          <a:p>
            <a:pPr>
              <a:defRPr/>
            </a:pPr>
            <a:r>
              <a:rPr lang="en-US" dirty="0">
                <a:cs typeface="Calibri"/>
              </a:rPr>
              <a:t>(introduce yourself)</a:t>
            </a:r>
          </a:p>
          <a:p>
            <a:pPr>
              <a:defRPr/>
            </a:pPr>
            <a:endParaRPr lang="en-US" dirty="0">
              <a:cs typeface="Calibri"/>
            </a:endParaRPr>
          </a:p>
          <a:p>
            <a:pPr>
              <a:defRPr/>
            </a:pPr>
            <a:r>
              <a:rPr lang="en-US" dirty="0">
                <a:cs typeface="Calibri"/>
              </a:rPr>
              <a:t>For today's topic of Managing through change, we are thrilled to have with us 2 organizational leaders who will be sharing a little bit about their organizations' transformation stories and how they successfully manage through the ups and downs and challenges that come along with transformation.</a:t>
            </a:r>
          </a:p>
          <a:p>
            <a:pPr>
              <a:defRPr/>
            </a:pPr>
            <a:endParaRPr lang="en-US" dirty="0">
              <a:cs typeface="Calibri"/>
            </a:endParaRPr>
          </a:p>
          <a:p>
            <a:pPr>
              <a:defRPr/>
            </a:pPr>
            <a:r>
              <a:rPr lang="en-US" b="1" dirty="0"/>
              <a:t>Our first presenter today is Tim Schmutzer, </a:t>
            </a:r>
            <a:r>
              <a:rPr lang="en-US" dirty="0"/>
              <a:t>Executive Director for PHASE-Industries, operating out of east-central Minnesota. Tim has spent two decades working in and providing consultation to nonprofit human service, transportation and other healthcare systems to stabilize, build, diversify, and successfully align &amp; merge entities.  Tim completed his postgraduate education in counseling psychology and neuroanatomy at University of Wisconsin-Madison.  He is a certified practitioner of the Myers Briggs Type Indicator (MBTI) Instrument, a graduate of the Minnesota Council of Nonprofits Leadership Institute, and actively participates on local economic development authorities and several regional &amp; statewide boards of directors. </a:t>
            </a:r>
            <a:endParaRPr lang="en-US" dirty="0">
              <a:cs typeface="Calibri"/>
            </a:endParaRPr>
          </a:p>
          <a:p>
            <a:pPr>
              <a:defRPr/>
            </a:pPr>
            <a:endParaRPr lang="en-US" b="1" dirty="0">
              <a:cs typeface="Calibri"/>
            </a:endParaRPr>
          </a:p>
          <a:p>
            <a:pPr>
              <a:defRPr/>
            </a:pPr>
            <a:r>
              <a:rPr lang="en-US" b="1" dirty="0">
                <a:cs typeface="Calibri"/>
              </a:rPr>
              <a:t>Also joining us today is Tami Reuter</a:t>
            </a:r>
            <a:r>
              <a:rPr lang="en-US" dirty="0">
                <a:cs typeface="Calibri"/>
              </a:rPr>
              <a:t>. Tami </a:t>
            </a:r>
            <a:r>
              <a:rPr lang="en-US" dirty="0"/>
              <a:t> serves as Chief Business and Marketing Officer for MRCI, out of Mankato. Reuter’s focus in the nonprofit industry includes work on developing the talents of the future workforce. Her past professional roles as Executive Director of South-Central College’s North Mankato Campus Foundation and Vice President of Operations for Junior Achievement were firmly grounded in developing the potential of others. Tami also finds inspiration from many of the organizations she personally supports with her contributions of time including the YWCA, PEN, Greater Mankato Growth, St. John’s church and several others.</a:t>
            </a:r>
            <a:endParaRPr lang="en-US" dirty="0">
              <a:cs typeface="Calibri"/>
            </a:endParaRPr>
          </a:p>
          <a:p>
            <a:pPr>
              <a:defRPr/>
            </a:pPr>
            <a:endParaRPr lang="en-US" dirty="0">
              <a:cs typeface="Calibri"/>
            </a:endParaRPr>
          </a:p>
          <a:p>
            <a:pPr>
              <a:defRPr/>
            </a:pPr>
            <a:endParaRPr lang="en-US" dirty="0">
              <a:cs typeface="Calibri"/>
            </a:endParaRPr>
          </a:p>
          <a:p>
            <a:pPr>
              <a:defRPr/>
            </a:pPr>
            <a:endParaRPr lang="en-US" dirty="0">
              <a:cs typeface="Calibri"/>
            </a:endParaRPr>
          </a:p>
        </p:txBody>
      </p:sp>
    </p:spTree>
    <p:extLst>
      <p:ext uri="{BB962C8B-B14F-4D97-AF65-F5344CB8AC3E}">
        <p14:creationId xmlns:p14="http://schemas.microsoft.com/office/powerpoint/2010/main" val="2924602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Brian</a:t>
            </a:r>
          </a:p>
          <a:p>
            <a:endParaRPr lang="en-US" dirty="0"/>
          </a:p>
          <a:p>
            <a:r>
              <a:rPr lang="en-US" dirty="0"/>
              <a:t>Before I pass things over to Tim, we want to start by taking a quick poll to find out about who is joining us for today's training. </a:t>
            </a:r>
            <a:endParaRPr lang="en-US" dirty="0">
              <a:cs typeface="Calibri"/>
            </a:endParaRPr>
          </a:p>
          <a:p>
            <a:endParaRPr lang="en-US" dirty="0">
              <a:cs typeface="Calibri"/>
            </a:endParaRPr>
          </a:p>
          <a:p>
            <a:r>
              <a:rPr lang="en-US" dirty="0">
                <a:cs typeface="Calibri"/>
              </a:rPr>
              <a:t>We just would like to know what is your primary role. You'll have the option to choose between Senior Leadership, mid-manager, employment staff, residential staff, day services staff, Case Manager, or other.  And we know that at non-profit organizations it is common to have multiple roles, so just choose the one that you think most closely aligns. If none of these fit, then just choose other and feel free to type your role into the chat box. </a:t>
            </a:r>
          </a:p>
          <a:p>
            <a:endParaRPr lang="en-US" dirty="0">
              <a:cs typeface="Calibri"/>
            </a:endParaRPr>
          </a:p>
          <a:p>
            <a:r>
              <a:rPr lang="en-US" dirty="0">
                <a:cs typeface="Calibri"/>
              </a:rPr>
              <a:t>Now, I'll hand things over to Tim. </a:t>
            </a:r>
          </a:p>
        </p:txBody>
      </p:sp>
      <p:sp>
        <p:nvSpPr>
          <p:cNvPr id="4" name="Slide Number Placeholder 3"/>
          <p:cNvSpPr>
            <a:spLocks noGrp="1"/>
          </p:cNvSpPr>
          <p:nvPr>
            <p:ph type="sldNum" sz="quarter" idx="5"/>
          </p:nvPr>
        </p:nvSpPr>
        <p:spPr/>
        <p:txBody>
          <a:bodyPr/>
          <a:lstStyle/>
          <a:p>
            <a:fld id="{C81CCF30-75E7-4047-B971-189668F28995}" type="slidenum">
              <a:rPr lang="en-US" smtClean="0"/>
              <a:pPr/>
              <a:t>4</a:t>
            </a:fld>
            <a:endParaRPr lang="en-US"/>
          </a:p>
        </p:txBody>
      </p:sp>
    </p:spTree>
    <p:extLst>
      <p:ext uri="{BB962C8B-B14F-4D97-AF65-F5344CB8AC3E}">
        <p14:creationId xmlns:p14="http://schemas.microsoft.com/office/powerpoint/2010/main" val="1025867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a:p>
        </p:txBody>
      </p:sp>
    </p:spTree>
    <p:extLst>
      <p:ext uri="{BB962C8B-B14F-4D97-AF65-F5344CB8AC3E}">
        <p14:creationId xmlns:p14="http://schemas.microsoft.com/office/powerpoint/2010/main" val="386151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4913" y="704850"/>
            <a:ext cx="4692650" cy="35194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471145" eaLnBrk="1" fontAlgn="auto" hangingPunct="1">
              <a:spcBef>
                <a:spcPts val="0"/>
              </a:spcBef>
              <a:spcAft>
                <a:spcPts val="0"/>
              </a:spcAft>
              <a:defRPr/>
            </a:pPr>
            <a:fld id="{C81CCF30-75E7-4047-B971-189668F28995}" type="slidenum">
              <a:rPr lang="en-US">
                <a:solidFill>
                  <a:prstClr val="black"/>
                </a:solidFill>
                <a:latin typeface="Calibri" panose="020F0502020204030204"/>
                <a:ea typeface="+mn-ea"/>
              </a:rPr>
              <a:pPr defTabSz="471145" eaLnBrk="1" fontAlgn="auto" hangingPunct="1">
                <a:spcBef>
                  <a:spcPts val="0"/>
                </a:spcBef>
                <a:spcAft>
                  <a:spcPts val="0"/>
                </a:spcAft>
                <a:defRPr/>
              </a:pPr>
              <a:t>7</a:t>
            </a:fld>
            <a:endParaRPr lang="en-US">
              <a:solidFill>
                <a:prstClr val="black"/>
              </a:solidFill>
              <a:latin typeface="Calibri" panose="020F0502020204030204"/>
              <a:ea typeface="+mn-ea"/>
            </a:endParaRPr>
          </a:p>
        </p:txBody>
      </p:sp>
    </p:spTree>
    <p:extLst>
      <p:ext uri="{BB962C8B-B14F-4D97-AF65-F5344CB8AC3E}">
        <p14:creationId xmlns:p14="http://schemas.microsoft.com/office/powerpoint/2010/main" val="4020519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13</a:t>
            </a:fld>
            <a:endParaRPr lang="en-US"/>
          </a:p>
        </p:txBody>
      </p:sp>
    </p:spTree>
    <p:extLst>
      <p:ext uri="{BB962C8B-B14F-4D97-AF65-F5344CB8AC3E}">
        <p14:creationId xmlns:p14="http://schemas.microsoft.com/office/powerpoint/2010/main" val="1142455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Thank you for inviting me here today.  Change happens all of the time around us.   What drives the change?  Before we reflect on the most recent transformation at MRCI I think it is important to realize that MRCI has been transforming for 70 years.  </a:t>
            </a:r>
          </a:p>
          <a:p>
            <a:endParaRPr lang="en-US" dirty="0"/>
          </a:p>
          <a:p>
            <a:r>
              <a:rPr lang="en-US" dirty="0"/>
              <a:t>In simplest terms… It just so happens that in 2018 we embarked on a strategic journey, we were tasked with creating a plan that included some significant warning signs for our organization.  </a:t>
            </a:r>
          </a:p>
          <a:p>
            <a:endParaRPr lang="en-US" dirty="0"/>
          </a:p>
          <a:p>
            <a:r>
              <a:rPr lang="en-US" dirty="0"/>
              <a:t>So who is MRCI?</a:t>
            </a:r>
          </a:p>
          <a:p>
            <a:r>
              <a:rPr lang="en-US" dirty="0"/>
              <a:t>let’s back up to 1953 when MRCI was founded by a concerned group of community members as an opportunity serve veterans and polio victims needing to rehabilitate to help on the family farm. Our mission than transformed in the 1960s when MRCI began center-based employment again in the 1980s when MRCI started working with our first clients as they found community-based employment.   We all know the story of COVID in 2020, but out of that disaster became an opportunity to take the strategic plan created in 2018 off the shelf and create the New MRCI.</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1200" dirty="0"/>
              <a:t>Where did we come from: 70 years of transformation</a:t>
            </a:r>
          </a:p>
          <a:p>
            <a:r>
              <a:rPr lang="en-US" sz="1200" dirty="0"/>
              <a:t>2018, the high-water mark</a:t>
            </a:r>
          </a:p>
          <a:p>
            <a:r>
              <a:rPr lang="en-US" sz="1200" dirty="0"/>
              <a:t>Reading the future, understanding Opportunities and the warning signs</a:t>
            </a:r>
          </a:p>
          <a:p>
            <a:r>
              <a:rPr lang="en-US" sz="1200" dirty="0"/>
              <a:t>Creating a plan for the future</a:t>
            </a:r>
          </a:p>
          <a:p>
            <a:r>
              <a:rPr lang="en-US" sz="1200" dirty="0"/>
              <a:t>COVID: turning disaster into opportunity</a:t>
            </a:r>
          </a:p>
          <a:p>
            <a:r>
              <a:rPr lang="en-US" sz="1200" dirty="0"/>
              <a:t>Creation of the “New MRCI”</a:t>
            </a:r>
          </a:p>
          <a:p>
            <a:r>
              <a:rPr lang="en-US" sz="1200" dirty="0"/>
              <a:t>MRCI today</a:t>
            </a:r>
          </a:p>
          <a:p>
            <a:endParaRPr lang="en-US" dirty="0"/>
          </a:p>
          <a:p>
            <a:endParaRPr lang="en-US" dirty="0"/>
          </a:p>
          <a:p>
            <a:endParaRPr lang="en-US" dirty="0"/>
          </a:p>
          <a:p>
            <a:r>
              <a:rPr lang="en-US" dirty="0"/>
              <a:t>What I have learned: Creating and Driving Organizational Change</a:t>
            </a:r>
          </a:p>
          <a:p>
            <a:r>
              <a:rPr lang="en-US" sz="1200" dirty="0"/>
              <a:t>Change Happens (all the time: good,  bad and ugly)</a:t>
            </a:r>
          </a:p>
          <a:p>
            <a:r>
              <a:rPr lang="en-US" sz="1200" dirty="0"/>
              <a:t>What drives change?</a:t>
            </a:r>
          </a:p>
          <a:p>
            <a:r>
              <a:rPr lang="en-US" sz="1200" dirty="0"/>
              <a:t>Does change have to be dramatic? </a:t>
            </a:r>
          </a:p>
          <a:p>
            <a:r>
              <a:rPr lang="en-US" sz="1200" dirty="0"/>
              <a:t>Why is it hard to do something different?</a:t>
            </a:r>
          </a:p>
          <a:p>
            <a:r>
              <a:rPr lang="en-US" sz="1200" dirty="0"/>
              <a:t>What effect does your organizational culture have on change?</a:t>
            </a:r>
          </a:p>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14</a:t>
            </a:fld>
            <a:endParaRPr lang="en-US"/>
          </a:p>
        </p:txBody>
      </p:sp>
    </p:spTree>
    <p:extLst>
      <p:ext uri="{BB962C8B-B14F-4D97-AF65-F5344CB8AC3E}">
        <p14:creationId xmlns:p14="http://schemas.microsoft.com/office/powerpoint/2010/main" val="682390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Today, We were very clear on who we are:</a:t>
            </a:r>
          </a:p>
          <a:p>
            <a:endParaRPr lang="en-US" dirty="0"/>
          </a:p>
          <a:p>
            <a:r>
              <a:rPr lang="en-US" dirty="0"/>
              <a:t>Our mission says we provide innovative and genuine opportunities for individuals with disabilities and disadvantages at home, at work and in the community.  We do this now with a menu of services in Self Direction, Day Services and Employment Services.</a:t>
            </a:r>
          </a:p>
          <a:p>
            <a:endParaRPr lang="en-US" dirty="0"/>
          </a:p>
          <a:p>
            <a:r>
              <a:rPr lang="en-US" dirty="0"/>
              <a:t>We are an employment-first organization; however, are not an employment exclusive organization.</a:t>
            </a:r>
          </a:p>
          <a:p>
            <a:endParaRPr lang="en-US" dirty="0"/>
          </a:p>
          <a:p>
            <a:r>
              <a:rPr lang="en-US" sz="3600" dirty="0"/>
              <a:t>Specifically for our Employment Services, this meant for us an elimination of 14 c certificate and Enclaves.  Our dream was that all of our clients who wanted to work would be proudly employed by employers in the community, on their payroll, wearing their company logo-wear and invited to their holiday parties. It seemed like a small dream, but the idea that our clients used to be sent away for holiday parties was going to be “win” for us in the inclusion category.</a:t>
            </a:r>
          </a:p>
        </p:txBody>
      </p:sp>
      <p:sp>
        <p:nvSpPr>
          <p:cNvPr id="4" name="Slide Number Placeholder 3"/>
          <p:cNvSpPr>
            <a:spLocks noGrp="1"/>
          </p:cNvSpPr>
          <p:nvPr>
            <p:ph type="sldNum" sz="quarter" idx="5"/>
          </p:nvPr>
        </p:nvSpPr>
        <p:spPr/>
        <p:txBody>
          <a:bodyPr/>
          <a:lstStyle/>
          <a:p>
            <a:fld id="{5DB2EAF6-865E-42D9-A00C-17E1B3243847}" type="slidenum">
              <a:rPr lang="en-US" smtClean="0"/>
              <a:t>15</a:t>
            </a:fld>
            <a:endParaRPr lang="en-US"/>
          </a:p>
        </p:txBody>
      </p:sp>
    </p:spTree>
    <p:extLst>
      <p:ext uri="{BB962C8B-B14F-4D97-AF65-F5344CB8AC3E}">
        <p14:creationId xmlns:p14="http://schemas.microsoft.com/office/powerpoint/2010/main" val="373230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Many of you are familiar with the 10 Elements of Successful Organizational Transformation to Competitive Integrated Employment.  Over the next few minutes will share with you some of the successes and challenges in the last couple of years as we navigated our organizations transformation to community-based. Unfortunately, we will not have time to touch on all 10 elements; however, please know you are welcome to connect with me afterwards for additional information.</a:t>
            </a:r>
          </a:p>
          <a:p>
            <a:endParaRPr lang="en-US" dirty="0"/>
          </a:p>
          <a:p>
            <a:r>
              <a:rPr lang="en-US" dirty="0"/>
              <a:t>I’ve been told since the introduction of Microsoft TEAMS at MRCI that we can carry on full conversations using GIFS and EMOJI’s, but we won’t go to that extreme today.  However, we are so transparent with these phrases they have become our own “language or Jargon” at MRCI that we introduce many of them during new hire orientation.</a:t>
            </a:r>
          </a:p>
          <a:p>
            <a:endParaRPr lang="en-US" dirty="0"/>
          </a:p>
          <a:p>
            <a:r>
              <a:rPr lang="en-US" dirty="0"/>
              <a:t>One of them that we use is “community-based” for us that means competitive, integrated employment as I mentioned early MRCI no longer as our 14c certificate or enclaves. </a:t>
            </a:r>
          </a:p>
        </p:txBody>
      </p:sp>
      <p:sp>
        <p:nvSpPr>
          <p:cNvPr id="4" name="Slide Number Placeholder 3"/>
          <p:cNvSpPr>
            <a:spLocks noGrp="1"/>
          </p:cNvSpPr>
          <p:nvPr>
            <p:ph type="sldNum" sz="quarter" idx="5"/>
          </p:nvPr>
        </p:nvSpPr>
        <p:spPr/>
        <p:txBody>
          <a:bodyPr/>
          <a:lstStyle/>
          <a:p>
            <a:fld id="{5DB2EAF6-865E-42D9-A00C-17E1B3243847}" type="slidenum">
              <a:rPr lang="en-US" smtClean="0"/>
              <a:t>16</a:t>
            </a:fld>
            <a:endParaRPr lang="en-US"/>
          </a:p>
        </p:txBody>
      </p:sp>
    </p:spTree>
    <p:extLst>
      <p:ext uri="{BB962C8B-B14F-4D97-AF65-F5344CB8AC3E}">
        <p14:creationId xmlns:p14="http://schemas.microsoft.com/office/powerpoint/2010/main" val="3588800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Let’s begin.  One of the first elements is to have clear and consistent goals.  </a:t>
            </a:r>
          </a:p>
          <a:p>
            <a:endParaRPr lang="en-US" dirty="0"/>
          </a:p>
          <a:p>
            <a:r>
              <a:rPr lang="en-US" dirty="0"/>
              <a:t>At MRCI, we had a strategic plan to be community-based.  It was a 5-year plan written in 2018 to begin in 2019.  The plan was very pretty.  Thankfully, it did one think correctly as it provided all of the staff “the WHY” for the move to community-based. </a:t>
            </a:r>
          </a:p>
          <a:p>
            <a:endParaRPr lang="en-US" dirty="0"/>
          </a:p>
          <a:p>
            <a:r>
              <a:rPr lang="en-US" dirty="0"/>
              <a:t>However, We could have never predicted the pandemic.   </a:t>
            </a:r>
          </a:p>
          <a:p>
            <a:endParaRPr lang="en-US" dirty="0"/>
          </a:p>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17</a:t>
            </a:fld>
            <a:endParaRPr lang="en-US"/>
          </a:p>
        </p:txBody>
      </p:sp>
    </p:spTree>
    <p:extLst>
      <p:ext uri="{BB962C8B-B14F-4D97-AF65-F5344CB8AC3E}">
        <p14:creationId xmlns:p14="http://schemas.microsoft.com/office/powerpoint/2010/main" val="351343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So, we learned</a:t>
            </a:r>
          </a:p>
          <a:p>
            <a:endParaRPr lang="en-US" dirty="0"/>
          </a:p>
          <a:p>
            <a:r>
              <a:rPr lang="en-US" dirty="0"/>
              <a:t>To Develop Your Plan or a road map (But Don’t Carve it in Stone – be ok with changing your course –it’s a journey of continuous improvements for the organization, each staff and each client)</a:t>
            </a:r>
          </a:p>
          <a:p>
            <a:r>
              <a:rPr lang="en-US" sz="1200" dirty="0"/>
              <a:t>Prepare a clear vision statement: why are we doing this?  Communicate and </a:t>
            </a:r>
            <a:r>
              <a:rPr lang="en-US" sz="1200" u="sng" dirty="0"/>
              <a:t>explain the </a:t>
            </a:r>
            <a:r>
              <a:rPr lang="en-US" sz="1200" b="1" u="sng" dirty="0"/>
              <a:t>Why</a:t>
            </a:r>
            <a:r>
              <a:rPr lang="en-US" sz="1200" dirty="0"/>
              <a:t>, not the </a:t>
            </a:r>
            <a:r>
              <a:rPr lang="en-US" sz="1200" b="1" dirty="0"/>
              <a:t>How. </a:t>
            </a:r>
            <a:r>
              <a:rPr lang="en-US" sz="1200" dirty="0"/>
              <a:t>Listen carefully to what people say and don’t say; how they react.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Empower your teams to create the </a:t>
            </a:r>
            <a:r>
              <a:rPr lang="en-US" sz="1200" b="1" dirty="0"/>
              <a:t>How. </a:t>
            </a:r>
            <a:r>
              <a:rPr lang="en-US" sz="1200" dirty="0"/>
              <a:t>They are your experts.</a:t>
            </a:r>
          </a:p>
          <a:p>
            <a:r>
              <a:rPr lang="en-US" sz="1200" dirty="0"/>
              <a:t>Identify your champions and your nay-sayers, include both in the planning</a:t>
            </a:r>
          </a:p>
          <a:p>
            <a:r>
              <a:rPr lang="en-US" sz="1200" dirty="0"/>
              <a:t>Over communicate, keep all channels open and listen! (We will touch on this more)</a:t>
            </a:r>
          </a:p>
        </p:txBody>
      </p:sp>
      <p:sp>
        <p:nvSpPr>
          <p:cNvPr id="4" name="Slide Number Placeholder 3"/>
          <p:cNvSpPr>
            <a:spLocks noGrp="1"/>
          </p:cNvSpPr>
          <p:nvPr>
            <p:ph type="sldNum" sz="quarter" idx="5"/>
          </p:nvPr>
        </p:nvSpPr>
        <p:spPr/>
        <p:txBody>
          <a:bodyPr/>
          <a:lstStyle/>
          <a:p>
            <a:fld id="{5DB2EAF6-865E-42D9-A00C-17E1B3243847}" type="slidenum">
              <a:rPr lang="en-US" smtClean="0"/>
              <a:t>18</a:t>
            </a:fld>
            <a:endParaRPr lang="en-US"/>
          </a:p>
        </p:txBody>
      </p:sp>
    </p:spTree>
    <p:extLst>
      <p:ext uri="{BB962C8B-B14F-4D97-AF65-F5344CB8AC3E}">
        <p14:creationId xmlns:p14="http://schemas.microsoft.com/office/powerpoint/2010/main" val="1113279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Another Element: Agency Culture Supports Inclusion.</a:t>
            </a:r>
          </a:p>
          <a:p>
            <a:endParaRPr lang="en-US" dirty="0"/>
          </a:p>
          <a:p>
            <a:r>
              <a:rPr lang="en-US" dirty="0"/>
              <a:t>We reminded staff that change was part of our DNA.  It’s always been part of who we are as an organization.  If it wasn’t we would still be serving individuals with POLIO and non-</a:t>
            </a:r>
            <a:r>
              <a:rPr lang="en-US" dirty="0" err="1"/>
              <a:t>exsistent</a:t>
            </a:r>
            <a:r>
              <a:rPr lang="en-US" dirty="0"/>
              <a:t>.  We focused on being proud of the work we are doing for the people we serve.</a:t>
            </a:r>
          </a:p>
          <a:p>
            <a:endParaRPr lang="en-US" dirty="0"/>
          </a:p>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19</a:t>
            </a:fld>
            <a:endParaRPr lang="en-US"/>
          </a:p>
        </p:txBody>
      </p:sp>
    </p:spTree>
    <p:extLst>
      <p:ext uri="{BB962C8B-B14F-4D97-AF65-F5344CB8AC3E}">
        <p14:creationId xmlns:p14="http://schemas.microsoft.com/office/powerpoint/2010/main" val="3029074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a:p>
            <a:r>
              <a:rPr lang="en-US" sz="1200" dirty="0"/>
              <a:t>Culture Before Strategy: Create a Culture Where </a:t>
            </a:r>
            <a:r>
              <a:rPr lang="en-US" sz="1200" u="sng" dirty="0"/>
              <a:t>Change is Normal </a:t>
            </a:r>
            <a:r>
              <a:rPr lang="en-US" sz="1200" dirty="0"/>
              <a:t>and Expected  (Culture became one of our 5 measurable benchmarks as an organization).</a:t>
            </a:r>
          </a:p>
          <a:p>
            <a:endParaRPr lang="en-US" sz="1200" dirty="0"/>
          </a:p>
          <a:p>
            <a:r>
              <a:rPr lang="en-US" sz="1200" dirty="0"/>
              <a:t>Who are your leaders and how do they react to change?</a:t>
            </a:r>
          </a:p>
          <a:p>
            <a:r>
              <a:rPr lang="en-US" sz="1200" dirty="0"/>
              <a:t>	* Is it Reactive change vs innovation driven change</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dirty="0"/>
              <a:t>Flip your organizational chart to support innovation</a:t>
            </a:r>
            <a:endParaRPr lang="en-US" sz="1200" dirty="0"/>
          </a:p>
          <a:p>
            <a:endParaRPr lang="en-US" sz="1200" dirty="0"/>
          </a:p>
          <a:p>
            <a:pPr marL="628650" lvl="1" indent="-171450">
              <a:buFont typeface="Arial" panose="020B0604020202020204" pitchFamily="34" charset="0"/>
              <a:buChar char="•"/>
            </a:pPr>
            <a:r>
              <a:rPr lang="en-US" sz="1200" dirty="0"/>
              <a:t>Who has the best ideas in your organization?  Are you asking, are you listening?</a:t>
            </a:r>
          </a:p>
          <a:p>
            <a:pPr marL="0" indent="0">
              <a:buFont typeface="Arial" panose="020B0604020202020204" pitchFamily="34" charset="0"/>
              <a:buNone/>
            </a:pPr>
            <a:endParaRPr lang="en-US" sz="1200" dirty="0"/>
          </a:p>
          <a:p>
            <a:r>
              <a:rPr lang="en-US" sz="1200" dirty="0"/>
              <a:t>Do people in your organization have permission to experiment, try new things and share with others?  We talk about Failing Forward at MRCI.</a:t>
            </a:r>
          </a:p>
          <a:p>
            <a:endParaRPr lang="en-US" sz="1200" dirty="0"/>
          </a:p>
          <a:p>
            <a:r>
              <a:rPr lang="en-US" sz="1200" dirty="0"/>
              <a:t>Celebrate new ideas and reward innovation!  (We do things such as inspire-a-thons)</a:t>
            </a:r>
          </a:p>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20</a:t>
            </a:fld>
            <a:endParaRPr lang="en-US"/>
          </a:p>
        </p:txBody>
      </p:sp>
    </p:spTree>
    <p:extLst>
      <p:ext uri="{BB962C8B-B14F-4D97-AF65-F5344CB8AC3E}">
        <p14:creationId xmlns:p14="http://schemas.microsoft.com/office/powerpoint/2010/main" val="24583814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Another Element: An Active, person-centered job placement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Solution: Challenge the barriers.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Have the right people in the right seats.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We re-wrote job descriptions (and evaluated compensation) as on example.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Believe it or not, this can be fun.</a:t>
            </a:r>
          </a:p>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21</a:t>
            </a:fld>
            <a:endParaRPr lang="en-US"/>
          </a:p>
        </p:txBody>
      </p:sp>
    </p:spTree>
    <p:extLst>
      <p:ext uri="{BB962C8B-B14F-4D97-AF65-F5344CB8AC3E}">
        <p14:creationId xmlns:p14="http://schemas.microsoft.com/office/powerpoint/2010/main" val="22103745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Staffing is important with the right people in right people in the right seats.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We acknowledged that every client was unique; however, we every client who found a job it was exciting for everyone.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It took courage to stay no to crews/enclaves contracts, but it was affirming to see employers come back to us asking for help once they realized we were serious in our intentions.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Believe it or not, this can be fun.</a:t>
            </a:r>
          </a:p>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22</a:t>
            </a:fld>
            <a:endParaRPr lang="en-US"/>
          </a:p>
        </p:txBody>
      </p:sp>
    </p:spTree>
    <p:extLst>
      <p:ext uri="{BB962C8B-B14F-4D97-AF65-F5344CB8AC3E}">
        <p14:creationId xmlns:p14="http://schemas.microsoft.com/office/powerpoint/2010/main" val="32754874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We were consistently facing an external message of “I thought MRCI was closed”, which impacted clients, families, case mangers the list goes on.  </a:t>
            </a:r>
          </a:p>
        </p:txBody>
      </p:sp>
      <p:sp>
        <p:nvSpPr>
          <p:cNvPr id="4" name="Slide Number Placeholder 3"/>
          <p:cNvSpPr>
            <a:spLocks noGrp="1"/>
          </p:cNvSpPr>
          <p:nvPr>
            <p:ph type="sldNum" sz="quarter" idx="5"/>
          </p:nvPr>
        </p:nvSpPr>
        <p:spPr/>
        <p:txBody>
          <a:bodyPr/>
          <a:lstStyle/>
          <a:p>
            <a:fld id="{5DB2EAF6-865E-42D9-A00C-17E1B3243847}" type="slidenum">
              <a:rPr lang="en-US" smtClean="0"/>
              <a:t>23</a:t>
            </a:fld>
            <a:endParaRPr lang="en-US"/>
          </a:p>
        </p:txBody>
      </p:sp>
    </p:spTree>
    <p:extLst>
      <p:ext uri="{BB962C8B-B14F-4D97-AF65-F5344CB8AC3E}">
        <p14:creationId xmlns:p14="http://schemas.microsoft.com/office/powerpoint/2010/main" val="1239078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dirty="0"/>
              <a:t>We learned Communication is not a once and done. </a:t>
            </a:r>
          </a:p>
          <a:p>
            <a:r>
              <a:rPr lang="en-US" sz="1200" dirty="0"/>
              <a:t>Who do we need to communicate with? Make a list and a communication plan.  </a:t>
            </a:r>
          </a:p>
          <a:p>
            <a:r>
              <a:rPr lang="en-US" sz="1200" dirty="0"/>
              <a:t>Listen to your feedback, read your cues and respond.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Our seven-time rule tells us to communication 7 times.  However, during this transition we expanded this to not now say 7 times time, but to also say in 7 ways.  So, diversify your communication techniques and make zero assumptions.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 were not perfect in our communications, we had numerous personal phone calls, meetings, emails, web, social media, newsletters, letters and we still have some segments are missing our messages.  We attempt to be transparent and as mentioned previous always explain the why.</a:t>
            </a:r>
          </a:p>
          <a:p>
            <a:endParaRPr lang="en-US" sz="1200" dirty="0"/>
          </a:p>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24</a:t>
            </a:fld>
            <a:endParaRPr lang="en-US"/>
          </a:p>
        </p:txBody>
      </p:sp>
    </p:spTree>
    <p:extLst>
      <p:ext uri="{BB962C8B-B14F-4D97-AF65-F5344CB8AC3E}">
        <p14:creationId xmlns:p14="http://schemas.microsoft.com/office/powerpoint/2010/main" val="2044121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As we looked to reallocation and restructure resources this element one seemed to make a lot of sense.  However, for us it was about Implementing, evaluate and refining.  If it was not working, going back to the drawing board and finding a solution:  In the easy approach it was about failing forward.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 didn’t give ourselves permission to do nothing or waiting for everything to be “perfect”,  but we had permission to learn from what we were doing as long as we were moving forward.</a:t>
            </a:r>
          </a:p>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25</a:t>
            </a:fld>
            <a:endParaRPr lang="en-US"/>
          </a:p>
        </p:txBody>
      </p:sp>
    </p:spTree>
    <p:extLst>
      <p:ext uri="{BB962C8B-B14F-4D97-AF65-F5344CB8AC3E}">
        <p14:creationId xmlns:p14="http://schemas.microsoft.com/office/powerpoint/2010/main" val="16337789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We have numerous mission moments of our clients, but for us we looking for the innovative inspirations from our staff.   Examples of our </a:t>
            </a:r>
            <a:r>
              <a:rPr lang="en-US" dirty="0">
                <a:solidFill>
                  <a:srgbClr val="FFFFFF"/>
                </a:solidFill>
                <a:effectLst/>
                <a:latin typeface="Arial" panose="020B0604020202020204" pitchFamily="34" charset="0"/>
              </a:rPr>
              <a:t>employees, at all levels providing meaningful ideas and energy to the mission.  We created gateways for these with culture champions (monthly small group discussions) to inspire culture conversations.  And friendly competitions, to inspire the creative and teamwork thinking around a problem with a inspire-a-thon competition.  </a:t>
            </a:r>
          </a:p>
          <a:p>
            <a:endParaRPr lang="en-US" dirty="0">
              <a:solidFill>
                <a:srgbClr val="FFFFFF"/>
              </a:solidFill>
              <a:effectLst/>
            </a:endParaRPr>
          </a:p>
          <a:p>
            <a:br>
              <a:rPr lang="en-US" b="0" i="0" dirty="0">
                <a:solidFill>
                  <a:srgbClr val="FFFFFF"/>
                </a:solidFill>
                <a:effectLst/>
                <a:latin typeface="Segoe UI" panose="020B0502040204020203" pitchFamily="34" charset="0"/>
              </a:rPr>
            </a:br>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26</a:t>
            </a:fld>
            <a:endParaRPr lang="en-US"/>
          </a:p>
        </p:txBody>
      </p:sp>
    </p:spTree>
    <p:extLst>
      <p:ext uri="{BB962C8B-B14F-4D97-AF65-F5344CB8AC3E}">
        <p14:creationId xmlns:p14="http://schemas.microsoft.com/office/powerpoint/2010/main" val="5040876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In Summary as you are implementing your plan, which will be different than MRCI’s plan, consider it a journey.</a:t>
            </a:r>
          </a:p>
          <a:p>
            <a:endParaRPr lang="en-US" dirty="0"/>
          </a:p>
          <a:p>
            <a:r>
              <a:rPr lang="en-US" sz="1200" dirty="0"/>
              <a:t>Hold true to your culture: everyone leads.</a:t>
            </a:r>
          </a:p>
          <a:p>
            <a:r>
              <a:rPr lang="en-US" sz="1200" dirty="0"/>
              <a:t>Be extremely agile and ready to re-group.</a:t>
            </a:r>
          </a:p>
          <a:p>
            <a:r>
              <a:rPr lang="en-US" sz="1200" dirty="0"/>
              <a:t>Celebrate success. </a:t>
            </a:r>
          </a:p>
          <a:p>
            <a:r>
              <a:rPr lang="en-US" sz="1200" dirty="0"/>
              <a:t>Enjoy the journey!</a:t>
            </a:r>
          </a:p>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27</a:t>
            </a:fld>
            <a:endParaRPr lang="en-US"/>
          </a:p>
        </p:txBody>
      </p:sp>
    </p:spTree>
    <p:extLst>
      <p:ext uri="{BB962C8B-B14F-4D97-AF65-F5344CB8AC3E}">
        <p14:creationId xmlns:p14="http://schemas.microsoft.com/office/powerpoint/2010/main" val="1155969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B2EAF6-865E-42D9-A00C-17E1B3243847}" type="slidenum">
              <a:rPr lang="en-US" smtClean="0"/>
              <a:t>28</a:t>
            </a:fld>
            <a:endParaRPr lang="en-US"/>
          </a:p>
        </p:txBody>
      </p:sp>
    </p:spTree>
    <p:extLst>
      <p:ext uri="{BB962C8B-B14F-4D97-AF65-F5344CB8AC3E}">
        <p14:creationId xmlns:p14="http://schemas.microsoft.com/office/powerpoint/2010/main" val="31290510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Brian </a:t>
            </a:r>
          </a:p>
        </p:txBody>
      </p:sp>
      <p:sp>
        <p:nvSpPr>
          <p:cNvPr id="4" name="Slide Number Placeholder 3"/>
          <p:cNvSpPr>
            <a:spLocks noGrp="1"/>
          </p:cNvSpPr>
          <p:nvPr>
            <p:ph type="sldNum" sz="quarter" idx="5"/>
          </p:nvPr>
        </p:nvSpPr>
        <p:spPr/>
        <p:txBody>
          <a:bodyPr/>
          <a:lstStyle/>
          <a:p>
            <a:fld id="{C81CCF30-75E7-4047-B971-189668F28995}" type="slidenum">
              <a:rPr lang="en-US" smtClean="0"/>
              <a:pPr/>
              <a:t>29</a:t>
            </a:fld>
            <a:endParaRPr lang="en-US"/>
          </a:p>
        </p:txBody>
      </p:sp>
    </p:spTree>
    <p:extLst>
      <p:ext uri="{BB962C8B-B14F-4D97-AF65-F5344CB8AC3E}">
        <p14:creationId xmlns:p14="http://schemas.microsoft.com/office/powerpoint/2010/main" val="1967009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cs typeface="Calibri"/>
              </a:rPr>
              <a:t>Brian </a:t>
            </a:r>
            <a:endParaRPr lang="en-US" dirty="0"/>
          </a:p>
        </p:txBody>
      </p:sp>
      <p:sp>
        <p:nvSpPr>
          <p:cNvPr id="4" name="Slide Number Placeholder 3"/>
          <p:cNvSpPr>
            <a:spLocks noGrp="1"/>
          </p:cNvSpPr>
          <p:nvPr>
            <p:ph type="sldNum" sz="quarter" idx="5"/>
          </p:nvPr>
        </p:nvSpPr>
        <p:spPr/>
        <p:txBody>
          <a:bodyPr/>
          <a:lstStyle/>
          <a:p>
            <a:fld id="{FF7C0A9C-8EB1-2944-91B3-96D63BF1E2CF}" type="slidenum">
              <a:rPr lang="en-US" smtClean="0"/>
              <a:t>30</a:t>
            </a:fld>
            <a:endParaRPr lang="en-US"/>
          </a:p>
        </p:txBody>
      </p:sp>
    </p:spTree>
    <p:extLst>
      <p:ext uri="{BB962C8B-B14F-4D97-AF65-F5344CB8AC3E}">
        <p14:creationId xmlns:p14="http://schemas.microsoft.com/office/powerpoint/2010/main" val="4276311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F8888-A42A-10AF-5398-635905D1C97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C18961D-A2C2-DDCC-74CA-D3CAD36DFCD7}"/>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FEEDCD8-3F7F-AD97-D191-1928504ABE1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77AC8CA-05B6-FD4D-7610-F16A54E7D35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EBA71C7-C877-E06E-610A-3769E267EF76}"/>
              </a:ext>
            </a:extLst>
          </p:cNvPr>
          <p:cNvSpPr>
            <a:spLocks noGrp="1"/>
          </p:cNvSpPr>
          <p:nvPr>
            <p:ph type="sldNum" sz="quarter" idx="12"/>
          </p:nvPr>
        </p:nvSpPr>
        <p:spPr/>
        <p:txBody>
          <a:bodyPr/>
          <a:lstStyle/>
          <a:p>
            <a:fld id="{308C5664-C89A-1D4F-962E-558376A4545B}" type="slidenum">
              <a:rPr lang="en-US" smtClean="0"/>
              <a:pPr/>
              <a:t>‹#›</a:t>
            </a:fld>
            <a:endParaRPr lang="en-US"/>
          </a:p>
        </p:txBody>
      </p:sp>
    </p:spTree>
    <p:extLst>
      <p:ext uri="{BB962C8B-B14F-4D97-AF65-F5344CB8AC3E}">
        <p14:creationId xmlns:p14="http://schemas.microsoft.com/office/powerpoint/2010/main" val="108204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634DD-10BC-38F4-8272-3FC35BBAEA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2240C-C9FB-E8F1-4C85-E8CC6F2F76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72E73-60D6-72D6-926C-1581E4C0B09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C4B869F-0F0D-7F20-05CB-79A175F1C199}"/>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E101D62-5252-1997-206D-63B65D8802B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478108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DCAE-2C10-C764-A2FF-139DE9C015D4}"/>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CF6B4767-9110-D4C7-F44E-7D8AC5705E1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50A545-DB71-9B62-665C-94A39AC3D92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11326A4A-A690-490D-4395-82F32062486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DB9D8B7-1823-A716-0E05-C1EF47662B8C}"/>
              </a:ext>
            </a:extLst>
          </p:cNvPr>
          <p:cNvSpPr>
            <a:spLocks noGrp="1"/>
          </p:cNvSpPr>
          <p:nvPr>
            <p:ph type="sldNum" sz="quarter" idx="12"/>
          </p:nvPr>
        </p:nvSpPr>
        <p:spPr/>
        <p:txBody>
          <a:bodyPr/>
          <a:lstStyle/>
          <a:p>
            <a:fld id="{6C260E92-1CB0-4649-B042-6EA86B54D02A}" type="slidenum">
              <a:rPr lang="en-US" smtClean="0"/>
              <a:pPr/>
              <a:t>‹#›</a:t>
            </a:fld>
            <a:endParaRPr lang="en-US"/>
          </a:p>
        </p:txBody>
      </p:sp>
    </p:spTree>
    <p:extLst>
      <p:ext uri="{BB962C8B-B14F-4D97-AF65-F5344CB8AC3E}">
        <p14:creationId xmlns:p14="http://schemas.microsoft.com/office/powerpoint/2010/main" val="2797058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840D7-55B2-FDCB-FBE7-62BFC4955A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2B2411-F0B0-AEB5-E46F-C0E5171564F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8D1A1A-FEDA-6627-9ACF-1E19C8B4A1A4}"/>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1ABAD8-90E2-9197-7FAB-69419D304BE6}"/>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C5EBFC9-7633-C722-66B2-C4EE551260A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E44148E-5612-A6FC-859C-D7C1D857DD83}"/>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164439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1A40E-25F7-862F-D5B8-4E71AB53B270}"/>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E8D0E1-F09A-9D26-56B9-9E2E6A84CF21}"/>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CCCDE3D-9D12-7568-B902-18B92C0DE1D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2A8000-3D3A-F58C-938D-A7BA82A4EDE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B3DB15B-B9FA-FF88-E0CC-A19340F3613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A4E6CD-D6C5-C300-3126-614AE2DA8004}"/>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B45815D4-C8BD-8909-54DC-FC15FAA59FBE}"/>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4E2E3438-7B52-815A-D9A8-A4C581E33B3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224976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EC046-E063-E4A4-10E5-B11A13B0F6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F68D09-6F80-C61D-F19C-66FF96B1D95E}"/>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55B96ED8-0CA8-DC31-0996-C3A35471698A}"/>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1AFB8B04-1A4A-FEC1-9149-57DEBD6AD6D3}"/>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2498657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F8AA6B-5E71-4F69-D470-54A7582D3D56}"/>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468A06A1-E037-6942-FBCA-305021387BA4}"/>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AE5DA8CD-F7B5-622A-ADDC-B9728985527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504886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ADC6B-CB65-3A94-C287-7FC8C469A83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81EA2C9-E001-2557-15D5-3B08DF66D278}"/>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4DB92C-730D-F75C-6A01-F5E7E044B83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AB2374F-7B41-5010-70A8-CBED33A1D243}"/>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A1CE970A-0BD8-E22A-FC9A-C64E442DCE06}"/>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36EDB4EB-7833-B006-3807-CE22EF619CDC}"/>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534413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D11C2-3544-33E8-8BF0-E1567E75B6B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F8221DD-9CAE-F4AF-34C7-93DEDD415F8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EA3521D-6885-E11F-E8EF-D48B3A10C41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724328-5BE0-5C9C-7948-E814CD21B524}"/>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F8DD2C42-3964-D4C1-19CD-6C1FDDD8914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CACE3B32-A011-00EA-CFDF-E24D17B69D00}"/>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869115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AF418-488C-E058-1858-48C243BE87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FE500F-0146-CF9F-4DF4-4928610C5D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19372B-DF23-50DB-5593-47453A6FF219}"/>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04C41AB-48D8-9785-39CC-44037C9DFCE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84B8F29-83D6-6A5E-1D50-0775B0EABAFE}"/>
              </a:ext>
            </a:extLst>
          </p:cNvPr>
          <p:cNvSpPr>
            <a:spLocks noGrp="1"/>
          </p:cNvSpPr>
          <p:nvPr>
            <p:ph type="sldNum" sz="quarter" idx="12"/>
          </p:nvPr>
        </p:nvSpPr>
        <p:spPr/>
        <p:txBody>
          <a:bodyPr/>
          <a:lstStyle/>
          <a:p>
            <a:fld id="{5CA3EE8A-D467-1E43-9BF1-BA74D447CC7B}" type="slidenum">
              <a:rPr lang="en-US" smtClean="0"/>
              <a:pPr/>
              <a:t>‹#›</a:t>
            </a:fld>
            <a:endParaRPr lang="en-US"/>
          </a:p>
        </p:txBody>
      </p:sp>
    </p:spTree>
    <p:extLst>
      <p:ext uri="{BB962C8B-B14F-4D97-AF65-F5344CB8AC3E}">
        <p14:creationId xmlns:p14="http://schemas.microsoft.com/office/powerpoint/2010/main" val="1335623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CAFF7F-E323-7090-3747-B260810139D1}"/>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351B57-F253-ED6F-141E-2490BE35E4E1}"/>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4807A9-369A-BFCE-2B8D-B9744472BB4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B1481EB-7D30-5E58-17AB-F925619D0740}"/>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4C2E476-7CF3-A498-6D73-2C6AF40AF33C}"/>
              </a:ext>
            </a:extLst>
          </p:cNvPr>
          <p:cNvSpPr>
            <a:spLocks noGrp="1"/>
          </p:cNvSpPr>
          <p:nvPr>
            <p:ph type="sldNum" sz="quarter" idx="12"/>
          </p:nvPr>
        </p:nvSpPr>
        <p:spPr/>
        <p:txBody>
          <a:bodyPr/>
          <a:lstStyle/>
          <a:p>
            <a:fld id="{8C454890-8C81-D642-A868-18D33ADD9ED7}" type="slidenum">
              <a:rPr lang="en-US" smtClean="0"/>
              <a:pPr/>
              <a:t>‹#›</a:t>
            </a:fld>
            <a:endParaRPr lang="en-US"/>
          </a:p>
        </p:txBody>
      </p:sp>
    </p:spTree>
    <p:extLst>
      <p:ext uri="{BB962C8B-B14F-4D97-AF65-F5344CB8AC3E}">
        <p14:creationId xmlns:p14="http://schemas.microsoft.com/office/powerpoint/2010/main" val="3775981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2/16/2023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659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1604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3499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24693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Title Slide with Small Image">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837F9836-5B23-424D-8C60-AC02A8512A4B}"/>
              </a:ext>
            </a:extLst>
          </p:cNvPr>
          <p:cNvSpPr>
            <a:spLocks noGrp="1"/>
          </p:cNvSpPr>
          <p:nvPr>
            <p:ph type="pic" sz="quarter" idx="13" hasCustomPrompt="1"/>
          </p:nvPr>
        </p:nvSpPr>
        <p:spPr>
          <a:xfrm>
            <a:off x="7485357" y="0"/>
            <a:ext cx="1658643" cy="6858000"/>
          </a:xfrm>
          <a:solidFill>
            <a:schemeClr val="bg1">
              <a:lumMod val="95000"/>
            </a:schemeClr>
          </a:solidFill>
        </p:spPr>
        <p:txBody>
          <a:bodyPr anchor="ctr"/>
          <a:lstStyle>
            <a:lvl1pPr marL="0" indent="0" algn="ctr">
              <a:buNone/>
              <a:defRPr sz="9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15242" y="4346296"/>
            <a:ext cx="5098688" cy="1674470"/>
          </a:xfrm>
        </p:spPr>
        <p:txBody>
          <a:bodyPr anchor="b"/>
          <a:lstStyle>
            <a:lvl1pPr algn="r">
              <a:lnSpc>
                <a:spcPts val="3750"/>
              </a:lnSpc>
              <a:defRPr sz="4500" b="1" cap="all" spc="-225" baseline="0">
                <a:solidFill>
                  <a:schemeClr val="tx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5483928" y="4650539"/>
            <a:ext cx="2551109" cy="1192038"/>
          </a:xfrm>
          <a:solidFill>
            <a:schemeClr val="tx1"/>
          </a:solidFill>
        </p:spPr>
        <p:txBody>
          <a:bodyPr lIns="252000" tIns="0" anchor="ctr"/>
          <a:lstStyle>
            <a:lvl1pPr marL="0" indent="0" algn="l">
              <a:lnSpc>
                <a:spcPct val="100000"/>
              </a:lnSpc>
              <a:buNone/>
              <a:defRPr sz="1350" i="1">
                <a:solidFill>
                  <a:schemeClr val="bg1"/>
                </a:solidFill>
                <a:latin typeface="Times New Roman" panose="02020603050405020304" pitchFamily="18" charset="0"/>
                <a:cs typeface="Times New Roman" panose="02020603050405020304" pitchFamily="18"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10"/>
            <a:ext cx="7485357"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1"/>
            <a:ext cx="7485357"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87100" y="3418945"/>
            <a:ext cx="6826157" cy="519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Tree>
    <p:extLst>
      <p:ext uri="{BB962C8B-B14F-4D97-AF65-F5344CB8AC3E}">
        <p14:creationId xmlns:p14="http://schemas.microsoft.com/office/powerpoint/2010/main" val="11899030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86271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21E06B-7F53-4134-BC3A-350276AAA450}"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3353194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68"/>
            <a:ext cx="6447501"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21E06B-7F53-4134-BC3A-350276AAA450}"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10538174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2160589"/>
            <a:ext cx="3138026"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21E06B-7F53-4134-BC3A-350276AAA450}" type="datetimeFigureOut">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2273021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2160983"/>
            <a:ext cx="3139217"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737246"/>
            <a:ext cx="31392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2160983"/>
            <a:ext cx="3139214"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737246"/>
            <a:ext cx="313921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21E06B-7F53-4134-BC3A-350276AAA450}" type="datetimeFigureOut">
              <a:rPr lang="en-US" smtClean="0"/>
              <a:t>2/16/2023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1668689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21E06B-7F53-4134-BC3A-350276AAA450}" type="datetimeFigureOut">
              <a:rPr lang="en-US" smtClean="0"/>
              <a:t>2/16/2023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40827695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21E06B-7F53-4134-BC3A-350276AAA450}" type="datetimeFigureOut">
              <a:rPr lang="en-US" smtClean="0"/>
              <a:t>2/16/2023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24062486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514925"/>
            <a:ext cx="338515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E21E06B-7F53-4134-BC3A-350276AAA450}" type="datetimeFigureOut">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31853091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800600"/>
            <a:ext cx="644750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5367338"/>
            <a:ext cx="6447500"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AE21E06B-7F53-4134-BC3A-350276AAA450}" type="datetimeFigureOut">
              <a:rPr lang="en-US" smtClean="0"/>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10957544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21E06B-7F53-4134-BC3A-350276AAA450}"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25541141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21E06B-7F53-4134-BC3A-350276AAA450}"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1E814-A004-49D7-BF33-EA53EAF5A725}" type="slidenum">
              <a:rPr lang="en-US" smtClean="0"/>
              <a:t>‹#›</a:t>
            </a:fld>
            <a:endParaRPr lang="en-US"/>
          </a:p>
        </p:txBody>
      </p:sp>
      <p:sp>
        <p:nvSpPr>
          <p:cNvPr id="20" name="TextBox 19"/>
          <p:cNvSpPr txBox="1"/>
          <p:nvPr/>
        </p:nvSpPr>
        <p:spPr>
          <a:xfrm>
            <a:off x="406403" y="790378"/>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886556"/>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11404880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21E06B-7F53-4134-BC3A-350276AAA450}"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840611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609600"/>
            <a:ext cx="6070601"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21E06B-7F53-4134-BC3A-350276AAA450}"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1E814-A004-49D7-BF33-EA53EAF5A725}" type="slidenum">
              <a:rPr lang="en-US" smtClean="0"/>
              <a:t>‹#›</a:t>
            </a:fld>
            <a:endParaRPr lang="en-US"/>
          </a:p>
        </p:txBody>
      </p:sp>
      <p:sp>
        <p:nvSpPr>
          <p:cNvPr id="24" name="TextBox 23"/>
          <p:cNvSpPr txBox="1"/>
          <p:nvPr/>
        </p:nvSpPr>
        <p:spPr>
          <a:xfrm>
            <a:off x="406403" y="790378"/>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886556"/>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648698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6441152"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21E06B-7F53-4134-BC3A-350276AAA450}"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26255393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21E06B-7F53-4134-BC3A-350276AAA450}"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33627500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609600"/>
            <a:ext cx="978557"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609600"/>
            <a:ext cx="5295113"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21E06B-7F53-4134-BC3A-350276AAA450}"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28427515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21E06B-7F53-4134-BC3A-350276AAA450}" type="datetimeFigureOut">
              <a:rPr lang="en-US" smtClean="0"/>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71E814-A004-49D7-BF33-EA53EAF5A725}" type="slidenum">
              <a:rPr lang="en-US" smtClean="0"/>
              <a:t>‹#›</a:t>
            </a:fld>
            <a:endParaRPr lang="en-US"/>
          </a:p>
        </p:txBody>
      </p:sp>
    </p:spTree>
    <p:extLst>
      <p:ext uri="{BB962C8B-B14F-4D97-AF65-F5344CB8AC3E}">
        <p14:creationId xmlns:p14="http://schemas.microsoft.com/office/powerpoint/2010/main" val="9157527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CE95-7CA9-3500-2974-644C8D41DC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19DAE-8A07-5795-3535-91B19D3E5B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1D0C3-A51A-D994-3A25-1D16C8B9EFE6}"/>
              </a:ext>
            </a:extLst>
          </p:cNvPr>
          <p:cNvSpPr>
            <a:spLocks noGrp="1"/>
          </p:cNvSpPr>
          <p:nvPr>
            <p:ph type="dt" sz="half" idx="10"/>
          </p:nvPr>
        </p:nvSpPr>
        <p:spPr/>
        <p:txBody>
          <a:bodyPr/>
          <a:lstStyle/>
          <a:p>
            <a:fld id="{776DC261-C390-1645-94CE-0C58977D651F}" type="datetimeFigureOut">
              <a:rPr lang="en-US" smtClean="0"/>
              <a:t>2/16/2023</a:t>
            </a:fld>
            <a:endParaRPr lang="en-US"/>
          </a:p>
        </p:txBody>
      </p:sp>
      <p:sp>
        <p:nvSpPr>
          <p:cNvPr id="5" name="Footer Placeholder 4">
            <a:extLst>
              <a:ext uri="{FF2B5EF4-FFF2-40B4-BE49-F238E27FC236}">
                <a16:creationId xmlns:a16="http://schemas.microsoft.com/office/drawing/2014/main" id="{9600C2EE-6AEC-B06E-3BFA-42F2578EF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5E7B5-721A-4315-3C8B-50641A76109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095265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3.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59D20E-7A7F-54FD-AD17-38C4874E9D15}"/>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AFD75F-7CB4-1010-FA5F-82A29DA451C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F7EBF7-BCE2-6349-3CF1-EE42512A101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040AFBE2-3D8D-5FF0-A4CE-66D4CACEC45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345B8627-7E0E-530C-FB87-7A70CDC3331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15FAA45-AC5B-014B-9F74-53D558B73BE0}" type="slidenum">
              <a:rPr lang="en-US" smtClean="0"/>
              <a:pPr/>
              <a:t>‹#›</a:t>
            </a:fld>
            <a:endParaRPr lang="en-US"/>
          </a:p>
        </p:txBody>
      </p:sp>
    </p:spTree>
    <p:extLst>
      <p:ext uri="{BB962C8B-B14F-4D97-AF65-F5344CB8AC3E}">
        <p14:creationId xmlns:p14="http://schemas.microsoft.com/office/powerpoint/2010/main" val="2694770734"/>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61BEF0D-F0BB-DE4B-95CE-6DB70DBA9567}" type="datetimeFigureOut">
              <a:rPr lang="en-US" smtClean="0"/>
              <a:pPr/>
              <a:t>2/16/2023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197686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3" r:id="rId3"/>
    <p:sldLayoutId id="2147483682" r:id="rId4"/>
    <p:sldLayoutId id="2147483693" r:id="rId5"/>
    <p:sldLayoutId id="2147483841" r:id="rId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6041363"/>
            <a:ext cx="683954"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AE21E06B-7F53-4134-BC3A-350276AAA450}" type="datetimeFigureOut">
              <a:rPr lang="en-US" smtClean="0"/>
              <a:t>2/16/2023</a:t>
            </a:fld>
            <a:endParaRPr lang="en-US"/>
          </a:p>
        </p:txBody>
      </p:sp>
      <p:sp>
        <p:nvSpPr>
          <p:cNvPr id="5" name="Footer Placeholder 4"/>
          <p:cNvSpPr>
            <a:spLocks noGrp="1"/>
          </p:cNvSpPr>
          <p:nvPr>
            <p:ph type="ftr" sz="quarter" idx="3"/>
          </p:nvPr>
        </p:nvSpPr>
        <p:spPr>
          <a:xfrm>
            <a:off x="508001" y="6041363"/>
            <a:ext cx="4723209"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2998" y="6041363"/>
            <a:ext cx="512504" cy="365125"/>
          </a:xfrm>
          <a:prstGeom prst="rect">
            <a:avLst/>
          </a:prstGeom>
        </p:spPr>
        <p:txBody>
          <a:bodyPr vert="horz" lIns="91440" tIns="45720" rIns="91440" bIns="45720" rtlCol="0" anchor="ctr"/>
          <a:lstStyle>
            <a:lvl1pPr algn="r">
              <a:defRPr sz="675">
                <a:solidFill>
                  <a:schemeClr val="accent1"/>
                </a:solidFill>
              </a:defRPr>
            </a:lvl1pPr>
          </a:lstStyle>
          <a:p>
            <a:fld id="{8D71E814-A004-49D7-BF33-EA53EAF5A725}" type="slidenum">
              <a:rPr lang="en-US" smtClean="0"/>
              <a:t>‹#›</a:t>
            </a:fld>
            <a:endParaRPr lang="en-US"/>
          </a:p>
        </p:txBody>
      </p:sp>
    </p:spTree>
    <p:extLst>
      <p:ext uri="{BB962C8B-B14F-4D97-AF65-F5344CB8AC3E}">
        <p14:creationId xmlns:p14="http://schemas.microsoft.com/office/powerpoint/2010/main" val="234909822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61"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994799-D5B1-D8FB-28E8-48D9F9D5362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900CFC-F2D2-0432-F27E-A2B69885D08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F17AC-A749-3273-CAB4-032BA0255BE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76DC261-C390-1645-94CE-0C58977D651F}" type="datetimeFigureOut">
              <a:rPr lang="en-US" smtClean="0"/>
              <a:t>2/16/2023</a:t>
            </a:fld>
            <a:endParaRPr lang="en-US"/>
          </a:p>
        </p:txBody>
      </p:sp>
      <p:sp>
        <p:nvSpPr>
          <p:cNvPr id="5" name="Footer Placeholder 4">
            <a:extLst>
              <a:ext uri="{FF2B5EF4-FFF2-40B4-BE49-F238E27FC236}">
                <a16:creationId xmlns:a16="http://schemas.microsoft.com/office/drawing/2014/main" id="{E556420E-F277-CA8F-2306-963C8327A28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5201BE-2B4C-FA6B-4BCB-88404CAB8F6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347CC22-2B9F-664B-9972-D3B52C865247}" type="slidenum">
              <a:rPr lang="en-US" smtClean="0"/>
              <a:t>‹#›</a:t>
            </a:fld>
            <a:endParaRPr lang="en-US"/>
          </a:p>
        </p:txBody>
      </p:sp>
    </p:spTree>
    <p:extLst>
      <p:ext uri="{BB962C8B-B14F-4D97-AF65-F5344CB8AC3E}">
        <p14:creationId xmlns:p14="http://schemas.microsoft.com/office/powerpoint/2010/main" val="2956242486"/>
      </p:ext>
    </p:extLst>
  </p:cSld>
  <p:clrMap bg1="lt1" tx1="dk1" bg2="lt2" tx2="dk2" accent1="accent1" accent2="accent2" accent3="accent3" accent4="accent4" accent5="accent5" accent6="accent6" hlink="hlink" folHlink="folHlink"/>
  <p:sldLayoutIdLst>
    <p:sldLayoutId id="2147483650"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hyperlink" Target="https://mti.ici.umn.edu/"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1.png"/><Relationship Id="rId4" Type="http://schemas.openxmlformats.org/officeDocument/2006/relationships/hyperlink" Target="https://www.maxpixel.net/Fresh-Ripples-Drop-Of-Water-Splash-Water-Liquid-578897"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www.thinkwork.or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hyperlink" Target="https://www.publicdomainpictures.net/view-image.php?image=23464&amp;picture=water-drop"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simonsinek.com/books/find-your-why/" TargetMode="Externa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8.xml"/><Relationship Id="rId5" Type="http://schemas.openxmlformats.org/officeDocument/2006/relationships/image" Target="../media/image1.png"/><Relationship Id="rId4" Type="http://schemas.openxmlformats.org/officeDocument/2006/relationships/image" Target="../media/image14.svg"/></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1.png"/><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8.xml"/><Relationship Id="rId5" Type="http://schemas.openxmlformats.org/officeDocument/2006/relationships/image" Target="../media/image1.png"/><Relationship Id="rId4" Type="http://schemas.openxmlformats.org/officeDocument/2006/relationships/image" Target="../media/image19.svg"/></Relationships>
</file>

<file path=ppt/slides/_rels/slide2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2.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34.xml"/><Relationship Id="rId4" Type="http://schemas.openxmlformats.org/officeDocument/2006/relationships/hyperlink" Target="https://mti.ici.umn.edu/"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www.thinkwork.org/essential-elements-organizational-transformation-findings" TargetMode="External"/><Relationship Id="rId2" Type="http://schemas.openxmlformats.org/officeDocument/2006/relationships/hyperlink" Target="https://act.thinkwork.org/index.html"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www.selnhub.org/guidanceforconversations" TargetMode="External"/><Relationship Id="rId4" Type="http://schemas.openxmlformats.org/officeDocument/2006/relationships/hyperlink" Target="http://www.thinkwork.org/bringing-employment-first-scale-organizational-transformation-guiding-principles-community-provide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32" name="Rectangle 3131">
            <a:extLst>
              <a:ext uri="{FF2B5EF4-FFF2-40B4-BE49-F238E27FC236}">
                <a16:creationId xmlns:a16="http://schemas.microsoft.com/office/drawing/2014/main" id="{17BDD930-0E65-490A-9CE5-554C357C4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4" name="Rectangle 3133">
            <a:extLst>
              <a:ext uri="{FF2B5EF4-FFF2-40B4-BE49-F238E27FC236}">
                <a16:creationId xmlns:a16="http://schemas.microsoft.com/office/drawing/2014/main" id="{3A912C67-99A1-4956-8F68-1846C2177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4" name="Title 5"/>
          <p:cNvSpPr>
            <a:spLocks noGrp="1"/>
          </p:cNvSpPr>
          <p:nvPr>
            <p:ph type="title"/>
          </p:nvPr>
        </p:nvSpPr>
        <p:spPr>
          <a:xfrm>
            <a:off x="604611" y="244006"/>
            <a:ext cx="7934548" cy="1299411"/>
          </a:xfrm>
        </p:spPr>
        <p:txBody>
          <a:bodyPr vert="horz" lIns="91440" tIns="45720" rIns="91440" bIns="45720" rtlCol="0" anchor="ctr">
            <a:normAutofit/>
          </a:bodyPr>
          <a:lstStyle/>
          <a:p>
            <a:pPr algn="ctr" defTabSz="914400">
              <a:spcAft>
                <a:spcPts val="2400"/>
              </a:spcAft>
            </a:pPr>
            <a:r>
              <a:rPr lang="en-US" sz="3600" b="1" i="1" dirty="0">
                <a:latin typeface="+mn-lt"/>
                <a:ea typeface="+mn-ea"/>
                <a:cs typeface="+mn-cs"/>
              </a:rPr>
              <a:t>Managing Through Change</a:t>
            </a:r>
          </a:p>
        </p:txBody>
      </p:sp>
      <p:sp>
        <p:nvSpPr>
          <p:cNvPr id="4" name="TextBox 3"/>
          <p:cNvSpPr txBox="1"/>
          <p:nvPr/>
        </p:nvSpPr>
        <p:spPr>
          <a:xfrm>
            <a:off x="2287727" y="3554472"/>
            <a:ext cx="4887626" cy="322762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2400" dirty="0">
              <a:solidFill>
                <a:schemeClr val="tx2"/>
              </a:solidFill>
            </a:endParaRPr>
          </a:p>
          <a:p>
            <a:pPr algn="ctr">
              <a:lnSpc>
                <a:spcPct val="90000"/>
              </a:lnSpc>
              <a:spcAft>
                <a:spcPts val="600"/>
              </a:spcAft>
            </a:pPr>
            <a:r>
              <a:rPr lang="en-US" sz="2400" b="1" dirty="0"/>
              <a:t>Quarterly Provider Training Series</a:t>
            </a:r>
          </a:p>
          <a:p>
            <a:pPr algn="ctr">
              <a:lnSpc>
                <a:spcPct val="90000"/>
              </a:lnSpc>
              <a:spcAft>
                <a:spcPts val="600"/>
              </a:spcAft>
            </a:pPr>
            <a:r>
              <a:rPr lang="en-US" sz="2400" dirty="0"/>
              <a:t>February 16, 2023</a:t>
            </a:r>
          </a:p>
        </p:txBody>
      </p:sp>
      <p:grpSp>
        <p:nvGrpSpPr>
          <p:cNvPr id="3136" name="Group 3135">
            <a:extLst>
              <a:ext uri="{FF2B5EF4-FFF2-40B4-BE49-F238E27FC236}">
                <a16:creationId xmlns:a16="http://schemas.microsoft.com/office/drawing/2014/main" id="{569E5994-073E-4708-B3E6-43BFED0CEB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669019" y="4465804"/>
            <a:ext cx="3061444" cy="1722949"/>
            <a:chOff x="-305" y="-1"/>
            <a:chExt cx="3832880" cy="2876136"/>
          </a:xfrm>
        </p:grpSpPr>
        <p:sp>
          <p:nvSpPr>
            <p:cNvPr id="3137" name="Freeform: Shape 3136">
              <a:extLst>
                <a:ext uri="{FF2B5EF4-FFF2-40B4-BE49-F238E27FC236}">
                  <a16:creationId xmlns:a16="http://schemas.microsoft.com/office/drawing/2014/main" id="{532F818D-9087-4691-AABA-465619A0C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8" name="Freeform: Shape 3137">
              <a:extLst>
                <a:ext uri="{FF2B5EF4-FFF2-40B4-BE49-F238E27FC236}">
                  <a16:creationId xmlns:a16="http://schemas.microsoft.com/office/drawing/2014/main" id="{68B7668A-5C96-4FB9-BFA9-38094EB87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9" name="Freeform: Shape 3138">
              <a:extLst>
                <a:ext uri="{FF2B5EF4-FFF2-40B4-BE49-F238E27FC236}">
                  <a16:creationId xmlns:a16="http://schemas.microsoft.com/office/drawing/2014/main" id="{BF4F95BD-8661-4C45-94E3-CF3159BF4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0" name="Freeform: Shape 3139">
              <a:extLst>
                <a:ext uri="{FF2B5EF4-FFF2-40B4-BE49-F238E27FC236}">
                  <a16:creationId xmlns:a16="http://schemas.microsoft.com/office/drawing/2014/main" id="{E85BBF8A-E2FB-47F6-A60F-4FB855D50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42" name="Group 3141">
            <a:extLst>
              <a:ext uri="{FF2B5EF4-FFF2-40B4-BE49-F238E27FC236}">
                <a16:creationId xmlns:a16="http://schemas.microsoft.com/office/drawing/2014/main" id="{DD81D498-EAA8-40F3-8230-AE4DEDA383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679642" y="0"/>
            <a:ext cx="2461685" cy="2837712"/>
            <a:chOff x="-305" y="-4155"/>
            <a:chExt cx="2514948" cy="2174333"/>
          </a:xfrm>
        </p:grpSpPr>
        <p:sp>
          <p:nvSpPr>
            <p:cNvPr id="3143" name="Freeform: Shape 3142">
              <a:extLst>
                <a:ext uri="{FF2B5EF4-FFF2-40B4-BE49-F238E27FC236}">
                  <a16:creationId xmlns:a16="http://schemas.microsoft.com/office/drawing/2014/main" id="{262F2402-5879-41A3-ACEC-6D2811BA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4" name="Freeform: Shape 3143">
              <a:extLst>
                <a:ext uri="{FF2B5EF4-FFF2-40B4-BE49-F238E27FC236}">
                  <a16:creationId xmlns:a16="http://schemas.microsoft.com/office/drawing/2014/main" id="{BBD41895-A230-4959-97BA-80F516383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5" name="Freeform: Shape 3144">
              <a:extLst>
                <a:ext uri="{FF2B5EF4-FFF2-40B4-BE49-F238E27FC236}">
                  <a16:creationId xmlns:a16="http://schemas.microsoft.com/office/drawing/2014/main" id="{E670BD54-10A6-4092-9E32-647B2F870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146" name="Freeform: Shape 3145">
              <a:extLst>
                <a:ext uri="{FF2B5EF4-FFF2-40B4-BE49-F238E27FC236}">
                  <a16:creationId xmlns:a16="http://schemas.microsoft.com/office/drawing/2014/main" id="{1C2B9A82-4826-4BF4-A16E-0B005FE76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9"/>
          <p:cNvSpPr txBox="1">
            <a:spLocks noChangeArrowheads="1"/>
          </p:cNvSpPr>
          <p:nvPr/>
        </p:nvSpPr>
        <p:spPr>
          <a:xfrm>
            <a:off x="4495683" y="3309186"/>
            <a:ext cx="3886200" cy="762000"/>
          </a:xfrm>
          <a:prstGeom prst="rect">
            <a:avLst/>
          </a:prstGeom>
        </p:spPr>
        <p:txBody>
          <a:bodyPr/>
          <a:lstStyle/>
          <a:p>
            <a:pPr eaLnBrk="1" fontAlgn="auto" hangingPunct="1">
              <a:spcBef>
                <a:spcPts val="0"/>
              </a:spcBef>
              <a:spcAft>
                <a:spcPts val="0"/>
              </a:spcAft>
              <a:buFont typeface="Monotype Sorts" pitchFamily="-105" charset="2"/>
              <a:buNone/>
              <a:defRPr/>
            </a:pPr>
            <a:endParaRPr lang="en-US" sz="2400">
              <a:latin typeface="Times"/>
              <a:ea typeface="+mn-ea"/>
              <a:cs typeface="Times"/>
            </a:endParaRPr>
          </a:p>
        </p:txBody>
      </p:sp>
      <p:pic>
        <p:nvPicPr>
          <p:cNvPr id="16" name="Picture 15" descr="Logo&#10;&#10;Description automatically generated with medium confidence">
            <a:extLst>
              <a:ext uri="{FF2B5EF4-FFF2-40B4-BE49-F238E27FC236}">
                <a16:creationId xmlns:a16="http://schemas.microsoft.com/office/drawing/2014/main" id="{2C766A1B-6DDE-3D65-0281-25959F0E951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06447" y="1689715"/>
            <a:ext cx="5458487" cy="2703415"/>
          </a:xfrm>
          <a:prstGeom prst="rect">
            <a:avLst/>
          </a:prstGeom>
        </p:spPr>
      </p:pic>
    </p:spTree>
    <p:extLst>
      <p:ext uri="{BB962C8B-B14F-4D97-AF65-F5344CB8AC3E}">
        <p14:creationId xmlns:p14="http://schemas.microsoft.com/office/powerpoint/2010/main" val="1149286859"/>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10" name="Google Shape;110;g13aeb6740f1_0_7"/>
          <p:cNvPicPr preferRelativeResize="0"/>
          <p:nvPr/>
        </p:nvPicPr>
        <p:blipFill rotWithShape="1">
          <a:blip r:embed="rId3">
            <a:alphaModFix/>
          </a:blip>
          <a:srcRect/>
          <a:stretch/>
        </p:blipFill>
        <p:spPr>
          <a:xfrm>
            <a:off x="3863655" y="651836"/>
            <a:ext cx="2084563" cy="1362000"/>
          </a:xfrm>
          <a:prstGeom prst="rect">
            <a:avLst/>
          </a:prstGeom>
          <a:noFill/>
          <a:ln>
            <a:noFill/>
          </a:ln>
        </p:spPr>
      </p:pic>
      <p:pic>
        <p:nvPicPr>
          <p:cNvPr id="111" name="Google Shape;111;g13aeb6740f1_0_7"/>
          <p:cNvPicPr preferRelativeResize="0"/>
          <p:nvPr/>
        </p:nvPicPr>
        <p:blipFill rotWithShape="1">
          <a:blip r:embed="rId4">
            <a:alphaModFix/>
          </a:blip>
          <a:srcRect/>
          <a:stretch/>
        </p:blipFill>
        <p:spPr>
          <a:xfrm>
            <a:off x="507667" y="1005540"/>
            <a:ext cx="1819897" cy="1809516"/>
          </a:xfrm>
          <a:prstGeom prst="rect">
            <a:avLst/>
          </a:prstGeom>
          <a:noFill/>
          <a:ln>
            <a:noFill/>
          </a:ln>
        </p:spPr>
      </p:pic>
      <p:pic>
        <p:nvPicPr>
          <p:cNvPr id="112" name="Google Shape;112;g13aeb6740f1_0_7"/>
          <p:cNvPicPr preferRelativeResize="0"/>
          <p:nvPr/>
        </p:nvPicPr>
        <p:blipFill rotWithShape="1">
          <a:blip r:embed="rId5">
            <a:alphaModFix/>
          </a:blip>
          <a:srcRect/>
          <a:stretch/>
        </p:blipFill>
        <p:spPr>
          <a:xfrm>
            <a:off x="4776881" y="4866641"/>
            <a:ext cx="3892962" cy="677504"/>
          </a:xfrm>
          <a:prstGeom prst="rect">
            <a:avLst/>
          </a:prstGeom>
          <a:noFill/>
          <a:ln>
            <a:noFill/>
          </a:ln>
        </p:spPr>
      </p:pic>
      <p:pic>
        <p:nvPicPr>
          <p:cNvPr id="3" name="Picture 2" descr="Logo, company name&#10;&#10;Description automatically generated">
            <a:extLst>
              <a:ext uri="{FF2B5EF4-FFF2-40B4-BE49-F238E27FC236}">
                <a16:creationId xmlns:a16="http://schemas.microsoft.com/office/drawing/2014/main" id="{8003BDFD-4826-C58E-9477-C97AE5045F0A}"/>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6816436" y="961649"/>
            <a:ext cx="1853407" cy="1853407"/>
          </a:xfrm>
          <a:prstGeom prst="rect">
            <a:avLst/>
          </a:prstGeom>
        </p:spPr>
      </p:pic>
      <p:pic>
        <p:nvPicPr>
          <p:cNvPr id="5" name="Picture 4" descr="A screenshot of a video game&#10;&#10;Description automatically generated with medium confidence">
            <a:extLst>
              <a:ext uri="{FF2B5EF4-FFF2-40B4-BE49-F238E27FC236}">
                <a16:creationId xmlns:a16="http://schemas.microsoft.com/office/drawing/2014/main" id="{E52DA050-F673-0D47-0670-9AE86977D2CB}"/>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474157" y="4948527"/>
            <a:ext cx="3565771" cy="595618"/>
          </a:xfrm>
          <a:prstGeom prst="rect">
            <a:avLst/>
          </a:prstGeom>
        </p:spPr>
      </p:pic>
      <p:pic>
        <p:nvPicPr>
          <p:cNvPr id="7" name="Picture 6" descr="Logo&#10;&#10;Description automatically generated with medium confidence">
            <a:extLst>
              <a:ext uri="{FF2B5EF4-FFF2-40B4-BE49-F238E27FC236}">
                <a16:creationId xmlns:a16="http://schemas.microsoft.com/office/drawing/2014/main" id="{74BC3221-34CD-1169-8D72-6CE43BA76759}"/>
              </a:ext>
            </a:extLst>
          </p:cNvPr>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3071494" y="2673058"/>
            <a:ext cx="3344545" cy="1656447"/>
          </a:xfrm>
          <a:prstGeom prst="rect">
            <a:avLst/>
          </a:prstGeom>
        </p:spPr>
      </p:pic>
      <p:sp>
        <p:nvSpPr>
          <p:cNvPr id="2" name="TextBox 1">
            <a:extLst>
              <a:ext uri="{FF2B5EF4-FFF2-40B4-BE49-F238E27FC236}">
                <a16:creationId xmlns:a16="http://schemas.microsoft.com/office/drawing/2014/main" id="{E50D0C18-5096-6C87-EEAE-6BB5D8B1E16F}"/>
              </a:ext>
            </a:extLst>
          </p:cNvPr>
          <p:cNvSpPr txBox="1"/>
          <p:nvPr/>
        </p:nvSpPr>
        <p:spPr>
          <a:xfrm>
            <a:off x="7011581" y="3034696"/>
            <a:ext cx="1579183" cy="1600438"/>
          </a:xfrm>
          <a:prstGeom prst="rect">
            <a:avLst/>
          </a:prstGeom>
          <a:solidFill>
            <a:schemeClr val="bg1"/>
          </a:solidFill>
          <a:ln w="57150">
            <a:solidFill>
              <a:srgbClr val="C00000"/>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t>MTI Landing Page: </a:t>
            </a:r>
            <a:r>
              <a:rPr lang="en-US" sz="1400" dirty="0">
                <a:hlinkClick r:id="rId9"/>
              </a:rPr>
              <a:t>https://mti.ici.umn.edu/</a:t>
            </a:r>
            <a:endParaRPr lang="en-US" sz="1400" dirty="0">
              <a:cs typeface="Calibri"/>
            </a:endParaRPr>
          </a:p>
          <a:p>
            <a:r>
              <a:rPr lang="en-US" sz="1400" dirty="0"/>
              <a:t>• About </a:t>
            </a:r>
            <a:endParaRPr lang="en-US" sz="1400" dirty="0">
              <a:cs typeface="Calibri"/>
            </a:endParaRPr>
          </a:p>
          <a:p>
            <a:r>
              <a:rPr lang="en-US" sz="1400" dirty="0"/>
              <a:t>• Recordings</a:t>
            </a:r>
            <a:endParaRPr lang="en-US" sz="1400" dirty="0">
              <a:cs typeface="Calibri"/>
            </a:endParaRPr>
          </a:p>
          <a:p>
            <a:r>
              <a:rPr lang="en-US" sz="1400" dirty="0"/>
              <a:t>• Registration </a:t>
            </a:r>
            <a:endParaRPr lang="en-US" sz="1400">
              <a:cs typeface="Calibri"/>
            </a:endParaRPr>
          </a:p>
          <a:p>
            <a:r>
              <a:rPr lang="en-US" sz="1400" dirty="0">
                <a:ea typeface="+mn-lt"/>
                <a:cs typeface="+mn-lt"/>
              </a:rPr>
              <a:t>• Resources</a:t>
            </a:r>
            <a:r>
              <a:rPr lang="en-US" sz="1400" dirty="0"/>
              <a:t>  </a:t>
            </a:r>
            <a:endParaRPr lang="en-US" sz="1400">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409" name="Rectangle 16408">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5" name="Title 5"/>
          <p:cNvSpPr>
            <a:spLocks noGrp="1"/>
          </p:cNvSpPr>
          <p:nvPr>
            <p:ph type="title"/>
          </p:nvPr>
        </p:nvSpPr>
        <p:spPr>
          <a:xfrm>
            <a:off x="317650" y="5068326"/>
            <a:ext cx="8182230" cy="1687814"/>
          </a:xfrm>
        </p:spPr>
        <p:txBody>
          <a:bodyPr vert="horz" lIns="91440" tIns="45720" rIns="91440" bIns="45720" rtlCol="0" anchor="b">
            <a:noAutofit/>
          </a:bodyPr>
          <a:lstStyle/>
          <a:p>
            <a:pPr algn="ctr" defTabSz="914400"/>
            <a:r>
              <a:rPr lang="en-US" sz="3600" b="1" i="1" dirty="0">
                <a:latin typeface="+mn-lt"/>
                <a:ea typeface="+mn-ea"/>
                <a:cs typeface="+mn-cs"/>
              </a:rPr>
              <a:t>Introductions</a:t>
            </a:r>
            <a:br>
              <a:rPr lang="en-US" sz="2000" b="1" i="1" kern="1200" dirty="0">
                <a:solidFill>
                  <a:schemeClr val="tx1"/>
                </a:solidFill>
                <a:latin typeface="+mj-lt"/>
                <a:ea typeface="+mj-ea"/>
                <a:cs typeface="+mj-cs"/>
              </a:rPr>
            </a:br>
            <a:br>
              <a:rPr lang="en-US" sz="2000" b="1" i="1" kern="1200" dirty="0">
                <a:solidFill>
                  <a:schemeClr val="tx1"/>
                </a:solidFill>
                <a:latin typeface="+mj-lt"/>
                <a:ea typeface="+mj-ea"/>
                <a:cs typeface="+mj-cs"/>
              </a:rPr>
            </a:br>
            <a:endParaRPr lang="en-US" sz="2000" dirty="0">
              <a:latin typeface="+mn-lt"/>
              <a:ea typeface="+mn-ea"/>
              <a:cs typeface="+mn-cs"/>
            </a:endParaRPr>
          </a:p>
        </p:txBody>
      </p:sp>
      <p:sp>
        <p:nvSpPr>
          <p:cNvPr id="16411"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6" y="5509052"/>
            <a:ext cx="3429000" cy="18288"/>
          </a:xfrm>
          <a:custGeom>
            <a:avLst/>
            <a:gdLst>
              <a:gd name="connsiteX0" fmla="*/ 0 w 3429000"/>
              <a:gd name="connsiteY0" fmla="*/ 0 h 18288"/>
              <a:gd name="connsiteX1" fmla="*/ 685800 w 3429000"/>
              <a:gd name="connsiteY1" fmla="*/ 0 h 18288"/>
              <a:gd name="connsiteX2" fmla="*/ 1371600 w 3429000"/>
              <a:gd name="connsiteY2" fmla="*/ 0 h 18288"/>
              <a:gd name="connsiteX3" fmla="*/ 2057400 w 3429000"/>
              <a:gd name="connsiteY3" fmla="*/ 0 h 18288"/>
              <a:gd name="connsiteX4" fmla="*/ 2674620 w 3429000"/>
              <a:gd name="connsiteY4" fmla="*/ 0 h 18288"/>
              <a:gd name="connsiteX5" fmla="*/ 3429000 w 3429000"/>
              <a:gd name="connsiteY5" fmla="*/ 0 h 18288"/>
              <a:gd name="connsiteX6" fmla="*/ 3429000 w 3429000"/>
              <a:gd name="connsiteY6" fmla="*/ 18288 h 18288"/>
              <a:gd name="connsiteX7" fmla="*/ 2811780 w 3429000"/>
              <a:gd name="connsiteY7" fmla="*/ 18288 h 18288"/>
              <a:gd name="connsiteX8" fmla="*/ 2228850 w 3429000"/>
              <a:gd name="connsiteY8" fmla="*/ 18288 h 18288"/>
              <a:gd name="connsiteX9" fmla="*/ 1543050 w 3429000"/>
              <a:gd name="connsiteY9" fmla="*/ 18288 h 18288"/>
              <a:gd name="connsiteX10" fmla="*/ 925830 w 3429000"/>
              <a:gd name="connsiteY10" fmla="*/ 18288 h 18288"/>
              <a:gd name="connsiteX11" fmla="*/ 0 w 3429000"/>
              <a:gd name="connsiteY11" fmla="*/ 18288 h 18288"/>
              <a:gd name="connsiteX12" fmla="*/ 0 w 3429000"/>
              <a:gd name="connsiteY12" fmla="*/ 0 h 18288"/>
              <a:gd name="connsiteX0" fmla="*/ 0 w 3429000"/>
              <a:gd name="connsiteY0" fmla="*/ 0 h 18288"/>
              <a:gd name="connsiteX1" fmla="*/ 617220 w 3429000"/>
              <a:gd name="connsiteY1" fmla="*/ 0 h 18288"/>
              <a:gd name="connsiteX2" fmla="*/ 1200150 w 3429000"/>
              <a:gd name="connsiteY2" fmla="*/ 0 h 18288"/>
              <a:gd name="connsiteX3" fmla="*/ 1817370 w 3429000"/>
              <a:gd name="connsiteY3" fmla="*/ 0 h 18288"/>
              <a:gd name="connsiteX4" fmla="*/ 2503170 w 3429000"/>
              <a:gd name="connsiteY4" fmla="*/ 0 h 18288"/>
              <a:gd name="connsiteX5" fmla="*/ 3429000 w 3429000"/>
              <a:gd name="connsiteY5" fmla="*/ 0 h 18288"/>
              <a:gd name="connsiteX6" fmla="*/ 3429000 w 3429000"/>
              <a:gd name="connsiteY6" fmla="*/ 18288 h 18288"/>
              <a:gd name="connsiteX7" fmla="*/ 2743200 w 3429000"/>
              <a:gd name="connsiteY7" fmla="*/ 18288 h 18288"/>
              <a:gd name="connsiteX8" fmla="*/ 1988820 w 3429000"/>
              <a:gd name="connsiteY8" fmla="*/ 18288 h 18288"/>
              <a:gd name="connsiteX9" fmla="*/ 1405890 w 3429000"/>
              <a:gd name="connsiteY9" fmla="*/ 18288 h 18288"/>
              <a:gd name="connsiteX10" fmla="*/ 651510 w 3429000"/>
              <a:gd name="connsiteY10" fmla="*/ 18288 h 18288"/>
              <a:gd name="connsiteX11" fmla="*/ 0 w 3429000"/>
              <a:gd name="connsiteY11" fmla="*/ 18288 h 18288"/>
              <a:gd name="connsiteX12" fmla="*/ 0 w 342900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000" h="18288" fill="none" extrusionOk="0">
                <a:moveTo>
                  <a:pt x="0" y="0"/>
                </a:moveTo>
                <a:cubicBezTo>
                  <a:pt x="207705" y="23860"/>
                  <a:pt x="509323" y="68036"/>
                  <a:pt x="685800" y="0"/>
                </a:cubicBezTo>
                <a:cubicBezTo>
                  <a:pt x="881422" y="-43910"/>
                  <a:pt x="1129204" y="-58858"/>
                  <a:pt x="1371600" y="0"/>
                </a:cubicBezTo>
                <a:cubicBezTo>
                  <a:pt x="1611115" y="-12848"/>
                  <a:pt x="1887211" y="-6418"/>
                  <a:pt x="2057400" y="0"/>
                </a:cubicBezTo>
                <a:cubicBezTo>
                  <a:pt x="2233905" y="-53439"/>
                  <a:pt x="2400311" y="-9735"/>
                  <a:pt x="2674620" y="0"/>
                </a:cubicBezTo>
                <a:cubicBezTo>
                  <a:pt x="2899369" y="50175"/>
                  <a:pt x="3197952" y="-27603"/>
                  <a:pt x="3429000" y="0"/>
                </a:cubicBezTo>
                <a:cubicBezTo>
                  <a:pt x="3428966" y="4844"/>
                  <a:pt x="3428590" y="11009"/>
                  <a:pt x="3429000" y="18288"/>
                </a:cubicBezTo>
                <a:cubicBezTo>
                  <a:pt x="3212354" y="28872"/>
                  <a:pt x="3083619" y="-836"/>
                  <a:pt x="2811780" y="18288"/>
                </a:cubicBezTo>
                <a:cubicBezTo>
                  <a:pt x="2533576" y="25058"/>
                  <a:pt x="2477440" y="20531"/>
                  <a:pt x="2228850" y="18288"/>
                </a:cubicBezTo>
                <a:cubicBezTo>
                  <a:pt x="2003657" y="-1843"/>
                  <a:pt x="1810789" y="18294"/>
                  <a:pt x="1543050" y="18288"/>
                </a:cubicBezTo>
                <a:cubicBezTo>
                  <a:pt x="1286635" y="-21162"/>
                  <a:pt x="1189418" y="22290"/>
                  <a:pt x="925830" y="18288"/>
                </a:cubicBezTo>
                <a:cubicBezTo>
                  <a:pt x="678389" y="-2387"/>
                  <a:pt x="367033" y="43234"/>
                  <a:pt x="0" y="18288"/>
                </a:cubicBezTo>
                <a:cubicBezTo>
                  <a:pt x="-649" y="11698"/>
                  <a:pt x="663" y="5413"/>
                  <a:pt x="0" y="0"/>
                </a:cubicBezTo>
                <a:close/>
              </a:path>
              <a:path w="3429000" h="18288" stroke="0" extrusionOk="0">
                <a:moveTo>
                  <a:pt x="0" y="0"/>
                </a:moveTo>
                <a:cubicBezTo>
                  <a:pt x="169914" y="-16656"/>
                  <a:pt x="469790" y="-24030"/>
                  <a:pt x="617220" y="0"/>
                </a:cubicBezTo>
                <a:cubicBezTo>
                  <a:pt x="786601" y="24467"/>
                  <a:pt x="1085311" y="15192"/>
                  <a:pt x="1200150" y="0"/>
                </a:cubicBezTo>
                <a:cubicBezTo>
                  <a:pt x="1340195" y="-5060"/>
                  <a:pt x="1552999" y="41254"/>
                  <a:pt x="1817370" y="0"/>
                </a:cubicBezTo>
                <a:cubicBezTo>
                  <a:pt x="2086739" y="-377"/>
                  <a:pt x="2228603" y="31972"/>
                  <a:pt x="2503170" y="0"/>
                </a:cubicBezTo>
                <a:cubicBezTo>
                  <a:pt x="2794334" y="-14173"/>
                  <a:pt x="3002837" y="-13310"/>
                  <a:pt x="3429000" y="0"/>
                </a:cubicBezTo>
                <a:cubicBezTo>
                  <a:pt x="3428475" y="5049"/>
                  <a:pt x="3429193" y="12044"/>
                  <a:pt x="3429000" y="18288"/>
                </a:cubicBezTo>
                <a:cubicBezTo>
                  <a:pt x="3101445" y="-3440"/>
                  <a:pt x="2879434" y="34023"/>
                  <a:pt x="2743200" y="18288"/>
                </a:cubicBezTo>
                <a:cubicBezTo>
                  <a:pt x="2609544" y="13915"/>
                  <a:pt x="2334178" y="48649"/>
                  <a:pt x="1988820" y="18288"/>
                </a:cubicBezTo>
                <a:cubicBezTo>
                  <a:pt x="1620184" y="18423"/>
                  <a:pt x="1586822" y="-1871"/>
                  <a:pt x="1405890" y="18288"/>
                </a:cubicBezTo>
                <a:cubicBezTo>
                  <a:pt x="1266239" y="28547"/>
                  <a:pt x="867500" y="15208"/>
                  <a:pt x="651510" y="18288"/>
                </a:cubicBezTo>
                <a:cubicBezTo>
                  <a:pt x="445459" y="40105"/>
                  <a:pt x="119818" y="-23744"/>
                  <a:pt x="0" y="18288"/>
                </a:cubicBezTo>
                <a:cubicBezTo>
                  <a:pt x="-39" y="12511"/>
                  <a:pt x="-381" y="8039"/>
                  <a:pt x="0" y="0"/>
                </a:cubicBezTo>
                <a:close/>
              </a:path>
              <a:path w="3429000" h="18288" fill="none" stroke="0" extrusionOk="0">
                <a:moveTo>
                  <a:pt x="0" y="0"/>
                </a:moveTo>
                <a:cubicBezTo>
                  <a:pt x="199661" y="29771"/>
                  <a:pt x="488726" y="20925"/>
                  <a:pt x="685800" y="0"/>
                </a:cubicBezTo>
                <a:cubicBezTo>
                  <a:pt x="835372" y="-29710"/>
                  <a:pt x="1088413" y="6369"/>
                  <a:pt x="1371600" y="0"/>
                </a:cubicBezTo>
                <a:cubicBezTo>
                  <a:pt x="1631865" y="6637"/>
                  <a:pt x="1839907" y="52251"/>
                  <a:pt x="2057400" y="0"/>
                </a:cubicBezTo>
                <a:cubicBezTo>
                  <a:pt x="2266442" y="-8132"/>
                  <a:pt x="2461070" y="-4034"/>
                  <a:pt x="2674620" y="0"/>
                </a:cubicBezTo>
                <a:cubicBezTo>
                  <a:pt x="2940120" y="30498"/>
                  <a:pt x="3202681" y="-54357"/>
                  <a:pt x="3429000" y="0"/>
                </a:cubicBezTo>
                <a:cubicBezTo>
                  <a:pt x="3429314" y="4158"/>
                  <a:pt x="3428021" y="12539"/>
                  <a:pt x="3429000" y="18288"/>
                </a:cubicBezTo>
                <a:cubicBezTo>
                  <a:pt x="3250522" y="56023"/>
                  <a:pt x="3056248" y="-1557"/>
                  <a:pt x="2811780" y="18288"/>
                </a:cubicBezTo>
                <a:cubicBezTo>
                  <a:pt x="2534418" y="26558"/>
                  <a:pt x="2483107" y="19890"/>
                  <a:pt x="2228850" y="18288"/>
                </a:cubicBezTo>
                <a:cubicBezTo>
                  <a:pt x="1996093" y="-20362"/>
                  <a:pt x="1790611" y="35096"/>
                  <a:pt x="1543050" y="18288"/>
                </a:cubicBezTo>
                <a:cubicBezTo>
                  <a:pt x="1276188" y="-29727"/>
                  <a:pt x="1196665" y="1050"/>
                  <a:pt x="925830" y="18288"/>
                </a:cubicBezTo>
                <a:cubicBezTo>
                  <a:pt x="718623" y="61416"/>
                  <a:pt x="374628" y="25039"/>
                  <a:pt x="0" y="18288"/>
                </a:cubicBezTo>
                <a:cubicBezTo>
                  <a:pt x="20" y="11469"/>
                  <a:pt x="-29" y="515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custGeom>
                    <a:avLst/>
                    <a:gdLst>
                      <a:gd name="connsiteX0" fmla="*/ 0 w 3429000"/>
                      <a:gd name="connsiteY0" fmla="*/ 0 h 18288"/>
                      <a:gd name="connsiteX1" fmla="*/ 685800 w 3429000"/>
                      <a:gd name="connsiteY1" fmla="*/ 0 h 18288"/>
                      <a:gd name="connsiteX2" fmla="*/ 1371600 w 3429000"/>
                      <a:gd name="connsiteY2" fmla="*/ 0 h 18288"/>
                      <a:gd name="connsiteX3" fmla="*/ 2057400 w 3429000"/>
                      <a:gd name="connsiteY3" fmla="*/ 0 h 18288"/>
                      <a:gd name="connsiteX4" fmla="*/ 2674620 w 3429000"/>
                      <a:gd name="connsiteY4" fmla="*/ 0 h 18288"/>
                      <a:gd name="connsiteX5" fmla="*/ 3429000 w 3429000"/>
                      <a:gd name="connsiteY5" fmla="*/ 0 h 18288"/>
                      <a:gd name="connsiteX6" fmla="*/ 3429000 w 3429000"/>
                      <a:gd name="connsiteY6" fmla="*/ 18288 h 18288"/>
                      <a:gd name="connsiteX7" fmla="*/ 2811780 w 3429000"/>
                      <a:gd name="connsiteY7" fmla="*/ 18288 h 18288"/>
                      <a:gd name="connsiteX8" fmla="*/ 2228850 w 3429000"/>
                      <a:gd name="connsiteY8" fmla="*/ 18288 h 18288"/>
                      <a:gd name="connsiteX9" fmla="*/ 1543050 w 3429000"/>
                      <a:gd name="connsiteY9" fmla="*/ 18288 h 18288"/>
                      <a:gd name="connsiteX10" fmla="*/ 925830 w 3429000"/>
                      <a:gd name="connsiteY10" fmla="*/ 18288 h 18288"/>
                      <a:gd name="connsiteX11" fmla="*/ 0 w 3429000"/>
                      <a:gd name="connsiteY11" fmla="*/ 18288 h 18288"/>
                      <a:gd name="connsiteX12" fmla="*/ 0 w 342900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000" h="18288" fill="none" extrusionOk="0">
                        <a:moveTo>
                          <a:pt x="0" y="0"/>
                        </a:moveTo>
                        <a:cubicBezTo>
                          <a:pt x="219865" y="20479"/>
                          <a:pt x="493281" y="26186"/>
                          <a:pt x="685800" y="0"/>
                        </a:cubicBezTo>
                        <a:cubicBezTo>
                          <a:pt x="878319" y="-26186"/>
                          <a:pt x="1121382" y="-11869"/>
                          <a:pt x="1371600" y="0"/>
                        </a:cubicBezTo>
                        <a:cubicBezTo>
                          <a:pt x="1621818" y="11869"/>
                          <a:pt x="1878793" y="32281"/>
                          <a:pt x="2057400" y="0"/>
                        </a:cubicBezTo>
                        <a:cubicBezTo>
                          <a:pt x="2236007" y="-32281"/>
                          <a:pt x="2433797" y="-18251"/>
                          <a:pt x="2674620" y="0"/>
                        </a:cubicBezTo>
                        <a:cubicBezTo>
                          <a:pt x="2915443" y="18251"/>
                          <a:pt x="3205923" y="-1443"/>
                          <a:pt x="3429000" y="0"/>
                        </a:cubicBezTo>
                        <a:cubicBezTo>
                          <a:pt x="3429442" y="4516"/>
                          <a:pt x="3428173" y="12266"/>
                          <a:pt x="3429000" y="18288"/>
                        </a:cubicBezTo>
                        <a:cubicBezTo>
                          <a:pt x="3221081" y="48608"/>
                          <a:pt x="3088001" y="8066"/>
                          <a:pt x="2811780" y="18288"/>
                        </a:cubicBezTo>
                        <a:cubicBezTo>
                          <a:pt x="2535559" y="28510"/>
                          <a:pt x="2481355" y="24898"/>
                          <a:pt x="2228850" y="18288"/>
                        </a:cubicBezTo>
                        <a:cubicBezTo>
                          <a:pt x="1976345" y="11679"/>
                          <a:pt x="1807520" y="48356"/>
                          <a:pt x="1543050" y="18288"/>
                        </a:cubicBezTo>
                        <a:cubicBezTo>
                          <a:pt x="1278580" y="-11780"/>
                          <a:pt x="1181944" y="5123"/>
                          <a:pt x="925830" y="18288"/>
                        </a:cubicBezTo>
                        <a:cubicBezTo>
                          <a:pt x="669716" y="31453"/>
                          <a:pt x="410304" y="34815"/>
                          <a:pt x="0" y="18288"/>
                        </a:cubicBezTo>
                        <a:cubicBezTo>
                          <a:pt x="-306" y="11477"/>
                          <a:pt x="485" y="4355"/>
                          <a:pt x="0" y="0"/>
                        </a:cubicBezTo>
                        <a:close/>
                      </a:path>
                      <a:path w="3429000" h="18288" stroke="0" extrusionOk="0">
                        <a:moveTo>
                          <a:pt x="0" y="0"/>
                        </a:moveTo>
                        <a:cubicBezTo>
                          <a:pt x="174095" y="-12874"/>
                          <a:pt x="443087" y="-14090"/>
                          <a:pt x="617220" y="0"/>
                        </a:cubicBezTo>
                        <a:cubicBezTo>
                          <a:pt x="791353" y="14090"/>
                          <a:pt x="1072677" y="8451"/>
                          <a:pt x="1200150" y="0"/>
                        </a:cubicBezTo>
                        <a:cubicBezTo>
                          <a:pt x="1327623" y="-8451"/>
                          <a:pt x="1526638" y="19866"/>
                          <a:pt x="1817370" y="0"/>
                        </a:cubicBezTo>
                        <a:cubicBezTo>
                          <a:pt x="2108102" y="-19866"/>
                          <a:pt x="2221289" y="26161"/>
                          <a:pt x="2503170" y="0"/>
                        </a:cubicBezTo>
                        <a:cubicBezTo>
                          <a:pt x="2785051" y="-26161"/>
                          <a:pt x="3022134" y="39178"/>
                          <a:pt x="3429000" y="0"/>
                        </a:cubicBezTo>
                        <a:cubicBezTo>
                          <a:pt x="3429577" y="4624"/>
                          <a:pt x="3429819" y="11191"/>
                          <a:pt x="3429000" y="18288"/>
                        </a:cubicBezTo>
                        <a:cubicBezTo>
                          <a:pt x="3103464" y="593"/>
                          <a:pt x="2887909" y="22940"/>
                          <a:pt x="2743200" y="18288"/>
                        </a:cubicBezTo>
                        <a:cubicBezTo>
                          <a:pt x="2598491" y="13636"/>
                          <a:pt x="2362615" y="10656"/>
                          <a:pt x="1988820" y="18288"/>
                        </a:cubicBezTo>
                        <a:cubicBezTo>
                          <a:pt x="1615025" y="25920"/>
                          <a:pt x="1580494" y="3693"/>
                          <a:pt x="1405890" y="18288"/>
                        </a:cubicBezTo>
                        <a:cubicBezTo>
                          <a:pt x="1231286" y="32884"/>
                          <a:pt x="885259" y="-16285"/>
                          <a:pt x="651510" y="18288"/>
                        </a:cubicBezTo>
                        <a:cubicBezTo>
                          <a:pt x="417761" y="52861"/>
                          <a:pt x="138362" y="-13856"/>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9"/>
          <p:cNvSpPr txBox="1">
            <a:spLocks noChangeArrowheads="1"/>
          </p:cNvSpPr>
          <p:nvPr/>
        </p:nvSpPr>
        <p:spPr>
          <a:xfrm>
            <a:off x="2857500" y="3124200"/>
            <a:ext cx="3886200" cy="762000"/>
          </a:xfrm>
          <a:prstGeom prst="rect">
            <a:avLst/>
          </a:prstGeom>
        </p:spPr>
        <p:txBody>
          <a:bodyPr/>
          <a:lstStyle/>
          <a:p>
            <a:pPr fontAlgn="auto">
              <a:spcBef>
                <a:spcPts val="0"/>
              </a:spcBef>
              <a:spcAft>
                <a:spcPts val="0"/>
              </a:spcAft>
              <a:buFont typeface="Monotype Sorts" pitchFamily="-105" charset="2"/>
              <a:buNone/>
              <a:defRPr/>
            </a:pPr>
            <a:endParaRPr lang="en-US" sz="2400">
              <a:latin typeface="Times"/>
              <a:ea typeface="+mn-ea"/>
              <a:cs typeface="Times"/>
            </a:endParaRPr>
          </a:p>
        </p:txBody>
      </p:sp>
      <p:pic>
        <p:nvPicPr>
          <p:cNvPr id="2" name="Picture 3">
            <a:extLst>
              <a:ext uri="{FF2B5EF4-FFF2-40B4-BE49-F238E27FC236}">
                <a16:creationId xmlns:a16="http://schemas.microsoft.com/office/drawing/2014/main" id="{3B039B18-1DBB-DD22-23DD-45387E109D87}"/>
              </a:ext>
            </a:extLst>
          </p:cNvPr>
          <p:cNvPicPr>
            <a:picLocks noChangeAspect="1"/>
          </p:cNvPicPr>
          <p:nvPr/>
        </p:nvPicPr>
        <p:blipFill>
          <a:blip r:embed="rId3"/>
          <a:stretch>
            <a:fillRect/>
          </a:stretch>
        </p:blipFill>
        <p:spPr>
          <a:xfrm>
            <a:off x="1673463" y="450000"/>
            <a:ext cx="1631673" cy="2020956"/>
          </a:xfrm>
          <a:prstGeom prst="rect">
            <a:avLst/>
          </a:prstGeom>
        </p:spPr>
      </p:pic>
      <p:sp>
        <p:nvSpPr>
          <p:cNvPr id="4" name="TextBox 3">
            <a:extLst>
              <a:ext uri="{FF2B5EF4-FFF2-40B4-BE49-F238E27FC236}">
                <a16:creationId xmlns:a16="http://schemas.microsoft.com/office/drawing/2014/main" id="{0D45C365-E64E-5066-DC9C-19B6B30C00A2}"/>
              </a:ext>
            </a:extLst>
          </p:cNvPr>
          <p:cNvSpPr txBox="1"/>
          <p:nvPr/>
        </p:nvSpPr>
        <p:spPr>
          <a:xfrm>
            <a:off x="193813" y="484035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5" name="TextBox 4">
            <a:extLst>
              <a:ext uri="{FF2B5EF4-FFF2-40B4-BE49-F238E27FC236}">
                <a16:creationId xmlns:a16="http://schemas.microsoft.com/office/drawing/2014/main" id="{4ADA33D6-57A7-5DDA-0B09-E67EE89AD36B}"/>
              </a:ext>
            </a:extLst>
          </p:cNvPr>
          <p:cNvSpPr txBox="1"/>
          <p:nvPr/>
        </p:nvSpPr>
        <p:spPr>
          <a:xfrm>
            <a:off x="1669065" y="2859451"/>
            <a:ext cx="187600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Calibri"/>
              </a:rPr>
              <a:t>Tim Schmutzer</a:t>
            </a:r>
          </a:p>
          <a:p>
            <a:r>
              <a:rPr lang="en-US" dirty="0">
                <a:cs typeface="Calibri"/>
              </a:rPr>
              <a:t>Executive Director</a:t>
            </a:r>
          </a:p>
          <a:p>
            <a:r>
              <a:rPr lang="en-US" dirty="0">
                <a:cs typeface="Calibri"/>
              </a:rPr>
              <a:t>PHASE-Industries</a:t>
            </a:r>
            <a:endParaRPr lang="en-US" dirty="0"/>
          </a:p>
        </p:txBody>
      </p:sp>
      <p:pic>
        <p:nvPicPr>
          <p:cNvPr id="6" name="Picture 6">
            <a:extLst>
              <a:ext uri="{FF2B5EF4-FFF2-40B4-BE49-F238E27FC236}">
                <a16:creationId xmlns:a16="http://schemas.microsoft.com/office/drawing/2014/main" id="{8DA3B080-0FB1-5ABF-91A9-0EA7908C3112}"/>
              </a:ext>
            </a:extLst>
          </p:cNvPr>
          <p:cNvPicPr>
            <a:picLocks noChangeAspect="1"/>
          </p:cNvPicPr>
          <p:nvPr/>
        </p:nvPicPr>
        <p:blipFill>
          <a:blip r:embed="rId4"/>
          <a:stretch>
            <a:fillRect/>
          </a:stretch>
        </p:blipFill>
        <p:spPr>
          <a:xfrm>
            <a:off x="5432568" y="401553"/>
            <a:ext cx="1611758" cy="2123801"/>
          </a:xfrm>
          <a:prstGeom prst="rect">
            <a:avLst/>
          </a:prstGeom>
        </p:spPr>
      </p:pic>
      <p:sp>
        <p:nvSpPr>
          <p:cNvPr id="7" name="TextBox 6">
            <a:extLst>
              <a:ext uri="{FF2B5EF4-FFF2-40B4-BE49-F238E27FC236}">
                <a16:creationId xmlns:a16="http://schemas.microsoft.com/office/drawing/2014/main" id="{20D74955-08A1-DD12-0A45-622BDEC0750E}"/>
              </a:ext>
            </a:extLst>
          </p:cNvPr>
          <p:cNvSpPr txBox="1"/>
          <p:nvPr/>
        </p:nvSpPr>
        <p:spPr>
          <a:xfrm>
            <a:off x="6840607" y="-253449"/>
            <a:ext cx="805070" cy="835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8" name="TextBox 7">
            <a:extLst>
              <a:ext uri="{FF2B5EF4-FFF2-40B4-BE49-F238E27FC236}">
                <a16:creationId xmlns:a16="http://schemas.microsoft.com/office/drawing/2014/main" id="{6FA60149-BA14-2C14-FEA3-885B8AD9AB8D}"/>
              </a:ext>
            </a:extLst>
          </p:cNvPr>
          <p:cNvSpPr txBox="1"/>
          <p:nvPr/>
        </p:nvSpPr>
        <p:spPr>
          <a:xfrm>
            <a:off x="5430430" y="2770018"/>
            <a:ext cx="25841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Calibri"/>
              </a:rPr>
              <a:t>Tami Reuter</a:t>
            </a:r>
            <a:r>
              <a:rPr lang="en-US" dirty="0">
                <a:cs typeface="Calibri"/>
              </a:rPr>
              <a:t> </a:t>
            </a:r>
          </a:p>
          <a:p>
            <a:r>
              <a:rPr lang="en-US" dirty="0">
                <a:cs typeface="Calibri"/>
              </a:rPr>
              <a:t>Chief Business and Marketing Officer</a:t>
            </a:r>
          </a:p>
          <a:p>
            <a:r>
              <a:rPr lang="en-US" dirty="0">
                <a:cs typeface="Calibri"/>
              </a:rPr>
              <a:t>MRCI</a:t>
            </a:r>
            <a:endParaRPr lang="en-US" dirty="0"/>
          </a:p>
        </p:txBody>
      </p:sp>
      <p:pic>
        <p:nvPicPr>
          <p:cNvPr id="9" name="Picture 8" descr="Logo&#10;&#10;Description automatically generated with medium confidence">
            <a:extLst>
              <a:ext uri="{FF2B5EF4-FFF2-40B4-BE49-F238E27FC236}">
                <a16:creationId xmlns:a16="http://schemas.microsoft.com/office/drawing/2014/main" id="{1AEDCAA7-313F-585E-52A6-22A9C6E2F33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2183002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5" name="Group 14">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2" y="0"/>
            <a:ext cx="4235228" cy="6483075"/>
            <a:chOff x="-19221" y="0"/>
            <a:chExt cx="5646974" cy="6483075"/>
          </a:xfrm>
        </p:grpSpPr>
        <p:sp>
          <p:nvSpPr>
            <p:cNvPr id="16" name="Freeform: Shape 15">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603504" y="2053641"/>
            <a:ext cx="2751870" cy="2760098"/>
          </a:xfrm>
        </p:spPr>
        <p:txBody>
          <a:bodyPr>
            <a:normAutofit/>
          </a:bodyPr>
          <a:lstStyle/>
          <a:p>
            <a:r>
              <a:rPr lang="en-US" sz="3600" b="1" i="1">
                <a:latin typeface="+mn-lt"/>
                <a:ea typeface="+mn-ea"/>
                <a:cs typeface="+mn-cs"/>
              </a:rPr>
              <a:t>Poll #1</a:t>
            </a:r>
          </a:p>
        </p:txBody>
      </p:sp>
      <p:sp>
        <p:nvSpPr>
          <p:cNvPr id="6" name="Content Placeholder 5">
            <a:extLst>
              <a:ext uri="{FF2B5EF4-FFF2-40B4-BE49-F238E27FC236}">
                <a16:creationId xmlns:a16="http://schemas.microsoft.com/office/drawing/2014/main" id="{4EF0088B-64EC-85DE-B0CE-006BC29E9B1A}"/>
              </a:ext>
            </a:extLst>
          </p:cNvPr>
          <p:cNvSpPr>
            <a:spLocks noGrp="1"/>
          </p:cNvSpPr>
          <p:nvPr>
            <p:ph idx="1"/>
          </p:nvPr>
        </p:nvSpPr>
        <p:spPr>
          <a:xfrm>
            <a:off x="4567930" y="801866"/>
            <a:ext cx="3979563" cy="5230634"/>
          </a:xfrm>
          <a:noFill/>
          <a:ln>
            <a:noFill/>
          </a:ln>
        </p:spPr>
        <p:txBody>
          <a:bodyPr anchor="ctr">
            <a:noAutofit/>
          </a:bodyPr>
          <a:lstStyle/>
          <a:p>
            <a:pPr marL="0" indent="0">
              <a:buNone/>
            </a:pPr>
            <a:r>
              <a:rPr lang="en-US" sz="2400" b="1" dirty="0">
                <a:solidFill>
                  <a:schemeClr val="tx2"/>
                </a:solidFill>
              </a:rPr>
              <a:t>What is your role?:</a:t>
            </a:r>
            <a:endParaRPr lang="en-US" b="1" dirty="0">
              <a:solidFill>
                <a:schemeClr val="tx2"/>
              </a:solidFill>
            </a:endParaRPr>
          </a:p>
          <a:p>
            <a:r>
              <a:rPr lang="en-US" sz="2400" dirty="0">
                <a:solidFill>
                  <a:schemeClr val="tx2"/>
                </a:solidFill>
              </a:rPr>
              <a:t>Senior leadership</a:t>
            </a:r>
            <a:endParaRPr lang="en-US" sz="2400" dirty="0">
              <a:solidFill>
                <a:schemeClr val="tx2"/>
              </a:solidFill>
              <a:cs typeface="Calibri"/>
            </a:endParaRPr>
          </a:p>
          <a:p>
            <a:r>
              <a:rPr lang="en-US" sz="2400" dirty="0">
                <a:solidFill>
                  <a:schemeClr val="tx2"/>
                </a:solidFill>
              </a:rPr>
              <a:t>Mid-manager</a:t>
            </a:r>
            <a:endParaRPr lang="en-US" sz="2400" dirty="0">
              <a:solidFill>
                <a:schemeClr val="tx2"/>
              </a:solidFill>
              <a:cs typeface="Calibri"/>
            </a:endParaRPr>
          </a:p>
          <a:p>
            <a:r>
              <a:rPr lang="en-US" sz="2400" dirty="0">
                <a:solidFill>
                  <a:schemeClr val="tx2"/>
                </a:solidFill>
              </a:rPr>
              <a:t>Employment Staff</a:t>
            </a:r>
            <a:endParaRPr lang="en-US" sz="2400" dirty="0">
              <a:solidFill>
                <a:schemeClr val="tx2"/>
              </a:solidFill>
              <a:cs typeface="Calibri"/>
            </a:endParaRPr>
          </a:p>
          <a:p>
            <a:r>
              <a:rPr lang="en-US" sz="2400" dirty="0">
                <a:solidFill>
                  <a:schemeClr val="tx2"/>
                </a:solidFill>
              </a:rPr>
              <a:t>Residential staff</a:t>
            </a:r>
            <a:endParaRPr lang="en-US" sz="2400" dirty="0">
              <a:solidFill>
                <a:schemeClr val="tx2"/>
              </a:solidFill>
              <a:cs typeface="Calibri"/>
            </a:endParaRPr>
          </a:p>
          <a:p>
            <a:r>
              <a:rPr lang="en-US" sz="2400" dirty="0">
                <a:solidFill>
                  <a:schemeClr val="tx2"/>
                </a:solidFill>
              </a:rPr>
              <a:t>Day Staff</a:t>
            </a:r>
            <a:endParaRPr lang="en-US" sz="2400" dirty="0">
              <a:solidFill>
                <a:schemeClr val="tx2"/>
              </a:solidFill>
              <a:cs typeface="Calibri"/>
            </a:endParaRPr>
          </a:p>
          <a:p>
            <a:r>
              <a:rPr lang="en-US" sz="2400" dirty="0">
                <a:solidFill>
                  <a:schemeClr val="tx2"/>
                </a:solidFill>
              </a:rPr>
              <a:t>Case Manager</a:t>
            </a:r>
            <a:endParaRPr lang="en-US" sz="2400" dirty="0">
              <a:solidFill>
                <a:schemeClr val="tx2"/>
              </a:solidFill>
              <a:cs typeface="Calibri"/>
            </a:endParaRPr>
          </a:p>
          <a:p>
            <a:r>
              <a:rPr lang="en-US" sz="2400" dirty="0">
                <a:solidFill>
                  <a:schemeClr val="tx2"/>
                </a:solidFill>
              </a:rPr>
              <a:t>Other</a:t>
            </a:r>
            <a:endParaRPr lang="en-US" sz="2400" dirty="0">
              <a:solidFill>
                <a:schemeClr val="tx2"/>
              </a:solidFill>
              <a:cs typeface="Calibri"/>
            </a:endParaRPr>
          </a:p>
        </p:txBody>
      </p:sp>
      <p:sp>
        <p:nvSpPr>
          <p:cNvPr id="4" name="Slide Number Placeholder 3"/>
          <p:cNvSpPr>
            <a:spLocks noGrp="1"/>
          </p:cNvSpPr>
          <p:nvPr>
            <p:ph type="sldNum" sz="quarter" idx="12"/>
          </p:nvPr>
        </p:nvSpPr>
        <p:spPr>
          <a:xfrm>
            <a:off x="6457950" y="6356350"/>
            <a:ext cx="2057400" cy="365125"/>
          </a:xfrm>
        </p:spPr>
        <p:txBody>
          <a:bodyPr>
            <a:normAutofit/>
          </a:bodyPr>
          <a:lstStyle/>
          <a:p>
            <a:pPr>
              <a:spcAft>
                <a:spcPts val="600"/>
              </a:spcAft>
            </a:pPr>
            <a:fld id="{915FAA45-AC5B-014B-9F74-53D558B73BE0}" type="slidenum">
              <a:rPr lang="en-US" smtClean="0"/>
              <a:pPr>
                <a:spcAft>
                  <a:spcPts val="600"/>
                </a:spcAft>
              </a:pPr>
              <a:t>4</a:t>
            </a:fld>
            <a:endParaRPr lang="en-US"/>
          </a:p>
        </p:txBody>
      </p:sp>
      <p:pic>
        <p:nvPicPr>
          <p:cNvPr id="7" name="Picture 6" descr="Logo&#10;&#10;Description automatically generated with medium confidence">
            <a:extLst>
              <a:ext uri="{FF2B5EF4-FFF2-40B4-BE49-F238E27FC236}">
                <a16:creationId xmlns:a16="http://schemas.microsoft.com/office/drawing/2014/main" id="{CFD5B161-90F3-7F13-264F-0A936289E69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472595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2F2BFDF-E9F2-4569-A9F2-E1FFCB7FB82D}"/>
              </a:ext>
            </a:extLst>
          </p:cNvPr>
          <p:cNvSpPr txBox="1"/>
          <p:nvPr/>
        </p:nvSpPr>
        <p:spPr>
          <a:xfrm>
            <a:off x="3874815" y="3430843"/>
            <a:ext cx="1867903" cy="314778"/>
          </a:xfrm>
          <a:prstGeom prst="rect">
            <a:avLst/>
          </a:prstGeom>
          <a:noFill/>
        </p:spPr>
        <p:txBody>
          <a:bodyPr wrap="square" lIns="0" tIns="27000" rIns="0" bIns="0" rtlCol="0">
            <a:spAutoFit/>
          </a:bodyPr>
          <a:lstStyle/>
          <a:p>
            <a:pPr algn="r">
              <a:lnSpc>
                <a:spcPts val="1050"/>
              </a:lnSpc>
            </a:pPr>
            <a:r>
              <a:rPr lang="en-US" sz="1200" b="1" spc="-75" dirty="0">
                <a:solidFill>
                  <a:schemeClr val="tx1">
                    <a:lumMod val="50000"/>
                    <a:lumOff val="50000"/>
                  </a:schemeClr>
                </a:solidFill>
                <a:latin typeface="Corbel" panose="020B0503020204020204" pitchFamily="34" charset="0"/>
              </a:rPr>
              <a:t>Tim Schmutzer, CEO</a:t>
            </a:r>
          </a:p>
          <a:p>
            <a:pPr algn="r">
              <a:lnSpc>
                <a:spcPts val="1050"/>
              </a:lnSpc>
            </a:pPr>
            <a:r>
              <a:rPr lang="en-US" sz="1200" b="1" spc="-75" dirty="0">
                <a:solidFill>
                  <a:schemeClr val="tx1">
                    <a:lumMod val="50000"/>
                    <a:lumOff val="50000"/>
                  </a:schemeClr>
                </a:solidFill>
                <a:latin typeface="Corbel" panose="020B0503020204020204" pitchFamily="34" charset="0"/>
              </a:rPr>
              <a:t>PHASE-Industries</a:t>
            </a:r>
            <a:endParaRPr lang="en-US" sz="1200" b="1" spc="-75" dirty="0">
              <a:latin typeface="Corbel" panose="020B0503020204020204" pitchFamily="34" charset="0"/>
            </a:endParaRPr>
          </a:p>
        </p:txBody>
      </p:sp>
      <p:pic>
        <p:nvPicPr>
          <p:cNvPr id="7" name="Picture Placeholder 6">
            <a:extLst>
              <a:ext uri="{FF2B5EF4-FFF2-40B4-BE49-F238E27FC236}">
                <a16:creationId xmlns:a16="http://schemas.microsoft.com/office/drawing/2014/main" id="{C0BA96B3-F713-41B0-A2E3-15E9039E4743}"/>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tretch>
            <a:fillRect/>
          </a:stretch>
        </p:blipFill>
        <p:spPr>
          <a:xfrm>
            <a:off x="6463654" y="1217015"/>
            <a:ext cx="2673453" cy="17823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190507" y="1305984"/>
            <a:ext cx="5998626" cy="2123017"/>
          </a:xfrm>
        </p:spPr>
        <p:txBody>
          <a:bodyPr>
            <a:normAutofit/>
          </a:bodyPr>
          <a:lstStyle/>
          <a:p>
            <a:pPr algn="ctr"/>
            <a:r>
              <a:rPr lang="en-US" sz="4050" cap="none" dirty="0">
                <a:solidFill>
                  <a:schemeClr val="accent1">
                    <a:lumMod val="50000"/>
                  </a:schemeClr>
                </a:solidFill>
                <a:latin typeface="+mn-lt"/>
              </a:rPr>
              <a:t>Organizational Transformation</a:t>
            </a:r>
            <a:r>
              <a:rPr lang="en-US" cap="none" dirty="0">
                <a:solidFill>
                  <a:schemeClr val="accent1">
                    <a:lumMod val="50000"/>
                  </a:schemeClr>
                </a:solidFill>
                <a:latin typeface="+mn-lt"/>
              </a:rPr>
              <a:t>:</a:t>
            </a:r>
            <a:br>
              <a:rPr lang="en-US" cap="none" dirty="0">
                <a:solidFill>
                  <a:schemeClr val="accent1">
                    <a:lumMod val="50000"/>
                  </a:schemeClr>
                </a:solidFill>
                <a:latin typeface="+mn-lt"/>
              </a:rPr>
            </a:br>
            <a:br>
              <a:rPr lang="en-US" cap="none" dirty="0">
                <a:solidFill>
                  <a:schemeClr val="accent1">
                    <a:lumMod val="50000"/>
                  </a:schemeClr>
                </a:solidFill>
                <a:latin typeface="+mn-lt"/>
              </a:rPr>
            </a:br>
            <a:r>
              <a:rPr lang="en-US" sz="2700" cap="none" dirty="0">
                <a:solidFill>
                  <a:schemeClr val="accent1">
                    <a:lumMod val="50000"/>
                  </a:schemeClr>
                </a:solidFill>
                <a:latin typeface="+mn-lt"/>
              </a:rPr>
              <a:t>Intersection of Leadership, Culture &amp; Purpose </a:t>
            </a:r>
            <a:r>
              <a:rPr lang="en-US" sz="2700" cap="none">
                <a:solidFill>
                  <a:schemeClr val="accent1">
                    <a:lumMod val="50000"/>
                  </a:schemeClr>
                </a:solidFill>
                <a:latin typeface="+mn-lt"/>
              </a:rPr>
              <a:t>in Transformation</a:t>
            </a:r>
            <a:endParaRPr lang="en-US" dirty="0">
              <a:solidFill>
                <a:schemeClr val="accent1">
                  <a:lumMod val="50000"/>
                </a:schemeClr>
              </a:solidFill>
              <a:latin typeface="+mn-lt"/>
            </a:endParaRPr>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4306589" y="4935063"/>
            <a:ext cx="4189572" cy="1192038"/>
          </a:xfrm>
          <a:noFill/>
        </p:spPr>
        <p:txBody>
          <a:bodyPr>
            <a:normAutofit lnSpcReduction="10000"/>
          </a:bodyPr>
          <a:lstStyle/>
          <a:p>
            <a:r>
              <a:rPr lang="en-US" sz="2400" dirty="0">
                <a:solidFill>
                  <a:schemeClr val="accent1">
                    <a:lumMod val="50000"/>
                  </a:schemeClr>
                </a:solidFill>
                <a:latin typeface="Times New Roman"/>
                <a:cs typeface="Times New Roman"/>
              </a:rPr>
              <a:t>“People don’t buy what you do, they buy why you do it.”</a:t>
            </a:r>
          </a:p>
          <a:p>
            <a:r>
              <a:rPr lang="en-US" sz="2400" dirty="0">
                <a:solidFill>
                  <a:schemeClr val="accent1">
                    <a:lumMod val="50000"/>
                  </a:schemeClr>
                </a:solidFill>
                <a:latin typeface="Times New Roman"/>
                <a:cs typeface="Times New Roman"/>
              </a:rPr>
              <a:t>       --Simon Sinek</a:t>
            </a:r>
          </a:p>
        </p:txBody>
      </p:sp>
      <p:pic>
        <p:nvPicPr>
          <p:cNvPr id="5" name="Picture 4" descr="Logo&#10;&#10;Description automatically generated with medium confidence">
            <a:extLst>
              <a:ext uri="{FF2B5EF4-FFF2-40B4-BE49-F238E27FC236}">
                <a16:creationId xmlns:a16="http://schemas.microsoft.com/office/drawing/2014/main" id="{8B9D9964-25AF-8F93-3577-61BCB17CD826}"/>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2404225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8C9462-C5E1-493D-8F38-4898DB5FFB8C}"/>
              </a:ext>
            </a:extLst>
          </p:cNvPr>
          <p:cNvSpPr>
            <a:spLocks noGrp="1"/>
          </p:cNvSpPr>
          <p:nvPr>
            <p:ph type="ctrTitle"/>
          </p:nvPr>
        </p:nvSpPr>
        <p:spPr>
          <a:xfrm>
            <a:off x="628650" y="963877"/>
            <a:ext cx="2620771" cy="4930246"/>
          </a:xfrm>
        </p:spPr>
        <p:txBody>
          <a:bodyPr vert="horz" lIns="91440" tIns="45720" rIns="91440" bIns="45720" rtlCol="0" anchor="ctr">
            <a:normAutofit/>
          </a:bodyPr>
          <a:lstStyle/>
          <a:p>
            <a:pPr algn="r" defTabSz="914400"/>
            <a:r>
              <a:rPr lang="en-US" sz="4100" b="1" kern="1200">
                <a:solidFill>
                  <a:schemeClr val="accent1"/>
                </a:solidFill>
                <a:latin typeface="+mj-lt"/>
                <a:ea typeface="+mj-ea"/>
                <a:cs typeface="+mj-cs"/>
              </a:rPr>
              <a:t>Session Objectives:</a:t>
            </a:r>
          </a:p>
        </p:txBody>
      </p:sp>
      <p:cxnSp>
        <p:nvCxnSpPr>
          <p:cNvPr id="12" name="Straight Connector 11">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FC995A54-2F41-471B-9147-067369117412}"/>
              </a:ext>
            </a:extLst>
          </p:cNvPr>
          <p:cNvSpPr>
            <a:spLocks noGrp="1"/>
          </p:cNvSpPr>
          <p:nvPr>
            <p:ph type="subTitle" idx="1"/>
          </p:nvPr>
        </p:nvSpPr>
        <p:spPr>
          <a:xfrm>
            <a:off x="3732023" y="963877"/>
            <a:ext cx="4783327" cy="4930246"/>
          </a:xfrm>
        </p:spPr>
        <p:txBody>
          <a:bodyPr vert="horz" lIns="91440" tIns="45720" rIns="91440" bIns="45720" rtlCol="0" anchor="ctr">
            <a:normAutofit/>
          </a:bodyPr>
          <a:lstStyle/>
          <a:p>
            <a:pPr marL="257175" indent="-228600" algn="l" defTabSz="914400">
              <a:buFont typeface="Arial" panose="020B0604020202020204" pitchFamily="34" charset="0"/>
              <a:buChar char="•"/>
            </a:pPr>
            <a:r>
              <a:rPr lang="en-US" sz="2100"/>
              <a:t>Provide framework for approaching the activities in the first two Essential Elements of Provider Transformation.</a:t>
            </a:r>
          </a:p>
          <a:p>
            <a:pPr marL="257175" indent="-228600" algn="l" defTabSz="914400">
              <a:buFont typeface="Arial" panose="020B0604020202020204" pitchFamily="34" charset="0"/>
              <a:buChar char="•"/>
            </a:pPr>
            <a:r>
              <a:rPr lang="en-US" sz="2100"/>
              <a:t>Clarify a key, but often missing, component in shaping a culture of excitement, change, inclusion &amp; purpose.</a:t>
            </a:r>
          </a:p>
          <a:p>
            <a:pPr marL="257175" indent="-228600" algn="l" defTabSz="914400">
              <a:buFont typeface="Arial" panose="020B0604020202020204" pitchFamily="34" charset="0"/>
              <a:buChar char="•"/>
            </a:pPr>
            <a:r>
              <a:rPr lang="en-US" sz="2100"/>
              <a:t>Practical examples of false starts, course corrections &amp; lessons learned by PHASE-Industries in its on-going transformation journey.</a:t>
            </a:r>
          </a:p>
          <a:p>
            <a:pPr marL="257175" indent="-228600" algn="l" defTabSz="914400">
              <a:buFont typeface="Arial" panose="020B0604020202020204" pitchFamily="34" charset="0"/>
              <a:buChar char="•"/>
            </a:pPr>
            <a:r>
              <a:rPr lang="en-US" sz="2100"/>
              <a:t>Highlight the call for &amp; role of leadership in transformation.</a:t>
            </a:r>
          </a:p>
          <a:p>
            <a:pPr indent="-228600" algn="l" defTabSz="914400">
              <a:buFont typeface="Arial" panose="020B0604020202020204" pitchFamily="34" charset="0"/>
              <a:buChar char="•"/>
            </a:pPr>
            <a:endParaRPr lang="en-US" sz="2100"/>
          </a:p>
          <a:p>
            <a:pPr marL="257175" indent="-228600" algn="l" defTabSz="914400">
              <a:buFont typeface="Arial" panose="020B0604020202020204" pitchFamily="34" charset="0"/>
              <a:buChar char="•"/>
            </a:pPr>
            <a:endParaRPr lang="en-US" sz="2100"/>
          </a:p>
        </p:txBody>
      </p:sp>
      <p:pic>
        <p:nvPicPr>
          <p:cNvPr id="5" name="Picture 4" descr="Logo&#10;&#10;Description automatically generated with medium confidence">
            <a:extLst>
              <a:ext uri="{FF2B5EF4-FFF2-40B4-BE49-F238E27FC236}">
                <a16:creationId xmlns:a16="http://schemas.microsoft.com/office/drawing/2014/main" id="{4EE3B1FD-094F-ED7A-1B8C-6291C40E3EC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894553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5606" y="418641"/>
            <a:ext cx="4785990" cy="1073539"/>
          </a:xfrm>
        </p:spPr>
        <p:txBody>
          <a:bodyPr>
            <a:noAutofit/>
          </a:bodyPr>
          <a:lstStyle/>
          <a:p>
            <a:pPr algn="ctr"/>
            <a:r>
              <a:rPr lang="en-US" sz="3600" b="1" i="1">
                <a:latin typeface="+mn-lt"/>
                <a:ea typeface="+mn-ea"/>
                <a:cs typeface="+mn-cs"/>
              </a:rPr>
              <a:t>10 Essential Elements</a:t>
            </a:r>
            <a:br>
              <a:rPr lang="en-US" sz="3600" b="1" i="1">
                <a:latin typeface="+mn-lt"/>
                <a:ea typeface="+mn-ea"/>
                <a:cs typeface="+mn-cs"/>
              </a:rPr>
            </a:br>
            <a:r>
              <a:rPr lang="en-US" sz="3600" b="1" i="1">
                <a:latin typeface="+mn-lt"/>
                <a:ea typeface="+mn-ea"/>
                <a:cs typeface="+mn-cs"/>
              </a:rPr>
              <a:t>of Provider Transformation</a:t>
            </a:r>
          </a:p>
        </p:txBody>
      </p:sp>
      <p:sp>
        <p:nvSpPr>
          <p:cNvPr id="5" name="Rectangle 4">
            <a:extLst>
              <a:ext uri="{FF2B5EF4-FFF2-40B4-BE49-F238E27FC236}">
                <a16:creationId xmlns:a16="http://schemas.microsoft.com/office/drawing/2014/main" id="{802614FB-2C09-7E48-A88E-4A6E941BF62B}"/>
              </a:ext>
            </a:extLst>
          </p:cNvPr>
          <p:cNvSpPr/>
          <p:nvPr/>
        </p:nvSpPr>
        <p:spPr>
          <a:xfrm>
            <a:off x="360826" y="751250"/>
            <a:ext cx="3748527" cy="23338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2800" b="1" i="0" u="none" strike="noStrike" kern="1200" cap="none" spc="0" normalizeH="0" baseline="0" noProof="0">
                <a:ln>
                  <a:noFill/>
                </a:ln>
                <a:solidFill>
                  <a:srgbClr val="558ED5"/>
                </a:solidFill>
                <a:effectLst/>
                <a:uLnTx/>
                <a:uFillTx/>
                <a:latin typeface="Candara" panose="020E0502030303020204" pitchFamily="34" charset="0"/>
                <a:ea typeface="+mn-ea"/>
                <a:cs typeface="+mn-cs"/>
              </a:rPr>
              <a:t>Leadership, Focus &amp; Values</a:t>
            </a:r>
          </a:p>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Clear and consistent goals</a:t>
            </a:r>
          </a:p>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Agency culture supports inclusion</a:t>
            </a:r>
          </a:p>
        </p:txBody>
      </p:sp>
      <p:sp>
        <p:nvSpPr>
          <p:cNvPr id="7" name="Rectangle 6">
            <a:extLst>
              <a:ext uri="{FF2B5EF4-FFF2-40B4-BE49-F238E27FC236}">
                <a16:creationId xmlns:a16="http://schemas.microsoft.com/office/drawing/2014/main" id="{0C366866-44B9-3D41-B13D-3CBCE57088DC}"/>
              </a:ext>
            </a:extLst>
          </p:cNvPr>
          <p:cNvSpPr/>
          <p:nvPr/>
        </p:nvSpPr>
        <p:spPr>
          <a:xfrm>
            <a:off x="360827" y="3772899"/>
            <a:ext cx="3748526" cy="28950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2800" b="1" i="0" u="none" strike="noStrike" kern="1200" cap="none" spc="0" normalizeH="0" baseline="0" noProof="0">
                <a:ln>
                  <a:noFill/>
                </a:ln>
                <a:solidFill>
                  <a:srgbClr val="558ED5"/>
                </a:solidFill>
                <a:effectLst/>
                <a:uLnTx/>
                <a:uFillTx/>
                <a:latin typeface="Candara" panose="020E0502030303020204" pitchFamily="34" charset="0"/>
                <a:ea typeface="+mn-ea"/>
                <a:cs typeface="+mn-cs"/>
              </a:rPr>
              <a:t>Infrastructure, Operations &amp; Finance</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Reallocated, restructured resources</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Strong communication plan</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Ongoing staff development</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Performance measurement &amp; QA</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Diverse community partnerships</a:t>
            </a:r>
          </a:p>
        </p:txBody>
      </p:sp>
      <p:sp>
        <p:nvSpPr>
          <p:cNvPr id="8" name="Rectangle 7">
            <a:extLst>
              <a:ext uri="{FF2B5EF4-FFF2-40B4-BE49-F238E27FC236}">
                <a16:creationId xmlns:a16="http://schemas.microsoft.com/office/drawing/2014/main" id="{D29F3F1E-CA9B-4143-872E-BD513DE16557}"/>
              </a:ext>
            </a:extLst>
          </p:cNvPr>
          <p:cNvSpPr/>
          <p:nvPr/>
        </p:nvSpPr>
        <p:spPr>
          <a:xfrm>
            <a:off x="5167582" y="1918176"/>
            <a:ext cx="3453351" cy="34476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2800" b="1" i="0" u="none" strike="noStrike" kern="1200" cap="none" spc="0" normalizeH="0" baseline="0" noProof="0">
                <a:ln>
                  <a:noFill/>
                </a:ln>
                <a:solidFill>
                  <a:srgbClr val="558ED5"/>
                </a:solidFill>
                <a:effectLst/>
                <a:uLnTx/>
                <a:uFillTx/>
                <a:latin typeface="Candara" panose="020E0502030303020204" pitchFamily="34" charset="0"/>
                <a:ea typeface="+mn-ea"/>
                <a:cs typeface="+mn-cs"/>
              </a:rPr>
              <a:t>Employment Practices &amp; Community Life Engagement</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Customer focus &amp; engagement</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A holistic approach</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ndara" panose="020E0502030303020204" pitchFamily="34" charset="0"/>
                <a:ea typeface="+mn-ea"/>
                <a:cs typeface="+mn-cs"/>
              </a:rPr>
              <a:t>Active person-centered job development</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F81BD">
                  <a:lumMod val="75000"/>
                </a:srgbClr>
              </a:solidFill>
              <a:effectLst/>
              <a:uLnTx/>
              <a:uFillTx/>
              <a:latin typeface="Candara" panose="020E0502030303020204" pitchFamily="34" charset="0"/>
              <a:ea typeface="+mn-ea"/>
              <a:cs typeface="+mn-cs"/>
            </a:endParaRPr>
          </a:p>
        </p:txBody>
      </p:sp>
      <p:cxnSp>
        <p:nvCxnSpPr>
          <p:cNvPr id="10" name="Straight Arrow Connector 9">
            <a:extLst>
              <a:ext uri="{FF2B5EF4-FFF2-40B4-BE49-F238E27FC236}">
                <a16:creationId xmlns:a16="http://schemas.microsoft.com/office/drawing/2014/main" id="{33DC9B72-15A3-3B4A-B337-E6788DC3E7C4}"/>
              </a:ext>
            </a:extLst>
          </p:cNvPr>
          <p:cNvCxnSpPr/>
          <p:nvPr/>
        </p:nvCxnSpPr>
        <p:spPr>
          <a:xfrm>
            <a:off x="4205606" y="1918176"/>
            <a:ext cx="770021" cy="748257"/>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56ED5D5-48FC-3F47-87A6-C58DF7290724}"/>
              </a:ext>
            </a:extLst>
          </p:cNvPr>
          <p:cNvCxnSpPr>
            <a:cxnSpLocks/>
          </p:cNvCxnSpPr>
          <p:nvPr/>
        </p:nvCxnSpPr>
        <p:spPr>
          <a:xfrm flipH="1">
            <a:off x="4205606" y="4705044"/>
            <a:ext cx="770021" cy="748257"/>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27821DC-DECB-B24B-95AA-B24A9321DF05}"/>
              </a:ext>
            </a:extLst>
          </p:cNvPr>
          <p:cNvCxnSpPr>
            <a:cxnSpLocks/>
          </p:cNvCxnSpPr>
          <p:nvPr/>
        </p:nvCxnSpPr>
        <p:spPr>
          <a:xfrm>
            <a:off x="2168258" y="3142565"/>
            <a:ext cx="0" cy="572870"/>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 name="Picture 5" descr="Logo&#10;&#10;Description automatically generated with medium confidence">
            <a:extLst>
              <a:ext uri="{FF2B5EF4-FFF2-40B4-BE49-F238E27FC236}">
                <a16:creationId xmlns:a16="http://schemas.microsoft.com/office/drawing/2014/main" id="{031B73D2-E2E3-B4EF-61C2-A142F4DE9DC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
        <p:nvSpPr>
          <p:cNvPr id="3" name="TextBox 2">
            <a:extLst>
              <a:ext uri="{FF2B5EF4-FFF2-40B4-BE49-F238E27FC236}">
                <a16:creationId xmlns:a16="http://schemas.microsoft.com/office/drawing/2014/main" id="{3515A39F-F342-A4EF-B3D4-70CB2CBC7793}"/>
              </a:ext>
            </a:extLst>
          </p:cNvPr>
          <p:cNvSpPr txBox="1"/>
          <p:nvPr/>
        </p:nvSpPr>
        <p:spPr>
          <a:xfrm>
            <a:off x="5374237" y="5497651"/>
            <a:ext cx="360697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cs typeface="Calibri"/>
                <a:hlinkClick r:id="rId4"/>
              </a:rPr>
              <a:t>www.thinkwork.org</a:t>
            </a:r>
            <a:r>
              <a:rPr lang="en-US" dirty="0">
                <a:cs typeface="Calibri"/>
              </a:rPr>
              <a:t> </a:t>
            </a:r>
          </a:p>
        </p:txBody>
      </p:sp>
    </p:spTree>
    <p:extLst>
      <p:ext uri="{BB962C8B-B14F-4D97-AF65-F5344CB8AC3E}">
        <p14:creationId xmlns:p14="http://schemas.microsoft.com/office/powerpoint/2010/main" val="195426186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D2A68B-9C2F-4B9F-AC04-11BC993ED558}"/>
              </a:ext>
            </a:extLst>
          </p:cNvPr>
          <p:cNvSpPr/>
          <p:nvPr/>
        </p:nvSpPr>
        <p:spPr>
          <a:xfrm>
            <a:off x="363397" y="2867985"/>
            <a:ext cx="3267131" cy="17503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342900">
              <a:spcBef>
                <a:spcPts val="450"/>
              </a:spcBef>
              <a:defRPr/>
            </a:pPr>
            <a:r>
              <a:rPr lang="en-US" sz="2000" b="1" dirty="0">
                <a:solidFill>
                  <a:srgbClr val="558ED5"/>
                </a:solidFill>
                <a:latin typeface="Candara"/>
              </a:rPr>
              <a:t>Focus and Values</a:t>
            </a:r>
          </a:p>
          <a:p>
            <a:pPr algn="ctr" defTabSz="342900">
              <a:spcBef>
                <a:spcPts val="450"/>
              </a:spcBef>
              <a:defRPr/>
            </a:pPr>
            <a:r>
              <a:rPr lang="en-US" sz="2000" dirty="0">
                <a:solidFill>
                  <a:schemeClr val="tx1"/>
                </a:solidFill>
                <a:latin typeface="Candara"/>
              </a:rPr>
              <a:t>Element #1: Clear and consistent goals</a:t>
            </a:r>
          </a:p>
          <a:p>
            <a:pPr algn="ctr" defTabSz="342900">
              <a:spcBef>
                <a:spcPts val="450"/>
              </a:spcBef>
              <a:defRPr/>
            </a:pPr>
            <a:r>
              <a:rPr lang="en-US" sz="2000" dirty="0">
                <a:solidFill>
                  <a:schemeClr val="tx1"/>
                </a:solidFill>
                <a:latin typeface="Candara"/>
              </a:rPr>
              <a:t>Element #2: Agency culture supports inclusion</a:t>
            </a:r>
          </a:p>
        </p:txBody>
      </p:sp>
      <p:sp>
        <p:nvSpPr>
          <p:cNvPr id="5" name="TextBox 4">
            <a:extLst>
              <a:ext uri="{FF2B5EF4-FFF2-40B4-BE49-F238E27FC236}">
                <a16:creationId xmlns:a16="http://schemas.microsoft.com/office/drawing/2014/main" id="{A9A4F9E7-11AB-4F9A-B5E3-79252FBABE5F}"/>
              </a:ext>
            </a:extLst>
          </p:cNvPr>
          <p:cNvSpPr txBox="1"/>
          <p:nvPr/>
        </p:nvSpPr>
        <p:spPr>
          <a:xfrm>
            <a:off x="3902575" y="195602"/>
            <a:ext cx="4940289" cy="6555641"/>
          </a:xfrm>
          <a:prstGeom prst="rect">
            <a:avLst/>
          </a:prstGeom>
          <a:noFill/>
          <a:ln>
            <a:solidFill>
              <a:schemeClr val="bg1"/>
            </a:solidFill>
          </a:ln>
        </p:spPr>
        <p:txBody>
          <a:bodyPr wrap="square" lIns="91440" tIns="45720" rIns="91440" bIns="45720" rtlCol="0" anchor="t">
            <a:spAutoFit/>
          </a:bodyPr>
          <a:lstStyle/>
          <a:p>
            <a:pPr marL="213995" indent="-213995">
              <a:buFont typeface="Arial" panose="020B0604020202020204" pitchFamily="34" charset="0"/>
              <a:buChar char="•"/>
            </a:pPr>
            <a:r>
              <a:rPr lang="en-US" sz="2000" b="1" dirty="0">
                <a:solidFill>
                  <a:schemeClr val="accent1">
                    <a:lumMod val="50000"/>
                  </a:schemeClr>
                </a:solidFill>
              </a:rPr>
              <a:t>Revisit Mission &amp; Vision….</a:t>
            </a:r>
            <a:endParaRPr lang="en-US" sz="2000" b="1">
              <a:solidFill>
                <a:schemeClr val="accent1">
                  <a:lumMod val="50000"/>
                </a:schemeClr>
              </a:solidFill>
              <a:cs typeface="Calibri"/>
            </a:endParaRPr>
          </a:p>
          <a:p>
            <a:pPr marL="213995" indent="-213995">
              <a:buFont typeface="Arial" panose="020B0604020202020204" pitchFamily="34" charset="0"/>
              <a:buChar char="•"/>
            </a:pPr>
            <a:r>
              <a:rPr lang="en-US" sz="2000" dirty="0">
                <a:solidFill>
                  <a:schemeClr val="accent1">
                    <a:lumMod val="50000"/>
                  </a:schemeClr>
                </a:solidFill>
              </a:rPr>
              <a:t>First, though, know &amp; articulate </a:t>
            </a:r>
            <a:r>
              <a:rPr lang="en-US" sz="2000" u="sng" dirty="0">
                <a:solidFill>
                  <a:schemeClr val="accent1">
                    <a:lumMod val="50000"/>
                  </a:schemeClr>
                </a:solidFill>
              </a:rPr>
              <a:t>why</a:t>
            </a:r>
            <a:r>
              <a:rPr lang="en-US" sz="2000" dirty="0">
                <a:solidFill>
                  <a:schemeClr val="accent1">
                    <a:lumMod val="50000"/>
                  </a:schemeClr>
                </a:solidFill>
              </a:rPr>
              <a:t> you do, or want to do, what your Mission &amp; Vision lay out.</a:t>
            </a:r>
            <a:endParaRPr lang="en-US" sz="2000">
              <a:solidFill>
                <a:schemeClr val="accent1">
                  <a:lumMod val="50000"/>
                </a:schemeClr>
              </a:solidFill>
              <a:cs typeface="Calibri"/>
            </a:endParaRPr>
          </a:p>
          <a:p>
            <a:pPr marL="556895" lvl="1" indent="-213995">
              <a:buFont typeface="Arial" panose="020B0604020202020204" pitchFamily="34" charset="0"/>
              <a:buChar char="•"/>
            </a:pPr>
            <a:r>
              <a:rPr lang="en-US" sz="2000" dirty="0">
                <a:solidFill>
                  <a:schemeClr val="accent1">
                    <a:lumMod val="50000"/>
                  </a:schemeClr>
                </a:solidFill>
              </a:rPr>
              <a:t>Personally &amp; Organizationally</a:t>
            </a:r>
            <a:endParaRPr lang="en-US" sz="2000">
              <a:solidFill>
                <a:schemeClr val="accent1">
                  <a:lumMod val="50000"/>
                </a:schemeClr>
              </a:solidFill>
              <a:cs typeface="Calibri"/>
            </a:endParaRPr>
          </a:p>
          <a:p>
            <a:pPr marL="556895" lvl="1" indent="-213995">
              <a:buFont typeface="Arial" panose="020B0604020202020204" pitchFamily="34" charset="0"/>
              <a:buChar char="•"/>
            </a:pPr>
            <a:endParaRPr lang="en-US" sz="2000" dirty="0">
              <a:solidFill>
                <a:schemeClr val="accent1">
                  <a:lumMod val="50000"/>
                </a:schemeClr>
              </a:solidFill>
            </a:endParaRPr>
          </a:p>
          <a:p>
            <a:pPr marL="556895" lvl="1" indent="-213995">
              <a:buFont typeface="Arial" panose="020B0604020202020204" pitchFamily="34" charset="0"/>
              <a:buChar char="•"/>
            </a:pPr>
            <a:r>
              <a:rPr lang="en-US" sz="2000" dirty="0">
                <a:solidFill>
                  <a:schemeClr val="accent1">
                    <a:lumMod val="50000"/>
                  </a:schemeClr>
                </a:solidFill>
              </a:rPr>
              <a:t>Informs clarity in values</a:t>
            </a:r>
            <a:endParaRPr lang="en-US" sz="2000">
              <a:solidFill>
                <a:schemeClr val="accent1">
                  <a:lumMod val="50000"/>
                </a:schemeClr>
              </a:solidFill>
              <a:cs typeface="Calibri"/>
            </a:endParaRPr>
          </a:p>
          <a:p>
            <a:pPr marL="556895" lvl="1" indent="-213995">
              <a:buFont typeface="Arial" panose="020B0604020202020204" pitchFamily="34" charset="0"/>
              <a:buChar char="•"/>
            </a:pPr>
            <a:endParaRPr lang="en-US" sz="2000" dirty="0">
              <a:solidFill>
                <a:schemeClr val="accent1">
                  <a:lumMod val="50000"/>
                </a:schemeClr>
              </a:solidFill>
            </a:endParaRPr>
          </a:p>
          <a:p>
            <a:pPr marL="556895" lvl="1" indent="-213995">
              <a:buFont typeface="Arial" panose="020B0604020202020204" pitchFamily="34" charset="0"/>
              <a:buChar char="•"/>
            </a:pPr>
            <a:r>
              <a:rPr lang="en-US" sz="2000" dirty="0">
                <a:solidFill>
                  <a:schemeClr val="accent1">
                    <a:lumMod val="50000"/>
                  </a:schemeClr>
                </a:solidFill>
              </a:rPr>
              <a:t>Creates a lens through which Mission/Vision are crafted, re-crafted &amp; revealed.</a:t>
            </a:r>
            <a:endParaRPr lang="en-US" sz="2000">
              <a:solidFill>
                <a:schemeClr val="accent1">
                  <a:lumMod val="50000"/>
                </a:schemeClr>
              </a:solidFill>
              <a:cs typeface="Calibri"/>
            </a:endParaRPr>
          </a:p>
          <a:p>
            <a:pPr marL="556895" lvl="1" indent="-213995">
              <a:buFont typeface="Arial" panose="020B0604020202020204" pitchFamily="34" charset="0"/>
              <a:buChar char="•"/>
            </a:pPr>
            <a:endParaRPr lang="en-US" sz="2000" dirty="0">
              <a:solidFill>
                <a:schemeClr val="accent1">
                  <a:lumMod val="50000"/>
                </a:schemeClr>
              </a:solidFill>
            </a:endParaRPr>
          </a:p>
          <a:p>
            <a:pPr marL="556895" lvl="1" indent="-213995">
              <a:buFont typeface="Arial" panose="020B0604020202020204" pitchFamily="34" charset="0"/>
              <a:buChar char="•"/>
            </a:pPr>
            <a:r>
              <a:rPr lang="en-US" sz="2000" dirty="0">
                <a:solidFill>
                  <a:schemeClr val="accent1">
                    <a:lumMod val="50000"/>
                  </a:schemeClr>
                </a:solidFill>
              </a:rPr>
              <a:t>Acts as essential building block in shaping the culture of the organization.</a:t>
            </a:r>
            <a:endParaRPr lang="en-US" sz="2000">
              <a:solidFill>
                <a:schemeClr val="accent1">
                  <a:lumMod val="50000"/>
                </a:schemeClr>
              </a:solidFill>
              <a:cs typeface="Calibri"/>
            </a:endParaRPr>
          </a:p>
          <a:p>
            <a:pPr marL="556895" lvl="1" indent="-213995">
              <a:buFont typeface="Arial" panose="020B0604020202020204" pitchFamily="34" charset="0"/>
              <a:buChar char="•"/>
            </a:pPr>
            <a:endParaRPr lang="en-US" sz="2000" dirty="0">
              <a:solidFill>
                <a:schemeClr val="accent1">
                  <a:lumMod val="50000"/>
                </a:schemeClr>
              </a:solidFill>
            </a:endParaRPr>
          </a:p>
          <a:p>
            <a:pPr marL="556895" lvl="1" indent="-213995">
              <a:buFont typeface="Arial" panose="020B0604020202020204" pitchFamily="34" charset="0"/>
              <a:buChar char="•"/>
            </a:pPr>
            <a:r>
              <a:rPr lang="en-US" sz="2000" dirty="0">
                <a:solidFill>
                  <a:schemeClr val="accent1">
                    <a:lumMod val="50000"/>
                  </a:schemeClr>
                </a:solidFill>
              </a:rPr>
              <a:t>Supports development of clear &amp; consistent goals.</a:t>
            </a:r>
            <a:endParaRPr lang="en-US" sz="2000" dirty="0">
              <a:solidFill>
                <a:schemeClr val="accent1">
                  <a:lumMod val="50000"/>
                </a:schemeClr>
              </a:solidFill>
              <a:cs typeface="Calibri"/>
            </a:endParaRPr>
          </a:p>
          <a:p>
            <a:pPr marL="556895" lvl="1" indent="-213995">
              <a:buFont typeface="Arial" panose="020B0604020202020204" pitchFamily="34" charset="0"/>
              <a:buChar char="•"/>
            </a:pPr>
            <a:endParaRPr lang="en-US" sz="2000" dirty="0">
              <a:solidFill>
                <a:schemeClr val="accent1">
                  <a:lumMod val="50000"/>
                </a:schemeClr>
              </a:solidFill>
            </a:endParaRPr>
          </a:p>
          <a:p>
            <a:pPr marL="556895" lvl="1" indent="-213995">
              <a:buFont typeface="Arial" panose="020B0604020202020204" pitchFamily="34" charset="0"/>
              <a:buChar char="•"/>
            </a:pPr>
            <a:r>
              <a:rPr lang="en-US" sz="2000" dirty="0">
                <a:solidFill>
                  <a:schemeClr val="accent1">
                    <a:lumMod val="50000"/>
                  </a:schemeClr>
                </a:solidFill>
              </a:rPr>
              <a:t>Creates workforce alignment, along with a non-threatening exit path for those not aligned.</a:t>
            </a:r>
            <a:endParaRPr lang="en-US" sz="2000" dirty="0">
              <a:solidFill>
                <a:schemeClr val="accent1">
                  <a:lumMod val="50000"/>
                </a:schemeClr>
              </a:solidFill>
              <a:cs typeface="Calibri"/>
            </a:endParaRPr>
          </a:p>
        </p:txBody>
      </p:sp>
      <p:pic>
        <p:nvPicPr>
          <p:cNvPr id="6" name="Picture 5" descr="Logo&#10;&#10;Description automatically generated with medium confidence">
            <a:extLst>
              <a:ext uri="{FF2B5EF4-FFF2-40B4-BE49-F238E27FC236}">
                <a16:creationId xmlns:a16="http://schemas.microsoft.com/office/drawing/2014/main" id="{2A557159-F109-2A3E-83C5-D40827C466D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91459" y="6353863"/>
            <a:ext cx="736237" cy="366280"/>
          </a:xfrm>
          <a:prstGeom prst="rect">
            <a:avLst/>
          </a:prstGeom>
        </p:spPr>
      </p:pic>
      <p:pic>
        <p:nvPicPr>
          <p:cNvPr id="7" name="Picture 7">
            <a:extLst>
              <a:ext uri="{FF2B5EF4-FFF2-40B4-BE49-F238E27FC236}">
                <a16:creationId xmlns:a16="http://schemas.microsoft.com/office/drawing/2014/main" id="{6EDF2E95-56B5-64E8-400E-A276FAA5EB2E}"/>
              </a:ext>
            </a:extLst>
          </p:cNvPr>
          <p:cNvPicPr>
            <a:picLocks noChangeAspect="1"/>
          </p:cNvPicPr>
          <p:nvPr/>
        </p:nvPicPr>
        <p:blipFill>
          <a:blip r:embed="rId3"/>
          <a:stretch>
            <a:fillRect/>
          </a:stretch>
        </p:blipFill>
        <p:spPr>
          <a:xfrm>
            <a:off x="109885" y="4351"/>
            <a:ext cx="3547715" cy="2081074"/>
          </a:xfrm>
          <a:prstGeom prst="rect">
            <a:avLst/>
          </a:prstGeom>
        </p:spPr>
      </p:pic>
    </p:spTree>
    <p:extLst>
      <p:ext uri="{BB962C8B-B14F-4D97-AF65-F5344CB8AC3E}">
        <p14:creationId xmlns:p14="http://schemas.microsoft.com/office/powerpoint/2010/main" val="2361064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95498D3-99EE-49B7-8916-6494185E8B8F}"/>
              </a:ext>
            </a:extLst>
          </p:cNvPr>
          <p:cNvPicPr>
            <a:picLocks noChangeAspect="1"/>
          </p:cNvPicPr>
          <p:nvPr/>
        </p:nvPicPr>
        <p:blipFill>
          <a:blip r:embed="rId2"/>
          <a:stretch>
            <a:fillRect/>
          </a:stretch>
        </p:blipFill>
        <p:spPr>
          <a:xfrm>
            <a:off x="-1" y="871537"/>
            <a:ext cx="7622182" cy="5129213"/>
          </a:xfrm>
          <a:prstGeom prst="rect">
            <a:avLst/>
          </a:prstGeom>
        </p:spPr>
      </p:pic>
      <p:pic>
        <p:nvPicPr>
          <p:cNvPr id="3" name="Picture Placeholder 9">
            <a:extLst>
              <a:ext uri="{FF2B5EF4-FFF2-40B4-BE49-F238E27FC236}">
                <a16:creationId xmlns:a16="http://schemas.microsoft.com/office/drawing/2014/main" id="{5539FB86-B82D-46F0-914E-C0E8E05F9C88}"/>
              </a:ext>
            </a:extLst>
          </p:cNvPr>
          <p:cNvPicPr>
            <a:picLocks noChangeAspect="1"/>
          </p:cNvPicPr>
          <p:nvPr/>
        </p:nvPicPr>
        <p:blipFill>
          <a:blip r:embed="rId3">
            <a:extLst>
              <a:ext uri="{837473B0-CC2E-450A-ABE3-18F120FF3D39}">
                <a1611:picAttrSrcUrl xmlns:a1611="http://schemas.microsoft.com/office/drawing/2016/11/main" r:id="rId4"/>
              </a:ext>
            </a:extLst>
          </a:blip>
          <a:srcRect l="23212" r="23212"/>
          <a:stretch>
            <a:fillRect/>
          </a:stretch>
        </p:blipFill>
        <p:spPr>
          <a:xfrm>
            <a:off x="7639041" y="871537"/>
            <a:ext cx="1504959" cy="4213703"/>
          </a:xfrm>
          <a:prstGeom prst="rect">
            <a:avLst/>
          </a:prstGeom>
        </p:spPr>
      </p:pic>
      <p:pic>
        <p:nvPicPr>
          <p:cNvPr id="5" name="Picture 4" descr="Logo&#10;&#10;Description automatically generated with medium confidence">
            <a:extLst>
              <a:ext uri="{FF2B5EF4-FFF2-40B4-BE49-F238E27FC236}">
                <a16:creationId xmlns:a16="http://schemas.microsoft.com/office/drawing/2014/main" id="{A658765E-FD4B-90DB-99C7-3D045E8791FA}"/>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424176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5646A-6719-47E2-954C-DAB4FC8C9353}"/>
              </a:ext>
            </a:extLst>
          </p:cNvPr>
          <p:cNvSpPr>
            <a:spLocks noGrp="1"/>
          </p:cNvSpPr>
          <p:nvPr>
            <p:ph type="title"/>
          </p:nvPr>
        </p:nvSpPr>
        <p:spPr>
          <a:xfrm>
            <a:off x="629841" y="1131095"/>
            <a:ext cx="7886700" cy="704919"/>
          </a:xfrm>
        </p:spPr>
        <p:txBody>
          <a:bodyPr>
            <a:normAutofit fontScale="90000"/>
          </a:bodyPr>
          <a:lstStyle/>
          <a:p>
            <a:pPr algn="ctr"/>
            <a:br>
              <a:rPr lang="en-US" sz="2700" dirty="0">
                <a:solidFill>
                  <a:schemeClr val="accent5">
                    <a:lumMod val="50000"/>
                  </a:schemeClr>
                </a:solidFill>
              </a:rPr>
            </a:br>
            <a:r>
              <a:rPr lang="en-US" sz="3000" b="1" dirty="0">
                <a:solidFill>
                  <a:schemeClr val="accent5">
                    <a:lumMod val="50000"/>
                  </a:schemeClr>
                </a:solidFill>
              </a:rPr>
              <a:t>A Case for Answering the “Why”</a:t>
            </a:r>
          </a:p>
        </p:txBody>
      </p:sp>
      <p:sp>
        <p:nvSpPr>
          <p:cNvPr id="3" name="Text Placeholder 2">
            <a:extLst>
              <a:ext uri="{FF2B5EF4-FFF2-40B4-BE49-F238E27FC236}">
                <a16:creationId xmlns:a16="http://schemas.microsoft.com/office/drawing/2014/main" id="{5B4C5628-95D3-461C-ADEE-51CBA3AA5BF6}"/>
              </a:ext>
            </a:extLst>
          </p:cNvPr>
          <p:cNvSpPr>
            <a:spLocks noGrp="1"/>
          </p:cNvSpPr>
          <p:nvPr>
            <p:ph type="body" idx="1"/>
          </p:nvPr>
        </p:nvSpPr>
        <p:spPr>
          <a:xfrm>
            <a:off x="629842" y="1977068"/>
            <a:ext cx="3868340" cy="390374"/>
          </a:xfrm>
        </p:spPr>
        <p:txBody>
          <a:bodyPr/>
          <a:lstStyle/>
          <a:p>
            <a:r>
              <a:rPr lang="en-US" dirty="0">
                <a:solidFill>
                  <a:schemeClr val="accent1">
                    <a:lumMod val="50000"/>
                  </a:schemeClr>
                </a:solidFill>
              </a:rPr>
              <a:t>Mission, Vision, Values</a:t>
            </a:r>
          </a:p>
        </p:txBody>
      </p:sp>
      <p:sp>
        <p:nvSpPr>
          <p:cNvPr id="4" name="Content Placeholder 3">
            <a:extLst>
              <a:ext uri="{FF2B5EF4-FFF2-40B4-BE49-F238E27FC236}">
                <a16:creationId xmlns:a16="http://schemas.microsoft.com/office/drawing/2014/main" id="{891E9525-E66B-4542-AA4B-563F393C1A92}"/>
              </a:ext>
            </a:extLst>
          </p:cNvPr>
          <p:cNvSpPr>
            <a:spLocks noGrp="1"/>
          </p:cNvSpPr>
          <p:nvPr>
            <p:ph sz="half" idx="2"/>
          </p:nvPr>
        </p:nvSpPr>
        <p:spPr>
          <a:xfrm>
            <a:off x="629842" y="2380758"/>
            <a:ext cx="3868340" cy="2290439"/>
          </a:xfrm>
        </p:spPr>
        <p:txBody>
          <a:bodyPr>
            <a:normAutofit fontScale="77500" lnSpcReduction="20000"/>
          </a:bodyPr>
          <a:lstStyle/>
          <a:p>
            <a:r>
              <a:rPr lang="en-US" dirty="0">
                <a:solidFill>
                  <a:schemeClr val="accent1">
                    <a:lumMod val="50000"/>
                  </a:schemeClr>
                </a:solidFill>
              </a:rPr>
              <a:t>Mission Statement – Too often include only </a:t>
            </a:r>
            <a:r>
              <a:rPr lang="en-US" u="sng" dirty="0">
                <a:solidFill>
                  <a:schemeClr val="accent1">
                    <a:lumMod val="50000"/>
                  </a:schemeClr>
                </a:solidFill>
              </a:rPr>
              <a:t>what</a:t>
            </a:r>
            <a:r>
              <a:rPr lang="en-US" dirty="0">
                <a:solidFill>
                  <a:schemeClr val="accent1">
                    <a:lumMod val="50000"/>
                  </a:schemeClr>
                </a:solidFill>
              </a:rPr>
              <a:t> you do and </a:t>
            </a:r>
            <a:r>
              <a:rPr lang="en-US" u="sng" dirty="0">
                <a:solidFill>
                  <a:schemeClr val="accent1">
                    <a:lumMod val="50000"/>
                  </a:schemeClr>
                </a:solidFill>
              </a:rPr>
              <a:t>how</a:t>
            </a:r>
            <a:r>
              <a:rPr lang="en-US" dirty="0">
                <a:solidFill>
                  <a:schemeClr val="accent1">
                    <a:lumMod val="50000"/>
                  </a:schemeClr>
                </a:solidFill>
              </a:rPr>
              <a:t> you do it.  Even when </a:t>
            </a:r>
            <a:r>
              <a:rPr lang="en-US" u="sng" dirty="0">
                <a:solidFill>
                  <a:schemeClr val="accent1">
                    <a:lumMod val="50000"/>
                  </a:schemeClr>
                </a:solidFill>
              </a:rPr>
              <a:t>purpose</a:t>
            </a:r>
            <a:r>
              <a:rPr lang="en-US" dirty="0">
                <a:solidFill>
                  <a:schemeClr val="accent1">
                    <a:lumMod val="50000"/>
                  </a:schemeClr>
                </a:solidFill>
              </a:rPr>
              <a:t> statement is included, it can be lackluster and uncompelling.  </a:t>
            </a:r>
          </a:p>
          <a:p>
            <a:r>
              <a:rPr lang="en-US" dirty="0">
                <a:solidFill>
                  <a:schemeClr val="accent1">
                    <a:lumMod val="50000"/>
                  </a:schemeClr>
                </a:solidFill>
              </a:rPr>
              <a:t>Vision Statement – aspirational: the future ideal state the organization wishes to achieve.</a:t>
            </a:r>
          </a:p>
          <a:p>
            <a:r>
              <a:rPr lang="en-US" dirty="0">
                <a:solidFill>
                  <a:schemeClr val="accent1">
                    <a:lumMod val="50000"/>
                  </a:schemeClr>
                </a:solidFill>
              </a:rPr>
              <a:t>Value Statement – principles that guide the organization.  Moral compass.</a:t>
            </a:r>
          </a:p>
        </p:txBody>
      </p:sp>
      <p:sp>
        <p:nvSpPr>
          <p:cNvPr id="5" name="Text Placeholder 4">
            <a:extLst>
              <a:ext uri="{FF2B5EF4-FFF2-40B4-BE49-F238E27FC236}">
                <a16:creationId xmlns:a16="http://schemas.microsoft.com/office/drawing/2014/main" id="{F159C805-AACB-4659-A0E9-8A62A165CEC2}"/>
              </a:ext>
            </a:extLst>
          </p:cNvPr>
          <p:cNvSpPr>
            <a:spLocks noGrp="1"/>
          </p:cNvSpPr>
          <p:nvPr>
            <p:ph type="body" sz="quarter" idx="3"/>
          </p:nvPr>
        </p:nvSpPr>
        <p:spPr>
          <a:xfrm>
            <a:off x="4645820" y="1922935"/>
            <a:ext cx="3887391" cy="390374"/>
          </a:xfrm>
        </p:spPr>
        <p:txBody>
          <a:bodyPr/>
          <a:lstStyle/>
          <a:p>
            <a:r>
              <a:rPr lang="en-US" dirty="0">
                <a:solidFill>
                  <a:schemeClr val="accent1">
                    <a:lumMod val="50000"/>
                  </a:schemeClr>
                </a:solidFill>
              </a:rPr>
              <a:t>Let your “Why” lead the way…</a:t>
            </a:r>
          </a:p>
        </p:txBody>
      </p:sp>
      <p:sp>
        <p:nvSpPr>
          <p:cNvPr id="6" name="Content Placeholder 5">
            <a:extLst>
              <a:ext uri="{FF2B5EF4-FFF2-40B4-BE49-F238E27FC236}">
                <a16:creationId xmlns:a16="http://schemas.microsoft.com/office/drawing/2014/main" id="{9BEE36EA-93B9-467D-88C0-CC5154C777FA}"/>
              </a:ext>
            </a:extLst>
          </p:cNvPr>
          <p:cNvSpPr>
            <a:spLocks noGrp="1"/>
          </p:cNvSpPr>
          <p:nvPr>
            <p:ph sz="quarter" idx="4"/>
          </p:nvPr>
        </p:nvSpPr>
        <p:spPr>
          <a:xfrm>
            <a:off x="4645820" y="2367442"/>
            <a:ext cx="3887391" cy="2991001"/>
          </a:xfrm>
        </p:spPr>
        <p:txBody>
          <a:bodyPr>
            <a:normAutofit fontScale="77500" lnSpcReduction="20000"/>
          </a:bodyPr>
          <a:lstStyle/>
          <a:p>
            <a:r>
              <a:rPr lang="en-US" dirty="0">
                <a:solidFill>
                  <a:schemeClr val="accent1">
                    <a:lumMod val="50000"/>
                  </a:schemeClr>
                </a:solidFill>
              </a:rPr>
              <a:t>Creates a deep, inspirational &amp; ultimately more influential value.</a:t>
            </a:r>
          </a:p>
          <a:p>
            <a:r>
              <a:rPr lang="en-US" dirty="0">
                <a:solidFill>
                  <a:schemeClr val="accent1">
                    <a:lumMod val="50000"/>
                  </a:schemeClr>
                </a:solidFill>
              </a:rPr>
              <a:t>Activate the neural pathways that matter.</a:t>
            </a:r>
          </a:p>
          <a:p>
            <a:r>
              <a:rPr lang="en-US" dirty="0">
                <a:solidFill>
                  <a:schemeClr val="accent1">
                    <a:lumMod val="50000"/>
                  </a:schemeClr>
                </a:solidFill>
              </a:rPr>
              <a:t>Injects passion into our work.</a:t>
            </a:r>
          </a:p>
          <a:p>
            <a:r>
              <a:rPr lang="en-US" dirty="0">
                <a:solidFill>
                  <a:schemeClr val="accent1">
                    <a:lumMod val="50000"/>
                  </a:schemeClr>
                </a:solidFill>
              </a:rPr>
              <a:t>Expresses who we </a:t>
            </a:r>
            <a:r>
              <a:rPr lang="en-US" i="1" dirty="0">
                <a:solidFill>
                  <a:schemeClr val="accent1">
                    <a:lumMod val="50000"/>
                  </a:schemeClr>
                </a:solidFill>
              </a:rPr>
              <a:t>are</a:t>
            </a:r>
            <a:r>
              <a:rPr lang="en-US" dirty="0">
                <a:solidFill>
                  <a:schemeClr val="accent1">
                    <a:lumMod val="50000"/>
                  </a:schemeClr>
                </a:solidFill>
              </a:rPr>
              <a:t> when we are at our natural best.</a:t>
            </a:r>
          </a:p>
          <a:p>
            <a:r>
              <a:rPr lang="en-US" dirty="0">
                <a:solidFill>
                  <a:schemeClr val="accent1">
                    <a:lumMod val="50000"/>
                  </a:schemeClr>
                </a:solidFill>
              </a:rPr>
              <a:t>Simple, clear, actionable, focused on effect you will have, and emotionally (physiologically) fulfilling.</a:t>
            </a:r>
          </a:p>
          <a:p>
            <a:r>
              <a:rPr lang="en-US" dirty="0">
                <a:solidFill>
                  <a:schemeClr val="accent1">
                    <a:lumMod val="50000"/>
                  </a:schemeClr>
                </a:solidFill>
              </a:rPr>
              <a:t>Your “why” will permeate, influence, and become inherent in your Mission, Vision, Values and in every action of your Organization.</a:t>
            </a:r>
          </a:p>
          <a:p>
            <a:endParaRPr lang="en-US" dirty="0"/>
          </a:p>
        </p:txBody>
      </p:sp>
      <p:sp>
        <p:nvSpPr>
          <p:cNvPr id="7" name="TextBox 6">
            <a:extLst>
              <a:ext uri="{FF2B5EF4-FFF2-40B4-BE49-F238E27FC236}">
                <a16:creationId xmlns:a16="http://schemas.microsoft.com/office/drawing/2014/main" id="{6A4ECB66-5534-407C-9001-077DE0B226DF}"/>
              </a:ext>
            </a:extLst>
          </p:cNvPr>
          <p:cNvSpPr txBox="1"/>
          <p:nvPr/>
        </p:nvSpPr>
        <p:spPr>
          <a:xfrm>
            <a:off x="2470212" y="5458102"/>
            <a:ext cx="4381130" cy="300082"/>
          </a:xfrm>
          <a:prstGeom prst="rect">
            <a:avLst/>
          </a:prstGeom>
          <a:noFill/>
          <a:ln>
            <a:solidFill>
              <a:schemeClr val="accent1"/>
            </a:solidFill>
          </a:ln>
        </p:spPr>
        <p:txBody>
          <a:bodyPr wrap="square" rtlCol="0">
            <a:spAutoFit/>
          </a:bodyPr>
          <a:lstStyle/>
          <a:p>
            <a:r>
              <a:rPr lang="en-US" sz="1350" dirty="0">
                <a:solidFill>
                  <a:schemeClr val="accent1">
                    <a:lumMod val="50000"/>
                  </a:schemeClr>
                </a:solidFill>
              </a:rPr>
              <a:t>Some Statements with &amp; without “Why” to consider…</a:t>
            </a:r>
          </a:p>
        </p:txBody>
      </p:sp>
      <p:pic>
        <p:nvPicPr>
          <p:cNvPr id="8" name="Picture 7" descr="Logo&#10;&#10;Description automatically generated with medium confidence">
            <a:extLst>
              <a:ext uri="{FF2B5EF4-FFF2-40B4-BE49-F238E27FC236}">
                <a16:creationId xmlns:a16="http://schemas.microsoft.com/office/drawing/2014/main" id="{EF80FBF9-B905-D7BE-A2CC-579AE27BBEB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996287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562F8-3082-4A25-A021-6AA06213A01C}"/>
              </a:ext>
            </a:extLst>
          </p:cNvPr>
          <p:cNvSpPr>
            <a:spLocks noGrp="1"/>
          </p:cNvSpPr>
          <p:nvPr>
            <p:ph type="title"/>
          </p:nvPr>
        </p:nvSpPr>
        <p:spPr>
          <a:xfrm>
            <a:off x="399495" y="1131095"/>
            <a:ext cx="8609120" cy="831426"/>
          </a:xfrm>
        </p:spPr>
        <p:txBody>
          <a:bodyPr>
            <a:normAutofit/>
          </a:bodyPr>
          <a:lstStyle/>
          <a:p>
            <a:r>
              <a:rPr lang="en-US" sz="2550" b="1" dirty="0">
                <a:solidFill>
                  <a:schemeClr val="accent1">
                    <a:lumMod val="50000"/>
                  </a:schemeClr>
                </a:solidFill>
              </a:rPr>
              <a:t>PHASE-Industries: Lessons Learned in the Transformation Journey</a:t>
            </a:r>
          </a:p>
        </p:txBody>
      </p:sp>
      <p:sp>
        <p:nvSpPr>
          <p:cNvPr id="3" name="TextBox 2">
            <a:extLst>
              <a:ext uri="{FF2B5EF4-FFF2-40B4-BE49-F238E27FC236}">
                <a16:creationId xmlns:a16="http://schemas.microsoft.com/office/drawing/2014/main" id="{3DF2B609-1AC0-4067-807A-61735AC751D8}"/>
              </a:ext>
            </a:extLst>
          </p:cNvPr>
          <p:cNvSpPr txBox="1"/>
          <p:nvPr/>
        </p:nvSpPr>
        <p:spPr>
          <a:xfrm>
            <a:off x="452762" y="1962521"/>
            <a:ext cx="8389398" cy="3624069"/>
          </a:xfrm>
          <a:prstGeom prst="rect">
            <a:avLst/>
          </a:prstGeom>
          <a:noFill/>
        </p:spPr>
        <p:txBody>
          <a:bodyPr wrap="square" rtlCol="0">
            <a:spAutoFit/>
          </a:bodyPr>
          <a:lstStyle/>
          <a:p>
            <a:pPr marL="214313" indent="-214313">
              <a:buFont typeface="Arial" panose="020B0604020202020204" pitchFamily="34" charset="0"/>
              <a:buChar char="•"/>
            </a:pPr>
            <a:r>
              <a:rPr lang="en-US" sz="1350" dirty="0">
                <a:solidFill>
                  <a:schemeClr val="accent1">
                    <a:lumMod val="50000"/>
                  </a:schemeClr>
                </a:solidFill>
              </a:rPr>
              <a:t>Started with “What” and forgot the “Why”</a:t>
            </a:r>
          </a:p>
          <a:p>
            <a:pPr lvl="1"/>
            <a:endParaRPr lang="en-US" sz="1350" dirty="0">
              <a:solidFill>
                <a:schemeClr val="accent1">
                  <a:lumMod val="50000"/>
                </a:schemeClr>
              </a:solidFill>
            </a:endParaRPr>
          </a:p>
          <a:p>
            <a:pPr marL="214313" indent="-214313">
              <a:buFont typeface="Arial" panose="020B0604020202020204" pitchFamily="34" charset="0"/>
              <a:buChar char="•"/>
            </a:pPr>
            <a:r>
              <a:rPr lang="en-US" sz="1350" dirty="0">
                <a:solidFill>
                  <a:schemeClr val="accent1">
                    <a:lumMod val="50000"/>
                  </a:schemeClr>
                </a:solidFill>
              </a:rPr>
              <a:t>Took some time to figure out how to engage the right people, at the right times, with the right questions &amp; format, in a manageable way</a:t>
            </a:r>
          </a:p>
          <a:p>
            <a:endParaRPr lang="en-US" sz="1350" dirty="0">
              <a:solidFill>
                <a:schemeClr val="accent1">
                  <a:lumMod val="50000"/>
                </a:schemeClr>
              </a:solidFill>
            </a:endParaRPr>
          </a:p>
          <a:p>
            <a:pPr marL="214313" indent="-214313">
              <a:buFont typeface="Arial" panose="020B0604020202020204" pitchFamily="34" charset="0"/>
              <a:buChar char="•"/>
            </a:pPr>
            <a:r>
              <a:rPr lang="en-US" sz="1350" dirty="0">
                <a:solidFill>
                  <a:schemeClr val="accent1">
                    <a:lumMod val="50000"/>
                  </a:schemeClr>
                </a:solidFill>
              </a:rPr>
              <a:t>More attention needed to effectively attend to the cycle of: Create clarity </a:t>
            </a:r>
            <a:r>
              <a:rPr lang="en-US" sz="1350" dirty="0">
                <a:solidFill>
                  <a:schemeClr val="accent1">
                    <a:lumMod val="50000"/>
                  </a:schemeClr>
                </a:solidFill>
                <a:sym typeface="Wingdings" panose="05000000000000000000" pitchFamily="2" charset="2"/>
              </a:rPr>
              <a:t> Over-communicate clarity  Check &amp; Reinforce clarity.</a:t>
            </a:r>
          </a:p>
          <a:p>
            <a:endParaRPr lang="en-US" sz="1350" dirty="0">
              <a:solidFill>
                <a:schemeClr val="accent1">
                  <a:lumMod val="50000"/>
                </a:schemeClr>
              </a:solidFill>
              <a:sym typeface="Wingdings" panose="05000000000000000000" pitchFamily="2" charset="2"/>
            </a:endParaRPr>
          </a:p>
          <a:p>
            <a:pPr marL="214313" indent="-214313">
              <a:buFont typeface="Arial" panose="020B0604020202020204" pitchFamily="34" charset="0"/>
              <a:buChar char="•"/>
            </a:pPr>
            <a:r>
              <a:rPr lang="en-US" sz="1350" dirty="0">
                <a:solidFill>
                  <a:schemeClr val="accent1">
                    <a:lumMod val="50000"/>
                  </a:schemeClr>
                </a:solidFill>
                <a:sym typeface="Wingdings" panose="05000000000000000000" pitchFamily="2" charset="2"/>
              </a:rPr>
              <a:t>One act, one decision, one thing at a time—no person, and no organization, functions well in a constant state of frenzy, and confused or unlimited priorities.</a:t>
            </a:r>
          </a:p>
          <a:p>
            <a:endParaRPr lang="en-US" sz="1350" dirty="0">
              <a:solidFill>
                <a:schemeClr val="accent1">
                  <a:lumMod val="50000"/>
                </a:schemeClr>
              </a:solidFill>
              <a:sym typeface="Wingdings" panose="05000000000000000000" pitchFamily="2" charset="2"/>
            </a:endParaRPr>
          </a:p>
          <a:p>
            <a:pPr marL="214313" indent="-214313">
              <a:buFont typeface="Arial" panose="020B0604020202020204" pitchFamily="34" charset="0"/>
              <a:buChar char="•"/>
            </a:pPr>
            <a:r>
              <a:rPr lang="en-US" sz="1350" dirty="0">
                <a:solidFill>
                  <a:schemeClr val="accent1">
                    <a:lumMod val="50000"/>
                  </a:schemeClr>
                </a:solidFill>
                <a:sym typeface="Wingdings" panose="05000000000000000000" pitchFamily="2" charset="2"/>
              </a:rPr>
              <a:t>Addressing some issues specific to small and rural communities.</a:t>
            </a:r>
          </a:p>
          <a:p>
            <a:endParaRPr lang="en-US" sz="1350" dirty="0">
              <a:solidFill>
                <a:schemeClr val="accent1">
                  <a:lumMod val="50000"/>
                </a:schemeClr>
              </a:solidFill>
              <a:sym typeface="Wingdings" panose="05000000000000000000" pitchFamily="2" charset="2"/>
            </a:endParaRPr>
          </a:p>
          <a:p>
            <a:pPr marL="214313" indent="-214313">
              <a:buFont typeface="Arial" panose="020B0604020202020204" pitchFamily="34" charset="0"/>
              <a:buChar char="•"/>
            </a:pPr>
            <a:r>
              <a:rPr lang="en-US" sz="1350" dirty="0">
                <a:solidFill>
                  <a:schemeClr val="accent1">
                    <a:lumMod val="50000"/>
                  </a:schemeClr>
                </a:solidFill>
                <a:sym typeface="Wingdings" panose="05000000000000000000" pitchFamily="2" charset="2"/>
              </a:rPr>
              <a:t>Still learning &amp; correcting course every day!</a:t>
            </a:r>
          </a:p>
          <a:p>
            <a:pPr marL="214313" indent="-214313">
              <a:buFont typeface="Arial" panose="020B0604020202020204" pitchFamily="34" charset="0"/>
              <a:buChar char="•"/>
            </a:pPr>
            <a:endParaRPr lang="en-US" sz="1350" dirty="0">
              <a:solidFill>
                <a:schemeClr val="accent1">
                  <a:lumMod val="50000"/>
                </a:schemeClr>
              </a:solidFill>
              <a:sym typeface="Wingdings" panose="05000000000000000000" pitchFamily="2" charset="2"/>
            </a:endParaRPr>
          </a:p>
          <a:p>
            <a:pPr marL="214313" indent="-214313">
              <a:buFont typeface="Arial" panose="020B0604020202020204" pitchFamily="34" charset="0"/>
              <a:buChar char="•"/>
            </a:pPr>
            <a:endParaRPr lang="en-US" sz="1350" dirty="0">
              <a:solidFill>
                <a:schemeClr val="accent1">
                  <a:lumMod val="50000"/>
                </a:schemeClr>
              </a:solidFill>
              <a:sym typeface="Wingdings" panose="05000000000000000000" pitchFamily="2" charset="2"/>
            </a:endParaRPr>
          </a:p>
          <a:p>
            <a:pPr marL="214313" indent="-214313">
              <a:buFont typeface="Arial" panose="020B0604020202020204" pitchFamily="34" charset="0"/>
              <a:buChar char="•"/>
            </a:pPr>
            <a:endParaRPr lang="en-US" sz="1350" dirty="0">
              <a:solidFill>
                <a:schemeClr val="accent1">
                  <a:lumMod val="50000"/>
                </a:schemeClr>
              </a:solidFill>
            </a:endParaRPr>
          </a:p>
        </p:txBody>
      </p:sp>
      <p:pic>
        <p:nvPicPr>
          <p:cNvPr id="4" name="Picture 3" descr="Logo&#10;&#10;Description automatically generated with medium confidence">
            <a:extLst>
              <a:ext uri="{FF2B5EF4-FFF2-40B4-BE49-F238E27FC236}">
                <a16:creationId xmlns:a16="http://schemas.microsoft.com/office/drawing/2014/main" id="{1266B9C3-CC4E-577D-6210-A5C49FE5203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2333991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562F8-3082-4A25-A021-6AA06213A01C}"/>
              </a:ext>
            </a:extLst>
          </p:cNvPr>
          <p:cNvSpPr>
            <a:spLocks noGrp="1"/>
          </p:cNvSpPr>
          <p:nvPr>
            <p:ph type="title"/>
          </p:nvPr>
        </p:nvSpPr>
        <p:spPr>
          <a:xfrm>
            <a:off x="399495" y="1131095"/>
            <a:ext cx="8609120" cy="831426"/>
          </a:xfrm>
        </p:spPr>
        <p:txBody>
          <a:bodyPr>
            <a:normAutofit/>
          </a:bodyPr>
          <a:lstStyle/>
          <a:p>
            <a:pPr algn="ctr"/>
            <a:r>
              <a:rPr lang="en-US" sz="2550" b="1" dirty="0">
                <a:solidFill>
                  <a:schemeClr val="accent1">
                    <a:lumMod val="50000"/>
                  </a:schemeClr>
                </a:solidFill>
              </a:rPr>
              <a:t>Leadership in Transformation</a:t>
            </a:r>
          </a:p>
        </p:txBody>
      </p:sp>
      <p:sp>
        <p:nvSpPr>
          <p:cNvPr id="3" name="TextBox 2">
            <a:extLst>
              <a:ext uri="{FF2B5EF4-FFF2-40B4-BE49-F238E27FC236}">
                <a16:creationId xmlns:a16="http://schemas.microsoft.com/office/drawing/2014/main" id="{3DF2B609-1AC0-4067-807A-61735AC751D8}"/>
              </a:ext>
            </a:extLst>
          </p:cNvPr>
          <p:cNvSpPr txBox="1"/>
          <p:nvPr/>
        </p:nvSpPr>
        <p:spPr>
          <a:xfrm>
            <a:off x="452762" y="1855841"/>
            <a:ext cx="8389398" cy="5886227"/>
          </a:xfrm>
          <a:prstGeom prst="rect">
            <a:avLst/>
          </a:prstGeom>
          <a:noFill/>
        </p:spPr>
        <p:txBody>
          <a:bodyPr wrap="square" lIns="68580" tIns="34290" rIns="68580" bIns="34290" rtlCol="0" anchor="t">
            <a:spAutoFit/>
          </a:bodyPr>
          <a:lstStyle/>
          <a:p>
            <a:pPr marL="214313" indent="-214313">
              <a:buFont typeface="Arial" panose="020B0604020202020204" pitchFamily="34" charset="0"/>
              <a:buChar char="•"/>
            </a:pPr>
            <a:r>
              <a:rPr lang="en-US" sz="1350" dirty="0">
                <a:solidFill>
                  <a:schemeClr val="accent1">
                    <a:lumMod val="50000"/>
                  </a:schemeClr>
                </a:solidFill>
              </a:rPr>
              <a:t>EVERYONE in the organization is a Leader!</a:t>
            </a:r>
          </a:p>
          <a:p>
            <a:endParaRPr lang="en-US" sz="1350" dirty="0">
              <a:solidFill>
                <a:schemeClr val="accent1">
                  <a:lumMod val="50000"/>
                </a:schemeClr>
              </a:solidFill>
            </a:endParaRPr>
          </a:p>
          <a:p>
            <a:pPr marL="214313" indent="-214313">
              <a:buFont typeface="Arial" panose="020B0604020202020204" pitchFamily="34" charset="0"/>
              <a:buChar char="•"/>
            </a:pPr>
            <a:r>
              <a:rPr lang="en-US" sz="1350" dirty="0">
                <a:solidFill>
                  <a:schemeClr val="accent1">
                    <a:lumMod val="50000"/>
                  </a:schemeClr>
                </a:solidFill>
              </a:rPr>
              <a:t>Leaders inspire, and compel the translation of inspiration into action.</a:t>
            </a:r>
            <a:endParaRPr lang="en-US" sz="1350" dirty="0">
              <a:solidFill>
                <a:schemeClr val="accent1">
                  <a:lumMod val="50000"/>
                </a:schemeClr>
              </a:solidFill>
              <a:ea typeface="Calibri"/>
              <a:cs typeface="Calibri"/>
            </a:endParaRPr>
          </a:p>
          <a:p>
            <a:endParaRPr lang="en-US" sz="1350" dirty="0">
              <a:solidFill>
                <a:schemeClr val="accent1">
                  <a:lumMod val="50000"/>
                </a:schemeClr>
              </a:solidFill>
            </a:endParaRPr>
          </a:p>
          <a:p>
            <a:pPr marL="214313" indent="-214313">
              <a:buFont typeface="Arial" panose="020B0604020202020204" pitchFamily="34" charset="0"/>
              <a:buChar char="•"/>
            </a:pPr>
            <a:r>
              <a:rPr lang="en-US" sz="1350" dirty="0">
                <a:solidFill>
                  <a:schemeClr val="accent1">
                    <a:lumMod val="50000"/>
                  </a:schemeClr>
                </a:solidFill>
              </a:rPr>
              <a:t>Don’t wait for leadership from the positions for groups expected to provide it (Execs, Boards, etc.).  Leaders lead!</a:t>
            </a:r>
            <a:endParaRPr lang="en-US" sz="1350" dirty="0">
              <a:solidFill>
                <a:schemeClr val="accent1">
                  <a:lumMod val="50000"/>
                </a:schemeClr>
              </a:solidFill>
              <a:ea typeface="Calibri"/>
              <a:cs typeface="Calibri"/>
            </a:endParaRPr>
          </a:p>
          <a:p>
            <a:endParaRPr lang="en-US" sz="1350" dirty="0">
              <a:solidFill>
                <a:schemeClr val="accent1">
                  <a:lumMod val="50000"/>
                </a:schemeClr>
              </a:solidFill>
            </a:endParaRPr>
          </a:p>
          <a:p>
            <a:pPr marL="214313" indent="-214313">
              <a:buFont typeface="Arial" panose="020B0604020202020204" pitchFamily="34" charset="0"/>
              <a:buChar char="•"/>
            </a:pPr>
            <a:r>
              <a:rPr lang="en-US" sz="1350" dirty="0">
                <a:solidFill>
                  <a:schemeClr val="accent1">
                    <a:lumMod val="50000"/>
                  </a:schemeClr>
                </a:solidFill>
              </a:rPr>
              <a:t>Balance leading from the “balcony” (big picture/systems thinking) and “in-the-weeds” (day-to-day/operational).</a:t>
            </a:r>
          </a:p>
          <a:p>
            <a:endParaRPr lang="en-US" sz="1350" dirty="0">
              <a:solidFill>
                <a:schemeClr val="accent1">
                  <a:lumMod val="50000"/>
                </a:schemeClr>
              </a:solidFill>
            </a:endParaRPr>
          </a:p>
          <a:p>
            <a:pPr marL="214313" indent="-214313">
              <a:buFont typeface="Arial" panose="020B0604020202020204" pitchFamily="34" charset="0"/>
              <a:buChar char="•"/>
            </a:pPr>
            <a:r>
              <a:rPr lang="en-US" sz="1350" dirty="0">
                <a:solidFill>
                  <a:schemeClr val="accent1">
                    <a:lumMod val="50000"/>
                  </a:schemeClr>
                </a:solidFill>
              </a:rPr>
              <a:t>How do your observations inform your leadership, work and strategy?  How do you collect, process, categorize and use your observations as a leader?</a:t>
            </a:r>
          </a:p>
          <a:p>
            <a:endParaRPr lang="en-US" sz="1350" dirty="0">
              <a:solidFill>
                <a:schemeClr val="accent1">
                  <a:lumMod val="50000"/>
                </a:schemeClr>
              </a:solidFill>
            </a:endParaRPr>
          </a:p>
          <a:p>
            <a:pPr marL="214313" indent="-214313">
              <a:buFont typeface="Arial" panose="020B0604020202020204" pitchFamily="34" charset="0"/>
              <a:buChar char="•"/>
            </a:pPr>
            <a:r>
              <a:rPr lang="en-US" sz="1350" dirty="0">
                <a:solidFill>
                  <a:schemeClr val="accent1">
                    <a:lumMod val="50000"/>
                  </a:schemeClr>
                </a:solidFill>
              </a:rPr>
              <a:t>Have you discovered and articulated your own Why?  If not, perhaps explore Simon Sinek’s book, </a:t>
            </a:r>
            <a:r>
              <a:rPr lang="en-US" sz="1350" u="sng" dirty="0">
                <a:solidFill>
                  <a:schemeClr val="accent1">
                    <a:lumMod val="50000"/>
                  </a:schemeClr>
                </a:solidFill>
                <a:hlinkClick r:id="rId2"/>
              </a:rPr>
              <a:t>Find Your Why</a:t>
            </a:r>
            <a:r>
              <a:rPr lang="en-US" sz="1350" u="sng" dirty="0">
                <a:solidFill>
                  <a:schemeClr val="accent1">
                    <a:lumMod val="50000"/>
                  </a:schemeClr>
                </a:solidFill>
              </a:rPr>
              <a:t>.</a:t>
            </a:r>
            <a:endParaRPr lang="en-US" sz="1350" dirty="0">
              <a:solidFill>
                <a:schemeClr val="accent1">
                  <a:lumMod val="50000"/>
                </a:schemeClr>
              </a:solidFill>
            </a:endParaRPr>
          </a:p>
          <a:p>
            <a:endParaRPr lang="en-US" sz="1350" dirty="0">
              <a:solidFill>
                <a:schemeClr val="accent1">
                  <a:lumMod val="50000"/>
                </a:schemeClr>
              </a:solidFill>
            </a:endParaRPr>
          </a:p>
          <a:p>
            <a:pPr marL="214313" indent="-214313">
              <a:buFont typeface="Arial" panose="020B0604020202020204" pitchFamily="34" charset="0"/>
              <a:buChar char="•"/>
            </a:pPr>
            <a:r>
              <a:rPr lang="en-US" sz="1350" dirty="0">
                <a:solidFill>
                  <a:schemeClr val="accent1">
                    <a:lumMod val="50000"/>
                  </a:schemeClr>
                </a:solidFill>
              </a:rPr>
              <a:t>Everything, every organization &amp; everybody are in a constant transformation.  The choice isn’t whether or not you choose to transform.  Rather, it is about how to interact and shape transformation.</a:t>
            </a:r>
            <a:endParaRPr lang="en-US" sz="1350" dirty="0">
              <a:solidFill>
                <a:schemeClr val="accent1">
                  <a:lumMod val="50000"/>
                </a:schemeClr>
              </a:solidFill>
              <a:ea typeface="Calibri"/>
              <a:cs typeface="Calibri"/>
            </a:endParaRPr>
          </a:p>
          <a:p>
            <a:endParaRPr lang="en-US" sz="1350" dirty="0">
              <a:solidFill>
                <a:schemeClr val="accent1">
                  <a:lumMod val="50000"/>
                </a:schemeClr>
              </a:solidFill>
            </a:endParaRPr>
          </a:p>
          <a:p>
            <a:pPr marL="214313" indent="-214313">
              <a:buFont typeface="Arial" panose="020B0604020202020204" pitchFamily="34" charset="0"/>
              <a:buChar char="•"/>
            </a:pPr>
            <a:r>
              <a:rPr lang="en-US" sz="1350" dirty="0">
                <a:solidFill>
                  <a:schemeClr val="accent1">
                    <a:lumMod val="50000"/>
                  </a:schemeClr>
                </a:solidFill>
              </a:rPr>
              <a:t>Leadership Job #1: always tend to </a:t>
            </a:r>
            <a:r>
              <a:rPr lang="en-US" sz="1350" i="1" u="sng" dirty="0">
                <a:solidFill>
                  <a:schemeClr val="accent1">
                    <a:lumMod val="50000"/>
                  </a:schemeClr>
                </a:solidFill>
              </a:rPr>
              <a:t>organizational culture </a:t>
            </a:r>
            <a:r>
              <a:rPr lang="en-US" sz="1350" dirty="0">
                <a:solidFill>
                  <a:schemeClr val="accent1">
                    <a:lumMod val="50000"/>
                  </a:schemeClr>
                </a:solidFill>
              </a:rPr>
              <a:t>– the collection of values, expectations, and practices that guide and inform the behaviors, interactions &amp; actions of all team members.  Nothing permanent occurs unless the culture permits &amp; reinforces it!</a:t>
            </a:r>
          </a:p>
          <a:p>
            <a:pPr marL="214313" indent="-214313">
              <a:buFont typeface="Arial" panose="020B0604020202020204" pitchFamily="34" charset="0"/>
              <a:buChar char="•"/>
            </a:pPr>
            <a:endParaRPr lang="en-US" sz="1350" dirty="0">
              <a:solidFill>
                <a:schemeClr val="accent1">
                  <a:lumMod val="50000"/>
                </a:schemeClr>
              </a:solidFill>
            </a:endParaRPr>
          </a:p>
          <a:p>
            <a:pPr marL="214313" indent="-214313">
              <a:buFont typeface="Arial" panose="020B0604020202020204" pitchFamily="34" charset="0"/>
              <a:buChar char="•"/>
            </a:pPr>
            <a:endParaRPr lang="en-US" sz="1350" dirty="0">
              <a:solidFill>
                <a:schemeClr val="accent1">
                  <a:lumMod val="50000"/>
                </a:schemeClr>
              </a:solidFill>
            </a:endParaRPr>
          </a:p>
          <a:p>
            <a:pPr marL="214313" indent="-214313">
              <a:buFont typeface="Arial" panose="020B0604020202020204" pitchFamily="34" charset="0"/>
              <a:buChar char="•"/>
            </a:pPr>
            <a:endParaRPr lang="en-US" sz="1350" dirty="0">
              <a:solidFill>
                <a:schemeClr val="accent1">
                  <a:lumMod val="50000"/>
                </a:schemeClr>
              </a:solidFill>
            </a:endParaRPr>
          </a:p>
          <a:p>
            <a:pPr marL="214313" indent="-214313">
              <a:buFont typeface="Arial" panose="020B0604020202020204" pitchFamily="34" charset="0"/>
              <a:buChar char="•"/>
            </a:pPr>
            <a:endParaRPr lang="en-US" sz="1350" dirty="0">
              <a:solidFill>
                <a:schemeClr val="accent1">
                  <a:lumMod val="50000"/>
                </a:schemeClr>
              </a:solidFill>
            </a:endParaRPr>
          </a:p>
          <a:p>
            <a:pPr marL="214313" indent="-214313">
              <a:buFont typeface="Arial" panose="020B0604020202020204" pitchFamily="34" charset="0"/>
              <a:buChar char="•"/>
            </a:pPr>
            <a:endParaRPr lang="en-US" sz="1350" dirty="0">
              <a:solidFill>
                <a:schemeClr val="accent1">
                  <a:lumMod val="50000"/>
                </a:schemeClr>
              </a:solidFill>
            </a:endParaRPr>
          </a:p>
          <a:p>
            <a:pPr marL="214313" indent="-214313">
              <a:buFont typeface="Arial" panose="020B0604020202020204" pitchFamily="34" charset="0"/>
              <a:buChar char="•"/>
            </a:pPr>
            <a:endParaRPr lang="en-US" sz="1350" dirty="0">
              <a:solidFill>
                <a:schemeClr val="accent1">
                  <a:lumMod val="50000"/>
                </a:schemeClr>
              </a:solidFill>
              <a:sym typeface="Wingdings" panose="05000000000000000000" pitchFamily="2" charset="2"/>
            </a:endParaRPr>
          </a:p>
          <a:p>
            <a:pPr marL="214313" indent="-214313">
              <a:buFont typeface="Arial" panose="020B0604020202020204" pitchFamily="34" charset="0"/>
              <a:buChar char="•"/>
            </a:pPr>
            <a:endParaRPr lang="en-US" sz="1350" dirty="0">
              <a:solidFill>
                <a:schemeClr val="accent1">
                  <a:lumMod val="50000"/>
                </a:schemeClr>
              </a:solidFill>
              <a:sym typeface="Wingdings" panose="05000000000000000000" pitchFamily="2" charset="2"/>
            </a:endParaRPr>
          </a:p>
          <a:p>
            <a:pPr marL="214313" indent="-214313">
              <a:buFont typeface="Arial" panose="020B0604020202020204" pitchFamily="34" charset="0"/>
              <a:buChar char="•"/>
            </a:pPr>
            <a:endParaRPr lang="en-US" sz="1350" dirty="0">
              <a:solidFill>
                <a:schemeClr val="accent1">
                  <a:lumMod val="50000"/>
                </a:schemeClr>
              </a:solidFill>
              <a:sym typeface="Wingdings" panose="05000000000000000000" pitchFamily="2" charset="2"/>
            </a:endParaRPr>
          </a:p>
          <a:p>
            <a:pPr marL="214313" indent="-214313">
              <a:buFont typeface="Arial" panose="020B0604020202020204" pitchFamily="34" charset="0"/>
              <a:buChar char="•"/>
            </a:pPr>
            <a:endParaRPr lang="en-US" sz="1350" dirty="0">
              <a:solidFill>
                <a:schemeClr val="accent1">
                  <a:lumMod val="50000"/>
                </a:schemeClr>
              </a:solidFill>
            </a:endParaRPr>
          </a:p>
        </p:txBody>
      </p:sp>
      <p:pic>
        <p:nvPicPr>
          <p:cNvPr id="4" name="Picture 3" descr="Logo&#10;&#10;Description automatically generated with medium confidence">
            <a:extLst>
              <a:ext uri="{FF2B5EF4-FFF2-40B4-BE49-F238E27FC236}">
                <a16:creationId xmlns:a16="http://schemas.microsoft.com/office/drawing/2014/main" id="{EE0C4A19-CC48-DC74-3ACD-FA4349A6CA6D}"/>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2155691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D89DD-2B1D-289D-4EEF-7E8B47DFD130}"/>
              </a:ext>
            </a:extLst>
          </p:cNvPr>
          <p:cNvSpPr>
            <a:spLocks noGrp="1"/>
          </p:cNvSpPr>
          <p:nvPr>
            <p:ph type="ctrTitle"/>
          </p:nvPr>
        </p:nvSpPr>
        <p:spPr/>
        <p:txBody>
          <a:bodyPr/>
          <a:lstStyle/>
          <a:p>
            <a:r>
              <a:rPr lang="en-US" dirty="0"/>
              <a:t>Organizational Transformation</a:t>
            </a:r>
          </a:p>
        </p:txBody>
      </p:sp>
      <p:sp>
        <p:nvSpPr>
          <p:cNvPr id="3" name="Subtitle 2">
            <a:extLst>
              <a:ext uri="{FF2B5EF4-FFF2-40B4-BE49-F238E27FC236}">
                <a16:creationId xmlns:a16="http://schemas.microsoft.com/office/drawing/2014/main" id="{DC30B684-102B-AFD0-60F9-D41B615362C0}"/>
              </a:ext>
            </a:extLst>
          </p:cNvPr>
          <p:cNvSpPr>
            <a:spLocks noGrp="1"/>
          </p:cNvSpPr>
          <p:nvPr>
            <p:ph type="subTitle" idx="1"/>
          </p:nvPr>
        </p:nvSpPr>
        <p:spPr/>
        <p:txBody>
          <a:bodyPr>
            <a:normAutofit/>
          </a:bodyPr>
          <a:lstStyle/>
          <a:p>
            <a:r>
              <a:rPr lang="en-US" i="1" dirty="0">
                <a:latin typeface="Calibri" panose="020F0502020204030204" pitchFamily="34" charset="0"/>
                <a:ea typeface="Calibri" panose="020F0502020204030204" pitchFamily="34" charset="0"/>
                <a:cs typeface="Times New Roman" panose="02020603050405020304" pitchFamily="18" charset="0"/>
              </a:rPr>
              <a:t>Managing Successfully Through Organizational Transformation and Change</a:t>
            </a:r>
          </a:p>
          <a:p>
            <a:r>
              <a:rPr lang="en-US" dirty="0"/>
              <a:t>Tami Reuter, Chief Business &amp; Marketing Officer, MRCI</a:t>
            </a:r>
          </a:p>
          <a:p>
            <a:r>
              <a:rPr lang="en-US" dirty="0"/>
              <a:t>Nate Lotton, Director of Employment &amp; Day Services, MRCI</a:t>
            </a:r>
          </a:p>
        </p:txBody>
      </p:sp>
    </p:spTree>
    <p:extLst>
      <p:ext uri="{BB962C8B-B14F-4D97-AF65-F5344CB8AC3E}">
        <p14:creationId xmlns:p14="http://schemas.microsoft.com/office/powerpoint/2010/main" val="742372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4D839-D768-8587-B9D0-025608DA431C}"/>
              </a:ext>
            </a:extLst>
          </p:cNvPr>
          <p:cNvSpPr>
            <a:spLocks noGrp="1"/>
          </p:cNvSpPr>
          <p:nvPr>
            <p:ph type="title"/>
          </p:nvPr>
        </p:nvSpPr>
        <p:spPr/>
        <p:txBody>
          <a:bodyPr/>
          <a:lstStyle/>
          <a:p>
            <a:r>
              <a:rPr lang="en-US" dirty="0"/>
              <a:t>The MRCI Story</a:t>
            </a:r>
          </a:p>
        </p:txBody>
      </p:sp>
      <p:graphicFrame>
        <p:nvGraphicFramePr>
          <p:cNvPr id="4" name="Content Placeholder 5">
            <a:extLst>
              <a:ext uri="{FF2B5EF4-FFF2-40B4-BE49-F238E27FC236}">
                <a16:creationId xmlns:a16="http://schemas.microsoft.com/office/drawing/2014/main" id="{C467A11E-C935-5CCE-66F7-13C96CF47B47}"/>
              </a:ext>
            </a:extLst>
          </p:cNvPr>
          <p:cNvGraphicFramePr>
            <a:graphicFrameLocks/>
          </p:cNvGraphicFramePr>
          <p:nvPr>
            <p:extLst>
              <p:ext uri="{D42A27DB-BD31-4B8C-83A1-F6EECF244321}">
                <p14:modId xmlns:p14="http://schemas.microsoft.com/office/powerpoint/2010/main" val="1341720324"/>
              </p:ext>
            </p:extLst>
          </p:nvPr>
        </p:nvGraphicFramePr>
        <p:xfrm>
          <a:off x="137618" y="2092903"/>
          <a:ext cx="8408673" cy="27506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76576872-1D04-5606-88D7-19614F350D37}"/>
              </a:ext>
            </a:extLst>
          </p:cNvPr>
          <p:cNvSpPr txBox="1"/>
          <p:nvPr/>
        </p:nvSpPr>
        <p:spPr>
          <a:xfrm>
            <a:off x="4305064" y="2416712"/>
            <a:ext cx="2266121" cy="346249"/>
          </a:xfrm>
          <a:prstGeom prst="rect">
            <a:avLst/>
          </a:prstGeom>
          <a:noFill/>
        </p:spPr>
        <p:txBody>
          <a:bodyPr wrap="square" rtlCol="0">
            <a:spAutoFit/>
          </a:bodyPr>
          <a:lstStyle/>
          <a:p>
            <a:r>
              <a:rPr lang="en-US" sz="1650" b="1" dirty="0">
                <a:solidFill>
                  <a:schemeClr val="accent3"/>
                </a:solidFill>
              </a:rPr>
              <a:t>1953</a:t>
            </a:r>
          </a:p>
        </p:txBody>
      </p:sp>
      <p:sp>
        <p:nvSpPr>
          <p:cNvPr id="6" name="TextBox 5">
            <a:extLst>
              <a:ext uri="{FF2B5EF4-FFF2-40B4-BE49-F238E27FC236}">
                <a16:creationId xmlns:a16="http://schemas.microsoft.com/office/drawing/2014/main" id="{1934ADA9-A238-1067-2869-342CC6B8FE2E}"/>
              </a:ext>
            </a:extLst>
          </p:cNvPr>
          <p:cNvSpPr txBox="1"/>
          <p:nvPr/>
        </p:nvSpPr>
        <p:spPr>
          <a:xfrm>
            <a:off x="4263967" y="4085594"/>
            <a:ext cx="2266121" cy="346249"/>
          </a:xfrm>
          <a:prstGeom prst="rect">
            <a:avLst/>
          </a:prstGeom>
          <a:noFill/>
        </p:spPr>
        <p:txBody>
          <a:bodyPr wrap="square" rtlCol="0">
            <a:spAutoFit/>
          </a:bodyPr>
          <a:lstStyle/>
          <a:p>
            <a:r>
              <a:rPr lang="en-US" sz="1650" b="1" dirty="0">
                <a:solidFill>
                  <a:schemeClr val="accent3"/>
                </a:solidFill>
              </a:rPr>
              <a:t>1980s</a:t>
            </a:r>
          </a:p>
        </p:txBody>
      </p:sp>
      <p:sp>
        <p:nvSpPr>
          <p:cNvPr id="7" name="TextBox 6">
            <a:extLst>
              <a:ext uri="{FF2B5EF4-FFF2-40B4-BE49-F238E27FC236}">
                <a16:creationId xmlns:a16="http://schemas.microsoft.com/office/drawing/2014/main" id="{6157750F-F061-5B4F-96C2-F66773A8A22C}"/>
              </a:ext>
            </a:extLst>
          </p:cNvPr>
          <p:cNvSpPr txBox="1"/>
          <p:nvPr/>
        </p:nvSpPr>
        <p:spPr>
          <a:xfrm>
            <a:off x="3875449" y="3327601"/>
            <a:ext cx="2266121" cy="346249"/>
          </a:xfrm>
          <a:prstGeom prst="rect">
            <a:avLst/>
          </a:prstGeom>
          <a:noFill/>
        </p:spPr>
        <p:txBody>
          <a:bodyPr wrap="square" rtlCol="0">
            <a:spAutoFit/>
          </a:bodyPr>
          <a:lstStyle/>
          <a:p>
            <a:r>
              <a:rPr lang="en-US" sz="1650" b="1" dirty="0">
                <a:solidFill>
                  <a:schemeClr val="accent3"/>
                </a:solidFill>
              </a:rPr>
              <a:t>1960s</a:t>
            </a:r>
          </a:p>
        </p:txBody>
      </p:sp>
      <p:pic>
        <p:nvPicPr>
          <p:cNvPr id="57" name="Picture 56" descr="Logo&#10;&#10;Description automatically generated with medium confidence">
            <a:extLst>
              <a:ext uri="{FF2B5EF4-FFF2-40B4-BE49-F238E27FC236}">
                <a16:creationId xmlns:a16="http://schemas.microsoft.com/office/drawing/2014/main" id="{F1C44C4C-C681-D074-4E61-4DE5B2AB5C98}"/>
              </a:ext>
            </a:extLst>
          </p:cNvPr>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3141611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F60FC261-58BE-0AAF-16F2-8B9D9BE8AA45}"/>
              </a:ext>
            </a:extLst>
          </p:cNvPr>
          <p:cNvSpPr>
            <a:spLocks noGrp="1"/>
          </p:cNvSpPr>
          <p:nvPr>
            <p:ph type="title"/>
          </p:nvPr>
        </p:nvSpPr>
        <p:spPr>
          <a:xfrm>
            <a:off x="489361" y="1894115"/>
            <a:ext cx="2660686" cy="3069771"/>
          </a:xfrm>
        </p:spPr>
        <p:txBody>
          <a:bodyPr anchor="ctr">
            <a:normAutofit/>
          </a:bodyPr>
          <a:lstStyle/>
          <a:p>
            <a:r>
              <a:rPr lang="en-US" sz="3300"/>
              <a:t>The “New” MRCI Menu of Services</a:t>
            </a:r>
          </a:p>
        </p:txBody>
      </p:sp>
      <p:grpSp>
        <p:nvGrpSpPr>
          <p:cNvPr id="11" name="Group 10">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1" y="850900"/>
            <a:ext cx="3575050" cy="5149850"/>
            <a:chOff x="7425267" y="-8467"/>
            <a:chExt cx="4766733" cy="6866467"/>
          </a:xfrm>
        </p:grpSpPr>
        <p:cxnSp>
          <p:nvCxnSpPr>
            <p:cNvPr id="12" name="Straight Connector 11">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90" y="857250"/>
            <a:ext cx="466071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5" name="Content Placeholder 2">
            <a:extLst>
              <a:ext uri="{FF2B5EF4-FFF2-40B4-BE49-F238E27FC236}">
                <a16:creationId xmlns:a16="http://schemas.microsoft.com/office/drawing/2014/main" id="{3BFACAE0-90DE-0902-FA1D-F60BEE89DD6F}"/>
              </a:ext>
            </a:extLst>
          </p:cNvPr>
          <p:cNvGraphicFramePr>
            <a:graphicFrameLocks noGrp="1"/>
          </p:cNvGraphicFramePr>
          <p:nvPr>
            <p:ph idx="1"/>
            <p:extLst>
              <p:ext uri="{D42A27DB-BD31-4B8C-83A1-F6EECF244321}">
                <p14:modId xmlns:p14="http://schemas.microsoft.com/office/powerpoint/2010/main" val="3334418056"/>
              </p:ext>
            </p:extLst>
          </p:nvPr>
        </p:nvGraphicFramePr>
        <p:xfrm>
          <a:off x="3687415" y="1565673"/>
          <a:ext cx="4971603" cy="3734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5" name="Picture 44" descr="Logo&#10;&#10;Description automatically generated with medium confidence">
            <a:extLst>
              <a:ext uri="{FF2B5EF4-FFF2-40B4-BE49-F238E27FC236}">
                <a16:creationId xmlns:a16="http://schemas.microsoft.com/office/drawing/2014/main" id="{50CC65B0-0204-0AFF-8B6E-8D0BC0105E56}"/>
              </a:ext>
            </a:extLst>
          </p:cNvPr>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2454222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3" name="Group 8">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50900"/>
            <a:ext cx="9144000" cy="5149850"/>
            <a:chOff x="0" y="-8467"/>
            <a:chExt cx="12192000" cy="6866467"/>
          </a:xfrm>
        </p:grpSpPr>
        <p:cxnSp>
          <p:nvCxnSpPr>
            <p:cNvPr id="10" name="Straight Connector 9">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Isosceles Triangle 18">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5AD07025-3653-F607-63A3-0A4E5AFB31F1}"/>
              </a:ext>
            </a:extLst>
          </p:cNvPr>
          <p:cNvSpPr>
            <a:spLocks noGrp="1"/>
          </p:cNvSpPr>
          <p:nvPr>
            <p:ph type="title"/>
          </p:nvPr>
        </p:nvSpPr>
        <p:spPr>
          <a:xfrm>
            <a:off x="3563963" y="1816047"/>
            <a:ext cx="4009642" cy="2436848"/>
          </a:xfrm>
        </p:spPr>
        <p:txBody>
          <a:bodyPr vert="horz" lIns="68580" tIns="34290" rIns="68580" bIns="34290" rtlCol="0" anchor="b">
            <a:normAutofit/>
          </a:bodyPr>
          <a:lstStyle/>
          <a:p>
            <a:pPr>
              <a:lnSpc>
                <a:spcPct val="90000"/>
              </a:lnSpc>
            </a:pPr>
            <a:r>
              <a:rPr lang="en-US" sz="1950" dirty="0"/>
              <a:t>Organizational Transformation: Essential elements of successful organizational transformation:</a:t>
            </a:r>
            <a:br>
              <a:rPr lang="en-US" sz="1950" dirty="0"/>
            </a:br>
            <a:r>
              <a:rPr lang="en-US" sz="1950" dirty="0"/>
              <a:t>INTERPRETED to “MRCI Jargon”</a:t>
            </a:r>
            <a:br>
              <a:rPr lang="en-US" sz="1950" dirty="0"/>
            </a:br>
            <a:br>
              <a:rPr lang="en-US" sz="1950" dirty="0"/>
            </a:br>
            <a:endParaRPr lang="en-US" sz="1950" dirty="0"/>
          </a:p>
        </p:txBody>
      </p:sp>
      <p:sp>
        <p:nvSpPr>
          <p:cNvPr id="35" name="Isosceles Triangle 20">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1" y="866775"/>
            <a:ext cx="631947" cy="4249616"/>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36" name="Graphic 5" descr="Hierarchy">
            <a:extLst>
              <a:ext uri="{FF2B5EF4-FFF2-40B4-BE49-F238E27FC236}">
                <a16:creationId xmlns:a16="http://schemas.microsoft.com/office/drawing/2014/main" id="{76BBA3AC-11AC-CF1B-0FA5-5FAEFC2120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453" y="2019854"/>
            <a:ext cx="2824269" cy="2824269"/>
          </a:xfrm>
          <a:prstGeom prst="rect">
            <a:avLst/>
          </a:prstGeom>
        </p:spPr>
      </p:pic>
      <p:pic>
        <p:nvPicPr>
          <p:cNvPr id="4" name="Picture 3" descr="Logo&#10;&#10;Description automatically generated with medium confidence">
            <a:extLst>
              <a:ext uri="{FF2B5EF4-FFF2-40B4-BE49-F238E27FC236}">
                <a16:creationId xmlns:a16="http://schemas.microsoft.com/office/drawing/2014/main" id="{CE954677-B2A3-3FE3-F123-9A6A0D5ECF8D}"/>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1037305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50900"/>
            <a:ext cx="9144000" cy="5149850"/>
            <a:chOff x="0" y="-8467"/>
            <a:chExt cx="12192000" cy="6866467"/>
          </a:xfrm>
        </p:grpSpPr>
        <p:cxnSp>
          <p:nvCxnSpPr>
            <p:cNvPr id="10" name="Straight Connector 9">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5" name="Picture 4" descr="Magnifying glass and question mark">
            <a:extLst>
              <a:ext uri="{FF2B5EF4-FFF2-40B4-BE49-F238E27FC236}">
                <a16:creationId xmlns:a16="http://schemas.microsoft.com/office/drawing/2014/main" id="{351AD227-7817-CFE4-4C4A-8E42974F3294}"/>
              </a:ext>
            </a:extLst>
          </p:cNvPr>
          <p:cNvPicPr>
            <a:picLocks noChangeAspect="1"/>
          </p:cNvPicPr>
          <p:nvPr/>
        </p:nvPicPr>
        <p:blipFill rotWithShape="1">
          <a:blip r:embed="rId3"/>
          <a:srcRect l="30970" r="24781"/>
          <a:stretch/>
        </p:blipFill>
        <p:spPr>
          <a:xfrm>
            <a:off x="15" y="857250"/>
            <a:ext cx="4046205" cy="51435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A285A6E1-5A30-4F33-D8D0-D1D6405FB251}"/>
              </a:ext>
            </a:extLst>
          </p:cNvPr>
          <p:cNvSpPr>
            <a:spLocks noGrp="1"/>
          </p:cNvSpPr>
          <p:nvPr>
            <p:ph type="title"/>
          </p:nvPr>
        </p:nvSpPr>
        <p:spPr>
          <a:xfrm>
            <a:off x="4035423" y="2116249"/>
            <a:ext cx="2915879" cy="1779126"/>
          </a:xfrm>
        </p:spPr>
        <p:txBody>
          <a:bodyPr vert="horz" lIns="68580" tIns="34290" rIns="68580" bIns="34290" rtlCol="0" anchor="b">
            <a:normAutofit/>
          </a:bodyPr>
          <a:lstStyle/>
          <a:p>
            <a:pPr algn="r">
              <a:lnSpc>
                <a:spcPct val="90000"/>
              </a:lnSpc>
            </a:pPr>
            <a:r>
              <a:rPr lang="en-US" sz="4050" dirty="0"/>
              <a:t>Clear and consistent goals</a:t>
            </a:r>
          </a:p>
        </p:txBody>
      </p:sp>
      <p:sp>
        <p:nvSpPr>
          <p:cNvPr id="3" name="Content Placeholder 2">
            <a:extLst>
              <a:ext uri="{FF2B5EF4-FFF2-40B4-BE49-F238E27FC236}">
                <a16:creationId xmlns:a16="http://schemas.microsoft.com/office/drawing/2014/main" id="{116FE083-B1CB-4648-EDC1-99D9A00DE7AE}"/>
              </a:ext>
            </a:extLst>
          </p:cNvPr>
          <p:cNvSpPr>
            <a:spLocks noGrp="1"/>
          </p:cNvSpPr>
          <p:nvPr>
            <p:ph idx="1"/>
          </p:nvPr>
        </p:nvSpPr>
        <p:spPr>
          <a:xfrm>
            <a:off x="3174790" y="3986856"/>
            <a:ext cx="4516799" cy="822674"/>
          </a:xfrm>
        </p:spPr>
        <p:txBody>
          <a:bodyPr vert="horz" lIns="68580" tIns="34290" rIns="68580" bIns="34290" rtlCol="0" anchor="t">
            <a:noAutofit/>
          </a:bodyPr>
          <a:lstStyle/>
          <a:p>
            <a:pPr marL="0" indent="0" algn="r">
              <a:buNone/>
            </a:pPr>
            <a:r>
              <a:rPr lang="en-US" sz="4050" dirty="0">
                <a:solidFill>
                  <a:schemeClr val="tx1">
                    <a:lumMod val="50000"/>
                    <a:lumOff val="50000"/>
                  </a:schemeClr>
                </a:solidFill>
              </a:rPr>
              <a:t>…Explain the Why </a:t>
            </a:r>
            <a:r>
              <a:rPr lang="en-US" sz="3000" dirty="0">
                <a:solidFill>
                  <a:schemeClr val="tx1">
                    <a:lumMod val="50000"/>
                    <a:lumOff val="50000"/>
                  </a:schemeClr>
                </a:solidFill>
              </a:rPr>
              <a:t>(not the How)</a:t>
            </a:r>
          </a:p>
        </p:txBody>
      </p:sp>
      <p:pic>
        <p:nvPicPr>
          <p:cNvPr id="6" name="Picture 5" descr="Logo&#10;&#10;Description automatically generated with medium confidence">
            <a:extLst>
              <a:ext uri="{FF2B5EF4-FFF2-40B4-BE49-F238E27FC236}">
                <a16:creationId xmlns:a16="http://schemas.microsoft.com/office/drawing/2014/main" id="{97D08D60-7140-3F1D-F32B-27C46045F470}"/>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3244314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AA5FC-B951-DC94-CDB3-48DD7D1D85AA}"/>
              </a:ext>
            </a:extLst>
          </p:cNvPr>
          <p:cNvSpPr>
            <a:spLocks noGrp="1"/>
          </p:cNvSpPr>
          <p:nvPr>
            <p:ph type="title"/>
          </p:nvPr>
        </p:nvSpPr>
        <p:spPr/>
        <p:txBody>
          <a:bodyPr/>
          <a:lstStyle/>
          <a:p>
            <a:r>
              <a:rPr lang="en-US" dirty="0"/>
              <a:t>We learned…</a:t>
            </a:r>
          </a:p>
        </p:txBody>
      </p:sp>
      <p:sp>
        <p:nvSpPr>
          <p:cNvPr id="3" name="Content Placeholder 2">
            <a:extLst>
              <a:ext uri="{FF2B5EF4-FFF2-40B4-BE49-F238E27FC236}">
                <a16:creationId xmlns:a16="http://schemas.microsoft.com/office/drawing/2014/main" id="{BD9EAB6F-35FB-240E-4060-F47E58EF15FC}"/>
              </a:ext>
            </a:extLst>
          </p:cNvPr>
          <p:cNvSpPr>
            <a:spLocks noGrp="1"/>
          </p:cNvSpPr>
          <p:nvPr>
            <p:ph idx="1"/>
          </p:nvPr>
        </p:nvSpPr>
        <p:spPr/>
        <p:txBody>
          <a:bodyPr/>
          <a:lstStyle/>
          <a:p>
            <a:r>
              <a:rPr lang="en-US" sz="2100" dirty="0"/>
              <a:t>Have a road map</a:t>
            </a:r>
          </a:p>
          <a:p>
            <a:r>
              <a:rPr lang="en-US" sz="2100" dirty="0"/>
              <a:t>Communicate and </a:t>
            </a:r>
            <a:r>
              <a:rPr lang="en-US" sz="2100" u="sng" dirty="0"/>
              <a:t>explain the </a:t>
            </a:r>
            <a:r>
              <a:rPr lang="en-US" sz="2100" b="1" u="sng" dirty="0"/>
              <a:t>Why</a:t>
            </a:r>
            <a:r>
              <a:rPr lang="en-US" sz="2100" dirty="0"/>
              <a:t>, not the </a:t>
            </a:r>
            <a:r>
              <a:rPr lang="en-US" sz="2100" b="1" dirty="0"/>
              <a:t>How.</a:t>
            </a:r>
          </a:p>
          <a:p>
            <a:r>
              <a:rPr lang="en-US" sz="2100" dirty="0"/>
              <a:t>Empower your teams to create the </a:t>
            </a:r>
            <a:r>
              <a:rPr lang="en-US" sz="2100" b="1" dirty="0"/>
              <a:t>How. </a:t>
            </a:r>
            <a:r>
              <a:rPr lang="en-US" sz="2100" dirty="0"/>
              <a:t>They are your experts.</a:t>
            </a:r>
          </a:p>
          <a:p>
            <a:r>
              <a:rPr lang="en-US" sz="2100" dirty="0"/>
              <a:t>Over communicate, keep all channels open and listen!</a:t>
            </a:r>
          </a:p>
          <a:p>
            <a:pPr marL="0" indent="0">
              <a:buNone/>
            </a:pPr>
            <a:endParaRPr lang="en-US" dirty="0"/>
          </a:p>
        </p:txBody>
      </p:sp>
      <p:pic>
        <p:nvPicPr>
          <p:cNvPr id="5" name="Picture 4" descr="Logo&#10;&#10;Description automatically generated with medium confidence">
            <a:extLst>
              <a:ext uri="{FF2B5EF4-FFF2-40B4-BE49-F238E27FC236}">
                <a16:creationId xmlns:a16="http://schemas.microsoft.com/office/drawing/2014/main" id="{06F7587F-A14A-292B-2654-A4BD0238136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108817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50900"/>
            <a:ext cx="9144000" cy="5149850"/>
            <a:chOff x="0" y="-8467"/>
            <a:chExt cx="12192000" cy="6866467"/>
          </a:xfrm>
        </p:grpSpPr>
        <p:cxnSp>
          <p:nvCxnSpPr>
            <p:cNvPr id="11" name="Straight Connector 10">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96F5A79C-2C22-1D68-7A77-9E1C26030B93}"/>
              </a:ext>
            </a:extLst>
          </p:cNvPr>
          <p:cNvSpPr>
            <a:spLocks noGrp="1"/>
          </p:cNvSpPr>
          <p:nvPr>
            <p:ph type="title"/>
          </p:nvPr>
        </p:nvSpPr>
        <p:spPr>
          <a:xfrm>
            <a:off x="3730753" y="1806236"/>
            <a:ext cx="3224750" cy="2436848"/>
          </a:xfrm>
        </p:spPr>
        <p:txBody>
          <a:bodyPr vert="horz" lIns="68580" tIns="34290" rIns="68580" bIns="34290" rtlCol="0" anchor="b">
            <a:normAutofit/>
          </a:bodyPr>
          <a:lstStyle/>
          <a:p>
            <a:pPr>
              <a:lnSpc>
                <a:spcPct val="90000"/>
              </a:lnSpc>
            </a:pPr>
            <a:r>
              <a:rPr lang="en-US" sz="4050" dirty="0"/>
              <a:t>Agency culture supports inclusion</a:t>
            </a:r>
          </a:p>
        </p:txBody>
      </p:sp>
      <p:sp>
        <p:nvSpPr>
          <p:cNvPr id="3" name="Content Placeholder 2">
            <a:extLst>
              <a:ext uri="{FF2B5EF4-FFF2-40B4-BE49-F238E27FC236}">
                <a16:creationId xmlns:a16="http://schemas.microsoft.com/office/drawing/2014/main" id="{90037413-883D-44F0-AB91-2E7D532A0914}"/>
              </a:ext>
            </a:extLst>
          </p:cNvPr>
          <p:cNvSpPr>
            <a:spLocks noGrp="1"/>
          </p:cNvSpPr>
          <p:nvPr>
            <p:ph idx="1"/>
          </p:nvPr>
        </p:nvSpPr>
        <p:spPr>
          <a:xfrm>
            <a:off x="3730752" y="4243084"/>
            <a:ext cx="3224750" cy="653282"/>
          </a:xfrm>
        </p:spPr>
        <p:txBody>
          <a:bodyPr vert="horz" lIns="68580" tIns="34290" rIns="68580" bIns="34290" rtlCol="0" anchor="t">
            <a:noAutofit/>
          </a:bodyPr>
          <a:lstStyle/>
          <a:p>
            <a:pPr marL="0" indent="0">
              <a:buNone/>
            </a:pPr>
            <a:r>
              <a:rPr lang="en-US" sz="4050" dirty="0">
                <a:solidFill>
                  <a:schemeClr val="tx1">
                    <a:lumMod val="50000"/>
                    <a:lumOff val="50000"/>
                  </a:schemeClr>
                </a:solidFill>
              </a:rPr>
              <a:t>…Change is in our DNA</a:t>
            </a:r>
          </a:p>
        </p:txBody>
      </p:sp>
      <p:sp>
        <p:nvSpPr>
          <p:cNvPr id="22" name="Isosceles Triangle 21">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1" y="866775"/>
            <a:ext cx="631947" cy="4249616"/>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7" name="Graphic 6" descr="DNA">
            <a:extLst>
              <a:ext uri="{FF2B5EF4-FFF2-40B4-BE49-F238E27FC236}">
                <a16:creationId xmlns:a16="http://schemas.microsoft.com/office/drawing/2014/main" id="{14EF380B-0E06-1593-0866-CD6D98F048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453" y="2019854"/>
            <a:ext cx="2824269" cy="2824269"/>
          </a:xfrm>
          <a:prstGeom prst="rect">
            <a:avLst/>
          </a:prstGeom>
        </p:spPr>
      </p:pic>
      <p:pic>
        <p:nvPicPr>
          <p:cNvPr id="5" name="Picture 4" descr="Logo&#10;&#10;Description automatically generated with medium confidence">
            <a:extLst>
              <a:ext uri="{FF2B5EF4-FFF2-40B4-BE49-F238E27FC236}">
                <a16:creationId xmlns:a16="http://schemas.microsoft.com/office/drawing/2014/main" id="{D85E8262-837F-5A37-6D7F-9ED5CA09A94A}"/>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770479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25651-A933-3372-76C0-E3A0BE7F7DA4}"/>
              </a:ext>
            </a:extLst>
          </p:cNvPr>
          <p:cNvSpPr>
            <a:spLocks noGrp="1"/>
          </p:cNvSpPr>
          <p:nvPr>
            <p:ph type="title"/>
          </p:nvPr>
        </p:nvSpPr>
        <p:spPr/>
        <p:txBody>
          <a:bodyPr/>
          <a:lstStyle/>
          <a:p>
            <a:r>
              <a:rPr lang="en-US" dirty="0"/>
              <a:t>We learned…</a:t>
            </a:r>
          </a:p>
        </p:txBody>
      </p:sp>
      <p:sp>
        <p:nvSpPr>
          <p:cNvPr id="3" name="Content Placeholder 2">
            <a:extLst>
              <a:ext uri="{FF2B5EF4-FFF2-40B4-BE49-F238E27FC236}">
                <a16:creationId xmlns:a16="http://schemas.microsoft.com/office/drawing/2014/main" id="{8E929131-E1A3-5ED8-CEDF-C0B7334E4F9D}"/>
              </a:ext>
            </a:extLst>
          </p:cNvPr>
          <p:cNvSpPr>
            <a:spLocks noGrp="1"/>
          </p:cNvSpPr>
          <p:nvPr>
            <p:ph idx="1"/>
          </p:nvPr>
        </p:nvSpPr>
        <p:spPr/>
        <p:txBody>
          <a:bodyPr>
            <a:normAutofit/>
          </a:bodyPr>
          <a:lstStyle/>
          <a:p>
            <a:endParaRPr lang="en-US" dirty="0"/>
          </a:p>
          <a:p>
            <a:r>
              <a:rPr lang="en-US" dirty="0"/>
              <a:t>Culture Before Strategy: Create a Culture Where </a:t>
            </a:r>
            <a:r>
              <a:rPr lang="en-US" u="sng" dirty="0"/>
              <a:t>Change is Normal </a:t>
            </a:r>
            <a:r>
              <a:rPr lang="en-US" dirty="0"/>
              <a:t>and Expected</a:t>
            </a:r>
          </a:p>
          <a:p>
            <a:endParaRPr lang="en-US" dirty="0"/>
          </a:p>
          <a:p>
            <a:r>
              <a:rPr lang="en-US" dirty="0"/>
              <a:t>Who are your leaders and how do they react to change?</a:t>
            </a:r>
          </a:p>
          <a:p>
            <a:endParaRPr lang="en-US" dirty="0"/>
          </a:p>
          <a:p>
            <a:r>
              <a:rPr lang="en-US" u="sng" dirty="0"/>
              <a:t>Flip your organizational chart to support innovation</a:t>
            </a:r>
            <a:r>
              <a:rPr lang="en-US" dirty="0"/>
              <a:t>.</a:t>
            </a:r>
          </a:p>
          <a:p>
            <a:r>
              <a:rPr lang="en-US" dirty="0"/>
              <a:t>Who has the best ideas in your organization? </a:t>
            </a:r>
          </a:p>
          <a:p>
            <a:r>
              <a:rPr lang="en-US" dirty="0"/>
              <a:t>Do people in your organization have permission to experiment, try new things and share with others?</a:t>
            </a:r>
          </a:p>
          <a:p>
            <a:r>
              <a:rPr lang="en-US" dirty="0"/>
              <a:t>How are you celebrating new ideas and rewarding innovation?</a:t>
            </a:r>
          </a:p>
          <a:p>
            <a:endParaRPr lang="en-US" dirty="0"/>
          </a:p>
        </p:txBody>
      </p:sp>
      <p:pic>
        <p:nvPicPr>
          <p:cNvPr id="5" name="Picture 4" descr="Logo&#10;&#10;Description automatically generated with medium confidence">
            <a:extLst>
              <a:ext uri="{FF2B5EF4-FFF2-40B4-BE49-F238E27FC236}">
                <a16:creationId xmlns:a16="http://schemas.microsoft.com/office/drawing/2014/main" id="{086B1AE5-8D21-2AC8-8084-26D85C2F65DD}"/>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2782604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 name="Group 7">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50900"/>
            <a:ext cx="9144000" cy="5149850"/>
            <a:chOff x="0" y="-8467"/>
            <a:chExt cx="12192000" cy="6866467"/>
          </a:xfrm>
        </p:grpSpPr>
        <p:cxnSp>
          <p:nvCxnSpPr>
            <p:cNvPr id="9" name="Straight Connector 8">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41" name="Rectangle 19">
            <a:extLst>
              <a:ext uri="{FF2B5EF4-FFF2-40B4-BE49-F238E27FC236}">
                <a16:creationId xmlns:a16="http://schemas.microsoft.com/office/drawing/2014/main" id="{DD6BC9EB-F181-48AB-BCA2-3D1DB20D2D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1"/>
            <a:ext cx="9144000" cy="5149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A9264339-EC80-741F-B592-3E4C3532CBC1}"/>
              </a:ext>
            </a:extLst>
          </p:cNvPr>
          <p:cNvSpPr>
            <a:spLocks noGrp="1"/>
          </p:cNvSpPr>
          <p:nvPr>
            <p:ph type="title"/>
          </p:nvPr>
        </p:nvSpPr>
        <p:spPr>
          <a:xfrm>
            <a:off x="1130300" y="1606845"/>
            <a:ext cx="4273550" cy="3359889"/>
          </a:xfrm>
        </p:spPr>
        <p:txBody>
          <a:bodyPr vert="horz" lIns="68580" tIns="34290" rIns="68580" bIns="34290" rtlCol="0" anchor="ctr">
            <a:normAutofit/>
          </a:bodyPr>
          <a:lstStyle/>
          <a:p>
            <a:pPr algn="r"/>
            <a:r>
              <a:rPr lang="en-US" sz="4050" dirty="0"/>
              <a:t>An active, person-centered job placement process</a:t>
            </a:r>
          </a:p>
        </p:txBody>
      </p:sp>
      <p:sp>
        <p:nvSpPr>
          <p:cNvPr id="3" name="Content Placeholder 2">
            <a:extLst>
              <a:ext uri="{FF2B5EF4-FFF2-40B4-BE49-F238E27FC236}">
                <a16:creationId xmlns:a16="http://schemas.microsoft.com/office/drawing/2014/main" id="{D336048E-79F4-BCF7-5D60-A7195784FE82}"/>
              </a:ext>
            </a:extLst>
          </p:cNvPr>
          <p:cNvSpPr>
            <a:spLocks noGrp="1"/>
          </p:cNvSpPr>
          <p:nvPr>
            <p:ph idx="1"/>
          </p:nvPr>
        </p:nvSpPr>
        <p:spPr>
          <a:xfrm>
            <a:off x="5903978" y="1606845"/>
            <a:ext cx="3237637" cy="3359889"/>
          </a:xfrm>
        </p:spPr>
        <p:txBody>
          <a:bodyPr vert="horz" lIns="68580" tIns="34290" rIns="68580" bIns="34290" rtlCol="0" anchor="ctr">
            <a:normAutofit/>
          </a:bodyPr>
          <a:lstStyle/>
          <a:p>
            <a:pPr marL="0" indent="0">
              <a:buNone/>
            </a:pPr>
            <a:r>
              <a:rPr lang="en-US" sz="4050" dirty="0">
                <a:solidFill>
                  <a:schemeClr val="tx1">
                    <a:lumMod val="50000"/>
                    <a:lumOff val="50000"/>
                  </a:schemeClr>
                </a:solidFill>
              </a:rPr>
              <a:t>…Challenge the barriers!  </a:t>
            </a:r>
          </a:p>
        </p:txBody>
      </p:sp>
      <p:sp>
        <p:nvSpPr>
          <p:cNvPr id="42" name="Isosceles Triangle 21">
            <a:extLst>
              <a:ext uri="{FF2B5EF4-FFF2-40B4-BE49-F238E27FC236}">
                <a16:creationId xmlns:a16="http://schemas.microsoft.com/office/drawing/2014/main" id="{D33AAA80-39DC-4020-9BFF-0718F35C7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857250"/>
            <a:ext cx="631947" cy="4249616"/>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43" name="Straight Connector 23">
            <a:extLst>
              <a:ext uri="{FF2B5EF4-FFF2-40B4-BE49-F238E27FC236}">
                <a16:creationId xmlns:a16="http://schemas.microsoft.com/office/drawing/2014/main" id="{C9C5D90B-7EE3-4D26-AB7D-A5A3A6E112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0992" y="2086640"/>
            <a:ext cx="0" cy="2400300"/>
          </a:xfrm>
          <a:prstGeom prst="line">
            <a:avLst/>
          </a:prstGeom>
        </p:spPr>
        <p:style>
          <a:lnRef idx="1">
            <a:schemeClr val="accent1"/>
          </a:lnRef>
          <a:fillRef idx="0">
            <a:schemeClr val="accent1"/>
          </a:fillRef>
          <a:effectRef idx="0">
            <a:schemeClr val="accent1"/>
          </a:effectRef>
          <a:fontRef idx="minor">
            <a:schemeClr val="tx1"/>
          </a:fontRef>
        </p:style>
      </p:cxnSp>
      <p:sp>
        <p:nvSpPr>
          <p:cNvPr id="44" name="Isosceles Triangle 25">
            <a:extLst>
              <a:ext uri="{FF2B5EF4-FFF2-40B4-BE49-F238E27FC236}">
                <a16:creationId xmlns:a16="http://schemas.microsoft.com/office/drawing/2014/main" id="{1177F295-741F-4EFF-B0CA-BE69295AD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flipV="1">
            <a:off x="8512053" y="1770567"/>
            <a:ext cx="631947" cy="4249616"/>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5" name="Picture 4" descr="Logo&#10;&#10;Description automatically generated with medium confidence">
            <a:extLst>
              <a:ext uri="{FF2B5EF4-FFF2-40B4-BE49-F238E27FC236}">
                <a16:creationId xmlns:a16="http://schemas.microsoft.com/office/drawing/2014/main" id="{41E6020E-5863-8A76-A987-EE7103CED369}"/>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747645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90710-D9DD-4002-0E70-51127460BB90}"/>
              </a:ext>
            </a:extLst>
          </p:cNvPr>
          <p:cNvSpPr>
            <a:spLocks noGrp="1"/>
          </p:cNvSpPr>
          <p:nvPr>
            <p:ph type="title"/>
          </p:nvPr>
        </p:nvSpPr>
        <p:spPr/>
        <p:txBody>
          <a:bodyPr/>
          <a:lstStyle/>
          <a:p>
            <a:r>
              <a:rPr lang="en-US" dirty="0"/>
              <a:t>We Learned…</a:t>
            </a:r>
          </a:p>
        </p:txBody>
      </p:sp>
      <p:sp>
        <p:nvSpPr>
          <p:cNvPr id="3" name="Content Placeholder 2">
            <a:extLst>
              <a:ext uri="{FF2B5EF4-FFF2-40B4-BE49-F238E27FC236}">
                <a16:creationId xmlns:a16="http://schemas.microsoft.com/office/drawing/2014/main" id="{F5CEC91C-5AF7-6EC1-C555-9E8323062997}"/>
              </a:ext>
            </a:extLst>
          </p:cNvPr>
          <p:cNvSpPr>
            <a:spLocks noGrp="1"/>
          </p:cNvSpPr>
          <p:nvPr>
            <p:ph idx="1"/>
          </p:nvPr>
        </p:nvSpPr>
        <p:spPr/>
        <p:txBody>
          <a:bodyPr>
            <a:normAutofit/>
          </a:bodyPr>
          <a:lstStyle/>
          <a:p>
            <a:pPr marL="128588" indent="-128588" defTabSz="685800">
              <a:spcBef>
                <a:spcPts val="0"/>
              </a:spcBef>
              <a:buClrTx/>
              <a:buSzTx/>
              <a:buFont typeface="Arial" panose="020B0604020202020204" pitchFamily="34" charset="0"/>
              <a:buChar char="•"/>
              <a:defRPr/>
            </a:pPr>
            <a:r>
              <a:rPr lang="en-US" sz="3300" dirty="0"/>
              <a:t>Have the right people in the right seats.</a:t>
            </a:r>
          </a:p>
          <a:p>
            <a:pPr marL="128588" indent="-128588" defTabSz="685800">
              <a:spcBef>
                <a:spcPts val="0"/>
              </a:spcBef>
              <a:buClrTx/>
              <a:buSzTx/>
              <a:buFont typeface="Arial" panose="020B0604020202020204" pitchFamily="34" charset="0"/>
              <a:buChar char="•"/>
              <a:defRPr/>
            </a:pPr>
            <a:r>
              <a:rPr lang="en-US" sz="3300" dirty="0"/>
              <a:t>Momentum is exciting</a:t>
            </a:r>
          </a:p>
          <a:p>
            <a:pPr marL="128588" indent="-128588" defTabSz="685800">
              <a:spcBef>
                <a:spcPts val="0"/>
              </a:spcBef>
              <a:buClrTx/>
              <a:buSzTx/>
              <a:buFont typeface="Arial" panose="020B0604020202020204" pitchFamily="34" charset="0"/>
              <a:buChar char="•"/>
              <a:defRPr/>
            </a:pPr>
            <a:r>
              <a:rPr lang="en-US" sz="3300" dirty="0"/>
              <a:t>Have Courage</a:t>
            </a:r>
          </a:p>
        </p:txBody>
      </p:sp>
      <p:pic>
        <p:nvPicPr>
          <p:cNvPr id="5" name="Picture 4" descr="Logo&#10;&#10;Description automatically generated with medium confidence">
            <a:extLst>
              <a:ext uri="{FF2B5EF4-FFF2-40B4-BE49-F238E27FC236}">
                <a16:creationId xmlns:a16="http://schemas.microsoft.com/office/drawing/2014/main" id="{75BAE3BF-EAAF-80DF-CCF9-15FEB8545015}"/>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839964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50900"/>
            <a:ext cx="9144000" cy="5149850"/>
            <a:chOff x="0" y="-8467"/>
            <a:chExt cx="12192000" cy="6866467"/>
          </a:xfrm>
        </p:grpSpPr>
        <p:cxnSp>
          <p:nvCxnSpPr>
            <p:cNvPr id="11" name="Straight Connector 10">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A9264339-EC80-741F-B592-3E4C3532CBC1}"/>
              </a:ext>
            </a:extLst>
          </p:cNvPr>
          <p:cNvSpPr>
            <a:spLocks noGrp="1"/>
          </p:cNvSpPr>
          <p:nvPr>
            <p:ph type="title"/>
          </p:nvPr>
        </p:nvSpPr>
        <p:spPr>
          <a:xfrm>
            <a:off x="3730753" y="1806236"/>
            <a:ext cx="3224750" cy="2436848"/>
          </a:xfrm>
        </p:spPr>
        <p:txBody>
          <a:bodyPr vert="horz" lIns="68580" tIns="34290" rIns="68580" bIns="34290" rtlCol="0" anchor="b">
            <a:normAutofit/>
          </a:bodyPr>
          <a:lstStyle/>
          <a:p>
            <a:pPr>
              <a:lnSpc>
                <a:spcPct val="90000"/>
              </a:lnSpc>
            </a:pPr>
            <a:r>
              <a:rPr lang="en-US" sz="3450" dirty="0"/>
              <a:t>A Strong Internal and External Communication Plan</a:t>
            </a:r>
          </a:p>
        </p:txBody>
      </p:sp>
      <p:sp>
        <p:nvSpPr>
          <p:cNvPr id="3" name="Content Placeholder 2">
            <a:extLst>
              <a:ext uri="{FF2B5EF4-FFF2-40B4-BE49-F238E27FC236}">
                <a16:creationId xmlns:a16="http://schemas.microsoft.com/office/drawing/2014/main" id="{D336048E-79F4-BCF7-5D60-A7195784FE82}"/>
              </a:ext>
            </a:extLst>
          </p:cNvPr>
          <p:cNvSpPr>
            <a:spLocks noGrp="1"/>
          </p:cNvSpPr>
          <p:nvPr>
            <p:ph idx="1"/>
          </p:nvPr>
        </p:nvSpPr>
        <p:spPr>
          <a:xfrm>
            <a:off x="3730752" y="4243084"/>
            <a:ext cx="3224750" cy="653282"/>
          </a:xfrm>
        </p:spPr>
        <p:txBody>
          <a:bodyPr vert="horz" lIns="68580" tIns="34290" rIns="68580" bIns="34290" rtlCol="0" anchor="t">
            <a:normAutofit/>
          </a:bodyPr>
          <a:lstStyle/>
          <a:p>
            <a:pPr marL="0" indent="0">
              <a:buNone/>
            </a:pPr>
            <a:r>
              <a:rPr lang="en-US">
                <a:solidFill>
                  <a:schemeClr val="tx1">
                    <a:lumMod val="50000"/>
                    <a:lumOff val="50000"/>
                  </a:schemeClr>
                </a:solidFill>
              </a:rPr>
              <a:t> </a:t>
            </a:r>
          </a:p>
        </p:txBody>
      </p:sp>
      <p:sp>
        <p:nvSpPr>
          <p:cNvPr id="22" name="Isosceles Triangle 21">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1" y="866775"/>
            <a:ext cx="631947" cy="4249616"/>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7" name="Graphic 6" descr="Checkmark">
            <a:extLst>
              <a:ext uri="{FF2B5EF4-FFF2-40B4-BE49-F238E27FC236}">
                <a16:creationId xmlns:a16="http://schemas.microsoft.com/office/drawing/2014/main" id="{EB7593BA-2592-6FC5-49A9-E5F2D002EB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453" y="2019854"/>
            <a:ext cx="2824269" cy="2824269"/>
          </a:xfrm>
          <a:prstGeom prst="rect">
            <a:avLst/>
          </a:prstGeom>
        </p:spPr>
      </p:pic>
      <p:pic>
        <p:nvPicPr>
          <p:cNvPr id="5" name="Picture 4" descr="Logo&#10;&#10;Description automatically generated with medium confidence">
            <a:extLst>
              <a:ext uri="{FF2B5EF4-FFF2-40B4-BE49-F238E27FC236}">
                <a16:creationId xmlns:a16="http://schemas.microsoft.com/office/drawing/2014/main" id="{4914E408-DC6F-957E-F30F-43B06D4DA783}"/>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1045301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B00884AF-C825-676C-1F26-CDE6CB9C7B7D}"/>
              </a:ext>
            </a:extLst>
          </p:cNvPr>
          <p:cNvSpPr>
            <a:spLocks noGrp="1"/>
          </p:cNvSpPr>
          <p:nvPr>
            <p:ph type="title"/>
          </p:nvPr>
        </p:nvSpPr>
        <p:spPr>
          <a:xfrm>
            <a:off x="965200" y="1314450"/>
            <a:ext cx="7648121" cy="824593"/>
          </a:xfrm>
        </p:spPr>
        <p:txBody>
          <a:bodyPr>
            <a:normAutofit/>
          </a:bodyPr>
          <a:lstStyle/>
          <a:p>
            <a:r>
              <a:rPr lang="en-US" b="0" i="0" dirty="0">
                <a:effectLst/>
                <a:latin typeface="Arial" panose="020B0604020202020204" pitchFamily="34" charset="0"/>
              </a:rPr>
              <a:t>Communicate expectations often and to all</a:t>
            </a:r>
            <a:endParaRPr lang="en-US" dirty="0"/>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857250"/>
            <a:ext cx="631947" cy="4249616"/>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1" y="3867150"/>
            <a:ext cx="336550" cy="21336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2FC83B58-6298-167B-CBE3-635FF8E95571}"/>
              </a:ext>
            </a:extLst>
          </p:cNvPr>
          <p:cNvGraphicFramePr>
            <a:graphicFrameLocks noGrp="1"/>
          </p:cNvGraphicFramePr>
          <p:nvPr>
            <p:ph idx="1"/>
            <p:extLst>
              <p:ext uri="{D42A27DB-BD31-4B8C-83A1-F6EECF244321}">
                <p14:modId xmlns:p14="http://schemas.microsoft.com/office/powerpoint/2010/main" val="3378700599"/>
              </p:ext>
            </p:extLst>
          </p:nvPr>
        </p:nvGraphicFramePr>
        <p:xfrm>
          <a:off x="965200" y="2318657"/>
          <a:ext cx="7213600" cy="3070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6" name="Picture 35" descr="Logo&#10;&#10;Description automatically generated with medium confidence">
            <a:extLst>
              <a:ext uri="{FF2B5EF4-FFF2-40B4-BE49-F238E27FC236}">
                <a16:creationId xmlns:a16="http://schemas.microsoft.com/office/drawing/2014/main" id="{7C3F7595-3E7E-30B4-70C7-91A019200A61}"/>
              </a:ext>
            </a:extLst>
          </p:cNvPr>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4122754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50900"/>
            <a:ext cx="9144000" cy="5149850"/>
            <a:chOff x="0" y="-8467"/>
            <a:chExt cx="12192000" cy="6866467"/>
          </a:xfrm>
        </p:grpSpPr>
        <p:cxnSp>
          <p:nvCxnSpPr>
            <p:cNvPr id="9" name="Straight Connector 8">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0ADFFC45-3DC9-4433-926F-043E879D9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2" name="Group 21">
            <a:extLst>
              <a:ext uri="{FF2B5EF4-FFF2-40B4-BE49-F238E27FC236}">
                <a16:creationId xmlns:a16="http://schemas.microsoft.com/office/drawing/2014/main" id="{B5F26A87-0610-435F-AA13-BD658385C9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00422" y="850900"/>
            <a:ext cx="3572669" cy="5149850"/>
            <a:chOff x="67175" y="-8467"/>
            <a:chExt cx="4763558" cy="6866467"/>
          </a:xfrm>
        </p:grpSpPr>
        <p:cxnSp>
          <p:nvCxnSpPr>
            <p:cNvPr id="23" name="Straight Connector 22">
              <a:extLst>
                <a:ext uri="{FF2B5EF4-FFF2-40B4-BE49-F238E27FC236}">
                  <a16:creationId xmlns:a16="http://schemas.microsoft.com/office/drawing/2014/main" id="{E6321436-5AAD-4FB6-BB0D-316D4540E8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1448300"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4B0BD33-3D46-4F43-947A-825DFEF6106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67175"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92E26C27-E1F5-47DC-9F83-469D196C5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58764"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95F944E7-2B4E-4AE2-B4DB-846FF8AE0B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80730"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FF14952D-390F-46CC-B302-73DDD9C4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9621"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867CDE55-B22A-40D0-882A-9452919EE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11788"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a:extLst>
                <a:ext uri="{FF2B5EF4-FFF2-40B4-BE49-F238E27FC236}">
                  <a16:creationId xmlns:a16="http://schemas.microsoft.com/office/drawing/2014/main" id="{8C409231-C942-4808-B529-DAC32A7DB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8954"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A2F6E547-8A64-E716-A1DD-16DC12026EFF}"/>
              </a:ext>
            </a:extLst>
          </p:cNvPr>
          <p:cNvSpPr>
            <a:spLocks noGrp="1"/>
          </p:cNvSpPr>
          <p:nvPr>
            <p:ph type="title"/>
          </p:nvPr>
        </p:nvSpPr>
        <p:spPr>
          <a:xfrm>
            <a:off x="508001" y="1819276"/>
            <a:ext cx="3822045" cy="3230361"/>
          </a:xfrm>
        </p:spPr>
        <p:txBody>
          <a:bodyPr vert="horz" lIns="68580" tIns="34290" rIns="68580" bIns="34290" rtlCol="0" anchor="ctr">
            <a:normAutofit/>
          </a:bodyPr>
          <a:lstStyle/>
          <a:p>
            <a:pPr algn="r"/>
            <a:r>
              <a:rPr lang="en-US" sz="4050"/>
              <a:t>Reallocate and restructure all resources</a:t>
            </a:r>
          </a:p>
        </p:txBody>
      </p:sp>
      <p:sp>
        <p:nvSpPr>
          <p:cNvPr id="31" name="Freeform: Shape 30">
            <a:extLst>
              <a:ext uri="{FF2B5EF4-FFF2-40B4-BE49-F238E27FC236}">
                <a16:creationId xmlns:a16="http://schemas.microsoft.com/office/drawing/2014/main" id="{69370F01-B8C9-4CE4-824C-92B2792E6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52373" y="850899"/>
            <a:ext cx="3806198" cy="5149851"/>
          </a:xfrm>
          <a:custGeom>
            <a:avLst/>
            <a:gdLst>
              <a:gd name="connsiteX0" fmla="*/ 0 w 5074930"/>
              <a:gd name="connsiteY0" fmla="*/ 0 h 6858000"/>
              <a:gd name="connsiteX1" fmla="*/ 1249825 w 5074930"/>
              <a:gd name="connsiteY1" fmla="*/ 0 h 6858000"/>
              <a:gd name="connsiteX2" fmla="*/ 1249825 w 5074930"/>
              <a:gd name="connsiteY2" fmla="*/ 8457 h 6858000"/>
              <a:gd name="connsiteX3" fmla="*/ 5074930 w 5074930"/>
              <a:gd name="connsiteY3" fmla="*/ 8457 h 6858000"/>
              <a:gd name="connsiteX4" fmla="*/ 5074930 w 5074930"/>
              <a:gd name="connsiteY4" fmla="*/ 6858000 h 6858000"/>
              <a:gd name="connsiteX5" fmla="*/ 1249825 w 5074930"/>
              <a:gd name="connsiteY5" fmla="*/ 6858000 h 6858000"/>
              <a:gd name="connsiteX6" fmla="*/ 1109383 w 507493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4930" h="6858000">
                <a:moveTo>
                  <a:pt x="0" y="0"/>
                </a:moveTo>
                <a:lnTo>
                  <a:pt x="1249825" y="0"/>
                </a:lnTo>
                <a:lnTo>
                  <a:pt x="1249825" y="8457"/>
                </a:lnTo>
                <a:lnTo>
                  <a:pt x="5074930" y="8457"/>
                </a:lnTo>
                <a:lnTo>
                  <a:pt x="5074930" y="6858000"/>
                </a:lnTo>
                <a:lnTo>
                  <a:pt x="1249825" y="6858000"/>
                </a:lnTo>
                <a:lnTo>
                  <a:pt x="110938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 name="Content Placeholder 2">
            <a:extLst>
              <a:ext uri="{FF2B5EF4-FFF2-40B4-BE49-F238E27FC236}">
                <a16:creationId xmlns:a16="http://schemas.microsoft.com/office/drawing/2014/main" id="{A197B707-9326-8814-09C8-9EDBAF9EBF0D}"/>
              </a:ext>
            </a:extLst>
          </p:cNvPr>
          <p:cNvSpPr>
            <a:spLocks noGrp="1"/>
          </p:cNvSpPr>
          <p:nvPr>
            <p:ph idx="1"/>
          </p:nvPr>
        </p:nvSpPr>
        <p:spPr>
          <a:xfrm>
            <a:off x="5865841" y="2739839"/>
            <a:ext cx="2701925" cy="1371969"/>
          </a:xfrm>
        </p:spPr>
        <p:txBody>
          <a:bodyPr vert="horz" lIns="68580" tIns="34290" rIns="68580" bIns="34290" rtlCol="0" anchor="ctr">
            <a:normAutofit/>
          </a:bodyPr>
          <a:lstStyle/>
          <a:p>
            <a:pPr marL="0" indent="0">
              <a:buNone/>
            </a:pPr>
            <a:r>
              <a:rPr lang="en-US" sz="4050" dirty="0">
                <a:solidFill>
                  <a:srgbClr val="FFFFFF"/>
                </a:solidFill>
              </a:rPr>
              <a:t>…Fail Forward</a:t>
            </a:r>
          </a:p>
        </p:txBody>
      </p:sp>
      <p:pic>
        <p:nvPicPr>
          <p:cNvPr id="5" name="Picture 4" descr="Logo&#10;&#10;Description automatically generated with medium confidence">
            <a:extLst>
              <a:ext uri="{FF2B5EF4-FFF2-40B4-BE49-F238E27FC236}">
                <a16:creationId xmlns:a16="http://schemas.microsoft.com/office/drawing/2014/main" id="{635CF31C-083C-88BA-4DD7-5DB2DBAC09B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152352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50900"/>
            <a:ext cx="9144000" cy="5149850"/>
            <a:chOff x="0" y="-8467"/>
            <a:chExt cx="12192000" cy="6866467"/>
          </a:xfrm>
        </p:grpSpPr>
        <p:cxnSp>
          <p:nvCxnSpPr>
            <p:cNvPr id="9" name="Straight Connector 8">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9179DE42-5613-4B35-A1E6-6CCBAA13C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2" name="Straight Connector 21">
            <a:extLst>
              <a:ext uri="{FF2B5EF4-FFF2-40B4-BE49-F238E27FC236}">
                <a16:creationId xmlns:a16="http://schemas.microsoft.com/office/drawing/2014/main" id="{EB898B32-3891-4C3A-8F58-C5969D2E90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143375" y="857250"/>
            <a:ext cx="914400" cy="51435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4AE4806D-B8F9-4679-A68A-9BD21C01A3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20950" y="3618310"/>
            <a:ext cx="3572669" cy="2382440"/>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52FB45E9-914E-4471-AC87-E475CD5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44416" y="850900"/>
            <a:ext cx="2255512" cy="5149850"/>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5">
            <a:extLst>
              <a:ext uri="{FF2B5EF4-FFF2-40B4-BE49-F238E27FC236}">
                <a16:creationId xmlns:a16="http://schemas.microsoft.com/office/drawing/2014/main" id="{C310626D-5743-49D4-8F7D-88C4F8F05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42034" y="850900"/>
            <a:ext cx="1941419" cy="5149850"/>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9">
            <a:extLst>
              <a:ext uri="{FF2B5EF4-FFF2-40B4-BE49-F238E27FC236}">
                <a16:creationId xmlns:a16="http://schemas.microsoft.com/office/drawing/2014/main" id="{3C195FC1-B568-4C72-9902-34CB35DDD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42035" y="3143250"/>
            <a:ext cx="2444750" cy="28575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Rectangle 27">
            <a:extLst>
              <a:ext uri="{FF2B5EF4-FFF2-40B4-BE49-F238E27FC236}">
                <a16:creationId xmlns:a16="http://schemas.microsoft.com/office/drawing/2014/main" id="{EF2BDF77-362C-43F0-8CBB-A969EC2AE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44414" y="850900"/>
            <a:ext cx="2140745" cy="514985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Isosceles Triangle 33">
            <a:extLst>
              <a:ext uri="{FF2B5EF4-FFF2-40B4-BE49-F238E27FC236}">
                <a16:creationId xmlns:a16="http://schemas.microsoft.com/office/drawing/2014/main" id="{4BE96B01-3929-432D-B8C2-ADBCB74C2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44416" y="3549651"/>
            <a:ext cx="1362869" cy="245110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Shape 35">
            <a:extLst>
              <a:ext uri="{FF2B5EF4-FFF2-40B4-BE49-F238E27FC236}">
                <a16:creationId xmlns:a16="http://schemas.microsoft.com/office/drawing/2014/main" id="{2A6FCDE6-CDE2-4C51-B18E-A95CFB679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850900"/>
            <a:ext cx="6881785" cy="5149850"/>
          </a:xfrm>
          <a:custGeom>
            <a:avLst/>
            <a:gdLst>
              <a:gd name="connsiteX0" fmla="*/ 0 w 9175713"/>
              <a:gd name="connsiteY0" fmla="*/ 0 h 6866467"/>
              <a:gd name="connsiteX1" fmla="*/ 1249825 w 9175713"/>
              <a:gd name="connsiteY1" fmla="*/ 0 h 6866467"/>
              <a:gd name="connsiteX2" fmla="*/ 1249825 w 9175713"/>
              <a:gd name="connsiteY2" fmla="*/ 8467 h 6866467"/>
              <a:gd name="connsiteX3" fmla="*/ 9175713 w 9175713"/>
              <a:gd name="connsiteY3" fmla="*/ 8467 h 6866467"/>
              <a:gd name="connsiteX4" fmla="*/ 9175713 w 9175713"/>
              <a:gd name="connsiteY4" fmla="*/ 6866467 h 6866467"/>
              <a:gd name="connsiteX5" fmla="*/ 1249825 w 9175713"/>
              <a:gd name="connsiteY5" fmla="*/ 6866467 h 6866467"/>
              <a:gd name="connsiteX6" fmla="*/ 1109382 w 9175713"/>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713" h="6866467">
                <a:moveTo>
                  <a:pt x="0" y="0"/>
                </a:moveTo>
                <a:lnTo>
                  <a:pt x="1249825" y="0"/>
                </a:lnTo>
                <a:lnTo>
                  <a:pt x="1249825" y="8467"/>
                </a:lnTo>
                <a:lnTo>
                  <a:pt x="9175713" y="8467"/>
                </a:lnTo>
                <a:lnTo>
                  <a:pt x="9175713"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5911882C-8515-556D-1274-5EF39E7AB2F3}"/>
              </a:ext>
            </a:extLst>
          </p:cNvPr>
          <p:cNvSpPr>
            <a:spLocks noGrp="1"/>
          </p:cNvSpPr>
          <p:nvPr>
            <p:ph type="title"/>
          </p:nvPr>
        </p:nvSpPr>
        <p:spPr>
          <a:xfrm>
            <a:off x="1165591" y="1622904"/>
            <a:ext cx="5220569" cy="2137253"/>
          </a:xfrm>
        </p:spPr>
        <p:txBody>
          <a:bodyPr vert="horz" lIns="68580" tIns="34290" rIns="68580" bIns="34290" rtlCol="0" anchor="b">
            <a:normAutofit/>
          </a:bodyPr>
          <a:lstStyle/>
          <a:p>
            <a:pPr>
              <a:lnSpc>
                <a:spcPct val="90000"/>
              </a:lnSpc>
            </a:pPr>
            <a:r>
              <a:rPr lang="en-US" sz="4200">
                <a:solidFill>
                  <a:srgbClr val="FFFFFF"/>
                </a:solidFill>
              </a:rPr>
              <a:t>Ongoing professional development of staff</a:t>
            </a:r>
          </a:p>
        </p:txBody>
      </p:sp>
      <p:sp>
        <p:nvSpPr>
          <p:cNvPr id="3" name="Content Placeholder 2">
            <a:extLst>
              <a:ext uri="{FF2B5EF4-FFF2-40B4-BE49-F238E27FC236}">
                <a16:creationId xmlns:a16="http://schemas.microsoft.com/office/drawing/2014/main" id="{902E74AC-AC8A-3C17-F07D-4AE46A5A4692}"/>
              </a:ext>
            </a:extLst>
          </p:cNvPr>
          <p:cNvSpPr>
            <a:spLocks noGrp="1"/>
          </p:cNvSpPr>
          <p:nvPr>
            <p:ph idx="1"/>
          </p:nvPr>
        </p:nvSpPr>
        <p:spPr>
          <a:xfrm>
            <a:off x="1262317" y="3828816"/>
            <a:ext cx="7124468" cy="889581"/>
          </a:xfrm>
        </p:spPr>
        <p:txBody>
          <a:bodyPr vert="horz" lIns="68580" tIns="34290" rIns="68580" bIns="34290" rtlCol="0" anchor="t">
            <a:noAutofit/>
          </a:bodyPr>
          <a:lstStyle/>
          <a:p>
            <a:pPr marL="0" indent="0">
              <a:buNone/>
            </a:pPr>
            <a:r>
              <a:rPr lang="en-US" sz="4050" dirty="0">
                <a:solidFill>
                  <a:srgbClr val="FFFFFF">
                    <a:alpha val="70000"/>
                  </a:srgbClr>
                </a:solidFill>
              </a:rPr>
              <a:t>…Innovative Inspirations</a:t>
            </a:r>
          </a:p>
        </p:txBody>
      </p:sp>
      <p:sp>
        <p:nvSpPr>
          <p:cNvPr id="38" name="Isosceles Triangle 37">
            <a:extLst>
              <a:ext uri="{FF2B5EF4-FFF2-40B4-BE49-F238E27FC236}">
                <a16:creationId xmlns:a16="http://schemas.microsoft.com/office/drawing/2014/main" id="{9D2E8756-2465-473A-BA2A-2DB1D6224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44110" y="3310866"/>
            <a:ext cx="165495" cy="13982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Picture 4" descr="Logo&#10;&#10;Description automatically generated with medium confidence">
            <a:extLst>
              <a:ext uri="{FF2B5EF4-FFF2-40B4-BE49-F238E27FC236}">
                <a16:creationId xmlns:a16="http://schemas.microsoft.com/office/drawing/2014/main" id="{4F6A1E94-87BB-C01A-A766-4F2F19C91D6B}"/>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692746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0AE7B-A5F0-F27C-C47A-DE96DFF382E5}"/>
              </a:ext>
            </a:extLst>
          </p:cNvPr>
          <p:cNvSpPr>
            <a:spLocks noGrp="1"/>
          </p:cNvSpPr>
          <p:nvPr>
            <p:ph type="title"/>
          </p:nvPr>
        </p:nvSpPr>
        <p:spPr/>
        <p:txBody>
          <a:bodyPr/>
          <a:lstStyle/>
          <a:p>
            <a:r>
              <a:rPr lang="en-US" dirty="0"/>
              <a:t>Implementing the Plan, Considerate it a Journey</a:t>
            </a:r>
          </a:p>
        </p:txBody>
      </p:sp>
      <p:sp>
        <p:nvSpPr>
          <p:cNvPr id="3" name="Content Placeholder 2">
            <a:extLst>
              <a:ext uri="{FF2B5EF4-FFF2-40B4-BE49-F238E27FC236}">
                <a16:creationId xmlns:a16="http://schemas.microsoft.com/office/drawing/2014/main" id="{56D31264-6270-B598-0822-235DEDD88134}"/>
              </a:ext>
            </a:extLst>
          </p:cNvPr>
          <p:cNvSpPr>
            <a:spLocks noGrp="1"/>
          </p:cNvSpPr>
          <p:nvPr>
            <p:ph idx="1"/>
          </p:nvPr>
        </p:nvSpPr>
        <p:spPr/>
        <p:txBody>
          <a:bodyPr>
            <a:noAutofit/>
          </a:bodyPr>
          <a:lstStyle/>
          <a:p>
            <a:r>
              <a:rPr lang="en-US" sz="1500" dirty="0"/>
              <a:t>Hold true to your culture: everyone leads.</a:t>
            </a:r>
          </a:p>
          <a:p>
            <a:r>
              <a:rPr lang="en-US" sz="1500" dirty="0"/>
              <a:t>Be extremely agile and ready to re-group.</a:t>
            </a:r>
          </a:p>
          <a:p>
            <a:r>
              <a:rPr lang="en-US" sz="1500" dirty="0"/>
              <a:t>Celebrate success. </a:t>
            </a:r>
          </a:p>
          <a:p>
            <a:r>
              <a:rPr lang="en-US" sz="1500" dirty="0"/>
              <a:t>Enjoy the journey!</a:t>
            </a:r>
          </a:p>
        </p:txBody>
      </p:sp>
      <p:pic>
        <p:nvPicPr>
          <p:cNvPr id="5" name="Picture 4" descr="Logo&#10;&#10;Description automatically generated with medium confidence">
            <a:extLst>
              <a:ext uri="{FF2B5EF4-FFF2-40B4-BE49-F238E27FC236}">
                <a16:creationId xmlns:a16="http://schemas.microsoft.com/office/drawing/2014/main" id="{225B37A2-5C14-054E-783D-D06D2B5FB7E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3648150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6CEF8-7CDD-8DB4-D84D-ACD15ABE1AC1}"/>
              </a:ext>
            </a:extLst>
          </p:cNvPr>
          <p:cNvSpPr>
            <a:spLocks noGrp="1"/>
          </p:cNvSpPr>
          <p:nvPr>
            <p:ph type="title"/>
          </p:nvPr>
        </p:nvSpPr>
        <p:spPr>
          <a:xfrm>
            <a:off x="965200" y="1314450"/>
            <a:ext cx="7648121" cy="824593"/>
          </a:xfrm>
        </p:spPr>
        <p:txBody>
          <a:bodyPr>
            <a:normAutofit/>
          </a:bodyPr>
          <a:lstStyle/>
          <a:p>
            <a:r>
              <a:rPr lang="en-US" dirty="0"/>
              <a:t>Contact Tami Reuter &amp; Nate Lotton</a:t>
            </a:r>
          </a:p>
        </p:txBody>
      </p:sp>
      <p:graphicFrame>
        <p:nvGraphicFramePr>
          <p:cNvPr id="5" name="Content Placeholder 2">
            <a:extLst>
              <a:ext uri="{FF2B5EF4-FFF2-40B4-BE49-F238E27FC236}">
                <a16:creationId xmlns:a16="http://schemas.microsoft.com/office/drawing/2014/main" id="{25D2C2D8-6284-5B42-D299-7D61CF585598}"/>
              </a:ext>
            </a:extLst>
          </p:cNvPr>
          <p:cNvGraphicFramePr>
            <a:graphicFrameLocks noGrp="1"/>
          </p:cNvGraphicFramePr>
          <p:nvPr>
            <p:ph idx="1"/>
          </p:nvPr>
        </p:nvGraphicFramePr>
        <p:xfrm>
          <a:off x="965200" y="2318657"/>
          <a:ext cx="7213600" cy="3070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30263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7895A40-19A4-42D6-9D30-DBC1E8002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52794" y="3388321"/>
            <a:ext cx="32004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923606" y="1637601"/>
            <a:ext cx="6858003" cy="35827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0935" y="857786"/>
            <a:ext cx="8300268"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93C3160-EBA9-9829-9BA0-203B1DBF00C9}"/>
              </a:ext>
            </a:extLst>
          </p:cNvPr>
          <p:cNvSpPr txBox="1"/>
          <p:nvPr/>
        </p:nvSpPr>
        <p:spPr>
          <a:xfrm>
            <a:off x="740766" y="3071183"/>
            <a:ext cx="7432722" cy="259002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ct val="0"/>
              </a:spcBef>
              <a:spcAft>
                <a:spcPts val="600"/>
              </a:spcAft>
            </a:pPr>
            <a:r>
              <a:rPr lang="en-US" sz="7000" kern="1200">
                <a:solidFill>
                  <a:schemeClr val="tx1"/>
                </a:solidFill>
                <a:latin typeface="+mj-lt"/>
                <a:ea typeface="+mj-ea"/>
                <a:cs typeface="+mj-cs"/>
              </a:rPr>
              <a:t>Questions? </a:t>
            </a:r>
          </a:p>
        </p:txBody>
      </p:sp>
      <p:sp>
        <p:nvSpPr>
          <p:cNvPr id="18" name="Rectangle 17">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43057" y="3385173"/>
            <a:ext cx="32004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EFDF5A28-0FB9-F8C0-3490-64E118B0B8CF}"/>
              </a:ext>
            </a:extLst>
          </p:cNvPr>
          <p:cNvSpPr>
            <a:spLocks noGrp="1"/>
          </p:cNvSpPr>
          <p:nvPr>
            <p:ph type="sldNum" sz="quarter" idx="12"/>
          </p:nvPr>
        </p:nvSpPr>
        <p:spPr>
          <a:xfrm>
            <a:off x="4414059" y="6492240"/>
            <a:ext cx="891540" cy="365125"/>
          </a:xfrm>
        </p:spPr>
        <p:txBody>
          <a:bodyPr vert="horz" lIns="91440" tIns="45720" rIns="91440" bIns="45720" rtlCol="0" anchor="ctr">
            <a:normAutofit/>
          </a:bodyPr>
          <a:lstStyle/>
          <a:p>
            <a:pPr>
              <a:spcAft>
                <a:spcPts val="600"/>
              </a:spcAft>
            </a:pPr>
            <a:fld id="{915FAA45-AC5B-014B-9F74-53D558B73BE0}" type="slidenum">
              <a:rPr lang="en-US" sz="1200" smtClean="0"/>
              <a:pPr>
                <a:spcAft>
                  <a:spcPts val="600"/>
                </a:spcAft>
              </a:pPr>
              <a:t>29</a:t>
            </a:fld>
            <a:endParaRPr lang="en-US" sz="1200"/>
          </a:p>
        </p:txBody>
      </p:sp>
      <p:pic>
        <p:nvPicPr>
          <p:cNvPr id="4" name="Picture 3" descr="Logo&#10;&#10;Description automatically generated with medium confidence">
            <a:extLst>
              <a:ext uri="{FF2B5EF4-FFF2-40B4-BE49-F238E27FC236}">
                <a16:creationId xmlns:a16="http://schemas.microsoft.com/office/drawing/2014/main" id="{74770744-6C27-DD7E-C849-0EBF7F67496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37739787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E8BF0C67-DF85-430A-B677-74D959439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857250"/>
            <a:ext cx="9143997" cy="5143500"/>
          </a:xfrm>
          <a:prstGeom prst="rect">
            <a:avLst/>
          </a:prstGeom>
          <a:solidFill>
            <a:srgbClr val="FFFFFF"/>
          </a:solidFill>
          <a:ln w="0">
            <a:noFill/>
            <a:prstDash val="solid"/>
            <a:round/>
            <a:headEnd/>
            <a:tailEnd/>
          </a:ln>
        </p:spPr>
        <p:txBody>
          <a:bodyPr rtlCol="0" anchor="ctr"/>
          <a:lstStyle/>
          <a:p>
            <a:pPr algn="ctr" defTabSz="342900"/>
            <a:endParaRPr lang="en-US" sz="1350"/>
          </a:p>
        </p:txBody>
      </p:sp>
      <p:sp>
        <p:nvSpPr>
          <p:cNvPr id="19" name="Rectangle 9">
            <a:extLst>
              <a:ext uri="{FF2B5EF4-FFF2-40B4-BE49-F238E27FC236}">
                <a16:creationId xmlns:a16="http://schemas.microsoft.com/office/drawing/2014/main" id="{751BAC80-2398-422A-9AA2-2489F01EF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857250"/>
            <a:ext cx="9143997" cy="5143500"/>
          </a:xfrm>
          <a:prstGeom prst="rect">
            <a:avLst/>
          </a:prstGeom>
          <a:solidFill>
            <a:schemeClr val="accent1">
              <a:lumMod val="50000"/>
              <a:alpha val="25000"/>
            </a:schemeClr>
          </a:solidFill>
          <a:ln w="0">
            <a:noFill/>
            <a:prstDash val="solid"/>
            <a:round/>
            <a:headEnd/>
            <a:tailEnd/>
          </a:ln>
        </p:spPr>
        <p:txBody>
          <a:bodyPr wrap="square" rtlCol="0" anchor="ctr">
            <a:noAutofit/>
          </a:bodyPr>
          <a:lstStyle/>
          <a:p>
            <a:pPr algn="ctr"/>
            <a:endParaRPr lang="en-US" sz="1350"/>
          </a:p>
        </p:txBody>
      </p:sp>
      <p:sp useBgFill="1">
        <p:nvSpPr>
          <p:cNvPr id="20" name="Freeform: Shape 11">
            <a:extLst>
              <a:ext uri="{FF2B5EF4-FFF2-40B4-BE49-F238E27FC236}">
                <a16:creationId xmlns:a16="http://schemas.microsoft.com/office/drawing/2014/main" id="{34A3EF12-7620-4D66-ACFC-B9F71BAD8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72301" y="857250"/>
            <a:ext cx="7571699" cy="5143500"/>
          </a:xfrm>
          <a:custGeom>
            <a:avLst/>
            <a:gdLst>
              <a:gd name="connsiteX0" fmla="*/ 0 w 10095599"/>
              <a:gd name="connsiteY0" fmla="*/ 0 h 6858000"/>
              <a:gd name="connsiteX1" fmla="*/ 7448352 w 10095599"/>
              <a:gd name="connsiteY1" fmla="*/ 0 h 6858000"/>
              <a:gd name="connsiteX2" fmla="*/ 9446485 w 10095599"/>
              <a:gd name="connsiteY2" fmla="*/ 0 h 6858000"/>
              <a:gd name="connsiteX3" fmla="*/ 10095599 w 10095599"/>
              <a:gd name="connsiteY3" fmla="*/ 0 h 6858000"/>
              <a:gd name="connsiteX4" fmla="*/ 10095599 w 10095599"/>
              <a:gd name="connsiteY4" fmla="*/ 6858000 h 6858000"/>
              <a:gd name="connsiteX5" fmla="*/ 9446485 w 10095599"/>
              <a:gd name="connsiteY5" fmla="*/ 6858000 h 6858000"/>
              <a:gd name="connsiteX6" fmla="*/ 7448352 w 10095599"/>
              <a:gd name="connsiteY6" fmla="*/ 6858000 h 6858000"/>
              <a:gd name="connsiteX7" fmla="*/ 0 w 10095599"/>
              <a:gd name="connsiteY7" fmla="*/ 6858000 h 6858000"/>
              <a:gd name="connsiteX8" fmla="*/ 1587 w 10095599"/>
              <a:gd name="connsiteY8" fmla="*/ 6789738 h 6858000"/>
              <a:gd name="connsiteX9" fmla="*/ 9525 w 10095599"/>
              <a:gd name="connsiteY9" fmla="*/ 6729413 h 6858000"/>
              <a:gd name="connsiteX10" fmla="*/ 20637 w 10095599"/>
              <a:gd name="connsiteY10" fmla="*/ 6677025 h 6858000"/>
              <a:gd name="connsiteX11" fmla="*/ 34925 w 10095599"/>
              <a:gd name="connsiteY11" fmla="*/ 6630988 h 6858000"/>
              <a:gd name="connsiteX12" fmla="*/ 50800 w 10095599"/>
              <a:gd name="connsiteY12" fmla="*/ 6589713 h 6858000"/>
              <a:gd name="connsiteX13" fmla="*/ 69850 w 10095599"/>
              <a:gd name="connsiteY13" fmla="*/ 6553200 h 6858000"/>
              <a:gd name="connsiteX14" fmla="*/ 88900 w 10095599"/>
              <a:gd name="connsiteY14" fmla="*/ 6515100 h 6858000"/>
              <a:gd name="connsiteX15" fmla="*/ 107950 w 10095599"/>
              <a:gd name="connsiteY15" fmla="*/ 6477000 h 6858000"/>
              <a:gd name="connsiteX16" fmla="*/ 123825 w 10095599"/>
              <a:gd name="connsiteY16" fmla="*/ 6440488 h 6858000"/>
              <a:gd name="connsiteX17" fmla="*/ 139700 w 10095599"/>
              <a:gd name="connsiteY17" fmla="*/ 6399213 h 6858000"/>
              <a:gd name="connsiteX18" fmla="*/ 155575 w 10095599"/>
              <a:gd name="connsiteY18" fmla="*/ 6353175 h 6858000"/>
              <a:gd name="connsiteX19" fmla="*/ 166687 w 10095599"/>
              <a:gd name="connsiteY19" fmla="*/ 6300788 h 6858000"/>
              <a:gd name="connsiteX20" fmla="*/ 173037 w 10095599"/>
              <a:gd name="connsiteY20" fmla="*/ 6240463 h 6858000"/>
              <a:gd name="connsiteX21" fmla="*/ 176212 w 10095599"/>
              <a:gd name="connsiteY21" fmla="*/ 6172200 h 6858000"/>
              <a:gd name="connsiteX22" fmla="*/ 173037 w 10095599"/>
              <a:gd name="connsiteY22" fmla="*/ 6103938 h 6858000"/>
              <a:gd name="connsiteX23" fmla="*/ 166687 w 10095599"/>
              <a:gd name="connsiteY23" fmla="*/ 6043613 h 6858000"/>
              <a:gd name="connsiteX24" fmla="*/ 155575 w 10095599"/>
              <a:gd name="connsiteY24" fmla="*/ 5991225 h 6858000"/>
              <a:gd name="connsiteX25" fmla="*/ 139700 w 10095599"/>
              <a:gd name="connsiteY25" fmla="*/ 5945188 h 6858000"/>
              <a:gd name="connsiteX26" fmla="*/ 123825 w 10095599"/>
              <a:gd name="connsiteY26" fmla="*/ 5903913 h 6858000"/>
              <a:gd name="connsiteX27" fmla="*/ 107950 w 10095599"/>
              <a:gd name="connsiteY27" fmla="*/ 5867400 h 6858000"/>
              <a:gd name="connsiteX28" fmla="*/ 88900 w 10095599"/>
              <a:gd name="connsiteY28" fmla="*/ 5829300 h 6858000"/>
              <a:gd name="connsiteX29" fmla="*/ 69850 w 10095599"/>
              <a:gd name="connsiteY29" fmla="*/ 5791200 h 6858000"/>
              <a:gd name="connsiteX30" fmla="*/ 50800 w 10095599"/>
              <a:gd name="connsiteY30" fmla="*/ 5754688 h 6858000"/>
              <a:gd name="connsiteX31" fmla="*/ 34925 w 10095599"/>
              <a:gd name="connsiteY31" fmla="*/ 5713413 h 6858000"/>
              <a:gd name="connsiteX32" fmla="*/ 20637 w 10095599"/>
              <a:gd name="connsiteY32" fmla="*/ 5667375 h 6858000"/>
              <a:gd name="connsiteX33" fmla="*/ 9525 w 10095599"/>
              <a:gd name="connsiteY33" fmla="*/ 5614988 h 6858000"/>
              <a:gd name="connsiteX34" fmla="*/ 1587 w 10095599"/>
              <a:gd name="connsiteY34" fmla="*/ 5554663 h 6858000"/>
              <a:gd name="connsiteX35" fmla="*/ 0 w 10095599"/>
              <a:gd name="connsiteY35" fmla="*/ 5486400 h 6858000"/>
              <a:gd name="connsiteX36" fmla="*/ 1587 w 10095599"/>
              <a:gd name="connsiteY36" fmla="*/ 5418138 h 6858000"/>
              <a:gd name="connsiteX37" fmla="*/ 9525 w 10095599"/>
              <a:gd name="connsiteY37" fmla="*/ 5357813 h 6858000"/>
              <a:gd name="connsiteX38" fmla="*/ 20637 w 10095599"/>
              <a:gd name="connsiteY38" fmla="*/ 5305425 h 6858000"/>
              <a:gd name="connsiteX39" fmla="*/ 34925 w 10095599"/>
              <a:gd name="connsiteY39" fmla="*/ 5259388 h 6858000"/>
              <a:gd name="connsiteX40" fmla="*/ 50800 w 10095599"/>
              <a:gd name="connsiteY40" fmla="*/ 5218113 h 6858000"/>
              <a:gd name="connsiteX41" fmla="*/ 69850 w 10095599"/>
              <a:gd name="connsiteY41" fmla="*/ 5181600 h 6858000"/>
              <a:gd name="connsiteX42" fmla="*/ 88900 w 10095599"/>
              <a:gd name="connsiteY42" fmla="*/ 5143500 h 6858000"/>
              <a:gd name="connsiteX43" fmla="*/ 107950 w 10095599"/>
              <a:gd name="connsiteY43" fmla="*/ 5105400 h 6858000"/>
              <a:gd name="connsiteX44" fmla="*/ 123825 w 10095599"/>
              <a:gd name="connsiteY44" fmla="*/ 5068888 h 6858000"/>
              <a:gd name="connsiteX45" fmla="*/ 139700 w 10095599"/>
              <a:gd name="connsiteY45" fmla="*/ 5027613 h 6858000"/>
              <a:gd name="connsiteX46" fmla="*/ 155575 w 10095599"/>
              <a:gd name="connsiteY46" fmla="*/ 4981575 h 6858000"/>
              <a:gd name="connsiteX47" fmla="*/ 166687 w 10095599"/>
              <a:gd name="connsiteY47" fmla="*/ 4929188 h 6858000"/>
              <a:gd name="connsiteX48" fmla="*/ 173037 w 10095599"/>
              <a:gd name="connsiteY48" fmla="*/ 4868863 h 6858000"/>
              <a:gd name="connsiteX49" fmla="*/ 176212 w 10095599"/>
              <a:gd name="connsiteY49" fmla="*/ 4800600 h 6858000"/>
              <a:gd name="connsiteX50" fmla="*/ 173037 w 10095599"/>
              <a:gd name="connsiteY50" fmla="*/ 4732338 h 6858000"/>
              <a:gd name="connsiteX51" fmla="*/ 166687 w 10095599"/>
              <a:gd name="connsiteY51" fmla="*/ 4672013 h 6858000"/>
              <a:gd name="connsiteX52" fmla="*/ 155575 w 10095599"/>
              <a:gd name="connsiteY52" fmla="*/ 4619625 h 6858000"/>
              <a:gd name="connsiteX53" fmla="*/ 139700 w 10095599"/>
              <a:gd name="connsiteY53" fmla="*/ 4573588 h 6858000"/>
              <a:gd name="connsiteX54" fmla="*/ 123825 w 10095599"/>
              <a:gd name="connsiteY54" fmla="*/ 4532313 h 6858000"/>
              <a:gd name="connsiteX55" fmla="*/ 107950 w 10095599"/>
              <a:gd name="connsiteY55" fmla="*/ 4495800 h 6858000"/>
              <a:gd name="connsiteX56" fmla="*/ 69850 w 10095599"/>
              <a:gd name="connsiteY56" fmla="*/ 4419600 h 6858000"/>
              <a:gd name="connsiteX57" fmla="*/ 50800 w 10095599"/>
              <a:gd name="connsiteY57" fmla="*/ 4383088 h 6858000"/>
              <a:gd name="connsiteX58" fmla="*/ 34925 w 10095599"/>
              <a:gd name="connsiteY58" fmla="*/ 4341813 h 6858000"/>
              <a:gd name="connsiteX59" fmla="*/ 20637 w 10095599"/>
              <a:gd name="connsiteY59" fmla="*/ 4295775 h 6858000"/>
              <a:gd name="connsiteX60" fmla="*/ 9525 w 10095599"/>
              <a:gd name="connsiteY60" fmla="*/ 4243388 h 6858000"/>
              <a:gd name="connsiteX61" fmla="*/ 1587 w 10095599"/>
              <a:gd name="connsiteY61" fmla="*/ 4183063 h 6858000"/>
              <a:gd name="connsiteX62" fmla="*/ 0 w 10095599"/>
              <a:gd name="connsiteY62" fmla="*/ 4114800 h 6858000"/>
              <a:gd name="connsiteX63" fmla="*/ 1587 w 10095599"/>
              <a:gd name="connsiteY63" fmla="*/ 4046538 h 6858000"/>
              <a:gd name="connsiteX64" fmla="*/ 9525 w 10095599"/>
              <a:gd name="connsiteY64" fmla="*/ 3986213 h 6858000"/>
              <a:gd name="connsiteX65" fmla="*/ 20637 w 10095599"/>
              <a:gd name="connsiteY65" fmla="*/ 3933825 h 6858000"/>
              <a:gd name="connsiteX66" fmla="*/ 34925 w 10095599"/>
              <a:gd name="connsiteY66" fmla="*/ 3887788 h 6858000"/>
              <a:gd name="connsiteX67" fmla="*/ 50800 w 10095599"/>
              <a:gd name="connsiteY67" fmla="*/ 3846513 h 6858000"/>
              <a:gd name="connsiteX68" fmla="*/ 69850 w 10095599"/>
              <a:gd name="connsiteY68" fmla="*/ 3810000 h 6858000"/>
              <a:gd name="connsiteX69" fmla="*/ 88900 w 10095599"/>
              <a:gd name="connsiteY69" fmla="*/ 3771900 h 6858000"/>
              <a:gd name="connsiteX70" fmla="*/ 107950 w 10095599"/>
              <a:gd name="connsiteY70" fmla="*/ 3733800 h 6858000"/>
              <a:gd name="connsiteX71" fmla="*/ 123825 w 10095599"/>
              <a:gd name="connsiteY71" fmla="*/ 3697288 h 6858000"/>
              <a:gd name="connsiteX72" fmla="*/ 139700 w 10095599"/>
              <a:gd name="connsiteY72" fmla="*/ 3656013 h 6858000"/>
              <a:gd name="connsiteX73" fmla="*/ 155575 w 10095599"/>
              <a:gd name="connsiteY73" fmla="*/ 3609975 h 6858000"/>
              <a:gd name="connsiteX74" fmla="*/ 166687 w 10095599"/>
              <a:gd name="connsiteY74" fmla="*/ 3557588 h 6858000"/>
              <a:gd name="connsiteX75" fmla="*/ 173037 w 10095599"/>
              <a:gd name="connsiteY75" fmla="*/ 3497263 h 6858000"/>
              <a:gd name="connsiteX76" fmla="*/ 176212 w 10095599"/>
              <a:gd name="connsiteY76" fmla="*/ 3427413 h 6858000"/>
              <a:gd name="connsiteX77" fmla="*/ 173037 w 10095599"/>
              <a:gd name="connsiteY77" fmla="*/ 3360738 h 6858000"/>
              <a:gd name="connsiteX78" fmla="*/ 166687 w 10095599"/>
              <a:gd name="connsiteY78" fmla="*/ 3300413 h 6858000"/>
              <a:gd name="connsiteX79" fmla="*/ 155575 w 10095599"/>
              <a:gd name="connsiteY79" fmla="*/ 3248025 h 6858000"/>
              <a:gd name="connsiteX80" fmla="*/ 139700 w 10095599"/>
              <a:gd name="connsiteY80" fmla="*/ 3201988 h 6858000"/>
              <a:gd name="connsiteX81" fmla="*/ 123825 w 10095599"/>
              <a:gd name="connsiteY81" fmla="*/ 3160713 h 6858000"/>
              <a:gd name="connsiteX82" fmla="*/ 107950 w 10095599"/>
              <a:gd name="connsiteY82" fmla="*/ 3124200 h 6858000"/>
              <a:gd name="connsiteX83" fmla="*/ 88900 w 10095599"/>
              <a:gd name="connsiteY83" fmla="*/ 3086100 h 6858000"/>
              <a:gd name="connsiteX84" fmla="*/ 69850 w 10095599"/>
              <a:gd name="connsiteY84" fmla="*/ 3048000 h 6858000"/>
              <a:gd name="connsiteX85" fmla="*/ 50800 w 10095599"/>
              <a:gd name="connsiteY85" fmla="*/ 3011488 h 6858000"/>
              <a:gd name="connsiteX86" fmla="*/ 34925 w 10095599"/>
              <a:gd name="connsiteY86" fmla="*/ 2970213 h 6858000"/>
              <a:gd name="connsiteX87" fmla="*/ 20637 w 10095599"/>
              <a:gd name="connsiteY87" fmla="*/ 2924175 h 6858000"/>
              <a:gd name="connsiteX88" fmla="*/ 9525 w 10095599"/>
              <a:gd name="connsiteY88" fmla="*/ 2871788 h 6858000"/>
              <a:gd name="connsiteX89" fmla="*/ 1587 w 10095599"/>
              <a:gd name="connsiteY89" fmla="*/ 2811463 h 6858000"/>
              <a:gd name="connsiteX90" fmla="*/ 0 w 10095599"/>
              <a:gd name="connsiteY90" fmla="*/ 2743200 h 6858000"/>
              <a:gd name="connsiteX91" fmla="*/ 1587 w 10095599"/>
              <a:gd name="connsiteY91" fmla="*/ 2674938 h 6858000"/>
              <a:gd name="connsiteX92" fmla="*/ 9525 w 10095599"/>
              <a:gd name="connsiteY92" fmla="*/ 2614613 h 6858000"/>
              <a:gd name="connsiteX93" fmla="*/ 20637 w 10095599"/>
              <a:gd name="connsiteY93" fmla="*/ 2562225 h 6858000"/>
              <a:gd name="connsiteX94" fmla="*/ 34925 w 10095599"/>
              <a:gd name="connsiteY94" fmla="*/ 2516188 h 6858000"/>
              <a:gd name="connsiteX95" fmla="*/ 50800 w 10095599"/>
              <a:gd name="connsiteY95" fmla="*/ 2474913 h 6858000"/>
              <a:gd name="connsiteX96" fmla="*/ 69850 w 10095599"/>
              <a:gd name="connsiteY96" fmla="*/ 2438400 h 6858000"/>
              <a:gd name="connsiteX97" fmla="*/ 88900 w 10095599"/>
              <a:gd name="connsiteY97" fmla="*/ 2400300 h 6858000"/>
              <a:gd name="connsiteX98" fmla="*/ 107950 w 10095599"/>
              <a:gd name="connsiteY98" fmla="*/ 2362200 h 6858000"/>
              <a:gd name="connsiteX99" fmla="*/ 123825 w 10095599"/>
              <a:gd name="connsiteY99" fmla="*/ 2325688 h 6858000"/>
              <a:gd name="connsiteX100" fmla="*/ 139700 w 10095599"/>
              <a:gd name="connsiteY100" fmla="*/ 2284413 h 6858000"/>
              <a:gd name="connsiteX101" fmla="*/ 155575 w 10095599"/>
              <a:gd name="connsiteY101" fmla="*/ 2238375 h 6858000"/>
              <a:gd name="connsiteX102" fmla="*/ 166687 w 10095599"/>
              <a:gd name="connsiteY102" fmla="*/ 2185988 h 6858000"/>
              <a:gd name="connsiteX103" fmla="*/ 173037 w 10095599"/>
              <a:gd name="connsiteY103" fmla="*/ 2125663 h 6858000"/>
              <a:gd name="connsiteX104" fmla="*/ 176212 w 10095599"/>
              <a:gd name="connsiteY104" fmla="*/ 2057400 h 6858000"/>
              <a:gd name="connsiteX105" fmla="*/ 173037 w 10095599"/>
              <a:gd name="connsiteY105" fmla="*/ 1989138 h 6858000"/>
              <a:gd name="connsiteX106" fmla="*/ 166687 w 10095599"/>
              <a:gd name="connsiteY106" fmla="*/ 1928813 h 6858000"/>
              <a:gd name="connsiteX107" fmla="*/ 155575 w 10095599"/>
              <a:gd name="connsiteY107" fmla="*/ 1876425 h 6858000"/>
              <a:gd name="connsiteX108" fmla="*/ 139700 w 10095599"/>
              <a:gd name="connsiteY108" fmla="*/ 1830388 h 6858000"/>
              <a:gd name="connsiteX109" fmla="*/ 123825 w 10095599"/>
              <a:gd name="connsiteY109" fmla="*/ 1789113 h 6858000"/>
              <a:gd name="connsiteX110" fmla="*/ 107950 w 10095599"/>
              <a:gd name="connsiteY110" fmla="*/ 1752600 h 6858000"/>
              <a:gd name="connsiteX111" fmla="*/ 88900 w 10095599"/>
              <a:gd name="connsiteY111" fmla="*/ 1714500 h 6858000"/>
              <a:gd name="connsiteX112" fmla="*/ 69850 w 10095599"/>
              <a:gd name="connsiteY112" fmla="*/ 1676400 h 6858000"/>
              <a:gd name="connsiteX113" fmla="*/ 50800 w 10095599"/>
              <a:gd name="connsiteY113" fmla="*/ 1639888 h 6858000"/>
              <a:gd name="connsiteX114" fmla="*/ 34925 w 10095599"/>
              <a:gd name="connsiteY114" fmla="*/ 1598613 h 6858000"/>
              <a:gd name="connsiteX115" fmla="*/ 20637 w 10095599"/>
              <a:gd name="connsiteY115" fmla="*/ 1552575 h 6858000"/>
              <a:gd name="connsiteX116" fmla="*/ 9525 w 10095599"/>
              <a:gd name="connsiteY116" fmla="*/ 1500188 h 6858000"/>
              <a:gd name="connsiteX117" fmla="*/ 1587 w 10095599"/>
              <a:gd name="connsiteY117" fmla="*/ 1439863 h 6858000"/>
              <a:gd name="connsiteX118" fmla="*/ 0 w 10095599"/>
              <a:gd name="connsiteY118" fmla="*/ 1371600 h 6858000"/>
              <a:gd name="connsiteX119" fmla="*/ 1587 w 10095599"/>
              <a:gd name="connsiteY119" fmla="*/ 1303338 h 6858000"/>
              <a:gd name="connsiteX120" fmla="*/ 9525 w 10095599"/>
              <a:gd name="connsiteY120" fmla="*/ 1243013 h 6858000"/>
              <a:gd name="connsiteX121" fmla="*/ 20637 w 10095599"/>
              <a:gd name="connsiteY121" fmla="*/ 1190625 h 6858000"/>
              <a:gd name="connsiteX122" fmla="*/ 34925 w 10095599"/>
              <a:gd name="connsiteY122" fmla="*/ 1144588 h 6858000"/>
              <a:gd name="connsiteX123" fmla="*/ 50800 w 10095599"/>
              <a:gd name="connsiteY123" fmla="*/ 1103313 h 6858000"/>
              <a:gd name="connsiteX124" fmla="*/ 69850 w 10095599"/>
              <a:gd name="connsiteY124" fmla="*/ 1066800 h 6858000"/>
              <a:gd name="connsiteX125" fmla="*/ 88900 w 10095599"/>
              <a:gd name="connsiteY125" fmla="*/ 1028700 h 6858000"/>
              <a:gd name="connsiteX126" fmla="*/ 107950 w 10095599"/>
              <a:gd name="connsiteY126" fmla="*/ 990600 h 6858000"/>
              <a:gd name="connsiteX127" fmla="*/ 123825 w 10095599"/>
              <a:gd name="connsiteY127" fmla="*/ 954088 h 6858000"/>
              <a:gd name="connsiteX128" fmla="*/ 139700 w 10095599"/>
              <a:gd name="connsiteY128" fmla="*/ 912813 h 6858000"/>
              <a:gd name="connsiteX129" fmla="*/ 155575 w 10095599"/>
              <a:gd name="connsiteY129" fmla="*/ 866775 h 6858000"/>
              <a:gd name="connsiteX130" fmla="*/ 166687 w 10095599"/>
              <a:gd name="connsiteY130" fmla="*/ 814388 h 6858000"/>
              <a:gd name="connsiteX131" fmla="*/ 173037 w 10095599"/>
              <a:gd name="connsiteY131" fmla="*/ 754063 h 6858000"/>
              <a:gd name="connsiteX132" fmla="*/ 176212 w 10095599"/>
              <a:gd name="connsiteY132" fmla="*/ 685800 h 6858000"/>
              <a:gd name="connsiteX133" fmla="*/ 173037 w 10095599"/>
              <a:gd name="connsiteY133" fmla="*/ 617538 h 6858000"/>
              <a:gd name="connsiteX134" fmla="*/ 166687 w 10095599"/>
              <a:gd name="connsiteY134" fmla="*/ 557213 h 6858000"/>
              <a:gd name="connsiteX135" fmla="*/ 155575 w 10095599"/>
              <a:gd name="connsiteY135" fmla="*/ 504825 h 6858000"/>
              <a:gd name="connsiteX136" fmla="*/ 139700 w 10095599"/>
              <a:gd name="connsiteY136" fmla="*/ 458788 h 6858000"/>
              <a:gd name="connsiteX137" fmla="*/ 123825 w 10095599"/>
              <a:gd name="connsiteY137" fmla="*/ 417513 h 6858000"/>
              <a:gd name="connsiteX138" fmla="*/ 107950 w 10095599"/>
              <a:gd name="connsiteY138" fmla="*/ 381000 h 6858000"/>
              <a:gd name="connsiteX139" fmla="*/ 88900 w 10095599"/>
              <a:gd name="connsiteY139" fmla="*/ 342900 h 6858000"/>
              <a:gd name="connsiteX140" fmla="*/ 69850 w 10095599"/>
              <a:gd name="connsiteY140" fmla="*/ 304800 h 6858000"/>
              <a:gd name="connsiteX141" fmla="*/ 50800 w 10095599"/>
              <a:gd name="connsiteY141" fmla="*/ 268288 h 6858000"/>
              <a:gd name="connsiteX142" fmla="*/ 34925 w 10095599"/>
              <a:gd name="connsiteY142" fmla="*/ 227013 h 6858000"/>
              <a:gd name="connsiteX143" fmla="*/ 20637 w 10095599"/>
              <a:gd name="connsiteY143" fmla="*/ 180975 h 6858000"/>
              <a:gd name="connsiteX144" fmla="*/ 9525 w 10095599"/>
              <a:gd name="connsiteY144" fmla="*/ 128588 h 6858000"/>
              <a:gd name="connsiteX145" fmla="*/ 1587 w 10095599"/>
              <a:gd name="connsiteY145" fmla="*/ 682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0095599" h="6858000">
                <a:moveTo>
                  <a:pt x="0" y="0"/>
                </a:moveTo>
                <a:lnTo>
                  <a:pt x="7448352" y="0"/>
                </a:lnTo>
                <a:lnTo>
                  <a:pt x="9446485" y="0"/>
                </a:lnTo>
                <a:lnTo>
                  <a:pt x="10095599" y="0"/>
                </a:lnTo>
                <a:lnTo>
                  <a:pt x="10095599" y="6858000"/>
                </a:lnTo>
                <a:lnTo>
                  <a:pt x="9446485" y="6858000"/>
                </a:lnTo>
                <a:lnTo>
                  <a:pt x="7448352" y="6858000"/>
                </a:lnTo>
                <a:lnTo>
                  <a:pt x="0" y="6858000"/>
                </a:lnTo>
                <a:lnTo>
                  <a:pt x="1587" y="6789738"/>
                </a:lnTo>
                <a:lnTo>
                  <a:pt x="9525" y="6729413"/>
                </a:lnTo>
                <a:lnTo>
                  <a:pt x="20637" y="6677025"/>
                </a:lnTo>
                <a:lnTo>
                  <a:pt x="34925" y="6630988"/>
                </a:lnTo>
                <a:lnTo>
                  <a:pt x="50800" y="6589713"/>
                </a:lnTo>
                <a:lnTo>
                  <a:pt x="69850" y="6553200"/>
                </a:lnTo>
                <a:lnTo>
                  <a:pt x="88900" y="6515100"/>
                </a:lnTo>
                <a:lnTo>
                  <a:pt x="107950" y="6477000"/>
                </a:lnTo>
                <a:lnTo>
                  <a:pt x="123825" y="6440488"/>
                </a:lnTo>
                <a:lnTo>
                  <a:pt x="139700" y="6399213"/>
                </a:lnTo>
                <a:lnTo>
                  <a:pt x="155575" y="6353175"/>
                </a:lnTo>
                <a:lnTo>
                  <a:pt x="166687" y="6300788"/>
                </a:lnTo>
                <a:lnTo>
                  <a:pt x="173037" y="6240463"/>
                </a:lnTo>
                <a:lnTo>
                  <a:pt x="176212" y="6172200"/>
                </a:lnTo>
                <a:lnTo>
                  <a:pt x="173037" y="6103938"/>
                </a:lnTo>
                <a:lnTo>
                  <a:pt x="166687" y="6043613"/>
                </a:lnTo>
                <a:lnTo>
                  <a:pt x="155575" y="5991225"/>
                </a:lnTo>
                <a:lnTo>
                  <a:pt x="139700" y="5945188"/>
                </a:lnTo>
                <a:lnTo>
                  <a:pt x="123825" y="5903913"/>
                </a:lnTo>
                <a:lnTo>
                  <a:pt x="107950" y="5867400"/>
                </a:lnTo>
                <a:lnTo>
                  <a:pt x="88900" y="5829300"/>
                </a:lnTo>
                <a:lnTo>
                  <a:pt x="69850" y="5791200"/>
                </a:lnTo>
                <a:lnTo>
                  <a:pt x="50800" y="5754688"/>
                </a:lnTo>
                <a:lnTo>
                  <a:pt x="34925" y="5713413"/>
                </a:lnTo>
                <a:lnTo>
                  <a:pt x="20637" y="5667375"/>
                </a:lnTo>
                <a:lnTo>
                  <a:pt x="9525" y="5614988"/>
                </a:lnTo>
                <a:lnTo>
                  <a:pt x="1587" y="5554663"/>
                </a:lnTo>
                <a:lnTo>
                  <a:pt x="0" y="5486400"/>
                </a:lnTo>
                <a:lnTo>
                  <a:pt x="1587" y="5418138"/>
                </a:lnTo>
                <a:lnTo>
                  <a:pt x="9525" y="5357813"/>
                </a:lnTo>
                <a:lnTo>
                  <a:pt x="20637" y="5305425"/>
                </a:lnTo>
                <a:lnTo>
                  <a:pt x="34925" y="5259388"/>
                </a:lnTo>
                <a:lnTo>
                  <a:pt x="50800" y="5218113"/>
                </a:lnTo>
                <a:lnTo>
                  <a:pt x="69850" y="5181600"/>
                </a:lnTo>
                <a:lnTo>
                  <a:pt x="88900" y="5143500"/>
                </a:lnTo>
                <a:lnTo>
                  <a:pt x="107950" y="5105400"/>
                </a:lnTo>
                <a:lnTo>
                  <a:pt x="123825" y="5068888"/>
                </a:lnTo>
                <a:lnTo>
                  <a:pt x="139700" y="5027613"/>
                </a:lnTo>
                <a:lnTo>
                  <a:pt x="155575" y="4981575"/>
                </a:lnTo>
                <a:lnTo>
                  <a:pt x="166687" y="4929188"/>
                </a:lnTo>
                <a:lnTo>
                  <a:pt x="173037" y="4868863"/>
                </a:lnTo>
                <a:lnTo>
                  <a:pt x="176212" y="4800600"/>
                </a:lnTo>
                <a:lnTo>
                  <a:pt x="173037" y="4732338"/>
                </a:lnTo>
                <a:lnTo>
                  <a:pt x="166687" y="4672013"/>
                </a:lnTo>
                <a:lnTo>
                  <a:pt x="155575" y="4619625"/>
                </a:lnTo>
                <a:lnTo>
                  <a:pt x="139700" y="4573588"/>
                </a:lnTo>
                <a:lnTo>
                  <a:pt x="123825" y="4532313"/>
                </a:lnTo>
                <a:lnTo>
                  <a:pt x="107950" y="4495800"/>
                </a:lnTo>
                <a:lnTo>
                  <a:pt x="69850" y="4419600"/>
                </a:lnTo>
                <a:lnTo>
                  <a:pt x="50800" y="4383088"/>
                </a:lnTo>
                <a:lnTo>
                  <a:pt x="34925" y="4341813"/>
                </a:lnTo>
                <a:lnTo>
                  <a:pt x="20637" y="4295775"/>
                </a:lnTo>
                <a:lnTo>
                  <a:pt x="9525" y="4243388"/>
                </a:lnTo>
                <a:lnTo>
                  <a:pt x="1587" y="4183063"/>
                </a:lnTo>
                <a:lnTo>
                  <a:pt x="0" y="4114800"/>
                </a:lnTo>
                <a:lnTo>
                  <a:pt x="1587" y="4046538"/>
                </a:lnTo>
                <a:lnTo>
                  <a:pt x="9525" y="3986213"/>
                </a:lnTo>
                <a:lnTo>
                  <a:pt x="20637" y="3933825"/>
                </a:lnTo>
                <a:lnTo>
                  <a:pt x="34925" y="3887788"/>
                </a:lnTo>
                <a:lnTo>
                  <a:pt x="50800" y="3846513"/>
                </a:lnTo>
                <a:lnTo>
                  <a:pt x="69850" y="3810000"/>
                </a:lnTo>
                <a:lnTo>
                  <a:pt x="88900" y="3771900"/>
                </a:lnTo>
                <a:lnTo>
                  <a:pt x="107950" y="3733800"/>
                </a:lnTo>
                <a:lnTo>
                  <a:pt x="123825" y="3697288"/>
                </a:lnTo>
                <a:lnTo>
                  <a:pt x="139700" y="3656013"/>
                </a:lnTo>
                <a:lnTo>
                  <a:pt x="155575" y="3609975"/>
                </a:lnTo>
                <a:lnTo>
                  <a:pt x="166687" y="3557588"/>
                </a:lnTo>
                <a:lnTo>
                  <a:pt x="173037" y="3497263"/>
                </a:lnTo>
                <a:lnTo>
                  <a:pt x="176212" y="3427413"/>
                </a:lnTo>
                <a:lnTo>
                  <a:pt x="173037" y="3360738"/>
                </a:lnTo>
                <a:lnTo>
                  <a:pt x="166687" y="3300413"/>
                </a:lnTo>
                <a:lnTo>
                  <a:pt x="155575" y="3248025"/>
                </a:lnTo>
                <a:lnTo>
                  <a:pt x="139700" y="3201988"/>
                </a:lnTo>
                <a:lnTo>
                  <a:pt x="123825" y="3160713"/>
                </a:lnTo>
                <a:lnTo>
                  <a:pt x="107950" y="3124200"/>
                </a:lnTo>
                <a:lnTo>
                  <a:pt x="88900" y="3086100"/>
                </a:lnTo>
                <a:lnTo>
                  <a:pt x="69850" y="3048000"/>
                </a:lnTo>
                <a:lnTo>
                  <a:pt x="50800" y="3011488"/>
                </a:lnTo>
                <a:lnTo>
                  <a:pt x="34925" y="2970213"/>
                </a:lnTo>
                <a:lnTo>
                  <a:pt x="20637" y="2924175"/>
                </a:lnTo>
                <a:lnTo>
                  <a:pt x="9525" y="2871788"/>
                </a:lnTo>
                <a:lnTo>
                  <a:pt x="1587" y="2811463"/>
                </a:lnTo>
                <a:lnTo>
                  <a:pt x="0" y="2743200"/>
                </a:lnTo>
                <a:lnTo>
                  <a:pt x="1587" y="2674938"/>
                </a:lnTo>
                <a:lnTo>
                  <a:pt x="9525" y="2614613"/>
                </a:lnTo>
                <a:lnTo>
                  <a:pt x="20637" y="2562225"/>
                </a:lnTo>
                <a:lnTo>
                  <a:pt x="34925" y="2516188"/>
                </a:lnTo>
                <a:lnTo>
                  <a:pt x="50800" y="2474913"/>
                </a:lnTo>
                <a:lnTo>
                  <a:pt x="69850" y="2438400"/>
                </a:lnTo>
                <a:lnTo>
                  <a:pt x="88900" y="2400300"/>
                </a:lnTo>
                <a:lnTo>
                  <a:pt x="107950" y="2362200"/>
                </a:lnTo>
                <a:lnTo>
                  <a:pt x="123825" y="2325688"/>
                </a:lnTo>
                <a:lnTo>
                  <a:pt x="139700" y="2284413"/>
                </a:lnTo>
                <a:lnTo>
                  <a:pt x="155575" y="2238375"/>
                </a:lnTo>
                <a:lnTo>
                  <a:pt x="166687" y="2185988"/>
                </a:lnTo>
                <a:lnTo>
                  <a:pt x="173037" y="2125663"/>
                </a:lnTo>
                <a:lnTo>
                  <a:pt x="176212" y="2057400"/>
                </a:lnTo>
                <a:lnTo>
                  <a:pt x="173037" y="1989138"/>
                </a:lnTo>
                <a:lnTo>
                  <a:pt x="166687" y="1928813"/>
                </a:lnTo>
                <a:lnTo>
                  <a:pt x="155575" y="1876425"/>
                </a:lnTo>
                <a:lnTo>
                  <a:pt x="139700" y="1830388"/>
                </a:lnTo>
                <a:lnTo>
                  <a:pt x="123825" y="1789113"/>
                </a:lnTo>
                <a:lnTo>
                  <a:pt x="107950" y="1752600"/>
                </a:lnTo>
                <a:lnTo>
                  <a:pt x="88900" y="1714500"/>
                </a:lnTo>
                <a:lnTo>
                  <a:pt x="69850" y="1676400"/>
                </a:lnTo>
                <a:lnTo>
                  <a:pt x="50800" y="1639888"/>
                </a:lnTo>
                <a:lnTo>
                  <a:pt x="34925" y="1598613"/>
                </a:lnTo>
                <a:lnTo>
                  <a:pt x="20637" y="1552575"/>
                </a:lnTo>
                <a:lnTo>
                  <a:pt x="9525" y="1500188"/>
                </a:lnTo>
                <a:lnTo>
                  <a:pt x="1587" y="1439863"/>
                </a:lnTo>
                <a:lnTo>
                  <a:pt x="0" y="1371600"/>
                </a:lnTo>
                <a:lnTo>
                  <a:pt x="1587" y="1303338"/>
                </a:lnTo>
                <a:lnTo>
                  <a:pt x="9525" y="1243013"/>
                </a:lnTo>
                <a:lnTo>
                  <a:pt x="20637" y="1190625"/>
                </a:lnTo>
                <a:lnTo>
                  <a:pt x="34925" y="1144588"/>
                </a:lnTo>
                <a:lnTo>
                  <a:pt x="50800" y="1103313"/>
                </a:lnTo>
                <a:lnTo>
                  <a:pt x="69850" y="1066800"/>
                </a:lnTo>
                <a:lnTo>
                  <a:pt x="88900" y="1028700"/>
                </a:lnTo>
                <a:lnTo>
                  <a:pt x="107950" y="990600"/>
                </a:lnTo>
                <a:lnTo>
                  <a:pt x="123825" y="954088"/>
                </a:lnTo>
                <a:lnTo>
                  <a:pt x="139700" y="912813"/>
                </a:lnTo>
                <a:lnTo>
                  <a:pt x="155575" y="866775"/>
                </a:lnTo>
                <a:lnTo>
                  <a:pt x="166687" y="814388"/>
                </a:lnTo>
                <a:lnTo>
                  <a:pt x="173037" y="754063"/>
                </a:lnTo>
                <a:lnTo>
                  <a:pt x="176212" y="685800"/>
                </a:lnTo>
                <a:lnTo>
                  <a:pt x="173037" y="617538"/>
                </a:lnTo>
                <a:lnTo>
                  <a:pt x="166687" y="557213"/>
                </a:lnTo>
                <a:lnTo>
                  <a:pt x="155575" y="504825"/>
                </a:lnTo>
                <a:lnTo>
                  <a:pt x="139700" y="458788"/>
                </a:lnTo>
                <a:lnTo>
                  <a:pt x="123825" y="417513"/>
                </a:lnTo>
                <a:lnTo>
                  <a:pt x="107950" y="381000"/>
                </a:lnTo>
                <a:lnTo>
                  <a:pt x="88900" y="342900"/>
                </a:lnTo>
                <a:lnTo>
                  <a:pt x="69850" y="304800"/>
                </a:lnTo>
                <a:lnTo>
                  <a:pt x="50800" y="268288"/>
                </a:lnTo>
                <a:lnTo>
                  <a:pt x="34925" y="227013"/>
                </a:lnTo>
                <a:lnTo>
                  <a:pt x="20637" y="180975"/>
                </a:lnTo>
                <a:lnTo>
                  <a:pt x="9525" y="128588"/>
                </a:lnTo>
                <a:lnTo>
                  <a:pt x="1587" y="6826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 name="Content Placeholder 2">
            <a:extLst>
              <a:ext uri="{FF2B5EF4-FFF2-40B4-BE49-F238E27FC236}">
                <a16:creationId xmlns:a16="http://schemas.microsoft.com/office/drawing/2014/main" id="{158D61CD-35F6-BD3A-947E-F2CA8A93E751}"/>
              </a:ext>
            </a:extLst>
          </p:cNvPr>
          <p:cNvSpPr>
            <a:spLocks noGrp="1"/>
          </p:cNvSpPr>
          <p:nvPr>
            <p:ph idx="1"/>
          </p:nvPr>
        </p:nvSpPr>
        <p:spPr>
          <a:xfrm>
            <a:off x="1771649" y="960296"/>
            <a:ext cx="7151387" cy="3678379"/>
          </a:xfrm>
        </p:spPr>
        <p:txBody>
          <a:bodyPr vert="horz" lIns="68580" tIns="34290" rIns="68580" bIns="34290" rtlCol="0" anchor="t">
            <a:noAutofit/>
          </a:bodyPr>
          <a:lstStyle/>
          <a:p>
            <a:pPr marL="0" indent="0">
              <a:buNone/>
            </a:pPr>
            <a:r>
              <a:rPr lang="en-US" sz="3300" b="1" dirty="0">
                <a:latin typeface="+mj-lt"/>
                <a:ea typeface="+mj-ea"/>
                <a:cs typeface="+mj-cs"/>
              </a:rPr>
              <a:t>Mark your calendars: Coming up in 2023</a:t>
            </a:r>
            <a:endParaRPr lang="en-US" dirty="0">
              <a:cs typeface="Calibri" panose="020F0502020204030204"/>
            </a:endParaRPr>
          </a:p>
          <a:p>
            <a:pPr marL="0" indent="0">
              <a:buNone/>
            </a:pPr>
            <a:endParaRPr lang="en-US" sz="1800" b="1" dirty="0">
              <a:solidFill>
                <a:srgbClr val="000000"/>
              </a:solidFill>
              <a:latin typeface="Calibri Light"/>
              <a:cs typeface="Calibri Light"/>
            </a:endParaRPr>
          </a:p>
          <a:p>
            <a:pPr marL="0" indent="0">
              <a:buNone/>
            </a:pPr>
            <a:endParaRPr lang="en-US" dirty="0">
              <a:solidFill>
                <a:srgbClr val="000000">
                  <a:alpha val="60000"/>
                </a:srgbClr>
              </a:solidFill>
              <a:latin typeface="Calibri" panose="020F0502020204030204"/>
              <a:cs typeface="Calibri" panose="020F0502020204030204"/>
            </a:endParaRPr>
          </a:p>
          <a:p>
            <a:r>
              <a:rPr lang="en-US" b="1" dirty="0">
                <a:solidFill>
                  <a:schemeClr val="tx1">
                    <a:alpha val="60000"/>
                  </a:schemeClr>
                </a:solidFill>
              </a:rPr>
              <a:t>Next MTI Quarterly Training: Community Life Engagement</a:t>
            </a:r>
            <a:endParaRPr lang="en-US" dirty="0">
              <a:solidFill>
                <a:schemeClr val="tx1">
                  <a:alpha val="60000"/>
                </a:schemeClr>
              </a:solidFill>
            </a:endParaRPr>
          </a:p>
          <a:p>
            <a:pPr lvl="1"/>
            <a:r>
              <a:rPr lang="en-US" dirty="0">
                <a:solidFill>
                  <a:schemeClr val="tx1">
                    <a:alpha val="60000"/>
                  </a:schemeClr>
                </a:solidFill>
              </a:rPr>
              <a:t> 5/25/23 at 1pm CT</a:t>
            </a:r>
            <a:endParaRPr lang="en-US" dirty="0">
              <a:solidFill>
                <a:schemeClr val="tx1">
                  <a:alpha val="60000"/>
                </a:schemeClr>
              </a:solidFill>
              <a:cs typeface="Calibri"/>
            </a:endParaRPr>
          </a:p>
          <a:p>
            <a:pPr marL="342900" lvl="1" indent="0">
              <a:buNone/>
            </a:pPr>
            <a:endParaRPr lang="en-US" i="1" dirty="0">
              <a:solidFill>
                <a:srgbClr val="000000">
                  <a:alpha val="60000"/>
                </a:srgbClr>
              </a:solidFill>
              <a:latin typeface="Calibri" panose="020F0502020204030204"/>
              <a:ea typeface="+mj-ea"/>
              <a:cs typeface="Calibri" panose="020F0502020204030204"/>
            </a:endParaRPr>
          </a:p>
          <a:p>
            <a:pPr marL="0" indent="0">
              <a:buNone/>
            </a:pPr>
            <a:endParaRPr lang="en-US" dirty="0">
              <a:solidFill>
                <a:srgbClr val="000000">
                  <a:alpha val="60000"/>
                </a:srgbClr>
              </a:solidFill>
              <a:cs typeface="Calibri" panose="020F0502020204030204"/>
            </a:endParaRPr>
          </a:p>
          <a:p>
            <a:pPr marL="0" indent="0">
              <a:buNone/>
            </a:pPr>
            <a:endParaRPr lang="en-US" dirty="0">
              <a:solidFill>
                <a:srgbClr val="000000">
                  <a:alpha val="60000"/>
                </a:srgbClr>
              </a:solidFill>
              <a:cs typeface="Calibri" panose="020F0502020204030204"/>
            </a:endParaRPr>
          </a:p>
        </p:txBody>
      </p:sp>
      <p:pic>
        <p:nvPicPr>
          <p:cNvPr id="4" name="Picture 3" descr="Logo&#10;&#10;Description automatically generated with medium confidence">
            <a:extLst>
              <a:ext uri="{FF2B5EF4-FFF2-40B4-BE49-F238E27FC236}">
                <a16:creationId xmlns:a16="http://schemas.microsoft.com/office/drawing/2014/main" id="{5F903BC0-EBD6-FDF7-22E3-1096C4EC6901}"/>
              </a:ext>
            </a:extLst>
          </p:cNvPr>
          <p:cNvPicPr>
            <a:picLocks noChangeAspect="1"/>
          </p:cNvPicPr>
          <p:nvPr/>
        </p:nvPicPr>
        <p:blipFill>
          <a:blip r:embed="rId3"/>
          <a:stretch>
            <a:fillRect/>
          </a:stretch>
        </p:blipFill>
        <p:spPr>
          <a:xfrm>
            <a:off x="8031534" y="5328200"/>
            <a:ext cx="940042" cy="465572"/>
          </a:xfrm>
          <a:prstGeom prst="rect">
            <a:avLst/>
          </a:prstGeom>
        </p:spPr>
      </p:pic>
      <p:sp>
        <p:nvSpPr>
          <p:cNvPr id="5" name="TextBox 4">
            <a:extLst>
              <a:ext uri="{FF2B5EF4-FFF2-40B4-BE49-F238E27FC236}">
                <a16:creationId xmlns:a16="http://schemas.microsoft.com/office/drawing/2014/main" id="{BB79A384-ED03-1920-29EF-DDB48BB70D96}"/>
              </a:ext>
            </a:extLst>
          </p:cNvPr>
          <p:cNvSpPr txBox="1"/>
          <p:nvPr/>
        </p:nvSpPr>
        <p:spPr>
          <a:xfrm>
            <a:off x="2154256" y="3585457"/>
            <a:ext cx="2688656" cy="1315745"/>
          </a:xfrm>
          <a:prstGeom prst="rect">
            <a:avLst/>
          </a:prstGeom>
          <a:solidFill>
            <a:schemeClr val="bg1"/>
          </a:solidFill>
          <a:ln w="57150">
            <a:solidFill>
              <a:srgbClr val="C00000"/>
            </a:solidFill>
          </a:ln>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dirty="0"/>
              <a:t>MTI Landing Page: </a:t>
            </a:r>
            <a:r>
              <a:rPr lang="en-US" sz="1350" dirty="0">
                <a:hlinkClick r:id="rId4"/>
              </a:rPr>
              <a:t>https://mti.ici.umn.edu/</a:t>
            </a:r>
            <a:endParaRPr lang="en-US" sz="1350"/>
          </a:p>
          <a:p>
            <a:r>
              <a:rPr lang="en-US" sz="1350" dirty="0"/>
              <a:t>• About the project </a:t>
            </a:r>
            <a:endParaRPr lang="en-US" sz="1350" dirty="0">
              <a:cs typeface="Calibri"/>
            </a:endParaRPr>
          </a:p>
          <a:p>
            <a:r>
              <a:rPr lang="en-US" sz="1350" dirty="0"/>
              <a:t>• Recorded trainings</a:t>
            </a:r>
            <a:endParaRPr lang="en-US" sz="1350" dirty="0">
              <a:cs typeface="Calibri"/>
            </a:endParaRPr>
          </a:p>
          <a:p>
            <a:r>
              <a:rPr lang="en-US" sz="1350" dirty="0"/>
              <a:t>• Registration </a:t>
            </a:r>
            <a:endParaRPr lang="en-US" sz="1350" dirty="0">
              <a:cs typeface="Calibri"/>
            </a:endParaRPr>
          </a:p>
          <a:p>
            <a:r>
              <a:rPr lang="en-US" sz="1350" dirty="0">
                <a:ea typeface="+mn-lt"/>
                <a:cs typeface="+mn-lt"/>
              </a:rPr>
              <a:t>• Resources</a:t>
            </a:r>
            <a:r>
              <a:rPr lang="en-US" sz="1350" dirty="0"/>
              <a:t>  </a:t>
            </a:r>
            <a:endParaRPr lang="en-US" sz="1350" dirty="0">
              <a:cs typeface="Calibri"/>
            </a:endParaRPr>
          </a:p>
        </p:txBody>
      </p:sp>
    </p:spTree>
    <p:extLst>
      <p:ext uri="{BB962C8B-B14F-4D97-AF65-F5344CB8AC3E}">
        <p14:creationId xmlns:p14="http://schemas.microsoft.com/office/powerpoint/2010/main" val="3485645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C1C68E-62F8-758E-C853-E1FF84DE704C}"/>
              </a:ext>
            </a:extLst>
          </p:cNvPr>
          <p:cNvSpPr>
            <a:spLocks noGrp="1"/>
          </p:cNvSpPr>
          <p:nvPr>
            <p:ph type="title"/>
          </p:nvPr>
        </p:nvSpPr>
        <p:spPr>
          <a:xfrm>
            <a:off x="630936" y="548640"/>
            <a:ext cx="2700645" cy="5431536"/>
          </a:xfrm>
        </p:spPr>
        <p:txBody>
          <a:bodyPr>
            <a:normAutofit/>
          </a:bodyPr>
          <a:lstStyle/>
          <a:p>
            <a:r>
              <a:rPr lang="en-US" sz="4300" b="1" i="1">
                <a:latin typeface="+mn-lt"/>
                <a:ea typeface="+mn-ea"/>
                <a:cs typeface="+mn-cs"/>
              </a:rPr>
              <a:t>Additional Resources</a:t>
            </a: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 name="connsiteX0" fmla="*/ 0 w 4480560"/>
              <a:gd name="connsiteY0" fmla="*/ 0 h 13716"/>
              <a:gd name="connsiteX1" fmla="*/ 595274 w 4480560"/>
              <a:gd name="connsiteY1" fmla="*/ 0 h 13716"/>
              <a:gd name="connsiteX2" fmla="*/ 1100938 w 4480560"/>
              <a:gd name="connsiteY2" fmla="*/ 0 h 13716"/>
              <a:gd name="connsiteX3" fmla="*/ 1830629 w 4480560"/>
              <a:gd name="connsiteY3" fmla="*/ 0 h 13716"/>
              <a:gd name="connsiteX4" fmla="*/ 2425903 w 4480560"/>
              <a:gd name="connsiteY4" fmla="*/ 0 h 13716"/>
              <a:gd name="connsiteX5" fmla="*/ 3021178 w 4480560"/>
              <a:gd name="connsiteY5" fmla="*/ 0 h 13716"/>
              <a:gd name="connsiteX6" fmla="*/ 3750869 w 4480560"/>
              <a:gd name="connsiteY6" fmla="*/ 0 h 13716"/>
              <a:gd name="connsiteX7" fmla="*/ 4480560 w 4480560"/>
              <a:gd name="connsiteY7" fmla="*/ 0 h 13716"/>
              <a:gd name="connsiteX8" fmla="*/ 4480560 w 4480560"/>
              <a:gd name="connsiteY8" fmla="*/ 13716 h 13716"/>
              <a:gd name="connsiteX9" fmla="*/ 3930091 w 4480560"/>
              <a:gd name="connsiteY9" fmla="*/ 13716 h 13716"/>
              <a:gd name="connsiteX10" fmla="*/ 3290011 w 4480560"/>
              <a:gd name="connsiteY10" fmla="*/ 13716 h 13716"/>
              <a:gd name="connsiteX11" fmla="*/ 2649931 w 4480560"/>
              <a:gd name="connsiteY11" fmla="*/ 13716 h 13716"/>
              <a:gd name="connsiteX12" fmla="*/ 2054657 w 4480560"/>
              <a:gd name="connsiteY12" fmla="*/ 13716 h 13716"/>
              <a:gd name="connsiteX13" fmla="*/ 1324966 w 4480560"/>
              <a:gd name="connsiteY13" fmla="*/ 13716 h 13716"/>
              <a:gd name="connsiteX14" fmla="*/ 595274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574" y="14606"/>
                  <a:pt x="338605" y="-40"/>
                  <a:pt x="595274" y="0"/>
                </a:cubicBezTo>
                <a:cubicBezTo>
                  <a:pt x="856171" y="-2198"/>
                  <a:pt x="863435" y="-13333"/>
                  <a:pt x="1100938" y="0"/>
                </a:cubicBezTo>
                <a:cubicBezTo>
                  <a:pt x="1340270" y="17713"/>
                  <a:pt x="1418448" y="-18893"/>
                  <a:pt x="1651406" y="0"/>
                </a:cubicBezTo>
                <a:cubicBezTo>
                  <a:pt x="1875387" y="1627"/>
                  <a:pt x="2153037" y="22688"/>
                  <a:pt x="2336292" y="0"/>
                </a:cubicBezTo>
                <a:cubicBezTo>
                  <a:pt x="2522206" y="-4211"/>
                  <a:pt x="2718333" y="34959"/>
                  <a:pt x="2931566" y="0"/>
                </a:cubicBezTo>
                <a:cubicBezTo>
                  <a:pt x="3137043" y="-17106"/>
                  <a:pt x="3304331" y="1415"/>
                  <a:pt x="3482035" y="0"/>
                </a:cubicBezTo>
                <a:cubicBezTo>
                  <a:pt x="3649837" y="-24078"/>
                  <a:pt x="4010577" y="-51921"/>
                  <a:pt x="4480560" y="0"/>
                </a:cubicBezTo>
                <a:cubicBezTo>
                  <a:pt x="4480642" y="3611"/>
                  <a:pt x="4480510" y="9346"/>
                  <a:pt x="4480560" y="13716"/>
                </a:cubicBezTo>
                <a:cubicBezTo>
                  <a:pt x="4305601" y="36948"/>
                  <a:pt x="4025154" y="21890"/>
                  <a:pt x="3840480" y="13716"/>
                </a:cubicBezTo>
                <a:cubicBezTo>
                  <a:pt x="3668919" y="-16903"/>
                  <a:pt x="3556555" y="-17246"/>
                  <a:pt x="3290011" y="13716"/>
                </a:cubicBezTo>
                <a:cubicBezTo>
                  <a:pt x="2991827" y="13600"/>
                  <a:pt x="2862038" y="-27094"/>
                  <a:pt x="2560320" y="13716"/>
                </a:cubicBezTo>
                <a:cubicBezTo>
                  <a:pt x="2273396" y="32804"/>
                  <a:pt x="2159701" y="35426"/>
                  <a:pt x="1965046" y="13716"/>
                </a:cubicBezTo>
                <a:cubicBezTo>
                  <a:pt x="1785994" y="24616"/>
                  <a:pt x="1686680" y="47748"/>
                  <a:pt x="1459382" y="13716"/>
                </a:cubicBezTo>
                <a:cubicBezTo>
                  <a:pt x="1260610" y="398"/>
                  <a:pt x="913962" y="26960"/>
                  <a:pt x="774497" y="13716"/>
                </a:cubicBezTo>
                <a:cubicBezTo>
                  <a:pt x="689426" y="-2719"/>
                  <a:pt x="378264" y="1751"/>
                  <a:pt x="0" y="13716"/>
                </a:cubicBezTo>
                <a:cubicBezTo>
                  <a:pt x="-173" y="8371"/>
                  <a:pt x="-387" y="6213"/>
                  <a:pt x="0" y="0"/>
                </a:cubicBezTo>
                <a:close/>
              </a:path>
              <a:path w="4480560" h="13716" stroke="0" extrusionOk="0">
                <a:moveTo>
                  <a:pt x="0" y="0"/>
                </a:moveTo>
                <a:cubicBezTo>
                  <a:pt x="290844" y="5546"/>
                  <a:pt x="318443" y="10543"/>
                  <a:pt x="595274" y="0"/>
                </a:cubicBezTo>
                <a:cubicBezTo>
                  <a:pt x="862223" y="-10630"/>
                  <a:pt x="1008164" y="-6970"/>
                  <a:pt x="1100938" y="0"/>
                </a:cubicBezTo>
                <a:cubicBezTo>
                  <a:pt x="1231751" y="-9052"/>
                  <a:pt x="1563421" y="-55931"/>
                  <a:pt x="1830629" y="0"/>
                </a:cubicBezTo>
                <a:cubicBezTo>
                  <a:pt x="2081843" y="38764"/>
                  <a:pt x="2181743" y="16966"/>
                  <a:pt x="2425903" y="0"/>
                </a:cubicBezTo>
                <a:cubicBezTo>
                  <a:pt x="2657412" y="-20059"/>
                  <a:pt x="2795431" y="8423"/>
                  <a:pt x="3021178" y="0"/>
                </a:cubicBezTo>
                <a:cubicBezTo>
                  <a:pt x="3275119" y="-4749"/>
                  <a:pt x="3480943" y="2522"/>
                  <a:pt x="3750869" y="0"/>
                </a:cubicBezTo>
                <a:cubicBezTo>
                  <a:pt x="4005211" y="16055"/>
                  <a:pt x="4302144" y="-2969"/>
                  <a:pt x="4480560" y="0"/>
                </a:cubicBezTo>
                <a:cubicBezTo>
                  <a:pt x="4480397" y="3458"/>
                  <a:pt x="4481383" y="8632"/>
                  <a:pt x="4480560" y="13716"/>
                </a:cubicBezTo>
                <a:cubicBezTo>
                  <a:pt x="4261480" y="-10003"/>
                  <a:pt x="4206199" y="28529"/>
                  <a:pt x="3930091" y="13716"/>
                </a:cubicBezTo>
                <a:cubicBezTo>
                  <a:pt x="3666932" y="-15474"/>
                  <a:pt x="3493645" y="14804"/>
                  <a:pt x="3290011" y="13716"/>
                </a:cubicBezTo>
                <a:cubicBezTo>
                  <a:pt x="3137078" y="-41032"/>
                  <a:pt x="2894690" y="-17948"/>
                  <a:pt x="2649931" y="13716"/>
                </a:cubicBezTo>
                <a:cubicBezTo>
                  <a:pt x="2413020" y="21294"/>
                  <a:pt x="2225991" y="-10559"/>
                  <a:pt x="2054657" y="13716"/>
                </a:cubicBezTo>
                <a:cubicBezTo>
                  <a:pt x="1886877" y="37541"/>
                  <a:pt x="1548763" y="45390"/>
                  <a:pt x="1324966" y="13716"/>
                </a:cubicBezTo>
                <a:cubicBezTo>
                  <a:pt x="1040995" y="1897"/>
                  <a:pt x="786929" y="-17655"/>
                  <a:pt x="595274" y="13716"/>
                </a:cubicBezTo>
                <a:cubicBezTo>
                  <a:pt x="371401" y="32831"/>
                  <a:pt x="168483" y="23167"/>
                  <a:pt x="0" y="13716"/>
                </a:cubicBezTo>
                <a:cubicBezTo>
                  <a:pt x="-740" y="8467"/>
                  <a:pt x="-279" y="4434"/>
                  <a:pt x="0" y="0"/>
                </a:cubicBezTo>
                <a:close/>
              </a:path>
              <a:path w="4480560" h="13716" fill="none" stroke="0" extrusionOk="0">
                <a:moveTo>
                  <a:pt x="0" y="0"/>
                </a:moveTo>
                <a:cubicBezTo>
                  <a:pt x="254633" y="596"/>
                  <a:pt x="318854" y="8353"/>
                  <a:pt x="595274" y="0"/>
                </a:cubicBezTo>
                <a:cubicBezTo>
                  <a:pt x="857042" y="-2503"/>
                  <a:pt x="863005" y="-13327"/>
                  <a:pt x="1100938" y="0"/>
                </a:cubicBezTo>
                <a:cubicBezTo>
                  <a:pt x="1322315" y="28736"/>
                  <a:pt x="1429801" y="-15572"/>
                  <a:pt x="1651406" y="0"/>
                </a:cubicBezTo>
                <a:cubicBezTo>
                  <a:pt x="1861310" y="20479"/>
                  <a:pt x="2199002" y="36173"/>
                  <a:pt x="2336292" y="0"/>
                </a:cubicBezTo>
                <a:cubicBezTo>
                  <a:pt x="2504451" y="-23230"/>
                  <a:pt x="2735943" y="-3451"/>
                  <a:pt x="2931566" y="0"/>
                </a:cubicBezTo>
                <a:cubicBezTo>
                  <a:pt x="3109081" y="-33272"/>
                  <a:pt x="3310374" y="39503"/>
                  <a:pt x="3482035" y="0"/>
                </a:cubicBezTo>
                <a:cubicBezTo>
                  <a:pt x="3630968" y="-117346"/>
                  <a:pt x="3975789" y="30358"/>
                  <a:pt x="4480560" y="0"/>
                </a:cubicBezTo>
                <a:cubicBezTo>
                  <a:pt x="4480546" y="3532"/>
                  <a:pt x="4481771" y="9530"/>
                  <a:pt x="4480560" y="13716"/>
                </a:cubicBezTo>
                <a:cubicBezTo>
                  <a:pt x="4299745" y="8025"/>
                  <a:pt x="4055484" y="54224"/>
                  <a:pt x="3840480" y="13716"/>
                </a:cubicBezTo>
                <a:cubicBezTo>
                  <a:pt x="3665362" y="14404"/>
                  <a:pt x="3548412" y="6532"/>
                  <a:pt x="3290011" y="13716"/>
                </a:cubicBezTo>
                <a:cubicBezTo>
                  <a:pt x="3037450" y="36923"/>
                  <a:pt x="2862123" y="43167"/>
                  <a:pt x="2560320" y="13716"/>
                </a:cubicBezTo>
                <a:cubicBezTo>
                  <a:pt x="2308793" y="7156"/>
                  <a:pt x="2153402" y="-25971"/>
                  <a:pt x="1965046" y="13716"/>
                </a:cubicBezTo>
                <a:cubicBezTo>
                  <a:pt x="1778601" y="25944"/>
                  <a:pt x="1672011" y="23840"/>
                  <a:pt x="1459382" y="13716"/>
                </a:cubicBezTo>
                <a:cubicBezTo>
                  <a:pt x="1212351" y="-9856"/>
                  <a:pt x="906131" y="12859"/>
                  <a:pt x="774497" y="13716"/>
                </a:cubicBezTo>
                <a:cubicBezTo>
                  <a:pt x="636671" y="-47283"/>
                  <a:pt x="331670" y="1705"/>
                  <a:pt x="0" y="13716"/>
                </a:cubicBezTo>
                <a:cubicBezTo>
                  <a:pt x="-561" y="8546"/>
                  <a:pt x="-377" y="61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77EAF16-B459-176C-6A43-85B349E25ED2}"/>
              </a:ext>
            </a:extLst>
          </p:cNvPr>
          <p:cNvSpPr>
            <a:spLocks noGrp="1"/>
          </p:cNvSpPr>
          <p:nvPr>
            <p:ph idx="1"/>
          </p:nvPr>
        </p:nvSpPr>
        <p:spPr>
          <a:xfrm>
            <a:off x="3844813" y="552091"/>
            <a:ext cx="4668251" cy="5431536"/>
          </a:xfrm>
        </p:spPr>
        <p:txBody>
          <a:bodyPr anchor="ctr">
            <a:normAutofit/>
          </a:bodyPr>
          <a:lstStyle/>
          <a:p>
            <a:pPr marL="0" indent="0">
              <a:spcBef>
                <a:spcPts val="1080"/>
              </a:spcBef>
              <a:buNone/>
            </a:pPr>
            <a:r>
              <a:rPr lang="en-US" sz="1900">
                <a:hlinkClick r:id="rId2"/>
              </a:rPr>
              <a:t>Agency Change Toolkit: Ten elements of organizational transformation</a:t>
            </a:r>
            <a:endParaRPr lang="en-US" sz="1900"/>
          </a:p>
          <a:p>
            <a:pPr marL="0" indent="0">
              <a:spcBef>
                <a:spcPts val="1080"/>
              </a:spcBef>
              <a:buNone/>
            </a:pPr>
            <a:endParaRPr lang="en-US" sz="1900"/>
          </a:p>
          <a:p>
            <a:pPr marL="0" indent="0">
              <a:spcBef>
                <a:spcPts val="1080"/>
              </a:spcBef>
              <a:buNone/>
            </a:pPr>
            <a:r>
              <a:rPr lang="en-US" sz="1900">
                <a:hlinkClick r:id="rId3"/>
              </a:rPr>
              <a:t>Delphi panel findings</a:t>
            </a:r>
            <a:endParaRPr lang="en-US" sz="1900"/>
          </a:p>
          <a:p>
            <a:pPr marL="0" indent="0">
              <a:spcBef>
                <a:spcPts val="1080"/>
              </a:spcBef>
              <a:buNone/>
            </a:pPr>
            <a:endParaRPr lang="en-US" sz="1900"/>
          </a:p>
          <a:p>
            <a:pPr marL="0" indent="0">
              <a:spcBef>
                <a:spcPts val="1080"/>
              </a:spcBef>
              <a:buNone/>
            </a:pPr>
            <a:r>
              <a:rPr lang="en-US" sz="1900">
                <a:hlinkClick r:id="rId4"/>
              </a:rPr>
              <a:t>Provider experiences</a:t>
            </a:r>
            <a:endParaRPr lang="en-US" sz="1900"/>
          </a:p>
          <a:p>
            <a:pPr marL="0" indent="0">
              <a:spcBef>
                <a:spcPts val="1080"/>
              </a:spcBef>
              <a:buNone/>
            </a:pPr>
            <a:endParaRPr lang="en-US" sz="1900"/>
          </a:p>
          <a:p>
            <a:pPr marL="0" indent="0">
              <a:spcBef>
                <a:spcPts val="1080"/>
              </a:spcBef>
              <a:buNone/>
            </a:pPr>
            <a:r>
              <a:rPr lang="en-US" sz="1900">
                <a:hlinkClick r:id="rId5"/>
              </a:rPr>
              <a:t>Guidance for conversations: Identifying and designing pathways towards rewarding employment</a:t>
            </a:r>
            <a:br>
              <a:rPr lang="en-US" sz="1900"/>
            </a:br>
            <a:r>
              <a:rPr lang="en-US" sz="1900"/>
              <a:t>State Employment Leadership Network</a:t>
            </a:r>
          </a:p>
        </p:txBody>
      </p:sp>
      <p:pic>
        <p:nvPicPr>
          <p:cNvPr id="5" name="Picture 4" descr="Logo&#10;&#10;Description automatically generated with medium confidence">
            <a:extLst>
              <a:ext uri="{FF2B5EF4-FFF2-40B4-BE49-F238E27FC236}">
                <a16:creationId xmlns:a16="http://schemas.microsoft.com/office/drawing/2014/main" id="{64758F5D-60B8-AEAF-C0B3-2519D2714D39}"/>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7681279" y="6187074"/>
            <a:ext cx="1020760" cy="513447"/>
          </a:xfrm>
          <a:prstGeom prst="rect">
            <a:avLst/>
          </a:prstGeom>
        </p:spPr>
      </p:pic>
    </p:spTree>
    <p:extLst>
      <p:ext uri="{BB962C8B-B14F-4D97-AF65-F5344CB8AC3E}">
        <p14:creationId xmlns:p14="http://schemas.microsoft.com/office/powerpoint/2010/main" val="1451501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2B4CAAFA20B174C9D092CEDE2B75F72" ma:contentTypeVersion="12" ma:contentTypeDescription="Create a new document." ma:contentTypeScope="" ma:versionID="d2d9954a2295b08d10c281ee49c3b73c">
  <xsd:schema xmlns:xsd="http://www.w3.org/2001/XMLSchema" xmlns:xs="http://www.w3.org/2001/XMLSchema" xmlns:p="http://schemas.microsoft.com/office/2006/metadata/properties" xmlns:ns2="13a59ec9-72ae-4468-8b69-a6fc079d6534" xmlns:ns3="f6e3e907-bc34-45f2-9bd0-9583dc1f18f1" targetNamespace="http://schemas.microsoft.com/office/2006/metadata/properties" ma:root="true" ma:fieldsID="57682efd08ffa92f580bd068c9cb8882" ns2:_="" ns3:_="">
    <xsd:import namespace="13a59ec9-72ae-4468-8b69-a6fc079d6534"/>
    <xsd:import namespace="f6e3e907-bc34-45f2-9bd0-9583dc1f18f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a59ec9-72ae-4468-8b69-a6fc079d65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e3e907-bc34-45f2-9bd0-9583dc1f18f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c067b02-87a6-49ea-b506-9b6aa8bcae63}" ma:internalName="TaxCatchAll" ma:showField="CatchAllData" ma:web="f6e3e907-bc34-45f2-9bd0-9583dc1f18f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3a59ec9-72ae-4468-8b69-a6fc079d6534">
      <Terms xmlns="http://schemas.microsoft.com/office/infopath/2007/PartnerControls"/>
    </lcf76f155ced4ddcb4097134ff3c332f>
    <TaxCatchAll xmlns="f6e3e907-bc34-45f2-9bd0-9583dc1f18f1" xsi:nil="true"/>
  </documentManagement>
</p:properties>
</file>

<file path=customXml/itemProps1.xml><?xml version="1.0" encoding="utf-8"?>
<ds:datastoreItem xmlns:ds="http://schemas.openxmlformats.org/officeDocument/2006/customXml" ds:itemID="{0783E22C-0A4E-473F-AA4B-B31E6235AFCF}">
  <ds:schemaRefs>
    <ds:schemaRef ds:uri="http://schemas.microsoft.com/sharepoint/v3/contenttype/forms"/>
  </ds:schemaRefs>
</ds:datastoreItem>
</file>

<file path=customXml/itemProps2.xml><?xml version="1.0" encoding="utf-8"?>
<ds:datastoreItem xmlns:ds="http://schemas.openxmlformats.org/officeDocument/2006/customXml" ds:itemID="{88F65773-CE61-40F2-B530-F36173526F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a59ec9-72ae-4468-8b69-a6fc079d6534"/>
    <ds:schemaRef ds:uri="f6e3e907-bc34-45f2-9bd0-9583dc1f1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A72996-E1A8-455F-91E4-86722DC21B9D}">
  <ds:schemaRefs>
    <ds:schemaRef ds:uri="http://purl.org/dc/elements/1.1/"/>
    <ds:schemaRef ds:uri="http://schemas.openxmlformats.org/package/2006/metadata/core-properties"/>
    <ds:schemaRef ds:uri="http://schemas.microsoft.com/office/2006/documentManagement/types"/>
    <ds:schemaRef ds:uri="http://www.w3.org/XML/1998/namespace"/>
    <ds:schemaRef ds:uri="http://schemas.microsoft.com/office/infopath/2007/PartnerControls"/>
    <ds:schemaRef ds:uri="13a59ec9-72ae-4468-8b69-a6fc079d6534"/>
    <ds:schemaRef ds:uri="http://purl.org/dc/terms/"/>
    <ds:schemaRef ds:uri="http://purl.org/dc/dcmitype/"/>
    <ds:schemaRef ds:uri="f6e3e907-bc34-45f2-9bd0-9583dc1f18f1"/>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315</TotalTime>
  <Words>3634</Words>
  <Application>Microsoft Office PowerPoint</Application>
  <PresentationFormat>On-screen Show (4:3)</PresentationFormat>
  <Paragraphs>360</Paragraphs>
  <Slides>31</Slides>
  <Notes>24</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31</vt:i4>
      </vt:variant>
    </vt:vector>
  </HeadingPairs>
  <TitlesOfParts>
    <vt:vector size="46" baseType="lpstr">
      <vt:lpstr>Arial</vt:lpstr>
      <vt:lpstr>Calibri</vt:lpstr>
      <vt:lpstr>Calibri Light</vt:lpstr>
      <vt:lpstr>Candara</vt:lpstr>
      <vt:lpstr>Corbel</vt:lpstr>
      <vt:lpstr>Monotype Sorts</vt:lpstr>
      <vt:lpstr>Segoe UI</vt:lpstr>
      <vt:lpstr>Times</vt:lpstr>
      <vt:lpstr>Times New Roman</vt:lpstr>
      <vt:lpstr>Trebuchet MS</vt:lpstr>
      <vt:lpstr>Wingdings 3</vt:lpstr>
      <vt:lpstr>Office Theme</vt:lpstr>
      <vt:lpstr>Office Theme</vt:lpstr>
      <vt:lpstr>Facet</vt:lpstr>
      <vt:lpstr>Office Theme</vt:lpstr>
      <vt:lpstr>Managing Through Change</vt:lpstr>
      <vt:lpstr>PowerPoint Presentation</vt:lpstr>
      <vt:lpstr>Introductions  </vt:lpstr>
      <vt:lpstr>Poll #1</vt:lpstr>
      <vt:lpstr>Organizational Transformation:  Intersection of Leadership, Culture &amp; Purpose in Transformation</vt:lpstr>
      <vt:lpstr>Session Objectives:</vt:lpstr>
      <vt:lpstr>10 Essential Elements of Provider Transformation</vt:lpstr>
      <vt:lpstr>PowerPoint Presentation</vt:lpstr>
      <vt:lpstr>PowerPoint Presentation</vt:lpstr>
      <vt:lpstr> A Case for Answering the “Why”</vt:lpstr>
      <vt:lpstr>PHASE-Industries: Lessons Learned in the Transformation Journey</vt:lpstr>
      <vt:lpstr>Leadership in Transformation</vt:lpstr>
      <vt:lpstr>Organizational Transformation</vt:lpstr>
      <vt:lpstr>The MRCI Story</vt:lpstr>
      <vt:lpstr>The “New” MRCI Menu of Services</vt:lpstr>
      <vt:lpstr>Organizational Transformation: Essential elements of successful organizational transformation: INTERPRETED to “MRCI Jargon”  </vt:lpstr>
      <vt:lpstr>Clear and consistent goals</vt:lpstr>
      <vt:lpstr>We learned…</vt:lpstr>
      <vt:lpstr>Agency culture supports inclusion</vt:lpstr>
      <vt:lpstr>We learned…</vt:lpstr>
      <vt:lpstr>An active, person-centered job placement process</vt:lpstr>
      <vt:lpstr>We Learned…</vt:lpstr>
      <vt:lpstr>A Strong Internal and External Communication Plan</vt:lpstr>
      <vt:lpstr>Communicate expectations often and to all</vt:lpstr>
      <vt:lpstr>Reallocate and restructure all resources</vt:lpstr>
      <vt:lpstr>Ongoing professional development of staff</vt:lpstr>
      <vt:lpstr>Implementing the Plan, Considerate it a Journey</vt:lpstr>
      <vt:lpstr>Contact Tami Reuter &amp; Nate Lotton</vt:lpstr>
      <vt:lpstr>PowerPoint Presentation</vt:lpstr>
      <vt:lpstr>PowerPoint Presentation</vt:lpstr>
      <vt:lpstr>Additional Resources</vt:lpstr>
    </vt:vector>
  </TitlesOfParts>
  <Company>University of Massachusetts Boston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Annual Earned Income 2009 Nation</dc:title>
  <dc:creator>John Butterworth</dc:creator>
  <cp:lastModifiedBy>Staci Jones</cp:lastModifiedBy>
  <cp:revision>325</cp:revision>
  <cp:lastPrinted>2017-06-27T23:30:56Z</cp:lastPrinted>
  <dcterms:created xsi:type="dcterms:W3CDTF">2014-06-04T15:17:22Z</dcterms:created>
  <dcterms:modified xsi:type="dcterms:W3CDTF">2023-02-16T18:28:15Z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0x01010022B4CAAFA20B174C9D092CEDE2B75F72</vt:lpwstr>
  </property>
  <property fmtid="{D5CDD505-2E9C-101B-9397-08002B2CF9AE}" pid="3" name="MediaServiceImageTags">
    <vt:lpwstr/>
  </property>
</Properties>
</file>