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41" r:id="rId4"/>
  </p:sldMasterIdLst>
  <p:notesMasterIdLst>
    <p:notesMasterId r:id="rId20"/>
  </p:notesMasterIdLst>
  <p:sldIdLst>
    <p:sldId id="256" r:id="rId5"/>
    <p:sldId id="264" r:id="rId6"/>
    <p:sldId id="1315" r:id="rId7"/>
    <p:sldId id="1314" r:id="rId8"/>
    <p:sldId id="1316" r:id="rId9"/>
    <p:sldId id="1317" r:id="rId10"/>
    <p:sldId id="1318" r:id="rId11"/>
    <p:sldId id="265" r:id="rId12"/>
    <p:sldId id="1312" r:id="rId13"/>
    <p:sldId id="505" r:id="rId14"/>
    <p:sldId id="508" r:id="rId15"/>
    <p:sldId id="262" r:id="rId16"/>
    <p:sldId id="263" r:id="rId17"/>
    <p:sldId id="266" r:id="rId18"/>
    <p:sldId id="131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D191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44887" autoAdjust="0"/>
  </p:normalViewPr>
  <p:slideViewPr>
    <p:cSldViewPr snapToGrid="0">
      <p:cViewPr varScale="1">
        <p:scale>
          <a:sx n="48" d="100"/>
          <a:sy n="48" d="100"/>
        </p:scale>
        <p:origin x="2888"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aci Jones" userId="8493031c-935c-4567-bcd9-185995e08a61" providerId="ADAL" clId="{99911B7C-3EE5-4B46-9856-82385C9A9DBD}"/>
    <pc:docChg chg="custSel modSld">
      <pc:chgData name="Staci Jones" userId="8493031c-935c-4567-bcd9-185995e08a61" providerId="ADAL" clId="{99911B7C-3EE5-4B46-9856-82385C9A9DBD}" dt="2024-01-24T18:10:06.292" v="2934" actId="255"/>
      <pc:docMkLst>
        <pc:docMk/>
      </pc:docMkLst>
      <pc:sldChg chg="modNotesTx">
        <pc:chgData name="Staci Jones" userId="8493031c-935c-4567-bcd9-185995e08a61" providerId="ADAL" clId="{99911B7C-3EE5-4B46-9856-82385C9A9DBD}" dt="2024-01-24T18:10:06.292" v="2934" actId="255"/>
        <pc:sldMkLst>
          <pc:docMk/>
          <pc:sldMk cId="208682763" sldId="265"/>
        </pc:sldMkLst>
      </pc:sldChg>
      <pc:sldChg chg="modNotesTx">
        <pc:chgData name="Staci Jones" userId="8493031c-935c-4567-bcd9-185995e08a61" providerId="ADAL" clId="{99911B7C-3EE5-4B46-9856-82385C9A9DBD}" dt="2024-01-24T17:40:13.971" v="2138" actId="20577"/>
        <pc:sldMkLst>
          <pc:docMk/>
          <pc:sldMk cId="1549848492" sldId="505"/>
        </pc:sldMkLst>
      </pc:sldChg>
      <pc:sldChg chg="modNotesTx">
        <pc:chgData name="Staci Jones" userId="8493031c-935c-4567-bcd9-185995e08a61" providerId="ADAL" clId="{99911B7C-3EE5-4B46-9856-82385C9A9DBD}" dt="2024-01-24T17:42:18.104" v="2550" actId="20577"/>
        <pc:sldMkLst>
          <pc:docMk/>
          <pc:sldMk cId="1787286788" sldId="508"/>
        </pc:sldMkLst>
      </pc:sldChg>
      <pc:sldChg chg="modNotesTx">
        <pc:chgData name="Staci Jones" userId="8493031c-935c-4567-bcd9-185995e08a61" providerId="ADAL" clId="{99911B7C-3EE5-4B46-9856-82385C9A9DBD}" dt="2024-01-24T17:18:39.435" v="800" actId="20577"/>
        <pc:sldMkLst>
          <pc:docMk/>
          <pc:sldMk cId="4235071264" sldId="1312"/>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5_4">
  <dgm:title val=""/>
  <dgm:desc val=""/>
  <dgm:catLst>
    <dgm:cat type="accent5" pri="11400"/>
  </dgm:catLst>
  <dgm:styleLbl name="node0">
    <dgm:fillClrLst meth="cycle">
      <a:schemeClr val="accent5">
        <a:shade val="60000"/>
      </a:schemeClr>
    </dgm:fillClrLst>
    <dgm:linClrLst meth="repeat">
      <a:schemeClr val="lt1"/>
    </dgm:linClrLst>
    <dgm:effectClrLst/>
    <dgm:txLinClrLst/>
    <dgm:txFillClrLst/>
    <dgm:txEffectClrLst/>
  </dgm:styleLbl>
  <dgm:styleLbl name="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alignNode1">
    <dgm:fillClrLst meth="cycle">
      <a:schemeClr val="accent5">
        <a:shade val="50000"/>
      </a:schemeClr>
      <a:schemeClr val="accent5">
        <a:tint val="55000"/>
      </a:schemeClr>
    </dgm:fillClrLst>
    <dgm:linClrLst meth="cycle">
      <a:schemeClr val="accent5">
        <a:shade val="50000"/>
      </a:schemeClr>
      <a:schemeClr val="accent5">
        <a:tint val="55000"/>
      </a:schemeClr>
    </dgm:linClrLst>
    <dgm:effectClrLst/>
    <dgm:txLinClrLst/>
    <dgm:txFillClrLst/>
    <dgm:txEffectClrLst/>
  </dgm:styleLbl>
  <dgm:styleLbl name="ln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vennNode1">
    <dgm:fillClrLst meth="cycle">
      <a:schemeClr val="accent5">
        <a:shade val="80000"/>
        <a:alpha val="50000"/>
      </a:schemeClr>
      <a:schemeClr val="accent5">
        <a:tint val="50000"/>
        <a:alpha val="50000"/>
      </a:schemeClr>
    </dgm:fillClrLst>
    <dgm:linClrLst meth="repeat">
      <a:schemeClr val="lt1"/>
    </dgm:linClrLst>
    <dgm:effectClrLst/>
    <dgm:txLinClrLst/>
    <dgm:txFillClrLst/>
    <dgm:txEffectClrLst/>
  </dgm:styleLbl>
  <dgm:styleLbl name="node2">
    <dgm:fillClrLst>
      <a:schemeClr val="accent5">
        <a:shade val="80000"/>
      </a:schemeClr>
    </dgm:fillClrLst>
    <dgm:linClrLst meth="repeat">
      <a:schemeClr val="lt1"/>
    </dgm:linClrLst>
    <dgm:effectClrLst/>
    <dgm:txLinClrLst/>
    <dgm:txFillClrLst/>
    <dgm:txEffectClrLst/>
  </dgm:styleLbl>
  <dgm:styleLbl name="node3">
    <dgm:fillClrLst>
      <a:schemeClr val="accent5">
        <a:tint val="99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b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sibTrans1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0000"/>
      </a:schemeClr>
    </dgm:fillClrLst>
    <dgm:linClrLst meth="repeat">
      <a:schemeClr val="lt1"/>
    </dgm:linClrLst>
    <dgm:effectClrLst/>
    <dgm:txLinClrLst/>
    <dgm:txFillClrLst/>
    <dgm:txEffectClrLst/>
  </dgm:styleLbl>
  <dgm:styleLbl name="asst3">
    <dgm:fillClrLst>
      <a:schemeClr val="accent5">
        <a:tint val="70000"/>
      </a:schemeClr>
    </dgm:fillClrLst>
    <dgm:linClrLst meth="repeat">
      <a:schemeClr val="lt1"/>
    </dgm:linClrLst>
    <dgm:effectClrLst/>
    <dgm:txLinClrLst/>
    <dgm:txFillClrLst/>
    <dgm:txEffectClrLst/>
  </dgm:styleLbl>
  <dgm:styleLbl name="asst4">
    <dgm:fillClrLst>
      <a:schemeClr val="accent5">
        <a:tint val="5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align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bgAccFollowNode1">
    <dgm:fillClrLst meth="repeat">
      <a:schemeClr val="accent5">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55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A4DB1C2-7F11-4C66-A3AC-D44093281FD2}" type="doc">
      <dgm:prSet loTypeId="urn:microsoft.com/office/officeart/2005/8/layout/arrow2" loCatId="process" qsTypeId="urn:microsoft.com/office/officeart/2005/8/quickstyle/simple1" qsCatId="simple" csTypeId="urn:microsoft.com/office/officeart/2005/8/colors/accent1_2" csCatId="accent1" phldr="1"/>
      <dgm:spPr/>
    </dgm:pt>
    <dgm:pt modelId="{F0ABA278-58C1-4471-924E-7ED1F6F2B096}">
      <dgm:prSet phldrT="[Text]" phldr="0"/>
      <dgm:spPr/>
      <dgm:t>
        <a:bodyPr/>
        <a:lstStyle/>
        <a:p>
          <a:r>
            <a:rPr lang="en-US">
              <a:latin typeface="Calibri Light" panose="020F0302020204030204"/>
            </a:rPr>
            <a:t>State policy and legislation</a:t>
          </a:r>
          <a:endParaRPr lang="en-US"/>
        </a:p>
      </dgm:t>
    </dgm:pt>
    <dgm:pt modelId="{1CEFFBE1-FD7B-4B25-925D-EB2C644CF700}" type="parTrans" cxnId="{EDA07ADB-3EC5-4038-A8E9-DBC51357853F}">
      <dgm:prSet/>
      <dgm:spPr/>
    </dgm:pt>
    <dgm:pt modelId="{6BA95330-4527-4CCD-A049-05DF45476A47}" type="sibTrans" cxnId="{EDA07ADB-3EC5-4038-A8E9-DBC51357853F}">
      <dgm:prSet/>
      <dgm:spPr/>
      <dgm:t>
        <a:bodyPr/>
        <a:lstStyle/>
        <a:p>
          <a:endParaRPr lang="en-US"/>
        </a:p>
      </dgm:t>
    </dgm:pt>
    <dgm:pt modelId="{1CE267CA-48DD-49EC-A1C5-EC14C616A518}">
      <dgm:prSet phldrT="[Text]" phldr="0"/>
      <dgm:spPr/>
      <dgm:t>
        <a:bodyPr/>
        <a:lstStyle/>
        <a:p>
          <a:pPr rtl="0"/>
          <a:r>
            <a:rPr lang="en-US">
              <a:latin typeface="Calibri Light" panose="020F0302020204030204"/>
            </a:rPr>
            <a:t>Best Practices</a:t>
          </a:r>
          <a:endParaRPr lang="en-US"/>
        </a:p>
      </dgm:t>
    </dgm:pt>
    <dgm:pt modelId="{E6042546-38A4-4B37-8B55-9236F806B96C}" type="parTrans" cxnId="{637B059F-74F7-42AD-BDCA-6A875ADD9627}">
      <dgm:prSet/>
      <dgm:spPr/>
    </dgm:pt>
    <dgm:pt modelId="{CD8D32D8-5609-4284-8001-8792DB385560}" type="sibTrans" cxnId="{637B059F-74F7-42AD-BDCA-6A875ADD9627}">
      <dgm:prSet/>
      <dgm:spPr/>
      <dgm:t>
        <a:bodyPr/>
        <a:lstStyle/>
        <a:p>
          <a:endParaRPr lang="en-US"/>
        </a:p>
      </dgm:t>
    </dgm:pt>
    <dgm:pt modelId="{6C1571A9-F162-46AE-9404-4887EDDD450A}">
      <dgm:prSet phldr="0"/>
      <dgm:spPr/>
      <dgm:t>
        <a:bodyPr/>
        <a:lstStyle/>
        <a:p>
          <a:r>
            <a:rPr lang="en-US">
              <a:latin typeface="Calibri Light" panose="020F0302020204030204"/>
            </a:rPr>
            <a:t>Federal policy and legislation</a:t>
          </a:r>
          <a:endParaRPr lang="en-US"/>
        </a:p>
      </dgm:t>
    </dgm:pt>
    <dgm:pt modelId="{299933B8-C7DE-44A4-AED4-F274388BAD78}" type="parTrans" cxnId="{6F430C27-F434-425C-8BB6-46A65168F19A}">
      <dgm:prSet/>
      <dgm:spPr/>
    </dgm:pt>
    <dgm:pt modelId="{95806222-8D6C-4C4E-8954-F86E71072B5F}" type="sibTrans" cxnId="{6F430C27-F434-425C-8BB6-46A65168F19A}">
      <dgm:prSet/>
      <dgm:spPr/>
      <dgm:t>
        <a:bodyPr/>
        <a:lstStyle/>
        <a:p>
          <a:endParaRPr lang="en-US"/>
        </a:p>
      </dgm:t>
    </dgm:pt>
    <dgm:pt modelId="{25EF89C6-E798-45AF-8DD7-4D6AA959EF5E}">
      <dgm:prSet phldr="0"/>
      <dgm:spPr/>
      <dgm:t>
        <a:bodyPr/>
        <a:lstStyle/>
        <a:p>
          <a:r>
            <a:rPr lang="en-US">
              <a:latin typeface="Calibri Light" panose="020F0302020204030204"/>
            </a:rPr>
            <a:t>Values</a:t>
          </a:r>
        </a:p>
      </dgm:t>
    </dgm:pt>
    <dgm:pt modelId="{42E287D1-8F08-4BF1-A6B6-A7694BF034E7}" type="parTrans" cxnId="{08FE1326-9392-4A44-95B0-28BCC54D1CD1}">
      <dgm:prSet/>
      <dgm:spPr/>
    </dgm:pt>
    <dgm:pt modelId="{FCD6F8B3-89C0-4E38-99A4-060FC572898D}" type="sibTrans" cxnId="{08FE1326-9392-4A44-95B0-28BCC54D1CD1}">
      <dgm:prSet/>
      <dgm:spPr/>
      <dgm:t>
        <a:bodyPr/>
        <a:lstStyle/>
        <a:p>
          <a:endParaRPr lang="en-US"/>
        </a:p>
      </dgm:t>
    </dgm:pt>
    <dgm:pt modelId="{B23B8E01-416D-484F-B082-C6227A68B9E2}">
      <dgm:prSet phldr="0"/>
      <dgm:spPr/>
      <dgm:t>
        <a:bodyPr/>
        <a:lstStyle/>
        <a:p>
          <a:pPr rtl="0"/>
          <a:r>
            <a:rPr lang="en-US">
              <a:latin typeface="Calibri Light" panose="020F0302020204030204"/>
            </a:rPr>
            <a:t>History</a:t>
          </a:r>
        </a:p>
      </dgm:t>
    </dgm:pt>
    <dgm:pt modelId="{A5FA77C8-C12D-4800-ABAE-9E4D32460502}" type="parTrans" cxnId="{9C65B148-A56B-4456-9D6F-AC8738D87D8C}">
      <dgm:prSet/>
      <dgm:spPr/>
    </dgm:pt>
    <dgm:pt modelId="{ABC79455-C9E9-4CF5-85AD-D42E0518BCEF}" type="sibTrans" cxnId="{9C65B148-A56B-4456-9D6F-AC8738D87D8C}">
      <dgm:prSet/>
      <dgm:spPr/>
    </dgm:pt>
    <dgm:pt modelId="{AD65F64D-3254-4887-A11C-9CA92A1AB051}" type="pres">
      <dgm:prSet presAssocID="{EA4DB1C2-7F11-4C66-A3AC-D44093281FD2}" presName="arrowDiagram" presStyleCnt="0">
        <dgm:presLayoutVars>
          <dgm:chMax val="5"/>
          <dgm:dir/>
          <dgm:resizeHandles val="exact"/>
        </dgm:presLayoutVars>
      </dgm:prSet>
      <dgm:spPr/>
    </dgm:pt>
    <dgm:pt modelId="{7AABE5F4-F886-44F9-ABBC-F3ECE5B733E9}" type="pres">
      <dgm:prSet presAssocID="{EA4DB1C2-7F11-4C66-A3AC-D44093281FD2}" presName="arrow" presStyleLbl="bgShp" presStyleIdx="0" presStyleCnt="1"/>
      <dgm:spPr/>
    </dgm:pt>
    <dgm:pt modelId="{513240AE-B310-4724-A85B-4C3F88B443AA}" type="pres">
      <dgm:prSet presAssocID="{EA4DB1C2-7F11-4C66-A3AC-D44093281FD2}" presName="arrowDiagram5" presStyleCnt="0"/>
      <dgm:spPr/>
    </dgm:pt>
    <dgm:pt modelId="{97FDB7D5-2F1E-4296-835C-CC1C784406B9}" type="pres">
      <dgm:prSet presAssocID="{B23B8E01-416D-484F-B082-C6227A68B9E2}" presName="bullet5a" presStyleLbl="node1" presStyleIdx="0" presStyleCnt="5"/>
      <dgm:spPr/>
    </dgm:pt>
    <dgm:pt modelId="{5BF857A0-90D1-4A4F-8FF5-16E606178F26}" type="pres">
      <dgm:prSet presAssocID="{B23B8E01-416D-484F-B082-C6227A68B9E2}" presName="textBox5a" presStyleLbl="revTx" presStyleIdx="0" presStyleCnt="5">
        <dgm:presLayoutVars>
          <dgm:bulletEnabled val="1"/>
        </dgm:presLayoutVars>
      </dgm:prSet>
      <dgm:spPr/>
    </dgm:pt>
    <dgm:pt modelId="{E436054C-F2CB-4925-A509-C057C98F18F8}" type="pres">
      <dgm:prSet presAssocID="{6C1571A9-F162-46AE-9404-4887EDDD450A}" presName="bullet5b" presStyleLbl="node1" presStyleIdx="1" presStyleCnt="5"/>
      <dgm:spPr/>
    </dgm:pt>
    <dgm:pt modelId="{90B93F16-26DC-4B02-93F3-B4DDEA854A2D}" type="pres">
      <dgm:prSet presAssocID="{6C1571A9-F162-46AE-9404-4887EDDD450A}" presName="textBox5b" presStyleLbl="revTx" presStyleIdx="1" presStyleCnt="5">
        <dgm:presLayoutVars>
          <dgm:bulletEnabled val="1"/>
        </dgm:presLayoutVars>
      </dgm:prSet>
      <dgm:spPr/>
    </dgm:pt>
    <dgm:pt modelId="{4FBF8622-A389-4E52-BE30-D1DF93D2E7AF}" type="pres">
      <dgm:prSet presAssocID="{F0ABA278-58C1-4471-924E-7ED1F6F2B096}" presName="bullet5c" presStyleLbl="node1" presStyleIdx="2" presStyleCnt="5"/>
      <dgm:spPr/>
    </dgm:pt>
    <dgm:pt modelId="{357893AC-1E0A-47FF-A9E2-52F5F65F0FCD}" type="pres">
      <dgm:prSet presAssocID="{F0ABA278-58C1-4471-924E-7ED1F6F2B096}" presName="textBox5c" presStyleLbl="revTx" presStyleIdx="2" presStyleCnt="5">
        <dgm:presLayoutVars>
          <dgm:bulletEnabled val="1"/>
        </dgm:presLayoutVars>
      </dgm:prSet>
      <dgm:spPr/>
    </dgm:pt>
    <dgm:pt modelId="{C5619AA7-2B92-4F4F-BFE9-B753D5C48A59}" type="pres">
      <dgm:prSet presAssocID="{1CE267CA-48DD-49EC-A1C5-EC14C616A518}" presName="bullet5d" presStyleLbl="node1" presStyleIdx="3" presStyleCnt="5"/>
      <dgm:spPr/>
    </dgm:pt>
    <dgm:pt modelId="{6C2E7C42-B598-478E-872A-33DFF2A8E79D}" type="pres">
      <dgm:prSet presAssocID="{1CE267CA-48DD-49EC-A1C5-EC14C616A518}" presName="textBox5d" presStyleLbl="revTx" presStyleIdx="3" presStyleCnt="5">
        <dgm:presLayoutVars>
          <dgm:bulletEnabled val="1"/>
        </dgm:presLayoutVars>
      </dgm:prSet>
      <dgm:spPr/>
    </dgm:pt>
    <dgm:pt modelId="{B3853BEE-6EB9-4BF5-8B3F-62913E8657B4}" type="pres">
      <dgm:prSet presAssocID="{25EF89C6-E798-45AF-8DD7-4D6AA959EF5E}" presName="bullet5e" presStyleLbl="node1" presStyleIdx="4" presStyleCnt="5"/>
      <dgm:spPr/>
    </dgm:pt>
    <dgm:pt modelId="{7EA8B72F-090E-434E-B919-46CA3E7DAC42}" type="pres">
      <dgm:prSet presAssocID="{25EF89C6-E798-45AF-8DD7-4D6AA959EF5E}" presName="textBox5e" presStyleLbl="revTx" presStyleIdx="4" presStyleCnt="5">
        <dgm:presLayoutVars>
          <dgm:bulletEnabled val="1"/>
        </dgm:presLayoutVars>
      </dgm:prSet>
      <dgm:spPr/>
    </dgm:pt>
  </dgm:ptLst>
  <dgm:cxnLst>
    <dgm:cxn modelId="{08FE1326-9392-4A44-95B0-28BCC54D1CD1}" srcId="{EA4DB1C2-7F11-4C66-A3AC-D44093281FD2}" destId="{25EF89C6-E798-45AF-8DD7-4D6AA959EF5E}" srcOrd="4" destOrd="0" parTransId="{42E287D1-8F08-4BF1-A6B6-A7694BF034E7}" sibTransId="{FCD6F8B3-89C0-4E38-99A4-060FC572898D}"/>
    <dgm:cxn modelId="{6F430C27-F434-425C-8BB6-46A65168F19A}" srcId="{EA4DB1C2-7F11-4C66-A3AC-D44093281FD2}" destId="{6C1571A9-F162-46AE-9404-4887EDDD450A}" srcOrd="1" destOrd="0" parTransId="{299933B8-C7DE-44A4-AED4-F274388BAD78}" sibTransId="{95806222-8D6C-4C4E-8954-F86E71072B5F}"/>
    <dgm:cxn modelId="{9C65B148-A56B-4456-9D6F-AC8738D87D8C}" srcId="{EA4DB1C2-7F11-4C66-A3AC-D44093281FD2}" destId="{B23B8E01-416D-484F-B082-C6227A68B9E2}" srcOrd="0" destOrd="0" parTransId="{A5FA77C8-C12D-4800-ABAE-9E4D32460502}" sibTransId="{ABC79455-C9E9-4CF5-85AD-D42E0518BCEF}"/>
    <dgm:cxn modelId="{F8870654-151C-43CE-80BA-E546C104587B}" type="presOf" srcId="{B23B8E01-416D-484F-B082-C6227A68B9E2}" destId="{5BF857A0-90D1-4A4F-8FF5-16E606178F26}" srcOrd="0" destOrd="0" presId="urn:microsoft.com/office/officeart/2005/8/layout/arrow2"/>
    <dgm:cxn modelId="{0A12DB75-7DE1-439A-AC95-B4FF0735A911}" type="presOf" srcId="{F0ABA278-58C1-4471-924E-7ED1F6F2B096}" destId="{357893AC-1E0A-47FF-A9E2-52F5F65F0FCD}" srcOrd="0" destOrd="0" presId="urn:microsoft.com/office/officeart/2005/8/layout/arrow2"/>
    <dgm:cxn modelId="{FF2C0859-8A99-4F0F-9008-56DA90B9ABC2}" type="presOf" srcId="{25EF89C6-E798-45AF-8DD7-4D6AA959EF5E}" destId="{7EA8B72F-090E-434E-B919-46CA3E7DAC42}" srcOrd="0" destOrd="0" presId="urn:microsoft.com/office/officeart/2005/8/layout/arrow2"/>
    <dgm:cxn modelId="{637B059F-74F7-42AD-BDCA-6A875ADD9627}" srcId="{EA4DB1C2-7F11-4C66-A3AC-D44093281FD2}" destId="{1CE267CA-48DD-49EC-A1C5-EC14C616A518}" srcOrd="3" destOrd="0" parTransId="{E6042546-38A4-4B37-8B55-9236F806B96C}" sibTransId="{CD8D32D8-5609-4284-8001-8792DB385560}"/>
    <dgm:cxn modelId="{A2E0A7A5-E8B6-4C54-87F5-D054A2F897FF}" type="presOf" srcId="{1CE267CA-48DD-49EC-A1C5-EC14C616A518}" destId="{6C2E7C42-B598-478E-872A-33DFF2A8E79D}" srcOrd="0" destOrd="0" presId="urn:microsoft.com/office/officeart/2005/8/layout/arrow2"/>
    <dgm:cxn modelId="{430D9FD3-2F4C-4CDE-9479-51CC37CE4F63}" type="presOf" srcId="{6C1571A9-F162-46AE-9404-4887EDDD450A}" destId="{90B93F16-26DC-4B02-93F3-B4DDEA854A2D}" srcOrd="0" destOrd="0" presId="urn:microsoft.com/office/officeart/2005/8/layout/arrow2"/>
    <dgm:cxn modelId="{EDA07ADB-3EC5-4038-A8E9-DBC51357853F}" srcId="{EA4DB1C2-7F11-4C66-A3AC-D44093281FD2}" destId="{F0ABA278-58C1-4471-924E-7ED1F6F2B096}" srcOrd="2" destOrd="0" parTransId="{1CEFFBE1-FD7B-4B25-925D-EB2C644CF700}" sibTransId="{6BA95330-4527-4CCD-A049-05DF45476A47}"/>
    <dgm:cxn modelId="{24A6DEF3-4911-4BBD-837E-4F6EC42A2C4F}" type="presOf" srcId="{EA4DB1C2-7F11-4C66-A3AC-D44093281FD2}" destId="{AD65F64D-3254-4887-A11C-9CA92A1AB051}" srcOrd="0" destOrd="0" presId="urn:microsoft.com/office/officeart/2005/8/layout/arrow2"/>
    <dgm:cxn modelId="{96125882-BB49-4D8B-B082-A1930CDFC40A}" type="presParOf" srcId="{AD65F64D-3254-4887-A11C-9CA92A1AB051}" destId="{7AABE5F4-F886-44F9-ABBC-F3ECE5B733E9}" srcOrd="0" destOrd="0" presId="urn:microsoft.com/office/officeart/2005/8/layout/arrow2"/>
    <dgm:cxn modelId="{FDA605C2-653E-4EA3-8333-EB19FEA93C82}" type="presParOf" srcId="{AD65F64D-3254-4887-A11C-9CA92A1AB051}" destId="{513240AE-B310-4724-A85B-4C3F88B443AA}" srcOrd="1" destOrd="0" presId="urn:microsoft.com/office/officeart/2005/8/layout/arrow2"/>
    <dgm:cxn modelId="{325E3D69-2E7F-42A2-9DE3-895C0DC4FF74}" type="presParOf" srcId="{513240AE-B310-4724-A85B-4C3F88B443AA}" destId="{97FDB7D5-2F1E-4296-835C-CC1C784406B9}" srcOrd="0" destOrd="0" presId="urn:microsoft.com/office/officeart/2005/8/layout/arrow2"/>
    <dgm:cxn modelId="{502897D9-B07E-4B31-9251-76B89709C11A}" type="presParOf" srcId="{513240AE-B310-4724-A85B-4C3F88B443AA}" destId="{5BF857A0-90D1-4A4F-8FF5-16E606178F26}" srcOrd="1" destOrd="0" presId="urn:microsoft.com/office/officeart/2005/8/layout/arrow2"/>
    <dgm:cxn modelId="{0D3A3C73-CC8B-4947-8F15-B8E342744995}" type="presParOf" srcId="{513240AE-B310-4724-A85B-4C3F88B443AA}" destId="{E436054C-F2CB-4925-A509-C057C98F18F8}" srcOrd="2" destOrd="0" presId="urn:microsoft.com/office/officeart/2005/8/layout/arrow2"/>
    <dgm:cxn modelId="{38A51B95-8B15-48D7-95D2-FFEAB0125D2A}" type="presParOf" srcId="{513240AE-B310-4724-A85B-4C3F88B443AA}" destId="{90B93F16-26DC-4B02-93F3-B4DDEA854A2D}" srcOrd="3" destOrd="0" presId="urn:microsoft.com/office/officeart/2005/8/layout/arrow2"/>
    <dgm:cxn modelId="{73ADF708-F57F-4AD6-8E03-F1538204992C}" type="presParOf" srcId="{513240AE-B310-4724-A85B-4C3F88B443AA}" destId="{4FBF8622-A389-4E52-BE30-D1DF93D2E7AF}" srcOrd="4" destOrd="0" presId="urn:microsoft.com/office/officeart/2005/8/layout/arrow2"/>
    <dgm:cxn modelId="{2583FE87-0C28-4D36-8005-A079A6937106}" type="presParOf" srcId="{513240AE-B310-4724-A85B-4C3F88B443AA}" destId="{357893AC-1E0A-47FF-A9E2-52F5F65F0FCD}" srcOrd="5" destOrd="0" presId="urn:microsoft.com/office/officeart/2005/8/layout/arrow2"/>
    <dgm:cxn modelId="{6189992D-A329-45DE-A1BF-19899881536B}" type="presParOf" srcId="{513240AE-B310-4724-A85B-4C3F88B443AA}" destId="{C5619AA7-2B92-4F4F-BFE9-B753D5C48A59}" srcOrd="6" destOrd="0" presId="urn:microsoft.com/office/officeart/2005/8/layout/arrow2"/>
    <dgm:cxn modelId="{12118BBD-8F3C-4CB6-9A23-B22F03D1C2BB}" type="presParOf" srcId="{513240AE-B310-4724-A85B-4C3F88B443AA}" destId="{6C2E7C42-B598-478E-872A-33DFF2A8E79D}" srcOrd="7" destOrd="0" presId="urn:microsoft.com/office/officeart/2005/8/layout/arrow2"/>
    <dgm:cxn modelId="{3E30FA17-C614-487D-8515-8BB3ADD545D1}" type="presParOf" srcId="{513240AE-B310-4724-A85B-4C3F88B443AA}" destId="{B3853BEE-6EB9-4BF5-8B3F-62913E8657B4}" srcOrd="8" destOrd="0" presId="urn:microsoft.com/office/officeart/2005/8/layout/arrow2"/>
    <dgm:cxn modelId="{910DB6E9-8EAE-4E38-B63D-0221367540E1}" type="presParOf" srcId="{513240AE-B310-4724-A85B-4C3F88B443AA}" destId="{7EA8B72F-090E-434E-B919-46CA3E7DAC42}" srcOrd="9" destOrd="0" presId="urn:microsoft.com/office/officeart/2005/8/layout/arrow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E5B7A09-8B17-4CED-8CCD-4B1A025D30A4}"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3EB814C5-FB37-4EB6-B320-11B320A0DBA3}">
      <dgm:prSet/>
      <dgm:spPr/>
      <dgm:t>
        <a:bodyPr/>
        <a:lstStyle/>
        <a:p>
          <a:r>
            <a:rPr lang="en-US" dirty="0"/>
            <a:t>Financial</a:t>
          </a:r>
        </a:p>
      </dgm:t>
    </dgm:pt>
    <dgm:pt modelId="{2DB851B3-048A-4446-A561-0561D3137CC9}" type="parTrans" cxnId="{4D786EFB-AF50-4C94-A140-03563DA9A30A}">
      <dgm:prSet/>
      <dgm:spPr/>
      <dgm:t>
        <a:bodyPr/>
        <a:lstStyle/>
        <a:p>
          <a:endParaRPr lang="en-US"/>
        </a:p>
      </dgm:t>
    </dgm:pt>
    <dgm:pt modelId="{797722BF-BF27-46F5-87A6-D08309392218}" type="sibTrans" cxnId="{4D786EFB-AF50-4C94-A140-03563DA9A30A}">
      <dgm:prSet/>
      <dgm:spPr/>
      <dgm:t>
        <a:bodyPr/>
        <a:lstStyle/>
        <a:p>
          <a:endParaRPr lang="en-US"/>
        </a:p>
      </dgm:t>
    </dgm:pt>
    <dgm:pt modelId="{662C0D48-9800-4411-A122-593A0A947B1C}">
      <dgm:prSet/>
      <dgm:spPr/>
      <dgm:t>
        <a:bodyPr/>
        <a:lstStyle/>
        <a:p>
          <a:r>
            <a:rPr lang="en-US" dirty="0"/>
            <a:t>Human (paid staff &amp; volunteers)</a:t>
          </a:r>
        </a:p>
      </dgm:t>
    </dgm:pt>
    <dgm:pt modelId="{A5F37516-8807-498B-9DF2-5B48D88277A8}" type="parTrans" cxnId="{C9C75624-CDA3-4C91-8283-3D98836435AB}">
      <dgm:prSet/>
      <dgm:spPr/>
      <dgm:t>
        <a:bodyPr/>
        <a:lstStyle/>
        <a:p>
          <a:endParaRPr lang="en-US"/>
        </a:p>
      </dgm:t>
    </dgm:pt>
    <dgm:pt modelId="{B9E95152-B958-4516-8137-B82A3C96BDC5}" type="sibTrans" cxnId="{C9C75624-CDA3-4C91-8283-3D98836435AB}">
      <dgm:prSet/>
      <dgm:spPr/>
      <dgm:t>
        <a:bodyPr/>
        <a:lstStyle/>
        <a:p>
          <a:endParaRPr lang="en-US"/>
        </a:p>
      </dgm:t>
    </dgm:pt>
    <dgm:pt modelId="{532A2B73-410F-4CC7-94A9-859A368E041F}">
      <dgm:prSet/>
      <dgm:spPr/>
      <dgm:t>
        <a:bodyPr/>
        <a:lstStyle/>
        <a:p>
          <a:r>
            <a:rPr lang="en-US" dirty="0"/>
            <a:t>Physical</a:t>
          </a:r>
        </a:p>
      </dgm:t>
    </dgm:pt>
    <dgm:pt modelId="{BEC50BB4-EAB4-46EB-9954-591A0D1968B9}" type="parTrans" cxnId="{DCBC1A5C-1CE4-4918-AC54-48B1B18783E2}">
      <dgm:prSet/>
      <dgm:spPr/>
      <dgm:t>
        <a:bodyPr/>
        <a:lstStyle/>
        <a:p>
          <a:endParaRPr lang="en-US"/>
        </a:p>
      </dgm:t>
    </dgm:pt>
    <dgm:pt modelId="{C3E6DD84-46BB-49A8-9013-EA9B11DDDD87}" type="sibTrans" cxnId="{DCBC1A5C-1CE4-4918-AC54-48B1B18783E2}">
      <dgm:prSet/>
      <dgm:spPr/>
      <dgm:t>
        <a:bodyPr/>
        <a:lstStyle/>
        <a:p>
          <a:endParaRPr lang="en-US"/>
        </a:p>
      </dgm:t>
    </dgm:pt>
    <dgm:pt modelId="{39C76F03-9685-4E5C-9A1B-6B43A40191B0}">
      <dgm:prSet/>
      <dgm:spPr/>
      <dgm:t>
        <a:bodyPr/>
        <a:lstStyle/>
        <a:p>
          <a:r>
            <a:rPr lang="en-US" dirty="0"/>
            <a:t>Intellectual</a:t>
          </a:r>
        </a:p>
      </dgm:t>
    </dgm:pt>
    <dgm:pt modelId="{4B4320DD-A5A3-4D44-92AA-BC22CBB21164}" type="parTrans" cxnId="{CC0180CE-B2D2-451E-9440-879D34B849FC}">
      <dgm:prSet/>
      <dgm:spPr/>
      <dgm:t>
        <a:bodyPr/>
        <a:lstStyle/>
        <a:p>
          <a:endParaRPr lang="en-US"/>
        </a:p>
      </dgm:t>
    </dgm:pt>
    <dgm:pt modelId="{3A28478D-CFD8-42D4-BE62-AB77B8A842D0}" type="sibTrans" cxnId="{CC0180CE-B2D2-451E-9440-879D34B849FC}">
      <dgm:prSet/>
      <dgm:spPr/>
      <dgm:t>
        <a:bodyPr/>
        <a:lstStyle/>
        <a:p>
          <a:endParaRPr lang="en-US"/>
        </a:p>
      </dgm:t>
    </dgm:pt>
    <dgm:pt modelId="{C8DC76B7-AF2D-45D7-A4F1-5F470D709242}">
      <dgm:prSet/>
      <dgm:spPr/>
      <dgm:t>
        <a:bodyPr/>
        <a:lstStyle/>
        <a:p>
          <a:pPr rtl="0"/>
          <a:r>
            <a:rPr lang="en-US" dirty="0"/>
            <a:t>Partnerships</a:t>
          </a:r>
          <a:r>
            <a:rPr lang="en-US" dirty="0">
              <a:latin typeface="Calibri Light" panose="020F0302020204030204"/>
            </a:rPr>
            <a:t> </a:t>
          </a:r>
          <a:endParaRPr lang="en-US" dirty="0"/>
        </a:p>
      </dgm:t>
    </dgm:pt>
    <dgm:pt modelId="{487D9DAB-ECAB-4FA6-8953-274928B7C161}" type="parTrans" cxnId="{CDB8A3A9-141A-4017-A498-BD5ED87D303E}">
      <dgm:prSet/>
      <dgm:spPr/>
      <dgm:t>
        <a:bodyPr/>
        <a:lstStyle/>
        <a:p>
          <a:endParaRPr lang="en-US"/>
        </a:p>
      </dgm:t>
    </dgm:pt>
    <dgm:pt modelId="{8A93FA04-27A1-4526-99B4-B898F9889900}" type="sibTrans" cxnId="{CDB8A3A9-141A-4017-A498-BD5ED87D303E}">
      <dgm:prSet/>
      <dgm:spPr/>
      <dgm:t>
        <a:bodyPr/>
        <a:lstStyle/>
        <a:p>
          <a:endParaRPr lang="en-US"/>
        </a:p>
      </dgm:t>
    </dgm:pt>
    <dgm:pt modelId="{865F4F20-385F-415E-B7DA-25F14ADF0D6F}">
      <dgm:prSet/>
      <dgm:spPr/>
      <dgm:t>
        <a:bodyPr/>
        <a:lstStyle/>
        <a:p>
          <a:r>
            <a:rPr lang="en-US" dirty="0">
              <a:latin typeface="Calibri Light" panose="020F0302020204030204"/>
            </a:rPr>
            <a:t>Data</a:t>
          </a:r>
          <a:r>
            <a:rPr lang="en-US" dirty="0"/>
            <a:t> &amp; info</a:t>
          </a:r>
        </a:p>
      </dgm:t>
    </dgm:pt>
    <dgm:pt modelId="{572FE32C-9A66-4A0B-BFAB-D5183A9A6BD6}" type="parTrans" cxnId="{65F3D696-EB3C-4AD6-B84B-2BC8B18878F3}">
      <dgm:prSet/>
      <dgm:spPr/>
      <dgm:t>
        <a:bodyPr/>
        <a:lstStyle/>
        <a:p>
          <a:endParaRPr lang="en-US"/>
        </a:p>
      </dgm:t>
    </dgm:pt>
    <dgm:pt modelId="{3A663141-F5BF-4578-B099-EBBFB1131B75}" type="sibTrans" cxnId="{65F3D696-EB3C-4AD6-B84B-2BC8B18878F3}">
      <dgm:prSet/>
      <dgm:spPr/>
      <dgm:t>
        <a:bodyPr/>
        <a:lstStyle/>
        <a:p>
          <a:endParaRPr lang="en-US"/>
        </a:p>
      </dgm:t>
    </dgm:pt>
    <dgm:pt modelId="{6D9DB545-9E02-4717-81F4-C6B9117DFA78}">
      <dgm:prSet phldr="0"/>
      <dgm:spPr/>
      <dgm:t>
        <a:bodyPr/>
        <a:lstStyle/>
        <a:p>
          <a:r>
            <a:rPr lang="en-US" dirty="0">
              <a:latin typeface="Calibri Light" panose="020F0302020204030204"/>
            </a:rPr>
            <a:t>Marketing</a:t>
          </a:r>
        </a:p>
      </dgm:t>
    </dgm:pt>
    <dgm:pt modelId="{A64D98A7-7889-4797-95B7-A747ED7F561F}" type="parTrans" cxnId="{995FDA11-AD1E-4513-B8AE-1E5159E5EEAC}">
      <dgm:prSet/>
      <dgm:spPr/>
    </dgm:pt>
    <dgm:pt modelId="{AFF0E181-C508-49F9-874F-066A4297D14C}" type="sibTrans" cxnId="{995FDA11-AD1E-4513-B8AE-1E5159E5EEAC}">
      <dgm:prSet/>
      <dgm:spPr/>
    </dgm:pt>
    <dgm:pt modelId="{8F9B1113-4641-45B9-8914-6EBEE1D16EB2}">
      <dgm:prSet phldr="0"/>
      <dgm:spPr/>
      <dgm:t>
        <a:bodyPr/>
        <a:lstStyle/>
        <a:p>
          <a:r>
            <a:rPr lang="en-US" dirty="0">
              <a:latin typeface="Calibri Light" panose="020F0302020204030204"/>
            </a:rPr>
            <a:t>Culture</a:t>
          </a:r>
        </a:p>
      </dgm:t>
    </dgm:pt>
    <dgm:pt modelId="{A18A7548-CAB2-4062-9710-6A3D1E6E94FF}" type="parTrans" cxnId="{999A1729-7ABC-4212-986D-0F2E941E2A7F}">
      <dgm:prSet/>
      <dgm:spPr/>
    </dgm:pt>
    <dgm:pt modelId="{23C8C5DB-FF67-4336-B6D5-FF49D4C50E50}" type="sibTrans" cxnId="{999A1729-7ABC-4212-986D-0F2E941E2A7F}">
      <dgm:prSet/>
      <dgm:spPr/>
    </dgm:pt>
    <dgm:pt modelId="{D5F999D8-4174-4101-9578-8977838692C8}">
      <dgm:prSet phldr="0"/>
      <dgm:spPr/>
      <dgm:t>
        <a:bodyPr/>
        <a:lstStyle/>
        <a:p>
          <a:pPr rtl="0"/>
          <a:r>
            <a:rPr lang="en-US" dirty="0">
              <a:latin typeface="Calibri Light" panose="020F0302020204030204"/>
            </a:rPr>
            <a:t>Others? </a:t>
          </a:r>
        </a:p>
      </dgm:t>
    </dgm:pt>
    <dgm:pt modelId="{2AB58ED7-3B19-413F-9884-FE7B3FFBCAD6}" type="parTrans" cxnId="{F27407B3-5866-4398-9F4D-460600259121}">
      <dgm:prSet/>
      <dgm:spPr/>
    </dgm:pt>
    <dgm:pt modelId="{1B44288C-2E05-4B66-BA3E-3FEBA2E2BC13}" type="sibTrans" cxnId="{F27407B3-5866-4398-9F4D-460600259121}">
      <dgm:prSet/>
      <dgm:spPr/>
    </dgm:pt>
    <dgm:pt modelId="{B4991E9D-147B-4804-BF11-69DE1021F8DE}" type="pres">
      <dgm:prSet presAssocID="{DE5B7A09-8B17-4CED-8CCD-4B1A025D30A4}" presName="vert0" presStyleCnt="0">
        <dgm:presLayoutVars>
          <dgm:dir/>
          <dgm:animOne val="branch"/>
          <dgm:animLvl val="lvl"/>
        </dgm:presLayoutVars>
      </dgm:prSet>
      <dgm:spPr/>
    </dgm:pt>
    <dgm:pt modelId="{2DAC478A-2631-4846-8ADA-20056455F22D}" type="pres">
      <dgm:prSet presAssocID="{3EB814C5-FB37-4EB6-B320-11B320A0DBA3}" presName="thickLine" presStyleLbl="alignNode1" presStyleIdx="0" presStyleCnt="9"/>
      <dgm:spPr/>
    </dgm:pt>
    <dgm:pt modelId="{FEBC80B0-6954-49F9-8D5E-C8FD9E4E01C7}" type="pres">
      <dgm:prSet presAssocID="{3EB814C5-FB37-4EB6-B320-11B320A0DBA3}" presName="horz1" presStyleCnt="0"/>
      <dgm:spPr/>
    </dgm:pt>
    <dgm:pt modelId="{22CE302F-A033-40F7-A2D4-DD52BAC50CEE}" type="pres">
      <dgm:prSet presAssocID="{3EB814C5-FB37-4EB6-B320-11B320A0DBA3}" presName="tx1" presStyleLbl="revTx" presStyleIdx="0" presStyleCnt="9"/>
      <dgm:spPr/>
    </dgm:pt>
    <dgm:pt modelId="{89605B29-BF08-400C-889E-7E8858E2E1D5}" type="pres">
      <dgm:prSet presAssocID="{3EB814C5-FB37-4EB6-B320-11B320A0DBA3}" presName="vert1" presStyleCnt="0"/>
      <dgm:spPr/>
    </dgm:pt>
    <dgm:pt modelId="{1E34720A-B8FB-42FE-A145-D70E3B4C2E11}" type="pres">
      <dgm:prSet presAssocID="{662C0D48-9800-4411-A122-593A0A947B1C}" presName="thickLine" presStyleLbl="alignNode1" presStyleIdx="1" presStyleCnt="9"/>
      <dgm:spPr/>
    </dgm:pt>
    <dgm:pt modelId="{BF4A3EF6-1E0D-4FD3-979B-9A0EF2322AC7}" type="pres">
      <dgm:prSet presAssocID="{662C0D48-9800-4411-A122-593A0A947B1C}" presName="horz1" presStyleCnt="0"/>
      <dgm:spPr/>
    </dgm:pt>
    <dgm:pt modelId="{0C7C8FE9-D475-4231-991F-875A083C6523}" type="pres">
      <dgm:prSet presAssocID="{662C0D48-9800-4411-A122-593A0A947B1C}" presName="tx1" presStyleLbl="revTx" presStyleIdx="1" presStyleCnt="9"/>
      <dgm:spPr/>
    </dgm:pt>
    <dgm:pt modelId="{E2762942-A7B4-4D7A-8B62-AB12ABB2DAC0}" type="pres">
      <dgm:prSet presAssocID="{662C0D48-9800-4411-A122-593A0A947B1C}" presName="vert1" presStyleCnt="0"/>
      <dgm:spPr/>
    </dgm:pt>
    <dgm:pt modelId="{B50AC576-8DA5-48CE-AF26-4172D1ED5694}" type="pres">
      <dgm:prSet presAssocID="{532A2B73-410F-4CC7-94A9-859A368E041F}" presName="thickLine" presStyleLbl="alignNode1" presStyleIdx="2" presStyleCnt="9"/>
      <dgm:spPr/>
    </dgm:pt>
    <dgm:pt modelId="{48A277FF-71BD-4C38-AB3D-AABABAC5BDA6}" type="pres">
      <dgm:prSet presAssocID="{532A2B73-410F-4CC7-94A9-859A368E041F}" presName="horz1" presStyleCnt="0"/>
      <dgm:spPr/>
    </dgm:pt>
    <dgm:pt modelId="{F02BA823-843E-4B10-8EDA-DC9420F40ACB}" type="pres">
      <dgm:prSet presAssocID="{532A2B73-410F-4CC7-94A9-859A368E041F}" presName="tx1" presStyleLbl="revTx" presStyleIdx="2" presStyleCnt="9"/>
      <dgm:spPr/>
    </dgm:pt>
    <dgm:pt modelId="{47C3BA96-2C81-428F-A4A6-2DBF2B45F781}" type="pres">
      <dgm:prSet presAssocID="{532A2B73-410F-4CC7-94A9-859A368E041F}" presName="vert1" presStyleCnt="0"/>
      <dgm:spPr/>
    </dgm:pt>
    <dgm:pt modelId="{41075191-774F-44B3-AE78-6F0F68F5F225}" type="pres">
      <dgm:prSet presAssocID="{39C76F03-9685-4E5C-9A1B-6B43A40191B0}" presName="thickLine" presStyleLbl="alignNode1" presStyleIdx="3" presStyleCnt="9"/>
      <dgm:spPr/>
    </dgm:pt>
    <dgm:pt modelId="{1F1CB70B-3CA7-4E2F-BA57-35A05A428AD8}" type="pres">
      <dgm:prSet presAssocID="{39C76F03-9685-4E5C-9A1B-6B43A40191B0}" presName="horz1" presStyleCnt="0"/>
      <dgm:spPr/>
    </dgm:pt>
    <dgm:pt modelId="{F42AA900-D84A-4A0A-802C-6BDC6101BBA8}" type="pres">
      <dgm:prSet presAssocID="{39C76F03-9685-4E5C-9A1B-6B43A40191B0}" presName="tx1" presStyleLbl="revTx" presStyleIdx="3" presStyleCnt="9"/>
      <dgm:spPr/>
    </dgm:pt>
    <dgm:pt modelId="{FB53202D-9B71-4F10-AD5C-03EDEE90C642}" type="pres">
      <dgm:prSet presAssocID="{39C76F03-9685-4E5C-9A1B-6B43A40191B0}" presName="vert1" presStyleCnt="0"/>
      <dgm:spPr/>
    </dgm:pt>
    <dgm:pt modelId="{E0B1A192-7AB7-4181-8E32-7A81D2932FD6}" type="pres">
      <dgm:prSet presAssocID="{C8DC76B7-AF2D-45D7-A4F1-5F470D709242}" presName="thickLine" presStyleLbl="alignNode1" presStyleIdx="4" presStyleCnt="9"/>
      <dgm:spPr/>
    </dgm:pt>
    <dgm:pt modelId="{86791993-43C7-43F8-A2C7-ACA09EE0B2D0}" type="pres">
      <dgm:prSet presAssocID="{C8DC76B7-AF2D-45D7-A4F1-5F470D709242}" presName="horz1" presStyleCnt="0"/>
      <dgm:spPr/>
    </dgm:pt>
    <dgm:pt modelId="{6E087E98-3597-4CC6-81A3-1179518C48A7}" type="pres">
      <dgm:prSet presAssocID="{C8DC76B7-AF2D-45D7-A4F1-5F470D709242}" presName="tx1" presStyleLbl="revTx" presStyleIdx="4" presStyleCnt="9"/>
      <dgm:spPr/>
    </dgm:pt>
    <dgm:pt modelId="{3B759044-3664-447C-A088-507F740FA0D8}" type="pres">
      <dgm:prSet presAssocID="{C8DC76B7-AF2D-45D7-A4F1-5F470D709242}" presName="vert1" presStyleCnt="0"/>
      <dgm:spPr/>
    </dgm:pt>
    <dgm:pt modelId="{9498E325-0D6B-4019-AE4C-FA0CF38F09F5}" type="pres">
      <dgm:prSet presAssocID="{865F4F20-385F-415E-B7DA-25F14ADF0D6F}" presName="thickLine" presStyleLbl="alignNode1" presStyleIdx="5" presStyleCnt="9"/>
      <dgm:spPr/>
    </dgm:pt>
    <dgm:pt modelId="{74083E47-591A-4884-A81C-23A601D434F2}" type="pres">
      <dgm:prSet presAssocID="{865F4F20-385F-415E-B7DA-25F14ADF0D6F}" presName="horz1" presStyleCnt="0"/>
      <dgm:spPr/>
    </dgm:pt>
    <dgm:pt modelId="{35F4682B-2F51-42AA-8FB5-0DD9ADFE01A0}" type="pres">
      <dgm:prSet presAssocID="{865F4F20-385F-415E-B7DA-25F14ADF0D6F}" presName="tx1" presStyleLbl="revTx" presStyleIdx="5" presStyleCnt="9"/>
      <dgm:spPr/>
    </dgm:pt>
    <dgm:pt modelId="{0389FAA5-C798-40E2-8932-BC12A51E34D0}" type="pres">
      <dgm:prSet presAssocID="{865F4F20-385F-415E-B7DA-25F14ADF0D6F}" presName="vert1" presStyleCnt="0"/>
      <dgm:spPr/>
    </dgm:pt>
    <dgm:pt modelId="{C02CBA70-C80A-45C8-9960-11ED7613897A}" type="pres">
      <dgm:prSet presAssocID="{6D9DB545-9E02-4717-81F4-C6B9117DFA78}" presName="thickLine" presStyleLbl="alignNode1" presStyleIdx="6" presStyleCnt="9"/>
      <dgm:spPr/>
    </dgm:pt>
    <dgm:pt modelId="{138ACA6B-1C7C-4065-AB5C-9124CF3BA563}" type="pres">
      <dgm:prSet presAssocID="{6D9DB545-9E02-4717-81F4-C6B9117DFA78}" presName="horz1" presStyleCnt="0"/>
      <dgm:spPr/>
    </dgm:pt>
    <dgm:pt modelId="{BB45E97E-0973-4B35-8395-1043CD249CF3}" type="pres">
      <dgm:prSet presAssocID="{6D9DB545-9E02-4717-81F4-C6B9117DFA78}" presName="tx1" presStyleLbl="revTx" presStyleIdx="6" presStyleCnt="9"/>
      <dgm:spPr/>
    </dgm:pt>
    <dgm:pt modelId="{9D60A9C9-0586-45E6-B48B-8D603E38DF01}" type="pres">
      <dgm:prSet presAssocID="{6D9DB545-9E02-4717-81F4-C6B9117DFA78}" presName="vert1" presStyleCnt="0"/>
      <dgm:spPr/>
    </dgm:pt>
    <dgm:pt modelId="{801B2164-9D69-435A-BDE4-1C5E761D0243}" type="pres">
      <dgm:prSet presAssocID="{8F9B1113-4641-45B9-8914-6EBEE1D16EB2}" presName="thickLine" presStyleLbl="alignNode1" presStyleIdx="7" presStyleCnt="9"/>
      <dgm:spPr/>
    </dgm:pt>
    <dgm:pt modelId="{144C6D21-C89D-4D21-BCCB-1361874AC21D}" type="pres">
      <dgm:prSet presAssocID="{8F9B1113-4641-45B9-8914-6EBEE1D16EB2}" presName="horz1" presStyleCnt="0"/>
      <dgm:spPr/>
    </dgm:pt>
    <dgm:pt modelId="{67E593DF-CE6B-41DA-B692-424004B8E746}" type="pres">
      <dgm:prSet presAssocID="{8F9B1113-4641-45B9-8914-6EBEE1D16EB2}" presName="tx1" presStyleLbl="revTx" presStyleIdx="7" presStyleCnt="9"/>
      <dgm:spPr/>
    </dgm:pt>
    <dgm:pt modelId="{58B621DA-D160-47B5-A34A-1DEBF589BE4D}" type="pres">
      <dgm:prSet presAssocID="{8F9B1113-4641-45B9-8914-6EBEE1D16EB2}" presName="vert1" presStyleCnt="0"/>
      <dgm:spPr/>
    </dgm:pt>
    <dgm:pt modelId="{414AF64C-DF67-451F-8835-A9805A318E71}" type="pres">
      <dgm:prSet presAssocID="{D5F999D8-4174-4101-9578-8977838692C8}" presName="thickLine" presStyleLbl="alignNode1" presStyleIdx="8" presStyleCnt="9"/>
      <dgm:spPr/>
    </dgm:pt>
    <dgm:pt modelId="{FA10ADFF-C5F7-46FB-950D-6F6582830B5C}" type="pres">
      <dgm:prSet presAssocID="{D5F999D8-4174-4101-9578-8977838692C8}" presName="horz1" presStyleCnt="0"/>
      <dgm:spPr/>
    </dgm:pt>
    <dgm:pt modelId="{0D2FF5CC-E556-4463-AC57-4048DB8D7B3B}" type="pres">
      <dgm:prSet presAssocID="{D5F999D8-4174-4101-9578-8977838692C8}" presName="tx1" presStyleLbl="revTx" presStyleIdx="8" presStyleCnt="9"/>
      <dgm:spPr/>
    </dgm:pt>
    <dgm:pt modelId="{1970B30A-B730-445E-9C73-52DA43C44F90}" type="pres">
      <dgm:prSet presAssocID="{D5F999D8-4174-4101-9578-8977838692C8}" presName="vert1" presStyleCnt="0"/>
      <dgm:spPr/>
    </dgm:pt>
  </dgm:ptLst>
  <dgm:cxnLst>
    <dgm:cxn modelId="{995FDA11-AD1E-4513-B8AE-1E5159E5EEAC}" srcId="{DE5B7A09-8B17-4CED-8CCD-4B1A025D30A4}" destId="{6D9DB545-9E02-4717-81F4-C6B9117DFA78}" srcOrd="6" destOrd="0" parTransId="{A64D98A7-7889-4797-95B7-A747ED7F561F}" sibTransId="{AFF0E181-C508-49F9-874F-066A4297D14C}"/>
    <dgm:cxn modelId="{C9C75624-CDA3-4C91-8283-3D98836435AB}" srcId="{DE5B7A09-8B17-4CED-8CCD-4B1A025D30A4}" destId="{662C0D48-9800-4411-A122-593A0A947B1C}" srcOrd="1" destOrd="0" parTransId="{A5F37516-8807-498B-9DF2-5B48D88277A8}" sibTransId="{B9E95152-B958-4516-8137-B82A3C96BDC5}"/>
    <dgm:cxn modelId="{856CC926-77D3-4ACF-AD92-72B84895335A}" type="presOf" srcId="{D5F999D8-4174-4101-9578-8977838692C8}" destId="{0D2FF5CC-E556-4463-AC57-4048DB8D7B3B}" srcOrd="0" destOrd="0" presId="urn:microsoft.com/office/officeart/2008/layout/LinedList"/>
    <dgm:cxn modelId="{999A1729-7ABC-4212-986D-0F2E941E2A7F}" srcId="{DE5B7A09-8B17-4CED-8CCD-4B1A025D30A4}" destId="{8F9B1113-4641-45B9-8914-6EBEE1D16EB2}" srcOrd="7" destOrd="0" parTransId="{A18A7548-CAB2-4062-9710-6A3D1E6E94FF}" sibTransId="{23C8C5DB-FF67-4336-B6D5-FF49D4C50E50}"/>
    <dgm:cxn modelId="{6EEF912C-D957-493B-A3CE-463729B81F21}" type="presOf" srcId="{662C0D48-9800-4411-A122-593A0A947B1C}" destId="{0C7C8FE9-D475-4231-991F-875A083C6523}" srcOrd="0" destOrd="0" presId="urn:microsoft.com/office/officeart/2008/layout/LinedList"/>
    <dgm:cxn modelId="{3B645739-3694-45E8-8AED-EF2150282616}" type="presOf" srcId="{3EB814C5-FB37-4EB6-B320-11B320A0DBA3}" destId="{22CE302F-A033-40F7-A2D4-DD52BAC50CEE}" srcOrd="0" destOrd="0" presId="urn:microsoft.com/office/officeart/2008/layout/LinedList"/>
    <dgm:cxn modelId="{DCBC1A5C-1CE4-4918-AC54-48B1B18783E2}" srcId="{DE5B7A09-8B17-4CED-8CCD-4B1A025D30A4}" destId="{532A2B73-410F-4CC7-94A9-859A368E041F}" srcOrd="2" destOrd="0" parTransId="{BEC50BB4-EAB4-46EB-9954-591A0D1968B9}" sibTransId="{C3E6DD84-46BB-49A8-9013-EA9B11DDDD87}"/>
    <dgm:cxn modelId="{2CD23642-EC3A-49A4-9640-A89FE962D3F5}" type="presOf" srcId="{8F9B1113-4641-45B9-8914-6EBEE1D16EB2}" destId="{67E593DF-CE6B-41DA-B692-424004B8E746}" srcOrd="0" destOrd="0" presId="urn:microsoft.com/office/officeart/2008/layout/LinedList"/>
    <dgm:cxn modelId="{ADA11E6A-5B56-47D0-B8F1-A6A41E97343B}" type="presOf" srcId="{532A2B73-410F-4CC7-94A9-859A368E041F}" destId="{F02BA823-843E-4B10-8EDA-DC9420F40ACB}" srcOrd="0" destOrd="0" presId="urn:microsoft.com/office/officeart/2008/layout/LinedList"/>
    <dgm:cxn modelId="{65A90957-E2B2-4CCD-9E75-DE82B5B920BC}" type="presOf" srcId="{C8DC76B7-AF2D-45D7-A4F1-5F470D709242}" destId="{6E087E98-3597-4CC6-81A3-1179518C48A7}" srcOrd="0" destOrd="0" presId="urn:microsoft.com/office/officeart/2008/layout/LinedList"/>
    <dgm:cxn modelId="{65F3D696-EB3C-4AD6-B84B-2BC8B18878F3}" srcId="{DE5B7A09-8B17-4CED-8CCD-4B1A025D30A4}" destId="{865F4F20-385F-415E-B7DA-25F14ADF0D6F}" srcOrd="5" destOrd="0" parTransId="{572FE32C-9A66-4A0B-BFAB-D5183A9A6BD6}" sibTransId="{3A663141-F5BF-4578-B099-EBBFB1131B75}"/>
    <dgm:cxn modelId="{27421AA3-A80F-4620-ADBD-1808007415A6}" type="presOf" srcId="{6D9DB545-9E02-4717-81F4-C6B9117DFA78}" destId="{BB45E97E-0973-4B35-8395-1043CD249CF3}" srcOrd="0" destOrd="0" presId="urn:microsoft.com/office/officeart/2008/layout/LinedList"/>
    <dgm:cxn modelId="{CDB8A3A9-141A-4017-A498-BD5ED87D303E}" srcId="{DE5B7A09-8B17-4CED-8CCD-4B1A025D30A4}" destId="{C8DC76B7-AF2D-45D7-A4F1-5F470D709242}" srcOrd="4" destOrd="0" parTransId="{487D9DAB-ECAB-4FA6-8953-274928B7C161}" sibTransId="{8A93FA04-27A1-4526-99B4-B898F9889900}"/>
    <dgm:cxn modelId="{F27407B3-5866-4398-9F4D-460600259121}" srcId="{DE5B7A09-8B17-4CED-8CCD-4B1A025D30A4}" destId="{D5F999D8-4174-4101-9578-8977838692C8}" srcOrd="8" destOrd="0" parTransId="{2AB58ED7-3B19-413F-9884-FE7B3FFBCAD6}" sibTransId="{1B44288C-2E05-4B66-BA3E-3FEBA2E2BC13}"/>
    <dgm:cxn modelId="{24B754C5-28F1-4461-9005-CB2443942315}" type="presOf" srcId="{DE5B7A09-8B17-4CED-8CCD-4B1A025D30A4}" destId="{B4991E9D-147B-4804-BF11-69DE1021F8DE}" srcOrd="0" destOrd="0" presId="urn:microsoft.com/office/officeart/2008/layout/LinedList"/>
    <dgm:cxn modelId="{CC0180CE-B2D2-451E-9440-879D34B849FC}" srcId="{DE5B7A09-8B17-4CED-8CCD-4B1A025D30A4}" destId="{39C76F03-9685-4E5C-9A1B-6B43A40191B0}" srcOrd="3" destOrd="0" parTransId="{4B4320DD-A5A3-4D44-92AA-BC22CBB21164}" sibTransId="{3A28478D-CFD8-42D4-BE62-AB77B8A842D0}"/>
    <dgm:cxn modelId="{9A3416D7-EAE8-4BF1-BE5A-5C57D1BB3A57}" type="presOf" srcId="{39C76F03-9685-4E5C-9A1B-6B43A40191B0}" destId="{F42AA900-D84A-4A0A-802C-6BDC6101BBA8}" srcOrd="0" destOrd="0" presId="urn:microsoft.com/office/officeart/2008/layout/LinedList"/>
    <dgm:cxn modelId="{51CB0BF7-1F85-4394-A09F-2158E0D028DB}" type="presOf" srcId="{865F4F20-385F-415E-B7DA-25F14ADF0D6F}" destId="{35F4682B-2F51-42AA-8FB5-0DD9ADFE01A0}" srcOrd="0" destOrd="0" presId="urn:microsoft.com/office/officeart/2008/layout/LinedList"/>
    <dgm:cxn modelId="{4D786EFB-AF50-4C94-A140-03563DA9A30A}" srcId="{DE5B7A09-8B17-4CED-8CCD-4B1A025D30A4}" destId="{3EB814C5-FB37-4EB6-B320-11B320A0DBA3}" srcOrd="0" destOrd="0" parTransId="{2DB851B3-048A-4446-A561-0561D3137CC9}" sibTransId="{797722BF-BF27-46F5-87A6-D08309392218}"/>
    <dgm:cxn modelId="{D0F56295-0470-4240-B9AF-46E5D6969922}" type="presParOf" srcId="{B4991E9D-147B-4804-BF11-69DE1021F8DE}" destId="{2DAC478A-2631-4846-8ADA-20056455F22D}" srcOrd="0" destOrd="0" presId="urn:microsoft.com/office/officeart/2008/layout/LinedList"/>
    <dgm:cxn modelId="{56D890BB-4B01-4861-BAA4-BD5D90244E8A}" type="presParOf" srcId="{B4991E9D-147B-4804-BF11-69DE1021F8DE}" destId="{FEBC80B0-6954-49F9-8D5E-C8FD9E4E01C7}" srcOrd="1" destOrd="0" presId="urn:microsoft.com/office/officeart/2008/layout/LinedList"/>
    <dgm:cxn modelId="{4B2C583E-6205-4B4E-A585-7D8003D451B1}" type="presParOf" srcId="{FEBC80B0-6954-49F9-8D5E-C8FD9E4E01C7}" destId="{22CE302F-A033-40F7-A2D4-DD52BAC50CEE}" srcOrd="0" destOrd="0" presId="urn:microsoft.com/office/officeart/2008/layout/LinedList"/>
    <dgm:cxn modelId="{03084E36-0931-4C7D-8088-BCCCF956C735}" type="presParOf" srcId="{FEBC80B0-6954-49F9-8D5E-C8FD9E4E01C7}" destId="{89605B29-BF08-400C-889E-7E8858E2E1D5}" srcOrd="1" destOrd="0" presId="urn:microsoft.com/office/officeart/2008/layout/LinedList"/>
    <dgm:cxn modelId="{737D400F-C89D-4EB8-B7F3-88CCA0E6E30A}" type="presParOf" srcId="{B4991E9D-147B-4804-BF11-69DE1021F8DE}" destId="{1E34720A-B8FB-42FE-A145-D70E3B4C2E11}" srcOrd="2" destOrd="0" presId="urn:microsoft.com/office/officeart/2008/layout/LinedList"/>
    <dgm:cxn modelId="{553106AC-90C9-4147-9E7E-9243BC06DBA4}" type="presParOf" srcId="{B4991E9D-147B-4804-BF11-69DE1021F8DE}" destId="{BF4A3EF6-1E0D-4FD3-979B-9A0EF2322AC7}" srcOrd="3" destOrd="0" presId="urn:microsoft.com/office/officeart/2008/layout/LinedList"/>
    <dgm:cxn modelId="{4BE0483C-59FC-4B08-8E5E-999572D1E8BC}" type="presParOf" srcId="{BF4A3EF6-1E0D-4FD3-979B-9A0EF2322AC7}" destId="{0C7C8FE9-D475-4231-991F-875A083C6523}" srcOrd="0" destOrd="0" presId="urn:microsoft.com/office/officeart/2008/layout/LinedList"/>
    <dgm:cxn modelId="{47C007D4-7A62-4BDA-B080-952965033B2B}" type="presParOf" srcId="{BF4A3EF6-1E0D-4FD3-979B-9A0EF2322AC7}" destId="{E2762942-A7B4-4D7A-8B62-AB12ABB2DAC0}" srcOrd="1" destOrd="0" presId="urn:microsoft.com/office/officeart/2008/layout/LinedList"/>
    <dgm:cxn modelId="{30FEE1A3-A8CA-44AF-9B36-7460C7DE55BC}" type="presParOf" srcId="{B4991E9D-147B-4804-BF11-69DE1021F8DE}" destId="{B50AC576-8DA5-48CE-AF26-4172D1ED5694}" srcOrd="4" destOrd="0" presId="urn:microsoft.com/office/officeart/2008/layout/LinedList"/>
    <dgm:cxn modelId="{2CD9F305-2C10-42DC-A44F-F3398F8BA3BF}" type="presParOf" srcId="{B4991E9D-147B-4804-BF11-69DE1021F8DE}" destId="{48A277FF-71BD-4C38-AB3D-AABABAC5BDA6}" srcOrd="5" destOrd="0" presId="urn:microsoft.com/office/officeart/2008/layout/LinedList"/>
    <dgm:cxn modelId="{CEFDF1AF-A8BF-472B-B4FA-61D650BF3F52}" type="presParOf" srcId="{48A277FF-71BD-4C38-AB3D-AABABAC5BDA6}" destId="{F02BA823-843E-4B10-8EDA-DC9420F40ACB}" srcOrd="0" destOrd="0" presId="urn:microsoft.com/office/officeart/2008/layout/LinedList"/>
    <dgm:cxn modelId="{FC281293-B848-4DEC-B998-672041925C9F}" type="presParOf" srcId="{48A277FF-71BD-4C38-AB3D-AABABAC5BDA6}" destId="{47C3BA96-2C81-428F-A4A6-2DBF2B45F781}" srcOrd="1" destOrd="0" presId="urn:microsoft.com/office/officeart/2008/layout/LinedList"/>
    <dgm:cxn modelId="{BE239440-86E1-4312-B80B-A09573B651B0}" type="presParOf" srcId="{B4991E9D-147B-4804-BF11-69DE1021F8DE}" destId="{41075191-774F-44B3-AE78-6F0F68F5F225}" srcOrd="6" destOrd="0" presId="urn:microsoft.com/office/officeart/2008/layout/LinedList"/>
    <dgm:cxn modelId="{8534BD65-EF4C-4788-AF6F-43A9247C7514}" type="presParOf" srcId="{B4991E9D-147B-4804-BF11-69DE1021F8DE}" destId="{1F1CB70B-3CA7-4E2F-BA57-35A05A428AD8}" srcOrd="7" destOrd="0" presId="urn:microsoft.com/office/officeart/2008/layout/LinedList"/>
    <dgm:cxn modelId="{AF3E126B-F8F9-46CC-808E-2C553E5B632A}" type="presParOf" srcId="{1F1CB70B-3CA7-4E2F-BA57-35A05A428AD8}" destId="{F42AA900-D84A-4A0A-802C-6BDC6101BBA8}" srcOrd="0" destOrd="0" presId="urn:microsoft.com/office/officeart/2008/layout/LinedList"/>
    <dgm:cxn modelId="{74484AAA-F972-498D-A32A-483552017C8B}" type="presParOf" srcId="{1F1CB70B-3CA7-4E2F-BA57-35A05A428AD8}" destId="{FB53202D-9B71-4F10-AD5C-03EDEE90C642}" srcOrd="1" destOrd="0" presId="urn:microsoft.com/office/officeart/2008/layout/LinedList"/>
    <dgm:cxn modelId="{3D13EFDA-7881-45B0-ADFE-2D88D81D42F4}" type="presParOf" srcId="{B4991E9D-147B-4804-BF11-69DE1021F8DE}" destId="{E0B1A192-7AB7-4181-8E32-7A81D2932FD6}" srcOrd="8" destOrd="0" presId="urn:microsoft.com/office/officeart/2008/layout/LinedList"/>
    <dgm:cxn modelId="{985A21B5-E557-4212-BE5C-5146A123B3F9}" type="presParOf" srcId="{B4991E9D-147B-4804-BF11-69DE1021F8DE}" destId="{86791993-43C7-43F8-A2C7-ACA09EE0B2D0}" srcOrd="9" destOrd="0" presId="urn:microsoft.com/office/officeart/2008/layout/LinedList"/>
    <dgm:cxn modelId="{A8CB9609-6BB6-43BE-8406-4697311B1396}" type="presParOf" srcId="{86791993-43C7-43F8-A2C7-ACA09EE0B2D0}" destId="{6E087E98-3597-4CC6-81A3-1179518C48A7}" srcOrd="0" destOrd="0" presId="urn:microsoft.com/office/officeart/2008/layout/LinedList"/>
    <dgm:cxn modelId="{58A8EA41-CBA9-4BD6-BB9E-96E7B1514FBD}" type="presParOf" srcId="{86791993-43C7-43F8-A2C7-ACA09EE0B2D0}" destId="{3B759044-3664-447C-A088-507F740FA0D8}" srcOrd="1" destOrd="0" presId="urn:microsoft.com/office/officeart/2008/layout/LinedList"/>
    <dgm:cxn modelId="{5DF9A5E4-B2A8-490C-9A23-BB8C2ED922C3}" type="presParOf" srcId="{B4991E9D-147B-4804-BF11-69DE1021F8DE}" destId="{9498E325-0D6B-4019-AE4C-FA0CF38F09F5}" srcOrd="10" destOrd="0" presId="urn:microsoft.com/office/officeart/2008/layout/LinedList"/>
    <dgm:cxn modelId="{6956878F-9B70-4810-BF09-587FF606D889}" type="presParOf" srcId="{B4991E9D-147B-4804-BF11-69DE1021F8DE}" destId="{74083E47-591A-4884-A81C-23A601D434F2}" srcOrd="11" destOrd="0" presId="urn:microsoft.com/office/officeart/2008/layout/LinedList"/>
    <dgm:cxn modelId="{0F591B6E-FFC1-4B1C-A7E1-6D4EA7BF4286}" type="presParOf" srcId="{74083E47-591A-4884-A81C-23A601D434F2}" destId="{35F4682B-2F51-42AA-8FB5-0DD9ADFE01A0}" srcOrd="0" destOrd="0" presId="urn:microsoft.com/office/officeart/2008/layout/LinedList"/>
    <dgm:cxn modelId="{7AA54843-381D-43E1-9BF6-C178CDD2B4F0}" type="presParOf" srcId="{74083E47-591A-4884-A81C-23A601D434F2}" destId="{0389FAA5-C798-40E2-8932-BC12A51E34D0}" srcOrd="1" destOrd="0" presId="urn:microsoft.com/office/officeart/2008/layout/LinedList"/>
    <dgm:cxn modelId="{F2772ADB-2246-4A07-8721-48A2CAA69349}" type="presParOf" srcId="{B4991E9D-147B-4804-BF11-69DE1021F8DE}" destId="{C02CBA70-C80A-45C8-9960-11ED7613897A}" srcOrd="12" destOrd="0" presId="urn:microsoft.com/office/officeart/2008/layout/LinedList"/>
    <dgm:cxn modelId="{AB7BF1B2-43C4-4579-9D27-04B3BEBC2455}" type="presParOf" srcId="{B4991E9D-147B-4804-BF11-69DE1021F8DE}" destId="{138ACA6B-1C7C-4065-AB5C-9124CF3BA563}" srcOrd="13" destOrd="0" presId="urn:microsoft.com/office/officeart/2008/layout/LinedList"/>
    <dgm:cxn modelId="{3B4D43BB-AE63-4458-A706-8915C35DB699}" type="presParOf" srcId="{138ACA6B-1C7C-4065-AB5C-9124CF3BA563}" destId="{BB45E97E-0973-4B35-8395-1043CD249CF3}" srcOrd="0" destOrd="0" presId="urn:microsoft.com/office/officeart/2008/layout/LinedList"/>
    <dgm:cxn modelId="{757F8DDC-E96F-48CA-8EE4-5BC4F540D01A}" type="presParOf" srcId="{138ACA6B-1C7C-4065-AB5C-9124CF3BA563}" destId="{9D60A9C9-0586-45E6-B48B-8D603E38DF01}" srcOrd="1" destOrd="0" presId="urn:microsoft.com/office/officeart/2008/layout/LinedList"/>
    <dgm:cxn modelId="{A5164170-A74A-4E95-91D1-09A7CC0971FD}" type="presParOf" srcId="{B4991E9D-147B-4804-BF11-69DE1021F8DE}" destId="{801B2164-9D69-435A-BDE4-1C5E761D0243}" srcOrd="14" destOrd="0" presId="urn:microsoft.com/office/officeart/2008/layout/LinedList"/>
    <dgm:cxn modelId="{D3E9FDD8-AA28-41C8-844F-F9B57A88D96F}" type="presParOf" srcId="{B4991E9D-147B-4804-BF11-69DE1021F8DE}" destId="{144C6D21-C89D-4D21-BCCB-1361874AC21D}" srcOrd="15" destOrd="0" presId="urn:microsoft.com/office/officeart/2008/layout/LinedList"/>
    <dgm:cxn modelId="{7C70725D-F8DB-4096-8E9B-0B2717524D4D}" type="presParOf" srcId="{144C6D21-C89D-4D21-BCCB-1361874AC21D}" destId="{67E593DF-CE6B-41DA-B692-424004B8E746}" srcOrd="0" destOrd="0" presId="urn:microsoft.com/office/officeart/2008/layout/LinedList"/>
    <dgm:cxn modelId="{57B7EA52-F524-44F0-BE6D-52A79F8B29CD}" type="presParOf" srcId="{144C6D21-C89D-4D21-BCCB-1361874AC21D}" destId="{58B621DA-D160-47B5-A34A-1DEBF589BE4D}" srcOrd="1" destOrd="0" presId="urn:microsoft.com/office/officeart/2008/layout/LinedList"/>
    <dgm:cxn modelId="{028DAC73-E349-4D33-9F36-588F09E100BA}" type="presParOf" srcId="{B4991E9D-147B-4804-BF11-69DE1021F8DE}" destId="{414AF64C-DF67-451F-8835-A9805A318E71}" srcOrd="16" destOrd="0" presId="urn:microsoft.com/office/officeart/2008/layout/LinedList"/>
    <dgm:cxn modelId="{142C5A30-8324-4AC5-9601-C221234E0DC1}" type="presParOf" srcId="{B4991E9D-147B-4804-BF11-69DE1021F8DE}" destId="{FA10ADFF-C5F7-46FB-950D-6F6582830B5C}" srcOrd="17" destOrd="0" presId="urn:microsoft.com/office/officeart/2008/layout/LinedList"/>
    <dgm:cxn modelId="{0BC928D3-5C43-431A-8923-98656F831F1F}" type="presParOf" srcId="{FA10ADFF-C5F7-46FB-950D-6F6582830B5C}" destId="{0D2FF5CC-E556-4463-AC57-4048DB8D7B3B}" srcOrd="0" destOrd="0" presId="urn:microsoft.com/office/officeart/2008/layout/LinedList"/>
    <dgm:cxn modelId="{66BADC9B-4740-408A-8F7F-C23D8A28B3EC}" type="presParOf" srcId="{FA10ADFF-C5F7-46FB-950D-6F6582830B5C}" destId="{1970B30A-B730-445E-9C73-52DA43C44F90}"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177C73F-2FE2-40C9-9032-1B87A6BE82EE}" type="doc">
      <dgm:prSet loTypeId="urn:microsoft.com/office/officeart/2005/8/layout/orgChart1" loCatId="hierarchy" qsTypeId="urn:microsoft.com/office/officeart/2005/8/quickstyle/simple1" qsCatId="simple" csTypeId="urn:microsoft.com/office/officeart/2005/8/colors/accent5_4" csCatId="accent5" phldr="1"/>
      <dgm:spPr/>
      <dgm:t>
        <a:bodyPr/>
        <a:lstStyle/>
        <a:p>
          <a:endParaRPr lang="en-US"/>
        </a:p>
      </dgm:t>
    </dgm:pt>
    <dgm:pt modelId="{453F0980-1E55-4769-BE82-2A930EF10637}">
      <dgm:prSet phldrT="[Text]" phldr="0"/>
      <dgm:spPr/>
      <dgm:t>
        <a:bodyPr/>
        <a:lstStyle/>
        <a:p>
          <a:pPr rtl="0"/>
          <a:r>
            <a:rPr lang="en-US">
              <a:latin typeface="Calibri Light" panose="020F0302020204030204"/>
            </a:rPr>
            <a:t>Legacy Services</a:t>
          </a:r>
          <a:endParaRPr lang="en-US"/>
        </a:p>
      </dgm:t>
    </dgm:pt>
    <dgm:pt modelId="{0FE3B95F-B2D4-4EF5-8503-0F6F3911CED1}" type="parTrans" cxnId="{ECA56BA7-8B52-49C6-83F5-1590AFE61374}">
      <dgm:prSet/>
      <dgm:spPr/>
      <dgm:t>
        <a:bodyPr/>
        <a:lstStyle/>
        <a:p>
          <a:endParaRPr lang="en-US"/>
        </a:p>
      </dgm:t>
    </dgm:pt>
    <dgm:pt modelId="{76E1151E-7475-4FC5-90C4-EAF27205B568}" type="sibTrans" cxnId="{ECA56BA7-8B52-49C6-83F5-1590AFE61374}">
      <dgm:prSet/>
      <dgm:spPr/>
      <dgm:t>
        <a:bodyPr/>
        <a:lstStyle/>
        <a:p>
          <a:endParaRPr lang="en-US"/>
        </a:p>
      </dgm:t>
    </dgm:pt>
    <dgm:pt modelId="{0597433B-34A3-4DD9-915A-D05517EA6E8B}">
      <dgm:prSet phldrT="[Text]" phldr="0"/>
      <dgm:spPr/>
      <dgm:t>
        <a:bodyPr/>
        <a:lstStyle/>
        <a:p>
          <a:pPr rtl="0"/>
          <a:r>
            <a:rPr lang="en-US">
              <a:latin typeface="Calibri Light" panose="020F0302020204030204"/>
            </a:rPr>
            <a:t>25 Day staff</a:t>
          </a:r>
          <a:endParaRPr lang="en-US"/>
        </a:p>
      </dgm:t>
    </dgm:pt>
    <dgm:pt modelId="{8B98FC1F-5108-47C9-A650-3FBA880EF711}" type="parTrans" cxnId="{5468EC48-EBCD-4237-8F0F-5356DC7CCE96}">
      <dgm:prSet/>
      <dgm:spPr/>
      <dgm:t>
        <a:bodyPr/>
        <a:lstStyle/>
        <a:p>
          <a:endParaRPr lang="en-US"/>
        </a:p>
      </dgm:t>
    </dgm:pt>
    <dgm:pt modelId="{3BF4D2F2-9914-4664-B8F7-3D6907B39135}" type="sibTrans" cxnId="{5468EC48-EBCD-4237-8F0F-5356DC7CCE96}">
      <dgm:prSet/>
      <dgm:spPr/>
      <dgm:t>
        <a:bodyPr/>
        <a:lstStyle/>
        <a:p>
          <a:endParaRPr lang="en-US"/>
        </a:p>
      </dgm:t>
    </dgm:pt>
    <dgm:pt modelId="{5DEEA594-71BA-4F98-A3D9-DB294D69DE39}">
      <dgm:prSet phldrT="[Text]" phldr="0"/>
      <dgm:spPr/>
      <dgm:t>
        <a:bodyPr/>
        <a:lstStyle/>
        <a:p>
          <a:pPr rtl="0"/>
          <a:r>
            <a:rPr lang="en-US">
              <a:latin typeface="Calibri Light" panose="020F0302020204030204"/>
            </a:rPr>
            <a:t>4 Employment staff</a:t>
          </a:r>
          <a:endParaRPr lang="en-US"/>
        </a:p>
      </dgm:t>
    </dgm:pt>
    <dgm:pt modelId="{5636BA92-C042-40DF-8DEA-50ED5488022D}" type="parTrans" cxnId="{47C70E45-7A69-44F5-AF60-2E456E426431}">
      <dgm:prSet/>
      <dgm:spPr/>
      <dgm:t>
        <a:bodyPr/>
        <a:lstStyle/>
        <a:p>
          <a:endParaRPr lang="en-US"/>
        </a:p>
      </dgm:t>
    </dgm:pt>
    <dgm:pt modelId="{D3E98C96-DB61-4E1A-B64A-074E3273B1D6}" type="sibTrans" cxnId="{47C70E45-7A69-44F5-AF60-2E456E426431}">
      <dgm:prSet/>
      <dgm:spPr/>
      <dgm:t>
        <a:bodyPr/>
        <a:lstStyle/>
        <a:p>
          <a:endParaRPr lang="en-US"/>
        </a:p>
      </dgm:t>
    </dgm:pt>
    <dgm:pt modelId="{9D4159A4-2AFB-43A3-8889-FF6446450A7D}" type="pres">
      <dgm:prSet presAssocID="{2177C73F-2FE2-40C9-9032-1B87A6BE82EE}" presName="hierChild1" presStyleCnt="0">
        <dgm:presLayoutVars>
          <dgm:orgChart val="1"/>
          <dgm:chPref val="1"/>
          <dgm:dir/>
          <dgm:animOne val="branch"/>
          <dgm:animLvl val="lvl"/>
          <dgm:resizeHandles/>
        </dgm:presLayoutVars>
      </dgm:prSet>
      <dgm:spPr/>
    </dgm:pt>
    <dgm:pt modelId="{220BAD07-3685-4ACF-B9A6-2C43083A4E56}" type="pres">
      <dgm:prSet presAssocID="{453F0980-1E55-4769-BE82-2A930EF10637}" presName="hierRoot1" presStyleCnt="0">
        <dgm:presLayoutVars>
          <dgm:hierBranch val="init"/>
        </dgm:presLayoutVars>
      </dgm:prSet>
      <dgm:spPr/>
    </dgm:pt>
    <dgm:pt modelId="{72667BC1-5F96-4163-B51C-44FC078485DC}" type="pres">
      <dgm:prSet presAssocID="{453F0980-1E55-4769-BE82-2A930EF10637}" presName="rootComposite1" presStyleCnt="0"/>
      <dgm:spPr/>
    </dgm:pt>
    <dgm:pt modelId="{9E4FB3C1-199D-4298-B805-9A23F7B33A25}" type="pres">
      <dgm:prSet presAssocID="{453F0980-1E55-4769-BE82-2A930EF10637}" presName="rootText1" presStyleLbl="node0" presStyleIdx="0" presStyleCnt="1">
        <dgm:presLayoutVars>
          <dgm:chPref val="3"/>
        </dgm:presLayoutVars>
      </dgm:prSet>
      <dgm:spPr/>
    </dgm:pt>
    <dgm:pt modelId="{5A70476C-C269-4A9E-9D01-4569087D181A}" type="pres">
      <dgm:prSet presAssocID="{453F0980-1E55-4769-BE82-2A930EF10637}" presName="rootConnector1" presStyleLbl="node1" presStyleIdx="0" presStyleCnt="0"/>
      <dgm:spPr/>
    </dgm:pt>
    <dgm:pt modelId="{435DCC4E-7F9C-462D-89FA-DD10813A243E}" type="pres">
      <dgm:prSet presAssocID="{453F0980-1E55-4769-BE82-2A930EF10637}" presName="hierChild2" presStyleCnt="0"/>
      <dgm:spPr/>
    </dgm:pt>
    <dgm:pt modelId="{B3062456-8AB2-489E-91F5-EE4F65E51498}" type="pres">
      <dgm:prSet presAssocID="{8B98FC1F-5108-47C9-A650-3FBA880EF711}" presName="Name37" presStyleLbl="parChTrans1D2" presStyleIdx="0" presStyleCnt="2"/>
      <dgm:spPr/>
    </dgm:pt>
    <dgm:pt modelId="{CAE368B2-125C-4E95-A6E3-A31A631195D6}" type="pres">
      <dgm:prSet presAssocID="{0597433B-34A3-4DD9-915A-D05517EA6E8B}" presName="hierRoot2" presStyleCnt="0">
        <dgm:presLayoutVars>
          <dgm:hierBranch val="init"/>
        </dgm:presLayoutVars>
      </dgm:prSet>
      <dgm:spPr/>
    </dgm:pt>
    <dgm:pt modelId="{7A410CF1-D29E-4AFE-B8FE-208AEE817CB9}" type="pres">
      <dgm:prSet presAssocID="{0597433B-34A3-4DD9-915A-D05517EA6E8B}" presName="rootComposite" presStyleCnt="0"/>
      <dgm:spPr/>
    </dgm:pt>
    <dgm:pt modelId="{91694264-63ED-4D4A-BBC9-E334DCC013A5}" type="pres">
      <dgm:prSet presAssocID="{0597433B-34A3-4DD9-915A-D05517EA6E8B}" presName="rootText" presStyleLbl="node2" presStyleIdx="0" presStyleCnt="2">
        <dgm:presLayoutVars>
          <dgm:chPref val="3"/>
        </dgm:presLayoutVars>
      </dgm:prSet>
      <dgm:spPr/>
    </dgm:pt>
    <dgm:pt modelId="{09276381-9B11-46F3-9DD5-5B77DDD0E8F6}" type="pres">
      <dgm:prSet presAssocID="{0597433B-34A3-4DD9-915A-D05517EA6E8B}" presName="rootConnector" presStyleLbl="node2" presStyleIdx="0" presStyleCnt="2"/>
      <dgm:spPr/>
    </dgm:pt>
    <dgm:pt modelId="{50CDE8FF-3FC3-4F4B-AFEE-C9A0B145D832}" type="pres">
      <dgm:prSet presAssocID="{0597433B-34A3-4DD9-915A-D05517EA6E8B}" presName="hierChild4" presStyleCnt="0"/>
      <dgm:spPr/>
    </dgm:pt>
    <dgm:pt modelId="{8AD0A988-55DC-4AB5-A7DF-82FBDC80DB8E}" type="pres">
      <dgm:prSet presAssocID="{0597433B-34A3-4DD9-915A-D05517EA6E8B}" presName="hierChild5" presStyleCnt="0"/>
      <dgm:spPr/>
    </dgm:pt>
    <dgm:pt modelId="{20216C40-9E52-43AA-BFE9-B5F76C6C38C9}" type="pres">
      <dgm:prSet presAssocID="{5636BA92-C042-40DF-8DEA-50ED5488022D}" presName="Name37" presStyleLbl="parChTrans1D2" presStyleIdx="1" presStyleCnt="2"/>
      <dgm:spPr/>
    </dgm:pt>
    <dgm:pt modelId="{11A655D2-03B6-495B-BA18-0C1B22C45DAA}" type="pres">
      <dgm:prSet presAssocID="{5DEEA594-71BA-4F98-A3D9-DB294D69DE39}" presName="hierRoot2" presStyleCnt="0">
        <dgm:presLayoutVars>
          <dgm:hierBranch val="init"/>
        </dgm:presLayoutVars>
      </dgm:prSet>
      <dgm:spPr/>
    </dgm:pt>
    <dgm:pt modelId="{87227AA5-709A-4B67-BFD3-97909F8B488E}" type="pres">
      <dgm:prSet presAssocID="{5DEEA594-71BA-4F98-A3D9-DB294D69DE39}" presName="rootComposite" presStyleCnt="0"/>
      <dgm:spPr/>
    </dgm:pt>
    <dgm:pt modelId="{DEBB3656-7474-4C1E-AE44-99F69EF50DA1}" type="pres">
      <dgm:prSet presAssocID="{5DEEA594-71BA-4F98-A3D9-DB294D69DE39}" presName="rootText" presStyleLbl="node2" presStyleIdx="1" presStyleCnt="2">
        <dgm:presLayoutVars>
          <dgm:chPref val="3"/>
        </dgm:presLayoutVars>
      </dgm:prSet>
      <dgm:spPr/>
    </dgm:pt>
    <dgm:pt modelId="{67BEAC92-A19A-4E66-88B8-37186310056D}" type="pres">
      <dgm:prSet presAssocID="{5DEEA594-71BA-4F98-A3D9-DB294D69DE39}" presName="rootConnector" presStyleLbl="node2" presStyleIdx="1" presStyleCnt="2"/>
      <dgm:spPr/>
    </dgm:pt>
    <dgm:pt modelId="{0DEE116A-AAD2-4671-ADF9-FBDC11883435}" type="pres">
      <dgm:prSet presAssocID="{5DEEA594-71BA-4F98-A3D9-DB294D69DE39}" presName="hierChild4" presStyleCnt="0"/>
      <dgm:spPr/>
    </dgm:pt>
    <dgm:pt modelId="{51D18A63-BCBA-4C15-9847-F26994E39544}" type="pres">
      <dgm:prSet presAssocID="{5DEEA594-71BA-4F98-A3D9-DB294D69DE39}" presName="hierChild5" presStyleCnt="0"/>
      <dgm:spPr/>
    </dgm:pt>
    <dgm:pt modelId="{775AEE68-56AE-4499-A860-8143CFA557FB}" type="pres">
      <dgm:prSet presAssocID="{453F0980-1E55-4769-BE82-2A930EF10637}" presName="hierChild3" presStyleCnt="0"/>
      <dgm:spPr/>
    </dgm:pt>
  </dgm:ptLst>
  <dgm:cxnLst>
    <dgm:cxn modelId="{D53FF92D-5A5A-492C-A5DB-E73E663D4183}" type="presOf" srcId="{5DEEA594-71BA-4F98-A3D9-DB294D69DE39}" destId="{DEBB3656-7474-4C1E-AE44-99F69EF50DA1}" srcOrd="0" destOrd="0" presId="urn:microsoft.com/office/officeart/2005/8/layout/orgChart1"/>
    <dgm:cxn modelId="{FCFEE332-0A7A-402E-8C51-9343426E815B}" type="presOf" srcId="{0597433B-34A3-4DD9-915A-D05517EA6E8B}" destId="{09276381-9B11-46F3-9DD5-5B77DDD0E8F6}" srcOrd="1" destOrd="0" presId="urn:microsoft.com/office/officeart/2005/8/layout/orgChart1"/>
    <dgm:cxn modelId="{A1C54C5F-194E-42A4-9CD2-138ABB6D027F}" type="presOf" srcId="{453F0980-1E55-4769-BE82-2A930EF10637}" destId="{5A70476C-C269-4A9E-9D01-4569087D181A}" srcOrd="1" destOrd="0" presId="urn:microsoft.com/office/officeart/2005/8/layout/orgChart1"/>
    <dgm:cxn modelId="{47C70E45-7A69-44F5-AF60-2E456E426431}" srcId="{453F0980-1E55-4769-BE82-2A930EF10637}" destId="{5DEEA594-71BA-4F98-A3D9-DB294D69DE39}" srcOrd="1" destOrd="0" parTransId="{5636BA92-C042-40DF-8DEA-50ED5488022D}" sibTransId="{D3E98C96-DB61-4E1A-B64A-074E3273B1D6}"/>
    <dgm:cxn modelId="{4CB87D47-4EF6-4EB7-A69B-8B07069A9AFD}" type="presOf" srcId="{5DEEA594-71BA-4F98-A3D9-DB294D69DE39}" destId="{67BEAC92-A19A-4E66-88B8-37186310056D}" srcOrd="1" destOrd="0" presId="urn:microsoft.com/office/officeart/2005/8/layout/orgChart1"/>
    <dgm:cxn modelId="{5468EC48-EBCD-4237-8F0F-5356DC7CCE96}" srcId="{453F0980-1E55-4769-BE82-2A930EF10637}" destId="{0597433B-34A3-4DD9-915A-D05517EA6E8B}" srcOrd="0" destOrd="0" parTransId="{8B98FC1F-5108-47C9-A650-3FBA880EF711}" sibTransId="{3BF4D2F2-9914-4664-B8F7-3D6907B39135}"/>
    <dgm:cxn modelId="{C4BB8B56-F073-45E4-A7FB-B5CA231EC3FA}" type="presOf" srcId="{5636BA92-C042-40DF-8DEA-50ED5488022D}" destId="{20216C40-9E52-43AA-BFE9-B5F76C6C38C9}" srcOrd="0" destOrd="0" presId="urn:microsoft.com/office/officeart/2005/8/layout/orgChart1"/>
    <dgm:cxn modelId="{31448A77-5214-483E-9D7F-946F66772FB0}" type="presOf" srcId="{0597433B-34A3-4DD9-915A-D05517EA6E8B}" destId="{91694264-63ED-4D4A-BBC9-E334DCC013A5}" srcOrd="0" destOrd="0" presId="urn:microsoft.com/office/officeart/2005/8/layout/orgChart1"/>
    <dgm:cxn modelId="{EA6DA878-FEFA-45A5-AB4E-ED6E610C043A}" type="presOf" srcId="{453F0980-1E55-4769-BE82-2A930EF10637}" destId="{9E4FB3C1-199D-4298-B805-9A23F7B33A25}" srcOrd="0" destOrd="0" presId="urn:microsoft.com/office/officeart/2005/8/layout/orgChart1"/>
    <dgm:cxn modelId="{5D382B8C-9771-4E5F-A823-70E3C8C731C0}" type="presOf" srcId="{8B98FC1F-5108-47C9-A650-3FBA880EF711}" destId="{B3062456-8AB2-489E-91F5-EE4F65E51498}" srcOrd="0" destOrd="0" presId="urn:microsoft.com/office/officeart/2005/8/layout/orgChart1"/>
    <dgm:cxn modelId="{ECA56BA7-8B52-49C6-83F5-1590AFE61374}" srcId="{2177C73F-2FE2-40C9-9032-1B87A6BE82EE}" destId="{453F0980-1E55-4769-BE82-2A930EF10637}" srcOrd="0" destOrd="0" parTransId="{0FE3B95F-B2D4-4EF5-8503-0F6F3911CED1}" sibTransId="{76E1151E-7475-4FC5-90C4-EAF27205B568}"/>
    <dgm:cxn modelId="{490257D4-79DC-4A6A-BAB0-589258B50BDA}" type="presOf" srcId="{2177C73F-2FE2-40C9-9032-1B87A6BE82EE}" destId="{9D4159A4-2AFB-43A3-8889-FF6446450A7D}" srcOrd="0" destOrd="0" presId="urn:microsoft.com/office/officeart/2005/8/layout/orgChart1"/>
    <dgm:cxn modelId="{CD40CA74-348B-4642-9707-D3F0D6BA91E4}" type="presParOf" srcId="{9D4159A4-2AFB-43A3-8889-FF6446450A7D}" destId="{220BAD07-3685-4ACF-B9A6-2C43083A4E56}" srcOrd="0" destOrd="0" presId="urn:microsoft.com/office/officeart/2005/8/layout/orgChart1"/>
    <dgm:cxn modelId="{162EFCFD-2349-4BA1-83DB-2B3A001F2864}" type="presParOf" srcId="{220BAD07-3685-4ACF-B9A6-2C43083A4E56}" destId="{72667BC1-5F96-4163-B51C-44FC078485DC}" srcOrd="0" destOrd="0" presId="urn:microsoft.com/office/officeart/2005/8/layout/orgChart1"/>
    <dgm:cxn modelId="{494B2D4F-8C71-47D0-BAB6-D291B1F66526}" type="presParOf" srcId="{72667BC1-5F96-4163-B51C-44FC078485DC}" destId="{9E4FB3C1-199D-4298-B805-9A23F7B33A25}" srcOrd="0" destOrd="0" presId="urn:microsoft.com/office/officeart/2005/8/layout/orgChart1"/>
    <dgm:cxn modelId="{F005A8DD-C43F-4FC0-B531-FE54AC2087CB}" type="presParOf" srcId="{72667BC1-5F96-4163-B51C-44FC078485DC}" destId="{5A70476C-C269-4A9E-9D01-4569087D181A}" srcOrd="1" destOrd="0" presId="urn:microsoft.com/office/officeart/2005/8/layout/orgChart1"/>
    <dgm:cxn modelId="{6C2BFE3B-AEBA-45F3-AF10-91DB7005E89F}" type="presParOf" srcId="{220BAD07-3685-4ACF-B9A6-2C43083A4E56}" destId="{435DCC4E-7F9C-462D-89FA-DD10813A243E}" srcOrd="1" destOrd="0" presId="urn:microsoft.com/office/officeart/2005/8/layout/orgChart1"/>
    <dgm:cxn modelId="{0F93126C-A690-4530-BDAA-C7C487589B26}" type="presParOf" srcId="{435DCC4E-7F9C-462D-89FA-DD10813A243E}" destId="{B3062456-8AB2-489E-91F5-EE4F65E51498}" srcOrd="0" destOrd="0" presId="urn:microsoft.com/office/officeart/2005/8/layout/orgChart1"/>
    <dgm:cxn modelId="{03317463-06A2-4D4F-82CC-78742A74F71D}" type="presParOf" srcId="{435DCC4E-7F9C-462D-89FA-DD10813A243E}" destId="{CAE368B2-125C-4E95-A6E3-A31A631195D6}" srcOrd="1" destOrd="0" presId="urn:microsoft.com/office/officeart/2005/8/layout/orgChart1"/>
    <dgm:cxn modelId="{971B8AF3-43E6-4764-877C-936CD12A4315}" type="presParOf" srcId="{CAE368B2-125C-4E95-A6E3-A31A631195D6}" destId="{7A410CF1-D29E-4AFE-B8FE-208AEE817CB9}" srcOrd="0" destOrd="0" presId="urn:microsoft.com/office/officeart/2005/8/layout/orgChart1"/>
    <dgm:cxn modelId="{894079B1-5BAB-4153-A0BD-FC1EE8641C0A}" type="presParOf" srcId="{7A410CF1-D29E-4AFE-B8FE-208AEE817CB9}" destId="{91694264-63ED-4D4A-BBC9-E334DCC013A5}" srcOrd="0" destOrd="0" presId="urn:microsoft.com/office/officeart/2005/8/layout/orgChart1"/>
    <dgm:cxn modelId="{9E675082-195F-46AF-8195-8514ADD7DCDF}" type="presParOf" srcId="{7A410CF1-D29E-4AFE-B8FE-208AEE817CB9}" destId="{09276381-9B11-46F3-9DD5-5B77DDD0E8F6}" srcOrd="1" destOrd="0" presId="urn:microsoft.com/office/officeart/2005/8/layout/orgChart1"/>
    <dgm:cxn modelId="{FBE93F15-87F8-4F19-9E83-7C55DA543F19}" type="presParOf" srcId="{CAE368B2-125C-4E95-A6E3-A31A631195D6}" destId="{50CDE8FF-3FC3-4F4B-AFEE-C9A0B145D832}" srcOrd="1" destOrd="0" presId="urn:microsoft.com/office/officeart/2005/8/layout/orgChart1"/>
    <dgm:cxn modelId="{BFD084A0-5223-429C-9669-21E7442F26E6}" type="presParOf" srcId="{CAE368B2-125C-4E95-A6E3-A31A631195D6}" destId="{8AD0A988-55DC-4AB5-A7DF-82FBDC80DB8E}" srcOrd="2" destOrd="0" presId="urn:microsoft.com/office/officeart/2005/8/layout/orgChart1"/>
    <dgm:cxn modelId="{8BB03465-4AB2-4371-A2D0-FCDD6A24593A}" type="presParOf" srcId="{435DCC4E-7F9C-462D-89FA-DD10813A243E}" destId="{20216C40-9E52-43AA-BFE9-B5F76C6C38C9}" srcOrd="2" destOrd="0" presId="urn:microsoft.com/office/officeart/2005/8/layout/orgChart1"/>
    <dgm:cxn modelId="{2F32B557-E23C-4BC2-941A-7E779075643F}" type="presParOf" srcId="{435DCC4E-7F9C-462D-89FA-DD10813A243E}" destId="{11A655D2-03B6-495B-BA18-0C1B22C45DAA}" srcOrd="3" destOrd="0" presId="urn:microsoft.com/office/officeart/2005/8/layout/orgChart1"/>
    <dgm:cxn modelId="{8F5ACC33-5268-4F72-87E9-8BA80AF53566}" type="presParOf" srcId="{11A655D2-03B6-495B-BA18-0C1B22C45DAA}" destId="{87227AA5-709A-4B67-BFD3-97909F8B488E}" srcOrd="0" destOrd="0" presId="urn:microsoft.com/office/officeart/2005/8/layout/orgChart1"/>
    <dgm:cxn modelId="{1B8230B3-DC59-4544-A020-C5F1E7DBE159}" type="presParOf" srcId="{87227AA5-709A-4B67-BFD3-97909F8B488E}" destId="{DEBB3656-7474-4C1E-AE44-99F69EF50DA1}" srcOrd="0" destOrd="0" presId="urn:microsoft.com/office/officeart/2005/8/layout/orgChart1"/>
    <dgm:cxn modelId="{7283D449-FD3B-4307-AEB0-2DB1C719FC60}" type="presParOf" srcId="{87227AA5-709A-4B67-BFD3-97909F8B488E}" destId="{67BEAC92-A19A-4E66-88B8-37186310056D}" srcOrd="1" destOrd="0" presId="urn:microsoft.com/office/officeart/2005/8/layout/orgChart1"/>
    <dgm:cxn modelId="{4E75F8BE-92F7-4E76-8D24-49EBC67947CB}" type="presParOf" srcId="{11A655D2-03B6-495B-BA18-0C1B22C45DAA}" destId="{0DEE116A-AAD2-4671-ADF9-FBDC11883435}" srcOrd="1" destOrd="0" presId="urn:microsoft.com/office/officeart/2005/8/layout/orgChart1"/>
    <dgm:cxn modelId="{01133FF6-ECF9-4AFD-9346-B03D1E735F25}" type="presParOf" srcId="{11A655D2-03B6-495B-BA18-0C1B22C45DAA}" destId="{51D18A63-BCBA-4C15-9847-F26994E39544}" srcOrd="2" destOrd="0" presId="urn:microsoft.com/office/officeart/2005/8/layout/orgChart1"/>
    <dgm:cxn modelId="{A85A4B88-3141-4E71-8903-4FD6C495A777}" type="presParOf" srcId="{220BAD07-3685-4ACF-B9A6-2C43083A4E56}" destId="{775AEE68-56AE-4499-A860-8143CFA557FB}"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177C73F-2FE2-40C9-9032-1B87A6BE82EE}" type="doc">
      <dgm:prSet loTypeId="urn:microsoft.com/office/officeart/2005/8/layout/orgChart1" loCatId="hierarchy" qsTypeId="urn:microsoft.com/office/officeart/2005/8/quickstyle/simple1" qsCatId="simple" csTypeId="urn:microsoft.com/office/officeart/2005/8/colors/colorful5" csCatId="colorful" phldr="1"/>
      <dgm:spPr/>
      <dgm:t>
        <a:bodyPr/>
        <a:lstStyle/>
        <a:p>
          <a:endParaRPr lang="en-US"/>
        </a:p>
      </dgm:t>
    </dgm:pt>
    <dgm:pt modelId="{453F0980-1E55-4769-BE82-2A930EF10637}">
      <dgm:prSet phldrT="[Text]" phldr="0"/>
      <dgm:spPr/>
      <dgm:t>
        <a:bodyPr/>
        <a:lstStyle/>
        <a:p>
          <a:pPr rtl="0"/>
          <a:r>
            <a:rPr lang="en-US" b="1">
              <a:latin typeface="Calibri Light" panose="020F0302020204030204"/>
            </a:rPr>
            <a:t>Updated Services</a:t>
          </a:r>
          <a:endParaRPr lang="en-US" b="1"/>
        </a:p>
      </dgm:t>
    </dgm:pt>
    <dgm:pt modelId="{0FE3B95F-B2D4-4EF5-8503-0F6F3911CED1}" type="parTrans" cxnId="{ECA56BA7-8B52-49C6-83F5-1590AFE61374}">
      <dgm:prSet/>
      <dgm:spPr/>
      <dgm:t>
        <a:bodyPr/>
        <a:lstStyle/>
        <a:p>
          <a:endParaRPr lang="en-US"/>
        </a:p>
      </dgm:t>
    </dgm:pt>
    <dgm:pt modelId="{76E1151E-7475-4FC5-90C4-EAF27205B568}" type="sibTrans" cxnId="{ECA56BA7-8B52-49C6-83F5-1590AFE61374}">
      <dgm:prSet/>
      <dgm:spPr/>
      <dgm:t>
        <a:bodyPr/>
        <a:lstStyle/>
        <a:p>
          <a:endParaRPr lang="en-US"/>
        </a:p>
      </dgm:t>
    </dgm:pt>
    <dgm:pt modelId="{0597433B-34A3-4DD9-915A-D05517EA6E8B}">
      <dgm:prSet phldrT="[Text]" phldr="0"/>
      <dgm:spPr/>
      <dgm:t>
        <a:bodyPr/>
        <a:lstStyle/>
        <a:p>
          <a:pPr rtl="0"/>
          <a:r>
            <a:rPr lang="en-US">
              <a:latin typeface="Calibri Light" panose="020F0302020204030204"/>
            </a:rPr>
            <a:t>20 Day staff</a:t>
          </a:r>
          <a:endParaRPr lang="en-US"/>
        </a:p>
      </dgm:t>
    </dgm:pt>
    <dgm:pt modelId="{8B98FC1F-5108-47C9-A650-3FBA880EF711}" type="parTrans" cxnId="{5468EC48-EBCD-4237-8F0F-5356DC7CCE96}">
      <dgm:prSet/>
      <dgm:spPr/>
      <dgm:t>
        <a:bodyPr/>
        <a:lstStyle/>
        <a:p>
          <a:endParaRPr lang="en-US"/>
        </a:p>
      </dgm:t>
    </dgm:pt>
    <dgm:pt modelId="{3BF4D2F2-9914-4664-B8F7-3D6907B39135}" type="sibTrans" cxnId="{5468EC48-EBCD-4237-8F0F-5356DC7CCE96}">
      <dgm:prSet/>
      <dgm:spPr/>
      <dgm:t>
        <a:bodyPr/>
        <a:lstStyle/>
        <a:p>
          <a:endParaRPr lang="en-US"/>
        </a:p>
      </dgm:t>
    </dgm:pt>
    <dgm:pt modelId="{5DEEA594-71BA-4F98-A3D9-DB294D69DE39}">
      <dgm:prSet phldrT="[Text]" phldr="0"/>
      <dgm:spPr/>
      <dgm:t>
        <a:bodyPr/>
        <a:lstStyle/>
        <a:p>
          <a:pPr rtl="0"/>
          <a:r>
            <a:rPr lang="en-US">
              <a:latin typeface="Calibri Light" panose="020F0302020204030204"/>
            </a:rPr>
            <a:t>9 Employment staff</a:t>
          </a:r>
          <a:endParaRPr lang="en-US"/>
        </a:p>
      </dgm:t>
    </dgm:pt>
    <dgm:pt modelId="{5636BA92-C042-40DF-8DEA-50ED5488022D}" type="parTrans" cxnId="{47C70E45-7A69-44F5-AF60-2E456E426431}">
      <dgm:prSet/>
      <dgm:spPr/>
      <dgm:t>
        <a:bodyPr/>
        <a:lstStyle/>
        <a:p>
          <a:endParaRPr lang="en-US"/>
        </a:p>
      </dgm:t>
    </dgm:pt>
    <dgm:pt modelId="{D3E98C96-DB61-4E1A-B64A-074E3273B1D6}" type="sibTrans" cxnId="{47C70E45-7A69-44F5-AF60-2E456E426431}">
      <dgm:prSet/>
      <dgm:spPr/>
      <dgm:t>
        <a:bodyPr/>
        <a:lstStyle/>
        <a:p>
          <a:endParaRPr lang="en-US"/>
        </a:p>
      </dgm:t>
    </dgm:pt>
    <dgm:pt modelId="{9D4159A4-2AFB-43A3-8889-FF6446450A7D}" type="pres">
      <dgm:prSet presAssocID="{2177C73F-2FE2-40C9-9032-1B87A6BE82EE}" presName="hierChild1" presStyleCnt="0">
        <dgm:presLayoutVars>
          <dgm:orgChart val="1"/>
          <dgm:chPref val="1"/>
          <dgm:dir/>
          <dgm:animOne val="branch"/>
          <dgm:animLvl val="lvl"/>
          <dgm:resizeHandles/>
        </dgm:presLayoutVars>
      </dgm:prSet>
      <dgm:spPr/>
    </dgm:pt>
    <dgm:pt modelId="{220BAD07-3685-4ACF-B9A6-2C43083A4E56}" type="pres">
      <dgm:prSet presAssocID="{453F0980-1E55-4769-BE82-2A930EF10637}" presName="hierRoot1" presStyleCnt="0">
        <dgm:presLayoutVars>
          <dgm:hierBranch val="init"/>
        </dgm:presLayoutVars>
      </dgm:prSet>
      <dgm:spPr/>
    </dgm:pt>
    <dgm:pt modelId="{72667BC1-5F96-4163-B51C-44FC078485DC}" type="pres">
      <dgm:prSet presAssocID="{453F0980-1E55-4769-BE82-2A930EF10637}" presName="rootComposite1" presStyleCnt="0"/>
      <dgm:spPr/>
    </dgm:pt>
    <dgm:pt modelId="{9E4FB3C1-199D-4298-B805-9A23F7B33A25}" type="pres">
      <dgm:prSet presAssocID="{453F0980-1E55-4769-BE82-2A930EF10637}" presName="rootText1" presStyleLbl="node0" presStyleIdx="0" presStyleCnt="1">
        <dgm:presLayoutVars>
          <dgm:chPref val="3"/>
        </dgm:presLayoutVars>
      </dgm:prSet>
      <dgm:spPr/>
    </dgm:pt>
    <dgm:pt modelId="{5A70476C-C269-4A9E-9D01-4569087D181A}" type="pres">
      <dgm:prSet presAssocID="{453F0980-1E55-4769-BE82-2A930EF10637}" presName="rootConnector1" presStyleLbl="node1" presStyleIdx="0" presStyleCnt="0"/>
      <dgm:spPr/>
    </dgm:pt>
    <dgm:pt modelId="{435DCC4E-7F9C-462D-89FA-DD10813A243E}" type="pres">
      <dgm:prSet presAssocID="{453F0980-1E55-4769-BE82-2A930EF10637}" presName="hierChild2" presStyleCnt="0"/>
      <dgm:spPr/>
    </dgm:pt>
    <dgm:pt modelId="{B3062456-8AB2-489E-91F5-EE4F65E51498}" type="pres">
      <dgm:prSet presAssocID="{8B98FC1F-5108-47C9-A650-3FBA880EF711}" presName="Name37" presStyleLbl="parChTrans1D2" presStyleIdx="0" presStyleCnt="2"/>
      <dgm:spPr/>
    </dgm:pt>
    <dgm:pt modelId="{CAE368B2-125C-4E95-A6E3-A31A631195D6}" type="pres">
      <dgm:prSet presAssocID="{0597433B-34A3-4DD9-915A-D05517EA6E8B}" presName="hierRoot2" presStyleCnt="0">
        <dgm:presLayoutVars>
          <dgm:hierBranch val="init"/>
        </dgm:presLayoutVars>
      </dgm:prSet>
      <dgm:spPr/>
    </dgm:pt>
    <dgm:pt modelId="{7A410CF1-D29E-4AFE-B8FE-208AEE817CB9}" type="pres">
      <dgm:prSet presAssocID="{0597433B-34A3-4DD9-915A-D05517EA6E8B}" presName="rootComposite" presStyleCnt="0"/>
      <dgm:spPr/>
    </dgm:pt>
    <dgm:pt modelId="{91694264-63ED-4D4A-BBC9-E334DCC013A5}" type="pres">
      <dgm:prSet presAssocID="{0597433B-34A3-4DD9-915A-D05517EA6E8B}" presName="rootText" presStyleLbl="node2" presStyleIdx="0" presStyleCnt="2">
        <dgm:presLayoutVars>
          <dgm:chPref val="3"/>
        </dgm:presLayoutVars>
      </dgm:prSet>
      <dgm:spPr/>
    </dgm:pt>
    <dgm:pt modelId="{09276381-9B11-46F3-9DD5-5B77DDD0E8F6}" type="pres">
      <dgm:prSet presAssocID="{0597433B-34A3-4DD9-915A-D05517EA6E8B}" presName="rootConnector" presStyleLbl="node2" presStyleIdx="0" presStyleCnt="2"/>
      <dgm:spPr/>
    </dgm:pt>
    <dgm:pt modelId="{50CDE8FF-3FC3-4F4B-AFEE-C9A0B145D832}" type="pres">
      <dgm:prSet presAssocID="{0597433B-34A3-4DD9-915A-D05517EA6E8B}" presName="hierChild4" presStyleCnt="0"/>
      <dgm:spPr/>
    </dgm:pt>
    <dgm:pt modelId="{8AD0A988-55DC-4AB5-A7DF-82FBDC80DB8E}" type="pres">
      <dgm:prSet presAssocID="{0597433B-34A3-4DD9-915A-D05517EA6E8B}" presName="hierChild5" presStyleCnt="0"/>
      <dgm:spPr/>
    </dgm:pt>
    <dgm:pt modelId="{20216C40-9E52-43AA-BFE9-B5F76C6C38C9}" type="pres">
      <dgm:prSet presAssocID="{5636BA92-C042-40DF-8DEA-50ED5488022D}" presName="Name37" presStyleLbl="parChTrans1D2" presStyleIdx="1" presStyleCnt="2"/>
      <dgm:spPr/>
    </dgm:pt>
    <dgm:pt modelId="{11A655D2-03B6-495B-BA18-0C1B22C45DAA}" type="pres">
      <dgm:prSet presAssocID="{5DEEA594-71BA-4F98-A3D9-DB294D69DE39}" presName="hierRoot2" presStyleCnt="0">
        <dgm:presLayoutVars>
          <dgm:hierBranch val="init"/>
        </dgm:presLayoutVars>
      </dgm:prSet>
      <dgm:spPr/>
    </dgm:pt>
    <dgm:pt modelId="{87227AA5-709A-4B67-BFD3-97909F8B488E}" type="pres">
      <dgm:prSet presAssocID="{5DEEA594-71BA-4F98-A3D9-DB294D69DE39}" presName="rootComposite" presStyleCnt="0"/>
      <dgm:spPr/>
    </dgm:pt>
    <dgm:pt modelId="{DEBB3656-7474-4C1E-AE44-99F69EF50DA1}" type="pres">
      <dgm:prSet presAssocID="{5DEEA594-71BA-4F98-A3D9-DB294D69DE39}" presName="rootText" presStyleLbl="node2" presStyleIdx="1" presStyleCnt="2">
        <dgm:presLayoutVars>
          <dgm:chPref val="3"/>
        </dgm:presLayoutVars>
      </dgm:prSet>
      <dgm:spPr/>
    </dgm:pt>
    <dgm:pt modelId="{67BEAC92-A19A-4E66-88B8-37186310056D}" type="pres">
      <dgm:prSet presAssocID="{5DEEA594-71BA-4F98-A3D9-DB294D69DE39}" presName="rootConnector" presStyleLbl="node2" presStyleIdx="1" presStyleCnt="2"/>
      <dgm:spPr/>
    </dgm:pt>
    <dgm:pt modelId="{0DEE116A-AAD2-4671-ADF9-FBDC11883435}" type="pres">
      <dgm:prSet presAssocID="{5DEEA594-71BA-4F98-A3D9-DB294D69DE39}" presName="hierChild4" presStyleCnt="0"/>
      <dgm:spPr/>
    </dgm:pt>
    <dgm:pt modelId="{51D18A63-BCBA-4C15-9847-F26994E39544}" type="pres">
      <dgm:prSet presAssocID="{5DEEA594-71BA-4F98-A3D9-DB294D69DE39}" presName="hierChild5" presStyleCnt="0"/>
      <dgm:spPr/>
    </dgm:pt>
    <dgm:pt modelId="{775AEE68-56AE-4499-A860-8143CFA557FB}" type="pres">
      <dgm:prSet presAssocID="{453F0980-1E55-4769-BE82-2A930EF10637}" presName="hierChild3" presStyleCnt="0"/>
      <dgm:spPr/>
    </dgm:pt>
  </dgm:ptLst>
  <dgm:cxnLst>
    <dgm:cxn modelId="{5C257A0D-890F-46ED-8272-D15150D36E29}" type="presOf" srcId="{0597433B-34A3-4DD9-915A-D05517EA6E8B}" destId="{91694264-63ED-4D4A-BBC9-E334DCC013A5}" srcOrd="0" destOrd="0" presId="urn:microsoft.com/office/officeart/2005/8/layout/orgChart1"/>
    <dgm:cxn modelId="{B707C61A-A23F-45C8-8A9C-55B9050E70DF}" type="presOf" srcId="{5636BA92-C042-40DF-8DEA-50ED5488022D}" destId="{20216C40-9E52-43AA-BFE9-B5F76C6C38C9}" srcOrd="0" destOrd="0" presId="urn:microsoft.com/office/officeart/2005/8/layout/orgChart1"/>
    <dgm:cxn modelId="{71A85428-CD06-469C-92A3-FF4C869DBD53}" type="presOf" srcId="{0597433B-34A3-4DD9-915A-D05517EA6E8B}" destId="{09276381-9B11-46F3-9DD5-5B77DDD0E8F6}" srcOrd="1" destOrd="0" presId="urn:microsoft.com/office/officeart/2005/8/layout/orgChart1"/>
    <dgm:cxn modelId="{CB8D7429-4383-4D6D-9EC2-71B5B6876199}" type="presOf" srcId="{453F0980-1E55-4769-BE82-2A930EF10637}" destId="{5A70476C-C269-4A9E-9D01-4569087D181A}" srcOrd="1" destOrd="0" presId="urn:microsoft.com/office/officeart/2005/8/layout/orgChart1"/>
    <dgm:cxn modelId="{47C70E45-7A69-44F5-AF60-2E456E426431}" srcId="{453F0980-1E55-4769-BE82-2A930EF10637}" destId="{5DEEA594-71BA-4F98-A3D9-DB294D69DE39}" srcOrd="1" destOrd="0" parTransId="{5636BA92-C042-40DF-8DEA-50ED5488022D}" sibTransId="{D3E98C96-DB61-4E1A-B64A-074E3273B1D6}"/>
    <dgm:cxn modelId="{5468EC48-EBCD-4237-8F0F-5356DC7CCE96}" srcId="{453F0980-1E55-4769-BE82-2A930EF10637}" destId="{0597433B-34A3-4DD9-915A-D05517EA6E8B}" srcOrd="0" destOrd="0" parTransId="{8B98FC1F-5108-47C9-A650-3FBA880EF711}" sibTransId="{3BF4D2F2-9914-4664-B8F7-3D6907B39135}"/>
    <dgm:cxn modelId="{53E727A3-39B9-4EA0-9609-9BCF8C90BB7D}" type="presOf" srcId="{453F0980-1E55-4769-BE82-2A930EF10637}" destId="{9E4FB3C1-199D-4298-B805-9A23F7B33A25}" srcOrd="0" destOrd="0" presId="urn:microsoft.com/office/officeart/2005/8/layout/orgChart1"/>
    <dgm:cxn modelId="{B8B396A6-5714-43CA-ABB1-8B0DC0D2A1E0}" type="presOf" srcId="{5DEEA594-71BA-4F98-A3D9-DB294D69DE39}" destId="{67BEAC92-A19A-4E66-88B8-37186310056D}" srcOrd="1" destOrd="0" presId="urn:microsoft.com/office/officeart/2005/8/layout/orgChart1"/>
    <dgm:cxn modelId="{ECA56BA7-8B52-49C6-83F5-1590AFE61374}" srcId="{2177C73F-2FE2-40C9-9032-1B87A6BE82EE}" destId="{453F0980-1E55-4769-BE82-2A930EF10637}" srcOrd="0" destOrd="0" parTransId="{0FE3B95F-B2D4-4EF5-8503-0F6F3911CED1}" sibTransId="{76E1151E-7475-4FC5-90C4-EAF27205B568}"/>
    <dgm:cxn modelId="{490257D4-79DC-4A6A-BAB0-589258B50BDA}" type="presOf" srcId="{2177C73F-2FE2-40C9-9032-1B87A6BE82EE}" destId="{9D4159A4-2AFB-43A3-8889-FF6446450A7D}" srcOrd="0" destOrd="0" presId="urn:microsoft.com/office/officeart/2005/8/layout/orgChart1"/>
    <dgm:cxn modelId="{2E22AEDA-2D8B-4B54-B199-BC5FD17FF3DE}" type="presOf" srcId="{8B98FC1F-5108-47C9-A650-3FBA880EF711}" destId="{B3062456-8AB2-489E-91F5-EE4F65E51498}" srcOrd="0" destOrd="0" presId="urn:microsoft.com/office/officeart/2005/8/layout/orgChart1"/>
    <dgm:cxn modelId="{620BFFE6-EEE5-4DC8-ADC3-3C4F27E8CCCB}" type="presOf" srcId="{5DEEA594-71BA-4F98-A3D9-DB294D69DE39}" destId="{DEBB3656-7474-4C1E-AE44-99F69EF50DA1}" srcOrd="0" destOrd="0" presId="urn:microsoft.com/office/officeart/2005/8/layout/orgChart1"/>
    <dgm:cxn modelId="{CD40CA74-348B-4642-9707-D3F0D6BA91E4}" type="presParOf" srcId="{9D4159A4-2AFB-43A3-8889-FF6446450A7D}" destId="{220BAD07-3685-4ACF-B9A6-2C43083A4E56}" srcOrd="0" destOrd="0" presId="urn:microsoft.com/office/officeart/2005/8/layout/orgChart1"/>
    <dgm:cxn modelId="{162EFCFD-2349-4BA1-83DB-2B3A001F2864}" type="presParOf" srcId="{220BAD07-3685-4ACF-B9A6-2C43083A4E56}" destId="{72667BC1-5F96-4163-B51C-44FC078485DC}" srcOrd="0" destOrd="0" presId="urn:microsoft.com/office/officeart/2005/8/layout/orgChart1"/>
    <dgm:cxn modelId="{4993245A-FFC5-4083-8C25-AE09CC44C4BA}" type="presParOf" srcId="{72667BC1-5F96-4163-B51C-44FC078485DC}" destId="{9E4FB3C1-199D-4298-B805-9A23F7B33A25}" srcOrd="0" destOrd="0" presId="urn:microsoft.com/office/officeart/2005/8/layout/orgChart1"/>
    <dgm:cxn modelId="{0D5358D0-5654-40F0-A6E0-026772048EAA}" type="presParOf" srcId="{72667BC1-5F96-4163-B51C-44FC078485DC}" destId="{5A70476C-C269-4A9E-9D01-4569087D181A}" srcOrd="1" destOrd="0" presId="urn:microsoft.com/office/officeart/2005/8/layout/orgChart1"/>
    <dgm:cxn modelId="{6C2BFE3B-AEBA-45F3-AF10-91DB7005E89F}" type="presParOf" srcId="{220BAD07-3685-4ACF-B9A6-2C43083A4E56}" destId="{435DCC4E-7F9C-462D-89FA-DD10813A243E}" srcOrd="1" destOrd="0" presId="urn:microsoft.com/office/officeart/2005/8/layout/orgChart1"/>
    <dgm:cxn modelId="{D2BC0E4C-39AB-4E6E-9BC7-C19C1127AA39}" type="presParOf" srcId="{435DCC4E-7F9C-462D-89FA-DD10813A243E}" destId="{B3062456-8AB2-489E-91F5-EE4F65E51498}" srcOrd="0" destOrd="0" presId="urn:microsoft.com/office/officeart/2005/8/layout/orgChart1"/>
    <dgm:cxn modelId="{954E5ECF-45C6-45CC-A659-4B26126BB1B5}" type="presParOf" srcId="{435DCC4E-7F9C-462D-89FA-DD10813A243E}" destId="{CAE368B2-125C-4E95-A6E3-A31A631195D6}" srcOrd="1" destOrd="0" presId="urn:microsoft.com/office/officeart/2005/8/layout/orgChart1"/>
    <dgm:cxn modelId="{1F173D3A-8A2A-4C85-88EF-F5B7A64230AC}" type="presParOf" srcId="{CAE368B2-125C-4E95-A6E3-A31A631195D6}" destId="{7A410CF1-D29E-4AFE-B8FE-208AEE817CB9}" srcOrd="0" destOrd="0" presId="urn:microsoft.com/office/officeart/2005/8/layout/orgChart1"/>
    <dgm:cxn modelId="{7C9D5AF1-B8F0-4A03-B62C-9E44CBFC7063}" type="presParOf" srcId="{7A410CF1-D29E-4AFE-B8FE-208AEE817CB9}" destId="{91694264-63ED-4D4A-BBC9-E334DCC013A5}" srcOrd="0" destOrd="0" presId="urn:microsoft.com/office/officeart/2005/8/layout/orgChart1"/>
    <dgm:cxn modelId="{215A8E27-19B5-4706-842D-CC3DBA05F161}" type="presParOf" srcId="{7A410CF1-D29E-4AFE-B8FE-208AEE817CB9}" destId="{09276381-9B11-46F3-9DD5-5B77DDD0E8F6}" srcOrd="1" destOrd="0" presId="urn:microsoft.com/office/officeart/2005/8/layout/orgChart1"/>
    <dgm:cxn modelId="{4E5B8ADE-9D90-405F-B916-C2CF9C5C4D03}" type="presParOf" srcId="{CAE368B2-125C-4E95-A6E3-A31A631195D6}" destId="{50CDE8FF-3FC3-4F4B-AFEE-C9A0B145D832}" srcOrd="1" destOrd="0" presId="urn:microsoft.com/office/officeart/2005/8/layout/orgChart1"/>
    <dgm:cxn modelId="{84BD7048-852D-4877-A0C1-967B386E0242}" type="presParOf" srcId="{CAE368B2-125C-4E95-A6E3-A31A631195D6}" destId="{8AD0A988-55DC-4AB5-A7DF-82FBDC80DB8E}" srcOrd="2" destOrd="0" presId="urn:microsoft.com/office/officeart/2005/8/layout/orgChart1"/>
    <dgm:cxn modelId="{B92F7AE8-4E01-4EA2-9B36-2E5B86A6D6A9}" type="presParOf" srcId="{435DCC4E-7F9C-462D-89FA-DD10813A243E}" destId="{20216C40-9E52-43AA-BFE9-B5F76C6C38C9}" srcOrd="2" destOrd="0" presId="urn:microsoft.com/office/officeart/2005/8/layout/orgChart1"/>
    <dgm:cxn modelId="{20A6687E-65C8-477E-A1FB-E86C88DD71B1}" type="presParOf" srcId="{435DCC4E-7F9C-462D-89FA-DD10813A243E}" destId="{11A655D2-03B6-495B-BA18-0C1B22C45DAA}" srcOrd="3" destOrd="0" presId="urn:microsoft.com/office/officeart/2005/8/layout/orgChart1"/>
    <dgm:cxn modelId="{1FF04A52-B00B-4757-8326-224B4CC12507}" type="presParOf" srcId="{11A655D2-03B6-495B-BA18-0C1B22C45DAA}" destId="{87227AA5-709A-4B67-BFD3-97909F8B488E}" srcOrd="0" destOrd="0" presId="urn:microsoft.com/office/officeart/2005/8/layout/orgChart1"/>
    <dgm:cxn modelId="{D40AC405-A6D8-400F-917A-D1C08AD7A94C}" type="presParOf" srcId="{87227AA5-709A-4B67-BFD3-97909F8B488E}" destId="{DEBB3656-7474-4C1E-AE44-99F69EF50DA1}" srcOrd="0" destOrd="0" presId="urn:microsoft.com/office/officeart/2005/8/layout/orgChart1"/>
    <dgm:cxn modelId="{66A00C42-C5BD-4834-BEEF-AA6BC73D296C}" type="presParOf" srcId="{87227AA5-709A-4B67-BFD3-97909F8B488E}" destId="{67BEAC92-A19A-4E66-88B8-37186310056D}" srcOrd="1" destOrd="0" presId="urn:microsoft.com/office/officeart/2005/8/layout/orgChart1"/>
    <dgm:cxn modelId="{AD95C021-21BB-4EFB-9933-13B303D25E2E}" type="presParOf" srcId="{11A655D2-03B6-495B-BA18-0C1B22C45DAA}" destId="{0DEE116A-AAD2-4671-ADF9-FBDC11883435}" srcOrd="1" destOrd="0" presId="urn:microsoft.com/office/officeart/2005/8/layout/orgChart1"/>
    <dgm:cxn modelId="{882C2978-1153-4A2F-AAF7-84DCB209D611}" type="presParOf" srcId="{11A655D2-03B6-495B-BA18-0C1B22C45DAA}" destId="{51D18A63-BCBA-4C15-9847-F26994E39544}" srcOrd="2" destOrd="0" presId="urn:microsoft.com/office/officeart/2005/8/layout/orgChart1"/>
    <dgm:cxn modelId="{A85A4B88-3141-4E71-8903-4FD6C495A777}" type="presParOf" srcId="{220BAD07-3685-4ACF-B9A6-2C43083A4E56}" destId="{775AEE68-56AE-4499-A860-8143CFA557FB}" srcOrd="2" destOrd="0" presId="urn:microsoft.com/office/officeart/2005/8/layout/orgChart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ABE5F4-F886-44F9-ABBC-F3ECE5B733E9}">
      <dsp:nvSpPr>
        <dsp:cNvPr id="0" name=""/>
        <dsp:cNvSpPr/>
      </dsp:nvSpPr>
      <dsp:spPr>
        <a:xfrm>
          <a:off x="75506" y="0"/>
          <a:ext cx="6315596" cy="3947248"/>
        </a:xfrm>
        <a:prstGeom prst="swooshArrow">
          <a:avLst>
            <a:gd name="adj1" fmla="val 25000"/>
            <a:gd name="adj2" fmla="val 2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7FDB7D5-2F1E-4296-835C-CC1C784406B9}">
      <dsp:nvSpPr>
        <dsp:cNvPr id="0" name=""/>
        <dsp:cNvSpPr/>
      </dsp:nvSpPr>
      <dsp:spPr>
        <a:xfrm>
          <a:off x="697592" y="2935173"/>
          <a:ext cx="145258" cy="14525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BF857A0-90D1-4A4F-8FF5-16E606178F26}">
      <dsp:nvSpPr>
        <dsp:cNvPr id="0" name=""/>
        <dsp:cNvSpPr/>
      </dsp:nvSpPr>
      <dsp:spPr>
        <a:xfrm>
          <a:off x="770222" y="3007802"/>
          <a:ext cx="827343" cy="939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970" tIns="0" rIns="0" bIns="0" numCol="1" spcCol="1270" anchor="t" anchorCtr="0">
          <a:noAutofit/>
        </a:bodyPr>
        <a:lstStyle/>
        <a:p>
          <a:pPr marL="0" lvl="0" indent="0" algn="l" defTabSz="755650" rtl="0">
            <a:lnSpc>
              <a:spcPct val="90000"/>
            </a:lnSpc>
            <a:spcBef>
              <a:spcPct val="0"/>
            </a:spcBef>
            <a:spcAft>
              <a:spcPct val="35000"/>
            </a:spcAft>
            <a:buNone/>
          </a:pPr>
          <a:r>
            <a:rPr lang="en-US" sz="1700" kern="1200">
              <a:latin typeface="Calibri Light" panose="020F0302020204030204"/>
            </a:rPr>
            <a:t>History</a:t>
          </a:r>
        </a:p>
      </dsp:txBody>
      <dsp:txXfrm>
        <a:off x="770222" y="3007802"/>
        <a:ext cx="827343" cy="939445"/>
      </dsp:txXfrm>
    </dsp:sp>
    <dsp:sp modelId="{E436054C-F2CB-4925-A509-C057C98F18F8}">
      <dsp:nvSpPr>
        <dsp:cNvPr id="0" name=""/>
        <dsp:cNvSpPr/>
      </dsp:nvSpPr>
      <dsp:spPr>
        <a:xfrm>
          <a:off x="1483884" y="2179670"/>
          <a:ext cx="227361" cy="22736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0B93F16-26DC-4B02-93F3-B4DDEA854A2D}">
      <dsp:nvSpPr>
        <dsp:cNvPr id="0" name=""/>
        <dsp:cNvSpPr/>
      </dsp:nvSpPr>
      <dsp:spPr>
        <a:xfrm>
          <a:off x="1597565" y="2293351"/>
          <a:ext cx="1048389" cy="16538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474" tIns="0" rIns="0" bIns="0" numCol="1" spcCol="1270" anchor="t" anchorCtr="0">
          <a:noAutofit/>
        </a:bodyPr>
        <a:lstStyle/>
        <a:p>
          <a:pPr marL="0" lvl="0" indent="0" algn="l" defTabSz="755650">
            <a:lnSpc>
              <a:spcPct val="90000"/>
            </a:lnSpc>
            <a:spcBef>
              <a:spcPct val="0"/>
            </a:spcBef>
            <a:spcAft>
              <a:spcPct val="35000"/>
            </a:spcAft>
            <a:buNone/>
          </a:pPr>
          <a:r>
            <a:rPr lang="en-US" sz="1700" kern="1200">
              <a:latin typeface="Calibri Light" panose="020F0302020204030204"/>
            </a:rPr>
            <a:t>Federal policy and legislation</a:t>
          </a:r>
          <a:endParaRPr lang="en-US" sz="1700" kern="1200"/>
        </a:p>
      </dsp:txBody>
      <dsp:txXfrm>
        <a:off x="1597565" y="2293351"/>
        <a:ext cx="1048389" cy="1653896"/>
      </dsp:txXfrm>
    </dsp:sp>
    <dsp:sp modelId="{4FBF8622-A389-4E52-BE30-D1DF93D2E7AF}">
      <dsp:nvSpPr>
        <dsp:cNvPr id="0" name=""/>
        <dsp:cNvSpPr/>
      </dsp:nvSpPr>
      <dsp:spPr>
        <a:xfrm>
          <a:off x="2494380" y="1577320"/>
          <a:ext cx="303148" cy="30314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57893AC-1E0A-47FF-A9E2-52F5F65F0FCD}">
      <dsp:nvSpPr>
        <dsp:cNvPr id="0" name=""/>
        <dsp:cNvSpPr/>
      </dsp:nvSpPr>
      <dsp:spPr>
        <a:xfrm>
          <a:off x="2645954" y="1728894"/>
          <a:ext cx="1218910" cy="22183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632" tIns="0" rIns="0" bIns="0" numCol="1" spcCol="1270" anchor="t" anchorCtr="0">
          <a:noAutofit/>
        </a:bodyPr>
        <a:lstStyle/>
        <a:p>
          <a:pPr marL="0" lvl="0" indent="0" algn="l" defTabSz="755650">
            <a:lnSpc>
              <a:spcPct val="90000"/>
            </a:lnSpc>
            <a:spcBef>
              <a:spcPct val="0"/>
            </a:spcBef>
            <a:spcAft>
              <a:spcPct val="35000"/>
            </a:spcAft>
            <a:buNone/>
          </a:pPr>
          <a:r>
            <a:rPr lang="en-US" sz="1700" kern="1200">
              <a:latin typeface="Calibri Light" panose="020F0302020204030204"/>
            </a:rPr>
            <a:t>State policy and legislation</a:t>
          </a:r>
          <a:endParaRPr lang="en-US" sz="1700" kern="1200"/>
        </a:p>
      </dsp:txBody>
      <dsp:txXfrm>
        <a:off x="2645954" y="1728894"/>
        <a:ext cx="1218910" cy="2218353"/>
      </dsp:txXfrm>
    </dsp:sp>
    <dsp:sp modelId="{C5619AA7-2B92-4F4F-BFE9-B753D5C48A59}">
      <dsp:nvSpPr>
        <dsp:cNvPr id="0" name=""/>
        <dsp:cNvSpPr/>
      </dsp:nvSpPr>
      <dsp:spPr>
        <a:xfrm>
          <a:off x="3669081" y="1106808"/>
          <a:ext cx="391567" cy="391567"/>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C2E7C42-B598-478E-872A-33DFF2A8E79D}">
      <dsp:nvSpPr>
        <dsp:cNvPr id="0" name=""/>
        <dsp:cNvSpPr/>
      </dsp:nvSpPr>
      <dsp:spPr>
        <a:xfrm>
          <a:off x="3864864" y="1302591"/>
          <a:ext cx="1263119" cy="26446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7483" tIns="0" rIns="0" bIns="0" numCol="1" spcCol="1270" anchor="t" anchorCtr="0">
          <a:noAutofit/>
        </a:bodyPr>
        <a:lstStyle/>
        <a:p>
          <a:pPr marL="0" lvl="0" indent="0" algn="l" defTabSz="755650" rtl="0">
            <a:lnSpc>
              <a:spcPct val="90000"/>
            </a:lnSpc>
            <a:spcBef>
              <a:spcPct val="0"/>
            </a:spcBef>
            <a:spcAft>
              <a:spcPct val="35000"/>
            </a:spcAft>
            <a:buNone/>
          </a:pPr>
          <a:r>
            <a:rPr lang="en-US" sz="1700" kern="1200">
              <a:latin typeface="Calibri Light" panose="020F0302020204030204"/>
            </a:rPr>
            <a:t>Best Practices</a:t>
          </a:r>
          <a:endParaRPr lang="en-US" sz="1700" kern="1200"/>
        </a:p>
      </dsp:txBody>
      <dsp:txXfrm>
        <a:off x="3864864" y="1302591"/>
        <a:ext cx="1263119" cy="2644656"/>
      </dsp:txXfrm>
    </dsp:sp>
    <dsp:sp modelId="{B3853BEE-6EB9-4BF5-8B3F-62913E8657B4}">
      <dsp:nvSpPr>
        <dsp:cNvPr id="0" name=""/>
        <dsp:cNvSpPr/>
      </dsp:nvSpPr>
      <dsp:spPr>
        <a:xfrm>
          <a:off x="4878517" y="792607"/>
          <a:ext cx="498932" cy="49893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EA8B72F-090E-434E-B919-46CA3E7DAC42}">
      <dsp:nvSpPr>
        <dsp:cNvPr id="0" name=""/>
        <dsp:cNvSpPr/>
      </dsp:nvSpPr>
      <dsp:spPr>
        <a:xfrm>
          <a:off x="5127984" y="1042073"/>
          <a:ext cx="1263119" cy="29051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374" tIns="0" rIns="0" bIns="0" numCol="1" spcCol="1270" anchor="t" anchorCtr="0">
          <a:noAutofit/>
        </a:bodyPr>
        <a:lstStyle/>
        <a:p>
          <a:pPr marL="0" lvl="0" indent="0" algn="l" defTabSz="755650">
            <a:lnSpc>
              <a:spcPct val="90000"/>
            </a:lnSpc>
            <a:spcBef>
              <a:spcPct val="0"/>
            </a:spcBef>
            <a:spcAft>
              <a:spcPct val="35000"/>
            </a:spcAft>
            <a:buNone/>
          </a:pPr>
          <a:r>
            <a:rPr lang="en-US" sz="1700" kern="1200">
              <a:latin typeface="Calibri Light" panose="020F0302020204030204"/>
            </a:rPr>
            <a:t>Values</a:t>
          </a:r>
        </a:p>
      </dsp:txBody>
      <dsp:txXfrm>
        <a:off x="5127984" y="1042073"/>
        <a:ext cx="1263119" cy="290517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AC478A-2631-4846-8ADA-20056455F22D}">
      <dsp:nvSpPr>
        <dsp:cNvPr id="0" name=""/>
        <dsp:cNvSpPr/>
      </dsp:nvSpPr>
      <dsp:spPr>
        <a:xfrm>
          <a:off x="0" y="675"/>
          <a:ext cx="690051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CE302F-A033-40F7-A2D4-DD52BAC50CEE}">
      <dsp:nvSpPr>
        <dsp:cNvPr id="0" name=""/>
        <dsp:cNvSpPr/>
      </dsp:nvSpPr>
      <dsp:spPr>
        <a:xfrm>
          <a:off x="0" y="675"/>
          <a:ext cx="6900512" cy="6149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Financial</a:t>
          </a:r>
        </a:p>
      </dsp:txBody>
      <dsp:txXfrm>
        <a:off x="0" y="675"/>
        <a:ext cx="6900512" cy="614976"/>
      </dsp:txXfrm>
    </dsp:sp>
    <dsp:sp modelId="{1E34720A-B8FB-42FE-A145-D70E3B4C2E11}">
      <dsp:nvSpPr>
        <dsp:cNvPr id="0" name=""/>
        <dsp:cNvSpPr/>
      </dsp:nvSpPr>
      <dsp:spPr>
        <a:xfrm>
          <a:off x="0" y="615652"/>
          <a:ext cx="6900512"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C7C8FE9-D475-4231-991F-875A083C6523}">
      <dsp:nvSpPr>
        <dsp:cNvPr id="0" name=""/>
        <dsp:cNvSpPr/>
      </dsp:nvSpPr>
      <dsp:spPr>
        <a:xfrm>
          <a:off x="0" y="615652"/>
          <a:ext cx="6900512" cy="6149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Human (paid staff &amp; volunteers)</a:t>
          </a:r>
        </a:p>
      </dsp:txBody>
      <dsp:txXfrm>
        <a:off x="0" y="615652"/>
        <a:ext cx="6900512" cy="614976"/>
      </dsp:txXfrm>
    </dsp:sp>
    <dsp:sp modelId="{B50AC576-8DA5-48CE-AF26-4172D1ED5694}">
      <dsp:nvSpPr>
        <dsp:cNvPr id="0" name=""/>
        <dsp:cNvSpPr/>
      </dsp:nvSpPr>
      <dsp:spPr>
        <a:xfrm>
          <a:off x="0" y="1230628"/>
          <a:ext cx="6900512"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02BA823-843E-4B10-8EDA-DC9420F40ACB}">
      <dsp:nvSpPr>
        <dsp:cNvPr id="0" name=""/>
        <dsp:cNvSpPr/>
      </dsp:nvSpPr>
      <dsp:spPr>
        <a:xfrm>
          <a:off x="0" y="1230628"/>
          <a:ext cx="6900512" cy="6149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Physical</a:t>
          </a:r>
        </a:p>
      </dsp:txBody>
      <dsp:txXfrm>
        <a:off x="0" y="1230628"/>
        <a:ext cx="6900512" cy="614976"/>
      </dsp:txXfrm>
    </dsp:sp>
    <dsp:sp modelId="{41075191-774F-44B3-AE78-6F0F68F5F225}">
      <dsp:nvSpPr>
        <dsp:cNvPr id="0" name=""/>
        <dsp:cNvSpPr/>
      </dsp:nvSpPr>
      <dsp:spPr>
        <a:xfrm>
          <a:off x="0" y="1845605"/>
          <a:ext cx="6900512"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42AA900-D84A-4A0A-802C-6BDC6101BBA8}">
      <dsp:nvSpPr>
        <dsp:cNvPr id="0" name=""/>
        <dsp:cNvSpPr/>
      </dsp:nvSpPr>
      <dsp:spPr>
        <a:xfrm>
          <a:off x="0" y="1845605"/>
          <a:ext cx="6900512" cy="6149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Intellectual</a:t>
          </a:r>
        </a:p>
      </dsp:txBody>
      <dsp:txXfrm>
        <a:off x="0" y="1845605"/>
        <a:ext cx="6900512" cy="614976"/>
      </dsp:txXfrm>
    </dsp:sp>
    <dsp:sp modelId="{E0B1A192-7AB7-4181-8E32-7A81D2932FD6}">
      <dsp:nvSpPr>
        <dsp:cNvPr id="0" name=""/>
        <dsp:cNvSpPr/>
      </dsp:nvSpPr>
      <dsp:spPr>
        <a:xfrm>
          <a:off x="0" y="2460582"/>
          <a:ext cx="6900512" cy="0"/>
        </a:xfrm>
        <a:prstGeom prst="lin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087E98-3597-4CC6-81A3-1179518C48A7}">
      <dsp:nvSpPr>
        <dsp:cNvPr id="0" name=""/>
        <dsp:cNvSpPr/>
      </dsp:nvSpPr>
      <dsp:spPr>
        <a:xfrm>
          <a:off x="0" y="2460582"/>
          <a:ext cx="6900512" cy="6149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rtl="0">
            <a:lnSpc>
              <a:spcPct val="90000"/>
            </a:lnSpc>
            <a:spcBef>
              <a:spcPct val="0"/>
            </a:spcBef>
            <a:spcAft>
              <a:spcPct val="35000"/>
            </a:spcAft>
            <a:buNone/>
          </a:pPr>
          <a:r>
            <a:rPr lang="en-US" sz="2800" kern="1200" dirty="0"/>
            <a:t>Partnerships</a:t>
          </a:r>
          <a:r>
            <a:rPr lang="en-US" sz="2800" kern="1200" dirty="0">
              <a:latin typeface="Calibri Light" panose="020F0302020204030204"/>
            </a:rPr>
            <a:t> </a:t>
          </a:r>
          <a:endParaRPr lang="en-US" sz="2800" kern="1200" dirty="0"/>
        </a:p>
      </dsp:txBody>
      <dsp:txXfrm>
        <a:off x="0" y="2460582"/>
        <a:ext cx="6900512" cy="614976"/>
      </dsp:txXfrm>
    </dsp:sp>
    <dsp:sp modelId="{9498E325-0D6B-4019-AE4C-FA0CF38F09F5}">
      <dsp:nvSpPr>
        <dsp:cNvPr id="0" name=""/>
        <dsp:cNvSpPr/>
      </dsp:nvSpPr>
      <dsp:spPr>
        <a:xfrm>
          <a:off x="0" y="3075558"/>
          <a:ext cx="690051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5F4682B-2F51-42AA-8FB5-0DD9ADFE01A0}">
      <dsp:nvSpPr>
        <dsp:cNvPr id="0" name=""/>
        <dsp:cNvSpPr/>
      </dsp:nvSpPr>
      <dsp:spPr>
        <a:xfrm>
          <a:off x="0" y="3075558"/>
          <a:ext cx="6900512" cy="6149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latin typeface="Calibri Light" panose="020F0302020204030204"/>
            </a:rPr>
            <a:t>Data</a:t>
          </a:r>
          <a:r>
            <a:rPr lang="en-US" sz="2800" kern="1200" dirty="0"/>
            <a:t> &amp; info</a:t>
          </a:r>
        </a:p>
      </dsp:txBody>
      <dsp:txXfrm>
        <a:off x="0" y="3075558"/>
        <a:ext cx="6900512" cy="614976"/>
      </dsp:txXfrm>
    </dsp:sp>
    <dsp:sp modelId="{C02CBA70-C80A-45C8-9960-11ED7613897A}">
      <dsp:nvSpPr>
        <dsp:cNvPr id="0" name=""/>
        <dsp:cNvSpPr/>
      </dsp:nvSpPr>
      <dsp:spPr>
        <a:xfrm>
          <a:off x="0" y="3690535"/>
          <a:ext cx="6900512"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B45E97E-0973-4B35-8395-1043CD249CF3}">
      <dsp:nvSpPr>
        <dsp:cNvPr id="0" name=""/>
        <dsp:cNvSpPr/>
      </dsp:nvSpPr>
      <dsp:spPr>
        <a:xfrm>
          <a:off x="0" y="3690535"/>
          <a:ext cx="6900512" cy="6149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latin typeface="Calibri Light" panose="020F0302020204030204"/>
            </a:rPr>
            <a:t>Marketing</a:t>
          </a:r>
        </a:p>
      </dsp:txBody>
      <dsp:txXfrm>
        <a:off x="0" y="3690535"/>
        <a:ext cx="6900512" cy="614976"/>
      </dsp:txXfrm>
    </dsp:sp>
    <dsp:sp modelId="{801B2164-9D69-435A-BDE4-1C5E761D0243}">
      <dsp:nvSpPr>
        <dsp:cNvPr id="0" name=""/>
        <dsp:cNvSpPr/>
      </dsp:nvSpPr>
      <dsp:spPr>
        <a:xfrm>
          <a:off x="0" y="4305512"/>
          <a:ext cx="6900512"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E593DF-CE6B-41DA-B692-424004B8E746}">
      <dsp:nvSpPr>
        <dsp:cNvPr id="0" name=""/>
        <dsp:cNvSpPr/>
      </dsp:nvSpPr>
      <dsp:spPr>
        <a:xfrm>
          <a:off x="0" y="4305512"/>
          <a:ext cx="6900512" cy="6149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latin typeface="Calibri Light" panose="020F0302020204030204"/>
            </a:rPr>
            <a:t>Culture</a:t>
          </a:r>
        </a:p>
      </dsp:txBody>
      <dsp:txXfrm>
        <a:off x="0" y="4305512"/>
        <a:ext cx="6900512" cy="614976"/>
      </dsp:txXfrm>
    </dsp:sp>
    <dsp:sp modelId="{414AF64C-DF67-451F-8835-A9805A318E71}">
      <dsp:nvSpPr>
        <dsp:cNvPr id="0" name=""/>
        <dsp:cNvSpPr/>
      </dsp:nvSpPr>
      <dsp:spPr>
        <a:xfrm>
          <a:off x="0" y="4920488"/>
          <a:ext cx="6900512"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D2FF5CC-E556-4463-AC57-4048DB8D7B3B}">
      <dsp:nvSpPr>
        <dsp:cNvPr id="0" name=""/>
        <dsp:cNvSpPr/>
      </dsp:nvSpPr>
      <dsp:spPr>
        <a:xfrm>
          <a:off x="0" y="4920488"/>
          <a:ext cx="6900512" cy="6149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rtl="0">
            <a:lnSpc>
              <a:spcPct val="90000"/>
            </a:lnSpc>
            <a:spcBef>
              <a:spcPct val="0"/>
            </a:spcBef>
            <a:spcAft>
              <a:spcPct val="35000"/>
            </a:spcAft>
            <a:buNone/>
          </a:pPr>
          <a:r>
            <a:rPr lang="en-US" sz="2800" kern="1200" dirty="0">
              <a:latin typeface="Calibri Light" panose="020F0302020204030204"/>
            </a:rPr>
            <a:t>Others? </a:t>
          </a:r>
        </a:p>
      </dsp:txBody>
      <dsp:txXfrm>
        <a:off x="0" y="4920488"/>
        <a:ext cx="6900512" cy="61497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216C40-9E52-43AA-BFE9-B5F76C6C38C9}">
      <dsp:nvSpPr>
        <dsp:cNvPr id="0" name=""/>
        <dsp:cNvSpPr/>
      </dsp:nvSpPr>
      <dsp:spPr>
        <a:xfrm>
          <a:off x="2763328" y="1114853"/>
          <a:ext cx="1348961" cy="468234"/>
        </a:xfrm>
        <a:custGeom>
          <a:avLst/>
          <a:gdLst/>
          <a:ahLst/>
          <a:cxnLst/>
          <a:rect l="0" t="0" r="0" b="0"/>
          <a:pathLst>
            <a:path>
              <a:moveTo>
                <a:pt x="0" y="0"/>
              </a:moveTo>
              <a:lnTo>
                <a:pt x="0" y="234117"/>
              </a:lnTo>
              <a:lnTo>
                <a:pt x="1348961" y="234117"/>
              </a:lnTo>
              <a:lnTo>
                <a:pt x="1348961" y="468234"/>
              </a:lnTo>
            </a:path>
          </a:pathLst>
        </a:custGeom>
        <a:noFill/>
        <a:ln w="12700" cap="flat" cmpd="sng" algn="ctr">
          <a:solidFill>
            <a:schemeClr val="accent5">
              <a:tint val="9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3062456-8AB2-489E-91F5-EE4F65E51498}">
      <dsp:nvSpPr>
        <dsp:cNvPr id="0" name=""/>
        <dsp:cNvSpPr/>
      </dsp:nvSpPr>
      <dsp:spPr>
        <a:xfrm>
          <a:off x="1414367" y="1114853"/>
          <a:ext cx="1348961" cy="468234"/>
        </a:xfrm>
        <a:custGeom>
          <a:avLst/>
          <a:gdLst/>
          <a:ahLst/>
          <a:cxnLst/>
          <a:rect l="0" t="0" r="0" b="0"/>
          <a:pathLst>
            <a:path>
              <a:moveTo>
                <a:pt x="1348961" y="0"/>
              </a:moveTo>
              <a:lnTo>
                <a:pt x="1348961" y="234117"/>
              </a:lnTo>
              <a:lnTo>
                <a:pt x="0" y="234117"/>
              </a:lnTo>
              <a:lnTo>
                <a:pt x="0" y="468234"/>
              </a:lnTo>
            </a:path>
          </a:pathLst>
        </a:custGeom>
        <a:noFill/>
        <a:ln w="12700" cap="flat" cmpd="sng" algn="ctr">
          <a:solidFill>
            <a:schemeClr val="accent5">
              <a:tint val="9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E4FB3C1-199D-4298-B805-9A23F7B33A25}">
      <dsp:nvSpPr>
        <dsp:cNvPr id="0" name=""/>
        <dsp:cNvSpPr/>
      </dsp:nvSpPr>
      <dsp:spPr>
        <a:xfrm>
          <a:off x="1648484" y="9"/>
          <a:ext cx="2229687" cy="1114843"/>
        </a:xfrm>
        <a:prstGeom prst="rect">
          <a:avLst/>
        </a:prstGeom>
        <a:solidFill>
          <a:schemeClr val="accent5">
            <a:shade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rtl="0">
            <a:lnSpc>
              <a:spcPct val="90000"/>
            </a:lnSpc>
            <a:spcBef>
              <a:spcPct val="0"/>
            </a:spcBef>
            <a:spcAft>
              <a:spcPct val="35000"/>
            </a:spcAft>
            <a:buNone/>
          </a:pPr>
          <a:r>
            <a:rPr lang="en-US" sz="2900" kern="1200">
              <a:latin typeface="Calibri Light" panose="020F0302020204030204"/>
            </a:rPr>
            <a:t>Legacy Services</a:t>
          </a:r>
          <a:endParaRPr lang="en-US" sz="2900" kern="1200"/>
        </a:p>
      </dsp:txBody>
      <dsp:txXfrm>
        <a:off x="1648484" y="9"/>
        <a:ext cx="2229687" cy="1114843"/>
      </dsp:txXfrm>
    </dsp:sp>
    <dsp:sp modelId="{91694264-63ED-4D4A-BBC9-E334DCC013A5}">
      <dsp:nvSpPr>
        <dsp:cNvPr id="0" name=""/>
        <dsp:cNvSpPr/>
      </dsp:nvSpPr>
      <dsp:spPr>
        <a:xfrm>
          <a:off x="299523" y="1583088"/>
          <a:ext cx="2229687" cy="1114843"/>
        </a:xfrm>
        <a:prstGeom prst="rect">
          <a:avLst/>
        </a:prstGeom>
        <a:solidFill>
          <a:schemeClr val="accent5">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rtl="0">
            <a:lnSpc>
              <a:spcPct val="90000"/>
            </a:lnSpc>
            <a:spcBef>
              <a:spcPct val="0"/>
            </a:spcBef>
            <a:spcAft>
              <a:spcPct val="35000"/>
            </a:spcAft>
            <a:buNone/>
          </a:pPr>
          <a:r>
            <a:rPr lang="en-US" sz="2900" kern="1200">
              <a:latin typeface="Calibri Light" panose="020F0302020204030204"/>
            </a:rPr>
            <a:t>25 Day staff</a:t>
          </a:r>
          <a:endParaRPr lang="en-US" sz="2900" kern="1200"/>
        </a:p>
      </dsp:txBody>
      <dsp:txXfrm>
        <a:off x="299523" y="1583088"/>
        <a:ext cx="2229687" cy="1114843"/>
      </dsp:txXfrm>
    </dsp:sp>
    <dsp:sp modelId="{DEBB3656-7474-4C1E-AE44-99F69EF50DA1}">
      <dsp:nvSpPr>
        <dsp:cNvPr id="0" name=""/>
        <dsp:cNvSpPr/>
      </dsp:nvSpPr>
      <dsp:spPr>
        <a:xfrm>
          <a:off x="2997445" y="1583088"/>
          <a:ext cx="2229687" cy="1114843"/>
        </a:xfrm>
        <a:prstGeom prst="rect">
          <a:avLst/>
        </a:prstGeom>
        <a:solidFill>
          <a:schemeClr val="accent5">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rtl="0">
            <a:lnSpc>
              <a:spcPct val="90000"/>
            </a:lnSpc>
            <a:spcBef>
              <a:spcPct val="0"/>
            </a:spcBef>
            <a:spcAft>
              <a:spcPct val="35000"/>
            </a:spcAft>
            <a:buNone/>
          </a:pPr>
          <a:r>
            <a:rPr lang="en-US" sz="2900" kern="1200">
              <a:latin typeface="Calibri Light" panose="020F0302020204030204"/>
            </a:rPr>
            <a:t>4 Employment staff</a:t>
          </a:r>
          <a:endParaRPr lang="en-US" sz="2900" kern="1200"/>
        </a:p>
      </dsp:txBody>
      <dsp:txXfrm>
        <a:off x="2997445" y="1583088"/>
        <a:ext cx="2229687" cy="111484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216C40-9E52-43AA-BFE9-B5F76C6C38C9}">
      <dsp:nvSpPr>
        <dsp:cNvPr id="0" name=""/>
        <dsp:cNvSpPr/>
      </dsp:nvSpPr>
      <dsp:spPr>
        <a:xfrm>
          <a:off x="2763328" y="1114853"/>
          <a:ext cx="1348961" cy="468234"/>
        </a:xfrm>
        <a:custGeom>
          <a:avLst/>
          <a:gdLst/>
          <a:ahLst/>
          <a:cxnLst/>
          <a:rect l="0" t="0" r="0" b="0"/>
          <a:pathLst>
            <a:path>
              <a:moveTo>
                <a:pt x="0" y="0"/>
              </a:moveTo>
              <a:lnTo>
                <a:pt x="0" y="234117"/>
              </a:lnTo>
              <a:lnTo>
                <a:pt x="1348961" y="234117"/>
              </a:lnTo>
              <a:lnTo>
                <a:pt x="1348961" y="468234"/>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3062456-8AB2-489E-91F5-EE4F65E51498}">
      <dsp:nvSpPr>
        <dsp:cNvPr id="0" name=""/>
        <dsp:cNvSpPr/>
      </dsp:nvSpPr>
      <dsp:spPr>
        <a:xfrm>
          <a:off x="1414367" y="1114853"/>
          <a:ext cx="1348961" cy="468234"/>
        </a:xfrm>
        <a:custGeom>
          <a:avLst/>
          <a:gdLst/>
          <a:ahLst/>
          <a:cxnLst/>
          <a:rect l="0" t="0" r="0" b="0"/>
          <a:pathLst>
            <a:path>
              <a:moveTo>
                <a:pt x="1348961" y="0"/>
              </a:moveTo>
              <a:lnTo>
                <a:pt x="1348961" y="234117"/>
              </a:lnTo>
              <a:lnTo>
                <a:pt x="0" y="234117"/>
              </a:lnTo>
              <a:lnTo>
                <a:pt x="0" y="468234"/>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E4FB3C1-199D-4298-B805-9A23F7B33A25}">
      <dsp:nvSpPr>
        <dsp:cNvPr id="0" name=""/>
        <dsp:cNvSpPr/>
      </dsp:nvSpPr>
      <dsp:spPr>
        <a:xfrm>
          <a:off x="1648484" y="9"/>
          <a:ext cx="2229687" cy="1114843"/>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rtl="0">
            <a:lnSpc>
              <a:spcPct val="90000"/>
            </a:lnSpc>
            <a:spcBef>
              <a:spcPct val="0"/>
            </a:spcBef>
            <a:spcAft>
              <a:spcPct val="35000"/>
            </a:spcAft>
            <a:buNone/>
          </a:pPr>
          <a:r>
            <a:rPr lang="en-US" sz="2900" b="1" kern="1200">
              <a:latin typeface="Calibri Light" panose="020F0302020204030204"/>
            </a:rPr>
            <a:t>Updated Services</a:t>
          </a:r>
          <a:endParaRPr lang="en-US" sz="2900" b="1" kern="1200"/>
        </a:p>
      </dsp:txBody>
      <dsp:txXfrm>
        <a:off x="1648484" y="9"/>
        <a:ext cx="2229687" cy="1114843"/>
      </dsp:txXfrm>
    </dsp:sp>
    <dsp:sp modelId="{91694264-63ED-4D4A-BBC9-E334DCC013A5}">
      <dsp:nvSpPr>
        <dsp:cNvPr id="0" name=""/>
        <dsp:cNvSpPr/>
      </dsp:nvSpPr>
      <dsp:spPr>
        <a:xfrm>
          <a:off x="299523" y="1583088"/>
          <a:ext cx="2229687" cy="1114843"/>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rtl="0">
            <a:lnSpc>
              <a:spcPct val="90000"/>
            </a:lnSpc>
            <a:spcBef>
              <a:spcPct val="0"/>
            </a:spcBef>
            <a:spcAft>
              <a:spcPct val="35000"/>
            </a:spcAft>
            <a:buNone/>
          </a:pPr>
          <a:r>
            <a:rPr lang="en-US" sz="2900" kern="1200">
              <a:latin typeface="Calibri Light" panose="020F0302020204030204"/>
            </a:rPr>
            <a:t>20 Day staff</a:t>
          </a:r>
          <a:endParaRPr lang="en-US" sz="2900" kern="1200"/>
        </a:p>
      </dsp:txBody>
      <dsp:txXfrm>
        <a:off x="299523" y="1583088"/>
        <a:ext cx="2229687" cy="1114843"/>
      </dsp:txXfrm>
    </dsp:sp>
    <dsp:sp modelId="{DEBB3656-7474-4C1E-AE44-99F69EF50DA1}">
      <dsp:nvSpPr>
        <dsp:cNvPr id="0" name=""/>
        <dsp:cNvSpPr/>
      </dsp:nvSpPr>
      <dsp:spPr>
        <a:xfrm>
          <a:off x="2997445" y="1583088"/>
          <a:ext cx="2229687" cy="1114843"/>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rtl="0">
            <a:lnSpc>
              <a:spcPct val="90000"/>
            </a:lnSpc>
            <a:spcBef>
              <a:spcPct val="0"/>
            </a:spcBef>
            <a:spcAft>
              <a:spcPct val="35000"/>
            </a:spcAft>
            <a:buNone/>
          </a:pPr>
          <a:r>
            <a:rPr lang="en-US" sz="2900" kern="1200">
              <a:latin typeface="Calibri Light" panose="020F0302020204030204"/>
            </a:rPr>
            <a:t>9 Employment staff</a:t>
          </a:r>
          <a:endParaRPr lang="en-US" sz="2900" kern="1200"/>
        </a:p>
      </dsp:txBody>
      <dsp:txXfrm>
        <a:off x="2997445" y="1583088"/>
        <a:ext cx="2229687" cy="1114843"/>
      </dsp:txXfrm>
    </dsp:sp>
  </dsp:spTree>
</dsp:drawing>
</file>

<file path=ppt/diagrams/layout1.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7750F7-D774-1448-AFCB-5063DB576504}" type="datetimeFigureOut">
              <a:rPr lang="en-US" smtClean="0"/>
              <a:t>1/24/2024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7C0A9C-8EB1-2944-91B3-96D63BF1E2CF}" type="slidenum">
              <a:rPr lang="en-US" smtClean="0"/>
              <a:t>‹#›</a:t>
            </a:fld>
            <a:endParaRPr lang="en-US"/>
          </a:p>
        </p:txBody>
      </p:sp>
    </p:spTree>
    <p:extLst>
      <p:ext uri="{BB962C8B-B14F-4D97-AF65-F5344CB8AC3E}">
        <p14:creationId xmlns:p14="http://schemas.microsoft.com/office/powerpoint/2010/main" val="24601978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Brian</a:t>
            </a:r>
            <a:endParaRPr lang="en-US" dirty="0">
              <a:cs typeface="Calibri"/>
            </a:endParaRPr>
          </a:p>
        </p:txBody>
      </p:sp>
      <p:sp>
        <p:nvSpPr>
          <p:cNvPr id="4" name="Slide Number Placeholder 3"/>
          <p:cNvSpPr>
            <a:spLocks noGrp="1"/>
          </p:cNvSpPr>
          <p:nvPr>
            <p:ph type="sldNum" sz="quarter" idx="5"/>
          </p:nvPr>
        </p:nvSpPr>
        <p:spPr/>
        <p:txBody>
          <a:bodyPr/>
          <a:lstStyle/>
          <a:p>
            <a:fld id="{FF7C0A9C-8EB1-2944-91B3-96D63BF1E2CF}" type="slidenum">
              <a:rPr lang="en-US" smtClean="0"/>
              <a:t>1</a:t>
            </a:fld>
            <a:endParaRPr lang="en-US"/>
          </a:p>
        </p:txBody>
      </p:sp>
    </p:spTree>
    <p:extLst>
      <p:ext uri="{BB962C8B-B14F-4D97-AF65-F5344CB8AC3E}">
        <p14:creationId xmlns:p14="http://schemas.microsoft.com/office/powerpoint/2010/main" val="30063377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Brian</a:t>
            </a:r>
            <a:endParaRPr lang="en-US" dirty="0">
              <a:cs typeface="Calibri"/>
            </a:endParaRPr>
          </a:p>
        </p:txBody>
      </p:sp>
      <p:sp>
        <p:nvSpPr>
          <p:cNvPr id="4" name="Slide Number Placeholder 3"/>
          <p:cNvSpPr>
            <a:spLocks noGrp="1"/>
          </p:cNvSpPr>
          <p:nvPr>
            <p:ph type="sldNum" sz="quarter" idx="5"/>
          </p:nvPr>
        </p:nvSpPr>
        <p:spPr/>
        <p:txBody>
          <a:bodyPr/>
          <a:lstStyle/>
          <a:p>
            <a:fld id="{FF7C0A9C-8EB1-2944-91B3-96D63BF1E2CF}" type="slidenum">
              <a:rPr lang="en-US" smtClean="0"/>
              <a:t>2</a:t>
            </a:fld>
            <a:endParaRPr lang="en-US"/>
          </a:p>
        </p:txBody>
      </p:sp>
    </p:spTree>
    <p:extLst>
      <p:ext uri="{BB962C8B-B14F-4D97-AF65-F5344CB8AC3E}">
        <p14:creationId xmlns:p14="http://schemas.microsoft.com/office/powerpoint/2010/main" val="42832566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Brian</a:t>
            </a:r>
          </a:p>
          <a:p>
            <a:endParaRPr lang="en-US">
              <a:cs typeface="Calibri"/>
            </a:endParaRPr>
          </a:p>
          <a:p>
            <a:r>
              <a:rPr lang="en-US">
                <a:cs typeface="Calibri"/>
              </a:rPr>
              <a:t>Question for the group: How do you ensure job coaches have a caseload that is financially sustainable?</a:t>
            </a:r>
          </a:p>
          <a:p>
            <a:endParaRPr lang="en-US">
              <a:cs typeface="Calibri"/>
            </a:endParaRPr>
          </a:p>
          <a:p>
            <a:pPr marL="171450" indent="-171450">
              <a:buFont typeface="Arial" panose="020B0604020202020204" pitchFamily="34" charset="0"/>
              <a:buChar char="•"/>
            </a:pPr>
            <a:r>
              <a:rPr lang="en-US">
                <a:cs typeface="Calibri"/>
              </a:rPr>
              <a:t>Determining your staff’s billable time is key to building their caseload. A general rule of thumb is 80% billable time, or 32 hours a week for your FTE.</a:t>
            </a:r>
          </a:p>
          <a:p>
            <a:pPr marL="0" indent="0">
              <a:buFont typeface="Arial" panose="020B0604020202020204" pitchFamily="34" charset="0"/>
              <a:buNone/>
            </a:pPr>
            <a:endParaRPr lang="en-US">
              <a:cs typeface="Calibri"/>
            </a:endParaRPr>
          </a:p>
          <a:p>
            <a:pPr marL="171450" indent="-171450">
              <a:buFont typeface="Arial" panose="020B0604020202020204" pitchFamily="34" charset="0"/>
              <a:buChar char="•"/>
            </a:pPr>
            <a:r>
              <a:rPr lang="en-US">
                <a:cs typeface="Calibri"/>
              </a:rPr>
              <a:t>Billable time is impacted by the services provided. The reimbursement rates for VR and Pre-ETS is different from Waiver employment services. The paperwork requirements are different as well.</a:t>
            </a:r>
          </a:p>
          <a:p>
            <a:pPr marL="0" indent="0">
              <a:buFont typeface="Arial" panose="020B0604020202020204" pitchFamily="34" charset="0"/>
              <a:buNone/>
            </a:pPr>
            <a:endParaRPr lang="en-US">
              <a:cs typeface="Calibri"/>
            </a:endParaRPr>
          </a:p>
          <a:p>
            <a:pPr marL="171450" indent="-171450">
              <a:buFont typeface="Arial" panose="020B0604020202020204" pitchFamily="34" charset="0"/>
              <a:buChar char="•"/>
            </a:pPr>
            <a:r>
              <a:rPr lang="en-US">
                <a:cs typeface="Calibri"/>
              </a:rPr>
              <a:t>One differences between VR, Pre-ETS, and Waiver employment services are: you can bill “on-behalf of” time under waiver services, you cannot for most Pre-ETS and VR services</a:t>
            </a:r>
          </a:p>
          <a:p>
            <a:pPr marL="171450" indent="-171450">
              <a:buFont typeface="Arial" panose="020B0604020202020204" pitchFamily="34" charset="0"/>
              <a:buChar char="•"/>
            </a:pPr>
            <a:endParaRPr lang="en-US">
              <a:cs typeface="Calibri"/>
            </a:endParaRPr>
          </a:p>
        </p:txBody>
      </p:sp>
      <p:sp>
        <p:nvSpPr>
          <p:cNvPr id="4" name="Slide Number Placeholder 3"/>
          <p:cNvSpPr>
            <a:spLocks noGrp="1"/>
          </p:cNvSpPr>
          <p:nvPr>
            <p:ph type="sldNum" sz="quarter" idx="5"/>
          </p:nvPr>
        </p:nvSpPr>
        <p:spPr/>
        <p:txBody>
          <a:bodyPr/>
          <a:lstStyle/>
          <a:p>
            <a:fld id="{FF7C0A9C-8EB1-2944-91B3-96D63BF1E2CF}" type="slidenum">
              <a:rPr lang="en-US" smtClean="0"/>
              <a:t>3</a:t>
            </a:fld>
            <a:endParaRPr lang="en-US"/>
          </a:p>
        </p:txBody>
      </p:sp>
    </p:spTree>
    <p:extLst>
      <p:ext uri="{BB962C8B-B14F-4D97-AF65-F5344CB8AC3E}">
        <p14:creationId xmlns:p14="http://schemas.microsoft.com/office/powerpoint/2010/main" val="42832566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Brian</a:t>
            </a:r>
          </a:p>
          <a:p>
            <a:endParaRPr lang="en-US">
              <a:cs typeface="Calibri"/>
            </a:endParaRPr>
          </a:p>
          <a:p>
            <a:pPr marL="171450" indent="-171450">
              <a:buFont typeface="Arial" panose="020B0604020202020204" pitchFamily="34" charset="0"/>
              <a:buChar char="•"/>
            </a:pPr>
            <a:r>
              <a:rPr lang="en-US">
                <a:cs typeface="Calibri"/>
              </a:rPr>
              <a:t>Employment Exploration and Employment Development – Plan have higher rates than Employment Support. EES and EDS-Plan are $15.75, ESS is $14.25</a:t>
            </a:r>
          </a:p>
          <a:p>
            <a:pPr marL="0" indent="0">
              <a:buFont typeface="Arial" panose="020B0604020202020204" pitchFamily="34" charset="0"/>
              <a:buNone/>
            </a:pPr>
            <a:endParaRPr lang="en-US">
              <a:cs typeface="Calibri"/>
            </a:endParaRPr>
          </a:p>
          <a:p>
            <a:pPr marL="171450" indent="-171450">
              <a:buFont typeface="Arial" panose="020B0604020202020204" pitchFamily="34" charset="0"/>
              <a:buChar char="•"/>
            </a:pPr>
            <a:r>
              <a:rPr lang="en-US">
                <a:cs typeface="Calibri"/>
              </a:rPr>
              <a:t>Staff may have a bigger caseload if they are just providing Employment Support Services, meaning they are helping people keep their job</a:t>
            </a:r>
          </a:p>
          <a:p>
            <a:pPr marL="0" indent="0">
              <a:buFont typeface="Arial" panose="020B0604020202020204" pitchFamily="34" charset="0"/>
              <a:buNone/>
            </a:pPr>
            <a:endParaRPr lang="en-US">
              <a:cs typeface="Calibri"/>
            </a:endParaRPr>
          </a:p>
          <a:p>
            <a:pPr marL="171450" indent="-171450">
              <a:buFont typeface="Arial" panose="020B0604020202020204" pitchFamily="34" charset="0"/>
              <a:buChar char="•"/>
            </a:pPr>
            <a:r>
              <a:rPr lang="en-US">
                <a:cs typeface="Calibri"/>
              </a:rPr>
              <a:t>Staff that help people find jobs may have a smaller caseload because this work is more time intensive</a:t>
            </a:r>
          </a:p>
          <a:p>
            <a:pPr marL="171450" indent="-171450">
              <a:buFont typeface="Arial" panose="020B0604020202020204" pitchFamily="34" charset="0"/>
              <a:buChar char="•"/>
            </a:pPr>
            <a:endParaRPr lang="en-US">
              <a:cs typeface="Calibri"/>
            </a:endParaRPr>
          </a:p>
          <a:p>
            <a:pPr marL="171450" indent="-171450">
              <a:buFont typeface="Arial" panose="020B0604020202020204" pitchFamily="34" charset="0"/>
              <a:buChar char="•"/>
            </a:pPr>
            <a:endParaRPr lang="en-US">
              <a:cs typeface="Calibri"/>
            </a:endParaRPr>
          </a:p>
          <a:p>
            <a:pPr marL="171450" indent="-171450">
              <a:buFont typeface="Arial" panose="020B0604020202020204" pitchFamily="34" charset="0"/>
              <a:buChar char="•"/>
            </a:pPr>
            <a:endParaRPr lang="en-US">
              <a:cs typeface="Calibri"/>
            </a:endParaRPr>
          </a:p>
        </p:txBody>
      </p:sp>
      <p:sp>
        <p:nvSpPr>
          <p:cNvPr id="4" name="Slide Number Placeholder 3"/>
          <p:cNvSpPr>
            <a:spLocks noGrp="1"/>
          </p:cNvSpPr>
          <p:nvPr>
            <p:ph type="sldNum" sz="quarter" idx="5"/>
          </p:nvPr>
        </p:nvSpPr>
        <p:spPr/>
        <p:txBody>
          <a:bodyPr/>
          <a:lstStyle/>
          <a:p>
            <a:fld id="{FF7C0A9C-8EB1-2944-91B3-96D63BF1E2CF}" type="slidenum">
              <a:rPr lang="en-US" smtClean="0"/>
              <a:t>4</a:t>
            </a:fld>
            <a:endParaRPr lang="en-US"/>
          </a:p>
        </p:txBody>
      </p:sp>
    </p:spTree>
    <p:extLst>
      <p:ext uri="{BB962C8B-B14F-4D97-AF65-F5344CB8AC3E}">
        <p14:creationId xmlns:p14="http://schemas.microsoft.com/office/powerpoint/2010/main" val="36345570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Brian</a:t>
            </a:r>
          </a:p>
          <a:p>
            <a:endParaRPr lang="en-US">
              <a:cs typeface="Calibri"/>
            </a:endParaRPr>
          </a:p>
          <a:p>
            <a:pPr marL="171450" indent="-171450">
              <a:buFont typeface="Arial" panose="020B0604020202020204" pitchFamily="34" charset="0"/>
              <a:buChar char="•"/>
            </a:pPr>
            <a:endParaRPr lang="en-US">
              <a:cs typeface="Calibri"/>
            </a:endParaRPr>
          </a:p>
          <a:p>
            <a:pPr marL="171450" indent="-171450">
              <a:buFont typeface="Arial" panose="020B0604020202020204" pitchFamily="34" charset="0"/>
              <a:buChar char="•"/>
            </a:pPr>
            <a:endParaRPr lang="en-US">
              <a:cs typeface="Calibri"/>
            </a:endParaRPr>
          </a:p>
          <a:p>
            <a:pPr marL="171450" indent="-171450">
              <a:buFont typeface="Arial" panose="020B0604020202020204" pitchFamily="34" charset="0"/>
              <a:buChar char="•"/>
            </a:pPr>
            <a:endParaRPr lang="en-US">
              <a:cs typeface="Calibri"/>
            </a:endParaRPr>
          </a:p>
        </p:txBody>
      </p:sp>
      <p:sp>
        <p:nvSpPr>
          <p:cNvPr id="4" name="Slide Number Placeholder 3"/>
          <p:cNvSpPr>
            <a:spLocks noGrp="1"/>
          </p:cNvSpPr>
          <p:nvPr>
            <p:ph type="sldNum" sz="quarter" idx="5"/>
          </p:nvPr>
        </p:nvSpPr>
        <p:spPr/>
        <p:txBody>
          <a:bodyPr/>
          <a:lstStyle/>
          <a:p>
            <a:fld id="{FF7C0A9C-8EB1-2944-91B3-96D63BF1E2CF}" type="slidenum">
              <a:rPr lang="en-US" smtClean="0"/>
              <a:t>5</a:t>
            </a:fld>
            <a:endParaRPr lang="en-US"/>
          </a:p>
        </p:txBody>
      </p:sp>
    </p:spTree>
    <p:extLst>
      <p:ext uri="{BB962C8B-B14F-4D97-AF65-F5344CB8AC3E}">
        <p14:creationId xmlns:p14="http://schemas.microsoft.com/office/powerpoint/2010/main" val="29638248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Brian</a:t>
            </a:r>
          </a:p>
          <a:p>
            <a:endParaRPr lang="en-US">
              <a:cs typeface="Calibri"/>
            </a:endParaRPr>
          </a:p>
          <a:p>
            <a:pPr marL="171450" indent="-171450">
              <a:buFont typeface="Arial" panose="020B0604020202020204" pitchFamily="34" charset="0"/>
              <a:buChar char="•"/>
            </a:pPr>
            <a:r>
              <a:rPr lang="en-US">
                <a:cs typeface="Calibri"/>
              </a:rPr>
              <a:t>Customized Employment and the Discovery Process can only be delivered by staff that have gone through the training and have been certified</a:t>
            </a:r>
          </a:p>
          <a:p>
            <a:pPr marL="0" indent="0">
              <a:buFont typeface="Arial" panose="020B0604020202020204" pitchFamily="34" charset="0"/>
              <a:buNone/>
            </a:pPr>
            <a:endParaRPr lang="en-US">
              <a:cs typeface="Calibri"/>
            </a:endParaRPr>
          </a:p>
          <a:p>
            <a:pPr marL="171450" indent="-171450">
              <a:buFont typeface="Arial" panose="020B0604020202020204" pitchFamily="34" charset="0"/>
              <a:buChar char="•"/>
            </a:pPr>
            <a:r>
              <a:rPr lang="en-US">
                <a:cs typeface="Calibri"/>
              </a:rPr>
              <a:t>We are not suggesting you send all of your staff through this training, but it is a great way to invest in your staff</a:t>
            </a:r>
          </a:p>
          <a:p>
            <a:pPr marL="0" indent="0">
              <a:buFont typeface="Arial" panose="020B0604020202020204" pitchFamily="34" charset="0"/>
              <a:buNone/>
            </a:pPr>
            <a:endParaRPr lang="en-US">
              <a:cs typeface="Calibri"/>
            </a:endParaRPr>
          </a:p>
          <a:p>
            <a:pPr marL="171450" indent="-171450">
              <a:buFont typeface="Arial" panose="020B0604020202020204" pitchFamily="34" charset="0"/>
              <a:buChar char="•"/>
            </a:pPr>
            <a:r>
              <a:rPr lang="en-US">
                <a:cs typeface="Calibri"/>
              </a:rPr>
              <a:t>This training is delivered by </a:t>
            </a:r>
            <a:r>
              <a:rPr lang="en-US" err="1">
                <a:cs typeface="Calibri"/>
              </a:rPr>
              <a:t>Voc</a:t>
            </a:r>
            <a:r>
              <a:rPr lang="en-US">
                <a:cs typeface="Calibri"/>
              </a:rPr>
              <a:t> Rehab and is being offered free of charge this year as part of the state’s investment and commitment to competitive integrated employment for people with disabilities</a:t>
            </a:r>
          </a:p>
          <a:p>
            <a:pPr marL="0" indent="0">
              <a:buFont typeface="Arial" panose="020B0604020202020204" pitchFamily="34" charset="0"/>
              <a:buNone/>
            </a:pPr>
            <a:endParaRPr lang="en-US">
              <a:cs typeface="Calibri"/>
            </a:endParaRPr>
          </a:p>
          <a:p>
            <a:pPr marL="171450" indent="-171450">
              <a:buFont typeface="Arial" panose="020B0604020202020204" pitchFamily="34" charset="0"/>
              <a:buChar char="•"/>
            </a:pPr>
            <a:r>
              <a:rPr lang="en-US">
                <a:cs typeface="Calibri"/>
              </a:rPr>
              <a:t>The training is delivered in a cohort model with 60 participants. </a:t>
            </a:r>
          </a:p>
          <a:p>
            <a:pPr marL="0" indent="0">
              <a:buFont typeface="Arial" panose="020B0604020202020204" pitchFamily="34" charset="0"/>
              <a:buNone/>
            </a:pPr>
            <a:endParaRPr lang="en-US">
              <a:cs typeface="Calibri"/>
            </a:endParaRPr>
          </a:p>
          <a:p>
            <a:pPr marL="171450" indent="-171450">
              <a:buFont typeface="Arial" panose="020B0604020202020204" pitchFamily="34" charset="0"/>
              <a:buChar char="•"/>
            </a:pPr>
            <a:r>
              <a:rPr lang="en-US">
                <a:cs typeface="Calibri"/>
              </a:rPr>
              <a:t>The training last 16 weeks with class every other Tuesday for a half-day</a:t>
            </a:r>
          </a:p>
          <a:p>
            <a:pPr marL="0" indent="0">
              <a:buFont typeface="Arial" panose="020B0604020202020204" pitchFamily="34" charset="0"/>
              <a:buNone/>
            </a:pPr>
            <a:endParaRPr lang="en-US">
              <a:cs typeface="Calibri"/>
            </a:endParaRPr>
          </a:p>
          <a:p>
            <a:pPr marL="171450" indent="-171450">
              <a:buFont typeface="Arial" panose="020B0604020202020204" pitchFamily="34" charset="0"/>
              <a:buChar char="•"/>
            </a:pPr>
            <a:r>
              <a:rPr lang="en-US">
                <a:cs typeface="Calibri"/>
              </a:rPr>
              <a:t>Throughout the training participants get paired with a person that wants the service. This means the participant is learning the material then immediately applying it in the real world.</a:t>
            </a:r>
          </a:p>
          <a:p>
            <a:pPr marL="0" indent="0">
              <a:buFont typeface="Arial" panose="020B0604020202020204" pitchFamily="34" charset="0"/>
              <a:buNone/>
            </a:pPr>
            <a:endParaRPr lang="en-US">
              <a:cs typeface="Calibri"/>
            </a:endParaRPr>
          </a:p>
          <a:p>
            <a:pPr marL="171450" indent="-171450">
              <a:buFont typeface="Arial" panose="020B0604020202020204" pitchFamily="34" charset="0"/>
              <a:buChar char="•"/>
            </a:pPr>
            <a:r>
              <a:rPr lang="en-US">
                <a:cs typeface="Calibri"/>
              </a:rPr>
              <a:t>Contact Margie Webb if you’ve got staff that you’d like to send to the training. Margie’s contact information is included on the resources slide</a:t>
            </a:r>
          </a:p>
          <a:p>
            <a:pPr marL="171450" indent="-171450">
              <a:buFont typeface="Arial" panose="020B0604020202020204" pitchFamily="34" charset="0"/>
              <a:buChar char="•"/>
            </a:pPr>
            <a:endParaRPr lang="en-US">
              <a:cs typeface="Calibri"/>
            </a:endParaRPr>
          </a:p>
          <a:p>
            <a:pPr marL="171450" indent="-171450">
              <a:buFont typeface="Arial" panose="020B0604020202020204" pitchFamily="34" charset="0"/>
              <a:buChar char="•"/>
            </a:pPr>
            <a:endParaRPr lang="en-US">
              <a:cs typeface="Calibri"/>
            </a:endParaRPr>
          </a:p>
          <a:p>
            <a:pPr marL="171450" indent="-171450">
              <a:buFont typeface="Arial" panose="020B0604020202020204" pitchFamily="34" charset="0"/>
              <a:buChar char="•"/>
            </a:pPr>
            <a:endParaRPr lang="en-US">
              <a:cs typeface="Calibri"/>
            </a:endParaRPr>
          </a:p>
        </p:txBody>
      </p:sp>
      <p:sp>
        <p:nvSpPr>
          <p:cNvPr id="4" name="Slide Number Placeholder 3"/>
          <p:cNvSpPr>
            <a:spLocks noGrp="1"/>
          </p:cNvSpPr>
          <p:nvPr>
            <p:ph type="sldNum" sz="quarter" idx="5"/>
          </p:nvPr>
        </p:nvSpPr>
        <p:spPr/>
        <p:txBody>
          <a:bodyPr/>
          <a:lstStyle/>
          <a:p>
            <a:fld id="{FF7C0A9C-8EB1-2944-91B3-96D63BF1E2CF}" type="slidenum">
              <a:rPr lang="en-US" smtClean="0"/>
              <a:t>6</a:t>
            </a:fld>
            <a:endParaRPr lang="en-US"/>
          </a:p>
        </p:txBody>
      </p:sp>
    </p:spTree>
    <p:extLst>
      <p:ext uri="{BB962C8B-B14F-4D97-AF65-F5344CB8AC3E}">
        <p14:creationId xmlns:p14="http://schemas.microsoft.com/office/powerpoint/2010/main" val="19368426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Brian</a:t>
            </a:r>
          </a:p>
          <a:p>
            <a:endParaRPr lang="en-US">
              <a:cs typeface="Calibri"/>
            </a:endParaRPr>
          </a:p>
          <a:p>
            <a:pPr marL="171450" indent="-171450">
              <a:buFont typeface="Arial" panose="020B0604020202020204" pitchFamily="34" charset="0"/>
              <a:buChar char="•"/>
            </a:pPr>
            <a:r>
              <a:rPr lang="en-US">
                <a:cs typeface="Calibri"/>
              </a:rPr>
              <a:t>Question for the group: What is E1MN? E1MN is Minnesota’s state agency partnership to advance Employment First outcomes for youth and adults with disabilities. The state agency partnership evolved from Minnesota’s Employment First policy adopted by the Olmstead sub-cabinet in 2014. </a:t>
            </a:r>
          </a:p>
          <a:p>
            <a:pPr marL="0" indent="0">
              <a:buFont typeface="Arial" panose="020B0604020202020204" pitchFamily="34" charset="0"/>
              <a:buNone/>
            </a:pPr>
            <a:endParaRPr lang="en-US">
              <a:cs typeface="Calibri"/>
            </a:endParaRPr>
          </a:p>
          <a:p>
            <a:pPr marL="171450" indent="-171450">
              <a:buFont typeface="Arial" panose="020B0604020202020204" pitchFamily="34" charset="0"/>
              <a:buChar char="•"/>
            </a:pPr>
            <a:r>
              <a:rPr lang="en-US">
                <a:cs typeface="Calibri"/>
              </a:rPr>
              <a:t>The E1MN Newsletter is a monthly e-communication sent out by MN DEED. It is a way to communicate important information to professionals who support employment outcomes for youth and adults with disabilities. </a:t>
            </a:r>
          </a:p>
          <a:p>
            <a:pPr marL="0" indent="0">
              <a:buFont typeface="Arial" panose="020B0604020202020204" pitchFamily="34" charset="0"/>
              <a:buNone/>
            </a:pPr>
            <a:endParaRPr lang="en-US">
              <a:cs typeface="Calibri"/>
            </a:endParaRPr>
          </a:p>
          <a:p>
            <a:pPr marL="171450" indent="-171450">
              <a:buFont typeface="Arial" panose="020B0604020202020204" pitchFamily="34" charset="0"/>
              <a:buChar char="•"/>
            </a:pPr>
            <a:r>
              <a:rPr lang="en-US">
                <a:cs typeface="Calibri"/>
              </a:rPr>
              <a:t>As grantees you have access to organization mentors. The MTI team is here to help, but you may also find it helpful to talk with people managers with other organizations that are providing employment services to get insight into how they structure their caseloads connect staff with trainings to strengthen employment outcomes</a:t>
            </a:r>
          </a:p>
          <a:p>
            <a:pPr marL="171450" indent="-171450">
              <a:buFont typeface="Arial" panose="020B0604020202020204" pitchFamily="34" charset="0"/>
              <a:buChar char="•"/>
            </a:pPr>
            <a:endParaRPr lang="en-US">
              <a:cs typeface="Calibri"/>
            </a:endParaRPr>
          </a:p>
          <a:p>
            <a:pPr marL="171450" indent="-171450">
              <a:buFont typeface="Arial" panose="020B0604020202020204" pitchFamily="34" charset="0"/>
              <a:buChar char="•"/>
            </a:pPr>
            <a:endParaRPr lang="en-US">
              <a:cs typeface="Calibri"/>
            </a:endParaRPr>
          </a:p>
        </p:txBody>
      </p:sp>
      <p:sp>
        <p:nvSpPr>
          <p:cNvPr id="4" name="Slide Number Placeholder 3"/>
          <p:cNvSpPr>
            <a:spLocks noGrp="1"/>
          </p:cNvSpPr>
          <p:nvPr>
            <p:ph type="sldNum" sz="quarter" idx="5"/>
          </p:nvPr>
        </p:nvSpPr>
        <p:spPr/>
        <p:txBody>
          <a:bodyPr/>
          <a:lstStyle/>
          <a:p>
            <a:fld id="{FF7C0A9C-8EB1-2944-91B3-96D63BF1E2CF}" type="slidenum">
              <a:rPr lang="en-US" smtClean="0"/>
              <a:t>7</a:t>
            </a:fld>
            <a:endParaRPr lang="en-US"/>
          </a:p>
        </p:txBody>
      </p:sp>
    </p:spTree>
    <p:extLst>
      <p:ext uri="{BB962C8B-B14F-4D97-AF65-F5344CB8AC3E}">
        <p14:creationId xmlns:p14="http://schemas.microsoft.com/office/powerpoint/2010/main" val="13781522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3863" y="704850"/>
            <a:ext cx="6254750" cy="3519488"/>
          </a:xfrm>
        </p:spPr>
      </p:sp>
      <p:sp>
        <p:nvSpPr>
          <p:cNvPr id="3" name="Notes Placeholder 2"/>
          <p:cNvSpPr>
            <a:spLocks noGrp="1"/>
          </p:cNvSpPr>
          <p:nvPr>
            <p:ph type="body" idx="1"/>
          </p:nvPr>
        </p:nvSpPr>
        <p:spPr/>
        <p:txBody>
          <a:bodyPr/>
          <a:lstStyle/>
          <a:p>
            <a:r>
              <a:rPr lang="en-US" sz="1600" dirty="0">
                <a:ea typeface="Calibri"/>
                <a:cs typeface="Calibri"/>
              </a:rPr>
              <a:t>Staci </a:t>
            </a:r>
            <a:endParaRPr lang="en-US" sz="1600" dirty="0">
              <a:cs typeface="Calibri"/>
            </a:endParaRPr>
          </a:p>
          <a:p>
            <a:r>
              <a:rPr lang="en-US" sz="1600" dirty="0">
                <a:cs typeface="Calibri"/>
              </a:rPr>
              <a:t>Brian gave some considerations and examples of allocation of resources related to employment caseloads and how you are structuring those….but I want to take this conversation back up to the 10,000 ft strategic view. And, it's been a while since we've looked this slide, but let’s look at it in the context of what Brian just talked about and where it may fit in when we look at the 10 essential elements of provider transformation. And from my perspective, some of what Brian talked about certainly fits in with leadership, it definitely falls under employment practices and an active person-centered job development.  But the big one where we want to draw some attention is under the bucket of infrastructure, operations and finance…we have the element that speaks to reallocated and restructured resources.  and while we all agree that leadership and values associated with the outcomes you'd like to see are also critical, just having vision isn't enough.  It's also essential to ensure that HOW you use are using your resources is actually aligning with the goals you have identified. If you continue to use most of your existing resources in the same way, while only dedicating a few resources to your new service delivery, the changes most likely won’t be as sustainable or effective than looking more widely…</a:t>
            </a:r>
            <a:endParaRPr lang="en-US" sz="1600" dirty="0"/>
          </a:p>
        </p:txBody>
      </p:sp>
      <p:sp>
        <p:nvSpPr>
          <p:cNvPr id="4" name="Slide Number Placeholder 3"/>
          <p:cNvSpPr>
            <a:spLocks noGrp="1"/>
          </p:cNvSpPr>
          <p:nvPr>
            <p:ph type="sldNum" sz="quarter" idx="10"/>
          </p:nvPr>
        </p:nvSpPr>
        <p:spPr/>
        <p:txBody>
          <a:bodyPr/>
          <a:lstStyle/>
          <a:p>
            <a:pPr defTabSz="471145" eaLnBrk="1" fontAlgn="auto" hangingPunct="1">
              <a:spcBef>
                <a:spcPts val="0"/>
              </a:spcBef>
              <a:spcAft>
                <a:spcPts val="0"/>
              </a:spcAft>
              <a:defRPr/>
            </a:pPr>
            <a:fld id="{C81CCF30-75E7-4047-B971-189668F28995}" type="slidenum">
              <a:rPr lang="en-US">
                <a:solidFill>
                  <a:prstClr val="black"/>
                </a:solidFill>
                <a:latin typeface="Calibri" panose="020F0502020204030204"/>
                <a:ea typeface="+mn-ea"/>
              </a:rPr>
              <a:pPr defTabSz="471145" eaLnBrk="1" fontAlgn="auto" hangingPunct="1">
                <a:spcBef>
                  <a:spcPts val="0"/>
                </a:spcBef>
                <a:spcAft>
                  <a:spcPts val="0"/>
                </a:spcAft>
                <a:defRPr/>
              </a:pPr>
              <a:t>8</a:t>
            </a:fld>
            <a:endParaRPr lang="en-US">
              <a:solidFill>
                <a:prstClr val="black"/>
              </a:solidFill>
              <a:latin typeface="Calibri" panose="020F0502020204030204"/>
              <a:ea typeface="+mn-ea"/>
            </a:endParaRPr>
          </a:p>
        </p:txBody>
      </p:sp>
    </p:spTree>
    <p:extLst>
      <p:ext uri="{BB962C8B-B14F-4D97-AF65-F5344CB8AC3E}">
        <p14:creationId xmlns:p14="http://schemas.microsoft.com/office/powerpoint/2010/main" val="40205190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cs typeface="Calibri"/>
              </a:rPr>
              <a:t>Staci</a:t>
            </a:r>
          </a:p>
          <a:p>
            <a:r>
              <a:rPr lang="en-US" dirty="0">
                <a:ea typeface="Calibri"/>
                <a:cs typeface="Calibri"/>
              </a:rPr>
              <a:t>This is just another way to visualize transformation.  On the left you see a number of different external factors (like history, federal and state policy and legislation changes…things like employment first and phase outs of subminimum wage for example, national focus on best practices, evolving values over the last few decades.....) all of those things and more may have impacted your organization's decision to start a transformation process and ultimately, transformation means that there has been a strategic alignment of your mission, your vision, your operations and outcomes. If your operations, or HOW you engage in business every day isn't changing, then it's unlikely that you'll see different outcomes on the scale you'd like to see them. And so, that’s why it is so important that the organization takes time to review existing resources and HOW they are being used. </a:t>
            </a:r>
          </a:p>
        </p:txBody>
      </p:sp>
      <p:sp>
        <p:nvSpPr>
          <p:cNvPr id="4" name="Slide Number Placeholder 3"/>
          <p:cNvSpPr>
            <a:spLocks noGrp="1"/>
          </p:cNvSpPr>
          <p:nvPr>
            <p:ph type="sldNum" sz="quarter" idx="5"/>
          </p:nvPr>
        </p:nvSpPr>
        <p:spPr/>
        <p:txBody>
          <a:bodyPr/>
          <a:lstStyle/>
          <a:p>
            <a:fld id="{C81CCF30-75E7-4047-B971-189668F28995}" type="slidenum">
              <a:rPr lang="en-US" smtClean="0"/>
              <a:pPr/>
              <a:t>9</a:t>
            </a:fld>
            <a:endParaRPr lang="en-US"/>
          </a:p>
        </p:txBody>
      </p:sp>
    </p:spTree>
    <p:extLst>
      <p:ext uri="{BB962C8B-B14F-4D97-AF65-F5344CB8AC3E}">
        <p14:creationId xmlns:p14="http://schemas.microsoft.com/office/powerpoint/2010/main" val="32919963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Staci </a:t>
            </a:r>
          </a:p>
          <a:p>
            <a:r>
              <a:rPr lang="en-US" dirty="0">
                <a:ea typeface="Calibri"/>
                <a:cs typeface="Calibri"/>
              </a:rPr>
              <a:t>So, what ARE your organization’s resources?  It's important when doing any kind of assessment of your organization's resources that you again look holistically across the entire organization and not just focusing only on funding or financial resources.  Financial resources are critical, but also identify a list of ALL resources you have available…for example: the entirety of your human resources (that includes both paid staff and any volunteers you have, including board of directors and others)...and it also means looking at all the ways you are USING those human resources.  Other resources include physical or capital...those could include things the organization owns; like buildings and vehicles.  Your organization also has intellectual capital as well. That just means all the combined knowledge and skills all of those human resources you have access to hold.  Part of that assessment might mean making sure you have the right people, with the right knowledge and skills in the right positions. DO you know what talents your workforce and volunteers have that you haven’t tapped into?  You'll want to assess what kinds of partnerships you are engaged in and do any of them need to be updated based on your new business focus or model.  We've talked a lot over the last year and a half about the importance of data and information you track and review. You may not automatically think about this data as a resource, but… These pieces of data provide opportunities for you to make more informed decisions, and to set and track goals…and depending on how you share out this data, it could  help your organization to be more transparent or accountable to your internal and external stakeholders.  How you  market what you do is also a resource, and we've seen a few of you actively updating your outreach materials or create videos that highlight your employment services differently..... and one of the biggest resources that maybe doesn't get talked about enough is the culture of the organization. And a testament of it's importance is that you could potentially have all the other resources aligned, but without culture being aligned with your resources, things may not move in the right direction. So, </a:t>
            </a:r>
            <a:r>
              <a:rPr lang="en-US" dirty="0" err="1">
                <a:ea typeface="Calibri"/>
                <a:cs typeface="Calibri"/>
              </a:rPr>
              <a:t>allll</a:t>
            </a:r>
            <a:r>
              <a:rPr lang="en-US" dirty="0">
                <a:ea typeface="Calibri"/>
                <a:cs typeface="Calibri"/>
              </a:rPr>
              <a:t> this to say that as a leadership team it's worth regularly assessing all your resources and checking in with whether they are all </a:t>
            </a:r>
            <a:r>
              <a:rPr lang="en-US" dirty="0" err="1">
                <a:ea typeface="Calibri"/>
                <a:cs typeface="Calibri"/>
              </a:rPr>
              <a:t>appriately</a:t>
            </a:r>
            <a:r>
              <a:rPr lang="en-US" dirty="0">
                <a:ea typeface="Calibri"/>
                <a:cs typeface="Calibri"/>
              </a:rPr>
              <a:t> aligned with the outcomes you want to see. And at this point in the grant project, I believe most of you have done some variation of this exercise, but certainly as we get closer to this grant ending, focus on sustainability in your operations, particularly for those pilots that some of you </a:t>
            </a:r>
            <a:r>
              <a:rPr lang="en-US" dirty="0" err="1">
                <a:ea typeface="Calibri"/>
                <a:cs typeface="Calibri"/>
              </a:rPr>
              <a:t>startd</a:t>
            </a:r>
            <a:r>
              <a:rPr lang="en-US" dirty="0">
                <a:ea typeface="Calibri"/>
                <a:cs typeface="Calibri"/>
              </a:rPr>
              <a:t>…to ensure that you can continue doing the things you want to continue doing….</a:t>
            </a:r>
          </a:p>
        </p:txBody>
      </p:sp>
      <p:sp>
        <p:nvSpPr>
          <p:cNvPr id="4" name="Slide Number Placeholder 3"/>
          <p:cNvSpPr>
            <a:spLocks noGrp="1"/>
          </p:cNvSpPr>
          <p:nvPr>
            <p:ph type="sldNum" sz="quarter" idx="5"/>
          </p:nvPr>
        </p:nvSpPr>
        <p:spPr/>
        <p:txBody>
          <a:bodyPr/>
          <a:lstStyle/>
          <a:p>
            <a:fld id="{CB90D89B-D770-F648-BD56-FFC69AC3D72B}" type="slidenum">
              <a:rPr lang="en-US" smtClean="0"/>
              <a:t>10</a:t>
            </a:fld>
            <a:endParaRPr lang="en-US"/>
          </a:p>
        </p:txBody>
      </p:sp>
    </p:spTree>
    <p:extLst>
      <p:ext uri="{BB962C8B-B14F-4D97-AF65-F5344CB8AC3E}">
        <p14:creationId xmlns:p14="http://schemas.microsoft.com/office/powerpoint/2010/main" val="29072514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Staci </a:t>
            </a:r>
            <a:endParaRPr lang="en-US" dirty="0"/>
          </a:p>
          <a:p>
            <a:endParaRPr lang="en-US" dirty="0">
              <a:cs typeface="Calibri"/>
            </a:endParaRPr>
          </a:p>
          <a:p>
            <a:r>
              <a:rPr lang="en-US" dirty="0">
                <a:cs typeface="Calibri"/>
              </a:rPr>
              <a:t>This example has been significantly simplified in order to illustrate HOW you can think about reallocating resources. In this example... I'm focused on staffing resources, but you can use the example to think about any of the resources on the previous page.  On the left you can see the staffing breakdown for the historic, legacy model of support at Company ABC.  In this organization we support about 85 people in non-work day services and about 10 people in employment services. And that means we have 25 staff dedicated to center based day services and 4 dedicated to competitive integrated employment.  Our company's goal is to get 30 people competitive integrated jobs, so we'll have to figure out how to get more staff focused on employment.  Some of the staffing might come from new hires, that the organization is able to budget in from the revenue that's already being generated, but most likely this company won't be able to hire a large quantity of new staff at one time. So this means taking a look at they can best use the existing resources they have in place.  And this company has decided that as a certain number of people get competitive integrated jobs and leave the center, that means they will commit to using one of those center-based staff positions in a different way. One way to do this is to reallocate that position from one that supports day services to one that supports employment. So instead of having 25 day positions and 4 employment positions, after 5 people get jobs, you may be able to shift 1 day position to an employment position.  If your organization has regular staff turnover, one way to do this is that when a staff vacates a day position through turnover, it doesn’t get re-filled and gets advertised instead as an employment position. Another way to do this is to provide training, mentoring and support to your some key EXISTING day staff to so that they are ready to consider a shift to a new position, as they become available.  Typically, employment positions may pay a higher wage, so for some this may be an incentive....and having these discussions ahead of time with staff that you think have some transferable skills or who have a lot of cultural influence is a great place to start. There is no one size fits all approach to reallocation of staff resources, but it is important to create a plan and then implement and track the plan over time.  The other thing I’ll mention about this example is that along with identifying how you might use resources differently, might mean that you need to STOP doing other things that no longer lead you to the outcomes you stated. So, if CIE is your goal but most of your staff are dedicated to group or center based employment, it means looking at whether some realignment could happen there. </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CB90D89B-D770-F648-BD56-FFC69AC3D72B}" type="slidenum">
              <a:rPr lang="en-US" smtClean="0"/>
              <a:t>11</a:t>
            </a:fld>
            <a:endParaRPr lang="en-US"/>
          </a:p>
        </p:txBody>
      </p:sp>
    </p:spTree>
    <p:extLst>
      <p:ext uri="{BB962C8B-B14F-4D97-AF65-F5344CB8AC3E}">
        <p14:creationId xmlns:p14="http://schemas.microsoft.com/office/powerpoint/2010/main" val="29186699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Staci </a:t>
            </a:r>
            <a:endParaRPr lang="en-US" dirty="0">
              <a:cs typeface="Calibri"/>
            </a:endParaRPr>
          </a:p>
        </p:txBody>
      </p:sp>
      <p:sp>
        <p:nvSpPr>
          <p:cNvPr id="4" name="Slide Number Placeholder 3"/>
          <p:cNvSpPr>
            <a:spLocks noGrp="1"/>
          </p:cNvSpPr>
          <p:nvPr>
            <p:ph type="sldNum" sz="quarter" idx="5"/>
          </p:nvPr>
        </p:nvSpPr>
        <p:spPr/>
        <p:txBody>
          <a:bodyPr/>
          <a:lstStyle/>
          <a:p>
            <a:fld id="{FF7C0A9C-8EB1-2944-91B3-96D63BF1E2CF}" type="slidenum">
              <a:rPr lang="en-US" smtClean="0"/>
              <a:t>12</a:t>
            </a:fld>
            <a:endParaRPr lang="en-US"/>
          </a:p>
        </p:txBody>
      </p:sp>
    </p:spTree>
    <p:extLst>
      <p:ext uri="{BB962C8B-B14F-4D97-AF65-F5344CB8AC3E}">
        <p14:creationId xmlns:p14="http://schemas.microsoft.com/office/powerpoint/2010/main" val="10150276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Staci </a:t>
            </a:r>
          </a:p>
        </p:txBody>
      </p:sp>
      <p:sp>
        <p:nvSpPr>
          <p:cNvPr id="4" name="Slide Number Placeholder 3"/>
          <p:cNvSpPr>
            <a:spLocks noGrp="1"/>
          </p:cNvSpPr>
          <p:nvPr>
            <p:ph type="sldNum" sz="quarter" idx="5"/>
          </p:nvPr>
        </p:nvSpPr>
        <p:spPr/>
        <p:txBody>
          <a:bodyPr/>
          <a:lstStyle/>
          <a:p>
            <a:fld id="{FF7C0A9C-8EB1-2944-91B3-96D63BF1E2CF}" type="slidenum">
              <a:rPr lang="en-US" smtClean="0"/>
              <a:t>14</a:t>
            </a:fld>
            <a:endParaRPr lang="en-US"/>
          </a:p>
        </p:txBody>
      </p:sp>
    </p:spTree>
    <p:extLst>
      <p:ext uri="{BB962C8B-B14F-4D97-AF65-F5344CB8AC3E}">
        <p14:creationId xmlns:p14="http://schemas.microsoft.com/office/powerpoint/2010/main" val="41573421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cs typeface="Calibri"/>
            </a:endParaRPr>
          </a:p>
          <a:p>
            <a:pPr marL="171450" indent="-171450">
              <a:buFont typeface="Arial" panose="020B0604020202020204" pitchFamily="34" charset="0"/>
              <a:buChar char="•"/>
            </a:pPr>
            <a:endParaRPr lang="en-US">
              <a:cs typeface="Calibri"/>
            </a:endParaRPr>
          </a:p>
        </p:txBody>
      </p:sp>
      <p:sp>
        <p:nvSpPr>
          <p:cNvPr id="4" name="Slide Number Placeholder 3"/>
          <p:cNvSpPr>
            <a:spLocks noGrp="1"/>
          </p:cNvSpPr>
          <p:nvPr>
            <p:ph type="sldNum" sz="quarter" idx="5"/>
          </p:nvPr>
        </p:nvSpPr>
        <p:spPr/>
        <p:txBody>
          <a:bodyPr/>
          <a:lstStyle/>
          <a:p>
            <a:fld id="{FF7C0A9C-8EB1-2944-91B3-96D63BF1E2CF}" type="slidenum">
              <a:rPr lang="en-US" smtClean="0"/>
              <a:t>15</a:t>
            </a:fld>
            <a:endParaRPr lang="en-US"/>
          </a:p>
        </p:txBody>
      </p:sp>
    </p:spTree>
    <p:extLst>
      <p:ext uri="{BB962C8B-B14F-4D97-AF65-F5344CB8AC3E}">
        <p14:creationId xmlns:p14="http://schemas.microsoft.com/office/powerpoint/2010/main" val="40983027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034DB-E3F7-0296-A507-642A9BA70F4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109E0D0-A1B6-BE86-8417-3C51898C3A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E8D5974-B041-254A-DF1B-99896D10D7AA}"/>
              </a:ext>
            </a:extLst>
          </p:cNvPr>
          <p:cNvSpPr>
            <a:spLocks noGrp="1"/>
          </p:cNvSpPr>
          <p:nvPr>
            <p:ph type="dt" sz="half" idx="10"/>
          </p:nvPr>
        </p:nvSpPr>
        <p:spPr/>
        <p:txBody>
          <a:bodyPr/>
          <a:lstStyle/>
          <a:p>
            <a:fld id="{776DC261-C390-1645-94CE-0C58977D651F}" type="datetimeFigureOut">
              <a:rPr lang="en-US" smtClean="0"/>
              <a:t>1/24/2024</a:t>
            </a:fld>
            <a:endParaRPr lang="en-US"/>
          </a:p>
        </p:txBody>
      </p:sp>
      <p:sp>
        <p:nvSpPr>
          <p:cNvPr id="5" name="Footer Placeholder 4">
            <a:extLst>
              <a:ext uri="{FF2B5EF4-FFF2-40B4-BE49-F238E27FC236}">
                <a16:creationId xmlns:a16="http://schemas.microsoft.com/office/drawing/2014/main" id="{C753E78D-9AB1-7DCE-94DA-B041C5FFAE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D2B39E-4925-373B-534E-553867279E99}"/>
              </a:ext>
            </a:extLst>
          </p:cNvPr>
          <p:cNvSpPr>
            <a:spLocks noGrp="1"/>
          </p:cNvSpPr>
          <p:nvPr>
            <p:ph type="sldNum" sz="quarter" idx="12"/>
          </p:nvPr>
        </p:nvSpPr>
        <p:spPr/>
        <p:txBody>
          <a:bodyPr/>
          <a:lstStyle/>
          <a:p>
            <a:fld id="{7347CC22-2B9F-664B-9972-D3B52C865247}" type="slidenum">
              <a:rPr lang="en-US" smtClean="0"/>
              <a:t>‹#›</a:t>
            </a:fld>
            <a:endParaRPr lang="en-US"/>
          </a:p>
        </p:txBody>
      </p:sp>
    </p:spTree>
    <p:extLst>
      <p:ext uri="{BB962C8B-B14F-4D97-AF65-F5344CB8AC3E}">
        <p14:creationId xmlns:p14="http://schemas.microsoft.com/office/powerpoint/2010/main" val="7852565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5CE95-7CA9-3500-2974-644C8D41DCD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AD19DAE-8A07-5795-3535-91B19D3E5B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61D0C3-A51A-D994-3A25-1D16C8B9EFE6}"/>
              </a:ext>
            </a:extLst>
          </p:cNvPr>
          <p:cNvSpPr>
            <a:spLocks noGrp="1"/>
          </p:cNvSpPr>
          <p:nvPr>
            <p:ph type="dt" sz="half" idx="10"/>
          </p:nvPr>
        </p:nvSpPr>
        <p:spPr/>
        <p:txBody>
          <a:bodyPr/>
          <a:lstStyle/>
          <a:p>
            <a:fld id="{776DC261-C390-1645-94CE-0C58977D651F}" type="datetimeFigureOut">
              <a:rPr lang="en-US" smtClean="0"/>
              <a:t>1/24/2024</a:t>
            </a:fld>
            <a:endParaRPr lang="en-US"/>
          </a:p>
        </p:txBody>
      </p:sp>
      <p:sp>
        <p:nvSpPr>
          <p:cNvPr id="5" name="Footer Placeholder 4">
            <a:extLst>
              <a:ext uri="{FF2B5EF4-FFF2-40B4-BE49-F238E27FC236}">
                <a16:creationId xmlns:a16="http://schemas.microsoft.com/office/drawing/2014/main" id="{9600C2EE-6AEC-B06E-3BFA-42F2578EFA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65E7B5-721A-4315-3C8B-50641A76109D}"/>
              </a:ext>
            </a:extLst>
          </p:cNvPr>
          <p:cNvSpPr>
            <a:spLocks noGrp="1"/>
          </p:cNvSpPr>
          <p:nvPr>
            <p:ph type="sldNum" sz="quarter" idx="12"/>
          </p:nvPr>
        </p:nvSpPr>
        <p:spPr/>
        <p:txBody>
          <a:bodyPr/>
          <a:lstStyle/>
          <a:p>
            <a:fld id="{7347CC22-2B9F-664B-9972-D3B52C865247}" type="slidenum">
              <a:rPr lang="en-US" smtClean="0"/>
              <a:t>‹#›</a:t>
            </a:fld>
            <a:endParaRPr lang="en-US"/>
          </a:p>
        </p:txBody>
      </p:sp>
    </p:spTree>
    <p:extLst>
      <p:ext uri="{BB962C8B-B14F-4D97-AF65-F5344CB8AC3E}">
        <p14:creationId xmlns:p14="http://schemas.microsoft.com/office/powerpoint/2010/main" val="20952656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84375-EAD2-B0DE-E8FB-23E1F779832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D862338-4C32-8214-631B-0715CEF209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5CA2AB5-E745-BFCE-0DFB-652E4FCC6C75}"/>
              </a:ext>
            </a:extLst>
          </p:cNvPr>
          <p:cNvSpPr>
            <a:spLocks noGrp="1"/>
          </p:cNvSpPr>
          <p:nvPr>
            <p:ph type="dt" sz="half" idx="10"/>
          </p:nvPr>
        </p:nvSpPr>
        <p:spPr/>
        <p:txBody>
          <a:bodyPr/>
          <a:lstStyle/>
          <a:p>
            <a:fld id="{776DC261-C390-1645-94CE-0C58977D651F}" type="datetimeFigureOut">
              <a:rPr lang="en-US" smtClean="0"/>
              <a:t>1/24/2024</a:t>
            </a:fld>
            <a:endParaRPr lang="en-US"/>
          </a:p>
        </p:txBody>
      </p:sp>
      <p:sp>
        <p:nvSpPr>
          <p:cNvPr id="5" name="Footer Placeholder 4">
            <a:extLst>
              <a:ext uri="{FF2B5EF4-FFF2-40B4-BE49-F238E27FC236}">
                <a16:creationId xmlns:a16="http://schemas.microsoft.com/office/drawing/2014/main" id="{E0A2B1D9-28F4-D8F6-3180-B5544D8FD6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4A5ED8-1370-9A02-509F-703055ECC5C4}"/>
              </a:ext>
            </a:extLst>
          </p:cNvPr>
          <p:cNvSpPr>
            <a:spLocks noGrp="1"/>
          </p:cNvSpPr>
          <p:nvPr>
            <p:ph type="sldNum" sz="quarter" idx="12"/>
          </p:nvPr>
        </p:nvSpPr>
        <p:spPr/>
        <p:txBody>
          <a:bodyPr/>
          <a:lstStyle/>
          <a:p>
            <a:fld id="{7347CC22-2B9F-664B-9972-D3B52C865247}" type="slidenum">
              <a:rPr lang="en-US" smtClean="0"/>
              <a:t>‹#›</a:t>
            </a:fld>
            <a:endParaRPr lang="en-US"/>
          </a:p>
        </p:txBody>
      </p:sp>
    </p:spTree>
    <p:extLst>
      <p:ext uri="{BB962C8B-B14F-4D97-AF65-F5344CB8AC3E}">
        <p14:creationId xmlns:p14="http://schemas.microsoft.com/office/powerpoint/2010/main" val="18614911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E62DE-AAB4-3C42-10E8-D9A482FBA8E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21DDAF-6D4E-216F-7D43-8DA6A51B401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E6C7A28-7845-6658-3EEE-DD4DB51F5DE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165AA39-0CDB-6A71-1EA1-54ECB601D483}"/>
              </a:ext>
            </a:extLst>
          </p:cNvPr>
          <p:cNvSpPr>
            <a:spLocks noGrp="1"/>
          </p:cNvSpPr>
          <p:nvPr>
            <p:ph type="dt" sz="half" idx="10"/>
          </p:nvPr>
        </p:nvSpPr>
        <p:spPr/>
        <p:txBody>
          <a:bodyPr/>
          <a:lstStyle/>
          <a:p>
            <a:fld id="{776DC261-C390-1645-94CE-0C58977D651F}" type="datetimeFigureOut">
              <a:rPr lang="en-US" smtClean="0"/>
              <a:t>1/24/2024</a:t>
            </a:fld>
            <a:endParaRPr lang="en-US"/>
          </a:p>
        </p:txBody>
      </p:sp>
      <p:sp>
        <p:nvSpPr>
          <p:cNvPr id="6" name="Footer Placeholder 5">
            <a:extLst>
              <a:ext uri="{FF2B5EF4-FFF2-40B4-BE49-F238E27FC236}">
                <a16:creationId xmlns:a16="http://schemas.microsoft.com/office/drawing/2014/main" id="{D62B0B6F-E7C2-944E-1C7E-9D256BE68C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07A67D-5617-AB2A-3BA5-68C7B9FB3A6E}"/>
              </a:ext>
            </a:extLst>
          </p:cNvPr>
          <p:cNvSpPr>
            <a:spLocks noGrp="1"/>
          </p:cNvSpPr>
          <p:nvPr>
            <p:ph type="sldNum" sz="quarter" idx="12"/>
          </p:nvPr>
        </p:nvSpPr>
        <p:spPr/>
        <p:txBody>
          <a:bodyPr/>
          <a:lstStyle/>
          <a:p>
            <a:fld id="{7347CC22-2B9F-664B-9972-D3B52C865247}" type="slidenum">
              <a:rPr lang="en-US" smtClean="0"/>
              <a:t>‹#›</a:t>
            </a:fld>
            <a:endParaRPr lang="en-US"/>
          </a:p>
        </p:txBody>
      </p:sp>
    </p:spTree>
    <p:extLst>
      <p:ext uri="{BB962C8B-B14F-4D97-AF65-F5344CB8AC3E}">
        <p14:creationId xmlns:p14="http://schemas.microsoft.com/office/powerpoint/2010/main" val="2421421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3FA5B-004E-4258-3D93-9FC31347781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61ABC08-73F7-C783-DBE6-59D2140F0F7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DBADFAB-D7B3-44FA-D8F4-27A7F7F6731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CF6222-5B25-D3DB-6D2D-AB18DAC7FC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F50F3FD-D096-3EC5-829E-6F7D6038379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CD35459-7799-298A-C14A-1D2497312D2D}"/>
              </a:ext>
            </a:extLst>
          </p:cNvPr>
          <p:cNvSpPr>
            <a:spLocks noGrp="1"/>
          </p:cNvSpPr>
          <p:nvPr>
            <p:ph type="dt" sz="half" idx="10"/>
          </p:nvPr>
        </p:nvSpPr>
        <p:spPr/>
        <p:txBody>
          <a:bodyPr/>
          <a:lstStyle/>
          <a:p>
            <a:fld id="{776DC261-C390-1645-94CE-0C58977D651F}" type="datetimeFigureOut">
              <a:rPr lang="en-US" smtClean="0"/>
              <a:t>1/24/2024</a:t>
            </a:fld>
            <a:endParaRPr lang="en-US"/>
          </a:p>
        </p:txBody>
      </p:sp>
      <p:sp>
        <p:nvSpPr>
          <p:cNvPr id="8" name="Footer Placeholder 7">
            <a:extLst>
              <a:ext uri="{FF2B5EF4-FFF2-40B4-BE49-F238E27FC236}">
                <a16:creationId xmlns:a16="http://schemas.microsoft.com/office/drawing/2014/main" id="{15EC77DA-298F-61F8-4ACD-6855426005E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4BE2D29-1AD3-FDB5-07A6-E4312539D260}"/>
              </a:ext>
            </a:extLst>
          </p:cNvPr>
          <p:cNvSpPr>
            <a:spLocks noGrp="1"/>
          </p:cNvSpPr>
          <p:nvPr>
            <p:ph type="sldNum" sz="quarter" idx="12"/>
          </p:nvPr>
        </p:nvSpPr>
        <p:spPr/>
        <p:txBody>
          <a:bodyPr/>
          <a:lstStyle/>
          <a:p>
            <a:fld id="{7347CC22-2B9F-664B-9972-D3B52C865247}" type="slidenum">
              <a:rPr lang="en-US" smtClean="0"/>
              <a:t>‹#›</a:t>
            </a:fld>
            <a:endParaRPr lang="en-US"/>
          </a:p>
        </p:txBody>
      </p:sp>
    </p:spTree>
    <p:extLst>
      <p:ext uri="{BB962C8B-B14F-4D97-AF65-F5344CB8AC3E}">
        <p14:creationId xmlns:p14="http://schemas.microsoft.com/office/powerpoint/2010/main" val="13096304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62844-C555-0D15-B685-53236331398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41C2D36-D183-5A60-3602-66BC23A6F0BB}"/>
              </a:ext>
            </a:extLst>
          </p:cNvPr>
          <p:cNvSpPr>
            <a:spLocks noGrp="1"/>
          </p:cNvSpPr>
          <p:nvPr>
            <p:ph type="dt" sz="half" idx="10"/>
          </p:nvPr>
        </p:nvSpPr>
        <p:spPr/>
        <p:txBody>
          <a:bodyPr/>
          <a:lstStyle/>
          <a:p>
            <a:fld id="{776DC261-C390-1645-94CE-0C58977D651F}" type="datetimeFigureOut">
              <a:rPr lang="en-US" smtClean="0"/>
              <a:t>1/24/2024</a:t>
            </a:fld>
            <a:endParaRPr lang="en-US"/>
          </a:p>
        </p:txBody>
      </p:sp>
      <p:sp>
        <p:nvSpPr>
          <p:cNvPr id="4" name="Footer Placeholder 3">
            <a:extLst>
              <a:ext uri="{FF2B5EF4-FFF2-40B4-BE49-F238E27FC236}">
                <a16:creationId xmlns:a16="http://schemas.microsoft.com/office/drawing/2014/main" id="{A923A211-C5CF-949A-7B44-CF4CE3D3995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7DDBD10-DDAB-6162-E206-33BCEFC19DFC}"/>
              </a:ext>
            </a:extLst>
          </p:cNvPr>
          <p:cNvSpPr>
            <a:spLocks noGrp="1"/>
          </p:cNvSpPr>
          <p:nvPr>
            <p:ph type="sldNum" sz="quarter" idx="12"/>
          </p:nvPr>
        </p:nvSpPr>
        <p:spPr/>
        <p:txBody>
          <a:bodyPr/>
          <a:lstStyle/>
          <a:p>
            <a:fld id="{7347CC22-2B9F-664B-9972-D3B52C865247}" type="slidenum">
              <a:rPr lang="en-US" smtClean="0"/>
              <a:t>‹#›</a:t>
            </a:fld>
            <a:endParaRPr lang="en-US"/>
          </a:p>
        </p:txBody>
      </p:sp>
    </p:spTree>
    <p:extLst>
      <p:ext uri="{BB962C8B-B14F-4D97-AF65-F5344CB8AC3E}">
        <p14:creationId xmlns:p14="http://schemas.microsoft.com/office/powerpoint/2010/main" val="10988529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D205F5-24F0-255F-859B-FF7998FB557F}"/>
              </a:ext>
            </a:extLst>
          </p:cNvPr>
          <p:cNvSpPr>
            <a:spLocks noGrp="1"/>
          </p:cNvSpPr>
          <p:nvPr>
            <p:ph type="dt" sz="half" idx="10"/>
          </p:nvPr>
        </p:nvSpPr>
        <p:spPr/>
        <p:txBody>
          <a:bodyPr/>
          <a:lstStyle/>
          <a:p>
            <a:fld id="{776DC261-C390-1645-94CE-0C58977D651F}" type="datetimeFigureOut">
              <a:rPr lang="en-US" smtClean="0"/>
              <a:t>1/24/2024</a:t>
            </a:fld>
            <a:endParaRPr lang="en-US"/>
          </a:p>
        </p:txBody>
      </p:sp>
      <p:sp>
        <p:nvSpPr>
          <p:cNvPr id="3" name="Footer Placeholder 2">
            <a:extLst>
              <a:ext uri="{FF2B5EF4-FFF2-40B4-BE49-F238E27FC236}">
                <a16:creationId xmlns:a16="http://schemas.microsoft.com/office/drawing/2014/main" id="{9072AB1F-B8BF-35D4-4E1C-0B1756D366A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E100493-F9A1-AC76-40F2-ED45BF04BDDD}"/>
              </a:ext>
            </a:extLst>
          </p:cNvPr>
          <p:cNvSpPr>
            <a:spLocks noGrp="1"/>
          </p:cNvSpPr>
          <p:nvPr>
            <p:ph type="sldNum" sz="quarter" idx="12"/>
          </p:nvPr>
        </p:nvSpPr>
        <p:spPr/>
        <p:txBody>
          <a:bodyPr/>
          <a:lstStyle/>
          <a:p>
            <a:fld id="{7347CC22-2B9F-664B-9972-D3B52C865247}" type="slidenum">
              <a:rPr lang="en-US" smtClean="0"/>
              <a:t>‹#›</a:t>
            </a:fld>
            <a:endParaRPr lang="en-US"/>
          </a:p>
        </p:txBody>
      </p:sp>
    </p:spTree>
    <p:extLst>
      <p:ext uri="{BB962C8B-B14F-4D97-AF65-F5344CB8AC3E}">
        <p14:creationId xmlns:p14="http://schemas.microsoft.com/office/powerpoint/2010/main" val="42388857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CDBC6-8157-79B6-7892-06EA7793A6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00D5BD7-99EC-4E9C-11AC-8E31A069FF3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1D397D6-3B66-093A-DAB3-57CFE25914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EF0157-CFFC-FA71-E7AA-57F49001BBDF}"/>
              </a:ext>
            </a:extLst>
          </p:cNvPr>
          <p:cNvSpPr>
            <a:spLocks noGrp="1"/>
          </p:cNvSpPr>
          <p:nvPr>
            <p:ph type="dt" sz="half" idx="10"/>
          </p:nvPr>
        </p:nvSpPr>
        <p:spPr/>
        <p:txBody>
          <a:bodyPr/>
          <a:lstStyle/>
          <a:p>
            <a:fld id="{776DC261-C390-1645-94CE-0C58977D651F}" type="datetimeFigureOut">
              <a:rPr lang="en-US" smtClean="0"/>
              <a:t>1/24/2024</a:t>
            </a:fld>
            <a:endParaRPr lang="en-US"/>
          </a:p>
        </p:txBody>
      </p:sp>
      <p:sp>
        <p:nvSpPr>
          <p:cNvPr id="6" name="Footer Placeholder 5">
            <a:extLst>
              <a:ext uri="{FF2B5EF4-FFF2-40B4-BE49-F238E27FC236}">
                <a16:creationId xmlns:a16="http://schemas.microsoft.com/office/drawing/2014/main" id="{1505D853-16E1-DD2D-5733-4B924FEF91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E57595-CCF3-0810-60EC-6F7A74895AAD}"/>
              </a:ext>
            </a:extLst>
          </p:cNvPr>
          <p:cNvSpPr>
            <a:spLocks noGrp="1"/>
          </p:cNvSpPr>
          <p:nvPr>
            <p:ph type="sldNum" sz="quarter" idx="12"/>
          </p:nvPr>
        </p:nvSpPr>
        <p:spPr/>
        <p:txBody>
          <a:bodyPr/>
          <a:lstStyle/>
          <a:p>
            <a:fld id="{7347CC22-2B9F-664B-9972-D3B52C865247}" type="slidenum">
              <a:rPr lang="en-US" smtClean="0"/>
              <a:t>‹#›</a:t>
            </a:fld>
            <a:endParaRPr lang="en-US"/>
          </a:p>
        </p:txBody>
      </p:sp>
    </p:spTree>
    <p:extLst>
      <p:ext uri="{BB962C8B-B14F-4D97-AF65-F5344CB8AC3E}">
        <p14:creationId xmlns:p14="http://schemas.microsoft.com/office/powerpoint/2010/main" val="24533399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2B5D2-36E8-678A-A0B0-80FF14E0C9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BF2B91C-AEBA-944C-9821-0294FA786B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BEC38A7-88EA-70C6-6E75-37E4F5A4E6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2EFB63-D7E6-23B1-6979-6F8CD3719481}"/>
              </a:ext>
            </a:extLst>
          </p:cNvPr>
          <p:cNvSpPr>
            <a:spLocks noGrp="1"/>
          </p:cNvSpPr>
          <p:nvPr>
            <p:ph type="dt" sz="half" idx="10"/>
          </p:nvPr>
        </p:nvSpPr>
        <p:spPr/>
        <p:txBody>
          <a:bodyPr/>
          <a:lstStyle/>
          <a:p>
            <a:fld id="{776DC261-C390-1645-94CE-0C58977D651F}" type="datetimeFigureOut">
              <a:rPr lang="en-US" smtClean="0"/>
              <a:t>1/24/2024</a:t>
            </a:fld>
            <a:endParaRPr lang="en-US"/>
          </a:p>
        </p:txBody>
      </p:sp>
      <p:sp>
        <p:nvSpPr>
          <p:cNvPr id="6" name="Footer Placeholder 5">
            <a:extLst>
              <a:ext uri="{FF2B5EF4-FFF2-40B4-BE49-F238E27FC236}">
                <a16:creationId xmlns:a16="http://schemas.microsoft.com/office/drawing/2014/main" id="{DDE75B4C-AA3F-F0EE-DCA5-D8C496BE2B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EEF2D4-DF91-ACDE-BCEA-57B38C5480FD}"/>
              </a:ext>
            </a:extLst>
          </p:cNvPr>
          <p:cNvSpPr>
            <a:spLocks noGrp="1"/>
          </p:cNvSpPr>
          <p:nvPr>
            <p:ph type="sldNum" sz="quarter" idx="12"/>
          </p:nvPr>
        </p:nvSpPr>
        <p:spPr/>
        <p:txBody>
          <a:bodyPr/>
          <a:lstStyle/>
          <a:p>
            <a:fld id="{7347CC22-2B9F-664B-9972-D3B52C865247}" type="slidenum">
              <a:rPr lang="en-US" smtClean="0"/>
              <a:t>‹#›</a:t>
            </a:fld>
            <a:endParaRPr lang="en-US"/>
          </a:p>
        </p:txBody>
      </p:sp>
    </p:spTree>
    <p:extLst>
      <p:ext uri="{BB962C8B-B14F-4D97-AF65-F5344CB8AC3E}">
        <p14:creationId xmlns:p14="http://schemas.microsoft.com/office/powerpoint/2010/main" val="5913365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543D5-E31E-D8CA-D561-825BC4D5A09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4854423-2662-85BF-D9A1-4B46239DC32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CF0B84-B1DB-D609-F801-903B712756C9}"/>
              </a:ext>
            </a:extLst>
          </p:cNvPr>
          <p:cNvSpPr>
            <a:spLocks noGrp="1"/>
          </p:cNvSpPr>
          <p:nvPr>
            <p:ph type="dt" sz="half" idx="10"/>
          </p:nvPr>
        </p:nvSpPr>
        <p:spPr/>
        <p:txBody>
          <a:bodyPr/>
          <a:lstStyle/>
          <a:p>
            <a:fld id="{776DC261-C390-1645-94CE-0C58977D651F}" type="datetimeFigureOut">
              <a:rPr lang="en-US" smtClean="0"/>
              <a:t>1/24/2024</a:t>
            </a:fld>
            <a:endParaRPr lang="en-US"/>
          </a:p>
        </p:txBody>
      </p:sp>
      <p:sp>
        <p:nvSpPr>
          <p:cNvPr id="5" name="Footer Placeholder 4">
            <a:extLst>
              <a:ext uri="{FF2B5EF4-FFF2-40B4-BE49-F238E27FC236}">
                <a16:creationId xmlns:a16="http://schemas.microsoft.com/office/drawing/2014/main" id="{7B19BAFF-C543-95A7-0B66-F028146654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EC1945-4C65-019F-90C5-87FD697C4467}"/>
              </a:ext>
            </a:extLst>
          </p:cNvPr>
          <p:cNvSpPr>
            <a:spLocks noGrp="1"/>
          </p:cNvSpPr>
          <p:nvPr>
            <p:ph type="sldNum" sz="quarter" idx="12"/>
          </p:nvPr>
        </p:nvSpPr>
        <p:spPr/>
        <p:txBody>
          <a:bodyPr/>
          <a:lstStyle/>
          <a:p>
            <a:fld id="{7347CC22-2B9F-664B-9972-D3B52C865247}" type="slidenum">
              <a:rPr lang="en-US" smtClean="0"/>
              <a:t>‹#›</a:t>
            </a:fld>
            <a:endParaRPr lang="en-US"/>
          </a:p>
        </p:txBody>
      </p:sp>
    </p:spTree>
    <p:extLst>
      <p:ext uri="{BB962C8B-B14F-4D97-AF65-F5344CB8AC3E}">
        <p14:creationId xmlns:p14="http://schemas.microsoft.com/office/powerpoint/2010/main" val="6748859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7D9F404-61B2-75F0-6F77-9380BC4F99A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B125A70-3775-0EF6-E2DA-C4FAA89AF87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CDE6C2-BC9B-4F60-D179-F775EB67244B}"/>
              </a:ext>
            </a:extLst>
          </p:cNvPr>
          <p:cNvSpPr>
            <a:spLocks noGrp="1"/>
          </p:cNvSpPr>
          <p:nvPr>
            <p:ph type="dt" sz="half" idx="10"/>
          </p:nvPr>
        </p:nvSpPr>
        <p:spPr/>
        <p:txBody>
          <a:bodyPr/>
          <a:lstStyle/>
          <a:p>
            <a:fld id="{776DC261-C390-1645-94CE-0C58977D651F}" type="datetimeFigureOut">
              <a:rPr lang="en-US" smtClean="0"/>
              <a:t>1/24/2024</a:t>
            </a:fld>
            <a:endParaRPr lang="en-US"/>
          </a:p>
        </p:txBody>
      </p:sp>
      <p:sp>
        <p:nvSpPr>
          <p:cNvPr id="5" name="Footer Placeholder 4">
            <a:extLst>
              <a:ext uri="{FF2B5EF4-FFF2-40B4-BE49-F238E27FC236}">
                <a16:creationId xmlns:a16="http://schemas.microsoft.com/office/drawing/2014/main" id="{49807B19-447C-BCB2-CB35-243BA6C6E3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945A2E-05F6-6E15-A201-EC23E62C294C}"/>
              </a:ext>
            </a:extLst>
          </p:cNvPr>
          <p:cNvSpPr>
            <a:spLocks noGrp="1"/>
          </p:cNvSpPr>
          <p:nvPr>
            <p:ph type="sldNum" sz="quarter" idx="12"/>
          </p:nvPr>
        </p:nvSpPr>
        <p:spPr/>
        <p:txBody>
          <a:bodyPr/>
          <a:lstStyle/>
          <a:p>
            <a:fld id="{7347CC22-2B9F-664B-9972-D3B52C865247}" type="slidenum">
              <a:rPr lang="en-US" smtClean="0"/>
              <a:t>‹#›</a:t>
            </a:fld>
            <a:endParaRPr lang="en-US"/>
          </a:p>
        </p:txBody>
      </p:sp>
    </p:spTree>
    <p:extLst>
      <p:ext uri="{BB962C8B-B14F-4D97-AF65-F5344CB8AC3E}">
        <p14:creationId xmlns:p14="http://schemas.microsoft.com/office/powerpoint/2010/main" val="11635857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D994799-D5B1-D8FB-28E8-48D9F9D536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7900CFC-F2D2-0432-F27E-A2B69885D08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DF17AC-A749-3273-CAB4-032BA0255B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6DC261-C390-1645-94CE-0C58977D651F}" type="datetimeFigureOut">
              <a:rPr lang="en-US" smtClean="0"/>
              <a:t>1/24/2024</a:t>
            </a:fld>
            <a:endParaRPr lang="en-US"/>
          </a:p>
        </p:txBody>
      </p:sp>
      <p:sp>
        <p:nvSpPr>
          <p:cNvPr id="5" name="Footer Placeholder 4">
            <a:extLst>
              <a:ext uri="{FF2B5EF4-FFF2-40B4-BE49-F238E27FC236}">
                <a16:creationId xmlns:a16="http://schemas.microsoft.com/office/drawing/2014/main" id="{E556420E-F277-CA8F-2306-963C8327A2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E5201BE-2B4C-FA6B-4BCB-88404CAB8F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47CC22-2B9F-664B-9972-D3B52C865247}" type="slidenum">
              <a:rPr lang="en-US" smtClean="0"/>
              <a:t>‹#›</a:t>
            </a:fld>
            <a:endParaRPr lang="en-US"/>
          </a:p>
        </p:txBody>
      </p:sp>
    </p:spTree>
    <p:extLst>
      <p:ext uri="{BB962C8B-B14F-4D97-AF65-F5344CB8AC3E}">
        <p14:creationId xmlns:p14="http://schemas.microsoft.com/office/powerpoint/2010/main" val="2956242486"/>
      </p:ext>
    </p:extLst>
  </p:cSld>
  <p:clrMap bg1="lt1" tx1="dk1" bg2="lt2" tx2="dk2" accent1="accent1" accent2="accent2" accent3="accent3" accent4="accent4" accent5="accent5" accent6="accent6" hlink="hlink" folHlink="folHlink"/>
  <p:sldLayoutIdLst>
    <p:sldLayoutId id="2147483842" r:id="rId1"/>
    <p:sldLayoutId id="2147483843" r:id="rId2"/>
    <p:sldLayoutId id="2147483844" r:id="rId3"/>
    <p:sldLayoutId id="2147483845" r:id="rId4"/>
    <p:sldLayoutId id="2147483846" r:id="rId5"/>
    <p:sldLayoutId id="2147483847" r:id="rId6"/>
    <p:sldLayoutId id="2147483848" r:id="rId7"/>
    <p:sldLayoutId id="2147483849" r:id="rId8"/>
    <p:sldLayoutId id="2147483850" r:id="rId9"/>
    <p:sldLayoutId id="2147483851" r:id="rId10"/>
    <p:sldLayoutId id="214748385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act.thinkwork.org/"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1.xml.rels><?xml version="1.0" encoding="UTF-8" standalone="yes"?>
<Relationships xmlns="http://schemas.openxmlformats.org/package/2006/relationships"><Relationship Id="rId8" Type="http://schemas.openxmlformats.org/officeDocument/2006/relationships/diagramData" Target="../diagrams/data4.xml"/><Relationship Id="rId3" Type="http://schemas.openxmlformats.org/officeDocument/2006/relationships/diagramData" Target="../diagrams/data3.xml"/><Relationship Id="rId7" Type="http://schemas.microsoft.com/office/2007/relationships/diagramDrawing" Target="../diagrams/drawing3.xml"/><Relationship Id="rId12" Type="http://schemas.microsoft.com/office/2007/relationships/diagramDrawing" Target="../diagrams/drawing4.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3.xml"/><Relationship Id="rId11" Type="http://schemas.openxmlformats.org/officeDocument/2006/relationships/diagramColors" Target="../diagrams/colors4.xml"/><Relationship Id="rId5" Type="http://schemas.openxmlformats.org/officeDocument/2006/relationships/diagramQuickStyle" Target="../diagrams/quickStyle3.xml"/><Relationship Id="rId10" Type="http://schemas.openxmlformats.org/officeDocument/2006/relationships/diagramQuickStyle" Target="../diagrams/quickStyle4.xml"/><Relationship Id="rId4" Type="http://schemas.openxmlformats.org/officeDocument/2006/relationships/diagramLayout" Target="../diagrams/layout3.xml"/><Relationship Id="rId9" Type="http://schemas.openxmlformats.org/officeDocument/2006/relationships/diagramLayout" Target="../diagrams/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3.sv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hyperlink" Target="https://mti.ici.umn.edu/trainings"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hyperlink" Target="https://mti.ici.umn.edu/mti-newsletter" TargetMode="Externa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hyperlink" Target="https://www.nationaldisabilityinstitute.org/employment/discovery-and-customized-employment/#:~:text=Discovery%20is%20the%20foundation%20of,who%20experience%20barriers%20to%20employment" TargetMode="External"/><Relationship Id="rId5" Type="http://schemas.openxmlformats.org/officeDocument/2006/relationships/hyperlink" Target="https://mn.gov/deed/job-seekers/disabilities/partners/guide/contracted-services/services/customized/" TargetMode="External"/><Relationship Id="rId4" Type="http://schemas.openxmlformats.org/officeDocument/2006/relationships/hyperlink" Target="https://public.govdelivery.com/accounts/MNDEED/subscriber/new?topic_id=MNDEED_111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9">
            <a:extLst>
              <a:ext uri="{FF2B5EF4-FFF2-40B4-BE49-F238E27FC236}">
                <a16:creationId xmlns:a16="http://schemas.microsoft.com/office/drawing/2014/main" id="{6FD2B106-31C7-446F-B4D3-C9EE8CEB5B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1" y="0"/>
            <a:ext cx="12191996" cy="6858000"/>
          </a:xfrm>
          <a:prstGeom prst="rect">
            <a:avLst/>
          </a:prstGeom>
          <a:ln w="0">
            <a:noFill/>
            <a:prstDash val="solid"/>
            <a:round/>
            <a:headEnd/>
            <a:tailEnd/>
          </a:ln>
        </p:spPr>
        <p:txBody>
          <a:bodyPr rtlCol="0" anchor="ctr"/>
          <a:lstStyle/>
          <a:p>
            <a:pPr algn="ctr" defTabSz="457200"/>
            <a:endParaRPr lang="en-US">
              <a:solidFill>
                <a:schemeClr val="tx1"/>
              </a:solidFill>
            </a:endParaRPr>
          </a:p>
        </p:txBody>
      </p:sp>
      <p:sp>
        <p:nvSpPr>
          <p:cNvPr id="19" name="Rectangle 11">
            <a:extLst>
              <a:ext uri="{FF2B5EF4-FFF2-40B4-BE49-F238E27FC236}">
                <a16:creationId xmlns:a16="http://schemas.microsoft.com/office/drawing/2014/main" id="{1D7678B8-0AAC-460B-8CDB-C43156BBAA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1" y="0"/>
            <a:ext cx="12191996" cy="6858000"/>
          </a:xfrm>
          <a:prstGeom prst="rect">
            <a:avLst/>
          </a:prstGeom>
          <a:solidFill>
            <a:schemeClr val="accent1">
              <a:lumMod val="50000"/>
              <a:alpha val="25000"/>
            </a:schemeClr>
          </a:solidFill>
          <a:ln w="0">
            <a:noFill/>
            <a:prstDash val="solid"/>
            <a:round/>
            <a:headEnd/>
            <a:tailEnd/>
          </a:ln>
        </p:spPr>
        <p:txBody>
          <a:bodyPr rtlCol="0" anchor="ctr"/>
          <a:lstStyle/>
          <a:p>
            <a:pPr algn="ctr" defTabSz="457200"/>
            <a:endParaRPr lang="en-US">
              <a:solidFill>
                <a:schemeClr val="tx1"/>
              </a:solidFill>
            </a:endParaRPr>
          </a:p>
        </p:txBody>
      </p:sp>
      <p:sp>
        <p:nvSpPr>
          <p:cNvPr id="2" name="Title 1">
            <a:extLst>
              <a:ext uri="{FF2B5EF4-FFF2-40B4-BE49-F238E27FC236}">
                <a16:creationId xmlns:a16="http://schemas.microsoft.com/office/drawing/2014/main" id="{C6B1D0B5-B6EE-02B9-E1F5-DAB7E0B45595}"/>
              </a:ext>
            </a:extLst>
          </p:cNvPr>
          <p:cNvSpPr>
            <a:spLocks noGrp="1"/>
          </p:cNvSpPr>
          <p:nvPr>
            <p:ph type="ctrTitle"/>
          </p:nvPr>
        </p:nvSpPr>
        <p:spPr>
          <a:xfrm>
            <a:off x="766761" y="643468"/>
            <a:ext cx="5292727" cy="4242858"/>
          </a:xfrm>
        </p:spPr>
        <p:txBody>
          <a:bodyPr anchor="b">
            <a:normAutofit/>
          </a:bodyPr>
          <a:lstStyle/>
          <a:p>
            <a:pPr algn="l"/>
            <a:r>
              <a:rPr lang="en-US" sz="8100"/>
              <a:t>MTI Community of Practice	</a:t>
            </a:r>
          </a:p>
        </p:txBody>
      </p:sp>
      <p:sp>
        <p:nvSpPr>
          <p:cNvPr id="20" name="Freeform 6">
            <a:extLst>
              <a:ext uri="{FF2B5EF4-FFF2-40B4-BE49-F238E27FC236}">
                <a16:creationId xmlns:a16="http://schemas.microsoft.com/office/drawing/2014/main" id="{1F0D9B0E-E48B-450C-9134-0435D96D0B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502207" y="61344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rgbClr val="FFFFFF"/>
          </a:solidFill>
          <a:ln w="0">
            <a:noFill/>
            <a:prstDash val="solid"/>
            <a:round/>
            <a:headEnd/>
            <a:tailEnd/>
          </a:ln>
        </p:spPr>
        <p:txBody>
          <a:bodyPr/>
          <a:lstStyle/>
          <a:p>
            <a:endParaRPr lang="en-US"/>
          </a:p>
        </p:txBody>
      </p:sp>
      <p:pic>
        <p:nvPicPr>
          <p:cNvPr id="5" name="Picture 4" descr="Logo&#10;&#10;Description automatically generated with medium confidence">
            <a:extLst>
              <a:ext uri="{FF2B5EF4-FFF2-40B4-BE49-F238E27FC236}">
                <a16:creationId xmlns:a16="http://schemas.microsoft.com/office/drawing/2014/main" id="{6C098842-16A1-4559-0354-E2EDE2C6CE87}"/>
              </a:ext>
            </a:extLst>
          </p:cNvPr>
          <p:cNvPicPr>
            <a:picLocks noChangeAspect="1"/>
          </p:cNvPicPr>
          <p:nvPr/>
        </p:nvPicPr>
        <p:blipFill>
          <a:blip r:embed="rId3"/>
          <a:stretch>
            <a:fillRect/>
          </a:stretch>
        </p:blipFill>
        <p:spPr>
          <a:xfrm>
            <a:off x="7499994" y="2425724"/>
            <a:ext cx="3240000" cy="1604668"/>
          </a:xfrm>
          <a:prstGeom prst="rect">
            <a:avLst/>
          </a:prstGeom>
        </p:spPr>
      </p:pic>
      <p:sp>
        <p:nvSpPr>
          <p:cNvPr id="6" name="Subtitle 5">
            <a:extLst>
              <a:ext uri="{FF2B5EF4-FFF2-40B4-BE49-F238E27FC236}">
                <a16:creationId xmlns:a16="http://schemas.microsoft.com/office/drawing/2014/main" id="{15C7C71C-60A9-FB0E-1990-6B244FD85806}"/>
              </a:ext>
            </a:extLst>
          </p:cNvPr>
          <p:cNvSpPr>
            <a:spLocks noGrp="1"/>
          </p:cNvSpPr>
          <p:nvPr>
            <p:ph type="subTitle" idx="1"/>
          </p:nvPr>
        </p:nvSpPr>
        <p:spPr>
          <a:xfrm>
            <a:off x="406400" y="5126038"/>
            <a:ext cx="9154160" cy="1432242"/>
          </a:xfrm>
        </p:spPr>
        <p:txBody>
          <a:bodyPr vert="horz" lIns="91440" tIns="45720" rIns="91440" bIns="45720" rtlCol="0" anchor="t">
            <a:normAutofit/>
          </a:bodyPr>
          <a:lstStyle/>
          <a:p>
            <a:pPr algn="l"/>
            <a:r>
              <a:rPr lang="en-US">
                <a:ea typeface="Calibri"/>
                <a:cs typeface="Calibri"/>
              </a:rPr>
              <a:t>Transformation: Finances and Allocation of Resources</a:t>
            </a:r>
          </a:p>
          <a:p>
            <a:pPr algn="l"/>
            <a:r>
              <a:rPr lang="en-US">
                <a:ea typeface="Calibri"/>
                <a:cs typeface="Calibri"/>
              </a:rPr>
              <a:t>January 24, 2024</a:t>
            </a:r>
          </a:p>
        </p:txBody>
      </p:sp>
    </p:spTree>
    <p:extLst>
      <p:ext uri="{BB962C8B-B14F-4D97-AF65-F5344CB8AC3E}">
        <p14:creationId xmlns:p14="http://schemas.microsoft.com/office/powerpoint/2010/main" val="36362529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7">
            <a:extLst>
              <a:ext uri="{FF2B5EF4-FFF2-40B4-BE49-F238E27FC236}">
                <a16:creationId xmlns:a16="http://schemas.microsoft.com/office/drawing/2014/main" id="{E8BF0C67-DF85-430A-B677-74D9594394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1" y="0"/>
            <a:ext cx="12191996" cy="6858000"/>
          </a:xfrm>
          <a:prstGeom prst="rect">
            <a:avLst/>
          </a:prstGeom>
          <a:solidFill>
            <a:srgbClr val="FFFFFF"/>
          </a:solidFill>
          <a:ln w="0">
            <a:noFill/>
            <a:prstDash val="solid"/>
            <a:round/>
            <a:headEnd/>
            <a:tailEnd/>
          </a:ln>
        </p:spPr>
        <p:txBody>
          <a:bodyPr rtlCol="0" anchor="ctr"/>
          <a:lstStyle/>
          <a:p>
            <a:pPr algn="ctr" defTabSz="457200"/>
            <a:endParaRPr lang="en-US">
              <a:solidFill>
                <a:schemeClr val="tx1"/>
              </a:solidFill>
            </a:endParaRPr>
          </a:p>
        </p:txBody>
      </p:sp>
      <p:sp>
        <p:nvSpPr>
          <p:cNvPr id="19" name="Rectangle 9">
            <a:extLst>
              <a:ext uri="{FF2B5EF4-FFF2-40B4-BE49-F238E27FC236}">
                <a16:creationId xmlns:a16="http://schemas.microsoft.com/office/drawing/2014/main" id="{751BAC80-2398-422A-9AA2-2489F01EF9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1" y="0"/>
            <a:ext cx="12191996" cy="6858000"/>
          </a:xfrm>
          <a:prstGeom prst="rect">
            <a:avLst/>
          </a:prstGeom>
          <a:solidFill>
            <a:schemeClr val="accent1">
              <a:lumMod val="50000"/>
              <a:alpha val="25000"/>
            </a:schemeClr>
          </a:solidFill>
          <a:ln w="0">
            <a:noFill/>
            <a:prstDash val="solid"/>
            <a:round/>
            <a:headEnd/>
            <a:tailEnd/>
          </a:ln>
        </p:spPr>
        <p:txBody>
          <a:bodyPr wrap="square" rtlCol="0" anchor="ctr">
            <a:noAutofit/>
          </a:bodyPr>
          <a:lstStyle/>
          <a:p>
            <a:pPr algn="ctr"/>
            <a:endParaRPr lang="en-US"/>
          </a:p>
        </p:txBody>
      </p:sp>
      <p:sp useBgFill="1">
        <p:nvSpPr>
          <p:cNvPr id="20" name="Freeform: Shape 11">
            <a:extLst>
              <a:ext uri="{FF2B5EF4-FFF2-40B4-BE49-F238E27FC236}">
                <a16:creationId xmlns:a16="http://schemas.microsoft.com/office/drawing/2014/main" id="{34A3EF12-7620-4D66-ACFC-B9F71BAD87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96401" y="0"/>
            <a:ext cx="10095599" cy="6858000"/>
          </a:xfrm>
          <a:custGeom>
            <a:avLst/>
            <a:gdLst>
              <a:gd name="connsiteX0" fmla="*/ 0 w 10095599"/>
              <a:gd name="connsiteY0" fmla="*/ 0 h 6858000"/>
              <a:gd name="connsiteX1" fmla="*/ 7448352 w 10095599"/>
              <a:gd name="connsiteY1" fmla="*/ 0 h 6858000"/>
              <a:gd name="connsiteX2" fmla="*/ 9446485 w 10095599"/>
              <a:gd name="connsiteY2" fmla="*/ 0 h 6858000"/>
              <a:gd name="connsiteX3" fmla="*/ 10095599 w 10095599"/>
              <a:gd name="connsiteY3" fmla="*/ 0 h 6858000"/>
              <a:gd name="connsiteX4" fmla="*/ 10095599 w 10095599"/>
              <a:gd name="connsiteY4" fmla="*/ 6858000 h 6858000"/>
              <a:gd name="connsiteX5" fmla="*/ 9446485 w 10095599"/>
              <a:gd name="connsiteY5" fmla="*/ 6858000 h 6858000"/>
              <a:gd name="connsiteX6" fmla="*/ 7448352 w 10095599"/>
              <a:gd name="connsiteY6" fmla="*/ 6858000 h 6858000"/>
              <a:gd name="connsiteX7" fmla="*/ 0 w 10095599"/>
              <a:gd name="connsiteY7" fmla="*/ 6858000 h 6858000"/>
              <a:gd name="connsiteX8" fmla="*/ 1587 w 10095599"/>
              <a:gd name="connsiteY8" fmla="*/ 6789738 h 6858000"/>
              <a:gd name="connsiteX9" fmla="*/ 9525 w 10095599"/>
              <a:gd name="connsiteY9" fmla="*/ 6729413 h 6858000"/>
              <a:gd name="connsiteX10" fmla="*/ 20637 w 10095599"/>
              <a:gd name="connsiteY10" fmla="*/ 6677025 h 6858000"/>
              <a:gd name="connsiteX11" fmla="*/ 34925 w 10095599"/>
              <a:gd name="connsiteY11" fmla="*/ 6630988 h 6858000"/>
              <a:gd name="connsiteX12" fmla="*/ 50800 w 10095599"/>
              <a:gd name="connsiteY12" fmla="*/ 6589713 h 6858000"/>
              <a:gd name="connsiteX13" fmla="*/ 69850 w 10095599"/>
              <a:gd name="connsiteY13" fmla="*/ 6553200 h 6858000"/>
              <a:gd name="connsiteX14" fmla="*/ 88900 w 10095599"/>
              <a:gd name="connsiteY14" fmla="*/ 6515100 h 6858000"/>
              <a:gd name="connsiteX15" fmla="*/ 107950 w 10095599"/>
              <a:gd name="connsiteY15" fmla="*/ 6477000 h 6858000"/>
              <a:gd name="connsiteX16" fmla="*/ 123825 w 10095599"/>
              <a:gd name="connsiteY16" fmla="*/ 6440488 h 6858000"/>
              <a:gd name="connsiteX17" fmla="*/ 139700 w 10095599"/>
              <a:gd name="connsiteY17" fmla="*/ 6399213 h 6858000"/>
              <a:gd name="connsiteX18" fmla="*/ 155575 w 10095599"/>
              <a:gd name="connsiteY18" fmla="*/ 6353175 h 6858000"/>
              <a:gd name="connsiteX19" fmla="*/ 166687 w 10095599"/>
              <a:gd name="connsiteY19" fmla="*/ 6300788 h 6858000"/>
              <a:gd name="connsiteX20" fmla="*/ 173037 w 10095599"/>
              <a:gd name="connsiteY20" fmla="*/ 6240463 h 6858000"/>
              <a:gd name="connsiteX21" fmla="*/ 176212 w 10095599"/>
              <a:gd name="connsiteY21" fmla="*/ 6172200 h 6858000"/>
              <a:gd name="connsiteX22" fmla="*/ 173037 w 10095599"/>
              <a:gd name="connsiteY22" fmla="*/ 6103938 h 6858000"/>
              <a:gd name="connsiteX23" fmla="*/ 166687 w 10095599"/>
              <a:gd name="connsiteY23" fmla="*/ 6043613 h 6858000"/>
              <a:gd name="connsiteX24" fmla="*/ 155575 w 10095599"/>
              <a:gd name="connsiteY24" fmla="*/ 5991225 h 6858000"/>
              <a:gd name="connsiteX25" fmla="*/ 139700 w 10095599"/>
              <a:gd name="connsiteY25" fmla="*/ 5945188 h 6858000"/>
              <a:gd name="connsiteX26" fmla="*/ 123825 w 10095599"/>
              <a:gd name="connsiteY26" fmla="*/ 5903913 h 6858000"/>
              <a:gd name="connsiteX27" fmla="*/ 107950 w 10095599"/>
              <a:gd name="connsiteY27" fmla="*/ 5867400 h 6858000"/>
              <a:gd name="connsiteX28" fmla="*/ 88900 w 10095599"/>
              <a:gd name="connsiteY28" fmla="*/ 5829300 h 6858000"/>
              <a:gd name="connsiteX29" fmla="*/ 69850 w 10095599"/>
              <a:gd name="connsiteY29" fmla="*/ 5791200 h 6858000"/>
              <a:gd name="connsiteX30" fmla="*/ 50800 w 10095599"/>
              <a:gd name="connsiteY30" fmla="*/ 5754688 h 6858000"/>
              <a:gd name="connsiteX31" fmla="*/ 34925 w 10095599"/>
              <a:gd name="connsiteY31" fmla="*/ 5713413 h 6858000"/>
              <a:gd name="connsiteX32" fmla="*/ 20637 w 10095599"/>
              <a:gd name="connsiteY32" fmla="*/ 5667375 h 6858000"/>
              <a:gd name="connsiteX33" fmla="*/ 9525 w 10095599"/>
              <a:gd name="connsiteY33" fmla="*/ 5614988 h 6858000"/>
              <a:gd name="connsiteX34" fmla="*/ 1587 w 10095599"/>
              <a:gd name="connsiteY34" fmla="*/ 5554663 h 6858000"/>
              <a:gd name="connsiteX35" fmla="*/ 0 w 10095599"/>
              <a:gd name="connsiteY35" fmla="*/ 5486400 h 6858000"/>
              <a:gd name="connsiteX36" fmla="*/ 1587 w 10095599"/>
              <a:gd name="connsiteY36" fmla="*/ 5418138 h 6858000"/>
              <a:gd name="connsiteX37" fmla="*/ 9525 w 10095599"/>
              <a:gd name="connsiteY37" fmla="*/ 5357813 h 6858000"/>
              <a:gd name="connsiteX38" fmla="*/ 20637 w 10095599"/>
              <a:gd name="connsiteY38" fmla="*/ 5305425 h 6858000"/>
              <a:gd name="connsiteX39" fmla="*/ 34925 w 10095599"/>
              <a:gd name="connsiteY39" fmla="*/ 5259388 h 6858000"/>
              <a:gd name="connsiteX40" fmla="*/ 50800 w 10095599"/>
              <a:gd name="connsiteY40" fmla="*/ 5218113 h 6858000"/>
              <a:gd name="connsiteX41" fmla="*/ 69850 w 10095599"/>
              <a:gd name="connsiteY41" fmla="*/ 5181600 h 6858000"/>
              <a:gd name="connsiteX42" fmla="*/ 88900 w 10095599"/>
              <a:gd name="connsiteY42" fmla="*/ 5143500 h 6858000"/>
              <a:gd name="connsiteX43" fmla="*/ 107950 w 10095599"/>
              <a:gd name="connsiteY43" fmla="*/ 5105400 h 6858000"/>
              <a:gd name="connsiteX44" fmla="*/ 123825 w 10095599"/>
              <a:gd name="connsiteY44" fmla="*/ 5068888 h 6858000"/>
              <a:gd name="connsiteX45" fmla="*/ 139700 w 10095599"/>
              <a:gd name="connsiteY45" fmla="*/ 5027613 h 6858000"/>
              <a:gd name="connsiteX46" fmla="*/ 155575 w 10095599"/>
              <a:gd name="connsiteY46" fmla="*/ 4981575 h 6858000"/>
              <a:gd name="connsiteX47" fmla="*/ 166687 w 10095599"/>
              <a:gd name="connsiteY47" fmla="*/ 4929188 h 6858000"/>
              <a:gd name="connsiteX48" fmla="*/ 173037 w 10095599"/>
              <a:gd name="connsiteY48" fmla="*/ 4868863 h 6858000"/>
              <a:gd name="connsiteX49" fmla="*/ 176212 w 10095599"/>
              <a:gd name="connsiteY49" fmla="*/ 4800600 h 6858000"/>
              <a:gd name="connsiteX50" fmla="*/ 173037 w 10095599"/>
              <a:gd name="connsiteY50" fmla="*/ 4732338 h 6858000"/>
              <a:gd name="connsiteX51" fmla="*/ 166687 w 10095599"/>
              <a:gd name="connsiteY51" fmla="*/ 4672013 h 6858000"/>
              <a:gd name="connsiteX52" fmla="*/ 155575 w 10095599"/>
              <a:gd name="connsiteY52" fmla="*/ 4619625 h 6858000"/>
              <a:gd name="connsiteX53" fmla="*/ 139700 w 10095599"/>
              <a:gd name="connsiteY53" fmla="*/ 4573588 h 6858000"/>
              <a:gd name="connsiteX54" fmla="*/ 123825 w 10095599"/>
              <a:gd name="connsiteY54" fmla="*/ 4532313 h 6858000"/>
              <a:gd name="connsiteX55" fmla="*/ 107950 w 10095599"/>
              <a:gd name="connsiteY55" fmla="*/ 4495800 h 6858000"/>
              <a:gd name="connsiteX56" fmla="*/ 69850 w 10095599"/>
              <a:gd name="connsiteY56" fmla="*/ 4419600 h 6858000"/>
              <a:gd name="connsiteX57" fmla="*/ 50800 w 10095599"/>
              <a:gd name="connsiteY57" fmla="*/ 4383088 h 6858000"/>
              <a:gd name="connsiteX58" fmla="*/ 34925 w 10095599"/>
              <a:gd name="connsiteY58" fmla="*/ 4341813 h 6858000"/>
              <a:gd name="connsiteX59" fmla="*/ 20637 w 10095599"/>
              <a:gd name="connsiteY59" fmla="*/ 4295775 h 6858000"/>
              <a:gd name="connsiteX60" fmla="*/ 9525 w 10095599"/>
              <a:gd name="connsiteY60" fmla="*/ 4243388 h 6858000"/>
              <a:gd name="connsiteX61" fmla="*/ 1587 w 10095599"/>
              <a:gd name="connsiteY61" fmla="*/ 4183063 h 6858000"/>
              <a:gd name="connsiteX62" fmla="*/ 0 w 10095599"/>
              <a:gd name="connsiteY62" fmla="*/ 4114800 h 6858000"/>
              <a:gd name="connsiteX63" fmla="*/ 1587 w 10095599"/>
              <a:gd name="connsiteY63" fmla="*/ 4046538 h 6858000"/>
              <a:gd name="connsiteX64" fmla="*/ 9525 w 10095599"/>
              <a:gd name="connsiteY64" fmla="*/ 3986213 h 6858000"/>
              <a:gd name="connsiteX65" fmla="*/ 20637 w 10095599"/>
              <a:gd name="connsiteY65" fmla="*/ 3933825 h 6858000"/>
              <a:gd name="connsiteX66" fmla="*/ 34925 w 10095599"/>
              <a:gd name="connsiteY66" fmla="*/ 3887788 h 6858000"/>
              <a:gd name="connsiteX67" fmla="*/ 50800 w 10095599"/>
              <a:gd name="connsiteY67" fmla="*/ 3846513 h 6858000"/>
              <a:gd name="connsiteX68" fmla="*/ 69850 w 10095599"/>
              <a:gd name="connsiteY68" fmla="*/ 3810000 h 6858000"/>
              <a:gd name="connsiteX69" fmla="*/ 88900 w 10095599"/>
              <a:gd name="connsiteY69" fmla="*/ 3771900 h 6858000"/>
              <a:gd name="connsiteX70" fmla="*/ 107950 w 10095599"/>
              <a:gd name="connsiteY70" fmla="*/ 3733800 h 6858000"/>
              <a:gd name="connsiteX71" fmla="*/ 123825 w 10095599"/>
              <a:gd name="connsiteY71" fmla="*/ 3697288 h 6858000"/>
              <a:gd name="connsiteX72" fmla="*/ 139700 w 10095599"/>
              <a:gd name="connsiteY72" fmla="*/ 3656013 h 6858000"/>
              <a:gd name="connsiteX73" fmla="*/ 155575 w 10095599"/>
              <a:gd name="connsiteY73" fmla="*/ 3609975 h 6858000"/>
              <a:gd name="connsiteX74" fmla="*/ 166687 w 10095599"/>
              <a:gd name="connsiteY74" fmla="*/ 3557588 h 6858000"/>
              <a:gd name="connsiteX75" fmla="*/ 173037 w 10095599"/>
              <a:gd name="connsiteY75" fmla="*/ 3497263 h 6858000"/>
              <a:gd name="connsiteX76" fmla="*/ 176212 w 10095599"/>
              <a:gd name="connsiteY76" fmla="*/ 3427413 h 6858000"/>
              <a:gd name="connsiteX77" fmla="*/ 173037 w 10095599"/>
              <a:gd name="connsiteY77" fmla="*/ 3360738 h 6858000"/>
              <a:gd name="connsiteX78" fmla="*/ 166687 w 10095599"/>
              <a:gd name="connsiteY78" fmla="*/ 3300413 h 6858000"/>
              <a:gd name="connsiteX79" fmla="*/ 155575 w 10095599"/>
              <a:gd name="connsiteY79" fmla="*/ 3248025 h 6858000"/>
              <a:gd name="connsiteX80" fmla="*/ 139700 w 10095599"/>
              <a:gd name="connsiteY80" fmla="*/ 3201988 h 6858000"/>
              <a:gd name="connsiteX81" fmla="*/ 123825 w 10095599"/>
              <a:gd name="connsiteY81" fmla="*/ 3160713 h 6858000"/>
              <a:gd name="connsiteX82" fmla="*/ 107950 w 10095599"/>
              <a:gd name="connsiteY82" fmla="*/ 3124200 h 6858000"/>
              <a:gd name="connsiteX83" fmla="*/ 88900 w 10095599"/>
              <a:gd name="connsiteY83" fmla="*/ 3086100 h 6858000"/>
              <a:gd name="connsiteX84" fmla="*/ 69850 w 10095599"/>
              <a:gd name="connsiteY84" fmla="*/ 3048000 h 6858000"/>
              <a:gd name="connsiteX85" fmla="*/ 50800 w 10095599"/>
              <a:gd name="connsiteY85" fmla="*/ 3011488 h 6858000"/>
              <a:gd name="connsiteX86" fmla="*/ 34925 w 10095599"/>
              <a:gd name="connsiteY86" fmla="*/ 2970213 h 6858000"/>
              <a:gd name="connsiteX87" fmla="*/ 20637 w 10095599"/>
              <a:gd name="connsiteY87" fmla="*/ 2924175 h 6858000"/>
              <a:gd name="connsiteX88" fmla="*/ 9525 w 10095599"/>
              <a:gd name="connsiteY88" fmla="*/ 2871788 h 6858000"/>
              <a:gd name="connsiteX89" fmla="*/ 1587 w 10095599"/>
              <a:gd name="connsiteY89" fmla="*/ 2811463 h 6858000"/>
              <a:gd name="connsiteX90" fmla="*/ 0 w 10095599"/>
              <a:gd name="connsiteY90" fmla="*/ 2743200 h 6858000"/>
              <a:gd name="connsiteX91" fmla="*/ 1587 w 10095599"/>
              <a:gd name="connsiteY91" fmla="*/ 2674938 h 6858000"/>
              <a:gd name="connsiteX92" fmla="*/ 9525 w 10095599"/>
              <a:gd name="connsiteY92" fmla="*/ 2614613 h 6858000"/>
              <a:gd name="connsiteX93" fmla="*/ 20637 w 10095599"/>
              <a:gd name="connsiteY93" fmla="*/ 2562225 h 6858000"/>
              <a:gd name="connsiteX94" fmla="*/ 34925 w 10095599"/>
              <a:gd name="connsiteY94" fmla="*/ 2516188 h 6858000"/>
              <a:gd name="connsiteX95" fmla="*/ 50800 w 10095599"/>
              <a:gd name="connsiteY95" fmla="*/ 2474913 h 6858000"/>
              <a:gd name="connsiteX96" fmla="*/ 69850 w 10095599"/>
              <a:gd name="connsiteY96" fmla="*/ 2438400 h 6858000"/>
              <a:gd name="connsiteX97" fmla="*/ 88900 w 10095599"/>
              <a:gd name="connsiteY97" fmla="*/ 2400300 h 6858000"/>
              <a:gd name="connsiteX98" fmla="*/ 107950 w 10095599"/>
              <a:gd name="connsiteY98" fmla="*/ 2362200 h 6858000"/>
              <a:gd name="connsiteX99" fmla="*/ 123825 w 10095599"/>
              <a:gd name="connsiteY99" fmla="*/ 2325688 h 6858000"/>
              <a:gd name="connsiteX100" fmla="*/ 139700 w 10095599"/>
              <a:gd name="connsiteY100" fmla="*/ 2284413 h 6858000"/>
              <a:gd name="connsiteX101" fmla="*/ 155575 w 10095599"/>
              <a:gd name="connsiteY101" fmla="*/ 2238375 h 6858000"/>
              <a:gd name="connsiteX102" fmla="*/ 166687 w 10095599"/>
              <a:gd name="connsiteY102" fmla="*/ 2185988 h 6858000"/>
              <a:gd name="connsiteX103" fmla="*/ 173037 w 10095599"/>
              <a:gd name="connsiteY103" fmla="*/ 2125663 h 6858000"/>
              <a:gd name="connsiteX104" fmla="*/ 176212 w 10095599"/>
              <a:gd name="connsiteY104" fmla="*/ 2057400 h 6858000"/>
              <a:gd name="connsiteX105" fmla="*/ 173037 w 10095599"/>
              <a:gd name="connsiteY105" fmla="*/ 1989138 h 6858000"/>
              <a:gd name="connsiteX106" fmla="*/ 166687 w 10095599"/>
              <a:gd name="connsiteY106" fmla="*/ 1928813 h 6858000"/>
              <a:gd name="connsiteX107" fmla="*/ 155575 w 10095599"/>
              <a:gd name="connsiteY107" fmla="*/ 1876425 h 6858000"/>
              <a:gd name="connsiteX108" fmla="*/ 139700 w 10095599"/>
              <a:gd name="connsiteY108" fmla="*/ 1830388 h 6858000"/>
              <a:gd name="connsiteX109" fmla="*/ 123825 w 10095599"/>
              <a:gd name="connsiteY109" fmla="*/ 1789113 h 6858000"/>
              <a:gd name="connsiteX110" fmla="*/ 107950 w 10095599"/>
              <a:gd name="connsiteY110" fmla="*/ 1752600 h 6858000"/>
              <a:gd name="connsiteX111" fmla="*/ 88900 w 10095599"/>
              <a:gd name="connsiteY111" fmla="*/ 1714500 h 6858000"/>
              <a:gd name="connsiteX112" fmla="*/ 69850 w 10095599"/>
              <a:gd name="connsiteY112" fmla="*/ 1676400 h 6858000"/>
              <a:gd name="connsiteX113" fmla="*/ 50800 w 10095599"/>
              <a:gd name="connsiteY113" fmla="*/ 1639888 h 6858000"/>
              <a:gd name="connsiteX114" fmla="*/ 34925 w 10095599"/>
              <a:gd name="connsiteY114" fmla="*/ 1598613 h 6858000"/>
              <a:gd name="connsiteX115" fmla="*/ 20637 w 10095599"/>
              <a:gd name="connsiteY115" fmla="*/ 1552575 h 6858000"/>
              <a:gd name="connsiteX116" fmla="*/ 9525 w 10095599"/>
              <a:gd name="connsiteY116" fmla="*/ 1500188 h 6858000"/>
              <a:gd name="connsiteX117" fmla="*/ 1587 w 10095599"/>
              <a:gd name="connsiteY117" fmla="*/ 1439863 h 6858000"/>
              <a:gd name="connsiteX118" fmla="*/ 0 w 10095599"/>
              <a:gd name="connsiteY118" fmla="*/ 1371600 h 6858000"/>
              <a:gd name="connsiteX119" fmla="*/ 1587 w 10095599"/>
              <a:gd name="connsiteY119" fmla="*/ 1303338 h 6858000"/>
              <a:gd name="connsiteX120" fmla="*/ 9525 w 10095599"/>
              <a:gd name="connsiteY120" fmla="*/ 1243013 h 6858000"/>
              <a:gd name="connsiteX121" fmla="*/ 20637 w 10095599"/>
              <a:gd name="connsiteY121" fmla="*/ 1190625 h 6858000"/>
              <a:gd name="connsiteX122" fmla="*/ 34925 w 10095599"/>
              <a:gd name="connsiteY122" fmla="*/ 1144588 h 6858000"/>
              <a:gd name="connsiteX123" fmla="*/ 50800 w 10095599"/>
              <a:gd name="connsiteY123" fmla="*/ 1103313 h 6858000"/>
              <a:gd name="connsiteX124" fmla="*/ 69850 w 10095599"/>
              <a:gd name="connsiteY124" fmla="*/ 1066800 h 6858000"/>
              <a:gd name="connsiteX125" fmla="*/ 88900 w 10095599"/>
              <a:gd name="connsiteY125" fmla="*/ 1028700 h 6858000"/>
              <a:gd name="connsiteX126" fmla="*/ 107950 w 10095599"/>
              <a:gd name="connsiteY126" fmla="*/ 990600 h 6858000"/>
              <a:gd name="connsiteX127" fmla="*/ 123825 w 10095599"/>
              <a:gd name="connsiteY127" fmla="*/ 954088 h 6858000"/>
              <a:gd name="connsiteX128" fmla="*/ 139700 w 10095599"/>
              <a:gd name="connsiteY128" fmla="*/ 912813 h 6858000"/>
              <a:gd name="connsiteX129" fmla="*/ 155575 w 10095599"/>
              <a:gd name="connsiteY129" fmla="*/ 866775 h 6858000"/>
              <a:gd name="connsiteX130" fmla="*/ 166687 w 10095599"/>
              <a:gd name="connsiteY130" fmla="*/ 814388 h 6858000"/>
              <a:gd name="connsiteX131" fmla="*/ 173037 w 10095599"/>
              <a:gd name="connsiteY131" fmla="*/ 754063 h 6858000"/>
              <a:gd name="connsiteX132" fmla="*/ 176212 w 10095599"/>
              <a:gd name="connsiteY132" fmla="*/ 685800 h 6858000"/>
              <a:gd name="connsiteX133" fmla="*/ 173037 w 10095599"/>
              <a:gd name="connsiteY133" fmla="*/ 617538 h 6858000"/>
              <a:gd name="connsiteX134" fmla="*/ 166687 w 10095599"/>
              <a:gd name="connsiteY134" fmla="*/ 557213 h 6858000"/>
              <a:gd name="connsiteX135" fmla="*/ 155575 w 10095599"/>
              <a:gd name="connsiteY135" fmla="*/ 504825 h 6858000"/>
              <a:gd name="connsiteX136" fmla="*/ 139700 w 10095599"/>
              <a:gd name="connsiteY136" fmla="*/ 458788 h 6858000"/>
              <a:gd name="connsiteX137" fmla="*/ 123825 w 10095599"/>
              <a:gd name="connsiteY137" fmla="*/ 417513 h 6858000"/>
              <a:gd name="connsiteX138" fmla="*/ 107950 w 10095599"/>
              <a:gd name="connsiteY138" fmla="*/ 381000 h 6858000"/>
              <a:gd name="connsiteX139" fmla="*/ 88900 w 10095599"/>
              <a:gd name="connsiteY139" fmla="*/ 342900 h 6858000"/>
              <a:gd name="connsiteX140" fmla="*/ 69850 w 10095599"/>
              <a:gd name="connsiteY140" fmla="*/ 304800 h 6858000"/>
              <a:gd name="connsiteX141" fmla="*/ 50800 w 10095599"/>
              <a:gd name="connsiteY141" fmla="*/ 268288 h 6858000"/>
              <a:gd name="connsiteX142" fmla="*/ 34925 w 10095599"/>
              <a:gd name="connsiteY142" fmla="*/ 227013 h 6858000"/>
              <a:gd name="connsiteX143" fmla="*/ 20637 w 10095599"/>
              <a:gd name="connsiteY143" fmla="*/ 180975 h 6858000"/>
              <a:gd name="connsiteX144" fmla="*/ 9525 w 10095599"/>
              <a:gd name="connsiteY144" fmla="*/ 128588 h 6858000"/>
              <a:gd name="connsiteX145" fmla="*/ 1587 w 10095599"/>
              <a:gd name="connsiteY145" fmla="*/ 6826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10095599" h="6858000">
                <a:moveTo>
                  <a:pt x="0" y="0"/>
                </a:moveTo>
                <a:lnTo>
                  <a:pt x="7448352" y="0"/>
                </a:lnTo>
                <a:lnTo>
                  <a:pt x="9446485" y="0"/>
                </a:lnTo>
                <a:lnTo>
                  <a:pt x="10095599" y="0"/>
                </a:lnTo>
                <a:lnTo>
                  <a:pt x="10095599" y="6858000"/>
                </a:lnTo>
                <a:lnTo>
                  <a:pt x="9446485" y="6858000"/>
                </a:lnTo>
                <a:lnTo>
                  <a:pt x="7448352" y="6858000"/>
                </a:lnTo>
                <a:lnTo>
                  <a:pt x="0" y="6858000"/>
                </a:lnTo>
                <a:lnTo>
                  <a:pt x="1587" y="6789738"/>
                </a:lnTo>
                <a:lnTo>
                  <a:pt x="9525" y="6729413"/>
                </a:lnTo>
                <a:lnTo>
                  <a:pt x="20637" y="6677025"/>
                </a:lnTo>
                <a:lnTo>
                  <a:pt x="34925" y="6630988"/>
                </a:lnTo>
                <a:lnTo>
                  <a:pt x="50800" y="6589713"/>
                </a:lnTo>
                <a:lnTo>
                  <a:pt x="69850" y="6553200"/>
                </a:lnTo>
                <a:lnTo>
                  <a:pt x="88900" y="6515100"/>
                </a:lnTo>
                <a:lnTo>
                  <a:pt x="107950" y="6477000"/>
                </a:lnTo>
                <a:lnTo>
                  <a:pt x="123825" y="6440488"/>
                </a:lnTo>
                <a:lnTo>
                  <a:pt x="139700" y="6399213"/>
                </a:lnTo>
                <a:lnTo>
                  <a:pt x="155575" y="6353175"/>
                </a:lnTo>
                <a:lnTo>
                  <a:pt x="166687" y="6300788"/>
                </a:lnTo>
                <a:lnTo>
                  <a:pt x="173037" y="6240463"/>
                </a:lnTo>
                <a:lnTo>
                  <a:pt x="176212" y="6172200"/>
                </a:lnTo>
                <a:lnTo>
                  <a:pt x="173037" y="6103938"/>
                </a:lnTo>
                <a:lnTo>
                  <a:pt x="166687" y="6043613"/>
                </a:lnTo>
                <a:lnTo>
                  <a:pt x="155575" y="5991225"/>
                </a:lnTo>
                <a:lnTo>
                  <a:pt x="139700" y="5945188"/>
                </a:lnTo>
                <a:lnTo>
                  <a:pt x="123825" y="5903913"/>
                </a:lnTo>
                <a:lnTo>
                  <a:pt x="107950" y="5867400"/>
                </a:lnTo>
                <a:lnTo>
                  <a:pt x="88900" y="5829300"/>
                </a:lnTo>
                <a:lnTo>
                  <a:pt x="69850" y="5791200"/>
                </a:lnTo>
                <a:lnTo>
                  <a:pt x="50800" y="5754688"/>
                </a:lnTo>
                <a:lnTo>
                  <a:pt x="34925" y="5713413"/>
                </a:lnTo>
                <a:lnTo>
                  <a:pt x="20637" y="5667375"/>
                </a:lnTo>
                <a:lnTo>
                  <a:pt x="9525" y="5614988"/>
                </a:lnTo>
                <a:lnTo>
                  <a:pt x="1587" y="5554663"/>
                </a:lnTo>
                <a:lnTo>
                  <a:pt x="0" y="5486400"/>
                </a:lnTo>
                <a:lnTo>
                  <a:pt x="1587" y="5418138"/>
                </a:lnTo>
                <a:lnTo>
                  <a:pt x="9525" y="5357813"/>
                </a:lnTo>
                <a:lnTo>
                  <a:pt x="20637" y="5305425"/>
                </a:lnTo>
                <a:lnTo>
                  <a:pt x="34925" y="5259388"/>
                </a:lnTo>
                <a:lnTo>
                  <a:pt x="50800" y="5218113"/>
                </a:lnTo>
                <a:lnTo>
                  <a:pt x="69850" y="5181600"/>
                </a:lnTo>
                <a:lnTo>
                  <a:pt x="88900" y="5143500"/>
                </a:lnTo>
                <a:lnTo>
                  <a:pt x="107950" y="5105400"/>
                </a:lnTo>
                <a:lnTo>
                  <a:pt x="123825" y="5068888"/>
                </a:lnTo>
                <a:lnTo>
                  <a:pt x="139700" y="5027613"/>
                </a:lnTo>
                <a:lnTo>
                  <a:pt x="155575" y="4981575"/>
                </a:lnTo>
                <a:lnTo>
                  <a:pt x="166687" y="4929188"/>
                </a:lnTo>
                <a:lnTo>
                  <a:pt x="173037" y="4868863"/>
                </a:lnTo>
                <a:lnTo>
                  <a:pt x="176212" y="4800600"/>
                </a:lnTo>
                <a:lnTo>
                  <a:pt x="173037" y="4732338"/>
                </a:lnTo>
                <a:lnTo>
                  <a:pt x="166687" y="4672013"/>
                </a:lnTo>
                <a:lnTo>
                  <a:pt x="155575" y="4619625"/>
                </a:lnTo>
                <a:lnTo>
                  <a:pt x="139700" y="4573588"/>
                </a:lnTo>
                <a:lnTo>
                  <a:pt x="123825" y="4532313"/>
                </a:lnTo>
                <a:lnTo>
                  <a:pt x="107950" y="4495800"/>
                </a:lnTo>
                <a:lnTo>
                  <a:pt x="69850" y="4419600"/>
                </a:lnTo>
                <a:lnTo>
                  <a:pt x="50800" y="4383088"/>
                </a:lnTo>
                <a:lnTo>
                  <a:pt x="34925" y="4341813"/>
                </a:lnTo>
                <a:lnTo>
                  <a:pt x="20637" y="4295775"/>
                </a:lnTo>
                <a:lnTo>
                  <a:pt x="9525" y="4243388"/>
                </a:lnTo>
                <a:lnTo>
                  <a:pt x="1587" y="4183063"/>
                </a:lnTo>
                <a:lnTo>
                  <a:pt x="0" y="4114800"/>
                </a:lnTo>
                <a:lnTo>
                  <a:pt x="1587" y="4046538"/>
                </a:lnTo>
                <a:lnTo>
                  <a:pt x="9525" y="3986213"/>
                </a:lnTo>
                <a:lnTo>
                  <a:pt x="20637" y="3933825"/>
                </a:lnTo>
                <a:lnTo>
                  <a:pt x="34925" y="3887788"/>
                </a:lnTo>
                <a:lnTo>
                  <a:pt x="50800" y="3846513"/>
                </a:lnTo>
                <a:lnTo>
                  <a:pt x="69850" y="3810000"/>
                </a:lnTo>
                <a:lnTo>
                  <a:pt x="88900" y="3771900"/>
                </a:lnTo>
                <a:lnTo>
                  <a:pt x="107950" y="3733800"/>
                </a:lnTo>
                <a:lnTo>
                  <a:pt x="123825" y="3697288"/>
                </a:lnTo>
                <a:lnTo>
                  <a:pt x="139700" y="3656013"/>
                </a:lnTo>
                <a:lnTo>
                  <a:pt x="155575" y="3609975"/>
                </a:lnTo>
                <a:lnTo>
                  <a:pt x="166687" y="3557588"/>
                </a:lnTo>
                <a:lnTo>
                  <a:pt x="173037" y="3497263"/>
                </a:lnTo>
                <a:lnTo>
                  <a:pt x="176212" y="3427413"/>
                </a:lnTo>
                <a:lnTo>
                  <a:pt x="173037" y="3360738"/>
                </a:lnTo>
                <a:lnTo>
                  <a:pt x="166687" y="3300413"/>
                </a:lnTo>
                <a:lnTo>
                  <a:pt x="155575" y="3248025"/>
                </a:lnTo>
                <a:lnTo>
                  <a:pt x="139700" y="3201988"/>
                </a:lnTo>
                <a:lnTo>
                  <a:pt x="123825" y="3160713"/>
                </a:lnTo>
                <a:lnTo>
                  <a:pt x="107950" y="3124200"/>
                </a:lnTo>
                <a:lnTo>
                  <a:pt x="88900" y="3086100"/>
                </a:lnTo>
                <a:lnTo>
                  <a:pt x="69850" y="3048000"/>
                </a:lnTo>
                <a:lnTo>
                  <a:pt x="50800" y="3011488"/>
                </a:lnTo>
                <a:lnTo>
                  <a:pt x="34925" y="2970213"/>
                </a:lnTo>
                <a:lnTo>
                  <a:pt x="20637" y="2924175"/>
                </a:lnTo>
                <a:lnTo>
                  <a:pt x="9525" y="2871788"/>
                </a:lnTo>
                <a:lnTo>
                  <a:pt x="1587" y="2811463"/>
                </a:lnTo>
                <a:lnTo>
                  <a:pt x="0" y="2743200"/>
                </a:lnTo>
                <a:lnTo>
                  <a:pt x="1587" y="2674938"/>
                </a:lnTo>
                <a:lnTo>
                  <a:pt x="9525" y="2614613"/>
                </a:lnTo>
                <a:lnTo>
                  <a:pt x="20637" y="2562225"/>
                </a:lnTo>
                <a:lnTo>
                  <a:pt x="34925" y="2516188"/>
                </a:lnTo>
                <a:lnTo>
                  <a:pt x="50800" y="2474913"/>
                </a:lnTo>
                <a:lnTo>
                  <a:pt x="69850" y="2438400"/>
                </a:lnTo>
                <a:lnTo>
                  <a:pt x="88900" y="2400300"/>
                </a:lnTo>
                <a:lnTo>
                  <a:pt x="107950" y="2362200"/>
                </a:lnTo>
                <a:lnTo>
                  <a:pt x="123825" y="2325688"/>
                </a:lnTo>
                <a:lnTo>
                  <a:pt x="139700" y="2284413"/>
                </a:lnTo>
                <a:lnTo>
                  <a:pt x="155575" y="2238375"/>
                </a:lnTo>
                <a:lnTo>
                  <a:pt x="166687" y="2185988"/>
                </a:lnTo>
                <a:lnTo>
                  <a:pt x="173037" y="2125663"/>
                </a:lnTo>
                <a:lnTo>
                  <a:pt x="176212" y="2057400"/>
                </a:lnTo>
                <a:lnTo>
                  <a:pt x="173037" y="1989138"/>
                </a:lnTo>
                <a:lnTo>
                  <a:pt x="166687" y="1928813"/>
                </a:lnTo>
                <a:lnTo>
                  <a:pt x="155575" y="1876425"/>
                </a:lnTo>
                <a:lnTo>
                  <a:pt x="139700" y="1830388"/>
                </a:lnTo>
                <a:lnTo>
                  <a:pt x="123825" y="1789113"/>
                </a:lnTo>
                <a:lnTo>
                  <a:pt x="107950" y="1752600"/>
                </a:lnTo>
                <a:lnTo>
                  <a:pt x="88900" y="1714500"/>
                </a:lnTo>
                <a:lnTo>
                  <a:pt x="69850" y="1676400"/>
                </a:lnTo>
                <a:lnTo>
                  <a:pt x="50800" y="1639888"/>
                </a:lnTo>
                <a:lnTo>
                  <a:pt x="34925" y="1598613"/>
                </a:lnTo>
                <a:lnTo>
                  <a:pt x="20637" y="1552575"/>
                </a:lnTo>
                <a:lnTo>
                  <a:pt x="9525" y="1500188"/>
                </a:lnTo>
                <a:lnTo>
                  <a:pt x="1587" y="1439863"/>
                </a:lnTo>
                <a:lnTo>
                  <a:pt x="0" y="1371600"/>
                </a:lnTo>
                <a:lnTo>
                  <a:pt x="1587" y="1303338"/>
                </a:lnTo>
                <a:lnTo>
                  <a:pt x="9525" y="1243013"/>
                </a:lnTo>
                <a:lnTo>
                  <a:pt x="20637" y="1190625"/>
                </a:lnTo>
                <a:lnTo>
                  <a:pt x="34925" y="1144588"/>
                </a:lnTo>
                <a:lnTo>
                  <a:pt x="50800" y="1103313"/>
                </a:lnTo>
                <a:lnTo>
                  <a:pt x="69850" y="1066800"/>
                </a:lnTo>
                <a:lnTo>
                  <a:pt x="88900" y="1028700"/>
                </a:lnTo>
                <a:lnTo>
                  <a:pt x="107950" y="990600"/>
                </a:lnTo>
                <a:lnTo>
                  <a:pt x="123825" y="954088"/>
                </a:lnTo>
                <a:lnTo>
                  <a:pt x="139700" y="912813"/>
                </a:lnTo>
                <a:lnTo>
                  <a:pt x="155575" y="866775"/>
                </a:lnTo>
                <a:lnTo>
                  <a:pt x="166687" y="814388"/>
                </a:lnTo>
                <a:lnTo>
                  <a:pt x="173037" y="754063"/>
                </a:lnTo>
                <a:lnTo>
                  <a:pt x="176212" y="685800"/>
                </a:lnTo>
                <a:lnTo>
                  <a:pt x="173037" y="617538"/>
                </a:lnTo>
                <a:lnTo>
                  <a:pt x="166687" y="557213"/>
                </a:lnTo>
                <a:lnTo>
                  <a:pt x="155575" y="504825"/>
                </a:lnTo>
                <a:lnTo>
                  <a:pt x="139700" y="458788"/>
                </a:lnTo>
                <a:lnTo>
                  <a:pt x="123825" y="417513"/>
                </a:lnTo>
                <a:lnTo>
                  <a:pt x="107950" y="381000"/>
                </a:lnTo>
                <a:lnTo>
                  <a:pt x="88900" y="342900"/>
                </a:lnTo>
                <a:lnTo>
                  <a:pt x="69850" y="304800"/>
                </a:lnTo>
                <a:lnTo>
                  <a:pt x="50800" y="268288"/>
                </a:lnTo>
                <a:lnTo>
                  <a:pt x="34925" y="227013"/>
                </a:lnTo>
                <a:lnTo>
                  <a:pt x="20637" y="180975"/>
                </a:lnTo>
                <a:lnTo>
                  <a:pt x="9525" y="128588"/>
                </a:lnTo>
                <a:lnTo>
                  <a:pt x="1587" y="68263"/>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194F438-5282-0AC6-BED5-6C58D59582CD}"/>
              </a:ext>
            </a:extLst>
          </p:cNvPr>
          <p:cNvSpPr>
            <a:spLocks noGrp="1"/>
          </p:cNvSpPr>
          <p:nvPr>
            <p:ph type="title"/>
          </p:nvPr>
        </p:nvSpPr>
        <p:spPr>
          <a:xfrm>
            <a:off x="1585773" y="267629"/>
            <a:ext cx="8632372" cy="1113295"/>
          </a:xfrm>
        </p:spPr>
        <p:txBody>
          <a:bodyPr anchor="t">
            <a:normAutofit/>
          </a:bodyPr>
          <a:lstStyle/>
          <a:p>
            <a:pPr algn="ctr"/>
            <a:r>
              <a:rPr lang="en-US"/>
              <a:t>Agenda	</a:t>
            </a:r>
          </a:p>
        </p:txBody>
      </p:sp>
      <p:pic>
        <p:nvPicPr>
          <p:cNvPr id="5" name="Picture 4" descr="Logo">
            <a:extLst>
              <a:ext uri="{FF2B5EF4-FFF2-40B4-BE49-F238E27FC236}">
                <a16:creationId xmlns:a16="http://schemas.microsoft.com/office/drawing/2014/main" id="{1D9D86B6-06EC-7855-38BD-D889DEBBAD74}"/>
              </a:ext>
            </a:extLst>
          </p:cNvPr>
          <p:cNvPicPr>
            <a:picLocks noChangeAspect="1"/>
          </p:cNvPicPr>
          <p:nvPr/>
        </p:nvPicPr>
        <p:blipFill>
          <a:blip r:embed="rId3"/>
          <a:stretch>
            <a:fillRect/>
          </a:stretch>
        </p:blipFill>
        <p:spPr>
          <a:xfrm>
            <a:off x="10095599" y="5833791"/>
            <a:ext cx="1768158" cy="875712"/>
          </a:xfrm>
          <a:prstGeom prst="rect">
            <a:avLst/>
          </a:prstGeom>
        </p:spPr>
      </p:pic>
      <p:sp>
        <p:nvSpPr>
          <p:cNvPr id="7" name="Content Placeholder 6">
            <a:extLst>
              <a:ext uri="{FF2B5EF4-FFF2-40B4-BE49-F238E27FC236}">
                <a16:creationId xmlns:a16="http://schemas.microsoft.com/office/drawing/2014/main" id="{18101594-30CD-85FF-F02F-5255472D6441}"/>
              </a:ext>
            </a:extLst>
          </p:cNvPr>
          <p:cNvSpPr>
            <a:spLocks noGrp="1"/>
          </p:cNvSpPr>
          <p:nvPr>
            <p:ph idx="1"/>
          </p:nvPr>
        </p:nvSpPr>
        <p:spPr>
          <a:xfrm>
            <a:off x="2504440" y="1612265"/>
            <a:ext cx="9551625" cy="4351338"/>
          </a:xfrm>
        </p:spPr>
        <p:txBody>
          <a:bodyPr vert="horz" lIns="91440" tIns="45720" rIns="91440" bIns="45720" rtlCol="0" anchor="t">
            <a:normAutofit/>
          </a:bodyPr>
          <a:lstStyle/>
          <a:p>
            <a:pPr marL="342900" indent="-342900">
              <a:lnSpc>
                <a:spcPct val="100000"/>
              </a:lnSpc>
              <a:spcBef>
                <a:spcPts val="0"/>
              </a:spcBef>
              <a:buAutoNum type="arabicPeriod"/>
            </a:pPr>
            <a:r>
              <a:rPr lang="en-US" dirty="0">
                <a:ea typeface="Calibri"/>
                <a:cs typeface="Calibri"/>
              </a:rPr>
              <a:t>Quick look-ahead to final CoPs:</a:t>
            </a:r>
            <a:endParaRPr lang="en-US"/>
          </a:p>
          <a:p>
            <a:pPr marL="800100" lvl="1" indent="-342900">
              <a:lnSpc>
                <a:spcPct val="100000"/>
              </a:lnSpc>
              <a:spcBef>
                <a:spcPts val="0"/>
              </a:spcBef>
              <a:buFont typeface="Courier New"/>
              <a:buChar char="o"/>
            </a:pPr>
            <a:r>
              <a:rPr lang="en-US" dirty="0">
                <a:ea typeface="Calibri"/>
                <a:cs typeface="Calibri"/>
              </a:rPr>
              <a:t>February: Keeping the Momentum of Transformation</a:t>
            </a:r>
          </a:p>
          <a:p>
            <a:pPr marL="800100" lvl="1" indent="-342900">
              <a:lnSpc>
                <a:spcPct val="100000"/>
              </a:lnSpc>
              <a:spcBef>
                <a:spcPts val="0"/>
              </a:spcBef>
              <a:buFont typeface="Courier New"/>
              <a:buChar char="o"/>
            </a:pPr>
            <a:r>
              <a:rPr lang="en-US" dirty="0">
                <a:ea typeface="Calibri"/>
                <a:cs typeface="Calibri"/>
              </a:rPr>
              <a:t>March: TCW grant wrap-up and Celebration of Successes</a:t>
            </a:r>
          </a:p>
          <a:p>
            <a:pPr marL="457200" lvl="1" indent="0">
              <a:lnSpc>
                <a:spcPct val="100000"/>
              </a:lnSpc>
              <a:spcBef>
                <a:spcPts val="0"/>
              </a:spcBef>
              <a:buNone/>
            </a:pPr>
            <a:endParaRPr lang="en-US">
              <a:ea typeface="Calibri"/>
              <a:cs typeface="Calibri"/>
            </a:endParaRPr>
          </a:p>
          <a:p>
            <a:pPr marL="342900" indent="-342900">
              <a:lnSpc>
                <a:spcPct val="100000"/>
              </a:lnSpc>
              <a:spcBef>
                <a:spcPts val="0"/>
              </a:spcBef>
              <a:buAutoNum type="arabicPeriod"/>
            </a:pPr>
            <a:r>
              <a:rPr lang="en-US" dirty="0">
                <a:ea typeface="Calibri"/>
                <a:cs typeface="Calibri"/>
              </a:rPr>
              <a:t>Today: Transformation and Resource Allocation </a:t>
            </a:r>
          </a:p>
          <a:p>
            <a:pPr marL="800100" lvl="1" indent="-342900">
              <a:lnSpc>
                <a:spcPct val="100000"/>
              </a:lnSpc>
              <a:spcBef>
                <a:spcPts val="0"/>
              </a:spcBef>
              <a:buFont typeface="Courier New" panose="020B0604020202020204" pitchFamily="34" charset="0"/>
              <a:buChar char="o"/>
            </a:pPr>
            <a:r>
              <a:rPr lang="en-US" dirty="0">
                <a:ea typeface="Calibri"/>
                <a:cs typeface="Calibri"/>
              </a:rPr>
              <a:t>Short presentation with some considerations</a:t>
            </a:r>
          </a:p>
          <a:p>
            <a:pPr marL="800100" lvl="1" indent="-342900">
              <a:lnSpc>
                <a:spcPct val="100000"/>
              </a:lnSpc>
              <a:spcBef>
                <a:spcPts val="0"/>
              </a:spcBef>
              <a:buFont typeface="Courier New" panose="020B0604020202020204" pitchFamily="34" charset="0"/>
              <a:buChar char="o"/>
            </a:pPr>
            <a:r>
              <a:rPr lang="en-US" dirty="0">
                <a:ea typeface="Calibri"/>
                <a:cs typeface="Calibri"/>
              </a:rPr>
              <a:t>Group discussion </a:t>
            </a:r>
          </a:p>
          <a:p>
            <a:pPr marL="800100" lvl="1" indent="-342900">
              <a:lnSpc>
                <a:spcPct val="100000"/>
              </a:lnSpc>
              <a:spcBef>
                <a:spcPts val="0"/>
              </a:spcBef>
              <a:buFont typeface="Courier New" panose="020B0604020202020204" pitchFamily="34" charset="0"/>
              <a:buChar char="o"/>
            </a:pPr>
            <a:endParaRPr lang="en-US">
              <a:ea typeface="Calibri"/>
              <a:cs typeface="Calibri"/>
            </a:endParaRPr>
          </a:p>
          <a:p>
            <a:pPr marL="0" indent="0">
              <a:lnSpc>
                <a:spcPct val="100000"/>
              </a:lnSpc>
              <a:spcBef>
                <a:spcPts val="0"/>
              </a:spcBef>
              <a:buNone/>
            </a:pPr>
            <a:r>
              <a:rPr lang="en-US" dirty="0">
                <a:ea typeface="Calibri"/>
                <a:cs typeface="Calibri"/>
              </a:rPr>
              <a:t>3. Closing Announcements &amp; Reminders</a:t>
            </a:r>
          </a:p>
        </p:txBody>
      </p:sp>
    </p:spTree>
    <p:extLst>
      <p:ext uri="{BB962C8B-B14F-4D97-AF65-F5344CB8AC3E}">
        <p14:creationId xmlns:p14="http://schemas.microsoft.com/office/powerpoint/2010/main" val="26383007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7">
            <a:extLst>
              <a:ext uri="{FF2B5EF4-FFF2-40B4-BE49-F238E27FC236}">
                <a16:creationId xmlns:a16="http://schemas.microsoft.com/office/drawing/2014/main" id="{E8BF0C67-DF85-430A-B677-74D9594394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1" y="0"/>
            <a:ext cx="12191996" cy="6858000"/>
          </a:xfrm>
          <a:prstGeom prst="rect">
            <a:avLst/>
          </a:prstGeom>
          <a:solidFill>
            <a:srgbClr val="FFFFFF"/>
          </a:solidFill>
          <a:ln w="0">
            <a:noFill/>
            <a:prstDash val="solid"/>
            <a:round/>
            <a:headEnd/>
            <a:tailEnd/>
          </a:ln>
        </p:spPr>
        <p:txBody>
          <a:bodyPr rtlCol="0" anchor="ctr"/>
          <a:lstStyle/>
          <a:p>
            <a:pPr algn="ctr" defTabSz="457200"/>
            <a:endParaRPr lang="en-US">
              <a:solidFill>
                <a:schemeClr val="tx1"/>
              </a:solidFill>
            </a:endParaRPr>
          </a:p>
        </p:txBody>
      </p:sp>
      <p:sp>
        <p:nvSpPr>
          <p:cNvPr id="19" name="Rectangle 9">
            <a:extLst>
              <a:ext uri="{FF2B5EF4-FFF2-40B4-BE49-F238E27FC236}">
                <a16:creationId xmlns:a16="http://schemas.microsoft.com/office/drawing/2014/main" id="{751BAC80-2398-422A-9AA2-2489F01EF9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1" y="0"/>
            <a:ext cx="12191996" cy="6858000"/>
          </a:xfrm>
          <a:prstGeom prst="rect">
            <a:avLst/>
          </a:prstGeom>
          <a:solidFill>
            <a:schemeClr val="accent1">
              <a:lumMod val="50000"/>
              <a:alpha val="25000"/>
            </a:schemeClr>
          </a:solidFill>
          <a:ln w="0">
            <a:noFill/>
            <a:prstDash val="solid"/>
            <a:round/>
            <a:headEnd/>
            <a:tailEnd/>
          </a:ln>
        </p:spPr>
        <p:txBody>
          <a:bodyPr wrap="square" rtlCol="0" anchor="ctr">
            <a:noAutofit/>
          </a:bodyPr>
          <a:lstStyle/>
          <a:p>
            <a:pPr algn="ctr"/>
            <a:endParaRPr lang="en-US"/>
          </a:p>
        </p:txBody>
      </p:sp>
      <p:sp useBgFill="1">
        <p:nvSpPr>
          <p:cNvPr id="20" name="Freeform: Shape 11">
            <a:extLst>
              <a:ext uri="{FF2B5EF4-FFF2-40B4-BE49-F238E27FC236}">
                <a16:creationId xmlns:a16="http://schemas.microsoft.com/office/drawing/2014/main" id="{34A3EF12-7620-4D66-ACFC-B9F71BAD87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96401" y="0"/>
            <a:ext cx="10095599" cy="6858000"/>
          </a:xfrm>
          <a:custGeom>
            <a:avLst/>
            <a:gdLst>
              <a:gd name="connsiteX0" fmla="*/ 0 w 10095599"/>
              <a:gd name="connsiteY0" fmla="*/ 0 h 6858000"/>
              <a:gd name="connsiteX1" fmla="*/ 7448352 w 10095599"/>
              <a:gd name="connsiteY1" fmla="*/ 0 h 6858000"/>
              <a:gd name="connsiteX2" fmla="*/ 9446485 w 10095599"/>
              <a:gd name="connsiteY2" fmla="*/ 0 h 6858000"/>
              <a:gd name="connsiteX3" fmla="*/ 10095599 w 10095599"/>
              <a:gd name="connsiteY3" fmla="*/ 0 h 6858000"/>
              <a:gd name="connsiteX4" fmla="*/ 10095599 w 10095599"/>
              <a:gd name="connsiteY4" fmla="*/ 6858000 h 6858000"/>
              <a:gd name="connsiteX5" fmla="*/ 9446485 w 10095599"/>
              <a:gd name="connsiteY5" fmla="*/ 6858000 h 6858000"/>
              <a:gd name="connsiteX6" fmla="*/ 7448352 w 10095599"/>
              <a:gd name="connsiteY6" fmla="*/ 6858000 h 6858000"/>
              <a:gd name="connsiteX7" fmla="*/ 0 w 10095599"/>
              <a:gd name="connsiteY7" fmla="*/ 6858000 h 6858000"/>
              <a:gd name="connsiteX8" fmla="*/ 1587 w 10095599"/>
              <a:gd name="connsiteY8" fmla="*/ 6789738 h 6858000"/>
              <a:gd name="connsiteX9" fmla="*/ 9525 w 10095599"/>
              <a:gd name="connsiteY9" fmla="*/ 6729413 h 6858000"/>
              <a:gd name="connsiteX10" fmla="*/ 20637 w 10095599"/>
              <a:gd name="connsiteY10" fmla="*/ 6677025 h 6858000"/>
              <a:gd name="connsiteX11" fmla="*/ 34925 w 10095599"/>
              <a:gd name="connsiteY11" fmla="*/ 6630988 h 6858000"/>
              <a:gd name="connsiteX12" fmla="*/ 50800 w 10095599"/>
              <a:gd name="connsiteY12" fmla="*/ 6589713 h 6858000"/>
              <a:gd name="connsiteX13" fmla="*/ 69850 w 10095599"/>
              <a:gd name="connsiteY13" fmla="*/ 6553200 h 6858000"/>
              <a:gd name="connsiteX14" fmla="*/ 88900 w 10095599"/>
              <a:gd name="connsiteY14" fmla="*/ 6515100 h 6858000"/>
              <a:gd name="connsiteX15" fmla="*/ 107950 w 10095599"/>
              <a:gd name="connsiteY15" fmla="*/ 6477000 h 6858000"/>
              <a:gd name="connsiteX16" fmla="*/ 123825 w 10095599"/>
              <a:gd name="connsiteY16" fmla="*/ 6440488 h 6858000"/>
              <a:gd name="connsiteX17" fmla="*/ 139700 w 10095599"/>
              <a:gd name="connsiteY17" fmla="*/ 6399213 h 6858000"/>
              <a:gd name="connsiteX18" fmla="*/ 155575 w 10095599"/>
              <a:gd name="connsiteY18" fmla="*/ 6353175 h 6858000"/>
              <a:gd name="connsiteX19" fmla="*/ 166687 w 10095599"/>
              <a:gd name="connsiteY19" fmla="*/ 6300788 h 6858000"/>
              <a:gd name="connsiteX20" fmla="*/ 173037 w 10095599"/>
              <a:gd name="connsiteY20" fmla="*/ 6240463 h 6858000"/>
              <a:gd name="connsiteX21" fmla="*/ 176212 w 10095599"/>
              <a:gd name="connsiteY21" fmla="*/ 6172200 h 6858000"/>
              <a:gd name="connsiteX22" fmla="*/ 173037 w 10095599"/>
              <a:gd name="connsiteY22" fmla="*/ 6103938 h 6858000"/>
              <a:gd name="connsiteX23" fmla="*/ 166687 w 10095599"/>
              <a:gd name="connsiteY23" fmla="*/ 6043613 h 6858000"/>
              <a:gd name="connsiteX24" fmla="*/ 155575 w 10095599"/>
              <a:gd name="connsiteY24" fmla="*/ 5991225 h 6858000"/>
              <a:gd name="connsiteX25" fmla="*/ 139700 w 10095599"/>
              <a:gd name="connsiteY25" fmla="*/ 5945188 h 6858000"/>
              <a:gd name="connsiteX26" fmla="*/ 123825 w 10095599"/>
              <a:gd name="connsiteY26" fmla="*/ 5903913 h 6858000"/>
              <a:gd name="connsiteX27" fmla="*/ 107950 w 10095599"/>
              <a:gd name="connsiteY27" fmla="*/ 5867400 h 6858000"/>
              <a:gd name="connsiteX28" fmla="*/ 88900 w 10095599"/>
              <a:gd name="connsiteY28" fmla="*/ 5829300 h 6858000"/>
              <a:gd name="connsiteX29" fmla="*/ 69850 w 10095599"/>
              <a:gd name="connsiteY29" fmla="*/ 5791200 h 6858000"/>
              <a:gd name="connsiteX30" fmla="*/ 50800 w 10095599"/>
              <a:gd name="connsiteY30" fmla="*/ 5754688 h 6858000"/>
              <a:gd name="connsiteX31" fmla="*/ 34925 w 10095599"/>
              <a:gd name="connsiteY31" fmla="*/ 5713413 h 6858000"/>
              <a:gd name="connsiteX32" fmla="*/ 20637 w 10095599"/>
              <a:gd name="connsiteY32" fmla="*/ 5667375 h 6858000"/>
              <a:gd name="connsiteX33" fmla="*/ 9525 w 10095599"/>
              <a:gd name="connsiteY33" fmla="*/ 5614988 h 6858000"/>
              <a:gd name="connsiteX34" fmla="*/ 1587 w 10095599"/>
              <a:gd name="connsiteY34" fmla="*/ 5554663 h 6858000"/>
              <a:gd name="connsiteX35" fmla="*/ 0 w 10095599"/>
              <a:gd name="connsiteY35" fmla="*/ 5486400 h 6858000"/>
              <a:gd name="connsiteX36" fmla="*/ 1587 w 10095599"/>
              <a:gd name="connsiteY36" fmla="*/ 5418138 h 6858000"/>
              <a:gd name="connsiteX37" fmla="*/ 9525 w 10095599"/>
              <a:gd name="connsiteY37" fmla="*/ 5357813 h 6858000"/>
              <a:gd name="connsiteX38" fmla="*/ 20637 w 10095599"/>
              <a:gd name="connsiteY38" fmla="*/ 5305425 h 6858000"/>
              <a:gd name="connsiteX39" fmla="*/ 34925 w 10095599"/>
              <a:gd name="connsiteY39" fmla="*/ 5259388 h 6858000"/>
              <a:gd name="connsiteX40" fmla="*/ 50800 w 10095599"/>
              <a:gd name="connsiteY40" fmla="*/ 5218113 h 6858000"/>
              <a:gd name="connsiteX41" fmla="*/ 69850 w 10095599"/>
              <a:gd name="connsiteY41" fmla="*/ 5181600 h 6858000"/>
              <a:gd name="connsiteX42" fmla="*/ 88900 w 10095599"/>
              <a:gd name="connsiteY42" fmla="*/ 5143500 h 6858000"/>
              <a:gd name="connsiteX43" fmla="*/ 107950 w 10095599"/>
              <a:gd name="connsiteY43" fmla="*/ 5105400 h 6858000"/>
              <a:gd name="connsiteX44" fmla="*/ 123825 w 10095599"/>
              <a:gd name="connsiteY44" fmla="*/ 5068888 h 6858000"/>
              <a:gd name="connsiteX45" fmla="*/ 139700 w 10095599"/>
              <a:gd name="connsiteY45" fmla="*/ 5027613 h 6858000"/>
              <a:gd name="connsiteX46" fmla="*/ 155575 w 10095599"/>
              <a:gd name="connsiteY46" fmla="*/ 4981575 h 6858000"/>
              <a:gd name="connsiteX47" fmla="*/ 166687 w 10095599"/>
              <a:gd name="connsiteY47" fmla="*/ 4929188 h 6858000"/>
              <a:gd name="connsiteX48" fmla="*/ 173037 w 10095599"/>
              <a:gd name="connsiteY48" fmla="*/ 4868863 h 6858000"/>
              <a:gd name="connsiteX49" fmla="*/ 176212 w 10095599"/>
              <a:gd name="connsiteY49" fmla="*/ 4800600 h 6858000"/>
              <a:gd name="connsiteX50" fmla="*/ 173037 w 10095599"/>
              <a:gd name="connsiteY50" fmla="*/ 4732338 h 6858000"/>
              <a:gd name="connsiteX51" fmla="*/ 166687 w 10095599"/>
              <a:gd name="connsiteY51" fmla="*/ 4672013 h 6858000"/>
              <a:gd name="connsiteX52" fmla="*/ 155575 w 10095599"/>
              <a:gd name="connsiteY52" fmla="*/ 4619625 h 6858000"/>
              <a:gd name="connsiteX53" fmla="*/ 139700 w 10095599"/>
              <a:gd name="connsiteY53" fmla="*/ 4573588 h 6858000"/>
              <a:gd name="connsiteX54" fmla="*/ 123825 w 10095599"/>
              <a:gd name="connsiteY54" fmla="*/ 4532313 h 6858000"/>
              <a:gd name="connsiteX55" fmla="*/ 107950 w 10095599"/>
              <a:gd name="connsiteY55" fmla="*/ 4495800 h 6858000"/>
              <a:gd name="connsiteX56" fmla="*/ 69850 w 10095599"/>
              <a:gd name="connsiteY56" fmla="*/ 4419600 h 6858000"/>
              <a:gd name="connsiteX57" fmla="*/ 50800 w 10095599"/>
              <a:gd name="connsiteY57" fmla="*/ 4383088 h 6858000"/>
              <a:gd name="connsiteX58" fmla="*/ 34925 w 10095599"/>
              <a:gd name="connsiteY58" fmla="*/ 4341813 h 6858000"/>
              <a:gd name="connsiteX59" fmla="*/ 20637 w 10095599"/>
              <a:gd name="connsiteY59" fmla="*/ 4295775 h 6858000"/>
              <a:gd name="connsiteX60" fmla="*/ 9525 w 10095599"/>
              <a:gd name="connsiteY60" fmla="*/ 4243388 h 6858000"/>
              <a:gd name="connsiteX61" fmla="*/ 1587 w 10095599"/>
              <a:gd name="connsiteY61" fmla="*/ 4183063 h 6858000"/>
              <a:gd name="connsiteX62" fmla="*/ 0 w 10095599"/>
              <a:gd name="connsiteY62" fmla="*/ 4114800 h 6858000"/>
              <a:gd name="connsiteX63" fmla="*/ 1587 w 10095599"/>
              <a:gd name="connsiteY63" fmla="*/ 4046538 h 6858000"/>
              <a:gd name="connsiteX64" fmla="*/ 9525 w 10095599"/>
              <a:gd name="connsiteY64" fmla="*/ 3986213 h 6858000"/>
              <a:gd name="connsiteX65" fmla="*/ 20637 w 10095599"/>
              <a:gd name="connsiteY65" fmla="*/ 3933825 h 6858000"/>
              <a:gd name="connsiteX66" fmla="*/ 34925 w 10095599"/>
              <a:gd name="connsiteY66" fmla="*/ 3887788 h 6858000"/>
              <a:gd name="connsiteX67" fmla="*/ 50800 w 10095599"/>
              <a:gd name="connsiteY67" fmla="*/ 3846513 h 6858000"/>
              <a:gd name="connsiteX68" fmla="*/ 69850 w 10095599"/>
              <a:gd name="connsiteY68" fmla="*/ 3810000 h 6858000"/>
              <a:gd name="connsiteX69" fmla="*/ 88900 w 10095599"/>
              <a:gd name="connsiteY69" fmla="*/ 3771900 h 6858000"/>
              <a:gd name="connsiteX70" fmla="*/ 107950 w 10095599"/>
              <a:gd name="connsiteY70" fmla="*/ 3733800 h 6858000"/>
              <a:gd name="connsiteX71" fmla="*/ 123825 w 10095599"/>
              <a:gd name="connsiteY71" fmla="*/ 3697288 h 6858000"/>
              <a:gd name="connsiteX72" fmla="*/ 139700 w 10095599"/>
              <a:gd name="connsiteY72" fmla="*/ 3656013 h 6858000"/>
              <a:gd name="connsiteX73" fmla="*/ 155575 w 10095599"/>
              <a:gd name="connsiteY73" fmla="*/ 3609975 h 6858000"/>
              <a:gd name="connsiteX74" fmla="*/ 166687 w 10095599"/>
              <a:gd name="connsiteY74" fmla="*/ 3557588 h 6858000"/>
              <a:gd name="connsiteX75" fmla="*/ 173037 w 10095599"/>
              <a:gd name="connsiteY75" fmla="*/ 3497263 h 6858000"/>
              <a:gd name="connsiteX76" fmla="*/ 176212 w 10095599"/>
              <a:gd name="connsiteY76" fmla="*/ 3427413 h 6858000"/>
              <a:gd name="connsiteX77" fmla="*/ 173037 w 10095599"/>
              <a:gd name="connsiteY77" fmla="*/ 3360738 h 6858000"/>
              <a:gd name="connsiteX78" fmla="*/ 166687 w 10095599"/>
              <a:gd name="connsiteY78" fmla="*/ 3300413 h 6858000"/>
              <a:gd name="connsiteX79" fmla="*/ 155575 w 10095599"/>
              <a:gd name="connsiteY79" fmla="*/ 3248025 h 6858000"/>
              <a:gd name="connsiteX80" fmla="*/ 139700 w 10095599"/>
              <a:gd name="connsiteY80" fmla="*/ 3201988 h 6858000"/>
              <a:gd name="connsiteX81" fmla="*/ 123825 w 10095599"/>
              <a:gd name="connsiteY81" fmla="*/ 3160713 h 6858000"/>
              <a:gd name="connsiteX82" fmla="*/ 107950 w 10095599"/>
              <a:gd name="connsiteY82" fmla="*/ 3124200 h 6858000"/>
              <a:gd name="connsiteX83" fmla="*/ 88900 w 10095599"/>
              <a:gd name="connsiteY83" fmla="*/ 3086100 h 6858000"/>
              <a:gd name="connsiteX84" fmla="*/ 69850 w 10095599"/>
              <a:gd name="connsiteY84" fmla="*/ 3048000 h 6858000"/>
              <a:gd name="connsiteX85" fmla="*/ 50800 w 10095599"/>
              <a:gd name="connsiteY85" fmla="*/ 3011488 h 6858000"/>
              <a:gd name="connsiteX86" fmla="*/ 34925 w 10095599"/>
              <a:gd name="connsiteY86" fmla="*/ 2970213 h 6858000"/>
              <a:gd name="connsiteX87" fmla="*/ 20637 w 10095599"/>
              <a:gd name="connsiteY87" fmla="*/ 2924175 h 6858000"/>
              <a:gd name="connsiteX88" fmla="*/ 9525 w 10095599"/>
              <a:gd name="connsiteY88" fmla="*/ 2871788 h 6858000"/>
              <a:gd name="connsiteX89" fmla="*/ 1587 w 10095599"/>
              <a:gd name="connsiteY89" fmla="*/ 2811463 h 6858000"/>
              <a:gd name="connsiteX90" fmla="*/ 0 w 10095599"/>
              <a:gd name="connsiteY90" fmla="*/ 2743200 h 6858000"/>
              <a:gd name="connsiteX91" fmla="*/ 1587 w 10095599"/>
              <a:gd name="connsiteY91" fmla="*/ 2674938 h 6858000"/>
              <a:gd name="connsiteX92" fmla="*/ 9525 w 10095599"/>
              <a:gd name="connsiteY92" fmla="*/ 2614613 h 6858000"/>
              <a:gd name="connsiteX93" fmla="*/ 20637 w 10095599"/>
              <a:gd name="connsiteY93" fmla="*/ 2562225 h 6858000"/>
              <a:gd name="connsiteX94" fmla="*/ 34925 w 10095599"/>
              <a:gd name="connsiteY94" fmla="*/ 2516188 h 6858000"/>
              <a:gd name="connsiteX95" fmla="*/ 50800 w 10095599"/>
              <a:gd name="connsiteY95" fmla="*/ 2474913 h 6858000"/>
              <a:gd name="connsiteX96" fmla="*/ 69850 w 10095599"/>
              <a:gd name="connsiteY96" fmla="*/ 2438400 h 6858000"/>
              <a:gd name="connsiteX97" fmla="*/ 88900 w 10095599"/>
              <a:gd name="connsiteY97" fmla="*/ 2400300 h 6858000"/>
              <a:gd name="connsiteX98" fmla="*/ 107950 w 10095599"/>
              <a:gd name="connsiteY98" fmla="*/ 2362200 h 6858000"/>
              <a:gd name="connsiteX99" fmla="*/ 123825 w 10095599"/>
              <a:gd name="connsiteY99" fmla="*/ 2325688 h 6858000"/>
              <a:gd name="connsiteX100" fmla="*/ 139700 w 10095599"/>
              <a:gd name="connsiteY100" fmla="*/ 2284413 h 6858000"/>
              <a:gd name="connsiteX101" fmla="*/ 155575 w 10095599"/>
              <a:gd name="connsiteY101" fmla="*/ 2238375 h 6858000"/>
              <a:gd name="connsiteX102" fmla="*/ 166687 w 10095599"/>
              <a:gd name="connsiteY102" fmla="*/ 2185988 h 6858000"/>
              <a:gd name="connsiteX103" fmla="*/ 173037 w 10095599"/>
              <a:gd name="connsiteY103" fmla="*/ 2125663 h 6858000"/>
              <a:gd name="connsiteX104" fmla="*/ 176212 w 10095599"/>
              <a:gd name="connsiteY104" fmla="*/ 2057400 h 6858000"/>
              <a:gd name="connsiteX105" fmla="*/ 173037 w 10095599"/>
              <a:gd name="connsiteY105" fmla="*/ 1989138 h 6858000"/>
              <a:gd name="connsiteX106" fmla="*/ 166687 w 10095599"/>
              <a:gd name="connsiteY106" fmla="*/ 1928813 h 6858000"/>
              <a:gd name="connsiteX107" fmla="*/ 155575 w 10095599"/>
              <a:gd name="connsiteY107" fmla="*/ 1876425 h 6858000"/>
              <a:gd name="connsiteX108" fmla="*/ 139700 w 10095599"/>
              <a:gd name="connsiteY108" fmla="*/ 1830388 h 6858000"/>
              <a:gd name="connsiteX109" fmla="*/ 123825 w 10095599"/>
              <a:gd name="connsiteY109" fmla="*/ 1789113 h 6858000"/>
              <a:gd name="connsiteX110" fmla="*/ 107950 w 10095599"/>
              <a:gd name="connsiteY110" fmla="*/ 1752600 h 6858000"/>
              <a:gd name="connsiteX111" fmla="*/ 88900 w 10095599"/>
              <a:gd name="connsiteY111" fmla="*/ 1714500 h 6858000"/>
              <a:gd name="connsiteX112" fmla="*/ 69850 w 10095599"/>
              <a:gd name="connsiteY112" fmla="*/ 1676400 h 6858000"/>
              <a:gd name="connsiteX113" fmla="*/ 50800 w 10095599"/>
              <a:gd name="connsiteY113" fmla="*/ 1639888 h 6858000"/>
              <a:gd name="connsiteX114" fmla="*/ 34925 w 10095599"/>
              <a:gd name="connsiteY114" fmla="*/ 1598613 h 6858000"/>
              <a:gd name="connsiteX115" fmla="*/ 20637 w 10095599"/>
              <a:gd name="connsiteY115" fmla="*/ 1552575 h 6858000"/>
              <a:gd name="connsiteX116" fmla="*/ 9525 w 10095599"/>
              <a:gd name="connsiteY116" fmla="*/ 1500188 h 6858000"/>
              <a:gd name="connsiteX117" fmla="*/ 1587 w 10095599"/>
              <a:gd name="connsiteY117" fmla="*/ 1439863 h 6858000"/>
              <a:gd name="connsiteX118" fmla="*/ 0 w 10095599"/>
              <a:gd name="connsiteY118" fmla="*/ 1371600 h 6858000"/>
              <a:gd name="connsiteX119" fmla="*/ 1587 w 10095599"/>
              <a:gd name="connsiteY119" fmla="*/ 1303338 h 6858000"/>
              <a:gd name="connsiteX120" fmla="*/ 9525 w 10095599"/>
              <a:gd name="connsiteY120" fmla="*/ 1243013 h 6858000"/>
              <a:gd name="connsiteX121" fmla="*/ 20637 w 10095599"/>
              <a:gd name="connsiteY121" fmla="*/ 1190625 h 6858000"/>
              <a:gd name="connsiteX122" fmla="*/ 34925 w 10095599"/>
              <a:gd name="connsiteY122" fmla="*/ 1144588 h 6858000"/>
              <a:gd name="connsiteX123" fmla="*/ 50800 w 10095599"/>
              <a:gd name="connsiteY123" fmla="*/ 1103313 h 6858000"/>
              <a:gd name="connsiteX124" fmla="*/ 69850 w 10095599"/>
              <a:gd name="connsiteY124" fmla="*/ 1066800 h 6858000"/>
              <a:gd name="connsiteX125" fmla="*/ 88900 w 10095599"/>
              <a:gd name="connsiteY125" fmla="*/ 1028700 h 6858000"/>
              <a:gd name="connsiteX126" fmla="*/ 107950 w 10095599"/>
              <a:gd name="connsiteY126" fmla="*/ 990600 h 6858000"/>
              <a:gd name="connsiteX127" fmla="*/ 123825 w 10095599"/>
              <a:gd name="connsiteY127" fmla="*/ 954088 h 6858000"/>
              <a:gd name="connsiteX128" fmla="*/ 139700 w 10095599"/>
              <a:gd name="connsiteY128" fmla="*/ 912813 h 6858000"/>
              <a:gd name="connsiteX129" fmla="*/ 155575 w 10095599"/>
              <a:gd name="connsiteY129" fmla="*/ 866775 h 6858000"/>
              <a:gd name="connsiteX130" fmla="*/ 166687 w 10095599"/>
              <a:gd name="connsiteY130" fmla="*/ 814388 h 6858000"/>
              <a:gd name="connsiteX131" fmla="*/ 173037 w 10095599"/>
              <a:gd name="connsiteY131" fmla="*/ 754063 h 6858000"/>
              <a:gd name="connsiteX132" fmla="*/ 176212 w 10095599"/>
              <a:gd name="connsiteY132" fmla="*/ 685800 h 6858000"/>
              <a:gd name="connsiteX133" fmla="*/ 173037 w 10095599"/>
              <a:gd name="connsiteY133" fmla="*/ 617538 h 6858000"/>
              <a:gd name="connsiteX134" fmla="*/ 166687 w 10095599"/>
              <a:gd name="connsiteY134" fmla="*/ 557213 h 6858000"/>
              <a:gd name="connsiteX135" fmla="*/ 155575 w 10095599"/>
              <a:gd name="connsiteY135" fmla="*/ 504825 h 6858000"/>
              <a:gd name="connsiteX136" fmla="*/ 139700 w 10095599"/>
              <a:gd name="connsiteY136" fmla="*/ 458788 h 6858000"/>
              <a:gd name="connsiteX137" fmla="*/ 123825 w 10095599"/>
              <a:gd name="connsiteY137" fmla="*/ 417513 h 6858000"/>
              <a:gd name="connsiteX138" fmla="*/ 107950 w 10095599"/>
              <a:gd name="connsiteY138" fmla="*/ 381000 h 6858000"/>
              <a:gd name="connsiteX139" fmla="*/ 88900 w 10095599"/>
              <a:gd name="connsiteY139" fmla="*/ 342900 h 6858000"/>
              <a:gd name="connsiteX140" fmla="*/ 69850 w 10095599"/>
              <a:gd name="connsiteY140" fmla="*/ 304800 h 6858000"/>
              <a:gd name="connsiteX141" fmla="*/ 50800 w 10095599"/>
              <a:gd name="connsiteY141" fmla="*/ 268288 h 6858000"/>
              <a:gd name="connsiteX142" fmla="*/ 34925 w 10095599"/>
              <a:gd name="connsiteY142" fmla="*/ 227013 h 6858000"/>
              <a:gd name="connsiteX143" fmla="*/ 20637 w 10095599"/>
              <a:gd name="connsiteY143" fmla="*/ 180975 h 6858000"/>
              <a:gd name="connsiteX144" fmla="*/ 9525 w 10095599"/>
              <a:gd name="connsiteY144" fmla="*/ 128588 h 6858000"/>
              <a:gd name="connsiteX145" fmla="*/ 1587 w 10095599"/>
              <a:gd name="connsiteY145" fmla="*/ 6826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10095599" h="6858000">
                <a:moveTo>
                  <a:pt x="0" y="0"/>
                </a:moveTo>
                <a:lnTo>
                  <a:pt x="7448352" y="0"/>
                </a:lnTo>
                <a:lnTo>
                  <a:pt x="9446485" y="0"/>
                </a:lnTo>
                <a:lnTo>
                  <a:pt x="10095599" y="0"/>
                </a:lnTo>
                <a:lnTo>
                  <a:pt x="10095599" y="6858000"/>
                </a:lnTo>
                <a:lnTo>
                  <a:pt x="9446485" y="6858000"/>
                </a:lnTo>
                <a:lnTo>
                  <a:pt x="7448352" y="6858000"/>
                </a:lnTo>
                <a:lnTo>
                  <a:pt x="0" y="6858000"/>
                </a:lnTo>
                <a:lnTo>
                  <a:pt x="1587" y="6789738"/>
                </a:lnTo>
                <a:lnTo>
                  <a:pt x="9525" y="6729413"/>
                </a:lnTo>
                <a:lnTo>
                  <a:pt x="20637" y="6677025"/>
                </a:lnTo>
                <a:lnTo>
                  <a:pt x="34925" y="6630988"/>
                </a:lnTo>
                <a:lnTo>
                  <a:pt x="50800" y="6589713"/>
                </a:lnTo>
                <a:lnTo>
                  <a:pt x="69850" y="6553200"/>
                </a:lnTo>
                <a:lnTo>
                  <a:pt x="88900" y="6515100"/>
                </a:lnTo>
                <a:lnTo>
                  <a:pt x="107950" y="6477000"/>
                </a:lnTo>
                <a:lnTo>
                  <a:pt x="123825" y="6440488"/>
                </a:lnTo>
                <a:lnTo>
                  <a:pt x="139700" y="6399213"/>
                </a:lnTo>
                <a:lnTo>
                  <a:pt x="155575" y="6353175"/>
                </a:lnTo>
                <a:lnTo>
                  <a:pt x="166687" y="6300788"/>
                </a:lnTo>
                <a:lnTo>
                  <a:pt x="173037" y="6240463"/>
                </a:lnTo>
                <a:lnTo>
                  <a:pt x="176212" y="6172200"/>
                </a:lnTo>
                <a:lnTo>
                  <a:pt x="173037" y="6103938"/>
                </a:lnTo>
                <a:lnTo>
                  <a:pt x="166687" y="6043613"/>
                </a:lnTo>
                <a:lnTo>
                  <a:pt x="155575" y="5991225"/>
                </a:lnTo>
                <a:lnTo>
                  <a:pt x="139700" y="5945188"/>
                </a:lnTo>
                <a:lnTo>
                  <a:pt x="123825" y="5903913"/>
                </a:lnTo>
                <a:lnTo>
                  <a:pt x="107950" y="5867400"/>
                </a:lnTo>
                <a:lnTo>
                  <a:pt x="88900" y="5829300"/>
                </a:lnTo>
                <a:lnTo>
                  <a:pt x="69850" y="5791200"/>
                </a:lnTo>
                <a:lnTo>
                  <a:pt x="50800" y="5754688"/>
                </a:lnTo>
                <a:lnTo>
                  <a:pt x="34925" y="5713413"/>
                </a:lnTo>
                <a:lnTo>
                  <a:pt x="20637" y="5667375"/>
                </a:lnTo>
                <a:lnTo>
                  <a:pt x="9525" y="5614988"/>
                </a:lnTo>
                <a:lnTo>
                  <a:pt x="1587" y="5554663"/>
                </a:lnTo>
                <a:lnTo>
                  <a:pt x="0" y="5486400"/>
                </a:lnTo>
                <a:lnTo>
                  <a:pt x="1587" y="5418138"/>
                </a:lnTo>
                <a:lnTo>
                  <a:pt x="9525" y="5357813"/>
                </a:lnTo>
                <a:lnTo>
                  <a:pt x="20637" y="5305425"/>
                </a:lnTo>
                <a:lnTo>
                  <a:pt x="34925" y="5259388"/>
                </a:lnTo>
                <a:lnTo>
                  <a:pt x="50800" y="5218113"/>
                </a:lnTo>
                <a:lnTo>
                  <a:pt x="69850" y="5181600"/>
                </a:lnTo>
                <a:lnTo>
                  <a:pt x="88900" y="5143500"/>
                </a:lnTo>
                <a:lnTo>
                  <a:pt x="107950" y="5105400"/>
                </a:lnTo>
                <a:lnTo>
                  <a:pt x="123825" y="5068888"/>
                </a:lnTo>
                <a:lnTo>
                  <a:pt x="139700" y="5027613"/>
                </a:lnTo>
                <a:lnTo>
                  <a:pt x="155575" y="4981575"/>
                </a:lnTo>
                <a:lnTo>
                  <a:pt x="166687" y="4929188"/>
                </a:lnTo>
                <a:lnTo>
                  <a:pt x="173037" y="4868863"/>
                </a:lnTo>
                <a:lnTo>
                  <a:pt x="176212" y="4800600"/>
                </a:lnTo>
                <a:lnTo>
                  <a:pt x="173037" y="4732338"/>
                </a:lnTo>
                <a:lnTo>
                  <a:pt x="166687" y="4672013"/>
                </a:lnTo>
                <a:lnTo>
                  <a:pt x="155575" y="4619625"/>
                </a:lnTo>
                <a:lnTo>
                  <a:pt x="139700" y="4573588"/>
                </a:lnTo>
                <a:lnTo>
                  <a:pt x="123825" y="4532313"/>
                </a:lnTo>
                <a:lnTo>
                  <a:pt x="107950" y="4495800"/>
                </a:lnTo>
                <a:lnTo>
                  <a:pt x="69850" y="4419600"/>
                </a:lnTo>
                <a:lnTo>
                  <a:pt x="50800" y="4383088"/>
                </a:lnTo>
                <a:lnTo>
                  <a:pt x="34925" y="4341813"/>
                </a:lnTo>
                <a:lnTo>
                  <a:pt x="20637" y="4295775"/>
                </a:lnTo>
                <a:lnTo>
                  <a:pt x="9525" y="4243388"/>
                </a:lnTo>
                <a:lnTo>
                  <a:pt x="1587" y="4183063"/>
                </a:lnTo>
                <a:lnTo>
                  <a:pt x="0" y="4114800"/>
                </a:lnTo>
                <a:lnTo>
                  <a:pt x="1587" y="4046538"/>
                </a:lnTo>
                <a:lnTo>
                  <a:pt x="9525" y="3986213"/>
                </a:lnTo>
                <a:lnTo>
                  <a:pt x="20637" y="3933825"/>
                </a:lnTo>
                <a:lnTo>
                  <a:pt x="34925" y="3887788"/>
                </a:lnTo>
                <a:lnTo>
                  <a:pt x="50800" y="3846513"/>
                </a:lnTo>
                <a:lnTo>
                  <a:pt x="69850" y="3810000"/>
                </a:lnTo>
                <a:lnTo>
                  <a:pt x="88900" y="3771900"/>
                </a:lnTo>
                <a:lnTo>
                  <a:pt x="107950" y="3733800"/>
                </a:lnTo>
                <a:lnTo>
                  <a:pt x="123825" y="3697288"/>
                </a:lnTo>
                <a:lnTo>
                  <a:pt x="139700" y="3656013"/>
                </a:lnTo>
                <a:lnTo>
                  <a:pt x="155575" y="3609975"/>
                </a:lnTo>
                <a:lnTo>
                  <a:pt x="166687" y="3557588"/>
                </a:lnTo>
                <a:lnTo>
                  <a:pt x="173037" y="3497263"/>
                </a:lnTo>
                <a:lnTo>
                  <a:pt x="176212" y="3427413"/>
                </a:lnTo>
                <a:lnTo>
                  <a:pt x="173037" y="3360738"/>
                </a:lnTo>
                <a:lnTo>
                  <a:pt x="166687" y="3300413"/>
                </a:lnTo>
                <a:lnTo>
                  <a:pt x="155575" y="3248025"/>
                </a:lnTo>
                <a:lnTo>
                  <a:pt x="139700" y="3201988"/>
                </a:lnTo>
                <a:lnTo>
                  <a:pt x="123825" y="3160713"/>
                </a:lnTo>
                <a:lnTo>
                  <a:pt x="107950" y="3124200"/>
                </a:lnTo>
                <a:lnTo>
                  <a:pt x="88900" y="3086100"/>
                </a:lnTo>
                <a:lnTo>
                  <a:pt x="69850" y="3048000"/>
                </a:lnTo>
                <a:lnTo>
                  <a:pt x="50800" y="3011488"/>
                </a:lnTo>
                <a:lnTo>
                  <a:pt x="34925" y="2970213"/>
                </a:lnTo>
                <a:lnTo>
                  <a:pt x="20637" y="2924175"/>
                </a:lnTo>
                <a:lnTo>
                  <a:pt x="9525" y="2871788"/>
                </a:lnTo>
                <a:lnTo>
                  <a:pt x="1587" y="2811463"/>
                </a:lnTo>
                <a:lnTo>
                  <a:pt x="0" y="2743200"/>
                </a:lnTo>
                <a:lnTo>
                  <a:pt x="1587" y="2674938"/>
                </a:lnTo>
                <a:lnTo>
                  <a:pt x="9525" y="2614613"/>
                </a:lnTo>
                <a:lnTo>
                  <a:pt x="20637" y="2562225"/>
                </a:lnTo>
                <a:lnTo>
                  <a:pt x="34925" y="2516188"/>
                </a:lnTo>
                <a:lnTo>
                  <a:pt x="50800" y="2474913"/>
                </a:lnTo>
                <a:lnTo>
                  <a:pt x="69850" y="2438400"/>
                </a:lnTo>
                <a:lnTo>
                  <a:pt x="88900" y="2400300"/>
                </a:lnTo>
                <a:lnTo>
                  <a:pt x="107950" y="2362200"/>
                </a:lnTo>
                <a:lnTo>
                  <a:pt x="123825" y="2325688"/>
                </a:lnTo>
                <a:lnTo>
                  <a:pt x="139700" y="2284413"/>
                </a:lnTo>
                <a:lnTo>
                  <a:pt x="155575" y="2238375"/>
                </a:lnTo>
                <a:lnTo>
                  <a:pt x="166687" y="2185988"/>
                </a:lnTo>
                <a:lnTo>
                  <a:pt x="173037" y="2125663"/>
                </a:lnTo>
                <a:lnTo>
                  <a:pt x="176212" y="2057400"/>
                </a:lnTo>
                <a:lnTo>
                  <a:pt x="173037" y="1989138"/>
                </a:lnTo>
                <a:lnTo>
                  <a:pt x="166687" y="1928813"/>
                </a:lnTo>
                <a:lnTo>
                  <a:pt x="155575" y="1876425"/>
                </a:lnTo>
                <a:lnTo>
                  <a:pt x="139700" y="1830388"/>
                </a:lnTo>
                <a:lnTo>
                  <a:pt x="123825" y="1789113"/>
                </a:lnTo>
                <a:lnTo>
                  <a:pt x="107950" y="1752600"/>
                </a:lnTo>
                <a:lnTo>
                  <a:pt x="88900" y="1714500"/>
                </a:lnTo>
                <a:lnTo>
                  <a:pt x="69850" y="1676400"/>
                </a:lnTo>
                <a:lnTo>
                  <a:pt x="50800" y="1639888"/>
                </a:lnTo>
                <a:lnTo>
                  <a:pt x="34925" y="1598613"/>
                </a:lnTo>
                <a:lnTo>
                  <a:pt x="20637" y="1552575"/>
                </a:lnTo>
                <a:lnTo>
                  <a:pt x="9525" y="1500188"/>
                </a:lnTo>
                <a:lnTo>
                  <a:pt x="1587" y="1439863"/>
                </a:lnTo>
                <a:lnTo>
                  <a:pt x="0" y="1371600"/>
                </a:lnTo>
                <a:lnTo>
                  <a:pt x="1587" y="1303338"/>
                </a:lnTo>
                <a:lnTo>
                  <a:pt x="9525" y="1243013"/>
                </a:lnTo>
                <a:lnTo>
                  <a:pt x="20637" y="1190625"/>
                </a:lnTo>
                <a:lnTo>
                  <a:pt x="34925" y="1144588"/>
                </a:lnTo>
                <a:lnTo>
                  <a:pt x="50800" y="1103313"/>
                </a:lnTo>
                <a:lnTo>
                  <a:pt x="69850" y="1066800"/>
                </a:lnTo>
                <a:lnTo>
                  <a:pt x="88900" y="1028700"/>
                </a:lnTo>
                <a:lnTo>
                  <a:pt x="107950" y="990600"/>
                </a:lnTo>
                <a:lnTo>
                  <a:pt x="123825" y="954088"/>
                </a:lnTo>
                <a:lnTo>
                  <a:pt x="139700" y="912813"/>
                </a:lnTo>
                <a:lnTo>
                  <a:pt x="155575" y="866775"/>
                </a:lnTo>
                <a:lnTo>
                  <a:pt x="166687" y="814388"/>
                </a:lnTo>
                <a:lnTo>
                  <a:pt x="173037" y="754063"/>
                </a:lnTo>
                <a:lnTo>
                  <a:pt x="176212" y="685800"/>
                </a:lnTo>
                <a:lnTo>
                  <a:pt x="173037" y="617538"/>
                </a:lnTo>
                <a:lnTo>
                  <a:pt x="166687" y="557213"/>
                </a:lnTo>
                <a:lnTo>
                  <a:pt x="155575" y="504825"/>
                </a:lnTo>
                <a:lnTo>
                  <a:pt x="139700" y="458788"/>
                </a:lnTo>
                <a:lnTo>
                  <a:pt x="123825" y="417513"/>
                </a:lnTo>
                <a:lnTo>
                  <a:pt x="107950" y="381000"/>
                </a:lnTo>
                <a:lnTo>
                  <a:pt x="88900" y="342900"/>
                </a:lnTo>
                <a:lnTo>
                  <a:pt x="69850" y="304800"/>
                </a:lnTo>
                <a:lnTo>
                  <a:pt x="50800" y="268288"/>
                </a:lnTo>
                <a:lnTo>
                  <a:pt x="34925" y="227013"/>
                </a:lnTo>
                <a:lnTo>
                  <a:pt x="20637" y="180975"/>
                </a:lnTo>
                <a:lnTo>
                  <a:pt x="9525" y="128588"/>
                </a:lnTo>
                <a:lnTo>
                  <a:pt x="1587" y="68263"/>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194F438-5282-0AC6-BED5-6C58D59582CD}"/>
              </a:ext>
            </a:extLst>
          </p:cNvPr>
          <p:cNvSpPr>
            <a:spLocks noGrp="1"/>
          </p:cNvSpPr>
          <p:nvPr>
            <p:ph type="title"/>
          </p:nvPr>
        </p:nvSpPr>
        <p:spPr>
          <a:xfrm>
            <a:off x="1585773" y="267629"/>
            <a:ext cx="8632372" cy="1113295"/>
          </a:xfrm>
        </p:spPr>
        <p:txBody>
          <a:bodyPr anchor="t">
            <a:normAutofit/>
          </a:bodyPr>
          <a:lstStyle/>
          <a:p>
            <a:pPr algn="ctr"/>
            <a:r>
              <a:rPr lang="en-US"/>
              <a:t>Building Caseloads	</a:t>
            </a:r>
          </a:p>
        </p:txBody>
      </p:sp>
      <p:pic>
        <p:nvPicPr>
          <p:cNvPr id="5" name="Picture 4" descr="Logo">
            <a:extLst>
              <a:ext uri="{FF2B5EF4-FFF2-40B4-BE49-F238E27FC236}">
                <a16:creationId xmlns:a16="http://schemas.microsoft.com/office/drawing/2014/main" id="{1D9D86B6-06EC-7855-38BD-D889DEBBAD74}"/>
              </a:ext>
            </a:extLst>
          </p:cNvPr>
          <p:cNvPicPr>
            <a:picLocks noChangeAspect="1"/>
          </p:cNvPicPr>
          <p:nvPr/>
        </p:nvPicPr>
        <p:blipFill>
          <a:blip r:embed="rId3"/>
          <a:stretch>
            <a:fillRect/>
          </a:stretch>
        </p:blipFill>
        <p:spPr>
          <a:xfrm>
            <a:off x="10095599" y="5833791"/>
            <a:ext cx="1768158" cy="875712"/>
          </a:xfrm>
          <a:prstGeom prst="rect">
            <a:avLst/>
          </a:prstGeom>
        </p:spPr>
      </p:pic>
      <p:sp>
        <p:nvSpPr>
          <p:cNvPr id="7" name="Content Placeholder 6">
            <a:extLst>
              <a:ext uri="{FF2B5EF4-FFF2-40B4-BE49-F238E27FC236}">
                <a16:creationId xmlns:a16="http://schemas.microsoft.com/office/drawing/2014/main" id="{18101594-30CD-85FF-F02F-5255472D6441}"/>
              </a:ext>
            </a:extLst>
          </p:cNvPr>
          <p:cNvSpPr>
            <a:spLocks noGrp="1"/>
          </p:cNvSpPr>
          <p:nvPr>
            <p:ph idx="1"/>
          </p:nvPr>
        </p:nvSpPr>
        <p:spPr>
          <a:xfrm>
            <a:off x="2504440" y="1612265"/>
            <a:ext cx="9551625" cy="4351338"/>
          </a:xfrm>
        </p:spPr>
        <p:txBody>
          <a:bodyPr vert="horz" lIns="91440" tIns="45720" rIns="91440" bIns="45720" rtlCol="0" anchor="t">
            <a:normAutofit/>
          </a:bodyPr>
          <a:lstStyle/>
          <a:p>
            <a:pPr>
              <a:lnSpc>
                <a:spcPct val="100000"/>
              </a:lnSpc>
              <a:spcBef>
                <a:spcPts val="0"/>
              </a:spcBef>
            </a:pPr>
            <a:r>
              <a:rPr lang="en-US">
                <a:ea typeface="Calibri"/>
                <a:cs typeface="Calibri"/>
              </a:rPr>
              <a:t>Billable time is one factor that should determine caseloads</a:t>
            </a:r>
          </a:p>
          <a:p>
            <a:pPr marL="0" indent="0">
              <a:lnSpc>
                <a:spcPct val="100000"/>
              </a:lnSpc>
              <a:spcBef>
                <a:spcPts val="0"/>
              </a:spcBef>
              <a:buNone/>
            </a:pPr>
            <a:endParaRPr lang="en-US">
              <a:ea typeface="Calibri"/>
              <a:cs typeface="Calibri"/>
            </a:endParaRPr>
          </a:p>
          <a:p>
            <a:pPr>
              <a:lnSpc>
                <a:spcPct val="100000"/>
              </a:lnSpc>
              <a:spcBef>
                <a:spcPts val="0"/>
              </a:spcBef>
            </a:pPr>
            <a:r>
              <a:rPr lang="en-US">
                <a:ea typeface="Calibri"/>
                <a:cs typeface="Calibri"/>
              </a:rPr>
              <a:t>For staff delivering employment services, how much of their time must be billable?</a:t>
            </a:r>
          </a:p>
          <a:p>
            <a:pPr marL="0" indent="0">
              <a:lnSpc>
                <a:spcPct val="100000"/>
              </a:lnSpc>
              <a:spcBef>
                <a:spcPts val="0"/>
              </a:spcBef>
              <a:buNone/>
            </a:pPr>
            <a:endParaRPr lang="en-US">
              <a:ea typeface="Calibri"/>
              <a:cs typeface="Calibri"/>
            </a:endParaRPr>
          </a:p>
          <a:p>
            <a:pPr>
              <a:lnSpc>
                <a:spcPct val="100000"/>
              </a:lnSpc>
              <a:spcBef>
                <a:spcPts val="0"/>
              </a:spcBef>
            </a:pPr>
            <a:r>
              <a:rPr lang="en-US">
                <a:ea typeface="Calibri"/>
                <a:cs typeface="Calibri"/>
              </a:rPr>
              <a:t>Key Factors – the services they are providing</a:t>
            </a:r>
          </a:p>
          <a:p>
            <a:pPr lvl="1">
              <a:lnSpc>
                <a:spcPct val="100000"/>
              </a:lnSpc>
              <a:spcBef>
                <a:spcPts val="0"/>
              </a:spcBef>
            </a:pPr>
            <a:r>
              <a:rPr lang="en-US">
                <a:ea typeface="Calibri"/>
                <a:cs typeface="Calibri"/>
              </a:rPr>
              <a:t>Pre-Employment Transition Services (youth ages 14 - 22)</a:t>
            </a:r>
          </a:p>
          <a:p>
            <a:pPr lvl="1">
              <a:lnSpc>
                <a:spcPct val="100000"/>
              </a:lnSpc>
              <a:spcBef>
                <a:spcPts val="0"/>
              </a:spcBef>
            </a:pPr>
            <a:r>
              <a:rPr lang="en-US">
                <a:ea typeface="Calibri"/>
                <a:cs typeface="Calibri"/>
              </a:rPr>
              <a:t>Vocational Rehabilitation Services (adults)</a:t>
            </a:r>
          </a:p>
          <a:p>
            <a:pPr lvl="1">
              <a:lnSpc>
                <a:spcPct val="100000"/>
              </a:lnSpc>
              <a:spcBef>
                <a:spcPts val="0"/>
              </a:spcBef>
            </a:pPr>
            <a:r>
              <a:rPr lang="en-US">
                <a:ea typeface="Calibri"/>
                <a:cs typeface="Calibri"/>
              </a:rPr>
              <a:t>Waiver employment services (EES, EDS, ESS)</a:t>
            </a:r>
          </a:p>
        </p:txBody>
      </p:sp>
    </p:spTree>
    <p:extLst>
      <p:ext uri="{BB962C8B-B14F-4D97-AF65-F5344CB8AC3E}">
        <p14:creationId xmlns:p14="http://schemas.microsoft.com/office/powerpoint/2010/main" val="24147422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7">
            <a:extLst>
              <a:ext uri="{FF2B5EF4-FFF2-40B4-BE49-F238E27FC236}">
                <a16:creationId xmlns:a16="http://schemas.microsoft.com/office/drawing/2014/main" id="{E8BF0C67-DF85-430A-B677-74D9594394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1" y="0"/>
            <a:ext cx="12191996" cy="6858000"/>
          </a:xfrm>
          <a:prstGeom prst="rect">
            <a:avLst/>
          </a:prstGeom>
          <a:solidFill>
            <a:srgbClr val="FFFFFF"/>
          </a:solidFill>
          <a:ln w="0">
            <a:noFill/>
            <a:prstDash val="solid"/>
            <a:round/>
            <a:headEnd/>
            <a:tailEnd/>
          </a:ln>
        </p:spPr>
        <p:txBody>
          <a:bodyPr rtlCol="0" anchor="ctr"/>
          <a:lstStyle/>
          <a:p>
            <a:pPr algn="ctr" defTabSz="457200"/>
            <a:endParaRPr lang="en-US">
              <a:solidFill>
                <a:schemeClr val="tx1"/>
              </a:solidFill>
            </a:endParaRPr>
          </a:p>
        </p:txBody>
      </p:sp>
      <p:sp>
        <p:nvSpPr>
          <p:cNvPr id="19" name="Rectangle 9">
            <a:extLst>
              <a:ext uri="{FF2B5EF4-FFF2-40B4-BE49-F238E27FC236}">
                <a16:creationId xmlns:a16="http://schemas.microsoft.com/office/drawing/2014/main" id="{751BAC80-2398-422A-9AA2-2489F01EF9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1" y="0"/>
            <a:ext cx="12191996" cy="6858000"/>
          </a:xfrm>
          <a:prstGeom prst="rect">
            <a:avLst/>
          </a:prstGeom>
          <a:solidFill>
            <a:schemeClr val="accent1">
              <a:lumMod val="50000"/>
              <a:alpha val="25000"/>
            </a:schemeClr>
          </a:solidFill>
          <a:ln w="0">
            <a:noFill/>
            <a:prstDash val="solid"/>
            <a:round/>
            <a:headEnd/>
            <a:tailEnd/>
          </a:ln>
        </p:spPr>
        <p:txBody>
          <a:bodyPr wrap="square" rtlCol="0" anchor="ctr">
            <a:noAutofit/>
          </a:bodyPr>
          <a:lstStyle/>
          <a:p>
            <a:pPr algn="ctr"/>
            <a:endParaRPr lang="en-US"/>
          </a:p>
        </p:txBody>
      </p:sp>
      <p:sp useBgFill="1">
        <p:nvSpPr>
          <p:cNvPr id="20" name="Freeform: Shape 11">
            <a:extLst>
              <a:ext uri="{FF2B5EF4-FFF2-40B4-BE49-F238E27FC236}">
                <a16:creationId xmlns:a16="http://schemas.microsoft.com/office/drawing/2014/main" id="{34A3EF12-7620-4D66-ACFC-B9F71BAD87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96401" y="0"/>
            <a:ext cx="10095599" cy="6858000"/>
          </a:xfrm>
          <a:custGeom>
            <a:avLst/>
            <a:gdLst>
              <a:gd name="connsiteX0" fmla="*/ 0 w 10095599"/>
              <a:gd name="connsiteY0" fmla="*/ 0 h 6858000"/>
              <a:gd name="connsiteX1" fmla="*/ 7448352 w 10095599"/>
              <a:gd name="connsiteY1" fmla="*/ 0 h 6858000"/>
              <a:gd name="connsiteX2" fmla="*/ 9446485 w 10095599"/>
              <a:gd name="connsiteY2" fmla="*/ 0 h 6858000"/>
              <a:gd name="connsiteX3" fmla="*/ 10095599 w 10095599"/>
              <a:gd name="connsiteY3" fmla="*/ 0 h 6858000"/>
              <a:gd name="connsiteX4" fmla="*/ 10095599 w 10095599"/>
              <a:gd name="connsiteY4" fmla="*/ 6858000 h 6858000"/>
              <a:gd name="connsiteX5" fmla="*/ 9446485 w 10095599"/>
              <a:gd name="connsiteY5" fmla="*/ 6858000 h 6858000"/>
              <a:gd name="connsiteX6" fmla="*/ 7448352 w 10095599"/>
              <a:gd name="connsiteY6" fmla="*/ 6858000 h 6858000"/>
              <a:gd name="connsiteX7" fmla="*/ 0 w 10095599"/>
              <a:gd name="connsiteY7" fmla="*/ 6858000 h 6858000"/>
              <a:gd name="connsiteX8" fmla="*/ 1587 w 10095599"/>
              <a:gd name="connsiteY8" fmla="*/ 6789738 h 6858000"/>
              <a:gd name="connsiteX9" fmla="*/ 9525 w 10095599"/>
              <a:gd name="connsiteY9" fmla="*/ 6729413 h 6858000"/>
              <a:gd name="connsiteX10" fmla="*/ 20637 w 10095599"/>
              <a:gd name="connsiteY10" fmla="*/ 6677025 h 6858000"/>
              <a:gd name="connsiteX11" fmla="*/ 34925 w 10095599"/>
              <a:gd name="connsiteY11" fmla="*/ 6630988 h 6858000"/>
              <a:gd name="connsiteX12" fmla="*/ 50800 w 10095599"/>
              <a:gd name="connsiteY12" fmla="*/ 6589713 h 6858000"/>
              <a:gd name="connsiteX13" fmla="*/ 69850 w 10095599"/>
              <a:gd name="connsiteY13" fmla="*/ 6553200 h 6858000"/>
              <a:gd name="connsiteX14" fmla="*/ 88900 w 10095599"/>
              <a:gd name="connsiteY14" fmla="*/ 6515100 h 6858000"/>
              <a:gd name="connsiteX15" fmla="*/ 107950 w 10095599"/>
              <a:gd name="connsiteY15" fmla="*/ 6477000 h 6858000"/>
              <a:gd name="connsiteX16" fmla="*/ 123825 w 10095599"/>
              <a:gd name="connsiteY16" fmla="*/ 6440488 h 6858000"/>
              <a:gd name="connsiteX17" fmla="*/ 139700 w 10095599"/>
              <a:gd name="connsiteY17" fmla="*/ 6399213 h 6858000"/>
              <a:gd name="connsiteX18" fmla="*/ 155575 w 10095599"/>
              <a:gd name="connsiteY18" fmla="*/ 6353175 h 6858000"/>
              <a:gd name="connsiteX19" fmla="*/ 166687 w 10095599"/>
              <a:gd name="connsiteY19" fmla="*/ 6300788 h 6858000"/>
              <a:gd name="connsiteX20" fmla="*/ 173037 w 10095599"/>
              <a:gd name="connsiteY20" fmla="*/ 6240463 h 6858000"/>
              <a:gd name="connsiteX21" fmla="*/ 176212 w 10095599"/>
              <a:gd name="connsiteY21" fmla="*/ 6172200 h 6858000"/>
              <a:gd name="connsiteX22" fmla="*/ 173037 w 10095599"/>
              <a:gd name="connsiteY22" fmla="*/ 6103938 h 6858000"/>
              <a:gd name="connsiteX23" fmla="*/ 166687 w 10095599"/>
              <a:gd name="connsiteY23" fmla="*/ 6043613 h 6858000"/>
              <a:gd name="connsiteX24" fmla="*/ 155575 w 10095599"/>
              <a:gd name="connsiteY24" fmla="*/ 5991225 h 6858000"/>
              <a:gd name="connsiteX25" fmla="*/ 139700 w 10095599"/>
              <a:gd name="connsiteY25" fmla="*/ 5945188 h 6858000"/>
              <a:gd name="connsiteX26" fmla="*/ 123825 w 10095599"/>
              <a:gd name="connsiteY26" fmla="*/ 5903913 h 6858000"/>
              <a:gd name="connsiteX27" fmla="*/ 107950 w 10095599"/>
              <a:gd name="connsiteY27" fmla="*/ 5867400 h 6858000"/>
              <a:gd name="connsiteX28" fmla="*/ 88900 w 10095599"/>
              <a:gd name="connsiteY28" fmla="*/ 5829300 h 6858000"/>
              <a:gd name="connsiteX29" fmla="*/ 69850 w 10095599"/>
              <a:gd name="connsiteY29" fmla="*/ 5791200 h 6858000"/>
              <a:gd name="connsiteX30" fmla="*/ 50800 w 10095599"/>
              <a:gd name="connsiteY30" fmla="*/ 5754688 h 6858000"/>
              <a:gd name="connsiteX31" fmla="*/ 34925 w 10095599"/>
              <a:gd name="connsiteY31" fmla="*/ 5713413 h 6858000"/>
              <a:gd name="connsiteX32" fmla="*/ 20637 w 10095599"/>
              <a:gd name="connsiteY32" fmla="*/ 5667375 h 6858000"/>
              <a:gd name="connsiteX33" fmla="*/ 9525 w 10095599"/>
              <a:gd name="connsiteY33" fmla="*/ 5614988 h 6858000"/>
              <a:gd name="connsiteX34" fmla="*/ 1587 w 10095599"/>
              <a:gd name="connsiteY34" fmla="*/ 5554663 h 6858000"/>
              <a:gd name="connsiteX35" fmla="*/ 0 w 10095599"/>
              <a:gd name="connsiteY35" fmla="*/ 5486400 h 6858000"/>
              <a:gd name="connsiteX36" fmla="*/ 1587 w 10095599"/>
              <a:gd name="connsiteY36" fmla="*/ 5418138 h 6858000"/>
              <a:gd name="connsiteX37" fmla="*/ 9525 w 10095599"/>
              <a:gd name="connsiteY37" fmla="*/ 5357813 h 6858000"/>
              <a:gd name="connsiteX38" fmla="*/ 20637 w 10095599"/>
              <a:gd name="connsiteY38" fmla="*/ 5305425 h 6858000"/>
              <a:gd name="connsiteX39" fmla="*/ 34925 w 10095599"/>
              <a:gd name="connsiteY39" fmla="*/ 5259388 h 6858000"/>
              <a:gd name="connsiteX40" fmla="*/ 50800 w 10095599"/>
              <a:gd name="connsiteY40" fmla="*/ 5218113 h 6858000"/>
              <a:gd name="connsiteX41" fmla="*/ 69850 w 10095599"/>
              <a:gd name="connsiteY41" fmla="*/ 5181600 h 6858000"/>
              <a:gd name="connsiteX42" fmla="*/ 88900 w 10095599"/>
              <a:gd name="connsiteY42" fmla="*/ 5143500 h 6858000"/>
              <a:gd name="connsiteX43" fmla="*/ 107950 w 10095599"/>
              <a:gd name="connsiteY43" fmla="*/ 5105400 h 6858000"/>
              <a:gd name="connsiteX44" fmla="*/ 123825 w 10095599"/>
              <a:gd name="connsiteY44" fmla="*/ 5068888 h 6858000"/>
              <a:gd name="connsiteX45" fmla="*/ 139700 w 10095599"/>
              <a:gd name="connsiteY45" fmla="*/ 5027613 h 6858000"/>
              <a:gd name="connsiteX46" fmla="*/ 155575 w 10095599"/>
              <a:gd name="connsiteY46" fmla="*/ 4981575 h 6858000"/>
              <a:gd name="connsiteX47" fmla="*/ 166687 w 10095599"/>
              <a:gd name="connsiteY47" fmla="*/ 4929188 h 6858000"/>
              <a:gd name="connsiteX48" fmla="*/ 173037 w 10095599"/>
              <a:gd name="connsiteY48" fmla="*/ 4868863 h 6858000"/>
              <a:gd name="connsiteX49" fmla="*/ 176212 w 10095599"/>
              <a:gd name="connsiteY49" fmla="*/ 4800600 h 6858000"/>
              <a:gd name="connsiteX50" fmla="*/ 173037 w 10095599"/>
              <a:gd name="connsiteY50" fmla="*/ 4732338 h 6858000"/>
              <a:gd name="connsiteX51" fmla="*/ 166687 w 10095599"/>
              <a:gd name="connsiteY51" fmla="*/ 4672013 h 6858000"/>
              <a:gd name="connsiteX52" fmla="*/ 155575 w 10095599"/>
              <a:gd name="connsiteY52" fmla="*/ 4619625 h 6858000"/>
              <a:gd name="connsiteX53" fmla="*/ 139700 w 10095599"/>
              <a:gd name="connsiteY53" fmla="*/ 4573588 h 6858000"/>
              <a:gd name="connsiteX54" fmla="*/ 123825 w 10095599"/>
              <a:gd name="connsiteY54" fmla="*/ 4532313 h 6858000"/>
              <a:gd name="connsiteX55" fmla="*/ 107950 w 10095599"/>
              <a:gd name="connsiteY55" fmla="*/ 4495800 h 6858000"/>
              <a:gd name="connsiteX56" fmla="*/ 69850 w 10095599"/>
              <a:gd name="connsiteY56" fmla="*/ 4419600 h 6858000"/>
              <a:gd name="connsiteX57" fmla="*/ 50800 w 10095599"/>
              <a:gd name="connsiteY57" fmla="*/ 4383088 h 6858000"/>
              <a:gd name="connsiteX58" fmla="*/ 34925 w 10095599"/>
              <a:gd name="connsiteY58" fmla="*/ 4341813 h 6858000"/>
              <a:gd name="connsiteX59" fmla="*/ 20637 w 10095599"/>
              <a:gd name="connsiteY59" fmla="*/ 4295775 h 6858000"/>
              <a:gd name="connsiteX60" fmla="*/ 9525 w 10095599"/>
              <a:gd name="connsiteY60" fmla="*/ 4243388 h 6858000"/>
              <a:gd name="connsiteX61" fmla="*/ 1587 w 10095599"/>
              <a:gd name="connsiteY61" fmla="*/ 4183063 h 6858000"/>
              <a:gd name="connsiteX62" fmla="*/ 0 w 10095599"/>
              <a:gd name="connsiteY62" fmla="*/ 4114800 h 6858000"/>
              <a:gd name="connsiteX63" fmla="*/ 1587 w 10095599"/>
              <a:gd name="connsiteY63" fmla="*/ 4046538 h 6858000"/>
              <a:gd name="connsiteX64" fmla="*/ 9525 w 10095599"/>
              <a:gd name="connsiteY64" fmla="*/ 3986213 h 6858000"/>
              <a:gd name="connsiteX65" fmla="*/ 20637 w 10095599"/>
              <a:gd name="connsiteY65" fmla="*/ 3933825 h 6858000"/>
              <a:gd name="connsiteX66" fmla="*/ 34925 w 10095599"/>
              <a:gd name="connsiteY66" fmla="*/ 3887788 h 6858000"/>
              <a:gd name="connsiteX67" fmla="*/ 50800 w 10095599"/>
              <a:gd name="connsiteY67" fmla="*/ 3846513 h 6858000"/>
              <a:gd name="connsiteX68" fmla="*/ 69850 w 10095599"/>
              <a:gd name="connsiteY68" fmla="*/ 3810000 h 6858000"/>
              <a:gd name="connsiteX69" fmla="*/ 88900 w 10095599"/>
              <a:gd name="connsiteY69" fmla="*/ 3771900 h 6858000"/>
              <a:gd name="connsiteX70" fmla="*/ 107950 w 10095599"/>
              <a:gd name="connsiteY70" fmla="*/ 3733800 h 6858000"/>
              <a:gd name="connsiteX71" fmla="*/ 123825 w 10095599"/>
              <a:gd name="connsiteY71" fmla="*/ 3697288 h 6858000"/>
              <a:gd name="connsiteX72" fmla="*/ 139700 w 10095599"/>
              <a:gd name="connsiteY72" fmla="*/ 3656013 h 6858000"/>
              <a:gd name="connsiteX73" fmla="*/ 155575 w 10095599"/>
              <a:gd name="connsiteY73" fmla="*/ 3609975 h 6858000"/>
              <a:gd name="connsiteX74" fmla="*/ 166687 w 10095599"/>
              <a:gd name="connsiteY74" fmla="*/ 3557588 h 6858000"/>
              <a:gd name="connsiteX75" fmla="*/ 173037 w 10095599"/>
              <a:gd name="connsiteY75" fmla="*/ 3497263 h 6858000"/>
              <a:gd name="connsiteX76" fmla="*/ 176212 w 10095599"/>
              <a:gd name="connsiteY76" fmla="*/ 3427413 h 6858000"/>
              <a:gd name="connsiteX77" fmla="*/ 173037 w 10095599"/>
              <a:gd name="connsiteY77" fmla="*/ 3360738 h 6858000"/>
              <a:gd name="connsiteX78" fmla="*/ 166687 w 10095599"/>
              <a:gd name="connsiteY78" fmla="*/ 3300413 h 6858000"/>
              <a:gd name="connsiteX79" fmla="*/ 155575 w 10095599"/>
              <a:gd name="connsiteY79" fmla="*/ 3248025 h 6858000"/>
              <a:gd name="connsiteX80" fmla="*/ 139700 w 10095599"/>
              <a:gd name="connsiteY80" fmla="*/ 3201988 h 6858000"/>
              <a:gd name="connsiteX81" fmla="*/ 123825 w 10095599"/>
              <a:gd name="connsiteY81" fmla="*/ 3160713 h 6858000"/>
              <a:gd name="connsiteX82" fmla="*/ 107950 w 10095599"/>
              <a:gd name="connsiteY82" fmla="*/ 3124200 h 6858000"/>
              <a:gd name="connsiteX83" fmla="*/ 88900 w 10095599"/>
              <a:gd name="connsiteY83" fmla="*/ 3086100 h 6858000"/>
              <a:gd name="connsiteX84" fmla="*/ 69850 w 10095599"/>
              <a:gd name="connsiteY84" fmla="*/ 3048000 h 6858000"/>
              <a:gd name="connsiteX85" fmla="*/ 50800 w 10095599"/>
              <a:gd name="connsiteY85" fmla="*/ 3011488 h 6858000"/>
              <a:gd name="connsiteX86" fmla="*/ 34925 w 10095599"/>
              <a:gd name="connsiteY86" fmla="*/ 2970213 h 6858000"/>
              <a:gd name="connsiteX87" fmla="*/ 20637 w 10095599"/>
              <a:gd name="connsiteY87" fmla="*/ 2924175 h 6858000"/>
              <a:gd name="connsiteX88" fmla="*/ 9525 w 10095599"/>
              <a:gd name="connsiteY88" fmla="*/ 2871788 h 6858000"/>
              <a:gd name="connsiteX89" fmla="*/ 1587 w 10095599"/>
              <a:gd name="connsiteY89" fmla="*/ 2811463 h 6858000"/>
              <a:gd name="connsiteX90" fmla="*/ 0 w 10095599"/>
              <a:gd name="connsiteY90" fmla="*/ 2743200 h 6858000"/>
              <a:gd name="connsiteX91" fmla="*/ 1587 w 10095599"/>
              <a:gd name="connsiteY91" fmla="*/ 2674938 h 6858000"/>
              <a:gd name="connsiteX92" fmla="*/ 9525 w 10095599"/>
              <a:gd name="connsiteY92" fmla="*/ 2614613 h 6858000"/>
              <a:gd name="connsiteX93" fmla="*/ 20637 w 10095599"/>
              <a:gd name="connsiteY93" fmla="*/ 2562225 h 6858000"/>
              <a:gd name="connsiteX94" fmla="*/ 34925 w 10095599"/>
              <a:gd name="connsiteY94" fmla="*/ 2516188 h 6858000"/>
              <a:gd name="connsiteX95" fmla="*/ 50800 w 10095599"/>
              <a:gd name="connsiteY95" fmla="*/ 2474913 h 6858000"/>
              <a:gd name="connsiteX96" fmla="*/ 69850 w 10095599"/>
              <a:gd name="connsiteY96" fmla="*/ 2438400 h 6858000"/>
              <a:gd name="connsiteX97" fmla="*/ 88900 w 10095599"/>
              <a:gd name="connsiteY97" fmla="*/ 2400300 h 6858000"/>
              <a:gd name="connsiteX98" fmla="*/ 107950 w 10095599"/>
              <a:gd name="connsiteY98" fmla="*/ 2362200 h 6858000"/>
              <a:gd name="connsiteX99" fmla="*/ 123825 w 10095599"/>
              <a:gd name="connsiteY99" fmla="*/ 2325688 h 6858000"/>
              <a:gd name="connsiteX100" fmla="*/ 139700 w 10095599"/>
              <a:gd name="connsiteY100" fmla="*/ 2284413 h 6858000"/>
              <a:gd name="connsiteX101" fmla="*/ 155575 w 10095599"/>
              <a:gd name="connsiteY101" fmla="*/ 2238375 h 6858000"/>
              <a:gd name="connsiteX102" fmla="*/ 166687 w 10095599"/>
              <a:gd name="connsiteY102" fmla="*/ 2185988 h 6858000"/>
              <a:gd name="connsiteX103" fmla="*/ 173037 w 10095599"/>
              <a:gd name="connsiteY103" fmla="*/ 2125663 h 6858000"/>
              <a:gd name="connsiteX104" fmla="*/ 176212 w 10095599"/>
              <a:gd name="connsiteY104" fmla="*/ 2057400 h 6858000"/>
              <a:gd name="connsiteX105" fmla="*/ 173037 w 10095599"/>
              <a:gd name="connsiteY105" fmla="*/ 1989138 h 6858000"/>
              <a:gd name="connsiteX106" fmla="*/ 166687 w 10095599"/>
              <a:gd name="connsiteY106" fmla="*/ 1928813 h 6858000"/>
              <a:gd name="connsiteX107" fmla="*/ 155575 w 10095599"/>
              <a:gd name="connsiteY107" fmla="*/ 1876425 h 6858000"/>
              <a:gd name="connsiteX108" fmla="*/ 139700 w 10095599"/>
              <a:gd name="connsiteY108" fmla="*/ 1830388 h 6858000"/>
              <a:gd name="connsiteX109" fmla="*/ 123825 w 10095599"/>
              <a:gd name="connsiteY109" fmla="*/ 1789113 h 6858000"/>
              <a:gd name="connsiteX110" fmla="*/ 107950 w 10095599"/>
              <a:gd name="connsiteY110" fmla="*/ 1752600 h 6858000"/>
              <a:gd name="connsiteX111" fmla="*/ 88900 w 10095599"/>
              <a:gd name="connsiteY111" fmla="*/ 1714500 h 6858000"/>
              <a:gd name="connsiteX112" fmla="*/ 69850 w 10095599"/>
              <a:gd name="connsiteY112" fmla="*/ 1676400 h 6858000"/>
              <a:gd name="connsiteX113" fmla="*/ 50800 w 10095599"/>
              <a:gd name="connsiteY113" fmla="*/ 1639888 h 6858000"/>
              <a:gd name="connsiteX114" fmla="*/ 34925 w 10095599"/>
              <a:gd name="connsiteY114" fmla="*/ 1598613 h 6858000"/>
              <a:gd name="connsiteX115" fmla="*/ 20637 w 10095599"/>
              <a:gd name="connsiteY115" fmla="*/ 1552575 h 6858000"/>
              <a:gd name="connsiteX116" fmla="*/ 9525 w 10095599"/>
              <a:gd name="connsiteY116" fmla="*/ 1500188 h 6858000"/>
              <a:gd name="connsiteX117" fmla="*/ 1587 w 10095599"/>
              <a:gd name="connsiteY117" fmla="*/ 1439863 h 6858000"/>
              <a:gd name="connsiteX118" fmla="*/ 0 w 10095599"/>
              <a:gd name="connsiteY118" fmla="*/ 1371600 h 6858000"/>
              <a:gd name="connsiteX119" fmla="*/ 1587 w 10095599"/>
              <a:gd name="connsiteY119" fmla="*/ 1303338 h 6858000"/>
              <a:gd name="connsiteX120" fmla="*/ 9525 w 10095599"/>
              <a:gd name="connsiteY120" fmla="*/ 1243013 h 6858000"/>
              <a:gd name="connsiteX121" fmla="*/ 20637 w 10095599"/>
              <a:gd name="connsiteY121" fmla="*/ 1190625 h 6858000"/>
              <a:gd name="connsiteX122" fmla="*/ 34925 w 10095599"/>
              <a:gd name="connsiteY122" fmla="*/ 1144588 h 6858000"/>
              <a:gd name="connsiteX123" fmla="*/ 50800 w 10095599"/>
              <a:gd name="connsiteY123" fmla="*/ 1103313 h 6858000"/>
              <a:gd name="connsiteX124" fmla="*/ 69850 w 10095599"/>
              <a:gd name="connsiteY124" fmla="*/ 1066800 h 6858000"/>
              <a:gd name="connsiteX125" fmla="*/ 88900 w 10095599"/>
              <a:gd name="connsiteY125" fmla="*/ 1028700 h 6858000"/>
              <a:gd name="connsiteX126" fmla="*/ 107950 w 10095599"/>
              <a:gd name="connsiteY126" fmla="*/ 990600 h 6858000"/>
              <a:gd name="connsiteX127" fmla="*/ 123825 w 10095599"/>
              <a:gd name="connsiteY127" fmla="*/ 954088 h 6858000"/>
              <a:gd name="connsiteX128" fmla="*/ 139700 w 10095599"/>
              <a:gd name="connsiteY128" fmla="*/ 912813 h 6858000"/>
              <a:gd name="connsiteX129" fmla="*/ 155575 w 10095599"/>
              <a:gd name="connsiteY129" fmla="*/ 866775 h 6858000"/>
              <a:gd name="connsiteX130" fmla="*/ 166687 w 10095599"/>
              <a:gd name="connsiteY130" fmla="*/ 814388 h 6858000"/>
              <a:gd name="connsiteX131" fmla="*/ 173037 w 10095599"/>
              <a:gd name="connsiteY131" fmla="*/ 754063 h 6858000"/>
              <a:gd name="connsiteX132" fmla="*/ 176212 w 10095599"/>
              <a:gd name="connsiteY132" fmla="*/ 685800 h 6858000"/>
              <a:gd name="connsiteX133" fmla="*/ 173037 w 10095599"/>
              <a:gd name="connsiteY133" fmla="*/ 617538 h 6858000"/>
              <a:gd name="connsiteX134" fmla="*/ 166687 w 10095599"/>
              <a:gd name="connsiteY134" fmla="*/ 557213 h 6858000"/>
              <a:gd name="connsiteX135" fmla="*/ 155575 w 10095599"/>
              <a:gd name="connsiteY135" fmla="*/ 504825 h 6858000"/>
              <a:gd name="connsiteX136" fmla="*/ 139700 w 10095599"/>
              <a:gd name="connsiteY136" fmla="*/ 458788 h 6858000"/>
              <a:gd name="connsiteX137" fmla="*/ 123825 w 10095599"/>
              <a:gd name="connsiteY137" fmla="*/ 417513 h 6858000"/>
              <a:gd name="connsiteX138" fmla="*/ 107950 w 10095599"/>
              <a:gd name="connsiteY138" fmla="*/ 381000 h 6858000"/>
              <a:gd name="connsiteX139" fmla="*/ 88900 w 10095599"/>
              <a:gd name="connsiteY139" fmla="*/ 342900 h 6858000"/>
              <a:gd name="connsiteX140" fmla="*/ 69850 w 10095599"/>
              <a:gd name="connsiteY140" fmla="*/ 304800 h 6858000"/>
              <a:gd name="connsiteX141" fmla="*/ 50800 w 10095599"/>
              <a:gd name="connsiteY141" fmla="*/ 268288 h 6858000"/>
              <a:gd name="connsiteX142" fmla="*/ 34925 w 10095599"/>
              <a:gd name="connsiteY142" fmla="*/ 227013 h 6858000"/>
              <a:gd name="connsiteX143" fmla="*/ 20637 w 10095599"/>
              <a:gd name="connsiteY143" fmla="*/ 180975 h 6858000"/>
              <a:gd name="connsiteX144" fmla="*/ 9525 w 10095599"/>
              <a:gd name="connsiteY144" fmla="*/ 128588 h 6858000"/>
              <a:gd name="connsiteX145" fmla="*/ 1587 w 10095599"/>
              <a:gd name="connsiteY145" fmla="*/ 6826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10095599" h="6858000">
                <a:moveTo>
                  <a:pt x="0" y="0"/>
                </a:moveTo>
                <a:lnTo>
                  <a:pt x="7448352" y="0"/>
                </a:lnTo>
                <a:lnTo>
                  <a:pt x="9446485" y="0"/>
                </a:lnTo>
                <a:lnTo>
                  <a:pt x="10095599" y="0"/>
                </a:lnTo>
                <a:lnTo>
                  <a:pt x="10095599" y="6858000"/>
                </a:lnTo>
                <a:lnTo>
                  <a:pt x="9446485" y="6858000"/>
                </a:lnTo>
                <a:lnTo>
                  <a:pt x="7448352" y="6858000"/>
                </a:lnTo>
                <a:lnTo>
                  <a:pt x="0" y="6858000"/>
                </a:lnTo>
                <a:lnTo>
                  <a:pt x="1587" y="6789738"/>
                </a:lnTo>
                <a:lnTo>
                  <a:pt x="9525" y="6729413"/>
                </a:lnTo>
                <a:lnTo>
                  <a:pt x="20637" y="6677025"/>
                </a:lnTo>
                <a:lnTo>
                  <a:pt x="34925" y="6630988"/>
                </a:lnTo>
                <a:lnTo>
                  <a:pt x="50800" y="6589713"/>
                </a:lnTo>
                <a:lnTo>
                  <a:pt x="69850" y="6553200"/>
                </a:lnTo>
                <a:lnTo>
                  <a:pt x="88900" y="6515100"/>
                </a:lnTo>
                <a:lnTo>
                  <a:pt x="107950" y="6477000"/>
                </a:lnTo>
                <a:lnTo>
                  <a:pt x="123825" y="6440488"/>
                </a:lnTo>
                <a:lnTo>
                  <a:pt x="139700" y="6399213"/>
                </a:lnTo>
                <a:lnTo>
                  <a:pt x="155575" y="6353175"/>
                </a:lnTo>
                <a:lnTo>
                  <a:pt x="166687" y="6300788"/>
                </a:lnTo>
                <a:lnTo>
                  <a:pt x="173037" y="6240463"/>
                </a:lnTo>
                <a:lnTo>
                  <a:pt x="176212" y="6172200"/>
                </a:lnTo>
                <a:lnTo>
                  <a:pt x="173037" y="6103938"/>
                </a:lnTo>
                <a:lnTo>
                  <a:pt x="166687" y="6043613"/>
                </a:lnTo>
                <a:lnTo>
                  <a:pt x="155575" y="5991225"/>
                </a:lnTo>
                <a:lnTo>
                  <a:pt x="139700" y="5945188"/>
                </a:lnTo>
                <a:lnTo>
                  <a:pt x="123825" y="5903913"/>
                </a:lnTo>
                <a:lnTo>
                  <a:pt x="107950" y="5867400"/>
                </a:lnTo>
                <a:lnTo>
                  <a:pt x="88900" y="5829300"/>
                </a:lnTo>
                <a:lnTo>
                  <a:pt x="69850" y="5791200"/>
                </a:lnTo>
                <a:lnTo>
                  <a:pt x="50800" y="5754688"/>
                </a:lnTo>
                <a:lnTo>
                  <a:pt x="34925" y="5713413"/>
                </a:lnTo>
                <a:lnTo>
                  <a:pt x="20637" y="5667375"/>
                </a:lnTo>
                <a:lnTo>
                  <a:pt x="9525" y="5614988"/>
                </a:lnTo>
                <a:lnTo>
                  <a:pt x="1587" y="5554663"/>
                </a:lnTo>
                <a:lnTo>
                  <a:pt x="0" y="5486400"/>
                </a:lnTo>
                <a:lnTo>
                  <a:pt x="1587" y="5418138"/>
                </a:lnTo>
                <a:lnTo>
                  <a:pt x="9525" y="5357813"/>
                </a:lnTo>
                <a:lnTo>
                  <a:pt x="20637" y="5305425"/>
                </a:lnTo>
                <a:lnTo>
                  <a:pt x="34925" y="5259388"/>
                </a:lnTo>
                <a:lnTo>
                  <a:pt x="50800" y="5218113"/>
                </a:lnTo>
                <a:lnTo>
                  <a:pt x="69850" y="5181600"/>
                </a:lnTo>
                <a:lnTo>
                  <a:pt x="88900" y="5143500"/>
                </a:lnTo>
                <a:lnTo>
                  <a:pt x="107950" y="5105400"/>
                </a:lnTo>
                <a:lnTo>
                  <a:pt x="123825" y="5068888"/>
                </a:lnTo>
                <a:lnTo>
                  <a:pt x="139700" y="5027613"/>
                </a:lnTo>
                <a:lnTo>
                  <a:pt x="155575" y="4981575"/>
                </a:lnTo>
                <a:lnTo>
                  <a:pt x="166687" y="4929188"/>
                </a:lnTo>
                <a:lnTo>
                  <a:pt x="173037" y="4868863"/>
                </a:lnTo>
                <a:lnTo>
                  <a:pt x="176212" y="4800600"/>
                </a:lnTo>
                <a:lnTo>
                  <a:pt x="173037" y="4732338"/>
                </a:lnTo>
                <a:lnTo>
                  <a:pt x="166687" y="4672013"/>
                </a:lnTo>
                <a:lnTo>
                  <a:pt x="155575" y="4619625"/>
                </a:lnTo>
                <a:lnTo>
                  <a:pt x="139700" y="4573588"/>
                </a:lnTo>
                <a:lnTo>
                  <a:pt x="123825" y="4532313"/>
                </a:lnTo>
                <a:lnTo>
                  <a:pt x="107950" y="4495800"/>
                </a:lnTo>
                <a:lnTo>
                  <a:pt x="69850" y="4419600"/>
                </a:lnTo>
                <a:lnTo>
                  <a:pt x="50800" y="4383088"/>
                </a:lnTo>
                <a:lnTo>
                  <a:pt x="34925" y="4341813"/>
                </a:lnTo>
                <a:lnTo>
                  <a:pt x="20637" y="4295775"/>
                </a:lnTo>
                <a:lnTo>
                  <a:pt x="9525" y="4243388"/>
                </a:lnTo>
                <a:lnTo>
                  <a:pt x="1587" y="4183063"/>
                </a:lnTo>
                <a:lnTo>
                  <a:pt x="0" y="4114800"/>
                </a:lnTo>
                <a:lnTo>
                  <a:pt x="1587" y="4046538"/>
                </a:lnTo>
                <a:lnTo>
                  <a:pt x="9525" y="3986213"/>
                </a:lnTo>
                <a:lnTo>
                  <a:pt x="20637" y="3933825"/>
                </a:lnTo>
                <a:lnTo>
                  <a:pt x="34925" y="3887788"/>
                </a:lnTo>
                <a:lnTo>
                  <a:pt x="50800" y="3846513"/>
                </a:lnTo>
                <a:lnTo>
                  <a:pt x="69850" y="3810000"/>
                </a:lnTo>
                <a:lnTo>
                  <a:pt x="88900" y="3771900"/>
                </a:lnTo>
                <a:lnTo>
                  <a:pt x="107950" y="3733800"/>
                </a:lnTo>
                <a:lnTo>
                  <a:pt x="123825" y="3697288"/>
                </a:lnTo>
                <a:lnTo>
                  <a:pt x="139700" y="3656013"/>
                </a:lnTo>
                <a:lnTo>
                  <a:pt x="155575" y="3609975"/>
                </a:lnTo>
                <a:lnTo>
                  <a:pt x="166687" y="3557588"/>
                </a:lnTo>
                <a:lnTo>
                  <a:pt x="173037" y="3497263"/>
                </a:lnTo>
                <a:lnTo>
                  <a:pt x="176212" y="3427413"/>
                </a:lnTo>
                <a:lnTo>
                  <a:pt x="173037" y="3360738"/>
                </a:lnTo>
                <a:lnTo>
                  <a:pt x="166687" y="3300413"/>
                </a:lnTo>
                <a:lnTo>
                  <a:pt x="155575" y="3248025"/>
                </a:lnTo>
                <a:lnTo>
                  <a:pt x="139700" y="3201988"/>
                </a:lnTo>
                <a:lnTo>
                  <a:pt x="123825" y="3160713"/>
                </a:lnTo>
                <a:lnTo>
                  <a:pt x="107950" y="3124200"/>
                </a:lnTo>
                <a:lnTo>
                  <a:pt x="88900" y="3086100"/>
                </a:lnTo>
                <a:lnTo>
                  <a:pt x="69850" y="3048000"/>
                </a:lnTo>
                <a:lnTo>
                  <a:pt x="50800" y="3011488"/>
                </a:lnTo>
                <a:lnTo>
                  <a:pt x="34925" y="2970213"/>
                </a:lnTo>
                <a:lnTo>
                  <a:pt x="20637" y="2924175"/>
                </a:lnTo>
                <a:lnTo>
                  <a:pt x="9525" y="2871788"/>
                </a:lnTo>
                <a:lnTo>
                  <a:pt x="1587" y="2811463"/>
                </a:lnTo>
                <a:lnTo>
                  <a:pt x="0" y="2743200"/>
                </a:lnTo>
                <a:lnTo>
                  <a:pt x="1587" y="2674938"/>
                </a:lnTo>
                <a:lnTo>
                  <a:pt x="9525" y="2614613"/>
                </a:lnTo>
                <a:lnTo>
                  <a:pt x="20637" y="2562225"/>
                </a:lnTo>
                <a:lnTo>
                  <a:pt x="34925" y="2516188"/>
                </a:lnTo>
                <a:lnTo>
                  <a:pt x="50800" y="2474913"/>
                </a:lnTo>
                <a:lnTo>
                  <a:pt x="69850" y="2438400"/>
                </a:lnTo>
                <a:lnTo>
                  <a:pt x="88900" y="2400300"/>
                </a:lnTo>
                <a:lnTo>
                  <a:pt x="107950" y="2362200"/>
                </a:lnTo>
                <a:lnTo>
                  <a:pt x="123825" y="2325688"/>
                </a:lnTo>
                <a:lnTo>
                  <a:pt x="139700" y="2284413"/>
                </a:lnTo>
                <a:lnTo>
                  <a:pt x="155575" y="2238375"/>
                </a:lnTo>
                <a:lnTo>
                  <a:pt x="166687" y="2185988"/>
                </a:lnTo>
                <a:lnTo>
                  <a:pt x="173037" y="2125663"/>
                </a:lnTo>
                <a:lnTo>
                  <a:pt x="176212" y="2057400"/>
                </a:lnTo>
                <a:lnTo>
                  <a:pt x="173037" y="1989138"/>
                </a:lnTo>
                <a:lnTo>
                  <a:pt x="166687" y="1928813"/>
                </a:lnTo>
                <a:lnTo>
                  <a:pt x="155575" y="1876425"/>
                </a:lnTo>
                <a:lnTo>
                  <a:pt x="139700" y="1830388"/>
                </a:lnTo>
                <a:lnTo>
                  <a:pt x="123825" y="1789113"/>
                </a:lnTo>
                <a:lnTo>
                  <a:pt x="107950" y="1752600"/>
                </a:lnTo>
                <a:lnTo>
                  <a:pt x="88900" y="1714500"/>
                </a:lnTo>
                <a:lnTo>
                  <a:pt x="69850" y="1676400"/>
                </a:lnTo>
                <a:lnTo>
                  <a:pt x="50800" y="1639888"/>
                </a:lnTo>
                <a:lnTo>
                  <a:pt x="34925" y="1598613"/>
                </a:lnTo>
                <a:lnTo>
                  <a:pt x="20637" y="1552575"/>
                </a:lnTo>
                <a:lnTo>
                  <a:pt x="9525" y="1500188"/>
                </a:lnTo>
                <a:lnTo>
                  <a:pt x="1587" y="1439863"/>
                </a:lnTo>
                <a:lnTo>
                  <a:pt x="0" y="1371600"/>
                </a:lnTo>
                <a:lnTo>
                  <a:pt x="1587" y="1303338"/>
                </a:lnTo>
                <a:lnTo>
                  <a:pt x="9525" y="1243013"/>
                </a:lnTo>
                <a:lnTo>
                  <a:pt x="20637" y="1190625"/>
                </a:lnTo>
                <a:lnTo>
                  <a:pt x="34925" y="1144588"/>
                </a:lnTo>
                <a:lnTo>
                  <a:pt x="50800" y="1103313"/>
                </a:lnTo>
                <a:lnTo>
                  <a:pt x="69850" y="1066800"/>
                </a:lnTo>
                <a:lnTo>
                  <a:pt x="88900" y="1028700"/>
                </a:lnTo>
                <a:lnTo>
                  <a:pt x="107950" y="990600"/>
                </a:lnTo>
                <a:lnTo>
                  <a:pt x="123825" y="954088"/>
                </a:lnTo>
                <a:lnTo>
                  <a:pt x="139700" y="912813"/>
                </a:lnTo>
                <a:lnTo>
                  <a:pt x="155575" y="866775"/>
                </a:lnTo>
                <a:lnTo>
                  <a:pt x="166687" y="814388"/>
                </a:lnTo>
                <a:lnTo>
                  <a:pt x="173037" y="754063"/>
                </a:lnTo>
                <a:lnTo>
                  <a:pt x="176212" y="685800"/>
                </a:lnTo>
                <a:lnTo>
                  <a:pt x="173037" y="617538"/>
                </a:lnTo>
                <a:lnTo>
                  <a:pt x="166687" y="557213"/>
                </a:lnTo>
                <a:lnTo>
                  <a:pt x="155575" y="504825"/>
                </a:lnTo>
                <a:lnTo>
                  <a:pt x="139700" y="458788"/>
                </a:lnTo>
                <a:lnTo>
                  <a:pt x="123825" y="417513"/>
                </a:lnTo>
                <a:lnTo>
                  <a:pt x="107950" y="381000"/>
                </a:lnTo>
                <a:lnTo>
                  <a:pt x="88900" y="342900"/>
                </a:lnTo>
                <a:lnTo>
                  <a:pt x="69850" y="304800"/>
                </a:lnTo>
                <a:lnTo>
                  <a:pt x="50800" y="268288"/>
                </a:lnTo>
                <a:lnTo>
                  <a:pt x="34925" y="227013"/>
                </a:lnTo>
                <a:lnTo>
                  <a:pt x="20637" y="180975"/>
                </a:lnTo>
                <a:lnTo>
                  <a:pt x="9525" y="128588"/>
                </a:lnTo>
                <a:lnTo>
                  <a:pt x="1587" y="68263"/>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194F438-5282-0AC6-BED5-6C58D59582CD}"/>
              </a:ext>
            </a:extLst>
          </p:cNvPr>
          <p:cNvSpPr>
            <a:spLocks noGrp="1"/>
          </p:cNvSpPr>
          <p:nvPr>
            <p:ph type="title"/>
          </p:nvPr>
        </p:nvSpPr>
        <p:spPr>
          <a:xfrm>
            <a:off x="1585773" y="267629"/>
            <a:ext cx="8632372" cy="1113295"/>
          </a:xfrm>
        </p:spPr>
        <p:txBody>
          <a:bodyPr anchor="t">
            <a:normAutofit/>
          </a:bodyPr>
          <a:lstStyle/>
          <a:p>
            <a:pPr algn="ctr"/>
            <a:r>
              <a:rPr lang="en-US"/>
              <a:t>Building Caseloads	</a:t>
            </a:r>
          </a:p>
        </p:txBody>
      </p:sp>
      <p:pic>
        <p:nvPicPr>
          <p:cNvPr id="5" name="Picture 4" descr="Logo">
            <a:extLst>
              <a:ext uri="{FF2B5EF4-FFF2-40B4-BE49-F238E27FC236}">
                <a16:creationId xmlns:a16="http://schemas.microsoft.com/office/drawing/2014/main" id="{1D9D86B6-06EC-7855-38BD-D889DEBBAD74}"/>
              </a:ext>
            </a:extLst>
          </p:cNvPr>
          <p:cNvPicPr>
            <a:picLocks noChangeAspect="1"/>
          </p:cNvPicPr>
          <p:nvPr/>
        </p:nvPicPr>
        <p:blipFill>
          <a:blip r:embed="rId3"/>
          <a:stretch>
            <a:fillRect/>
          </a:stretch>
        </p:blipFill>
        <p:spPr>
          <a:xfrm>
            <a:off x="10095599" y="5833791"/>
            <a:ext cx="1768158" cy="875712"/>
          </a:xfrm>
          <a:prstGeom prst="rect">
            <a:avLst/>
          </a:prstGeom>
        </p:spPr>
      </p:pic>
      <p:sp>
        <p:nvSpPr>
          <p:cNvPr id="7" name="Content Placeholder 6">
            <a:extLst>
              <a:ext uri="{FF2B5EF4-FFF2-40B4-BE49-F238E27FC236}">
                <a16:creationId xmlns:a16="http://schemas.microsoft.com/office/drawing/2014/main" id="{18101594-30CD-85FF-F02F-5255472D6441}"/>
              </a:ext>
            </a:extLst>
          </p:cNvPr>
          <p:cNvSpPr>
            <a:spLocks noGrp="1"/>
          </p:cNvSpPr>
          <p:nvPr>
            <p:ph idx="1"/>
          </p:nvPr>
        </p:nvSpPr>
        <p:spPr>
          <a:xfrm>
            <a:off x="2504440" y="1612265"/>
            <a:ext cx="9551625" cy="4351338"/>
          </a:xfrm>
        </p:spPr>
        <p:txBody>
          <a:bodyPr vert="horz" lIns="91440" tIns="45720" rIns="91440" bIns="45720" rtlCol="0" anchor="t">
            <a:normAutofit/>
          </a:bodyPr>
          <a:lstStyle/>
          <a:p>
            <a:pPr>
              <a:lnSpc>
                <a:spcPct val="100000"/>
              </a:lnSpc>
              <a:spcBef>
                <a:spcPts val="0"/>
              </a:spcBef>
            </a:pPr>
            <a:r>
              <a:rPr lang="en-US">
                <a:ea typeface="Calibri"/>
                <a:cs typeface="Calibri"/>
              </a:rPr>
              <a:t>Waiver employment services have different rates</a:t>
            </a:r>
          </a:p>
          <a:p>
            <a:pPr>
              <a:lnSpc>
                <a:spcPct val="100000"/>
              </a:lnSpc>
              <a:spcBef>
                <a:spcPts val="0"/>
              </a:spcBef>
            </a:pPr>
            <a:endParaRPr lang="en-US">
              <a:ea typeface="Calibri"/>
              <a:cs typeface="Calibri"/>
            </a:endParaRPr>
          </a:p>
          <a:p>
            <a:pPr>
              <a:lnSpc>
                <a:spcPct val="100000"/>
              </a:lnSpc>
              <a:spcBef>
                <a:spcPts val="0"/>
              </a:spcBef>
            </a:pPr>
            <a:r>
              <a:rPr lang="en-US">
                <a:ea typeface="Calibri"/>
                <a:cs typeface="Calibri"/>
              </a:rPr>
              <a:t>If a staff is providing Employment Support Services, they may have a bigger caseload</a:t>
            </a:r>
          </a:p>
          <a:p>
            <a:pPr>
              <a:lnSpc>
                <a:spcPct val="100000"/>
              </a:lnSpc>
              <a:spcBef>
                <a:spcPts val="0"/>
              </a:spcBef>
            </a:pPr>
            <a:endParaRPr lang="en-US">
              <a:ea typeface="Calibri"/>
              <a:cs typeface="Calibri"/>
            </a:endParaRPr>
          </a:p>
          <a:p>
            <a:pPr>
              <a:lnSpc>
                <a:spcPct val="100000"/>
              </a:lnSpc>
              <a:spcBef>
                <a:spcPts val="0"/>
              </a:spcBef>
            </a:pPr>
            <a:r>
              <a:rPr lang="en-US">
                <a:ea typeface="Calibri"/>
                <a:cs typeface="Calibri"/>
              </a:rPr>
              <a:t>If a staff only helps people find jobs, they may have a smaller caseload </a:t>
            </a:r>
          </a:p>
          <a:p>
            <a:pPr>
              <a:lnSpc>
                <a:spcPct val="100000"/>
              </a:lnSpc>
              <a:spcBef>
                <a:spcPts val="0"/>
              </a:spcBef>
            </a:pPr>
            <a:endParaRPr lang="en-US">
              <a:ea typeface="Calibri"/>
              <a:cs typeface="Calibri"/>
            </a:endParaRPr>
          </a:p>
          <a:p>
            <a:pPr lvl="1">
              <a:lnSpc>
                <a:spcPct val="100000"/>
              </a:lnSpc>
              <a:spcBef>
                <a:spcPts val="0"/>
              </a:spcBef>
            </a:pPr>
            <a:endParaRPr lang="en-US">
              <a:ea typeface="Calibri"/>
              <a:cs typeface="Calibri"/>
            </a:endParaRPr>
          </a:p>
          <a:p>
            <a:pPr lvl="1">
              <a:lnSpc>
                <a:spcPct val="100000"/>
              </a:lnSpc>
              <a:spcBef>
                <a:spcPts val="0"/>
              </a:spcBef>
            </a:pPr>
            <a:endParaRPr lang="en-US">
              <a:ea typeface="Calibri"/>
              <a:cs typeface="Calibri"/>
            </a:endParaRPr>
          </a:p>
          <a:p>
            <a:pPr lvl="1">
              <a:lnSpc>
                <a:spcPct val="100000"/>
              </a:lnSpc>
              <a:spcBef>
                <a:spcPts val="0"/>
              </a:spcBef>
            </a:pPr>
            <a:endParaRPr lang="en-US">
              <a:ea typeface="Calibri"/>
              <a:cs typeface="Calibri"/>
            </a:endParaRPr>
          </a:p>
          <a:p>
            <a:pPr lvl="1">
              <a:lnSpc>
                <a:spcPct val="100000"/>
              </a:lnSpc>
              <a:spcBef>
                <a:spcPts val="0"/>
              </a:spcBef>
            </a:pPr>
            <a:endParaRPr lang="en-US">
              <a:ea typeface="Calibri"/>
              <a:cs typeface="Calibri"/>
            </a:endParaRPr>
          </a:p>
          <a:p>
            <a:pPr marL="457200" lvl="1" indent="0">
              <a:lnSpc>
                <a:spcPct val="100000"/>
              </a:lnSpc>
              <a:spcBef>
                <a:spcPts val="0"/>
              </a:spcBef>
              <a:buNone/>
            </a:pPr>
            <a:endParaRPr lang="en-US">
              <a:ea typeface="Calibri"/>
              <a:cs typeface="Calibri"/>
            </a:endParaRPr>
          </a:p>
        </p:txBody>
      </p:sp>
    </p:spTree>
    <p:extLst>
      <p:ext uri="{BB962C8B-B14F-4D97-AF65-F5344CB8AC3E}">
        <p14:creationId xmlns:p14="http://schemas.microsoft.com/office/powerpoint/2010/main" val="3876366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7">
            <a:extLst>
              <a:ext uri="{FF2B5EF4-FFF2-40B4-BE49-F238E27FC236}">
                <a16:creationId xmlns:a16="http://schemas.microsoft.com/office/drawing/2014/main" id="{E8BF0C67-DF85-430A-B677-74D9594394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1" y="0"/>
            <a:ext cx="12191996" cy="6858000"/>
          </a:xfrm>
          <a:prstGeom prst="rect">
            <a:avLst/>
          </a:prstGeom>
          <a:solidFill>
            <a:srgbClr val="FFFFFF"/>
          </a:solidFill>
          <a:ln w="0">
            <a:noFill/>
            <a:prstDash val="solid"/>
            <a:round/>
            <a:headEnd/>
            <a:tailEnd/>
          </a:ln>
        </p:spPr>
        <p:txBody>
          <a:bodyPr rtlCol="0" anchor="ctr"/>
          <a:lstStyle/>
          <a:p>
            <a:pPr algn="ctr" defTabSz="457200"/>
            <a:endParaRPr lang="en-US">
              <a:solidFill>
                <a:schemeClr val="tx1"/>
              </a:solidFill>
            </a:endParaRPr>
          </a:p>
        </p:txBody>
      </p:sp>
      <p:sp>
        <p:nvSpPr>
          <p:cNvPr id="19" name="Rectangle 9">
            <a:extLst>
              <a:ext uri="{FF2B5EF4-FFF2-40B4-BE49-F238E27FC236}">
                <a16:creationId xmlns:a16="http://schemas.microsoft.com/office/drawing/2014/main" id="{751BAC80-2398-422A-9AA2-2489F01EF9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1" y="0"/>
            <a:ext cx="12191996" cy="6858000"/>
          </a:xfrm>
          <a:prstGeom prst="rect">
            <a:avLst/>
          </a:prstGeom>
          <a:solidFill>
            <a:schemeClr val="accent1">
              <a:lumMod val="50000"/>
              <a:alpha val="25000"/>
            </a:schemeClr>
          </a:solidFill>
          <a:ln w="0">
            <a:noFill/>
            <a:prstDash val="solid"/>
            <a:round/>
            <a:headEnd/>
            <a:tailEnd/>
          </a:ln>
        </p:spPr>
        <p:txBody>
          <a:bodyPr wrap="square" rtlCol="0" anchor="ctr">
            <a:noAutofit/>
          </a:bodyPr>
          <a:lstStyle/>
          <a:p>
            <a:pPr algn="ctr"/>
            <a:endParaRPr lang="en-US"/>
          </a:p>
        </p:txBody>
      </p:sp>
      <p:sp useBgFill="1">
        <p:nvSpPr>
          <p:cNvPr id="20" name="Freeform: Shape 11">
            <a:extLst>
              <a:ext uri="{FF2B5EF4-FFF2-40B4-BE49-F238E27FC236}">
                <a16:creationId xmlns:a16="http://schemas.microsoft.com/office/drawing/2014/main" id="{34A3EF12-7620-4D66-ACFC-B9F71BAD87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96401" y="0"/>
            <a:ext cx="10095599" cy="6858000"/>
          </a:xfrm>
          <a:custGeom>
            <a:avLst/>
            <a:gdLst>
              <a:gd name="connsiteX0" fmla="*/ 0 w 10095599"/>
              <a:gd name="connsiteY0" fmla="*/ 0 h 6858000"/>
              <a:gd name="connsiteX1" fmla="*/ 7448352 w 10095599"/>
              <a:gd name="connsiteY1" fmla="*/ 0 h 6858000"/>
              <a:gd name="connsiteX2" fmla="*/ 9446485 w 10095599"/>
              <a:gd name="connsiteY2" fmla="*/ 0 h 6858000"/>
              <a:gd name="connsiteX3" fmla="*/ 10095599 w 10095599"/>
              <a:gd name="connsiteY3" fmla="*/ 0 h 6858000"/>
              <a:gd name="connsiteX4" fmla="*/ 10095599 w 10095599"/>
              <a:gd name="connsiteY4" fmla="*/ 6858000 h 6858000"/>
              <a:gd name="connsiteX5" fmla="*/ 9446485 w 10095599"/>
              <a:gd name="connsiteY5" fmla="*/ 6858000 h 6858000"/>
              <a:gd name="connsiteX6" fmla="*/ 7448352 w 10095599"/>
              <a:gd name="connsiteY6" fmla="*/ 6858000 h 6858000"/>
              <a:gd name="connsiteX7" fmla="*/ 0 w 10095599"/>
              <a:gd name="connsiteY7" fmla="*/ 6858000 h 6858000"/>
              <a:gd name="connsiteX8" fmla="*/ 1587 w 10095599"/>
              <a:gd name="connsiteY8" fmla="*/ 6789738 h 6858000"/>
              <a:gd name="connsiteX9" fmla="*/ 9525 w 10095599"/>
              <a:gd name="connsiteY9" fmla="*/ 6729413 h 6858000"/>
              <a:gd name="connsiteX10" fmla="*/ 20637 w 10095599"/>
              <a:gd name="connsiteY10" fmla="*/ 6677025 h 6858000"/>
              <a:gd name="connsiteX11" fmla="*/ 34925 w 10095599"/>
              <a:gd name="connsiteY11" fmla="*/ 6630988 h 6858000"/>
              <a:gd name="connsiteX12" fmla="*/ 50800 w 10095599"/>
              <a:gd name="connsiteY12" fmla="*/ 6589713 h 6858000"/>
              <a:gd name="connsiteX13" fmla="*/ 69850 w 10095599"/>
              <a:gd name="connsiteY13" fmla="*/ 6553200 h 6858000"/>
              <a:gd name="connsiteX14" fmla="*/ 88900 w 10095599"/>
              <a:gd name="connsiteY14" fmla="*/ 6515100 h 6858000"/>
              <a:gd name="connsiteX15" fmla="*/ 107950 w 10095599"/>
              <a:gd name="connsiteY15" fmla="*/ 6477000 h 6858000"/>
              <a:gd name="connsiteX16" fmla="*/ 123825 w 10095599"/>
              <a:gd name="connsiteY16" fmla="*/ 6440488 h 6858000"/>
              <a:gd name="connsiteX17" fmla="*/ 139700 w 10095599"/>
              <a:gd name="connsiteY17" fmla="*/ 6399213 h 6858000"/>
              <a:gd name="connsiteX18" fmla="*/ 155575 w 10095599"/>
              <a:gd name="connsiteY18" fmla="*/ 6353175 h 6858000"/>
              <a:gd name="connsiteX19" fmla="*/ 166687 w 10095599"/>
              <a:gd name="connsiteY19" fmla="*/ 6300788 h 6858000"/>
              <a:gd name="connsiteX20" fmla="*/ 173037 w 10095599"/>
              <a:gd name="connsiteY20" fmla="*/ 6240463 h 6858000"/>
              <a:gd name="connsiteX21" fmla="*/ 176212 w 10095599"/>
              <a:gd name="connsiteY21" fmla="*/ 6172200 h 6858000"/>
              <a:gd name="connsiteX22" fmla="*/ 173037 w 10095599"/>
              <a:gd name="connsiteY22" fmla="*/ 6103938 h 6858000"/>
              <a:gd name="connsiteX23" fmla="*/ 166687 w 10095599"/>
              <a:gd name="connsiteY23" fmla="*/ 6043613 h 6858000"/>
              <a:gd name="connsiteX24" fmla="*/ 155575 w 10095599"/>
              <a:gd name="connsiteY24" fmla="*/ 5991225 h 6858000"/>
              <a:gd name="connsiteX25" fmla="*/ 139700 w 10095599"/>
              <a:gd name="connsiteY25" fmla="*/ 5945188 h 6858000"/>
              <a:gd name="connsiteX26" fmla="*/ 123825 w 10095599"/>
              <a:gd name="connsiteY26" fmla="*/ 5903913 h 6858000"/>
              <a:gd name="connsiteX27" fmla="*/ 107950 w 10095599"/>
              <a:gd name="connsiteY27" fmla="*/ 5867400 h 6858000"/>
              <a:gd name="connsiteX28" fmla="*/ 88900 w 10095599"/>
              <a:gd name="connsiteY28" fmla="*/ 5829300 h 6858000"/>
              <a:gd name="connsiteX29" fmla="*/ 69850 w 10095599"/>
              <a:gd name="connsiteY29" fmla="*/ 5791200 h 6858000"/>
              <a:gd name="connsiteX30" fmla="*/ 50800 w 10095599"/>
              <a:gd name="connsiteY30" fmla="*/ 5754688 h 6858000"/>
              <a:gd name="connsiteX31" fmla="*/ 34925 w 10095599"/>
              <a:gd name="connsiteY31" fmla="*/ 5713413 h 6858000"/>
              <a:gd name="connsiteX32" fmla="*/ 20637 w 10095599"/>
              <a:gd name="connsiteY32" fmla="*/ 5667375 h 6858000"/>
              <a:gd name="connsiteX33" fmla="*/ 9525 w 10095599"/>
              <a:gd name="connsiteY33" fmla="*/ 5614988 h 6858000"/>
              <a:gd name="connsiteX34" fmla="*/ 1587 w 10095599"/>
              <a:gd name="connsiteY34" fmla="*/ 5554663 h 6858000"/>
              <a:gd name="connsiteX35" fmla="*/ 0 w 10095599"/>
              <a:gd name="connsiteY35" fmla="*/ 5486400 h 6858000"/>
              <a:gd name="connsiteX36" fmla="*/ 1587 w 10095599"/>
              <a:gd name="connsiteY36" fmla="*/ 5418138 h 6858000"/>
              <a:gd name="connsiteX37" fmla="*/ 9525 w 10095599"/>
              <a:gd name="connsiteY37" fmla="*/ 5357813 h 6858000"/>
              <a:gd name="connsiteX38" fmla="*/ 20637 w 10095599"/>
              <a:gd name="connsiteY38" fmla="*/ 5305425 h 6858000"/>
              <a:gd name="connsiteX39" fmla="*/ 34925 w 10095599"/>
              <a:gd name="connsiteY39" fmla="*/ 5259388 h 6858000"/>
              <a:gd name="connsiteX40" fmla="*/ 50800 w 10095599"/>
              <a:gd name="connsiteY40" fmla="*/ 5218113 h 6858000"/>
              <a:gd name="connsiteX41" fmla="*/ 69850 w 10095599"/>
              <a:gd name="connsiteY41" fmla="*/ 5181600 h 6858000"/>
              <a:gd name="connsiteX42" fmla="*/ 88900 w 10095599"/>
              <a:gd name="connsiteY42" fmla="*/ 5143500 h 6858000"/>
              <a:gd name="connsiteX43" fmla="*/ 107950 w 10095599"/>
              <a:gd name="connsiteY43" fmla="*/ 5105400 h 6858000"/>
              <a:gd name="connsiteX44" fmla="*/ 123825 w 10095599"/>
              <a:gd name="connsiteY44" fmla="*/ 5068888 h 6858000"/>
              <a:gd name="connsiteX45" fmla="*/ 139700 w 10095599"/>
              <a:gd name="connsiteY45" fmla="*/ 5027613 h 6858000"/>
              <a:gd name="connsiteX46" fmla="*/ 155575 w 10095599"/>
              <a:gd name="connsiteY46" fmla="*/ 4981575 h 6858000"/>
              <a:gd name="connsiteX47" fmla="*/ 166687 w 10095599"/>
              <a:gd name="connsiteY47" fmla="*/ 4929188 h 6858000"/>
              <a:gd name="connsiteX48" fmla="*/ 173037 w 10095599"/>
              <a:gd name="connsiteY48" fmla="*/ 4868863 h 6858000"/>
              <a:gd name="connsiteX49" fmla="*/ 176212 w 10095599"/>
              <a:gd name="connsiteY49" fmla="*/ 4800600 h 6858000"/>
              <a:gd name="connsiteX50" fmla="*/ 173037 w 10095599"/>
              <a:gd name="connsiteY50" fmla="*/ 4732338 h 6858000"/>
              <a:gd name="connsiteX51" fmla="*/ 166687 w 10095599"/>
              <a:gd name="connsiteY51" fmla="*/ 4672013 h 6858000"/>
              <a:gd name="connsiteX52" fmla="*/ 155575 w 10095599"/>
              <a:gd name="connsiteY52" fmla="*/ 4619625 h 6858000"/>
              <a:gd name="connsiteX53" fmla="*/ 139700 w 10095599"/>
              <a:gd name="connsiteY53" fmla="*/ 4573588 h 6858000"/>
              <a:gd name="connsiteX54" fmla="*/ 123825 w 10095599"/>
              <a:gd name="connsiteY54" fmla="*/ 4532313 h 6858000"/>
              <a:gd name="connsiteX55" fmla="*/ 107950 w 10095599"/>
              <a:gd name="connsiteY55" fmla="*/ 4495800 h 6858000"/>
              <a:gd name="connsiteX56" fmla="*/ 69850 w 10095599"/>
              <a:gd name="connsiteY56" fmla="*/ 4419600 h 6858000"/>
              <a:gd name="connsiteX57" fmla="*/ 50800 w 10095599"/>
              <a:gd name="connsiteY57" fmla="*/ 4383088 h 6858000"/>
              <a:gd name="connsiteX58" fmla="*/ 34925 w 10095599"/>
              <a:gd name="connsiteY58" fmla="*/ 4341813 h 6858000"/>
              <a:gd name="connsiteX59" fmla="*/ 20637 w 10095599"/>
              <a:gd name="connsiteY59" fmla="*/ 4295775 h 6858000"/>
              <a:gd name="connsiteX60" fmla="*/ 9525 w 10095599"/>
              <a:gd name="connsiteY60" fmla="*/ 4243388 h 6858000"/>
              <a:gd name="connsiteX61" fmla="*/ 1587 w 10095599"/>
              <a:gd name="connsiteY61" fmla="*/ 4183063 h 6858000"/>
              <a:gd name="connsiteX62" fmla="*/ 0 w 10095599"/>
              <a:gd name="connsiteY62" fmla="*/ 4114800 h 6858000"/>
              <a:gd name="connsiteX63" fmla="*/ 1587 w 10095599"/>
              <a:gd name="connsiteY63" fmla="*/ 4046538 h 6858000"/>
              <a:gd name="connsiteX64" fmla="*/ 9525 w 10095599"/>
              <a:gd name="connsiteY64" fmla="*/ 3986213 h 6858000"/>
              <a:gd name="connsiteX65" fmla="*/ 20637 w 10095599"/>
              <a:gd name="connsiteY65" fmla="*/ 3933825 h 6858000"/>
              <a:gd name="connsiteX66" fmla="*/ 34925 w 10095599"/>
              <a:gd name="connsiteY66" fmla="*/ 3887788 h 6858000"/>
              <a:gd name="connsiteX67" fmla="*/ 50800 w 10095599"/>
              <a:gd name="connsiteY67" fmla="*/ 3846513 h 6858000"/>
              <a:gd name="connsiteX68" fmla="*/ 69850 w 10095599"/>
              <a:gd name="connsiteY68" fmla="*/ 3810000 h 6858000"/>
              <a:gd name="connsiteX69" fmla="*/ 88900 w 10095599"/>
              <a:gd name="connsiteY69" fmla="*/ 3771900 h 6858000"/>
              <a:gd name="connsiteX70" fmla="*/ 107950 w 10095599"/>
              <a:gd name="connsiteY70" fmla="*/ 3733800 h 6858000"/>
              <a:gd name="connsiteX71" fmla="*/ 123825 w 10095599"/>
              <a:gd name="connsiteY71" fmla="*/ 3697288 h 6858000"/>
              <a:gd name="connsiteX72" fmla="*/ 139700 w 10095599"/>
              <a:gd name="connsiteY72" fmla="*/ 3656013 h 6858000"/>
              <a:gd name="connsiteX73" fmla="*/ 155575 w 10095599"/>
              <a:gd name="connsiteY73" fmla="*/ 3609975 h 6858000"/>
              <a:gd name="connsiteX74" fmla="*/ 166687 w 10095599"/>
              <a:gd name="connsiteY74" fmla="*/ 3557588 h 6858000"/>
              <a:gd name="connsiteX75" fmla="*/ 173037 w 10095599"/>
              <a:gd name="connsiteY75" fmla="*/ 3497263 h 6858000"/>
              <a:gd name="connsiteX76" fmla="*/ 176212 w 10095599"/>
              <a:gd name="connsiteY76" fmla="*/ 3427413 h 6858000"/>
              <a:gd name="connsiteX77" fmla="*/ 173037 w 10095599"/>
              <a:gd name="connsiteY77" fmla="*/ 3360738 h 6858000"/>
              <a:gd name="connsiteX78" fmla="*/ 166687 w 10095599"/>
              <a:gd name="connsiteY78" fmla="*/ 3300413 h 6858000"/>
              <a:gd name="connsiteX79" fmla="*/ 155575 w 10095599"/>
              <a:gd name="connsiteY79" fmla="*/ 3248025 h 6858000"/>
              <a:gd name="connsiteX80" fmla="*/ 139700 w 10095599"/>
              <a:gd name="connsiteY80" fmla="*/ 3201988 h 6858000"/>
              <a:gd name="connsiteX81" fmla="*/ 123825 w 10095599"/>
              <a:gd name="connsiteY81" fmla="*/ 3160713 h 6858000"/>
              <a:gd name="connsiteX82" fmla="*/ 107950 w 10095599"/>
              <a:gd name="connsiteY82" fmla="*/ 3124200 h 6858000"/>
              <a:gd name="connsiteX83" fmla="*/ 88900 w 10095599"/>
              <a:gd name="connsiteY83" fmla="*/ 3086100 h 6858000"/>
              <a:gd name="connsiteX84" fmla="*/ 69850 w 10095599"/>
              <a:gd name="connsiteY84" fmla="*/ 3048000 h 6858000"/>
              <a:gd name="connsiteX85" fmla="*/ 50800 w 10095599"/>
              <a:gd name="connsiteY85" fmla="*/ 3011488 h 6858000"/>
              <a:gd name="connsiteX86" fmla="*/ 34925 w 10095599"/>
              <a:gd name="connsiteY86" fmla="*/ 2970213 h 6858000"/>
              <a:gd name="connsiteX87" fmla="*/ 20637 w 10095599"/>
              <a:gd name="connsiteY87" fmla="*/ 2924175 h 6858000"/>
              <a:gd name="connsiteX88" fmla="*/ 9525 w 10095599"/>
              <a:gd name="connsiteY88" fmla="*/ 2871788 h 6858000"/>
              <a:gd name="connsiteX89" fmla="*/ 1587 w 10095599"/>
              <a:gd name="connsiteY89" fmla="*/ 2811463 h 6858000"/>
              <a:gd name="connsiteX90" fmla="*/ 0 w 10095599"/>
              <a:gd name="connsiteY90" fmla="*/ 2743200 h 6858000"/>
              <a:gd name="connsiteX91" fmla="*/ 1587 w 10095599"/>
              <a:gd name="connsiteY91" fmla="*/ 2674938 h 6858000"/>
              <a:gd name="connsiteX92" fmla="*/ 9525 w 10095599"/>
              <a:gd name="connsiteY92" fmla="*/ 2614613 h 6858000"/>
              <a:gd name="connsiteX93" fmla="*/ 20637 w 10095599"/>
              <a:gd name="connsiteY93" fmla="*/ 2562225 h 6858000"/>
              <a:gd name="connsiteX94" fmla="*/ 34925 w 10095599"/>
              <a:gd name="connsiteY94" fmla="*/ 2516188 h 6858000"/>
              <a:gd name="connsiteX95" fmla="*/ 50800 w 10095599"/>
              <a:gd name="connsiteY95" fmla="*/ 2474913 h 6858000"/>
              <a:gd name="connsiteX96" fmla="*/ 69850 w 10095599"/>
              <a:gd name="connsiteY96" fmla="*/ 2438400 h 6858000"/>
              <a:gd name="connsiteX97" fmla="*/ 88900 w 10095599"/>
              <a:gd name="connsiteY97" fmla="*/ 2400300 h 6858000"/>
              <a:gd name="connsiteX98" fmla="*/ 107950 w 10095599"/>
              <a:gd name="connsiteY98" fmla="*/ 2362200 h 6858000"/>
              <a:gd name="connsiteX99" fmla="*/ 123825 w 10095599"/>
              <a:gd name="connsiteY99" fmla="*/ 2325688 h 6858000"/>
              <a:gd name="connsiteX100" fmla="*/ 139700 w 10095599"/>
              <a:gd name="connsiteY100" fmla="*/ 2284413 h 6858000"/>
              <a:gd name="connsiteX101" fmla="*/ 155575 w 10095599"/>
              <a:gd name="connsiteY101" fmla="*/ 2238375 h 6858000"/>
              <a:gd name="connsiteX102" fmla="*/ 166687 w 10095599"/>
              <a:gd name="connsiteY102" fmla="*/ 2185988 h 6858000"/>
              <a:gd name="connsiteX103" fmla="*/ 173037 w 10095599"/>
              <a:gd name="connsiteY103" fmla="*/ 2125663 h 6858000"/>
              <a:gd name="connsiteX104" fmla="*/ 176212 w 10095599"/>
              <a:gd name="connsiteY104" fmla="*/ 2057400 h 6858000"/>
              <a:gd name="connsiteX105" fmla="*/ 173037 w 10095599"/>
              <a:gd name="connsiteY105" fmla="*/ 1989138 h 6858000"/>
              <a:gd name="connsiteX106" fmla="*/ 166687 w 10095599"/>
              <a:gd name="connsiteY106" fmla="*/ 1928813 h 6858000"/>
              <a:gd name="connsiteX107" fmla="*/ 155575 w 10095599"/>
              <a:gd name="connsiteY107" fmla="*/ 1876425 h 6858000"/>
              <a:gd name="connsiteX108" fmla="*/ 139700 w 10095599"/>
              <a:gd name="connsiteY108" fmla="*/ 1830388 h 6858000"/>
              <a:gd name="connsiteX109" fmla="*/ 123825 w 10095599"/>
              <a:gd name="connsiteY109" fmla="*/ 1789113 h 6858000"/>
              <a:gd name="connsiteX110" fmla="*/ 107950 w 10095599"/>
              <a:gd name="connsiteY110" fmla="*/ 1752600 h 6858000"/>
              <a:gd name="connsiteX111" fmla="*/ 88900 w 10095599"/>
              <a:gd name="connsiteY111" fmla="*/ 1714500 h 6858000"/>
              <a:gd name="connsiteX112" fmla="*/ 69850 w 10095599"/>
              <a:gd name="connsiteY112" fmla="*/ 1676400 h 6858000"/>
              <a:gd name="connsiteX113" fmla="*/ 50800 w 10095599"/>
              <a:gd name="connsiteY113" fmla="*/ 1639888 h 6858000"/>
              <a:gd name="connsiteX114" fmla="*/ 34925 w 10095599"/>
              <a:gd name="connsiteY114" fmla="*/ 1598613 h 6858000"/>
              <a:gd name="connsiteX115" fmla="*/ 20637 w 10095599"/>
              <a:gd name="connsiteY115" fmla="*/ 1552575 h 6858000"/>
              <a:gd name="connsiteX116" fmla="*/ 9525 w 10095599"/>
              <a:gd name="connsiteY116" fmla="*/ 1500188 h 6858000"/>
              <a:gd name="connsiteX117" fmla="*/ 1587 w 10095599"/>
              <a:gd name="connsiteY117" fmla="*/ 1439863 h 6858000"/>
              <a:gd name="connsiteX118" fmla="*/ 0 w 10095599"/>
              <a:gd name="connsiteY118" fmla="*/ 1371600 h 6858000"/>
              <a:gd name="connsiteX119" fmla="*/ 1587 w 10095599"/>
              <a:gd name="connsiteY119" fmla="*/ 1303338 h 6858000"/>
              <a:gd name="connsiteX120" fmla="*/ 9525 w 10095599"/>
              <a:gd name="connsiteY120" fmla="*/ 1243013 h 6858000"/>
              <a:gd name="connsiteX121" fmla="*/ 20637 w 10095599"/>
              <a:gd name="connsiteY121" fmla="*/ 1190625 h 6858000"/>
              <a:gd name="connsiteX122" fmla="*/ 34925 w 10095599"/>
              <a:gd name="connsiteY122" fmla="*/ 1144588 h 6858000"/>
              <a:gd name="connsiteX123" fmla="*/ 50800 w 10095599"/>
              <a:gd name="connsiteY123" fmla="*/ 1103313 h 6858000"/>
              <a:gd name="connsiteX124" fmla="*/ 69850 w 10095599"/>
              <a:gd name="connsiteY124" fmla="*/ 1066800 h 6858000"/>
              <a:gd name="connsiteX125" fmla="*/ 88900 w 10095599"/>
              <a:gd name="connsiteY125" fmla="*/ 1028700 h 6858000"/>
              <a:gd name="connsiteX126" fmla="*/ 107950 w 10095599"/>
              <a:gd name="connsiteY126" fmla="*/ 990600 h 6858000"/>
              <a:gd name="connsiteX127" fmla="*/ 123825 w 10095599"/>
              <a:gd name="connsiteY127" fmla="*/ 954088 h 6858000"/>
              <a:gd name="connsiteX128" fmla="*/ 139700 w 10095599"/>
              <a:gd name="connsiteY128" fmla="*/ 912813 h 6858000"/>
              <a:gd name="connsiteX129" fmla="*/ 155575 w 10095599"/>
              <a:gd name="connsiteY129" fmla="*/ 866775 h 6858000"/>
              <a:gd name="connsiteX130" fmla="*/ 166687 w 10095599"/>
              <a:gd name="connsiteY130" fmla="*/ 814388 h 6858000"/>
              <a:gd name="connsiteX131" fmla="*/ 173037 w 10095599"/>
              <a:gd name="connsiteY131" fmla="*/ 754063 h 6858000"/>
              <a:gd name="connsiteX132" fmla="*/ 176212 w 10095599"/>
              <a:gd name="connsiteY132" fmla="*/ 685800 h 6858000"/>
              <a:gd name="connsiteX133" fmla="*/ 173037 w 10095599"/>
              <a:gd name="connsiteY133" fmla="*/ 617538 h 6858000"/>
              <a:gd name="connsiteX134" fmla="*/ 166687 w 10095599"/>
              <a:gd name="connsiteY134" fmla="*/ 557213 h 6858000"/>
              <a:gd name="connsiteX135" fmla="*/ 155575 w 10095599"/>
              <a:gd name="connsiteY135" fmla="*/ 504825 h 6858000"/>
              <a:gd name="connsiteX136" fmla="*/ 139700 w 10095599"/>
              <a:gd name="connsiteY136" fmla="*/ 458788 h 6858000"/>
              <a:gd name="connsiteX137" fmla="*/ 123825 w 10095599"/>
              <a:gd name="connsiteY137" fmla="*/ 417513 h 6858000"/>
              <a:gd name="connsiteX138" fmla="*/ 107950 w 10095599"/>
              <a:gd name="connsiteY138" fmla="*/ 381000 h 6858000"/>
              <a:gd name="connsiteX139" fmla="*/ 88900 w 10095599"/>
              <a:gd name="connsiteY139" fmla="*/ 342900 h 6858000"/>
              <a:gd name="connsiteX140" fmla="*/ 69850 w 10095599"/>
              <a:gd name="connsiteY140" fmla="*/ 304800 h 6858000"/>
              <a:gd name="connsiteX141" fmla="*/ 50800 w 10095599"/>
              <a:gd name="connsiteY141" fmla="*/ 268288 h 6858000"/>
              <a:gd name="connsiteX142" fmla="*/ 34925 w 10095599"/>
              <a:gd name="connsiteY142" fmla="*/ 227013 h 6858000"/>
              <a:gd name="connsiteX143" fmla="*/ 20637 w 10095599"/>
              <a:gd name="connsiteY143" fmla="*/ 180975 h 6858000"/>
              <a:gd name="connsiteX144" fmla="*/ 9525 w 10095599"/>
              <a:gd name="connsiteY144" fmla="*/ 128588 h 6858000"/>
              <a:gd name="connsiteX145" fmla="*/ 1587 w 10095599"/>
              <a:gd name="connsiteY145" fmla="*/ 6826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10095599" h="6858000">
                <a:moveTo>
                  <a:pt x="0" y="0"/>
                </a:moveTo>
                <a:lnTo>
                  <a:pt x="7448352" y="0"/>
                </a:lnTo>
                <a:lnTo>
                  <a:pt x="9446485" y="0"/>
                </a:lnTo>
                <a:lnTo>
                  <a:pt x="10095599" y="0"/>
                </a:lnTo>
                <a:lnTo>
                  <a:pt x="10095599" y="6858000"/>
                </a:lnTo>
                <a:lnTo>
                  <a:pt x="9446485" y="6858000"/>
                </a:lnTo>
                <a:lnTo>
                  <a:pt x="7448352" y="6858000"/>
                </a:lnTo>
                <a:lnTo>
                  <a:pt x="0" y="6858000"/>
                </a:lnTo>
                <a:lnTo>
                  <a:pt x="1587" y="6789738"/>
                </a:lnTo>
                <a:lnTo>
                  <a:pt x="9525" y="6729413"/>
                </a:lnTo>
                <a:lnTo>
                  <a:pt x="20637" y="6677025"/>
                </a:lnTo>
                <a:lnTo>
                  <a:pt x="34925" y="6630988"/>
                </a:lnTo>
                <a:lnTo>
                  <a:pt x="50800" y="6589713"/>
                </a:lnTo>
                <a:lnTo>
                  <a:pt x="69850" y="6553200"/>
                </a:lnTo>
                <a:lnTo>
                  <a:pt x="88900" y="6515100"/>
                </a:lnTo>
                <a:lnTo>
                  <a:pt x="107950" y="6477000"/>
                </a:lnTo>
                <a:lnTo>
                  <a:pt x="123825" y="6440488"/>
                </a:lnTo>
                <a:lnTo>
                  <a:pt x="139700" y="6399213"/>
                </a:lnTo>
                <a:lnTo>
                  <a:pt x="155575" y="6353175"/>
                </a:lnTo>
                <a:lnTo>
                  <a:pt x="166687" y="6300788"/>
                </a:lnTo>
                <a:lnTo>
                  <a:pt x="173037" y="6240463"/>
                </a:lnTo>
                <a:lnTo>
                  <a:pt x="176212" y="6172200"/>
                </a:lnTo>
                <a:lnTo>
                  <a:pt x="173037" y="6103938"/>
                </a:lnTo>
                <a:lnTo>
                  <a:pt x="166687" y="6043613"/>
                </a:lnTo>
                <a:lnTo>
                  <a:pt x="155575" y="5991225"/>
                </a:lnTo>
                <a:lnTo>
                  <a:pt x="139700" y="5945188"/>
                </a:lnTo>
                <a:lnTo>
                  <a:pt x="123825" y="5903913"/>
                </a:lnTo>
                <a:lnTo>
                  <a:pt x="107950" y="5867400"/>
                </a:lnTo>
                <a:lnTo>
                  <a:pt x="88900" y="5829300"/>
                </a:lnTo>
                <a:lnTo>
                  <a:pt x="69850" y="5791200"/>
                </a:lnTo>
                <a:lnTo>
                  <a:pt x="50800" y="5754688"/>
                </a:lnTo>
                <a:lnTo>
                  <a:pt x="34925" y="5713413"/>
                </a:lnTo>
                <a:lnTo>
                  <a:pt x="20637" y="5667375"/>
                </a:lnTo>
                <a:lnTo>
                  <a:pt x="9525" y="5614988"/>
                </a:lnTo>
                <a:lnTo>
                  <a:pt x="1587" y="5554663"/>
                </a:lnTo>
                <a:lnTo>
                  <a:pt x="0" y="5486400"/>
                </a:lnTo>
                <a:lnTo>
                  <a:pt x="1587" y="5418138"/>
                </a:lnTo>
                <a:lnTo>
                  <a:pt x="9525" y="5357813"/>
                </a:lnTo>
                <a:lnTo>
                  <a:pt x="20637" y="5305425"/>
                </a:lnTo>
                <a:lnTo>
                  <a:pt x="34925" y="5259388"/>
                </a:lnTo>
                <a:lnTo>
                  <a:pt x="50800" y="5218113"/>
                </a:lnTo>
                <a:lnTo>
                  <a:pt x="69850" y="5181600"/>
                </a:lnTo>
                <a:lnTo>
                  <a:pt x="88900" y="5143500"/>
                </a:lnTo>
                <a:lnTo>
                  <a:pt x="107950" y="5105400"/>
                </a:lnTo>
                <a:lnTo>
                  <a:pt x="123825" y="5068888"/>
                </a:lnTo>
                <a:lnTo>
                  <a:pt x="139700" y="5027613"/>
                </a:lnTo>
                <a:lnTo>
                  <a:pt x="155575" y="4981575"/>
                </a:lnTo>
                <a:lnTo>
                  <a:pt x="166687" y="4929188"/>
                </a:lnTo>
                <a:lnTo>
                  <a:pt x="173037" y="4868863"/>
                </a:lnTo>
                <a:lnTo>
                  <a:pt x="176212" y="4800600"/>
                </a:lnTo>
                <a:lnTo>
                  <a:pt x="173037" y="4732338"/>
                </a:lnTo>
                <a:lnTo>
                  <a:pt x="166687" y="4672013"/>
                </a:lnTo>
                <a:lnTo>
                  <a:pt x="155575" y="4619625"/>
                </a:lnTo>
                <a:lnTo>
                  <a:pt x="139700" y="4573588"/>
                </a:lnTo>
                <a:lnTo>
                  <a:pt x="123825" y="4532313"/>
                </a:lnTo>
                <a:lnTo>
                  <a:pt x="107950" y="4495800"/>
                </a:lnTo>
                <a:lnTo>
                  <a:pt x="69850" y="4419600"/>
                </a:lnTo>
                <a:lnTo>
                  <a:pt x="50800" y="4383088"/>
                </a:lnTo>
                <a:lnTo>
                  <a:pt x="34925" y="4341813"/>
                </a:lnTo>
                <a:lnTo>
                  <a:pt x="20637" y="4295775"/>
                </a:lnTo>
                <a:lnTo>
                  <a:pt x="9525" y="4243388"/>
                </a:lnTo>
                <a:lnTo>
                  <a:pt x="1587" y="4183063"/>
                </a:lnTo>
                <a:lnTo>
                  <a:pt x="0" y="4114800"/>
                </a:lnTo>
                <a:lnTo>
                  <a:pt x="1587" y="4046538"/>
                </a:lnTo>
                <a:lnTo>
                  <a:pt x="9525" y="3986213"/>
                </a:lnTo>
                <a:lnTo>
                  <a:pt x="20637" y="3933825"/>
                </a:lnTo>
                <a:lnTo>
                  <a:pt x="34925" y="3887788"/>
                </a:lnTo>
                <a:lnTo>
                  <a:pt x="50800" y="3846513"/>
                </a:lnTo>
                <a:lnTo>
                  <a:pt x="69850" y="3810000"/>
                </a:lnTo>
                <a:lnTo>
                  <a:pt x="88900" y="3771900"/>
                </a:lnTo>
                <a:lnTo>
                  <a:pt x="107950" y="3733800"/>
                </a:lnTo>
                <a:lnTo>
                  <a:pt x="123825" y="3697288"/>
                </a:lnTo>
                <a:lnTo>
                  <a:pt x="139700" y="3656013"/>
                </a:lnTo>
                <a:lnTo>
                  <a:pt x="155575" y="3609975"/>
                </a:lnTo>
                <a:lnTo>
                  <a:pt x="166687" y="3557588"/>
                </a:lnTo>
                <a:lnTo>
                  <a:pt x="173037" y="3497263"/>
                </a:lnTo>
                <a:lnTo>
                  <a:pt x="176212" y="3427413"/>
                </a:lnTo>
                <a:lnTo>
                  <a:pt x="173037" y="3360738"/>
                </a:lnTo>
                <a:lnTo>
                  <a:pt x="166687" y="3300413"/>
                </a:lnTo>
                <a:lnTo>
                  <a:pt x="155575" y="3248025"/>
                </a:lnTo>
                <a:lnTo>
                  <a:pt x="139700" y="3201988"/>
                </a:lnTo>
                <a:lnTo>
                  <a:pt x="123825" y="3160713"/>
                </a:lnTo>
                <a:lnTo>
                  <a:pt x="107950" y="3124200"/>
                </a:lnTo>
                <a:lnTo>
                  <a:pt x="88900" y="3086100"/>
                </a:lnTo>
                <a:lnTo>
                  <a:pt x="69850" y="3048000"/>
                </a:lnTo>
                <a:lnTo>
                  <a:pt x="50800" y="3011488"/>
                </a:lnTo>
                <a:lnTo>
                  <a:pt x="34925" y="2970213"/>
                </a:lnTo>
                <a:lnTo>
                  <a:pt x="20637" y="2924175"/>
                </a:lnTo>
                <a:lnTo>
                  <a:pt x="9525" y="2871788"/>
                </a:lnTo>
                <a:lnTo>
                  <a:pt x="1587" y="2811463"/>
                </a:lnTo>
                <a:lnTo>
                  <a:pt x="0" y="2743200"/>
                </a:lnTo>
                <a:lnTo>
                  <a:pt x="1587" y="2674938"/>
                </a:lnTo>
                <a:lnTo>
                  <a:pt x="9525" y="2614613"/>
                </a:lnTo>
                <a:lnTo>
                  <a:pt x="20637" y="2562225"/>
                </a:lnTo>
                <a:lnTo>
                  <a:pt x="34925" y="2516188"/>
                </a:lnTo>
                <a:lnTo>
                  <a:pt x="50800" y="2474913"/>
                </a:lnTo>
                <a:lnTo>
                  <a:pt x="69850" y="2438400"/>
                </a:lnTo>
                <a:lnTo>
                  <a:pt x="88900" y="2400300"/>
                </a:lnTo>
                <a:lnTo>
                  <a:pt x="107950" y="2362200"/>
                </a:lnTo>
                <a:lnTo>
                  <a:pt x="123825" y="2325688"/>
                </a:lnTo>
                <a:lnTo>
                  <a:pt x="139700" y="2284413"/>
                </a:lnTo>
                <a:lnTo>
                  <a:pt x="155575" y="2238375"/>
                </a:lnTo>
                <a:lnTo>
                  <a:pt x="166687" y="2185988"/>
                </a:lnTo>
                <a:lnTo>
                  <a:pt x="173037" y="2125663"/>
                </a:lnTo>
                <a:lnTo>
                  <a:pt x="176212" y="2057400"/>
                </a:lnTo>
                <a:lnTo>
                  <a:pt x="173037" y="1989138"/>
                </a:lnTo>
                <a:lnTo>
                  <a:pt x="166687" y="1928813"/>
                </a:lnTo>
                <a:lnTo>
                  <a:pt x="155575" y="1876425"/>
                </a:lnTo>
                <a:lnTo>
                  <a:pt x="139700" y="1830388"/>
                </a:lnTo>
                <a:lnTo>
                  <a:pt x="123825" y="1789113"/>
                </a:lnTo>
                <a:lnTo>
                  <a:pt x="107950" y="1752600"/>
                </a:lnTo>
                <a:lnTo>
                  <a:pt x="88900" y="1714500"/>
                </a:lnTo>
                <a:lnTo>
                  <a:pt x="69850" y="1676400"/>
                </a:lnTo>
                <a:lnTo>
                  <a:pt x="50800" y="1639888"/>
                </a:lnTo>
                <a:lnTo>
                  <a:pt x="34925" y="1598613"/>
                </a:lnTo>
                <a:lnTo>
                  <a:pt x="20637" y="1552575"/>
                </a:lnTo>
                <a:lnTo>
                  <a:pt x="9525" y="1500188"/>
                </a:lnTo>
                <a:lnTo>
                  <a:pt x="1587" y="1439863"/>
                </a:lnTo>
                <a:lnTo>
                  <a:pt x="0" y="1371600"/>
                </a:lnTo>
                <a:lnTo>
                  <a:pt x="1587" y="1303338"/>
                </a:lnTo>
                <a:lnTo>
                  <a:pt x="9525" y="1243013"/>
                </a:lnTo>
                <a:lnTo>
                  <a:pt x="20637" y="1190625"/>
                </a:lnTo>
                <a:lnTo>
                  <a:pt x="34925" y="1144588"/>
                </a:lnTo>
                <a:lnTo>
                  <a:pt x="50800" y="1103313"/>
                </a:lnTo>
                <a:lnTo>
                  <a:pt x="69850" y="1066800"/>
                </a:lnTo>
                <a:lnTo>
                  <a:pt x="88900" y="1028700"/>
                </a:lnTo>
                <a:lnTo>
                  <a:pt x="107950" y="990600"/>
                </a:lnTo>
                <a:lnTo>
                  <a:pt x="123825" y="954088"/>
                </a:lnTo>
                <a:lnTo>
                  <a:pt x="139700" y="912813"/>
                </a:lnTo>
                <a:lnTo>
                  <a:pt x="155575" y="866775"/>
                </a:lnTo>
                <a:lnTo>
                  <a:pt x="166687" y="814388"/>
                </a:lnTo>
                <a:lnTo>
                  <a:pt x="173037" y="754063"/>
                </a:lnTo>
                <a:lnTo>
                  <a:pt x="176212" y="685800"/>
                </a:lnTo>
                <a:lnTo>
                  <a:pt x="173037" y="617538"/>
                </a:lnTo>
                <a:lnTo>
                  <a:pt x="166687" y="557213"/>
                </a:lnTo>
                <a:lnTo>
                  <a:pt x="155575" y="504825"/>
                </a:lnTo>
                <a:lnTo>
                  <a:pt x="139700" y="458788"/>
                </a:lnTo>
                <a:lnTo>
                  <a:pt x="123825" y="417513"/>
                </a:lnTo>
                <a:lnTo>
                  <a:pt x="107950" y="381000"/>
                </a:lnTo>
                <a:lnTo>
                  <a:pt x="88900" y="342900"/>
                </a:lnTo>
                <a:lnTo>
                  <a:pt x="69850" y="304800"/>
                </a:lnTo>
                <a:lnTo>
                  <a:pt x="50800" y="268288"/>
                </a:lnTo>
                <a:lnTo>
                  <a:pt x="34925" y="227013"/>
                </a:lnTo>
                <a:lnTo>
                  <a:pt x="20637" y="180975"/>
                </a:lnTo>
                <a:lnTo>
                  <a:pt x="9525" y="128588"/>
                </a:lnTo>
                <a:lnTo>
                  <a:pt x="1587" y="68263"/>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194F438-5282-0AC6-BED5-6C58D59582CD}"/>
              </a:ext>
            </a:extLst>
          </p:cNvPr>
          <p:cNvSpPr>
            <a:spLocks noGrp="1"/>
          </p:cNvSpPr>
          <p:nvPr>
            <p:ph type="title"/>
          </p:nvPr>
        </p:nvSpPr>
        <p:spPr>
          <a:xfrm>
            <a:off x="1585773" y="267629"/>
            <a:ext cx="8632372" cy="1113295"/>
          </a:xfrm>
        </p:spPr>
        <p:txBody>
          <a:bodyPr anchor="t">
            <a:normAutofit/>
          </a:bodyPr>
          <a:lstStyle/>
          <a:p>
            <a:pPr algn="ctr"/>
            <a:r>
              <a:rPr lang="en-US"/>
              <a:t>Customized Employment	</a:t>
            </a:r>
          </a:p>
        </p:txBody>
      </p:sp>
      <p:pic>
        <p:nvPicPr>
          <p:cNvPr id="5" name="Picture 4" descr="Logo">
            <a:extLst>
              <a:ext uri="{FF2B5EF4-FFF2-40B4-BE49-F238E27FC236}">
                <a16:creationId xmlns:a16="http://schemas.microsoft.com/office/drawing/2014/main" id="{1D9D86B6-06EC-7855-38BD-D889DEBBAD74}"/>
              </a:ext>
            </a:extLst>
          </p:cNvPr>
          <p:cNvPicPr>
            <a:picLocks noChangeAspect="1"/>
          </p:cNvPicPr>
          <p:nvPr/>
        </p:nvPicPr>
        <p:blipFill>
          <a:blip r:embed="rId3"/>
          <a:stretch>
            <a:fillRect/>
          </a:stretch>
        </p:blipFill>
        <p:spPr>
          <a:xfrm>
            <a:off x="10095599" y="5833791"/>
            <a:ext cx="1768158" cy="875712"/>
          </a:xfrm>
          <a:prstGeom prst="rect">
            <a:avLst/>
          </a:prstGeom>
        </p:spPr>
      </p:pic>
      <p:sp>
        <p:nvSpPr>
          <p:cNvPr id="7" name="Content Placeholder 6">
            <a:extLst>
              <a:ext uri="{FF2B5EF4-FFF2-40B4-BE49-F238E27FC236}">
                <a16:creationId xmlns:a16="http://schemas.microsoft.com/office/drawing/2014/main" id="{18101594-30CD-85FF-F02F-5255472D6441}"/>
              </a:ext>
            </a:extLst>
          </p:cNvPr>
          <p:cNvSpPr>
            <a:spLocks noGrp="1"/>
          </p:cNvSpPr>
          <p:nvPr>
            <p:ph idx="1"/>
          </p:nvPr>
        </p:nvSpPr>
        <p:spPr>
          <a:xfrm>
            <a:off x="2504440" y="1612265"/>
            <a:ext cx="9551625" cy="4073029"/>
          </a:xfrm>
        </p:spPr>
        <p:txBody>
          <a:bodyPr vert="horz" lIns="91440" tIns="45720" rIns="91440" bIns="45720" rtlCol="0" anchor="t">
            <a:normAutofit fontScale="62500" lnSpcReduction="20000"/>
          </a:bodyPr>
          <a:lstStyle/>
          <a:p>
            <a:pPr lvl="1">
              <a:lnSpc>
                <a:spcPct val="100000"/>
              </a:lnSpc>
              <a:spcBef>
                <a:spcPts val="0"/>
              </a:spcBef>
            </a:pPr>
            <a:r>
              <a:rPr lang="en-US" sz="4500">
                <a:ea typeface="Calibri"/>
                <a:cs typeface="Calibri"/>
              </a:rPr>
              <a:t>Customized Employment (CE) and the Discovery Process is a specific service paid for by </a:t>
            </a:r>
            <a:r>
              <a:rPr lang="en-US" sz="4500" err="1">
                <a:ea typeface="Calibri"/>
                <a:cs typeface="Calibri"/>
              </a:rPr>
              <a:t>Voc</a:t>
            </a:r>
            <a:r>
              <a:rPr lang="en-US" sz="4500">
                <a:ea typeface="Calibri"/>
                <a:cs typeface="Calibri"/>
              </a:rPr>
              <a:t> Rehab</a:t>
            </a:r>
          </a:p>
          <a:p>
            <a:pPr marL="457200" lvl="1" indent="0">
              <a:lnSpc>
                <a:spcPct val="100000"/>
              </a:lnSpc>
              <a:spcBef>
                <a:spcPts val="0"/>
              </a:spcBef>
              <a:buNone/>
            </a:pPr>
            <a:endParaRPr lang="en-US" sz="4500">
              <a:ea typeface="Calibri"/>
              <a:cs typeface="Calibri"/>
            </a:endParaRPr>
          </a:p>
          <a:p>
            <a:pPr lvl="1">
              <a:lnSpc>
                <a:spcPct val="100000"/>
              </a:lnSpc>
              <a:spcBef>
                <a:spcPts val="0"/>
              </a:spcBef>
            </a:pPr>
            <a:r>
              <a:rPr lang="en-US" sz="4500">
                <a:ea typeface="Calibri"/>
                <a:cs typeface="Calibri"/>
              </a:rPr>
              <a:t>CE is an interest-based negotiation between the job seeker and employer (DEED)</a:t>
            </a:r>
          </a:p>
          <a:p>
            <a:pPr marL="457200" lvl="1" indent="0">
              <a:lnSpc>
                <a:spcPct val="100000"/>
              </a:lnSpc>
              <a:spcBef>
                <a:spcPts val="0"/>
              </a:spcBef>
              <a:buNone/>
            </a:pPr>
            <a:endParaRPr lang="en-US" sz="4500">
              <a:ea typeface="Calibri"/>
              <a:cs typeface="Calibri"/>
            </a:endParaRPr>
          </a:p>
          <a:p>
            <a:pPr lvl="1">
              <a:lnSpc>
                <a:spcPct val="100000"/>
              </a:lnSpc>
              <a:spcBef>
                <a:spcPts val="0"/>
              </a:spcBef>
            </a:pPr>
            <a:r>
              <a:rPr lang="en-US" sz="4500">
                <a:ea typeface="Calibri"/>
                <a:cs typeface="Calibri"/>
              </a:rPr>
              <a:t>CE is a proven evidence-based practice that improves employment outcomes for youth and adults with disabilities (NDI)</a:t>
            </a:r>
            <a:endParaRPr lang="en-US">
              <a:ea typeface="Calibri"/>
              <a:cs typeface="Calibri"/>
            </a:endParaRPr>
          </a:p>
          <a:p>
            <a:pPr lvl="1">
              <a:lnSpc>
                <a:spcPct val="100000"/>
              </a:lnSpc>
              <a:spcBef>
                <a:spcPts val="0"/>
              </a:spcBef>
            </a:pPr>
            <a:endParaRPr lang="en-US">
              <a:ea typeface="Calibri"/>
              <a:cs typeface="Calibri"/>
            </a:endParaRPr>
          </a:p>
          <a:p>
            <a:pPr marL="457200" lvl="1" indent="0">
              <a:lnSpc>
                <a:spcPct val="100000"/>
              </a:lnSpc>
              <a:spcBef>
                <a:spcPts val="0"/>
              </a:spcBef>
              <a:buNone/>
            </a:pPr>
            <a:endParaRPr lang="en-US" sz="1700">
              <a:ea typeface="Calibri"/>
              <a:cs typeface="Calibri"/>
            </a:endParaRPr>
          </a:p>
          <a:p>
            <a:pPr marL="457200" lvl="1" indent="0">
              <a:lnSpc>
                <a:spcPct val="100000"/>
              </a:lnSpc>
              <a:spcBef>
                <a:spcPts val="0"/>
              </a:spcBef>
              <a:buNone/>
            </a:pPr>
            <a:r>
              <a:rPr lang="en-US" sz="2200">
                <a:ea typeface="Calibri"/>
                <a:cs typeface="Calibri"/>
              </a:rPr>
              <a:t>Sources:</a:t>
            </a:r>
          </a:p>
          <a:p>
            <a:pPr marL="457200" lvl="1" indent="0">
              <a:lnSpc>
                <a:spcPct val="100000"/>
              </a:lnSpc>
              <a:spcBef>
                <a:spcPts val="0"/>
              </a:spcBef>
              <a:buNone/>
            </a:pPr>
            <a:r>
              <a:rPr lang="en-US" sz="2200">
                <a:ea typeface="Calibri"/>
                <a:cs typeface="Calibri"/>
              </a:rPr>
              <a:t>MN DEED. </a:t>
            </a:r>
            <a:r>
              <a:rPr lang="en-US" sz="2200" i="1">
                <a:ea typeface="Calibri"/>
                <a:cs typeface="Calibri"/>
              </a:rPr>
              <a:t>Customized Employment</a:t>
            </a:r>
            <a:endParaRPr lang="en-US" sz="2200">
              <a:ea typeface="Calibri"/>
              <a:cs typeface="Calibri"/>
            </a:endParaRPr>
          </a:p>
          <a:p>
            <a:pPr marL="457200" lvl="1" indent="0">
              <a:lnSpc>
                <a:spcPct val="100000"/>
              </a:lnSpc>
              <a:spcBef>
                <a:spcPts val="0"/>
              </a:spcBef>
              <a:buNone/>
            </a:pPr>
            <a:r>
              <a:rPr lang="en-US" sz="2200">
                <a:ea typeface="Calibri"/>
                <a:cs typeface="Calibri"/>
              </a:rPr>
              <a:t>National Disability Institute. </a:t>
            </a:r>
            <a:r>
              <a:rPr lang="en-US" sz="2200" i="1">
                <a:ea typeface="Calibri"/>
                <a:cs typeface="Calibri"/>
              </a:rPr>
              <a:t>Discovery &amp; Customized Employment</a:t>
            </a:r>
            <a:endParaRPr lang="en-US" sz="2200">
              <a:ea typeface="Calibri"/>
              <a:cs typeface="Calibri"/>
            </a:endParaRPr>
          </a:p>
          <a:p>
            <a:pPr marL="457200" lvl="1" indent="0">
              <a:lnSpc>
                <a:spcPct val="100000"/>
              </a:lnSpc>
              <a:spcBef>
                <a:spcPts val="0"/>
              </a:spcBef>
              <a:buNone/>
            </a:pPr>
            <a:endParaRPr lang="en-US" i="1">
              <a:ea typeface="Calibri"/>
              <a:cs typeface="Calibri"/>
            </a:endParaRPr>
          </a:p>
        </p:txBody>
      </p:sp>
    </p:spTree>
    <p:extLst>
      <p:ext uri="{BB962C8B-B14F-4D97-AF65-F5344CB8AC3E}">
        <p14:creationId xmlns:p14="http://schemas.microsoft.com/office/powerpoint/2010/main" val="20493406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7">
            <a:extLst>
              <a:ext uri="{FF2B5EF4-FFF2-40B4-BE49-F238E27FC236}">
                <a16:creationId xmlns:a16="http://schemas.microsoft.com/office/drawing/2014/main" id="{E8BF0C67-DF85-430A-B677-74D9594394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1" y="0"/>
            <a:ext cx="12191996" cy="6858000"/>
          </a:xfrm>
          <a:prstGeom prst="rect">
            <a:avLst/>
          </a:prstGeom>
          <a:solidFill>
            <a:srgbClr val="FFFFFF"/>
          </a:solidFill>
          <a:ln w="0">
            <a:noFill/>
            <a:prstDash val="solid"/>
            <a:round/>
            <a:headEnd/>
            <a:tailEnd/>
          </a:ln>
        </p:spPr>
        <p:txBody>
          <a:bodyPr rtlCol="0" anchor="ctr"/>
          <a:lstStyle/>
          <a:p>
            <a:pPr algn="ctr" defTabSz="457200"/>
            <a:endParaRPr lang="en-US">
              <a:solidFill>
                <a:schemeClr val="tx1"/>
              </a:solidFill>
            </a:endParaRPr>
          </a:p>
        </p:txBody>
      </p:sp>
      <p:sp>
        <p:nvSpPr>
          <p:cNvPr id="19" name="Rectangle 9">
            <a:extLst>
              <a:ext uri="{FF2B5EF4-FFF2-40B4-BE49-F238E27FC236}">
                <a16:creationId xmlns:a16="http://schemas.microsoft.com/office/drawing/2014/main" id="{751BAC80-2398-422A-9AA2-2489F01EF9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1" y="0"/>
            <a:ext cx="12191996" cy="6858000"/>
          </a:xfrm>
          <a:prstGeom prst="rect">
            <a:avLst/>
          </a:prstGeom>
          <a:solidFill>
            <a:schemeClr val="accent1">
              <a:lumMod val="50000"/>
              <a:alpha val="25000"/>
            </a:schemeClr>
          </a:solidFill>
          <a:ln w="0">
            <a:noFill/>
            <a:prstDash val="solid"/>
            <a:round/>
            <a:headEnd/>
            <a:tailEnd/>
          </a:ln>
        </p:spPr>
        <p:txBody>
          <a:bodyPr wrap="square" rtlCol="0" anchor="ctr">
            <a:noAutofit/>
          </a:bodyPr>
          <a:lstStyle/>
          <a:p>
            <a:pPr algn="ctr"/>
            <a:endParaRPr lang="en-US"/>
          </a:p>
        </p:txBody>
      </p:sp>
      <p:sp useBgFill="1">
        <p:nvSpPr>
          <p:cNvPr id="20" name="Freeform: Shape 11">
            <a:extLst>
              <a:ext uri="{FF2B5EF4-FFF2-40B4-BE49-F238E27FC236}">
                <a16:creationId xmlns:a16="http://schemas.microsoft.com/office/drawing/2014/main" id="{34A3EF12-7620-4D66-ACFC-B9F71BAD87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96401" y="0"/>
            <a:ext cx="10095599" cy="6858000"/>
          </a:xfrm>
          <a:custGeom>
            <a:avLst/>
            <a:gdLst>
              <a:gd name="connsiteX0" fmla="*/ 0 w 10095599"/>
              <a:gd name="connsiteY0" fmla="*/ 0 h 6858000"/>
              <a:gd name="connsiteX1" fmla="*/ 7448352 w 10095599"/>
              <a:gd name="connsiteY1" fmla="*/ 0 h 6858000"/>
              <a:gd name="connsiteX2" fmla="*/ 9446485 w 10095599"/>
              <a:gd name="connsiteY2" fmla="*/ 0 h 6858000"/>
              <a:gd name="connsiteX3" fmla="*/ 10095599 w 10095599"/>
              <a:gd name="connsiteY3" fmla="*/ 0 h 6858000"/>
              <a:gd name="connsiteX4" fmla="*/ 10095599 w 10095599"/>
              <a:gd name="connsiteY4" fmla="*/ 6858000 h 6858000"/>
              <a:gd name="connsiteX5" fmla="*/ 9446485 w 10095599"/>
              <a:gd name="connsiteY5" fmla="*/ 6858000 h 6858000"/>
              <a:gd name="connsiteX6" fmla="*/ 7448352 w 10095599"/>
              <a:gd name="connsiteY6" fmla="*/ 6858000 h 6858000"/>
              <a:gd name="connsiteX7" fmla="*/ 0 w 10095599"/>
              <a:gd name="connsiteY7" fmla="*/ 6858000 h 6858000"/>
              <a:gd name="connsiteX8" fmla="*/ 1587 w 10095599"/>
              <a:gd name="connsiteY8" fmla="*/ 6789738 h 6858000"/>
              <a:gd name="connsiteX9" fmla="*/ 9525 w 10095599"/>
              <a:gd name="connsiteY9" fmla="*/ 6729413 h 6858000"/>
              <a:gd name="connsiteX10" fmla="*/ 20637 w 10095599"/>
              <a:gd name="connsiteY10" fmla="*/ 6677025 h 6858000"/>
              <a:gd name="connsiteX11" fmla="*/ 34925 w 10095599"/>
              <a:gd name="connsiteY11" fmla="*/ 6630988 h 6858000"/>
              <a:gd name="connsiteX12" fmla="*/ 50800 w 10095599"/>
              <a:gd name="connsiteY12" fmla="*/ 6589713 h 6858000"/>
              <a:gd name="connsiteX13" fmla="*/ 69850 w 10095599"/>
              <a:gd name="connsiteY13" fmla="*/ 6553200 h 6858000"/>
              <a:gd name="connsiteX14" fmla="*/ 88900 w 10095599"/>
              <a:gd name="connsiteY14" fmla="*/ 6515100 h 6858000"/>
              <a:gd name="connsiteX15" fmla="*/ 107950 w 10095599"/>
              <a:gd name="connsiteY15" fmla="*/ 6477000 h 6858000"/>
              <a:gd name="connsiteX16" fmla="*/ 123825 w 10095599"/>
              <a:gd name="connsiteY16" fmla="*/ 6440488 h 6858000"/>
              <a:gd name="connsiteX17" fmla="*/ 139700 w 10095599"/>
              <a:gd name="connsiteY17" fmla="*/ 6399213 h 6858000"/>
              <a:gd name="connsiteX18" fmla="*/ 155575 w 10095599"/>
              <a:gd name="connsiteY18" fmla="*/ 6353175 h 6858000"/>
              <a:gd name="connsiteX19" fmla="*/ 166687 w 10095599"/>
              <a:gd name="connsiteY19" fmla="*/ 6300788 h 6858000"/>
              <a:gd name="connsiteX20" fmla="*/ 173037 w 10095599"/>
              <a:gd name="connsiteY20" fmla="*/ 6240463 h 6858000"/>
              <a:gd name="connsiteX21" fmla="*/ 176212 w 10095599"/>
              <a:gd name="connsiteY21" fmla="*/ 6172200 h 6858000"/>
              <a:gd name="connsiteX22" fmla="*/ 173037 w 10095599"/>
              <a:gd name="connsiteY22" fmla="*/ 6103938 h 6858000"/>
              <a:gd name="connsiteX23" fmla="*/ 166687 w 10095599"/>
              <a:gd name="connsiteY23" fmla="*/ 6043613 h 6858000"/>
              <a:gd name="connsiteX24" fmla="*/ 155575 w 10095599"/>
              <a:gd name="connsiteY24" fmla="*/ 5991225 h 6858000"/>
              <a:gd name="connsiteX25" fmla="*/ 139700 w 10095599"/>
              <a:gd name="connsiteY25" fmla="*/ 5945188 h 6858000"/>
              <a:gd name="connsiteX26" fmla="*/ 123825 w 10095599"/>
              <a:gd name="connsiteY26" fmla="*/ 5903913 h 6858000"/>
              <a:gd name="connsiteX27" fmla="*/ 107950 w 10095599"/>
              <a:gd name="connsiteY27" fmla="*/ 5867400 h 6858000"/>
              <a:gd name="connsiteX28" fmla="*/ 88900 w 10095599"/>
              <a:gd name="connsiteY28" fmla="*/ 5829300 h 6858000"/>
              <a:gd name="connsiteX29" fmla="*/ 69850 w 10095599"/>
              <a:gd name="connsiteY29" fmla="*/ 5791200 h 6858000"/>
              <a:gd name="connsiteX30" fmla="*/ 50800 w 10095599"/>
              <a:gd name="connsiteY30" fmla="*/ 5754688 h 6858000"/>
              <a:gd name="connsiteX31" fmla="*/ 34925 w 10095599"/>
              <a:gd name="connsiteY31" fmla="*/ 5713413 h 6858000"/>
              <a:gd name="connsiteX32" fmla="*/ 20637 w 10095599"/>
              <a:gd name="connsiteY32" fmla="*/ 5667375 h 6858000"/>
              <a:gd name="connsiteX33" fmla="*/ 9525 w 10095599"/>
              <a:gd name="connsiteY33" fmla="*/ 5614988 h 6858000"/>
              <a:gd name="connsiteX34" fmla="*/ 1587 w 10095599"/>
              <a:gd name="connsiteY34" fmla="*/ 5554663 h 6858000"/>
              <a:gd name="connsiteX35" fmla="*/ 0 w 10095599"/>
              <a:gd name="connsiteY35" fmla="*/ 5486400 h 6858000"/>
              <a:gd name="connsiteX36" fmla="*/ 1587 w 10095599"/>
              <a:gd name="connsiteY36" fmla="*/ 5418138 h 6858000"/>
              <a:gd name="connsiteX37" fmla="*/ 9525 w 10095599"/>
              <a:gd name="connsiteY37" fmla="*/ 5357813 h 6858000"/>
              <a:gd name="connsiteX38" fmla="*/ 20637 w 10095599"/>
              <a:gd name="connsiteY38" fmla="*/ 5305425 h 6858000"/>
              <a:gd name="connsiteX39" fmla="*/ 34925 w 10095599"/>
              <a:gd name="connsiteY39" fmla="*/ 5259388 h 6858000"/>
              <a:gd name="connsiteX40" fmla="*/ 50800 w 10095599"/>
              <a:gd name="connsiteY40" fmla="*/ 5218113 h 6858000"/>
              <a:gd name="connsiteX41" fmla="*/ 69850 w 10095599"/>
              <a:gd name="connsiteY41" fmla="*/ 5181600 h 6858000"/>
              <a:gd name="connsiteX42" fmla="*/ 88900 w 10095599"/>
              <a:gd name="connsiteY42" fmla="*/ 5143500 h 6858000"/>
              <a:gd name="connsiteX43" fmla="*/ 107950 w 10095599"/>
              <a:gd name="connsiteY43" fmla="*/ 5105400 h 6858000"/>
              <a:gd name="connsiteX44" fmla="*/ 123825 w 10095599"/>
              <a:gd name="connsiteY44" fmla="*/ 5068888 h 6858000"/>
              <a:gd name="connsiteX45" fmla="*/ 139700 w 10095599"/>
              <a:gd name="connsiteY45" fmla="*/ 5027613 h 6858000"/>
              <a:gd name="connsiteX46" fmla="*/ 155575 w 10095599"/>
              <a:gd name="connsiteY46" fmla="*/ 4981575 h 6858000"/>
              <a:gd name="connsiteX47" fmla="*/ 166687 w 10095599"/>
              <a:gd name="connsiteY47" fmla="*/ 4929188 h 6858000"/>
              <a:gd name="connsiteX48" fmla="*/ 173037 w 10095599"/>
              <a:gd name="connsiteY48" fmla="*/ 4868863 h 6858000"/>
              <a:gd name="connsiteX49" fmla="*/ 176212 w 10095599"/>
              <a:gd name="connsiteY49" fmla="*/ 4800600 h 6858000"/>
              <a:gd name="connsiteX50" fmla="*/ 173037 w 10095599"/>
              <a:gd name="connsiteY50" fmla="*/ 4732338 h 6858000"/>
              <a:gd name="connsiteX51" fmla="*/ 166687 w 10095599"/>
              <a:gd name="connsiteY51" fmla="*/ 4672013 h 6858000"/>
              <a:gd name="connsiteX52" fmla="*/ 155575 w 10095599"/>
              <a:gd name="connsiteY52" fmla="*/ 4619625 h 6858000"/>
              <a:gd name="connsiteX53" fmla="*/ 139700 w 10095599"/>
              <a:gd name="connsiteY53" fmla="*/ 4573588 h 6858000"/>
              <a:gd name="connsiteX54" fmla="*/ 123825 w 10095599"/>
              <a:gd name="connsiteY54" fmla="*/ 4532313 h 6858000"/>
              <a:gd name="connsiteX55" fmla="*/ 107950 w 10095599"/>
              <a:gd name="connsiteY55" fmla="*/ 4495800 h 6858000"/>
              <a:gd name="connsiteX56" fmla="*/ 69850 w 10095599"/>
              <a:gd name="connsiteY56" fmla="*/ 4419600 h 6858000"/>
              <a:gd name="connsiteX57" fmla="*/ 50800 w 10095599"/>
              <a:gd name="connsiteY57" fmla="*/ 4383088 h 6858000"/>
              <a:gd name="connsiteX58" fmla="*/ 34925 w 10095599"/>
              <a:gd name="connsiteY58" fmla="*/ 4341813 h 6858000"/>
              <a:gd name="connsiteX59" fmla="*/ 20637 w 10095599"/>
              <a:gd name="connsiteY59" fmla="*/ 4295775 h 6858000"/>
              <a:gd name="connsiteX60" fmla="*/ 9525 w 10095599"/>
              <a:gd name="connsiteY60" fmla="*/ 4243388 h 6858000"/>
              <a:gd name="connsiteX61" fmla="*/ 1587 w 10095599"/>
              <a:gd name="connsiteY61" fmla="*/ 4183063 h 6858000"/>
              <a:gd name="connsiteX62" fmla="*/ 0 w 10095599"/>
              <a:gd name="connsiteY62" fmla="*/ 4114800 h 6858000"/>
              <a:gd name="connsiteX63" fmla="*/ 1587 w 10095599"/>
              <a:gd name="connsiteY63" fmla="*/ 4046538 h 6858000"/>
              <a:gd name="connsiteX64" fmla="*/ 9525 w 10095599"/>
              <a:gd name="connsiteY64" fmla="*/ 3986213 h 6858000"/>
              <a:gd name="connsiteX65" fmla="*/ 20637 w 10095599"/>
              <a:gd name="connsiteY65" fmla="*/ 3933825 h 6858000"/>
              <a:gd name="connsiteX66" fmla="*/ 34925 w 10095599"/>
              <a:gd name="connsiteY66" fmla="*/ 3887788 h 6858000"/>
              <a:gd name="connsiteX67" fmla="*/ 50800 w 10095599"/>
              <a:gd name="connsiteY67" fmla="*/ 3846513 h 6858000"/>
              <a:gd name="connsiteX68" fmla="*/ 69850 w 10095599"/>
              <a:gd name="connsiteY68" fmla="*/ 3810000 h 6858000"/>
              <a:gd name="connsiteX69" fmla="*/ 88900 w 10095599"/>
              <a:gd name="connsiteY69" fmla="*/ 3771900 h 6858000"/>
              <a:gd name="connsiteX70" fmla="*/ 107950 w 10095599"/>
              <a:gd name="connsiteY70" fmla="*/ 3733800 h 6858000"/>
              <a:gd name="connsiteX71" fmla="*/ 123825 w 10095599"/>
              <a:gd name="connsiteY71" fmla="*/ 3697288 h 6858000"/>
              <a:gd name="connsiteX72" fmla="*/ 139700 w 10095599"/>
              <a:gd name="connsiteY72" fmla="*/ 3656013 h 6858000"/>
              <a:gd name="connsiteX73" fmla="*/ 155575 w 10095599"/>
              <a:gd name="connsiteY73" fmla="*/ 3609975 h 6858000"/>
              <a:gd name="connsiteX74" fmla="*/ 166687 w 10095599"/>
              <a:gd name="connsiteY74" fmla="*/ 3557588 h 6858000"/>
              <a:gd name="connsiteX75" fmla="*/ 173037 w 10095599"/>
              <a:gd name="connsiteY75" fmla="*/ 3497263 h 6858000"/>
              <a:gd name="connsiteX76" fmla="*/ 176212 w 10095599"/>
              <a:gd name="connsiteY76" fmla="*/ 3427413 h 6858000"/>
              <a:gd name="connsiteX77" fmla="*/ 173037 w 10095599"/>
              <a:gd name="connsiteY77" fmla="*/ 3360738 h 6858000"/>
              <a:gd name="connsiteX78" fmla="*/ 166687 w 10095599"/>
              <a:gd name="connsiteY78" fmla="*/ 3300413 h 6858000"/>
              <a:gd name="connsiteX79" fmla="*/ 155575 w 10095599"/>
              <a:gd name="connsiteY79" fmla="*/ 3248025 h 6858000"/>
              <a:gd name="connsiteX80" fmla="*/ 139700 w 10095599"/>
              <a:gd name="connsiteY80" fmla="*/ 3201988 h 6858000"/>
              <a:gd name="connsiteX81" fmla="*/ 123825 w 10095599"/>
              <a:gd name="connsiteY81" fmla="*/ 3160713 h 6858000"/>
              <a:gd name="connsiteX82" fmla="*/ 107950 w 10095599"/>
              <a:gd name="connsiteY82" fmla="*/ 3124200 h 6858000"/>
              <a:gd name="connsiteX83" fmla="*/ 88900 w 10095599"/>
              <a:gd name="connsiteY83" fmla="*/ 3086100 h 6858000"/>
              <a:gd name="connsiteX84" fmla="*/ 69850 w 10095599"/>
              <a:gd name="connsiteY84" fmla="*/ 3048000 h 6858000"/>
              <a:gd name="connsiteX85" fmla="*/ 50800 w 10095599"/>
              <a:gd name="connsiteY85" fmla="*/ 3011488 h 6858000"/>
              <a:gd name="connsiteX86" fmla="*/ 34925 w 10095599"/>
              <a:gd name="connsiteY86" fmla="*/ 2970213 h 6858000"/>
              <a:gd name="connsiteX87" fmla="*/ 20637 w 10095599"/>
              <a:gd name="connsiteY87" fmla="*/ 2924175 h 6858000"/>
              <a:gd name="connsiteX88" fmla="*/ 9525 w 10095599"/>
              <a:gd name="connsiteY88" fmla="*/ 2871788 h 6858000"/>
              <a:gd name="connsiteX89" fmla="*/ 1587 w 10095599"/>
              <a:gd name="connsiteY89" fmla="*/ 2811463 h 6858000"/>
              <a:gd name="connsiteX90" fmla="*/ 0 w 10095599"/>
              <a:gd name="connsiteY90" fmla="*/ 2743200 h 6858000"/>
              <a:gd name="connsiteX91" fmla="*/ 1587 w 10095599"/>
              <a:gd name="connsiteY91" fmla="*/ 2674938 h 6858000"/>
              <a:gd name="connsiteX92" fmla="*/ 9525 w 10095599"/>
              <a:gd name="connsiteY92" fmla="*/ 2614613 h 6858000"/>
              <a:gd name="connsiteX93" fmla="*/ 20637 w 10095599"/>
              <a:gd name="connsiteY93" fmla="*/ 2562225 h 6858000"/>
              <a:gd name="connsiteX94" fmla="*/ 34925 w 10095599"/>
              <a:gd name="connsiteY94" fmla="*/ 2516188 h 6858000"/>
              <a:gd name="connsiteX95" fmla="*/ 50800 w 10095599"/>
              <a:gd name="connsiteY95" fmla="*/ 2474913 h 6858000"/>
              <a:gd name="connsiteX96" fmla="*/ 69850 w 10095599"/>
              <a:gd name="connsiteY96" fmla="*/ 2438400 h 6858000"/>
              <a:gd name="connsiteX97" fmla="*/ 88900 w 10095599"/>
              <a:gd name="connsiteY97" fmla="*/ 2400300 h 6858000"/>
              <a:gd name="connsiteX98" fmla="*/ 107950 w 10095599"/>
              <a:gd name="connsiteY98" fmla="*/ 2362200 h 6858000"/>
              <a:gd name="connsiteX99" fmla="*/ 123825 w 10095599"/>
              <a:gd name="connsiteY99" fmla="*/ 2325688 h 6858000"/>
              <a:gd name="connsiteX100" fmla="*/ 139700 w 10095599"/>
              <a:gd name="connsiteY100" fmla="*/ 2284413 h 6858000"/>
              <a:gd name="connsiteX101" fmla="*/ 155575 w 10095599"/>
              <a:gd name="connsiteY101" fmla="*/ 2238375 h 6858000"/>
              <a:gd name="connsiteX102" fmla="*/ 166687 w 10095599"/>
              <a:gd name="connsiteY102" fmla="*/ 2185988 h 6858000"/>
              <a:gd name="connsiteX103" fmla="*/ 173037 w 10095599"/>
              <a:gd name="connsiteY103" fmla="*/ 2125663 h 6858000"/>
              <a:gd name="connsiteX104" fmla="*/ 176212 w 10095599"/>
              <a:gd name="connsiteY104" fmla="*/ 2057400 h 6858000"/>
              <a:gd name="connsiteX105" fmla="*/ 173037 w 10095599"/>
              <a:gd name="connsiteY105" fmla="*/ 1989138 h 6858000"/>
              <a:gd name="connsiteX106" fmla="*/ 166687 w 10095599"/>
              <a:gd name="connsiteY106" fmla="*/ 1928813 h 6858000"/>
              <a:gd name="connsiteX107" fmla="*/ 155575 w 10095599"/>
              <a:gd name="connsiteY107" fmla="*/ 1876425 h 6858000"/>
              <a:gd name="connsiteX108" fmla="*/ 139700 w 10095599"/>
              <a:gd name="connsiteY108" fmla="*/ 1830388 h 6858000"/>
              <a:gd name="connsiteX109" fmla="*/ 123825 w 10095599"/>
              <a:gd name="connsiteY109" fmla="*/ 1789113 h 6858000"/>
              <a:gd name="connsiteX110" fmla="*/ 107950 w 10095599"/>
              <a:gd name="connsiteY110" fmla="*/ 1752600 h 6858000"/>
              <a:gd name="connsiteX111" fmla="*/ 88900 w 10095599"/>
              <a:gd name="connsiteY111" fmla="*/ 1714500 h 6858000"/>
              <a:gd name="connsiteX112" fmla="*/ 69850 w 10095599"/>
              <a:gd name="connsiteY112" fmla="*/ 1676400 h 6858000"/>
              <a:gd name="connsiteX113" fmla="*/ 50800 w 10095599"/>
              <a:gd name="connsiteY113" fmla="*/ 1639888 h 6858000"/>
              <a:gd name="connsiteX114" fmla="*/ 34925 w 10095599"/>
              <a:gd name="connsiteY114" fmla="*/ 1598613 h 6858000"/>
              <a:gd name="connsiteX115" fmla="*/ 20637 w 10095599"/>
              <a:gd name="connsiteY115" fmla="*/ 1552575 h 6858000"/>
              <a:gd name="connsiteX116" fmla="*/ 9525 w 10095599"/>
              <a:gd name="connsiteY116" fmla="*/ 1500188 h 6858000"/>
              <a:gd name="connsiteX117" fmla="*/ 1587 w 10095599"/>
              <a:gd name="connsiteY117" fmla="*/ 1439863 h 6858000"/>
              <a:gd name="connsiteX118" fmla="*/ 0 w 10095599"/>
              <a:gd name="connsiteY118" fmla="*/ 1371600 h 6858000"/>
              <a:gd name="connsiteX119" fmla="*/ 1587 w 10095599"/>
              <a:gd name="connsiteY119" fmla="*/ 1303338 h 6858000"/>
              <a:gd name="connsiteX120" fmla="*/ 9525 w 10095599"/>
              <a:gd name="connsiteY120" fmla="*/ 1243013 h 6858000"/>
              <a:gd name="connsiteX121" fmla="*/ 20637 w 10095599"/>
              <a:gd name="connsiteY121" fmla="*/ 1190625 h 6858000"/>
              <a:gd name="connsiteX122" fmla="*/ 34925 w 10095599"/>
              <a:gd name="connsiteY122" fmla="*/ 1144588 h 6858000"/>
              <a:gd name="connsiteX123" fmla="*/ 50800 w 10095599"/>
              <a:gd name="connsiteY123" fmla="*/ 1103313 h 6858000"/>
              <a:gd name="connsiteX124" fmla="*/ 69850 w 10095599"/>
              <a:gd name="connsiteY124" fmla="*/ 1066800 h 6858000"/>
              <a:gd name="connsiteX125" fmla="*/ 88900 w 10095599"/>
              <a:gd name="connsiteY125" fmla="*/ 1028700 h 6858000"/>
              <a:gd name="connsiteX126" fmla="*/ 107950 w 10095599"/>
              <a:gd name="connsiteY126" fmla="*/ 990600 h 6858000"/>
              <a:gd name="connsiteX127" fmla="*/ 123825 w 10095599"/>
              <a:gd name="connsiteY127" fmla="*/ 954088 h 6858000"/>
              <a:gd name="connsiteX128" fmla="*/ 139700 w 10095599"/>
              <a:gd name="connsiteY128" fmla="*/ 912813 h 6858000"/>
              <a:gd name="connsiteX129" fmla="*/ 155575 w 10095599"/>
              <a:gd name="connsiteY129" fmla="*/ 866775 h 6858000"/>
              <a:gd name="connsiteX130" fmla="*/ 166687 w 10095599"/>
              <a:gd name="connsiteY130" fmla="*/ 814388 h 6858000"/>
              <a:gd name="connsiteX131" fmla="*/ 173037 w 10095599"/>
              <a:gd name="connsiteY131" fmla="*/ 754063 h 6858000"/>
              <a:gd name="connsiteX132" fmla="*/ 176212 w 10095599"/>
              <a:gd name="connsiteY132" fmla="*/ 685800 h 6858000"/>
              <a:gd name="connsiteX133" fmla="*/ 173037 w 10095599"/>
              <a:gd name="connsiteY133" fmla="*/ 617538 h 6858000"/>
              <a:gd name="connsiteX134" fmla="*/ 166687 w 10095599"/>
              <a:gd name="connsiteY134" fmla="*/ 557213 h 6858000"/>
              <a:gd name="connsiteX135" fmla="*/ 155575 w 10095599"/>
              <a:gd name="connsiteY135" fmla="*/ 504825 h 6858000"/>
              <a:gd name="connsiteX136" fmla="*/ 139700 w 10095599"/>
              <a:gd name="connsiteY136" fmla="*/ 458788 h 6858000"/>
              <a:gd name="connsiteX137" fmla="*/ 123825 w 10095599"/>
              <a:gd name="connsiteY137" fmla="*/ 417513 h 6858000"/>
              <a:gd name="connsiteX138" fmla="*/ 107950 w 10095599"/>
              <a:gd name="connsiteY138" fmla="*/ 381000 h 6858000"/>
              <a:gd name="connsiteX139" fmla="*/ 88900 w 10095599"/>
              <a:gd name="connsiteY139" fmla="*/ 342900 h 6858000"/>
              <a:gd name="connsiteX140" fmla="*/ 69850 w 10095599"/>
              <a:gd name="connsiteY140" fmla="*/ 304800 h 6858000"/>
              <a:gd name="connsiteX141" fmla="*/ 50800 w 10095599"/>
              <a:gd name="connsiteY141" fmla="*/ 268288 h 6858000"/>
              <a:gd name="connsiteX142" fmla="*/ 34925 w 10095599"/>
              <a:gd name="connsiteY142" fmla="*/ 227013 h 6858000"/>
              <a:gd name="connsiteX143" fmla="*/ 20637 w 10095599"/>
              <a:gd name="connsiteY143" fmla="*/ 180975 h 6858000"/>
              <a:gd name="connsiteX144" fmla="*/ 9525 w 10095599"/>
              <a:gd name="connsiteY144" fmla="*/ 128588 h 6858000"/>
              <a:gd name="connsiteX145" fmla="*/ 1587 w 10095599"/>
              <a:gd name="connsiteY145" fmla="*/ 6826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10095599" h="6858000">
                <a:moveTo>
                  <a:pt x="0" y="0"/>
                </a:moveTo>
                <a:lnTo>
                  <a:pt x="7448352" y="0"/>
                </a:lnTo>
                <a:lnTo>
                  <a:pt x="9446485" y="0"/>
                </a:lnTo>
                <a:lnTo>
                  <a:pt x="10095599" y="0"/>
                </a:lnTo>
                <a:lnTo>
                  <a:pt x="10095599" y="6858000"/>
                </a:lnTo>
                <a:lnTo>
                  <a:pt x="9446485" y="6858000"/>
                </a:lnTo>
                <a:lnTo>
                  <a:pt x="7448352" y="6858000"/>
                </a:lnTo>
                <a:lnTo>
                  <a:pt x="0" y="6858000"/>
                </a:lnTo>
                <a:lnTo>
                  <a:pt x="1587" y="6789738"/>
                </a:lnTo>
                <a:lnTo>
                  <a:pt x="9525" y="6729413"/>
                </a:lnTo>
                <a:lnTo>
                  <a:pt x="20637" y="6677025"/>
                </a:lnTo>
                <a:lnTo>
                  <a:pt x="34925" y="6630988"/>
                </a:lnTo>
                <a:lnTo>
                  <a:pt x="50800" y="6589713"/>
                </a:lnTo>
                <a:lnTo>
                  <a:pt x="69850" y="6553200"/>
                </a:lnTo>
                <a:lnTo>
                  <a:pt x="88900" y="6515100"/>
                </a:lnTo>
                <a:lnTo>
                  <a:pt x="107950" y="6477000"/>
                </a:lnTo>
                <a:lnTo>
                  <a:pt x="123825" y="6440488"/>
                </a:lnTo>
                <a:lnTo>
                  <a:pt x="139700" y="6399213"/>
                </a:lnTo>
                <a:lnTo>
                  <a:pt x="155575" y="6353175"/>
                </a:lnTo>
                <a:lnTo>
                  <a:pt x="166687" y="6300788"/>
                </a:lnTo>
                <a:lnTo>
                  <a:pt x="173037" y="6240463"/>
                </a:lnTo>
                <a:lnTo>
                  <a:pt x="176212" y="6172200"/>
                </a:lnTo>
                <a:lnTo>
                  <a:pt x="173037" y="6103938"/>
                </a:lnTo>
                <a:lnTo>
                  <a:pt x="166687" y="6043613"/>
                </a:lnTo>
                <a:lnTo>
                  <a:pt x="155575" y="5991225"/>
                </a:lnTo>
                <a:lnTo>
                  <a:pt x="139700" y="5945188"/>
                </a:lnTo>
                <a:lnTo>
                  <a:pt x="123825" y="5903913"/>
                </a:lnTo>
                <a:lnTo>
                  <a:pt x="107950" y="5867400"/>
                </a:lnTo>
                <a:lnTo>
                  <a:pt x="88900" y="5829300"/>
                </a:lnTo>
                <a:lnTo>
                  <a:pt x="69850" y="5791200"/>
                </a:lnTo>
                <a:lnTo>
                  <a:pt x="50800" y="5754688"/>
                </a:lnTo>
                <a:lnTo>
                  <a:pt x="34925" y="5713413"/>
                </a:lnTo>
                <a:lnTo>
                  <a:pt x="20637" y="5667375"/>
                </a:lnTo>
                <a:lnTo>
                  <a:pt x="9525" y="5614988"/>
                </a:lnTo>
                <a:lnTo>
                  <a:pt x="1587" y="5554663"/>
                </a:lnTo>
                <a:lnTo>
                  <a:pt x="0" y="5486400"/>
                </a:lnTo>
                <a:lnTo>
                  <a:pt x="1587" y="5418138"/>
                </a:lnTo>
                <a:lnTo>
                  <a:pt x="9525" y="5357813"/>
                </a:lnTo>
                <a:lnTo>
                  <a:pt x="20637" y="5305425"/>
                </a:lnTo>
                <a:lnTo>
                  <a:pt x="34925" y="5259388"/>
                </a:lnTo>
                <a:lnTo>
                  <a:pt x="50800" y="5218113"/>
                </a:lnTo>
                <a:lnTo>
                  <a:pt x="69850" y="5181600"/>
                </a:lnTo>
                <a:lnTo>
                  <a:pt x="88900" y="5143500"/>
                </a:lnTo>
                <a:lnTo>
                  <a:pt x="107950" y="5105400"/>
                </a:lnTo>
                <a:lnTo>
                  <a:pt x="123825" y="5068888"/>
                </a:lnTo>
                <a:lnTo>
                  <a:pt x="139700" y="5027613"/>
                </a:lnTo>
                <a:lnTo>
                  <a:pt x="155575" y="4981575"/>
                </a:lnTo>
                <a:lnTo>
                  <a:pt x="166687" y="4929188"/>
                </a:lnTo>
                <a:lnTo>
                  <a:pt x="173037" y="4868863"/>
                </a:lnTo>
                <a:lnTo>
                  <a:pt x="176212" y="4800600"/>
                </a:lnTo>
                <a:lnTo>
                  <a:pt x="173037" y="4732338"/>
                </a:lnTo>
                <a:lnTo>
                  <a:pt x="166687" y="4672013"/>
                </a:lnTo>
                <a:lnTo>
                  <a:pt x="155575" y="4619625"/>
                </a:lnTo>
                <a:lnTo>
                  <a:pt x="139700" y="4573588"/>
                </a:lnTo>
                <a:lnTo>
                  <a:pt x="123825" y="4532313"/>
                </a:lnTo>
                <a:lnTo>
                  <a:pt x="107950" y="4495800"/>
                </a:lnTo>
                <a:lnTo>
                  <a:pt x="69850" y="4419600"/>
                </a:lnTo>
                <a:lnTo>
                  <a:pt x="50800" y="4383088"/>
                </a:lnTo>
                <a:lnTo>
                  <a:pt x="34925" y="4341813"/>
                </a:lnTo>
                <a:lnTo>
                  <a:pt x="20637" y="4295775"/>
                </a:lnTo>
                <a:lnTo>
                  <a:pt x="9525" y="4243388"/>
                </a:lnTo>
                <a:lnTo>
                  <a:pt x="1587" y="4183063"/>
                </a:lnTo>
                <a:lnTo>
                  <a:pt x="0" y="4114800"/>
                </a:lnTo>
                <a:lnTo>
                  <a:pt x="1587" y="4046538"/>
                </a:lnTo>
                <a:lnTo>
                  <a:pt x="9525" y="3986213"/>
                </a:lnTo>
                <a:lnTo>
                  <a:pt x="20637" y="3933825"/>
                </a:lnTo>
                <a:lnTo>
                  <a:pt x="34925" y="3887788"/>
                </a:lnTo>
                <a:lnTo>
                  <a:pt x="50800" y="3846513"/>
                </a:lnTo>
                <a:lnTo>
                  <a:pt x="69850" y="3810000"/>
                </a:lnTo>
                <a:lnTo>
                  <a:pt x="88900" y="3771900"/>
                </a:lnTo>
                <a:lnTo>
                  <a:pt x="107950" y="3733800"/>
                </a:lnTo>
                <a:lnTo>
                  <a:pt x="123825" y="3697288"/>
                </a:lnTo>
                <a:lnTo>
                  <a:pt x="139700" y="3656013"/>
                </a:lnTo>
                <a:lnTo>
                  <a:pt x="155575" y="3609975"/>
                </a:lnTo>
                <a:lnTo>
                  <a:pt x="166687" y="3557588"/>
                </a:lnTo>
                <a:lnTo>
                  <a:pt x="173037" y="3497263"/>
                </a:lnTo>
                <a:lnTo>
                  <a:pt x="176212" y="3427413"/>
                </a:lnTo>
                <a:lnTo>
                  <a:pt x="173037" y="3360738"/>
                </a:lnTo>
                <a:lnTo>
                  <a:pt x="166687" y="3300413"/>
                </a:lnTo>
                <a:lnTo>
                  <a:pt x="155575" y="3248025"/>
                </a:lnTo>
                <a:lnTo>
                  <a:pt x="139700" y="3201988"/>
                </a:lnTo>
                <a:lnTo>
                  <a:pt x="123825" y="3160713"/>
                </a:lnTo>
                <a:lnTo>
                  <a:pt x="107950" y="3124200"/>
                </a:lnTo>
                <a:lnTo>
                  <a:pt x="88900" y="3086100"/>
                </a:lnTo>
                <a:lnTo>
                  <a:pt x="69850" y="3048000"/>
                </a:lnTo>
                <a:lnTo>
                  <a:pt x="50800" y="3011488"/>
                </a:lnTo>
                <a:lnTo>
                  <a:pt x="34925" y="2970213"/>
                </a:lnTo>
                <a:lnTo>
                  <a:pt x="20637" y="2924175"/>
                </a:lnTo>
                <a:lnTo>
                  <a:pt x="9525" y="2871788"/>
                </a:lnTo>
                <a:lnTo>
                  <a:pt x="1587" y="2811463"/>
                </a:lnTo>
                <a:lnTo>
                  <a:pt x="0" y="2743200"/>
                </a:lnTo>
                <a:lnTo>
                  <a:pt x="1587" y="2674938"/>
                </a:lnTo>
                <a:lnTo>
                  <a:pt x="9525" y="2614613"/>
                </a:lnTo>
                <a:lnTo>
                  <a:pt x="20637" y="2562225"/>
                </a:lnTo>
                <a:lnTo>
                  <a:pt x="34925" y="2516188"/>
                </a:lnTo>
                <a:lnTo>
                  <a:pt x="50800" y="2474913"/>
                </a:lnTo>
                <a:lnTo>
                  <a:pt x="69850" y="2438400"/>
                </a:lnTo>
                <a:lnTo>
                  <a:pt x="88900" y="2400300"/>
                </a:lnTo>
                <a:lnTo>
                  <a:pt x="107950" y="2362200"/>
                </a:lnTo>
                <a:lnTo>
                  <a:pt x="123825" y="2325688"/>
                </a:lnTo>
                <a:lnTo>
                  <a:pt x="139700" y="2284413"/>
                </a:lnTo>
                <a:lnTo>
                  <a:pt x="155575" y="2238375"/>
                </a:lnTo>
                <a:lnTo>
                  <a:pt x="166687" y="2185988"/>
                </a:lnTo>
                <a:lnTo>
                  <a:pt x="173037" y="2125663"/>
                </a:lnTo>
                <a:lnTo>
                  <a:pt x="176212" y="2057400"/>
                </a:lnTo>
                <a:lnTo>
                  <a:pt x="173037" y="1989138"/>
                </a:lnTo>
                <a:lnTo>
                  <a:pt x="166687" y="1928813"/>
                </a:lnTo>
                <a:lnTo>
                  <a:pt x="155575" y="1876425"/>
                </a:lnTo>
                <a:lnTo>
                  <a:pt x="139700" y="1830388"/>
                </a:lnTo>
                <a:lnTo>
                  <a:pt x="123825" y="1789113"/>
                </a:lnTo>
                <a:lnTo>
                  <a:pt x="107950" y="1752600"/>
                </a:lnTo>
                <a:lnTo>
                  <a:pt x="88900" y="1714500"/>
                </a:lnTo>
                <a:lnTo>
                  <a:pt x="69850" y="1676400"/>
                </a:lnTo>
                <a:lnTo>
                  <a:pt x="50800" y="1639888"/>
                </a:lnTo>
                <a:lnTo>
                  <a:pt x="34925" y="1598613"/>
                </a:lnTo>
                <a:lnTo>
                  <a:pt x="20637" y="1552575"/>
                </a:lnTo>
                <a:lnTo>
                  <a:pt x="9525" y="1500188"/>
                </a:lnTo>
                <a:lnTo>
                  <a:pt x="1587" y="1439863"/>
                </a:lnTo>
                <a:lnTo>
                  <a:pt x="0" y="1371600"/>
                </a:lnTo>
                <a:lnTo>
                  <a:pt x="1587" y="1303338"/>
                </a:lnTo>
                <a:lnTo>
                  <a:pt x="9525" y="1243013"/>
                </a:lnTo>
                <a:lnTo>
                  <a:pt x="20637" y="1190625"/>
                </a:lnTo>
                <a:lnTo>
                  <a:pt x="34925" y="1144588"/>
                </a:lnTo>
                <a:lnTo>
                  <a:pt x="50800" y="1103313"/>
                </a:lnTo>
                <a:lnTo>
                  <a:pt x="69850" y="1066800"/>
                </a:lnTo>
                <a:lnTo>
                  <a:pt x="88900" y="1028700"/>
                </a:lnTo>
                <a:lnTo>
                  <a:pt x="107950" y="990600"/>
                </a:lnTo>
                <a:lnTo>
                  <a:pt x="123825" y="954088"/>
                </a:lnTo>
                <a:lnTo>
                  <a:pt x="139700" y="912813"/>
                </a:lnTo>
                <a:lnTo>
                  <a:pt x="155575" y="866775"/>
                </a:lnTo>
                <a:lnTo>
                  <a:pt x="166687" y="814388"/>
                </a:lnTo>
                <a:lnTo>
                  <a:pt x="173037" y="754063"/>
                </a:lnTo>
                <a:lnTo>
                  <a:pt x="176212" y="685800"/>
                </a:lnTo>
                <a:lnTo>
                  <a:pt x="173037" y="617538"/>
                </a:lnTo>
                <a:lnTo>
                  <a:pt x="166687" y="557213"/>
                </a:lnTo>
                <a:lnTo>
                  <a:pt x="155575" y="504825"/>
                </a:lnTo>
                <a:lnTo>
                  <a:pt x="139700" y="458788"/>
                </a:lnTo>
                <a:lnTo>
                  <a:pt x="123825" y="417513"/>
                </a:lnTo>
                <a:lnTo>
                  <a:pt x="107950" y="381000"/>
                </a:lnTo>
                <a:lnTo>
                  <a:pt x="88900" y="342900"/>
                </a:lnTo>
                <a:lnTo>
                  <a:pt x="69850" y="304800"/>
                </a:lnTo>
                <a:lnTo>
                  <a:pt x="50800" y="268288"/>
                </a:lnTo>
                <a:lnTo>
                  <a:pt x="34925" y="227013"/>
                </a:lnTo>
                <a:lnTo>
                  <a:pt x="20637" y="180975"/>
                </a:lnTo>
                <a:lnTo>
                  <a:pt x="9525" y="128588"/>
                </a:lnTo>
                <a:lnTo>
                  <a:pt x="1587" y="68263"/>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194F438-5282-0AC6-BED5-6C58D59582CD}"/>
              </a:ext>
            </a:extLst>
          </p:cNvPr>
          <p:cNvSpPr>
            <a:spLocks noGrp="1"/>
          </p:cNvSpPr>
          <p:nvPr>
            <p:ph type="title"/>
          </p:nvPr>
        </p:nvSpPr>
        <p:spPr>
          <a:xfrm>
            <a:off x="1585773" y="267629"/>
            <a:ext cx="8632372" cy="1113295"/>
          </a:xfrm>
        </p:spPr>
        <p:txBody>
          <a:bodyPr anchor="t">
            <a:normAutofit/>
          </a:bodyPr>
          <a:lstStyle/>
          <a:p>
            <a:pPr algn="ctr"/>
            <a:r>
              <a:rPr lang="en-US"/>
              <a:t>Customized Employment training	</a:t>
            </a:r>
          </a:p>
        </p:txBody>
      </p:sp>
      <p:pic>
        <p:nvPicPr>
          <p:cNvPr id="5" name="Picture 4" descr="Logo">
            <a:extLst>
              <a:ext uri="{FF2B5EF4-FFF2-40B4-BE49-F238E27FC236}">
                <a16:creationId xmlns:a16="http://schemas.microsoft.com/office/drawing/2014/main" id="{1D9D86B6-06EC-7855-38BD-D889DEBBAD74}"/>
              </a:ext>
            </a:extLst>
          </p:cNvPr>
          <p:cNvPicPr>
            <a:picLocks noChangeAspect="1"/>
          </p:cNvPicPr>
          <p:nvPr/>
        </p:nvPicPr>
        <p:blipFill>
          <a:blip r:embed="rId3"/>
          <a:stretch>
            <a:fillRect/>
          </a:stretch>
        </p:blipFill>
        <p:spPr>
          <a:xfrm>
            <a:off x="10095599" y="5833791"/>
            <a:ext cx="1768158" cy="875712"/>
          </a:xfrm>
          <a:prstGeom prst="rect">
            <a:avLst/>
          </a:prstGeom>
        </p:spPr>
      </p:pic>
      <p:sp>
        <p:nvSpPr>
          <p:cNvPr id="7" name="Content Placeholder 6">
            <a:extLst>
              <a:ext uri="{FF2B5EF4-FFF2-40B4-BE49-F238E27FC236}">
                <a16:creationId xmlns:a16="http://schemas.microsoft.com/office/drawing/2014/main" id="{18101594-30CD-85FF-F02F-5255472D6441}"/>
              </a:ext>
            </a:extLst>
          </p:cNvPr>
          <p:cNvSpPr>
            <a:spLocks noGrp="1"/>
          </p:cNvSpPr>
          <p:nvPr>
            <p:ph idx="1"/>
          </p:nvPr>
        </p:nvSpPr>
        <p:spPr>
          <a:xfrm>
            <a:off x="2504440" y="1612265"/>
            <a:ext cx="9551625" cy="4073029"/>
          </a:xfrm>
        </p:spPr>
        <p:txBody>
          <a:bodyPr vert="horz" lIns="91440" tIns="45720" rIns="91440" bIns="45720" rtlCol="0" anchor="t">
            <a:normAutofit/>
          </a:bodyPr>
          <a:lstStyle/>
          <a:p>
            <a:pPr lvl="1">
              <a:lnSpc>
                <a:spcPct val="100000"/>
              </a:lnSpc>
              <a:spcBef>
                <a:spcPts val="0"/>
              </a:spcBef>
            </a:pPr>
            <a:r>
              <a:rPr lang="en-US" sz="2800">
                <a:ea typeface="Calibri"/>
                <a:cs typeface="Calibri"/>
              </a:rPr>
              <a:t>CE can only be delivered by individuals that have gone through the training and been certified</a:t>
            </a:r>
          </a:p>
          <a:p>
            <a:pPr lvl="1">
              <a:lnSpc>
                <a:spcPct val="100000"/>
              </a:lnSpc>
              <a:spcBef>
                <a:spcPts val="0"/>
              </a:spcBef>
            </a:pPr>
            <a:endParaRPr lang="en-US" sz="2800">
              <a:ea typeface="Calibri"/>
              <a:cs typeface="Calibri"/>
            </a:endParaRPr>
          </a:p>
          <a:p>
            <a:pPr lvl="1">
              <a:lnSpc>
                <a:spcPct val="100000"/>
              </a:lnSpc>
              <a:spcBef>
                <a:spcPts val="0"/>
              </a:spcBef>
            </a:pPr>
            <a:r>
              <a:rPr lang="en-US" sz="2800">
                <a:ea typeface="Calibri"/>
                <a:cs typeface="Calibri"/>
              </a:rPr>
              <a:t>CE training is a great way to invest in your staff</a:t>
            </a:r>
          </a:p>
          <a:p>
            <a:pPr lvl="1">
              <a:lnSpc>
                <a:spcPct val="100000"/>
              </a:lnSpc>
              <a:spcBef>
                <a:spcPts val="0"/>
              </a:spcBef>
            </a:pPr>
            <a:endParaRPr lang="en-US" sz="2800">
              <a:ea typeface="Calibri"/>
              <a:cs typeface="Calibri"/>
            </a:endParaRPr>
          </a:p>
          <a:p>
            <a:pPr lvl="1">
              <a:lnSpc>
                <a:spcPct val="100000"/>
              </a:lnSpc>
              <a:spcBef>
                <a:spcPts val="0"/>
              </a:spcBef>
            </a:pPr>
            <a:r>
              <a:rPr lang="en-US" sz="2800">
                <a:ea typeface="Calibri"/>
                <a:cs typeface="Calibri"/>
              </a:rPr>
              <a:t>This training is delivered by </a:t>
            </a:r>
            <a:r>
              <a:rPr lang="en-US" sz="2800" err="1">
                <a:ea typeface="Calibri"/>
                <a:cs typeface="Calibri"/>
              </a:rPr>
              <a:t>Voc</a:t>
            </a:r>
            <a:r>
              <a:rPr lang="en-US" sz="2800">
                <a:ea typeface="Calibri"/>
                <a:cs typeface="Calibri"/>
              </a:rPr>
              <a:t> Rehab and is </a:t>
            </a:r>
            <a:r>
              <a:rPr lang="en-US" sz="2800" b="1">
                <a:ea typeface="Calibri"/>
                <a:cs typeface="Calibri"/>
              </a:rPr>
              <a:t>free</a:t>
            </a:r>
          </a:p>
          <a:p>
            <a:pPr lvl="1">
              <a:lnSpc>
                <a:spcPct val="100000"/>
              </a:lnSpc>
              <a:spcBef>
                <a:spcPts val="0"/>
              </a:spcBef>
            </a:pPr>
            <a:endParaRPr lang="en-US" sz="2800">
              <a:ea typeface="Calibri"/>
              <a:cs typeface="Calibri"/>
            </a:endParaRPr>
          </a:p>
          <a:p>
            <a:pPr lvl="1">
              <a:lnSpc>
                <a:spcPct val="100000"/>
              </a:lnSpc>
              <a:spcBef>
                <a:spcPts val="0"/>
              </a:spcBef>
            </a:pPr>
            <a:r>
              <a:rPr lang="en-US" sz="2800">
                <a:ea typeface="Calibri"/>
                <a:cs typeface="Calibri"/>
              </a:rPr>
              <a:t>CE training cohorts start April 30 and September 3</a:t>
            </a:r>
          </a:p>
          <a:p>
            <a:pPr marL="457200" lvl="1" indent="0">
              <a:lnSpc>
                <a:spcPct val="100000"/>
              </a:lnSpc>
              <a:spcBef>
                <a:spcPts val="0"/>
              </a:spcBef>
              <a:buNone/>
            </a:pPr>
            <a:endParaRPr lang="en-US" i="1">
              <a:ea typeface="Calibri"/>
              <a:cs typeface="Calibri"/>
            </a:endParaRPr>
          </a:p>
        </p:txBody>
      </p:sp>
    </p:spTree>
    <p:extLst>
      <p:ext uri="{BB962C8B-B14F-4D97-AF65-F5344CB8AC3E}">
        <p14:creationId xmlns:p14="http://schemas.microsoft.com/office/powerpoint/2010/main" val="33710905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7">
            <a:extLst>
              <a:ext uri="{FF2B5EF4-FFF2-40B4-BE49-F238E27FC236}">
                <a16:creationId xmlns:a16="http://schemas.microsoft.com/office/drawing/2014/main" id="{E8BF0C67-DF85-430A-B677-74D9594394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1" y="0"/>
            <a:ext cx="12191996" cy="6858000"/>
          </a:xfrm>
          <a:prstGeom prst="rect">
            <a:avLst/>
          </a:prstGeom>
          <a:solidFill>
            <a:srgbClr val="FFFFFF"/>
          </a:solidFill>
          <a:ln w="0">
            <a:noFill/>
            <a:prstDash val="solid"/>
            <a:round/>
            <a:headEnd/>
            <a:tailEnd/>
          </a:ln>
        </p:spPr>
        <p:txBody>
          <a:bodyPr rtlCol="0" anchor="ctr"/>
          <a:lstStyle/>
          <a:p>
            <a:pPr algn="ctr" defTabSz="457200"/>
            <a:endParaRPr lang="en-US">
              <a:solidFill>
                <a:schemeClr val="tx1"/>
              </a:solidFill>
            </a:endParaRPr>
          </a:p>
        </p:txBody>
      </p:sp>
      <p:sp>
        <p:nvSpPr>
          <p:cNvPr id="19" name="Rectangle 9">
            <a:extLst>
              <a:ext uri="{FF2B5EF4-FFF2-40B4-BE49-F238E27FC236}">
                <a16:creationId xmlns:a16="http://schemas.microsoft.com/office/drawing/2014/main" id="{751BAC80-2398-422A-9AA2-2489F01EF9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1" y="0"/>
            <a:ext cx="12191996" cy="6858000"/>
          </a:xfrm>
          <a:prstGeom prst="rect">
            <a:avLst/>
          </a:prstGeom>
          <a:solidFill>
            <a:schemeClr val="accent1">
              <a:lumMod val="50000"/>
              <a:alpha val="25000"/>
            </a:schemeClr>
          </a:solidFill>
          <a:ln w="0">
            <a:noFill/>
            <a:prstDash val="solid"/>
            <a:round/>
            <a:headEnd/>
            <a:tailEnd/>
          </a:ln>
        </p:spPr>
        <p:txBody>
          <a:bodyPr wrap="square" rtlCol="0" anchor="ctr">
            <a:noAutofit/>
          </a:bodyPr>
          <a:lstStyle/>
          <a:p>
            <a:pPr algn="ctr"/>
            <a:endParaRPr lang="en-US"/>
          </a:p>
        </p:txBody>
      </p:sp>
      <p:sp useBgFill="1">
        <p:nvSpPr>
          <p:cNvPr id="20" name="Freeform: Shape 11">
            <a:extLst>
              <a:ext uri="{FF2B5EF4-FFF2-40B4-BE49-F238E27FC236}">
                <a16:creationId xmlns:a16="http://schemas.microsoft.com/office/drawing/2014/main" id="{34A3EF12-7620-4D66-ACFC-B9F71BAD87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96401" y="0"/>
            <a:ext cx="10095599" cy="6858000"/>
          </a:xfrm>
          <a:custGeom>
            <a:avLst/>
            <a:gdLst>
              <a:gd name="connsiteX0" fmla="*/ 0 w 10095599"/>
              <a:gd name="connsiteY0" fmla="*/ 0 h 6858000"/>
              <a:gd name="connsiteX1" fmla="*/ 7448352 w 10095599"/>
              <a:gd name="connsiteY1" fmla="*/ 0 h 6858000"/>
              <a:gd name="connsiteX2" fmla="*/ 9446485 w 10095599"/>
              <a:gd name="connsiteY2" fmla="*/ 0 h 6858000"/>
              <a:gd name="connsiteX3" fmla="*/ 10095599 w 10095599"/>
              <a:gd name="connsiteY3" fmla="*/ 0 h 6858000"/>
              <a:gd name="connsiteX4" fmla="*/ 10095599 w 10095599"/>
              <a:gd name="connsiteY4" fmla="*/ 6858000 h 6858000"/>
              <a:gd name="connsiteX5" fmla="*/ 9446485 w 10095599"/>
              <a:gd name="connsiteY5" fmla="*/ 6858000 h 6858000"/>
              <a:gd name="connsiteX6" fmla="*/ 7448352 w 10095599"/>
              <a:gd name="connsiteY6" fmla="*/ 6858000 h 6858000"/>
              <a:gd name="connsiteX7" fmla="*/ 0 w 10095599"/>
              <a:gd name="connsiteY7" fmla="*/ 6858000 h 6858000"/>
              <a:gd name="connsiteX8" fmla="*/ 1587 w 10095599"/>
              <a:gd name="connsiteY8" fmla="*/ 6789738 h 6858000"/>
              <a:gd name="connsiteX9" fmla="*/ 9525 w 10095599"/>
              <a:gd name="connsiteY9" fmla="*/ 6729413 h 6858000"/>
              <a:gd name="connsiteX10" fmla="*/ 20637 w 10095599"/>
              <a:gd name="connsiteY10" fmla="*/ 6677025 h 6858000"/>
              <a:gd name="connsiteX11" fmla="*/ 34925 w 10095599"/>
              <a:gd name="connsiteY11" fmla="*/ 6630988 h 6858000"/>
              <a:gd name="connsiteX12" fmla="*/ 50800 w 10095599"/>
              <a:gd name="connsiteY12" fmla="*/ 6589713 h 6858000"/>
              <a:gd name="connsiteX13" fmla="*/ 69850 w 10095599"/>
              <a:gd name="connsiteY13" fmla="*/ 6553200 h 6858000"/>
              <a:gd name="connsiteX14" fmla="*/ 88900 w 10095599"/>
              <a:gd name="connsiteY14" fmla="*/ 6515100 h 6858000"/>
              <a:gd name="connsiteX15" fmla="*/ 107950 w 10095599"/>
              <a:gd name="connsiteY15" fmla="*/ 6477000 h 6858000"/>
              <a:gd name="connsiteX16" fmla="*/ 123825 w 10095599"/>
              <a:gd name="connsiteY16" fmla="*/ 6440488 h 6858000"/>
              <a:gd name="connsiteX17" fmla="*/ 139700 w 10095599"/>
              <a:gd name="connsiteY17" fmla="*/ 6399213 h 6858000"/>
              <a:gd name="connsiteX18" fmla="*/ 155575 w 10095599"/>
              <a:gd name="connsiteY18" fmla="*/ 6353175 h 6858000"/>
              <a:gd name="connsiteX19" fmla="*/ 166687 w 10095599"/>
              <a:gd name="connsiteY19" fmla="*/ 6300788 h 6858000"/>
              <a:gd name="connsiteX20" fmla="*/ 173037 w 10095599"/>
              <a:gd name="connsiteY20" fmla="*/ 6240463 h 6858000"/>
              <a:gd name="connsiteX21" fmla="*/ 176212 w 10095599"/>
              <a:gd name="connsiteY21" fmla="*/ 6172200 h 6858000"/>
              <a:gd name="connsiteX22" fmla="*/ 173037 w 10095599"/>
              <a:gd name="connsiteY22" fmla="*/ 6103938 h 6858000"/>
              <a:gd name="connsiteX23" fmla="*/ 166687 w 10095599"/>
              <a:gd name="connsiteY23" fmla="*/ 6043613 h 6858000"/>
              <a:gd name="connsiteX24" fmla="*/ 155575 w 10095599"/>
              <a:gd name="connsiteY24" fmla="*/ 5991225 h 6858000"/>
              <a:gd name="connsiteX25" fmla="*/ 139700 w 10095599"/>
              <a:gd name="connsiteY25" fmla="*/ 5945188 h 6858000"/>
              <a:gd name="connsiteX26" fmla="*/ 123825 w 10095599"/>
              <a:gd name="connsiteY26" fmla="*/ 5903913 h 6858000"/>
              <a:gd name="connsiteX27" fmla="*/ 107950 w 10095599"/>
              <a:gd name="connsiteY27" fmla="*/ 5867400 h 6858000"/>
              <a:gd name="connsiteX28" fmla="*/ 88900 w 10095599"/>
              <a:gd name="connsiteY28" fmla="*/ 5829300 h 6858000"/>
              <a:gd name="connsiteX29" fmla="*/ 69850 w 10095599"/>
              <a:gd name="connsiteY29" fmla="*/ 5791200 h 6858000"/>
              <a:gd name="connsiteX30" fmla="*/ 50800 w 10095599"/>
              <a:gd name="connsiteY30" fmla="*/ 5754688 h 6858000"/>
              <a:gd name="connsiteX31" fmla="*/ 34925 w 10095599"/>
              <a:gd name="connsiteY31" fmla="*/ 5713413 h 6858000"/>
              <a:gd name="connsiteX32" fmla="*/ 20637 w 10095599"/>
              <a:gd name="connsiteY32" fmla="*/ 5667375 h 6858000"/>
              <a:gd name="connsiteX33" fmla="*/ 9525 w 10095599"/>
              <a:gd name="connsiteY33" fmla="*/ 5614988 h 6858000"/>
              <a:gd name="connsiteX34" fmla="*/ 1587 w 10095599"/>
              <a:gd name="connsiteY34" fmla="*/ 5554663 h 6858000"/>
              <a:gd name="connsiteX35" fmla="*/ 0 w 10095599"/>
              <a:gd name="connsiteY35" fmla="*/ 5486400 h 6858000"/>
              <a:gd name="connsiteX36" fmla="*/ 1587 w 10095599"/>
              <a:gd name="connsiteY36" fmla="*/ 5418138 h 6858000"/>
              <a:gd name="connsiteX37" fmla="*/ 9525 w 10095599"/>
              <a:gd name="connsiteY37" fmla="*/ 5357813 h 6858000"/>
              <a:gd name="connsiteX38" fmla="*/ 20637 w 10095599"/>
              <a:gd name="connsiteY38" fmla="*/ 5305425 h 6858000"/>
              <a:gd name="connsiteX39" fmla="*/ 34925 w 10095599"/>
              <a:gd name="connsiteY39" fmla="*/ 5259388 h 6858000"/>
              <a:gd name="connsiteX40" fmla="*/ 50800 w 10095599"/>
              <a:gd name="connsiteY40" fmla="*/ 5218113 h 6858000"/>
              <a:gd name="connsiteX41" fmla="*/ 69850 w 10095599"/>
              <a:gd name="connsiteY41" fmla="*/ 5181600 h 6858000"/>
              <a:gd name="connsiteX42" fmla="*/ 88900 w 10095599"/>
              <a:gd name="connsiteY42" fmla="*/ 5143500 h 6858000"/>
              <a:gd name="connsiteX43" fmla="*/ 107950 w 10095599"/>
              <a:gd name="connsiteY43" fmla="*/ 5105400 h 6858000"/>
              <a:gd name="connsiteX44" fmla="*/ 123825 w 10095599"/>
              <a:gd name="connsiteY44" fmla="*/ 5068888 h 6858000"/>
              <a:gd name="connsiteX45" fmla="*/ 139700 w 10095599"/>
              <a:gd name="connsiteY45" fmla="*/ 5027613 h 6858000"/>
              <a:gd name="connsiteX46" fmla="*/ 155575 w 10095599"/>
              <a:gd name="connsiteY46" fmla="*/ 4981575 h 6858000"/>
              <a:gd name="connsiteX47" fmla="*/ 166687 w 10095599"/>
              <a:gd name="connsiteY47" fmla="*/ 4929188 h 6858000"/>
              <a:gd name="connsiteX48" fmla="*/ 173037 w 10095599"/>
              <a:gd name="connsiteY48" fmla="*/ 4868863 h 6858000"/>
              <a:gd name="connsiteX49" fmla="*/ 176212 w 10095599"/>
              <a:gd name="connsiteY49" fmla="*/ 4800600 h 6858000"/>
              <a:gd name="connsiteX50" fmla="*/ 173037 w 10095599"/>
              <a:gd name="connsiteY50" fmla="*/ 4732338 h 6858000"/>
              <a:gd name="connsiteX51" fmla="*/ 166687 w 10095599"/>
              <a:gd name="connsiteY51" fmla="*/ 4672013 h 6858000"/>
              <a:gd name="connsiteX52" fmla="*/ 155575 w 10095599"/>
              <a:gd name="connsiteY52" fmla="*/ 4619625 h 6858000"/>
              <a:gd name="connsiteX53" fmla="*/ 139700 w 10095599"/>
              <a:gd name="connsiteY53" fmla="*/ 4573588 h 6858000"/>
              <a:gd name="connsiteX54" fmla="*/ 123825 w 10095599"/>
              <a:gd name="connsiteY54" fmla="*/ 4532313 h 6858000"/>
              <a:gd name="connsiteX55" fmla="*/ 107950 w 10095599"/>
              <a:gd name="connsiteY55" fmla="*/ 4495800 h 6858000"/>
              <a:gd name="connsiteX56" fmla="*/ 69850 w 10095599"/>
              <a:gd name="connsiteY56" fmla="*/ 4419600 h 6858000"/>
              <a:gd name="connsiteX57" fmla="*/ 50800 w 10095599"/>
              <a:gd name="connsiteY57" fmla="*/ 4383088 h 6858000"/>
              <a:gd name="connsiteX58" fmla="*/ 34925 w 10095599"/>
              <a:gd name="connsiteY58" fmla="*/ 4341813 h 6858000"/>
              <a:gd name="connsiteX59" fmla="*/ 20637 w 10095599"/>
              <a:gd name="connsiteY59" fmla="*/ 4295775 h 6858000"/>
              <a:gd name="connsiteX60" fmla="*/ 9525 w 10095599"/>
              <a:gd name="connsiteY60" fmla="*/ 4243388 h 6858000"/>
              <a:gd name="connsiteX61" fmla="*/ 1587 w 10095599"/>
              <a:gd name="connsiteY61" fmla="*/ 4183063 h 6858000"/>
              <a:gd name="connsiteX62" fmla="*/ 0 w 10095599"/>
              <a:gd name="connsiteY62" fmla="*/ 4114800 h 6858000"/>
              <a:gd name="connsiteX63" fmla="*/ 1587 w 10095599"/>
              <a:gd name="connsiteY63" fmla="*/ 4046538 h 6858000"/>
              <a:gd name="connsiteX64" fmla="*/ 9525 w 10095599"/>
              <a:gd name="connsiteY64" fmla="*/ 3986213 h 6858000"/>
              <a:gd name="connsiteX65" fmla="*/ 20637 w 10095599"/>
              <a:gd name="connsiteY65" fmla="*/ 3933825 h 6858000"/>
              <a:gd name="connsiteX66" fmla="*/ 34925 w 10095599"/>
              <a:gd name="connsiteY66" fmla="*/ 3887788 h 6858000"/>
              <a:gd name="connsiteX67" fmla="*/ 50800 w 10095599"/>
              <a:gd name="connsiteY67" fmla="*/ 3846513 h 6858000"/>
              <a:gd name="connsiteX68" fmla="*/ 69850 w 10095599"/>
              <a:gd name="connsiteY68" fmla="*/ 3810000 h 6858000"/>
              <a:gd name="connsiteX69" fmla="*/ 88900 w 10095599"/>
              <a:gd name="connsiteY69" fmla="*/ 3771900 h 6858000"/>
              <a:gd name="connsiteX70" fmla="*/ 107950 w 10095599"/>
              <a:gd name="connsiteY70" fmla="*/ 3733800 h 6858000"/>
              <a:gd name="connsiteX71" fmla="*/ 123825 w 10095599"/>
              <a:gd name="connsiteY71" fmla="*/ 3697288 h 6858000"/>
              <a:gd name="connsiteX72" fmla="*/ 139700 w 10095599"/>
              <a:gd name="connsiteY72" fmla="*/ 3656013 h 6858000"/>
              <a:gd name="connsiteX73" fmla="*/ 155575 w 10095599"/>
              <a:gd name="connsiteY73" fmla="*/ 3609975 h 6858000"/>
              <a:gd name="connsiteX74" fmla="*/ 166687 w 10095599"/>
              <a:gd name="connsiteY74" fmla="*/ 3557588 h 6858000"/>
              <a:gd name="connsiteX75" fmla="*/ 173037 w 10095599"/>
              <a:gd name="connsiteY75" fmla="*/ 3497263 h 6858000"/>
              <a:gd name="connsiteX76" fmla="*/ 176212 w 10095599"/>
              <a:gd name="connsiteY76" fmla="*/ 3427413 h 6858000"/>
              <a:gd name="connsiteX77" fmla="*/ 173037 w 10095599"/>
              <a:gd name="connsiteY77" fmla="*/ 3360738 h 6858000"/>
              <a:gd name="connsiteX78" fmla="*/ 166687 w 10095599"/>
              <a:gd name="connsiteY78" fmla="*/ 3300413 h 6858000"/>
              <a:gd name="connsiteX79" fmla="*/ 155575 w 10095599"/>
              <a:gd name="connsiteY79" fmla="*/ 3248025 h 6858000"/>
              <a:gd name="connsiteX80" fmla="*/ 139700 w 10095599"/>
              <a:gd name="connsiteY80" fmla="*/ 3201988 h 6858000"/>
              <a:gd name="connsiteX81" fmla="*/ 123825 w 10095599"/>
              <a:gd name="connsiteY81" fmla="*/ 3160713 h 6858000"/>
              <a:gd name="connsiteX82" fmla="*/ 107950 w 10095599"/>
              <a:gd name="connsiteY82" fmla="*/ 3124200 h 6858000"/>
              <a:gd name="connsiteX83" fmla="*/ 88900 w 10095599"/>
              <a:gd name="connsiteY83" fmla="*/ 3086100 h 6858000"/>
              <a:gd name="connsiteX84" fmla="*/ 69850 w 10095599"/>
              <a:gd name="connsiteY84" fmla="*/ 3048000 h 6858000"/>
              <a:gd name="connsiteX85" fmla="*/ 50800 w 10095599"/>
              <a:gd name="connsiteY85" fmla="*/ 3011488 h 6858000"/>
              <a:gd name="connsiteX86" fmla="*/ 34925 w 10095599"/>
              <a:gd name="connsiteY86" fmla="*/ 2970213 h 6858000"/>
              <a:gd name="connsiteX87" fmla="*/ 20637 w 10095599"/>
              <a:gd name="connsiteY87" fmla="*/ 2924175 h 6858000"/>
              <a:gd name="connsiteX88" fmla="*/ 9525 w 10095599"/>
              <a:gd name="connsiteY88" fmla="*/ 2871788 h 6858000"/>
              <a:gd name="connsiteX89" fmla="*/ 1587 w 10095599"/>
              <a:gd name="connsiteY89" fmla="*/ 2811463 h 6858000"/>
              <a:gd name="connsiteX90" fmla="*/ 0 w 10095599"/>
              <a:gd name="connsiteY90" fmla="*/ 2743200 h 6858000"/>
              <a:gd name="connsiteX91" fmla="*/ 1587 w 10095599"/>
              <a:gd name="connsiteY91" fmla="*/ 2674938 h 6858000"/>
              <a:gd name="connsiteX92" fmla="*/ 9525 w 10095599"/>
              <a:gd name="connsiteY92" fmla="*/ 2614613 h 6858000"/>
              <a:gd name="connsiteX93" fmla="*/ 20637 w 10095599"/>
              <a:gd name="connsiteY93" fmla="*/ 2562225 h 6858000"/>
              <a:gd name="connsiteX94" fmla="*/ 34925 w 10095599"/>
              <a:gd name="connsiteY94" fmla="*/ 2516188 h 6858000"/>
              <a:gd name="connsiteX95" fmla="*/ 50800 w 10095599"/>
              <a:gd name="connsiteY95" fmla="*/ 2474913 h 6858000"/>
              <a:gd name="connsiteX96" fmla="*/ 69850 w 10095599"/>
              <a:gd name="connsiteY96" fmla="*/ 2438400 h 6858000"/>
              <a:gd name="connsiteX97" fmla="*/ 88900 w 10095599"/>
              <a:gd name="connsiteY97" fmla="*/ 2400300 h 6858000"/>
              <a:gd name="connsiteX98" fmla="*/ 107950 w 10095599"/>
              <a:gd name="connsiteY98" fmla="*/ 2362200 h 6858000"/>
              <a:gd name="connsiteX99" fmla="*/ 123825 w 10095599"/>
              <a:gd name="connsiteY99" fmla="*/ 2325688 h 6858000"/>
              <a:gd name="connsiteX100" fmla="*/ 139700 w 10095599"/>
              <a:gd name="connsiteY100" fmla="*/ 2284413 h 6858000"/>
              <a:gd name="connsiteX101" fmla="*/ 155575 w 10095599"/>
              <a:gd name="connsiteY101" fmla="*/ 2238375 h 6858000"/>
              <a:gd name="connsiteX102" fmla="*/ 166687 w 10095599"/>
              <a:gd name="connsiteY102" fmla="*/ 2185988 h 6858000"/>
              <a:gd name="connsiteX103" fmla="*/ 173037 w 10095599"/>
              <a:gd name="connsiteY103" fmla="*/ 2125663 h 6858000"/>
              <a:gd name="connsiteX104" fmla="*/ 176212 w 10095599"/>
              <a:gd name="connsiteY104" fmla="*/ 2057400 h 6858000"/>
              <a:gd name="connsiteX105" fmla="*/ 173037 w 10095599"/>
              <a:gd name="connsiteY105" fmla="*/ 1989138 h 6858000"/>
              <a:gd name="connsiteX106" fmla="*/ 166687 w 10095599"/>
              <a:gd name="connsiteY106" fmla="*/ 1928813 h 6858000"/>
              <a:gd name="connsiteX107" fmla="*/ 155575 w 10095599"/>
              <a:gd name="connsiteY107" fmla="*/ 1876425 h 6858000"/>
              <a:gd name="connsiteX108" fmla="*/ 139700 w 10095599"/>
              <a:gd name="connsiteY108" fmla="*/ 1830388 h 6858000"/>
              <a:gd name="connsiteX109" fmla="*/ 123825 w 10095599"/>
              <a:gd name="connsiteY109" fmla="*/ 1789113 h 6858000"/>
              <a:gd name="connsiteX110" fmla="*/ 107950 w 10095599"/>
              <a:gd name="connsiteY110" fmla="*/ 1752600 h 6858000"/>
              <a:gd name="connsiteX111" fmla="*/ 88900 w 10095599"/>
              <a:gd name="connsiteY111" fmla="*/ 1714500 h 6858000"/>
              <a:gd name="connsiteX112" fmla="*/ 69850 w 10095599"/>
              <a:gd name="connsiteY112" fmla="*/ 1676400 h 6858000"/>
              <a:gd name="connsiteX113" fmla="*/ 50800 w 10095599"/>
              <a:gd name="connsiteY113" fmla="*/ 1639888 h 6858000"/>
              <a:gd name="connsiteX114" fmla="*/ 34925 w 10095599"/>
              <a:gd name="connsiteY114" fmla="*/ 1598613 h 6858000"/>
              <a:gd name="connsiteX115" fmla="*/ 20637 w 10095599"/>
              <a:gd name="connsiteY115" fmla="*/ 1552575 h 6858000"/>
              <a:gd name="connsiteX116" fmla="*/ 9525 w 10095599"/>
              <a:gd name="connsiteY116" fmla="*/ 1500188 h 6858000"/>
              <a:gd name="connsiteX117" fmla="*/ 1587 w 10095599"/>
              <a:gd name="connsiteY117" fmla="*/ 1439863 h 6858000"/>
              <a:gd name="connsiteX118" fmla="*/ 0 w 10095599"/>
              <a:gd name="connsiteY118" fmla="*/ 1371600 h 6858000"/>
              <a:gd name="connsiteX119" fmla="*/ 1587 w 10095599"/>
              <a:gd name="connsiteY119" fmla="*/ 1303338 h 6858000"/>
              <a:gd name="connsiteX120" fmla="*/ 9525 w 10095599"/>
              <a:gd name="connsiteY120" fmla="*/ 1243013 h 6858000"/>
              <a:gd name="connsiteX121" fmla="*/ 20637 w 10095599"/>
              <a:gd name="connsiteY121" fmla="*/ 1190625 h 6858000"/>
              <a:gd name="connsiteX122" fmla="*/ 34925 w 10095599"/>
              <a:gd name="connsiteY122" fmla="*/ 1144588 h 6858000"/>
              <a:gd name="connsiteX123" fmla="*/ 50800 w 10095599"/>
              <a:gd name="connsiteY123" fmla="*/ 1103313 h 6858000"/>
              <a:gd name="connsiteX124" fmla="*/ 69850 w 10095599"/>
              <a:gd name="connsiteY124" fmla="*/ 1066800 h 6858000"/>
              <a:gd name="connsiteX125" fmla="*/ 88900 w 10095599"/>
              <a:gd name="connsiteY125" fmla="*/ 1028700 h 6858000"/>
              <a:gd name="connsiteX126" fmla="*/ 107950 w 10095599"/>
              <a:gd name="connsiteY126" fmla="*/ 990600 h 6858000"/>
              <a:gd name="connsiteX127" fmla="*/ 123825 w 10095599"/>
              <a:gd name="connsiteY127" fmla="*/ 954088 h 6858000"/>
              <a:gd name="connsiteX128" fmla="*/ 139700 w 10095599"/>
              <a:gd name="connsiteY128" fmla="*/ 912813 h 6858000"/>
              <a:gd name="connsiteX129" fmla="*/ 155575 w 10095599"/>
              <a:gd name="connsiteY129" fmla="*/ 866775 h 6858000"/>
              <a:gd name="connsiteX130" fmla="*/ 166687 w 10095599"/>
              <a:gd name="connsiteY130" fmla="*/ 814388 h 6858000"/>
              <a:gd name="connsiteX131" fmla="*/ 173037 w 10095599"/>
              <a:gd name="connsiteY131" fmla="*/ 754063 h 6858000"/>
              <a:gd name="connsiteX132" fmla="*/ 176212 w 10095599"/>
              <a:gd name="connsiteY132" fmla="*/ 685800 h 6858000"/>
              <a:gd name="connsiteX133" fmla="*/ 173037 w 10095599"/>
              <a:gd name="connsiteY133" fmla="*/ 617538 h 6858000"/>
              <a:gd name="connsiteX134" fmla="*/ 166687 w 10095599"/>
              <a:gd name="connsiteY134" fmla="*/ 557213 h 6858000"/>
              <a:gd name="connsiteX135" fmla="*/ 155575 w 10095599"/>
              <a:gd name="connsiteY135" fmla="*/ 504825 h 6858000"/>
              <a:gd name="connsiteX136" fmla="*/ 139700 w 10095599"/>
              <a:gd name="connsiteY136" fmla="*/ 458788 h 6858000"/>
              <a:gd name="connsiteX137" fmla="*/ 123825 w 10095599"/>
              <a:gd name="connsiteY137" fmla="*/ 417513 h 6858000"/>
              <a:gd name="connsiteX138" fmla="*/ 107950 w 10095599"/>
              <a:gd name="connsiteY138" fmla="*/ 381000 h 6858000"/>
              <a:gd name="connsiteX139" fmla="*/ 88900 w 10095599"/>
              <a:gd name="connsiteY139" fmla="*/ 342900 h 6858000"/>
              <a:gd name="connsiteX140" fmla="*/ 69850 w 10095599"/>
              <a:gd name="connsiteY140" fmla="*/ 304800 h 6858000"/>
              <a:gd name="connsiteX141" fmla="*/ 50800 w 10095599"/>
              <a:gd name="connsiteY141" fmla="*/ 268288 h 6858000"/>
              <a:gd name="connsiteX142" fmla="*/ 34925 w 10095599"/>
              <a:gd name="connsiteY142" fmla="*/ 227013 h 6858000"/>
              <a:gd name="connsiteX143" fmla="*/ 20637 w 10095599"/>
              <a:gd name="connsiteY143" fmla="*/ 180975 h 6858000"/>
              <a:gd name="connsiteX144" fmla="*/ 9525 w 10095599"/>
              <a:gd name="connsiteY144" fmla="*/ 128588 h 6858000"/>
              <a:gd name="connsiteX145" fmla="*/ 1587 w 10095599"/>
              <a:gd name="connsiteY145" fmla="*/ 6826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10095599" h="6858000">
                <a:moveTo>
                  <a:pt x="0" y="0"/>
                </a:moveTo>
                <a:lnTo>
                  <a:pt x="7448352" y="0"/>
                </a:lnTo>
                <a:lnTo>
                  <a:pt x="9446485" y="0"/>
                </a:lnTo>
                <a:lnTo>
                  <a:pt x="10095599" y="0"/>
                </a:lnTo>
                <a:lnTo>
                  <a:pt x="10095599" y="6858000"/>
                </a:lnTo>
                <a:lnTo>
                  <a:pt x="9446485" y="6858000"/>
                </a:lnTo>
                <a:lnTo>
                  <a:pt x="7448352" y="6858000"/>
                </a:lnTo>
                <a:lnTo>
                  <a:pt x="0" y="6858000"/>
                </a:lnTo>
                <a:lnTo>
                  <a:pt x="1587" y="6789738"/>
                </a:lnTo>
                <a:lnTo>
                  <a:pt x="9525" y="6729413"/>
                </a:lnTo>
                <a:lnTo>
                  <a:pt x="20637" y="6677025"/>
                </a:lnTo>
                <a:lnTo>
                  <a:pt x="34925" y="6630988"/>
                </a:lnTo>
                <a:lnTo>
                  <a:pt x="50800" y="6589713"/>
                </a:lnTo>
                <a:lnTo>
                  <a:pt x="69850" y="6553200"/>
                </a:lnTo>
                <a:lnTo>
                  <a:pt x="88900" y="6515100"/>
                </a:lnTo>
                <a:lnTo>
                  <a:pt x="107950" y="6477000"/>
                </a:lnTo>
                <a:lnTo>
                  <a:pt x="123825" y="6440488"/>
                </a:lnTo>
                <a:lnTo>
                  <a:pt x="139700" y="6399213"/>
                </a:lnTo>
                <a:lnTo>
                  <a:pt x="155575" y="6353175"/>
                </a:lnTo>
                <a:lnTo>
                  <a:pt x="166687" y="6300788"/>
                </a:lnTo>
                <a:lnTo>
                  <a:pt x="173037" y="6240463"/>
                </a:lnTo>
                <a:lnTo>
                  <a:pt x="176212" y="6172200"/>
                </a:lnTo>
                <a:lnTo>
                  <a:pt x="173037" y="6103938"/>
                </a:lnTo>
                <a:lnTo>
                  <a:pt x="166687" y="6043613"/>
                </a:lnTo>
                <a:lnTo>
                  <a:pt x="155575" y="5991225"/>
                </a:lnTo>
                <a:lnTo>
                  <a:pt x="139700" y="5945188"/>
                </a:lnTo>
                <a:lnTo>
                  <a:pt x="123825" y="5903913"/>
                </a:lnTo>
                <a:lnTo>
                  <a:pt x="107950" y="5867400"/>
                </a:lnTo>
                <a:lnTo>
                  <a:pt x="88900" y="5829300"/>
                </a:lnTo>
                <a:lnTo>
                  <a:pt x="69850" y="5791200"/>
                </a:lnTo>
                <a:lnTo>
                  <a:pt x="50800" y="5754688"/>
                </a:lnTo>
                <a:lnTo>
                  <a:pt x="34925" y="5713413"/>
                </a:lnTo>
                <a:lnTo>
                  <a:pt x="20637" y="5667375"/>
                </a:lnTo>
                <a:lnTo>
                  <a:pt x="9525" y="5614988"/>
                </a:lnTo>
                <a:lnTo>
                  <a:pt x="1587" y="5554663"/>
                </a:lnTo>
                <a:lnTo>
                  <a:pt x="0" y="5486400"/>
                </a:lnTo>
                <a:lnTo>
                  <a:pt x="1587" y="5418138"/>
                </a:lnTo>
                <a:lnTo>
                  <a:pt x="9525" y="5357813"/>
                </a:lnTo>
                <a:lnTo>
                  <a:pt x="20637" y="5305425"/>
                </a:lnTo>
                <a:lnTo>
                  <a:pt x="34925" y="5259388"/>
                </a:lnTo>
                <a:lnTo>
                  <a:pt x="50800" y="5218113"/>
                </a:lnTo>
                <a:lnTo>
                  <a:pt x="69850" y="5181600"/>
                </a:lnTo>
                <a:lnTo>
                  <a:pt x="88900" y="5143500"/>
                </a:lnTo>
                <a:lnTo>
                  <a:pt x="107950" y="5105400"/>
                </a:lnTo>
                <a:lnTo>
                  <a:pt x="123825" y="5068888"/>
                </a:lnTo>
                <a:lnTo>
                  <a:pt x="139700" y="5027613"/>
                </a:lnTo>
                <a:lnTo>
                  <a:pt x="155575" y="4981575"/>
                </a:lnTo>
                <a:lnTo>
                  <a:pt x="166687" y="4929188"/>
                </a:lnTo>
                <a:lnTo>
                  <a:pt x="173037" y="4868863"/>
                </a:lnTo>
                <a:lnTo>
                  <a:pt x="176212" y="4800600"/>
                </a:lnTo>
                <a:lnTo>
                  <a:pt x="173037" y="4732338"/>
                </a:lnTo>
                <a:lnTo>
                  <a:pt x="166687" y="4672013"/>
                </a:lnTo>
                <a:lnTo>
                  <a:pt x="155575" y="4619625"/>
                </a:lnTo>
                <a:lnTo>
                  <a:pt x="139700" y="4573588"/>
                </a:lnTo>
                <a:lnTo>
                  <a:pt x="123825" y="4532313"/>
                </a:lnTo>
                <a:lnTo>
                  <a:pt x="107950" y="4495800"/>
                </a:lnTo>
                <a:lnTo>
                  <a:pt x="69850" y="4419600"/>
                </a:lnTo>
                <a:lnTo>
                  <a:pt x="50800" y="4383088"/>
                </a:lnTo>
                <a:lnTo>
                  <a:pt x="34925" y="4341813"/>
                </a:lnTo>
                <a:lnTo>
                  <a:pt x="20637" y="4295775"/>
                </a:lnTo>
                <a:lnTo>
                  <a:pt x="9525" y="4243388"/>
                </a:lnTo>
                <a:lnTo>
                  <a:pt x="1587" y="4183063"/>
                </a:lnTo>
                <a:lnTo>
                  <a:pt x="0" y="4114800"/>
                </a:lnTo>
                <a:lnTo>
                  <a:pt x="1587" y="4046538"/>
                </a:lnTo>
                <a:lnTo>
                  <a:pt x="9525" y="3986213"/>
                </a:lnTo>
                <a:lnTo>
                  <a:pt x="20637" y="3933825"/>
                </a:lnTo>
                <a:lnTo>
                  <a:pt x="34925" y="3887788"/>
                </a:lnTo>
                <a:lnTo>
                  <a:pt x="50800" y="3846513"/>
                </a:lnTo>
                <a:lnTo>
                  <a:pt x="69850" y="3810000"/>
                </a:lnTo>
                <a:lnTo>
                  <a:pt x="88900" y="3771900"/>
                </a:lnTo>
                <a:lnTo>
                  <a:pt x="107950" y="3733800"/>
                </a:lnTo>
                <a:lnTo>
                  <a:pt x="123825" y="3697288"/>
                </a:lnTo>
                <a:lnTo>
                  <a:pt x="139700" y="3656013"/>
                </a:lnTo>
                <a:lnTo>
                  <a:pt x="155575" y="3609975"/>
                </a:lnTo>
                <a:lnTo>
                  <a:pt x="166687" y="3557588"/>
                </a:lnTo>
                <a:lnTo>
                  <a:pt x="173037" y="3497263"/>
                </a:lnTo>
                <a:lnTo>
                  <a:pt x="176212" y="3427413"/>
                </a:lnTo>
                <a:lnTo>
                  <a:pt x="173037" y="3360738"/>
                </a:lnTo>
                <a:lnTo>
                  <a:pt x="166687" y="3300413"/>
                </a:lnTo>
                <a:lnTo>
                  <a:pt x="155575" y="3248025"/>
                </a:lnTo>
                <a:lnTo>
                  <a:pt x="139700" y="3201988"/>
                </a:lnTo>
                <a:lnTo>
                  <a:pt x="123825" y="3160713"/>
                </a:lnTo>
                <a:lnTo>
                  <a:pt x="107950" y="3124200"/>
                </a:lnTo>
                <a:lnTo>
                  <a:pt x="88900" y="3086100"/>
                </a:lnTo>
                <a:lnTo>
                  <a:pt x="69850" y="3048000"/>
                </a:lnTo>
                <a:lnTo>
                  <a:pt x="50800" y="3011488"/>
                </a:lnTo>
                <a:lnTo>
                  <a:pt x="34925" y="2970213"/>
                </a:lnTo>
                <a:lnTo>
                  <a:pt x="20637" y="2924175"/>
                </a:lnTo>
                <a:lnTo>
                  <a:pt x="9525" y="2871788"/>
                </a:lnTo>
                <a:lnTo>
                  <a:pt x="1587" y="2811463"/>
                </a:lnTo>
                <a:lnTo>
                  <a:pt x="0" y="2743200"/>
                </a:lnTo>
                <a:lnTo>
                  <a:pt x="1587" y="2674938"/>
                </a:lnTo>
                <a:lnTo>
                  <a:pt x="9525" y="2614613"/>
                </a:lnTo>
                <a:lnTo>
                  <a:pt x="20637" y="2562225"/>
                </a:lnTo>
                <a:lnTo>
                  <a:pt x="34925" y="2516188"/>
                </a:lnTo>
                <a:lnTo>
                  <a:pt x="50800" y="2474913"/>
                </a:lnTo>
                <a:lnTo>
                  <a:pt x="69850" y="2438400"/>
                </a:lnTo>
                <a:lnTo>
                  <a:pt x="88900" y="2400300"/>
                </a:lnTo>
                <a:lnTo>
                  <a:pt x="107950" y="2362200"/>
                </a:lnTo>
                <a:lnTo>
                  <a:pt x="123825" y="2325688"/>
                </a:lnTo>
                <a:lnTo>
                  <a:pt x="139700" y="2284413"/>
                </a:lnTo>
                <a:lnTo>
                  <a:pt x="155575" y="2238375"/>
                </a:lnTo>
                <a:lnTo>
                  <a:pt x="166687" y="2185988"/>
                </a:lnTo>
                <a:lnTo>
                  <a:pt x="173037" y="2125663"/>
                </a:lnTo>
                <a:lnTo>
                  <a:pt x="176212" y="2057400"/>
                </a:lnTo>
                <a:lnTo>
                  <a:pt x="173037" y="1989138"/>
                </a:lnTo>
                <a:lnTo>
                  <a:pt x="166687" y="1928813"/>
                </a:lnTo>
                <a:lnTo>
                  <a:pt x="155575" y="1876425"/>
                </a:lnTo>
                <a:lnTo>
                  <a:pt x="139700" y="1830388"/>
                </a:lnTo>
                <a:lnTo>
                  <a:pt x="123825" y="1789113"/>
                </a:lnTo>
                <a:lnTo>
                  <a:pt x="107950" y="1752600"/>
                </a:lnTo>
                <a:lnTo>
                  <a:pt x="88900" y="1714500"/>
                </a:lnTo>
                <a:lnTo>
                  <a:pt x="69850" y="1676400"/>
                </a:lnTo>
                <a:lnTo>
                  <a:pt x="50800" y="1639888"/>
                </a:lnTo>
                <a:lnTo>
                  <a:pt x="34925" y="1598613"/>
                </a:lnTo>
                <a:lnTo>
                  <a:pt x="20637" y="1552575"/>
                </a:lnTo>
                <a:lnTo>
                  <a:pt x="9525" y="1500188"/>
                </a:lnTo>
                <a:lnTo>
                  <a:pt x="1587" y="1439863"/>
                </a:lnTo>
                <a:lnTo>
                  <a:pt x="0" y="1371600"/>
                </a:lnTo>
                <a:lnTo>
                  <a:pt x="1587" y="1303338"/>
                </a:lnTo>
                <a:lnTo>
                  <a:pt x="9525" y="1243013"/>
                </a:lnTo>
                <a:lnTo>
                  <a:pt x="20637" y="1190625"/>
                </a:lnTo>
                <a:lnTo>
                  <a:pt x="34925" y="1144588"/>
                </a:lnTo>
                <a:lnTo>
                  <a:pt x="50800" y="1103313"/>
                </a:lnTo>
                <a:lnTo>
                  <a:pt x="69850" y="1066800"/>
                </a:lnTo>
                <a:lnTo>
                  <a:pt x="88900" y="1028700"/>
                </a:lnTo>
                <a:lnTo>
                  <a:pt x="107950" y="990600"/>
                </a:lnTo>
                <a:lnTo>
                  <a:pt x="123825" y="954088"/>
                </a:lnTo>
                <a:lnTo>
                  <a:pt x="139700" y="912813"/>
                </a:lnTo>
                <a:lnTo>
                  <a:pt x="155575" y="866775"/>
                </a:lnTo>
                <a:lnTo>
                  <a:pt x="166687" y="814388"/>
                </a:lnTo>
                <a:lnTo>
                  <a:pt x="173037" y="754063"/>
                </a:lnTo>
                <a:lnTo>
                  <a:pt x="176212" y="685800"/>
                </a:lnTo>
                <a:lnTo>
                  <a:pt x="173037" y="617538"/>
                </a:lnTo>
                <a:lnTo>
                  <a:pt x="166687" y="557213"/>
                </a:lnTo>
                <a:lnTo>
                  <a:pt x="155575" y="504825"/>
                </a:lnTo>
                <a:lnTo>
                  <a:pt x="139700" y="458788"/>
                </a:lnTo>
                <a:lnTo>
                  <a:pt x="123825" y="417513"/>
                </a:lnTo>
                <a:lnTo>
                  <a:pt x="107950" y="381000"/>
                </a:lnTo>
                <a:lnTo>
                  <a:pt x="88900" y="342900"/>
                </a:lnTo>
                <a:lnTo>
                  <a:pt x="69850" y="304800"/>
                </a:lnTo>
                <a:lnTo>
                  <a:pt x="50800" y="268288"/>
                </a:lnTo>
                <a:lnTo>
                  <a:pt x="34925" y="227013"/>
                </a:lnTo>
                <a:lnTo>
                  <a:pt x="20637" y="180975"/>
                </a:lnTo>
                <a:lnTo>
                  <a:pt x="9525" y="128588"/>
                </a:lnTo>
                <a:lnTo>
                  <a:pt x="1587" y="68263"/>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194F438-5282-0AC6-BED5-6C58D59582CD}"/>
              </a:ext>
            </a:extLst>
          </p:cNvPr>
          <p:cNvSpPr>
            <a:spLocks noGrp="1"/>
          </p:cNvSpPr>
          <p:nvPr>
            <p:ph type="title"/>
          </p:nvPr>
        </p:nvSpPr>
        <p:spPr>
          <a:xfrm>
            <a:off x="1585773" y="267629"/>
            <a:ext cx="8632372" cy="1113295"/>
          </a:xfrm>
        </p:spPr>
        <p:txBody>
          <a:bodyPr anchor="t">
            <a:normAutofit/>
          </a:bodyPr>
          <a:lstStyle/>
          <a:p>
            <a:pPr algn="ctr"/>
            <a:r>
              <a:rPr lang="en-US"/>
              <a:t>Other Resources	</a:t>
            </a:r>
          </a:p>
        </p:txBody>
      </p:sp>
      <p:pic>
        <p:nvPicPr>
          <p:cNvPr id="5" name="Picture 4" descr="Logo">
            <a:extLst>
              <a:ext uri="{FF2B5EF4-FFF2-40B4-BE49-F238E27FC236}">
                <a16:creationId xmlns:a16="http://schemas.microsoft.com/office/drawing/2014/main" id="{1D9D86B6-06EC-7855-38BD-D889DEBBAD74}"/>
              </a:ext>
            </a:extLst>
          </p:cNvPr>
          <p:cNvPicPr>
            <a:picLocks noChangeAspect="1"/>
          </p:cNvPicPr>
          <p:nvPr/>
        </p:nvPicPr>
        <p:blipFill>
          <a:blip r:embed="rId3"/>
          <a:stretch>
            <a:fillRect/>
          </a:stretch>
        </p:blipFill>
        <p:spPr>
          <a:xfrm>
            <a:off x="10095599" y="5833791"/>
            <a:ext cx="1768158" cy="875712"/>
          </a:xfrm>
          <a:prstGeom prst="rect">
            <a:avLst/>
          </a:prstGeom>
        </p:spPr>
      </p:pic>
      <p:sp>
        <p:nvSpPr>
          <p:cNvPr id="7" name="Content Placeholder 6">
            <a:extLst>
              <a:ext uri="{FF2B5EF4-FFF2-40B4-BE49-F238E27FC236}">
                <a16:creationId xmlns:a16="http://schemas.microsoft.com/office/drawing/2014/main" id="{18101594-30CD-85FF-F02F-5255472D6441}"/>
              </a:ext>
            </a:extLst>
          </p:cNvPr>
          <p:cNvSpPr>
            <a:spLocks noGrp="1"/>
          </p:cNvSpPr>
          <p:nvPr>
            <p:ph idx="1"/>
          </p:nvPr>
        </p:nvSpPr>
        <p:spPr>
          <a:xfrm>
            <a:off x="2504440" y="1612265"/>
            <a:ext cx="9551625" cy="4073029"/>
          </a:xfrm>
        </p:spPr>
        <p:txBody>
          <a:bodyPr vert="horz" lIns="91440" tIns="45720" rIns="91440" bIns="45720" rtlCol="0" anchor="t">
            <a:normAutofit/>
          </a:bodyPr>
          <a:lstStyle/>
          <a:p>
            <a:pPr lvl="1">
              <a:lnSpc>
                <a:spcPct val="100000"/>
              </a:lnSpc>
              <a:spcBef>
                <a:spcPts val="0"/>
              </a:spcBef>
            </a:pPr>
            <a:r>
              <a:rPr lang="en-US" sz="2800">
                <a:ea typeface="Calibri"/>
                <a:cs typeface="Calibri"/>
              </a:rPr>
              <a:t>What is E1MN?</a:t>
            </a:r>
          </a:p>
          <a:p>
            <a:pPr marL="457200" lvl="1" indent="0">
              <a:lnSpc>
                <a:spcPct val="100000"/>
              </a:lnSpc>
              <a:spcBef>
                <a:spcPts val="0"/>
              </a:spcBef>
              <a:buNone/>
            </a:pPr>
            <a:endParaRPr lang="en-US" sz="2800">
              <a:ea typeface="Calibri"/>
              <a:cs typeface="Calibri"/>
            </a:endParaRPr>
          </a:p>
          <a:p>
            <a:pPr lvl="1">
              <a:lnSpc>
                <a:spcPct val="100000"/>
              </a:lnSpc>
              <a:spcBef>
                <a:spcPts val="0"/>
              </a:spcBef>
            </a:pPr>
            <a:r>
              <a:rPr lang="en-US" sz="2800">
                <a:ea typeface="Calibri"/>
                <a:cs typeface="Calibri"/>
              </a:rPr>
              <a:t>Sign up for E1MN communications from DEED</a:t>
            </a:r>
          </a:p>
          <a:p>
            <a:pPr lvl="1">
              <a:lnSpc>
                <a:spcPct val="100000"/>
              </a:lnSpc>
              <a:spcBef>
                <a:spcPts val="0"/>
              </a:spcBef>
            </a:pPr>
            <a:endParaRPr lang="en-US" sz="2800">
              <a:ea typeface="Calibri"/>
              <a:cs typeface="Calibri"/>
            </a:endParaRPr>
          </a:p>
          <a:p>
            <a:pPr lvl="1">
              <a:lnSpc>
                <a:spcPct val="100000"/>
              </a:lnSpc>
              <a:spcBef>
                <a:spcPts val="0"/>
              </a:spcBef>
            </a:pPr>
            <a:r>
              <a:rPr lang="en-US" sz="2800">
                <a:ea typeface="Calibri"/>
                <a:cs typeface="Calibri"/>
              </a:rPr>
              <a:t>Organization mentorship</a:t>
            </a:r>
          </a:p>
          <a:p>
            <a:pPr lvl="1">
              <a:lnSpc>
                <a:spcPct val="100000"/>
              </a:lnSpc>
              <a:spcBef>
                <a:spcPts val="0"/>
              </a:spcBef>
            </a:pPr>
            <a:endParaRPr lang="en-US" sz="2800">
              <a:ea typeface="Calibri"/>
              <a:cs typeface="Calibri"/>
            </a:endParaRPr>
          </a:p>
          <a:p>
            <a:pPr lvl="1">
              <a:lnSpc>
                <a:spcPct val="100000"/>
              </a:lnSpc>
              <a:spcBef>
                <a:spcPts val="0"/>
              </a:spcBef>
            </a:pPr>
            <a:endParaRPr lang="en-US" sz="2800">
              <a:ea typeface="Calibri"/>
              <a:cs typeface="Calibri"/>
            </a:endParaRPr>
          </a:p>
        </p:txBody>
      </p:sp>
    </p:spTree>
    <p:extLst>
      <p:ext uri="{BB962C8B-B14F-4D97-AF65-F5344CB8AC3E}">
        <p14:creationId xmlns:p14="http://schemas.microsoft.com/office/powerpoint/2010/main" val="18494442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29606" y="418642"/>
            <a:ext cx="4785990" cy="1073539"/>
          </a:xfrm>
        </p:spPr>
        <p:txBody>
          <a:bodyPr>
            <a:noAutofit/>
          </a:bodyPr>
          <a:lstStyle/>
          <a:p>
            <a:pPr algn="ctr"/>
            <a:r>
              <a:rPr lang="en-US" sz="3600" b="1">
                <a:solidFill>
                  <a:schemeClr val="accent1"/>
                </a:solidFill>
                <a:latin typeface="Candara" panose="020E0502030303020204" pitchFamily="34" charset="0"/>
              </a:rPr>
              <a:t>10 Essential Elements</a:t>
            </a:r>
            <a:br>
              <a:rPr lang="en-US" sz="3600" b="1">
                <a:solidFill>
                  <a:schemeClr val="accent1"/>
                </a:solidFill>
                <a:latin typeface="Candara" panose="020E0502030303020204" pitchFamily="34" charset="0"/>
              </a:rPr>
            </a:br>
            <a:r>
              <a:rPr lang="en-US" sz="3600" b="1">
                <a:solidFill>
                  <a:schemeClr val="accent1"/>
                </a:solidFill>
                <a:latin typeface="Candara" panose="020E0502030303020204" pitchFamily="34" charset="0"/>
              </a:rPr>
              <a:t>of Provider Transformation</a:t>
            </a:r>
          </a:p>
        </p:txBody>
      </p:sp>
      <p:sp>
        <p:nvSpPr>
          <p:cNvPr id="5" name="Rectangle 4">
            <a:extLst>
              <a:ext uri="{FF2B5EF4-FFF2-40B4-BE49-F238E27FC236}">
                <a16:creationId xmlns:a16="http://schemas.microsoft.com/office/drawing/2014/main" id="{802614FB-2C09-7E48-A88E-4A6E941BF62B}"/>
              </a:ext>
            </a:extLst>
          </p:cNvPr>
          <p:cNvSpPr/>
          <p:nvPr/>
        </p:nvSpPr>
        <p:spPr>
          <a:xfrm>
            <a:off x="1884827" y="892630"/>
            <a:ext cx="3748527" cy="233385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defTabSz="457200">
              <a:spcBef>
                <a:spcPts val="600"/>
              </a:spcBef>
              <a:defRPr/>
            </a:pPr>
            <a:r>
              <a:rPr lang="en-US" sz="2800" b="1">
                <a:solidFill>
                  <a:srgbClr val="558ED5"/>
                </a:solidFill>
                <a:latin typeface="Candara"/>
              </a:rPr>
              <a:t>Leadership, Focus &amp; Values</a:t>
            </a:r>
          </a:p>
          <a:p>
            <a:pPr algn="ctr" defTabSz="457200">
              <a:spcBef>
                <a:spcPts val="600"/>
              </a:spcBef>
              <a:defRPr/>
            </a:pPr>
            <a:r>
              <a:rPr lang="en-US">
                <a:solidFill>
                  <a:prstClr val="black"/>
                </a:solidFill>
                <a:latin typeface="Candara"/>
              </a:rPr>
              <a:t>Clear and consistent goals</a:t>
            </a:r>
          </a:p>
          <a:p>
            <a:pPr algn="ctr" defTabSz="457200">
              <a:spcBef>
                <a:spcPts val="600"/>
              </a:spcBef>
              <a:defRPr/>
            </a:pPr>
            <a:r>
              <a:rPr lang="en-US">
                <a:solidFill>
                  <a:schemeClr val="tx1"/>
                </a:solidFill>
                <a:latin typeface="Candara"/>
              </a:rPr>
              <a:t>Agency culture supports inclusion</a:t>
            </a:r>
          </a:p>
        </p:txBody>
      </p:sp>
      <p:sp>
        <p:nvSpPr>
          <p:cNvPr id="7" name="Rectangle 6">
            <a:extLst>
              <a:ext uri="{FF2B5EF4-FFF2-40B4-BE49-F238E27FC236}">
                <a16:creationId xmlns:a16="http://schemas.microsoft.com/office/drawing/2014/main" id="{0C366866-44B9-3D41-B13D-3CBCE57088DC}"/>
              </a:ext>
            </a:extLst>
          </p:cNvPr>
          <p:cNvSpPr/>
          <p:nvPr/>
        </p:nvSpPr>
        <p:spPr>
          <a:xfrm>
            <a:off x="1884827" y="4006150"/>
            <a:ext cx="3748526" cy="265470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defTabSz="457200">
              <a:spcAft>
                <a:spcPts val="600"/>
              </a:spcAft>
              <a:defRPr/>
            </a:pPr>
            <a:r>
              <a:rPr lang="en-US" sz="2800" b="1">
                <a:solidFill>
                  <a:srgbClr val="558ED5"/>
                </a:solidFill>
                <a:latin typeface="Candara"/>
              </a:rPr>
              <a:t>Infrastructure, Operations &amp; Finance</a:t>
            </a:r>
          </a:p>
          <a:p>
            <a:pPr algn="ctr" defTabSz="457200">
              <a:spcAft>
                <a:spcPts val="600"/>
              </a:spcAft>
              <a:defRPr/>
            </a:pPr>
            <a:r>
              <a:rPr lang="en-US">
                <a:solidFill>
                  <a:schemeClr val="tx1"/>
                </a:solidFill>
                <a:highlight>
                  <a:srgbClr val="FFFF00"/>
                </a:highlight>
                <a:latin typeface="Candara"/>
              </a:rPr>
              <a:t>Reallocated, restructured resources</a:t>
            </a:r>
          </a:p>
          <a:p>
            <a:pPr algn="ctr" defTabSz="457200">
              <a:spcAft>
                <a:spcPts val="600"/>
              </a:spcAft>
              <a:defRPr/>
            </a:pPr>
            <a:r>
              <a:rPr lang="en-US">
                <a:solidFill>
                  <a:schemeClr val="tx1"/>
                </a:solidFill>
                <a:latin typeface="Candara"/>
              </a:rPr>
              <a:t>Strong communication plan</a:t>
            </a:r>
          </a:p>
          <a:p>
            <a:pPr algn="ctr" defTabSz="457200">
              <a:spcAft>
                <a:spcPts val="600"/>
              </a:spcAft>
              <a:defRPr/>
            </a:pPr>
            <a:r>
              <a:rPr lang="en-US">
                <a:solidFill>
                  <a:schemeClr val="tx1"/>
                </a:solidFill>
                <a:latin typeface="Candara"/>
              </a:rPr>
              <a:t>Ongoing staff development</a:t>
            </a:r>
          </a:p>
          <a:p>
            <a:pPr algn="ctr" defTabSz="457200">
              <a:spcAft>
                <a:spcPts val="600"/>
              </a:spcAft>
              <a:defRPr/>
            </a:pPr>
            <a:r>
              <a:rPr lang="en-US">
                <a:solidFill>
                  <a:schemeClr val="tx1"/>
                </a:solidFill>
                <a:latin typeface="Candara"/>
              </a:rPr>
              <a:t>Performance measurement &amp; QA</a:t>
            </a:r>
          </a:p>
          <a:p>
            <a:pPr algn="ctr" defTabSz="457200">
              <a:spcAft>
                <a:spcPts val="600"/>
              </a:spcAft>
              <a:defRPr/>
            </a:pPr>
            <a:r>
              <a:rPr lang="en-US">
                <a:solidFill>
                  <a:schemeClr val="tx1"/>
                </a:solidFill>
                <a:latin typeface="Candara"/>
              </a:rPr>
              <a:t>Diverse community partnerships</a:t>
            </a:r>
          </a:p>
        </p:txBody>
      </p:sp>
      <p:sp>
        <p:nvSpPr>
          <p:cNvPr id="8" name="Rectangle 7">
            <a:extLst>
              <a:ext uri="{FF2B5EF4-FFF2-40B4-BE49-F238E27FC236}">
                <a16:creationId xmlns:a16="http://schemas.microsoft.com/office/drawing/2014/main" id="{D29F3F1E-CA9B-4143-872E-BD513DE16557}"/>
              </a:ext>
            </a:extLst>
          </p:cNvPr>
          <p:cNvSpPr/>
          <p:nvPr/>
        </p:nvSpPr>
        <p:spPr>
          <a:xfrm>
            <a:off x="6691583" y="1918176"/>
            <a:ext cx="3453351" cy="34476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defTabSz="457200">
              <a:spcAft>
                <a:spcPts val="600"/>
              </a:spcAft>
              <a:defRPr/>
            </a:pPr>
            <a:r>
              <a:rPr lang="en-US" sz="2800" b="1">
                <a:solidFill>
                  <a:srgbClr val="558ED5"/>
                </a:solidFill>
                <a:latin typeface="Candara"/>
              </a:rPr>
              <a:t>Employment Practices &amp; Community Life Engagement</a:t>
            </a:r>
          </a:p>
          <a:p>
            <a:pPr algn="ctr" defTabSz="457200">
              <a:spcAft>
                <a:spcPts val="600"/>
              </a:spcAft>
              <a:defRPr/>
            </a:pPr>
            <a:r>
              <a:rPr lang="en-US">
                <a:solidFill>
                  <a:schemeClr val="tx1"/>
                </a:solidFill>
                <a:latin typeface="Candara"/>
              </a:rPr>
              <a:t>Customer focus &amp; engagement</a:t>
            </a:r>
          </a:p>
          <a:p>
            <a:pPr algn="ctr" defTabSz="457200">
              <a:spcAft>
                <a:spcPts val="600"/>
              </a:spcAft>
              <a:defRPr/>
            </a:pPr>
            <a:r>
              <a:rPr lang="en-US">
                <a:solidFill>
                  <a:schemeClr val="tx1"/>
                </a:solidFill>
                <a:latin typeface="Candara"/>
              </a:rPr>
              <a:t>A holistic approach</a:t>
            </a:r>
          </a:p>
          <a:p>
            <a:pPr algn="ctr" defTabSz="457200">
              <a:spcAft>
                <a:spcPts val="600"/>
              </a:spcAft>
              <a:defRPr/>
            </a:pPr>
            <a:r>
              <a:rPr lang="en-US">
                <a:solidFill>
                  <a:schemeClr val="tx1"/>
                </a:solidFill>
                <a:latin typeface="Candara"/>
              </a:rPr>
              <a:t>Active person-centered job development</a:t>
            </a:r>
          </a:p>
          <a:p>
            <a:pPr algn="ctr" defTabSz="457200">
              <a:defRPr/>
            </a:pPr>
            <a:endParaRPr lang="en-US">
              <a:solidFill>
                <a:srgbClr val="4F81BD">
                  <a:lumMod val="75000"/>
                </a:srgbClr>
              </a:solidFill>
              <a:latin typeface="Candara" panose="020E0502030303020204" pitchFamily="34" charset="0"/>
            </a:endParaRPr>
          </a:p>
        </p:txBody>
      </p:sp>
      <p:cxnSp>
        <p:nvCxnSpPr>
          <p:cNvPr id="10" name="Straight Arrow Connector 9">
            <a:extLst>
              <a:ext uri="{FF2B5EF4-FFF2-40B4-BE49-F238E27FC236}">
                <a16:creationId xmlns:a16="http://schemas.microsoft.com/office/drawing/2014/main" id="{33DC9B72-15A3-3B4A-B337-E6788DC3E7C4}"/>
              </a:ext>
            </a:extLst>
          </p:cNvPr>
          <p:cNvCxnSpPr/>
          <p:nvPr/>
        </p:nvCxnSpPr>
        <p:spPr>
          <a:xfrm>
            <a:off x="5729607" y="1918177"/>
            <a:ext cx="770021" cy="748257"/>
          </a:xfrm>
          <a:prstGeom prst="straightConnector1">
            <a:avLst/>
          </a:prstGeom>
          <a:ln w="47625">
            <a:solidFill>
              <a:schemeClr val="accent3">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256ED5D5-48FC-3F47-87A6-C58DF7290724}"/>
              </a:ext>
            </a:extLst>
          </p:cNvPr>
          <p:cNvCxnSpPr>
            <a:cxnSpLocks/>
          </p:cNvCxnSpPr>
          <p:nvPr/>
        </p:nvCxnSpPr>
        <p:spPr>
          <a:xfrm flipH="1">
            <a:off x="5729607" y="4705045"/>
            <a:ext cx="770021" cy="748257"/>
          </a:xfrm>
          <a:prstGeom prst="straightConnector1">
            <a:avLst/>
          </a:prstGeom>
          <a:ln w="47625">
            <a:solidFill>
              <a:schemeClr val="accent3">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27821DC-DECB-B24B-95AA-B24A9321DF05}"/>
              </a:ext>
            </a:extLst>
          </p:cNvPr>
          <p:cNvCxnSpPr>
            <a:cxnSpLocks/>
          </p:cNvCxnSpPr>
          <p:nvPr/>
        </p:nvCxnSpPr>
        <p:spPr>
          <a:xfrm>
            <a:off x="3692258" y="3329880"/>
            <a:ext cx="0" cy="572870"/>
          </a:xfrm>
          <a:prstGeom prst="straightConnector1">
            <a:avLst/>
          </a:prstGeom>
          <a:ln w="47625">
            <a:solidFill>
              <a:schemeClr val="accent3">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10B5C56-7F5A-5C45-9CFB-AB89930EABD9}"/>
              </a:ext>
            </a:extLst>
          </p:cNvPr>
          <p:cNvSpPr txBox="1"/>
          <p:nvPr/>
        </p:nvSpPr>
        <p:spPr>
          <a:xfrm>
            <a:off x="5813778" y="5588282"/>
            <a:ext cx="4701818" cy="461665"/>
          </a:xfrm>
          <a:prstGeom prst="rect">
            <a:avLst/>
          </a:prstGeom>
          <a:noFill/>
        </p:spPr>
        <p:txBody>
          <a:bodyPr wrap="square">
            <a:spAutoFit/>
          </a:bodyPr>
          <a:lstStyle/>
          <a:p>
            <a:pPr defTabSz="457200">
              <a:defRPr/>
            </a:pPr>
            <a:r>
              <a:rPr lang="en-US" sz="2400" err="1">
                <a:solidFill>
                  <a:prstClr val="black"/>
                </a:solidFill>
                <a:latin typeface="Candara" panose="020E0502030303020204" pitchFamily="34" charset="0"/>
                <a:hlinkClick r:id="rId3"/>
              </a:rPr>
              <a:t>ThinkWork</a:t>
            </a:r>
            <a:r>
              <a:rPr lang="en-US" sz="2400">
                <a:solidFill>
                  <a:prstClr val="black"/>
                </a:solidFill>
                <a:latin typeface="Candara" panose="020E0502030303020204" pitchFamily="34" charset="0"/>
                <a:hlinkClick r:id="rId3"/>
              </a:rPr>
              <a:t> Agency Change Toolkit</a:t>
            </a:r>
            <a:endParaRPr lang="en-US" sz="2400">
              <a:solidFill>
                <a:prstClr val="black"/>
              </a:solidFill>
              <a:latin typeface="Candara" panose="020E0502030303020204" pitchFamily="34" charset="0"/>
            </a:endParaRPr>
          </a:p>
        </p:txBody>
      </p:sp>
      <p:pic>
        <p:nvPicPr>
          <p:cNvPr id="3" name="Picture 2" descr="Logo&#10;&#10;Description automatically generated with medium confidence">
            <a:extLst>
              <a:ext uri="{FF2B5EF4-FFF2-40B4-BE49-F238E27FC236}">
                <a16:creationId xmlns:a16="http://schemas.microsoft.com/office/drawing/2014/main" id="{603C8B60-A3CD-4FAB-BAAA-B2C821B01823}"/>
              </a:ext>
            </a:extLst>
          </p:cNvPr>
          <p:cNvPicPr>
            <a:picLocks noChangeAspect="1"/>
          </p:cNvPicPr>
          <p:nvPr/>
        </p:nvPicPr>
        <p:blipFill>
          <a:blip r:embed="rId4"/>
          <a:stretch>
            <a:fillRect/>
          </a:stretch>
        </p:blipFill>
        <p:spPr>
          <a:xfrm>
            <a:off x="10708712" y="5961266"/>
            <a:ext cx="1253389" cy="620763"/>
          </a:xfrm>
          <a:prstGeom prst="rect">
            <a:avLst/>
          </a:prstGeom>
        </p:spPr>
      </p:pic>
    </p:spTree>
    <p:extLst>
      <p:ext uri="{BB962C8B-B14F-4D97-AF65-F5344CB8AC3E}">
        <p14:creationId xmlns:p14="http://schemas.microsoft.com/office/powerpoint/2010/main" val="208682763"/>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18" name="Oval 517">
            <a:extLst>
              <a:ext uri="{FF2B5EF4-FFF2-40B4-BE49-F238E27FC236}">
                <a16:creationId xmlns:a16="http://schemas.microsoft.com/office/drawing/2014/main" id="{7E28B2E9-58E2-AF67-E2C6-ACADC62BD3DB}"/>
              </a:ext>
            </a:extLst>
          </p:cNvPr>
          <p:cNvSpPr/>
          <p:nvPr/>
        </p:nvSpPr>
        <p:spPr>
          <a:xfrm>
            <a:off x="6956136" y="46182"/>
            <a:ext cx="3636816" cy="3244271"/>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tx1"/>
                </a:solidFill>
                <a:cs typeface="Calibri"/>
              </a:rPr>
              <a:t>Organizational Transformation</a:t>
            </a:r>
            <a:r>
              <a:rPr lang="en-US" sz="2800" b="1">
                <a:cs typeface="Calibri"/>
              </a:rPr>
              <a:t> </a:t>
            </a:r>
          </a:p>
        </p:txBody>
      </p:sp>
      <p:graphicFrame>
        <p:nvGraphicFramePr>
          <p:cNvPr id="5" name="Diagram 5">
            <a:extLst>
              <a:ext uri="{FF2B5EF4-FFF2-40B4-BE49-F238E27FC236}">
                <a16:creationId xmlns:a16="http://schemas.microsoft.com/office/drawing/2014/main" id="{700DAC64-03D6-6A2F-165F-8ACC4E840BF7}"/>
              </a:ext>
            </a:extLst>
          </p:cNvPr>
          <p:cNvGraphicFramePr>
            <a:graphicFrameLocks noGrp="1"/>
          </p:cNvGraphicFramePr>
          <p:nvPr>
            <p:ph idx="1"/>
          </p:nvPr>
        </p:nvGraphicFramePr>
        <p:xfrm>
          <a:off x="1425286" y="1409989"/>
          <a:ext cx="6466610" cy="39472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A088EBCE-E62C-F564-0495-572F30023DA5}"/>
              </a:ext>
            </a:extLst>
          </p:cNvPr>
          <p:cNvSpPr>
            <a:spLocks noGrp="1"/>
          </p:cNvSpPr>
          <p:nvPr>
            <p:ph type="sldNum" sz="quarter" idx="12"/>
          </p:nvPr>
        </p:nvSpPr>
        <p:spPr/>
        <p:txBody>
          <a:bodyPr/>
          <a:lstStyle/>
          <a:p>
            <a:fld id="{915FAA45-AC5B-014B-9F74-53D558B73BE0}" type="slidenum">
              <a:rPr lang="en-US" smtClean="0"/>
              <a:pPr/>
              <a:t>9</a:t>
            </a:fld>
            <a:endParaRPr lang="en-US"/>
          </a:p>
        </p:txBody>
      </p:sp>
      <p:sp>
        <p:nvSpPr>
          <p:cNvPr id="600" name="Rectangle 599">
            <a:extLst>
              <a:ext uri="{FF2B5EF4-FFF2-40B4-BE49-F238E27FC236}">
                <a16:creationId xmlns:a16="http://schemas.microsoft.com/office/drawing/2014/main" id="{FD8338AC-F717-5BAC-208A-C955DCBCC44F}"/>
              </a:ext>
            </a:extLst>
          </p:cNvPr>
          <p:cNvSpPr/>
          <p:nvPr/>
        </p:nvSpPr>
        <p:spPr>
          <a:xfrm>
            <a:off x="6956137" y="4222750"/>
            <a:ext cx="3648362" cy="1847272"/>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dirty="0">
                <a:solidFill>
                  <a:schemeClr val="tx1"/>
                </a:solidFill>
                <a:cs typeface="Calibri"/>
              </a:rPr>
              <a:t>Strategic alignment of mission, vision, operations and outcomes. </a:t>
            </a:r>
          </a:p>
        </p:txBody>
      </p:sp>
      <p:sp>
        <p:nvSpPr>
          <p:cNvPr id="601" name="Arrow: Down 600">
            <a:extLst>
              <a:ext uri="{FF2B5EF4-FFF2-40B4-BE49-F238E27FC236}">
                <a16:creationId xmlns:a16="http://schemas.microsoft.com/office/drawing/2014/main" id="{A4EED436-105D-4580-9EE5-8DE434F99406}"/>
              </a:ext>
            </a:extLst>
          </p:cNvPr>
          <p:cNvSpPr/>
          <p:nvPr/>
        </p:nvSpPr>
        <p:spPr>
          <a:xfrm>
            <a:off x="8491682" y="3232728"/>
            <a:ext cx="565727" cy="1073725"/>
          </a:xfrm>
          <a:prstGeom prst="downArrow">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30" name="Picture 29" descr="Logo&#10;&#10;Description automatically generated with medium confidence">
            <a:extLst>
              <a:ext uri="{FF2B5EF4-FFF2-40B4-BE49-F238E27FC236}">
                <a16:creationId xmlns:a16="http://schemas.microsoft.com/office/drawing/2014/main" id="{3BA5D498-8A44-2575-5D7D-9C9C3B78C6B3}"/>
              </a:ext>
            </a:extLst>
          </p:cNvPr>
          <p:cNvPicPr>
            <a:picLocks noChangeAspect="1"/>
          </p:cNvPicPr>
          <p:nvPr/>
        </p:nvPicPr>
        <p:blipFill>
          <a:blip r:embed="rId8"/>
          <a:stretch>
            <a:fillRect/>
          </a:stretch>
        </p:blipFill>
        <p:spPr>
          <a:xfrm>
            <a:off x="10381387" y="6115104"/>
            <a:ext cx="1213867" cy="601189"/>
          </a:xfrm>
          <a:prstGeom prst="rect">
            <a:avLst/>
          </a:prstGeom>
        </p:spPr>
      </p:pic>
    </p:spTree>
    <p:extLst>
      <p:ext uri="{BB962C8B-B14F-4D97-AF65-F5344CB8AC3E}">
        <p14:creationId xmlns:p14="http://schemas.microsoft.com/office/powerpoint/2010/main" val="4235071264"/>
      </p:ext>
    </p:extLst>
  </p:cSld>
  <p:clrMapOvr>
    <a:masterClrMapping/>
  </p:clrMapOvr>
  <mc:AlternateContent xmlns:mc="http://schemas.openxmlformats.org/markup-compatibility/2006" xmlns:p14="http://schemas.microsoft.com/office/powerpoint/2010/main">
    <mc:Choice Requires="p14">
      <p:transition spd="slow" p14:dur="2000" advTm="66542"/>
    </mc:Choice>
    <mc:Fallback xmlns="">
      <p:transition spd="slow" advTm="66542"/>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91AC4-E90C-167E-1429-998C4BF1E372}"/>
              </a:ext>
            </a:extLst>
          </p:cNvPr>
          <p:cNvSpPr>
            <a:spLocks noGrp="1"/>
          </p:cNvSpPr>
          <p:nvPr>
            <p:ph type="title"/>
          </p:nvPr>
        </p:nvSpPr>
        <p:spPr>
          <a:xfrm>
            <a:off x="289944" y="640823"/>
            <a:ext cx="3950620" cy="5540017"/>
          </a:xfrm>
        </p:spPr>
        <p:txBody>
          <a:bodyPr anchor="ctr">
            <a:normAutofit/>
          </a:bodyPr>
          <a:lstStyle/>
          <a:p>
            <a:r>
              <a:rPr lang="en-US" sz="5000" b="1">
                <a:cs typeface="Calibri Light"/>
              </a:rPr>
              <a:t>What </a:t>
            </a:r>
            <a:r>
              <a:rPr lang="en-US" sz="5000" b="1" i="1" u="sng">
                <a:cs typeface="Calibri Light"/>
              </a:rPr>
              <a:t>are</a:t>
            </a:r>
            <a:r>
              <a:rPr lang="en-US" sz="5000" b="1" i="1">
                <a:cs typeface="Calibri Light"/>
              </a:rPr>
              <a:t> </a:t>
            </a:r>
            <a:r>
              <a:rPr lang="en-US" sz="5000" b="1">
                <a:cs typeface="Calibri Light"/>
              </a:rPr>
              <a:t>your</a:t>
            </a:r>
            <a:r>
              <a:rPr lang="en-US" sz="5000" b="1" i="1">
                <a:cs typeface="Calibri Light"/>
              </a:rPr>
              <a:t> </a:t>
            </a:r>
            <a:r>
              <a:rPr lang="en-US" sz="5000" b="1">
                <a:cs typeface="Calibri Light"/>
              </a:rPr>
              <a:t>organization's resources?</a:t>
            </a:r>
            <a:r>
              <a:rPr lang="en-US" sz="5000">
                <a:cs typeface="Calibri Light"/>
              </a:rPr>
              <a:t> </a:t>
            </a:r>
            <a:endParaRPr lang="en-US" sz="5000"/>
          </a:p>
        </p:txBody>
      </p:sp>
      <p:graphicFrame>
        <p:nvGraphicFramePr>
          <p:cNvPr id="5" name="Content Placeholder 2">
            <a:extLst>
              <a:ext uri="{FF2B5EF4-FFF2-40B4-BE49-F238E27FC236}">
                <a16:creationId xmlns:a16="http://schemas.microsoft.com/office/drawing/2014/main" id="{C6595968-080E-47E3-1897-EC391016C2E6}"/>
              </a:ext>
            </a:extLst>
          </p:cNvPr>
          <p:cNvGraphicFramePr>
            <a:graphicFrameLocks noGrp="1"/>
          </p:cNvGraphicFramePr>
          <p:nvPr>
            <p:ph idx="1"/>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49848492"/>
      </p:ext>
    </p:extLst>
  </p:cSld>
  <p:clrMapOvr>
    <a:masterClrMapping/>
  </p:clrMapOvr>
  <mc:AlternateContent xmlns:mc="http://schemas.openxmlformats.org/markup-compatibility/2006" xmlns:p14="http://schemas.microsoft.com/office/powerpoint/2010/main">
    <mc:Choice Requires="p14">
      <p:transition spd="slow" p14:dur="2000" advTm="110139"/>
    </mc:Choice>
    <mc:Fallback xmlns="">
      <p:transition spd="slow" advTm="110139"/>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D1633-C88E-EDE2-4D98-0226CDCC2E6A}"/>
              </a:ext>
            </a:extLst>
          </p:cNvPr>
          <p:cNvSpPr>
            <a:spLocks noGrp="1"/>
          </p:cNvSpPr>
          <p:nvPr>
            <p:ph type="title"/>
          </p:nvPr>
        </p:nvSpPr>
        <p:spPr>
          <a:xfrm>
            <a:off x="248728" y="5691"/>
            <a:ext cx="10515600" cy="1325563"/>
          </a:xfrm>
        </p:spPr>
        <p:txBody>
          <a:bodyPr/>
          <a:lstStyle/>
          <a:p>
            <a:r>
              <a:rPr lang="en-US" b="1" dirty="0">
                <a:cs typeface="Calibri Light"/>
              </a:rPr>
              <a:t>Reallocating Staff Resources at Company ABC</a:t>
            </a:r>
            <a:endParaRPr lang="en-US" b="1" dirty="0"/>
          </a:p>
        </p:txBody>
      </p:sp>
      <p:graphicFrame>
        <p:nvGraphicFramePr>
          <p:cNvPr id="4" name="Diagram 4">
            <a:extLst>
              <a:ext uri="{FF2B5EF4-FFF2-40B4-BE49-F238E27FC236}">
                <a16:creationId xmlns:a16="http://schemas.microsoft.com/office/drawing/2014/main" id="{97CA667D-B590-FD49-B700-8E0E5386AFBF}"/>
              </a:ext>
            </a:extLst>
          </p:cNvPr>
          <p:cNvGraphicFramePr>
            <a:graphicFrameLocks noGrp="1"/>
          </p:cNvGraphicFramePr>
          <p:nvPr>
            <p:ph idx="1"/>
          </p:nvPr>
        </p:nvGraphicFramePr>
        <p:xfrm>
          <a:off x="-24442" y="1653097"/>
          <a:ext cx="5526657" cy="269794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03" name="Arrow: Right 402">
            <a:extLst>
              <a:ext uri="{FF2B5EF4-FFF2-40B4-BE49-F238E27FC236}">
                <a16:creationId xmlns:a16="http://schemas.microsoft.com/office/drawing/2014/main" id="{0502A88E-BB91-724C-C829-7191279E046B}"/>
              </a:ext>
            </a:extLst>
          </p:cNvPr>
          <p:cNvSpPr/>
          <p:nvPr/>
        </p:nvSpPr>
        <p:spPr>
          <a:xfrm>
            <a:off x="4592488" y="1709827"/>
            <a:ext cx="3206150" cy="877018"/>
          </a:xfrm>
          <a:prstGeom prst="righ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05" name="Diagram 4">
            <a:extLst>
              <a:ext uri="{FF2B5EF4-FFF2-40B4-BE49-F238E27FC236}">
                <a16:creationId xmlns:a16="http://schemas.microsoft.com/office/drawing/2014/main" id="{C01681A5-2D98-A4EF-53B4-0042C461D5F6}"/>
              </a:ext>
            </a:extLst>
          </p:cNvPr>
          <p:cNvGraphicFramePr>
            <a:graphicFrameLocks/>
          </p:cNvGraphicFramePr>
          <p:nvPr/>
        </p:nvGraphicFramePr>
        <p:xfrm>
          <a:off x="6597769" y="1503573"/>
          <a:ext cx="5526657" cy="2697942"/>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521" name="Arrow: Curved Up 520">
            <a:extLst>
              <a:ext uri="{FF2B5EF4-FFF2-40B4-BE49-F238E27FC236}">
                <a16:creationId xmlns:a16="http://schemas.microsoft.com/office/drawing/2014/main" id="{B1728FEB-599F-E50D-E6CD-AB7498ABD104}"/>
              </a:ext>
            </a:extLst>
          </p:cNvPr>
          <p:cNvSpPr/>
          <p:nvPr/>
        </p:nvSpPr>
        <p:spPr>
          <a:xfrm>
            <a:off x="1582587" y="4674439"/>
            <a:ext cx="9028981" cy="1754037"/>
          </a:xfrm>
          <a:prstGeom prst="curvedUp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tx1"/>
                </a:solidFill>
                <a:cs typeface="Calibri"/>
              </a:rPr>
              <a:t>In this example: </a:t>
            </a:r>
            <a:endParaRPr lang="en-US">
              <a:solidFill>
                <a:schemeClr val="tx1"/>
              </a:solidFill>
            </a:endParaRPr>
          </a:p>
          <a:p>
            <a:pPr algn="ctr"/>
            <a:r>
              <a:rPr lang="en-US" sz="2000" b="1">
                <a:solidFill>
                  <a:schemeClr val="tx1"/>
                </a:solidFill>
                <a:cs typeface="Calibri"/>
              </a:rPr>
              <a:t>Each time 5 new people get jobs, another Day position</a:t>
            </a:r>
            <a:endParaRPr lang="en-US">
              <a:solidFill>
                <a:schemeClr val="tx1"/>
              </a:solidFill>
            </a:endParaRPr>
          </a:p>
          <a:p>
            <a:pPr algn="ctr"/>
            <a:r>
              <a:rPr lang="en-US" sz="2000" b="1">
                <a:solidFill>
                  <a:schemeClr val="tx1"/>
                </a:solidFill>
                <a:cs typeface="Calibri"/>
              </a:rPr>
              <a:t> is reallocated to Employment</a:t>
            </a:r>
          </a:p>
        </p:txBody>
      </p:sp>
    </p:spTree>
    <p:extLst>
      <p:ext uri="{BB962C8B-B14F-4D97-AF65-F5344CB8AC3E}">
        <p14:creationId xmlns:p14="http://schemas.microsoft.com/office/powerpoint/2010/main" val="17872867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511B5F3B-08E8-47E2-95C3-6C7223C7D4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FA71C3DC-E030-4EF6-A946-F51F03D9BD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66173" y="0"/>
            <a:ext cx="5425826" cy="6858000"/>
          </a:xfrm>
          <a:custGeom>
            <a:avLst/>
            <a:gdLst>
              <a:gd name="connsiteX0" fmla="*/ 189795 w 5425826"/>
              <a:gd name="connsiteY0" fmla="*/ 0 h 6858000"/>
              <a:gd name="connsiteX1" fmla="*/ 189796 w 5425826"/>
              <a:gd name="connsiteY1" fmla="*/ 0 h 6858000"/>
              <a:gd name="connsiteX2" fmla="*/ 334175 w 5425826"/>
              <a:gd name="connsiteY2" fmla="*/ 0 h 6858000"/>
              <a:gd name="connsiteX3" fmla="*/ 4653887 w 5425826"/>
              <a:gd name="connsiteY3" fmla="*/ 0 h 6858000"/>
              <a:gd name="connsiteX4" fmla="*/ 5282519 w 5425826"/>
              <a:gd name="connsiteY4" fmla="*/ 0 h 6858000"/>
              <a:gd name="connsiteX5" fmla="*/ 5425826 w 5425826"/>
              <a:gd name="connsiteY5" fmla="*/ 0 h 6858000"/>
              <a:gd name="connsiteX6" fmla="*/ 5425826 w 5425826"/>
              <a:gd name="connsiteY6" fmla="*/ 6858000 h 6858000"/>
              <a:gd name="connsiteX7" fmla="*/ 5282519 w 5425826"/>
              <a:gd name="connsiteY7" fmla="*/ 6858000 h 6858000"/>
              <a:gd name="connsiteX8" fmla="*/ 4653887 w 5425826"/>
              <a:gd name="connsiteY8" fmla="*/ 6858000 h 6858000"/>
              <a:gd name="connsiteX9" fmla="*/ 334175 w 5425826"/>
              <a:gd name="connsiteY9" fmla="*/ 6858000 h 6858000"/>
              <a:gd name="connsiteX10" fmla="*/ 189796 w 5425826"/>
              <a:gd name="connsiteY10" fmla="*/ 6858000 h 6858000"/>
              <a:gd name="connsiteX11" fmla="*/ 189795 w 5425826"/>
              <a:gd name="connsiteY11" fmla="*/ 6858000 h 6858000"/>
              <a:gd name="connsiteX12" fmla="*/ 184756 w 5425826"/>
              <a:gd name="connsiteY12" fmla="*/ 6791325 h 6858000"/>
              <a:gd name="connsiteX13" fmla="*/ 176358 w 5425826"/>
              <a:gd name="connsiteY13" fmla="*/ 6735762 h 6858000"/>
              <a:gd name="connsiteX14" fmla="*/ 166281 w 5425826"/>
              <a:gd name="connsiteY14" fmla="*/ 6683375 h 6858000"/>
              <a:gd name="connsiteX15" fmla="*/ 149485 w 5425826"/>
              <a:gd name="connsiteY15" fmla="*/ 6640512 h 6858000"/>
              <a:gd name="connsiteX16" fmla="*/ 132689 w 5425826"/>
              <a:gd name="connsiteY16" fmla="*/ 6597650 h 6858000"/>
              <a:gd name="connsiteX17" fmla="*/ 112534 w 5425826"/>
              <a:gd name="connsiteY17" fmla="*/ 6561137 h 6858000"/>
              <a:gd name="connsiteX18" fmla="*/ 92379 w 5425826"/>
              <a:gd name="connsiteY18" fmla="*/ 6523037 h 6858000"/>
              <a:gd name="connsiteX19" fmla="*/ 73903 w 5425826"/>
              <a:gd name="connsiteY19" fmla="*/ 6488112 h 6858000"/>
              <a:gd name="connsiteX20" fmla="*/ 55427 w 5425826"/>
              <a:gd name="connsiteY20" fmla="*/ 6448425 h 6858000"/>
              <a:gd name="connsiteX21" fmla="*/ 38632 w 5425826"/>
              <a:gd name="connsiteY21" fmla="*/ 6407150 h 6858000"/>
              <a:gd name="connsiteX22" fmla="*/ 23515 w 5425826"/>
              <a:gd name="connsiteY22" fmla="*/ 6361112 h 6858000"/>
              <a:gd name="connsiteX23" fmla="*/ 11758 w 5425826"/>
              <a:gd name="connsiteY23" fmla="*/ 6311900 h 6858000"/>
              <a:gd name="connsiteX24" fmla="*/ 3359 w 5425826"/>
              <a:gd name="connsiteY24" fmla="*/ 6251575 h 6858000"/>
              <a:gd name="connsiteX25" fmla="*/ 0 w 5425826"/>
              <a:gd name="connsiteY25" fmla="*/ 6183312 h 6858000"/>
              <a:gd name="connsiteX26" fmla="*/ 3359 w 5425826"/>
              <a:gd name="connsiteY26" fmla="*/ 6113462 h 6858000"/>
              <a:gd name="connsiteX27" fmla="*/ 11758 w 5425826"/>
              <a:gd name="connsiteY27" fmla="*/ 6056312 h 6858000"/>
              <a:gd name="connsiteX28" fmla="*/ 23515 w 5425826"/>
              <a:gd name="connsiteY28" fmla="*/ 6003925 h 6858000"/>
              <a:gd name="connsiteX29" fmla="*/ 38632 w 5425826"/>
              <a:gd name="connsiteY29" fmla="*/ 5956300 h 6858000"/>
              <a:gd name="connsiteX30" fmla="*/ 55427 w 5425826"/>
              <a:gd name="connsiteY30" fmla="*/ 5915025 h 6858000"/>
              <a:gd name="connsiteX31" fmla="*/ 75583 w 5425826"/>
              <a:gd name="connsiteY31" fmla="*/ 5876925 h 6858000"/>
              <a:gd name="connsiteX32" fmla="*/ 95738 w 5425826"/>
              <a:gd name="connsiteY32" fmla="*/ 5840412 h 6858000"/>
              <a:gd name="connsiteX33" fmla="*/ 115893 w 5425826"/>
              <a:gd name="connsiteY33" fmla="*/ 5802312 h 6858000"/>
              <a:gd name="connsiteX34" fmla="*/ 134368 w 5425826"/>
              <a:gd name="connsiteY34" fmla="*/ 5762625 h 6858000"/>
              <a:gd name="connsiteX35" fmla="*/ 152844 w 5425826"/>
              <a:gd name="connsiteY35" fmla="*/ 5721350 h 6858000"/>
              <a:gd name="connsiteX36" fmla="*/ 167960 w 5425826"/>
              <a:gd name="connsiteY36" fmla="*/ 5675312 h 6858000"/>
              <a:gd name="connsiteX37" fmla="*/ 178038 w 5425826"/>
              <a:gd name="connsiteY37" fmla="*/ 5622925 h 6858000"/>
              <a:gd name="connsiteX38" fmla="*/ 188115 w 5425826"/>
              <a:gd name="connsiteY38" fmla="*/ 5562600 h 6858000"/>
              <a:gd name="connsiteX39" fmla="*/ 189795 w 5425826"/>
              <a:gd name="connsiteY39" fmla="*/ 5494337 h 6858000"/>
              <a:gd name="connsiteX40" fmla="*/ 188115 w 5425826"/>
              <a:gd name="connsiteY40" fmla="*/ 5426075 h 6858000"/>
              <a:gd name="connsiteX41" fmla="*/ 178038 w 5425826"/>
              <a:gd name="connsiteY41" fmla="*/ 5365750 h 6858000"/>
              <a:gd name="connsiteX42" fmla="*/ 167960 w 5425826"/>
              <a:gd name="connsiteY42" fmla="*/ 5313362 h 6858000"/>
              <a:gd name="connsiteX43" fmla="*/ 152844 w 5425826"/>
              <a:gd name="connsiteY43" fmla="*/ 5268912 h 6858000"/>
              <a:gd name="connsiteX44" fmla="*/ 134368 w 5425826"/>
              <a:gd name="connsiteY44" fmla="*/ 5226050 h 6858000"/>
              <a:gd name="connsiteX45" fmla="*/ 115893 w 5425826"/>
              <a:gd name="connsiteY45" fmla="*/ 5186362 h 6858000"/>
              <a:gd name="connsiteX46" fmla="*/ 95738 w 5425826"/>
              <a:gd name="connsiteY46" fmla="*/ 5149850 h 6858000"/>
              <a:gd name="connsiteX47" fmla="*/ 75583 w 5425826"/>
              <a:gd name="connsiteY47" fmla="*/ 5114925 h 6858000"/>
              <a:gd name="connsiteX48" fmla="*/ 55427 w 5425826"/>
              <a:gd name="connsiteY48" fmla="*/ 5075237 h 6858000"/>
              <a:gd name="connsiteX49" fmla="*/ 38632 w 5425826"/>
              <a:gd name="connsiteY49" fmla="*/ 5033962 h 6858000"/>
              <a:gd name="connsiteX50" fmla="*/ 23515 w 5425826"/>
              <a:gd name="connsiteY50" fmla="*/ 4987925 h 6858000"/>
              <a:gd name="connsiteX51" fmla="*/ 11758 w 5425826"/>
              <a:gd name="connsiteY51" fmla="*/ 4935537 h 6858000"/>
              <a:gd name="connsiteX52" fmla="*/ 3359 w 5425826"/>
              <a:gd name="connsiteY52" fmla="*/ 4875212 h 6858000"/>
              <a:gd name="connsiteX53" fmla="*/ 0 w 5425826"/>
              <a:gd name="connsiteY53" fmla="*/ 4806950 h 6858000"/>
              <a:gd name="connsiteX54" fmla="*/ 3359 w 5425826"/>
              <a:gd name="connsiteY54" fmla="*/ 4738687 h 6858000"/>
              <a:gd name="connsiteX55" fmla="*/ 11758 w 5425826"/>
              <a:gd name="connsiteY55" fmla="*/ 4678362 h 6858000"/>
              <a:gd name="connsiteX56" fmla="*/ 23515 w 5425826"/>
              <a:gd name="connsiteY56" fmla="*/ 4625975 h 6858000"/>
              <a:gd name="connsiteX57" fmla="*/ 38632 w 5425826"/>
              <a:gd name="connsiteY57" fmla="*/ 4579937 h 6858000"/>
              <a:gd name="connsiteX58" fmla="*/ 55427 w 5425826"/>
              <a:gd name="connsiteY58" fmla="*/ 4537075 h 6858000"/>
              <a:gd name="connsiteX59" fmla="*/ 75583 w 5425826"/>
              <a:gd name="connsiteY59" fmla="*/ 4498975 h 6858000"/>
              <a:gd name="connsiteX60" fmla="*/ 115893 w 5425826"/>
              <a:gd name="connsiteY60" fmla="*/ 4424362 h 6858000"/>
              <a:gd name="connsiteX61" fmla="*/ 134368 w 5425826"/>
              <a:gd name="connsiteY61" fmla="*/ 4386262 h 6858000"/>
              <a:gd name="connsiteX62" fmla="*/ 152844 w 5425826"/>
              <a:gd name="connsiteY62" fmla="*/ 4343400 h 6858000"/>
              <a:gd name="connsiteX63" fmla="*/ 167960 w 5425826"/>
              <a:gd name="connsiteY63" fmla="*/ 4297362 h 6858000"/>
              <a:gd name="connsiteX64" fmla="*/ 178038 w 5425826"/>
              <a:gd name="connsiteY64" fmla="*/ 4244975 h 6858000"/>
              <a:gd name="connsiteX65" fmla="*/ 188115 w 5425826"/>
              <a:gd name="connsiteY65" fmla="*/ 4186237 h 6858000"/>
              <a:gd name="connsiteX66" fmla="*/ 189795 w 5425826"/>
              <a:gd name="connsiteY66" fmla="*/ 4116387 h 6858000"/>
              <a:gd name="connsiteX67" fmla="*/ 188115 w 5425826"/>
              <a:gd name="connsiteY67" fmla="*/ 4048125 h 6858000"/>
              <a:gd name="connsiteX68" fmla="*/ 178038 w 5425826"/>
              <a:gd name="connsiteY68" fmla="*/ 3987800 h 6858000"/>
              <a:gd name="connsiteX69" fmla="*/ 167960 w 5425826"/>
              <a:gd name="connsiteY69" fmla="*/ 3935412 h 6858000"/>
              <a:gd name="connsiteX70" fmla="*/ 152844 w 5425826"/>
              <a:gd name="connsiteY70" fmla="*/ 3890962 h 6858000"/>
              <a:gd name="connsiteX71" fmla="*/ 134368 w 5425826"/>
              <a:gd name="connsiteY71" fmla="*/ 3848100 h 6858000"/>
              <a:gd name="connsiteX72" fmla="*/ 115893 w 5425826"/>
              <a:gd name="connsiteY72" fmla="*/ 3811587 h 6858000"/>
              <a:gd name="connsiteX73" fmla="*/ 75583 w 5425826"/>
              <a:gd name="connsiteY73" fmla="*/ 3736975 h 6858000"/>
              <a:gd name="connsiteX74" fmla="*/ 55427 w 5425826"/>
              <a:gd name="connsiteY74" fmla="*/ 3697287 h 6858000"/>
              <a:gd name="connsiteX75" fmla="*/ 38632 w 5425826"/>
              <a:gd name="connsiteY75" fmla="*/ 3656012 h 6858000"/>
              <a:gd name="connsiteX76" fmla="*/ 23515 w 5425826"/>
              <a:gd name="connsiteY76" fmla="*/ 3609975 h 6858000"/>
              <a:gd name="connsiteX77" fmla="*/ 11758 w 5425826"/>
              <a:gd name="connsiteY77" fmla="*/ 3557587 h 6858000"/>
              <a:gd name="connsiteX78" fmla="*/ 3359 w 5425826"/>
              <a:gd name="connsiteY78" fmla="*/ 3497262 h 6858000"/>
              <a:gd name="connsiteX79" fmla="*/ 0 w 5425826"/>
              <a:gd name="connsiteY79" fmla="*/ 3427412 h 6858000"/>
              <a:gd name="connsiteX80" fmla="*/ 3359 w 5425826"/>
              <a:gd name="connsiteY80" fmla="*/ 3360737 h 6858000"/>
              <a:gd name="connsiteX81" fmla="*/ 11758 w 5425826"/>
              <a:gd name="connsiteY81" fmla="*/ 3300412 h 6858000"/>
              <a:gd name="connsiteX82" fmla="*/ 23515 w 5425826"/>
              <a:gd name="connsiteY82" fmla="*/ 3248025 h 6858000"/>
              <a:gd name="connsiteX83" fmla="*/ 38632 w 5425826"/>
              <a:gd name="connsiteY83" fmla="*/ 3201987 h 6858000"/>
              <a:gd name="connsiteX84" fmla="*/ 55427 w 5425826"/>
              <a:gd name="connsiteY84" fmla="*/ 3160712 h 6858000"/>
              <a:gd name="connsiteX85" fmla="*/ 75583 w 5425826"/>
              <a:gd name="connsiteY85" fmla="*/ 3121025 h 6858000"/>
              <a:gd name="connsiteX86" fmla="*/ 95738 w 5425826"/>
              <a:gd name="connsiteY86" fmla="*/ 3084512 h 6858000"/>
              <a:gd name="connsiteX87" fmla="*/ 115893 w 5425826"/>
              <a:gd name="connsiteY87" fmla="*/ 3046412 h 6858000"/>
              <a:gd name="connsiteX88" fmla="*/ 134368 w 5425826"/>
              <a:gd name="connsiteY88" fmla="*/ 3009900 h 6858000"/>
              <a:gd name="connsiteX89" fmla="*/ 152844 w 5425826"/>
              <a:gd name="connsiteY89" fmla="*/ 2967037 h 6858000"/>
              <a:gd name="connsiteX90" fmla="*/ 167960 w 5425826"/>
              <a:gd name="connsiteY90" fmla="*/ 2922587 h 6858000"/>
              <a:gd name="connsiteX91" fmla="*/ 178038 w 5425826"/>
              <a:gd name="connsiteY91" fmla="*/ 2868612 h 6858000"/>
              <a:gd name="connsiteX92" fmla="*/ 188115 w 5425826"/>
              <a:gd name="connsiteY92" fmla="*/ 2809875 h 6858000"/>
              <a:gd name="connsiteX93" fmla="*/ 189795 w 5425826"/>
              <a:gd name="connsiteY93" fmla="*/ 2741612 h 6858000"/>
              <a:gd name="connsiteX94" fmla="*/ 188115 w 5425826"/>
              <a:gd name="connsiteY94" fmla="*/ 2671762 h 6858000"/>
              <a:gd name="connsiteX95" fmla="*/ 178038 w 5425826"/>
              <a:gd name="connsiteY95" fmla="*/ 2613025 h 6858000"/>
              <a:gd name="connsiteX96" fmla="*/ 167960 w 5425826"/>
              <a:gd name="connsiteY96" fmla="*/ 2560637 h 6858000"/>
              <a:gd name="connsiteX97" fmla="*/ 152844 w 5425826"/>
              <a:gd name="connsiteY97" fmla="*/ 2513012 h 6858000"/>
              <a:gd name="connsiteX98" fmla="*/ 134368 w 5425826"/>
              <a:gd name="connsiteY98" fmla="*/ 2471737 h 6858000"/>
              <a:gd name="connsiteX99" fmla="*/ 115893 w 5425826"/>
              <a:gd name="connsiteY99" fmla="*/ 2433637 h 6858000"/>
              <a:gd name="connsiteX100" fmla="*/ 95738 w 5425826"/>
              <a:gd name="connsiteY100" fmla="*/ 2395537 h 6858000"/>
              <a:gd name="connsiteX101" fmla="*/ 75583 w 5425826"/>
              <a:gd name="connsiteY101" fmla="*/ 2359025 h 6858000"/>
              <a:gd name="connsiteX102" fmla="*/ 55427 w 5425826"/>
              <a:gd name="connsiteY102" fmla="*/ 2319337 h 6858000"/>
              <a:gd name="connsiteX103" fmla="*/ 38632 w 5425826"/>
              <a:gd name="connsiteY103" fmla="*/ 2278062 h 6858000"/>
              <a:gd name="connsiteX104" fmla="*/ 23515 w 5425826"/>
              <a:gd name="connsiteY104" fmla="*/ 2232025 h 6858000"/>
              <a:gd name="connsiteX105" fmla="*/ 11758 w 5425826"/>
              <a:gd name="connsiteY105" fmla="*/ 2179637 h 6858000"/>
              <a:gd name="connsiteX106" fmla="*/ 3359 w 5425826"/>
              <a:gd name="connsiteY106" fmla="*/ 2119312 h 6858000"/>
              <a:gd name="connsiteX107" fmla="*/ 0 w 5425826"/>
              <a:gd name="connsiteY107" fmla="*/ 2051050 h 6858000"/>
              <a:gd name="connsiteX108" fmla="*/ 3359 w 5425826"/>
              <a:gd name="connsiteY108" fmla="*/ 1982787 h 6858000"/>
              <a:gd name="connsiteX109" fmla="*/ 11758 w 5425826"/>
              <a:gd name="connsiteY109" fmla="*/ 1922462 h 6858000"/>
              <a:gd name="connsiteX110" fmla="*/ 23515 w 5425826"/>
              <a:gd name="connsiteY110" fmla="*/ 1870075 h 6858000"/>
              <a:gd name="connsiteX111" fmla="*/ 38632 w 5425826"/>
              <a:gd name="connsiteY111" fmla="*/ 1824037 h 6858000"/>
              <a:gd name="connsiteX112" fmla="*/ 55427 w 5425826"/>
              <a:gd name="connsiteY112" fmla="*/ 1782762 h 6858000"/>
              <a:gd name="connsiteX113" fmla="*/ 75583 w 5425826"/>
              <a:gd name="connsiteY113" fmla="*/ 1743075 h 6858000"/>
              <a:gd name="connsiteX114" fmla="*/ 95738 w 5425826"/>
              <a:gd name="connsiteY114" fmla="*/ 1708150 h 6858000"/>
              <a:gd name="connsiteX115" fmla="*/ 115893 w 5425826"/>
              <a:gd name="connsiteY115" fmla="*/ 1671637 h 6858000"/>
              <a:gd name="connsiteX116" fmla="*/ 134368 w 5425826"/>
              <a:gd name="connsiteY116" fmla="*/ 1631950 h 6858000"/>
              <a:gd name="connsiteX117" fmla="*/ 152844 w 5425826"/>
              <a:gd name="connsiteY117" fmla="*/ 1589087 h 6858000"/>
              <a:gd name="connsiteX118" fmla="*/ 167960 w 5425826"/>
              <a:gd name="connsiteY118" fmla="*/ 1544637 h 6858000"/>
              <a:gd name="connsiteX119" fmla="*/ 178038 w 5425826"/>
              <a:gd name="connsiteY119" fmla="*/ 1492250 h 6858000"/>
              <a:gd name="connsiteX120" fmla="*/ 188115 w 5425826"/>
              <a:gd name="connsiteY120" fmla="*/ 1431925 h 6858000"/>
              <a:gd name="connsiteX121" fmla="*/ 189795 w 5425826"/>
              <a:gd name="connsiteY121" fmla="*/ 1363662 h 6858000"/>
              <a:gd name="connsiteX122" fmla="*/ 188115 w 5425826"/>
              <a:gd name="connsiteY122" fmla="*/ 1295400 h 6858000"/>
              <a:gd name="connsiteX123" fmla="*/ 178038 w 5425826"/>
              <a:gd name="connsiteY123" fmla="*/ 1235075 h 6858000"/>
              <a:gd name="connsiteX124" fmla="*/ 167960 w 5425826"/>
              <a:gd name="connsiteY124" fmla="*/ 1182687 h 6858000"/>
              <a:gd name="connsiteX125" fmla="*/ 152844 w 5425826"/>
              <a:gd name="connsiteY125" fmla="*/ 1136650 h 6858000"/>
              <a:gd name="connsiteX126" fmla="*/ 134368 w 5425826"/>
              <a:gd name="connsiteY126" fmla="*/ 1095375 h 6858000"/>
              <a:gd name="connsiteX127" fmla="*/ 115893 w 5425826"/>
              <a:gd name="connsiteY127" fmla="*/ 1055687 h 6858000"/>
              <a:gd name="connsiteX128" fmla="*/ 95738 w 5425826"/>
              <a:gd name="connsiteY128" fmla="*/ 1017587 h 6858000"/>
              <a:gd name="connsiteX129" fmla="*/ 75583 w 5425826"/>
              <a:gd name="connsiteY129" fmla="*/ 981075 h 6858000"/>
              <a:gd name="connsiteX130" fmla="*/ 55427 w 5425826"/>
              <a:gd name="connsiteY130" fmla="*/ 942975 h 6858000"/>
              <a:gd name="connsiteX131" fmla="*/ 38632 w 5425826"/>
              <a:gd name="connsiteY131" fmla="*/ 901700 h 6858000"/>
              <a:gd name="connsiteX132" fmla="*/ 23515 w 5425826"/>
              <a:gd name="connsiteY132" fmla="*/ 854075 h 6858000"/>
              <a:gd name="connsiteX133" fmla="*/ 11758 w 5425826"/>
              <a:gd name="connsiteY133" fmla="*/ 801687 h 6858000"/>
              <a:gd name="connsiteX134" fmla="*/ 3359 w 5425826"/>
              <a:gd name="connsiteY134" fmla="*/ 744537 h 6858000"/>
              <a:gd name="connsiteX135" fmla="*/ 0 w 5425826"/>
              <a:gd name="connsiteY135" fmla="*/ 673100 h 6858000"/>
              <a:gd name="connsiteX136" fmla="*/ 3359 w 5425826"/>
              <a:gd name="connsiteY136" fmla="*/ 606425 h 6858000"/>
              <a:gd name="connsiteX137" fmla="*/ 11758 w 5425826"/>
              <a:gd name="connsiteY137" fmla="*/ 546100 h 6858000"/>
              <a:gd name="connsiteX138" fmla="*/ 23515 w 5425826"/>
              <a:gd name="connsiteY138" fmla="*/ 496887 h 6858000"/>
              <a:gd name="connsiteX139" fmla="*/ 38632 w 5425826"/>
              <a:gd name="connsiteY139" fmla="*/ 450850 h 6858000"/>
              <a:gd name="connsiteX140" fmla="*/ 55427 w 5425826"/>
              <a:gd name="connsiteY140" fmla="*/ 409575 h 6858000"/>
              <a:gd name="connsiteX141" fmla="*/ 73903 w 5425826"/>
              <a:gd name="connsiteY141" fmla="*/ 369887 h 6858000"/>
              <a:gd name="connsiteX142" fmla="*/ 92379 w 5425826"/>
              <a:gd name="connsiteY142" fmla="*/ 334962 h 6858000"/>
              <a:gd name="connsiteX143" fmla="*/ 112534 w 5425826"/>
              <a:gd name="connsiteY143" fmla="*/ 296862 h 6858000"/>
              <a:gd name="connsiteX144" fmla="*/ 132689 w 5425826"/>
              <a:gd name="connsiteY144" fmla="*/ 260350 h 6858000"/>
              <a:gd name="connsiteX145" fmla="*/ 149485 w 5425826"/>
              <a:gd name="connsiteY145" fmla="*/ 217487 h 6858000"/>
              <a:gd name="connsiteX146" fmla="*/ 166281 w 5425826"/>
              <a:gd name="connsiteY146" fmla="*/ 174625 h 6858000"/>
              <a:gd name="connsiteX147" fmla="*/ 176358 w 5425826"/>
              <a:gd name="connsiteY147" fmla="*/ 122237 h 6858000"/>
              <a:gd name="connsiteX148" fmla="*/ 184756 w 5425826"/>
              <a:gd name="connsiteY148" fmla="*/ 6667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Lst>
            <a:rect l="l" t="t" r="r" b="b"/>
            <a:pathLst>
              <a:path w="5425826" h="6858000">
                <a:moveTo>
                  <a:pt x="189795" y="0"/>
                </a:moveTo>
                <a:lnTo>
                  <a:pt x="189796" y="0"/>
                </a:lnTo>
                <a:lnTo>
                  <a:pt x="334175" y="0"/>
                </a:lnTo>
                <a:lnTo>
                  <a:pt x="4653887" y="0"/>
                </a:lnTo>
                <a:lnTo>
                  <a:pt x="5282519" y="0"/>
                </a:lnTo>
                <a:lnTo>
                  <a:pt x="5425826" y="0"/>
                </a:lnTo>
                <a:lnTo>
                  <a:pt x="5425826" y="6858000"/>
                </a:lnTo>
                <a:lnTo>
                  <a:pt x="5282519" y="6858000"/>
                </a:lnTo>
                <a:lnTo>
                  <a:pt x="4653887" y="6858000"/>
                </a:lnTo>
                <a:lnTo>
                  <a:pt x="334175" y="6858000"/>
                </a:lnTo>
                <a:lnTo>
                  <a:pt x="189796" y="6858000"/>
                </a:lnTo>
                <a:lnTo>
                  <a:pt x="189795" y="6858000"/>
                </a:lnTo>
                <a:lnTo>
                  <a:pt x="184756" y="6791325"/>
                </a:lnTo>
                <a:lnTo>
                  <a:pt x="176358" y="6735762"/>
                </a:lnTo>
                <a:lnTo>
                  <a:pt x="166281" y="6683375"/>
                </a:lnTo>
                <a:lnTo>
                  <a:pt x="149485" y="6640512"/>
                </a:lnTo>
                <a:lnTo>
                  <a:pt x="132689" y="6597650"/>
                </a:lnTo>
                <a:lnTo>
                  <a:pt x="112534" y="6561137"/>
                </a:lnTo>
                <a:lnTo>
                  <a:pt x="92379" y="6523037"/>
                </a:lnTo>
                <a:lnTo>
                  <a:pt x="73903" y="6488112"/>
                </a:lnTo>
                <a:lnTo>
                  <a:pt x="55427" y="6448425"/>
                </a:lnTo>
                <a:lnTo>
                  <a:pt x="38632" y="6407150"/>
                </a:lnTo>
                <a:lnTo>
                  <a:pt x="23515" y="6361112"/>
                </a:lnTo>
                <a:lnTo>
                  <a:pt x="11758" y="6311900"/>
                </a:lnTo>
                <a:lnTo>
                  <a:pt x="3359" y="6251575"/>
                </a:lnTo>
                <a:lnTo>
                  <a:pt x="0" y="6183312"/>
                </a:lnTo>
                <a:lnTo>
                  <a:pt x="3359" y="6113462"/>
                </a:lnTo>
                <a:lnTo>
                  <a:pt x="11758" y="6056312"/>
                </a:lnTo>
                <a:lnTo>
                  <a:pt x="23515" y="6003925"/>
                </a:lnTo>
                <a:lnTo>
                  <a:pt x="38632" y="5956300"/>
                </a:lnTo>
                <a:lnTo>
                  <a:pt x="55427" y="5915025"/>
                </a:lnTo>
                <a:lnTo>
                  <a:pt x="75583" y="5876925"/>
                </a:lnTo>
                <a:lnTo>
                  <a:pt x="95738" y="5840412"/>
                </a:lnTo>
                <a:lnTo>
                  <a:pt x="115893" y="5802312"/>
                </a:lnTo>
                <a:lnTo>
                  <a:pt x="134368" y="5762625"/>
                </a:lnTo>
                <a:lnTo>
                  <a:pt x="152844" y="5721350"/>
                </a:lnTo>
                <a:lnTo>
                  <a:pt x="167960" y="5675312"/>
                </a:lnTo>
                <a:lnTo>
                  <a:pt x="178038" y="5622925"/>
                </a:lnTo>
                <a:lnTo>
                  <a:pt x="188115" y="5562600"/>
                </a:lnTo>
                <a:lnTo>
                  <a:pt x="189795" y="5494337"/>
                </a:lnTo>
                <a:lnTo>
                  <a:pt x="188115" y="5426075"/>
                </a:lnTo>
                <a:lnTo>
                  <a:pt x="178038" y="5365750"/>
                </a:lnTo>
                <a:lnTo>
                  <a:pt x="167960" y="5313362"/>
                </a:lnTo>
                <a:lnTo>
                  <a:pt x="152844" y="5268912"/>
                </a:lnTo>
                <a:lnTo>
                  <a:pt x="134368" y="5226050"/>
                </a:lnTo>
                <a:lnTo>
                  <a:pt x="115893" y="5186362"/>
                </a:lnTo>
                <a:lnTo>
                  <a:pt x="95738" y="5149850"/>
                </a:lnTo>
                <a:lnTo>
                  <a:pt x="75583" y="5114925"/>
                </a:lnTo>
                <a:lnTo>
                  <a:pt x="55427" y="5075237"/>
                </a:lnTo>
                <a:lnTo>
                  <a:pt x="38632" y="5033962"/>
                </a:lnTo>
                <a:lnTo>
                  <a:pt x="23515" y="4987925"/>
                </a:lnTo>
                <a:lnTo>
                  <a:pt x="11758" y="4935537"/>
                </a:lnTo>
                <a:lnTo>
                  <a:pt x="3359" y="4875212"/>
                </a:lnTo>
                <a:lnTo>
                  <a:pt x="0" y="4806950"/>
                </a:lnTo>
                <a:lnTo>
                  <a:pt x="3359" y="4738687"/>
                </a:lnTo>
                <a:lnTo>
                  <a:pt x="11758" y="4678362"/>
                </a:lnTo>
                <a:lnTo>
                  <a:pt x="23515" y="4625975"/>
                </a:lnTo>
                <a:lnTo>
                  <a:pt x="38632" y="4579937"/>
                </a:lnTo>
                <a:lnTo>
                  <a:pt x="55427" y="4537075"/>
                </a:lnTo>
                <a:lnTo>
                  <a:pt x="75583" y="4498975"/>
                </a:lnTo>
                <a:lnTo>
                  <a:pt x="115893" y="4424362"/>
                </a:lnTo>
                <a:lnTo>
                  <a:pt x="134368" y="4386262"/>
                </a:lnTo>
                <a:lnTo>
                  <a:pt x="152844" y="4343400"/>
                </a:lnTo>
                <a:lnTo>
                  <a:pt x="167960" y="4297362"/>
                </a:lnTo>
                <a:lnTo>
                  <a:pt x="178038" y="4244975"/>
                </a:lnTo>
                <a:lnTo>
                  <a:pt x="188115" y="4186237"/>
                </a:lnTo>
                <a:lnTo>
                  <a:pt x="189795" y="4116387"/>
                </a:lnTo>
                <a:lnTo>
                  <a:pt x="188115" y="4048125"/>
                </a:lnTo>
                <a:lnTo>
                  <a:pt x="178038" y="3987800"/>
                </a:lnTo>
                <a:lnTo>
                  <a:pt x="167960" y="3935412"/>
                </a:lnTo>
                <a:lnTo>
                  <a:pt x="152844" y="3890962"/>
                </a:lnTo>
                <a:lnTo>
                  <a:pt x="134368" y="3848100"/>
                </a:lnTo>
                <a:lnTo>
                  <a:pt x="115893" y="3811587"/>
                </a:lnTo>
                <a:lnTo>
                  <a:pt x="75583" y="3736975"/>
                </a:lnTo>
                <a:lnTo>
                  <a:pt x="55427" y="3697287"/>
                </a:lnTo>
                <a:lnTo>
                  <a:pt x="38632" y="3656012"/>
                </a:lnTo>
                <a:lnTo>
                  <a:pt x="23515" y="3609975"/>
                </a:lnTo>
                <a:lnTo>
                  <a:pt x="11758" y="3557587"/>
                </a:lnTo>
                <a:lnTo>
                  <a:pt x="3359" y="3497262"/>
                </a:lnTo>
                <a:lnTo>
                  <a:pt x="0" y="3427412"/>
                </a:lnTo>
                <a:lnTo>
                  <a:pt x="3359" y="3360737"/>
                </a:lnTo>
                <a:lnTo>
                  <a:pt x="11758" y="3300412"/>
                </a:lnTo>
                <a:lnTo>
                  <a:pt x="23515" y="3248025"/>
                </a:lnTo>
                <a:lnTo>
                  <a:pt x="38632" y="3201987"/>
                </a:lnTo>
                <a:lnTo>
                  <a:pt x="55427" y="3160712"/>
                </a:lnTo>
                <a:lnTo>
                  <a:pt x="75583" y="3121025"/>
                </a:lnTo>
                <a:lnTo>
                  <a:pt x="95738" y="3084512"/>
                </a:lnTo>
                <a:lnTo>
                  <a:pt x="115893" y="3046412"/>
                </a:lnTo>
                <a:lnTo>
                  <a:pt x="134368" y="3009900"/>
                </a:lnTo>
                <a:lnTo>
                  <a:pt x="152844" y="2967037"/>
                </a:lnTo>
                <a:lnTo>
                  <a:pt x="167960" y="2922587"/>
                </a:lnTo>
                <a:lnTo>
                  <a:pt x="178038" y="2868612"/>
                </a:lnTo>
                <a:lnTo>
                  <a:pt x="188115" y="2809875"/>
                </a:lnTo>
                <a:lnTo>
                  <a:pt x="189795" y="2741612"/>
                </a:lnTo>
                <a:lnTo>
                  <a:pt x="188115" y="2671762"/>
                </a:lnTo>
                <a:lnTo>
                  <a:pt x="178038" y="2613025"/>
                </a:lnTo>
                <a:lnTo>
                  <a:pt x="167960" y="2560637"/>
                </a:lnTo>
                <a:lnTo>
                  <a:pt x="152844" y="2513012"/>
                </a:lnTo>
                <a:lnTo>
                  <a:pt x="134368" y="2471737"/>
                </a:lnTo>
                <a:lnTo>
                  <a:pt x="115893" y="2433637"/>
                </a:lnTo>
                <a:lnTo>
                  <a:pt x="95738" y="2395537"/>
                </a:lnTo>
                <a:lnTo>
                  <a:pt x="75583" y="2359025"/>
                </a:lnTo>
                <a:lnTo>
                  <a:pt x="55427" y="2319337"/>
                </a:lnTo>
                <a:lnTo>
                  <a:pt x="38632" y="2278062"/>
                </a:lnTo>
                <a:lnTo>
                  <a:pt x="23515" y="2232025"/>
                </a:lnTo>
                <a:lnTo>
                  <a:pt x="11758" y="2179637"/>
                </a:lnTo>
                <a:lnTo>
                  <a:pt x="3359" y="2119312"/>
                </a:lnTo>
                <a:lnTo>
                  <a:pt x="0" y="2051050"/>
                </a:lnTo>
                <a:lnTo>
                  <a:pt x="3359" y="1982787"/>
                </a:lnTo>
                <a:lnTo>
                  <a:pt x="11758" y="1922462"/>
                </a:lnTo>
                <a:lnTo>
                  <a:pt x="23515" y="1870075"/>
                </a:lnTo>
                <a:lnTo>
                  <a:pt x="38632" y="1824037"/>
                </a:lnTo>
                <a:lnTo>
                  <a:pt x="55427" y="1782762"/>
                </a:lnTo>
                <a:lnTo>
                  <a:pt x="75583" y="1743075"/>
                </a:lnTo>
                <a:lnTo>
                  <a:pt x="95738" y="1708150"/>
                </a:lnTo>
                <a:lnTo>
                  <a:pt x="115893" y="1671637"/>
                </a:lnTo>
                <a:lnTo>
                  <a:pt x="134368" y="1631950"/>
                </a:lnTo>
                <a:lnTo>
                  <a:pt x="152844" y="1589087"/>
                </a:lnTo>
                <a:lnTo>
                  <a:pt x="167960" y="1544637"/>
                </a:lnTo>
                <a:lnTo>
                  <a:pt x="178038" y="1492250"/>
                </a:lnTo>
                <a:lnTo>
                  <a:pt x="188115" y="1431925"/>
                </a:lnTo>
                <a:lnTo>
                  <a:pt x="189795" y="1363662"/>
                </a:lnTo>
                <a:lnTo>
                  <a:pt x="188115" y="1295400"/>
                </a:lnTo>
                <a:lnTo>
                  <a:pt x="178038" y="1235075"/>
                </a:lnTo>
                <a:lnTo>
                  <a:pt x="167960" y="1182687"/>
                </a:lnTo>
                <a:lnTo>
                  <a:pt x="152844" y="1136650"/>
                </a:lnTo>
                <a:lnTo>
                  <a:pt x="134368" y="1095375"/>
                </a:lnTo>
                <a:lnTo>
                  <a:pt x="115893" y="1055687"/>
                </a:lnTo>
                <a:lnTo>
                  <a:pt x="95738" y="1017587"/>
                </a:lnTo>
                <a:lnTo>
                  <a:pt x="75583" y="981075"/>
                </a:lnTo>
                <a:lnTo>
                  <a:pt x="55427" y="942975"/>
                </a:lnTo>
                <a:lnTo>
                  <a:pt x="38632" y="901700"/>
                </a:lnTo>
                <a:lnTo>
                  <a:pt x="23515" y="854075"/>
                </a:lnTo>
                <a:lnTo>
                  <a:pt x="11758" y="801687"/>
                </a:lnTo>
                <a:lnTo>
                  <a:pt x="3359" y="744537"/>
                </a:lnTo>
                <a:lnTo>
                  <a:pt x="0" y="673100"/>
                </a:lnTo>
                <a:lnTo>
                  <a:pt x="3359" y="606425"/>
                </a:lnTo>
                <a:lnTo>
                  <a:pt x="11758" y="546100"/>
                </a:lnTo>
                <a:lnTo>
                  <a:pt x="23515" y="496887"/>
                </a:lnTo>
                <a:lnTo>
                  <a:pt x="38632" y="450850"/>
                </a:lnTo>
                <a:lnTo>
                  <a:pt x="55427" y="409575"/>
                </a:lnTo>
                <a:lnTo>
                  <a:pt x="73903" y="369887"/>
                </a:lnTo>
                <a:lnTo>
                  <a:pt x="92379" y="334962"/>
                </a:lnTo>
                <a:lnTo>
                  <a:pt x="112534" y="296862"/>
                </a:lnTo>
                <a:lnTo>
                  <a:pt x="132689" y="260350"/>
                </a:lnTo>
                <a:lnTo>
                  <a:pt x="149485" y="217487"/>
                </a:lnTo>
                <a:lnTo>
                  <a:pt x="166281" y="174625"/>
                </a:lnTo>
                <a:lnTo>
                  <a:pt x="176358" y="122237"/>
                </a:lnTo>
                <a:lnTo>
                  <a:pt x="184756" y="66675"/>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23" name="Freeform: Shape 22">
            <a:extLst>
              <a:ext uri="{FF2B5EF4-FFF2-40B4-BE49-F238E27FC236}">
                <a16:creationId xmlns:a16="http://schemas.microsoft.com/office/drawing/2014/main" id="{BD9D725B-1ED5-4368-89B7-6DB5C1B3EB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7100346" cy="6858000"/>
          </a:xfrm>
          <a:custGeom>
            <a:avLst/>
            <a:gdLst>
              <a:gd name="connsiteX0" fmla="*/ 0 w 7100346"/>
              <a:gd name="connsiteY0" fmla="*/ 0 h 6858000"/>
              <a:gd name="connsiteX1" fmla="*/ 6955967 w 7100346"/>
              <a:gd name="connsiteY1" fmla="*/ 0 h 6858000"/>
              <a:gd name="connsiteX2" fmla="*/ 7100346 w 7100346"/>
              <a:gd name="connsiteY2" fmla="*/ 0 h 6858000"/>
              <a:gd name="connsiteX3" fmla="*/ 7095307 w 7100346"/>
              <a:gd name="connsiteY3" fmla="*/ 66675 h 6858000"/>
              <a:gd name="connsiteX4" fmla="*/ 7086909 w 7100346"/>
              <a:gd name="connsiteY4" fmla="*/ 122237 h 6858000"/>
              <a:gd name="connsiteX5" fmla="*/ 7076832 w 7100346"/>
              <a:gd name="connsiteY5" fmla="*/ 174625 h 6858000"/>
              <a:gd name="connsiteX6" fmla="*/ 7060036 w 7100346"/>
              <a:gd name="connsiteY6" fmla="*/ 217487 h 6858000"/>
              <a:gd name="connsiteX7" fmla="*/ 7043240 w 7100346"/>
              <a:gd name="connsiteY7" fmla="*/ 260350 h 6858000"/>
              <a:gd name="connsiteX8" fmla="*/ 7023085 w 7100346"/>
              <a:gd name="connsiteY8" fmla="*/ 296862 h 6858000"/>
              <a:gd name="connsiteX9" fmla="*/ 7002930 w 7100346"/>
              <a:gd name="connsiteY9" fmla="*/ 334962 h 6858000"/>
              <a:gd name="connsiteX10" fmla="*/ 6984454 w 7100346"/>
              <a:gd name="connsiteY10" fmla="*/ 369887 h 6858000"/>
              <a:gd name="connsiteX11" fmla="*/ 6965978 w 7100346"/>
              <a:gd name="connsiteY11" fmla="*/ 409575 h 6858000"/>
              <a:gd name="connsiteX12" fmla="*/ 6949183 w 7100346"/>
              <a:gd name="connsiteY12" fmla="*/ 450850 h 6858000"/>
              <a:gd name="connsiteX13" fmla="*/ 6934066 w 7100346"/>
              <a:gd name="connsiteY13" fmla="*/ 496887 h 6858000"/>
              <a:gd name="connsiteX14" fmla="*/ 6922309 w 7100346"/>
              <a:gd name="connsiteY14" fmla="*/ 546100 h 6858000"/>
              <a:gd name="connsiteX15" fmla="*/ 6913910 w 7100346"/>
              <a:gd name="connsiteY15" fmla="*/ 606425 h 6858000"/>
              <a:gd name="connsiteX16" fmla="*/ 6910551 w 7100346"/>
              <a:gd name="connsiteY16" fmla="*/ 673100 h 6858000"/>
              <a:gd name="connsiteX17" fmla="*/ 6913910 w 7100346"/>
              <a:gd name="connsiteY17" fmla="*/ 744537 h 6858000"/>
              <a:gd name="connsiteX18" fmla="*/ 6922309 w 7100346"/>
              <a:gd name="connsiteY18" fmla="*/ 801687 h 6858000"/>
              <a:gd name="connsiteX19" fmla="*/ 6934066 w 7100346"/>
              <a:gd name="connsiteY19" fmla="*/ 854075 h 6858000"/>
              <a:gd name="connsiteX20" fmla="*/ 6949183 w 7100346"/>
              <a:gd name="connsiteY20" fmla="*/ 901700 h 6858000"/>
              <a:gd name="connsiteX21" fmla="*/ 6965978 w 7100346"/>
              <a:gd name="connsiteY21" fmla="*/ 942975 h 6858000"/>
              <a:gd name="connsiteX22" fmla="*/ 6986134 w 7100346"/>
              <a:gd name="connsiteY22" fmla="*/ 981075 h 6858000"/>
              <a:gd name="connsiteX23" fmla="*/ 7006289 w 7100346"/>
              <a:gd name="connsiteY23" fmla="*/ 1017587 h 6858000"/>
              <a:gd name="connsiteX24" fmla="*/ 7026444 w 7100346"/>
              <a:gd name="connsiteY24" fmla="*/ 1055687 h 6858000"/>
              <a:gd name="connsiteX25" fmla="*/ 7044919 w 7100346"/>
              <a:gd name="connsiteY25" fmla="*/ 1095375 h 6858000"/>
              <a:gd name="connsiteX26" fmla="*/ 7063395 w 7100346"/>
              <a:gd name="connsiteY26" fmla="*/ 1136650 h 6858000"/>
              <a:gd name="connsiteX27" fmla="*/ 7078511 w 7100346"/>
              <a:gd name="connsiteY27" fmla="*/ 1182687 h 6858000"/>
              <a:gd name="connsiteX28" fmla="*/ 7088589 w 7100346"/>
              <a:gd name="connsiteY28" fmla="*/ 1235075 h 6858000"/>
              <a:gd name="connsiteX29" fmla="*/ 7098666 w 7100346"/>
              <a:gd name="connsiteY29" fmla="*/ 1295400 h 6858000"/>
              <a:gd name="connsiteX30" fmla="*/ 7100346 w 7100346"/>
              <a:gd name="connsiteY30" fmla="*/ 1363662 h 6858000"/>
              <a:gd name="connsiteX31" fmla="*/ 7098666 w 7100346"/>
              <a:gd name="connsiteY31" fmla="*/ 1431925 h 6858000"/>
              <a:gd name="connsiteX32" fmla="*/ 7088589 w 7100346"/>
              <a:gd name="connsiteY32" fmla="*/ 1492250 h 6858000"/>
              <a:gd name="connsiteX33" fmla="*/ 7078511 w 7100346"/>
              <a:gd name="connsiteY33" fmla="*/ 1544637 h 6858000"/>
              <a:gd name="connsiteX34" fmla="*/ 7063395 w 7100346"/>
              <a:gd name="connsiteY34" fmla="*/ 1589087 h 6858000"/>
              <a:gd name="connsiteX35" fmla="*/ 7044919 w 7100346"/>
              <a:gd name="connsiteY35" fmla="*/ 1631950 h 6858000"/>
              <a:gd name="connsiteX36" fmla="*/ 7026444 w 7100346"/>
              <a:gd name="connsiteY36" fmla="*/ 1671637 h 6858000"/>
              <a:gd name="connsiteX37" fmla="*/ 7006289 w 7100346"/>
              <a:gd name="connsiteY37" fmla="*/ 1708150 h 6858000"/>
              <a:gd name="connsiteX38" fmla="*/ 6986134 w 7100346"/>
              <a:gd name="connsiteY38" fmla="*/ 1743075 h 6858000"/>
              <a:gd name="connsiteX39" fmla="*/ 6965978 w 7100346"/>
              <a:gd name="connsiteY39" fmla="*/ 1782762 h 6858000"/>
              <a:gd name="connsiteX40" fmla="*/ 6949183 w 7100346"/>
              <a:gd name="connsiteY40" fmla="*/ 1824037 h 6858000"/>
              <a:gd name="connsiteX41" fmla="*/ 6934066 w 7100346"/>
              <a:gd name="connsiteY41" fmla="*/ 1870075 h 6858000"/>
              <a:gd name="connsiteX42" fmla="*/ 6922309 w 7100346"/>
              <a:gd name="connsiteY42" fmla="*/ 1922462 h 6858000"/>
              <a:gd name="connsiteX43" fmla="*/ 6913910 w 7100346"/>
              <a:gd name="connsiteY43" fmla="*/ 1982787 h 6858000"/>
              <a:gd name="connsiteX44" fmla="*/ 6910551 w 7100346"/>
              <a:gd name="connsiteY44" fmla="*/ 2051050 h 6858000"/>
              <a:gd name="connsiteX45" fmla="*/ 6913910 w 7100346"/>
              <a:gd name="connsiteY45" fmla="*/ 2119312 h 6858000"/>
              <a:gd name="connsiteX46" fmla="*/ 6922309 w 7100346"/>
              <a:gd name="connsiteY46" fmla="*/ 2179637 h 6858000"/>
              <a:gd name="connsiteX47" fmla="*/ 6934066 w 7100346"/>
              <a:gd name="connsiteY47" fmla="*/ 2232025 h 6858000"/>
              <a:gd name="connsiteX48" fmla="*/ 6949183 w 7100346"/>
              <a:gd name="connsiteY48" fmla="*/ 2278062 h 6858000"/>
              <a:gd name="connsiteX49" fmla="*/ 6965978 w 7100346"/>
              <a:gd name="connsiteY49" fmla="*/ 2319337 h 6858000"/>
              <a:gd name="connsiteX50" fmla="*/ 6986134 w 7100346"/>
              <a:gd name="connsiteY50" fmla="*/ 2359025 h 6858000"/>
              <a:gd name="connsiteX51" fmla="*/ 7006289 w 7100346"/>
              <a:gd name="connsiteY51" fmla="*/ 2395537 h 6858000"/>
              <a:gd name="connsiteX52" fmla="*/ 7026444 w 7100346"/>
              <a:gd name="connsiteY52" fmla="*/ 2433637 h 6858000"/>
              <a:gd name="connsiteX53" fmla="*/ 7044919 w 7100346"/>
              <a:gd name="connsiteY53" fmla="*/ 2471737 h 6858000"/>
              <a:gd name="connsiteX54" fmla="*/ 7063395 w 7100346"/>
              <a:gd name="connsiteY54" fmla="*/ 2513012 h 6858000"/>
              <a:gd name="connsiteX55" fmla="*/ 7078511 w 7100346"/>
              <a:gd name="connsiteY55" fmla="*/ 2560637 h 6858000"/>
              <a:gd name="connsiteX56" fmla="*/ 7088589 w 7100346"/>
              <a:gd name="connsiteY56" fmla="*/ 2613025 h 6858000"/>
              <a:gd name="connsiteX57" fmla="*/ 7098666 w 7100346"/>
              <a:gd name="connsiteY57" fmla="*/ 2671762 h 6858000"/>
              <a:gd name="connsiteX58" fmla="*/ 7100346 w 7100346"/>
              <a:gd name="connsiteY58" fmla="*/ 2741612 h 6858000"/>
              <a:gd name="connsiteX59" fmla="*/ 7098666 w 7100346"/>
              <a:gd name="connsiteY59" fmla="*/ 2809875 h 6858000"/>
              <a:gd name="connsiteX60" fmla="*/ 7088589 w 7100346"/>
              <a:gd name="connsiteY60" fmla="*/ 2868612 h 6858000"/>
              <a:gd name="connsiteX61" fmla="*/ 7078511 w 7100346"/>
              <a:gd name="connsiteY61" fmla="*/ 2922587 h 6858000"/>
              <a:gd name="connsiteX62" fmla="*/ 7063395 w 7100346"/>
              <a:gd name="connsiteY62" fmla="*/ 2967037 h 6858000"/>
              <a:gd name="connsiteX63" fmla="*/ 7044919 w 7100346"/>
              <a:gd name="connsiteY63" fmla="*/ 3009900 h 6858000"/>
              <a:gd name="connsiteX64" fmla="*/ 7026444 w 7100346"/>
              <a:gd name="connsiteY64" fmla="*/ 3046412 h 6858000"/>
              <a:gd name="connsiteX65" fmla="*/ 7006289 w 7100346"/>
              <a:gd name="connsiteY65" fmla="*/ 3084512 h 6858000"/>
              <a:gd name="connsiteX66" fmla="*/ 6986134 w 7100346"/>
              <a:gd name="connsiteY66" fmla="*/ 3121025 h 6858000"/>
              <a:gd name="connsiteX67" fmla="*/ 6965978 w 7100346"/>
              <a:gd name="connsiteY67" fmla="*/ 3160712 h 6858000"/>
              <a:gd name="connsiteX68" fmla="*/ 6949183 w 7100346"/>
              <a:gd name="connsiteY68" fmla="*/ 3201987 h 6858000"/>
              <a:gd name="connsiteX69" fmla="*/ 6934066 w 7100346"/>
              <a:gd name="connsiteY69" fmla="*/ 3248025 h 6858000"/>
              <a:gd name="connsiteX70" fmla="*/ 6922309 w 7100346"/>
              <a:gd name="connsiteY70" fmla="*/ 3300412 h 6858000"/>
              <a:gd name="connsiteX71" fmla="*/ 6913910 w 7100346"/>
              <a:gd name="connsiteY71" fmla="*/ 3360737 h 6858000"/>
              <a:gd name="connsiteX72" fmla="*/ 6910551 w 7100346"/>
              <a:gd name="connsiteY72" fmla="*/ 3427412 h 6858000"/>
              <a:gd name="connsiteX73" fmla="*/ 6913910 w 7100346"/>
              <a:gd name="connsiteY73" fmla="*/ 3497262 h 6858000"/>
              <a:gd name="connsiteX74" fmla="*/ 6922309 w 7100346"/>
              <a:gd name="connsiteY74" fmla="*/ 3557587 h 6858000"/>
              <a:gd name="connsiteX75" fmla="*/ 6934066 w 7100346"/>
              <a:gd name="connsiteY75" fmla="*/ 3609975 h 6858000"/>
              <a:gd name="connsiteX76" fmla="*/ 6949183 w 7100346"/>
              <a:gd name="connsiteY76" fmla="*/ 3656012 h 6858000"/>
              <a:gd name="connsiteX77" fmla="*/ 6965978 w 7100346"/>
              <a:gd name="connsiteY77" fmla="*/ 3697287 h 6858000"/>
              <a:gd name="connsiteX78" fmla="*/ 6986134 w 7100346"/>
              <a:gd name="connsiteY78" fmla="*/ 3736975 h 6858000"/>
              <a:gd name="connsiteX79" fmla="*/ 7026444 w 7100346"/>
              <a:gd name="connsiteY79" fmla="*/ 3811587 h 6858000"/>
              <a:gd name="connsiteX80" fmla="*/ 7044919 w 7100346"/>
              <a:gd name="connsiteY80" fmla="*/ 3848100 h 6858000"/>
              <a:gd name="connsiteX81" fmla="*/ 7063395 w 7100346"/>
              <a:gd name="connsiteY81" fmla="*/ 3890962 h 6858000"/>
              <a:gd name="connsiteX82" fmla="*/ 7078511 w 7100346"/>
              <a:gd name="connsiteY82" fmla="*/ 3935412 h 6858000"/>
              <a:gd name="connsiteX83" fmla="*/ 7088589 w 7100346"/>
              <a:gd name="connsiteY83" fmla="*/ 3987800 h 6858000"/>
              <a:gd name="connsiteX84" fmla="*/ 7098666 w 7100346"/>
              <a:gd name="connsiteY84" fmla="*/ 4048125 h 6858000"/>
              <a:gd name="connsiteX85" fmla="*/ 7100346 w 7100346"/>
              <a:gd name="connsiteY85" fmla="*/ 4116387 h 6858000"/>
              <a:gd name="connsiteX86" fmla="*/ 7098666 w 7100346"/>
              <a:gd name="connsiteY86" fmla="*/ 4186237 h 6858000"/>
              <a:gd name="connsiteX87" fmla="*/ 7088589 w 7100346"/>
              <a:gd name="connsiteY87" fmla="*/ 4244975 h 6858000"/>
              <a:gd name="connsiteX88" fmla="*/ 7078511 w 7100346"/>
              <a:gd name="connsiteY88" fmla="*/ 4297362 h 6858000"/>
              <a:gd name="connsiteX89" fmla="*/ 7063395 w 7100346"/>
              <a:gd name="connsiteY89" fmla="*/ 4343400 h 6858000"/>
              <a:gd name="connsiteX90" fmla="*/ 7044919 w 7100346"/>
              <a:gd name="connsiteY90" fmla="*/ 4386262 h 6858000"/>
              <a:gd name="connsiteX91" fmla="*/ 7026444 w 7100346"/>
              <a:gd name="connsiteY91" fmla="*/ 4424362 h 6858000"/>
              <a:gd name="connsiteX92" fmla="*/ 6986134 w 7100346"/>
              <a:gd name="connsiteY92" fmla="*/ 4498975 h 6858000"/>
              <a:gd name="connsiteX93" fmla="*/ 6965978 w 7100346"/>
              <a:gd name="connsiteY93" fmla="*/ 4537075 h 6858000"/>
              <a:gd name="connsiteX94" fmla="*/ 6949183 w 7100346"/>
              <a:gd name="connsiteY94" fmla="*/ 4579937 h 6858000"/>
              <a:gd name="connsiteX95" fmla="*/ 6934066 w 7100346"/>
              <a:gd name="connsiteY95" fmla="*/ 4625975 h 6858000"/>
              <a:gd name="connsiteX96" fmla="*/ 6922309 w 7100346"/>
              <a:gd name="connsiteY96" fmla="*/ 4678362 h 6858000"/>
              <a:gd name="connsiteX97" fmla="*/ 6913910 w 7100346"/>
              <a:gd name="connsiteY97" fmla="*/ 4738687 h 6858000"/>
              <a:gd name="connsiteX98" fmla="*/ 6910551 w 7100346"/>
              <a:gd name="connsiteY98" fmla="*/ 4806950 h 6858000"/>
              <a:gd name="connsiteX99" fmla="*/ 6913910 w 7100346"/>
              <a:gd name="connsiteY99" fmla="*/ 4875212 h 6858000"/>
              <a:gd name="connsiteX100" fmla="*/ 6922309 w 7100346"/>
              <a:gd name="connsiteY100" fmla="*/ 4935537 h 6858000"/>
              <a:gd name="connsiteX101" fmla="*/ 6934066 w 7100346"/>
              <a:gd name="connsiteY101" fmla="*/ 4987925 h 6858000"/>
              <a:gd name="connsiteX102" fmla="*/ 6949183 w 7100346"/>
              <a:gd name="connsiteY102" fmla="*/ 5033962 h 6858000"/>
              <a:gd name="connsiteX103" fmla="*/ 6965978 w 7100346"/>
              <a:gd name="connsiteY103" fmla="*/ 5075237 h 6858000"/>
              <a:gd name="connsiteX104" fmla="*/ 6986134 w 7100346"/>
              <a:gd name="connsiteY104" fmla="*/ 5114925 h 6858000"/>
              <a:gd name="connsiteX105" fmla="*/ 7006289 w 7100346"/>
              <a:gd name="connsiteY105" fmla="*/ 5149850 h 6858000"/>
              <a:gd name="connsiteX106" fmla="*/ 7026444 w 7100346"/>
              <a:gd name="connsiteY106" fmla="*/ 5186362 h 6858000"/>
              <a:gd name="connsiteX107" fmla="*/ 7044919 w 7100346"/>
              <a:gd name="connsiteY107" fmla="*/ 5226050 h 6858000"/>
              <a:gd name="connsiteX108" fmla="*/ 7063395 w 7100346"/>
              <a:gd name="connsiteY108" fmla="*/ 5268912 h 6858000"/>
              <a:gd name="connsiteX109" fmla="*/ 7078511 w 7100346"/>
              <a:gd name="connsiteY109" fmla="*/ 5313362 h 6858000"/>
              <a:gd name="connsiteX110" fmla="*/ 7088589 w 7100346"/>
              <a:gd name="connsiteY110" fmla="*/ 5365750 h 6858000"/>
              <a:gd name="connsiteX111" fmla="*/ 7098666 w 7100346"/>
              <a:gd name="connsiteY111" fmla="*/ 5426075 h 6858000"/>
              <a:gd name="connsiteX112" fmla="*/ 7100346 w 7100346"/>
              <a:gd name="connsiteY112" fmla="*/ 5494337 h 6858000"/>
              <a:gd name="connsiteX113" fmla="*/ 7098666 w 7100346"/>
              <a:gd name="connsiteY113" fmla="*/ 5562600 h 6858000"/>
              <a:gd name="connsiteX114" fmla="*/ 7088589 w 7100346"/>
              <a:gd name="connsiteY114" fmla="*/ 5622925 h 6858000"/>
              <a:gd name="connsiteX115" fmla="*/ 7078511 w 7100346"/>
              <a:gd name="connsiteY115" fmla="*/ 5675312 h 6858000"/>
              <a:gd name="connsiteX116" fmla="*/ 7063395 w 7100346"/>
              <a:gd name="connsiteY116" fmla="*/ 5721350 h 6858000"/>
              <a:gd name="connsiteX117" fmla="*/ 7044919 w 7100346"/>
              <a:gd name="connsiteY117" fmla="*/ 5762625 h 6858000"/>
              <a:gd name="connsiteX118" fmla="*/ 7026444 w 7100346"/>
              <a:gd name="connsiteY118" fmla="*/ 5802312 h 6858000"/>
              <a:gd name="connsiteX119" fmla="*/ 7006289 w 7100346"/>
              <a:gd name="connsiteY119" fmla="*/ 5840412 h 6858000"/>
              <a:gd name="connsiteX120" fmla="*/ 6986134 w 7100346"/>
              <a:gd name="connsiteY120" fmla="*/ 5876925 h 6858000"/>
              <a:gd name="connsiteX121" fmla="*/ 6965978 w 7100346"/>
              <a:gd name="connsiteY121" fmla="*/ 5915025 h 6858000"/>
              <a:gd name="connsiteX122" fmla="*/ 6949183 w 7100346"/>
              <a:gd name="connsiteY122" fmla="*/ 5956300 h 6858000"/>
              <a:gd name="connsiteX123" fmla="*/ 6934066 w 7100346"/>
              <a:gd name="connsiteY123" fmla="*/ 6003925 h 6858000"/>
              <a:gd name="connsiteX124" fmla="*/ 6922309 w 7100346"/>
              <a:gd name="connsiteY124" fmla="*/ 6056312 h 6858000"/>
              <a:gd name="connsiteX125" fmla="*/ 6913910 w 7100346"/>
              <a:gd name="connsiteY125" fmla="*/ 6113462 h 6858000"/>
              <a:gd name="connsiteX126" fmla="*/ 6910551 w 7100346"/>
              <a:gd name="connsiteY126" fmla="*/ 6183312 h 6858000"/>
              <a:gd name="connsiteX127" fmla="*/ 6913910 w 7100346"/>
              <a:gd name="connsiteY127" fmla="*/ 6251575 h 6858000"/>
              <a:gd name="connsiteX128" fmla="*/ 6922309 w 7100346"/>
              <a:gd name="connsiteY128" fmla="*/ 6311900 h 6858000"/>
              <a:gd name="connsiteX129" fmla="*/ 6934066 w 7100346"/>
              <a:gd name="connsiteY129" fmla="*/ 6361112 h 6858000"/>
              <a:gd name="connsiteX130" fmla="*/ 6949183 w 7100346"/>
              <a:gd name="connsiteY130" fmla="*/ 6407150 h 6858000"/>
              <a:gd name="connsiteX131" fmla="*/ 6965978 w 7100346"/>
              <a:gd name="connsiteY131" fmla="*/ 6448425 h 6858000"/>
              <a:gd name="connsiteX132" fmla="*/ 6984454 w 7100346"/>
              <a:gd name="connsiteY132" fmla="*/ 6488112 h 6858000"/>
              <a:gd name="connsiteX133" fmla="*/ 7002930 w 7100346"/>
              <a:gd name="connsiteY133" fmla="*/ 6523037 h 6858000"/>
              <a:gd name="connsiteX134" fmla="*/ 7023085 w 7100346"/>
              <a:gd name="connsiteY134" fmla="*/ 6561137 h 6858000"/>
              <a:gd name="connsiteX135" fmla="*/ 7043240 w 7100346"/>
              <a:gd name="connsiteY135" fmla="*/ 6597650 h 6858000"/>
              <a:gd name="connsiteX136" fmla="*/ 7060036 w 7100346"/>
              <a:gd name="connsiteY136" fmla="*/ 6640512 h 6858000"/>
              <a:gd name="connsiteX137" fmla="*/ 7076832 w 7100346"/>
              <a:gd name="connsiteY137" fmla="*/ 6683375 h 6858000"/>
              <a:gd name="connsiteX138" fmla="*/ 7086909 w 7100346"/>
              <a:gd name="connsiteY138" fmla="*/ 6735762 h 6858000"/>
              <a:gd name="connsiteX139" fmla="*/ 7095307 w 7100346"/>
              <a:gd name="connsiteY139" fmla="*/ 6791325 h 6858000"/>
              <a:gd name="connsiteX140" fmla="*/ 7100346 w 7100346"/>
              <a:gd name="connsiteY140" fmla="*/ 6858000 h 6858000"/>
              <a:gd name="connsiteX141" fmla="*/ 6955967 w 7100346"/>
              <a:gd name="connsiteY141" fmla="*/ 6858000 h 6858000"/>
              <a:gd name="connsiteX142" fmla="*/ 0 w 7100346"/>
              <a:gd name="connsiteY142"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7100346" h="6858000">
                <a:moveTo>
                  <a:pt x="0" y="0"/>
                </a:moveTo>
                <a:lnTo>
                  <a:pt x="6955967" y="0"/>
                </a:lnTo>
                <a:lnTo>
                  <a:pt x="7100346" y="0"/>
                </a:lnTo>
                <a:lnTo>
                  <a:pt x="7095307" y="66675"/>
                </a:lnTo>
                <a:lnTo>
                  <a:pt x="7086909" y="122237"/>
                </a:lnTo>
                <a:lnTo>
                  <a:pt x="7076832" y="174625"/>
                </a:lnTo>
                <a:lnTo>
                  <a:pt x="7060036" y="217487"/>
                </a:lnTo>
                <a:lnTo>
                  <a:pt x="7043240" y="260350"/>
                </a:lnTo>
                <a:lnTo>
                  <a:pt x="7023085" y="296862"/>
                </a:lnTo>
                <a:lnTo>
                  <a:pt x="7002930" y="334962"/>
                </a:lnTo>
                <a:lnTo>
                  <a:pt x="6984454" y="369887"/>
                </a:lnTo>
                <a:lnTo>
                  <a:pt x="6965978" y="409575"/>
                </a:lnTo>
                <a:lnTo>
                  <a:pt x="6949183" y="450850"/>
                </a:lnTo>
                <a:lnTo>
                  <a:pt x="6934066" y="496887"/>
                </a:lnTo>
                <a:lnTo>
                  <a:pt x="6922309" y="546100"/>
                </a:lnTo>
                <a:lnTo>
                  <a:pt x="6913910" y="606425"/>
                </a:lnTo>
                <a:lnTo>
                  <a:pt x="6910551" y="673100"/>
                </a:lnTo>
                <a:lnTo>
                  <a:pt x="6913910" y="744537"/>
                </a:lnTo>
                <a:lnTo>
                  <a:pt x="6922309" y="801687"/>
                </a:lnTo>
                <a:lnTo>
                  <a:pt x="6934066" y="854075"/>
                </a:lnTo>
                <a:lnTo>
                  <a:pt x="6949183" y="901700"/>
                </a:lnTo>
                <a:lnTo>
                  <a:pt x="6965978" y="942975"/>
                </a:lnTo>
                <a:lnTo>
                  <a:pt x="6986134" y="981075"/>
                </a:lnTo>
                <a:lnTo>
                  <a:pt x="7006289" y="1017587"/>
                </a:lnTo>
                <a:lnTo>
                  <a:pt x="7026444" y="1055687"/>
                </a:lnTo>
                <a:lnTo>
                  <a:pt x="7044919" y="1095375"/>
                </a:lnTo>
                <a:lnTo>
                  <a:pt x="7063395" y="1136650"/>
                </a:lnTo>
                <a:lnTo>
                  <a:pt x="7078511" y="1182687"/>
                </a:lnTo>
                <a:lnTo>
                  <a:pt x="7088589" y="1235075"/>
                </a:lnTo>
                <a:lnTo>
                  <a:pt x="7098666" y="1295400"/>
                </a:lnTo>
                <a:lnTo>
                  <a:pt x="7100346" y="1363662"/>
                </a:lnTo>
                <a:lnTo>
                  <a:pt x="7098666" y="1431925"/>
                </a:lnTo>
                <a:lnTo>
                  <a:pt x="7088589" y="1492250"/>
                </a:lnTo>
                <a:lnTo>
                  <a:pt x="7078511" y="1544637"/>
                </a:lnTo>
                <a:lnTo>
                  <a:pt x="7063395" y="1589087"/>
                </a:lnTo>
                <a:lnTo>
                  <a:pt x="7044919" y="1631950"/>
                </a:lnTo>
                <a:lnTo>
                  <a:pt x="7026444" y="1671637"/>
                </a:lnTo>
                <a:lnTo>
                  <a:pt x="7006289" y="1708150"/>
                </a:lnTo>
                <a:lnTo>
                  <a:pt x="6986134" y="1743075"/>
                </a:lnTo>
                <a:lnTo>
                  <a:pt x="6965978" y="1782762"/>
                </a:lnTo>
                <a:lnTo>
                  <a:pt x="6949183" y="1824037"/>
                </a:lnTo>
                <a:lnTo>
                  <a:pt x="6934066" y="1870075"/>
                </a:lnTo>
                <a:lnTo>
                  <a:pt x="6922309" y="1922462"/>
                </a:lnTo>
                <a:lnTo>
                  <a:pt x="6913910" y="1982787"/>
                </a:lnTo>
                <a:lnTo>
                  <a:pt x="6910551" y="2051050"/>
                </a:lnTo>
                <a:lnTo>
                  <a:pt x="6913910" y="2119312"/>
                </a:lnTo>
                <a:lnTo>
                  <a:pt x="6922309" y="2179637"/>
                </a:lnTo>
                <a:lnTo>
                  <a:pt x="6934066" y="2232025"/>
                </a:lnTo>
                <a:lnTo>
                  <a:pt x="6949183" y="2278062"/>
                </a:lnTo>
                <a:lnTo>
                  <a:pt x="6965978" y="2319337"/>
                </a:lnTo>
                <a:lnTo>
                  <a:pt x="6986134" y="2359025"/>
                </a:lnTo>
                <a:lnTo>
                  <a:pt x="7006289" y="2395537"/>
                </a:lnTo>
                <a:lnTo>
                  <a:pt x="7026444" y="2433637"/>
                </a:lnTo>
                <a:lnTo>
                  <a:pt x="7044919" y="2471737"/>
                </a:lnTo>
                <a:lnTo>
                  <a:pt x="7063395" y="2513012"/>
                </a:lnTo>
                <a:lnTo>
                  <a:pt x="7078511" y="2560637"/>
                </a:lnTo>
                <a:lnTo>
                  <a:pt x="7088589" y="2613025"/>
                </a:lnTo>
                <a:lnTo>
                  <a:pt x="7098666" y="2671762"/>
                </a:lnTo>
                <a:lnTo>
                  <a:pt x="7100346" y="2741612"/>
                </a:lnTo>
                <a:lnTo>
                  <a:pt x="7098666" y="2809875"/>
                </a:lnTo>
                <a:lnTo>
                  <a:pt x="7088589" y="2868612"/>
                </a:lnTo>
                <a:lnTo>
                  <a:pt x="7078511" y="2922587"/>
                </a:lnTo>
                <a:lnTo>
                  <a:pt x="7063395" y="2967037"/>
                </a:lnTo>
                <a:lnTo>
                  <a:pt x="7044919" y="3009900"/>
                </a:lnTo>
                <a:lnTo>
                  <a:pt x="7026444" y="3046412"/>
                </a:lnTo>
                <a:lnTo>
                  <a:pt x="7006289" y="3084512"/>
                </a:lnTo>
                <a:lnTo>
                  <a:pt x="6986134" y="3121025"/>
                </a:lnTo>
                <a:lnTo>
                  <a:pt x="6965978" y="3160712"/>
                </a:lnTo>
                <a:lnTo>
                  <a:pt x="6949183" y="3201987"/>
                </a:lnTo>
                <a:lnTo>
                  <a:pt x="6934066" y="3248025"/>
                </a:lnTo>
                <a:lnTo>
                  <a:pt x="6922309" y="3300412"/>
                </a:lnTo>
                <a:lnTo>
                  <a:pt x="6913910" y="3360737"/>
                </a:lnTo>
                <a:lnTo>
                  <a:pt x="6910551" y="3427412"/>
                </a:lnTo>
                <a:lnTo>
                  <a:pt x="6913910" y="3497262"/>
                </a:lnTo>
                <a:lnTo>
                  <a:pt x="6922309" y="3557587"/>
                </a:lnTo>
                <a:lnTo>
                  <a:pt x="6934066" y="3609975"/>
                </a:lnTo>
                <a:lnTo>
                  <a:pt x="6949183" y="3656012"/>
                </a:lnTo>
                <a:lnTo>
                  <a:pt x="6965978" y="3697287"/>
                </a:lnTo>
                <a:lnTo>
                  <a:pt x="6986134" y="3736975"/>
                </a:lnTo>
                <a:lnTo>
                  <a:pt x="7026444" y="3811587"/>
                </a:lnTo>
                <a:lnTo>
                  <a:pt x="7044919" y="3848100"/>
                </a:lnTo>
                <a:lnTo>
                  <a:pt x="7063395" y="3890962"/>
                </a:lnTo>
                <a:lnTo>
                  <a:pt x="7078511" y="3935412"/>
                </a:lnTo>
                <a:lnTo>
                  <a:pt x="7088589" y="3987800"/>
                </a:lnTo>
                <a:lnTo>
                  <a:pt x="7098666" y="4048125"/>
                </a:lnTo>
                <a:lnTo>
                  <a:pt x="7100346" y="4116387"/>
                </a:lnTo>
                <a:lnTo>
                  <a:pt x="7098666" y="4186237"/>
                </a:lnTo>
                <a:lnTo>
                  <a:pt x="7088589" y="4244975"/>
                </a:lnTo>
                <a:lnTo>
                  <a:pt x="7078511" y="4297362"/>
                </a:lnTo>
                <a:lnTo>
                  <a:pt x="7063395" y="4343400"/>
                </a:lnTo>
                <a:lnTo>
                  <a:pt x="7044919" y="4386262"/>
                </a:lnTo>
                <a:lnTo>
                  <a:pt x="7026444" y="4424362"/>
                </a:lnTo>
                <a:lnTo>
                  <a:pt x="6986134" y="4498975"/>
                </a:lnTo>
                <a:lnTo>
                  <a:pt x="6965978" y="4537075"/>
                </a:lnTo>
                <a:lnTo>
                  <a:pt x="6949183" y="4579937"/>
                </a:lnTo>
                <a:lnTo>
                  <a:pt x="6934066" y="4625975"/>
                </a:lnTo>
                <a:lnTo>
                  <a:pt x="6922309" y="4678362"/>
                </a:lnTo>
                <a:lnTo>
                  <a:pt x="6913910" y="4738687"/>
                </a:lnTo>
                <a:lnTo>
                  <a:pt x="6910551" y="4806950"/>
                </a:lnTo>
                <a:lnTo>
                  <a:pt x="6913910" y="4875212"/>
                </a:lnTo>
                <a:lnTo>
                  <a:pt x="6922309" y="4935537"/>
                </a:lnTo>
                <a:lnTo>
                  <a:pt x="6934066" y="4987925"/>
                </a:lnTo>
                <a:lnTo>
                  <a:pt x="6949183" y="5033962"/>
                </a:lnTo>
                <a:lnTo>
                  <a:pt x="6965978" y="5075237"/>
                </a:lnTo>
                <a:lnTo>
                  <a:pt x="6986134" y="5114925"/>
                </a:lnTo>
                <a:lnTo>
                  <a:pt x="7006289" y="5149850"/>
                </a:lnTo>
                <a:lnTo>
                  <a:pt x="7026444" y="5186362"/>
                </a:lnTo>
                <a:lnTo>
                  <a:pt x="7044919" y="5226050"/>
                </a:lnTo>
                <a:lnTo>
                  <a:pt x="7063395" y="5268912"/>
                </a:lnTo>
                <a:lnTo>
                  <a:pt x="7078511" y="5313362"/>
                </a:lnTo>
                <a:lnTo>
                  <a:pt x="7088589" y="5365750"/>
                </a:lnTo>
                <a:lnTo>
                  <a:pt x="7098666" y="5426075"/>
                </a:lnTo>
                <a:lnTo>
                  <a:pt x="7100346" y="5494337"/>
                </a:lnTo>
                <a:lnTo>
                  <a:pt x="7098666" y="5562600"/>
                </a:lnTo>
                <a:lnTo>
                  <a:pt x="7088589" y="5622925"/>
                </a:lnTo>
                <a:lnTo>
                  <a:pt x="7078511" y="5675312"/>
                </a:lnTo>
                <a:lnTo>
                  <a:pt x="7063395" y="5721350"/>
                </a:lnTo>
                <a:lnTo>
                  <a:pt x="7044919" y="5762625"/>
                </a:lnTo>
                <a:lnTo>
                  <a:pt x="7026444" y="5802312"/>
                </a:lnTo>
                <a:lnTo>
                  <a:pt x="7006289" y="5840412"/>
                </a:lnTo>
                <a:lnTo>
                  <a:pt x="6986134" y="5876925"/>
                </a:lnTo>
                <a:lnTo>
                  <a:pt x="6965978" y="5915025"/>
                </a:lnTo>
                <a:lnTo>
                  <a:pt x="6949183" y="5956300"/>
                </a:lnTo>
                <a:lnTo>
                  <a:pt x="6934066" y="6003925"/>
                </a:lnTo>
                <a:lnTo>
                  <a:pt x="6922309" y="6056312"/>
                </a:lnTo>
                <a:lnTo>
                  <a:pt x="6913910" y="6113462"/>
                </a:lnTo>
                <a:lnTo>
                  <a:pt x="6910551" y="6183312"/>
                </a:lnTo>
                <a:lnTo>
                  <a:pt x="6913910" y="6251575"/>
                </a:lnTo>
                <a:lnTo>
                  <a:pt x="6922309" y="6311900"/>
                </a:lnTo>
                <a:lnTo>
                  <a:pt x="6934066" y="6361112"/>
                </a:lnTo>
                <a:lnTo>
                  <a:pt x="6949183" y="6407150"/>
                </a:lnTo>
                <a:lnTo>
                  <a:pt x="6965978" y="6448425"/>
                </a:lnTo>
                <a:lnTo>
                  <a:pt x="6984454" y="6488112"/>
                </a:lnTo>
                <a:lnTo>
                  <a:pt x="7002930" y="6523037"/>
                </a:lnTo>
                <a:lnTo>
                  <a:pt x="7023085" y="6561137"/>
                </a:lnTo>
                <a:lnTo>
                  <a:pt x="7043240" y="6597650"/>
                </a:lnTo>
                <a:lnTo>
                  <a:pt x="7060036" y="6640512"/>
                </a:lnTo>
                <a:lnTo>
                  <a:pt x="7076832" y="6683375"/>
                </a:lnTo>
                <a:lnTo>
                  <a:pt x="7086909" y="6735762"/>
                </a:lnTo>
                <a:lnTo>
                  <a:pt x="7095307" y="6791325"/>
                </a:lnTo>
                <a:lnTo>
                  <a:pt x="7100346" y="6858000"/>
                </a:lnTo>
                <a:lnTo>
                  <a:pt x="6955967" y="6858000"/>
                </a:lnTo>
                <a:lnTo>
                  <a:pt x="0" y="6858000"/>
                </a:lnTo>
                <a:close/>
              </a:path>
            </a:pathLst>
          </a:custGeom>
          <a:solidFill>
            <a:schemeClr val="accent1">
              <a:lumMod val="50000"/>
              <a:alpha val="25000"/>
            </a:schemeClr>
          </a:solidFill>
          <a:ln w="0">
            <a:noFill/>
            <a:prstDash val="solid"/>
            <a:round/>
            <a:headEnd/>
            <a:tailEnd/>
          </a:ln>
        </p:spPr>
        <p:txBody>
          <a:bodyPr wrap="square" rtlCol="0" anchor="ctr">
            <a:noAutofit/>
          </a:bodyPr>
          <a:lstStyle/>
          <a:p>
            <a:pPr algn="ctr" defTabSz="457200"/>
            <a:endParaRPr lang="en-US">
              <a:solidFill>
                <a:schemeClr val="tx1"/>
              </a:solidFill>
            </a:endParaRPr>
          </a:p>
        </p:txBody>
      </p:sp>
      <p:sp>
        <p:nvSpPr>
          <p:cNvPr id="2" name="Title 1">
            <a:extLst>
              <a:ext uri="{FF2B5EF4-FFF2-40B4-BE49-F238E27FC236}">
                <a16:creationId xmlns:a16="http://schemas.microsoft.com/office/drawing/2014/main" id="{70AF292D-09F1-20F2-CFB8-4771C587B4CA}"/>
              </a:ext>
            </a:extLst>
          </p:cNvPr>
          <p:cNvSpPr>
            <a:spLocks noGrp="1"/>
          </p:cNvSpPr>
          <p:nvPr>
            <p:ph type="title"/>
          </p:nvPr>
        </p:nvSpPr>
        <p:spPr>
          <a:xfrm>
            <a:off x="-1064664" y="186964"/>
            <a:ext cx="10357726" cy="1284092"/>
          </a:xfrm>
        </p:spPr>
        <p:txBody>
          <a:bodyPr vert="horz" lIns="91440" tIns="45720" rIns="91440" bIns="45720" rtlCol="0" anchor="ctr">
            <a:normAutofit/>
          </a:bodyPr>
          <a:lstStyle/>
          <a:p>
            <a:pPr algn="ctr"/>
            <a:r>
              <a:rPr lang="en-US" b="1" kern="1200">
                <a:latin typeface="+mj-lt"/>
                <a:ea typeface="+mj-ea"/>
                <a:cs typeface="+mj-cs"/>
              </a:rPr>
              <a:t>Let’s hear from you...</a:t>
            </a:r>
            <a:endParaRPr lang="en-US" b="1" kern="1200">
              <a:latin typeface="+mj-lt"/>
              <a:cs typeface="Calibri Light"/>
            </a:endParaRPr>
          </a:p>
        </p:txBody>
      </p:sp>
      <p:pic>
        <p:nvPicPr>
          <p:cNvPr id="7" name="Content Placeholder 6" descr="Headphones">
            <a:extLst>
              <a:ext uri="{FF2B5EF4-FFF2-40B4-BE49-F238E27FC236}">
                <a16:creationId xmlns:a16="http://schemas.microsoft.com/office/drawing/2014/main" id="{29045689-E20B-648A-2C84-7BD1EB6BBC56}"/>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805604" y="1654902"/>
            <a:ext cx="3548195" cy="3548195"/>
          </a:xfrm>
          <a:prstGeom prst="rect">
            <a:avLst/>
          </a:prstGeom>
        </p:spPr>
      </p:pic>
      <p:pic>
        <p:nvPicPr>
          <p:cNvPr id="3" name="Picture 2" descr="Logo&#10;&#10;Description automatically generated with medium confidence">
            <a:extLst>
              <a:ext uri="{FF2B5EF4-FFF2-40B4-BE49-F238E27FC236}">
                <a16:creationId xmlns:a16="http://schemas.microsoft.com/office/drawing/2014/main" id="{0A508916-B5CD-75CC-322F-4C6FC30F3A96}"/>
              </a:ext>
            </a:extLst>
          </p:cNvPr>
          <p:cNvPicPr>
            <a:picLocks noChangeAspect="1"/>
          </p:cNvPicPr>
          <p:nvPr/>
        </p:nvPicPr>
        <p:blipFill>
          <a:blip r:embed="rId5"/>
          <a:stretch>
            <a:fillRect/>
          </a:stretch>
        </p:blipFill>
        <p:spPr>
          <a:xfrm>
            <a:off x="10687155" y="5971215"/>
            <a:ext cx="1333287" cy="660334"/>
          </a:xfrm>
          <a:prstGeom prst="rect">
            <a:avLst/>
          </a:prstGeom>
        </p:spPr>
      </p:pic>
      <p:sp>
        <p:nvSpPr>
          <p:cNvPr id="5" name="TextBox 4">
            <a:extLst>
              <a:ext uri="{FF2B5EF4-FFF2-40B4-BE49-F238E27FC236}">
                <a16:creationId xmlns:a16="http://schemas.microsoft.com/office/drawing/2014/main" id="{39535FFF-F80F-0BD2-F9D3-F7B12F154C12}"/>
              </a:ext>
            </a:extLst>
          </p:cNvPr>
          <p:cNvSpPr txBox="1"/>
          <p:nvPr/>
        </p:nvSpPr>
        <p:spPr>
          <a:xfrm>
            <a:off x="409460" y="1869195"/>
            <a:ext cx="6406308" cy="21852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Char char="•"/>
            </a:pPr>
            <a:r>
              <a:rPr lang="en-US" sz="2000">
                <a:cs typeface="Arial"/>
              </a:rPr>
              <a:t>Are there ways you could be using </a:t>
            </a:r>
            <a:r>
              <a:rPr lang="en-US" sz="2000" b="1" i="1" u="sng">
                <a:cs typeface="Arial"/>
              </a:rPr>
              <a:t>existing </a:t>
            </a:r>
            <a:r>
              <a:rPr lang="en-US" sz="2000">
                <a:cs typeface="Arial"/>
              </a:rPr>
              <a:t>resources differently in order to increase competitive integrated employment and/or community integration? ​</a:t>
            </a:r>
          </a:p>
          <a:p>
            <a:endParaRPr lang="en-US" sz="2000">
              <a:ea typeface="Calibri"/>
              <a:cs typeface="Arial"/>
            </a:endParaRPr>
          </a:p>
          <a:p>
            <a:pPr marL="228600" indent="-228600">
              <a:buChar char="•"/>
            </a:pPr>
            <a:r>
              <a:rPr lang="en-US" sz="2000">
                <a:ea typeface="Calibri"/>
                <a:cs typeface="Arial"/>
              </a:rPr>
              <a:t>Do you have existing legacy staff that can be used differently?  How? </a:t>
            </a:r>
          </a:p>
          <a:p>
            <a:pPr marL="228600" lvl="1" indent="-228600">
              <a:buChar char="•"/>
            </a:pPr>
            <a:endParaRPr lang="en-US" sz="1600">
              <a:ea typeface="Calibri"/>
              <a:cs typeface="Arial"/>
            </a:endParaRPr>
          </a:p>
        </p:txBody>
      </p:sp>
    </p:spTree>
    <p:extLst>
      <p:ext uri="{BB962C8B-B14F-4D97-AF65-F5344CB8AC3E}">
        <p14:creationId xmlns:p14="http://schemas.microsoft.com/office/powerpoint/2010/main" val="32298984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9264BFD-360D-430E-B593-7BC0D00FBD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A4538145-ACBA-40C0-AFBD-DE742723D57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2191996" cy="6858000"/>
            <a:chOff x="1" y="0"/>
            <a:chExt cx="12191996" cy="6858000"/>
          </a:xfrm>
        </p:grpSpPr>
        <p:sp useBgFill="1">
          <p:nvSpPr>
            <p:cNvPr id="13" name="Rectangle 12">
              <a:extLst>
                <a:ext uri="{FF2B5EF4-FFF2-40B4-BE49-F238E27FC236}">
                  <a16:creationId xmlns:a16="http://schemas.microsoft.com/office/drawing/2014/main" id="{7BAD3960-6DE9-4457-8083-F6FFBD58D7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ltGray">
            <a:xfrm>
              <a:off x="1" y="0"/>
              <a:ext cx="12191996" cy="6858000"/>
            </a:xfrm>
            <a:prstGeom prst="rect">
              <a:avLst/>
            </a:prstGeom>
            <a:ln w="0">
              <a:noFill/>
              <a:prstDash val="solid"/>
              <a:round/>
              <a:headEnd/>
              <a:tailEnd/>
            </a:ln>
          </p:spPr>
          <p:txBody>
            <a:bodyPr rtlCol="0" anchor="ctr"/>
            <a:lstStyle/>
            <a:p>
              <a:pPr algn="ctr" defTabSz="457200"/>
              <a:endParaRPr lang="en-US">
                <a:solidFill>
                  <a:schemeClr val="tx1"/>
                </a:solidFill>
              </a:endParaRPr>
            </a:p>
          </p:txBody>
        </p:sp>
        <p:sp>
          <p:nvSpPr>
            <p:cNvPr id="14" name="Rectangle 13">
              <a:extLst>
                <a:ext uri="{FF2B5EF4-FFF2-40B4-BE49-F238E27FC236}">
                  <a16:creationId xmlns:a16="http://schemas.microsoft.com/office/drawing/2014/main" id="{F3F5E368-26F9-408D-9C1D-D007FCE0C2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ltGray">
            <a:xfrm>
              <a:off x="1" y="0"/>
              <a:ext cx="12191996" cy="6858000"/>
            </a:xfrm>
            <a:prstGeom prst="rect">
              <a:avLst/>
            </a:prstGeom>
            <a:solidFill>
              <a:schemeClr val="accent1">
                <a:lumMod val="50000"/>
                <a:alpha val="25000"/>
              </a:schemeClr>
            </a:solidFill>
            <a:ln w="0">
              <a:noFill/>
              <a:prstDash val="solid"/>
              <a:round/>
              <a:headEnd/>
              <a:tailEnd/>
            </a:ln>
          </p:spPr>
          <p:txBody>
            <a:bodyPr rtlCol="0" anchor="ctr"/>
            <a:lstStyle/>
            <a:p>
              <a:pPr algn="ctr" defTabSz="457200"/>
              <a:endParaRPr lang="en-US">
                <a:solidFill>
                  <a:schemeClr val="tx1"/>
                </a:solidFill>
              </a:endParaRPr>
            </a:p>
          </p:txBody>
        </p:sp>
      </p:grpSp>
      <p:sp>
        <p:nvSpPr>
          <p:cNvPr id="2" name="Title 1">
            <a:extLst>
              <a:ext uri="{FF2B5EF4-FFF2-40B4-BE49-F238E27FC236}">
                <a16:creationId xmlns:a16="http://schemas.microsoft.com/office/drawing/2014/main" id="{12F1EAEC-C06F-4B7D-73E6-4C19FFF6689F}"/>
              </a:ext>
            </a:extLst>
          </p:cNvPr>
          <p:cNvSpPr>
            <a:spLocks noGrp="1"/>
          </p:cNvSpPr>
          <p:nvPr>
            <p:ph type="title"/>
          </p:nvPr>
        </p:nvSpPr>
        <p:spPr>
          <a:xfrm>
            <a:off x="370280" y="634858"/>
            <a:ext cx="5552825" cy="1492132"/>
          </a:xfrm>
        </p:spPr>
        <p:txBody>
          <a:bodyPr anchor="t">
            <a:normAutofit/>
          </a:bodyPr>
          <a:lstStyle/>
          <a:p>
            <a:r>
              <a:rPr lang="en-US" b="1"/>
              <a:t>Last 2 Scheduled CoPs</a:t>
            </a:r>
            <a:endParaRPr lang="en-US" b="1">
              <a:ea typeface="Calibri Light"/>
              <a:cs typeface="Calibri Light"/>
            </a:endParaRPr>
          </a:p>
        </p:txBody>
      </p:sp>
      <p:sp>
        <p:nvSpPr>
          <p:cNvPr id="3" name="Content Placeholder 2">
            <a:extLst>
              <a:ext uri="{FF2B5EF4-FFF2-40B4-BE49-F238E27FC236}">
                <a16:creationId xmlns:a16="http://schemas.microsoft.com/office/drawing/2014/main" id="{414F320B-8E44-1B20-5B76-E2CBEA9CDC19}"/>
              </a:ext>
            </a:extLst>
          </p:cNvPr>
          <p:cNvSpPr>
            <a:spLocks noGrp="1"/>
          </p:cNvSpPr>
          <p:nvPr>
            <p:ph idx="1"/>
          </p:nvPr>
        </p:nvSpPr>
        <p:spPr>
          <a:xfrm>
            <a:off x="765052" y="1322026"/>
            <a:ext cx="5809950" cy="1502737"/>
          </a:xfrm>
        </p:spPr>
        <p:txBody>
          <a:bodyPr vert="horz" lIns="91440" tIns="45720" rIns="91440" bIns="45720" rtlCol="0" anchor="t">
            <a:normAutofit/>
          </a:bodyPr>
          <a:lstStyle/>
          <a:p>
            <a:r>
              <a:rPr lang="en-US" sz="3200">
                <a:solidFill>
                  <a:schemeClr val="tx1">
                    <a:alpha val="60000"/>
                  </a:schemeClr>
                </a:solidFill>
              </a:rPr>
              <a:t>February 28</a:t>
            </a:r>
            <a:endParaRPr lang="en-US">
              <a:solidFill>
                <a:schemeClr val="tx1">
                  <a:alpha val="60000"/>
                </a:schemeClr>
              </a:solidFill>
              <a:ea typeface="Calibri" panose="020F0502020204030204"/>
              <a:cs typeface="Calibri" panose="020F0502020204030204"/>
            </a:endParaRPr>
          </a:p>
          <a:p>
            <a:r>
              <a:rPr lang="en-US" sz="3200">
                <a:solidFill>
                  <a:schemeClr val="tx1">
                    <a:alpha val="60000"/>
                  </a:schemeClr>
                </a:solidFill>
                <a:ea typeface="Calibri"/>
                <a:cs typeface="Calibri"/>
              </a:rPr>
              <a:t>March 27 </a:t>
            </a:r>
          </a:p>
          <a:p>
            <a:pPr marL="0" indent="0">
              <a:buNone/>
            </a:pPr>
            <a:endParaRPr lang="en-US" sz="3200">
              <a:solidFill>
                <a:srgbClr val="000000">
                  <a:alpha val="60000"/>
                </a:srgbClr>
              </a:solidFill>
              <a:ea typeface="Calibri"/>
              <a:cs typeface="Calibri"/>
            </a:endParaRPr>
          </a:p>
        </p:txBody>
      </p:sp>
      <p:sp>
        <p:nvSpPr>
          <p:cNvPr id="16" name="Freeform: Shape 15">
            <a:extLst>
              <a:ext uri="{FF2B5EF4-FFF2-40B4-BE49-F238E27FC236}">
                <a16:creationId xmlns:a16="http://schemas.microsoft.com/office/drawing/2014/main" id="{F249C1C3-EBDE-4C27-BD12-A6AE40A4D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87375" y="0"/>
            <a:ext cx="6404625" cy="6373368"/>
          </a:xfrm>
          <a:custGeom>
            <a:avLst/>
            <a:gdLst>
              <a:gd name="connsiteX0" fmla="*/ 353272 w 6404625"/>
              <a:gd name="connsiteY0" fmla="*/ 0 h 6373368"/>
              <a:gd name="connsiteX1" fmla="*/ 6404625 w 6404625"/>
              <a:gd name="connsiteY1" fmla="*/ 0 h 6373368"/>
              <a:gd name="connsiteX2" fmla="*/ 6404625 w 6404625"/>
              <a:gd name="connsiteY2" fmla="*/ 6008204 h 6373368"/>
              <a:gd name="connsiteX3" fmla="*/ 6374459 w 6404625"/>
              <a:gd name="connsiteY3" fmla="*/ 6023890 h 6373368"/>
              <a:gd name="connsiteX4" fmla="*/ 6290584 w 6404625"/>
              <a:gd name="connsiteY4" fmla="*/ 6049055 h 6373368"/>
              <a:gd name="connsiteX5" fmla="*/ 6203913 w 6404625"/>
              <a:gd name="connsiteY5" fmla="*/ 6060237 h 6373368"/>
              <a:gd name="connsiteX6" fmla="*/ 6114448 w 6404625"/>
              <a:gd name="connsiteY6" fmla="*/ 6063033 h 6373368"/>
              <a:gd name="connsiteX7" fmla="*/ 6019391 w 6404625"/>
              <a:gd name="connsiteY7" fmla="*/ 6054644 h 6373368"/>
              <a:gd name="connsiteX8" fmla="*/ 5924332 w 6404625"/>
              <a:gd name="connsiteY8" fmla="*/ 6043462 h 6373368"/>
              <a:gd name="connsiteX9" fmla="*/ 5829275 w 6404625"/>
              <a:gd name="connsiteY9" fmla="*/ 6029482 h 6373368"/>
              <a:gd name="connsiteX10" fmla="*/ 5734216 w 6404625"/>
              <a:gd name="connsiteY10" fmla="*/ 6018300 h 6373368"/>
              <a:gd name="connsiteX11" fmla="*/ 5639159 w 6404625"/>
              <a:gd name="connsiteY11" fmla="*/ 6012708 h 6373368"/>
              <a:gd name="connsiteX12" fmla="*/ 5546898 w 6404625"/>
              <a:gd name="connsiteY12" fmla="*/ 6012708 h 6373368"/>
              <a:gd name="connsiteX13" fmla="*/ 5460227 w 6404625"/>
              <a:gd name="connsiteY13" fmla="*/ 6023890 h 6373368"/>
              <a:gd name="connsiteX14" fmla="*/ 5370760 w 6404625"/>
              <a:gd name="connsiteY14" fmla="*/ 6046258 h 6373368"/>
              <a:gd name="connsiteX15" fmla="*/ 5289681 w 6404625"/>
              <a:gd name="connsiteY15" fmla="*/ 6079807 h 6373368"/>
              <a:gd name="connsiteX16" fmla="*/ 5205808 w 6404625"/>
              <a:gd name="connsiteY16" fmla="*/ 6124541 h 6373368"/>
              <a:gd name="connsiteX17" fmla="*/ 5121933 w 6404625"/>
              <a:gd name="connsiteY17" fmla="*/ 6169276 h 6373368"/>
              <a:gd name="connsiteX18" fmla="*/ 5038061 w 6404625"/>
              <a:gd name="connsiteY18" fmla="*/ 6219598 h 6373368"/>
              <a:gd name="connsiteX19" fmla="*/ 4956981 w 6404625"/>
              <a:gd name="connsiteY19" fmla="*/ 6267129 h 6373368"/>
              <a:gd name="connsiteX20" fmla="*/ 4870311 w 6404625"/>
              <a:gd name="connsiteY20" fmla="*/ 6309065 h 6373368"/>
              <a:gd name="connsiteX21" fmla="*/ 4786435 w 6404625"/>
              <a:gd name="connsiteY21" fmla="*/ 6342614 h 6373368"/>
              <a:gd name="connsiteX22" fmla="*/ 4699765 w 6404625"/>
              <a:gd name="connsiteY22" fmla="*/ 6364982 h 6373368"/>
              <a:gd name="connsiteX23" fmla="*/ 4610299 w 6404625"/>
              <a:gd name="connsiteY23" fmla="*/ 6373368 h 6373368"/>
              <a:gd name="connsiteX24" fmla="*/ 4520833 w 6404625"/>
              <a:gd name="connsiteY24" fmla="*/ 6364982 h 6373368"/>
              <a:gd name="connsiteX25" fmla="*/ 4434163 w 6404625"/>
              <a:gd name="connsiteY25" fmla="*/ 6342614 h 6373368"/>
              <a:gd name="connsiteX26" fmla="*/ 4350289 w 6404625"/>
              <a:gd name="connsiteY26" fmla="*/ 6309065 h 6373368"/>
              <a:gd name="connsiteX27" fmla="*/ 4263617 w 6404625"/>
              <a:gd name="connsiteY27" fmla="*/ 6267129 h 6373368"/>
              <a:gd name="connsiteX28" fmla="*/ 4182539 w 6404625"/>
              <a:gd name="connsiteY28" fmla="*/ 6219598 h 6373368"/>
              <a:gd name="connsiteX29" fmla="*/ 4098666 w 6404625"/>
              <a:gd name="connsiteY29" fmla="*/ 6169276 h 6373368"/>
              <a:gd name="connsiteX30" fmla="*/ 4014791 w 6404625"/>
              <a:gd name="connsiteY30" fmla="*/ 6124541 h 6373368"/>
              <a:gd name="connsiteX31" fmla="*/ 3930916 w 6404625"/>
              <a:gd name="connsiteY31" fmla="*/ 6079807 h 6373368"/>
              <a:gd name="connsiteX32" fmla="*/ 3847041 w 6404625"/>
              <a:gd name="connsiteY32" fmla="*/ 6046258 h 6373368"/>
              <a:gd name="connsiteX33" fmla="*/ 3760372 w 6404625"/>
              <a:gd name="connsiteY33" fmla="*/ 6023890 h 6373368"/>
              <a:gd name="connsiteX34" fmla="*/ 3673701 w 6404625"/>
              <a:gd name="connsiteY34" fmla="*/ 6012708 h 6373368"/>
              <a:gd name="connsiteX35" fmla="*/ 3581438 w 6404625"/>
              <a:gd name="connsiteY35" fmla="*/ 6012708 h 6373368"/>
              <a:gd name="connsiteX36" fmla="*/ 3486381 w 6404625"/>
              <a:gd name="connsiteY36" fmla="*/ 6018300 h 6373368"/>
              <a:gd name="connsiteX37" fmla="*/ 3391322 w 6404625"/>
              <a:gd name="connsiteY37" fmla="*/ 6029482 h 6373368"/>
              <a:gd name="connsiteX38" fmla="*/ 3296265 w 6404625"/>
              <a:gd name="connsiteY38" fmla="*/ 6043462 h 6373368"/>
              <a:gd name="connsiteX39" fmla="*/ 3201210 w 6404625"/>
              <a:gd name="connsiteY39" fmla="*/ 6054644 h 6373368"/>
              <a:gd name="connsiteX40" fmla="*/ 3106151 w 6404625"/>
              <a:gd name="connsiteY40" fmla="*/ 6063033 h 6373368"/>
              <a:gd name="connsiteX41" fmla="*/ 3016684 w 6404625"/>
              <a:gd name="connsiteY41" fmla="*/ 6060237 h 6373368"/>
              <a:gd name="connsiteX42" fmla="*/ 2930015 w 6404625"/>
              <a:gd name="connsiteY42" fmla="*/ 6049055 h 6373368"/>
              <a:gd name="connsiteX43" fmla="*/ 2846140 w 6404625"/>
              <a:gd name="connsiteY43" fmla="*/ 6023890 h 6373368"/>
              <a:gd name="connsiteX44" fmla="*/ 2776243 w 6404625"/>
              <a:gd name="connsiteY44" fmla="*/ 5987546 h 6373368"/>
              <a:gd name="connsiteX45" fmla="*/ 2709145 w 6404625"/>
              <a:gd name="connsiteY45" fmla="*/ 5940017 h 6373368"/>
              <a:gd name="connsiteX46" fmla="*/ 2650432 w 6404625"/>
              <a:gd name="connsiteY46" fmla="*/ 5884101 h 6373368"/>
              <a:gd name="connsiteX47" fmla="*/ 2591719 w 6404625"/>
              <a:gd name="connsiteY47" fmla="*/ 5819798 h 6373368"/>
              <a:gd name="connsiteX48" fmla="*/ 2538599 w 6404625"/>
              <a:gd name="connsiteY48" fmla="*/ 5752697 h 6373368"/>
              <a:gd name="connsiteX49" fmla="*/ 2485480 w 6404625"/>
              <a:gd name="connsiteY49" fmla="*/ 5682802 h 6373368"/>
              <a:gd name="connsiteX50" fmla="*/ 2432360 w 6404625"/>
              <a:gd name="connsiteY50" fmla="*/ 5612908 h 6373368"/>
              <a:gd name="connsiteX51" fmla="*/ 2379237 w 6404625"/>
              <a:gd name="connsiteY51" fmla="*/ 5545809 h 6373368"/>
              <a:gd name="connsiteX52" fmla="*/ 2323320 w 6404625"/>
              <a:gd name="connsiteY52" fmla="*/ 5481502 h 6373368"/>
              <a:gd name="connsiteX53" fmla="*/ 2259018 w 6404625"/>
              <a:gd name="connsiteY53" fmla="*/ 5425586 h 6373368"/>
              <a:gd name="connsiteX54" fmla="*/ 2197511 w 6404625"/>
              <a:gd name="connsiteY54" fmla="*/ 5375263 h 6373368"/>
              <a:gd name="connsiteX55" fmla="*/ 2127614 w 6404625"/>
              <a:gd name="connsiteY55" fmla="*/ 5336121 h 6373368"/>
              <a:gd name="connsiteX56" fmla="*/ 2052128 w 6404625"/>
              <a:gd name="connsiteY56" fmla="*/ 5302573 h 6373368"/>
              <a:gd name="connsiteX57" fmla="*/ 1971049 w 6404625"/>
              <a:gd name="connsiteY57" fmla="*/ 5274612 h 6373368"/>
              <a:gd name="connsiteX58" fmla="*/ 1887176 w 6404625"/>
              <a:gd name="connsiteY58" fmla="*/ 5249450 h 6373368"/>
              <a:gd name="connsiteX59" fmla="*/ 1803301 w 6404625"/>
              <a:gd name="connsiteY59" fmla="*/ 5227084 h 6373368"/>
              <a:gd name="connsiteX60" fmla="*/ 1716630 w 6404625"/>
              <a:gd name="connsiteY60" fmla="*/ 5204720 h 6373368"/>
              <a:gd name="connsiteX61" fmla="*/ 1635551 w 6404625"/>
              <a:gd name="connsiteY61" fmla="*/ 5179557 h 6373368"/>
              <a:gd name="connsiteX62" fmla="*/ 1554473 w 6404625"/>
              <a:gd name="connsiteY62" fmla="*/ 5151597 h 6373368"/>
              <a:gd name="connsiteX63" fmla="*/ 1478988 w 6404625"/>
              <a:gd name="connsiteY63" fmla="*/ 5118049 h 6373368"/>
              <a:gd name="connsiteX64" fmla="*/ 1411887 w 6404625"/>
              <a:gd name="connsiteY64" fmla="*/ 5076112 h 6373368"/>
              <a:gd name="connsiteX65" fmla="*/ 1350380 w 6404625"/>
              <a:gd name="connsiteY65" fmla="*/ 5025785 h 6373368"/>
              <a:gd name="connsiteX66" fmla="*/ 1300053 w 6404625"/>
              <a:gd name="connsiteY66" fmla="*/ 4964279 h 6373368"/>
              <a:gd name="connsiteX67" fmla="*/ 1258117 w 6404625"/>
              <a:gd name="connsiteY67" fmla="*/ 4897178 h 6373368"/>
              <a:gd name="connsiteX68" fmla="*/ 1224567 w 6404625"/>
              <a:gd name="connsiteY68" fmla="*/ 4821691 h 6373368"/>
              <a:gd name="connsiteX69" fmla="*/ 1196609 w 6404625"/>
              <a:gd name="connsiteY69" fmla="*/ 4740614 h 6373368"/>
              <a:gd name="connsiteX70" fmla="*/ 1171447 w 6404625"/>
              <a:gd name="connsiteY70" fmla="*/ 4659533 h 6373368"/>
              <a:gd name="connsiteX71" fmla="*/ 1149080 w 6404625"/>
              <a:gd name="connsiteY71" fmla="*/ 4572865 h 6373368"/>
              <a:gd name="connsiteX72" fmla="*/ 1126714 w 6404625"/>
              <a:gd name="connsiteY72" fmla="*/ 4488990 h 6373368"/>
              <a:gd name="connsiteX73" fmla="*/ 1101552 w 6404625"/>
              <a:gd name="connsiteY73" fmla="*/ 4405115 h 6373368"/>
              <a:gd name="connsiteX74" fmla="*/ 1073593 w 6404625"/>
              <a:gd name="connsiteY74" fmla="*/ 4324036 h 6373368"/>
              <a:gd name="connsiteX75" fmla="*/ 1040045 w 6404625"/>
              <a:gd name="connsiteY75" fmla="*/ 4248549 h 6373368"/>
              <a:gd name="connsiteX76" fmla="*/ 1000902 w 6404625"/>
              <a:gd name="connsiteY76" fmla="*/ 4178654 h 6373368"/>
              <a:gd name="connsiteX77" fmla="*/ 950576 w 6404625"/>
              <a:gd name="connsiteY77" fmla="*/ 4117146 h 6373368"/>
              <a:gd name="connsiteX78" fmla="*/ 894659 w 6404625"/>
              <a:gd name="connsiteY78" fmla="*/ 4052841 h 6373368"/>
              <a:gd name="connsiteX79" fmla="*/ 830356 w 6404625"/>
              <a:gd name="connsiteY79" fmla="*/ 3996926 h 6373368"/>
              <a:gd name="connsiteX80" fmla="*/ 760460 w 6404625"/>
              <a:gd name="connsiteY80" fmla="*/ 3943806 h 6373368"/>
              <a:gd name="connsiteX81" fmla="*/ 690567 w 6404625"/>
              <a:gd name="connsiteY81" fmla="*/ 3890685 h 6373368"/>
              <a:gd name="connsiteX82" fmla="*/ 620671 w 6404625"/>
              <a:gd name="connsiteY82" fmla="*/ 3837564 h 6373368"/>
              <a:gd name="connsiteX83" fmla="*/ 553571 w 6404625"/>
              <a:gd name="connsiteY83" fmla="*/ 3784444 h 6373368"/>
              <a:gd name="connsiteX84" fmla="*/ 489269 w 6404625"/>
              <a:gd name="connsiteY84" fmla="*/ 3725731 h 6373368"/>
              <a:gd name="connsiteX85" fmla="*/ 433350 w 6404625"/>
              <a:gd name="connsiteY85" fmla="*/ 3667021 h 6373368"/>
              <a:gd name="connsiteX86" fmla="*/ 385824 w 6404625"/>
              <a:gd name="connsiteY86" fmla="*/ 3599922 h 6373368"/>
              <a:gd name="connsiteX87" fmla="*/ 349477 w 6404625"/>
              <a:gd name="connsiteY87" fmla="*/ 3530025 h 6373368"/>
              <a:gd name="connsiteX88" fmla="*/ 324315 w 6404625"/>
              <a:gd name="connsiteY88" fmla="*/ 3446150 h 6373368"/>
              <a:gd name="connsiteX89" fmla="*/ 313131 w 6404625"/>
              <a:gd name="connsiteY89" fmla="*/ 3359479 h 6373368"/>
              <a:gd name="connsiteX90" fmla="*/ 310335 w 6404625"/>
              <a:gd name="connsiteY90" fmla="*/ 3270014 h 6373368"/>
              <a:gd name="connsiteX91" fmla="*/ 318723 w 6404625"/>
              <a:gd name="connsiteY91" fmla="*/ 3174955 h 6373368"/>
              <a:gd name="connsiteX92" fmla="*/ 329907 w 6404625"/>
              <a:gd name="connsiteY92" fmla="*/ 3079898 h 6373368"/>
              <a:gd name="connsiteX93" fmla="*/ 343885 w 6404625"/>
              <a:gd name="connsiteY93" fmla="*/ 2984841 h 6373368"/>
              <a:gd name="connsiteX94" fmla="*/ 355069 w 6404625"/>
              <a:gd name="connsiteY94" fmla="*/ 2889784 h 6373368"/>
              <a:gd name="connsiteX95" fmla="*/ 360659 w 6404625"/>
              <a:gd name="connsiteY95" fmla="*/ 2794725 h 6373368"/>
              <a:gd name="connsiteX96" fmla="*/ 360659 w 6404625"/>
              <a:gd name="connsiteY96" fmla="*/ 2702464 h 6373368"/>
              <a:gd name="connsiteX97" fmla="*/ 349477 w 6404625"/>
              <a:gd name="connsiteY97" fmla="*/ 2615793 h 6373368"/>
              <a:gd name="connsiteX98" fmla="*/ 327111 w 6404625"/>
              <a:gd name="connsiteY98" fmla="*/ 2529122 h 6373368"/>
              <a:gd name="connsiteX99" fmla="*/ 293561 w 6404625"/>
              <a:gd name="connsiteY99" fmla="*/ 2448045 h 6373368"/>
              <a:gd name="connsiteX100" fmla="*/ 251625 w 6404625"/>
              <a:gd name="connsiteY100" fmla="*/ 2364170 h 6373368"/>
              <a:gd name="connsiteX101" fmla="*/ 204096 w 6404625"/>
              <a:gd name="connsiteY101" fmla="*/ 2280295 h 6373368"/>
              <a:gd name="connsiteX102" fmla="*/ 153769 w 6404625"/>
              <a:gd name="connsiteY102" fmla="*/ 2196423 h 6373368"/>
              <a:gd name="connsiteX103" fmla="*/ 106240 w 6404625"/>
              <a:gd name="connsiteY103" fmla="*/ 2115344 h 6373368"/>
              <a:gd name="connsiteX104" fmla="*/ 64305 w 6404625"/>
              <a:gd name="connsiteY104" fmla="*/ 2028673 h 6373368"/>
              <a:gd name="connsiteX105" fmla="*/ 30754 w 6404625"/>
              <a:gd name="connsiteY105" fmla="*/ 1944798 h 6373368"/>
              <a:gd name="connsiteX106" fmla="*/ 8387 w 6404625"/>
              <a:gd name="connsiteY106" fmla="*/ 1858129 h 6373368"/>
              <a:gd name="connsiteX107" fmla="*/ 0 w 6404625"/>
              <a:gd name="connsiteY107" fmla="*/ 1768662 h 6373368"/>
              <a:gd name="connsiteX108" fmla="*/ 8387 w 6404625"/>
              <a:gd name="connsiteY108" fmla="*/ 1679195 h 6373368"/>
              <a:gd name="connsiteX109" fmla="*/ 30754 w 6404625"/>
              <a:gd name="connsiteY109" fmla="*/ 1592526 h 6373368"/>
              <a:gd name="connsiteX110" fmla="*/ 64305 w 6404625"/>
              <a:gd name="connsiteY110" fmla="*/ 1508651 h 6373368"/>
              <a:gd name="connsiteX111" fmla="*/ 106240 w 6404625"/>
              <a:gd name="connsiteY111" fmla="*/ 1421980 h 6373368"/>
              <a:gd name="connsiteX112" fmla="*/ 153769 w 6404625"/>
              <a:gd name="connsiteY112" fmla="*/ 1340903 h 6373368"/>
              <a:gd name="connsiteX113" fmla="*/ 204096 w 6404625"/>
              <a:gd name="connsiteY113" fmla="*/ 1257028 h 6373368"/>
              <a:gd name="connsiteX114" fmla="*/ 251625 w 6404625"/>
              <a:gd name="connsiteY114" fmla="*/ 1173153 h 6373368"/>
              <a:gd name="connsiteX115" fmla="*/ 293561 w 6404625"/>
              <a:gd name="connsiteY115" fmla="*/ 1089278 h 6373368"/>
              <a:gd name="connsiteX116" fmla="*/ 327111 w 6404625"/>
              <a:gd name="connsiteY116" fmla="*/ 1008199 h 6373368"/>
              <a:gd name="connsiteX117" fmla="*/ 349477 w 6404625"/>
              <a:gd name="connsiteY117" fmla="*/ 921528 h 6373368"/>
              <a:gd name="connsiteX118" fmla="*/ 360659 w 6404625"/>
              <a:gd name="connsiteY118" fmla="*/ 834859 h 6373368"/>
              <a:gd name="connsiteX119" fmla="*/ 360659 w 6404625"/>
              <a:gd name="connsiteY119" fmla="*/ 742599 h 6373368"/>
              <a:gd name="connsiteX120" fmla="*/ 355069 w 6404625"/>
              <a:gd name="connsiteY120" fmla="*/ 647539 h 6373368"/>
              <a:gd name="connsiteX121" fmla="*/ 343885 w 6404625"/>
              <a:gd name="connsiteY121" fmla="*/ 552482 h 6373368"/>
              <a:gd name="connsiteX122" fmla="*/ 329907 w 6404625"/>
              <a:gd name="connsiteY122" fmla="*/ 457425 h 6373368"/>
              <a:gd name="connsiteX123" fmla="*/ 318723 w 6404625"/>
              <a:gd name="connsiteY123" fmla="*/ 362366 h 6373368"/>
              <a:gd name="connsiteX124" fmla="*/ 310335 w 6404625"/>
              <a:gd name="connsiteY124" fmla="*/ 267309 h 6373368"/>
              <a:gd name="connsiteX125" fmla="*/ 313131 w 6404625"/>
              <a:gd name="connsiteY125" fmla="*/ 177842 h 6373368"/>
              <a:gd name="connsiteX126" fmla="*/ 324315 w 6404625"/>
              <a:gd name="connsiteY126" fmla="*/ 91173 h 6373368"/>
              <a:gd name="connsiteX127" fmla="*/ 349477 w 6404625"/>
              <a:gd name="connsiteY127" fmla="*/ 7296 h 6373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Lst>
            <a:rect l="l" t="t" r="r" b="b"/>
            <a:pathLst>
              <a:path w="6404625" h="6373368">
                <a:moveTo>
                  <a:pt x="353272" y="0"/>
                </a:moveTo>
                <a:lnTo>
                  <a:pt x="6404625" y="0"/>
                </a:lnTo>
                <a:lnTo>
                  <a:pt x="6404625" y="6008204"/>
                </a:lnTo>
                <a:lnTo>
                  <a:pt x="6374459" y="6023890"/>
                </a:lnTo>
                <a:lnTo>
                  <a:pt x="6290584" y="6049055"/>
                </a:lnTo>
                <a:lnTo>
                  <a:pt x="6203913" y="6060237"/>
                </a:lnTo>
                <a:lnTo>
                  <a:pt x="6114448" y="6063033"/>
                </a:lnTo>
                <a:lnTo>
                  <a:pt x="6019391" y="6054644"/>
                </a:lnTo>
                <a:lnTo>
                  <a:pt x="5924332" y="6043462"/>
                </a:lnTo>
                <a:lnTo>
                  <a:pt x="5829275" y="6029482"/>
                </a:lnTo>
                <a:lnTo>
                  <a:pt x="5734216" y="6018300"/>
                </a:lnTo>
                <a:lnTo>
                  <a:pt x="5639159" y="6012708"/>
                </a:lnTo>
                <a:lnTo>
                  <a:pt x="5546898" y="6012708"/>
                </a:lnTo>
                <a:lnTo>
                  <a:pt x="5460227" y="6023890"/>
                </a:lnTo>
                <a:lnTo>
                  <a:pt x="5370760" y="6046258"/>
                </a:lnTo>
                <a:lnTo>
                  <a:pt x="5289681" y="6079807"/>
                </a:lnTo>
                <a:lnTo>
                  <a:pt x="5205808" y="6124541"/>
                </a:lnTo>
                <a:lnTo>
                  <a:pt x="5121933" y="6169276"/>
                </a:lnTo>
                <a:lnTo>
                  <a:pt x="5038061" y="6219598"/>
                </a:lnTo>
                <a:lnTo>
                  <a:pt x="4956981" y="6267129"/>
                </a:lnTo>
                <a:lnTo>
                  <a:pt x="4870311" y="6309065"/>
                </a:lnTo>
                <a:lnTo>
                  <a:pt x="4786435" y="6342614"/>
                </a:lnTo>
                <a:lnTo>
                  <a:pt x="4699765" y="6364982"/>
                </a:lnTo>
                <a:lnTo>
                  <a:pt x="4610299" y="6373368"/>
                </a:lnTo>
                <a:lnTo>
                  <a:pt x="4520833" y="6364982"/>
                </a:lnTo>
                <a:lnTo>
                  <a:pt x="4434163" y="6342614"/>
                </a:lnTo>
                <a:lnTo>
                  <a:pt x="4350289" y="6309065"/>
                </a:lnTo>
                <a:lnTo>
                  <a:pt x="4263617" y="6267129"/>
                </a:lnTo>
                <a:lnTo>
                  <a:pt x="4182539" y="6219598"/>
                </a:lnTo>
                <a:lnTo>
                  <a:pt x="4098666" y="6169276"/>
                </a:lnTo>
                <a:lnTo>
                  <a:pt x="4014791" y="6124541"/>
                </a:lnTo>
                <a:lnTo>
                  <a:pt x="3930916" y="6079807"/>
                </a:lnTo>
                <a:lnTo>
                  <a:pt x="3847041" y="6046258"/>
                </a:lnTo>
                <a:lnTo>
                  <a:pt x="3760372" y="6023890"/>
                </a:lnTo>
                <a:lnTo>
                  <a:pt x="3673701" y="6012708"/>
                </a:lnTo>
                <a:lnTo>
                  <a:pt x="3581438" y="6012708"/>
                </a:lnTo>
                <a:lnTo>
                  <a:pt x="3486381" y="6018300"/>
                </a:lnTo>
                <a:lnTo>
                  <a:pt x="3391322" y="6029482"/>
                </a:lnTo>
                <a:lnTo>
                  <a:pt x="3296265" y="6043462"/>
                </a:lnTo>
                <a:lnTo>
                  <a:pt x="3201210" y="6054644"/>
                </a:lnTo>
                <a:lnTo>
                  <a:pt x="3106151" y="6063033"/>
                </a:lnTo>
                <a:lnTo>
                  <a:pt x="3016684" y="6060237"/>
                </a:lnTo>
                <a:lnTo>
                  <a:pt x="2930015" y="6049055"/>
                </a:lnTo>
                <a:lnTo>
                  <a:pt x="2846140" y="6023890"/>
                </a:lnTo>
                <a:lnTo>
                  <a:pt x="2776243" y="5987546"/>
                </a:lnTo>
                <a:lnTo>
                  <a:pt x="2709145" y="5940017"/>
                </a:lnTo>
                <a:lnTo>
                  <a:pt x="2650432" y="5884101"/>
                </a:lnTo>
                <a:lnTo>
                  <a:pt x="2591719" y="5819798"/>
                </a:lnTo>
                <a:lnTo>
                  <a:pt x="2538599" y="5752697"/>
                </a:lnTo>
                <a:lnTo>
                  <a:pt x="2485480" y="5682802"/>
                </a:lnTo>
                <a:lnTo>
                  <a:pt x="2432360" y="5612908"/>
                </a:lnTo>
                <a:lnTo>
                  <a:pt x="2379237" y="5545809"/>
                </a:lnTo>
                <a:lnTo>
                  <a:pt x="2323320" y="5481502"/>
                </a:lnTo>
                <a:lnTo>
                  <a:pt x="2259018" y="5425586"/>
                </a:lnTo>
                <a:lnTo>
                  <a:pt x="2197511" y="5375263"/>
                </a:lnTo>
                <a:lnTo>
                  <a:pt x="2127614" y="5336121"/>
                </a:lnTo>
                <a:lnTo>
                  <a:pt x="2052128" y="5302573"/>
                </a:lnTo>
                <a:lnTo>
                  <a:pt x="1971049" y="5274612"/>
                </a:lnTo>
                <a:lnTo>
                  <a:pt x="1887176" y="5249450"/>
                </a:lnTo>
                <a:lnTo>
                  <a:pt x="1803301" y="5227084"/>
                </a:lnTo>
                <a:lnTo>
                  <a:pt x="1716630" y="5204720"/>
                </a:lnTo>
                <a:lnTo>
                  <a:pt x="1635551" y="5179557"/>
                </a:lnTo>
                <a:lnTo>
                  <a:pt x="1554473" y="5151597"/>
                </a:lnTo>
                <a:lnTo>
                  <a:pt x="1478988" y="5118049"/>
                </a:lnTo>
                <a:lnTo>
                  <a:pt x="1411887" y="5076112"/>
                </a:lnTo>
                <a:lnTo>
                  <a:pt x="1350380" y="5025785"/>
                </a:lnTo>
                <a:lnTo>
                  <a:pt x="1300053" y="4964279"/>
                </a:lnTo>
                <a:lnTo>
                  <a:pt x="1258117" y="4897178"/>
                </a:lnTo>
                <a:lnTo>
                  <a:pt x="1224567" y="4821691"/>
                </a:lnTo>
                <a:lnTo>
                  <a:pt x="1196609" y="4740614"/>
                </a:lnTo>
                <a:lnTo>
                  <a:pt x="1171447" y="4659533"/>
                </a:lnTo>
                <a:lnTo>
                  <a:pt x="1149080" y="4572865"/>
                </a:lnTo>
                <a:lnTo>
                  <a:pt x="1126714" y="4488990"/>
                </a:lnTo>
                <a:lnTo>
                  <a:pt x="1101552" y="4405115"/>
                </a:lnTo>
                <a:lnTo>
                  <a:pt x="1073593" y="4324036"/>
                </a:lnTo>
                <a:lnTo>
                  <a:pt x="1040045" y="4248549"/>
                </a:lnTo>
                <a:lnTo>
                  <a:pt x="1000902" y="4178654"/>
                </a:lnTo>
                <a:lnTo>
                  <a:pt x="950576" y="4117146"/>
                </a:lnTo>
                <a:lnTo>
                  <a:pt x="894659" y="4052841"/>
                </a:lnTo>
                <a:lnTo>
                  <a:pt x="830356" y="3996926"/>
                </a:lnTo>
                <a:lnTo>
                  <a:pt x="760460" y="3943806"/>
                </a:lnTo>
                <a:lnTo>
                  <a:pt x="690567" y="3890685"/>
                </a:lnTo>
                <a:lnTo>
                  <a:pt x="620671" y="3837564"/>
                </a:lnTo>
                <a:lnTo>
                  <a:pt x="553571" y="3784444"/>
                </a:lnTo>
                <a:lnTo>
                  <a:pt x="489269" y="3725731"/>
                </a:lnTo>
                <a:lnTo>
                  <a:pt x="433350" y="3667021"/>
                </a:lnTo>
                <a:lnTo>
                  <a:pt x="385824" y="3599922"/>
                </a:lnTo>
                <a:lnTo>
                  <a:pt x="349477" y="3530025"/>
                </a:lnTo>
                <a:lnTo>
                  <a:pt x="324315" y="3446150"/>
                </a:lnTo>
                <a:lnTo>
                  <a:pt x="313131" y="3359479"/>
                </a:lnTo>
                <a:lnTo>
                  <a:pt x="310335" y="3270014"/>
                </a:lnTo>
                <a:lnTo>
                  <a:pt x="318723" y="3174955"/>
                </a:lnTo>
                <a:lnTo>
                  <a:pt x="329907" y="3079898"/>
                </a:lnTo>
                <a:lnTo>
                  <a:pt x="343885" y="2984841"/>
                </a:lnTo>
                <a:lnTo>
                  <a:pt x="355069" y="2889784"/>
                </a:lnTo>
                <a:lnTo>
                  <a:pt x="360659" y="2794725"/>
                </a:lnTo>
                <a:lnTo>
                  <a:pt x="360659" y="2702464"/>
                </a:lnTo>
                <a:lnTo>
                  <a:pt x="349477" y="2615793"/>
                </a:lnTo>
                <a:lnTo>
                  <a:pt x="327111" y="2529122"/>
                </a:lnTo>
                <a:lnTo>
                  <a:pt x="293561" y="2448045"/>
                </a:lnTo>
                <a:lnTo>
                  <a:pt x="251625" y="2364170"/>
                </a:lnTo>
                <a:lnTo>
                  <a:pt x="204096" y="2280295"/>
                </a:lnTo>
                <a:lnTo>
                  <a:pt x="153769" y="2196423"/>
                </a:lnTo>
                <a:lnTo>
                  <a:pt x="106240" y="2115344"/>
                </a:lnTo>
                <a:lnTo>
                  <a:pt x="64305" y="2028673"/>
                </a:lnTo>
                <a:lnTo>
                  <a:pt x="30754" y="1944798"/>
                </a:lnTo>
                <a:lnTo>
                  <a:pt x="8387" y="1858129"/>
                </a:lnTo>
                <a:lnTo>
                  <a:pt x="0" y="1768662"/>
                </a:lnTo>
                <a:lnTo>
                  <a:pt x="8387" y="1679195"/>
                </a:lnTo>
                <a:lnTo>
                  <a:pt x="30754" y="1592526"/>
                </a:lnTo>
                <a:lnTo>
                  <a:pt x="64305" y="1508651"/>
                </a:lnTo>
                <a:lnTo>
                  <a:pt x="106240" y="1421980"/>
                </a:lnTo>
                <a:lnTo>
                  <a:pt x="153769" y="1340903"/>
                </a:lnTo>
                <a:lnTo>
                  <a:pt x="204096" y="1257028"/>
                </a:lnTo>
                <a:lnTo>
                  <a:pt x="251625" y="1173153"/>
                </a:lnTo>
                <a:lnTo>
                  <a:pt x="293561" y="1089278"/>
                </a:lnTo>
                <a:lnTo>
                  <a:pt x="327111" y="1008199"/>
                </a:lnTo>
                <a:lnTo>
                  <a:pt x="349477" y="921528"/>
                </a:lnTo>
                <a:lnTo>
                  <a:pt x="360659" y="834859"/>
                </a:lnTo>
                <a:lnTo>
                  <a:pt x="360659" y="742599"/>
                </a:lnTo>
                <a:lnTo>
                  <a:pt x="355069" y="647539"/>
                </a:lnTo>
                <a:lnTo>
                  <a:pt x="343885" y="552482"/>
                </a:lnTo>
                <a:lnTo>
                  <a:pt x="329907" y="457425"/>
                </a:lnTo>
                <a:lnTo>
                  <a:pt x="318723" y="362366"/>
                </a:lnTo>
                <a:lnTo>
                  <a:pt x="310335" y="267309"/>
                </a:lnTo>
                <a:lnTo>
                  <a:pt x="313131" y="177842"/>
                </a:lnTo>
                <a:lnTo>
                  <a:pt x="324315" y="91173"/>
                </a:lnTo>
                <a:lnTo>
                  <a:pt x="349477" y="7296"/>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descr="Top view of a calendar with a red pen on top">
            <a:extLst>
              <a:ext uri="{FF2B5EF4-FFF2-40B4-BE49-F238E27FC236}">
                <a16:creationId xmlns:a16="http://schemas.microsoft.com/office/drawing/2014/main" id="{1FD23BA9-7207-16A3-9654-3990A110971B}"/>
              </a:ext>
            </a:extLst>
          </p:cNvPr>
          <p:cNvPicPr>
            <a:picLocks noChangeAspect="1"/>
          </p:cNvPicPr>
          <p:nvPr/>
        </p:nvPicPr>
        <p:blipFill rotWithShape="1">
          <a:blip r:embed="rId2"/>
          <a:srcRect l="33918" r="2" b="2"/>
          <a:stretch/>
        </p:blipFill>
        <p:spPr>
          <a:xfrm>
            <a:off x="6498980" y="10"/>
            <a:ext cx="5693020" cy="5662011"/>
          </a:xfrm>
          <a:custGeom>
            <a:avLst/>
            <a:gdLst/>
            <a:ahLst/>
            <a:cxnLst/>
            <a:rect l="l" t="t" r="r" b="b"/>
            <a:pathLst>
              <a:path w="6188779" h="6157780">
                <a:moveTo>
                  <a:pt x="384150" y="0"/>
                </a:moveTo>
                <a:lnTo>
                  <a:pt x="6188779" y="0"/>
                </a:lnTo>
                <a:lnTo>
                  <a:pt x="6188779" y="5757340"/>
                </a:lnTo>
                <a:lnTo>
                  <a:pt x="6142640" y="5790022"/>
                </a:lnTo>
                <a:lnTo>
                  <a:pt x="6076017" y="5824665"/>
                </a:lnTo>
                <a:lnTo>
                  <a:pt x="5996070" y="5848651"/>
                </a:lnTo>
                <a:lnTo>
                  <a:pt x="5913457" y="5859310"/>
                </a:lnTo>
                <a:lnTo>
                  <a:pt x="5828180" y="5861974"/>
                </a:lnTo>
                <a:lnTo>
                  <a:pt x="5737573" y="5853979"/>
                </a:lnTo>
                <a:lnTo>
                  <a:pt x="5646965" y="5843320"/>
                </a:lnTo>
                <a:lnTo>
                  <a:pt x="5556358" y="5829995"/>
                </a:lnTo>
                <a:lnTo>
                  <a:pt x="5465751" y="5819336"/>
                </a:lnTo>
                <a:lnTo>
                  <a:pt x="5375143" y="5814006"/>
                </a:lnTo>
                <a:lnTo>
                  <a:pt x="5287201" y="5814006"/>
                </a:lnTo>
                <a:lnTo>
                  <a:pt x="5204589" y="5824665"/>
                </a:lnTo>
                <a:lnTo>
                  <a:pt x="5119310" y="5845985"/>
                </a:lnTo>
                <a:lnTo>
                  <a:pt x="5042027" y="5877963"/>
                </a:lnTo>
                <a:lnTo>
                  <a:pt x="4962081" y="5920603"/>
                </a:lnTo>
                <a:lnTo>
                  <a:pt x="4882133" y="5963242"/>
                </a:lnTo>
                <a:lnTo>
                  <a:pt x="4802186" y="6011210"/>
                </a:lnTo>
                <a:lnTo>
                  <a:pt x="4724903" y="6056514"/>
                </a:lnTo>
                <a:lnTo>
                  <a:pt x="4642291" y="6096487"/>
                </a:lnTo>
                <a:lnTo>
                  <a:pt x="4562343" y="6128466"/>
                </a:lnTo>
                <a:lnTo>
                  <a:pt x="4479729" y="6149785"/>
                </a:lnTo>
                <a:lnTo>
                  <a:pt x="4394453" y="6157780"/>
                </a:lnTo>
                <a:lnTo>
                  <a:pt x="4309175" y="6149785"/>
                </a:lnTo>
                <a:lnTo>
                  <a:pt x="4226563" y="6128466"/>
                </a:lnTo>
                <a:lnTo>
                  <a:pt x="4146616" y="6096487"/>
                </a:lnTo>
                <a:lnTo>
                  <a:pt x="4064003" y="6056514"/>
                </a:lnTo>
                <a:lnTo>
                  <a:pt x="3986719" y="6011210"/>
                </a:lnTo>
                <a:lnTo>
                  <a:pt x="3906773" y="5963242"/>
                </a:lnTo>
                <a:lnTo>
                  <a:pt x="3826826" y="5920603"/>
                </a:lnTo>
                <a:lnTo>
                  <a:pt x="3746877" y="5877963"/>
                </a:lnTo>
                <a:lnTo>
                  <a:pt x="3666929" y="5845985"/>
                </a:lnTo>
                <a:lnTo>
                  <a:pt x="3584318" y="5824665"/>
                </a:lnTo>
                <a:lnTo>
                  <a:pt x="3501705" y="5814006"/>
                </a:lnTo>
                <a:lnTo>
                  <a:pt x="3413762" y="5814006"/>
                </a:lnTo>
                <a:lnTo>
                  <a:pt x="3323155" y="5819336"/>
                </a:lnTo>
                <a:lnTo>
                  <a:pt x="3232547" y="5829995"/>
                </a:lnTo>
                <a:lnTo>
                  <a:pt x="3141940" y="5843320"/>
                </a:lnTo>
                <a:lnTo>
                  <a:pt x="3051334" y="5853979"/>
                </a:lnTo>
                <a:lnTo>
                  <a:pt x="2960727" y="5861974"/>
                </a:lnTo>
                <a:lnTo>
                  <a:pt x="2875448" y="5859310"/>
                </a:lnTo>
                <a:lnTo>
                  <a:pt x="2792837" y="5848651"/>
                </a:lnTo>
                <a:lnTo>
                  <a:pt x="2712889" y="5824665"/>
                </a:lnTo>
                <a:lnTo>
                  <a:pt x="2646265" y="5790022"/>
                </a:lnTo>
                <a:lnTo>
                  <a:pt x="2582308" y="5744719"/>
                </a:lnTo>
                <a:lnTo>
                  <a:pt x="2526343" y="5691420"/>
                </a:lnTo>
                <a:lnTo>
                  <a:pt x="2470381" y="5630127"/>
                </a:lnTo>
                <a:lnTo>
                  <a:pt x="2419747" y="5566168"/>
                </a:lnTo>
                <a:lnTo>
                  <a:pt x="2369114" y="5499546"/>
                </a:lnTo>
                <a:lnTo>
                  <a:pt x="2318480" y="5432923"/>
                </a:lnTo>
                <a:lnTo>
                  <a:pt x="2267846" y="5368966"/>
                </a:lnTo>
                <a:lnTo>
                  <a:pt x="2214548" y="5307671"/>
                </a:lnTo>
                <a:lnTo>
                  <a:pt x="2153255" y="5254373"/>
                </a:lnTo>
                <a:lnTo>
                  <a:pt x="2094628" y="5206405"/>
                </a:lnTo>
                <a:lnTo>
                  <a:pt x="2028005" y="5169096"/>
                </a:lnTo>
                <a:lnTo>
                  <a:pt x="1956051" y="5137117"/>
                </a:lnTo>
                <a:lnTo>
                  <a:pt x="1878768" y="5110467"/>
                </a:lnTo>
                <a:lnTo>
                  <a:pt x="1798822" y="5086483"/>
                </a:lnTo>
                <a:lnTo>
                  <a:pt x="1718873" y="5065163"/>
                </a:lnTo>
                <a:lnTo>
                  <a:pt x="1636260" y="5043845"/>
                </a:lnTo>
                <a:lnTo>
                  <a:pt x="1558978" y="5019861"/>
                </a:lnTo>
                <a:lnTo>
                  <a:pt x="1481696" y="4993211"/>
                </a:lnTo>
                <a:lnTo>
                  <a:pt x="1409744" y="4961233"/>
                </a:lnTo>
                <a:lnTo>
                  <a:pt x="1345785" y="4921259"/>
                </a:lnTo>
                <a:lnTo>
                  <a:pt x="1287158" y="4873289"/>
                </a:lnTo>
                <a:lnTo>
                  <a:pt x="1239188" y="4814663"/>
                </a:lnTo>
                <a:lnTo>
                  <a:pt x="1199215" y="4750703"/>
                </a:lnTo>
                <a:lnTo>
                  <a:pt x="1167237" y="4678752"/>
                </a:lnTo>
                <a:lnTo>
                  <a:pt x="1140586" y="4601469"/>
                </a:lnTo>
                <a:lnTo>
                  <a:pt x="1116602" y="4524185"/>
                </a:lnTo>
                <a:lnTo>
                  <a:pt x="1095283" y="4441574"/>
                </a:lnTo>
                <a:lnTo>
                  <a:pt x="1073962" y="4361626"/>
                </a:lnTo>
                <a:lnTo>
                  <a:pt x="1049979" y="4281677"/>
                </a:lnTo>
                <a:lnTo>
                  <a:pt x="1023330" y="4204395"/>
                </a:lnTo>
                <a:lnTo>
                  <a:pt x="991351" y="4132443"/>
                </a:lnTo>
                <a:lnTo>
                  <a:pt x="954043" y="4065820"/>
                </a:lnTo>
                <a:lnTo>
                  <a:pt x="906073" y="4007191"/>
                </a:lnTo>
                <a:lnTo>
                  <a:pt x="852774" y="3945898"/>
                </a:lnTo>
                <a:lnTo>
                  <a:pt x="791482" y="3892600"/>
                </a:lnTo>
                <a:lnTo>
                  <a:pt x="724858" y="3841967"/>
                </a:lnTo>
                <a:lnTo>
                  <a:pt x="658236" y="3791333"/>
                </a:lnTo>
                <a:lnTo>
                  <a:pt x="591613" y="3740699"/>
                </a:lnTo>
                <a:lnTo>
                  <a:pt x="527656" y="3690067"/>
                </a:lnTo>
                <a:lnTo>
                  <a:pt x="466362" y="3634102"/>
                </a:lnTo>
                <a:lnTo>
                  <a:pt x="413063" y="3578140"/>
                </a:lnTo>
                <a:lnTo>
                  <a:pt x="367761" y="3514183"/>
                </a:lnTo>
                <a:lnTo>
                  <a:pt x="333116" y="3447559"/>
                </a:lnTo>
                <a:lnTo>
                  <a:pt x="309132" y="3367611"/>
                </a:lnTo>
                <a:lnTo>
                  <a:pt x="298471" y="3284998"/>
                </a:lnTo>
                <a:lnTo>
                  <a:pt x="295806" y="3199721"/>
                </a:lnTo>
                <a:lnTo>
                  <a:pt x="303802" y="3109114"/>
                </a:lnTo>
                <a:lnTo>
                  <a:pt x="314462" y="3018506"/>
                </a:lnTo>
                <a:lnTo>
                  <a:pt x="327785" y="2927901"/>
                </a:lnTo>
                <a:lnTo>
                  <a:pt x="338446" y="2837293"/>
                </a:lnTo>
                <a:lnTo>
                  <a:pt x="343774" y="2746686"/>
                </a:lnTo>
                <a:lnTo>
                  <a:pt x="343774" y="2658743"/>
                </a:lnTo>
                <a:lnTo>
                  <a:pt x="333116" y="2576130"/>
                </a:lnTo>
                <a:lnTo>
                  <a:pt x="311796" y="2493517"/>
                </a:lnTo>
                <a:lnTo>
                  <a:pt x="279817" y="2416237"/>
                </a:lnTo>
                <a:lnTo>
                  <a:pt x="239844" y="2336288"/>
                </a:lnTo>
                <a:lnTo>
                  <a:pt x="194541" y="2256340"/>
                </a:lnTo>
                <a:lnTo>
                  <a:pt x="146571" y="2176393"/>
                </a:lnTo>
                <a:lnTo>
                  <a:pt x="101267" y="2099111"/>
                </a:lnTo>
                <a:lnTo>
                  <a:pt x="61293" y="2016498"/>
                </a:lnTo>
                <a:lnTo>
                  <a:pt x="29315" y="1936550"/>
                </a:lnTo>
                <a:lnTo>
                  <a:pt x="7995" y="1853939"/>
                </a:lnTo>
                <a:lnTo>
                  <a:pt x="0" y="1768660"/>
                </a:lnTo>
                <a:lnTo>
                  <a:pt x="7995" y="1683383"/>
                </a:lnTo>
                <a:lnTo>
                  <a:pt x="29315" y="1600771"/>
                </a:lnTo>
                <a:lnTo>
                  <a:pt x="61293" y="1520824"/>
                </a:lnTo>
                <a:lnTo>
                  <a:pt x="101267" y="1438211"/>
                </a:lnTo>
                <a:lnTo>
                  <a:pt x="146571" y="1360929"/>
                </a:lnTo>
                <a:lnTo>
                  <a:pt x="194541" y="1280980"/>
                </a:lnTo>
                <a:lnTo>
                  <a:pt x="239844" y="1201034"/>
                </a:lnTo>
                <a:lnTo>
                  <a:pt x="279817" y="1121085"/>
                </a:lnTo>
                <a:lnTo>
                  <a:pt x="311796" y="1043803"/>
                </a:lnTo>
                <a:lnTo>
                  <a:pt x="333116" y="961190"/>
                </a:lnTo>
                <a:lnTo>
                  <a:pt x="343774" y="878578"/>
                </a:lnTo>
                <a:lnTo>
                  <a:pt x="343774" y="790636"/>
                </a:lnTo>
                <a:lnTo>
                  <a:pt x="338446" y="700029"/>
                </a:lnTo>
                <a:lnTo>
                  <a:pt x="327785" y="609422"/>
                </a:lnTo>
                <a:lnTo>
                  <a:pt x="314462" y="518814"/>
                </a:lnTo>
                <a:lnTo>
                  <a:pt x="303802" y="428207"/>
                </a:lnTo>
                <a:lnTo>
                  <a:pt x="295806" y="337599"/>
                </a:lnTo>
                <a:lnTo>
                  <a:pt x="298471" y="252322"/>
                </a:lnTo>
                <a:lnTo>
                  <a:pt x="309132" y="169710"/>
                </a:lnTo>
                <a:lnTo>
                  <a:pt x="333116" y="89761"/>
                </a:lnTo>
                <a:lnTo>
                  <a:pt x="367761" y="23140"/>
                </a:lnTo>
                <a:close/>
              </a:path>
            </a:pathLst>
          </a:custGeom>
          <a:ln w="203200">
            <a:noFill/>
          </a:ln>
        </p:spPr>
      </p:pic>
      <p:pic>
        <p:nvPicPr>
          <p:cNvPr id="4" name="Picture 3" descr="Logo&#10;&#10;Description automatically generated with medium confidence">
            <a:extLst>
              <a:ext uri="{FF2B5EF4-FFF2-40B4-BE49-F238E27FC236}">
                <a16:creationId xmlns:a16="http://schemas.microsoft.com/office/drawing/2014/main" id="{90329F7C-FD91-27C6-73E8-E8CFB977687D}"/>
              </a:ext>
            </a:extLst>
          </p:cNvPr>
          <p:cNvPicPr>
            <a:picLocks noChangeAspect="1"/>
          </p:cNvPicPr>
          <p:nvPr/>
        </p:nvPicPr>
        <p:blipFill>
          <a:blip r:embed="rId3"/>
          <a:stretch>
            <a:fillRect/>
          </a:stretch>
        </p:blipFill>
        <p:spPr>
          <a:xfrm>
            <a:off x="10819810" y="6072672"/>
            <a:ext cx="1214276" cy="601392"/>
          </a:xfrm>
          <a:prstGeom prst="rect">
            <a:avLst/>
          </a:prstGeom>
        </p:spPr>
      </p:pic>
      <p:sp>
        <p:nvSpPr>
          <p:cNvPr id="6" name="TextBox 5">
            <a:extLst>
              <a:ext uri="{FF2B5EF4-FFF2-40B4-BE49-F238E27FC236}">
                <a16:creationId xmlns:a16="http://schemas.microsoft.com/office/drawing/2014/main" id="{0DA8638D-44B0-FDE1-8619-5C090CEDAF31}"/>
              </a:ext>
            </a:extLst>
          </p:cNvPr>
          <p:cNvSpPr txBox="1"/>
          <p:nvPr/>
        </p:nvSpPr>
        <p:spPr>
          <a:xfrm>
            <a:off x="373655" y="3466641"/>
            <a:ext cx="7218800" cy="29238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400" b="1">
                <a:latin typeface="+mj-lt"/>
                <a:ea typeface="+mj-ea"/>
                <a:cs typeface="+mj-cs"/>
              </a:rPr>
              <a:t>Next Quarterly Training</a:t>
            </a:r>
          </a:p>
          <a:p>
            <a:pPr marL="571500" indent="-571500">
              <a:buFont typeface="Arial"/>
              <a:buChar char="•"/>
            </a:pPr>
            <a:r>
              <a:rPr lang="en-US" sz="2800" b="1">
                <a:solidFill>
                  <a:schemeClr val="tx1">
                    <a:alpha val="60000"/>
                  </a:schemeClr>
                </a:solidFill>
                <a:ea typeface="Calibri"/>
                <a:cs typeface="Calibri"/>
              </a:rPr>
              <a:t>February 15 1-2:30pm CT</a:t>
            </a:r>
          </a:p>
          <a:p>
            <a:pPr marL="571500" indent="-571500">
              <a:buFont typeface="Arial"/>
              <a:buChar char="•"/>
            </a:pPr>
            <a:r>
              <a:rPr lang="en-US" sz="2800">
                <a:solidFill>
                  <a:schemeClr val="tx1">
                    <a:alpha val="60000"/>
                  </a:schemeClr>
                </a:solidFill>
                <a:ea typeface="Calibri"/>
                <a:cs typeface="Calibri"/>
              </a:rPr>
              <a:t>Engaging Employers for Competitive Integrated Employment</a:t>
            </a:r>
            <a:r>
              <a:rPr lang="en-US" sz="2800" b="1">
                <a:latin typeface="+mj-lt"/>
                <a:ea typeface="Calibri Light"/>
                <a:cs typeface="Calibri Light"/>
              </a:rPr>
              <a:t> </a:t>
            </a:r>
          </a:p>
          <a:p>
            <a:pPr marL="571500" indent="-571500">
              <a:buFont typeface="Arial"/>
              <a:buChar char="•"/>
            </a:pPr>
            <a:r>
              <a:rPr lang="en-US" sz="2800">
                <a:solidFill>
                  <a:schemeClr val="tx1">
                    <a:alpha val="60000"/>
                  </a:schemeClr>
                </a:solidFill>
                <a:ea typeface="Calibri"/>
                <a:cs typeface="Calibri"/>
              </a:rPr>
              <a:t>Dominique Berg &amp; Denise Johnson</a:t>
            </a:r>
          </a:p>
          <a:p>
            <a:pPr marL="571500" indent="-571500">
              <a:buFont typeface="Arial"/>
              <a:buChar char="•"/>
            </a:pPr>
            <a:r>
              <a:rPr lang="en-US" sz="2800">
                <a:solidFill>
                  <a:schemeClr val="tx1">
                    <a:alpha val="60000"/>
                  </a:schemeClr>
                </a:solidFill>
                <a:cs typeface="Calibri"/>
              </a:rPr>
              <a:t>Register: </a:t>
            </a:r>
            <a:r>
              <a:rPr lang="en-US" sz="2800">
                <a:solidFill>
                  <a:schemeClr val="tx1">
                    <a:alpha val="60000"/>
                  </a:schemeClr>
                </a:solidFill>
                <a:ea typeface="+mn-lt"/>
                <a:cs typeface="+mn-lt"/>
                <a:hlinkClick r:id="rId4">
                  <a:extLst>
                    <a:ext uri="{A12FA001-AC4F-418D-AE19-62706E023703}">
                      <ahyp:hlinkClr xmlns:ahyp="http://schemas.microsoft.com/office/drawing/2018/hyperlinkcolor" val="tx"/>
                    </a:ext>
                  </a:extLst>
                </a:hlinkClick>
              </a:rPr>
              <a:t>https://mti.ici.umn.edu/trainings</a:t>
            </a:r>
            <a:endParaRPr lang="en-US" sz="2800">
              <a:solidFill>
                <a:schemeClr val="tx1">
                  <a:alpha val="60000"/>
                </a:schemeClr>
              </a:solidFill>
            </a:endParaRPr>
          </a:p>
        </p:txBody>
      </p:sp>
    </p:spTree>
    <p:extLst>
      <p:ext uri="{BB962C8B-B14F-4D97-AF65-F5344CB8AC3E}">
        <p14:creationId xmlns:p14="http://schemas.microsoft.com/office/powerpoint/2010/main" val="17671917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79927-BDCF-FB39-C8D1-37CE2FC61A55}"/>
              </a:ext>
            </a:extLst>
          </p:cNvPr>
          <p:cNvSpPr>
            <a:spLocks noGrp="1"/>
          </p:cNvSpPr>
          <p:nvPr>
            <p:ph type="title"/>
          </p:nvPr>
        </p:nvSpPr>
        <p:spPr/>
        <p:txBody>
          <a:bodyPr/>
          <a:lstStyle/>
          <a:p>
            <a:pPr algn="ctr"/>
            <a:r>
              <a:rPr lang="en-US" b="1">
                <a:ea typeface="Calibri Light"/>
                <a:cs typeface="Calibri Light"/>
              </a:rPr>
              <a:t>Sign up for MTI's Newsletter</a:t>
            </a:r>
          </a:p>
        </p:txBody>
      </p:sp>
      <p:pic>
        <p:nvPicPr>
          <p:cNvPr id="4" name="Content Placeholder 3" descr="A screenshot of a web page&#10;&#10;Description automatically generated">
            <a:extLst>
              <a:ext uri="{FF2B5EF4-FFF2-40B4-BE49-F238E27FC236}">
                <a16:creationId xmlns:a16="http://schemas.microsoft.com/office/drawing/2014/main" id="{E975B557-7D02-D332-2C93-70D8D33CB2E0}"/>
              </a:ext>
            </a:extLst>
          </p:cNvPr>
          <p:cNvPicPr>
            <a:picLocks noGrp="1" noChangeAspect="1"/>
          </p:cNvPicPr>
          <p:nvPr>
            <p:ph idx="1"/>
          </p:nvPr>
        </p:nvPicPr>
        <p:blipFill>
          <a:blip r:embed="rId3"/>
          <a:stretch>
            <a:fillRect/>
          </a:stretch>
        </p:blipFill>
        <p:spPr>
          <a:xfrm>
            <a:off x="1239391" y="1843986"/>
            <a:ext cx="4718904" cy="4351338"/>
          </a:xfrm>
        </p:spPr>
      </p:pic>
      <p:pic>
        <p:nvPicPr>
          <p:cNvPr id="6" name="Picture 5" descr="Logo&#10;&#10;Description automatically generated with medium confidence">
            <a:extLst>
              <a:ext uri="{FF2B5EF4-FFF2-40B4-BE49-F238E27FC236}">
                <a16:creationId xmlns:a16="http://schemas.microsoft.com/office/drawing/2014/main" id="{4EA2F12C-6F55-0AE2-16C0-4081D223ADCA}"/>
              </a:ext>
            </a:extLst>
          </p:cNvPr>
          <p:cNvPicPr>
            <a:picLocks noChangeAspect="1"/>
          </p:cNvPicPr>
          <p:nvPr/>
        </p:nvPicPr>
        <p:blipFill>
          <a:blip r:embed="rId4"/>
          <a:stretch>
            <a:fillRect/>
          </a:stretch>
        </p:blipFill>
        <p:spPr>
          <a:xfrm>
            <a:off x="10819810" y="6072672"/>
            <a:ext cx="1214276" cy="601392"/>
          </a:xfrm>
          <a:prstGeom prst="rect">
            <a:avLst/>
          </a:prstGeom>
        </p:spPr>
      </p:pic>
      <p:sp>
        <p:nvSpPr>
          <p:cNvPr id="7" name="TextBox 6">
            <a:extLst>
              <a:ext uri="{FF2B5EF4-FFF2-40B4-BE49-F238E27FC236}">
                <a16:creationId xmlns:a16="http://schemas.microsoft.com/office/drawing/2014/main" id="{4FC28F6F-C09E-B1E4-3512-2078E4F87940}"/>
              </a:ext>
            </a:extLst>
          </p:cNvPr>
          <p:cNvSpPr txBox="1"/>
          <p:nvPr/>
        </p:nvSpPr>
        <p:spPr>
          <a:xfrm>
            <a:off x="6962900" y="4521529"/>
            <a:ext cx="472340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hlinkClick r:id="rId5"/>
              </a:rPr>
              <a:t>https://mti.ici.umn.edu/mti-newsletter</a:t>
            </a:r>
            <a:endParaRPr lang="en-US"/>
          </a:p>
        </p:txBody>
      </p:sp>
      <p:sp>
        <p:nvSpPr>
          <p:cNvPr id="9" name="Arrow: Right 8">
            <a:extLst>
              <a:ext uri="{FF2B5EF4-FFF2-40B4-BE49-F238E27FC236}">
                <a16:creationId xmlns:a16="http://schemas.microsoft.com/office/drawing/2014/main" id="{D22F7BA4-D942-D6AA-2055-EF99AA640059}"/>
              </a:ext>
            </a:extLst>
          </p:cNvPr>
          <p:cNvSpPr/>
          <p:nvPr/>
        </p:nvSpPr>
        <p:spPr>
          <a:xfrm rot="5400000">
            <a:off x="7814953" y="2523506"/>
            <a:ext cx="2147454" cy="1335974"/>
          </a:xfrm>
          <a:prstGeom prst="rightArrow">
            <a:avLst/>
          </a:prstGeom>
          <a:solidFill>
            <a:srgbClr val="8D191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957749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7">
            <a:extLst>
              <a:ext uri="{FF2B5EF4-FFF2-40B4-BE49-F238E27FC236}">
                <a16:creationId xmlns:a16="http://schemas.microsoft.com/office/drawing/2014/main" id="{E8BF0C67-DF85-430A-B677-74D9594394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1" y="0"/>
            <a:ext cx="12191996" cy="6858000"/>
          </a:xfrm>
          <a:prstGeom prst="rect">
            <a:avLst/>
          </a:prstGeom>
          <a:solidFill>
            <a:srgbClr val="FFFFFF"/>
          </a:solidFill>
          <a:ln w="0">
            <a:noFill/>
            <a:prstDash val="solid"/>
            <a:round/>
            <a:headEnd/>
            <a:tailEnd/>
          </a:ln>
        </p:spPr>
        <p:txBody>
          <a:bodyPr rtlCol="0" anchor="ctr"/>
          <a:lstStyle/>
          <a:p>
            <a:pPr algn="ctr" defTabSz="457200"/>
            <a:endParaRPr lang="en-US">
              <a:solidFill>
                <a:schemeClr val="tx1"/>
              </a:solidFill>
            </a:endParaRPr>
          </a:p>
        </p:txBody>
      </p:sp>
      <p:sp>
        <p:nvSpPr>
          <p:cNvPr id="19" name="Rectangle 9">
            <a:extLst>
              <a:ext uri="{FF2B5EF4-FFF2-40B4-BE49-F238E27FC236}">
                <a16:creationId xmlns:a16="http://schemas.microsoft.com/office/drawing/2014/main" id="{751BAC80-2398-422A-9AA2-2489F01EF9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1" y="0"/>
            <a:ext cx="12191996" cy="6858000"/>
          </a:xfrm>
          <a:prstGeom prst="rect">
            <a:avLst/>
          </a:prstGeom>
          <a:solidFill>
            <a:schemeClr val="accent1">
              <a:lumMod val="50000"/>
              <a:alpha val="25000"/>
            </a:schemeClr>
          </a:solidFill>
          <a:ln w="0">
            <a:noFill/>
            <a:prstDash val="solid"/>
            <a:round/>
            <a:headEnd/>
            <a:tailEnd/>
          </a:ln>
        </p:spPr>
        <p:txBody>
          <a:bodyPr wrap="square" rtlCol="0" anchor="ctr">
            <a:noAutofit/>
          </a:bodyPr>
          <a:lstStyle/>
          <a:p>
            <a:pPr algn="ctr"/>
            <a:endParaRPr lang="en-US"/>
          </a:p>
        </p:txBody>
      </p:sp>
      <p:sp useBgFill="1">
        <p:nvSpPr>
          <p:cNvPr id="20" name="Freeform: Shape 11">
            <a:extLst>
              <a:ext uri="{FF2B5EF4-FFF2-40B4-BE49-F238E27FC236}">
                <a16:creationId xmlns:a16="http://schemas.microsoft.com/office/drawing/2014/main" id="{34A3EF12-7620-4D66-ACFC-B9F71BAD87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96401" y="0"/>
            <a:ext cx="10095599" cy="6858000"/>
          </a:xfrm>
          <a:custGeom>
            <a:avLst/>
            <a:gdLst>
              <a:gd name="connsiteX0" fmla="*/ 0 w 10095599"/>
              <a:gd name="connsiteY0" fmla="*/ 0 h 6858000"/>
              <a:gd name="connsiteX1" fmla="*/ 7448352 w 10095599"/>
              <a:gd name="connsiteY1" fmla="*/ 0 h 6858000"/>
              <a:gd name="connsiteX2" fmla="*/ 9446485 w 10095599"/>
              <a:gd name="connsiteY2" fmla="*/ 0 h 6858000"/>
              <a:gd name="connsiteX3" fmla="*/ 10095599 w 10095599"/>
              <a:gd name="connsiteY3" fmla="*/ 0 h 6858000"/>
              <a:gd name="connsiteX4" fmla="*/ 10095599 w 10095599"/>
              <a:gd name="connsiteY4" fmla="*/ 6858000 h 6858000"/>
              <a:gd name="connsiteX5" fmla="*/ 9446485 w 10095599"/>
              <a:gd name="connsiteY5" fmla="*/ 6858000 h 6858000"/>
              <a:gd name="connsiteX6" fmla="*/ 7448352 w 10095599"/>
              <a:gd name="connsiteY6" fmla="*/ 6858000 h 6858000"/>
              <a:gd name="connsiteX7" fmla="*/ 0 w 10095599"/>
              <a:gd name="connsiteY7" fmla="*/ 6858000 h 6858000"/>
              <a:gd name="connsiteX8" fmla="*/ 1587 w 10095599"/>
              <a:gd name="connsiteY8" fmla="*/ 6789738 h 6858000"/>
              <a:gd name="connsiteX9" fmla="*/ 9525 w 10095599"/>
              <a:gd name="connsiteY9" fmla="*/ 6729413 h 6858000"/>
              <a:gd name="connsiteX10" fmla="*/ 20637 w 10095599"/>
              <a:gd name="connsiteY10" fmla="*/ 6677025 h 6858000"/>
              <a:gd name="connsiteX11" fmla="*/ 34925 w 10095599"/>
              <a:gd name="connsiteY11" fmla="*/ 6630988 h 6858000"/>
              <a:gd name="connsiteX12" fmla="*/ 50800 w 10095599"/>
              <a:gd name="connsiteY12" fmla="*/ 6589713 h 6858000"/>
              <a:gd name="connsiteX13" fmla="*/ 69850 w 10095599"/>
              <a:gd name="connsiteY13" fmla="*/ 6553200 h 6858000"/>
              <a:gd name="connsiteX14" fmla="*/ 88900 w 10095599"/>
              <a:gd name="connsiteY14" fmla="*/ 6515100 h 6858000"/>
              <a:gd name="connsiteX15" fmla="*/ 107950 w 10095599"/>
              <a:gd name="connsiteY15" fmla="*/ 6477000 h 6858000"/>
              <a:gd name="connsiteX16" fmla="*/ 123825 w 10095599"/>
              <a:gd name="connsiteY16" fmla="*/ 6440488 h 6858000"/>
              <a:gd name="connsiteX17" fmla="*/ 139700 w 10095599"/>
              <a:gd name="connsiteY17" fmla="*/ 6399213 h 6858000"/>
              <a:gd name="connsiteX18" fmla="*/ 155575 w 10095599"/>
              <a:gd name="connsiteY18" fmla="*/ 6353175 h 6858000"/>
              <a:gd name="connsiteX19" fmla="*/ 166687 w 10095599"/>
              <a:gd name="connsiteY19" fmla="*/ 6300788 h 6858000"/>
              <a:gd name="connsiteX20" fmla="*/ 173037 w 10095599"/>
              <a:gd name="connsiteY20" fmla="*/ 6240463 h 6858000"/>
              <a:gd name="connsiteX21" fmla="*/ 176212 w 10095599"/>
              <a:gd name="connsiteY21" fmla="*/ 6172200 h 6858000"/>
              <a:gd name="connsiteX22" fmla="*/ 173037 w 10095599"/>
              <a:gd name="connsiteY22" fmla="*/ 6103938 h 6858000"/>
              <a:gd name="connsiteX23" fmla="*/ 166687 w 10095599"/>
              <a:gd name="connsiteY23" fmla="*/ 6043613 h 6858000"/>
              <a:gd name="connsiteX24" fmla="*/ 155575 w 10095599"/>
              <a:gd name="connsiteY24" fmla="*/ 5991225 h 6858000"/>
              <a:gd name="connsiteX25" fmla="*/ 139700 w 10095599"/>
              <a:gd name="connsiteY25" fmla="*/ 5945188 h 6858000"/>
              <a:gd name="connsiteX26" fmla="*/ 123825 w 10095599"/>
              <a:gd name="connsiteY26" fmla="*/ 5903913 h 6858000"/>
              <a:gd name="connsiteX27" fmla="*/ 107950 w 10095599"/>
              <a:gd name="connsiteY27" fmla="*/ 5867400 h 6858000"/>
              <a:gd name="connsiteX28" fmla="*/ 88900 w 10095599"/>
              <a:gd name="connsiteY28" fmla="*/ 5829300 h 6858000"/>
              <a:gd name="connsiteX29" fmla="*/ 69850 w 10095599"/>
              <a:gd name="connsiteY29" fmla="*/ 5791200 h 6858000"/>
              <a:gd name="connsiteX30" fmla="*/ 50800 w 10095599"/>
              <a:gd name="connsiteY30" fmla="*/ 5754688 h 6858000"/>
              <a:gd name="connsiteX31" fmla="*/ 34925 w 10095599"/>
              <a:gd name="connsiteY31" fmla="*/ 5713413 h 6858000"/>
              <a:gd name="connsiteX32" fmla="*/ 20637 w 10095599"/>
              <a:gd name="connsiteY32" fmla="*/ 5667375 h 6858000"/>
              <a:gd name="connsiteX33" fmla="*/ 9525 w 10095599"/>
              <a:gd name="connsiteY33" fmla="*/ 5614988 h 6858000"/>
              <a:gd name="connsiteX34" fmla="*/ 1587 w 10095599"/>
              <a:gd name="connsiteY34" fmla="*/ 5554663 h 6858000"/>
              <a:gd name="connsiteX35" fmla="*/ 0 w 10095599"/>
              <a:gd name="connsiteY35" fmla="*/ 5486400 h 6858000"/>
              <a:gd name="connsiteX36" fmla="*/ 1587 w 10095599"/>
              <a:gd name="connsiteY36" fmla="*/ 5418138 h 6858000"/>
              <a:gd name="connsiteX37" fmla="*/ 9525 w 10095599"/>
              <a:gd name="connsiteY37" fmla="*/ 5357813 h 6858000"/>
              <a:gd name="connsiteX38" fmla="*/ 20637 w 10095599"/>
              <a:gd name="connsiteY38" fmla="*/ 5305425 h 6858000"/>
              <a:gd name="connsiteX39" fmla="*/ 34925 w 10095599"/>
              <a:gd name="connsiteY39" fmla="*/ 5259388 h 6858000"/>
              <a:gd name="connsiteX40" fmla="*/ 50800 w 10095599"/>
              <a:gd name="connsiteY40" fmla="*/ 5218113 h 6858000"/>
              <a:gd name="connsiteX41" fmla="*/ 69850 w 10095599"/>
              <a:gd name="connsiteY41" fmla="*/ 5181600 h 6858000"/>
              <a:gd name="connsiteX42" fmla="*/ 88900 w 10095599"/>
              <a:gd name="connsiteY42" fmla="*/ 5143500 h 6858000"/>
              <a:gd name="connsiteX43" fmla="*/ 107950 w 10095599"/>
              <a:gd name="connsiteY43" fmla="*/ 5105400 h 6858000"/>
              <a:gd name="connsiteX44" fmla="*/ 123825 w 10095599"/>
              <a:gd name="connsiteY44" fmla="*/ 5068888 h 6858000"/>
              <a:gd name="connsiteX45" fmla="*/ 139700 w 10095599"/>
              <a:gd name="connsiteY45" fmla="*/ 5027613 h 6858000"/>
              <a:gd name="connsiteX46" fmla="*/ 155575 w 10095599"/>
              <a:gd name="connsiteY46" fmla="*/ 4981575 h 6858000"/>
              <a:gd name="connsiteX47" fmla="*/ 166687 w 10095599"/>
              <a:gd name="connsiteY47" fmla="*/ 4929188 h 6858000"/>
              <a:gd name="connsiteX48" fmla="*/ 173037 w 10095599"/>
              <a:gd name="connsiteY48" fmla="*/ 4868863 h 6858000"/>
              <a:gd name="connsiteX49" fmla="*/ 176212 w 10095599"/>
              <a:gd name="connsiteY49" fmla="*/ 4800600 h 6858000"/>
              <a:gd name="connsiteX50" fmla="*/ 173037 w 10095599"/>
              <a:gd name="connsiteY50" fmla="*/ 4732338 h 6858000"/>
              <a:gd name="connsiteX51" fmla="*/ 166687 w 10095599"/>
              <a:gd name="connsiteY51" fmla="*/ 4672013 h 6858000"/>
              <a:gd name="connsiteX52" fmla="*/ 155575 w 10095599"/>
              <a:gd name="connsiteY52" fmla="*/ 4619625 h 6858000"/>
              <a:gd name="connsiteX53" fmla="*/ 139700 w 10095599"/>
              <a:gd name="connsiteY53" fmla="*/ 4573588 h 6858000"/>
              <a:gd name="connsiteX54" fmla="*/ 123825 w 10095599"/>
              <a:gd name="connsiteY54" fmla="*/ 4532313 h 6858000"/>
              <a:gd name="connsiteX55" fmla="*/ 107950 w 10095599"/>
              <a:gd name="connsiteY55" fmla="*/ 4495800 h 6858000"/>
              <a:gd name="connsiteX56" fmla="*/ 69850 w 10095599"/>
              <a:gd name="connsiteY56" fmla="*/ 4419600 h 6858000"/>
              <a:gd name="connsiteX57" fmla="*/ 50800 w 10095599"/>
              <a:gd name="connsiteY57" fmla="*/ 4383088 h 6858000"/>
              <a:gd name="connsiteX58" fmla="*/ 34925 w 10095599"/>
              <a:gd name="connsiteY58" fmla="*/ 4341813 h 6858000"/>
              <a:gd name="connsiteX59" fmla="*/ 20637 w 10095599"/>
              <a:gd name="connsiteY59" fmla="*/ 4295775 h 6858000"/>
              <a:gd name="connsiteX60" fmla="*/ 9525 w 10095599"/>
              <a:gd name="connsiteY60" fmla="*/ 4243388 h 6858000"/>
              <a:gd name="connsiteX61" fmla="*/ 1587 w 10095599"/>
              <a:gd name="connsiteY61" fmla="*/ 4183063 h 6858000"/>
              <a:gd name="connsiteX62" fmla="*/ 0 w 10095599"/>
              <a:gd name="connsiteY62" fmla="*/ 4114800 h 6858000"/>
              <a:gd name="connsiteX63" fmla="*/ 1587 w 10095599"/>
              <a:gd name="connsiteY63" fmla="*/ 4046538 h 6858000"/>
              <a:gd name="connsiteX64" fmla="*/ 9525 w 10095599"/>
              <a:gd name="connsiteY64" fmla="*/ 3986213 h 6858000"/>
              <a:gd name="connsiteX65" fmla="*/ 20637 w 10095599"/>
              <a:gd name="connsiteY65" fmla="*/ 3933825 h 6858000"/>
              <a:gd name="connsiteX66" fmla="*/ 34925 w 10095599"/>
              <a:gd name="connsiteY66" fmla="*/ 3887788 h 6858000"/>
              <a:gd name="connsiteX67" fmla="*/ 50800 w 10095599"/>
              <a:gd name="connsiteY67" fmla="*/ 3846513 h 6858000"/>
              <a:gd name="connsiteX68" fmla="*/ 69850 w 10095599"/>
              <a:gd name="connsiteY68" fmla="*/ 3810000 h 6858000"/>
              <a:gd name="connsiteX69" fmla="*/ 88900 w 10095599"/>
              <a:gd name="connsiteY69" fmla="*/ 3771900 h 6858000"/>
              <a:gd name="connsiteX70" fmla="*/ 107950 w 10095599"/>
              <a:gd name="connsiteY70" fmla="*/ 3733800 h 6858000"/>
              <a:gd name="connsiteX71" fmla="*/ 123825 w 10095599"/>
              <a:gd name="connsiteY71" fmla="*/ 3697288 h 6858000"/>
              <a:gd name="connsiteX72" fmla="*/ 139700 w 10095599"/>
              <a:gd name="connsiteY72" fmla="*/ 3656013 h 6858000"/>
              <a:gd name="connsiteX73" fmla="*/ 155575 w 10095599"/>
              <a:gd name="connsiteY73" fmla="*/ 3609975 h 6858000"/>
              <a:gd name="connsiteX74" fmla="*/ 166687 w 10095599"/>
              <a:gd name="connsiteY74" fmla="*/ 3557588 h 6858000"/>
              <a:gd name="connsiteX75" fmla="*/ 173037 w 10095599"/>
              <a:gd name="connsiteY75" fmla="*/ 3497263 h 6858000"/>
              <a:gd name="connsiteX76" fmla="*/ 176212 w 10095599"/>
              <a:gd name="connsiteY76" fmla="*/ 3427413 h 6858000"/>
              <a:gd name="connsiteX77" fmla="*/ 173037 w 10095599"/>
              <a:gd name="connsiteY77" fmla="*/ 3360738 h 6858000"/>
              <a:gd name="connsiteX78" fmla="*/ 166687 w 10095599"/>
              <a:gd name="connsiteY78" fmla="*/ 3300413 h 6858000"/>
              <a:gd name="connsiteX79" fmla="*/ 155575 w 10095599"/>
              <a:gd name="connsiteY79" fmla="*/ 3248025 h 6858000"/>
              <a:gd name="connsiteX80" fmla="*/ 139700 w 10095599"/>
              <a:gd name="connsiteY80" fmla="*/ 3201988 h 6858000"/>
              <a:gd name="connsiteX81" fmla="*/ 123825 w 10095599"/>
              <a:gd name="connsiteY81" fmla="*/ 3160713 h 6858000"/>
              <a:gd name="connsiteX82" fmla="*/ 107950 w 10095599"/>
              <a:gd name="connsiteY82" fmla="*/ 3124200 h 6858000"/>
              <a:gd name="connsiteX83" fmla="*/ 88900 w 10095599"/>
              <a:gd name="connsiteY83" fmla="*/ 3086100 h 6858000"/>
              <a:gd name="connsiteX84" fmla="*/ 69850 w 10095599"/>
              <a:gd name="connsiteY84" fmla="*/ 3048000 h 6858000"/>
              <a:gd name="connsiteX85" fmla="*/ 50800 w 10095599"/>
              <a:gd name="connsiteY85" fmla="*/ 3011488 h 6858000"/>
              <a:gd name="connsiteX86" fmla="*/ 34925 w 10095599"/>
              <a:gd name="connsiteY86" fmla="*/ 2970213 h 6858000"/>
              <a:gd name="connsiteX87" fmla="*/ 20637 w 10095599"/>
              <a:gd name="connsiteY87" fmla="*/ 2924175 h 6858000"/>
              <a:gd name="connsiteX88" fmla="*/ 9525 w 10095599"/>
              <a:gd name="connsiteY88" fmla="*/ 2871788 h 6858000"/>
              <a:gd name="connsiteX89" fmla="*/ 1587 w 10095599"/>
              <a:gd name="connsiteY89" fmla="*/ 2811463 h 6858000"/>
              <a:gd name="connsiteX90" fmla="*/ 0 w 10095599"/>
              <a:gd name="connsiteY90" fmla="*/ 2743200 h 6858000"/>
              <a:gd name="connsiteX91" fmla="*/ 1587 w 10095599"/>
              <a:gd name="connsiteY91" fmla="*/ 2674938 h 6858000"/>
              <a:gd name="connsiteX92" fmla="*/ 9525 w 10095599"/>
              <a:gd name="connsiteY92" fmla="*/ 2614613 h 6858000"/>
              <a:gd name="connsiteX93" fmla="*/ 20637 w 10095599"/>
              <a:gd name="connsiteY93" fmla="*/ 2562225 h 6858000"/>
              <a:gd name="connsiteX94" fmla="*/ 34925 w 10095599"/>
              <a:gd name="connsiteY94" fmla="*/ 2516188 h 6858000"/>
              <a:gd name="connsiteX95" fmla="*/ 50800 w 10095599"/>
              <a:gd name="connsiteY95" fmla="*/ 2474913 h 6858000"/>
              <a:gd name="connsiteX96" fmla="*/ 69850 w 10095599"/>
              <a:gd name="connsiteY96" fmla="*/ 2438400 h 6858000"/>
              <a:gd name="connsiteX97" fmla="*/ 88900 w 10095599"/>
              <a:gd name="connsiteY97" fmla="*/ 2400300 h 6858000"/>
              <a:gd name="connsiteX98" fmla="*/ 107950 w 10095599"/>
              <a:gd name="connsiteY98" fmla="*/ 2362200 h 6858000"/>
              <a:gd name="connsiteX99" fmla="*/ 123825 w 10095599"/>
              <a:gd name="connsiteY99" fmla="*/ 2325688 h 6858000"/>
              <a:gd name="connsiteX100" fmla="*/ 139700 w 10095599"/>
              <a:gd name="connsiteY100" fmla="*/ 2284413 h 6858000"/>
              <a:gd name="connsiteX101" fmla="*/ 155575 w 10095599"/>
              <a:gd name="connsiteY101" fmla="*/ 2238375 h 6858000"/>
              <a:gd name="connsiteX102" fmla="*/ 166687 w 10095599"/>
              <a:gd name="connsiteY102" fmla="*/ 2185988 h 6858000"/>
              <a:gd name="connsiteX103" fmla="*/ 173037 w 10095599"/>
              <a:gd name="connsiteY103" fmla="*/ 2125663 h 6858000"/>
              <a:gd name="connsiteX104" fmla="*/ 176212 w 10095599"/>
              <a:gd name="connsiteY104" fmla="*/ 2057400 h 6858000"/>
              <a:gd name="connsiteX105" fmla="*/ 173037 w 10095599"/>
              <a:gd name="connsiteY105" fmla="*/ 1989138 h 6858000"/>
              <a:gd name="connsiteX106" fmla="*/ 166687 w 10095599"/>
              <a:gd name="connsiteY106" fmla="*/ 1928813 h 6858000"/>
              <a:gd name="connsiteX107" fmla="*/ 155575 w 10095599"/>
              <a:gd name="connsiteY107" fmla="*/ 1876425 h 6858000"/>
              <a:gd name="connsiteX108" fmla="*/ 139700 w 10095599"/>
              <a:gd name="connsiteY108" fmla="*/ 1830388 h 6858000"/>
              <a:gd name="connsiteX109" fmla="*/ 123825 w 10095599"/>
              <a:gd name="connsiteY109" fmla="*/ 1789113 h 6858000"/>
              <a:gd name="connsiteX110" fmla="*/ 107950 w 10095599"/>
              <a:gd name="connsiteY110" fmla="*/ 1752600 h 6858000"/>
              <a:gd name="connsiteX111" fmla="*/ 88900 w 10095599"/>
              <a:gd name="connsiteY111" fmla="*/ 1714500 h 6858000"/>
              <a:gd name="connsiteX112" fmla="*/ 69850 w 10095599"/>
              <a:gd name="connsiteY112" fmla="*/ 1676400 h 6858000"/>
              <a:gd name="connsiteX113" fmla="*/ 50800 w 10095599"/>
              <a:gd name="connsiteY113" fmla="*/ 1639888 h 6858000"/>
              <a:gd name="connsiteX114" fmla="*/ 34925 w 10095599"/>
              <a:gd name="connsiteY114" fmla="*/ 1598613 h 6858000"/>
              <a:gd name="connsiteX115" fmla="*/ 20637 w 10095599"/>
              <a:gd name="connsiteY115" fmla="*/ 1552575 h 6858000"/>
              <a:gd name="connsiteX116" fmla="*/ 9525 w 10095599"/>
              <a:gd name="connsiteY116" fmla="*/ 1500188 h 6858000"/>
              <a:gd name="connsiteX117" fmla="*/ 1587 w 10095599"/>
              <a:gd name="connsiteY117" fmla="*/ 1439863 h 6858000"/>
              <a:gd name="connsiteX118" fmla="*/ 0 w 10095599"/>
              <a:gd name="connsiteY118" fmla="*/ 1371600 h 6858000"/>
              <a:gd name="connsiteX119" fmla="*/ 1587 w 10095599"/>
              <a:gd name="connsiteY119" fmla="*/ 1303338 h 6858000"/>
              <a:gd name="connsiteX120" fmla="*/ 9525 w 10095599"/>
              <a:gd name="connsiteY120" fmla="*/ 1243013 h 6858000"/>
              <a:gd name="connsiteX121" fmla="*/ 20637 w 10095599"/>
              <a:gd name="connsiteY121" fmla="*/ 1190625 h 6858000"/>
              <a:gd name="connsiteX122" fmla="*/ 34925 w 10095599"/>
              <a:gd name="connsiteY122" fmla="*/ 1144588 h 6858000"/>
              <a:gd name="connsiteX123" fmla="*/ 50800 w 10095599"/>
              <a:gd name="connsiteY123" fmla="*/ 1103313 h 6858000"/>
              <a:gd name="connsiteX124" fmla="*/ 69850 w 10095599"/>
              <a:gd name="connsiteY124" fmla="*/ 1066800 h 6858000"/>
              <a:gd name="connsiteX125" fmla="*/ 88900 w 10095599"/>
              <a:gd name="connsiteY125" fmla="*/ 1028700 h 6858000"/>
              <a:gd name="connsiteX126" fmla="*/ 107950 w 10095599"/>
              <a:gd name="connsiteY126" fmla="*/ 990600 h 6858000"/>
              <a:gd name="connsiteX127" fmla="*/ 123825 w 10095599"/>
              <a:gd name="connsiteY127" fmla="*/ 954088 h 6858000"/>
              <a:gd name="connsiteX128" fmla="*/ 139700 w 10095599"/>
              <a:gd name="connsiteY128" fmla="*/ 912813 h 6858000"/>
              <a:gd name="connsiteX129" fmla="*/ 155575 w 10095599"/>
              <a:gd name="connsiteY129" fmla="*/ 866775 h 6858000"/>
              <a:gd name="connsiteX130" fmla="*/ 166687 w 10095599"/>
              <a:gd name="connsiteY130" fmla="*/ 814388 h 6858000"/>
              <a:gd name="connsiteX131" fmla="*/ 173037 w 10095599"/>
              <a:gd name="connsiteY131" fmla="*/ 754063 h 6858000"/>
              <a:gd name="connsiteX132" fmla="*/ 176212 w 10095599"/>
              <a:gd name="connsiteY132" fmla="*/ 685800 h 6858000"/>
              <a:gd name="connsiteX133" fmla="*/ 173037 w 10095599"/>
              <a:gd name="connsiteY133" fmla="*/ 617538 h 6858000"/>
              <a:gd name="connsiteX134" fmla="*/ 166687 w 10095599"/>
              <a:gd name="connsiteY134" fmla="*/ 557213 h 6858000"/>
              <a:gd name="connsiteX135" fmla="*/ 155575 w 10095599"/>
              <a:gd name="connsiteY135" fmla="*/ 504825 h 6858000"/>
              <a:gd name="connsiteX136" fmla="*/ 139700 w 10095599"/>
              <a:gd name="connsiteY136" fmla="*/ 458788 h 6858000"/>
              <a:gd name="connsiteX137" fmla="*/ 123825 w 10095599"/>
              <a:gd name="connsiteY137" fmla="*/ 417513 h 6858000"/>
              <a:gd name="connsiteX138" fmla="*/ 107950 w 10095599"/>
              <a:gd name="connsiteY138" fmla="*/ 381000 h 6858000"/>
              <a:gd name="connsiteX139" fmla="*/ 88900 w 10095599"/>
              <a:gd name="connsiteY139" fmla="*/ 342900 h 6858000"/>
              <a:gd name="connsiteX140" fmla="*/ 69850 w 10095599"/>
              <a:gd name="connsiteY140" fmla="*/ 304800 h 6858000"/>
              <a:gd name="connsiteX141" fmla="*/ 50800 w 10095599"/>
              <a:gd name="connsiteY141" fmla="*/ 268288 h 6858000"/>
              <a:gd name="connsiteX142" fmla="*/ 34925 w 10095599"/>
              <a:gd name="connsiteY142" fmla="*/ 227013 h 6858000"/>
              <a:gd name="connsiteX143" fmla="*/ 20637 w 10095599"/>
              <a:gd name="connsiteY143" fmla="*/ 180975 h 6858000"/>
              <a:gd name="connsiteX144" fmla="*/ 9525 w 10095599"/>
              <a:gd name="connsiteY144" fmla="*/ 128588 h 6858000"/>
              <a:gd name="connsiteX145" fmla="*/ 1587 w 10095599"/>
              <a:gd name="connsiteY145" fmla="*/ 6826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10095599" h="6858000">
                <a:moveTo>
                  <a:pt x="0" y="0"/>
                </a:moveTo>
                <a:lnTo>
                  <a:pt x="7448352" y="0"/>
                </a:lnTo>
                <a:lnTo>
                  <a:pt x="9446485" y="0"/>
                </a:lnTo>
                <a:lnTo>
                  <a:pt x="10095599" y="0"/>
                </a:lnTo>
                <a:lnTo>
                  <a:pt x="10095599" y="6858000"/>
                </a:lnTo>
                <a:lnTo>
                  <a:pt x="9446485" y="6858000"/>
                </a:lnTo>
                <a:lnTo>
                  <a:pt x="7448352" y="6858000"/>
                </a:lnTo>
                <a:lnTo>
                  <a:pt x="0" y="6858000"/>
                </a:lnTo>
                <a:lnTo>
                  <a:pt x="1587" y="6789738"/>
                </a:lnTo>
                <a:lnTo>
                  <a:pt x="9525" y="6729413"/>
                </a:lnTo>
                <a:lnTo>
                  <a:pt x="20637" y="6677025"/>
                </a:lnTo>
                <a:lnTo>
                  <a:pt x="34925" y="6630988"/>
                </a:lnTo>
                <a:lnTo>
                  <a:pt x="50800" y="6589713"/>
                </a:lnTo>
                <a:lnTo>
                  <a:pt x="69850" y="6553200"/>
                </a:lnTo>
                <a:lnTo>
                  <a:pt x="88900" y="6515100"/>
                </a:lnTo>
                <a:lnTo>
                  <a:pt x="107950" y="6477000"/>
                </a:lnTo>
                <a:lnTo>
                  <a:pt x="123825" y="6440488"/>
                </a:lnTo>
                <a:lnTo>
                  <a:pt x="139700" y="6399213"/>
                </a:lnTo>
                <a:lnTo>
                  <a:pt x="155575" y="6353175"/>
                </a:lnTo>
                <a:lnTo>
                  <a:pt x="166687" y="6300788"/>
                </a:lnTo>
                <a:lnTo>
                  <a:pt x="173037" y="6240463"/>
                </a:lnTo>
                <a:lnTo>
                  <a:pt x="176212" y="6172200"/>
                </a:lnTo>
                <a:lnTo>
                  <a:pt x="173037" y="6103938"/>
                </a:lnTo>
                <a:lnTo>
                  <a:pt x="166687" y="6043613"/>
                </a:lnTo>
                <a:lnTo>
                  <a:pt x="155575" y="5991225"/>
                </a:lnTo>
                <a:lnTo>
                  <a:pt x="139700" y="5945188"/>
                </a:lnTo>
                <a:lnTo>
                  <a:pt x="123825" y="5903913"/>
                </a:lnTo>
                <a:lnTo>
                  <a:pt x="107950" y="5867400"/>
                </a:lnTo>
                <a:lnTo>
                  <a:pt x="88900" y="5829300"/>
                </a:lnTo>
                <a:lnTo>
                  <a:pt x="69850" y="5791200"/>
                </a:lnTo>
                <a:lnTo>
                  <a:pt x="50800" y="5754688"/>
                </a:lnTo>
                <a:lnTo>
                  <a:pt x="34925" y="5713413"/>
                </a:lnTo>
                <a:lnTo>
                  <a:pt x="20637" y="5667375"/>
                </a:lnTo>
                <a:lnTo>
                  <a:pt x="9525" y="5614988"/>
                </a:lnTo>
                <a:lnTo>
                  <a:pt x="1587" y="5554663"/>
                </a:lnTo>
                <a:lnTo>
                  <a:pt x="0" y="5486400"/>
                </a:lnTo>
                <a:lnTo>
                  <a:pt x="1587" y="5418138"/>
                </a:lnTo>
                <a:lnTo>
                  <a:pt x="9525" y="5357813"/>
                </a:lnTo>
                <a:lnTo>
                  <a:pt x="20637" y="5305425"/>
                </a:lnTo>
                <a:lnTo>
                  <a:pt x="34925" y="5259388"/>
                </a:lnTo>
                <a:lnTo>
                  <a:pt x="50800" y="5218113"/>
                </a:lnTo>
                <a:lnTo>
                  <a:pt x="69850" y="5181600"/>
                </a:lnTo>
                <a:lnTo>
                  <a:pt x="88900" y="5143500"/>
                </a:lnTo>
                <a:lnTo>
                  <a:pt x="107950" y="5105400"/>
                </a:lnTo>
                <a:lnTo>
                  <a:pt x="123825" y="5068888"/>
                </a:lnTo>
                <a:lnTo>
                  <a:pt x="139700" y="5027613"/>
                </a:lnTo>
                <a:lnTo>
                  <a:pt x="155575" y="4981575"/>
                </a:lnTo>
                <a:lnTo>
                  <a:pt x="166687" y="4929188"/>
                </a:lnTo>
                <a:lnTo>
                  <a:pt x="173037" y="4868863"/>
                </a:lnTo>
                <a:lnTo>
                  <a:pt x="176212" y="4800600"/>
                </a:lnTo>
                <a:lnTo>
                  <a:pt x="173037" y="4732338"/>
                </a:lnTo>
                <a:lnTo>
                  <a:pt x="166687" y="4672013"/>
                </a:lnTo>
                <a:lnTo>
                  <a:pt x="155575" y="4619625"/>
                </a:lnTo>
                <a:lnTo>
                  <a:pt x="139700" y="4573588"/>
                </a:lnTo>
                <a:lnTo>
                  <a:pt x="123825" y="4532313"/>
                </a:lnTo>
                <a:lnTo>
                  <a:pt x="107950" y="4495800"/>
                </a:lnTo>
                <a:lnTo>
                  <a:pt x="69850" y="4419600"/>
                </a:lnTo>
                <a:lnTo>
                  <a:pt x="50800" y="4383088"/>
                </a:lnTo>
                <a:lnTo>
                  <a:pt x="34925" y="4341813"/>
                </a:lnTo>
                <a:lnTo>
                  <a:pt x="20637" y="4295775"/>
                </a:lnTo>
                <a:lnTo>
                  <a:pt x="9525" y="4243388"/>
                </a:lnTo>
                <a:lnTo>
                  <a:pt x="1587" y="4183063"/>
                </a:lnTo>
                <a:lnTo>
                  <a:pt x="0" y="4114800"/>
                </a:lnTo>
                <a:lnTo>
                  <a:pt x="1587" y="4046538"/>
                </a:lnTo>
                <a:lnTo>
                  <a:pt x="9525" y="3986213"/>
                </a:lnTo>
                <a:lnTo>
                  <a:pt x="20637" y="3933825"/>
                </a:lnTo>
                <a:lnTo>
                  <a:pt x="34925" y="3887788"/>
                </a:lnTo>
                <a:lnTo>
                  <a:pt x="50800" y="3846513"/>
                </a:lnTo>
                <a:lnTo>
                  <a:pt x="69850" y="3810000"/>
                </a:lnTo>
                <a:lnTo>
                  <a:pt x="88900" y="3771900"/>
                </a:lnTo>
                <a:lnTo>
                  <a:pt x="107950" y="3733800"/>
                </a:lnTo>
                <a:lnTo>
                  <a:pt x="123825" y="3697288"/>
                </a:lnTo>
                <a:lnTo>
                  <a:pt x="139700" y="3656013"/>
                </a:lnTo>
                <a:lnTo>
                  <a:pt x="155575" y="3609975"/>
                </a:lnTo>
                <a:lnTo>
                  <a:pt x="166687" y="3557588"/>
                </a:lnTo>
                <a:lnTo>
                  <a:pt x="173037" y="3497263"/>
                </a:lnTo>
                <a:lnTo>
                  <a:pt x="176212" y="3427413"/>
                </a:lnTo>
                <a:lnTo>
                  <a:pt x="173037" y="3360738"/>
                </a:lnTo>
                <a:lnTo>
                  <a:pt x="166687" y="3300413"/>
                </a:lnTo>
                <a:lnTo>
                  <a:pt x="155575" y="3248025"/>
                </a:lnTo>
                <a:lnTo>
                  <a:pt x="139700" y="3201988"/>
                </a:lnTo>
                <a:lnTo>
                  <a:pt x="123825" y="3160713"/>
                </a:lnTo>
                <a:lnTo>
                  <a:pt x="107950" y="3124200"/>
                </a:lnTo>
                <a:lnTo>
                  <a:pt x="88900" y="3086100"/>
                </a:lnTo>
                <a:lnTo>
                  <a:pt x="69850" y="3048000"/>
                </a:lnTo>
                <a:lnTo>
                  <a:pt x="50800" y="3011488"/>
                </a:lnTo>
                <a:lnTo>
                  <a:pt x="34925" y="2970213"/>
                </a:lnTo>
                <a:lnTo>
                  <a:pt x="20637" y="2924175"/>
                </a:lnTo>
                <a:lnTo>
                  <a:pt x="9525" y="2871788"/>
                </a:lnTo>
                <a:lnTo>
                  <a:pt x="1587" y="2811463"/>
                </a:lnTo>
                <a:lnTo>
                  <a:pt x="0" y="2743200"/>
                </a:lnTo>
                <a:lnTo>
                  <a:pt x="1587" y="2674938"/>
                </a:lnTo>
                <a:lnTo>
                  <a:pt x="9525" y="2614613"/>
                </a:lnTo>
                <a:lnTo>
                  <a:pt x="20637" y="2562225"/>
                </a:lnTo>
                <a:lnTo>
                  <a:pt x="34925" y="2516188"/>
                </a:lnTo>
                <a:lnTo>
                  <a:pt x="50800" y="2474913"/>
                </a:lnTo>
                <a:lnTo>
                  <a:pt x="69850" y="2438400"/>
                </a:lnTo>
                <a:lnTo>
                  <a:pt x="88900" y="2400300"/>
                </a:lnTo>
                <a:lnTo>
                  <a:pt x="107950" y="2362200"/>
                </a:lnTo>
                <a:lnTo>
                  <a:pt x="123825" y="2325688"/>
                </a:lnTo>
                <a:lnTo>
                  <a:pt x="139700" y="2284413"/>
                </a:lnTo>
                <a:lnTo>
                  <a:pt x="155575" y="2238375"/>
                </a:lnTo>
                <a:lnTo>
                  <a:pt x="166687" y="2185988"/>
                </a:lnTo>
                <a:lnTo>
                  <a:pt x="173037" y="2125663"/>
                </a:lnTo>
                <a:lnTo>
                  <a:pt x="176212" y="2057400"/>
                </a:lnTo>
                <a:lnTo>
                  <a:pt x="173037" y="1989138"/>
                </a:lnTo>
                <a:lnTo>
                  <a:pt x="166687" y="1928813"/>
                </a:lnTo>
                <a:lnTo>
                  <a:pt x="155575" y="1876425"/>
                </a:lnTo>
                <a:lnTo>
                  <a:pt x="139700" y="1830388"/>
                </a:lnTo>
                <a:lnTo>
                  <a:pt x="123825" y="1789113"/>
                </a:lnTo>
                <a:lnTo>
                  <a:pt x="107950" y="1752600"/>
                </a:lnTo>
                <a:lnTo>
                  <a:pt x="88900" y="1714500"/>
                </a:lnTo>
                <a:lnTo>
                  <a:pt x="69850" y="1676400"/>
                </a:lnTo>
                <a:lnTo>
                  <a:pt x="50800" y="1639888"/>
                </a:lnTo>
                <a:lnTo>
                  <a:pt x="34925" y="1598613"/>
                </a:lnTo>
                <a:lnTo>
                  <a:pt x="20637" y="1552575"/>
                </a:lnTo>
                <a:lnTo>
                  <a:pt x="9525" y="1500188"/>
                </a:lnTo>
                <a:lnTo>
                  <a:pt x="1587" y="1439863"/>
                </a:lnTo>
                <a:lnTo>
                  <a:pt x="0" y="1371600"/>
                </a:lnTo>
                <a:lnTo>
                  <a:pt x="1587" y="1303338"/>
                </a:lnTo>
                <a:lnTo>
                  <a:pt x="9525" y="1243013"/>
                </a:lnTo>
                <a:lnTo>
                  <a:pt x="20637" y="1190625"/>
                </a:lnTo>
                <a:lnTo>
                  <a:pt x="34925" y="1144588"/>
                </a:lnTo>
                <a:lnTo>
                  <a:pt x="50800" y="1103313"/>
                </a:lnTo>
                <a:lnTo>
                  <a:pt x="69850" y="1066800"/>
                </a:lnTo>
                <a:lnTo>
                  <a:pt x="88900" y="1028700"/>
                </a:lnTo>
                <a:lnTo>
                  <a:pt x="107950" y="990600"/>
                </a:lnTo>
                <a:lnTo>
                  <a:pt x="123825" y="954088"/>
                </a:lnTo>
                <a:lnTo>
                  <a:pt x="139700" y="912813"/>
                </a:lnTo>
                <a:lnTo>
                  <a:pt x="155575" y="866775"/>
                </a:lnTo>
                <a:lnTo>
                  <a:pt x="166687" y="814388"/>
                </a:lnTo>
                <a:lnTo>
                  <a:pt x="173037" y="754063"/>
                </a:lnTo>
                <a:lnTo>
                  <a:pt x="176212" y="685800"/>
                </a:lnTo>
                <a:lnTo>
                  <a:pt x="173037" y="617538"/>
                </a:lnTo>
                <a:lnTo>
                  <a:pt x="166687" y="557213"/>
                </a:lnTo>
                <a:lnTo>
                  <a:pt x="155575" y="504825"/>
                </a:lnTo>
                <a:lnTo>
                  <a:pt x="139700" y="458788"/>
                </a:lnTo>
                <a:lnTo>
                  <a:pt x="123825" y="417513"/>
                </a:lnTo>
                <a:lnTo>
                  <a:pt x="107950" y="381000"/>
                </a:lnTo>
                <a:lnTo>
                  <a:pt x="88900" y="342900"/>
                </a:lnTo>
                <a:lnTo>
                  <a:pt x="69850" y="304800"/>
                </a:lnTo>
                <a:lnTo>
                  <a:pt x="50800" y="268288"/>
                </a:lnTo>
                <a:lnTo>
                  <a:pt x="34925" y="227013"/>
                </a:lnTo>
                <a:lnTo>
                  <a:pt x="20637" y="180975"/>
                </a:lnTo>
                <a:lnTo>
                  <a:pt x="9525" y="128588"/>
                </a:lnTo>
                <a:lnTo>
                  <a:pt x="1587" y="68263"/>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194F438-5282-0AC6-BED5-6C58D59582CD}"/>
              </a:ext>
            </a:extLst>
          </p:cNvPr>
          <p:cNvSpPr>
            <a:spLocks noGrp="1"/>
          </p:cNvSpPr>
          <p:nvPr>
            <p:ph type="title"/>
          </p:nvPr>
        </p:nvSpPr>
        <p:spPr>
          <a:xfrm>
            <a:off x="1585773" y="267629"/>
            <a:ext cx="8632372" cy="1113295"/>
          </a:xfrm>
        </p:spPr>
        <p:txBody>
          <a:bodyPr anchor="t">
            <a:normAutofit/>
          </a:bodyPr>
          <a:lstStyle/>
          <a:p>
            <a:pPr algn="ctr"/>
            <a:r>
              <a:rPr lang="en-US"/>
              <a:t>Resources	</a:t>
            </a:r>
          </a:p>
        </p:txBody>
      </p:sp>
      <p:pic>
        <p:nvPicPr>
          <p:cNvPr id="5" name="Picture 4" descr="Logo">
            <a:extLst>
              <a:ext uri="{FF2B5EF4-FFF2-40B4-BE49-F238E27FC236}">
                <a16:creationId xmlns:a16="http://schemas.microsoft.com/office/drawing/2014/main" id="{1D9D86B6-06EC-7855-38BD-D889DEBBAD74}"/>
              </a:ext>
            </a:extLst>
          </p:cNvPr>
          <p:cNvPicPr>
            <a:picLocks noChangeAspect="1"/>
          </p:cNvPicPr>
          <p:nvPr/>
        </p:nvPicPr>
        <p:blipFill>
          <a:blip r:embed="rId3"/>
          <a:stretch>
            <a:fillRect/>
          </a:stretch>
        </p:blipFill>
        <p:spPr>
          <a:xfrm>
            <a:off x="10095599" y="5833791"/>
            <a:ext cx="1768158" cy="875712"/>
          </a:xfrm>
          <a:prstGeom prst="rect">
            <a:avLst/>
          </a:prstGeom>
        </p:spPr>
      </p:pic>
      <p:sp>
        <p:nvSpPr>
          <p:cNvPr id="7" name="Content Placeholder 6">
            <a:extLst>
              <a:ext uri="{FF2B5EF4-FFF2-40B4-BE49-F238E27FC236}">
                <a16:creationId xmlns:a16="http://schemas.microsoft.com/office/drawing/2014/main" id="{18101594-30CD-85FF-F02F-5255472D6441}"/>
              </a:ext>
            </a:extLst>
          </p:cNvPr>
          <p:cNvSpPr>
            <a:spLocks noGrp="1"/>
          </p:cNvSpPr>
          <p:nvPr>
            <p:ph idx="1"/>
          </p:nvPr>
        </p:nvSpPr>
        <p:spPr>
          <a:xfrm>
            <a:off x="2504440" y="1612265"/>
            <a:ext cx="9551625" cy="4351338"/>
          </a:xfrm>
        </p:spPr>
        <p:txBody>
          <a:bodyPr vert="horz" lIns="91440" tIns="45720" rIns="91440" bIns="45720" rtlCol="0" anchor="t">
            <a:normAutofit/>
          </a:bodyPr>
          <a:lstStyle/>
          <a:p>
            <a:pPr lvl="1">
              <a:lnSpc>
                <a:spcPct val="100000"/>
              </a:lnSpc>
              <a:spcBef>
                <a:spcPts val="0"/>
              </a:spcBef>
            </a:pPr>
            <a:r>
              <a:rPr lang="en-US" sz="1600">
                <a:ea typeface="Calibri"/>
                <a:cs typeface="Calibri"/>
              </a:rPr>
              <a:t>E1MN e-communications. </a:t>
            </a:r>
            <a:r>
              <a:rPr lang="en-US" sz="1600">
                <a:ea typeface="Calibri"/>
                <a:cs typeface="Calibri"/>
                <a:hlinkClick r:id="rId4"/>
              </a:rPr>
              <a:t>https://public.govdelivery.com/accounts/MNDEED/subscriber/new?topic_id=MNDEED_1111</a:t>
            </a:r>
            <a:endParaRPr lang="en-US" sz="1600">
              <a:ea typeface="Calibri"/>
              <a:cs typeface="Calibri"/>
            </a:endParaRPr>
          </a:p>
          <a:p>
            <a:pPr lvl="1">
              <a:lnSpc>
                <a:spcPct val="100000"/>
              </a:lnSpc>
              <a:spcBef>
                <a:spcPts val="0"/>
              </a:spcBef>
            </a:pPr>
            <a:r>
              <a:rPr lang="en-US" sz="1600">
                <a:ea typeface="Calibri"/>
                <a:cs typeface="Calibri"/>
              </a:rPr>
              <a:t>Margie Webb MS, CRC – Customized Employment Specialist, DEED. Email - Margie.webb@state.mn.us</a:t>
            </a:r>
          </a:p>
          <a:p>
            <a:pPr lvl="1">
              <a:lnSpc>
                <a:spcPct val="100000"/>
              </a:lnSpc>
              <a:spcBef>
                <a:spcPts val="0"/>
              </a:spcBef>
            </a:pPr>
            <a:r>
              <a:rPr lang="en-US" sz="1600">
                <a:ea typeface="Calibri"/>
                <a:cs typeface="Calibri"/>
              </a:rPr>
              <a:t>MN DEED. </a:t>
            </a:r>
            <a:r>
              <a:rPr lang="en-US" sz="1600" i="1">
                <a:ea typeface="Calibri"/>
                <a:cs typeface="Calibri"/>
              </a:rPr>
              <a:t>Customized Employment.</a:t>
            </a:r>
            <a:r>
              <a:rPr lang="en-US" sz="1600">
                <a:ea typeface="Calibri"/>
                <a:cs typeface="Calibri"/>
              </a:rPr>
              <a:t> </a:t>
            </a:r>
            <a:r>
              <a:rPr lang="en-US" sz="1600">
                <a:ea typeface="Calibri"/>
                <a:cs typeface="Calibri"/>
                <a:hlinkClick r:id="rId5"/>
              </a:rPr>
              <a:t>https://mn.gov/deed/job-seekers/disabilities/partners/guide/contracted-services/services/customized/</a:t>
            </a:r>
            <a:endParaRPr lang="en-US" sz="1600">
              <a:ea typeface="Calibri"/>
              <a:cs typeface="Calibri"/>
            </a:endParaRPr>
          </a:p>
          <a:p>
            <a:pPr lvl="1">
              <a:lnSpc>
                <a:spcPct val="100000"/>
              </a:lnSpc>
              <a:spcBef>
                <a:spcPts val="0"/>
              </a:spcBef>
            </a:pPr>
            <a:r>
              <a:rPr lang="en-US" sz="1600">
                <a:ea typeface="Calibri"/>
                <a:cs typeface="Calibri"/>
              </a:rPr>
              <a:t>National Disability Institute. </a:t>
            </a:r>
            <a:r>
              <a:rPr lang="en-US" sz="1600" i="1">
                <a:ea typeface="Calibri"/>
                <a:cs typeface="Calibri"/>
              </a:rPr>
              <a:t>Discovery &amp; Customized Employment.</a:t>
            </a:r>
            <a:r>
              <a:rPr lang="en-US" sz="1600">
                <a:ea typeface="Calibri"/>
                <a:cs typeface="Calibri"/>
              </a:rPr>
              <a:t> </a:t>
            </a:r>
            <a:r>
              <a:rPr lang="en-US" sz="1600">
                <a:ea typeface="Calibri"/>
                <a:cs typeface="Calibri"/>
                <a:hlinkClick r:id="rId6"/>
              </a:rPr>
              <a:t>https://www.nationaldisabilityinstitute.org/employment/discovery-and-customized-employment/#:~:text=Discovery%20is%20the%20foundation%20of,who%20experience%20barriers%20to%20employment</a:t>
            </a:r>
            <a:r>
              <a:rPr lang="en-US" sz="1600">
                <a:ea typeface="Calibri"/>
                <a:cs typeface="Calibri"/>
              </a:rPr>
              <a:t>.</a:t>
            </a:r>
          </a:p>
          <a:p>
            <a:pPr lvl="1">
              <a:lnSpc>
                <a:spcPct val="100000"/>
              </a:lnSpc>
              <a:spcBef>
                <a:spcPts val="0"/>
              </a:spcBef>
            </a:pPr>
            <a:endParaRPr lang="en-US" sz="1600">
              <a:ea typeface="Calibri"/>
              <a:cs typeface="Calibri"/>
            </a:endParaRPr>
          </a:p>
        </p:txBody>
      </p:sp>
    </p:spTree>
    <p:extLst>
      <p:ext uri="{BB962C8B-B14F-4D97-AF65-F5344CB8AC3E}">
        <p14:creationId xmlns:p14="http://schemas.microsoft.com/office/powerpoint/2010/main" val="14544444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2B4CAAFA20B174C9D092CEDE2B75F72" ma:contentTypeVersion="16" ma:contentTypeDescription="Create a new document." ma:contentTypeScope="" ma:versionID="9c21024722a0a094e79ded9afdd4c23b">
  <xsd:schema xmlns:xsd="http://www.w3.org/2001/XMLSchema" xmlns:xs="http://www.w3.org/2001/XMLSchema" xmlns:p="http://schemas.microsoft.com/office/2006/metadata/properties" xmlns:ns2="13a59ec9-72ae-4468-8b69-a6fc079d6534" xmlns:ns3="f6e3e907-bc34-45f2-9bd0-9583dc1f18f1" targetNamespace="http://schemas.microsoft.com/office/2006/metadata/properties" ma:root="true" ma:fieldsID="cd9212ea0ba4a26db79549c459913f93" ns2:_="" ns3:_="">
    <xsd:import namespace="13a59ec9-72ae-4468-8b69-a6fc079d6534"/>
    <xsd:import namespace="f6e3e907-bc34-45f2-9bd0-9583dc1f18f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ServiceObjectDetectorVersions" minOccurs="0"/>
                <xsd:element ref="ns2:MediaServiceLoca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3a59ec9-72ae-4468-8b69-a6fc079d653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abb1ab42-7277-4699-bffd-c4f8fd762ea1"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Location" ma:index="22" nillable="true" ma:displayName="Location" ma:indexed="true" ma:internalName="MediaServiceLocation"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6e3e907-bc34-45f2-9bd0-9583dc1f18f1"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8c067b02-87a6-49ea-b506-9b6aa8bcae63}" ma:internalName="TaxCatchAll" ma:showField="CatchAllData" ma:web="f6e3e907-bc34-45f2-9bd0-9583dc1f18f1">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13a59ec9-72ae-4468-8b69-a6fc079d6534">
      <Terms xmlns="http://schemas.microsoft.com/office/infopath/2007/PartnerControls"/>
    </lcf76f155ced4ddcb4097134ff3c332f>
    <TaxCatchAll xmlns="f6e3e907-bc34-45f2-9bd0-9583dc1f18f1" xsi:nil="true"/>
  </documentManagement>
</p:properties>
</file>

<file path=customXml/itemProps1.xml><?xml version="1.0" encoding="utf-8"?>
<ds:datastoreItem xmlns:ds="http://schemas.openxmlformats.org/officeDocument/2006/customXml" ds:itemID="{FCB30D09-539C-4BE8-A98F-3CB64E164A29}">
  <ds:schemaRefs>
    <ds:schemaRef ds:uri="http://schemas.microsoft.com/sharepoint/v3/contenttype/forms"/>
  </ds:schemaRefs>
</ds:datastoreItem>
</file>

<file path=customXml/itemProps2.xml><?xml version="1.0" encoding="utf-8"?>
<ds:datastoreItem xmlns:ds="http://schemas.openxmlformats.org/officeDocument/2006/customXml" ds:itemID="{CF19A50A-245C-4006-B316-EC4AD748804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3a59ec9-72ae-4468-8b69-a6fc079d6534"/>
    <ds:schemaRef ds:uri="f6e3e907-bc34-45f2-9bd0-9583dc1f18f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3E9593D-B61E-4065-AC17-822E6629BE77}">
  <ds:schemaRefs>
    <ds:schemaRef ds:uri="13a59ec9-72ae-4468-8b69-a6fc079d6534"/>
    <ds:schemaRef ds:uri="f6e3e907-bc34-45f2-9bd0-9583dc1f18f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61</TotalTime>
  <Words>2587</Words>
  <Application>Microsoft Office PowerPoint</Application>
  <PresentationFormat>Widescreen</PresentationFormat>
  <Paragraphs>189</Paragraphs>
  <Slides>15</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Calibri Light</vt:lpstr>
      <vt:lpstr>Candara</vt:lpstr>
      <vt:lpstr>Courier New</vt:lpstr>
      <vt:lpstr>Office Theme</vt:lpstr>
      <vt:lpstr>MTI Community of Practice </vt:lpstr>
      <vt:lpstr>Agenda </vt:lpstr>
      <vt:lpstr>Building Caseloads </vt:lpstr>
      <vt:lpstr>Building Caseloads </vt:lpstr>
      <vt:lpstr>Customized Employment </vt:lpstr>
      <vt:lpstr>Customized Employment training </vt:lpstr>
      <vt:lpstr>Other Resources </vt:lpstr>
      <vt:lpstr>10 Essential Elements of Provider Transformation</vt:lpstr>
      <vt:lpstr>PowerPoint Presentation</vt:lpstr>
      <vt:lpstr>What are your organization's resources? </vt:lpstr>
      <vt:lpstr>Reallocating Staff Resources at Company ABC</vt:lpstr>
      <vt:lpstr>Let’s hear from you...</vt:lpstr>
      <vt:lpstr>Last 2 Scheduled CoPs</vt:lpstr>
      <vt:lpstr>Sign up for MTI's Newsletter</vt:lpstr>
      <vt:lpstr>Resources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MTI Community of Practice</dc:title>
  <dc:creator>Cindy Thomas</dc:creator>
  <cp:lastModifiedBy>Staci Jones</cp:lastModifiedBy>
  <cp:revision>223</cp:revision>
  <dcterms:created xsi:type="dcterms:W3CDTF">2022-10-25T02:34:59Z</dcterms:created>
  <dcterms:modified xsi:type="dcterms:W3CDTF">2024-01-24T18:10:15Z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0x01010022B4CAAFA20B174C9D092CEDE2B75F72</vt:lpwstr>
  </property>
  <property fmtid="{D5CDD505-2E9C-101B-9397-08002B2CF9AE}" pid="3" name="MediaServiceImageTags">
    <vt:lpwstr/>
  </property>
</Properties>
</file>