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4"/>
    <p:sldMasterId id="2147483829" r:id="rId5"/>
    <p:sldMasterId id="2147483841" r:id="rId6"/>
  </p:sldMasterIdLst>
  <p:notesMasterIdLst>
    <p:notesMasterId r:id="rId42"/>
  </p:notesMasterIdLst>
  <p:sldIdLst>
    <p:sldId id="847" r:id="rId7"/>
    <p:sldId id="259" r:id="rId8"/>
    <p:sldId id="258" r:id="rId9"/>
    <p:sldId id="848" r:id="rId10"/>
    <p:sldId id="568" r:id="rId11"/>
    <p:sldId id="849" r:id="rId12"/>
    <p:sldId id="294" r:id="rId13"/>
    <p:sldId id="276" r:id="rId14"/>
    <p:sldId id="1297" r:id="rId15"/>
    <p:sldId id="269" r:id="rId16"/>
    <p:sldId id="257" r:id="rId17"/>
    <p:sldId id="279" r:id="rId18"/>
    <p:sldId id="1332" r:id="rId19"/>
    <p:sldId id="260" r:id="rId20"/>
    <p:sldId id="1333" r:id="rId21"/>
    <p:sldId id="264" r:id="rId22"/>
    <p:sldId id="1330" r:id="rId23"/>
    <p:sldId id="265" r:id="rId24"/>
    <p:sldId id="1334" r:id="rId25"/>
    <p:sldId id="266" r:id="rId26"/>
    <p:sldId id="267" r:id="rId27"/>
    <p:sldId id="1337" r:id="rId28"/>
    <p:sldId id="1329" r:id="rId29"/>
    <p:sldId id="272" r:id="rId30"/>
    <p:sldId id="1335" r:id="rId31"/>
    <p:sldId id="273" r:id="rId32"/>
    <p:sldId id="1328" r:id="rId33"/>
    <p:sldId id="274" r:id="rId34"/>
    <p:sldId id="601" r:id="rId35"/>
    <p:sldId id="1336" r:id="rId36"/>
    <p:sldId id="275" r:id="rId37"/>
    <p:sldId id="1327" r:id="rId38"/>
    <p:sldId id="278" r:id="rId39"/>
    <p:sldId id="277" r:id="rId40"/>
    <p:sldId id="850" r:id="rId41"/>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547294-FA49-4D46-B3DC-2D5C3C2021D1}" v="2" dt="2023-05-25T15:52:19.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s>
</file>

<file path=ppt/diagrams/_rels/data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4" Type="http://schemas.openxmlformats.org/officeDocument/2006/relationships/image" Target="../media/image5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4" Type="http://schemas.openxmlformats.org/officeDocument/2006/relationships/image" Target="../media/image5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C784FF-DB06-4E45-9D90-8419D5980EC7}"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856FE529-6A50-45D2-989C-C80EF1704D65}">
      <dgm:prSet/>
      <dgm:spPr/>
      <dgm:t>
        <a:bodyPr/>
        <a:lstStyle/>
        <a:p>
          <a:r>
            <a:rPr lang="en-US" i="1"/>
            <a:t>Leads to employment</a:t>
          </a:r>
          <a:r>
            <a:rPr lang="en-US"/>
            <a:t> through career exploration &amp; networking</a:t>
          </a:r>
        </a:p>
      </dgm:t>
    </dgm:pt>
    <dgm:pt modelId="{2ECAD2A2-3195-43DB-81E3-2B93C6A74CBB}" type="parTrans" cxnId="{9EBCE546-8DCA-4A40-9E3C-B93BA69A1A45}">
      <dgm:prSet/>
      <dgm:spPr/>
      <dgm:t>
        <a:bodyPr/>
        <a:lstStyle/>
        <a:p>
          <a:endParaRPr lang="en-US"/>
        </a:p>
      </dgm:t>
    </dgm:pt>
    <dgm:pt modelId="{661BC34B-04CD-42C3-8F1F-09BE725DAA78}" type="sibTrans" cxnId="{9EBCE546-8DCA-4A40-9E3C-B93BA69A1A45}">
      <dgm:prSet/>
      <dgm:spPr/>
      <dgm:t>
        <a:bodyPr/>
        <a:lstStyle/>
        <a:p>
          <a:endParaRPr lang="en-US"/>
        </a:p>
      </dgm:t>
    </dgm:pt>
    <dgm:pt modelId="{65A2DDD6-19E1-4B0F-B4A6-12FA5001D0A3}">
      <dgm:prSet/>
      <dgm:spPr/>
      <dgm:t>
        <a:bodyPr/>
        <a:lstStyle/>
        <a:p>
          <a:r>
            <a:rPr lang="en-US" i="1"/>
            <a:t>Wraps around employment</a:t>
          </a:r>
          <a:r>
            <a:rPr lang="en-US"/>
            <a:t> to fill gaps in time, experience, social connection</a:t>
          </a:r>
        </a:p>
      </dgm:t>
    </dgm:pt>
    <dgm:pt modelId="{F5D3B66A-50DC-4C3F-8A10-58D5ACFFE9A6}" type="parTrans" cxnId="{B9FB0EF5-1B50-42B5-BF1E-D4FB54A637D8}">
      <dgm:prSet/>
      <dgm:spPr/>
      <dgm:t>
        <a:bodyPr/>
        <a:lstStyle/>
        <a:p>
          <a:endParaRPr lang="en-US"/>
        </a:p>
      </dgm:t>
    </dgm:pt>
    <dgm:pt modelId="{0904C424-92BC-4813-91AA-44730DD6165D}" type="sibTrans" cxnId="{B9FB0EF5-1B50-42B5-BF1E-D4FB54A637D8}">
      <dgm:prSet/>
      <dgm:spPr/>
      <dgm:t>
        <a:bodyPr/>
        <a:lstStyle/>
        <a:p>
          <a:endParaRPr lang="en-US"/>
        </a:p>
      </dgm:t>
    </dgm:pt>
    <dgm:pt modelId="{7BA63686-98E7-46DB-80DA-3C822E2E1DBD}">
      <dgm:prSet/>
      <dgm:spPr/>
      <dgm:t>
        <a:bodyPr/>
        <a:lstStyle/>
        <a:p>
          <a:r>
            <a:rPr lang="en-US" i="1"/>
            <a:t>Supports people in retirement</a:t>
          </a:r>
          <a:r>
            <a:rPr lang="en-US"/>
            <a:t> in integrated ways</a:t>
          </a:r>
        </a:p>
      </dgm:t>
    </dgm:pt>
    <dgm:pt modelId="{790AD19A-FECB-4218-A9F2-FAD02AD2E26F}" type="parTrans" cxnId="{129E88AE-8ADB-4BF9-884F-ABE5CEC84B2B}">
      <dgm:prSet/>
      <dgm:spPr/>
      <dgm:t>
        <a:bodyPr/>
        <a:lstStyle/>
        <a:p>
          <a:endParaRPr lang="en-US"/>
        </a:p>
      </dgm:t>
    </dgm:pt>
    <dgm:pt modelId="{1408874A-D4D8-4139-89B1-C10D1D948338}" type="sibTrans" cxnId="{129E88AE-8ADB-4BF9-884F-ABE5CEC84B2B}">
      <dgm:prSet/>
      <dgm:spPr/>
      <dgm:t>
        <a:bodyPr/>
        <a:lstStyle/>
        <a:p>
          <a:endParaRPr lang="en-US"/>
        </a:p>
      </dgm:t>
    </dgm:pt>
    <dgm:pt modelId="{5951E828-47D1-4348-AEF8-5CE7A33BBA7D}" type="pres">
      <dgm:prSet presAssocID="{66C784FF-DB06-4E45-9D90-8419D5980EC7}" presName="vert0" presStyleCnt="0">
        <dgm:presLayoutVars>
          <dgm:dir/>
          <dgm:animOne val="branch"/>
          <dgm:animLvl val="lvl"/>
        </dgm:presLayoutVars>
      </dgm:prSet>
      <dgm:spPr/>
    </dgm:pt>
    <dgm:pt modelId="{C8B559E0-E8D6-4967-BFBF-466FBDF30EC6}" type="pres">
      <dgm:prSet presAssocID="{856FE529-6A50-45D2-989C-C80EF1704D65}" presName="thickLine" presStyleLbl="alignNode1" presStyleIdx="0" presStyleCnt="3"/>
      <dgm:spPr/>
    </dgm:pt>
    <dgm:pt modelId="{59503760-4271-4B69-B9D6-0E1C5DF7479E}" type="pres">
      <dgm:prSet presAssocID="{856FE529-6A50-45D2-989C-C80EF1704D65}" presName="horz1" presStyleCnt="0"/>
      <dgm:spPr/>
    </dgm:pt>
    <dgm:pt modelId="{36945B69-0B5F-4DC0-B54D-8A93A155BD37}" type="pres">
      <dgm:prSet presAssocID="{856FE529-6A50-45D2-989C-C80EF1704D65}" presName="tx1" presStyleLbl="revTx" presStyleIdx="0" presStyleCnt="3"/>
      <dgm:spPr/>
    </dgm:pt>
    <dgm:pt modelId="{77A924C3-B8AD-4E2F-833B-D1558E47A99E}" type="pres">
      <dgm:prSet presAssocID="{856FE529-6A50-45D2-989C-C80EF1704D65}" presName="vert1" presStyleCnt="0"/>
      <dgm:spPr/>
    </dgm:pt>
    <dgm:pt modelId="{D1C86F45-71DD-42E6-8B56-9AC942E794DE}" type="pres">
      <dgm:prSet presAssocID="{65A2DDD6-19E1-4B0F-B4A6-12FA5001D0A3}" presName="thickLine" presStyleLbl="alignNode1" presStyleIdx="1" presStyleCnt="3"/>
      <dgm:spPr/>
    </dgm:pt>
    <dgm:pt modelId="{D8126915-4EBE-4E53-BFB6-BC8E0933B8C2}" type="pres">
      <dgm:prSet presAssocID="{65A2DDD6-19E1-4B0F-B4A6-12FA5001D0A3}" presName="horz1" presStyleCnt="0"/>
      <dgm:spPr/>
    </dgm:pt>
    <dgm:pt modelId="{117DC26A-83D4-4154-A661-A1D8D3127E23}" type="pres">
      <dgm:prSet presAssocID="{65A2DDD6-19E1-4B0F-B4A6-12FA5001D0A3}" presName="tx1" presStyleLbl="revTx" presStyleIdx="1" presStyleCnt="3"/>
      <dgm:spPr/>
    </dgm:pt>
    <dgm:pt modelId="{11629928-FCCC-4859-A62E-B64AF1E12FA8}" type="pres">
      <dgm:prSet presAssocID="{65A2DDD6-19E1-4B0F-B4A6-12FA5001D0A3}" presName="vert1" presStyleCnt="0"/>
      <dgm:spPr/>
    </dgm:pt>
    <dgm:pt modelId="{8047F1CA-1112-44A2-BCE7-0BFB3AD46641}" type="pres">
      <dgm:prSet presAssocID="{7BA63686-98E7-46DB-80DA-3C822E2E1DBD}" presName="thickLine" presStyleLbl="alignNode1" presStyleIdx="2" presStyleCnt="3"/>
      <dgm:spPr/>
    </dgm:pt>
    <dgm:pt modelId="{FA3F1155-6ED1-49AC-9B84-FE0202620E38}" type="pres">
      <dgm:prSet presAssocID="{7BA63686-98E7-46DB-80DA-3C822E2E1DBD}" presName="horz1" presStyleCnt="0"/>
      <dgm:spPr/>
    </dgm:pt>
    <dgm:pt modelId="{5E063FA7-E0E6-481D-AC8B-4D3622E87E77}" type="pres">
      <dgm:prSet presAssocID="{7BA63686-98E7-46DB-80DA-3C822E2E1DBD}" presName="tx1" presStyleLbl="revTx" presStyleIdx="2" presStyleCnt="3"/>
      <dgm:spPr/>
    </dgm:pt>
    <dgm:pt modelId="{8C190B5E-D1CC-4A70-88CD-F8573F4A3B74}" type="pres">
      <dgm:prSet presAssocID="{7BA63686-98E7-46DB-80DA-3C822E2E1DBD}" presName="vert1" presStyleCnt="0"/>
      <dgm:spPr/>
    </dgm:pt>
  </dgm:ptLst>
  <dgm:cxnLst>
    <dgm:cxn modelId="{B024C215-1162-4E7A-885C-50FDAF203112}" type="presOf" srcId="{65A2DDD6-19E1-4B0F-B4A6-12FA5001D0A3}" destId="{117DC26A-83D4-4154-A661-A1D8D3127E23}" srcOrd="0" destOrd="0" presId="urn:microsoft.com/office/officeart/2008/layout/LinedList"/>
    <dgm:cxn modelId="{45165F19-41FB-4874-BDAA-C831E553491E}" type="presOf" srcId="{856FE529-6A50-45D2-989C-C80EF1704D65}" destId="{36945B69-0B5F-4DC0-B54D-8A93A155BD37}" srcOrd="0" destOrd="0" presId="urn:microsoft.com/office/officeart/2008/layout/LinedList"/>
    <dgm:cxn modelId="{9EBCE546-8DCA-4A40-9E3C-B93BA69A1A45}" srcId="{66C784FF-DB06-4E45-9D90-8419D5980EC7}" destId="{856FE529-6A50-45D2-989C-C80EF1704D65}" srcOrd="0" destOrd="0" parTransId="{2ECAD2A2-3195-43DB-81E3-2B93C6A74CBB}" sibTransId="{661BC34B-04CD-42C3-8F1F-09BE725DAA78}"/>
    <dgm:cxn modelId="{7DAF08A8-28D7-491E-AEB8-6AB81D2E1D0C}" type="presOf" srcId="{7BA63686-98E7-46DB-80DA-3C822E2E1DBD}" destId="{5E063FA7-E0E6-481D-AC8B-4D3622E87E77}" srcOrd="0" destOrd="0" presId="urn:microsoft.com/office/officeart/2008/layout/LinedList"/>
    <dgm:cxn modelId="{129E88AE-8ADB-4BF9-884F-ABE5CEC84B2B}" srcId="{66C784FF-DB06-4E45-9D90-8419D5980EC7}" destId="{7BA63686-98E7-46DB-80DA-3C822E2E1DBD}" srcOrd="2" destOrd="0" parTransId="{790AD19A-FECB-4218-A9F2-FAD02AD2E26F}" sibTransId="{1408874A-D4D8-4139-89B1-C10D1D948338}"/>
    <dgm:cxn modelId="{B9FB0EF5-1B50-42B5-BF1E-D4FB54A637D8}" srcId="{66C784FF-DB06-4E45-9D90-8419D5980EC7}" destId="{65A2DDD6-19E1-4B0F-B4A6-12FA5001D0A3}" srcOrd="1" destOrd="0" parTransId="{F5D3B66A-50DC-4C3F-8A10-58D5ACFFE9A6}" sibTransId="{0904C424-92BC-4813-91AA-44730DD6165D}"/>
    <dgm:cxn modelId="{5B45EEFA-76AE-4DAC-971B-19778D10FD3D}" type="presOf" srcId="{66C784FF-DB06-4E45-9D90-8419D5980EC7}" destId="{5951E828-47D1-4348-AEF8-5CE7A33BBA7D}" srcOrd="0" destOrd="0" presId="urn:microsoft.com/office/officeart/2008/layout/LinedList"/>
    <dgm:cxn modelId="{05CF63BD-9755-4BD1-9838-E96C1FDC4634}" type="presParOf" srcId="{5951E828-47D1-4348-AEF8-5CE7A33BBA7D}" destId="{C8B559E0-E8D6-4967-BFBF-466FBDF30EC6}" srcOrd="0" destOrd="0" presId="urn:microsoft.com/office/officeart/2008/layout/LinedList"/>
    <dgm:cxn modelId="{E71A03E6-2C87-4D23-9545-31CB0017C3D2}" type="presParOf" srcId="{5951E828-47D1-4348-AEF8-5CE7A33BBA7D}" destId="{59503760-4271-4B69-B9D6-0E1C5DF7479E}" srcOrd="1" destOrd="0" presId="urn:microsoft.com/office/officeart/2008/layout/LinedList"/>
    <dgm:cxn modelId="{B780806F-DB21-4D68-BA76-21C028D5B949}" type="presParOf" srcId="{59503760-4271-4B69-B9D6-0E1C5DF7479E}" destId="{36945B69-0B5F-4DC0-B54D-8A93A155BD37}" srcOrd="0" destOrd="0" presId="urn:microsoft.com/office/officeart/2008/layout/LinedList"/>
    <dgm:cxn modelId="{A2D066C9-B9CD-42B5-9C76-8D24828F0E69}" type="presParOf" srcId="{59503760-4271-4B69-B9D6-0E1C5DF7479E}" destId="{77A924C3-B8AD-4E2F-833B-D1558E47A99E}" srcOrd="1" destOrd="0" presId="urn:microsoft.com/office/officeart/2008/layout/LinedList"/>
    <dgm:cxn modelId="{DF96B68A-57FE-4747-8C32-5A2A3D7AE126}" type="presParOf" srcId="{5951E828-47D1-4348-AEF8-5CE7A33BBA7D}" destId="{D1C86F45-71DD-42E6-8B56-9AC942E794DE}" srcOrd="2" destOrd="0" presId="urn:microsoft.com/office/officeart/2008/layout/LinedList"/>
    <dgm:cxn modelId="{9CF32DFB-CFC7-409A-BD42-1C2F1C1FF8D9}" type="presParOf" srcId="{5951E828-47D1-4348-AEF8-5CE7A33BBA7D}" destId="{D8126915-4EBE-4E53-BFB6-BC8E0933B8C2}" srcOrd="3" destOrd="0" presId="urn:microsoft.com/office/officeart/2008/layout/LinedList"/>
    <dgm:cxn modelId="{BD701409-EFBE-48DC-A12D-3711AD85346F}" type="presParOf" srcId="{D8126915-4EBE-4E53-BFB6-BC8E0933B8C2}" destId="{117DC26A-83D4-4154-A661-A1D8D3127E23}" srcOrd="0" destOrd="0" presId="urn:microsoft.com/office/officeart/2008/layout/LinedList"/>
    <dgm:cxn modelId="{AF798098-E04A-41F8-9977-41AB75277613}" type="presParOf" srcId="{D8126915-4EBE-4E53-BFB6-BC8E0933B8C2}" destId="{11629928-FCCC-4859-A62E-B64AF1E12FA8}" srcOrd="1" destOrd="0" presId="urn:microsoft.com/office/officeart/2008/layout/LinedList"/>
    <dgm:cxn modelId="{D4D7E2E6-3314-4BFB-9A6C-278FCDBC7098}" type="presParOf" srcId="{5951E828-47D1-4348-AEF8-5CE7A33BBA7D}" destId="{8047F1CA-1112-44A2-BCE7-0BFB3AD46641}" srcOrd="4" destOrd="0" presId="urn:microsoft.com/office/officeart/2008/layout/LinedList"/>
    <dgm:cxn modelId="{4C67EA78-086F-4965-A5BC-97629044CC64}" type="presParOf" srcId="{5951E828-47D1-4348-AEF8-5CE7A33BBA7D}" destId="{FA3F1155-6ED1-49AC-9B84-FE0202620E38}" srcOrd="5" destOrd="0" presId="urn:microsoft.com/office/officeart/2008/layout/LinedList"/>
    <dgm:cxn modelId="{6AB1FDEA-837A-4506-9C88-2ED46001A05D}" type="presParOf" srcId="{FA3F1155-6ED1-49AC-9B84-FE0202620E38}" destId="{5E063FA7-E0E6-481D-AC8B-4D3622E87E77}" srcOrd="0" destOrd="0" presId="urn:microsoft.com/office/officeart/2008/layout/LinedList"/>
    <dgm:cxn modelId="{F0879087-2E2A-420B-B247-D5C6D9064E1C}" type="presParOf" srcId="{FA3F1155-6ED1-49AC-9B84-FE0202620E38}" destId="{8C190B5E-D1CC-4A70-88CD-F8573F4A3B7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92714D-345D-414D-A8C2-6C5D2097246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5CCD20B-5BFB-4409-8CE6-E799132AFD8F}">
      <dgm:prSet/>
      <dgm:spPr/>
      <dgm:t>
        <a:bodyPr/>
        <a:lstStyle/>
        <a:p>
          <a:r>
            <a:rPr lang="en-US"/>
            <a:t>Think of something that you supported someone to do for a long time. Maybe bowling or ice skating? </a:t>
          </a:r>
        </a:p>
      </dgm:t>
    </dgm:pt>
    <dgm:pt modelId="{D957E160-51B9-461F-8A67-A9AB5E9A25B3}" type="parTrans" cxnId="{57D41E9E-159B-4BD6-9AEF-1FBB2B423DA1}">
      <dgm:prSet/>
      <dgm:spPr/>
      <dgm:t>
        <a:bodyPr/>
        <a:lstStyle/>
        <a:p>
          <a:endParaRPr lang="en-US"/>
        </a:p>
      </dgm:t>
    </dgm:pt>
    <dgm:pt modelId="{328CA390-BF3A-4952-9E18-1205980B7270}" type="sibTrans" cxnId="{57D41E9E-159B-4BD6-9AEF-1FBB2B423DA1}">
      <dgm:prSet/>
      <dgm:spPr/>
      <dgm:t>
        <a:bodyPr/>
        <a:lstStyle/>
        <a:p>
          <a:endParaRPr lang="en-US"/>
        </a:p>
      </dgm:t>
    </dgm:pt>
    <dgm:pt modelId="{E02440A4-7935-4556-A586-8427778DC7E0}">
      <dgm:prSet/>
      <dgm:spPr/>
      <dgm:t>
        <a:bodyPr/>
        <a:lstStyle/>
        <a:p>
          <a:r>
            <a:rPr lang="en-US"/>
            <a:t>Discussion: How do you know if it’s time to try something new? </a:t>
          </a:r>
        </a:p>
      </dgm:t>
    </dgm:pt>
    <dgm:pt modelId="{8590B129-A9BA-4C41-B1EC-363B555CA499}" type="parTrans" cxnId="{76CFADA0-02D9-4BB5-A599-560160EC5783}">
      <dgm:prSet/>
      <dgm:spPr/>
      <dgm:t>
        <a:bodyPr/>
        <a:lstStyle/>
        <a:p>
          <a:endParaRPr lang="en-US"/>
        </a:p>
      </dgm:t>
    </dgm:pt>
    <dgm:pt modelId="{255CF20B-A23B-47F1-99F4-40804B8510BD}" type="sibTrans" cxnId="{76CFADA0-02D9-4BB5-A599-560160EC5783}">
      <dgm:prSet/>
      <dgm:spPr/>
      <dgm:t>
        <a:bodyPr/>
        <a:lstStyle/>
        <a:p>
          <a:endParaRPr lang="en-US"/>
        </a:p>
      </dgm:t>
    </dgm:pt>
    <dgm:pt modelId="{00F53DAF-9DF9-47AF-984A-D83F04D33CC6}" type="pres">
      <dgm:prSet presAssocID="{7492714D-345D-414D-A8C2-6C5D20972469}" presName="root" presStyleCnt="0">
        <dgm:presLayoutVars>
          <dgm:dir/>
          <dgm:resizeHandles val="exact"/>
        </dgm:presLayoutVars>
      </dgm:prSet>
      <dgm:spPr/>
    </dgm:pt>
    <dgm:pt modelId="{B3C3A00A-751E-4AD5-AB5A-DF9D8A895AB0}" type="pres">
      <dgm:prSet presAssocID="{85CCD20B-5BFB-4409-8CE6-E799132AFD8F}" presName="compNode" presStyleCnt="0"/>
      <dgm:spPr/>
    </dgm:pt>
    <dgm:pt modelId="{05457730-3AA8-4168-A4CF-82BA285D5162}" type="pres">
      <dgm:prSet presAssocID="{85CCD20B-5BFB-4409-8CE6-E799132AFD8F}" presName="bgRect" presStyleLbl="bgShp" presStyleIdx="0" presStyleCnt="2"/>
      <dgm:spPr/>
    </dgm:pt>
    <dgm:pt modelId="{EFB73995-9609-4ADF-BA5C-E01F2AD3C111}" type="pres">
      <dgm:prSet presAssocID="{85CCD20B-5BFB-4409-8CE6-E799132AFD8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877C1B4E-FC03-4E8D-BDE5-876564BB79A0}" type="pres">
      <dgm:prSet presAssocID="{85CCD20B-5BFB-4409-8CE6-E799132AFD8F}" presName="spaceRect" presStyleCnt="0"/>
      <dgm:spPr/>
    </dgm:pt>
    <dgm:pt modelId="{B7A15861-E279-4E76-B53A-1D3C7F66FFE7}" type="pres">
      <dgm:prSet presAssocID="{85CCD20B-5BFB-4409-8CE6-E799132AFD8F}" presName="parTx" presStyleLbl="revTx" presStyleIdx="0" presStyleCnt="2">
        <dgm:presLayoutVars>
          <dgm:chMax val="0"/>
          <dgm:chPref val="0"/>
        </dgm:presLayoutVars>
      </dgm:prSet>
      <dgm:spPr/>
    </dgm:pt>
    <dgm:pt modelId="{76CC7D6B-3285-4419-869A-0CF3BC48069E}" type="pres">
      <dgm:prSet presAssocID="{328CA390-BF3A-4952-9E18-1205980B7270}" presName="sibTrans" presStyleCnt="0"/>
      <dgm:spPr/>
    </dgm:pt>
    <dgm:pt modelId="{AAE4857E-E727-4CAF-B8EF-4084F48B9872}" type="pres">
      <dgm:prSet presAssocID="{E02440A4-7935-4556-A586-8427778DC7E0}" presName="compNode" presStyleCnt="0"/>
      <dgm:spPr/>
    </dgm:pt>
    <dgm:pt modelId="{360CED59-699E-47B0-B92B-3EB9643CD588}" type="pres">
      <dgm:prSet presAssocID="{E02440A4-7935-4556-A586-8427778DC7E0}" presName="bgRect" presStyleLbl="bgShp" presStyleIdx="1" presStyleCnt="2" custLinFactNeighborX="-137" custLinFactNeighborY="-2619"/>
      <dgm:spPr/>
    </dgm:pt>
    <dgm:pt modelId="{6D165346-A3E9-4AF3-9F43-16B7BE6ADEB7}" type="pres">
      <dgm:prSet presAssocID="{E02440A4-7935-4556-A586-8427778DC7E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B5D1638E-C80C-42AA-B3AD-84FA25E977AB}" type="pres">
      <dgm:prSet presAssocID="{E02440A4-7935-4556-A586-8427778DC7E0}" presName="spaceRect" presStyleCnt="0"/>
      <dgm:spPr/>
    </dgm:pt>
    <dgm:pt modelId="{2F499EDD-C331-4FD9-BDCB-76E92177A2BC}" type="pres">
      <dgm:prSet presAssocID="{E02440A4-7935-4556-A586-8427778DC7E0}" presName="parTx" presStyleLbl="revTx" presStyleIdx="1" presStyleCnt="2">
        <dgm:presLayoutVars>
          <dgm:chMax val="0"/>
          <dgm:chPref val="0"/>
        </dgm:presLayoutVars>
      </dgm:prSet>
      <dgm:spPr/>
    </dgm:pt>
  </dgm:ptLst>
  <dgm:cxnLst>
    <dgm:cxn modelId="{DA318A5B-E7B3-4282-878C-6A046B62302A}" type="presOf" srcId="{7492714D-345D-414D-A8C2-6C5D20972469}" destId="{00F53DAF-9DF9-47AF-984A-D83F04D33CC6}" srcOrd="0" destOrd="0" presId="urn:microsoft.com/office/officeart/2018/2/layout/IconVerticalSolidList"/>
    <dgm:cxn modelId="{57D41E9E-159B-4BD6-9AEF-1FBB2B423DA1}" srcId="{7492714D-345D-414D-A8C2-6C5D20972469}" destId="{85CCD20B-5BFB-4409-8CE6-E799132AFD8F}" srcOrd="0" destOrd="0" parTransId="{D957E160-51B9-461F-8A67-A9AB5E9A25B3}" sibTransId="{328CA390-BF3A-4952-9E18-1205980B7270}"/>
    <dgm:cxn modelId="{76CFADA0-02D9-4BB5-A599-560160EC5783}" srcId="{7492714D-345D-414D-A8C2-6C5D20972469}" destId="{E02440A4-7935-4556-A586-8427778DC7E0}" srcOrd="1" destOrd="0" parTransId="{8590B129-A9BA-4C41-B1EC-363B555CA499}" sibTransId="{255CF20B-A23B-47F1-99F4-40804B8510BD}"/>
    <dgm:cxn modelId="{381346C2-3094-41E2-ADAF-8475799440A2}" type="presOf" srcId="{85CCD20B-5BFB-4409-8CE6-E799132AFD8F}" destId="{B7A15861-E279-4E76-B53A-1D3C7F66FFE7}" srcOrd="0" destOrd="0" presId="urn:microsoft.com/office/officeart/2018/2/layout/IconVerticalSolidList"/>
    <dgm:cxn modelId="{F3E57FD6-D632-4F85-AE7A-955B06A3AA5F}" type="presOf" srcId="{E02440A4-7935-4556-A586-8427778DC7E0}" destId="{2F499EDD-C331-4FD9-BDCB-76E92177A2BC}" srcOrd="0" destOrd="0" presId="urn:microsoft.com/office/officeart/2018/2/layout/IconVerticalSolidList"/>
    <dgm:cxn modelId="{DB189315-52B5-4F93-BBA6-0ECCEA202469}" type="presParOf" srcId="{00F53DAF-9DF9-47AF-984A-D83F04D33CC6}" destId="{B3C3A00A-751E-4AD5-AB5A-DF9D8A895AB0}" srcOrd="0" destOrd="0" presId="urn:microsoft.com/office/officeart/2018/2/layout/IconVerticalSolidList"/>
    <dgm:cxn modelId="{69AB0B09-7416-4942-9E9C-6688ABF3F166}" type="presParOf" srcId="{B3C3A00A-751E-4AD5-AB5A-DF9D8A895AB0}" destId="{05457730-3AA8-4168-A4CF-82BA285D5162}" srcOrd="0" destOrd="0" presId="urn:microsoft.com/office/officeart/2018/2/layout/IconVerticalSolidList"/>
    <dgm:cxn modelId="{3EC21E23-A928-4138-91F4-26C729CD79BC}" type="presParOf" srcId="{B3C3A00A-751E-4AD5-AB5A-DF9D8A895AB0}" destId="{EFB73995-9609-4ADF-BA5C-E01F2AD3C111}" srcOrd="1" destOrd="0" presId="urn:microsoft.com/office/officeart/2018/2/layout/IconVerticalSolidList"/>
    <dgm:cxn modelId="{9F17BD5D-244B-497B-8E41-A82A83CADF3C}" type="presParOf" srcId="{B3C3A00A-751E-4AD5-AB5A-DF9D8A895AB0}" destId="{877C1B4E-FC03-4E8D-BDE5-876564BB79A0}" srcOrd="2" destOrd="0" presId="urn:microsoft.com/office/officeart/2018/2/layout/IconVerticalSolidList"/>
    <dgm:cxn modelId="{7F4FA79E-6398-4388-8728-D1F527335AE0}" type="presParOf" srcId="{B3C3A00A-751E-4AD5-AB5A-DF9D8A895AB0}" destId="{B7A15861-E279-4E76-B53A-1D3C7F66FFE7}" srcOrd="3" destOrd="0" presId="urn:microsoft.com/office/officeart/2018/2/layout/IconVerticalSolidList"/>
    <dgm:cxn modelId="{CC2E7C59-19D9-4663-A312-B5365E1BA854}" type="presParOf" srcId="{00F53DAF-9DF9-47AF-984A-D83F04D33CC6}" destId="{76CC7D6B-3285-4419-869A-0CF3BC48069E}" srcOrd="1" destOrd="0" presId="urn:microsoft.com/office/officeart/2018/2/layout/IconVerticalSolidList"/>
    <dgm:cxn modelId="{75550C1C-F794-4771-9012-CCDB398AE73A}" type="presParOf" srcId="{00F53DAF-9DF9-47AF-984A-D83F04D33CC6}" destId="{AAE4857E-E727-4CAF-B8EF-4084F48B9872}" srcOrd="2" destOrd="0" presId="urn:microsoft.com/office/officeart/2018/2/layout/IconVerticalSolidList"/>
    <dgm:cxn modelId="{F3973132-397E-46E0-9658-29241452E9D5}" type="presParOf" srcId="{AAE4857E-E727-4CAF-B8EF-4084F48B9872}" destId="{360CED59-699E-47B0-B92B-3EB9643CD588}" srcOrd="0" destOrd="0" presId="urn:microsoft.com/office/officeart/2018/2/layout/IconVerticalSolidList"/>
    <dgm:cxn modelId="{17D7B66B-02F2-40BC-BD4A-794B9D98F339}" type="presParOf" srcId="{AAE4857E-E727-4CAF-B8EF-4084F48B9872}" destId="{6D165346-A3E9-4AF3-9F43-16B7BE6ADEB7}" srcOrd="1" destOrd="0" presId="urn:microsoft.com/office/officeart/2018/2/layout/IconVerticalSolidList"/>
    <dgm:cxn modelId="{41509551-E864-4791-B2E4-01C7125CAF71}" type="presParOf" srcId="{AAE4857E-E727-4CAF-B8EF-4084F48B9872}" destId="{B5D1638E-C80C-42AA-B3AD-84FA25E977AB}" srcOrd="2" destOrd="0" presId="urn:microsoft.com/office/officeart/2018/2/layout/IconVerticalSolidList"/>
    <dgm:cxn modelId="{5D4507E1-3353-4AE4-AB41-551AE87FC2D2}" type="presParOf" srcId="{AAE4857E-E727-4CAF-B8EF-4084F48B9872}" destId="{2F499EDD-C331-4FD9-BDCB-76E92177A2B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559E0-E8D6-4967-BFBF-466FBDF30EC6}">
      <dsp:nvSpPr>
        <dsp:cNvPr id="0" name=""/>
        <dsp:cNvSpPr/>
      </dsp:nvSpPr>
      <dsp:spPr>
        <a:xfrm>
          <a:off x="0" y="2554"/>
          <a:ext cx="5906181"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945B69-0B5F-4DC0-B54D-8A93A155BD37}">
      <dsp:nvSpPr>
        <dsp:cNvPr id="0" name=""/>
        <dsp:cNvSpPr/>
      </dsp:nvSpPr>
      <dsp:spPr>
        <a:xfrm>
          <a:off x="0" y="2554"/>
          <a:ext cx="5906181" cy="1741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i="1" kern="1200"/>
            <a:t>Leads to employment</a:t>
          </a:r>
          <a:r>
            <a:rPr lang="en-US" sz="3000" kern="1200"/>
            <a:t> through career exploration &amp; networking</a:t>
          </a:r>
        </a:p>
      </dsp:txBody>
      <dsp:txXfrm>
        <a:off x="0" y="2554"/>
        <a:ext cx="5906181" cy="1741869"/>
      </dsp:txXfrm>
    </dsp:sp>
    <dsp:sp modelId="{D1C86F45-71DD-42E6-8B56-9AC942E794DE}">
      <dsp:nvSpPr>
        <dsp:cNvPr id="0" name=""/>
        <dsp:cNvSpPr/>
      </dsp:nvSpPr>
      <dsp:spPr>
        <a:xfrm>
          <a:off x="0" y="1744424"/>
          <a:ext cx="5906181" cy="0"/>
        </a:xfrm>
        <a:prstGeom prst="line">
          <a:avLst/>
        </a:prstGeom>
        <a:solidFill>
          <a:schemeClr val="accent5">
            <a:hueOff val="1178392"/>
            <a:satOff val="-5635"/>
            <a:lumOff val="6177"/>
            <a:alphaOff val="0"/>
          </a:schemeClr>
        </a:solidFill>
        <a:ln w="12700" cap="flat" cmpd="sng" algn="ctr">
          <a:solidFill>
            <a:schemeClr val="accent5">
              <a:hueOff val="1178392"/>
              <a:satOff val="-5635"/>
              <a:lumOff val="617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7DC26A-83D4-4154-A661-A1D8D3127E23}">
      <dsp:nvSpPr>
        <dsp:cNvPr id="0" name=""/>
        <dsp:cNvSpPr/>
      </dsp:nvSpPr>
      <dsp:spPr>
        <a:xfrm>
          <a:off x="0" y="1744424"/>
          <a:ext cx="5906181" cy="1741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i="1" kern="1200"/>
            <a:t>Wraps around employment</a:t>
          </a:r>
          <a:r>
            <a:rPr lang="en-US" sz="3000" kern="1200"/>
            <a:t> to fill gaps in time, experience, social connection</a:t>
          </a:r>
        </a:p>
      </dsp:txBody>
      <dsp:txXfrm>
        <a:off x="0" y="1744424"/>
        <a:ext cx="5906181" cy="1741869"/>
      </dsp:txXfrm>
    </dsp:sp>
    <dsp:sp modelId="{8047F1CA-1112-44A2-BCE7-0BFB3AD46641}">
      <dsp:nvSpPr>
        <dsp:cNvPr id="0" name=""/>
        <dsp:cNvSpPr/>
      </dsp:nvSpPr>
      <dsp:spPr>
        <a:xfrm>
          <a:off x="0" y="3486293"/>
          <a:ext cx="5906181" cy="0"/>
        </a:xfrm>
        <a:prstGeom prst="line">
          <a:avLst/>
        </a:prstGeom>
        <a:solidFill>
          <a:schemeClr val="accent5">
            <a:hueOff val="2356783"/>
            <a:satOff val="-11270"/>
            <a:lumOff val="12353"/>
            <a:alphaOff val="0"/>
          </a:schemeClr>
        </a:solidFill>
        <a:ln w="12700" cap="flat" cmpd="sng" algn="ctr">
          <a:solidFill>
            <a:schemeClr val="accent5">
              <a:hueOff val="2356783"/>
              <a:satOff val="-11270"/>
              <a:lumOff val="1235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063FA7-E0E6-481D-AC8B-4D3622E87E77}">
      <dsp:nvSpPr>
        <dsp:cNvPr id="0" name=""/>
        <dsp:cNvSpPr/>
      </dsp:nvSpPr>
      <dsp:spPr>
        <a:xfrm>
          <a:off x="0" y="3486293"/>
          <a:ext cx="5906181" cy="1741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i="1" kern="1200"/>
            <a:t>Supports people in retirement</a:t>
          </a:r>
          <a:r>
            <a:rPr lang="en-US" sz="3000" kern="1200"/>
            <a:t> in integrated ways</a:t>
          </a:r>
        </a:p>
      </dsp:txBody>
      <dsp:txXfrm>
        <a:off x="0" y="3486293"/>
        <a:ext cx="5906181" cy="17418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457730-3AA8-4168-A4CF-82BA285D5162}">
      <dsp:nvSpPr>
        <dsp:cNvPr id="0" name=""/>
        <dsp:cNvSpPr/>
      </dsp:nvSpPr>
      <dsp:spPr>
        <a:xfrm>
          <a:off x="0" y="849991"/>
          <a:ext cx="5906181" cy="15692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B73995-9609-4ADF-BA5C-E01F2AD3C111}">
      <dsp:nvSpPr>
        <dsp:cNvPr id="0" name=""/>
        <dsp:cNvSpPr/>
      </dsp:nvSpPr>
      <dsp:spPr>
        <a:xfrm>
          <a:off x="474687" y="1203065"/>
          <a:ext cx="863068" cy="8630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A15861-E279-4E76-B53A-1D3C7F66FFE7}">
      <dsp:nvSpPr>
        <dsp:cNvPr id="0" name=""/>
        <dsp:cNvSpPr/>
      </dsp:nvSpPr>
      <dsp:spPr>
        <a:xfrm>
          <a:off x="1812443" y="849991"/>
          <a:ext cx="4093737" cy="1569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075" tIns="166075" rIns="166075" bIns="166075" numCol="1" spcCol="1270" anchor="ctr" anchorCtr="0">
          <a:noAutofit/>
        </a:bodyPr>
        <a:lstStyle/>
        <a:p>
          <a:pPr marL="0" lvl="0" indent="0" algn="l" defTabSz="977900">
            <a:lnSpc>
              <a:spcPct val="90000"/>
            </a:lnSpc>
            <a:spcBef>
              <a:spcPct val="0"/>
            </a:spcBef>
            <a:spcAft>
              <a:spcPct val="35000"/>
            </a:spcAft>
            <a:buNone/>
          </a:pPr>
          <a:r>
            <a:rPr lang="en-US" sz="2200" kern="1200"/>
            <a:t>Think of something that you supported someone to do for a long time. Maybe bowling or ice skating? </a:t>
          </a:r>
        </a:p>
      </dsp:txBody>
      <dsp:txXfrm>
        <a:off x="1812443" y="849991"/>
        <a:ext cx="4093737" cy="1569215"/>
      </dsp:txXfrm>
    </dsp:sp>
    <dsp:sp modelId="{360CED59-699E-47B0-B92B-3EB9643CD588}">
      <dsp:nvSpPr>
        <dsp:cNvPr id="0" name=""/>
        <dsp:cNvSpPr/>
      </dsp:nvSpPr>
      <dsp:spPr>
        <a:xfrm>
          <a:off x="0" y="2770413"/>
          <a:ext cx="5906181" cy="15692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165346-A3E9-4AF3-9F43-16B7BE6ADEB7}">
      <dsp:nvSpPr>
        <dsp:cNvPr id="0" name=""/>
        <dsp:cNvSpPr/>
      </dsp:nvSpPr>
      <dsp:spPr>
        <a:xfrm>
          <a:off x="474687" y="3164584"/>
          <a:ext cx="863068" cy="8630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499EDD-C331-4FD9-BDCB-76E92177A2BC}">
      <dsp:nvSpPr>
        <dsp:cNvPr id="0" name=""/>
        <dsp:cNvSpPr/>
      </dsp:nvSpPr>
      <dsp:spPr>
        <a:xfrm>
          <a:off x="1812443" y="2811510"/>
          <a:ext cx="4093737" cy="1569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075" tIns="166075" rIns="166075" bIns="166075" numCol="1" spcCol="1270" anchor="ctr" anchorCtr="0">
          <a:noAutofit/>
        </a:bodyPr>
        <a:lstStyle/>
        <a:p>
          <a:pPr marL="0" lvl="0" indent="0" algn="l" defTabSz="977900">
            <a:lnSpc>
              <a:spcPct val="90000"/>
            </a:lnSpc>
            <a:spcBef>
              <a:spcPct val="0"/>
            </a:spcBef>
            <a:spcAft>
              <a:spcPct val="35000"/>
            </a:spcAft>
            <a:buNone/>
          </a:pPr>
          <a:r>
            <a:rPr lang="en-US" sz="2200" kern="1200"/>
            <a:t>Discussion: How do you know if it’s time to try something new? </a:t>
          </a:r>
        </a:p>
      </dsp:txBody>
      <dsp:txXfrm>
        <a:off x="1812443" y="2811510"/>
        <a:ext cx="4093737" cy="156921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A3E14148-82AC-4C3D-BDD6-2A8075595FE4}" type="datetimeFigureOut">
              <a:rPr lang="en-US" smtClean="0"/>
              <a:t>5/25/2023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3C5211BF-9B92-4A94-BB64-7F7E360723BB}" type="slidenum">
              <a:rPr lang="en-US" smtClean="0"/>
              <a:t>‹#›</a:t>
            </a:fld>
            <a:endParaRPr lang="en-US"/>
          </a:p>
        </p:txBody>
      </p:sp>
    </p:spTree>
    <p:extLst>
      <p:ext uri="{BB962C8B-B14F-4D97-AF65-F5344CB8AC3E}">
        <p14:creationId xmlns:p14="http://schemas.microsoft.com/office/powerpoint/2010/main" val="71222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Arial" charset="0"/>
                <a:ea typeface="ヒラギノ角ゴ Pro W3" charset="0"/>
                <a:cs typeface="ヒラギノ角ゴ Pro W3" charset="0"/>
              </a:defRPr>
            </a:lvl1pPr>
            <a:lvl2pPr marL="742950" indent="-285750">
              <a:defRPr sz="2000">
                <a:solidFill>
                  <a:schemeClr val="tx1"/>
                </a:solidFill>
                <a:latin typeface="Arial" charset="0"/>
                <a:ea typeface="ヒラギノ角ゴ Pro W3" charset="0"/>
              </a:defRPr>
            </a:lvl2pPr>
            <a:lvl3pPr marL="1143000" indent="-228600">
              <a:defRPr sz="2000">
                <a:solidFill>
                  <a:schemeClr val="tx1"/>
                </a:solidFill>
                <a:latin typeface="Arial" charset="0"/>
                <a:ea typeface="ヒラギノ角ゴ Pro W3" charset="0"/>
              </a:defRPr>
            </a:lvl3pPr>
            <a:lvl4pPr marL="1600200" indent="-228600">
              <a:defRPr sz="2000">
                <a:solidFill>
                  <a:schemeClr val="tx1"/>
                </a:solidFill>
                <a:latin typeface="Arial" charset="0"/>
                <a:ea typeface="ヒラギノ角ゴ Pro W3" charset="0"/>
              </a:defRPr>
            </a:lvl4pPr>
            <a:lvl5pPr marL="2057400" indent="-228600">
              <a:defRPr sz="2000">
                <a:solidFill>
                  <a:schemeClr val="tx1"/>
                </a:solidFill>
                <a:latin typeface="Arial" charset="0"/>
                <a:ea typeface="ヒラギノ角ゴ Pro W3" charset="0"/>
              </a:defRPr>
            </a:lvl5pPr>
            <a:lvl6pPr marL="2514600" indent="-228600" eaLnBrk="0" fontAlgn="base" hangingPunct="0">
              <a:spcBef>
                <a:spcPct val="0"/>
              </a:spcBef>
              <a:spcAft>
                <a:spcPct val="0"/>
              </a:spcAft>
              <a:defRPr sz="2000">
                <a:solidFill>
                  <a:schemeClr val="tx1"/>
                </a:solidFill>
                <a:latin typeface="Arial" charset="0"/>
                <a:ea typeface="ヒラギノ角ゴ Pro W3" charset="0"/>
              </a:defRPr>
            </a:lvl6pPr>
            <a:lvl7pPr marL="2971800" indent="-228600" eaLnBrk="0" fontAlgn="base" hangingPunct="0">
              <a:spcBef>
                <a:spcPct val="0"/>
              </a:spcBef>
              <a:spcAft>
                <a:spcPct val="0"/>
              </a:spcAft>
              <a:defRPr sz="2000">
                <a:solidFill>
                  <a:schemeClr val="tx1"/>
                </a:solidFill>
                <a:latin typeface="Arial" charset="0"/>
                <a:ea typeface="ヒラギノ角ゴ Pro W3" charset="0"/>
              </a:defRPr>
            </a:lvl7pPr>
            <a:lvl8pPr marL="3429000" indent="-228600" eaLnBrk="0" fontAlgn="base" hangingPunct="0">
              <a:spcBef>
                <a:spcPct val="0"/>
              </a:spcBef>
              <a:spcAft>
                <a:spcPct val="0"/>
              </a:spcAft>
              <a:defRPr sz="2000">
                <a:solidFill>
                  <a:schemeClr val="tx1"/>
                </a:solidFill>
                <a:latin typeface="Arial" charset="0"/>
                <a:ea typeface="ヒラギノ角ゴ Pro W3" charset="0"/>
              </a:defRPr>
            </a:lvl8pPr>
            <a:lvl9pPr marL="3886200" indent="-228600" eaLnBrk="0" fontAlgn="base" hangingPunct="0">
              <a:spcBef>
                <a:spcPct val="0"/>
              </a:spcBef>
              <a:spcAft>
                <a:spcPct val="0"/>
              </a:spcAft>
              <a:defRPr sz="2000">
                <a:solidFill>
                  <a:schemeClr val="tx1"/>
                </a:solidFill>
                <a:latin typeface="Arial" charset="0"/>
                <a:ea typeface="ヒラギノ角ゴ Pro W3" charset="0"/>
              </a:defRPr>
            </a:lvl9pPr>
          </a:lstStyle>
          <a:p>
            <a:fld id="{A41601A5-C9E7-A247-A72F-F4CC89B63294}" type="slidenum">
              <a:rPr lang="en-US" sz="1200"/>
              <a:pPr/>
              <a:t>1</a:t>
            </a:fld>
            <a:endParaRPr lang="en-US" sz="1200"/>
          </a:p>
        </p:txBody>
      </p:sp>
      <p:sp>
        <p:nvSpPr>
          <p:cNvPr id="18435" name="Rectangle 2"/>
          <p:cNvSpPr>
            <a:spLocks noGrp="1" noRot="1" noChangeAspect="1" noChangeArrowheads="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r>
              <a:rPr lang="en-US"/>
              <a:t>Staci </a:t>
            </a:r>
          </a:p>
          <a:p>
            <a:endParaRPr lang="en-US"/>
          </a:p>
        </p:txBody>
      </p:sp>
    </p:spTree>
    <p:extLst>
      <p:ext uri="{BB962C8B-B14F-4D97-AF65-F5344CB8AC3E}">
        <p14:creationId xmlns:p14="http://schemas.microsoft.com/office/powerpoint/2010/main" val="1596318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3aeb6740f1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13aeb6740f1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Staci </a:t>
            </a:r>
          </a:p>
          <a:p>
            <a:pPr marL="0" lvl="0" indent="0" algn="l" rtl="0">
              <a:lnSpc>
                <a:spcPct val="100000"/>
              </a:lnSpc>
              <a:spcBef>
                <a:spcPts val="0"/>
              </a:spcBef>
              <a:spcAft>
                <a:spcPts val="0"/>
              </a:spcAft>
              <a:buSzPts val="1400"/>
              <a:buNone/>
            </a:pPr>
            <a:endParaRPr lang="en-US"/>
          </a:p>
          <a:p>
            <a:pPr marL="0" lvl="0" indent="0" algn="l" rtl="0">
              <a:lnSpc>
                <a:spcPct val="100000"/>
              </a:lnSpc>
              <a:spcBef>
                <a:spcPts val="0"/>
              </a:spcBef>
              <a:spcAft>
                <a:spcPts val="0"/>
              </a:spcAft>
              <a:buSzPts val="1400"/>
              <a:buNone/>
            </a:pPr>
            <a:r>
              <a:rPr lang="en-US"/>
              <a:t>About MTI</a:t>
            </a:r>
          </a:p>
          <a:p>
            <a:pPr marL="0" lvl="0" indent="0" algn="l" rtl="0">
              <a:lnSpc>
                <a:spcPct val="100000"/>
              </a:lnSpc>
              <a:spcBef>
                <a:spcPts val="0"/>
              </a:spcBef>
              <a:spcAft>
                <a:spcPts val="0"/>
              </a:spcAft>
              <a:buSzPts val="1400"/>
              <a:buNone/>
            </a:pPr>
            <a:r>
              <a:rPr lang="en-US"/>
              <a:t>Partners in this project include:</a:t>
            </a:r>
          </a:p>
          <a:p>
            <a:pPr marL="0" lvl="0" indent="0" algn="l" rtl="0">
              <a:lnSpc>
                <a:spcPct val="100000"/>
              </a:lnSpc>
              <a:spcBef>
                <a:spcPts val="0"/>
              </a:spcBef>
              <a:spcAft>
                <a:spcPts val="0"/>
              </a:spcAft>
              <a:buSzPts val="1400"/>
              <a:buNone/>
            </a:pPr>
            <a:endParaRPr lang="en-US"/>
          </a:p>
          <a:p>
            <a:pPr marL="171450" lvl="0" indent="-171450" algn="l" rtl="0">
              <a:lnSpc>
                <a:spcPct val="100000"/>
              </a:lnSpc>
              <a:spcBef>
                <a:spcPts val="0"/>
              </a:spcBef>
              <a:spcAft>
                <a:spcPts val="0"/>
              </a:spcAft>
              <a:buSzPts val="1400"/>
              <a:buFont typeface="Arial" panose="020B0604020202020204" pitchFamily="34" charset="0"/>
              <a:buChar char="•"/>
            </a:pPr>
            <a:r>
              <a:rPr lang="en-US" err="1"/>
              <a:t>Quillo</a:t>
            </a:r>
            <a:endParaRPr lang="en-US"/>
          </a:p>
          <a:p>
            <a:pPr marL="171450" lvl="0" indent="-171450" algn="l" rtl="0">
              <a:lnSpc>
                <a:spcPct val="100000"/>
              </a:lnSpc>
              <a:spcBef>
                <a:spcPts val="0"/>
              </a:spcBef>
              <a:spcAft>
                <a:spcPts val="0"/>
              </a:spcAft>
              <a:buSzPts val="1400"/>
              <a:buFont typeface="Arial" panose="020B0604020202020204" pitchFamily="34" charset="0"/>
              <a:buChar char="•"/>
            </a:pPr>
            <a:r>
              <a:rPr lang="en-US"/>
              <a:t>The Arc Minnesota</a:t>
            </a:r>
          </a:p>
          <a:p>
            <a:pPr marL="171450" lvl="0" indent="-171450" algn="l" rtl="0">
              <a:lnSpc>
                <a:spcPct val="100000"/>
              </a:lnSpc>
              <a:spcBef>
                <a:spcPts val="0"/>
              </a:spcBef>
              <a:spcAft>
                <a:spcPts val="0"/>
              </a:spcAft>
              <a:buSzPts val="1400"/>
              <a:buFont typeface="Arial" panose="020B0604020202020204" pitchFamily="34" charset="0"/>
              <a:buChar char="•"/>
            </a:pPr>
            <a:r>
              <a:rPr lang="en-US"/>
              <a:t>Institute on Community Integration at the University of Minnesota</a:t>
            </a:r>
          </a:p>
          <a:p>
            <a:pPr marL="171450" lvl="0" indent="-171450" algn="l" rtl="0">
              <a:lnSpc>
                <a:spcPct val="100000"/>
              </a:lnSpc>
              <a:spcBef>
                <a:spcPts val="0"/>
              </a:spcBef>
              <a:spcAft>
                <a:spcPts val="0"/>
              </a:spcAft>
              <a:buSzPts val="1400"/>
              <a:buFont typeface="Arial" panose="020B0604020202020204" pitchFamily="34" charset="0"/>
              <a:buChar char="•"/>
            </a:pPr>
            <a:r>
              <a:rPr lang="en-US"/>
              <a:t>Institute for Community Inclusion at University of Massachusetts Boston</a:t>
            </a:r>
          </a:p>
          <a:p>
            <a:pPr marL="171450" lvl="0" indent="-171450" algn="l" rtl="0">
              <a:lnSpc>
                <a:spcPct val="100000"/>
              </a:lnSpc>
              <a:spcBef>
                <a:spcPts val="0"/>
              </a:spcBef>
              <a:spcAft>
                <a:spcPts val="0"/>
              </a:spcAft>
              <a:buSzPts val="1400"/>
              <a:buFont typeface="Arial" panose="020B0604020202020204" pitchFamily="34" charset="0"/>
              <a:buChar char="•"/>
            </a:pPr>
            <a:r>
              <a:rPr lang="en-US"/>
              <a:t>Strengths at Work LLC</a:t>
            </a:r>
            <a:endParaRPr/>
          </a:p>
        </p:txBody>
      </p:sp>
      <p:sp>
        <p:nvSpPr>
          <p:cNvPr id="106" name="Google Shape;106;g13aeb6740f1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Staci- introductions </a:t>
            </a:r>
          </a:p>
        </p:txBody>
      </p:sp>
      <p:sp>
        <p:nvSpPr>
          <p:cNvPr id="4" name="Slide Number Placeholder 3"/>
          <p:cNvSpPr>
            <a:spLocks noGrp="1"/>
          </p:cNvSpPr>
          <p:nvPr>
            <p:ph type="sldNum" sz="quarter" idx="5"/>
          </p:nvPr>
        </p:nvSpPr>
        <p:spPr/>
        <p:txBody>
          <a:bodyPr/>
          <a:lstStyle/>
          <a:p>
            <a:fld id="{3C5211BF-9B92-4A94-BB64-7F7E360723BB}" type="slidenum">
              <a:rPr lang="en-US" smtClean="0"/>
              <a:t>3</a:t>
            </a:fld>
            <a:endParaRPr lang="en-US"/>
          </a:p>
        </p:txBody>
      </p:sp>
    </p:spTree>
    <p:extLst>
      <p:ext uri="{BB962C8B-B14F-4D97-AF65-F5344CB8AC3E}">
        <p14:creationId xmlns:p14="http://schemas.microsoft.com/office/powerpoint/2010/main" val="2129201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Jen</a:t>
            </a:r>
          </a:p>
          <a:p>
            <a:r>
              <a:rPr lang="en-US">
                <a:cs typeface="Calibri"/>
              </a:rPr>
              <a:t>An outcome, not a service</a:t>
            </a:r>
          </a:p>
          <a:p>
            <a:endParaRPr lang="en-US">
              <a:cs typeface="Calibri"/>
            </a:endParaRPr>
          </a:p>
          <a:p>
            <a:pPr>
              <a:lnSpc>
                <a:spcPct val="90000"/>
              </a:lnSpc>
              <a:spcBef>
                <a:spcPts val="750"/>
              </a:spcBef>
            </a:pPr>
            <a:r>
              <a:rPr lang="en-US"/>
              <a:t>All the ways that people with IDD access and participate in their communities, outside of employment, as part of a meaningful day. </a:t>
            </a:r>
          </a:p>
          <a:p>
            <a:pPr marL="171450" indent="-228600">
              <a:lnSpc>
                <a:spcPct val="90000"/>
              </a:lnSpc>
              <a:spcBef>
                <a:spcPts val="750"/>
              </a:spcBef>
              <a:buFont typeface="Arial,Sans-Serif"/>
              <a:buChar char="•"/>
            </a:pPr>
            <a:endParaRPr lang="en-US"/>
          </a:p>
          <a:p>
            <a:pPr marL="342900" indent="-228600">
              <a:lnSpc>
                <a:spcPct val="90000"/>
              </a:lnSpc>
              <a:spcBef>
                <a:spcPts val="750"/>
              </a:spcBef>
              <a:buFont typeface="Arial,Sans-Serif"/>
              <a:buChar char="•"/>
            </a:pPr>
            <a:r>
              <a:rPr lang="en-US"/>
              <a:t>Non-work</a:t>
            </a:r>
          </a:p>
          <a:p>
            <a:pPr marL="342900" indent="-228600">
              <a:lnSpc>
                <a:spcPct val="90000"/>
              </a:lnSpc>
              <a:spcBef>
                <a:spcPts val="750"/>
              </a:spcBef>
              <a:buFont typeface="Arial,Sans-Serif"/>
              <a:buChar char="•"/>
            </a:pPr>
            <a:r>
              <a:rPr lang="en-US"/>
              <a:t>Accessing typical community facilities (library, gym, rec center, etc.)</a:t>
            </a:r>
          </a:p>
          <a:p>
            <a:pPr marL="342900" indent="-228600">
              <a:lnSpc>
                <a:spcPct val="90000"/>
              </a:lnSpc>
              <a:spcBef>
                <a:spcPts val="750"/>
              </a:spcBef>
              <a:buFont typeface="Arial,Sans-Serif"/>
              <a:buChar char="•"/>
            </a:pPr>
            <a:r>
              <a:rPr lang="en-US"/>
              <a:t>Volunteerism </a:t>
            </a:r>
          </a:p>
          <a:p>
            <a:pPr marL="342900" indent="-228600">
              <a:lnSpc>
                <a:spcPct val="90000"/>
              </a:lnSpc>
              <a:spcBef>
                <a:spcPts val="750"/>
              </a:spcBef>
              <a:buFont typeface="Arial,Sans-Serif"/>
              <a:buChar char="•"/>
            </a:pPr>
            <a:r>
              <a:rPr lang="en-US"/>
              <a:t>Post-secondary &amp;/or continuing education</a:t>
            </a:r>
          </a:p>
          <a:p>
            <a:pPr marL="342900" indent="-228600">
              <a:lnSpc>
                <a:spcPct val="90000"/>
              </a:lnSpc>
              <a:spcBef>
                <a:spcPts val="750"/>
              </a:spcBef>
              <a:buFont typeface="Arial,Sans-Serif"/>
              <a:buChar char="•"/>
            </a:pPr>
            <a:r>
              <a:rPr lang="en-US"/>
              <a:t>Wrap-around to work</a:t>
            </a:r>
          </a:p>
          <a:p>
            <a:pPr marL="342900" indent="-228600">
              <a:lnSpc>
                <a:spcPct val="90000"/>
              </a:lnSpc>
              <a:spcBef>
                <a:spcPts val="750"/>
              </a:spcBef>
              <a:buFont typeface="Arial,Sans-Serif"/>
              <a:buChar char="•"/>
            </a:pPr>
            <a:r>
              <a:rPr lang="en-US"/>
              <a:t>Pathway to work </a:t>
            </a:r>
          </a:p>
          <a:p>
            <a:pPr marL="342900" indent="-228600">
              <a:lnSpc>
                <a:spcPct val="90000"/>
              </a:lnSpc>
              <a:spcBef>
                <a:spcPts val="750"/>
              </a:spcBef>
              <a:buFont typeface="Arial,Sans-Serif"/>
              <a:buChar char="•"/>
            </a:pPr>
            <a:r>
              <a:rPr lang="en-US"/>
              <a:t>Retirement activities </a:t>
            </a:r>
          </a:p>
          <a:p>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4</a:t>
            </a:fld>
            <a:endParaRPr lang="en-US"/>
          </a:p>
        </p:txBody>
      </p:sp>
    </p:spTree>
    <p:extLst>
      <p:ext uri="{BB962C8B-B14F-4D97-AF65-F5344CB8AC3E}">
        <p14:creationId xmlns:p14="http://schemas.microsoft.com/office/powerpoint/2010/main" val="2902303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US" baseline="0"/>
              <a:t>Jen</a:t>
            </a:r>
          </a:p>
          <a:p>
            <a:pPr lvl="1"/>
            <a:r>
              <a:rPr lang="en-US" baseline="0"/>
              <a:t>In addition to having value in its own way, CLE relates to work in these ways</a:t>
            </a:r>
            <a:endParaRPr lang="en-US"/>
          </a:p>
        </p:txBody>
      </p:sp>
      <p:sp>
        <p:nvSpPr>
          <p:cNvPr id="4" name="Header Placeholder 3"/>
          <p:cNvSpPr>
            <a:spLocks noGrp="1"/>
          </p:cNvSpPr>
          <p:nvPr>
            <p:ph type="hdr" sz="quarter" idx="10"/>
          </p:nvPr>
        </p:nvSpPr>
        <p:spPr/>
        <p:txBody>
          <a:bodyPr/>
          <a:lstStyle/>
          <a:p>
            <a:r>
              <a:rPr lang="en-US"/>
              <a:t>State Employment Leadership Network (SELN) / 9th Annual Meeting</a:t>
            </a:r>
          </a:p>
        </p:txBody>
      </p:sp>
      <p:sp>
        <p:nvSpPr>
          <p:cNvPr id="5" name="Date Placeholder 4"/>
          <p:cNvSpPr>
            <a:spLocks noGrp="1"/>
          </p:cNvSpPr>
          <p:nvPr>
            <p:ph type="dt" idx="11"/>
          </p:nvPr>
        </p:nvSpPr>
        <p:spPr/>
        <p:txBody>
          <a:bodyPr/>
          <a:lstStyle/>
          <a:p>
            <a:r>
              <a:rPr lang="en-US"/>
              <a:t>October 20-22, 2014</a:t>
            </a:r>
          </a:p>
        </p:txBody>
      </p:sp>
      <p:sp>
        <p:nvSpPr>
          <p:cNvPr id="6" name="Footer Placeholder 5"/>
          <p:cNvSpPr>
            <a:spLocks noGrp="1"/>
          </p:cNvSpPr>
          <p:nvPr>
            <p:ph type="ftr" sz="quarter" idx="12"/>
          </p:nvPr>
        </p:nvSpPr>
        <p:spPr/>
        <p:txBody>
          <a:bodyPr/>
          <a:lstStyle/>
          <a:p>
            <a:r>
              <a:rPr lang="en-US"/>
              <a:t>Alexandria, VA</a:t>
            </a:r>
          </a:p>
        </p:txBody>
      </p:sp>
      <p:sp>
        <p:nvSpPr>
          <p:cNvPr id="7" name="Slide Number Placeholder 6"/>
          <p:cNvSpPr>
            <a:spLocks noGrp="1"/>
          </p:cNvSpPr>
          <p:nvPr>
            <p:ph type="sldNum" sz="quarter" idx="13"/>
          </p:nvPr>
        </p:nvSpPr>
        <p:spPr/>
        <p:txBody>
          <a:bodyPr/>
          <a:lstStyle/>
          <a:p>
            <a:fld id="{2A8C280B-7AAB-4B74-AC03-F371E5FD290C}" type="slidenum">
              <a:rPr lang="en-US" smtClean="0"/>
              <a:pPr/>
              <a:t>5</a:t>
            </a:fld>
            <a:endParaRPr lang="en-US"/>
          </a:p>
        </p:txBody>
      </p:sp>
    </p:spTree>
    <p:extLst>
      <p:ext uri="{BB962C8B-B14F-4D97-AF65-F5344CB8AC3E}">
        <p14:creationId xmlns:p14="http://schemas.microsoft.com/office/powerpoint/2010/main" val="2074587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Jen </a:t>
            </a:r>
          </a:p>
        </p:txBody>
      </p:sp>
      <p:sp>
        <p:nvSpPr>
          <p:cNvPr id="4" name="Slide Number Placeholder 3"/>
          <p:cNvSpPr>
            <a:spLocks noGrp="1"/>
          </p:cNvSpPr>
          <p:nvPr>
            <p:ph type="sldNum" sz="quarter" idx="5"/>
          </p:nvPr>
        </p:nvSpPr>
        <p:spPr/>
        <p:txBody>
          <a:bodyPr/>
          <a:lstStyle/>
          <a:p>
            <a:fld id="{3C5211BF-9B92-4A94-BB64-7F7E360723BB}" type="slidenum">
              <a:rPr lang="en-US" smtClean="0"/>
              <a:t>6</a:t>
            </a:fld>
            <a:endParaRPr lang="en-US"/>
          </a:p>
        </p:txBody>
      </p:sp>
    </p:spTree>
    <p:extLst>
      <p:ext uri="{BB962C8B-B14F-4D97-AF65-F5344CB8AC3E}">
        <p14:creationId xmlns:p14="http://schemas.microsoft.com/office/powerpoint/2010/main" val="1019174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baseline="0"/>
              <a:t>Jen </a:t>
            </a:r>
          </a:p>
          <a:p>
            <a:endParaRPr lang="en-US" baseline="0"/>
          </a:p>
        </p:txBody>
      </p:sp>
      <p:sp>
        <p:nvSpPr>
          <p:cNvPr id="4" name="Header Placeholder 3"/>
          <p:cNvSpPr>
            <a:spLocks noGrp="1"/>
          </p:cNvSpPr>
          <p:nvPr>
            <p:ph type="hdr" sz="quarter" idx="10"/>
          </p:nvPr>
        </p:nvSpPr>
        <p:spPr/>
        <p:txBody>
          <a:bodyPr/>
          <a:lstStyle/>
          <a:p>
            <a:r>
              <a:rPr lang="en-US"/>
              <a:t>State Employment Leadership Network (SELN) / 9th Annual Meeting</a:t>
            </a:r>
          </a:p>
        </p:txBody>
      </p:sp>
      <p:sp>
        <p:nvSpPr>
          <p:cNvPr id="5" name="Date Placeholder 4"/>
          <p:cNvSpPr>
            <a:spLocks noGrp="1"/>
          </p:cNvSpPr>
          <p:nvPr>
            <p:ph type="dt" idx="11"/>
          </p:nvPr>
        </p:nvSpPr>
        <p:spPr/>
        <p:txBody>
          <a:bodyPr/>
          <a:lstStyle/>
          <a:p>
            <a:r>
              <a:rPr lang="en-US"/>
              <a:t>October 20-22, 2014</a:t>
            </a:r>
          </a:p>
        </p:txBody>
      </p:sp>
      <p:sp>
        <p:nvSpPr>
          <p:cNvPr id="6" name="Footer Placeholder 5"/>
          <p:cNvSpPr>
            <a:spLocks noGrp="1"/>
          </p:cNvSpPr>
          <p:nvPr>
            <p:ph type="ftr" sz="quarter" idx="12"/>
          </p:nvPr>
        </p:nvSpPr>
        <p:spPr/>
        <p:txBody>
          <a:bodyPr/>
          <a:lstStyle/>
          <a:p>
            <a:r>
              <a:rPr lang="en-US"/>
              <a:t>Alexandria, VA</a:t>
            </a:r>
          </a:p>
        </p:txBody>
      </p:sp>
      <p:sp>
        <p:nvSpPr>
          <p:cNvPr id="7" name="Slide Number Placeholder 6"/>
          <p:cNvSpPr>
            <a:spLocks noGrp="1"/>
          </p:cNvSpPr>
          <p:nvPr>
            <p:ph type="sldNum" sz="quarter" idx="13"/>
          </p:nvPr>
        </p:nvSpPr>
        <p:spPr/>
        <p:txBody>
          <a:bodyPr/>
          <a:lstStyle/>
          <a:p>
            <a:fld id="{2A8C280B-7AAB-4B74-AC03-F371E5FD290C}" type="slidenum">
              <a:rPr lang="en-US" smtClean="0"/>
              <a:pPr/>
              <a:t>7</a:t>
            </a:fld>
            <a:endParaRPr lang="en-US"/>
          </a:p>
        </p:txBody>
      </p:sp>
    </p:spTree>
    <p:extLst>
      <p:ext uri="{BB962C8B-B14F-4D97-AF65-F5344CB8AC3E}">
        <p14:creationId xmlns:p14="http://schemas.microsoft.com/office/powerpoint/2010/main" val="2335597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 </a:t>
            </a:r>
            <a:endParaRPr lang="en-US"/>
          </a:p>
          <a:p>
            <a:endParaRPr lang="en-US" dirty="0">
              <a:cs typeface="Calibri"/>
            </a:endParaRPr>
          </a:p>
          <a:p>
            <a:r>
              <a:rPr lang="en-US" dirty="0">
                <a:cs typeface="Calibri"/>
              </a:rPr>
              <a:t>From this research came the 4 guideposts, the toolkit...</a:t>
            </a:r>
          </a:p>
        </p:txBody>
      </p:sp>
      <p:sp>
        <p:nvSpPr>
          <p:cNvPr id="4" name="Slide Number Placeholder 3"/>
          <p:cNvSpPr>
            <a:spLocks noGrp="1"/>
          </p:cNvSpPr>
          <p:nvPr>
            <p:ph type="sldNum" sz="quarter" idx="5"/>
          </p:nvPr>
        </p:nvSpPr>
        <p:spPr/>
        <p:txBody>
          <a:bodyPr/>
          <a:lstStyle/>
          <a:p>
            <a:fld id="{3C5211BF-9B92-4A94-BB64-7F7E360723BB}" type="slidenum">
              <a:rPr lang="en-US" smtClean="0"/>
              <a:t>8</a:t>
            </a:fld>
            <a:endParaRPr lang="en-US"/>
          </a:p>
        </p:txBody>
      </p:sp>
    </p:spTree>
    <p:extLst>
      <p:ext uri="{BB962C8B-B14F-4D97-AF65-F5344CB8AC3E}">
        <p14:creationId xmlns:p14="http://schemas.microsoft.com/office/powerpoint/2010/main" val="3763931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Jen </a:t>
            </a:r>
            <a:endParaRPr lang="en-US">
              <a:ea typeface="Calibri"/>
              <a:cs typeface="Calibri"/>
            </a:endParaRPr>
          </a:p>
          <a:p>
            <a:endParaRPr lang="en-US" dirty="0">
              <a:cs typeface="Calibri"/>
            </a:endParaRPr>
          </a:p>
          <a:p>
            <a:r>
              <a:rPr lang="en-US" dirty="0">
                <a:cs typeface="Calibri"/>
              </a:rPr>
              <a:t>… and most recently the CLEFS. </a:t>
            </a:r>
          </a:p>
        </p:txBody>
      </p:sp>
      <p:sp>
        <p:nvSpPr>
          <p:cNvPr id="4" name="Slide Number Placeholder 3"/>
          <p:cNvSpPr>
            <a:spLocks noGrp="1"/>
          </p:cNvSpPr>
          <p:nvPr>
            <p:ph type="sldNum" sz="quarter" idx="5"/>
          </p:nvPr>
        </p:nvSpPr>
        <p:spPr/>
        <p:txBody>
          <a:bodyPr/>
          <a:lstStyle/>
          <a:p>
            <a:fld id="{FF7C0A9C-8EB1-2944-91B3-96D63BF1E2CF}" type="slidenum">
              <a:rPr lang="en-US" smtClean="0"/>
              <a:t>9</a:t>
            </a:fld>
            <a:endParaRPr lang="en-US"/>
          </a:p>
        </p:txBody>
      </p:sp>
    </p:spTree>
    <p:extLst>
      <p:ext uri="{BB962C8B-B14F-4D97-AF65-F5344CB8AC3E}">
        <p14:creationId xmlns:p14="http://schemas.microsoft.com/office/powerpoint/2010/main" val="1902049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10</a:t>
            </a:fld>
            <a:endParaRPr lang="en-US"/>
          </a:p>
        </p:txBody>
      </p:sp>
    </p:spTree>
    <p:extLst>
      <p:ext uri="{BB962C8B-B14F-4D97-AF65-F5344CB8AC3E}">
        <p14:creationId xmlns:p14="http://schemas.microsoft.com/office/powerpoint/2010/main" val="3846867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11</a:t>
            </a:fld>
            <a:endParaRPr lang="en-US"/>
          </a:p>
        </p:txBody>
      </p:sp>
    </p:spTree>
    <p:extLst>
      <p:ext uri="{BB962C8B-B14F-4D97-AF65-F5344CB8AC3E}">
        <p14:creationId xmlns:p14="http://schemas.microsoft.com/office/powerpoint/2010/main" val="3829632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Jen </a:t>
            </a:r>
          </a:p>
        </p:txBody>
      </p:sp>
      <p:sp>
        <p:nvSpPr>
          <p:cNvPr id="4" name="Slide Number Placeholder 3"/>
          <p:cNvSpPr>
            <a:spLocks noGrp="1"/>
          </p:cNvSpPr>
          <p:nvPr>
            <p:ph type="sldNum" sz="quarter" idx="5"/>
          </p:nvPr>
        </p:nvSpPr>
        <p:spPr/>
        <p:txBody>
          <a:bodyPr/>
          <a:lstStyle/>
          <a:p>
            <a:fld id="{3C5211BF-9B92-4A94-BB64-7F7E360723BB}" type="slidenum">
              <a:rPr lang="en-US" smtClean="0"/>
              <a:t>12</a:t>
            </a:fld>
            <a:endParaRPr lang="en-US"/>
          </a:p>
        </p:txBody>
      </p:sp>
    </p:spTree>
    <p:extLst>
      <p:ext uri="{BB962C8B-B14F-4D97-AF65-F5344CB8AC3E}">
        <p14:creationId xmlns:p14="http://schemas.microsoft.com/office/powerpoint/2010/main" val="3358840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cs typeface="Calibri"/>
              </a:rPr>
              <a:t>Jen</a:t>
            </a:r>
            <a:endParaRPr lang="en-US" dirty="0"/>
          </a:p>
          <a:p>
            <a:endParaRPr lang="en-US" dirty="0"/>
          </a:p>
          <a:p>
            <a:r>
              <a:rPr lang="en-US" dirty="0"/>
              <a:t>going from a programmatic, site-based mindset to individualized supports based on person-centered planning. Not always 1:1 support, but a focus on individual interests and goals. </a:t>
            </a:r>
            <a:endParaRPr lang="en-US" dirty="0">
              <a:cs typeface="Calibri" panose="020F0502020204030204"/>
            </a:endParaRPr>
          </a:p>
          <a:p>
            <a:endParaRPr lang="en-US" baseline="0" dirty="0"/>
          </a:p>
          <a:p>
            <a:r>
              <a:rPr lang="en-US" dirty="0">
                <a:cs typeface="Calibri"/>
              </a:rPr>
              <a:t>Starts with understanding personal preferences, goals, interests and skills</a:t>
            </a:r>
          </a:p>
          <a:p>
            <a:r>
              <a:rPr lang="en-US" dirty="0">
                <a:cs typeface="Calibri"/>
              </a:rPr>
              <a:t>Emphasizes person-centered planning and discovery, and</a:t>
            </a:r>
          </a:p>
          <a:p>
            <a:r>
              <a:rPr lang="en-US" dirty="0">
                <a:cs typeface="Calibri"/>
              </a:rPr>
              <a:t>Requires creative staffing, intentional grouping, and at times, additional funding </a:t>
            </a:r>
            <a:endParaRPr lang="en-US" baseline="0" dirty="0"/>
          </a:p>
          <a:p>
            <a:endParaRPr lang="en-US" dirty="0"/>
          </a:p>
          <a:p>
            <a:endParaRPr lang="en-US" dirty="0"/>
          </a:p>
        </p:txBody>
      </p:sp>
      <p:sp>
        <p:nvSpPr>
          <p:cNvPr id="4" name="Slide Number Placeholder 3"/>
          <p:cNvSpPr>
            <a:spLocks noGrp="1"/>
          </p:cNvSpPr>
          <p:nvPr>
            <p:ph type="sldNum" sz="quarter" idx="10"/>
          </p:nvPr>
        </p:nvSpPr>
        <p:spPr/>
        <p:txBody>
          <a:bodyPr/>
          <a:lstStyle/>
          <a:p>
            <a:fld id="{1A4F67AD-A63B-3F49-90D3-49B0FBE48D6A}" type="slidenum">
              <a:rPr lang="en-US" smtClean="0"/>
              <a:pPr/>
              <a:t>13</a:t>
            </a:fld>
            <a:endParaRPr lang="en-US"/>
          </a:p>
        </p:txBody>
      </p:sp>
    </p:spTree>
    <p:extLst>
      <p:ext uri="{BB962C8B-B14F-4D97-AF65-F5344CB8AC3E}">
        <p14:creationId xmlns:p14="http://schemas.microsoft.com/office/powerpoint/2010/main" val="1646828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14</a:t>
            </a:fld>
            <a:endParaRPr lang="en-US"/>
          </a:p>
        </p:txBody>
      </p:sp>
    </p:spTree>
    <p:extLst>
      <p:ext uri="{BB962C8B-B14F-4D97-AF65-F5344CB8AC3E}">
        <p14:creationId xmlns:p14="http://schemas.microsoft.com/office/powerpoint/2010/main" val="2426524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Karen</a:t>
            </a:r>
          </a:p>
        </p:txBody>
      </p:sp>
      <p:sp>
        <p:nvSpPr>
          <p:cNvPr id="4" name="Slide Number Placeholder 3"/>
          <p:cNvSpPr>
            <a:spLocks noGrp="1"/>
          </p:cNvSpPr>
          <p:nvPr>
            <p:ph type="sldNum" sz="quarter" idx="5"/>
          </p:nvPr>
        </p:nvSpPr>
        <p:spPr/>
        <p:txBody>
          <a:bodyPr/>
          <a:lstStyle/>
          <a:p>
            <a:fld id="{3C5211BF-9B92-4A94-BB64-7F7E360723BB}" type="slidenum">
              <a:rPr lang="en-US" smtClean="0"/>
              <a:t>15</a:t>
            </a:fld>
            <a:endParaRPr lang="en-US"/>
          </a:p>
        </p:txBody>
      </p:sp>
    </p:spTree>
    <p:extLst>
      <p:ext uri="{BB962C8B-B14F-4D97-AF65-F5344CB8AC3E}">
        <p14:creationId xmlns:p14="http://schemas.microsoft.com/office/powerpoint/2010/main" val="3401381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16</a:t>
            </a:fld>
            <a:endParaRPr lang="en-US"/>
          </a:p>
        </p:txBody>
      </p:sp>
    </p:spTree>
    <p:extLst>
      <p:ext uri="{BB962C8B-B14F-4D97-AF65-F5344CB8AC3E}">
        <p14:creationId xmlns:p14="http://schemas.microsoft.com/office/powerpoint/2010/main" val="3872126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Karen</a:t>
            </a:r>
          </a:p>
          <a:p>
            <a:endParaRPr lang="en-US">
              <a:ea typeface="Calibri"/>
              <a:cs typeface="Calibri"/>
            </a:endParaRPr>
          </a:p>
          <a:p>
            <a:r>
              <a:rPr lang="en-US">
                <a:ea typeface="Calibri"/>
                <a:cs typeface="Calibri"/>
              </a:rPr>
              <a:t>(Staci will open poll in zoom)</a:t>
            </a:r>
          </a:p>
        </p:txBody>
      </p:sp>
      <p:sp>
        <p:nvSpPr>
          <p:cNvPr id="4" name="Slide Number Placeholder 3"/>
          <p:cNvSpPr>
            <a:spLocks noGrp="1"/>
          </p:cNvSpPr>
          <p:nvPr>
            <p:ph type="sldNum" sz="quarter" idx="5"/>
          </p:nvPr>
        </p:nvSpPr>
        <p:spPr/>
        <p:txBody>
          <a:bodyPr/>
          <a:lstStyle/>
          <a:p>
            <a:fld id="{FF7C0A9C-8EB1-2944-91B3-96D63BF1E2CF}" type="slidenum">
              <a:rPr lang="en-US" smtClean="0"/>
              <a:t>17</a:t>
            </a:fld>
            <a:endParaRPr lang="en-US"/>
          </a:p>
        </p:txBody>
      </p:sp>
    </p:spTree>
    <p:extLst>
      <p:ext uri="{BB962C8B-B14F-4D97-AF65-F5344CB8AC3E}">
        <p14:creationId xmlns:p14="http://schemas.microsoft.com/office/powerpoint/2010/main" val="888248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Jen </a:t>
            </a:r>
          </a:p>
        </p:txBody>
      </p:sp>
      <p:sp>
        <p:nvSpPr>
          <p:cNvPr id="4" name="Slide Number Placeholder 3"/>
          <p:cNvSpPr>
            <a:spLocks noGrp="1"/>
          </p:cNvSpPr>
          <p:nvPr>
            <p:ph type="sldNum" sz="quarter" idx="5"/>
          </p:nvPr>
        </p:nvSpPr>
        <p:spPr/>
        <p:txBody>
          <a:bodyPr/>
          <a:lstStyle/>
          <a:p>
            <a:fld id="{3C5211BF-9B92-4A94-BB64-7F7E360723BB}" type="slidenum">
              <a:rPr lang="en-US" smtClean="0"/>
              <a:t>18</a:t>
            </a:fld>
            <a:endParaRPr lang="en-US"/>
          </a:p>
        </p:txBody>
      </p:sp>
    </p:spTree>
    <p:extLst>
      <p:ext uri="{BB962C8B-B14F-4D97-AF65-F5344CB8AC3E}">
        <p14:creationId xmlns:p14="http://schemas.microsoft.com/office/powerpoint/2010/main" val="1700256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a:p>
            <a:r>
              <a:rPr lang="en-US" dirty="0">
                <a:cs typeface="Calibri"/>
              </a:rPr>
              <a:t>Jen</a:t>
            </a:r>
            <a:endParaRPr lang="en-US" dirty="0"/>
          </a:p>
          <a:p>
            <a:endParaRPr lang="en-US" dirty="0"/>
          </a:p>
          <a:p>
            <a:r>
              <a:rPr lang="en-US" dirty="0"/>
              <a:t>Guidepost 2 starts with physically being present in the community but also goes beyond that to participating alongside people with and without disabilities, and making a contribution through paid or volunteer work.</a:t>
            </a:r>
            <a:endParaRPr lang="en-US" dirty="0">
              <a:cs typeface="Calibri" panose="020F0502020204030204"/>
            </a:endParaRPr>
          </a:p>
          <a:p>
            <a:endParaRPr lang="en-US" baseline="0" dirty="0"/>
          </a:p>
          <a:p>
            <a:r>
              <a:rPr lang="en-US" dirty="0">
                <a:cs typeface="Calibri"/>
              </a:rPr>
              <a:t>Starting with inclusive settings and activities</a:t>
            </a:r>
          </a:p>
          <a:p>
            <a:r>
              <a:rPr lang="en-US" dirty="0">
                <a:cs typeface="Calibri"/>
              </a:rPr>
              <a:t>Ensure staff presence does not limit community connections </a:t>
            </a:r>
          </a:p>
          <a:p>
            <a:r>
              <a:rPr lang="en-US" dirty="0">
                <a:cs typeface="Calibri"/>
              </a:rPr>
              <a:t>Of the community vs. In the community </a:t>
            </a:r>
          </a:p>
          <a:p>
            <a:r>
              <a:rPr lang="en-US" dirty="0">
                <a:cs typeface="Calibri"/>
              </a:rPr>
              <a:t>Consider personal preferences and goals </a:t>
            </a:r>
          </a:p>
          <a:p>
            <a:endParaRPr lang="en-US" baseline="0" dirty="0"/>
          </a:p>
          <a:p>
            <a:endParaRPr lang="en-US" dirty="0"/>
          </a:p>
          <a:p>
            <a:endParaRPr lang="en-US" dirty="0"/>
          </a:p>
        </p:txBody>
      </p:sp>
      <p:sp>
        <p:nvSpPr>
          <p:cNvPr id="4" name="Slide Number Placeholder 3"/>
          <p:cNvSpPr>
            <a:spLocks noGrp="1"/>
          </p:cNvSpPr>
          <p:nvPr>
            <p:ph type="sldNum" sz="quarter" idx="10"/>
          </p:nvPr>
        </p:nvSpPr>
        <p:spPr/>
        <p:txBody>
          <a:bodyPr/>
          <a:lstStyle/>
          <a:p>
            <a:fld id="{1A4F67AD-A63B-3F49-90D3-49B0FBE48D6A}" type="slidenum">
              <a:rPr lang="en-US" smtClean="0"/>
              <a:pPr/>
              <a:t>19</a:t>
            </a:fld>
            <a:endParaRPr lang="en-US"/>
          </a:p>
        </p:txBody>
      </p:sp>
    </p:spTree>
    <p:extLst>
      <p:ext uri="{BB962C8B-B14F-4D97-AF65-F5344CB8AC3E}">
        <p14:creationId xmlns:p14="http://schemas.microsoft.com/office/powerpoint/2010/main" val="2881269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20</a:t>
            </a:fld>
            <a:endParaRPr lang="en-US"/>
          </a:p>
        </p:txBody>
      </p:sp>
    </p:spTree>
    <p:extLst>
      <p:ext uri="{BB962C8B-B14F-4D97-AF65-F5344CB8AC3E}">
        <p14:creationId xmlns:p14="http://schemas.microsoft.com/office/powerpoint/2010/main" val="2957110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21</a:t>
            </a:fld>
            <a:endParaRPr lang="en-US"/>
          </a:p>
        </p:txBody>
      </p:sp>
    </p:spTree>
    <p:extLst>
      <p:ext uri="{BB962C8B-B14F-4D97-AF65-F5344CB8AC3E}">
        <p14:creationId xmlns:p14="http://schemas.microsoft.com/office/powerpoint/2010/main" val="1403797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9F7479-1196-4FF4-B279-C4D10E314C20}" type="slidenum">
              <a:rPr lang="en-US" smtClean="0"/>
              <a:t>22</a:t>
            </a:fld>
            <a:endParaRPr lang="en-US"/>
          </a:p>
        </p:txBody>
      </p:sp>
    </p:spTree>
    <p:extLst>
      <p:ext uri="{BB962C8B-B14F-4D97-AF65-F5344CB8AC3E}">
        <p14:creationId xmlns:p14="http://schemas.microsoft.com/office/powerpoint/2010/main" val="3529616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Karen</a:t>
            </a:r>
          </a:p>
          <a:p>
            <a:endParaRPr lang="en-US">
              <a:ea typeface="Calibri"/>
              <a:cs typeface="Calibri"/>
            </a:endParaRPr>
          </a:p>
          <a:p>
            <a:r>
              <a:rPr lang="en-US">
                <a:ea typeface="Calibri"/>
                <a:cs typeface="Calibri"/>
              </a:rPr>
              <a:t>(Staci will open poll in zoom)</a:t>
            </a:r>
          </a:p>
        </p:txBody>
      </p:sp>
      <p:sp>
        <p:nvSpPr>
          <p:cNvPr id="4" name="Slide Number Placeholder 3"/>
          <p:cNvSpPr>
            <a:spLocks noGrp="1"/>
          </p:cNvSpPr>
          <p:nvPr>
            <p:ph type="sldNum" sz="quarter" idx="5"/>
          </p:nvPr>
        </p:nvSpPr>
        <p:spPr/>
        <p:txBody>
          <a:bodyPr/>
          <a:lstStyle/>
          <a:p>
            <a:fld id="{FF7C0A9C-8EB1-2944-91B3-96D63BF1E2CF}" type="slidenum">
              <a:rPr lang="en-US" smtClean="0"/>
              <a:t>23</a:t>
            </a:fld>
            <a:endParaRPr lang="en-US"/>
          </a:p>
        </p:txBody>
      </p:sp>
    </p:spTree>
    <p:extLst>
      <p:ext uri="{BB962C8B-B14F-4D97-AF65-F5344CB8AC3E}">
        <p14:creationId xmlns:p14="http://schemas.microsoft.com/office/powerpoint/2010/main" val="33041021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Jen </a:t>
            </a:r>
          </a:p>
        </p:txBody>
      </p:sp>
      <p:sp>
        <p:nvSpPr>
          <p:cNvPr id="4" name="Slide Number Placeholder 3"/>
          <p:cNvSpPr>
            <a:spLocks noGrp="1"/>
          </p:cNvSpPr>
          <p:nvPr>
            <p:ph type="sldNum" sz="quarter" idx="5"/>
          </p:nvPr>
        </p:nvSpPr>
        <p:spPr/>
        <p:txBody>
          <a:bodyPr/>
          <a:lstStyle/>
          <a:p>
            <a:fld id="{3C5211BF-9B92-4A94-BB64-7F7E360723BB}" type="slidenum">
              <a:rPr lang="en-US" smtClean="0"/>
              <a:t>24</a:t>
            </a:fld>
            <a:endParaRPr lang="en-US"/>
          </a:p>
        </p:txBody>
      </p:sp>
    </p:spTree>
    <p:extLst>
      <p:ext uri="{BB962C8B-B14F-4D97-AF65-F5344CB8AC3E}">
        <p14:creationId xmlns:p14="http://schemas.microsoft.com/office/powerpoint/2010/main" val="28947714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Jen</a:t>
            </a:r>
          </a:p>
          <a:p>
            <a:endParaRPr lang="en-US" dirty="0"/>
          </a:p>
          <a:p>
            <a:r>
              <a:rPr lang="en-US" dirty="0"/>
              <a:t>This means both gaining skills (learning to ride public transit) and social connections (people who can give you a ride) so the person is less dependent on disability service system solutions (like this agency van)</a:t>
            </a:r>
            <a:endParaRPr lang="en-US" dirty="0">
              <a:cs typeface="Calibri" panose="020F0502020204030204"/>
            </a:endParaRPr>
          </a:p>
          <a:p>
            <a:endParaRPr lang="en-US" baseline="0" dirty="0"/>
          </a:p>
          <a:p>
            <a:r>
              <a:rPr lang="en-US" dirty="0">
                <a:cs typeface="Calibri"/>
              </a:rPr>
              <a:t>Build human capital by teaching specific skills for community access and employment</a:t>
            </a:r>
          </a:p>
          <a:p>
            <a:r>
              <a:rPr lang="en-US" dirty="0">
                <a:cs typeface="Calibri"/>
              </a:rPr>
              <a:t>Build social capital, which can be used as natural supports </a:t>
            </a:r>
          </a:p>
          <a:p>
            <a:endParaRPr lang="en-US" baseline="0" dirty="0"/>
          </a:p>
          <a:p>
            <a:endParaRPr lang="en-US" dirty="0"/>
          </a:p>
          <a:p>
            <a:endParaRPr lang="en-US" dirty="0"/>
          </a:p>
        </p:txBody>
      </p:sp>
      <p:sp>
        <p:nvSpPr>
          <p:cNvPr id="4" name="Slide Number Placeholder 3"/>
          <p:cNvSpPr>
            <a:spLocks noGrp="1"/>
          </p:cNvSpPr>
          <p:nvPr>
            <p:ph type="sldNum" sz="quarter" idx="10"/>
          </p:nvPr>
        </p:nvSpPr>
        <p:spPr/>
        <p:txBody>
          <a:bodyPr/>
          <a:lstStyle/>
          <a:p>
            <a:fld id="{1A4F67AD-A63B-3F49-90D3-49B0FBE48D6A}" type="slidenum">
              <a:rPr lang="en-US" smtClean="0"/>
              <a:pPr/>
              <a:t>25</a:t>
            </a:fld>
            <a:endParaRPr lang="en-US"/>
          </a:p>
        </p:txBody>
      </p:sp>
    </p:spTree>
    <p:extLst>
      <p:ext uri="{BB962C8B-B14F-4D97-AF65-F5344CB8AC3E}">
        <p14:creationId xmlns:p14="http://schemas.microsoft.com/office/powerpoint/2010/main" val="15375087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26</a:t>
            </a:fld>
            <a:endParaRPr lang="en-US"/>
          </a:p>
        </p:txBody>
      </p:sp>
    </p:spTree>
    <p:extLst>
      <p:ext uri="{BB962C8B-B14F-4D97-AF65-F5344CB8AC3E}">
        <p14:creationId xmlns:p14="http://schemas.microsoft.com/office/powerpoint/2010/main" val="1255780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a:p>
            <a:endParaRPr lang="en-US"/>
          </a:p>
          <a:p>
            <a:r>
              <a:rPr lang="en-US"/>
              <a:t>(Staci will open the poll in zoom)</a:t>
            </a:r>
          </a:p>
        </p:txBody>
      </p:sp>
      <p:sp>
        <p:nvSpPr>
          <p:cNvPr id="4" name="Slide Number Placeholder 3"/>
          <p:cNvSpPr>
            <a:spLocks noGrp="1"/>
          </p:cNvSpPr>
          <p:nvPr>
            <p:ph type="sldNum" sz="quarter" idx="5"/>
          </p:nvPr>
        </p:nvSpPr>
        <p:spPr/>
        <p:txBody>
          <a:bodyPr/>
          <a:lstStyle/>
          <a:p>
            <a:fld id="{3C5211BF-9B92-4A94-BB64-7F7E360723BB}" type="slidenum">
              <a:rPr lang="en-US" smtClean="0"/>
              <a:t>27</a:t>
            </a:fld>
            <a:endParaRPr lang="en-US"/>
          </a:p>
        </p:txBody>
      </p:sp>
    </p:spTree>
    <p:extLst>
      <p:ext uri="{BB962C8B-B14F-4D97-AF65-F5344CB8AC3E}">
        <p14:creationId xmlns:p14="http://schemas.microsoft.com/office/powerpoint/2010/main" val="11791278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Jen </a:t>
            </a:r>
          </a:p>
        </p:txBody>
      </p:sp>
      <p:sp>
        <p:nvSpPr>
          <p:cNvPr id="4" name="Slide Number Placeholder 3"/>
          <p:cNvSpPr>
            <a:spLocks noGrp="1"/>
          </p:cNvSpPr>
          <p:nvPr>
            <p:ph type="sldNum" sz="quarter" idx="5"/>
          </p:nvPr>
        </p:nvSpPr>
        <p:spPr/>
        <p:txBody>
          <a:bodyPr/>
          <a:lstStyle/>
          <a:p>
            <a:fld id="{3C5211BF-9B92-4A94-BB64-7F7E360723BB}" type="slidenum">
              <a:rPr lang="en-US" smtClean="0"/>
              <a:t>28</a:t>
            </a:fld>
            <a:endParaRPr lang="en-US"/>
          </a:p>
        </p:txBody>
      </p:sp>
    </p:spTree>
    <p:extLst>
      <p:ext uri="{BB962C8B-B14F-4D97-AF65-F5344CB8AC3E}">
        <p14:creationId xmlns:p14="http://schemas.microsoft.com/office/powerpoint/2010/main" val="19517843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5211BF-9B92-4A94-BB64-7F7E360723BB}" type="slidenum">
              <a:rPr lang="en-US" smtClean="0"/>
              <a:t>30</a:t>
            </a:fld>
            <a:endParaRPr lang="en-US"/>
          </a:p>
        </p:txBody>
      </p:sp>
    </p:spTree>
    <p:extLst>
      <p:ext uri="{BB962C8B-B14F-4D97-AF65-F5344CB8AC3E}">
        <p14:creationId xmlns:p14="http://schemas.microsoft.com/office/powerpoint/2010/main" val="19392928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31</a:t>
            </a:fld>
            <a:endParaRPr lang="en-US"/>
          </a:p>
        </p:txBody>
      </p:sp>
    </p:spTree>
    <p:extLst>
      <p:ext uri="{BB962C8B-B14F-4D97-AF65-F5344CB8AC3E}">
        <p14:creationId xmlns:p14="http://schemas.microsoft.com/office/powerpoint/2010/main" val="37030745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Karen </a:t>
            </a:r>
          </a:p>
          <a:p>
            <a:endParaRPr lang="en-US">
              <a:ea typeface="Calibri"/>
              <a:cs typeface="Calibri"/>
            </a:endParaRPr>
          </a:p>
          <a:p>
            <a:r>
              <a:rPr lang="en-US">
                <a:ea typeface="Calibri"/>
                <a:cs typeface="Calibri"/>
              </a:rPr>
              <a:t>(Staci will open poll in zoom)</a:t>
            </a:r>
          </a:p>
        </p:txBody>
      </p:sp>
      <p:sp>
        <p:nvSpPr>
          <p:cNvPr id="4" name="Slide Number Placeholder 3"/>
          <p:cNvSpPr>
            <a:spLocks noGrp="1"/>
          </p:cNvSpPr>
          <p:nvPr>
            <p:ph type="sldNum" sz="quarter" idx="5"/>
          </p:nvPr>
        </p:nvSpPr>
        <p:spPr/>
        <p:txBody>
          <a:bodyPr/>
          <a:lstStyle/>
          <a:p>
            <a:fld id="{FF7C0A9C-8EB1-2944-91B3-96D63BF1E2CF}" type="slidenum">
              <a:rPr lang="en-US" smtClean="0"/>
              <a:t>32</a:t>
            </a:fld>
            <a:endParaRPr lang="en-US"/>
          </a:p>
        </p:txBody>
      </p:sp>
    </p:spTree>
    <p:extLst>
      <p:ext uri="{BB962C8B-B14F-4D97-AF65-F5344CB8AC3E}">
        <p14:creationId xmlns:p14="http://schemas.microsoft.com/office/powerpoint/2010/main" val="15523471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wrap up</a:t>
            </a:r>
          </a:p>
        </p:txBody>
      </p:sp>
      <p:sp>
        <p:nvSpPr>
          <p:cNvPr id="4" name="Slide Number Placeholder 3"/>
          <p:cNvSpPr>
            <a:spLocks noGrp="1"/>
          </p:cNvSpPr>
          <p:nvPr>
            <p:ph type="sldNum" sz="quarter" idx="5"/>
          </p:nvPr>
        </p:nvSpPr>
        <p:spPr/>
        <p:txBody>
          <a:bodyPr/>
          <a:lstStyle/>
          <a:p>
            <a:fld id="{3C5211BF-9B92-4A94-BB64-7F7E360723BB}" type="slidenum">
              <a:rPr lang="en-US" smtClean="0"/>
              <a:t>33</a:t>
            </a:fld>
            <a:endParaRPr lang="en-US"/>
          </a:p>
        </p:txBody>
      </p:sp>
    </p:spTree>
    <p:extLst>
      <p:ext uri="{BB962C8B-B14F-4D97-AF65-F5344CB8AC3E}">
        <p14:creationId xmlns:p14="http://schemas.microsoft.com/office/powerpoint/2010/main" val="40841006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Karen- </a:t>
            </a:r>
          </a:p>
        </p:txBody>
      </p:sp>
      <p:sp>
        <p:nvSpPr>
          <p:cNvPr id="4" name="Slide Number Placeholder 3"/>
          <p:cNvSpPr>
            <a:spLocks noGrp="1"/>
          </p:cNvSpPr>
          <p:nvPr>
            <p:ph type="sldNum" sz="quarter" idx="5"/>
          </p:nvPr>
        </p:nvSpPr>
        <p:spPr/>
        <p:txBody>
          <a:bodyPr/>
          <a:lstStyle/>
          <a:p>
            <a:fld id="{3C5211BF-9B92-4A94-BB64-7F7E360723BB}" type="slidenum">
              <a:rPr lang="en-US" smtClean="0"/>
              <a:t>34</a:t>
            </a:fld>
            <a:endParaRPr lang="en-US"/>
          </a:p>
        </p:txBody>
      </p:sp>
    </p:spTree>
    <p:extLst>
      <p:ext uri="{BB962C8B-B14F-4D97-AF65-F5344CB8AC3E}">
        <p14:creationId xmlns:p14="http://schemas.microsoft.com/office/powerpoint/2010/main" val="37482893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up for questions</a:t>
            </a:r>
          </a:p>
        </p:txBody>
      </p:sp>
      <p:sp>
        <p:nvSpPr>
          <p:cNvPr id="4" name="Slide Number Placeholder 3"/>
          <p:cNvSpPr>
            <a:spLocks noGrp="1"/>
          </p:cNvSpPr>
          <p:nvPr>
            <p:ph type="sldNum" sz="quarter" idx="5"/>
          </p:nvPr>
        </p:nvSpPr>
        <p:spPr/>
        <p:txBody>
          <a:bodyPr/>
          <a:lstStyle/>
          <a:p>
            <a:fld id="{3C5211BF-9B92-4A94-BB64-7F7E360723BB}" type="slidenum">
              <a:rPr lang="en-US" smtClean="0"/>
              <a:t>35</a:t>
            </a:fld>
            <a:endParaRPr lang="en-US"/>
          </a:p>
        </p:txBody>
      </p:sp>
    </p:spTree>
    <p:extLst>
      <p:ext uri="{BB962C8B-B14F-4D97-AF65-F5344CB8AC3E}">
        <p14:creationId xmlns:p14="http://schemas.microsoft.com/office/powerpoint/2010/main" val="32796113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C2B07E4-CDF9-4C88-A2F3-04620E58224D}" type="datetimeFigureOut">
              <a:rPr lang="en-US" smtClean="0"/>
              <a:t>5/25/2023</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EFE71E98-A417-4ECC-ACEB-C0490C20DB04}" type="slidenum">
              <a:rPr lang="en-US" smtClean="0"/>
              <a:t>‹#›</a:t>
            </a:fld>
            <a:endParaRPr lang="en-US"/>
          </a:p>
        </p:txBody>
      </p:sp>
    </p:spTree>
    <p:extLst>
      <p:ext uri="{BB962C8B-B14F-4D97-AF65-F5344CB8AC3E}">
        <p14:creationId xmlns:p14="http://schemas.microsoft.com/office/powerpoint/2010/main" val="22121412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2B07E4-CDF9-4C88-A2F3-04620E58224D}" type="datetimeFigureOut">
              <a:rPr lang="en-US" smtClean="0"/>
              <a:t>5/25/2023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742605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3C2B07E4-CDF9-4C88-A2F3-04620E58224D}" type="datetimeFigureOut">
              <a:rPr lang="en-US" smtClean="0"/>
              <a:t>5/25/2023</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41573913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2B07E4-CDF9-4C88-A2F3-04620E58224D}" type="datetimeFigureOut">
              <a:rPr lang="en-US" smtClean="0"/>
              <a:t>5/25/2023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068626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2B07E4-CDF9-4C88-A2F3-04620E58224D}" type="datetimeFigureOut">
              <a:rPr lang="en-US" smtClean="0"/>
              <a:t>5/25/2023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951239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2B07E4-CDF9-4C88-A2F3-04620E58224D}" type="datetimeFigureOut">
              <a:rPr lang="en-US" smtClean="0"/>
              <a:t>5/25/2023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657485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2B07E4-CDF9-4C88-A2F3-04620E58224D}" type="datetimeFigureOut">
              <a:rPr lang="en-US" smtClean="0"/>
              <a:t>5/25/2023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536707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C2B07E4-CDF9-4C88-A2F3-04620E58224D}" type="datetimeFigureOut">
              <a:rPr lang="en-US" smtClean="0"/>
              <a:t>5/25/2023</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EFE71E98-A417-4ECC-ACEB-C0490C20DB04}"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97273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3C2B07E4-CDF9-4C88-A2F3-04620E58224D}" type="datetimeFigureOut">
              <a:rPr lang="en-US" smtClean="0"/>
              <a:t>5/25/2023</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EFE71E98-A417-4ECC-ACEB-C0490C20DB04}"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73522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2B07E4-CDF9-4C88-A2F3-04620E58224D}" type="datetimeFigureOut">
              <a:rPr lang="en-US" smtClean="0"/>
              <a:t>5/25/2023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77706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2B07E4-CDF9-4C88-A2F3-04620E58224D}" type="datetimeFigureOut">
              <a:rPr lang="en-US" smtClean="0"/>
              <a:t>5/25/2023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7872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8888-A42A-10AF-5398-635905D1C974}"/>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C18961D-A2C2-DDCC-74CA-D3CAD36DFCD7}"/>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FEEDCD8-3F7F-AD97-D191-1928504ABE1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77AC8CA-05B6-FD4D-7610-F16A54E7D35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EBA71C7-C877-E06E-610A-3769E267EF76}"/>
              </a:ext>
            </a:extLst>
          </p:cNvPr>
          <p:cNvSpPr>
            <a:spLocks noGrp="1"/>
          </p:cNvSpPr>
          <p:nvPr>
            <p:ph type="sldNum" sz="quarter" idx="12"/>
          </p:nvPr>
        </p:nvSpPr>
        <p:spPr/>
        <p:txBody>
          <a:bodyPr/>
          <a:lstStyle/>
          <a:p>
            <a:fld id="{308C5664-C89A-1D4F-962E-558376A4545B}" type="slidenum">
              <a:rPr lang="en-US" smtClean="0"/>
              <a:pPr/>
              <a:t>‹#›</a:t>
            </a:fld>
            <a:endParaRPr lang="en-US"/>
          </a:p>
        </p:txBody>
      </p:sp>
    </p:spTree>
    <p:extLst>
      <p:ext uri="{BB962C8B-B14F-4D97-AF65-F5344CB8AC3E}">
        <p14:creationId xmlns:p14="http://schemas.microsoft.com/office/powerpoint/2010/main" val="108204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34DD-10BC-38F4-8272-3FC35BBAEA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2240C-C9FB-E8F1-4C85-E8CC6F2F7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72E73-60D6-72D6-926C-1581E4C0B09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C4B869F-0F0D-7F20-05CB-79A175F1C19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E101D62-5252-1997-206D-63B65D8802B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478108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DCAE-2C10-C764-A2FF-139DE9C015D4}"/>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F6B4767-9110-D4C7-F44E-7D8AC5705E14}"/>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0A545-DB71-9B62-665C-94A39AC3D92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1326A4A-A690-490D-4395-82F32062486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DB9D8B7-1823-A716-0E05-C1EF47662B8C}"/>
              </a:ext>
            </a:extLst>
          </p:cNvPr>
          <p:cNvSpPr>
            <a:spLocks noGrp="1"/>
          </p:cNvSpPr>
          <p:nvPr>
            <p:ph type="sldNum" sz="quarter" idx="12"/>
          </p:nvPr>
        </p:nvSpPr>
        <p:spPr/>
        <p:txBody>
          <a:bodyPr/>
          <a:lstStyle/>
          <a:p>
            <a:fld id="{6C260E92-1CB0-4649-B042-6EA86B54D02A}" type="slidenum">
              <a:rPr lang="en-US" smtClean="0"/>
              <a:pPr/>
              <a:t>‹#›</a:t>
            </a:fld>
            <a:endParaRPr lang="en-US"/>
          </a:p>
        </p:txBody>
      </p:sp>
    </p:spTree>
    <p:extLst>
      <p:ext uri="{BB962C8B-B14F-4D97-AF65-F5344CB8AC3E}">
        <p14:creationId xmlns:p14="http://schemas.microsoft.com/office/powerpoint/2010/main" val="2797058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40D7-55B2-FDCB-FBE7-62BFC4955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2B2411-F0B0-AEB5-E46F-C0E5171564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8D1A1A-FEDA-6627-9ACF-1E19C8B4A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ABAD8-90E2-9197-7FAB-69419D304BE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C5EBFC9-7633-C722-66B2-C4EE551260A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E44148E-5612-A6FC-859C-D7C1D857DD8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1644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1A40E-25F7-862F-D5B8-4E71AB53B270}"/>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E8D0E1-F09A-9D26-56B9-9E2E6A84CF21}"/>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CCCDE3D-9D12-7568-B902-18B92C0DE1D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2A8000-3D3A-F58C-938D-A7BA82A4EDE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DB15B-B9FA-FF88-E0CC-A19340F3613C}"/>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A4E6CD-D6C5-C300-3126-614AE2DA8004}"/>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45815D4-C8BD-8909-54DC-FC15FAA59FBE}"/>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E2E3438-7B52-815A-D9A8-A4C581E33B3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249769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C046-E063-E4A4-10E5-B11A13B0F6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F68D09-6F80-C61D-F19C-66FF96B1D95E}"/>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5B96ED8-0CA8-DC31-0996-C3A35471698A}"/>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1AFB8B04-1A4A-FEC1-9149-57DEBD6AD6D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498657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8AA6B-5E71-4F69-D470-54A7582D3D5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468A06A1-E037-6942-FBCA-305021387BA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AE5DA8CD-F7B5-622A-ADDC-B9728985527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04886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ADC6B-CB65-3A94-C287-7FC8C469A838}"/>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81EA2C9-E001-2557-15D5-3B08DF66D278}"/>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4DB92C-730D-F75C-6A01-F5E7E044B832}"/>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AB2374F-7B41-5010-70A8-CBED33A1D24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A1CE970A-0BD8-E22A-FC9A-C64E442DCE0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6EDB4EB-7833-B006-3807-CE22EF619CDC}"/>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344133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D11C2-3544-33E8-8BF0-E1567E75B6BF}"/>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F8221DD-9CAE-F4AF-34C7-93DEDD415F8E}"/>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EA3521D-6885-E11F-E8EF-D48B3A10C416}"/>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724328-5BE0-5C9C-7948-E814CD21B524}"/>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8DD2C42-3964-D4C1-19CD-6C1FDDD8914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ACE3B32-A011-00EA-CFDF-E24D17B69D00}"/>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8691157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F418-488C-E058-1858-48C243BE87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FE500F-0146-CF9F-4DF4-4928610C5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9372B-DF23-50DB-5593-47453A6FF21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04C41AB-48D8-9785-39CC-44037C9DFCE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84B8F29-83D6-6A5E-1D50-0775B0EABAFE}"/>
              </a:ext>
            </a:extLst>
          </p:cNvPr>
          <p:cNvSpPr>
            <a:spLocks noGrp="1"/>
          </p:cNvSpPr>
          <p:nvPr>
            <p:ph type="sldNum" sz="quarter" idx="12"/>
          </p:nvPr>
        </p:nvSpPr>
        <p:spPr/>
        <p:txBody>
          <a:bodyPr/>
          <a:lstStyle/>
          <a:p>
            <a:fld id="{5CA3EE8A-D467-1E43-9BF1-BA74D447CC7B}" type="slidenum">
              <a:rPr lang="en-US" smtClean="0"/>
              <a:pPr/>
              <a:t>‹#›</a:t>
            </a:fld>
            <a:endParaRPr lang="en-US"/>
          </a:p>
        </p:txBody>
      </p:sp>
    </p:spTree>
    <p:extLst>
      <p:ext uri="{BB962C8B-B14F-4D97-AF65-F5344CB8AC3E}">
        <p14:creationId xmlns:p14="http://schemas.microsoft.com/office/powerpoint/2010/main" val="13356238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CAFF7F-E323-7090-3747-B260810139D1}"/>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351B57-F253-ED6F-141E-2490BE35E4E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4807A9-369A-BFCE-2B8D-B9744472BB4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B1481EB-7D30-5E58-17AB-F925619D074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4C2E476-7CF3-A498-6D73-2C6AF40AF33C}"/>
              </a:ext>
            </a:extLst>
          </p:cNvPr>
          <p:cNvSpPr>
            <a:spLocks noGrp="1"/>
          </p:cNvSpPr>
          <p:nvPr>
            <p:ph type="sldNum" sz="quarter" idx="12"/>
          </p:nvPr>
        </p:nvSpPr>
        <p:spPr/>
        <p:txBody>
          <a:bodyPr/>
          <a:lstStyle/>
          <a:p>
            <a:fld id="{8C454890-8C81-D642-A868-18D33ADD9ED7}" type="slidenum">
              <a:rPr lang="en-US" smtClean="0"/>
              <a:pPr/>
              <a:t>‹#›</a:t>
            </a:fld>
            <a:endParaRPr lang="en-US"/>
          </a:p>
        </p:txBody>
      </p:sp>
    </p:spTree>
    <p:extLst>
      <p:ext uri="{BB962C8B-B14F-4D97-AF65-F5344CB8AC3E}">
        <p14:creationId xmlns:p14="http://schemas.microsoft.com/office/powerpoint/2010/main" val="37759814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595A-77DA-EC99-7278-5A94CB9DB6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633E7F-BA35-4D1C-FA87-62446E46FE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EC8D7B-7F35-C13B-CA7E-28E7F3F524D7}"/>
              </a:ext>
            </a:extLst>
          </p:cNvPr>
          <p:cNvSpPr>
            <a:spLocks noGrp="1"/>
          </p:cNvSpPr>
          <p:nvPr>
            <p:ph type="dt" sz="half" idx="10"/>
          </p:nvPr>
        </p:nvSpPr>
        <p:spPr/>
        <p:txBody>
          <a:bodyPr/>
          <a:lstStyle/>
          <a:p>
            <a:pPr algn="l"/>
            <a:fld id="{F9F8C003-66AB-43F0-B1A9-4AE95C3273E3}" type="datetime1">
              <a:rPr lang="en-US" smtClean="0"/>
              <a:t>5/25/2023</a:t>
            </a:fld>
            <a:endParaRPr lang="en-US" dirty="0"/>
          </a:p>
        </p:txBody>
      </p:sp>
      <p:sp>
        <p:nvSpPr>
          <p:cNvPr id="5" name="Footer Placeholder 4">
            <a:extLst>
              <a:ext uri="{FF2B5EF4-FFF2-40B4-BE49-F238E27FC236}">
                <a16:creationId xmlns:a16="http://schemas.microsoft.com/office/drawing/2014/main" id="{553F0736-1436-CE63-A68D-255F0A2DE046}"/>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84EB46DD-B6BB-B481-9739-8BFC03FC6105}"/>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113858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EA174-F616-5944-DCC6-588D933A8A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30B634-8681-57D3-C196-E34FDC82B2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0AC5B2-34F7-E682-05A5-E0460CA12466}"/>
              </a:ext>
            </a:extLst>
          </p:cNvPr>
          <p:cNvSpPr>
            <a:spLocks noGrp="1"/>
          </p:cNvSpPr>
          <p:nvPr>
            <p:ph type="dt" sz="half" idx="10"/>
          </p:nvPr>
        </p:nvSpPr>
        <p:spPr/>
        <p:txBody>
          <a:bodyPr/>
          <a:lstStyle/>
          <a:p>
            <a:fld id="{3648908D-1A40-42C6-916A-125B4FBB1392}" type="datetime1">
              <a:rPr lang="en-US" smtClean="0"/>
              <a:t>5/25/2023</a:t>
            </a:fld>
            <a:endParaRPr lang="en-US" dirty="0"/>
          </a:p>
        </p:txBody>
      </p:sp>
      <p:sp>
        <p:nvSpPr>
          <p:cNvPr id="5" name="Footer Placeholder 4">
            <a:extLst>
              <a:ext uri="{FF2B5EF4-FFF2-40B4-BE49-F238E27FC236}">
                <a16:creationId xmlns:a16="http://schemas.microsoft.com/office/drawing/2014/main" id="{51B8DDF8-EF5B-152F-E940-D898BC1FA1B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EFBE63-9444-14FB-5AEC-6C00577E1379}"/>
              </a:ext>
            </a:extLst>
          </p:cNvPr>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981396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BB00C-9C19-9179-0655-560C1C16AD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6F1872-4087-B1CF-33F7-48A8E0A713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723009-F168-ACC3-0236-7BF763CDEB41}"/>
              </a:ext>
            </a:extLst>
          </p:cNvPr>
          <p:cNvSpPr>
            <a:spLocks noGrp="1"/>
          </p:cNvSpPr>
          <p:nvPr>
            <p:ph type="dt" sz="half" idx="10"/>
          </p:nvPr>
        </p:nvSpPr>
        <p:spPr/>
        <p:txBody>
          <a:bodyPr/>
          <a:lstStyle/>
          <a:p>
            <a:fld id="{DC470CA0-2A5C-4F10-91AC-F9D5A52023EB}" type="datetime1">
              <a:rPr lang="en-US" smtClean="0"/>
              <a:t>5/25/2023</a:t>
            </a:fld>
            <a:endParaRPr lang="en-US" dirty="0"/>
          </a:p>
        </p:txBody>
      </p:sp>
      <p:sp>
        <p:nvSpPr>
          <p:cNvPr id="5" name="Footer Placeholder 4">
            <a:extLst>
              <a:ext uri="{FF2B5EF4-FFF2-40B4-BE49-F238E27FC236}">
                <a16:creationId xmlns:a16="http://schemas.microsoft.com/office/drawing/2014/main" id="{648B5629-2517-AC05-85D0-8C39C07FEB5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3F1877-0C4F-8F31-8B26-642E8BDB87E0}"/>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5322022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B512-CC64-B89F-9B70-CBA9059556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C57119-0EAA-C49A-0FF7-A5CE6FC17B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2860CA-E87A-1F3C-0569-665A5D3B25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AA71B0-8226-3F67-99A1-71B51DB76498}"/>
              </a:ext>
            </a:extLst>
          </p:cNvPr>
          <p:cNvSpPr>
            <a:spLocks noGrp="1"/>
          </p:cNvSpPr>
          <p:nvPr>
            <p:ph type="dt" sz="half" idx="10"/>
          </p:nvPr>
        </p:nvSpPr>
        <p:spPr/>
        <p:txBody>
          <a:bodyPr/>
          <a:lstStyle/>
          <a:p>
            <a:fld id="{1DE95327-AD9E-45AB-AFC4-6267BF7FBCC8}" type="datetime1">
              <a:rPr lang="en-US" smtClean="0"/>
              <a:t>5/25/2023</a:t>
            </a:fld>
            <a:endParaRPr lang="en-US" dirty="0"/>
          </a:p>
        </p:txBody>
      </p:sp>
      <p:sp>
        <p:nvSpPr>
          <p:cNvPr id="6" name="Footer Placeholder 5">
            <a:extLst>
              <a:ext uri="{FF2B5EF4-FFF2-40B4-BE49-F238E27FC236}">
                <a16:creationId xmlns:a16="http://schemas.microsoft.com/office/drawing/2014/main" id="{A7277F00-ED0C-B47F-D71E-90368F8C41F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6492745-DF95-4D8C-C640-120598744787}"/>
              </a:ext>
            </a:extLst>
          </p:cNvPr>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4733466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AC10-8174-12B9-1E88-ADA5A3F5B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D1DE72-FDC7-8A49-23CD-985505650A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F2765B-A905-D1D8-CF60-0274ACAE14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A98D42-E73A-C433-5D19-12A790A9B3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2FD08D-227C-10CA-A2BF-C85072814F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0A3792-DD44-7534-CDCF-B5181AF92A80}"/>
              </a:ext>
            </a:extLst>
          </p:cNvPr>
          <p:cNvSpPr>
            <a:spLocks noGrp="1"/>
          </p:cNvSpPr>
          <p:nvPr>
            <p:ph type="dt" sz="half" idx="10"/>
          </p:nvPr>
        </p:nvSpPr>
        <p:spPr/>
        <p:txBody>
          <a:bodyPr/>
          <a:lstStyle/>
          <a:p>
            <a:fld id="{CC53505B-2784-46B0-BAB1-627E3711B800}" type="datetime1">
              <a:rPr lang="en-US" smtClean="0"/>
              <a:t>5/25/2023</a:t>
            </a:fld>
            <a:endParaRPr lang="en-US" dirty="0"/>
          </a:p>
        </p:txBody>
      </p:sp>
      <p:sp>
        <p:nvSpPr>
          <p:cNvPr id="8" name="Footer Placeholder 7">
            <a:extLst>
              <a:ext uri="{FF2B5EF4-FFF2-40B4-BE49-F238E27FC236}">
                <a16:creationId xmlns:a16="http://schemas.microsoft.com/office/drawing/2014/main" id="{2A5C7286-C110-9633-DD40-C09BC0E8E01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4673197-EC40-E620-739C-DCEB356BFA45}"/>
              </a:ext>
            </a:extLst>
          </p:cNvPr>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8971966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7A4EF-82A5-8889-A590-13D00E1735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3699AF-6CE0-B755-00A0-CB4477EE16EB}"/>
              </a:ext>
            </a:extLst>
          </p:cNvPr>
          <p:cNvSpPr>
            <a:spLocks noGrp="1"/>
          </p:cNvSpPr>
          <p:nvPr>
            <p:ph type="dt" sz="half" idx="10"/>
          </p:nvPr>
        </p:nvSpPr>
        <p:spPr/>
        <p:txBody>
          <a:bodyPr/>
          <a:lstStyle/>
          <a:p>
            <a:fld id="{63081C33-8B3C-4D1F-8631-40CD87C8F74F}" type="datetime1">
              <a:rPr lang="en-US" smtClean="0"/>
              <a:t>5/25/2023</a:t>
            </a:fld>
            <a:endParaRPr lang="en-US" dirty="0"/>
          </a:p>
        </p:txBody>
      </p:sp>
      <p:sp>
        <p:nvSpPr>
          <p:cNvPr id="4" name="Footer Placeholder 3">
            <a:extLst>
              <a:ext uri="{FF2B5EF4-FFF2-40B4-BE49-F238E27FC236}">
                <a16:creationId xmlns:a16="http://schemas.microsoft.com/office/drawing/2014/main" id="{406BA3B6-C841-940F-935A-ED7C54E68C1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11B822-61EA-249A-0E39-CF4502749A1D}"/>
              </a:ext>
            </a:extLst>
          </p:cNvPr>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635846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928B33-CE19-61AE-D831-D408B60E4CBE}"/>
              </a:ext>
            </a:extLst>
          </p:cNvPr>
          <p:cNvSpPr>
            <a:spLocks noGrp="1"/>
          </p:cNvSpPr>
          <p:nvPr>
            <p:ph type="dt" sz="half" idx="10"/>
          </p:nvPr>
        </p:nvSpPr>
        <p:spPr/>
        <p:txBody>
          <a:bodyPr/>
          <a:lstStyle/>
          <a:p>
            <a:fld id="{90EDCAD2-E158-4DAE-A2EC-1AF395FBB463}" type="datetime1">
              <a:rPr lang="en-US" smtClean="0"/>
              <a:t>5/25/2023</a:t>
            </a:fld>
            <a:endParaRPr lang="en-US" dirty="0"/>
          </a:p>
        </p:txBody>
      </p:sp>
      <p:sp>
        <p:nvSpPr>
          <p:cNvPr id="3" name="Footer Placeholder 2">
            <a:extLst>
              <a:ext uri="{FF2B5EF4-FFF2-40B4-BE49-F238E27FC236}">
                <a16:creationId xmlns:a16="http://schemas.microsoft.com/office/drawing/2014/main" id="{0E263366-D8E2-F8D2-E9DB-35EE69BDB9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3C62CEB-2CB4-6757-D83E-8CC3CD330875}"/>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234685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2358E-FC36-4AEC-D0DC-4663BB37C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3E786D-AE77-45C1-D0A8-C735E425B8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78D05B-95F9-36AE-4C3F-574C3E48C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79FA1A-04A8-0E7C-AF17-23F71DF2D0B6}"/>
              </a:ext>
            </a:extLst>
          </p:cNvPr>
          <p:cNvSpPr>
            <a:spLocks noGrp="1"/>
          </p:cNvSpPr>
          <p:nvPr>
            <p:ph type="dt" sz="half" idx="10"/>
          </p:nvPr>
        </p:nvSpPr>
        <p:spPr/>
        <p:txBody>
          <a:bodyPr/>
          <a:lstStyle/>
          <a:p>
            <a:fld id="{D0329A3E-1982-4C21-B91B-277E95A430A1}" type="datetime1">
              <a:rPr lang="en-US" smtClean="0"/>
              <a:t>5/25/2023</a:t>
            </a:fld>
            <a:endParaRPr lang="en-US" dirty="0"/>
          </a:p>
        </p:txBody>
      </p:sp>
      <p:sp>
        <p:nvSpPr>
          <p:cNvPr id="6" name="Footer Placeholder 5">
            <a:extLst>
              <a:ext uri="{FF2B5EF4-FFF2-40B4-BE49-F238E27FC236}">
                <a16:creationId xmlns:a16="http://schemas.microsoft.com/office/drawing/2014/main" id="{B41803D3-5FAC-5010-1BF8-821B64173B7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2FD5E2A-7307-C27C-D9F8-B9FB430039E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163652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2CBC-B073-2C90-E0D8-7C6B313C3F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56BAD1-38CB-3BB2-E515-B673384DB9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4423C6-31AB-C089-2BFB-83D6A732C0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5C4679-7FC7-5385-60D8-BC13C892967D}"/>
              </a:ext>
            </a:extLst>
          </p:cNvPr>
          <p:cNvSpPr>
            <a:spLocks noGrp="1"/>
          </p:cNvSpPr>
          <p:nvPr>
            <p:ph type="dt" sz="half" idx="10"/>
          </p:nvPr>
        </p:nvSpPr>
        <p:spPr/>
        <p:txBody>
          <a:bodyPr/>
          <a:lstStyle/>
          <a:p>
            <a:fld id="{EFB6610D-779D-4980-91EC-0B4530CA3262}" type="datetime1">
              <a:rPr lang="en-US" smtClean="0"/>
              <a:t>5/25/2023</a:t>
            </a:fld>
            <a:endParaRPr lang="en-US" dirty="0"/>
          </a:p>
        </p:txBody>
      </p:sp>
      <p:sp>
        <p:nvSpPr>
          <p:cNvPr id="6" name="Footer Placeholder 5">
            <a:extLst>
              <a:ext uri="{FF2B5EF4-FFF2-40B4-BE49-F238E27FC236}">
                <a16:creationId xmlns:a16="http://schemas.microsoft.com/office/drawing/2014/main" id="{1CB8C5D9-B81F-4798-DDA4-BDD21A46DC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2502C00-1664-8917-6103-AB5692C8912A}"/>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431841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6578A-4626-91E2-CDFD-52B27EF9DF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D31416-6CA7-CB9D-4540-DFE07EFEBC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402E27-9423-6EF8-CFD4-FB2824CF6257}"/>
              </a:ext>
            </a:extLst>
          </p:cNvPr>
          <p:cNvSpPr>
            <a:spLocks noGrp="1"/>
          </p:cNvSpPr>
          <p:nvPr>
            <p:ph type="dt" sz="half" idx="10"/>
          </p:nvPr>
        </p:nvSpPr>
        <p:spPr/>
        <p:txBody>
          <a:bodyPr/>
          <a:lstStyle/>
          <a:p>
            <a:fld id="{8C16F8FF-65C3-40C1-8394-F7A279467DAA}" type="datetime1">
              <a:rPr lang="en-US" smtClean="0"/>
              <a:t>5/25/2023</a:t>
            </a:fld>
            <a:endParaRPr lang="en-US" dirty="0"/>
          </a:p>
        </p:txBody>
      </p:sp>
      <p:sp>
        <p:nvSpPr>
          <p:cNvPr id="5" name="Footer Placeholder 4">
            <a:extLst>
              <a:ext uri="{FF2B5EF4-FFF2-40B4-BE49-F238E27FC236}">
                <a16:creationId xmlns:a16="http://schemas.microsoft.com/office/drawing/2014/main" id="{72ABBBA2-7069-A4D4-DFBC-A58C6701FC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E6A7FF-14B3-11AC-905E-68D9E2513EEB}"/>
              </a:ext>
            </a:extLst>
          </p:cNvPr>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2780452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54566D-5159-99DE-C72E-9C74ED16D1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93B029-F732-B7B1-4B8F-A11756AF43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78546C-C468-5B24-E9E0-580E97C0EAFC}"/>
              </a:ext>
            </a:extLst>
          </p:cNvPr>
          <p:cNvSpPr>
            <a:spLocks noGrp="1"/>
          </p:cNvSpPr>
          <p:nvPr>
            <p:ph type="dt" sz="half" idx="10"/>
          </p:nvPr>
        </p:nvSpPr>
        <p:spPr/>
        <p:txBody>
          <a:bodyPr/>
          <a:lstStyle/>
          <a:p>
            <a:fld id="{9586D114-CE90-4300-BE17-822AD6BFADF3}" type="datetime1">
              <a:rPr lang="en-US" smtClean="0"/>
              <a:t>5/25/2023</a:t>
            </a:fld>
            <a:endParaRPr lang="en-US" dirty="0"/>
          </a:p>
        </p:txBody>
      </p:sp>
      <p:sp>
        <p:nvSpPr>
          <p:cNvPr id="5" name="Footer Placeholder 4">
            <a:extLst>
              <a:ext uri="{FF2B5EF4-FFF2-40B4-BE49-F238E27FC236}">
                <a16:creationId xmlns:a16="http://schemas.microsoft.com/office/drawing/2014/main" id="{CABA75C7-449A-A663-0709-8FD8F420E0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89E85A1-2236-CADB-FCA5-DEE8A81875A2}"/>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9548445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3DBC4126-9AF9-498A-B8B9-AF177330DDE7}" type="datetimeFigureOut">
              <a:rPr lang="en-US" smtClean="0"/>
              <a:t>5/25/2023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3A0B9-9DCA-4E7D-A13B-F482D7792629}" type="slidenum">
              <a:rPr lang="en-US" smtClean="0"/>
              <a:t>‹#›</a:t>
            </a:fld>
            <a:endParaRPr lang="en-US"/>
          </a:p>
        </p:txBody>
      </p:sp>
      <p:sp>
        <p:nvSpPr>
          <p:cNvPr id="9" name="Content Placeholder 8"/>
          <p:cNvSpPr>
            <a:spLocks noGrp="1"/>
          </p:cNvSpPr>
          <p:nvPr>
            <p:ph sz="quarter" idx="13"/>
          </p:nvPr>
        </p:nvSpPr>
        <p:spPr>
          <a:xfrm>
            <a:off x="1731264" y="2121407"/>
            <a:ext cx="4267200" cy="3602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217920" y="2119313"/>
            <a:ext cx="4267200" cy="3605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1473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C2B07E4-CDF9-4C88-A2F3-04620E58224D}" type="datetimeFigureOut">
              <a:rPr lang="en-US" smtClean="0"/>
              <a:pPr/>
              <a:t>5/25/2023</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EFE71E98-A417-4ECC-ACEB-C0490C20DB04}" type="slidenum">
              <a:rPr lang="en-US" smtClean="0"/>
              <a:pPr/>
              <a:t>‹#›</a:t>
            </a:fld>
            <a:endParaRPr lang="en-US"/>
          </a:p>
        </p:txBody>
      </p:sp>
    </p:spTree>
    <p:extLst>
      <p:ext uri="{BB962C8B-B14F-4D97-AF65-F5344CB8AC3E}">
        <p14:creationId xmlns:p14="http://schemas.microsoft.com/office/powerpoint/2010/main" val="181839149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9D20E-7A7F-54FD-AD17-38C4874E9D1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FD75F-7CB4-1010-FA5F-82A29DA451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F7EBF7-BCE2-6349-3CF1-EE42512A1012}"/>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040AFBE2-3D8D-5FF0-A4CE-66D4CACEC458}"/>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45B8627-7E0E-530C-FB87-7A70CDC3331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15FAA45-AC5B-014B-9F74-53D558B73BE0}" type="slidenum">
              <a:rPr lang="en-US" smtClean="0"/>
              <a:pPr/>
              <a:t>‹#›</a:t>
            </a:fld>
            <a:endParaRPr lang="en-US"/>
          </a:p>
        </p:txBody>
      </p:sp>
    </p:spTree>
    <p:extLst>
      <p:ext uri="{BB962C8B-B14F-4D97-AF65-F5344CB8AC3E}">
        <p14:creationId xmlns:p14="http://schemas.microsoft.com/office/powerpoint/2010/main" val="2694770734"/>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AA5FFF-B8FE-872B-ABFF-E2D35AD001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DE4C95-069C-FE8C-76F1-F3DB572B9D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A3CF19-2618-F991-BA1A-6FC88923B6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62461-FAAD-4829-9F8C-11BD0FC2B88F}" type="datetime1">
              <a:rPr lang="en-US" smtClean="0"/>
              <a:t>5/25/2023</a:t>
            </a:fld>
            <a:endParaRPr lang="en-US" dirty="0"/>
          </a:p>
        </p:txBody>
      </p:sp>
      <p:sp>
        <p:nvSpPr>
          <p:cNvPr id="5" name="Footer Placeholder 4">
            <a:extLst>
              <a:ext uri="{FF2B5EF4-FFF2-40B4-BE49-F238E27FC236}">
                <a16:creationId xmlns:a16="http://schemas.microsoft.com/office/drawing/2014/main" id="{8BDA9B01-7757-2FA2-4A00-92B39856B6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EA1A6E0-2D11-5BE7-8DC8-A3218997AC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655555797"/>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9.jpeg"/><Relationship Id="rId7"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mailto:js1870@usnh.edu" TargetMode="External"/><Relationship Id="rId5" Type="http://schemas.openxmlformats.org/officeDocument/2006/relationships/image" Target="../media/image10.png"/><Relationship Id="rId4" Type="http://schemas.openxmlformats.org/officeDocument/2006/relationships/hyperlink" Target="mailto:klee@seeconline.or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hyperlink" Target="https://creativecommons.org/licenses/by-nc/3.0/" TargetMode="External"/><Relationship Id="rId5" Type="http://schemas.openxmlformats.org/officeDocument/2006/relationships/image" Target="../media/image14.png"/><Relationship Id="rId4" Type="http://schemas.openxmlformats.org/officeDocument/2006/relationships/hyperlink" Target="https://kboo.fm/media/77404-creating-livable-communities-all-ages-age-inclusive-advocate-gil-penalosa" TargetMode="Externa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www.statedata.info/sites/statedata.info/files/files/bluebook_2022_complete_F.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cletoolkit.communityinclusion.or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communityinclusion.org/files/cle-toolkit/guideposts_assessment.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24.jpe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26.jpeg"/><Relationship Id="rId4"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4.xml"/><Relationship Id="rId1" Type="http://schemas.openxmlformats.org/officeDocument/2006/relationships/video" Target="https://www.youtube.com/embed/T6cSrrrR5S8?feature=oembed" TargetMode="External"/><Relationship Id="rId4" Type="http://schemas.openxmlformats.org/officeDocument/2006/relationships/image" Target="../media/image2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6.xml"/><Relationship Id="rId5" Type="http://schemas.openxmlformats.org/officeDocument/2006/relationships/image" Target="../media/image31.tiff"/><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22.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5.xml"/><Relationship Id="rId5" Type="http://schemas.openxmlformats.org/officeDocument/2006/relationships/image" Target="../media/image42.tiff"/><Relationship Id="rId4" Type="http://schemas.openxmlformats.org/officeDocument/2006/relationships/image" Target="../media/image41.jpeg"/></Relationships>
</file>

<file path=ppt/slides/_rels/slide2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video" Target="https://www.youtube.com/embed/6oS9s_H0fF0?feature=oembed" TargetMode="External"/><Relationship Id="rId4" Type="http://schemas.openxmlformats.org/officeDocument/2006/relationships/image" Target="../media/image48.jpeg"/></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5"/>
          <p:cNvSpPr>
            <a:spLocks noGrp="1"/>
          </p:cNvSpPr>
          <p:nvPr>
            <p:ph type="title"/>
          </p:nvPr>
        </p:nvSpPr>
        <p:spPr>
          <a:xfrm>
            <a:off x="1351280" y="244007"/>
            <a:ext cx="9215120" cy="1299411"/>
          </a:xfrm>
        </p:spPr>
        <p:txBody>
          <a:bodyPr vert="horz" lIns="91440" tIns="45720" rIns="91440" bIns="45720" rtlCol="0" anchor="ctr">
            <a:normAutofit fontScale="90000"/>
          </a:bodyPr>
          <a:lstStyle/>
          <a:p>
            <a:pPr algn="ctr">
              <a:spcAft>
                <a:spcPts val="2400"/>
              </a:spcAft>
            </a:pPr>
            <a:r>
              <a:rPr lang="en-US" sz="3600" b="1" i="1">
                <a:latin typeface="+mn-lt"/>
                <a:ea typeface="+mn-ea"/>
                <a:cs typeface="+mn-cs"/>
              </a:rPr>
              <a:t>Community Life Engagement as a Pathway to, and Wrap-around for, Employment </a:t>
            </a:r>
          </a:p>
        </p:txBody>
      </p:sp>
      <p:sp>
        <p:nvSpPr>
          <p:cNvPr id="4" name="TextBox 3"/>
          <p:cNvSpPr txBox="1"/>
          <p:nvPr/>
        </p:nvSpPr>
        <p:spPr>
          <a:xfrm>
            <a:off x="3811727" y="3554472"/>
            <a:ext cx="4887626" cy="322762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2400">
              <a:solidFill>
                <a:schemeClr val="tx2"/>
              </a:solidFill>
            </a:endParaRPr>
          </a:p>
          <a:p>
            <a:pPr algn="ctr">
              <a:lnSpc>
                <a:spcPct val="90000"/>
              </a:lnSpc>
              <a:spcAft>
                <a:spcPts val="600"/>
              </a:spcAft>
            </a:pPr>
            <a:r>
              <a:rPr lang="en-US" sz="2400" b="1"/>
              <a:t>Quarterly Provider Training Series</a:t>
            </a:r>
          </a:p>
          <a:p>
            <a:pPr algn="ctr">
              <a:lnSpc>
                <a:spcPct val="90000"/>
              </a:lnSpc>
              <a:spcAft>
                <a:spcPts val="600"/>
              </a:spcAft>
            </a:pPr>
            <a:r>
              <a:rPr lang="en-US" sz="2400"/>
              <a:t>May 25, 2023</a:t>
            </a:r>
          </a:p>
        </p:txBody>
      </p:sp>
      <p:sp>
        <p:nvSpPr>
          <p:cNvPr id="11" name="Rectangle 9"/>
          <p:cNvSpPr txBox="1">
            <a:spLocks noChangeArrowheads="1"/>
          </p:cNvSpPr>
          <p:nvPr/>
        </p:nvSpPr>
        <p:spPr>
          <a:xfrm>
            <a:off x="6019683" y="3309186"/>
            <a:ext cx="3886200" cy="762000"/>
          </a:xfrm>
          <a:prstGeom prst="rect">
            <a:avLst/>
          </a:prstGeom>
        </p:spPr>
        <p:txBody>
          <a:bodyPr/>
          <a:lstStyle/>
          <a:p>
            <a:pPr>
              <a:defRPr/>
            </a:pPr>
            <a:endParaRPr lang="en-US" sz="2400">
              <a:latin typeface="Times"/>
              <a:cs typeface="Times"/>
            </a:endParaRPr>
          </a:p>
        </p:txBody>
      </p:sp>
      <p:pic>
        <p:nvPicPr>
          <p:cNvPr id="16" name="Picture 15" descr="Logo&#10;&#10;Description automatically generated with medium confidence">
            <a:extLst>
              <a:ext uri="{FF2B5EF4-FFF2-40B4-BE49-F238E27FC236}">
                <a16:creationId xmlns:a16="http://schemas.microsoft.com/office/drawing/2014/main" id="{2C766A1B-6DDE-3D65-0281-25959F0E951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730448" y="1689716"/>
            <a:ext cx="5458487" cy="2703415"/>
          </a:xfrm>
          <a:prstGeom prst="rect">
            <a:avLst/>
          </a:prstGeom>
        </p:spPr>
      </p:pic>
    </p:spTree>
    <p:extLst>
      <p:ext uri="{BB962C8B-B14F-4D97-AF65-F5344CB8AC3E}">
        <p14:creationId xmlns:p14="http://schemas.microsoft.com/office/powerpoint/2010/main" val="1149286859"/>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7"/>
        <p:cNvGrpSpPr/>
        <p:nvPr/>
      </p:nvGrpSpPr>
      <p:grpSpPr>
        <a:xfrm>
          <a:off x="0" y="0"/>
          <a:ext cx="0" cy="0"/>
          <a:chOff x="0" y="0"/>
          <a:chExt cx="0" cy="0"/>
        </a:xfrm>
      </p:grpSpPr>
      <p:sp>
        <p:nvSpPr>
          <p:cNvPr id="117" name="Rectangle 116">
            <a:extLst>
              <a:ext uri="{FF2B5EF4-FFF2-40B4-BE49-F238E27FC236}">
                <a16:creationId xmlns:a16="http://schemas.microsoft.com/office/drawing/2014/main" id="{1463B9A0-C42E-402C-9AD1-9DAE533613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119" name="Rectangle 118">
            <a:extLst>
              <a:ext uri="{FF2B5EF4-FFF2-40B4-BE49-F238E27FC236}">
                <a16:creationId xmlns:a16="http://schemas.microsoft.com/office/drawing/2014/main" id="{9664D085-C814-4D74-BCE0-2059F0DC0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DDA5539E-D8B4-4F5A-B46F-C304F5D7A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 name="Google Shape;110;g13aeb6740f1_0_7"/>
          <p:cNvPicPr preferRelativeResize="0"/>
          <p:nvPr/>
        </p:nvPicPr>
        <p:blipFill rotWithShape="1">
          <a:blip r:embed="rId3">
            <a:alphaModFix/>
          </a:blip>
          <a:srcRect/>
          <a:stretch/>
        </p:blipFill>
        <p:spPr>
          <a:xfrm>
            <a:off x="5335594" y="803063"/>
            <a:ext cx="2237770" cy="1462102"/>
          </a:xfrm>
          <a:prstGeom prst="rect">
            <a:avLst/>
          </a:prstGeom>
          <a:noFill/>
          <a:ln>
            <a:noFill/>
          </a:ln>
        </p:spPr>
      </p:pic>
      <p:pic>
        <p:nvPicPr>
          <p:cNvPr id="111" name="Google Shape;111;g13aeb6740f1_0_7" descr="A red background with white letters&#10;&#10;Description automatically generated with low confidence"/>
          <p:cNvPicPr preferRelativeResize="0"/>
          <p:nvPr/>
        </p:nvPicPr>
        <p:blipFill rotWithShape="1">
          <a:blip r:embed="rId4">
            <a:alphaModFix/>
          </a:blip>
          <a:srcRect/>
          <a:stretch/>
        </p:blipFill>
        <p:spPr>
          <a:xfrm>
            <a:off x="1732955" y="1182763"/>
            <a:ext cx="1953652" cy="1942508"/>
          </a:xfrm>
          <a:prstGeom prst="rect">
            <a:avLst/>
          </a:prstGeom>
          <a:noFill/>
          <a:ln>
            <a:noFill/>
          </a:ln>
        </p:spPr>
      </p:pic>
      <p:pic>
        <p:nvPicPr>
          <p:cNvPr id="112" name="Google Shape;112;g13aeb6740f1_0_7"/>
          <p:cNvPicPr preferRelativeResize="0"/>
          <p:nvPr/>
        </p:nvPicPr>
        <p:blipFill rotWithShape="1">
          <a:blip r:embed="rId5">
            <a:alphaModFix/>
          </a:blip>
          <a:srcRect/>
          <a:stretch/>
        </p:blipFill>
        <p:spPr>
          <a:xfrm>
            <a:off x="6315938" y="5327639"/>
            <a:ext cx="4179079" cy="727298"/>
          </a:xfrm>
          <a:prstGeom prst="rect">
            <a:avLst/>
          </a:prstGeom>
          <a:noFill/>
          <a:ln>
            <a:noFill/>
          </a:ln>
        </p:spPr>
      </p:pic>
      <p:pic>
        <p:nvPicPr>
          <p:cNvPr id="3" name="Picture 2" descr="Logo, company name&#10;&#10;Description automatically generated">
            <a:extLst>
              <a:ext uri="{FF2B5EF4-FFF2-40B4-BE49-F238E27FC236}">
                <a16:creationId xmlns:a16="http://schemas.microsoft.com/office/drawing/2014/main" id="{8003BDFD-4826-C58E-9477-C97AE5045F0A}"/>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505393" y="1135647"/>
            <a:ext cx="1989625" cy="1989625"/>
          </a:xfrm>
          <a:prstGeom prst="rect">
            <a:avLst/>
          </a:prstGeom>
        </p:spPr>
      </p:pic>
      <p:pic>
        <p:nvPicPr>
          <p:cNvPr id="5" name="Picture 4" descr="A screenshot of a video game&#10;&#10;Description automatically generated with medium confidence">
            <a:extLst>
              <a:ext uri="{FF2B5EF4-FFF2-40B4-BE49-F238E27FC236}">
                <a16:creationId xmlns:a16="http://schemas.microsoft.com/office/drawing/2014/main" id="{E52DA050-F673-0D47-0670-9AE86977D2CB}"/>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1696982" y="5415543"/>
            <a:ext cx="3827841" cy="639394"/>
          </a:xfrm>
          <a:prstGeom prst="rect">
            <a:avLst/>
          </a:prstGeom>
        </p:spPr>
      </p:pic>
      <p:pic>
        <p:nvPicPr>
          <p:cNvPr id="7" name="Picture 6" descr="Logo&#10;&#10;Description automatically generated with medium confidence">
            <a:extLst>
              <a:ext uri="{FF2B5EF4-FFF2-40B4-BE49-F238E27FC236}">
                <a16:creationId xmlns:a16="http://schemas.microsoft.com/office/drawing/2014/main" id="{74BC3221-34CD-1169-8D72-6CE43BA76759}"/>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4485213" y="2972838"/>
            <a:ext cx="3590356" cy="17781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Icon, qr code&#10;&#10;Description automatically generated">
            <a:extLst>
              <a:ext uri="{FF2B5EF4-FFF2-40B4-BE49-F238E27FC236}">
                <a16:creationId xmlns:a16="http://schemas.microsoft.com/office/drawing/2014/main" id="{D2268FB3-6FAA-EFE8-922E-38B65C32357C}"/>
              </a:ext>
            </a:extLst>
          </p:cNvPr>
          <p:cNvPicPr>
            <a:picLocks noChangeAspect="1"/>
          </p:cNvPicPr>
          <p:nvPr/>
        </p:nvPicPr>
        <p:blipFill>
          <a:blip r:embed="rId3"/>
          <a:stretch>
            <a:fillRect/>
          </a:stretch>
        </p:blipFill>
        <p:spPr>
          <a:xfrm>
            <a:off x="1184988" y="4952727"/>
            <a:ext cx="1411994" cy="1403477"/>
          </a:xfrm>
          <a:prstGeom prst="rect">
            <a:avLst/>
          </a:prstGeom>
        </p:spPr>
      </p:pic>
      <p:sp>
        <p:nvSpPr>
          <p:cNvPr id="2" name="TextBox 1">
            <a:extLst>
              <a:ext uri="{FF2B5EF4-FFF2-40B4-BE49-F238E27FC236}">
                <a16:creationId xmlns:a16="http://schemas.microsoft.com/office/drawing/2014/main" id="{4627E9C0-9D26-7486-7C3D-C0F04E43B40B}"/>
              </a:ext>
            </a:extLst>
          </p:cNvPr>
          <p:cNvSpPr txBox="1"/>
          <p:nvPr/>
        </p:nvSpPr>
        <p:spPr>
          <a:xfrm>
            <a:off x="459789" y="3874921"/>
            <a:ext cx="463305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212529"/>
                </a:solidFill>
                <a:cs typeface="Segoe UI"/>
              </a:rPr>
              <a:t>Karen Lee</a:t>
            </a:r>
            <a:r>
              <a:rPr lang="en-US" sz="2400">
                <a:solidFill>
                  <a:srgbClr val="212529"/>
                </a:solidFill>
                <a:cs typeface="Segoe UI"/>
              </a:rPr>
              <a:t>, MS, SEEC, Inc.</a:t>
            </a:r>
          </a:p>
          <a:p>
            <a:r>
              <a:rPr lang="en-US" sz="2400">
                <a:solidFill>
                  <a:srgbClr val="212529"/>
                </a:solidFill>
                <a:cs typeface="Segoe UI"/>
                <a:hlinkClick r:id="rId4"/>
              </a:rPr>
              <a:t>klee@seeconline.org</a:t>
            </a:r>
            <a:r>
              <a:rPr lang="en-US" sz="2400">
                <a:solidFill>
                  <a:srgbClr val="212529"/>
                </a:solidFill>
                <a:cs typeface="Segoe UI"/>
              </a:rPr>
              <a:t> ​</a:t>
            </a:r>
          </a:p>
        </p:txBody>
      </p:sp>
      <p:sp>
        <p:nvSpPr>
          <p:cNvPr id="9" name="TextBox 8">
            <a:extLst>
              <a:ext uri="{FF2B5EF4-FFF2-40B4-BE49-F238E27FC236}">
                <a16:creationId xmlns:a16="http://schemas.microsoft.com/office/drawing/2014/main" id="{765ABB48-F1DA-4C6A-4422-37170CC1C6FB}"/>
              </a:ext>
            </a:extLst>
          </p:cNvPr>
          <p:cNvSpPr txBox="1"/>
          <p:nvPr/>
        </p:nvSpPr>
        <p:spPr>
          <a:xfrm>
            <a:off x="4079969" y="2001471"/>
            <a:ext cx="586490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cs typeface="Calibri"/>
              </a:rPr>
              <a:t>Introductions </a:t>
            </a:r>
            <a:endParaRPr lang="en-US" sz="4400" b="1"/>
          </a:p>
        </p:txBody>
      </p:sp>
      <p:pic>
        <p:nvPicPr>
          <p:cNvPr id="4" name="Picture 6" descr="Text&#10;&#10;Description automatically generated">
            <a:extLst>
              <a:ext uri="{FF2B5EF4-FFF2-40B4-BE49-F238E27FC236}">
                <a16:creationId xmlns:a16="http://schemas.microsoft.com/office/drawing/2014/main" id="{61114336-2F39-5FB1-0952-5B22A7056C57}"/>
              </a:ext>
            </a:extLst>
          </p:cNvPr>
          <p:cNvPicPr>
            <a:picLocks noChangeAspect="1"/>
          </p:cNvPicPr>
          <p:nvPr/>
        </p:nvPicPr>
        <p:blipFill>
          <a:blip r:embed="rId5"/>
          <a:stretch>
            <a:fillRect/>
          </a:stretch>
        </p:blipFill>
        <p:spPr>
          <a:xfrm>
            <a:off x="7398382" y="4952727"/>
            <a:ext cx="3993427" cy="1554832"/>
          </a:xfrm>
          <a:prstGeom prst="rect">
            <a:avLst/>
          </a:prstGeom>
        </p:spPr>
      </p:pic>
      <p:sp>
        <p:nvSpPr>
          <p:cNvPr id="7" name="TextBox 6">
            <a:extLst>
              <a:ext uri="{FF2B5EF4-FFF2-40B4-BE49-F238E27FC236}">
                <a16:creationId xmlns:a16="http://schemas.microsoft.com/office/drawing/2014/main" id="{0C80E001-34C1-9EBA-C1C3-D3F3935CA2F3}"/>
              </a:ext>
            </a:extLst>
          </p:cNvPr>
          <p:cNvSpPr txBox="1"/>
          <p:nvPr/>
        </p:nvSpPr>
        <p:spPr>
          <a:xfrm>
            <a:off x="7545572" y="3874921"/>
            <a:ext cx="464642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212529"/>
                </a:solidFill>
                <a:cs typeface="Segoe UI"/>
              </a:rPr>
              <a:t>Jennifer Sulewski,</a:t>
            </a:r>
            <a:r>
              <a:rPr lang="en-US" sz="2400">
                <a:solidFill>
                  <a:srgbClr val="212529"/>
                </a:solidFill>
                <a:cs typeface="Segoe UI"/>
              </a:rPr>
              <a:t> PhD, University of New Hampshire​</a:t>
            </a:r>
          </a:p>
          <a:p>
            <a:r>
              <a:rPr lang="en-US" sz="2400">
                <a:solidFill>
                  <a:srgbClr val="212529"/>
                </a:solidFill>
                <a:cs typeface="Segoe UI"/>
                <a:hlinkClick r:id="rId6"/>
              </a:rPr>
              <a:t>js1870@usnh.edu</a:t>
            </a:r>
            <a:r>
              <a:rPr lang="en-US" sz="2400">
                <a:solidFill>
                  <a:srgbClr val="212529"/>
                </a:solidFill>
                <a:cs typeface="Segoe UI"/>
              </a:rPr>
              <a:t> </a:t>
            </a:r>
          </a:p>
        </p:txBody>
      </p:sp>
      <p:pic>
        <p:nvPicPr>
          <p:cNvPr id="1026" name="Picture 2">
            <a:extLst>
              <a:ext uri="{FF2B5EF4-FFF2-40B4-BE49-F238E27FC236}">
                <a16:creationId xmlns:a16="http://schemas.microsoft.com/office/drawing/2014/main" id="{3592EF56-BC2A-E6FA-BBA6-1537171370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12031" y="1060667"/>
            <a:ext cx="2566128" cy="256612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erson with blonde hair smiling&#10;&#10;Description automatically generated with low confidence">
            <a:extLst>
              <a:ext uri="{FF2B5EF4-FFF2-40B4-BE49-F238E27FC236}">
                <a16:creationId xmlns:a16="http://schemas.microsoft.com/office/drawing/2014/main" id="{DC176D1C-35E9-3FD3-45AF-347EBA2AF7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3492" y="1060667"/>
            <a:ext cx="2566128" cy="2566128"/>
          </a:xfrm>
          <a:prstGeom prst="rect">
            <a:avLst/>
          </a:prstGeom>
        </p:spPr>
      </p:pic>
    </p:spTree>
    <p:extLst>
      <p:ext uri="{BB962C8B-B14F-4D97-AF65-F5344CB8AC3E}">
        <p14:creationId xmlns:p14="http://schemas.microsoft.com/office/powerpoint/2010/main" val="4199725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12">
            <a:extLst>
              <a:ext uri="{FF2B5EF4-FFF2-40B4-BE49-F238E27FC236}">
                <a16:creationId xmlns:a16="http://schemas.microsoft.com/office/drawing/2014/main" id="{4967F423-D21C-4F37-A0B7-750026A17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2"/>
          </a:solidFill>
          <a:ln w="6350" cap="flat" cmpd="sng" algn="ctr">
            <a:noFill/>
            <a:prstDash val="solid"/>
          </a:ln>
          <a:effectLst>
            <a:softEdge rad="0"/>
          </a:effectLst>
        </p:spPr>
      </p:sp>
      <p:pic>
        <p:nvPicPr>
          <p:cNvPr id="6" name="Picture 6" descr="A picture containing diagram&#10;&#10;Description automatically generated">
            <a:extLst>
              <a:ext uri="{FF2B5EF4-FFF2-40B4-BE49-F238E27FC236}">
                <a16:creationId xmlns:a16="http://schemas.microsoft.com/office/drawing/2014/main" id="{ECDEC1B3-CC57-CAC8-25D6-184F71944C06}"/>
              </a:ext>
            </a:extLst>
          </p:cNvPr>
          <p:cNvPicPr>
            <a:picLocks noGrp="1" noChangeAspect="1"/>
          </p:cNvPicPr>
          <p:nvPr>
            <p:ph type="pic" idx="1"/>
          </p:nvPr>
        </p:nvPicPr>
        <p:blipFill rotWithShape="1">
          <a:blip r:embed="rId3">
            <a:extLst>
              <a:ext uri="{837473B0-CC2E-450A-ABE3-18F120FF3D39}">
                <a1611:picAttrSrcUrl xmlns:a1611="http://schemas.microsoft.com/office/drawing/2016/11/main" r:id="rId4"/>
              </a:ext>
            </a:extLst>
          </a:blip>
          <a:srcRect l="27803" r="8897" b="-2"/>
          <a:stretch/>
        </p:blipFill>
        <p:spPr>
          <a:xfrm>
            <a:off x="190846" y="237744"/>
            <a:ext cx="4040033" cy="6382512"/>
          </a:xfrm>
          <a:prstGeom prst="rect">
            <a:avLst/>
          </a:prstGeom>
        </p:spPr>
      </p:pic>
      <p:sp>
        <p:nvSpPr>
          <p:cNvPr id="11" name="Rectangle 14">
            <a:extLst>
              <a:ext uri="{FF2B5EF4-FFF2-40B4-BE49-F238E27FC236}">
                <a16:creationId xmlns:a16="http://schemas.microsoft.com/office/drawing/2014/main" id="{BE7270DF-375F-4ECC-989A-D033E481AE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9465" y="237744"/>
            <a:ext cx="7652977"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1E93D5D-81D9-C50B-2EFF-10EACAEC88EF}"/>
              </a:ext>
            </a:extLst>
          </p:cNvPr>
          <p:cNvSpPr>
            <a:spLocks noGrp="1"/>
          </p:cNvSpPr>
          <p:nvPr>
            <p:ph type="title"/>
          </p:nvPr>
        </p:nvSpPr>
        <p:spPr>
          <a:xfrm>
            <a:off x="4427886" y="275971"/>
            <a:ext cx="6280826" cy="1746504"/>
          </a:xfrm>
        </p:spPr>
        <p:txBody>
          <a:bodyPr vert="horz" lIns="91440" tIns="45720" rIns="91440" bIns="45720" rtlCol="0" anchor="ctr">
            <a:normAutofit/>
          </a:bodyPr>
          <a:lstStyle/>
          <a:p>
            <a:r>
              <a:rPr lang="en-US" sz="3400" b="1">
                <a:solidFill>
                  <a:schemeClr val="tx1">
                    <a:lumMod val="85000"/>
                    <a:lumOff val="15000"/>
                  </a:schemeClr>
                </a:solidFill>
              </a:rPr>
              <a:t>What is </a:t>
            </a:r>
            <a:br>
              <a:rPr lang="en-US" sz="3400" b="1">
                <a:solidFill>
                  <a:schemeClr val="tx1">
                    <a:lumMod val="85000"/>
                    <a:lumOff val="15000"/>
                  </a:schemeClr>
                </a:solidFill>
              </a:rPr>
            </a:br>
            <a:r>
              <a:rPr lang="en-US" sz="3400" b="1" i="1">
                <a:solidFill>
                  <a:schemeClr val="tx1">
                    <a:lumMod val="85000"/>
                    <a:lumOff val="15000"/>
                  </a:schemeClr>
                </a:solidFill>
              </a:rPr>
              <a:t>Community Life Engagement</a:t>
            </a:r>
            <a:r>
              <a:rPr lang="en-US" sz="3400" b="1">
                <a:solidFill>
                  <a:schemeClr val="tx1">
                    <a:lumMod val="85000"/>
                    <a:lumOff val="15000"/>
                  </a:schemeClr>
                </a:solidFill>
              </a:rPr>
              <a:t> </a:t>
            </a:r>
            <a:br>
              <a:rPr lang="en-US" sz="3400" b="1">
                <a:solidFill>
                  <a:schemeClr val="tx1">
                    <a:lumMod val="85000"/>
                    <a:lumOff val="15000"/>
                  </a:schemeClr>
                </a:solidFill>
              </a:rPr>
            </a:br>
            <a:r>
              <a:rPr lang="en-US" sz="3400" b="1">
                <a:solidFill>
                  <a:schemeClr val="tx1">
                    <a:lumMod val="85000"/>
                    <a:lumOff val="15000"/>
                  </a:schemeClr>
                </a:solidFill>
              </a:rPr>
              <a:t>(CLE)? </a:t>
            </a:r>
            <a:endParaRPr lang="en-US" sz="3400">
              <a:solidFill>
                <a:schemeClr val="tx1">
                  <a:lumMod val="85000"/>
                  <a:lumOff val="15000"/>
                </a:schemeClr>
              </a:solidFill>
            </a:endParaRPr>
          </a:p>
        </p:txBody>
      </p:sp>
      <p:sp>
        <p:nvSpPr>
          <p:cNvPr id="3" name="TextBox 2">
            <a:extLst>
              <a:ext uri="{FF2B5EF4-FFF2-40B4-BE49-F238E27FC236}">
                <a16:creationId xmlns:a16="http://schemas.microsoft.com/office/drawing/2014/main" id="{946BB0E5-AB31-271F-05C1-BBAE30DC7602}"/>
              </a:ext>
            </a:extLst>
          </p:cNvPr>
          <p:cNvSpPr txBox="1"/>
          <p:nvPr/>
        </p:nvSpPr>
        <p:spPr>
          <a:xfrm>
            <a:off x="4427885" y="2022475"/>
            <a:ext cx="7529419" cy="4559553"/>
          </a:xfrm>
          <a:prstGeom prst="rect">
            <a:avLst/>
          </a:prstGeom>
        </p:spPr>
        <p:txBody>
          <a:bodyPr vert="horz" lIns="91440" tIns="45720" rIns="91440" bIns="45720" rtlCol="0" anchor="t">
            <a:noAutofit/>
          </a:bodyPr>
          <a:lstStyle/>
          <a:p>
            <a:pPr defTabSz="914400" fontAlgn="base">
              <a:lnSpc>
                <a:spcPct val="90000"/>
              </a:lnSpc>
              <a:spcAft>
                <a:spcPts val="600"/>
              </a:spcAft>
              <a:buClr>
                <a:schemeClr val="tx1">
                  <a:lumMod val="85000"/>
                  <a:lumOff val="15000"/>
                </a:schemeClr>
              </a:buClr>
            </a:pPr>
            <a:r>
              <a:rPr lang="en-US" sz="2400" b="0" i="0" u="none" strike="noStrike" dirty="0">
                <a:effectLst/>
              </a:rPr>
              <a:t>All the ways that people </a:t>
            </a:r>
            <a:r>
              <a:rPr lang="en-US" sz="2400" dirty="0"/>
              <a:t>with IDD access</a:t>
            </a:r>
            <a:r>
              <a:rPr lang="en-US" sz="2400" b="0" i="0" u="none" strike="noStrike" dirty="0">
                <a:effectLst/>
              </a:rPr>
              <a:t> and participate in their communities, outside of employment, as part of a meaningful day. </a:t>
            </a:r>
            <a:r>
              <a:rPr lang="en-US" sz="2400" b="0" i="0" dirty="0">
                <a:effectLst/>
              </a:rPr>
              <a:t>​</a:t>
            </a:r>
          </a:p>
          <a:p>
            <a:pPr indent="-182880" defTabSz="914400" fontAlgn="base">
              <a:lnSpc>
                <a:spcPct val="90000"/>
              </a:lnSpc>
              <a:spcAft>
                <a:spcPts val="600"/>
              </a:spcAft>
              <a:buClr>
                <a:schemeClr val="tx1">
                  <a:lumMod val="85000"/>
                  <a:lumOff val="15000"/>
                </a:schemeClr>
              </a:buClr>
              <a:buFont typeface="Garamond" pitchFamily="18" charset="0"/>
              <a:buChar char="◦"/>
            </a:pPr>
            <a:endParaRPr lang="en-US" sz="2400" b="0" i="0" dirty="0">
              <a:effectLst/>
            </a:endParaRP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dirty="0"/>
              <a:t>An outcome, not a service</a:t>
            </a:r>
            <a:endParaRPr lang="en-US" sz="2400" b="0" i="0" dirty="0">
              <a:effectLst/>
            </a:endParaRP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Non-work</a:t>
            </a:r>
            <a:r>
              <a:rPr lang="en-US" sz="2400" b="0" i="0" dirty="0">
                <a:effectLst/>
              </a:rPr>
              <a:t>​</a:t>
            </a: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Accessing typical community facilities (library, gym, rec center, etc.)</a:t>
            </a:r>
            <a:r>
              <a:rPr lang="en-US" sz="2400" b="0" i="0" dirty="0">
                <a:effectLst/>
              </a:rPr>
              <a:t>​</a:t>
            </a: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Volunteerism </a:t>
            </a:r>
            <a:r>
              <a:rPr lang="en-US" sz="2400" b="0" i="0" dirty="0">
                <a:effectLst/>
              </a:rPr>
              <a:t>​</a:t>
            </a: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Post-secondary &amp;/or continuing education</a:t>
            </a:r>
            <a:r>
              <a:rPr lang="en-US" sz="2400" b="0" i="0" dirty="0">
                <a:effectLst/>
              </a:rPr>
              <a:t>​</a:t>
            </a:r>
          </a:p>
          <a:p>
            <a:pPr defTabSz="914400" fontAlgn="base">
              <a:lnSpc>
                <a:spcPct val="90000"/>
              </a:lnSpc>
              <a:spcAft>
                <a:spcPts val="600"/>
              </a:spcAft>
              <a:buClr>
                <a:schemeClr val="tx1">
                  <a:lumMod val="85000"/>
                  <a:lumOff val="15000"/>
                </a:schemeClr>
              </a:buClr>
            </a:pPr>
            <a:endParaRPr lang="en-US" dirty="0"/>
          </a:p>
        </p:txBody>
      </p:sp>
      <p:sp>
        <p:nvSpPr>
          <p:cNvPr id="5" name="Slide Number Placeholder 4">
            <a:extLst>
              <a:ext uri="{FF2B5EF4-FFF2-40B4-BE49-F238E27FC236}">
                <a16:creationId xmlns:a16="http://schemas.microsoft.com/office/drawing/2014/main" id="{89890C36-9E9C-CC1D-B4A9-AAD987E17E75}"/>
              </a:ext>
            </a:extLst>
          </p:cNvPr>
          <p:cNvSpPr>
            <a:spLocks noGrp="1"/>
          </p:cNvSpPr>
          <p:nvPr>
            <p:ph type="sldNum" sz="quarter" idx="12"/>
          </p:nvPr>
        </p:nvSpPr>
        <p:spPr>
          <a:xfrm>
            <a:off x="298024" y="6217920"/>
            <a:ext cx="1463040" cy="256032"/>
          </a:xfrm>
        </p:spPr>
        <p:txBody>
          <a:bodyPr vert="horz" lIns="91440" tIns="45720" rIns="91440" bIns="45720" rtlCol="0" anchor="b">
            <a:normAutofit/>
          </a:bodyPr>
          <a:lstStyle/>
          <a:p>
            <a:pPr algn="l" defTabSz="914400">
              <a:spcAft>
                <a:spcPts val="600"/>
              </a:spcAft>
              <a:defRPr/>
            </a:pPr>
            <a:fld id="{915FAA45-AC5B-014B-9F74-53D558B73BE0}" type="slidenum">
              <a:rPr lang="en-US"/>
              <a:pPr algn="l" defTabSz="914400">
                <a:spcAft>
                  <a:spcPts val="600"/>
                </a:spcAft>
                <a:defRPr/>
              </a:pPr>
              <a:t>4</a:t>
            </a:fld>
            <a:endParaRPr lang="en-US"/>
          </a:p>
        </p:txBody>
      </p:sp>
      <p:pic>
        <p:nvPicPr>
          <p:cNvPr id="8" name="Picture 7" descr="Logo&#10;&#10;Description automatically generated with medium confidence">
            <a:extLst>
              <a:ext uri="{FF2B5EF4-FFF2-40B4-BE49-F238E27FC236}">
                <a16:creationId xmlns:a16="http://schemas.microsoft.com/office/drawing/2014/main" id="{4788BC46-0381-2312-5873-6B73B2B34CAD}"/>
              </a:ext>
            </a:extLst>
          </p:cNvPr>
          <p:cNvPicPr>
            <a:picLocks noChangeAspect="1"/>
          </p:cNvPicPr>
          <p:nvPr/>
        </p:nvPicPr>
        <p:blipFill>
          <a:blip r:embed="rId5"/>
          <a:stretch>
            <a:fillRect/>
          </a:stretch>
        </p:blipFill>
        <p:spPr>
          <a:xfrm>
            <a:off x="10708712" y="5961266"/>
            <a:ext cx="1253389" cy="620763"/>
          </a:xfrm>
          <a:prstGeom prst="rect">
            <a:avLst/>
          </a:prstGeom>
        </p:spPr>
      </p:pic>
      <p:sp>
        <p:nvSpPr>
          <p:cNvPr id="7" name="TextBox 6">
            <a:extLst>
              <a:ext uri="{FF2B5EF4-FFF2-40B4-BE49-F238E27FC236}">
                <a16:creationId xmlns:a16="http://schemas.microsoft.com/office/drawing/2014/main" id="{66FA2670-D3A9-695D-E91A-86FA3AE62AC4}"/>
              </a:ext>
            </a:extLst>
          </p:cNvPr>
          <p:cNvSpPr txBox="1"/>
          <p:nvPr/>
        </p:nvSpPr>
        <p:spPr>
          <a:xfrm>
            <a:off x="1500643" y="6420201"/>
            <a:ext cx="2730236"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4">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6">
                  <a:extLst>
                    <a:ext uri="{A12FA001-AC4F-418D-AE19-62706E023703}">
                      <ahyp:hlinkClr xmlns:ahyp="http://schemas.microsoft.com/office/drawing/2018/hyperlinkcolor" val="tx"/>
                    </a:ext>
                  </a:extLst>
                </a:hlinkClick>
              </a:rPr>
              <a:t>CC BY-NC</a:t>
            </a:r>
            <a:r>
              <a:rPr lang="en-US" sz="700">
                <a:solidFill>
                  <a:srgbClr val="FFFFFF"/>
                </a:solidFill>
              </a:rPr>
              <a:t>.</a:t>
            </a:r>
          </a:p>
        </p:txBody>
      </p:sp>
    </p:spTree>
    <p:extLst>
      <p:ext uri="{BB962C8B-B14F-4D97-AF65-F5344CB8AC3E}">
        <p14:creationId xmlns:p14="http://schemas.microsoft.com/office/powerpoint/2010/main" val="1440314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55F7F3-3A58-4BBB-95C7-CF706F9F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AE3D314-6F93-4D91-8C0F-E92657F465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2"/>
          </a:solidFill>
          <a:ln w="6350" cap="flat" cmpd="sng" algn="ctr">
            <a:noFill/>
            <a:prstDash val="solid"/>
          </a:ln>
          <a:effectLst>
            <a:softEdge rad="0"/>
          </a:effectLst>
        </p:spPr>
      </p:sp>
      <p:sp>
        <p:nvSpPr>
          <p:cNvPr id="4" name="Title 3"/>
          <p:cNvSpPr>
            <a:spLocks noGrp="1"/>
          </p:cNvSpPr>
          <p:nvPr>
            <p:ph type="title"/>
          </p:nvPr>
        </p:nvSpPr>
        <p:spPr>
          <a:xfrm>
            <a:off x="573409" y="559477"/>
            <a:ext cx="3765200" cy="5709931"/>
          </a:xfrm>
        </p:spPr>
        <p:txBody>
          <a:bodyPr>
            <a:normAutofit/>
          </a:bodyPr>
          <a:lstStyle/>
          <a:p>
            <a:pPr algn="ctr"/>
            <a:r>
              <a:rPr lang="en-US" b="1">
                <a:latin typeface="Candara" panose="020E0502030303020204" pitchFamily="34" charset="0"/>
                <a:ea typeface="+mn-ea"/>
                <a:cs typeface="+mn-cs"/>
              </a:rPr>
              <a:t>How does CLE relate to employment?</a:t>
            </a:r>
          </a:p>
        </p:txBody>
      </p:sp>
      <p:sp>
        <p:nvSpPr>
          <p:cNvPr id="3" name="Slide Number Placeholder 2"/>
          <p:cNvSpPr>
            <a:spLocks noGrp="1"/>
          </p:cNvSpPr>
          <p:nvPr>
            <p:ph type="sldNum" sz="quarter" idx="12"/>
          </p:nvPr>
        </p:nvSpPr>
        <p:spPr>
          <a:xfrm>
            <a:off x="10972825" y="6307672"/>
            <a:ext cx="822960" cy="274320"/>
          </a:xfrm>
          <a:prstGeom prst="rect">
            <a:avLst/>
          </a:prstGeom>
        </p:spPr>
        <p:txBody>
          <a:bodyPr vert="horz" lIns="91440" tIns="45720" rIns="91440" bIns="45720" numCol="1" rtlCol="0" anchorCtr="0" compatLnSpc="1">
            <a:prstTxWarp prst="textNoShape">
              <a:avLst/>
            </a:prstTxWarp>
            <a:normAutofit/>
          </a:bodyPr>
          <a:lstStyle>
            <a:defPPr>
              <a:defRPr lang="en-US"/>
            </a:defPPr>
            <a:lvl1pPr algn="r" rtl="0" eaLnBrk="0" fontAlgn="base" hangingPunct="0">
              <a:spcBef>
                <a:spcPct val="0"/>
              </a:spcBef>
              <a:spcAft>
                <a:spcPct val="0"/>
              </a:spcAft>
              <a:defRPr sz="1200" kern="1200">
                <a:solidFill>
                  <a:srgbClr val="898989"/>
                </a:solidFill>
                <a:latin typeface="Arial" charset="0"/>
                <a:ea typeface="ヒラギノ角ゴ Pro W3" charset="0"/>
                <a:cs typeface="ヒラギノ角ゴ Pro W3" charset="0"/>
              </a:defRPr>
            </a:lvl1pPr>
            <a:lvl2pPr marL="4572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2pPr>
            <a:lvl3pPr marL="9144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sz="2000" kern="1200">
                <a:solidFill>
                  <a:schemeClr val="tx1"/>
                </a:solidFill>
                <a:latin typeface="Arial" charset="0"/>
                <a:ea typeface="ヒラギノ角ゴ Pro W3" charset="0"/>
                <a:cs typeface="ヒラギノ角ゴ Pro W3" charset="0"/>
              </a:defRPr>
            </a:lvl6pPr>
            <a:lvl7pPr marL="2743200" algn="l" defTabSz="457200" rtl="0" eaLnBrk="1" latinLnBrk="0" hangingPunct="1">
              <a:defRPr sz="2000" kern="1200">
                <a:solidFill>
                  <a:schemeClr val="tx1"/>
                </a:solidFill>
                <a:latin typeface="Arial" charset="0"/>
                <a:ea typeface="ヒラギノ角ゴ Pro W3" charset="0"/>
                <a:cs typeface="ヒラギノ角ゴ Pro W3" charset="0"/>
              </a:defRPr>
            </a:lvl7pPr>
            <a:lvl8pPr marL="3200400" algn="l" defTabSz="457200" rtl="0" eaLnBrk="1" latinLnBrk="0" hangingPunct="1">
              <a:defRPr sz="2000" kern="1200">
                <a:solidFill>
                  <a:schemeClr val="tx1"/>
                </a:solidFill>
                <a:latin typeface="Arial" charset="0"/>
                <a:ea typeface="ヒラギノ角ゴ Pro W3" charset="0"/>
                <a:cs typeface="ヒラギノ角ゴ Pro W3" charset="0"/>
              </a:defRPr>
            </a:lvl8pPr>
            <a:lvl9pPr marL="3657600" algn="l" defTabSz="457200" rtl="0" eaLnBrk="1" latinLnBrk="0" hangingPunct="1">
              <a:defRPr sz="2000" kern="1200">
                <a:solidFill>
                  <a:schemeClr val="tx1"/>
                </a:solidFill>
                <a:latin typeface="Arial" charset="0"/>
                <a:ea typeface="ヒラギノ角ゴ Pro W3" charset="0"/>
                <a:cs typeface="ヒラギノ角ゴ Pro W3" charset="0"/>
              </a:defRPr>
            </a:lvl9pPr>
          </a:lstStyle>
          <a:p>
            <a:pPr>
              <a:spcAft>
                <a:spcPts val="600"/>
              </a:spcAft>
            </a:pPr>
            <a:fld id="{A518ECD4-D09A-904E-A564-1221085D9D8B}" type="slidenum">
              <a:rPr lang="en-US" smtClean="0"/>
              <a:pPr>
                <a:spcAft>
                  <a:spcPts val="600"/>
                </a:spcAft>
              </a:pPr>
              <a:t>5</a:t>
            </a:fld>
            <a:endParaRPr lang="en-US"/>
          </a:p>
        </p:txBody>
      </p:sp>
      <p:graphicFrame>
        <p:nvGraphicFramePr>
          <p:cNvPr id="7" name="Content Placeholder 4">
            <a:extLst>
              <a:ext uri="{FF2B5EF4-FFF2-40B4-BE49-F238E27FC236}">
                <a16:creationId xmlns:a16="http://schemas.microsoft.com/office/drawing/2014/main" id="{5A2BC18C-43BA-010F-FE0E-3170DC87DCAD}"/>
              </a:ext>
            </a:extLst>
          </p:cNvPr>
          <p:cNvGraphicFramePr>
            <a:graphicFrameLocks noGrp="1"/>
          </p:cNvGraphicFramePr>
          <p:nvPr>
            <p:ph idx="1"/>
            <p:extLst>
              <p:ext uri="{D42A27DB-BD31-4B8C-83A1-F6EECF244321}">
                <p14:modId xmlns:p14="http://schemas.microsoft.com/office/powerpoint/2010/main" val="2096616528"/>
              </p:ext>
            </p:extLst>
          </p:nvPr>
        </p:nvGraphicFramePr>
        <p:xfrm>
          <a:off x="5478124" y="800947"/>
          <a:ext cx="5906181" cy="52307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5462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7EA7E6-A0A3-35BF-9845-1C9C1AB91654}"/>
              </a:ext>
            </a:extLst>
          </p:cNvPr>
          <p:cNvSpPr txBox="1"/>
          <p:nvPr/>
        </p:nvSpPr>
        <p:spPr>
          <a:xfrm>
            <a:off x="2114550" y="3244334"/>
            <a:ext cx="7029450" cy="369332"/>
          </a:xfrm>
          <a:prstGeom prst="rect">
            <a:avLst/>
          </a:prstGeom>
          <a:noFill/>
        </p:spPr>
        <p:txBody>
          <a:bodyPr wrap="square">
            <a:spAutoFit/>
          </a:bodyPr>
          <a:lstStyle/>
          <a:p>
            <a:r>
              <a:rPr lang="en-US"/>
              <a:t> </a:t>
            </a:r>
          </a:p>
        </p:txBody>
      </p:sp>
      <p:pic>
        <p:nvPicPr>
          <p:cNvPr id="4" name="Picture 3" descr="A screenshot of a computer&#10;&#10;Description automatically generated">
            <a:extLst>
              <a:ext uri="{FF2B5EF4-FFF2-40B4-BE49-F238E27FC236}">
                <a16:creationId xmlns:a16="http://schemas.microsoft.com/office/drawing/2014/main" id="{3C3958F1-F98B-5FA2-5F84-13AB87F46495}"/>
              </a:ext>
            </a:extLst>
          </p:cNvPr>
          <p:cNvPicPr>
            <a:picLocks noChangeAspect="1"/>
          </p:cNvPicPr>
          <p:nvPr/>
        </p:nvPicPr>
        <p:blipFill rotWithShape="1">
          <a:blip r:embed="rId3"/>
          <a:srcRect l="63963" t="35967" r="14171" b="19671"/>
          <a:stretch/>
        </p:blipFill>
        <p:spPr bwMode="auto">
          <a:xfrm>
            <a:off x="2435786" y="1428750"/>
            <a:ext cx="7012882" cy="4000499"/>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CC6FC5B4-ACE1-876D-A6A3-5BB29DDCFCE7}"/>
              </a:ext>
            </a:extLst>
          </p:cNvPr>
          <p:cNvSpPr txBox="1"/>
          <p:nvPr/>
        </p:nvSpPr>
        <p:spPr>
          <a:xfrm>
            <a:off x="624689" y="380246"/>
            <a:ext cx="7668285" cy="523220"/>
          </a:xfrm>
          <a:prstGeom prst="rect">
            <a:avLst/>
          </a:prstGeom>
          <a:noFill/>
        </p:spPr>
        <p:txBody>
          <a:bodyPr wrap="square" rtlCol="0">
            <a:spAutoFit/>
          </a:bodyPr>
          <a:lstStyle/>
          <a:p>
            <a:r>
              <a:rPr lang="en-US" sz="2800" b="1"/>
              <a:t>Numbers in Non-Work vs Employment </a:t>
            </a:r>
          </a:p>
        </p:txBody>
      </p:sp>
      <p:sp>
        <p:nvSpPr>
          <p:cNvPr id="6" name="TextBox 5">
            <a:extLst>
              <a:ext uri="{FF2B5EF4-FFF2-40B4-BE49-F238E27FC236}">
                <a16:creationId xmlns:a16="http://schemas.microsoft.com/office/drawing/2014/main" id="{12509FA8-6CA8-6CFE-B51D-C55EF9955EE4}"/>
              </a:ext>
            </a:extLst>
          </p:cNvPr>
          <p:cNvSpPr txBox="1"/>
          <p:nvPr/>
        </p:nvSpPr>
        <p:spPr>
          <a:xfrm>
            <a:off x="492486" y="6004025"/>
            <a:ext cx="10447264" cy="369332"/>
          </a:xfrm>
          <a:prstGeom prst="rect">
            <a:avLst/>
          </a:prstGeom>
          <a:noFill/>
        </p:spPr>
        <p:txBody>
          <a:bodyPr wrap="square" rtlCol="0">
            <a:spAutoFit/>
          </a:bodyPr>
          <a:lstStyle/>
          <a:p>
            <a:r>
              <a:rPr lang="en-US">
                <a:hlinkClick r:id="rId4"/>
              </a:rPr>
              <a:t>https://www.statedata.info/sites/statedata.info/files/files/bluebook_2022_complete_F.pdf</a:t>
            </a:r>
            <a:endParaRPr lang="en-US"/>
          </a:p>
        </p:txBody>
      </p:sp>
    </p:spTree>
    <p:extLst>
      <p:ext uri="{BB962C8B-B14F-4D97-AF65-F5344CB8AC3E}">
        <p14:creationId xmlns:p14="http://schemas.microsoft.com/office/powerpoint/2010/main" val="125100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139" y="274638"/>
            <a:ext cx="11599984" cy="1143000"/>
          </a:xfrm>
        </p:spPr>
        <p:txBody>
          <a:bodyPr/>
          <a:lstStyle/>
          <a:p>
            <a:pPr lvl="0"/>
            <a:r>
              <a:rPr lang="en-US" sz="3200">
                <a:solidFill>
                  <a:srgbClr val="254061"/>
                </a:solidFill>
                <a:latin typeface="Candara" panose="020E0502030303020204" pitchFamily="34" charset="0"/>
                <a:ea typeface="+mn-ea"/>
                <a:cs typeface="+mn-cs"/>
              </a:rPr>
              <a:t>ICI Research on Community Life Engagement</a:t>
            </a:r>
          </a:p>
        </p:txBody>
      </p:sp>
      <p:graphicFrame>
        <p:nvGraphicFramePr>
          <p:cNvPr id="7" name="Content Placeholder 6"/>
          <p:cNvGraphicFramePr>
            <a:graphicFrameLocks noGrp="1"/>
          </p:cNvGraphicFramePr>
          <p:nvPr>
            <p:ph idx="1"/>
          </p:nvPr>
        </p:nvGraphicFramePr>
        <p:xfrm>
          <a:off x="2057400" y="1828800"/>
          <a:ext cx="8229600" cy="4137411"/>
        </p:xfrm>
        <a:graphic>
          <a:graphicData uri="http://schemas.openxmlformats.org/drawingml/2006/table">
            <a:tbl>
              <a:tblPr firstRow="1" bandRow="1">
                <a:tableStyleId>{2D5ABB26-0587-4C30-8999-92F81FD0307C}</a:tableStyleId>
              </a:tblPr>
              <a:tblGrid>
                <a:gridCol w="1822937">
                  <a:extLst>
                    <a:ext uri="{9D8B030D-6E8A-4147-A177-3AD203B41FA5}">
                      <a16:colId xmlns:a16="http://schemas.microsoft.com/office/drawing/2014/main" val="20000"/>
                    </a:ext>
                  </a:extLst>
                </a:gridCol>
                <a:gridCol w="6406663">
                  <a:extLst>
                    <a:ext uri="{9D8B030D-6E8A-4147-A177-3AD203B41FA5}">
                      <a16:colId xmlns:a16="http://schemas.microsoft.com/office/drawing/2014/main" val="20001"/>
                    </a:ext>
                  </a:extLst>
                </a:gridCol>
              </a:tblGrid>
              <a:tr h="990600">
                <a:tc>
                  <a:txBody>
                    <a:bodyPr/>
                    <a:lstStyle/>
                    <a:p>
                      <a:pPr marL="0" marR="0">
                        <a:spcBef>
                          <a:spcPts val="0"/>
                        </a:spcBef>
                        <a:spcAft>
                          <a:spcPts val="0"/>
                        </a:spcAft>
                      </a:pPr>
                      <a:r>
                        <a:rPr lang="en-US" sz="2800"/>
                        <a:t>2014-2015</a:t>
                      </a:r>
                      <a:endParaRPr lang="en-US" sz="2800">
                        <a:latin typeface="Times New Roman"/>
                        <a:ea typeface="Cambria"/>
                        <a:cs typeface="Times New Roman"/>
                      </a:endParaRP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a:spcBef>
                          <a:spcPts val="0"/>
                        </a:spcBef>
                        <a:spcAft>
                          <a:spcPts val="0"/>
                        </a:spcAft>
                      </a:pPr>
                      <a:r>
                        <a:rPr lang="en-US" sz="2800"/>
                        <a:t>Expert Interviews </a:t>
                      </a: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929640">
                <a:tc>
                  <a:txBody>
                    <a:bodyPr/>
                    <a:lstStyle/>
                    <a:p>
                      <a:pPr marL="0" marR="0">
                        <a:spcBef>
                          <a:spcPts val="0"/>
                        </a:spcBef>
                        <a:spcAft>
                          <a:spcPts val="0"/>
                        </a:spcAft>
                      </a:pPr>
                      <a:r>
                        <a:rPr lang="en-US" sz="2800"/>
                        <a:t>2015-2016</a:t>
                      </a:r>
                      <a:endParaRPr lang="en-US" sz="2800">
                        <a:latin typeface="Times New Roman"/>
                        <a:ea typeface="Cambria"/>
                        <a:cs typeface="Times New Roman"/>
                      </a:endParaRP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a:spcBef>
                          <a:spcPts val="0"/>
                        </a:spcBef>
                        <a:spcAft>
                          <a:spcPts val="0"/>
                        </a:spcAft>
                      </a:pPr>
                      <a:r>
                        <a:rPr lang="en-US" sz="2800"/>
                        <a:t>Provider case</a:t>
                      </a:r>
                      <a:r>
                        <a:rPr lang="en-US" sz="2800" baseline="0"/>
                        <a:t> studies</a:t>
                      </a:r>
                    </a:p>
                    <a:p>
                      <a:pPr marL="0" marR="0">
                        <a:spcBef>
                          <a:spcPts val="0"/>
                        </a:spcBef>
                        <a:spcAft>
                          <a:spcPts val="0"/>
                        </a:spcAft>
                      </a:pPr>
                      <a:r>
                        <a:rPr lang="en-US" sz="2800"/>
                        <a:t>Developed guideposts and toolkit</a:t>
                      </a:r>
                      <a:endParaRPr lang="en-US" sz="2800">
                        <a:latin typeface="Times New Roman"/>
                        <a:ea typeface="Cambria"/>
                        <a:cs typeface="Times New Roman"/>
                      </a:endParaRP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937011">
                <a:tc>
                  <a:txBody>
                    <a:bodyPr/>
                    <a:lstStyle/>
                    <a:p>
                      <a:pPr marL="0" marR="0">
                        <a:spcBef>
                          <a:spcPts val="0"/>
                        </a:spcBef>
                        <a:spcAft>
                          <a:spcPts val="0"/>
                        </a:spcAft>
                      </a:pPr>
                      <a:r>
                        <a:rPr lang="en-US" sz="2800"/>
                        <a:t>2016-2017 </a:t>
                      </a:r>
                      <a:endParaRPr lang="en-US" sz="2800">
                        <a:latin typeface="Times New Roman"/>
                        <a:ea typeface="Cambria"/>
                        <a:cs typeface="Times New Roman"/>
                      </a:endParaRP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a:spcBef>
                          <a:spcPts val="0"/>
                        </a:spcBef>
                        <a:spcAft>
                          <a:spcPts val="0"/>
                        </a:spcAft>
                      </a:pPr>
                      <a:r>
                        <a:rPr lang="en-US" sz="2800"/>
                        <a:t>Piloted guideposts and toolkit with 7 providers in 2 states</a:t>
                      </a: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937011">
                <a:tc>
                  <a:txBody>
                    <a:bodyPr/>
                    <a:lstStyle/>
                    <a:p>
                      <a:pPr marL="0" marR="0">
                        <a:spcBef>
                          <a:spcPts val="0"/>
                        </a:spcBef>
                        <a:spcAft>
                          <a:spcPts val="0"/>
                        </a:spcAft>
                      </a:pPr>
                      <a:r>
                        <a:rPr lang="en-US" sz="2800" kern="1200">
                          <a:solidFill>
                            <a:schemeClr val="tx1"/>
                          </a:solidFill>
                          <a:latin typeface="+mn-lt"/>
                          <a:ea typeface="+mn-ea"/>
                          <a:cs typeface="+mn-cs"/>
                        </a:rPr>
                        <a:t>2019-2022</a:t>
                      </a: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a:spcBef>
                          <a:spcPts val="0"/>
                        </a:spcBef>
                        <a:spcAft>
                          <a:spcPts val="0"/>
                        </a:spcAft>
                      </a:pPr>
                      <a:r>
                        <a:rPr lang="en-US" sz="2800"/>
                        <a:t>Developed Guideposts Fidelity Scale and online modules for service providers</a:t>
                      </a:r>
                    </a:p>
                  </a:txBody>
                  <a:tcPr marL="68580" marR="68580" marT="0" marB="0">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11289825"/>
                  </a:ext>
                </a:extLst>
              </a:tr>
            </a:tbl>
          </a:graphicData>
        </a:graphic>
      </p:graphicFrame>
      <p:sp>
        <p:nvSpPr>
          <p:cNvPr id="4" name="Slide Number Placeholder 3"/>
          <p:cNvSpPr>
            <a:spLocks noGrp="1"/>
          </p:cNvSpPr>
          <p:nvPr>
            <p:ph type="sldNum" sz="quarter" idx="12"/>
          </p:nvPr>
        </p:nvSpPr>
        <p:spPr>
          <a:xfrm>
            <a:off x="8077200" y="6356351"/>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eaLnBrk="0" fontAlgn="base" hangingPunct="0">
              <a:spcBef>
                <a:spcPct val="0"/>
              </a:spcBef>
              <a:spcAft>
                <a:spcPct val="0"/>
              </a:spcAft>
              <a:defRPr sz="1200" kern="1200">
                <a:solidFill>
                  <a:srgbClr val="898989"/>
                </a:solidFill>
                <a:latin typeface="Arial" charset="0"/>
                <a:ea typeface="ヒラギノ角ゴ Pro W3" charset="0"/>
                <a:cs typeface="ヒラギノ角ゴ Pro W3" charset="0"/>
              </a:defRPr>
            </a:lvl1pPr>
            <a:lvl2pPr marL="4572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2pPr>
            <a:lvl3pPr marL="9144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sz="2000" kern="1200">
                <a:solidFill>
                  <a:schemeClr val="tx1"/>
                </a:solidFill>
                <a:latin typeface="Arial" charset="0"/>
                <a:ea typeface="ヒラギノ角ゴ Pro W3" charset="0"/>
                <a:cs typeface="ヒラギノ角ゴ Pro W3" charset="0"/>
              </a:defRPr>
            </a:lvl6pPr>
            <a:lvl7pPr marL="2743200" algn="l" defTabSz="457200" rtl="0" eaLnBrk="1" latinLnBrk="0" hangingPunct="1">
              <a:defRPr sz="2000" kern="1200">
                <a:solidFill>
                  <a:schemeClr val="tx1"/>
                </a:solidFill>
                <a:latin typeface="Arial" charset="0"/>
                <a:ea typeface="ヒラギノ角ゴ Pro W3" charset="0"/>
                <a:cs typeface="ヒラギノ角ゴ Pro W3" charset="0"/>
              </a:defRPr>
            </a:lvl7pPr>
            <a:lvl8pPr marL="3200400" algn="l" defTabSz="457200" rtl="0" eaLnBrk="1" latinLnBrk="0" hangingPunct="1">
              <a:defRPr sz="2000" kern="1200">
                <a:solidFill>
                  <a:schemeClr val="tx1"/>
                </a:solidFill>
                <a:latin typeface="Arial" charset="0"/>
                <a:ea typeface="ヒラギノ角ゴ Pro W3" charset="0"/>
                <a:cs typeface="ヒラギノ角ゴ Pro W3" charset="0"/>
              </a:defRPr>
            </a:lvl8pPr>
            <a:lvl9pPr marL="3657600" algn="l" defTabSz="457200" rtl="0" eaLnBrk="1" latinLnBrk="0" hangingPunct="1">
              <a:defRPr sz="2000" kern="1200">
                <a:solidFill>
                  <a:schemeClr val="tx1"/>
                </a:solidFill>
                <a:latin typeface="Arial" charset="0"/>
                <a:ea typeface="ヒラギノ角ゴ Pro W3" charset="0"/>
                <a:cs typeface="ヒラギノ角ゴ Pro W3" charset="0"/>
              </a:defRPr>
            </a:lvl9pPr>
          </a:lstStyle>
          <a:p>
            <a:fld id="{A518ECD4-D09A-904E-A564-1221085D9D8B}" type="slidenum">
              <a:rPr lang="en-US" smtClean="0"/>
              <a:pPr/>
              <a:t>7</a:t>
            </a:fld>
            <a:endParaRPr lang="en-US"/>
          </a:p>
        </p:txBody>
      </p:sp>
      <p:pic>
        <p:nvPicPr>
          <p:cNvPr id="3" name="Picture 4" descr="ICI 4 color logo with text">
            <a:extLst>
              <a:ext uri="{FF2B5EF4-FFF2-40B4-BE49-F238E27FC236}">
                <a16:creationId xmlns:a16="http://schemas.microsoft.com/office/drawing/2014/main" id="{EF86DD8C-2515-181B-3BB1-1A76455F524E}"/>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752314" y="5999536"/>
            <a:ext cx="1642012" cy="706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0150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BA632900-4C8C-B364-0D78-8FF6B58D3546}"/>
              </a:ext>
            </a:extLst>
          </p:cNvPr>
          <p:cNvPicPr>
            <a:picLocks noChangeAspect="1"/>
          </p:cNvPicPr>
          <p:nvPr/>
        </p:nvPicPr>
        <p:blipFill rotWithShape="1">
          <a:blip r:embed="rId3">
            <a:extLst>
              <a:ext uri="{28A0092B-C50C-407E-A947-70E740481C1C}">
                <a14:useLocalDpi xmlns:a14="http://schemas.microsoft.com/office/drawing/2010/main" val="0"/>
              </a:ext>
            </a:extLst>
          </a:blip>
          <a:srcRect l="4564" r="52821" b="50691"/>
          <a:stretch/>
        </p:blipFill>
        <p:spPr bwMode="auto">
          <a:xfrm>
            <a:off x="484632" y="1291905"/>
            <a:ext cx="2560320" cy="3573709"/>
          </a:xfrm>
          <a:prstGeom prst="rect">
            <a:avLst/>
          </a:prstGeom>
          <a:noFill/>
          <a:extLst>
            <a:ext uri="{53640926-AAD7-44D8-BBD7-CCE9431645EC}">
              <a14:shadowObscured xmlns:a14="http://schemas.microsoft.com/office/drawing/2010/main"/>
            </a:ext>
          </a:extLst>
        </p:spPr>
      </p:pic>
      <p:pic>
        <p:nvPicPr>
          <p:cNvPr id="5" name="Picture 4" descr="Diagram&#10;&#10;Description automatically generated">
            <a:extLst>
              <a:ext uri="{FF2B5EF4-FFF2-40B4-BE49-F238E27FC236}">
                <a16:creationId xmlns:a16="http://schemas.microsoft.com/office/drawing/2014/main" id="{918B30B7-3C19-410D-6DA7-CB7A7A685AF7}"/>
              </a:ext>
            </a:extLst>
          </p:cNvPr>
          <p:cNvPicPr>
            <a:picLocks noChangeAspect="1"/>
          </p:cNvPicPr>
          <p:nvPr/>
        </p:nvPicPr>
        <p:blipFill rotWithShape="1">
          <a:blip r:embed="rId3">
            <a:extLst>
              <a:ext uri="{28A0092B-C50C-407E-A947-70E740481C1C}">
                <a14:useLocalDpi xmlns:a14="http://schemas.microsoft.com/office/drawing/2010/main" val="0"/>
              </a:ext>
            </a:extLst>
          </a:blip>
          <a:srcRect l="50358" r="7382" b="50972"/>
          <a:stretch/>
        </p:blipFill>
        <p:spPr bwMode="auto">
          <a:xfrm>
            <a:off x="3354631" y="1291906"/>
            <a:ext cx="2560320" cy="3573709"/>
          </a:xfrm>
          <a:prstGeom prst="rect">
            <a:avLst/>
          </a:prstGeom>
          <a:noFill/>
          <a:extLst>
            <a:ext uri="{53640926-AAD7-44D8-BBD7-CCE9431645EC}">
              <a14:shadowObscured xmlns:a14="http://schemas.microsoft.com/office/drawing/2010/main"/>
            </a:ext>
          </a:extLst>
        </p:spPr>
      </p:pic>
      <p:pic>
        <p:nvPicPr>
          <p:cNvPr id="7" name="Picture 6" descr="Diagram&#10;&#10;Description automatically generated">
            <a:extLst>
              <a:ext uri="{FF2B5EF4-FFF2-40B4-BE49-F238E27FC236}">
                <a16:creationId xmlns:a16="http://schemas.microsoft.com/office/drawing/2014/main" id="{9096413B-75DE-850F-0DB9-B7EC2E24A587}"/>
              </a:ext>
            </a:extLst>
          </p:cNvPr>
          <p:cNvPicPr>
            <a:picLocks noChangeAspect="1"/>
          </p:cNvPicPr>
          <p:nvPr/>
        </p:nvPicPr>
        <p:blipFill rotWithShape="1">
          <a:blip r:embed="rId3">
            <a:extLst>
              <a:ext uri="{28A0092B-C50C-407E-A947-70E740481C1C}">
                <a14:useLocalDpi xmlns:a14="http://schemas.microsoft.com/office/drawing/2010/main" val="0"/>
              </a:ext>
            </a:extLst>
          </a:blip>
          <a:srcRect l="4454" t="51942" r="52059"/>
          <a:stretch/>
        </p:blipFill>
        <p:spPr bwMode="auto">
          <a:xfrm>
            <a:off x="6277051" y="1359017"/>
            <a:ext cx="2560320" cy="3573709"/>
          </a:xfrm>
          <a:prstGeom prst="rect">
            <a:avLst/>
          </a:prstGeom>
          <a:noFill/>
          <a:extLst>
            <a:ext uri="{53640926-AAD7-44D8-BBD7-CCE9431645EC}">
              <a14:shadowObscured xmlns:a14="http://schemas.microsoft.com/office/drawing/2010/main"/>
            </a:ext>
          </a:extLst>
        </p:spPr>
      </p:pic>
      <p:pic>
        <p:nvPicPr>
          <p:cNvPr id="8" name="Picture 7" descr="Diagram&#10;&#10;Description automatically generated">
            <a:extLst>
              <a:ext uri="{FF2B5EF4-FFF2-40B4-BE49-F238E27FC236}">
                <a16:creationId xmlns:a16="http://schemas.microsoft.com/office/drawing/2014/main" id="{C8CC73DD-3966-714F-6929-440D789D8CA9}"/>
              </a:ext>
            </a:extLst>
          </p:cNvPr>
          <p:cNvPicPr>
            <a:picLocks noChangeAspect="1"/>
          </p:cNvPicPr>
          <p:nvPr/>
        </p:nvPicPr>
        <p:blipFill rotWithShape="1">
          <a:blip r:embed="rId3">
            <a:extLst>
              <a:ext uri="{28A0092B-C50C-407E-A947-70E740481C1C}">
                <a14:useLocalDpi xmlns:a14="http://schemas.microsoft.com/office/drawing/2010/main" val="0"/>
              </a:ext>
            </a:extLst>
          </a:blip>
          <a:srcRect l="48157" t="51942" r="6516"/>
          <a:stretch/>
        </p:blipFill>
        <p:spPr bwMode="auto">
          <a:xfrm>
            <a:off x="9120661" y="1359017"/>
            <a:ext cx="2719981" cy="3573709"/>
          </a:xfrm>
          <a:prstGeom prst="rect">
            <a:avLst/>
          </a:prstGeom>
          <a:noFill/>
          <a:extLst>
            <a:ext uri="{53640926-AAD7-44D8-BBD7-CCE9431645EC}">
              <a14:shadowObscured xmlns:a14="http://schemas.microsoft.com/office/drawing/2010/main"/>
            </a:ext>
          </a:extLst>
        </p:spPr>
      </p:pic>
      <p:pic>
        <p:nvPicPr>
          <p:cNvPr id="2" name="Picture 1" descr="Diagram&#10;&#10;Description automatically generated">
            <a:extLst>
              <a:ext uri="{FF2B5EF4-FFF2-40B4-BE49-F238E27FC236}">
                <a16:creationId xmlns:a16="http://schemas.microsoft.com/office/drawing/2014/main" id="{3EA25D51-06EE-654F-05AE-B33E158E6CCE}"/>
              </a:ext>
            </a:extLst>
          </p:cNvPr>
          <p:cNvPicPr>
            <a:picLocks noChangeAspect="1"/>
          </p:cNvPicPr>
          <p:nvPr/>
        </p:nvPicPr>
        <p:blipFill rotWithShape="1">
          <a:blip r:embed="rId3">
            <a:extLst>
              <a:ext uri="{28A0092B-C50C-407E-A947-70E740481C1C}">
                <a14:useLocalDpi xmlns:a14="http://schemas.microsoft.com/office/drawing/2010/main" val="0"/>
              </a:ext>
            </a:extLst>
          </a:blip>
          <a:srcRect l="50358" r="7382" b="50972"/>
          <a:stretch/>
        </p:blipFill>
        <p:spPr bwMode="auto">
          <a:xfrm>
            <a:off x="3395955" y="1291905"/>
            <a:ext cx="2560320" cy="3573709"/>
          </a:xfrm>
          <a:prstGeom prst="rect">
            <a:avLst/>
          </a:prstGeom>
          <a:noFill/>
          <a:extLst>
            <a:ext uri="{53640926-AAD7-44D8-BBD7-CCE9431645EC}">
              <a14:shadowObscured xmlns:a14="http://schemas.microsoft.com/office/drawing/2010/main"/>
            </a:ext>
          </a:extLst>
        </p:spPr>
      </p:pic>
      <p:sp>
        <p:nvSpPr>
          <p:cNvPr id="3" name="Rectangle 2">
            <a:extLst>
              <a:ext uri="{FF2B5EF4-FFF2-40B4-BE49-F238E27FC236}">
                <a16:creationId xmlns:a16="http://schemas.microsoft.com/office/drawing/2014/main" id="{3F507D04-A7A6-AFA0-0DBE-D1994815BA3D}"/>
              </a:ext>
            </a:extLst>
          </p:cNvPr>
          <p:cNvSpPr/>
          <p:nvPr/>
        </p:nvSpPr>
        <p:spPr>
          <a:xfrm>
            <a:off x="2115319" y="244683"/>
            <a:ext cx="7681911" cy="923330"/>
          </a:xfrm>
          <a:prstGeom prst="rect">
            <a:avLst/>
          </a:prstGeom>
          <a:noFill/>
        </p:spPr>
        <p:txBody>
          <a:bodyPr wrap="none" lIns="91440" tIns="45720" rIns="91440" bIns="45720">
            <a:spAutoFit/>
          </a:bodyPr>
          <a:lstStyle/>
          <a:p>
            <a:pPr algn="ctr"/>
            <a:r>
              <a:rPr lang="en-US" sz="5400" b="1" cap="none" spc="0">
                <a:ln w="22225">
                  <a:solidFill>
                    <a:schemeClr val="accent2"/>
                  </a:solidFill>
                  <a:prstDash val="solid"/>
                </a:ln>
                <a:solidFill>
                  <a:schemeClr val="accent2">
                    <a:lumMod val="40000"/>
                    <a:lumOff val="60000"/>
                  </a:schemeClr>
                </a:solidFill>
                <a:effectLst/>
              </a:rPr>
              <a:t>Guideposts of Support</a:t>
            </a:r>
          </a:p>
        </p:txBody>
      </p:sp>
      <p:sp>
        <p:nvSpPr>
          <p:cNvPr id="6" name="TextBox 5">
            <a:extLst>
              <a:ext uri="{FF2B5EF4-FFF2-40B4-BE49-F238E27FC236}">
                <a16:creationId xmlns:a16="http://schemas.microsoft.com/office/drawing/2014/main" id="{DBE6E4C7-3889-9189-9942-9B11787DB566}"/>
              </a:ext>
            </a:extLst>
          </p:cNvPr>
          <p:cNvSpPr txBox="1"/>
          <p:nvPr/>
        </p:nvSpPr>
        <p:spPr>
          <a:xfrm>
            <a:off x="670724" y="5837273"/>
            <a:ext cx="8010782" cy="369332"/>
          </a:xfrm>
          <a:prstGeom prst="rect">
            <a:avLst/>
          </a:prstGeom>
          <a:noFill/>
        </p:spPr>
        <p:txBody>
          <a:bodyPr wrap="square" rtlCol="0">
            <a:spAutoFit/>
          </a:bodyPr>
          <a:lstStyle/>
          <a:p>
            <a:r>
              <a:rPr lang="en-US">
                <a:hlinkClick r:id="rId4"/>
              </a:rPr>
              <a:t>https://cletoolkit.communityinclusion.org/</a:t>
            </a:r>
            <a:endParaRPr lang="en-US"/>
          </a:p>
        </p:txBody>
      </p:sp>
    </p:spTree>
    <p:extLst>
      <p:ext uri="{BB962C8B-B14F-4D97-AF65-F5344CB8AC3E}">
        <p14:creationId xmlns:p14="http://schemas.microsoft.com/office/powerpoint/2010/main" val="1892653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00AB9-1A52-14C0-5637-AF2BEE18F9FC}"/>
              </a:ext>
            </a:extLst>
          </p:cNvPr>
          <p:cNvSpPr>
            <a:spLocks noGrp="1"/>
          </p:cNvSpPr>
          <p:nvPr>
            <p:ph idx="1"/>
          </p:nvPr>
        </p:nvSpPr>
        <p:spPr>
          <a:xfrm>
            <a:off x="180668" y="422990"/>
            <a:ext cx="6329516" cy="915530"/>
          </a:xfrm>
        </p:spPr>
        <p:txBody>
          <a:bodyPr>
            <a:normAutofit fontScale="25000" lnSpcReduction="20000"/>
          </a:bodyPr>
          <a:lstStyle/>
          <a:p>
            <a:pPr marL="0" indent="0" algn="ctr">
              <a:buNone/>
            </a:pPr>
            <a:endParaRPr lang="en-US"/>
          </a:p>
          <a:p>
            <a:pPr marL="0" indent="0" algn="ctr">
              <a:buNone/>
            </a:pPr>
            <a:endParaRPr lang="en-US" sz="3200"/>
          </a:p>
          <a:p>
            <a:pPr marL="0" indent="0" algn="ctr">
              <a:buNone/>
            </a:pPr>
            <a:endParaRPr lang="en-US" sz="3200"/>
          </a:p>
          <a:p>
            <a:pPr marL="0" indent="0" algn="ctr">
              <a:buNone/>
            </a:pPr>
            <a:r>
              <a:rPr lang="en-US" sz="12800" b="1">
                <a:latin typeface="+mj-lt"/>
                <a:ea typeface="+mj-ea"/>
                <a:cs typeface="Calibri Light"/>
              </a:rPr>
              <a:t>Community Life Engagement </a:t>
            </a:r>
          </a:p>
          <a:p>
            <a:pPr marL="0" indent="0" algn="ctr">
              <a:buNone/>
            </a:pPr>
            <a:r>
              <a:rPr lang="en-US" sz="12800" b="1">
                <a:latin typeface="+mj-lt"/>
                <a:ea typeface="+mj-ea"/>
                <a:cs typeface="Calibri Light"/>
              </a:rPr>
              <a:t>Fidelity Scale</a:t>
            </a:r>
          </a:p>
          <a:p>
            <a:pPr marL="0" indent="0" algn="ctr">
              <a:buNone/>
            </a:pPr>
            <a:endParaRPr lang="en-US" sz="3200" b="1">
              <a:latin typeface="+mj-lt"/>
              <a:ea typeface="+mj-ea"/>
              <a:cs typeface="Calibri Light"/>
              <a:hlinkClick r:id="" action="ppaction://noaction">
                <a:extLst>
                  <a:ext uri="{A12FA001-AC4F-418D-AE19-62706E023703}">
                    <ahyp:hlinkClr xmlns:ahyp="http://schemas.microsoft.com/office/drawing/2018/hyperlinkcolor" val="tx"/>
                  </a:ext>
                </a:extLst>
              </a:hlinkClick>
            </a:endParaRPr>
          </a:p>
          <a:p>
            <a:pPr algn="ctr"/>
            <a:endParaRPr lang="en-US" sz="3200" b="1">
              <a:latin typeface="+mj-lt"/>
              <a:ea typeface="+mj-ea"/>
              <a:cs typeface="Calibri Light"/>
              <a:hlinkClick r:id="" action="ppaction://noaction">
                <a:extLst>
                  <a:ext uri="{A12FA001-AC4F-418D-AE19-62706E023703}">
                    <ahyp:hlinkClr xmlns:ahyp="http://schemas.microsoft.com/office/drawing/2018/hyperlinkcolor" val="tx"/>
                  </a:ext>
                </a:extLst>
              </a:hlinkClick>
            </a:endParaRPr>
          </a:p>
          <a:p>
            <a:pPr marL="0" indent="0" algn="ctr">
              <a:buNone/>
            </a:pPr>
            <a:endParaRPr lang="en-US" sz="3200" b="1">
              <a:latin typeface="+mj-lt"/>
              <a:ea typeface="+mj-ea"/>
              <a:cs typeface="Calibri Light"/>
              <a:hlinkClick r:id="" action="ppaction://noaction">
                <a:extLst>
                  <a:ext uri="{A12FA001-AC4F-418D-AE19-62706E023703}">
                    <ahyp:hlinkClr xmlns:ahyp="http://schemas.microsoft.com/office/drawing/2018/hyperlinkcolor" val="tx"/>
                  </a:ext>
                </a:extLst>
              </a:hlinkClick>
            </a:endParaRPr>
          </a:p>
          <a:p>
            <a:pPr marL="0" indent="0" algn="ctr">
              <a:buNone/>
            </a:pPr>
            <a:endParaRPr lang="en-US">
              <a:hlinkClick r:id="" action="ppaction://noaction"/>
            </a:endParaRPr>
          </a:p>
          <a:p>
            <a:pPr marL="0" indent="0" algn="ctr">
              <a:buNone/>
            </a:pPr>
            <a:endParaRPr lang="en-US">
              <a:hlinkClick r:id="" action="ppaction://noaction"/>
            </a:endParaRPr>
          </a:p>
          <a:p>
            <a:pPr marL="0" indent="0" algn="ctr">
              <a:buNone/>
            </a:pPr>
            <a:endParaRPr lang="en-US">
              <a:hlinkClick r:id="" action="ppaction://noaction"/>
            </a:endParaRPr>
          </a:p>
          <a:p>
            <a:pPr marL="0" indent="0" algn="ctr">
              <a:buNone/>
            </a:pPr>
            <a:endParaRPr lang="en-US">
              <a:hlinkClick r:id="" action="ppaction://noaction"/>
            </a:endParaRPr>
          </a:p>
        </p:txBody>
      </p:sp>
      <p:sp>
        <p:nvSpPr>
          <p:cNvPr id="4" name="Slide Number Placeholder 3">
            <a:extLst>
              <a:ext uri="{FF2B5EF4-FFF2-40B4-BE49-F238E27FC236}">
                <a16:creationId xmlns:a16="http://schemas.microsoft.com/office/drawing/2014/main" id="{FCEFE25C-4F3B-9D3F-EA65-C57FF446089E}"/>
              </a:ext>
            </a:extLst>
          </p:cNvPr>
          <p:cNvSpPr>
            <a:spLocks noGrp="1"/>
          </p:cNvSpPr>
          <p:nvPr>
            <p:ph type="sldNum" sz="quarter" idx="12"/>
          </p:nvPr>
        </p:nvSpPr>
        <p:spPr/>
        <p:txBody>
          <a:bodyPr/>
          <a:lstStyle/>
          <a:p>
            <a:fld id="{915FAA45-AC5B-014B-9F74-53D558B73BE0}" type="slidenum">
              <a:rPr lang="en-US" smtClean="0"/>
              <a:pPr/>
              <a:t>9</a:t>
            </a:fld>
            <a:endParaRPr lang="en-US"/>
          </a:p>
        </p:txBody>
      </p:sp>
      <p:pic>
        <p:nvPicPr>
          <p:cNvPr id="6" name="Picture 5">
            <a:extLst>
              <a:ext uri="{FF2B5EF4-FFF2-40B4-BE49-F238E27FC236}">
                <a16:creationId xmlns:a16="http://schemas.microsoft.com/office/drawing/2014/main" id="{910EBAAA-3852-6E25-5B70-A198E3D7334A}"/>
              </a:ext>
            </a:extLst>
          </p:cNvPr>
          <p:cNvPicPr>
            <a:picLocks noChangeAspect="1"/>
          </p:cNvPicPr>
          <p:nvPr/>
        </p:nvPicPr>
        <p:blipFill>
          <a:blip r:embed="rId3"/>
          <a:stretch>
            <a:fillRect/>
          </a:stretch>
        </p:blipFill>
        <p:spPr>
          <a:xfrm>
            <a:off x="6510184" y="280987"/>
            <a:ext cx="4953000" cy="6296025"/>
          </a:xfrm>
          <a:prstGeom prst="rect">
            <a:avLst/>
          </a:prstGeom>
        </p:spPr>
      </p:pic>
      <p:sp>
        <p:nvSpPr>
          <p:cNvPr id="7" name="TextBox 6">
            <a:extLst>
              <a:ext uri="{FF2B5EF4-FFF2-40B4-BE49-F238E27FC236}">
                <a16:creationId xmlns:a16="http://schemas.microsoft.com/office/drawing/2014/main" id="{248DCA55-5E0C-DDD6-3288-7F1057CB8D7B}"/>
              </a:ext>
            </a:extLst>
          </p:cNvPr>
          <p:cNvSpPr txBox="1"/>
          <p:nvPr/>
        </p:nvSpPr>
        <p:spPr>
          <a:xfrm>
            <a:off x="356419" y="2728452"/>
            <a:ext cx="5631425" cy="258532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a:latin typeface="+mj-lt"/>
                <a:ea typeface="+mj-ea"/>
                <a:cs typeface="Calibri Light"/>
              </a:rPr>
              <a:t>Use as a self- assessment tool</a:t>
            </a:r>
            <a:r>
              <a:rPr lang="en-US">
                <a:latin typeface="+mj-lt"/>
                <a:ea typeface="+mj-ea"/>
                <a:cs typeface="Calibri Light"/>
              </a:rPr>
              <a:t> </a:t>
            </a:r>
            <a:endParaRPr lang="en-US" sz="1800">
              <a:latin typeface="+mj-lt"/>
              <a:ea typeface="+mj-ea"/>
              <a:cs typeface="Calibri Light"/>
            </a:endParaRPr>
          </a:p>
          <a:p>
            <a:pPr marL="285750" indent="-285750">
              <a:buFont typeface="Arial" panose="020B0604020202020204" pitchFamily="34" charset="0"/>
              <a:buChar char="•"/>
            </a:pPr>
            <a:r>
              <a:rPr lang="en-US" sz="1800">
                <a:latin typeface="+mj-lt"/>
                <a:ea typeface="+mj-ea"/>
                <a:cs typeface="Calibri Light"/>
              </a:rPr>
              <a:t>Completed by staff and management</a:t>
            </a:r>
            <a:endParaRPr lang="en-US" sz="1800">
              <a:latin typeface="+mj-lt"/>
              <a:ea typeface="Calibri Light"/>
              <a:cs typeface="Calibri Light"/>
            </a:endParaRPr>
          </a:p>
          <a:p>
            <a:pPr marL="285750" indent="-285750">
              <a:buFont typeface="Arial" panose="020B0604020202020204" pitchFamily="34" charset="0"/>
              <a:buChar char="•"/>
            </a:pPr>
            <a:r>
              <a:rPr lang="en-US" sz="1800">
                <a:latin typeface="+mj-lt"/>
                <a:ea typeface="+mj-ea"/>
                <a:cs typeface="Calibri Light"/>
              </a:rPr>
              <a:t>Answer based on how your day services are currently structured</a:t>
            </a:r>
            <a:endParaRPr lang="en-US" sz="1800">
              <a:latin typeface="+mj-lt"/>
              <a:ea typeface="Calibri Light"/>
              <a:cs typeface="Calibri Light"/>
            </a:endParaRPr>
          </a:p>
          <a:p>
            <a:endParaRPr lang="en-US">
              <a:latin typeface="+mj-lt"/>
              <a:ea typeface="+mj-ea"/>
              <a:cs typeface="Calibri Light"/>
              <a:hlinkClick r:id="rId4">
                <a:extLst>
                  <a:ext uri="{A12FA001-AC4F-418D-AE19-62706E023703}">
                    <ahyp:hlinkClr xmlns:ahyp="http://schemas.microsoft.com/office/drawing/2018/hyperlinkcolor" val="tx"/>
                  </a:ext>
                </a:extLst>
              </a:hlinkClick>
            </a:endParaRPr>
          </a:p>
          <a:p>
            <a:endParaRPr lang="en-US" sz="1800">
              <a:latin typeface="+mj-lt"/>
              <a:ea typeface="+mj-ea"/>
              <a:cs typeface="Calibri Light"/>
              <a:hlinkClick r:id="rId4">
                <a:extLst>
                  <a:ext uri="{A12FA001-AC4F-418D-AE19-62706E023703}">
                    <ahyp:hlinkClr xmlns:ahyp="http://schemas.microsoft.com/office/drawing/2018/hyperlinkcolor" val="tx"/>
                  </a:ext>
                </a:extLst>
              </a:hlinkClick>
            </a:endParaRPr>
          </a:p>
          <a:p>
            <a:r>
              <a:rPr lang="en-US">
                <a:hlinkClick r:id="rId4"/>
              </a:rPr>
              <a:t>https://www.communityinclusion.org/files/cle-toolkit/guideposts_assessment.pdf</a:t>
            </a:r>
            <a:endParaRPr lang="en-US"/>
          </a:p>
          <a:p>
            <a:endParaRPr lang="en-US" sz="1800">
              <a:latin typeface="+mj-lt"/>
              <a:ea typeface="+mj-ea"/>
              <a:cs typeface="Calibri Light"/>
              <a:hlinkClick r:id="rId4">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56101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QUOTE ON DO THE BEST YOU CAN DO BY MAYA ANGELOU | by ...">
            <a:extLst>
              <a:ext uri="{FF2B5EF4-FFF2-40B4-BE49-F238E27FC236}">
                <a16:creationId xmlns:a16="http://schemas.microsoft.com/office/drawing/2014/main" id="{94771688-6176-87EA-68F9-54FA18CB56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82" r="3487" b="-2"/>
          <a:stretch/>
        </p:blipFill>
        <p:spPr bwMode="auto">
          <a:xfrm>
            <a:off x="3249893" y="437983"/>
            <a:ext cx="5692214" cy="6238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03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623F-F6A3-3219-0B52-45314771E388}"/>
              </a:ext>
            </a:extLst>
          </p:cNvPr>
          <p:cNvSpPr>
            <a:spLocks noGrp="1"/>
          </p:cNvSpPr>
          <p:nvPr>
            <p:ph type="title"/>
          </p:nvPr>
        </p:nvSpPr>
        <p:spPr>
          <a:xfrm>
            <a:off x="971368" y="371719"/>
            <a:ext cx="6125964" cy="1906863"/>
          </a:xfrm>
        </p:spPr>
        <p:txBody>
          <a:bodyPr anchor="b">
            <a:normAutofit fontScale="90000"/>
          </a:bodyPr>
          <a:lstStyle/>
          <a:p>
            <a:r>
              <a:rPr lang="en-US"/>
              <a:t>History of Community Engagement</a:t>
            </a:r>
          </a:p>
        </p:txBody>
      </p:sp>
      <p:sp>
        <p:nvSpPr>
          <p:cNvPr id="3" name="Content Placeholder 2">
            <a:extLst>
              <a:ext uri="{FF2B5EF4-FFF2-40B4-BE49-F238E27FC236}">
                <a16:creationId xmlns:a16="http://schemas.microsoft.com/office/drawing/2014/main" id="{E3A223F0-F9CC-77DE-2694-397EF0C75599}"/>
              </a:ext>
            </a:extLst>
          </p:cNvPr>
          <p:cNvSpPr>
            <a:spLocks noGrp="1"/>
          </p:cNvSpPr>
          <p:nvPr>
            <p:ph idx="1"/>
          </p:nvPr>
        </p:nvSpPr>
        <p:spPr>
          <a:xfrm>
            <a:off x="971368" y="2711395"/>
            <a:ext cx="4114801" cy="3465568"/>
          </a:xfrm>
        </p:spPr>
        <p:txBody>
          <a:bodyPr>
            <a:normAutofit/>
          </a:bodyPr>
          <a:lstStyle/>
          <a:p>
            <a:r>
              <a:rPr lang="en-US" sz="2000"/>
              <a:t>Program without walls</a:t>
            </a:r>
          </a:p>
          <a:p>
            <a:r>
              <a:rPr lang="en-US" sz="2000"/>
              <a:t>Community Grants</a:t>
            </a:r>
          </a:p>
          <a:p>
            <a:r>
              <a:rPr lang="en-US" sz="2000"/>
              <a:t>Community Classes</a:t>
            </a:r>
          </a:p>
          <a:p>
            <a:r>
              <a:rPr lang="en-US" sz="2000"/>
              <a:t>Center based services serving as “hubs” </a:t>
            </a:r>
          </a:p>
          <a:p>
            <a:r>
              <a:rPr lang="en-US" sz="2000"/>
              <a:t>Leaving center based service to volunteer</a:t>
            </a:r>
          </a:p>
        </p:txBody>
      </p:sp>
      <p:pic>
        <p:nvPicPr>
          <p:cNvPr id="3080" name="Picture 8" descr="Dance and music brings students, with and without disabilities, together –  The Durango Herald">
            <a:extLst>
              <a:ext uri="{FF2B5EF4-FFF2-40B4-BE49-F238E27FC236}">
                <a16:creationId xmlns:a16="http://schemas.microsoft.com/office/drawing/2014/main" id="{2045CBA8-7B79-5BA5-2E1D-1B1542AACC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82" r="6637" b="-1"/>
          <a:stretch/>
        </p:blipFill>
        <p:spPr bwMode="auto">
          <a:xfrm>
            <a:off x="8452968" y="3681465"/>
            <a:ext cx="3747932" cy="3176541"/>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a:noFill/>
          <a:extLst>
            <a:ext uri="{909E8E84-426E-40DD-AFC4-6F175D3DCCD1}">
              <a14:hiddenFill xmlns:a14="http://schemas.microsoft.com/office/drawing/2010/main">
                <a:solidFill>
                  <a:srgbClr val="FFFFFF"/>
                </a:solidFill>
              </a14:hiddenFill>
            </a:ext>
          </a:extLst>
        </p:spPr>
      </p:pic>
      <p:pic>
        <p:nvPicPr>
          <p:cNvPr id="3076" name="Picture 4" descr="Inclusive Volunteering | The Arc">
            <a:extLst>
              <a:ext uri="{FF2B5EF4-FFF2-40B4-BE49-F238E27FC236}">
                <a16:creationId xmlns:a16="http://schemas.microsoft.com/office/drawing/2014/main" id="{BDD43F84-90DE-ECAB-FA68-A08AC0E7BB6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009"/>
          <a:stretch/>
        </p:blipFill>
        <p:spPr bwMode="auto">
          <a:xfrm>
            <a:off x="5398276" y="2457970"/>
            <a:ext cx="3458367" cy="3476265"/>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a:noFill/>
          <a:extLst>
            <a:ext uri="{909E8E84-426E-40DD-AFC4-6F175D3DCCD1}">
              <a14:hiddenFill xmlns:a14="http://schemas.microsoft.com/office/drawing/2010/main">
                <a:solidFill>
                  <a:srgbClr val="FFFFFF"/>
                </a:solidFill>
              </a14:hiddenFill>
            </a:ext>
          </a:extLst>
        </p:spPr>
      </p:pic>
      <p:pic>
        <p:nvPicPr>
          <p:cNvPr id="3074" name="Picture 2" descr="Is it 'segregation' if people with disabilities work with their peers?  Agencies, government at odds">
            <a:extLst>
              <a:ext uri="{FF2B5EF4-FFF2-40B4-BE49-F238E27FC236}">
                <a16:creationId xmlns:a16="http://schemas.microsoft.com/office/drawing/2014/main" id="{81F6A8E2-080D-AEA9-FB50-49D58C8738E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725" r="12431" b="1"/>
          <a:stretch/>
        </p:blipFill>
        <p:spPr bwMode="auto">
          <a:xfrm>
            <a:off x="7621024" y="-5"/>
            <a:ext cx="4579876" cy="353650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7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effectLst/>
      </p:bgPr>
    </p:bg>
    <p:spTree>
      <p:nvGrpSpPr>
        <p:cNvPr id="1" name=""/>
        <p:cNvGrpSpPr/>
        <p:nvPr/>
      </p:nvGrpSpPr>
      <p:grpSpPr>
        <a:xfrm>
          <a:off x="0" y="0"/>
          <a:ext cx="0" cy="0"/>
          <a:chOff x="0" y="0"/>
          <a:chExt cx="0" cy="0"/>
        </a:xfrm>
      </p:grpSpPr>
      <p:sp>
        <p:nvSpPr>
          <p:cNvPr id="42" name="Rectangle 15">
            <a:extLst>
              <a:ext uri="{FF2B5EF4-FFF2-40B4-BE49-F238E27FC236}">
                <a16:creationId xmlns:a16="http://schemas.microsoft.com/office/drawing/2014/main" id="{3A8C6BC2-E9E2-4780-8A41-064073CD4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Rectangle 17">
            <a:extLst>
              <a:ext uri="{FF2B5EF4-FFF2-40B4-BE49-F238E27FC236}">
                <a16:creationId xmlns:a16="http://schemas.microsoft.com/office/drawing/2014/main" id="{E70450CF-22E9-4B1D-B146-30FEE770C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46" name="Rectangle 19">
            <a:extLst>
              <a:ext uri="{FF2B5EF4-FFF2-40B4-BE49-F238E27FC236}">
                <a16:creationId xmlns:a16="http://schemas.microsoft.com/office/drawing/2014/main" id="{80238079-1F65-476A-BC6C-F2D3BD268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47" name="Rectangle 21">
            <a:extLst>
              <a:ext uri="{FF2B5EF4-FFF2-40B4-BE49-F238E27FC236}">
                <a16:creationId xmlns:a16="http://schemas.microsoft.com/office/drawing/2014/main" id="{3740C935-D2D3-4F63-A4DA-CD768BB3F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8" name="Group 23">
            <a:extLst>
              <a:ext uri="{FF2B5EF4-FFF2-40B4-BE49-F238E27FC236}">
                <a16:creationId xmlns:a16="http://schemas.microsoft.com/office/drawing/2014/main" id="{BE8D8045-0F80-4964-B591-0D599AB42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25" name="Straight Connector 24">
              <a:extLst>
                <a:ext uri="{FF2B5EF4-FFF2-40B4-BE49-F238E27FC236}">
                  <a16:creationId xmlns:a16="http://schemas.microsoft.com/office/drawing/2014/main" id="{AF8A5889-0EE6-4E19-98FE-29F79E987B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B0FE4C3-64BE-4A2B-818D-4D84479344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4670D04-30D8-487E-A3F4-0655E48016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49" name="Rectangle 28">
            <a:extLst>
              <a:ext uri="{FF2B5EF4-FFF2-40B4-BE49-F238E27FC236}">
                <a16:creationId xmlns:a16="http://schemas.microsoft.com/office/drawing/2014/main" id="{9E1E7F64-0923-4A8C-8C57-8DA53D5B4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50" name="Rectangle 30">
            <a:extLst>
              <a:ext uri="{FF2B5EF4-FFF2-40B4-BE49-F238E27FC236}">
                <a16:creationId xmlns:a16="http://schemas.microsoft.com/office/drawing/2014/main" id="{09478849-EFF2-4DE4-983C-8EE3FA1EB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1" name="Rectangle 32">
            <a:extLst>
              <a:ext uri="{FF2B5EF4-FFF2-40B4-BE49-F238E27FC236}">
                <a16:creationId xmlns:a16="http://schemas.microsoft.com/office/drawing/2014/main" id="{C7659007-D861-4E94-9C3A-A056785E9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675873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34">
            <a:extLst>
              <a:ext uri="{FF2B5EF4-FFF2-40B4-BE49-F238E27FC236}">
                <a16:creationId xmlns:a16="http://schemas.microsoft.com/office/drawing/2014/main" id="{3510B89F-E2F1-498D-89E6-BBD1F7A83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53" name="Rectangle 36">
            <a:extLst>
              <a:ext uri="{FF2B5EF4-FFF2-40B4-BE49-F238E27FC236}">
                <a16:creationId xmlns:a16="http://schemas.microsoft.com/office/drawing/2014/main" id="{9B98270E-648F-4E36-B844-0EDB47720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noFill/>
          <a:ln w="6350" cap="sq" cmpd="sng" algn="ctr">
            <a:solidFill>
              <a:schemeClr val="tx1">
                <a:lumMod val="75000"/>
                <a:lumOff val="25000"/>
              </a:schemeClr>
            </a:solidFill>
            <a:prstDash val="solid"/>
            <a:miter lim="800000"/>
          </a:ln>
          <a:effectLst/>
        </p:spPr>
      </p:sp>
      <p:sp>
        <p:nvSpPr>
          <p:cNvPr id="3" name="Title 2">
            <a:extLst>
              <a:ext uri="{FF2B5EF4-FFF2-40B4-BE49-F238E27FC236}">
                <a16:creationId xmlns:a16="http://schemas.microsoft.com/office/drawing/2014/main" id="{C404EC72-BA9C-3571-3302-54571879132E}"/>
              </a:ext>
            </a:extLst>
          </p:cNvPr>
          <p:cNvSpPr>
            <a:spLocks noGrp="1"/>
          </p:cNvSpPr>
          <p:nvPr>
            <p:ph type="title"/>
          </p:nvPr>
        </p:nvSpPr>
        <p:spPr>
          <a:xfrm>
            <a:off x="7974158" y="1576701"/>
            <a:ext cx="2961348" cy="4117512"/>
          </a:xfrm>
        </p:spPr>
        <p:txBody>
          <a:bodyPr vert="horz" lIns="91440" tIns="45720" rIns="91440" bIns="45720" rtlCol="0" anchor="ctr">
            <a:normAutofit/>
          </a:bodyPr>
          <a:lstStyle/>
          <a:p>
            <a:pPr algn="ctr">
              <a:lnSpc>
                <a:spcPct val="83000"/>
              </a:lnSpc>
            </a:pPr>
            <a:r>
              <a:rPr lang="en-US" sz="2600" cap="all" spc="-100"/>
              <a:t>get to know the person!</a:t>
            </a:r>
            <a:br>
              <a:rPr lang="en-US" sz="2600" cap="all" spc="-100"/>
            </a:br>
            <a:br>
              <a:rPr lang="en-US" sz="2600" cap="all" spc="-100"/>
            </a:br>
            <a:r>
              <a:rPr lang="en-US" sz="2600" cap="all" spc="-100"/>
              <a:t>use person centered planning</a:t>
            </a:r>
            <a:br>
              <a:rPr lang="en-US" sz="2600" cap="all" spc="-100"/>
            </a:br>
            <a:br>
              <a:rPr lang="en-US" sz="2600" cap="all" spc="-100"/>
            </a:br>
            <a:r>
              <a:rPr lang="en-US" sz="2600" cap="all" spc="-100"/>
              <a:t>find ways to individualize supports even if you don't 'have 1:1 staffing</a:t>
            </a:r>
          </a:p>
        </p:txBody>
      </p:sp>
      <p:pic>
        <p:nvPicPr>
          <p:cNvPr id="2" name="Picture 1" descr="Diagram&#10;&#10;Description automatically generated">
            <a:extLst>
              <a:ext uri="{FF2B5EF4-FFF2-40B4-BE49-F238E27FC236}">
                <a16:creationId xmlns:a16="http://schemas.microsoft.com/office/drawing/2014/main" id="{E37151B8-4769-ECE9-AA5D-FBBEC5BF5622}"/>
              </a:ext>
            </a:extLst>
          </p:cNvPr>
          <p:cNvPicPr>
            <a:picLocks noChangeAspect="1"/>
          </p:cNvPicPr>
          <p:nvPr/>
        </p:nvPicPr>
        <p:blipFill rotWithShape="1">
          <a:blip r:embed="rId4">
            <a:extLst>
              <a:ext uri="{28A0092B-C50C-407E-A947-70E740481C1C}">
                <a14:useLocalDpi xmlns:a14="http://schemas.microsoft.com/office/drawing/2010/main" val="0"/>
              </a:ext>
            </a:extLst>
          </a:blip>
          <a:srcRect l="4564" r="52821" b="50691"/>
          <a:stretch/>
        </p:blipFill>
        <p:spPr bwMode="auto">
          <a:xfrm>
            <a:off x="797226" y="645106"/>
            <a:ext cx="5143558" cy="5564663"/>
          </a:xfrm>
          <a:prstGeom prst="rect">
            <a:avLst/>
          </a:prstGeom>
          <a:noFill/>
          <a:extLst>
            <a:ext uri="{53640926-AAD7-44D8-BBD7-CCE9431645EC}">
              <a14:shadowObscured xmlns:a14="http://schemas.microsoft.com/office/drawing/2010/main"/>
            </a:ext>
          </a:extLst>
        </p:spPr>
      </p:pic>
      <p:sp>
        <p:nvSpPr>
          <p:cNvPr id="54" name="Rectangle 38">
            <a:extLst>
              <a:ext uri="{FF2B5EF4-FFF2-40B4-BE49-F238E27FC236}">
                <a16:creationId xmlns:a16="http://schemas.microsoft.com/office/drawing/2014/main" id="{FD928195-4D39-4483-8E9C-DDEF45288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768" y="640856"/>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1" name="Straight Connector 40">
            <a:extLst>
              <a:ext uri="{FF2B5EF4-FFF2-40B4-BE49-F238E27FC236}">
                <a16:creationId xmlns:a16="http://schemas.microsoft.com/office/drawing/2014/main" id="{D3C3AEFB-A180-42BA-A986-808141512B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640855"/>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DC660CB-86B2-4824-BAAF-665CD18892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09708" y="640855"/>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355DF17-4368-44AA-A15E-16C1FC1482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1286150"/>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888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108" y="142388"/>
            <a:ext cx="10515600" cy="1325563"/>
          </a:xfrm>
        </p:spPr>
        <p:txBody>
          <a:bodyPr wrap="square" anchor="ctr">
            <a:normAutofit/>
          </a:bodyPr>
          <a:lstStyle/>
          <a:p>
            <a:pPr>
              <a:lnSpc>
                <a:spcPct val="90000"/>
              </a:lnSpc>
            </a:pPr>
            <a:r>
              <a:rPr lang="en-US" sz="3200" b="1" dirty="0">
                <a:solidFill>
                  <a:srgbClr val="254061"/>
                </a:solidFill>
                <a:latin typeface="Candara" panose="020E0502030303020204" pitchFamily="34" charset="0"/>
                <a:ea typeface="+mn-ea"/>
                <a:cs typeface="+mn-cs"/>
              </a:rPr>
              <a:t>Guidepost 1: Individualize supports for each person </a:t>
            </a:r>
          </a:p>
        </p:txBody>
      </p:sp>
      <p:sp>
        <p:nvSpPr>
          <p:cNvPr id="5" name="Content Placeholder 4">
            <a:extLst>
              <a:ext uri="{FF2B5EF4-FFF2-40B4-BE49-F238E27FC236}">
                <a16:creationId xmlns:a16="http://schemas.microsoft.com/office/drawing/2014/main" id="{D98E9EF3-8AA0-1CB3-206C-C91CB94926FA}"/>
              </a:ext>
            </a:extLst>
          </p:cNvPr>
          <p:cNvSpPr>
            <a:spLocks noGrp="1"/>
          </p:cNvSpPr>
          <p:nvPr>
            <p:ph sz="half" idx="1"/>
          </p:nvPr>
        </p:nvSpPr>
        <p:spPr/>
        <p:txBody>
          <a:bodyPr/>
          <a:lstStyle/>
          <a:p>
            <a:endParaRPr lang="en-US"/>
          </a:p>
        </p:txBody>
      </p:sp>
      <p:sp>
        <p:nvSpPr>
          <p:cNvPr id="4" name="Slide Number Placeholder 3" hidden="1"/>
          <p:cNvSpPr>
            <a:spLocks noGrp="1"/>
          </p:cNvSpPr>
          <p:nvPr>
            <p:ph type="sldNum" sz="quarter" idx="12"/>
          </p:nvPr>
        </p:nvSpPr>
        <p:spPr>
          <a:prstGeom prst="rect">
            <a:avLst/>
          </a:prstGeom>
        </p:spPr>
        <p:txBody>
          <a:bodyPr vert="horz" wrap="square" lIns="91440" tIns="45720" rIns="91440" bIns="45720" numCol="1" anchor="ctr" anchorCtr="0" compatLnSpc="1">
            <a:prstTxWarp prst="textNoShape">
              <a:avLst/>
            </a:prstTxWarp>
          </a:bodyPr>
          <a:lstStyle>
            <a:defPPr>
              <a:defRPr lang="en-US"/>
            </a:defPPr>
            <a:lvl1pPr algn="r" rtl="0" eaLnBrk="0" fontAlgn="base" hangingPunct="0">
              <a:spcBef>
                <a:spcPct val="0"/>
              </a:spcBef>
              <a:spcAft>
                <a:spcPct val="0"/>
              </a:spcAft>
              <a:defRPr sz="1200" kern="1200">
                <a:solidFill>
                  <a:srgbClr val="898989"/>
                </a:solidFill>
                <a:latin typeface="Arial" charset="0"/>
                <a:ea typeface="ヒラギノ角ゴ Pro W3" charset="0"/>
                <a:cs typeface="ヒラギノ角ゴ Pro W3" charset="0"/>
              </a:defRPr>
            </a:lvl1pPr>
            <a:lvl2pPr marL="4572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2pPr>
            <a:lvl3pPr marL="9144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sz="2000" kern="1200">
                <a:solidFill>
                  <a:schemeClr val="tx1"/>
                </a:solidFill>
                <a:latin typeface="Arial" charset="0"/>
                <a:ea typeface="ヒラギノ角ゴ Pro W3" charset="0"/>
                <a:cs typeface="ヒラギノ角ゴ Pro W3" charset="0"/>
              </a:defRPr>
            </a:lvl6pPr>
            <a:lvl7pPr marL="2743200" algn="l" defTabSz="457200" rtl="0" eaLnBrk="1" latinLnBrk="0" hangingPunct="1">
              <a:defRPr sz="2000" kern="1200">
                <a:solidFill>
                  <a:schemeClr val="tx1"/>
                </a:solidFill>
                <a:latin typeface="Arial" charset="0"/>
                <a:ea typeface="ヒラギノ角ゴ Pro W3" charset="0"/>
                <a:cs typeface="ヒラギノ角ゴ Pro W3" charset="0"/>
              </a:defRPr>
            </a:lvl7pPr>
            <a:lvl8pPr marL="3200400" algn="l" defTabSz="457200" rtl="0" eaLnBrk="1" latinLnBrk="0" hangingPunct="1">
              <a:defRPr sz="2000" kern="1200">
                <a:solidFill>
                  <a:schemeClr val="tx1"/>
                </a:solidFill>
                <a:latin typeface="Arial" charset="0"/>
                <a:ea typeface="ヒラギノ角ゴ Pro W3" charset="0"/>
                <a:cs typeface="ヒラギノ角ゴ Pro W3" charset="0"/>
              </a:defRPr>
            </a:lvl8pPr>
            <a:lvl9pPr marL="3657600" algn="l" defTabSz="457200" rtl="0" eaLnBrk="1" latinLnBrk="0" hangingPunct="1">
              <a:defRPr sz="2000" kern="1200">
                <a:solidFill>
                  <a:schemeClr val="tx1"/>
                </a:solidFill>
                <a:latin typeface="Arial" charset="0"/>
                <a:ea typeface="ヒラギノ角ゴ Pro W3" charset="0"/>
                <a:cs typeface="ヒラギノ角ゴ Pro W3" charset="0"/>
              </a:defRPr>
            </a:lvl9pPr>
          </a:lstStyle>
          <a:p>
            <a:pPr>
              <a:spcAft>
                <a:spcPts val="600"/>
              </a:spcAft>
            </a:pPr>
            <a:fld id="{A518ECD4-D09A-904E-A564-1221085D9D8B}" type="slidenum">
              <a:rPr lang="en-US" dirty="0" smtClean="0"/>
              <a:pPr>
                <a:spcAft>
                  <a:spcPts val="600"/>
                </a:spcAft>
              </a:pPr>
              <a:t>13</a:t>
            </a:fld>
            <a:endParaRPr lang="en-US" dirty="0"/>
          </a:p>
        </p:txBody>
      </p:sp>
      <p:pic>
        <p:nvPicPr>
          <p:cNvPr id="7" name="Picture 6">
            <a:extLst>
              <a:ext uri="{FF2B5EF4-FFF2-40B4-BE49-F238E27FC236}">
                <a16:creationId xmlns:a16="http://schemas.microsoft.com/office/drawing/2014/main" id="{F702F9FD-3194-E44F-8797-B485821A8123}"/>
              </a:ext>
            </a:extLst>
          </p:cNvPr>
          <p:cNvPicPr>
            <a:picLocks noChangeAspect="1"/>
          </p:cNvPicPr>
          <p:nvPr/>
        </p:nvPicPr>
        <p:blipFill rotWithShape="1">
          <a:blip r:embed="rId3"/>
          <a:srcRect l="15681" t="22412" r="29023" b="3873"/>
          <a:stretch/>
        </p:blipFill>
        <p:spPr>
          <a:xfrm>
            <a:off x="609600" y="1588771"/>
            <a:ext cx="5105400" cy="4525962"/>
          </a:xfrm>
          <a:prstGeom prst="rect">
            <a:avLst/>
          </a:prstGeom>
          <a:noFill/>
        </p:spPr>
      </p:pic>
      <p:sp>
        <p:nvSpPr>
          <p:cNvPr id="8" name="TextBox 7">
            <a:extLst>
              <a:ext uri="{FF2B5EF4-FFF2-40B4-BE49-F238E27FC236}">
                <a16:creationId xmlns:a16="http://schemas.microsoft.com/office/drawing/2014/main" id="{6B2E85D2-AC00-BF4E-8515-EDE96AF817BC}"/>
              </a:ext>
            </a:extLst>
          </p:cNvPr>
          <p:cNvSpPr txBox="1"/>
          <p:nvPr/>
        </p:nvSpPr>
        <p:spPr>
          <a:xfrm>
            <a:off x="1676400" y="5562600"/>
            <a:ext cx="1508746" cy="400110"/>
          </a:xfrm>
          <a:prstGeom prst="rect">
            <a:avLst/>
          </a:prstGeom>
          <a:noFill/>
        </p:spPr>
        <p:txBody>
          <a:bodyPr wrap="none" rtlCol="0">
            <a:spAutoFit/>
          </a:bodyPr>
          <a:lstStyle/>
          <a:p>
            <a:r>
              <a:rPr lang="en-US" dirty="0"/>
              <a:t>From this…</a:t>
            </a:r>
          </a:p>
        </p:txBody>
      </p:sp>
      <p:pic>
        <p:nvPicPr>
          <p:cNvPr id="3" name="Picture 4" descr="ICI 4 color logo with text">
            <a:extLst>
              <a:ext uri="{FF2B5EF4-FFF2-40B4-BE49-F238E27FC236}">
                <a16:creationId xmlns:a16="http://schemas.microsoft.com/office/drawing/2014/main" id="{68B94C14-B88E-7100-AB67-8183F473327E}"/>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839200" y="6136695"/>
            <a:ext cx="1642012" cy="706065"/>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4">
            <a:extLst>
              <a:ext uri="{FF2B5EF4-FFF2-40B4-BE49-F238E27FC236}">
                <a16:creationId xmlns:a16="http://schemas.microsoft.com/office/drawing/2014/main" id="{730AB950-DEA0-37C6-0E35-FFB2C614F68C}"/>
              </a:ext>
            </a:extLst>
          </p:cNvPr>
          <p:cNvPicPr>
            <a:picLocks noGrp="1" noChangeAspect="1"/>
          </p:cNvPicPr>
          <p:nvPr>
            <p:ph sz="half" idx="2"/>
          </p:nvPr>
        </p:nvPicPr>
        <p:blipFill rotWithShape="1">
          <a:blip r:embed="rId5">
            <a:extLst>
              <a:ext uri="{28A0092B-C50C-407E-A947-70E740481C1C}">
                <a14:useLocalDpi xmlns:a14="http://schemas.microsoft.com/office/drawing/2010/main" val="0"/>
              </a:ext>
            </a:extLst>
          </a:blip>
          <a:srcRect l="9260" r="34339"/>
          <a:stretch/>
        </p:blipFill>
        <p:spPr>
          <a:xfrm>
            <a:off x="6477002" y="1588771"/>
            <a:ext cx="5105400" cy="4525962"/>
          </a:xfrm>
        </p:spPr>
      </p:pic>
      <p:sp>
        <p:nvSpPr>
          <p:cNvPr id="10" name="Right Arrow 9">
            <a:extLst>
              <a:ext uri="{FF2B5EF4-FFF2-40B4-BE49-F238E27FC236}">
                <a16:creationId xmlns:a16="http://schemas.microsoft.com/office/drawing/2014/main" id="{265A9FB0-8E54-531B-2D4F-22415CB89794}"/>
              </a:ext>
            </a:extLst>
          </p:cNvPr>
          <p:cNvSpPr/>
          <p:nvPr/>
        </p:nvSpPr>
        <p:spPr>
          <a:xfrm>
            <a:off x="5791200" y="3520282"/>
            <a:ext cx="609602"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8982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1F225CE5-47CE-4137-A57A-A2ED33D3F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35" name="Rectangle 1034">
            <a:extLst>
              <a:ext uri="{FF2B5EF4-FFF2-40B4-BE49-F238E27FC236}">
                <a16:creationId xmlns:a16="http://schemas.microsoft.com/office/drawing/2014/main" id="{A4CDF532-7A31-4FEB-BF8E-5D20B1D82E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037" name="Rectangle 1036">
            <a:extLst>
              <a:ext uri="{FF2B5EF4-FFF2-40B4-BE49-F238E27FC236}">
                <a16:creationId xmlns:a16="http://schemas.microsoft.com/office/drawing/2014/main" id="{9D9EF154-55CA-4470-86D7-4444FA753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039" name="Rectangle 1038">
            <a:extLst>
              <a:ext uri="{FF2B5EF4-FFF2-40B4-BE49-F238E27FC236}">
                <a16:creationId xmlns:a16="http://schemas.microsoft.com/office/drawing/2014/main" id="{92A16D93-C1C4-4950-8D6F-7E066D3EB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41" name="Group 1040">
            <a:extLst>
              <a:ext uri="{FF2B5EF4-FFF2-40B4-BE49-F238E27FC236}">
                <a16:creationId xmlns:a16="http://schemas.microsoft.com/office/drawing/2014/main" id="{4EF3C1DF-62BB-40F4-A85E-95E115F824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1042" name="Straight Connector 1041">
              <a:extLst>
                <a:ext uri="{FF2B5EF4-FFF2-40B4-BE49-F238E27FC236}">
                  <a16:creationId xmlns:a16="http://schemas.microsoft.com/office/drawing/2014/main" id="{70519E85-2B1A-4392-910B-D3CD6BFFED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BCC2BAC3-B1F6-430E-A9C0-EA922686E6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44" name="Straight Connector 1043">
              <a:extLst>
                <a:ext uri="{FF2B5EF4-FFF2-40B4-BE49-F238E27FC236}">
                  <a16:creationId xmlns:a16="http://schemas.microsoft.com/office/drawing/2014/main" id="{7378EDAA-DD1F-48C2-9D7A-1A8D91E124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useBgFill="1">
        <p:nvSpPr>
          <p:cNvPr id="1046" name="Rectangle 1045">
            <a:extLst>
              <a:ext uri="{FF2B5EF4-FFF2-40B4-BE49-F238E27FC236}">
                <a16:creationId xmlns:a16="http://schemas.microsoft.com/office/drawing/2014/main" id="{62CDAD17-D3BC-450C-B73D-DACE87956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D7317DCF-5558-46CD-B9CB-B1E745A6C4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50" name="Rectangle 1049">
            <a:extLst>
              <a:ext uri="{FF2B5EF4-FFF2-40B4-BE49-F238E27FC236}">
                <a16:creationId xmlns:a16="http://schemas.microsoft.com/office/drawing/2014/main" id="{B3794CB5-61AF-4CF1-8BE2-E7EEB69F1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4004723"/>
            <a:ext cx="11281609" cy="2396079"/>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052" name="Rectangle 1051">
            <a:extLst>
              <a:ext uri="{FF2B5EF4-FFF2-40B4-BE49-F238E27FC236}">
                <a16:creationId xmlns:a16="http://schemas.microsoft.com/office/drawing/2014/main" id="{6A96453A-09C8-4335-9D3C-B99FAC9F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4169490"/>
            <a:ext cx="10954512" cy="2066544"/>
          </a:xfrm>
          <a:prstGeom prst="rect">
            <a:avLst/>
          </a:prstGeom>
          <a:noFill/>
          <a:ln w="6350" cap="sq" cmpd="sng" algn="ctr">
            <a:solidFill>
              <a:schemeClr val="tx1">
                <a:lumMod val="75000"/>
                <a:lumOff val="25000"/>
              </a:schemeClr>
            </a:solidFill>
            <a:prstDash val="solid"/>
            <a:miter lim="800000"/>
          </a:ln>
          <a:effectLst/>
        </p:spPr>
      </p:sp>
      <p:sp>
        <p:nvSpPr>
          <p:cNvPr id="2" name="Rectangle 1">
            <a:extLst>
              <a:ext uri="{FF2B5EF4-FFF2-40B4-BE49-F238E27FC236}">
                <a16:creationId xmlns:a16="http://schemas.microsoft.com/office/drawing/2014/main" id="{41A68C03-EC73-31C5-8516-6299334DC41B}"/>
              </a:ext>
            </a:extLst>
          </p:cNvPr>
          <p:cNvSpPr/>
          <p:nvPr/>
        </p:nvSpPr>
        <p:spPr>
          <a:xfrm>
            <a:off x="1241170" y="4644082"/>
            <a:ext cx="9732773" cy="951573"/>
          </a:xfrm>
          <a:prstGeom prst="rect">
            <a:avLst/>
          </a:prstGeom>
        </p:spPr>
        <p:txBody>
          <a:bodyPr vert="horz" lIns="91440" tIns="45720" rIns="91440" bIns="45720" rtlCol="0" anchor="ctr">
            <a:normAutofit/>
          </a:bodyPr>
          <a:lstStyle/>
          <a:p>
            <a:pPr algn="ctr" defTabSz="914400">
              <a:lnSpc>
                <a:spcPct val="83000"/>
              </a:lnSpc>
              <a:spcBef>
                <a:spcPct val="0"/>
              </a:spcBef>
              <a:spcAft>
                <a:spcPts val="600"/>
              </a:spcAft>
            </a:pPr>
            <a:r>
              <a:rPr lang="en-US" sz="5600" cap="all" spc="-100">
                <a:ln w="0"/>
                <a:solidFill>
                  <a:schemeClr val="tx1">
                    <a:lumMod val="85000"/>
                    <a:lumOff val="15000"/>
                  </a:schemeClr>
                </a:solidFill>
                <a:latin typeface="+mj-lt"/>
              </a:rPr>
              <a:t> What makes you Unique?</a:t>
            </a:r>
          </a:p>
        </p:txBody>
      </p:sp>
      <p:sp>
        <p:nvSpPr>
          <p:cNvPr id="1054" name="Round Single Corner Rectangle 15">
            <a:extLst>
              <a:ext uri="{FF2B5EF4-FFF2-40B4-BE49-F238E27FC236}">
                <a16:creationId xmlns:a16="http://schemas.microsoft.com/office/drawing/2014/main" id="{8BD9652E-A54E-4840-997E-7009D754C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39605" y="636679"/>
            <a:ext cx="3415770" cy="3030473"/>
          </a:xfrm>
          <a:prstGeom prst="round1Rect">
            <a:avLst>
              <a:gd name="adj" fmla="val 0"/>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rtlCol="0" anchor="ctr"/>
          <a:lstStyle/>
          <a:p>
            <a:pPr algn="ctr"/>
            <a:endParaRPr lang="en-US"/>
          </a:p>
        </p:txBody>
      </p:sp>
      <p:pic>
        <p:nvPicPr>
          <p:cNvPr id="1028" name="Picture 4" descr="Image">
            <a:extLst>
              <a:ext uri="{FF2B5EF4-FFF2-40B4-BE49-F238E27FC236}">
                <a16:creationId xmlns:a16="http://schemas.microsoft.com/office/drawing/2014/main" id="{E3D3CC33-F505-8758-FDF0-A496A06A31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7658" b="8686"/>
          <a:stretch/>
        </p:blipFill>
        <p:spPr bwMode="auto">
          <a:xfrm>
            <a:off x="1466359" y="867183"/>
            <a:ext cx="1962261" cy="2569464"/>
          </a:xfrm>
          <a:prstGeom prst="rect">
            <a:avLst/>
          </a:prstGeom>
          <a:noFill/>
          <a:extLst>
            <a:ext uri="{909E8E84-426E-40DD-AFC4-6F175D3DCCD1}">
              <a14:hiddenFill xmlns:a14="http://schemas.microsoft.com/office/drawing/2010/main">
                <a:solidFill>
                  <a:srgbClr val="FFFFFF"/>
                </a:solidFill>
              </a14:hiddenFill>
            </a:ext>
          </a:extLst>
        </p:spPr>
      </p:pic>
      <p:sp>
        <p:nvSpPr>
          <p:cNvPr id="1056" name="Round Single Corner Rectangle 27">
            <a:extLst>
              <a:ext uri="{FF2B5EF4-FFF2-40B4-BE49-F238E27FC236}">
                <a16:creationId xmlns:a16="http://schemas.microsoft.com/office/drawing/2014/main" id="{B56AC20B-A3B1-4105-A699-D9802D20D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89310" y="636679"/>
            <a:ext cx="3415770" cy="3030473"/>
          </a:xfrm>
          <a:prstGeom prst="round1Rect">
            <a:avLst>
              <a:gd name="adj" fmla="val 0"/>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rtlCol="0" anchor="ctr"/>
          <a:lstStyle/>
          <a:p>
            <a:pPr algn="ctr"/>
            <a:endParaRPr lang="en-US"/>
          </a:p>
        </p:txBody>
      </p:sp>
      <p:pic>
        <p:nvPicPr>
          <p:cNvPr id="1026" name="Picture 2" descr="Image">
            <a:extLst>
              <a:ext uri="{FF2B5EF4-FFF2-40B4-BE49-F238E27FC236}">
                <a16:creationId xmlns:a16="http://schemas.microsoft.com/office/drawing/2014/main" id="{2215A475-4694-0BBA-352A-CBB51AC7B35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133646" y="867183"/>
            <a:ext cx="1927098" cy="2569464"/>
          </a:xfrm>
          <a:prstGeom prst="rect">
            <a:avLst/>
          </a:prstGeom>
          <a:noFill/>
          <a:extLst>
            <a:ext uri="{909E8E84-426E-40DD-AFC4-6F175D3DCCD1}">
              <a14:hiddenFill xmlns:a14="http://schemas.microsoft.com/office/drawing/2010/main">
                <a:solidFill>
                  <a:srgbClr val="FFFFFF"/>
                </a:solidFill>
              </a14:hiddenFill>
            </a:ext>
          </a:extLst>
        </p:spPr>
      </p:pic>
      <p:sp>
        <p:nvSpPr>
          <p:cNvPr id="1058" name="Round Single Corner Rectangle 30">
            <a:extLst>
              <a:ext uri="{FF2B5EF4-FFF2-40B4-BE49-F238E27FC236}">
                <a16:creationId xmlns:a16="http://schemas.microsoft.com/office/drawing/2014/main" id="{DDBE4B1E-E819-4CA0-BAB3-8B100D8DA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4848" y="636679"/>
            <a:ext cx="3415770" cy="3030473"/>
          </a:xfrm>
          <a:prstGeom prst="round1Rect">
            <a:avLst>
              <a:gd name="adj" fmla="val 0"/>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rtlCol="0" anchor="ctr"/>
          <a:lstStyle/>
          <a:p>
            <a:pPr algn="ctr"/>
            <a:endParaRPr lang="en-US"/>
          </a:p>
        </p:txBody>
      </p:sp>
      <p:pic>
        <p:nvPicPr>
          <p:cNvPr id="4" name="Picture 3" descr="Diagram&#10;&#10;Description automatically generated">
            <a:extLst>
              <a:ext uri="{FF2B5EF4-FFF2-40B4-BE49-F238E27FC236}">
                <a16:creationId xmlns:a16="http://schemas.microsoft.com/office/drawing/2014/main" id="{BA632900-4C8C-B364-0D78-8FF6B58D3546}"/>
              </a:ext>
            </a:extLst>
          </p:cNvPr>
          <p:cNvPicPr>
            <a:picLocks noChangeAspect="1"/>
          </p:cNvPicPr>
          <p:nvPr/>
        </p:nvPicPr>
        <p:blipFill rotWithShape="1">
          <a:blip r:embed="rId6">
            <a:extLst>
              <a:ext uri="{28A0092B-C50C-407E-A947-70E740481C1C}">
                <a14:useLocalDpi xmlns:a14="http://schemas.microsoft.com/office/drawing/2010/main" val="0"/>
              </a:ext>
            </a:extLst>
          </a:blip>
          <a:srcRect l="4564" r="52821" b="50691"/>
          <a:stretch/>
        </p:blipFill>
        <p:spPr bwMode="auto">
          <a:xfrm>
            <a:off x="8545223" y="867183"/>
            <a:ext cx="2375020" cy="2569464"/>
          </a:xfrm>
          <a:prstGeom prst="rect">
            <a:avLst/>
          </a:prstGeom>
          <a:noFill/>
          <a:extLst>
            <a:ext uri="{53640926-AAD7-44D8-BBD7-CCE9431645EC}">
              <a14:shadowObscured xmlns:a14="http://schemas.microsoft.com/office/drawing/2010/main"/>
            </a:ext>
          </a:extLst>
        </p:spPr>
      </p:pic>
      <p:sp>
        <p:nvSpPr>
          <p:cNvPr id="1060" name="Rectangle 1059">
            <a:extLst>
              <a:ext uri="{FF2B5EF4-FFF2-40B4-BE49-F238E27FC236}">
                <a16:creationId xmlns:a16="http://schemas.microsoft.com/office/drawing/2014/main" id="{E4A26674-03A0-4229-8F1A-0D8B00838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3983624"/>
            <a:ext cx="1920240" cy="5078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062" name="Straight Connector 1061">
            <a:extLst>
              <a:ext uri="{FF2B5EF4-FFF2-40B4-BE49-F238E27FC236}">
                <a16:creationId xmlns:a16="http://schemas.microsoft.com/office/drawing/2014/main" id="{3ED3149E-57D5-4D11-8115-8EB25BCCF8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3983623"/>
            <a:ext cx="0" cy="429768"/>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64" name="Straight Connector 1063">
            <a:extLst>
              <a:ext uri="{FF2B5EF4-FFF2-40B4-BE49-F238E27FC236}">
                <a16:creationId xmlns:a16="http://schemas.microsoft.com/office/drawing/2014/main" id="{78B64ECB-E742-47C6-9FAE-599DEDB7E7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3983623"/>
            <a:ext cx="0" cy="429768"/>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66" name="Straight Connector 1065">
            <a:extLst>
              <a:ext uri="{FF2B5EF4-FFF2-40B4-BE49-F238E27FC236}">
                <a16:creationId xmlns:a16="http://schemas.microsoft.com/office/drawing/2014/main" id="{A6BFBB21-8CA8-4010-8FFE-39BBAD5B98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4411199"/>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0140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7E85-1368-BAB3-22BC-A4187926EB82}"/>
              </a:ext>
            </a:extLst>
          </p:cNvPr>
          <p:cNvSpPr>
            <a:spLocks noGrp="1"/>
          </p:cNvSpPr>
          <p:nvPr>
            <p:ph type="title"/>
          </p:nvPr>
        </p:nvSpPr>
        <p:spPr>
          <a:xfrm>
            <a:off x="474785" y="236171"/>
            <a:ext cx="10515600" cy="1325563"/>
          </a:xfrm>
        </p:spPr>
        <p:txBody>
          <a:bodyPr>
            <a:normAutofit/>
          </a:bodyPr>
          <a:lstStyle/>
          <a:p>
            <a:r>
              <a:rPr lang="en-US" sz="3200" b="1" dirty="0">
                <a:solidFill>
                  <a:srgbClr val="254061"/>
                </a:solidFill>
                <a:latin typeface="Candara" panose="020E0502030303020204" pitchFamily="34" charset="0"/>
                <a:ea typeface="+mn-ea"/>
                <a:cs typeface="+mn-cs"/>
              </a:rPr>
              <a:t>Graham and Jessica’s Individual Lives</a:t>
            </a:r>
          </a:p>
        </p:txBody>
      </p:sp>
      <p:pic>
        <p:nvPicPr>
          <p:cNvPr id="5" name="Online Media 4" title="SEEC: Community Engagement">
            <a:hlinkClick r:id="" action="ppaction://media"/>
            <a:extLst>
              <a:ext uri="{FF2B5EF4-FFF2-40B4-BE49-F238E27FC236}">
                <a16:creationId xmlns:a16="http://schemas.microsoft.com/office/drawing/2014/main" id="{35DCB726-E1AB-14F1-3063-08D399993B49}"/>
              </a:ext>
            </a:extLst>
          </p:cNvPr>
          <p:cNvPicPr>
            <a:picLocks noGrp="1" noRot="1" noChangeAspect="1"/>
          </p:cNvPicPr>
          <p:nvPr>
            <p:ph idx="1"/>
            <a:videoFile r:link="rId1"/>
          </p:nvPr>
        </p:nvPicPr>
        <p:blipFill>
          <a:blip r:embed="rId4"/>
          <a:stretch>
            <a:fillRect/>
          </a:stretch>
        </p:blipFill>
        <p:spPr>
          <a:xfrm>
            <a:off x="1743393" y="1701109"/>
            <a:ext cx="8238807" cy="4655241"/>
          </a:xfrm>
          <a:prstGeom prst="rect">
            <a:avLst/>
          </a:prstGeom>
        </p:spPr>
      </p:pic>
      <p:sp>
        <p:nvSpPr>
          <p:cNvPr id="4" name="Slide Number Placeholder 3">
            <a:extLst>
              <a:ext uri="{FF2B5EF4-FFF2-40B4-BE49-F238E27FC236}">
                <a16:creationId xmlns:a16="http://schemas.microsoft.com/office/drawing/2014/main" id="{67C59CD7-5625-1F3F-1CB2-E4C48C37D0B8}"/>
              </a:ext>
            </a:extLst>
          </p:cNvPr>
          <p:cNvSpPr>
            <a:spLocks noGrp="1"/>
          </p:cNvSpPr>
          <p:nvPr>
            <p:ph type="sldNum" sz="quarter" idx="12"/>
          </p:nvPr>
        </p:nvSpPr>
        <p:spPr/>
        <p:txBody>
          <a:bodyPr/>
          <a:lstStyle/>
          <a:p>
            <a:fld id="{FAEF9944-A4F6-4C59-AEBD-678D6480B8EA}" type="slidenum">
              <a:rPr lang="en-US" smtClean="0"/>
              <a:t>15</a:t>
            </a:fld>
            <a:endParaRPr lang="en-US" dirty="0"/>
          </a:p>
        </p:txBody>
      </p:sp>
    </p:spTree>
    <p:extLst>
      <p:ext uri="{BB962C8B-B14F-4D97-AF65-F5344CB8AC3E}">
        <p14:creationId xmlns:p14="http://schemas.microsoft.com/office/powerpoint/2010/main" val="193641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123067-3C67-AEAD-186A-CD14F76C2059}"/>
              </a:ext>
            </a:extLst>
          </p:cNvPr>
          <p:cNvSpPr>
            <a:spLocks noGrp="1"/>
          </p:cNvSpPr>
          <p:nvPr>
            <p:ph type="title"/>
          </p:nvPr>
        </p:nvSpPr>
        <p:spPr/>
        <p:txBody>
          <a:bodyPr>
            <a:normAutofit fontScale="90000"/>
          </a:bodyPr>
          <a:lstStyle/>
          <a:p>
            <a:pPr algn="ctr"/>
            <a:r>
              <a:rPr lang="en-US"/>
              <a:t>Get Curious </a:t>
            </a:r>
            <a:br>
              <a:rPr lang="en-US"/>
            </a:br>
            <a:r>
              <a:rPr lang="en-US"/>
              <a:t>Some Good Opening Questions</a:t>
            </a:r>
          </a:p>
        </p:txBody>
      </p:sp>
      <p:sp>
        <p:nvSpPr>
          <p:cNvPr id="8" name="Content Placeholder 7">
            <a:extLst>
              <a:ext uri="{FF2B5EF4-FFF2-40B4-BE49-F238E27FC236}">
                <a16:creationId xmlns:a16="http://schemas.microsoft.com/office/drawing/2014/main" id="{A6C5CB82-3267-6E46-0946-BC606257E998}"/>
              </a:ext>
            </a:extLst>
          </p:cNvPr>
          <p:cNvSpPr>
            <a:spLocks noGrp="1"/>
          </p:cNvSpPr>
          <p:nvPr>
            <p:ph sz="half" idx="1"/>
          </p:nvPr>
        </p:nvSpPr>
        <p:spPr>
          <a:xfrm>
            <a:off x="1066800" y="2103120"/>
            <a:ext cx="5303520" cy="3749040"/>
          </a:xfrm>
        </p:spPr>
        <p:txBody>
          <a:bodyPr>
            <a:normAutofit/>
          </a:bodyPr>
          <a:lstStyle/>
          <a:p>
            <a:r>
              <a:rPr lang="en-US" sz="2000"/>
              <a:t>What is their sport?</a:t>
            </a:r>
          </a:p>
          <a:p>
            <a:r>
              <a:rPr lang="en-US" sz="2000"/>
              <a:t>Who are their players?</a:t>
            </a:r>
          </a:p>
          <a:p>
            <a:r>
              <a:rPr lang="en-US" sz="2000"/>
              <a:t>What is their preferred spiritual practice?</a:t>
            </a:r>
          </a:p>
          <a:p>
            <a:r>
              <a:rPr lang="en-US" sz="2000"/>
              <a:t>Or do they even have one?</a:t>
            </a:r>
          </a:p>
          <a:p>
            <a:r>
              <a:rPr lang="en-US" sz="2000"/>
              <a:t>What are their routines they like? Or Want?</a:t>
            </a:r>
          </a:p>
          <a:p>
            <a:r>
              <a:rPr lang="en-US" sz="2000"/>
              <a:t>Who is in their clan? What do they prefer to be called?</a:t>
            </a:r>
          </a:p>
          <a:p>
            <a:endParaRPr lang="en-US"/>
          </a:p>
        </p:txBody>
      </p:sp>
      <p:sp>
        <p:nvSpPr>
          <p:cNvPr id="9" name="Content Placeholder 8">
            <a:extLst>
              <a:ext uri="{FF2B5EF4-FFF2-40B4-BE49-F238E27FC236}">
                <a16:creationId xmlns:a16="http://schemas.microsoft.com/office/drawing/2014/main" id="{9BDC4C3E-27B4-3FB2-C55F-79C12D6C1F0D}"/>
              </a:ext>
            </a:extLst>
          </p:cNvPr>
          <p:cNvSpPr>
            <a:spLocks noGrp="1"/>
          </p:cNvSpPr>
          <p:nvPr>
            <p:ph sz="half" idx="2"/>
          </p:nvPr>
        </p:nvSpPr>
        <p:spPr/>
        <p:txBody>
          <a:bodyPr>
            <a:normAutofit/>
          </a:bodyPr>
          <a:lstStyle/>
          <a:p>
            <a:r>
              <a:rPr lang="en-US" sz="2000"/>
              <a:t>Do they like video games</a:t>
            </a:r>
          </a:p>
          <a:p>
            <a:r>
              <a:rPr lang="en-US" sz="2000"/>
              <a:t>Do they want a partner, what do they look for in a partner?</a:t>
            </a:r>
          </a:p>
          <a:p>
            <a:r>
              <a:rPr lang="en-US" sz="2000"/>
              <a:t>What type of birthday cake to they like</a:t>
            </a:r>
          </a:p>
          <a:p>
            <a:r>
              <a:rPr lang="en-US" sz="2000"/>
              <a:t>What is their dream vacation?</a:t>
            </a:r>
          </a:p>
          <a:p>
            <a:r>
              <a:rPr lang="en-US" sz="2000"/>
              <a:t>Who is their crush? What is their favorite color (not the color they wear, or their room, maybe they didn't choose</a:t>
            </a:r>
            <a:r>
              <a:rPr lang="en-US"/>
              <a:t>)</a:t>
            </a:r>
          </a:p>
          <a:p>
            <a:endParaRPr lang="en-US"/>
          </a:p>
          <a:p>
            <a:endParaRPr lang="en-US"/>
          </a:p>
        </p:txBody>
      </p:sp>
    </p:spTree>
    <p:extLst>
      <p:ext uri="{BB962C8B-B14F-4D97-AF65-F5344CB8AC3E}">
        <p14:creationId xmlns:p14="http://schemas.microsoft.com/office/powerpoint/2010/main" val="1170434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E968-9AD8-CD4C-6E8C-9F7F0A91BCC0}"/>
              </a:ext>
            </a:extLst>
          </p:cNvPr>
          <p:cNvSpPr>
            <a:spLocks noGrp="1"/>
          </p:cNvSpPr>
          <p:nvPr>
            <p:ph type="title"/>
          </p:nvPr>
        </p:nvSpPr>
        <p:spPr>
          <a:xfrm>
            <a:off x="6328943" y="511494"/>
            <a:ext cx="5153574" cy="1310483"/>
          </a:xfrm>
        </p:spPr>
        <p:txBody>
          <a:bodyPr vert="horz" lIns="91440" tIns="45720" rIns="91440" bIns="45720" rtlCol="0" anchor="t">
            <a:normAutofit/>
          </a:bodyPr>
          <a:lstStyle/>
          <a:p>
            <a:pPr defTabSz="914400"/>
            <a:r>
              <a:rPr lang="en-US" sz="4000" kern="1200">
                <a:solidFill>
                  <a:schemeClr val="tx2"/>
                </a:solidFill>
                <a:latin typeface="+mj-lt"/>
                <a:ea typeface="+mj-ea"/>
                <a:cs typeface="+mj-cs"/>
              </a:rPr>
              <a:t>Poll Question #</a:t>
            </a:r>
            <a:r>
              <a:rPr lang="en-US" sz="4000">
                <a:solidFill>
                  <a:schemeClr val="tx2"/>
                </a:solidFill>
              </a:rPr>
              <a:t>1</a:t>
            </a:r>
            <a:br>
              <a:rPr lang="en-US" sz="4000">
                <a:solidFill>
                  <a:schemeClr val="tx2"/>
                </a:solidFill>
              </a:rPr>
            </a:br>
            <a:r>
              <a:rPr lang="en-US" sz="1400">
                <a:solidFill>
                  <a:schemeClr val="tx2"/>
                </a:solidFill>
                <a:ea typeface="Calibri Light"/>
                <a:cs typeface="Calibri Light"/>
              </a:rPr>
              <a:t>(from fidelity scale)</a:t>
            </a:r>
            <a:endParaRPr lang="en-US" sz="1400" kern="1200">
              <a:solidFill>
                <a:schemeClr val="tx2"/>
              </a:solidFill>
              <a:latin typeface="+mj-lt"/>
              <a:ea typeface="Calibri Light"/>
              <a:cs typeface="Calibri Light"/>
            </a:endParaRPr>
          </a:p>
        </p:txBody>
      </p:sp>
      <p:pic>
        <p:nvPicPr>
          <p:cNvPr id="8" name="Graphic 7" descr="Questions">
            <a:extLst>
              <a:ext uri="{FF2B5EF4-FFF2-40B4-BE49-F238E27FC236}">
                <a16:creationId xmlns:a16="http://schemas.microsoft.com/office/drawing/2014/main" id="{AF99AD10-6E5E-E5E5-7888-A2F3F1DA66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4" name="Slide Number Placeholder 3">
            <a:extLst>
              <a:ext uri="{FF2B5EF4-FFF2-40B4-BE49-F238E27FC236}">
                <a16:creationId xmlns:a16="http://schemas.microsoft.com/office/drawing/2014/main" id="{A28A9862-7170-5252-E7E6-8C6DB5786B1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15FAA45-AC5B-014B-9F74-53D558B73BE0}" type="slidenum">
              <a:rPr lang="en-US" sz="1200" smtClean="0"/>
              <a:pPr>
                <a:spcAft>
                  <a:spcPts val="600"/>
                </a:spcAft>
              </a:pPr>
              <a:t>17</a:t>
            </a:fld>
            <a:endParaRPr lang="en-US" sz="1200"/>
          </a:p>
        </p:txBody>
      </p:sp>
      <p:sp>
        <p:nvSpPr>
          <p:cNvPr id="5" name="TextBox 4">
            <a:extLst>
              <a:ext uri="{FF2B5EF4-FFF2-40B4-BE49-F238E27FC236}">
                <a16:creationId xmlns:a16="http://schemas.microsoft.com/office/drawing/2014/main" id="{24E1BD98-1393-C1A9-8B1F-2117A3979EA8}"/>
              </a:ext>
            </a:extLst>
          </p:cNvPr>
          <p:cNvSpPr txBox="1"/>
          <p:nvPr/>
        </p:nvSpPr>
        <p:spPr>
          <a:xfrm>
            <a:off x="6407238" y="1856703"/>
            <a:ext cx="516228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My organization provides training to staff in person-centered planning and/or thinking approaches?</a:t>
            </a:r>
          </a:p>
          <a:p>
            <a:endParaRPr lang="en-US">
              <a:ea typeface="Calibri"/>
              <a:cs typeface="Calibri"/>
            </a:endParaRPr>
          </a:p>
          <a:p>
            <a:r>
              <a:rPr lang="en-US">
                <a:ea typeface="Calibri"/>
                <a:cs typeface="Calibri"/>
              </a:rPr>
              <a:t>1 Strongly Disagree</a:t>
            </a:r>
          </a:p>
          <a:p>
            <a:endParaRPr lang="en-US">
              <a:ea typeface="Calibri"/>
              <a:cs typeface="Calibri"/>
            </a:endParaRPr>
          </a:p>
          <a:p>
            <a:r>
              <a:rPr lang="en-US">
                <a:ea typeface="Calibri"/>
                <a:cs typeface="Calibri"/>
              </a:rPr>
              <a:t>2 Disagree</a:t>
            </a:r>
          </a:p>
          <a:p>
            <a:endParaRPr lang="en-US">
              <a:ea typeface="Calibri"/>
              <a:cs typeface="Calibri"/>
            </a:endParaRPr>
          </a:p>
          <a:p>
            <a:r>
              <a:rPr lang="en-US">
                <a:ea typeface="Calibri"/>
                <a:cs typeface="Calibri"/>
              </a:rPr>
              <a:t>3 Neither Disagree nor Agree</a:t>
            </a:r>
          </a:p>
          <a:p>
            <a:endParaRPr lang="en-US">
              <a:ea typeface="Calibri"/>
              <a:cs typeface="Calibri"/>
            </a:endParaRPr>
          </a:p>
          <a:p>
            <a:r>
              <a:rPr lang="en-US">
                <a:ea typeface="Calibri"/>
                <a:cs typeface="Calibri"/>
              </a:rPr>
              <a:t>4 Agree</a:t>
            </a:r>
          </a:p>
          <a:p>
            <a:endParaRPr lang="en-US">
              <a:ea typeface="Calibri"/>
              <a:cs typeface="Calibri"/>
            </a:endParaRPr>
          </a:p>
          <a:p>
            <a:r>
              <a:rPr lang="en-US">
                <a:ea typeface="Calibri"/>
                <a:cs typeface="Calibri"/>
              </a:rPr>
              <a:t>5 Strongly Agree </a:t>
            </a:r>
          </a:p>
        </p:txBody>
      </p:sp>
    </p:spTree>
    <p:extLst>
      <p:ext uri="{BB962C8B-B14F-4D97-AF65-F5344CB8AC3E}">
        <p14:creationId xmlns:p14="http://schemas.microsoft.com/office/powerpoint/2010/main" val="279668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6E12-F28F-3C15-39CD-48D064DAE362}"/>
              </a:ext>
            </a:extLst>
          </p:cNvPr>
          <p:cNvSpPr>
            <a:spLocks noGrp="1"/>
          </p:cNvSpPr>
          <p:nvPr>
            <p:ph type="title"/>
          </p:nvPr>
        </p:nvSpPr>
        <p:spPr>
          <a:xfrm>
            <a:off x="6579450" y="727626"/>
            <a:ext cx="5369525" cy="2539556"/>
          </a:xfrm>
        </p:spPr>
        <p:txBody>
          <a:bodyPr>
            <a:noAutofit/>
          </a:bodyPr>
          <a:lstStyle/>
          <a:p>
            <a:r>
              <a:rPr lang="en-US" sz="2400">
                <a:effectLst/>
              </a:rPr>
              <a:t>Engagement in the life of one’s community must go beyond simply being physically present in the community to being an active and included member. Ensuring that supports promote community membership and contribution requires</a:t>
            </a:r>
            <a:endParaRPr lang="en-US" sz="2400"/>
          </a:p>
        </p:txBody>
      </p:sp>
      <p:sp useBgFill="1">
        <p:nvSpPr>
          <p:cNvPr id="10" name="Rectangle 9">
            <a:extLst>
              <a:ext uri="{FF2B5EF4-FFF2-40B4-BE49-F238E27FC236}">
                <a16:creationId xmlns:a16="http://schemas.microsoft.com/office/drawing/2014/main" id="{4E1605C1-ED2D-4AAA-BD9C-24B82055F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63443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DFA4F8-B856-483B-85AE-5CDF5A5F13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3024" y="253548"/>
            <a:ext cx="5851795" cy="6384816"/>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4" name="Rectangle 13">
            <a:extLst>
              <a:ext uri="{FF2B5EF4-FFF2-40B4-BE49-F238E27FC236}">
                <a16:creationId xmlns:a16="http://schemas.microsoft.com/office/drawing/2014/main" id="{6FC9FCC7-29B1-433A-AC58-FEAE48D84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chemeClr val="tx1">
                <a:lumMod val="75000"/>
                <a:lumOff val="25000"/>
              </a:schemeClr>
            </a:solidFill>
            <a:prstDash val="solid"/>
            <a:miter lim="800000"/>
          </a:ln>
          <a:effectLst/>
        </p:spPr>
      </p:sp>
      <p:pic>
        <p:nvPicPr>
          <p:cNvPr id="5" name="Picture 4" descr="Diagram&#10;&#10;Description automatically generated">
            <a:extLst>
              <a:ext uri="{FF2B5EF4-FFF2-40B4-BE49-F238E27FC236}">
                <a16:creationId xmlns:a16="http://schemas.microsoft.com/office/drawing/2014/main" id="{1DFAA43A-7268-D88E-0DDF-8D5CAAA4A955}"/>
              </a:ext>
            </a:extLst>
          </p:cNvPr>
          <p:cNvPicPr>
            <a:picLocks noChangeAspect="1"/>
          </p:cNvPicPr>
          <p:nvPr/>
        </p:nvPicPr>
        <p:blipFill rotWithShape="1">
          <a:blip r:embed="rId3">
            <a:extLst>
              <a:ext uri="{28A0092B-C50C-407E-A947-70E740481C1C}">
                <a14:useLocalDpi xmlns:a14="http://schemas.microsoft.com/office/drawing/2010/main" val="0"/>
              </a:ext>
            </a:extLst>
          </a:blip>
          <a:srcRect l="50358" r="7382" b="50972"/>
          <a:stretch/>
        </p:blipFill>
        <p:spPr bwMode="auto">
          <a:xfrm>
            <a:off x="882713" y="971287"/>
            <a:ext cx="4572418" cy="4959890"/>
          </a:xfrm>
          <a:prstGeom prst="rect">
            <a:avLst/>
          </a:prstGeom>
          <a:noFill/>
          <a:extLst>
            <a:ext uri="{53640926-AAD7-44D8-BBD7-CCE9431645EC}">
              <a14:shadowObscured xmlns:a14="http://schemas.microsoft.com/office/drawing/2010/main"/>
            </a:ext>
          </a:extLst>
        </p:spPr>
      </p:pic>
      <p:sp>
        <p:nvSpPr>
          <p:cNvPr id="3" name="Content Placeholder 2">
            <a:extLst>
              <a:ext uri="{FF2B5EF4-FFF2-40B4-BE49-F238E27FC236}">
                <a16:creationId xmlns:a16="http://schemas.microsoft.com/office/drawing/2014/main" id="{F15E8C4B-5B55-934D-0D2B-F36504C37A64}"/>
              </a:ext>
            </a:extLst>
          </p:cNvPr>
          <p:cNvSpPr>
            <a:spLocks noGrp="1"/>
          </p:cNvSpPr>
          <p:nvPr>
            <p:ph idx="1"/>
          </p:nvPr>
        </p:nvSpPr>
        <p:spPr>
          <a:xfrm>
            <a:off x="6827065" y="3837109"/>
            <a:ext cx="4602152" cy="2252168"/>
          </a:xfrm>
        </p:spPr>
        <p:txBody>
          <a:bodyPr vert="horz" lIns="91440" tIns="45720" rIns="91440" bIns="45720" rtlCol="0" anchor="t">
            <a:normAutofit fontScale="92500" lnSpcReduction="10000"/>
          </a:bodyPr>
          <a:lstStyle/>
          <a:p>
            <a:r>
              <a:rPr lang="en-US" sz="2400" dirty="0"/>
              <a:t>Start with an inclusive setting</a:t>
            </a:r>
          </a:p>
          <a:p>
            <a:r>
              <a:rPr lang="en-US" sz="2400" dirty="0"/>
              <a:t>Ensure staff presence doesn’t limit connection with the community</a:t>
            </a:r>
          </a:p>
          <a:p>
            <a:r>
              <a:rPr lang="en-US" sz="2400" dirty="0"/>
              <a:t>Not just presence but membership</a:t>
            </a:r>
          </a:p>
          <a:p>
            <a:endParaRPr lang="en-US"/>
          </a:p>
        </p:txBody>
      </p:sp>
    </p:spTree>
    <p:extLst>
      <p:ext uri="{BB962C8B-B14F-4D97-AF65-F5344CB8AC3E}">
        <p14:creationId xmlns:p14="http://schemas.microsoft.com/office/powerpoint/2010/main" val="3363857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1" y="265175"/>
            <a:ext cx="9771764" cy="1143000"/>
          </a:xfrm>
        </p:spPr>
        <p:txBody>
          <a:bodyPr wrap="square" anchor="ctr">
            <a:normAutofit/>
          </a:bodyPr>
          <a:lstStyle/>
          <a:p>
            <a:pPr>
              <a:lnSpc>
                <a:spcPct val="90000"/>
              </a:lnSpc>
            </a:pPr>
            <a:r>
              <a:rPr lang="en-US" sz="3200" b="1" dirty="0">
                <a:solidFill>
                  <a:srgbClr val="254061"/>
                </a:solidFill>
                <a:latin typeface="Candara" panose="020E0502030303020204" pitchFamily="34" charset="0"/>
                <a:ea typeface="+mn-ea"/>
                <a:cs typeface="+mn-cs"/>
              </a:rPr>
              <a:t>Guidepost 2: Promote community membership and contribution </a:t>
            </a:r>
          </a:p>
        </p:txBody>
      </p:sp>
      <p:sp>
        <p:nvSpPr>
          <p:cNvPr id="5" name="Content Placeholder 4">
            <a:extLst>
              <a:ext uri="{FF2B5EF4-FFF2-40B4-BE49-F238E27FC236}">
                <a16:creationId xmlns:a16="http://schemas.microsoft.com/office/drawing/2014/main" id="{D98E9EF3-8AA0-1CB3-206C-C91CB94926FA}"/>
              </a:ext>
            </a:extLst>
          </p:cNvPr>
          <p:cNvSpPr>
            <a:spLocks noGrp="1"/>
          </p:cNvSpPr>
          <p:nvPr>
            <p:ph sz="half" idx="1"/>
          </p:nvPr>
        </p:nvSpPr>
        <p:spPr/>
        <p:txBody>
          <a:bodyPr/>
          <a:lstStyle/>
          <a:p>
            <a:endParaRPr lang="en-US"/>
          </a:p>
        </p:txBody>
      </p:sp>
      <p:sp>
        <p:nvSpPr>
          <p:cNvPr id="4" name="Slide Number Placeholder 3" hidden="1"/>
          <p:cNvSpPr>
            <a:spLocks noGrp="1"/>
          </p:cNvSpPr>
          <p:nvPr>
            <p:ph type="sldNum" sz="quarter" idx="12"/>
          </p:nvPr>
        </p:nvSpPr>
        <p:spPr>
          <a:prstGeom prst="rect">
            <a:avLst/>
          </a:prstGeom>
        </p:spPr>
        <p:txBody>
          <a:bodyPr vert="horz" wrap="square" lIns="91440" tIns="45720" rIns="91440" bIns="45720" numCol="1" anchor="ctr" anchorCtr="0" compatLnSpc="1">
            <a:prstTxWarp prst="textNoShape">
              <a:avLst/>
            </a:prstTxWarp>
          </a:bodyPr>
          <a:lstStyle>
            <a:defPPr>
              <a:defRPr lang="en-US"/>
            </a:defPPr>
            <a:lvl1pPr algn="r" rtl="0" eaLnBrk="0" fontAlgn="base" hangingPunct="0">
              <a:spcBef>
                <a:spcPct val="0"/>
              </a:spcBef>
              <a:spcAft>
                <a:spcPct val="0"/>
              </a:spcAft>
              <a:defRPr sz="1200" kern="1200">
                <a:solidFill>
                  <a:srgbClr val="898989"/>
                </a:solidFill>
                <a:latin typeface="Arial" charset="0"/>
                <a:ea typeface="ヒラギノ角ゴ Pro W3" charset="0"/>
                <a:cs typeface="ヒラギノ角ゴ Pro W3" charset="0"/>
              </a:defRPr>
            </a:lvl1pPr>
            <a:lvl2pPr marL="4572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2pPr>
            <a:lvl3pPr marL="9144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sz="2000" kern="1200">
                <a:solidFill>
                  <a:schemeClr val="tx1"/>
                </a:solidFill>
                <a:latin typeface="Arial" charset="0"/>
                <a:ea typeface="ヒラギノ角ゴ Pro W3" charset="0"/>
                <a:cs typeface="ヒラギノ角ゴ Pro W3" charset="0"/>
              </a:defRPr>
            </a:lvl6pPr>
            <a:lvl7pPr marL="2743200" algn="l" defTabSz="457200" rtl="0" eaLnBrk="1" latinLnBrk="0" hangingPunct="1">
              <a:defRPr sz="2000" kern="1200">
                <a:solidFill>
                  <a:schemeClr val="tx1"/>
                </a:solidFill>
                <a:latin typeface="Arial" charset="0"/>
                <a:ea typeface="ヒラギノ角ゴ Pro W3" charset="0"/>
                <a:cs typeface="ヒラギノ角ゴ Pro W3" charset="0"/>
              </a:defRPr>
            </a:lvl7pPr>
            <a:lvl8pPr marL="3200400" algn="l" defTabSz="457200" rtl="0" eaLnBrk="1" latinLnBrk="0" hangingPunct="1">
              <a:defRPr sz="2000" kern="1200">
                <a:solidFill>
                  <a:schemeClr val="tx1"/>
                </a:solidFill>
                <a:latin typeface="Arial" charset="0"/>
                <a:ea typeface="ヒラギノ角ゴ Pro W3" charset="0"/>
                <a:cs typeface="ヒラギノ角ゴ Pro W3" charset="0"/>
              </a:defRPr>
            </a:lvl8pPr>
            <a:lvl9pPr marL="3657600" algn="l" defTabSz="457200" rtl="0" eaLnBrk="1" latinLnBrk="0" hangingPunct="1">
              <a:defRPr sz="2000" kern="1200">
                <a:solidFill>
                  <a:schemeClr val="tx1"/>
                </a:solidFill>
                <a:latin typeface="Arial" charset="0"/>
                <a:ea typeface="ヒラギノ角ゴ Pro W3" charset="0"/>
                <a:cs typeface="ヒラギノ角ゴ Pro W3" charset="0"/>
              </a:defRPr>
            </a:lvl9pPr>
          </a:lstStyle>
          <a:p>
            <a:pPr>
              <a:spcAft>
                <a:spcPts val="600"/>
              </a:spcAft>
            </a:pPr>
            <a:fld id="{A518ECD4-D09A-904E-A564-1221085D9D8B}" type="slidenum">
              <a:rPr lang="en-US" smtClean="0"/>
              <a:pPr>
                <a:spcAft>
                  <a:spcPts val="600"/>
                </a:spcAft>
              </a:pPr>
              <a:t>19</a:t>
            </a:fld>
            <a:endParaRPr lang="en-US"/>
          </a:p>
        </p:txBody>
      </p:sp>
      <p:sp>
        <p:nvSpPr>
          <p:cNvPr id="8" name="TextBox 7">
            <a:extLst>
              <a:ext uri="{FF2B5EF4-FFF2-40B4-BE49-F238E27FC236}">
                <a16:creationId xmlns:a16="http://schemas.microsoft.com/office/drawing/2014/main" id="{6B2E85D2-AC00-BF4E-8515-EDE96AF817BC}"/>
              </a:ext>
            </a:extLst>
          </p:cNvPr>
          <p:cNvSpPr txBox="1"/>
          <p:nvPr/>
        </p:nvSpPr>
        <p:spPr>
          <a:xfrm>
            <a:off x="1676400" y="5562600"/>
            <a:ext cx="1508746" cy="400110"/>
          </a:xfrm>
          <a:prstGeom prst="rect">
            <a:avLst/>
          </a:prstGeom>
          <a:noFill/>
        </p:spPr>
        <p:txBody>
          <a:bodyPr wrap="none" rtlCol="0">
            <a:spAutoFit/>
          </a:bodyPr>
          <a:lstStyle/>
          <a:p>
            <a:r>
              <a:rPr lang="en-US"/>
              <a:t>From this…</a:t>
            </a:r>
          </a:p>
        </p:txBody>
      </p:sp>
      <p:pic>
        <p:nvPicPr>
          <p:cNvPr id="3" name="Picture 4" descr="ICI 4 color logo with text">
            <a:extLst>
              <a:ext uri="{FF2B5EF4-FFF2-40B4-BE49-F238E27FC236}">
                <a16:creationId xmlns:a16="http://schemas.microsoft.com/office/drawing/2014/main" id="{68B94C14-B88E-7100-AB67-8183F473327E}"/>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839200" y="6136695"/>
            <a:ext cx="1642012" cy="706065"/>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a:extLst>
              <a:ext uri="{FF2B5EF4-FFF2-40B4-BE49-F238E27FC236}">
                <a16:creationId xmlns:a16="http://schemas.microsoft.com/office/drawing/2014/main" id="{265A9FB0-8E54-531B-2D4F-22415CB89794}"/>
              </a:ext>
            </a:extLst>
          </p:cNvPr>
          <p:cNvSpPr/>
          <p:nvPr/>
        </p:nvSpPr>
        <p:spPr>
          <a:xfrm>
            <a:off x="5791200" y="3520282"/>
            <a:ext cx="609602"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F2E8B87-5EDD-6849-CA9C-E81F80B9E5EA}"/>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l="22386" t="5123" r="24248" b="21438"/>
          <a:stretch/>
        </p:blipFill>
        <p:spPr>
          <a:xfrm>
            <a:off x="635706" y="1611108"/>
            <a:ext cx="4926894" cy="4525587"/>
          </a:xfrm>
          <a:prstGeom prst="rect">
            <a:avLst/>
          </a:prstGeom>
          <a:noFill/>
        </p:spPr>
      </p:pic>
      <p:pic>
        <p:nvPicPr>
          <p:cNvPr id="13" name="Content Placeholder 12">
            <a:extLst>
              <a:ext uri="{FF2B5EF4-FFF2-40B4-BE49-F238E27FC236}">
                <a16:creationId xmlns:a16="http://schemas.microsoft.com/office/drawing/2014/main" id="{6D0BE122-FD3A-D201-072F-BFB20A66A28A}"/>
              </a:ext>
            </a:extLst>
          </p:cNvPr>
          <p:cNvPicPr>
            <a:picLocks noGrp="1" noChangeAspect="1"/>
          </p:cNvPicPr>
          <p:nvPr>
            <p:ph sz="half" idx="2"/>
          </p:nvPr>
        </p:nvPicPr>
        <p:blipFill rotWithShape="1">
          <a:blip r:embed="rId5"/>
          <a:srcRect l="15623" r="26269" b="21881"/>
          <a:stretch/>
        </p:blipFill>
        <p:spPr>
          <a:xfrm>
            <a:off x="6587528" y="1613736"/>
            <a:ext cx="5384800" cy="4536584"/>
          </a:xfrm>
          <a:prstGeom prst="rect">
            <a:avLst/>
          </a:prstGeom>
          <a:noFill/>
        </p:spPr>
      </p:pic>
    </p:spTree>
    <p:extLst>
      <p:ext uri="{BB962C8B-B14F-4D97-AF65-F5344CB8AC3E}">
        <p14:creationId xmlns:p14="http://schemas.microsoft.com/office/powerpoint/2010/main" val="1417709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effectLst/>
      </p:bgPr>
    </p:bg>
    <p:spTree>
      <p:nvGrpSpPr>
        <p:cNvPr id="1" name=""/>
        <p:cNvGrpSpPr/>
        <p:nvPr/>
      </p:nvGrpSpPr>
      <p:grpSpPr>
        <a:xfrm>
          <a:off x="0" y="0"/>
          <a:ext cx="0" cy="0"/>
          <a:chOff x="0" y="0"/>
          <a:chExt cx="0" cy="0"/>
        </a:xfrm>
      </p:grpSpPr>
      <p:sp>
        <p:nvSpPr>
          <p:cNvPr id="1118" name="Rectangle 1086">
            <a:extLst>
              <a:ext uri="{FF2B5EF4-FFF2-40B4-BE49-F238E27FC236}">
                <a16:creationId xmlns:a16="http://schemas.microsoft.com/office/drawing/2014/main" id="{61877CC4-D40F-4AA7-9918-B650DE6DC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19" name="Rectangle 1088">
            <a:extLst>
              <a:ext uri="{FF2B5EF4-FFF2-40B4-BE49-F238E27FC236}">
                <a16:creationId xmlns:a16="http://schemas.microsoft.com/office/drawing/2014/main" id="{27AA3049-D42F-46F6-856C-F9B8925E6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20" name="Rectangle 1090">
            <a:extLst>
              <a:ext uri="{FF2B5EF4-FFF2-40B4-BE49-F238E27FC236}">
                <a16:creationId xmlns:a16="http://schemas.microsoft.com/office/drawing/2014/main" id="{FEC7C2A9-C77C-442E-800B-313E0D3F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121" name="Rectangle 1092">
            <a:extLst>
              <a:ext uri="{FF2B5EF4-FFF2-40B4-BE49-F238E27FC236}">
                <a16:creationId xmlns:a16="http://schemas.microsoft.com/office/drawing/2014/main" id="{007B62E5-5E62-4CB8-AFD5-1B59D2B62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22" name="Group 1094">
            <a:extLst>
              <a:ext uri="{FF2B5EF4-FFF2-40B4-BE49-F238E27FC236}">
                <a16:creationId xmlns:a16="http://schemas.microsoft.com/office/drawing/2014/main" id="{99BCEFE9-2CB0-4D92-9EAF-2AD0F6B8F5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1096" name="Straight Connector 1095">
              <a:extLst>
                <a:ext uri="{FF2B5EF4-FFF2-40B4-BE49-F238E27FC236}">
                  <a16:creationId xmlns:a16="http://schemas.microsoft.com/office/drawing/2014/main" id="{F147C330-3181-415C-816F-4382214102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0F6163FB-E4BC-4359-ABB1-1FAA985798E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98" name="Straight Connector 1097">
              <a:extLst>
                <a:ext uri="{FF2B5EF4-FFF2-40B4-BE49-F238E27FC236}">
                  <a16:creationId xmlns:a16="http://schemas.microsoft.com/office/drawing/2014/main" id="{089531CE-7400-41BD-B67A-AAE15984D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123" name="Rectangle 1099">
            <a:extLst>
              <a:ext uri="{FF2B5EF4-FFF2-40B4-BE49-F238E27FC236}">
                <a16:creationId xmlns:a16="http://schemas.microsoft.com/office/drawing/2014/main" id="{3FDE5BFC-3EE4-424F-8B09-D39AB3D3E1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24" name="Rectangle 1101">
            <a:extLst>
              <a:ext uri="{FF2B5EF4-FFF2-40B4-BE49-F238E27FC236}">
                <a16:creationId xmlns:a16="http://schemas.microsoft.com/office/drawing/2014/main" id="{4F317600-94F1-41B1-99DA-15FD1DAA02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621793"/>
            <a:ext cx="10954512" cy="5614416"/>
          </a:xfrm>
          <a:prstGeom prst="rect">
            <a:avLst/>
          </a:prstGeom>
          <a:noFill/>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99934009-1810-7105-F574-A32E371099A7}"/>
              </a:ext>
            </a:extLst>
          </p:cNvPr>
          <p:cNvSpPr>
            <a:spLocks noGrp="1"/>
          </p:cNvSpPr>
          <p:nvPr>
            <p:ph type="title"/>
          </p:nvPr>
        </p:nvSpPr>
        <p:spPr>
          <a:xfrm>
            <a:off x="1241170" y="4417889"/>
            <a:ext cx="9732773" cy="1614992"/>
          </a:xfrm>
        </p:spPr>
        <p:txBody>
          <a:bodyPr vert="horz" lIns="91440" tIns="45720" rIns="91440" bIns="45720" rtlCol="0" anchor="ctr">
            <a:normAutofit/>
          </a:bodyPr>
          <a:lstStyle/>
          <a:p>
            <a:pPr algn="ctr">
              <a:lnSpc>
                <a:spcPct val="83000"/>
              </a:lnSpc>
            </a:pPr>
            <a:r>
              <a:rPr lang="en-US" sz="3800" cap="all" spc="-100"/>
              <a:t>How can you tell the difference between membership and presence?</a:t>
            </a:r>
          </a:p>
        </p:txBody>
      </p:sp>
      <p:pic>
        <p:nvPicPr>
          <p:cNvPr id="1026" name="Picture 2" descr="BuddyUp Program — BATA">
            <a:extLst>
              <a:ext uri="{FF2B5EF4-FFF2-40B4-BE49-F238E27FC236}">
                <a16:creationId xmlns:a16="http://schemas.microsoft.com/office/drawing/2014/main" id="{C90A2D57-0792-BCF9-D1E8-3DEA02E7B9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099" r="2" b="34348"/>
          <a:stretch/>
        </p:blipFill>
        <p:spPr bwMode="auto">
          <a:xfrm>
            <a:off x="514132" y="567992"/>
            <a:ext cx="5739742" cy="29938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ibrary Partners with DC West Family Facilitator and Preschool - Valley  Public Library">
            <a:extLst>
              <a:ext uri="{FF2B5EF4-FFF2-40B4-BE49-F238E27FC236}">
                <a16:creationId xmlns:a16="http://schemas.microsoft.com/office/drawing/2014/main" id="{6E3D8A58-083E-485F-B436-07D0E87A844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825" r="-1" b="20526"/>
          <a:stretch/>
        </p:blipFill>
        <p:spPr bwMode="auto">
          <a:xfrm>
            <a:off x="6356481" y="617981"/>
            <a:ext cx="5214769" cy="2993899"/>
          </a:xfrm>
          <a:prstGeom prst="rect">
            <a:avLst/>
          </a:prstGeom>
          <a:noFill/>
          <a:extLst>
            <a:ext uri="{909E8E84-426E-40DD-AFC4-6F175D3DCCD1}">
              <a14:hiddenFill xmlns:a14="http://schemas.microsoft.com/office/drawing/2010/main">
                <a:solidFill>
                  <a:srgbClr val="FFFFFF"/>
                </a:solidFill>
              </a14:hiddenFill>
            </a:ext>
          </a:extLst>
        </p:spPr>
      </p:pic>
      <p:sp>
        <p:nvSpPr>
          <p:cNvPr id="1125" name="Rectangle 1103">
            <a:extLst>
              <a:ext uri="{FF2B5EF4-FFF2-40B4-BE49-F238E27FC236}">
                <a16:creationId xmlns:a16="http://schemas.microsoft.com/office/drawing/2014/main" id="{EA7CD68A-2602-4B93-9131-73F81CD1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446824"/>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26" name="Straight Connector 1105">
            <a:extLst>
              <a:ext uri="{FF2B5EF4-FFF2-40B4-BE49-F238E27FC236}">
                <a16:creationId xmlns:a16="http://schemas.microsoft.com/office/drawing/2014/main" id="{7E40A739-8874-4C84-A500-3D97532945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446823"/>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27" name="Straight Connector 1107">
            <a:extLst>
              <a:ext uri="{FF2B5EF4-FFF2-40B4-BE49-F238E27FC236}">
                <a16:creationId xmlns:a16="http://schemas.microsoft.com/office/drawing/2014/main" id="{E662589D-5C73-487A-B80E-8B2E9CEDF5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446823"/>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28" name="Straight Connector 1109">
            <a:extLst>
              <a:ext uri="{FF2B5EF4-FFF2-40B4-BE49-F238E27FC236}">
                <a16:creationId xmlns:a16="http://schemas.microsoft.com/office/drawing/2014/main" id="{804DD379-E4DD-4444-A6B0-B7634A0F2B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092118"/>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4674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08" name="Rectangle 3107">
            <a:extLst>
              <a:ext uri="{FF2B5EF4-FFF2-40B4-BE49-F238E27FC236}">
                <a16:creationId xmlns:a16="http://schemas.microsoft.com/office/drawing/2014/main" id="{3A8C6BC2-E9E2-4780-8A41-064073CD4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110" name="Rectangle 3109">
            <a:extLst>
              <a:ext uri="{FF2B5EF4-FFF2-40B4-BE49-F238E27FC236}">
                <a16:creationId xmlns:a16="http://schemas.microsoft.com/office/drawing/2014/main" id="{E70450CF-22E9-4B1D-B146-30FEE770C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3112" name="Rectangle 3111">
            <a:extLst>
              <a:ext uri="{FF2B5EF4-FFF2-40B4-BE49-F238E27FC236}">
                <a16:creationId xmlns:a16="http://schemas.microsoft.com/office/drawing/2014/main" id="{80238079-1F65-476A-BC6C-F2D3BD268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114" name="Rectangle 3113">
            <a:extLst>
              <a:ext uri="{FF2B5EF4-FFF2-40B4-BE49-F238E27FC236}">
                <a16:creationId xmlns:a16="http://schemas.microsoft.com/office/drawing/2014/main" id="{3740C935-D2D3-4F63-A4DA-CD768BB3F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16" name="Group 3115">
            <a:extLst>
              <a:ext uri="{FF2B5EF4-FFF2-40B4-BE49-F238E27FC236}">
                <a16:creationId xmlns:a16="http://schemas.microsoft.com/office/drawing/2014/main" id="{BE8D8045-0F80-4964-B591-0D599AB42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3117" name="Straight Connector 3116">
              <a:extLst>
                <a:ext uri="{FF2B5EF4-FFF2-40B4-BE49-F238E27FC236}">
                  <a16:creationId xmlns:a16="http://schemas.microsoft.com/office/drawing/2014/main" id="{AF8A5889-0EE6-4E19-98FE-29F79E987B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118" name="Straight Connector 3117">
              <a:extLst>
                <a:ext uri="{FF2B5EF4-FFF2-40B4-BE49-F238E27FC236}">
                  <a16:creationId xmlns:a16="http://schemas.microsoft.com/office/drawing/2014/main" id="{1B0FE4C3-64BE-4A2B-818D-4D84479344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119" name="Straight Connector 3118">
              <a:extLst>
                <a:ext uri="{FF2B5EF4-FFF2-40B4-BE49-F238E27FC236}">
                  <a16:creationId xmlns:a16="http://schemas.microsoft.com/office/drawing/2014/main" id="{54670D04-30D8-487E-A3F4-0655E48016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3121" name="Rectangle 3120">
            <a:extLst>
              <a:ext uri="{FF2B5EF4-FFF2-40B4-BE49-F238E27FC236}">
                <a16:creationId xmlns:a16="http://schemas.microsoft.com/office/drawing/2014/main" id="{1A856DE3-B9AB-43F7-A80F-CB9F149A9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2C9857-7CDB-667C-05CF-EDCD86E54766}"/>
              </a:ext>
            </a:extLst>
          </p:cNvPr>
          <p:cNvSpPr>
            <a:spLocks noGrp="1"/>
          </p:cNvSpPr>
          <p:nvPr>
            <p:ph type="title"/>
          </p:nvPr>
        </p:nvSpPr>
        <p:spPr>
          <a:xfrm>
            <a:off x="8560024" y="1559768"/>
            <a:ext cx="3238829" cy="3135379"/>
          </a:xfrm>
        </p:spPr>
        <p:txBody>
          <a:bodyPr vert="horz" lIns="91440" tIns="45720" rIns="91440" bIns="45720" rtlCol="0" anchor="ctr">
            <a:normAutofit/>
          </a:bodyPr>
          <a:lstStyle/>
          <a:p>
            <a:pPr algn="ctr">
              <a:lnSpc>
                <a:spcPct val="83000"/>
              </a:lnSpc>
            </a:pPr>
            <a:r>
              <a:rPr lang="en-US" cap="all" spc="-100">
                <a:solidFill>
                  <a:srgbClr val="FFFFFF"/>
                </a:solidFill>
              </a:rPr>
              <a:t>How do they belong?</a:t>
            </a:r>
          </a:p>
        </p:txBody>
      </p:sp>
      <p:sp>
        <p:nvSpPr>
          <p:cNvPr id="3078" name="Content Placeholder 3077">
            <a:extLst>
              <a:ext uri="{FF2B5EF4-FFF2-40B4-BE49-F238E27FC236}">
                <a16:creationId xmlns:a16="http://schemas.microsoft.com/office/drawing/2014/main" id="{7E713573-4CF7-6E68-CCD1-D71D21D73F2C}"/>
              </a:ext>
            </a:extLst>
          </p:cNvPr>
          <p:cNvSpPr>
            <a:spLocks noGrp="1"/>
          </p:cNvSpPr>
          <p:nvPr>
            <p:ph idx="1"/>
          </p:nvPr>
        </p:nvSpPr>
        <p:spPr>
          <a:xfrm>
            <a:off x="8560024" y="4708186"/>
            <a:ext cx="3238829" cy="1496816"/>
          </a:xfrm>
        </p:spPr>
        <p:txBody>
          <a:bodyPr vert="horz" lIns="91440" tIns="45720" rIns="91440" bIns="45720" rtlCol="0">
            <a:normAutofit/>
          </a:bodyPr>
          <a:lstStyle/>
          <a:p>
            <a:pPr marL="0" indent="0" algn="ctr">
              <a:spcBef>
                <a:spcPts val="0"/>
              </a:spcBef>
              <a:spcAft>
                <a:spcPts val="600"/>
              </a:spcAft>
              <a:buNone/>
            </a:pPr>
            <a:r>
              <a:rPr lang="en-US" sz="1600" spc="80">
                <a:solidFill>
                  <a:srgbClr val="FFFFFF"/>
                </a:solidFill>
              </a:rPr>
              <a:t>What are they members of?</a:t>
            </a:r>
          </a:p>
        </p:txBody>
      </p:sp>
      <p:sp useBgFill="1">
        <p:nvSpPr>
          <p:cNvPr id="3123" name="Rectangle 3122">
            <a:extLst>
              <a:ext uri="{FF2B5EF4-FFF2-40B4-BE49-F238E27FC236}">
                <a16:creationId xmlns:a16="http://schemas.microsoft.com/office/drawing/2014/main" id="{8B4B154C-0A60-41BF-B149-21BD6D9B9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5" name="Rectangle 3124">
            <a:extLst>
              <a:ext uri="{FF2B5EF4-FFF2-40B4-BE49-F238E27FC236}">
                <a16:creationId xmlns:a16="http://schemas.microsoft.com/office/drawing/2014/main" id="{4DC1BCB1-67D2-4359-8F92-3A69D16DD1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9318" y="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127" name="Straight Connector 3126">
            <a:extLst>
              <a:ext uri="{FF2B5EF4-FFF2-40B4-BE49-F238E27FC236}">
                <a16:creationId xmlns:a16="http://schemas.microsoft.com/office/drawing/2014/main" id="{8800E080-59F0-4F83-B2C9-C7330EFDF5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129" name="Straight Connector 3128">
            <a:extLst>
              <a:ext uri="{FF2B5EF4-FFF2-40B4-BE49-F238E27FC236}">
                <a16:creationId xmlns:a16="http://schemas.microsoft.com/office/drawing/2014/main" id="{5F506867-1785-46B5-8ECF-33F482D02C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2525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pic>
        <p:nvPicPr>
          <p:cNvPr id="3076" name="Picture 4" descr="Day Programs - Ability Beyond">
            <a:extLst>
              <a:ext uri="{FF2B5EF4-FFF2-40B4-BE49-F238E27FC236}">
                <a16:creationId xmlns:a16="http://schemas.microsoft.com/office/drawing/2014/main" id="{429F2DD4-9CF1-466D-57F2-9DB181EFFE6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43192" y="658547"/>
            <a:ext cx="6909386" cy="5533014"/>
          </a:xfrm>
          <a:prstGeom prst="rect">
            <a:avLst/>
          </a:prstGeom>
          <a:noFill/>
          <a:extLst>
            <a:ext uri="{909E8E84-426E-40DD-AFC4-6F175D3DCCD1}">
              <a14:hiddenFill xmlns:a14="http://schemas.microsoft.com/office/drawing/2010/main">
                <a:solidFill>
                  <a:srgbClr val="FFFFFF"/>
                </a:solidFill>
              </a14:hiddenFill>
            </a:ext>
          </a:extLst>
        </p:spPr>
      </p:pic>
      <p:cxnSp>
        <p:nvCxnSpPr>
          <p:cNvPr id="3131" name="Straight Connector 3130">
            <a:extLst>
              <a:ext uri="{FF2B5EF4-FFF2-40B4-BE49-F238E27FC236}">
                <a16:creationId xmlns:a16="http://schemas.microsoft.com/office/drawing/2014/main" id="{A8A8A2B6-6C82-4F71-BD0A-2E57CD2317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644123"/>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568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a:extLst>
              <a:ext uri="{FF2B5EF4-FFF2-40B4-BE49-F238E27FC236}">
                <a16:creationId xmlns:a16="http://schemas.microsoft.com/office/drawing/2014/main" id="{ADF356C7-5C67-AEB6-27D1-DBA4FDA0CD42}"/>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27364" r="-1" b="16332"/>
          <a:stretch/>
        </p:blipFill>
        <p:spPr bwMode="auto">
          <a:xfrm>
            <a:off x="462343" y="453918"/>
            <a:ext cx="4425623" cy="186881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a:extLst>
              <a:ext uri="{FF2B5EF4-FFF2-40B4-BE49-F238E27FC236}">
                <a16:creationId xmlns:a16="http://schemas.microsoft.com/office/drawing/2014/main" id="{5948688D-0A88-2E50-0971-877285F215E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1" b="33599"/>
          <a:stretch/>
        </p:blipFill>
        <p:spPr bwMode="auto">
          <a:xfrm>
            <a:off x="455134" y="2482591"/>
            <a:ext cx="4425623" cy="39182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a:extLst>
              <a:ext uri="{FF2B5EF4-FFF2-40B4-BE49-F238E27FC236}">
                <a16:creationId xmlns:a16="http://schemas.microsoft.com/office/drawing/2014/main" id="{FD364A19-93AC-2499-449F-EECB6C0E3CA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278" r="15294" b="5"/>
          <a:stretch/>
        </p:blipFill>
        <p:spPr bwMode="auto">
          <a:xfrm>
            <a:off x="5039581" y="455276"/>
            <a:ext cx="2128524" cy="391820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FCF3B10-D259-BF31-8134-8E4F3E2E4CB4}"/>
              </a:ext>
            </a:extLst>
          </p:cNvPr>
          <p:cNvSpPr>
            <a:spLocks noGrp="1"/>
          </p:cNvSpPr>
          <p:nvPr>
            <p:ph type="title"/>
          </p:nvPr>
        </p:nvSpPr>
        <p:spPr>
          <a:xfrm>
            <a:off x="7578164" y="717176"/>
            <a:ext cx="3890683" cy="2079811"/>
          </a:xfrm>
        </p:spPr>
        <p:txBody>
          <a:bodyPr vert="horz" lIns="91440" tIns="45720" rIns="91440" bIns="45720" rtlCol="0" anchor="b">
            <a:normAutofit fontScale="90000"/>
          </a:bodyPr>
          <a:lstStyle/>
          <a:p>
            <a:pPr defTabSz="914400"/>
            <a:r>
              <a:rPr lang="en-US" sz="4100" kern="1200">
                <a:solidFill>
                  <a:srgbClr val="FFFFFF"/>
                </a:solidFill>
                <a:latin typeface="+mj-lt"/>
                <a:ea typeface="+mj-ea"/>
                <a:cs typeface="+mj-cs"/>
              </a:rPr>
              <a:t>Belonging, contributing and membership</a:t>
            </a:r>
          </a:p>
        </p:txBody>
      </p:sp>
      <p:pic>
        <p:nvPicPr>
          <p:cNvPr id="1036" name="Picture 12" descr="Image">
            <a:extLst>
              <a:ext uri="{FF2B5EF4-FFF2-40B4-BE49-F238E27FC236}">
                <a16:creationId xmlns:a16="http://schemas.microsoft.com/office/drawing/2014/main" id="{83DC0723-A9F3-546E-4ACF-BC034ABA0520}"/>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0824" r="-2" b="23581"/>
          <a:stretch/>
        </p:blipFill>
        <p:spPr bwMode="auto">
          <a:xfrm>
            <a:off x="5035056" y="4533661"/>
            <a:ext cx="2133050" cy="186553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age">
            <a:extLst>
              <a:ext uri="{FF2B5EF4-FFF2-40B4-BE49-F238E27FC236}">
                <a16:creationId xmlns:a16="http://schemas.microsoft.com/office/drawing/2014/main" id="{FE17F1FC-D30F-D234-054B-05724DDE385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5153" r="-6" b="29352"/>
          <a:stretch/>
        </p:blipFill>
        <p:spPr bwMode="auto">
          <a:xfrm>
            <a:off x="7318437" y="4535267"/>
            <a:ext cx="2136433" cy="186553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a:extLst>
              <a:ext uri="{FF2B5EF4-FFF2-40B4-BE49-F238E27FC236}">
                <a16:creationId xmlns:a16="http://schemas.microsoft.com/office/drawing/2014/main" id="{A66D5D91-5876-2BA5-90B5-BDC2F0F7AE2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9508" r="-6" b="24665"/>
          <a:stretch/>
        </p:blipFill>
        <p:spPr bwMode="auto">
          <a:xfrm>
            <a:off x="9609170" y="4535267"/>
            <a:ext cx="2125631" cy="186553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D484B3B8-17B9-700A-CB3C-2BF1A2813BEB}"/>
              </a:ext>
            </a:extLst>
          </p:cNvPr>
          <p:cNvSpPr>
            <a:spLocks noGrp="1"/>
          </p:cNvSpPr>
          <p:nvPr>
            <p:ph type="sldNum" sz="quarter" idx="12"/>
          </p:nvPr>
        </p:nvSpPr>
        <p:spPr>
          <a:xfrm>
            <a:off x="8610600" y="6356350"/>
            <a:ext cx="2743200" cy="365125"/>
          </a:xfrm>
          <a:prstGeom prst="ellipse">
            <a:avLst/>
          </a:prstGeom>
        </p:spPr>
        <p:txBody>
          <a:bodyPr vert="horz" lIns="91440" tIns="45720" rIns="91440" bIns="45720" rtlCol="0" anchor="ctr">
            <a:normAutofit/>
          </a:bodyPr>
          <a:lstStyle/>
          <a:p>
            <a:pPr>
              <a:lnSpc>
                <a:spcPct val="90000"/>
              </a:lnSpc>
              <a:spcAft>
                <a:spcPts val="600"/>
              </a:spcAft>
            </a:pPr>
            <a:fld id="{915FAA45-AC5B-014B-9F74-53D558B73BE0}" type="slidenum">
              <a:rPr lang="en-US" sz="1200">
                <a:solidFill>
                  <a:schemeClr val="tx1">
                    <a:lumMod val="75000"/>
                    <a:lumOff val="25000"/>
                  </a:schemeClr>
                </a:solidFill>
              </a:rPr>
              <a:pPr>
                <a:lnSpc>
                  <a:spcPct val="90000"/>
                </a:lnSpc>
                <a:spcAft>
                  <a:spcPts val="600"/>
                </a:spcAft>
              </a:pPr>
              <a:t>22</a:t>
            </a:fld>
            <a:endParaRPr lang="en-US" sz="1200">
              <a:solidFill>
                <a:schemeClr val="tx1">
                  <a:lumMod val="75000"/>
                  <a:lumOff val="25000"/>
                </a:schemeClr>
              </a:solidFill>
            </a:endParaRPr>
          </a:p>
        </p:txBody>
      </p:sp>
    </p:spTree>
    <p:extLst>
      <p:ext uri="{BB962C8B-B14F-4D97-AF65-F5344CB8AC3E}">
        <p14:creationId xmlns:p14="http://schemas.microsoft.com/office/powerpoint/2010/main" val="4241778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E968-9AD8-CD4C-6E8C-9F7F0A91BCC0}"/>
              </a:ext>
            </a:extLst>
          </p:cNvPr>
          <p:cNvSpPr>
            <a:spLocks noGrp="1"/>
          </p:cNvSpPr>
          <p:nvPr>
            <p:ph type="title"/>
          </p:nvPr>
        </p:nvSpPr>
        <p:spPr>
          <a:xfrm>
            <a:off x="6676521" y="511494"/>
            <a:ext cx="4805996" cy="1297115"/>
          </a:xfrm>
        </p:spPr>
        <p:txBody>
          <a:bodyPr vert="horz" lIns="91440" tIns="45720" rIns="91440" bIns="45720" rtlCol="0" anchor="t">
            <a:normAutofit/>
          </a:bodyPr>
          <a:lstStyle/>
          <a:p>
            <a:pPr defTabSz="914400"/>
            <a:r>
              <a:rPr lang="en-US" sz="4000" kern="1200">
                <a:solidFill>
                  <a:schemeClr val="tx2"/>
                </a:solidFill>
                <a:latin typeface="+mj-lt"/>
                <a:ea typeface="+mj-ea"/>
                <a:cs typeface="+mj-cs"/>
              </a:rPr>
              <a:t>Poll Question #</a:t>
            </a:r>
            <a:r>
              <a:rPr lang="en-US" sz="4000">
                <a:solidFill>
                  <a:schemeClr val="tx2"/>
                </a:solidFill>
              </a:rPr>
              <a:t>2</a:t>
            </a:r>
            <a:endParaRPr lang="en-US" sz="4000" kern="1200">
              <a:solidFill>
                <a:schemeClr val="tx2"/>
              </a:solidFill>
              <a:latin typeface="+mj-lt"/>
              <a:ea typeface="+mj-ea"/>
              <a:cs typeface="+mj-cs"/>
            </a:endParaRPr>
          </a:p>
        </p:txBody>
      </p:sp>
      <p:pic>
        <p:nvPicPr>
          <p:cNvPr id="8" name="Graphic 7" descr="Questions">
            <a:extLst>
              <a:ext uri="{FF2B5EF4-FFF2-40B4-BE49-F238E27FC236}">
                <a16:creationId xmlns:a16="http://schemas.microsoft.com/office/drawing/2014/main" id="{AF99AD10-6E5E-E5E5-7888-A2F3F1DA66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4" name="Slide Number Placeholder 3">
            <a:extLst>
              <a:ext uri="{FF2B5EF4-FFF2-40B4-BE49-F238E27FC236}">
                <a16:creationId xmlns:a16="http://schemas.microsoft.com/office/drawing/2014/main" id="{A28A9862-7170-5252-E7E6-8C6DB5786B1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15FAA45-AC5B-014B-9F74-53D558B73BE0}" type="slidenum">
              <a:rPr lang="en-US" sz="1200" smtClean="0"/>
              <a:pPr>
                <a:spcAft>
                  <a:spcPts val="600"/>
                </a:spcAft>
              </a:pPr>
              <a:t>23</a:t>
            </a:fld>
            <a:endParaRPr lang="en-US" sz="1200"/>
          </a:p>
        </p:txBody>
      </p:sp>
      <p:sp>
        <p:nvSpPr>
          <p:cNvPr id="5" name="TextBox 4">
            <a:extLst>
              <a:ext uri="{FF2B5EF4-FFF2-40B4-BE49-F238E27FC236}">
                <a16:creationId xmlns:a16="http://schemas.microsoft.com/office/drawing/2014/main" id="{ECBA1A0A-D49E-CCFA-447F-52E95A9FE3BD}"/>
              </a:ext>
            </a:extLst>
          </p:cNvPr>
          <p:cNvSpPr txBox="1"/>
          <p:nvPr/>
        </p:nvSpPr>
        <p:spPr>
          <a:xfrm>
            <a:off x="6428703" y="2039154"/>
            <a:ext cx="516228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My organization provides training to staff on how to identify and build natural supports (in non-work service)</a:t>
            </a:r>
          </a:p>
          <a:p>
            <a:endParaRPr lang="en-US">
              <a:ea typeface="Calibri"/>
              <a:cs typeface="Calibri"/>
            </a:endParaRPr>
          </a:p>
          <a:p>
            <a:r>
              <a:rPr lang="en-US">
                <a:ea typeface="Calibri"/>
                <a:cs typeface="Calibri"/>
              </a:rPr>
              <a:t>1 Strongly Disagree</a:t>
            </a:r>
          </a:p>
          <a:p>
            <a:endParaRPr lang="en-US">
              <a:ea typeface="Calibri"/>
              <a:cs typeface="Calibri"/>
            </a:endParaRPr>
          </a:p>
          <a:p>
            <a:r>
              <a:rPr lang="en-US">
                <a:ea typeface="Calibri"/>
                <a:cs typeface="Calibri"/>
              </a:rPr>
              <a:t>2 Disagree</a:t>
            </a:r>
          </a:p>
          <a:p>
            <a:endParaRPr lang="en-US">
              <a:ea typeface="Calibri"/>
              <a:cs typeface="Calibri"/>
            </a:endParaRPr>
          </a:p>
          <a:p>
            <a:r>
              <a:rPr lang="en-US">
                <a:ea typeface="Calibri"/>
                <a:cs typeface="Calibri"/>
              </a:rPr>
              <a:t>3 Neither Disagree nor Agree</a:t>
            </a:r>
          </a:p>
          <a:p>
            <a:endParaRPr lang="en-US">
              <a:ea typeface="Calibri"/>
              <a:cs typeface="Calibri"/>
            </a:endParaRPr>
          </a:p>
          <a:p>
            <a:r>
              <a:rPr lang="en-US">
                <a:ea typeface="Calibri"/>
                <a:cs typeface="Calibri"/>
              </a:rPr>
              <a:t>4 Agree</a:t>
            </a:r>
          </a:p>
          <a:p>
            <a:endParaRPr lang="en-US">
              <a:ea typeface="Calibri"/>
              <a:cs typeface="Calibri"/>
            </a:endParaRPr>
          </a:p>
          <a:p>
            <a:r>
              <a:rPr lang="en-US">
                <a:ea typeface="Calibri"/>
                <a:cs typeface="Calibri"/>
              </a:rPr>
              <a:t>5 Strongly Agree </a:t>
            </a:r>
          </a:p>
        </p:txBody>
      </p:sp>
    </p:spTree>
    <p:extLst>
      <p:ext uri="{BB962C8B-B14F-4D97-AF65-F5344CB8AC3E}">
        <p14:creationId xmlns:p14="http://schemas.microsoft.com/office/powerpoint/2010/main" val="1403543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8370766-CC13-4DF4-AF0A-0E820B8D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57B3C4F9-03D9-4B39-9F3C-0366542305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529" y="237744"/>
            <a:ext cx="8531352" cy="6382512"/>
          </a:xfrm>
          <a:prstGeom prst="rect">
            <a:avLst/>
          </a:prstGeom>
          <a:ln w="6350" cap="flat" cmpd="sng" algn="ctr">
            <a:noFill/>
            <a:prstDash val="solid"/>
          </a:ln>
          <a:effectLst>
            <a:outerShdw blurRad="50800" algn="ctr" rotWithShape="0">
              <a:prstClr val="black">
                <a:alpha val="66000"/>
              </a:prstClr>
            </a:outerShdw>
            <a:softEdge rad="0"/>
          </a:effectLst>
        </p:spPr>
      </p:sp>
      <p:sp>
        <p:nvSpPr>
          <p:cNvPr id="22" name="Rectangle 21">
            <a:extLst>
              <a:ext uri="{FF2B5EF4-FFF2-40B4-BE49-F238E27FC236}">
                <a16:creationId xmlns:a16="http://schemas.microsoft.com/office/drawing/2014/main" id="{3B61CA66-E7F4-49EC-89DC-F37EE6933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8144523-CFD8-94CB-ED64-60F810FFC289}"/>
              </a:ext>
            </a:extLst>
          </p:cNvPr>
          <p:cNvSpPr>
            <a:spLocks noGrp="1"/>
          </p:cNvSpPr>
          <p:nvPr>
            <p:ph type="title"/>
          </p:nvPr>
        </p:nvSpPr>
        <p:spPr>
          <a:xfrm>
            <a:off x="9387189" y="612843"/>
            <a:ext cx="2247091" cy="1499738"/>
          </a:xfrm>
        </p:spPr>
        <p:txBody>
          <a:bodyPr anchor="b">
            <a:normAutofit/>
          </a:bodyPr>
          <a:lstStyle/>
          <a:p>
            <a:r>
              <a:rPr lang="en-US" sz="2400">
                <a:solidFill>
                  <a:srgbClr val="FFFFFF"/>
                </a:solidFill>
              </a:rPr>
              <a:t>Decreasing Dependence on paid supports</a:t>
            </a:r>
          </a:p>
        </p:txBody>
      </p:sp>
      <p:sp>
        <p:nvSpPr>
          <p:cNvPr id="24" name="Rectangle 23">
            <a:extLst>
              <a:ext uri="{FF2B5EF4-FFF2-40B4-BE49-F238E27FC236}">
                <a16:creationId xmlns:a16="http://schemas.microsoft.com/office/drawing/2014/main" id="{886ACB74-3D88-4CD7-B619-829D70AD4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chemeClr val="tx1">
                <a:lumMod val="75000"/>
                <a:lumOff val="25000"/>
              </a:schemeClr>
            </a:solidFill>
            <a:prstDash val="solid"/>
            <a:miter lim="800000"/>
          </a:ln>
          <a:effectLst/>
        </p:spPr>
      </p:sp>
      <p:pic>
        <p:nvPicPr>
          <p:cNvPr id="4" name="Content Placeholder 3" descr="Diagram&#10;&#10;Description automatically generated">
            <a:extLst>
              <a:ext uri="{FF2B5EF4-FFF2-40B4-BE49-F238E27FC236}">
                <a16:creationId xmlns:a16="http://schemas.microsoft.com/office/drawing/2014/main" id="{0EC1F8A3-AA97-C0A0-C520-8888EB325257}"/>
              </a:ext>
            </a:extLst>
          </p:cNvPr>
          <p:cNvPicPr>
            <a:picLocks noChangeAspect="1"/>
          </p:cNvPicPr>
          <p:nvPr/>
        </p:nvPicPr>
        <p:blipFill rotWithShape="1">
          <a:blip r:embed="rId3">
            <a:extLst>
              <a:ext uri="{28A0092B-C50C-407E-A947-70E740481C1C}">
                <a14:useLocalDpi xmlns:a14="http://schemas.microsoft.com/office/drawing/2010/main" val="0"/>
              </a:ext>
            </a:extLst>
          </a:blip>
          <a:srcRect l="4454" t="51942" r="52059"/>
          <a:stretch/>
        </p:blipFill>
        <p:spPr bwMode="auto">
          <a:xfrm>
            <a:off x="1884178" y="728799"/>
            <a:ext cx="5253958" cy="5428810"/>
          </a:xfrm>
          <a:prstGeom prst="rect">
            <a:avLst/>
          </a:prstGeom>
          <a:noFill/>
          <a:extLst>
            <a:ext uri="{53640926-AAD7-44D8-BBD7-CCE9431645EC}">
              <a14:shadowObscured xmlns:a14="http://schemas.microsoft.com/office/drawing/2010/main"/>
            </a:ext>
          </a:extLst>
        </p:spPr>
      </p:pic>
      <p:sp>
        <p:nvSpPr>
          <p:cNvPr id="8" name="Content Placeholder 7">
            <a:extLst>
              <a:ext uri="{FF2B5EF4-FFF2-40B4-BE49-F238E27FC236}">
                <a16:creationId xmlns:a16="http://schemas.microsoft.com/office/drawing/2014/main" id="{E56CC780-0B62-B3D4-4B25-E68854BDF0E4}"/>
              </a:ext>
            </a:extLst>
          </p:cNvPr>
          <p:cNvSpPr>
            <a:spLocks noGrp="1"/>
          </p:cNvSpPr>
          <p:nvPr>
            <p:ph idx="1"/>
          </p:nvPr>
        </p:nvSpPr>
        <p:spPr>
          <a:xfrm>
            <a:off x="9203787" y="2343065"/>
            <a:ext cx="2613894" cy="4046706"/>
          </a:xfrm>
        </p:spPr>
        <p:txBody>
          <a:bodyPr>
            <a:normAutofit lnSpcReduction="10000"/>
          </a:bodyPr>
          <a:lstStyle/>
          <a:p>
            <a:r>
              <a:rPr lang="en-US" sz="2800">
                <a:solidFill>
                  <a:srgbClr val="FFFFFF"/>
                </a:solidFill>
              </a:rPr>
              <a:t>Does not mean no support</a:t>
            </a:r>
          </a:p>
          <a:p>
            <a:r>
              <a:rPr lang="en-US" sz="2800">
                <a:solidFill>
                  <a:srgbClr val="FFFFFF"/>
                </a:solidFill>
              </a:rPr>
              <a:t>Does not mean doing it alone</a:t>
            </a:r>
          </a:p>
          <a:p>
            <a:r>
              <a:rPr lang="en-US" sz="2800">
                <a:solidFill>
                  <a:srgbClr val="FFFFFF"/>
                </a:solidFill>
              </a:rPr>
              <a:t>Means  getting out of the way! </a:t>
            </a:r>
          </a:p>
        </p:txBody>
      </p:sp>
    </p:spTree>
    <p:extLst>
      <p:ext uri="{BB962C8B-B14F-4D97-AF65-F5344CB8AC3E}">
        <p14:creationId xmlns:p14="http://schemas.microsoft.com/office/powerpoint/2010/main" val="1902072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23790"/>
            <a:ext cx="9771764" cy="1143000"/>
          </a:xfrm>
        </p:spPr>
        <p:txBody>
          <a:bodyPr wrap="square" anchor="ctr">
            <a:normAutofit/>
          </a:bodyPr>
          <a:lstStyle/>
          <a:p>
            <a:r>
              <a:rPr lang="en-US" sz="3200" b="1" dirty="0">
                <a:solidFill>
                  <a:srgbClr val="254061"/>
                </a:solidFill>
                <a:latin typeface="Candara"/>
                <a:ea typeface="+mn-ea"/>
                <a:cs typeface="+mn-cs"/>
              </a:rPr>
              <a:t>Guidepost 3: Build Skills (Human Capital) and Develop Relationships (Social Capital)</a:t>
            </a:r>
          </a:p>
        </p:txBody>
      </p:sp>
      <p:sp>
        <p:nvSpPr>
          <p:cNvPr id="5" name="Content Placeholder 4">
            <a:extLst>
              <a:ext uri="{FF2B5EF4-FFF2-40B4-BE49-F238E27FC236}">
                <a16:creationId xmlns:a16="http://schemas.microsoft.com/office/drawing/2014/main" id="{D98E9EF3-8AA0-1CB3-206C-C91CB94926FA}"/>
              </a:ext>
            </a:extLst>
          </p:cNvPr>
          <p:cNvSpPr>
            <a:spLocks noGrp="1"/>
          </p:cNvSpPr>
          <p:nvPr>
            <p:ph sz="half" idx="1"/>
          </p:nvPr>
        </p:nvSpPr>
        <p:spPr/>
        <p:txBody>
          <a:bodyPr/>
          <a:lstStyle/>
          <a:p>
            <a:endParaRPr lang="en-US"/>
          </a:p>
        </p:txBody>
      </p:sp>
      <p:sp>
        <p:nvSpPr>
          <p:cNvPr id="4" name="Slide Number Placeholder 3" hidden="1"/>
          <p:cNvSpPr>
            <a:spLocks noGrp="1"/>
          </p:cNvSpPr>
          <p:nvPr>
            <p:ph type="sldNum" sz="quarter" idx="12"/>
          </p:nvPr>
        </p:nvSpPr>
        <p:spPr>
          <a:prstGeom prst="rect">
            <a:avLst/>
          </a:prstGeom>
        </p:spPr>
        <p:txBody>
          <a:bodyPr vert="horz" wrap="square" lIns="91440" tIns="45720" rIns="91440" bIns="45720" numCol="1" anchor="ctr" anchorCtr="0" compatLnSpc="1">
            <a:prstTxWarp prst="textNoShape">
              <a:avLst/>
            </a:prstTxWarp>
          </a:bodyPr>
          <a:lstStyle>
            <a:defPPr>
              <a:defRPr lang="en-US"/>
            </a:defPPr>
            <a:lvl1pPr algn="r" rtl="0" eaLnBrk="0" fontAlgn="base" hangingPunct="0">
              <a:spcBef>
                <a:spcPct val="0"/>
              </a:spcBef>
              <a:spcAft>
                <a:spcPct val="0"/>
              </a:spcAft>
              <a:defRPr sz="1200" kern="1200">
                <a:solidFill>
                  <a:srgbClr val="898989"/>
                </a:solidFill>
                <a:latin typeface="Arial" charset="0"/>
                <a:ea typeface="ヒラギノ角ゴ Pro W3" charset="0"/>
                <a:cs typeface="ヒラギノ角ゴ Pro W3" charset="0"/>
              </a:defRPr>
            </a:lvl1pPr>
            <a:lvl2pPr marL="4572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2pPr>
            <a:lvl3pPr marL="9144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sz="2000" kern="1200">
                <a:solidFill>
                  <a:schemeClr val="tx1"/>
                </a:solidFill>
                <a:latin typeface="Arial" charset="0"/>
                <a:ea typeface="ヒラギノ角ゴ Pro W3" charset="0"/>
                <a:cs typeface="ヒラギノ角ゴ Pro W3" charset="0"/>
              </a:defRPr>
            </a:lvl6pPr>
            <a:lvl7pPr marL="2743200" algn="l" defTabSz="457200" rtl="0" eaLnBrk="1" latinLnBrk="0" hangingPunct="1">
              <a:defRPr sz="2000" kern="1200">
                <a:solidFill>
                  <a:schemeClr val="tx1"/>
                </a:solidFill>
                <a:latin typeface="Arial" charset="0"/>
                <a:ea typeface="ヒラギノ角ゴ Pro W3" charset="0"/>
                <a:cs typeface="ヒラギノ角ゴ Pro W3" charset="0"/>
              </a:defRPr>
            </a:lvl7pPr>
            <a:lvl8pPr marL="3200400" algn="l" defTabSz="457200" rtl="0" eaLnBrk="1" latinLnBrk="0" hangingPunct="1">
              <a:defRPr sz="2000" kern="1200">
                <a:solidFill>
                  <a:schemeClr val="tx1"/>
                </a:solidFill>
                <a:latin typeface="Arial" charset="0"/>
                <a:ea typeface="ヒラギノ角ゴ Pro W3" charset="0"/>
                <a:cs typeface="ヒラギノ角ゴ Pro W3" charset="0"/>
              </a:defRPr>
            </a:lvl8pPr>
            <a:lvl9pPr marL="3657600" algn="l" defTabSz="457200" rtl="0" eaLnBrk="1" latinLnBrk="0" hangingPunct="1">
              <a:defRPr sz="2000" kern="1200">
                <a:solidFill>
                  <a:schemeClr val="tx1"/>
                </a:solidFill>
                <a:latin typeface="Arial" charset="0"/>
                <a:ea typeface="ヒラギノ角ゴ Pro W3" charset="0"/>
                <a:cs typeface="ヒラギノ角ゴ Pro W3" charset="0"/>
              </a:defRPr>
            </a:lvl9pPr>
          </a:lstStyle>
          <a:p>
            <a:pPr>
              <a:spcAft>
                <a:spcPts val="600"/>
              </a:spcAft>
            </a:pPr>
            <a:fld id="{A518ECD4-D09A-904E-A564-1221085D9D8B}" type="slidenum">
              <a:rPr lang="en-US" smtClean="0"/>
              <a:pPr>
                <a:spcAft>
                  <a:spcPts val="600"/>
                </a:spcAft>
              </a:pPr>
              <a:t>25</a:t>
            </a:fld>
            <a:endParaRPr lang="en-US"/>
          </a:p>
        </p:txBody>
      </p:sp>
      <p:sp>
        <p:nvSpPr>
          <p:cNvPr id="8" name="TextBox 7">
            <a:extLst>
              <a:ext uri="{FF2B5EF4-FFF2-40B4-BE49-F238E27FC236}">
                <a16:creationId xmlns:a16="http://schemas.microsoft.com/office/drawing/2014/main" id="{6B2E85D2-AC00-BF4E-8515-EDE96AF817BC}"/>
              </a:ext>
            </a:extLst>
          </p:cNvPr>
          <p:cNvSpPr txBox="1"/>
          <p:nvPr/>
        </p:nvSpPr>
        <p:spPr>
          <a:xfrm>
            <a:off x="1676400" y="5562600"/>
            <a:ext cx="1508746" cy="400110"/>
          </a:xfrm>
          <a:prstGeom prst="rect">
            <a:avLst/>
          </a:prstGeom>
          <a:noFill/>
        </p:spPr>
        <p:txBody>
          <a:bodyPr wrap="none" rtlCol="0">
            <a:spAutoFit/>
          </a:bodyPr>
          <a:lstStyle/>
          <a:p>
            <a:r>
              <a:rPr lang="en-US"/>
              <a:t>From this…</a:t>
            </a:r>
          </a:p>
        </p:txBody>
      </p:sp>
      <p:pic>
        <p:nvPicPr>
          <p:cNvPr id="3" name="Picture 4" descr="ICI 4 color logo with text">
            <a:extLst>
              <a:ext uri="{FF2B5EF4-FFF2-40B4-BE49-F238E27FC236}">
                <a16:creationId xmlns:a16="http://schemas.microsoft.com/office/drawing/2014/main" id="{68B94C14-B88E-7100-AB67-8183F473327E}"/>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839200" y="6136695"/>
            <a:ext cx="1642012" cy="706065"/>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a:extLst>
              <a:ext uri="{FF2B5EF4-FFF2-40B4-BE49-F238E27FC236}">
                <a16:creationId xmlns:a16="http://schemas.microsoft.com/office/drawing/2014/main" id="{265A9FB0-8E54-531B-2D4F-22415CB89794}"/>
              </a:ext>
            </a:extLst>
          </p:cNvPr>
          <p:cNvSpPr/>
          <p:nvPr/>
        </p:nvSpPr>
        <p:spPr>
          <a:xfrm>
            <a:off x="5948149" y="3520282"/>
            <a:ext cx="609602"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4">
            <a:extLst>
              <a:ext uri="{FF2B5EF4-FFF2-40B4-BE49-F238E27FC236}">
                <a16:creationId xmlns:a16="http://schemas.microsoft.com/office/drawing/2014/main" id="{1D785FC6-45EA-AD4E-C26B-28BC49AFA5DE}"/>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l="17906" t="413" r="4665" b="9422"/>
          <a:stretch/>
        </p:blipFill>
        <p:spPr bwMode="auto">
          <a:xfrm>
            <a:off x="609600" y="1613736"/>
            <a:ext cx="5232400" cy="4569749"/>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 name="Content Placeholder 9">
            <a:extLst>
              <a:ext uri="{FF2B5EF4-FFF2-40B4-BE49-F238E27FC236}">
                <a16:creationId xmlns:a16="http://schemas.microsoft.com/office/drawing/2014/main" id="{3DE82454-2816-2709-7E81-EBB63D7EBFE1}"/>
              </a:ext>
            </a:extLst>
          </p:cNvPr>
          <p:cNvPicPr>
            <a:picLocks noGrp="1" noChangeAspect="1"/>
          </p:cNvPicPr>
          <p:nvPr>
            <p:ph sz="half" idx="2"/>
          </p:nvPr>
        </p:nvPicPr>
        <p:blipFill rotWithShape="1">
          <a:blip r:embed="rId5"/>
          <a:srcRect l="-16767" t="536" r="21745" b="-741"/>
          <a:stretch/>
        </p:blipFill>
        <p:spPr>
          <a:xfrm>
            <a:off x="5562600" y="1466790"/>
            <a:ext cx="6241164" cy="4738662"/>
          </a:xfrm>
          <a:prstGeom prst="rect">
            <a:avLst/>
          </a:prstGeom>
        </p:spPr>
      </p:pic>
    </p:spTree>
    <p:extLst>
      <p:ext uri="{BB962C8B-B14F-4D97-AF65-F5344CB8AC3E}">
        <p14:creationId xmlns:p14="http://schemas.microsoft.com/office/powerpoint/2010/main" val="1079640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3A37-936F-F9F0-AE95-5FD91C074D58}"/>
              </a:ext>
            </a:extLst>
          </p:cNvPr>
          <p:cNvSpPr>
            <a:spLocks noGrp="1"/>
          </p:cNvSpPr>
          <p:nvPr>
            <p:ph type="title"/>
          </p:nvPr>
        </p:nvSpPr>
        <p:spPr>
          <a:xfrm>
            <a:off x="5867874" y="892120"/>
            <a:ext cx="5447250" cy="1645920"/>
          </a:xfrm>
        </p:spPr>
        <p:txBody>
          <a:bodyPr>
            <a:normAutofit fontScale="90000"/>
          </a:bodyPr>
          <a:lstStyle/>
          <a:p>
            <a:r>
              <a:rPr lang="en-US"/>
              <a:t>What strategies do you use to get out of the way?</a:t>
            </a:r>
          </a:p>
        </p:txBody>
      </p:sp>
      <p:sp>
        <p:nvSpPr>
          <p:cNvPr id="5131" name="Rectangle 5130">
            <a:extLst>
              <a:ext uri="{FF2B5EF4-FFF2-40B4-BE49-F238E27FC236}">
                <a16:creationId xmlns:a16="http://schemas.microsoft.com/office/drawing/2014/main" id="{3FC67B06-867A-4D0B-8E72-3D1CBBABF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52614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742DA6F1-EE0D-4BF0-B5FE-BF303A6B8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126" y="643464"/>
            <a:ext cx="3969458" cy="5571072"/>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pic>
        <p:nvPicPr>
          <p:cNvPr id="5122" name="Picture 2" descr="Image">
            <a:extLst>
              <a:ext uri="{FF2B5EF4-FFF2-40B4-BE49-F238E27FC236}">
                <a16:creationId xmlns:a16="http://schemas.microsoft.com/office/drawing/2014/main" id="{77836C59-F8B1-27C5-0281-D11F2F06E6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119" b="33549"/>
          <a:stretch/>
        </p:blipFill>
        <p:spPr bwMode="auto">
          <a:xfrm>
            <a:off x="820198" y="809244"/>
            <a:ext cx="3639312" cy="253932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a:extLst>
              <a:ext uri="{FF2B5EF4-FFF2-40B4-BE49-F238E27FC236}">
                <a16:creationId xmlns:a16="http://schemas.microsoft.com/office/drawing/2014/main" id="{B8F7D151-864B-5116-113A-CC9FE893545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674" b="33995"/>
          <a:stretch/>
        </p:blipFill>
        <p:spPr bwMode="auto">
          <a:xfrm>
            <a:off x="820198" y="3509431"/>
            <a:ext cx="3639312" cy="2539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815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E968-9AD8-CD4C-6E8C-9F7F0A91BCC0}"/>
              </a:ext>
            </a:extLst>
          </p:cNvPr>
          <p:cNvSpPr>
            <a:spLocks noGrp="1"/>
          </p:cNvSpPr>
          <p:nvPr>
            <p:ph type="title"/>
          </p:nvPr>
        </p:nvSpPr>
        <p:spPr>
          <a:xfrm>
            <a:off x="6676521" y="511494"/>
            <a:ext cx="4805996" cy="1297115"/>
          </a:xfrm>
        </p:spPr>
        <p:txBody>
          <a:bodyPr vert="horz" lIns="91440" tIns="45720" rIns="91440" bIns="45720" rtlCol="0" anchor="t">
            <a:normAutofit/>
          </a:bodyPr>
          <a:lstStyle/>
          <a:p>
            <a:pPr defTabSz="914400"/>
            <a:r>
              <a:rPr lang="en-US" sz="4000" kern="1200">
                <a:solidFill>
                  <a:schemeClr val="tx2"/>
                </a:solidFill>
                <a:latin typeface="+mj-lt"/>
                <a:ea typeface="+mj-ea"/>
                <a:cs typeface="+mj-cs"/>
              </a:rPr>
              <a:t>Poll Question #</a:t>
            </a:r>
            <a:r>
              <a:rPr lang="en-US" sz="4000">
                <a:solidFill>
                  <a:schemeClr val="tx2"/>
                </a:solidFill>
              </a:rPr>
              <a:t>3</a:t>
            </a:r>
            <a:br>
              <a:rPr lang="en-US" sz="4000">
                <a:solidFill>
                  <a:schemeClr val="tx2"/>
                </a:solidFill>
                <a:ea typeface="Calibri Light"/>
                <a:cs typeface="Calibri Light"/>
              </a:rPr>
            </a:br>
            <a:r>
              <a:rPr lang="en-US" sz="1400">
                <a:solidFill>
                  <a:schemeClr val="tx2"/>
                </a:solidFill>
                <a:ea typeface="Calibri Light"/>
                <a:cs typeface="Calibri Light"/>
              </a:rPr>
              <a:t>(from fidelity scale)</a:t>
            </a:r>
            <a:endParaRPr lang="en-US" sz="1400" kern="1200">
              <a:solidFill>
                <a:schemeClr val="tx2"/>
              </a:solidFill>
              <a:latin typeface="+mj-lt"/>
              <a:ea typeface="+mj-ea"/>
              <a:cs typeface="+mj-cs"/>
            </a:endParaRPr>
          </a:p>
        </p:txBody>
      </p:sp>
      <p:pic>
        <p:nvPicPr>
          <p:cNvPr id="8" name="Graphic 7" descr="Questions">
            <a:extLst>
              <a:ext uri="{FF2B5EF4-FFF2-40B4-BE49-F238E27FC236}">
                <a16:creationId xmlns:a16="http://schemas.microsoft.com/office/drawing/2014/main" id="{AF99AD10-6E5E-E5E5-7888-A2F3F1DA66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4" name="Slide Number Placeholder 3">
            <a:extLst>
              <a:ext uri="{FF2B5EF4-FFF2-40B4-BE49-F238E27FC236}">
                <a16:creationId xmlns:a16="http://schemas.microsoft.com/office/drawing/2014/main" id="{A28A9862-7170-5252-E7E6-8C6DB5786B1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15FAA45-AC5B-014B-9F74-53D558B73BE0}" type="slidenum">
              <a:rPr lang="en-US" sz="1200" smtClean="0"/>
              <a:pPr>
                <a:spcAft>
                  <a:spcPts val="600"/>
                </a:spcAft>
              </a:pPr>
              <a:t>27</a:t>
            </a:fld>
            <a:endParaRPr lang="en-US" sz="1200"/>
          </a:p>
        </p:txBody>
      </p:sp>
      <p:sp>
        <p:nvSpPr>
          <p:cNvPr id="5" name="TextBox 4">
            <a:extLst>
              <a:ext uri="{FF2B5EF4-FFF2-40B4-BE49-F238E27FC236}">
                <a16:creationId xmlns:a16="http://schemas.microsoft.com/office/drawing/2014/main" id="{9C708F88-B9DA-C441-7B39-A3E52610C8EF}"/>
              </a:ext>
            </a:extLst>
          </p:cNvPr>
          <p:cNvSpPr txBox="1"/>
          <p:nvPr/>
        </p:nvSpPr>
        <p:spPr>
          <a:xfrm>
            <a:off x="6428703" y="2039154"/>
            <a:ext cx="516228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My organization supports individuals to form friendships with people outside the IDD system? </a:t>
            </a:r>
          </a:p>
          <a:p>
            <a:endParaRPr lang="en-US">
              <a:ea typeface="Calibri"/>
              <a:cs typeface="Calibri"/>
            </a:endParaRPr>
          </a:p>
          <a:p>
            <a:r>
              <a:rPr lang="en-US">
                <a:ea typeface="Calibri"/>
                <a:cs typeface="Calibri"/>
              </a:rPr>
              <a:t>1 Strongly Disagree</a:t>
            </a:r>
          </a:p>
          <a:p>
            <a:endParaRPr lang="en-US">
              <a:ea typeface="Calibri"/>
              <a:cs typeface="Calibri"/>
            </a:endParaRPr>
          </a:p>
          <a:p>
            <a:r>
              <a:rPr lang="en-US">
                <a:ea typeface="Calibri"/>
                <a:cs typeface="Calibri"/>
              </a:rPr>
              <a:t>2 Disagree</a:t>
            </a:r>
          </a:p>
          <a:p>
            <a:endParaRPr lang="en-US">
              <a:ea typeface="Calibri"/>
              <a:cs typeface="Calibri"/>
            </a:endParaRPr>
          </a:p>
          <a:p>
            <a:r>
              <a:rPr lang="en-US">
                <a:ea typeface="Calibri"/>
                <a:cs typeface="Calibri"/>
              </a:rPr>
              <a:t>3 Neither Disagree nor Agree</a:t>
            </a:r>
          </a:p>
          <a:p>
            <a:endParaRPr lang="en-US">
              <a:ea typeface="Calibri"/>
              <a:cs typeface="Calibri"/>
            </a:endParaRPr>
          </a:p>
          <a:p>
            <a:r>
              <a:rPr lang="en-US">
                <a:ea typeface="Calibri"/>
                <a:cs typeface="Calibri"/>
              </a:rPr>
              <a:t>4 Agree</a:t>
            </a:r>
          </a:p>
          <a:p>
            <a:endParaRPr lang="en-US">
              <a:ea typeface="Calibri"/>
              <a:cs typeface="Calibri"/>
            </a:endParaRPr>
          </a:p>
          <a:p>
            <a:r>
              <a:rPr lang="en-US">
                <a:ea typeface="Calibri"/>
                <a:cs typeface="Calibri"/>
              </a:rPr>
              <a:t>5 Strongly Agree </a:t>
            </a:r>
          </a:p>
        </p:txBody>
      </p:sp>
    </p:spTree>
    <p:extLst>
      <p:ext uri="{BB962C8B-B14F-4D97-AF65-F5344CB8AC3E}">
        <p14:creationId xmlns:p14="http://schemas.microsoft.com/office/powerpoint/2010/main" val="1454907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3A8C6BC2-E9E2-4780-8A41-064073CD4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76" name="Rectangle 75">
            <a:extLst>
              <a:ext uri="{FF2B5EF4-FFF2-40B4-BE49-F238E27FC236}">
                <a16:creationId xmlns:a16="http://schemas.microsoft.com/office/drawing/2014/main" id="{E70450CF-22E9-4B1D-B146-30FEE770C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78" name="Rectangle 77">
            <a:extLst>
              <a:ext uri="{FF2B5EF4-FFF2-40B4-BE49-F238E27FC236}">
                <a16:creationId xmlns:a16="http://schemas.microsoft.com/office/drawing/2014/main" id="{80238079-1F65-476A-BC6C-F2D3BD268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80" name="Rectangle 79">
            <a:extLst>
              <a:ext uri="{FF2B5EF4-FFF2-40B4-BE49-F238E27FC236}">
                <a16:creationId xmlns:a16="http://schemas.microsoft.com/office/drawing/2014/main" id="{3740C935-D2D3-4F63-A4DA-CD768BB3F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82" name="Group 81">
            <a:extLst>
              <a:ext uri="{FF2B5EF4-FFF2-40B4-BE49-F238E27FC236}">
                <a16:creationId xmlns:a16="http://schemas.microsoft.com/office/drawing/2014/main" id="{BE8D8045-0F80-4964-B591-0D599AB42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83" name="Straight Connector 82">
              <a:extLst>
                <a:ext uri="{FF2B5EF4-FFF2-40B4-BE49-F238E27FC236}">
                  <a16:creationId xmlns:a16="http://schemas.microsoft.com/office/drawing/2014/main" id="{AF8A5889-0EE6-4E19-98FE-29F79E987B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B0FE4C3-64BE-4A2B-818D-4D84479344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4670D04-30D8-487E-A3F4-0655E48016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87" name="Rectangle 86">
            <a:extLst>
              <a:ext uri="{FF2B5EF4-FFF2-40B4-BE49-F238E27FC236}">
                <a16:creationId xmlns:a16="http://schemas.microsoft.com/office/drawing/2014/main" id="{9E1E7F64-0923-4A8C-8C57-8DA53D5B4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09478849-EFF2-4DE4-983C-8EE3FA1EB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1" name="Rectangle 90">
            <a:extLst>
              <a:ext uri="{FF2B5EF4-FFF2-40B4-BE49-F238E27FC236}">
                <a16:creationId xmlns:a16="http://schemas.microsoft.com/office/drawing/2014/main" id="{C7659007-D861-4E94-9C3A-A056785E9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675873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510B89F-E2F1-498D-89E6-BBD1F7A83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95" name="Rectangle 94">
            <a:extLst>
              <a:ext uri="{FF2B5EF4-FFF2-40B4-BE49-F238E27FC236}">
                <a16:creationId xmlns:a16="http://schemas.microsoft.com/office/drawing/2014/main" id="{9B98270E-648F-4E36-B844-0EDB47720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noFill/>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3A9F68AF-DA6B-4473-224D-87FD1D98E17B}"/>
              </a:ext>
            </a:extLst>
          </p:cNvPr>
          <p:cNvSpPr>
            <a:spLocks noGrp="1"/>
          </p:cNvSpPr>
          <p:nvPr>
            <p:ph type="title"/>
          </p:nvPr>
        </p:nvSpPr>
        <p:spPr>
          <a:xfrm>
            <a:off x="7957225" y="1576701"/>
            <a:ext cx="3012147" cy="4405379"/>
          </a:xfrm>
        </p:spPr>
        <p:txBody>
          <a:bodyPr vert="horz" lIns="91440" tIns="45720" rIns="91440" bIns="45720" rtlCol="0" anchor="ctr">
            <a:normAutofit fontScale="90000"/>
          </a:bodyPr>
          <a:lstStyle/>
          <a:p>
            <a:pPr algn="ctr">
              <a:lnSpc>
                <a:spcPct val="83000"/>
              </a:lnSpc>
            </a:pPr>
            <a:r>
              <a:rPr lang="en-US" sz="2600" cap="all" spc="-100" dirty="0"/>
              <a:t>What is being accomplished?</a:t>
            </a:r>
            <a:br>
              <a:rPr lang="en-US" sz="2600" cap="all" spc="-100" dirty="0"/>
            </a:br>
            <a:br>
              <a:rPr lang="en-US" sz="2600" cap="all" spc="-100" dirty="0"/>
            </a:br>
            <a:r>
              <a:rPr lang="en-US" sz="2600" cap="all" spc="-100" dirty="0"/>
              <a:t>How do we know when its time to try </a:t>
            </a:r>
            <a:r>
              <a:rPr lang="en-US" sz="2600" cap="all" spc="-100"/>
              <a:t>something new?</a:t>
            </a:r>
            <a:br>
              <a:rPr lang="en-US" sz="2600" cap="all" spc="-100" dirty="0"/>
            </a:br>
            <a:br>
              <a:rPr lang="en-US" sz="2600" cap="all" spc="-100"/>
            </a:br>
            <a:r>
              <a:rPr lang="en-US" sz="2600" cap="all" spc="-100"/>
              <a:t>consider both the individual's goals and the organization's vision </a:t>
            </a:r>
            <a:br>
              <a:rPr lang="en-US" sz="2600" cap="all" spc="-100" dirty="0"/>
            </a:br>
            <a:endParaRPr lang="en-US" sz="2600" cap="all" spc="-100"/>
          </a:p>
        </p:txBody>
      </p:sp>
      <p:pic>
        <p:nvPicPr>
          <p:cNvPr id="4" name="Content Placeholder 3" descr="Diagram&#10;&#10;Description automatically generated">
            <a:extLst>
              <a:ext uri="{FF2B5EF4-FFF2-40B4-BE49-F238E27FC236}">
                <a16:creationId xmlns:a16="http://schemas.microsoft.com/office/drawing/2014/main" id="{9ABB30B5-C30E-446B-6B1D-E9118CE09839}"/>
              </a:ext>
            </a:extLst>
          </p:cNvPr>
          <p:cNvPicPr>
            <a:picLocks noChangeAspect="1"/>
          </p:cNvPicPr>
          <p:nvPr/>
        </p:nvPicPr>
        <p:blipFill rotWithShape="1">
          <a:blip r:embed="rId4">
            <a:extLst>
              <a:ext uri="{28A0092B-C50C-407E-A947-70E740481C1C}">
                <a14:useLocalDpi xmlns:a14="http://schemas.microsoft.com/office/drawing/2010/main" val="0"/>
              </a:ext>
            </a:extLst>
          </a:blip>
          <a:srcRect l="48157" t="51942" r="6516"/>
          <a:stretch/>
        </p:blipFill>
        <p:spPr bwMode="auto">
          <a:xfrm>
            <a:off x="643192" y="725245"/>
            <a:ext cx="5451627" cy="5404386"/>
          </a:xfrm>
          <a:prstGeom prst="rect">
            <a:avLst/>
          </a:prstGeom>
          <a:noFill/>
          <a:extLst>
            <a:ext uri="{53640926-AAD7-44D8-BBD7-CCE9431645EC}">
              <a14:shadowObscured xmlns:a14="http://schemas.microsoft.com/office/drawing/2010/main"/>
            </a:ext>
          </a:extLst>
        </p:spPr>
      </p:pic>
      <p:sp>
        <p:nvSpPr>
          <p:cNvPr id="97" name="Rectangle 96">
            <a:extLst>
              <a:ext uri="{FF2B5EF4-FFF2-40B4-BE49-F238E27FC236}">
                <a16:creationId xmlns:a16="http://schemas.microsoft.com/office/drawing/2014/main" id="{FD928195-4D39-4483-8E9C-DDEF45288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768" y="640856"/>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9" name="Straight Connector 98">
            <a:extLst>
              <a:ext uri="{FF2B5EF4-FFF2-40B4-BE49-F238E27FC236}">
                <a16:creationId xmlns:a16="http://schemas.microsoft.com/office/drawing/2014/main" id="{D3C3AEFB-A180-42BA-A986-808141512B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640855"/>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BDC660CB-86B2-4824-BAAF-665CD18892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09708" y="640855"/>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355DF17-4368-44AA-A15E-16C1FC1482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1286150"/>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9283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7D960-E8DC-AE91-538D-0B4DA973E5A6}"/>
              </a:ext>
            </a:extLst>
          </p:cNvPr>
          <p:cNvSpPr>
            <a:spLocks noGrp="1"/>
          </p:cNvSpPr>
          <p:nvPr>
            <p:ph type="title"/>
          </p:nvPr>
        </p:nvSpPr>
        <p:spPr>
          <a:xfrm>
            <a:off x="503854" y="250031"/>
            <a:ext cx="5958762" cy="1325563"/>
          </a:xfrm>
        </p:spPr>
        <p:txBody>
          <a:bodyPr>
            <a:normAutofit fontScale="90000"/>
          </a:bodyPr>
          <a:lstStyle/>
          <a:p>
            <a:r>
              <a:rPr lang="en-US" dirty="0"/>
              <a:t>Brett’s Journey to Work</a:t>
            </a:r>
            <a:br>
              <a:rPr lang="en-US" dirty="0"/>
            </a:br>
            <a:r>
              <a:rPr lang="en-US" dirty="0"/>
              <a:t> CE as a tool to CIE</a:t>
            </a:r>
          </a:p>
        </p:txBody>
      </p:sp>
      <p:sp>
        <p:nvSpPr>
          <p:cNvPr id="3" name="Content Placeholder 2">
            <a:extLst>
              <a:ext uri="{FF2B5EF4-FFF2-40B4-BE49-F238E27FC236}">
                <a16:creationId xmlns:a16="http://schemas.microsoft.com/office/drawing/2014/main" id="{E242E709-052D-E048-306C-CBEC8D94E039}"/>
              </a:ext>
            </a:extLst>
          </p:cNvPr>
          <p:cNvSpPr>
            <a:spLocks noGrp="1"/>
          </p:cNvSpPr>
          <p:nvPr>
            <p:ph idx="1"/>
          </p:nvPr>
        </p:nvSpPr>
        <p:spPr>
          <a:xfrm>
            <a:off x="838201" y="1825625"/>
            <a:ext cx="5092194" cy="4351338"/>
          </a:xfrm>
        </p:spPr>
        <p:txBody>
          <a:bodyPr>
            <a:normAutofit/>
          </a:bodyPr>
          <a:lstStyle/>
          <a:p>
            <a:r>
              <a:rPr lang="en-US" dirty="0"/>
              <a:t>Brookside Gardens placing bird feed and cleaning the bird bath</a:t>
            </a:r>
          </a:p>
          <a:p>
            <a:r>
              <a:rPr lang="en-US" dirty="0"/>
              <a:t>Taking classes to practice deep breathing to calm down when he gets too excited</a:t>
            </a:r>
          </a:p>
          <a:p>
            <a:r>
              <a:rPr lang="en-US" dirty="0"/>
              <a:t>Played basketball with friends</a:t>
            </a:r>
          </a:p>
          <a:p>
            <a:r>
              <a:rPr lang="en-US" dirty="0"/>
              <a:t>Worked with a trainer to increase his stamina</a:t>
            </a:r>
          </a:p>
          <a:p>
            <a:r>
              <a:rPr lang="en-US" dirty="0"/>
              <a:t>Learned to ride bus and metro</a:t>
            </a:r>
          </a:p>
        </p:txBody>
      </p:sp>
      <p:pic>
        <p:nvPicPr>
          <p:cNvPr id="2052" name="Picture 4" descr="Image">
            <a:extLst>
              <a:ext uri="{FF2B5EF4-FFF2-40B4-BE49-F238E27FC236}">
                <a16:creationId xmlns:a16="http://schemas.microsoft.com/office/drawing/2014/main" id="{95900A46-FB2B-BC91-9715-9DB650E2EB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954" r="-3" b="13849"/>
          <a:stretch/>
        </p:blipFill>
        <p:spPr bwMode="auto">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a:noFill/>
          <a:extLst>
            <a:ext uri="{909E8E84-426E-40DD-AFC4-6F175D3DCCD1}">
              <a14:hiddenFill xmlns:a14="http://schemas.microsoft.com/office/drawing/2010/main">
                <a:solidFill>
                  <a:srgbClr val="FFFFFF"/>
                </a:solidFill>
              </a14:hiddenFill>
            </a:ext>
          </a:extLst>
        </p:spPr>
      </p:pic>
      <p:pic>
        <p:nvPicPr>
          <p:cNvPr id="2050" name="Picture 2" descr="Image">
            <a:extLst>
              <a:ext uri="{FF2B5EF4-FFF2-40B4-BE49-F238E27FC236}">
                <a16:creationId xmlns:a16="http://schemas.microsoft.com/office/drawing/2014/main" id="{845605DA-9965-BAB2-1DD4-5B55B7BC3BC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2245" b="-4"/>
          <a:stretch/>
        </p:blipFill>
        <p:spPr bwMode="auto">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AF7031F-9A79-7FB8-CD38-38E314551AC4}"/>
              </a:ext>
            </a:extLst>
          </p:cNvPr>
          <p:cNvPicPr>
            <a:picLocks noChangeAspect="1"/>
          </p:cNvPicPr>
          <p:nvPr/>
        </p:nvPicPr>
        <p:blipFill>
          <a:blip r:embed="rId4"/>
          <a:stretch>
            <a:fillRect/>
          </a:stretch>
        </p:blipFill>
        <p:spPr>
          <a:xfrm>
            <a:off x="11212895" y="198625"/>
            <a:ext cx="856822" cy="1138831"/>
          </a:xfrm>
          <a:prstGeom prst="rect">
            <a:avLst/>
          </a:prstGeom>
        </p:spPr>
      </p:pic>
    </p:spTree>
    <p:extLst>
      <p:ext uri="{BB962C8B-B14F-4D97-AF65-F5344CB8AC3E}">
        <p14:creationId xmlns:p14="http://schemas.microsoft.com/office/powerpoint/2010/main" val="1091660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7E166-4794-D33A-3DEA-EF40824A6EE6}"/>
              </a:ext>
            </a:extLst>
          </p:cNvPr>
          <p:cNvSpPr>
            <a:spLocks noGrp="1"/>
          </p:cNvSpPr>
          <p:nvPr>
            <p:ph type="title"/>
          </p:nvPr>
        </p:nvSpPr>
        <p:spPr/>
        <p:txBody>
          <a:bodyPr/>
          <a:lstStyle/>
          <a:p>
            <a:r>
              <a:rPr lang="en-US" sz="2600" b="1" dirty="0">
                <a:solidFill>
                  <a:srgbClr val="254061"/>
                </a:solidFill>
                <a:latin typeface="Candara" panose="020E0502030303020204" pitchFamily="34" charset="0"/>
                <a:ea typeface="+mn-ea"/>
                <a:cs typeface="+mn-cs"/>
              </a:rPr>
              <a:t>Competitive Integrated Employment is the Outcome</a:t>
            </a:r>
          </a:p>
        </p:txBody>
      </p:sp>
      <p:pic>
        <p:nvPicPr>
          <p:cNvPr id="5" name="Online Media 4" title="Meet Brett: Working at UPS Warehouse">
            <a:hlinkClick r:id="" action="ppaction://media"/>
            <a:extLst>
              <a:ext uri="{FF2B5EF4-FFF2-40B4-BE49-F238E27FC236}">
                <a16:creationId xmlns:a16="http://schemas.microsoft.com/office/drawing/2014/main" id="{86569C91-1233-6A28-5C65-4077CEB2A211}"/>
              </a:ext>
            </a:extLst>
          </p:cNvPr>
          <p:cNvPicPr>
            <a:picLocks noGrp="1" noRot="1" noChangeAspect="1"/>
          </p:cNvPicPr>
          <p:nvPr>
            <p:ph idx="1"/>
            <a:videoFile r:link="rId1"/>
          </p:nvPr>
        </p:nvPicPr>
        <p:blipFill>
          <a:blip r:embed="rId4"/>
          <a:stretch>
            <a:fillRect/>
          </a:stretch>
        </p:blipFill>
        <p:spPr>
          <a:xfrm>
            <a:off x="2246313" y="1825625"/>
            <a:ext cx="7700962" cy="4351338"/>
          </a:xfrm>
          <a:prstGeom prst="rect">
            <a:avLst/>
          </a:prstGeom>
        </p:spPr>
      </p:pic>
      <p:sp>
        <p:nvSpPr>
          <p:cNvPr id="4" name="Slide Number Placeholder 3">
            <a:extLst>
              <a:ext uri="{FF2B5EF4-FFF2-40B4-BE49-F238E27FC236}">
                <a16:creationId xmlns:a16="http://schemas.microsoft.com/office/drawing/2014/main" id="{F0123D56-AEAB-51C0-A8CD-BEFD5E3C3387}"/>
              </a:ext>
            </a:extLst>
          </p:cNvPr>
          <p:cNvSpPr>
            <a:spLocks noGrp="1"/>
          </p:cNvSpPr>
          <p:nvPr>
            <p:ph type="sldNum" sz="quarter" idx="12"/>
          </p:nvPr>
        </p:nvSpPr>
        <p:spPr/>
        <p:txBody>
          <a:bodyPr/>
          <a:lstStyle/>
          <a:p>
            <a:fld id="{915FAA45-AC5B-014B-9F74-53D558B73BE0}" type="slidenum">
              <a:rPr lang="en-US" smtClean="0"/>
              <a:pPr/>
              <a:t>30</a:t>
            </a:fld>
            <a:endParaRPr lang="en-US"/>
          </a:p>
        </p:txBody>
      </p:sp>
    </p:spTree>
    <p:extLst>
      <p:ext uri="{BB962C8B-B14F-4D97-AF65-F5344CB8AC3E}">
        <p14:creationId xmlns:p14="http://schemas.microsoft.com/office/powerpoint/2010/main" val="174347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55F7F3-3A58-4BBB-95C7-CF706F9F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AE3D314-6F93-4D91-8C0F-E92657F465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2"/>
          </a:solidFill>
          <a:ln w="6350" cap="flat" cmpd="sng" algn="ctr">
            <a:noFill/>
            <a:prstDash val="solid"/>
          </a:ln>
          <a:effectLst>
            <a:softEdge rad="0"/>
          </a:effectLst>
        </p:spPr>
      </p:sp>
      <p:sp>
        <p:nvSpPr>
          <p:cNvPr id="2" name="Title 1">
            <a:extLst>
              <a:ext uri="{FF2B5EF4-FFF2-40B4-BE49-F238E27FC236}">
                <a16:creationId xmlns:a16="http://schemas.microsoft.com/office/drawing/2014/main" id="{EE3F5298-C7B2-0FC0-FE2B-305741C0FBE8}"/>
              </a:ext>
            </a:extLst>
          </p:cNvPr>
          <p:cNvSpPr>
            <a:spLocks noGrp="1"/>
          </p:cNvSpPr>
          <p:nvPr>
            <p:ph type="title"/>
          </p:nvPr>
        </p:nvSpPr>
        <p:spPr>
          <a:xfrm>
            <a:off x="573409" y="559477"/>
            <a:ext cx="3765200" cy="5709931"/>
          </a:xfrm>
        </p:spPr>
        <p:txBody>
          <a:bodyPr>
            <a:normAutofit/>
          </a:bodyPr>
          <a:lstStyle/>
          <a:p>
            <a:pPr algn="ctr"/>
            <a:r>
              <a:rPr lang="en-US"/>
              <a:t>Exercise:</a:t>
            </a:r>
          </a:p>
        </p:txBody>
      </p:sp>
      <p:graphicFrame>
        <p:nvGraphicFramePr>
          <p:cNvPr id="16" name="Content Placeholder 2">
            <a:extLst>
              <a:ext uri="{FF2B5EF4-FFF2-40B4-BE49-F238E27FC236}">
                <a16:creationId xmlns:a16="http://schemas.microsoft.com/office/drawing/2014/main" id="{E657975E-D637-CA8C-7D98-9D0E4A158844}"/>
              </a:ext>
            </a:extLst>
          </p:cNvPr>
          <p:cNvGraphicFramePr>
            <a:graphicFrameLocks noGrp="1"/>
          </p:cNvGraphicFramePr>
          <p:nvPr>
            <p:ph idx="1"/>
            <p:extLst>
              <p:ext uri="{D42A27DB-BD31-4B8C-83A1-F6EECF244321}">
                <p14:modId xmlns:p14="http://schemas.microsoft.com/office/powerpoint/2010/main" val="1008386264"/>
              </p:ext>
            </p:extLst>
          </p:nvPr>
        </p:nvGraphicFramePr>
        <p:xfrm>
          <a:off x="5478124" y="800947"/>
          <a:ext cx="5906181" cy="52307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2332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E968-9AD8-CD4C-6E8C-9F7F0A91BCC0}"/>
              </a:ext>
            </a:extLst>
          </p:cNvPr>
          <p:cNvSpPr>
            <a:spLocks noGrp="1"/>
          </p:cNvSpPr>
          <p:nvPr>
            <p:ph type="title"/>
          </p:nvPr>
        </p:nvSpPr>
        <p:spPr>
          <a:xfrm>
            <a:off x="6676521" y="511494"/>
            <a:ext cx="4805996" cy="1297115"/>
          </a:xfrm>
        </p:spPr>
        <p:txBody>
          <a:bodyPr vert="horz" lIns="91440" tIns="45720" rIns="91440" bIns="45720" rtlCol="0" anchor="t">
            <a:normAutofit/>
          </a:bodyPr>
          <a:lstStyle/>
          <a:p>
            <a:pPr defTabSz="914400"/>
            <a:r>
              <a:rPr lang="en-US" sz="4000" kern="1200">
                <a:solidFill>
                  <a:schemeClr val="tx2"/>
                </a:solidFill>
                <a:latin typeface="+mj-lt"/>
                <a:ea typeface="+mj-ea"/>
                <a:cs typeface="+mj-cs"/>
              </a:rPr>
              <a:t>Poll Question #</a:t>
            </a:r>
            <a:r>
              <a:rPr lang="en-US" sz="4000">
                <a:solidFill>
                  <a:schemeClr val="tx2"/>
                </a:solidFill>
              </a:rPr>
              <a:t>4</a:t>
            </a:r>
            <a:br>
              <a:rPr lang="en-US" sz="4000">
                <a:solidFill>
                  <a:schemeClr val="tx2"/>
                </a:solidFill>
                <a:ea typeface="Calibri Light"/>
                <a:cs typeface="Calibri Light"/>
              </a:rPr>
            </a:br>
            <a:r>
              <a:rPr lang="en-US" sz="1400">
                <a:solidFill>
                  <a:schemeClr val="tx2"/>
                </a:solidFill>
                <a:ea typeface="Calibri Light"/>
                <a:cs typeface="Calibri Light"/>
              </a:rPr>
              <a:t>(from fidelity scale)</a:t>
            </a:r>
            <a:endParaRPr lang="en-US" sz="1400" kern="1200">
              <a:solidFill>
                <a:schemeClr val="tx2"/>
              </a:solidFill>
              <a:latin typeface="+mj-lt"/>
              <a:ea typeface="Calibri Light"/>
              <a:cs typeface="Calibri Light"/>
            </a:endParaRPr>
          </a:p>
        </p:txBody>
      </p:sp>
      <p:pic>
        <p:nvPicPr>
          <p:cNvPr id="8" name="Graphic 7" descr="Questions">
            <a:extLst>
              <a:ext uri="{FF2B5EF4-FFF2-40B4-BE49-F238E27FC236}">
                <a16:creationId xmlns:a16="http://schemas.microsoft.com/office/drawing/2014/main" id="{AF99AD10-6E5E-E5E5-7888-A2F3F1DA66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4" name="Slide Number Placeholder 3">
            <a:extLst>
              <a:ext uri="{FF2B5EF4-FFF2-40B4-BE49-F238E27FC236}">
                <a16:creationId xmlns:a16="http://schemas.microsoft.com/office/drawing/2014/main" id="{A28A9862-7170-5252-E7E6-8C6DB5786B1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15FAA45-AC5B-014B-9F74-53D558B73BE0}" type="slidenum">
              <a:rPr lang="en-US" sz="1200" smtClean="0"/>
              <a:pPr>
                <a:spcAft>
                  <a:spcPts val="600"/>
                </a:spcAft>
              </a:pPr>
              <a:t>32</a:t>
            </a:fld>
            <a:endParaRPr lang="en-US" sz="1200"/>
          </a:p>
        </p:txBody>
      </p:sp>
      <p:sp>
        <p:nvSpPr>
          <p:cNvPr id="5" name="TextBox 4">
            <a:extLst>
              <a:ext uri="{FF2B5EF4-FFF2-40B4-BE49-F238E27FC236}">
                <a16:creationId xmlns:a16="http://schemas.microsoft.com/office/drawing/2014/main" id="{4B13BED5-E7D9-917F-99EA-F6976B87B0CB}"/>
              </a:ext>
            </a:extLst>
          </p:cNvPr>
          <p:cNvSpPr txBox="1"/>
          <p:nvPr/>
        </p:nvSpPr>
        <p:spPr>
          <a:xfrm>
            <a:off x="6198781" y="2039154"/>
            <a:ext cx="539220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My organization regularly reviews data and feedback collected and uses them to improve supports at the organizational level</a:t>
            </a:r>
          </a:p>
          <a:p>
            <a:endParaRPr lang="en-US" b="1">
              <a:ea typeface="Calibri"/>
              <a:cs typeface="Calibri"/>
            </a:endParaRPr>
          </a:p>
          <a:p>
            <a:r>
              <a:rPr lang="en-US">
                <a:ea typeface="Calibri"/>
                <a:cs typeface="Calibri"/>
              </a:rPr>
              <a:t>1 Strongly Disagree</a:t>
            </a:r>
          </a:p>
          <a:p>
            <a:endParaRPr lang="en-US">
              <a:ea typeface="Calibri"/>
              <a:cs typeface="Calibri"/>
            </a:endParaRPr>
          </a:p>
          <a:p>
            <a:r>
              <a:rPr lang="en-US">
                <a:ea typeface="Calibri"/>
                <a:cs typeface="Calibri"/>
              </a:rPr>
              <a:t>2 Disagree</a:t>
            </a:r>
          </a:p>
          <a:p>
            <a:endParaRPr lang="en-US">
              <a:ea typeface="Calibri"/>
              <a:cs typeface="Calibri"/>
            </a:endParaRPr>
          </a:p>
          <a:p>
            <a:r>
              <a:rPr lang="en-US">
                <a:ea typeface="Calibri"/>
                <a:cs typeface="Calibri"/>
              </a:rPr>
              <a:t>3 Neither Disagree nor Agree</a:t>
            </a:r>
          </a:p>
          <a:p>
            <a:endParaRPr lang="en-US">
              <a:ea typeface="Calibri"/>
              <a:cs typeface="Calibri"/>
            </a:endParaRPr>
          </a:p>
          <a:p>
            <a:r>
              <a:rPr lang="en-US">
                <a:ea typeface="Calibri"/>
                <a:cs typeface="Calibri"/>
              </a:rPr>
              <a:t>4 Agree</a:t>
            </a:r>
          </a:p>
          <a:p>
            <a:endParaRPr lang="en-US">
              <a:ea typeface="Calibri"/>
              <a:cs typeface="Calibri"/>
            </a:endParaRPr>
          </a:p>
          <a:p>
            <a:r>
              <a:rPr lang="en-US">
                <a:ea typeface="Calibri"/>
                <a:cs typeface="Calibri"/>
              </a:rPr>
              <a:t>5 Strongly Agree </a:t>
            </a:r>
          </a:p>
        </p:txBody>
      </p:sp>
    </p:spTree>
    <p:extLst>
      <p:ext uri="{BB962C8B-B14F-4D97-AF65-F5344CB8AC3E}">
        <p14:creationId xmlns:p14="http://schemas.microsoft.com/office/powerpoint/2010/main" val="4052536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BA632900-4C8C-B364-0D78-8FF6B58D3546}"/>
              </a:ext>
            </a:extLst>
          </p:cNvPr>
          <p:cNvPicPr>
            <a:picLocks noChangeAspect="1"/>
          </p:cNvPicPr>
          <p:nvPr/>
        </p:nvPicPr>
        <p:blipFill rotWithShape="1">
          <a:blip r:embed="rId3">
            <a:extLst>
              <a:ext uri="{28A0092B-C50C-407E-A947-70E740481C1C}">
                <a14:useLocalDpi xmlns:a14="http://schemas.microsoft.com/office/drawing/2010/main" val="0"/>
              </a:ext>
            </a:extLst>
          </a:blip>
          <a:srcRect l="4564" r="52821" b="50691"/>
          <a:stretch/>
        </p:blipFill>
        <p:spPr bwMode="auto">
          <a:xfrm>
            <a:off x="484632" y="1291905"/>
            <a:ext cx="2560320" cy="3573709"/>
          </a:xfrm>
          <a:prstGeom prst="rect">
            <a:avLst/>
          </a:prstGeom>
          <a:noFill/>
          <a:extLst>
            <a:ext uri="{53640926-AAD7-44D8-BBD7-CCE9431645EC}">
              <a14:shadowObscured xmlns:a14="http://schemas.microsoft.com/office/drawing/2010/main"/>
            </a:ext>
          </a:extLst>
        </p:spPr>
      </p:pic>
      <p:pic>
        <p:nvPicPr>
          <p:cNvPr id="5" name="Picture 4" descr="Diagram&#10;&#10;Description automatically generated">
            <a:extLst>
              <a:ext uri="{FF2B5EF4-FFF2-40B4-BE49-F238E27FC236}">
                <a16:creationId xmlns:a16="http://schemas.microsoft.com/office/drawing/2014/main" id="{918B30B7-3C19-410D-6DA7-CB7A7A685AF7}"/>
              </a:ext>
            </a:extLst>
          </p:cNvPr>
          <p:cNvPicPr>
            <a:picLocks noChangeAspect="1"/>
          </p:cNvPicPr>
          <p:nvPr/>
        </p:nvPicPr>
        <p:blipFill rotWithShape="1">
          <a:blip r:embed="rId3">
            <a:extLst>
              <a:ext uri="{28A0092B-C50C-407E-A947-70E740481C1C}">
                <a14:useLocalDpi xmlns:a14="http://schemas.microsoft.com/office/drawing/2010/main" val="0"/>
              </a:ext>
            </a:extLst>
          </a:blip>
          <a:srcRect l="50358" r="7382" b="50972"/>
          <a:stretch/>
        </p:blipFill>
        <p:spPr bwMode="auto">
          <a:xfrm>
            <a:off x="3354631" y="1291906"/>
            <a:ext cx="2560320" cy="3573709"/>
          </a:xfrm>
          <a:prstGeom prst="rect">
            <a:avLst/>
          </a:prstGeom>
          <a:noFill/>
          <a:extLst>
            <a:ext uri="{53640926-AAD7-44D8-BBD7-CCE9431645EC}">
              <a14:shadowObscured xmlns:a14="http://schemas.microsoft.com/office/drawing/2010/main"/>
            </a:ext>
          </a:extLst>
        </p:spPr>
      </p:pic>
      <p:pic>
        <p:nvPicPr>
          <p:cNvPr id="7" name="Picture 6" descr="Diagram&#10;&#10;Description automatically generated">
            <a:extLst>
              <a:ext uri="{FF2B5EF4-FFF2-40B4-BE49-F238E27FC236}">
                <a16:creationId xmlns:a16="http://schemas.microsoft.com/office/drawing/2014/main" id="{9096413B-75DE-850F-0DB9-B7EC2E24A587}"/>
              </a:ext>
            </a:extLst>
          </p:cNvPr>
          <p:cNvPicPr>
            <a:picLocks noChangeAspect="1"/>
          </p:cNvPicPr>
          <p:nvPr/>
        </p:nvPicPr>
        <p:blipFill rotWithShape="1">
          <a:blip r:embed="rId3">
            <a:extLst>
              <a:ext uri="{28A0092B-C50C-407E-A947-70E740481C1C}">
                <a14:useLocalDpi xmlns:a14="http://schemas.microsoft.com/office/drawing/2010/main" val="0"/>
              </a:ext>
            </a:extLst>
          </a:blip>
          <a:srcRect l="4454" t="51942" r="52059"/>
          <a:stretch/>
        </p:blipFill>
        <p:spPr bwMode="auto">
          <a:xfrm>
            <a:off x="6277051" y="1359017"/>
            <a:ext cx="2560320" cy="3573709"/>
          </a:xfrm>
          <a:prstGeom prst="rect">
            <a:avLst/>
          </a:prstGeom>
          <a:noFill/>
          <a:extLst>
            <a:ext uri="{53640926-AAD7-44D8-BBD7-CCE9431645EC}">
              <a14:shadowObscured xmlns:a14="http://schemas.microsoft.com/office/drawing/2010/main"/>
            </a:ext>
          </a:extLst>
        </p:spPr>
      </p:pic>
      <p:pic>
        <p:nvPicPr>
          <p:cNvPr id="8" name="Picture 7" descr="Diagram&#10;&#10;Description automatically generated">
            <a:extLst>
              <a:ext uri="{FF2B5EF4-FFF2-40B4-BE49-F238E27FC236}">
                <a16:creationId xmlns:a16="http://schemas.microsoft.com/office/drawing/2014/main" id="{C8CC73DD-3966-714F-6929-440D789D8CA9}"/>
              </a:ext>
            </a:extLst>
          </p:cNvPr>
          <p:cNvPicPr>
            <a:picLocks noChangeAspect="1"/>
          </p:cNvPicPr>
          <p:nvPr/>
        </p:nvPicPr>
        <p:blipFill rotWithShape="1">
          <a:blip r:embed="rId3">
            <a:extLst>
              <a:ext uri="{28A0092B-C50C-407E-A947-70E740481C1C}">
                <a14:useLocalDpi xmlns:a14="http://schemas.microsoft.com/office/drawing/2010/main" val="0"/>
              </a:ext>
            </a:extLst>
          </a:blip>
          <a:srcRect l="48157" t="51942" r="6516"/>
          <a:stretch/>
        </p:blipFill>
        <p:spPr bwMode="auto">
          <a:xfrm>
            <a:off x="9120661" y="1359017"/>
            <a:ext cx="2719981" cy="3573709"/>
          </a:xfrm>
          <a:prstGeom prst="rect">
            <a:avLst/>
          </a:prstGeom>
          <a:noFill/>
          <a:extLst>
            <a:ext uri="{53640926-AAD7-44D8-BBD7-CCE9431645EC}">
              <a14:shadowObscured xmlns:a14="http://schemas.microsoft.com/office/drawing/2010/main"/>
            </a:ext>
          </a:extLst>
        </p:spPr>
      </p:pic>
      <p:pic>
        <p:nvPicPr>
          <p:cNvPr id="2" name="Picture 1" descr="Diagram&#10;&#10;Description automatically generated">
            <a:extLst>
              <a:ext uri="{FF2B5EF4-FFF2-40B4-BE49-F238E27FC236}">
                <a16:creationId xmlns:a16="http://schemas.microsoft.com/office/drawing/2014/main" id="{3EA25D51-06EE-654F-05AE-B33E158E6CCE}"/>
              </a:ext>
            </a:extLst>
          </p:cNvPr>
          <p:cNvPicPr>
            <a:picLocks noChangeAspect="1"/>
          </p:cNvPicPr>
          <p:nvPr/>
        </p:nvPicPr>
        <p:blipFill rotWithShape="1">
          <a:blip r:embed="rId3">
            <a:extLst>
              <a:ext uri="{28A0092B-C50C-407E-A947-70E740481C1C}">
                <a14:useLocalDpi xmlns:a14="http://schemas.microsoft.com/office/drawing/2010/main" val="0"/>
              </a:ext>
            </a:extLst>
          </a:blip>
          <a:srcRect l="50358" r="7382" b="50972"/>
          <a:stretch/>
        </p:blipFill>
        <p:spPr bwMode="auto">
          <a:xfrm>
            <a:off x="3395955" y="1291905"/>
            <a:ext cx="2560320" cy="3573709"/>
          </a:xfrm>
          <a:prstGeom prst="rect">
            <a:avLst/>
          </a:prstGeom>
          <a:noFill/>
          <a:extLst>
            <a:ext uri="{53640926-AAD7-44D8-BBD7-CCE9431645EC}">
              <a14:shadowObscured xmlns:a14="http://schemas.microsoft.com/office/drawing/2010/main"/>
            </a:ext>
          </a:extLst>
        </p:spPr>
      </p:pic>
      <p:sp>
        <p:nvSpPr>
          <p:cNvPr id="3" name="Rectangle 2">
            <a:extLst>
              <a:ext uri="{FF2B5EF4-FFF2-40B4-BE49-F238E27FC236}">
                <a16:creationId xmlns:a16="http://schemas.microsoft.com/office/drawing/2014/main" id="{3F507D04-A7A6-AFA0-0DBE-D1994815BA3D}"/>
              </a:ext>
            </a:extLst>
          </p:cNvPr>
          <p:cNvSpPr/>
          <p:nvPr/>
        </p:nvSpPr>
        <p:spPr>
          <a:xfrm>
            <a:off x="2115319" y="244683"/>
            <a:ext cx="7681911" cy="923330"/>
          </a:xfrm>
          <a:prstGeom prst="rect">
            <a:avLst/>
          </a:prstGeom>
          <a:noFill/>
        </p:spPr>
        <p:txBody>
          <a:bodyPr wrap="none" lIns="91440" tIns="45720" rIns="91440" bIns="45720">
            <a:spAutoFit/>
          </a:bodyPr>
          <a:lstStyle/>
          <a:p>
            <a:pPr algn="ctr"/>
            <a:r>
              <a:rPr lang="en-US" sz="5400" b="1" cap="none" spc="0">
                <a:ln w="22225">
                  <a:solidFill>
                    <a:schemeClr val="accent2"/>
                  </a:solidFill>
                  <a:prstDash val="solid"/>
                </a:ln>
                <a:solidFill>
                  <a:schemeClr val="accent2">
                    <a:lumMod val="40000"/>
                    <a:lumOff val="60000"/>
                  </a:schemeClr>
                </a:solidFill>
                <a:effectLst/>
              </a:rPr>
              <a:t>Guideposts of Support</a:t>
            </a:r>
          </a:p>
        </p:txBody>
      </p:sp>
    </p:spTree>
    <p:extLst>
      <p:ext uri="{BB962C8B-B14F-4D97-AF65-F5344CB8AC3E}">
        <p14:creationId xmlns:p14="http://schemas.microsoft.com/office/powerpoint/2010/main" val="2193008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DD81-B58B-EE4B-966E-1A3351040FC1}"/>
              </a:ext>
            </a:extLst>
          </p:cNvPr>
          <p:cNvSpPr>
            <a:spLocks noGrp="1"/>
          </p:cNvSpPr>
          <p:nvPr>
            <p:ph type="ctrTitle"/>
          </p:nvPr>
        </p:nvSpPr>
        <p:spPr/>
        <p:txBody>
          <a:bodyPr/>
          <a:lstStyle/>
          <a:p>
            <a:r>
              <a:rPr lang="en-US"/>
              <a:t>How will we use these guideposts?</a:t>
            </a:r>
          </a:p>
        </p:txBody>
      </p:sp>
    </p:spTree>
    <p:extLst>
      <p:ext uri="{BB962C8B-B14F-4D97-AF65-F5344CB8AC3E}">
        <p14:creationId xmlns:p14="http://schemas.microsoft.com/office/powerpoint/2010/main" val="3185624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69F27-4F19-6277-FDDF-08536627392F}"/>
              </a:ext>
            </a:extLst>
          </p:cNvPr>
          <p:cNvSpPr>
            <a:spLocks noGrp="1"/>
          </p:cNvSpPr>
          <p:nvPr>
            <p:ph type="ctrTitle"/>
          </p:nvPr>
        </p:nvSpPr>
        <p:spPr/>
        <p:txBody>
          <a:bodyPr/>
          <a:lstStyle/>
          <a:p>
            <a:r>
              <a:rPr lang="en-US"/>
              <a:t>Questions?</a:t>
            </a:r>
          </a:p>
        </p:txBody>
      </p:sp>
    </p:spTree>
    <p:extLst>
      <p:ext uri="{BB962C8B-B14F-4D97-AF65-F5344CB8AC3E}">
        <p14:creationId xmlns:p14="http://schemas.microsoft.com/office/powerpoint/2010/main" val="31694260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9d3b867-e9c1-41fd-bf49-e044cd6f7909" xsi:nil="true"/>
    <lcf76f155ced4ddcb4097134ff3c332f xmlns="d9923b43-dfcf-40d4-8001-e1317f85116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5282B82EA10AD4CAE0433F96D3DDB21" ma:contentTypeVersion="16" ma:contentTypeDescription="Create a new document." ma:contentTypeScope="" ma:versionID="e71b0821e33364a7b4acac4b1872a125">
  <xsd:schema xmlns:xsd="http://www.w3.org/2001/XMLSchema" xmlns:xs="http://www.w3.org/2001/XMLSchema" xmlns:p="http://schemas.microsoft.com/office/2006/metadata/properties" xmlns:ns2="d9923b43-dfcf-40d4-8001-e1317f851163" xmlns:ns3="c9d3b867-e9c1-41fd-bf49-e044cd6f7909" targetNamespace="http://schemas.microsoft.com/office/2006/metadata/properties" ma:root="true" ma:fieldsID="32926e019b4448ffb9e1c19aa0a4e27c" ns2:_="" ns3:_="">
    <xsd:import namespace="d9923b43-dfcf-40d4-8001-e1317f851163"/>
    <xsd:import namespace="c9d3b867-e9c1-41fd-bf49-e044cd6f790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923b43-dfcf-40d4-8001-e1317f8511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5d65bd1-7d4e-413c-b3c6-df159b0a984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9d3b867-e9c1-41fd-bf49-e044cd6f790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4f690fd-ae63-4fed-bb94-eae61454769f}" ma:internalName="TaxCatchAll" ma:showField="CatchAllData" ma:web="c9d3b867-e9c1-41fd-bf49-e044cd6f790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1E7FC9-9ABB-4F31-A8CC-FDC2423E5593}">
  <ds:schemaRefs>
    <ds:schemaRef ds:uri="http://schemas.microsoft.com/sharepoint/v3/contenttype/forms"/>
  </ds:schemaRefs>
</ds:datastoreItem>
</file>

<file path=customXml/itemProps2.xml><?xml version="1.0" encoding="utf-8"?>
<ds:datastoreItem xmlns:ds="http://schemas.openxmlformats.org/officeDocument/2006/customXml" ds:itemID="{5429BE2D-8E35-426F-97E8-521D98EBE6CE}">
  <ds:schemaRefs>
    <ds:schemaRef ds:uri="c9d3b867-e9c1-41fd-bf49-e044cd6f7909"/>
    <ds:schemaRef ds:uri="d9923b43-dfcf-40d4-8001-e1317f85116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DC3D663-1978-43D3-8A1E-53CCBE83E091}">
  <ds:schemaRefs>
    <ds:schemaRef ds:uri="c9d3b867-e9c1-41fd-bf49-e044cd6f7909"/>
    <ds:schemaRef ds:uri="d9923b43-dfcf-40d4-8001-e1317f85116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TM03457510[[fn=Savon]]</Template>
  <TotalTime>3</TotalTime>
  <Words>1392</Words>
  <Application>Microsoft Office PowerPoint</Application>
  <PresentationFormat>Widescreen</PresentationFormat>
  <Paragraphs>295</Paragraphs>
  <Slides>35</Slides>
  <Notes>34</Notes>
  <HiddenSlides>0</HiddenSlides>
  <MMClips>2</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35</vt:i4>
      </vt:variant>
    </vt:vector>
  </HeadingPairs>
  <TitlesOfParts>
    <vt:vector size="47" baseType="lpstr">
      <vt:lpstr>Arial</vt:lpstr>
      <vt:lpstr>Arial,Sans-Serif</vt:lpstr>
      <vt:lpstr>Calibri</vt:lpstr>
      <vt:lpstr>Calibri Light</vt:lpstr>
      <vt:lpstr>Candara</vt:lpstr>
      <vt:lpstr>Century Gothic</vt:lpstr>
      <vt:lpstr>Garamond</vt:lpstr>
      <vt:lpstr>Times</vt:lpstr>
      <vt:lpstr>Times New Roman</vt:lpstr>
      <vt:lpstr>Savon</vt:lpstr>
      <vt:lpstr>Office Theme</vt:lpstr>
      <vt:lpstr>1_Office Theme</vt:lpstr>
      <vt:lpstr>Community Life Engagement as a Pathway to, and Wrap-around for, Employment </vt:lpstr>
      <vt:lpstr>PowerPoint Presentation</vt:lpstr>
      <vt:lpstr>PowerPoint Presentation</vt:lpstr>
      <vt:lpstr>What is  Community Life Engagement  (CLE)? </vt:lpstr>
      <vt:lpstr>How does CLE relate to employment?</vt:lpstr>
      <vt:lpstr>PowerPoint Presentation</vt:lpstr>
      <vt:lpstr>ICI Research on Community Life Engagement</vt:lpstr>
      <vt:lpstr>PowerPoint Presentation</vt:lpstr>
      <vt:lpstr>PowerPoint Presentation</vt:lpstr>
      <vt:lpstr>PowerPoint Presentation</vt:lpstr>
      <vt:lpstr>History of Community Engagement</vt:lpstr>
      <vt:lpstr>get to know the person!  use person centered planning  find ways to individualize supports even if you don't 'have 1:1 staffing</vt:lpstr>
      <vt:lpstr>Guidepost 1: Individualize supports for each person </vt:lpstr>
      <vt:lpstr>PowerPoint Presentation</vt:lpstr>
      <vt:lpstr>Graham and Jessica’s Individual Lives</vt:lpstr>
      <vt:lpstr>Get Curious  Some Good Opening Questions</vt:lpstr>
      <vt:lpstr>Poll Question #1 (from fidelity scale)</vt:lpstr>
      <vt:lpstr>Engagement in the life of one’s community must go beyond simply being physically present in the community to being an active and included member. Ensuring that supports promote community membership and contribution requires</vt:lpstr>
      <vt:lpstr>Guidepost 2: Promote community membership and contribution </vt:lpstr>
      <vt:lpstr>How can you tell the difference between membership and presence?</vt:lpstr>
      <vt:lpstr>How do they belong?</vt:lpstr>
      <vt:lpstr>Belonging, contributing and membership</vt:lpstr>
      <vt:lpstr>Poll Question #2</vt:lpstr>
      <vt:lpstr>Decreasing Dependence on paid supports</vt:lpstr>
      <vt:lpstr>Guidepost 3: Build Skills (Human Capital) and Develop Relationships (Social Capital)</vt:lpstr>
      <vt:lpstr>What strategies do you use to get out of the way?</vt:lpstr>
      <vt:lpstr>Poll Question #3 (from fidelity scale)</vt:lpstr>
      <vt:lpstr>What is being accomplished?  How do we know when its time to try something new?  consider both the individual's goals and the organization's vision  </vt:lpstr>
      <vt:lpstr>Brett’s Journey to Work  CE as a tool to CIE</vt:lpstr>
      <vt:lpstr>Competitive Integrated Employment is the Outcome</vt:lpstr>
      <vt:lpstr>Exercise:</vt:lpstr>
      <vt:lpstr>Poll Question #4 (from fidelity scale)</vt:lpstr>
      <vt:lpstr>PowerPoint Presentation</vt:lpstr>
      <vt:lpstr>How will we use these guideposts?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Guideposts to our work</dc:title>
  <dc:creator>Karen Lee</dc:creator>
  <cp:lastModifiedBy>Staci Jones</cp:lastModifiedBy>
  <cp:revision>69</cp:revision>
  <cp:lastPrinted>2023-02-23T12:41:14Z</cp:lastPrinted>
  <dcterms:created xsi:type="dcterms:W3CDTF">2023-02-22T15:42:20Z</dcterms:created>
  <dcterms:modified xsi:type="dcterms:W3CDTF">2023-05-25T17:02:00Z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0x010100B5282B82EA10AD4CAE0433F96D3DDB21</vt:lpwstr>
  </property>
  <property fmtid="{D5CDD505-2E9C-101B-9397-08002B2CF9AE}" pid="3" name="MediaServiceImageTags">
    <vt:lpwstr/>
  </property>
</Properties>
</file>